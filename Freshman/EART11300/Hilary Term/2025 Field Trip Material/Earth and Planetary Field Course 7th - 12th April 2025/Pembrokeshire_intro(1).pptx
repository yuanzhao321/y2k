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69" r:id="rId5"/>
    <p:sldId id="258" r:id="rId6"/>
    <p:sldId id="259" r:id="rId7"/>
    <p:sldId id="268" r:id="rId8"/>
    <p:sldId id="270" r:id="rId9"/>
    <p:sldId id="260" r:id="rId10"/>
    <p:sldId id="261" r:id="rId11"/>
    <p:sldId id="262" r:id="rId12"/>
    <p:sldId id="263" r:id="rId13"/>
    <p:sldId id="265" r:id="rId14"/>
    <p:sldId id="26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3F064-68B1-39DD-D1E3-6B67CE1C8DFD}" v="2" dt="2025-03-23T11:10:11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61EEB-B5D9-42A4-990D-AAC36A39F297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B5581-B703-41BE-8E26-E8790FED78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332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B5581-B703-41BE-8E26-E8790FED787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77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8717-0F5B-CFF4-6D7E-B39F11C02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3327-AB24-D0FB-3C97-C9B06CE11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899F9-61BA-2F53-C50E-15BFCC8A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2AF0A-069D-75F3-1AC0-C54E48AE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F9D84-1DAE-9AAD-F17B-6E7410D9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08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565C-107C-EA63-AE85-7DBD0A78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65B70-0AC4-1FFA-8C4B-6FC346AF8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31299-006E-C6EE-466B-BCA86B62B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70861-8F4D-8FDB-680B-01980562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5B627-C912-5334-9B5C-A335245C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44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AF5-83CC-030C-9991-677C7308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74367-2BC1-48F6-327F-8CA020FE8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03A0-4C1F-0E58-9EA0-2BC86490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730AE-7751-ABF5-47DF-DC3EEF8E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9F27B-4600-D417-E14E-D9C211FA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53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340D-7E74-FD96-4E83-61BFE867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3405F-DD91-FFBD-2F04-EF0B74506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9A144-BF59-0695-5549-39C1590FD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6E0BE-734B-1829-326C-84378ACB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6CCDD-57EA-CA0C-22CD-28A91CD4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6A557-747A-331A-A85F-6208A681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24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67AC-C5BC-6DCE-790A-5FF663F9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C3E5F-86D2-E889-F27D-D5AD6593D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C444E-EFC5-A101-81D1-FF0593AB1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1C102-65BE-4948-FFCD-CE49BA9B9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61B85-DDB7-6F4A-50DF-2E16D6F55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A09AA5-4EFF-A00F-DD84-A794852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9C5D4-2AB8-33B7-E1BD-024D4F0A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B7414-FFF6-9E47-0E84-D60617DD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54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53B5-01F3-1DC0-7CBF-E07163AB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EC8A0-B73D-F22F-096D-39978AB1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18769-29C9-2F7E-026C-08D0AF02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E834D-3977-A624-775C-76792409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93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990F0-495F-A742-0275-56943A7F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3836A-DEB5-B2E3-ABEC-4ECEBDA9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38F16-EEBB-AC6B-795B-90754CDA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598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8955-1694-95BB-737B-5026DDC0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25841-C6E5-4B04-CB75-450AF084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15FE1-BECA-544F-835D-BE2D4BE72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7EA68-8FC6-4A2D-05D8-8C84A0F1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C371C-84E8-B284-B1FD-865039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B4E5F-A7D0-FAF5-99B8-69F11F31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93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B8B7-DFA3-2D32-3390-5D96DA63E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A34031-4889-1825-B428-C671FE54C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AAF25-A76E-A307-80CF-4616B2323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46EB1-82AF-5F9A-E4FD-BE360701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2D191-60D0-D8CC-E8B8-78A64DCE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A4E4A-DAA0-6DB2-9E75-80B91A2E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20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EBFD-FD25-D626-73EF-B43F0B0C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5042C-26C0-4C36-06EC-21E844174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50C9-F826-BC0A-CE37-AC25FA055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2B759-53D5-DCC9-596D-3C16A90C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0C954-4CAA-985D-789A-68B0F09C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35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C22B9-8D47-3290-25E7-51584E30D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42911-2F3F-CE36-9BA1-B2780DC5C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07DD8-3BF3-AC28-7393-646D1241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04451-D0F0-DFA4-C2E7-D37B67A8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EB0D1-61B3-B4F8-5C06-1C0145B2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7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29FF33-7838-5068-C102-4666BAE4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0F2A6-F5D2-CBAB-C241-B3284FB48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EA4A-EED7-4D1C-C45B-F7EAAF037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F8CB0-9FEB-4732-A762-2666D97480E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DC759-E58C-4F86-5FE7-A0B780AF5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9C9AA-A4D9-23AC-2A6D-5B500BA5D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25F53-A392-4957-BB8F-75CCCA3346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23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ian.kane@manchester.ac.u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B6DA9C-6EFD-E226-6200-2725C5FB4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>
            <a:normAutofit/>
          </a:bodyPr>
          <a:lstStyle/>
          <a:p>
            <a:pPr algn="ctr">
              <a:lnSpc>
                <a:spcPct val="104000"/>
              </a:lnSpc>
              <a:spcAft>
                <a:spcPts val="800"/>
              </a:spcAft>
            </a:pPr>
            <a:r>
              <a:rPr lang="en-GB" sz="32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Earth and Environmental Sciences</a:t>
            </a:r>
            <a:endParaRPr lang="en-GB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4000"/>
              </a:lnSpc>
              <a:spcAft>
                <a:spcPts val="800"/>
              </a:spcAft>
            </a:pPr>
            <a:r>
              <a:rPr lang="en-GB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1 Easter Field Course: Pembrokeshire</a:t>
            </a:r>
            <a:endParaRPr lang="en-GB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5E3DA-667C-A6AF-EEEF-33C0FA1E96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8605" y="209867"/>
            <a:ext cx="2510790" cy="24149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" name="Picture 5" descr="A picture containing sky, outdoor, water, ocean">
            <a:extLst>
              <a:ext uri="{FF2B5EF4-FFF2-40B4-BE49-F238E27FC236}">
                <a16:creationId xmlns:a16="http://schemas.microsoft.com/office/drawing/2014/main" id="{58EF12ED-50DC-8BF5-B7EB-1CF2C83F34E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29" y="265776"/>
            <a:ext cx="6189306" cy="46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Staff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Ian Kane – fieldtrip leader - </a:t>
            </a:r>
            <a:r>
              <a:rPr lang="en-GB" dirty="0" smtClean="0">
                <a:hlinkClick r:id="rId2"/>
              </a:rPr>
              <a:t>ian.kane@manchester.ac.uk</a:t>
            </a:r>
            <a:endParaRPr lang="en-GB" dirty="0" smtClean="0"/>
          </a:p>
          <a:p>
            <a:r>
              <a:rPr lang="en-GB" dirty="0" smtClean="0"/>
              <a:t>Greg Holland</a:t>
            </a:r>
          </a:p>
          <a:p>
            <a:r>
              <a:rPr lang="en-GB" dirty="0" smtClean="0"/>
              <a:t>Maisie Gamble</a:t>
            </a:r>
          </a:p>
          <a:p>
            <a:r>
              <a:rPr lang="en-GB" dirty="0" smtClean="0"/>
              <a:t>Alex Riddell</a:t>
            </a:r>
          </a:p>
          <a:p>
            <a:r>
              <a:rPr lang="en-GB" dirty="0" smtClean="0"/>
              <a:t>Mandy Edwards</a:t>
            </a:r>
          </a:p>
          <a:p>
            <a:r>
              <a:rPr lang="en-GB" dirty="0" smtClean="0"/>
              <a:t>Rufus Brunt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617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B5F166-79F6-72F2-D320-7F9C7C6E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32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B27C3-6D43-7B56-ABA4-94C3842DB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218" y="1080009"/>
            <a:ext cx="6102790" cy="4924938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GB" dirty="0"/>
              <a:t>Sturdy Walking Boots</a:t>
            </a:r>
          </a:p>
          <a:p>
            <a:pPr algn="r"/>
            <a:r>
              <a:rPr lang="en-GB" dirty="0"/>
              <a:t>Waterproof Jacket and Trousers</a:t>
            </a:r>
          </a:p>
          <a:p>
            <a:pPr algn="r"/>
            <a:r>
              <a:rPr lang="en-GB" dirty="0"/>
              <a:t>Warm Layers</a:t>
            </a:r>
          </a:p>
          <a:p>
            <a:pPr algn="r"/>
            <a:r>
              <a:rPr lang="en-GB" dirty="0"/>
              <a:t>Water Bottle and optional Thermos flask</a:t>
            </a:r>
          </a:p>
          <a:p>
            <a:pPr algn="r"/>
            <a:r>
              <a:rPr lang="en-GB" dirty="0"/>
              <a:t>Sun hat and sun screen</a:t>
            </a:r>
          </a:p>
          <a:p>
            <a:pPr algn="r"/>
            <a:r>
              <a:rPr lang="en-GB" dirty="0"/>
              <a:t>Rucksack (not shoulder bag or Tesco’s carrier bag)</a:t>
            </a:r>
          </a:p>
          <a:p>
            <a:pPr algn="r"/>
            <a:r>
              <a:rPr lang="en-GB" dirty="0"/>
              <a:t>Pencils HB and 2H</a:t>
            </a:r>
          </a:p>
          <a:p>
            <a:pPr algn="r"/>
            <a:r>
              <a:rPr lang="en-GB" dirty="0"/>
              <a:t>Coloured pencils (waterproof type)</a:t>
            </a:r>
          </a:p>
          <a:p>
            <a:pPr algn="r"/>
            <a:r>
              <a:rPr lang="en-GB" dirty="0"/>
              <a:t>Ruler and protractor</a:t>
            </a:r>
          </a:p>
          <a:p>
            <a:pPr algn="r"/>
            <a:r>
              <a:rPr lang="en-GB" dirty="0"/>
              <a:t>Yellow Field Note Book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3CFA2-82E6-3F7B-1EBB-AA7377E8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08" y="66360"/>
            <a:ext cx="10515600" cy="1325563"/>
          </a:xfrm>
        </p:spPr>
        <p:txBody>
          <a:bodyPr/>
          <a:lstStyle/>
          <a:p>
            <a:pPr algn="r"/>
            <a:r>
              <a:rPr lang="en-GB" b="1" dirty="0"/>
              <a:t>Essential Equipment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BB70F-D2A0-A570-5328-EED7C8353C4E}"/>
              </a:ext>
            </a:extLst>
          </p:cNvPr>
          <p:cNvSpPr txBox="1"/>
          <p:nvPr/>
        </p:nvSpPr>
        <p:spPr>
          <a:xfrm>
            <a:off x="3920150" y="470780"/>
            <a:ext cx="2046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A BOOT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26E8FB-8E0F-ED06-F5AB-387936DEF6B9}"/>
              </a:ext>
            </a:extLst>
          </p:cNvPr>
          <p:cNvCxnSpPr/>
          <p:nvPr/>
        </p:nvCxnSpPr>
        <p:spPr>
          <a:xfrm flipH="1">
            <a:off x="3920150" y="1080009"/>
            <a:ext cx="860080" cy="13915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74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2B30-675E-7735-8F6C-9D4155523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7DCF0-C54F-F5C4-F599-0415F5C9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White Trainers | Lifestyle, Sports, Casual, Street | Sports Direct">
            <a:extLst>
              <a:ext uri="{FF2B5EF4-FFF2-40B4-BE49-F238E27FC236}">
                <a16:creationId xmlns:a16="http://schemas.microsoft.com/office/drawing/2014/main" id="{B34ACA54-BF32-49B0-3E32-BAA573DDE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3118"/>
            <a:ext cx="6446162" cy="64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EC4018-798E-EE78-5D44-802077C6D299}"/>
              </a:ext>
            </a:extLst>
          </p:cNvPr>
          <p:cNvSpPr txBox="1">
            <a:spLocks/>
          </p:cNvSpPr>
          <p:nvPr/>
        </p:nvSpPr>
        <p:spPr>
          <a:xfrm>
            <a:off x="5794218" y="1080009"/>
            <a:ext cx="6102790" cy="49249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/>
              <a:t>Sturdy Walking Boots</a:t>
            </a:r>
          </a:p>
          <a:p>
            <a:pPr algn="r"/>
            <a:r>
              <a:rPr lang="en-GB"/>
              <a:t>Waterproof Jacket and Trousers</a:t>
            </a:r>
          </a:p>
          <a:p>
            <a:pPr algn="r"/>
            <a:r>
              <a:rPr lang="en-GB"/>
              <a:t>Warm Layers</a:t>
            </a:r>
          </a:p>
          <a:p>
            <a:pPr algn="r"/>
            <a:r>
              <a:rPr lang="en-GB"/>
              <a:t>Water Bottle and optional Thermos flask</a:t>
            </a:r>
          </a:p>
          <a:p>
            <a:pPr algn="r"/>
            <a:r>
              <a:rPr lang="en-GB"/>
              <a:t>Sun hat and sun screen</a:t>
            </a:r>
          </a:p>
          <a:p>
            <a:pPr algn="r"/>
            <a:r>
              <a:rPr lang="en-GB"/>
              <a:t>Rucksack (not shoulder bag or Tesco’s carrier bag)</a:t>
            </a:r>
          </a:p>
          <a:p>
            <a:pPr algn="r"/>
            <a:r>
              <a:rPr lang="en-GB"/>
              <a:t>Pencils HB and 2H</a:t>
            </a:r>
          </a:p>
          <a:p>
            <a:pPr algn="r"/>
            <a:r>
              <a:rPr lang="en-GB"/>
              <a:t>Coloured pencils (waterproof type)</a:t>
            </a:r>
          </a:p>
          <a:p>
            <a:pPr algn="r"/>
            <a:r>
              <a:rPr lang="en-GB"/>
              <a:t>Ruler and protractor</a:t>
            </a:r>
          </a:p>
          <a:p>
            <a:pPr algn="r"/>
            <a:r>
              <a:rPr lang="en-GB"/>
              <a:t>Yellow Field Note Book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C4FB1D-2608-7EA9-17D5-570E0DE85438}"/>
              </a:ext>
            </a:extLst>
          </p:cNvPr>
          <p:cNvSpPr txBox="1">
            <a:spLocks/>
          </p:cNvSpPr>
          <p:nvPr/>
        </p:nvSpPr>
        <p:spPr>
          <a:xfrm>
            <a:off x="1381408" y="663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/>
              <a:t>Essential Equipment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37A539-A8CA-BD50-C441-9F2F8BB53BA8}"/>
              </a:ext>
            </a:extLst>
          </p:cNvPr>
          <p:cNvSpPr txBox="1"/>
          <p:nvPr/>
        </p:nvSpPr>
        <p:spPr>
          <a:xfrm>
            <a:off x="147494" y="365125"/>
            <a:ext cx="34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NOT A BOOT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0206B0-246F-7467-27C2-12F6F5484B79}"/>
              </a:ext>
            </a:extLst>
          </p:cNvPr>
          <p:cNvCxnSpPr>
            <a:cxnSpLocks/>
          </p:cNvCxnSpPr>
          <p:nvPr/>
        </p:nvCxnSpPr>
        <p:spPr>
          <a:xfrm>
            <a:off x="1378767" y="1013035"/>
            <a:ext cx="766904" cy="11145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11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6419F-2076-1D32-6CEB-1FACDD43D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Location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8C1E8-1BDC-077C-56D3-A21711564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South-West tip of Wales</a:t>
            </a:r>
          </a:p>
          <a:p>
            <a:r>
              <a:rPr lang="en-US" sz="2200" dirty="0"/>
              <a:t>Drive from Manchester to St David’s Bunk Barns will take ~5 hours. We will stop for lunch on the way.</a:t>
            </a:r>
          </a:p>
          <a:p>
            <a:r>
              <a:rPr lang="en-US" sz="2200" dirty="0"/>
              <a:t>We’ll drive to the localities every 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D79B89-9EB6-12C7-A5AC-D558F65AC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694" y="0"/>
            <a:ext cx="5879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04783-2EBA-404A-03CA-67982343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Terrain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19DEB-CB8B-8179-26EF-32119AE14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Beaches and rocky shorelines</a:t>
            </a:r>
          </a:p>
          <a:p>
            <a:r>
              <a:rPr lang="en-US" sz="2200" dirty="0"/>
              <a:t>(uneven) coastal paths</a:t>
            </a:r>
          </a:p>
          <a:p>
            <a:r>
              <a:rPr lang="en-US" sz="2200" dirty="0"/>
              <a:t>On top and below cliffs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Content Placeholder 4" descr="Image preview">
            <a:extLst>
              <a:ext uri="{FF2B5EF4-FFF2-40B4-BE49-F238E27FC236}">
                <a16:creationId xmlns:a16="http://schemas.microsoft.com/office/drawing/2014/main" id="{212642FD-88F2-00B5-3A66-71708D105F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5449824" y="0"/>
            <a:ext cx="6739128" cy="685916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9B3D51-6C81-07CE-903B-500799421FA5}"/>
              </a:ext>
            </a:extLst>
          </p:cNvPr>
          <p:cNvSpPr txBox="1"/>
          <p:nvPr/>
        </p:nvSpPr>
        <p:spPr>
          <a:xfrm>
            <a:off x="407406" y="4408221"/>
            <a:ext cx="4429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What risks are present here?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ED63EA-F274-1772-567E-ECF0F03C1EBC}"/>
              </a:ext>
            </a:extLst>
          </p:cNvPr>
          <p:cNvCxnSpPr>
            <a:cxnSpLocks/>
          </p:cNvCxnSpPr>
          <p:nvPr/>
        </p:nvCxnSpPr>
        <p:spPr>
          <a:xfrm>
            <a:off x="3603279" y="5069941"/>
            <a:ext cx="1701756" cy="851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13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C626-31F7-4DDC-350F-0D2FB7BF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6B0C4E-F35F-2611-A986-D69D11F9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38" y="0"/>
            <a:ext cx="11557724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8DA65E-72FA-A7A2-69CB-101CC49F6ECD}"/>
              </a:ext>
            </a:extLst>
          </p:cNvPr>
          <p:cNvSpPr txBox="1"/>
          <p:nvPr/>
        </p:nvSpPr>
        <p:spPr>
          <a:xfrm>
            <a:off x="6391175" y="5814105"/>
            <a:ext cx="6014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Tuesday - Saundersfoot</a:t>
            </a:r>
          </a:p>
        </p:txBody>
      </p:sp>
    </p:spTree>
    <p:extLst>
      <p:ext uri="{BB962C8B-B14F-4D97-AF65-F5344CB8AC3E}">
        <p14:creationId xmlns:p14="http://schemas.microsoft.com/office/powerpoint/2010/main" val="298781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3E57B-4AA1-0CDF-2C34-FDD20214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CFA18C-157B-6241-2140-BE6758F1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544"/>
            <a:ext cx="12192000" cy="74170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CED02D-9C17-2E11-344F-59288DBE8678}"/>
              </a:ext>
            </a:extLst>
          </p:cNvPr>
          <p:cNvSpPr txBox="1"/>
          <p:nvPr/>
        </p:nvSpPr>
        <p:spPr>
          <a:xfrm>
            <a:off x="5938787" y="5814105"/>
            <a:ext cx="6466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Wed-Fri - St David’s Head</a:t>
            </a:r>
          </a:p>
        </p:txBody>
      </p:sp>
    </p:spTree>
    <p:extLst>
      <p:ext uri="{BB962C8B-B14F-4D97-AF65-F5344CB8AC3E}">
        <p14:creationId xmlns:p14="http://schemas.microsoft.com/office/powerpoint/2010/main" val="93838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EC185-48CA-6DB1-0D41-96E002E6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Weather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BBF1-A3D8-1F94-B953-94DDA87E7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Average peak temp in April 12°C</a:t>
            </a:r>
          </a:p>
          <a:p>
            <a:r>
              <a:rPr lang="en-US" sz="2200" dirty="0"/>
              <a:t>But there can be significant wind chill</a:t>
            </a:r>
          </a:p>
          <a:p>
            <a:r>
              <a:rPr lang="en-US" sz="2200" dirty="0"/>
              <a:t>Strong winds</a:t>
            </a:r>
          </a:p>
          <a:p>
            <a:r>
              <a:rPr lang="en-US" sz="2200" dirty="0"/>
              <a:t>14 hour of Daylight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1056AE-C076-7AC0-7C46-5DF48B605E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295" y="1098995"/>
            <a:ext cx="7424633" cy="501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5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EA77-DFC9-6572-C40A-4051F0D2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Rainfall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EDF9-6532-7F6D-9356-5325CAF66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029712" cy="4351338"/>
          </a:xfrm>
        </p:spPr>
        <p:txBody>
          <a:bodyPr/>
          <a:lstStyle/>
          <a:p>
            <a:r>
              <a:rPr lang="en-GB" dirty="0"/>
              <a:t>April Driest Month!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E03179-50AB-FFCC-1960-BBD523F7E8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68495" y="927528"/>
            <a:ext cx="8131753" cy="4098489"/>
          </a:xfrm>
        </p:spPr>
      </p:pic>
    </p:spTree>
    <p:extLst>
      <p:ext uri="{BB962C8B-B14F-4D97-AF65-F5344CB8AC3E}">
        <p14:creationId xmlns:p14="http://schemas.microsoft.com/office/powerpoint/2010/main" val="177665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2E67-E7E2-6154-12D7-CC5780CA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Health and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6766-A6C3-7255-7FA8-126A0F8180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Who is Responsible for Safety?</a:t>
            </a:r>
          </a:p>
          <a:p>
            <a:r>
              <a:rPr lang="en-GB" dirty="0"/>
              <a:t>Read Risk Assessment!</a:t>
            </a:r>
          </a:p>
          <a:p>
            <a:r>
              <a:rPr lang="en-GB" dirty="0"/>
              <a:t>On EART11300 BB site</a:t>
            </a:r>
          </a:p>
          <a:p>
            <a:r>
              <a:rPr lang="en-GB" dirty="0"/>
              <a:t>Sign off you have read it</a:t>
            </a:r>
          </a:p>
          <a:p>
            <a:r>
              <a:rPr lang="en-GB" dirty="0"/>
              <a:t>Fill out Medical Information Form.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58FA7-BAA7-FB10-6F4B-116AFA903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9262" y="365125"/>
            <a:ext cx="5494538" cy="61277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Hazards</a:t>
            </a:r>
          </a:p>
          <a:p>
            <a:pPr lvl="1"/>
            <a:r>
              <a:rPr lang="en-GB" dirty="0"/>
              <a:t>Exposure (cold and sun)</a:t>
            </a:r>
          </a:p>
          <a:p>
            <a:pPr lvl="1"/>
            <a:r>
              <a:rPr lang="en-GB" dirty="0"/>
              <a:t>Falling objects from cliffs</a:t>
            </a:r>
          </a:p>
          <a:p>
            <a:pPr lvl="1"/>
            <a:r>
              <a:rPr lang="en-GB" dirty="0"/>
              <a:t>You falling / slipping</a:t>
            </a:r>
          </a:p>
          <a:p>
            <a:pPr lvl="1"/>
            <a:r>
              <a:rPr lang="en-GB" dirty="0"/>
              <a:t>Cut off by tide</a:t>
            </a:r>
          </a:p>
          <a:p>
            <a:r>
              <a:rPr lang="en-GB" dirty="0"/>
              <a:t>Mitigation</a:t>
            </a:r>
          </a:p>
          <a:p>
            <a:pPr lvl="1"/>
            <a:r>
              <a:rPr lang="en-GB" dirty="0"/>
              <a:t>Wear correct clothing</a:t>
            </a:r>
          </a:p>
          <a:p>
            <a:pPr lvl="1"/>
            <a:r>
              <a:rPr lang="en-GB" dirty="0"/>
              <a:t>Wear Helmet</a:t>
            </a:r>
          </a:p>
          <a:p>
            <a:pPr lvl="1"/>
            <a:r>
              <a:rPr lang="en-GB" dirty="0"/>
              <a:t>Take care go at your own pace</a:t>
            </a:r>
          </a:p>
          <a:p>
            <a:pPr lvl="1"/>
            <a:r>
              <a:rPr lang="en-GB" dirty="0"/>
              <a:t>Be aware of state of tide and escape points</a:t>
            </a:r>
          </a:p>
          <a:p>
            <a:r>
              <a:rPr lang="en-GB" dirty="0"/>
              <a:t>Biggest risk is normally due to excessive alcohol intake in evenings. So do not drink too much </a:t>
            </a:r>
            <a:r>
              <a:rPr lang="en-GB" dirty="0" smtClean="0"/>
              <a:t>- and </a:t>
            </a:r>
            <a:r>
              <a:rPr lang="en-GB" dirty="0"/>
              <a:t>look after each </a:t>
            </a:r>
            <a:r>
              <a:rPr lang="en-GB" dirty="0" smtClean="0"/>
              <a:t>other</a:t>
            </a:r>
          </a:p>
          <a:p>
            <a:r>
              <a:rPr lang="en-GB" dirty="0" smtClean="0"/>
              <a:t>Alcohol is NOT to be consumed in the field. You will be sent home!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43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oup of people looking at something&#10;&#10;Description automatically generated with medium confidence">
            <a:extLst>
              <a:ext uri="{FF2B5EF4-FFF2-40B4-BE49-F238E27FC236}">
                <a16:creationId xmlns:a16="http://schemas.microsoft.com/office/drawing/2014/main" id="{9A7B545D-7FFC-636E-92B5-E94106C1C9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23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BC999-DE6A-27ED-BF2E-00490845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What will we be doing?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8EF9-A7A7-7E35-CD57-E010272E8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Learning Outcomes</a:t>
            </a:r>
          </a:p>
          <a:p>
            <a:pPr lvl="1"/>
            <a:r>
              <a:rPr lang="en-US" sz="2000" dirty="0"/>
              <a:t>Geological field data collection methods</a:t>
            </a:r>
          </a:p>
          <a:p>
            <a:pPr lvl="1"/>
            <a:r>
              <a:rPr lang="en-US" sz="2000" dirty="0"/>
              <a:t>Recording geological data in your notebook and maps</a:t>
            </a:r>
          </a:p>
          <a:p>
            <a:pPr lvl="1"/>
            <a:r>
              <a:rPr lang="en-US" sz="2000" dirty="0"/>
              <a:t>Making observations and interpretations and recording them in your notebook and maps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508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4FED-10F7-6941-03B0-8B33D296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Daily Itinerary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E394-ED2B-71CB-D5BB-09846308FD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Breakfast from 7?</a:t>
            </a:r>
          </a:p>
          <a:p>
            <a:r>
              <a:rPr lang="en-GB" dirty="0"/>
              <a:t>We will be out all day 9-5 depending on tide.</a:t>
            </a:r>
          </a:p>
          <a:p>
            <a:r>
              <a:rPr lang="en-GB" dirty="0" smtClean="0"/>
              <a:t>Packed </a:t>
            </a:r>
            <a:r>
              <a:rPr lang="en-GB" dirty="0"/>
              <a:t>lunch provided</a:t>
            </a:r>
          </a:p>
          <a:p>
            <a:r>
              <a:rPr lang="en-GB" dirty="0"/>
              <a:t>Usually public toilet facilities available where we are dropped off and picked up.</a:t>
            </a:r>
          </a:p>
          <a:p>
            <a:r>
              <a:rPr lang="en-GB" dirty="0"/>
              <a:t>Evening Meal</a:t>
            </a:r>
          </a:p>
          <a:p>
            <a:r>
              <a:rPr lang="en-GB" dirty="0"/>
              <a:t>Some evening activity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739D9-BA88-E5EB-65B5-83F1A5DA8C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Field courses are intense</a:t>
            </a:r>
          </a:p>
          <a:p>
            <a:r>
              <a:rPr lang="en-GB" dirty="0"/>
              <a:t>You </a:t>
            </a:r>
            <a:r>
              <a:rPr lang="en-GB" dirty="0" smtClean="0"/>
              <a:t>may feel </a:t>
            </a:r>
            <a:r>
              <a:rPr lang="en-GB" dirty="0"/>
              <a:t>stressed</a:t>
            </a:r>
          </a:p>
          <a:p>
            <a:r>
              <a:rPr lang="en-GB" dirty="0"/>
              <a:t>We will be living close to one another</a:t>
            </a:r>
          </a:p>
          <a:p>
            <a:r>
              <a:rPr lang="en-GB" dirty="0"/>
              <a:t>Therefore we all need to be kind and considerate of each other.</a:t>
            </a:r>
          </a:p>
        </p:txBody>
      </p:sp>
    </p:spTree>
    <p:extLst>
      <p:ext uri="{BB962C8B-B14F-4D97-AF65-F5344CB8AC3E}">
        <p14:creationId xmlns:p14="http://schemas.microsoft.com/office/powerpoint/2010/main" val="84507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C4105-C343-AD6F-1141-A24694BC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Departure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0858-D883-29DC-C841-54BCF5B7D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Meet in front of Museum for 0.900 departure on Monday 7</a:t>
            </a:r>
            <a:r>
              <a:rPr lang="en-US" sz="2200" baseline="30000" dirty="0"/>
              <a:t>th</a:t>
            </a:r>
            <a:r>
              <a:rPr lang="en-US" sz="2200" dirty="0"/>
              <a:t> April</a:t>
            </a:r>
          </a:p>
          <a:p>
            <a:r>
              <a:rPr lang="en-US" sz="2200" dirty="0"/>
              <a:t>Load bags to Coach (Don’t bring too big a bag)</a:t>
            </a:r>
          </a:p>
          <a:p>
            <a:r>
              <a:rPr lang="en-US" sz="2200" dirty="0"/>
              <a:t>Travel to St David’s, ETA 15:30 to 16:00</a:t>
            </a:r>
          </a:p>
          <a:p>
            <a:endParaRPr lang="en-US" sz="2200" dirty="0"/>
          </a:p>
        </p:txBody>
      </p:sp>
      <p:pic>
        <p:nvPicPr>
          <p:cNvPr id="1026" name="Picture 2" descr="University of Manchester - Henry Royce Institute">
            <a:extLst>
              <a:ext uri="{FF2B5EF4-FFF2-40B4-BE49-F238E27FC236}">
                <a16:creationId xmlns:a16="http://schemas.microsoft.com/office/drawing/2014/main" id="{6EAE1BF0-1325-EC1F-39A9-5956E3B300B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456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277B-0B20-900C-5F84-27AB40A1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ABE6-76E1-E92F-D470-D6749D8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6A42-12A1-1EDA-D1CC-4A755106E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Leave St David’s Bunk Barns at 0.900 departure on Saturday 12</a:t>
            </a:r>
            <a:r>
              <a:rPr lang="en-US" sz="2200" baseline="30000" dirty="0"/>
              <a:t>th</a:t>
            </a:r>
            <a:r>
              <a:rPr lang="en-US" sz="2200" dirty="0"/>
              <a:t> April</a:t>
            </a:r>
          </a:p>
          <a:p>
            <a:r>
              <a:rPr lang="en-US" sz="2200" dirty="0"/>
              <a:t>Travel to Manchester, ETA 15:30 to 16:00</a:t>
            </a:r>
          </a:p>
          <a:p>
            <a:endParaRPr lang="en-US" sz="2200" dirty="0"/>
          </a:p>
        </p:txBody>
      </p:sp>
      <p:pic>
        <p:nvPicPr>
          <p:cNvPr id="1026" name="Picture 2" descr="University of Manchester - Henry Royce Institute">
            <a:extLst>
              <a:ext uri="{FF2B5EF4-FFF2-40B4-BE49-F238E27FC236}">
                <a16:creationId xmlns:a16="http://schemas.microsoft.com/office/drawing/2014/main" id="{2AC0464F-BEF0-4637-581E-1638C5AAC9C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251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490</Words>
  <Application>Microsoft Office PowerPoint</Application>
  <PresentationFormat>Widescreen</PresentationFormat>
  <Paragraphs>93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Staff</vt:lpstr>
      <vt:lpstr>Essential Equipment</vt:lpstr>
      <vt:lpstr>PowerPoint Presentation</vt:lpstr>
      <vt:lpstr>Location</vt:lpstr>
      <vt:lpstr>Terrain</vt:lpstr>
      <vt:lpstr>PowerPoint Presentation</vt:lpstr>
      <vt:lpstr>PowerPoint Presentation</vt:lpstr>
      <vt:lpstr>Weather</vt:lpstr>
      <vt:lpstr>Rainfall</vt:lpstr>
      <vt:lpstr>Health and Safety</vt:lpstr>
      <vt:lpstr>What will we be doing?</vt:lpstr>
      <vt:lpstr>Daily Itinerary</vt:lpstr>
      <vt:lpstr>Departure</vt:lpstr>
      <vt:lpstr>Return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 Mecklenburgh</dc:creator>
  <cp:lastModifiedBy>Ian Kane</cp:lastModifiedBy>
  <cp:revision>6</cp:revision>
  <dcterms:created xsi:type="dcterms:W3CDTF">2023-04-18T08:29:55Z</dcterms:created>
  <dcterms:modified xsi:type="dcterms:W3CDTF">2025-03-24T11:37:24Z</dcterms:modified>
</cp:coreProperties>
</file>