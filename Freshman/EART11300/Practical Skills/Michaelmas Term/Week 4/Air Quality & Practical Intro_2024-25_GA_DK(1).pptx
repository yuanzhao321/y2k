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59" r:id="rId1"/>
  </p:sldMasterIdLst>
  <p:notesMasterIdLst>
    <p:notesMasterId r:id="rId24"/>
  </p:notesMasterIdLst>
  <p:sldIdLst>
    <p:sldId id="256" r:id="rId2"/>
    <p:sldId id="330" r:id="rId3"/>
    <p:sldId id="259" r:id="rId4"/>
    <p:sldId id="257" r:id="rId5"/>
    <p:sldId id="260" r:id="rId6"/>
    <p:sldId id="261" r:id="rId7"/>
    <p:sldId id="325" r:id="rId8"/>
    <p:sldId id="262" r:id="rId9"/>
    <p:sldId id="312" r:id="rId10"/>
    <p:sldId id="313" r:id="rId11"/>
    <p:sldId id="314" r:id="rId12"/>
    <p:sldId id="315" r:id="rId13"/>
    <p:sldId id="321" r:id="rId14"/>
    <p:sldId id="320" r:id="rId15"/>
    <p:sldId id="316" r:id="rId16"/>
    <p:sldId id="317" r:id="rId17"/>
    <p:sldId id="318" r:id="rId18"/>
    <p:sldId id="324" r:id="rId19"/>
    <p:sldId id="322" r:id="rId20"/>
    <p:sldId id="323" r:id="rId21"/>
    <p:sldId id="329" r:id="rId22"/>
    <p:sldId id="32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y Foulds" initials="AF" lastIdx="1" clrIdx="0">
    <p:extLst>
      <p:ext uri="{19B8F6BF-5375-455C-9EA6-DF929625EA0E}">
        <p15:presenceInfo xmlns:p15="http://schemas.microsoft.com/office/powerpoint/2012/main" userId="S::amy.foulds@manchester.ac.uk::d8878e38-7694-4f89-9b7d-830f7bded0a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9D8A36-5D3D-4732-90CE-0E1141324B77}" v="1" dt="2023-10-13T08:20:33.0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4"/>
    <p:restoredTop sz="75581" autoAdjust="0"/>
  </p:normalViewPr>
  <p:slideViewPr>
    <p:cSldViewPr snapToGrid="0" snapToObjects="1">
      <p:cViewPr varScale="1">
        <p:scale>
          <a:sx n="87" d="100"/>
          <a:sy n="87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nt Allen" userId="5ec9d011-9cc4-40ac-a124-f678c2d600ea" providerId="ADAL" clId="{419D8A36-5D3D-4732-90CE-0E1141324B77}"/>
    <pc:docChg chg="custSel modSld">
      <pc:chgData name="Grant Allen" userId="5ec9d011-9cc4-40ac-a124-f678c2d600ea" providerId="ADAL" clId="{419D8A36-5D3D-4732-90CE-0E1141324B77}" dt="2023-10-13T08:31:37.292" v="2148" actId="20577"/>
      <pc:docMkLst>
        <pc:docMk/>
      </pc:docMkLst>
      <pc:sldChg chg="modSp mod">
        <pc:chgData name="Grant Allen" userId="5ec9d011-9cc4-40ac-a124-f678c2d600ea" providerId="ADAL" clId="{419D8A36-5D3D-4732-90CE-0E1141324B77}" dt="2023-10-13T08:03:44.897" v="20" actId="20577"/>
        <pc:sldMkLst>
          <pc:docMk/>
          <pc:sldMk cId="45303508" sldId="256"/>
        </pc:sldMkLst>
        <pc:spChg chg="mod">
          <ac:chgData name="Grant Allen" userId="5ec9d011-9cc4-40ac-a124-f678c2d600ea" providerId="ADAL" clId="{419D8A36-5D3D-4732-90CE-0E1141324B77}" dt="2023-10-13T08:03:44.897" v="20" actId="20577"/>
          <ac:spMkLst>
            <pc:docMk/>
            <pc:sldMk cId="45303508" sldId="256"/>
            <ac:spMk id="3" creationId="{514CDCBF-9459-5A40-8E42-0B52E6D12E25}"/>
          </ac:spMkLst>
        </pc:spChg>
      </pc:sldChg>
      <pc:sldChg chg="modSp mod">
        <pc:chgData name="Grant Allen" userId="5ec9d011-9cc4-40ac-a124-f678c2d600ea" providerId="ADAL" clId="{419D8A36-5D3D-4732-90CE-0E1141324B77}" dt="2023-10-13T08:18:37.645" v="640" actId="20577"/>
        <pc:sldMkLst>
          <pc:docMk/>
          <pc:sldMk cId="2180874667" sldId="261"/>
        </pc:sldMkLst>
        <pc:spChg chg="mod">
          <ac:chgData name="Grant Allen" userId="5ec9d011-9cc4-40ac-a124-f678c2d600ea" providerId="ADAL" clId="{419D8A36-5D3D-4732-90CE-0E1141324B77}" dt="2023-10-13T08:18:37.645" v="640" actId="20577"/>
          <ac:spMkLst>
            <pc:docMk/>
            <pc:sldMk cId="2180874667" sldId="261"/>
            <ac:spMk id="3" creationId="{C01B0DC9-ECD8-0445-98F4-3F04F49C461B}"/>
          </ac:spMkLst>
        </pc:spChg>
      </pc:sldChg>
      <pc:sldChg chg="modSp mod">
        <pc:chgData name="Grant Allen" userId="5ec9d011-9cc4-40ac-a124-f678c2d600ea" providerId="ADAL" clId="{419D8A36-5D3D-4732-90CE-0E1141324B77}" dt="2023-10-13T08:04:49.031" v="86" actId="20577"/>
        <pc:sldMkLst>
          <pc:docMk/>
          <pc:sldMk cId="2489091597" sldId="315"/>
        </pc:sldMkLst>
        <pc:spChg chg="mod">
          <ac:chgData name="Grant Allen" userId="5ec9d011-9cc4-40ac-a124-f678c2d600ea" providerId="ADAL" clId="{419D8A36-5D3D-4732-90CE-0E1141324B77}" dt="2023-10-13T08:04:49.031" v="86" actId="20577"/>
          <ac:spMkLst>
            <pc:docMk/>
            <pc:sldMk cId="2489091597" sldId="315"/>
            <ac:spMk id="8" creationId="{1F5E7ED5-32F0-C44F-BC23-DC233EC2919D}"/>
          </ac:spMkLst>
        </pc:spChg>
      </pc:sldChg>
      <pc:sldChg chg="modSp mod">
        <pc:chgData name="Grant Allen" userId="5ec9d011-9cc4-40ac-a124-f678c2d600ea" providerId="ADAL" clId="{419D8A36-5D3D-4732-90CE-0E1141324B77}" dt="2023-10-13T08:06:40.729" v="352" actId="20577"/>
        <pc:sldMkLst>
          <pc:docMk/>
          <pc:sldMk cId="96790314" sldId="316"/>
        </pc:sldMkLst>
        <pc:spChg chg="mod">
          <ac:chgData name="Grant Allen" userId="5ec9d011-9cc4-40ac-a124-f678c2d600ea" providerId="ADAL" clId="{419D8A36-5D3D-4732-90CE-0E1141324B77}" dt="2023-10-13T08:06:40.729" v="352" actId="20577"/>
          <ac:spMkLst>
            <pc:docMk/>
            <pc:sldMk cId="96790314" sldId="316"/>
            <ac:spMk id="3" creationId="{6F403EEB-0744-D344-8E71-6EA492F95F5A}"/>
          </ac:spMkLst>
        </pc:spChg>
      </pc:sldChg>
      <pc:sldChg chg="modSp mod">
        <pc:chgData name="Grant Allen" userId="5ec9d011-9cc4-40ac-a124-f678c2d600ea" providerId="ADAL" clId="{419D8A36-5D3D-4732-90CE-0E1141324B77}" dt="2023-10-13T08:08:09.773" v="415" actId="20577"/>
        <pc:sldMkLst>
          <pc:docMk/>
          <pc:sldMk cId="80408975" sldId="318"/>
        </pc:sldMkLst>
        <pc:spChg chg="mod">
          <ac:chgData name="Grant Allen" userId="5ec9d011-9cc4-40ac-a124-f678c2d600ea" providerId="ADAL" clId="{419D8A36-5D3D-4732-90CE-0E1141324B77}" dt="2023-10-13T08:08:09.773" v="415" actId="20577"/>
          <ac:spMkLst>
            <pc:docMk/>
            <pc:sldMk cId="80408975" sldId="318"/>
            <ac:spMk id="5" creationId="{AC82E862-36E8-DA49-9C28-345F973A9E6C}"/>
          </ac:spMkLst>
        </pc:spChg>
      </pc:sldChg>
      <pc:sldChg chg="modSp mod">
        <pc:chgData name="Grant Allen" userId="5ec9d011-9cc4-40ac-a124-f678c2d600ea" providerId="ADAL" clId="{419D8A36-5D3D-4732-90CE-0E1141324B77}" dt="2023-10-13T08:05:28.945" v="184" actId="20577"/>
        <pc:sldMkLst>
          <pc:docMk/>
          <pc:sldMk cId="403368512" sldId="321"/>
        </pc:sldMkLst>
        <pc:spChg chg="mod">
          <ac:chgData name="Grant Allen" userId="5ec9d011-9cc4-40ac-a124-f678c2d600ea" providerId="ADAL" clId="{419D8A36-5D3D-4732-90CE-0E1141324B77}" dt="2023-10-13T08:05:28.945" v="184" actId="20577"/>
          <ac:spMkLst>
            <pc:docMk/>
            <pc:sldMk cId="403368512" sldId="321"/>
            <ac:spMk id="5" creationId="{44D6999F-39D8-A541-B415-C58408B619C3}"/>
          </ac:spMkLst>
        </pc:spChg>
      </pc:sldChg>
      <pc:sldChg chg="delSp modSp mod">
        <pc:chgData name="Grant Allen" userId="5ec9d011-9cc4-40ac-a124-f678c2d600ea" providerId="ADAL" clId="{419D8A36-5D3D-4732-90CE-0E1141324B77}" dt="2023-10-13T08:31:37.292" v="2148" actId="20577"/>
        <pc:sldMkLst>
          <pc:docMk/>
          <pc:sldMk cId="1261495297" sldId="322"/>
        </pc:sldMkLst>
        <pc:spChg chg="mod">
          <ac:chgData name="Grant Allen" userId="5ec9d011-9cc4-40ac-a124-f678c2d600ea" providerId="ADAL" clId="{419D8A36-5D3D-4732-90CE-0E1141324B77}" dt="2023-10-13T08:31:37.292" v="2148" actId="20577"/>
          <ac:spMkLst>
            <pc:docMk/>
            <pc:sldMk cId="1261495297" sldId="322"/>
            <ac:spMk id="4" creationId="{430DDB72-B9FF-1044-9A6C-9D23D2D9BB11}"/>
          </ac:spMkLst>
        </pc:spChg>
        <pc:spChg chg="del mod">
          <ac:chgData name="Grant Allen" userId="5ec9d011-9cc4-40ac-a124-f678c2d600ea" providerId="ADAL" clId="{419D8A36-5D3D-4732-90CE-0E1141324B77}" dt="2023-10-13T08:31:02.191" v="2021"/>
          <ac:spMkLst>
            <pc:docMk/>
            <pc:sldMk cId="1261495297" sldId="322"/>
            <ac:spMk id="5" creationId="{7B3D5303-C6A4-8245-BC2B-6F8D466FBD15}"/>
          </ac:spMkLst>
        </pc:spChg>
      </pc:sldChg>
      <pc:sldChg chg="delSp modSp mod">
        <pc:chgData name="Grant Allen" userId="5ec9d011-9cc4-40ac-a124-f678c2d600ea" providerId="ADAL" clId="{419D8A36-5D3D-4732-90CE-0E1141324B77}" dt="2023-10-13T08:27:45.027" v="1976" actId="1076"/>
        <pc:sldMkLst>
          <pc:docMk/>
          <pc:sldMk cId="524368506" sldId="323"/>
        </pc:sldMkLst>
        <pc:spChg chg="mod">
          <ac:chgData name="Grant Allen" userId="5ec9d011-9cc4-40ac-a124-f678c2d600ea" providerId="ADAL" clId="{419D8A36-5D3D-4732-90CE-0E1141324B77}" dt="2023-10-13T08:27:45.027" v="1976" actId="1076"/>
          <ac:spMkLst>
            <pc:docMk/>
            <pc:sldMk cId="524368506" sldId="323"/>
            <ac:spMk id="5" creationId="{419EF154-5209-C240-B628-EEB41C50FCA9}"/>
          </ac:spMkLst>
        </pc:spChg>
        <pc:spChg chg="del mod">
          <ac:chgData name="Grant Allen" userId="5ec9d011-9cc4-40ac-a124-f678c2d600ea" providerId="ADAL" clId="{419D8A36-5D3D-4732-90CE-0E1141324B77}" dt="2023-10-13T08:22:28.218" v="1160" actId="478"/>
          <ac:spMkLst>
            <pc:docMk/>
            <pc:sldMk cId="524368506" sldId="323"/>
            <ac:spMk id="8" creationId="{47C62CD1-7291-D149-965F-E97F21008F0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D6D7BE-4B9B-4A2F-B6B8-72F9015CF591}" type="datetimeFigureOut">
              <a:rPr lang="en-GB" smtClean="0"/>
              <a:t>28/10/2024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5E822-541D-462E-B019-C08EF0CAF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853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D5E822-541D-462E-B019-C08EF0CAFEA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796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The </a:t>
            </a:r>
            <a:r>
              <a:rPr lang="en-GB" b="1" dirty="0" smtClean="0"/>
              <a:t>London Smog</a:t>
            </a:r>
            <a:r>
              <a:rPr lang="en-GB" dirty="0" smtClean="0"/>
              <a:t>, also known as the </a:t>
            </a:r>
            <a:r>
              <a:rPr lang="en-GB" b="1" dirty="0" smtClean="0"/>
              <a:t>Great Smog of 1952</a:t>
            </a:r>
            <a:r>
              <a:rPr lang="en-GB" dirty="0" smtClean="0"/>
              <a:t>, was a severe air pollution event that affected London mostly from </a:t>
            </a:r>
            <a:r>
              <a:rPr lang="en-GB" b="1" dirty="0" smtClean="0"/>
              <a:t>December 5 to December 9, 1952</a:t>
            </a:r>
            <a:r>
              <a:rPr lang="en-GB" dirty="0" smtClean="0"/>
              <a:t>. Due to a combination of cold weather, windless conditions, and the burning of large amounts of coal, a dense layer of smoke and fog formed hanging over the city.</a:t>
            </a:r>
          </a:p>
          <a:p>
            <a:r>
              <a:rPr lang="en-GB" b="1" dirty="0" smtClean="0"/>
              <a:t>Cause</a:t>
            </a:r>
            <a:r>
              <a:rPr lang="en-GB" dirty="0" smtClean="0"/>
              <a:t>: The smog was primarily a result of burning low-quality coal in homes and power stations under windless conditions. The pollutants from the coal burning, including particulate matter, soot and sulphur dioxide mixed with water </a:t>
            </a:r>
            <a:r>
              <a:rPr lang="en-GB" dirty="0" err="1" smtClean="0"/>
              <a:t>vapor</a:t>
            </a:r>
            <a:r>
              <a:rPr lang="en-GB" dirty="0" smtClean="0"/>
              <a:t> in the atmosphere, creating a thick, toxic fog.</a:t>
            </a:r>
          </a:p>
          <a:p>
            <a:r>
              <a:rPr lang="en-GB" b="1" dirty="0" smtClean="0"/>
              <a:t>Impacts</a:t>
            </a:r>
            <a:r>
              <a:rPr lang="en-GB" dirty="0" smtClean="0"/>
              <a:t>: The smog severely reduced visibility and penetrated homes, affecting respiratory health. It is estimated to have caused between </a:t>
            </a:r>
            <a:r>
              <a:rPr lang="en-GB" b="1" dirty="0" smtClean="0"/>
              <a:t>4,000 and 12,000 deaths</a:t>
            </a:r>
            <a:r>
              <a:rPr lang="en-GB" dirty="0" smtClean="0"/>
              <a:t> due to respiratory illnesses like bronchitis and pneumonia.</a:t>
            </a:r>
          </a:p>
          <a:p>
            <a:r>
              <a:rPr lang="en-GB" dirty="0" smtClean="0"/>
              <a:t>The smog led to major disruptions in transportation, halting railways, air traffic, and even ambulances. It also harmed livestock and wildlife.</a:t>
            </a:r>
          </a:p>
          <a:p>
            <a:r>
              <a:rPr lang="en-GB" dirty="0" smtClean="0"/>
              <a:t>The London Smog highlighted the dangers of air pollution, leading to increased public awareness and eventually prompting the </a:t>
            </a:r>
            <a:r>
              <a:rPr lang="en-GB" b="1" dirty="0" smtClean="0"/>
              <a:t>Clean Air Act of 1956</a:t>
            </a:r>
            <a:r>
              <a:rPr lang="en-GB" dirty="0" smtClean="0"/>
              <a:t> in the UK. This act regulated the burning of coal and led to a reduction in air pollution through the introduction of "smoke control areas" and restrictions on the use of coal in urban areas.</a:t>
            </a:r>
          </a:p>
          <a:p>
            <a:endParaRPr lang="en-GB" b="1" i="1" dirty="0" smtClean="0"/>
          </a:p>
          <a:p>
            <a:r>
              <a:rPr lang="en-GB" b="1" i="1" dirty="0" smtClean="0"/>
              <a:t>The event is often cited as a pivotal moment in environmental and public health policy, showing the deadly effects of air pollution.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D5E822-541D-462E-B019-C08EF0CAFEA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748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Currently,</a:t>
            </a:r>
            <a:r>
              <a:rPr lang="en-GB" baseline="0" dirty="0" smtClean="0"/>
              <a:t> these pollutants are the major concern for public in cities.</a:t>
            </a:r>
          </a:p>
          <a:p>
            <a:endParaRPr lang="en-GB" baseline="0" dirty="0" smtClean="0"/>
          </a:p>
          <a:p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Secondary pollutants form in the atmosphere via primary pollutants,</a:t>
            </a:r>
            <a:r>
              <a:rPr lang="en-GB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be gas or aerosol.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D5E822-541D-462E-B019-C08EF0CAFEA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472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4 out of 7 million premature deaths</a:t>
            </a:r>
            <a:r>
              <a:rPr lang="en-GB" baseline="0" dirty="0" smtClean="0"/>
              <a:t> due to indoor air pollution.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D5E822-541D-462E-B019-C08EF0CAFEA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375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Human error and environmental</a:t>
            </a:r>
            <a:r>
              <a:rPr lang="en-GB" baseline="0" dirty="0" smtClean="0"/>
              <a:t> impacts covered under “</a:t>
            </a:r>
            <a:r>
              <a:rPr lang="en-GB" baseline="0" dirty="0" err="1" smtClean="0"/>
              <a:t>Representativity</a:t>
            </a:r>
            <a:r>
              <a:rPr lang="en-GB" baseline="0" dirty="0" smtClean="0"/>
              <a:t>”.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D5E822-541D-462E-B019-C08EF0CAFEA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306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Errors</a:t>
            </a:r>
            <a:r>
              <a:rPr lang="en-GB" baseline="0" dirty="0" smtClean="0"/>
              <a:t> are part of the game but some of them can be costly!</a:t>
            </a:r>
          </a:p>
          <a:p>
            <a:endParaRPr lang="en-GB" baseline="0" dirty="0" smtClean="0"/>
          </a:p>
          <a:p>
            <a:r>
              <a:rPr lang="en-AE" baseline="0" dirty="0" smtClean="0"/>
              <a:t>……</a:t>
            </a:r>
            <a:endParaRPr lang="en-GB" baseline="0" dirty="0" smtClean="0"/>
          </a:p>
          <a:p>
            <a:endParaRPr lang="en-GB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Lesson &amp; Relevance to Air Quality Monitoring: This demonstrates how seemingly small, errors in data handling or equipment settings can lead to large consequences. In air quality monitoring, </a:t>
            </a:r>
            <a:r>
              <a:rPr lang="en-GB" dirty="0" err="1" smtClean="0"/>
              <a:t>miscalibrating</a:t>
            </a:r>
            <a:r>
              <a:rPr lang="en-GB" dirty="0" smtClean="0"/>
              <a:t> equipment or using incorrect settings could lead to inaccurate pollution readings, affecting health guidelines or policy decisions.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D5E822-541D-462E-B019-C08EF0CAFEA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450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Systematic errors</a:t>
            </a:r>
            <a:r>
              <a:rPr lang="en-GB" dirty="0" smtClean="0"/>
              <a:t> are consistent, repeatable inaccuracies caused by flaws in measurement devices or methods.</a:t>
            </a:r>
          </a:p>
          <a:p>
            <a:r>
              <a:rPr lang="en-GB" b="1" dirty="0" smtClean="0"/>
              <a:t>Examples</a:t>
            </a:r>
            <a:r>
              <a:rPr lang="en-GB" dirty="0" smtClean="0"/>
              <a:t>:</a:t>
            </a:r>
          </a:p>
          <a:p>
            <a:pPr lvl="1"/>
            <a:r>
              <a:rPr lang="en-GB" b="1" dirty="0" smtClean="0"/>
              <a:t>Instrument Calibration</a:t>
            </a:r>
            <a:r>
              <a:rPr lang="en-GB" dirty="0" smtClean="0"/>
              <a:t>: Incorrectly calibrated sensors can give consistently biased readings.</a:t>
            </a:r>
          </a:p>
          <a:p>
            <a:pPr lvl="1"/>
            <a:r>
              <a:rPr lang="en-GB" b="1" dirty="0" smtClean="0"/>
              <a:t>Sensor Drift</a:t>
            </a:r>
            <a:r>
              <a:rPr lang="en-GB" dirty="0" smtClean="0"/>
              <a:t>: Over time, air quality sensors may drift and need regular recalibration.</a:t>
            </a:r>
          </a:p>
          <a:p>
            <a:endParaRPr lang="en-GB" b="1" dirty="0" smtClean="0"/>
          </a:p>
          <a:p>
            <a:r>
              <a:rPr lang="en-GB" i="1" dirty="0" smtClean="0"/>
              <a:t>Long-term biases in data leading to incorrect conclusions about air quality trends.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D5E822-541D-462E-B019-C08EF0CAFEA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268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Random errors </a:t>
            </a:r>
            <a:r>
              <a:rPr lang="en-GB" dirty="0" smtClean="0"/>
              <a:t>are unpredictable variations in measurement, often due to environmental factors or device limitations.</a:t>
            </a:r>
          </a:p>
          <a:p>
            <a:r>
              <a:rPr lang="en-GB" b="1" dirty="0" smtClean="0"/>
              <a:t>Examples</a:t>
            </a:r>
            <a:r>
              <a:rPr lang="en-GB" dirty="0" smtClean="0"/>
              <a:t>:</a:t>
            </a:r>
          </a:p>
          <a:p>
            <a:pPr lvl="1"/>
            <a:r>
              <a:rPr lang="en-GB" b="1" dirty="0" smtClean="0"/>
              <a:t>Environmental Noise</a:t>
            </a:r>
            <a:r>
              <a:rPr lang="en-GB" dirty="0" smtClean="0"/>
              <a:t>: Sudden temperature changes or humidity spikes can affect sensor readings.</a:t>
            </a:r>
          </a:p>
          <a:p>
            <a:pPr lvl="1"/>
            <a:r>
              <a:rPr lang="en-GB" b="1" dirty="0" smtClean="0"/>
              <a:t>Power Supply Fluctuations</a:t>
            </a:r>
            <a:r>
              <a:rPr lang="en-GB" dirty="0" smtClean="0"/>
              <a:t>: Voltage fluctuations affecting the sensor’s performance.</a:t>
            </a:r>
          </a:p>
          <a:p>
            <a:endParaRPr lang="en-GB" dirty="0" smtClean="0"/>
          </a:p>
          <a:p>
            <a:r>
              <a:rPr lang="en-GB" i="1" dirty="0" smtClean="0"/>
              <a:t>Random errors increase uncertainty but can often be minimized through multiple measurements or statistical methods.</a:t>
            </a:r>
            <a:endParaRPr lang="en-GB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D5E822-541D-462E-B019-C08EF0CAFEA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283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Law of large numbers:</a:t>
            </a:r>
            <a:r>
              <a:rPr lang="en-GB" dirty="0" smtClean="0"/>
              <a:t> Increased</a:t>
            </a:r>
            <a:r>
              <a:rPr lang="en-GB" baseline="0" dirty="0" smtClean="0"/>
              <a:t> number of samples will reduce the uncertainty in estimating mean (average) or the most likely out come of the population.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D5E822-541D-462E-B019-C08EF0CAFEA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2023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D5E822-541D-462E-B019-C08EF0CAFEA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094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13A3-10E9-421F-81BE-56E0786AB515}" type="datetime2">
              <a:rPr lang="en-US" smtClean="0"/>
              <a:t>Monday, October 28,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61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B50C-7EEE-46CD-BAF7-BBC4026D959A}" type="datetime2">
              <a:rPr lang="en-US" smtClean="0"/>
              <a:t>Monday, October 28,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11C4-AE09-4254-A5E3-6DA9B099C971}" type="datetime2">
              <a:rPr lang="en-US" smtClean="0"/>
              <a:t>Monday, October 28,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303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42C3-E082-4760-93B2-E209268DD00C}" type="datetime2">
              <a:rPr lang="en-US" smtClean="0"/>
              <a:t>Monday, October 28,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03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C950-F824-48B9-B984-CAEE265865E5}" type="datetime2">
              <a:rPr lang="en-US" smtClean="0"/>
              <a:t>Monday, October 28, 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5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E3A0F-68E7-4D17-BB84-ED1BA4F6AC6B}" type="datetime2">
              <a:rPr lang="en-US" smtClean="0"/>
              <a:t>Monday, October 28,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83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BC4F-EDA1-4BA2-BFF3-FE5B31CCB58B}" type="datetime2">
              <a:rPr lang="en-US" smtClean="0"/>
              <a:t>Monday, October 28,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19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694C-1394-4838-A564-7380835C2E77}" type="datetime2">
              <a:rPr lang="en-US" smtClean="0"/>
              <a:t>Monday, October 28,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99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4B19-1A00-4EDB-8425-E1827A377364}" type="datetime2">
              <a:rPr lang="en-US" smtClean="0"/>
              <a:t>Monday, October 28,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751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ABC0-2199-478F-BA77-33A651B6CB89}" type="datetime2">
              <a:rPr lang="en-US" smtClean="0"/>
              <a:t>Monday, October 28,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6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230C6-DF61-47F4-B8C5-1B70E884BF06}" type="datetime2">
              <a:rPr lang="en-US" smtClean="0"/>
              <a:t>Monday, October 28,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32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0076A27-8146-4F75-9851-A83577C6FD8A}" type="datetime2">
              <a:rPr lang="en-US" smtClean="0"/>
              <a:t>Monday, October 28,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74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049" r:id="rId2"/>
    <p:sldLayoutId id="2147484050" r:id="rId3"/>
    <p:sldLayoutId id="2147484051" r:id="rId4"/>
    <p:sldLayoutId id="2147484052" r:id="rId5"/>
    <p:sldLayoutId id="2147484058" r:id="rId6"/>
    <p:sldLayoutId id="2147484053" r:id="rId7"/>
    <p:sldLayoutId id="2147484054" r:id="rId8"/>
    <p:sldLayoutId id="2147484055" r:id="rId9"/>
    <p:sldLayoutId id="2147484057" r:id="rId10"/>
    <p:sldLayoutId id="214748405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grant.allen@manchester.ac.uk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" name="Rectangle 104">
            <a:extLst>
              <a:ext uri="{FF2B5EF4-FFF2-40B4-BE49-F238E27FC236}">
                <a16:creationId xmlns:a16="http://schemas.microsoft.com/office/drawing/2014/main" id="{ACE9E2ED-2BB1-46AE-A037-86EC1BFB337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FE7A3-A621-B849-A35D-F375FDE4F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067" y="779998"/>
            <a:ext cx="8448151" cy="2947210"/>
          </a:xfrm>
        </p:spPr>
        <p:txBody>
          <a:bodyPr anchor="t">
            <a:normAutofit/>
          </a:bodyPr>
          <a:lstStyle/>
          <a:p>
            <a:pPr algn="l"/>
            <a:r>
              <a:rPr lang="en-US" sz="3000" b="1" dirty="0">
                <a:solidFill>
                  <a:schemeClr val="accent5"/>
                </a:solidFill>
              </a:rPr>
              <a:t>Measuring Air </a:t>
            </a:r>
            <a:br>
              <a:rPr lang="en-US" sz="3000" b="1" dirty="0">
                <a:solidFill>
                  <a:schemeClr val="accent5"/>
                </a:solidFill>
              </a:rPr>
            </a:br>
            <a:r>
              <a:rPr lang="en-US" sz="3000" b="1" dirty="0">
                <a:solidFill>
                  <a:schemeClr val="accent5"/>
                </a:solidFill>
              </a:rPr>
              <a:t>Quality:</a:t>
            </a:r>
            <a:br>
              <a:rPr lang="en-US" sz="3000" b="1" dirty="0">
                <a:solidFill>
                  <a:schemeClr val="accent5"/>
                </a:solidFill>
              </a:rPr>
            </a:br>
            <a:r>
              <a:rPr lang="en-US" sz="3000" b="1" dirty="0">
                <a:solidFill>
                  <a:schemeClr val="accent5"/>
                </a:solidFill>
              </a:rPr>
              <a:t/>
            </a:r>
            <a:br>
              <a:rPr lang="en-US" sz="3000" b="1" dirty="0">
                <a:solidFill>
                  <a:schemeClr val="accent5"/>
                </a:solidFill>
              </a:rPr>
            </a:br>
            <a:r>
              <a:rPr lang="en-US" sz="3000" b="1" dirty="0">
                <a:solidFill>
                  <a:schemeClr val="accent5"/>
                </a:solidFill>
              </a:rPr>
              <a:t>Background &amp; introduction to </a:t>
            </a:r>
            <a:br>
              <a:rPr lang="en-US" sz="3000" b="1" dirty="0">
                <a:solidFill>
                  <a:schemeClr val="accent5"/>
                </a:solidFill>
              </a:rPr>
            </a:br>
            <a:r>
              <a:rPr lang="en-US" sz="3000" b="1" dirty="0">
                <a:solidFill>
                  <a:schemeClr val="accent5"/>
                </a:solidFill>
              </a:rPr>
              <a:t>the practical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CDCBF-9459-5A40-8E42-0B52E6D12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9838" y="4507204"/>
            <a:ext cx="4210167" cy="1192815"/>
          </a:xfrm>
        </p:spPr>
        <p:txBody>
          <a:bodyPr anchor="b">
            <a:normAutofit lnSpcReduction="10000"/>
          </a:bodyPr>
          <a:lstStyle/>
          <a:p>
            <a:pPr algn="l"/>
            <a:r>
              <a:rPr lang="en-US" sz="2400" dirty="0">
                <a:solidFill>
                  <a:schemeClr val="accent5"/>
                </a:solidFill>
              </a:rPr>
              <a:t>Grant </a:t>
            </a:r>
            <a:r>
              <a:rPr lang="en-US" sz="2400" dirty="0" smtClean="0">
                <a:solidFill>
                  <a:schemeClr val="accent5"/>
                </a:solidFill>
              </a:rPr>
              <a:t>Allen &amp;</a:t>
            </a:r>
          </a:p>
          <a:p>
            <a:pPr algn="l"/>
            <a:r>
              <a:rPr lang="en-US" sz="2400" dirty="0" smtClean="0">
                <a:solidFill>
                  <a:schemeClr val="accent5"/>
                </a:solidFill>
              </a:rPr>
              <a:t>Do</a:t>
            </a:r>
            <a:r>
              <a:rPr lang="tr-TR" sz="2400" dirty="0">
                <a:solidFill>
                  <a:schemeClr val="accent5"/>
                </a:solidFill>
              </a:rPr>
              <a:t>Ğ</a:t>
            </a:r>
            <a:r>
              <a:rPr lang="en-US" sz="2400" dirty="0" smtClean="0">
                <a:solidFill>
                  <a:schemeClr val="accent5"/>
                </a:solidFill>
              </a:rPr>
              <a:t>u</a:t>
            </a:r>
            <a:r>
              <a:rPr lang="tr-TR" sz="2400" dirty="0" smtClean="0">
                <a:solidFill>
                  <a:schemeClr val="accent5"/>
                </a:solidFill>
              </a:rPr>
              <a:t>Ş</a:t>
            </a:r>
            <a:r>
              <a:rPr lang="en-US" sz="2400" dirty="0" err="1" smtClean="0">
                <a:solidFill>
                  <a:schemeClr val="accent5"/>
                </a:solidFill>
              </a:rPr>
              <a:t>han</a:t>
            </a:r>
            <a:r>
              <a:rPr lang="en-US" sz="2400" dirty="0" smtClean="0">
                <a:solidFill>
                  <a:schemeClr val="accent5"/>
                </a:solidFill>
              </a:rPr>
              <a:t> </a:t>
            </a:r>
            <a:r>
              <a:rPr lang="en-US" sz="2400" dirty="0" err="1" smtClean="0">
                <a:solidFill>
                  <a:schemeClr val="accent5"/>
                </a:solidFill>
              </a:rPr>
              <a:t>Kili</a:t>
            </a:r>
            <a:r>
              <a:rPr lang="tr-TR" sz="2400" dirty="0">
                <a:solidFill>
                  <a:schemeClr val="accent5"/>
                </a:solidFill>
              </a:rPr>
              <a:t>Ç</a:t>
            </a:r>
            <a:endParaRPr lang="en-US" sz="2400" dirty="0">
              <a:solidFill>
                <a:schemeClr val="accent5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7" y="-3"/>
            <a:ext cx="3611463" cy="6858000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100000">
                <a:schemeClr val="tx2">
                  <a:lumMod val="50000"/>
                  <a:lumOff val="50000"/>
                  <a:alpha val="52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4068664" cy="6858000"/>
          </a:xfrm>
          <a:prstGeom prst="rect">
            <a:avLst/>
          </a:prstGeom>
          <a:gradFill>
            <a:gsLst>
              <a:gs pos="22000">
                <a:schemeClr val="accent2">
                  <a:alpha val="69000"/>
                </a:schemeClr>
              </a:gs>
              <a:gs pos="99000">
                <a:schemeClr val="accent4">
                  <a:alpha val="74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426853" y="-345671"/>
            <a:ext cx="3429002" cy="4120348"/>
          </a:xfrm>
          <a:prstGeom prst="rect">
            <a:avLst/>
          </a:prstGeom>
          <a:gradFill>
            <a:gsLst>
              <a:gs pos="0">
                <a:schemeClr val="accent5">
                  <a:alpha val="26000"/>
                </a:schemeClr>
              </a:gs>
              <a:gs pos="49000">
                <a:schemeClr val="tx2">
                  <a:lumMod val="75000"/>
                  <a:lumOff val="25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close up of a car going down the highway&#10;&#10;Description automatically generated">
            <a:extLst>
              <a:ext uri="{FF2B5EF4-FFF2-40B4-BE49-F238E27FC236}">
                <a16:creationId xmlns:a16="http://schemas.microsoft.com/office/drawing/2014/main" id="{3DBE5E4B-455F-0140-B625-9C9FD35C01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49" r="21351" b="1"/>
          <a:stretch/>
        </p:blipFill>
        <p:spPr>
          <a:xfrm>
            <a:off x="6096000" y="1012536"/>
            <a:ext cx="4756162" cy="4756162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  <p:sp>
        <p:nvSpPr>
          <p:cNvPr id="6" name="AutoShape 6" descr="A Canadian Company's Quest To Turn Air Pollution Into Fuel | Innovation |  Smithsonian Magazine">
            <a:extLst>
              <a:ext uri="{FF2B5EF4-FFF2-40B4-BE49-F238E27FC236}">
                <a16:creationId xmlns:a16="http://schemas.microsoft.com/office/drawing/2014/main" id="{FC62A87F-E8D7-F047-9665-B746C54306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3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FF0000"/>
                </a:solidFill>
              </a:rPr>
              <a:t>Outline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456761"/>
            <a:ext cx="10240903" cy="3305884"/>
          </a:xfrm>
        </p:spPr>
        <p:txBody>
          <a:bodyPr/>
          <a:lstStyle/>
          <a:p>
            <a:r>
              <a:rPr lang="en-GB" dirty="0" smtClean="0"/>
              <a:t>Introduction to the Practical Course (G12)</a:t>
            </a:r>
          </a:p>
          <a:p>
            <a:r>
              <a:rPr lang="en-GB" dirty="0" smtClean="0"/>
              <a:t>Forming of the research teams (G12)</a:t>
            </a:r>
          </a:p>
          <a:p>
            <a:r>
              <a:rPr lang="en-GB" dirty="0" smtClean="0"/>
              <a:t>Setting up the Hand-held monitors (G12)</a:t>
            </a:r>
          </a:p>
          <a:p>
            <a:r>
              <a:rPr lang="en-GB" dirty="0" smtClean="0"/>
              <a:t>Collecting meteorological data at Brunswick Park</a:t>
            </a:r>
          </a:p>
          <a:p>
            <a:r>
              <a:rPr lang="en-GB" dirty="0" smtClean="0"/>
              <a:t>Data check (Back to G12!)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432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A305304-8EFE-F24B-8006-69BA0EDFE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519" y="-238237"/>
            <a:ext cx="10240903" cy="1233488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AIR POLLUTION: AN overview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B034558-701C-3340-9031-E83B9C3F5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345" y="1392850"/>
            <a:ext cx="9851802" cy="1975112"/>
          </a:xfrm>
          <a:noFill/>
          <a:ln>
            <a:noFill/>
          </a:ln>
        </p:spPr>
        <p:txBody>
          <a:bodyPr>
            <a:normAutofit/>
          </a:bodyPr>
          <a:lstStyle/>
          <a:p>
            <a:pPr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London’s Great Smog of 1952:</a:t>
            </a:r>
          </a:p>
          <a:p>
            <a:pPr lvl="1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Coal burning (domestic/industrial heating) anticyclonic conditions</a:t>
            </a:r>
          </a:p>
          <a:p>
            <a:pPr lvl="1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Thousands of deaths </a:t>
            </a:r>
          </a:p>
          <a:p>
            <a:pPr lvl="1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Anti-pollution legislation - “Clean Air Act” (1956</a:t>
            </a:r>
            <a:r>
              <a:rPr lang="en-GB" sz="2000" dirty="0">
                <a:solidFill>
                  <a:schemeClr val="tx1"/>
                </a:solidFill>
              </a:rPr>
              <a:t>)</a:t>
            </a:r>
          </a:p>
          <a:p>
            <a:pPr marL="457200" lvl="1" indent="0">
              <a:buNone/>
            </a:pPr>
            <a:endParaRPr lang="en-GB" sz="18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GB" sz="1800" dirty="0">
              <a:solidFill>
                <a:schemeClr val="tx1"/>
              </a:solidFill>
            </a:endParaRPr>
          </a:p>
        </p:txBody>
      </p:sp>
      <p:pic>
        <p:nvPicPr>
          <p:cNvPr id="6" name="Picture 4" descr="Image result for air pollution London">
            <a:extLst>
              <a:ext uri="{FF2B5EF4-FFF2-40B4-BE49-F238E27FC236}">
                <a16:creationId xmlns:a16="http://schemas.microsoft.com/office/drawing/2014/main" id="{42CACF51-F54F-E341-8A46-8D68C5F1B1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09"/>
          <a:stretch/>
        </p:blipFill>
        <p:spPr bwMode="auto">
          <a:xfrm>
            <a:off x="3823729" y="4203731"/>
            <a:ext cx="2505241" cy="212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164CE7-F13D-CD4E-88BE-29AF20463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4440" y="2022407"/>
            <a:ext cx="3446657" cy="43101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DF389F-982C-B547-A5F7-F63BE9CB8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229" y="3428999"/>
            <a:ext cx="2719739" cy="197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4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FD5358-E7E1-48E4-8AAF-72C5A5486BC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FEF205-91EC-45C0-B129-C4B7B770C2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0800"/>
            <a:ext cx="12191999" cy="45719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A2FAE8-3610-4EDB-85F1-C20BCF890F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0799"/>
            <a:ext cx="4076696" cy="4572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99000">
                <a:schemeClr val="accent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7066D84-C7F9-EE4D-82AC-BD60F1E82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154" y="259597"/>
            <a:ext cx="9044182" cy="1928584"/>
          </a:xfrm>
        </p:spPr>
        <p:txBody>
          <a:bodyPr>
            <a:normAutofit lnSpcReduction="10000"/>
          </a:bodyPr>
          <a:lstStyle/>
          <a:p>
            <a:pPr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Developments in transport, industry, etc. – changes in pollutant emissions </a:t>
            </a:r>
          </a:p>
          <a:p>
            <a:pPr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Main pollutants of current concern:</a:t>
            </a:r>
          </a:p>
          <a:p>
            <a:pPr lvl="1">
              <a:buClr>
                <a:schemeClr val="accent5"/>
              </a:buClr>
            </a:pPr>
            <a:r>
              <a:rPr lang="en-GB" sz="1800" dirty="0">
                <a:solidFill>
                  <a:schemeClr val="tx1"/>
                </a:solidFill>
              </a:rPr>
              <a:t>Nitrogen Oxides (NO</a:t>
            </a:r>
            <a:r>
              <a:rPr lang="en-GB" sz="1800" baseline="-25000" dirty="0">
                <a:solidFill>
                  <a:schemeClr val="tx1"/>
                </a:solidFill>
              </a:rPr>
              <a:t>x</a:t>
            </a:r>
            <a:r>
              <a:rPr lang="en-GB" sz="1800" dirty="0">
                <a:solidFill>
                  <a:schemeClr val="tx1"/>
                </a:solidFill>
              </a:rPr>
              <a:t>)</a:t>
            </a:r>
          </a:p>
          <a:p>
            <a:pPr lvl="1">
              <a:buClr>
                <a:schemeClr val="accent5"/>
              </a:buClr>
            </a:pPr>
            <a:r>
              <a:rPr lang="en-GB" sz="1800" dirty="0">
                <a:solidFill>
                  <a:schemeClr val="tx1"/>
                </a:solidFill>
              </a:rPr>
              <a:t>Particulate Matter (PM)</a:t>
            </a:r>
          </a:p>
          <a:p>
            <a:pPr lvl="1">
              <a:buClr>
                <a:schemeClr val="accent5"/>
              </a:buClr>
            </a:pPr>
            <a:r>
              <a:rPr lang="en-GB" sz="1800" dirty="0"/>
              <a:t>Ozone (O</a:t>
            </a:r>
            <a:r>
              <a:rPr lang="en-GB" sz="1800" baseline="-25000" dirty="0"/>
              <a:t>3</a:t>
            </a:r>
            <a:r>
              <a:rPr lang="en-GB" sz="1800" dirty="0"/>
              <a:t>)</a:t>
            </a:r>
            <a:endParaRPr lang="en-GB" sz="18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GB" sz="1800" dirty="0"/>
          </a:p>
        </p:txBody>
      </p:sp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6CC9EAA9-45F6-F341-9FDC-DA0B63E72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68464"/>
              </p:ext>
            </p:extLst>
          </p:nvPr>
        </p:nvGraphicFramePr>
        <p:xfrm>
          <a:off x="1022078" y="2273827"/>
          <a:ext cx="1037845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459">
                  <a:extLst>
                    <a:ext uri="{9D8B030D-6E8A-4147-A177-3AD203B41FA5}">
                      <a16:colId xmlns:a16="http://schemas.microsoft.com/office/drawing/2014/main" val="3772568823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3490511821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3444095392"/>
                    </a:ext>
                  </a:extLst>
                </a:gridCol>
                <a:gridCol w="3276000">
                  <a:extLst>
                    <a:ext uri="{9D8B030D-6E8A-4147-A177-3AD203B41FA5}">
                      <a16:colId xmlns:a16="http://schemas.microsoft.com/office/drawing/2014/main" val="41161787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Pollutant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Health Impacts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Environmental Impacts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545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r>
                        <a:rPr lang="en-US" sz="1400" baseline="-25000" dirty="0"/>
                        <a:t>x</a:t>
                      </a:r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PM</a:t>
                      </a:r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O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Fossil fuel combustion (transportation, industry)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Lightning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Soils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Fossil fuel combustion (transportation, industry)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Agriculture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Sea-spray, dust &amp; ash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Secondary pollutant – reaction of NO</a:t>
                      </a:r>
                      <a:r>
                        <a:rPr lang="en-US" sz="1400" baseline="-25000" dirty="0"/>
                        <a:t>x</a:t>
                      </a:r>
                      <a:r>
                        <a:rPr lang="en-US" sz="1400" dirty="0"/>
                        <a:t> and volatile organic compounds (VOCs) in the presence of sunlight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Respiratory impacts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Cardiovascular impacts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Respiratory impacts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Respiratory impacts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Worsening of pre-existing respiratory illnesses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Acid rain – damage to ecosystems (e.g. forests, lakes)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Smog formation over towns and cities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Reduced visibility (formation of hazes</a:t>
                      </a:r>
                      <a:r>
                        <a:rPr lang="en-US" sz="1400" dirty="0" smtClean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 smtClean="0"/>
                        <a:t>Can act as carriers for certain pathogens and harmful substances</a:t>
                      </a: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Powerful oxidant – damage to </a:t>
                      </a:r>
                      <a:r>
                        <a:rPr lang="en-US" sz="1400" dirty="0" smtClean="0"/>
                        <a:t>vegetation &amp; historical heritage, </a:t>
                      </a:r>
                      <a:r>
                        <a:rPr lang="en-US" sz="1400" dirty="0"/>
                        <a:t>impacts crop yields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Smog formation over towns and cities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145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882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FD5358-E7E1-48E4-8AAF-72C5A5486BC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0B5B8A-C010-BA42-9A01-3C7B0F01029D}"/>
              </a:ext>
            </a:extLst>
          </p:cNvPr>
          <p:cNvSpPr txBox="1">
            <a:spLocks/>
          </p:cNvSpPr>
          <p:nvPr/>
        </p:nvSpPr>
        <p:spPr>
          <a:xfrm>
            <a:off x="469900" y="489399"/>
            <a:ext cx="7213603" cy="24443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Air pollution is a global problem:</a:t>
            </a:r>
          </a:p>
          <a:p>
            <a:pPr lvl="1"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7 million premature deaths in 2012</a:t>
            </a:r>
          </a:p>
          <a:p>
            <a:pPr lvl="1"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of the top 10 threats to global health in 2019 (WHO)</a:t>
            </a:r>
          </a:p>
          <a:p>
            <a:pPr marL="114300"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Largest environmental health stressor on UK population:</a:t>
            </a:r>
          </a:p>
          <a:p>
            <a:pPr lvl="1"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40,000 premature deaths/year; £10-£20 billion/year</a:t>
            </a:r>
          </a:p>
          <a:p>
            <a:pPr marL="457200" lvl="1"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457200" lvl="1"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lvl="1"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6" descr="Image result for air pollution in london">
            <a:extLst>
              <a:ext uri="{FF2B5EF4-FFF2-40B4-BE49-F238E27FC236}">
                <a16:creationId xmlns:a16="http://schemas.microsoft.com/office/drawing/2014/main" id="{15711AE1-4693-A149-9DB2-7CFE2D26FE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77" b="2"/>
          <a:stretch/>
        </p:blipFill>
        <p:spPr bwMode="auto">
          <a:xfrm>
            <a:off x="8115299" y="1"/>
            <a:ext cx="4076695" cy="318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result for london air pollution">
            <a:extLst>
              <a:ext uri="{FF2B5EF4-FFF2-40B4-BE49-F238E27FC236}">
                <a16:creationId xmlns:a16="http://schemas.microsoft.com/office/drawing/2014/main" id="{A62B36D0-98C4-DF41-8355-0E72990E28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19" r="11909"/>
          <a:stretch/>
        </p:blipFill>
        <p:spPr bwMode="auto">
          <a:xfrm>
            <a:off x="8115299" y="3161715"/>
            <a:ext cx="4076695" cy="3239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EFEF205-91EC-45C0-B129-C4B7B770C2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0800"/>
            <a:ext cx="12191999" cy="45719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A2FAE8-3610-4EDB-85F1-C20BCF890F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0799"/>
            <a:ext cx="4076696" cy="4572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99000">
                <a:schemeClr val="accent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BEDE28-E7C7-0E4A-B8FA-C550A344F95E}"/>
              </a:ext>
            </a:extLst>
          </p:cNvPr>
          <p:cNvSpPr txBox="1">
            <a:spLocks/>
          </p:cNvSpPr>
          <p:nvPr/>
        </p:nvSpPr>
        <p:spPr>
          <a:xfrm>
            <a:off x="2267355" y="3909646"/>
            <a:ext cx="7182802" cy="36912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defTabSz="914400">
              <a:lnSpc>
                <a:spcPct val="12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457200" lvl="1"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1"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623F233-CA73-B24B-A254-3C64B91FD358}"/>
              </a:ext>
            </a:extLst>
          </p:cNvPr>
          <p:cNvSpPr txBox="1">
            <a:spLocks/>
          </p:cNvSpPr>
          <p:nvPr/>
        </p:nvSpPr>
        <p:spPr>
          <a:xfrm>
            <a:off x="469900" y="3429001"/>
            <a:ext cx="7213603" cy="2476500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lnSpc>
                <a:spcPct val="120000"/>
              </a:lnSpc>
              <a:buNone/>
            </a:pPr>
            <a:r>
              <a:rPr lang="en-US" b="1" dirty="0">
                <a:solidFill>
                  <a:schemeClr val="accent5"/>
                </a:solidFill>
              </a:rPr>
              <a:t>ACCURATE MEASUREMENT &amp; MONITORING OF AIR POLLUTANTS IS EXTREMELY IMPORTANT</a:t>
            </a:r>
          </a:p>
          <a:p>
            <a:pPr marL="514350" lvl="1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Develop our understanding of processes and pollutants which are affecting air quality (shifts in vehicular and industrial technology, etc.)</a:t>
            </a:r>
          </a:p>
          <a:p>
            <a:pPr marL="514350" lvl="1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Major health and environmental impacts</a:t>
            </a:r>
          </a:p>
          <a:p>
            <a:pPr marL="514350" lvl="1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Assess the effectiveness of air quality intervention policies</a:t>
            </a:r>
          </a:p>
          <a:p>
            <a:pPr marL="114300" indent="0" defTabSz="914400">
              <a:lnSpc>
                <a:spcPct val="120000"/>
              </a:lnSpc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457200" lvl="1"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lvl="1"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73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B0DC9-ECD8-0445-98F4-3F04F49C4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515" y="2067600"/>
            <a:ext cx="11082965" cy="4275268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This practical involves the measurement and interpretation of atmospheric data.</a:t>
            </a:r>
          </a:p>
          <a:p>
            <a:r>
              <a:rPr lang="en-US" sz="2800" dirty="0"/>
              <a:t>Measurements must be as accurate as possible, but we can never avoid errors and uncertainties in what we measure!</a:t>
            </a:r>
          </a:p>
          <a:p>
            <a:r>
              <a:rPr lang="en-US" sz="2800" dirty="0"/>
              <a:t>All measurements need to have error estimates so we know how confident we can be in our analysis and interpretation.</a:t>
            </a:r>
          </a:p>
          <a:p>
            <a:r>
              <a:rPr lang="en-US" sz="2800" dirty="0"/>
              <a:t>Three main types of errors:</a:t>
            </a:r>
          </a:p>
          <a:p>
            <a:pPr marL="457200" lvl="1" indent="0">
              <a:buNone/>
            </a:pPr>
            <a:r>
              <a:rPr lang="en-US" sz="2800" dirty="0"/>
              <a:t>		</a:t>
            </a:r>
            <a:r>
              <a:rPr lang="en-US" sz="2800" dirty="0">
                <a:solidFill>
                  <a:schemeClr val="accent5"/>
                </a:solidFill>
              </a:rPr>
              <a:t>Systematic		Random		Representativity</a:t>
            </a:r>
          </a:p>
          <a:p>
            <a:endParaRPr lang="en-US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B4DEB23-D325-924A-9FF3-207EE87C66A2}"/>
              </a:ext>
            </a:extLst>
          </p:cNvPr>
          <p:cNvSpPr txBox="1">
            <a:spLocks/>
          </p:cNvSpPr>
          <p:nvPr/>
        </p:nvSpPr>
        <p:spPr>
          <a:xfrm>
            <a:off x="975547" y="302482"/>
            <a:ext cx="10240903" cy="123348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5"/>
                </a:solidFill>
              </a:rPr>
              <a:t>Atmospheric data:</a:t>
            </a:r>
          </a:p>
          <a:p>
            <a:pPr algn="ctr"/>
            <a:r>
              <a:rPr lang="en-US" dirty="0">
                <a:solidFill>
                  <a:schemeClr val="accent5"/>
                </a:solidFill>
              </a:rPr>
              <a:t>measurement errors</a:t>
            </a:r>
          </a:p>
        </p:txBody>
      </p:sp>
    </p:spTree>
    <p:extLst>
      <p:ext uri="{BB962C8B-B14F-4D97-AF65-F5344CB8AC3E}">
        <p14:creationId xmlns:p14="http://schemas.microsoft.com/office/powerpoint/2010/main" val="2180874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256" y="-189125"/>
            <a:ext cx="9527790" cy="1698435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A Costly Error: NASA's Mars Climate </a:t>
            </a:r>
            <a:r>
              <a:rPr lang="en-GB" dirty="0" smtClean="0">
                <a:solidFill>
                  <a:srgbClr val="FF0000"/>
                </a:solidFill>
              </a:rPr>
              <a:t>Orbiter(1999)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759" y="2250747"/>
            <a:ext cx="11049918" cy="3956179"/>
          </a:xfrm>
        </p:spPr>
        <p:txBody>
          <a:bodyPr>
            <a:normAutofit/>
          </a:bodyPr>
          <a:lstStyle/>
          <a:p>
            <a:r>
              <a:rPr lang="en-GB" sz="2200" dirty="0" smtClean="0"/>
              <a:t>In </a:t>
            </a:r>
            <a:r>
              <a:rPr lang="en-GB" sz="2200" dirty="0"/>
              <a:t>1999, NASA's Mars Climate Orbiter was lost because of a unit conversion error. One team used the metric system (newton-seconds), while another used the imperial system (pound-seconds) to calculate the spacecraft's trajectory</a:t>
            </a:r>
            <a:r>
              <a:rPr lang="en-GB" sz="2200" dirty="0" smtClean="0"/>
              <a:t>.</a:t>
            </a:r>
          </a:p>
          <a:p>
            <a:r>
              <a:rPr lang="en-GB" sz="2200" dirty="0" smtClean="0"/>
              <a:t>This </a:t>
            </a:r>
            <a:r>
              <a:rPr lang="en-GB" sz="2200" dirty="0"/>
              <a:t>led to the spacecraft entering Mars' atmosphere too low, causing it to burn up. The mission, which cost $125 million, was lost</a:t>
            </a:r>
            <a:r>
              <a:rPr lang="en-GB" sz="2200" dirty="0" smtClean="0"/>
              <a:t>.</a:t>
            </a:r>
          </a:p>
          <a:p>
            <a:r>
              <a:rPr lang="en-GB" sz="2200" b="1" dirty="0" smtClean="0">
                <a:solidFill>
                  <a:srgbClr val="FF0000"/>
                </a:solidFill>
              </a:rPr>
              <a:t>Even </a:t>
            </a:r>
            <a:r>
              <a:rPr lang="en-GB" sz="2200" b="1" dirty="0">
                <a:solidFill>
                  <a:srgbClr val="FF0000"/>
                </a:solidFill>
              </a:rPr>
              <a:t>minor errors, if not caught, can have major impacts, underscoring the importance of attention to detail in all forms of data collection.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9332" y="0"/>
            <a:ext cx="2375236" cy="215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1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38968-6D0D-F747-A45E-5C41AF109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5644" y="1621031"/>
            <a:ext cx="9720807" cy="3956179"/>
          </a:xfrm>
        </p:spPr>
        <p:txBody>
          <a:bodyPr>
            <a:normAutofit/>
          </a:bodyPr>
          <a:lstStyle/>
          <a:p>
            <a:r>
              <a:rPr lang="en-US" sz="2800" dirty="0"/>
              <a:t>Reproducible errors which affect all your measurements in the same way</a:t>
            </a:r>
          </a:p>
          <a:p>
            <a:r>
              <a:rPr lang="en-US" sz="2800" dirty="0"/>
              <a:t>Typical causes:</a:t>
            </a:r>
          </a:p>
          <a:p>
            <a:pPr lvl="1"/>
            <a:r>
              <a:rPr lang="en-US" sz="2800" dirty="0"/>
              <a:t>Observational error</a:t>
            </a:r>
          </a:p>
          <a:p>
            <a:pPr lvl="1"/>
            <a:r>
              <a:rPr lang="en-US" sz="2800" dirty="0"/>
              <a:t>Imperfect instrument calibration</a:t>
            </a:r>
          </a:p>
          <a:p>
            <a:pPr lvl="1"/>
            <a:r>
              <a:rPr lang="en-US" sz="2800" dirty="0"/>
              <a:t>Environmental interference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18E0B-5497-2141-9F72-A92D4B41C7C4}"/>
              </a:ext>
            </a:extLst>
          </p:cNvPr>
          <p:cNvSpPr txBox="1">
            <a:spLocks/>
          </p:cNvSpPr>
          <p:nvPr/>
        </p:nvSpPr>
        <p:spPr>
          <a:xfrm>
            <a:off x="975548" y="-186615"/>
            <a:ext cx="10240903" cy="123348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5"/>
                </a:solidFill>
              </a:rPr>
              <a:t>Systematic errors</a:t>
            </a:r>
          </a:p>
        </p:txBody>
      </p:sp>
    </p:spTree>
    <p:extLst>
      <p:ext uri="{BB962C8B-B14F-4D97-AF65-F5344CB8AC3E}">
        <p14:creationId xmlns:p14="http://schemas.microsoft.com/office/powerpoint/2010/main" val="96773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7E0ED24A-6F57-0C44-BC65-8D9EEBFC7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127" y="266189"/>
            <a:ext cx="10309745" cy="1233488"/>
          </a:xfrm>
        </p:spPr>
        <p:txBody>
          <a:bodyPr/>
          <a:lstStyle/>
          <a:p>
            <a:pPr algn="ctr" eaLnBrk="1" hangingPunct="1"/>
            <a:r>
              <a:rPr lang="en-GB" altLang="en-US" sz="4000" dirty="0">
                <a:solidFill>
                  <a:schemeClr val="accent5"/>
                </a:solidFill>
              </a:rPr>
              <a:t>Systematic errors: </a:t>
            </a:r>
            <a:br>
              <a:rPr lang="en-GB" altLang="en-US" sz="4000" dirty="0">
                <a:solidFill>
                  <a:schemeClr val="accent5"/>
                </a:solidFill>
              </a:rPr>
            </a:br>
            <a:r>
              <a:rPr lang="en-GB" altLang="en-US" sz="4000" dirty="0">
                <a:solidFill>
                  <a:schemeClr val="accent5"/>
                </a:solidFill>
              </a:rPr>
              <a:t>simple examples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5A7611F-E3E7-D540-B1C3-98BEEDE146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6349" y="1816239"/>
            <a:ext cx="5990275" cy="2592582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buFontTx/>
              <a:buNone/>
              <a:defRPr/>
            </a:pPr>
            <a:r>
              <a:rPr lang="en-GB" sz="2600" dirty="0">
                <a:solidFill>
                  <a:schemeClr val="accent5"/>
                </a:solidFill>
              </a:rPr>
              <a:t>1) Zero error</a:t>
            </a:r>
          </a:p>
          <a:p>
            <a:pPr>
              <a:defRPr/>
            </a:pPr>
            <a:r>
              <a:rPr lang="en-GB" sz="2600" dirty="0"/>
              <a:t>Forgetting to tare or zero a balance</a:t>
            </a:r>
          </a:p>
          <a:p>
            <a:pPr>
              <a:defRPr/>
            </a:pPr>
            <a:r>
              <a:rPr lang="en-GB" sz="2600" dirty="0"/>
              <a:t>Measurements will always be ”off” by the same amount</a:t>
            </a:r>
          </a:p>
          <a:p>
            <a:pPr>
              <a:defRPr/>
            </a:pPr>
            <a:r>
              <a:rPr lang="en-GB" sz="2600" dirty="0"/>
              <a:t>You have an offset</a:t>
            </a:r>
          </a:p>
          <a:p>
            <a:pPr marL="0" indent="0">
              <a:buNone/>
              <a:defRPr/>
            </a:pPr>
            <a:r>
              <a:rPr lang="en-GB" dirty="0" smtClean="0"/>
              <a:t>. </a:t>
            </a:r>
            <a:endParaRPr lang="en-GB" b="1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BC59EAA0-DED2-3B4A-BCC1-013EC18CB843}"/>
              </a:ext>
            </a:extLst>
          </p:cNvPr>
          <p:cNvSpPr txBox="1">
            <a:spLocks/>
          </p:cNvSpPr>
          <p:nvPr/>
        </p:nvSpPr>
        <p:spPr>
          <a:xfrm>
            <a:off x="396349" y="4584207"/>
            <a:ext cx="5165360" cy="21674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GB" dirty="0">
                <a:solidFill>
                  <a:schemeClr val="accent5"/>
                </a:solidFill>
              </a:rPr>
              <a:t>2) Scale error</a:t>
            </a:r>
          </a:p>
          <a:p>
            <a:pPr>
              <a:defRPr/>
            </a:pPr>
            <a:r>
              <a:rPr lang="en-GB" dirty="0"/>
              <a:t>Device has not been calibrated properly</a:t>
            </a:r>
          </a:p>
          <a:p>
            <a:pPr>
              <a:defRPr/>
            </a:pPr>
            <a:r>
              <a:rPr lang="en-GB" dirty="0"/>
              <a:t>Correct through comparison with a standard</a:t>
            </a:r>
            <a:endParaRPr lang="en-GB" b="1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26BAB47E-BDD4-AF46-90C9-894EC3085778}"/>
              </a:ext>
            </a:extLst>
          </p:cNvPr>
          <p:cNvSpPr txBox="1">
            <a:spLocks/>
          </p:cNvSpPr>
          <p:nvPr/>
        </p:nvSpPr>
        <p:spPr>
          <a:xfrm>
            <a:off x="7126477" y="1816239"/>
            <a:ext cx="4831607" cy="25925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GB" dirty="0">
                <a:solidFill>
                  <a:schemeClr val="accent5"/>
                </a:solidFill>
              </a:rPr>
              <a:t>3) Instrument drift</a:t>
            </a:r>
          </a:p>
          <a:p>
            <a:pPr>
              <a:defRPr/>
            </a:pPr>
            <a:r>
              <a:rPr lang="en-GB" dirty="0"/>
              <a:t>Successive readings become consistently lower or higher over time</a:t>
            </a:r>
          </a:p>
          <a:p>
            <a:pPr>
              <a:defRPr/>
            </a:pPr>
            <a:r>
              <a:rPr lang="en-GB" dirty="0"/>
              <a:t>Can be a result of changing in meteorological conditions, such as temperature or humidity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015166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DD871-CC24-C249-A242-2B7725035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8552" y="2306794"/>
            <a:ext cx="8234894" cy="2244411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Make sure instruments are corrected for zero off-sets</a:t>
            </a:r>
          </a:p>
          <a:p>
            <a:r>
              <a:rPr lang="en-US" sz="2800" dirty="0"/>
              <a:t>Regular calibrations of instruments</a:t>
            </a:r>
          </a:p>
          <a:p>
            <a:r>
              <a:rPr lang="en-US" sz="2800" dirty="0"/>
              <a:t>Comparing values against standards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3E91F8-0F2F-0447-A9F0-452299533190}"/>
              </a:ext>
            </a:extLst>
          </p:cNvPr>
          <p:cNvSpPr txBox="1">
            <a:spLocks/>
          </p:cNvSpPr>
          <p:nvPr/>
        </p:nvSpPr>
        <p:spPr>
          <a:xfrm>
            <a:off x="975547" y="191403"/>
            <a:ext cx="10240903" cy="123348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5"/>
                </a:solidFill>
              </a:rPr>
              <a:t>How to deal with </a:t>
            </a:r>
          </a:p>
          <a:p>
            <a:pPr algn="ctr"/>
            <a:r>
              <a:rPr lang="en-US" dirty="0">
                <a:solidFill>
                  <a:schemeClr val="accent5"/>
                </a:solidFill>
              </a:rPr>
              <a:t>Systematic errors</a:t>
            </a:r>
          </a:p>
        </p:txBody>
      </p:sp>
    </p:spTree>
    <p:extLst>
      <p:ext uri="{BB962C8B-B14F-4D97-AF65-F5344CB8AC3E}">
        <p14:creationId xmlns:p14="http://schemas.microsoft.com/office/powerpoint/2010/main" val="109638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14F37-7BB2-FF4C-AA16-62ABCE243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5516" y="1732167"/>
            <a:ext cx="10240903" cy="3956179"/>
          </a:xfrm>
        </p:spPr>
        <p:txBody>
          <a:bodyPr>
            <a:normAutofit/>
          </a:bodyPr>
          <a:lstStyle/>
          <a:p>
            <a:r>
              <a:rPr lang="en-US" sz="2800" dirty="0"/>
              <a:t>Cause one measurement to differ slightly from the next</a:t>
            </a:r>
          </a:p>
          <a:p>
            <a:r>
              <a:rPr lang="en-US" sz="2800" dirty="0"/>
              <a:t>Caused by unpredictable changes during an experiment:</a:t>
            </a:r>
          </a:p>
          <a:p>
            <a:pPr lvl="1"/>
            <a:r>
              <a:rPr lang="en-US" sz="2800" dirty="0"/>
              <a:t>Instrumental noise</a:t>
            </a:r>
          </a:p>
          <a:p>
            <a:pPr lvl="1"/>
            <a:r>
              <a:rPr lang="en-US" sz="2800" dirty="0"/>
              <a:t>Real variations in what is being measured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5FA884-CCFE-BC49-800B-7C2183B9F88E}"/>
              </a:ext>
            </a:extLst>
          </p:cNvPr>
          <p:cNvSpPr txBox="1">
            <a:spLocks/>
          </p:cNvSpPr>
          <p:nvPr/>
        </p:nvSpPr>
        <p:spPr>
          <a:xfrm>
            <a:off x="975548" y="-186615"/>
            <a:ext cx="10240903" cy="123348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5"/>
                </a:solidFill>
              </a:rPr>
              <a:t>RANDOM errors</a:t>
            </a:r>
          </a:p>
        </p:txBody>
      </p:sp>
    </p:spTree>
    <p:extLst>
      <p:ext uri="{BB962C8B-B14F-4D97-AF65-F5344CB8AC3E}">
        <p14:creationId xmlns:p14="http://schemas.microsoft.com/office/powerpoint/2010/main" val="253991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030A823B-18A4-974D-A95F-81C49DC2B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127" y="266189"/>
            <a:ext cx="10309745" cy="1233488"/>
          </a:xfrm>
        </p:spPr>
        <p:txBody>
          <a:bodyPr/>
          <a:lstStyle/>
          <a:p>
            <a:pPr algn="ctr" eaLnBrk="1" hangingPunct="1"/>
            <a:r>
              <a:rPr lang="en-GB" altLang="en-US" sz="4000" dirty="0">
                <a:solidFill>
                  <a:schemeClr val="accent5"/>
                </a:solidFill>
              </a:rPr>
              <a:t>RANDOM errors: </a:t>
            </a:r>
            <a:br>
              <a:rPr lang="en-GB" altLang="en-US" sz="4000" dirty="0">
                <a:solidFill>
                  <a:schemeClr val="accent5"/>
                </a:solidFill>
              </a:rPr>
            </a:br>
            <a:r>
              <a:rPr lang="en-GB" altLang="en-US" sz="4000" dirty="0">
                <a:solidFill>
                  <a:schemeClr val="accent5"/>
                </a:solidFill>
              </a:rPr>
              <a:t>A simple </a:t>
            </a:r>
            <a:r>
              <a:rPr lang="en-GB" altLang="en-US" sz="4000" dirty="0" err="1">
                <a:solidFill>
                  <a:schemeClr val="accent5"/>
                </a:solidFill>
              </a:rPr>
              <a:t>examplE</a:t>
            </a:r>
            <a:endParaRPr lang="en-GB" altLang="en-US" sz="4000" dirty="0">
              <a:solidFill>
                <a:schemeClr val="accent5"/>
              </a:solidFill>
            </a:endParaRP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F5E7ED5-32F0-C44F-BC23-DC233EC2919D}"/>
              </a:ext>
            </a:extLst>
          </p:cNvPr>
          <p:cNvSpPr txBox="1">
            <a:spLocks/>
          </p:cNvSpPr>
          <p:nvPr/>
        </p:nvSpPr>
        <p:spPr>
          <a:xfrm>
            <a:off x="751731" y="1913483"/>
            <a:ext cx="9965521" cy="2690791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GB" dirty="0">
                <a:solidFill>
                  <a:schemeClr val="accent5"/>
                </a:solidFill>
              </a:rPr>
              <a:t>Random variations in signal – e.g. wind speed measurements</a:t>
            </a:r>
          </a:p>
          <a:p>
            <a:pPr>
              <a:defRPr/>
            </a:pPr>
            <a:r>
              <a:rPr lang="en-GB" dirty="0"/>
              <a:t>Measurements are noisy!</a:t>
            </a:r>
          </a:p>
          <a:p>
            <a:pPr>
              <a:defRPr/>
            </a:pPr>
            <a:r>
              <a:rPr lang="en-GB" dirty="0"/>
              <a:t>Wind speed measurements vary depending on factors such as altitude and time </a:t>
            </a:r>
          </a:p>
          <a:p>
            <a:pPr>
              <a:defRPr/>
            </a:pPr>
            <a:r>
              <a:rPr lang="en-GB" dirty="0"/>
              <a:t>Take multiple readings and average them to get representative conditions – gusts and changes in direction affect the instantaneous value.</a:t>
            </a:r>
          </a:p>
          <a:p>
            <a:pPr>
              <a:defRPr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GB" dirty="0"/>
              <a:t>. </a:t>
            </a:r>
            <a:endParaRPr lang="en-GB" b="1" dirty="0"/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A608E6C1-D15B-DA4A-A7A3-7BFE42159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33" y="3990854"/>
            <a:ext cx="2901116" cy="2224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8909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C4FAB-A205-5D43-A022-3BEEB349F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10" y="68965"/>
            <a:ext cx="10240903" cy="123348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Gaussian nature of </a:t>
            </a:r>
            <a:br>
              <a:rPr lang="en-US" dirty="0">
                <a:solidFill>
                  <a:schemeClr val="accent5"/>
                </a:solidFill>
              </a:rPr>
            </a:br>
            <a:r>
              <a:rPr lang="en-US" dirty="0" err="1">
                <a:solidFill>
                  <a:schemeClr val="accent5"/>
                </a:solidFill>
              </a:rPr>
              <a:t>RanDOM</a:t>
            </a:r>
            <a:r>
              <a:rPr lang="en-US" dirty="0">
                <a:solidFill>
                  <a:schemeClr val="accent5"/>
                </a:solidFill>
              </a:rPr>
              <a:t> ERRORS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D6999F-39D8-A541-B415-C58408B619C3}"/>
              </a:ext>
            </a:extLst>
          </p:cNvPr>
          <p:cNvSpPr txBox="1">
            <a:spLocks/>
          </p:cNvSpPr>
          <p:nvPr/>
        </p:nvSpPr>
        <p:spPr>
          <a:xfrm>
            <a:off x="256673" y="1527170"/>
            <a:ext cx="11376527" cy="1851662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Random errors are just as likely to move the measured value in either direction (positive or negative with respect to the mean)</a:t>
            </a:r>
          </a:p>
          <a:p>
            <a:r>
              <a:rPr lang="en-GB" dirty="0"/>
              <a:t>They have what we call a </a:t>
            </a:r>
            <a:r>
              <a:rPr lang="en-GB" b="1" dirty="0">
                <a:solidFill>
                  <a:schemeClr val="accent5"/>
                </a:solidFill>
              </a:rPr>
              <a:t>normal Gaussian </a:t>
            </a:r>
            <a:r>
              <a:rPr lang="en-GB" dirty="0"/>
              <a:t>distribution - characterised by a </a:t>
            </a:r>
            <a:r>
              <a:rPr lang="en-GB" b="1" dirty="0">
                <a:solidFill>
                  <a:schemeClr val="accent5"/>
                </a:solidFill>
              </a:rPr>
              <a:t>mean</a:t>
            </a:r>
            <a:r>
              <a:rPr lang="en-GB" dirty="0"/>
              <a:t> and a </a:t>
            </a:r>
            <a:r>
              <a:rPr lang="en-GB" b="1" dirty="0">
                <a:solidFill>
                  <a:schemeClr val="accent5"/>
                </a:solidFill>
              </a:rPr>
              <a:t>standard deviation</a:t>
            </a:r>
            <a:r>
              <a:rPr lang="en-GB" dirty="0"/>
              <a:t>:</a:t>
            </a:r>
          </a:p>
          <a:p>
            <a:pPr marL="457200" lvl="1" indent="0">
              <a:buNone/>
            </a:pPr>
            <a:r>
              <a:rPr lang="en-GB" dirty="0"/>
              <a:t>   Mean = “central” or average value	    Standard deviation = spread of data points around the mean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FF18169-7C32-6848-9869-01B0E473196A}"/>
              </a:ext>
            </a:extLst>
          </p:cNvPr>
          <p:cNvSpPr txBox="1">
            <a:spLocks/>
          </p:cNvSpPr>
          <p:nvPr/>
        </p:nvSpPr>
        <p:spPr>
          <a:xfrm>
            <a:off x="281596" y="3372054"/>
            <a:ext cx="10240903" cy="462990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Normal distributions have an equal number of measurements above and below the mean value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CFECA78-564F-0143-AC7C-92F34878AFF3}"/>
              </a:ext>
            </a:extLst>
          </p:cNvPr>
          <p:cNvGrpSpPr/>
          <p:nvPr/>
        </p:nvGrpSpPr>
        <p:grpSpPr>
          <a:xfrm>
            <a:off x="3211793" y="3694777"/>
            <a:ext cx="4921251" cy="2658743"/>
            <a:chOff x="3905249" y="3708400"/>
            <a:chExt cx="4921251" cy="265874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FF129C4-D335-474C-9FD9-7A969A6F639F}"/>
                </a:ext>
              </a:extLst>
            </p:cNvPr>
            <p:cNvGrpSpPr/>
            <p:nvPr/>
          </p:nvGrpSpPr>
          <p:grpSpPr>
            <a:xfrm>
              <a:off x="3905249" y="3708400"/>
              <a:ext cx="4921251" cy="2658743"/>
              <a:chOff x="4013199" y="4213648"/>
              <a:chExt cx="3860801" cy="186246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D95124B0-2451-D14F-879E-0EC8759B31F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4314" r="83564" b="73000"/>
              <a:stretch/>
            </p:blipFill>
            <p:spPr>
              <a:xfrm>
                <a:off x="4013199" y="4213648"/>
                <a:ext cx="3860801" cy="1862460"/>
              </a:xfrm>
              <a:prstGeom prst="rect">
                <a:avLst/>
              </a:prstGeom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EB32978-A265-864F-B0EC-781682A1040F}"/>
                  </a:ext>
                </a:extLst>
              </p:cNvPr>
              <p:cNvSpPr/>
              <p:nvPr/>
            </p:nvSpPr>
            <p:spPr>
              <a:xfrm>
                <a:off x="5321300" y="5791200"/>
                <a:ext cx="1295400" cy="1905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EE5D7AA-DA9D-9542-99E9-17B816FCED88}"/>
                </a:ext>
              </a:extLst>
            </p:cNvPr>
            <p:cNvSpPr txBox="1"/>
            <p:nvPr/>
          </p:nvSpPr>
          <p:spPr>
            <a:xfrm>
              <a:off x="6124574" y="5924247"/>
              <a:ext cx="482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00B050"/>
                  </a:solidFill>
                </a:rPr>
                <a:t>Mean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077F13-CB53-D045-9335-163F79B0BDF1}"/>
                </a:ext>
              </a:extLst>
            </p:cNvPr>
            <p:cNvSpPr txBox="1"/>
            <p:nvPr/>
          </p:nvSpPr>
          <p:spPr>
            <a:xfrm>
              <a:off x="6466621" y="5896343"/>
              <a:ext cx="11811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0000"/>
                  </a:solidFill>
                </a:rPr>
                <a:t>Mean + 1 standard deviation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FE86A37-60CA-E446-9DE0-D9896861384F}"/>
                </a:ext>
              </a:extLst>
            </p:cNvPr>
            <p:cNvSpPr txBox="1"/>
            <p:nvPr/>
          </p:nvSpPr>
          <p:spPr>
            <a:xfrm>
              <a:off x="5081372" y="5933059"/>
              <a:ext cx="11811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0000"/>
                  </a:solidFill>
                </a:rPr>
                <a:t>Mean - 1 standard deviation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368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AEB5-D740-5241-8AF7-4830C55B6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84" y="170138"/>
            <a:ext cx="10932019" cy="1233488"/>
          </a:xfrm>
        </p:spPr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Estimation of RANDOM “NOISE” ERRORS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2859574-B10C-3C4E-B2CA-7F567D8FB019}"/>
              </a:ext>
            </a:extLst>
          </p:cNvPr>
          <p:cNvSpPr txBox="1">
            <a:spLocks/>
          </p:cNvSpPr>
          <p:nvPr/>
        </p:nvSpPr>
        <p:spPr>
          <a:xfrm>
            <a:off x="476573" y="1597526"/>
            <a:ext cx="9965521" cy="4682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GB" b="1" dirty="0"/>
              <a:t>These errors are quantified by taking multiple measurements </a:t>
            </a:r>
            <a:r>
              <a:rPr lang="en-GB" dirty="0"/>
              <a:t> </a:t>
            </a:r>
            <a:endParaRPr lang="en-GB" b="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F158F8F-450D-1546-9651-0292855A1A8D}"/>
              </a:ext>
            </a:extLst>
          </p:cNvPr>
          <p:cNvGrpSpPr/>
          <p:nvPr/>
        </p:nvGrpSpPr>
        <p:grpSpPr>
          <a:xfrm>
            <a:off x="599058" y="2439442"/>
            <a:ext cx="5621867" cy="1117435"/>
            <a:chOff x="474133" y="2296128"/>
            <a:chExt cx="5621867" cy="9232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0D15CB6-B5E6-5946-ABD9-1C00B853AE8C}"/>
                    </a:ext>
                  </a:extLst>
                </p:cNvPr>
                <p:cNvSpPr/>
                <p:nvPr/>
              </p:nvSpPr>
              <p:spPr>
                <a:xfrm>
                  <a:off x="474133" y="2296128"/>
                  <a:ext cx="5621867" cy="923278"/>
                </a:xfrm>
                <a:prstGeom prst="rect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0D15CB6-B5E6-5946-ABD9-1C00B853AE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133" y="2296128"/>
                  <a:ext cx="5621867" cy="92327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Content Placeholder 5">
              <a:extLst>
                <a:ext uri="{FF2B5EF4-FFF2-40B4-BE49-F238E27FC236}">
                  <a16:creationId xmlns:a16="http://schemas.microsoft.com/office/drawing/2014/main" id="{1E410906-D226-D94B-BC31-9448A6EC9FC9}"/>
                </a:ext>
              </a:extLst>
            </p:cNvPr>
            <p:cNvSpPr txBox="1">
              <a:spLocks/>
            </p:cNvSpPr>
            <p:nvPr/>
          </p:nvSpPr>
          <p:spPr>
            <a:xfrm>
              <a:off x="556508" y="2490028"/>
              <a:ext cx="851432" cy="468210"/>
            </a:xfrm>
            <a:prstGeom prst="rect">
              <a:avLst/>
            </a:prstGeom>
          </p:spPr>
          <p:txBody>
            <a:bodyPr vert="horz" lIns="0" tIns="0" rIns="0" bIns="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GB" sz="1800" b="1" dirty="0"/>
                <a:t>Mean:</a:t>
              </a:r>
            </a:p>
            <a:p>
              <a:pPr marL="0" indent="0">
                <a:buFont typeface="Arial" panose="020B0604020202020204" pitchFamily="34" charset="0"/>
                <a:buNone/>
                <a:defRPr/>
              </a:pPr>
              <a:endParaRPr lang="en-GB" b="1" dirty="0"/>
            </a:p>
            <a:p>
              <a:pPr marL="0" indent="0">
                <a:buFont typeface="Arial" panose="020B0604020202020204" pitchFamily="34" charset="0"/>
                <a:buNone/>
                <a:defRPr/>
              </a:pPr>
              <a:endParaRPr lang="en-GB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7C83FE2E-065F-C04C-A639-D8DBF1BF4662}"/>
                    </a:ext>
                  </a:extLst>
                </p:cNvPr>
                <p:cNvSpPr txBox="1"/>
                <p:nvPr/>
              </p:nvSpPr>
              <p:spPr>
                <a:xfrm>
                  <a:off x="1573887" y="2474730"/>
                  <a:ext cx="726096" cy="4416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a14:m>
                  <a:r>
                    <a:rPr lang="en-US" sz="2000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a14:m>
                  <a:r>
                    <a:rPr 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7C83FE2E-065F-C04C-A639-D8DBF1BF46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3887" y="2474730"/>
                  <a:ext cx="726096" cy="441659"/>
                </a:xfrm>
                <a:prstGeom prst="rect">
                  <a:avLst/>
                </a:prstGeom>
                <a:blipFill>
                  <a:blip r:embed="rId3"/>
                  <a:stretch>
                    <a:fillRect l="-8621" b="-2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6101A4F-1307-7A44-B823-8858AE8C772B}"/>
                    </a:ext>
                  </a:extLst>
                </p:cNvPr>
                <p:cNvSpPr/>
                <p:nvPr/>
              </p:nvSpPr>
              <p:spPr>
                <a:xfrm>
                  <a:off x="3090429" y="2338438"/>
                  <a:ext cx="3005571" cy="83099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a14:m>
                  <a:r>
                    <a:rPr lang="en-US" sz="1600" dirty="0"/>
                    <a:t> = mean of the set of “</a:t>
                  </a:r>
                  <a14:m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1600" dirty="0"/>
                    <a:t>” values</a:t>
                  </a:r>
                </a:p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1600" dirty="0"/>
                    <a:t> = sum of all the “</a:t>
                  </a:r>
                  <a14:m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1600" dirty="0"/>
                    <a:t>” values</a:t>
                  </a:r>
                </a:p>
                <a:p>
                  <a:r>
                    <a:rPr lang="en-US" sz="1600" dirty="0"/>
                    <a:t>N = number of “</a:t>
                  </a:r>
                  <a14:m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1600" dirty="0"/>
                    <a:t>” values</a:t>
                  </a: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6101A4F-1307-7A44-B823-8858AE8C77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0429" y="2338438"/>
                  <a:ext cx="3005571" cy="830997"/>
                </a:xfrm>
                <a:prstGeom prst="rect">
                  <a:avLst/>
                </a:prstGeom>
                <a:blipFill>
                  <a:blip r:embed="rId4"/>
                  <a:stretch>
                    <a:fillRect l="-844" t="-3077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2446A20-A566-FD45-A378-FDEE71BBC722}"/>
              </a:ext>
            </a:extLst>
          </p:cNvPr>
          <p:cNvGrpSpPr/>
          <p:nvPr/>
        </p:nvGrpSpPr>
        <p:grpSpPr>
          <a:xfrm>
            <a:off x="599058" y="3697045"/>
            <a:ext cx="7865847" cy="1069467"/>
            <a:chOff x="524626" y="3400932"/>
            <a:chExt cx="7865847" cy="1069467"/>
          </a:xfrm>
        </p:grpSpPr>
        <p:sp>
          <p:nvSpPr>
            <p:cNvPr id="12" name="Content Placeholder 5">
              <a:extLst>
                <a:ext uri="{FF2B5EF4-FFF2-40B4-BE49-F238E27FC236}">
                  <a16:creationId xmlns:a16="http://schemas.microsoft.com/office/drawing/2014/main" id="{1B248339-7FCE-EE40-8E08-99FAE659AB51}"/>
                </a:ext>
              </a:extLst>
            </p:cNvPr>
            <p:cNvSpPr txBox="1">
              <a:spLocks/>
            </p:cNvSpPr>
            <p:nvPr/>
          </p:nvSpPr>
          <p:spPr>
            <a:xfrm>
              <a:off x="599058" y="3628467"/>
              <a:ext cx="2402958" cy="468210"/>
            </a:xfrm>
            <a:prstGeom prst="rect">
              <a:avLst/>
            </a:prstGeom>
          </p:spPr>
          <p:txBody>
            <a:bodyPr vert="horz" lIns="0" tIns="0" rIns="0" bIns="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GB" sz="1800" b="1" dirty="0"/>
                <a:t>Standard Deviation:</a:t>
              </a:r>
            </a:p>
            <a:p>
              <a:pPr marL="0" indent="0">
                <a:buFont typeface="Arial" panose="020B0604020202020204" pitchFamily="34" charset="0"/>
                <a:buNone/>
                <a:defRPr/>
              </a:pPr>
              <a:endParaRPr lang="en-GB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09500B3-BF63-7243-8F1E-3C9432DFFE78}"/>
                    </a:ext>
                  </a:extLst>
                </p:cNvPr>
                <p:cNvSpPr txBox="1"/>
                <p:nvPr/>
              </p:nvSpPr>
              <p:spPr>
                <a:xfrm>
                  <a:off x="2981944" y="3504067"/>
                  <a:ext cx="2019207" cy="8183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ad>
                          <m:radPr>
                            <m:deg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− 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ra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09500B3-BF63-7243-8F1E-3C9432DFFE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1944" y="3504067"/>
                  <a:ext cx="2019207" cy="81836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76C2B2CB-FA3E-A441-8482-25A4CDDB86EB}"/>
                    </a:ext>
                  </a:extLst>
                </p:cNvPr>
                <p:cNvSpPr/>
                <p:nvPr/>
              </p:nvSpPr>
              <p:spPr>
                <a:xfrm>
                  <a:off x="5384902" y="3460190"/>
                  <a:ext cx="3005571" cy="83099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1600" i="1" dirty="0">
                      <a:latin typeface="Cambria Math" panose="02040503050406030204" pitchFamily="18" charset="0"/>
                    </a:rPr>
                    <a:t> </a:t>
                  </a:r>
                  <a:r>
                    <a:rPr lang="en-US" sz="1600" dirty="0"/>
                    <a:t>= a value in the data-set</a:t>
                  </a:r>
                  <a:endParaRPr lang="en-US" sz="1600" dirty="0">
                    <a:latin typeface="Cambria Math" panose="02040503050406030204" pitchFamily="18" charset="0"/>
                  </a:endParaRPr>
                </a:p>
                <a:p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a14:m>
                  <a:r>
                    <a:rPr lang="en-US" sz="1600" dirty="0"/>
                    <a:t> = mean of the set of “</a:t>
                  </a:r>
                  <a14:m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1600" dirty="0"/>
                    <a:t>” values</a:t>
                  </a:r>
                </a:p>
                <a:p>
                  <a:r>
                    <a:rPr lang="en-US" sz="1600" dirty="0"/>
                    <a:t>N = number of “</a:t>
                  </a:r>
                  <a14:m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1600" dirty="0"/>
                    <a:t>” values</a:t>
                  </a: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76C2B2CB-FA3E-A441-8482-25A4CDDB86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4902" y="3460190"/>
                  <a:ext cx="3005571" cy="830997"/>
                </a:xfrm>
                <a:prstGeom prst="rect">
                  <a:avLst/>
                </a:prstGeom>
                <a:blipFill>
                  <a:blip r:embed="rId6"/>
                  <a:stretch>
                    <a:fillRect l="-1271" t="-1515" b="-75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009E1CED-2C4A-D749-A38A-696FCC513D6B}"/>
                    </a:ext>
                  </a:extLst>
                </p:cNvPr>
                <p:cNvSpPr/>
                <p:nvPr/>
              </p:nvSpPr>
              <p:spPr>
                <a:xfrm>
                  <a:off x="524626" y="3400932"/>
                  <a:ext cx="7865847" cy="1069467"/>
                </a:xfrm>
                <a:prstGeom prst="rect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009E1CED-2C4A-D749-A38A-696FCC513D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626" y="3400932"/>
                  <a:ext cx="7865847" cy="106946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C960CF0-38AE-C64D-8325-7A350CCF91CE}"/>
              </a:ext>
            </a:extLst>
          </p:cNvPr>
          <p:cNvGrpSpPr/>
          <p:nvPr/>
        </p:nvGrpSpPr>
        <p:grpSpPr>
          <a:xfrm>
            <a:off x="621470" y="4939544"/>
            <a:ext cx="6759692" cy="923278"/>
            <a:chOff x="533490" y="4628772"/>
            <a:chExt cx="6759692" cy="923278"/>
          </a:xfrm>
        </p:grpSpPr>
        <p:sp>
          <p:nvSpPr>
            <p:cNvPr id="17" name="Content Placeholder 5">
              <a:extLst>
                <a:ext uri="{FF2B5EF4-FFF2-40B4-BE49-F238E27FC236}">
                  <a16:creationId xmlns:a16="http://schemas.microsoft.com/office/drawing/2014/main" id="{C09660B9-3A7C-1B4B-85F4-9D5607EE6512}"/>
                </a:ext>
              </a:extLst>
            </p:cNvPr>
            <p:cNvSpPr txBox="1">
              <a:spLocks/>
            </p:cNvSpPr>
            <p:nvPr/>
          </p:nvSpPr>
          <p:spPr>
            <a:xfrm>
              <a:off x="599058" y="4808117"/>
              <a:ext cx="2402958" cy="468210"/>
            </a:xfrm>
            <a:prstGeom prst="rect">
              <a:avLst/>
            </a:prstGeom>
          </p:spPr>
          <p:txBody>
            <a:bodyPr vert="horz" lIns="0" tIns="0" rIns="0" bIns="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GB" sz="1800" b="1" dirty="0"/>
                <a:t>Standard Error:</a:t>
              </a:r>
            </a:p>
            <a:p>
              <a:pPr marL="0" indent="0">
                <a:buFont typeface="Arial" panose="020B0604020202020204" pitchFamily="34" charset="0"/>
                <a:buNone/>
                <a:defRPr/>
              </a:pPr>
              <a:endParaRPr lang="en-GB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99AB5EA-5D43-FA45-9819-9A3E8BBA21D9}"/>
                    </a:ext>
                  </a:extLst>
                </p:cNvPr>
                <p:cNvSpPr txBox="1"/>
                <p:nvPr/>
              </p:nvSpPr>
              <p:spPr>
                <a:xfrm>
                  <a:off x="2692827" y="4756085"/>
                  <a:ext cx="1003801" cy="5722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𝑆𝐷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99AB5EA-5D43-FA45-9819-9A3E8BBA2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2827" y="4756085"/>
                  <a:ext cx="1003801" cy="572273"/>
                </a:xfrm>
                <a:prstGeom prst="rect">
                  <a:avLst/>
                </a:prstGeom>
                <a:blipFill>
                  <a:blip r:embed="rId8"/>
                  <a:stretch>
                    <a:fillRect l="-2500" t="-4348" r="-1250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2B8E2DFD-63FC-9B4A-93C2-563A18F52D01}"/>
                    </a:ext>
                  </a:extLst>
                </p:cNvPr>
                <p:cNvSpPr/>
                <p:nvPr/>
              </p:nvSpPr>
              <p:spPr>
                <a:xfrm>
                  <a:off x="4287611" y="4743583"/>
                  <a:ext cx="3005571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1600" dirty="0"/>
                    <a:t>SD = standard deviation</a:t>
                  </a:r>
                </a:p>
                <a:p>
                  <a:r>
                    <a:rPr lang="en-US" sz="1600" dirty="0"/>
                    <a:t>N = number of “</a:t>
                  </a:r>
                  <a14:m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1600" dirty="0"/>
                    <a:t>” values</a:t>
                  </a: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2B8E2DFD-63FC-9B4A-93C2-563A18F52D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7611" y="4743583"/>
                  <a:ext cx="3005571" cy="584775"/>
                </a:xfrm>
                <a:prstGeom prst="rect">
                  <a:avLst/>
                </a:prstGeom>
                <a:blipFill>
                  <a:blip r:embed="rId9"/>
                  <a:stretch>
                    <a:fillRect l="-1266" t="-2128" b="-106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2D1A73ED-C1D7-704E-9127-F6F600D16E48}"/>
                    </a:ext>
                  </a:extLst>
                </p:cNvPr>
                <p:cNvSpPr/>
                <p:nvPr/>
              </p:nvSpPr>
              <p:spPr>
                <a:xfrm>
                  <a:off x="533490" y="4628772"/>
                  <a:ext cx="6138243" cy="923278"/>
                </a:xfrm>
                <a:prstGeom prst="rect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2D1A73ED-C1D7-704E-9127-F6F600D16E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90" y="4628772"/>
                  <a:ext cx="6138243" cy="92327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4123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03EEB-0744-D344-8E71-6EA492F95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398" y="1987348"/>
            <a:ext cx="9601200" cy="3956179"/>
          </a:xfrm>
        </p:spPr>
        <p:txBody>
          <a:bodyPr>
            <a:normAutofit/>
          </a:bodyPr>
          <a:lstStyle/>
          <a:p>
            <a:r>
              <a:rPr lang="en-US" sz="2800" dirty="0"/>
              <a:t>Random error ALWAYS occur</a:t>
            </a:r>
          </a:p>
          <a:p>
            <a:r>
              <a:rPr lang="en-US" sz="2800" dirty="0"/>
              <a:t>They can’t be predicted (but they can be measured)</a:t>
            </a:r>
          </a:p>
          <a:p>
            <a:r>
              <a:rPr lang="en-US" sz="2800" dirty="0"/>
              <a:t>To measure the random error, we can take many data points (typically &gt;100) and average them. </a:t>
            </a:r>
          </a:p>
          <a:p>
            <a:r>
              <a:rPr lang="en-US" sz="2800" dirty="0"/>
              <a:t>This will quantify random error and will help you to estimate the true mean value.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554984F-319B-7B49-95EB-9342836F4260}"/>
              </a:ext>
            </a:extLst>
          </p:cNvPr>
          <p:cNvSpPr txBox="1">
            <a:spLocks/>
          </p:cNvSpPr>
          <p:nvPr/>
        </p:nvSpPr>
        <p:spPr>
          <a:xfrm>
            <a:off x="975546" y="148873"/>
            <a:ext cx="10240903" cy="123348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5"/>
                </a:solidFill>
              </a:rPr>
              <a:t>How to deal with </a:t>
            </a:r>
          </a:p>
          <a:p>
            <a:pPr algn="ctr"/>
            <a:r>
              <a:rPr lang="en-US" dirty="0">
                <a:solidFill>
                  <a:schemeClr val="accent5"/>
                </a:solidFill>
              </a:rPr>
              <a:t>RANDOM ERRORS</a:t>
            </a:r>
          </a:p>
        </p:txBody>
      </p:sp>
    </p:spTree>
    <p:extLst>
      <p:ext uri="{BB962C8B-B14F-4D97-AF65-F5344CB8AC3E}">
        <p14:creationId xmlns:p14="http://schemas.microsoft.com/office/powerpoint/2010/main" val="9679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CA192-AD10-DA46-891E-3DB9476C3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614" y="2229280"/>
            <a:ext cx="11674772" cy="42376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These are very important for field measurements.</a:t>
            </a:r>
          </a:p>
          <a:p>
            <a:pPr marL="0" indent="0">
              <a:buNone/>
            </a:pPr>
            <a:r>
              <a:rPr lang="en-US" sz="2200" i="1" dirty="0" smtClean="0"/>
              <a:t>e.g</a:t>
            </a:r>
            <a:r>
              <a:rPr lang="en-US" sz="2200" i="1" dirty="0"/>
              <a:t>.</a:t>
            </a:r>
            <a:r>
              <a:rPr lang="en-US" sz="2200" dirty="0"/>
              <a:t> is the wind measured at a point the same as that measured 100 </a:t>
            </a:r>
            <a:r>
              <a:rPr lang="en-US" sz="2200" dirty="0" err="1"/>
              <a:t>metres</a:t>
            </a:r>
            <a:r>
              <a:rPr lang="en-US" sz="2200" dirty="0"/>
              <a:t> away</a:t>
            </a:r>
            <a:r>
              <a:rPr lang="en-US" sz="2200" dirty="0" smtClean="0"/>
              <a:t>?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There will be several factors which could affect your measurements. You will need to take these into account when </a:t>
            </a:r>
            <a:r>
              <a:rPr lang="en-US" sz="2200" dirty="0" err="1"/>
              <a:t>analysing</a:t>
            </a:r>
            <a:r>
              <a:rPr lang="en-US" sz="2200" dirty="0"/>
              <a:t> your data, for example:</a:t>
            </a:r>
          </a:p>
          <a:p>
            <a:pPr lvl="1"/>
            <a:r>
              <a:rPr lang="en-US" sz="2200" dirty="0"/>
              <a:t>Are you doing anything which could be affecting the measurements?</a:t>
            </a:r>
          </a:p>
          <a:p>
            <a:pPr lvl="1"/>
            <a:r>
              <a:rPr lang="en-US" sz="2200" dirty="0"/>
              <a:t>Are there any external factors (e.g. in your surroundings) which could be having an impact?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785B7E-4DEC-F749-B13A-44385271B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414" y="42530"/>
            <a:ext cx="12078586" cy="194524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5"/>
                </a:solidFill>
              </a:rPr>
              <a:t>Representativity errors:</a:t>
            </a:r>
            <a:br>
              <a:rPr lang="en-US" dirty="0">
                <a:solidFill>
                  <a:schemeClr val="accent5"/>
                </a:solidFill>
              </a:rPr>
            </a:br>
            <a:r>
              <a:rPr lang="en-US" dirty="0">
                <a:solidFill>
                  <a:schemeClr val="accent5"/>
                </a:solidFill>
              </a:rPr>
              <a:t>How to take a good </a:t>
            </a:r>
            <a:br>
              <a:rPr lang="en-US" dirty="0">
                <a:solidFill>
                  <a:schemeClr val="accent5"/>
                </a:solidFill>
              </a:rPr>
            </a:br>
            <a:r>
              <a:rPr lang="en-US" dirty="0">
                <a:solidFill>
                  <a:schemeClr val="accent5"/>
                </a:solidFill>
              </a:rPr>
              <a:t>measurement</a:t>
            </a:r>
          </a:p>
        </p:txBody>
      </p:sp>
    </p:spTree>
    <p:extLst>
      <p:ext uri="{BB962C8B-B14F-4D97-AF65-F5344CB8AC3E}">
        <p14:creationId xmlns:p14="http://schemas.microsoft.com/office/powerpoint/2010/main" val="9881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FEF5C-22A1-4F47-9138-10483558D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405" y="-332148"/>
            <a:ext cx="10240903" cy="1233488"/>
          </a:xfrm>
        </p:spPr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THE PRACTICAL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82E862-36E8-DA49-9C28-345F973A9E6C}"/>
              </a:ext>
            </a:extLst>
          </p:cNvPr>
          <p:cNvSpPr txBox="1">
            <a:spLocks/>
          </p:cNvSpPr>
          <p:nvPr/>
        </p:nvSpPr>
        <p:spPr>
          <a:xfrm>
            <a:off x="1114509" y="1294385"/>
            <a:ext cx="10240903" cy="48122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5"/>
                </a:solidFill>
              </a:rPr>
              <a:t>PREPARATION:</a:t>
            </a:r>
          </a:p>
          <a:p>
            <a:r>
              <a:rPr lang="en-US" dirty="0"/>
              <a:t>You will group yourselves (6-8 people per group)</a:t>
            </a:r>
          </a:p>
          <a:p>
            <a:r>
              <a:rPr lang="en-US" dirty="0"/>
              <a:t>Collect your Kestrel and map from a member of staff.</a:t>
            </a:r>
          </a:p>
          <a:p>
            <a:pPr lvl="1"/>
            <a:r>
              <a:rPr lang="en-US" dirty="0"/>
              <a:t>Your group will be given a letter “A, B, C, D, </a:t>
            </a:r>
            <a:r>
              <a:rPr lang="en-US" dirty="0" smtClean="0"/>
              <a:t>E, F”. </a:t>
            </a:r>
            <a:r>
              <a:rPr lang="en-US" dirty="0"/>
              <a:t>This corresponds to your measurement location on the map.</a:t>
            </a:r>
          </a:p>
          <a:p>
            <a:r>
              <a:rPr lang="en-US" dirty="0"/>
              <a:t>Go to your measurement location with your group and assign roles</a:t>
            </a:r>
          </a:p>
          <a:p>
            <a:pPr lvl="1"/>
            <a:r>
              <a:rPr lang="en-US" dirty="0"/>
              <a:t>Who will be responsible for the Kestrel? </a:t>
            </a:r>
          </a:p>
          <a:p>
            <a:pPr lvl="1"/>
            <a:r>
              <a:rPr lang="en-US" dirty="0"/>
              <a:t>Who will connect the Kestrel to the “Kestrel </a:t>
            </a:r>
            <a:r>
              <a:rPr lang="en-US" dirty="0" err="1"/>
              <a:t>LiNK</a:t>
            </a:r>
            <a:r>
              <a:rPr lang="en-US" dirty="0"/>
              <a:t>” app on their phone? </a:t>
            </a:r>
          </a:p>
          <a:p>
            <a:pPr lvl="1"/>
            <a:r>
              <a:rPr lang="en-US" dirty="0"/>
              <a:t>Who will be noting down measurements manually?</a:t>
            </a:r>
          </a:p>
          <a:p>
            <a:pPr lvl="1"/>
            <a:r>
              <a:rPr lang="en-US" dirty="0"/>
              <a:t>Who will be taking note of the surrounding environment and conditions (buildings, winds, etc.)?</a:t>
            </a:r>
          </a:p>
        </p:txBody>
      </p:sp>
    </p:spTree>
    <p:extLst>
      <p:ext uri="{BB962C8B-B14F-4D97-AF65-F5344CB8AC3E}">
        <p14:creationId xmlns:p14="http://schemas.microsoft.com/office/powerpoint/2010/main" val="8040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C17A1D-D2EC-8748-BD21-962B576EC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117" y="899703"/>
            <a:ext cx="10240904" cy="365801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5"/>
                </a:solidFill>
              </a:rPr>
              <a:t>EXPERIMENT 1:</a:t>
            </a:r>
          </a:p>
          <a:p>
            <a:r>
              <a:rPr lang="en-US" dirty="0"/>
              <a:t>Measurements of meteorological parameters will be taken over a </a:t>
            </a:r>
            <a:r>
              <a:rPr lang="en-US" dirty="0" smtClean="0">
                <a:solidFill>
                  <a:schemeClr val="accent5"/>
                </a:solidFill>
              </a:rPr>
              <a:t>25-minute</a:t>
            </a:r>
            <a:r>
              <a:rPr lang="en-US" dirty="0" smtClean="0"/>
              <a:t> </a:t>
            </a:r>
            <a:r>
              <a:rPr lang="en-US" dirty="0"/>
              <a:t>period.</a:t>
            </a:r>
          </a:p>
          <a:p>
            <a:r>
              <a:rPr lang="en-US" dirty="0"/>
              <a:t>The Kestrel will </a:t>
            </a:r>
            <a:r>
              <a:rPr lang="en-US" dirty="0">
                <a:solidFill>
                  <a:schemeClr val="accent5"/>
                </a:solidFill>
              </a:rPr>
              <a:t>automatically</a:t>
            </a:r>
            <a:r>
              <a:rPr lang="en-US" dirty="0"/>
              <a:t> record temperature, pressure, relative humidity, wind direction and wind speed </a:t>
            </a:r>
            <a:r>
              <a:rPr lang="en-US" dirty="0" smtClean="0">
                <a:solidFill>
                  <a:schemeClr val="accent5"/>
                </a:solidFill>
              </a:rPr>
              <a:t>every second </a:t>
            </a:r>
            <a:r>
              <a:rPr lang="en-US" dirty="0"/>
              <a:t>over the </a:t>
            </a:r>
            <a:r>
              <a:rPr lang="en-US" dirty="0" smtClean="0"/>
              <a:t>25-minute </a:t>
            </a:r>
            <a:r>
              <a:rPr lang="en-US" dirty="0"/>
              <a:t>period</a:t>
            </a:r>
          </a:p>
          <a:p>
            <a:pPr lvl="1"/>
            <a:r>
              <a:rPr lang="en-US" u="sng" dirty="0"/>
              <a:t>IF</a:t>
            </a:r>
            <a:r>
              <a:rPr lang="en-US" dirty="0"/>
              <a:t> connected to the “Kestrel </a:t>
            </a:r>
            <a:r>
              <a:rPr lang="en-US" dirty="0" err="1"/>
              <a:t>LiNK</a:t>
            </a:r>
            <a:r>
              <a:rPr lang="en-US" dirty="0"/>
              <a:t>” app on your mobile</a:t>
            </a:r>
          </a:p>
          <a:p>
            <a:r>
              <a:rPr lang="en-US" dirty="0"/>
              <a:t>If your role is to </a:t>
            </a:r>
            <a:r>
              <a:rPr lang="en-US" dirty="0">
                <a:solidFill>
                  <a:schemeClr val="accent5"/>
                </a:solidFill>
              </a:rPr>
              <a:t>manually </a:t>
            </a:r>
            <a:r>
              <a:rPr lang="en-US" dirty="0"/>
              <a:t>record </a:t>
            </a:r>
            <a:r>
              <a:rPr lang="en-US" b="1" i="1" dirty="0">
                <a:solidFill>
                  <a:srgbClr val="FF0000"/>
                </a:solidFill>
              </a:rPr>
              <a:t>temperature, pressure, relative </a:t>
            </a:r>
            <a:r>
              <a:rPr lang="en-US" b="1" i="1" dirty="0" smtClean="0">
                <a:solidFill>
                  <a:srgbClr val="FF0000"/>
                </a:solidFill>
              </a:rPr>
              <a:t>humidity</a:t>
            </a:r>
            <a:r>
              <a:rPr lang="en-US" dirty="0" smtClean="0"/>
              <a:t> this </a:t>
            </a:r>
            <a:r>
              <a:rPr lang="en-US" dirty="0"/>
              <a:t>should be done </a:t>
            </a:r>
            <a:r>
              <a:rPr lang="en-US" dirty="0">
                <a:solidFill>
                  <a:schemeClr val="accent5"/>
                </a:solidFill>
              </a:rPr>
              <a:t>every minute </a:t>
            </a:r>
            <a:r>
              <a:rPr lang="en-US" dirty="0"/>
              <a:t>over the </a:t>
            </a:r>
            <a:r>
              <a:rPr lang="en-US" dirty="0" smtClean="0"/>
              <a:t>25-minute </a:t>
            </a:r>
            <a:r>
              <a:rPr lang="en-US" dirty="0"/>
              <a:t>period. </a:t>
            </a:r>
          </a:p>
          <a:p>
            <a:pPr lvl="1"/>
            <a:r>
              <a:rPr lang="en-US" dirty="0"/>
              <a:t>This is </a:t>
            </a:r>
            <a:r>
              <a:rPr lang="en-US" u="sng" dirty="0">
                <a:solidFill>
                  <a:schemeClr val="accent5"/>
                </a:solidFill>
              </a:rPr>
              <a:t>important</a:t>
            </a:r>
            <a:r>
              <a:rPr lang="en-US" dirty="0"/>
              <a:t> – it will mean that you have plenty of data points to use in your analysis, if there are technical issues with the Kestrel (automatic logging / data export)</a:t>
            </a:r>
          </a:p>
        </p:txBody>
      </p:sp>
    </p:spTree>
    <p:extLst>
      <p:ext uri="{BB962C8B-B14F-4D97-AF65-F5344CB8AC3E}">
        <p14:creationId xmlns:p14="http://schemas.microsoft.com/office/powerpoint/2010/main" val="244823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0DDB72-B9FF-1044-9A6C-9D23D2D9BB11}"/>
              </a:ext>
            </a:extLst>
          </p:cNvPr>
          <p:cNvSpPr txBox="1">
            <a:spLocks/>
          </p:cNvSpPr>
          <p:nvPr/>
        </p:nvSpPr>
        <p:spPr>
          <a:xfrm>
            <a:off x="697092" y="1024981"/>
            <a:ext cx="10164872" cy="45843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5"/>
                </a:solidFill>
              </a:rPr>
              <a:t>EXPERIMENT 2:</a:t>
            </a:r>
          </a:p>
          <a:p>
            <a:r>
              <a:rPr lang="en-US" dirty="0"/>
              <a:t>There will be a high-quality research-grade standard (reference) weather station situated in Brunswick Park. This will be recording temperature, pressure and relative humidity over the same time period as your measurements.</a:t>
            </a:r>
          </a:p>
          <a:p>
            <a:pPr lvl="1"/>
            <a:r>
              <a:rPr lang="en-US" dirty="0"/>
              <a:t>This data will be made available to you on Blackboard after the activity.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You will use the data from this reference instrument after the practical to compare with your Kestrel data.</a:t>
            </a:r>
          </a:p>
        </p:txBody>
      </p:sp>
    </p:spTree>
    <p:extLst>
      <p:ext uri="{BB962C8B-B14F-4D97-AF65-F5344CB8AC3E}">
        <p14:creationId xmlns:p14="http://schemas.microsoft.com/office/powerpoint/2010/main" val="126149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4BF0428-BFA0-9446-8F49-B6AF46F8E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548" y="-235167"/>
            <a:ext cx="10240903" cy="123348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THE ASSIGNMENT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9EF154-5209-C240-B628-EEB41C50FCA9}"/>
              </a:ext>
            </a:extLst>
          </p:cNvPr>
          <p:cNvSpPr/>
          <p:nvPr/>
        </p:nvSpPr>
        <p:spPr>
          <a:xfrm>
            <a:off x="403119" y="1112935"/>
            <a:ext cx="1121514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/>
                </a:solidFill>
              </a:rPr>
              <a:t>Step 1: One member of each group should email their Kestrel data (as an Excel spreadsheet) to  </a:t>
            </a:r>
            <a:r>
              <a:rPr lang="en-US" sz="2000" dirty="0" smtClean="0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dogushan.kilic@manchester.ac.uk</a:t>
            </a:r>
            <a:r>
              <a:rPr lang="en-US" sz="2000" dirty="0" smtClean="0">
                <a:solidFill>
                  <a:schemeClr val="accent5"/>
                </a:solidFill>
              </a:rPr>
              <a:t> </a:t>
            </a:r>
            <a:r>
              <a:rPr lang="en-US" sz="2000" dirty="0">
                <a:solidFill>
                  <a:schemeClr val="accent5"/>
                </a:solidFill>
              </a:rPr>
              <a:t>as soon as possible after the practical</a:t>
            </a:r>
          </a:p>
          <a:p>
            <a:pPr marL="742950" lvl="1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030A0"/>
                </a:solidFill>
              </a:rPr>
              <a:t>Step 2: Kestrel </a:t>
            </a:r>
            <a:r>
              <a:rPr lang="en-US" sz="2000" dirty="0" smtClean="0">
                <a:solidFill>
                  <a:srgbClr val="7030A0"/>
                </a:solidFill>
              </a:rPr>
              <a:t>Data </a:t>
            </a:r>
            <a:r>
              <a:rPr lang="en-US" sz="2000" dirty="0">
                <a:solidFill>
                  <a:srgbClr val="7030A0"/>
                </a:solidFill>
              </a:rPr>
              <a:t>from one group and data from the </a:t>
            </a:r>
            <a:r>
              <a:rPr lang="en-US" sz="2000" dirty="0" smtClean="0">
                <a:solidFill>
                  <a:srgbClr val="7030A0"/>
                </a:solidFill>
              </a:rPr>
              <a:t>reference </a:t>
            </a:r>
            <a:r>
              <a:rPr lang="en-US" sz="2000" dirty="0">
                <a:solidFill>
                  <a:srgbClr val="7030A0"/>
                </a:solidFill>
              </a:rPr>
              <a:t>weather station will be provided on Blackboard for you to analyse individually</a:t>
            </a:r>
          </a:p>
          <a:p>
            <a:pPr marL="742950" lvl="1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Step 3: You should calculate the mean and standard deviation for </a:t>
            </a:r>
            <a:r>
              <a:rPr lang="en-US" sz="2000" b="1" dirty="0">
                <a:solidFill>
                  <a:srgbClr val="00B0F0"/>
                </a:solidFill>
              </a:rPr>
              <a:t>pressure, temperature </a:t>
            </a:r>
            <a:r>
              <a:rPr lang="en-US" sz="2000" dirty="0">
                <a:solidFill>
                  <a:srgbClr val="00B0F0"/>
                </a:solidFill>
              </a:rPr>
              <a:t>and </a:t>
            </a:r>
            <a:r>
              <a:rPr lang="en-US" sz="2000" b="1" dirty="0">
                <a:solidFill>
                  <a:srgbClr val="00B0F0"/>
                </a:solidFill>
              </a:rPr>
              <a:t>relative humidity</a:t>
            </a:r>
            <a:r>
              <a:rPr lang="en-US" sz="2000" dirty="0">
                <a:solidFill>
                  <a:srgbClr val="00B0F0"/>
                </a:solidFill>
              </a:rPr>
              <a:t> recorded by </a:t>
            </a:r>
            <a:r>
              <a:rPr lang="en-US" sz="2000" u="sng" dirty="0">
                <a:solidFill>
                  <a:srgbClr val="00B0F0"/>
                </a:solidFill>
              </a:rPr>
              <a:t>both</a:t>
            </a:r>
            <a:r>
              <a:rPr lang="en-US" sz="2000" dirty="0">
                <a:solidFill>
                  <a:srgbClr val="00B0F0"/>
                </a:solidFill>
              </a:rPr>
              <a:t> the Kestrel and the standard weather station. </a:t>
            </a:r>
          </a:p>
          <a:p>
            <a:pPr marL="742950" lvl="1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Step 4: You should calculate the difference between the data from the Kestrel and the weather station (this is called the calibration offset). This is calculated </a:t>
            </a: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by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subtracting the mean value of pressure, temperature and relative humidity measured by the Kestrel from the corresponding mean value of the weather station</a:t>
            </a:r>
          </a:p>
          <a:p>
            <a:pPr marL="742950" lvl="1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Step 5: Once you have these values, answer the questions in the online test on Blackboard</a:t>
            </a:r>
            <a:r>
              <a:rPr lang="en-US" sz="2000" dirty="0">
                <a:solidFill>
                  <a:schemeClr val="accent5"/>
                </a:solidFill>
              </a:rPr>
              <a:t>.</a:t>
            </a:r>
          </a:p>
          <a:p>
            <a:pPr marL="742950" lvl="1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/>
                </a:solidFill>
              </a:rPr>
              <a:t>You will receive instant feedback on the answers to the questions in the online test. This does not count towards your degree mark (it is a formative exercise)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2436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892" y="264270"/>
            <a:ext cx="10240903" cy="1233488"/>
          </a:xfrm>
        </p:spPr>
        <p:txBody>
          <a:bodyPr/>
          <a:lstStyle/>
          <a:p>
            <a:r>
              <a:rPr lang="en-GB" dirty="0" smtClean="0"/>
              <a:t>Kestrel link app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99" r="14461"/>
          <a:stretch/>
        </p:blipFill>
        <p:spPr>
          <a:xfrm>
            <a:off x="33051" y="1652530"/>
            <a:ext cx="4682168" cy="29858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3920" r="24589"/>
          <a:stretch/>
        </p:blipFill>
        <p:spPr>
          <a:xfrm>
            <a:off x="4912241" y="1648582"/>
            <a:ext cx="3106758" cy="32681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25865" t="6246" r="29027"/>
          <a:stretch/>
        </p:blipFill>
        <p:spPr>
          <a:xfrm>
            <a:off x="8080722" y="820574"/>
            <a:ext cx="2148289" cy="44650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3209" y="1042547"/>
            <a:ext cx="1733172" cy="375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1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051" t="19789" r="13237" b="8363"/>
          <a:stretch/>
        </p:blipFill>
        <p:spPr>
          <a:xfrm>
            <a:off x="540551" y="55084"/>
            <a:ext cx="11071952" cy="66586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53350" y="3814069"/>
            <a:ext cx="561860" cy="330506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RS</a:t>
            </a:r>
            <a:endParaRPr lang="en-GB" dirty="0"/>
          </a:p>
        </p:txBody>
      </p:sp>
      <p:sp>
        <p:nvSpPr>
          <p:cNvPr id="8" name="Rounded Rectangle 7"/>
          <p:cNvSpPr/>
          <p:nvPr/>
        </p:nvSpPr>
        <p:spPr>
          <a:xfrm>
            <a:off x="1529509" y="3219158"/>
            <a:ext cx="561860" cy="3305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9" name="Rounded Rectangle 8"/>
          <p:cNvSpPr/>
          <p:nvPr/>
        </p:nvSpPr>
        <p:spPr>
          <a:xfrm>
            <a:off x="3598844" y="5024088"/>
            <a:ext cx="561860" cy="3305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B</a:t>
            </a:r>
            <a:endParaRPr lang="en-GB" dirty="0"/>
          </a:p>
        </p:txBody>
      </p:sp>
      <p:sp>
        <p:nvSpPr>
          <p:cNvPr id="10" name="Rounded Rectangle 9"/>
          <p:cNvSpPr/>
          <p:nvPr/>
        </p:nvSpPr>
        <p:spPr>
          <a:xfrm>
            <a:off x="3735636" y="3029569"/>
            <a:ext cx="561860" cy="3305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11" name="Rounded Rectangle 10"/>
          <p:cNvSpPr/>
          <p:nvPr/>
        </p:nvSpPr>
        <p:spPr>
          <a:xfrm>
            <a:off x="7016826" y="2990036"/>
            <a:ext cx="561860" cy="3305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</a:t>
            </a:r>
            <a:endParaRPr lang="en-GB" dirty="0"/>
          </a:p>
        </p:txBody>
      </p:sp>
      <p:sp>
        <p:nvSpPr>
          <p:cNvPr id="12" name="Rounded Rectangle 11"/>
          <p:cNvSpPr/>
          <p:nvPr/>
        </p:nvSpPr>
        <p:spPr>
          <a:xfrm>
            <a:off x="6607366" y="5588180"/>
            <a:ext cx="561860" cy="3305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E</a:t>
            </a:r>
            <a:endParaRPr lang="en-GB" dirty="0"/>
          </a:p>
        </p:txBody>
      </p:sp>
      <p:sp>
        <p:nvSpPr>
          <p:cNvPr id="13" name="Rounded Rectangle 12"/>
          <p:cNvSpPr/>
          <p:nvPr/>
        </p:nvSpPr>
        <p:spPr>
          <a:xfrm>
            <a:off x="8050576" y="2032309"/>
            <a:ext cx="561860" cy="3305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1998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radientRiseVTI">
  <a:themeElements>
    <a:clrScheme name="Custom 5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5693</TotalTime>
  <Words>2147</Words>
  <Application>Microsoft Office PowerPoint</Application>
  <PresentationFormat>Widescreen</PresentationFormat>
  <Paragraphs>245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 Math</vt:lpstr>
      <vt:lpstr>Gill Sans Nova</vt:lpstr>
      <vt:lpstr>Wingdings 3</vt:lpstr>
      <vt:lpstr>GradientRiseVTI</vt:lpstr>
      <vt:lpstr>Measuring Air  Quality:  Background &amp; introduction to  the practical</vt:lpstr>
      <vt:lpstr>Outline</vt:lpstr>
      <vt:lpstr>AIR POLLUTION: AN overview</vt:lpstr>
      <vt:lpstr>PowerPoint Presentation</vt:lpstr>
      <vt:lpstr>PowerPoint Presentation</vt:lpstr>
      <vt:lpstr>PowerPoint Presentation</vt:lpstr>
      <vt:lpstr>A Costly Error: NASA's Mars Climate Orbiter(1999)</vt:lpstr>
      <vt:lpstr>PowerPoint Presentation</vt:lpstr>
      <vt:lpstr>Systematic errors:  simple examples</vt:lpstr>
      <vt:lpstr>PowerPoint Presentation</vt:lpstr>
      <vt:lpstr>PowerPoint Presentation</vt:lpstr>
      <vt:lpstr>RANDOM errors:  A simple examplE</vt:lpstr>
      <vt:lpstr>Gaussian nature of  RanDOM ERRORS</vt:lpstr>
      <vt:lpstr>Estimation of RANDOM “NOISE” ERRORS</vt:lpstr>
      <vt:lpstr>PowerPoint Presentation</vt:lpstr>
      <vt:lpstr>Representativity errors: How to take a good  measurement</vt:lpstr>
      <vt:lpstr>THE PRACTICAL</vt:lpstr>
      <vt:lpstr>PowerPoint Presentation</vt:lpstr>
      <vt:lpstr>PowerPoint Presentation</vt:lpstr>
      <vt:lpstr>THE ASSIGNMENT</vt:lpstr>
      <vt:lpstr>Kestrel link app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Air Quality</dc:title>
  <dc:creator>Amy Foulds</dc:creator>
  <cp:lastModifiedBy>Dogushan Kilic</cp:lastModifiedBy>
  <cp:revision>133</cp:revision>
  <dcterms:created xsi:type="dcterms:W3CDTF">2020-10-20T13:19:42Z</dcterms:created>
  <dcterms:modified xsi:type="dcterms:W3CDTF">2024-10-28T16:00:55Z</dcterms:modified>
</cp:coreProperties>
</file>