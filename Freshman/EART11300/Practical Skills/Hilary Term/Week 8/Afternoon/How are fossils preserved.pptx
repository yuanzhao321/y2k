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46" d="100"/>
          <a:sy n="46" d="100"/>
        </p:scale>
        <p:origin x="78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26EA-1D23-4DAA-80EA-261B478626B1}" type="datetimeFigureOut">
              <a:rPr lang="en-GB" smtClean="0"/>
              <a:t>25/10/2021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9E149-E504-4057-B4E3-EFE5EE4CB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951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26EA-1D23-4DAA-80EA-261B478626B1}" type="datetimeFigureOut">
              <a:rPr lang="en-GB" smtClean="0"/>
              <a:t>25/10/2021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9E149-E504-4057-B4E3-EFE5EE4CB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347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26EA-1D23-4DAA-80EA-261B478626B1}" type="datetimeFigureOut">
              <a:rPr lang="en-GB" smtClean="0"/>
              <a:t>25/10/2021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9E149-E504-4057-B4E3-EFE5EE4CB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967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26EA-1D23-4DAA-80EA-261B478626B1}" type="datetimeFigureOut">
              <a:rPr lang="en-GB" smtClean="0"/>
              <a:t>25/10/2021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9E149-E504-4057-B4E3-EFE5EE4CB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2407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26EA-1D23-4DAA-80EA-261B478626B1}" type="datetimeFigureOut">
              <a:rPr lang="en-GB" smtClean="0"/>
              <a:t>25/10/2021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9E149-E504-4057-B4E3-EFE5EE4CB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2206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26EA-1D23-4DAA-80EA-261B478626B1}" type="datetimeFigureOut">
              <a:rPr lang="en-GB" smtClean="0"/>
              <a:t>25/10/2021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9E149-E504-4057-B4E3-EFE5EE4CB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627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26EA-1D23-4DAA-80EA-261B478626B1}" type="datetimeFigureOut">
              <a:rPr lang="en-GB" smtClean="0"/>
              <a:t>25/10/2021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9E149-E504-4057-B4E3-EFE5EE4CB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6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26EA-1D23-4DAA-80EA-261B478626B1}" type="datetimeFigureOut">
              <a:rPr lang="en-GB" smtClean="0"/>
              <a:t>25/10/2021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9E149-E504-4057-B4E3-EFE5EE4CB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164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26EA-1D23-4DAA-80EA-261B478626B1}" type="datetimeFigureOut">
              <a:rPr lang="en-GB" smtClean="0"/>
              <a:t>25/10/2021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9E149-E504-4057-B4E3-EFE5EE4CB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3439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26EA-1D23-4DAA-80EA-261B478626B1}" type="datetimeFigureOut">
              <a:rPr lang="en-GB" smtClean="0"/>
              <a:t>25/10/2021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9E149-E504-4057-B4E3-EFE5EE4CB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37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26EA-1D23-4DAA-80EA-261B478626B1}" type="datetimeFigureOut">
              <a:rPr lang="en-GB" smtClean="0"/>
              <a:t>25/10/2021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9E149-E504-4057-B4E3-EFE5EE4CB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744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E26EA-1D23-4DAA-80EA-261B478626B1}" type="datetimeFigureOut">
              <a:rPr lang="en-GB" smtClean="0"/>
              <a:t>25/10/2021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9E149-E504-4057-B4E3-EFE5EE4CB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1233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GB" altLang="en-US" sz="3200">
                <a:solidFill>
                  <a:srgbClr val="FF0000"/>
                </a:solidFill>
              </a:rPr>
              <a:t>How are fossils preserved ?</a:t>
            </a:r>
            <a:endParaRPr lang="en-US" altLang="en-US" sz="3200">
              <a:solidFill>
                <a:srgbClr val="FF0000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412875"/>
            <a:ext cx="8229600" cy="4713288"/>
          </a:xfrm>
        </p:spPr>
        <p:txBody>
          <a:bodyPr/>
          <a:lstStyle/>
          <a:p>
            <a:pPr eaLnBrk="1" hangingPunct="1"/>
            <a:r>
              <a:rPr lang="en-GB" altLang="en-US" sz="1800" dirty="0"/>
              <a:t>Fossilisation usually depends upon two requisites, first the possession of some kind of hard parts such as a shell or skeleton, and secondly on rapid burial in a protective medium.</a:t>
            </a:r>
          </a:p>
          <a:p>
            <a:pPr eaLnBrk="1" hangingPunct="1"/>
            <a:endParaRPr lang="en-GB" altLang="en-US" sz="1800" dirty="0"/>
          </a:p>
          <a:p>
            <a:pPr eaLnBrk="1" hangingPunct="1"/>
            <a:r>
              <a:rPr lang="en-GB" altLang="en-US" sz="1800" dirty="0"/>
              <a:t>There are several different types of preservation of fossils:</a:t>
            </a:r>
          </a:p>
          <a:p>
            <a:pPr eaLnBrk="1" hangingPunct="1"/>
            <a:endParaRPr lang="en-GB" altLang="en-US" sz="1800" dirty="0"/>
          </a:p>
          <a:p>
            <a:pPr lvl="1" eaLnBrk="1" hangingPunct="1"/>
            <a:r>
              <a:rPr lang="en-GB" altLang="en-US" sz="1600" dirty="0"/>
              <a:t>Unaltered soft parts</a:t>
            </a:r>
          </a:p>
          <a:p>
            <a:pPr lvl="1" eaLnBrk="1" hangingPunct="1">
              <a:buFontTx/>
              <a:buNone/>
            </a:pPr>
            <a:endParaRPr lang="en-GB" altLang="en-US" sz="1600" dirty="0"/>
          </a:p>
          <a:p>
            <a:pPr lvl="1" eaLnBrk="1" hangingPunct="1"/>
            <a:r>
              <a:rPr lang="en-GB" altLang="en-US" sz="1600" dirty="0"/>
              <a:t>Altered soft parts</a:t>
            </a:r>
          </a:p>
          <a:p>
            <a:pPr lvl="1" eaLnBrk="1" hangingPunct="1"/>
            <a:endParaRPr lang="en-GB" altLang="en-US" sz="1600" dirty="0"/>
          </a:p>
          <a:p>
            <a:pPr lvl="1" eaLnBrk="1" hangingPunct="1"/>
            <a:r>
              <a:rPr lang="en-GB" altLang="en-US" sz="1600" dirty="0"/>
              <a:t>Unaltered hard parts</a:t>
            </a:r>
          </a:p>
          <a:p>
            <a:pPr lvl="1" eaLnBrk="1" hangingPunct="1"/>
            <a:endParaRPr lang="en-GB" altLang="en-US" sz="1600" dirty="0"/>
          </a:p>
          <a:p>
            <a:pPr lvl="1" eaLnBrk="1" hangingPunct="1"/>
            <a:r>
              <a:rPr lang="en-GB" altLang="en-US" sz="1600" dirty="0"/>
              <a:t>Altered hard parts</a:t>
            </a:r>
          </a:p>
          <a:p>
            <a:pPr lvl="1" eaLnBrk="1" hangingPunct="1"/>
            <a:endParaRPr lang="en-GB" altLang="en-US" sz="1600" dirty="0"/>
          </a:p>
          <a:p>
            <a:pPr lvl="1" eaLnBrk="1" hangingPunct="1"/>
            <a:r>
              <a:rPr lang="en-GB" altLang="en-US" sz="1600" dirty="0"/>
              <a:t>Trace fossils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301435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GB" altLang="en-US" sz="3200">
                <a:solidFill>
                  <a:srgbClr val="FF0000"/>
                </a:solidFill>
              </a:rPr>
              <a:t>Unaltered soft parts</a:t>
            </a:r>
            <a:endParaRPr lang="en-US" altLang="en-US" sz="3200">
              <a:solidFill>
                <a:srgbClr val="FF0000"/>
              </a:solidFill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268413"/>
            <a:ext cx="8229600" cy="4857750"/>
          </a:xfrm>
        </p:spPr>
        <p:txBody>
          <a:bodyPr/>
          <a:lstStyle/>
          <a:p>
            <a:pPr marL="609600" indent="-609600"/>
            <a:r>
              <a:rPr lang="en-GB" altLang="en-US" sz="1800" dirty="0"/>
              <a:t>If bacteria are excluded entirely from a dead organism, the soft parts and well as hard parts may occasionally be preserved.  </a:t>
            </a:r>
          </a:p>
          <a:p>
            <a:pPr marL="609600" indent="-609600"/>
            <a:endParaRPr lang="en-GB" altLang="en-US" sz="1800" dirty="0"/>
          </a:p>
          <a:p>
            <a:pPr marL="609600" indent="-609600"/>
            <a:r>
              <a:rPr lang="en-GB" altLang="en-US" sz="1800" dirty="0"/>
              <a:t>There are two well known examples of this type of preservation: </a:t>
            </a:r>
          </a:p>
          <a:p>
            <a:pPr marL="609600" indent="-609600"/>
            <a:endParaRPr lang="en-GB" altLang="en-US" sz="1800" dirty="0"/>
          </a:p>
          <a:p>
            <a:pPr marL="990600" lvl="1" indent="-533400"/>
            <a:r>
              <a:rPr lang="en-GB" altLang="en-US" sz="1800" dirty="0"/>
              <a:t>the frozen remains of mammoths in the </a:t>
            </a:r>
            <a:r>
              <a:rPr lang="en-GB" altLang="en-US" sz="1800" dirty="0" err="1"/>
              <a:t>perma</a:t>
            </a:r>
            <a:r>
              <a:rPr lang="en-GB" altLang="en-US" sz="1800" dirty="0"/>
              <a:t>-frost of Siberia, where flesh, hair and organs have all been preserved in this natural deep freeze</a:t>
            </a:r>
          </a:p>
          <a:p>
            <a:pPr marL="990600" lvl="1" indent="-533400"/>
            <a:endParaRPr lang="en-GB" altLang="en-US" sz="1800" dirty="0"/>
          </a:p>
          <a:p>
            <a:pPr marL="990600" lvl="1" indent="-533400"/>
            <a:r>
              <a:rPr lang="en-GB" altLang="en-US" sz="1800" dirty="0"/>
              <a:t>secondly insects, spiders and other organisms perfectly preserved in blobs of amber, a fossil resin, secreted from the bark of ancient trees.</a:t>
            </a:r>
          </a:p>
          <a:p>
            <a:pPr marL="990600" lvl="1" indent="-533400"/>
            <a:endParaRPr lang="en-GB" altLang="en-US" sz="1800" dirty="0"/>
          </a:p>
          <a:p>
            <a:pPr marL="990600" lvl="1" indent="-533400"/>
            <a:endParaRPr lang="en-GB" altLang="en-US" sz="1800" dirty="0"/>
          </a:p>
          <a:p>
            <a:pPr marL="457200" lvl="1" indent="0">
              <a:buNone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053049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 noChangeArrowheads="1"/>
          </p:cNvSpPr>
          <p:nvPr>
            <p:ph type="title"/>
          </p:nvPr>
        </p:nvSpPr>
        <p:spPr>
          <a:xfrm>
            <a:off x="2006600" y="19050"/>
            <a:ext cx="8229600" cy="490538"/>
          </a:xfrm>
        </p:spPr>
        <p:txBody>
          <a:bodyPr/>
          <a:lstStyle/>
          <a:p>
            <a:r>
              <a:rPr lang="en-GB" altLang="en-US" sz="2000"/>
              <a:t>‘Dima’ – frozen baby mammoth (7 months) from Siberia</a:t>
            </a:r>
          </a:p>
        </p:txBody>
      </p:sp>
      <p:pic>
        <p:nvPicPr>
          <p:cNvPr id="819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404814"/>
            <a:ext cx="8316912" cy="623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20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549276"/>
            <a:ext cx="7956550" cy="596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Rectangle 4"/>
          <p:cNvSpPr>
            <a:spLocks noGrp="1" noChangeArrowheads="1"/>
          </p:cNvSpPr>
          <p:nvPr>
            <p:ph type="title"/>
          </p:nvPr>
        </p:nvSpPr>
        <p:spPr>
          <a:xfrm>
            <a:off x="2006600" y="1"/>
            <a:ext cx="8229600" cy="561975"/>
          </a:xfrm>
        </p:spPr>
        <p:txBody>
          <a:bodyPr/>
          <a:lstStyle/>
          <a:p>
            <a:pPr algn="l" eaLnBrk="1" hangingPunct="1"/>
            <a:r>
              <a:rPr lang="en-GB" altLang="en-US" sz="2000"/>
              <a:t>‘Lyuba’ – frozen baby mammoth (3 months) from Siberia, discovered 2007</a:t>
            </a: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320337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title"/>
          </p:nvPr>
        </p:nvSpPr>
        <p:spPr>
          <a:xfrm>
            <a:off x="1847850" y="115888"/>
            <a:ext cx="8229600" cy="652462"/>
          </a:xfrm>
        </p:spPr>
        <p:txBody>
          <a:bodyPr/>
          <a:lstStyle/>
          <a:p>
            <a:pPr algn="l" eaLnBrk="1" hangingPunct="1"/>
            <a:r>
              <a:rPr lang="en-GB" altLang="en-US" sz="1800"/>
              <a:t>Spider in amber – note fine detail of hairs perfectly preserved</a:t>
            </a:r>
            <a:endParaRPr lang="en-US" altLang="en-US" sz="1800"/>
          </a:p>
        </p:txBody>
      </p:sp>
      <p:pic>
        <p:nvPicPr>
          <p:cNvPr id="13315" name="Picture 5" descr="Spider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79650" y="908051"/>
            <a:ext cx="7632700" cy="5724525"/>
          </a:xfrm>
          <a:noFill/>
        </p:spPr>
      </p:pic>
    </p:spTree>
    <p:extLst>
      <p:ext uri="{BB962C8B-B14F-4D97-AF65-F5344CB8AC3E}">
        <p14:creationId xmlns:p14="http://schemas.microsoft.com/office/powerpoint/2010/main" val="455706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9288" y="2133601"/>
            <a:ext cx="8229600" cy="2620963"/>
          </a:xfrm>
        </p:spPr>
        <p:txBody>
          <a:bodyPr/>
          <a:lstStyle/>
          <a:p>
            <a:pPr eaLnBrk="1" hangingPunct="1"/>
            <a:r>
              <a:rPr lang="en-GB" altLang="en-US" sz="1800" dirty="0"/>
              <a:t>Soft tissue may be mineralised very early on before decomposition begins.</a:t>
            </a:r>
          </a:p>
          <a:p>
            <a:pPr eaLnBrk="1" hangingPunct="1"/>
            <a:endParaRPr lang="en-GB" altLang="en-US" sz="1800" dirty="0"/>
          </a:p>
          <a:p>
            <a:pPr eaLnBrk="1" hangingPunct="1"/>
            <a:r>
              <a:rPr lang="en-GB" altLang="en-US" sz="1800" dirty="0"/>
              <a:t>Very rare – examples include Burgess Shale, </a:t>
            </a:r>
            <a:r>
              <a:rPr lang="en-GB" altLang="en-US" sz="1800" dirty="0" err="1"/>
              <a:t>Solnhofen</a:t>
            </a:r>
            <a:r>
              <a:rPr lang="en-GB" altLang="en-US" sz="1800" dirty="0"/>
              <a:t> Limestone, </a:t>
            </a:r>
            <a:r>
              <a:rPr lang="en-GB" altLang="en-US" sz="1800" dirty="0" err="1"/>
              <a:t>Jehol</a:t>
            </a:r>
            <a:r>
              <a:rPr lang="en-GB" altLang="en-US" sz="1800" dirty="0"/>
              <a:t> Biota </a:t>
            </a:r>
          </a:p>
          <a:p>
            <a:pPr eaLnBrk="1" hangingPunct="1"/>
            <a:endParaRPr lang="en-GB" altLang="en-US" sz="1800" dirty="0"/>
          </a:p>
          <a:p>
            <a:pPr eaLnBrk="1" hangingPunct="1"/>
            <a:r>
              <a:rPr lang="en-GB" altLang="en-US" sz="1800" dirty="0"/>
              <a:t>Such examples are known as ‘Fossil </a:t>
            </a:r>
            <a:r>
              <a:rPr lang="en-GB" altLang="en-US" sz="1800" dirty="0" err="1"/>
              <a:t>Lagerstatten</a:t>
            </a:r>
            <a:r>
              <a:rPr lang="en-GB" altLang="en-US" sz="1800" dirty="0"/>
              <a:t>’ </a:t>
            </a:r>
            <a:r>
              <a:rPr lang="en-GB" altLang="en-US" sz="1800" dirty="0" smtClean="0"/>
              <a:t>.</a:t>
            </a:r>
            <a:endParaRPr lang="en-US" altLang="en-US" sz="1800" dirty="0"/>
          </a:p>
        </p:txBody>
      </p:sp>
      <p:sp>
        <p:nvSpPr>
          <p:cNvPr id="14339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GB" altLang="en-US" smtClean="0">
                <a:solidFill>
                  <a:srgbClr val="FF0000"/>
                </a:solidFill>
              </a:rPr>
              <a:t>Altered soft parts</a:t>
            </a:r>
            <a:endParaRPr lang="en-US" altLang="en-US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18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41751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sz="4000">
                <a:solidFill>
                  <a:srgbClr val="FF0000"/>
                </a:solidFill>
              </a:rPr>
              <a:t>Altered soft parts</a:t>
            </a:r>
            <a:endParaRPr lang="en-US" altLang="en-US" sz="4000">
              <a:solidFill>
                <a:srgbClr val="FF0000"/>
              </a:solidFill>
            </a:endParaRPr>
          </a:p>
        </p:txBody>
      </p:sp>
      <p:pic>
        <p:nvPicPr>
          <p:cNvPr id="15363" name="Picture 4" descr="Hallucigenia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03389" y="908050"/>
            <a:ext cx="3413125" cy="2355850"/>
          </a:xfrm>
          <a:noFill/>
        </p:spPr>
      </p:pic>
      <p:pic>
        <p:nvPicPr>
          <p:cNvPr id="15364" name="Picture 5" descr="Sinornithosaurus juvenile geological museum specime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25" y="836613"/>
            <a:ext cx="3181350" cy="573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6" descr="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976" y="2997200"/>
            <a:ext cx="2803525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1703389" y="3429001"/>
            <a:ext cx="20161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i="1"/>
              <a:t>Hallucigenia</a:t>
            </a:r>
            <a:r>
              <a:rPr lang="en-GB" altLang="en-US" sz="2000"/>
              <a:t> – Burgess Shale</a:t>
            </a:r>
            <a:endParaRPr lang="en-US" altLang="en-US" sz="2000"/>
          </a:p>
        </p:txBody>
      </p:sp>
      <p:sp>
        <p:nvSpPr>
          <p:cNvPr id="15367" name="Rectangle 8"/>
          <p:cNvSpPr>
            <a:spLocks noChangeArrowheads="1"/>
          </p:cNvSpPr>
          <p:nvPr/>
        </p:nvSpPr>
        <p:spPr bwMode="auto">
          <a:xfrm>
            <a:off x="1703389" y="5734051"/>
            <a:ext cx="20161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i="1"/>
              <a:t>Archaeopteryx</a:t>
            </a:r>
            <a:r>
              <a:rPr lang="en-GB" altLang="en-US" sz="2000"/>
              <a:t> – Solnhofen Lst</a:t>
            </a:r>
            <a:endParaRPr lang="en-US" altLang="en-US" sz="2000"/>
          </a:p>
        </p:txBody>
      </p:sp>
      <p:sp>
        <p:nvSpPr>
          <p:cNvPr id="15368" name="Rectangle 9"/>
          <p:cNvSpPr>
            <a:spLocks noChangeArrowheads="1"/>
          </p:cNvSpPr>
          <p:nvPr/>
        </p:nvSpPr>
        <p:spPr bwMode="auto">
          <a:xfrm>
            <a:off x="6816725" y="5949951"/>
            <a:ext cx="2808288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i="1"/>
              <a:t>Sinornithosaurus</a:t>
            </a:r>
            <a:r>
              <a:rPr lang="en-GB" altLang="en-US" sz="2000"/>
              <a:t> – Jehol Group</a:t>
            </a: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2455452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260350"/>
            <a:ext cx="8229600" cy="725488"/>
          </a:xfrm>
        </p:spPr>
        <p:txBody>
          <a:bodyPr/>
          <a:lstStyle/>
          <a:p>
            <a:pPr algn="l" eaLnBrk="1" hangingPunct="1"/>
            <a:r>
              <a:rPr lang="en-GB" altLang="en-US" sz="3200">
                <a:solidFill>
                  <a:srgbClr val="FF0000"/>
                </a:solidFill>
              </a:rPr>
              <a:t>Unaltered hard parts</a:t>
            </a:r>
            <a:endParaRPr lang="en-US" altLang="en-US" sz="3200">
              <a:solidFill>
                <a:srgbClr val="FF000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268413"/>
            <a:ext cx="8229600" cy="4857750"/>
          </a:xfrm>
        </p:spPr>
        <p:txBody>
          <a:bodyPr/>
          <a:lstStyle/>
          <a:p>
            <a:pPr marL="609600" indent="-609600"/>
            <a:r>
              <a:rPr lang="en-GB" altLang="en-US" sz="1800"/>
              <a:t>Many invertebrates and all vertebrates possess hard parts composed of calcium carbonate, calcium phosphate, silica or other complex organic compounds.  </a:t>
            </a:r>
          </a:p>
          <a:p>
            <a:pPr marL="609600" indent="-609600"/>
            <a:endParaRPr lang="en-GB" altLang="en-US" sz="1800"/>
          </a:p>
          <a:p>
            <a:pPr marL="609600" indent="-609600"/>
            <a:r>
              <a:rPr lang="en-GB" altLang="en-US" sz="1800"/>
              <a:t>Many shells and skeletons have been preserved in the rocks with no recognisable change except for the removal of unstable organic matter.  </a:t>
            </a:r>
          </a:p>
          <a:p>
            <a:pPr marL="609600" indent="-609600"/>
            <a:endParaRPr lang="en-GB" altLang="en-US" sz="1800"/>
          </a:p>
          <a:p>
            <a:pPr marL="609600" indent="-609600"/>
            <a:r>
              <a:rPr lang="en-GB" altLang="en-US" sz="1800"/>
              <a:t>Examples include the calcitic shells and skeletons of corals, bryozoans, most brachiopods, some molluscs and echinoderms in which original microstructure is preserved, </a:t>
            </a:r>
          </a:p>
          <a:p>
            <a:pPr marL="609600" indent="-609600"/>
            <a:endParaRPr lang="en-GB" altLang="en-US" sz="1800"/>
          </a:p>
          <a:p>
            <a:pPr marL="609600" indent="-609600"/>
            <a:r>
              <a:rPr lang="en-GB" altLang="en-US" sz="1800"/>
              <a:t>Also phosphatic shells of conulariids and most inarticulate brachiopods, found unaltered from the Cambrian Period onwards, </a:t>
            </a:r>
          </a:p>
          <a:p>
            <a:pPr marL="609600" indent="-609600"/>
            <a:endParaRPr lang="en-GB" altLang="en-US" sz="1800"/>
          </a:p>
          <a:p>
            <a:pPr marL="609600" indent="-609600"/>
            <a:r>
              <a:rPr lang="en-GB" altLang="en-US" sz="1800"/>
              <a:t>And siliceous skeletons of many sponges.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03488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1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17411" name="Picture 12" descr="P1295598 cropp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0"/>
            <a:ext cx="8856662" cy="689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Rectangle 14"/>
          <p:cNvSpPr>
            <a:spLocks noGrp="1" noChangeArrowheads="1"/>
          </p:cNvSpPr>
          <p:nvPr>
            <p:ph type="title"/>
          </p:nvPr>
        </p:nvSpPr>
        <p:spPr>
          <a:xfrm>
            <a:off x="1981201" y="274638"/>
            <a:ext cx="4906963" cy="1143000"/>
          </a:xfrm>
          <a:noFill/>
        </p:spPr>
        <p:txBody>
          <a:bodyPr/>
          <a:lstStyle/>
          <a:p>
            <a:pPr algn="l" eaLnBrk="1" hangingPunct="1"/>
            <a:r>
              <a:rPr lang="en-GB" altLang="en-US" sz="2000">
                <a:solidFill>
                  <a:srgbClr val="FFFF00"/>
                </a:solidFill>
              </a:rPr>
              <a:t>Ammonites with original “mother-of-pearl” shell</a:t>
            </a:r>
            <a:endParaRPr lang="en-US" altLang="en-US" sz="200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817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4" descr="P13159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Text Box 5"/>
          <p:cNvSpPr txBox="1">
            <a:spLocks noChangeArrowheads="1"/>
          </p:cNvSpPr>
          <p:nvPr/>
        </p:nvSpPr>
        <p:spPr bwMode="auto">
          <a:xfrm>
            <a:off x="1524000" y="4292601"/>
            <a:ext cx="29718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i="1">
                <a:solidFill>
                  <a:srgbClr val="F9E0A3"/>
                </a:solidFill>
                <a:latin typeface="Tahoma" panose="020B0604030504040204" pitchFamily="34" charset="0"/>
              </a:rPr>
              <a:t>Placenticeras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>
                <a:solidFill>
                  <a:srgbClr val="F9E0A3"/>
                </a:solidFill>
                <a:latin typeface="Tahoma" panose="020B0604030504040204" pitchFamily="34" charset="0"/>
              </a:rPr>
              <a:t>Upper Cretaceous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>
                <a:solidFill>
                  <a:srgbClr val="F9E0A3"/>
                </a:solidFill>
                <a:latin typeface="Tahoma" panose="020B0604030504040204" pitchFamily="34" charset="0"/>
              </a:rPr>
              <a:t>Alberta, Canada, with original mother-of-pearl shell</a:t>
            </a:r>
          </a:p>
        </p:txBody>
      </p:sp>
      <p:pic>
        <p:nvPicPr>
          <p:cNvPr id="18436" name="Picture 6" descr="IMG_635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289" y="4221164"/>
            <a:ext cx="1628775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0713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706437"/>
          </a:xfrm>
        </p:spPr>
        <p:txBody>
          <a:bodyPr/>
          <a:lstStyle/>
          <a:p>
            <a:pPr algn="l" eaLnBrk="1" hangingPunct="1"/>
            <a:r>
              <a:rPr lang="en-GB" altLang="en-US" sz="3200">
                <a:solidFill>
                  <a:srgbClr val="FF0000"/>
                </a:solidFill>
              </a:rPr>
              <a:t>Altered hard parts</a:t>
            </a:r>
            <a:endParaRPr lang="en-US" altLang="en-US" sz="3200">
              <a:solidFill>
                <a:srgbClr val="FF0000"/>
              </a:solidFill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196975"/>
            <a:ext cx="8229600" cy="4929188"/>
          </a:xfrm>
        </p:spPr>
        <p:txBody>
          <a:bodyPr/>
          <a:lstStyle/>
          <a:p>
            <a:pPr marL="609600" indent="-609600"/>
            <a:r>
              <a:rPr lang="en-GB" altLang="en-US" sz="1800"/>
              <a:t>Many fossils show varying degrees of alteration of their original structure. </a:t>
            </a:r>
          </a:p>
          <a:p>
            <a:pPr marL="609600" indent="-609600"/>
            <a:endParaRPr lang="en-GB" altLang="en-US" sz="1800"/>
          </a:p>
          <a:p>
            <a:pPr marL="609600" indent="-609600"/>
            <a:r>
              <a:rPr lang="en-GB" altLang="en-US" sz="1800"/>
              <a:t> This may consist only of slight rearrangement of molecules </a:t>
            </a:r>
          </a:p>
          <a:p>
            <a:pPr marL="609600" indent="-609600"/>
            <a:endParaRPr lang="en-GB" altLang="en-US" sz="1800"/>
          </a:p>
          <a:p>
            <a:pPr marL="609600" indent="-609600"/>
            <a:r>
              <a:rPr lang="en-GB" altLang="en-US" sz="1800"/>
              <a:t>Or may involve total removal of all original material.  </a:t>
            </a:r>
          </a:p>
          <a:p>
            <a:pPr marL="609600" indent="-609600"/>
            <a:endParaRPr lang="en-GB" altLang="en-US" sz="1800"/>
          </a:p>
          <a:p>
            <a:pPr marL="609600" indent="-609600"/>
            <a:r>
              <a:rPr lang="en-GB" altLang="en-US" sz="1800"/>
              <a:t>There are several types of alteration:</a:t>
            </a:r>
          </a:p>
          <a:p>
            <a:pPr marL="1009650" lvl="1" indent="-609600"/>
            <a:endParaRPr lang="en-GB" altLang="en-US" sz="1400"/>
          </a:p>
          <a:p>
            <a:pPr marL="1009650" lvl="1" indent="-609600"/>
            <a:r>
              <a:rPr lang="en-GB" altLang="en-US" sz="1400"/>
              <a:t>Carbonisation</a:t>
            </a:r>
          </a:p>
          <a:p>
            <a:pPr marL="1009650" lvl="1" indent="-609600"/>
            <a:r>
              <a:rPr lang="en-GB" altLang="en-US" sz="1400"/>
              <a:t>Petrifaction = Permineralisation</a:t>
            </a:r>
          </a:p>
          <a:p>
            <a:pPr marL="1009650" lvl="1" indent="-609600"/>
            <a:r>
              <a:rPr lang="en-GB" altLang="en-US" sz="1400"/>
              <a:t>Recrystallisation</a:t>
            </a:r>
          </a:p>
          <a:p>
            <a:pPr marL="1009650" lvl="1" indent="-609600"/>
            <a:r>
              <a:rPr lang="en-GB" altLang="en-US" sz="1400"/>
              <a:t>Replacement</a:t>
            </a:r>
          </a:p>
          <a:p>
            <a:pPr marL="1009650" lvl="1" indent="-609600"/>
            <a:r>
              <a:rPr lang="en-GB" altLang="en-US" sz="1400"/>
              <a:t>Moulds and casts</a:t>
            </a:r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406520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706437"/>
          </a:xfrm>
        </p:spPr>
        <p:txBody>
          <a:bodyPr/>
          <a:lstStyle/>
          <a:p>
            <a:pPr algn="l" eaLnBrk="1" hangingPunct="1"/>
            <a:r>
              <a:rPr lang="en-GB" altLang="en-US" sz="3200">
                <a:solidFill>
                  <a:srgbClr val="FF0000"/>
                </a:solidFill>
              </a:rPr>
              <a:t>Carbonisation</a:t>
            </a:r>
            <a:endParaRPr lang="en-US" altLang="en-US" sz="3200">
              <a:solidFill>
                <a:srgbClr val="FF0000"/>
              </a:solidFill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981075"/>
            <a:ext cx="8229600" cy="5145088"/>
          </a:xfrm>
        </p:spPr>
        <p:txBody>
          <a:bodyPr/>
          <a:lstStyle/>
          <a:p>
            <a:pPr marL="609600" indent="-609600">
              <a:buNone/>
            </a:pPr>
            <a:endParaRPr lang="en-GB" altLang="en-US" smtClean="0"/>
          </a:p>
          <a:p>
            <a:pPr marL="609600" indent="-609600"/>
            <a:r>
              <a:rPr lang="en-GB" altLang="en-US" sz="1800"/>
              <a:t>The skeletal parts of graptolites and exoskeletons of certain arthropods were composed in life of chitinous substance (a carbohydrate). </a:t>
            </a:r>
          </a:p>
          <a:p>
            <a:pPr marL="609600" indent="-609600"/>
            <a:endParaRPr lang="en-GB" altLang="en-US" sz="1800"/>
          </a:p>
          <a:p>
            <a:pPr marL="609600" indent="-609600"/>
            <a:r>
              <a:rPr lang="en-GB" altLang="en-US" sz="1800"/>
              <a:t>During fossilisation the volatile organic constituents such as nitrogen, oxygen and hydrogen escaped, and the fossil is preserved as a thin film of carbon.  </a:t>
            </a:r>
          </a:p>
          <a:p>
            <a:pPr marL="609600" indent="-609600"/>
            <a:endParaRPr lang="en-GB" altLang="en-US" sz="1800"/>
          </a:p>
          <a:p>
            <a:pPr marL="609600" indent="-609600"/>
            <a:r>
              <a:rPr lang="en-GB" altLang="en-US" sz="1800"/>
              <a:t>Fish and plants are also commonly carbonised. 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59811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633412"/>
          </a:xfrm>
        </p:spPr>
        <p:txBody>
          <a:bodyPr/>
          <a:lstStyle/>
          <a:p>
            <a:pPr algn="l" eaLnBrk="1" hangingPunct="1"/>
            <a:r>
              <a:rPr lang="en-GB" altLang="en-US" sz="1800" i="1"/>
              <a:t>Didymograptus</a:t>
            </a:r>
            <a:r>
              <a:rPr lang="en-GB" altLang="en-US" sz="1800"/>
              <a:t> (a graptolite) preserved as a thin film of carbon</a:t>
            </a:r>
            <a:endParaRPr lang="en-US" altLang="en-US" sz="1800"/>
          </a:p>
        </p:txBody>
      </p:sp>
      <p:pic>
        <p:nvPicPr>
          <p:cNvPr id="21507" name="Picture 5" descr="DSCN445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8214" y="1196976"/>
            <a:ext cx="7921625" cy="5434013"/>
          </a:xfrm>
          <a:noFill/>
        </p:spPr>
      </p:pic>
    </p:spTree>
    <p:extLst>
      <p:ext uri="{BB962C8B-B14F-4D97-AF65-F5344CB8AC3E}">
        <p14:creationId xmlns:p14="http://schemas.microsoft.com/office/powerpoint/2010/main" val="90236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633412"/>
          </a:xfrm>
        </p:spPr>
        <p:txBody>
          <a:bodyPr/>
          <a:lstStyle/>
          <a:p>
            <a:pPr algn="l" eaLnBrk="1" hangingPunct="1"/>
            <a:r>
              <a:rPr lang="en-GB" altLang="en-US" sz="1800" i="1"/>
              <a:t>Alethopteris </a:t>
            </a:r>
            <a:r>
              <a:rPr lang="en-GB" altLang="en-US" sz="1800"/>
              <a:t>(a plant) preserved as a thin film of carbon</a:t>
            </a:r>
            <a:endParaRPr lang="en-US" altLang="en-US" sz="1800"/>
          </a:p>
        </p:txBody>
      </p:sp>
      <p:pic>
        <p:nvPicPr>
          <p:cNvPr id="22531" name="Picture 5" descr="DSCN4448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74825" y="1196976"/>
            <a:ext cx="8675688" cy="5292725"/>
          </a:xfrm>
          <a:noFill/>
        </p:spPr>
      </p:pic>
    </p:spTree>
    <p:extLst>
      <p:ext uri="{BB962C8B-B14F-4D97-AF65-F5344CB8AC3E}">
        <p14:creationId xmlns:p14="http://schemas.microsoft.com/office/powerpoint/2010/main" val="265857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GB" altLang="en-US" sz="3200">
                <a:solidFill>
                  <a:srgbClr val="FF0000"/>
                </a:solidFill>
              </a:rPr>
              <a:t>Petrifaction or permineralisation</a:t>
            </a:r>
            <a:endParaRPr lang="en-US" altLang="en-US" sz="3200">
              <a:solidFill>
                <a:srgbClr val="FF0000"/>
              </a:solidFill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GB" altLang="en-US" sz="1800"/>
              <a:t>Shells, bones and plant tissue which are porous may be made more dense by deposition of mineral substances from percolating ground waters within the pores.  </a:t>
            </a:r>
          </a:p>
          <a:p>
            <a:pPr marL="609600" indent="-609600"/>
            <a:endParaRPr lang="en-GB" altLang="en-US" sz="1800"/>
          </a:p>
          <a:p>
            <a:pPr marL="609600" indent="-609600"/>
            <a:r>
              <a:rPr lang="en-GB" altLang="en-US" sz="1800"/>
              <a:t>Hard parts altered in this way are permineralised or petrified.  </a:t>
            </a:r>
          </a:p>
          <a:p>
            <a:pPr marL="609600" indent="-609600"/>
            <a:endParaRPr lang="en-GB" altLang="en-US" sz="1800"/>
          </a:p>
          <a:p>
            <a:pPr marL="609600" indent="-609600"/>
            <a:r>
              <a:rPr lang="en-GB" altLang="en-US" sz="1800"/>
              <a:t>Common examples include petrified wood or bone in which </a:t>
            </a:r>
            <a:r>
              <a:rPr lang="en-GB" altLang="en-US" sz="1800" b="1"/>
              <a:t>original cellular structure can still be seen. </a:t>
            </a:r>
            <a:endParaRPr lang="en-US" altLang="en-US" sz="1800" b="1"/>
          </a:p>
        </p:txBody>
      </p:sp>
    </p:spTree>
    <p:extLst>
      <p:ext uri="{BB962C8B-B14F-4D97-AF65-F5344CB8AC3E}">
        <p14:creationId xmlns:p14="http://schemas.microsoft.com/office/powerpoint/2010/main" val="339941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706437"/>
          </a:xfrm>
        </p:spPr>
        <p:txBody>
          <a:bodyPr/>
          <a:lstStyle/>
          <a:p>
            <a:pPr algn="l" eaLnBrk="1" hangingPunct="1"/>
            <a:r>
              <a:rPr lang="en-GB" altLang="en-US" sz="1800"/>
              <a:t>Fossil wood from the Petrified Forest of Arizona showing permineralisation</a:t>
            </a:r>
            <a:endParaRPr lang="en-US" altLang="en-US" sz="1800"/>
          </a:p>
        </p:txBody>
      </p:sp>
      <p:pic>
        <p:nvPicPr>
          <p:cNvPr id="25603" name="Picture 9" descr="P204033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79651" y="908051"/>
            <a:ext cx="7489825" cy="5618163"/>
          </a:xfrm>
          <a:noFill/>
        </p:spPr>
      </p:pic>
    </p:spTree>
    <p:extLst>
      <p:ext uri="{BB962C8B-B14F-4D97-AF65-F5344CB8AC3E}">
        <p14:creationId xmlns:p14="http://schemas.microsoft.com/office/powerpoint/2010/main" val="3780250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76250"/>
            <a:ext cx="8229600" cy="865188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GB" altLang="en-US" sz="3200">
                <a:solidFill>
                  <a:srgbClr val="FF0000"/>
                </a:solidFill>
              </a:rPr>
              <a:t>Recrystallisation</a:t>
            </a:r>
            <a:r>
              <a:rPr lang="en-GB" altLang="en-US" sz="4000"/>
              <a:t> </a:t>
            </a:r>
            <a:br>
              <a:rPr lang="en-GB" altLang="en-US" sz="4000"/>
            </a:br>
            <a:endParaRPr lang="en-US" altLang="en-US" sz="400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GB" altLang="en-US" sz="1800"/>
              <a:t>The internal physical structure of some shells may be changed by shuffling of molecules as the result of solution and reprecipitation.   </a:t>
            </a:r>
          </a:p>
          <a:p>
            <a:pPr marL="609600" indent="-609600"/>
            <a:endParaRPr lang="en-GB" altLang="en-US" sz="1800"/>
          </a:p>
          <a:p>
            <a:pPr marL="609600" indent="-609600"/>
            <a:r>
              <a:rPr lang="en-GB" altLang="en-US" sz="1800"/>
              <a:t>Recrystallisation commonly maintains the original mineral composition or it may involve change from one mineral to another of similar chemical composition but different molecular structure.  </a:t>
            </a:r>
          </a:p>
          <a:p>
            <a:pPr marL="609600" indent="-609600"/>
            <a:endParaRPr lang="en-GB" altLang="en-US" sz="1800"/>
          </a:p>
          <a:p>
            <a:pPr marL="609600" indent="-609600"/>
            <a:r>
              <a:rPr lang="en-GB" altLang="en-US" sz="1800"/>
              <a:t>The classic example concerns Mesozoic coral skeletons which were originally composed of </a:t>
            </a:r>
            <a:r>
              <a:rPr lang="en-GB" altLang="en-US" sz="1800">
                <a:solidFill>
                  <a:srgbClr val="FF0000"/>
                </a:solidFill>
              </a:rPr>
              <a:t>aragonite</a:t>
            </a:r>
            <a:r>
              <a:rPr lang="en-GB" altLang="en-US" sz="1800"/>
              <a:t> (an unstable form of calcium carbonate).  In their fossils the molecules have regrouped into </a:t>
            </a:r>
            <a:r>
              <a:rPr lang="en-GB" altLang="en-US" sz="1800">
                <a:solidFill>
                  <a:srgbClr val="FF0000"/>
                </a:solidFill>
              </a:rPr>
              <a:t>calcite</a:t>
            </a:r>
            <a:r>
              <a:rPr lang="en-GB" altLang="en-US" sz="1800"/>
              <a:t>, a more stable form of calcium carbonate.  The </a:t>
            </a:r>
            <a:r>
              <a:rPr lang="en-GB" altLang="en-US" sz="1800" b="1"/>
              <a:t>original microstructure is completely lost </a:t>
            </a:r>
            <a:r>
              <a:rPr lang="en-GB" altLang="en-US" sz="1800"/>
              <a:t>and the shell is converted into a mosaic of interlocking crystals.  </a:t>
            </a:r>
          </a:p>
          <a:p>
            <a:pPr marL="609600" indent="-609600"/>
            <a:endParaRPr lang="en-GB" altLang="en-US" sz="1800"/>
          </a:p>
          <a:p>
            <a:pPr marL="609600" indent="-609600"/>
            <a:endParaRPr lang="en-US" altLang="en-US" sz="1800" b="1"/>
          </a:p>
        </p:txBody>
      </p:sp>
    </p:spTree>
    <p:extLst>
      <p:ext uri="{BB962C8B-B14F-4D97-AF65-F5344CB8AC3E}">
        <p14:creationId xmlns:p14="http://schemas.microsoft.com/office/powerpoint/2010/main" val="218441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GB" altLang="en-US" sz="3200">
                <a:solidFill>
                  <a:srgbClr val="FF0000"/>
                </a:solidFill>
              </a:rPr>
              <a:t>Replacement</a:t>
            </a:r>
            <a:r>
              <a:rPr lang="en-GB" altLang="en-US" sz="4000"/>
              <a:t>  </a:t>
            </a:r>
            <a:br>
              <a:rPr lang="en-GB" altLang="en-US" sz="4000"/>
            </a:br>
            <a:endParaRPr lang="en-US" altLang="en-US" sz="400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GB" altLang="en-US" sz="1800"/>
              <a:t>Solution of the shell or skeleton, coupled with the simultaneous deposition of some other mineral substance in the resulting voids, leads to replacement.  </a:t>
            </a:r>
          </a:p>
          <a:p>
            <a:pPr marL="609600" indent="-609600"/>
            <a:endParaRPr lang="en-GB" altLang="en-US" sz="1800"/>
          </a:p>
          <a:p>
            <a:pPr marL="609600" indent="-609600"/>
            <a:r>
              <a:rPr lang="en-GB" altLang="en-US" sz="1800"/>
              <a:t>Original microstructure </a:t>
            </a:r>
            <a:r>
              <a:rPr lang="en-GB" altLang="en-US" sz="1800" b="1"/>
              <a:t>may or may not be preserved</a:t>
            </a:r>
            <a:r>
              <a:rPr lang="en-GB" altLang="en-US" sz="1800"/>
              <a:t>.  </a:t>
            </a:r>
          </a:p>
          <a:p>
            <a:pPr marL="609600" indent="-609600"/>
            <a:endParaRPr lang="en-GB" altLang="en-US" sz="1800"/>
          </a:p>
          <a:p>
            <a:pPr marL="609600" indent="-609600"/>
            <a:r>
              <a:rPr lang="en-GB" altLang="en-US" sz="1800"/>
              <a:t>Examples include pyritisation, hematisation, silification, calcification, and finally fluoritisation.</a:t>
            </a:r>
            <a:r>
              <a:rPr lang="en-GB" altLang="en-US" smtClean="0"/>
              <a:t> </a:t>
            </a: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74787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561975"/>
          </a:xfrm>
          <a:noFill/>
        </p:spPr>
        <p:txBody>
          <a:bodyPr/>
          <a:lstStyle/>
          <a:p>
            <a:pPr algn="l" eaLnBrk="1" hangingPunct="1"/>
            <a:r>
              <a:rPr lang="en-GB" altLang="en-US" sz="2000"/>
              <a:t>Pyritised ammonites from Germany</a:t>
            </a:r>
            <a:endParaRPr lang="en-US" altLang="en-US" sz="2000"/>
          </a:p>
        </p:txBody>
      </p:sp>
      <p:pic>
        <p:nvPicPr>
          <p:cNvPr id="28675" name="Picture 5" descr="P202021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79650" y="908051"/>
            <a:ext cx="7632700" cy="5724525"/>
          </a:xfrm>
          <a:noFill/>
        </p:spPr>
      </p:pic>
    </p:spTree>
    <p:extLst>
      <p:ext uri="{BB962C8B-B14F-4D97-AF65-F5344CB8AC3E}">
        <p14:creationId xmlns:p14="http://schemas.microsoft.com/office/powerpoint/2010/main" val="534178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777875"/>
          </a:xfrm>
        </p:spPr>
        <p:txBody>
          <a:bodyPr/>
          <a:lstStyle/>
          <a:p>
            <a:pPr algn="l" eaLnBrk="1" hangingPunct="1"/>
            <a:r>
              <a:rPr lang="en-GB" altLang="en-US" sz="1800"/>
              <a:t>Silicified coral (</a:t>
            </a:r>
            <a:r>
              <a:rPr lang="en-GB" altLang="en-US" sz="1800" i="1"/>
              <a:t>Syringopora</a:t>
            </a:r>
            <a:r>
              <a:rPr lang="en-GB" altLang="en-US" sz="1800"/>
              <a:t>) from the Lower Carboniferous of Derbyshire</a:t>
            </a:r>
            <a:endParaRPr lang="en-US" altLang="en-US" sz="1800"/>
          </a:p>
        </p:txBody>
      </p:sp>
      <p:pic>
        <p:nvPicPr>
          <p:cNvPr id="29699" name="Picture 5" descr="DSCN446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79650" y="981076"/>
            <a:ext cx="7632700" cy="5724525"/>
          </a:xfrm>
          <a:noFill/>
        </p:spPr>
      </p:pic>
    </p:spTree>
    <p:extLst>
      <p:ext uri="{BB962C8B-B14F-4D97-AF65-F5344CB8AC3E}">
        <p14:creationId xmlns:p14="http://schemas.microsoft.com/office/powerpoint/2010/main" val="171560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4" descr="Spiriferina pinguii mo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6"/>
          <a:stretch>
            <a:fillRect/>
          </a:stretch>
        </p:blipFill>
        <p:spPr bwMode="auto">
          <a:xfrm>
            <a:off x="1524000" y="1"/>
            <a:ext cx="9144000" cy="688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Rectangle 5"/>
          <p:cNvSpPr>
            <a:spLocks noChangeArrowheads="1"/>
          </p:cNvSpPr>
          <p:nvPr/>
        </p:nvSpPr>
        <p:spPr bwMode="auto">
          <a:xfrm>
            <a:off x="2063751" y="5949951"/>
            <a:ext cx="7921625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solidFill>
                  <a:srgbClr val="FFFF00"/>
                </a:solidFill>
              </a:rPr>
              <a:t>Silicified brachiopod (</a:t>
            </a:r>
            <a:r>
              <a:rPr lang="en-GB" altLang="en-US" sz="1800" i="1">
                <a:solidFill>
                  <a:srgbClr val="FFFF00"/>
                </a:solidFill>
              </a:rPr>
              <a:t>Spirifer</a:t>
            </a:r>
            <a:r>
              <a:rPr lang="en-GB" altLang="en-US" sz="1800">
                <a:solidFill>
                  <a:srgbClr val="FFFF00"/>
                </a:solidFill>
              </a:rPr>
              <a:t>) from the Lower Carboniferous of USA</a:t>
            </a:r>
            <a:endParaRPr lang="en-US" altLang="en-US" sz="180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13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777875"/>
          </a:xfrm>
        </p:spPr>
        <p:txBody>
          <a:bodyPr/>
          <a:lstStyle/>
          <a:p>
            <a:pPr algn="l" eaLnBrk="1" hangingPunct="1"/>
            <a:r>
              <a:rPr lang="en-GB" altLang="en-US" sz="1800"/>
              <a:t>Fluoritised crinoid from the Lower Carboniferous of Derbyshire</a:t>
            </a:r>
            <a:endParaRPr lang="en-US" altLang="en-US" sz="1800"/>
          </a:p>
        </p:txBody>
      </p:sp>
      <p:pic>
        <p:nvPicPr>
          <p:cNvPr id="31747" name="Picture 5" descr="DSCN446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79650" y="981075"/>
            <a:ext cx="7416800" cy="5562600"/>
          </a:xfrm>
          <a:noFill/>
        </p:spPr>
      </p:pic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1125539"/>
            <a:ext cx="1046162" cy="324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8849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76251"/>
            <a:ext cx="8229600" cy="792163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GB" altLang="en-US" sz="3200">
                <a:solidFill>
                  <a:srgbClr val="FF0000"/>
                </a:solidFill>
              </a:rPr>
              <a:t>Moulds and casts</a:t>
            </a:r>
            <a:r>
              <a:rPr lang="en-GB" altLang="en-US" sz="4000"/>
              <a:t> </a:t>
            </a:r>
            <a:br>
              <a:rPr lang="en-GB" altLang="en-US" sz="4000"/>
            </a:br>
            <a:endParaRPr lang="en-US" altLang="en-US" sz="400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GB" altLang="en-US" sz="1800"/>
              <a:t>Imagine a mollusc shell lying on a beach and getting buried in the sand.  The sand will be packed closely around it, and also will fill the internal shell cavity.  </a:t>
            </a:r>
          </a:p>
          <a:p>
            <a:pPr marL="609600" indent="-609600"/>
            <a:endParaRPr lang="en-GB" altLang="en-US" sz="1800"/>
          </a:p>
          <a:p>
            <a:pPr marL="609600" indent="-609600"/>
            <a:r>
              <a:rPr lang="en-GB" altLang="en-US" sz="1800"/>
              <a:t>After millions of years when the sand has lithified, the impression of the shell within the sandstone constitutes an </a:t>
            </a:r>
            <a:r>
              <a:rPr lang="en-GB" altLang="en-US" sz="1800" b="1"/>
              <a:t>external mould </a:t>
            </a:r>
            <a:r>
              <a:rPr lang="en-GB" altLang="en-US" sz="1800"/>
              <a:t>(it shows the external features in reverse).  </a:t>
            </a:r>
          </a:p>
          <a:p>
            <a:pPr marL="609600" indent="-609600"/>
            <a:endParaRPr lang="en-GB" altLang="en-US" sz="1800"/>
          </a:p>
          <a:p>
            <a:pPr marL="609600" indent="-609600"/>
            <a:r>
              <a:rPr lang="en-GB" altLang="en-US" sz="1800"/>
              <a:t>The inner core of sandstone is known an </a:t>
            </a:r>
            <a:r>
              <a:rPr lang="en-GB" altLang="en-US" sz="1800" b="1"/>
              <a:t>internal mould</a:t>
            </a:r>
            <a:r>
              <a:rPr lang="en-GB" altLang="en-US" sz="1800"/>
              <a:t>,</a:t>
            </a:r>
            <a:r>
              <a:rPr lang="en-GB" altLang="en-US" sz="1800" b="1"/>
              <a:t> </a:t>
            </a:r>
            <a:r>
              <a:rPr lang="en-GB" altLang="en-US" sz="1800"/>
              <a:t>or as a </a:t>
            </a:r>
            <a:r>
              <a:rPr lang="en-GB" altLang="en-US" sz="1800" b="1"/>
              <a:t>steinkern</a:t>
            </a:r>
            <a:r>
              <a:rPr lang="en-GB" altLang="en-US" sz="1800"/>
              <a:t> (and also preserves the features in reverse).</a:t>
            </a:r>
          </a:p>
          <a:p>
            <a:pPr marL="609600" indent="-609600"/>
            <a:endParaRPr lang="en-GB" altLang="en-US" sz="1800"/>
          </a:p>
          <a:p>
            <a:pPr marL="609600" indent="-609600"/>
            <a:r>
              <a:rPr lang="en-GB" altLang="en-US" sz="1800"/>
              <a:t>If the original shell is removed by solution and the resulting void is subsequently filled by mineral matter, it forms a natural cast, which may also show external and/or internal features. 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315306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3146426"/>
            <a:ext cx="4705350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9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246063"/>
            <a:ext cx="3656013" cy="274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0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638" y="265113"/>
            <a:ext cx="3632200" cy="272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3DE882E3-CE5D-4122-A485-87B7E9A18F48}"/>
              </a:ext>
            </a:extLst>
          </p:cNvPr>
          <p:cNvSpPr txBox="1">
            <a:spLocks noChangeArrowheads="1"/>
          </p:cNvSpPr>
          <p:nvPr/>
        </p:nvSpPr>
        <p:spPr>
          <a:xfrm>
            <a:off x="7800975" y="3644901"/>
            <a:ext cx="1665288" cy="143986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>
              <a:defRPr/>
            </a:pPr>
            <a:r>
              <a:rPr lang="en-GB" altLang="en-US" sz="2000" kern="0" dirty="0">
                <a:solidFill>
                  <a:schemeClr val="tx1"/>
                </a:solidFill>
              </a:rPr>
              <a:t>Moulds and casts – internal and external</a:t>
            </a:r>
            <a:r>
              <a:rPr lang="en-GB" altLang="en-US" sz="4000" kern="0" dirty="0"/>
              <a:t/>
            </a:r>
            <a:br>
              <a:rPr lang="en-GB" altLang="en-US" sz="4000" kern="0" dirty="0"/>
            </a:br>
            <a:endParaRPr lang="en-US" altLang="en-US" sz="4000" kern="0" dirty="0"/>
          </a:p>
        </p:txBody>
      </p:sp>
    </p:spTree>
    <p:extLst>
      <p:ext uri="{BB962C8B-B14F-4D97-AF65-F5344CB8AC3E}">
        <p14:creationId xmlns:p14="http://schemas.microsoft.com/office/powerpoint/2010/main" val="4199174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6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561975"/>
          </a:xfrm>
        </p:spPr>
        <p:txBody>
          <a:bodyPr/>
          <a:lstStyle/>
          <a:p>
            <a:pPr algn="l" eaLnBrk="1" hangingPunct="1"/>
            <a:r>
              <a:rPr lang="en-GB" altLang="en-US" sz="1800"/>
              <a:t>Internal mould of a bivalve (</a:t>
            </a:r>
            <a:r>
              <a:rPr lang="en-GB" altLang="en-US" sz="1800" i="1"/>
              <a:t>Trigonia</a:t>
            </a:r>
            <a:r>
              <a:rPr lang="en-GB" altLang="en-US" sz="1800"/>
              <a:t>) from the Jurassic Stonesfield Slate</a:t>
            </a:r>
            <a:endParaRPr lang="en-US" altLang="en-US" sz="1800"/>
          </a:p>
        </p:txBody>
      </p:sp>
      <p:pic>
        <p:nvPicPr>
          <p:cNvPr id="35843" name="Picture 5" descr="DSCN447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8214" y="836613"/>
            <a:ext cx="7704137" cy="5778500"/>
          </a:xfrm>
          <a:noFill/>
        </p:spPr>
      </p:pic>
    </p:spTree>
    <p:extLst>
      <p:ext uri="{BB962C8B-B14F-4D97-AF65-F5344CB8AC3E}">
        <p14:creationId xmlns:p14="http://schemas.microsoft.com/office/powerpoint/2010/main" val="155597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/>
          <p:cNvSpPr>
            <a:spLocks noGrp="1" noChangeArrowheads="1"/>
          </p:cNvSpPr>
          <p:nvPr>
            <p:ph type="title"/>
          </p:nvPr>
        </p:nvSpPr>
        <p:spPr>
          <a:xfrm>
            <a:off x="1703388" y="1557338"/>
            <a:ext cx="3898900" cy="850900"/>
          </a:xfrm>
        </p:spPr>
        <p:txBody>
          <a:bodyPr/>
          <a:lstStyle/>
          <a:p>
            <a:pPr algn="l" eaLnBrk="1" hangingPunct="1"/>
            <a:r>
              <a:rPr lang="en-GB" altLang="en-US" sz="1800"/>
              <a:t>Internal mould of a bivalve (</a:t>
            </a:r>
            <a:r>
              <a:rPr lang="en-GB" altLang="en-US" sz="1800" i="1"/>
              <a:t>Trigonia</a:t>
            </a:r>
            <a:r>
              <a:rPr lang="en-GB" altLang="en-US" sz="1800"/>
              <a:t>) from the Jurassic Stonesfield Slate</a:t>
            </a:r>
            <a:endParaRPr lang="en-US" altLang="en-US" sz="1800"/>
          </a:p>
        </p:txBody>
      </p:sp>
      <p:pic>
        <p:nvPicPr>
          <p:cNvPr id="36867" name="Picture 5" descr="DSCN447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80100" y="260350"/>
            <a:ext cx="4592638" cy="6121400"/>
          </a:xfrm>
          <a:noFill/>
        </p:spPr>
      </p:pic>
      <p:sp>
        <p:nvSpPr>
          <p:cNvPr id="36868" name="Rectangle 8"/>
          <p:cNvSpPr>
            <a:spLocks noChangeArrowheads="1"/>
          </p:cNvSpPr>
          <p:nvPr/>
        </p:nvSpPr>
        <p:spPr bwMode="auto">
          <a:xfrm>
            <a:off x="1847851" y="3789363"/>
            <a:ext cx="1655763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solidFill>
                  <a:schemeClr val="tx2"/>
                </a:solidFill>
              </a:rPr>
              <a:t>‘Orses ‘eads’</a:t>
            </a:r>
            <a:endParaRPr lang="en-US" alt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451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777875"/>
          </a:xfrm>
        </p:spPr>
        <p:txBody>
          <a:bodyPr/>
          <a:lstStyle/>
          <a:p>
            <a:pPr algn="l" eaLnBrk="1" hangingPunct="1"/>
            <a:r>
              <a:rPr lang="en-GB" altLang="en-US" sz="1800"/>
              <a:t>Internal mould of a gastropod (snail)</a:t>
            </a:r>
            <a:endParaRPr lang="en-US" altLang="en-US" sz="1800"/>
          </a:p>
        </p:txBody>
      </p:sp>
      <p:pic>
        <p:nvPicPr>
          <p:cNvPr id="37891" name="Picture 5" descr="DSCN447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79650" y="908051"/>
            <a:ext cx="7632700" cy="5724525"/>
          </a:xfrm>
          <a:noFill/>
        </p:spPr>
      </p:pic>
    </p:spTree>
    <p:extLst>
      <p:ext uri="{BB962C8B-B14F-4D97-AF65-F5344CB8AC3E}">
        <p14:creationId xmlns:p14="http://schemas.microsoft.com/office/powerpoint/2010/main" val="451443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50900"/>
          </a:xfrm>
        </p:spPr>
        <p:txBody>
          <a:bodyPr/>
          <a:lstStyle/>
          <a:p>
            <a:pPr algn="l" eaLnBrk="1" hangingPunct="1"/>
            <a:r>
              <a:rPr lang="en-GB" altLang="en-US" sz="3200">
                <a:solidFill>
                  <a:srgbClr val="FF0000"/>
                </a:solidFill>
              </a:rPr>
              <a:t>Trace Fossils</a:t>
            </a:r>
            <a:endParaRPr lang="en-US" altLang="en-US" sz="3200">
              <a:solidFill>
                <a:srgbClr val="FF0000"/>
              </a:solidFill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lnSpc>
                <a:spcPct val="80000"/>
              </a:lnSpc>
            </a:pPr>
            <a:r>
              <a:rPr lang="en-GB" altLang="en-US" sz="1800"/>
              <a:t>All of the previous examples are known as </a:t>
            </a:r>
            <a:r>
              <a:rPr lang="en-GB" altLang="en-US" sz="1800" b="1"/>
              <a:t>body fossils</a:t>
            </a:r>
            <a:r>
              <a:rPr lang="en-GB" altLang="en-US" sz="1800"/>
              <a:t> as they constitute the actual remains of animals or plants.  </a:t>
            </a:r>
          </a:p>
          <a:p>
            <a:pPr marL="609600" indent="-609600">
              <a:lnSpc>
                <a:spcPct val="80000"/>
              </a:lnSpc>
            </a:pPr>
            <a:endParaRPr lang="en-GB" altLang="en-US" sz="1800"/>
          </a:p>
          <a:p>
            <a:pPr marL="609600" indent="-609600">
              <a:lnSpc>
                <a:spcPct val="80000"/>
              </a:lnSpc>
            </a:pPr>
            <a:r>
              <a:rPr lang="en-GB" altLang="en-US" sz="1800" b="1"/>
              <a:t>Trace fossils</a:t>
            </a:r>
            <a:r>
              <a:rPr lang="en-GB" altLang="en-US" sz="1800"/>
              <a:t> comprise evidence of the activity of animals or plants and include </a:t>
            </a:r>
            <a:r>
              <a:rPr lang="en-GB" altLang="en-US" sz="1800" b="1"/>
              <a:t>trails</a:t>
            </a:r>
            <a:r>
              <a:rPr lang="en-GB" altLang="en-US" sz="1800"/>
              <a:t> and </a:t>
            </a:r>
            <a:r>
              <a:rPr lang="en-GB" altLang="en-US" sz="1800" b="1"/>
              <a:t>footprints</a:t>
            </a:r>
            <a:r>
              <a:rPr lang="en-GB" altLang="en-US" sz="1800"/>
              <a:t> made by the feet and tails of animals, </a:t>
            </a:r>
            <a:r>
              <a:rPr lang="en-GB" altLang="en-US" sz="1800" b="1"/>
              <a:t>burrows</a:t>
            </a:r>
            <a:r>
              <a:rPr lang="en-GB" altLang="en-US" sz="1800"/>
              <a:t> made by animals in soft sediment, </a:t>
            </a:r>
            <a:r>
              <a:rPr lang="en-GB" altLang="en-US" sz="1800" b="1"/>
              <a:t>borings</a:t>
            </a:r>
            <a:r>
              <a:rPr lang="en-GB" altLang="en-US" sz="1800"/>
              <a:t> in hard substances, </a:t>
            </a:r>
            <a:r>
              <a:rPr lang="en-GB" altLang="en-US" sz="1800" b="1"/>
              <a:t>impressions </a:t>
            </a:r>
            <a:r>
              <a:rPr lang="en-GB" altLang="en-US" sz="1800"/>
              <a:t>in sediment made by a resting animal etc.  </a:t>
            </a:r>
          </a:p>
          <a:p>
            <a:pPr marL="609600" indent="-609600">
              <a:lnSpc>
                <a:spcPct val="80000"/>
              </a:lnSpc>
            </a:pPr>
            <a:endParaRPr lang="en-GB" altLang="en-US" sz="1800"/>
          </a:p>
          <a:p>
            <a:pPr marL="609600" indent="-609600">
              <a:lnSpc>
                <a:spcPct val="80000"/>
              </a:lnSpc>
            </a:pPr>
            <a:r>
              <a:rPr lang="en-GB" altLang="en-US" sz="1800"/>
              <a:t>Other interesting trace fossils are </a:t>
            </a:r>
            <a:r>
              <a:rPr lang="en-GB" altLang="en-US" sz="1800" b="1"/>
              <a:t>coprolites</a:t>
            </a:r>
            <a:r>
              <a:rPr lang="en-GB" altLang="en-US" sz="1800"/>
              <a:t>, the fossils excrement of animals, which may be informative, especially when they contain the remains of food.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217556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4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561975"/>
          </a:xfrm>
        </p:spPr>
        <p:txBody>
          <a:bodyPr/>
          <a:lstStyle/>
          <a:p>
            <a:pPr algn="l" eaLnBrk="1" hangingPunct="1"/>
            <a:r>
              <a:rPr lang="en-GB" altLang="en-US" sz="1800" dirty="0"/>
              <a:t>Living gastropod feeding trail, Kirkcaldy, </a:t>
            </a:r>
            <a:r>
              <a:rPr lang="en-GB" altLang="en-US" sz="1800" dirty="0" smtClean="0"/>
              <a:t>Scotland.</a:t>
            </a:r>
            <a:endParaRPr lang="en-US" altLang="en-US" sz="1800" dirty="0"/>
          </a:p>
        </p:txBody>
      </p:sp>
      <p:pic>
        <p:nvPicPr>
          <p:cNvPr id="39939" name="Picture 5" descr="ft 1 0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908051"/>
            <a:ext cx="7777162" cy="583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6730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6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633412"/>
          </a:xfrm>
        </p:spPr>
        <p:txBody>
          <a:bodyPr/>
          <a:lstStyle/>
          <a:p>
            <a:pPr algn="l" eaLnBrk="1" hangingPunct="1"/>
            <a:r>
              <a:rPr lang="en-GB" altLang="en-US" sz="1800"/>
              <a:t>Fossil gastropod feeding trail</a:t>
            </a:r>
            <a:endParaRPr lang="en-US" altLang="en-US" sz="1800"/>
          </a:p>
        </p:txBody>
      </p:sp>
      <p:pic>
        <p:nvPicPr>
          <p:cNvPr id="40963" name="Picture 5" descr="DSCN448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95551" y="1179513"/>
            <a:ext cx="7345363" cy="5510212"/>
          </a:xfrm>
          <a:noFill/>
        </p:spPr>
      </p:pic>
    </p:spTree>
    <p:extLst>
      <p:ext uri="{BB962C8B-B14F-4D97-AF65-F5344CB8AC3E}">
        <p14:creationId xmlns:p14="http://schemas.microsoft.com/office/powerpoint/2010/main" val="518634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3106738" cy="1143000"/>
          </a:xfrm>
        </p:spPr>
        <p:txBody>
          <a:bodyPr/>
          <a:lstStyle/>
          <a:p>
            <a:pPr algn="l" eaLnBrk="1" hangingPunct="1"/>
            <a:r>
              <a:rPr lang="en-GB" altLang="en-US" sz="1800"/>
              <a:t>Dinosaur footprints, Dakota Sandstone, Colorado, USA</a:t>
            </a:r>
            <a:endParaRPr lang="en-US" altLang="en-US" sz="1800"/>
          </a:p>
        </p:txBody>
      </p:sp>
      <p:pic>
        <p:nvPicPr>
          <p:cNvPr id="41987" name="Picture 5" descr="abq Dinosaur Ridge - Dakota Sst trackway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35613" y="260351"/>
            <a:ext cx="4864100" cy="6481763"/>
          </a:xfrm>
          <a:noFill/>
        </p:spPr>
      </p:pic>
    </p:spTree>
    <p:extLst>
      <p:ext uri="{BB962C8B-B14F-4D97-AF65-F5344CB8AC3E}">
        <p14:creationId xmlns:p14="http://schemas.microsoft.com/office/powerpoint/2010/main" val="3672275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 noGrp="1" noChangeArrowheads="1"/>
          </p:cNvSpPr>
          <p:nvPr>
            <p:ph type="title"/>
          </p:nvPr>
        </p:nvSpPr>
        <p:spPr>
          <a:xfrm>
            <a:off x="2135188" y="115889"/>
            <a:ext cx="8229600" cy="706437"/>
          </a:xfrm>
        </p:spPr>
        <p:txBody>
          <a:bodyPr/>
          <a:lstStyle/>
          <a:p>
            <a:pPr algn="l" eaLnBrk="1" hangingPunct="1"/>
            <a:r>
              <a:rPr lang="en-GB" altLang="en-US" sz="1800"/>
              <a:t>Living bivalves (common piddock), boring into hard rock, Lyme Regis, Dorset</a:t>
            </a:r>
            <a:endParaRPr lang="en-US" altLang="en-US" sz="1800"/>
          </a:p>
        </p:txBody>
      </p:sp>
      <p:pic>
        <p:nvPicPr>
          <p:cNvPr id="44035" name="Picture 5" descr="Lyme Regis 33 (piddocks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765175"/>
            <a:ext cx="7848600" cy="588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559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4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561975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GB" altLang="en-US" sz="1800" i="1"/>
              <a:t>Diplocraterion </a:t>
            </a:r>
            <a:r>
              <a:rPr lang="en-GB" altLang="en-US" sz="1800"/>
              <a:t> burrows in lowermost Cambrian sediments, Brachilna Gorge, South Australia</a:t>
            </a:r>
            <a:endParaRPr lang="en-US" altLang="en-US" sz="1800" i="1"/>
          </a:p>
        </p:txBody>
      </p:sp>
      <p:pic>
        <p:nvPicPr>
          <p:cNvPr id="45059" name="Picture 5" descr="22b-burrow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908050"/>
            <a:ext cx="8642350" cy="574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811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83816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5509" y="831273"/>
            <a:ext cx="9185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Acknowledgment: Thank you to Dr John </a:t>
            </a:r>
            <a:r>
              <a:rPr lang="en-GB" dirty="0" err="1" smtClean="0"/>
              <a:t>Nudds</a:t>
            </a:r>
            <a:r>
              <a:rPr lang="en-GB" dirty="0" smtClean="0"/>
              <a:t> for the use of this lecture and the lovely images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6458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90FCEEF31B114094938ED373BA2245" ma:contentTypeVersion="13" ma:contentTypeDescription="Create a new document." ma:contentTypeScope="" ma:versionID="60d6df2a4b7386a82701a8c34c708aa4">
  <xsd:schema xmlns:xsd="http://www.w3.org/2001/XMLSchema" xmlns:xs="http://www.w3.org/2001/XMLSchema" xmlns:p="http://schemas.microsoft.com/office/2006/metadata/properties" xmlns:ns3="3adc53d9-8fbd-427e-bc68-e124dc7a04a2" xmlns:ns4="ce77b506-f453-4d71-892d-b0af93e47805" targetNamespace="http://schemas.microsoft.com/office/2006/metadata/properties" ma:root="true" ma:fieldsID="29dc4d334930286d15eb0b735bd16b34" ns3:_="" ns4:_="">
    <xsd:import namespace="3adc53d9-8fbd-427e-bc68-e124dc7a04a2"/>
    <xsd:import namespace="ce77b506-f453-4d71-892d-b0af93e4780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dc53d9-8fbd-427e-bc68-e124dc7a04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77b506-f453-4d71-892d-b0af93e4780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6C53CE-573D-4CFB-A028-8329A731173C}">
  <ds:schemaRefs>
    <ds:schemaRef ds:uri="http://schemas.microsoft.com/office/infopath/2007/PartnerControls"/>
    <ds:schemaRef ds:uri="ce77b506-f453-4d71-892d-b0af93e47805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3adc53d9-8fbd-427e-bc68-e124dc7a04a2"/>
    <ds:schemaRef ds:uri="http://purl.org/dc/dcmitype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A2631F6-CFFC-4605-AF32-EA76BF7841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E70CB7-08CF-4ADF-AFC1-A34D795C1B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dc53d9-8fbd-427e-bc68-e124dc7a04a2"/>
    <ds:schemaRef ds:uri="ce77b506-f453-4d71-892d-b0af93e478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1093</Words>
  <Application>Microsoft Office PowerPoint</Application>
  <PresentationFormat>Widescreen</PresentationFormat>
  <Paragraphs>121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Tahoma</vt:lpstr>
      <vt:lpstr>Office Theme</vt:lpstr>
      <vt:lpstr>How are fossils preserved ?</vt:lpstr>
      <vt:lpstr>Unaltered soft parts</vt:lpstr>
      <vt:lpstr>‘Dima’ – frozen baby mammoth (7 months) from Siberia</vt:lpstr>
      <vt:lpstr>‘Lyuba’ – frozen baby mammoth (3 months) from Siberia, discovered 2007</vt:lpstr>
      <vt:lpstr>Spider in amber – note fine detail of hairs perfectly preserved</vt:lpstr>
      <vt:lpstr>Altered soft parts</vt:lpstr>
      <vt:lpstr>Altered soft parts</vt:lpstr>
      <vt:lpstr>Unaltered hard parts</vt:lpstr>
      <vt:lpstr>Ammonites with original “mother-of-pearl” shell</vt:lpstr>
      <vt:lpstr>PowerPoint Presentation</vt:lpstr>
      <vt:lpstr>Altered hard parts</vt:lpstr>
      <vt:lpstr>Carbonisation</vt:lpstr>
      <vt:lpstr>Didymograptus (a graptolite) preserved as a thin film of carbon</vt:lpstr>
      <vt:lpstr>Alethopteris (a plant) preserved as a thin film of carbon</vt:lpstr>
      <vt:lpstr>Petrifaction or permineralisation</vt:lpstr>
      <vt:lpstr>Fossil wood from the Petrified Forest of Arizona showing permineralisation</vt:lpstr>
      <vt:lpstr>Recrystallisation  </vt:lpstr>
      <vt:lpstr>Replacement   </vt:lpstr>
      <vt:lpstr>Pyritised ammonites from Germany</vt:lpstr>
      <vt:lpstr>Silicified coral (Syringopora) from the Lower Carboniferous of Derbyshire</vt:lpstr>
      <vt:lpstr>PowerPoint Presentation</vt:lpstr>
      <vt:lpstr>Fluoritised crinoid from the Lower Carboniferous of Derbyshire</vt:lpstr>
      <vt:lpstr>Moulds and casts  </vt:lpstr>
      <vt:lpstr>PowerPoint Presentation</vt:lpstr>
      <vt:lpstr>Internal mould of a bivalve (Trigonia) from the Jurassic Stonesfield Slate</vt:lpstr>
      <vt:lpstr>Internal mould of a bivalve (Trigonia) from the Jurassic Stonesfield Slate</vt:lpstr>
      <vt:lpstr>Internal mould of a gastropod (snail)</vt:lpstr>
      <vt:lpstr>Trace Fossils</vt:lpstr>
      <vt:lpstr>Living gastropod feeding trail, Kirkcaldy, Scotland.</vt:lpstr>
      <vt:lpstr>Fossil gastropod feeding trail</vt:lpstr>
      <vt:lpstr>Dinosaur footprints, Dakota Sandstone, Colorado, USA</vt:lpstr>
      <vt:lpstr>Living bivalves (common piddock), boring into hard rock, Lyme Regis, Dorset</vt:lpstr>
      <vt:lpstr>Diplocraterion  burrows in lowermost Cambrian sediments, Brachilna Gorge, South Australia</vt:lpstr>
      <vt:lpstr>PowerPoint Presentation</vt:lpstr>
      <vt:lpstr>PowerPoint Presentation</vt:lpstr>
    </vt:vector>
  </TitlesOfParts>
  <Company>University of Manchester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Amanda Edwards</dc:creator>
  <cp:lastModifiedBy>Amanda Edwards</cp:lastModifiedBy>
  <cp:revision>2</cp:revision>
  <dcterms:created xsi:type="dcterms:W3CDTF">2021-10-25T16:05:08Z</dcterms:created>
  <dcterms:modified xsi:type="dcterms:W3CDTF">2021-10-25T16:27:37Z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0x0101003890FCEEF31B114094938ED373BA2245</vt:lpwstr>
  </property>
</Properties>
</file>