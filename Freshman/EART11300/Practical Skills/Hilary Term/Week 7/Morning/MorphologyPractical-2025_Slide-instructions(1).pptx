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sldIdLst>
    <p:sldId id="349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87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1.xml"/><Relationship Id="rId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DF9BE8-ECE4-DFAE-F92F-3E538B5301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F2A0A7E-7AB5-5BA4-D348-07EF016D94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64A196-BCB8-1D02-4463-F4B6AD7FEC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A5F554-B7A9-40E5-8510-215852B06957}" type="datetimeFigureOut">
              <a:rPr lang="en-US" smtClean="0"/>
              <a:t>2/19/2025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1C007C-33CF-B820-0FAD-7BCE603C05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E56DA1-4556-E9C7-542E-F2C66827D5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61435-D470-4816-83C8-58F7CF00B1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86122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E47616-FE9E-F7CD-1459-0A4DC33373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F2175F-CED8-42D2-20B7-743D07916D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9E5785-1BAC-60F8-490A-174BE78148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A5F554-B7A9-40E5-8510-215852B06957}" type="datetimeFigureOut">
              <a:rPr lang="en-US" smtClean="0"/>
              <a:t>2/19/2025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9C7511-4E19-6852-1BF8-E7F7F5BCC1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E2DA6E-6F05-62E0-0C81-974DC6C201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61435-D470-4816-83C8-58F7CF00B1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47557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65AE2D-0D68-E86D-97D5-DE243255A0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4DEA93-FB77-D24D-F3F7-86EAAEC2BD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59FA98-DCD7-5E94-A921-526F797BA7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A5F554-B7A9-40E5-8510-215852B06957}" type="datetimeFigureOut">
              <a:rPr lang="en-US" smtClean="0"/>
              <a:t>2/19/2025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063C0F-31C1-291D-3A33-1B20FE293A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C79039-563E-E61A-2EC5-4B44360782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61435-D470-4816-83C8-58F7CF00B1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61088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AD15E5-D633-9D3C-A6DD-7461D68C46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C2E6DD-5EBC-D74C-187E-A3C71F935E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C9AD67-EBE1-7331-71E4-EC385725F8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E99096-A790-5AE7-236A-5756DEC728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A5F554-B7A9-40E5-8510-215852B06957}" type="datetimeFigureOut">
              <a:rPr lang="en-US" smtClean="0"/>
              <a:t>2/19/2025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EBE469-DDD8-8128-F5D7-1F100A33B8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2A1E88-B455-7E8A-C882-FA7207776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61435-D470-4816-83C8-58F7CF00B1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04197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520A01-58AD-F7FA-C974-F46242DC4D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E54B4C-E33C-50DA-89E9-41BC48BF34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E78996-9B1B-3462-984C-F72F89B66C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E705B0B-D225-1248-F2A9-FDDC90E46BD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D138397-46D7-887F-0084-9CAC2BAA627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8D36A3-F159-1F3E-5D75-D1154D6DCC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A5F554-B7A9-40E5-8510-215852B06957}" type="datetimeFigureOut">
              <a:rPr lang="en-US" smtClean="0"/>
              <a:t>2/19/2025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EFBFF14-09DA-BA91-FD5E-927ADEB36F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3E65EF1-A0C7-99AC-404A-3728BF48EB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61435-D470-4816-83C8-58F7CF00B1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63455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D4A5EA-0A3F-DBDC-8AD6-FC451AB1D0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B87A230-7527-06B2-B2CF-23B7E419E1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A5F554-B7A9-40E5-8510-215852B06957}" type="datetimeFigureOut">
              <a:rPr lang="en-US" smtClean="0"/>
              <a:t>2/19/2025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331A4B-B74D-0D25-9EF8-92914C90B5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B588FB-63A8-8A01-4684-F2C8E1737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61435-D470-4816-83C8-58F7CF00B1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194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6274FD0-3689-F924-0E23-5D9404167E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A5F554-B7A9-40E5-8510-215852B06957}" type="datetimeFigureOut">
              <a:rPr lang="en-US" smtClean="0"/>
              <a:t>2/19/2025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53541C6-2F5A-B54F-56A8-D56D19876D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5A1346-6059-C716-BA8F-9BFEB6AB4C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61435-D470-4816-83C8-58F7CF00B1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16180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D2C4EC-0F87-07BB-925C-D7130825DF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CBD8D4-B8AE-1F1F-D6F8-7A9E3C6353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83EC92-753A-0009-D837-97DB49B554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A97CF0-2EE8-DE54-5DF4-E6F4196F60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A5F554-B7A9-40E5-8510-215852B06957}" type="datetimeFigureOut">
              <a:rPr lang="en-US" smtClean="0"/>
              <a:t>2/19/2025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87C37A-157E-D52F-9CEC-C8EEFC4BE9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271794-CD15-5F80-C1B4-5B3A43949B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61435-D470-4816-83C8-58F7CF00B1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24660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B127BE-CCF7-F3B9-D54D-DBF1A70B6F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77371A5-02C5-8B34-3D99-1EBC1D134B7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FBDE24-1BD1-9F85-6C61-2F833B6063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61AFA7-C3DB-3CF8-3AE5-6622A6EAFA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A5F554-B7A9-40E5-8510-215852B06957}" type="datetimeFigureOut">
              <a:rPr lang="en-US" smtClean="0"/>
              <a:t>2/19/2025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356AFC-F773-E120-5D66-F575317508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3EA14D-CC97-7F46-0655-3FF238EDCD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61435-D470-4816-83C8-58F7CF00B1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1199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E1C4A3-0492-6FF0-F9A8-41233AB4B6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D3A12A-854F-CD67-8AC8-FEAEAD00FD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42A734-4AE5-38DD-C31F-E312C054B9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A5F554-B7A9-40E5-8510-215852B06957}" type="datetimeFigureOut">
              <a:rPr lang="en-US" smtClean="0"/>
              <a:t>2/19/2025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3901A8-8F1E-1474-EFA6-0B065EBCBC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A7D0E6-C72B-F81A-859F-406FDE4639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61435-D470-4816-83C8-58F7CF00B1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4248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8645B14-F4DF-6FF8-D596-700DF53BA67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8EDFEB-C45A-B18B-901C-36CADBD2B7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68C780-B919-D096-6F4F-A0C644D557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A5F554-B7A9-40E5-8510-215852B06957}" type="datetimeFigureOut">
              <a:rPr lang="en-US" smtClean="0"/>
              <a:t>2/19/2025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4B879B-9BDF-AC1A-BC48-0B26132F52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23B6DD-0184-B2F9-E40B-4AA413D327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61435-D470-4816-83C8-58F7CF00B1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4386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C3B2EB-EDF4-1D0C-1E55-BCD1003622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C6B6817-1219-8346-27CC-3D4127BEE9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F07AE1-2D00-B4F6-320A-FBC41EFDE1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C62D3-59F2-4443-BB86-5657E3837175}" type="datetimeFigureOut">
              <a:rPr lang="en-GB" smtClean="0"/>
              <a:t>19/02/2025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F27694-F06D-5D90-63E4-F381C21088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582CF0-8321-8EEC-D477-AF176E3A44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28A609-D32D-489C-907D-46177999DD6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2588386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C850BE-2CBC-D2B5-92B7-EB28F7DED0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E7AE18-E4CF-E30D-169E-D83FF6D2F7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A48DF5-751A-1B04-D5BE-ECB21B61D1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C62D3-59F2-4443-BB86-5657E3837175}" type="datetimeFigureOut">
              <a:rPr lang="en-GB" smtClean="0"/>
              <a:t>19/02/2025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2993AF-0B34-42E2-3032-09830A553D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61BD79-0BD2-8A7B-A747-2E7993BE96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28A609-D32D-489C-907D-46177999DD6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1497862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CEB72B-CA55-552D-E7F2-2EBFF3CF84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C98408-1C14-F543-E76A-4DE9F0C9E0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1276A2-D244-D022-D7B9-F29170C0F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C62D3-59F2-4443-BB86-5657E3837175}" type="datetimeFigureOut">
              <a:rPr lang="en-GB" smtClean="0"/>
              <a:t>19/02/2025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690843-B9A7-4E7A-C213-130AA7A079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A0DA14-E2D4-4650-5C38-B6EB73BF89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28A609-D32D-489C-907D-46177999DD6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846106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E37208-E641-F5AC-3356-EF1E5062F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FE0757-1E80-F668-1B6D-0D94F997C58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EBF9E2-CA4A-6DCD-D096-2FC10B5C24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CE94CE-1F6D-E8DD-5439-F24DE15E70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C62D3-59F2-4443-BB86-5657E3837175}" type="datetimeFigureOut">
              <a:rPr lang="en-GB" smtClean="0"/>
              <a:t>19/02/2025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8AE44B-65C2-CA46-1016-727658FD41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B4A9F4-0F50-A30F-B788-5C0EDC19C8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28A609-D32D-489C-907D-46177999DD6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5573175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C149E-466E-A9DA-3C33-A3C58FDC95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9F6298-34B4-0F48-1165-C578C956A0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991C84-998D-F85C-301E-7AC4C37309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B90B795-75AB-DCF1-917C-DD2DDAD01F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A84FBEE-4678-810F-00C2-23A8A6D0505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25A4067-DDAB-9C18-C174-949A07A7EE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C62D3-59F2-4443-BB86-5657E3837175}" type="datetimeFigureOut">
              <a:rPr lang="en-GB" smtClean="0"/>
              <a:t>19/02/2025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1243824-2FFE-8AE7-7775-5433F3E17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9611E2B-85F7-E15E-02FA-DCD1EECFAA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28A609-D32D-489C-907D-46177999DD6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5946140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BF78B5-7463-0C2F-C337-F97E266EE6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172DC28-8E7C-9EC8-FDC2-6152373413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C62D3-59F2-4443-BB86-5657E3837175}" type="datetimeFigureOut">
              <a:rPr lang="en-GB" smtClean="0"/>
              <a:t>19/02/2025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E1F65FE-0F8E-3652-9F35-3D6D46723A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9BD61F4-2B28-882A-69DB-99F3555419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28A609-D32D-489C-907D-46177999DD6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8853013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A282A27-FD54-82B1-643B-9727EBD2BE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C62D3-59F2-4443-BB86-5657E3837175}" type="datetimeFigureOut">
              <a:rPr lang="en-GB" smtClean="0"/>
              <a:t>19/02/2025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6B5BF30-267C-1992-C1CA-138826AF18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FEEA4F-2E31-6455-C3A0-516D0EA9F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28A609-D32D-489C-907D-46177999DD6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5329512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938183-937E-B2D6-3C48-BE5E8C0CAF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B89D89-EF21-CC06-B881-DA7513434B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5012F4-631D-9FB6-1ABF-8947135C8A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AF0877-070D-4716-6C7D-D8E55E5DC2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C62D3-59F2-4443-BB86-5657E3837175}" type="datetimeFigureOut">
              <a:rPr lang="en-GB" smtClean="0"/>
              <a:t>19/02/2025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FCB372-9831-6E2F-3D73-909736667C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4C0642-5968-D051-FD89-A5D5DF15D0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28A609-D32D-489C-907D-46177999DD6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4925436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80E59D-861D-D10C-D641-41E65AC860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6B1ABE3-0918-4BD4-EE0B-0FD941F6106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0A5FEBF-5260-355A-93A6-2898083D0C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7F6826-A618-D9F4-8B89-1E800C14C8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C62D3-59F2-4443-BB86-5657E3837175}" type="datetimeFigureOut">
              <a:rPr lang="en-GB" smtClean="0"/>
              <a:t>19/02/2025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563698-DB6C-93A1-5FAF-DD2F8D6092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766A59-0037-918A-5EAD-4B16E40E5B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28A609-D32D-489C-907D-46177999DD6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3749161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BEBCEA-1ED6-A866-6550-7DC506CEB7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A3A55ED-2764-739C-8808-EAFADD1B7F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3BEE74-067F-5A91-5E90-C089E3449B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C62D3-59F2-4443-BB86-5657E3837175}" type="datetimeFigureOut">
              <a:rPr lang="en-GB" smtClean="0"/>
              <a:t>19/02/2025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62C6DD-C528-27A5-6624-38E9E32AA3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E393D8-A991-B3AF-8922-E92A07110B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28A609-D32D-489C-907D-46177999DD6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6944418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B09DA59-E319-0998-3252-98B79110560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3D4BF4E-962C-EE75-E8BC-36A288E69A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7D51B2-207E-6D84-5441-CFA878A297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C62D3-59F2-4443-BB86-5657E3837175}" type="datetimeFigureOut">
              <a:rPr lang="en-GB" smtClean="0"/>
              <a:t>19/02/2025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799E3E-597D-1528-18B8-3129D6A583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C4727E-5673-E903-0EA6-55CB7AB4CA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28A609-D32D-489C-907D-46177999DD6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350574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EAD3815-820F-FD4D-868B-7B8BD7E7F1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014E6A-5F9F-96A0-CEC5-3E03AFE39A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47716F-494B-506F-516E-0299A43FA6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1A5F554-B7A9-40E5-8510-215852B06957}" type="datetimeFigureOut">
              <a:rPr lang="en-US" smtClean="0"/>
              <a:t>2/19/2025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E9AA78-2B3F-612E-19CA-326A3D41D1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CAE5F7-7065-2222-969F-58C837390A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0761435-D470-4816-83C8-58F7CF00B1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97570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F7510DA-37D0-6F38-8AAF-5885DE4261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34A5B2-FECB-9C5C-20D0-78E623B285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8AA803-3811-493A-9DDC-84CAEBB5965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3C62D3-59F2-4443-BB86-5657E3837175}" type="datetimeFigureOut">
              <a:rPr lang="en-GB" smtClean="0"/>
              <a:t>19/02/2025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696463-D237-111A-1888-E551E2738F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25C9B2-ACC7-AC17-0F18-6E265E96BA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28A609-D32D-489C-907D-46177999DD6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013714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3">
            <a:extLst>
              <a:ext uri="{FF2B5EF4-FFF2-40B4-BE49-F238E27FC236}">
                <a16:creationId xmlns:a16="http://schemas.microsoft.com/office/drawing/2014/main" id="{4E46C23F-3594-9181-6D6E-892DF29D1AE2}"/>
              </a:ext>
            </a:extLst>
          </p:cNvPr>
          <p:cNvGrpSpPr/>
          <p:nvPr/>
        </p:nvGrpSpPr>
        <p:grpSpPr>
          <a:xfrm>
            <a:off x="9078418" y="19165"/>
            <a:ext cx="2918762" cy="2863796"/>
            <a:chOff x="9078418" y="19165"/>
            <a:chExt cx="2918762" cy="2863796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0C14741C-AFD2-4727-46E5-4FA74C54B89B}"/>
                </a:ext>
              </a:extLst>
            </p:cNvPr>
            <p:cNvGrpSpPr/>
            <p:nvPr/>
          </p:nvGrpSpPr>
          <p:grpSpPr>
            <a:xfrm>
              <a:off x="9078418" y="19165"/>
              <a:ext cx="2918762" cy="2863796"/>
              <a:chOff x="8295992" y="895547"/>
              <a:chExt cx="3336683" cy="3384222"/>
            </a:xfrm>
          </p:grpSpPr>
          <p:grpSp>
            <p:nvGrpSpPr>
              <p:cNvPr id="6" name="Group 5">
                <a:extLst>
                  <a:ext uri="{FF2B5EF4-FFF2-40B4-BE49-F238E27FC236}">
                    <a16:creationId xmlns:a16="http://schemas.microsoft.com/office/drawing/2014/main" id="{208E769B-17F0-E2F9-498A-FAF37231A5EC}"/>
                  </a:ext>
                </a:extLst>
              </p:cNvPr>
              <p:cNvGrpSpPr/>
              <p:nvPr/>
            </p:nvGrpSpPr>
            <p:grpSpPr>
              <a:xfrm>
                <a:off x="8295992" y="923827"/>
                <a:ext cx="3336683" cy="3355942"/>
                <a:chOff x="8295992" y="923827"/>
                <a:chExt cx="3336683" cy="3355942"/>
              </a:xfrm>
            </p:grpSpPr>
            <p:pic>
              <p:nvPicPr>
                <p:cNvPr id="1026" name="Picture 2">
                  <a:extLst>
                    <a:ext uri="{FF2B5EF4-FFF2-40B4-BE49-F238E27FC236}">
                      <a16:creationId xmlns:a16="http://schemas.microsoft.com/office/drawing/2014/main" id="{4FAA3CE4-6BD8-3291-C6BD-39705D894AAF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38496" r="2268" b="4193"/>
                <a:stretch/>
              </p:blipFill>
              <p:spPr bwMode="auto">
                <a:xfrm>
                  <a:off x="8295992" y="923827"/>
                  <a:ext cx="3336683" cy="3355942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sp>
              <p:nvSpPr>
                <p:cNvPr id="5" name="Rectangle 4">
                  <a:extLst>
                    <a:ext uri="{FF2B5EF4-FFF2-40B4-BE49-F238E27FC236}">
                      <a16:creationId xmlns:a16="http://schemas.microsoft.com/office/drawing/2014/main" id="{2916D6FC-C31A-85E1-4917-886D737FE9CA}"/>
                    </a:ext>
                  </a:extLst>
                </p:cNvPr>
                <p:cNvSpPr/>
                <p:nvPr/>
              </p:nvSpPr>
              <p:spPr>
                <a:xfrm>
                  <a:off x="8295992" y="3959258"/>
                  <a:ext cx="357814" cy="320511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EA61F131-5BFB-4E0E-1C54-053015CB715A}"/>
                  </a:ext>
                </a:extLst>
              </p:cNvPr>
              <p:cNvSpPr/>
              <p:nvPr/>
            </p:nvSpPr>
            <p:spPr>
              <a:xfrm>
                <a:off x="8295992" y="895547"/>
                <a:ext cx="357814" cy="320511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551A24E3-8ED5-5AA1-0D94-63F6EDC5D0E4}"/>
                </a:ext>
              </a:extLst>
            </p:cNvPr>
            <p:cNvSpPr/>
            <p:nvPr/>
          </p:nvSpPr>
          <p:spPr>
            <a:xfrm>
              <a:off x="11395150" y="51673"/>
              <a:ext cx="580040" cy="74703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9D1BA757-F95F-1432-7B2D-C8A653A6B3E0}"/>
              </a:ext>
            </a:extLst>
          </p:cNvPr>
          <p:cNvSpPr txBox="1"/>
          <p:nvPr/>
        </p:nvSpPr>
        <p:spPr>
          <a:xfrm>
            <a:off x="0" y="139095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sng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Comparative morphology of artiodactyl metacarpal bones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7C3D361-7DAA-ABF8-53E9-DED10CFE4220}"/>
              </a:ext>
            </a:extLst>
          </p:cNvPr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noFill/>
          <a:ln w="762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261E2CD-7ABC-20A2-0AF6-414BF73D5C93}"/>
              </a:ext>
            </a:extLst>
          </p:cNvPr>
          <p:cNvSpPr txBox="1"/>
          <p:nvPr/>
        </p:nvSpPr>
        <p:spPr>
          <a:xfrm>
            <a:off x="216810" y="716431"/>
            <a:ext cx="8953086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Form groups of 2-3 persons with at least 1 computer connected to the internet / team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Read carefully the introduction to understand key concepts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For each task, use specimens available on the table.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Only bring one specimen at a time to your table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82867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Task 1 (metacarpal shape): Read and follow instructions, measure bone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length (L)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and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breath (B)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fill in the template excel spreadsheet and copy-paste your results (measurements + graph) in the google spreadsheet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Task 2 (Joint scaling): Read and follow instructions, measure epiphysis medio-lateral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width (W)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and antero-posterior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diameter (D)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fill in the template excel spreadsheet and copy-paste your results (measurements + graph) in the google spreadsheet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BC87FD1-8738-F052-5F33-301EF291BB3D}"/>
              </a:ext>
            </a:extLst>
          </p:cNvPr>
          <p:cNvSpPr txBox="1"/>
          <p:nvPr/>
        </p:nvSpPr>
        <p:spPr>
          <a:xfrm>
            <a:off x="11090216" y="2748128"/>
            <a:ext cx="103265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900" b="0" i="1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Doube</a:t>
            </a:r>
            <a:r>
              <a:rPr kumimoji="0" lang="fr-FR" sz="900" b="0" i="1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et al., 2018</a:t>
            </a:r>
            <a:endParaRPr kumimoji="0" lang="en-GB" sz="900" b="0" i="1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0" name="Picture 9" descr="Metapodial">
            <a:extLst>
              <a:ext uri="{FF2B5EF4-FFF2-40B4-BE49-F238E27FC236}">
                <a16:creationId xmlns:a16="http://schemas.microsoft.com/office/drawing/2014/main" id="{FAF62E81-F05E-D29B-7088-004E5CFD569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98"/>
          <a:stretch>
            <a:fillRect/>
          </a:stretch>
        </p:blipFill>
        <p:spPr bwMode="auto">
          <a:xfrm>
            <a:off x="9859945" y="3442245"/>
            <a:ext cx="2032900" cy="306344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Picture 10" descr="INTRODUCTION TO ARTIODACTYLA (even-toed ungulates) Ungulates (meaning  roughly &quot;being hoofed&quot; or &quot;hoofed animal&amp;qu">
            <a:extLst>
              <a:ext uri="{FF2B5EF4-FFF2-40B4-BE49-F238E27FC236}">
                <a16:creationId xmlns:a16="http://schemas.microsoft.com/office/drawing/2014/main" id="{8225352D-D3E4-04A3-BD65-61FD0C736440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79870" y="4805749"/>
            <a:ext cx="2460781" cy="2087630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7FD857B1-B01B-8BFB-CC91-8681CFD5E22E}"/>
              </a:ext>
            </a:extLst>
          </p:cNvPr>
          <p:cNvSpPr txBox="1"/>
          <p:nvPr/>
        </p:nvSpPr>
        <p:spPr>
          <a:xfrm>
            <a:off x="9906744" y="3125363"/>
            <a:ext cx="179408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1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(articulate with hand bones)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1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Proximal epiphyses 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23FDBDD-51D0-FB76-17E6-5DC065E393F3}"/>
              </a:ext>
            </a:extLst>
          </p:cNvPr>
          <p:cNvSpPr txBox="1"/>
          <p:nvPr/>
        </p:nvSpPr>
        <p:spPr>
          <a:xfrm>
            <a:off x="10134810" y="6384540"/>
            <a:ext cx="1611339" cy="4462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Distal epiphysis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1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(articulate with fingers) 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9FC2F318-2A2B-9BE8-BDB6-C300F2E7C183}"/>
              </a:ext>
            </a:extLst>
          </p:cNvPr>
          <p:cNvCxnSpPr>
            <a:cxnSpLocks/>
          </p:cNvCxnSpPr>
          <p:nvPr/>
        </p:nvCxnSpPr>
        <p:spPr>
          <a:xfrm flipH="1">
            <a:off x="10537799" y="3492578"/>
            <a:ext cx="170721" cy="15693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5D7F9AED-C39D-9771-4059-9887C4A9AF70}"/>
              </a:ext>
            </a:extLst>
          </p:cNvPr>
          <p:cNvCxnSpPr>
            <a:cxnSpLocks/>
          </p:cNvCxnSpPr>
          <p:nvPr/>
        </p:nvCxnSpPr>
        <p:spPr>
          <a:xfrm>
            <a:off x="11026709" y="3517128"/>
            <a:ext cx="150277" cy="1265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A3E2A87-269A-AD6A-873A-C70D083D3160}"/>
              </a:ext>
            </a:extLst>
          </p:cNvPr>
          <p:cNvCxnSpPr>
            <a:cxnSpLocks/>
          </p:cNvCxnSpPr>
          <p:nvPr/>
        </p:nvCxnSpPr>
        <p:spPr>
          <a:xfrm>
            <a:off x="10613257" y="6096304"/>
            <a:ext cx="190527" cy="33053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3D73DA79-C2D2-42B6-DA3D-C49A75EB4DEE}"/>
              </a:ext>
            </a:extLst>
          </p:cNvPr>
          <p:cNvCxnSpPr>
            <a:cxnSpLocks/>
          </p:cNvCxnSpPr>
          <p:nvPr/>
        </p:nvCxnSpPr>
        <p:spPr>
          <a:xfrm flipH="1">
            <a:off x="11026709" y="6096304"/>
            <a:ext cx="150277" cy="33053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D7A41CED-93EF-1D03-4D3B-A05B204C381E}"/>
              </a:ext>
            </a:extLst>
          </p:cNvPr>
          <p:cNvCxnSpPr>
            <a:cxnSpLocks/>
          </p:cNvCxnSpPr>
          <p:nvPr/>
        </p:nvCxnSpPr>
        <p:spPr>
          <a:xfrm>
            <a:off x="10045718" y="4554245"/>
            <a:ext cx="257767" cy="11917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98F0C2B8-48D5-E702-DC25-DD6A6BE6D22B}"/>
              </a:ext>
            </a:extLst>
          </p:cNvPr>
          <p:cNvSpPr txBox="1"/>
          <p:nvPr/>
        </p:nvSpPr>
        <p:spPr>
          <a:xfrm>
            <a:off x="9682899" y="4321918"/>
            <a:ext cx="48282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1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Shaft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A6A6621-6505-53A2-BAE0-63F52A58B893}"/>
              </a:ext>
            </a:extLst>
          </p:cNvPr>
          <p:cNvSpPr txBox="1"/>
          <p:nvPr/>
        </p:nvSpPr>
        <p:spPr>
          <a:xfrm>
            <a:off x="10023399" y="148200"/>
            <a:ext cx="89563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CABC0C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Humerus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280F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Radius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C000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Ulna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AD00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Metacarpal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0D22A95-2CB5-0B43-9057-45257A682CB1}"/>
              </a:ext>
            </a:extLst>
          </p:cNvPr>
          <p:cNvSpPr txBox="1"/>
          <p:nvPr/>
        </p:nvSpPr>
        <p:spPr>
          <a:xfrm>
            <a:off x="11019407" y="240533"/>
            <a:ext cx="85735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D835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Femur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E86F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Tibia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9B06F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Metatarsal</a:t>
            </a: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B5A7BD00-DE41-3D3E-CA47-838B48F5E504}"/>
              </a:ext>
            </a:extLst>
          </p:cNvPr>
          <p:cNvGrpSpPr/>
          <p:nvPr/>
        </p:nvGrpSpPr>
        <p:grpSpPr>
          <a:xfrm>
            <a:off x="6967537" y="4669722"/>
            <a:ext cx="1943345" cy="276999"/>
            <a:chOff x="6967537" y="6569545"/>
            <a:chExt cx="1943345" cy="276999"/>
          </a:xfrm>
        </p:grpSpPr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EC524871-CE68-F1F2-67B9-C13C599BE792}"/>
                </a:ext>
              </a:extLst>
            </p:cNvPr>
            <p:cNvSpPr txBox="1"/>
            <p:nvPr/>
          </p:nvSpPr>
          <p:spPr>
            <a:xfrm>
              <a:off x="6967537" y="6569545"/>
              <a:ext cx="37863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Pig</a:t>
              </a:r>
              <a:endParaRPr kumimoji="0" lang="en-US" sz="1100" b="0" i="1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12B91756-2C1A-24DF-7F94-D8EA765C361A}"/>
                </a:ext>
              </a:extLst>
            </p:cNvPr>
            <p:cNvSpPr txBox="1"/>
            <p:nvPr/>
          </p:nvSpPr>
          <p:spPr>
            <a:xfrm>
              <a:off x="7596528" y="6569545"/>
              <a:ext cx="57419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Camel</a:t>
              </a:r>
              <a:endParaRPr kumimoji="0" lang="en-US" sz="1100" b="0" i="1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F7865FA6-D10F-2151-16E6-AE2187F6FD76}"/>
                </a:ext>
              </a:extLst>
            </p:cNvPr>
            <p:cNvSpPr txBox="1"/>
            <p:nvPr/>
          </p:nvSpPr>
          <p:spPr>
            <a:xfrm>
              <a:off x="8431263" y="6569545"/>
              <a:ext cx="47961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Deer</a:t>
              </a:r>
              <a:endParaRPr kumimoji="0" lang="en-US" sz="1100" b="0" i="1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D9E445FB-1BA2-BE21-B4B0-A686D0463DAA}"/>
              </a:ext>
            </a:extLst>
          </p:cNvPr>
          <p:cNvGraphicFramePr>
            <a:graphicFrameLocks noGrp="1"/>
          </p:cNvGraphicFramePr>
          <p:nvPr/>
        </p:nvGraphicFramePr>
        <p:xfrm>
          <a:off x="112164" y="4965546"/>
          <a:ext cx="6572337" cy="133581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65604">
                  <a:extLst>
                    <a:ext uri="{9D8B030D-6E8A-4147-A177-3AD203B41FA5}">
                      <a16:colId xmlns:a16="http://schemas.microsoft.com/office/drawing/2014/main" val="2085065700"/>
                    </a:ext>
                  </a:extLst>
                </a:gridCol>
                <a:gridCol w="950030">
                  <a:extLst>
                    <a:ext uri="{9D8B030D-6E8A-4147-A177-3AD203B41FA5}">
                      <a16:colId xmlns:a16="http://schemas.microsoft.com/office/drawing/2014/main" val="1705102257"/>
                    </a:ext>
                  </a:extLst>
                </a:gridCol>
                <a:gridCol w="735884">
                  <a:extLst>
                    <a:ext uri="{9D8B030D-6E8A-4147-A177-3AD203B41FA5}">
                      <a16:colId xmlns:a16="http://schemas.microsoft.com/office/drawing/2014/main" val="537054625"/>
                    </a:ext>
                  </a:extLst>
                </a:gridCol>
                <a:gridCol w="735884">
                  <a:extLst>
                    <a:ext uri="{9D8B030D-6E8A-4147-A177-3AD203B41FA5}">
                      <a16:colId xmlns:a16="http://schemas.microsoft.com/office/drawing/2014/main" val="1952378451"/>
                    </a:ext>
                  </a:extLst>
                </a:gridCol>
                <a:gridCol w="922775">
                  <a:extLst>
                    <a:ext uri="{9D8B030D-6E8A-4147-A177-3AD203B41FA5}">
                      <a16:colId xmlns:a16="http://schemas.microsoft.com/office/drawing/2014/main" val="81344440"/>
                    </a:ext>
                  </a:extLst>
                </a:gridCol>
                <a:gridCol w="918880">
                  <a:extLst>
                    <a:ext uri="{9D8B030D-6E8A-4147-A177-3AD203B41FA5}">
                      <a16:colId xmlns:a16="http://schemas.microsoft.com/office/drawing/2014/main" val="311626493"/>
                    </a:ext>
                  </a:extLst>
                </a:gridCol>
                <a:gridCol w="689161">
                  <a:extLst>
                    <a:ext uri="{9D8B030D-6E8A-4147-A177-3AD203B41FA5}">
                      <a16:colId xmlns:a16="http://schemas.microsoft.com/office/drawing/2014/main" val="84493167"/>
                    </a:ext>
                  </a:extLst>
                </a:gridCol>
                <a:gridCol w="654119">
                  <a:extLst>
                    <a:ext uri="{9D8B030D-6E8A-4147-A177-3AD203B41FA5}">
                      <a16:colId xmlns:a16="http://schemas.microsoft.com/office/drawing/2014/main" val="1920438071"/>
                    </a:ext>
                  </a:extLst>
                </a:gridCol>
              </a:tblGrid>
              <a:tr h="259881">
                <a:tc>
                  <a:txBody>
                    <a:bodyPr/>
                    <a:lstStyle/>
                    <a:p>
                      <a:pPr algn="l" fontAlgn="b"/>
                      <a:r>
                        <a:rPr lang="en-GB" sz="1300" u="sng" strike="noStrike">
                          <a:effectLst/>
                        </a:rPr>
                        <a:t>Small sheep</a:t>
                      </a:r>
                      <a:endParaRPr lang="en-GB" sz="1300" b="1" i="0" u="sng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300" u="sng" strike="noStrike">
                          <a:effectLst/>
                        </a:rPr>
                        <a:t>Large sheep</a:t>
                      </a:r>
                      <a:endParaRPr lang="en-GB" sz="1300" b="1" i="0" u="sng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300" u="sng" strike="noStrike">
                          <a:effectLst/>
                        </a:rPr>
                        <a:t>Roe deer</a:t>
                      </a:r>
                      <a:endParaRPr lang="en-GB" sz="1300" b="1" i="0" u="sng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300" u="sng" strike="noStrike">
                          <a:effectLst/>
                        </a:rPr>
                        <a:t>Red deer</a:t>
                      </a:r>
                      <a:endParaRPr lang="en-GB" sz="1300" b="1" i="0" u="sng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300" u="sng" strike="noStrike">
                          <a:effectLst/>
                        </a:rPr>
                        <a:t>Small cattle</a:t>
                      </a:r>
                      <a:endParaRPr lang="en-GB" sz="1300" b="1" i="0" u="sng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300" u="sng" strike="noStrike">
                          <a:effectLst/>
                        </a:rPr>
                        <a:t>Large cattle</a:t>
                      </a:r>
                      <a:endParaRPr lang="en-GB" sz="1300" b="1" i="0" u="sng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300" u="sng" strike="noStrike">
                          <a:effectLst/>
                        </a:rPr>
                        <a:t>Moose</a:t>
                      </a:r>
                      <a:endParaRPr lang="en-GB" sz="1300" b="1" i="0" u="sng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300" u="sng" strike="noStrike">
                          <a:effectLst/>
                        </a:rPr>
                        <a:t>Giraffe</a:t>
                      </a:r>
                      <a:endParaRPr lang="en-GB" sz="1300" b="1" i="0" u="sng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407636029"/>
                  </a:ext>
                </a:extLst>
              </a:tr>
              <a:tr h="259881">
                <a:tc>
                  <a:txBody>
                    <a:bodyPr/>
                    <a:lstStyle/>
                    <a:p>
                      <a:pPr algn="l" fontAlgn="b"/>
                      <a:r>
                        <a:rPr lang="en-GB" sz="1300" u="none" strike="noStrike">
                          <a:effectLst/>
                        </a:rPr>
                        <a:t>Mu037a</a:t>
                      </a:r>
                      <a:endParaRPr lang="en-GB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300" u="none" strike="noStrike">
                          <a:effectLst/>
                        </a:rPr>
                        <a:t>Mu036a</a:t>
                      </a:r>
                      <a:endParaRPr lang="en-GB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300" u="none" strike="noStrike">
                          <a:effectLst/>
                        </a:rPr>
                        <a:t>Mu026</a:t>
                      </a:r>
                      <a:endParaRPr lang="en-GB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300" u="none" strike="noStrike">
                          <a:effectLst/>
                        </a:rPr>
                        <a:t>Mu501</a:t>
                      </a:r>
                      <a:endParaRPr lang="en-GB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300" u="none" strike="noStrike">
                          <a:effectLst/>
                        </a:rPr>
                        <a:t>Mu554a</a:t>
                      </a:r>
                      <a:endParaRPr lang="en-GB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300" u="none" strike="noStrike">
                          <a:effectLst/>
                        </a:rPr>
                        <a:t>Mu084</a:t>
                      </a:r>
                      <a:endParaRPr lang="en-GB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300" u="none" strike="noStrike">
                          <a:effectLst/>
                        </a:rPr>
                        <a:t>Mu 196a</a:t>
                      </a:r>
                      <a:endParaRPr lang="en-GB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300" u="none" strike="noStrike">
                          <a:effectLst/>
                        </a:rPr>
                        <a:t>Mu101a</a:t>
                      </a:r>
                      <a:endParaRPr lang="en-GB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542492083"/>
                  </a:ext>
                </a:extLst>
              </a:tr>
              <a:tr h="296295">
                <a:tc>
                  <a:txBody>
                    <a:bodyPr/>
                    <a:lstStyle/>
                    <a:p>
                      <a:pPr algn="l" fontAlgn="b"/>
                      <a:r>
                        <a:rPr lang="en-GB" sz="1300" u="none" strike="noStrike">
                          <a:effectLst/>
                        </a:rPr>
                        <a:t>Mu037b</a:t>
                      </a:r>
                      <a:endParaRPr lang="en-GB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300" u="none" strike="noStrike">
                          <a:effectLst/>
                        </a:rPr>
                        <a:t>Mu036b</a:t>
                      </a:r>
                      <a:endParaRPr lang="en-GB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GB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GB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300" u="none" strike="noStrike">
                          <a:effectLst/>
                        </a:rPr>
                        <a:t>Mu554b</a:t>
                      </a:r>
                      <a:endParaRPr lang="en-GB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GB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300" u="none" strike="noStrike">
                          <a:effectLst/>
                        </a:rPr>
                        <a:t>Mu 196b</a:t>
                      </a:r>
                      <a:endParaRPr lang="en-GB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300" u="none" strike="noStrike">
                          <a:effectLst/>
                        </a:rPr>
                        <a:t>Mu101b</a:t>
                      </a:r>
                      <a:endParaRPr lang="en-GB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278532116"/>
                  </a:ext>
                </a:extLst>
              </a:tr>
              <a:tr h="259881">
                <a:tc>
                  <a:txBody>
                    <a:bodyPr/>
                    <a:lstStyle/>
                    <a:p>
                      <a:pPr algn="l" fontAlgn="b"/>
                      <a:r>
                        <a:rPr lang="en-GB" sz="1300" u="none" strike="noStrike">
                          <a:effectLst/>
                        </a:rPr>
                        <a:t>Mu038a</a:t>
                      </a:r>
                      <a:endParaRPr lang="en-GB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300" u="none" strike="noStrike">
                          <a:effectLst/>
                        </a:rPr>
                        <a:t>Mu499</a:t>
                      </a:r>
                      <a:endParaRPr lang="en-GB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GB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GB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300" u="none" strike="noStrike">
                          <a:effectLst/>
                        </a:rPr>
                        <a:t>Mu554c</a:t>
                      </a:r>
                      <a:endParaRPr lang="en-GB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GB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300" u="none" strike="noStrike">
                          <a:effectLst/>
                        </a:rPr>
                        <a:t>Mu 196c</a:t>
                      </a:r>
                      <a:endParaRPr lang="en-GB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300" u="none" strike="noStrike">
                          <a:effectLst/>
                        </a:rPr>
                        <a:t>Mu101c</a:t>
                      </a:r>
                      <a:endParaRPr lang="en-GB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315561199"/>
                  </a:ext>
                </a:extLst>
              </a:tr>
              <a:tr h="259881">
                <a:tc>
                  <a:txBody>
                    <a:bodyPr/>
                    <a:lstStyle/>
                    <a:p>
                      <a:pPr algn="l" fontAlgn="b"/>
                      <a:r>
                        <a:rPr lang="en-GB" sz="1300" u="none" strike="noStrike">
                          <a:effectLst/>
                        </a:rPr>
                        <a:t>Mu038b</a:t>
                      </a:r>
                      <a:endParaRPr lang="en-GB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GB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GB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GB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300" u="none" strike="noStrike">
                          <a:effectLst/>
                        </a:rPr>
                        <a:t>Mu554d</a:t>
                      </a:r>
                      <a:endParaRPr lang="en-GB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GB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GB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GB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4767290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580541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203</Words>
  <Application>Microsoft Office PowerPoint</Application>
  <PresentationFormat>Widescreen</PresentationFormat>
  <Paragraphs>54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Aptos</vt:lpstr>
      <vt:lpstr>Aptos Display</vt:lpstr>
      <vt:lpstr>Arial</vt:lpstr>
      <vt:lpstr>Calibri</vt:lpstr>
      <vt:lpstr>Calibri Light</vt:lpstr>
      <vt:lpstr>Office Theme</vt:lpstr>
      <vt:lpstr>1_Office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Amandine Gillet</dc:creator>
  <cp:lastModifiedBy>Amandine Gillet</cp:lastModifiedBy>
  <cp:revision>1</cp:revision>
  <dcterms:created xsi:type="dcterms:W3CDTF">2025-02-19T13:58:51Z</dcterms:created>
  <dcterms:modified xsi:type="dcterms:W3CDTF">2025-02-19T13:59:50Z</dcterms:modified>
</cp:coreProperties>
</file>