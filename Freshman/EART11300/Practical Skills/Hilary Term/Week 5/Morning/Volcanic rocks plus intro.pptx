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8" r:id="rId1"/>
  </p:sldMasterIdLst>
  <p:notesMasterIdLst>
    <p:notesMasterId r:id="rId13"/>
  </p:notesMasterIdLst>
  <p:sldIdLst>
    <p:sldId id="256" r:id="rId2"/>
    <p:sldId id="267" r:id="rId3"/>
    <p:sldId id="268" r:id="rId4"/>
    <p:sldId id="269" r:id="rId5"/>
    <p:sldId id="270" r:id="rId6"/>
    <p:sldId id="262" r:id="rId7"/>
    <p:sldId id="263" r:id="rId8"/>
    <p:sldId id="260"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y Kember" userId="b646f17a-5a31-4234-97e4-ac68e30a2d53" providerId="ADAL" clId="{9E1EE158-8B68-4B32-AAFD-AAD10AC8E196}"/>
    <pc:docChg chg="addSld delSld">
      <pc:chgData name="Amy Kember" userId="b646f17a-5a31-4234-97e4-ac68e30a2d53" providerId="ADAL" clId="{9E1EE158-8B68-4B32-AAFD-AAD10AC8E196}" dt="2025-02-27T09:49:57.504" v="3" actId="47"/>
      <pc:docMkLst>
        <pc:docMk/>
      </pc:docMkLst>
      <pc:sldChg chg="new del">
        <pc:chgData name="Amy Kember" userId="b646f17a-5a31-4234-97e4-ac68e30a2d53" providerId="ADAL" clId="{9E1EE158-8B68-4B32-AAFD-AAD10AC8E196}" dt="2025-02-27T09:49:02.316" v="2" actId="47"/>
        <pc:sldMkLst>
          <pc:docMk/>
          <pc:sldMk cId="2225745894" sldId="271"/>
        </pc:sldMkLst>
      </pc:sldChg>
      <pc:sldChg chg="new del">
        <pc:chgData name="Amy Kember" userId="b646f17a-5a31-4234-97e4-ac68e30a2d53" providerId="ADAL" clId="{9E1EE158-8B68-4B32-AAFD-AAD10AC8E196}" dt="2025-02-27T09:49:57.504" v="3" actId="47"/>
        <pc:sldMkLst>
          <pc:docMk/>
          <pc:sldMk cId="2507283787"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26BE21-BC0C-4C1E-BC7F-81D45E026947}" type="datetimeFigureOut">
              <a:rPr lang="en-GB" smtClean="0"/>
              <a:t>27/02/2025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B75E02-4769-44A6-BEF3-D1163291E71C}" type="slidenum">
              <a:rPr lang="en-GB" smtClean="0"/>
              <a:t>‹#›</a:t>
            </a:fld>
            <a:endParaRPr lang="en-GB"/>
          </a:p>
        </p:txBody>
      </p:sp>
    </p:spTree>
    <p:extLst>
      <p:ext uri="{BB962C8B-B14F-4D97-AF65-F5344CB8AC3E}">
        <p14:creationId xmlns:p14="http://schemas.microsoft.com/office/powerpoint/2010/main" val="2780425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this practical we are going to explore these two contrasting types of volcanism, in particular the tectonic settings where they occur, and with attention to the chemical and physical properties of magma (chemistry – silica content, volatile content; physics – viscosity)</a:t>
            </a:r>
          </a:p>
          <a:p>
            <a:r>
              <a:rPr lang="en-GB" dirty="0"/>
              <a:t>We will study direct visual observations of eruption styles as well as hand specimens of volcanic eruption products (next week will explore volcanic landforms and begin to think about volcanism from the perspective of hazards and risk to life/society)</a:t>
            </a:r>
          </a:p>
          <a:p>
            <a:endParaRPr lang="en-GB" dirty="0"/>
          </a:p>
        </p:txBody>
      </p:sp>
      <p:sp>
        <p:nvSpPr>
          <p:cNvPr id="4" name="Slide Number Placeholder 3"/>
          <p:cNvSpPr>
            <a:spLocks noGrp="1"/>
          </p:cNvSpPr>
          <p:nvPr>
            <p:ph type="sldNum" sz="quarter" idx="5"/>
          </p:nvPr>
        </p:nvSpPr>
        <p:spPr/>
        <p:txBody>
          <a:bodyPr/>
          <a:lstStyle/>
          <a:p>
            <a:fld id="{05B75E02-4769-44A6-BEF3-D1163291E71C}" type="slidenum">
              <a:rPr lang="en-GB" smtClean="0"/>
              <a:t>2</a:t>
            </a:fld>
            <a:endParaRPr lang="en-GB"/>
          </a:p>
        </p:txBody>
      </p:sp>
    </p:spTree>
    <p:extLst>
      <p:ext uri="{BB962C8B-B14F-4D97-AF65-F5344CB8AC3E}">
        <p14:creationId xmlns:p14="http://schemas.microsoft.com/office/powerpoint/2010/main" val="2332122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2/27/2025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004939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2/27/2025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644644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2/27/2025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722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2/27/2025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136330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2/27/2025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482886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2/27/2025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195413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2/27/2025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9104489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2/27/2025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874363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2/27/2025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576752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2/27/2025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7709388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2/27/2025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397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2/27/2025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647545"/>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1.jp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Molten lava erupts from the ground">
            <a:extLst>
              <a:ext uri="{FF2B5EF4-FFF2-40B4-BE49-F238E27FC236}">
                <a16:creationId xmlns:a16="http://schemas.microsoft.com/office/drawing/2014/main" id="{82BD459D-B794-0418-2F08-4AF747D4FAB8}"/>
              </a:ext>
            </a:extLst>
          </p:cNvPr>
          <p:cNvPicPr>
            <a:picLocks noChangeAspect="1"/>
          </p:cNvPicPr>
          <p:nvPr/>
        </p:nvPicPr>
        <p:blipFill>
          <a:blip r:embed="rId2"/>
          <a:srcRect t="15730"/>
          <a:stretch/>
        </p:blipFill>
        <p:spPr>
          <a:xfrm>
            <a:off x="20" y="10"/>
            <a:ext cx="12191979" cy="6857989"/>
          </a:xfrm>
          <a:prstGeom prst="rect">
            <a:avLst/>
          </a:prstGeom>
        </p:spPr>
      </p:pic>
      <p:sp>
        <p:nvSpPr>
          <p:cNvPr id="32" name="Rectangle 31">
            <a:extLst>
              <a:ext uri="{FF2B5EF4-FFF2-40B4-BE49-F238E27FC236}">
                <a16:creationId xmlns:a16="http://schemas.microsoft.com/office/drawing/2014/main" id="{9E9D00D9-C4F5-471E-BE2C-126CB112A6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6CEB6E-AB9F-F68F-290D-1543C4CA22D0}"/>
              </a:ext>
            </a:extLst>
          </p:cNvPr>
          <p:cNvSpPr>
            <a:spLocks noGrp="1"/>
          </p:cNvSpPr>
          <p:nvPr>
            <p:ph type="ctrTitle"/>
          </p:nvPr>
        </p:nvSpPr>
        <p:spPr>
          <a:xfrm>
            <a:off x="640079" y="914400"/>
            <a:ext cx="5652565" cy="3427867"/>
          </a:xfrm>
        </p:spPr>
        <p:txBody>
          <a:bodyPr anchor="t">
            <a:normAutofit/>
          </a:bodyPr>
          <a:lstStyle/>
          <a:p>
            <a:r>
              <a:rPr lang="en-GB" dirty="0">
                <a:solidFill>
                  <a:srgbClr val="FFFFFF"/>
                </a:solidFill>
              </a:rPr>
              <a:t>Volcanic </a:t>
            </a:r>
            <a:br>
              <a:rPr lang="en-GB" dirty="0">
                <a:solidFill>
                  <a:srgbClr val="FFFFFF"/>
                </a:solidFill>
              </a:rPr>
            </a:br>
            <a:r>
              <a:rPr lang="en-GB" dirty="0">
                <a:solidFill>
                  <a:srgbClr val="FFFFFF"/>
                </a:solidFill>
              </a:rPr>
              <a:t>Eruption </a:t>
            </a:r>
            <a:br>
              <a:rPr lang="en-GB" dirty="0">
                <a:solidFill>
                  <a:srgbClr val="FFFFFF"/>
                </a:solidFill>
              </a:rPr>
            </a:br>
            <a:r>
              <a:rPr lang="en-GB" dirty="0">
                <a:solidFill>
                  <a:srgbClr val="FFFFFF"/>
                </a:solidFill>
              </a:rPr>
              <a:t>Products </a:t>
            </a:r>
          </a:p>
        </p:txBody>
      </p:sp>
      <p:sp>
        <p:nvSpPr>
          <p:cNvPr id="3" name="Subtitle 2">
            <a:extLst>
              <a:ext uri="{FF2B5EF4-FFF2-40B4-BE49-F238E27FC236}">
                <a16:creationId xmlns:a16="http://schemas.microsoft.com/office/drawing/2014/main" id="{F4477111-5059-BF06-607E-6303FD7A2ED3}"/>
              </a:ext>
            </a:extLst>
          </p:cNvPr>
          <p:cNvSpPr>
            <a:spLocks noGrp="1"/>
          </p:cNvSpPr>
          <p:nvPr>
            <p:ph type="subTitle" idx="1"/>
          </p:nvPr>
        </p:nvSpPr>
        <p:spPr>
          <a:xfrm>
            <a:off x="650970" y="5253051"/>
            <a:ext cx="4892948" cy="812923"/>
          </a:xfrm>
        </p:spPr>
        <p:txBody>
          <a:bodyPr anchor="t">
            <a:normAutofit/>
          </a:bodyPr>
          <a:lstStyle/>
          <a:p>
            <a:r>
              <a:rPr lang="en-GB" dirty="0">
                <a:solidFill>
                  <a:srgbClr val="FFFFFF"/>
                </a:solidFill>
              </a:rPr>
              <a:t>EART11300 Semester 2</a:t>
            </a:r>
          </a:p>
        </p:txBody>
      </p:sp>
      <p:cxnSp>
        <p:nvCxnSpPr>
          <p:cNvPr id="34" name="Straight Connector 33">
            <a:extLst>
              <a:ext uri="{FF2B5EF4-FFF2-40B4-BE49-F238E27FC236}">
                <a16:creationId xmlns:a16="http://schemas.microsoft.com/office/drawing/2014/main" id="{97CC2FE6-3AD0-4131-B4BC-1F4D65E25E1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209" y="4861206"/>
            <a:ext cx="978862"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8" name="Picture 7" descr="A purple and yellow logo&#10;&#10;AI-generated content may be incorrect.">
            <a:extLst>
              <a:ext uri="{FF2B5EF4-FFF2-40B4-BE49-F238E27FC236}">
                <a16:creationId xmlns:a16="http://schemas.microsoft.com/office/drawing/2014/main" id="{1833DE75-02B4-34FA-624F-265B58193B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91677" y="254893"/>
            <a:ext cx="1655064" cy="701040"/>
          </a:xfrm>
          <a:prstGeom prst="rect">
            <a:avLst/>
          </a:prstGeom>
        </p:spPr>
      </p:pic>
    </p:spTree>
    <p:extLst>
      <p:ext uri="{BB962C8B-B14F-4D97-AF65-F5344CB8AC3E}">
        <p14:creationId xmlns:p14="http://schemas.microsoft.com/office/powerpoint/2010/main" val="1559106748"/>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8D742-4177-D30D-8219-74C0107811AC}"/>
              </a:ext>
            </a:extLst>
          </p:cNvPr>
          <p:cNvSpPr>
            <a:spLocks noGrp="1"/>
          </p:cNvSpPr>
          <p:nvPr>
            <p:ph type="title" idx="4294967295"/>
          </p:nvPr>
        </p:nvSpPr>
        <p:spPr>
          <a:xfrm>
            <a:off x="133814" y="100012"/>
            <a:ext cx="10891838" cy="1096963"/>
          </a:xfrm>
        </p:spPr>
        <p:txBody>
          <a:bodyPr>
            <a:normAutofit fontScale="90000"/>
          </a:bodyPr>
          <a:lstStyle/>
          <a:p>
            <a:r>
              <a:rPr lang="en-GB" dirty="0"/>
              <a:t>The Earth is home to hundreds of active volcanoes</a:t>
            </a:r>
          </a:p>
        </p:txBody>
      </p:sp>
      <p:pic>
        <p:nvPicPr>
          <p:cNvPr id="2050" name="Picture 2">
            <a:extLst>
              <a:ext uri="{FF2B5EF4-FFF2-40B4-BE49-F238E27FC236}">
                <a16:creationId xmlns:a16="http://schemas.microsoft.com/office/drawing/2014/main" id="{4FB2F6A2-09A7-6DF0-5D92-766FEF4D87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6543" y="968829"/>
            <a:ext cx="6963754" cy="437768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5CD20EF3-E39D-0C59-FAC4-65F2FC317A34}"/>
              </a:ext>
            </a:extLst>
          </p:cNvPr>
          <p:cNvPicPr>
            <a:picLocks noChangeAspect="1"/>
          </p:cNvPicPr>
          <p:nvPr/>
        </p:nvPicPr>
        <p:blipFill>
          <a:blip r:embed="rId4"/>
          <a:stretch>
            <a:fillRect/>
          </a:stretch>
        </p:blipFill>
        <p:spPr>
          <a:xfrm>
            <a:off x="112042" y="2065792"/>
            <a:ext cx="4692196" cy="4692196"/>
          </a:xfrm>
          <a:prstGeom prst="rect">
            <a:avLst/>
          </a:prstGeom>
        </p:spPr>
      </p:pic>
      <p:sp>
        <p:nvSpPr>
          <p:cNvPr id="5" name="TextBox 4">
            <a:extLst>
              <a:ext uri="{FF2B5EF4-FFF2-40B4-BE49-F238E27FC236}">
                <a16:creationId xmlns:a16="http://schemas.microsoft.com/office/drawing/2014/main" id="{B7066F19-BDBD-D252-EA0E-D4CAF019ADC1}"/>
              </a:ext>
            </a:extLst>
          </p:cNvPr>
          <p:cNvSpPr txBox="1"/>
          <p:nvPr/>
        </p:nvSpPr>
        <p:spPr>
          <a:xfrm>
            <a:off x="4996543" y="5427506"/>
            <a:ext cx="6963754" cy="923330"/>
          </a:xfrm>
          <a:prstGeom prst="rect">
            <a:avLst/>
          </a:prstGeom>
          <a:noFill/>
        </p:spPr>
        <p:txBody>
          <a:bodyPr wrap="square" rtlCol="0">
            <a:spAutoFit/>
          </a:bodyPr>
          <a:lstStyle/>
          <a:p>
            <a:r>
              <a:rPr lang="en-GB" dirty="0"/>
              <a:t>Today we are going to explore the links between volcanic eruption style, tectonic setting, magma composition, volatile content, and the products (rocks) generated in eruptions.</a:t>
            </a:r>
          </a:p>
        </p:txBody>
      </p:sp>
    </p:spTree>
    <p:extLst>
      <p:ext uri="{BB962C8B-B14F-4D97-AF65-F5344CB8AC3E}">
        <p14:creationId xmlns:p14="http://schemas.microsoft.com/office/powerpoint/2010/main" val="3698786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B5C18-2E51-5A30-CF08-CE22C6A9B631}"/>
              </a:ext>
            </a:extLst>
          </p:cNvPr>
          <p:cNvSpPr>
            <a:spLocks noGrp="1"/>
          </p:cNvSpPr>
          <p:nvPr>
            <p:ph type="title" idx="4294967295"/>
          </p:nvPr>
        </p:nvSpPr>
        <p:spPr>
          <a:xfrm>
            <a:off x="91440" y="91250"/>
            <a:ext cx="10891838" cy="1096962"/>
          </a:xfrm>
        </p:spPr>
        <p:txBody>
          <a:bodyPr/>
          <a:lstStyle/>
          <a:p>
            <a:r>
              <a:rPr lang="en-GB" dirty="0"/>
              <a:t>Tectonic setting and volcanism</a:t>
            </a:r>
          </a:p>
        </p:txBody>
      </p:sp>
      <p:pic>
        <p:nvPicPr>
          <p:cNvPr id="1030" name="Picture 6">
            <a:extLst>
              <a:ext uri="{FF2B5EF4-FFF2-40B4-BE49-F238E27FC236}">
                <a16:creationId xmlns:a16="http://schemas.microsoft.com/office/drawing/2014/main" id="{7B19073C-E393-EC5D-F670-B0B05FCD06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0286" y="1022048"/>
            <a:ext cx="9160781" cy="523265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7AC3756-3492-F686-A3CD-2DB63BB721B3}"/>
              </a:ext>
            </a:extLst>
          </p:cNvPr>
          <p:cNvSpPr txBox="1"/>
          <p:nvPr/>
        </p:nvSpPr>
        <p:spPr>
          <a:xfrm>
            <a:off x="206829" y="1959429"/>
            <a:ext cx="2209800" cy="2862322"/>
          </a:xfrm>
          <a:prstGeom prst="rect">
            <a:avLst/>
          </a:prstGeom>
          <a:noFill/>
        </p:spPr>
        <p:txBody>
          <a:bodyPr wrap="square" rtlCol="0">
            <a:spAutoFit/>
          </a:bodyPr>
          <a:lstStyle/>
          <a:p>
            <a:r>
              <a:rPr lang="en-GB" dirty="0"/>
              <a:t>Volcanism is a consequence of </a:t>
            </a:r>
            <a:r>
              <a:rPr lang="en-GB" b="1" dirty="0"/>
              <a:t>magma generation</a:t>
            </a:r>
            <a:r>
              <a:rPr lang="en-GB" dirty="0"/>
              <a:t>, i.e. partial melting of the solid mantle.</a:t>
            </a:r>
          </a:p>
          <a:p>
            <a:endParaRPr lang="en-GB" dirty="0"/>
          </a:p>
          <a:p>
            <a:r>
              <a:rPr lang="en-GB" dirty="0"/>
              <a:t>Magma is made by different processes in different tectonic settings.</a:t>
            </a:r>
          </a:p>
        </p:txBody>
      </p:sp>
    </p:spTree>
    <p:extLst>
      <p:ext uri="{BB962C8B-B14F-4D97-AF65-F5344CB8AC3E}">
        <p14:creationId xmlns:p14="http://schemas.microsoft.com/office/powerpoint/2010/main" val="9208148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8C952-B101-CF21-C0EC-7ACCDC48FFBB}"/>
              </a:ext>
            </a:extLst>
          </p:cNvPr>
          <p:cNvSpPr>
            <a:spLocks noGrp="1"/>
          </p:cNvSpPr>
          <p:nvPr>
            <p:ph type="title" idx="4294967295"/>
          </p:nvPr>
        </p:nvSpPr>
        <p:spPr>
          <a:xfrm>
            <a:off x="140637" y="199358"/>
            <a:ext cx="10891838" cy="1096963"/>
          </a:xfrm>
        </p:spPr>
        <p:txBody>
          <a:bodyPr>
            <a:normAutofit/>
          </a:bodyPr>
          <a:lstStyle/>
          <a:p>
            <a:r>
              <a:rPr lang="en-GB" sz="3600" dirty="0"/>
              <a:t>Magma chemistry &amp; physics</a:t>
            </a:r>
          </a:p>
        </p:txBody>
      </p:sp>
      <p:sp>
        <p:nvSpPr>
          <p:cNvPr id="3" name="Content Placeholder 2">
            <a:extLst>
              <a:ext uri="{FF2B5EF4-FFF2-40B4-BE49-F238E27FC236}">
                <a16:creationId xmlns:a16="http://schemas.microsoft.com/office/drawing/2014/main" id="{BD2AEBCC-C3CD-039A-26DB-D6FA512B4384}"/>
              </a:ext>
            </a:extLst>
          </p:cNvPr>
          <p:cNvSpPr>
            <a:spLocks noGrp="1"/>
          </p:cNvSpPr>
          <p:nvPr>
            <p:ph idx="4294967295"/>
          </p:nvPr>
        </p:nvSpPr>
        <p:spPr>
          <a:xfrm>
            <a:off x="6169152" y="2606925"/>
            <a:ext cx="7288135" cy="687470"/>
          </a:xfrm>
        </p:spPr>
        <p:txBody>
          <a:bodyPr>
            <a:normAutofit/>
          </a:bodyPr>
          <a:lstStyle/>
          <a:p>
            <a:pPr marL="0" indent="0">
              <a:buNone/>
            </a:pPr>
            <a:r>
              <a:rPr lang="en-GB" sz="1600" b="1" dirty="0"/>
              <a:t>Magma silica content changes during fractional crystallization</a:t>
            </a:r>
          </a:p>
        </p:txBody>
      </p:sp>
      <p:pic>
        <p:nvPicPr>
          <p:cNvPr id="3074" name="Picture 2">
            <a:extLst>
              <a:ext uri="{FF2B5EF4-FFF2-40B4-BE49-F238E27FC236}">
                <a16:creationId xmlns:a16="http://schemas.microsoft.com/office/drawing/2014/main" id="{38E90684-DE14-E945-0954-E11FFE57A0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458" y="1197090"/>
            <a:ext cx="4991662" cy="472605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6FF864BC-DAEA-B0D9-AD4B-E61279A0D9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2599" y="333094"/>
            <a:ext cx="5529943" cy="236405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1546682C-57AE-288F-8D05-7286BD8DF56F}"/>
              </a:ext>
            </a:extLst>
          </p:cNvPr>
          <p:cNvSpPr/>
          <p:nvPr/>
        </p:nvSpPr>
        <p:spPr>
          <a:xfrm>
            <a:off x="6056376" y="200263"/>
            <a:ext cx="6019800" cy="2820343"/>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080" name="Picture 8">
            <a:extLst>
              <a:ext uri="{FF2B5EF4-FFF2-40B4-BE49-F238E27FC236}">
                <a16:creationId xmlns:a16="http://schemas.microsoft.com/office/drawing/2014/main" id="{56F3F1E7-FFB5-9CB6-DE54-A88F9A39BA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34793" y="3560116"/>
            <a:ext cx="4592479" cy="30873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78616C8-0E5B-66A9-BBA4-06A5B5215469}"/>
              </a:ext>
            </a:extLst>
          </p:cNvPr>
          <p:cNvSpPr txBox="1"/>
          <p:nvPr/>
        </p:nvSpPr>
        <p:spPr>
          <a:xfrm>
            <a:off x="10127272" y="4217219"/>
            <a:ext cx="1835270" cy="1077218"/>
          </a:xfrm>
          <a:prstGeom prst="rect">
            <a:avLst/>
          </a:prstGeom>
          <a:noFill/>
        </p:spPr>
        <p:txBody>
          <a:bodyPr wrap="square" rtlCol="0">
            <a:spAutoFit/>
          </a:bodyPr>
          <a:lstStyle/>
          <a:p>
            <a:r>
              <a:rPr lang="en-GB" sz="1600" dirty="0"/>
              <a:t>Magma viscosity strong depends on silica content (polymerisation)</a:t>
            </a:r>
          </a:p>
        </p:txBody>
      </p:sp>
    </p:spTree>
    <p:extLst>
      <p:ext uri="{BB962C8B-B14F-4D97-AF65-F5344CB8AC3E}">
        <p14:creationId xmlns:p14="http://schemas.microsoft.com/office/powerpoint/2010/main" val="1344891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EE1EF-D745-278B-EBF3-2C4832C9EA62}"/>
            </a:ext>
          </a:extLst>
        </p:cNvPr>
        <p:cNvGrpSpPr/>
        <p:nvPr/>
      </p:nvGrpSpPr>
      <p:grpSpPr>
        <a:xfrm>
          <a:off x="0" y="0"/>
          <a:ext cx="0" cy="0"/>
          <a:chOff x="0" y="0"/>
          <a:chExt cx="0" cy="0"/>
        </a:xfrm>
      </p:grpSpPr>
      <p:pic>
        <p:nvPicPr>
          <p:cNvPr id="6" name="Picture 5" descr="Diagram of a volcano with text and images&#10;&#10;AI-generated content may be incorrect.">
            <a:extLst>
              <a:ext uri="{FF2B5EF4-FFF2-40B4-BE49-F238E27FC236}">
                <a16:creationId xmlns:a16="http://schemas.microsoft.com/office/drawing/2014/main" id="{8352460B-FC90-4755-4757-9D080D5608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69240" y="108857"/>
            <a:ext cx="5432550" cy="6858000"/>
          </a:xfrm>
          <a:prstGeom prst="rect">
            <a:avLst/>
          </a:prstGeom>
        </p:spPr>
      </p:pic>
      <p:sp>
        <p:nvSpPr>
          <p:cNvPr id="2" name="Title 1">
            <a:extLst>
              <a:ext uri="{FF2B5EF4-FFF2-40B4-BE49-F238E27FC236}">
                <a16:creationId xmlns:a16="http://schemas.microsoft.com/office/drawing/2014/main" id="{44EE5BC0-ED3D-8C71-D293-F925FC458067}"/>
              </a:ext>
            </a:extLst>
          </p:cNvPr>
          <p:cNvSpPr>
            <a:spLocks noGrp="1"/>
          </p:cNvSpPr>
          <p:nvPr>
            <p:ph type="title" idx="4294967295"/>
          </p:nvPr>
        </p:nvSpPr>
        <p:spPr>
          <a:xfrm>
            <a:off x="176842" y="337457"/>
            <a:ext cx="7715301" cy="1491343"/>
          </a:xfrm>
        </p:spPr>
        <p:txBody>
          <a:bodyPr/>
          <a:lstStyle/>
          <a:p>
            <a:r>
              <a:rPr lang="en-GB" dirty="0"/>
              <a:t>What are (effusive and explosive) eruptions?</a:t>
            </a:r>
          </a:p>
        </p:txBody>
      </p:sp>
      <p:sp>
        <p:nvSpPr>
          <p:cNvPr id="7" name="TextBox 6">
            <a:extLst>
              <a:ext uri="{FF2B5EF4-FFF2-40B4-BE49-F238E27FC236}">
                <a16:creationId xmlns:a16="http://schemas.microsoft.com/office/drawing/2014/main" id="{DDEB004B-53E0-100C-FEFB-B6F43FEAA85D}"/>
              </a:ext>
            </a:extLst>
          </p:cNvPr>
          <p:cNvSpPr txBox="1"/>
          <p:nvPr/>
        </p:nvSpPr>
        <p:spPr>
          <a:xfrm>
            <a:off x="190210" y="2133600"/>
            <a:ext cx="6030686" cy="5078313"/>
          </a:xfrm>
          <a:prstGeom prst="rect">
            <a:avLst/>
          </a:prstGeom>
          <a:noFill/>
        </p:spPr>
        <p:txBody>
          <a:bodyPr wrap="square" rtlCol="0">
            <a:spAutoFit/>
          </a:bodyPr>
          <a:lstStyle/>
          <a:p>
            <a:r>
              <a:rPr lang="en-GB" dirty="0"/>
              <a:t>All magmas contain volatiles: H2O, CO2, SO2, etc. The abundance varies between tectonic setting and as a function of composition (ask your demonstrators…).</a:t>
            </a:r>
          </a:p>
          <a:p>
            <a:endParaRPr lang="en-GB" dirty="0"/>
          </a:p>
          <a:p>
            <a:r>
              <a:rPr lang="en-GB" dirty="0"/>
              <a:t>Under crustal pressures, volatiles are (partly) dissolved.</a:t>
            </a:r>
          </a:p>
          <a:p>
            <a:endParaRPr lang="en-GB" dirty="0"/>
          </a:p>
          <a:p>
            <a:r>
              <a:rPr lang="en-GB" dirty="0"/>
              <a:t>As magmas ascend, volatiles exsolve / degas.</a:t>
            </a:r>
          </a:p>
          <a:p>
            <a:endParaRPr lang="en-GB" dirty="0"/>
          </a:p>
          <a:p>
            <a:r>
              <a:rPr lang="en-GB" dirty="0"/>
              <a:t>The viscosity of a magma determines whether gas bubbles can escape or not:</a:t>
            </a:r>
          </a:p>
          <a:p>
            <a:pPr marL="285750" indent="-285750">
              <a:buFontTx/>
              <a:buChar char="-"/>
            </a:pPr>
            <a:r>
              <a:rPr lang="en-GB" dirty="0"/>
              <a:t>Low viscosity = easy bubble escape = magma erupts as a liquid (effusive)</a:t>
            </a:r>
          </a:p>
          <a:p>
            <a:pPr marL="285750" indent="-285750">
              <a:buFontTx/>
              <a:buChar char="-"/>
            </a:pPr>
            <a:r>
              <a:rPr lang="en-GB" dirty="0"/>
              <a:t>High viscosity = bubbles can’t escape / growth is impeded = magma torn apart (“fragmentation”) as bubbles finally burst = magma erupts as</a:t>
            </a:r>
            <a:r>
              <a:rPr lang="en-GB" u="sng" dirty="0"/>
              <a:t> </a:t>
            </a:r>
            <a:r>
              <a:rPr lang="en-GB" u="sng" dirty="0" err="1"/>
              <a:t>pyroclasts</a:t>
            </a:r>
            <a:r>
              <a:rPr lang="en-GB" u="sng" dirty="0"/>
              <a:t> (explosive)</a:t>
            </a:r>
          </a:p>
          <a:p>
            <a:endParaRPr lang="en-GB" dirty="0"/>
          </a:p>
          <a:p>
            <a:endParaRPr lang="en-GB" dirty="0"/>
          </a:p>
        </p:txBody>
      </p:sp>
    </p:spTree>
    <p:extLst>
      <p:ext uri="{BB962C8B-B14F-4D97-AF65-F5344CB8AC3E}">
        <p14:creationId xmlns:p14="http://schemas.microsoft.com/office/powerpoint/2010/main" val="14291023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e Best Chocolate Chip Cookie Recipe ...">
            <a:extLst>
              <a:ext uri="{FF2B5EF4-FFF2-40B4-BE49-F238E27FC236}">
                <a16:creationId xmlns:a16="http://schemas.microsoft.com/office/drawing/2014/main" id="{C3317CF7-F99C-C1E1-2617-701822CA04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8676" y="1199747"/>
            <a:ext cx="3329601" cy="500349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piece of rock with a ruler&#10;&#10;AI-generated content may be incorrect.">
            <a:extLst>
              <a:ext uri="{FF2B5EF4-FFF2-40B4-BE49-F238E27FC236}">
                <a16:creationId xmlns:a16="http://schemas.microsoft.com/office/drawing/2014/main" id="{F9E15F7B-4E51-C1D2-8472-8F909674CA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8955" y="1330110"/>
            <a:ext cx="3840137" cy="4968177"/>
          </a:xfrm>
          <a:prstGeom prst="rect">
            <a:avLst/>
          </a:prstGeom>
        </p:spPr>
      </p:pic>
      <p:sp>
        <p:nvSpPr>
          <p:cNvPr id="4" name="TextBox 3">
            <a:extLst>
              <a:ext uri="{FF2B5EF4-FFF2-40B4-BE49-F238E27FC236}">
                <a16:creationId xmlns:a16="http://schemas.microsoft.com/office/drawing/2014/main" id="{F4712D74-CF30-F2EA-CB72-D21489B4CBAB}"/>
              </a:ext>
            </a:extLst>
          </p:cNvPr>
          <p:cNvSpPr txBox="1"/>
          <p:nvPr/>
        </p:nvSpPr>
        <p:spPr>
          <a:xfrm>
            <a:off x="737419" y="619432"/>
            <a:ext cx="6159058" cy="415498"/>
          </a:xfrm>
          <a:prstGeom prst="rect">
            <a:avLst/>
          </a:prstGeom>
          <a:noFill/>
        </p:spPr>
        <p:txBody>
          <a:bodyPr wrap="none" rtlCol="0">
            <a:spAutoFit/>
          </a:bodyPr>
          <a:lstStyle/>
          <a:p>
            <a:r>
              <a:rPr lang="en-GB" sz="2100" b="1" dirty="0">
                <a:latin typeface="Tahoma" panose="020B0604030504040204" pitchFamily="34" charset="0"/>
                <a:ea typeface="Tahoma" panose="020B0604030504040204" pitchFamily="34" charset="0"/>
                <a:cs typeface="Tahoma" panose="020B0604030504040204" pitchFamily="34" charset="0"/>
              </a:rPr>
              <a:t>Can you describe the chocolate chip cookie?</a:t>
            </a:r>
          </a:p>
        </p:txBody>
      </p:sp>
      <p:sp>
        <p:nvSpPr>
          <p:cNvPr id="7" name="TextBox 6">
            <a:extLst>
              <a:ext uri="{FF2B5EF4-FFF2-40B4-BE49-F238E27FC236}">
                <a16:creationId xmlns:a16="http://schemas.microsoft.com/office/drawing/2014/main" id="{506BB741-538E-8E31-602C-00FDC5AC24DC}"/>
              </a:ext>
            </a:extLst>
          </p:cNvPr>
          <p:cNvSpPr txBox="1"/>
          <p:nvPr/>
        </p:nvSpPr>
        <p:spPr>
          <a:xfrm>
            <a:off x="5655041" y="914612"/>
            <a:ext cx="5567550" cy="415498"/>
          </a:xfrm>
          <a:prstGeom prst="rect">
            <a:avLst/>
          </a:prstGeom>
          <a:noFill/>
        </p:spPr>
        <p:txBody>
          <a:bodyPr wrap="none" rtlCol="0">
            <a:spAutoFit/>
          </a:bodyPr>
          <a:lstStyle/>
          <a:p>
            <a:r>
              <a:rPr lang="en-GB" sz="2100" b="1" dirty="0">
                <a:latin typeface="Tahoma" panose="020B0604030504040204" pitchFamily="34" charset="0"/>
                <a:ea typeface="Tahoma" panose="020B0604030504040204" pitchFamily="34" charset="0"/>
                <a:cs typeface="Tahoma" panose="020B0604030504040204" pitchFamily="34" charset="0"/>
              </a:rPr>
              <a:t>If yes, you can describe a volcanic rock!</a:t>
            </a:r>
          </a:p>
        </p:txBody>
      </p:sp>
    </p:spTree>
    <p:extLst>
      <p:ext uri="{BB962C8B-B14F-4D97-AF65-F5344CB8AC3E}">
        <p14:creationId xmlns:p14="http://schemas.microsoft.com/office/powerpoint/2010/main" val="19562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0" presetClass="entr" presetSubtype="0"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8F1D6E0-BCD3-1EB3-7EA7-9B0AD695FE82}"/>
              </a:ext>
            </a:extLst>
          </p:cNvPr>
          <p:cNvPicPr>
            <a:picLocks noChangeAspect="1"/>
          </p:cNvPicPr>
          <p:nvPr/>
        </p:nvPicPr>
        <p:blipFill>
          <a:blip r:embed="rId2"/>
          <a:stretch>
            <a:fillRect/>
          </a:stretch>
        </p:blipFill>
        <p:spPr>
          <a:xfrm>
            <a:off x="461794" y="842173"/>
            <a:ext cx="6033599" cy="4026918"/>
          </a:xfrm>
          <a:prstGeom prst="rect">
            <a:avLst/>
          </a:prstGeom>
        </p:spPr>
      </p:pic>
      <p:pic>
        <p:nvPicPr>
          <p:cNvPr id="8" name="Picture 7">
            <a:extLst>
              <a:ext uri="{FF2B5EF4-FFF2-40B4-BE49-F238E27FC236}">
                <a16:creationId xmlns:a16="http://schemas.microsoft.com/office/drawing/2014/main" id="{E04E1113-61C0-E5AD-42F8-17CDB5046857}"/>
              </a:ext>
            </a:extLst>
          </p:cNvPr>
          <p:cNvPicPr>
            <a:picLocks noChangeAspect="1"/>
          </p:cNvPicPr>
          <p:nvPr/>
        </p:nvPicPr>
        <p:blipFill>
          <a:blip r:embed="rId3"/>
          <a:stretch>
            <a:fillRect/>
          </a:stretch>
        </p:blipFill>
        <p:spPr>
          <a:xfrm>
            <a:off x="6297068" y="842173"/>
            <a:ext cx="5786777" cy="4041345"/>
          </a:xfrm>
          <a:prstGeom prst="rect">
            <a:avLst/>
          </a:prstGeom>
        </p:spPr>
      </p:pic>
      <p:pic>
        <p:nvPicPr>
          <p:cNvPr id="10" name="Picture 9">
            <a:extLst>
              <a:ext uri="{FF2B5EF4-FFF2-40B4-BE49-F238E27FC236}">
                <a16:creationId xmlns:a16="http://schemas.microsoft.com/office/drawing/2014/main" id="{9FB84348-1677-D83B-2D0D-DFC306BAC37A}"/>
              </a:ext>
            </a:extLst>
          </p:cNvPr>
          <p:cNvPicPr>
            <a:picLocks noChangeAspect="1"/>
          </p:cNvPicPr>
          <p:nvPr/>
        </p:nvPicPr>
        <p:blipFill>
          <a:blip r:embed="rId4"/>
          <a:stretch>
            <a:fillRect/>
          </a:stretch>
        </p:blipFill>
        <p:spPr>
          <a:xfrm>
            <a:off x="328498" y="5902458"/>
            <a:ext cx="7270205" cy="645486"/>
          </a:xfrm>
          <a:prstGeom prst="rect">
            <a:avLst/>
          </a:prstGeom>
        </p:spPr>
      </p:pic>
    </p:spTree>
    <p:extLst>
      <p:ext uri="{BB962C8B-B14F-4D97-AF65-F5344CB8AC3E}">
        <p14:creationId xmlns:p14="http://schemas.microsoft.com/office/powerpoint/2010/main" val="1575011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BE5EFAD2-1079-5D38-EF16-C300C109E739}"/>
              </a:ext>
            </a:extLst>
          </p:cNvPr>
          <p:cNvSpPr txBox="1">
            <a:spLocks/>
          </p:cNvSpPr>
          <p:nvPr/>
        </p:nvSpPr>
        <p:spPr>
          <a:xfrm>
            <a:off x="445258" y="70663"/>
            <a:ext cx="11631127" cy="4842780"/>
          </a:xfrm>
          <a:prstGeom prst="rect">
            <a:avLst/>
          </a:prstGeom>
        </p:spPr>
        <p:txBody>
          <a:bodyPr>
            <a:no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100" b="1" dirty="0">
                <a:latin typeface="Tahoma" panose="020B0604030504040204" pitchFamily="34" charset="0"/>
                <a:ea typeface="Tahoma" panose="020B0604030504040204" pitchFamily="34" charset="0"/>
                <a:cs typeface="Tahoma" panose="020B0604030504040204" pitchFamily="34" charset="0"/>
              </a:rPr>
              <a:t>Your task is to describe samples of according to the following: [20 min per sample]</a:t>
            </a:r>
          </a:p>
          <a:p>
            <a:r>
              <a:rPr lang="en-US" sz="2100" b="1" dirty="0">
                <a:latin typeface="Tahoma" panose="020B0604030504040204" pitchFamily="34" charset="0"/>
                <a:ea typeface="Tahoma" panose="020B0604030504040204" pitchFamily="34" charset="0"/>
                <a:cs typeface="Tahoma" panose="020B0604030504040204" pitchFamily="34" charset="0"/>
              </a:rPr>
              <a:t>Size</a:t>
            </a:r>
            <a:r>
              <a:rPr lang="en-US" sz="2100" dirty="0">
                <a:latin typeface="Tahoma" panose="020B0604030504040204" pitchFamily="34" charset="0"/>
                <a:ea typeface="Tahoma" panose="020B0604030504040204" pitchFamily="34" charset="0"/>
                <a:cs typeface="Tahoma" panose="020B0604030504040204" pitchFamily="34" charset="0"/>
              </a:rPr>
              <a:t>: What are the approximate dimensions of the sample in cm? </a:t>
            </a:r>
          </a:p>
          <a:p>
            <a:r>
              <a:rPr lang="en-US" sz="2100" b="1" dirty="0">
                <a:latin typeface="Tahoma" panose="020B0604030504040204" pitchFamily="34" charset="0"/>
                <a:ea typeface="Tahoma" panose="020B0604030504040204" pitchFamily="34" charset="0"/>
                <a:cs typeface="Tahoma" panose="020B0604030504040204" pitchFamily="34" charset="0"/>
              </a:rPr>
              <a:t>Shape</a:t>
            </a:r>
            <a:r>
              <a:rPr lang="en-US" sz="2100" dirty="0">
                <a:latin typeface="Tahoma" panose="020B0604030504040204" pitchFamily="34" charset="0"/>
                <a:ea typeface="Tahoma" panose="020B0604030504040204" pitchFamily="34" charset="0"/>
                <a:cs typeface="Tahoma" panose="020B0604030504040204" pitchFamily="34" charset="0"/>
              </a:rPr>
              <a:t>: Is the sample rounded, angular, elongate or blocky? Does it have the same texture all over?</a:t>
            </a:r>
          </a:p>
          <a:p>
            <a:r>
              <a:rPr lang="en-US" sz="2100" b="1" dirty="0" err="1">
                <a:latin typeface="Tahoma" panose="020B0604030504040204" pitchFamily="34" charset="0"/>
                <a:ea typeface="Tahoma" panose="020B0604030504040204" pitchFamily="34" charset="0"/>
                <a:cs typeface="Tahoma" panose="020B0604030504040204" pitchFamily="34" charset="0"/>
              </a:rPr>
              <a:t>Colour</a:t>
            </a:r>
            <a:r>
              <a:rPr lang="en-US" sz="2100" dirty="0">
                <a:latin typeface="Tahoma" panose="020B0604030504040204" pitchFamily="34" charset="0"/>
                <a:ea typeface="Tahoma" panose="020B0604030504040204" pitchFamily="34" charset="0"/>
                <a:cs typeface="Tahoma" panose="020B0604030504040204" pitchFamily="34" charset="0"/>
              </a:rPr>
              <a:t>: Is the sample light or dark in </a:t>
            </a:r>
            <a:r>
              <a:rPr lang="en-US" sz="2100" dirty="0" err="1">
                <a:latin typeface="Tahoma" panose="020B0604030504040204" pitchFamily="34" charset="0"/>
                <a:ea typeface="Tahoma" panose="020B0604030504040204" pitchFamily="34" charset="0"/>
                <a:cs typeface="Tahoma" panose="020B0604030504040204" pitchFamily="34" charset="0"/>
              </a:rPr>
              <a:t>colour</a:t>
            </a:r>
            <a:r>
              <a:rPr lang="en-US" sz="2100" dirty="0">
                <a:latin typeface="Tahoma" panose="020B0604030504040204" pitchFamily="34" charset="0"/>
                <a:ea typeface="Tahoma" panose="020B0604030504040204" pitchFamily="34" charset="0"/>
                <a:cs typeface="Tahoma" panose="020B0604030504040204" pitchFamily="34" charset="0"/>
              </a:rPr>
              <a:t>? Is it dull, shiny, or glassy? (Remember that mafic rocks (e.g., basalt) are generally (but not always) dark in </a:t>
            </a:r>
            <a:r>
              <a:rPr lang="en-US" sz="2100" dirty="0" err="1">
                <a:latin typeface="Tahoma" panose="020B0604030504040204" pitchFamily="34" charset="0"/>
                <a:ea typeface="Tahoma" panose="020B0604030504040204" pitchFamily="34" charset="0"/>
                <a:cs typeface="Tahoma" panose="020B0604030504040204" pitchFamily="34" charset="0"/>
              </a:rPr>
              <a:t>colour</a:t>
            </a:r>
            <a:r>
              <a:rPr lang="en-US" sz="2100" dirty="0">
                <a:latin typeface="Tahoma" panose="020B0604030504040204" pitchFamily="34" charset="0"/>
                <a:ea typeface="Tahoma" panose="020B0604030504040204" pitchFamily="34" charset="0"/>
                <a:cs typeface="Tahoma" panose="020B0604030504040204" pitchFamily="34" charset="0"/>
              </a:rPr>
              <a:t> and felsic rocks (e.g., rhyolite) light in </a:t>
            </a:r>
            <a:r>
              <a:rPr lang="en-US" sz="2100" dirty="0" err="1">
                <a:latin typeface="Tahoma" panose="020B0604030504040204" pitchFamily="34" charset="0"/>
                <a:ea typeface="Tahoma" panose="020B0604030504040204" pitchFamily="34" charset="0"/>
                <a:cs typeface="Tahoma" panose="020B0604030504040204" pitchFamily="34" charset="0"/>
              </a:rPr>
              <a:t>colour</a:t>
            </a:r>
            <a:r>
              <a:rPr lang="en-US" sz="2100" dirty="0">
                <a:latin typeface="Tahoma" panose="020B0604030504040204" pitchFamily="34" charset="0"/>
                <a:ea typeface="Tahoma" panose="020B0604030504040204" pitchFamily="34" charset="0"/>
                <a:cs typeface="Tahoma" panose="020B0604030504040204" pitchFamily="34" charset="0"/>
              </a:rPr>
              <a:t>) </a:t>
            </a:r>
          </a:p>
          <a:p>
            <a:r>
              <a:rPr lang="en-US" sz="2100" b="1" dirty="0">
                <a:latin typeface="Tahoma" panose="020B0604030504040204" pitchFamily="34" charset="0"/>
                <a:ea typeface="Tahoma" panose="020B0604030504040204" pitchFamily="34" charset="0"/>
                <a:cs typeface="Tahoma" panose="020B0604030504040204" pitchFamily="34" charset="0"/>
              </a:rPr>
              <a:t>Mineralogy</a:t>
            </a:r>
            <a:r>
              <a:rPr lang="en-US" sz="2100" dirty="0">
                <a:latin typeface="Tahoma" panose="020B0604030504040204" pitchFamily="34" charset="0"/>
                <a:ea typeface="Tahoma" panose="020B0604030504040204" pitchFamily="34" charset="0"/>
                <a:cs typeface="Tahoma" panose="020B0604030504040204" pitchFamily="34" charset="0"/>
              </a:rPr>
              <a:t>: Are there crystals in the sample? If so, how large are they? What shape and </a:t>
            </a:r>
            <a:r>
              <a:rPr lang="en-US" sz="2100" dirty="0" err="1">
                <a:latin typeface="Tahoma" panose="020B0604030504040204" pitchFamily="34" charset="0"/>
                <a:ea typeface="Tahoma" panose="020B0604030504040204" pitchFamily="34" charset="0"/>
                <a:cs typeface="Tahoma" panose="020B0604030504040204" pitchFamily="34" charset="0"/>
              </a:rPr>
              <a:t>colour</a:t>
            </a:r>
            <a:r>
              <a:rPr lang="en-US" sz="2100" dirty="0">
                <a:latin typeface="Tahoma" panose="020B0604030504040204" pitchFamily="34" charset="0"/>
                <a:ea typeface="Tahoma" panose="020B0604030504040204" pitchFamily="34" charset="0"/>
                <a:cs typeface="Tahoma" panose="020B0604030504040204" pitchFamily="34" charset="0"/>
              </a:rPr>
              <a:t> are they?  </a:t>
            </a:r>
          </a:p>
          <a:p>
            <a:r>
              <a:rPr lang="en-US" sz="2100" b="1" dirty="0">
                <a:latin typeface="Tahoma" panose="020B0604030504040204" pitchFamily="34" charset="0"/>
                <a:ea typeface="Tahoma" panose="020B0604030504040204" pitchFamily="34" charset="0"/>
                <a:cs typeface="Tahoma" panose="020B0604030504040204" pitchFamily="34" charset="0"/>
              </a:rPr>
              <a:t>Density</a:t>
            </a:r>
            <a:r>
              <a:rPr lang="en-US" sz="2100" dirty="0">
                <a:latin typeface="Tahoma" panose="020B0604030504040204" pitchFamily="34" charset="0"/>
                <a:ea typeface="Tahoma" panose="020B0604030504040204" pitchFamily="34" charset="0"/>
                <a:cs typeface="Tahoma" panose="020B0604030504040204" pitchFamily="34" charset="0"/>
              </a:rPr>
              <a:t>: Is the sample light of heavy? </a:t>
            </a:r>
          </a:p>
          <a:p>
            <a:r>
              <a:rPr lang="en-US" sz="2100" b="1" dirty="0" err="1">
                <a:latin typeface="Tahoma" panose="020B0604030504040204" pitchFamily="34" charset="0"/>
                <a:ea typeface="Tahoma" panose="020B0604030504040204" pitchFamily="34" charset="0"/>
                <a:cs typeface="Tahoma" panose="020B0604030504040204" pitchFamily="34" charset="0"/>
              </a:rPr>
              <a:t>Vesicularity</a:t>
            </a:r>
            <a:r>
              <a:rPr lang="en-US" sz="2100" dirty="0">
                <a:latin typeface="Tahoma" panose="020B0604030504040204" pitchFamily="34" charset="0"/>
                <a:ea typeface="Tahoma" panose="020B0604030504040204" pitchFamily="34" charset="0"/>
                <a:cs typeface="Tahoma" panose="020B0604030504040204" pitchFamily="34" charset="0"/>
              </a:rPr>
              <a:t>: Are there bubbles in the sample? If so, what are their properties (size, shape, abundance). </a:t>
            </a:r>
          </a:p>
          <a:p>
            <a:r>
              <a:rPr lang="en-US" sz="2100" b="1" dirty="0">
                <a:solidFill>
                  <a:srgbClr val="00B050"/>
                </a:solidFill>
                <a:latin typeface="Tahoma" panose="020B0604030504040204" pitchFamily="34" charset="0"/>
                <a:ea typeface="Tahoma" panose="020B0604030504040204" pitchFamily="34" charset="0"/>
                <a:cs typeface="Tahoma" panose="020B0604030504040204" pitchFamily="34" charset="0"/>
              </a:rPr>
              <a:t>Eruption style interpretation</a:t>
            </a:r>
            <a:r>
              <a:rPr lang="en-US" sz="2100" dirty="0">
                <a:solidFill>
                  <a:srgbClr val="00B050"/>
                </a:solidFill>
                <a:latin typeface="Tahoma" panose="020B0604030504040204" pitchFamily="34" charset="0"/>
                <a:ea typeface="Tahoma" panose="020B0604030504040204" pitchFamily="34" charset="0"/>
                <a:cs typeface="Tahoma" panose="020B0604030504040204" pitchFamily="34" charset="0"/>
              </a:rPr>
              <a:t>: Given your answers to the above, infer a possible eruption style. In other words, did the rock form in an explosive or effusive eruption? Thinking about your answers to Part 1 may help here.</a:t>
            </a:r>
            <a:endParaRPr lang="en-GB" sz="2100" dirty="0">
              <a:solidFill>
                <a:srgbClr val="00B05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5411695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iece of rock with a ruler&#10;&#10;AI-generated content may be incorrect.">
            <a:extLst>
              <a:ext uri="{FF2B5EF4-FFF2-40B4-BE49-F238E27FC236}">
                <a16:creationId xmlns:a16="http://schemas.microsoft.com/office/drawing/2014/main" id="{78BDC930-8CDC-8450-E0EC-F5302552E0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1632" y="1199928"/>
            <a:ext cx="4054501" cy="5245510"/>
          </a:xfrm>
          <a:prstGeom prst="rect">
            <a:avLst/>
          </a:prstGeom>
        </p:spPr>
      </p:pic>
      <p:sp>
        <p:nvSpPr>
          <p:cNvPr id="4" name="TextBox 3">
            <a:extLst>
              <a:ext uri="{FF2B5EF4-FFF2-40B4-BE49-F238E27FC236}">
                <a16:creationId xmlns:a16="http://schemas.microsoft.com/office/drawing/2014/main" id="{261A3342-B834-93B1-67E7-09F438C5C21B}"/>
              </a:ext>
            </a:extLst>
          </p:cNvPr>
          <p:cNvSpPr txBox="1"/>
          <p:nvPr/>
        </p:nvSpPr>
        <p:spPr>
          <a:xfrm>
            <a:off x="6096000" y="1086974"/>
            <a:ext cx="5978013" cy="4247317"/>
          </a:xfrm>
          <a:prstGeom prst="rect">
            <a:avLst/>
          </a:prstGeom>
          <a:noFill/>
        </p:spPr>
        <p:txBody>
          <a:bodyPr wrap="square">
            <a:spAutoFit/>
          </a:bodyPr>
          <a:lstStyle/>
          <a:p>
            <a:r>
              <a:rPr lang="en-US" sz="1800" b="1" dirty="0">
                <a:latin typeface="Tahoma" panose="020B0604030504040204" pitchFamily="34" charset="0"/>
                <a:ea typeface="Tahoma" panose="020B0604030504040204" pitchFamily="34" charset="0"/>
                <a:cs typeface="Tahoma" panose="020B0604030504040204" pitchFamily="34" charset="0"/>
              </a:rPr>
              <a:t>Size</a:t>
            </a:r>
            <a:r>
              <a:rPr lang="en-US" sz="1800" dirty="0">
                <a:latin typeface="Tahoma" panose="020B0604030504040204" pitchFamily="34" charset="0"/>
                <a:ea typeface="Tahoma" panose="020B0604030504040204" pitchFamily="34" charset="0"/>
                <a:cs typeface="Tahoma" panose="020B0604030504040204" pitchFamily="34" charset="0"/>
              </a:rPr>
              <a:t>: ~3 x 3 x 1 cm</a:t>
            </a:r>
          </a:p>
          <a:p>
            <a:endParaRPr lang="en-US" sz="1800" dirty="0">
              <a:latin typeface="Tahoma" panose="020B0604030504040204" pitchFamily="34" charset="0"/>
              <a:ea typeface="Tahoma" panose="020B0604030504040204" pitchFamily="34" charset="0"/>
              <a:cs typeface="Tahoma" panose="020B0604030504040204" pitchFamily="34" charset="0"/>
            </a:endParaRPr>
          </a:p>
          <a:p>
            <a:r>
              <a:rPr lang="en-US" sz="1800" b="1" dirty="0">
                <a:latin typeface="Tahoma" panose="020B0604030504040204" pitchFamily="34" charset="0"/>
                <a:ea typeface="Tahoma" panose="020B0604030504040204" pitchFamily="34" charset="0"/>
                <a:cs typeface="Tahoma" panose="020B0604030504040204" pitchFamily="34" charset="0"/>
              </a:rPr>
              <a:t>Shape</a:t>
            </a:r>
            <a:r>
              <a:rPr lang="en-US" sz="1800" dirty="0">
                <a:latin typeface="Tahoma" panose="020B0604030504040204" pitchFamily="34" charset="0"/>
                <a:ea typeface="Tahoma" panose="020B0604030504040204" pitchFamily="34" charset="0"/>
                <a:cs typeface="Tahoma" panose="020B0604030504040204" pitchFamily="34" charset="0"/>
              </a:rPr>
              <a:t>: Angular, broken from a larger body of rock. </a:t>
            </a:r>
          </a:p>
          <a:p>
            <a:endParaRPr lang="en-US" sz="1800" dirty="0">
              <a:latin typeface="Tahoma" panose="020B0604030504040204" pitchFamily="34" charset="0"/>
              <a:ea typeface="Tahoma" panose="020B0604030504040204" pitchFamily="34" charset="0"/>
              <a:cs typeface="Tahoma" panose="020B0604030504040204" pitchFamily="34" charset="0"/>
            </a:endParaRPr>
          </a:p>
          <a:p>
            <a:r>
              <a:rPr lang="en-US" sz="1800" b="1" dirty="0" err="1">
                <a:latin typeface="Tahoma" panose="020B0604030504040204" pitchFamily="34" charset="0"/>
                <a:ea typeface="Tahoma" panose="020B0604030504040204" pitchFamily="34" charset="0"/>
                <a:cs typeface="Tahoma" panose="020B0604030504040204" pitchFamily="34" charset="0"/>
              </a:rPr>
              <a:t>Colour</a:t>
            </a:r>
            <a:r>
              <a:rPr lang="en-US" sz="1800" dirty="0">
                <a:latin typeface="Tahoma" panose="020B0604030504040204" pitchFamily="34" charset="0"/>
                <a:ea typeface="Tahoma" panose="020B0604030504040204" pitchFamily="34" charset="0"/>
                <a:cs typeface="Tahoma" panose="020B0604030504040204" pitchFamily="34" charset="0"/>
              </a:rPr>
              <a:t>: </a:t>
            </a:r>
            <a:r>
              <a:rPr lang="en-US" dirty="0">
                <a:latin typeface="Tahoma" panose="020B0604030504040204" pitchFamily="34" charset="0"/>
                <a:ea typeface="Tahoma" panose="020B0604030504040204" pitchFamily="34" charset="0"/>
                <a:cs typeface="Tahoma" panose="020B0604030504040204" pitchFamily="34" charset="0"/>
              </a:rPr>
              <a:t>Mostly b</a:t>
            </a:r>
            <a:r>
              <a:rPr lang="en-US" sz="1800" dirty="0">
                <a:latin typeface="Tahoma" panose="020B0604030504040204" pitchFamily="34" charset="0"/>
                <a:ea typeface="Tahoma" panose="020B0604030504040204" pitchFamily="34" charset="0"/>
                <a:cs typeface="Tahoma" panose="020B0604030504040204" pitchFamily="34" charset="0"/>
              </a:rPr>
              <a:t>lack/some dark brown, rough groundmass. Blue, glassy regions on one side.</a:t>
            </a:r>
          </a:p>
          <a:p>
            <a:endParaRPr lang="en-US" sz="1800" dirty="0">
              <a:latin typeface="Tahoma" panose="020B0604030504040204" pitchFamily="34" charset="0"/>
              <a:ea typeface="Tahoma" panose="020B0604030504040204" pitchFamily="34" charset="0"/>
              <a:cs typeface="Tahoma" panose="020B0604030504040204" pitchFamily="34" charset="0"/>
            </a:endParaRPr>
          </a:p>
          <a:p>
            <a:r>
              <a:rPr lang="en-US" sz="1800" b="1" dirty="0">
                <a:latin typeface="Tahoma" panose="020B0604030504040204" pitchFamily="34" charset="0"/>
                <a:ea typeface="Tahoma" panose="020B0604030504040204" pitchFamily="34" charset="0"/>
                <a:cs typeface="Tahoma" panose="020B0604030504040204" pitchFamily="34" charset="0"/>
              </a:rPr>
              <a:t>Mineralogy</a:t>
            </a:r>
            <a:r>
              <a:rPr lang="en-US" sz="1800" dirty="0">
                <a:latin typeface="Tahoma" panose="020B0604030504040204" pitchFamily="34" charset="0"/>
                <a:ea typeface="Tahoma" panose="020B0604030504040204" pitchFamily="34" charset="0"/>
                <a:cs typeface="Tahoma" panose="020B0604030504040204" pitchFamily="34" charset="0"/>
              </a:rPr>
              <a:t>: Light green crystals up to 6mm. White crystals ~2 mm (&lt;5% by volume)</a:t>
            </a:r>
          </a:p>
          <a:p>
            <a:endParaRPr lang="en-US" sz="1800" dirty="0">
              <a:latin typeface="Tahoma" panose="020B0604030504040204" pitchFamily="34" charset="0"/>
              <a:ea typeface="Tahoma" panose="020B0604030504040204" pitchFamily="34" charset="0"/>
              <a:cs typeface="Tahoma" panose="020B0604030504040204" pitchFamily="34" charset="0"/>
            </a:endParaRPr>
          </a:p>
          <a:p>
            <a:r>
              <a:rPr lang="en-US" sz="1800" b="1" dirty="0">
                <a:latin typeface="Tahoma" panose="020B0604030504040204" pitchFamily="34" charset="0"/>
                <a:ea typeface="Tahoma" panose="020B0604030504040204" pitchFamily="34" charset="0"/>
                <a:cs typeface="Tahoma" panose="020B0604030504040204" pitchFamily="34" charset="0"/>
              </a:rPr>
              <a:t>Density</a:t>
            </a:r>
            <a:r>
              <a:rPr lang="en-US" sz="1800" dirty="0">
                <a:latin typeface="Tahoma" panose="020B0604030504040204" pitchFamily="34" charset="0"/>
                <a:ea typeface="Tahoma" panose="020B0604030504040204" pitchFamily="34" charset="0"/>
                <a:cs typeface="Tahoma" panose="020B0604030504040204" pitchFamily="34" charset="0"/>
              </a:rPr>
              <a:t>: Heavy for its size, few vesicles </a:t>
            </a:r>
            <a:r>
              <a:rPr lang="en-US" sz="18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relatively high density</a:t>
            </a:r>
          </a:p>
          <a:p>
            <a:endParaRPr lang="en-US" sz="1800" dirty="0">
              <a:latin typeface="Tahoma" panose="020B0604030504040204" pitchFamily="34" charset="0"/>
              <a:ea typeface="Tahoma" panose="020B0604030504040204" pitchFamily="34" charset="0"/>
              <a:cs typeface="Tahoma" panose="020B0604030504040204" pitchFamily="34" charset="0"/>
            </a:endParaRPr>
          </a:p>
          <a:p>
            <a:r>
              <a:rPr lang="en-US" sz="1800" b="1" dirty="0" err="1">
                <a:latin typeface="Tahoma" panose="020B0604030504040204" pitchFamily="34" charset="0"/>
                <a:ea typeface="Tahoma" panose="020B0604030504040204" pitchFamily="34" charset="0"/>
                <a:cs typeface="Tahoma" panose="020B0604030504040204" pitchFamily="34" charset="0"/>
              </a:rPr>
              <a:t>Vesicularity</a:t>
            </a:r>
            <a:r>
              <a:rPr lang="en-US" sz="1800" dirty="0">
                <a:latin typeface="Tahoma" panose="020B0604030504040204" pitchFamily="34" charset="0"/>
                <a:ea typeface="Tahoma" panose="020B0604030504040204" pitchFamily="34" charset="0"/>
                <a:cs typeface="Tahoma" panose="020B0604030504040204" pitchFamily="34" charset="0"/>
              </a:rPr>
              <a:t>: One elongate vesicle ~6mm across longest axis</a:t>
            </a:r>
          </a:p>
        </p:txBody>
      </p:sp>
      <p:sp>
        <p:nvSpPr>
          <p:cNvPr id="5" name="TextBox 4">
            <a:extLst>
              <a:ext uri="{FF2B5EF4-FFF2-40B4-BE49-F238E27FC236}">
                <a16:creationId xmlns:a16="http://schemas.microsoft.com/office/drawing/2014/main" id="{C81A45C9-37EB-8327-6815-A1913926C4F5}"/>
              </a:ext>
            </a:extLst>
          </p:cNvPr>
          <p:cNvSpPr txBox="1"/>
          <p:nvPr/>
        </p:nvSpPr>
        <p:spPr>
          <a:xfrm>
            <a:off x="437614" y="340850"/>
            <a:ext cx="7044685" cy="415498"/>
          </a:xfrm>
          <a:prstGeom prst="rect">
            <a:avLst/>
          </a:prstGeom>
          <a:noFill/>
        </p:spPr>
        <p:txBody>
          <a:bodyPr wrap="none" rtlCol="0">
            <a:spAutoFit/>
          </a:bodyPr>
          <a:lstStyle/>
          <a:p>
            <a:r>
              <a:rPr lang="en-GB" sz="2100" dirty="0">
                <a:latin typeface="Tahoma" panose="020B0604030504040204" pitchFamily="34" charset="0"/>
                <a:ea typeface="Tahoma" panose="020B0604030504040204" pitchFamily="34" charset="0"/>
                <a:cs typeface="Tahoma" panose="020B0604030504040204" pitchFamily="34" charset="0"/>
              </a:rPr>
              <a:t>Sample MV01: </a:t>
            </a:r>
            <a:r>
              <a:rPr lang="en-GB" sz="2100" dirty="0" err="1">
                <a:latin typeface="Tahoma" panose="020B0604030504040204" pitchFamily="34" charset="0"/>
                <a:ea typeface="Tahoma" panose="020B0604030504040204" pitchFamily="34" charset="0"/>
                <a:cs typeface="Tahoma" panose="020B0604030504040204" pitchFamily="34" charset="0"/>
              </a:rPr>
              <a:t>Meradalir</a:t>
            </a:r>
            <a:r>
              <a:rPr lang="en-GB" sz="2100" dirty="0">
                <a:latin typeface="Tahoma" panose="020B0604030504040204" pitchFamily="34" charset="0"/>
                <a:ea typeface="Tahoma" panose="020B0604030504040204" pitchFamily="34" charset="0"/>
                <a:cs typeface="Tahoma" panose="020B0604030504040204" pitchFamily="34" charset="0"/>
              </a:rPr>
              <a:t> Valley, </a:t>
            </a:r>
            <a:r>
              <a:rPr lang="en-GB" sz="2100" dirty="0" err="1">
                <a:latin typeface="Tahoma" panose="020B0604030504040204" pitchFamily="34" charset="0"/>
                <a:ea typeface="Tahoma" panose="020B0604030504040204" pitchFamily="34" charset="0"/>
                <a:cs typeface="Tahoma" panose="020B0604030504040204" pitchFamily="34" charset="0"/>
              </a:rPr>
              <a:t>Fagradalsfjall</a:t>
            </a:r>
            <a:r>
              <a:rPr lang="en-GB" sz="2100" dirty="0">
                <a:latin typeface="Tahoma" panose="020B0604030504040204" pitchFamily="34" charset="0"/>
                <a:ea typeface="Tahoma" panose="020B0604030504040204" pitchFamily="34" charset="0"/>
                <a:cs typeface="Tahoma" panose="020B0604030504040204" pitchFamily="34" charset="0"/>
              </a:rPr>
              <a:t>, SW Iceland</a:t>
            </a:r>
          </a:p>
        </p:txBody>
      </p:sp>
      <p:pic>
        <p:nvPicPr>
          <p:cNvPr id="13" name="Picture 12" descr="A drawing of a rock&#10;&#10;AI-generated content may be incorrect.">
            <a:extLst>
              <a:ext uri="{FF2B5EF4-FFF2-40B4-BE49-F238E27FC236}">
                <a16:creationId xmlns:a16="http://schemas.microsoft.com/office/drawing/2014/main" id="{DC51A7D4-5CDE-9FD3-7AE2-7203AF4AE1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907" y="923281"/>
            <a:ext cx="5358159" cy="5522157"/>
          </a:xfrm>
          <a:prstGeom prst="rect">
            <a:avLst/>
          </a:prstGeom>
        </p:spPr>
      </p:pic>
      <p:pic>
        <p:nvPicPr>
          <p:cNvPr id="21" name="Picture 20">
            <a:extLst>
              <a:ext uri="{FF2B5EF4-FFF2-40B4-BE49-F238E27FC236}">
                <a16:creationId xmlns:a16="http://schemas.microsoft.com/office/drawing/2014/main" id="{DA9BEF65-C449-5CF6-BB26-A590118CAC92}"/>
              </a:ext>
            </a:extLst>
          </p:cNvPr>
          <p:cNvPicPr>
            <a:picLocks noChangeAspect="1"/>
          </p:cNvPicPr>
          <p:nvPr/>
        </p:nvPicPr>
        <p:blipFill>
          <a:blip r:embed="rId4"/>
          <a:stretch>
            <a:fillRect/>
          </a:stretch>
        </p:blipFill>
        <p:spPr>
          <a:xfrm>
            <a:off x="7492131" y="1983811"/>
            <a:ext cx="2674221" cy="2674221"/>
          </a:xfrm>
          <a:prstGeom prst="rect">
            <a:avLst/>
          </a:prstGeom>
        </p:spPr>
      </p:pic>
    </p:spTree>
    <p:extLst>
      <p:ext uri="{BB962C8B-B14F-4D97-AF65-F5344CB8AC3E}">
        <p14:creationId xmlns:p14="http://schemas.microsoft.com/office/powerpoint/2010/main" val="3915009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1" nodeType="clickEffect">
                                  <p:stCondLst>
                                    <p:cond delay="0"/>
                                  </p:stCondLst>
                                  <p:childTnLst>
                                    <p:animEffect transition="out" filter="dissolve">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par>
                                <p:cTn id="13" presetID="9" presetClass="exit" presetSubtype="0" fill="hold" nodeType="withEffect">
                                  <p:stCondLst>
                                    <p:cond delay="0"/>
                                  </p:stCondLst>
                                  <p:childTnLst>
                                    <p:animEffect transition="out" filter="dissolve">
                                      <p:cBhvr>
                                        <p:cTn id="14" dur="500"/>
                                        <p:tgtEl>
                                          <p:spTgt spid="2"/>
                                        </p:tgtEl>
                                      </p:cBhvr>
                                    </p:animEffect>
                                    <p:set>
                                      <p:cBhvr>
                                        <p:cTn id="15" dur="1" fill="hold">
                                          <p:stCondLst>
                                            <p:cond delay="499"/>
                                          </p:stCondLst>
                                        </p:cTn>
                                        <p:tgtEl>
                                          <p:spTgt spid="2"/>
                                        </p:tgtEl>
                                        <p:attrNameLst>
                                          <p:attrName>style.visibility</p:attrName>
                                        </p:attrNameLst>
                                      </p:cBhvr>
                                      <p:to>
                                        <p:strVal val="hidden"/>
                                      </p:to>
                                    </p:set>
                                  </p:childTnLst>
                                </p:cTn>
                              </p:par>
                            </p:childTnLst>
                          </p:cTn>
                        </p:par>
                        <p:par>
                          <p:cTn id="16" fill="hold">
                            <p:stCondLst>
                              <p:cond delay="500"/>
                            </p:stCondLst>
                            <p:childTnLst>
                              <p:par>
                                <p:cTn id="17" presetID="10" presetClass="entr" presetSubtype="0" fill="hold"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par>
                                <p:cTn id="20" presetID="10" presetClass="entr" presetSubtype="0" fill="hold"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6E30B-04CB-F24A-E997-AA338CD6D143}"/>
            </a:ext>
          </a:extLst>
        </p:cNvPr>
        <p:cNvGrpSpPr/>
        <p:nvPr/>
      </p:nvGrpSpPr>
      <p:grpSpPr>
        <a:xfrm>
          <a:off x="0" y="0"/>
          <a:ext cx="0" cy="0"/>
          <a:chOff x="0" y="0"/>
          <a:chExt cx="0" cy="0"/>
        </a:xfrm>
      </p:grpSpPr>
      <p:pic>
        <p:nvPicPr>
          <p:cNvPr id="2" name="Picture 1" descr="A piece of rock with a ruler&#10;&#10;AI-generated content may be incorrect.">
            <a:extLst>
              <a:ext uri="{FF2B5EF4-FFF2-40B4-BE49-F238E27FC236}">
                <a16:creationId xmlns:a16="http://schemas.microsoft.com/office/drawing/2014/main" id="{9C81FBC4-9665-F998-8D4C-E27C5F5201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6105" y="929658"/>
            <a:ext cx="4054501" cy="5245510"/>
          </a:xfrm>
          <a:prstGeom prst="rect">
            <a:avLst/>
          </a:prstGeom>
        </p:spPr>
      </p:pic>
      <p:sp>
        <p:nvSpPr>
          <p:cNvPr id="5" name="TextBox 4">
            <a:extLst>
              <a:ext uri="{FF2B5EF4-FFF2-40B4-BE49-F238E27FC236}">
                <a16:creationId xmlns:a16="http://schemas.microsoft.com/office/drawing/2014/main" id="{F4A98B0D-824C-5001-D6CE-6A7757E741D2}"/>
              </a:ext>
            </a:extLst>
          </p:cNvPr>
          <p:cNvSpPr txBox="1"/>
          <p:nvPr/>
        </p:nvSpPr>
        <p:spPr>
          <a:xfrm>
            <a:off x="437614" y="340850"/>
            <a:ext cx="7044685" cy="415498"/>
          </a:xfrm>
          <a:prstGeom prst="rect">
            <a:avLst/>
          </a:prstGeom>
          <a:noFill/>
        </p:spPr>
        <p:txBody>
          <a:bodyPr wrap="none" rtlCol="0">
            <a:spAutoFit/>
          </a:bodyPr>
          <a:lstStyle/>
          <a:p>
            <a:r>
              <a:rPr lang="en-GB" sz="2100" dirty="0">
                <a:latin typeface="Tahoma" panose="020B0604030504040204" pitchFamily="34" charset="0"/>
                <a:ea typeface="Tahoma" panose="020B0604030504040204" pitchFamily="34" charset="0"/>
                <a:cs typeface="Tahoma" panose="020B0604030504040204" pitchFamily="34" charset="0"/>
              </a:rPr>
              <a:t>Sample MV01: </a:t>
            </a:r>
            <a:r>
              <a:rPr lang="en-GB" sz="2100" dirty="0" err="1">
                <a:latin typeface="Tahoma" panose="020B0604030504040204" pitchFamily="34" charset="0"/>
                <a:ea typeface="Tahoma" panose="020B0604030504040204" pitchFamily="34" charset="0"/>
                <a:cs typeface="Tahoma" panose="020B0604030504040204" pitchFamily="34" charset="0"/>
              </a:rPr>
              <a:t>Meradalir</a:t>
            </a:r>
            <a:r>
              <a:rPr lang="en-GB" sz="2100" dirty="0">
                <a:latin typeface="Tahoma" panose="020B0604030504040204" pitchFamily="34" charset="0"/>
                <a:ea typeface="Tahoma" panose="020B0604030504040204" pitchFamily="34" charset="0"/>
                <a:cs typeface="Tahoma" panose="020B0604030504040204" pitchFamily="34" charset="0"/>
              </a:rPr>
              <a:t> Valley, </a:t>
            </a:r>
            <a:r>
              <a:rPr lang="en-GB" sz="2100" dirty="0" err="1">
                <a:latin typeface="Tahoma" panose="020B0604030504040204" pitchFamily="34" charset="0"/>
                <a:ea typeface="Tahoma" panose="020B0604030504040204" pitchFamily="34" charset="0"/>
                <a:cs typeface="Tahoma" panose="020B0604030504040204" pitchFamily="34" charset="0"/>
              </a:rPr>
              <a:t>Fagradalsfjall</a:t>
            </a:r>
            <a:r>
              <a:rPr lang="en-GB" sz="2100" dirty="0">
                <a:latin typeface="Tahoma" panose="020B0604030504040204" pitchFamily="34" charset="0"/>
                <a:ea typeface="Tahoma" panose="020B0604030504040204" pitchFamily="34" charset="0"/>
                <a:cs typeface="Tahoma" panose="020B0604030504040204" pitchFamily="34" charset="0"/>
              </a:rPr>
              <a:t>, SW Iceland</a:t>
            </a:r>
          </a:p>
        </p:txBody>
      </p:sp>
      <p:pic>
        <p:nvPicPr>
          <p:cNvPr id="13" name="Picture 12" descr="A drawing of a rock&#10;&#10;AI-generated content may be incorrect.">
            <a:extLst>
              <a:ext uri="{FF2B5EF4-FFF2-40B4-BE49-F238E27FC236}">
                <a16:creationId xmlns:a16="http://schemas.microsoft.com/office/drawing/2014/main" id="{A66E7FEC-F539-A4FF-4A8A-F5DB8B0413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677" y="929658"/>
            <a:ext cx="5334641" cy="5497919"/>
          </a:xfrm>
          <a:prstGeom prst="rect">
            <a:avLst/>
          </a:prstGeom>
        </p:spPr>
      </p:pic>
      <p:sp>
        <p:nvSpPr>
          <p:cNvPr id="3" name="TextBox 2">
            <a:extLst>
              <a:ext uri="{FF2B5EF4-FFF2-40B4-BE49-F238E27FC236}">
                <a16:creationId xmlns:a16="http://schemas.microsoft.com/office/drawing/2014/main" id="{40CF218F-DE28-6FFC-8C79-2810E12FE29C}"/>
              </a:ext>
            </a:extLst>
          </p:cNvPr>
          <p:cNvSpPr txBox="1"/>
          <p:nvPr/>
        </p:nvSpPr>
        <p:spPr>
          <a:xfrm>
            <a:off x="7737987" y="340850"/>
            <a:ext cx="3229847" cy="415498"/>
          </a:xfrm>
          <a:prstGeom prst="rect">
            <a:avLst/>
          </a:prstGeom>
          <a:noFill/>
        </p:spPr>
        <p:txBody>
          <a:bodyPr wrap="square" rtlCol="0">
            <a:spAutoFit/>
          </a:bodyPr>
          <a:lstStyle/>
          <a:p>
            <a:r>
              <a:rPr lang="en-GB" sz="2100" b="1" dirty="0">
                <a:solidFill>
                  <a:srgbClr val="00B050"/>
                </a:solidFill>
                <a:latin typeface="Tahoma" panose="020B0604030504040204" pitchFamily="34" charset="0"/>
                <a:ea typeface="Tahoma" panose="020B0604030504040204" pitchFamily="34" charset="0"/>
                <a:cs typeface="Tahoma" panose="020B0604030504040204" pitchFamily="34" charset="0"/>
              </a:rPr>
              <a:t>Interpretations</a:t>
            </a:r>
          </a:p>
        </p:txBody>
      </p:sp>
      <p:cxnSp>
        <p:nvCxnSpPr>
          <p:cNvPr id="11" name="Straight Arrow Connector 10">
            <a:extLst>
              <a:ext uri="{FF2B5EF4-FFF2-40B4-BE49-F238E27FC236}">
                <a16:creationId xmlns:a16="http://schemas.microsoft.com/office/drawing/2014/main" id="{0B4DB406-7F09-931D-DA11-B36F0D01AF5C}"/>
              </a:ext>
            </a:extLst>
          </p:cNvPr>
          <p:cNvCxnSpPr>
            <a:cxnSpLocks/>
          </p:cNvCxnSpPr>
          <p:nvPr/>
        </p:nvCxnSpPr>
        <p:spPr>
          <a:xfrm flipH="1" flipV="1">
            <a:off x="3637935" y="4886632"/>
            <a:ext cx="2362584" cy="757241"/>
          </a:xfrm>
          <a:prstGeom prst="straightConnector1">
            <a:avLst/>
          </a:prstGeom>
          <a:ln w="571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 name="TextBox 11">
            <a:extLst>
              <a:ext uri="{FF2B5EF4-FFF2-40B4-BE49-F238E27FC236}">
                <a16:creationId xmlns:a16="http://schemas.microsoft.com/office/drawing/2014/main" id="{8C9A68B3-B98F-9802-9B35-6765EC08EFBE}"/>
              </a:ext>
            </a:extLst>
          </p:cNvPr>
          <p:cNvSpPr txBox="1"/>
          <p:nvPr/>
        </p:nvSpPr>
        <p:spPr>
          <a:xfrm>
            <a:off x="6000519" y="5216545"/>
            <a:ext cx="5925803" cy="1061829"/>
          </a:xfrm>
          <a:prstGeom prst="rect">
            <a:avLst/>
          </a:prstGeom>
          <a:noFill/>
          <a:ln>
            <a:solidFill>
              <a:srgbClr val="00B050"/>
            </a:solidFill>
          </a:ln>
        </p:spPr>
        <p:txBody>
          <a:bodyPr wrap="square" rtlCol="0">
            <a:spAutoFit/>
          </a:bodyPr>
          <a:lstStyle/>
          <a:p>
            <a:r>
              <a:rPr lang="en-GB" sz="2100" dirty="0">
                <a:latin typeface="Tahoma" panose="020B0604030504040204" pitchFamily="34" charset="0"/>
                <a:ea typeface="Tahoma" panose="020B0604030504040204" pitchFamily="34" charset="0"/>
                <a:cs typeface="Tahoma" panose="020B0604030504040204" pitchFamily="34" charset="0"/>
              </a:rPr>
              <a:t>Black/dark brown</a:t>
            </a:r>
            <a:r>
              <a:rPr lang="en-GB" sz="21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mafic composition (relatively low silica, high Fe and Mg)  low viscosity basaltic magma</a:t>
            </a:r>
            <a:endParaRPr lang="en-GB" sz="2100" dirty="0">
              <a:latin typeface="Tahoma" panose="020B0604030504040204" pitchFamily="34" charset="0"/>
              <a:ea typeface="Tahoma" panose="020B0604030504040204" pitchFamily="34" charset="0"/>
              <a:cs typeface="Tahoma" panose="020B0604030504040204" pitchFamily="34" charset="0"/>
            </a:endParaRPr>
          </a:p>
        </p:txBody>
      </p:sp>
      <p:cxnSp>
        <p:nvCxnSpPr>
          <p:cNvPr id="15" name="Straight Arrow Connector 14">
            <a:extLst>
              <a:ext uri="{FF2B5EF4-FFF2-40B4-BE49-F238E27FC236}">
                <a16:creationId xmlns:a16="http://schemas.microsoft.com/office/drawing/2014/main" id="{88F1EB21-C17D-B923-4B95-F023979315F3}"/>
              </a:ext>
            </a:extLst>
          </p:cNvPr>
          <p:cNvCxnSpPr>
            <a:cxnSpLocks/>
          </p:cNvCxnSpPr>
          <p:nvPr/>
        </p:nvCxnSpPr>
        <p:spPr>
          <a:xfrm flipH="1">
            <a:off x="4466758" y="2726824"/>
            <a:ext cx="1616376" cy="1478097"/>
          </a:xfrm>
          <a:prstGeom prst="straightConnector1">
            <a:avLst/>
          </a:prstGeom>
          <a:ln w="571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7" name="TextBox 16">
            <a:extLst>
              <a:ext uri="{FF2B5EF4-FFF2-40B4-BE49-F238E27FC236}">
                <a16:creationId xmlns:a16="http://schemas.microsoft.com/office/drawing/2014/main" id="{4D8A8015-A16E-6012-9A82-2CA532450258}"/>
              </a:ext>
            </a:extLst>
          </p:cNvPr>
          <p:cNvSpPr txBox="1"/>
          <p:nvPr/>
        </p:nvSpPr>
        <p:spPr>
          <a:xfrm>
            <a:off x="6083134" y="2163837"/>
            <a:ext cx="5133398" cy="1061829"/>
          </a:xfrm>
          <a:prstGeom prst="rect">
            <a:avLst/>
          </a:prstGeom>
          <a:noFill/>
          <a:ln>
            <a:solidFill>
              <a:srgbClr val="00B050"/>
            </a:solidFill>
          </a:ln>
        </p:spPr>
        <p:txBody>
          <a:bodyPr wrap="square" rtlCol="0">
            <a:spAutoFit/>
          </a:bodyPr>
          <a:lstStyle/>
          <a:p>
            <a:r>
              <a:rPr lang="en-GB" sz="2100" dirty="0">
                <a:latin typeface="Tahoma" panose="020B0604030504040204" pitchFamily="34" charset="0"/>
                <a:ea typeface="Tahoma" panose="020B0604030504040204" pitchFamily="34" charset="0"/>
                <a:cs typeface="Tahoma" panose="020B0604030504040204" pitchFamily="34" charset="0"/>
              </a:rPr>
              <a:t>Just one ~6mm vesicle </a:t>
            </a:r>
            <a:r>
              <a:rPr lang="en-GB" sz="21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a:t>
            </a:r>
            <a:r>
              <a:rPr lang="en-GB" sz="2100" dirty="0">
                <a:latin typeface="Tahoma" panose="020B0604030504040204" pitchFamily="34" charset="0"/>
                <a:ea typeface="Tahoma" panose="020B0604030504040204" pitchFamily="34" charset="0"/>
                <a:cs typeface="Tahoma" panose="020B0604030504040204" pitchFamily="34" charset="0"/>
              </a:rPr>
              <a:t> sample is not a product of explosive activity </a:t>
            </a:r>
            <a:r>
              <a:rPr lang="en-GB" sz="21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sample is a product of </a:t>
            </a:r>
            <a:r>
              <a:rPr lang="en-GB" sz="2100" b="1"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effusive</a:t>
            </a:r>
            <a:r>
              <a:rPr lang="en-GB" sz="21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activity (lava flow)</a:t>
            </a:r>
            <a:endParaRPr lang="en-GB" sz="2100" dirty="0">
              <a:latin typeface="Tahoma" panose="020B0604030504040204" pitchFamily="34" charset="0"/>
              <a:ea typeface="Tahoma" panose="020B0604030504040204" pitchFamily="34" charset="0"/>
              <a:cs typeface="Tahoma" panose="020B0604030504040204" pitchFamily="34" charset="0"/>
            </a:endParaRPr>
          </a:p>
        </p:txBody>
      </p:sp>
      <p:cxnSp>
        <p:nvCxnSpPr>
          <p:cNvPr id="18" name="Straight Arrow Connector 17">
            <a:extLst>
              <a:ext uri="{FF2B5EF4-FFF2-40B4-BE49-F238E27FC236}">
                <a16:creationId xmlns:a16="http://schemas.microsoft.com/office/drawing/2014/main" id="{5CA0FDCF-6201-71EA-41D8-8B15ADB6CF74}"/>
              </a:ext>
            </a:extLst>
          </p:cNvPr>
          <p:cNvCxnSpPr>
            <a:cxnSpLocks/>
          </p:cNvCxnSpPr>
          <p:nvPr/>
        </p:nvCxnSpPr>
        <p:spPr>
          <a:xfrm flipH="1">
            <a:off x="2932997" y="1272772"/>
            <a:ext cx="3067522" cy="1424840"/>
          </a:xfrm>
          <a:prstGeom prst="straightConnector1">
            <a:avLst/>
          </a:prstGeom>
          <a:ln w="571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1" name="TextBox 20">
            <a:extLst>
              <a:ext uri="{FF2B5EF4-FFF2-40B4-BE49-F238E27FC236}">
                <a16:creationId xmlns:a16="http://schemas.microsoft.com/office/drawing/2014/main" id="{41ED2BBD-6B56-FD97-BB24-60D346C9E7CC}"/>
              </a:ext>
            </a:extLst>
          </p:cNvPr>
          <p:cNvSpPr txBox="1"/>
          <p:nvPr/>
        </p:nvSpPr>
        <p:spPr>
          <a:xfrm>
            <a:off x="6000519" y="897847"/>
            <a:ext cx="5216013" cy="738664"/>
          </a:xfrm>
          <a:prstGeom prst="rect">
            <a:avLst/>
          </a:prstGeom>
          <a:noFill/>
          <a:ln>
            <a:solidFill>
              <a:srgbClr val="00B050"/>
            </a:solidFill>
          </a:ln>
        </p:spPr>
        <p:txBody>
          <a:bodyPr wrap="square" rtlCol="0">
            <a:spAutoFit/>
          </a:bodyPr>
          <a:lstStyle/>
          <a:p>
            <a:r>
              <a:rPr lang="en-GB" sz="2100" dirty="0">
                <a:latin typeface="Tahoma" panose="020B0604030504040204" pitchFamily="34" charset="0"/>
                <a:ea typeface="Tahoma" panose="020B0604030504040204" pitchFamily="34" charset="0"/>
                <a:cs typeface="Tahoma" panose="020B0604030504040204" pitchFamily="34" charset="0"/>
              </a:rPr>
              <a:t>Blue, glassy texture on surface (and fine-grained groundmass) </a:t>
            </a:r>
            <a:r>
              <a:rPr lang="en-GB" sz="21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a:t>
            </a:r>
            <a:r>
              <a:rPr lang="en-GB" sz="2100" dirty="0">
                <a:latin typeface="Tahoma" panose="020B0604030504040204" pitchFamily="34" charset="0"/>
                <a:ea typeface="Tahoma" panose="020B0604030504040204" pitchFamily="34" charset="0"/>
                <a:cs typeface="Tahoma" panose="020B0604030504040204" pitchFamily="34" charset="0"/>
              </a:rPr>
              <a:t> rapid cooling</a:t>
            </a:r>
          </a:p>
        </p:txBody>
      </p:sp>
      <p:cxnSp>
        <p:nvCxnSpPr>
          <p:cNvPr id="22" name="Straight Arrow Connector 21">
            <a:extLst>
              <a:ext uri="{FF2B5EF4-FFF2-40B4-BE49-F238E27FC236}">
                <a16:creationId xmlns:a16="http://schemas.microsoft.com/office/drawing/2014/main" id="{AE64B71E-27A2-271E-B851-B7C53CA867A1}"/>
              </a:ext>
            </a:extLst>
          </p:cNvPr>
          <p:cNvCxnSpPr>
            <a:cxnSpLocks/>
          </p:cNvCxnSpPr>
          <p:nvPr/>
        </p:nvCxnSpPr>
        <p:spPr>
          <a:xfrm flipH="1" flipV="1">
            <a:off x="2587743" y="4160388"/>
            <a:ext cx="3508257" cy="491059"/>
          </a:xfrm>
          <a:prstGeom prst="straightConnector1">
            <a:avLst/>
          </a:prstGeom>
          <a:ln w="571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4" name="TextBox 23">
            <a:extLst>
              <a:ext uri="{FF2B5EF4-FFF2-40B4-BE49-F238E27FC236}">
                <a16:creationId xmlns:a16="http://schemas.microsoft.com/office/drawing/2014/main" id="{C3A20C67-31A4-6D73-C21A-A7DF390C1FD8}"/>
              </a:ext>
            </a:extLst>
          </p:cNvPr>
          <p:cNvSpPr txBox="1"/>
          <p:nvPr/>
        </p:nvSpPr>
        <p:spPr>
          <a:xfrm>
            <a:off x="6083134" y="3753769"/>
            <a:ext cx="5133398" cy="1061829"/>
          </a:xfrm>
          <a:prstGeom prst="rect">
            <a:avLst/>
          </a:prstGeom>
          <a:noFill/>
          <a:ln>
            <a:solidFill>
              <a:srgbClr val="00B050"/>
            </a:solidFill>
          </a:ln>
        </p:spPr>
        <p:txBody>
          <a:bodyPr wrap="square" rtlCol="0">
            <a:spAutoFit/>
          </a:bodyPr>
          <a:lstStyle/>
          <a:p>
            <a:r>
              <a:rPr lang="en-GB" sz="2100" dirty="0">
                <a:latin typeface="Tahoma" panose="020B0604030504040204" pitchFamily="34" charset="0"/>
                <a:ea typeface="Tahoma" panose="020B0604030504040204" pitchFamily="34" charset="0"/>
                <a:cs typeface="Tahoma" panose="020B0604030504040204" pitchFamily="34" charset="0"/>
              </a:rPr>
              <a:t>Phenocrysts: green crystals </a:t>
            </a:r>
            <a:r>
              <a:rPr lang="en-GB" sz="21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olivine, white crystals = plagioclase  typical of tholeiitic basalt</a:t>
            </a:r>
            <a:endParaRPr lang="en-GB" sz="21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843879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right)">
                                      <p:cBhvr>
                                        <p:cTn id="7" dur="500"/>
                                        <p:tgtEl>
                                          <p:spTgt spid="11"/>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right)">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wipe(down)">
                                      <p:cBhvr>
                                        <p:cTn id="15" dur="500"/>
                                        <p:tgtEl>
                                          <p:spTgt spid="18"/>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wipe(down)">
                                      <p:cBhvr>
                                        <p:cTn id="18" dur="5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down)">
                                      <p:cBhvr>
                                        <p:cTn id="23" dur="500"/>
                                        <p:tgtEl>
                                          <p:spTgt spid="15"/>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down)">
                                      <p:cBhvr>
                                        <p:cTn id="26" dur="5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wipe(down)">
                                      <p:cBhvr>
                                        <p:cTn id="31" dur="500"/>
                                        <p:tgtEl>
                                          <p:spTgt spid="22"/>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wipe(down)">
                                      <p:cBhvr>
                                        <p:cTn id="34" dur="500"/>
                                        <p:tgtEl>
                                          <p:spTgt spid="24"/>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xit" presetSubtype="0" fill="hold" nodeType="clickEffect">
                                  <p:stCondLst>
                                    <p:cond delay="0"/>
                                  </p:stCondLst>
                                  <p:childTnLst>
                                    <p:animEffect transition="out" filter="dissolve">
                                      <p:cBhvr>
                                        <p:cTn id="38" dur="500"/>
                                        <p:tgtEl>
                                          <p:spTgt spid="18"/>
                                        </p:tgtEl>
                                      </p:cBhvr>
                                    </p:animEffect>
                                    <p:set>
                                      <p:cBhvr>
                                        <p:cTn id="39" dur="1" fill="hold">
                                          <p:stCondLst>
                                            <p:cond delay="499"/>
                                          </p:stCondLst>
                                        </p:cTn>
                                        <p:tgtEl>
                                          <p:spTgt spid="18"/>
                                        </p:tgtEl>
                                        <p:attrNameLst>
                                          <p:attrName>style.visibility</p:attrName>
                                        </p:attrNameLst>
                                      </p:cBhvr>
                                      <p:to>
                                        <p:strVal val="hidden"/>
                                      </p:to>
                                    </p:set>
                                  </p:childTnLst>
                                </p:cTn>
                              </p:par>
                              <p:par>
                                <p:cTn id="40" presetID="9" presetClass="exit" presetSubtype="0" fill="hold" nodeType="withEffect">
                                  <p:stCondLst>
                                    <p:cond delay="0"/>
                                  </p:stCondLst>
                                  <p:childTnLst>
                                    <p:animEffect transition="out" filter="dissolve">
                                      <p:cBhvr>
                                        <p:cTn id="41" dur="500"/>
                                        <p:tgtEl>
                                          <p:spTgt spid="15"/>
                                        </p:tgtEl>
                                      </p:cBhvr>
                                    </p:animEffect>
                                    <p:set>
                                      <p:cBhvr>
                                        <p:cTn id="42" dur="1" fill="hold">
                                          <p:stCondLst>
                                            <p:cond delay="499"/>
                                          </p:stCondLst>
                                        </p:cTn>
                                        <p:tgtEl>
                                          <p:spTgt spid="15"/>
                                        </p:tgtEl>
                                        <p:attrNameLst>
                                          <p:attrName>style.visibility</p:attrName>
                                        </p:attrNameLst>
                                      </p:cBhvr>
                                      <p:to>
                                        <p:strVal val="hidden"/>
                                      </p:to>
                                    </p:set>
                                  </p:childTnLst>
                                </p:cTn>
                              </p:par>
                              <p:par>
                                <p:cTn id="43" presetID="9" presetClass="exit" presetSubtype="0" fill="hold" nodeType="withEffect">
                                  <p:stCondLst>
                                    <p:cond delay="0"/>
                                  </p:stCondLst>
                                  <p:childTnLst>
                                    <p:animEffect transition="out" filter="dissolve">
                                      <p:cBhvr>
                                        <p:cTn id="44" dur="500"/>
                                        <p:tgtEl>
                                          <p:spTgt spid="22"/>
                                        </p:tgtEl>
                                      </p:cBhvr>
                                    </p:animEffect>
                                    <p:set>
                                      <p:cBhvr>
                                        <p:cTn id="45" dur="1" fill="hold">
                                          <p:stCondLst>
                                            <p:cond delay="499"/>
                                          </p:stCondLst>
                                        </p:cTn>
                                        <p:tgtEl>
                                          <p:spTgt spid="22"/>
                                        </p:tgtEl>
                                        <p:attrNameLst>
                                          <p:attrName>style.visibility</p:attrName>
                                        </p:attrNameLst>
                                      </p:cBhvr>
                                      <p:to>
                                        <p:strVal val="hidden"/>
                                      </p:to>
                                    </p:set>
                                  </p:childTnLst>
                                </p:cTn>
                              </p:par>
                              <p:par>
                                <p:cTn id="46" presetID="9" presetClass="exit" presetSubtype="0" fill="hold" nodeType="withEffect">
                                  <p:stCondLst>
                                    <p:cond delay="0"/>
                                  </p:stCondLst>
                                  <p:childTnLst>
                                    <p:animEffect transition="out" filter="dissolve">
                                      <p:cBhvr>
                                        <p:cTn id="47" dur="500"/>
                                        <p:tgtEl>
                                          <p:spTgt spid="11"/>
                                        </p:tgtEl>
                                      </p:cBhvr>
                                    </p:animEffect>
                                    <p:set>
                                      <p:cBhvr>
                                        <p:cTn id="48" dur="1" fill="hold">
                                          <p:stCondLst>
                                            <p:cond delay="499"/>
                                          </p:stCondLst>
                                        </p:cTn>
                                        <p:tgtEl>
                                          <p:spTgt spid="11"/>
                                        </p:tgtEl>
                                        <p:attrNameLst>
                                          <p:attrName>style.visibility</p:attrName>
                                        </p:attrNameLst>
                                      </p:cBhvr>
                                      <p:to>
                                        <p:strVal val="hidden"/>
                                      </p:to>
                                    </p:set>
                                  </p:childTnLst>
                                </p:cTn>
                              </p:par>
                              <p:par>
                                <p:cTn id="49" presetID="22" presetClass="exit" presetSubtype="4" fill="hold" grpId="1" nodeType="withEffect">
                                  <p:stCondLst>
                                    <p:cond delay="0"/>
                                  </p:stCondLst>
                                  <p:childTnLst>
                                    <p:animEffect transition="out" filter="wipe(down)">
                                      <p:cBhvr>
                                        <p:cTn id="50" dur="500"/>
                                        <p:tgtEl>
                                          <p:spTgt spid="12"/>
                                        </p:tgtEl>
                                      </p:cBhvr>
                                    </p:animEffect>
                                    <p:set>
                                      <p:cBhvr>
                                        <p:cTn id="51" dur="1" fill="hold">
                                          <p:stCondLst>
                                            <p:cond delay="499"/>
                                          </p:stCondLst>
                                        </p:cTn>
                                        <p:tgtEl>
                                          <p:spTgt spid="12"/>
                                        </p:tgtEl>
                                        <p:attrNameLst>
                                          <p:attrName>style.visibility</p:attrName>
                                        </p:attrNameLst>
                                      </p:cBhvr>
                                      <p:to>
                                        <p:strVal val="hidden"/>
                                      </p:to>
                                    </p:set>
                                  </p:childTnLst>
                                </p:cTn>
                              </p:par>
                              <p:par>
                                <p:cTn id="52" presetID="22" presetClass="exit" presetSubtype="4" fill="hold" grpId="1" nodeType="withEffect">
                                  <p:stCondLst>
                                    <p:cond delay="0"/>
                                  </p:stCondLst>
                                  <p:childTnLst>
                                    <p:animEffect transition="out" filter="wipe(down)">
                                      <p:cBhvr>
                                        <p:cTn id="53" dur="500"/>
                                        <p:tgtEl>
                                          <p:spTgt spid="21"/>
                                        </p:tgtEl>
                                      </p:cBhvr>
                                    </p:animEffect>
                                    <p:set>
                                      <p:cBhvr>
                                        <p:cTn id="54" dur="1" fill="hold">
                                          <p:stCondLst>
                                            <p:cond delay="499"/>
                                          </p:stCondLst>
                                        </p:cTn>
                                        <p:tgtEl>
                                          <p:spTgt spid="21"/>
                                        </p:tgtEl>
                                        <p:attrNameLst>
                                          <p:attrName>style.visibility</p:attrName>
                                        </p:attrNameLst>
                                      </p:cBhvr>
                                      <p:to>
                                        <p:strVal val="hidden"/>
                                      </p:to>
                                    </p:set>
                                  </p:childTnLst>
                                </p:cTn>
                              </p:par>
                              <p:par>
                                <p:cTn id="55" presetID="22" presetClass="exit" presetSubtype="4" fill="hold" grpId="1" nodeType="withEffect">
                                  <p:stCondLst>
                                    <p:cond delay="0"/>
                                  </p:stCondLst>
                                  <p:childTnLst>
                                    <p:animEffect transition="out" filter="wipe(down)">
                                      <p:cBhvr>
                                        <p:cTn id="56" dur="500"/>
                                        <p:tgtEl>
                                          <p:spTgt spid="17"/>
                                        </p:tgtEl>
                                      </p:cBhvr>
                                    </p:animEffect>
                                    <p:set>
                                      <p:cBhvr>
                                        <p:cTn id="57" dur="1" fill="hold">
                                          <p:stCondLst>
                                            <p:cond delay="499"/>
                                          </p:stCondLst>
                                        </p:cTn>
                                        <p:tgtEl>
                                          <p:spTgt spid="17"/>
                                        </p:tgtEl>
                                        <p:attrNameLst>
                                          <p:attrName>style.visibility</p:attrName>
                                        </p:attrNameLst>
                                      </p:cBhvr>
                                      <p:to>
                                        <p:strVal val="hidden"/>
                                      </p:to>
                                    </p:set>
                                  </p:childTnLst>
                                </p:cTn>
                              </p:par>
                              <p:par>
                                <p:cTn id="58" presetID="22" presetClass="exit" presetSubtype="4" fill="hold" grpId="1" nodeType="withEffect">
                                  <p:stCondLst>
                                    <p:cond delay="0"/>
                                  </p:stCondLst>
                                  <p:childTnLst>
                                    <p:animEffect transition="out" filter="wipe(down)">
                                      <p:cBhvr>
                                        <p:cTn id="59" dur="500"/>
                                        <p:tgtEl>
                                          <p:spTgt spid="24"/>
                                        </p:tgtEl>
                                      </p:cBhvr>
                                    </p:animEffect>
                                    <p:set>
                                      <p:cBhvr>
                                        <p:cTn id="60" dur="1" fill="hold">
                                          <p:stCondLst>
                                            <p:cond delay="499"/>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P spid="17" grpId="0" animBg="1"/>
      <p:bldP spid="17" grpId="1" animBg="1"/>
      <p:bldP spid="21" grpId="0" animBg="1"/>
      <p:bldP spid="21" grpId="1" animBg="1"/>
      <p:bldP spid="24" grpId="0" animBg="1"/>
      <p:bldP spid="24"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857B7-CA11-D08B-65CB-EDF8A293885F}"/>
            </a:ext>
          </a:extLst>
        </p:cNvPr>
        <p:cNvGrpSpPr/>
        <p:nvPr/>
      </p:nvGrpSpPr>
      <p:grpSpPr>
        <a:xfrm>
          <a:off x="0" y="0"/>
          <a:ext cx="0" cy="0"/>
          <a:chOff x="0" y="0"/>
          <a:chExt cx="0" cy="0"/>
        </a:xfrm>
      </p:grpSpPr>
      <p:pic>
        <p:nvPicPr>
          <p:cNvPr id="2" name="Picture 1" descr="A piece of rock with a ruler&#10;&#10;AI-generated content may be incorrect.">
            <a:extLst>
              <a:ext uri="{FF2B5EF4-FFF2-40B4-BE49-F238E27FC236}">
                <a16:creationId xmlns:a16="http://schemas.microsoft.com/office/drawing/2014/main" id="{DFF0F1A0-EB0C-F729-4548-DB64A2389F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6105" y="929658"/>
            <a:ext cx="4054501" cy="5245510"/>
          </a:xfrm>
          <a:prstGeom prst="rect">
            <a:avLst/>
          </a:prstGeom>
        </p:spPr>
      </p:pic>
      <p:sp>
        <p:nvSpPr>
          <p:cNvPr id="5" name="TextBox 4">
            <a:extLst>
              <a:ext uri="{FF2B5EF4-FFF2-40B4-BE49-F238E27FC236}">
                <a16:creationId xmlns:a16="http://schemas.microsoft.com/office/drawing/2014/main" id="{3DDB8CFF-21D6-3135-1C22-E85706C9C9B6}"/>
              </a:ext>
            </a:extLst>
          </p:cNvPr>
          <p:cNvSpPr txBox="1"/>
          <p:nvPr/>
        </p:nvSpPr>
        <p:spPr>
          <a:xfrm>
            <a:off x="437614" y="340850"/>
            <a:ext cx="7044685" cy="415498"/>
          </a:xfrm>
          <a:prstGeom prst="rect">
            <a:avLst/>
          </a:prstGeom>
          <a:noFill/>
        </p:spPr>
        <p:txBody>
          <a:bodyPr wrap="none" rtlCol="0">
            <a:spAutoFit/>
          </a:bodyPr>
          <a:lstStyle/>
          <a:p>
            <a:r>
              <a:rPr lang="en-GB" sz="2100" dirty="0">
                <a:latin typeface="Tahoma" panose="020B0604030504040204" pitchFamily="34" charset="0"/>
                <a:ea typeface="Tahoma" panose="020B0604030504040204" pitchFamily="34" charset="0"/>
                <a:cs typeface="Tahoma" panose="020B0604030504040204" pitchFamily="34" charset="0"/>
              </a:rPr>
              <a:t>Sample MV01: </a:t>
            </a:r>
            <a:r>
              <a:rPr lang="en-GB" sz="2100" dirty="0" err="1">
                <a:latin typeface="Tahoma" panose="020B0604030504040204" pitchFamily="34" charset="0"/>
                <a:ea typeface="Tahoma" panose="020B0604030504040204" pitchFamily="34" charset="0"/>
                <a:cs typeface="Tahoma" panose="020B0604030504040204" pitchFamily="34" charset="0"/>
              </a:rPr>
              <a:t>Meradalir</a:t>
            </a:r>
            <a:r>
              <a:rPr lang="en-GB" sz="2100" dirty="0">
                <a:latin typeface="Tahoma" panose="020B0604030504040204" pitchFamily="34" charset="0"/>
                <a:ea typeface="Tahoma" panose="020B0604030504040204" pitchFamily="34" charset="0"/>
                <a:cs typeface="Tahoma" panose="020B0604030504040204" pitchFamily="34" charset="0"/>
              </a:rPr>
              <a:t> Valley, </a:t>
            </a:r>
            <a:r>
              <a:rPr lang="en-GB" sz="2100" dirty="0" err="1">
                <a:latin typeface="Tahoma" panose="020B0604030504040204" pitchFamily="34" charset="0"/>
                <a:ea typeface="Tahoma" panose="020B0604030504040204" pitchFamily="34" charset="0"/>
                <a:cs typeface="Tahoma" panose="020B0604030504040204" pitchFamily="34" charset="0"/>
              </a:rPr>
              <a:t>Fagradalsfjall</a:t>
            </a:r>
            <a:r>
              <a:rPr lang="en-GB" sz="2100" dirty="0">
                <a:latin typeface="Tahoma" panose="020B0604030504040204" pitchFamily="34" charset="0"/>
                <a:ea typeface="Tahoma" panose="020B0604030504040204" pitchFamily="34" charset="0"/>
                <a:cs typeface="Tahoma" panose="020B0604030504040204" pitchFamily="34" charset="0"/>
              </a:rPr>
              <a:t>, SW Iceland</a:t>
            </a:r>
          </a:p>
        </p:txBody>
      </p:sp>
      <p:sp>
        <p:nvSpPr>
          <p:cNvPr id="3" name="TextBox 2">
            <a:extLst>
              <a:ext uri="{FF2B5EF4-FFF2-40B4-BE49-F238E27FC236}">
                <a16:creationId xmlns:a16="http://schemas.microsoft.com/office/drawing/2014/main" id="{4FE8D088-1EB2-6436-933B-FEA9FF2371B5}"/>
              </a:ext>
            </a:extLst>
          </p:cNvPr>
          <p:cNvSpPr txBox="1"/>
          <p:nvPr/>
        </p:nvSpPr>
        <p:spPr>
          <a:xfrm>
            <a:off x="4768645" y="921661"/>
            <a:ext cx="7344697" cy="1938992"/>
          </a:xfrm>
          <a:prstGeom prst="rect">
            <a:avLst/>
          </a:prstGeom>
          <a:noFill/>
        </p:spPr>
        <p:txBody>
          <a:bodyPr wrap="square">
            <a:spAutoFit/>
          </a:bodyPr>
          <a:lstStyle/>
          <a:p>
            <a:r>
              <a:rPr lang="en-US" sz="2400" dirty="0">
                <a:solidFill>
                  <a:srgbClr val="00B050"/>
                </a:solidFill>
                <a:latin typeface="Tahoma" panose="020B0604030504040204" pitchFamily="34" charset="0"/>
                <a:ea typeface="Tahoma" panose="020B0604030504040204" pitchFamily="34" charset="0"/>
                <a:cs typeface="Tahoma" panose="020B0604030504040204" pitchFamily="34" charset="0"/>
              </a:rPr>
              <a:t>This volcanic sample was produced by an effusive eruption (lava flow). The magma </a:t>
            </a:r>
            <a:r>
              <a:rPr lang="en-US" sz="2400">
                <a:solidFill>
                  <a:srgbClr val="00B050"/>
                </a:solidFill>
                <a:latin typeface="Tahoma" panose="020B0604030504040204" pitchFamily="34" charset="0"/>
                <a:ea typeface="Tahoma" panose="020B0604030504040204" pitchFamily="34" charset="0"/>
                <a:cs typeface="Tahoma" panose="020B0604030504040204" pitchFamily="34" charset="0"/>
              </a:rPr>
              <a:t>has a basaltic </a:t>
            </a:r>
            <a:r>
              <a:rPr lang="en-US" sz="2400" dirty="0">
                <a:solidFill>
                  <a:srgbClr val="00B050"/>
                </a:solidFill>
                <a:latin typeface="Tahoma" panose="020B0604030504040204" pitchFamily="34" charset="0"/>
                <a:ea typeface="Tahoma" panose="020B0604030504040204" pitchFamily="34" charset="0"/>
                <a:cs typeface="Tahoma" panose="020B0604030504040204" pitchFamily="34" charset="0"/>
              </a:rPr>
              <a:t>composition and is relatively volatile-poor. Such eruptions are typical of mid-ocean ridge / hot spot volcanism e.g. Iceland / </a:t>
            </a:r>
            <a:r>
              <a:rPr lang="en-GB" sz="2400" dirty="0" err="1">
                <a:solidFill>
                  <a:srgbClr val="00B050"/>
                </a:solidFill>
                <a:latin typeface="Tahoma" panose="020B0604030504040204" pitchFamily="34" charset="0"/>
                <a:ea typeface="Tahoma" panose="020B0604030504040204" pitchFamily="34" charset="0"/>
                <a:cs typeface="Tahoma" panose="020B0604030504040204" pitchFamily="34" charset="0"/>
              </a:rPr>
              <a:t>Hawaiʻi</a:t>
            </a:r>
            <a:r>
              <a:rPr lang="en-GB" sz="2400" dirty="0">
                <a:solidFill>
                  <a:srgbClr val="00B050"/>
                </a:solidFill>
                <a:latin typeface="Tahoma" panose="020B0604030504040204" pitchFamily="34" charset="0"/>
                <a:ea typeface="Tahoma" panose="020B0604030504040204" pitchFamily="34" charset="0"/>
                <a:cs typeface="Tahoma" panose="020B0604030504040204" pitchFamily="34" charset="0"/>
              </a:rPr>
              <a:t>. </a:t>
            </a:r>
            <a:endParaRPr lang="en-US" sz="2400" dirty="0">
              <a:solidFill>
                <a:srgbClr val="00B050"/>
              </a:solidFill>
              <a:latin typeface="Tahoma" panose="020B0604030504040204" pitchFamily="34" charset="0"/>
              <a:ea typeface="Tahoma" panose="020B0604030504040204" pitchFamily="34" charset="0"/>
              <a:cs typeface="Tahoma" panose="020B0604030504040204" pitchFamily="34" charset="0"/>
            </a:endParaRPr>
          </a:p>
        </p:txBody>
      </p:sp>
      <p:pic>
        <p:nvPicPr>
          <p:cNvPr id="2052" name="Picture 4" descr="The 2021 Fagradalsfjall (Geldingadalir) eruption webinar for viewing! -  International Association of Volcanology and Chemistry of the Earth's  Interior">
            <a:extLst>
              <a:ext uri="{FF2B5EF4-FFF2-40B4-BE49-F238E27FC236}">
                <a16:creationId xmlns:a16="http://schemas.microsoft.com/office/drawing/2014/main" id="{3A4A4FB6-F57B-CE27-DACF-0CC4C4F7AC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8645" y="3114117"/>
            <a:ext cx="7073462" cy="26718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2271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52"/>
                                        </p:tgtEl>
                                        <p:attrNameLst>
                                          <p:attrName>style.visibility</p:attrName>
                                        </p:attrNameLst>
                                      </p:cBhvr>
                                      <p:to>
                                        <p:strVal val="visible"/>
                                      </p:to>
                                    </p:set>
                                    <p:animEffect transition="in" filter="fade">
                                      <p:cBhvr>
                                        <p:cTn id="12" dur="500"/>
                                        <p:tgtEl>
                                          <p:spTgt spid="2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1965</TotalTime>
  <Words>775</Words>
  <Application>Microsoft Office PowerPoint</Application>
  <PresentationFormat>Widescreen</PresentationFormat>
  <Paragraphs>54</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Arial</vt:lpstr>
      <vt:lpstr>Grandview Display</vt:lpstr>
      <vt:lpstr>Tahoma</vt:lpstr>
      <vt:lpstr>DashVTI</vt:lpstr>
      <vt:lpstr>Volcanic  Eruption  Products </vt:lpstr>
      <vt:lpstr>The Earth is home to hundreds of active volcanoes</vt:lpstr>
      <vt:lpstr>Tectonic setting and volcanism</vt:lpstr>
      <vt:lpstr>Magma chemistry &amp; physics</vt:lpstr>
      <vt:lpstr>What are (effusive and explosive) eruptions?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Amy Kember</dc:creator>
  <cp:lastModifiedBy>Amy Kember</cp:lastModifiedBy>
  <cp:revision>2</cp:revision>
  <dcterms:created xsi:type="dcterms:W3CDTF">2025-02-25T17:03:26Z</dcterms:created>
  <dcterms:modified xsi:type="dcterms:W3CDTF">2025-02-27T09:50:08Z</dcterms:modified>
</cp:coreProperties>
</file>