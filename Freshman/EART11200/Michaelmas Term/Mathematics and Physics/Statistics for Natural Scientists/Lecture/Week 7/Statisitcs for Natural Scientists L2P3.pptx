
<file path=[Content_Types].xml><?xml version="1.0" encoding="utf-8"?>
<Types xmlns="http://schemas.openxmlformats.org/package/2006/content-types">
  <Default Extension="png" ContentType="image/png"/>
  <Default Extension="m4a" ContentType="audio/mp4"/>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332" r:id="rId2"/>
    <p:sldId id="284" r:id="rId3"/>
    <p:sldId id="285" r:id="rId4"/>
    <p:sldId id="286" r:id="rId5"/>
    <p:sldId id="297" r:id="rId6"/>
    <p:sldId id="298" r:id="rId7"/>
    <p:sldId id="299" r:id="rId8"/>
    <p:sldId id="307" r:id="rId9"/>
    <p:sldId id="300" r:id="rId10"/>
    <p:sldId id="301" r:id="rId11"/>
    <p:sldId id="302"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020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0314"/>
    <p:restoredTop sz="50089" autoAdjust="0"/>
  </p:normalViewPr>
  <p:slideViewPr>
    <p:cSldViewPr snapToGrid="0" snapToObjects="1">
      <p:cViewPr varScale="1">
        <p:scale>
          <a:sx n="44" d="100"/>
          <a:sy n="44" d="100"/>
        </p:scale>
        <p:origin x="2824" y="192"/>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658177-DCEB-4046-8EC6-AB49114D63F7}" type="datetimeFigureOut">
              <a:rPr lang="en-US" smtClean="0"/>
              <a:t>4/9/21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00F377A-0F8E-4448-A8E9-7B8C688BDF07}" type="slidenum">
              <a:rPr lang="en-US" smtClean="0"/>
              <a:t>‹#›</a:t>
            </a:fld>
            <a:endParaRPr lang="en-US"/>
          </a:p>
        </p:txBody>
      </p:sp>
    </p:spTree>
    <p:extLst>
      <p:ext uri="{BB962C8B-B14F-4D97-AF65-F5344CB8AC3E}">
        <p14:creationId xmlns:p14="http://schemas.microsoft.com/office/powerpoint/2010/main" val="367538085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Welcome back. There is one last idea I want to cover in today’s lecture.</a:t>
            </a:r>
            <a:endParaRPr lang="en-US" b="0" baseline="0" dirty="0"/>
          </a:p>
        </p:txBody>
      </p:sp>
      <p:sp>
        <p:nvSpPr>
          <p:cNvPr id="4" name="Slide Number Placeholder 3"/>
          <p:cNvSpPr>
            <a:spLocks noGrp="1"/>
          </p:cNvSpPr>
          <p:nvPr>
            <p:ph type="sldNum" sz="quarter" idx="10"/>
          </p:nvPr>
        </p:nvSpPr>
        <p:spPr/>
        <p:txBody>
          <a:bodyPr/>
          <a:lstStyle/>
          <a:p>
            <a:fld id="{300F377A-0F8E-4448-A8E9-7B8C688BDF07}" type="slidenum">
              <a:rPr lang="en-US" smtClean="0"/>
              <a:t>1</a:t>
            </a:fld>
            <a:endParaRPr lang="en-US"/>
          </a:p>
        </p:txBody>
      </p:sp>
    </p:spTree>
    <p:extLst>
      <p:ext uri="{BB962C8B-B14F-4D97-AF65-F5344CB8AC3E}">
        <p14:creationId xmlns:p14="http://schemas.microsoft.com/office/powerpoint/2010/main" val="2943903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ANOVA works by comparing</a:t>
            </a:r>
            <a:r>
              <a:rPr lang="en-US" b="0" baseline="0" dirty="0"/>
              <a:t> the variability explained by our treatments to the unexplained variability in our data. High ratios indicate an effect of the treatment.</a:t>
            </a:r>
          </a:p>
          <a:p>
            <a:endParaRPr lang="en-US" b="0" baseline="0" dirty="0"/>
          </a:p>
          <a:p>
            <a:r>
              <a:rPr lang="en-US" b="0" baseline="0" dirty="0"/>
              <a:t>This means that we can think of unexplained variability as the enemy, because unexplained variability obscures the effects of treatments. One way to limit unexplained variability is to do carefully controlled experiments. But, outside of the lab, this is not always possible. If you do your work in the field, there will be factors you can’t control.</a:t>
            </a:r>
          </a:p>
          <a:p>
            <a:endParaRPr lang="en-US" b="0" baseline="0" dirty="0"/>
          </a:p>
          <a:p>
            <a:r>
              <a:rPr lang="en-US" b="0" baseline="0" dirty="0"/>
              <a:t>If we cannot control unexplained variability, there is another way to get rid of it. We can explain it. Because, if we can explain variability, then it is no longer unexplained.</a:t>
            </a:r>
          </a:p>
          <a:p>
            <a:endParaRPr lang="en-US" b="0" baseline="0" dirty="0"/>
          </a:p>
          <a:p>
            <a:r>
              <a:rPr lang="en-US" b="0" baseline="0" dirty="0"/>
              <a:t>So, let’s look at the elephant data again. One source of variability in body size for most mammals is sex.</a:t>
            </a:r>
            <a:endParaRPr lang="en-US" b="0" dirty="0"/>
          </a:p>
        </p:txBody>
      </p:sp>
      <p:sp>
        <p:nvSpPr>
          <p:cNvPr id="4" name="Slide Number Placeholder 3"/>
          <p:cNvSpPr>
            <a:spLocks noGrp="1"/>
          </p:cNvSpPr>
          <p:nvPr>
            <p:ph type="sldNum" sz="quarter" idx="10"/>
          </p:nvPr>
        </p:nvSpPr>
        <p:spPr/>
        <p:txBody>
          <a:bodyPr/>
          <a:lstStyle/>
          <a:p>
            <a:fld id="{300F377A-0F8E-4448-A8E9-7B8C688BDF07}" type="slidenum">
              <a:rPr lang="en-US" smtClean="0"/>
              <a:t>2</a:t>
            </a:fld>
            <a:endParaRPr lang="en-US"/>
          </a:p>
        </p:txBody>
      </p:sp>
    </p:spTree>
    <p:extLst>
      <p:ext uri="{BB962C8B-B14F-4D97-AF65-F5344CB8AC3E}">
        <p14:creationId xmlns:p14="http://schemas.microsoft.com/office/powerpoint/2010/main" val="3481597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In this figure, I have colored the elephant bulls in blue and the cows in red. At a glance, it looks like the females are smaller than the males. So, some of the variability in this data set may be explained by sex.</a:t>
            </a:r>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3</a:t>
            </a:fld>
            <a:endParaRPr lang="en-US"/>
          </a:p>
        </p:txBody>
      </p:sp>
    </p:spTree>
    <p:extLst>
      <p:ext uri="{BB962C8B-B14F-4D97-AF65-F5344CB8AC3E}">
        <p14:creationId xmlns:p14="http://schemas.microsoft.com/office/powerpoint/2010/main" val="76743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If there is an effect of sex on elephant mass, then instead of having just one mean for each subspecies, we should have two: one for males and one for females. The error is just the difference between each point and its respective mean, and you can see that these have gotten smaller. So, by including sex in the model, we have reduced the unexplained variability, and increased our power to detect the effects of groups.</a:t>
            </a:r>
          </a:p>
          <a:p>
            <a:endParaRPr lang="en-US" baseline="0" dirty="0"/>
          </a:p>
          <a:p>
            <a:r>
              <a:rPr lang="en-US" baseline="0" dirty="0"/>
              <a:t>Because there are two predictors in this model, we call this a two-way ANOVA.</a:t>
            </a:r>
            <a:endParaRPr lang="en-US" dirty="0"/>
          </a:p>
        </p:txBody>
      </p:sp>
      <p:sp>
        <p:nvSpPr>
          <p:cNvPr id="4" name="Slide Number Placeholder 3"/>
          <p:cNvSpPr>
            <a:spLocks noGrp="1"/>
          </p:cNvSpPr>
          <p:nvPr>
            <p:ph type="sldNum" sz="quarter" idx="10"/>
          </p:nvPr>
        </p:nvSpPr>
        <p:spPr/>
        <p:txBody>
          <a:bodyPr/>
          <a:lstStyle/>
          <a:p>
            <a:fld id="{300F377A-0F8E-4448-A8E9-7B8C688BDF07}" type="slidenum">
              <a:rPr lang="en-US" smtClean="0"/>
              <a:t>4</a:t>
            </a:fld>
            <a:endParaRPr lang="en-US"/>
          </a:p>
        </p:txBody>
      </p:sp>
    </p:spTree>
    <p:extLst>
      <p:ext uri="{BB962C8B-B14F-4D97-AF65-F5344CB8AC3E}">
        <p14:creationId xmlns:p14="http://schemas.microsoft.com/office/powerpoint/2010/main" val="2160970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Implementing the two-way ANOVA is almost exactly the same as implementing the simple, one-way ANOVA. For the one-way ANOVA, we used the formula </a:t>
            </a:r>
            <a:r>
              <a:rPr lang="en-US" dirty="0" err="1"/>
              <a:t>mass~subspec</a:t>
            </a:r>
            <a:r>
              <a:rPr lang="en-US" dirty="0"/>
              <a:t>. For the two-way ANOVA, we will use the formula </a:t>
            </a:r>
            <a:r>
              <a:rPr lang="en-US" dirty="0" err="1"/>
              <a:t>mass~sex+subspec</a:t>
            </a:r>
            <a:r>
              <a:rPr lang="en-US" dirty="0"/>
              <a:t>. That is, we are asking how mass depends on subspecies, controlling for sex. </a:t>
            </a:r>
          </a:p>
        </p:txBody>
      </p:sp>
      <p:sp>
        <p:nvSpPr>
          <p:cNvPr id="4" name="Slide Number Placeholder 3"/>
          <p:cNvSpPr>
            <a:spLocks noGrp="1"/>
          </p:cNvSpPr>
          <p:nvPr>
            <p:ph type="sldNum" sz="quarter" idx="5"/>
          </p:nvPr>
        </p:nvSpPr>
        <p:spPr/>
        <p:txBody>
          <a:bodyPr/>
          <a:lstStyle/>
          <a:p>
            <a:fld id="{300F377A-0F8E-4448-A8E9-7B8C688BDF07}" type="slidenum">
              <a:rPr lang="en-US" smtClean="0"/>
              <a:t>5</a:t>
            </a:fld>
            <a:endParaRPr lang="en-US"/>
          </a:p>
        </p:txBody>
      </p:sp>
    </p:spTree>
    <p:extLst>
      <p:ext uri="{BB962C8B-B14F-4D97-AF65-F5344CB8AC3E}">
        <p14:creationId xmlns:p14="http://schemas.microsoft.com/office/powerpoint/2010/main" val="20581561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dirty="0"/>
              <a:t>Now, when we look at the summary, there are two rows. The first row tells us something about sex, but I will ignore that for now and come back to it later.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b="0" dirty="0"/>
              <a:t>The second row tells us whether subspecies predicts mass, while controlling for sex. The p-value is small – in fact, it is even smaller than it was when we did not control for sex. So, controlling for sex has increased the power or our analysis.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6</a:t>
            </a:fld>
            <a:endParaRPr lang="en-US"/>
          </a:p>
        </p:txBody>
      </p:sp>
    </p:spTree>
    <p:extLst>
      <p:ext uri="{BB962C8B-B14F-4D97-AF65-F5344CB8AC3E}">
        <p14:creationId xmlns:p14="http://schemas.microsoft.com/office/powerpoint/2010/main" val="256886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dirty="0"/>
              <a:t>If we want to know which subspecies differ from which other subspecies, we can do a post hoc Tukey test, just like we did for the one-way ANOVA.</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b="0" dirty="0"/>
              <a:t>The output reports something about sex, but I will ignore that for now.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b="0" dirty="0"/>
              <a:t>Instead, look at the output in the red circle. This compares the subspecies. Just as before, we find that Sri Lankan elephants and Bornean elephants are bigger than Indian elephants. The p-values in those rows are less than 0.05. But now, we also find that Sumatran elephants are bigger than Indian elephants. We did not find that in our one-way ANOVA. Controlling for the variability due to sex allows us to detect this new effect in our data.</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7</a:t>
            </a:fld>
            <a:endParaRPr lang="en-US"/>
          </a:p>
        </p:txBody>
      </p:sp>
    </p:spTree>
    <p:extLst>
      <p:ext uri="{BB962C8B-B14F-4D97-AF65-F5344CB8AC3E}">
        <p14:creationId xmlns:p14="http://schemas.microsoft.com/office/powerpoint/2010/main" val="42114723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Now, the syntax for two-way ANOVA is easy, but there is an important detail to pay attention to. Look again at the formula for our model, which R has helpfully reported here. We asked how mass depends on sex plus subspecies. The order in which we list these terms matters. Here, we are asking how mass depends on subspecies while controlling for sex. In general, we want to put the predictor we are interested in studying last.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00F377A-0F8E-4448-A8E9-7B8C688BDF07}" type="slidenum">
              <a:rPr lang="en-US" smtClean="0"/>
              <a:t>8</a:t>
            </a:fld>
            <a:endParaRPr lang="en-US"/>
          </a:p>
        </p:txBody>
      </p:sp>
    </p:spTree>
    <p:extLst>
      <p:ext uri="{BB962C8B-B14F-4D97-AF65-F5344CB8AC3E}">
        <p14:creationId xmlns:p14="http://schemas.microsoft.com/office/powerpoint/2010/main" val="4726075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To understand why order matters, consider this data on two imaginary elephant subspecies. Here, the subspecies are identical. Males of each subspecies have the same average mass, and females of each subspecies have the same average mass. But, in our sample, we have more males of one subspecies, and more females of the other.</a:t>
            </a:r>
          </a:p>
        </p:txBody>
      </p:sp>
      <p:sp>
        <p:nvSpPr>
          <p:cNvPr id="4" name="Slide Number Placeholder 3"/>
          <p:cNvSpPr>
            <a:spLocks noGrp="1"/>
          </p:cNvSpPr>
          <p:nvPr>
            <p:ph type="sldNum" sz="quarter" idx="5"/>
          </p:nvPr>
        </p:nvSpPr>
        <p:spPr/>
        <p:txBody>
          <a:bodyPr/>
          <a:lstStyle/>
          <a:p>
            <a:fld id="{300F377A-0F8E-4448-A8E9-7B8C688BDF07}" type="slidenum">
              <a:rPr lang="en-US" smtClean="0"/>
              <a:t>9</a:t>
            </a:fld>
            <a:endParaRPr lang="en-US"/>
          </a:p>
        </p:txBody>
      </p:sp>
    </p:spTree>
    <p:extLst>
      <p:ext uri="{BB962C8B-B14F-4D97-AF65-F5344CB8AC3E}">
        <p14:creationId xmlns:p14="http://schemas.microsoft.com/office/powerpoint/2010/main" val="11622272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If we put subspecies into the model first, then we start by finding the average mass for each subspecies. So, we will infer that the subspecies are different. After we do this, we will also infer an effect of sex, because within each subspecies the males have above average mass, and the females have below average mass. Our inference about sex will be correct, but we know that our inference about subspecies is wrong, because we designed this example to have no effect of subspecies.</a:t>
            </a:r>
          </a:p>
        </p:txBody>
      </p:sp>
      <p:sp>
        <p:nvSpPr>
          <p:cNvPr id="4" name="Slide Number Placeholder 3"/>
          <p:cNvSpPr>
            <a:spLocks noGrp="1"/>
          </p:cNvSpPr>
          <p:nvPr>
            <p:ph type="sldNum" sz="quarter" idx="5"/>
          </p:nvPr>
        </p:nvSpPr>
        <p:spPr/>
        <p:txBody>
          <a:bodyPr/>
          <a:lstStyle/>
          <a:p>
            <a:fld id="{300F377A-0F8E-4448-A8E9-7B8C688BDF07}" type="slidenum">
              <a:rPr lang="en-US" smtClean="0"/>
              <a:t>10</a:t>
            </a:fld>
            <a:endParaRPr lang="en-US"/>
          </a:p>
        </p:txBody>
      </p:sp>
    </p:spTree>
    <p:extLst>
      <p:ext uri="{BB962C8B-B14F-4D97-AF65-F5344CB8AC3E}">
        <p14:creationId xmlns:p14="http://schemas.microsoft.com/office/powerpoint/2010/main" val="60157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t>However, if we put sex into the model first, our inferences are different. We find an effect of sex. However, within each sex, each subspecies has the same average mass. We infer that there is no effect of subspecies on mass, and this inference is correct.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t>So, when we are interested in studying the effect of one predictor controlling for the others, the predictor we want to study should enter the model last. This is why I did not try to interpret the effect of sex in the model we just looked at.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t>Okay. That is all I have to say for today. You can find the practical assignment in the Blackboard folder for this session. If you have questions, please post them to the discussion forum on </a:t>
            </a:r>
            <a:r>
              <a:rPr lang="en-US" b="1" dirty="0" err="1"/>
              <a:t>BlackBoard</a:t>
            </a:r>
            <a:r>
              <a:rPr lang="en-US" b="1" dirty="0"/>
              <a:t> and I will do my best to help!</a:t>
            </a:r>
          </a:p>
        </p:txBody>
      </p:sp>
      <p:sp>
        <p:nvSpPr>
          <p:cNvPr id="4" name="Slide Number Placeholder 3"/>
          <p:cNvSpPr>
            <a:spLocks noGrp="1"/>
          </p:cNvSpPr>
          <p:nvPr>
            <p:ph type="sldNum" sz="quarter" idx="5"/>
          </p:nvPr>
        </p:nvSpPr>
        <p:spPr/>
        <p:txBody>
          <a:bodyPr/>
          <a:lstStyle/>
          <a:p>
            <a:fld id="{300F377A-0F8E-4448-A8E9-7B8C688BDF07}" type="slidenum">
              <a:rPr lang="en-US" smtClean="0"/>
              <a:t>11</a:t>
            </a:fld>
            <a:endParaRPr lang="en-US"/>
          </a:p>
        </p:txBody>
      </p:sp>
    </p:spTree>
    <p:extLst>
      <p:ext uri="{BB962C8B-B14F-4D97-AF65-F5344CB8AC3E}">
        <p14:creationId xmlns:p14="http://schemas.microsoft.com/office/powerpoint/2010/main" val="4290254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68782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766257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F8AD218-87EB-5E4D-91CD-6D56701ABAAC}" type="datetimeFigureOut">
              <a:rPr lang="en-US" smtClean="0"/>
              <a:t>4/9/21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90908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6F8AD218-87EB-5E4D-91CD-6D56701ABAAC}" type="datetimeFigureOut">
              <a:rPr lang="en-US" smtClean="0"/>
              <a:t>4/9/21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56789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6F8AD218-87EB-5E4D-91CD-6D56701ABAAC}" type="datetimeFigureOut">
              <a:rPr lang="en-US" smtClean="0"/>
              <a:t>4/9/21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2701418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6F8AD218-87EB-5E4D-91CD-6D56701ABAAC}" type="datetimeFigureOut">
              <a:rPr lang="en-US" smtClean="0"/>
              <a:t>4/9/21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7772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8AD218-87EB-5E4D-91CD-6D56701ABAAC}" type="datetimeFigureOut">
              <a:rPr lang="en-US" smtClean="0"/>
              <a:t>4/9/21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1165224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4/9/21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382648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F8AD218-87EB-5E4D-91CD-6D56701ABAAC}" type="datetimeFigureOut">
              <a:rPr lang="en-US" smtClean="0"/>
              <a:t>4/9/21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4139475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08833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F8AD218-87EB-5E4D-91CD-6D56701ABAAC}" type="datetimeFigureOut">
              <a:rPr lang="en-US" smtClean="0"/>
              <a:t>4/9/21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4105CD-B2C5-B243-B80D-E64D403F28A6}" type="slidenum">
              <a:rPr lang="en-US" smtClean="0"/>
              <a:t>‹#›</a:t>
            </a:fld>
            <a:endParaRPr lang="en-US"/>
          </a:p>
        </p:txBody>
      </p:sp>
    </p:spTree>
    <p:extLst>
      <p:ext uri="{BB962C8B-B14F-4D97-AF65-F5344CB8AC3E}">
        <p14:creationId xmlns:p14="http://schemas.microsoft.com/office/powerpoint/2010/main" val="847942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8AD218-87EB-5E4D-91CD-6D56701ABAAC}" type="datetimeFigureOut">
              <a:rPr lang="en-US" smtClean="0"/>
              <a:t>4/9/21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4105CD-B2C5-B243-B80D-E64D403F28A6}" type="slidenum">
              <a:rPr lang="en-US" smtClean="0"/>
              <a:t>‹#›</a:t>
            </a:fld>
            <a:endParaRPr lang="en-US"/>
          </a:p>
        </p:txBody>
      </p:sp>
    </p:spTree>
    <p:extLst>
      <p:ext uri="{BB962C8B-B14F-4D97-AF65-F5344CB8AC3E}">
        <p14:creationId xmlns:p14="http://schemas.microsoft.com/office/powerpoint/2010/main" val="3856066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hyperlink" Target="mailto:tucker.gilman@manchester.ac.uk" TargetMode="Externa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2.png"/><Relationship Id="rId5" Type="http://schemas.openxmlformats.org/officeDocument/2006/relationships/image" Target="../media/image3.emf"/><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2.png"/><Relationship Id="rId5" Type="http://schemas.openxmlformats.org/officeDocument/2006/relationships/image" Target="../media/image4.emf"/><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2.png"/><Relationship Id="rId5" Type="http://schemas.openxmlformats.org/officeDocument/2006/relationships/image" Target="../media/image5.emf"/><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2.png"/><Relationship Id="rId5" Type="http://schemas.openxmlformats.org/officeDocument/2006/relationships/image" Target="../media/image6.emf"/><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2.png"/><Relationship Id="rId5" Type="http://schemas.openxmlformats.org/officeDocument/2006/relationships/image" Target="../media/image7.emf"/><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2.png"/><Relationship Id="rId5" Type="http://schemas.openxmlformats.org/officeDocument/2006/relationships/image" Target="../media/image8.emf"/><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a:fillRect/>
          </a:stretch>
        </p:blipFill>
        <p:spPr>
          <a:xfrm>
            <a:off x="0" y="0"/>
            <a:ext cx="9144000" cy="2845923"/>
          </a:xfrm>
          <a:prstGeom prst="rect">
            <a:avLst/>
          </a:prstGeom>
        </p:spPr>
      </p:pic>
      <p:pic>
        <p:nvPicPr>
          <p:cNvPr id="6" name="Audio 5">
            <a:hlinkClick r:id="" action="ppaction://media"/>
            <a:extLst>
              <a:ext uri="{FF2B5EF4-FFF2-40B4-BE49-F238E27FC236}">
                <a16:creationId xmlns:a16="http://schemas.microsoft.com/office/drawing/2014/main" id="{BBE6F748-3DCA-6244-9FB8-43F2C21C07A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
        <p:nvSpPr>
          <p:cNvPr id="10" name="Title 1">
            <a:extLst>
              <a:ext uri="{FF2B5EF4-FFF2-40B4-BE49-F238E27FC236}">
                <a16:creationId xmlns:a16="http://schemas.microsoft.com/office/drawing/2014/main" id="{11578DEA-93CC-B643-B1CF-4D692E38E7B0}"/>
              </a:ext>
            </a:extLst>
          </p:cNvPr>
          <p:cNvSpPr>
            <a:spLocks noGrp="1"/>
          </p:cNvSpPr>
          <p:nvPr>
            <p:ph type="ctrTitle"/>
          </p:nvPr>
        </p:nvSpPr>
        <p:spPr>
          <a:xfrm>
            <a:off x="685800" y="3032498"/>
            <a:ext cx="7772400" cy="1470025"/>
          </a:xfrm>
        </p:spPr>
        <p:txBody>
          <a:bodyPr/>
          <a:lstStyle/>
          <a:p>
            <a:r>
              <a:rPr lang="en-US" dirty="0"/>
              <a:t>Statistics for Natural Scientists</a:t>
            </a:r>
            <a:br>
              <a:rPr lang="en-US" dirty="0"/>
            </a:br>
            <a:r>
              <a:rPr lang="en-US" dirty="0"/>
              <a:t>(EART11200 Toolkit)</a:t>
            </a:r>
          </a:p>
        </p:txBody>
      </p:sp>
      <p:sp>
        <p:nvSpPr>
          <p:cNvPr id="11" name="Subtitle 3">
            <a:extLst>
              <a:ext uri="{FF2B5EF4-FFF2-40B4-BE49-F238E27FC236}">
                <a16:creationId xmlns:a16="http://schemas.microsoft.com/office/drawing/2014/main" id="{E8749554-76E2-DE46-A92A-6E137C75CE7B}"/>
              </a:ext>
            </a:extLst>
          </p:cNvPr>
          <p:cNvSpPr txBox="1">
            <a:spLocks/>
          </p:cNvSpPr>
          <p:nvPr/>
        </p:nvSpPr>
        <p:spPr>
          <a:xfrm>
            <a:off x="1371600" y="4892298"/>
            <a:ext cx="6400800" cy="175260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spcBef>
                <a:spcPts val="0"/>
              </a:spcBef>
            </a:pPr>
            <a:r>
              <a:rPr lang="en-US" dirty="0">
                <a:solidFill>
                  <a:srgbClr val="000000"/>
                </a:solidFill>
              </a:rPr>
              <a:t>Tucker Gilman</a:t>
            </a:r>
          </a:p>
          <a:p>
            <a:pPr>
              <a:spcBef>
                <a:spcPts val="0"/>
              </a:spcBef>
            </a:pPr>
            <a:r>
              <a:rPr lang="en-US" dirty="0">
                <a:solidFill>
                  <a:srgbClr val="000000"/>
                </a:solidFill>
                <a:hlinkClick r:id="rId7"/>
              </a:rPr>
              <a:t>tucker.gilman@manchester.ac.uk</a:t>
            </a:r>
            <a:endParaRPr lang="en-US" dirty="0">
              <a:solidFill>
                <a:srgbClr val="000000"/>
              </a:solidFill>
            </a:endParaRPr>
          </a:p>
          <a:p>
            <a:pPr>
              <a:spcBef>
                <a:spcPts val="0"/>
              </a:spcBef>
            </a:pPr>
            <a:r>
              <a:rPr lang="en-US" dirty="0">
                <a:solidFill>
                  <a:srgbClr val="000000"/>
                </a:solidFill>
              </a:rPr>
              <a:t>Asynchronous Lecture 2 Part 3</a:t>
            </a:r>
          </a:p>
        </p:txBody>
      </p:sp>
    </p:spTree>
    <p:extLst>
      <p:ext uri="{BB962C8B-B14F-4D97-AF65-F5344CB8AC3E}">
        <p14:creationId xmlns:p14="http://schemas.microsoft.com/office/powerpoint/2010/main" val="2517155627"/>
      </p:ext>
    </p:extLst>
  </p:cSld>
  <p:clrMapOvr>
    <a:masterClrMapping/>
  </p:clrMapOvr>
  <mc:AlternateContent xmlns:mc="http://schemas.openxmlformats.org/markup-compatibility/2006" xmlns:p14="http://schemas.microsoft.com/office/powerpoint/2010/main">
    <mc:Choice Requires="p14">
      <p:transition spd="slow" p14:dur="2000" advTm="6305"/>
    </mc:Choice>
    <mc:Fallback xmlns="">
      <p:transition spd="slow" advTm="63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lide_21a.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5455" y="264533"/>
            <a:ext cx="8358840" cy="6858000"/>
          </a:xfrm>
          <a:prstGeom prst="rect">
            <a:avLst/>
          </a:prstGeom>
        </p:spPr>
      </p:pic>
      <p:pic>
        <p:nvPicPr>
          <p:cNvPr id="2" name="Audio 1">
            <a:hlinkClick r:id="" action="ppaction://media"/>
            <a:extLst>
              <a:ext uri="{FF2B5EF4-FFF2-40B4-BE49-F238E27FC236}">
                <a16:creationId xmlns:a16="http://schemas.microsoft.com/office/drawing/2014/main" id="{5081B0AF-1850-0D46-9DC3-EB80ACC61EB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300333911"/>
      </p:ext>
    </p:extLst>
  </p:cSld>
  <p:clrMapOvr>
    <a:masterClrMapping/>
  </p:clrMapOvr>
  <mc:AlternateContent xmlns:mc="http://schemas.openxmlformats.org/markup-compatibility/2006" xmlns:p14="http://schemas.microsoft.com/office/powerpoint/2010/main">
    <mc:Choice Requires="p14">
      <p:transition spd="slow" p14:dur="2000" advTm="56978"/>
    </mc:Choice>
    <mc:Fallback xmlns="">
      <p:transition spd="slow" advTm="569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lide_21b.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6000" y="262800"/>
            <a:ext cx="8352028" cy="6852412"/>
          </a:xfrm>
          <a:prstGeom prst="rect">
            <a:avLst/>
          </a:prstGeom>
        </p:spPr>
      </p:pic>
      <p:pic>
        <p:nvPicPr>
          <p:cNvPr id="2" name="Audio 1">
            <a:hlinkClick r:id="" action="ppaction://media"/>
            <a:extLst>
              <a:ext uri="{FF2B5EF4-FFF2-40B4-BE49-F238E27FC236}">
                <a16:creationId xmlns:a16="http://schemas.microsoft.com/office/drawing/2014/main" id="{1EA5C46C-53B5-4F48-A31F-1DB74BDAF39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192954465"/>
      </p:ext>
    </p:extLst>
  </p:cSld>
  <p:clrMapOvr>
    <a:masterClrMapping/>
  </p:clrMapOvr>
  <mc:AlternateContent xmlns:mc="http://schemas.openxmlformats.org/markup-compatibility/2006" xmlns:p14="http://schemas.microsoft.com/office/powerpoint/2010/main">
    <mc:Choice Requires="p14">
      <p:transition spd="slow" p14:dur="2000" advTm="16970"/>
    </mc:Choice>
    <mc:Fallback xmlns="">
      <p:transition spd="slow" advTm="16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lide_21c.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6000" y="262800"/>
            <a:ext cx="8352028" cy="6852412"/>
          </a:xfrm>
          <a:prstGeom prst="rect">
            <a:avLst/>
          </a:prstGeom>
        </p:spPr>
      </p:pic>
      <p:pic>
        <p:nvPicPr>
          <p:cNvPr id="2" name="Audio 1">
            <a:hlinkClick r:id="" action="ppaction://media"/>
            <a:extLst>
              <a:ext uri="{FF2B5EF4-FFF2-40B4-BE49-F238E27FC236}">
                <a16:creationId xmlns:a16="http://schemas.microsoft.com/office/drawing/2014/main" id="{1C4C36F2-4A4C-6249-9878-FE8C068FE4C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594445862"/>
      </p:ext>
    </p:extLst>
  </p:cSld>
  <p:clrMapOvr>
    <a:masterClrMapping/>
  </p:clrMapOvr>
  <mc:AlternateContent xmlns:mc="http://schemas.openxmlformats.org/markup-compatibility/2006" xmlns:p14="http://schemas.microsoft.com/office/powerpoint/2010/main">
    <mc:Choice Requires="p14">
      <p:transition spd="slow" p14:dur="2000" advTm="34789"/>
    </mc:Choice>
    <mc:Fallback xmlns="">
      <p:transition spd="slow" advTm="3478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7F8B2-CDAC-B543-8221-E4C822F744B7}"/>
              </a:ext>
            </a:extLst>
          </p:cNvPr>
          <p:cNvSpPr>
            <a:spLocks noGrp="1"/>
          </p:cNvSpPr>
          <p:nvPr>
            <p:ph type="title"/>
          </p:nvPr>
        </p:nvSpPr>
        <p:spPr/>
        <p:txBody>
          <a:bodyPr/>
          <a:lstStyle/>
          <a:p>
            <a:r>
              <a:rPr lang="en-US" dirty="0"/>
              <a:t>Conducting two-way ANOVA in R</a:t>
            </a:r>
          </a:p>
        </p:txBody>
      </p:sp>
      <p:pic>
        <p:nvPicPr>
          <p:cNvPr id="8" name="Audio 7">
            <a:hlinkClick r:id="" action="ppaction://media"/>
            <a:extLst>
              <a:ext uri="{FF2B5EF4-FFF2-40B4-BE49-F238E27FC236}">
                <a16:creationId xmlns:a16="http://schemas.microsoft.com/office/drawing/2014/main" id="{1C735EDB-2937-5843-BE18-F5E5934ABC7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
        <p:nvSpPr>
          <p:cNvPr id="5" name="Rectangle 4">
            <a:extLst>
              <a:ext uri="{FF2B5EF4-FFF2-40B4-BE49-F238E27FC236}">
                <a16:creationId xmlns:a16="http://schemas.microsoft.com/office/drawing/2014/main" id="{53280BAF-08FC-A043-9D84-04D4D9994C31}"/>
              </a:ext>
            </a:extLst>
          </p:cNvPr>
          <p:cNvSpPr/>
          <p:nvPr/>
        </p:nvSpPr>
        <p:spPr>
          <a:xfrm>
            <a:off x="457200" y="2000934"/>
            <a:ext cx="7962900" cy="400110"/>
          </a:xfrm>
          <a:prstGeom prst="rect">
            <a:avLst/>
          </a:prstGeom>
        </p:spPr>
        <p:txBody>
          <a:bodyPr wrap="square">
            <a:spAutoFit/>
          </a:bodyPr>
          <a:lstStyle/>
          <a:p>
            <a:r>
              <a:rPr lang="en-US" sz="2000" dirty="0" err="1">
                <a:solidFill>
                  <a:srgbClr val="0070C0"/>
                </a:solidFill>
                <a:latin typeface="Monaco" pitchFamily="2" charset="77"/>
              </a:rPr>
              <a:t>elephants.aov</a:t>
            </a:r>
            <a:r>
              <a:rPr lang="en-US" sz="2000" dirty="0">
                <a:solidFill>
                  <a:srgbClr val="0070C0"/>
                </a:solidFill>
                <a:latin typeface="Monaco" pitchFamily="2" charset="77"/>
              </a:rPr>
              <a:t>=</a:t>
            </a:r>
            <a:r>
              <a:rPr lang="en-US" sz="2000" dirty="0" err="1">
                <a:solidFill>
                  <a:srgbClr val="0070C0"/>
                </a:solidFill>
                <a:latin typeface="Monaco" pitchFamily="2" charset="77"/>
              </a:rPr>
              <a:t>aov</a:t>
            </a:r>
            <a:r>
              <a:rPr lang="en-US" sz="2000" dirty="0">
                <a:solidFill>
                  <a:srgbClr val="0070C0"/>
                </a:solidFill>
                <a:latin typeface="Monaco" pitchFamily="2" charset="77"/>
              </a:rPr>
              <a:t>(</a:t>
            </a:r>
            <a:r>
              <a:rPr lang="en-US" sz="2000" dirty="0" err="1">
                <a:solidFill>
                  <a:srgbClr val="0070C0"/>
                </a:solidFill>
                <a:latin typeface="Monaco" pitchFamily="2" charset="77"/>
              </a:rPr>
              <a:t>mass~sex+subspec,data</a:t>
            </a:r>
            <a:r>
              <a:rPr lang="en-US" sz="2000" dirty="0">
                <a:solidFill>
                  <a:srgbClr val="0070C0"/>
                </a:solidFill>
                <a:latin typeface="Monaco" pitchFamily="2" charset="77"/>
              </a:rPr>
              <a:t>=elephants)</a:t>
            </a:r>
            <a:endParaRPr lang="en-US" sz="2000" dirty="0">
              <a:solidFill>
                <a:srgbClr val="0070C0"/>
              </a:solidFill>
            </a:endParaRPr>
          </a:p>
        </p:txBody>
      </p:sp>
    </p:spTree>
    <p:extLst>
      <p:ext uri="{BB962C8B-B14F-4D97-AF65-F5344CB8AC3E}">
        <p14:creationId xmlns:p14="http://schemas.microsoft.com/office/powerpoint/2010/main" val="1453905090"/>
      </p:ext>
    </p:extLst>
  </p:cSld>
  <p:clrMapOvr>
    <a:masterClrMapping/>
  </p:clrMapOvr>
  <mc:AlternateContent xmlns:mc="http://schemas.openxmlformats.org/markup-compatibility/2006" xmlns:p14="http://schemas.microsoft.com/office/powerpoint/2010/main">
    <mc:Choice Requires="p14">
      <p:transition spd="slow" p14:dur="2000" advTm="27221"/>
    </mc:Choice>
    <mc:Fallback xmlns="">
      <p:transition spd="slow" advTm="2722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7F8B2-CDAC-B543-8221-E4C822F744B7}"/>
              </a:ext>
            </a:extLst>
          </p:cNvPr>
          <p:cNvSpPr>
            <a:spLocks noGrp="1"/>
          </p:cNvSpPr>
          <p:nvPr>
            <p:ph type="title"/>
          </p:nvPr>
        </p:nvSpPr>
        <p:spPr/>
        <p:txBody>
          <a:bodyPr/>
          <a:lstStyle/>
          <a:p>
            <a:r>
              <a:rPr lang="en-US" dirty="0"/>
              <a:t>Conducting two-way ANOVA in R</a:t>
            </a:r>
          </a:p>
        </p:txBody>
      </p:sp>
      <p:sp>
        <p:nvSpPr>
          <p:cNvPr id="6" name="Rectangle 5">
            <a:extLst>
              <a:ext uri="{FF2B5EF4-FFF2-40B4-BE49-F238E27FC236}">
                <a16:creationId xmlns:a16="http://schemas.microsoft.com/office/drawing/2014/main" id="{C0FDB9E6-78B9-3246-8BFE-3FB1BF7D9390}"/>
              </a:ext>
            </a:extLst>
          </p:cNvPr>
          <p:cNvSpPr/>
          <p:nvPr/>
        </p:nvSpPr>
        <p:spPr>
          <a:xfrm>
            <a:off x="457200" y="2000934"/>
            <a:ext cx="7962900" cy="3170099"/>
          </a:xfrm>
          <a:prstGeom prst="rect">
            <a:avLst/>
          </a:prstGeom>
        </p:spPr>
        <p:txBody>
          <a:bodyPr wrap="square">
            <a:spAutoFit/>
          </a:bodyPr>
          <a:lstStyle/>
          <a:p>
            <a:r>
              <a:rPr lang="en-US" sz="2000" dirty="0" err="1">
                <a:solidFill>
                  <a:srgbClr val="0070C0"/>
                </a:solidFill>
                <a:latin typeface="Monaco" pitchFamily="2" charset="77"/>
              </a:rPr>
              <a:t>elephants.aov</a:t>
            </a:r>
            <a:r>
              <a:rPr lang="en-US" sz="2000" dirty="0">
                <a:solidFill>
                  <a:srgbClr val="0070C0"/>
                </a:solidFill>
                <a:latin typeface="Monaco" pitchFamily="2" charset="77"/>
              </a:rPr>
              <a:t>=</a:t>
            </a:r>
            <a:r>
              <a:rPr lang="en-US" sz="2000" dirty="0" err="1">
                <a:solidFill>
                  <a:srgbClr val="0070C0"/>
                </a:solidFill>
                <a:latin typeface="Monaco" pitchFamily="2" charset="77"/>
              </a:rPr>
              <a:t>aov</a:t>
            </a:r>
            <a:r>
              <a:rPr lang="en-US" sz="2000" dirty="0">
                <a:solidFill>
                  <a:srgbClr val="0070C0"/>
                </a:solidFill>
                <a:latin typeface="Monaco" pitchFamily="2" charset="77"/>
              </a:rPr>
              <a:t>(</a:t>
            </a:r>
            <a:r>
              <a:rPr lang="en-US" sz="2000" dirty="0" err="1">
                <a:solidFill>
                  <a:srgbClr val="0070C0"/>
                </a:solidFill>
                <a:latin typeface="Monaco" pitchFamily="2" charset="77"/>
              </a:rPr>
              <a:t>mass~sex+subspec,data</a:t>
            </a:r>
            <a:r>
              <a:rPr lang="en-US" sz="2000" dirty="0">
                <a:solidFill>
                  <a:srgbClr val="0070C0"/>
                </a:solidFill>
                <a:latin typeface="Monaco" pitchFamily="2" charset="77"/>
              </a:rPr>
              <a:t>=elephants)</a:t>
            </a:r>
          </a:p>
          <a:p>
            <a:r>
              <a:rPr lang="en-US" sz="2000" dirty="0">
                <a:solidFill>
                  <a:srgbClr val="0070C0"/>
                </a:solidFill>
                <a:latin typeface="Monaco" pitchFamily="2" charset="77"/>
              </a:rPr>
              <a:t>summary(</a:t>
            </a:r>
            <a:r>
              <a:rPr lang="en-US" sz="2000" dirty="0" err="1">
                <a:solidFill>
                  <a:srgbClr val="0070C0"/>
                </a:solidFill>
                <a:latin typeface="Monaco" pitchFamily="2" charset="77"/>
              </a:rPr>
              <a:t>elephants.aov</a:t>
            </a:r>
            <a:r>
              <a:rPr lang="en-US" sz="2000" dirty="0">
                <a:solidFill>
                  <a:srgbClr val="0070C0"/>
                </a:solidFill>
                <a:latin typeface="Monaco" pitchFamily="2" charset="77"/>
              </a:rPr>
              <a:t>)</a:t>
            </a:r>
          </a:p>
          <a:p>
            <a:endParaRPr lang="en-US" sz="2000" dirty="0">
              <a:solidFill>
                <a:srgbClr val="0070C0"/>
              </a:solidFill>
              <a:latin typeface="Monaco" pitchFamily="2" charset="77"/>
            </a:endParaRPr>
          </a:p>
          <a:p>
            <a:r>
              <a:rPr lang="en-US" sz="2000" dirty="0">
                <a:latin typeface="Monaco" pitchFamily="2" charset="77"/>
              </a:rPr>
              <a:t>            </a:t>
            </a:r>
            <a:r>
              <a:rPr lang="en-US" sz="2000" dirty="0" err="1">
                <a:latin typeface="Monaco" pitchFamily="2" charset="77"/>
              </a:rPr>
              <a:t>Df</a:t>
            </a:r>
            <a:r>
              <a:rPr lang="en-US" sz="2000" dirty="0">
                <a:latin typeface="Monaco" pitchFamily="2" charset="77"/>
              </a:rPr>
              <a:t>  Sum </a:t>
            </a:r>
            <a:r>
              <a:rPr lang="en-US" sz="2000" dirty="0" err="1">
                <a:latin typeface="Monaco" pitchFamily="2" charset="77"/>
              </a:rPr>
              <a:t>Sq</a:t>
            </a:r>
            <a:r>
              <a:rPr lang="en-US" sz="2000" dirty="0">
                <a:latin typeface="Monaco" pitchFamily="2" charset="77"/>
              </a:rPr>
              <a:t> Mean </a:t>
            </a:r>
            <a:r>
              <a:rPr lang="en-US" sz="2000" dirty="0" err="1">
                <a:latin typeface="Monaco" pitchFamily="2" charset="77"/>
              </a:rPr>
              <a:t>Sq</a:t>
            </a:r>
            <a:r>
              <a:rPr lang="en-US" sz="2000" dirty="0">
                <a:latin typeface="Monaco" pitchFamily="2" charset="77"/>
              </a:rPr>
              <a:t> F value   </a:t>
            </a:r>
            <a:r>
              <a:rPr lang="en-US" sz="2000" dirty="0" err="1">
                <a:latin typeface="Monaco" pitchFamily="2" charset="77"/>
              </a:rPr>
              <a:t>Pr</a:t>
            </a:r>
            <a:r>
              <a:rPr lang="en-US" sz="2000" dirty="0">
                <a:latin typeface="Monaco" pitchFamily="2" charset="77"/>
              </a:rPr>
              <a:t>(&gt;F)    </a:t>
            </a:r>
          </a:p>
          <a:p>
            <a:r>
              <a:rPr lang="en-US" sz="2000" dirty="0">
                <a:latin typeface="Monaco" pitchFamily="2" charset="77"/>
              </a:rPr>
              <a:t>sex          1 4727088 4727088   47.39 5.39e-08 ***</a:t>
            </a:r>
          </a:p>
          <a:p>
            <a:r>
              <a:rPr lang="en-US" sz="2000" dirty="0" err="1">
                <a:latin typeface="Monaco" pitchFamily="2" charset="77"/>
              </a:rPr>
              <a:t>subspec</a:t>
            </a:r>
            <a:r>
              <a:rPr lang="en-US" sz="2000" dirty="0">
                <a:latin typeface="Monaco" pitchFamily="2" charset="77"/>
              </a:rPr>
              <a:t>      3 3538357 1179452   11.82 1.68e-05 ***</a:t>
            </a:r>
          </a:p>
          <a:p>
            <a:r>
              <a:rPr lang="en-US" sz="2000" dirty="0">
                <a:latin typeface="Monaco" pitchFamily="2" charset="77"/>
              </a:rPr>
              <a:t>Residuals   35 3490959   99742                     </a:t>
            </a:r>
          </a:p>
          <a:p>
            <a:r>
              <a:rPr lang="en-US" sz="2000" dirty="0">
                <a:latin typeface="Monaco" pitchFamily="2" charset="77"/>
              </a:rPr>
              <a:t>---</a:t>
            </a:r>
          </a:p>
          <a:p>
            <a:r>
              <a:rPr lang="en-US" sz="2000" dirty="0" err="1">
                <a:latin typeface="Monaco" pitchFamily="2" charset="77"/>
              </a:rPr>
              <a:t>Signif</a:t>
            </a:r>
            <a:r>
              <a:rPr lang="en-US" sz="2000" dirty="0">
                <a:latin typeface="Monaco" pitchFamily="2" charset="77"/>
              </a:rPr>
              <a:t>. codes:  0 ‘***’ 0.001 ‘**’ 0.01 ‘*’ 0.05 ‘.’ 0.1 ‘ ’ 1</a:t>
            </a:r>
          </a:p>
        </p:txBody>
      </p:sp>
      <p:pic>
        <p:nvPicPr>
          <p:cNvPr id="3" name="Audio 2">
            <a:hlinkClick r:id="" action="ppaction://media"/>
            <a:extLst>
              <a:ext uri="{FF2B5EF4-FFF2-40B4-BE49-F238E27FC236}">
                <a16:creationId xmlns:a16="http://schemas.microsoft.com/office/drawing/2014/main" id="{EE112AA8-BA0C-2648-9420-60B7D46662B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475396454"/>
      </p:ext>
    </p:extLst>
  </p:cSld>
  <p:clrMapOvr>
    <a:masterClrMapping/>
  </p:clrMapOvr>
  <mc:AlternateContent xmlns:mc="http://schemas.openxmlformats.org/markup-compatibility/2006" xmlns:p14="http://schemas.microsoft.com/office/powerpoint/2010/main">
    <mc:Choice Requires="p14">
      <p:transition spd="slow" p14:dur="2000" advTm="28381"/>
    </mc:Choice>
    <mc:Fallback xmlns="">
      <p:transition spd="slow" advTm="2838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FA0B94-7666-C447-B9DF-E3C811D37C7C}"/>
              </a:ext>
            </a:extLst>
          </p:cNvPr>
          <p:cNvSpPr/>
          <p:nvPr/>
        </p:nvSpPr>
        <p:spPr>
          <a:xfrm>
            <a:off x="457200" y="1465163"/>
            <a:ext cx="7962900" cy="4770537"/>
          </a:xfrm>
          <a:prstGeom prst="rect">
            <a:avLst/>
          </a:prstGeom>
        </p:spPr>
        <p:txBody>
          <a:bodyPr wrap="square">
            <a:spAutoFit/>
          </a:bodyPr>
          <a:lstStyle/>
          <a:p>
            <a:r>
              <a:rPr lang="en-US" sz="1600" dirty="0" err="1">
                <a:solidFill>
                  <a:srgbClr val="0070C0"/>
                </a:solidFill>
                <a:latin typeface="Monaco" pitchFamily="2" charset="77"/>
              </a:rPr>
              <a:t>TukeyHSD</a:t>
            </a:r>
            <a:r>
              <a:rPr lang="en-US" sz="1600" dirty="0">
                <a:solidFill>
                  <a:srgbClr val="0070C0"/>
                </a:solidFill>
                <a:latin typeface="Monaco" pitchFamily="2" charset="77"/>
              </a:rPr>
              <a:t>(</a:t>
            </a:r>
            <a:r>
              <a:rPr lang="en-US" sz="1600" dirty="0" err="1">
                <a:solidFill>
                  <a:srgbClr val="0070C0"/>
                </a:solidFill>
                <a:latin typeface="Monaco" pitchFamily="2" charset="77"/>
              </a:rPr>
              <a:t>elephants.aov</a:t>
            </a:r>
            <a:r>
              <a:rPr lang="en-US" sz="1600" dirty="0">
                <a:solidFill>
                  <a:srgbClr val="0070C0"/>
                </a:solidFill>
                <a:latin typeface="Monaco" pitchFamily="2" charset="77"/>
              </a:rPr>
              <a:t>)</a:t>
            </a:r>
          </a:p>
          <a:p>
            <a:endParaRPr lang="en-US" sz="1600" dirty="0">
              <a:solidFill>
                <a:srgbClr val="0070C0"/>
              </a:solidFill>
              <a:latin typeface="Monaco" pitchFamily="2" charset="77"/>
            </a:endParaRPr>
          </a:p>
          <a:p>
            <a:r>
              <a:rPr lang="en-US" sz="1600" dirty="0">
                <a:solidFill>
                  <a:srgbClr val="0070C0"/>
                </a:solidFill>
                <a:latin typeface="Monaco" pitchFamily="2" charset="77"/>
              </a:rPr>
              <a:t>  </a:t>
            </a:r>
            <a:r>
              <a:rPr lang="en-US" sz="1600" dirty="0">
                <a:latin typeface="Monaco" pitchFamily="2" charset="77"/>
              </a:rPr>
              <a:t>Tukey multiple comparisons of means</a:t>
            </a:r>
          </a:p>
          <a:p>
            <a:r>
              <a:rPr lang="en-US" sz="1600" dirty="0">
                <a:latin typeface="Monaco" pitchFamily="2" charset="77"/>
              </a:rPr>
              <a:t>    95% family-wise confidence level</a:t>
            </a:r>
          </a:p>
          <a:p>
            <a:endParaRPr lang="en-US" sz="1600" dirty="0">
              <a:latin typeface="Monaco" pitchFamily="2" charset="77"/>
            </a:endParaRPr>
          </a:p>
          <a:p>
            <a:r>
              <a:rPr lang="en-US" sz="1600" dirty="0">
                <a:latin typeface="Monaco" pitchFamily="2" charset="77"/>
              </a:rPr>
              <a:t>Fit: </a:t>
            </a:r>
            <a:r>
              <a:rPr lang="en-US" sz="1600" dirty="0" err="1">
                <a:latin typeface="Monaco" pitchFamily="2" charset="77"/>
              </a:rPr>
              <a:t>aov</a:t>
            </a:r>
            <a:r>
              <a:rPr lang="en-US" sz="1600" dirty="0">
                <a:latin typeface="Monaco" pitchFamily="2" charset="77"/>
              </a:rPr>
              <a:t>(formula = mass ~ sex + </a:t>
            </a:r>
            <a:r>
              <a:rPr lang="en-US" sz="1600" dirty="0" err="1">
                <a:latin typeface="Monaco" pitchFamily="2" charset="77"/>
              </a:rPr>
              <a:t>subspec</a:t>
            </a:r>
            <a:r>
              <a:rPr lang="en-US" sz="1600" dirty="0">
                <a:latin typeface="Monaco" pitchFamily="2" charset="77"/>
              </a:rPr>
              <a:t>, data = elephants)</a:t>
            </a:r>
          </a:p>
          <a:p>
            <a:endParaRPr lang="en-US" sz="1600" dirty="0">
              <a:latin typeface="Monaco" pitchFamily="2" charset="77"/>
            </a:endParaRPr>
          </a:p>
          <a:p>
            <a:r>
              <a:rPr lang="en-US" sz="1600" dirty="0">
                <a:latin typeface="Monaco" pitchFamily="2" charset="77"/>
              </a:rPr>
              <a:t>$sex</a:t>
            </a:r>
          </a:p>
          <a:p>
            <a:r>
              <a:rPr lang="en-US" sz="1600" dirty="0">
                <a:latin typeface="Monaco" pitchFamily="2" charset="77"/>
              </a:rPr>
              <a:t>        diff      </a:t>
            </a:r>
            <a:r>
              <a:rPr lang="en-US" sz="1600" dirty="0" err="1">
                <a:latin typeface="Monaco" pitchFamily="2" charset="77"/>
              </a:rPr>
              <a:t>lwr</a:t>
            </a:r>
            <a:r>
              <a:rPr lang="en-US" sz="1600" dirty="0">
                <a:latin typeface="Monaco" pitchFamily="2" charset="77"/>
              </a:rPr>
              <a:t>     </a:t>
            </a:r>
            <a:r>
              <a:rPr lang="en-US" sz="1600" dirty="0" err="1">
                <a:latin typeface="Monaco" pitchFamily="2" charset="77"/>
              </a:rPr>
              <a:t>upr</a:t>
            </a:r>
            <a:r>
              <a:rPr lang="en-US" sz="1600" dirty="0">
                <a:latin typeface="Monaco" pitchFamily="2" charset="77"/>
              </a:rPr>
              <a:t> p </a:t>
            </a:r>
            <a:r>
              <a:rPr lang="en-US" sz="1600" dirty="0" err="1">
                <a:latin typeface="Monaco" pitchFamily="2" charset="77"/>
              </a:rPr>
              <a:t>adj</a:t>
            </a:r>
            <a:endParaRPr lang="en-US" sz="1600" dirty="0">
              <a:latin typeface="Monaco" pitchFamily="2" charset="77"/>
            </a:endParaRPr>
          </a:p>
          <a:p>
            <a:r>
              <a:rPr lang="en-US" sz="1600" dirty="0">
                <a:latin typeface="Monaco" pitchFamily="2" charset="77"/>
              </a:rPr>
              <a:t>m-f 701.7157 494.7865 908.645 1e-07</a:t>
            </a:r>
          </a:p>
          <a:p>
            <a:endParaRPr lang="en-US" sz="1600" dirty="0">
              <a:latin typeface="Monaco" pitchFamily="2" charset="77"/>
            </a:endParaRPr>
          </a:p>
          <a:p>
            <a:r>
              <a:rPr lang="en-US" sz="1600" dirty="0">
                <a:latin typeface="Monaco" pitchFamily="2" charset="77"/>
              </a:rPr>
              <a:t>$</a:t>
            </a:r>
            <a:r>
              <a:rPr lang="en-US" sz="1600" dirty="0" err="1">
                <a:latin typeface="Monaco" pitchFamily="2" charset="77"/>
              </a:rPr>
              <a:t>subspec</a:t>
            </a:r>
            <a:endParaRPr lang="en-US" sz="1600" dirty="0">
              <a:latin typeface="Monaco" pitchFamily="2" charset="77"/>
            </a:endParaRPr>
          </a:p>
          <a:p>
            <a:r>
              <a:rPr lang="en-US" sz="1600" dirty="0">
                <a:latin typeface="Monaco" pitchFamily="2" charset="77"/>
              </a:rPr>
              <a:t>                          diff        </a:t>
            </a:r>
            <a:r>
              <a:rPr lang="en-US" sz="1600" dirty="0" err="1">
                <a:latin typeface="Monaco" pitchFamily="2" charset="77"/>
              </a:rPr>
              <a:t>lwr</a:t>
            </a:r>
            <a:r>
              <a:rPr lang="en-US" sz="1600" dirty="0">
                <a:latin typeface="Monaco" pitchFamily="2" charset="77"/>
              </a:rPr>
              <a:t>       </a:t>
            </a:r>
            <a:r>
              <a:rPr lang="en-US" sz="1600" dirty="0" err="1">
                <a:latin typeface="Monaco" pitchFamily="2" charset="77"/>
              </a:rPr>
              <a:t>upr</a:t>
            </a:r>
            <a:r>
              <a:rPr lang="en-US" sz="1600" dirty="0">
                <a:latin typeface="Monaco" pitchFamily="2" charset="77"/>
              </a:rPr>
              <a:t>     p </a:t>
            </a:r>
            <a:r>
              <a:rPr lang="en-US" sz="1600" dirty="0" err="1">
                <a:latin typeface="Monaco" pitchFamily="2" charset="77"/>
              </a:rPr>
              <a:t>adj</a:t>
            </a:r>
            <a:endParaRPr lang="en-US" sz="1600" dirty="0">
              <a:latin typeface="Monaco" pitchFamily="2" charset="77"/>
            </a:endParaRPr>
          </a:p>
          <a:p>
            <a:r>
              <a:rPr lang="en-US" sz="1600" dirty="0">
                <a:latin typeface="Monaco" pitchFamily="2" charset="77"/>
              </a:rPr>
              <a:t>Indian-Bornean      -764.66694 -1145.5736 -383.7602 0.0000263</a:t>
            </a:r>
          </a:p>
          <a:p>
            <a:r>
              <a:rPr lang="en-US" sz="1600" dirty="0">
                <a:latin typeface="Monaco" pitchFamily="2" charset="77"/>
              </a:rPr>
              <a:t>Sri Lankan-Bornean   -79.60997  -460.5167  301.2967 0.9421499</a:t>
            </a:r>
          </a:p>
          <a:p>
            <a:r>
              <a:rPr lang="en-US" sz="1600" dirty="0">
                <a:latin typeface="Monaco" pitchFamily="2" charset="77"/>
              </a:rPr>
              <a:t>Sumatran-Bornean    -260.89309  -641.7998  120.0136 0.2691397</a:t>
            </a:r>
          </a:p>
          <a:p>
            <a:r>
              <a:rPr lang="en-US" sz="1600" dirty="0">
                <a:latin typeface="Monaco" pitchFamily="2" charset="77"/>
              </a:rPr>
              <a:t>Sri Lankan-Indian    685.05697   304.1503 1065.9637 0.0001428</a:t>
            </a:r>
          </a:p>
          <a:p>
            <a:r>
              <a:rPr lang="en-US" sz="1600" dirty="0">
                <a:latin typeface="Monaco" pitchFamily="2" charset="77"/>
              </a:rPr>
              <a:t>Sumatran-Indian      503.77384   122.8671  884.6806 0.0056385</a:t>
            </a:r>
          </a:p>
          <a:p>
            <a:r>
              <a:rPr lang="en-US" sz="1600" dirty="0">
                <a:latin typeface="Monaco" pitchFamily="2" charset="77"/>
              </a:rPr>
              <a:t>Sumatran-Sri Lankan -181.28312  -562.1898  199.6236 0.5792692</a:t>
            </a:r>
          </a:p>
        </p:txBody>
      </p:sp>
      <p:sp>
        <p:nvSpPr>
          <p:cNvPr id="2" name="Title 1">
            <a:extLst>
              <a:ext uri="{FF2B5EF4-FFF2-40B4-BE49-F238E27FC236}">
                <a16:creationId xmlns:a16="http://schemas.microsoft.com/office/drawing/2014/main" id="{03C7F8B2-CDAC-B543-8221-E4C822F744B7}"/>
              </a:ext>
            </a:extLst>
          </p:cNvPr>
          <p:cNvSpPr>
            <a:spLocks noGrp="1"/>
          </p:cNvSpPr>
          <p:nvPr>
            <p:ph type="title"/>
          </p:nvPr>
        </p:nvSpPr>
        <p:spPr/>
        <p:txBody>
          <a:bodyPr/>
          <a:lstStyle/>
          <a:p>
            <a:r>
              <a:rPr lang="en-US" dirty="0"/>
              <a:t>Conducting two-way ANOVA in R</a:t>
            </a:r>
          </a:p>
        </p:txBody>
      </p:sp>
      <p:sp>
        <p:nvSpPr>
          <p:cNvPr id="6" name="Oval 5">
            <a:extLst>
              <a:ext uri="{FF2B5EF4-FFF2-40B4-BE49-F238E27FC236}">
                <a16:creationId xmlns:a16="http://schemas.microsoft.com/office/drawing/2014/main" id="{5E123FB4-84CF-814C-B289-C09290154AD8}"/>
              </a:ext>
            </a:extLst>
          </p:cNvPr>
          <p:cNvSpPr/>
          <p:nvPr/>
        </p:nvSpPr>
        <p:spPr>
          <a:xfrm flipV="1">
            <a:off x="-29497" y="3952568"/>
            <a:ext cx="8686800" cy="2823100"/>
          </a:xfrm>
          <a:prstGeom prst="ellipse">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3" name="Audio 2">
            <a:hlinkClick r:id="" action="ppaction://media"/>
            <a:extLst>
              <a:ext uri="{FF2B5EF4-FFF2-40B4-BE49-F238E27FC236}">
                <a16:creationId xmlns:a16="http://schemas.microsoft.com/office/drawing/2014/main" id="{F5C6F2CF-A136-5248-8A27-68AFA7D5AEE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3038688603"/>
      </p:ext>
    </p:extLst>
  </p:cSld>
  <p:clrMapOvr>
    <a:masterClrMapping/>
  </p:clrMapOvr>
  <mc:AlternateContent xmlns:mc="http://schemas.openxmlformats.org/markup-compatibility/2006" xmlns:p14="http://schemas.microsoft.com/office/powerpoint/2010/main">
    <mc:Choice Requires="p14">
      <p:transition spd="slow" p14:dur="2000" advTm="48134"/>
    </mc:Choice>
    <mc:Fallback xmlns="">
      <p:transition spd="slow" advTm="4813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1DBC32-9101-E147-BB50-D8CA0D0FED3F}"/>
              </a:ext>
            </a:extLst>
          </p:cNvPr>
          <p:cNvSpPr/>
          <p:nvPr/>
        </p:nvSpPr>
        <p:spPr>
          <a:xfrm>
            <a:off x="457200" y="1465163"/>
            <a:ext cx="7962900" cy="4770537"/>
          </a:xfrm>
          <a:prstGeom prst="rect">
            <a:avLst/>
          </a:prstGeom>
        </p:spPr>
        <p:txBody>
          <a:bodyPr wrap="square">
            <a:spAutoFit/>
          </a:bodyPr>
          <a:lstStyle/>
          <a:p>
            <a:r>
              <a:rPr lang="en-US" sz="1600" dirty="0" err="1">
                <a:solidFill>
                  <a:srgbClr val="0070C0"/>
                </a:solidFill>
                <a:latin typeface="Monaco" pitchFamily="2" charset="77"/>
              </a:rPr>
              <a:t>TukeyHSD</a:t>
            </a:r>
            <a:r>
              <a:rPr lang="en-US" sz="1600" dirty="0">
                <a:solidFill>
                  <a:srgbClr val="0070C0"/>
                </a:solidFill>
                <a:latin typeface="Monaco" pitchFamily="2" charset="77"/>
              </a:rPr>
              <a:t>(</a:t>
            </a:r>
            <a:r>
              <a:rPr lang="en-US" sz="1600" dirty="0" err="1">
                <a:solidFill>
                  <a:srgbClr val="0070C0"/>
                </a:solidFill>
                <a:latin typeface="Monaco" pitchFamily="2" charset="77"/>
              </a:rPr>
              <a:t>elephants.aov</a:t>
            </a:r>
            <a:r>
              <a:rPr lang="en-US" sz="1600" dirty="0">
                <a:solidFill>
                  <a:srgbClr val="0070C0"/>
                </a:solidFill>
                <a:latin typeface="Monaco" pitchFamily="2" charset="77"/>
              </a:rPr>
              <a:t>)</a:t>
            </a:r>
          </a:p>
          <a:p>
            <a:endParaRPr lang="en-US" sz="1600" dirty="0">
              <a:solidFill>
                <a:srgbClr val="0070C0"/>
              </a:solidFill>
              <a:latin typeface="Monaco" pitchFamily="2" charset="77"/>
            </a:endParaRPr>
          </a:p>
          <a:p>
            <a:r>
              <a:rPr lang="en-US" sz="1600" dirty="0">
                <a:solidFill>
                  <a:srgbClr val="0070C0"/>
                </a:solidFill>
                <a:latin typeface="Monaco" pitchFamily="2" charset="77"/>
              </a:rPr>
              <a:t>  </a:t>
            </a:r>
            <a:r>
              <a:rPr lang="en-US" sz="1600" dirty="0">
                <a:latin typeface="Monaco" pitchFamily="2" charset="77"/>
              </a:rPr>
              <a:t>Tukey multiple comparisons of means</a:t>
            </a:r>
          </a:p>
          <a:p>
            <a:r>
              <a:rPr lang="en-US" sz="1600" dirty="0">
                <a:latin typeface="Monaco" pitchFamily="2" charset="77"/>
              </a:rPr>
              <a:t>    95% family-wise confidence level</a:t>
            </a:r>
          </a:p>
          <a:p>
            <a:endParaRPr lang="en-US" sz="1600" dirty="0">
              <a:latin typeface="Monaco" pitchFamily="2" charset="77"/>
            </a:endParaRPr>
          </a:p>
          <a:p>
            <a:r>
              <a:rPr lang="en-US" sz="1600" dirty="0">
                <a:latin typeface="Monaco" pitchFamily="2" charset="77"/>
              </a:rPr>
              <a:t>Fit: </a:t>
            </a:r>
            <a:r>
              <a:rPr lang="en-US" sz="1600" dirty="0" err="1">
                <a:latin typeface="Monaco" pitchFamily="2" charset="77"/>
              </a:rPr>
              <a:t>aov</a:t>
            </a:r>
            <a:r>
              <a:rPr lang="en-US" sz="1600" dirty="0">
                <a:latin typeface="Monaco" pitchFamily="2" charset="77"/>
              </a:rPr>
              <a:t>(formula = mass ~ sex + </a:t>
            </a:r>
            <a:r>
              <a:rPr lang="en-US" sz="1600" dirty="0" err="1">
                <a:latin typeface="Monaco" pitchFamily="2" charset="77"/>
              </a:rPr>
              <a:t>subspec</a:t>
            </a:r>
            <a:r>
              <a:rPr lang="en-US" sz="1600" dirty="0">
                <a:latin typeface="Monaco" pitchFamily="2" charset="77"/>
              </a:rPr>
              <a:t>, data = elephants)</a:t>
            </a:r>
          </a:p>
          <a:p>
            <a:endParaRPr lang="en-US" sz="1600" dirty="0">
              <a:latin typeface="Monaco" pitchFamily="2" charset="77"/>
            </a:endParaRPr>
          </a:p>
          <a:p>
            <a:r>
              <a:rPr lang="en-US" sz="1600" dirty="0">
                <a:latin typeface="Monaco" pitchFamily="2" charset="77"/>
              </a:rPr>
              <a:t>$sex</a:t>
            </a:r>
          </a:p>
          <a:p>
            <a:r>
              <a:rPr lang="en-US" sz="1600" dirty="0">
                <a:latin typeface="Monaco" pitchFamily="2" charset="77"/>
              </a:rPr>
              <a:t>        diff      </a:t>
            </a:r>
            <a:r>
              <a:rPr lang="en-US" sz="1600" dirty="0" err="1">
                <a:latin typeface="Monaco" pitchFamily="2" charset="77"/>
              </a:rPr>
              <a:t>lwr</a:t>
            </a:r>
            <a:r>
              <a:rPr lang="en-US" sz="1600" dirty="0">
                <a:latin typeface="Monaco" pitchFamily="2" charset="77"/>
              </a:rPr>
              <a:t>     </a:t>
            </a:r>
            <a:r>
              <a:rPr lang="en-US" sz="1600" dirty="0" err="1">
                <a:latin typeface="Monaco" pitchFamily="2" charset="77"/>
              </a:rPr>
              <a:t>upr</a:t>
            </a:r>
            <a:r>
              <a:rPr lang="en-US" sz="1600" dirty="0">
                <a:latin typeface="Monaco" pitchFamily="2" charset="77"/>
              </a:rPr>
              <a:t> p </a:t>
            </a:r>
            <a:r>
              <a:rPr lang="en-US" sz="1600" dirty="0" err="1">
                <a:latin typeface="Monaco" pitchFamily="2" charset="77"/>
              </a:rPr>
              <a:t>adj</a:t>
            </a:r>
            <a:endParaRPr lang="en-US" sz="1600" dirty="0">
              <a:latin typeface="Monaco" pitchFamily="2" charset="77"/>
            </a:endParaRPr>
          </a:p>
          <a:p>
            <a:r>
              <a:rPr lang="en-US" sz="1600" dirty="0">
                <a:latin typeface="Monaco" pitchFamily="2" charset="77"/>
              </a:rPr>
              <a:t>m-f 701.7157 494.7865 908.645 1e-07</a:t>
            </a:r>
          </a:p>
          <a:p>
            <a:endParaRPr lang="en-US" sz="1600" dirty="0">
              <a:latin typeface="Monaco" pitchFamily="2" charset="77"/>
            </a:endParaRPr>
          </a:p>
          <a:p>
            <a:r>
              <a:rPr lang="en-US" sz="1600" dirty="0">
                <a:latin typeface="Monaco" pitchFamily="2" charset="77"/>
              </a:rPr>
              <a:t>$</a:t>
            </a:r>
            <a:r>
              <a:rPr lang="en-US" sz="1600" dirty="0" err="1">
                <a:latin typeface="Monaco" pitchFamily="2" charset="77"/>
              </a:rPr>
              <a:t>subspec</a:t>
            </a:r>
            <a:endParaRPr lang="en-US" sz="1600" dirty="0">
              <a:latin typeface="Monaco" pitchFamily="2" charset="77"/>
            </a:endParaRPr>
          </a:p>
          <a:p>
            <a:r>
              <a:rPr lang="en-US" sz="1600" dirty="0">
                <a:latin typeface="Monaco" pitchFamily="2" charset="77"/>
              </a:rPr>
              <a:t>                          diff        </a:t>
            </a:r>
            <a:r>
              <a:rPr lang="en-US" sz="1600" dirty="0" err="1">
                <a:latin typeface="Monaco" pitchFamily="2" charset="77"/>
              </a:rPr>
              <a:t>lwr</a:t>
            </a:r>
            <a:r>
              <a:rPr lang="en-US" sz="1600" dirty="0">
                <a:latin typeface="Monaco" pitchFamily="2" charset="77"/>
              </a:rPr>
              <a:t>       </a:t>
            </a:r>
            <a:r>
              <a:rPr lang="en-US" sz="1600" dirty="0" err="1">
                <a:latin typeface="Monaco" pitchFamily="2" charset="77"/>
              </a:rPr>
              <a:t>upr</a:t>
            </a:r>
            <a:r>
              <a:rPr lang="en-US" sz="1600" dirty="0">
                <a:latin typeface="Monaco" pitchFamily="2" charset="77"/>
              </a:rPr>
              <a:t>     p </a:t>
            </a:r>
            <a:r>
              <a:rPr lang="en-US" sz="1600" dirty="0" err="1">
                <a:latin typeface="Monaco" pitchFamily="2" charset="77"/>
              </a:rPr>
              <a:t>adj</a:t>
            </a:r>
            <a:endParaRPr lang="en-US" sz="1600" dirty="0">
              <a:latin typeface="Monaco" pitchFamily="2" charset="77"/>
            </a:endParaRPr>
          </a:p>
          <a:p>
            <a:r>
              <a:rPr lang="en-US" sz="1600" dirty="0">
                <a:latin typeface="Monaco" pitchFamily="2" charset="77"/>
              </a:rPr>
              <a:t>Indian-Bornean      -764.66694 -1145.5736 -383.7602 0.0000263</a:t>
            </a:r>
          </a:p>
          <a:p>
            <a:r>
              <a:rPr lang="en-US" sz="1600" dirty="0">
                <a:latin typeface="Monaco" pitchFamily="2" charset="77"/>
              </a:rPr>
              <a:t>Sri Lankan-Bornean   -79.60997  -460.5167  301.2967 0.9421499</a:t>
            </a:r>
          </a:p>
          <a:p>
            <a:r>
              <a:rPr lang="en-US" sz="1600" dirty="0">
                <a:latin typeface="Monaco" pitchFamily="2" charset="77"/>
              </a:rPr>
              <a:t>Sumatran-Bornean    -260.89309  -641.7998  120.0136 0.2691397</a:t>
            </a:r>
          </a:p>
          <a:p>
            <a:r>
              <a:rPr lang="en-US" sz="1600" dirty="0">
                <a:latin typeface="Monaco" pitchFamily="2" charset="77"/>
              </a:rPr>
              <a:t>Sri Lankan-Indian    685.05697   304.1503 1065.9637 0.0001428</a:t>
            </a:r>
          </a:p>
          <a:p>
            <a:r>
              <a:rPr lang="en-US" sz="1600" dirty="0">
                <a:latin typeface="Monaco" pitchFamily="2" charset="77"/>
              </a:rPr>
              <a:t>Sumatran-Indian      503.77384   122.8671  884.6806 0.0056385</a:t>
            </a:r>
          </a:p>
          <a:p>
            <a:r>
              <a:rPr lang="en-US" sz="1600" dirty="0">
                <a:latin typeface="Monaco" pitchFamily="2" charset="77"/>
              </a:rPr>
              <a:t>Sumatran-Sri Lankan -181.28312  -562.1898  199.6236 0.5792692</a:t>
            </a:r>
          </a:p>
        </p:txBody>
      </p:sp>
      <p:sp>
        <p:nvSpPr>
          <p:cNvPr id="2" name="Title 1">
            <a:extLst>
              <a:ext uri="{FF2B5EF4-FFF2-40B4-BE49-F238E27FC236}">
                <a16:creationId xmlns:a16="http://schemas.microsoft.com/office/drawing/2014/main" id="{03C7F8B2-CDAC-B543-8221-E4C822F744B7}"/>
              </a:ext>
            </a:extLst>
          </p:cNvPr>
          <p:cNvSpPr>
            <a:spLocks noGrp="1"/>
          </p:cNvSpPr>
          <p:nvPr>
            <p:ph type="title"/>
          </p:nvPr>
        </p:nvSpPr>
        <p:spPr/>
        <p:txBody>
          <a:bodyPr/>
          <a:lstStyle/>
          <a:p>
            <a:r>
              <a:rPr lang="en-US" dirty="0"/>
              <a:t>Conducting two-way ANOVA in R</a:t>
            </a:r>
          </a:p>
        </p:txBody>
      </p:sp>
      <p:sp>
        <p:nvSpPr>
          <p:cNvPr id="4" name="Oval 3">
            <a:extLst>
              <a:ext uri="{FF2B5EF4-FFF2-40B4-BE49-F238E27FC236}">
                <a16:creationId xmlns:a16="http://schemas.microsoft.com/office/drawing/2014/main" id="{086B2D2E-17DB-F94C-BD31-D1D16665F706}"/>
              </a:ext>
            </a:extLst>
          </p:cNvPr>
          <p:cNvSpPr/>
          <p:nvPr/>
        </p:nvSpPr>
        <p:spPr>
          <a:xfrm>
            <a:off x="378999" y="2300744"/>
            <a:ext cx="7526136" cy="1036321"/>
          </a:xfrm>
          <a:prstGeom prst="ellipse">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6" name="Audio 5">
            <a:hlinkClick r:id="" action="ppaction://media"/>
            <a:extLst>
              <a:ext uri="{FF2B5EF4-FFF2-40B4-BE49-F238E27FC236}">
                <a16:creationId xmlns:a16="http://schemas.microsoft.com/office/drawing/2014/main" id="{EA285B5A-4ECA-7840-9094-273C20A1F30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482175310"/>
      </p:ext>
    </p:extLst>
  </p:cSld>
  <p:clrMapOvr>
    <a:masterClrMapping/>
  </p:clrMapOvr>
  <mc:AlternateContent xmlns:mc="http://schemas.openxmlformats.org/markup-compatibility/2006" xmlns:p14="http://schemas.microsoft.com/office/powerpoint/2010/main">
    <mc:Choice Requires="p14">
      <p:transition spd="slow" p14:dur="2000" advTm="35419"/>
    </mc:Choice>
    <mc:Fallback xmlns="">
      <p:transition spd="slow" advTm="354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7F8B2-CDAC-B543-8221-E4C822F744B7}"/>
              </a:ext>
            </a:extLst>
          </p:cNvPr>
          <p:cNvSpPr>
            <a:spLocks noGrp="1"/>
          </p:cNvSpPr>
          <p:nvPr>
            <p:ph type="title"/>
          </p:nvPr>
        </p:nvSpPr>
        <p:spPr>
          <a:xfrm>
            <a:off x="0" y="274638"/>
            <a:ext cx="9144000" cy="1143000"/>
          </a:xfrm>
        </p:spPr>
        <p:txBody>
          <a:bodyPr>
            <a:normAutofit fontScale="90000"/>
          </a:bodyPr>
          <a:lstStyle/>
          <a:p>
            <a:r>
              <a:rPr lang="en-US" dirty="0"/>
              <a:t>The order of predictors in ANOVA matters</a:t>
            </a:r>
          </a:p>
        </p:txBody>
      </p:sp>
      <p:pic>
        <p:nvPicPr>
          <p:cNvPr id="7" name="Picture 6">
            <a:extLst>
              <a:ext uri="{FF2B5EF4-FFF2-40B4-BE49-F238E27FC236}">
                <a16:creationId xmlns:a16="http://schemas.microsoft.com/office/drawing/2014/main" id="{769B403E-8544-8648-99CE-15AEF9EDB182}"/>
              </a:ext>
            </a:extLst>
          </p:cNvPr>
          <p:cNvPicPr>
            <a:picLocks noChangeAspect="1"/>
          </p:cNvPicPr>
          <p:nvPr/>
        </p:nvPicPr>
        <p:blipFill>
          <a:blip r:embed="rId5"/>
          <a:stretch>
            <a:fillRect/>
          </a:stretch>
        </p:blipFill>
        <p:spPr>
          <a:xfrm>
            <a:off x="1487903" y="1128880"/>
            <a:ext cx="5899485" cy="5860156"/>
          </a:xfrm>
          <a:prstGeom prst="rect">
            <a:avLst/>
          </a:prstGeom>
        </p:spPr>
      </p:pic>
      <p:pic>
        <p:nvPicPr>
          <p:cNvPr id="12" name="Audio 11">
            <a:hlinkClick r:id="" action="ppaction://media"/>
            <a:extLst>
              <a:ext uri="{FF2B5EF4-FFF2-40B4-BE49-F238E27FC236}">
                <a16:creationId xmlns:a16="http://schemas.microsoft.com/office/drawing/2014/main" id="{9F1E9CEB-CD91-1B48-8FFE-88B9061D6C4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87327279"/>
      </p:ext>
    </p:extLst>
  </p:cSld>
  <p:clrMapOvr>
    <a:masterClrMapping/>
  </p:clrMapOvr>
  <mc:AlternateContent xmlns:mc="http://schemas.openxmlformats.org/markup-compatibility/2006" xmlns:p14="http://schemas.microsoft.com/office/powerpoint/2010/main">
    <mc:Choice Requires="p14">
      <p:transition spd="slow" p14:dur="2000" advTm="25506"/>
    </mc:Choice>
    <mc:Fallback xmlns="">
      <p:transition spd="slow" advTm="2550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8C7582F-8581-9044-9F11-D8BFD3D585E0}"/>
              </a:ext>
            </a:extLst>
          </p:cNvPr>
          <p:cNvPicPr>
            <a:picLocks noChangeAspect="1"/>
          </p:cNvPicPr>
          <p:nvPr/>
        </p:nvPicPr>
        <p:blipFill>
          <a:blip r:embed="rId5"/>
          <a:stretch>
            <a:fillRect/>
          </a:stretch>
        </p:blipFill>
        <p:spPr>
          <a:xfrm>
            <a:off x="1487903" y="1128236"/>
            <a:ext cx="5900134" cy="5860800"/>
          </a:xfrm>
          <a:prstGeom prst="rect">
            <a:avLst/>
          </a:prstGeom>
        </p:spPr>
      </p:pic>
      <p:sp>
        <p:nvSpPr>
          <p:cNvPr id="2" name="Title 1">
            <a:extLst>
              <a:ext uri="{FF2B5EF4-FFF2-40B4-BE49-F238E27FC236}">
                <a16:creationId xmlns:a16="http://schemas.microsoft.com/office/drawing/2014/main" id="{03C7F8B2-CDAC-B543-8221-E4C822F744B7}"/>
              </a:ext>
            </a:extLst>
          </p:cNvPr>
          <p:cNvSpPr>
            <a:spLocks noGrp="1"/>
          </p:cNvSpPr>
          <p:nvPr>
            <p:ph type="title"/>
          </p:nvPr>
        </p:nvSpPr>
        <p:spPr>
          <a:xfrm>
            <a:off x="0" y="274638"/>
            <a:ext cx="9144000" cy="1143000"/>
          </a:xfrm>
        </p:spPr>
        <p:txBody>
          <a:bodyPr>
            <a:normAutofit fontScale="90000"/>
          </a:bodyPr>
          <a:lstStyle/>
          <a:p>
            <a:r>
              <a:rPr lang="en-US" dirty="0"/>
              <a:t>The order of predictors in ANOVA matters</a:t>
            </a:r>
          </a:p>
        </p:txBody>
      </p:sp>
      <p:pic>
        <p:nvPicPr>
          <p:cNvPr id="3" name="Audio 2">
            <a:hlinkClick r:id="" action="ppaction://media"/>
            <a:extLst>
              <a:ext uri="{FF2B5EF4-FFF2-40B4-BE49-F238E27FC236}">
                <a16:creationId xmlns:a16="http://schemas.microsoft.com/office/drawing/2014/main" id="{0FA1E397-841F-5C4A-8608-0DB76E38787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2695805352"/>
      </p:ext>
    </p:extLst>
  </p:cSld>
  <p:clrMapOvr>
    <a:masterClrMapping/>
  </p:clrMapOvr>
  <mc:AlternateContent xmlns:mc="http://schemas.openxmlformats.org/markup-compatibility/2006" xmlns:p14="http://schemas.microsoft.com/office/powerpoint/2010/main">
    <mc:Choice Requires="p14">
      <p:transition spd="slow" p14:dur="2000" advTm="33448"/>
    </mc:Choice>
    <mc:Fallback xmlns="">
      <p:transition spd="slow" advTm="334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7F8B2-CDAC-B543-8221-E4C822F744B7}"/>
              </a:ext>
            </a:extLst>
          </p:cNvPr>
          <p:cNvSpPr>
            <a:spLocks noGrp="1"/>
          </p:cNvSpPr>
          <p:nvPr>
            <p:ph type="title"/>
          </p:nvPr>
        </p:nvSpPr>
        <p:spPr>
          <a:xfrm>
            <a:off x="0" y="274638"/>
            <a:ext cx="9144000" cy="1143000"/>
          </a:xfrm>
        </p:spPr>
        <p:txBody>
          <a:bodyPr>
            <a:normAutofit fontScale="90000"/>
          </a:bodyPr>
          <a:lstStyle/>
          <a:p>
            <a:r>
              <a:rPr lang="en-US" dirty="0"/>
              <a:t>The order of predictors in ANOVA matters</a:t>
            </a:r>
          </a:p>
        </p:txBody>
      </p:sp>
      <p:pic>
        <p:nvPicPr>
          <p:cNvPr id="11" name="Picture 10">
            <a:extLst>
              <a:ext uri="{FF2B5EF4-FFF2-40B4-BE49-F238E27FC236}">
                <a16:creationId xmlns:a16="http://schemas.microsoft.com/office/drawing/2014/main" id="{FC434998-4F86-BA49-A688-2A2D5048E185}"/>
              </a:ext>
            </a:extLst>
          </p:cNvPr>
          <p:cNvPicPr>
            <a:picLocks noChangeAspect="1"/>
          </p:cNvPicPr>
          <p:nvPr/>
        </p:nvPicPr>
        <p:blipFill>
          <a:blip r:embed="rId5"/>
          <a:stretch>
            <a:fillRect/>
          </a:stretch>
        </p:blipFill>
        <p:spPr>
          <a:xfrm>
            <a:off x="1487254" y="1128236"/>
            <a:ext cx="5900134" cy="5860800"/>
          </a:xfrm>
          <a:prstGeom prst="rect">
            <a:avLst/>
          </a:prstGeom>
        </p:spPr>
      </p:pic>
      <p:pic>
        <p:nvPicPr>
          <p:cNvPr id="3" name="Audio 2">
            <a:hlinkClick r:id="" action="ppaction://media"/>
            <a:extLst>
              <a:ext uri="{FF2B5EF4-FFF2-40B4-BE49-F238E27FC236}">
                <a16:creationId xmlns:a16="http://schemas.microsoft.com/office/drawing/2014/main" id="{D867CD31-F072-5A43-8E0A-26D26CB1581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5829300"/>
            <a:ext cx="812800" cy="812800"/>
          </a:xfrm>
          <a:prstGeom prst="rect">
            <a:avLst/>
          </a:prstGeom>
        </p:spPr>
      </p:pic>
    </p:spTree>
    <p:extLst>
      <p:ext uri="{BB962C8B-B14F-4D97-AF65-F5344CB8AC3E}">
        <p14:creationId xmlns:p14="http://schemas.microsoft.com/office/powerpoint/2010/main" val="165845825"/>
      </p:ext>
    </p:extLst>
  </p:cSld>
  <p:clrMapOvr>
    <a:masterClrMapping/>
  </p:clrMapOvr>
  <mc:AlternateContent xmlns:mc="http://schemas.openxmlformats.org/markup-compatibility/2006">
    <mc:Choice xmlns:p14="http://schemas.microsoft.com/office/powerpoint/2010/main" Requires="p14">
      <p:transition spd="slow" p14:dur="2000" advTm="49328"/>
    </mc:Choice>
    <mc:Fallback>
      <p:transition spd="slow" advTm="493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37739</TotalTime>
  <Words>1363</Words>
  <Application>Microsoft Macintosh PowerPoint</Application>
  <PresentationFormat>On-screen Show (4:3)</PresentationFormat>
  <Paragraphs>101</Paragraphs>
  <Slides>11</Slides>
  <Notes>11</Notes>
  <HiddenSlides>0</HiddenSlides>
  <MMClips>11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Monaco</vt:lpstr>
      <vt:lpstr>Office Theme</vt:lpstr>
      <vt:lpstr>Statistics for Natural Scientists (EART11200 Toolkit)</vt:lpstr>
      <vt:lpstr>PowerPoint Presentation</vt:lpstr>
      <vt:lpstr>PowerPoint Presentation</vt:lpstr>
      <vt:lpstr>PowerPoint Presentation</vt:lpstr>
      <vt:lpstr>Conducting two-way ANOVA in R</vt:lpstr>
      <vt:lpstr>Conducting two-way ANOVA in R</vt:lpstr>
      <vt:lpstr>Conducting two-way ANOVA in R</vt:lpstr>
      <vt:lpstr>Conducting two-way ANOVA in R</vt:lpstr>
      <vt:lpstr>The order of predictors in ANOVA matters</vt:lpstr>
      <vt:lpstr>The order of predictors in ANOVA matters</vt:lpstr>
      <vt:lpstr>The order of predictors in ANOVA matters</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dc:title>
  <dc:creator>Robert Tucker Gilman</dc:creator>
  <cp:lastModifiedBy>R. Tucker Gilman</cp:lastModifiedBy>
  <cp:revision>460</cp:revision>
  <dcterms:created xsi:type="dcterms:W3CDTF">2015-11-04T08:57:41Z</dcterms:created>
  <dcterms:modified xsi:type="dcterms:W3CDTF">2021-04-09T13:11:08Z</dcterms:modified>
</cp:coreProperties>
</file>