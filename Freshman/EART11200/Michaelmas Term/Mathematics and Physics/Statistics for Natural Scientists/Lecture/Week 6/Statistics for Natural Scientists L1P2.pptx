
<file path=[Content_Types].xml><?xml version="1.0" encoding="utf-8"?>
<Types xmlns="http://schemas.openxmlformats.org/package/2006/content-types">
  <Default Extension="png" ContentType="image/png"/>
  <Default Extension="m4a" ContentType="audio/mp4"/>
  <Default Extension="emf" ContentType="image/x-emf"/>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380" r:id="rId2"/>
    <p:sldId id="332" r:id="rId3"/>
    <p:sldId id="333" r:id="rId4"/>
    <p:sldId id="334" r:id="rId5"/>
    <p:sldId id="365" r:id="rId6"/>
    <p:sldId id="358" r:id="rId7"/>
    <p:sldId id="359" r:id="rId8"/>
    <p:sldId id="360" r:id="rId9"/>
    <p:sldId id="361" r:id="rId10"/>
    <p:sldId id="335" r:id="rId11"/>
    <p:sldId id="336" r:id="rId12"/>
    <p:sldId id="337" r:id="rId13"/>
    <p:sldId id="338" r:id="rId14"/>
    <p:sldId id="362" r:id="rId15"/>
    <p:sldId id="366" r:id="rId16"/>
    <p:sldId id="363" r:id="rId17"/>
    <p:sldId id="367" r:id="rId18"/>
    <p:sldId id="340" r:id="rId19"/>
    <p:sldId id="364" r:id="rId20"/>
    <p:sldId id="368" r:id="rId21"/>
    <p:sldId id="369" r:id="rId22"/>
    <p:sldId id="370" r:id="rId23"/>
    <p:sldId id="371" r:id="rId24"/>
    <p:sldId id="372" r:id="rId25"/>
    <p:sldId id="375" r:id="rId26"/>
    <p:sldId id="374" r:id="rId27"/>
    <p:sldId id="377" r:id="rId28"/>
    <p:sldId id="378" r:id="rId29"/>
    <p:sldId id="347" r:id="rId30"/>
    <p:sldId id="348" r:id="rId31"/>
    <p:sldId id="349" r:id="rId32"/>
    <p:sldId id="350" r:id="rId33"/>
    <p:sldId id="260" r:id="rId34"/>
    <p:sldId id="352" r:id="rId35"/>
    <p:sldId id="261" r:id="rId36"/>
    <p:sldId id="353" r:id="rId37"/>
    <p:sldId id="351" r:id="rId38"/>
    <p:sldId id="354" r:id="rId39"/>
    <p:sldId id="267" r:id="rId40"/>
    <p:sldId id="264" r:id="rId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7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943" autoAdjust="0"/>
    <p:restoredTop sz="36957" autoAdjust="0"/>
  </p:normalViewPr>
  <p:slideViewPr>
    <p:cSldViewPr snapToGrid="0" snapToObjects="1">
      <p:cViewPr varScale="1">
        <p:scale>
          <a:sx n="30" d="100"/>
          <a:sy n="30" d="100"/>
        </p:scale>
        <p:origin x="1928" y="184"/>
      </p:cViewPr>
      <p:guideLst>
        <p:guide orient="horz" pos="2160"/>
        <p:guide pos="2880"/>
      </p:guideLst>
    </p:cSldViewPr>
  </p:slideViewPr>
  <p:notesTextViewPr>
    <p:cViewPr>
      <p:scale>
        <a:sx n="114" d="100"/>
        <a:sy n="114"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658177-DCEB-4046-8EC6-AB49114D63F7}" type="datetimeFigureOut">
              <a:rPr lang="en-US" smtClean="0"/>
              <a:t>3/14/22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0F377A-0F8E-4448-A8E9-7B8C688BDF07}" type="slidenum">
              <a:rPr lang="en-US" smtClean="0"/>
              <a:t>‹#›</a:t>
            </a:fld>
            <a:endParaRPr lang="en-US"/>
          </a:p>
        </p:txBody>
      </p:sp>
    </p:spTree>
    <p:extLst>
      <p:ext uri="{BB962C8B-B14F-4D97-AF65-F5344CB8AC3E}">
        <p14:creationId xmlns:p14="http://schemas.microsoft.com/office/powerpoint/2010/main" val="367538085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Hi everyone. Welcome back to asynchronous lecture 2 of Statistics for Natural Scientists.</a:t>
            </a:r>
          </a:p>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300F377A-0F8E-4448-A8E9-7B8C688BDF07}" type="slidenum">
              <a:rPr lang="en-US" smtClean="0"/>
              <a:t>1</a:t>
            </a:fld>
            <a:endParaRPr lang="en-US"/>
          </a:p>
        </p:txBody>
      </p:sp>
    </p:spTree>
    <p:extLst>
      <p:ext uri="{BB962C8B-B14F-4D97-AF65-F5344CB8AC3E}">
        <p14:creationId xmlns:p14="http://schemas.microsoft.com/office/powerpoint/2010/main" val="2033485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In the first part </a:t>
            </a:r>
            <a:r>
              <a:rPr lang="en-US" dirty="0"/>
              <a:t>of this lecture, we looked at how we might test a hypothesis using the Monte Carlo method.</a:t>
            </a:r>
          </a:p>
          <a:p>
            <a:endParaRPr lang="en-US" dirty="0"/>
          </a:p>
          <a:p>
            <a:r>
              <a:rPr lang="en-US" dirty="0"/>
              <a:t>The Monte Carlo method is a powerful and intuitive way to ask if differences we observe in a data set are larger than we would expect to see by chance alone. But, historically, there was a problem with this method. Until a few years ago, computers were not fast enough to do simulations like this. It could take days to get an answer. </a:t>
            </a:r>
          </a:p>
          <a:p>
            <a:endParaRPr lang="en-US" dirty="0"/>
          </a:p>
          <a:p>
            <a:r>
              <a:rPr lang="en-US" dirty="0"/>
              <a:t>A solution to this was developed by a researcher named William Sealy </a:t>
            </a:r>
            <a:r>
              <a:rPr lang="en-US" dirty="0" err="1"/>
              <a:t>Gosset</a:t>
            </a:r>
            <a:r>
              <a:rPr lang="en-US" dirty="0"/>
              <a:t>, who published under the name “Student.” </a:t>
            </a:r>
            <a:r>
              <a:rPr lang="en-US" dirty="0" err="1"/>
              <a:t>Gosset</a:t>
            </a:r>
            <a:r>
              <a:rPr lang="en-US" dirty="0"/>
              <a:t> noticed that, under certain </a:t>
            </a:r>
            <a:r>
              <a:rPr lang="en-US" dirty="0" err="1"/>
              <a:t>conditons</a:t>
            </a:r>
            <a:r>
              <a:rPr lang="en-US" dirty="0"/>
              <a:t>, the histograms that we get by resampling follow a predictable distribution. If we know the variance in our sample and we know our sample size, then we can calculate this distribution </a:t>
            </a:r>
            <a:r>
              <a:rPr lang="en-US" i="0" dirty="0"/>
              <a:t>without</a:t>
            </a:r>
            <a:r>
              <a:rPr lang="en-US" dirty="0"/>
              <a:t> resampling. Then, we can compare our observed data to the calculated distribution. The distribution is called a t-distribution, and the test is called a t-test.</a:t>
            </a:r>
          </a:p>
          <a:p>
            <a:endParaRPr lang="en-US" dirty="0"/>
          </a:p>
          <a:p>
            <a:r>
              <a:rPr lang="en-US" dirty="0"/>
              <a:t>And, we can do a t-test in R.</a:t>
            </a:r>
          </a:p>
        </p:txBody>
      </p:sp>
      <p:sp>
        <p:nvSpPr>
          <p:cNvPr id="4" name="Slide Number Placeholder 3"/>
          <p:cNvSpPr>
            <a:spLocks noGrp="1"/>
          </p:cNvSpPr>
          <p:nvPr>
            <p:ph type="sldNum" sz="quarter" idx="10"/>
          </p:nvPr>
        </p:nvSpPr>
        <p:spPr/>
        <p:txBody>
          <a:bodyPr/>
          <a:lstStyle/>
          <a:p>
            <a:fld id="{300F377A-0F8E-4448-A8E9-7B8C688BDF07}" type="slidenum">
              <a:rPr lang="en-US" smtClean="0"/>
              <a:t>2</a:t>
            </a:fld>
            <a:endParaRPr lang="en-US"/>
          </a:p>
        </p:txBody>
      </p:sp>
    </p:spTree>
    <p:extLst>
      <p:ext uri="{BB962C8B-B14F-4D97-AF65-F5344CB8AC3E}">
        <p14:creationId xmlns:p14="http://schemas.microsoft.com/office/powerpoint/2010/main" val="3233034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Now, before </a:t>
            </a:r>
            <a:r>
              <a:rPr lang="en-US" dirty="0"/>
              <a:t>we begin working with R, let’s think about our data, and how we should arrange it for analysis. Here, I am showing you an Excel file with the height data that we were just analyzing. In this data, each row represents a data point – in this case, a person. Each column is a description of that person. The first column is the order in which they responded to a poll, the second column is their height, and the third column is their sex. Note that sex is indicated with an “m” for males or an “f” for females. We will use this later. There is more information in the data, but we won’t use that right now. </a:t>
            </a:r>
          </a:p>
          <a:p>
            <a:endParaRPr lang="en-US" dirty="0"/>
          </a:p>
          <a:p>
            <a:r>
              <a:rPr lang="en-US" dirty="0"/>
              <a:t>Notice that the first row in the spreadsheet is headers. That is, the first row tells us what data we can find in the corresponding column.</a:t>
            </a:r>
          </a:p>
          <a:p>
            <a:endParaRPr lang="en-US" dirty="0"/>
          </a:p>
          <a:p>
            <a:r>
              <a:rPr lang="en-US" dirty="0"/>
              <a:t>It is very important here that each row is a data point and each column is a description of the data. If you set your data up like this, it will be very easy to analyze. If you set it up in any other way, it may be very difficult to </a:t>
            </a:r>
            <a:r>
              <a:rPr lang="en-US" dirty="0" err="1"/>
              <a:t>analyse</a:t>
            </a:r>
            <a:r>
              <a:rPr lang="en-US" dirty="0"/>
              <a:t>.</a:t>
            </a:r>
          </a:p>
          <a:p>
            <a:endParaRPr lang="en-US" dirty="0"/>
          </a:p>
          <a:p>
            <a:r>
              <a:rPr lang="en-US" dirty="0"/>
              <a:t>Now, I am showing you this data in Excel, but I have used Excel’s ”Save As...” function to save this as a csv. A csv is simple text file without Microsoft’s fancy field codes, and </a:t>
            </a:r>
            <a:r>
              <a:rPr lang="en-US" dirty="0" err="1"/>
              <a:t>programmes</a:t>
            </a:r>
            <a:r>
              <a:rPr lang="en-US" dirty="0"/>
              <a:t> like R can read it.</a:t>
            </a:r>
          </a:p>
        </p:txBody>
      </p:sp>
      <p:sp>
        <p:nvSpPr>
          <p:cNvPr id="4" name="Slide Number Placeholder 3"/>
          <p:cNvSpPr>
            <a:spLocks noGrp="1"/>
          </p:cNvSpPr>
          <p:nvPr>
            <p:ph type="sldNum" sz="quarter" idx="5"/>
          </p:nvPr>
        </p:nvSpPr>
        <p:spPr/>
        <p:txBody>
          <a:bodyPr/>
          <a:lstStyle/>
          <a:p>
            <a:fld id="{300F377A-0F8E-4448-A8E9-7B8C688BDF07}" type="slidenum">
              <a:rPr lang="en-US" smtClean="0"/>
              <a:t>3</a:t>
            </a:fld>
            <a:endParaRPr lang="en-US"/>
          </a:p>
        </p:txBody>
      </p:sp>
    </p:spTree>
    <p:extLst>
      <p:ext uri="{BB962C8B-B14F-4D97-AF65-F5344CB8AC3E}">
        <p14:creationId xmlns:p14="http://schemas.microsoft.com/office/powerpoint/2010/main" val="22421976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Now, let’s switch </a:t>
            </a:r>
            <a:r>
              <a:rPr lang="en-US" dirty="0"/>
              <a:t>to R. This is the screen you will see when you open </a:t>
            </a:r>
            <a:r>
              <a:rPr lang="en-US" dirty="0" err="1"/>
              <a:t>RStudio</a:t>
            </a:r>
            <a:r>
              <a:rPr lang="en-US" dirty="0"/>
              <a:t> for the first time.</a:t>
            </a:r>
          </a:p>
          <a:p>
            <a:endParaRPr lang="en-US" dirty="0"/>
          </a:p>
          <a:p>
            <a:r>
              <a:rPr lang="en-US" dirty="0"/>
              <a:t>Before we can </a:t>
            </a:r>
            <a:r>
              <a:rPr lang="en-US" dirty="0" err="1"/>
              <a:t>analyse</a:t>
            </a:r>
            <a:r>
              <a:rPr lang="en-US" dirty="0"/>
              <a:t> the data, we will need to import it into R. There are several steps in this process, but don’t feel like you need to </a:t>
            </a:r>
            <a:r>
              <a:rPr lang="en-US" dirty="0" err="1"/>
              <a:t>memorise</a:t>
            </a:r>
            <a:r>
              <a:rPr lang="en-US" dirty="0"/>
              <a:t> these now. This week’s practical will walk you through the steps again. And, we will do this again and again over the next few weeks. So, you will learn it by doing it. </a:t>
            </a:r>
          </a:p>
        </p:txBody>
      </p:sp>
      <p:sp>
        <p:nvSpPr>
          <p:cNvPr id="4" name="Slide Number Placeholder 3"/>
          <p:cNvSpPr>
            <a:spLocks noGrp="1"/>
          </p:cNvSpPr>
          <p:nvPr>
            <p:ph type="sldNum" sz="quarter" idx="5"/>
          </p:nvPr>
        </p:nvSpPr>
        <p:spPr/>
        <p:txBody>
          <a:bodyPr/>
          <a:lstStyle/>
          <a:p>
            <a:fld id="{300F377A-0F8E-4448-A8E9-7B8C688BDF07}" type="slidenum">
              <a:rPr lang="en-US" smtClean="0"/>
              <a:t>4</a:t>
            </a:fld>
            <a:endParaRPr lang="en-US"/>
          </a:p>
        </p:txBody>
      </p:sp>
    </p:spTree>
    <p:extLst>
      <p:ext uri="{BB962C8B-B14F-4D97-AF65-F5344CB8AC3E}">
        <p14:creationId xmlns:p14="http://schemas.microsoft.com/office/powerpoint/2010/main" val="3504952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import data, R needs to know where to find it. So, the first thing we will do is set the folder where we have saved the data as the working directory. We can do this from the file panel in the lower right of the </a:t>
            </a:r>
            <a:r>
              <a:rPr lang="en-US" dirty="0" err="1"/>
              <a:t>RStudio</a:t>
            </a:r>
            <a:r>
              <a:rPr lang="en-US" dirty="0"/>
              <a:t> application.</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5</a:t>
            </a:fld>
            <a:endParaRPr lang="en-US"/>
          </a:p>
        </p:txBody>
      </p:sp>
    </p:spTree>
    <p:extLst>
      <p:ext uri="{BB962C8B-B14F-4D97-AF65-F5344CB8AC3E}">
        <p14:creationId xmlns:p14="http://schemas.microsoft.com/office/powerpoint/2010/main" val="981195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navigate to the directory with the data, we can see the data file we are looking for. In this case, the file is “</a:t>
            </a:r>
            <a:r>
              <a:rPr lang="en-US" dirty="0" err="1"/>
              <a:t>height_data.csv</a:t>
            </a:r>
            <a:r>
              <a:rPr lang="en-US" dirty="0"/>
              <a:t>.” But, don’t open. Instead, we will set this directory as our working directory so R can find the data itself.</a:t>
            </a:r>
          </a:p>
        </p:txBody>
      </p:sp>
      <p:sp>
        <p:nvSpPr>
          <p:cNvPr id="4" name="Slide Number Placeholder 3"/>
          <p:cNvSpPr>
            <a:spLocks noGrp="1"/>
          </p:cNvSpPr>
          <p:nvPr>
            <p:ph type="sldNum" sz="quarter" idx="5"/>
          </p:nvPr>
        </p:nvSpPr>
        <p:spPr/>
        <p:txBody>
          <a:bodyPr/>
          <a:lstStyle/>
          <a:p>
            <a:fld id="{300F377A-0F8E-4448-A8E9-7B8C688BDF07}" type="slidenum">
              <a:rPr lang="en-US" smtClean="0"/>
              <a:t>6</a:t>
            </a:fld>
            <a:endParaRPr lang="en-US"/>
          </a:p>
        </p:txBody>
      </p:sp>
    </p:spTree>
    <p:extLst>
      <p:ext uri="{BB962C8B-B14F-4D97-AF65-F5344CB8AC3E}">
        <p14:creationId xmlns:p14="http://schemas.microsoft.com/office/powerpoint/2010/main" val="17711217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do this, first click on the blue gear icon to open a drop-down menu, and then select “set as working directory.”</a:t>
            </a:r>
          </a:p>
        </p:txBody>
      </p:sp>
      <p:sp>
        <p:nvSpPr>
          <p:cNvPr id="4" name="Slide Number Placeholder 3"/>
          <p:cNvSpPr>
            <a:spLocks noGrp="1"/>
          </p:cNvSpPr>
          <p:nvPr>
            <p:ph type="sldNum" sz="quarter" idx="5"/>
          </p:nvPr>
        </p:nvSpPr>
        <p:spPr/>
        <p:txBody>
          <a:bodyPr/>
          <a:lstStyle/>
          <a:p>
            <a:fld id="{300F377A-0F8E-4448-A8E9-7B8C688BDF07}" type="slidenum">
              <a:rPr lang="en-US" smtClean="0"/>
              <a:t>7</a:t>
            </a:fld>
            <a:endParaRPr lang="en-US"/>
          </a:p>
        </p:txBody>
      </p:sp>
    </p:spTree>
    <p:extLst>
      <p:ext uri="{BB962C8B-B14F-4D97-AF65-F5344CB8AC3E}">
        <p14:creationId xmlns:p14="http://schemas.microsoft.com/office/powerpoint/2010/main" val="3917616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do this, a command will appear in the R console. This command sets the directory we have just chosen as the working directory. Now, we are ready to import the data.</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8</a:t>
            </a:fld>
            <a:endParaRPr lang="en-US"/>
          </a:p>
        </p:txBody>
      </p:sp>
    </p:spTree>
    <p:extLst>
      <p:ext uri="{BB962C8B-B14F-4D97-AF65-F5344CB8AC3E}">
        <p14:creationId xmlns:p14="http://schemas.microsoft.com/office/powerpoint/2010/main" val="41789145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import the data using a command called “</a:t>
            </a:r>
            <a:r>
              <a:rPr lang="en-US" dirty="0" err="1"/>
              <a:t>read.csv</a:t>
            </a:r>
            <a:r>
              <a:rPr lang="en-US" dirty="0"/>
              <a:t>.” The command is easy to understand if we break it down into its component parts.</a:t>
            </a:r>
          </a:p>
        </p:txBody>
      </p:sp>
      <p:sp>
        <p:nvSpPr>
          <p:cNvPr id="4" name="Slide Number Placeholder 3"/>
          <p:cNvSpPr>
            <a:spLocks noGrp="1"/>
          </p:cNvSpPr>
          <p:nvPr>
            <p:ph type="sldNum" sz="quarter" idx="5"/>
          </p:nvPr>
        </p:nvSpPr>
        <p:spPr/>
        <p:txBody>
          <a:bodyPr/>
          <a:lstStyle/>
          <a:p>
            <a:fld id="{300F377A-0F8E-4448-A8E9-7B8C688BDF07}" type="slidenum">
              <a:rPr lang="en-US" smtClean="0"/>
              <a:t>9</a:t>
            </a:fld>
            <a:endParaRPr lang="en-US"/>
          </a:p>
        </p:txBody>
      </p:sp>
    </p:spTree>
    <p:extLst>
      <p:ext uri="{BB962C8B-B14F-4D97-AF65-F5344CB8AC3E}">
        <p14:creationId xmlns:p14="http://schemas.microsoft.com/office/powerpoint/2010/main" val="472576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part on the far left underlined in red is the name I am giving to the data. We can call the data anything we want to. I am calling it </a:t>
            </a:r>
            <a:r>
              <a:rPr lang="en-US" dirty="0" err="1"/>
              <a:t>hd</a:t>
            </a:r>
            <a:r>
              <a:rPr lang="en-US" dirty="0"/>
              <a:t> to remind myself that it is height data.</a:t>
            </a:r>
          </a:p>
        </p:txBody>
      </p:sp>
      <p:sp>
        <p:nvSpPr>
          <p:cNvPr id="4" name="Slide Number Placeholder 3"/>
          <p:cNvSpPr>
            <a:spLocks noGrp="1"/>
          </p:cNvSpPr>
          <p:nvPr>
            <p:ph type="sldNum" sz="quarter" idx="5"/>
          </p:nvPr>
        </p:nvSpPr>
        <p:spPr/>
        <p:txBody>
          <a:bodyPr/>
          <a:lstStyle/>
          <a:p>
            <a:fld id="{300F377A-0F8E-4448-A8E9-7B8C688BDF07}" type="slidenum">
              <a:rPr lang="en-US" smtClean="0"/>
              <a:t>10</a:t>
            </a:fld>
            <a:endParaRPr lang="en-US"/>
          </a:p>
        </p:txBody>
      </p:sp>
    </p:spTree>
    <p:extLst>
      <p:ext uri="{BB962C8B-B14F-4D97-AF65-F5344CB8AC3E}">
        <p14:creationId xmlns:p14="http://schemas.microsoft.com/office/powerpoint/2010/main" val="1651829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the right of the equal sign, we have the command. Here the command is </a:t>
            </a:r>
            <a:r>
              <a:rPr lang="en-US" dirty="0" err="1"/>
              <a:t>read.csv</a:t>
            </a:r>
            <a:r>
              <a:rPr lang="en-US" dirty="0"/>
              <a:t>. </a:t>
            </a:r>
          </a:p>
        </p:txBody>
      </p:sp>
      <p:sp>
        <p:nvSpPr>
          <p:cNvPr id="4" name="Slide Number Placeholder 3"/>
          <p:cNvSpPr>
            <a:spLocks noGrp="1"/>
          </p:cNvSpPr>
          <p:nvPr>
            <p:ph type="sldNum" sz="quarter" idx="5"/>
          </p:nvPr>
        </p:nvSpPr>
        <p:spPr/>
        <p:txBody>
          <a:bodyPr/>
          <a:lstStyle/>
          <a:p>
            <a:fld id="{300F377A-0F8E-4448-A8E9-7B8C688BDF07}" type="slidenum">
              <a:rPr lang="en-US" smtClean="0"/>
              <a:t>11</a:t>
            </a:fld>
            <a:endParaRPr lang="en-US"/>
          </a:p>
        </p:txBody>
      </p:sp>
    </p:spTree>
    <p:extLst>
      <p:ext uri="{BB962C8B-B14F-4D97-AF65-F5344CB8AC3E}">
        <p14:creationId xmlns:p14="http://schemas.microsoft.com/office/powerpoint/2010/main" val="11549248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have the name of the file to be imported. Our data is saved in a file named “</a:t>
            </a:r>
            <a:r>
              <a:rPr lang="en-US" dirty="0" err="1"/>
              <a:t>height_data.csv</a:t>
            </a:r>
            <a:r>
              <a:rPr lang="en-US" dirty="0"/>
              <a:t>.”</a:t>
            </a:r>
          </a:p>
        </p:txBody>
      </p:sp>
      <p:sp>
        <p:nvSpPr>
          <p:cNvPr id="4" name="Slide Number Placeholder 3"/>
          <p:cNvSpPr>
            <a:spLocks noGrp="1"/>
          </p:cNvSpPr>
          <p:nvPr>
            <p:ph type="sldNum" sz="quarter" idx="5"/>
          </p:nvPr>
        </p:nvSpPr>
        <p:spPr/>
        <p:txBody>
          <a:bodyPr/>
          <a:lstStyle/>
          <a:p>
            <a:fld id="{300F377A-0F8E-4448-A8E9-7B8C688BDF07}" type="slidenum">
              <a:rPr lang="en-US" smtClean="0"/>
              <a:t>12</a:t>
            </a:fld>
            <a:endParaRPr lang="en-US"/>
          </a:p>
        </p:txBody>
      </p:sp>
    </p:spTree>
    <p:extLst>
      <p:ext uri="{BB962C8B-B14F-4D97-AF65-F5344CB8AC3E}">
        <p14:creationId xmlns:p14="http://schemas.microsoft.com/office/powerpoint/2010/main" val="2109000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have the statement header = True. This tells R that the first row in the data set contains the name of the data in each column.</a:t>
            </a:r>
          </a:p>
          <a:p>
            <a:endParaRPr lang="en-US" dirty="0"/>
          </a:p>
          <a:p>
            <a:r>
              <a:rPr lang="en-US" dirty="0"/>
              <a:t>Now, pay close attention to syntax of this command, and all other commands in R. If your commas, periods and quotation marks are missing or in the wrong places, your commands will not work!</a:t>
            </a:r>
          </a:p>
          <a:p>
            <a:endParaRPr lang="en-US" dirty="0"/>
          </a:p>
          <a:p>
            <a:r>
              <a:rPr lang="en-US" dirty="0"/>
              <a:t>You can find commands with the correct syntax in the </a:t>
            </a:r>
            <a:r>
              <a:rPr lang="en-US" dirty="0" err="1"/>
              <a:t>DropBox</a:t>
            </a:r>
            <a:r>
              <a:rPr lang="en-US" dirty="0"/>
              <a:t> folders for each practical, and I recommend that you take advantage of these by cutting and pasting whenever you can!</a:t>
            </a:r>
          </a:p>
        </p:txBody>
      </p:sp>
      <p:sp>
        <p:nvSpPr>
          <p:cNvPr id="4" name="Slide Number Placeholder 3"/>
          <p:cNvSpPr>
            <a:spLocks noGrp="1"/>
          </p:cNvSpPr>
          <p:nvPr>
            <p:ph type="sldNum" sz="quarter" idx="5"/>
          </p:nvPr>
        </p:nvSpPr>
        <p:spPr/>
        <p:txBody>
          <a:bodyPr/>
          <a:lstStyle/>
          <a:p>
            <a:fld id="{300F377A-0F8E-4448-A8E9-7B8C688BDF07}" type="slidenum">
              <a:rPr lang="en-US" smtClean="0"/>
              <a:t>13</a:t>
            </a:fld>
            <a:endParaRPr lang="en-US"/>
          </a:p>
        </p:txBody>
      </p:sp>
    </p:spTree>
    <p:extLst>
      <p:ext uri="{BB962C8B-B14F-4D97-AF65-F5344CB8AC3E}">
        <p14:creationId xmlns:p14="http://schemas.microsoft.com/office/powerpoint/2010/main" val="10485069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you can enter the command we just created directly into the R console, in the bottom left panel of the </a:t>
            </a:r>
            <a:r>
              <a:rPr lang="en-US" dirty="0" err="1"/>
              <a:t>RStudio</a:t>
            </a:r>
            <a:r>
              <a:rPr lang="en-US" dirty="0"/>
              <a:t> app. </a:t>
            </a:r>
          </a:p>
        </p:txBody>
      </p:sp>
      <p:sp>
        <p:nvSpPr>
          <p:cNvPr id="4" name="Slide Number Placeholder 3"/>
          <p:cNvSpPr>
            <a:spLocks noGrp="1"/>
          </p:cNvSpPr>
          <p:nvPr>
            <p:ph type="sldNum" sz="quarter" idx="5"/>
          </p:nvPr>
        </p:nvSpPr>
        <p:spPr/>
        <p:txBody>
          <a:bodyPr/>
          <a:lstStyle/>
          <a:p>
            <a:fld id="{300F377A-0F8E-4448-A8E9-7B8C688BDF07}" type="slidenum">
              <a:rPr lang="en-US" smtClean="0"/>
              <a:t>14</a:t>
            </a:fld>
            <a:endParaRPr lang="en-US"/>
          </a:p>
        </p:txBody>
      </p:sp>
    </p:spTree>
    <p:extLst>
      <p:ext uri="{BB962C8B-B14F-4D97-AF65-F5344CB8AC3E}">
        <p14:creationId xmlns:p14="http://schemas.microsoft.com/office/powerpoint/2010/main" val="2194413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I prefer to write my code in the scripting panel in the upper left of the app. The scripting panel contains an R document. If I enter a command here, R will color-code the command, which makes it easier to see the component parts. If I make a mistake writing the command and I need to edit it, I can do that here. And, when I have gotten a command or a set of commands just right, I can save the whole document so I can use the the commands to </a:t>
            </a:r>
            <a:r>
              <a:rPr lang="en-US" dirty="0" err="1"/>
              <a:t>analyse</a:t>
            </a:r>
            <a:r>
              <a:rPr lang="en-US" dirty="0"/>
              <a:t> the same data again later, or I can modify them to </a:t>
            </a:r>
            <a:r>
              <a:rPr lang="en-US" dirty="0" err="1"/>
              <a:t>analyse</a:t>
            </a:r>
            <a:r>
              <a:rPr lang="en-US" dirty="0"/>
              <a:t> new data. </a:t>
            </a:r>
          </a:p>
        </p:txBody>
      </p:sp>
      <p:sp>
        <p:nvSpPr>
          <p:cNvPr id="4" name="Slide Number Placeholder 3"/>
          <p:cNvSpPr>
            <a:spLocks noGrp="1"/>
          </p:cNvSpPr>
          <p:nvPr>
            <p:ph type="sldNum" sz="quarter" idx="5"/>
          </p:nvPr>
        </p:nvSpPr>
        <p:spPr/>
        <p:txBody>
          <a:bodyPr/>
          <a:lstStyle/>
          <a:p>
            <a:fld id="{300F377A-0F8E-4448-A8E9-7B8C688BDF07}" type="slidenum">
              <a:rPr lang="en-US" smtClean="0"/>
              <a:t>15</a:t>
            </a:fld>
            <a:endParaRPr lang="en-US"/>
          </a:p>
        </p:txBody>
      </p:sp>
    </p:spTree>
    <p:extLst>
      <p:ext uri="{BB962C8B-B14F-4D97-AF65-F5344CB8AC3E}">
        <p14:creationId xmlns:p14="http://schemas.microsoft.com/office/powerpoint/2010/main" val="9566020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execute code we have written in the scripting panel, we can simply select it and then click on run in the menu for the panel.</a:t>
            </a:r>
          </a:p>
        </p:txBody>
      </p:sp>
      <p:sp>
        <p:nvSpPr>
          <p:cNvPr id="4" name="Slide Number Placeholder 3"/>
          <p:cNvSpPr>
            <a:spLocks noGrp="1"/>
          </p:cNvSpPr>
          <p:nvPr>
            <p:ph type="sldNum" sz="quarter" idx="5"/>
          </p:nvPr>
        </p:nvSpPr>
        <p:spPr/>
        <p:txBody>
          <a:bodyPr/>
          <a:lstStyle/>
          <a:p>
            <a:fld id="{300F377A-0F8E-4448-A8E9-7B8C688BDF07}" type="slidenum">
              <a:rPr lang="en-US" smtClean="0"/>
              <a:t>16</a:t>
            </a:fld>
            <a:endParaRPr lang="en-US"/>
          </a:p>
        </p:txBody>
      </p:sp>
    </p:spTree>
    <p:extLst>
      <p:ext uri="{BB962C8B-B14F-4D97-AF65-F5344CB8AC3E}">
        <p14:creationId xmlns:p14="http://schemas.microsoft.com/office/powerpoint/2010/main" val="846042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do this, the command will appear in the R console.</a:t>
            </a:r>
          </a:p>
          <a:p>
            <a:endParaRPr lang="en-US" dirty="0"/>
          </a:p>
          <a:p>
            <a:r>
              <a:rPr lang="en-US" dirty="0"/>
              <a:t>We did not get an error message, so that means the command has run successfully. So, we have created an object called hd. But, we cannot see what that object is. If we want to see it, we can simply type the name of the object into the R console and press return.</a:t>
            </a:r>
          </a:p>
        </p:txBody>
      </p:sp>
      <p:sp>
        <p:nvSpPr>
          <p:cNvPr id="4" name="Slide Number Placeholder 3"/>
          <p:cNvSpPr>
            <a:spLocks noGrp="1"/>
          </p:cNvSpPr>
          <p:nvPr>
            <p:ph type="sldNum" sz="quarter" idx="5"/>
          </p:nvPr>
        </p:nvSpPr>
        <p:spPr/>
        <p:txBody>
          <a:bodyPr/>
          <a:lstStyle/>
          <a:p>
            <a:fld id="{300F377A-0F8E-4448-A8E9-7B8C688BDF07}" type="slidenum">
              <a:rPr lang="en-US" smtClean="0"/>
              <a:t>17</a:t>
            </a:fld>
            <a:endParaRPr lang="en-US"/>
          </a:p>
        </p:txBody>
      </p:sp>
    </p:spTree>
    <p:extLst>
      <p:ext uri="{BB962C8B-B14F-4D97-AF65-F5344CB8AC3E}">
        <p14:creationId xmlns:p14="http://schemas.microsoft.com/office/powerpoint/2010/main" val="12116454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output will look like this. This is exactly the same height data we saw in the csv earlier.</a:t>
            </a:r>
          </a:p>
          <a:p>
            <a:endParaRPr lang="en-US" dirty="0"/>
          </a:p>
          <a:p>
            <a:r>
              <a:rPr lang="en-US" dirty="0"/>
              <a:t>Very often, real data sets will be too large to easily display, and that is the case with our height data. There are more rows than we can see at one time. And, we might not really need to see them all anyway. Often, all we really want to know is that the data imported successfully. Or, maybe we want to remind ourselves of the names of the columns in the data set. </a:t>
            </a:r>
          </a:p>
        </p:txBody>
      </p:sp>
      <p:sp>
        <p:nvSpPr>
          <p:cNvPr id="4" name="Slide Number Placeholder 3"/>
          <p:cNvSpPr>
            <a:spLocks noGrp="1"/>
          </p:cNvSpPr>
          <p:nvPr>
            <p:ph type="sldNum" sz="quarter" idx="5"/>
          </p:nvPr>
        </p:nvSpPr>
        <p:spPr/>
        <p:txBody>
          <a:bodyPr/>
          <a:lstStyle/>
          <a:p>
            <a:fld id="{300F377A-0F8E-4448-A8E9-7B8C688BDF07}" type="slidenum">
              <a:rPr lang="en-US" smtClean="0"/>
              <a:t>18</a:t>
            </a:fld>
            <a:endParaRPr lang="en-US"/>
          </a:p>
        </p:txBody>
      </p:sp>
    </p:spTree>
    <p:extLst>
      <p:ext uri="{BB962C8B-B14F-4D97-AF65-F5344CB8AC3E}">
        <p14:creationId xmlns:p14="http://schemas.microsoft.com/office/powerpoint/2010/main" val="41645046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convenient command for doing this is “head.” If I enter head(</a:t>
            </a:r>
            <a:r>
              <a:rPr lang="en-US" dirty="0" err="1"/>
              <a:t>hd</a:t>
            </a:r>
            <a:r>
              <a:rPr lang="en-US" dirty="0"/>
              <a:t>) into the R console, R will display just the first few rows of the object hd.</a:t>
            </a:r>
          </a:p>
        </p:txBody>
      </p:sp>
      <p:sp>
        <p:nvSpPr>
          <p:cNvPr id="4" name="Slide Number Placeholder 3"/>
          <p:cNvSpPr>
            <a:spLocks noGrp="1"/>
          </p:cNvSpPr>
          <p:nvPr>
            <p:ph type="sldNum" sz="quarter" idx="5"/>
          </p:nvPr>
        </p:nvSpPr>
        <p:spPr/>
        <p:txBody>
          <a:bodyPr/>
          <a:lstStyle/>
          <a:p>
            <a:fld id="{300F377A-0F8E-4448-A8E9-7B8C688BDF07}" type="slidenum">
              <a:rPr lang="en-US" smtClean="0"/>
              <a:t>19</a:t>
            </a:fld>
            <a:endParaRPr lang="en-US"/>
          </a:p>
        </p:txBody>
      </p:sp>
    </p:spTree>
    <p:extLst>
      <p:ext uri="{BB962C8B-B14F-4D97-AF65-F5344CB8AC3E}">
        <p14:creationId xmlns:p14="http://schemas.microsoft.com/office/powerpoint/2010/main" val="11425361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move on to implementing a t-test. As before, we can write our code in the scripting panel, but to make the text big enough to read, from now on I will just put the commands directly on the slides.</a:t>
            </a:r>
          </a:p>
          <a:p>
            <a:endParaRPr lang="en-US" dirty="0"/>
          </a:p>
          <a:p>
            <a:r>
              <a:rPr lang="en-US" dirty="0"/>
              <a:t>Now, recall that t-tests are about comparing means. In our Monte Carlo analysis, we asked whether the mean height of men was different from the mean height of women. So, before we even do the test, we might want to know what the mean heights of men and women are. Let’s find out.</a:t>
            </a:r>
          </a:p>
        </p:txBody>
      </p:sp>
      <p:sp>
        <p:nvSpPr>
          <p:cNvPr id="4" name="Slide Number Placeholder 3"/>
          <p:cNvSpPr>
            <a:spLocks noGrp="1"/>
          </p:cNvSpPr>
          <p:nvPr>
            <p:ph type="sldNum" sz="quarter" idx="5"/>
          </p:nvPr>
        </p:nvSpPr>
        <p:spPr/>
        <p:txBody>
          <a:bodyPr/>
          <a:lstStyle/>
          <a:p>
            <a:fld id="{300F377A-0F8E-4448-A8E9-7B8C688BDF07}" type="slidenum">
              <a:rPr lang="en-US" smtClean="0"/>
              <a:t>20</a:t>
            </a:fld>
            <a:endParaRPr lang="en-US"/>
          </a:p>
        </p:txBody>
      </p:sp>
    </p:spTree>
    <p:extLst>
      <p:ext uri="{BB962C8B-B14F-4D97-AF65-F5344CB8AC3E}">
        <p14:creationId xmlns:p14="http://schemas.microsoft.com/office/powerpoint/2010/main" val="5992705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saw earlier that we can see our full data set by entering its name into the R console. If we want to see just people's heights without the rest of the data, then we can instead enter </a:t>
            </a:r>
            <a:r>
              <a:rPr lang="en-US" dirty="0" err="1"/>
              <a:t>hd$height</a:t>
            </a:r>
            <a:r>
              <a:rPr lang="en-US" dirty="0"/>
              <a:t>. This tells R to choose just the column height from the data set hd. So, these are all the heights in the data, in the same order they appear in the data frame hd.</a:t>
            </a:r>
          </a:p>
        </p:txBody>
      </p:sp>
      <p:sp>
        <p:nvSpPr>
          <p:cNvPr id="4" name="Slide Number Placeholder 3"/>
          <p:cNvSpPr>
            <a:spLocks noGrp="1"/>
          </p:cNvSpPr>
          <p:nvPr>
            <p:ph type="sldNum" sz="quarter" idx="5"/>
          </p:nvPr>
        </p:nvSpPr>
        <p:spPr/>
        <p:txBody>
          <a:bodyPr/>
          <a:lstStyle/>
          <a:p>
            <a:fld id="{300F377A-0F8E-4448-A8E9-7B8C688BDF07}" type="slidenum">
              <a:rPr lang="en-US" smtClean="0"/>
              <a:t>21</a:t>
            </a:fld>
            <a:endParaRPr lang="en-US"/>
          </a:p>
        </p:txBody>
      </p:sp>
    </p:spTree>
    <p:extLst>
      <p:ext uri="{BB962C8B-B14F-4D97-AF65-F5344CB8AC3E}">
        <p14:creationId xmlns:p14="http://schemas.microsoft.com/office/powerpoint/2010/main" val="3432870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take this a step further using a command called “which.” In the command you see here, the </a:t>
            </a:r>
            <a:r>
              <a:rPr lang="en-US" dirty="0" err="1"/>
              <a:t>hd$height</a:t>
            </a:r>
            <a:r>
              <a:rPr lang="en-US" dirty="0"/>
              <a:t> part tells R to choose only the column height from the data frame hd. Then, the part in the square brackets tells R to choose only the entries in rows where sex equals “m”. So, R chooses the heights of all people in the data sex who have "m" in the sex column – that is, the heights of all the males.</a:t>
            </a:r>
          </a:p>
          <a:p>
            <a:endParaRPr lang="en-US" dirty="0"/>
          </a:p>
          <a:p>
            <a:r>
              <a:rPr lang="en-US" dirty="0"/>
              <a:t>Pay careful attention to the double equals sign in the which command. This double equals tells R to compare things, in this case the sex data and the letter “m.” If instead we had used a single equals, R would think we were telling it that all sexes in the data are m, and it would change everyone in the data set to a male!</a:t>
            </a:r>
          </a:p>
        </p:txBody>
      </p:sp>
      <p:sp>
        <p:nvSpPr>
          <p:cNvPr id="4" name="Slide Number Placeholder 3"/>
          <p:cNvSpPr>
            <a:spLocks noGrp="1"/>
          </p:cNvSpPr>
          <p:nvPr>
            <p:ph type="sldNum" sz="quarter" idx="5"/>
          </p:nvPr>
        </p:nvSpPr>
        <p:spPr/>
        <p:txBody>
          <a:bodyPr/>
          <a:lstStyle/>
          <a:p>
            <a:fld id="{300F377A-0F8E-4448-A8E9-7B8C688BDF07}" type="slidenum">
              <a:rPr lang="en-US" smtClean="0"/>
              <a:t>22</a:t>
            </a:fld>
            <a:endParaRPr lang="en-US"/>
          </a:p>
        </p:txBody>
      </p:sp>
    </p:spTree>
    <p:extLst>
      <p:ext uri="{BB962C8B-B14F-4D97-AF65-F5344CB8AC3E}">
        <p14:creationId xmlns:p14="http://schemas.microsoft.com/office/powerpoint/2010/main" val="19728312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instead of displaying the male heights, we want to store them so we can use them later, we can just give them a name. Here, I have called them “</a:t>
            </a:r>
            <a:r>
              <a:rPr lang="en-US" dirty="0" err="1"/>
              <a:t>male_height</a:t>
            </a:r>
            <a:r>
              <a:rPr lang="en-US" dirty="0"/>
              <a:t>,” because it is easy to remember.</a:t>
            </a:r>
          </a:p>
        </p:txBody>
      </p:sp>
      <p:sp>
        <p:nvSpPr>
          <p:cNvPr id="4" name="Slide Number Placeholder 3"/>
          <p:cNvSpPr>
            <a:spLocks noGrp="1"/>
          </p:cNvSpPr>
          <p:nvPr>
            <p:ph type="sldNum" sz="quarter" idx="5"/>
          </p:nvPr>
        </p:nvSpPr>
        <p:spPr/>
        <p:txBody>
          <a:bodyPr/>
          <a:lstStyle/>
          <a:p>
            <a:fld id="{300F377A-0F8E-4448-A8E9-7B8C688BDF07}" type="slidenum">
              <a:rPr lang="en-US" smtClean="0"/>
              <a:t>23</a:t>
            </a:fld>
            <a:endParaRPr lang="en-US"/>
          </a:p>
        </p:txBody>
      </p:sp>
    </p:spTree>
    <p:extLst>
      <p:ext uri="{BB962C8B-B14F-4D97-AF65-F5344CB8AC3E}">
        <p14:creationId xmlns:p14="http://schemas.microsoft.com/office/powerpoint/2010/main" val="23818113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 can calculate the mean height of men in the data set using the command “mean.”</a:t>
            </a:r>
          </a:p>
          <a:p>
            <a:endParaRPr lang="en-US" dirty="0"/>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24</a:t>
            </a:fld>
            <a:endParaRPr lang="en-US"/>
          </a:p>
        </p:txBody>
      </p:sp>
    </p:spTree>
    <p:extLst>
      <p:ext uri="{BB962C8B-B14F-4D97-AF65-F5344CB8AC3E}">
        <p14:creationId xmlns:p14="http://schemas.microsoft.com/office/powerpoint/2010/main" val="31258154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 can do exactly the same thing for female height. So, we can see that men in our data set were about 10 cm taller than women. To find out if that difference is larger than we would expect to see by chance, we can do a t-test.</a:t>
            </a:r>
          </a:p>
          <a:p>
            <a:endParaRPr lang="en-US" dirty="0"/>
          </a:p>
          <a:p>
            <a:r>
              <a:rPr lang="en-US" dirty="0"/>
              <a:t>I will show the t-test next, but before I do that, I want to pause for a second. If you have been trying to memorize these commands as we go along, you are probably thinking that this is really painful. But, remember, you do not have to </a:t>
            </a:r>
            <a:r>
              <a:rPr lang="en-US" dirty="0" err="1"/>
              <a:t>memorise</a:t>
            </a:r>
            <a:r>
              <a:rPr lang="en-US" dirty="0"/>
              <a:t> this. All of the code is in the handbook and in the Dropbox folder, and I will never ask you to do any of this without consulting those. My goal here is just to show you how these commands work. When you actually use them, you can look them up. There is no reason to learn by memorization. You will learn what you need by using these commands when you </a:t>
            </a:r>
            <a:r>
              <a:rPr lang="en-US" dirty="0" err="1"/>
              <a:t>analyse</a:t>
            </a:r>
            <a:r>
              <a:rPr lang="en-US" dirty="0"/>
              <a:t> data!</a:t>
            </a:r>
          </a:p>
          <a:p>
            <a:endParaRPr lang="en-US" dirty="0"/>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25</a:t>
            </a:fld>
            <a:endParaRPr lang="en-US"/>
          </a:p>
        </p:txBody>
      </p:sp>
    </p:spTree>
    <p:extLst>
      <p:ext uri="{BB962C8B-B14F-4D97-AF65-F5344CB8AC3E}">
        <p14:creationId xmlns:p14="http://schemas.microsoft.com/office/powerpoint/2010/main" val="22787919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let’s move on to asking whether the observed difference between male and female heights is large enough that it is unlikely to be due to chance. That is, let’s do the t-test.</a:t>
            </a:r>
          </a:p>
          <a:p>
            <a:endParaRPr lang="en-US" dirty="0"/>
          </a:p>
          <a:p>
            <a:r>
              <a:rPr lang="en-US" dirty="0"/>
              <a:t>This is the command we will use. It has three parts.</a:t>
            </a:r>
          </a:p>
          <a:p>
            <a:endParaRPr lang="en-US" dirty="0"/>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26</a:t>
            </a:fld>
            <a:endParaRPr lang="en-US"/>
          </a:p>
        </p:txBody>
      </p:sp>
    </p:spTree>
    <p:extLst>
      <p:ext uri="{BB962C8B-B14F-4D97-AF65-F5344CB8AC3E}">
        <p14:creationId xmlns:p14="http://schemas.microsoft.com/office/powerpoint/2010/main" val="17080411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part is the command itself, </a:t>
            </a:r>
            <a:r>
              <a:rPr lang="en-US" dirty="0" err="1"/>
              <a:t>t.test</a:t>
            </a:r>
            <a:r>
              <a:rPr lang="en-US" dirty="0"/>
              <a:t>.</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27</a:t>
            </a:fld>
            <a:endParaRPr lang="en-US"/>
          </a:p>
        </p:txBody>
      </p:sp>
    </p:spTree>
    <p:extLst>
      <p:ext uri="{BB962C8B-B14F-4D97-AF65-F5344CB8AC3E}">
        <p14:creationId xmlns:p14="http://schemas.microsoft.com/office/powerpoint/2010/main" val="28720194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two parts are the arguments. These are the two sets of values that we want to compare. In this case, our test will compare the heights of men to the heights of women.</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28</a:t>
            </a:fld>
            <a:endParaRPr lang="en-US"/>
          </a:p>
        </p:txBody>
      </p:sp>
    </p:spTree>
    <p:extLst>
      <p:ext uri="{BB962C8B-B14F-4D97-AF65-F5344CB8AC3E}">
        <p14:creationId xmlns:p14="http://schemas.microsoft.com/office/powerpoint/2010/main" val="2944153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execute the command, this is the result. There are several important pieces of information here. </a:t>
            </a:r>
          </a:p>
        </p:txBody>
      </p:sp>
      <p:sp>
        <p:nvSpPr>
          <p:cNvPr id="4" name="Slide Number Placeholder 3"/>
          <p:cNvSpPr>
            <a:spLocks noGrp="1"/>
          </p:cNvSpPr>
          <p:nvPr>
            <p:ph type="sldNum" sz="quarter" idx="5"/>
          </p:nvPr>
        </p:nvSpPr>
        <p:spPr/>
        <p:txBody>
          <a:bodyPr/>
          <a:lstStyle/>
          <a:p>
            <a:fld id="{300F377A-0F8E-4448-A8E9-7B8C688BDF07}" type="slidenum">
              <a:rPr lang="en-US" smtClean="0"/>
              <a:t>29</a:t>
            </a:fld>
            <a:endParaRPr lang="en-US"/>
          </a:p>
        </p:txBody>
      </p:sp>
    </p:spTree>
    <p:extLst>
      <p:ext uri="{BB962C8B-B14F-4D97-AF65-F5344CB8AC3E}">
        <p14:creationId xmlns:p14="http://schemas.microsoft.com/office/powerpoint/2010/main" val="22388142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these are the means of the two groups we </a:t>
            </a:r>
            <a:r>
              <a:rPr lang="en-US" dirty="0" err="1"/>
              <a:t>analysed</a:t>
            </a:r>
            <a:r>
              <a:rPr lang="en-US" dirty="0"/>
              <a:t>. They appear in the same order that we put them in the </a:t>
            </a:r>
            <a:r>
              <a:rPr lang="en-US" dirty="0" err="1"/>
              <a:t>t.test</a:t>
            </a:r>
            <a:r>
              <a:rPr lang="en-US" dirty="0"/>
              <a:t> function. So, the first number is the average height of men, and the second number is the average height of women in our data. The difference is about 0.1 meters. That should make sense, because that is what we found before.</a:t>
            </a:r>
          </a:p>
        </p:txBody>
      </p:sp>
      <p:sp>
        <p:nvSpPr>
          <p:cNvPr id="4" name="Slide Number Placeholder 3"/>
          <p:cNvSpPr>
            <a:spLocks noGrp="1"/>
          </p:cNvSpPr>
          <p:nvPr>
            <p:ph type="sldNum" sz="quarter" idx="5"/>
          </p:nvPr>
        </p:nvSpPr>
        <p:spPr/>
        <p:txBody>
          <a:bodyPr/>
          <a:lstStyle/>
          <a:p>
            <a:fld id="{300F377A-0F8E-4448-A8E9-7B8C688BDF07}" type="slidenum">
              <a:rPr lang="en-US" smtClean="0"/>
              <a:t>30</a:t>
            </a:fld>
            <a:endParaRPr lang="en-US"/>
          </a:p>
        </p:txBody>
      </p:sp>
    </p:spTree>
    <p:extLst>
      <p:ext uri="{BB962C8B-B14F-4D97-AF65-F5344CB8AC3E}">
        <p14:creationId xmlns:p14="http://schemas.microsoft.com/office/powerpoint/2010/main" val="3965879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important piece of information is the p-value. It is not exactly what we calculated with our simulations, but it is pretty close. It is much smaller than 0.05, so we have evidence that men and women have different heights in the population we are studying.</a:t>
            </a:r>
          </a:p>
        </p:txBody>
      </p:sp>
      <p:sp>
        <p:nvSpPr>
          <p:cNvPr id="4" name="Slide Number Placeholder 3"/>
          <p:cNvSpPr>
            <a:spLocks noGrp="1"/>
          </p:cNvSpPr>
          <p:nvPr>
            <p:ph type="sldNum" sz="quarter" idx="5"/>
          </p:nvPr>
        </p:nvSpPr>
        <p:spPr/>
        <p:txBody>
          <a:bodyPr/>
          <a:lstStyle/>
          <a:p>
            <a:fld id="{300F377A-0F8E-4448-A8E9-7B8C688BDF07}" type="slidenum">
              <a:rPr lang="en-US" smtClean="0"/>
              <a:t>31</a:t>
            </a:fld>
            <a:endParaRPr lang="en-US"/>
          </a:p>
        </p:txBody>
      </p:sp>
    </p:spTree>
    <p:extLst>
      <p:ext uri="{BB962C8B-B14F-4D97-AF65-F5344CB8AC3E}">
        <p14:creationId xmlns:p14="http://schemas.microsoft.com/office/powerpoint/2010/main" val="32105998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have the t-statistic and degrees of freedom. Back before we had computers, we calculated these numbers by hand, and used them to find p-values in tables. We do not really need them any more, but some readers expect to see them, so it is usually a good idea to report them.</a:t>
            </a:r>
          </a:p>
        </p:txBody>
      </p:sp>
      <p:sp>
        <p:nvSpPr>
          <p:cNvPr id="4" name="Slide Number Placeholder 3"/>
          <p:cNvSpPr>
            <a:spLocks noGrp="1"/>
          </p:cNvSpPr>
          <p:nvPr>
            <p:ph type="sldNum" sz="quarter" idx="5"/>
          </p:nvPr>
        </p:nvSpPr>
        <p:spPr/>
        <p:txBody>
          <a:bodyPr/>
          <a:lstStyle/>
          <a:p>
            <a:fld id="{300F377A-0F8E-4448-A8E9-7B8C688BDF07}" type="slidenum">
              <a:rPr lang="en-US" smtClean="0"/>
              <a:t>32</a:t>
            </a:fld>
            <a:endParaRPr lang="en-US"/>
          </a:p>
        </p:txBody>
      </p:sp>
    </p:spTree>
    <p:extLst>
      <p:ext uri="{BB962C8B-B14F-4D97-AF65-F5344CB8AC3E}">
        <p14:creationId xmlns:p14="http://schemas.microsoft.com/office/powerpoint/2010/main" val="32940590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should we report our results? It is usually a good idea to report a result with a figure, and the most intuitive figure for comparing the means of two groups is bar chart. There is code in the handbook for how to create bar charts, so I will not walk you through it here. But, there are a few important things to notice. First, the axes are labelled. On the x-axis we have the names of the groups, and on the y-axis we have the value that is being reported, with its units. The text is large enough to read. Second, there are error bars. These help readers get an intuitive sense for how different the groups really are. Finally, there is a figure legend. So, if a reader goes through your paper and does nothing but look at the pictures, as many readers do, they will be able to figure out what your figures mean.</a:t>
            </a:r>
          </a:p>
          <a:p>
            <a:endParaRPr lang="en-US" dirty="0"/>
          </a:p>
          <a:p>
            <a:r>
              <a:rPr lang="en-US" dirty="0"/>
              <a:t>Finally, even if we report the results in a figure, we still have to report them in the text. The goal here is to be concise, but to give the reader all of the information they need to understand your result. Here, men were taller than women. By how much? 0.1 meters. How do we know? We did a t-test. How sure are we? The p-value was 0.0077. All of this information can be conveyed in a single short sentence.</a:t>
            </a:r>
          </a:p>
        </p:txBody>
      </p:sp>
      <p:sp>
        <p:nvSpPr>
          <p:cNvPr id="4" name="Slide Number Placeholder 3"/>
          <p:cNvSpPr>
            <a:spLocks noGrp="1"/>
          </p:cNvSpPr>
          <p:nvPr>
            <p:ph type="sldNum" sz="quarter" idx="5"/>
          </p:nvPr>
        </p:nvSpPr>
        <p:spPr/>
        <p:txBody>
          <a:bodyPr/>
          <a:lstStyle/>
          <a:p>
            <a:fld id="{300F377A-0F8E-4448-A8E9-7B8C688BDF07}" type="slidenum">
              <a:rPr lang="en-US" smtClean="0"/>
              <a:t>33</a:t>
            </a:fld>
            <a:endParaRPr lang="en-US"/>
          </a:p>
        </p:txBody>
      </p:sp>
    </p:spTree>
    <p:extLst>
      <p:ext uri="{BB962C8B-B14F-4D97-AF65-F5344CB8AC3E}">
        <p14:creationId xmlns:p14="http://schemas.microsoft.com/office/powerpoint/2010/main" val="31330481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Okay, there is one more idea I want to cover today.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 reason that t-tests work is that the t-distribution is similar to the distribution that we would get using the Monte Carlo method that we described earlier.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When I introduced the t-test, I said that the t-distribution is similar to Monte Carlo results under certain conditions, but I did not describe what those conditions are. One of them is that the data within each group should be roughly normally distributed. That means it should follow a bell curve.</a:t>
            </a:r>
          </a:p>
        </p:txBody>
      </p:sp>
      <p:sp>
        <p:nvSpPr>
          <p:cNvPr id="4" name="Slide Number Placeholder 3"/>
          <p:cNvSpPr>
            <a:spLocks noGrp="1"/>
          </p:cNvSpPr>
          <p:nvPr>
            <p:ph type="sldNum" sz="quarter" idx="10"/>
          </p:nvPr>
        </p:nvSpPr>
        <p:spPr/>
        <p:txBody>
          <a:bodyPr/>
          <a:lstStyle/>
          <a:p>
            <a:fld id="{300F377A-0F8E-4448-A8E9-7B8C688BDF07}" type="slidenum">
              <a:rPr lang="en-US" smtClean="0"/>
              <a:t>34</a:t>
            </a:fld>
            <a:endParaRPr lang="en-US"/>
          </a:p>
        </p:txBody>
      </p:sp>
    </p:spTree>
    <p:extLst>
      <p:ext uri="{BB962C8B-B14F-4D97-AF65-F5344CB8AC3E}">
        <p14:creationId xmlns:p14="http://schemas.microsoft.com/office/powerpoint/2010/main" val="2263899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height data, that is usually true. These are histograms for the male and female heights in our data set, and they seem to be at least roughly bell-shaped. There is a peak in the middle, and the distributions taper off at the edges.</a:t>
            </a:r>
          </a:p>
        </p:txBody>
      </p:sp>
      <p:sp>
        <p:nvSpPr>
          <p:cNvPr id="4" name="Slide Number Placeholder 3"/>
          <p:cNvSpPr>
            <a:spLocks noGrp="1"/>
          </p:cNvSpPr>
          <p:nvPr>
            <p:ph type="sldNum" sz="quarter" idx="5"/>
          </p:nvPr>
        </p:nvSpPr>
        <p:spPr/>
        <p:txBody>
          <a:bodyPr/>
          <a:lstStyle/>
          <a:p>
            <a:fld id="{300F377A-0F8E-4448-A8E9-7B8C688BDF07}" type="slidenum">
              <a:rPr lang="en-US" smtClean="0"/>
              <a:t>35</a:t>
            </a:fld>
            <a:endParaRPr lang="en-US"/>
          </a:p>
        </p:txBody>
      </p:sp>
    </p:spTree>
    <p:extLst>
      <p:ext uri="{BB962C8B-B14F-4D97-AF65-F5344CB8AC3E}">
        <p14:creationId xmlns:p14="http://schemas.microsoft.com/office/powerpoint/2010/main" val="34386304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But, not all data follows a normal distribution. You may remember that the first column of our data set was the order in which people responded to a poll about their height. So, the person with a 1 in the response column responded first, the person with a 2 responded second, and so on.</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36</a:t>
            </a:fld>
            <a:endParaRPr lang="en-US"/>
          </a:p>
        </p:txBody>
      </p:sp>
    </p:spTree>
    <p:extLst>
      <p:ext uri="{BB962C8B-B14F-4D97-AF65-F5344CB8AC3E}">
        <p14:creationId xmlns:p14="http://schemas.microsoft.com/office/powerpoint/2010/main" val="11292578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have plotted histograms of the response order for men and for women. You can see immediately that these are not normally distributed. There is no bell curve here. But, there may be a pattern. It looks to me like maybe there are more women clustered at the beginning of the response order, and more men clustered at the end. </a:t>
            </a:r>
          </a:p>
          <a:p>
            <a:endParaRPr lang="en-US" dirty="0"/>
          </a:p>
          <a:p>
            <a:r>
              <a:rPr lang="en-US" dirty="0"/>
              <a:t>So, let’s imagine that we entered this study with the a priori hypothesis that women respond to polls faster than men. How could we test this? We cannot use a t-test, because the data within groups are not normally distributed. But, we can use a test called a Wilcoxon. The Wilcoxon test relies on the idea that any data, normally distributed or otherwise, can be put in rank order. Then, we can ask, is the mean rank of one group different from the mean rank of the other. The mechanics of the test are explained in the handbook. In lecture, I will focus on how to implement it.</a:t>
            </a:r>
          </a:p>
        </p:txBody>
      </p:sp>
      <p:sp>
        <p:nvSpPr>
          <p:cNvPr id="4" name="Slide Number Placeholder 3"/>
          <p:cNvSpPr>
            <a:spLocks noGrp="1"/>
          </p:cNvSpPr>
          <p:nvPr>
            <p:ph type="sldNum" sz="quarter" idx="5"/>
          </p:nvPr>
        </p:nvSpPr>
        <p:spPr/>
        <p:txBody>
          <a:bodyPr/>
          <a:lstStyle/>
          <a:p>
            <a:fld id="{300F377A-0F8E-4448-A8E9-7B8C688BDF07}" type="slidenum">
              <a:rPr lang="en-US" smtClean="0"/>
              <a:t>37</a:t>
            </a:fld>
            <a:endParaRPr lang="en-US"/>
          </a:p>
        </p:txBody>
      </p:sp>
    </p:spTree>
    <p:extLst>
      <p:ext uri="{BB962C8B-B14F-4D97-AF65-F5344CB8AC3E}">
        <p14:creationId xmlns:p14="http://schemas.microsoft.com/office/powerpoint/2010/main" val="11254504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Implementing a Wilcoxon test is exactly analogous to implementing the t-test. I have created lists of the female and male response orders in the same way that I created lists of heights earlier in the lecture. I have called these </a:t>
            </a:r>
            <a:r>
              <a:rPr lang="en-US" dirty="0" err="1"/>
              <a:t>fro</a:t>
            </a:r>
            <a:r>
              <a:rPr lang="en-US" dirty="0"/>
              <a:t> and </a:t>
            </a:r>
            <a:r>
              <a:rPr lang="en-US" dirty="0" err="1"/>
              <a:t>mro</a:t>
            </a:r>
            <a:r>
              <a:rPr lang="en-US" dirty="0"/>
              <a:t>, for female response order and male response order. The command to conduct the test is </a:t>
            </a:r>
            <a:r>
              <a:rPr lang="en-US" dirty="0" err="1"/>
              <a:t>wilcox.test</a:t>
            </a:r>
            <a:r>
              <a:rPr lang="en-US" dirty="0"/>
              <a:t>.</a:t>
            </a:r>
          </a:p>
          <a:p>
            <a:endParaRPr lang="en-US" dirty="0"/>
          </a:p>
          <a:p>
            <a:r>
              <a:rPr lang="en-US" dirty="0"/>
              <a:t>However, there is an important difference between this test and our t-test. Here, our question is not, ”Do women and men respond at different times?” We hypothesized that women might respond to the survey</a:t>
            </a:r>
            <a:r>
              <a:rPr lang="en-US" i="1" dirty="0"/>
              <a:t> faster </a:t>
            </a:r>
            <a:r>
              <a:rPr lang="en-US" dirty="0"/>
              <a:t>than men. So, we want to know specifically, is women’s response order lower than men’s response order, because lower orders indicate earlier responses. </a:t>
            </a:r>
          </a:p>
          <a:p>
            <a:endParaRPr lang="en-US" dirty="0"/>
          </a:p>
          <a:p>
            <a:r>
              <a:rPr lang="en-US" dirty="0"/>
              <a:t>We entered the data for women into the Wilcoxon test before the data for men. So, the text 'alternative = “less"' tells R to do a one-tailed test asking if women had lower response orders than men. </a:t>
            </a:r>
          </a:p>
          <a:p>
            <a:endParaRPr lang="en-US" dirty="0"/>
          </a:p>
          <a:p>
            <a:r>
              <a:rPr lang="en-US" dirty="0"/>
              <a:t>In the output, we can see that the p-value is greater than 0.05. So we have no evidence that women responded to the poll faster than men.</a:t>
            </a:r>
          </a:p>
        </p:txBody>
      </p:sp>
      <p:sp>
        <p:nvSpPr>
          <p:cNvPr id="4" name="Slide Number Placeholder 3"/>
          <p:cNvSpPr>
            <a:spLocks noGrp="1"/>
          </p:cNvSpPr>
          <p:nvPr>
            <p:ph type="sldNum" sz="quarter" idx="5"/>
          </p:nvPr>
        </p:nvSpPr>
        <p:spPr/>
        <p:txBody>
          <a:bodyPr/>
          <a:lstStyle/>
          <a:p>
            <a:fld id="{300F377A-0F8E-4448-A8E9-7B8C688BDF07}" type="slidenum">
              <a:rPr lang="en-US" smtClean="0"/>
              <a:t>38</a:t>
            </a:fld>
            <a:endParaRPr lang="en-US"/>
          </a:p>
        </p:txBody>
      </p:sp>
    </p:spTree>
    <p:extLst>
      <p:ext uri="{BB962C8B-B14F-4D97-AF65-F5344CB8AC3E}">
        <p14:creationId xmlns:p14="http://schemas.microsoft.com/office/powerpoint/2010/main" val="11211064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we still need to report the result. For negative results, people often omit figures. But, in the text, we need to tell readers that there was no evidence for a difference, what test we used measure the evidence, and what p-value we found. Again, we want to do this as concisely as possible. I have done it in a single short sentence.</a:t>
            </a:r>
          </a:p>
          <a:p>
            <a:endParaRPr lang="en-US" dirty="0"/>
          </a:p>
          <a:p>
            <a:r>
              <a:rPr lang="en-US" dirty="0"/>
              <a:t>Notice that I have not said anything about means! </a:t>
            </a:r>
            <a:r>
              <a:rPr lang="en-US" dirty="0" err="1"/>
              <a:t>Wilcoxons</a:t>
            </a:r>
            <a:r>
              <a:rPr lang="en-US" dirty="0"/>
              <a:t> study mean ranks rather than means. There is more information on this in the handbook.</a:t>
            </a:r>
          </a:p>
        </p:txBody>
      </p:sp>
      <p:sp>
        <p:nvSpPr>
          <p:cNvPr id="4" name="Slide Number Placeholder 3"/>
          <p:cNvSpPr>
            <a:spLocks noGrp="1"/>
          </p:cNvSpPr>
          <p:nvPr>
            <p:ph type="sldNum" sz="quarter" idx="5"/>
          </p:nvPr>
        </p:nvSpPr>
        <p:spPr/>
        <p:txBody>
          <a:bodyPr/>
          <a:lstStyle/>
          <a:p>
            <a:fld id="{300F377A-0F8E-4448-A8E9-7B8C688BDF07}" type="slidenum">
              <a:rPr lang="en-US" smtClean="0"/>
              <a:t>39</a:t>
            </a:fld>
            <a:endParaRPr lang="en-US"/>
          </a:p>
        </p:txBody>
      </p:sp>
    </p:spTree>
    <p:extLst>
      <p:ext uri="{BB962C8B-B14F-4D97-AF65-F5344CB8AC3E}">
        <p14:creationId xmlns:p14="http://schemas.microsoft.com/office/powerpoint/2010/main" val="26752736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which test should we use?</a:t>
            </a:r>
          </a:p>
          <a:p>
            <a:endParaRPr lang="en-US" dirty="0"/>
          </a:p>
          <a:p>
            <a:r>
              <a:rPr lang="en-US"/>
              <a:t>Well</a:t>
            </a:r>
            <a:r>
              <a:rPr lang="en-US" dirty="0"/>
              <a:t>, if we are interested in the mean rank, the Wilcoxon is always the right test to use. It asks about mean rank, and we can use it for any kind of data.</a:t>
            </a:r>
          </a:p>
          <a:p>
            <a:endParaRPr lang="en-US" dirty="0"/>
          </a:p>
          <a:p>
            <a:r>
              <a:rPr lang="en-US" dirty="0"/>
              <a:t>If we are interested in the mean value and the data is normally distributed within groups, we can use the t-test, because its assumptions are met.</a:t>
            </a:r>
          </a:p>
          <a:p>
            <a:endParaRPr lang="en-US" dirty="0"/>
          </a:p>
          <a:p>
            <a:r>
              <a:rPr lang="en-US" dirty="0"/>
              <a:t>If the data is not normally distributed and either mean rank </a:t>
            </a:r>
            <a:r>
              <a:rPr lang="en-US" i="1" dirty="0"/>
              <a:t>or </a:t>
            </a:r>
            <a:r>
              <a:rPr lang="en-US" dirty="0"/>
              <a:t>mean value will do, we can use a Wilcoxon. This is sometimes the case if all we care about is whether the groups are different, but we do not really care</a:t>
            </a:r>
            <a:r>
              <a:rPr lang="en-US" i="1" dirty="0"/>
              <a:t> how </a:t>
            </a:r>
            <a:r>
              <a:rPr lang="en-US" dirty="0"/>
              <a:t>they are different.</a:t>
            </a:r>
          </a:p>
          <a:p>
            <a:endParaRPr lang="en-US" dirty="0"/>
          </a:p>
          <a:p>
            <a:r>
              <a:rPr lang="en-US" dirty="0"/>
              <a:t>But, if we really need the mean value, and the data is really not normally distributed, we may need to fall back on the Monte Carlo approach. And, in that case, you may have to code it yourself.</a:t>
            </a:r>
          </a:p>
          <a:p>
            <a:endParaRPr lang="en-US" dirty="0"/>
          </a:p>
          <a:p>
            <a:r>
              <a:rPr lang="en-US" dirty="0"/>
              <a:t>**************</a:t>
            </a:r>
          </a:p>
          <a:p>
            <a:endParaRPr lang="en-US" dirty="0"/>
          </a:p>
          <a:p>
            <a:r>
              <a:rPr lang="en-US" dirty="0"/>
              <a:t>Okay, so that is all I have to say for today. You will find the practical that goes with this lecture on Blackboard. If you have questions, please post them to the discussion board, or we can talk about them in the live practical session. </a:t>
            </a:r>
            <a:r>
              <a:rPr lang="en-US" dirty="0" err="1"/>
              <a:t>Ganbare</a:t>
            </a:r>
            <a:r>
              <a:rPr lang="en-US" dirty="0"/>
              <a:t>! Thanks again for tuning in, and I look forward to your questions!</a:t>
            </a:r>
          </a:p>
        </p:txBody>
      </p:sp>
      <p:sp>
        <p:nvSpPr>
          <p:cNvPr id="4" name="Slide Number Placeholder 3"/>
          <p:cNvSpPr>
            <a:spLocks noGrp="1"/>
          </p:cNvSpPr>
          <p:nvPr>
            <p:ph type="sldNum" sz="quarter" idx="10"/>
          </p:nvPr>
        </p:nvSpPr>
        <p:spPr/>
        <p:txBody>
          <a:bodyPr/>
          <a:lstStyle/>
          <a:p>
            <a:fld id="{300F377A-0F8E-4448-A8E9-7B8C688BDF07}" type="slidenum">
              <a:rPr lang="en-US" smtClean="0"/>
              <a:t>40</a:t>
            </a:fld>
            <a:endParaRPr lang="en-US"/>
          </a:p>
        </p:txBody>
      </p:sp>
    </p:spTree>
    <p:extLst>
      <p:ext uri="{BB962C8B-B14F-4D97-AF65-F5344CB8AC3E}">
        <p14:creationId xmlns:p14="http://schemas.microsoft.com/office/powerpoint/2010/main" val="2224413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3/14/22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6878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3/14/22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766257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F8AD218-87EB-5E4D-91CD-6D56701ABAAC}" type="datetimeFigureOut">
              <a:rPr lang="en-US" smtClean="0"/>
              <a:t>3/14/22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90908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F8AD218-87EB-5E4D-91CD-6D56701ABAAC}" type="datetimeFigureOut">
              <a:rPr lang="en-US" smtClean="0"/>
              <a:t>3/14/22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56789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F8AD218-87EB-5E4D-91CD-6D56701ABAAC}" type="datetimeFigureOut">
              <a:rPr lang="en-US" smtClean="0"/>
              <a:t>3/14/22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2701418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F8AD218-87EB-5E4D-91CD-6D56701ABAAC}" type="datetimeFigureOut">
              <a:rPr lang="en-US" smtClean="0"/>
              <a:t>3/14/22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77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8AD218-87EB-5E4D-91CD-6D56701ABAAC}" type="datetimeFigureOut">
              <a:rPr lang="en-US" smtClean="0"/>
              <a:t>3/14/22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165224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3/14/22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82648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3/14/22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139475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3/14/22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08833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3/14/22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47942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AD218-87EB-5E4D-91CD-6D56701ABAAC}" type="datetimeFigureOut">
              <a:rPr lang="en-US" smtClean="0"/>
              <a:t>3/14/22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4105CD-B2C5-B243-B80D-E64D403F28A6}" type="slidenum">
              <a:rPr lang="en-US" smtClean="0"/>
              <a:t>‹#›</a:t>
            </a:fld>
            <a:endParaRPr lang="en-US"/>
          </a:p>
        </p:txBody>
      </p:sp>
    </p:spTree>
    <p:extLst>
      <p:ext uri="{BB962C8B-B14F-4D97-AF65-F5344CB8AC3E}">
        <p14:creationId xmlns:p14="http://schemas.microsoft.com/office/powerpoint/2010/main" val="3856066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1.png"/><Relationship Id="rId5" Type="http://schemas.openxmlformats.org/officeDocument/2006/relationships/hyperlink" Target="mailto:tucker.gilman@manchester.ac.uk" TargetMode="Externa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2.png"/><Relationship Id="rId5" Type="http://schemas.openxmlformats.org/officeDocument/2006/relationships/image" Target="../media/image5.tiff"/><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5"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5"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4a"/><Relationship Id="rId1" Type="http://schemas.microsoft.com/office/2007/relationships/media" Target="../media/media16.m4a"/><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m4a"/><Relationship Id="rId1" Type="http://schemas.microsoft.com/office/2007/relationships/media" Target="../media/media17.m4a"/><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m4a"/><Relationship Id="rId1" Type="http://schemas.microsoft.com/office/2007/relationships/media" Target="../media/media18.m4a"/><Relationship Id="rId5"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9.m4a"/><Relationship Id="rId1" Type="http://schemas.microsoft.com/office/2007/relationships/media" Target="../media/media19.m4a"/><Relationship Id="rId5"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0.m4a"/><Relationship Id="rId1" Type="http://schemas.microsoft.com/office/2007/relationships/media" Target="../media/media20.m4a"/><Relationship Id="rId5"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1.m4a"/><Relationship Id="rId1" Type="http://schemas.microsoft.com/office/2007/relationships/media" Target="../media/media21.m4a"/><Relationship Id="rId5"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2.m4a"/><Relationship Id="rId1" Type="http://schemas.microsoft.com/office/2007/relationships/media" Target="../media/media22.m4a"/><Relationship Id="rId5"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3.m4a"/><Relationship Id="rId1" Type="http://schemas.microsoft.com/office/2007/relationships/media" Target="../media/media23.m4a"/><Relationship Id="rId5"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4.m4a"/><Relationship Id="rId1" Type="http://schemas.microsoft.com/office/2007/relationships/media" Target="../media/media24.m4a"/><Relationship Id="rId5"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5.m4a"/><Relationship Id="rId1" Type="http://schemas.microsoft.com/office/2007/relationships/media" Target="../media/media25.m4a"/><Relationship Id="rId5"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6.m4a"/><Relationship Id="rId1" Type="http://schemas.microsoft.com/office/2007/relationships/media" Target="../media/media26.m4a"/><Relationship Id="rId5"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7.m4a"/><Relationship Id="rId1" Type="http://schemas.microsoft.com/office/2007/relationships/media" Target="../media/media27.m4a"/><Relationship Id="rId5"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8.m4a"/><Relationship Id="rId1" Type="http://schemas.microsoft.com/office/2007/relationships/media" Target="../media/media28.m4a"/><Relationship Id="rId5"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9.m4a"/><Relationship Id="rId1" Type="http://schemas.microsoft.com/office/2007/relationships/media" Target="../media/media29.m4a"/><Relationship Id="rId5"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0.m4a"/><Relationship Id="rId1" Type="http://schemas.microsoft.com/office/2007/relationships/media" Target="../media/media30.m4a"/><Relationship Id="rId5"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1.m4a"/><Relationship Id="rId1" Type="http://schemas.microsoft.com/office/2007/relationships/media" Target="../media/media31.m4a"/><Relationship Id="rId5" Type="http://schemas.openxmlformats.org/officeDocument/2006/relationships/image" Target="../media/image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2.m4a"/><Relationship Id="rId1" Type="http://schemas.microsoft.com/office/2007/relationships/media" Target="../media/media32.m4a"/><Relationship Id="rId5" Type="http://schemas.openxmlformats.org/officeDocument/2006/relationships/image" Target="../media/image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3.m4a"/><Relationship Id="rId1" Type="http://schemas.microsoft.com/office/2007/relationships/media" Target="../media/media33.m4a"/><Relationship Id="rId6" Type="http://schemas.openxmlformats.org/officeDocument/2006/relationships/image" Target="../media/image2.png"/><Relationship Id="rId5" Type="http://schemas.openxmlformats.org/officeDocument/2006/relationships/image" Target="../media/image12.emf"/><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34.m4a"/><Relationship Id="rId1" Type="http://schemas.microsoft.com/office/2007/relationships/media" Target="../media/media34.m4a"/><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35.m4a"/><Relationship Id="rId1" Type="http://schemas.microsoft.com/office/2007/relationships/media" Target="../media/media35.m4a"/><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6.m4a"/><Relationship Id="rId1" Type="http://schemas.microsoft.com/office/2007/relationships/media" Target="../media/media36.m4a"/><Relationship Id="rId6" Type="http://schemas.openxmlformats.org/officeDocument/2006/relationships/image" Target="../media/image2.png"/><Relationship Id="rId5" Type="http://schemas.openxmlformats.org/officeDocument/2006/relationships/image" Target="../media/image5.tiff"/><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37.m4a"/><Relationship Id="rId1" Type="http://schemas.microsoft.com/office/2007/relationships/media" Target="../media/media37.m4a"/><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8.m4a"/><Relationship Id="rId1" Type="http://schemas.microsoft.com/office/2007/relationships/media" Target="../media/media38.m4a"/><Relationship Id="rId5" Type="http://schemas.openxmlformats.org/officeDocument/2006/relationships/image" Target="../media/image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9.m4a"/><Relationship Id="rId1" Type="http://schemas.microsoft.com/office/2007/relationships/media" Target="../media/media39.m4a"/><Relationship Id="rId5" Type="http://schemas.openxmlformats.org/officeDocument/2006/relationships/image" Target="../media/image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0.m4a"/><Relationship Id="rId1" Type="http://schemas.microsoft.com/office/2007/relationships/media" Target="../media/media40.m4a"/><Relationship Id="rId5" Type="http://schemas.openxmlformats.org/officeDocument/2006/relationships/image" Target="../media/image2.png"/><Relationship Id="rId4"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32498"/>
            <a:ext cx="7772400" cy="1470025"/>
          </a:xfrm>
        </p:spPr>
        <p:txBody>
          <a:bodyPr/>
          <a:lstStyle/>
          <a:p>
            <a:r>
              <a:rPr lang="en-US" dirty="0"/>
              <a:t>Statistics for Natural Scientists</a:t>
            </a:r>
            <a:br>
              <a:rPr lang="en-US" dirty="0"/>
            </a:br>
            <a:r>
              <a:rPr lang="en-US" dirty="0"/>
              <a:t>(EART11200 Toolkit)</a:t>
            </a:r>
          </a:p>
        </p:txBody>
      </p:sp>
      <p:sp>
        <p:nvSpPr>
          <p:cNvPr id="4" name="Subtitle 3"/>
          <p:cNvSpPr>
            <a:spLocks noGrp="1"/>
          </p:cNvSpPr>
          <p:nvPr>
            <p:ph type="subTitle" idx="1"/>
          </p:nvPr>
        </p:nvSpPr>
        <p:spPr>
          <a:xfrm>
            <a:off x="1371600" y="4892298"/>
            <a:ext cx="6400800" cy="1752600"/>
          </a:xfrm>
        </p:spPr>
        <p:txBody>
          <a:bodyPr>
            <a:normAutofit/>
          </a:bodyPr>
          <a:lstStyle/>
          <a:p>
            <a:pPr>
              <a:spcBef>
                <a:spcPts val="0"/>
              </a:spcBef>
            </a:pPr>
            <a:r>
              <a:rPr lang="en-US" dirty="0">
                <a:solidFill>
                  <a:srgbClr val="000000"/>
                </a:solidFill>
              </a:rPr>
              <a:t>Tucker Gilman</a:t>
            </a:r>
          </a:p>
          <a:p>
            <a:pPr>
              <a:spcBef>
                <a:spcPts val="0"/>
              </a:spcBef>
            </a:pPr>
            <a:r>
              <a:rPr lang="en-US" dirty="0" err="1">
                <a:solidFill>
                  <a:srgbClr val="000000"/>
                </a:solidFill>
                <a:hlinkClick r:id="rId5"/>
              </a:rPr>
              <a:t>tucker.gilman@manchester.ac.uk</a:t>
            </a:r>
            <a:endParaRPr lang="en-US" dirty="0">
              <a:solidFill>
                <a:srgbClr val="000000"/>
              </a:solidFill>
            </a:endParaRPr>
          </a:p>
          <a:p>
            <a:pPr>
              <a:spcBef>
                <a:spcPts val="0"/>
              </a:spcBef>
            </a:pPr>
            <a:r>
              <a:rPr lang="en-US" dirty="0">
                <a:solidFill>
                  <a:srgbClr val="000000"/>
                </a:solidFill>
              </a:rPr>
              <a:t>Asynchronous Lecture 1 Part 2</a:t>
            </a:r>
          </a:p>
        </p:txBody>
      </p:sp>
      <p:pic>
        <p:nvPicPr>
          <p:cNvPr id="5" name="Picture 4"/>
          <p:cNvPicPr>
            <a:picLocks noChangeAspect="1"/>
          </p:cNvPicPr>
          <p:nvPr/>
        </p:nvPicPr>
        <p:blipFill>
          <a:blip r:embed="rId6"/>
          <a:stretch>
            <a:fillRect/>
          </a:stretch>
        </p:blipFill>
        <p:spPr>
          <a:xfrm>
            <a:off x="0" y="0"/>
            <a:ext cx="9144000" cy="2845923"/>
          </a:xfrm>
          <a:prstGeom prst="rect">
            <a:avLst/>
          </a:prstGeom>
        </p:spPr>
      </p:pic>
      <p:pic>
        <p:nvPicPr>
          <p:cNvPr id="6" name="Audio 5">
            <a:hlinkClick r:id="" action="ppaction://media"/>
            <a:extLst>
              <a:ext uri="{FF2B5EF4-FFF2-40B4-BE49-F238E27FC236}">
                <a16:creationId xmlns:a16="http://schemas.microsoft.com/office/drawing/2014/main" id="{4847B8C5-FF25-6043-827E-B0767150842B}"/>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183228633"/>
      </p:ext>
    </p:extLst>
  </p:cSld>
  <p:clrMapOvr>
    <a:masterClrMapping/>
  </p:clrMapOvr>
  <mc:AlternateContent xmlns:mc="http://schemas.openxmlformats.org/markup-compatibility/2006">
    <mc:Choice xmlns:p14="http://schemas.microsoft.com/office/powerpoint/2010/main" Requires="p14">
      <p:transition spd="slow" p14:dur="2000" advTm="8263"/>
    </mc:Choice>
    <mc:Fallback>
      <p:transition spd="slow" advTm="826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t-distribution approximates Monte Carlo outcomes.</a:t>
            </a:r>
          </a:p>
        </p:txBody>
      </p:sp>
      <p:pic>
        <p:nvPicPr>
          <p:cNvPr id="4" name="Picture 3" descr="Lec3Fig2.pdf"/>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802160" y="931812"/>
            <a:ext cx="6341840" cy="5739449"/>
          </a:xfrm>
          <a:prstGeom prst="rect">
            <a:avLst/>
          </a:prstGeom>
        </p:spPr>
      </p:pic>
      <p:pic>
        <p:nvPicPr>
          <p:cNvPr id="5" name="Picture 4"/>
          <p:cNvPicPr>
            <a:picLocks noChangeAspect="1"/>
          </p:cNvPicPr>
          <p:nvPr/>
        </p:nvPicPr>
        <p:blipFill>
          <a:blip r:embed="rId6"/>
          <a:stretch>
            <a:fillRect/>
          </a:stretch>
        </p:blipFill>
        <p:spPr>
          <a:xfrm>
            <a:off x="457200" y="1830044"/>
            <a:ext cx="2176048" cy="2909493"/>
          </a:xfrm>
          <a:prstGeom prst="rect">
            <a:avLst/>
          </a:prstGeom>
        </p:spPr>
      </p:pic>
      <p:sp>
        <p:nvSpPr>
          <p:cNvPr id="6" name="TextBox 5"/>
          <p:cNvSpPr txBox="1"/>
          <p:nvPr/>
        </p:nvSpPr>
        <p:spPr>
          <a:xfrm>
            <a:off x="457200" y="4784662"/>
            <a:ext cx="2176048" cy="646331"/>
          </a:xfrm>
          <a:prstGeom prst="rect">
            <a:avLst/>
          </a:prstGeom>
          <a:noFill/>
        </p:spPr>
        <p:txBody>
          <a:bodyPr wrap="square" rtlCol="0">
            <a:spAutoFit/>
          </a:bodyPr>
          <a:lstStyle/>
          <a:p>
            <a:pPr algn="ctr"/>
            <a:r>
              <a:rPr lang="en-US" dirty="0"/>
              <a:t>William Sealy </a:t>
            </a:r>
            <a:r>
              <a:rPr lang="en-US" dirty="0" err="1"/>
              <a:t>Gosset</a:t>
            </a:r>
            <a:endParaRPr lang="en-US" dirty="0"/>
          </a:p>
          <a:p>
            <a:pPr algn="ctr"/>
            <a:r>
              <a:rPr lang="en-US" dirty="0"/>
              <a:t>(Student)</a:t>
            </a:r>
          </a:p>
        </p:txBody>
      </p:sp>
      <p:pic>
        <p:nvPicPr>
          <p:cNvPr id="7" name="Audio 6">
            <a:hlinkClick r:id="" action="ppaction://media"/>
            <a:extLst>
              <a:ext uri="{FF2B5EF4-FFF2-40B4-BE49-F238E27FC236}">
                <a16:creationId xmlns:a16="http://schemas.microsoft.com/office/drawing/2014/main" id="{5F16DE0E-F9BE-1E4F-A083-A0BA0926CB7A}"/>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19024695"/>
      </p:ext>
    </p:extLst>
  </p:cSld>
  <p:clrMapOvr>
    <a:masterClrMapping/>
  </p:clrMapOvr>
  <mc:AlternateContent xmlns:mc="http://schemas.openxmlformats.org/markup-compatibility/2006" xmlns:p14="http://schemas.microsoft.com/office/powerpoint/2010/main">
    <mc:Choice Requires="p14">
      <p:transition spd="slow" p14:dur="2000" advTm="60452"/>
    </mc:Choice>
    <mc:Fallback xmlns="">
      <p:transition spd="slow" advTm="604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10A65-A73A-7040-94DC-192DF9A7B4E8}"/>
              </a:ext>
            </a:extLst>
          </p:cNvPr>
          <p:cNvSpPr>
            <a:spLocks noGrp="1"/>
          </p:cNvSpPr>
          <p:nvPr>
            <p:ph type="title"/>
          </p:nvPr>
        </p:nvSpPr>
        <p:spPr>
          <a:xfrm>
            <a:off x="485950" y="0"/>
            <a:ext cx="8229600" cy="1143000"/>
          </a:xfrm>
        </p:spPr>
        <p:txBody>
          <a:bodyPr/>
          <a:lstStyle/>
          <a:p>
            <a:r>
              <a:rPr lang="en-US" dirty="0"/>
              <a:t>Arranging your data for analysis</a:t>
            </a:r>
          </a:p>
        </p:txBody>
      </p:sp>
      <p:pic>
        <p:nvPicPr>
          <p:cNvPr id="8" name="Picture 7">
            <a:extLst>
              <a:ext uri="{FF2B5EF4-FFF2-40B4-BE49-F238E27FC236}">
                <a16:creationId xmlns:a16="http://schemas.microsoft.com/office/drawing/2014/main" id="{1DE9DB4D-5E0F-DC4B-9D9F-213EC546CE9C}"/>
              </a:ext>
            </a:extLst>
          </p:cNvPr>
          <p:cNvPicPr>
            <a:picLocks noChangeAspect="1"/>
          </p:cNvPicPr>
          <p:nvPr/>
        </p:nvPicPr>
        <p:blipFill>
          <a:blip r:embed="rId5"/>
          <a:stretch>
            <a:fillRect/>
          </a:stretch>
        </p:blipFill>
        <p:spPr>
          <a:xfrm>
            <a:off x="614099" y="1509413"/>
            <a:ext cx="7973301" cy="4701606"/>
          </a:xfrm>
          <a:prstGeom prst="rect">
            <a:avLst/>
          </a:prstGeom>
        </p:spPr>
      </p:pic>
      <p:pic>
        <p:nvPicPr>
          <p:cNvPr id="4" name="Audio 3">
            <a:hlinkClick r:id="" action="ppaction://media"/>
            <a:extLst>
              <a:ext uri="{FF2B5EF4-FFF2-40B4-BE49-F238E27FC236}">
                <a16:creationId xmlns:a16="http://schemas.microsoft.com/office/drawing/2014/main" id="{33E647F0-063B-E54D-B708-533EB3D0CE0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415448112"/>
      </p:ext>
    </p:extLst>
  </p:cSld>
  <p:clrMapOvr>
    <a:masterClrMapping/>
  </p:clrMapOvr>
  <mc:AlternateContent xmlns:mc="http://schemas.openxmlformats.org/markup-compatibility/2006" xmlns:p14="http://schemas.microsoft.com/office/powerpoint/2010/main">
    <mc:Choice Requires="p14">
      <p:transition spd="slow" p14:dur="2000" advTm="84593"/>
    </mc:Choice>
    <mc:Fallback xmlns="">
      <p:transition spd="slow" advTm="845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FFE155B-C496-704B-8348-1343825B6900}"/>
              </a:ext>
            </a:extLst>
          </p:cNvPr>
          <p:cNvPicPr>
            <a:picLocks noChangeAspect="1"/>
          </p:cNvPicPr>
          <p:nvPr/>
        </p:nvPicPr>
        <p:blipFill>
          <a:blip r:embed="rId5"/>
          <a:stretch>
            <a:fillRect/>
          </a:stretch>
        </p:blipFill>
        <p:spPr>
          <a:xfrm>
            <a:off x="1420532" y="1066800"/>
            <a:ext cx="6694768" cy="5276060"/>
          </a:xfrm>
          <a:prstGeom prst="rect">
            <a:avLst/>
          </a:prstGeom>
        </p:spPr>
      </p:pic>
      <p:sp>
        <p:nvSpPr>
          <p:cNvPr id="2" name="Title 1">
            <a:extLst>
              <a:ext uri="{FF2B5EF4-FFF2-40B4-BE49-F238E27FC236}">
                <a16:creationId xmlns:a16="http://schemas.microsoft.com/office/drawing/2014/main" id="{32BC887F-C258-B04B-93D3-CB384DF64EB9}"/>
              </a:ext>
            </a:extLst>
          </p:cNvPr>
          <p:cNvSpPr>
            <a:spLocks noGrp="1"/>
          </p:cNvSpPr>
          <p:nvPr>
            <p:ph type="title"/>
          </p:nvPr>
        </p:nvSpPr>
        <p:spPr>
          <a:xfrm>
            <a:off x="457200" y="0"/>
            <a:ext cx="8229600" cy="1143000"/>
          </a:xfrm>
        </p:spPr>
        <p:txBody>
          <a:bodyPr/>
          <a:lstStyle/>
          <a:p>
            <a:r>
              <a:rPr lang="en-US" dirty="0"/>
              <a:t>Importing data into R</a:t>
            </a:r>
          </a:p>
        </p:txBody>
      </p:sp>
      <p:pic>
        <p:nvPicPr>
          <p:cNvPr id="4" name="Audio 3">
            <a:hlinkClick r:id="" action="ppaction://media"/>
            <a:extLst>
              <a:ext uri="{FF2B5EF4-FFF2-40B4-BE49-F238E27FC236}">
                <a16:creationId xmlns:a16="http://schemas.microsoft.com/office/drawing/2014/main" id="{CE91BDB5-921E-F14C-8DA9-5B5D5179C28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393987058"/>
      </p:ext>
    </p:extLst>
  </p:cSld>
  <p:clrMapOvr>
    <a:masterClrMapping/>
  </p:clrMapOvr>
  <mc:AlternateContent xmlns:mc="http://schemas.openxmlformats.org/markup-compatibility/2006" xmlns:p14="http://schemas.microsoft.com/office/powerpoint/2010/main">
    <mc:Choice Requires="p14">
      <p:transition spd="slow" p14:dur="2000" advTm="25073"/>
    </mc:Choice>
    <mc:Fallback xmlns="">
      <p:transition spd="slow" advTm="250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FFE155B-C496-704B-8348-1343825B6900}"/>
              </a:ext>
            </a:extLst>
          </p:cNvPr>
          <p:cNvPicPr>
            <a:picLocks noChangeAspect="1"/>
          </p:cNvPicPr>
          <p:nvPr/>
        </p:nvPicPr>
        <p:blipFill>
          <a:blip r:embed="rId5"/>
          <a:stretch>
            <a:fillRect/>
          </a:stretch>
        </p:blipFill>
        <p:spPr>
          <a:xfrm>
            <a:off x="1420532" y="1066800"/>
            <a:ext cx="6694768" cy="5276060"/>
          </a:xfrm>
          <a:prstGeom prst="rect">
            <a:avLst/>
          </a:prstGeom>
        </p:spPr>
      </p:pic>
      <p:sp>
        <p:nvSpPr>
          <p:cNvPr id="2" name="Title 1">
            <a:extLst>
              <a:ext uri="{FF2B5EF4-FFF2-40B4-BE49-F238E27FC236}">
                <a16:creationId xmlns:a16="http://schemas.microsoft.com/office/drawing/2014/main" id="{32BC887F-C258-B04B-93D3-CB384DF64EB9}"/>
              </a:ext>
            </a:extLst>
          </p:cNvPr>
          <p:cNvSpPr>
            <a:spLocks noGrp="1"/>
          </p:cNvSpPr>
          <p:nvPr>
            <p:ph type="title"/>
          </p:nvPr>
        </p:nvSpPr>
        <p:spPr>
          <a:xfrm>
            <a:off x="457200" y="0"/>
            <a:ext cx="8229600" cy="1143000"/>
          </a:xfrm>
        </p:spPr>
        <p:txBody>
          <a:bodyPr/>
          <a:lstStyle/>
          <a:p>
            <a:r>
              <a:rPr lang="en-US" dirty="0"/>
              <a:t>Importing data into R</a:t>
            </a:r>
          </a:p>
        </p:txBody>
      </p:sp>
      <p:sp>
        <p:nvSpPr>
          <p:cNvPr id="9" name="Rectangle 8">
            <a:extLst>
              <a:ext uri="{FF2B5EF4-FFF2-40B4-BE49-F238E27FC236}">
                <a16:creationId xmlns:a16="http://schemas.microsoft.com/office/drawing/2014/main" id="{9C10AB83-4963-8546-9E6B-1F6A418558AF}"/>
              </a:ext>
            </a:extLst>
          </p:cNvPr>
          <p:cNvSpPr/>
          <p:nvPr/>
        </p:nvSpPr>
        <p:spPr>
          <a:xfrm>
            <a:off x="5994400" y="4605867"/>
            <a:ext cx="2120900" cy="1736993"/>
          </a:xfrm>
          <a:prstGeom prst="rect">
            <a:avLst/>
          </a:prstGeom>
          <a:noFill/>
          <a:ln w="508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Audio 3">
            <a:hlinkClick r:id="" action="ppaction://media"/>
            <a:extLst>
              <a:ext uri="{FF2B5EF4-FFF2-40B4-BE49-F238E27FC236}">
                <a16:creationId xmlns:a16="http://schemas.microsoft.com/office/drawing/2014/main" id="{22E6A782-20CC-D448-B6A4-E933EFAA213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908320494"/>
      </p:ext>
    </p:extLst>
  </p:cSld>
  <p:clrMapOvr>
    <a:masterClrMapping/>
  </p:clrMapOvr>
  <mc:AlternateContent xmlns:mc="http://schemas.openxmlformats.org/markup-compatibility/2006" xmlns:p14="http://schemas.microsoft.com/office/powerpoint/2010/main">
    <mc:Choice Requires="p14">
      <p:transition spd="slow" p14:dur="2000" advTm="14510"/>
    </mc:Choice>
    <mc:Fallback xmlns="">
      <p:transition spd="slow" advTm="14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856C7C-017C-E24C-B589-BFDB2AAB892B}"/>
              </a:ext>
            </a:extLst>
          </p:cNvPr>
          <p:cNvPicPr>
            <a:picLocks noChangeAspect="1"/>
          </p:cNvPicPr>
          <p:nvPr/>
        </p:nvPicPr>
        <p:blipFill>
          <a:blip r:embed="rId5"/>
          <a:stretch>
            <a:fillRect/>
          </a:stretch>
        </p:blipFill>
        <p:spPr>
          <a:xfrm>
            <a:off x="1420532" y="1066800"/>
            <a:ext cx="6694768" cy="5276060"/>
          </a:xfrm>
          <a:prstGeom prst="rect">
            <a:avLst/>
          </a:prstGeom>
        </p:spPr>
      </p:pic>
      <p:sp>
        <p:nvSpPr>
          <p:cNvPr id="2" name="Title 1">
            <a:extLst>
              <a:ext uri="{FF2B5EF4-FFF2-40B4-BE49-F238E27FC236}">
                <a16:creationId xmlns:a16="http://schemas.microsoft.com/office/drawing/2014/main" id="{32BC887F-C258-B04B-93D3-CB384DF64EB9}"/>
              </a:ext>
            </a:extLst>
          </p:cNvPr>
          <p:cNvSpPr>
            <a:spLocks noGrp="1"/>
          </p:cNvSpPr>
          <p:nvPr>
            <p:ph type="title"/>
          </p:nvPr>
        </p:nvSpPr>
        <p:spPr>
          <a:xfrm>
            <a:off x="457200" y="0"/>
            <a:ext cx="8229600" cy="1143000"/>
          </a:xfrm>
        </p:spPr>
        <p:txBody>
          <a:bodyPr/>
          <a:lstStyle/>
          <a:p>
            <a:r>
              <a:rPr lang="en-US" dirty="0"/>
              <a:t>Importing data into R</a:t>
            </a:r>
          </a:p>
        </p:txBody>
      </p:sp>
      <p:pic>
        <p:nvPicPr>
          <p:cNvPr id="4" name="Audio 3">
            <a:hlinkClick r:id="" action="ppaction://media"/>
            <a:extLst>
              <a:ext uri="{FF2B5EF4-FFF2-40B4-BE49-F238E27FC236}">
                <a16:creationId xmlns:a16="http://schemas.microsoft.com/office/drawing/2014/main" id="{870F5EC8-8BB7-364D-B949-08D9A33D141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889599215"/>
      </p:ext>
    </p:extLst>
  </p:cSld>
  <p:clrMapOvr>
    <a:masterClrMapping/>
  </p:clrMapOvr>
  <mc:AlternateContent xmlns:mc="http://schemas.openxmlformats.org/markup-compatibility/2006" xmlns:p14="http://schemas.microsoft.com/office/powerpoint/2010/main">
    <mc:Choice Requires="p14">
      <p:transition spd="slow" p14:dur="2000" advTm="15190"/>
    </mc:Choice>
    <mc:Fallback xmlns="">
      <p:transition spd="slow" advTm="151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009C27E-9ACA-B941-BF31-0515730588EC}"/>
              </a:ext>
            </a:extLst>
          </p:cNvPr>
          <p:cNvPicPr>
            <a:picLocks noChangeAspect="1"/>
          </p:cNvPicPr>
          <p:nvPr/>
        </p:nvPicPr>
        <p:blipFill>
          <a:blip r:embed="rId5"/>
          <a:stretch>
            <a:fillRect/>
          </a:stretch>
        </p:blipFill>
        <p:spPr>
          <a:xfrm>
            <a:off x="1420532" y="1066800"/>
            <a:ext cx="6694768" cy="5276060"/>
          </a:xfrm>
          <a:prstGeom prst="rect">
            <a:avLst/>
          </a:prstGeom>
        </p:spPr>
      </p:pic>
      <p:sp>
        <p:nvSpPr>
          <p:cNvPr id="2" name="Title 1">
            <a:extLst>
              <a:ext uri="{FF2B5EF4-FFF2-40B4-BE49-F238E27FC236}">
                <a16:creationId xmlns:a16="http://schemas.microsoft.com/office/drawing/2014/main" id="{32BC887F-C258-B04B-93D3-CB384DF64EB9}"/>
              </a:ext>
            </a:extLst>
          </p:cNvPr>
          <p:cNvSpPr>
            <a:spLocks noGrp="1"/>
          </p:cNvSpPr>
          <p:nvPr>
            <p:ph type="title"/>
          </p:nvPr>
        </p:nvSpPr>
        <p:spPr>
          <a:xfrm>
            <a:off x="457200" y="0"/>
            <a:ext cx="8229600" cy="1143000"/>
          </a:xfrm>
        </p:spPr>
        <p:txBody>
          <a:bodyPr/>
          <a:lstStyle/>
          <a:p>
            <a:r>
              <a:rPr lang="en-US" dirty="0"/>
              <a:t>Importing data into R</a:t>
            </a:r>
          </a:p>
        </p:txBody>
      </p:sp>
      <p:sp>
        <p:nvSpPr>
          <p:cNvPr id="7" name="Oval 6">
            <a:extLst>
              <a:ext uri="{FF2B5EF4-FFF2-40B4-BE49-F238E27FC236}">
                <a16:creationId xmlns:a16="http://schemas.microsoft.com/office/drawing/2014/main" id="{905866DA-8458-4744-86A6-D9119FC7E251}"/>
              </a:ext>
            </a:extLst>
          </p:cNvPr>
          <p:cNvSpPr/>
          <p:nvPr/>
        </p:nvSpPr>
        <p:spPr>
          <a:xfrm>
            <a:off x="6649836" y="3532110"/>
            <a:ext cx="1465464" cy="267730"/>
          </a:xfrm>
          <a:prstGeom prst="ellipse">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5F5DF269-1056-1549-845D-E6EC851EC56D}"/>
              </a:ext>
            </a:extLst>
          </p:cNvPr>
          <p:cNvSpPr/>
          <p:nvPr/>
        </p:nvSpPr>
        <p:spPr>
          <a:xfrm>
            <a:off x="7823200" y="4489450"/>
            <a:ext cx="312420" cy="356870"/>
          </a:xfrm>
          <a:prstGeom prst="ellipse">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Audio 3">
            <a:hlinkClick r:id="" action="ppaction://media"/>
            <a:extLst>
              <a:ext uri="{FF2B5EF4-FFF2-40B4-BE49-F238E27FC236}">
                <a16:creationId xmlns:a16="http://schemas.microsoft.com/office/drawing/2014/main" id="{44C49D23-D30C-D64D-9DE7-0ADDEB2E56F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660275409"/>
      </p:ext>
    </p:extLst>
  </p:cSld>
  <p:clrMapOvr>
    <a:masterClrMapping/>
  </p:clrMapOvr>
  <mc:AlternateContent xmlns:mc="http://schemas.openxmlformats.org/markup-compatibility/2006" xmlns:p14="http://schemas.microsoft.com/office/powerpoint/2010/main">
    <mc:Choice Requires="p14">
      <p:transition spd="slow" p14:dur="2000" advTm="10619"/>
    </mc:Choice>
    <mc:Fallback xmlns="">
      <p:transition spd="slow" advTm="106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155D5B-9FF6-BE43-9751-C6562EC284B7}"/>
              </a:ext>
            </a:extLst>
          </p:cNvPr>
          <p:cNvPicPr>
            <a:picLocks noChangeAspect="1"/>
          </p:cNvPicPr>
          <p:nvPr/>
        </p:nvPicPr>
        <p:blipFill>
          <a:blip r:embed="rId5"/>
          <a:stretch>
            <a:fillRect/>
          </a:stretch>
        </p:blipFill>
        <p:spPr>
          <a:xfrm>
            <a:off x="1420532" y="1066800"/>
            <a:ext cx="6694768" cy="5276060"/>
          </a:xfrm>
          <a:prstGeom prst="rect">
            <a:avLst/>
          </a:prstGeom>
        </p:spPr>
      </p:pic>
      <p:sp>
        <p:nvSpPr>
          <p:cNvPr id="2" name="Title 1">
            <a:extLst>
              <a:ext uri="{FF2B5EF4-FFF2-40B4-BE49-F238E27FC236}">
                <a16:creationId xmlns:a16="http://schemas.microsoft.com/office/drawing/2014/main" id="{32BC887F-C258-B04B-93D3-CB384DF64EB9}"/>
              </a:ext>
            </a:extLst>
          </p:cNvPr>
          <p:cNvSpPr>
            <a:spLocks noGrp="1"/>
          </p:cNvSpPr>
          <p:nvPr>
            <p:ph type="title"/>
          </p:nvPr>
        </p:nvSpPr>
        <p:spPr>
          <a:xfrm>
            <a:off x="457200" y="0"/>
            <a:ext cx="8229600" cy="1143000"/>
          </a:xfrm>
        </p:spPr>
        <p:txBody>
          <a:bodyPr/>
          <a:lstStyle/>
          <a:p>
            <a:r>
              <a:rPr lang="en-US" dirty="0"/>
              <a:t>Importing data into R</a:t>
            </a:r>
          </a:p>
        </p:txBody>
      </p:sp>
      <p:pic>
        <p:nvPicPr>
          <p:cNvPr id="4" name="Audio 3">
            <a:hlinkClick r:id="" action="ppaction://media"/>
            <a:extLst>
              <a:ext uri="{FF2B5EF4-FFF2-40B4-BE49-F238E27FC236}">
                <a16:creationId xmlns:a16="http://schemas.microsoft.com/office/drawing/2014/main" id="{D19DD7E3-B46C-FF4C-8C40-9CAC8B00EAD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094369340"/>
      </p:ext>
    </p:extLst>
  </p:cSld>
  <p:clrMapOvr>
    <a:masterClrMapping/>
  </p:clrMapOvr>
  <mc:AlternateContent xmlns:mc="http://schemas.openxmlformats.org/markup-compatibility/2006" xmlns:p14="http://schemas.microsoft.com/office/powerpoint/2010/main">
    <mc:Choice Requires="p14">
      <p:transition spd="slow" p14:dur="2000" advTm="11791"/>
    </mc:Choice>
    <mc:Fallback xmlns="">
      <p:transition spd="slow" advTm="117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C887F-C258-B04B-93D3-CB384DF64EB9}"/>
              </a:ext>
            </a:extLst>
          </p:cNvPr>
          <p:cNvSpPr>
            <a:spLocks noGrp="1"/>
          </p:cNvSpPr>
          <p:nvPr>
            <p:ph type="title"/>
          </p:nvPr>
        </p:nvSpPr>
        <p:spPr>
          <a:xfrm>
            <a:off x="457200" y="0"/>
            <a:ext cx="8229600" cy="1143000"/>
          </a:xfrm>
        </p:spPr>
        <p:txBody>
          <a:bodyPr/>
          <a:lstStyle/>
          <a:p>
            <a:r>
              <a:rPr lang="en-US" dirty="0"/>
              <a:t>Importing data into R</a:t>
            </a:r>
          </a:p>
        </p:txBody>
      </p:sp>
      <p:sp>
        <p:nvSpPr>
          <p:cNvPr id="6" name="Rectangle 5">
            <a:extLst>
              <a:ext uri="{FF2B5EF4-FFF2-40B4-BE49-F238E27FC236}">
                <a16:creationId xmlns:a16="http://schemas.microsoft.com/office/drawing/2014/main" id="{E29B6781-CAD9-3E43-A9A4-1FC0CEDA690B}"/>
              </a:ext>
            </a:extLst>
          </p:cNvPr>
          <p:cNvSpPr/>
          <p:nvPr/>
        </p:nvSpPr>
        <p:spPr>
          <a:xfrm>
            <a:off x="941070" y="1923534"/>
            <a:ext cx="7261860" cy="523220"/>
          </a:xfrm>
          <a:prstGeom prst="rect">
            <a:avLst/>
          </a:prstGeom>
        </p:spPr>
        <p:txBody>
          <a:bodyPr wrap="square">
            <a:spAutoFit/>
          </a:bodyPr>
          <a:lstStyle/>
          <a:p>
            <a:r>
              <a:rPr lang="en-US" sz="2800" dirty="0" err="1">
                <a:solidFill>
                  <a:srgbClr val="0B27FF"/>
                </a:solidFill>
              </a:rPr>
              <a:t>hd</a:t>
            </a:r>
            <a:r>
              <a:rPr lang="en-US" sz="2800" dirty="0">
                <a:solidFill>
                  <a:srgbClr val="0B27FF"/>
                </a:solidFill>
              </a:rPr>
              <a:t>=</a:t>
            </a:r>
            <a:r>
              <a:rPr lang="en-US" sz="2800" dirty="0" err="1">
                <a:solidFill>
                  <a:srgbClr val="0B27FF"/>
                </a:solidFill>
              </a:rPr>
              <a:t>read.csv</a:t>
            </a:r>
            <a:r>
              <a:rPr lang="en-US" sz="2800" dirty="0">
                <a:solidFill>
                  <a:srgbClr val="0B27FF"/>
                </a:solidFill>
              </a:rPr>
              <a:t>("</a:t>
            </a:r>
            <a:r>
              <a:rPr lang="en-US" sz="2800" dirty="0" err="1">
                <a:solidFill>
                  <a:srgbClr val="0B27FF"/>
                </a:solidFill>
              </a:rPr>
              <a:t>height_data.csv",header</a:t>
            </a:r>
            <a:r>
              <a:rPr lang="en-US" sz="2800" dirty="0">
                <a:solidFill>
                  <a:srgbClr val="0B27FF"/>
                </a:solidFill>
              </a:rPr>
              <a:t>=TRUE)</a:t>
            </a:r>
          </a:p>
        </p:txBody>
      </p:sp>
      <p:pic>
        <p:nvPicPr>
          <p:cNvPr id="4" name="Audio 3">
            <a:hlinkClick r:id="" action="ppaction://media"/>
            <a:extLst>
              <a:ext uri="{FF2B5EF4-FFF2-40B4-BE49-F238E27FC236}">
                <a16:creationId xmlns:a16="http://schemas.microsoft.com/office/drawing/2014/main" id="{48223C27-1333-6B4E-AA28-209C3ED3F9C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687879376"/>
      </p:ext>
    </p:extLst>
  </p:cSld>
  <p:clrMapOvr>
    <a:masterClrMapping/>
  </p:clrMapOvr>
  <mc:AlternateContent xmlns:mc="http://schemas.openxmlformats.org/markup-compatibility/2006" xmlns:p14="http://schemas.microsoft.com/office/powerpoint/2010/main">
    <mc:Choice Requires="p14">
      <p:transition spd="slow" p14:dur="2000" advTm="9179"/>
    </mc:Choice>
    <mc:Fallback xmlns="">
      <p:transition spd="slow" advTm="91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A4FE8FA-244C-344A-8DFA-0142CF4DA5D6}"/>
              </a:ext>
            </a:extLst>
          </p:cNvPr>
          <p:cNvCxnSpPr>
            <a:cxnSpLocks/>
          </p:cNvCxnSpPr>
          <p:nvPr/>
        </p:nvCxnSpPr>
        <p:spPr>
          <a:xfrm>
            <a:off x="961390" y="2446754"/>
            <a:ext cx="526589" cy="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BE307C99-72A0-CB4F-8AAD-67C6C6792129}"/>
              </a:ext>
            </a:extLst>
          </p:cNvPr>
          <p:cNvSpPr/>
          <p:nvPr/>
        </p:nvSpPr>
        <p:spPr>
          <a:xfrm>
            <a:off x="941070" y="1923534"/>
            <a:ext cx="7261860" cy="523220"/>
          </a:xfrm>
          <a:prstGeom prst="rect">
            <a:avLst/>
          </a:prstGeom>
        </p:spPr>
        <p:txBody>
          <a:bodyPr wrap="square">
            <a:spAutoFit/>
          </a:bodyPr>
          <a:lstStyle/>
          <a:p>
            <a:r>
              <a:rPr lang="en-US" sz="2800" dirty="0" err="1">
                <a:solidFill>
                  <a:srgbClr val="0B27FF"/>
                </a:solidFill>
              </a:rPr>
              <a:t>hd</a:t>
            </a:r>
            <a:r>
              <a:rPr lang="en-US" sz="2800" dirty="0">
                <a:solidFill>
                  <a:srgbClr val="0B27FF"/>
                </a:solidFill>
              </a:rPr>
              <a:t>=</a:t>
            </a:r>
            <a:r>
              <a:rPr lang="en-US" sz="2800" dirty="0" err="1">
                <a:solidFill>
                  <a:srgbClr val="0B27FF"/>
                </a:solidFill>
              </a:rPr>
              <a:t>read.csv</a:t>
            </a:r>
            <a:r>
              <a:rPr lang="en-US" sz="2800" dirty="0">
                <a:solidFill>
                  <a:srgbClr val="0B27FF"/>
                </a:solidFill>
              </a:rPr>
              <a:t>("</a:t>
            </a:r>
            <a:r>
              <a:rPr lang="en-US" sz="2800" dirty="0" err="1">
                <a:solidFill>
                  <a:srgbClr val="0B27FF"/>
                </a:solidFill>
              </a:rPr>
              <a:t>height_data.csv",header</a:t>
            </a:r>
            <a:r>
              <a:rPr lang="en-US" sz="2800" dirty="0">
                <a:solidFill>
                  <a:srgbClr val="0B27FF"/>
                </a:solidFill>
              </a:rPr>
              <a:t>=TRUE)</a:t>
            </a:r>
          </a:p>
        </p:txBody>
      </p:sp>
      <p:sp>
        <p:nvSpPr>
          <p:cNvPr id="10" name="Title 1">
            <a:extLst>
              <a:ext uri="{FF2B5EF4-FFF2-40B4-BE49-F238E27FC236}">
                <a16:creationId xmlns:a16="http://schemas.microsoft.com/office/drawing/2014/main" id="{9E7996BD-F8C1-EF4A-ACE9-A1FF6D7D7F96}"/>
              </a:ext>
            </a:extLst>
          </p:cNvPr>
          <p:cNvSpPr>
            <a:spLocks noGrp="1"/>
          </p:cNvSpPr>
          <p:nvPr>
            <p:ph type="title"/>
          </p:nvPr>
        </p:nvSpPr>
        <p:spPr>
          <a:xfrm>
            <a:off x="457200" y="0"/>
            <a:ext cx="8229600" cy="1143000"/>
          </a:xfrm>
        </p:spPr>
        <p:txBody>
          <a:bodyPr/>
          <a:lstStyle/>
          <a:p>
            <a:r>
              <a:rPr lang="en-US" dirty="0"/>
              <a:t>Importing data into R</a:t>
            </a:r>
          </a:p>
        </p:txBody>
      </p:sp>
      <p:pic>
        <p:nvPicPr>
          <p:cNvPr id="2" name="Audio 1">
            <a:hlinkClick r:id="" action="ppaction://media"/>
            <a:extLst>
              <a:ext uri="{FF2B5EF4-FFF2-40B4-BE49-F238E27FC236}">
                <a16:creationId xmlns:a16="http://schemas.microsoft.com/office/drawing/2014/main" id="{FF5E11C9-AF2B-C64F-95A0-41EF1C0FF4F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359907954"/>
      </p:ext>
    </p:extLst>
  </p:cSld>
  <p:clrMapOvr>
    <a:masterClrMapping/>
  </p:clrMapOvr>
  <mc:AlternateContent xmlns:mc="http://schemas.openxmlformats.org/markup-compatibility/2006" xmlns:p14="http://schemas.microsoft.com/office/powerpoint/2010/main">
    <mc:Choice Requires="p14">
      <p:transition spd="slow" p14:dur="2000" advTm="12616"/>
    </mc:Choice>
    <mc:Fallback xmlns="">
      <p:transition spd="slow" advTm="1261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F4684B7-EA4F-5C43-872A-34E6F3E9DE89}"/>
              </a:ext>
            </a:extLst>
          </p:cNvPr>
          <p:cNvCxnSpPr>
            <a:cxnSpLocks/>
          </p:cNvCxnSpPr>
          <p:nvPr/>
        </p:nvCxnSpPr>
        <p:spPr>
          <a:xfrm>
            <a:off x="1530350" y="2446754"/>
            <a:ext cx="1334770" cy="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6E8B6A1E-7368-BC44-B3EB-5A6C4647D746}"/>
              </a:ext>
            </a:extLst>
          </p:cNvPr>
          <p:cNvSpPr/>
          <p:nvPr/>
        </p:nvSpPr>
        <p:spPr>
          <a:xfrm>
            <a:off x="941070" y="1923534"/>
            <a:ext cx="7261860" cy="523220"/>
          </a:xfrm>
          <a:prstGeom prst="rect">
            <a:avLst/>
          </a:prstGeom>
        </p:spPr>
        <p:txBody>
          <a:bodyPr wrap="square">
            <a:spAutoFit/>
          </a:bodyPr>
          <a:lstStyle/>
          <a:p>
            <a:r>
              <a:rPr lang="en-US" sz="2800" dirty="0" err="1">
                <a:solidFill>
                  <a:srgbClr val="0B27FF"/>
                </a:solidFill>
              </a:rPr>
              <a:t>hd</a:t>
            </a:r>
            <a:r>
              <a:rPr lang="en-US" sz="2800" dirty="0">
                <a:solidFill>
                  <a:srgbClr val="0B27FF"/>
                </a:solidFill>
              </a:rPr>
              <a:t>=</a:t>
            </a:r>
            <a:r>
              <a:rPr lang="en-US" sz="2800" dirty="0" err="1">
                <a:solidFill>
                  <a:srgbClr val="0B27FF"/>
                </a:solidFill>
              </a:rPr>
              <a:t>read.csv</a:t>
            </a:r>
            <a:r>
              <a:rPr lang="en-US" sz="2800" dirty="0">
                <a:solidFill>
                  <a:srgbClr val="0B27FF"/>
                </a:solidFill>
              </a:rPr>
              <a:t>("</a:t>
            </a:r>
            <a:r>
              <a:rPr lang="en-US" sz="2800" dirty="0" err="1">
                <a:solidFill>
                  <a:srgbClr val="0B27FF"/>
                </a:solidFill>
              </a:rPr>
              <a:t>height_data.csv",header</a:t>
            </a:r>
            <a:r>
              <a:rPr lang="en-US" sz="2800" dirty="0">
                <a:solidFill>
                  <a:srgbClr val="0B27FF"/>
                </a:solidFill>
              </a:rPr>
              <a:t>=TRUE)</a:t>
            </a:r>
          </a:p>
        </p:txBody>
      </p:sp>
      <p:sp>
        <p:nvSpPr>
          <p:cNvPr id="11" name="Title 1">
            <a:extLst>
              <a:ext uri="{FF2B5EF4-FFF2-40B4-BE49-F238E27FC236}">
                <a16:creationId xmlns:a16="http://schemas.microsoft.com/office/drawing/2014/main" id="{C1412636-41EB-3141-B7FF-4CE8B54837C6}"/>
              </a:ext>
            </a:extLst>
          </p:cNvPr>
          <p:cNvSpPr>
            <a:spLocks noGrp="1"/>
          </p:cNvSpPr>
          <p:nvPr>
            <p:ph type="title"/>
          </p:nvPr>
        </p:nvSpPr>
        <p:spPr>
          <a:xfrm>
            <a:off x="457200" y="0"/>
            <a:ext cx="8229600" cy="1143000"/>
          </a:xfrm>
        </p:spPr>
        <p:txBody>
          <a:bodyPr/>
          <a:lstStyle/>
          <a:p>
            <a:r>
              <a:rPr lang="en-US" dirty="0"/>
              <a:t>Importing data into R</a:t>
            </a:r>
          </a:p>
        </p:txBody>
      </p:sp>
      <p:pic>
        <p:nvPicPr>
          <p:cNvPr id="2" name="Audio 1">
            <a:hlinkClick r:id="" action="ppaction://media"/>
            <a:extLst>
              <a:ext uri="{FF2B5EF4-FFF2-40B4-BE49-F238E27FC236}">
                <a16:creationId xmlns:a16="http://schemas.microsoft.com/office/drawing/2014/main" id="{390AC439-8ECC-D24F-A977-1AF1C44F356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414573467"/>
      </p:ext>
    </p:extLst>
  </p:cSld>
  <p:clrMapOvr>
    <a:masterClrMapping/>
  </p:clrMapOvr>
  <mc:AlternateContent xmlns:mc="http://schemas.openxmlformats.org/markup-compatibility/2006" xmlns:p14="http://schemas.microsoft.com/office/powerpoint/2010/main">
    <mc:Choice Requires="p14">
      <p:transition spd="slow" p14:dur="2000" advTm="7780"/>
    </mc:Choice>
    <mc:Fallback xmlns="">
      <p:transition spd="slow" advTm="7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CBDBB30-42C4-5648-9E74-605B17CED569}"/>
              </a:ext>
            </a:extLst>
          </p:cNvPr>
          <p:cNvCxnSpPr>
            <a:cxnSpLocks/>
          </p:cNvCxnSpPr>
          <p:nvPr/>
        </p:nvCxnSpPr>
        <p:spPr>
          <a:xfrm>
            <a:off x="2905760" y="2446754"/>
            <a:ext cx="2621280" cy="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FE5A9396-D610-FE4B-A976-EB02B5770A04}"/>
              </a:ext>
            </a:extLst>
          </p:cNvPr>
          <p:cNvSpPr/>
          <p:nvPr/>
        </p:nvSpPr>
        <p:spPr>
          <a:xfrm>
            <a:off x="941070" y="1923534"/>
            <a:ext cx="7261860" cy="523220"/>
          </a:xfrm>
          <a:prstGeom prst="rect">
            <a:avLst/>
          </a:prstGeom>
        </p:spPr>
        <p:txBody>
          <a:bodyPr wrap="square">
            <a:spAutoFit/>
          </a:bodyPr>
          <a:lstStyle/>
          <a:p>
            <a:r>
              <a:rPr lang="en-US" sz="2800" dirty="0" err="1">
                <a:solidFill>
                  <a:srgbClr val="0B27FF"/>
                </a:solidFill>
              </a:rPr>
              <a:t>hd</a:t>
            </a:r>
            <a:r>
              <a:rPr lang="en-US" sz="2800" dirty="0">
                <a:solidFill>
                  <a:srgbClr val="0B27FF"/>
                </a:solidFill>
              </a:rPr>
              <a:t>=</a:t>
            </a:r>
            <a:r>
              <a:rPr lang="en-US" sz="2800" dirty="0" err="1">
                <a:solidFill>
                  <a:srgbClr val="0B27FF"/>
                </a:solidFill>
              </a:rPr>
              <a:t>read.csv</a:t>
            </a:r>
            <a:r>
              <a:rPr lang="en-US" sz="2800" dirty="0">
                <a:solidFill>
                  <a:srgbClr val="0B27FF"/>
                </a:solidFill>
              </a:rPr>
              <a:t>("</a:t>
            </a:r>
            <a:r>
              <a:rPr lang="en-US" sz="2800" dirty="0" err="1">
                <a:solidFill>
                  <a:srgbClr val="0B27FF"/>
                </a:solidFill>
              </a:rPr>
              <a:t>height_data.csv",header</a:t>
            </a:r>
            <a:r>
              <a:rPr lang="en-US" sz="2800" dirty="0">
                <a:solidFill>
                  <a:srgbClr val="0B27FF"/>
                </a:solidFill>
              </a:rPr>
              <a:t>=TRUE)</a:t>
            </a:r>
          </a:p>
        </p:txBody>
      </p:sp>
      <p:sp>
        <p:nvSpPr>
          <p:cNvPr id="12" name="Title 1">
            <a:extLst>
              <a:ext uri="{FF2B5EF4-FFF2-40B4-BE49-F238E27FC236}">
                <a16:creationId xmlns:a16="http://schemas.microsoft.com/office/drawing/2014/main" id="{6EEAB828-4F79-B745-82B9-C44043AB247C}"/>
              </a:ext>
            </a:extLst>
          </p:cNvPr>
          <p:cNvSpPr>
            <a:spLocks noGrp="1"/>
          </p:cNvSpPr>
          <p:nvPr>
            <p:ph type="title"/>
          </p:nvPr>
        </p:nvSpPr>
        <p:spPr>
          <a:xfrm>
            <a:off x="457200" y="0"/>
            <a:ext cx="8229600" cy="1143000"/>
          </a:xfrm>
        </p:spPr>
        <p:txBody>
          <a:bodyPr/>
          <a:lstStyle/>
          <a:p>
            <a:r>
              <a:rPr lang="en-US" dirty="0"/>
              <a:t>Importing data into R</a:t>
            </a:r>
          </a:p>
        </p:txBody>
      </p:sp>
      <p:pic>
        <p:nvPicPr>
          <p:cNvPr id="2" name="Audio 1">
            <a:hlinkClick r:id="" action="ppaction://media"/>
            <a:extLst>
              <a:ext uri="{FF2B5EF4-FFF2-40B4-BE49-F238E27FC236}">
                <a16:creationId xmlns:a16="http://schemas.microsoft.com/office/drawing/2014/main" id="{CE763FA4-CE0F-E547-8F32-B48EC16491A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519115455"/>
      </p:ext>
    </p:extLst>
  </p:cSld>
  <p:clrMapOvr>
    <a:masterClrMapping/>
  </p:clrMapOvr>
  <mc:AlternateContent xmlns:mc="http://schemas.openxmlformats.org/markup-compatibility/2006" xmlns:p14="http://schemas.microsoft.com/office/powerpoint/2010/main">
    <mc:Choice Requires="p14">
      <p:transition spd="slow" p14:dur="2000" advTm="9257"/>
    </mc:Choice>
    <mc:Fallback xmlns="">
      <p:transition spd="slow" advTm="92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CCB99ECB-C0F1-0841-9AE7-393AE5C95E4E}"/>
              </a:ext>
            </a:extLst>
          </p:cNvPr>
          <p:cNvCxnSpPr>
            <a:cxnSpLocks/>
          </p:cNvCxnSpPr>
          <p:nvPr/>
        </p:nvCxnSpPr>
        <p:spPr>
          <a:xfrm>
            <a:off x="5445760" y="2446754"/>
            <a:ext cx="2113280" cy="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E5089719-DE83-B149-BED7-AC4C2105F27A}"/>
              </a:ext>
            </a:extLst>
          </p:cNvPr>
          <p:cNvSpPr/>
          <p:nvPr/>
        </p:nvSpPr>
        <p:spPr>
          <a:xfrm>
            <a:off x="941070" y="1923534"/>
            <a:ext cx="7261860" cy="523220"/>
          </a:xfrm>
          <a:prstGeom prst="rect">
            <a:avLst/>
          </a:prstGeom>
        </p:spPr>
        <p:txBody>
          <a:bodyPr wrap="square">
            <a:spAutoFit/>
          </a:bodyPr>
          <a:lstStyle/>
          <a:p>
            <a:r>
              <a:rPr lang="en-US" sz="2800" dirty="0" err="1">
                <a:solidFill>
                  <a:srgbClr val="0B27FF"/>
                </a:solidFill>
              </a:rPr>
              <a:t>hd</a:t>
            </a:r>
            <a:r>
              <a:rPr lang="en-US" sz="2800" dirty="0">
                <a:solidFill>
                  <a:srgbClr val="0B27FF"/>
                </a:solidFill>
              </a:rPr>
              <a:t>=</a:t>
            </a:r>
            <a:r>
              <a:rPr lang="en-US" sz="2800" dirty="0" err="1">
                <a:solidFill>
                  <a:srgbClr val="0B27FF"/>
                </a:solidFill>
              </a:rPr>
              <a:t>read.csv</a:t>
            </a:r>
            <a:r>
              <a:rPr lang="en-US" sz="2800" dirty="0">
                <a:solidFill>
                  <a:srgbClr val="0B27FF"/>
                </a:solidFill>
              </a:rPr>
              <a:t>("</a:t>
            </a:r>
            <a:r>
              <a:rPr lang="en-US" sz="2800" dirty="0" err="1">
                <a:solidFill>
                  <a:srgbClr val="0B27FF"/>
                </a:solidFill>
              </a:rPr>
              <a:t>height_data.csv",header</a:t>
            </a:r>
            <a:r>
              <a:rPr lang="en-US" sz="2800" dirty="0">
                <a:solidFill>
                  <a:srgbClr val="0B27FF"/>
                </a:solidFill>
              </a:rPr>
              <a:t>=TRUE)</a:t>
            </a:r>
          </a:p>
        </p:txBody>
      </p:sp>
      <p:sp>
        <p:nvSpPr>
          <p:cNvPr id="12" name="Title 1">
            <a:extLst>
              <a:ext uri="{FF2B5EF4-FFF2-40B4-BE49-F238E27FC236}">
                <a16:creationId xmlns:a16="http://schemas.microsoft.com/office/drawing/2014/main" id="{F90CC96A-43B4-1E4F-AEA9-B8A2F1C37438}"/>
              </a:ext>
            </a:extLst>
          </p:cNvPr>
          <p:cNvSpPr txBox="1">
            <a:spLocks/>
          </p:cNvSpPr>
          <p:nvPr/>
        </p:nvSpPr>
        <p:spPr>
          <a:xfrm>
            <a:off x="457200" y="0"/>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t>Importing data into R</a:t>
            </a:r>
            <a:endParaRPr lang="en-US" dirty="0"/>
          </a:p>
        </p:txBody>
      </p:sp>
      <p:pic>
        <p:nvPicPr>
          <p:cNvPr id="2" name="Audio 1">
            <a:hlinkClick r:id="" action="ppaction://media"/>
            <a:extLst>
              <a:ext uri="{FF2B5EF4-FFF2-40B4-BE49-F238E27FC236}">
                <a16:creationId xmlns:a16="http://schemas.microsoft.com/office/drawing/2014/main" id="{D1D0AAE8-3A72-DB4E-8A37-90B856BBFD7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706618742"/>
      </p:ext>
    </p:extLst>
  </p:cSld>
  <p:clrMapOvr>
    <a:masterClrMapping/>
  </p:clrMapOvr>
  <mc:AlternateContent xmlns:mc="http://schemas.openxmlformats.org/markup-compatibility/2006" xmlns:p14="http://schemas.microsoft.com/office/powerpoint/2010/main">
    <mc:Choice Requires="p14">
      <p:transition spd="slow" p14:dur="2000" advTm="31384"/>
    </mc:Choice>
    <mc:Fallback xmlns="">
      <p:transition spd="slow" advTm="313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E0DAA16-54A1-9341-8474-5A064CBAAFB5}"/>
              </a:ext>
            </a:extLst>
          </p:cNvPr>
          <p:cNvPicPr>
            <a:picLocks noChangeAspect="1"/>
          </p:cNvPicPr>
          <p:nvPr/>
        </p:nvPicPr>
        <p:blipFill>
          <a:blip r:embed="rId5"/>
          <a:stretch>
            <a:fillRect/>
          </a:stretch>
        </p:blipFill>
        <p:spPr>
          <a:xfrm>
            <a:off x="1420531" y="1066800"/>
            <a:ext cx="6694767" cy="5276060"/>
          </a:xfrm>
          <a:prstGeom prst="rect">
            <a:avLst/>
          </a:prstGeom>
        </p:spPr>
      </p:pic>
      <p:sp>
        <p:nvSpPr>
          <p:cNvPr id="11" name="Title 1">
            <a:extLst>
              <a:ext uri="{FF2B5EF4-FFF2-40B4-BE49-F238E27FC236}">
                <a16:creationId xmlns:a16="http://schemas.microsoft.com/office/drawing/2014/main" id="{8BA95EC8-F6C9-A247-B6E1-B44CDCEE56B2}"/>
              </a:ext>
            </a:extLst>
          </p:cNvPr>
          <p:cNvSpPr>
            <a:spLocks noGrp="1"/>
          </p:cNvSpPr>
          <p:nvPr>
            <p:ph type="title"/>
          </p:nvPr>
        </p:nvSpPr>
        <p:spPr>
          <a:xfrm>
            <a:off x="457200" y="0"/>
            <a:ext cx="8229600" cy="1143000"/>
          </a:xfrm>
        </p:spPr>
        <p:txBody>
          <a:bodyPr/>
          <a:lstStyle/>
          <a:p>
            <a:r>
              <a:rPr lang="en-US" dirty="0"/>
              <a:t>Importing data into R</a:t>
            </a:r>
          </a:p>
        </p:txBody>
      </p:sp>
      <p:sp>
        <p:nvSpPr>
          <p:cNvPr id="12" name="Rectangle 11">
            <a:extLst>
              <a:ext uri="{FF2B5EF4-FFF2-40B4-BE49-F238E27FC236}">
                <a16:creationId xmlns:a16="http://schemas.microsoft.com/office/drawing/2014/main" id="{B46435AB-F173-B441-BAD9-70A6E64A762A}"/>
              </a:ext>
            </a:extLst>
          </p:cNvPr>
          <p:cNvSpPr/>
          <p:nvPr/>
        </p:nvSpPr>
        <p:spPr>
          <a:xfrm>
            <a:off x="1420529" y="3570514"/>
            <a:ext cx="4501300" cy="2772346"/>
          </a:xfrm>
          <a:prstGeom prst="rect">
            <a:avLst/>
          </a:prstGeom>
          <a:noFill/>
          <a:ln w="508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 name="Audio 1">
            <a:hlinkClick r:id="" action="ppaction://media"/>
            <a:extLst>
              <a:ext uri="{FF2B5EF4-FFF2-40B4-BE49-F238E27FC236}">
                <a16:creationId xmlns:a16="http://schemas.microsoft.com/office/drawing/2014/main" id="{706D3193-4DD9-8444-9306-4ADEF918FB5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722887690"/>
      </p:ext>
    </p:extLst>
  </p:cSld>
  <p:clrMapOvr>
    <a:masterClrMapping/>
  </p:clrMapOvr>
  <mc:AlternateContent xmlns:mc="http://schemas.openxmlformats.org/markup-compatibility/2006" xmlns:p14="http://schemas.microsoft.com/office/powerpoint/2010/main">
    <mc:Choice Requires="p14">
      <p:transition spd="slow" p14:dur="2000" advTm="8536"/>
    </mc:Choice>
    <mc:Fallback xmlns="">
      <p:transition spd="slow" advTm="853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E0DAA16-54A1-9341-8474-5A064CBAAFB5}"/>
              </a:ext>
            </a:extLst>
          </p:cNvPr>
          <p:cNvPicPr>
            <a:picLocks noChangeAspect="1"/>
          </p:cNvPicPr>
          <p:nvPr/>
        </p:nvPicPr>
        <p:blipFill>
          <a:blip r:embed="rId5"/>
          <a:stretch>
            <a:fillRect/>
          </a:stretch>
        </p:blipFill>
        <p:spPr>
          <a:xfrm>
            <a:off x="1420531" y="1066800"/>
            <a:ext cx="6694767" cy="5276060"/>
          </a:xfrm>
          <a:prstGeom prst="rect">
            <a:avLst/>
          </a:prstGeom>
        </p:spPr>
      </p:pic>
      <p:sp>
        <p:nvSpPr>
          <p:cNvPr id="11" name="Title 1">
            <a:extLst>
              <a:ext uri="{FF2B5EF4-FFF2-40B4-BE49-F238E27FC236}">
                <a16:creationId xmlns:a16="http://schemas.microsoft.com/office/drawing/2014/main" id="{8BA95EC8-F6C9-A247-B6E1-B44CDCEE56B2}"/>
              </a:ext>
            </a:extLst>
          </p:cNvPr>
          <p:cNvSpPr>
            <a:spLocks noGrp="1"/>
          </p:cNvSpPr>
          <p:nvPr>
            <p:ph type="title"/>
          </p:nvPr>
        </p:nvSpPr>
        <p:spPr>
          <a:xfrm>
            <a:off x="457200" y="0"/>
            <a:ext cx="8229600" cy="1143000"/>
          </a:xfrm>
        </p:spPr>
        <p:txBody>
          <a:bodyPr/>
          <a:lstStyle/>
          <a:p>
            <a:r>
              <a:rPr lang="en-US" dirty="0"/>
              <a:t>Importing data into R</a:t>
            </a:r>
          </a:p>
        </p:txBody>
      </p:sp>
      <p:sp>
        <p:nvSpPr>
          <p:cNvPr id="6" name="Rectangle 5">
            <a:extLst>
              <a:ext uri="{FF2B5EF4-FFF2-40B4-BE49-F238E27FC236}">
                <a16:creationId xmlns:a16="http://schemas.microsoft.com/office/drawing/2014/main" id="{59F9B9B1-D3B8-0E48-9257-DC6A095508F6}"/>
              </a:ext>
            </a:extLst>
          </p:cNvPr>
          <p:cNvSpPr/>
          <p:nvPr/>
        </p:nvSpPr>
        <p:spPr>
          <a:xfrm>
            <a:off x="1420528" y="1066800"/>
            <a:ext cx="4588385" cy="2721429"/>
          </a:xfrm>
          <a:prstGeom prst="rect">
            <a:avLst/>
          </a:prstGeom>
          <a:noFill/>
          <a:ln w="508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 name="Audio 1">
            <a:hlinkClick r:id="" action="ppaction://media"/>
            <a:extLst>
              <a:ext uri="{FF2B5EF4-FFF2-40B4-BE49-F238E27FC236}">
                <a16:creationId xmlns:a16="http://schemas.microsoft.com/office/drawing/2014/main" id="{2F935F2C-5EE2-284B-A80D-7CCD9CC0B7A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116851890"/>
      </p:ext>
    </p:extLst>
  </p:cSld>
  <p:clrMapOvr>
    <a:masterClrMapping/>
  </p:clrMapOvr>
  <mc:AlternateContent xmlns:mc="http://schemas.openxmlformats.org/markup-compatibility/2006" xmlns:p14="http://schemas.microsoft.com/office/powerpoint/2010/main">
    <mc:Choice Requires="p14">
      <p:transition spd="slow" p14:dur="2000" advTm="30743"/>
    </mc:Choice>
    <mc:Fallback xmlns="">
      <p:transition spd="slow" advTm="307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294D65-2078-F141-B26E-CF3FC7204140}"/>
              </a:ext>
            </a:extLst>
          </p:cNvPr>
          <p:cNvPicPr>
            <a:picLocks noChangeAspect="1"/>
          </p:cNvPicPr>
          <p:nvPr/>
        </p:nvPicPr>
        <p:blipFill>
          <a:blip r:embed="rId5"/>
          <a:stretch>
            <a:fillRect/>
          </a:stretch>
        </p:blipFill>
        <p:spPr>
          <a:xfrm>
            <a:off x="1420531" y="1066800"/>
            <a:ext cx="6694767" cy="5276059"/>
          </a:xfrm>
          <a:prstGeom prst="rect">
            <a:avLst/>
          </a:prstGeom>
        </p:spPr>
      </p:pic>
      <p:sp>
        <p:nvSpPr>
          <p:cNvPr id="11" name="Title 1">
            <a:extLst>
              <a:ext uri="{FF2B5EF4-FFF2-40B4-BE49-F238E27FC236}">
                <a16:creationId xmlns:a16="http://schemas.microsoft.com/office/drawing/2014/main" id="{8BA95EC8-F6C9-A247-B6E1-B44CDCEE56B2}"/>
              </a:ext>
            </a:extLst>
          </p:cNvPr>
          <p:cNvSpPr>
            <a:spLocks noGrp="1"/>
          </p:cNvSpPr>
          <p:nvPr>
            <p:ph type="title"/>
          </p:nvPr>
        </p:nvSpPr>
        <p:spPr>
          <a:xfrm>
            <a:off x="457200" y="0"/>
            <a:ext cx="8229600" cy="1143000"/>
          </a:xfrm>
        </p:spPr>
        <p:txBody>
          <a:bodyPr/>
          <a:lstStyle/>
          <a:p>
            <a:r>
              <a:rPr lang="en-US" dirty="0"/>
              <a:t>Importing data into R</a:t>
            </a:r>
          </a:p>
        </p:txBody>
      </p:sp>
      <p:sp>
        <p:nvSpPr>
          <p:cNvPr id="7" name="Oval 6">
            <a:extLst>
              <a:ext uri="{FF2B5EF4-FFF2-40B4-BE49-F238E27FC236}">
                <a16:creationId xmlns:a16="http://schemas.microsoft.com/office/drawing/2014/main" id="{A3AC5A1E-82CF-5740-9B1D-457A3FC9CB45}"/>
              </a:ext>
            </a:extLst>
          </p:cNvPr>
          <p:cNvSpPr/>
          <p:nvPr/>
        </p:nvSpPr>
        <p:spPr>
          <a:xfrm>
            <a:off x="4210050" y="1520103"/>
            <a:ext cx="775854" cy="448397"/>
          </a:xfrm>
          <a:prstGeom prst="ellipse">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 name="Audio 1">
            <a:hlinkClick r:id="" action="ppaction://media"/>
            <a:extLst>
              <a:ext uri="{FF2B5EF4-FFF2-40B4-BE49-F238E27FC236}">
                <a16:creationId xmlns:a16="http://schemas.microsoft.com/office/drawing/2014/main" id="{5F7BDDAE-B259-DA44-9924-5F7A12F91C5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503882294"/>
      </p:ext>
    </p:extLst>
  </p:cSld>
  <p:clrMapOvr>
    <a:masterClrMapping/>
  </p:clrMapOvr>
  <mc:AlternateContent xmlns:mc="http://schemas.openxmlformats.org/markup-compatibility/2006" xmlns:p14="http://schemas.microsoft.com/office/powerpoint/2010/main">
    <mc:Choice Requires="p14">
      <p:transition spd="slow" p14:dur="2000" advTm="9399"/>
    </mc:Choice>
    <mc:Fallback xmlns="">
      <p:transition spd="slow" advTm="93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294D65-2078-F141-B26E-CF3FC7204140}"/>
              </a:ext>
            </a:extLst>
          </p:cNvPr>
          <p:cNvPicPr>
            <a:picLocks noChangeAspect="1"/>
          </p:cNvPicPr>
          <p:nvPr/>
        </p:nvPicPr>
        <p:blipFill>
          <a:blip r:embed="rId5"/>
          <a:stretch>
            <a:fillRect/>
          </a:stretch>
        </p:blipFill>
        <p:spPr>
          <a:xfrm>
            <a:off x="1420531" y="1066800"/>
            <a:ext cx="6694767" cy="5276059"/>
          </a:xfrm>
          <a:prstGeom prst="rect">
            <a:avLst/>
          </a:prstGeom>
        </p:spPr>
      </p:pic>
      <p:sp>
        <p:nvSpPr>
          <p:cNvPr id="11" name="Title 1">
            <a:extLst>
              <a:ext uri="{FF2B5EF4-FFF2-40B4-BE49-F238E27FC236}">
                <a16:creationId xmlns:a16="http://schemas.microsoft.com/office/drawing/2014/main" id="{8BA95EC8-F6C9-A247-B6E1-B44CDCEE56B2}"/>
              </a:ext>
            </a:extLst>
          </p:cNvPr>
          <p:cNvSpPr>
            <a:spLocks noGrp="1"/>
          </p:cNvSpPr>
          <p:nvPr>
            <p:ph type="title"/>
          </p:nvPr>
        </p:nvSpPr>
        <p:spPr>
          <a:xfrm>
            <a:off x="457200" y="0"/>
            <a:ext cx="8229600" cy="1143000"/>
          </a:xfrm>
        </p:spPr>
        <p:txBody>
          <a:bodyPr/>
          <a:lstStyle/>
          <a:p>
            <a:r>
              <a:rPr lang="en-US" dirty="0"/>
              <a:t>Importing data into R</a:t>
            </a:r>
          </a:p>
        </p:txBody>
      </p:sp>
      <p:sp>
        <p:nvSpPr>
          <p:cNvPr id="7" name="Oval 6">
            <a:extLst>
              <a:ext uri="{FF2B5EF4-FFF2-40B4-BE49-F238E27FC236}">
                <a16:creationId xmlns:a16="http://schemas.microsoft.com/office/drawing/2014/main" id="{A3AC5A1E-82CF-5740-9B1D-457A3FC9CB45}"/>
              </a:ext>
            </a:extLst>
          </p:cNvPr>
          <p:cNvSpPr/>
          <p:nvPr/>
        </p:nvSpPr>
        <p:spPr>
          <a:xfrm>
            <a:off x="1159270" y="5692187"/>
            <a:ext cx="3543357" cy="607129"/>
          </a:xfrm>
          <a:prstGeom prst="ellipse">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 name="Audio 1">
            <a:hlinkClick r:id="" action="ppaction://media"/>
            <a:extLst>
              <a:ext uri="{FF2B5EF4-FFF2-40B4-BE49-F238E27FC236}">
                <a16:creationId xmlns:a16="http://schemas.microsoft.com/office/drawing/2014/main" id="{C60F22B0-328C-0741-97FE-E6E5BF84033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166866079"/>
      </p:ext>
    </p:extLst>
  </p:cSld>
  <p:clrMapOvr>
    <a:masterClrMapping/>
  </p:clrMapOvr>
  <mc:AlternateContent xmlns:mc="http://schemas.openxmlformats.org/markup-compatibility/2006" xmlns:p14="http://schemas.microsoft.com/office/powerpoint/2010/main">
    <mc:Choice Requires="p14">
      <p:transition spd="slow" p14:dur="2000" advTm="21409"/>
    </mc:Choice>
    <mc:Fallback xmlns="">
      <p:transition spd="slow" advTm="2140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78E6DEE-72D2-8545-A9A1-D4600DA11BF2}"/>
              </a:ext>
            </a:extLst>
          </p:cNvPr>
          <p:cNvSpPr>
            <a:spLocks noGrp="1"/>
          </p:cNvSpPr>
          <p:nvPr>
            <p:ph type="title"/>
          </p:nvPr>
        </p:nvSpPr>
        <p:spPr>
          <a:xfrm>
            <a:off x="457200" y="0"/>
            <a:ext cx="8229600" cy="1143000"/>
          </a:xfrm>
        </p:spPr>
        <p:txBody>
          <a:bodyPr/>
          <a:lstStyle/>
          <a:p>
            <a:r>
              <a:rPr lang="en-US" dirty="0"/>
              <a:t>Importing data into R</a:t>
            </a:r>
          </a:p>
        </p:txBody>
      </p:sp>
      <p:sp>
        <p:nvSpPr>
          <p:cNvPr id="8" name="Rectangle 7">
            <a:extLst>
              <a:ext uri="{FF2B5EF4-FFF2-40B4-BE49-F238E27FC236}">
                <a16:creationId xmlns:a16="http://schemas.microsoft.com/office/drawing/2014/main" id="{3B214BD4-38EA-924C-AE40-AAB45F4B6AFD}"/>
              </a:ext>
            </a:extLst>
          </p:cNvPr>
          <p:cNvSpPr/>
          <p:nvPr/>
        </p:nvSpPr>
        <p:spPr>
          <a:xfrm>
            <a:off x="593587" y="1500991"/>
            <a:ext cx="8093213" cy="3970318"/>
          </a:xfrm>
          <a:prstGeom prst="rect">
            <a:avLst/>
          </a:prstGeom>
        </p:spPr>
        <p:txBody>
          <a:bodyPr wrap="square">
            <a:spAutoFit/>
          </a:bodyPr>
          <a:lstStyle/>
          <a:p>
            <a:r>
              <a:rPr lang="en-US" sz="1400" dirty="0" err="1">
                <a:solidFill>
                  <a:srgbClr val="0B27FF"/>
                </a:solidFill>
                <a:latin typeface="Monaco" pitchFamily="2" charset="77"/>
              </a:rPr>
              <a:t>hd</a:t>
            </a:r>
            <a:endParaRPr lang="en-US" sz="1400" dirty="0">
              <a:solidFill>
                <a:srgbClr val="0B27FF"/>
              </a:solidFill>
              <a:latin typeface="Monaco" pitchFamily="2" charset="77"/>
            </a:endParaRPr>
          </a:p>
          <a:p>
            <a:r>
              <a:rPr lang="en-US" sz="1400" dirty="0">
                <a:latin typeface="Monaco" pitchFamily="2" charset="77"/>
              </a:rPr>
              <a:t>   </a:t>
            </a:r>
            <a:r>
              <a:rPr lang="en-US" sz="1400" dirty="0" err="1">
                <a:latin typeface="Monaco" pitchFamily="2" charset="77"/>
              </a:rPr>
              <a:t>resp</a:t>
            </a:r>
            <a:r>
              <a:rPr lang="en-US" sz="1400" dirty="0">
                <a:latin typeface="Monaco" pitchFamily="2" charset="77"/>
              </a:rPr>
              <a:t> height sex </a:t>
            </a:r>
            <a:r>
              <a:rPr lang="en-US" sz="1400" dirty="0" err="1">
                <a:latin typeface="Monaco" pitchFamily="2" charset="77"/>
              </a:rPr>
              <a:t>fheight</a:t>
            </a:r>
            <a:r>
              <a:rPr lang="en-US" sz="1400" dirty="0">
                <a:latin typeface="Monaco" pitchFamily="2" charset="77"/>
              </a:rPr>
              <a:t> </a:t>
            </a:r>
            <a:r>
              <a:rPr lang="en-US" sz="1400" dirty="0" err="1">
                <a:latin typeface="Monaco" pitchFamily="2" charset="77"/>
              </a:rPr>
              <a:t>mheight</a:t>
            </a:r>
            <a:r>
              <a:rPr lang="en-US" sz="1400" dirty="0">
                <a:latin typeface="Monaco" pitchFamily="2" charset="77"/>
              </a:rPr>
              <a:t> brothers sisters </a:t>
            </a:r>
            <a:r>
              <a:rPr lang="en-US" sz="1400" dirty="0" err="1">
                <a:latin typeface="Monaco" pitchFamily="2" charset="77"/>
              </a:rPr>
              <a:t>feldcourse</a:t>
            </a:r>
            <a:r>
              <a:rPr lang="en-US" sz="1400" dirty="0">
                <a:latin typeface="Monaco" pitchFamily="2" charset="77"/>
              </a:rPr>
              <a:t> degree</a:t>
            </a:r>
          </a:p>
          <a:p>
            <a:r>
              <a:rPr lang="en-US" sz="1400" dirty="0">
                <a:latin typeface="Monaco" pitchFamily="2" charset="77"/>
              </a:rPr>
              <a:t>1     1  1.740   m   1.778   1.524        0       1         ab    zoo</a:t>
            </a:r>
          </a:p>
          <a:p>
            <a:r>
              <a:rPr lang="en-US" sz="1400" dirty="0">
                <a:latin typeface="Monaco" pitchFamily="2" charset="77"/>
              </a:rPr>
              <a:t>2     2  1.700   f   1.880   1.620        1       0         ca    bio</a:t>
            </a:r>
          </a:p>
          <a:p>
            <a:r>
              <a:rPr lang="en-US" sz="1400" dirty="0">
                <a:latin typeface="Monaco" pitchFamily="2" charset="77"/>
              </a:rPr>
              <a:t>3     3  1.640   f   1.820   1.630        2       0         ab    zoo</a:t>
            </a:r>
          </a:p>
          <a:p>
            <a:r>
              <a:rPr lang="en-US" sz="1400" dirty="0">
                <a:latin typeface="Monaco" pitchFamily="2" charset="77"/>
              </a:rPr>
              <a:t>4     4  1.670   f   1.850   1.650        0       1         </a:t>
            </a:r>
            <a:r>
              <a:rPr lang="en-US" sz="1400" dirty="0" err="1">
                <a:latin typeface="Monaco" pitchFamily="2" charset="77"/>
              </a:rPr>
              <a:t>mb</a:t>
            </a:r>
            <a:r>
              <a:rPr lang="en-US" sz="1400" dirty="0">
                <a:latin typeface="Monaco" pitchFamily="2" charset="77"/>
              </a:rPr>
              <a:t>    bio</a:t>
            </a:r>
          </a:p>
          <a:p>
            <a:r>
              <a:rPr lang="en-US" sz="1400" dirty="0">
                <a:latin typeface="Monaco" pitchFamily="2" charset="77"/>
              </a:rPr>
              <a:t>5     5  1.630   f   1.800   1.570        0       1         </a:t>
            </a:r>
            <a:r>
              <a:rPr lang="en-US" sz="1400" dirty="0" err="1">
                <a:latin typeface="Monaco" pitchFamily="2" charset="77"/>
              </a:rPr>
              <a:t>mb</a:t>
            </a:r>
            <a:r>
              <a:rPr lang="en-US" sz="1400" dirty="0">
                <a:latin typeface="Monaco" pitchFamily="2" charset="77"/>
              </a:rPr>
              <a:t>   seas</a:t>
            </a:r>
          </a:p>
          <a:p>
            <a:r>
              <a:rPr lang="en-US" sz="1400" dirty="0">
                <a:latin typeface="Monaco" pitchFamily="2" charset="77"/>
              </a:rPr>
              <a:t>6     6  1.770   f   2.000   1.730        0       1         ab    bio</a:t>
            </a:r>
          </a:p>
          <a:p>
            <a:r>
              <a:rPr lang="en-US" sz="1400" dirty="0">
                <a:latin typeface="Monaco" pitchFamily="2" charset="77"/>
              </a:rPr>
              <a:t>7     7  1.800   m   1.600   1.500        0       1         be    zoo</a:t>
            </a:r>
          </a:p>
          <a:p>
            <a:r>
              <a:rPr lang="en-US" sz="1400" dirty="0">
                <a:latin typeface="Monaco" pitchFamily="2" charset="77"/>
              </a:rPr>
              <a:t>8     8  1.800   m   1.700   1.650        0       0         ab    bio</a:t>
            </a:r>
          </a:p>
          <a:p>
            <a:r>
              <a:rPr lang="en-US" sz="1400" dirty="0">
                <a:latin typeface="Monaco" pitchFamily="2" charset="77"/>
              </a:rPr>
              <a:t>9     9  1.700   f   1.800   1.600        0       1         </a:t>
            </a:r>
            <a:r>
              <a:rPr lang="en-US" sz="1400" dirty="0" err="1">
                <a:latin typeface="Monaco" pitchFamily="2" charset="77"/>
              </a:rPr>
              <a:t>mb</a:t>
            </a:r>
            <a:r>
              <a:rPr lang="en-US" sz="1400" dirty="0">
                <a:latin typeface="Monaco" pitchFamily="2" charset="77"/>
              </a:rPr>
              <a:t>    bio</a:t>
            </a:r>
          </a:p>
          <a:p>
            <a:r>
              <a:rPr lang="en-US" sz="1400" dirty="0">
                <a:latin typeface="Monaco" pitchFamily="2" charset="77"/>
              </a:rPr>
              <a:t>10   10  1.870   f   1.680   1.530        1       1         ca     ls</a:t>
            </a:r>
          </a:p>
          <a:p>
            <a:r>
              <a:rPr lang="en-US" sz="1400" dirty="0">
                <a:latin typeface="Monaco" pitchFamily="2" charset="77"/>
              </a:rPr>
              <a:t>11   11  1.700   m   1.820   1.670        1       0         ca    bio</a:t>
            </a:r>
          </a:p>
          <a:p>
            <a:r>
              <a:rPr lang="en-US" sz="1400" dirty="0">
                <a:latin typeface="Monaco" pitchFamily="2" charset="77"/>
              </a:rPr>
              <a:t>12   12  1.630   f   1.830   1.600        0       3         be    bio</a:t>
            </a:r>
          </a:p>
          <a:p>
            <a:r>
              <a:rPr lang="en-US" sz="1400" dirty="0">
                <a:latin typeface="Monaco" pitchFamily="2" charset="77"/>
              </a:rPr>
              <a:t>13   13  1.650   f   1.580   1.530        1       2         ca    bio</a:t>
            </a:r>
          </a:p>
          <a:p>
            <a:r>
              <a:rPr lang="en-US" sz="1400" dirty="0">
                <a:latin typeface="Monaco" pitchFamily="2" charset="77"/>
              </a:rPr>
              <a:t>14   14  1.600   f   1.700   1.600        1       0         ca    zoo</a:t>
            </a:r>
          </a:p>
          <a:p>
            <a:r>
              <a:rPr lang="en-US" sz="1400" dirty="0">
                <a:latin typeface="Monaco" pitchFamily="2" charset="77"/>
              </a:rPr>
              <a:t>15   15  1.540   f   2.500   1.530        1       3         be    bio</a:t>
            </a:r>
          </a:p>
          <a:p>
            <a:r>
              <a:rPr lang="en-US" sz="1400" dirty="0">
                <a:latin typeface="Monaco" pitchFamily="2" charset="77"/>
              </a:rPr>
              <a:t>. . .</a:t>
            </a:r>
          </a:p>
        </p:txBody>
      </p:sp>
      <p:pic>
        <p:nvPicPr>
          <p:cNvPr id="2" name="Audio 1">
            <a:hlinkClick r:id="" action="ppaction://media"/>
            <a:extLst>
              <a:ext uri="{FF2B5EF4-FFF2-40B4-BE49-F238E27FC236}">
                <a16:creationId xmlns:a16="http://schemas.microsoft.com/office/drawing/2014/main" id="{8B84343F-7E82-6443-B4EB-3F670F2C4FC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552651738"/>
      </p:ext>
    </p:extLst>
  </p:cSld>
  <p:clrMapOvr>
    <a:masterClrMapping/>
  </p:clrMapOvr>
  <mc:AlternateContent xmlns:mc="http://schemas.openxmlformats.org/markup-compatibility/2006" xmlns:p14="http://schemas.microsoft.com/office/powerpoint/2010/main">
    <mc:Choice Requires="p14">
      <p:transition spd="slow" p14:dur="2000" advTm="30718"/>
    </mc:Choice>
    <mc:Fallback xmlns="">
      <p:transition spd="slow" advTm="307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78E6DEE-72D2-8545-A9A1-D4600DA11BF2}"/>
              </a:ext>
            </a:extLst>
          </p:cNvPr>
          <p:cNvSpPr>
            <a:spLocks noGrp="1"/>
          </p:cNvSpPr>
          <p:nvPr>
            <p:ph type="title"/>
          </p:nvPr>
        </p:nvSpPr>
        <p:spPr>
          <a:xfrm>
            <a:off x="457200" y="0"/>
            <a:ext cx="8229600" cy="1143000"/>
          </a:xfrm>
        </p:spPr>
        <p:txBody>
          <a:bodyPr/>
          <a:lstStyle/>
          <a:p>
            <a:r>
              <a:rPr lang="en-US" dirty="0"/>
              <a:t>Importing data into R</a:t>
            </a:r>
          </a:p>
        </p:txBody>
      </p:sp>
      <p:sp>
        <p:nvSpPr>
          <p:cNvPr id="8" name="Rectangle 7">
            <a:extLst>
              <a:ext uri="{FF2B5EF4-FFF2-40B4-BE49-F238E27FC236}">
                <a16:creationId xmlns:a16="http://schemas.microsoft.com/office/drawing/2014/main" id="{3B214BD4-38EA-924C-AE40-AAB45F4B6AFD}"/>
              </a:ext>
            </a:extLst>
          </p:cNvPr>
          <p:cNvSpPr/>
          <p:nvPr/>
        </p:nvSpPr>
        <p:spPr>
          <a:xfrm>
            <a:off x="593587" y="1500991"/>
            <a:ext cx="8093213" cy="1815882"/>
          </a:xfrm>
          <a:prstGeom prst="rect">
            <a:avLst/>
          </a:prstGeom>
        </p:spPr>
        <p:txBody>
          <a:bodyPr wrap="square">
            <a:spAutoFit/>
          </a:bodyPr>
          <a:lstStyle/>
          <a:p>
            <a:r>
              <a:rPr lang="en-US" sz="1400" dirty="0">
                <a:solidFill>
                  <a:srgbClr val="0B27FF"/>
                </a:solidFill>
                <a:latin typeface="Monaco" pitchFamily="2" charset="77"/>
              </a:rPr>
              <a:t>head(</a:t>
            </a:r>
            <a:r>
              <a:rPr lang="en-US" sz="1400" dirty="0" err="1">
                <a:solidFill>
                  <a:srgbClr val="0B27FF"/>
                </a:solidFill>
                <a:latin typeface="Monaco" pitchFamily="2" charset="77"/>
              </a:rPr>
              <a:t>hd</a:t>
            </a:r>
            <a:r>
              <a:rPr lang="en-US" sz="1400" dirty="0">
                <a:solidFill>
                  <a:srgbClr val="0B27FF"/>
                </a:solidFill>
                <a:latin typeface="Monaco" pitchFamily="2" charset="77"/>
              </a:rPr>
              <a:t>)</a:t>
            </a:r>
          </a:p>
          <a:p>
            <a:r>
              <a:rPr lang="en-US" sz="1400" dirty="0">
                <a:solidFill>
                  <a:srgbClr val="0B27FF"/>
                </a:solidFill>
                <a:latin typeface="Monaco" pitchFamily="2" charset="77"/>
              </a:rPr>
              <a:t>  </a:t>
            </a:r>
            <a:r>
              <a:rPr lang="en-US" sz="1400" dirty="0" err="1">
                <a:latin typeface="Monaco" pitchFamily="2" charset="77"/>
              </a:rPr>
              <a:t>resp</a:t>
            </a:r>
            <a:r>
              <a:rPr lang="en-US" sz="1400" dirty="0">
                <a:latin typeface="Monaco" pitchFamily="2" charset="77"/>
              </a:rPr>
              <a:t> height sex </a:t>
            </a:r>
            <a:r>
              <a:rPr lang="en-US" sz="1400" dirty="0" err="1">
                <a:latin typeface="Monaco" pitchFamily="2" charset="77"/>
              </a:rPr>
              <a:t>fheight</a:t>
            </a:r>
            <a:r>
              <a:rPr lang="en-US" sz="1400" dirty="0">
                <a:latin typeface="Monaco" pitchFamily="2" charset="77"/>
              </a:rPr>
              <a:t> </a:t>
            </a:r>
            <a:r>
              <a:rPr lang="en-US" sz="1400" dirty="0" err="1">
                <a:latin typeface="Monaco" pitchFamily="2" charset="77"/>
              </a:rPr>
              <a:t>mheight</a:t>
            </a:r>
            <a:r>
              <a:rPr lang="en-US" sz="1400" dirty="0">
                <a:latin typeface="Monaco" pitchFamily="2" charset="77"/>
              </a:rPr>
              <a:t> brothers sisters </a:t>
            </a:r>
            <a:r>
              <a:rPr lang="en-US" sz="1400" dirty="0" err="1">
                <a:latin typeface="Monaco" pitchFamily="2" charset="77"/>
              </a:rPr>
              <a:t>feldcourse</a:t>
            </a:r>
            <a:r>
              <a:rPr lang="en-US" sz="1400" dirty="0">
                <a:latin typeface="Monaco" pitchFamily="2" charset="77"/>
              </a:rPr>
              <a:t> degree</a:t>
            </a:r>
          </a:p>
          <a:p>
            <a:r>
              <a:rPr lang="en-US" sz="1400" dirty="0">
                <a:latin typeface="Monaco" pitchFamily="2" charset="77"/>
              </a:rPr>
              <a:t>1    1   1.74   m   1.778   1.524        0       1         ab    zoo</a:t>
            </a:r>
          </a:p>
          <a:p>
            <a:r>
              <a:rPr lang="en-US" sz="1400" dirty="0">
                <a:latin typeface="Monaco" pitchFamily="2" charset="77"/>
              </a:rPr>
              <a:t>2    2   1.70   f   1.880   1.620        1       0         ca    bio</a:t>
            </a:r>
          </a:p>
          <a:p>
            <a:r>
              <a:rPr lang="en-US" sz="1400" dirty="0">
                <a:latin typeface="Monaco" pitchFamily="2" charset="77"/>
              </a:rPr>
              <a:t>3    3   1.64   f   1.820   1.630        2       0         ab    zoo</a:t>
            </a:r>
          </a:p>
          <a:p>
            <a:r>
              <a:rPr lang="en-US" sz="1400" dirty="0">
                <a:latin typeface="Monaco" pitchFamily="2" charset="77"/>
              </a:rPr>
              <a:t>4    4   1.67   f   1.850   1.650        0       1         </a:t>
            </a:r>
            <a:r>
              <a:rPr lang="en-US" sz="1400" dirty="0" err="1">
                <a:latin typeface="Monaco" pitchFamily="2" charset="77"/>
              </a:rPr>
              <a:t>mb</a:t>
            </a:r>
            <a:r>
              <a:rPr lang="en-US" sz="1400" dirty="0">
                <a:latin typeface="Monaco" pitchFamily="2" charset="77"/>
              </a:rPr>
              <a:t>    bio</a:t>
            </a:r>
          </a:p>
          <a:p>
            <a:r>
              <a:rPr lang="en-US" sz="1400" dirty="0">
                <a:latin typeface="Monaco" pitchFamily="2" charset="77"/>
              </a:rPr>
              <a:t>5    5   1.63   f   1.800   1.570        0       1         </a:t>
            </a:r>
            <a:r>
              <a:rPr lang="en-US" sz="1400" dirty="0" err="1">
                <a:latin typeface="Monaco" pitchFamily="2" charset="77"/>
              </a:rPr>
              <a:t>mb</a:t>
            </a:r>
            <a:r>
              <a:rPr lang="en-US" sz="1400" dirty="0">
                <a:latin typeface="Monaco" pitchFamily="2" charset="77"/>
              </a:rPr>
              <a:t>   seas</a:t>
            </a:r>
          </a:p>
          <a:p>
            <a:r>
              <a:rPr lang="en-US" sz="1400" dirty="0">
                <a:latin typeface="Monaco" pitchFamily="2" charset="77"/>
              </a:rPr>
              <a:t>6    6   1.77   f   2.000   1.730        0       1         ab    bio</a:t>
            </a:r>
          </a:p>
        </p:txBody>
      </p:sp>
      <p:pic>
        <p:nvPicPr>
          <p:cNvPr id="2" name="Audio 1">
            <a:hlinkClick r:id="" action="ppaction://media"/>
            <a:extLst>
              <a:ext uri="{FF2B5EF4-FFF2-40B4-BE49-F238E27FC236}">
                <a16:creationId xmlns:a16="http://schemas.microsoft.com/office/drawing/2014/main" id="{8F2E1768-F9AB-BB46-BC3A-7035CBD23AB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713736944"/>
      </p:ext>
    </p:extLst>
  </p:cSld>
  <p:clrMapOvr>
    <a:masterClrMapping/>
  </p:clrMapOvr>
  <mc:AlternateContent xmlns:mc="http://schemas.openxmlformats.org/markup-compatibility/2006" xmlns:p14="http://schemas.microsoft.com/office/powerpoint/2010/main">
    <mc:Choice Requires="p14">
      <p:transition spd="slow" p14:dur="2000" advTm="14243"/>
    </mc:Choice>
    <mc:Fallback xmlns="">
      <p:transition spd="slow" advTm="142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57200" y="274638"/>
            <a:ext cx="8229600" cy="1143000"/>
          </a:xfrm>
        </p:spPr>
        <p:txBody>
          <a:bodyPr>
            <a:normAutofit/>
          </a:bodyPr>
          <a:lstStyle/>
          <a:p>
            <a:r>
              <a:rPr lang="en-US" dirty="0"/>
              <a:t>Implementing a t-test in R</a:t>
            </a:r>
          </a:p>
        </p:txBody>
      </p:sp>
      <p:pic>
        <p:nvPicPr>
          <p:cNvPr id="3" name="Audio 2">
            <a:hlinkClick r:id="" action="ppaction://media"/>
            <a:extLst>
              <a:ext uri="{FF2B5EF4-FFF2-40B4-BE49-F238E27FC236}">
                <a16:creationId xmlns:a16="http://schemas.microsoft.com/office/drawing/2014/main" id="{66BCC37D-1AC8-1F40-8B12-26B195AE53E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7052518"/>
      </p:ext>
    </p:extLst>
  </p:cSld>
  <p:clrMapOvr>
    <a:masterClrMapping/>
  </p:clrMapOvr>
  <mc:AlternateContent xmlns:mc="http://schemas.openxmlformats.org/markup-compatibility/2006" xmlns:p14="http://schemas.microsoft.com/office/powerpoint/2010/main">
    <mc:Choice Requires="p14">
      <p:transition spd="slow" p14:dur="2000" advTm="31366"/>
    </mc:Choice>
    <mc:Fallback xmlns="">
      <p:transition spd="slow" advTm="313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111136"/>
            <a:ext cx="8229600" cy="3046988"/>
          </a:xfrm>
          <a:prstGeom prst="rect">
            <a:avLst/>
          </a:prstGeom>
          <a:noFill/>
        </p:spPr>
        <p:txBody>
          <a:bodyPr wrap="square" rtlCol="0">
            <a:spAutoFit/>
          </a:bodyPr>
          <a:lstStyle/>
          <a:p>
            <a:r>
              <a:rPr lang="en-US" sz="2400" dirty="0" err="1">
                <a:solidFill>
                  <a:srgbClr val="3366FF"/>
                </a:solidFill>
                <a:latin typeface="Monaco"/>
                <a:cs typeface="Monaco"/>
              </a:rPr>
              <a:t>hd$height</a:t>
            </a:r>
            <a:endParaRPr lang="en-US" sz="2400" dirty="0">
              <a:solidFill>
                <a:srgbClr val="3366FF"/>
              </a:solidFill>
              <a:latin typeface="Monaco"/>
              <a:cs typeface="Monaco"/>
            </a:endParaRPr>
          </a:p>
          <a:p>
            <a:r>
              <a:rPr lang="en-US" sz="2400" dirty="0">
                <a:latin typeface="Monaco"/>
                <a:cs typeface="Monaco"/>
              </a:rPr>
              <a:t> [1] 1.740 1.700 1.640 1.670 1.630 1.770</a:t>
            </a:r>
          </a:p>
          <a:p>
            <a:r>
              <a:rPr lang="en-US" sz="2400" dirty="0">
                <a:latin typeface="Monaco"/>
                <a:cs typeface="Monaco"/>
              </a:rPr>
              <a:t> [7] 1.800 1.800 1.700 1.870 1.700 1.630</a:t>
            </a:r>
          </a:p>
          <a:p>
            <a:r>
              <a:rPr lang="en-US" sz="2400" dirty="0">
                <a:latin typeface="Monaco"/>
                <a:cs typeface="Monaco"/>
              </a:rPr>
              <a:t>[13] 1.650 1.600 1.540 1.720 1.540 1.420</a:t>
            </a:r>
          </a:p>
          <a:p>
            <a:r>
              <a:rPr lang="en-US" sz="2400" dirty="0">
                <a:latin typeface="Monaco"/>
                <a:cs typeface="Monaco"/>
              </a:rPr>
              <a:t>[19] 1.630 1.600 1.702 1.670 1.600 1.700</a:t>
            </a:r>
          </a:p>
          <a:p>
            <a:r>
              <a:rPr lang="en-US" sz="2400" dirty="0">
                <a:latin typeface="Monaco"/>
                <a:cs typeface="Monaco"/>
              </a:rPr>
              <a:t>[25] 1.800 1.760 1.700 1.830 1.800 1.780</a:t>
            </a:r>
          </a:p>
          <a:p>
            <a:r>
              <a:rPr lang="en-US" sz="2400" dirty="0">
                <a:latin typeface="Monaco"/>
                <a:cs typeface="Monaco"/>
              </a:rPr>
              <a:t>[31] 1.800 1.680 1.600 1.700 1.500 1.930</a:t>
            </a:r>
          </a:p>
          <a:p>
            <a:r>
              <a:rPr lang="en-US" sz="2400" dirty="0">
                <a:latin typeface="Monaco"/>
                <a:cs typeface="Monaco"/>
              </a:rPr>
              <a:t>[37] 1.570 1.640</a:t>
            </a:r>
          </a:p>
        </p:txBody>
      </p:sp>
      <p:sp>
        <p:nvSpPr>
          <p:cNvPr id="5" name="Title 1"/>
          <p:cNvSpPr>
            <a:spLocks noGrp="1"/>
          </p:cNvSpPr>
          <p:nvPr>
            <p:ph type="title"/>
          </p:nvPr>
        </p:nvSpPr>
        <p:spPr>
          <a:xfrm>
            <a:off x="457200" y="274638"/>
            <a:ext cx="8229600" cy="1143000"/>
          </a:xfrm>
        </p:spPr>
        <p:txBody>
          <a:bodyPr>
            <a:normAutofit/>
          </a:bodyPr>
          <a:lstStyle/>
          <a:p>
            <a:r>
              <a:rPr lang="en-US" dirty="0"/>
              <a:t>Implementing a t-test in R</a:t>
            </a:r>
          </a:p>
        </p:txBody>
      </p:sp>
      <p:pic>
        <p:nvPicPr>
          <p:cNvPr id="3" name="Audio 2">
            <a:hlinkClick r:id="" action="ppaction://media"/>
            <a:extLst>
              <a:ext uri="{FF2B5EF4-FFF2-40B4-BE49-F238E27FC236}">
                <a16:creationId xmlns:a16="http://schemas.microsoft.com/office/drawing/2014/main" id="{9FFFDA7F-6C23-0944-9992-9F79444FAD8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451441100"/>
      </p:ext>
    </p:extLst>
  </p:cSld>
  <p:clrMapOvr>
    <a:masterClrMapping/>
  </p:clrMapOvr>
  <mc:AlternateContent xmlns:mc="http://schemas.openxmlformats.org/markup-compatibility/2006" xmlns:p14="http://schemas.microsoft.com/office/powerpoint/2010/main">
    <mc:Choice Requires="p14">
      <p:transition spd="slow" p14:dur="2000" advTm="25587"/>
    </mc:Choice>
    <mc:Fallback xmlns="">
      <p:transition spd="slow" advTm="2558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111136"/>
            <a:ext cx="8229600" cy="1200329"/>
          </a:xfrm>
          <a:prstGeom prst="rect">
            <a:avLst/>
          </a:prstGeom>
          <a:noFill/>
        </p:spPr>
        <p:txBody>
          <a:bodyPr wrap="square" rtlCol="0">
            <a:spAutoFit/>
          </a:bodyPr>
          <a:lstStyle/>
          <a:p>
            <a:r>
              <a:rPr lang="en-US" sz="2400" dirty="0" err="1">
                <a:solidFill>
                  <a:srgbClr val="3366FF"/>
                </a:solidFill>
                <a:latin typeface="Monaco"/>
                <a:cs typeface="Monaco"/>
              </a:rPr>
              <a:t>hd$height</a:t>
            </a:r>
            <a:r>
              <a:rPr lang="en-US" sz="2400" dirty="0">
                <a:solidFill>
                  <a:srgbClr val="3366FF"/>
                </a:solidFill>
                <a:latin typeface="Monaco"/>
                <a:cs typeface="Monaco"/>
              </a:rPr>
              <a:t>[which(</a:t>
            </a:r>
            <a:r>
              <a:rPr lang="en-US" sz="2400" dirty="0" err="1">
                <a:solidFill>
                  <a:srgbClr val="3366FF"/>
                </a:solidFill>
                <a:latin typeface="Monaco"/>
                <a:cs typeface="Monaco"/>
              </a:rPr>
              <a:t>hd$sex</a:t>
            </a:r>
            <a:r>
              <a:rPr lang="en-US" sz="2400" dirty="0">
                <a:solidFill>
                  <a:srgbClr val="3366FF"/>
                </a:solidFill>
                <a:latin typeface="Monaco"/>
                <a:cs typeface="Monaco"/>
              </a:rPr>
              <a:t>=="m")]</a:t>
            </a:r>
          </a:p>
          <a:p>
            <a:r>
              <a:rPr lang="en-US" sz="2400" dirty="0">
                <a:solidFill>
                  <a:srgbClr val="3366FF"/>
                </a:solidFill>
                <a:latin typeface="Monaco"/>
                <a:cs typeface="Monaco"/>
              </a:rPr>
              <a:t> </a:t>
            </a:r>
            <a:r>
              <a:rPr lang="en-US" sz="2400" dirty="0">
                <a:latin typeface="Monaco"/>
                <a:cs typeface="Monaco"/>
              </a:rPr>
              <a:t>[1] 1.74 1.80 1.80 1.70 1.72 1.63 1.80</a:t>
            </a:r>
          </a:p>
          <a:p>
            <a:r>
              <a:rPr lang="en-US" sz="2400" dirty="0">
                <a:latin typeface="Monaco"/>
                <a:cs typeface="Monaco"/>
              </a:rPr>
              <a:t> [8] 1.76 1.83 1.80 1.78 1.50 1.93</a:t>
            </a:r>
          </a:p>
        </p:txBody>
      </p:sp>
      <p:sp>
        <p:nvSpPr>
          <p:cNvPr id="5" name="Title 1"/>
          <p:cNvSpPr>
            <a:spLocks noGrp="1"/>
          </p:cNvSpPr>
          <p:nvPr>
            <p:ph type="title"/>
          </p:nvPr>
        </p:nvSpPr>
        <p:spPr>
          <a:xfrm>
            <a:off x="457200" y="274638"/>
            <a:ext cx="8229600" cy="1143000"/>
          </a:xfrm>
        </p:spPr>
        <p:txBody>
          <a:bodyPr>
            <a:normAutofit/>
          </a:bodyPr>
          <a:lstStyle/>
          <a:p>
            <a:r>
              <a:rPr lang="en-US" dirty="0"/>
              <a:t>Implementing a t-test in R</a:t>
            </a:r>
          </a:p>
        </p:txBody>
      </p:sp>
      <p:pic>
        <p:nvPicPr>
          <p:cNvPr id="3" name="Audio 2">
            <a:hlinkClick r:id="" action="ppaction://media"/>
            <a:extLst>
              <a:ext uri="{FF2B5EF4-FFF2-40B4-BE49-F238E27FC236}">
                <a16:creationId xmlns:a16="http://schemas.microsoft.com/office/drawing/2014/main" id="{9B650C07-105D-DC4C-A65D-633DCD3E521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519496406"/>
      </p:ext>
    </p:extLst>
  </p:cSld>
  <p:clrMapOvr>
    <a:masterClrMapping/>
  </p:clrMapOvr>
  <mc:AlternateContent xmlns:mc="http://schemas.openxmlformats.org/markup-compatibility/2006" xmlns:p14="http://schemas.microsoft.com/office/powerpoint/2010/main">
    <mc:Choice Requires="p14">
      <p:transition spd="slow" p14:dur="2000" advTm="51356"/>
    </mc:Choice>
    <mc:Fallback xmlns="">
      <p:transition spd="slow" advTm="513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111136"/>
            <a:ext cx="8229600" cy="461665"/>
          </a:xfrm>
          <a:prstGeom prst="rect">
            <a:avLst/>
          </a:prstGeom>
          <a:noFill/>
        </p:spPr>
        <p:txBody>
          <a:bodyPr wrap="square" rtlCol="0">
            <a:spAutoFit/>
          </a:bodyPr>
          <a:lstStyle/>
          <a:p>
            <a:r>
              <a:rPr lang="en-US" sz="2400" dirty="0" err="1">
                <a:solidFill>
                  <a:srgbClr val="3366FF"/>
                </a:solidFill>
                <a:latin typeface="Monaco"/>
                <a:cs typeface="Monaco"/>
              </a:rPr>
              <a:t>male_height</a:t>
            </a:r>
            <a:r>
              <a:rPr lang="en-US" sz="2400" dirty="0">
                <a:solidFill>
                  <a:srgbClr val="3366FF"/>
                </a:solidFill>
                <a:latin typeface="Monaco"/>
                <a:cs typeface="Monaco"/>
              </a:rPr>
              <a:t>=</a:t>
            </a:r>
            <a:r>
              <a:rPr lang="en-US" sz="2400" dirty="0" err="1">
                <a:solidFill>
                  <a:srgbClr val="3366FF"/>
                </a:solidFill>
                <a:latin typeface="Monaco"/>
                <a:cs typeface="Monaco"/>
              </a:rPr>
              <a:t>hd$height</a:t>
            </a:r>
            <a:r>
              <a:rPr lang="en-US" sz="2400" dirty="0">
                <a:solidFill>
                  <a:srgbClr val="3366FF"/>
                </a:solidFill>
                <a:latin typeface="Monaco"/>
                <a:cs typeface="Monaco"/>
              </a:rPr>
              <a:t>[which(</a:t>
            </a:r>
            <a:r>
              <a:rPr lang="en-US" sz="2400" dirty="0" err="1">
                <a:solidFill>
                  <a:srgbClr val="3366FF"/>
                </a:solidFill>
                <a:latin typeface="Monaco"/>
                <a:cs typeface="Monaco"/>
              </a:rPr>
              <a:t>hd$sex</a:t>
            </a:r>
            <a:r>
              <a:rPr lang="en-US" sz="2400" dirty="0">
                <a:solidFill>
                  <a:srgbClr val="3366FF"/>
                </a:solidFill>
                <a:latin typeface="Monaco"/>
                <a:cs typeface="Monaco"/>
              </a:rPr>
              <a:t>=="m")]</a:t>
            </a:r>
            <a:endParaRPr lang="en-US" sz="2400" dirty="0">
              <a:latin typeface="Monaco"/>
              <a:cs typeface="Monaco"/>
            </a:endParaRPr>
          </a:p>
        </p:txBody>
      </p:sp>
      <p:sp>
        <p:nvSpPr>
          <p:cNvPr id="5" name="Title 1"/>
          <p:cNvSpPr>
            <a:spLocks noGrp="1"/>
          </p:cNvSpPr>
          <p:nvPr>
            <p:ph type="title"/>
          </p:nvPr>
        </p:nvSpPr>
        <p:spPr>
          <a:xfrm>
            <a:off x="457200" y="274638"/>
            <a:ext cx="8229600" cy="1143000"/>
          </a:xfrm>
        </p:spPr>
        <p:txBody>
          <a:bodyPr>
            <a:normAutofit/>
          </a:bodyPr>
          <a:lstStyle/>
          <a:p>
            <a:r>
              <a:rPr lang="en-US" dirty="0"/>
              <a:t>Implementing a t-test in R</a:t>
            </a:r>
          </a:p>
        </p:txBody>
      </p:sp>
      <p:pic>
        <p:nvPicPr>
          <p:cNvPr id="3" name="Audio 2">
            <a:hlinkClick r:id="" action="ppaction://media"/>
            <a:extLst>
              <a:ext uri="{FF2B5EF4-FFF2-40B4-BE49-F238E27FC236}">
                <a16:creationId xmlns:a16="http://schemas.microsoft.com/office/drawing/2014/main" id="{B31D534C-DA9F-C04E-8CAF-97550B54B0F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886820650"/>
      </p:ext>
    </p:extLst>
  </p:cSld>
  <p:clrMapOvr>
    <a:masterClrMapping/>
  </p:clrMapOvr>
  <mc:AlternateContent xmlns:mc="http://schemas.openxmlformats.org/markup-compatibility/2006" xmlns:p14="http://schemas.microsoft.com/office/powerpoint/2010/main">
    <mc:Choice Requires="p14">
      <p:transition spd="slow" p14:dur="2000" advTm="12804"/>
    </mc:Choice>
    <mc:Fallback xmlns="">
      <p:transition spd="slow" advTm="1280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111136"/>
            <a:ext cx="8229600" cy="1569660"/>
          </a:xfrm>
          <a:prstGeom prst="rect">
            <a:avLst/>
          </a:prstGeom>
          <a:noFill/>
        </p:spPr>
        <p:txBody>
          <a:bodyPr wrap="square" rtlCol="0">
            <a:spAutoFit/>
          </a:bodyPr>
          <a:lstStyle/>
          <a:p>
            <a:r>
              <a:rPr lang="en-US" sz="2400" dirty="0" err="1">
                <a:solidFill>
                  <a:srgbClr val="3366FF"/>
                </a:solidFill>
                <a:latin typeface="Monaco"/>
                <a:cs typeface="Monaco"/>
              </a:rPr>
              <a:t>male_height</a:t>
            </a:r>
            <a:r>
              <a:rPr lang="en-US" sz="2400" dirty="0">
                <a:solidFill>
                  <a:srgbClr val="3366FF"/>
                </a:solidFill>
                <a:latin typeface="Monaco"/>
                <a:cs typeface="Monaco"/>
              </a:rPr>
              <a:t>=</a:t>
            </a:r>
            <a:r>
              <a:rPr lang="en-US" sz="2400" dirty="0" err="1">
                <a:solidFill>
                  <a:srgbClr val="3366FF"/>
                </a:solidFill>
                <a:latin typeface="Monaco"/>
                <a:cs typeface="Monaco"/>
              </a:rPr>
              <a:t>hd$height</a:t>
            </a:r>
            <a:r>
              <a:rPr lang="en-US" sz="2400" dirty="0">
                <a:solidFill>
                  <a:srgbClr val="3366FF"/>
                </a:solidFill>
                <a:latin typeface="Monaco"/>
                <a:cs typeface="Monaco"/>
              </a:rPr>
              <a:t>[which(</a:t>
            </a:r>
            <a:r>
              <a:rPr lang="en-US" sz="2400" dirty="0" err="1">
                <a:solidFill>
                  <a:srgbClr val="3366FF"/>
                </a:solidFill>
                <a:latin typeface="Monaco"/>
                <a:cs typeface="Monaco"/>
              </a:rPr>
              <a:t>hd$sex</a:t>
            </a:r>
            <a:r>
              <a:rPr lang="en-US" sz="2400" dirty="0">
                <a:solidFill>
                  <a:srgbClr val="3366FF"/>
                </a:solidFill>
                <a:latin typeface="Monaco"/>
                <a:cs typeface="Monaco"/>
              </a:rPr>
              <a:t>=="m")]</a:t>
            </a:r>
          </a:p>
          <a:p>
            <a:endParaRPr lang="en-US" sz="2400" dirty="0">
              <a:solidFill>
                <a:srgbClr val="3366FF"/>
              </a:solidFill>
              <a:latin typeface="Monaco"/>
              <a:cs typeface="Monaco"/>
            </a:endParaRPr>
          </a:p>
          <a:p>
            <a:r>
              <a:rPr lang="en-US" sz="2400" dirty="0">
                <a:solidFill>
                  <a:srgbClr val="3366FF"/>
                </a:solidFill>
                <a:latin typeface="Monaco"/>
              </a:rPr>
              <a:t>mean(</a:t>
            </a:r>
            <a:r>
              <a:rPr lang="en-US" sz="2400" dirty="0" err="1">
                <a:solidFill>
                  <a:srgbClr val="3366FF"/>
                </a:solidFill>
                <a:latin typeface="Monaco"/>
              </a:rPr>
              <a:t>male_height</a:t>
            </a:r>
            <a:r>
              <a:rPr lang="en-US" sz="2400" dirty="0">
                <a:solidFill>
                  <a:srgbClr val="3366FF"/>
                </a:solidFill>
                <a:latin typeface="Monaco"/>
              </a:rPr>
              <a:t>)</a:t>
            </a:r>
          </a:p>
          <a:p>
            <a:r>
              <a:rPr lang="en-US" sz="2400" dirty="0">
                <a:latin typeface="Monaco"/>
                <a:cs typeface="Monaco"/>
              </a:rPr>
              <a:t>[1] 1.753077</a:t>
            </a:r>
          </a:p>
        </p:txBody>
      </p:sp>
      <p:sp>
        <p:nvSpPr>
          <p:cNvPr id="5" name="Title 1"/>
          <p:cNvSpPr>
            <a:spLocks noGrp="1"/>
          </p:cNvSpPr>
          <p:nvPr>
            <p:ph type="title"/>
          </p:nvPr>
        </p:nvSpPr>
        <p:spPr>
          <a:xfrm>
            <a:off x="457200" y="274638"/>
            <a:ext cx="8229600" cy="1143000"/>
          </a:xfrm>
        </p:spPr>
        <p:txBody>
          <a:bodyPr>
            <a:normAutofit/>
          </a:bodyPr>
          <a:lstStyle/>
          <a:p>
            <a:r>
              <a:rPr lang="en-US" dirty="0"/>
              <a:t>Implementing a t-test in R</a:t>
            </a:r>
          </a:p>
        </p:txBody>
      </p:sp>
      <p:pic>
        <p:nvPicPr>
          <p:cNvPr id="3" name="Audio 2">
            <a:hlinkClick r:id="" action="ppaction://media"/>
            <a:extLst>
              <a:ext uri="{FF2B5EF4-FFF2-40B4-BE49-F238E27FC236}">
                <a16:creationId xmlns:a16="http://schemas.microsoft.com/office/drawing/2014/main" id="{3DA8B3C1-EE31-8149-8F35-44E3114F69C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497573177"/>
      </p:ext>
    </p:extLst>
  </p:cSld>
  <p:clrMapOvr>
    <a:masterClrMapping/>
  </p:clrMapOvr>
  <mc:AlternateContent xmlns:mc="http://schemas.openxmlformats.org/markup-compatibility/2006" xmlns:p14="http://schemas.microsoft.com/office/powerpoint/2010/main">
    <mc:Choice Requires="p14">
      <p:transition spd="slow" p14:dur="2000" advTm="8029"/>
    </mc:Choice>
    <mc:Fallback xmlns="">
      <p:transition spd="slow" advTm="80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111136"/>
            <a:ext cx="8229600" cy="3416320"/>
          </a:xfrm>
          <a:prstGeom prst="rect">
            <a:avLst/>
          </a:prstGeom>
          <a:noFill/>
        </p:spPr>
        <p:txBody>
          <a:bodyPr wrap="square" rtlCol="0">
            <a:spAutoFit/>
          </a:bodyPr>
          <a:lstStyle/>
          <a:p>
            <a:r>
              <a:rPr lang="en-US" sz="2400" dirty="0" err="1">
                <a:solidFill>
                  <a:srgbClr val="3366FF"/>
                </a:solidFill>
                <a:latin typeface="Monaco"/>
                <a:cs typeface="Monaco"/>
              </a:rPr>
              <a:t>male_height</a:t>
            </a:r>
            <a:r>
              <a:rPr lang="en-US" sz="2400" dirty="0">
                <a:solidFill>
                  <a:srgbClr val="3366FF"/>
                </a:solidFill>
                <a:latin typeface="Monaco"/>
                <a:cs typeface="Monaco"/>
              </a:rPr>
              <a:t>=</a:t>
            </a:r>
            <a:r>
              <a:rPr lang="en-US" sz="2400" dirty="0" err="1">
                <a:solidFill>
                  <a:srgbClr val="3366FF"/>
                </a:solidFill>
                <a:latin typeface="Monaco"/>
                <a:cs typeface="Monaco"/>
              </a:rPr>
              <a:t>hd$height</a:t>
            </a:r>
            <a:r>
              <a:rPr lang="en-US" sz="2400" dirty="0">
                <a:solidFill>
                  <a:srgbClr val="3366FF"/>
                </a:solidFill>
                <a:latin typeface="Monaco"/>
                <a:cs typeface="Monaco"/>
              </a:rPr>
              <a:t>[which(</a:t>
            </a:r>
            <a:r>
              <a:rPr lang="en-US" sz="2400" dirty="0" err="1">
                <a:solidFill>
                  <a:srgbClr val="3366FF"/>
                </a:solidFill>
                <a:latin typeface="Monaco"/>
                <a:cs typeface="Monaco"/>
              </a:rPr>
              <a:t>hd$sex</a:t>
            </a:r>
            <a:r>
              <a:rPr lang="en-US" sz="2400" dirty="0">
                <a:solidFill>
                  <a:srgbClr val="3366FF"/>
                </a:solidFill>
                <a:latin typeface="Monaco"/>
                <a:cs typeface="Monaco"/>
              </a:rPr>
              <a:t>=="m")]</a:t>
            </a:r>
          </a:p>
          <a:p>
            <a:endParaRPr lang="en-US" sz="2400" dirty="0">
              <a:solidFill>
                <a:srgbClr val="3366FF"/>
              </a:solidFill>
              <a:latin typeface="Monaco"/>
              <a:cs typeface="Monaco"/>
            </a:endParaRPr>
          </a:p>
          <a:p>
            <a:r>
              <a:rPr lang="en-US" sz="2400" dirty="0">
                <a:solidFill>
                  <a:srgbClr val="3366FF"/>
                </a:solidFill>
                <a:latin typeface="Monaco"/>
              </a:rPr>
              <a:t>mean(</a:t>
            </a:r>
            <a:r>
              <a:rPr lang="en-US" sz="2400" dirty="0" err="1">
                <a:solidFill>
                  <a:srgbClr val="3366FF"/>
                </a:solidFill>
                <a:latin typeface="Monaco"/>
              </a:rPr>
              <a:t>male_height</a:t>
            </a:r>
            <a:r>
              <a:rPr lang="en-US" sz="2400" dirty="0">
                <a:solidFill>
                  <a:srgbClr val="3366FF"/>
                </a:solidFill>
                <a:latin typeface="Monaco"/>
              </a:rPr>
              <a:t>)</a:t>
            </a:r>
          </a:p>
          <a:p>
            <a:r>
              <a:rPr lang="en-US" sz="2400" dirty="0">
                <a:latin typeface="Monaco"/>
                <a:cs typeface="Monaco"/>
              </a:rPr>
              <a:t>[1] 1.753077</a:t>
            </a:r>
          </a:p>
          <a:p>
            <a:endParaRPr lang="en-US" sz="2400" dirty="0">
              <a:latin typeface="Monaco"/>
              <a:cs typeface="Monaco"/>
            </a:endParaRPr>
          </a:p>
          <a:p>
            <a:r>
              <a:rPr lang="en-US" sz="2400" dirty="0" err="1">
                <a:solidFill>
                  <a:srgbClr val="3366FF"/>
                </a:solidFill>
                <a:latin typeface="Monaco"/>
              </a:rPr>
              <a:t>female_height</a:t>
            </a:r>
            <a:r>
              <a:rPr lang="en-US" sz="2400" dirty="0">
                <a:solidFill>
                  <a:srgbClr val="3366FF"/>
                </a:solidFill>
                <a:latin typeface="Monaco"/>
              </a:rPr>
              <a:t>=</a:t>
            </a:r>
            <a:r>
              <a:rPr lang="en-US" sz="2400" dirty="0" err="1">
                <a:solidFill>
                  <a:srgbClr val="3366FF"/>
                </a:solidFill>
                <a:latin typeface="Monaco"/>
              </a:rPr>
              <a:t>hd$height</a:t>
            </a:r>
            <a:r>
              <a:rPr lang="en-US" sz="2400" dirty="0">
                <a:solidFill>
                  <a:srgbClr val="3366FF"/>
                </a:solidFill>
                <a:latin typeface="Monaco"/>
              </a:rPr>
              <a:t>[which(</a:t>
            </a:r>
            <a:r>
              <a:rPr lang="en-US" sz="2400" dirty="0" err="1">
                <a:solidFill>
                  <a:srgbClr val="3366FF"/>
                </a:solidFill>
                <a:latin typeface="Monaco"/>
              </a:rPr>
              <a:t>hd$sex</a:t>
            </a:r>
            <a:r>
              <a:rPr lang="en-US" sz="2400" dirty="0">
                <a:solidFill>
                  <a:srgbClr val="3366FF"/>
                </a:solidFill>
                <a:latin typeface="Monaco"/>
              </a:rPr>
              <a:t>=="f")]</a:t>
            </a:r>
          </a:p>
          <a:p>
            <a:endParaRPr lang="en-US" sz="2400" dirty="0">
              <a:solidFill>
                <a:srgbClr val="3366FF"/>
              </a:solidFill>
              <a:latin typeface="Monaco"/>
            </a:endParaRPr>
          </a:p>
          <a:p>
            <a:r>
              <a:rPr lang="en-US" sz="2400" dirty="0">
                <a:solidFill>
                  <a:srgbClr val="3366FF"/>
                </a:solidFill>
                <a:latin typeface="Monaco"/>
              </a:rPr>
              <a:t>mean(</a:t>
            </a:r>
            <a:r>
              <a:rPr lang="en-US" sz="2400" dirty="0" err="1">
                <a:solidFill>
                  <a:srgbClr val="3366FF"/>
                </a:solidFill>
                <a:latin typeface="Monaco"/>
              </a:rPr>
              <a:t>female_height</a:t>
            </a:r>
            <a:r>
              <a:rPr lang="en-US" sz="2400" dirty="0">
                <a:solidFill>
                  <a:srgbClr val="3366FF"/>
                </a:solidFill>
                <a:latin typeface="Monaco"/>
              </a:rPr>
              <a:t>)</a:t>
            </a:r>
          </a:p>
          <a:p>
            <a:r>
              <a:rPr lang="en-US" sz="2400" dirty="0">
                <a:latin typeface="Monaco"/>
                <a:cs typeface="Monaco"/>
              </a:rPr>
              <a:t>[1] 1.65288</a:t>
            </a:r>
          </a:p>
        </p:txBody>
      </p:sp>
      <p:sp>
        <p:nvSpPr>
          <p:cNvPr id="5" name="Title 1"/>
          <p:cNvSpPr>
            <a:spLocks noGrp="1"/>
          </p:cNvSpPr>
          <p:nvPr>
            <p:ph type="title"/>
          </p:nvPr>
        </p:nvSpPr>
        <p:spPr>
          <a:xfrm>
            <a:off x="457200" y="274638"/>
            <a:ext cx="8229600" cy="1143000"/>
          </a:xfrm>
        </p:spPr>
        <p:txBody>
          <a:bodyPr>
            <a:normAutofit/>
          </a:bodyPr>
          <a:lstStyle/>
          <a:p>
            <a:r>
              <a:rPr lang="en-US" dirty="0"/>
              <a:t>Implementing a t-test in R</a:t>
            </a:r>
          </a:p>
        </p:txBody>
      </p:sp>
      <p:pic>
        <p:nvPicPr>
          <p:cNvPr id="3" name="Audio 2">
            <a:hlinkClick r:id="" action="ppaction://media"/>
            <a:extLst>
              <a:ext uri="{FF2B5EF4-FFF2-40B4-BE49-F238E27FC236}">
                <a16:creationId xmlns:a16="http://schemas.microsoft.com/office/drawing/2014/main" id="{3B1277FA-CBB1-D94C-8BDB-E3836C1B274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4217640000"/>
      </p:ext>
    </p:extLst>
  </p:cSld>
  <p:clrMapOvr>
    <a:masterClrMapping/>
  </p:clrMapOvr>
  <mc:AlternateContent xmlns:mc="http://schemas.openxmlformats.org/markup-compatibility/2006" xmlns:p14="http://schemas.microsoft.com/office/powerpoint/2010/main">
    <mc:Choice Requires="p14">
      <p:transition spd="slow" p14:dur="2000" advTm="51169"/>
    </mc:Choice>
    <mc:Fallback xmlns="">
      <p:transition spd="slow" advTm="511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1379121"/>
            <a:ext cx="8229600" cy="1200329"/>
          </a:xfrm>
          <a:prstGeom prst="rect">
            <a:avLst/>
          </a:prstGeom>
          <a:noFill/>
        </p:spPr>
        <p:txBody>
          <a:bodyPr wrap="square" rtlCol="0">
            <a:spAutoFit/>
          </a:bodyPr>
          <a:lstStyle/>
          <a:p>
            <a:r>
              <a:rPr lang="en-US" sz="2400" dirty="0">
                <a:solidFill>
                  <a:srgbClr val="3366FF"/>
                </a:solidFill>
                <a:latin typeface="Monaco"/>
                <a:cs typeface="Monaco"/>
              </a:rPr>
              <a:t>&gt; </a:t>
            </a:r>
            <a:r>
              <a:rPr lang="en-US" sz="2400" dirty="0" err="1">
                <a:solidFill>
                  <a:srgbClr val="3366FF"/>
                </a:solidFill>
                <a:latin typeface="Monaco"/>
                <a:cs typeface="Monaco"/>
              </a:rPr>
              <a:t>t.test</a:t>
            </a:r>
            <a:r>
              <a:rPr lang="en-US" sz="2400" dirty="0">
                <a:solidFill>
                  <a:srgbClr val="3366FF"/>
                </a:solidFill>
                <a:latin typeface="Monaco"/>
                <a:cs typeface="Monaco"/>
              </a:rPr>
              <a:t>(</a:t>
            </a:r>
            <a:r>
              <a:rPr lang="en-US" sz="2400" dirty="0" err="1">
                <a:solidFill>
                  <a:srgbClr val="3366FF"/>
                </a:solidFill>
                <a:latin typeface="Monaco"/>
                <a:cs typeface="Monaco"/>
              </a:rPr>
              <a:t>male_height,female_height</a:t>
            </a:r>
            <a:r>
              <a:rPr lang="en-US" sz="2400" dirty="0">
                <a:solidFill>
                  <a:srgbClr val="3366FF"/>
                </a:solidFill>
                <a:latin typeface="Monaco"/>
                <a:cs typeface="Monaco"/>
              </a:rPr>
              <a:t>)</a:t>
            </a:r>
          </a:p>
          <a:p>
            <a:endParaRPr lang="en-US" sz="2400" dirty="0">
              <a:solidFill>
                <a:srgbClr val="3366FF"/>
              </a:solidFill>
              <a:latin typeface="Monaco"/>
              <a:cs typeface="Monaco"/>
            </a:endParaRPr>
          </a:p>
          <a:p>
            <a:r>
              <a:rPr lang="en-US" sz="2400" dirty="0">
                <a:solidFill>
                  <a:srgbClr val="3366FF"/>
                </a:solidFill>
                <a:latin typeface="Monaco"/>
                <a:cs typeface="Monaco"/>
              </a:rPr>
              <a:t>	</a:t>
            </a:r>
            <a:endParaRPr lang="en-US" sz="2400" dirty="0">
              <a:latin typeface="Monaco"/>
              <a:cs typeface="Monaco"/>
            </a:endParaRPr>
          </a:p>
        </p:txBody>
      </p:sp>
      <p:sp>
        <p:nvSpPr>
          <p:cNvPr id="5" name="Title 1"/>
          <p:cNvSpPr>
            <a:spLocks noGrp="1"/>
          </p:cNvSpPr>
          <p:nvPr>
            <p:ph type="title"/>
          </p:nvPr>
        </p:nvSpPr>
        <p:spPr>
          <a:xfrm>
            <a:off x="457200" y="274638"/>
            <a:ext cx="8229600" cy="1143000"/>
          </a:xfrm>
        </p:spPr>
        <p:txBody>
          <a:bodyPr>
            <a:normAutofit/>
          </a:bodyPr>
          <a:lstStyle/>
          <a:p>
            <a:r>
              <a:rPr lang="en-US" dirty="0"/>
              <a:t>Implementing a t-test in R</a:t>
            </a:r>
          </a:p>
        </p:txBody>
      </p:sp>
      <p:pic>
        <p:nvPicPr>
          <p:cNvPr id="3" name="Audio 2">
            <a:hlinkClick r:id="" action="ppaction://media"/>
            <a:extLst>
              <a:ext uri="{FF2B5EF4-FFF2-40B4-BE49-F238E27FC236}">
                <a16:creationId xmlns:a16="http://schemas.microsoft.com/office/drawing/2014/main" id="{C84A7E7F-4DAA-7E4E-8397-D75755EDD82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496245817"/>
      </p:ext>
    </p:extLst>
  </p:cSld>
  <p:clrMapOvr>
    <a:masterClrMapping/>
  </p:clrMapOvr>
  <mc:AlternateContent xmlns:mc="http://schemas.openxmlformats.org/markup-compatibility/2006" xmlns:p14="http://schemas.microsoft.com/office/powerpoint/2010/main">
    <mc:Choice Requires="p14">
      <p:transition spd="slow" p14:dur="2000" advTm="15140"/>
    </mc:Choice>
    <mc:Fallback xmlns="">
      <p:transition spd="slow" advTm="15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1379121"/>
            <a:ext cx="8229600" cy="1200329"/>
          </a:xfrm>
          <a:prstGeom prst="rect">
            <a:avLst/>
          </a:prstGeom>
          <a:noFill/>
        </p:spPr>
        <p:txBody>
          <a:bodyPr wrap="square" rtlCol="0">
            <a:spAutoFit/>
          </a:bodyPr>
          <a:lstStyle/>
          <a:p>
            <a:r>
              <a:rPr lang="en-US" sz="2400" dirty="0">
                <a:solidFill>
                  <a:srgbClr val="3366FF"/>
                </a:solidFill>
                <a:latin typeface="Monaco"/>
                <a:cs typeface="Monaco"/>
              </a:rPr>
              <a:t>&gt; </a:t>
            </a:r>
            <a:r>
              <a:rPr lang="en-US" sz="2400" dirty="0" err="1">
                <a:solidFill>
                  <a:srgbClr val="3366FF"/>
                </a:solidFill>
                <a:latin typeface="Monaco"/>
                <a:cs typeface="Monaco"/>
              </a:rPr>
              <a:t>t.test</a:t>
            </a:r>
            <a:r>
              <a:rPr lang="en-US" sz="2400" dirty="0">
                <a:solidFill>
                  <a:srgbClr val="3366FF"/>
                </a:solidFill>
                <a:latin typeface="Monaco"/>
                <a:cs typeface="Monaco"/>
              </a:rPr>
              <a:t>(</a:t>
            </a:r>
            <a:r>
              <a:rPr lang="en-US" sz="2400" dirty="0" err="1">
                <a:solidFill>
                  <a:srgbClr val="3366FF"/>
                </a:solidFill>
                <a:latin typeface="Monaco"/>
                <a:cs typeface="Monaco"/>
              </a:rPr>
              <a:t>male_height,female_height</a:t>
            </a:r>
            <a:r>
              <a:rPr lang="en-US" sz="2400" dirty="0">
                <a:solidFill>
                  <a:srgbClr val="3366FF"/>
                </a:solidFill>
                <a:latin typeface="Monaco"/>
                <a:cs typeface="Monaco"/>
              </a:rPr>
              <a:t>)</a:t>
            </a:r>
          </a:p>
          <a:p>
            <a:endParaRPr lang="en-US" sz="2400" dirty="0">
              <a:solidFill>
                <a:srgbClr val="3366FF"/>
              </a:solidFill>
              <a:latin typeface="Monaco"/>
              <a:cs typeface="Monaco"/>
            </a:endParaRPr>
          </a:p>
          <a:p>
            <a:r>
              <a:rPr lang="en-US" sz="2400" dirty="0">
                <a:solidFill>
                  <a:srgbClr val="3366FF"/>
                </a:solidFill>
                <a:latin typeface="Monaco"/>
                <a:cs typeface="Monaco"/>
              </a:rPr>
              <a:t>	</a:t>
            </a:r>
            <a:endParaRPr lang="en-US" sz="2400" dirty="0">
              <a:latin typeface="Monaco"/>
              <a:cs typeface="Monaco"/>
            </a:endParaRPr>
          </a:p>
        </p:txBody>
      </p:sp>
      <p:sp>
        <p:nvSpPr>
          <p:cNvPr id="5" name="Title 1"/>
          <p:cNvSpPr>
            <a:spLocks noGrp="1"/>
          </p:cNvSpPr>
          <p:nvPr>
            <p:ph type="title"/>
          </p:nvPr>
        </p:nvSpPr>
        <p:spPr>
          <a:xfrm>
            <a:off x="457200" y="274638"/>
            <a:ext cx="8229600" cy="1143000"/>
          </a:xfrm>
        </p:spPr>
        <p:txBody>
          <a:bodyPr>
            <a:normAutofit/>
          </a:bodyPr>
          <a:lstStyle/>
          <a:p>
            <a:r>
              <a:rPr lang="en-US" dirty="0"/>
              <a:t>Implementing a t-test in R</a:t>
            </a:r>
          </a:p>
        </p:txBody>
      </p:sp>
      <p:cxnSp>
        <p:nvCxnSpPr>
          <p:cNvPr id="6" name="Straight Connector 5">
            <a:extLst>
              <a:ext uri="{FF2B5EF4-FFF2-40B4-BE49-F238E27FC236}">
                <a16:creationId xmlns:a16="http://schemas.microsoft.com/office/drawing/2014/main" id="{8C73E846-0BF0-3741-90C2-90E4072CF677}"/>
              </a:ext>
            </a:extLst>
          </p:cNvPr>
          <p:cNvCxnSpPr/>
          <p:nvPr/>
        </p:nvCxnSpPr>
        <p:spPr>
          <a:xfrm>
            <a:off x="914400" y="1853514"/>
            <a:ext cx="1062681" cy="0"/>
          </a:xfrm>
          <a:prstGeom prst="line">
            <a:avLst/>
          </a:prstGeom>
          <a:ln w="50800">
            <a:solidFill>
              <a:srgbClr val="FF0000"/>
            </a:solidFill>
          </a:ln>
          <a:effectLst/>
        </p:spPr>
        <p:style>
          <a:lnRef idx="2">
            <a:schemeClr val="accent1"/>
          </a:lnRef>
          <a:fillRef idx="0">
            <a:schemeClr val="accent1"/>
          </a:fillRef>
          <a:effectRef idx="1">
            <a:schemeClr val="accent1"/>
          </a:effectRef>
          <a:fontRef idx="minor">
            <a:schemeClr val="tx1"/>
          </a:fontRef>
        </p:style>
      </p:cxnSp>
      <p:pic>
        <p:nvPicPr>
          <p:cNvPr id="3" name="Audio 2">
            <a:hlinkClick r:id="" action="ppaction://media"/>
            <a:extLst>
              <a:ext uri="{FF2B5EF4-FFF2-40B4-BE49-F238E27FC236}">
                <a16:creationId xmlns:a16="http://schemas.microsoft.com/office/drawing/2014/main" id="{9FED50FC-3479-CD49-9FA3-22796D5E61A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4064351785"/>
      </p:ext>
    </p:extLst>
  </p:cSld>
  <p:clrMapOvr>
    <a:masterClrMapping/>
  </p:clrMapOvr>
  <mc:AlternateContent xmlns:mc="http://schemas.openxmlformats.org/markup-compatibility/2006" xmlns:p14="http://schemas.microsoft.com/office/powerpoint/2010/main">
    <mc:Choice Requires="p14">
      <p:transition spd="slow" p14:dur="2000" advTm="4360"/>
    </mc:Choice>
    <mc:Fallback xmlns="">
      <p:transition spd="slow" advTm="43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1379121"/>
            <a:ext cx="8229600" cy="1200329"/>
          </a:xfrm>
          <a:prstGeom prst="rect">
            <a:avLst/>
          </a:prstGeom>
          <a:noFill/>
        </p:spPr>
        <p:txBody>
          <a:bodyPr wrap="square" rtlCol="0">
            <a:spAutoFit/>
          </a:bodyPr>
          <a:lstStyle/>
          <a:p>
            <a:r>
              <a:rPr lang="en-US" sz="2400" dirty="0">
                <a:solidFill>
                  <a:srgbClr val="3366FF"/>
                </a:solidFill>
                <a:latin typeface="Monaco"/>
                <a:cs typeface="Monaco"/>
              </a:rPr>
              <a:t>&gt; </a:t>
            </a:r>
            <a:r>
              <a:rPr lang="en-US" sz="2400" dirty="0" err="1">
                <a:solidFill>
                  <a:srgbClr val="3366FF"/>
                </a:solidFill>
                <a:latin typeface="Monaco"/>
                <a:cs typeface="Monaco"/>
              </a:rPr>
              <a:t>t.test</a:t>
            </a:r>
            <a:r>
              <a:rPr lang="en-US" sz="2400" dirty="0">
                <a:solidFill>
                  <a:srgbClr val="3366FF"/>
                </a:solidFill>
                <a:latin typeface="Monaco"/>
                <a:cs typeface="Monaco"/>
              </a:rPr>
              <a:t>(</a:t>
            </a:r>
            <a:r>
              <a:rPr lang="en-US" sz="2400" dirty="0" err="1">
                <a:solidFill>
                  <a:srgbClr val="3366FF"/>
                </a:solidFill>
                <a:latin typeface="Monaco"/>
                <a:cs typeface="Monaco"/>
              </a:rPr>
              <a:t>male_height,female_height</a:t>
            </a:r>
            <a:r>
              <a:rPr lang="en-US" sz="2400" dirty="0">
                <a:solidFill>
                  <a:srgbClr val="3366FF"/>
                </a:solidFill>
                <a:latin typeface="Monaco"/>
                <a:cs typeface="Monaco"/>
              </a:rPr>
              <a:t>)</a:t>
            </a:r>
          </a:p>
          <a:p>
            <a:endParaRPr lang="en-US" sz="2400" dirty="0">
              <a:solidFill>
                <a:srgbClr val="3366FF"/>
              </a:solidFill>
              <a:latin typeface="Monaco"/>
              <a:cs typeface="Monaco"/>
            </a:endParaRPr>
          </a:p>
          <a:p>
            <a:r>
              <a:rPr lang="en-US" sz="2400" dirty="0">
                <a:solidFill>
                  <a:srgbClr val="3366FF"/>
                </a:solidFill>
                <a:latin typeface="Monaco"/>
                <a:cs typeface="Monaco"/>
              </a:rPr>
              <a:t>	</a:t>
            </a:r>
            <a:endParaRPr lang="en-US" sz="2400" dirty="0">
              <a:latin typeface="Monaco"/>
              <a:cs typeface="Monaco"/>
            </a:endParaRPr>
          </a:p>
        </p:txBody>
      </p:sp>
      <p:sp>
        <p:nvSpPr>
          <p:cNvPr id="5" name="Title 1"/>
          <p:cNvSpPr>
            <a:spLocks noGrp="1"/>
          </p:cNvSpPr>
          <p:nvPr>
            <p:ph type="title"/>
          </p:nvPr>
        </p:nvSpPr>
        <p:spPr>
          <a:xfrm>
            <a:off x="457200" y="274638"/>
            <a:ext cx="8229600" cy="1143000"/>
          </a:xfrm>
        </p:spPr>
        <p:txBody>
          <a:bodyPr>
            <a:normAutofit/>
          </a:bodyPr>
          <a:lstStyle/>
          <a:p>
            <a:r>
              <a:rPr lang="en-US" dirty="0"/>
              <a:t>Implementing a t-test in R</a:t>
            </a:r>
          </a:p>
        </p:txBody>
      </p:sp>
      <p:cxnSp>
        <p:nvCxnSpPr>
          <p:cNvPr id="6" name="Straight Connector 5">
            <a:extLst>
              <a:ext uri="{FF2B5EF4-FFF2-40B4-BE49-F238E27FC236}">
                <a16:creationId xmlns:a16="http://schemas.microsoft.com/office/drawing/2014/main" id="{8C73E846-0BF0-3741-90C2-90E4072CF677}"/>
              </a:ext>
            </a:extLst>
          </p:cNvPr>
          <p:cNvCxnSpPr>
            <a:cxnSpLocks/>
          </p:cNvCxnSpPr>
          <p:nvPr/>
        </p:nvCxnSpPr>
        <p:spPr>
          <a:xfrm>
            <a:off x="2174789" y="1878228"/>
            <a:ext cx="4464550" cy="0"/>
          </a:xfrm>
          <a:prstGeom prst="line">
            <a:avLst/>
          </a:prstGeom>
          <a:ln w="50800">
            <a:solidFill>
              <a:srgbClr val="FF0000"/>
            </a:solidFill>
          </a:ln>
          <a:effectLst/>
        </p:spPr>
        <p:style>
          <a:lnRef idx="2">
            <a:schemeClr val="accent1"/>
          </a:lnRef>
          <a:fillRef idx="0">
            <a:schemeClr val="accent1"/>
          </a:fillRef>
          <a:effectRef idx="1">
            <a:schemeClr val="accent1"/>
          </a:effectRef>
          <a:fontRef idx="minor">
            <a:schemeClr val="tx1"/>
          </a:fontRef>
        </p:style>
      </p:cxnSp>
      <p:pic>
        <p:nvPicPr>
          <p:cNvPr id="7" name="Audio 6">
            <a:hlinkClick r:id="" action="ppaction://media"/>
            <a:extLst>
              <a:ext uri="{FF2B5EF4-FFF2-40B4-BE49-F238E27FC236}">
                <a16:creationId xmlns:a16="http://schemas.microsoft.com/office/drawing/2014/main" id="{3E5351AD-DE2F-F543-A522-1568B05BD9D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713003178"/>
      </p:ext>
    </p:extLst>
  </p:cSld>
  <p:clrMapOvr>
    <a:masterClrMapping/>
  </p:clrMapOvr>
  <mc:AlternateContent xmlns:mc="http://schemas.openxmlformats.org/markup-compatibility/2006" xmlns:p14="http://schemas.microsoft.com/office/powerpoint/2010/main">
    <mc:Choice Requires="p14">
      <p:transition spd="slow" p14:dur="2000" advTm="11887"/>
    </mc:Choice>
    <mc:Fallback xmlns="">
      <p:transition spd="slow" advTm="1188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5303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57200" y="274638"/>
            <a:ext cx="8229600" cy="1143000"/>
          </a:xfrm>
        </p:spPr>
        <p:txBody>
          <a:bodyPr>
            <a:normAutofit/>
          </a:bodyPr>
          <a:lstStyle/>
          <a:p>
            <a:r>
              <a:rPr lang="en-US" dirty="0"/>
              <a:t>Implementing a t-test in R</a:t>
            </a:r>
          </a:p>
        </p:txBody>
      </p:sp>
      <p:sp>
        <p:nvSpPr>
          <p:cNvPr id="8" name="TextBox 7">
            <a:extLst>
              <a:ext uri="{FF2B5EF4-FFF2-40B4-BE49-F238E27FC236}">
                <a16:creationId xmlns:a16="http://schemas.microsoft.com/office/drawing/2014/main" id="{AE1DF206-46EE-D845-A010-9A826558AE44}"/>
              </a:ext>
            </a:extLst>
          </p:cNvPr>
          <p:cNvSpPr txBox="1"/>
          <p:nvPr/>
        </p:nvSpPr>
        <p:spPr>
          <a:xfrm>
            <a:off x="457200" y="1379121"/>
            <a:ext cx="8229600" cy="4893647"/>
          </a:xfrm>
          <a:prstGeom prst="rect">
            <a:avLst/>
          </a:prstGeom>
          <a:noFill/>
        </p:spPr>
        <p:txBody>
          <a:bodyPr wrap="square" rtlCol="0">
            <a:spAutoFit/>
          </a:bodyPr>
          <a:lstStyle/>
          <a:p>
            <a:r>
              <a:rPr lang="en-US" sz="2400" dirty="0">
                <a:solidFill>
                  <a:srgbClr val="3366FF"/>
                </a:solidFill>
                <a:latin typeface="Monaco"/>
                <a:cs typeface="Monaco"/>
              </a:rPr>
              <a:t>&gt; </a:t>
            </a:r>
            <a:r>
              <a:rPr lang="en-US" sz="2400" dirty="0" err="1">
                <a:solidFill>
                  <a:srgbClr val="3366FF"/>
                </a:solidFill>
                <a:latin typeface="Monaco"/>
                <a:cs typeface="Monaco"/>
              </a:rPr>
              <a:t>t.test</a:t>
            </a:r>
            <a:r>
              <a:rPr lang="en-US" sz="2400" dirty="0">
                <a:solidFill>
                  <a:srgbClr val="3366FF"/>
                </a:solidFill>
                <a:latin typeface="Monaco"/>
                <a:cs typeface="Monaco"/>
              </a:rPr>
              <a:t>(</a:t>
            </a:r>
            <a:r>
              <a:rPr lang="en-US" sz="2400" dirty="0" err="1">
                <a:solidFill>
                  <a:srgbClr val="3366FF"/>
                </a:solidFill>
                <a:latin typeface="Monaco"/>
                <a:cs typeface="Monaco"/>
              </a:rPr>
              <a:t>male_height,female_height</a:t>
            </a:r>
            <a:r>
              <a:rPr lang="en-US" sz="2400" dirty="0">
                <a:solidFill>
                  <a:srgbClr val="3366FF"/>
                </a:solidFill>
                <a:latin typeface="Monaco"/>
                <a:cs typeface="Monaco"/>
              </a:rPr>
              <a:t>)</a:t>
            </a:r>
          </a:p>
          <a:p>
            <a:endParaRPr lang="en-US" sz="2400" dirty="0">
              <a:solidFill>
                <a:srgbClr val="3366FF"/>
              </a:solidFill>
              <a:latin typeface="Monaco"/>
              <a:cs typeface="Monaco"/>
            </a:endParaRPr>
          </a:p>
          <a:p>
            <a:r>
              <a:rPr lang="en-US" sz="2400" dirty="0">
                <a:latin typeface="Monaco"/>
                <a:cs typeface="Monaco"/>
              </a:rPr>
              <a:t>	Welch Two Sample t-test</a:t>
            </a:r>
          </a:p>
          <a:p>
            <a:endParaRPr lang="en-US" sz="2400" dirty="0">
              <a:latin typeface="Monaco"/>
              <a:cs typeface="Monaco"/>
            </a:endParaRPr>
          </a:p>
          <a:p>
            <a:r>
              <a:rPr lang="en-US" sz="2400" dirty="0">
                <a:latin typeface="Monaco"/>
                <a:cs typeface="Monaco"/>
              </a:rPr>
              <a:t>data:  </a:t>
            </a:r>
            <a:r>
              <a:rPr lang="en-US" sz="2400" dirty="0" err="1">
                <a:latin typeface="Monaco"/>
                <a:cs typeface="Monaco"/>
              </a:rPr>
              <a:t>male_height</a:t>
            </a:r>
            <a:r>
              <a:rPr lang="en-US" sz="2400" dirty="0">
                <a:latin typeface="Monaco"/>
                <a:cs typeface="Monaco"/>
              </a:rPr>
              <a:t> and </a:t>
            </a:r>
            <a:r>
              <a:rPr lang="en-US" sz="2400" dirty="0" err="1">
                <a:latin typeface="Monaco"/>
                <a:cs typeface="Monaco"/>
              </a:rPr>
              <a:t>female_height</a:t>
            </a:r>
            <a:endParaRPr lang="en-US" sz="2400" dirty="0">
              <a:latin typeface="Monaco"/>
              <a:cs typeface="Monaco"/>
            </a:endParaRPr>
          </a:p>
          <a:p>
            <a:r>
              <a:rPr lang="en-US" sz="2400" dirty="0">
                <a:latin typeface="Monaco"/>
                <a:cs typeface="Monaco"/>
              </a:rPr>
              <a:t>t = 2.9402, </a:t>
            </a:r>
            <a:r>
              <a:rPr lang="en-US" sz="2400" dirty="0" err="1">
                <a:latin typeface="Monaco"/>
                <a:cs typeface="Monaco"/>
              </a:rPr>
              <a:t>df</a:t>
            </a:r>
            <a:r>
              <a:rPr lang="en-US" sz="2400" dirty="0">
                <a:latin typeface="Monaco"/>
                <a:cs typeface="Monaco"/>
              </a:rPr>
              <a:t> = 21.611, p-value = 0.007665</a:t>
            </a:r>
          </a:p>
          <a:p>
            <a:r>
              <a:rPr lang="en-US" sz="2400" dirty="0">
                <a:latin typeface="Monaco"/>
                <a:cs typeface="Monaco"/>
              </a:rPr>
              <a:t>alternative hypothesis: true difference in means is not equal to 0</a:t>
            </a:r>
          </a:p>
          <a:p>
            <a:r>
              <a:rPr lang="en-US" sz="2400" dirty="0">
                <a:latin typeface="Monaco"/>
                <a:cs typeface="Monaco"/>
              </a:rPr>
              <a:t>95 percent confidence interval:</a:t>
            </a:r>
          </a:p>
          <a:p>
            <a:r>
              <a:rPr lang="en-US" sz="2400" dirty="0">
                <a:latin typeface="Monaco"/>
                <a:cs typeface="Monaco"/>
              </a:rPr>
              <a:t> 0.02944923 0.17094461</a:t>
            </a:r>
          </a:p>
          <a:p>
            <a:r>
              <a:rPr lang="en-US" sz="2400" dirty="0">
                <a:latin typeface="Monaco"/>
                <a:cs typeface="Monaco"/>
              </a:rPr>
              <a:t>sample estimates:</a:t>
            </a:r>
          </a:p>
          <a:p>
            <a:r>
              <a:rPr lang="en-US" sz="2400" dirty="0">
                <a:latin typeface="Monaco"/>
                <a:cs typeface="Monaco"/>
              </a:rPr>
              <a:t>mean of x mean of y </a:t>
            </a:r>
          </a:p>
          <a:p>
            <a:r>
              <a:rPr lang="en-US" sz="2400" dirty="0">
                <a:latin typeface="Monaco"/>
                <a:cs typeface="Monaco"/>
              </a:rPr>
              <a:t> 1.753077  1.652880</a:t>
            </a:r>
          </a:p>
        </p:txBody>
      </p:sp>
      <p:pic>
        <p:nvPicPr>
          <p:cNvPr id="2" name="Audio 1">
            <a:hlinkClick r:id="" action="ppaction://media"/>
            <a:extLst>
              <a:ext uri="{FF2B5EF4-FFF2-40B4-BE49-F238E27FC236}">
                <a16:creationId xmlns:a16="http://schemas.microsoft.com/office/drawing/2014/main" id="{6BE617B6-1205-714F-8C7D-521C2ACFF35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4004885944"/>
      </p:ext>
    </p:extLst>
  </p:cSld>
  <p:clrMapOvr>
    <a:masterClrMapping/>
  </p:clrMapOvr>
  <mc:AlternateContent xmlns:mc="http://schemas.openxmlformats.org/markup-compatibility/2006" xmlns:p14="http://schemas.microsoft.com/office/powerpoint/2010/main">
    <mc:Choice Requires="p14">
      <p:transition spd="slow" p14:dur="2000" advTm="10012"/>
    </mc:Choice>
    <mc:Fallback xmlns="">
      <p:transition spd="slow" advTm="100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03FCE46-C0A9-F342-A540-B2D3A6E1BCA0}"/>
              </a:ext>
            </a:extLst>
          </p:cNvPr>
          <p:cNvSpPr txBox="1"/>
          <p:nvPr/>
        </p:nvSpPr>
        <p:spPr>
          <a:xfrm>
            <a:off x="457200" y="1379121"/>
            <a:ext cx="8229600" cy="4893647"/>
          </a:xfrm>
          <a:prstGeom prst="rect">
            <a:avLst/>
          </a:prstGeom>
          <a:noFill/>
        </p:spPr>
        <p:txBody>
          <a:bodyPr wrap="square" rtlCol="0">
            <a:spAutoFit/>
          </a:bodyPr>
          <a:lstStyle/>
          <a:p>
            <a:r>
              <a:rPr lang="en-US" sz="2400" dirty="0">
                <a:solidFill>
                  <a:srgbClr val="3366FF"/>
                </a:solidFill>
                <a:latin typeface="Monaco"/>
                <a:cs typeface="Monaco"/>
              </a:rPr>
              <a:t>&gt; </a:t>
            </a:r>
            <a:r>
              <a:rPr lang="en-US" sz="2400" dirty="0" err="1">
                <a:solidFill>
                  <a:srgbClr val="3366FF"/>
                </a:solidFill>
                <a:latin typeface="Monaco"/>
                <a:cs typeface="Monaco"/>
              </a:rPr>
              <a:t>t.test</a:t>
            </a:r>
            <a:r>
              <a:rPr lang="en-US" sz="2400" dirty="0">
                <a:solidFill>
                  <a:srgbClr val="3366FF"/>
                </a:solidFill>
                <a:latin typeface="Monaco"/>
                <a:cs typeface="Monaco"/>
              </a:rPr>
              <a:t>(</a:t>
            </a:r>
            <a:r>
              <a:rPr lang="en-US" sz="2400" dirty="0" err="1">
                <a:solidFill>
                  <a:srgbClr val="3366FF"/>
                </a:solidFill>
                <a:latin typeface="Monaco"/>
                <a:cs typeface="Monaco"/>
              </a:rPr>
              <a:t>male_height,female_height</a:t>
            </a:r>
            <a:r>
              <a:rPr lang="en-US" sz="2400" dirty="0">
                <a:solidFill>
                  <a:srgbClr val="3366FF"/>
                </a:solidFill>
                <a:latin typeface="Monaco"/>
                <a:cs typeface="Monaco"/>
              </a:rPr>
              <a:t>)</a:t>
            </a:r>
          </a:p>
          <a:p>
            <a:endParaRPr lang="en-US" sz="2400" dirty="0">
              <a:solidFill>
                <a:srgbClr val="3366FF"/>
              </a:solidFill>
              <a:latin typeface="Monaco"/>
              <a:cs typeface="Monaco"/>
            </a:endParaRPr>
          </a:p>
          <a:p>
            <a:r>
              <a:rPr lang="en-US" sz="2400" dirty="0">
                <a:latin typeface="Monaco"/>
                <a:cs typeface="Monaco"/>
              </a:rPr>
              <a:t>	Welch Two Sample t-test</a:t>
            </a:r>
          </a:p>
          <a:p>
            <a:endParaRPr lang="en-US" sz="2400" dirty="0">
              <a:latin typeface="Monaco"/>
              <a:cs typeface="Monaco"/>
            </a:endParaRPr>
          </a:p>
          <a:p>
            <a:r>
              <a:rPr lang="en-US" sz="2400" dirty="0">
                <a:latin typeface="Monaco"/>
                <a:cs typeface="Monaco"/>
              </a:rPr>
              <a:t>data:  </a:t>
            </a:r>
            <a:r>
              <a:rPr lang="en-US" sz="2400" dirty="0" err="1">
                <a:latin typeface="Monaco"/>
                <a:cs typeface="Monaco"/>
              </a:rPr>
              <a:t>male_height</a:t>
            </a:r>
            <a:r>
              <a:rPr lang="en-US" sz="2400" dirty="0">
                <a:latin typeface="Monaco"/>
                <a:cs typeface="Monaco"/>
              </a:rPr>
              <a:t> and </a:t>
            </a:r>
            <a:r>
              <a:rPr lang="en-US" sz="2400" dirty="0" err="1">
                <a:latin typeface="Monaco"/>
                <a:cs typeface="Monaco"/>
              </a:rPr>
              <a:t>female_height</a:t>
            </a:r>
            <a:endParaRPr lang="en-US" sz="2400" dirty="0">
              <a:latin typeface="Monaco"/>
              <a:cs typeface="Monaco"/>
            </a:endParaRPr>
          </a:p>
          <a:p>
            <a:r>
              <a:rPr lang="en-US" sz="2400" dirty="0">
                <a:latin typeface="Monaco"/>
                <a:cs typeface="Monaco"/>
              </a:rPr>
              <a:t>t = 2.9402, </a:t>
            </a:r>
            <a:r>
              <a:rPr lang="en-US" sz="2400" dirty="0" err="1">
                <a:latin typeface="Monaco"/>
                <a:cs typeface="Monaco"/>
              </a:rPr>
              <a:t>df</a:t>
            </a:r>
            <a:r>
              <a:rPr lang="en-US" sz="2400" dirty="0">
                <a:latin typeface="Monaco"/>
                <a:cs typeface="Monaco"/>
              </a:rPr>
              <a:t> = 21.611, p-value = 0.007665</a:t>
            </a:r>
          </a:p>
          <a:p>
            <a:r>
              <a:rPr lang="en-US" sz="2400" dirty="0">
                <a:latin typeface="Monaco"/>
                <a:cs typeface="Monaco"/>
              </a:rPr>
              <a:t>alternative hypothesis: true difference in means is not equal to 0</a:t>
            </a:r>
          </a:p>
          <a:p>
            <a:r>
              <a:rPr lang="en-US" sz="2400" dirty="0">
                <a:latin typeface="Monaco"/>
                <a:cs typeface="Monaco"/>
              </a:rPr>
              <a:t>95 percent confidence interval:</a:t>
            </a:r>
          </a:p>
          <a:p>
            <a:r>
              <a:rPr lang="en-US" sz="2400" dirty="0">
                <a:latin typeface="Monaco"/>
                <a:cs typeface="Monaco"/>
              </a:rPr>
              <a:t> 0.02944923 0.17094461</a:t>
            </a:r>
          </a:p>
          <a:p>
            <a:r>
              <a:rPr lang="en-US" sz="2400" dirty="0">
                <a:latin typeface="Monaco"/>
                <a:cs typeface="Monaco"/>
              </a:rPr>
              <a:t>sample estimates:</a:t>
            </a:r>
          </a:p>
          <a:p>
            <a:r>
              <a:rPr lang="en-US" sz="2400" dirty="0">
                <a:latin typeface="Monaco"/>
                <a:cs typeface="Monaco"/>
              </a:rPr>
              <a:t>mean of x mean of y </a:t>
            </a:r>
          </a:p>
          <a:p>
            <a:r>
              <a:rPr lang="en-US" sz="2400" dirty="0">
                <a:latin typeface="Monaco"/>
                <a:cs typeface="Monaco"/>
              </a:rPr>
              <a:t> 1.753077  1.652880</a:t>
            </a:r>
          </a:p>
        </p:txBody>
      </p:sp>
      <p:sp>
        <p:nvSpPr>
          <p:cNvPr id="5" name="Title 1"/>
          <p:cNvSpPr>
            <a:spLocks noGrp="1"/>
          </p:cNvSpPr>
          <p:nvPr>
            <p:ph type="title"/>
          </p:nvPr>
        </p:nvSpPr>
        <p:spPr>
          <a:xfrm>
            <a:off x="457200" y="274638"/>
            <a:ext cx="8229600" cy="1143000"/>
          </a:xfrm>
        </p:spPr>
        <p:txBody>
          <a:bodyPr>
            <a:normAutofit/>
          </a:bodyPr>
          <a:lstStyle/>
          <a:p>
            <a:r>
              <a:rPr lang="en-US" dirty="0"/>
              <a:t>Implementing a t-test in R</a:t>
            </a:r>
          </a:p>
        </p:txBody>
      </p:sp>
      <p:sp>
        <p:nvSpPr>
          <p:cNvPr id="6" name="Oval 5">
            <a:extLst>
              <a:ext uri="{FF2B5EF4-FFF2-40B4-BE49-F238E27FC236}">
                <a16:creationId xmlns:a16="http://schemas.microsoft.com/office/drawing/2014/main" id="{807B6818-23F1-B844-9691-AD0E8B170108}"/>
              </a:ext>
            </a:extLst>
          </p:cNvPr>
          <p:cNvSpPr/>
          <p:nvPr/>
        </p:nvSpPr>
        <p:spPr>
          <a:xfrm>
            <a:off x="119272" y="5168344"/>
            <a:ext cx="4412974" cy="1371600"/>
          </a:xfrm>
          <a:prstGeom prst="ellipse">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D6E70854-8860-4544-940D-EDE31B3C2D6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281112817"/>
      </p:ext>
    </p:extLst>
  </p:cSld>
  <p:clrMapOvr>
    <a:masterClrMapping/>
  </p:clrMapOvr>
  <mc:AlternateContent xmlns:mc="http://schemas.openxmlformats.org/markup-compatibility/2006" xmlns:p14="http://schemas.microsoft.com/office/powerpoint/2010/main">
    <mc:Choice Requires="p14">
      <p:transition spd="slow" p14:dur="2000" advTm="21425"/>
    </mc:Choice>
    <mc:Fallback xmlns="">
      <p:transition spd="slow" advTm="214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48485"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192CDFD-CEF0-BA45-AEB3-E6D95545E1BF}"/>
              </a:ext>
            </a:extLst>
          </p:cNvPr>
          <p:cNvSpPr txBox="1"/>
          <p:nvPr/>
        </p:nvSpPr>
        <p:spPr>
          <a:xfrm>
            <a:off x="457200" y="1379121"/>
            <a:ext cx="8229600" cy="4893647"/>
          </a:xfrm>
          <a:prstGeom prst="rect">
            <a:avLst/>
          </a:prstGeom>
          <a:noFill/>
        </p:spPr>
        <p:txBody>
          <a:bodyPr wrap="square" rtlCol="0">
            <a:spAutoFit/>
          </a:bodyPr>
          <a:lstStyle/>
          <a:p>
            <a:r>
              <a:rPr lang="en-US" sz="2400" dirty="0">
                <a:solidFill>
                  <a:srgbClr val="3366FF"/>
                </a:solidFill>
                <a:latin typeface="Monaco"/>
                <a:cs typeface="Monaco"/>
              </a:rPr>
              <a:t>&gt; </a:t>
            </a:r>
            <a:r>
              <a:rPr lang="en-US" sz="2400" dirty="0" err="1">
                <a:solidFill>
                  <a:srgbClr val="3366FF"/>
                </a:solidFill>
                <a:latin typeface="Monaco"/>
                <a:cs typeface="Monaco"/>
              </a:rPr>
              <a:t>t.test</a:t>
            </a:r>
            <a:r>
              <a:rPr lang="en-US" sz="2400" dirty="0">
                <a:solidFill>
                  <a:srgbClr val="3366FF"/>
                </a:solidFill>
                <a:latin typeface="Monaco"/>
                <a:cs typeface="Monaco"/>
              </a:rPr>
              <a:t>(</a:t>
            </a:r>
            <a:r>
              <a:rPr lang="en-US" sz="2400" dirty="0" err="1">
                <a:solidFill>
                  <a:srgbClr val="3366FF"/>
                </a:solidFill>
                <a:latin typeface="Monaco"/>
                <a:cs typeface="Monaco"/>
              </a:rPr>
              <a:t>male_height,female_height</a:t>
            </a:r>
            <a:r>
              <a:rPr lang="en-US" sz="2400" dirty="0">
                <a:solidFill>
                  <a:srgbClr val="3366FF"/>
                </a:solidFill>
                <a:latin typeface="Monaco"/>
                <a:cs typeface="Monaco"/>
              </a:rPr>
              <a:t>)</a:t>
            </a:r>
          </a:p>
          <a:p>
            <a:endParaRPr lang="en-US" sz="2400" dirty="0">
              <a:solidFill>
                <a:srgbClr val="3366FF"/>
              </a:solidFill>
              <a:latin typeface="Monaco"/>
              <a:cs typeface="Monaco"/>
            </a:endParaRPr>
          </a:p>
          <a:p>
            <a:r>
              <a:rPr lang="en-US" sz="2400" dirty="0">
                <a:latin typeface="Monaco"/>
                <a:cs typeface="Monaco"/>
              </a:rPr>
              <a:t>	Welch Two Sample t-test</a:t>
            </a:r>
          </a:p>
          <a:p>
            <a:endParaRPr lang="en-US" sz="2400" dirty="0">
              <a:latin typeface="Monaco"/>
              <a:cs typeface="Monaco"/>
            </a:endParaRPr>
          </a:p>
          <a:p>
            <a:r>
              <a:rPr lang="en-US" sz="2400" dirty="0">
                <a:latin typeface="Monaco"/>
                <a:cs typeface="Monaco"/>
              </a:rPr>
              <a:t>data:  </a:t>
            </a:r>
            <a:r>
              <a:rPr lang="en-US" sz="2400" dirty="0" err="1">
                <a:latin typeface="Monaco"/>
                <a:cs typeface="Monaco"/>
              </a:rPr>
              <a:t>male_height</a:t>
            </a:r>
            <a:r>
              <a:rPr lang="en-US" sz="2400" dirty="0">
                <a:latin typeface="Monaco"/>
                <a:cs typeface="Monaco"/>
              </a:rPr>
              <a:t> and </a:t>
            </a:r>
            <a:r>
              <a:rPr lang="en-US" sz="2400" dirty="0" err="1">
                <a:latin typeface="Monaco"/>
                <a:cs typeface="Monaco"/>
              </a:rPr>
              <a:t>female_height</a:t>
            </a:r>
            <a:endParaRPr lang="en-US" sz="2400" dirty="0">
              <a:latin typeface="Monaco"/>
              <a:cs typeface="Monaco"/>
            </a:endParaRPr>
          </a:p>
          <a:p>
            <a:r>
              <a:rPr lang="en-US" sz="2400" dirty="0">
                <a:latin typeface="Monaco"/>
                <a:cs typeface="Monaco"/>
              </a:rPr>
              <a:t>t = 2.9402, </a:t>
            </a:r>
            <a:r>
              <a:rPr lang="en-US" sz="2400" dirty="0" err="1">
                <a:latin typeface="Monaco"/>
                <a:cs typeface="Monaco"/>
              </a:rPr>
              <a:t>df</a:t>
            </a:r>
            <a:r>
              <a:rPr lang="en-US" sz="2400" dirty="0">
                <a:latin typeface="Monaco"/>
                <a:cs typeface="Monaco"/>
              </a:rPr>
              <a:t> = 21.611, p-value = 0.007665</a:t>
            </a:r>
          </a:p>
          <a:p>
            <a:r>
              <a:rPr lang="en-US" sz="2400" dirty="0">
                <a:latin typeface="Monaco"/>
                <a:cs typeface="Monaco"/>
              </a:rPr>
              <a:t>alternative hypothesis: true difference in means is not equal to 0</a:t>
            </a:r>
          </a:p>
          <a:p>
            <a:r>
              <a:rPr lang="en-US" sz="2400" dirty="0">
                <a:latin typeface="Monaco"/>
                <a:cs typeface="Monaco"/>
              </a:rPr>
              <a:t>95 percent confidence interval:</a:t>
            </a:r>
          </a:p>
          <a:p>
            <a:r>
              <a:rPr lang="en-US" sz="2400" dirty="0">
                <a:latin typeface="Monaco"/>
                <a:cs typeface="Monaco"/>
              </a:rPr>
              <a:t> 0.02944923 0.17094461</a:t>
            </a:r>
          </a:p>
          <a:p>
            <a:r>
              <a:rPr lang="en-US" sz="2400" dirty="0">
                <a:latin typeface="Monaco"/>
                <a:cs typeface="Monaco"/>
              </a:rPr>
              <a:t>sample estimates:</a:t>
            </a:r>
          </a:p>
          <a:p>
            <a:r>
              <a:rPr lang="en-US" sz="2400" dirty="0">
                <a:latin typeface="Monaco"/>
                <a:cs typeface="Monaco"/>
              </a:rPr>
              <a:t>mean of x mean of y </a:t>
            </a:r>
          </a:p>
          <a:p>
            <a:r>
              <a:rPr lang="en-US" sz="2400" dirty="0">
                <a:latin typeface="Monaco"/>
                <a:cs typeface="Monaco"/>
              </a:rPr>
              <a:t> 1.753077  1.652880</a:t>
            </a:r>
          </a:p>
        </p:txBody>
      </p:sp>
      <p:sp>
        <p:nvSpPr>
          <p:cNvPr id="5" name="Title 1"/>
          <p:cNvSpPr>
            <a:spLocks noGrp="1"/>
          </p:cNvSpPr>
          <p:nvPr>
            <p:ph type="title"/>
          </p:nvPr>
        </p:nvSpPr>
        <p:spPr>
          <a:xfrm>
            <a:off x="457200" y="274638"/>
            <a:ext cx="8229600" cy="1143000"/>
          </a:xfrm>
        </p:spPr>
        <p:txBody>
          <a:bodyPr>
            <a:normAutofit/>
          </a:bodyPr>
          <a:lstStyle/>
          <a:p>
            <a:r>
              <a:rPr lang="en-US" dirty="0"/>
              <a:t>Implementing a t-test in R</a:t>
            </a:r>
          </a:p>
        </p:txBody>
      </p:sp>
      <p:sp>
        <p:nvSpPr>
          <p:cNvPr id="6" name="Oval 5">
            <a:extLst>
              <a:ext uri="{FF2B5EF4-FFF2-40B4-BE49-F238E27FC236}">
                <a16:creationId xmlns:a16="http://schemas.microsoft.com/office/drawing/2014/main" id="{807B6818-23F1-B844-9691-AD0E8B170108}"/>
              </a:ext>
            </a:extLst>
          </p:cNvPr>
          <p:cNvSpPr/>
          <p:nvPr/>
        </p:nvSpPr>
        <p:spPr>
          <a:xfrm>
            <a:off x="4920772" y="3030237"/>
            <a:ext cx="3766028" cy="746633"/>
          </a:xfrm>
          <a:prstGeom prst="ellipse">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 name="Audio 1">
            <a:hlinkClick r:id="" action="ppaction://media"/>
            <a:extLst>
              <a:ext uri="{FF2B5EF4-FFF2-40B4-BE49-F238E27FC236}">
                <a16:creationId xmlns:a16="http://schemas.microsoft.com/office/drawing/2014/main" id="{8C5370D2-1F9C-A949-BF0D-F040904C0D6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279269667"/>
      </p:ext>
    </p:extLst>
  </p:cSld>
  <p:clrMapOvr>
    <a:masterClrMapping/>
  </p:clrMapOvr>
  <mc:AlternateContent xmlns:mc="http://schemas.openxmlformats.org/markup-compatibility/2006" xmlns:p14="http://schemas.microsoft.com/office/powerpoint/2010/main">
    <mc:Choice Requires="p14">
      <p:transition spd="slow" p14:dur="2000" advTm="16742"/>
    </mc:Choice>
    <mc:Fallback xmlns="">
      <p:transition spd="slow" advTm="167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4B83FC2-7DB6-F74C-902F-B4B04C920A9A}"/>
              </a:ext>
            </a:extLst>
          </p:cNvPr>
          <p:cNvSpPr txBox="1"/>
          <p:nvPr/>
        </p:nvSpPr>
        <p:spPr>
          <a:xfrm>
            <a:off x="457200" y="1379121"/>
            <a:ext cx="8229600" cy="4893647"/>
          </a:xfrm>
          <a:prstGeom prst="rect">
            <a:avLst/>
          </a:prstGeom>
          <a:noFill/>
        </p:spPr>
        <p:txBody>
          <a:bodyPr wrap="square" rtlCol="0">
            <a:spAutoFit/>
          </a:bodyPr>
          <a:lstStyle/>
          <a:p>
            <a:r>
              <a:rPr lang="en-US" sz="2400" dirty="0">
                <a:solidFill>
                  <a:srgbClr val="3366FF"/>
                </a:solidFill>
                <a:latin typeface="Monaco"/>
                <a:cs typeface="Monaco"/>
              </a:rPr>
              <a:t>&gt; </a:t>
            </a:r>
            <a:r>
              <a:rPr lang="en-US" sz="2400" dirty="0" err="1">
                <a:solidFill>
                  <a:srgbClr val="3366FF"/>
                </a:solidFill>
                <a:latin typeface="Monaco"/>
                <a:cs typeface="Monaco"/>
              </a:rPr>
              <a:t>t.test</a:t>
            </a:r>
            <a:r>
              <a:rPr lang="en-US" sz="2400" dirty="0">
                <a:solidFill>
                  <a:srgbClr val="3366FF"/>
                </a:solidFill>
                <a:latin typeface="Monaco"/>
                <a:cs typeface="Monaco"/>
              </a:rPr>
              <a:t>(</a:t>
            </a:r>
            <a:r>
              <a:rPr lang="en-US" sz="2400" dirty="0" err="1">
                <a:solidFill>
                  <a:srgbClr val="3366FF"/>
                </a:solidFill>
                <a:latin typeface="Monaco"/>
                <a:cs typeface="Monaco"/>
              </a:rPr>
              <a:t>male_height,female_height</a:t>
            </a:r>
            <a:r>
              <a:rPr lang="en-US" sz="2400" dirty="0">
                <a:solidFill>
                  <a:srgbClr val="3366FF"/>
                </a:solidFill>
                <a:latin typeface="Monaco"/>
                <a:cs typeface="Monaco"/>
              </a:rPr>
              <a:t>)</a:t>
            </a:r>
          </a:p>
          <a:p>
            <a:endParaRPr lang="en-US" sz="2400" dirty="0">
              <a:solidFill>
                <a:srgbClr val="3366FF"/>
              </a:solidFill>
              <a:latin typeface="Monaco"/>
              <a:cs typeface="Monaco"/>
            </a:endParaRPr>
          </a:p>
          <a:p>
            <a:r>
              <a:rPr lang="en-US" sz="2400" dirty="0">
                <a:latin typeface="Monaco"/>
                <a:cs typeface="Monaco"/>
              </a:rPr>
              <a:t>	Welch Two Sample t-test</a:t>
            </a:r>
          </a:p>
          <a:p>
            <a:endParaRPr lang="en-US" sz="2400" dirty="0">
              <a:latin typeface="Monaco"/>
              <a:cs typeface="Monaco"/>
            </a:endParaRPr>
          </a:p>
          <a:p>
            <a:r>
              <a:rPr lang="en-US" sz="2400" dirty="0">
                <a:latin typeface="Monaco"/>
                <a:cs typeface="Monaco"/>
              </a:rPr>
              <a:t>data:  </a:t>
            </a:r>
            <a:r>
              <a:rPr lang="en-US" sz="2400" dirty="0" err="1">
                <a:latin typeface="Monaco"/>
                <a:cs typeface="Monaco"/>
              </a:rPr>
              <a:t>male_height</a:t>
            </a:r>
            <a:r>
              <a:rPr lang="en-US" sz="2400" dirty="0">
                <a:latin typeface="Monaco"/>
                <a:cs typeface="Monaco"/>
              </a:rPr>
              <a:t> and </a:t>
            </a:r>
            <a:r>
              <a:rPr lang="en-US" sz="2400" dirty="0" err="1">
                <a:latin typeface="Monaco"/>
                <a:cs typeface="Monaco"/>
              </a:rPr>
              <a:t>female_height</a:t>
            </a:r>
            <a:endParaRPr lang="en-US" sz="2400" dirty="0">
              <a:latin typeface="Monaco"/>
              <a:cs typeface="Monaco"/>
            </a:endParaRPr>
          </a:p>
          <a:p>
            <a:r>
              <a:rPr lang="en-US" sz="2400" dirty="0">
                <a:latin typeface="Monaco"/>
                <a:cs typeface="Monaco"/>
              </a:rPr>
              <a:t>t = 2.9402, </a:t>
            </a:r>
            <a:r>
              <a:rPr lang="en-US" sz="2400" dirty="0" err="1">
                <a:latin typeface="Monaco"/>
                <a:cs typeface="Monaco"/>
              </a:rPr>
              <a:t>df</a:t>
            </a:r>
            <a:r>
              <a:rPr lang="en-US" sz="2400" dirty="0">
                <a:latin typeface="Monaco"/>
                <a:cs typeface="Monaco"/>
              </a:rPr>
              <a:t> = 21.611, p-value = 0.007665</a:t>
            </a:r>
          </a:p>
          <a:p>
            <a:r>
              <a:rPr lang="en-US" sz="2400" dirty="0">
                <a:latin typeface="Monaco"/>
                <a:cs typeface="Monaco"/>
              </a:rPr>
              <a:t>alternative hypothesis: true difference in means is not equal to 0</a:t>
            </a:r>
          </a:p>
          <a:p>
            <a:r>
              <a:rPr lang="en-US" sz="2400" dirty="0">
                <a:latin typeface="Monaco"/>
                <a:cs typeface="Monaco"/>
              </a:rPr>
              <a:t>95 percent confidence interval:</a:t>
            </a:r>
          </a:p>
          <a:p>
            <a:r>
              <a:rPr lang="en-US" sz="2400" dirty="0">
                <a:latin typeface="Monaco"/>
                <a:cs typeface="Monaco"/>
              </a:rPr>
              <a:t> 0.02944923 0.17094461</a:t>
            </a:r>
          </a:p>
          <a:p>
            <a:r>
              <a:rPr lang="en-US" sz="2400" dirty="0">
                <a:latin typeface="Monaco"/>
                <a:cs typeface="Monaco"/>
              </a:rPr>
              <a:t>sample estimates:</a:t>
            </a:r>
          </a:p>
          <a:p>
            <a:r>
              <a:rPr lang="en-US" sz="2400" dirty="0">
                <a:latin typeface="Monaco"/>
                <a:cs typeface="Monaco"/>
              </a:rPr>
              <a:t>mean of x mean of y </a:t>
            </a:r>
          </a:p>
          <a:p>
            <a:r>
              <a:rPr lang="en-US" sz="2400" dirty="0">
                <a:latin typeface="Monaco"/>
                <a:cs typeface="Monaco"/>
              </a:rPr>
              <a:t> 1.753077  1.652880</a:t>
            </a:r>
          </a:p>
        </p:txBody>
      </p:sp>
      <p:sp>
        <p:nvSpPr>
          <p:cNvPr id="5" name="Title 1"/>
          <p:cNvSpPr>
            <a:spLocks noGrp="1"/>
          </p:cNvSpPr>
          <p:nvPr>
            <p:ph type="title"/>
          </p:nvPr>
        </p:nvSpPr>
        <p:spPr>
          <a:xfrm>
            <a:off x="457200" y="274638"/>
            <a:ext cx="8229600" cy="1143000"/>
          </a:xfrm>
        </p:spPr>
        <p:txBody>
          <a:bodyPr>
            <a:normAutofit/>
          </a:bodyPr>
          <a:lstStyle/>
          <a:p>
            <a:r>
              <a:rPr lang="en-US" dirty="0"/>
              <a:t>Implementing a t-test in R</a:t>
            </a:r>
          </a:p>
        </p:txBody>
      </p:sp>
      <p:sp>
        <p:nvSpPr>
          <p:cNvPr id="6" name="Oval 5">
            <a:extLst>
              <a:ext uri="{FF2B5EF4-FFF2-40B4-BE49-F238E27FC236}">
                <a16:creationId xmlns:a16="http://schemas.microsoft.com/office/drawing/2014/main" id="{807B6818-23F1-B844-9691-AD0E8B170108}"/>
              </a:ext>
            </a:extLst>
          </p:cNvPr>
          <p:cNvSpPr/>
          <p:nvPr/>
        </p:nvSpPr>
        <p:spPr>
          <a:xfrm>
            <a:off x="215900" y="3010980"/>
            <a:ext cx="5071717" cy="726134"/>
          </a:xfrm>
          <a:prstGeom prst="ellipse">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 name="Audio 1">
            <a:hlinkClick r:id="" action="ppaction://media"/>
            <a:extLst>
              <a:ext uri="{FF2B5EF4-FFF2-40B4-BE49-F238E27FC236}">
                <a16:creationId xmlns:a16="http://schemas.microsoft.com/office/drawing/2014/main" id="{6C747F11-0345-CF44-941E-2A9F988CFF7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4016891219"/>
      </p:ext>
    </p:extLst>
  </p:cSld>
  <p:clrMapOvr>
    <a:masterClrMapping/>
  </p:clrMapOvr>
  <mc:AlternateContent xmlns:mc="http://schemas.openxmlformats.org/markup-compatibility/2006" xmlns:p14="http://schemas.microsoft.com/office/powerpoint/2010/main">
    <mc:Choice Requires="p14">
      <p:transition spd="slow" p14:dur="2000" advTm="18247"/>
    </mc:Choice>
    <mc:Fallback xmlns="">
      <p:transition spd="slow" advTm="1824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Reporting the results of a comparison between means.</a:t>
            </a:r>
          </a:p>
        </p:txBody>
      </p:sp>
      <p:pic>
        <p:nvPicPr>
          <p:cNvPr id="4" name="Picture 3" descr="Lec3Fig3.pdf"/>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14418" y="920331"/>
            <a:ext cx="3151418" cy="6138414"/>
          </a:xfrm>
          <a:prstGeom prst="rect">
            <a:avLst/>
          </a:prstGeom>
        </p:spPr>
      </p:pic>
      <p:sp>
        <p:nvSpPr>
          <p:cNvPr id="5" name="TextBox 4"/>
          <p:cNvSpPr txBox="1"/>
          <p:nvPr/>
        </p:nvSpPr>
        <p:spPr>
          <a:xfrm>
            <a:off x="3365836" y="1745379"/>
            <a:ext cx="5617088" cy="1938992"/>
          </a:xfrm>
          <a:prstGeom prst="rect">
            <a:avLst/>
          </a:prstGeom>
          <a:noFill/>
        </p:spPr>
        <p:txBody>
          <a:bodyPr wrap="square" rtlCol="0">
            <a:spAutoFit/>
          </a:bodyPr>
          <a:lstStyle/>
          <a:p>
            <a:r>
              <a:rPr lang="en-US" sz="2400" i="1" dirty="0"/>
              <a:t>Figure legend:</a:t>
            </a:r>
          </a:p>
          <a:p>
            <a:endParaRPr lang="en-US" sz="2400" dirty="0"/>
          </a:p>
          <a:p>
            <a:r>
              <a:rPr lang="en-US" sz="2400" dirty="0"/>
              <a:t>Figure 1. Mean self-reported heights of men and women in the field course prep unit. Error bars indicate standard error. </a:t>
            </a:r>
          </a:p>
        </p:txBody>
      </p:sp>
      <p:sp>
        <p:nvSpPr>
          <p:cNvPr id="6" name="TextBox 5"/>
          <p:cNvSpPr txBox="1"/>
          <p:nvPr/>
        </p:nvSpPr>
        <p:spPr>
          <a:xfrm>
            <a:off x="3365836" y="4079749"/>
            <a:ext cx="5617088" cy="1938992"/>
          </a:xfrm>
          <a:prstGeom prst="rect">
            <a:avLst/>
          </a:prstGeom>
          <a:noFill/>
        </p:spPr>
        <p:txBody>
          <a:bodyPr wrap="square" rtlCol="0">
            <a:spAutoFit/>
          </a:bodyPr>
          <a:lstStyle/>
          <a:p>
            <a:r>
              <a:rPr lang="en-US" sz="2400" i="1" dirty="0"/>
              <a:t>In the text:</a:t>
            </a:r>
          </a:p>
          <a:p>
            <a:endParaRPr lang="en-US" sz="2400" dirty="0"/>
          </a:p>
          <a:p>
            <a:r>
              <a:rPr lang="en-US" sz="2400" dirty="0"/>
              <a:t>Men were 0.10 m taller than women in our study (t-test with Welch correction, t = 2.94, </a:t>
            </a:r>
            <a:r>
              <a:rPr lang="en-US" sz="2400" dirty="0" err="1"/>
              <a:t>df</a:t>
            </a:r>
            <a:r>
              <a:rPr lang="en-US" sz="2400" dirty="0"/>
              <a:t> = 21.61, p = 0.0077).</a:t>
            </a:r>
          </a:p>
        </p:txBody>
      </p:sp>
      <p:pic>
        <p:nvPicPr>
          <p:cNvPr id="3" name="Audio 2">
            <a:hlinkClick r:id="" action="ppaction://media"/>
            <a:extLst>
              <a:ext uri="{FF2B5EF4-FFF2-40B4-BE49-F238E27FC236}">
                <a16:creationId xmlns:a16="http://schemas.microsoft.com/office/drawing/2014/main" id="{755A03DE-B8D6-A549-A8A8-AA4349C25A5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039536127"/>
      </p:ext>
    </p:extLst>
  </p:cSld>
  <p:clrMapOvr>
    <a:masterClrMapping/>
  </p:clrMapOvr>
  <mc:AlternateContent xmlns:mc="http://schemas.openxmlformats.org/markup-compatibility/2006" xmlns:p14="http://schemas.microsoft.com/office/powerpoint/2010/main">
    <mc:Choice Requires="p14">
      <p:transition spd="slow" p14:dur="2000" advTm="84593"/>
    </mc:Choice>
    <mc:Fallback xmlns="">
      <p:transition spd="slow" advTm="845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t-distribution approximates Monte Carlo outcomes.</a:t>
            </a:r>
          </a:p>
        </p:txBody>
      </p:sp>
      <p:pic>
        <p:nvPicPr>
          <p:cNvPr id="4" name="Picture 3" descr="Lec3Fig2.pdf"/>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802160" y="931812"/>
            <a:ext cx="6341840" cy="5739449"/>
          </a:xfrm>
          <a:prstGeom prst="rect">
            <a:avLst/>
          </a:prstGeom>
        </p:spPr>
      </p:pic>
      <p:pic>
        <p:nvPicPr>
          <p:cNvPr id="5" name="Picture 4"/>
          <p:cNvPicPr>
            <a:picLocks noChangeAspect="1"/>
          </p:cNvPicPr>
          <p:nvPr/>
        </p:nvPicPr>
        <p:blipFill>
          <a:blip r:embed="rId6"/>
          <a:stretch>
            <a:fillRect/>
          </a:stretch>
        </p:blipFill>
        <p:spPr>
          <a:xfrm>
            <a:off x="457200" y="1830044"/>
            <a:ext cx="2176048" cy="2909493"/>
          </a:xfrm>
          <a:prstGeom prst="rect">
            <a:avLst/>
          </a:prstGeom>
        </p:spPr>
      </p:pic>
      <p:sp>
        <p:nvSpPr>
          <p:cNvPr id="6" name="TextBox 5"/>
          <p:cNvSpPr txBox="1"/>
          <p:nvPr/>
        </p:nvSpPr>
        <p:spPr>
          <a:xfrm>
            <a:off x="457200" y="4784662"/>
            <a:ext cx="2176048" cy="646331"/>
          </a:xfrm>
          <a:prstGeom prst="rect">
            <a:avLst/>
          </a:prstGeom>
          <a:noFill/>
        </p:spPr>
        <p:txBody>
          <a:bodyPr wrap="square" rtlCol="0">
            <a:spAutoFit/>
          </a:bodyPr>
          <a:lstStyle/>
          <a:p>
            <a:pPr algn="ctr"/>
            <a:r>
              <a:rPr lang="en-US" dirty="0"/>
              <a:t>William Sealy </a:t>
            </a:r>
            <a:r>
              <a:rPr lang="en-US" dirty="0" err="1"/>
              <a:t>Gosset</a:t>
            </a:r>
            <a:endParaRPr lang="en-US" dirty="0"/>
          </a:p>
          <a:p>
            <a:pPr algn="ctr"/>
            <a:r>
              <a:rPr lang="en-US" dirty="0"/>
              <a:t>(Student)</a:t>
            </a:r>
          </a:p>
        </p:txBody>
      </p:sp>
      <p:pic>
        <p:nvPicPr>
          <p:cNvPr id="7" name="Audio 6">
            <a:hlinkClick r:id="" action="ppaction://media"/>
            <a:extLst>
              <a:ext uri="{FF2B5EF4-FFF2-40B4-BE49-F238E27FC236}">
                <a16:creationId xmlns:a16="http://schemas.microsoft.com/office/drawing/2014/main" id="{E6732B46-6DA9-7B49-8839-2211A815DF83}"/>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522218486"/>
      </p:ext>
    </p:extLst>
  </p:cSld>
  <p:clrMapOvr>
    <a:masterClrMapping/>
  </p:clrMapOvr>
  <mc:AlternateContent xmlns:mc="http://schemas.openxmlformats.org/markup-compatibility/2006" xmlns:p14="http://schemas.microsoft.com/office/powerpoint/2010/main">
    <mc:Choice Requires="p14">
      <p:transition spd="slow" p14:dur="2000" advTm="32036"/>
    </mc:Choice>
    <mc:Fallback xmlns="">
      <p:transition spd="slow" advTm="3203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Self-reported heights of students in the field course prep unit.</a:t>
            </a:r>
          </a:p>
        </p:txBody>
      </p:sp>
      <p:pic>
        <p:nvPicPr>
          <p:cNvPr id="4" name="Picture 3" descr="Lec3Fig4a.pdf"/>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14324" y="1417638"/>
            <a:ext cx="4452385" cy="4900612"/>
          </a:xfrm>
          <a:prstGeom prst="rect">
            <a:avLst/>
          </a:prstGeom>
        </p:spPr>
      </p:pic>
      <p:pic>
        <p:nvPicPr>
          <p:cNvPr id="5" name="Picture 4" descr="Lec3Fig4b.pdf"/>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4497078" y="1417638"/>
            <a:ext cx="4459597" cy="4908550"/>
          </a:xfrm>
          <a:prstGeom prst="rect">
            <a:avLst/>
          </a:prstGeom>
        </p:spPr>
      </p:pic>
      <p:pic>
        <p:nvPicPr>
          <p:cNvPr id="3" name="Audio 2">
            <a:hlinkClick r:id="" action="ppaction://media"/>
            <a:extLst>
              <a:ext uri="{FF2B5EF4-FFF2-40B4-BE49-F238E27FC236}">
                <a16:creationId xmlns:a16="http://schemas.microsoft.com/office/drawing/2014/main" id="{6ABB4638-0AC0-C341-B506-DCFF2A8D8F05}"/>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383782416"/>
      </p:ext>
    </p:extLst>
  </p:cSld>
  <p:clrMapOvr>
    <a:masterClrMapping/>
  </p:clrMapOvr>
  <mc:AlternateContent xmlns:mc="http://schemas.openxmlformats.org/markup-compatibility/2006" xmlns:p14="http://schemas.microsoft.com/office/powerpoint/2010/main">
    <mc:Choice Requires="p14">
      <p:transition spd="slow" p14:dur="2000" advTm="14294"/>
    </mc:Choice>
    <mc:Fallback xmlns="">
      <p:transition spd="slow" advTm="1429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10A65-A73A-7040-94DC-192DF9A7B4E8}"/>
              </a:ext>
            </a:extLst>
          </p:cNvPr>
          <p:cNvSpPr>
            <a:spLocks noGrp="1"/>
          </p:cNvSpPr>
          <p:nvPr>
            <p:ph type="title"/>
          </p:nvPr>
        </p:nvSpPr>
        <p:spPr>
          <a:xfrm>
            <a:off x="485950" y="0"/>
            <a:ext cx="8229600" cy="1143000"/>
          </a:xfrm>
        </p:spPr>
        <p:txBody>
          <a:bodyPr/>
          <a:lstStyle/>
          <a:p>
            <a:r>
              <a:rPr lang="en-US" dirty="0"/>
              <a:t>Arranging your data for analysis</a:t>
            </a:r>
          </a:p>
        </p:txBody>
      </p:sp>
      <p:pic>
        <p:nvPicPr>
          <p:cNvPr id="8" name="Picture 7">
            <a:extLst>
              <a:ext uri="{FF2B5EF4-FFF2-40B4-BE49-F238E27FC236}">
                <a16:creationId xmlns:a16="http://schemas.microsoft.com/office/drawing/2014/main" id="{1DE9DB4D-5E0F-DC4B-9D9F-213EC546CE9C}"/>
              </a:ext>
            </a:extLst>
          </p:cNvPr>
          <p:cNvPicPr>
            <a:picLocks noChangeAspect="1"/>
          </p:cNvPicPr>
          <p:nvPr/>
        </p:nvPicPr>
        <p:blipFill>
          <a:blip r:embed="rId5"/>
          <a:stretch>
            <a:fillRect/>
          </a:stretch>
        </p:blipFill>
        <p:spPr>
          <a:xfrm>
            <a:off x="614099" y="1509413"/>
            <a:ext cx="7973301" cy="4701606"/>
          </a:xfrm>
          <a:prstGeom prst="rect">
            <a:avLst/>
          </a:prstGeom>
        </p:spPr>
      </p:pic>
      <p:pic>
        <p:nvPicPr>
          <p:cNvPr id="3" name="Audio 2">
            <a:hlinkClick r:id="" action="ppaction://media"/>
            <a:extLst>
              <a:ext uri="{FF2B5EF4-FFF2-40B4-BE49-F238E27FC236}">
                <a16:creationId xmlns:a16="http://schemas.microsoft.com/office/drawing/2014/main" id="{21C7AE08-777E-2640-B173-5013C2C640B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781793742"/>
      </p:ext>
    </p:extLst>
  </p:cSld>
  <p:clrMapOvr>
    <a:masterClrMapping/>
  </p:clrMapOvr>
  <mc:AlternateContent xmlns:mc="http://schemas.openxmlformats.org/markup-compatibility/2006" xmlns:p14="http://schemas.microsoft.com/office/powerpoint/2010/main">
    <mc:Choice Requires="p14">
      <p:transition spd="slow" p14:dur="2000" advTm="17244"/>
    </mc:Choice>
    <mc:Fallback xmlns="">
      <p:transition spd="slow" advTm="172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Response order for students in the field course prep unit.</a:t>
            </a:r>
          </a:p>
        </p:txBody>
      </p:sp>
      <p:pic>
        <p:nvPicPr>
          <p:cNvPr id="3" name="Picture 2" descr="Lec3Fig5a.pdf"/>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17500" y="1417638"/>
            <a:ext cx="4615171" cy="5079786"/>
          </a:xfrm>
          <a:prstGeom prst="rect">
            <a:avLst/>
          </a:prstGeom>
        </p:spPr>
      </p:pic>
      <p:pic>
        <p:nvPicPr>
          <p:cNvPr id="6" name="Picture 5" descr="Lec3Fig5b.pdf"/>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4648198" y="1417638"/>
            <a:ext cx="4617212" cy="5082032"/>
          </a:xfrm>
          <a:prstGeom prst="rect">
            <a:avLst/>
          </a:prstGeom>
        </p:spPr>
      </p:pic>
      <p:pic>
        <p:nvPicPr>
          <p:cNvPr id="5" name="Audio 4">
            <a:hlinkClick r:id="" action="ppaction://media"/>
            <a:extLst>
              <a:ext uri="{FF2B5EF4-FFF2-40B4-BE49-F238E27FC236}">
                <a16:creationId xmlns:a16="http://schemas.microsoft.com/office/drawing/2014/main" id="{1CC97681-F6E6-AC48-AA1D-E42E450F0D0E}"/>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4066219307"/>
      </p:ext>
    </p:extLst>
  </p:cSld>
  <p:clrMapOvr>
    <a:masterClrMapping/>
  </p:clrMapOvr>
  <mc:AlternateContent xmlns:mc="http://schemas.openxmlformats.org/markup-compatibility/2006" xmlns:p14="http://schemas.microsoft.com/office/powerpoint/2010/main">
    <mc:Choice Requires="p14">
      <p:transition spd="slow" p14:dur="2000" advTm="64390"/>
    </mc:Choice>
    <mc:Fallback xmlns="">
      <p:transition spd="slow" advTm="64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57200" y="274638"/>
            <a:ext cx="8229600" cy="1143000"/>
          </a:xfrm>
        </p:spPr>
        <p:txBody>
          <a:bodyPr>
            <a:normAutofit/>
          </a:bodyPr>
          <a:lstStyle/>
          <a:p>
            <a:r>
              <a:rPr lang="en-US" dirty="0"/>
              <a:t>Implementing a Wilcoxon test in R</a:t>
            </a:r>
          </a:p>
        </p:txBody>
      </p:sp>
      <p:sp>
        <p:nvSpPr>
          <p:cNvPr id="4" name="Rectangle 3">
            <a:extLst>
              <a:ext uri="{FF2B5EF4-FFF2-40B4-BE49-F238E27FC236}">
                <a16:creationId xmlns:a16="http://schemas.microsoft.com/office/drawing/2014/main" id="{194F4273-2788-DB46-9282-14E33FACE6DA}"/>
              </a:ext>
            </a:extLst>
          </p:cNvPr>
          <p:cNvSpPr/>
          <p:nvPr/>
        </p:nvSpPr>
        <p:spPr>
          <a:xfrm>
            <a:off x="755375" y="1987825"/>
            <a:ext cx="7931426" cy="3785652"/>
          </a:xfrm>
          <a:prstGeom prst="rect">
            <a:avLst/>
          </a:prstGeom>
        </p:spPr>
        <p:txBody>
          <a:bodyPr wrap="square">
            <a:spAutoFit/>
          </a:bodyPr>
          <a:lstStyle/>
          <a:p>
            <a:r>
              <a:rPr lang="en-US" sz="2400" dirty="0">
                <a:solidFill>
                  <a:srgbClr val="0B27FF"/>
                </a:solidFill>
                <a:latin typeface="Monaco" pitchFamily="2" charset="77"/>
              </a:rPr>
              <a:t>&gt; </a:t>
            </a:r>
            <a:r>
              <a:rPr lang="en-US" sz="2400" dirty="0" err="1">
                <a:solidFill>
                  <a:srgbClr val="0B27FF"/>
                </a:solidFill>
                <a:latin typeface="Monaco" pitchFamily="2" charset="77"/>
              </a:rPr>
              <a:t>mro</a:t>
            </a:r>
            <a:r>
              <a:rPr lang="en-US" sz="2400" dirty="0">
                <a:solidFill>
                  <a:srgbClr val="0B27FF"/>
                </a:solidFill>
                <a:latin typeface="Monaco" pitchFamily="2" charset="77"/>
              </a:rPr>
              <a:t>=</a:t>
            </a:r>
            <a:r>
              <a:rPr lang="en-US" sz="2400" dirty="0" err="1">
                <a:solidFill>
                  <a:srgbClr val="0B27FF"/>
                </a:solidFill>
                <a:latin typeface="Monaco" pitchFamily="2" charset="77"/>
              </a:rPr>
              <a:t>hd$resp</a:t>
            </a:r>
            <a:r>
              <a:rPr lang="en-US" sz="2400" dirty="0">
                <a:solidFill>
                  <a:srgbClr val="0B27FF"/>
                </a:solidFill>
                <a:latin typeface="Monaco" pitchFamily="2" charset="77"/>
              </a:rPr>
              <a:t>[which(</a:t>
            </a:r>
            <a:r>
              <a:rPr lang="en-US" sz="2400" dirty="0" err="1">
                <a:solidFill>
                  <a:srgbClr val="0B27FF"/>
                </a:solidFill>
                <a:latin typeface="Monaco" pitchFamily="2" charset="77"/>
              </a:rPr>
              <a:t>hd$sex</a:t>
            </a:r>
            <a:r>
              <a:rPr lang="en-US" sz="2400" dirty="0">
                <a:solidFill>
                  <a:srgbClr val="0B27FF"/>
                </a:solidFill>
                <a:latin typeface="Monaco" pitchFamily="2" charset="77"/>
              </a:rPr>
              <a:t>=="m")]</a:t>
            </a:r>
          </a:p>
          <a:p>
            <a:r>
              <a:rPr lang="en-US" sz="2400" dirty="0">
                <a:solidFill>
                  <a:srgbClr val="0B27FF"/>
                </a:solidFill>
                <a:latin typeface="Monaco" pitchFamily="2" charset="77"/>
              </a:rPr>
              <a:t>&gt; </a:t>
            </a:r>
            <a:r>
              <a:rPr lang="en-US" sz="2400" dirty="0" err="1">
                <a:solidFill>
                  <a:srgbClr val="0B27FF"/>
                </a:solidFill>
                <a:latin typeface="Monaco" pitchFamily="2" charset="77"/>
              </a:rPr>
              <a:t>fro</a:t>
            </a:r>
            <a:r>
              <a:rPr lang="en-US" sz="2400" dirty="0">
                <a:solidFill>
                  <a:srgbClr val="0B27FF"/>
                </a:solidFill>
                <a:latin typeface="Monaco" pitchFamily="2" charset="77"/>
              </a:rPr>
              <a:t>=</a:t>
            </a:r>
            <a:r>
              <a:rPr lang="en-US" sz="2400" dirty="0" err="1">
                <a:solidFill>
                  <a:srgbClr val="0B27FF"/>
                </a:solidFill>
                <a:latin typeface="Monaco" pitchFamily="2" charset="77"/>
              </a:rPr>
              <a:t>hd$resp</a:t>
            </a:r>
            <a:r>
              <a:rPr lang="en-US" sz="2400" dirty="0">
                <a:solidFill>
                  <a:srgbClr val="0B27FF"/>
                </a:solidFill>
                <a:latin typeface="Monaco" pitchFamily="2" charset="77"/>
              </a:rPr>
              <a:t>[which(</a:t>
            </a:r>
            <a:r>
              <a:rPr lang="en-US" sz="2400" dirty="0" err="1">
                <a:solidFill>
                  <a:srgbClr val="0B27FF"/>
                </a:solidFill>
                <a:latin typeface="Monaco" pitchFamily="2" charset="77"/>
              </a:rPr>
              <a:t>hd$sex</a:t>
            </a:r>
            <a:r>
              <a:rPr lang="en-US" sz="2400" dirty="0">
                <a:solidFill>
                  <a:srgbClr val="0B27FF"/>
                </a:solidFill>
                <a:latin typeface="Monaco" pitchFamily="2" charset="77"/>
              </a:rPr>
              <a:t>=="f")]</a:t>
            </a:r>
          </a:p>
          <a:p>
            <a:r>
              <a:rPr lang="en-US" sz="2400" dirty="0">
                <a:solidFill>
                  <a:srgbClr val="0B27FF"/>
                </a:solidFill>
                <a:latin typeface="Monaco" pitchFamily="2" charset="77"/>
              </a:rPr>
              <a:t>&gt; </a:t>
            </a:r>
            <a:r>
              <a:rPr lang="en-US" sz="2400" dirty="0" err="1">
                <a:solidFill>
                  <a:srgbClr val="0B27FF"/>
                </a:solidFill>
                <a:latin typeface="Monaco" pitchFamily="2" charset="77"/>
              </a:rPr>
              <a:t>wilcox.test</a:t>
            </a:r>
            <a:r>
              <a:rPr lang="en-US" sz="2400" dirty="0">
                <a:solidFill>
                  <a:srgbClr val="0B27FF"/>
                </a:solidFill>
                <a:latin typeface="Monaco" pitchFamily="2" charset="77"/>
              </a:rPr>
              <a:t>(</a:t>
            </a:r>
            <a:r>
              <a:rPr lang="en-US" sz="2400" dirty="0" err="1">
                <a:solidFill>
                  <a:srgbClr val="0B27FF"/>
                </a:solidFill>
                <a:latin typeface="Monaco" pitchFamily="2" charset="77"/>
              </a:rPr>
              <a:t>fro,mro,alternative</a:t>
            </a:r>
            <a:r>
              <a:rPr lang="en-US" sz="2400" dirty="0">
                <a:solidFill>
                  <a:srgbClr val="0B27FF"/>
                </a:solidFill>
                <a:latin typeface="Monaco" pitchFamily="2" charset="77"/>
              </a:rPr>
              <a:t>="less")</a:t>
            </a:r>
          </a:p>
          <a:p>
            <a:endParaRPr lang="en-US" sz="2400" dirty="0">
              <a:solidFill>
                <a:srgbClr val="0B27FF"/>
              </a:solidFill>
              <a:latin typeface="Monaco" pitchFamily="2" charset="77"/>
            </a:endParaRPr>
          </a:p>
          <a:p>
            <a:r>
              <a:rPr lang="en-US" sz="2400" dirty="0">
                <a:solidFill>
                  <a:srgbClr val="0B27FF"/>
                </a:solidFill>
                <a:latin typeface="Monaco" pitchFamily="2" charset="77"/>
              </a:rPr>
              <a:t>	</a:t>
            </a:r>
            <a:r>
              <a:rPr lang="en-US" sz="2400" dirty="0">
                <a:latin typeface="Monaco" pitchFamily="2" charset="77"/>
              </a:rPr>
              <a:t>Wilcoxon rank sum test</a:t>
            </a:r>
          </a:p>
          <a:p>
            <a:endParaRPr lang="en-US" sz="2400" dirty="0">
              <a:latin typeface="Monaco" pitchFamily="2" charset="77"/>
            </a:endParaRPr>
          </a:p>
          <a:p>
            <a:r>
              <a:rPr lang="en-US" sz="2400" dirty="0">
                <a:latin typeface="Monaco" pitchFamily="2" charset="77"/>
              </a:rPr>
              <a:t>data:  </a:t>
            </a:r>
            <a:r>
              <a:rPr lang="en-US" sz="2400" dirty="0" err="1">
                <a:latin typeface="Monaco" pitchFamily="2" charset="77"/>
              </a:rPr>
              <a:t>fro</a:t>
            </a:r>
            <a:r>
              <a:rPr lang="en-US" sz="2400" dirty="0">
                <a:latin typeface="Monaco" pitchFamily="2" charset="77"/>
              </a:rPr>
              <a:t> and </a:t>
            </a:r>
            <a:r>
              <a:rPr lang="en-US" sz="2400" dirty="0" err="1">
                <a:latin typeface="Monaco" pitchFamily="2" charset="77"/>
              </a:rPr>
              <a:t>mro</a:t>
            </a:r>
            <a:endParaRPr lang="en-US" sz="2400" dirty="0">
              <a:latin typeface="Monaco" pitchFamily="2" charset="77"/>
            </a:endParaRPr>
          </a:p>
          <a:p>
            <a:r>
              <a:rPr lang="en-US" sz="2400" dirty="0">
                <a:latin typeface="Monaco" pitchFamily="2" charset="77"/>
              </a:rPr>
              <a:t>W = 145, p-value = 0.3027</a:t>
            </a:r>
          </a:p>
          <a:p>
            <a:r>
              <a:rPr lang="en-US" sz="2400" dirty="0">
                <a:latin typeface="Monaco" pitchFamily="2" charset="77"/>
              </a:rPr>
              <a:t>alternative hypothesis: true location shift is less than 0</a:t>
            </a:r>
          </a:p>
        </p:txBody>
      </p:sp>
      <p:pic>
        <p:nvPicPr>
          <p:cNvPr id="2" name="Audio 1">
            <a:hlinkClick r:id="" action="ppaction://media"/>
            <a:extLst>
              <a:ext uri="{FF2B5EF4-FFF2-40B4-BE49-F238E27FC236}">
                <a16:creationId xmlns:a16="http://schemas.microsoft.com/office/drawing/2014/main" id="{61261453-06A0-BC40-B3D9-AF4BD1930E1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4016684350"/>
      </p:ext>
    </p:extLst>
  </p:cSld>
  <p:clrMapOvr>
    <a:masterClrMapping/>
  </p:clrMapOvr>
  <mc:AlternateContent xmlns:mc="http://schemas.openxmlformats.org/markup-compatibility/2006" xmlns:p14="http://schemas.microsoft.com/office/powerpoint/2010/main">
    <mc:Choice Requires="p14">
      <p:transition spd="slow" p14:dur="2000" advTm="84826"/>
    </mc:Choice>
    <mc:Fallback xmlns="">
      <p:transition spd="slow" advTm="848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Reporting the results of a comparison between response times.</a:t>
            </a:r>
          </a:p>
        </p:txBody>
      </p:sp>
      <p:sp>
        <p:nvSpPr>
          <p:cNvPr id="6" name="TextBox 5"/>
          <p:cNvSpPr txBox="1"/>
          <p:nvPr/>
        </p:nvSpPr>
        <p:spPr>
          <a:xfrm>
            <a:off x="696993" y="2440098"/>
            <a:ext cx="7502462" cy="1569660"/>
          </a:xfrm>
          <a:prstGeom prst="rect">
            <a:avLst/>
          </a:prstGeom>
          <a:noFill/>
        </p:spPr>
        <p:txBody>
          <a:bodyPr wrap="square" rtlCol="0">
            <a:spAutoFit/>
          </a:bodyPr>
          <a:lstStyle/>
          <a:p>
            <a:r>
              <a:rPr lang="en-US" sz="2400" i="1" dirty="0"/>
              <a:t>In the text:</a:t>
            </a:r>
          </a:p>
          <a:p>
            <a:endParaRPr lang="en-US" sz="2400" dirty="0"/>
          </a:p>
          <a:p>
            <a:r>
              <a:rPr lang="en-US" sz="2400" dirty="0"/>
              <a:t>We found no evidence that women responded to the survey earlier than men (Wilcox rank sum test, p = 0.3027).</a:t>
            </a:r>
          </a:p>
        </p:txBody>
      </p:sp>
      <p:pic>
        <p:nvPicPr>
          <p:cNvPr id="4" name="Audio 3">
            <a:hlinkClick r:id="" action="ppaction://media"/>
            <a:extLst>
              <a:ext uri="{FF2B5EF4-FFF2-40B4-BE49-F238E27FC236}">
                <a16:creationId xmlns:a16="http://schemas.microsoft.com/office/drawing/2014/main" id="{09FE3818-0314-E147-BF65-19AD506F792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166823450"/>
      </p:ext>
    </p:extLst>
  </p:cSld>
  <p:clrMapOvr>
    <a:masterClrMapping/>
  </p:clrMapOvr>
  <mc:AlternateContent xmlns:mc="http://schemas.openxmlformats.org/markup-compatibility/2006" xmlns:p14="http://schemas.microsoft.com/office/powerpoint/2010/main">
    <mc:Choice Requires="p14">
      <p:transition spd="slow" p14:dur="2000" advTm="32426"/>
    </mc:Choice>
    <mc:Fallback xmlns="">
      <p:transition spd="slow" advTm="324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Which test should we use?</a:t>
            </a:r>
          </a:p>
        </p:txBody>
      </p:sp>
      <p:graphicFrame>
        <p:nvGraphicFramePr>
          <p:cNvPr id="4" name="Table 3"/>
          <p:cNvGraphicFramePr>
            <a:graphicFrameLocks noGrp="1"/>
          </p:cNvGraphicFramePr>
          <p:nvPr>
            <p:extLst>
              <p:ext uri="{D42A27DB-BD31-4B8C-83A1-F6EECF244321}">
                <p14:modId xmlns:p14="http://schemas.microsoft.com/office/powerpoint/2010/main" val="1941116993"/>
              </p:ext>
            </p:extLst>
          </p:nvPr>
        </p:nvGraphicFramePr>
        <p:xfrm>
          <a:off x="666749" y="1719261"/>
          <a:ext cx="7826376" cy="3836988"/>
        </p:xfrm>
        <a:graphic>
          <a:graphicData uri="http://schemas.openxmlformats.org/drawingml/2006/table">
            <a:tbl>
              <a:tblPr firstRow="1" bandRow="1">
                <a:tableStyleId>{5C22544A-7EE6-4342-B048-85BDC9FD1C3A}</a:tableStyleId>
              </a:tblPr>
              <a:tblGrid>
                <a:gridCol w="2608792">
                  <a:extLst>
                    <a:ext uri="{9D8B030D-6E8A-4147-A177-3AD203B41FA5}">
                      <a16:colId xmlns:a16="http://schemas.microsoft.com/office/drawing/2014/main" val="20000"/>
                    </a:ext>
                  </a:extLst>
                </a:gridCol>
                <a:gridCol w="2608792">
                  <a:extLst>
                    <a:ext uri="{9D8B030D-6E8A-4147-A177-3AD203B41FA5}">
                      <a16:colId xmlns:a16="http://schemas.microsoft.com/office/drawing/2014/main" val="20001"/>
                    </a:ext>
                  </a:extLst>
                </a:gridCol>
                <a:gridCol w="2608792">
                  <a:extLst>
                    <a:ext uri="{9D8B030D-6E8A-4147-A177-3AD203B41FA5}">
                      <a16:colId xmlns:a16="http://schemas.microsoft.com/office/drawing/2014/main" val="20002"/>
                    </a:ext>
                  </a:extLst>
                </a:gridCol>
              </a:tblGrid>
              <a:tr h="1046451">
                <a:tc>
                  <a:txBody>
                    <a:bodyPr/>
                    <a:lstStyle/>
                    <a:p>
                      <a:pPr algn="ctr"/>
                      <a:r>
                        <a:rPr lang="en-US" sz="2400" b="0" dirty="0">
                          <a:solidFill>
                            <a:srgbClr val="000000"/>
                          </a:solidFill>
                        </a:rPr>
                        <a:t>We want to know</a:t>
                      </a:r>
                      <a:r>
                        <a:rPr lang="en-US" sz="2400" b="0" baseline="0" dirty="0">
                          <a:solidFill>
                            <a:srgbClr val="000000"/>
                          </a:solidFill>
                        </a:rPr>
                        <a:t> about:</a:t>
                      </a:r>
                      <a:endParaRPr lang="en-US" sz="2400" b="0" dirty="0">
                        <a:solidFill>
                          <a:srgbClr val="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2400" b="0" dirty="0">
                          <a:solidFill>
                            <a:srgbClr val="000000"/>
                          </a:solidFill>
                        </a:rPr>
                        <a:t>Is the</a:t>
                      </a:r>
                      <a:r>
                        <a:rPr lang="en-US" sz="2400" b="0" baseline="0" dirty="0">
                          <a:solidFill>
                            <a:srgbClr val="000000"/>
                          </a:solidFill>
                        </a:rPr>
                        <a:t> normality assumption met?</a:t>
                      </a:r>
                      <a:endParaRPr lang="en-US" sz="2400" b="0" dirty="0">
                        <a:solidFill>
                          <a:srgbClr val="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2400" b="0" dirty="0">
                          <a:solidFill>
                            <a:srgbClr val="000000"/>
                          </a:solidFill>
                        </a:rPr>
                        <a:t>Use: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581362">
                <a:tc>
                  <a:txBody>
                    <a:bodyPr/>
                    <a:lstStyle/>
                    <a:p>
                      <a:pPr algn="ctr"/>
                      <a:r>
                        <a:rPr lang="en-US" sz="2400" baseline="0" dirty="0"/>
                        <a:t>mean rank</a:t>
                      </a:r>
                      <a:endParaRPr 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2400" dirty="0"/>
                        <a:t>yes or no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2400" dirty="0"/>
                        <a:t>Wilcoxon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581362">
                <a:tc>
                  <a:txBody>
                    <a:bodyPr/>
                    <a:lstStyle/>
                    <a:p>
                      <a:pPr algn="ctr"/>
                      <a:r>
                        <a:rPr lang="en-US" sz="2400" dirty="0"/>
                        <a:t>mean value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2400" dirty="0"/>
                        <a:t>yes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2400" dirty="0"/>
                        <a:t>t-test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581362">
                <a:tc>
                  <a:txBody>
                    <a:bodyPr/>
                    <a:lstStyle/>
                    <a:p>
                      <a:pPr algn="ctr"/>
                      <a:r>
                        <a:rPr lang="en-US" sz="2400" dirty="0"/>
                        <a:t>either will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2400" dirty="0"/>
                        <a:t>no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2400" dirty="0"/>
                        <a:t>Wilcoxon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1046451">
                <a:tc>
                  <a:txBody>
                    <a:bodyPr/>
                    <a:lstStyle/>
                    <a:p>
                      <a:pPr algn="ctr"/>
                      <a:r>
                        <a:rPr lang="en-US" sz="2400" dirty="0"/>
                        <a:t>mean value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2400" dirty="0"/>
                        <a:t>no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2400" baseline="0" dirty="0"/>
                        <a:t>Monte Carlo</a:t>
                      </a:r>
                      <a:endParaRPr 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bl>
          </a:graphicData>
        </a:graphic>
      </p:graphicFrame>
      <p:pic>
        <p:nvPicPr>
          <p:cNvPr id="3" name="Audio 2">
            <a:hlinkClick r:id="" action="ppaction://media"/>
            <a:extLst>
              <a:ext uri="{FF2B5EF4-FFF2-40B4-BE49-F238E27FC236}">
                <a16:creationId xmlns:a16="http://schemas.microsoft.com/office/drawing/2014/main" id="{130D4290-DC81-4C48-8FEF-7F3379A1505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574146649"/>
      </p:ext>
    </p:extLst>
  </p:cSld>
  <p:clrMapOvr>
    <a:masterClrMapping/>
  </p:clrMapOvr>
  <mc:AlternateContent xmlns:mc="http://schemas.openxmlformats.org/markup-compatibility/2006">
    <mc:Choice xmlns:p14="http://schemas.microsoft.com/office/powerpoint/2010/main" Requires="p14">
      <p:transition spd="slow" p14:dur="2000" advTm="72739"/>
    </mc:Choice>
    <mc:Fallback>
      <p:transition spd="slow" advTm="727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35420</TotalTime>
  <Words>4833</Words>
  <Application>Microsoft Macintosh PowerPoint</Application>
  <PresentationFormat>On-screen Show (4:3)</PresentationFormat>
  <Paragraphs>331</Paragraphs>
  <Slides>40</Slides>
  <Notes>40</Notes>
  <HiddenSlides>0</HiddenSlides>
  <MMClips>40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Monaco</vt:lpstr>
      <vt:lpstr>Office Theme</vt:lpstr>
      <vt:lpstr>Statistics for Natural Scientists (EART11200 Toolkit)</vt:lpstr>
      <vt:lpstr>The t-distribution approximates Monte Carlo outcomes.</vt:lpstr>
      <vt:lpstr>Arranging your data for analysis</vt:lpstr>
      <vt:lpstr>Importing data into R</vt:lpstr>
      <vt:lpstr>Importing data into R</vt:lpstr>
      <vt:lpstr>Importing data into R</vt:lpstr>
      <vt:lpstr>Importing data into R</vt:lpstr>
      <vt:lpstr>Importing data into R</vt:lpstr>
      <vt:lpstr>Importing data into R</vt:lpstr>
      <vt:lpstr>Importing data into R</vt:lpstr>
      <vt:lpstr>Importing data into R</vt:lpstr>
      <vt:lpstr>Importing data into R</vt:lpstr>
      <vt:lpstr>PowerPoint Presentation</vt:lpstr>
      <vt:lpstr>Importing data into R</vt:lpstr>
      <vt:lpstr>Importing data into R</vt:lpstr>
      <vt:lpstr>Importing data into R</vt:lpstr>
      <vt:lpstr>Importing data into R</vt:lpstr>
      <vt:lpstr>Importing data into R</vt:lpstr>
      <vt:lpstr>Importing data into R</vt:lpstr>
      <vt:lpstr>Implementing a t-test in R</vt:lpstr>
      <vt:lpstr>Implementing a t-test in R</vt:lpstr>
      <vt:lpstr>Implementing a t-test in R</vt:lpstr>
      <vt:lpstr>Implementing a t-test in R</vt:lpstr>
      <vt:lpstr>Implementing a t-test in R</vt:lpstr>
      <vt:lpstr>Implementing a t-test in R</vt:lpstr>
      <vt:lpstr>Implementing a t-test in R</vt:lpstr>
      <vt:lpstr>Implementing a t-test in R</vt:lpstr>
      <vt:lpstr>Implementing a t-test in R</vt:lpstr>
      <vt:lpstr>Implementing a t-test in R</vt:lpstr>
      <vt:lpstr>Implementing a t-test in R</vt:lpstr>
      <vt:lpstr>Implementing a t-test in R</vt:lpstr>
      <vt:lpstr>Implementing a t-test in R</vt:lpstr>
      <vt:lpstr>Reporting the results of a comparison between means.</vt:lpstr>
      <vt:lpstr>The t-distribution approximates Monte Carlo outcomes.</vt:lpstr>
      <vt:lpstr>Self-reported heights of students in the field course prep unit.</vt:lpstr>
      <vt:lpstr>Arranging your data for analysis</vt:lpstr>
      <vt:lpstr>Response order for students in the field course prep unit.</vt:lpstr>
      <vt:lpstr>Implementing a Wilcoxon test in R</vt:lpstr>
      <vt:lpstr>Reporting the results of a comparison between response times.</vt:lpstr>
      <vt:lpstr>Which test should we use?</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Robert Tucker Gilman</dc:creator>
  <cp:lastModifiedBy>R. Tucker Gilman</cp:lastModifiedBy>
  <cp:revision>524</cp:revision>
  <dcterms:created xsi:type="dcterms:W3CDTF">2015-11-04T08:57:41Z</dcterms:created>
  <dcterms:modified xsi:type="dcterms:W3CDTF">2022-03-14T11:45:20Z</dcterms:modified>
</cp:coreProperties>
</file>