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302" r:id="rId2"/>
    <p:sldId id="303" r:id="rId3"/>
    <p:sldId id="285" r:id="rId4"/>
    <p:sldId id="286" r:id="rId5"/>
    <p:sldId id="304" r:id="rId6"/>
    <p:sldId id="287" r:id="rId7"/>
    <p:sldId id="305" r:id="rId8"/>
    <p:sldId id="306" r:id="rId9"/>
    <p:sldId id="258" r:id="rId10"/>
    <p:sldId id="288" r:id="rId11"/>
    <p:sldId id="289" r:id="rId12"/>
    <p:sldId id="290" r:id="rId13"/>
    <p:sldId id="291" r:id="rId14"/>
    <p:sldId id="307" r:id="rId15"/>
    <p:sldId id="292" r:id="rId16"/>
    <p:sldId id="315" r:id="rId17"/>
    <p:sldId id="309" r:id="rId18"/>
    <p:sldId id="293" r:id="rId19"/>
    <p:sldId id="310" r:id="rId20"/>
    <p:sldId id="311" r:id="rId21"/>
    <p:sldId id="312" r:id="rId22"/>
    <p:sldId id="313" r:id="rId23"/>
    <p:sldId id="280" r:id="rId24"/>
    <p:sldId id="314" r:id="rId25"/>
    <p:sldId id="257" r:id="rId26"/>
    <p:sldId id="260" r:id="rId27"/>
    <p:sldId id="261" r:id="rId28"/>
    <p:sldId id="264" r:id="rId29"/>
    <p:sldId id="262" r:id="rId30"/>
    <p:sldId id="295" r:id="rId31"/>
    <p:sldId id="299" r:id="rId32"/>
    <p:sldId id="265" r:id="rId33"/>
    <p:sldId id="267" r:id="rId34"/>
    <p:sldId id="263" r:id="rId35"/>
    <p:sldId id="266" r:id="rId36"/>
    <p:sldId id="296" r:id="rId37"/>
    <p:sldId id="269" r:id="rId38"/>
    <p:sldId id="297" r:id="rId39"/>
    <p:sldId id="300" r:id="rId40"/>
    <p:sldId id="268" r:id="rId41"/>
    <p:sldId id="270" r:id="rId42"/>
    <p:sldId id="271" r:id="rId43"/>
    <p:sldId id="273" r:id="rId44"/>
    <p:sldId id="274" r:id="rId45"/>
    <p:sldId id="275"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45" d="100"/>
          <a:sy n="45" d="100"/>
        </p:scale>
        <p:origin x="48" y="4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798CF0-9009-48FF-AF1A-C2B53468DD72}" type="datetimeFigureOut">
              <a:rPr lang="en-GB" smtClean="0"/>
              <a:t>02/11/2020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C2F9AC-D06E-48DE-A808-DDE0F9FA9BEA}" type="slidenum">
              <a:rPr lang="en-GB" smtClean="0"/>
              <a:t>‹#›</a:t>
            </a:fld>
            <a:endParaRPr lang="en-GB"/>
          </a:p>
        </p:txBody>
      </p:sp>
    </p:spTree>
    <p:extLst>
      <p:ext uri="{BB962C8B-B14F-4D97-AF65-F5344CB8AC3E}">
        <p14:creationId xmlns:p14="http://schemas.microsoft.com/office/powerpoint/2010/main" val="1243515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F3D70C2-182E-4B61-808F-B56F6F527821}" type="slidenum">
              <a:rPr lang="en-GB" smtClean="0"/>
              <a:t>10</a:t>
            </a:fld>
            <a:endParaRPr lang="en-GB"/>
          </a:p>
        </p:txBody>
      </p:sp>
    </p:spTree>
    <p:extLst>
      <p:ext uri="{BB962C8B-B14F-4D97-AF65-F5344CB8AC3E}">
        <p14:creationId xmlns:p14="http://schemas.microsoft.com/office/powerpoint/2010/main" val="31092706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8BCF8B-3ABA-4AAF-92A8-D701EF2D10E5}" type="slidenum">
              <a:rPr lang="en-GB" smtClean="0"/>
              <a:t>27</a:t>
            </a:fld>
            <a:endParaRPr lang="en-GB"/>
          </a:p>
        </p:txBody>
      </p:sp>
    </p:spTree>
    <p:extLst>
      <p:ext uri="{BB962C8B-B14F-4D97-AF65-F5344CB8AC3E}">
        <p14:creationId xmlns:p14="http://schemas.microsoft.com/office/powerpoint/2010/main" val="30820515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78BCF8B-3ABA-4AAF-92A8-D701EF2D10E5}" type="slidenum">
              <a:rPr lang="en-GB" smtClean="0"/>
              <a:t>29</a:t>
            </a:fld>
            <a:endParaRPr lang="en-GB"/>
          </a:p>
        </p:txBody>
      </p:sp>
    </p:spTree>
    <p:extLst>
      <p:ext uri="{BB962C8B-B14F-4D97-AF65-F5344CB8AC3E}">
        <p14:creationId xmlns:p14="http://schemas.microsoft.com/office/powerpoint/2010/main" val="30932685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78BCF8B-3ABA-4AAF-92A8-D701EF2D10E5}" type="slidenum">
              <a:rPr lang="en-GB" smtClean="0"/>
              <a:t>41</a:t>
            </a:fld>
            <a:endParaRPr lang="en-GB"/>
          </a:p>
        </p:txBody>
      </p:sp>
    </p:spTree>
    <p:extLst>
      <p:ext uri="{BB962C8B-B14F-4D97-AF65-F5344CB8AC3E}">
        <p14:creationId xmlns:p14="http://schemas.microsoft.com/office/powerpoint/2010/main" val="1474685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CE93D-5219-4534-8AAE-16C65EC478F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D341C70-524B-447F-917F-3EA0251A5F4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DF1E30B-14AF-4EB1-B3D8-31A5B014BD15}"/>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55E4A5C9-22B0-403E-9A55-3EDD87BEB1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0CD1DF-684B-4FA8-87C7-61C77750048B}"/>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2461491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8AC1F-66B4-462B-B2D9-951ABA9ECD3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E6D459-A97D-40AF-88E6-D57624F37D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9F771A2-EBE1-4F2F-BD55-725A9381FB7F}"/>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A4CA297D-4CBF-458D-828A-EE1137DF862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7B42A4A-87E5-49DF-B341-8919F4EC7EC3}"/>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1947221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8714-45E7-46B0-AA9D-36321E8FE7A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35CE3D7-C8F0-4D42-8FD9-679F69A8A30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44FEE2-002D-4373-97B2-84251835E35E}"/>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A4547A1A-449C-4FD4-BA8A-E7330E5CE3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D79DDD1-D1B8-477E-A3A4-B14E651688B0}"/>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2424043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5E25E-81D3-42F3-85D4-06A895BD8B5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59D5F52-C2AF-4B30-A86E-535C009BEB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83F07CDF-7B50-4AC8-A83E-CB00070B7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D3003667-F61A-4DED-81FB-0D246BAD312C}"/>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6" name="Footer Placeholder 5">
            <a:extLst>
              <a:ext uri="{FF2B5EF4-FFF2-40B4-BE49-F238E27FC236}">
                <a16:creationId xmlns:a16="http://schemas.microsoft.com/office/drawing/2014/main" id="{CEBF9BB6-BC51-4AC4-BA04-EB99E959A8A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FC306B-E98B-4644-87DB-165EB1C76346}"/>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1513600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D7250-2A63-43CF-89AF-6A6107ED4C3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EE09218-1FEA-4997-A2F4-90D700F97D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ACA985-B978-4F26-ACEA-97022336D0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842D737-5DD7-4A4C-8588-C0D54FC27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0D63C22-48F0-454F-8A58-D514FA5280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83DD010-155F-44BD-B3EF-310071FEEBA4}"/>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8" name="Footer Placeholder 7">
            <a:extLst>
              <a:ext uri="{FF2B5EF4-FFF2-40B4-BE49-F238E27FC236}">
                <a16:creationId xmlns:a16="http://schemas.microsoft.com/office/drawing/2014/main" id="{00710914-8E74-4B78-8380-7436628CB50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F8E445-3DF6-48BA-981B-AAE1920EB49A}"/>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77331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DB44-54FF-4F38-9009-FE5F1165F2F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DF5417C-1D59-426A-BD3F-D545727D54EA}"/>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4" name="Footer Placeholder 3">
            <a:extLst>
              <a:ext uri="{FF2B5EF4-FFF2-40B4-BE49-F238E27FC236}">
                <a16:creationId xmlns:a16="http://schemas.microsoft.com/office/drawing/2014/main" id="{EF300593-66BE-4A50-88B3-8E979ED992F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B9EFA78-A59B-4DC1-9953-FA463EA08C6E}"/>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25971105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E14046C-3B0B-4E4C-B56F-1BE62EFB50E4}"/>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3" name="Footer Placeholder 2">
            <a:extLst>
              <a:ext uri="{FF2B5EF4-FFF2-40B4-BE49-F238E27FC236}">
                <a16:creationId xmlns:a16="http://schemas.microsoft.com/office/drawing/2014/main" id="{10D9D158-680D-4060-A6E7-8620F20E7154}"/>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BB776B6-FC72-4DA0-AC00-086A5780CA83}"/>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2493677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87F44-09FC-4C8D-A23E-B0AC9388DC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38686D63-D42F-4C12-95EC-71854C8021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D89672C-6710-42F9-8B19-619B60424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DBB6D2-1152-4D3A-A432-B0C07A0727F6}"/>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6" name="Footer Placeholder 5">
            <a:extLst>
              <a:ext uri="{FF2B5EF4-FFF2-40B4-BE49-F238E27FC236}">
                <a16:creationId xmlns:a16="http://schemas.microsoft.com/office/drawing/2014/main" id="{00DB3F86-F0F2-4203-91F6-EAAEC21D980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EE9B395-93D9-4791-B9C9-B4868F041093}"/>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1643433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1BE6D-49E4-44E8-950F-EE83E3E0BE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AD8A7EE-28F8-4882-A3F4-8B86EEBB17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986677F-BA0B-4CDD-B0FF-55C4944431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8C0EA7-CF54-4753-84E0-D4B5C21E5929}"/>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6" name="Footer Placeholder 5">
            <a:extLst>
              <a:ext uri="{FF2B5EF4-FFF2-40B4-BE49-F238E27FC236}">
                <a16:creationId xmlns:a16="http://schemas.microsoft.com/office/drawing/2014/main" id="{68B69DEF-3673-4A53-AD96-258C51E4E5D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1DC2B0-20AD-46AB-B559-54C536556EFA}"/>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2755901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3E336-BF09-4ADB-814F-23E4685CF7F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25E79167-97EC-49AA-8110-F0A697114B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684BFE1-1AB9-4176-B118-09F0B18EB08E}"/>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7B382718-E287-4A13-A908-3BACC17DF8B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8FB21F-6FC3-4CEA-8D0B-33BE491C6800}"/>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1315349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02E84F-4093-4DEF-8861-1A163B8864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1159F4-D3E3-4264-8DC6-8F0141053D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50C7504-42BA-4119-A748-80D6CB18C538}"/>
              </a:ext>
            </a:extLst>
          </p:cNvPr>
          <p:cNvSpPr>
            <a:spLocks noGrp="1"/>
          </p:cNvSpPr>
          <p:nvPr>
            <p:ph type="dt" sz="half" idx="10"/>
          </p:nvPr>
        </p:nvSpPr>
        <p:spPr/>
        <p:txBody>
          <a:body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8C421619-950C-4685-8422-5F52F94B4EE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5E22E8-A659-405F-889E-4979270D30F6}"/>
              </a:ext>
            </a:extLst>
          </p:cNvPr>
          <p:cNvSpPr>
            <a:spLocks noGrp="1"/>
          </p:cNvSpPr>
          <p:nvPr>
            <p:ph type="sldNum" sz="quarter" idx="12"/>
          </p:nvPr>
        </p:nvSpPr>
        <p:spPr/>
        <p:txBody>
          <a:bodyPr/>
          <a:lstStyle/>
          <a:p>
            <a:fld id="{539B3BA6-C127-4E62-96B0-14055CF01034}" type="slidenum">
              <a:rPr lang="en-GB" smtClean="0"/>
              <a:t>‹#›</a:t>
            </a:fld>
            <a:endParaRPr lang="en-GB"/>
          </a:p>
        </p:txBody>
      </p:sp>
    </p:spTree>
    <p:extLst>
      <p:ext uri="{BB962C8B-B14F-4D97-AF65-F5344CB8AC3E}">
        <p14:creationId xmlns:p14="http://schemas.microsoft.com/office/powerpoint/2010/main" val="1194273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3679EE-B70B-471E-BC3C-C5A49E9D4B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8E4FE45-7A6A-40EE-93AC-2AB44FB6A2F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0B089E2-38E7-4CC5-BF81-63CA5DD62A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342841-6612-4CDD-90A5-DB7ABA9FBAD1}" type="datetimeFigureOut">
              <a:rPr lang="en-GB" smtClean="0"/>
              <a:t>02/11/2020</a:t>
            </a:fld>
            <a:endParaRPr lang="en-GB"/>
          </a:p>
        </p:txBody>
      </p:sp>
      <p:sp>
        <p:nvSpPr>
          <p:cNvPr id="5" name="Footer Placeholder 4">
            <a:extLst>
              <a:ext uri="{FF2B5EF4-FFF2-40B4-BE49-F238E27FC236}">
                <a16:creationId xmlns:a16="http://schemas.microsoft.com/office/drawing/2014/main" id="{5876F82C-5481-4CD8-81BE-42B7EA2A34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34B662F9-332C-4A5F-B6FA-57A54129D6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9B3BA6-C127-4E62-96B0-14055CF01034}" type="slidenum">
              <a:rPr lang="en-GB" smtClean="0"/>
              <a:t>‹#›</a:t>
            </a:fld>
            <a:endParaRPr lang="en-GB"/>
          </a:p>
        </p:txBody>
      </p:sp>
    </p:spTree>
    <p:extLst>
      <p:ext uri="{BB962C8B-B14F-4D97-AF65-F5344CB8AC3E}">
        <p14:creationId xmlns:p14="http://schemas.microsoft.com/office/powerpoint/2010/main" val="2246181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commons.wikimedia.org/w/index.php?curid=59930654"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hyperlink" Target="https://academic.oup.com/aob/article/111/3/337/146966/Filial-mistletoes-the-functional-morphology-of" TargetMode="Externa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earningonscreen.ac.uk/ondemand/index.php/clip/101325"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hyperlink" Target="http://trned.lyellcollection.org/content/transed/13/1/106.full.pdf"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www.cambridge.org/core/journals/geological-magazine/article/an-introduction-to-the-rhynie-chert/8F6F361EF41FED11FA97C3448DE09458"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15.jpeg"/><Relationship Id="rId2" Type="http://schemas.openxmlformats.org/officeDocument/2006/relationships/image" Target="../media/image10.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6.jpeg"/></Relationships>
</file>

<file path=ppt/slides/_rels/slide12.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hyperlink" Target="https://commons.wikimedia.org/w/index.php?curid=3823922" TargetMode="External"/><Relationship Id="rId7" Type="http://schemas.openxmlformats.org/officeDocument/2006/relationships/hyperlink" Target="https://commons.wikimedia.org/w/index.php?curid=9445044" TargetMode="External"/><Relationship Id="rId2" Type="http://schemas.openxmlformats.org/officeDocument/2006/relationships/image" Target="../media/image17.jpe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hyperlink" Target="https://commons.wikimedia.org/w/index.php?curid=3495934" TargetMode="External"/><Relationship Id="rId4" Type="http://schemas.openxmlformats.org/officeDocument/2006/relationships/image" Target="../media/image18.jpeg"/><Relationship Id="rId9" Type="http://schemas.openxmlformats.org/officeDocument/2006/relationships/hyperlink" Target="https://commons.wikimedia.org/w/index.php?curid=36979632"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7.xml"/><Relationship Id="rId4" Type="http://schemas.openxmlformats.org/officeDocument/2006/relationships/hyperlink" Target="https://mycorrhizas.info/evol.html"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5.xml.rels><?xml version="1.0" encoding="UTF-8" standalone="yes"?>
<Relationships xmlns="http://schemas.openxmlformats.org/package/2006/relationships"><Relationship Id="rId3" Type="http://schemas.openxmlformats.org/officeDocument/2006/relationships/hyperlink" Target="http://www.amjbot.org/content/100/4/754.full" TargetMode="External"/><Relationship Id="rId2" Type="http://schemas.openxmlformats.org/officeDocument/2006/relationships/image" Target="../media/image26.jpe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hyperlink" Target="https://academic.oup.com/aob/article/96/3/345/209547/Leaf-Evolution-Gases-Genes-and-Geochemistry"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7.xml"/><Relationship Id="rId5" Type="http://schemas.openxmlformats.org/officeDocument/2006/relationships/image" Target="../media/image34.jpeg"/><Relationship Id="rId4" Type="http://schemas.openxmlformats.org/officeDocument/2006/relationships/image" Target="../media/image33.jpeg"/></Relationships>
</file>

<file path=ppt/slides/_rels/slide23.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www.phytoimages.siu.edu/" TargetMode="External"/><Relationship Id="rId2" Type="http://schemas.openxmlformats.org/officeDocument/2006/relationships/image" Target="../media/image36.jpeg"/><Relationship Id="rId1" Type="http://schemas.openxmlformats.org/officeDocument/2006/relationships/slideLayout" Target="../slideLayouts/slideLayout7.xml"/><Relationship Id="rId6" Type="http://schemas.openxmlformats.org/officeDocument/2006/relationships/image" Target="../media/image39.jpeg"/><Relationship Id="rId5" Type="http://schemas.openxmlformats.org/officeDocument/2006/relationships/image" Target="../media/image38.jpeg"/><Relationship Id="rId4" Type="http://schemas.openxmlformats.org/officeDocument/2006/relationships/image" Target="../media/image37.jpeg"/></Relationships>
</file>

<file path=ppt/slides/_rels/slide2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2.gif"/><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45.jpeg"/><Relationship Id="rId4" Type="http://schemas.openxmlformats.org/officeDocument/2006/relationships/image" Target="../media/image44.jpeg"/></Relationships>
</file>

<file path=ppt/slides/_rels/slide28.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hyperlink" Target="https://en.wikipedia.org/wiki/Carboniferous_rainforest_collapse" TargetMode="External"/><Relationship Id="rId5" Type="http://schemas.openxmlformats.org/officeDocument/2006/relationships/image" Target="../media/image49.png"/><Relationship Id="rId4" Type="http://schemas.openxmlformats.org/officeDocument/2006/relationships/image" Target="../media/image4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7.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s>
</file>

<file path=ppt/slides/_rels/slide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hyperlink" Target="https://en.wikipedia.org/wiki/Gnetophyta"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hyperlink" Target="https://login.learningonscreen.ac.uk/wayfless.php?entityID=https://shib.manchester.ac.uk/shibboleth&amp;target=https://learningonscreen.ac.uk/ondemand/index.php/clip/102228" TargetMode="External"/><Relationship Id="rId1" Type="http://schemas.openxmlformats.org/officeDocument/2006/relationships/slideLayout" Target="../slideLayouts/slideLayout7.xml"/><Relationship Id="rId4" Type="http://schemas.openxmlformats.org/officeDocument/2006/relationships/hyperlink" Target="https://learningonscreen.ac.uk/ondemand/index.php/clip/102228"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image" Target="../media/image58.jpeg"/><Relationship Id="rId1" Type="http://schemas.openxmlformats.org/officeDocument/2006/relationships/slideLayout" Target="../slideLayouts/slideLayout7.xml"/><Relationship Id="rId4" Type="http://schemas.openxmlformats.org/officeDocument/2006/relationships/image" Target="../media/image60.jpeg"/></Relationships>
</file>

<file path=ppt/slides/_rels/slide41.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4.jpeg"/><Relationship Id="rId5" Type="http://schemas.openxmlformats.org/officeDocument/2006/relationships/image" Target="../media/image63.jpeg"/><Relationship Id="rId4" Type="http://schemas.openxmlformats.org/officeDocument/2006/relationships/image" Target="../media/image62.jpeg"/></Relationships>
</file>

<file path=ppt/slides/_rels/slide42.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image" Target="../media/image67.jpeg"/><Relationship Id="rId1" Type="http://schemas.openxmlformats.org/officeDocument/2006/relationships/slideLayout" Target="../slideLayouts/slideLayout7.xml"/><Relationship Id="rId6" Type="http://schemas.openxmlformats.org/officeDocument/2006/relationships/image" Target="../media/image71.jpeg"/><Relationship Id="rId5" Type="http://schemas.openxmlformats.org/officeDocument/2006/relationships/image" Target="../media/image70.jpeg"/><Relationship Id="rId4" Type="http://schemas.openxmlformats.org/officeDocument/2006/relationships/image" Target="../media/image69.jpeg"/></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7.xml"/><Relationship Id="rId5" Type="http://schemas.openxmlformats.org/officeDocument/2006/relationships/image" Target="../media/image75.jpeg"/><Relationship Id="rId4" Type="http://schemas.openxmlformats.org/officeDocument/2006/relationships/image" Target="../media/image74.jpeg"/></Relationships>
</file>

<file path=ppt/slides/_rels/slide4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7.xml"/><Relationship Id="rId4"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928704" y="2190750"/>
            <a:ext cx="6323115" cy="2476499"/>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Reach for the Sky</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722340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5019131" cy="461665"/>
          </a:xfrm>
          <a:prstGeom prst="rect">
            <a:avLst/>
          </a:prstGeom>
          <a:noFill/>
        </p:spPr>
        <p:txBody>
          <a:bodyPr wrap="none" rtlCol="0">
            <a:spAutoFit/>
          </a:bodyPr>
          <a:lstStyle/>
          <a:p>
            <a:r>
              <a:rPr lang="en-GB" sz="2400" dirty="0">
                <a:solidFill>
                  <a:srgbClr val="FF0000"/>
                </a:solidFill>
              </a:rPr>
              <a:t>The problem with being a bryophyte….</a:t>
            </a:r>
          </a:p>
        </p:txBody>
      </p:sp>
      <p:sp>
        <p:nvSpPr>
          <p:cNvPr id="3" name="TextBox 2"/>
          <p:cNvSpPr txBox="1"/>
          <p:nvPr/>
        </p:nvSpPr>
        <p:spPr>
          <a:xfrm>
            <a:off x="3451921" y="461665"/>
            <a:ext cx="8308685" cy="3970318"/>
          </a:xfrm>
          <a:prstGeom prst="rect">
            <a:avLst/>
          </a:prstGeom>
          <a:noFill/>
        </p:spPr>
        <p:txBody>
          <a:bodyPr wrap="none" rtlCol="0">
            <a:spAutoFit/>
          </a:bodyPr>
          <a:lstStyle/>
          <a:p>
            <a:r>
              <a:rPr lang="en-GB" sz="2400" dirty="0"/>
              <a:t>Poor ability to capture and retain water</a:t>
            </a:r>
          </a:p>
          <a:p>
            <a:r>
              <a:rPr lang="en-GB" sz="2400" dirty="0"/>
              <a:t>	So… confined to damp places</a:t>
            </a:r>
          </a:p>
          <a:p>
            <a:r>
              <a:rPr lang="en-GB" sz="2400" dirty="0"/>
              <a:t>		But… can spread using spores</a:t>
            </a:r>
          </a:p>
          <a:p>
            <a:endParaRPr lang="en-GB" sz="2400" dirty="0"/>
          </a:p>
          <a:p>
            <a:r>
              <a:rPr lang="en-GB" sz="2400" dirty="0"/>
              <a:t>Can survive total desiccation (</a:t>
            </a:r>
            <a:r>
              <a:rPr lang="en-GB" sz="2400" dirty="0">
                <a:solidFill>
                  <a:srgbClr val="FF0000"/>
                </a:solidFill>
              </a:rPr>
              <a:t>resurrection plant</a:t>
            </a:r>
            <a:r>
              <a:rPr lang="en-GB" sz="2400" dirty="0"/>
              <a:t>)</a:t>
            </a:r>
          </a:p>
          <a:p>
            <a:r>
              <a:rPr lang="en-GB" sz="2400" dirty="0"/>
              <a:t>	Poor water transport</a:t>
            </a:r>
          </a:p>
          <a:p>
            <a:r>
              <a:rPr lang="en-GB" sz="2400" dirty="0"/>
              <a:t>		Limited uptake of nutrients (maybe </a:t>
            </a:r>
            <a:r>
              <a:rPr lang="en-GB" sz="2400" dirty="0" err="1"/>
              <a:t>ombrotrophic</a:t>
            </a:r>
            <a:r>
              <a:rPr lang="en-GB" sz="2400" dirty="0"/>
              <a:t>)</a:t>
            </a:r>
          </a:p>
          <a:p>
            <a:pPr algn="ctr"/>
            <a:r>
              <a:rPr lang="en-GB" sz="3600" dirty="0">
                <a:solidFill>
                  <a:srgbClr val="FF0000"/>
                </a:solidFill>
              </a:rPr>
              <a:t>Limited height – need to be near surface</a:t>
            </a:r>
          </a:p>
          <a:p>
            <a:endParaRPr lang="en-GB" sz="2400" dirty="0"/>
          </a:p>
          <a:p>
            <a:endParaRPr lang="en-GB" sz="2400" dirty="0"/>
          </a:p>
        </p:txBody>
      </p:sp>
      <p:pic>
        <p:nvPicPr>
          <p:cNvPr id="15362" name="Picture 2" descr="https://upload.wikimedia.org/wikipedia/commons/thumb/a/a4/Bryophyte.jpg/1280px-Bryophyte.jpg"/>
          <p:cNvPicPr>
            <a:picLocks noChangeAspect="1" noChangeArrowheads="1"/>
          </p:cNvPicPr>
          <p:nvPr/>
        </p:nvPicPr>
        <p:blipFill rotWithShape="1">
          <a:blip r:embed="rId2">
            <a:extLst>
              <a:ext uri="{28A0092B-C50C-407E-A947-70E740481C1C}">
                <a14:useLocalDpi xmlns:a14="http://schemas.microsoft.com/office/drawing/2010/main" val="0"/>
              </a:ext>
            </a:extLst>
          </a:blip>
          <a:srcRect t="39609" b="8226"/>
          <a:stretch/>
        </p:blipFill>
        <p:spPr bwMode="auto">
          <a:xfrm>
            <a:off x="2081956" y="3717032"/>
            <a:ext cx="8028088" cy="314096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008784" y="6540956"/>
            <a:ext cx="6174432" cy="215444"/>
          </a:xfrm>
          <a:prstGeom prst="rect">
            <a:avLst/>
          </a:prstGeom>
        </p:spPr>
        <p:txBody>
          <a:bodyPr wrap="square">
            <a:spAutoFit/>
          </a:bodyPr>
          <a:lstStyle/>
          <a:p>
            <a:r>
              <a:rPr lang="en-GB" sz="800" dirty="0">
                <a:solidFill>
                  <a:schemeClr val="bg1"/>
                </a:solidFill>
              </a:rPr>
              <a:t>By </a:t>
            </a:r>
            <a:r>
              <a:rPr lang="en-GB" sz="800" dirty="0" err="1">
                <a:solidFill>
                  <a:schemeClr val="bg1"/>
                </a:solidFill>
              </a:rPr>
              <a:t>gwenole</a:t>
            </a:r>
            <a:r>
              <a:rPr lang="en-GB" sz="800" dirty="0">
                <a:solidFill>
                  <a:schemeClr val="bg1"/>
                </a:solidFill>
              </a:rPr>
              <a:t> </a:t>
            </a:r>
            <a:r>
              <a:rPr lang="en-GB" sz="800" dirty="0" err="1">
                <a:solidFill>
                  <a:schemeClr val="bg1"/>
                </a:solidFill>
              </a:rPr>
              <a:t>camus</a:t>
            </a:r>
            <a:r>
              <a:rPr lang="en-GB" sz="800" dirty="0">
                <a:solidFill>
                  <a:schemeClr val="bg1"/>
                </a:solidFill>
              </a:rPr>
              <a:t> from </a:t>
            </a:r>
            <a:r>
              <a:rPr lang="en-GB" sz="800" dirty="0" err="1">
                <a:solidFill>
                  <a:schemeClr val="bg1"/>
                </a:solidFill>
              </a:rPr>
              <a:t>Cournon</a:t>
            </a:r>
            <a:r>
              <a:rPr lang="en-GB" sz="800" dirty="0">
                <a:solidFill>
                  <a:schemeClr val="bg1"/>
                </a:solidFill>
              </a:rPr>
              <a:t> </a:t>
            </a:r>
            <a:r>
              <a:rPr lang="en-GB" sz="800" dirty="0" err="1">
                <a:solidFill>
                  <a:schemeClr val="bg1"/>
                </a:solidFill>
              </a:rPr>
              <a:t>d'auvergne</a:t>
            </a:r>
            <a:r>
              <a:rPr lang="en-GB" sz="800" dirty="0">
                <a:solidFill>
                  <a:schemeClr val="bg1"/>
                </a:solidFill>
              </a:rPr>
              <a:t>, France - P1030792, CC BY-SA 2.0, https://commons.wikimedia.org/w/index.php?curid=43080830</a:t>
            </a:r>
          </a:p>
        </p:txBody>
      </p:sp>
    </p:spTree>
    <p:extLst>
      <p:ext uri="{BB962C8B-B14F-4D97-AF65-F5344CB8AC3E}">
        <p14:creationId xmlns:p14="http://schemas.microsoft.com/office/powerpoint/2010/main" val="979446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kärmklipp 2017-06-14 17.25.17.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9308" y="261610"/>
            <a:ext cx="5744189" cy="382946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0" y="0"/>
            <a:ext cx="3870868" cy="523220"/>
          </a:xfrm>
          <a:prstGeom prst="rect">
            <a:avLst/>
          </a:prstGeom>
          <a:noFill/>
        </p:spPr>
        <p:txBody>
          <a:bodyPr wrap="none" rtlCol="0">
            <a:spAutoFit/>
          </a:bodyPr>
          <a:lstStyle/>
          <a:p>
            <a:r>
              <a:rPr lang="en-GB" sz="2800" dirty="0">
                <a:solidFill>
                  <a:srgbClr val="FF0000"/>
                </a:solidFill>
              </a:rPr>
              <a:t>War of the Generations…</a:t>
            </a:r>
          </a:p>
        </p:txBody>
      </p:sp>
      <p:sp>
        <p:nvSpPr>
          <p:cNvPr id="3" name="Down Arrow 2"/>
          <p:cNvSpPr/>
          <p:nvPr/>
        </p:nvSpPr>
        <p:spPr>
          <a:xfrm rot="3259480">
            <a:off x="7440910" y="478306"/>
            <a:ext cx="803285" cy="1550745"/>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 name="TextBox 3"/>
          <p:cNvSpPr txBox="1"/>
          <p:nvPr/>
        </p:nvSpPr>
        <p:spPr>
          <a:xfrm>
            <a:off x="8567145" y="272819"/>
            <a:ext cx="2319738" cy="523220"/>
          </a:xfrm>
          <a:prstGeom prst="rect">
            <a:avLst/>
          </a:prstGeom>
          <a:noFill/>
        </p:spPr>
        <p:txBody>
          <a:bodyPr wrap="none" rtlCol="0">
            <a:spAutoFit/>
          </a:bodyPr>
          <a:lstStyle/>
          <a:p>
            <a:r>
              <a:rPr lang="en-GB" sz="2800" dirty="0"/>
              <a:t>Sporophyte 2n</a:t>
            </a:r>
          </a:p>
        </p:txBody>
      </p:sp>
      <p:sp>
        <p:nvSpPr>
          <p:cNvPr id="6" name="Right Arrow 5"/>
          <p:cNvSpPr/>
          <p:nvPr/>
        </p:nvSpPr>
        <p:spPr>
          <a:xfrm rot="19082086">
            <a:off x="5306641" y="3524371"/>
            <a:ext cx="1224136" cy="82569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TextBox 8"/>
          <p:cNvSpPr txBox="1"/>
          <p:nvPr/>
        </p:nvSpPr>
        <p:spPr>
          <a:xfrm>
            <a:off x="3431116" y="4391855"/>
            <a:ext cx="2643865" cy="523220"/>
          </a:xfrm>
          <a:prstGeom prst="rect">
            <a:avLst/>
          </a:prstGeom>
          <a:noFill/>
        </p:spPr>
        <p:txBody>
          <a:bodyPr wrap="none" rtlCol="0">
            <a:spAutoFit/>
          </a:bodyPr>
          <a:lstStyle/>
          <a:p>
            <a:r>
              <a:rPr lang="en-GB" sz="2800" dirty="0"/>
              <a:t>Gametophyte - n</a:t>
            </a:r>
          </a:p>
        </p:txBody>
      </p:sp>
      <p:sp>
        <p:nvSpPr>
          <p:cNvPr id="7" name="TextBox 6"/>
          <p:cNvSpPr txBox="1"/>
          <p:nvPr/>
        </p:nvSpPr>
        <p:spPr>
          <a:xfrm>
            <a:off x="4508084" y="4973897"/>
            <a:ext cx="6404767" cy="1384995"/>
          </a:xfrm>
          <a:prstGeom prst="rect">
            <a:avLst/>
          </a:prstGeom>
          <a:noFill/>
        </p:spPr>
        <p:txBody>
          <a:bodyPr wrap="none" rtlCol="0">
            <a:spAutoFit/>
          </a:bodyPr>
          <a:lstStyle/>
          <a:p>
            <a:pPr algn="ctr"/>
            <a:r>
              <a:rPr lang="en-GB" sz="2800" dirty="0"/>
              <a:t>Sporophyte is 50% foreign to “mother”</a:t>
            </a:r>
          </a:p>
          <a:p>
            <a:pPr algn="ctr"/>
            <a:r>
              <a:rPr lang="en-GB" sz="2800" dirty="0"/>
              <a:t>Sporophyte is +/- heterotrophic</a:t>
            </a:r>
          </a:p>
          <a:p>
            <a:pPr algn="ctr"/>
            <a:r>
              <a:rPr lang="en-GB" sz="2800" dirty="0"/>
              <a:t>Is sporophyte “parasitic” on gametophyte?</a:t>
            </a:r>
          </a:p>
        </p:txBody>
      </p:sp>
      <p:sp>
        <p:nvSpPr>
          <p:cNvPr id="8" name="Rectangle 7"/>
          <p:cNvSpPr/>
          <p:nvPr/>
        </p:nvSpPr>
        <p:spPr>
          <a:xfrm>
            <a:off x="6023403" y="4070007"/>
            <a:ext cx="4572000" cy="430887"/>
          </a:xfrm>
          <a:prstGeom prst="rect">
            <a:avLst/>
          </a:prstGeom>
        </p:spPr>
        <p:txBody>
          <a:bodyPr>
            <a:spAutoFit/>
          </a:bodyPr>
          <a:lstStyle/>
          <a:p>
            <a:pPr algn="ctr"/>
            <a:r>
              <a:rPr lang="en-GB" sz="1050" dirty="0"/>
              <a:t>By Oscar </a:t>
            </a:r>
            <a:r>
              <a:rPr lang="en-GB" sz="1050" dirty="0" err="1"/>
              <a:t>Furbacken</a:t>
            </a:r>
            <a:r>
              <a:rPr lang="en-GB" sz="1050" dirty="0"/>
              <a:t> - Own work, CC BY-SA 4.0, </a:t>
            </a:r>
            <a:r>
              <a:rPr lang="en-GB" sz="1050" dirty="0">
                <a:hlinkClick r:id="rId3"/>
              </a:rPr>
              <a:t>https://commons.wikimedia.org/w/index.php?curid=59930654</a:t>
            </a:r>
            <a:endParaRPr lang="en-GB" sz="1050" dirty="0"/>
          </a:p>
        </p:txBody>
      </p:sp>
    </p:spTree>
    <p:extLst>
      <p:ext uri="{BB962C8B-B14F-4D97-AF65-F5344CB8AC3E}">
        <p14:creationId xmlns:p14="http://schemas.microsoft.com/office/powerpoint/2010/main" val="2202632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7">
                                            <p:txEl>
                                              <p:pRg st="0" end="0"/>
                                            </p:txEl>
                                          </p:spTgt>
                                        </p:tgtEl>
                                        <p:attrNameLst>
                                          <p:attrName>style.visibility</p:attrName>
                                        </p:attrNameLst>
                                      </p:cBhvr>
                                      <p:to>
                                        <p:strVal val="visible"/>
                                      </p:to>
                                    </p:set>
                                    <p:animEffect transition="in" filter="fade">
                                      <p:cBhvr>
                                        <p:cTn id="23" dur="500"/>
                                        <p:tgtEl>
                                          <p:spTgt spid="7">
                                            <p:txEl>
                                              <p:pRg st="0" end="0"/>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7">
                                            <p:txEl>
                                              <p:pRg st="1" end="1"/>
                                            </p:txEl>
                                          </p:spTgt>
                                        </p:tgtEl>
                                        <p:attrNameLst>
                                          <p:attrName>style.visibility</p:attrName>
                                        </p:attrNameLst>
                                      </p:cBhvr>
                                      <p:to>
                                        <p:strVal val="visible"/>
                                      </p:to>
                                    </p:set>
                                    <p:animEffect transition="in" filter="fade">
                                      <p:cBhvr>
                                        <p:cTn id="28" dur="500"/>
                                        <p:tgtEl>
                                          <p:spTgt spid="7">
                                            <p:txEl>
                                              <p:pRg st="1" end="1"/>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7">
                                            <p:txEl>
                                              <p:pRg st="2" end="2"/>
                                            </p:txEl>
                                          </p:spTgt>
                                        </p:tgtEl>
                                        <p:attrNameLst>
                                          <p:attrName>style.visibility</p:attrName>
                                        </p:attrNameLst>
                                      </p:cBhvr>
                                      <p:to>
                                        <p:strVal val="visible"/>
                                      </p:to>
                                    </p:set>
                                    <p:animEffect transition="in" filter="fade">
                                      <p:cBhvr>
                                        <p:cTn id="33"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6" grpId="0" animBg="1"/>
      <p:bldP spid="9" grpId="0"/>
      <p:bldP spid="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35560" y="6453337"/>
            <a:ext cx="8280920" cy="307777"/>
          </a:xfrm>
          <a:prstGeom prst="rect">
            <a:avLst/>
          </a:prstGeom>
        </p:spPr>
        <p:txBody>
          <a:bodyPr wrap="square">
            <a:spAutoFit/>
          </a:bodyPr>
          <a:lstStyle/>
          <a:p>
            <a:r>
              <a:rPr lang="en-GB" sz="1400" dirty="0">
                <a:hlinkClick r:id="rId2"/>
              </a:rPr>
              <a:t>https://academic.oup.com/aob/article/111/3/337/146966/Filial-mistletoes-the-functional-morphology-of</a:t>
            </a:r>
            <a:endParaRPr lang="en-GB" sz="1400" dirty="0"/>
          </a:p>
        </p:txBody>
      </p:sp>
      <p:pic>
        <p:nvPicPr>
          <p:cNvPr id="3074" name="Picture 2" descr="(A) Longitudinal section of developing sporophyte and associated gametophytic structures (Phascum cuspidatum, modified from Roth, 1969). Gametophytic structures are labelled on the left and sporophytic structures on the right. (B) Habit of Polytrichum commune (modified from Goebel, 1905). The leafy gametophyte bears two sporophytes. The sporophyte on the left retains its gametophytic calyptra whereas the sporophyte on the right has shed its calyptr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7578" y="477957"/>
            <a:ext cx="2883777" cy="371563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546874" y="4203086"/>
            <a:ext cx="4572000" cy="584775"/>
          </a:xfrm>
          <a:prstGeom prst="rect">
            <a:avLst/>
          </a:prstGeom>
        </p:spPr>
        <p:txBody>
          <a:bodyPr>
            <a:spAutoFit/>
          </a:bodyPr>
          <a:lstStyle/>
          <a:p>
            <a:pPr algn="ctr"/>
            <a:r>
              <a:rPr lang="en-GB" sz="1600" dirty="0"/>
              <a:t>Sporophyte and associated </a:t>
            </a:r>
            <a:r>
              <a:rPr lang="en-GB" sz="1600" dirty="0" err="1"/>
              <a:t>gametophytic</a:t>
            </a:r>
            <a:r>
              <a:rPr lang="en-GB" sz="1600" dirty="0"/>
              <a:t> structures from </a:t>
            </a:r>
            <a:r>
              <a:rPr lang="en-GB" sz="1600" i="1" dirty="0" err="1"/>
              <a:t>Phascum</a:t>
            </a:r>
            <a:r>
              <a:rPr lang="en-GB" sz="1600" i="1" dirty="0"/>
              <a:t> </a:t>
            </a:r>
            <a:r>
              <a:rPr lang="en-GB" sz="1600" i="1" dirty="0" err="1"/>
              <a:t>cuspidatum</a:t>
            </a:r>
            <a:endParaRPr lang="en-GB" sz="1600" dirty="0"/>
          </a:p>
        </p:txBody>
      </p:sp>
      <p:pic>
        <p:nvPicPr>
          <p:cNvPr id="3076" name="Picture 4" descr="Phylogeny of major groups of mosses with the presence of stomata indicated by open circles. Taxa in which the sporophyte is enclosed within the epigonium until after meiosis are underlined. (A) Hypothesis in which there is a single origin of stomata from which pseudostomata of Sphagnum were derived. (B) Hypothesis in which stomata evolved twice and in which pseudostomata are not homologous to stomat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30731" y="1452372"/>
            <a:ext cx="4953000" cy="18764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6952464" y="3338208"/>
            <a:ext cx="4572000" cy="584775"/>
          </a:xfrm>
          <a:prstGeom prst="rect">
            <a:avLst/>
          </a:prstGeom>
        </p:spPr>
        <p:txBody>
          <a:bodyPr>
            <a:spAutoFit/>
          </a:bodyPr>
          <a:lstStyle/>
          <a:p>
            <a:pPr algn="ctr"/>
            <a:r>
              <a:rPr lang="en-GB" sz="1600" dirty="0"/>
              <a:t>Models for evolution of stomata in Sporophytes</a:t>
            </a:r>
          </a:p>
          <a:p>
            <a:pPr algn="ctr"/>
            <a:r>
              <a:rPr lang="en-GB" sz="1600" dirty="0"/>
              <a:t>(</a:t>
            </a:r>
            <a:r>
              <a:rPr lang="en-GB" sz="1600" i="1" dirty="0"/>
              <a:t>Sphagnum </a:t>
            </a:r>
            <a:r>
              <a:rPr lang="en-GB" sz="1600" dirty="0"/>
              <a:t>has </a:t>
            </a:r>
            <a:r>
              <a:rPr lang="en-GB" sz="1600" dirty="0" err="1"/>
              <a:t>pseudostomata</a:t>
            </a:r>
            <a:r>
              <a:rPr lang="en-GB" sz="1600" dirty="0"/>
              <a:t>)</a:t>
            </a:r>
          </a:p>
        </p:txBody>
      </p:sp>
      <p:sp>
        <p:nvSpPr>
          <p:cNvPr id="5" name="TextBox 4"/>
          <p:cNvSpPr txBox="1"/>
          <p:nvPr/>
        </p:nvSpPr>
        <p:spPr>
          <a:xfrm>
            <a:off x="0" y="-24244"/>
            <a:ext cx="8422498" cy="461665"/>
          </a:xfrm>
          <a:prstGeom prst="rect">
            <a:avLst/>
          </a:prstGeom>
          <a:noFill/>
        </p:spPr>
        <p:txBody>
          <a:bodyPr wrap="none" rtlCol="0">
            <a:spAutoFit/>
          </a:bodyPr>
          <a:lstStyle/>
          <a:p>
            <a:r>
              <a:rPr lang="en-GB" sz="2400" dirty="0">
                <a:solidFill>
                  <a:srgbClr val="FF0000"/>
                </a:solidFill>
              </a:rPr>
              <a:t>Moss and hornwort sporophytes have stomata and vascular tissue</a:t>
            </a:r>
          </a:p>
        </p:txBody>
      </p:sp>
      <p:sp>
        <p:nvSpPr>
          <p:cNvPr id="6" name="TextBox 5"/>
          <p:cNvSpPr txBox="1"/>
          <p:nvPr/>
        </p:nvSpPr>
        <p:spPr>
          <a:xfrm>
            <a:off x="2187433" y="5805265"/>
            <a:ext cx="8177175" cy="461665"/>
          </a:xfrm>
          <a:prstGeom prst="rect">
            <a:avLst/>
          </a:prstGeom>
          <a:noFill/>
        </p:spPr>
        <p:txBody>
          <a:bodyPr wrap="none" rtlCol="0">
            <a:spAutoFit/>
          </a:bodyPr>
          <a:lstStyle/>
          <a:p>
            <a:r>
              <a:rPr lang="en-GB" sz="2400" dirty="0">
                <a:solidFill>
                  <a:srgbClr val="FF0000"/>
                </a:solidFill>
              </a:rPr>
              <a:t>Is transpiration a way of “sucking” nutrients from gametophyte?</a:t>
            </a:r>
          </a:p>
        </p:txBody>
      </p:sp>
      <p:sp>
        <p:nvSpPr>
          <p:cNvPr id="8" name="TextBox 7"/>
          <p:cNvSpPr txBox="1"/>
          <p:nvPr/>
        </p:nvSpPr>
        <p:spPr>
          <a:xfrm>
            <a:off x="6096000" y="4787861"/>
            <a:ext cx="5665590" cy="830997"/>
          </a:xfrm>
          <a:prstGeom prst="rect">
            <a:avLst/>
          </a:prstGeom>
          <a:noFill/>
        </p:spPr>
        <p:txBody>
          <a:bodyPr wrap="none" rtlCol="0">
            <a:spAutoFit/>
          </a:bodyPr>
          <a:lstStyle/>
          <a:p>
            <a:r>
              <a:rPr lang="en-GB" sz="2400" i="1" dirty="0"/>
              <a:t>Vascular tissue: </a:t>
            </a:r>
            <a:r>
              <a:rPr lang="en-GB" sz="2400" dirty="0"/>
              <a:t>hollow tubes carrying water</a:t>
            </a:r>
          </a:p>
          <a:p>
            <a:r>
              <a:rPr lang="en-GB" sz="2400" i="1" dirty="0"/>
              <a:t>Stomata: </a:t>
            </a:r>
            <a:r>
              <a:rPr lang="en-GB" sz="2400" dirty="0"/>
              <a:t>pores in tissue surface</a:t>
            </a:r>
          </a:p>
        </p:txBody>
      </p:sp>
    </p:spTree>
    <p:extLst>
      <p:ext uri="{BB962C8B-B14F-4D97-AF65-F5344CB8AC3E}">
        <p14:creationId xmlns:p14="http://schemas.microsoft.com/office/powerpoint/2010/main" val="2135525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4421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54586" t="23634" r="15164" b="9329"/>
          <a:stretch/>
        </p:blipFill>
        <p:spPr bwMode="auto">
          <a:xfrm>
            <a:off x="3074452" y="620688"/>
            <a:ext cx="6043096" cy="45198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2783632" y="5165637"/>
            <a:ext cx="6768752" cy="646331"/>
          </a:xfrm>
          <a:prstGeom prst="rect">
            <a:avLst/>
          </a:prstGeom>
        </p:spPr>
        <p:txBody>
          <a:bodyPr wrap="square">
            <a:spAutoFit/>
          </a:bodyPr>
          <a:lstStyle/>
          <a:p>
            <a:pPr algn="ctr"/>
            <a:r>
              <a:rPr lang="en-GB" dirty="0">
                <a:hlinkClick r:id="rId3"/>
              </a:rPr>
              <a:t>https://learningonscreen.ac.uk/ondemand/index.php/clip/101325</a:t>
            </a:r>
            <a:r>
              <a:rPr lang="en-GB" dirty="0"/>
              <a:t> (3:20)</a:t>
            </a:r>
          </a:p>
        </p:txBody>
      </p:sp>
    </p:spTree>
    <p:extLst>
      <p:ext uri="{BB962C8B-B14F-4D97-AF65-F5344CB8AC3E}">
        <p14:creationId xmlns:p14="http://schemas.microsoft.com/office/powerpoint/2010/main" val="398551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0189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874052" y="2186418"/>
            <a:ext cx="6443896" cy="2485163"/>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The Rhynie Chert</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428648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34285" y="1179861"/>
            <a:ext cx="3004499" cy="4380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54375" t="12333" r="6250" b="5185"/>
          <a:stretch/>
        </p:blipFill>
        <p:spPr bwMode="auto">
          <a:xfrm>
            <a:off x="7090668" y="1323876"/>
            <a:ext cx="3203848" cy="2265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ectangle 1"/>
          <p:cNvSpPr/>
          <p:nvPr/>
        </p:nvSpPr>
        <p:spPr>
          <a:xfrm>
            <a:off x="6640292" y="3810816"/>
            <a:ext cx="5311917" cy="1569660"/>
          </a:xfrm>
          <a:prstGeom prst="rect">
            <a:avLst/>
          </a:prstGeom>
        </p:spPr>
        <p:txBody>
          <a:bodyPr wrap="square">
            <a:spAutoFit/>
          </a:bodyPr>
          <a:lstStyle/>
          <a:p>
            <a:r>
              <a:rPr lang="en-GB" sz="1600" dirty="0">
                <a:latin typeface="Century751 BT" panose="02040503050505020304" pitchFamily="18" charset="0"/>
              </a:rPr>
              <a:t>“Mackie was not only a skilled </a:t>
            </a:r>
            <a:r>
              <a:rPr lang="en-GB" sz="1600" dirty="0" err="1">
                <a:latin typeface="Century751 BT" panose="02040503050505020304" pitchFamily="18" charset="0"/>
              </a:rPr>
              <a:t>microscopist</a:t>
            </a:r>
            <a:r>
              <a:rPr lang="en-GB" sz="1600" dirty="0">
                <a:latin typeface="Century751 BT" panose="02040503050505020304" pitchFamily="18" charset="0"/>
              </a:rPr>
              <a:t> and chemist; he was an enthusiastic and  competent field observer, and his keen eye detected the plant-bearing </a:t>
            </a:r>
            <a:r>
              <a:rPr lang="en-GB" sz="1600" dirty="0" err="1">
                <a:latin typeface="Century751 BT" panose="02040503050505020304" pitchFamily="18" charset="0"/>
              </a:rPr>
              <a:t>cherts</a:t>
            </a:r>
            <a:r>
              <a:rPr lang="en-GB" sz="1600" dirty="0">
                <a:latin typeface="Century751 BT" panose="02040503050505020304" pitchFamily="18" charset="0"/>
              </a:rPr>
              <a:t> of </a:t>
            </a:r>
            <a:r>
              <a:rPr lang="en-GB" sz="1600" dirty="0" err="1">
                <a:latin typeface="Century751 BT" panose="02040503050505020304" pitchFamily="18" charset="0"/>
              </a:rPr>
              <a:t>Rhynie</a:t>
            </a:r>
            <a:r>
              <a:rPr lang="en-GB" sz="1600" dirty="0">
                <a:latin typeface="Century751 BT" panose="02040503050505020304" pitchFamily="18" charset="0"/>
              </a:rPr>
              <a:t> in a drystone dyke by the roadside during one of his frequent excursions to Central Aberdeenshire.” </a:t>
            </a:r>
          </a:p>
          <a:p>
            <a:r>
              <a:rPr lang="en-GB" sz="1600" b="1" dirty="0">
                <a:latin typeface="Century751 BT" panose="02040503050505020304" pitchFamily="18" charset="0"/>
              </a:rPr>
              <a:t>Results presented to Edinburgh Geological Society 1912</a:t>
            </a:r>
          </a:p>
        </p:txBody>
      </p:sp>
      <p:sp>
        <p:nvSpPr>
          <p:cNvPr id="3" name="Rectangle 2"/>
          <p:cNvSpPr/>
          <p:nvPr/>
        </p:nvSpPr>
        <p:spPr>
          <a:xfrm>
            <a:off x="7350188" y="6385327"/>
            <a:ext cx="4572000" cy="276999"/>
          </a:xfrm>
          <a:prstGeom prst="rect">
            <a:avLst/>
          </a:prstGeom>
        </p:spPr>
        <p:txBody>
          <a:bodyPr>
            <a:spAutoFit/>
          </a:bodyPr>
          <a:lstStyle/>
          <a:p>
            <a:r>
              <a:rPr lang="en-GB" sz="1200" dirty="0">
                <a:hlinkClick r:id="rId4"/>
              </a:rPr>
              <a:t>http://trned.lyellcollection.org/content/transed/13/1/106.full.pdf</a:t>
            </a:r>
            <a:endParaRPr lang="en-GB" sz="1200" dirty="0"/>
          </a:p>
        </p:txBody>
      </p:sp>
      <p:sp>
        <p:nvSpPr>
          <p:cNvPr id="4" name="TextBox 3"/>
          <p:cNvSpPr txBox="1"/>
          <p:nvPr/>
        </p:nvSpPr>
        <p:spPr>
          <a:xfrm>
            <a:off x="0" y="-18494"/>
            <a:ext cx="8263672" cy="523220"/>
          </a:xfrm>
          <a:prstGeom prst="rect">
            <a:avLst/>
          </a:prstGeom>
          <a:noFill/>
        </p:spPr>
        <p:txBody>
          <a:bodyPr wrap="none" rtlCol="0">
            <a:spAutoFit/>
          </a:bodyPr>
          <a:lstStyle/>
          <a:p>
            <a:r>
              <a:rPr lang="en-GB" sz="2800" dirty="0">
                <a:solidFill>
                  <a:srgbClr val="FF0000"/>
                </a:solidFill>
              </a:rPr>
              <a:t>William Mackie – Full time physician, amateur geologist</a:t>
            </a:r>
          </a:p>
        </p:txBody>
      </p:sp>
    </p:spTree>
    <p:extLst>
      <p:ext uri="{BB962C8B-B14F-4D97-AF65-F5344CB8AC3E}">
        <p14:creationId xmlns:p14="http://schemas.microsoft.com/office/powerpoint/2010/main" val="3156755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upload.wikimedia.org/wikipedia/commons/thumb/7/77/Geologic_Clock_with_events_and_periods.svg/803px-Geologic_Clock_with_events_and_periods.svg.png">
            <a:extLst>
              <a:ext uri="{FF2B5EF4-FFF2-40B4-BE49-F238E27FC236}">
                <a16:creationId xmlns:a16="http://schemas.microsoft.com/office/drawing/2014/main" id="{A693315A-97D3-4192-983B-FD9D585EEB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37213" y="777799"/>
            <a:ext cx="5529645" cy="5302402"/>
          </a:xfrm>
          <a:prstGeom prst="rect">
            <a:avLst/>
          </a:prstGeom>
          <a:noFill/>
          <a:extLst>
            <a:ext uri="{909E8E84-426E-40DD-AFC4-6F175D3DCCD1}">
              <a14:hiddenFill xmlns:a14="http://schemas.microsoft.com/office/drawing/2010/main">
                <a:solidFill>
                  <a:srgbClr val="FFFFFF"/>
                </a:solidFill>
              </a14:hiddenFill>
            </a:ext>
          </a:extLst>
        </p:spPr>
      </p:pic>
      <p:sp>
        <p:nvSpPr>
          <p:cNvPr id="3" name="Down Arrow 3">
            <a:extLst>
              <a:ext uri="{FF2B5EF4-FFF2-40B4-BE49-F238E27FC236}">
                <a16:creationId xmlns:a16="http://schemas.microsoft.com/office/drawing/2014/main" id="{2B0E5B05-F3C0-4E61-BDD8-B623BA41E4F8}"/>
              </a:ext>
            </a:extLst>
          </p:cNvPr>
          <p:cNvSpPr/>
          <p:nvPr/>
        </p:nvSpPr>
        <p:spPr>
          <a:xfrm rot="19423225">
            <a:off x="5544305" y="723648"/>
            <a:ext cx="954095" cy="124221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tangle 3">
            <a:extLst>
              <a:ext uri="{FF2B5EF4-FFF2-40B4-BE49-F238E27FC236}">
                <a16:creationId xmlns:a16="http://schemas.microsoft.com/office/drawing/2014/main" id="{F16B90B4-F021-4E67-AB1D-7870E1DBAA5E}"/>
              </a:ext>
            </a:extLst>
          </p:cNvPr>
          <p:cNvSpPr/>
          <p:nvPr/>
        </p:nvSpPr>
        <p:spPr>
          <a:xfrm>
            <a:off x="3037012" y="6093297"/>
            <a:ext cx="8928992" cy="646331"/>
          </a:xfrm>
          <a:prstGeom prst="rect">
            <a:avLst/>
          </a:prstGeom>
        </p:spPr>
        <p:txBody>
          <a:bodyPr wrap="square">
            <a:spAutoFit/>
          </a:bodyPr>
          <a:lstStyle/>
          <a:p>
            <a:r>
              <a:rPr lang="en-GB" dirty="0"/>
              <a:t>Read more about this: </a:t>
            </a:r>
            <a:r>
              <a:rPr lang="en-GB" dirty="0">
                <a:hlinkClick r:id="rId4"/>
              </a:rPr>
              <a:t>https://www.cambridge.org/core/journals/geological-magazine/article/an-introduction-to-the-rhynie-chert/8F6F361EF41FED11FA97C3448DE09458</a:t>
            </a:r>
            <a:endParaRPr lang="en-GB" dirty="0"/>
          </a:p>
        </p:txBody>
      </p:sp>
      <p:sp>
        <p:nvSpPr>
          <p:cNvPr id="5" name="TextBox 4">
            <a:extLst>
              <a:ext uri="{FF2B5EF4-FFF2-40B4-BE49-F238E27FC236}">
                <a16:creationId xmlns:a16="http://schemas.microsoft.com/office/drawing/2014/main" id="{485F875A-E1DB-45C0-A836-B0914CB0F632}"/>
              </a:ext>
            </a:extLst>
          </p:cNvPr>
          <p:cNvSpPr txBox="1"/>
          <p:nvPr/>
        </p:nvSpPr>
        <p:spPr>
          <a:xfrm>
            <a:off x="2857500" y="1"/>
            <a:ext cx="4999254" cy="584775"/>
          </a:xfrm>
          <a:prstGeom prst="rect">
            <a:avLst/>
          </a:prstGeom>
          <a:noFill/>
        </p:spPr>
        <p:txBody>
          <a:bodyPr wrap="none" rtlCol="0">
            <a:spAutoFit/>
          </a:bodyPr>
          <a:lstStyle/>
          <a:p>
            <a:r>
              <a:rPr lang="en-GB" sz="3200" dirty="0">
                <a:solidFill>
                  <a:srgbClr val="FF0000"/>
                </a:solidFill>
              </a:rPr>
              <a:t>The Rhynie Chert - ~410 </a:t>
            </a:r>
            <a:r>
              <a:rPr lang="en-GB" sz="3200" dirty="0" err="1">
                <a:solidFill>
                  <a:srgbClr val="FF0000"/>
                </a:solidFill>
              </a:rPr>
              <a:t>MYa</a:t>
            </a:r>
            <a:endParaRPr lang="en-GB" sz="3200" dirty="0">
              <a:solidFill>
                <a:srgbClr val="FF0000"/>
              </a:solidFill>
            </a:endParaRPr>
          </a:p>
        </p:txBody>
      </p:sp>
    </p:spTree>
    <p:extLst>
      <p:ext uri="{BB962C8B-B14F-4D97-AF65-F5344CB8AC3E}">
        <p14:creationId xmlns:p14="http://schemas.microsoft.com/office/powerpoint/2010/main" val="274274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73880" y="13218"/>
            <a:ext cx="4333430" cy="1015663"/>
          </a:xfrm>
          <a:prstGeom prst="rect">
            <a:avLst/>
          </a:prstGeom>
          <a:noFill/>
        </p:spPr>
        <p:txBody>
          <a:bodyPr wrap="none" rtlCol="0">
            <a:spAutoFit/>
          </a:bodyPr>
          <a:lstStyle/>
          <a:p>
            <a:r>
              <a:rPr lang="en-GB" sz="2400" dirty="0" err="1">
                <a:solidFill>
                  <a:srgbClr val="FF0000"/>
                </a:solidFill>
              </a:rPr>
              <a:t>Prof.</a:t>
            </a:r>
            <a:r>
              <a:rPr lang="en-GB" sz="2400" dirty="0">
                <a:solidFill>
                  <a:srgbClr val="FF0000"/>
                </a:solidFill>
              </a:rPr>
              <a:t> William H. Lang, </a:t>
            </a:r>
          </a:p>
          <a:p>
            <a:r>
              <a:rPr lang="en-GB" dirty="0">
                <a:solidFill>
                  <a:srgbClr val="FF0000"/>
                </a:solidFill>
              </a:rPr>
              <a:t>1st Barker Professor of </a:t>
            </a:r>
            <a:r>
              <a:rPr lang="en-GB" dirty="0" err="1">
                <a:solidFill>
                  <a:srgbClr val="FF0000"/>
                </a:solidFill>
              </a:rPr>
              <a:t>Cryptogamic</a:t>
            </a:r>
            <a:r>
              <a:rPr lang="en-GB" dirty="0">
                <a:solidFill>
                  <a:srgbClr val="FF0000"/>
                </a:solidFill>
              </a:rPr>
              <a:t> Botany, </a:t>
            </a:r>
          </a:p>
          <a:p>
            <a:r>
              <a:rPr lang="en-GB" dirty="0">
                <a:solidFill>
                  <a:srgbClr val="FF0000"/>
                </a:solidFill>
              </a:rPr>
              <a:t>University of Manchester</a:t>
            </a:r>
          </a:p>
        </p:txBody>
      </p:sp>
      <p:grpSp>
        <p:nvGrpSpPr>
          <p:cNvPr id="7" name="Group 6"/>
          <p:cNvGrpSpPr/>
          <p:nvPr/>
        </p:nvGrpSpPr>
        <p:grpSpPr>
          <a:xfrm>
            <a:off x="3515210" y="1042329"/>
            <a:ext cx="1608938" cy="1703981"/>
            <a:chOff x="323528" y="1052736"/>
            <a:chExt cx="1608938" cy="1703981"/>
          </a:xfrm>
        </p:grpSpPr>
        <p:pic>
          <p:nvPicPr>
            <p:cNvPr id="1026"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528" y="1052736"/>
              <a:ext cx="1608938" cy="17039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207693" y="2387385"/>
              <a:ext cx="652743" cy="369332"/>
            </a:xfrm>
            <a:prstGeom prst="rect">
              <a:avLst/>
            </a:prstGeom>
            <a:noFill/>
          </p:spPr>
          <p:txBody>
            <a:bodyPr wrap="none" rtlCol="0">
              <a:spAutoFit/>
            </a:bodyPr>
            <a:lstStyle/>
            <a:p>
              <a:r>
                <a:rPr lang="en-GB" dirty="0">
                  <a:solidFill>
                    <a:schemeClr val="bg1"/>
                  </a:solidFill>
                </a:rPr>
                <a:t>1898</a:t>
              </a:r>
            </a:p>
          </p:txBody>
        </p:sp>
      </p:grpSp>
      <p:grpSp>
        <p:nvGrpSpPr>
          <p:cNvPr id="8" name="Group 7"/>
          <p:cNvGrpSpPr/>
          <p:nvPr/>
        </p:nvGrpSpPr>
        <p:grpSpPr>
          <a:xfrm>
            <a:off x="5158014" y="1042328"/>
            <a:ext cx="1659298" cy="1724980"/>
            <a:chOff x="2051720" y="1052736"/>
            <a:chExt cx="1659298" cy="1724980"/>
          </a:xfrm>
        </p:grpSpPr>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51720" y="1052736"/>
              <a:ext cx="1659298" cy="1724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058275" y="2408384"/>
              <a:ext cx="652743" cy="369332"/>
            </a:xfrm>
            <a:prstGeom prst="rect">
              <a:avLst/>
            </a:prstGeom>
            <a:noFill/>
          </p:spPr>
          <p:txBody>
            <a:bodyPr wrap="none" rtlCol="0">
              <a:spAutoFit/>
            </a:bodyPr>
            <a:lstStyle/>
            <a:p>
              <a:r>
                <a:rPr lang="en-GB" dirty="0">
                  <a:solidFill>
                    <a:schemeClr val="bg1"/>
                  </a:solidFill>
                </a:rPr>
                <a:t>1904</a:t>
              </a:r>
            </a:p>
          </p:txBody>
        </p:sp>
      </p:grpSp>
      <p:grpSp>
        <p:nvGrpSpPr>
          <p:cNvPr id="9" name="Group 8"/>
          <p:cNvGrpSpPr/>
          <p:nvPr/>
        </p:nvGrpSpPr>
        <p:grpSpPr>
          <a:xfrm>
            <a:off x="6843191" y="1045631"/>
            <a:ext cx="1645630" cy="1724980"/>
            <a:chOff x="3779912" y="1052736"/>
            <a:chExt cx="1645630" cy="1724980"/>
          </a:xfrm>
        </p:grpSpPr>
        <p:pic>
          <p:nvPicPr>
            <p:cNvPr id="102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79912" y="1052736"/>
              <a:ext cx="1645630" cy="17249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4626337" y="2408384"/>
              <a:ext cx="652743" cy="369332"/>
            </a:xfrm>
            <a:prstGeom prst="rect">
              <a:avLst/>
            </a:prstGeom>
            <a:noFill/>
          </p:spPr>
          <p:txBody>
            <a:bodyPr wrap="none" rtlCol="0">
              <a:spAutoFit/>
            </a:bodyPr>
            <a:lstStyle/>
            <a:p>
              <a:r>
                <a:rPr lang="en-GB" dirty="0">
                  <a:solidFill>
                    <a:schemeClr val="bg1"/>
                  </a:solidFill>
                </a:rPr>
                <a:t>1908</a:t>
              </a:r>
            </a:p>
          </p:txBody>
        </p:sp>
      </p:grpSp>
      <p:grpSp>
        <p:nvGrpSpPr>
          <p:cNvPr id="10" name="Group 9"/>
          <p:cNvGrpSpPr/>
          <p:nvPr/>
        </p:nvGrpSpPr>
        <p:grpSpPr>
          <a:xfrm>
            <a:off x="8538168" y="1028880"/>
            <a:ext cx="1595887" cy="1717428"/>
            <a:chOff x="5446795" y="1060287"/>
            <a:chExt cx="1595887" cy="1717428"/>
          </a:xfrm>
        </p:grpSpPr>
        <p:pic>
          <p:nvPicPr>
            <p:cNvPr id="1029" name="Picture 5"/>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4416" r="5349"/>
            <a:stretch/>
          </p:blipFill>
          <p:spPr bwMode="auto">
            <a:xfrm>
              <a:off x="5446795" y="1060287"/>
              <a:ext cx="1595887" cy="17174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TextBox 11"/>
            <p:cNvSpPr txBox="1"/>
            <p:nvPr/>
          </p:nvSpPr>
          <p:spPr>
            <a:xfrm>
              <a:off x="6389939" y="2387385"/>
              <a:ext cx="652743" cy="369332"/>
            </a:xfrm>
            <a:prstGeom prst="rect">
              <a:avLst/>
            </a:prstGeom>
            <a:noFill/>
          </p:spPr>
          <p:txBody>
            <a:bodyPr wrap="none" rtlCol="0">
              <a:spAutoFit/>
            </a:bodyPr>
            <a:lstStyle/>
            <a:p>
              <a:r>
                <a:rPr lang="en-GB" dirty="0">
                  <a:solidFill>
                    <a:schemeClr val="bg1"/>
                  </a:solidFill>
                </a:rPr>
                <a:t>1921</a:t>
              </a:r>
            </a:p>
          </p:txBody>
        </p:sp>
      </p:grpSp>
      <p:grpSp>
        <p:nvGrpSpPr>
          <p:cNvPr id="11" name="Group 10"/>
          <p:cNvGrpSpPr/>
          <p:nvPr/>
        </p:nvGrpSpPr>
        <p:grpSpPr>
          <a:xfrm>
            <a:off x="10159934" y="1046103"/>
            <a:ext cx="1706325" cy="1717429"/>
            <a:chOff x="7055888" y="1060287"/>
            <a:chExt cx="1706325" cy="1717429"/>
          </a:xfrm>
        </p:grpSpPr>
        <p:pic>
          <p:nvPicPr>
            <p:cNvPr id="1030" name="Picture 6"/>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55888" y="1060287"/>
              <a:ext cx="1706325" cy="1717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8106308" y="2387385"/>
              <a:ext cx="652743" cy="369332"/>
            </a:xfrm>
            <a:prstGeom prst="rect">
              <a:avLst/>
            </a:prstGeom>
            <a:noFill/>
          </p:spPr>
          <p:txBody>
            <a:bodyPr wrap="none" rtlCol="0">
              <a:spAutoFit/>
            </a:bodyPr>
            <a:lstStyle/>
            <a:p>
              <a:r>
                <a:rPr lang="en-GB" dirty="0">
                  <a:solidFill>
                    <a:schemeClr val="bg1"/>
                  </a:solidFill>
                </a:rPr>
                <a:t>1930</a:t>
              </a:r>
            </a:p>
          </p:txBody>
        </p:sp>
      </p:grpSp>
      <p:sp>
        <p:nvSpPr>
          <p:cNvPr id="14" name="TextBox 13"/>
          <p:cNvSpPr txBox="1"/>
          <p:nvPr/>
        </p:nvSpPr>
        <p:spPr>
          <a:xfrm>
            <a:off x="5102559" y="2812237"/>
            <a:ext cx="1920141" cy="369332"/>
          </a:xfrm>
          <a:prstGeom prst="rect">
            <a:avLst/>
          </a:prstGeom>
          <a:noFill/>
        </p:spPr>
        <p:txBody>
          <a:bodyPr wrap="none" rtlCol="0">
            <a:spAutoFit/>
          </a:bodyPr>
          <a:lstStyle/>
          <a:p>
            <a:r>
              <a:rPr lang="en-GB" dirty="0"/>
              <a:t>The Glasgow Years</a:t>
            </a:r>
          </a:p>
        </p:txBody>
      </p:sp>
      <p:sp>
        <p:nvSpPr>
          <p:cNvPr id="15" name="TextBox 14"/>
          <p:cNvSpPr txBox="1"/>
          <p:nvPr/>
        </p:nvSpPr>
        <p:spPr>
          <a:xfrm>
            <a:off x="9287326" y="2767308"/>
            <a:ext cx="2249398" cy="369332"/>
          </a:xfrm>
          <a:prstGeom prst="rect">
            <a:avLst/>
          </a:prstGeom>
          <a:noFill/>
        </p:spPr>
        <p:txBody>
          <a:bodyPr wrap="none" rtlCol="0">
            <a:spAutoFit/>
          </a:bodyPr>
          <a:lstStyle/>
          <a:p>
            <a:r>
              <a:rPr lang="en-GB" dirty="0"/>
              <a:t>The Manchester Years</a:t>
            </a:r>
          </a:p>
        </p:txBody>
      </p:sp>
      <p:sp>
        <p:nvSpPr>
          <p:cNvPr id="16" name="Rectangle 15"/>
          <p:cNvSpPr/>
          <p:nvPr/>
        </p:nvSpPr>
        <p:spPr>
          <a:xfrm>
            <a:off x="5933288" y="3648580"/>
            <a:ext cx="2826415" cy="369332"/>
          </a:xfrm>
          <a:prstGeom prst="rect">
            <a:avLst/>
          </a:prstGeom>
        </p:spPr>
        <p:txBody>
          <a:bodyPr wrap="none">
            <a:spAutoFit/>
          </a:bodyPr>
          <a:lstStyle/>
          <a:p>
            <a:r>
              <a:rPr lang="en-US" altLang="en-US" i="1" dirty="0" err="1">
                <a:solidFill>
                  <a:srgbClr val="FF0000"/>
                </a:solidFill>
                <a:latin typeface="Arial" charset="0"/>
                <a:cs typeface="Arial" charset="0"/>
              </a:rPr>
              <a:t>Rhynia</a:t>
            </a:r>
            <a:r>
              <a:rPr lang="en-US" altLang="en-US" i="1" dirty="0">
                <a:solidFill>
                  <a:srgbClr val="FF0000"/>
                </a:solidFill>
                <a:latin typeface="Arial" charset="0"/>
                <a:cs typeface="Arial" charset="0"/>
              </a:rPr>
              <a:t> </a:t>
            </a:r>
            <a:r>
              <a:rPr lang="en-US" altLang="en-US" i="1" dirty="0" err="1">
                <a:solidFill>
                  <a:srgbClr val="FF0000"/>
                </a:solidFill>
                <a:latin typeface="Arial" charset="0"/>
                <a:cs typeface="Arial" charset="0"/>
              </a:rPr>
              <a:t>gwynne-vaughanii</a:t>
            </a:r>
            <a:endParaRPr lang="en-GB" sz="1600" dirty="0">
              <a:solidFill>
                <a:srgbClr val="FF0000"/>
              </a:solidFill>
            </a:endParaRPr>
          </a:p>
        </p:txBody>
      </p:sp>
      <p:pic>
        <p:nvPicPr>
          <p:cNvPr id="1032" name="Picture 8" descr="First Chief Controller, Queen Mary's Army Auxiliary Corps (QMAAC) in France, Dame Helen Gwynne-Vaughan, GBE. Art.IWMART3048.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93994" y="4017912"/>
            <a:ext cx="1905000" cy="2333626"/>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3415531" y="3431004"/>
            <a:ext cx="2256067" cy="400110"/>
          </a:xfrm>
          <a:prstGeom prst="rect">
            <a:avLst/>
          </a:prstGeom>
        </p:spPr>
        <p:txBody>
          <a:bodyPr wrap="none">
            <a:spAutoFit/>
          </a:bodyPr>
          <a:lstStyle/>
          <a:p>
            <a:r>
              <a:rPr lang="en-GB" sz="2000" i="1" dirty="0" err="1">
                <a:solidFill>
                  <a:srgbClr val="FF0000"/>
                </a:solidFill>
              </a:rPr>
              <a:t>Asteroxylon</a:t>
            </a:r>
            <a:r>
              <a:rPr lang="en-GB" sz="2000" i="1" dirty="0">
                <a:solidFill>
                  <a:srgbClr val="FF0000"/>
                </a:solidFill>
              </a:rPr>
              <a:t> </a:t>
            </a:r>
            <a:r>
              <a:rPr lang="en-GB" sz="2000" i="1" dirty="0" err="1">
                <a:solidFill>
                  <a:srgbClr val="FF0000"/>
                </a:solidFill>
              </a:rPr>
              <a:t>mackiei</a:t>
            </a:r>
            <a:endParaRPr lang="en-GB" sz="2000" i="1" dirty="0">
              <a:solidFill>
                <a:srgbClr val="FF0000"/>
              </a:solidFill>
            </a:endParaRPr>
          </a:p>
        </p:txBody>
      </p:sp>
      <p:pic>
        <p:nvPicPr>
          <p:cNvPr id="24"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71509" y="3831114"/>
            <a:ext cx="1744108" cy="25431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descr="https://upload.wikimedia.org/wikipedia/en/thumb/8/8b/Isabel_Clifton_Cookson00.jpg/220px-Isabel_Clifton_Cookson00.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262086" y="3640692"/>
            <a:ext cx="2095500" cy="2847976"/>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p:cNvSpPr/>
          <p:nvPr/>
        </p:nvSpPr>
        <p:spPr>
          <a:xfrm>
            <a:off x="9563749" y="3279248"/>
            <a:ext cx="1646605" cy="369332"/>
          </a:xfrm>
          <a:prstGeom prst="rect">
            <a:avLst/>
          </a:prstGeom>
        </p:spPr>
        <p:txBody>
          <a:bodyPr wrap="none">
            <a:spAutoFit/>
          </a:bodyPr>
          <a:lstStyle/>
          <a:p>
            <a:r>
              <a:rPr lang="en-US" altLang="en-US" i="1" dirty="0" err="1">
                <a:solidFill>
                  <a:srgbClr val="FF0000"/>
                </a:solidFill>
                <a:latin typeface="Arial" charset="0"/>
                <a:cs typeface="Arial" charset="0"/>
              </a:rPr>
              <a:t>Cooksonia</a:t>
            </a:r>
            <a:r>
              <a:rPr lang="en-US" altLang="en-US" i="1" dirty="0">
                <a:solidFill>
                  <a:srgbClr val="FF0000"/>
                </a:solidFill>
                <a:latin typeface="Arial" charset="0"/>
                <a:cs typeface="Arial" charset="0"/>
              </a:rPr>
              <a:t> sp.</a:t>
            </a:r>
            <a:endParaRPr lang="en-GB" sz="1600" dirty="0">
              <a:solidFill>
                <a:srgbClr val="FF0000"/>
              </a:solidFill>
            </a:endParaRPr>
          </a:p>
        </p:txBody>
      </p:sp>
      <p:sp>
        <p:nvSpPr>
          <p:cNvPr id="18" name="TextBox 17"/>
          <p:cNvSpPr txBox="1"/>
          <p:nvPr/>
        </p:nvSpPr>
        <p:spPr>
          <a:xfrm>
            <a:off x="9563748" y="6488668"/>
            <a:ext cx="1588384" cy="369332"/>
          </a:xfrm>
          <a:prstGeom prst="rect">
            <a:avLst/>
          </a:prstGeom>
          <a:noFill/>
        </p:spPr>
        <p:txBody>
          <a:bodyPr wrap="none" rtlCol="0">
            <a:spAutoFit/>
          </a:bodyPr>
          <a:lstStyle/>
          <a:p>
            <a:r>
              <a:rPr lang="en-GB" dirty="0"/>
              <a:t>Isabel Cookson</a:t>
            </a:r>
          </a:p>
        </p:txBody>
      </p:sp>
      <p:sp>
        <p:nvSpPr>
          <p:cNvPr id="19" name="TextBox 18"/>
          <p:cNvSpPr txBox="1"/>
          <p:nvPr/>
        </p:nvSpPr>
        <p:spPr>
          <a:xfrm>
            <a:off x="6156758" y="6351538"/>
            <a:ext cx="2427716" cy="369332"/>
          </a:xfrm>
          <a:prstGeom prst="rect">
            <a:avLst/>
          </a:prstGeom>
          <a:noFill/>
        </p:spPr>
        <p:txBody>
          <a:bodyPr wrap="none" rtlCol="0">
            <a:spAutoFit/>
          </a:bodyPr>
          <a:lstStyle/>
          <a:p>
            <a:r>
              <a:rPr lang="en-GB" dirty="0"/>
              <a:t>Helen Gwynne Vaughan</a:t>
            </a:r>
          </a:p>
        </p:txBody>
      </p:sp>
    </p:spTree>
    <p:extLst>
      <p:ext uri="{BB962C8B-B14F-4D97-AF65-F5344CB8AC3E}">
        <p14:creationId xmlns:p14="http://schemas.microsoft.com/office/powerpoint/2010/main" val="2510307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5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500"/>
                                        <p:tgtEl>
                                          <p:spTgt spid="17"/>
                                        </p:tgtEl>
                                      </p:cBhvr>
                                    </p:animEffect>
                                  </p:childTnLst>
                                </p:cTn>
                              </p:par>
                              <p:par>
                                <p:cTn id="39" presetID="10" presetClass="entr" presetSubtype="0" fill="hold" nodeType="with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fade">
                                      <p:cBhvr>
                                        <p:cTn id="41" dur="500"/>
                                        <p:tgtEl>
                                          <p:spTgt spid="2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par>
                                <p:cTn id="47" presetID="10" presetClass="entr" presetSubtype="0" fill="hold" nodeType="withEffect">
                                  <p:stCondLst>
                                    <p:cond delay="0"/>
                                  </p:stCondLst>
                                  <p:childTnLst>
                                    <p:set>
                                      <p:cBhvr>
                                        <p:cTn id="48" dur="1" fill="hold">
                                          <p:stCondLst>
                                            <p:cond delay="0"/>
                                          </p:stCondLst>
                                        </p:cTn>
                                        <p:tgtEl>
                                          <p:spTgt spid="1032"/>
                                        </p:tgtEl>
                                        <p:attrNameLst>
                                          <p:attrName>style.visibility</p:attrName>
                                        </p:attrNameLst>
                                      </p:cBhvr>
                                      <p:to>
                                        <p:strVal val="visible"/>
                                      </p:to>
                                    </p:set>
                                    <p:animEffect transition="in" filter="fade">
                                      <p:cBhvr>
                                        <p:cTn id="49" dur="500"/>
                                        <p:tgtEl>
                                          <p:spTgt spid="103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500"/>
                                        <p:tgtEl>
                                          <p:spTgt spid="19"/>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1034"/>
                                        </p:tgtEl>
                                        <p:attrNameLst>
                                          <p:attrName>style.visibility</p:attrName>
                                        </p:attrNameLst>
                                      </p:cBhvr>
                                      <p:to>
                                        <p:strVal val="visible"/>
                                      </p:to>
                                    </p:set>
                                    <p:animEffect transition="in" filter="fade">
                                      <p:cBhvr>
                                        <p:cTn id="57" dur="500"/>
                                        <p:tgtEl>
                                          <p:spTgt spid="1034"/>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500"/>
                                        <p:tgtEl>
                                          <p:spTgt spid="26"/>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fade">
                                      <p:cBhvr>
                                        <p:cTn id="6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26" grpId="0"/>
      <p:bldP spid="18" grpId="0"/>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ttps://upload.wikimedia.org/wikipedia/commons/thumb/7/79/Rhynia_stem.jpg/800px-Rhynia_stem.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1468" y="548845"/>
            <a:ext cx="2383985" cy="255628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003718" y="3131917"/>
            <a:ext cx="4572000" cy="338554"/>
          </a:xfrm>
          <a:prstGeom prst="rect">
            <a:avLst/>
          </a:prstGeom>
        </p:spPr>
        <p:txBody>
          <a:bodyPr>
            <a:spAutoFit/>
          </a:bodyPr>
          <a:lstStyle/>
          <a:p>
            <a:pPr algn="ctr"/>
            <a:r>
              <a:rPr lang="en-GB" sz="800" dirty="0"/>
              <a:t>By </a:t>
            </a:r>
            <a:r>
              <a:rPr lang="en-GB" sz="800" dirty="0" err="1"/>
              <a:t>Plantsurfer</a:t>
            </a:r>
            <a:r>
              <a:rPr lang="en-GB" sz="800" dirty="0"/>
              <a:t> - Own work, CC BY-SA 2.0 </a:t>
            </a:r>
            <a:r>
              <a:rPr lang="en-GB" sz="800" dirty="0" err="1"/>
              <a:t>uk</a:t>
            </a:r>
            <a:r>
              <a:rPr lang="en-GB" sz="800" dirty="0"/>
              <a:t>, </a:t>
            </a:r>
            <a:r>
              <a:rPr lang="en-GB" sz="800" dirty="0">
                <a:hlinkClick r:id="rId3"/>
              </a:rPr>
              <a:t>https://commons.wikimedia.org/w/index.php?curid=3823922</a:t>
            </a:r>
            <a:endParaRPr lang="en-GB" sz="800" dirty="0"/>
          </a:p>
        </p:txBody>
      </p:sp>
      <p:pic>
        <p:nvPicPr>
          <p:cNvPr id="2052" name="Picture 4" descr="Rhynia reconstruction.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4264" y="415498"/>
            <a:ext cx="2367974" cy="333149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6111900" y="3470472"/>
            <a:ext cx="2449990" cy="507831"/>
          </a:xfrm>
          <a:prstGeom prst="rect">
            <a:avLst/>
          </a:prstGeom>
        </p:spPr>
        <p:txBody>
          <a:bodyPr wrap="square">
            <a:spAutoFit/>
          </a:bodyPr>
          <a:lstStyle/>
          <a:p>
            <a:pPr algn="ctr"/>
            <a:r>
              <a:rPr lang="en-GB" sz="900" dirty="0"/>
              <a:t>By </a:t>
            </a:r>
            <a:r>
              <a:rPr lang="en-GB" sz="900" dirty="0" err="1"/>
              <a:t>Griensteidl</a:t>
            </a:r>
            <a:r>
              <a:rPr lang="en-GB" sz="900" dirty="0"/>
              <a:t> - CC BY-SA 3.0, </a:t>
            </a:r>
            <a:r>
              <a:rPr lang="en-GB" sz="900" dirty="0">
                <a:hlinkClick r:id="rId5"/>
              </a:rPr>
              <a:t>https://commons.wikimedia.org/w/index.php?curid=3495934</a:t>
            </a:r>
            <a:endParaRPr lang="en-GB" sz="900" dirty="0"/>
          </a:p>
        </p:txBody>
      </p:sp>
      <p:sp>
        <p:nvSpPr>
          <p:cNvPr id="7" name="Rectangle 6"/>
          <p:cNvSpPr/>
          <p:nvPr/>
        </p:nvSpPr>
        <p:spPr>
          <a:xfrm>
            <a:off x="6941534" y="230832"/>
            <a:ext cx="2842775" cy="369332"/>
          </a:xfrm>
          <a:prstGeom prst="rect">
            <a:avLst/>
          </a:prstGeom>
        </p:spPr>
        <p:txBody>
          <a:bodyPr wrap="square">
            <a:spAutoFit/>
          </a:bodyPr>
          <a:lstStyle/>
          <a:p>
            <a:r>
              <a:rPr lang="en-US" altLang="en-US" i="1" dirty="0" err="1">
                <a:solidFill>
                  <a:srgbClr val="FF0000"/>
                </a:solidFill>
                <a:latin typeface="Arial" charset="0"/>
                <a:cs typeface="Arial" charset="0"/>
              </a:rPr>
              <a:t>Rhynia</a:t>
            </a:r>
            <a:r>
              <a:rPr lang="en-US" altLang="en-US" i="1" dirty="0">
                <a:solidFill>
                  <a:srgbClr val="FF0000"/>
                </a:solidFill>
                <a:latin typeface="Arial" charset="0"/>
                <a:cs typeface="Arial" charset="0"/>
              </a:rPr>
              <a:t> </a:t>
            </a:r>
            <a:r>
              <a:rPr lang="en-US" altLang="en-US" i="1" dirty="0" err="1">
                <a:solidFill>
                  <a:srgbClr val="FF0000"/>
                </a:solidFill>
                <a:latin typeface="Arial" charset="0"/>
                <a:cs typeface="Arial" charset="0"/>
              </a:rPr>
              <a:t>gwynne-vaughanii</a:t>
            </a:r>
            <a:endParaRPr lang="en-GB" sz="1600" dirty="0">
              <a:solidFill>
                <a:srgbClr val="FF0000"/>
              </a:solidFill>
            </a:endParaRPr>
          </a:p>
        </p:txBody>
      </p:sp>
      <p:sp>
        <p:nvSpPr>
          <p:cNvPr id="8" name="Right Arrow 7"/>
          <p:cNvSpPr/>
          <p:nvPr/>
        </p:nvSpPr>
        <p:spPr>
          <a:xfrm>
            <a:off x="9032813" y="1392524"/>
            <a:ext cx="1111535" cy="100811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58" name="Picture 10" descr="Asteroxylon.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82841" y="548846"/>
            <a:ext cx="1847850" cy="4295775"/>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3482841" y="4850578"/>
            <a:ext cx="3422732" cy="523220"/>
          </a:xfrm>
          <a:prstGeom prst="rect">
            <a:avLst/>
          </a:prstGeom>
        </p:spPr>
        <p:txBody>
          <a:bodyPr wrap="none">
            <a:spAutoFit/>
          </a:bodyPr>
          <a:lstStyle/>
          <a:p>
            <a:r>
              <a:rPr lang="en-GB" i="1" dirty="0" err="1">
                <a:solidFill>
                  <a:srgbClr val="FF0000"/>
                </a:solidFill>
              </a:rPr>
              <a:t>Asteroxylon</a:t>
            </a:r>
            <a:r>
              <a:rPr lang="en-GB" i="1" dirty="0">
                <a:solidFill>
                  <a:srgbClr val="FF0000"/>
                </a:solidFill>
              </a:rPr>
              <a:t> </a:t>
            </a:r>
            <a:r>
              <a:rPr lang="en-GB" i="1" dirty="0" err="1">
                <a:solidFill>
                  <a:srgbClr val="FF0000"/>
                </a:solidFill>
              </a:rPr>
              <a:t>mackiei</a:t>
            </a:r>
            <a:endParaRPr lang="en-GB" i="1" dirty="0">
              <a:solidFill>
                <a:srgbClr val="FF0000"/>
              </a:solidFill>
            </a:endParaRPr>
          </a:p>
          <a:p>
            <a:pPr algn="ctr"/>
            <a:r>
              <a:rPr lang="en-GB" sz="1000" dirty="0">
                <a:hlinkClick r:id="rId7"/>
              </a:rPr>
              <a:t>https://commons.wikimedia.org/w/index.php?curid=9445044</a:t>
            </a:r>
            <a:endParaRPr lang="en-GB" dirty="0"/>
          </a:p>
        </p:txBody>
      </p:sp>
      <p:pic>
        <p:nvPicPr>
          <p:cNvPr id="2060" name="Picture 12" descr="Aglaophyton major reconstruccion en.jp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640293" y="3610241"/>
            <a:ext cx="2265969" cy="306771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p:cNvSpPr/>
          <p:nvPr/>
        </p:nvSpPr>
        <p:spPr>
          <a:xfrm>
            <a:off x="5716364" y="5722567"/>
            <a:ext cx="3923928" cy="815608"/>
          </a:xfrm>
          <a:prstGeom prst="rect">
            <a:avLst/>
          </a:prstGeom>
        </p:spPr>
        <p:txBody>
          <a:bodyPr wrap="square">
            <a:spAutoFit/>
          </a:bodyPr>
          <a:lstStyle/>
          <a:p>
            <a:pPr algn="r"/>
            <a:r>
              <a:rPr lang="en-GB" sz="2000" i="1" dirty="0" err="1">
                <a:solidFill>
                  <a:srgbClr val="FF0000"/>
                </a:solidFill>
              </a:rPr>
              <a:t>Aglaophyton</a:t>
            </a:r>
            <a:r>
              <a:rPr lang="en-GB" sz="2000" i="1" dirty="0">
                <a:solidFill>
                  <a:srgbClr val="FF0000"/>
                </a:solidFill>
              </a:rPr>
              <a:t> major</a:t>
            </a:r>
          </a:p>
          <a:p>
            <a:pPr algn="r"/>
            <a:r>
              <a:rPr lang="en-GB" dirty="0"/>
              <a:t>Mycorrhizal associations</a:t>
            </a:r>
          </a:p>
          <a:p>
            <a:pPr algn="r"/>
            <a:r>
              <a:rPr lang="en-GB" sz="900" dirty="0"/>
              <a:t>CC BY-SA 4.0, </a:t>
            </a:r>
            <a:r>
              <a:rPr lang="en-GB" sz="900" dirty="0">
                <a:hlinkClick r:id="rId9"/>
              </a:rPr>
              <a:t>https://commons.wikimedia.org/w/index.php?curid=36979632</a:t>
            </a:r>
          </a:p>
        </p:txBody>
      </p:sp>
      <p:sp>
        <p:nvSpPr>
          <p:cNvPr id="12" name="TextBox 11"/>
          <p:cNvSpPr txBox="1"/>
          <p:nvPr/>
        </p:nvSpPr>
        <p:spPr>
          <a:xfrm>
            <a:off x="7424922" y="1711914"/>
            <a:ext cx="1678665" cy="369332"/>
          </a:xfrm>
          <a:prstGeom prst="rect">
            <a:avLst/>
          </a:prstGeom>
          <a:noFill/>
        </p:spPr>
        <p:txBody>
          <a:bodyPr wrap="none" rtlCol="0">
            <a:spAutoFit/>
          </a:bodyPr>
          <a:lstStyle/>
          <a:p>
            <a:r>
              <a:rPr lang="en-GB" dirty="0"/>
              <a:t>Vascular Bundle</a:t>
            </a:r>
          </a:p>
        </p:txBody>
      </p:sp>
      <p:sp>
        <p:nvSpPr>
          <p:cNvPr id="14" name="Rectangle 13"/>
          <p:cNvSpPr/>
          <p:nvPr/>
        </p:nvSpPr>
        <p:spPr>
          <a:xfrm>
            <a:off x="3519911" y="5373799"/>
            <a:ext cx="3600101" cy="646331"/>
          </a:xfrm>
          <a:prstGeom prst="rect">
            <a:avLst/>
          </a:prstGeom>
        </p:spPr>
        <p:txBody>
          <a:bodyPr wrap="square">
            <a:spAutoFit/>
          </a:bodyPr>
          <a:lstStyle/>
          <a:p>
            <a:r>
              <a:rPr lang="en-GB" dirty="0"/>
              <a:t>Early member of </a:t>
            </a:r>
            <a:r>
              <a:rPr lang="en-GB" dirty="0" err="1">
                <a:solidFill>
                  <a:srgbClr val="FF0000"/>
                </a:solidFill>
              </a:rPr>
              <a:t>Lycopodiophyta</a:t>
            </a:r>
            <a:r>
              <a:rPr lang="en-GB" dirty="0">
                <a:solidFill>
                  <a:srgbClr val="FF0000"/>
                </a:solidFill>
              </a:rPr>
              <a:t> </a:t>
            </a:r>
            <a:r>
              <a:rPr lang="en-GB" dirty="0"/>
              <a:t>–</a:t>
            </a:r>
          </a:p>
          <a:p>
            <a:r>
              <a:rPr lang="en-GB" dirty="0"/>
              <a:t>Clubmosses, quillworts,  </a:t>
            </a:r>
            <a:r>
              <a:rPr lang="en-GB" dirty="0" err="1"/>
              <a:t>firmosses</a:t>
            </a:r>
            <a:endParaRPr lang="en-GB" dirty="0"/>
          </a:p>
        </p:txBody>
      </p:sp>
      <p:sp>
        <p:nvSpPr>
          <p:cNvPr id="15" name="TextBox 14"/>
          <p:cNvSpPr txBox="1"/>
          <p:nvPr/>
        </p:nvSpPr>
        <p:spPr>
          <a:xfrm>
            <a:off x="0" y="0"/>
            <a:ext cx="4062651" cy="461665"/>
          </a:xfrm>
          <a:prstGeom prst="rect">
            <a:avLst/>
          </a:prstGeom>
          <a:noFill/>
        </p:spPr>
        <p:txBody>
          <a:bodyPr wrap="none" rtlCol="0">
            <a:spAutoFit/>
          </a:bodyPr>
          <a:lstStyle/>
          <a:p>
            <a:r>
              <a:rPr lang="en-GB" sz="2400" dirty="0" err="1">
                <a:solidFill>
                  <a:srgbClr val="FF0000"/>
                </a:solidFill>
              </a:rPr>
              <a:t>Rhynie</a:t>
            </a:r>
            <a:r>
              <a:rPr lang="en-GB" sz="2400" dirty="0">
                <a:solidFill>
                  <a:srgbClr val="FF0000"/>
                </a:solidFill>
              </a:rPr>
              <a:t> Flora – 7 “plant” genera</a:t>
            </a:r>
            <a:endParaRPr lang="en-GB" dirty="0">
              <a:solidFill>
                <a:srgbClr val="FF0000"/>
              </a:solidFill>
            </a:endParaRPr>
          </a:p>
        </p:txBody>
      </p:sp>
      <p:sp>
        <p:nvSpPr>
          <p:cNvPr id="2" name="TextBox 1"/>
          <p:cNvSpPr txBox="1"/>
          <p:nvPr/>
        </p:nvSpPr>
        <p:spPr>
          <a:xfrm>
            <a:off x="6162712" y="4173470"/>
            <a:ext cx="3682012" cy="1200329"/>
          </a:xfrm>
          <a:prstGeom prst="rect">
            <a:avLst/>
          </a:prstGeom>
          <a:noFill/>
        </p:spPr>
        <p:txBody>
          <a:bodyPr wrap="square" rtlCol="0">
            <a:spAutoFit/>
          </a:bodyPr>
          <a:lstStyle/>
          <a:p>
            <a:pPr algn="ctr"/>
            <a:r>
              <a:rPr lang="en-GB" sz="2400" dirty="0"/>
              <a:t>Gametophytes and sporophytes similar dominance</a:t>
            </a:r>
          </a:p>
        </p:txBody>
      </p:sp>
    </p:spTree>
    <p:extLst>
      <p:ext uri="{BB962C8B-B14F-4D97-AF65-F5344CB8AC3E}">
        <p14:creationId xmlns:p14="http://schemas.microsoft.com/office/powerpoint/2010/main" val="1214534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Effect transition="in" filter="fade">
                                      <p:cBhvr>
                                        <p:cTn id="7" dur="500"/>
                                        <p:tgtEl>
                                          <p:spTgt spid="205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2058"/>
                                        </p:tgtEl>
                                        <p:attrNameLst>
                                          <p:attrName>style.visibility</p:attrName>
                                        </p:attrNameLst>
                                      </p:cBhvr>
                                      <p:to>
                                        <p:strVal val="visible"/>
                                      </p:to>
                                    </p:set>
                                    <p:animEffect transition="in" filter="fade">
                                      <p:cBhvr>
                                        <p:cTn id="28" dur="500"/>
                                        <p:tgtEl>
                                          <p:spTgt spid="2058"/>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5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fade">
                                      <p:cBhvr>
                                        <p:cTn id="39" dur="500"/>
                                        <p:tgtEl>
                                          <p:spTgt spid="11"/>
                                        </p:tgtEl>
                                      </p:cBhvr>
                                    </p:animEffect>
                                  </p:childTnLst>
                                </p:cTn>
                              </p:par>
                              <p:par>
                                <p:cTn id="40" presetID="10" presetClass="entr" presetSubtype="0" fill="hold" nodeType="withEffect">
                                  <p:stCondLst>
                                    <p:cond delay="0"/>
                                  </p:stCondLst>
                                  <p:childTnLst>
                                    <p:set>
                                      <p:cBhvr>
                                        <p:cTn id="41" dur="1" fill="hold">
                                          <p:stCondLst>
                                            <p:cond delay="0"/>
                                          </p:stCondLst>
                                        </p:cTn>
                                        <p:tgtEl>
                                          <p:spTgt spid="2060"/>
                                        </p:tgtEl>
                                        <p:attrNameLst>
                                          <p:attrName>style.visibility</p:attrName>
                                        </p:attrNameLst>
                                      </p:cBhvr>
                                      <p:to>
                                        <p:strVal val="visible"/>
                                      </p:to>
                                    </p:set>
                                    <p:animEffect transition="in" filter="fade">
                                      <p:cBhvr>
                                        <p:cTn id="42"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animBg="1"/>
      <p:bldP spid="9" grpId="0"/>
      <p:bldP spid="11" grpId="0"/>
      <p:bldP spid="12" grpId="0"/>
      <p:bldP spid="14"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icture containing outdoor, grass, field, cow&#10;&#10;Description automatically generated">
            <a:extLst>
              <a:ext uri="{FF2B5EF4-FFF2-40B4-BE49-F238E27FC236}">
                <a16:creationId xmlns:a16="http://schemas.microsoft.com/office/drawing/2014/main" id="{AC2AF27D-CEB0-4663-BBD0-ABECE7479B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52837" y="1050122"/>
            <a:ext cx="3273439" cy="2455079"/>
          </a:xfrm>
          <a:prstGeom prst="rect">
            <a:avLst/>
          </a:prstGeom>
        </p:spPr>
      </p:pic>
      <p:pic>
        <p:nvPicPr>
          <p:cNvPr id="5" name="Picture 4" descr="A close up of a tattoo&#10;&#10;Description automatically generated">
            <a:extLst>
              <a:ext uri="{FF2B5EF4-FFF2-40B4-BE49-F238E27FC236}">
                <a16:creationId xmlns:a16="http://schemas.microsoft.com/office/drawing/2014/main" id="{EBFE38F2-3909-4855-AD60-63D914CCEE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76717" y="1056929"/>
            <a:ext cx="3273439" cy="2455079"/>
          </a:xfrm>
          <a:prstGeom prst="rect">
            <a:avLst/>
          </a:prstGeom>
        </p:spPr>
      </p:pic>
      <p:sp>
        <p:nvSpPr>
          <p:cNvPr id="6" name="TextBox 5">
            <a:extLst>
              <a:ext uri="{FF2B5EF4-FFF2-40B4-BE49-F238E27FC236}">
                <a16:creationId xmlns:a16="http://schemas.microsoft.com/office/drawing/2014/main" id="{5B113BD7-B166-4839-8DBC-9898A276515B}"/>
              </a:ext>
            </a:extLst>
          </p:cNvPr>
          <p:cNvSpPr txBox="1"/>
          <p:nvPr/>
        </p:nvSpPr>
        <p:spPr>
          <a:xfrm>
            <a:off x="0" y="-55354"/>
            <a:ext cx="3839449" cy="646331"/>
          </a:xfrm>
          <a:prstGeom prst="rect">
            <a:avLst/>
          </a:prstGeom>
          <a:noFill/>
        </p:spPr>
        <p:txBody>
          <a:bodyPr wrap="none" rtlCol="0">
            <a:spAutoFit/>
          </a:bodyPr>
          <a:lstStyle/>
          <a:p>
            <a:r>
              <a:rPr lang="en-GB" sz="3600" dirty="0">
                <a:solidFill>
                  <a:srgbClr val="FF0000"/>
                </a:solidFill>
              </a:rPr>
              <a:t>Fungal Associations</a:t>
            </a:r>
          </a:p>
        </p:txBody>
      </p:sp>
      <p:sp>
        <p:nvSpPr>
          <p:cNvPr id="7" name="TextBox 6">
            <a:extLst>
              <a:ext uri="{FF2B5EF4-FFF2-40B4-BE49-F238E27FC236}">
                <a16:creationId xmlns:a16="http://schemas.microsoft.com/office/drawing/2014/main" id="{6A8C2E39-8F0A-4B50-ABF1-D91C6A4B1B54}"/>
              </a:ext>
            </a:extLst>
          </p:cNvPr>
          <p:cNvSpPr txBox="1"/>
          <p:nvPr/>
        </p:nvSpPr>
        <p:spPr>
          <a:xfrm>
            <a:off x="5186633" y="3512007"/>
            <a:ext cx="4879284" cy="369332"/>
          </a:xfrm>
          <a:prstGeom prst="rect">
            <a:avLst/>
          </a:prstGeom>
          <a:noFill/>
        </p:spPr>
        <p:txBody>
          <a:bodyPr wrap="none" rtlCol="0">
            <a:spAutoFit/>
          </a:bodyPr>
          <a:lstStyle/>
          <a:p>
            <a:r>
              <a:rPr lang="en-GB" dirty="0">
                <a:hlinkClick r:id="rId4"/>
              </a:rPr>
              <a:t>Fungus-like structures associated with </a:t>
            </a:r>
            <a:r>
              <a:rPr lang="en-GB" i="1" dirty="0" err="1">
                <a:hlinkClick r:id="rId4"/>
              </a:rPr>
              <a:t>Aglophyton</a:t>
            </a:r>
            <a:endParaRPr lang="en-GB" i="1" dirty="0"/>
          </a:p>
        </p:txBody>
      </p:sp>
      <p:sp>
        <p:nvSpPr>
          <p:cNvPr id="8" name="Rectangle 7">
            <a:extLst>
              <a:ext uri="{FF2B5EF4-FFF2-40B4-BE49-F238E27FC236}">
                <a16:creationId xmlns:a16="http://schemas.microsoft.com/office/drawing/2014/main" id="{5656238F-6C0A-4A14-9B72-292B5E135C83}"/>
              </a:ext>
            </a:extLst>
          </p:cNvPr>
          <p:cNvSpPr/>
          <p:nvPr/>
        </p:nvSpPr>
        <p:spPr>
          <a:xfrm>
            <a:off x="3341799" y="3888146"/>
            <a:ext cx="8568952" cy="2677656"/>
          </a:xfrm>
          <a:prstGeom prst="rect">
            <a:avLst/>
          </a:prstGeom>
        </p:spPr>
        <p:txBody>
          <a:bodyPr wrap="square">
            <a:spAutoFit/>
          </a:bodyPr>
          <a:lstStyle/>
          <a:p>
            <a:pPr marL="457200" indent="-457200">
              <a:buFont typeface="Arial" panose="020B0604020202020204" pitchFamily="34" charset="0"/>
              <a:buChar char="•"/>
            </a:pPr>
            <a:r>
              <a:rPr lang="en-GB" sz="2800" dirty="0">
                <a:solidFill>
                  <a:srgbClr val="FF0000"/>
                </a:solidFill>
              </a:rPr>
              <a:t>Mycorrhiza</a:t>
            </a:r>
            <a:r>
              <a:rPr lang="en-GB" sz="2800" dirty="0"/>
              <a:t>: fungus closely associated with plant roots</a:t>
            </a:r>
          </a:p>
          <a:p>
            <a:pPr marL="457200" indent="-457200">
              <a:buFont typeface="Arial" panose="020B0604020202020204" pitchFamily="34" charset="0"/>
              <a:buChar char="•"/>
            </a:pPr>
            <a:r>
              <a:rPr lang="en-GB" sz="2800" dirty="0">
                <a:solidFill>
                  <a:srgbClr val="FF0000"/>
                </a:solidFill>
              </a:rPr>
              <a:t>Symbiotic</a:t>
            </a:r>
            <a:r>
              <a:rPr lang="en-GB" sz="2800" dirty="0"/>
              <a:t> relationship – fungus gives nutrients – plant gives sugars</a:t>
            </a:r>
          </a:p>
          <a:p>
            <a:pPr marL="457200" indent="-457200">
              <a:buFont typeface="Arial" panose="020B0604020202020204" pitchFamily="34" charset="0"/>
              <a:buChar char="•"/>
            </a:pPr>
            <a:r>
              <a:rPr lang="en-GB" sz="2800" dirty="0"/>
              <a:t>Very important for plant growth – allows nutrient capture over large areas</a:t>
            </a:r>
          </a:p>
          <a:p>
            <a:pPr marL="457200" indent="-457200">
              <a:buFont typeface="Arial" panose="020B0604020202020204" pitchFamily="34" charset="0"/>
              <a:buChar char="•"/>
            </a:pPr>
            <a:endParaRPr lang="en-GB" sz="2800" dirty="0"/>
          </a:p>
        </p:txBody>
      </p:sp>
    </p:spTree>
    <p:extLst>
      <p:ext uri="{BB962C8B-B14F-4D97-AF65-F5344CB8AC3E}">
        <p14:creationId xmlns:p14="http://schemas.microsoft.com/office/powerpoint/2010/main" val="2426940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6650"/>
            <a:ext cx="2200282" cy="461665"/>
          </a:xfrm>
          <a:prstGeom prst="rect">
            <a:avLst/>
          </a:prstGeom>
        </p:spPr>
        <p:txBody>
          <a:bodyPr wrap="none">
            <a:spAutoFit/>
          </a:bodyPr>
          <a:lstStyle/>
          <a:p>
            <a:r>
              <a:rPr lang="en-GB" sz="2400" dirty="0" err="1">
                <a:solidFill>
                  <a:srgbClr val="FF0000"/>
                </a:solidFill>
              </a:rPr>
              <a:t>Lycopodiophyta</a:t>
            </a:r>
            <a:endParaRPr lang="en-GB" sz="2400" dirty="0">
              <a:solidFill>
                <a:srgbClr val="FF0000"/>
              </a:solidFill>
            </a:endParaRPr>
          </a:p>
        </p:txBody>
      </p:sp>
      <p:pic>
        <p:nvPicPr>
          <p:cNvPr id="5122" name="Picture 2" descr="Lycopodiella inundata 0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257929" y="757763"/>
            <a:ext cx="2011087" cy="302433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609856" y="3772156"/>
            <a:ext cx="3582144" cy="369332"/>
          </a:xfrm>
          <a:prstGeom prst="rect">
            <a:avLst/>
          </a:prstGeom>
        </p:spPr>
        <p:txBody>
          <a:bodyPr wrap="square">
            <a:spAutoFit/>
          </a:bodyPr>
          <a:lstStyle/>
          <a:p>
            <a:pPr algn="ctr"/>
            <a:r>
              <a:rPr lang="en-GB" sz="900" dirty="0"/>
              <a:t>By Christian Fischer, CC BY-SA 3.0, https://commons.wikimedia.org/w/index.php?curid=4925336</a:t>
            </a:r>
          </a:p>
        </p:txBody>
      </p:sp>
      <p:pic>
        <p:nvPicPr>
          <p:cNvPr id="5124" name="Picture 4" descr="https://upload.wikimedia.org/wikipedia/commons/c/cf/Closeup_of_Black-spored_Quillwort_%28Isoetes_melanospora%29.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32525" y="462872"/>
            <a:ext cx="2030164" cy="304693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945908" y="3502624"/>
            <a:ext cx="3203397" cy="507831"/>
          </a:xfrm>
          <a:prstGeom prst="rect">
            <a:avLst/>
          </a:prstGeom>
        </p:spPr>
        <p:txBody>
          <a:bodyPr wrap="square">
            <a:spAutoFit/>
          </a:bodyPr>
          <a:lstStyle/>
          <a:p>
            <a:pPr algn="ctr"/>
            <a:r>
              <a:rPr lang="en-GB" sz="900" dirty="0"/>
              <a:t>By AHR12 (Own work) https://commons.wikimedia.org/wiki/File%3ACloseup_of_Black-spored_Quillwort_(Isoetes_melanospora).jpg</a:t>
            </a:r>
          </a:p>
        </p:txBody>
      </p:sp>
      <p:sp>
        <p:nvSpPr>
          <p:cNvPr id="5" name="Rectangle 4"/>
          <p:cNvSpPr/>
          <p:nvPr/>
        </p:nvSpPr>
        <p:spPr>
          <a:xfrm>
            <a:off x="9151468" y="388431"/>
            <a:ext cx="2224007" cy="369332"/>
          </a:xfrm>
          <a:prstGeom prst="rect">
            <a:avLst/>
          </a:prstGeom>
        </p:spPr>
        <p:txBody>
          <a:bodyPr wrap="none">
            <a:spAutoFit/>
          </a:bodyPr>
          <a:lstStyle/>
          <a:p>
            <a:r>
              <a:rPr lang="en-GB" i="1" dirty="0" err="1"/>
              <a:t>Lycopodiella</a:t>
            </a:r>
            <a:r>
              <a:rPr lang="en-GB" i="1" dirty="0"/>
              <a:t> </a:t>
            </a:r>
            <a:r>
              <a:rPr lang="en-GB" i="1" dirty="0" err="1"/>
              <a:t>inundata</a:t>
            </a:r>
            <a:endParaRPr lang="en-GB" dirty="0"/>
          </a:p>
        </p:txBody>
      </p:sp>
      <p:sp>
        <p:nvSpPr>
          <p:cNvPr id="6" name="TextBox 5"/>
          <p:cNvSpPr txBox="1"/>
          <p:nvPr/>
        </p:nvSpPr>
        <p:spPr>
          <a:xfrm>
            <a:off x="8903899" y="4069719"/>
            <a:ext cx="3261021" cy="369332"/>
          </a:xfrm>
          <a:prstGeom prst="rect">
            <a:avLst/>
          </a:prstGeom>
          <a:noFill/>
        </p:spPr>
        <p:txBody>
          <a:bodyPr wrap="none" rtlCol="0">
            <a:spAutoFit/>
          </a:bodyPr>
          <a:lstStyle/>
          <a:p>
            <a:r>
              <a:rPr lang="en-GB" dirty="0"/>
              <a:t>Clubmoss – </a:t>
            </a:r>
            <a:r>
              <a:rPr lang="en-GB" dirty="0" err="1"/>
              <a:t>n.b.</a:t>
            </a:r>
            <a:r>
              <a:rPr lang="en-GB" dirty="0"/>
              <a:t> also NOT a moss</a:t>
            </a:r>
          </a:p>
        </p:txBody>
      </p:sp>
      <p:sp>
        <p:nvSpPr>
          <p:cNvPr id="7" name="Rectangle 6"/>
          <p:cNvSpPr/>
          <p:nvPr/>
        </p:nvSpPr>
        <p:spPr>
          <a:xfrm>
            <a:off x="6490523" y="118184"/>
            <a:ext cx="2114169" cy="369332"/>
          </a:xfrm>
          <a:prstGeom prst="rect">
            <a:avLst/>
          </a:prstGeom>
        </p:spPr>
        <p:txBody>
          <a:bodyPr wrap="none">
            <a:spAutoFit/>
          </a:bodyPr>
          <a:lstStyle/>
          <a:p>
            <a:r>
              <a:rPr lang="en-GB" i="1" dirty="0" err="1"/>
              <a:t>Isoetes</a:t>
            </a:r>
            <a:r>
              <a:rPr lang="en-GB" i="1" dirty="0"/>
              <a:t> </a:t>
            </a:r>
            <a:r>
              <a:rPr lang="en-GB" i="1" dirty="0" err="1"/>
              <a:t>melanospora</a:t>
            </a:r>
            <a:endParaRPr lang="en-GB" i="1" dirty="0"/>
          </a:p>
        </p:txBody>
      </p:sp>
      <p:sp>
        <p:nvSpPr>
          <p:cNvPr id="8" name="TextBox 7"/>
          <p:cNvSpPr txBox="1"/>
          <p:nvPr/>
        </p:nvSpPr>
        <p:spPr>
          <a:xfrm>
            <a:off x="6788636" y="3956823"/>
            <a:ext cx="1353576" cy="461665"/>
          </a:xfrm>
          <a:prstGeom prst="rect">
            <a:avLst/>
          </a:prstGeom>
          <a:noFill/>
        </p:spPr>
        <p:txBody>
          <a:bodyPr wrap="none" rtlCol="0">
            <a:spAutoFit/>
          </a:bodyPr>
          <a:lstStyle/>
          <a:p>
            <a:r>
              <a:rPr lang="en-GB" sz="2400" dirty="0"/>
              <a:t>Quillwort</a:t>
            </a:r>
            <a:endParaRPr lang="en-GB" dirty="0"/>
          </a:p>
        </p:txBody>
      </p:sp>
      <p:pic>
        <p:nvPicPr>
          <p:cNvPr id="5126" name="Picture 6" descr="Selaginella denticulata La Palma0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13313" y="757764"/>
            <a:ext cx="2342381" cy="312184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3699723" y="412474"/>
            <a:ext cx="2369559" cy="369332"/>
          </a:xfrm>
          <a:prstGeom prst="rect">
            <a:avLst/>
          </a:prstGeom>
        </p:spPr>
        <p:txBody>
          <a:bodyPr wrap="none">
            <a:spAutoFit/>
          </a:bodyPr>
          <a:lstStyle/>
          <a:p>
            <a:r>
              <a:rPr lang="en-GB" i="1" dirty="0" err="1"/>
              <a:t>Selaginella</a:t>
            </a:r>
            <a:r>
              <a:rPr lang="en-GB" i="1" dirty="0"/>
              <a:t> </a:t>
            </a:r>
            <a:r>
              <a:rPr lang="en-GB" i="1" dirty="0" err="1"/>
              <a:t>denticulata</a:t>
            </a:r>
            <a:endParaRPr lang="en-GB" dirty="0"/>
          </a:p>
        </p:txBody>
      </p:sp>
      <p:sp>
        <p:nvSpPr>
          <p:cNvPr id="13" name="TextBox 12"/>
          <p:cNvSpPr txBox="1"/>
          <p:nvPr/>
        </p:nvSpPr>
        <p:spPr>
          <a:xfrm>
            <a:off x="3302609" y="4145124"/>
            <a:ext cx="2905732" cy="369332"/>
          </a:xfrm>
          <a:prstGeom prst="rect">
            <a:avLst/>
          </a:prstGeom>
          <a:noFill/>
        </p:spPr>
        <p:txBody>
          <a:bodyPr wrap="none" rtlCol="0">
            <a:spAutoFit/>
          </a:bodyPr>
          <a:lstStyle/>
          <a:p>
            <a:r>
              <a:rPr lang="en-GB" dirty="0" err="1"/>
              <a:t>Spikemoss</a:t>
            </a:r>
            <a:r>
              <a:rPr lang="en-GB" dirty="0"/>
              <a:t> – </a:t>
            </a:r>
            <a:r>
              <a:rPr lang="en-GB" dirty="0" err="1"/>
              <a:t>n.b.</a:t>
            </a:r>
            <a:r>
              <a:rPr lang="en-GB" dirty="0"/>
              <a:t> NOT a moss</a:t>
            </a:r>
          </a:p>
        </p:txBody>
      </p:sp>
      <p:sp>
        <p:nvSpPr>
          <p:cNvPr id="10" name="Rectangle 9"/>
          <p:cNvSpPr/>
          <p:nvPr/>
        </p:nvSpPr>
        <p:spPr>
          <a:xfrm>
            <a:off x="3129907" y="3870633"/>
            <a:ext cx="3251139" cy="369332"/>
          </a:xfrm>
          <a:prstGeom prst="rect">
            <a:avLst/>
          </a:prstGeom>
        </p:spPr>
        <p:txBody>
          <a:bodyPr wrap="square">
            <a:spAutoFit/>
          </a:bodyPr>
          <a:lstStyle/>
          <a:p>
            <a:pPr algn="ctr"/>
            <a:r>
              <a:rPr lang="en-GB" sz="900" dirty="0"/>
              <a:t>By </a:t>
            </a:r>
            <a:r>
              <a:rPr lang="en-GB" sz="900" dirty="0" err="1"/>
              <a:t>Tigerente</a:t>
            </a:r>
            <a:r>
              <a:rPr lang="en-GB" sz="900" dirty="0"/>
              <a:t> - Own work, CC BY-SA 3.0, https://commons.wikimedia.org/w/index.php?curid=4266299</a:t>
            </a:r>
          </a:p>
        </p:txBody>
      </p:sp>
      <p:sp>
        <p:nvSpPr>
          <p:cNvPr id="11" name="TextBox 10"/>
          <p:cNvSpPr txBox="1"/>
          <p:nvPr/>
        </p:nvSpPr>
        <p:spPr>
          <a:xfrm>
            <a:off x="4394883" y="4550177"/>
            <a:ext cx="6305444" cy="2185214"/>
          </a:xfrm>
          <a:prstGeom prst="rect">
            <a:avLst/>
          </a:prstGeom>
          <a:noFill/>
        </p:spPr>
        <p:txBody>
          <a:bodyPr wrap="none" rtlCol="0">
            <a:spAutoFit/>
          </a:bodyPr>
          <a:lstStyle/>
          <a:p>
            <a:pPr algn="ctr"/>
            <a:r>
              <a:rPr lang="en-GB" sz="2400" dirty="0"/>
              <a:t>Reproduce by Spores</a:t>
            </a:r>
          </a:p>
          <a:p>
            <a:pPr algn="ctr"/>
            <a:r>
              <a:rPr lang="en-GB" sz="2400" dirty="0"/>
              <a:t>Alternation of generations</a:t>
            </a:r>
          </a:p>
          <a:p>
            <a:pPr algn="ctr"/>
            <a:r>
              <a:rPr lang="en-GB" sz="2800" dirty="0"/>
              <a:t>Sporophyte </a:t>
            </a:r>
            <a:r>
              <a:rPr lang="en-GB" sz="2800" b="1" dirty="0"/>
              <a:t>dominant</a:t>
            </a:r>
            <a:r>
              <a:rPr lang="en-GB" sz="2800" dirty="0"/>
              <a:t> and </a:t>
            </a:r>
            <a:r>
              <a:rPr lang="en-GB" sz="2800" dirty="0">
                <a:solidFill>
                  <a:srgbClr val="00B050"/>
                </a:solidFill>
              </a:rPr>
              <a:t>photosynthetic</a:t>
            </a:r>
          </a:p>
          <a:p>
            <a:pPr algn="ctr"/>
            <a:r>
              <a:rPr lang="en-GB" sz="2800" dirty="0"/>
              <a:t>Vascular system - </a:t>
            </a:r>
            <a:r>
              <a:rPr lang="en-GB" sz="2800" dirty="0">
                <a:solidFill>
                  <a:srgbClr val="00B050"/>
                </a:solidFill>
              </a:rPr>
              <a:t>Xylem</a:t>
            </a:r>
          </a:p>
          <a:p>
            <a:pPr algn="ctr"/>
            <a:r>
              <a:rPr lang="en-GB" sz="3200" dirty="0"/>
              <a:t>Simple “leaves” - </a:t>
            </a:r>
            <a:r>
              <a:rPr lang="en-GB" sz="3200" i="1" dirty="0" err="1">
                <a:solidFill>
                  <a:srgbClr val="00B050"/>
                </a:solidFill>
              </a:rPr>
              <a:t>microphylls</a:t>
            </a:r>
            <a:endParaRPr lang="en-GB" sz="3200" i="1" dirty="0">
              <a:solidFill>
                <a:srgbClr val="00B050"/>
              </a:solidFill>
            </a:endParaRPr>
          </a:p>
        </p:txBody>
      </p:sp>
    </p:spTree>
    <p:extLst>
      <p:ext uri="{BB962C8B-B14F-4D97-AF65-F5344CB8AC3E}">
        <p14:creationId xmlns:p14="http://schemas.microsoft.com/office/powerpoint/2010/main" val="2525534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fade">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fade">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fade">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xEl>
                                              <p:pRg st="4" end="4"/>
                                            </p:txEl>
                                          </p:spTgt>
                                        </p:tgtEl>
                                        <p:attrNameLst>
                                          <p:attrName>style.visibility</p:attrName>
                                        </p:attrNameLst>
                                      </p:cBhvr>
                                      <p:to>
                                        <p:strVal val="visible"/>
                                      </p:to>
                                    </p:set>
                                    <p:animEffect transition="in" filter="fade">
                                      <p:cBhvr>
                                        <p:cTn id="27" dur="500"/>
                                        <p:tgtEl>
                                          <p:spTgt spid="1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7651" y="26766"/>
            <a:ext cx="2499146" cy="461665"/>
          </a:xfrm>
          <a:prstGeom prst="rect">
            <a:avLst/>
          </a:prstGeom>
        </p:spPr>
        <p:txBody>
          <a:bodyPr wrap="none">
            <a:spAutoFit/>
          </a:bodyPr>
          <a:lstStyle/>
          <a:p>
            <a:r>
              <a:rPr lang="en-GB" sz="2400" dirty="0">
                <a:solidFill>
                  <a:srgbClr val="FF0000"/>
                </a:solidFill>
              </a:rPr>
              <a:t>Secondary Growth</a:t>
            </a:r>
          </a:p>
        </p:txBody>
      </p:sp>
      <p:sp>
        <p:nvSpPr>
          <p:cNvPr id="3" name="Text Box 1"/>
          <p:cNvSpPr txBox="1">
            <a:spLocks noChangeArrowheads="1"/>
          </p:cNvSpPr>
          <p:nvPr/>
        </p:nvSpPr>
        <p:spPr bwMode="auto">
          <a:xfrm>
            <a:off x="8391004" y="488431"/>
            <a:ext cx="326287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sz="2400">
                <a:solidFill>
                  <a:srgbClr val="000000"/>
                </a:solidFill>
                <a:latin typeface="Times New Roman" pitchFamily="16" charset="0"/>
                <a:ea typeface="msgothic" charset="0"/>
                <a:cs typeface="msgothic" charset="0"/>
              </a:defRPr>
            </a:lvl9pPr>
          </a:lstStyle>
          <a:p>
            <a:pPr algn="ctr"/>
            <a:r>
              <a:rPr lang="en-GB" altLang="en-US" sz="1600" b="1" i="1" dirty="0" err="1">
                <a:latin typeface="Arial" charset="0"/>
              </a:rPr>
              <a:t>Franhueberia</a:t>
            </a:r>
            <a:r>
              <a:rPr lang="en-GB" altLang="en-US" sz="1600" b="1" i="1" dirty="0">
                <a:latin typeface="Arial" charset="0"/>
              </a:rPr>
              <a:t> </a:t>
            </a:r>
            <a:r>
              <a:rPr lang="en-GB" altLang="en-US" sz="1600" b="1" i="1" dirty="0" err="1">
                <a:latin typeface="Arial" charset="0"/>
              </a:rPr>
              <a:t>gerriennei</a:t>
            </a:r>
            <a:endParaRPr lang="en-GB" altLang="en-US" sz="1600" b="1" dirty="0">
              <a:latin typeface="Arial" charset="0"/>
            </a:endParaRPr>
          </a:p>
        </p:txBody>
      </p:sp>
      <p:pic>
        <p:nvPicPr>
          <p:cNvPr id="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91005" y="748678"/>
            <a:ext cx="3262873" cy="407769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 Box 4"/>
          <p:cNvSpPr txBox="1">
            <a:spLocks noChangeArrowheads="1"/>
          </p:cNvSpPr>
          <p:nvPr/>
        </p:nvSpPr>
        <p:spPr bwMode="auto">
          <a:xfrm>
            <a:off x="8391004" y="4829970"/>
            <a:ext cx="3262874" cy="341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lvl1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1pPr>
            <a:lvl2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2pPr>
            <a:lvl3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3pPr>
            <a:lvl4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4pPr>
            <a:lvl5pPr>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5pPr>
            <a:lvl6pPr marL="15367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6pPr>
            <a:lvl7pPr marL="19939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7pPr>
            <a:lvl8pPr marL="24511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8pPr>
            <a:lvl9pPr marL="2908300" indent="-215900" defTabSz="457200" fontAlgn="base" hangingPunct="0">
              <a:lnSpc>
                <a:spcPct val="93000"/>
              </a:lnSpc>
              <a:spcBef>
                <a:spcPct val="0"/>
              </a:spcBef>
              <a:spcAft>
                <a:spcPct val="0"/>
              </a:spcAft>
              <a:buClr>
                <a:srgbClr val="000000"/>
              </a:buClr>
              <a:buSzPct val="45000"/>
              <a:buFont typeface="Wingdings" charset="2"/>
              <a:tabLst>
                <a:tab pos="723900" algn="l"/>
                <a:tab pos="1447800" algn="l"/>
                <a:tab pos="2171700" algn="l"/>
                <a:tab pos="2895600" algn="l"/>
                <a:tab pos="3619500" algn="l"/>
              </a:tabLst>
              <a:defRPr sz="2400">
                <a:solidFill>
                  <a:srgbClr val="000000"/>
                </a:solidFill>
                <a:latin typeface="Times New Roman" pitchFamily="16" charset="0"/>
                <a:ea typeface="msgothic" charset="0"/>
                <a:cs typeface="msgothic" charset="0"/>
              </a:defRPr>
            </a:lvl9pPr>
          </a:lstStyle>
          <a:p>
            <a:pPr algn="ctr"/>
            <a:r>
              <a:rPr lang="en-GB" altLang="en-US" sz="1050" dirty="0">
                <a:latin typeface="Arial" charset="0"/>
                <a:hlinkClick r:id="rId3"/>
              </a:rPr>
              <a:t>Laurel A. Hoffman, and </a:t>
            </a:r>
            <a:r>
              <a:rPr lang="en-GB" altLang="en-US" sz="1050" dirty="0" err="1">
                <a:latin typeface="Arial" charset="0"/>
                <a:hlinkClick r:id="rId3"/>
              </a:rPr>
              <a:t>Alexandru</a:t>
            </a:r>
            <a:r>
              <a:rPr lang="en-GB" altLang="en-US" sz="1050" dirty="0">
                <a:latin typeface="Arial" charset="0"/>
                <a:hlinkClick r:id="rId3"/>
              </a:rPr>
              <a:t> M. F. </a:t>
            </a:r>
            <a:r>
              <a:rPr lang="en-GB" altLang="en-US" sz="1050" dirty="0" err="1">
                <a:latin typeface="Arial" charset="0"/>
                <a:hlinkClick r:id="rId3"/>
              </a:rPr>
              <a:t>Tomescu</a:t>
            </a:r>
            <a:r>
              <a:rPr lang="en-GB" altLang="en-US" sz="1050" dirty="0">
                <a:latin typeface="Arial" charset="0"/>
                <a:hlinkClick r:id="rId3"/>
              </a:rPr>
              <a:t> Am. J. Bot. 2013;100:754-763</a:t>
            </a:r>
            <a:endParaRPr lang="en-GB" altLang="en-US" sz="1050" dirty="0">
              <a:latin typeface="Arial" charset="0"/>
            </a:endParaRPr>
          </a:p>
        </p:txBody>
      </p:sp>
      <p:sp>
        <p:nvSpPr>
          <p:cNvPr id="7" name="TextBox 6"/>
          <p:cNvSpPr txBox="1"/>
          <p:nvPr/>
        </p:nvSpPr>
        <p:spPr>
          <a:xfrm>
            <a:off x="2990404" y="488431"/>
            <a:ext cx="4896544" cy="707886"/>
          </a:xfrm>
          <a:prstGeom prst="rect">
            <a:avLst/>
          </a:prstGeom>
          <a:noFill/>
        </p:spPr>
        <p:txBody>
          <a:bodyPr wrap="square" rtlCol="0">
            <a:spAutoFit/>
          </a:bodyPr>
          <a:lstStyle/>
          <a:p>
            <a:pPr algn="ctr"/>
            <a:r>
              <a:rPr lang="en-GB" sz="2000" b="1" dirty="0"/>
              <a:t>Primary growth </a:t>
            </a:r>
            <a:r>
              <a:rPr lang="en-GB" sz="2000" dirty="0"/>
              <a:t>– cell division at a tip (</a:t>
            </a:r>
            <a:r>
              <a:rPr lang="en-GB" sz="2000" i="1" dirty="0"/>
              <a:t>apical meristem</a:t>
            </a:r>
            <a:r>
              <a:rPr lang="en-GB" sz="2000" dirty="0"/>
              <a:t>) resulting in elongation of tissues</a:t>
            </a:r>
          </a:p>
        </p:txBody>
      </p:sp>
      <p:pic>
        <p:nvPicPr>
          <p:cNvPr id="7170" name="Picture 2" descr="https://upload.wikimedia.org/wikipedia/commons/b/be/Root-tip-tag.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42147" y="1282352"/>
            <a:ext cx="2079798" cy="235464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234996" y="3636995"/>
            <a:ext cx="2304256" cy="584775"/>
          </a:xfrm>
          <a:prstGeom prst="rect">
            <a:avLst/>
          </a:prstGeom>
        </p:spPr>
        <p:txBody>
          <a:bodyPr wrap="square">
            <a:spAutoFit/>
          </a:bodyPr>
          <a:lstStyle/>
          <a:p>
            <a:pPr algn="ctr"/>
            <a:r>
              <a:rPr lang="en-GB" sz="800" dirty="0"/>
              <a:t>By </a:t>
            </a:r>
            <a:r>
              <a:rPr lang="en-GB" sz="800" dirty="0" err="1"/>
              <a:t>SuperManu</a:t>
            </a:r>
            <a:r>
              <a:rPr lang="en-GB" sz="800" dirty="0"/>
              <a:t> - Own work, based on File:Root tip.JPG by Clematis, CC BY-SA 2.5, https://commons.wikimedia.org/w/index.php?curid=3097034</a:t>
            </a:r>
          </a:p>
        </p:txBody>
      </p:sp>
      <p:sp>
        <p:nvSpPr>
          <p:cNvPr id="10" name="TextBox 9"/>
          <p:cNvSpPr txBox="1"/>
          <p:nvPr/>
        </p:nvSpPr>
        <p:spPr>
          <a:xfrm>
            <a:off x="3249014" y="4507483"/>
            <a:ext cx="4379324" cy="1015663"/>
          </a:xfrm>
          <a:prstGeom prst="rect">
            <a:avLst/>
          </a:prstGeom>
          <a:noFill/>
        </p:spPr>
        <p:txBody>
          <a:bodyPr wrap="square" rtlCol="0">
            <a:spAutoFit/>
          </a:bodyPr>
          <a:lstStyle/>
          <a:p>
            <a:r>
              <a:rPr lang="en-GB" sz="2000" b="1" dirty="0"/>
              <a:t>Secondary growth </a:t>
            </a:r>
            <a:r>
              <a:rPr lang="en-GB" sz="2000" dirty="0"/>
              <a:t>– cell division at cambia (lateral meristem) results in structures becoming </a:t>
            </a:r>
            <a:r>
              <a:rPr lang="en-GB" sz="2000" b="1" dirty="0"/>
              <a:t>thicker</a:t>
            </a:r>
          </a:p>
        </p:txBody>
      </p:sp>
      <p:sp>
        <p:nvSpPr>
          <p:cNvPr id="9" name="TextBox 8"/>
          <p:cNvSpPr txBox="1"/>
          <p:nvPr/>
        </p:nvSpPr>
        <p:spPr>
          <a:xfrm>
            <a:off x="8007630" y="5171283"/>
            <a:ext cx="3888432" cy="646331"/>
          </a:xfrm>
          <a:prstGeom prst="rect">
            <a:avLst/>
          </a:prstGeom>
          <a:noFill/>
        </p:spPr>
        <p:txBody>
          <a:bodyPr wrap="square" rtlCol="0">
            <a:spAutoFit/>
          </a:bodyPr>
          <a:lstStyle/>
          <a:p>
            <a:pPr algn="ctr"/>
            <a:r>
              <a:rPr lang="en-GB" dirty="0"/>
              <a:t>Early fossil example of secondary thickening</a:t>
            </a:r>
          </a:p>
        </p:txBody>
      </p:sp>
      <p:sp>
        <p:nvSpPr>
          <p:cNvPr id="11" name="TextBox 10"/>
          <p:cNvSpPr txBox="1"/>
          <p:nvPr/>
        </p:nvSpPr>
        <p:spPr>
          <a:xfrm>
            <a:off x="3985697" y="5817797"/>
            <a:ext cx="6562887" cy="523220"/>
          </a:xfrm>
          <a:prstGeom prst="rect">
            <a:avLst/>
          </a:prstGeom>
          <a:noFill/>
        </p:spPr>
        <p:txBody>
          <a:bodyPr wrap="none" rtlCol="0">
            <a:spAutoFit/>
          </a:bodyPr>
          <a:lstStyle/>
          <a:p>
            <a:pPr algn="ctr"/>
            <a:r>
              <a:rPr lang="en-GB" sz="2800" dirty="0"/>
              <a:t>Lycophytes evolved thick stems with LIGNIN</a:t>
            </a:r>
          </a:p>
        </p:txBody>
      </p:sp>
    </p:spTree>
    <p:extLst>
      <p:ext uri="{BB962C8B-B14F-4D97-AF65-F5344CB8AC3E}">
        <p14:creationId xmlns:p14="http://schemas.microsoft.com/office/powerpoint/2010/main" val="3227105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7170"/>
                                        </p:tgtEl>
                                        <p:attrNameLst>
                                          <p:attrName>style.visibility</p:attrName>
                                        </p:attrNameLst>
                                      </p:cBhvr>
                                      <p:to>
                                        <p:strVal val="visible"/>
                                      </p:to>
                                    </p:set>
                                    <p:animEffect transition="in" filter="fade">
                                      <p:cBhvr>
                                        <p:cTn id="10" dur="500"/>
                                        <p:tgtEl>
                                          <p:spTgt spid="717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par>
                                <p:cTn id="24" presetID="10" presetClass="entr" presetSubtype="0" fill="hold" nodeType="with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500"/>
                                        <p:tgtEl>
                                          <p:spTgt spid="5"/>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left)">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8" grpId="0"/>
      <p:bldP spid="10" grpId="0"/>
      <p:bldP spid="9"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6384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652414" y="2167368"/>
            <a:ext cx="6875696" cy="2523263"/>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The Carboniferous</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77212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http://ichef.bbci.co.uk/naturelibrary/images/ic/credit/640x395/c/co/coal_forest/coal_forest_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09412" y="4149081"/>
            <a:ext cx="3834855" cy="236682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0" y="0"/>
            <a:ext cx="3248838" cy="584775"/>
          </a:xfrm>
          <a:prstGeom prst="rect">
            <a:avLst/>
          </a:prstGeom>
          <a:noFill/>
        </p:spPr>
        <p:txBody>
          <a:bodyPr wrap="none" rtlCol="0">
            <a:spAutoFit/>
          </a:bodyPr>
          <a:lstStyle/>
          <a:p>
            <a:r>
              <a:rPr lang="en-GB" sz="3200" dirty="0">
                <a:solidFill>
                  <a:srgbClr val="FF0000"/>
                </a:solidFill>
              </a:rPr>
              <a:t>The Carboniferous</a:t>
            </a:r>
            <a:endParaRPr lang="en-GB" sz="2400" dirty="0">
              <a:solidFill>
                <a:srgbClr val="FF0000"/>
              </a:solidFill>
            </a:endParaRPr>
          </a:p>
        </p:txBody>
      </p:sp>
      <p:sp>
        <p:nvSpPr>
          <p:cNvPr id="3" name="TextBox 2"/>
          <p:cNvSpPr txBox="1"/>
          <p:nvPr/>
        </p:nvSpPr>
        <p:spPr>
          <a:xfrm>
            <a:off x="3200239" y="1493201"/>
            <a:ext cx="5791522" cy="2431435"/>
          </a:xfrm>
          <a:prstGeom prst="rect">
            <a:avLst/>
          </a:prstGeom>
          <a:noFill/>
        </p:spPr>
        <p:txBody>
          <a:bodyPr wrap="none" rtlCol="0">
            <a:spAutoFit/>
          </a:bodyPr>
          <a:lstStyle/>
          <a:p>
            <a:pPr algn="ctr"/>
            <a:r>
              <a:rPr lang="en-GB" sz="3200" dirty="0"/>
              <a:t>~360 – 300 million year ago</a:t>
            </a:r>
          </a:p>
          <a:p>
            <a:pPr algn="ctr"/>
            <a:r>
              <a:rPr lang="en-GB" sz="3200" dirty="0"/>
              <a:t>Formation of PANGAEA</a:t>
            </a:r>
          </a:p>
          <a:p>
            <a:pPr algn="ctr"/>
            <a:r>
              <a:rPr lang="en-GB" sz="3200" dirty="0"/>
              <a:t>Extensive tropical </a:t>
            </a:r>
            <a:r>
              <a:rPr lang="en-GB" sz="3200" dirty="0" err="1"/>
              <a:t>lycopod</a:t>
            </a:r>
            <a:r>
              <a:rPr lang="en-GB" sz="3200" dirty="0"/>
              <a:t> forests</a:t>
            </a:r>
          </a:p>
          <a:p>
            <a:pPr algn="ctr"/>
            <a:r>
              <a:rPr lang="en-GB" sz="3200" dirty="0"/>
              <a:t>e.g. </a:t>
            </a:r>
            <a:r>
              <a:rPr lang="en-GB" sz="3200" i="1" dirty="0" err="1"/>
              <a:t>Lepidodendron</a:t>
            </a:r>
            <a:r>
              <a:rPr lang="en-GB" sz="3200" i="1" dirty="0"/>
              <a:t> sp.</a:t>
            </a:r>
          </a:p>
          <a:p>
            <a:endParaRPr lang="en-GB" sz="2400" dirty="0"/>
          </a:p>
        </p:txBody>
      </p:sp>
      <p:pic>
        <p:nvPicPr>
          <p:cNvPr id="5" name="Picture 4" descr="https://upload.wikimedia.org/wikipedia/commons/thumb/7/77/Geologic_Clock_with_events_and_periods.svg/803px-Geologic_Clock_with_events_and_periods.svg.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46008" y="469484"/>
            <a:ext cx="3089680" cy="2962708"/>
          </a:xfrm>
          <a:prstGeom prst="rect">
            <a:avLst/>
          </a:prstGeom>
          <a:noFill/>
          <a:extLst>
            <a:ext uri="{909E8E84-426E-40DD-AFC4-6F175D3DCCD1}">
              <a14:hiddenFill xmlns:a14="http://schemas.microsoft.com/office/drawing/2010/main">
                <a:solidFill>
                  <a:srgbClr val="FFFFFF"/>
                </a:solidFill>
              </a14:hiddenFill>
            </a:ext>
          </a:extLst>
        </p:spPr>
      </p:pic>
      <p:sp>
        <p:nvSpPr>
          <p:cNvPr id="4" name="Down Arrow 3"/>
          <p:cNvSpPr/>
          <p:nvPr/>
        </p:nvSpPr>
        <p:spPr>
          <a:xfrm rot="19423225">
            <a:off x="9305990" y="234064"/>
            <a:ext cx="655981" cy="82369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6022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https://abouquetfrommendel.files.wordpress.com/2012/03/dudley-1998-fig-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5445" y="793878"/>
            <a:ext cx="5112568" cy="482996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2811736" y="5702312"/>
            <a:ext cx="6568529" cy="707886"/>
          </a:xfrm>
          <a:prstGeom prst="rect">
            <a:avLst/>
          </a:prstGeom>
        </p:spPr>
        <p:txBody>
          <a:bodyPr wrap="none">
            <a:spAutoFit/>
          </a:bodyPr>
          <a:lstStyle/>
          <a:p>
            <a:pPr algn="ctr"/>
            <a:r>
              <a:rPr lang="en-GB" sz="4000" dirty="0"/>
              <a:t>Falling CO</a:t>
            </a:r>
            <a:r>
              <a:rPr lang="en-GB" sz="4000" baseline="-25000" dirty="0"/>
              <a:t>2</a:t>
            </a:r>
            <a:r>
              <a:rPr lang="en-GB" sz="4000" dirty="0"/>
              <a:t> = plant starvation?!</a:t>
            </a:r>
          </a:p>
        </p:txBody>
      </p:sp>
      <p:sp>
        <p:nvSpPr>
          <p:cNvPr id="5" name="Rectangle 4"/>
          <p:cNvSpPr/>
          <p:nvPr/>
        </p:nvSpPr>
        <p:spPr>
          <a:xfrm>
            <a:off x="0" y="0"/>
            <a:ext cx="3873368" cy="584775"/>
          </a:xfrm>
          <a:prstGeom prst="rect">
            <a:avLst/>
          </a:prstGeom>
        </p:spPr>
        <p:txBody>
          <a:bodyPr wrap="none">
            <a:spAutoFit/>
          </a:bodyPr>
          <a:lstStyle/>
          <a:p>
            <a:r>
              <a:rPr lang="en-GB" sz="3200" dirty="0">
                <a:solidFill>
                  <a:srgbClr val="FF0000"/>
                </a:solidFill>
              </a:rPr>
              <a:t>Changing Atmosphere</a:t>
            </a:r>
          </a:p>
        </p:txBody>
      </p:sp>
      <p:sp>
        <p:nvSpPr>
          <p:cNvPr id="2" name="Arrow: Down 1">
            <a:extLst>
              <a:ext uri="{FF2B5EF4-FFF2-40B4-BE49-F238E27FC236}">
                <a16:creationId xmlns:a16="http://schemas.microsoft.com/office/drawing/2014/main" id="{3640BC71-E190-47D4-A9BE-CC13B9A44AB1}"/>
              </a:ext>
            </a:extLst>
          </p:cNvPr>
          <p:cNvSpPr/>
          <p:nvPr/>
        </p:nvSpPr>
        <p:spPr>
          <a:xfrm>
            <a:off x="5263757" y="3329646"/>
            <a:ext cx="432048" cy="864096"/>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9D8093FF-22A8-4782-BE12-42C166D72BC8}"/>
              </a:ext>
            </a:extLst>
          </p:cNvPr>
          <p:cNvSpPr txBox="1"/>
          <p:nvPr/>
        </p:nvSpPr>
        <p:spPr>
          <a:xfrm>
            <a:off x="7320136" y="3068960"/>
            <a:ext cx="3347864" cy="1815882"/>
          </a:xfrm>
          <a:prstGeom prst="rect">
            <a:avLst/>
          </a:prstGeom>
          <a:noFill/>
        </p:spPr>
        <p:txBody>
          <a:bodyPr wrap="square" rtlCol="0">
            <a:spAutoFit/>
          </a:bodyPr>
          <a:lstStyle/>
          <a:p>
            <a:pPr algn="ctr"/>
            <a:r>
              <a:rPr lang="en-GB" sz="2800" dirty="0">
                <a:solidFill>
                  <a:srgbClr val="FF0000"/>
                </a:solidFill>
              </a:rPr>
              <a:t>Carboniferous Rainforest Collapse-</a:t>
            </a:r>
          </a:p>
          <a:p>
            <a:pPr algn="ctr"/>
            <a:r>
              <a:rPr lang="en-GB" sz="2800" dirty="0"/>
              <a:t>Mass extinction event</a:t>
            </a:r>
          </a:p>
        </p:txBody>
      </p:sp>
    </p:spTree>
    <p:extLst>
      <p:ext uri="{BB962C8B-B14F-4D97-AF65-F5344CB8AC3E}">
        <p14:creationId xmlns:p14="http://schemas.microsoft.com/office/powerpoint/2010/main" val="417308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animBg="1"/>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File:Hornwort (3144429129).jpg"/>
          <p:cNvPicPr>
            <a:picLocks noChangeAspect="1" noChangeArrowheads="1"/>
          </p:cNvPicPr>
          <p:nvPr/>
        </p:nvPicPr>
        <p:blipFill rotWithShape="1">
          <a:blip r:embed="rId2">
            <a:extLst>
              <a:ext uri="{28A0092B-C50C-407E-A947-70E740481C1C}">
                <a14:useLocalDpi xmlns:a14="http://schemas.microsoft.com/office/drawing/2010/main" val="0"/>
              </a:ext>
            </a:extLst>
          </a:blip>
          <a:srcRect l="7304" t="12665" r="4423" b="12737"/>
          <a:stretch/>
        </p:blipFill>
        <p:spPr bwMode="auto">
          <a:xfrm>
            <a:off x="0" y="0"/>
            <a:ext cx="12180525"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2652414" y="2167368"/>
            <a:ext cx="6875696" cy="2523263"/>
          </a:xfrm>
          <a:prstGeom prst="rect">
            <a:avLst/>
          </a:prstGeom>
          <a:solidFill>
            <a:srgbClr val="B2B2B2">
              <a:alpha val="49804"/>
            </a:srgbClr>
          </a:solidFill>
        </p:spPr>
        <p:txBody>
          <a:bodyPr vert="horz" lIns="91440" tIns="45720" rIns="91440" bIns="45720" rtlCol="0" anchor="ctr">
            <a:normAutofit fontScale="2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5200" dirty="0">
                <a:solidFill>
                  <a:schemeClr val="bg1"/>
                </a:solidFill>
              </a:rPr>
              <a:t>The Megaphylls</a:t>
            </a:r>
            <a:endParaRPr lang="en-GB" sz="2000" dirty="0">
              <a:solidFill>
                <a:srgbClr val="FF0000"/>
              </a:solidFill>
            </a:endParaRPr>
          </a:p>
        </p:txBody>
      </p:sp>
      <p:sp>
        <p:nvSpPr>
          <p:cNvPr id="7" name="TextBox 6">
            <a:extLst>
              <a:ext uri="{FF2B5EF4-FFF2-40B4-BE49-F238E27FC236}">
                <a16:creationId xmlns:a16="http://schemas.microsoft.com/office/drawing/2014/main" id="{AE542C5B-3648-4144-A9F9-47CC2A721BA2}"/>
              </a:ext>
            </a:extLst>
          </p:cNvPr>
          <p:cNvSpPr txBox="1"/>
          <p:nvPr/>
        </p:nvSpPr>
        <p:spPr>
          <a:xfrm>
            <a:off x="7518400" y="6489701"/>
            <a:ext cx="4787900" cy="276999"/>
          </a:xfrm>
          <a:prstGeom prst="rect">
            <a:avLst/>
          </a:prstGeom>
          <a:noFill/>
        </p:spPr>
        <p:txBody>
          <a:bodyPr wrap="square">
            <a:spAutoFit/>
          </a:bodyPr>
          <a:lstStyle/>
          <a:p>
            <a:r>
              <a:rPr lang="en-GB" sz="1200" dirty="0">
                <a:solidFill>
                  <a:schemeClr val="bg1"/>
                </a:solidFill>
              </a:rPr>
              <a:t>Jason Hollinger / CC BY (https://creativecommons.org/licenses/by/2.0)</a:t>
            </a:r>
          </a:p>
        </p:txBody>
      </p:sp>
    </p:spTree>
    <p:extLst>
      <p:ext uri="{BB962C8B-B14F-4D97-AF65-F5344CB8AC3E}">
        <p14:creationId xmlns:p14="http://schemas.microsoft.com/office/powerpoint/2010/main" val="2978594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03512" y="6453336"/>
            <a:ext cx="8892480" cy="338554"/>
          </a:xfrm>
          <a:prstGeom prst="rect">
            <a:avLst/>
          </a:prstGeom>
        </p:spPr>
        <p:txBody>
          <a:bodyPr wrap="square">
            <a:spAutoFit/>
          </a:bodyPr>
          <a:lstStyle/>
          <a:p>
            <a:pPr algn="ctr"/>
            <a:r>
              <a:rPr lang="en-GB" sz="1600" dirty="0">
                <a:hlinkClick r:id="rId2"/>
              </a:rPr>
              <a:t>https://academic.oup.com/aob/article/96/3/345/209547/Leaf-Evolution-Gases-Genes-and-Geochemistry</a:t>
            </a:r>
            <a:endParaRPr lang="en-GB" sz="1600" dirty="0"/>
          </a:p>
        </p:txBody>
      </p:sp>
      <p:sp>
        <p:nvSpPr>
          <p:cNvPr id="3" name="TextBox 2"/>
          <p:cNvSpPr txBox="1"/>
          <p:nvPr/>
        </p:nvSpPr>
        <p:spPr>
          <a:xfrm>
            <a:off x="0" y="22503"/>
            <a:ext cx="4092274" cy="523220"/>
          </a:xfrm>
          <a:prstGeom prst="rect">
            <a:avLst/>
          </a:prstGeom>
          <a:noFill/>
        </p:spPr>
        <p:txBody>
          <a:bodyPr wrap="none" rtlCol="0">
            <a:spAutoFit/>
          </a:bodyPr>
          <a:lstStyle/>
          <a:p>
            <a:r>
              <a:rPr lang="en-GB" sz="2800" dirty="0">
                <a:solidFill>
                  <a:srgbClr val="FF0000"/>
                </a:solidFill>
              </a:rPr>
              <a:t>The Rise of the </a:t>
            </a:r>
            <a:r>
              <a:rPr lang="en-GB" sz="2800" dirty="0" err="1">
                <a:solidFill>
                  <a:srgbClr val="FF0000"/>
                </a:solidFill>
              </a:rPr>
              <a:t>Megaphylls</a:t>
            </a:r>
            <a:endParaRPr lang="en-GB" dirty="0">
              <a:solidFill>
                <a:srgbClr val="FF0000"/>
              </a:solidFill>
            </a:endParaRPr>
          </a:p>
        </p:txBody>
      </p:sp>
      <p:sp>
        <p:nvSpPr>
          <p:cNvPr id="4" name="TextBox 3"/>
          <p:cNvSpPr txBox="1"/>
          <p:nvPr/>
        </p:nvSpPr>
        <p:spPr>
          <a:xfrm>
            <a:off x="3179676" y="553432"/>
            <a:ext cx="5832648" cy="5816977"/>
          </a:xfrm>
          <a:prstGeom prst="rect">
            <a:avLst/>
          </a:prstGeom>
          <a:noFill/>
        </p:spPr>
        <p:txBody>
          <a:bodyPr wrap="square" rtlCol="0">
            <a:spAutoFit/>
          </a:bodyPr>
          <a:lstStyle/>
          <a:p>
            <a:r>
              <a:rPr lang="en-GB" sz="2400" dirty="0" err="1"/>
              <a:t>Megaphyll</a:t>
            </a:r>
            <a:r>
              <a:rPr lang="en-GB" sz="2400" dirty="0"/>
              <a:t> = </a:t>
            </a:r>
            <a:r>
              <a:rPr lang="en-GB" sz="2400" i="1" dirty="0"/>
              <a:t>“large leaf”</a:t>
            </a:r>
            <a:r>
              <a:rPr lang="en-GB" sz="2400" dirty="0"/>
              <a:t> (c.f. </a:t>
            </a:r>
            <a:r>
              <a:rPr lang="en-GB" sz="2400" dirty="0" err="1"/>
              <a:t>microphylls</a:t>
            </a:r>
            <a:r>
              <a:rPr lang="en-GB" sz="2400" dirty="0"/>
              <a:t>)</a:t>
            </a:r>
          </a:p>
          <a:p>
            <a:r>
              <a:rPr lang="en-GB" sz="2400" dirty="0"/>
              <a:t>Branched veins – allows for wider flatter 	surface</a:t>
            </a:r>
          </a:p>
          <a:p>
            <a:r>
              <a:rPr lang="en-GB" sz="2400" dirty="0"/>
              <a:t>Better light capture – more photosynthesis 	but </a:t>
            </a:r>
            <a:r>
              <a:rPr lang="en-GB" sz="2400" dirty="0">
                <a:solidFill>
                  <a:srgbClr val="FF0000"/>
                </a:solidFill>
              </a:rPr>
              <a:t>hotter</a:t>
            </a:r>
            <a:r>
              <a:rPr lang="en-GB" sz="2400" dirty="0"/>
              <a:t>… </a:t>
            </a:r>
          </a:p>
          <a:p>
            <a:endParaRPr lang="en-GB" sz="2400" dirty="0"/>
          </a:p>
          <a:p>
            <a:r>
              <a:rPr lang="en-GB" sz="2400" dirty="0"/>
              <a:t>Low CO</a:t>
            </a:r>
            <a:r>
              <a:rPr lang="en-GB" sz="2400" baseline="-25000" dirty="0"/>
              <a:t>2</a:t>
            </a:r>
            <a:r>
              <a:rPr lang="en-GB" sz="2400" dirty="0"/>
              <a:t> = </a:t>
            </a:r>
            <a:r>
              <a:rPr lang="en-GB" sz="2400" dirty="0">
                <a:solidFill>
                  <a:srgbClr val="FF0000"/>
                </a:solidFill>
              </a:rPr>
              <a:t>need more stomata</a:t>
            </a:r>
          </a:p>
          <a:p>
            <a:r>
              <a:rPr lang="en-GB" sz="2400" dirty="0"/>
              <a:t>More stomata = </a:t>
            </a:r>
            <a:r>
              <a:rPr lang="en-GB" sz="2400" dirty="0">
                <a:solidFill>
                  <a:srgbClr val="0070C0"/>
                </a:solidFill>
              </a:rPr>
              <a:t>cooler leaves </a:t>
            </a:r>
            <a:r>
              <a:rPr lang="en-GB" sz="2400" i="1" dirty="0"/>
              <a:t>but </a:t>
            </a:r>
            <a:r>
              <a:rPr lang="en-GB" sz="2400" dirty="0">
                <a:solidFill>
                  <a:srgbClr val="FF0000"/>
                </a:solidFill>
              </a:rPr>
              <a:t>more water 	needed</a:t>
            </a:r>
          </a:p>
          <a:p>
            <a:endParaRPr lang="en-GB" sz="2400" dirty="0">
              <a:solidFill>
                <a:srgbClr val="FF0000"/>
              </a:solidFill>
            </a:endParaRPr>
          </a:p>
          <a:p>
            <a:pPr algn="ctr"/>
            <a:r>
              <a:rPr lang="en-GB" sz="3600" dirty="0"/>
              <a:t>Falling CO</a:t>
            </a:r>
            <a:r>
              <a:rPr lang="en-GB" sz="3600" baseline="-25000" dirty="0"/>
              <a:t>2</a:t>
            </a:r>
            <a:r>
              <a:rPr lang="en-GB" sz="3600" dirty="0"/>
              <a:t> drove the evolution of </a:t>
            </a:r>
            <a:r>
              <a:rPr lang="en-GB" sz="3600" dirty="0" err="1">
                <a:solidFill>
                  <a:srgbClr val="FF0000"/>
                </a:solidFill>
              </a:rPr>
              <a:t>megaphylls</a:t>
            </a:r>
            <a:endParaRPr lang="en-GB" sz="3600" dirty="0">
              <a:solidFill>
                <a:srgbClr val="FF0000"/>
              </a:solidFill>
            </a:endParaRPr>
          </a:p>
          <a:p>
            <a:pPr algn="ctr"/>
            <a:endParaRPr lang="en-GB" sz="1200" dirty="0"/>
          </a:p>
          <a:p>
            <a:pPr algn="ctr"/>
            <a:r>
              <a:rPr lang="en-GB" sz="4800" dirty="0">
                <a:solidFill>
                  <a:srgbClr val="00B050"/>
                </a:solidFill>
              </a:rPr>
              <a:t>FERNS</a:t>
            </a:r>
            <a:endParaRPr lang="en-GB" sz="3600" dirty="0">
              <a:solidFill>
                <a:srgbClr val="00B050"/>
              </a:solidFill>
            </a:endParaRPr>
          </a:p>
        </p:txBody>
      </p:sp>
      <p:pic>
        <p:nvPicPr>
          <p:cNvPr id="5122" name="Picture 2" descr="Dicksonia blumei.JPG"/>
          <p:cNvPicPr>
            <a:picLocks noChangeAspect="1" noChangeArrowheads="1"/>
          </p:cNvPicPr>
          <p:nvPr/>
        </p:nvPicPr>
        <p:blipFill rotWithShape="1">
          <a:blip r:embed="rId3">
            <a:extLst>
              <a:ext uri="{28A0092B-C50C-407E-A947-70E740481C1C}">
                <a14:useLocalDpi xmlns:a14="http://schemas.microsoft.com/office/drawing/2010/main" val="0"/>
              </a:ext>
            </a:extLst>
          </a:blip>
          <a:srcRect l="57258" r="18090"/>
          <a:stretch/>
        </p:blipFill>
        <p:spPr bwMode="auto">
          <a:xfrm>
            <a:off x="9443864" y="226677"/>
            <a:ext cx="2304256" cy="6226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978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fade">
                                      <p:cBhvr>
                                        <p:cTn id="22" dur="50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fade">
                                      <p:cBhvr>
                                        <p:cTn id="27" dur="500"/>
                                        <p:tgtEl>
                                          <p:spTgt spid="4">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7" end="7"/>
                                            </p:txEl>
                                          </p:spTgt>
                                        </p:tgtEl>
                                        <p:attrNameLst>
                                          <p:attrName>style.visibility</p:attrName>
                                        </p:attrNameLst>
                                      </p:cBhvr>
                                      <p:to>
                                        <p:strVal val="visible"/>
                                      </p:to>
                                    </p:set>
                                    <p:animEffect transition="in" filter="fade">
                                      <p:cBhvr>
                                        <p:cTn id="32" dur="500"/>
                                        <p:tgtEl>
                                          <p:spTgt spid="4">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9" end="9"/>
                                            </p:txEl>
                                          </p:spTgt>
                                        </p:tgtEl>
                                        <p:attrNameLst>
                                          <p:attrName>style.visibility</p:attrName>
                                        </p:attrNameLst>
                                      </p:cBhvr>
                                      <p:to>
                                        <p:strVal val="visible"/>
                                      </p:to>
                                    </p:set>
                                    <p:animEffect transition="in" filter="fade">
                                      <p:cBhvr>
                                        <p:cTn id="37" dur="500"/>
                                        <p:tgtEl>
                                          <p:spTgt spid="4">
                                            <p:txEl>
                                              <p:pRg st="9" end="9"/>
                                            </p:txEl>
                                          </p:spTgt>
                                        </p:tgtEl>
                                      </p:cBhvr>
                                    </p:animEffect>
                                  </p:childTnLst>
                                </p:cTn>
                              </p:par>
                              <p:par>
                                <p:cTn id="38" presetID="10" presetClass="entr" presetSubtype="0" fill="hold" nodeType="withEffect">
                                  <p:stCondLst>
                                    <p:cond delay="0"/>
                                  </p:stCondLst>
                                  <p:childTnLst>
                                    <p:set>
                                      <p:cBhvr>
                                        <p:cTn id="39" dur="1" fill="hold">
                                          <p:stCondLst>
                                            <p:cond delay="0"/>
                                          </p:stCondLst>
                                        </p:cTn>
                                        <p:tgtEl>
                                          <p:spTgt spid="5122"/>
                                        </p:tgtEl>
                                        <p:attrNameLst>
                                          <p:attrName>style.visibility</p:attrName>
                                        </p:attrNameLst>
                                      </p:cBhvr>
                                      <p:to>
                                        <p:strVal val="visible"/>
                                      </p:to>
                                    </p:set>
                                    <p:animEffect transition="in" filter="fade">
                                      <p:cBhvr>
                                        <p:cTn id="40"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914" y="15047"/>
            <a:ext cx="3838808" cy="523220"/>
          </a:xfrm>
          <a:prstGeom prst="rect">
            <a:avLst/>
          </a:prstGeom>
          <a:noFill/>
        </p:spPr>
        <p:txBody>
          <a:bodyPr wrap="none" rtlCol="0">
            <a:spAutoFit/>
          </a:bodyPr>
          <a:lstStyle/>
          <a:p>
            <a:r>
              <a:rPr lang="en-GB" sz="2800" dirty="0" err="1">
                <a:solidFill>
                  <a:srgbClr val="FF0000"/>
                </a:solidFill>
              </a:rPr>
              <a:t>Pteridophyta</a:t>
            </a:r>
            <a:r>
              <a:rPr lang="en-GB" sz="2800" baseline="30000" dirty="0">
                <a:solidFill>
                  <a:srgbClr val="FF0000"/>
                </a:solidFill>
              </a:rPr>
              <a:t>*</a:t>
            </a:r>
            <a:r>
              <a:rPr lang="en-GB" sz="2800" dirty="0">
                <a:solidFill>
                  <a:srgbClr val="FF0000"/>
                </a:solidFill>
              </a:rPr>
              <a:t> – the ferns</a:t>
            </a:r>
            <a:endParaRPr lang="en-GB" dirty="0">
              <a:solidFill>
                <a:srgbClr val="FF0000"/>
              </a:solidFill>
            </a:endParaRPr>
          </a:p>
        </p:txBody>
      </p:sp>
      <p:pic>
        <p:nvPicPr>
          <p:cNvPr id="7170" name="Picture 2" descr="Adlerfarn Lindberg.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6075" y="628346"/>
            <a:ext cx="2952328" cy="2212963"/>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635362" y="2865287"/>
            <a:ext cx="3384376" cy="369332"/>
          </a:xfrm>
          <a:prstGeom prst="rect">
            <a:avLst/>
          </a:prstGeom>
        </p:spPr>
        <p:txBody>
          <a:bodyPr wrap="square">
            <a:spAutoFit/>
          </a:bodyPr>
          <a:lstStyle/>
          <a:p>
            <a:pPr algn="ctr"/>
            <a:r>
              <a:rPr lang="en-GB" sz="900" dirty="0"/>
              <a:t>By Konrad </a:t>
            </a:r>
            <a:r>
              <a:rPr lang="en-GB" sz="900" dirty="0" err="1"/>
              <a:t>Lackerbeck</a:t>
            </a:r>
            <a:r>
              <a:rPr lang="en-GB" sz="900" dirty="0"/>
              <a:t> - Own work, CC0, https://commons.wikimedia.org/w/index.php?curid=53337431</a:t>
            </a:r>
          </a:p>
        </p:txBody>
      </p:sp>
      <p:pic>
        <p:nvPicPr>
          <p:cNvPr id="7172" name="Picture 4" descr="Dryopteris x separabilis.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93489" y="984543"/>
            <a:ext cx="2980154" cy="223382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961318" y="3218777"/>
            <a:ext cx="3644499" cy="369332"/>
          </a:xfrm>
          <a:prstGeom prst="rect">
            <a:avLst/>
          </a:prstGeom>
        </p:spPr>
        <p:txBody>
          <a:bodyPr wrap="square">
            <a:spAutoFit/>
          </a:bodyPr>
          <a:lstStyle/>
          <a:p>
            <a:pPr algn="ctr"/>
            <a:r>
              <a:rPr lang="en-GB" sz="900" dirty="0"/>
              <a:t>By </a:t>
            </a:r>
            <a:r>
              <a:rPr lang="en-GB" sz="900" dirty="0" err="1"/>
              <a:t>Choess</a:t>
            </a:r>
            <a:r>
              <a:rPr lang="en-GB" sz="900" dirty="0"/>
              <a:t> - Own work, CC BY-SA 3.0, https://commons.wikimedia.org/w/index.php?curid=21911966</a:t>
            </a:r>
          </a:p>
        </p:txBody>
      </p:sp>
      <p:pic>
        <p:nvPicPr>
          <p:cNvPr id="7174" name="Picture 6" descr="Adelaarsvaren stengeldoorsnede Pteridium aquilinu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6336" y="3588110"/>
            <a:ext cx="2245542" cy="255950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6635362" y="6120525"/>
            <a:ext cx="3024336" cy="369332"/>
          </a:xfrm>
          <a:prstGeom prst="rect">
            <a:avLst/>
          </a:prstGeom>
        </p:spPr>
        <p:txBody>
          <a:bodyPr wrap="square">
            <a:spAutoFit/>
          </a:bodyPr>
          <a:lstStyle/>
          <a:p>
            <a:pPr algn="ctr"/>
            <a:r>
              <a:rPr lang="en-GB" sz="900" dirty="0"/>
              <a:t>By </a:t>
            </a:r>
            <a:r>
              <a:rPr lang="en-GB" sz="900" dirty="0" err="1"/>
              <a:t>Rasbak</a:t>
            </a:r>
            <a:r>
              <a:rPr lang="en-GB" sz="900" dirty="0"/>
              <a:t> - Own work, CC BY-SA 3.0, https://commons.wikimedia.org/w/index.php?curid=217092</a:t>
            </a:r>
          </a:p>
        </p:txBody>
      </p:sp>
      <p:pic>
        <p:nvPicPr>
          <p:cNvPr id="7176" name="Picture 8" descr="Fern sori pattern.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23590" y="4030231"/>
            <a:ext cx="3077097" cy="1947472"/>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676142" y="5966078"/>
            <a:ext cx="4572000" cy="369332"/>
          </a:xfrm>
          <a:prstGeom prst="rect">
            <a:avLst/>
          </a:prstGeom>
        </p:spPr>
        <p:txBody>
          <a:bodyPr>
            <a:spAutoFit/>
          </a:bodyPr>
          <a:lstStyle/>
          <a:p>
            <a:pPr algn="ctr"/>
            <a:r>
              <a:rPr lang="en-GB" sz="900" dirty="0"/>
              <a:t>By L. </a:t>
            </a:r>
            <a:r>
              <a:rPr lang="en-GB" sz="900" dirty="0" err="1"/>
              <a:t>Shyamal</a:t>
            </a:r>
            <a:r>
              <a:rPr lang="en-GB" sz="900" dirty="0"/>
              <a:t> - Own work, CC BY-SA 3.0, https://commons.wikimedia.org/w/index.php?curid=47003481</a:t>
            </a:r>
          </a:p>
        </p:txBody>
      </p:sp>
      <p:sp>
        <p:nvSpPr>
          <p:cNvPr id="7" name="TextBox 6"/>
          <p:cNvSpPr txBox="1"/>
          <p:nvPr/>
        </p:nvSpPr>
        <p:spPr>
          <a:xfrm>
            <a:off x="2844848" y="483169"/>
            <a:ext cx="1877437" cy="523220"/>
          </a:xfrm>
          <a:prstGeom prst="rect">
            <a:avLst/>
          </a:prstGeom>
          <a:noFill/>
        </p:spPr>
        <p:txBody>
          <a:bodyPr wrap="none" rtlCol="0">
            <a:spAutoFit/>
          </a:bodyPr>
          <a:lstStyle/>
          <a:p>
            <a:r>
              <a:rPr lang="en-GB" sz="2800" dirty="0"/>
              <a:t>Shuttlecock</a:t>
            </a:r>
          </a:p>
        </p:txBody>
      </p:sp>
      <p:sp>
        <p:nvSpPr>
          <p:cNvPr id="12" name="TextBox 11"/>
          <p:cNvSpPr txBox="1"/>
          <p:nvPr/>
        </p:nvSpPr>
        <p:spPr>
          <a:xfrm>
            <a:off x="7025700" y="3141833"/>
            <a:ext cx="2333524" cy="523220"/>
          </a:xfrm>
          <a:prstGeom prst="rect">
            <a:avLst/>
          </a:prstGeom>
          <a:noFill/>
        </p:spPr>
        <p:txBody>
          <a:bodyPr wrap="none" rtlCol="0">
            <a:spAutoFit/>
          </a:bodyPr>
          <a:lstStyle/>
          <a:p>
            <a:r>
              <a:rPr lang="en-GB" sz="2800" dirty="0"/>
              <a:t>Vascular tissue</a:t>
            </a:r>
          </a:p>
        </p:txBody>
      </p:sp>
      <p:sp>
        <p:nvSpPr>
          <p:cNvPr id="13" name="TextBox 12"/>
          <p:cNvSpPr txBox="1"/>
          <p:nvPr/>
        </p:nvSpPr>
        <p:spPr>
          <a:xfrm>
            <a:off x="3589281" y="3588109"/>
            <a:ext cx="745717" cy="523220"/>
          </a:xfrm>
          <a:prstGeom prst="rect">
            <a:avLst/>
          </a:prstGeom>
          <a:noFill/>
        </p:spPr>
        <p:txBody>
          <a:bodyPr wrap="none" rtlCol="0">
            <a:spAutoFit/>
          </a:bodyPr>
          <a:lstStyle/>
          <a:p>
            <a:r>
              <a:rPr lang="en-GB" sz="2800" dirty="0" err="1"/>
              <a:t>Sori</a:t>
            </a:r>
            <a:endParaRPr lang="en-GB" sz="2800" dirty="0"/>
          </a:p>
        </p:txBody>
      </p:sp>
      <p:sp>
        <p:nvSpPr>
          <p:cNvPr id="14" name="TextBox 13"/>
          <p:cNvSpPr txBox="1"/>
          <p:nvPr/>
        </p:nvSpPr>
        <p:spPr>
          <a:xfrm>
            <a:off x="7322537" y="116632"/>
            <a:ext cx="1579407" cy="523220"/>
          </a:xfrm>
          <a:prstGeom prst="rect">
            <a:avLst/>
          </a:prstGeom>
          <a:noFill/>
        </p:spPr>
        <p:txBody>
          <a:bodyPr wrap="none" rtlCol="0">
            <a:spAutoFit/>
          </a:bodyPr>
          <a:lstStyle/>
          <a:p>
            <a:r>
              <a:rPr lang="en-GB" sz="2800" dirty="0"/>
              <a:t>Rhizomes</a:t>
            </a:r>
          </a:p>
        </p:txBody>
      </p:sp>
      <p:sp>
        <p:nvSpPr>
          <p:cNvPr id="8" name="TextBox 7"/>
          <p:cNvSpPr txBox="1"/>
          <p:nvPr/>
        </p:nvSpPr>
        <p:spPr>
          <a:xfrm>
            <a:off x="1580719" y="6458841"/>
            <a:ext cx="7477432" cy="553998"/>
          </a:xfrm>
          <a:prstGeom prst="rect">
            <a:avLst/>
          </a:prstGeom>
          <a:noFill/>
        </p:spPr>
        <p:txBody>
          <a:bodyPr wrap="none" rtlCol="0">
            <a:spAutoFit/>
          </a:bodyPr>
          <a:lstStyle/>
          <a:p>
            <a:r>
              <a:rPr lang="en-GB" baseline="30000" dirty="0"/>
              <a:t>*</a:t>
            </a:r>
            <a:r>
              <a:rPr lang="en-GB" dirty="0"/>
              <a:t>Or maybe </a:t>
            </a:r>
            <a:r>
              <a:rPr lang="en-GB" dirty="0" err="1"/>
              <a:t>Polypodiidae</a:t>
            </a:r>
            <a:r>
              <a:rPr lang="en-GB" dirty="0"/>
              <a:t> – see https://en.wikipedia.org/wiki/Talk:Pteridopsida</a:t>
            </a:r>
            <a:endParaRPr lang="en-GB" b="1" dirty="0"/>
          </a:p>
          <a:p>
            <a:endParaRPr lang="en-GB" baseline="30000" dirty="0"/>
          </a:p>
        </p:txBody>
      </p:sp>
    </p:spTree>
    <p:extLst>
      <p:ext uri="{BB962C8B-B14F-4D97-AF65-F5344CB8AC3E}">
        <p14:creationId xmlns:p14="http://schemas.microsoft.com/office/powerpoint/2010/main" val="2649085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7172"/>
                                        </p:tgtEl>
                                        <p:attrNameLst>
                                          <p:attrName>style.visibility</p:attrName>
                                        </p:attrNameLst>
                                      </p:cBhvr>
                                      <p:to>
                                        <p:strVal val="visible"/>
                                      </p:to>
                                    </p:set>
                                    <p:animEffect transition="in" filter="fade">
                                      <p:cBhvr>
                                        <p:cTn id="10" dur="500"/>
                                        <p:tgtEl>
                                          <p:spTgt spid="717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par>
                                <p:cTn id="19" presetID="10" presetClass="entr" presetSubtype="0" fill="hold" nodeType="withEffect">
                                  <p:stCondLst>
                                    <p:cond delay="0"/>
                                  </p:stCondLst>
                                  <p:childTnLst>
                                    <p:set>
                                      <p:cBhvr>
                                        <p:cTn id="20" dur="1" fill="hold">
                                          <p:stCondLst>
                                            <p:cond delay="0"/>
                                          </p:stCondLst>
                                        </p:cTn>
                                        <p:tgtEl>
                                          <p:spTgt spid="7170"/>
                                        </p:tgtEl>
                                        <p:attrNameLst>
                                          <p:attrName>style.visibility</p:attrName>
                                        </p:attrNameLst>
                                      </p:cBhvr>
                                      <p:to>
                                        <p:strVal val="visible"/>
                                      </p:to>
                                    </p:set>
                                    <p:animEffect transition="in" filter="fade">
                                      <p:cBhvr>
                                        <p:cTn id="21" dur="500"/>
                                        <p:tgtEl>
                                          <p:spTgt spid="717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fade">
                                      <p:cBhvr>
                                        <p:cTn id="24" dur="500"/>
                                        <p:tgtEl>
                                          <p:spTgt spid="3"/>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10" presetClass="entr" presetSubtype="0" fill="hold" nodeType="withEffect">
                                  <p:stCondLst>
                                    <p:cond delay="0"/>
                                  </p:stCondLst>
                                  <p:childTnLst>
                                    <p:set>
                                      <p:cBhvr>
                                        <p:cTn id="31" dur="1" fill="hold">
                                          <p:stCondLst>
                                            <p:cond delay="0"/>
                                          </p:stCondLst>
                                        </p:cTn>
                                        <p:tgtEl>
                                          <p:spTgt spid="7176"/>
                                        </p:tgtEl>
                                        <p:attrNameLst>
                                          <p:attrName>style.visibility</p:attrName>
                                        </p:attrNameLst>
                                      </p:cBhvr>
                                      <p:to>
                                        <p:strVal val="visible"/>
                                      </p:to>
                                    </p:set>
                                    <p:animEffect transition="in" filter="fade">
                                      <p:cBhvr>
                                        <p:cTn id="32" dur="500"/>
                                        <p:tgtEl>
                                          <p:spTgt spid="717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par>
                                <p:cTn id="41" presetID="10" presetClass="entr" presetSubtype="0" fill="hold" nodeType="withEffect">
                                  <p:stCondLst>
                                    <p:cond delay="0"/>
                                  </p:stCondLst>
                                  <p:childTnLst>
                                    <p:set>
                                      <p:cBhvr>
                                        <p:cTn id="42" dur="1" fill="hold">
                                          <p:stCondLst>
                                            <p:cond delay="0"/>
                                          </p:stCondLst>
                                        </p:cTn>
                                        <p:tgtEl>
                                          <p:spTgt spid="7174"/>
                                        </p:tgtEl>
                                        <p:attrNameLst>
                                          <p:attrName>style.visibility</p:attrName>
                                        </p:attrNameLst>
                                      </p:cBhvr>
                                      <p:to>
                                        <p:strVal val="visible"/>
                                      </p:to>
                                    </p:set>
                                    <p:animEffect transition="in" filter="fade">
                                      <p:cBhvr>
                                        <p:cTn id="43" dur="500"/>
                                        <p:tgtEl>
                                          <p:spTgt spid="717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2" grpId="0"/>
      <p:bldP spid="13" grpId="0"/>
      <p:bldP spid="1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2547749" cy="584775"/>
          </a:xfrm>
          <a:prstGeom prst="rect">
            <a:avLst/>
          </a:prstGeom>
          <a:noFill/>
        </p:spPr>
        <p:txBody>
          <a:bodyPr wrap="none" rtlCol="0">
            <a:spAutoFit/>
          </a:bodyPr>
          <a:lstStyle/>
          <a:p>
            <a:r>
              <a:rPr lang="en-GB" sz="3200" dirty="0">
                <a:solidFill>
                  <a:srgbClr val="FF0000"/>
                </a:solidFill>
              </a:rPr>
              <a:t>The Horsetails</a:t>
            </a:r>
            <a:endParaRPr lang="en-GB" sz="2400" dirty="0">
              <a:solidFill>
                <a:srgbClr val="FF0000"/>
              </a:solidFill>
            </a:endParaRPr>
          </a:p>
        </p:txBody>
      </p:sp>
      <p:pic>
        <p:nvPicPr>
          <p:cNvPr id="1026" name="Picture 2" descr="Equisetopsida.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8917" y="954107"/>
            <a:ext cx="3168352" cy="475252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327848" y="5850652"/>
            <a:ext cx="3333751" cy="646331"/>
          </a:xfrm>
          <a:prstGeom prst="rect">
            <a:avLst/>
          </a:prstGeom>
        </p:spPr>
        <p:txBody>
          <a:bodyPr wrap="square">
            <a:spAutoFit/>
          </a:bodyPr>
          <a:lstStyle/>
          <a:p>
            <a:pPr algn="ctr"/>
            <a:r>
              <a:rPr lang="en-GB" sz="1200" dirty="0"/>
              <a:t>By </a:t>
            </a:r>
            <a:r>
              <a:rPr lang="en-GB" sz="1200" dirty="0" err="1"/>
              <a:t>Rror</a:t>
            </a:r>
            <a:r>
              <a:rPr lang="en-GB" sz="1200" dirty="0"/>
              <a:t> - Own work, CC BY-SA 3.0, https://commons.wikimedia.org/w/index.php?curid=4077821</a:t>
            </a:r>
          </a:p>
        </p:txBody>
      </p:sp>
      <p:sp>
        <p:nvSpPr>
          <p:cNvPr id="4" name="Rectangle 3"/>
          <p:cNvSpPr/>
          <p:nvPr/>
        </p:nvSpPr>
        <p:spPr>
          <a:xfrm>
            <a:off x="8858541" y="584775"/>
            <a:ext cx="2109104" cy="369332"/>
          </a:xfrm>
          <a:prstGeom prst="rect">
            <a:avLst/>
          </a:prstGeom>
        </p:spPr>
        <p:txBody>
          <a:bodyPr wrap="none">
            <a:spAutoFit/>
          </a:bodyPr>
          <a:lstStyle/>
          <a:p>
            <a:r>
              <a:rPr lang="en-GB" i="1" dirty="0"/>
              <a:t>Equisetum </a:t>
            </a:r>
            <a:r>
              <a:rPr lang="en-GB" i="1" dirty="0" err="1"/>
              <a:t>telmateia</a:t>
            </a:r>
            <a:endParaRPr lang="en-GB" dirty="0"/>
          </a:p>
        </p:txBody>
      </p:sp>
      <p:sp>
        <p:nvSpPr>
          <p:cNvPr id="5" name="TextBox 4"/>
          <p:cNvSpPr txBox="1"/>
          <p:nvPr/>
        </p:nvSpPr>
        <p:spPr>
          <a:xfrm>
            <a:off x="3345707" y="1375990"/>
            <a:ext cx="4778765" cy="3908762"/>
          </a:xfrm>
          <a:prstGeom prst="rect">
            <a:avLst/>
          </a:prstGeom>
          <a:noFill/>
        </p:spPr>
        <p:txBody>
          <a:bodyPr wrap="square" rtlCol="0">
            <a:spAutoFit/>
          </a:bodyPr>
          <a:lstStyle/>
          <a:p>
            <a:r>
              <a:rPr lang="en-GB" sz="3200" b="1" dirty="0"/>
              <a:t>Family</a:t>
            </a:r>
            <a:r>
              <a:rPr lang="en-GB" sz="3200" dirty="0"/>
              <a:t>: </a:t>
            </a:r>
            <a:r>
              <a:rPr lang="en-GB" sz="3200" dirty="0" err="1"/>
              <a:t>Equisetaceae</a:t>
            </a:r>
            <a:endParaRPr lang="en-GB" sz="3200" dirty="0"/>
          </a:p>
          <a:p>
            <a:r>
              <a:rPr lang="en-GB" sz="3200" b="1" dirty="0"/>
              <a:t>Genus</a:t>
            </a:r>
            <a:r>
              <a:rPr lang="en-GB" sz="3200" dirty="0"/>
              <a:t>: </a:t>
            </a:r>
            <a:r>
              <a:rPr lang="en-GB" sz="3200" i="1" dirty="0"/>
              <a:t>Equisetum</a:t>
            </a:r>
            <a:endParaRPr lang="en-GB" sz="3200" dirty="0"/>
          </a:p>
          <a:p>
            <a:r>
              <a:rPr lang="en-GB" sz="3200" b="1" dirty="0"/>
              <a:t>Common name:</a:t>
            </a:r>
            <a:r>
              <a:rPr lang="en-GB" sz="3200" dirty="0"/>
              <a:t> horsetails</a:t>
            </a:r>
          </a:p>
          <a:p>
            <a:endParaRPr lang="en-GB" sz="3200" i="1" dirty="0"/>
          </a:p>
          <a:p>
            <a:pPr algn="ctr"/>
            <a:r>
              <a:rPr lang="en-GB" sz="3200" dirty="0"/>
              <a:t>(Only extant Genus in this family)</a:t>
            </a:r>
          </a:p>
          <a:p>
            <a:endParaRPr lang="en-GB" sz="3200" dirty="0"/>
          </a:p>
          <a:p>
            <a:endParaRPr lang="en-GB" sz="2400" dirty="0"/>
          </a:p>
        </p:txBody>
      </p:sp>
    </p:spTree>
    <p:extLst>
      <p:ext uri="{BB962C8B-B14F-4D97-AF65-F5344CB8AC3E}">
        <p14:creationId xmlns:p14="http://schemas.microsoft.com/office/powerpoint/2010/main" val="4031265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fad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fade">
                                      <p:cBhvr>
                                        <p:cTn id="2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46300" y="510936"/>
            <a:ext cx="6336704" cy="4832092"/>
          </a:xfrm>
          <a:prstGeom prst="rect">
            <a:avLst/>
          </a:prstGeom>
        </p:spPr>
        <p:txBody>
          <a:bodyPr wrap="square">
            <a:spAutoFit/>
          </a:bodyPr>
          <a:lstStyle/>
          <a:p>
            <a:r>
              <a:rPr lang="en-GB" sz="2800" b="1" u="sng" dirty="0"/>
              <a:t>Ring</a:t>
            </a:r>
            <a:r>
              <a:rPr lang="en-GB" sz="2800" b="1" dirty="0"/>
              <a:t> of </a:t>
            </a:r>
            <a:r>
              <a:rPr lang="en-GB" sz="2800" b="1" dirty="0">
                <a:solidFill>
                  <a:srgbClr val="FF0000"/>
                </a:solidFill>
              </a:rPr>
              <a:t>xylem:</a:t>
            </a:r>
            <a:r>
              <a:rPr lang="en-GB" sz="2800" b="1" dirty="0">
                <a:solidFill>
                  <a:srgbClr val="00B050"/>
                </a:solidFill>
              </a:rPr>
              <a:t> </a:t>
            </a:r>
            <a:endParaRPr lang="en-GB" sz="2800" b="1" dirty="0"/>
          </a:p>
          <a:p>
            <a:r>
              <a:rPr lang="en-GB" sz="2800" dirty="0"/>
              <a:t>	Better water transport; </a:t>
            </a:r>
          </a:p>
          <a:p>
            <a:r>
              <a:rPr lang="en-GB" sz="2800" dirty="0"/>
              <a:t>	Stronger</a:t>
            </a:r>
          </a:p>
          <a:p>
            <a:r>
              <a:rPr lang="en-GB" sz="2800" dirty="0"/>
              <a:t>	Better branching</a:t>
            </a:r>
          </a:p>
          <a:p>
            <a:r>
              <a:rPr lang="en-GB" sz="2800" b="1" dirty="0"/>
              <a:t>Extensive roots (</a:t>
            </a:r>
            <a:r>
              <a:rPr lang="en-GB" sz="2800" b="1" dirty="0">
                <a:solidFill>
                  <a:srgbClr val="FF0000"/>
                </a:solidFill>
              </a:rPr>
              <a:t>rhizomes</a:t>
            </a:r>
            <a:r>
              <a:rPr lang="en-GB" sz="2800" b="1" dirty="0"/>
              <a:t>):</a:t>
            </a:r>
          </a:p>
          <a:p>
            <a:r>
              <a:rPr lang="en-GB" sz="2800" dirty="0"/>
              <a:t>	Better water uptake; </a:t>
            </a:r>
          </a:p>
          <a:p>
            <a:r>
              <a:rPr lang="en-GB" sz="2800" dirty="0"/>
              <a:t>	Vegetative spread;</a:t>
            </a:r>
          </a:p>
          <a:p>
            <a:r>
              <a:rPr lang="en-GB" sz="2800" dirty="0"/>
              <a:t>	</a:t>
            </a:r>
            <a:r>
              <a:rPr lang="en-GB" sz="2800" dirty="0">
                <a:solidFill>
                  <a:srgbClr val="FF0000"/>
                </a:solidFill>
              </a:rPr>
              <a:t>Deciduous</a:t>
            </a:r>
          </a:p>
          <a:p>
            <a:r>
              <a:rPr lang="en-GB" sz="2800" b="1" dirty="0"/>
              <a:t>Reproductive structures:</a:t>
            </a:r>
          </a:p>
          <a:p>
            <a:r>
              <a:rPr lang="en-GB" sz="2800" dirty="0">
                <a:solidFill>
                  <a:srgbClr val="FF0000"/>
                </a:solidFill>
              </a:rPr>
              <a:t>	Strobili </a:t>
            </a:r>
            <a:r>
              <a:rPr lang="en-GB" sz="2800" dirty="0"/>
              <a:t>– cone like structure 	producing spores</a:t>
            </a:r>
          </a:p>
        </p:txBody>
      </p:sp>
      <p:sp>
        <p:nvSpPr>
          <p:cNvPr id="3" name="TextBox 2"/>
          <p:cNvSpPr txBox="1"/>
          <p:nvPr/>
        </p:nvSpPr>
        <p:spPr>
          <a:xfrm>
            <a:off x="103738" y="-32084"/>
            <a:ext cx="3717556" cy="584775"/>
          </a:xfrm>
          <a:prstGeom prst="rect">
            <a:avLst/>
          </a:prstGeom>
          <a:noFill/>
        </p:spPr>
        <p:txBody>
          <a:bodyPr wrap="none" rtlCol="0">
            <a:spAutoFit/>
          </a:bodyPr>
          <a:lstStyle/>
          <a:p>
            <a:r>
              <a:rPr lang="en-GB" sz="3200" dirty="0">
                <a:solidFill>
                  <a:srgbClr val="FF0000"/>
                </a:solidFill>
              </a:rPr>
              <a:t>Horsetail Innovations</a:t>
            </a:r>
            <a:endParaRPr lang="en-GB" sz="2400" dirty="0">
              <a:solidFill>
                <a:srgbClr val="FF0000"/>
              </a:solidFill>
            </a:endParaRPr>
          </a:p>
        </p:txBody>
      </p:sp>
      <p:pic>
        <p:nvPicPr>
          <p:cNvPr id="4" name="Picture 4" descr="Equisetaceae Equisetum arvens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71140" y="-32084"/>
            <a:ext cx="4320860" cy="3492695"/>
          </a:xfrm>
          <a:prstGeom prst="rect">
            <a:avLst/>
          </a:prstGeom>
          <a:noFill/>
          <a:extLst>
            <a:ext uri="{909E8E84-426E-40DD-AFC4-6F175D3DCCD1}">
              <a14:hiddenFill xmlns:a14="http://schemas.microsoft.com/office/drawing/2010/main">
                <a:solidFill>
                  <a:srgbClr val="FFFFFF"/>
                </a:solidFill>
              </a14:hiddenFill>
            </a:ext>
          </a:extLst>
        </p:spPr>
      </p:pic>
      <p:sp>
        <p:nvSpPr>
          <p:cNvPr id="5" name="Down Arrow 4"/>
          <p:cNvSpPr/>
          <p:nvPr/>
        </p:nvSpPr>
        <p:spPr>
          <a:xfrm rot="18941967">
            <a:off x="8927532" y="258792"/>
            <a:ext cx="484632" cy="978408"/>
          </a:xfrm>
          <a:prstGeom prst="down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Rectangle 5"/>
          <p:cNvSpPr>
            <a:spLocks noChangeArrowheads="1"/>
          </p:cNvSpPr>
          <p:nvPr/>
        </p:nvSpPr>
        <p:spPr bwMode="auto">
          <a:xfrm>
            <a:off x="7871140" y="3169128"/>
            <a:ext cx="259228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altLang="en-US" sz="1200" dirty="0">
                <a:latin typeface="Arial" charset="0"/>
                <a:cs typeface="Arial" charset="0"/>
                <a:hlinkClick r:id="rId3"/>
              </a:rPr>
              <a:t>PhytoImages.siu.edu</a:t>
            </a:r>
            <a:r>
              <a:rPr lang="en-US" altLang="en-US" sz="1200" dirty="0">
                <a:latin typeface="Arial" charset="0"/>
                <a:cs typeface="Arial" charset="0"/>
              </a:rPr>
              <a:t> </a:t>
            </a:r>
          </a:p>
        </p:txBody>
      </p:sp>
      <p:pic>
        <p:nvPicPr>
          <p:cNvPr id="7" name="Picture 7" descr="https://upload.wikimedia.org/wikipedia/commons/5/5b/Horsetail_vegeative_stem.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65530" y="3460611"/>
            <a:ext cx="1101377" cy="3321477"/>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rot="5400000">
            <a:off x="8175997" y="5185682"/>
            <a:ext cx="4572000" cy="338554"/>
          </a:xfrm>
          <a:prstGeom prst="rect">
            <a:avLst/>
          </a:prstGeom>
        </p:spPr>
        <p:txBody>
          <a:bodyPr>
            <a:spAutoFit/>
          </a:bodyPr>
          <a:lstStyle/>
          <a:p>
            <a:pPr algn="ctr"/>
            <a:r>
              <a:rPr lang="en-GB" sz="800" dirty="0"/>
              <a:t>By </a:t>
            </a:r>
            <a:r>
              <a:rPr lang="en-GB" sz="800" dirty="0" err="1"/>
              <a:t>Menchi</a:t>
            </a:r>
            <a:r>
              <a:rPr lang="en-GB" sz="800" dirty="0"/>
              <a:t> at the English language Wikipedia, CC BY-SA 3.0, https://commons.wikimedia.org/w/index.php?curid=11354496</a:t>
            </a:r>
          </a:p>
        </p:txBody>
      </p:sp>
      <p:pic>
        <p:nvPicPr>
          <p:cNvPr id="2050" name="Picture 2" descr="http://www.weedinfo.ca/media/jpg/equar_root_thumb_410.jpg"/>
          <p:cNvPicPr>
            <a:picLocks noChangeAspect="1" noChangeArrowheads="1"/>
          </p:cNvPicPr>
          <p:nvPr/>
        </p:nvPicPr>
        <p:blipFill rotWithShape="1">
          <a:blip r:embed="rId5">
            <a:extLst>
              <a:ext uri="{28A0092B-C50C-407E-A947-70E740481C1C}">
                <a14:useLocalDpi xmlns:a14="http://schemas.microsoft.com/office/drawing/2010/main" val="0"/>
              </a:ext>
            </a:extLst>
          </a:blip>
          <a:srcRect t="26474"/>
          <a:stretch/>
        </p:blipFill>
        <p:spPr bwMode="auto">
          <a:xfrm>
            <a:off x="3640243" y="5252311"/>
            <a:ext cx="2535560" cy="13982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3640243" y="6557120"/>
            <a:ext cx="4572000" cy="215444"/>
          </a:xfrm>
          <a:prstGeom prst="rect">
            <a:avLst/>
          </a:prstGeom>
        </p:spPr>
        <p:txBody>
          <a:bodyPr>
            <a:spAutoFit/>
          </a:bodyPr>
          <a:lstStyle/>
          <a:p>
            <a:r>
              <a:rPr lang="en-GB" sz="800" dirty="0"/>
              <a:t>http://www.weedinfo.ca/en/weed-index/view/id/EQUAR</a:t>
            </a:r>
          </a:p>
        </p:txBody>
      </p:sp>
      <p:pic>
        <p:nvPicPr>
          <p:cNvPr id="11" name="Picture 9" descr="https://upload.wikimedia.org/wikipedia/commons/thumb/1/1f/Equisetum_telmateia_strob.jpg/320px-Equisetum_telmateia_strob.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36651" y="3460610"/>
            <a:ext cx="1928879" cy="332147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rot="16200000">
            <a:off x="6842984" y="4952072"/>
            <a:ext cx="3619126" cy="338554"/>
          </a:xfrm>
          <a:prstGeom prst="rect">
            <a:avLst/>
          </a:prstGeom>
        </p:spPr>
        <p:txBody>
          <a:bodyPr wrap="square">
            <a:spAutoFit/>
          </a:bodyPr>
          <a:lstStyle/>
          <a:p>
            <a:pPr algn="ctr"/>
            <a:r>
              <a:rPr lang="en-GB" sz="800" dirty="0"/>
              <a:t>By </a:t>
            </a:r>
            <a:r>
              <a:rPr lang="en-GB" sz="800" dirty="0" err="1"/>
              <a:t>Marshman</a:t>
            </a:r>
            <a:r>
              <a:rPr lang="en-GB" sz="800" dirty="0"/>
              <a:t> at English Wikipedia / Eric </a:t>
            </a:r>
            <a:r>
              <a:rPr lang="en-GB" sz="800" dirty="0" err="1"/>
              <a:t>Guinther</a:t>
            </a:r>
            <a:r>
              <a:rPr lang="en-GB" sz="800" dirty="0"/>
              <a:t> CC BY-SA 3.0, https://commons.wikimedia.org/w/index.php?curid=10541277</a:t>
            </a:r>
          </a:p>
        </p:txBody>
      </p:sp>
    </p:spTree>
    <p:extLst>
      <p:ext uri="{BB962C8B-B14F-4D97-AF65-F5344CB8AC3E}">
        <p14:creationId xmlns:p14="http://schemas.microsoft.com/office/powerpoint/2010/main" val="1217695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
                                            <p:txEl>
                                              <p:pRg st="1" end="1"/>
                                            </p:txEl>
                                          </p:spTgt>
                                        </p:tgtEl>
                                        <p:attrNameLst>
                                          <p:attrName>style.visibility</p:attrName>
                                        </p:attrNameLst>
                                      </p:cBhvr>
                                      <p:to>
                                        <p:strVal val="visible"/>
                                      </p:to>
                                    </p:set>
                                    <p:animEffect transition="in" filter="fade">
                                      <p:cBhvr>
                                        <p:cTn id="25" dur="500"/>
                                        <p:tgtEl>
                                          <p:spTgt spid="2">
                                            <p:txEl>
                                              <p:pRg st="1" end="1"/>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500"/>
                                        <p:tgtEl>
                                          <p:spTgt spid="2">
                                            <p:txEl>
                                              <p:pRg st="2" end="2"/>
                                            </p:txEl>
                                          </p:spTgt>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
                                            <p:txEl>
                                              <p:pRg st="3" end="3"/>
                                            </p:txEl>
                                          </p:spTgt>
                                        </p:tgtEl>
                                        <p:attrNameLst>
                                          <p:attrName>style.visibility</p:attrName>
                                        </p:attrNameLst>
                                      </p:cBhvr>
                                      <p:to>
                                        <p:strVal val="visible"/>
                                      </p:to>
                                    </p:set>
                                    <p:animEffect transition="in" filter="fade">
                                      <p:cBhvr>
                                        <p:cTn id="31" dur="500"/>
                                        <p:tgtEl>
                                          <p:spTgt spid="2">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
                                            <p:txEl>
                                              <p:pRg st="4" end="4"/>
                                            </p:txEl>
                                          </p:spTgt>
                                        </p:tgtEl>
                                        <p:attrNameLst>
                                          <p:attrName>style.visibility</p:attrName>
                                        </p:attrNameLst>
                                      </p:cBhvr>
                                      <p:to>
                                        <p:strVal val="visible"/>
                                      </p:to>
                                    </p:set>
                                    <p:animEffect transition="in" filter="fade">
                                      <p:cBhvr>
                                        <p:cTn id="44" dur="500"/>
                                        <p:tgtEl>
                                          <p:spTgt spid="2">
                                            <p:txEl>
                                              <p:pRg st="4" end="4"/>
                                            </p:txEl>
                                          </p:spTgt>
                                        </p:tgtEl>
                                      </p:cBhvr>
                                    </p:animEffect>
                                  </p:childTnLst>
                                </p:cTn>
                              </p:par>
                              <p:par>
                                <p:cTn id="45" presetID="10" presetClass="entr" presetSubtype="0" fill="hold" nodeType="withEffect">
                                  <p:stCondLst>
                                    <p:cond delay="0"/>
                                  </p:stCondLst>
                                  <p:childTnLst>
                                    <p:set>
                                      <p:cBhvr>
                                        <p:cTn id="46" dur="1" fill="hold">
                                          <p:stCondLst>
                                            <p:cond delay="0"/>
                                          </p:stCondLst>
                                        </p:cTn>
                                        <p:tgtEl>
                                          <p:spTgt spid="2050"/>
                                        </p:tgtEl>
                                        <p:attrNameLst>
                                          <p:attrName>style.visibility</p:attrName>
                                        </p:attrNameLst>
                                      </p:cBhvr>
                                      <p:to>
                                        <p:strVal val="visible"/>
                                      </p:to>
                                    </p:set>
                                    <p:animEffect transition="in" filter="fade">
                                      <p:cBhvr>
                                        <p:cTn id="47" dur="500"/>
                                        <p:tgtEl>
                                          <p:spTgt spid="205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
                                            <p:txEl>
                                              <p:pRg st="5" end="5"/>
                                            </p:txEl>
                                          </p:spTgt>
                                        </p:tgtEl>
                                        <p:attrNameLst>
                                          <p:attrName>style.visibility</p:attrName>
                                        </p:attrNameLst>
                                      </p:cBhvr>
                                      <p:to>
                                        <p:strVal val="visible"/>
                                      </p:to>
                                    </p:set>
                                    <p:animEffect transition="in" filter="fade">
                                      <p:cBhvr>
                                        <p:cTn id="55" dur="500"/>
                                        <p:tgtEl>
                                          <p:spTgt spid="2">
                                            <p:txEl>
                                              <p:pRg st="5" end="5"/>
                                            </p:txEl>
                                          </p:spTgt>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
                                            <p:txEl>
                                              <p:pRg st="6" end="6"/>
                                            </p:txEl>
                                          </p:spTgt>
                                        </p:tgtEl>
                                        <p:attrNameLst>
                                          <p:attrName>style.visibility</p:attrName>
                                        </p:attrNameLst>
                                      </p:cBhvr>
                                      <p:to>
                                        <p:strVal val="visible"/>
                                      </p:to>
                                    </p:set>
                                    <p:animEffect transition="in" filter="fade">
                                      <p:cBhvr>
                                        <p:cTn id="58" dur="500"/>
                                        <p:tgtEl>
                                          <p:spTgt spid="2">
                                            <p:txEl>
                                              <p:pRg st="6" end="6"/>
                                            </p:txEl>
                                          </p:spTgt>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
                                            <p:txEl>
                                              <p:pRg st="7" end="7"/>
                                            </p:txEl>
                                          </p:spTgt>
                                        </p:tgtEl>
                                        <p:attrNameLst>
                                          <p:attrName>style.visibility</p:attrName>
                                        </p:attrNameLst>
                                      </p:cBhvr>
                                      <p:to>
                                        <p:strVal val="visible"/>
                                      </p:to>
                                    </p:set>
                                    <p:animEffect transition="in" filter="fade">
                                      <p:cBhvr>
                                        <p:cTn id="61" dur="500"/>
                                        <p:tgtEl>
                                          <p:spTgt spid="2">
                                            <p:txEl>
                                              <p:pRg st="7" end="7"/>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2">
                                            <p:txEl>
                                              <p:pRg st="8" end="8"/>
                                            </p:txEl>
                                          </p:spTgt>
                                        </p:tgtEl>
                                        <p:attrNameLst>
                                          <p:attrName>style.visibility</p:attrName>
                                        </p:attrNameLst>
                                      </p:cBhvr>
                                      <p:to>
                                        <p:strVal val="visible"/>
                                      </p:to>
                                    </p:set>
                                    <p:animEffect transition="in" filter="fade">
                                      <p:cBhvr>
                                        <p:cTn id="66" dur="500"/>
                                        <p:tgtEl>
                                          <p:spTgt spid="2">
                                            <p:txEl>
                                              <p:pRg st="8" end="8"/>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
                                            <p:txEl>
                                              <p:pRg st="9" end="9"/>
                                            </p:txEl>
                                          </p:spTgt>
                                        </p:tgtEl>
                                        <p:attrNameLst>
                                          <p:attrName>style.visibility</p:attrName>
                                        </p:attrNameLst>
                                      </p:cBhvr>
                                      <p:to>
                                        <p:strVal val="visible"/>
                                      </p:to>
                                    </p:set>
                                    <p:animEffect transition="in" filter="fade">
                                      <p:cBhvr>
                                        <p:cTn id="71" dur="500"/>
                                        <p:tgtEl>
                                          <p:spTgt spid="2">
                                            <p:txEl>
                                              <p:pRg st="9" end="9"/>
                                            </p:txEl>
                                          </p:spTgt>
                                        </p:tgtEl>
                                      </p:cBhvr>
                                    </p:animEffect>
                                  </p:childTnLst>
                                </p:cTn>
                              </p:par>
                              <p:par>
                                <p:cTn id="72" presetID="10" presetClass="entr" presetSubtype="0" fill="hold" nodeType="withEffect">
                                  <p:stCondLst>
                                    <p:cond delay="0"/>
                                  </p:stCondLst>
                                  <p:childTnLst>
                                    <p:set>
                                      <p:cBhvr>
                                        <p:cTn id="73" dur="1" fill="hold">
                                          <p:stCondLst>
                                            <p:cond delay="0"/>
                                          </p:stCondLst>
                                        </p:cTn>
                                        <p:tgtEl>
                                          <p:spTgt spid="11"/>
                                        </p:tgtEl>
                                        <p:attrNameLst>
                                          <p:attrName>style.visibility</p:attrName>
                                        </p:attrNameLst>
                                      </p:cBhvr>
                                      <p:to>
                                        <p:strVal val="visible"/>
                                      </p:to>
                                    </p:set>
                                    <p:animEffect transition="in" filter="fade">
                                      <p:cBhvr>
                                        <p:cTn id="74" dur="500"/>
                                        <p:tgtEl>
                                          <p:spTgt spid="11"/>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5" grpId="0" uiExpand="1" animBg="1"/>
      <p:bldP spid="6" grpId="0" uiExpand="1"/>
      <p:bldP spid="8" grpId="0" uiExpand="1"/>
      <p:bldP spid="9" grpId="0" uiExpand="1"/>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oreal forest"/>
          <p:cNvPicPr>
            <a:picLocks noChangeAspect="1" noChangeArrowheads="1"/>
          </p:cNvPicPr>
          <p:nvPr/>
        </p:nvPicPr>
        <p:blipFill rotWithShape="1">
          <a:blip r:embed="rId2">
            <a:extLst>
              <a:ext uri="{28A0092B-C50C-407E-A947-70E740481C1C}">
                <a14:useLocalDpi xmlns:a14="http://schemas.microsoft.com/office/drawing/2010/main" val="0"/>
              </a:ext>
            </a:extLst>
          </a:blip>
          <a:srcRect t="6910" r="11487" b="18091"/>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1981200" y="1556792"/>
            <a:ext cx="8229600" cy="3744416"/>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GB" sz="3600" dirty="0">
                <a:solidFill>
                  <a:schemeClr val="bg1"/>
                </a:solidFill>
              </a:rPr>
            </a:br>
            <a:r>
              <a:rPr lang="en-GB" sz="11100" dirty="0">
                <a:solidFill>
                  <a:schemeClr val="bg1"/>
                </a:solidFill>
              </a:rPr>
              <a:t>Norwegian Wood</a:t>
            </a:r>
            <a:endParaRPr lang="en-GB" sz="2000" dirty="0">
              <a:solidFill>
                <a:srgbClr val="FF0000"/>
              </a:solidFill>
            </a:endParaRPr>
          </a:p>
        </p:txBody>
      </p:sp>
    </p:spTree>
    <p:extLst>
      <p:ext uri="{BB962C8B-B14F-4D97-AF65-F5344CB8AC3E}">
        <p14:creationId xmlns:p14="http://schemas.microsoft.com/office/powerpoint/2010/main" val="3905811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ttps://upload.wikimedia.org/wikipedia/commons/thumb/f/fd/Archaeopteris_sp._-_MUSE.jpg/800px-Archaeopteris_sp._-_MUS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43475" y="973405"/>
            <a:ext cx="2226306" cy="265983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ucmp.berkeley.edu/IB181/VPL/Osp/OspD/OspD5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1645" y="979987"/>
            <a:ext cx="2553039" cy="414642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0" y="0"/>
            <a:ext cx="3359253" cy="523220"/>
          </a:xfrm>
          <a:prstGeom prst="rect">
            <a:avLst/>
          </a:prstGeom>
        </p:spPr>
        <p:txBody>
          <a:bodyPr wrap="none">
            <a:spAutoFit/>
          </a:bodyPr>
          <a:lstStyle/>
          <a:p>
            <a:r>
              <a:rPr lang="en-GB" sz="2800" dirty="0">
                <a:solidFill>
                  <a:srgbClr val="FF0000"/>
                </a:solidFill>
              </a:rPr>
              <a:t>The </a:t>
            </a:r>
            <a:r>
              <a:rPr lang="en-GB" sz="2800" dirty="0" err="1">
                <a:solidFill>
                  <a:srgbClr val="FF0000"/>
                </a:solidFill>
              </a:rPr>
              <a:t>Progymnosperms</a:t>
            </a:r>
            <a:endParaRPr lang="en-GB" dirty="0">
              <a:solidFill>
                <a:srgbClr val="FF0000"/>
              </a:solidFill>
            </a:endParaRPr>
          </a:p>
        </p:txBody>
      </p:sp>
      <p:sp>
        <p:nvSpPr>
          <p:cNvPr id="3" name="Rectangle 2"/>
          <p:cNvSpPr/>
          <p:nvPr/>
        </p:nvSpPr>
        <p:spPr>
          <a:xfrm>
            <a:off x="5118750" y="57665"/>
            <a:ext cx="5065617" cy="1015663"/>
          </a:xfrm>
          <a:prstGeom prst="rect">
            <a:avLst/>
          </a:prstGeom>
        </p:spPr>
        <p:txBody>
          <a:bodyPr wrap="none">
            <a:spAutoFit/>
          </a:bodyPr>
          <a:lstStyle/>
          <a:p>
            <a:r>
              <a:rPr lang="en-GB" sz="3200" i="1" dirty="0" err="1"/>
              <a:t>Archaeopteris</a:t>
            </a:r>
            <a:r>
              <a:rPr lang="en-GB" sz="3200" i="1" baseline="30000" dirty="0"/>
              <a:t>†</a:t>
            </a:r>
            <a:endParaRPr lang="en-GB" sz="3200" i="1" dirty="0"/>
          </a:p>
          <a:p>
            <a:r>
              <a:rPr lang="en-GB" sz="2800" i="1" dirty="0"/>
              <a:t>	</a:t>
            </a:r>
            <a:r>
              <a:rPr lang="en-GB" sz="2800" dirty="0"/>
              <a:t>Appeared Upper Devonian </a:t>
            </a:r>
            <a:endParaRPr lang="en-GB" sz="2800" baseline="30000" dirty="0"/>
          </a:p>
        </p:txBody>
      </p:sp>
      <p:sp>
        <p:nvSpPr>
          <p:cNvPr id="4" name="Rectangle 3"/>
          <p:cNvSpPr/>
          <p:nvPr/>
        </p:nvSpPr>
        <p:spPr>
          <a:xfrm>
            <a:off x="2704433" y="5130567"/>
            <a:ext cx="3167027" cy="230832"/>
          </a:xfrm>
          <a:prstGeom prst="rect">
            <a:avLst/>
          </a:prstGeom>
        </p:spPr>
        <p:txBody>
          <a:bodyPr wrap="square">
            <a:spAutoFit/>
          </a:bodyPr>
          <a:lstStyle/>
          <a:p>
            <a:pPr algn="ctr"/>
            <a:r>
              <a:rPr lang="en-GB" sz="900" dirty="0"/>
              <a:t>http://www.ucmp.berkeley.edu/IB181/VPL/Osp/Osp2.html</a:t>
            </a:r>
          </a:p>
        </p:txBody>
      </p:sp>
      <p:sp>
        <p:nvSpPr>
          <p:cNvPr id="5" name="TextBox 4"/>
          <p:cNvSpPr txBox="1"/>
          <p:nvPr/>
        </p:nvSpPr>
        <p:spPr>
          <a:xfrm>
            <a:off x="5430292" y="1544439"/>
            <a:ext cx="4248472" cy="2369880"/>
          </a:xfrm>
          <a:prstGeom prst="rect">
            <a:avLst/>
          </a:prstGeom>
          <a:noFill/>
        </p:spPr>
        <p:txBody>
          <a:bodyPr wrap="square" rtlCol="0">
            <a:spAutoFit/>
          </a:bodyPr>
          <a:lstStyle/>
          <a:p>
            <a:r>
              <a:rPr lang="en-GB" sz="2800" dirty="0"/>
              <a:t>Fern-like fronds</a:t>
            </a:r>
          </a:p>
          <a:p>
            <a:pPr lvl="1"/>
            <a:r>
              <a:rPr lang="en-GB" sz="2800" dirty="0"/>
              <a:t>Reproduces by spores –</a:t>
            </a:r>
            <a:r>
              <a:rPr lang="en-GB" sz="3600" i="1" dirty="0"/>
              <a:t>gametophytes</a:t>
            </a:r>
            <a:endParaRPr lang="en-GB" sz="2800" i="1" dirty="0"/>
          </a:p>
          <a:p>
            <a:pPr lvl="3"/>
            <a:r>
              <a:rPr lang="en-GB" sz="2800" dirty="0">
                <a:solidFill>
                  <a:srgbClr val="FF0000"/>
                </a:solidFill>
              </a:rPr>
              <a:t>So, a big fern?!</a:t>
            </a:r>
          </a:p>
          <a:p>
            <a:endParaRPr lang="en-GB" sz="2800" dirty="0"/>
          </a:p>
        </p:txBody>
      </p:sp>
      <p:sp>
        <p:nvSpPr>
          <p:cNvPr id="6" name="Rectangle 5"/>
          <p:cNvSpPr/>
          <p:nvPr/>
        </p:nvSpPr>
        <p:spPr>
          <a:xfrm>
            <a:off x="9101684" y="3485153"/>
            <a:ext cx="2772816" cy="307777"/>
          </a:xfrm>
          <a:prstGeom prst="rect">
            <a:avLst/>
          </a:prstGeom>
        </p:spPr>
        <p:txBody>
          <a:bodyPr wrap="square">
            <a:spAutoFit/>
          </a:bodyPr>
          <a:lstStyle/>
          <a:p>
            <a:pPr algn="ctr"/>
            <a:r>
              <a:rPr lang="en-GB" sz="700" dirty="0"/>
              <a:t>By Matteo De Stefano/MUSE, CC BY-SA 3.0, https://commons.wikimedia.org/w/index.php?curid=48059402</a:t>
            </a:r>
          </a:p>
        </p:txBody>
      </p:sp>
      <p:sp>
        <p:nvSpPr>
          <p:cNvPr id="7" name="Rectangle 6"/>
          <p:cNvSpPr/>
          <p:nvPr/>
        </p:nvSpPr>
        <p:spPr>
          <a:xfrm>
            <a:off x="6404292" y="3791208"/>
            <a:ext cx="5265489" cy="2369880"/>
          </a:xfrm>
          <a:prstGeom prst="rect">
            <a:avLst/>
          </a:prstGeom>
        </p:spPr>
        <p:txBody>
          <a:bodyPr wrap="square">
            <a:spAutoFit/>
          </a:bodyPr>
          <a:lstStyle/>
          <a:p>
            <a:r>
              <a:rPr lang="en-GB" sz="2800" dirty="0"/>
              <a:t>But…</a:t>
            </a:r>
          </a:p>
          <a:p>
            <a:pPr lvl="1"/>
            <a:r>
              <a:rPr lang="en-GB" sz="2800" dirty="0"/>
              <a:t>Has </a:t>
            </a:r>
            <a:r>
              <a:rPr lang="en-GB" sz="2800" dirty="0">
                <a:solidFill>
                  <a:srgbClr val="FF0000"/>
                </a:solidFill>
              </a:rPr>
              <a:t>ring </a:t>
            </a:r>
            <a:r>
              <a:rPr lang="en-GB" sz="2800" dirty="0"/>
              <a:t>of vascular cambium</a:t>
            </a:r>
          </a:p>
          <a:p>
            <a:pPr lvl="2"/>
            <a:r>
              <a:rPr lang="en-GB" sz="2800" dirty="0"/>
              <a:t>i.e. secondary thickening</a:t>
            </a:r>
            <a:r>
              <a:rPr lang="en-GB" sz="2800" baseline="30000" dirty="0"/>
              <a:t>*</a:t>
            </a:r>
          </a:p>
          <a:p>
            <a:pPr lvl="2"/>
            <a:r>
              <a:rPr lang="en-GB" sz="2800" dirty="0"/>
              <a:t>	Wood!</a:t>
            </a:r>
          </a:p>
          <a:p>
            <a:pPr algn="ctr"/>
            <a:r>
              <a:rPr lang="en-GB" sz="3600" dirty="0">
                <a:solidFill>
                  <a:srgbClr val="FF0000"/>
                </a:solidFill>
              </a:rPr>
              <a:t>It’s a tree!</a:t>
            </a:r>
          </a:p>
        </p:txBody>
      </p:sp>
      <p:sp>
        <p:nvSpPr>
          <p:cNvPr id="8" name="TextBox 7"/>
          <p:cNvSpPr txBox="1"/>
          <p:nvPr/>
        </p:nvSpPr>
        <p:spPr>
          <a:xfrm>
            <a:off x="8598644" y="6175578"/>
            <a:ext cx="3171446" cy="400110"/>
          </a:xfrm>
          <a:prstGeom prst="rect">
            <a:avLst/>
          </a:prstGeom>
          <a:noFill/>
        </p:spPr>
        <p:txBody>
          <a:bodyPr wrap="none" rtlCol="0">
            <a:spAutoFit/>
          </a:bodyPr>
          <a:lstStyle/>
          <a:p>
            <a:r>
              <a:rPr lang="en-GB" sz="2000" baseline="30000" dirty="0"/>
              <a:t>*</a:t>
            </a:r>
            <a:r>
              <a:rPr lang="en-GB" sz="2000" dirty="0"/>
              <a:t>unlike tree ferns (</a:t>
            </a:r>
            <a:r>
              <a:rPr lang="en-GB" sz="2000" i="1" dirty="0" err="1"/>
              <a:t>Dicksonia</a:t>
            </a:r>
            <a:r>
              <a:rPr lang="en-GB" sz="2000" dirty="0"/>
              <a:t>)</a:t>
            </a:r>
            <a:endParaRPr lang="en-GB" sz="2000" baseline="30000" dirty="0"/>
          </a:p>
        </p:txBody>
      </p:sp>
      <p:sp>
        <p:nvSpPr>
          <p:cNvPr id="9" name="Rectangle 8"/>
          <p:cNvSpPr/>
          <p:nvPr/>
        </p:nvSpPr>
        <p:spPr>
          <a:xfrm>
            <a:off x="3606409" y="6177216"/>
            <a:ext cx="2797882" cy="400110"/>
          </a:xfrm>
          <a:prstGeom prst="rect">
            <a:avLst/>
          </a:prstGeom>
        </p:spPr>
        <p:txBody>
          <a:bodyPr wrap="none">
            <a:spAutoFit/>
          </a:bodyPr>
          <a:lstStyle/>
          <a:p>
            <a:r>
              <a:rPr lang="en-GB" sz="2000" baseline="30000" dirty="0"/>
              <a:t>†</a:t>
            </a:r>
            <a:r>
              <a:rPr lang="en-GB" sz="2000" dirty="0"/>
              <a:t> </a:t>
            </a:r>
            <a:r>
              <a:rPr lang="en-GB" sz="2000" dirty="0" err="1"/>
              <a:t>n.b.</a:t>
            </a:r>
            <a:r>
              <a:rPr lang="en-GB" sz="2000" dirty="0"/>
              <a:t> </a:t>
            </a:r>
            <a:r>
              <a:rPr lang="en-GB" sz="2000" b="1" dirty="0"/>
              <a:t>NOT</a:t>
            </a:r>
            <a:r>
              <a:rPr lang="en-GB" sz="2000" dirty="0"/>
              <a:t> </a:t>
            </a:r>
            <a:r>
              <a:rPr lang="en-GB" sz="2000" i="1" dirty="0"/>
              <a:t>Archaeopteryx</a:t>
            </a:r>
          </a:p>
        </p:txBody>
      </p:sp>
    </p:spTree>
    <p:extLst>
      <p:ext uri="{BB962C8B-B14F-4D97-AF65-F5344CB8AC3E}">
        <p14:creationId xmlns:p14="http://schemas.microsoft.com/office/powerpoint/2010/main" val="2634323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0"/>
                                        </p:tgtEl>
                                        <p:attrNameLst>
                                          <p:attrName>style.visibility</p:attrName>
                                        </p:attrNameLst>
                                      </p:cBhvr>
                                      <p:to>
                                        <p:strVal val="visible"/>
                                      </p:to>
                                    </p:set>
                                    <p:animEffect transition="in" filter="fade">
                                      <p:cBhvr>
                                        <p:cTn id="12" dur="500"/>
                                        <p:tgtEl>
                                          <p:spTgt spid="205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5">
                                            <p:txEl>
                                              <p:pRg st="0" end="0"/>
                                            </p:txEl>
                                          </p:spTgt>
                                        </p:tgtEl>
                                        <p:attrNameLst>
                                          <p:attrName>style.visibility</p:attrName>
                                        </p:attrNameLst>
                                      </p:cBhvr>
                                      <p:to>
                                        <p:strVal val="visible"/>
                                      </p:to>
                                    </p:set>
                                    <p:animEffect transition="in" filter="fade">
                                      <p:cBhvr>
                                        <p:cTn id="30" dur="500"/>
                                        <p:tgtEl>
                                          <p:spTgt spid="5">
                                            <p:txEl>
                                              <p:pRg st="0" end="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052"/>
                                        </p:tgtEl>
                                        <p:attrNameLst>
                                          <p:attrName>style.visibility</p:attrName>
                                        </p:attrNameLst>
                                      </p:cBhvr>
                                      <p:to>
                                        <p:strVal val="visible"/>
                                      </p:to>
                                    </p:set>
                                    <p:animEffect transition="in" filter="fade">
                                      <p:cBhvr>
                                        <p:cTn id="33" dur="500"/>
                                        <p:tgtEl>
                                          <p:spTgt spid="205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fade">
                                      <p:cBhvr>
                                        <p:cTn id="41" dur="500"/>
                                        <p:tgtEl>
                                          <p:spTgt spid="5">
                                            <p:txEl>
                                              <p:pRg st="1" end="1"/>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5">
                                            <p:txEl>
                                              <p:pRg st="2" end="2"/>
                                            </p:txEl>
                                          </p:spTgt>
                                        </p:tgtEl>
                                        <p:attrNameLst>
                                          <p:attrName>style.visibility</p:attrName>
                                        </p:attrNameLst>
                                      </p:cBhvr>
                                      <p:to>
                                        <p:strVal val="visible"/>
                                      </p:to>
                                    </p:set>
                                    <p:animEffect transition="in" filter="fade">
                                      <p:cBhvr>
                                        <p:cTn id="46" dur="500"/>
                                        <p:tgtEl>
                                          <p:spTgt spid="5">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7">
                                            <p:txEl>
                                              <p:pRg st="0" end="0"/>
                                            </p:txEl>
                                          </p:spTgt>
                                        </p:tgtEl>
                                        <p:attrNameLst>
                                          <p:attrName>style.visibility</p:attrName>
                                        </p:attrNameLst>
                                      </p:cBhvr>
                                      <p:to>
                                        <p:strVal val="visible"/>
                                      </p:to>
                                    </p:set>
                                    <p:animEffect transition="in" filter="fade">
                                      <p:cBhvr>
                                        <p:cTn id="51" dur="500"/>
                                        <p:tgtEl>
                                          <p:spTgt spid="7">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7">
                                            <p:txEl>
                                              <p:pRg st="1" end="1"/>
                                            </p:txEl>
                                          </p:spTgt>
                                        </p:tgtEl>
                                        <p:attrNameLst>
                                          <p:attrName>style.visibility</p:attrName>
                                        </p:attrNameLst>
                                      </p:cBhvr>
                                      <p:to>
                                        <p:strVal val="visible"/>
                                      </p:to>
                                    </p:set>
                                    <p:animEffect transition="in" filter="fade">
                                      <p:cBhvr>
                                        <p:cTn id="56" dur="500"/>
                                        <p:tgtEl>
                                          <p:spTgt spid="7">
                                            <p:txEl>
                                              <p:pRg st="1" end="1"/>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7">
                                            <p:txEl>
                                              <p:pRg st="2" end="2"/>
                                            </p:txEl>
                                          </p:spTgt>
                                        </p:tgtEl>
                                        <p:attrNameLst>
                                          <p:attrName>style.visibility</p:attrName>
                                        </p:attrNameLst>
                                      </p:cBhvr>
                                      <p:to>
                                        <p:strVal val="visible"/>
                                      </p:to>
                                    </p:set>
                                    <p:animEffect transition="in" filter="fade">
                                      <p:cBhvr>
                                        <p:cTn id="61" dur="500"/>
                                        <p:tgtEl>
                                          <p:spTgt spid="7">
                                            <p:txEl>
                                              <p:pRg st="2" end="2"/>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8"/>
                                        </p:tgtEl>
                                        <p:attrNameLst>
                                          <p:attrName>style.visibility</p:attrName>
                                        </p:attrNameLst>
                                      </p:cBhvr>
                                      <p:to>
                                        <p:strVal val="visible"/>
                                      </p:to>
                                    </p:set>
                                    <p:animEffect transition="in" filter="fade">
                                      <p:cBhvr>
                                        <p:cTn id="66" dur="500"/>
                                        <p:tgtEl>
                                          <p:spTgt spid="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7">
                                            <p:txEl>
                                              <p:pRg st="3" end="3"/>
                                            </p:txEl>
                                          </p:spTgt>
                                        </p:tgtEl>
                                        <p:attrNameLst>
                                          <p:attrName>style.visibility</p:attrName>
                                        </p:attrNameLst>
                                      </p:cBhvr>
                                      <p:to>
                                        <p:strVal val="visible"/>
                                      </p:to>
                                    </p:set>
                                    <p:animEffect transition="in" filter="fade">
                                      <p:cBhvr>
                                        <p:cTn id="69" dur="500"/>
                                        <p:tgtEl>
                                          <p:spTgt spid="7">
                                            <p:txEl>
                                              <p:pRg st="3" end="3"/>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7">
                                            <p:txEl>
                                              <p:pRg st="4" end="4"/>
                                            </p:txEl>
                                          </p:spTgt>
                                        </p:tgtEl>
                                        <p:attrNameLst>
                                          <p:attrName>style.visibility</p:attrName>
                                        </p:attrNameLst>
                                      </p:cBhvr>
                                      <p:to>
                                        <p:strVal val="visible"/>
                                      </p:to>
                                    </p:set>
                                    <p:animEffect transition="in" filter="fade">
                                      <p:cBhvr>
                                        <p:cTn id="74" dur="500"/>
                                        <p:tgtEl>
                                          <p:spTgt spid="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uiExpand="1" build="p"/>
      <p:bldP spid="6" grpId="0"/>
      <p:bldP spid="7" grpId="0" uiExpand="1" build="p"/>
      <p:bldP spid="8" grpId="0" uiExpand="1"/>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31099"/>
            <a:ext cx="6175280" cy="523220"/>
          </a:xfrm>
          <a:prstGeom prst="rect">
            <a:avLst/>
          </a:prstGeom>
        </p:spPr>
        <p:txBody>
          <a:bodyPr wrap="none">
            <a:spAutoFit/>
          </a:bodyPr>
          <a:lstStyle/>
          <a:p>
            <a:r>
              <a:rPr lang="en-GB" sz="2800" dirty="0" err="1">
                <a:solidFill>
                  <a:srgbClr val="FF0000"/>
                </a:solidFill>
              </a:rPr>
              <a:t>Pteridospermatophyta</a:t>
            </a:r>
            <a:r>
              <a:rPr lang="en-GB" sz="2800" dirty="0">
                <a:solidFill>
                  <a:srgbClr val="FF0000"/>
                </a:solidFill>
              </a:rPr>
              <a:t> – the “seed ferns”</a:t>
            </a:r>
            <a:endParaRPr lang="en-GB" sz="2000" dirty="0">
              <a:solidFill>
                <a:srgbClr val="FF0000"/>
              </a:solidFill>
            </a:endParaRPr>
          </a:p>
        </p:txBody>
      </p:sp>
      <p:pic>
        <p:nvPicPr>
          <p:cNvPr id="2052" name="Picture 4" descr="Lagenostoma se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3932" y="2078166"/>
            <a:ext cx="2407834" cy="4005694"/>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Alethopteris PAMuseum.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418377" y="1180577"/>
            <a:ext cx="3198107" cy="290589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418377" y="4139109"/>
            <a:ext cx="3198107" cy="461665"/>
          </a:xfrm>
          <a:prstGeom prst="rect">
            <a:avLst/>
          </a:prstGeom>
        </p:spPr>
        <p:txBody>
          <a:bodyPr wrap="square">
            <a:spAutoFit/>
          </a:bodyPr>
          <a:lstStyle/>
          <a:p>
            <a:pPr algn="ctr"/>
            <a:r>
              <a:rPr lang="en-GB" sz="800" dirty="0"/>
              <a:t>By </a:t>
            </a:r>
            <a:r>
              <a:rPr lang="en-GB" sz="800" dirty="0" err="1"/>
              <a:t>Jstuby</a:t>
            </a:r>
            <a:r>
              <a:rPr lang="en-GB" sz="800" dirty="0"/>
              <a:t> at English Wikipedia - Transferred from </a:t>
            </a:r>
            <a:r>
              <a:rPr lang="en-GB" sz="800" dirty="0" err="1"/>
              <a:t>en.wikipedia</a:t>
            </a:r>
            <a:r>
              <a:rPr lang="en-GB" sz="800" dirty="0"/>
              <a:t> to Commons by </a:t>
            </a:r>
            <a:r>
              <a:rPr lang="en-GB" sz="800" dirty="0" err="1"/>
              <a:t>Innotata</a:t>
            </a:r>
            <a:r>
              <a:rPr lang="en-GB" sz="800" dirty="0"/>
              <a:t> using </a:t>
            </a:r>
            <a:r>
              <a:rPr lang="en-GB" sz="800" dirty="0" err="1"/>
              <a:t>CommonsHelper</a:t>
            </a:r>
            <a:r>
              <a:rPr lang="en-GB" sz="800" dirty="0"/>
              <a:t>., Public Domain, https://commons.wikimedia.org/w/index.php?curid=15115352</a:t>
            </a:r>
          </a:p>
        </p:txBody>
      </p:sp>
      <p:sp>
        <p:nvSpPr>
          <p:cNvPr id="5" name="TextBox 4"/>
          <p:cNvSpPr txBox="1"/>
          <p:nvPr/>
        </p:nvSpPr>
        <p:spPr>
          <a:xfrm>
            <a:off x="3380284" y="623048"/>
            <a:ext cx="4766818" cy="1323439"/>
          </a:xfrm>
          <a:prstGeom prst="rect">
            <a:avLst/>
          </a:prstGeom>
          <a:noFill/>
        </p:spPr>
        <p:txBody>
          <a:bodyPr wrap="none" rtlCol="0">
            <a:spAutoFit/>
          </a:bodyPr>
          <a:lstStyle/>
          <a:p>
            <a:pPr algn="r"/>
            <a:r>
              <a:rPr lang="en-GB" sz="4000" dirty="0"/>
              <a:t>Evolved late Devonian</a:t>
            </a:r>
          </a:p>
          <a:p>
            <a:pPr algn="r"/>
            <a:r>
              <a:rPr lang="en-GB" sz="4000" dirty="0"/>
              <a:t>Fern-like foliage…</a:t>
            </a:r>
          </a:p>
        </p:txBody>
      </p:sp>
      <p:pic>
        <p:nvPicPr>
          <p:cNvPr id="2056" name="Picture 8" descr="Lyginopterid progymnosperm"/>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41882" y="2633523"/>
            <a:ext cx="2333302" cy="301117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7456045" y="5821400"/>
            <a:ext cx="4141455" cy="646331"/>
          </a:xfrm>
          <a:prstGeom prst="rect">
            <a:avLst/>
          </a:prstGeom>
          <a:noFill/>
        </p:spPr>
        <p:txBody>
          <a:bodyPr wrap="none" rtlCol="0">
            <a:spAutoFit/>
          </a:bodyPr>
          <a:lstStyle/>
          <a:p>
            <a:r>
              <a:rPr lang="en-GB" sz="3600" dirty="0"/>
              <a:t>…but produces seeds</a:t>
            </a:r>
          </a:p>
        </p:txBody>
      </p:sp>
      <p:sp>
        <p:nvSpPr>
          <p:cNvPr id="7" name="Rectangle 6"/>
          <p:cNvSpPr/>
          <p:nvPr/>
        </p:nvSpPr>
        <p:spPr>
          <a:xfrm>
            <a:off x="3226891" y="6083860"/>
            <a:ext cx="3363500" cy="276999"/>
          </a:xfrm>
          <a:prstGeom prst="rect">
            <a:avLst/>
          </a:prstGeom>
        </p:spPr>
        <p:txBody>
          <a:bodyPr wrap="square">
            <a:spAutoFit/>
          </a:bodyPr>
          <a:lstStyle/>
          <a:p>
            <a:r>
              <a:rPr lang="en-GB" sz="1200" dirty="0"/>
              <a:t>http://</a:t>
            </a:r>
            <a:r>
              <a:rPr lang="en-GB" sz="1200" b="1" dirty="0"/>
              <a:t>www.seedbiology.de/evolution.asp#fossils</a:t>
            </a:r>
          </a:p>
        </p:txBody>
      </p:sp>
    </p:spTree>
    <p:extLst>
      <p:ext uri="{BB962C8B-B14F-4D97-AF65-F5344CB8AC3E}">
        <p14:creationId xmlns:p14="http://schemas.microsoft.com/office/powerpoint/2010/main" val="48306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2054"/>
                                        </p:tgtEl>
                                        <p:attrNameLst>
                                          <p:attrName>style.visibility</p:attrName>
                                        </p:attrNameLst>
                                      </p:cBhvr>
                                      <p:to>
                                        <p:strVal val="visible"/>
                                      </p:to>
                                    </p:set>
                                    <p:animEffect transition="in" filter="fade">
                                      <p:cBhvr>
                                        <p:cTn id="15" dur="500"/>
                                        <p:tgtEl>
                                          <p:spTgt spid="205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52"/>
                                        </p:tgtEl>
                                        <p:attrNameLst>
                                          <p:attrName>style.visibility</p:attrName>
                                        </p:attrNameLst>
                                      </p:cBhvr>
                                      <p:to>
                                        <p:strVal val="visible"/>
                                      </p:to>
                                    </p:set>
                                    <p:animEffect transition="in" filter="fade">
                                      <p:cBhvr>
                                        <p:cTn id="23" dur="500"/>
                                        <p:tgtEl>
                                          <p:spTgt spid="2052"/>
                                        </p:tgtEl>
                                      </p:cBhvr>
                                    </p:animEffect>
                                  </p:childTnLst>
                                </p:cTn>
                              </p:par>
                              <p:par>
                                <p:cTn id="24" presetID="10" presetClass="entr" presetSubtype="0" fill="hold" nodeType="withEffect">
                                  <p:stCondLst>
                                    <p:cond delay="0"/>
                                  </p:stCondLst>
                                  <p:childTnLst>
                                    <p:set>
                                      <p:cBhvr>
                                        <p:cTn id="25" dur="1" fill="hold">
                                          <p:stCondLst>
                                            <p:cond delay="0"/>
                                          </p:stCondLst>
                                        </p:cTn>
                                        <p:tgtEl>
                                          <p:spTgt spid="2056"/>
                                        </p:tgtEl>
                                        <p:attrNameLst>
                                          <p:attrName>style.visibility</p:attrName>
                                        </p:attrNameLst>
                                      </p:cBhvr>
                                      <p:to>
                                        <p:strVal val="visible"/>
                                      </p:to>
                                    </p:set>
                                    <p:animEffect transition="in" filter="fade">
                                      <p:cBhvr>
                                        <p:cTn id="26" dur="500"/>
                                        <p:tgtEl>
                                          <p:spTgt spid="2056"/>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952" y="0"/>
            <a:ext cx="6077048" cy="523220"/>
          </a:xfrm>
          <a:prstGeom prst="rect">
            <a:avLst/>
          </a:prstGeom>
        </p:spPr>
        <p:txBody>
          <a:bodyPr wrap="none">
            <a:spAutoFit/>
          </a:bodyPr>
          <a:lstStyle/>
          <a:p>
            <a:r>
              <a:rPr lang="en-GB" sz="2800" dirty="0" err="1">
                <a:solidFill>
                  <a:srgbClr val="FF0000"/>
                </a:solidFill>
              </a:rPr>
              <a:t>Pteridospermatophyta</a:t>
            </a:r>
            <a:r>
              <a:rPr lang="en-GB" sz="2800" dirty="0">
                <a:solidFill>
                  <a:srgbClr val="FF0000"/>
                </a:solidFill>
              </a:rPr>
              <a:t> – key innovations</a:t>
            </a:r>
            <a:endParaRPr lang="en-GB" sz="2000" dirty="0">
              <a:solidFill>
                <a:srgbClr val="FF0000"/>
              </a:solidFill>
            </a:endParaRPr>
          </a:p>
        </p:txBody>
      </p:sp>
      <p:sp>
        <p:nvSpPr>
          <p:cNvPr id="3" name="TextBox 2"/>
          <p:cNvSpPr txBox="1"/>
          <p:nvPr/>
        </p:nvSpPr>
        <p:spPr>
          <a:xfrm>
            <a:off x="3030590" y="523220"/>
            <a:ext cx="9142458" cy="6494085"/>
          </a:xfrm>
          <a:prstGeom prst="rect">
            <a:avLst/>
          </a:prstGeom>
          <a:noFill/>
        </p:spPr>
        <p:txBody>
          <a:bodyPr wrap="square" rtlCol="0">
            <a:spAutoFit/>
          </a:bodyPr>
          <a:lstStyle/>
          <a:p>
            <a:pPr marL="457200" indent="-457200">
              <a:buFont typeface="Arial" panose="020B0604020202020204" pitchFamily="34" charset="0"/>
              <a:buChar char="•"/>
            </a:pPr>
            <a:r>
              <a:rPr lang="en-GB" sz="2800" dirty="0"/>
              <a:t>No free living gametophyte </a:t>
            </a:r>
          </a:p>
          <a:p>
            <a:pPr marL="457200" indent="-457200">
              <a:buFont typeface="Arial" panose="020B0604020202020204" pitchFamily="34" charset="0"/>
              <a:buChar char="•"/>
            </a:pPr>
            <a:r>
              <a:rPr lang="en-GB" sz="2800" dirty="0"/>
              <a:t>Female gametophyte (</a:t>
            </a:r>
            <a:r>
              <a:rPr lang="en-GB" sz="2800" dirty="0" err="1"/>
              <a:t>archegonium</a:t>
            </a:r>
            <a:r>
              <a:rPr lang="en-GB" sz="2800" dirty="0"/>
              <a:t>) retained by parent</a:t>
            </a:r>
          </a:p>
          <a:p>
            <a:pPr marL="457200" indent="-457200">
              <a:buFont typeface="Arial" panose="020B0604020202020204" pitchFamily="34" charset="0"/>
              <a:buChar char="•"/>
            </a:pPr>
            <a:r>
              <a:rPr lang="en-GB" sz="2800" dirty="0"/>
              <a:t>Male gametophyte produced by microsporangium – 			released as </a:t>
            </a:r>
            <a:r>
              <a:rPr lang="en-GB" sz="2800" dirty="0">
                <a:solidFill>
                  <a:srgbClr val="FF0000"/>
                </a:solidFill>
              </a:rPr>
              <a:t>POLLEN</a:t>
            </a:r>
          </a:p>
          <a:p>
            <a:endParaRPr lang="en-GB" sz="2400" dirty="0">
              <a:solidFill>
                <a:srgbClr val="FF0000"/>
              </a:solidFill>
            </a:endParaRPr>
          </a:p>
          <a:p>
            <a:endParaRPr lang="en-GB" sz="2800" dirty="0">
              <a:solidFill>
                <a:srgbClr val="FF0000"/>
              </a:solidFill>
            </a:endParaRPr>
          </a:p>
          <a:p>
            <a:endParaRPr lang="en-GB" sz="2800" dirty="0">
              <a:solidFill>
                <a:srgbClr val="FF0000"/>
              </a:solidFill>
            </a:endParaRPr>
          </a:p>
          <a:p>
            <a:endParaRPr lang="en-GB" sz="2800" dirty="0">
              <a:solidFill>
                <a:srgbClr val="FF0000"/>
              </a:solidFill>
            </a:endParaRPr>
          </a:p>
          <a:p>
            <a:endParaRPr lang="en-GB" sz="2800" dirty="0">
              <a:solidFill>
                <a:srgbClr val="FF0000"/>
              </a:solidFill>
            </a:endParaRPr>
          </a:p>
          <a:p>
            <a:endParaRPr lang="en-GB" sz="2800" dirty="0">
              <a:solidFill>
                <a:srgbClr val="FF0000"/>
              </a:solidFill>
            </a:endParaRPr>
          </a:p>
          <a:p>
            <a:endParaRPr lang="en-GB" sz="2800" dirty="0">
              <a:solidFill>
                <a:srgbClr val="FF0000"/>
              </a:solidFill>
            </a:endParaRPr>
          </a:p>
          <a:p>
            <a:endParaRPr lang="en-GB" sz="1600" dirty="0">
              <a:solidFill>
                <a:srgbClr val="FF0000"/>
              </a:solidFill>
            </a:endParaRPr>
          </a:p>
          <a:p>
            <a:pPr algn="ctr"/>
            <a:r>
              <a:rPr lang="en-GB" sz="4000" dirty="0"/>
              <a:t>Pollen carries sperm to female – </a:t>
            </a:r>
            <a:r>
              <a:rPr lang="en-GB" sz="4000" dirty="0">
                <a:solidFill>
                  <a:srgbClr val="FF0000"/>
                </a:solidFill>
              </a:rPr>
              <a:t>does not require water</a:t>
            </a:r>
          </a:p>
        </p:txBody>
      </p:sp>
      <p:pic>
        <p:nvPicPr>
          <p:cNvPr id="3074" name="Picture 2" descr="Image result for pine pollen grain wikimedi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4784" y="2354925"/>
            <a:ext cx="4098878" cy="2966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09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074"/>
                                        </p:tgtEl>
                                        <p:attrNameLst>
                                          <p:attrName>style.visibility</p:attrName>
                                        </p:attrNameLst>
                                      </p:cBhvr>
                                      <p:to>
                                        <p:strVal val="visible"/>
                                      </p:to>
                                    </p:set>
                                    <p:animEffect transition="in" filter="fade">
                                      <p:cBhvr>
                                        <p:cTn id="20" dur="500"/>
                                        <p:tgtEl>
                                          <p:spTgt spid="30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fade">
                                      <p:cBhvr>
                                        <p:cTn id="2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BDE1F782-CEEE-4AE5-8E07-1C7C53A16449}"/>
              </a:ext>
            </a:extLst>
          </p:cNvPr>
          <p:cNvSpPr txBox="1"/>
          <p:nvPr/>
        </p:nvSpPr>
        <p:spPr>
          <a:xfrm>
            <a:off x="9415965" y="5425621"/>
            <a:ext cx="1340110" cy="369332"/>
          </a:xfrm>
          <a:prstGeom prst="rect">
            <a:avLst/>
          </a:prstGeom>
          <a:noFill/>
        </p:spPr>
        <p:txBody>
          <a:bodyPr wrap="none" rtlCol="0">
            <a:spAutoFit/>
          </a:bodyPr>
          <a:lstStyle/>
          <a:p>
            <a:r>
              <a:rPr lang="en-GB" dirty="0"/>
              <a:t>Glossopteris</a:t>
            </a:r>
          </a:p>
        </p:txBody>
      </p:sp>
      <p:pic>
        <p:nvPicPr>
          <p:cNvPr id="7" name="Picture 2" descr="Marie Stopes in her laboratory, 190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33445" y="2341626"/>
            <a:ext cx="3398070" cy="24208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D4375C-2EC4-49A2-A3D5-32F7A31059BD}"/>
              </a:ext>
            </a:extLst>
          </p:cNvPr>
          <p:cNvPicPr>
            <a:picLocks noChangeAspect="1"/>
          </p:cNvPicPr>
          <p:nvPr/>
        </p:nvPicPr>
        <p:blipFill>
          <a:blip r:embed="rId4"/>
          <a:stretch>
            <a:fillRect/>
          </a:stretch>
        </p:blipFill>
        <p:spPr>
          <a:xfrm>
            <a:off x="8891023" y="2359704"/>
            <a:ext cx="2282915" cy="3044838"/>
          </a:xfrm>
          <a:prstGeom prst="rect">
            <a:avLst/>
          </a:prstGeom>
        </p:spPr>
      </p:pic>
      <p:pic>
        <p:nvPicPr>
          <p:cNvPr id="1026" name="Picture 2" descr="https://upload.wikimedia.org/wikipedia/commons/thumb/c/cb/Pangaea_continents.svg/800px-Pangaea_continents.svg.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96434" y="2105823"/>
            <a:ext cx="3105150" cy="3657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p:nvPr/>
        </p:nvSpPr>
        <p:spPr>
          <a:xfrm>
            <a:off x="7980040" y="6046569"/>
            <a:ext cx="4211960" cy="369332"/>
          </a:xfrm>
          <a:prstGeom prst="rect">
            <a:avLst/>
          </a:prstGeom>
        </p:spPr>
        <p:txBody>
          <a:bodyPr wrap="square">
            <a:spAutoFit/>
          </a:bodyPr>
          <a:lstStyle/>
          <a:p>
            <a:pPr algn="ctr"/>
            <a:r>
              <a:rPr lang="en-GB" sz="900" dirty="0"/>
              <a:t>By </a:t>
            </a:r>
            <a:r>
              <a:rPr lang="en-GB" sz="900" dirty="0" err="1"/>
              <a:t>en:User:Kieff</a:t>
            </a:r>
            <a:r>
              <a:rPr lang="en-GB" sz="900" dirty="0"/>
              <a:t> - File:Pangaea continents.png, CC BY-SA 3.0, https://commons.wikimedia.org/w/index.php?curid=8161694</a:t>
            </a:r>
          </a:p>
        </p:txBody>
      </p:sp>
      <p:sp>
        <p:nvSpPr>
          <p:cNvPr id="3" name="TextBox 2"/>
          <p:cNvSpPr txBox="1"/>
          <p:nvPr/>
        </p:nvSpPr>
        <p:spPr>
          <a:xfrm>
            <a:off x="68129" y="-55934"/>
            <a:ext cx="4662045" cy="646331"/>
          </a:xfrm>
          <a:prstGeom prst="rect">
            <a:avLst/>
          </a:prstGeom>
          <a:noFill/>
        </p:spPr>
        <p:txBody>
          <a:bodyPr wrap="none" rtlCol="0">
            <a:spAutoFit/>
          </a:bodyPr>
          <a:lstStyle/>
          <a:p>
            <a:r>
              <a:rPr lang="en-GB" sz="3600" dirty="0">
                <a:solidFill>
                  <a:srgbClr val="FF0000"/>
                </a:solidFill>
              </a:rPr>
              <a:t>The Fall of the </a:t>
            </a:r>
            <a:r>
              <a:rPr lang="en-GB" sz="3600" dirty="0" err="1">
                <a:solidFill>
                  <a:srgbClr val="FF0000"/>
                </a:solidFill>
              </a:rPr>
              <a:t>Lycopods</a:t>
            </a:r>
            <a:endParaRPr lang="en-GB" sz="3600" dirty="0">
              <a:solidFill>
                <a:srgbClr val="FF0000"/>
              </a:solidFill>
            </a:endParaRPr>
          </a:p>
        </p:txBody>
      </p:sp>
      <p:sp>
        <p:nvSpPr>
          <p:cNvPr id="4" name="TextBox 3"/>
          <p:cNvSpPr txBox="1"/>
          <p:nvPr/>
        </p:nvSpPr>
        <p:spPr>
          <a:xfrm>
            <a:off x="2847124" y="2193537"/>
            <a:ext cx="6043899" cy="3862596"/>
          </a:xfrm>
          <a:prstGeom prst="rect">
            <a:avLst/>
          </a:prstGeom>
          <a:noFill/>
        </p:spPr>
        <p:txBody>
          <a:bodyPr wrap="none" rtlCol="0">
            <a:spAutoFit/>
          </a:bodyPr>
          <a:lstStyle/>
          <a:p>
            <a:r>
              <a:rPr lang="en-GB" sz="4000" dirty="0"/>
              <a:t>Plate tectonics?</a:t>
            </a:r>
          </a:p>
          <a:p>
            <a:endParaRPr lang="en-GB" sz="900" dirty="0"/>
          </a:p>
          <a:p>
            <a:r>
              <a:rPr lang="en-GB" sz="2800" dirty="0"/>
              <a:t>Carboniferous – warm, wet, tropical</a:t>
            </a:r>
          </a:p>
          <a:p>
            <a:r>
              <a:rPr lang="en-GB" sz="2800" dirty="0"/>
              <a:t>Permian – formation of </a:t>
            </a:r>
            <a:r>
              <a:rPr lang="en-GB" sz="2800" dirty="0">
                <a:solidFill>
                  <a:srgbClr val="FF0000"/>
                </a:solidFill>
              </a:rPr>
              <a:t>Pangea</a:t>
            </a:r>
          </a:p>
          <a:p>
            <a:r>
              <a:rPr lang="en-GB" sz="2800" dirty="0"/>
              <a:t>Ice Ages</a:t>
            </a:r>
          </a:p>
          <a:p>
            <a:r>
              <a:rPr lang="en-GB" sz="2800" dirty="0"/>
              <a:t>Drying climate (</a:t>
            </a:r>
            <a:r>
              <a:rPr lang="en-GB" sz="2800" dirty="0" err="1"/>
              <a:t>espec</a:t>
            </a:r>
            <a:r>
              <a:rPr lang="en-GB" sz="2800" dirty="0"/>
              <a:t>. Continental)</a:t>
            </a:r>
          </a:p>
          <a:p>
            <a:endParaRPr lang="en-GB" sz="2800" dirty="0"/>
          </a:p>
          <a:p>
            <a:r>
              <a:rPr lang="en-GB" sz="2800" dirty="0"/>
              <a:t>New climate not good for gametophytes</a:t>
            </a:r>
          </a:p>
          <a:p>
            <a:r>
              <a:rPr lang="en-GB" sz="2800" dirty="0" err="1">
                <a:solidFill>
                  <a:srgbClr val="FF0000"/>
                </a:solidFill>
              </a:rPr>
              <a:t>Lycopods</a:t>
            </a:r>
            <a:r>
              <a:rPr lang="en-GB" sz="2800" dirty="0">
                <a:solidFill>
                  <a:srgbClr val="FF0000"/>
                </a:solidFill>
              </a:rPr>
              <a:t> replaced by GYMNOSPERMS</a:t>
            </a:r>
          </a:p>
        </p:txBody>
      </p:sp>
      <p:sp>
        <p:nvSpPr>
          <p:cNvPr id="5" name="TextBox 4"/>
          <p:cNvSpPr txBox="1"/>
          <p:nvPr/>
        </p:nvSpPr>
        <p:spPr>
          <a:xfrm>
            <a:off x="3573525" y="481231"/>
            <a:ext cx="7626062" cy="1554272"/>
          </a:xfrm>
          <a:prstGeom prst="rect">
            <a:avLst/>
          </a:prstGeom>
          <a:noFill/>
        </p:spPr>
        <p:txBody>
          <a:bodyPr wrap="none" rtlCol="0">
            <a:spAutoFit/>
          </a:bodyPr>
          <a:lstStyle/>
          <a:p>
            <a:pPr algn="ctr"/>
            <a:r>
              <a:rPr lang="en-GB" sz="2800" dirty="0"/>
              <a:t>Seed ferns evolved in late Devonian</a:t>
            </a:r>
          </a:p>
          <a:p>
            <a:pPr algn="ctr"/>
            <a:r>
              <a:rPr lang="en-GB" sz="2800" dirty="0"/>
              <a:t>Lycopods dominated in Carboniferous</a:t>
            </a:r>
          </a:p>
          <a:p>
            <a:pPr algn="ctr"/>
            <a:endParaRPr lang="en-GB" sz="1100" dirty="0"/>
          </a:p>
          <a:p>
            <a:pPr algn="ctr"/>
            <a:r>
              <a:rPr lang="en-GB" sz="2800" dirty="0">
                <a:solidFill>
                  <a:srgbClr val="FF0000"/>
                </a:solidFill>
              </a:rPr>
              <a:t>If seeds are so good why did </a:t>
            </a:r>
            <a:r>
              <a:rPr lang="en-GB" sz="2800" dirty="0" err="1">
                <a:solidFill>
                  <a:srgbClr val="FF0000"/>
                </a:solidFill>
              </a:rPr>
              <a:t>lycopods</a:t>
            </a:r>
            <a:r>
              <a:rPr lang="en-GB" sz="2800" dirty="0">
                <a:solidFill>
                  <a:srgbClr val="FF0000"/>
                </a:solidFill>
              </a:rPr>
              <a:t>  last so long?</a:t>
            </a:r>
          </a:p>
        </p:txBody>
      </p:sp>
      <p:sp>
        <p:nvSpPr>
          <p:cNvPr id="8" name="Rectangle 7">
            <a:extLst>
              <a:ext uri="{FF2B5EF4-FFF2-40B4-BE49-F238E27FC236}">
                <a16:creationId xmlns:a16="http://schemas.microsoft.com/office/drawing/2014/main" id="{69189416-364B-425D-8412-ABDBD86E6E72}"/>
              </a:ext>
            </a:extLst>
          </p:cNvPr>
          <p:cNvSpPr/>
          <p:nvPr/>
        </p:nvSpPr>
        <p:spPr>
          <a:xfrm>
            <a:off x="2900772" y="6442670"/>
            <a:ext cx="6390456" cy="369332"/>
          </a:xfrm>
          <a:prstGeom prst="rect">
            <a:avLst/>
          </a:prstGeom>
        </p:spPr>
        <p:txBody>
          <a:bodyPr wrap="square">
            <a:spAutoFit/>
          </a:bodyPr>
          <a:lstStyle/>
          <a:p>
            <a:r>
              <a:rPr lang="en-GB" dirty="0">
                <a:hlinkClick r:id="rId6"/>
              </a:rPr>
              <a:t>https://en.wikipedia.org/wiki/Carboniferous_rainforest_collapse</a:t>
            </a:r>
            <a:endParaRPr lang="en-GB" dirty="0"/>
          </a:p>
        </p:txBody>
      </p:sp>
    </p:spTree>
    <p:extLst>
      <p:ext uri="{BB962C8B-B14F-4D97-AF65-F5344CB8AC3E}">
        <p14:creationId xmlns:p14="http://schemas.microsoft.com/office/powerpoint/2010/main" val="2629008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500"/>
                                        <p:tgtEl>
                                          <p:spTgt spid="4">
                                            <p:txEl>
                                              <p:pRg st="0" end="0"/>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fade">
                                      <p:cBhvr>
                                        <p:cTn id="35" dur="500"/>
                                        <p:tgtEl>
                                          <p:spTgt spid="6"/>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4">
                                            <p:txEl>
                                              <p:pRg st="2" end="2"/>
                                            </p:txEl>
                                          </p:spTgt>
                                        </p:tgtEl>
                                        <p:attrNameLst>
                                          <p:attrName>style.visibility</p:attrName>
                                        </p:attrNameLst>
                                      </p:cBhvr>
                                      <p:to>
                                        <p:strVal val="visible"/>
                                      </p:to>
                                    </p:set>
                                    <p:animEffect transition="in" filter="fade">
                                      <p:cBhvr>
                                        <p:cTn id="45" dur="500"/>
                                        <p:tgtEl>
                                          <p:spTgt spid="4">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4">
                                            <p:txEl>
                                              <p:pRg st="3" end="3"/>
                                            </p:txEl>
                                          </p:spTgt>
                                        </p:tgtEl>
                                        <p:attrNameLst>
                                          <p:attrName>style.visibility</p:attrName>
                                        </p:attrNameLst>
                                      </p:cBhvr>
                                      <p:to>
                                        <p:strVal val="visible"/>
                                      </p:to>
                                    </p:set>
                                    <p:animEffect transition="in" filter="fade">
                                      <p:cBhvr>
                                        <p:cTn id="50" dur="500"/>
                                        <p:tgtEl>
                                          <p:spTgt spid="4">
                                            <p:txEl>
                                              <p:pRg st="3" end="3"/>
                                            </p:txEl>
                                          </p:spTgt>
                                        </p:tgtEl>
                                      </p:cBhvr>
                                    </p:animEffect>
                                  </p:childTnLst>
                                </p:cTn>
                              </p:par>
                              <p:par>
                                <p:cTn id="51" presetID="10" presetClass="entr" presetSubtype="0" fill="hold" nodeType="withEffect">
                                  <p:stCondLst>
                                    <p:cond delay="0"/>
                                  </p:stCondLst>
                                  <p:childTnLst>
                                    <p:set>
                                      <p:cBhvr>
                                        <p:cTn id="52" dur="1" fill="hold">
                                          <p:stCondLst>
                                            <p:cond delay="0"/>
                                          </p:stCondLst>
                                        </p:cTn>
                                        <p:tgtEl>
                                          <p:spTgt spid="1026"/>
                                        </p:tgtEl>
                                        <p:attrNameLst>
                                          <p:attrName>style.visibility</p:attrName>
                                        </p:attrNameLst>
                                      </p:cBhvr>
                                      <p:to>
                                        <p:strVal val="visible"/>
                                      </p:to>
                                    </p:set>
                                    <p:animEffect transition="in" filter="fade">
                                      <p:cBhvr>
                                        <p:cTn id="53" dur="500"/>
                                        <p:tgtEl>
                                          <p:spTgt spid="10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500"/>
                                        <p:tgtEl>
                                          <p:spTgt spid="2"/>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grpId="0" nodeType="clickEffect">
                                  <p:stCondLst>
                                    <p:cond delay="0"/>
                                  </p:stCondLst>
                                  <p:childTnLst>
                                    <p:set>
                                      <p:cBhvr>
                                        <p:cTn id="60" dur="1" fill="hold">
                                          <p:stCondLst>
                                            <p:cond delay="0"/>
                                          </p:stCondLst>
                                        </p:cTn>
                                        <p:tgtEl>
                                          <p:spTgt spid="4">
                                            <p:txEl>
                                              <p:pRg st="4" end="4"/>
                                            </p:txEl>
                                          </p:spTgt>
                                        </p:tgtEl>
                                        <p:attrNameLst>
                                          <p:attrName>style.visibility</p:attrName>
                                        </p:attrNameLst>
                                      </p:cBhvr>
                                      <p:to>
                                        <p:strVal val="visible"/>
                                      </p:to>
                                    </p:set>
                                    <p:animEffect transition="in" filter="fade">
                                      <p:cBhvr>
                                        <p:cTn id="61" dur="100"/>
                                        <p:tgtEl>
                                          <p:spTgt spid="4">
                                            <p:txEl>
                                              <p:pRg st="4" end="4"/>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grpId="0" nodeType="clickEffect">
                                  <p:stCondLst>
                                    <p:cond delay="0"/>
                                  </p:stCondLst>
                                  <p:childTnLst>
                                    <p:set>
                                      <p:cBhvr>
                                        <p:cTn id="65" dur="1" fill="hold">
                                          <p:stCondLst>
                                            <p:cond delay="0"/>
                                          </p:stCondLst>
                                        </p:cTn>
                                        <p:tgtEl>
                                          <p:spTgt spid="4">
                                            <p:txEl>
                                              <p:pRg st="5" end="5"/>
                                            </p:txEl>
                                          </p:spTgt>
                                        </p:tgtEl>
                                        <p:attrNameLst>
                                          <p:attrName>style.visibility</p:attrName>
                                        </p:attrNameLst>
                                      </p:cBhvr>
                                      <p:to>
                                        <p:strVal val="visible"/>
                                      </p:to>
                                    </p:set>
                                    <p:animEffect transition="in" filter="fade">
                                      <p:cBhvr>
                                        <p:cTn id="66" dur="500"/>
                                        <p:tgtEl>
                                          <p:spTgt spid="4">
                                            <p:txEl>
                                              <p:pRg st="5" end="5"/>
                                            </p:txEl>
                                          </p:spTgt>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4">
                                            <p:txEl>
                                              <p:pRg st="7" end="7"/>
                                            </p:txEl>
                                          </p:spTgt>
                                        </p:tgtEl>
                                        <p:attrNameLst>
                                          <p:attrName>style.visibility</p:attrName>
                                        </p:attrNameLst>
                                      </p:cBhvr>
                                      <p:to>
                                        <p:strVal val="visible"/>
                                      </p:to>
                                    </p:set>
                                    <p:animEffect transition="in" filter="fade">
                                      <p:cBhvr>
                                        <p:cTn id="71" dur="500"/>
                                        <p:tgtEl>
                                          <p:spTgt spid="4">
                                            <p:txEl>
                                              <p:pRg st="7" end="7"/>
                                            </p:txEl>
                                          </p:spTgt>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4">
                                            <p:txEl>
                                              <p:pRg st="8" end="8"/>
                                            </p:txEl>
                                          </p:spTgt>
                                        </p:tgtEl>
                                        <p:attrNameLst>
                                          <p:attrName>style.visibility</p:attrName>
                                        </p:attrNameLst>
                                      </p:cBhvr>
                                      <p:to>
                                        <p:strVal val="visible"/>
                                      </p:to>
                                    </p:set>
                                    <p:animEffect transition="in" filter="fade">
                                      <p:cBhvr>
                                        <p:cTn id="76" dur="5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4" grpId="0" uiExpand="1" build="p"/>
      <p:bldP spid="5" grpId="0" uiExpand="1" build="p"/>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1825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oreal forest"/>
          <p:cNvPicPr>
            <a:picLocks noChangeAspect="1" noChangeArrowheads="1"/>
          </p:cNvPicPr>
          <p:nvPr/>
        </p:nvPicPr>
        <p:blipFill rotWithShape="1">
          <a:blip r:embed="rId2">
            <a:extLst>
              <a:ext uri="{28A0092B-C50C-407E-A947-70E740481C1C}">
                <a14:useLocalDpi xmlns:a14="http://schemas.microsoft.com/office/drawing/2010/main" val="0"/>
              </a:ext>
            </a:extLst>
          </a:blip>
          <a:srcRect t="6910" r="11487" b="18091"/>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1981200" y="1556792"/>
            <a:ext cx="8229600" cy="3744416"/>
          </a:xfrm>
          <a:prstGeom prst="rect">
            <a:avLst/>
          </a:prstGeom>
        </p:spPr>
        <p:txBody>
          <a:bodyPr vert="horz" lIns="91440" tIns="45720" rIns="91440" bIns="45720" rtlCol="0" anchor="ctr">
            <a:normAutofit fontScale="92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GB" sz="3600" dirty="0">
                <a:solidFill>
                  <a:schemeClr val="bg1"/>
                </a:solidFill>
              </a:rPr>
            </a:br>
            <a:r>
              <a:rPr lang="en-GB" sz="11100" dirty="0">
                <a:solidFill>
                  <a:schemeClr val="bg1"/>
                </a:solidFill>
              </a:rPr>
              <a:t>Rise of the Gymnosperms</a:t>
            </a:r>
            <a:endParaRPr lang="en-GB" sz="2000" dirty="0">
              <a:solidFill>
                <a:srgbClr val="FF0000"/>
              </a:solidFill>
            </a:endParaRPr>
          </a:p>
        </p:txBody>
      </p:sp>
    </p:spTree>
    <p:extLst>
      <p:ext uri="{BB962C8B-B14F-4D97-AF65-F5344CB8AC3E}">
        <p14:creationId xmlns:p14="http://schemas.microsoft.com/office/powerpoint/2010/main" val="20159166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477" y="0"/>
            <a:ext cx="6760377" cy="584775"/>
          </a:xfrm>
          <a:prstGeom prst="rect">
            <a:avLst/>
          </a:prstGeom>
          <a:noFill/>
        </p:spPr>
        <p:txBody>
          <a:bodyPr wrap="none" rtlCol="0">
            <a:spAutoFit/>
          </a:bodyPr>
          <a:lstStyle/>
          <a:p>
            <a:r>
              <a:rPr lang="en-GB" sz="3200" dirty="0">
                <a:solidFill>
                  <a:srgbClr val="FF0000"/>
                </a:solidFill>
              </a:rPr>
              <a:t>The Permian: Rise of the Gymnosperms</a:t>
            </a:r>
          </a:p>
        </p:txBody>
      </p:sp>
      <p:cxnSp>
        <p:nvCxnSpPr>
          <p:cNvPr id="4" name="Straight Connector 3"/>
          <p:cNvCxnSpPr/>
          <p:nvPr/>
        </p:nvCxnSpPr>
        <p:spPr>
          <a:xfrm>
            <a:off x="4162302" y="597326"/>
            <a:ext cx="1224136"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flipV="1">
            <a:off x="4633848" y="620221"/>
            <a:ext cx="140523" cy="23264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6079167" y="620221"/>
            <a:ext cx="179187" cy="23264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5467098" y="597326"/>
            <a:ext cx="1224136"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3841673" y="762341"/>
            <a:ext cx="1370440" cy="646331"/>
          </a:xfrm>
          <a:prstGeom prst="rect">
            <a:avLst/>
          </a:prstGeom>
          <a:noFill/>
        </p:spPr>
        <p:txBody>
          <a:bodyPr wrap="none" rtlCol="0">
            <a:spAutoFit/>
          </a:bodyPr>
          <a:lstStyle/>
          <a:p>
            <a:r>
              <a:rPr lang="en-GB" sz="3600" i="1" dirty="0"/>
              <a:t>Naked</a:t>
            </a:r>
          </a:p>
        </p:txBody>
      </p:sp>
      <p:sp>
        <p:nvSpPr>
          <p:cNvPr id="14" name="TextBox 13"/>
          <p:cNvSpPr txBox="1"/>
          <p:nvPr/>
        </p:nvSpPr>
        <p:spPr>
          <a:xfrm>
            <a:off x="6069540" y="771280"/>
            <a:ext cx="1043876" cy="646331"/>
          </a:xfrm>
          <a:prstGeom prst="rect">
            <a:avLst/>
          </a:prstGeom>
          <a:noFill/>
        </p:spPr>
        <p:txBody>
          <a:bodyPr wrap="none" rtlCol="0">
            <a:spAutoFit/>
          </a:bodyPr>
          <a:lstStyle/>
          <a:p>
            <a:r>
              <a:rPr lang="en-GB" sz="3600" i="1" dirty="0"/>
              <a:t>seed</a:t>
            </a:r>
          </a:p>
        </p:txBody>
      </p:sp>
      <p:sp>
        <p:nvSpPr>
          <p:cNvPr id="15" name="TextBox 14"/>
          <p:cNvSpPr txBox="1"/>
          <p:nvPr/>
        </p:nvSpPr>
        <p:spPr>
          <a:xfrm>
            <a:off x="2864944" y="1746563"/>
            <a:ext cx="8496944" cy="2862322"/>
          </a:xfrm>
          <a:prstGeom prst="rect">
            <a:avLst/>
          </a:prstGeom>
          <a:noFill/>
        </p:spPr>
        <p:txBody>
          <a:bodyPr wrap="square" rtlCol="0">
            <a:spAutoFit/>
          </a:bodyPr>
          <a:lstStyle/>
          <a:p>
            <a:pPr algn="ctr"/>
            <a:r>
              <a:rPr lang="en-GB" sz="3600" dirty="0"/>
              <a:t>Appeared ~320 Mya (late carboniferous)</a:t>
            </a:r>
          </a:p>
          <a:p>
            <a:pPr algn="ctr"/>
            <a:r>
              <a:rPr lang="en-GB" sz="3600" dirty="0"/>
              <a:t>Evolved from </a:t>
            </a:r>
            <a:r>
              <a:rPr lang="en-GB" sz="3600" dirty="0" err="1"/>
              <a:t>progymnosperms</a:t>
            </a:r>
            <a:endParaRPr lang="en-GB" sz="3600" dirty="0"/>
          </a:p>
          <a:p>
            <a:pPr algn="ctr"/>
            <a:r>
              <a:rPr lang="en-GB" sz="3600" dirty="0"/>
              <a:t>Divergence probably resulted from genome duplication</a:t>
            </a:r>
          </a:p>
          <a:p>
            <a:pPr algn="ctr"/>
            <a:r>
              <a:rPr lang="en-GB" sz="3600" dirty="0"/>
              <a:t>Combined WOOD and SEEDS</a:t>
            </a:r>
          </a:p>
        </p:txBody>
      </p:sp>
      <p:pic>
        <p:nvPicPr>
          <p:cNvPr id="4098" name="Picture 2" descr="https://upload.wikimedia.org/wikipedia/commons/thumb/3/33/Cycads_at_national_botanical_gardens.jpg/800px-Cycads_at_national_botanical_gardens.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62246" y="5164693"/>
            <a:ext cx="2525835" cy="168258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s://upload.wikimedia.org/wikipedia/commons/thumb/a/ab/GingkoBiloba.jpg/800px-GingkoBilob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8601" y="5164693"/>
            <a:ext cx="2080789" cy="1682589"/>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upload.wikimedia.org/wikipedia/commons/thumb/8/84/Encephalartos_woodii_young_stem_cone_lower_leaflets_12_09_2010.JPG/200px-Encephalartos_woodii_young_stem_cone_lower_leaflets_12_09_20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0835" y="5164692"/>
            <a:ext cx="1268395" cy="1693308"/>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descr="https://upload.wikimedia.org/wikipedia/commons/thumb/5/58/Big_bristlecone_pine_Pinus_longaeva.jpg/800px-Big_bristlecone_pine_Pinus_longaeva.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71432" y="5158800"/>
            <a:ext cx="1359029" cy="1694373"/>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descr="https://upload.wikimedia.org/wikipedia/commons/7/7e/Ephedra_fragilis2_ies_2.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430460" y="5164693"/>
            <a:ext cx="1931428" cy="1693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232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xEl>
                                              <p:pRg st="0" end="0"/>
                                            </p:txEl>
                                          </p:spTgt>
                                        </p:tgtEl>
                                        <p:attrNameLst>
                                          <p:attrName>style.visibility</p:attrName>
                                        </p:attrNameLst>
                                      </p:cBhvr>
                                      <p:to>
                                        <p:strVal val="visible"/>
                                      </p:to>
                                    </p:set>
                                    <p:animEffect transition="in" filter="fade">
                                      <p:cBhvr>
                                        <p:cTn id="29" dur="500"/>
                                        <p:tgtEl>
                                          <p:spTgt spid="15">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5">
                                            <p:txEl>
                                              <p:pRg st="1" end="1"/>
                                            </p:txEl>
                                          </p:spTgt>
                                        </p:tgtEl>
                                        <p:attrNameLst>
                                          <p:attrName>style.visibility</p:attrName>
                                        </p:attrNameLst>
                                      </p:cBhvr>
                                      <p:to>
                                        <p:strVal val="visible"/>
                                      </p:to>
                                    </p:set>
                                    <p:animEffect transition="in" filter="fade">
                                      <p:cBhvr>
                                        <p:cTn id="34" dur="500"/>
                                        <p:tgtEl>
                                          <p:spTgt spid="15">
                                            <p:txEl>
                                              <p:pRg st="1" end="1"/>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xEl>
                                              <p:pRg st="2" end="2"/>
                                            </p:txEl>
                                          </p:spTgt>
                                        </p:tgtEl>
                                        <p:attrNameLst>
                                          <p:attrName>style.visibility</p:attrName>
                                        </p:attrNameLst>
                                      </p:cBhvr>
                                      <p:to>
                                        <p:strVal val="visible"/>
                                      </p:to>
                                    </p:set>
                                    <p:animEffect transition="in" filter="fade">
                                      <p:cBhvr>
                                        <p:cTn id="39" dur="500"/>
                                        <p:tgtEl>
                                          <p:spTgt spid="15">
                                            <p:txEl>
                                              <p:pRg st="2" end="2"/>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5">
                                            <p:txEl>
                                              <p:pRg st="3" end="3"/>
                                            </p:txEl>
                                          </p:spTgt>
                                        </p:tgtEl>
                                        <p:attrNameLst>
                                          <p:attrName>style.visibility</p:attrName>
                                        </p:attrNameLst>
                                      </p:cBhvr>
                                      <p:to>
                                        <p:strVal val="visible"/>
                                      </p:to>
                                    </p:set>
                                    <p:animEffect transition="in" filter="fade">
                                      <p:cBhvr>
                                        <p:cTn id="44"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9514"/>
            <a:ext cx="7918963" cy="584775"/>
          </a:xfrm>
          <a:prstGeom prst="rect">
            <a:avLst/>
          </a:prstGeom>
          <a:noFill/>
        </p:spPr>
        <p:txBody>
          <a:bodyPr wrap="none" rtlCol="0">
            <a:spAutoFit/>
          </a:bodyPr>
          <a:lstStyle/>
          <a:p>
            <a:r>
              <a:rPr lang="en-GB" sz="3200" dirty="0">
                <a:solidFill>
                  <a:srgbClr val="FF0000"/>
                </a:solidFill>
              </a:rPr>
              <a:t>Oh them cones, them cones, them dry cones…</a:t>
            </a:r>
          </a:p>
        </p:txBody>
      </p:sp>
      <p:pic>
        <p:nvPicPr>
          <p:cNvPr id="6146" name="Picture 2" descr="https://upload.wikimedia.org/wikipedia/commons/thumb/d/d8/Gymnosperm_life_cycle_%28en%29.png/800px-Gymnosperm_life_cycle_%28en%29.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6973" y="1031951"/>
            <a:ext cx="4914546" cy="39316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908246" y="4935162"/>
            <a:ext cx="4572000" cy="430887"/>
          </a:xfrm>
          <a:prstGeom prst="rect">
            <a:avLst/>
          </a:prstGeom>
        </p:spPr>
        <p:txBody>
          <a:bodyPr>
            <a:spAutoFit/>
          </a:bodyPr>
          <a:lstStyle/>
          <a:p>
            <a:pPr algn="ctr"/>
            <a:r>
              <a:rPr lang="en-GB" sz="1100" dirty="0"/>
              <a:t>Derivative work, CC BY-SA 3.0, https://commons.wikimedia.org/w/index.php?curid=37822866</a:t>
            </a:r>
          </a:p>
        </p:txBody>
      </p:sp>
      <p:sp>
        <p:nvSpPr>
          <p:cNvPr id="5" name="Rectangle 4"/>
          <p:cNvSpPr/>
          <p:nvPr/>
        </p:nvSpPr>
        <p:spPr>
          <a:xfrm>
            <a:off x="3199906" y="1090394"/>
            <a:ext cx="2411760" cy="954107"/>
          </a:xfrm>
          <a:prstGeom prst="rect">
            <a:avLst/>
          </a:prstGeom>
        </p:spPr>
        <p:txBody>
          <a:bodyPr wrap="square">
            <a:spAutoFit/>
          </a:bodyPr>
          <a:lstStyle/>
          <a:p>
            <a:pPr lvl="0" algn="ctr"/>
            <a:r>
              <a:rPr lang="en-GB" sz="2800" dirty="0">
                <a:solidFill>
                  <a:prstClr val="black"/>
                </a:solidFill>
              </a:rPr>
              <a:t>Male and female cones</a:t>
            </a:r>
          </a:p>
        </p:txBody>
      </p:sp>
      <p:sp>
        <p:nvSpPr>
          <p:cNvPr id="6" name="TextBox 5"/>
          <p:cNvSpPr txBox="1"/>
          <p:nvPr/>
        </p:nvSpPr>
        <p:spPr>
          <a:xfrm>
            <a:off x="9339933" y="1443051"/>
            <a:ext cx="1848653" cy="954107"/>
          </a:xfrm>
          <a:prstGeom prst="rect">
            <a:avLst/>
          </a:prstGeom>
          <a:noFill/>
        </p:spPr>
        <p:txBody>
          <a:bodyPr wrap="square" rtlCol="0">
            <a:spAutoFit/>
          </a:bodyPr>
          <a:lstStyle/>
          <a:p>
            <a:pPr algn="ctr"/>
            <a:r>
              <a:rPr lang="en-GB" sz="2800" dirty="0"/>
              <a:t>Wind Pollination</a:t>
            </a:r>
            <a:endParaRPr lang="en-GB" dirty="0"/>
          </a:p>
        </p:txBody>
      </p:sp>
      <p:sp>
        <p:nvSpPr>
          <p:cNvPr id="8" name="TextBox 7"/>
          <p:cNvSpPr txBox="1"/>
          <p:nvPr/>
        </p:nvSpPr>
        <p:spPr>
          <a:xfrm>
            <a:off x="9320347" y="3997481"/>
            <a:ext cx="2160240" cy="1384995"/>
          </a:xfrm>
          <a:prstGeom prst="rect">
            <a:avLst/>
          </a:prstGeom>
          <a:noFill/>
        </p:spPr>
        <p:txBody>
          <a:bodyPr wrap="square" rtlCol="0">
            <a:spAutoFit/>
          </a:bodyPr>
          <a:lstStyle/>
          <a:p>
            <a:pPr algn="ctr"/>
            <a:r>
              <a:rPr lang="en-GB" sz="2800" dirty="0"/>
              <a:t>Seed matures in cone - </a:t>
            </a:r>
            <a:r>
              <a:rPr lang="en-GB" sz="2800" dirty="0">
                <a:solidFill>
                  <a:srgbClr val="FF0000"/>
                </a:solidFill>
              </a:rPr>
              <a:t>nurture</a:t>
            </a:r>
            <a:endParaRPr lang="en-GB" dirty="0">
              <a:solidFill>
                <a:srgbClr val="FF0000"/>
              </a:solidFill>
            </a:endParaRPr>
          </a:p>
        </p:txBody>
      </p:sp>
      <p:sp>
        <p:nvSpPr>
          <p:cNvPr id="9" name="TextBox 8"/>
          <p:cNvSpPr txBox="1"/>
          <p:nvPr/>
        </p:nvSpPr>
        <p:spPr>
          <a:xfrm>
            <a:off x="4276089" y="5382476"/>
            <a:ext cx="2432746" cy="954107"/>
          </a:xfrm>
          <a:prstGeom prst="rect">
            <a:avLst/>
          </a:prstGeom>
          <a:noFill/>
        </p:spPr>
        <p:txBody>
          <a:bodyPr wrap="square" rtlCol="0">
            <a:spAutoFit/>
          </a:bodyPr>
          <a:lstStyle/>
          <a:p>
            <a:pPr algn="ctr"/>
            <a:r>
              <a:rPr lang="en-GB" sz="2800" dirty="0"/>
              <a:t>Controlled seed release</a:t>
            </a:r>
            <a:endParaRPr lang="en-GB" dirty="0"/>
          </a:p>
        </p:txBody>
      </p:sp>
    </p:spTree>
    <p:extLst>
      <p:ext uri="{BB962C8B-B14F-4D97-AF65-F5344CB8AC3E}">
        <p14:creationId xmlns:p14="http://schemas.microsoft.com/office/powerpoint/2010/main" val="1391822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9779"/>
            <a:ext cx="3709862" cy="646331"/>
          </a:xfrm>
          <a:prstGeom prst="rect">
            <a:avLst/>
          </a:prstGeom>
          <a:noFill/>
        </p:spPr>
        <p:txBody>
          <a:bodyPr wrap="none" rtlCol="0">
            <a:spAutoFit/>
          </a:bodyPr>
          <a:lstStyle/>
          <a:p>
            <a:r>
              <a:rPr lang="en-GB" sz="3600" dirty="0">
                <a:solidFill>
                  <a:srgbClr val="FF0000"/>
                </a:solidFill>
              </a:rPr>
              <a:t>So, what is a seed?</a:t>
            </a:r>
          </a:p>
        </p:txBody>
      </p:sp>
      <p:pic>
        <p:nvPicPr>
          <p:cNvPr id="5122" name="Picture 2" descr="http://www.bio.miami.edu/dana/pix/pine_seed_ope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9618" y="500882"/>
            <a:ext cx="4407567" cy="30445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709862" y="3551048"/>
            <a:ext cx="7163243" cy="2862322"/>
          </a:xfrm>
          <a:prstGeom prst="rect">
            <a:avLst/>
          </a:prstGeom>
          <a:noFill/>
        </p:spPr>
        <p:txBody>
          <a:bodyPr wrap="none" rtlCol="0">
            <a:spAutoFit/>
          </a:bodyPr>
          <a:lstStyle/>
          <a:p>
            <a:pPr algn="ctr"/>
            <a:r>
              <a:rPr lang="en-GB" sz="3600" dirty="0" err="1"/>
              <a:t>Nucellus</a:t>
            </a:r>
            <a:r>
              <a:rPr lang="en-GB" sz="3600" dirty="0"/>
              <a:t> – from mother</a:t>
            </a:r>
          </a:p>
          <a:p>
            <a:pPr algn="ctr"/>
            <a:r>
              <a:rPr lang="en-GB" sz="3600" dirty="0"/>
              <a:t>Feeds the embryo</a:t>
            </a:r>
          </a:p>
          <a:p>
            <a:pPr algn="ctr"/>
            <a:r>
              <a:rPr lang="en-GB" sz="3600" dirty="0"/>
              <a:t>Embryo = developing new generation</a:t>
            </a:r>
          </a:p>
          <a:p>
            <a:pPr algn="ctr"/>
            <a:r>
              <a:rPr lang="en-GB" sz="3600" dirty="0">
                <a:solidFill>
                  <a:srgbClr val="FF0000"/>
                </a:solidFill>
              </a:rPr>
              <a:t>Parental Nurture</a:t>
            </a:r>
          </a:p>
          <a:p>
            <a:pPr algn="ctr"/>
            <a:r>
              <a:rPr lang="en-GB" sz="3600" dirty="0"/>
              <a:t>(c.f. mammals)</a:t>
            </a:r>
          </a:p>
        </p:txBody>
      </p:sp>
    </p:spTree>
    <p:extLst>
      <p:ext uri="{BB962C8B-B14F-4D97-AF65-F5344CB8AC3E}">
        <p14:creationId xmlns:p14="http://schemas.microsoft.com/office/powerpoint/2010/main" val="12479635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7392" y="-11415"/>
            <a:ext cx="3700628" cy="584775"/>
          </a:xfrm>
          <a:prstGeom prst="rect">
            <a:avLst/>
          </a:prstGeom>
          <a:noFill/>
        </p:spPr>
        <p:txBody>
          <a:bodyPr wrap="none" rtlCol="0">
            <a:spAutoFit/>
          </a:bodyPr>
          <a:lstStyle/>
          <a:p>
            <a:r>
              <a:rPr lang="en-GB" sz="3200" dirty="0">
                <a:solidFill>
                  <a:srgbClr val="FF0000"/>
                </a:solidFill>
              </a:rPr>
              <a:t>A quick </a:t>
            </a:r>
            <a:r>
              <a:rPr lang="en-GB" sz="3200" dirty="0" err="1">
                <a:solidFill>
                  <a:srgbClr val="FF0000"/>
                </a:solidFill>
              </a:rPr>
              <a:t>phyologeny</a:t>
            </a:r>
            <a:r>
              <a:rPr lang="en-GB" sz="3200" dirty="0">
                <a:solidFill>
                  <a:srgbClr val="FF0000"/>
                </a:solidFill>
              </a:rPr>
              <a:t>…</a:t>
            </a:r>
            <a:endParaRPr lang="en-GB" dirty="0">
              <a:solidFill>
                <a:srgbClr val="FF0000"/>
              </a:solidFill>
            </a:endParaRPr>
          </a:p>
        </p:txBody>
      </p:sp>
      <p:sp>
        <p:nvSpPr>
          <p:cNvPr id="3" name="TextBox 2"/>
          <p:cNvSpPr txBox="1"/>
          <p:nvPr/>
        </p:nvSpPr>
        <p:spPr>
          <a:xfrm>
            <a:off x="5989340" y="331485"/>
            <a:ext cx="2735685" cy="523220"/>
          </a:xfrm>
          <a:prstGeom prst="rect">
            <a:avLst/>
          </a:prstGeom>
          <a:noFill/>
        </p:spPr>
        <p:txBody>
          <a:bodyPr wrap="none" rtlCol="0">
            <a:spAutoFit/>
          </a:bodyPr>
          <a:lstStyle/>
          <a:p>
            <a:r>
              <a:rPr lang="en-GB" sz="2800" dirty="0" err="1"/>
              <a:t>Progymnosperms</a:t>
            </a:r>
            <a:endParaRPr lang="en-GB" sz="2800" dirty="0"/>
          </a:p>
        </p:txBody>
      </p:sp>
      <p:cxnSp>
        <p:nvCxnSpPr>
          <p:cNvPr id="5" name="Straight Connector 4"/>
          <p:cNvCxnSpPr/>
          <p:nvPr/>
        </p:nvCxnSpPr>
        <p:spPr>
          <a:xfrm>
            <a:off x="7357181" y="806147"/>
            <a:ext cx="0" cy="43204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786973" y="1238195"/>
            <a:ext cx="0" cy="43204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939740" y="1238196"/>
            <a:ext cx="0" cy="136924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6226653" y="2607444"/>
            <a:ext cx="0" cy="43204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5755398" y="1238195"/>
            <a:ext cx="3203567"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052492" y="1602390"/>
            <a:ext cx="3468963" cy="523220"/>
          </a:xfrm>
          <a:prstGeom prst="rect">
            <a:avLst/>
          </a:prstGeom>
        </p:spPr>
        <p:txBody>
          <a:bodyPr wrap="none">
            <a:spAutoFit/>
          </a:bodyPr>
          <a:lstStyle/>
          <a:p>
            <a:r>
              <a:rPr lang="en-GB" sz="2800" dirty="0" err="1"/>
              <a:t>Pteridospermatophyta</a:t>
            </a:r>
            <a:endParaRPr lang="en-GB" sz="2400" dirty="0"/>
          </a:p>
        </p:txBody>
      </p:sp>
      <p:sp>
        <p:nvSpPr>
          <p:cNvPr id="12" name="TextBox 11"/>
          <p:cNvSpPr txBox="1"/>
          <p:nvPr/>
        </p:nvSpPr>
        <p:spPr>
          <a:xfrm>
            <a:off x="7158248" y="1131054"/>
            <a:ext cx="397866" cy="646331"/>
          </a:xfrm>
          <a:prstGeom prst="rect">
            <a:avLst/>
          </a:prstGeom>
          <a:noFill/>
        </p:spPr>
        <p:txBody>
          <a:bodyPr wrap="none" rtlCol="0">
            <a:spAutoFit/>
          </a:bodyPr>
          <a:lstStyle/>
          <a:p>
            <a:r>
              <a:rPr lang="en-GB" sz="3600" dirty="0"/>
              <a:t>?</a:t>
            </a:r>
          </a:p>
        </p:txBody>
      </p:sp>
      <p:sp>
        <p:nvSpPr>
          <p:cNvPr id="13" name="TextBox 12"/>
          <p:cNvSpPr txBox="1"/>
          <p:nvPr/>
        </p:nvSpPr>
        <p:spPr>
          <a:xfrm>
            <a:off x="8958965" y="2031380"/>
            <a:ext cx="2293769" cy="523220"/>
          </a:xfrm>
          <a:prstGeom prst="rect">
            <a:avLst/>
          </a:prstGeom>
          <a:noFill/>
        </p:spPr>
        <p:txBody>
          <a:bodyPr wrap="none" rtlCol="0">
            <a:spAutoFit/>
          </a:bodyPr>
          <a:lstStyle/>
          <a:p>
            <a:r>
              <a:rPr lang="en-GB" sz="2800" dirty="0"/>
              <a:t>Gymnosperms</a:t>
            </a:r>
            <a:endParaRPr lang="en-GB" sz="2400" dirty="0"/>
          </a:p>
        </p:txBody>
      </p:sp>
      <p:cxnSp>
        <p:nvCxnSpPr>
          <p:cNvPr id="15" name="Straight Connector 14"/>
          <p:cNvCxnSpPr/>
          <p:nvPr/>
        </p:nvCxnSpPr>
        <p:spPr>
          <a:xfrm flipH="1">
            <a:off x="6205366" y="2607444"/>
            <a:ext cx="390048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5645297" y="3023523"/>
            <a:ext cx="1183850" cy="523220"/>
          </a:xfrm>
          <a:prstGeom prst="rect">
            <a:avLst/>
          </a:prstGeom>
        </p:spPr>
        <p:txBody>
          <a:bodyPr wrap="none">
            <a:spAutoFit/>
          </a:bodyPr>
          <a:lstStyle/>
          <a:p>
            <a:r>
              <a:rPr lang="en-GB" sz="2800" dirty="0"/>
              <a:t>Cycads</a:t>
            </a:r>
            <a:endParaRPr lang="en-GB" sz="2400" dirty="0"/>
          </a:p>
        </p:txBody>
      </p:sp>
      <p:cxnSp>
        <p:nvCxnSpPr>
          <p:cNvPr id="21" name="Straight Connector 20"/>
          <p:cNvCxnSpPr/>
          <p:nvPr/>
        </p:nvCxnSpPr>
        <p:spPr>
          <a:xfrm>
            <a:off x="7105341" y="2607444"/>
            <a:ext cx="0" cy="115850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6385931" y="3699143"/>
            <a:ext cx="1341201" cy="523220"/>
          </a:xfrm>
          <a:prstGeom prst="rect">
            <a:avLst/>
          </a:prstGeom>
        </p:spPr>
        <p:txBody>
          <a:bodyPr wrap="none">
            <a:spAutoFit/>
          </a:bodyPr>
          <a:lstStyle/>
          <a:p>
            <a:r>
              <a:rPr lang="en-GB" sz="2800" dirty="0" err="1"/>
              <a:t>Ginkgos</a:t>
            </a:r>
            <a:endParaRPr lang="en-GB" sz="2400" dirty="0"/>
          </a:p>
        </p:txBody>
      </p:sp>
      <p:cxnSp>
        <p:nvCxnSpPr>
          <p:cNvPr id="24" name="Straight Connector 23"/>
          <p:cNvCxnSpPr/>
          <p:nvPr/>
        </p:nvCxnSpPr>
        <p:spPr>
          <a:xfrm>
            <a:off x="8437612" y="2607444"/>
            <a:ext cx="0" cy="1728192"/>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727132" y="4251189"/>
            <a:ext cx="1373453" cy="523220"/>
          </a:xfrm>
          <a:prstGeom prst="rect">
            <a:avLst/>
          </a:prstGeom>
        </p:spPr>
        <p:txBody>
          <a:bodyPr wrap="none">
            <a:spAutoFit/>
          </a:bodyPr>
          <a:lstStyle/>
          <a:p>
            <a:r>
              <a:rPr lang="en-GB" sz="2800" dirty="0"/>
              <a:t>Conifers</a:t>
            </a:r>
            <a:endParaRPr lang="en-GB" sz="2400" dirty="0"/>
          </a:p>
        </p:txBody>
      </p:sp>
      <p:cxnSp>
        <p:nvCxnSpPr>
          <p:cNvPr id="27" name="Straight Connector 26"/>
          <p:cNvCxnSpPr/>
          <p:nvPr/>
        </p:nvCxnSpPr>
        <p:spPr>
          <a:xfrm>
            <a:off x="10076189" y="2607445"/>
            <a:ext cx="0" cy="1614919"/>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H="1">
            <a:off x="9445724" y="4222363"/>
            <a:ext cx="226190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9445724" y="4203008"/>
            <a:ext cx="0" cy="905361"/>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8511749" y="5119259"/>
            <a:ext cx="2052357" cy="523220"/>
          </a:xfrm>
          <a:prstGeom prst="rect">
            <a:avLst/>
          </a:prstGeom>
        </p:spPr>
        <p:txBody>
          <a:bodyPr wrap="none">
            <a:spAutoFit/>
          </a:bodyPr>
          <a:lstStyle/>
          <a:p>
            <a:r>
              <a:rPr lang="en-GB" sz="2800" dirty="0" err="1"/>
              <a:t>Gnetophytes</a:t>
            </a:r>
            <a:endParaRPr lang="en-GB" sz="2400" dirty="0"/>
          </a:p>
        </p:txBody>
      </p:sp>
      <p:cxnSp>
        <p:nvCxnSpPr>
          <p:cNvPr id="35" name="Straight Connector 34"/>
          <p:cNvCxnSpPr/>
          <p:nvPr/>
        </p:nvCxnSpPr>
        <p:spPr>
          <a:xfrm>
            <a:off x="11707632" y="4213898"/>
            <a:ext cx="0" cy="1633906"/>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9283632" y="5864183"/>
            <a:ext cx="2586093" cy="523220"/>
          </a:xfrm>
          <a:prstGeom prst="rect">
            <a:avLst/>
          </a:prstGeom>
        </p:spPr>
        <p:txBody>
          <a:bodyPr wrap="none">
            <a:spAutoFit/>
          </a:bodyPr>
          <a:lstStyle/>
          <a:p>
            <a:r>
              <a:rPr lang="en-GB" sz="2800" dirty="0"/>
              <a:t>Flowering plants</a:t>
            </a:r>
            <a:endParaRPr lang="en-GB" sz="2400" dirty="0"/>
          </a:p>
        </p:txBody>
      </p:sp>
      <p:sp>
        <p:nvSpPr>
          <p:cNvPr id="39" name="TextBox 38"/>
          <p:cNvSpPr txBox="1"/>
          <p:nvPr/>
        </p:nvSpPr>
        <p:spPr>
          <a:xfrm>
            <a:off x="4617373" y="6478118"/>
            <a:ext cx="3930307" cy="369332"/>
          </a:xfrm>
          <a:prstGeom prst="rect">
            <a:avLst/>
          </a:prstGeom>
          <a:noFill/>
        </p:spPr>
        <p:txBody>
          <a:bodyPr wrap="none" rtlCol="0">
            <a:spAutoFit/>
          </a:bodyPr>
          <a:lstStyle/>
          <a:p>
            <a:r>
              <a:rPr lang="en-GB" dirty="0"/>
              <a:t>n.b. this is controversial – see </a:t>
            </a:r>
            <a:r>
              <a:rPr lang="en-GB" dirty="0">
                <a:hlinkClick r:id="rId2"/>
              </a:rPr>
              <a:t>Wikipedia</a:t>
            </a:r>
            <a:endParaRPr lang="en-GB" dirty="0"/>
          </a:p>
        </p:txBody>
      </p:sp>
      <p:cxnSp>
        <p:nvCxnSpPr>
          <p:cNvPr id="25" name="Straight Connector 24"/>
          <p:cNvCxnSpPr/>
          <p:nvPr/>
        </p:nvCxnSpPr>
        <p:spPr>
          <a:xfrm flipH="1">
            <a:off x="4477172" y="2406702"/>
            <a:ext cx="4462568"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4477172" y="2387347"/>
            <a:ext cx="0" cy="905361"/>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3059205" y="3242730"/>
            <a:ext cx="2586093" cy="523220"/>
          </a:xfrm>
          <a:prstGeom prst="rect">
            <a:avLst/>
          </a:prstGeom>
        </p:spPr>
        <p:txBody>
          <a:bodyPr wrap="none">
            <a:spAutoFit/>
          </a:bodyPr>
          <a:lstStyle/>
          <a:p>
            <a:r>
              <a:rPr lang="en-GB" sz="2800" dirty="0"/>
              <a:t>Flowering plants</a:t>
            </a:r>
            <a:endParaRPr lang="en-GB" sz="2400" dirty="0"/>
          </a:p>
        </p:txBody>
      </p:sp>
    </p:spTree>
    <p:extLst>
      <p:ext uri="{BB962C8B-B14F-4D97-AF65-F5344CB8AC3E}">
        <p14:creationId xmlns:p14="http://schemas.microsoft.com/office/powerpoint/2010/main" val="339393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5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500"/>
                                        <p:tgtEl>
                                          <p:spTgt spid="23"/>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500"/>
                                        <p:tgtEl>
                                          <p:spTgt spid="2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fade">
                                      <p:cBhvr>
                                        <p:cTn id="57" dur="500"/>
                                        <p:tgtEl>
                                          <p:spTgt spid="27"/>
                                        </p:tgtEl>
                                      </p:cBhvr>
                                    </p:animEffect>
                                  </p:childTnLst>
                                </p:cTn>
                              </p:par>
                              <p:par>
                                <p:cTn id="58" presetID="10" presetClass="entr" presetSubtype="0" fill="hold"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500"/>
                                        <p:tgtEl>
                                          <p:spTgt spid="3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2"/>
                                        </p:tgtEl>
                                        <p:attrNameLst>
                                          <p:attrName>style.visibility</p:attrName>
                                        </p:attrNameLst>
                                      </p:cBhvr>
                                      <p:to>
                                        <p:strVal val="visible"/>
                                      </p:to>
                                    </p:set>
                                    <p:animEffect transition="in" filter="fade">
                                      <p:cBhvr>
                                        <p:cTn id="68" dur="500"/>
                                        <p:tgtEl>
                                          <p:spTgt spid="3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5"/>
                                        </p:tgtEl>
                                        <p:attrNameLst>
                                          <p:attrName>style.visibility</p:attrName>
                                        </p:attrNameLst>
                                      </p:cBhvr>
                                      <p:to>
                                        <p:strVal val="visible"/>
                                      </p:to>
                                    </p:set>
                                    <p:animEffect transition="in" filter="fade">
                                      <p:cBhvr>
                                        <p:cTn id="73" dur="500"/>
                                        <p:tgtEl>
                                          <p:spTgt spid="3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7"/>
                                        </p:tgtEl>
                                        <p:attrNameLst>
                                          <p:attrName>style.visibility</p:attrName>
                                        </p:attrNameLst>
                                      </p:cBhvr>
                                      <p:to>
                                        <p:strVal val="visible"/>
                                      </p:to>
                                    </p:set>
                                    <p:animEffect transition="in" filter="fade">
                                      <p:cBhvr>
                                        <p:cTn id="76" dur="500"/>
                                        <p:tgtEl>
                                          <p:spTgt spid="37"/>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500"/>
                                        <p:tgtEl>
                                          <p:spTgt spid="39"/>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500"/>
                                        <p:tgtEl>
                                          <p:spTgt spid="25"/>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500"/>
                                        <p:tgtEl>
                                          <p:spTgt spid="28"/>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3"/>
                                        </p:tgtEl>
                                        <p:attrNameLst>
                                          <p:attrName>style.visibility</p:attrName>
                                        </p:attrNameLst>
                                      </p:cBhvr>
                                      <p:to>
                                        <p:strVal val="visible"/>
                                      </p:to>
                                    </p:set>
                                    <p:animEffect transition="in" filter="fade">
                                      <p:cBhvr>
                                        <p:cTn id="9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20" grpId="0"/>
      <p:bldP spid="23" grpId="0"/>
      <p:bldP spid="26" grpId="0"/>
      <p:bldP spid="32" grpId="0"/>
      <p:bldP spid="37" grpId="0"/>
      <p:bldP spid="39" grpId="0"/>
      <p:bldP spid="3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08670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524001" y="1"/>
            <a:ext cx="6797887" cy="584775"/>
          </a:xfrm>
          <a:prstGeom prst="rect">
            <a:avLst/>
          </a:prstGeom>
          <a:noFill/>
        </p:spPr>
        <p:txBody>
          <a:bodyPr wrap="none" rtlCol="0">
            <a:spAutoFit/>
          </a:bodyPr>
          <a:lstStyle/>
          <a:p>
            <a:r>
              <a:rPr lang="en-GB" sz="3200" dirty="0">
                <a:solidFill>
                  <a:srgbClr val="FF0000"/>
                </a:solidFill>
              </a:rPr>
              <a:t>Appearance of the Dinosaurs (240 Mya)</a:t>
            </a:r>
            <a:endParaRPr lang="en-GB" dirty="0">
              <a:solidFill>
                <a:srgbClr val="FF0000"/>
              </a:solidFill>
            </a:endParaRPr>
          </a:p>
        </p:txBody>
      </p:sp>
      <p:pic>
        <p:nvPicPr>
          <p:cNvPr id="8194" name="Picture 2">
            <a:hlinkClick r:id="rId2"/>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526" t="25794" r="22582" b="16865"/>
          <a:stretch/>
        </p:blipFill>
        <p:spPr bwMode="auto">
          <a:xfrm>
            <a:off x="2495601" y="1052736"/>
            <a:ext cx="7402285" cy="41946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p:cNvSpPr/>
          <p:nvPr/>
        </p:nvSpPr>
        <p:spPr>
          <a:xfrm>
            <a:off x="2992386" y="5217786"/>
            <a:ext cx="6408712" cy="646331"/>
          </a:xfrm>
          <a:prstGeom prst="rect">
            <a:avLst/>
          </a:prstGeom>
        </p:spPr>
        <p:txBody>
          <a:bodyPr wrap="square">
            <a:spAutoFit/>
          </a:bodyPr>
          <a:lstStyle/>
          <a:p>
            <a:pPr algn="ctr"/>
            <a:r>
              <a:rPr lang="en-GB" dirty="0">
                <a:hlinkClick r:id="rId4"/>
              </a:rPr>
              <a:t>https://learningonscreen.ac.uk/ondemand/index.php/clip/102228</a:t>
            </a:r>
            <a:r>
              <a:rPr lang="en-GB" dirty="0"/>
              <a:t> (4 mins) </a:t>
            </a:r>
          </a:p>
        </p:txBody>
      </p:sp>
    </p:spTree>
    <p:extLst>
      <p:ext uri="{BB962C8B-B14F-4D97-AF65-F5344CB8AC3E}">
        <p14:creationId xmlns:p14="http://schemas.microsoft.com/office/powerpoint/2010/main" val="3269940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52565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boreal forest"/>
          <p:cNvPicPr>
            <a:picLocks noChangeAspect="1" noChangeArrowheads="1"/>
          </p:cNvPicPr>
          <p:nvPr/>
        </p:nvPicPr>
        <p:blipFill rotWithShape="1">
          <a:blip r:embed="rId2">
            <a:extLst>
              <a:ext uri="{28A0092B-C50C-407E-A947-70E740481C1C}">
                <a14:useLocalDpi xmlns:a14="http://schemas.microsoft.com/office/drawing/2010/main" val="0"/>
              </a:ext>
            </a:extLst>
          </a:blip>
          <a:srcRect t="6910" r="11487" b="18091"/>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txBox="1">
            <a:spLocks/>
          </p:cNvSpPr>
          <p:nvPr/>
        </p:nvSpPr>
        <p:spPr>
          <a:xfrm>
            <a:off x="1981200" y="1556792"/>
            <a:ext cx="8229600" cy="3744416"/>
          </a:xfrm>
          <a:prstGeom prst="rect">
            <a:avLst/>
          </a:prstGeom>
        </p:spPr>
        <p:txBody>
          <a:bodyPr vert="horz" lIns="91440" tIns="45720" rIns="91440" bIns="45720" rtlCol="0" anchor="ctr">
            <a:normAutofit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GB" sz="3600" dirty="0">
                <a:solidFill>
                  <a:schemeClr val="bg1"/>
                </a:solidFill>
              </a:rPr>
            </a:br>
            <a:r>
              <a:rPr lang="en-GB" sz="11100" dirty="0" err="1">
                <a:solidFill>
                  <a:schemeClr val="bg1"/>
                </a:solidFill>
              </a:rPr>
              <a:t>GymnospermDiversity</a:t>
            </a:r>
            <a:endParaRPr lang="en-GB" sz="2000" dirty="0">
              <a:solidFill>
                <a:srgbClr val="FF0000"/>
              </a:solidFill>
            </a:endParaRPr>
          </a:p>
        </p:txBody>
      </p:sp>
    </p:spTree>
    <p:extLst>
      <p:ext uri="{BB962C8B-B14F-4D97-AF65-F5344CB8AC3E}">
        <p14:creationId xmlns:p14="http://schemas.microsoft.com/office/powerpoint/2010/main" val="40312967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38894"/>
            <a:ext cx="4467313" cy="584775"/>
          </a:xfrm>
          <a:prstGeom prst="rect">
            <a:avLst/>
          </a:prstGeom>
          <a:noFill/>
        </p:spPr>
        <p:txBody>
          <a:bodyPr wrap="none" rtlCol="0">
            <a:spAutoFit/>
          </a:bodyPr>
          <a:lstStyle/>
          <a:p>
            <a:r>
              <a:rPr lang="en-GB" sz="3200" dirty="0" err="1">
                <a:solidFill>
                  <a:srgbClr val="FF0000"/>
                </a:solidFill>
              </a:rPr>
              <a:t>Cycadophyta</a:t>
            </a:r>
            <a:r>
              <a:rPr lang="en-GB" sz="3200" dirty="0">
                <a:solidFill>
                  <a:srgbClr val="FF0000"/>
                </a:solidFill>
              </a:rPr>
              <a:t> – the cycads</a:t>
            </a:r>
            <a:endParaRPr lang="en-GB" dirty="0">
              <a:solidFill>
                <a:srgbClr val="FF0000"/>
              </a:solidFill>
            </a:endParaRPr>
          </a:p>
        </p:txBody>
      </p:sp>
      <p:pic>
        <p:nvPicPr>
          <p:cNvPr id="7170" name="Picture 2" descr="Cycas circinali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0256" y="3752126"/>
            <a:ext cx="1994484" cy="265629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779951" y="6424742"/>
            <a:ext cx="3024336" cy="338554"/>
          </a:xfrm>
          <a:prstGeom prst="rect">
            <a:avLst/>
          </a:prstGeom>
        </p:spPr>
        <p:txBody>
          <a:bodyPr wrap="square">
            <a:spAutoFit/>
          </a:bodyPr>
          <a:lstStyle/>
          <a:p>
            <a:pPr algn="ctr"/>
            <a:r>
              <a:rPr lang="en-GB" sz="800" dirty="0"/>
              <a:t>CC BY-SA 3.0, https://commons.wikimedia.org/w/index.php?curid=134793</a:t>
            </a:r>
          </a:p>
        </p:txBody>
      </p:sp>
      <p:sp>
        <p:nvSpPr>
          <p:cNvPr id="4" name="TextBox 3"/>
          <p:cNvSpPr txBox="1"/>
          <p:nvPr/>
        </p:nvSpPr>
        <p:spPr>
          <a:xfrm>
            <a:off x="8709569" y="3321001"/>
            <a:ext cx="1649811" cy="461665"/>
          </a:xfrm>
          <a:prstGeom prst="rect">
            <a:avLst/>
          </a:prstGeom>
          <a:noFill/>
        </p:spPr>
        <p:txBody>
          <a:bodyPr wrap="none" rtlCol="0">
            <a:spAutoFit/>
          </a:bodyPr>
          <a:lstStyle/>
          <a:p>
            <a:r>
              <a:rPr lang="en-GB" sz="2400" dirty="0"/>
              <a:t>Male Cones</a:t>
            </a:r>
          </a:p>
        </p:txBody>
      </p:sp>
      <p:pic>
        <p:nvPicPr>
          <p:cNvPr id="7172" name="Picture 4" descr="https://upload.wikimedia.org/wikipedia/commons/thumb/7/72/Cycad_cone.jpg/220px-Cycad_con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250" y="3348570"/>
            <a:ext cx="1907700" cy="301763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1966700" y="2886906"/>
            <a:ext cx="1802416" cy="461665"/>
          </a:xfrm>
          <a:prstGeom prst="rect">
            <a:avLst/>
          </a:prstGeom>
          <a:noFill/>
        </p:spPr>
        <p:txBody>
          <a:bodyPr wrap="none" rtlCol="0">
            <a:spAutoFit/>
          </a:bodyPr>
          <a:lstStyle/>
          <a:p>
            <a:r>
              <a:rPr lang="en-GB" sz="2400" dirty="0"/>
              <a:t>Female Cone</a:t>
            </a:r>
          </a:p>
        </p:txBody>
      </p:sp>
      <p:sp>
        <p:nvSpPr>
          <p:cNvPr id="5" name="Rectangle 4"/>
          <p:cNvSpPr/>
          <p:nvPr/>
        </p:nvSpPr>
        <p:spPr>
          <a:xfrm>
            <a:off x="1524000" y="6366205"/>
            <a:ext cx="2462386" cy="461665"/>
          </a:xfrm>
          <a:prstGeom prst="rect">
            <a:avLst/>
          </a:prstGeom>
        </p:spPr>
        <p:txBody>
          <a:bodyPr wrap="square">
            <a:spAutoFit/>
          </a:bodyPr>
          <a:lstStyle/>
          <a:p>
            <a:pPr algn="ctr"/>
            <a:r>
              <a:rPr lang="en-GB" sz="800" dirty="0"/>
              <a:t>By Muhammad Mahdi Karim - Own work, GFDL 1.2, https://commons.wikimedia.org/w/index.php?curid=5769082</a:t>
            </a:r>
          </a:p>
        </p:txBody>
      </p:sp>
      <p:pic>
        <p:nvPicPr>
          <p:cNvPr id="7174" name="Picture 6" descr="Encephalartos woodii original stem Durban Botanic Gardens 04 09 201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5240" y="3782666"/>
            <a:ext cx="2095500" cy="27908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422514" y="6542065"/>
            <a:ext cx="3059832" cy="338554"/>
          </a:xfrm>
          <a:prstGeom prst="rect">
            <a:avLst/>
          </a:prstGeom>
        </p:spPr>
        <p:txBody>
          <a:bodyPr wrap="square">
            <a:spAutoFit/>
          </a:bodyPr>
          <a:lstStyle/>
          <a:p>
            <a:pPr algn="ctr"/>
            <a:r>
              <a:rPr lang="en-GB" sz="800" dirty="0"/>
              <a:t>By Purves, M., CC BY-SA 3.0, https://commons.wikimedia.org/w/index.php?curid=17974140</a:t>
            </a:r>
          </a:p>
        </p:txBody>
      </p:sp>
      <p:sp>
        <p:nvSpPr>
          <p:cNvPr id="11" name="TextBox 10"/>
          <p:cNvSpPr txBox="1"/>
          <p:nvPr/>
        </p:nvSpPr>
        <p:spPr>
          <a:xfrm>
            <a:off x="4909809" y="3272269"/>
            <a:ext cx="2166362" cy="523220"/>
          </a:xfrm>
          <a:prstGeom prst="rect">
            <a:avLst/>
          </a:prstGeom>
          <a:noFill/>
        </p:spPr>
        <p:txBody>
          <a:bodyPr wrap="none" rtlCol="0">
            <a:spAutoFit/>
          </a:bodyPr>
          <a:lstStyle/>
          <a:p>
            <a:r>
              <a:rPr lang="en-GB" sz="2800" dirty="0"/>
              <a:t>Wood’s cycad</a:t>
            </a:r>
          </a:p>
        </p:txBody>
      </p:sp>
      <p:sp>
        <p:nvSpPr>
          <p:cNvPr id="8" name="TextBox 7"/>
          <p:cNvSpPr txBox="1"/>
          <p:nvPr/>
        </p:nvSpPr>
        <p:spPr>
          <a:xfrm>
            <a:off x="3125810" y="594613"/>
            <a:ext cx="6291273" cy="2677656"/>
          </a:xfrm>
          <a:prstGeom prst="rect">
            <a:avLst/>
          </a:prstGeom>
          <a:noFill/>
        </p:spPr>
        <p:txBody>
          <a:bodyPr wrap="none" rtlCol="0">
            <a:spAutoFit/>
          </a:bodyPr>
          <a:lstStyle/>
          <a:p>
            <a:pPr algn="ctr"/>
            <a:r>
              <a:rPr lang="en-GB" sz="2800" dirty="0"/>
              <a:t>Evolved 280 Mya (early Permian)</a:t>
            </a:r>
            <a:endParaRPr lang="en-GB" dirty="0"/>
          </a:p>
          <a:p>
            <a:pPr algn="ctr"/>
            <a:r>
              <a:rPr lang="en-GB" sz="2800" dirty="0"/>
              <a:t>First dominant gymnosperms – still extant</a:t>
            </a:r>
          </a:p>
          <a:p>
            <a:pPr algn="ctr"/>
            <a:r>
              <a:rPr lang="en-GB" sz="2800" dirty="0"/>
              <a:t>Dioecious – males and females</a:t>
            </a:r>
          </a:p>
          <a:p>
            <a:pPr algn="ctr"/>
            <a:r>
              <a:rPr lang="en-GB" sz="2800" dirty="0"/>
              <a:t>Drought tolerant</a:t>
            </a:r>
          </a:p>
          <a:p>
            <a:pPr algn="ctr"/>
            <a:r>
              <a:rPr lang="en-GB" sz="2800" dirty="0"/>
              <a:t>Simple structure</a:t>
            </a:r>
          </a:p>
          <a:p>
            <a:pPr algn="ctr"/>
            <a:r>
              <a:rPr lang="en-GB" sz="2800" dirty="0"/>
              <a:t>Slow wood production</a:t>
            </a:r>
          </a:p>
        </p:txBody>
      </p:sp>
    </p:spTree>
    <p:extLst>
      <p:ext uri="{BB962C8B-B14F-4D97-AF65-F5344CB8AC3E}">
        <p14:creationId xmlns:p14="http://schemas.microsoft.com/office/powerpoint/2010/main" val="1637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72"/>
                                        </p:tgtEl>
                                        <p:attrNameLst>
                                          <p:attrName>style.visibility</p:attrName>
                                        </p:attrNameLst>
                                      </p:cBhvr>
                                      <p:to>
                                        <p:strVal val="visible"/>
                                      </p:to>
                                    </p:set>
                                    <p:animEffect transition="in" filter="fade">
                                      <p:cBhvr>
                                        <p:cTn id="22" dur="500"/>
                                        <p:tgtEl>
                                          <p:spTgt spid="717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7170"/>
                                        </p:tgtEl>
                                        <p:attrNameLst>
                                          <p:attrName>style.visibility</p:attrName>
                                        </p:attrNameLst>
                                      </p:cBhvr>
                                      <p:to>
                                        <p:strVal val="visible"/>
                                      </p:to>
                                    </p:set>
                                    <p:animEffect transition="in" filter="fade">
                                      <p:cBhvr>
                                        <p:cTn id="31" dur="500"/>
                                        <p:tgtEl>
                                          <p:spTgt spid="717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fade">
                                      <p:cBhvr>
                                        <p:cTn id="34" dur="500"/>
                                        <p:tgtEl>
                                          <p:spTgt spid="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8">
                                            <p:txEl>
                                              <p:pRg st="4" end="4"/>
                                            </p:txEl>
                                          </p:spTgt>
                                        </p:tgtEl>
                                        <p:attrNameLst>
                                          <p:attrName>style.visibility</p:attrName>
                                        </p:attrNameLst>
                                      </p:cBhvr>
                                      <p:to>
                                        <p:strVal val="visible"/>
                                      </p:to>
                                    </p:set>
                                    <p:animEffect transition="in" filter="fade">
                                      <p:cBhvr>
                                        <p:cTn id="47" dur="500"/>
                                        <p:tgtEl>
                                          <p:spTgt spid="8">
                                            <p:txEl>
                                              <p:pRg st="4" end="4"/>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8">
                                            <p:txEl>
                                              <p:pRg st="5" end="5"/>
                                            </p:txEl>
                                          </p:spTgt>
                                        </p:tgtEl>
                                        <p:attrNameLst>
                                          <p:attrName>style.visibility</p:attrName>
                                        </p:attrNameLst>
                                      </p:cBhvr>
                                      <p:to>
                                        <p:strVal val="visible"/>
                                      </p:to>
                                    </p:set>
                                    <p:animEffect transition="in" filter="fade">
                                      <p:cBhvr>
                                        <p:cTn id="5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7" grpId="0"/>
      <p:bldP spid="5" grpId="0"/>
      <p:bldP spid="8"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81119"/>
            <a:ext cx="2548390" cy="646331"/>
          </a:xfrm>
          <a:prstGeom prst="rect">
            <a:avLst/>
          </a:prstGeom>
          <a:noFill/>
        </p:spPr>
        <p:txBody>
          <a:bodyPr wrap="none" rtlCol="0">
            <a:spAutoFit/>
          </a:bodyPr>
          <a:lstStyle/>
          <a:p>
            <a:r>
              <a:rPr lang="en-GB" sz="3600" dirty="0" err="1">
                <a:solidFill>
                  <a:srgbClr val="FF0000"/>
                </a:solidFill>
              </a:rPr>
              <a:t>Ginkgophyta</a:t>
            </a:r>
            <a:endParaRPr lang="en-GB" dirty="0">
              <a:solidFill>
                <a:srgbClr val="FF0000"/>
              </a:solidFill>
            </a:endParaRPr>
          </a:p>
        </p:txBody>
      </p:sp>
      <p:sp>
        <p:nvSpPr>
          <p:cNvPr id="3" name="TextBox 2"/>
          <p:cNvSpPr txBox="1"/>
          <p:nvPr/>
        </p:nvSpPr>
        <p:spPr>
          <a:xfrm>
            <a:off x="3305644" y="205781"/>
            <a:ext cx="7061549" cy="4247317"/>
          </a:xfrm>
          <a:prstGeom prst="rect">
            <a:avLst/>
          </a:prstGeom>
          <a:noFill/>
        </p:spPr>
        <p:txBody>
          <a:bodyPr wrap="none" rtlCol="0">
            <a:spAutoFit/>
          </a:bodyPr>
          <a:lstStyle/>
          <a:p>
            <a:r>
              <a:rPr lang="en-GB" sz="3600" dirty="0"/>
              <a:t>Single extant species – </a:t>
            </a:r>
            <a:r>
              <a:rPr lang="en-GB" sz="3600" i="1" dirty="0"/>
              <a:t>Ginkgo biloba</a:t>
            </a:r>
          </a:p>
          <a:p>
            <a:r>
              <a:rPr lang="en-GB" sz="3600" dirty="0"/>
              <a:t>Evolved 270 Mya</a:t>
            </a:r>
          </a:p>
          <a:p>
            <a:r>
              <a:rPr lang="en-GB" sz="3600" dirty="0"/>
              <a:t>Dioecious</a:t>
            </a:r>
          </a:p>
          <a:p>
            <a:r>
              <a:rPr lang="en-GB" sz="3600" dirty="0"/>
              <a:t>Deciduous</a:t>
            </a:r>
          </a:p>
          <a:p>
            <a:r>
              <a:rPr lang="en-GB" sz="3600" dirty="0"/>
              <a:t>Seed wall fleshy – </a:t>
            </a:r>
            <a:r>
              <a:rPr lang="en-GB" sz="3600" dirty="0">
                <a:solidFill>
                  <a:srgbClr val="FF0000"/>
                </a:solidFill>
              </a:rPr>
              <a:t>like a fruit</a:t>
            </a:r>
          </a:p>
          <a:p>
            <a:r>
              <a:rPr lang="en-GB" sz="3600" dirty="0">
                <a:solidFill>
                  <a:srgbClr val="FF0000"/>
                </a:solidFill>
              </a:rPr>
              <a:t>Branching</a:t>
            </a:r>
          </a:p>
          <a:p>
            <a:endParaRPr lang="en-GB" sz="3600" dirty="0"/>
          </a:p>
          <a:p>
            <a:endParaRPr lang="en-GB" dirty="0"/>
          </a:p>
        </p:txBody>
      </p:sp>
      <p:pic>
        <p:nvPicPr>
          <p:cNvPr id="9218" name="Picture 2" descr="https://upload.wikimedia.org/wikipedia/commons/thumb/f/f5/Ginkgo_Biloba_Leaves_-_Black_Background.jpg/320px-Ginkgo_Biloba_Leaves_-_Black_Backgroun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94337" y="1285900"/>
            <a:ext cx="2246379" cy="336956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9774525" y="4641732"/>
            <a:ext cx="2286000" cy="461665"/>
          </a:xfrm>
          <a:prstGeom prst="rect">
            <a:avLst/>
          </a:prstGeom>
        </p:spPr>
        <p:txBody>
          <a:bodyPr>
            <a:spAutoFit/>
          </a:bodyPr>
          <a:lstStyle/>
          <a:p>
            <a:pPr lvl="0" algn="ctr"/>
            <a:r>
              <a:rPr lang="en-GB" sz="800" dirty="0">
                <a:solidFill>
                  <a:prstClr val="black"/>
                </a:solidFill>
              </a:rPr>
              <a:t>By James Field (</a:t>
            </a:r>
            <a:r>
              <a:rPr lang="en-GB" sz="800" dirty="0" err="1">
                <a:solidFill>
                  <a:prstClr val="black"/>
                </a:solidFill>
              </a:rPr>
              <a:t>Jame</a:t>
            </a:r>
            <a:r>
              <a:rPr lang="en-GB" sz="800" dirty="0">
                <a:solidFill>
                  <a:prstClr val="black"/>
                </a:solidFill>
              </a:rPr>
              <a:t>) - Own work, CC BY-SA 3.0, https://commons.wikimedia.org/w/index.php?curid=3707381</a:t>
            </a:r>
          </a:p>
        </p:txBody>
      </p:sp>
      <p:pic>
        <p:nvPicPr>
          <p:cNvPr id="9220" name="Picture 4" descr="https://upload.wikimedia.org/wikipedia/commons/thumb/7/78/GinkgoLeaves.jpg/800px-GinkgoLeave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24953" y="3569523"/>
            <a:ext cx="2049573" cy="260608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463738" y="6176546"/>
            <a:ext cx="4572000" cy="338554"/>
          </a:xfrm>
          <a:prstGeom prst="rect">
            <a:avLst/>
          </a:prstGeom>
        </p:spPr>
        <p:txBody>
          <a:bodyPr>
            <a:spAutoFit/>
          </a:bodyPr>
          <a:lstStyle/>
          <a:p>
            <a:pPr algn="ctr"/>
            <a:r>
              <a:rPr lang="en-GB" sz="800" dirty="0"/>
              <a:t>By Joe </a:t>
            </a:r>
            <a:r>
              <a:rPr lang="en-GB" sz="800" dirty="0" err="1"/>
              <a:t>Schneid</a:t>
            </a:r>
            <a:r>
              <a:rPr lang="en-GB" sz="800" dirty="0"/>
              <a:t>, Louisville, Kentucky - Own work, CC BY-SA 3.0, https://commons.wikimedia.org/w/index.php?curid=9488972</a:t>
            </a:r>
          </a:p>
        </p:txBody>
      </p:sp>
      <p:pic>
        <p:nvPicPr>
          <p:cNvPr id="9222" name="Picture 6" descr="https://upload.wikimedia.org/wikipedia/commons/thumb/0/03/Ginkgo_embryo_and_gametophyte.jpg/800px-Ginkgo_embryo_and_gametophyte.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38429" y="3687517"/>
            <a:ext cx="3024336" cy="237009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905572" y="6057609"/>
            <a:ext cx="4572000" cy="215444"/>
          </a:xfrm>
          <a:prstGeom prst="rect">
            <a:avLst/>
          </a:prstGeom>
        </p:spPr>
        <p:txBody>
          <a:bodyPr>
            <a:spAutoFit/>
          </a:bodyPr>
          <a:lstStyle/>
          <a:p>
            <a:pPr algn="ctr"/>
            <a:r>
              <a:rPr lang="en-GB" sz="800" dirty="0"/>
              <a:t>Curtis Clark, CC BY-SA 2.5, https://commons.wikimedia.org/w/index.php?curid=1048185</a:t>
            </a:r>
          </a:p>
        </p:txBody>
      </p:sp>
      <p:pic>
        <p:nvPicPr>
          <p:cNvPr id="9224" name="Picture 8" descr="https://upload.wikimedia.org/wikipedia/commons/thumb/6/60/2014-11-02_12_06_44_Ginkgo_during_autumn_at_the_Ewing_Presbyterian_Church_Cemetery_in_Ewing%2C_New_Jersey.jpg/800px-2014-11-02_12_06_44_Ginkgo_during_autumn_at_the_Ewing_Presbyterian_Church_Cemetery_in_Ewing%2C_New_Jersey.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26052" y="2953492"/>
            <a:ext cx="4781444" cy="358608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7150508" y="2947338"/>
            <a:ext cx="2643829" cy="307777"/>
          </a:xfrm>
          <a:prstGeom prst="rect">
            <a:avLst/>
          </a:prstGeom>
        </p:spPr>
        <p:txBody>
          <a:bodyPr wrap="square">
            <a:spAutoFit/>
          </a:bodyPr>
          <a:lstStyle/>
          <a:p>
            <a:r>
              <a:rPr lang="en-GB" sz="700" dirty="0">
                <a:solidFill>
                  <a:schemeClr val="bg1"/>
                </a:solidFill>
              </a:rPr>
              <a:t>By </a:t>
            </a:r>
            <a:r>
              <a:rPr lang="en-GB" sz="700" dirty="0" err="1">
                <a:solidFill>
                  <a:schemeClr val="bg1"/>
                </a:solidFill>
              </a:rPr>
              <a:t>Famartin</a:t>
            </a:r>
            <a:r>
              <a:rPr lang="en-GB" sz="700" dirty="0">
                <a:solidFill>
                  <a:schemeClr val="bg1"/>
                </a:solidFill>
              </a:rPr>
              <a:t> - Own work, CC BY-SA 4.0, https://commons.wikimedia.org/w/index.php?curid=36997399</a:t>
            </a:r>
          </a:p>
        </p:txBody>
      </p:sp>
    </p:spTree>
    <p:extLst>
      <p:ext uri="{BB962C8B-B14F-4D97-AF65-F5344CB8AC3E}">
        <p14:creationId xmlns:p14="http://schemas.microsoft.com/office/powerpoint/2010/main" val="102837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218"/>
                                        </p:tgtEl>
                                        <p:attrNameLst>
                                          <p:attrName>style.visibility</p:attrName>
                                        </p:attrNameLst>
                                      </p:cBhvr>
                                      <p:to>
                                        <p:strVal val="visible"/>
                                      </p:to>
                                    </p:set>
                                    <p:animEffect transition="in" filter="fade">
                                      <p:cBhvr>
                                        <p:cTn id="10" dur="500"/>
                                        <p:tgtEl>
                                          <p:spTgt spid="921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500"/>
                                        <p:tgtEl>
                                          <p:spTgt spid="3">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9220"/>
                                        </p:tgtEl>
                                        <p:attrNameLst>
                                          <p:attrName>style.visibility</p:attrName>
                                        </p:attrNameLst>
                                      </p:cBhvr>
                                      <p:to>
                                        <p:strVal val="visible"/>
                                      </p:to>
                                    </p:set>
                                    <p:animEffect transition="in" filter="fade">
                                      <p:cBhvr>
                                        <p:cTn id="31" dur="500"/>
                                        <p:tgtEl>
                                          <p:spTgt spid="92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fade">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9222"/>
                                        </p:tgtEl>
                                        <p:attrNameLst>
                                          <p:attrName>style.visibility</p:attrName>
                                        </p:attrNameLst>
                                      </p:cBhvr>
                                      <p:to>
                                        <p:strVal val="visible"/>
                                      </p:to>
                                    </p:set>
                                    <p:animEffect transition="in" filter="fade">
                                      <p:cBhvr>
                                        <p:cTn id="42" dur="500"/>
                                        <p:tgtEl>
                                          <p:spTgt spid="9222"/>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fade">
                                      <p:cBhvr>
                                        <p:cTn id="50" dur="500"/>
                                        <p:tgtEl>
                                          <p:spTgt spid="3">
                                            <p:txEl>
                                              <p:pRg st="5" end="5"/>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500"/>
                                        <p:tgtEl>
                                          <p:spTgt spid="8"/>
                                        </p:tgtEl>
                                      </p:cBhvr>
                                    </p:animEffect>
                                  </p:childTnLst>
                                </p:cTn>
                              </p:par>
                              <p:par>
                                <p:cTn id="54" presetID="10" presetClass="entr" presetSubtype="0" fill="hold" nodeType="withEffect">
                                  <p:stCondLst>
                                    <p:cond delay="0"/>
                                  </p:stCondLst>
                                  <p:childTnLst>
                                    <p:set>
                                      <p:cBhvr>
                                        <p:cTn id="55" dur="1" fill="hold">
                                          <p:stCondLst>
                                            <p:cond delay="0"/>
                                          </p:stCondLst>
                                        </p:cTn>
                                        <p:tgtEl>
                                          <p:spTgt spid="9224"/>
                                        </p:tgtEl>
                                        <p:attrNameLst>
                                          <p:attrName>style.visibility</p:attrName>
                                        </p:attrNameLst>
                                      </p:cBhvr>
                                      <p:to>
                                        <p:strVal val="visible"/>
                                      </p:to>
                                    </p:set>
                                    <p:animEffect transition="in" filter="fade">
                                      <p:cBhvr>
                                        <p:cTn id="56" dur="500"/>
                                        <p:tgtEl>
                                          <p:spTgt spid="9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6" grpId="0"/>
      <p:bldP spid="7" grpId="0"/>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72251"/>
            <a:ext cx="4713213" cy="646331"/>
          </a:xfrm>
          <a:prstGeom prst="rect">
            <a:avLst/>
          </a:prstGeom>
          <a:noFill/>
        </p:spPr>
        <p:txBody>
          <a:bodyPr wrap="none" rtlCol="0">
            <a:spAutoFit/>
          </a:bodyPr>
          <a:lstStyle/>
          <a:p>
            <a:r>
              <a:rPr lang="en-GB" sz="3600" dirty="0" err="1">
                <a:solidFill>
                  <a:srgbClr val="FF0000"/>
                </a:solidFill>
              </a:rPr>
              <a:t>Pinophyta</a:t>
            </a:r>
            <a:r>
              <a:rPr lang="en-GB" sz="3600" dirty="0">
                <a:solidFill>
                  <a:srgbClr val="FF0000"/>
                </a:solidFill>
              </a:rPr>
              <a:t> – the conifers</a:t>
            </a:r>
            <a:endParaRPr lang="en-GB" dirty="0">
              <a:solidFill>
                <a:srgbClr val="FF0000"/>
              </a:solidFill>
            </a:endParaRPr>
          </a:p>
        </p:txBody>
      </p:sp>
      <p:sp>
        <p:nvSpPr>
          <p:cNvPr id="3" name="TextBox 2"/>
          <p:cNvSpPr txBox="1"/>
          <p:nvPr/>
        </p:nvSpPr>
        <p:spPr>
          <a:xfrm>
            <a:off x="3275988" y="408980"/>
            <a:ext cx="7696338" cy="3539430"/>
          </a:xfrm>
          <a:prstGeom prst="rect">
            <a:avLst/>
          </a:prstGeom>
          <a:noFill/>
        </p:spPr>
        <p:txBody>
          <a:bodyPr wrap="none" rtlCol="0">
            <a:spAutoFit/>
          </a:bodyPr>
          <a:lstStyle/>
          <a:p>
            <a:r>
              <a:rPr lang="en-GB" sz="3200" dirty="0"/>
              <a:t>Evolved ~300 Mya</a:t>
            </a:r>
          </a:p>
          <a:p>
            <a:r>
              <a:rPr lang="en-GB" sz="3200" dirty="0"/>
              <a:t>Single extant order - </a:t>
            </a:r>
            <a:r>
              <a:rPr lang="en-GB" sz="3200" dirty="0" err="1"/>
              <a:t>Pinales</a:t>
            </a:r>
            <a:endParaRPr lang="en-GB" sz="3200" dirty="0"/>
          </a:p>
          <a:p>
            <a:r>
              <a:rPr lang="en-GB" sz="3200" dirty="0"/>
              <a:t>Often </a:t>
            </a:r>
            <a:r>
              <a:rPr lang="en-GB" sz="3200" dirty="0" err="1"/>
              <a:t>monoiecous</a:t>
            </a:r>
            <a:r>
              <a:rPr lang="en-GB" sz="3200" dirty="0"/>
              <a:t> </a:t>
            </a:r>
            <a:br>
              <a:rPr lang="en-GB" sz="3200" dirty="0"/>
            </a:br>
            <a:r>
              <a:rPr lang="en-GB" sz="3200" dirty="0"/>
              <a:t>	– male and female cones on same tree</a:t>
            </a:r>
          </a:p>
          <a:p>
            <a:r>
              <a:rPr lang="en-GB" sz="3200" dirty="0"/>
              <a:t>Long-lived – Bristlecone pine &gt;5000 years old</a:t>
            </a:r>
          </a:p>
          <a:p>
            <a:r>
              <a:rPr lang="en-GB" sz="3200" dirty="0"/>
              <a:t>Woody branched trees (and shrubs)</a:t>
            </a:r>
          </a:p>
          <a:p>
            <a:r>
              <a:rPr lang="en-GB" sz="3200" dirty="0"/>
              <a:t>Grow FAST and BIG</a:t>
            </a:r>
          </a:p>
        </p:txBody>
      </p:sp>
      <p:pic>
        <p:nvPicPr>
          <p:cNvPr id="10242" name="Picture 2" descr="https://upload.wikimedia.org/wikipedia/commons/thumb/4/4c/Pine_cones%2C_male_and_female.jpg/1024px-Pine_cones%2C_male_and_femal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964" y="4270057"/>
            <a:ext cx="4832174" cy="25879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3275988" y="6435668"/>
            <a:ext cx="4572000" cy="400110"/>
          </a:xfrm>
          <a:prstGeom prst="rect">
            <a:avLst/>
          </a:prstGeom>
        </p:spPr>
        <p:txBody>
          <a:bodyPr>
            <a:spAutoFit/>
          </a:bodyPr>
          <a:lstStyle/>
          <a:p>
            <a:pPr algn="ctr"/>
            <a:r>
              <a:rPr lang="en-GB" sz="1000" dirty="0"/>
              <a:t>By </a:t>
            </a:r>
            <a:r>
              <a:rPr lang="en-GB" sz="1000" dirty="0" err="1"/>
              <a:t>Menchi</a:t>
            </a:r>
            <a:r>
              <a:rPr lang="en-GB" sz="1000" dirty="0"/>
              <a:t> at the English language Wikipedia, CC BY-SA 3.0, https://commons.wikimedia.org/w/index.php?curid=192534</a:t>
            </a:r>
          </a:p>
        </p:txBody>
      </p:sp>
      <p:pic>
        <p:nvPicPr>
          <p:cNvPr id="10244" name="Picture 4" descr="Big bristlecone pine Pinus longaeva.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252774" y="3178178"/>
            <a:ext cx="2933700" cy="3657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9252775" y="3213900"/>
            <a:ext cx="2939225" cy="338554"/>
          </a:xfrm>
          <a:prstGeom prst="rect">
            <a:avLst/>
          </a:prstGeom>
        </p:spPr>
        <p:txBody>
          <a:bodyPr wrap="square">
            <a:spAutoFit/>
          </a:bodyPr>
          <a:lstStyle/>
          <a:p>
            <a:pPr algn="ctr"/>
            <a:r>
              <a:rPr lang="en-GB" sz="800" dirty="0">
                <a:solidFill>
                  <a:schemeClr val="bg1"/>
                </a:solidFill>
              </a:rPr>
              <a:t>By </a:t>
            </a:r>
            <a:r>
              <a:rPr lang="en-GB" sz="800" dirty="0" err="1">
                <a:solidFill>
                  <a:schemeClr val="bg1"/>
                </a:solidFill>
              </a:rPr>
              <a:t>Dcrjsr</a:t>
            </a:r>
            <a:r>
              <a:rPr lang="en-GB" sz="800" dirty="0">
                <a:solidFill>
                  <a:schemeClr val="bg1"/>
                </a:solidFill>
              </a:rPr>
              <a:t> - Own work, CC BY-SA 3.0, https://commons.wikimedia.org/w/index.php?curid=11040152</a:t>
            </a:r>
          </a:p>
        </p:txBody>
      </p:sp>
    </p:spTree>
    <p:extLst>
      <p:ext uri="{BB962C8B-B14F-4D97-AF65-F5344CB8AC3E}">
        <p14:creationId xmlns:p14="http://schemas.microsoft.com/office/powerpoint/2010/main" val="57145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10242"/>
                                        </p:tgtEl>
                                        <p:attrNameLst>
                                          <p:attrName>style.visibility</p:attrName>
                                        </p:attrNameLst>
                                      </p:cBhvr>
                                      <p:to>
                                        <p:strVal val="visible"/>
                                      </p:to>
                                    </p:set>
                                    <p:animEffect transition="in" filter="fade">
                                      <p:cBhvr>
                                        <p:cTn id="20" dur="500"/>
                                        <p:tgtEl>
                                          <p:spTgt spid="10242"/>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10244"/>
                                        </p:tgtEl>
                                        <p:attrNameLst>
                                          <p:attrName>style.visibility</p:attrName>
                                        </p:attrNameLst>
                                      </p:cBhvr>
                                      <p:to>
                                        <p:strVal val="visible"/>
                                      </p:to>
                                    </p:set>
                                    <p:animEffect transition="in" filter="fade">
                                      <p:cBhvr>
                                        <p:cTn id="31" dur="500"/>
                                        <p:tgtEl>
                                          <p:spTgt spid="1024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fade">
                                      <p:cBhvr>
                                        <p:cTn id="34" dur="50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500"/>
                                        <p:tgtEl>
                                          <p:spTgt spid="3">
                                            <p:txEl>
                                              <p:pRg st="4" end="4"/>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
                                            <p:txEl>
                                              <p:pRg st="5" end="5"/>
                                            </p:txEl>
                                          </p:spTgt>
                                        </p:tgtEl>
                                        <p:attrNameLst>
                                          <p:attrName>style.visibility</p:attrName>
                                        </p:attrNameLst>
                                      </p:cBhvr>
                                      <p:to>
                                        <p:strVal val="visible"/>
                                      </p:to>
                                    </p:set>
                                    <p:animEffect transition="in" filter="fade">
                                      <p:cBhvr>
                                        <p:cTn id="4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48947"/>
            <a:ext cx="2875724" cy="646331"/>
          </a:xfrm>
          <a:prstGeom prst="rect">
            <a:avLst/>
          </a:prstGeom>
          <a:noFill/>
        </p:spPr>
        <p:txBody>
          <a:bodyPr wrap="none" rtlCol="0">
            <a:spAutoFit/>
          </a:bodyPr>
          <a:lstStyle/>
          <a:p>
            <a:r>
              <a:rPr lang="en-GB" sz="3600" dirty="0">
                <a:solidFill>
                  <a:srgbClr val="FF0000"/>
                </a:solidFill>
              </a:rPr>
              <a:t>Conifers today</a:t>
            </a:r>
            <a:endParaRPr lang="en-GB" dirty="0">
              <a:solidFill>
                <a:srgbClr val="FF0000"/>
              </a:solidFill>
            </a:endParaRPr>
          </a:p>
        </p:txBody>
      </p:sp>
      <p:sp>
        <p:nvSpPr>
          <p:cNvPr id="3" name="TextBox 2"/>
          <p:cNvSpPr txBox="1"/>
          <p:nvPr/>
        </p:nvSpPr>
        <p:spPr>
          <a:xfrm>
            <a:off x="3814915" y="597384"/>
            <a:ext cx="6710299" cy="2246769"/>
          </a:xfrm>
          <a:prstGeom prst="rect">
            <a:avLst/>
          </a:prstGeom>
          <a:noFill/>
        </p:spPr>
        <p:txBody>
          <a:bodyPr wrap="none" rtlCol="0">
            <a:spAutoFit/>
          </a:bodyPr>
          <a:lstStyle/>
          <a:p>
            <a:r>
              <a:rPr lang="en-GB" sz="2800" dirty="0"/>
              <a:t>Stress tolerant…</a:t>
            </a:r>
          </a:p>
          <a:p>
            <a:r>
              <a:rPr lang="en-GB" sz="2800" dirty="0"/>
              <a:t>		…so grow in extreme locations…</a:t>
            </a:r>
          </a:p>
          <a:p>
            <a:endParaRPr lang="en-GB" sz="2800" dirty="0"/>
          </a:p>
          <a:p>
            <a:r>
              <a:rPr lang="en-GB" sz="2800" dirty="0"/>
              <a:t>Drought tolerant</a:t>
            </a:r>
          </a:p>
          <a:p>
            <a:r>
              <a:rPr lang="en-GB" sz="2800" dirty="0"/>
              <a:t>			    Fire tolerant</a:t>
            </a:r>
            <a:endParaRPr lang="en-GB" dirty="0"/>
          </a:p>
        </p:txBody>
      </p:sp>
      <p:pic>
        <p:nvPicPr>
          <p:cNvPr id="12292" name="Picture 4" descr="Image result for boreal forest sno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5724" y="4634197"/>
            <a:ext cx="3004595" cy="19845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3016943" y="4172532"/>
            <a:ext cx="2722155" cy="461665"/>
          </a:xfrm>
          <a:prstGeom prst="rect">
            <a:avLst/>
          </a:prstGeom>
          <a:noFill/>
        </p:spPr>
        <p:txBody>
          <a:bodyPr wrap="none" rtlCol="0">
            <a:spAutoFit/>
          </a:bodyPr>
          <a:lstStyle/>
          <a:p>
            <a:r>
              <a:rPr lang="en-GB" sz="2400" dirty="0"/>
              <a:t>Boreal (arctic) forest</a:t>
            </a:r>
          </a:p>
        </p:txBody>
      </p:sp>
      <p:pic>
        <p:nvPicPr>
          <p:cNvPr id="12294" name="Picture 6" descr="Image result for alpine fores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68060" y="4634196"/>
            <a:ext cx="2959467" cy="1974652"/>
          </a:xfrm>
          <a:prstGeom prst="rect">
            <a:avLst/>
          </a:prstGeom>
          <a:noFill/>
          <a:extLst>
            <a:ext uri="{909E8E84-426E-40DD-AFC4-6F175D3DCCD1}">
              <a14:hiddenFill xmlns:a14="http://schemas.microsoft.com/office/drawing/2010/main">
                <a:solidFill>
                  <a:srgbClr val="FFFFFF"/>
                </a:solidFill>
              </a14:hiddenFill>
            </a:ext>
          </a:extLst>
        </p:spPr>
      </p:pic>
      <p:pic>
        <p:nvPicPr>
          <p:cNvPr id="12296" name="Picture 8" descr="Image result for aleppo pin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5155" y="4644880"/>
            <a:ext cx="2892925" cy="198454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9431070" y="4199969"/>
            <a:ext cx="1776897" cy="461665"/>
          </a:xfrm>
          <a:prstGeom prst="rect">
            <a:avLst/>
          </a:prstGeom>
          <a:noFill/>
        </p:spPr>
        <p:txBody>
          <a:bodyPr wrap="none" rtlCol="0">
            <a:spAutoFit/>
          </a:bodyPr>
          <a:lstStyle/>
          <a:p>
            <a:r>
              <a:rPr lang="en-GB" sz="2400" dirty="0"/>
              <a:t>Alpine forest</a:t>
            </a:r>
          </a:p>
        </p:txBody>
      </p:sp>
      <p:sp>
        <p:nvSpPr>
          <p:cNvPr id="6" name="TextBox 5"/>
          <p:cNvSpPr txBox="1"/>
          <p:nvPr/>
        </p:nvSpPr>
        <p:spPr>
          <a:xfrm>
            <a:off x="6010545" y="4172531"/>
            <a:ext cx="2863733" cy="461665"/>
          </a:xfrm>
          <a:prstGeom prst="rect">
            <a:avLst/>
          </a:prstGeom>
          <a:noFill/>
        </p:spPr>
        <p:txBody>
          <a:bodyPr wrap="none" rtlCol="0">
            <a:spAutoFit/>
          </a:bodyPr>
          <a:lstStyle/>
          <a:p>
            <a:r>
              <a:rPr lang="en-GB" sz="2400" dirty="0"/>
              <a:t>Mediterranean forest</a:t>
            </a:r>
            <a:endParaRPr lang="en-GB" dirty="0"/>
          </a:p>
        </p:txBody>
      </p:sp>
      <p:pic>
        <p:nvPicPr>
          <p:cNvPr id="12298" name="Picture 10" descr="Image result for pine fir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68060" y="1808615"/>
            <a:ext cx="2733675" cy="2352675"/>
          </a:xfrm>
          <a:prstGeom prst="rect">
            <a:avLst/>
          </a:prstGeom>
          <a:noFill/>
          <a:extLst>
            <a:ext uri="{909E8E84-426E-40DD-AFC4-6F175D3DCCD1}">
              <a14:hiddenFill xmlns:a14="http://schemas.microsoft.com/office/drawing/2010/main">
                <a:solidFill>
                  <a:srgbClr val="FFFFFF"/>
                </a:solidFill>
              </a14:hiddenFill>
            </a:ext>
          </a:extLst>
        </p:spPr>
      </p:pic>
      <p:pic>
        <p:nvPicPr>
          <p:cNvPr id="12300" name="Picture 12" descr="http://heartland.geocities.jp/globalmanager924/3318187064_4236c965a11.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4095" y="2413460"/>
            <a:ext cx="24384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2340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par>
                                <p:cTn id="18" presetID="10" presetClass="entr" presetSubtype="0" fill="hold" nodeType="withEffect">
                                  <p:stCondLst>
                                    <p:cond delay="0"/>
                                  </p:stCondLst>
                                  <p:childTnLst>
                                    <p:set>
                                      <p:cBhvr>
                                        <p:cTn id="19" dur="1" fill="hold">
                                          <p:stCondLst>
                                            <p:cond delay="0"/>
                                          </p:stCondLst>
                                        </p:cTn>
                                        <p:tgtEl>
                                          <p:spTgt spid="12292"/>
                                        </p:tgtEl>
                                        <p:attrNameLst>
                                          <p:attrName>style.visibility</p:attrName>
                                        </p:attrNameLst>
                                      </p:cBhvr>
                                      <p:to>
                                        <p:strVal val="visible"/>
                                      </p:to>
                                    </p:set>
                                    <p:animEffect transition="in" filter="fade">
                                      <p:cBhvr>
                                        <p:cTn id="20" dur="500"/>
                                        <p:tgtEl>
                                          <p:spTgt spid="1229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2294"/>
                                        </p:tgtEl>
                                        <p:attrNameLst>
                                          <p:attrName>style.visibility</p:attrName>
                                        </p:attrNameLst>
                                      </p:cBhvr>
                                      <p:to>
                                        <p:strVal val="visible"/>
                                      </p:to>
                                    </p:set>
                                    <p:animEffect transition="in" filter="fade">
                                      <p:cBhvr>
                                        <p:cTn id="25" dur="500"/>
                                        <p:tgtEl>
                                          <p:spTgt spid="12294"/>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2296"/>
                                        </p:tgtEl>
                                        <p:attrNameLst>
                                          <p:attrName>style.visibility</p:attrName>
                                        </p:attrNameLst>
                                      </p:cBhvr>
                                      <p:to>
                                        <p:strVal val="visible"/>
                                      </p:to>
                                    </p:set>
                                    <p:animEffect transition="in" filter="fade">
                                      <p:cBhvr>
                                        <p:cTn id="33" dur="500"/>
                                        <p:tgtEl>
                                          <p:spTgt spid="1229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xEl>
                                              <p:pRg st="3" end="3"/>
                                            </p:txEl>
                                          </p:spTgt>
                                        </p:tgtEl>
                                        <p:attrNameLst>
                                          <p:attrName>style.visibility</p:attrName>
                                        </p:attrNameLst>
                                      </p:cBhvr>
                                      <p:to>
                                        <p:strVal val="visible"/>
                                      </p:to>
                                    </p:set>
                                    <p:animEffect transition="in" filter="fade">
                                      <p:cBhvr>
                                        <p:cTn id="41" dur="500"/>
                                        <p:tgtEl>
                                          <p:spTgt spid="3">
                                            <p:txEl>
                                              <p:pRg st="3" end="3"/>
                                            </p:txEl>
                                          </p:spTgt>
                                        </p:tgtEl>
                                      </p:cBhvr>
                                    </p:animEffect>
                                  </p:childTnLst>
                                </p:cTn>
                              </p:par>
                              <p:par>
                                <p:cTn id="42" presetID="10" presetClass="entr" presetSubtype="0" fill="hold" nodeType="withEffect">
                                  <p:stCondLst>
                                    <p:cond delay="0"/>
                                  </p:stCondLst>
                                  <p:childTnLst>
                                    <p:set>
                                      <p:cBhvr>
                                        <p:cTn id="43" dur="1" fill="hold">
                                          <p:stCondLst>
                                            <p:cond delay="0"/>
                                          </p:stCondLst>
                                        </p:cTn>
                                        <p:tgtEl>
                                          <p:spTgt spid="12300"/>
                                        </p:tgtEl>
                                        <p:attrNameLst>
                                          <p:attrName>style.visibility</p:attrName>
                                        </p:attrNameLst>
                                      </p:cBhvr>
                                      <p:to>
                                        <p:strVal val="visible"/>
                                      </p:to>
                                    </p:set>
                                    <p:animEffect transition="in" filter="fade">
                                      <p:cBhvr>
                                        <p:cTn id="44" dur="500"/>
                                        <p:tgtEl>
                                          <p:spTgt spid="1230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
                                            <p:txEl>
                                              <p:pRg st="4" end="4"/>
                                            </p:txEl>
                                          </p:spTgt>
                                        </p:tgtEl>
                                        <p:attrNameLst>
                                          <p:attrName>style.visibility</p:attrName>
                                        </p:attrNameLst>
                                      </p:cBhvr>
                                      <p:to>
                                        <p:strVal val="visible"/>
                                      </p:to>
                                    </p:set>
                                    <p:animEffect transition="in" filter="fade">
                                      <p:cBhvr>
                                        <p:cTn id="49" dur="500"/>
                                        <p:tgtEl>
                                          <p:spTgt spid="3">
                                            <p:txEl>
                                              <p:pRg st="4" end="4"/>
                                            </p:txEl>
                                          </p:spTgt>
                                        </p:tgtEl>
                                      </p:cBhvr>
                                    </p:animEffect>
                                  </p:childTnLst>
                                </p:cTn>
                              </p:par>
                              <p:par>
                                <p:cTn id="50" presetID="10" presetClass="entr" presetSubtype="0" fill="hold" nodeType="withEffect">
                                  <p:stCondLst>
                                    <p:cond delay="0"/>
                                  </p:stCondLst>
                                  <p:childTnLst>
                                    <p:set>
                                      <p:cBhvr>
                                        <p:cTn id="51" dur="1" fill="hold">
                                          <p:stCondLst>
                                            <p:cond delay="0"/>
                                          </p:stCondLst>
                                        </p:cTn>
                                        <p:tgtEl>
                                          <p:spTgt spid="12298"/>
                                        </p:tgtEl>
                                        <p:attrNameLst>
                                          <p:attrName>style.visibility</p:attrName>
                                        </p:attrNameLst>
                                      </p:cBhvr>
                                      <p:to>
                                        <p:strVal val="visible"/>
                                      </p:to>
                                    </p:set>
                                    <p:animEffect transition="in" filter="fade">
                                      <p:cBhvr>
                                        <p:cTn id="52" dur="500"/>
                                        <p:tgtEl>
                                          <p:spTgt spid="122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p:bldP spid="9" grpId="0"/>
      <p:bldP spid="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75" y="-65311"/>
            <a:ext cx="2875724" cy="646331"/>
          </a:xfrm>
          <a:prstGeom prst="rect">
            <a:avLst/>
          </a:prstGeom>
          <a:noFill/>
        </p:spPr>
        <p:txBody>
          <a:bodyPr wrap="none" rtlCol="0">
            <a:spAutoFit/>
          </a:bodyPr>
          <a:lstStyle/>
          <a:p>
            <a:r>
              <a:rPr lang="en-GB" sz="3600" dirty="0">
                <a:solidFill>
                  <a:srgbClr val="FF0000"/>
                </a:solidFill>
              </a:rPr>
              <a:t>Conifers today</a:t>
            </a:r>
            <a:endParaRPr lang="en-GB" dirty="0">
              <a:solidFill>
                <a:srgbClr val="FF0000"/>
              </a:solidFill>
            </a:endParaRPr>
          </a:p>
        </p:txBody>
      </p:sp>
      <p:pic>
        <p:nvPicPr>
          <p:cNvPr id="13316" name="Picture 4" descr="Image result for soft woo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2884" y="1096303"/>
            <a:ext cx="2664296" cy="266429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194233" y="384707"/>
            <a:ext cx="5742726" cy="769441"/>
          </a:xfrm>
          <a:prstGeom prst="rect">
            <a:avLst/>
          </a:prstGeom>
          <a:noFill/>
        </p:spPr>
        <p:txBody>
          <a:bodyPr wrap="none" rtlCol="0">
            <a:spAutoFit/>
          </a:bodyPr>
          <a:lstStyle/>
          <a:p>
            <a:r>
              <a:rPr lang="en-GB" sz="4400" dirty="0"/>
              <a:t>Commercially important</a:t>
            </a:r>
          </a:p>
        </p:txBody>
      </p:sp>
      <p:sp>
        <p:nvSpPr>
          <p:cNvPr id="5" name="TextBox 4"/>
          <p:cNvSpPr txBox="1"/>
          <p:nvPr/>
        </p:nvSpPr>
        <p:spPr>
          <a:xfrm>
            <a:off x="6017594" y="1378832"/>
            <a:ext cx="1884875" cy="584775"/>
          </a:xfrm>
          <a:prstGeom prst="rect">
            <a:avLst/>
          </a:prstGeom>
          <a:noFill/>
        </p:spPr>
        <p:txBody>
          <a:bodyPr wrap="none" rtlCol="0">
            <a:spAutoFit/>
          </a:bodyPr>
          <a:lstStyle/>
          <a:p>
            <a:r>
              <a:rPr lang="en-GB" sz="3200" dirty="0"/>
              <a:t>Soft wood</a:t>
            </a:r>
          </a:p>
        </p:txBody>
      </p:sp>
      <p:sp>
        <p:nvSpPr>
          <p:cNvPr id="6" name="AutoShape 6" descr="Image result for ikea"/>
          <p:cNvSpPr>
            <a:spLocks noChangeAspect="1" noChangeArrowheads="1"/>
          </p:cNvSpPr>
          <p:nvPr/>
        </p:nvSpPr>
        <p:spPr bwMode="auto">
          <a:xfrm>
            <a:off x="3154072" y="-271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AutoShape 8" descr="Image result for ikea"/>
          <p:cNvSpPr>
            <a:spLocks noChangeAspect="1" noChangeArrowheads="1"/>
          </p:cNvSpPr>
          <p:nvPr/>
        </p:nvSpPr>
        <p:spPr bwMode="auto">
          <a:xfrm>
            <a:off x="3306472" y="-119062"/>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3322" name="Picture 10" descr="Image result for ike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88002" y="1970052"/>
            <a:ext cx="2230567" cy="1234666"/>
          </a:xfrm>
          <a:prstGeom prst="rect">
            <a:avLst/>
          </a:prstGeom>
          <a:noFill/>
          <a:extLst>
            <a:ext uri="{909E8E84-426E-40DD-AFC4-6F175D3DCCD1}">
              <a14:hiddenFill xmlns:a14="http://schemas.microsoft.com/office/drawing/2010/main">
                <a:solidFill>
                  <a:srgbClr val="FFFFFF"/>
                </a:solidFill>
              </a14:hiddenFill>
            </a:ext>
          </a:extLst>
        </p:spPr>
      </p:pic>
      <p:pic>
        <p:nvPicPr>
          <p:cNvPr id="13324" name="Picture 12" descr="Image result for juniper berries"/>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6481" y="3662040"/>
            <a:ext cx="4369862" cy="2570892"/>
          </a:xfrm>
          <a:prstGeom prst="rect">
            <a:avLst/>
          </a:prstGeom>
          <a:noFill/>
          <a:extLst>
            <a:ext uri="{909E8E84-426E-40DD-AFC4-6F175D3DCCD1}">
              <a14:hiddenFill xmlns:a14="http://schemas.microsoft.com/office/drawing/2010/main">
                <a:solidFill>
                  <a:srgbClr val="FFFFFF"/>
                </a:solidFill>
              </a14:hiddenFill>
            </a:ext>
          </a:extLst>
        </p:spPr>
      </p:pic>
      <p:pic>
        <p:nvPicPr>
          <p:cNvPr id="13326" name="Picture 14" descr="Image result for gi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74519" y="3969054"/>
            <a:ext cx="1551963" cy="20675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8790393" y="3369653"/>
            <a:ext cx="3005951" cy="584775"/>
          </a:xfrm>
          <a:prstGeom prst="rect">
            <a:avLst/>
          </a:prstGeom>
          <a:noFill/>
        </p:spPr>
        <p:txBody>
          <a:bodyPr wrap="none" rtlCol="0">
            <a:spAutoFit/>
          </a:bodyPr>
          <a:lstStyle/>
          <a:p>
            <a:r>
              <a:rPr lang="en-GB" sz="3200" dirty="0"/>
              <a:t>Juniper “berries”</a:t>
            </a:r>
            <a:endParaRPr lang="en-GB" dirty="0"/>
          </a:p>
        </p:txBody>
      </p:sp>
      <p:sp>
        <p:nvSpPr>
          <p:cNvPr id="9" name="TextBox 8"/>
          <p:cNvSpPr txBox="1"/>
          <p:nvPr/>
        </p:nvSpPr>
        <p:spPr>
          <a:xfrm>
            <a:off x="6018450" y="6036584"/>
            <a:ext cx="6173550" cy="707886"/>
          </a:xfrm>
          <a:prstGeom prst="rect">
            <a:avLst/>
          </a:prstGeom>
          <a:noFill/>
        </p:spPr>
        <p:txBody>
          <a:bodyPr wrap="none" rtlCol="0">
            <a:spAutoFit/>
          </a:bodyPr>
          <a:lstStyle/>
          <a:p>
            <a:r>
              <a:rPr lang="en-GB" sz="4000" dirty="0"/>
              <a:t>…but not globally dominant?</a:t>
            </a:r>
            <a:endParaRPr lang="en-GB" sz="2400" dirty="0"/>
          </a:p>
        </p:txBody>
      </p:sp>
    </p:spTree>
    <p:extLst>
      <p:ext uri="{BB962C8B-B14F-4D97-AF65-F5344CB8AC3E}">
        <p14:creationId xmlns:p14="http://schemas.microsoft.com/office/powerpoint/2010/main" val="3277547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6"/>
                                        </p:tgtEl>
                                        <p:attrNameLst>
                                          <p:attrName>style.visibility</p:attrName>
                                        </p:attrNameLst>
                                      </p:cBhvr>
                                      <p:to>
                                        <p:strVal val="visible"/>
                                      </p:to>
                                    </p:set>
                                    <p:animEffect transition="in" filter="fade">
                                      <p:cBhvr>
                                        <p:cTn id="7" dur="500"/>
                                        <p:tgtEl>
                                          <p:spTgt spid="133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13322"/>
                                        </p:tgtEl>
                                        <p:attrNameLst>
                                          <p:attrName>style.visibility</p:attrName>
                                        </p:attrNameLst>
                                      </p:cBhvr>
                                      <p:to>
                                        <p:strVal val="visible"/>
                                      </p:to>
                                    </p:set>
                                    <p:animEffect transition="in" filter="fade">
                                      <p:cBhvr>
                                        <p:cTn id="13" dur="500"/>
                                        <p:tgtEl>
                                          <p:spTgt spid="1332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500"/>
                                        <p:tgtEl>
                                          <p:spTgt spid="8"/>
                                        </p:tgtEl>
                                      </p:cBhvr>
                                    </p:animEffect>
                                  </p:childTnLst>
                                </p:cTn>
                              </p:par>
                              <p:par>
                                <p:cTn id="19" presetID="10" presetClass="entr" presetSubtype="0" fill="hold" nodeType="withEffect">
                                  <p:stCondLst>
                                    <p:cond delay="0"/>
                                  </p:stCondLst>
                                  <p:childTnLst>
                                    <p:set>
                                      <p:cBhvr>
                                        <p:cTn id="20" dur="1" fill="hold">
                                          <p:stCondLst>
                                            <p:cond delay="0"/>
                                          </p:stCondLst>
                                        </p:cTn>
                                        <p:tgtEl>
                                          <p:spTgt spid="13324"/>
                                        </p:tgtEl>
                                        <p:attrNameLst>
                                          <p:attrName>style.visibility</p:attrName>
                                        </p:attrNameLst>
                                      </p:cBhvr>
                                      <p:to>
                                        <p:strVal val="visible"/>
                                      </p:to>
                                    </p:set>
                                    <p:animEffect transition="in" filter="fade">
                                      <p:cBhvr>
                                        <p:cTn id="21" dur="500"/>
                                        <p:tgtEl>
                                          <p:spTgt spid="1332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3326"/>
                                        </p:tgtEl>
                                        <p:attrNameLst>
                                          <p:attrName>style.visibility</p:attrName>
                                        </p:attrNameLst>
                                      </p:cBhvr>
                                      <p:to>
                                        <p:strVal val="visible"/>
                                      </p:to>
                                    </p:set>
                                    <p:animEffect transition="in" filter="fade">
                                      <p:cBhvr>
                                        <p:cTn id="26" dur="500"/>
                                        <p:tgtEl>
                                          <p:spTgt spid="133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119552"/>
            <a:ext cx="2641877" cy="707886"/>
          </a:xfrm>
          <a:prstGeom prst="rect">
            <a:avLst/>
          </a:prstGeom>
        </p:spPr>
        <p:txBody>
          <a:bodyPr wrap="none">
            <a:spAutoFit/>
          </a:bodyPr>
          <a:lstStyle/>
          <a:p>
            <a:r>
              <a:rPr lang="en-GB" sz="4000" dirty="0" err="1">
                <a:solidFill>
                  <a:srgbClr val="FF0000"/>
                </a:solidFill>
              </a:rPr>
              <a:t>Gnetophyta</a:t>
            </a:r>
            <a:endParaRPr lang="en-GB" sz="4000" dirty="0">
              <a:solidFill>
                <a:srgbClr val="FF0000"/>
              </a:solidFill>
            </a:endParaRPr>
          </a:p>
        </p:txBody>
      </p:sp>
      <p:sp>
        <p:nvSpPr>
          <p:cNvPr id="3" name="TextBox 2"/>
          <p:cNvSpPr txBox="1"/>
          <p:nvPr/>
        </p:nvSpPr>
        <p:spPr>
          <a:xfrm>
            <a:off x="5281836" y="320080"/>
            <a:ext cx="4494564" cy="523220"/>
          </a:xfrm>
          <a:prstGeom prst="rect">
            <a:avLst/>
          </a:prstGeom>
          <a:noFill/>
        </p:spPr>
        <p:txBody>
          <a:bodyPr wrap="none" rtlCol="0">
            <a:spAutoFit/>
          </a:bodyPr>
          <a:lstStyle/>
          <a:p>
            <a:r>
              <a:rPr lang="en-GB" sz="2800" dirty="0"/>
              <a:t>Three Families – three genera</a:t>
            </a:r>
          </a:p>
        </p:txBody>
      </p:sp>
      <p:pic>
        <p:nvPicPr>
          <p:cNvPr id="14338" name="Picture 2" descr="Welwitschia at Ugab River bas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1853" y="1219886"/>
            <a:ext cx="3594718" cy="269603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874123" y="3512361"/>
            <a:ext cx="4572000" cy="400110"/>
          </a:xfrm>
          <a:prstGeom prst="rect">
            <a:avLst/>
          </a:prstGeom>
        </p:spPr>
        <p:txBody>
          <a:bodyPr>
            <a:spAutoFit/>
          </a:bodyPr>
          <a:lstStyle/>
          <a:p>
            <a:pPr algn="ctr"/>
            <a:r>
              <a:rPr lang="en-GB" sz="1000" dirty="0">
                <a:solidFill>
                  <a:schemeClr val="bg1"/>
                </a:solidFill>
              </a:rPr>
              <a:t>By Muriel </a:t>
            </a:r>
            <a:r>
              <a:rPr lang="en-GB" sz="1000" dirty="0" err="1">
                <a:solidFill>
                  <a:schemeClr val="bg1"/>
                </a:solidFill>
              </a:rPr>
              <a:t>Gottrop</a:t>
            </a:r>
            <a:r>
              <a:rPr lang="en-GB" sz="1000" dirty="0">
                <a:solidFill>
                  <a:schemeClr val="bg1"/>
                </a:solidFill>
              </a:rPr>
              <a:t> from </a:t>
            </a:r>
            <a:r>
              <a:rPr lang="en-GB" sz="1000" dirty="0" err="1">
                <a:solidFill>
                  <a:schemeClr val="bg1"/>
                </a:solidFill>
              </a:rPr>
              <a:t>pt</a:t>
            </a:r>
            <a:r>
              <a:rPr lang="en-GB" sz="1000" dirty="0">
                <a:solidFill>
                  <a:schemeClr val="bg1"/>
                </a:solidFill>
              </a:rPr>
              <a:t>, CC BY-SA 3.0, https://commons.wikimedia.org/w/index.php?curid=2134562</a:t>
            </a:r>
          </a:p>
        </p:txBody>
      </p:sp>
      <p:sp>
        <p:nvSpPr>
          <p:cNvPr id="5" name="Rectangle 4"/>
          <p:cNvSpPr/>
          <p:nvPr/>
        </p:nvSpPr>
        <p:spPr>
          <a:xfrm>
            <a:off x="8744255" y="758221"/>
            <a:ext cx="2831737" cy="461665"/>
          </a:xfrm>
          <a:prstGeom prst="rect">
            <a:avLst/>
          </a:prstGeom>
        </p:spPr>
        <p:txBody>
          <a:bodyPr wrap="none">
            <a:spAutoFit/>
          </a:bodyPr>
          <a:lstStyle/>
          <a:p>
            <a:r>
              <a:rPr lang="en-GB" sz="2400" i="1" dirty="0" err="1"/>
              <a:t>Welwitschia</a:t>
            </a:r>
            <a:r>
              <a:rPr lang="en-GB" sz="2400" i="1" dirty="0"/>
              <a:t> mirabilis</a:t>
            </a:r>
          </a:p>
        </p:txBody>
      </p:sp>
      <p:pic>
        <p:nvPicPr>
          <p:cNvPr id="14340" name="Picture 4" descr="https://upload.wikimedia.org/wikipedia/commons/1/1f/Gnetum_gnemon_ma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0307" y="1292101"/>
            <a:ext cx="3628255" cy="262382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382945" y="854283"/>
            <a:ext cx="2282933" cy="461665"/>
          </a:xfrm>
          <a:prstGeom prst="rect">
            <a:avLst/>
          </a:prstGeom>
          <a:noFill/>
        </p:spPr>
        <p:txBody>
          <a:bodyPr wrap="none" rtlCol="0">
            <a:spAutoFit/>
          </a:bodyPr>
          <a:lstStyle/>
          <a:p>
            <a:r>
              <a:rPr lang="en-GB" sz="2400" i="1" dirty="0" err="1"/>
              <a:t>Gnetum</a:t>
            </a:r>
            <a:r>
              <a:rPr lang="en-GB" sz="2400" i="1" dirty="0"/>
              <a:t> </a:t>
            </a:r>
            <a:r>
              <a:rPr lang="en-GB" sz="2400" i="1" dirty="0" err="1"/>
              <a:t>gnemon</a:t>
            </a:r>
            <a:endParaRPr lang="en-GB" i="1" dirty="0"/>
          </a:p>
        </p:txBody>
      </p:sp>
      <p:sp>
        <p:nvSpPr>
          <p:cNvPr id="7" name="Rectangle 6"/>
          <p:cNvSpPr/>
          <p:nvPr/>
        </p:nvSpPr>
        <p:spPr>
          <a:xfrm>
            <a:off x="3650307" y="3518782"/>
            <a:ext cx="3628255" cy="338554"/>
          </a:xfrm>
          <a:prstGeom prst="rect">
            <a:avLst/>
          </a:prstGeom>
        </p:spPr>
        <p:txBody>
          <a:bodyPr wrap="square">
            <a:spAutoFit/>
          </a:bodyPr>
          <a:lstStyle/>
          <a:p>
            <a:pPr algn="ctr"/>
            <a:r>
              <a:rPr lang="en-GB" sz="800" dirty="0">
                <a:solidFill>
                  <a:schemeClr val="bg1"/>
                </a:solidFill>
              </a:rPr>
              <a:t>By </a:t>
            </a:r>
            <a:r>
              <a:rPr lang="en-GB" sz="800" dirty="0" err="1">
                <a:solidFill>
                  <a:schemeClr val="bg1"/>
                </a:solidFill>
              </a:rPr>
              <a:t>Kembangraps</a:t>
            </a:r>
            <a:r>
              <a:rPr lang="en-GB" sz="800" dirty="0">
                <a:solidFill>
                  <a:schemeClr val="bg1"/>
                </a:solidFill>
              </a:rPr>
              <a:t> - Own work, CC BY-SA 3.0, https://commons.wikimedia.org/w/index.php?curid=4085486</a:t>
            </a:r>
          </a:p>
        </p:txBody>
      </p:sp>
      <p:pic>
        <p:nvPicPr>
          <p:cNvPr id="14342" name="Picture 6" descr="https://upload.wikimedia.org/wikipedia/commons/thumb/b/be/Ephedra_distachya_%28male_flowers%29_1.jpg/800px-Ephedra_distachya_%28male_flowers%29_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7254" y="1976264"/>
            <a:ext cx="3499962" cy="2624972"/>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6238127" y="4601237"/>
            <a:ext cx="2618217" cy="461665"/>
          </a:xfrm>
          <a:prstGeom prst="rect">
            <a:avLst/>
          </a:prstGeom>
          <a:noFill/>
        </p:spPr>
        <p:txBody>
          <a:bodyPr wrap="none" rtlCol="0">
            <a:spAutoFit/>
          </a:bodyPr>
          <a:lstStyle/>
          <a:p>
            <a:r>
              <a:rPr lang="en-GB" sz="2400" i="1" dirty="0" err="1"/>
              <a:t>Ephedera</a:t>
            </a:r>
            <a:r>
              <a:rPr lang="en-GB" sz="2400" i="1" dirty="0"/>
              <a:t> </a:t>
            </a:r>
            <a:r>
              <a:rPr lang="en-GB" sz="2400" i="1" dirty="0" err="1"/>
              <a:t>distachya</a:t>
            </a:r>
            <a:endParaRPr lang="en-GB" i="1" dirty="0"/>
          </a:p>
        </p:txBody>
      </p:sp>
      <p:sp>
        <p:nvSpPr>
          <p:cNvPr id="8" name="Rectangle 7"/>
          <p:cNvSpPr/>
          <p:nvPr/>
        </p:nvSpPr>
        <p:spPr>
          <a:xfrm>
            <a:off x="5774289" y="4262682"/>
            <a:ext cx="3450269" cy="338554"/>
          </a:xfrm>
          <a:prstGeom prst="rect">
            <a:avLst/>
          </a:prstGeom>
        </p:spPr>
        <p:txBody>
          <a:bodyPr wrap="square">
            <a:spAutoFit/>
          </a:bodyPr>
          <a:lstStyle/>
          <a:p>
            <a:r>
              <a:rPr lang="en-GB" sz="800" dirty="0">
                <a:solidFill>
                  <a:schemeClr val="bg1"/>
                </a:solidFill>
              </a:rPr>
              <a:t>By </a:t>
            </a:r>
            <a:r>
              <a:rPr lang="en-GB" sz="800" dirty="0" err="1">
                <a:solidFill>
                  <a:schemeClr val="bg1"/>
                </a:solidFill>
              </a:rPr>
              <a:t>Le.Loup.Gris</a:t>
            </a:r>
            <a:r>
              <a:rPr lang="en-GB" sz="800" dirty="0">
                <a:solidFill>
                  <a:schemeClr val="bg1"/>
                </a:solidFill>
              </a:rPr>
              <a:t> - Own work, CC BY-SA 3.0, https://commons.wikimedia.org/w/index.php?curid=15764815</a:t>
            </a:r>
          </a:p>
        </p:txBody>
      </p:sp>
      <p:sp>
        <p:nvSpPr>
          <p:cNvPr id="9" name="TextBox 8"/>
          <p:cNvSpPr txBox="1"/>
          <p:nvPr/>
        </p:nvSpPr>
        <p:spPr>
          <a:xfrm>
            <a:off x="3300176" y="5072773"/>
            <a:ext cx="8494121" cy="1138773"/>
          </a:xfrm>
          <a:prstGeom prst="rect">
            <a:avLst/>
          </a:prstGeom>
          <a:noFill/>
        </p:spPr>
        <p:txBody>
          <a:bodyPr wrap="none" rtlCol="0">
            <a:spAutoFit/>
          </a:bodyPr>
          <a:lstStyle/>
          <a:p>
            <a:pPr algn="ctr"/>
            <a:r>
              <a:rPr lang="en-GB" sz="2800" dirty="0"/>
              <a:t>Very different to one another</a:t>
            </a:r>
          </a:p>
          <a:p>
            <a:pPr algn="ctr"/>
            <a:r>
              <a:rPr lang="en-GB" sz="4000" dirty="0"/>
              <a:t>But share features with flowering plants</a:t>
            </a:r>
          </a:p>
        </p:txBody>
      </p:sp>
    </p:spTree>
    <p:extLst>
      <p:ext uri="{BB962C8B-B14F-4D97-AF65-F5344CB8AC3E}">
        <p14:creationId xmlns:p14="http://schemas.microsoft.com/office/powerpoint/2010/main" val="3396683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340"/>
                                        </p:tgtEl>
                                        <p:attrNameLst>
                                          <p:attrName>style.visibility</p:attrName>
                                        </p:attrNameLst>
                                      </p:cBhvr>
                                      <p:to>
                                        <p:strVal val="visible"/>
                                      </p:to>
                                    </p:set>
                                    <p:animEffect transition="in" filter="fade">
                                      <p:cBhvr>
                                        <p:cTn id="12" dur="500"/>
                                        <p:tgtEl>
                                          <p:spTgt spid="14340"/>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4338"/>
                                        </p:tgtEl>
                                        <p:attrNameLst>
                                          <p:attrName>style.visibility</p:attrName>
                                        </p:attrNameLst>
                                      </p:cBhvr>
                                      <p:to>
                                        <p:strVal val="visible"/>
                                      </p:to>
                                    </p:set>
                                    <p:animEffect transition="in" filter="fade">
                                      <p:cBhvr>
                                        <p:cTn id="23" dur="500"/>
                                        <p:tgtEl>
                                          <p:spTgt spid="1433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500"/>
                                        <p:tgtEl>
                                          <p:spTgt spid="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nodeType="withEffect">
                                  <p:stCondLst>
                                    <p:cond delay="0"/>
                                  </p:stCondLst>
                                  <p:childTnLst>
                                    <p:set>
                                      <p:cBhvr>
                                        <p:cTn id="36" dur="1" fill="hold">
                                          <p:stCondLst>
                                            <p:cond delay="0"/>
                                          </p:stCondLst>
                                        </p:cTn>
                                        <p:tgtEl>
                                          <p:spTgt spid="14342"/>
                                        </p:tgtEl>
                                        <p:attrNameLst>
                                          <p:attrName>style.visibility</p:attrName>
                                        </p:attrNameLst>
                                      </p:cBhvr>
                                      <p:to>
                                        <p:strVal val="visible"/>
                                      </p:to>
                                    </p:set>
                                    <p:animEffect transition="in" filter="fade">
                                      <p:cBhvr>
                                        <p:cTn id="37" dur="500"/>
                                        <p:tgtEl>
                                          <p:spTgt spid="1434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9">
                                            <p:txEl>
                                              <p:pRg st="0" end="0"/>
                                            </p:txEl>
                                          </p:spTgt>
                                        </p:tgtEl>
                                        <p:attrNameLst>
                                          <p:attrName>style.visibility</p:attrName>
                                        </p:attrNameLst>
                                      </p:cBhvr>
                                      <p:to>
                                        <p:strVal val="visible"/>
                                      </p:to>
                                    </p:set>
                                    <p:animEffect transition="in" filter="fade">
                                      <p:cBhvr>
                                        <p:cTn id="45" dur="500"/>
                                        <p:tgtEl>
                                          <p:spTgt spid="9">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9">
                                            <p:txEl>
                                              <p:pRg st="1" end="1"/>
                                            </p:txEl>
                                          </p:spTgt>
                                        </p:tgtEl>
                                        <p:attrNameLst>
                                          <p:attrName>style.visibility</p:attrName>
                                        </p:attrNameLst>
                                      </p:cBhvr>
                                      <p:to>
                                        <p:strVal val="visible"/>
                                      </p:to>
                                    </p:set>
                                    <p:animEffect transition="in" filter="fade">
                                      <p:cBhvr>
                                        <p:cTn id="50"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11" grpId="0"/>
      <p:bldP spid="8" grpId="0"/>
      <p:bldP spid="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2290</Words>
  <Application>Microsoft Office PowerPoint</Application>
  <PresentationFormat>Widescreen</PresentationFormat>
  <Paragraphs>298</Paragraphs>
  <Slides>45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vt:lpstr>
      <vt:lpstr>Calibri</vt:lpstr>
      <vt:lpstr>Calibri Light</vt:lpstr>
      <vt:lpstr>Century751 BT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Giles Johnson</dc:creator>
  <cp:lastModifiedBy>Giles Johnson</cp:lastModifiedBy>
  <cp:revision>2</cp:revision>
  <dcterms:created xsi:type="dcterms:W3CDTF">2020-11-02T13:37:28Z</dcterms:created>
  <dcterms:modified xsi:type="dcterms:W3CDTF">2020-11-02T13:48:16Z</dcterms:modified>
</cp:coreProperties>
</file>