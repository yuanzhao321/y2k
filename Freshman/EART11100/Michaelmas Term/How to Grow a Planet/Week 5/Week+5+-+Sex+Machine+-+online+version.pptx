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7" r:id="rId2"/>
    <p:sldId id="278" r:id="rId3"/>
    <p:sldId id="284" r:id="rId4"/>
    <p:sldId id="283" r:id="rId5"/>
    <p:sldId id="259" r:id="rId6"/>
    <p:sldId id="260" r:id="rId7"/>
    <p:sldId id="261" r:id="rId8"/>
    <p:sldId id="262" r:id="rId9"/>
    <p:sldId id="279" r:id="rId10"/>
    <p:sldId id="264" r:id="rId11"/>
    <p:sldId id="282" r:id="rId12"/>
    <p:sldId id="281" r:id="rId13"/>
    <p:sldId id="267" r:id="rId14"/>
    <p:sldId id="266" r:id="rId15"/>
    <p:sldId id="268" r:id="rId16"/>
    <p:sldId id="269"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112" d="100"/>
          <a:sy n="112" d="100"/>
        </p:scale>
        <p:origin x="552"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85006-4790-4B7F-9A0D-E09A31CA898D}" type="datetimeFigureOut">
              <a:rPr lang="en-GB" smtClean="0"/>
              <a:t>15/09/2022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CFF4C-8565-4F6A-976A-2C4F5EDF824D}" type="slidenum">
              <a:rPr lang="en-GB" smtClean="0"/>
              <a:t>‹#›</a:t>
            </a:fld>
            <a:endParaRPr lang="en-GB"/>
          </a:p>
        </p:txBody>
      </p:sp>
    </p:spTree>
    <p:extLst>
      <p:ext uri="{BB962C8B-B14F-4D97-AF65-F5344CB8AC3E}">
        <p14:creationId xmlns:p14="http://schemas.microsoft.com/office/powerpoint/2010/main" val="1567355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6C95-404F-44B5-AF86-277F91DAEA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B7C0B1B-D756-4B9C-BB04-DF45B5B37C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397CD18-1DCA-4F6D-AF5F-A1EE0BF5F027}"/>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5" name="Footer Placeholder 4">
            <a:extLst>
              <a:ext uri="{FF2B5EF4-FFF2-40B4-BE49-F238E27FC236}">
                <a16:creationId xmlns:a16="http://schemas.microsoft.com/office/drawing/2014/main" id="{4D7E599E-BCAE-4FAF-803B-C106BADEE05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B9767B-393E-497D-80E7-DEB29F810A66}"/>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603831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CB691-63BA-425A-8918-94D94925A5B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91257D-740B-4583-9445-34B43E0181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6C401B3-F987-49C8-A048-CA7AB529EC1B}"/>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5" name="Footer Placeholder 4">
            <a:extLst>
              <a:ext uri="{FF2B5EF4-FFF2-40B4-BE49-F238E27FC236}">
                <a16:creationId xmlns:a16="http://schemas.microsoft.com/office/drawing/2014/main" id="{17F438F5-CC9B-4EE5-9117-25F4161C649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6A2F87-C0EC-417C-BCFC-20021A27C2EC}"/>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2539725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0E8E4-14B3-423E-A7DB-C6A8AD811C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263051F-CEA3-48C2-8111-5AF75B3426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516F55-A8AF-4834-814D-9D61492EB623}"/>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5" name="Footer Placeholder 4">
            <a:extLst>
              <a:ext uri="{FF2B5EF4-FFF2-40B4-BE49-F238E27FC236}">
                <a16:creationId xmlns:a16="http://schemas.microsoft.com/office/drawing/2014/main" id="{5D7B6F2E-D5F0-4E04-9041-AE3702779E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25BB4D-CE25-4909-9296-6DD79172DF6A}"/>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1856619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8D3D-CD19-4E77-A5F1-A37A704381C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1C2B134-6951-445E-BFA7-A0ED0822BA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50D85CD-5F79-4904-A205-B31AA969F4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AF310F6-0318-44D9-AC8A-231556EC17EA}"/>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6" name="Footer Placeholder 5">
            <a:extLst>
              <a:ext uri="{FF2B5EF4-FFF2-40B4-BE49-F238E27FC236}">
                <a16:creationId xmlns:a16="http://schemas.microsoft.com/office/drawing/2014/main" id="{8332215F-72F3-4851-871C-58531C5E51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EEC3E55-5491-4CC5-A7EC-8B16F724140E}"/>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194438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91E2B-9888-4ED7-9C65-211FE9B6427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1FEDED9-BC20-4F44-BC9F-1318B9A3D4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7903D1-29E1-4C54-93B2-07AED58BD7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6593CF8-9AED-45E3-ABCA-CD7FF2C4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3862E0-79D6-4F00-A655-DFD5E9CBD7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8F28C5C-EF49-46E7-9123-579728DEDFD5}"/>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8" name="Footer Placeholder 7">
            <a:extLst>
              <a:ext uri="{FF2B5EF4-FFF2-40B4-BE49-F238E27FC236}">
                <a16:creationId xmlns:a16="http://schemas.microsoft.com/office/drawing/2014/main" id="{56379C54-3102-451C-B5D8-ECDA29A172D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9CE47FB-992F-4053-AE48-141527A0F4BE}"/>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4084043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96224-8F53-4479-86A7-D6BA46C398C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4B2638-50EC-4539-ACFB-C1E210E79C24}"/>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4" name="Footer Placeholder 3">
            <a:extLst>
              <a:ext uri="{FF2B5EF4-FFF2-40B4-BE49-F238E27FC236}">
                <a16:creationId xmlns:a16="http://schemas.microsoft.com/office/drawing/2014/main" id="{15E97597-5135-43F0-8C46-09340018AFB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23D704-12CE-484B-B7FC-2DB16A7FCCE0}"/>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3684043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BCB8B6-4DC3-489E-B81C-4C6D1E1A34BD}"/>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3" name="Footer Placeholder 2">
            <a:extLst>
              <a:ext uri="{FF2B5EF4-FFF2-40B4-BE49-F238E27FC236}">
                <a16:creationId xmlns:a16="http://schemas.microsoft.com/office/drawing/2014/main" id="{5B612448-B40F-4337-9781-8B1FE715E0D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6C520CA-40A4-4BE6-9272-DB118ABBDFDC}"/>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9162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C6F1A-579D-4287-9C09-037874615A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3DF4D85-9013-4C5C-B16B-8E2FCE021F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9BE11C3-EA6C-4219-BDC7-DDA1AA2D1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5439BA-6A99-4668-A43B-B136BA5CAB90}"/>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6" name="Footer Placeholder 5">
            <a:extLst>
              <a:ext uri="{FF2B5EF4-FFF2-40B4-BE49-F238E27FC236}">
                <a16:creationId xmlns:a16="http://schemas.microsoft.com/office/drawing/2014/main" id="{FC880C01-8F78-4696-94C5-D9A589441A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6D3C31-7B8B-45A6-BEDA-EEB3F26A4644}"/>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358603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3BC54-D1DD-487B-B345-7731A3FAD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E4BC0A1-EEBA-49E8-852A-58BE7E01DF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7FC016-214A-45DC-BDA6-44C399E18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55AF8F-5244-467B-9799-A1F1ED80DD49}"/>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6" name="Footer Placeholder 5">
            <a:extLst>
              <a:ext uri="{FF2B5EF4-FFF2-40B4-BE49-F238E27FC236}">
                <a16:creationId xmlns:a16="http://schemas.microsoft.com/office/drawing/2014/main" id="{521AC23A-6F46-40D5-AAE1-FBFE0D04A5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997640-472D-402F-A2D0-5C221012D061}"/>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4133449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A82D0-1278-48C0-AA2E-E9AB628217D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66AB592-E028-4A1E-B0A5-8162D9DA22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9DB8F1-143C-4F70-A129-03EED534C137}"/>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5" name="Footer Placeholder 4">
            <a:extLst>
              <a:ext uri="{FF2B5EF4-FFF2-40B4-BE49-F238E27FC236}">
                <a16:creationId xmlns:a16="http://schemas.microsoft.com/office/drawing/2014/main" id="{088E9AF9-40DC-4F04-B882-E0E128324B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4B79F3-BBCB-44DD-913C-D1E6DF3ADD46}"/>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3239412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CC771F-9A14-4E4E-8F36-4EA76EDE8B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EBAD7CB-BFC0-4683-934A-080AE9C6B2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E401A3-663B-46A7-8E45-63AC08DB12BE}"/>
              </a:ext>
            </a:extLst>
          </p:cNvPr>
          <p:cNvSpPr>
            <a:spLocks noGrp="1"/>
          </p:cNvSpPr>
          <p:nvPr>
            <p:ph type="dt" sz="half" idx="10"/>
          </p:nvPr>
        </p:nvSpPr>
        <p:spPr/>
        <p:txBody>
          <a:bodyPr/>
          <a:lstStyle/>
          <a:p>
            <a:fld id="{600FE0C0-EEBF-49DD-91CC-46C6AB2F2E2E}" type="datetimeFigureOut">
              <a:rPr lang="en-GB" smtClean="0"/>
              <a:t>15/09/2022</a:t>
            </a:fld>
            <a:endParaRPr lang="en-GB"/>
          </a:p>
        </p:txBody>
      </p:sp>
      <p:sp>
        <p:nvSpPr>
          <p:cNvPr id="5" name="Footer Placeholder 4">
            <a:extLst>
              <a:ext uri="{FF2B5EF4-FFF2-40B4-BE49-F238E27FC236}">
                <a16:creationId xmlns:a16="http://schemas.microsoft.com/office/drawing/2014/main" id="{8E9891E0-AB6C-4093-BD9E-946858016A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046767-D9D2-4602-A013-94EB0634D230}"/>
              </a:ext>
            </a:extLst>
          </p:cNvPr>
          <p:cNvSpPr>
            <a:spLocks noGrp="1"/>
          </p:cNvSpPr>
          <p:nvPr>
            <p:ph type="sldNum" sz="quarter" idx="12"/>
          </p:nvPr>
        </p:nvSpPr>
        <p:spPr/>
        <p:txBody>
          <a:bodyPr/>
          <a:lstStyle/>
          <a:p>
            <a:fld id="{C6D6685B-5D81-48DC-9452-DCBF986A0BA1}" type="slidenum">
              <a:rPr lang="en-GB" smtClean="0"/>
              <a:t>‹#›</a:t>
            </a:fld>
            <a:endParaRPr lang="en-GB"/>
          </a:p>
        </p:txBody>
      </p:sp>
    </p:spTree>
    <p:extLst>
      <p:ext uri="{BB962C8B-B14F-4D97-AF65-F5344CB8AC3E}">
        <p14:creationId xmlns:p14="http://schemas.microsoft.com/office/powerpoint/2010/main" val="346067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7799F2-031F-49D2-9198-8A451D6420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19D6FF5-6EEE-4216-9EA0-F666BB1B07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1A7615-C953-4699-A4C2-12AC480FE3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0FE0C0-EEBF-49DD-91CC-46C6AB2F2E2E}" type="datetimeFigureOut">
              <a:rPr lang="en-GB" smtClean="0"/>
              <a:t>15/09/2022</a:t>
            </a:fld>
            <a:endParaRPr lang="en-GB"/>
          </a:p>
        </p:txBody>
      </p:sp>
      <p:sp>
        <p:nvSpPr>
          <p:cNvPr id="5" name="Footer Placeholder 4">
            <a:extLst>
              <a:ext uri="{FF2B5EF4-FFF2-40B4-BE49-F238E27FC236}">
                <a16:creationId xmlns:a16="http://schemas.microsoft.com/office/drawing/2014/main" id="{7723BD89-C5DA-484D-BCC7-6A592732BB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C2BF269-8876-4013-96B2-333A992E60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6685B-5D81-48DC-9452-DCBF986A0BA1}" type="slidenum">
              <a:rPr lang="en-GB" smtClean="0"/>
              <a:t>‹#›</a:t>
            </a:fld>
            <a:endParaRPr lang="en-GB"/>
          </a:p>
        </p:txBody>
      </p:sp>
    </p:spTree>
    <p:extLst>
      <p:ext uri="{BB962C8B-B14F-4D97-AF65-F5344CB8AC3E}">
        <p14:creationId xmlns:p14="http://schemas.microsoft.com/office/powerpoint/2010/main" val="907178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hyperlink" Target="https://doi.org/10.3389/fpls.2015.00072"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journal.frontiersin.org/article/10.3389/fpls.2015.00093/full" TargetMode="Externa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hyperlink" Target="https://en.wikipedia.org/wiki/Kathleen_Mary_Drew-Baker" TargetMode="External"/><Relationship Id="rId5" Type="http://schemas.openxmlformats.org/officeDocument/2006/relationships/image" Target="../media/image11.jp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ingonscreen.ac.uk/ondemand/index.php/clip/101274" TargetMode="External"/><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hyperlink" Target="https://learningonscreen.ac.uk/ondemand/index.php/prog/00016696?bcast=105732528"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www.bbc.co.uk/news/science-environment-40948972"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le:Hornwort (3144429129).jpg"/>
          <p:cNvPicPr>
            <a:picLocks noChangeAspect="1" noChangeArrowheads="1"/>
          </p:cNvPicPr>
          <p:nvPr/>
        </p:nvPicPr>
        <p:blipFill rotWithShape="1">
          <a:blip r:embed="rId2">
            <a:extLst>
              <a:ext uri="{28A0092B-C50C-407E-A947-70E740481C1C}">
                <a14:useLocalDpi xmlns:a14="http://schemas.microsoft.com/office/drawing/2010/main" val="0"/>
              </a:ext>
            </a:extLst>
          </a:blip>
          <a:srcRect l="7304" t="12665" r="4423" b="12737"/>
          <a:stretch/>
        </p:blipFill>
        <p:spPr bwMode="auto">
          <a:xfrm>
            <a:off x="0" y="0"/>
            <a:ext cx="121805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2928704" y="2747237"/>
            <a:ext cx="6323115" cy="1363526"/>
          </a:xfrm>
          <a:prstGeom prst="rect">
            <a:avLst/>
          </a:prstGeom>
          <a:solidFill>
            <a:srgbClr val="B2B2B2">
              <a:alpha val="49804"/>
            </a:srgbClr>
          </a:solidFill>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5200" dirty="0">
                <a:solidFill>
                  <a:schemeClr val="bg1"/>
                </a:solidFill>
              </a:rPr>
              <a:t>Sex Machine</a:t>
            </a:r>
            <a:endParaRPr lang="en-GB" sz="2000" dirty="0">
              <a:solidFill>
                <a:srgbClr val="FF0000"/>
              </a:solidFill>
            </a:endParaRPr>
          </a:p>
        </p:txBody>
      </p:sp>
      <p:sp>
        <p:nvSpPr>
          <p:cNvPr id="7" name="TextBox 6">
            <a:extLst>
              <a:ext uri="{FF2B5EF4-FFF2-40B4-BE49-F238E27FC236}">
                <a16:creationId xmlns:a16="http://schemas.microsoft.com/office/drawing/2014/main" id="{AE542C5B-3648-4144-A9F9-47CC2A721BA2}"/>
              </a:ext>
            </a:extLst>
          </p:cNvPr>
          <p:cNvSpPr txBox="1"/>
          <p:nvPr/>
        </p:nvSpPr>
        <p:spPr>
          <a:xfrm>
            <a:off x="7518400" y="6489701"/>
            <a:ext cx="4787900" cy="276999"/>
          </a:xfrm>
          <a:prstGeom prst="rect">
            <a:avLst/>
          </a:prstGeom>
          <a:noFill/>
        </p:spPr>
        <p:txBody>
          <a:bodyPr wrap="square">
            <a:spAutoFit/>
          </a:bodyPr>
          <a:lstStyle/>
          <a:p>
            <a:r>
              <a:rPr lang="en-GB" sz="1200" dirty="0">
                <a:solidFill>
                  <a:schemeClr val="bg1"/>
                </a:solidFill>
              </a:rPr>
              <a:t>Jason Hollinger / CC BY (https://creativecommons.org/licenses/by/2.0)</a:t>
            </a:r>
          </a:p>
        </p:txBody>
      </p:sp>
    </p:spTree>
    <p:extLst>
      <p:ext uri="{BB962C8B-B14F-4D97-AF65-F5344CB8AC3E}">
        <p14:creationId xmlns:p14="http://schemas.microsoft.com/office/powerpoint/2010/main" val="18778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2686505" cy="584775"/>
          </a:xfrm>
          <a:prstGeom prst="rect">
            <a:avLst/>
          </a:prstGeom>
          <a:noFill/>
        </p:spPr>
        <p:txBody>
          <a:bodyPr wrap="none" rtlCol="0">
            <a:spAutoFit/>
          </a:bodyPr>
          <a:lstStyle/>
          <a:p>
            <a:r>
              <a:rPr lang="en-GB" sz="3200" dirty="0">
                <a:solidFill>
                  <a:srgbClr val="FF0000"/>
                </a:solidFill>
              </a:rPr>
              <a:t>Primitive Algae</a:t>
            </a:r>
          </a:p>
        </p:txBody>
      </p:sp>
      <p:sp>
        <p:nvSpPr>
          <p:cNvPr id="3" name="TextBox 2"/>
          <p:cNvSpPr txBox="1"/>
          <p:nvPr/>
        </p:nvSpPr>
        <p:spPr>
          <a:xfrm>
            <a:off x="4655839" y="639228"/>
            <a:ext cx="2572114" cy="584775"/>
          </a:xfrm>
          <a:prstGeom prst="rect">
            <a:avLst/>
          </a:prstGeom>
          <a:noFill/>
        </p:spPr>
        <p:txBody>
          <a:bodyPr wrap="none" rtlCol="0">
            <a:spAutoFit/>
          </a:bodyPr>
          <a:lstStyle/>
          <a:p>
            <a:r>
              <a:rPr lang="en-GB" sz="3200" dirty="0">
                <a:solidFill>
                  <a:srgbClr val="0070C0"/>
                </a:solidFill>
              </a:rPr>
              <a:t>Cyanobacteria</a:t>
            </a:r>
          </a:p>
        </p:txBody>
      </p:sp>
      <p:sp>
        <p:nvSpPr>
          <p:cNvPr id="4" name="Down Arrow 3"/>
          <p:cNvSpPr/>
          <p:nvPr/>
        </p:nvSpPr>
        <p:spPr>
          <a:xfrm>
            <a:off x="5540809" y="1340768"/>
            <a:ext cx="802175"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7344090" y="584776"/>
            <a:ext cx="2169825" cy="830997"/>
          </a:xfrm>
          <a:prstGeom prst="rect">
            <a:avLst/>
          </a:prstGeom>
          <a:noFill/>
        </p:spPr>
        <p:txBody>
          <a:bodyPr wrap="none" rtlCol="0">
            <a:spAutoFit/>
          </a:bodyPr>
          <a:lstStyle/>
          <a:p>
            <a:pPr algn="ctr"/>
            <a:r>
              <a:rPr lang="en-GB" sz="2400" dirty="0"/>
              <a:t>Chlorophyll a</a:t>
            </a:r>
          </a:p>
          <a:p>
            <a:pPr algn="ctr"/>
            <a:r>
              <a:rPr lang="en-GB" sz="2400" dirty="0" err="1"/>
              <a:t>Phycobillisomes</a:t>
            </a:r>
            <a:endParaRPr lang="en-GB" sz="2400" dirty="0"/>
          </a:p>
        </p:txBody>
      </p:sp>
      <p:sp>
        <p:nvSpPr>
          <p:cNvPr id="8" name="Down Arrow 7"/>
          <p:cNvSpPr/>
          <p:nvPr/>
        </p:nvSpPr>
        <p:spPr>
          <a:xfrm rot="18560470">
            <a:off x="7018530" y="2684800"/>
            <a:ext cx="802175"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Down Arrow 8"/>
          <p:cNvSpPr/>
          <p:nvPr/>
        </p:nvSpPr>
        <p:spPr>
          <a:xfrm rot="3073032">
            <a:off x="4062877" y="2718422"/>
            <a:ext cx="802175"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Down Arrow 9"/>
          <p:cNvSpPr/>
          <p:nvPr/>
        </p:nvSpPr>
        <p:spPr>
          <a:xfrm>
            <a:off x="5596921" y="2996952"/>
            <a:ext cx="802175"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5110905" y="2315159"/>
            <a:ext cx="1774204" cy="584775"/>
          </a:xfrm>
          <a:prstGeom prst="rect">
            <a:avLst/>
          </a:prstGeom>
          <a:noFill/>
        </p:spPr>
        <p:txBody>
          <a:bodyPr wrap="none" rtlCol="0">
            <a:spAutoFit/>
          </a:bodyPr>
          <a:lstStyle/>
          <a:p>
            <a:r>
              <a:rPr lang="en-GB" sz="3200" dirty="0" err="1"/>
              <a:t>Protoalga</a:t>
            </a:r>
            <a:endParaRPr lang="en-GB" dirty="0"/>
          </a:p>
        </p:txBody>
      </p:sp>
      <p:sp>
        <p:nvSpPr>
          <p:cNvPr id="11" name="TextBox 10"/>
          <p:cNvSpPr txBox="1"/>
          <p:nvPr/>
        </p:nvSpPr>
        <p:spPr>
          <a:xfrm>
            <a:off x="1883397" y="3538463"/>
            <a:ext cx="2452723" cy="1569660"/>
          </a:xfrm>
          <a:prstGeom prst="rect">
            <a:avLst/>
          </a:prstGeom>
          <a:noFill/>
        </p:spPr>
        <p:txBody>
          <a:bodyPr wrap="none" rtlCol="0">
            <a:spAutoFit/>
          </a:bodyPr>
          <a:lstStyle/>
          <a:p>
            <a:pPr algn="ctr"/>
            <a:r>
              <a:rPr lang="en-GB" sz="3200" dirty="0" err="1">
                <a:solidFill>
                  <a:srgbClr val="00B050"/>
                </a:solidFill>
              </a:rPr>
              <a:t>Viridiplantae</a:t>
            </a:r>
            <a:endParaRPr lang="en-GB" sz="3200" dirty="0">
              <a:solidFill>
                <a:srgbClr val="00B050"/>
              </a:solidFill>
            </a:endParaRPr>
          </a:p>
          <a:p>
            <a:pPr algn="ctr"/>
            <a:r>
              <a:rPr lang="en-GB" sz="3200" dirty="0">
                <a:solidFill>
                  <a:srgbClr val="00B050"/>
                </a:solidFill>
              </a:rPr>
              <a:t>(Green Algae;</a:t>
            </a:r>
          </a:p>
          <a:p>
            <a:pPr algn="ctr"/>
            <a:r>
              <a:rPr lang="en-GB" sz="3200" dirty="0">
                <a:solidFill>
                  <a:srgbClr val="00B050"/>
                </a:solidFill>
              </a:rPr>
              <a:t>Plants)</a:t>
            </a:r>
          </a:p>
        </p:txBody>
      </p:sp>
      <p:sp>
        <p:nvSpPr>
          <p:cNvPr id="13" name="TextBox 12"/>
          <p:cNvSpPr txBox="1"/>
          <p:nvPr/>
        </p:nvSpPr>
        <p:spPr>
          <a:xfrm>
            <a:off x="7680176" y="3538463"/>
            <a:ext cx="2216248" cy="1077218"/>
          </a:xfrm>
          <a:prstGeom prst="rect">
            <a:avLst/>
          </a:prstGeom>
          <a:noFill/>
        </p:spPr>
        <p:txBody>
          <a:bodyPr wrap="none" rtlCol="0">
            <a:spAutoFit/>
          </a:bodyPr>
          <a:lstStyle/>
          <a:p>
            <a:pPr algn="ctr"/>
            <a:r>
              <a:rPr lang="en-GB" sz="3200" dirty="0">
                <a:solidFill>
                  <a:srgbClr val="FF0000"/>
                </a:solidFill>
              </a:rPr>
              <a:t>Rhodophyta</a:t>
            </a:r>
          </a:p>
          <a:p>
            <a:pPr algn="ctr"/>
            <a:r>
              <a:rPr lang="en-GB" sz="3200" dirty="0">
                <a:solidFill>
                  <a:srgbClr val="FF0000"/>
                </a:solidFill>
              </a:rPr>
              <a:t>(Red Algae)</a:t>
            </a:r>
          </a:p>
        </p:txBody>
      </p:sp>
      <p:sp>
        <p:nvSpPr>
          <p:cNvPr id="14" name="TextBox 13"/>
          <p:cNvSpPr txBox="1"/>
          <p:nvPr/>
        </p:nvSpPr>
        <p:spPr>
          <a:xfrm>
            <a:off x="7730918" y="4614361"/>
            <a:ext cx="2169825" cy="830997"/>
          </a:xfrm>
          <a:prstGeom prst="rect">
            <a:avLst/>
          </a:prstGeom>
          <a:noFill/>
        </p:spPr>
        <p:txBody>
          <a:bodyPr wrap="none" rtlCol="0">
            <a:spAutoFit/>
          </a:bodyPr>
          <a:lstStyle/>
          <a:p>
            <a:pPr algn="ctr"/>
            <a:r>
              <a:rPr lang="en-GB" sz="2400" dirty="0"/>
              <a:t>Chlorophyll a</a:t>
            </a:r>
          </a:p>
          <a:p>
            <a:pPr algn="ctr"/>
            <a:r>
              <a:rPr lang="en-GB" sz="2400" dirty="0" err="1"/>
              <a:t>Phycobillisomes</a:t>
            </a:r>
            <a:endParaRPr lang="en-GB" sz="2400" dirty="0"/>
          </a:p>
        </p:txBody>
      </p:sp>
      <p:sp>
        <p:nvSpPr>
          <p:cNvPr id="15" name="TextBox 14"/>
          <p:cNvSpPr txBox="1"/>
          <p:nvPr/>
        </p:nvSpPr>
        <p:spPr>
          <a:xfrm>
            <a:off x="2125519" y="5030055"/>
            <a:ext cx="1836336" cy="830997"/>
          </a:xfrm>
          <a:prstGeom prst="rect">
            <a:avLst/>
          </a:prstGeom>
          <a:noFill/>
        </p:spPr>
        <p:txBody>
          <a:bodyPr wrap="none" rtlCol="0">
            <a:spAutoFit/>
          </a:bodyPr>
          <a:lstStyle/>
          <a:p>
            <a:pPr algn="ctr"/>
            <a:r>
              <a:rPr lang="en-GB" sz="2400" dirty="0"/>
              <a:t>Chlorophyll a</a:t>
            </a:r>
          </a:p>
          <a:p>
            <a:pPr algn="ctr"/>
            <a:r>
              <a:rPr lang="en-GB" sz="2400" dirty="0"/>
              <a:t>Chlorophyll b</a:t>
            </a:r>
          </a:p>
        </p:txBody>
      </p:sp>
      <p:sp>
        <p:nvSpPr>
          <p:cNvPr id="12" name="TextBox 11"/>
          <p:cNvSpPr txBox="1"/>
          <p:nvPr/>
        </p:nvSpPr>
        <p:spPr>
          <a:xfrm>
            <a:off x="4810655" y="4165306"/>
            <a:ext cx="2281778" cy="584775"/>
          </a:xfrm>
          <a:prstGeom prst="rect">
            <a:avLst/>
          </a:prstGeom>
          <a:noFill/>
        </p:spPr>
        <p:txBody>
          <a:bodyPr wrap="none" rtlCol="0">
            <a:spAutoFit/>
          </a:bodyPr>
          <a:lstStyle/>
          <a:p>
            <a:r>
              <a:rPr lang="en-GB" sz="3200" dirty="0" err="1"/>
              <a:t>Glaucophyta</a:t>
            </a:r>
            <a:endParaRPr lang="en-GB" dirty="0"/>
          </a:p>
        </p:txBody>
      </p:sp>
      <p:sp>
        <p:nvSpPr>
          <p:cNvPr id="17" name="TextBox 16"/>
          <p:cNvSpPr txBox="1"/>
          <p:nvPr/>
        </p:nvSpPr>
        <p:spPr>
          <a:xfrm>
            <a:off x="4638621" y="4750081"/>
            <a:ext cx="2678298" cy="1200329"/>
          </a:xfrm>
          <a:prstGeom prst="rect">
            <a:avLst/>
          </a:prstGeom>
          <a:noFill/>
        </p:spPr>
        <p:txBody>
          <a:bodyPr wrap="none" rtlCol="0">
            <a:spAutoFit/>
          </a:bodyPr>
          <a:lstStyle/>
          <a:p>
            <a:pPr algn="ctr"/>
            <a:r>
              <a:rPr lang="en-GB" sz="2400" dirty="0"/>
              <a:t>Chlorophyll a</a:t>
            </a:r>
          </a:p>
          <a:p>
            <a:pPr algn="ctr"/>
            <a:r>
              <a:rPr lang="en-GB" sz="2400" dirty="0" err="1"/>
              <a:t>Phycobillisomes</a:t>
            </a:r>
            <a:endParaRPr lang="en-GB" sz="2400" dirty="0"/>
          </a:p>
          <a:p>
            <a:pPr algn="ctr"/>
            <a:r>
              <a:rPr lang="en-GB" sz="2400" dirty="0"/>
              <a:t>Chloroplast has wall</a:t>
            </a:r>
          </a:p>
        </p:txBody>
      </p:sp>
    </p:spTree>
    <p:extLst>
      <p:ext uri="{BB962C8B-B14F-4D97-AF65-F5344CB8AC3E}">
        <p14:creationId xmlns:p14="http://schemas.microsoft.com/office/powerpoint/2010/main" val="89821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7" grpId="0"/>
      <p:bldP spid="11" grpId="0"/>
      <p:bldP spid="13" grpId="0"/>
      <p:bldP spid="14" grpId="0"/>
      <p:bldP spid="15" grpId="0"/>
      <p:bldP spid="12"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35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le:Hornwort (3144429129).jpg"/>
          <p:cNvPicPr>
            <a:picLocks noChangeAspect="1" noChangeArrowheads="1"/>
          </p:cNvPicPr>
          <p:nvPr/>
        </p:nvPicPr>
        <p:blipFill rotWithShape="1">
          <a:blip r:embed="rId2">
            <a:extLst>
              <a:ext uri="{28A0092B-C50C-407E-A947-70E740481C1C}">
                <a14:useLocalDpi xmlns:a14="http://schemas.microsoft.com/office/drawing/2010/main" val="0"/>
              </a:ext>
            </a:extLst>
          </a:blip>
          <a:srcRect l="7304" t="12665" r="4423" b="12737"/>
          <a:stretch/>
        </p:blipFill>
        <p:spPr bwMode="auto">
          <a:xfrm>
            <a:off x="0" y="0"/>
            <a:ext cx="121805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2928704" y="2747237"/>
            <a:ext cx="6323115" cy="1363526"/>
          </a:xfrm>
          <a:prstGeom prst="rect">
            <a:avLst/>
          </a:prstGeom>
          <a:solidFill>
            <a:srgbClr val="B2B2B2">
              <a:alpha val="49804"/>
            </a:srgbClr>
          </a:solidFill>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5200" dirty="0">
                <a:solidFill>
                  <a:schemeClr val="bg1"/>
                </a:solidFill>
              </a:rPr>
              <a:t>Seaweed Sex</a:t>
            </a:r>
            <a:endParaRPr lang="en-GB" sz="2000" dirty="0">
              <a:solidFill>
                <a:srgbClr val="FF0000"/>
              </a:solidFill>
            </a:endParaRPr>
          </a:p>
        </p:txBody>
      </p:sp>
      <p:sp>
        <p:nvSpPr>
          <p:cNvPr id="7" name="TextBox 6">
            <a:extLst>
              <a:ext uri="{FF2B5EF4-FFF2-40B4-BE49-F238E27FC236}">
                <a16:creationId xmlns:a16="http://schemas.microsoft.com/office/drawing/2014/main" id="{AE542C5B-3648-4144-A9F9-47CC2A721BA2}"/>
              </a:ext>
            </a:extLst>
          </p:cNvPr>
          <p:cNvSpPr txBox="1"/>
          <p:nvPr/>
        </p:nvSpPr>
        <p:spPr>
          <a:xfrm>
            <a:off x="7518400" y="6489701"/>
            <a:ext cx="4787900" cy="276999"/>
          </a:xfrm>
          <a:prstGeom prst="rect">
            <a:avLst/>
          </a:prstGeom>
          <a:noFill/>
        </p:spPr>
        <p:txBody>
          <a:bodyPr wrap="square">
            <a:spAutoFit/>
          </a:bodyPr>
          <a:lstStyle/>
          <a:p>
            <a:r>
              <a:rPr lang="en-GB" sz="1200" dirty="0">
                <a:solidFill>
                  <a:schemeClr val="bg1"/>
                </a:solidFill>
              </a:rPr>
              <a:t>Jason Hollinger / CC BY (https://creativecommons.org/licenses/by/2.0)</a:t>
            </a:r>
          </a:p>
        </p:txBody>
      </p:sp>
    </p:spTree>
    <p:extLst>
      <p:ext uri="{BB962C8B-B14F-4D97-AF65-F5344CB8AC3E}">
        <p14:creationId xmlns:p14="http://schemas.microsoft.com/office/powerpoint/2010/main" val="3239901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133" y="3818689"/>
            <a:ext cx="2736304" cy="24809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779835" y="6267211"/>
            <a:ext cx="4182940" cy="338554"/>
          </a:xfrm>
          <a:prstGeom prst="rect">
            <a:avLst/>
          </a:prstGeom>
          <a:noFill/>
        </p:spPr>
        <p:txBody>
          <a:bodyPr wrap="none" rtlCol="0">
            <a:spAutoFit/>
          </a:bodyPr>
          <a:lstStyle/>
          <a:p>
            <a:r>
              <a:rPr lang="en-GB" sz="1600" dirty="0"/>
              <a:t>Bacteria “Sex” – exchange of DNA between cells</a:t>
            </a:r>
          </a:p>
        </p:txBody>
      </p:sp>
      <p:pic>
        <p:nvPicPr>
          <p:cNvPr id="2" name="Picture 2" descr="https://upload.wikimedia.org/wikipedia/commons/thumb/7/77/Geologic_Clock_with_events_and_periods.svg/803px-Geologic_Clock_with_events_and_periods.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6010" y="305459"/>
            <a:ext cx="3384376" cy="3245293"/>
          </a:xfrm>
          <a:prstGeom prst="rect">
            <a:avLst/>
          </a:prstGeom>
          <a:noFill/>
          <a:extLst>
            <a:ext uri="{909E8E84-426E-40DD-AFC4-6F175D3DCCD1}">
              <a14:hiddenFill xmlns:a14="http://schemas.microsoft.com/office/drawing/2010/main">
                <a:solidFill>
                  <a:srgbClr val="FFFFFF"/>
                </a:solidFill>
              </a14:hiddenFill>
            </a:ext>
          </a:extLst>
        </p:spPr>
      </p:pic>
      <p:sp>
        <p:nvSpPr>
          <p:cNvPr id="3" name="Up Arrow 2"/>
          <p:cNvSpPr/>
          <p:nvPr/>
        </p:nvSpPr>
        <p:spPr>
          <a:xfrm rot="5400000">
            <a:off x="6300792" y="1763701"/>
            <a:ext cx="792088" cy="1080120"/>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3871306" y="1631419"/>
            <a:ext cx="2429487" cy="1200329"/>
          </a:xfrm>
          <a:prstGeom prst="rect">
            <a:avLst/>
          </a:prstGeom>
          <a:noFill/>
        </p:spPr>
        <p:txBody>
          <a:bodyPr wrap="square" rtlCol="0">
            <a:spAutoFit/>
          </a:bodyPr>
          <a:lstStyle/>
          <a:p>
            <a:pPr algn="ctr"/>
            <a:r>
              <a:rPr lang="en-GB" dirty="0"/>
              <a:t>~1.2Ga</a:t>
            </a:r>
          </a:p>
          <a:p>
            <a:pPr algn="ctr"/>
            <a:r>
              <a:rPr lang="en-GB" dirty="0"/>
              <a:t>Earliest evidence for Eukaryotic sexual reproduction</a:t>
            </a:r>
          </a:p>
        </p:txBody>
      </p:sp>
      <p:sp>
        <p:nvSpPr>
          <p:cNvPr id="5" name="TextBox 4"/>
          <p:cNvSpPr txBox="1"/>
          <p:nvPr/>
        </p:nvSpPr>
        <p:spPr>
          <a:xfrm>
            <a:off x="0" y="35175"/>
            <a:ext cx="4660571" cy="523220"/>
          </a:xfrm>
          <a:prstGeom prst="rect">
            <a:avLst/>
          </a:prstGeom>
          <a:noFill/>
        </p:spPr>
        <p:txBody>
          <a:bodyPr wrap="none" rtlCol="0">
            <a:spAutoFit/>
          </a:bodyPr>
          <a:lstStyle/>
          <a:p>
            <a:r>
              <a:rPr lang="en-GB" sz="2800" dirty="0">
                <a:solidFill>
                  <a:srgbClr val="FF0000"/>
                </a:solidFill>
              </a:rPr>
              <a:t>…even Eukaryotic protists do it</a:t>
            </a:r>
          </a:p>
        </p:txBody>
      </p:sp>
      <p:pic>
        <p:nvPicPr>
          <p:cNvPr id="2050" name="Picture 2" descr="Image result for Bangiomorpha pubesce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75520" y="3499434"/>
            <a:ext cx="4248472" cy="312988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219077" y="4597482"/>
            <a:ext cx="3899594" cy="923330"/>
          </a:xfrm>
          <a:prstGeom prst="rect">
            <a:avLst/>
          </a:prstGeom>
        </p:spPr>
        <p:txBody>
          <a:bodyPr wrap="square">
            <a:spAutoFit/>
          </a:bodyPr>
          <a:lstStyle/>
          <a:p>
            <a:r>
              <a:rPr lang="en-GB" i="1" dirty="0" err="1"/>
              <a:t>Bangiomorpha</a:t>
            </a:r>
            <a:r>
              <a:rPr lang="en-GB" i="1" dirty="0"/>
              <a:t> </a:t>
            </a:r>
            <a:r>
              <a:rPr lang="en-GB" i="1" dirty="0" err="1"/>
              <a:t>pubescens</a:t>
            </a:r>
            <a:endParaRPr lang="en-GB" i="1" dirty="0"/>
          </a:p>
          <a:p>
            <a:r>
              <a:rPr lang="en-GB" dirty="0"/>
              <a:t>Red alga, first fossil evidence of sexual reproduction</a:t>
            </a:r>
          </a:p>
        </p:txBody>
      </p:sp>
      <p:sp>
        <p:nvSpPr>
          <p:cNvPr id="7" name="AutoShape 2" descr="https://online.manchester.ac.uk/courses/1/I3114-BIOL-10511-1181-1SE-000776/content/_6112385_1/embedded/Conjugation.svg.png"/>
          <p:cNvSpPr>
            <a:spLocks noChangeAspect="1" noChangeArrowheads="1"/>
          </p:cNvSpPr>
          <p:nvPr/>
        </p:nvSpPr>
        <p:spPr bwMode="auto">
          <a:xfrm>
            <a:off x="1679575" y="-1652588"/>
            <a:ext cx="3810000" cy="34575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34151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fade">
                                      <p:cBhvr>
                                        <p:cTn id="23" dur="500"/>
                                        <p:tgtEl>
                                          <p:spTgt spid="205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4216475" cy="523220"/>
          </a:xfrm>
          <a:prstGeom prst="rect">
            <a:avLst/>
          </a:prstGeom>
          <a:noFill/>
        </p:spPr>
        <p:txBody>
          <a:bodyPr wrap="none" rtlCol="0">
            <a:spAutoFit/>
          </a:bodyPr>
          <a:lstStyle/>
          <a:p>
            <a:r>
              <a:rPr lang="en-GB" sz="2800" i="1" dirty="0">
                <a:solidFill>
                  <a:srgbClr val="FF0000"/>
                </a:solidFill>
              </a:rPr>
              <a:t>Chlamydomonas </a:t>
            </a:r>
            <a:r>
              <a:rPr lang="en-GB" sz="2800" i="1" dirty="0" err="1">
                <a:solidFill>
                  <a:srgbClr val="FF0000"/>
                </a:solidFill>
              </a:rPr>
              <a:t>reinhardtii</a:t>
            </a:r>
            <a:endParaRPr lang="en-GB" sz="2800" i="1" dirty="0">
              <a:solidFill>
                <a:srgbClr val="FF0000"/>
              </a:solidFill>
            </a:endParaRPr>
          </a:p>
        </p:txBody>
      </p:sp>
      <p:sp>
        <p:nvSpPr>
          <p:cNvPr id="4" name="TextBox 3"/>
          <p:cNvSpPr txBox="1"/>
          <p:nvPr/>
        </p:nvSpPr>
        <p:spPr>
          <a:xfrm>
            <a:off x="3199331" y="523220"/>
            <a:ext cx="4991175" cy="3046988"/>
          </a:xfrm>
          <a:prstGeom prst="rect">
            <a:avLst/>
          </a:prstGeom>
          <a:noFill/>
        </p:spPr>
        <p:txBody>
          <a:bodyPr wrap="none" rtlCol="0">
            <a:spAutoFit/>
          </a:bodyPr>
          <a:lstStyle/>
          <a:p>
            <a:pPr marL="457200" indent="-457200">
              <a:buFont typeface="Arial" panose="020B0604020202020204" pitchFamily="34" charset="0"/>
              <a:buChar char="•"/>
            </a:pPr>
            <a:r>
              <a:rPr lang="en-GB" sz="2400" dirty="0"/>
              <a:t>Green alga</a:t>
            </a:r>
          </a:p>
          <a:p>
            <a:pPr marL="457200" indent="-457200">
              <a:buFont typeface="Arial" panose="020B0604020202020204" pitchFamily="34" charset="0"/>
              <a:buChar char="•"/>
            </a:pPr>
            <a:r>
              <a:rPr lang="en-GB" sz="2400" dirty="0"/>
              <a:t>Lives in fresh water and </a:t>
            </a:r>
            <a:r>
              <a:rPr lang="en-GB" sz="2400" i="1" dirty="0"/>
              <a:t>on soil</a:t>
            </a:r>
          </a:p>
          <a:p>
            <a:pPr marL="457200" indent="-457200">
              <a:buFont typeface="Arial" panose="020B0604020202020204" pitchFamily="34" charset="0"/>
              <a:buChar char="•"/>
            </a:pPr>
            <a:r>
              <a:rPr lang="en-GB" sz="2400" dirty="0">
                <a:solidFill>
                  <a:srgbClr val="FF0000"/>
                </a:solidFill>
              </a:rPr>
              <a:t>Haploid</a:t>
            </a:r>
            <a:r>
              <a:rPr lang="en-GB" sz="2400" dirty="0"/>
              <a:t> most of the time</a:t>
            </a:r>
          </a:p>
          <a:p>
            <a:pPr marL="457200" indent="-457200">
              <a:buFont typeface="Arial" panose="020B0604020202020204" pitchFamily="34" charset="0"/>
              <a:buChar char="•"/>
            </a:pPr>
            <a:r>
              <a:rPr lang="en-GB" sz="2400" dirty="0">
                <a:solidFill>
                  <a:srgbClr val="FF0000"/>
                </a:solidFill>
              </a:rPr>
              <a:t>Mitosis</a:t>
            </a:r>
            <a:r>
              <a:rPr lang="en-GB" sz="2400" dirty="0"/>
              <a:t> gives 4 daughter cells</a:t>
            </a:r>
          </a:p>
          <a:p>
            <a:pPr marL="457200" indent="-457200">
              <a:buFont typeface="Arial" panose="020B0604020202020204" pitchFamily="34" charset="0"/>
              <a:buChar char="•"/>
            </a:pPr>
            <a:r>
              <a:rPr lang="en-GB" sz="2400" dirty="0"/>
              <a:t>Sexual reproduction </a:t>
            </a:r>
            <a:r>
              <a:rPr lang="en-GB" sz="2400" i="1" dirty="0"/>
              <a:t>when stressed</a:t>
            </a:r>
            <a:endParaRPr lang="en-GB" sz="2400" dirty="0"/>
          </a:p>
          <a:p>
            <a:pPr marL="457200" indent="-457200">
              <a:buFont typeface="Arial" panose="020B0604020202020204" pitchFamily="34" charset="0"/>
              <a:buChar char="•"/>
            </a:pPr>
            <a:r>
              <a:rPr lang="en-GB" sz="2400" dirty="0">
                <a:solidFill>
                  <a:srgbClr val="FF0000"/>
                </a:solidFill>
              </a:rPr>
              <a:t>Gametophytes</a:t>
            </a:r>
            <a:r>
              <a:rPr lang="en-GB" sz="2400" dirty="0"/>
              <a:t> in 2 mating types</a:t>
            </a:r>
            <a:br>
              <a:rPr lang="en-GB" sz="2400" dirty="0"/>
            </a:br>
            <a:r>
              <a:rPr lang="en-GB" sz="2400" dirty="0"/>
              <a:t>	</a:t>
            </a:r>
            <a:r>
              <a:rPr lang="en-GB" sz="2400" i="1" dirty="0" err="1"/>
              <a:t>mt</a:t>
            </a:r>
            <a:r>
              <a:rPr lang="en-GB" sz="2400" i="1" dirty="0"/>
              <a:t>+ </a:t>
            </a:r>
            <a:r>
              <a:rPr lang="en-GB" sz="2400" dirty="0"/>
              <a:t>and </a:t>
            </a:r>
            <a:r>
              <a:rPr lang="en-GB" sz="2400" i="1" dirty="0" err="1"/>
              <a:t>mt</a:t>
            </a:r>
            <a:r>
              <a:rPr lang="en-GB" sz="2400" i="1" dirty="0"/>
              <a:t>- </a:t>
            </a:r>
            <a:r>
              <a:rPr lang="en-GB" sz="2400" dirty="0"/>
              <a:t>(genetically set)</a:t>
            </a:r>
          </a:p>
          <a:p>
            <a:pPr marL="457200" indent="-457200">
              <a:buFont typeface="Arial" panose="020B0604020202020204" pitchFamily="34" charset="0"/>
              <a:buChar char="•"/>
            </a:pPr>
            <a:endParaRPr lang="en-GB" sz="2400" dirty="0"/>
          </a:p>
        </p:txBody>
      </p:sp>
      <p:pic>
        <p:nvPicPr>
          <p:cNvPr id="3074" name="Picture 2" descr="Asexual and sexual reproduction in C. reinhardtii. Under favorable conditions of growth, Chlamydomonas reproduces asexually; only when the conditions are unfavorable does it reproduce sexually. a and b During asexual reproduction, cells grow and undergo two or more rounds of mitosis and cytokinesis before the daughter cells hatch from the old cell wall. Both mating types, the plus mating type (mt+) (a) and the minus mating type (mt−) (b), show identical asexual life cycles. c Sexual reproduction is induced by unfavorable conditions (nitrogen limitation), and asexual cells of both mating types develop into gametes. Gametes of opposite mating types are able to form aggregates via flagellar agglutination. After the release of cell walls, mating structures are formed, and the gametes fuse (plasmogamy and karyogamy) to form a zygote. The zygote further matures into a dormant, heavily walled, and diploid zygospore. At the time of spore germination, meiosis occurs to form four haploid progeny cells (two of each mating type), each of which grows into an asexual cell of the respective mating ty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783" y="3267074"/>
            <a:ext cx="5800725" cy="35909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511824" y="4797152"/>
            <a:ext cx="4464496"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p:cNvSpPr/>
          <p:nvPr/>
        </p:nvSpPr>
        <p:spPr>
          <a:xfrm>
            <a:off x="4871865" y="4293096"/>
            <a:ext cx="3973643" cy="648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4799856" y="4437112"/>
            <a:ext cx="144016" cy="1800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2495600" y="5062538"/>
            <a:ext cx="2808312" cy="17954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5519936" y="6183115"/>
            <a:ext cx="5148064" cy="707886"/>
          </a:xfrm>
          <a:prstGeom prst="rect">
            <a:avLst/>
          </a:prstGeom>
          <a:noFill/>
        </p:spPr>
        <p:txBody>
          <a:bodyPr wrap="square" rtlCol="0">
            <a:spAutoFit/>
          </a:bodyPr>
          <a:lstStyle/>
          <a:p>
            <a:pPr algn="ctr"/>
            <a:r>
              <a:rPr lang="en-GB" sz="2000" dirty="0"/>
              <a:t>Persistent </a:t>
            </a:r>
            <a:r>
              <a:rPr lang="en-GB" sz="2000" dirty="0" err="1">
                <a:solidFill>
                  <a:srgbClr val="FF0000"/>
                </a:solidFill>
              </a:rPr>
              <a:t>Zygospore</a:t>
            </a:r>
            <a:r>
              <a:rPr lang="en-GB" sz="2000" dirty="0">
                <a:solidFill>
                  <a:srgbClr val="FF0000"/>
                </a:solidFill>
              </a:rPr>
              <a:t> </a:t>
            </a:r>
            <a:r>
              <a:rPr lang="en-GB" sz="2000" dirty="0"/>
              <a:t>– diploid, inactive, survives stress</a:t>
            </a:r>
          </a:p>
        </p:txBody>
      </p:sp>
      <p:pic>
        <p:nvPicPr>
          <p:cNvPr id="2050" name="Picture 2" descr="Chlamydomonas (10000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3405" y="238537"/>
            <a:ext cx="3258989" cy="3333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53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074"/>
                                        </p:tgtEl>
                                        <p:attrNameLst>
                                          <p:attrName>style.visibility</p:attrName>
                                        </p:attrNameLst>
                                      </p:cBhvr>
                                      <p:to>
                                        <p:strVal val="visible"/>
                                      </p:to>
                                    </p:set>
                                    <p:animEffect transition="in" filter="fade">
                                      <p:cBhvr>
                                        <p:cTn id="25" dur="500"/>
                                        <p:tgtEl>
                                          <p:spTgt spid="307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fade">
                                      <p:cBhvr>
                                        <p:cTn id="30" dur="500"/>
                                        <p:tgtEl>
                                          <p:spTgt spid="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0" nodeType="clickEffect">
                                  <p:stCondLst>
                                    <p:cond delay="0"/>
                                  </p:stCondLst>
                                  <p:childTnLst>
                                    <p:animEffect transition="out" filter="fade">
                                      <p:cBhvr>
                                        <p:cTn id="34" dur="500"/>
                                        <p:tgtEl>
                                          <p:spTgt spid="5"/>
                                        </p:tgtEl>
                                      </p:cBhvr>
                                    </p:animEffect>
                                    <p:set>
                                      <p:cBhvr>
                                        <p:cTn id="35" dur="1" fill="hold">
                                          <p:stCondLst>
                                            <p:cond delay="499"/>
                                          </p:stCondLst>
                                        </p:cTn>
                                        <p:tgtEl>
                                          <p:spTgt spid="5"/>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500"/>
                                        <p:tgtEl>
                                          <p:spTgt spid="7"/>
                                        </p:tgtEl>
                                      </p:cBhvr>
                                    </p:animEffect>
                                    <p:set>
                                      <p:cBhvr>
                                        <p:cTn id="41" dur="1" fill="hold">
                                          <p:stCondLst>
                                            <p:cond delay="499"/>
                                          </p:stCondLst>
                                        </p:cTn>
                                        <p:tgtEl>
                                          <p:spTgt spid="7"/>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500"/>
                                        <p:tgtEl>
                                          <p:spTgt spid="8"/>
                                        </p:tgtEl>
                                      </p:cBhvr>
                                    </p:animEffect>
                                    <p:set>
                                      <p:cBhvr>
                                        <p:cTn id="44" dur="1" fill="hold">
                                          <p:stCondLst>
                                            <p:cond delay="499"/>
                                          </p:stCondLst>
                                        </p:cTn>
                                        <p:tgtEl>
                                          <p:spTgt spid="8"/>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animEffect transition="in" filter="fade">
                                      <p:cBhvr>
                                        <p:cTn id="49" dur="500"/>
                                        <p:tgtEl>
                                          <p:spTgt spid="4">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P spid="6" grpId="0" animBg="1"/>
      <p:bldP spid="7" grpId="0" animBg="1"/>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7001" y="0"/>
            <a:ext cx="3977499" cy="523220"/>
          </a:xfrm>
          <a:prstGeom prst="rect">
            <a:avLst/>
          </a:prstGeom>
          <a:noFill/>
        </p:spPr>
        <p:txBody>
          <a:bodyPr wrap="none" rtlCol="0">
            <a:spAutoFit/>
          </a:bodyPr>
          <a:lstStyle/>
          <a:p>
            <a:r>
              <a:rPr lang="en-GB" sz="2800" i="1" dirty="0">
                <a:solidFill>
                  <a:srgbClr val="FF0000"/>
                </a:solidFill>
              </a:rPr>
              <a:t>Ulva </a:t>
            </a:r>
            <a:r>
              <a:rPr lang="en-GB" sz="2800" i="1" dirty="0" err="1">
                <a:solidFill>
                  <a:srgbClr val="FF0000"/>
                </a:solidFill>
              </a:rPr>
              <a:t>lactuca</a:t>
            </a:r>
            <a:r>
              <a:rPr lang="en-GB" sz="2800" i="1" dirty="0">
                <a:solidFill>
                  <a:srgbClr val="FF0000"/>
                </a:solidFill>
              </a:rPr>
              <a:t> – </a:t>
            </a:r>
            <a:r>
              <a:rPr lang="en-GB" sz="2800" dirty="0">
                <a:solidFill>
                  <a:srgbClr val="FF0000"/>
                </a:solidFill>
              </a:rPr>
              <a:t>Sea Lettuce</a:t>
            </a:r>
          </a:p>
        </p:txBody>
      </p:sp>
      <p:pic>
        <p:nvPicPr>
          <p:cNvPr id="4100" name="Picture 4" descr="Ulva lactuca Ibiz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9376" y="409104"/>
            <a:ext cx="4104456" cy="273630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238372" y="3145409"/>
            <a:ext cx="4572000" cy="430887"/>
          </a:xfrm>
          <a:prstGeom prst="rect">
            <a:avLst/>
          </a:prstGeom>
        </p:spPr>
        <p:txBody>
          <a:bodyPr>
            <a:spAutoFit/>
          </a:bodyPr>
          <a:lstStyle/>
          <a:p>
            <a:pPr algn="ctr"/>
            <a:r>
              <a:rPr lang="en-GB" sz="1050" dirty="0"/>
              <a:t>By </a:t>
            </a:r>
            <a:r>
              <a:rPr lang="en-GB" sz="1050" dirty="0" err="1"/>
              <a:t>Tigerente</a:t>
            </a:r>
            <a:r>
              <a:rPr lang="en-GB" sz="1050" dirty="0"/>
              <a:t> - Own work, CC BY-SA 3.0, https://commons.wikimedia.org/w/index.php?curid=10619077</a:t>
            </a:r>
          </a:p>
        </p:txBody>
      </p:sp>
      <p:pic>
        <p:nvPicPr>
          <p:cNvPr id="4102" name="Picture 6" descr="Image result for ulva mating typ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6390" y="1076149"/>
            <a:ext cx="4145442" cy="52908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697804" y="3721596"/>
            <a:ext cx="5112568" cy="1938992"/>
          </a:xfrm>
          <a:prstGeom prst="rect">
            <a:avLst/>
          </a:prstGeom>
          <a:noFill/>
        </p:spPr>
        <p:txBody>
          <a:bodyPr wrap="square" rtlCol="0">
            <a:spAutoFit/>
          </a:bodyPr>
          <a:lstStyle/>
          <a:p>
            <a:pPr algn="ctr"/>
            <a:r>
              <a:rPr lang="en-GB" sz="2000" dirty="0"/>
              <a:t>Gametophyte (haploid; n) and sporophyte (diploid; 2n) both persist and grow as “seaweed”</a:t>
            </a:r>
          </a:p>
          <a:p>
            <a:pPr algn="ctr"/>
            <a:endParaRPr lang="en-GB" sz="2400" dirty="0"/>
          </a:p>
          <a:p>
            <a:pPr algn="ctr"/>
            <a:r>
              <a:rPr lang="en-GB" sz="3600" dirty="0">
                <a:solidFill>
                  <a:srgbClr val="FF0000"/>
                </a:solidFill>
              </a:rPr>
              <a:t>Alternation of generations</a:t>
            </a:r>
          </a:p>
        </p:txBody>
      </p:sp>
      <p:sp>
        <p:nvSpPr>
          <p:cNvPr id="5" name="Rectangle 4"/>
          <p:cNvSpPr/>
          <p:nvPr/>
        </p:nvSpPr>
        <p:spPr>
          <a:xfrm>
            <a:off x="7934439" y="6458892"/>
            <a:ext cx="3875933" cy="276999"/>
          </a:xfrm>
          <a:prstGeom prst="rect">
            <a:avLst/>
          </a:prstGeom>
        </p:spPr>
        <p:txBody>
          <a:bodyPr wrap="none">
            <a:spAutoFit/>
          </a:bodyPr>
          <a:lstStyle/>
          <a:p>
            <a:r>
              <a:rPr lang="en-GB" sz="1200" dirty="0">
                <a:hlinkClick r:id="rId4"/>
              </a:rPr>
              <a:t>More about Ulva: https://doi.org/10.3389/fpls.2015.00072</a:t>
            </a:r>
            <a:endParaRPr lang="en-GB" sz="1200" dirty="0"/>
          </a:p>
        </p:txBody>
      </p:sp>
    </p:spTree>
    <p:extLst>
      <p:ext uri="{BB962C8B-B14F-4D97-AF65-F5344CB8AC3E}">
        <p14:creationId xmlns:p14="http://schemas.microsoft.com/office/powerpoint/2010/main" val="3816209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fade">
                                      <p:cBhvr>
                                        <p:cTn id="7" dur="500"/>
                                        <p:tgtEl>
                                          <p:spTgt spid="41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692" y="0"/>
            <a:ext cx="3275856" cy="523220"/>
          </a:xfrm>
          <a:prstGeom prst="rect">
            <a:avLst/>
          </a:prstGeom>
          <a:noFill/>
        </p:spPr>
        <p:txBody>
          <a:bodyPr wrap="square" rtlCol="0">
            <a:spAutoFit/>
          </a:bodyPr>
          <a:lstStyle/>
          <a:p>
            <a:r>
              <a:rPr lang="en-GB" sz="2800" dirty="0">
                <a:solidFill>
                  <a:srgbClr val="FF0000"/>
                </a:solidFill>
              </a:rPr>
              <a:t>Sushi Sex – red algae</a:t>
            </a:r>
          </a:p>
        </p:txBody>
      </p:sp>
      <p:pic>
        <p:nvPicPr>
          <p:cNvPr id="5122" name="Picture 2" descr="http://www.frontiersin.org/files/Articles/120791/fpls-06-00093-HTML/image_m/fpls-06-00093-g0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72590" y="3322426"/>
            <a:ext cx="3996628" cy="292230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388354" y="6490778"/>
            <a:ext cx="5886400" cy="276999"/>
          </a:xfrm>
          <a:prstGeom prst="rect">
            <a:avLst/>
          </a:prstGeom>
        </p:spPr>
        <p:txBody>
          <a:bodyPr wrap="square">
            <a:spAutoFit/>
          </a:bodyPr>
          <a:lstStyle/>
          <a:p>
            <a:r>
              <a:rPr lang="en-GB" sz="1200" dirty="0"/>
              <a:t>For more read: </a:t>
            </a:r>
            <a:r>
              <a:rPr lang="en-GB" sz="1200" dirty="0">
                <a:hlinkClick r:id="rId3"/>
              </a:rPr>
              <a:t>http://journal.frontiersin.org/article/10.3389/fpls.2015.00093/full</a:t>
            </a:r>
            <a:endParaRPr lang="en-GB" sz="1200" dirty="0"/>
          </a:p>
        </p:txBody>
      </p:sp>
      <p:pic>
        <p:nvPicPr>
          <p:cNvPr id="5124" name="Picture 4" descr="Nori.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9061" y="730138"/>
            <a:ext cx="3077557" cy="24404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269028" y="980844"/>
            <a:ext cx="4703562" cy="3785652"/>
          </a:xfrm>
          <a:prstGeom prst="rect">
            <a:avLst/>
          </a:prstGeom>
          <a:noFill/>
        </p:spPr>
        <p:txBody>
          <a:bodyPr wrap="square" rtlCol="0">
            <a:spAutoFit/>
          </a:bodyPr>
          <a:lstStyle/>
          <a:p>
            <a:pPr algn="ctr"/>
            <a:r>
              <a:rPr lang="en-GB" sz="2400" dirty="0"/>
              <a:t>Sushi made of Nori – red alga,  </a:t>
            </a:r>
            <a:r>
              <a:rPr lang="en-GB" sz="2400" i="1" dirty="0" err="1"/>
              <a:t>Porphyra</a:t>
            </a:r>
            <a:r>
              <a:rPr lang="en-GB" sz="2400" i="1" dirty="0"/>
              <a:t> sp.</a:t>
            </a:r>
          </a:p>
          <a:p>
            <a:pPr algn="ctr"/>
            <a:r>
              <a:rPr lang="en-GB" sz="2400" dirty="0"/>
              <a:t>Gametophyte – plate like; used for sushi</a:t>
            </a:r>
          </a:p>
          <a:p>
            <a:pPr algn="ctr"/>
            <a:r>
              <a:rPr lang="en-GB" sz="2400" dirty="0"/>
              <a:t>Sporophyte – filament</a:t>
            </a:r>
          </a:p>
          <a:p>
            <a:pPr algn="ctr"/>
            <a:r>
              <a:rPr lang="en-GB" sz="2400" dirty="0">
                <a:solidFill>
                  <a:srgbClr val="FF0000"/>
                </a:solidFill>
              </a:rPr>
              <a:t>Shows alternation of generations</a:t>
            </a:r>
          </a:p>
          <a:p>
            <a:pPr algn="ctr"/>
            <a:endParaRPr lang="en-GB" sz="2400" dirty="0">
              <a:solidFill>
                <a:srgbClr val="FF0000"/>
              </a:solidFill>
            </a:endParaRPr>
          </a:p>
          <a:p>
            <a:pPr algn="ctr"/>
            <a:r>
              <a:rPr lang="en-GB" sz="2400" dirty="0"/>
              <a:t>Distinct male and female structures</a:t>
            </a:r>
          </a:p>
          <a:p>
            <a:pPr algn="ctr"/>
            <a:r>
              <a:rPr lang="en-GB" sz="2400" i="1" dirty="0"/>
              <a:t>but </a:t>
            </a:r>
            <a:r>
              <a:rPr lang="en-GB" sz="2400" dirty="0"/>
              <a:t>non motile sperm (requires currents)</a:t>
            </a:r>
          </a:p>
        </p:txBody>
      </p:sp>
      <p:pic>
        <p:nvPicPr>
          <p:cNvPr id="6" name="Picture 5">
            <a:extLst>
              <a:ext uri="{FF2B5EF4-FFF2-40B4-BE49-F238E27FC236}">
                <a16:creationId xmlns:a16="http://schemas.microsoft.com/office/drawing/2014/main" id="{20696421-FB25-4F6C-9871-7BF54EBCA8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0685" y="261610"/>
            <a:ext cx="3759850" cy="6209449"/>
          </a:xfrm>
          <a:prstGeom prst="rect">
            <a:avLst/>
          </a:prstGeom>
        </p:spPr>
      </p:pic>
      <p:sp>
        <p:nvSpPr>
          <p:cNvPr id="7" name="TextBox 6">
            <a:extLst>
              <a:ext uri="{FF2B5EF4-FFF2-40B4-BE49-F238E27FC236}">
                <a16:creationId xmlns:a16="http://schemas.microsoft.com/office/drawing/2014/main" id="{2A9B10DF-F5BE-4C85-9E3D-FACBECEA0DD5}"/>
              </a:ext>
            </a:extLst>
          </p:cNvPr>
          <p:cNvSpPr txBox="1"/>
          <p:nvPr/>
        </p:nvSpPr>
        <p:spPr>
          <a:xfrm>
            <a:off x="1769369" y="5224120"/>
            <a:ext cx="6203221" cy="1107996"/>
          </a:xfrm>
          <a:prstGeom prst="rect">
            <a:avLst/>
          </a:prstGeom>
          <a:noFill/>
        </p:spPr>
        <p:txBody>
          <a:bodyPr wrap="square" rtlCol="0">
            <a:spAutoFit/>
          </a:bodyPr>
          <a:lstStyle/>
          <a:p>
            <a:pPr algn="ctr"/>
            <a:r>
              <a:rPr lang="en-GB" sz="2400" b="1" dirty="0"/>
              <a:t>Kathleen Drew </a:t>
            </a:r>
            <a:r>
              <a:rPr lang="en-GB" sz="2400" dirty="0"/>
              <a:t>– the Mother of the Sea</a:t>
            </a:r>
          </a:p>
          <a:p>
            <a:pPr algn="ctr"/>
            <a:r>
              <a:rPr lang="en-GB" sz="2400" dirty="0"/>
              <a:t>14</a:t>
            </a:r>
            <a:r>
              <a:rPr lang="en-GB" sz="2400" baseline="30000" dirty="0"/>
              <a:t>th</a:t>
            </a:r>
            <a:r>
              <a:rPr lang="en-GB" sz="2400" dirty="0"/>
              <a:t> April – Drew Festival</a:t>
            </a:r>
          </a:p>
          <a:p>
            <a:r>
              <a:rPr lang="en-GB" dirty="0"/>
              <a:t>See: </a:t>
            </a:r>
            <a:r>
              <a:rPr lang="en-GB" dirty="0">
                <a:hlinkClick r:id="rId6"/>
              </a:rPr>
              <a:t>https://en.wikipedia.org/wiki/Kathleen_Mary_Drew-Baker</a:t>
            </a:r>
            <a:endParaRPr lang="en-GB" dirty="0"/>
          </a:p>
        </p:txBody>
      </p:sp>
    </p:spTree>
    <p:extLst>
      <p:ext uri="{BB962C8B-B14F-4D97-AF65-F5344CB8AC3E}">
        <p14:creationId xmlns:p14="http://schemas.microsoft.com/office/powerpoint/2010/main" val="248284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122"/>
                                        </p:tgtEl>
                                        <p:attrNameLst>
                                          <p:attrName>style.visibility</p:attrName>
                                        </p:attrNameLst>
                                      </p:cBhvr>
                                      <p:to>
                                        <p:strVal val="visible"/>
                                      </p:to>
                                    </p:set>
                                    <p:animEffect transition="in" filter="fade">
                                      <p:cBhvr>
                                        <p:cTn id="25" dur="500"/>
                                        <p:tgtEl>
                                          <p:spTgt spid="512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par>
                                <p:cTn id="41" presetID="10"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19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8533" t="24789" r="18967" b="26600"/>
          <a:stretch/>
        </p:blipFill>
        <p:spPr bwMode="auto">
          <a:xfrm>
            <a:off x="3287688" y="1150925"/>
            <a:ext cx="5475446" cy="3992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3569990" y="5157193"/>
            <a:ext cx="5040560" cy="1169551"/>
          </a:xfrm>
          <a:prstGeom prst="rect">
            <a:avLst/>
          </a:prstGeom>
        </p:spPr>
        <p:txBody>
          <a:bodyPr wrap="square">
            <a:spAutoFit/>
          </a:bodyPr>
          <a:lstStyle/>
          <a:p>
            <a:pPr algn="ctr"/>
            <a:r>
              <a:rPr lang="en-GB" sz="1400" dirty="0">
                <a:hlinkClick r:id="rId3"/>
              </a:rPr>
              <a:t>https://learningonscreen.ac.uk/ondemand/index.php/clip/101274</a:t>
            </a:r>
            <a:endParaRPr lang="en-GB" sz="1400" dirty="0"/>
          </a:p>
          <a:p>
            <a:pPr algn="ctr"/>
            <a:r>
              <a:rPr lang="en-GB" sz="1400" dirty="0"/>
              <a:t>(6 mins)</a:t>
            </a:r>
          </a:p>
          <a:p>
            <a:pPr algn="ctr"/>
            <a:r>
              <a:rPr lang="en-GB" sz="1400" dirty="0"/>
              <a:t>“The First Forests”; full episode: </a:t>
            </a:r>
            <a:r>
              <a:rPr lang="en-GB" sz="1400" dirty="0">
                <a:hlinkClick r:id="rId4"/>
              </a:rPr>
              <a:t>https://learningonscreen.ac.uk/ondemand/index.php/prog/00016696?bcast=105732528</a:t>
            </a:r>
            <a:endParaRPr lang="en-GB" sz="1400" dirty="0"/>
          </a:p>
        </p:txBody>
      </p:sp>
      <p:sp>
        <p:nvSpPr>
          <p:cNvPr id="3" name="TextBox 2"/>
          <p:cNvSpPr txBox="1"/>
          <p:nvPr/>
        </p:nvSpPr>
        <p:spPr>
          <a:xfrm>
            <a:off x="1524001" y="29816"/>
            <a:ext cx="5430397" cy="461665"/>
          </a:xfrm>
          <a:prstGeom prst="rect">
            <a:avLst/>
          </a:prstGeom>
          <a:noFill/>
        </p:spPr>
        <p:txBody>
          <a:bodyPr wrap="none" rtlCol="0">
            <a:spAutoFit/>
          </a:bodyPr>
          <a:lstStyle/>
          <a:p>
            <a:r>
              <a:rPr lang="en-GB" sz="2400" dirty="0">
                <a:solidFill>
                  <a:srgbClr val="FF0000"/>
                </a:solidFill>
              </a:rPr>
              <a:t>David Attenborough and the move to land</a:t>
            </a:r>
          </a:p>
        </p:txBody>
      </p:sp>
      <p:pic>
        <p:nvPicPr>
          <p:cNvPr id="7172" name="Picture 4" descr="Life on Earth DVD cov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8881" y="1827967"/>
            <a:ext cx="1895475" cy="2638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34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299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le:Hornwort (3144429129).jpg"/>
          <p:cNvPicPr>
            <a:picLocks noChangeAspect="1" noChangeArrowheads="1"/>
          </p:cNvPicPr>
          <p:nvPr/>
        </p:nvPicPr>
        <p:blipFill rotWithShape="1">
          <a:blip r:embed="rId2">
            <a:extLst>
              <a:ext uri="{28A0092B-C50C-407E-A947-70E740481C1C}">
                <a14:useLocalDpi xmlns:a14="http://schemas.microsoft.com/office/drawing/2010/main" val="0"/>
              </a:ext>
            </a:extLst>
          </a:blip>
          <a:srcRect l="7304" t="12665" r="4423" b="12737"/>
          <a:stretch/>
        </p:blipFill>
        <p:spPr bwMode="auto">
          <a:xfrm>
            <a:off x="0" y="0"/>
            <a:ext cx="121805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2928704" y="2747237"/>
            <a:ext cx="6323115" cy="1363526"/>
          </a:xfrm>
          <a:prstGeom prst="rect">
            <a:avLst/>
          </a:prstGeom>
          <a:solidFill>
            <a:srgbClr val="B2B2B2">
              <a:alpha val="49804"/>
            </a:srgbClr>
          </a:solidFill>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5200" dirty="0">
                <a:solidFill>
                  <a:schemeClr val="bg1"/>
                </a:solidFill>
              </a:rPr>
              <a:t>Land Ahoy</a:t>
            </a:r>
            <a:endParaRPr lang="en-GB" sz="2000" dirty="0">
              <a:solidFill>
                <a:srgbClr val="FF0000"/>
              </a:solidFill>
            </a:endParaRPr>
          </a:p>
        </p:txBody>
      </p:sp>
      <p:sp>
        <p:nvSpPr>
          <p:cNvPr id="7" name="TextBox 6">
            <a:extLst>
              <a:ext uri="{FF2B5EF4-FFF2-40B4-BE49-F238E27FC236}">
                <a16:creationId xmlns:a16="http://schemas.microsoft.com/office/drawing/2014/main" id="{AE542C5B-3648-4144-A9F9-47CC2A721BA2}"/>
              </a:ext>
            </a:extLst>
          </p:cNvPr>
          <p:cNvSpPr txBox="1"/>
          <p:nvPr/>
        </p:nvSpPr>
        <p:spPr>
          <a:xfrm>
            <a:off x="7518400" y="6489701"/>
            <a:ext cx="4787900" cy="276999"/>
          </a:xfrm>
          <a:prstGeom prst="rect">
            <a:avLst/>
          </a:prstGeom>
          <a:noFill/>
        </p:spPr>
        <p:txBody>
          <a:bodyPr wrap="square">
            <a:spAutoFit/>
          </a:bodyPr>
          <a:lstStyle/>
          <a:p>
            <a:r>
              <a:rPr lang="en-GB" sz="1200" dirty="0">
                <a:solidFill>
                  <a:schemeClr val="bg1"/>
                </a:solidFill>
              </a:rPr>
              <a:t>Jason Hollinger / CC BY (https://creativecommons.org/licenses/by/2.0)</a:t>
            </a:r>
          </a:p>
        </p:txBody>
      </p:sp>
    </p:spTree>
    <p:extLst>
      <p:ext uri="{BB962C8B-B14F-4D97-AF65-F5344CB8AC3E}">
        <p14:creationId xmlns:p14="http://schemas.microsoft.com/office/powerpoint/2010/main" val="115946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upload.wikimedia.org/wikipedia/commons/thumb/7/77/Geologic_Clock_with_events_and_periods.svg/803px-Geologic_Clock_with_events_and_periods.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61288" y="504614"/>
            <a:ext cx="3150604" cy="3021128"/>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a:xfrm rot="2870826">
            <a:off x="8528417" y="591587"/>
            <a:ext cx="720080" cy="57606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0" y="0"/>
            <a:ext cx="3275856" cy="523220"/>
          </a:xfrm>
          <a:prstGeom prst="rect">
            <a:avLst/>
          </a:prstGeom>
          <a:noFill/>
        </p:spPr>
        <p:txBody>
          <a:bodyPr wrap="square" rtlCol="0">
            <a:spAutoFit/>
          </a:bodyPr>
          <a:lstStyle/>
          <a:p>
            <a:r>
              <a:rPr lang="en-GB" sz="2800" dirty="0">
                <a:solidFill>
                  <a:srgbClr val="FF0000"/>
                </a:solidFill>
              </a:rPr>
              <a:t>The first land plants</a:t>
            </a:r>
          </a:p>
        </p:txBody>
      </p:sp>
      <p:pic>
        <p:nvPicPr>
          <p:cNvPr id="6" name="Picture 2" descr="https://upload.wikimedia.org/wikipedia/commons/thumb/0/03/Oxygenation-atm-2.svg/840px-Oxygenation-atm-2.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7200" y="986051"/>
            <a:ext cx="5005064" cy="2442949"/>
          </a:xfrm>
          <a:prstGeom prst="rect">
            <a:avLst/>
          </a:prstGeom>
          <a:noFill/>
          <a:extLst>
            <a:ext uri="{909E8E84-426E-40DD-AFC4-6F175D3DCCD1}">
              <a14:hiddenFill xmlns:a14="http://schemas.microsoft.com/office/drawing/2010/main">
                <a:solidFill>
                  <a:srgbClr val="FFFFFF"/>
                </a:solidFill>
              </a14:hiddenFill>
            </a:ext>
          </a:extLst>
        </p:spPr>
      </p:pic>
      <p:sp>
        <p:nvSpPr>
          <p:cNvPr id="7" name="Right Arrow 6"/>
          <p:cNvSpPr/>
          <p:nvPr/>
        </p:nvSpPr>
        <p:spPr>
          <a:xfrm rot="5400000">
            <a:off x="6885632" y="1974342"/>
            <a:ext cx="720080" cy="57606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3536752" y="504615"/>
            <a:ext cx="4632550" cy="461665"/>
          </a:xfrm>
          <a:prstGeom prst="rect">
            <a:avLst/>
          </a:prstGeom>
          <a:noFill/>
        </p:spPr>
        <p:txBody>
          <a:bodyPr wrap="none" rtlCol="0">
            <a:spAutoFit/>
          </a:bodyPr>
          <a:lstStyle/>
          <a:p>
            <a:r>
              <a:rPr lang="en-GB" sz="2400" dirty="0"/>
              <a:t>Plants colonised land ~500 </a:t>
            </a:r>
            <a:r>
              <a:rPr lang="en-GB" sz="2400" dirty="0" err="1"/>
              <a:t>MYa</a:t>
            </a:r>
            <a:r>
              <a:rPr lang="en-GB" sz="2400" dirty="0"/>
              <a:t> ago</a:t>
            </a:r>
          </a:p>
        </p:txBody>
      </p:sp>
      <p:sp>
        <p:nvSpPr>
          <p:cNvPr id="9" name="TextBox 8"/>
          <p:cNvSpPr txBox="1"/>
          <p:nvPr/>
        </p:nvSpPr>
        <p:spPr>
          <a:xfrm>
            <a:off x="3176712" y="3429000"/>
            <a:ext cx="5400600" cy="2031325"/>
          </a:xfrm>
          <a:prstGeom prst="rect">
            <a:avLst/>
          </a:prstGeom>
          <a:noFill/>
        </p:spPr>
        <p:txBody>
          <a:bodyPr wrap="square" rtlCol="0">
            <a:spAutoFit/>
          </a:bodyPr>
          <a:lstStyle/>
          <a:p>
            <a:pPr algn="ctr"/>
            <a:r>
              <a:rPr lang="en-GB" sz="2400" dirty="0"/>
              <a:t>Coincided with (followed? caused?) increased O</a:t>
            </a:r>
            <a:r>
              <a:rPr lang="en-GB" sz="2400" baseline="-25000" dirty="0"/>
              <a:t>2</a:t>
            </a:r>
            <a:r>
              <a:rPr lang="en-GB" sz="2400" dirty="0"/>
              <a:t> in atmosphere</a:t>
            </a:r>
          </a:p>
          <a:p>
            <a:pPr algn="ctr"/>
            <a:r>
              <a:rPr lang="en-GB" sz="2400" dirty="0"/>
              <a:t>Followed on from the </a:t>
            </a:r>
            <a:r>
              <a:rPr lang="en-GB" sz="2400" dirty="0">
                <a:solidFill>
                  <a:srgbClr val="FF0000"/>
                </a:solidFill>
              </a:rPr>
              <a:t>Cambrian Explosion </a:t>
            </a:r>
          </a:p>
          <a:p>
            <a:pPr algn="ctr"/>
            <a:r>
              <a:rPr lang="en-GB" dirty="0"/>
              <a:t>(caused by algae? </a:t>
            </a:r>
            <a:r>
              <a:rPr lang="en-GB" dirty="0">
                <a:hlinkClick r:id="rId4"/>
              </a:rPr>
              <a:t>See: http://www.bbc.co.uk/news/science-environment-40948972</a:t>
            </a:r>
            <a:r>
              <a:rPr lang="en-GB" dirty="0"/>
              <a:t>)</a:t>
            </a:r>
          </a:p>
        </p:txBody>
      </p:sp>
      <p:sp>
        <p:nvSpPr>
          <p:cNvPr id="10" name="TextBox 9"/>
          <p:cNvSpPr txBox="1"/>
          <p:nvPr/>
        </p:nvSpPr>
        <p:spPr>
          <a:xfrm>
            <a:off x="1511660" y="5553773"/>
            <a:ext cx="3528392" cy="954107"/>
          </a:xfrm>
          <a:prstGeom prst="rect">
            <a:avLst/>
          </a:prstGeom>
          <a:noFill/>
        </p:spPr>
        <p:txBody>
          <a:bodyPr wrap="square" rtlCol="0">
            <a:spAutoFit/>
          </a:bodyPr>
          <a:lstStyle/>
          <a:p>
            <a:pPr algn="ctr"/>
            <a:r>
              <a:rPr lang="en-GB" sz="2800" dirty="0"/>
              <a:t>Advantages: </a:t>
            </a:r>
          </a:p>
          <a:p>
            <a:pPr algn="ctr"/>
            <a:r>
              <a:rPr lang="en-GB" sz="2800" dirty="0">
                <a:solidFill>
                  <a:srgbClr val="FF0000"/>
                </a:solidFill>
              </a:rPr>
              <a:t>New space; Higher CO</a:t>
            </a:r>
            <a:r>
              <a:rPr lang="en-GB" sz="2800" baseline="-25000" dirty="0">
                <a:solidFill>
                  <a:srgbClr val="FF0000"/>
                </a:solidFill>
              </a:rPr>
              <a:t>2</a:t>
            </a:r>
          </a:p>
        </p:txBody>
      </p:sp>
      <p:sp>
        <p:nvSpPr>
          <p:cNvPr id="11" name="TextBox 10"/>
          <p:cNvSpPr txBox="1"/>
          <p:nvPr/>
        </p:nvSpPr>
        <p:spPr>
          <a:xfrm>
            <a:off x="6531568" y="5614903"/>
            <a:ext cx="4277902" cy="954107"/>
          </a:xfrm>
          <a:prstGeom prst="rect">
            <a:avLst/>
          </a:prstGeom>
          <a:noFill/>
        </p:spPr>
        <p:txBody>
          <a:bodyPr wrap="none" rtlCol="0">
            <a:spAutoFit/>
          </a:bodyPr>
          <a:lstStyle/>
          <a:p>
            <a:pPr algn="ctr"/>
            <a:r>
              <a:rPr lang="en-GB" sz="2800" dirty="0"/>
              <a:t>Disadvantages: </a:t>
            </a:r>
          </a:p>
          <a:p>
            <a:pPr algn="ctr"/>
            <a:r>
              <a:rPr lang="en-GB" sz="2800" dirty="0">
                <a:solidFill>
                  <a:srgbClr val="FF0000"/>
                </a:solidFill>
              </a:rPr>
              <a:t>Lack of water; Reproduction</a:t>
            </a:r>
            <a:endParaRPr lang="en-GB" sz="2800" baseline="-25000" dirty="0">
              <a:solidFill>
                <a:srgbClr val="FF0000"/>
              </a:solidFill>
            </a:endParaRPr>
          </a:p>
        </p:txBody>
      </p:sp>
    </p:spTree>
    <p:extLst>
      <p:ext uri="{BB962C8B-B14F-4D97-AF65-F5344CB8AC3E}">
        <p14:creationId xmlns:p14="http://schemas.microsoft.com/office/powerpoint/2010/main" val="90603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9815"/>
            <a:ext cx="2125838" cy="461665"/>
          </a:xfrm>
          <a:prstGeom prst="rect">
            <a:avLst/>
          </a:prstGeom>
          <a:noFill/>
        </p:spPr>
        <p:txBody>
          <a:bodyPr wrap="none" rtlCol="0">
            <a:spAutoFit/>
          </a:bodyPr>
          <a:lstStyle/>
          <a:p>
            <a:r>
              <a:rPr lang="en-GB" sz="2400" dirty="0">
                <a:solidFill>
                  <a:srgbClr val="FF0000"/>
                </a:solidFill>
              </a:rPr>
              <a:t>The Bryophytes</a:t>
            </a:r>
            <a:endParaRPr lang="en-GB" dirty="0">
              <a:solidFill>
                <a:srgbClr val="FF0000"/>
              </a:solidFill>
            </a:endParaRPr>
          </a:p>
        </p:txBody>
      </p:sp>
      <p:cxnSp>
        <p:nvCxnSpPr>
          <p:cNvPr id="4" name="Straight Connector 3"/>
          <p:cNvCxnSpPr/>
          <p:nvPr/>
        </p:nvCxnSpPr>
        <p:spPr>
          <a:xfrm>
            <a:off x="7141468" y="897880"/>
            <a:ext cx="0" cy="41724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765204" y="1315120"/>
            <a:ext cx="460851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65204" y="1315120"/>
            <a:ext cx="0" cy="7200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373716" y="1315120"/>
            <a:ext cx="0" cy="7200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415450" y="2035200"/>
            <a:ext cx="332641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0750164" y="2035200"/>
            <a:ext cx="0" cy="7200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415013" y="2042234"/>
            <a:ext cx="0" cy="720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018557" y="1940610"/>
            <a:ext cx="1493294" cy="461665"/>
          </a:xfrm>
          <a:prstGeom prst="rect">
            <a:avLst/>
          </a:prstGeom>
          <a:noFill/>
        </p:spPr>
        <p:txBody>
          <a:bodyPr wrap="none" rtlCol="0">
            <a:spAutoFit/>
          </a:bodyPr>
          <a:lstStyle/>
          <a:p>
            <a:r>
              <a:rPr lang="en-GB" sz="2400" dirty="0"/>
              <a:t>Liverworts</a:t>
            </a:r>
            <a:endParaRPr lang="en-GB" dirty="0"/>
          </a:p>
        </p:txBody>
      </p:sp>
      <p:sp>
        <p:nvSpPr>
          <p:cNvPr id="15" name="TextBox 14"/>
          <p:cNvSpPr txBox="1"/>
          <p:nvPr/>
        </p:nvSpPr>
        <p:spPr>
          <a:xfrm>
            <a:off x="6853436" y="2769262"/>
            <a:ext cx="1124026" cy="461665"/>
          </a:xfrm>
          <a:prstGeom prst="rect">
            <a:avLst/>
          </a:prstGeom>
          <a:noFill/>
        </p:spPr>
        <p:txBody>
          <a:bodyPr wrap="none" rtlCol="0">
            <a:spAutoFit/>
          </a:bodyPr>
          <a:lstStyle/>
          <a:p>
            <a:r>
              <a:rPr lang="en-GB" sz="2400" dirty="0"/>
              <a:t>Mosses</a:t>
            </a:r>
          </a:p>
        </p:txBody>
      </p:sp>
      <p:sp>
        <p:nvSpPr>
          <p:cNvPr id="17" name="TextBox 16"/>
          <p:cNvSpPr txBox="1"/>
          <p:nvPr/>
        </p:nvSpPr>
        <p:spPr>
          <a:xfrm>
            <a:off x="9984385" y="2775393"/>
            <a:ext cx="1514967" cy="461665"/>
          </a:xfrm>
          <a:prstGeom prst="rect">
            <a:avLst/>
          </a:prstGeom>
          <a:noFill/>
        </p:spPr>
        <p:txBody>
          <a:bodyPr wrap="none" rtlCol="0">
            <a:spAutoFit/>
          </a:bodyPr>
          <a:lstStyle/>
          <a:p>
            <a:r>
              <a:rPr lang="en-GB" sz="2400" dirty="0"/>
              <a:t>Hornworts</a:t>
            </a:r>
          </a:p>
        </p:txBody>
      </p:sp>
      <p:pic>
        <p:nvPicPr>
          <p:cNvPr id="8194" name="Picture 2" descr="https://upload.wikimedia.org/wikipedia/commons/thumb/2/2e/Thallose_liverwort_%28Marchantia_and_Lunularia_spp.%29_showing_clonal_plantlets_in_gemma_cups.jpg/1280px-Thallose_liverwort_%28Marchantia_and_Lunularia_spp.%29_showing_clonal_plantlets_in_gemma_cup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10779" y="2380999"/>
            <a:ext cx="2708851" cy="1712116"/>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3167867" y="4093115"/>
            <a:ext cx="3194671" cy="338554"/>
          </a:xfrm>
          <a:prstGeom prst="rect">
            <a:avLst/>
          </a:prstGeom>
        </p:spPr>
        <p:txBody>
          <a:bodyPr wrap="square">
            <a:spAutoFit/>
          </a:bodyPr>
          <a:lstStyle/>
          <a:p>
            <a:pPr algn="ctr"/>
            <a:r>
              <a:rPr lang="en-GB" sz="800" dirty="0"/>
              <a:t>By Avenue - Own work, GFDL, https://commons.wikimedia.org/w/index.php?curid=14927536</a:t>
            </a:r>
          </a:p>
        </p:txBody>
      </p:sp>
      <p:pic>
        <p:nvPicPr>
          <p:cNvPr id="8196" name="Picture 4" descr="https://upload.wikimedia.org/wikipedia/commons/thumb/3/3b/Bryophyte_sp_Moss_3.jpg/1280px-Bryophyte_sp_Moss_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5364" y="3190659"/>
            <a:ext cx="2481906" cy="1860837"/>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5160317" y="5051343"/>
            <a:ext cx="4572000" cy="338554"/>
          </a:xfrm>
          <a:prstGeom prst="rect">
            <a:avLst/>
          </a:prstGeom>
        </p:spPr>
        <p:txBody>
          <a:bodyPr>
            <a:spAutoFit/>
          </a:bodyPr>
          <a:lstStyle/>
          <a:p>
            <a:pPr algn="ctr"/>
            <a:r>
              <a:rPr lang="en-GB" sz="800" dirty="0"/>
              <a:t>By Rippey574 at English Wikipedia, CC BY 3.0, https://commons.wikimedia.org/w/index.php?curid=53304226</a:t>
            </a:r>
          </a:p>
        </p:txBody>
      </p:sp>
      <p:pic>
        <p:nvPicPr>
          <p:cNvPr id="8198" name="Picture 6" descr="https://upload.wikimedia.org/wikipedia/commons/thumb/d/d1/Hornwort_%283144429129%29.jpg/1280px-Hornwort_%283144429129%29.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296" r="15884" b="16980"/>
          <a:stretch/>
        </p:blipFill>
        <p:spPr bwMode="auto">
          <a:xfrm>
            <a:off x="9385642" y="3190659"/>
            <a:ext cx="2436346" cy="1881506"/>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p:cNvSpPr/>
          <p:nvPr/>
        </p:nvSpPr>
        <p:spPr>
          <a:xfrm>
            <a:off x="8644833" y="5046800"/>
            <a:ext cx="3917965" cy="338554"/>
          </a:xfrm>
          <a:prstGeom prst="rect">
            <a:avLst/>
          </a:prstGeom>
        </p:spPr>
        <p:txBody>
          <a:bodyPr wrap="square">
            <a:spAutoFit/>
          </a:bodyPr>
          <a:lstStyle/>
          <a:p>
            <a:pPr algn="ctr"/>
            <a:r>
              <a:rPr lang="en-GB" sz="800" dirty="0"/>
              <a:t>By Jason Hollinger - CC BY 2.0, https://commons.wikimedia.org/w/index.php?curid=24215929</a:t>
            </a:r>
          </a:p>
        </p:txBody>
      </p:sp>
      <p:cxnSp>
        <p:nvCxnSpPr>
          <p:cNvPr id="26" name="Straight Connector 25"/>
          <p:cNvCxnSpPr/>
          <p:nvPr/>
        </p:nvCxnSpPr>
        <p:spPr>
          <a:xfrm>
            <a:off x="10750164" y="5389897"/>
            <a:ext cx="0" cy="720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732318" y="6124848"/>
            <a:ext cx="2054601" cy="461665"/>
          </a:xfrm>
          <a:prstGeom prst="rect">
            <a:avLst/>
          </a:prstGeom>
          <a:noFill/>
        </p:spPr>
        <p:txBody>
          <a:bodyPr wrap="none" rtlCol="0">
            <a:spAutoFit/>
          </a:bodyPr>
          <a:lstStyle/>
          <a:p>
            <a:r>
              <a:rPr lang="en-GB" sz="2400" dirty="0"/>
              <a:t>Vascular Plants</a:t>
            </a:r>
          </a:p>
        </p:txBody>
      </p:sp>
      <p:sp>
        <p:nvSpPr>
          <p:cNvPr id="24" name="TextBox 23"/>
          <p:cNvSpPr txBox="1"/>
          <p:nvPr/>
        </p:nvSpPr>
        <p:spPr>
          <a:xfrm>
            <a:off x="8341584" y="5601781"/>
            <a:ext cx="2418034" cy="369332"/>
          </a:xfrm>
          <a:prstGeom prst="rect">
            <a:avLst/>
          </a:prstGeom>
          <a:noFill/>
        </p:spPr>
        <p:txBody>
          <a:bodyPr wrap="none" rtlCol="0">
            <a:spAutoFit/>
          </a:bodyPr>
          <a:lstStyle/>
          <a:p>
            <a:r>
              <a:rPr lang="en-GB" dirty="0" err="1"/>
              <a:t>n.b.</a:t>
            </a:r>
            <a:r>
              <a:rPr lang="en-GB" dirty="0"/>
              <a:t> This is controversial</a:t>
            </a:r>
          </a:p>
        </p:txBody>
      </p:sp>
    </p:spTree>
    <p:extLst>
      <p:ext uri="{BB962C8B-B14F-4D97-AF65-F5344CB8AC3E}">
        <p14:creationId xmlns:p14="http://schemas.microsoft.com/office/powerpoint/2010/main" val="2612781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8194"/>
                                        </p:tgtEl>
                                        <p:attrNameLst>
                                          <p:attrName>style.visibility</p:attrName>
                                        </p:attrNameLst>
                                      </p:cBhvr>
                                      <p:to>
                                        <p:strVal val="visible"/>
                                      </p:to>
                                    </p:set>
                                    <p:animEffect transition="in" filter="fade">
                                      <p:cBhvr>
                                        <p:cTn id="24" dur="500"/>
                                        <p:tgtEl>
                                          <p:spTgt spid="819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8196"/>
                                        </p:tgtEl>
                                        <p:attrNameLst>
                                          <p:attrName>style.visibility</p:attrName>
                                        </p:attrNameLst>
                                      </p:cBhvr>
                                      <p:to>
                                        <p:strVal val="visible"/>
                                      </p:to>
                                    </p:set>
                                    <p:animEffect transition="in" filter="fade">
                                      <p:cBhvr>
                                        <p:cTn id="47" dur="500"/>
                                        <p:tgtEl>
                                          <p:spTgt spid="8196"/>
                                        </p:tgtEl>
                                      </p:cBhvr>
                                    </p:animEffect>
                                  </p:childTnLst>
                                </p:cTn>
                              </p:par>
                              <p:par>
                                <p:cTn id="48" presetID="10" presetClass="entr" presetSubtype="0" fill="hold" nodeType="withEffect">
                                  <p:stCondLst>
                                    <p:cond delay="0"/>
                                  </p:stCondLst>
                                  <p:childTnLst>
                                    <p:set>
                                      <p:cBhvr>
                                        <p:cTn id="49" dur="1" fill="hold">
                                          <p:stCondLst>
                                            <p:cond delay="0"/>
                                          </p:stCondLst>
                                        </p:cTn>
                                        <p:tgtEl>
                                          <p:spTgt spid="8198"/>
                                        </p:tgtEl>
                                        <p:attrNameLst>
                                          <p:attrName>style.visibility</p:attrName>
                                        </p:attrNameLst>
                                      </p:cBhvr>
                                      <p:to>
                                        <p:strVal val="visible"/>
                                      </p:to>
                                    </p:set>
                                    <p:animEffect transition="in" filter="fade">
                                      <p:cBhvr>
                                        <p:cTn id="50" dur="500"/>
                                        <p:tgtEl>
                                          <p:spTgt spid="819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18" grpId="0"/>
      <p:bldP spid="21" grpId="0"/>
      <p:bldP spid="22" grpId="0"/>
      <p:bldP spid="23"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aeckel Hepatica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95657" y="354964"/>
            <a:ext cx="2359097" cy="330192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Marchanti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6956" y="540204"/>
            <a:ext cx="3487296" cy="269829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071576" y="3243189"/>
            <a:ext cx="2520280" cy="584775"/>
          </a:xfrm>
          <a:prstGeom prst="rect">
            <a:avLst/>
          </a:prstGeom>
          <a:noFill/>
        </p:spPr>
        <p:txBody>
          <a:bodyPr wrap="square" rtlCol="0">
            <a:spAutoFit/>
          </a:bodyPr>
          <a:lstStyle/>
          <a:p>
            <a:pPr algn="ctr"/>
            <a:r>
              <a:rPr lang="en-GB" i="1" dirty="0" err="1"/>
              <a:t>Marchantia</a:t>
            </a:r>
            <a:r>
              <a:rPr lang="en-GB" i="1" dirty="0"/>
              <a:t> </a:t>
            </a:r>
            <a:r>
              <a:rPr lang="en-GB" i="1" dirty="0" err="1"/>
              <a:t>polymorpha</a:t>
            </a:r>
            <a:endParaRPr lang="en-GB" i="1" dirty="0"/>
          </a:p>
          <a:p>
            <a:pPr algn="ctr"/>
            <a:r>
              <a:rPr lang="en-GB" sz="700" i="1" dirty="0"/>
              <a:t>By J.F </a:t>
            </a:r>
            <a:r>
              <a:rPr lang="en-GB" sz="700" i="1" dirty="0" err="1"/>
              <a:t>Gaffard</a:t>
            </a:r>
            <a:r>
              <a:rPr lang="en-GB" sz="700" i="1" dirty="0"/>
              <a:t> CC BY-SA 3.0, https://commons.wikimedia.org/w/index.php?curid=1666055</a:t>
            </a:r>
          </a:p>
        </p:txBody>
      </p:sp>
      <p:sp>
        <p:nvSpPr>
          <p:cNvPr id="3" name="TextBox 2"/>
          <p:cNvSpPr txBox="1"/>
          <p:nvPr/>
        </p:nvSpPr>
        <p:spPr>
          <a:xfrm>
            <a:off x="6143328" y="3816444"/>
            <a:ext cx="6048672" cy="3477875"/>
          </a:xfrm>
          <a:prstGeom prst="rect">
            <a:avLst/>
          </a:prstGeom>
          <a:noFill/>
        </p:spPr>
        <p:txBody>
          <a:bodyPr wrap="square" rtlCol="0">
            <a:spAutoFit/>
          </a:bodyPr>
          <a:lstStyle/>
          <a:p>
            <a:r>
              <a:rPr lang="en-GB" sz="2000" dirty="0"/>
              <a:t>Dominant gametophyte - may grows as a plate -</a:t>
            </a:r>
            <a:r>
              <a:rPr lang="en-GB" sz="2000" dirty="0" err="1">
                <a:solidFill>
                  <a:srgbClr val="FF0000"/>
                </a:solidFill>
              </a:rPr>
              <a:t>thalloid</a:t>
            </a:r>
            <a:endParaRPr lang="en-GB" sz="2000" dirty="0">
              <a:solidFill>
                <a:srgbClr val="FF0000"/>
              </a:solidFill>
            </a:endParaRPr>
          </a:p>
          <a:p>
            <a:pPr algn="ctr"/>
            <a:r>
              <a:rPr lang="en-GB" sz="2000" dirty="0"/>
              <a:t>Or may be “</a:t>
            </a:r>
            <a:r>
              <a:rPr lang="en-GB" sz="2000" dirty="0">
                <a:solidFill>
                  <a:srgbClr val="FF0000"/>
                </a:solidFill>
              </a:rPr>
              <a:t>leafy</a:t>
            </a:r>
            <a:r>
              <a:rPr lang="en-GB" sz="2000" dirty="0"/>
              <a:t>”</a:t>
            </a:r>
          </a:p>
          <a:p>
            <a:pPr algn="ctr"/>
            <a:r>
              <a:rPr lang="en-GB" sz="2000" dirty="0"/>
              <a:t>Specialised cells, not all photosynthetic</a:t>
            </a:r>
          </a:p>
          <a:p>
            <a:pPr algn="ctr"/>
            <a:r>
              <a:rPr lang="en-GB" sz="2000" dirty="0"/>
              <a:t>Rhizoids grow down and absorb water</a:t>
            </a:r>
          </a:p>
          <a:p>
            <a:pPr algn="ctr"/>
            <a:r>
              <a:rPr lang="en-GB" sz="2000" dirty="0"/>
              <a:t>Primitive water transport</a:t>
            </a:r>
          </a:p>
          <a:p>
            <a:pPr algn="ctr"/>
            <a:r>
              <a:rPr lang="en-GB" sz="2000" dirty="0"/>
              <a:t>Gametophores grow up – male vs female</a:t>
            </a:r>
          </a:p>
          <a:p>
            <a:pPr algn="ctr"/>
            <a:r>
              <a:rPr lang="en-GB" sz="2000" dirty="0"/>
              <a:t>Sperm </a:t>
            </a:r>
            <a:r>
              <a:rPr lang="en-GB" sz="2000" i="1" dirty="0"/>
              <a:t>swim </a:t>
            </a:r>
            <a:r>
              <a:rPr lang="en-GB" sz="2000" dirty="0"/>
              <a:t>from male gametophores (from antheridia) to female ones (to archegonia)</a:t>
            </a:r>
          </a:p>
          <a:p>
            <a:pPr algn="ctr"/>
            <a:r>
              <a:rPr lang="en-GB" sz="2000" dirty="0"/>
              <a:t>Sporophyte </a:t>
            </a:r>
            <a:r>
              <a:rPr lang="en-GB" sz="2000" i="1" dirty="0"/>
              <a:t>grows on</a:t>
            </a:r>
            <a:r>
              <a:rPr lang="en-GB" sz="2000" dirty="0"/>
              <a:t> gametophore</a:t>
            </a:r>
          </a:p>
          <a:p>
            <a:pPr algn="ctr"/>
            <a:endParaRPr lang="en-GB" sz="2000" dirty="0"/>
          </a:p>
          <a:p>
            <a:pPr algn="ctr"/>
            <a:endParaRPr lang="en-GB" sz="2000" dirty="0"/>
          </a:p>
        </p:txBody>
      </p:sp>
      <p:sp>
        <p:nvSpPr>
          <p:cNvPr id="4" name="TextBox 3"/>
          <p:cNvSpPr txBox="1"/>
          <p:nvPr/>
        </p:nvSpPr>
        <p:spPr>
          <a:xfrm>
            <a:off x="62754" y="0"/>
            <a:ext cx="1493294" cy="461665"/>
          </a:xfrm>
          <a:prstGeom prst="rect">
            <a:avLst/>
          </a:prstGeom>
          <a:noFill/>
        </p:spPr>
        <p:txBody>
          <a:bodyPr wrap="none" rtlCol="0">
            <a:spAutoFit/>
          </a:bodyPr>
          <a:lstStyle/>
          <a:p>
            <a:r>
              <a:rPr lang="en-GB" sz="2400" dirty="0">
                <a:solidFill>
                  <a:srgbClr val="FF0000"/>
                </a:solidFill>
              </a:rPr>
              <a:t>Liverworts</a:t>
            </a:r>
          </a:p>
        </p:txBody>
      </p:sp>
      <p:pic>
        <p:nvPicPr>
          <p:cNvPr id="10246" name="Picture 6" descr="https://upload.wikimedia.org/wikipedia/commons/thumb/f/fc/Marchantia_polymorpha_%28e%2C_145315-481415%29_8357.JPG/1280px-Marchantia_polymorpha_%28e%2C_145315-481415%29_835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1568" y="4643490"/>
            <a:ext cx="2698680" cy="2024010"/>
          </a:xfrm>
          <a:prstGeom prst="rect">
            <a:avLst/>
          </a:prstGeom>
          <a:noFill/>
          <a:extLst>
            <a:ext uri="{909E8E84-426E-40DD-AFC4-6F175D3DCCD1}">
              <a14:hiddenFill xmlns:a14="http://schemas.microsoft.com/office/drawing/2010/main">
                <a:solidFill>
                  <a:srgbClr val="FFFFFF"/>
                </a:solidFill>
              </a14:hiddenFill>
            </a:ext>
          </a:extLst>
        </p:spPr>
      </p:pic>
      <p:sp>
        <p:nvSpPr>
          <p:cNvPr id="5" name="Left Arrow 4"/>
          <p:cNvSpPr/>
          <p:nvPr/>
        </p:nvSpPr>
        <p:spPr>
          <a:xfrm>
            <a:off x="5783289" y="5902797"/>
            <a:ext cx="567863" cy="383283"/>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eft Arrow 8"/>
          <p:cNvSpPr/>
          <p:nvPr/>
        </p:nvSpPr>
        <p:spPr>
          <a:xfrm>
            <a:off x="6215337" y="1318667"/>
            <a:ext cx="567863" cy="383283"/>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5761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fade">
                                      <p:cBhvr>
                                        <p:cTn id="7" dur="500"/>
                                        <p:tgtEl>
                                          <p:spTgt spid="102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242"/>
                                        </p:tgtEl>
                                        <p:attrNameLst>
                                          <p:attrName>style.visibility</p:attrName>
                                        </p:attrNameLst>
                                      </p:cBhvr>
                                      <p:to>
                                        <p:strVal val="visible"/>
                                      </p:to>
                                    </p:set>
                                    <p:animEffect transition="in" filter="fade">
                                      <p:cBhvr>
                                        <p:cTn id="23" dur="500"/>
                                        <p:tgtEl>
                                          <p:spTgt spid="1024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0246"/>
                                        </p:tgtEl>
                                        <p:attrNameLst>
                                          <p:attrName>style.visibility</p:attrName>
                                        </p:attrNameLst>
                                      </p:cBhvr>
                                      <p:to>
                                        <p:strVal val="visible"/>
                                      </p:to>
                                    </p:set>
                                    <p:animEffect transition="in" filter="fade">
                                      <p:cBhvr>
                                        <p:cTn id="36" dur="500"/>
                                        <p:tgtEl>
                                          <p:spTgt spid="1024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animEffect transition="in" filter="fade">
                                      <p:cBhvr>
                                        <p:cTn id="44" dur="500"/>
                                        <p:tgtEl>
                                          <p:spTgt spid="3">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Effect transition="in" filter="fade">
                                      <p:cBhvr>
                                        <p:cTn id="57" dur="500"/>
                                        <p:tgtEl>
                                          <p:spTgt spid="3">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5"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849913" cy="461665"/>
          </a:xfrm>
          <a:prstGeom prst="rect">
            <a:avLst/>
          </a:prstGeom>
          <a:noFill/>
        </p:spPr>
        <p:txBody>
          <a:bodyPr wrap="none" rtlCol="0">
            <a:spAutoFit/>
          </a:bodyPr>
          <a:lstStyle/>
          <a:p>
            <a:r>
              <a:rPr lang="en-GB" sz="2400" dirty="0">
                <a:solidFill>
                  <a:srgbClr val="FF0000"/>
                </a:solidFill>
              </a:rPr>
              <a:t>Moss</a:t>
            </a:r>
          </a:p>
        </p:txBody>
      </p:sp>
      <p:pic>
        <p:nvPicPr>
          <p:cNvPr id="11266" name="Picture 2" descr="Sphagnum.flexuosu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8341" y="230832"/>
            <a:ext cx="3365303" cy="22400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446815" y="2491392"/>
            <a:ext cx="3168352" cy="584775"/>
          </a:xfrm>
          <a:prstGeom prst="rect">
            <a:avLst/>
          </a:prstGeom>
          <a:noFill/>
        </p:spPr>
        <p:txBody>
          <a:bodyPr wrap="square" rtlCol="0">
            <a:spAutoFit/>
          </a:bodyPr>
          <a:lstStyle/>
          <a:p>
            <a:pPr algn="ctr"/>
            <a:r>
              <a:rPr lang="en-GB" sz="1600" i="1" dirty="0"/>
              <a:t>Sphagnum </a:t>
            </a:r>
            <a:r>
              <a:rPr lang="en-GB" sz="1600" i="1" dirty="0" err="1"/>
              <a:t>flexuosum</a:t>
            </a:r>
            <a:endParaRPr lang="en-GB" sz="1600" i="1" dirty="0"/>
          </a:p>
          <a:p>
            <a:pPr algn="ctr"/>
            <a:r>
              <a:rPr lang="en-GB" sz="800" dirty="0"/>
              <a:t>By James Lindsey at Ecology of </a:t>
            </a:r>
            <a:r>
              <a:rPr lang="en-GB" sz="800" dirty="0" err="1"/>
              <a:t>Commanster</a:t>
            </a:r>
            <a:r>
              <a:rPr lang="en-GB" sz="800" dirty="0"/>
              <a:t>, CC BY-SA 3.0, https://commons.wikimedia.org/w/index.php?curid=1718182</a:t>
            </a:r>
          </a:p>
        </p:txBody>
      </p:sp>
      <p:sp>
        <p:nvSpPr>
          <p:cNvPr id="4" name="TextBox 3"/>
          <p:cNvSpPr txBox="1"/>
          <p:nvPr/>
        </p:nvSpPr>
        <p:spPr>
          <a:xfrm>
            <a:off x="3551952" y="518864"/>
            <a:ext cx="4681153" cy="2862322"/>
          </a:xfrm>
          <a:prstGeom prst="rect">
            <a:avLst/>
          </a:prstGeom>
          <a:noFill/>
        </p:spPr>
        <p:txBody>
          <a:bodyPr wrap="none" rtlCol="0">
            <a:spAutoFit/>
          </a:bodyPr>
          <a:lstStyle/>
          <a:p>
            <a:pPr algn="ctr"/>
            <a:r>
              <a:rPr lang="en-GB" sz="2000" dirty="0"/>
              <a:t>More complex structure</a:t>
            </a:r>
          </a:p>
          <a:p>
            <a:pPr algn="ctr"/>
            <a:r>
              <a:rPr lang="en-GB" sz="2000" dirty="0"/>
              <a:t>“Leaves” arranged in spirals</a:t>
            </a:r>
          </a:p>
          <a:p>
            <a:pPr algn="ctr"/>
            <a:r>
              <a:rPr lang="en-GB" sz="2000" dirty="0"/>
              <a:t>May have extensive branching</a:t>
            </a:r>
          </a:p>
          <a:p>
            <a:pPr algn="ctr"/>
            <a:r>
              <a:rPr lang="en-GB" sz="2000" dirty="0"/>
              <a:t>Simple water conducting tissues</a:t>
            </a:r>
          </a:p>
          <a:p>
            <a:pPr algn="ctr"/>
            <a:r>
              <a:rPr lang="en-GB" sz="2000" dirty="0"/>
              <a:t>Maybe </a:t>
            </a:r>
            <a:r>
              <a:rPr lang="en-GB" sz="2000" dirty="0" err="1"/>
              <a:t>ombrotrophic</a:t>
            </a:r>
            <a:br>
              <a:rPr lang="en-GB" sz="2000" dirty="0"/>
            </a:br>
            <a:r>
              <a:rPr lang="en-GB" sz="2000" dirty="0"/>
              <a:t>(nutrients from rain water)…</a:t>
            </a:r>
          </a:p>
          <a:p>
            <a:pPr algn="ctr"/>
            <a:r>
              <a:rPr lang="en-GB" sz="2000" dirty="0"/>
              <a:t>…so mat forming</a:t>
            </a:r>
          </a:p>
          <a:p>
            <a:pPr algn="ctr"/>
            <a:endParaRPr lang="en-GB" sz="2000" dirty="0"/>
          </a:p>
          <a:p>
            <a:pPr algn="ctr"/>
            <a:r>
              <a:rPr lang="en-GB" sz="2000" dirty="0"/>
              <a:t>Sporophyte grows well above gametophyte</a:t>
            </a:r>
          </a:p>
        </p:txBody>
      </p:sp>
      <p:pic>
        <p:nvPicPr>
          <p:cNvPr id="11268" name="Picture 4" descr="Image result for sphagnum hummoc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66795" y="3183160"/>
            <a:ext cx="3528392" cy="263949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801760" y="5812154"/>
            <a:ext cx="4572000" cy="707886"/>
          </a:xfrm>
          <a:prstGeom prst="rect">
            <a:avLst/>
          </a:prstGeom>
        </p:spPr>
        <p:txBody>
          <a:bodyPr>
            <a:spAutoFit/>
          </a:bodyPr>
          <a:lstStyle/>
          <a:p>
            <a:pPr algn="ctr"/>
            <a:r>
              <a:rPr lang="en-GB" i="1" dirty="0"/>
              <a:t>Sphagnum</a:t>
            </a:r>
            <a:r>
              <a:rPr lang="en-GB" dirty="0"/>
              <a:t> hummocks</a:t>
            </a:r>
          </a:p>
          <a:p>
            <a:pPr algn="ctr"/>
            <a:r>
              <a:rPr lang="en-GB" sz="1050" dirty="0"/>
              <a:t>By Rosser1954 (Own work) [CC BY-SA 3.0 (http://creativecommons.org/licenses/by-sa/3.0)], via Wikimedia Commons</a:t>
            </a:r>
          </a:p>
        </p:txBody>
      </p:sp>
      <p:pic>
        <p:nvPicPr>
          <p:cNvPr id="11270" name="Picture 6" descr="https://upload.wikimedia.org/wikipedia/commons/thumb/3/33/Moss_Gametophytes_Sporophytes.JPG/1280px-Moss_Gametophytes_Sporophyte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17924" y="3543201"/>
            <a:ext cx="3761129" cy="282084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065451" y="6350763"/>
            <a:ext cx="3654152" cy="338554"/>
          </a:xfrm>
          <a:prstGeom prst="rect">
            <a:avLst/>
          </a:prstGeom>
        </p:spPr>
        <p:txBody>
          <a:bodyPr wrap="square">
            <a:spAutoFit/>
          </a:bodyPr>
          <a:lstStyle/>
          <a:p>
            <a:pPr algn="ctr"/>
            <a:r>
              <a:rPr lang="en-GB" sz="800" dirty="0"/>
              <a:t>By Bob Blaylock - Own work, CC BY-SA 4.0, https://commons.wikimedia.org/w/index.php?curid=38212443</a:t>
            </a:r>
          </a:p>
        </p:txBody>
      </p:sp>
      <p:sp>
        <p:nvSpPr>
          <p:cNvPr id="7" name="Down Arrow 6"/>
          <p:cNvSpPr/>
          <p:nvPr/>
        </p:nvSpPr>
        <p:spPr>
          <a:xfrm rot="3883335">
            <a:off x="6530228" y="3564779"/>
            <a:ext cx="648072" cy="1008112"/>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1328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1268"/>
                                        </p:tgtEl>
                                        <p:attrNameLst>
                                          <p:attrName>style.visibility</p:attrName>
                                        </p:attrNameLst>
                                      </p:cBhvr>
                                      <p:to>
                                        <p:strVal val="visible"/>
                                      </p:to>
                                    </p:set>
                                    <p:animEffect transition="in" filter="fade">
                                      <p:cBhvr>
                                        <p:cTn id="35" dur="500"/>
                                        <p:tgtEl>
                                          <p:spTgt spid="1126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Effect transition="in" filter="fade">
                                      <p:cBhvr>
                                        <p:cTn id="43" dur="500"/>
                                        <p:tgtEl>
                                          <p:spTgt spid="4">
                                            <p:txEl>
                                              <p:pRg st="7" end="7"/>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1270"/>
                                        </p:tgtEl>
                                        <p:attrNameLst>
                                          <p:attrName>style.visibility</p:attrName>
                                        </p:attrNameLst>
                                      </p:cBhvr>
                                      <p:to>
                                        <p:strVal val="visible"/>
                                      </p:to>
                                    </p:set>
                                    <p:animEffect transition="in" filter="fade">
                                      <p:cBhvr>
                                        <p:cTn id="46" dur="500"/>
                                        <p:tgtEl>
                                          <p:spTgt spid="1127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6" grpId="0"/>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2459648" cy="461665"/>
          </a:xfrm>
          <a:prstGeom prst="rect">
            <a:avLst/>
          </a:prstGeom>
          <a:noFill/>
        </p:spPr>
        <p:txBody>
          <a:bodyPr wrap="none" rtlCol="0">
            <a:spAutoFit/>
          </a:bodyPr>
          <a:lstStyle/>
          <a:p>
            <a:r>
              <a:rPr lang="en-GB" sz="2400" dirty="0">
                <a:solidFill>
                  <a:srgbClr val="FF0000"/>
                </a:solidFill>
              </a:rPr>
              <a:t>Moss sporophytes</a:t>
            </a:r>
          </a:p>
        </p:txBody>
      </p:sp>
      <p:pic>
        <p:nvPicPr>
          <p:cNvPr id="12290" name="Picture 2" descr="https://upload.wikimedia.org/wikipedia/commons/thumb/6/6a/Mosses_on_a_tombstone.jpg/1280px-Mosses_on_a_tombstone.jpg"/>
          <p:cNvPicPr>
            <a:picLocks noChangeAspect="1" noChangeArrowheads="1"/>
          </p:cNvPicPr>
          <p:nvPr/>
        </p:nvPicPr>
        <p:blipFill rotWithShape="1">
          <a:blip r:embed="rId2">
            <a:extLst>
              <a:ext uri="{28A0092B-C50C-407E-A947-70E740481C1C}">
                <a14:useLocalDpi xmlns:a14="http://schemas.microsoft.com/office/drawing/2010/main" val="0"/>
              </a:ext>
            </a:extLst>
          </a:blip>
          <a:srcRect l="3396" t="19602" r="30309" b="-2406"/>
          <a:stretch/>
        </p:blipFill>
        <p:spPr bwMode="auto">
          <a:xfrm>
            <a:off x="7285075" y="578520"/>
            <a:ext cx="4237395" cy="352839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117771" y="3991496"/>
            <a:ext cx="4572000" cy="230832"/>
          </a:xfrm>
          <a:prstGeom prst="rect">
            <a:avLst/>
          </a:prstGeom>
        </p:spPr>
        <p:txBody>
          <a:bodyPr>
            <a:spAutoFit/>
          </a:bodyPr>
          <a:lstStyle/>
          <a:p>
            <a:pPr algn="ctr"/>
            <a:r>
              <a:rPr lang="en-GB" sz="900" dirty="0"/>
              <a:t>CC BY 2.0, https://commons.wikimedia.org/w/index.php?curid=671648</a:t>
            </a:r>
          </a:p>
        </p:txBody>
      </p:sp>
      <p:pic>
        <p:nvPicPr>
          <p:cNvPr id="12292" name="Picture 4" descr="https://upload.wikimedia.org/wikipedia/commons/thumb/c/c4/Horn_Calcareous_Moss_%28Mnium_hornum%29_capsule_of_a_sporophyte_%2813564331274%29.jpg/1280px-Horn_Calcareous_Moss_%28Mnium_hornum%29_capsule_of_a_sporophyte_%2813564331274%29.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6463"/>
          <a:stretch/>
        </p:blipFill>
        <p:spPr bwMode="auto">
          <a:xfrm>
            <a:off x="1955377" y="3242693"/>
            <a:ext cx="2960943" cy="301987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49847" y="6262565"/>
            <a:ext cx="4572000" cy="338554"/>
          </a:xfrm>
          <a:prstGeom prst="rect">
            <a:avLst/>
          </a:prstGeom>
        </p:spPr>
        <p:txBody>
          <a:bodyPr>
            <a:spAutoFit/>
          </a:bodyPr>
          <a:lstStyle/>
          <a:p>
            <a:pPr algn="ctr"/>
            <a:r>
              <a:rPr lang="en-GB" sz="800" dirty="0"/>
              <a:t>By Bernard DUPONT from FRANCE - </a:t>
            </a:r>
            <a:r>
              <a:rPr lang="en-GB" sz="800" i="1" dirty="0" err="1"/>
              <a:t>Mnium</a:t>
            </a:r>
            <a:r>
              <a:rPr lang="en-GB" sz="800" i="1" dirty="0"/>
              <a:t> </a:t>
            </a:r>
            <a:r>
              <a:rPr lang="en-GB" sz="800" i="1" dirty="0" err="1"/>
              <a:t>hornum</a:t>
            </a:r>
            <a:r>
              <a:rPr lang="en-GB" sz="800" dirty="0"/>
              <a:t> capsule of a sporophyte,</a:t>
            </a:r>
          </a:p>
          <a:p>
            <a:pPr algn="ctr"/>
            <a:r>
              <a:rPr lang="en-GB" sz="800" dirty="0"/>
              <a:t>CC BY-SA 2.0, https://commons.wikimedia.org/w/index.php?curid=40726572</a:t>
            </a:r>
          </a:p>
        </p:txBody>
      </p:sp>
      <p:sp>
        <p:nvSpPr>
          <p:cNvPr id="5" name="TextBox 4"/>
          <p:cNvSpPr txBox="1"/>
          <p:nvPr/>
        </p:nvSpPr>
        <p:spPr>
          <a:xfrm>
            <a:off x="3686383" y="470205"/>
            <a:ext cx="3431388" cy="2554545"/>
          </a:xfrm>
          <a:prstGeom prst="rect">
            <a:avLst/>
          </a:prstGeom>
          <a:noFill/>
        </p:spPr>
        <p:txBody>
          <a:bodyPr wrap="none" rtlCol="0">
            <a:spAutoFit/>
          </a:bodyPr>
          <a:lstStyle/>
          <a:p>
            <a:pPr algn="ctr"/>
            <a:r>
              <a:rPr lang="en-GB" sz="2800" dirty="0">
                <a:solidFill>
                  <a:srgbClr val="FF0000"/>
                </a:solidFill>
              </a:rPr>
              <a:t>Key innovations:</a:t>
            </a:r>
          </a:p>
          <a:p>
            <a:pPr algn="ctr"/>
            <a:r>
              <a:rPr lang="en-GB" sz="2800" dirty="0"/>
              <a:t>Cuticle (waterproof)</a:t>
            </a:r>
          </a:p>
          <a:p>
            <a:pPr algn="ctr"/>
            <a:r>
              <a:rPr lang="en-GB" sz="2800" dirty="0"/>
              <a:t>Vascular tissue</a:t>
            </a:r>
          </a:p>
          <a:p>
            <a:pPr algn="ctr"/>
            <a:r>
              <a:rPr lang="en-GB" sz="2800" dirty="0"/>
              <a:t>Stomata</a:t>
            </a:r>
          </a:p>
          <a:p>
            <a:pPr algn="ctr"/>
            <a:endParaRPr lang="en-GB" sz="1600" dirty="0"/>
          </a:p>
          <a:p>
            <a:pPr algn="ctr"/>
            <a:r>
              <a:rPr lang="en-GB" sz="2800" dirty="0"/>
              <a:t>Controlled desiccation</a:t>
            </a:r>
          </a:p>
        </p:txBody>
      </p:sp>
      <p:sp>
        <p:nvSpPr>
          <p:cNvPr id="6" name="TextBox 5"/>
          <p:cNvSpPr txBox="1"/>
          <p:nvPr/>
        </p:nvSpPr>
        <p:spPr>
          <a:xfrm>
            <a:off x="4906926" y="4970885"/>
            <a:ext cx="5364867" cy="461665"/>
          </a:xfrm>
          <a:prstGeom prst="rect">
            <a:avLst/>
          </a:prstGeom>
          <a:noFill/>
        </p:spPr>
        <p:txBody>
          <a:bodyPr wrap="none" rtlCol="0">
            <a:spAutoFit/>
          </a:bodyPr>
          <a:lstStyle/>
          <a:p>
            <a:r>
              <a:rPr lang="en-GB" sz="2400" dirty="0"/>
              <a:t>Tall sporophytes = better spore dispersal?</a:t>
            </a:r>
          </a:p>
        </p:txBody>
      </p:sp>
    </p:spTree>
    <p:extLst>
      <p:ext uri="{BB962C8B-B14F-4D97-AF65-F5344CB8AC3E}">
        <p14:creationId xmlns:p14="http://schemas.microsoft.com/office/powerpoint/2010/main" val="114598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File:Hornwort (31444291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4698" y="659777"/>
            <a:ext cx="4752528" cy="31663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0" y="0"/>
            <a:ext cx="1514967" cy="461665"/>
          </a:xfrm>
          <a:prstGeom prst="rect">
            <a:avLst/>
          </a:prstGeom>
          <a:noFill/>
        </p:spPr>
        <p:txBody>
          <a:bodyPr wrap="none" rtlCol="0">
            <a:spAutoFit/>
          </a:bodyPr>
          <a:lstStyle/>
          <a:p>
            <a:r>
              <a:rPr lang="en-GB" sz="2400" dirty="0">
                <a:solidFill>
                  <a:srgbClr val="FF0000"/>
                </a:solidFill>
              </a:rPr>
              <a:t>Hornworts</a:t>
            </a:r>
          </a:p>
        </p:txBody>
      </p:sp>
      <p:sp>
        <p:nvSpPr>
          <p:cNvPr id="2" name="TextBox 1"/>
          <p:cNvSpPr txBox="1"/>
          <p:nvPr/>
        </p:nvSpPr>
        <p:spPr>
          <a:xfrm>
            <a:off x="3003229" y="1939076"/>
            <a:ext cx="3077061" cy="461665"/>
          </a:xfrm>
          <a:prstGeom prst="rect">
            <a:avLst/>
          </a:prstGeom>
          <a:noFill/>
        </p:spPr>
        <p:txBody>
          <a:bodyPr wrap="none" rtlCol="0">
            <a:spAutoFit/>
          </a:bodyPr>
          <a:lstStyle/>
          <a:p>
            <a:r>
              <a:rPr lang="en-GB" sz="2400" dirty="0"/>
              <a:t>Gametophyte - </a:t>
            </a:r>
            <a:r>
              <a:rPr lang="en-GB" sz="2400" dirty="0" err="1"/>
              <a:t>thalloid</a:t>
            </a:r>
            <a:endParaRPr lang="en-GB" sz="2400" dirty="0"/>
          </a:p>
        </p:txBody>
      </p:sp>
      <p:sp>
        <p:nvSpPr>
          <p:cNvPr id="4" name="Right Arrow 3"/>
          <p:cNvSpPr/>
          <p:nvPr/>
        </p:nvSpPr>
        <p:spPr>
          <a:xfrm rot="1480622">
            <a:off x="5962202" y="2206806"/>
            <a:ext cx="953517" cy="58535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ight Arrow 4"/>
          <p:cNvSpPr/>
          <p:nvPr/>
        </p:nvSpPr>
        <p:spPr>
          <a:xfrm rot="18451465">
            <a:off x="7040034" y="3137210"/>
            <a:ext cx="2105645" cy="50405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5163468" y="4259188"/>
            <a:ext cx="4893006" cy="461665"/>
          </a:xfrm>
          <a:prstGeom prst="rect">
            <a:avLst/>
          </a:prstGeom>
          <a:noFill/>
        </p:spPr>
        <p:txBody>
          <a:bodyPr wrap="none" rtlCol="0">
            <a:spAutoFit/>
          </a:bodyPr>
          <a:lstStyle/>
          <a:p>
            <a:r>
              <a:rPr lang="en-GB" sz="2400" dirty="0"/>
              <a:t>Sporophyte – similar features to moss</a:t>
            </a:r>
          </a:p>
        </p:txBody>
      </p:sp>
      <p:sp>
        <p:nvSpPr>
          <p:cNvPr id="7" name="TextBox 6"/>
          <p:cNvSpPr txBox="1"/>
          <p:nvPr/>
        </p:nvSpPr>
        <p:spPr>
          <a:xfrm>
            <a:off x="1737756" y="4869161"/>
            <a:ext cx="8716489" cy="1461939"/>
          </a:xfrm>
          <a:prstGeom prst="rect">
            <a:avLst/>
          </a:prstGeom>
          <a:noFill/>
        </p:spPr>
        <p:txBody>
          <a:bodyPr wrap="none" rtlCol="0">
            <a:spAutoFit/>
          </a:bodyPr>
          <a:lstStyle/>
          <a:p>
            <a:r>
              <a:rPr lang="en-GB" sz="2400" dirty="0"/>
              <a:t>May have blue green appearance…</a:t>
            </a:r>
          </a:p>
          <a:p>
            <a:r>
              <a:rPr lang="en-GB" sz="2400" dirty="0"/>
              <a:t>	due to presence of cyanobacteria in clefts (</a:t>
            </a:r>
            <a:r>
              <a:rPr lang="en-GB" sz="2400" dirty="0" err="1"/>
              <a:t>espec</a:t>
            </a:r>
            <a:r>
              <a:rPr lang="en-GB" sz="2400" dirty="0"/>
              <a:t>. </a:t>
            </a:r>
            <a:r>
              <a:rPr lang="en-GB" sz="2400" i="1" dirty="0" err="1"/>
              <a:t>Nostoc</a:t>
            </a:r>
            <a:r>
              <a:rPr lang="en-GB" sz="2400" i="1" dirty="0"/>
              <a:t> sp.</a:t>
            </a:r>
            <a:r>
              <a:rPr lang="en-GB" sz="2400" dirty="0"/>
              <a:t>)</a:t>
            </a:r>
          </a:p>
          <a:p>
            <a:endParaRPr lang="en-GB" sz="900" dirty="0"/>
          </a:p>
          <a:p>
            <a:pPr algn="ctr"/>
            <a:r>
              <a:rPr lang="en-GB" sz="3200" dirty="0">
                <a:solidFill>
                  <a:srgbClr val="FF0000"/>
                </a:solidFill>
              </a:rPr>
              <a:t>Symbiosis with Nitrogen fixer</a:t>
            </a:r>
          </a:p>
        </p:txBody>
      </p:sp>
    </p:spTree>
    <p:extLst>
      <p:ext uri="{BB962C8B-B14F-4D97-AF65-F5344CB8AC3E}">
        <p14:creationId xmlns:p14="http://schemas.microsoft.com/office/powerpoint/2010/main" val="285696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fade">
                                      <p:cBhvr>
                                        <p:cTn id="28" dur="500"/>
                                        <p:tgtEl>
                                          <p:spTgt spid="7">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TotalTime>
  <Words>874</Words>
  <Application>Microsoft Office PowerPoint</Application>
  <PresentationFormat>Widescreen</PresentationFormat>
  <Paragraphs>121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Giles Johnson</dc:creator>
  <cp:lastModifiedBy>Giles Johnson</cp:lastModifiedBy>
  <cp:revision>4</cp:revision>
  <dcterms:created xsi:type="dcterms:W3CDTF">2020-10-01T08:41:17Z</dcterms:created>
  <dcterms:modified xsi:type="dcterms:W3CDTF">2022-09-15T15:55:29Z</dcterms:modified>
</cp:coreProperties>
</file>