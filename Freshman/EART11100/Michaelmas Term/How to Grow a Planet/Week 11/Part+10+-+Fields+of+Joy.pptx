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70" r:id="rId4"/>
    <p:sldId id="318" r:id="rId5"/>
    <p:sldId id="317" r:id="rId6"/>
    <p:sldId id="319" r:id="rId7"/>
    <p:sldId id="326" r:id="rId8"/>
    <p:sldId id="316" r:id="rId9"/>
    <p:sldId id="328" r:id="rId10"/>
    <p:sldId id="327" r:id="rId11"/>
    <p:sldId id="283" r:id="rId12"/>
    <p:sldId id="284" r:id="rId13"/>
    <p:sldId id="320" r:id="rId14"/>
    <p:sldId id="271" r:id="rId15"/>
    <p:sldId id="273" r:id="rId16"/>
    <p:sldId id="321" r:id="rId17"/>
    <p:sldId id="322" r:id="rId18"/>
    <p:sldId id="272" r:id="rId19"/>
    <p:sldId id="323" r:id="rId20"/>
    <p:sldId id="32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C826-5BA1-47A7-B886-448A781E2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E434B-B839-4729-9229-A784A1A23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8067-D33E-4D05-9BCD-188EAE3A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A4DD4-42AB-4269-95F0-80C4473F0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CF33-CAA3-4773-A883-3E8C0CE4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33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8FD1-3127-44D0-B0B1-ACFB02F7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27A6C-005E-4982-AF2B-B44BB498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F5C76-56DF-4BFB-B061-AE9E0ABA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4F7F-B9EF-484A-BA3C-80290FB3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75CB8-01A4-493D-AFB4-16408B9D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462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7B42-E09F-489A-9A75-4ED13B39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FE5D3-332F-4664-90F6-5F3FE4575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597A2-915F-4E76-9A79-C56F4234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234D1-6480-480E-BD4F-2A3160A0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9552-2B12-40BE-86FE-98B6E42F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18CE-4F77-45F5-AF41-97A0CA3D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5045E-EFC1-4567-B3FE-63B76DED7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9A80E-1484-4F00-B02A-B97DC7423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3CFD1-937B-4BE2-BE88-EAD66474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2DFF1-BA8F-4F3D-9B82-E02BF81A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4EA5-5D96-453A-B423-FB18BEEE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3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4E8E-CEF6-465A-AE2A-EB30F862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BE365-3C2C-40CD-8599-13707E4F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8B5DB-973E-4E32-B804-B2608B6B4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95200-9D23-4D49-9D44-990F11687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3D6ED-C3B8-4BB3-9274-DD06EC826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A382B0-15BB-46EF-9157-6C3BF4CD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7AFCA-31E8-425A-8C16-12931626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14580-62EA-4C07-9D88-D2B35D26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45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C5CF-2454-4C03-8831-84D06680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9F0AB-605E-4909-AD40-581121B2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03A1-AE18-464A-9CE2-F80B5244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82056-C6B9-4DE1-B78A-E4027EC3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57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AB0F7-62EE-4E89-A32B-6F6A43C2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F4FD3-1927-4714-8E6C-174BF2EC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1EF14-9D70-451C-A2F5-641B6FBA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5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3BAA-99B5-4EEB-BE01-6A631AE7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6E46C-0676-48A2-A2AD-CB57EE84A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48491-2CD4-42D2-B71C-019756A96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35614-7E02-41A1-939F-A69BF485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AE448-018D-4DE7-8268-8ABD4763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02EA6-2DE8-47E7-896C-577157DA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4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249D-B96C-4BF4-803F-45AC28C4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3F82B-9818-44DF-9BF9-E42046B55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30955-6450-4DB3-B1EF-5402EF9C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7B88A-FD25-4E17-BF9E-3A9DB3DA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54B25-813D-4FB4-9131-29787800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65CD7-EA83-4EF4-BEA3-62940CCA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48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F2E5-1FCE-4D0B-84A7-500B29DE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BA3ED-B2B8-4324-AE9C-63CB6331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F27C-0434-4925-B26E-66CB2F00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7B6B-1E42-4B19-9A0A-EED95D8C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72A48-2D08-46C4-8C9B-E56C751F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6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68229-7FB6-4EBA-BA97-63101FB4A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E072C-BF09-4CB2-BB0F-9F5CC2146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71F0F-AD1E-45D9-83C5-73DF9002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8DCBA-F7D0-46B8-8B24-666CCEF3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F7E63-8378-4ECB-BAD3-6EC9FE9D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99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6029B-423E-4172-9F10-1702D0AD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F3620-035A-4253-895B-E07EC0FF5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629A1-2711-4A13-9E23-7F1BED80F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E125D-3953-4D25-B191-29C16E5110FC}" type="datetimeFigureOut">
              <a:rPr lang="en-GB" smtClean="0"/>
              <a:t>08/12/2020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E9E0A-8444-4E5C-A212-0C256A245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BA30C-B61D-4A9D-805D-0BBD1C69A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BB9EA-0E41-4E3C-A338-4DC507E113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3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onscreen.ac.uk/ondemand/index.php/clip/106770" TargetMode="Externa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science.sciencemag.org/content/316/5833/1830.ful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7" Type="http://schemas.openxmlformats.org/officeDocument/2006/relationships/image" Target="../media/image31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arge green field with trees in the background&#10;&#10;Description automatically generated">
            <a:extLst>
              <a:ext uri="{FF2B5EF4-FFF2-40B4-BE49-F238E27FC236}">
                <a16:creationId xmlns:a16="http://schemas.microsoft.com/office/drawing/2014/main" id="{60586614-B776-4374-BC00-5BA651F9C2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4" b="182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65F241-8387-4002-A1FC-C971D7E951EF}"/>
              </a:ext>
            </a:extLst>
          </p:cNvPr>
          <p:cNvSpPr txBox="1"/>
          <p:nvPr/>
        </p:nvSpPr>
        <p:spPr>
          <a:xfrm>
            <a:off x="2383259" y="2797948"/>
            <a:ext cx="742549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>
                <a:solidFill>
                  <a:schemeClr val="bg1"/>
                </a:solidFill>
              </a:rPr>
              <a:t>Fields of Joy</a:t>
            </a:r>
          </a:p>
        </p:txBody>
      </p:sp>
    </p:spTree>
    <p:extLst>
      <p:ext uri="{BB962C8B-B14F-4D97-AF65-F5344CB8AC3E}">
        <p14:creationId xmlns:p14="http://schemas.microsoft.com/office/powerpoint/2010/main" val="303971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imal on the field&#10;&#10;Description automatically generated">
            <a:extLst>
              <a:ext uri="{FF2B5EF4-FFF2-40B4-BE49-F238E27FC236}">
                <a16:creationId xmlns:a16="http://schemas.microsoft.com/office/drawing/2014/main" id="{18830860-4CDF-4A3D-957E-4202383047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48"/>
          <a:stretch/>
        </p:blipFill>
        <p:spPr>
          <a:xfrm>
            <a:off x="1099" y="0"/>
            <a:ext cx="12190901" cy="6858000"/>
          </a:xfrm>
          <a:prstGeom prst="rect">
            <a:avLst/>
          </a:prstGeom>
        </p:spPr>
      </p:pic>
      <p:sp>
        <p:nvSpPr>
          <p:cNvPr id="2" name="AutoShape 2" descr="Picture of a shaggy male gelada looking out from a cliff above the great rift valley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Picture of a shaggy male gelada looking out from a cliff above the great rift valley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AutoShape 6" descr="Picture of a shaggy male gelada looking out from a cliff above the great rift valle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6602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i="1" dirty="0" err="1">
                <a:solidFill>
                  <a:srgbClr val="FF0000"/>
                </a:solidFill>
              </a:rPr>
              <a:t>Theropithecus</a:t>
            </a:r>
            <a:r>
              <a:rPr lang="en-GB" sz="4000" i="1" dirty="0">
                <a:solidFill>
                  <a:srgbClr val="FF0000"/>
                </a:solidFill>
              </a:rPr>
              <a:t> gelada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87EB5-B28F-420B-AD9C-6136A7E410DB}"/>
              </a:ext>
            </a:extLst>
          </p:cNvPr>
          <p:cNvSpPr txBox="1"/>
          <p:nvPr/>
        </p:nvSpPr>
        <p:spPr>
          <a:xfrm>
            <a:off x="0" y="6573063"/>
            <a:ext cx="84757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By </a:t>
            </a:r>
            <a:r>
              <a:rPr lang="en-GB" sz="1200" dirty="0" err="1"/>
              <a:t>Geertchaos</a:t>
            </a:r>
            <a:r>
              <a:rPr lang="en-GB" sz="1200" dirty="0"/>
              <a:t> - Own work, CC BY-SA 4.0, https://commons.wikimedia.org/w/index.php?curid=77060831</a:t>
            </a:r>
          </a:p>
        </p:txBody>
      </p:sp>
    </p:spTree>
    <p:extLst>
      <p:ext uri="{BB962C8B-B14F-4D97-AF65-F5344CB8AC3E}">
        <p14:creationId xmlns:p14="http://schemas.microsoft.com/office/powerpoint/2010/main" val="39948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upload.wikimedia.org/wikipedia/commons/thumb/7/71/Vavilov-center.jpg/800px-Vavilov-cen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26" y="1440465"/>
            <a:ext cx="6264696" cy="384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3154"/>
            <a:ext cx="3734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Origins of Agriculture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" name="Up Arrow 1"/>
          <p:cNvSpPr/>
          <p:nvPr/>
        </p:nvSpPr>
        <p:spPr>
          <a:xfrm>
            <a:off x="7428246" y="3341660"/>
            <a:ext cx="981337" cy="214829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7221735" y="5489954"/>
            <a:ext cx="13943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Wheat </a:t>
            </a:r>
          </a:p>
          <a:p>
            <a:pPr algn="ctr"/>
            <a:r>
              <a:rPr lang="en-GB" sz="3200" dirty="0"/>
              <a:t>Barley</a:t>
            </a:r>
          </a:p>
        </p:txBody>
      </p:sp>
      <p:sp>
        <p:nvSpPr>
          <p:cNvPr id="6" name="Up Arrow 5"/>
          <p:cNvSpPr/>
          <p:nvPr/>
        </p:nvSpPr>
        <p:spPr>
          <a:xfrm rot="16200000">
            <a:off x="9715281" y="2824780"/>
            <a:ext cx="981337" cy="1074147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755149" y="3049272"/>
            <a:ext cx="8787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2593" y="4676181"/>
            <a:ext cx="1183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Maize</a:t>
            </a:r>
          </a:p>
        </p:txBody>
      </p:sp>
      <p:sp>
        <p:nvSpPr>
          <p:cNvPr id="9" name="Up Arrow 8"/>
          <p:cNvSpPr/>
          <p:nvPr/>
        </p:nvSpPr>
        <p:spPr>
          <a:xfrm rot="2217269">
            <a:off x="4461275" y="3529033"/>
            <a:ext cx="981337" cy="1272354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001303" y="587929"/>
            <a:ext cx="7835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Occurred across the world ~12-10 </a:t>
            </a:r>
            <a:r>
              <a:rPr lang="en-GB" sz="3200" dirty="0" err="1"/>
              <a:t>KYa</a:t>
            </a:r>
            <a:r>
              <a:rPr lang="en-GB" sz="3200" dirty="0"/>
              <a:t> – Why?</a:t>
            </a:r>
          </a:p>
        </p:txBody>
      </p:sp>
    </p:spTree>
    <p:extLst>
      <p:ext uri="{BB962C8B-B14F-4D97-AF65-F5344CB8AC3E}">
        <p14:creationId xmlns:p14="http://schemas.microsoft.com/office/powerpoint/2010/main" val="134665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7" grpId="0"/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garden of ede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6"/>
          <a:stretch/>
        </p:blipFill>
        <p:spPr bwMode="auto">
          <a:xfrm>
            <a:off x="-17426" y="0"/>
            <a:ext cx="122094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the flood noah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7" r="18389"/>
          <a:stretch/>
        </p:blipFill>
        <p:spPr bwMode="auto">
          <a:xfrm>
            <a:off x="0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2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00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Milankovitch cycles</a:t>
            </a:r>
          </a:p>
        </p:txBody>
      </p:sp>
      <p:pic>
        <p:nvPicPr>
          <p:cNvPr id="2050" name="Picture 2" descr="https://upload.wikimedia.org/wikipedia/commons/thumb/8/89/Precessing_Kepler_orbit_280frames_e0.6_smaller.gif/280px-Precessing_Kepler_orbit_280frames_e0.6_smaller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323" y="1306681"/>
            <a:ext cx="26670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10664" y="385197"/>
            <a:ext cx="655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Irregularities in Earth’s orbit – solar radiation varies</a:t>
            </a:r>
          </a:p>
          <a:p>
            <a:pPr algn="ctr"/>
            <a:r>
              <a:rPr lang="en-GB" sz="2400" dirty="0"/>
              <a:t>~130 </a:t>
            </a:r>
            <a:r>
              <a:rPr lang="en-GB" sz="2400" dirty="0" err="1"/>
              <a:t>Ky</a:t>
            </a:r>
            <a:r>
              <a:rPr lang="en-GB" sz="2400" dirty="0"/>
              <a:t> cycle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706" y="1216194"/>
            <a:ext cx="3656484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s://upload.wikimedia.org/wikipedia/commons/thumb/4/42/Northern_icesheet_hg.png/1280px-Northern_icesheet_h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323" y="3711744"/>
            <a:ext cx="2841625" cy="207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 rot="18665186">
            <a:off x="6626681" y="2938434"/>
            <a:ext cx="1789954" cy="4032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79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wheat evol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03" y="607843"/>
            <a:ext cx="3336925" cy="539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011128" y="1237516"/>
            <a:ext cx="1434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Hybridisation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11128" y="2648168"/>
            <a:ext cx="2669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Genome duplication – new species!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60"/>
            <a:ext cx="3389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Evolution of Bread Wheat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1128" y="3561616"/>
            <a:ext cx="299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Hybridisation - duplication</a:t>
            </a:r>
          </a:p>
        </p:txBody>
      </p:sp>
      <p:pic>
        <p:nvPicPr>
          <p:cNvPr id="3076" name="Picture 4" descr="Image result for triticum monococc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76" y="607843"/>
            <a:ext cx="1484435" cy="19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60727" y="607843"/>
            <a:ext cx="89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Einkorn</a:t>
            </a:r>
          </a:p>
        </p:txBody>
      </p:sp>
      <p:pic>
        <p:nvPicPr>
          <p:cNvPr id="3078" name="Picture 6" descr="Image result for triticum turgid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376" y="2648170"/>
            <a:ext cx="1484434" cy="222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Left Arrow 6"/>
          <p:cNvSpPr/>
          <p:nvPr/>
        </p:nvSpPr>
        <p:spPr>
          <a:xfrm>
            <a:off x="3603195" y="4184966"/>
            <a:ext cx="657225" cy="483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3212243" y="2648170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Emmer</a:t>
            </a:r>
          </a:p>
        </p:txBody>
      </p:sp>
      <p:pic>
        <p:nvPicPr>
          <p:cNvPr id="3080" name="Picture 8" descr="Image result for duru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470" y="3664246"/>
            <a:ext cx="1525071" cy="152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989226" y="5217357"/>
            <a:ext cx="1613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Durum – pasta</a:t>
            </a:r>
          </a:p>
        </p:txBody>
      </p:sp>
      <p:pic>
        <p:nvPicPr>
          <p:cNvPr id="3082" name="Picture 10" descr="Image result for wheat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1" t="15353" r="33235" b="755"/>
          <a:stretch/>
        </p:blipFill>
        <p:spPr bwMode="auto">
          <a:xfrm>
            <a:off x="9011128" y="4226222"/>
            <a:ext cx="1477667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579560" y="5189317"/>
            <a:ext cx="1657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Bread wheat - </a:t>
            </a:r>
            <a:r>
              <a:rPr lang="en-GB" dirty="0" err="1"/>
              <a:t>hexaploid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25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5" grpId="0"/>
      <p:bldP spid="7" grpId="0" animBg="1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37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617" y="836712"/>
            <a:ext cx="7162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74617" y="5069151"/>
            <a:ext cx="7162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hlinkClick r:id="rId3"/>
              </a:rPr>
              <a:t>https://learningonscreen.ac.uk/ondemand/index.php/clip/106770</a:t>
            </a:r>
            <a:endParaRPr lang="en-GB" sz="2000" dirty="0"/>
          </a:p>
          <a:p>
            <a:pPr algn="ctr"/>
            <a:r>
              <a:rPr lang="en-GB" sz="2000" dirty="0"/>
              <a:t>3:30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315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</a:rPr>
              <a:t>Graminivore</a:t>
            </a:r>
            <a:r>
              <a:rPr lang="en-GB" sz="3200" dirty="0">
                <a:solidFill>
                  <a:srgbClr val="FF0000"/>
                </a:solidFill>
              </a:rPr>
              <a:t> Apes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17871" y="5469262"/>
            <a:ext cx="62519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FF0000"/>
                </a:solidFill>
              </a:rPr>
              <a:t>Non-shattering phenotype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3552" y="6412686"/>
            <a:ext cx="8475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Also try reading this review - </a:t>
            </a:r>
            <a:r>
              <a:rPr lang="en-GB" dirty="0">
                <a:hlinkClick r:id="rId4"/>
              </a:rPr>
              <a:t>http://science.sciencemag.org/content/316/5833/1830.full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414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759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arge green field with trees in the background&#10;&#10;Description automatically generated">
            <a:extLst>
              <a:ext uri="{FF2B5EF4-FFF2-40B4-BE49-F238E27FC236}">
                <a16:creationId xmlns:a16="http://schemas.microsoft.com/office/drawing/2014/main" id="{60586614-B776-4374-BC00-5BA651F9C2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4" b="182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65F241-8387-4002-A1FC-C971D7E951EF}"/>
              </a:ext>
            </a:extLst>
          </p:cNvPr>
          <p:cNvSpPr txBox="1"/>
          <p:nvPr/>
        </p:nvSpPr>
        <p:spPr>
          <a:xfrm>
            <a:off x="548074" y="2797948"/>
            <a:ext cx="1109585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>
                <a:solidFill>
                  <a:schemeClr val="bg1"/>
                </a:solidFill>
              </a:rPr>
              <a:t>Green Revolution!</a:t>
            </a:r>
          </a:p>
        </p:txBody>
      </p:sp>
    </p:spTree>
    <p:extLst>
      <p:ext uri="{BB962C8B-B14F-4D97-AF65-F5344CB8AC3E}">
        <p14:creationId xmlns:p14="http://schemas.microsoft.com/office/powerpoint/2010/main" val="3127419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world population 10000 yea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59" y="572179"/>
            <a:ext cx="9771623" cy="58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24750" y="1362075"/>
            <a:ext cx="4483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Current population 7.8 Billion</a:t>
            </a:r>
          </a:p>
        </p:txBody>
      </p:sp>
    </p:spTree>
    <p:extLst>
      <p:ext uri="{BB962C8B-B14F-4D97-AF65-F5344CB8AC3E}">
        <p14:creationId xmlns:p14="http://schemas.microsoft.com/office/powerpoint/2010/main" val="325301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64A3D3-512C-4332-A63C-9D4A9D57A7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251"/>
          <a:stretch/>
        </p:blipFill>
        <p:spPr>
          <a:xfrm>
            <a:off x="-2" y="-1"/>
            <a:ext cx="12308116" cy="69757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A5223F-9661-4AF2-B2F0-111C1DBF82EC}"/>
              </a:ext>
            </a:extLst>
          </p:cNvPr>
          <p:cNvSpPr txBox="1"/>
          <p:nvPr/>
        </p:nvSpPr>
        <p:spPr>
          <a:xfrm>
            <a:off x="7162169" y="389488"/>
            <a:ext cx="4600369" cy="2062103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3200" dirty="0">
                <a:latin typeface="Arial Rounded MT Bold" panose="020F0704030504030204" pitchFamily="34" charset="0"/>
              </a:rPr>
              <a:t>Thomas Malthus</a:t>
            </a:r>
          </a:p>
          <a:p>
            <a:pPr algn="r"/>
            <a:r>
              <a:rPr lang="en-GB" sz="3200" dirty="0"/>
              <a:t>An Essay on the Principle of Population</a:t>
            </a:r>
          </a:p>
          <a:p>
            <a:pPr algn="r"/>
            <a:r>
              <a:rPr lang="en-GB" sz="3200" dirty="0"/>
              <a:t>(1789)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830" y="5467305"/>
            <a:ext cx="1164045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r>
              <a:rPr lang="en-GB" sz="2400" dirty="0"/>
              <a:t>That the increase of population is necessarily limited by the means of subsistence,</a:t>
            </a:r>
            <a:br>
              <a:rPr lang="en-GB" sz="2400" dirty="0"/>
            </a:br>
            <a:r>
              <a:rPr lang="en-GB" sz="2400" dirty="0"/>
              <a:t>That population does invariably increase when the means of subsistence increase, and,</a:t>
            </a:r>
            <a:br>
              <a:rPr lang="en-GB" sz="2400" dirty="0"/>
            </a:br>
            <a:r>
              <a:rPr lang="en-GB" sz="2400" dirty="0"/>
              <a:t>That the superior power of population is repressed by </a:t>
            </a:r>
            <a:r>
              <a:rPr lang="en-GB" sz="2400" i="1" dirty="0"/>
              <a:t>moral restraint, vice and misery</a:t>
            </a:r>
          </a:p>
        </p:txBody>
      </p:sp>
    </p:spTree>
    <p:extLst>
      <p:ext uri="{BB962C8B-B14F-4D97-AF65-F5344CB8AC3E}">
        <p14:creationId xmlns:p14="http://schemas.microsoft.com/office/powerpoint/2010/main" val="124939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haber bos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599" y="657347"/>
            <a:ext cx="5892799" cy="242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11557" y="3084945"/>
            <a:ext cx="45720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Fritz Haber and Carl Bosch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2572"/>
            <a:ext cx="2555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Haber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3205" y="3638883"/>
            <a:ext cx="4945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N</a:t>
            </a:r>
            <a:r>
              <a:rPr lang="en-GB" sz="5400" baseline="-25000" dirty="0"/>
              <a:t>2</a:t>
            </a:r>
            <a:r>
              <a:rPr lang="en-GB" sz="5400" dirty="0"/>
              <a:t> + 3H</a:t>
            </a:r>
            <a:r>
              <a:rPr lang="en-GB" sz="5400" baseline="-25000" dirty="0"/>
              <a:t>2</a:t>
            </a:r>
            <a:r>
              <a:rPr lang="en-GB" sz="5400" dirty="0"/>
              <a:t> → 2NH</a:t>
            </a:r>
            <a:r>
              <a:rPr lang="en-GB" sz="5400" baseline="-25000" dirty="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598" y="4346583"/>
            <a:ext cx="3781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∆H = -91.8 kJ .mol</a:t>
            </a:r>
            <a:r>
              <a:rPr lang="en-GB" sz="3600" baseline="30000" dirty="0"/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2353" y="5326744"/>
            <a:ext cx="53072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FF0000"/>
                </a:solidFill>
              </a:rPr>
              <a:t>Very energy expensive</a:t>
            </a:r>
          </a:p>
        </p:txBody>
      </p:sp>
    </p:spTree>
    <p:extLst>
      <p:ext uri="{BB962C8B-B14F-4D97-AF65-F5344CB8AC3E}">
        <p14:creationId xmlns:p14="http://schemas.microsoft.com/office/powerpoint/2010/main" val="356870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norman borlau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" r="463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29835" y="0"/>
            <a:ext cx="486216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Norman Ernest Borlaug</a:t>
            </a:r>
          </a:p>
          <a:p>
            <a:r>
              <a:rPr lang="en-GB" sz="2800" dirty="0"/>
              <a:t>1914-2009</a:t>
            </a:r>
          </a:p>
          <a:p>
            <a:r>
              <a:rPr lang="en-GB" sz="2800" dirty="0"/>
              <a:t>Father of the ‘Green Revolution’</a:t>
            </a:r>
          </a:p>
          <a:p>
            <a:r>
              <a:rPr lang="en-GB" sz="2800" dirty="0"/>
              <a:t>Nobel Peace Prize 1970</a:t>
            </a:r>
          </a:p>
        </p:txBody>
      </p:sp>
    </p:spTree>
    <p:extLst>
      <p:ext uri="{BB962C8B-B14F-4D97-AF65-F5344CB8AC3E}">
        <p14:creationId xmlns:p14="http://schemas.microsoft.com/office/powerpoint/2010/main" val="292820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intensivedietarymanagement.com/wp-content/uploads/2014/08/Dwarf-Wheat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3450" y="3131781"/>
            <a:ext cx="5324548" cy="369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79" r="10495" b="22228"/>
          <a:stretch/>
        </p:blipFill>
        <p:spPr bwMode="auto">
          <a:xfrm>
            <a:off x="5587998" y="566071"/>
            <a:ext cx="6117771" cy="38511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0" y="29029"/>
            <a:ext cx="3039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Dwarf Varieties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3480" y="4474425"/>
            <a:ext cx="5552289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Shorter plants = higher </a:t>
            </a:r>
            <a:r>
              <a:rPr lang="en-GB" sz="2800" dirty="0">
                <a:solidFill>
                  <a:srgbClr val="FF0000"/>
                </a:solidFill>
              </a:rPr>
              <a:t>harvest index</a:t>
            </a:r>
          </a:p>
          <a:p>
            <a:pPr algn="ctr"/>
            <a:r>
              <a:rPr lang="en-GB" sz="2800" dirty="0"/>
              <a:t>(harvest index = grain/total plant)</a:t>
            </a:r>
          </a:p>
          <a:p>
            <a:pPr algn="ctr"/>
            <a:r>
              <a:rPr lang="en-GB" sz="2800" i="1" dirty="0">
                <a:solidFill>
                  <a:srgbClr val="FF0000"/>
                </a:solidFill>
              </a:rPr>
              <a:t>also - </a:t>
            </a:r>
            <a:r>
              <a:rPr lang="en-GB" sz="2800" dirty="0"/>
              <a:t>less lodging (falling over)</a:t>
            </a:r>
          </a:p>
          <a:p>
            <a:pPr algn="ctr"/>
            <a:r>
              <a:rPr lang="en-GB" sz="3200" dirty="0">
                <a:solidFill>
                  <a:srgbClr val="FF0000"/>
                </a:solidFill>
              </a:rPr>
              <a:t>So higher yields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7679836" y="1304925"/>
            <a:ext cx="1824647" cy="895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New Maximum</a:t>
            </a:r>
          </a:p>
        </p:txBody>
      </p:sp>
      <p:sp>
        <p:nvSpPr>
          <p:cNvPr id="6" name="Explosion 1 5"/>
          <p:cNvSpPr/>
          <p:nvPr/>
        </p:nvSpPr>
        <p:spPr>
          <a:xfrm>
            <a:off x="8229600" y="2356625"/>
            <a:ext cx="2933700" cy="2174860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Requires chemicals</a:t>
            </a:r>
          </a:p>
        </p:txBody>
      </p:sp>
    </p:spTree>
    <p:extLst>
      <p:ext uri="{BB962C8B-B14F-4D97-AF65-F5344CB8AC3E}">
        <p14:creationId xmlns:p14="http://schemas.microsoft.com/office/powerpoint/2010/main" val="105271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AF58DAE7-2568-4B44-A8E6-F6D63CA273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0" r="20013"/>
          <a:stretch/>
        </p:blipFill>
        <p:spPr>
          <a:xfrm>
            <a:off x="5878850" y="-2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pic>
        <p:nvPicPr>
          <p:cNvPr id="3" name="Picture 2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BB8BB86B-519F-4F7A-969E-13A78B054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796" y="3567548"/>
            <a:ext cx="2555430" cy="2736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34098" y="6303988"/>
            <a:ext cx="247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Thanks to </a:t>
            </a:r>
            <a:r>
              <a:rPr lang="en-GB" dirty="0" err="1">
                <a:solidFill>
                  <a:schemeClr val="bg1"/>
                </a:solidFill>
              </a:rPr>
              <a:t>Aleana</a:t>
            </a:r>
            <a:r>
              <a:rPr lang="en-GB" dirty="0">
                <a:solidFill>
                  <a:schemeClr val="bg1"/>
                </a:solidFill>
              </a:rPr>
              <a:t> Cairns 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559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Wheat Stem Rust – </a:t>
            </a:r>
            <a:r>
              <a:rPr lang="en-GB" sz="2800" i="1" dirty="0" err="1">
                <a:solidFill>
                  <a:srgbClr val="FF0000"/>
                </a:solidFill>
              </a:rPr>
              <a:t>Puccinia</a:t>
            </a:r>
            <a:r>
              <a:rPr lang="en-GB" sz="2800" i="1" dirty="0">
                <a:solidFill>
                  <a:srgbClr val="FF0000"/>
                </a:solidFill>
              </a:rPr>
              <a:t> </a:t>
            </a:r>
            <a:r>
              <a:rPr lang="en-GB" sz="2800" i="1" dirty="0" err="1">
                <a:solidFill>
                  <a:srgbClr val="FF0000"/>
                </a:solidFill>
              </a:rPr>
              <a:t>graminis</a:t>
            </a:r>
            <a:endParaRPr lang="en-GB" sz="2800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935" y="6306117"/>
            <a:ext cx="5571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New rust variety able to infect wheat crops in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352" y="2583671"/>
            <a:ext cx="45938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Rust reduces crop yields</a:t>
            </a:r>
          </a:p>
          <a:p>
            <a:r>
              <a:rPr lang="en-GB" sz="2400" dirty="0"/>
              <a:t>Plant breeding produced </a:t>
            </a:r>
            <a:r>
              <a:rPr lang="en-GB" sz="2400" dirty="0">
                <a:solidFill>
                  <a:srgbClr val="FF0000"/>
                </a:solidFill>
              </a:rPr>
              <a:t>resistance</a:t>
            </a:r>
          </a:p>
        </p:txBody>
      </p:sp>
    </p:spTree>
    <p:extLst>
      <p:ext uri="{BB962C8B-B14F-4D97-AF65-F5344CB8AC3E}">
        <p14:creationId xmlns:p14="http://schemas.microsoft.com/office/powerpoint/2010/main" val="52060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global pop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1" y="3004350"/>
            <a:ext cx="5359400" cy="305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Image result for projected CO2 concentration"/>
          <p:cNvSpPr>
            <a:spLocks noChangeAspect="1" noChangeArrowheads="1"/>
          </p:cNvSpPr>
          <p:nvPr/>
        </p:nvSpPr>
        <p:spPr bwMode="auto">
          <a:xfrm>
            <a:off x="155575" y="-776288"/>
            <a:ext cx="280035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831" y="339416"/>
            <a:ext cx="5486400" cy="319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502" y="47029"/>
            <a:ext cx="3162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 changing world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80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i.vimeocdn.com/video/102308351_1280x7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8477" y="631804"/>
            <a:ext cx="9331530" cy="524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502" y="47029"/>
            <a:ext cx="4005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 Challenge for YOU… 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78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nottingham.ac.uk/GlobalFoodSecurity/images-multimedia/erikmurchi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526" y="4058916"/>
            <a:ext cx="4324611" cy="202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0"/>
            <a:ext cx="5113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Food security - biotechnology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3" name="Picture 2" descr="BMG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83976" y="5584734"/>
            <a:ext cx="2404161" cy="48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http://www.global-inst.com/images/programmes/IRRI%20logo%20left%20alig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142" y="3043085"/>
            <a:ext cx="3531376" cy="96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45539" y="6121620"/>
            <a:ext cx="23605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C4 Rice Project</a:t>
            </a:r>
          </a:p>
        </p:txBody>
      </p:sp>
      <p:pic>
        <p:nvPicPr>
          <p:cNvPr id="14338" name="Picture 2" descr="https://upload.wikimedia.org/wikipedia/commons/thumb/f/f5/Carboxysomes_EM.jpg/1280px-Carboxysomes_EM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451" y="509630"/>
            <a:ext cx="4690627" cy="170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799405" y="2212088"/>
            <a:ext cx="398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Learning lessons form cyanobacteria</a:t>
            </a:r>
          </a:p>
          <a:p>
            <a:pPr algn="ctr"/>
            <a:r>
              <a:rPr lang="en-GB" sz="2800" dirty="0" err="1">
                <a:solidFill>
                  <a:srgbClr val="FF0000"/>
                </a:solidFill>
              </a:rPr>
              <a:t>Carboxysomes</a:t>
            </a:r>
            <a:endParaRPr lang="en-GB" sz="2800" dirty="0">
              <a:solidFill>
                <a:srgbClr val="FF0000"/>
              </a:solidFill>
            </a:endParaRPr>
          </a:p>
        </p:txBody>
      </p:sp>
      <p:pic>
        <p:nvPicPr>
          <p:cNvPr id="10" name="Picture 2" descr="Image result for golden rice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8" r="8252"/>
          <a:stretch/>
        </p:blipFill>
        <p:spPr bwMode="auto">
          <a:xfrm>
            <a:off x="8666069" y="3610439"/>
            <a:ext cx="3250662" cy="222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tree with green leaves&#10;&#10;Description automatically generated">
            <a:extLst>
              <a:ext uri="{FF2B5EF4-FFF2-40B4-BE49-F238E27FC236}">
                <a16:creationId xmlns:a16="http://schemas.microsoft.com/office/drawing/2014/main" id="{5FF873C3-44F2-4C01-9EFD-E29B6437D5A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880" y="4065555"/>
            <a:ext cx="3642703" cy="20490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8A4274-DC3D-462E-8D72-B8D7B719D12E}"/>
              </a:ext>
            </a:extLst>
          </p:cNvPr>
          <p:cNvSpPr txBox="1"/>
          <p:nvPr/>
        </p:nvSpPr>
        <p:spPr>
          <a:xfrm>
            <a:off x="4814296" y="6150114"/>
            <a:ext cx="3213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>
                <a:latin typeface="Arial Rounded MT Bold" panose="020F0704030504030204" pitchFamily="34" charset="0"/>
              </a:rPr>
              <a:t>Eutrema salsugineum </a:t>
            </a:r>
            <a:r>
              <a:rPr lang="en-GB" sz="2000" dirty="0">
                <a:latin typeface="Arial Rounded MT Bold" panose="020F0704030504030204" pitchFamily="34" charset="0"/>
              </a:rPr>
              <a:t>– salt water cress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3041" y="5825150"/>
            <a:ext cx="192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Golden Rice</a:t>
            </a:r>
          </a:p>
        </p:txBody>
      </p:sp>
    </p:spTree>
    <p:extLst>
      <p:ext uri="{BB962C8B-B14F-4D97-AF65-F5344CB8AC3E}">
        <p14:creationId xmlns:p14="http://schemas.microsoft.com/office/powerpoint/2010/main" val="350370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788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Food Security - agroecology</a:t>
            </a:r>
            <a:endParaRPr lang="en-GB" sz="2000" dirty="0">
              <a:solidFill>
                <a:srgbClr val="FF0000"/>
              </a:solidFill>
            </a:endParaRPr>
          </a:p>
        </p:txBody>
      </p:sp>
      <p:pic>
        <p:nvPicPr>
          <p:cNvPr id="7170" name="Picture 2" descr="Image result for intercropp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856322"/>
            <a:ext cx="5283200" cy="210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 result for agroforest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49" y="975629"/>
            <a:ext cx="4371975" cy="267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Image result for so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862" y="3501682"/>
            <a:ext cx="28765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99645" y="2980441"/>
            <a:ext cx="1871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Intercropping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6111" y="513964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Agro-forestry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4090" y="6334423"/>
            <a:ext cx="2356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Soil management</a:t>
            </a:r>
          </a:p>
        </p:txBody>
      </p:sp>
      <p:pic>
        <p:nvPicPr>
          <p:cNvPr id="7178" name="Picture 10" descr="Image result for integrated pest managemen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75" y="3857625"/>
            <a:ext cx="3830367" cy="245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75921" y="6291263"/>
            <a:ext cx="381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Integrated pest management</a:t>
            </a:r>
          </a:p>
        </p:txBody>
      </p:sp>
    </p:spTree>
    <p:extLst>
      <p:ext uri="{BB962C8B-B14F-4D97-AF65-F5344CB8AC3E}">
        <p14:creationId xmlns:p14="http://schemas.microsoft.com/office/powerpoint/2010/main" val="207741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65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Giles Johnson</dc:creator>
  <cp:lastModifiedBy>Giles Johnson</cp:lastModifiedBy>
  <cp:revision>1</cp:revision>
  <dcterms:created xsi:type="dcterms:W3CDTF">2020-12-08T17:13:30Z</dcterms:created>
  <dcterms:modified xsi:type="dcterms:W3CDTF">2020-12-08T17:13:51Z</dcterms:modified>
</cp:coreProperties>
</file>