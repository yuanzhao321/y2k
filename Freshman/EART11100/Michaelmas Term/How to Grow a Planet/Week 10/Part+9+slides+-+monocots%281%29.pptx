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  <p:sldId id="275" r:id="rId3"/>
    <p:sldId id="299" r:id="rId4"/>
    <p:sldId id="300" r:id="rId5"/>
    <p:sldId id="259" r:id="rId6"/>
    <p:sldId id="280" r:id="rId7"/>
    <p:sldId id="308" r:id="rId8"/>
    <p:sldId id="309" r:id="rId9"/>
    <p:sldId id="310" r:id="rId10"/>
    <p:sldId id="311" r:id="rId11"/>
    <p:sldId id="301" r:id="rId12"/>
    <p:sldId id="261" r:id="rId13"/>
    <p:sldId id="302" r:id="rId14"/>
    <p:sldId id="305" r:id="rId15"/>
    <p:sldId id="267" r:id="rId16"/>
    <p:sldId id="315" r:id="rId17"/>
    <p:sldId id="304" r:id="rId18"/>
    <p:sldId id="256" r:id="rId19"/>
    <p:sldId id="268" r:id="rId20"/>
    <p:sldId id="270" r:id="rId21"/>
    <p:sldId id="318" r:id="rId22"/>
    <p:sldId id="317" r:id="rId23"/>
    <p:sldId id="319" r:id="rId24"/>
    <p:sldId id="316" r:id="rId25"/>
    <p:sldId id="283" r:id="rId26"/>
    <p:sldId id="284" r:id="rId27"/>
    <p:sldId id="320" r:id="rId28"/>
    <p:sldId id="271" r:id="rId29"/>
    <p:sldId id="273" r:id="rId30"/>
    <p:sldId id="321" r:id="rId31"/>
    <p:sldId id="322" r:id="rId32"/>
    <p:sldId id="272" r:id="rId33"/>
    <p:sldId id="323" r:id="rId34"/>
    <p:sldId id="324" r:id="rId35"/>
    <p:sldId id="274" r:id="rId36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BB0C2-EABD-44F1-8452-6AA3B1E29B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0EE2DB-33D1-4144-95F7-59115A3D1D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48A75-D47C-415F-9B84-6292822AF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E2413-1214-4A72-AF3B-8977EB8A93F2}" type="datetimeFigureOut">
              <a:rPr lang="en-GB" smtClean="0"/>
              <a:t>07/12/2022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36F26-9AEA-41A8-98BE-75B8E713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A79E9-C538-4E50-B78A-433E0914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F1AA2-4544-45C1-81E2-7C04E785CB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538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816C0-5D1E-4B8B-B2D3-1FE1B52A4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40EB6-B254-4AAB-B597-5C7EC03E5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8782D-018B-46A6-B383-B52120B79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E2413-1214-4A72-AF3B-8977EB8A93F2}" type="datetimeFigureOut">
              <a:rPr lang="en-GB" smtClean="0"/>
              <a:t>07/12/2022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27E88-292D-4C18-8D5E-DB792F165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38186-EBF8-41EF-B0CC-F8F556B38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F1AA2-4544-45C1-81E2-7C04E785CB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193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F8843-B753-4223-9437-50E6DA3BD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EDE74-510E-4D49-A3AF-4B2839D39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DD31D-F663-4B3F-89A9-DE065BE2D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E2413-1214-4A72-AF3B-8977EB8A93F2}" type="datetimeFigureOut">
              <a:rPr lang="en-GB" smtClean="0"/>
              <a:t>07/12/2022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C341D-107F-4B9C-B47B-CD7FB9758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D1FF8-C32A-427B-A9F3-7CE20A951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F1AA2-4544-45C1-81E2-7C04E785CB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4246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857FB-5576-4CC0-A44B-45AB20B64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3D837-DCAE-4B51-9E06-11ED7CB5AA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0F05AA-20AA-40F5-BD3A-03B4B310A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C0DE8-E58E-41C1-8777-4EBF5C1D1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E2413-1214-4A72-AF3B-8977EB8A93F2}" type="datetimeFigureOut">
              <a:rPr lang="en-GB" smtClean="0"/>
              <a:t>07/12/2022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D37565-BF5E-408D-A407-C1D88D927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F7537-462C-4290-AB32-805F77A1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F1AA2-4544-45C1-81E2-7C04E785CB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413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DBF11-09A5-4779-B54D-D085F3635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73969-2BE1-45E0-B132-90E73F00D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6846F-2CB9-4C9D-AD4A-FC3F14F2C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220A1-1E7F-4575-9C5C-50C22E9B18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4F2CA0-E792-448F-A129-6A18E8C752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E561B7-27E3-49D7-BCFA-6425D7BE2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E2413-1214-4A72-AF3B-8977EB8A93F2}" type="datetimeFigureOut">
              <a:rPr lang="en-GB" smtClean="0"/>
              <a:t>07/12/2022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D8E97-A4B8-4EC2-BD5E-7255306B0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9966E-5EAC-44BC-A984-AF78F44A9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F1AA2-4544-45C1-81E2-7C04E785CB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2839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7FAB3-01A1-4D7D-8273-0B7F44FC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2F91F5-E931-4740-8A83-4E004098C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E2413-1214-4A72-AF3B-8977EB8A93F2}" type="datetimeFigureOut">
              <a:rPr lang="en-GB" smtClean="0"/>
              <a:t>07/12/2022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108305-ADC3-48F2-BBAB-FB299E73E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F7DAC0-71C3-414E-A69B-71F5E4004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F1AA2-4544-45C1-81E2-7C04E785CB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4958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5430D8-A8BC-4D55-B77E-16A43043E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E2413-1214-4A72-AF3B-8977EB8A93F2}" type="datetimeFigureOut">
              <a:rPr lang="en-GB" smtClean="0"/>
              <a:t>07/12/2022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7D8203-5C43-4E8B-BC2C-7AE5015B8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0C14D-C8F9-4CFC-BB84-809BC585D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F1AA2-4544-45C1-81E2-7C04E785CB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0383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C8CD-7FE3-47A0-ABC2-66E7CE0E3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ED6F1-B15C-4C5A-8F32-43B3AB199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0CA519-7591-4277-836F-179D26601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99E7B-630E-4F05-9504-90CA6E52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E2413-1214-4A72-AF3B-8977EB8A93F2}" type="datetimeFigureOut">
              <a:rPr lang="en-GB" smtClean="0"/>
              <a:t>07/12/2022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4DEE31-74B6-4705-AA54-1B9B2717C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9F45A-1E87-4F67-B706-D9C1D17C7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F1AA2-4544-45C1-81E2-7C04E785CB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526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9D3A6-6C1F-493D-ADCE-DFD39F468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FB3066-9A6B-4236-845C-9E8FFDB9CF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603DC-1756-4AE6-B740-1FA2EC7F6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10191-C750-4B8A-B8F4-0D70FBDD8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E2413-1214-4A72-AF3B-8977EB8A93F2}" type="datetimeFigureOut">
              <a:rPr lang="en-GB" smtClean="0"/>
              <a:t>07/12/2022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5B774-1383-42FA-A0BE-CA54994CE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0A66A-0AB0-4343-A65A-8A3716163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F1AA2-4544-45C1-81E2-7C04E785CB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437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73552-A816-48AC-997E-B091702D3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C38B16-B413-404A-A375-B0D88CD51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49A60-A159-4570-A719-AA4A2CC14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E2413-1214-4A72-AF3B-8977EB8A93F2}" type="datetimeFigureOut">
              <a:rPr lang="en-GB" smtClean="0"/>
              <a:t>07/12/2022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7DBD6-BC18-4FEE-B131-9BD7A9345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A227E-711E-4400-9A7E-FCDE78CE7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F1AA2-4544-45C1-81E2-7C04E785CB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6684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B19A4F-8D9F-4F22-9AC9-AE62A6C587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1EB5EF-1808-4F10-B717-AA90BE8E6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1EB76-B7AD-4191-A706-7CA355877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E2413-1214-4A72-AF3B-8977EB8A93F2}" type="datetimeFigureOut">
              <a:rPr lang="en-GB" smtClean="0"/>
              <a:t>07/12/2022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E31F5-2262-4543-A6BA-E9AE23785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39373-13C7-4EE6-8B8B-8BA5CCDF0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F1AA2-4544-45C1-81E2-7C04E785CB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40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973C29-914D-47B8-BBCF-7C4B4925E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48FEA-06AB-4FF4-B411-30D91015C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0CFA1-7B52-4589-85B6-215C9EC49C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E2413-1214-4A72-AF3B-8977EB8A93F2}" type="datetimeFigureOut">
              <a:rPr lang="en-GB" smtClean="0"/>
              <a:t>07/12/2022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7FF47-C944-4695-92C4-B1A4FE5B4E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FED7B-BC67-48F7-8072-8705B48DB8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F1AA2-4544-45C1-81E2-7C04E785CB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8243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hyperlink" Target="https://learningonscreen.ac.uk/ondemand/index.php/clip/106709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as.org/content/113/38/E5572" TargetMode="External"/><Relationship Id="rId2" Type="http://schemas.openxmlformats.org/officeDocument/2006/relationships/hyperlink" Target="https://www.futurelearn.com/courses/extinctions-past-present/0/steps/24693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ingonscreen.ac.uk/ondemand/index.php/clip/32212" TargetMode="Externa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login.learningonscreen.ac.uk/wayfless.php?entityID=https%3A%2F%2Fshib.manchester.ac.uk%2Fshibboleth&amp;target=https%3A%2F%2Flearningonscreen.ac.uk%2Fondemand%2Findex.php%2Fclip%2F106770" TargetMode="External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science.sciencemag.org/content/316/5833/1830.full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gif"/><Relationship Id="rId7" Type="http://schemas.openxmlformats.org/officeDocument/2006/relationships/image" Target="../media/image53.jp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jpeg"/><Relationship Id="rId5" Type="http://schemas.openxmlformats.org/officeDocument/2006/relationships/image" Target="../media/image51.jpeg"/><Relationship Id="rId4" Type="http://schemas.openxmlformats.org/officeDocument/2006/relationships/image" Target="../media/image50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jpeg"/><Relationship Id="rId4" Type="http://schemas.openxmlformats.org/officeDocument/2006/relationships/image" Target="../media/image56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Image result for prairi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8" b="16292"/>
          <a:stretch/>
        </p:blipFill>
        <p:spPr bwMode="auto">
          <a:xfrm>
            <a:off x="0" y="0"/>
            <a:ext cx="12192000" cy="6822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2525014" y="1709860"/>
            <a:ext cx="7141971" cy="3438280"/>
          </a:xfrm>
          <a:prstGeom prst="rect">
            <a:avLst/>
          </a:prstGeom>
          <a:solidFill>
            <a:srgbClr val="000000">
              <a:alpha val="40000"/>
            </a:srgbClr>
          </a:solidFill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9200" dirty="0">
                <a:solidFill>
                  <a:schemeClr val="bg1"/>
                </a:solidFill>
              </a:rPr>
              <a:t>Meet the Monocots</a:t>
            </a:r>
            <a:endParaRPr lang="en-GB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234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upload.wikimedia.org/wikipedia/commons/a/a6/Seekiefer_%28Pinus_halepensis%29_14d_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3861" y="2722448"/>
            <a:ext cx="2376264" cy="3446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882" y="0"/>
            <a:ext cx="20521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Cotyledons</a:t>
            </a:r>
            <a:endParaRPr lang="en-GB" sz="20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71819" y="137965"/>
            <a:ext cx="5255926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“Seed leaves”</a:t>
            </a:r>
          </a:p>
          <a:p>
            <a:pPr algn="ctr"/>
            <a:r>
              <a:rPr lang="en-GB" sz="2800" dirty="0"/>
              <a:t>Produced in the embryo</a:t>
            </a:r>
          </a:p>
          <a:p>
            <a:pPr algn="ctr"/>
            <a:r>
              <a:rPr lang="en-GB" sz="2800" dirty="0"/>
              <a:t>Different structure to “true” leaves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33841" y="1783460"/>
            <a:ext cx="2736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Gymnosperms</a:t>
            </a:r>
          </a:p>
          <a:p>
            <a:pPr algn="ctr"/>
            <a:r>
              <a:rPr lang="en-GB" sz="2400" dirty="0"/>
              <a:t>2-24 cotyledons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35763" y="1822654"/>
            <a:ext cx="2736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Angiosperms</a:t>
            </a:r>
          </a:p>
          <a:p>
            <a:pPr algn="ctr"/>
            <a:r>
              <a:rPr lang="en-GB" sz="2400" dirty="0"/>
              <a:t>1 or 2 cotyledons</a:t>
            </a:r>
          </a:p>
        </p:txBody>
      </p:sp>
      <p:pic>
        <p:nvPicPr>
          <p:cNvPr id="3076" name="Picture 4" descr="https://upload.wikimedia.org/wikipedia/commons/0/01/Monocot_vs_dicot_crop_Peng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7912" y="2621552"/>
            <a:ext cx="2432009" cy="3726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919920" y="3859134"/>
            <a:ext cx="12720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Dicot</a:t>
            </a:r>
            <a:endParaRPr lang="en-GB" sz="4400" dirty="0"/>
          </a:p>
        </p:txBody>
      </p:sp>
      <p:sp>
        <p:nvSpPr>
          <p:cNvPr id="9" name="TextBox 8"/>
          <p:cNvSpPr txBox="1"/>
          <p:nvPr/>
        </p:nvSpPr>
        <p:spPr>
          <a:xfrm>
            <a:off x="6394213" y="3945690"/>
            <a:ext cx="20896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Monocot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83824" y="5886074"/>
            <a:ext cx="24320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" dirty="0">
                <a:solidFill>
                  <a:schemeClr val="bg1"/>
                </a:solidFill>
              </a:rPr>
              <a:t>By: </a:t>
            </a:r>
            <a:r>
              <a:rPr lang="en-GB" sz="800" dirty="0" err="1">
                <a:solidFill>
                  <a:schemeClr val="bg1"/>
                </a:solidFill>
              </a:rPr>
              <a:t>Pengo</a:t>
            </a:r>
            <a:r>
              <a:rPr lang="en-GB" sz="800" dirty="0">
                <a:solidFill>
                  <a:schemeClr val="bg1"/>
                </a:solidFill>
              </a:rPr>
              <a:t> - Peter </a:t>
            </a:r>
            <a:r>
              <a:rPr lang="en-GB" sz="800" dirty="0" err="1">
                <a:solidFill>
                  <a:schemeClr val="bg1"/>
                </a:solidFill>
              </a:rPr>
              <a:t>HalaszCC</a:t>
            </a:r>
            <a:r>
              <a:rPr lang="en-GB" sz="800" dirty="0">
                <a:solidFill>
                  <a:schemeClr val="bg1"/>
                </a:solidFill>
              </a:rPr>
              <a:t> BY-SA 3.0, https://commons.wikimedia.org/w/index.php?curid=837422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013861" y="5712657"/>
            <a:ext cx="23762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" dirty="0">
                <a:solidFill>
                  <a:schemeClr val="bg1"/>
                </a:solidFill>
              </a:rPr>
              <a:t>By </a:t>
            </a:r>
            <a:r>
              <a:rPr lang="en-GB" sz="800" dirty="0" err="1">
                <a:solidFill>
                  <a:schemeClr val="bg1"/>
                </a:solidFill>
              </a:rPr>
              <a:t>Sternenlaus</a:t>
            </a:r>
            <a:r>
              <a:rPr lang="en-GB" sz="800" dirty="0">
                <a:solidFill>
                  <a:schemeClr val="bg1"/>
                </a:solidFill>
              </a:rPr>
              <a:t>, CC BY-SA 3.0, https://commons.wikimedia.org/w/index.php?curid=4764892</a:t>
            </a:r>
          </a:p>
        </p:txBody>
      </p:sp>
    </p:spTree>
    <p:extLst>
      <p:ext uri="{BB962C8B-B14F-4D97-AF65-F5344CB8AC3E}">
        <p14:creationId xmlns:p14="http://schemas.microsoft.com/office/powerpoint/2010/main" val="137786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5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48FCED-1F92-458A-B4B5-5AF8A80AE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510" y="598012"/>
            <a:ext cx="6333564" cy="3565347"/>
          </a:xfrm>
          <a:prstGeom prst="rect">
            <a:avLst/>
          </a:prstGeom>
        </p:spPr>
      </p:pic>
      <p:sp>
        <p:nvSpPr>
          <p:cNvPr id="5" name="Arrow: Up 4">
            <a:extLst>
              <a:ext uri="{FF2B5EF4-FFF2-40B4-BE49-F238E27FC236}">
                <a16:creationId xmlns:a16="http://schemas.microsoft.com/office/drawing/2014/main" id="{E3C31379-061E-4817-AE0A-9A01BC56909A}"/>
              </a:ext>
            </a:extLst>
          </p:cNvPr>
          <p:cNvSpPr/>
          <p:nvPr/>
        </p:nvSpPr>
        <p:spPr>
          <a:xfrm>
            <a:off x="5872758" y="3660569"/>
            <a:ext cx="720080" cy="136815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94FB69-D33D-467C-A26C-64287E58555F}"/>
              </a:ext>
            </a:extLst>
          </p:cNvPr>
          <p:cNvSpPr txBox="1"/>
          <p:nvPr/>
        </p:nvSpPr>
        <p:spPr>
          <a:xfrm>
            <a:off x="5364420" y="5058843"/>
            <a:ext cx="17367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~135MYa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0D2615-58AA-4890-A201-625FF644C273}"/>
              </a:ext>
            </a:extLst>
          </p:cNvPr>
          <p:cNvSpPr txBox="1"/>
          <p:nvPr/>
        </p:nvSpPr>
        <p:spPr>
          <a:xfrm>
            <a:off x="0" y="13237"/>
            <a:ext cx="2582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The Monocots</a:t>
            </a:r>
            <a:endParaRPr lang="en-GB" sz="2000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7CE180-8BC6-44BE-9440-380EAA4F7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3199" y="2710689"/>
            <a:ext cx="2083257" cy="3582282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E7744244-B7B6-405F-8E9D-0A316F649067}"/>
              </a:ext>
            </a:extLst>
          </p:cNvPr>
          <p:cNvSpPr/>
          <p:nvPr/>
        </p:nvSpPr>
        <p:spPr>
          <a:xfrm>
            <a:off x="9044250" y="3693776"/>
            <a:ext cx="788948" cy="6831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95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100489-410B-4A32-AC1E-F12A153153B0}"/>
              </a:ext>
            </a:extLst>
          </p:cNvPr>
          <p:cNvSpPr txBox="1"/>
          <p:nvPr/>
        </p:nvSpPr>
        <p:spPr>
          <a:xfrm>
            <a:off x="0" y="8990"/>
            <a:ext cx="44364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How to Spot a Monocot…</a:t>
            </a:r>
            <a:endParaRPr lang="en-GB" sz="2000" dirty="0">
              <a:solidFill>
                <a:srgbClr val="FF0000"/>
              </a:solidFill>
            </a:endParaRPr>
          </a:p>
        </p:txBody>
      </p:sp>
      <p:pic>
        <p:nvPicPr>
          <p:cNvPr id="8" name="Picture 7" descr="A close up of a flower&#10;&#10;Description automatically generated">
            <a:extLst>
              <a:ext uri="{FF2B5EF4-FFF2-40B4-BE49-F238E27FC236}">
                <a16:creationId xmlns:a16="http://schemas.microsoft.com/office/drawing/2014/main" id="{459D009B-2DC7-44B7-B6AF-DC5BCE809B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20" t="12125" r="21174" b="9106"/>
          <a:stretch/>
        </p:blipFill>
        <p:spPr>
          <a:xfrm>
            <a:off x="8402528" y="811621"/>
            <a:ext cx="2787390" cy="223224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6143904-5C91-4D41-BCB6-23737694DB26}"/>
              </a:ext>
            </a:extLst>
          </p:cNvPr>
          <p:cNvSpPr/>
          <p:nvPr/>
        </p:nvSpPr>
        <p:spPr>
          <a:xfrm>
            <a:off x="7606939" y="270600"/>
            <a:ext cx="43785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/>
              <a:t>Flower with </a:t>
            </a:r>
            <a:r>
              <a:rPr lang="en-GB" sz="2800" dirty="0">
                <a:solidFill>
                  <a:srgbClr val="FF0000"/>
                </a:solidFill>
              </a:rPr>
              <a:t>3-fold symmetry</a:t>
            </a:r>
          </a:p>
        </p:txBody>
      </p:sp>
      <p:pic>
        <p:nvPicPr>
          <p:cNvPr id="11" name="Picture 10" descr="A close up of a flower&#10;&#10;Description automatically generated">
            <a:extLst>
              <a:ext uri="{FF2B5EF4-FFF2-40B4-BE49-F238E27FC236}">
                <a16:creationId xmlns:a16="http://schemas.microsoft.com/office/drawing/2014/main" id="{7A455A27-259E-4123-917B-F3BD65B949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20"/>
          <a:stretch/>
        </p:blipFill>
        <p:spPr>
          <a:xfrm>
            <a:off x="3408743" y="793820"/>
            <a:ext cx="1127578" cy="3668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482D49-5CF2-496A-8DFF-DB565D432E25}"/>
              </a:ext>
            </a:extLst>
          </p:cNvPr>
          <p:cNvSpPr txBox="1"/>
          <p:nvPr/>
        </p:nvSpPr>
        <p:spPr>
          <a:xfrm>
            <a:off x="4551608" y="907193"/>
            <a:ext cx="23410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“Single cotyledon”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0C3AB7-FD03-4BD0-9027-CD29003D3EF5}"/>
              </a:ext>
            </a:extLst>
          </p:cNvPr>
          <p:cNvSpPr txBox="1"/>
          <p:nvPr/>
        </p:nvSpPr>
        <p:spPr>
          <a:xfrm>
            <a:off x="5104180" y="2601886"/>
            <a:ext cx="26197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Parallel</a:t>
            </a:r>
            <a:r>
              <a:rPr lang="en-GB" sz="3600" dirty="0"/>
              <a:t> veins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C3CA0C0-F4F1-4DF8-AB25-7B9653491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6091" y="3229100"/>
            <a:ext cx="4355934" cy="2903956"/>
          </a:xfrm>
          <a:prstGeom prst="rect">
            <a:avLst/>
          </a:prstGeom>
        </p:spPr>
      </p:pic>
      <p:pic>
        <p:nvPicPr>
          <p:cNvPr id="13" name="Picture 12" descr="A picture containing map&#10;&#10;Description automatically generated">
            <a:extLst>
              <a:ext uri="{FF2B5EF4-FFF2-40B4-BE49-F238E27FC236}">
                <a16:creationId xmlns:a16="http://schemas.microsoft.com/office/drawing/2014/main" id="{359B9FBA-2558-4BB0-85A2-98306FC62D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228" y="4786312"/>
            <a:ext cx="3805238" cy="207168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D74C2F7-1787-42D9-9070-88EB2C5A6528}"/>
              </a:ext>
            </a:extLst>
          </p:cNvPr>
          <p:cNvSpPr/>
          <p:nvPr/>
        </p:nvSpPr>
        <p:spPr>
          <a:xfrm>
            <a:off x="8592025" y="3709094"/>
            <a:ext cx="3393484" cy="10772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GB" sz="3200" dirty="0">
                <a:highlight>
                  <a:srgbClr val="FFFFFF"/>
                </a:highlight>
              </a:rPr>
              <a:t>Scattered vascular bundles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93214F-6E58-42CF-B2F2-6C7172B31C8C}"/>
              </a:ext>
            </a:extLst>
          </p:cNvPr>
          <p:cNvSpPr txBox="1"/>
          <p:nvPr/>
        </p:nvSpPr>
        <p:spPr>
          <a:xfrm>
            <a:off x="4484541" y="6133170"/>
            <a:ext cx="17089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Monocot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AA2FC0-708B-4A3C-BF1B-0ACE9324FCC8}"/>
              </a:ext>
            </a:extLst>
          </p:cNvPr>
          <p:cNvSpPr txBox="1"/>
          <p:nvPr/>
        </p:nvSpPr>
        <p:spPr>
          <a:xfrm>
            <a:off x="6910271" y="6147945"/>
            <a:ext cx="10565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Dicot</a:t>
            </a:r>
          </a:p>
        </p:txBody>
      </p:sp>
    </p:spTree>
    <p:extLst>
      <p:ext uri="{BB962C8B-B14F-4D97-AF65-F5344CB8AC3E}">
        <p14:creationId xmlns:p14="http://schemas.microsoft.com/office/powerpoint/2010/main" val="379102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5" grpId="0"/>
      <p:bldP spid="14" grpId="0" animBg="1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4E73763-8EA1-47A5-A57D-D1B781F6ADF4}"/>
              </a:ext>
            </a:extLst>
          </p:cNvPr>
          <p:cNvGrpSpPr/>
          <p:nvPr/>
        </p:nvGrpSpPr>
        <p:grpSpPr>
          <a:xfrm>
            <a:off x="3552960" y="3177627"/>
            <a:ext cx="2813471" cy="3593027"/>
            <a:chOff x="2905512" y="996530"/>
            <a:chExt cx="4204899" cy="5205549"/>
          </a:xfrm>
        </p:grpSpPr>
        <p:pic>
          <p:nvPicPr>
            <p:cNvPr id="5124" name="Picture 4" descr="https://upload.wikimedia.org/wikipedia/commons/thumb/5/5d/Yucca_decipiens.jpg/800px-Yucca_decipiens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5512" y="996530"/>
              <a:ext cx="4165715" cy="52055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/>
            <p:cNvSpPr/>
            <p:nvPr/>
          </p:nvSpPr>
          <p:spPr>
            <a:xfrm>
              <a:off x="2944696" y="5475214"/>
              <a:ext cx="4165715" cy="6688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bg1"/>
                  </a:solidFill>
                </a:rPr>
                <a:t>By Tomas </a:t>
              </a:r>
              <a:r>
                <a:rPr lang="en-GB" sz="800" dirty="0" err="1">
                  <a:solidFill>
                    <a:schemeClr val="bg1"/>
                  </a:solidFill>
                </a:rPr>
                <a:t>Castelazo</a:t>
              </a:r>
              <a:r>
                <a:rPr lang="en-GB" sz="800" dirty="0">
                  <a:solidFill>
                    <a:schemeClr val="bg1"/>
                  </a:solidFill>
                </a:rPr>
                <a:t> (Own work) [CC BY-SA 2.5 (https://creativecommons.org/licenses/by-sa/2.5)], via Wikimedia Commons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504CC41-006A-4506-8E6F-C13EB150BFF3}"/>
              </a:ext>
            </a:extLst>
          </p:cNvPr>
          <p:cNvGrpSpPr/>
          <p:nvPr/>
        </p:nvGrpSpPr>
        <p:grpSpPr>
          <a:xfrm>
            <a:off x="6699405" y="3392767"/>
            <a:ext cx="4498442" cy="3220616"/>
            <a:chOff x="7130342" y="2492896"/>
            <a:chExt cx="6502401" cy="4876800"/>
          </a:xfrm>
        </p:grpSpPr>
        <p:pic>
          <p:nvPicPr>
            <p:cNvPr id="5129" name="Picture 9" descr="D:\Documents\Teaching\Biodiversity\Lecture 10 - The Green Green Grass of Home\1280px-Palm_tree_trunk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30342" y="2492896"/>
              <a:ext cx="6502401" cy="4876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/>
            <p:cNvSpPr/>
            <p:nvPr/>
          </p:nvSpPr>
          <p:spPr>
            <a:xfrm>
              <a:off x="8124405" y="6786479"/>
              <a:ext cx="4335289" cy="512654"/>
            </a:xfrm>
            <a:prstGeom prst="rect">
              <a:avLst/>
            </a:prstGeom>
            <a:solidFill>
              <a:srgbClr val="000000">
                <a:alpha val="50196"/>
              </a:srgbClr>
            </a:solidFill>
          </p:spPr>
          <p:txBody>
            <a:bodyPr wrap="square">
              <a:spAutoFit/>
            </a:bodyPr>
            <a:lstStyle/>
            <a:p>
              <a:r>
                <a:rPr lang="en-GB" sz="800" i="1" dirty="0">
                  <a:solidFill>
                    <a:schemeClr val="bg1"/>
                  </a:solidFill>
                </a:rPr>
                <a:t>(By </a:t>
              </a:r>
              <a:r>
                <a:rPr lang="en-GB" sz="800" i="1" dirty="0" err="1">
                  <a:solidFill>
                    <a:schemeClr val="bg1"/>
                  </a:solidFill>
                </a:rPr>
                <a:t>Kadeve</a:t>
              </a:r>
              <a:r>
                <a:rPr lang="en-GB" sz="800" i="1" dirty="0">
                  <a:solidFill>
                    <a:schemeClr val="bg1"/>
                  </a:solidFill>
                </a:rPr>
                <a:t> - Own work, CC BY-SA 3.0, https://commons.wikimedia.org/w/index.php?curid=21478125)</a:t>
              </a:r>
              <a:endParaRPr lang="en-GB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5FCF8BC-5855-4FF6-8040-8C8C68C2B529}"/>
              </a:ext>
            </a:extLst>
          </p:cNvPr>
          <p:cNvSpPr txBox="1"/>
          <p:nvPr/>
        </p:nvSpPr>
        <p:spPr>
          <a:xfrm>
            <a:off x="0" y="0"/>
            <a:ext cx="35529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Monocot meristems</a:t>
            </a:r>
            <a:endParaRPr lang="en-GB" sz="20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BC52AF-9504-40C0-9AD3-1C70C2DC0A64}"/>
              </a:ext>
            </a:extLst>
          </p:cNvPr>
          <p:cNvSpPr txBox="1"/>
          <p:nvPr/>
        </p:nvSpPr>
        <p:spPr>
          <a:xfrm>
            <a:off x="3848880" y="498865"/>
            <a:ext cx="743626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Meristem</a:t>
            </a:r>
            <a:r>
              <a:rPr lang="en-GB" sz="2800" dirty="0"/>
              <a:t> - point of cell division</a:t>
            </a:r>
          </a:p>
          <a:p>
            <a:r>
              <a:rPr lang="en-GB" sz="2800" dirty="0">
                <a:solidFill>
                  <a:srgbClr val="FF0000"/>
                </a:solidFill>
              </a:rPr>
              <a:t>Apical </a:t>
            </a:r>
            <a:r>
              <a:rPr lang="en-GB" sz="2800" dirty="0"/>
              <a:t>meristem – at tip</a:t>
            </a:r>
          </a:p>
          <a:p>
            <a:r>
              <a:rPr lang="en-GB" sz="2800" dirty="0">
                <a:solidFill>
                  <a:srgbClr val="FF0000"/>
                </a:solidFill>
              </a:rPr>
              <a:t>Lateral</a:t>
            </a:r>
            <a:r>
              <a:rPr lang="en-GB" sz="2800" dirty="0"/>
              <a:t> meristems – allow stems to growth thicker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48F176-26E5-4B1D-B4F3-5DCDC41A3002}"/>
              </a:ext>
            </a:extLst>
          </p:cNvPr>
          <p:cNvSpPr/>
          <p:nvPr/>
        </p:nvSpPr>
        <p:spPr>
          <a:xfrm>
            <a:off x="3552960" y="1895071"/>
            <a:ext cx="703852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dirty="0"/>
              <a:t>Monocots lack lateral meristems</a:t>
            </a:r>
          </a:p>
          <a:p>
            <a:pPr algn="ctr"/>
            <a:r>
              <a:rPr lang="en-GB" sz="3200" dirty="0"/>
              <a:t>So cannot form wood</a:t>
            </a:r>
          </a:p>
        </p:txBody>
      </p:sp>
    </p:spTree>
    <p:extLst>
      <p:ext uri="{BB962C8B-B14F-4D97-AF65-F5344CB8AC3E}">
        <p14:creationId xmlns:p14="http://schemas.microsoft.com/office/powerpoint/2010/main" val="860417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A0CB04F-90C8-457D-AC96-6A14E0ED29BE}"/>
              </a:ext>
            </a:extLst>
          </p:cNvPr>
          <p:cNvSpPr txBox="1"/>
          <p:nvPr/>
        </p:nvSpPr>
        <p:spPr>
          <a:xfrm>
            <a:off x="0" y="0"/>
            <a:ext cx="35529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Monocot meristems</a:t>
            </a:r>
            <a:endParaRPr lang="en-GB" sz="2000" dirty="0">
              <a:solidFill>
                <a:srgbClr val="FF0000"/>
              </a:solidFill>
            </a:endParaRPr>
          </a:p>
        </p:txBody>
      </p:sp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68A118CF-C3AE-4E79-82C6-93F6F8891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4928" y="1802690"/>
            <a:ext cx="4709376" cy="31472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18DC4BF-BADC-443E-84CD-69F40C9FA826}"/>
              </a:ext>
            </a:extLst>
          </p:cNvPr>
          <p:cNvSpPr txBox="1"/>
          <p:nvPr/>
        </p:nvSpPr>
        <p:spPr>
          <a:xfrm>
            <a:off x="3784526" y="584775"/>
            <a:ext cx="80212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Monocots have intercalary meristems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2AF096-E92A-4849-AD72-FB214A017E39}"/>
              </a:ext>
            </a:extLst>
          </p:cNvPr>
          <p:cNvSpPr txBox="1"/>
          <p:nvPr/>
        </p:nvSpPr>
        <p:spPr>
          <a:xfrm>
            <a:off x="4620327" y="5248548"/>
            <a:ext cx="5818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Leaves can grow from base up</a:t>
            </a:r>
          </a:p>
        </p:txBody>
      </p:sp>
    </p:spTree>
    <p:extLst>
      <p:ext uri="{BB962C8B-B14F-4D97-AF65-F5344CB8AC3E}">
        <p14:creationId xmlns:p14="http://schemas.microsoft.com/office/powerpoint/2010/main" val="2019969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687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164395" y="5388574"/>
            <a:ext cx="85584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hlinkClick r:id="rId2"/>
              </a:rPr>
              <a:t>https://learningonscreen.ac.uk/ondemand/index.php/clip/106709</a:t>
            </a:r>
            <a:endParaRPr lang="en-GB" sz="2400" dirty="0"/>
          </a:p>
          <a:p>
            <a:pPr algn="ctr"/>
            <a:r>
              <a:rPr lang="en-GB" sz="2400" dirty="0"/>
              <a:t>2:20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467" y="1599047"/>
            <a:ext cx="6567065" cy="3659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7284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172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Image result for prairi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8" b="16292"/>
          <a:stretch/>
        </p:blipFill>
        <p:spPr bwMode="auto">
          <a:xfrm>
            <a:off x="0" y="0"/>
            <a:ext cx="12192000" cy="6822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2262436" y="1080914"/>
            <a:ext cx="7667128" cy="4696172"/>
          </a:xfrm>
          <a:prstGeom prst="rect">
            <a:avLst/>
          </a:prstGeom>
          <a:solidFill>
            <a:srgbClr val="000000">
              <a:alpha val="40000"/>
            </a:srgb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1300" dirty="0">
                <a:solidFill>
                  <a:schemeClr val="bg1"/>
                </a:solidFill>
              </a:rPr>
              <a:t>Enter the Grasses</a:t>
            </a:r>
          </a:p>
          <a:p>
            <a:br>
              <a:rPr lang="en-GB" sz="2800" dirty="0">
                <a:solidFill>
                  <a:srgbClr val="FF0000"/>
                </a:solidFill>
              </a:rPr>
            </a:br>
            <a:endParaRPr lang="en-GB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95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560"/>
            <a:ext cx="5598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The Paleogene (66 – 23 </a:t>
            </a:r>
            <a:r>
              <a:rPr lang="en-GB" sz="3600" dirty="0" err="1">
                <a:solidFill>
                  <a:srgbClr val="FF0000"/>
                </a:solidFill>
              </a:rPr>
              <a:t>MYa</a:t>
            </a:r>
            <a:r>
              <a:rPr lang="en-GB" sz="3600" dirty="0">
                <a:solidFill>
                  <a:srgbClr val="FF0000"/>
                </a:solidFill>
              </a:rPr>
              <a:t>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72846" y="5144709"/>
            <a:ext cx="555139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Dinosaurs dead</a:t>
            </a:r>
          </a:p>
          <a:p>
            <a:pPr algn="ctr"/>
            <a:r>
              <a:rPr lang="en-GB" sz="3600" dirty="0"/>
              <a:t>Mammals became dominant</a:t>
            </a:r>
          </a:p>
          <a:p>
            <a:pPr algn="ctr"/>
            <a:r>
              <a:rPr lang="en-GB" sz="3600" dirty="0">
                <a:solidFill>
                  <a:srgbClr val="FF0000"/>
                </a:solidFill>
              </a:rPr>
              <a:t>Cooler drier climate</a:t>
            </a:r>
          </a:p>
        </p:txBody>
      </p:sp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58452DC9-FDE3-4F3C-A6D1-6A061C06B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807" y="746082"/>
            <a:ext cx="7787469" cy="43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700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s://abouquetfrommendel.files.wordpress.com/2012/03/dudley-1998-fig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264" y="908720"/>
            <a:ext cx="5112568" cy="4829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abouquetfrommendel.files.wordpress.com/2012/03/dudley-1998-fig-1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57" t="65115"/>
          <a:stretch/>
        </p:blipFill>
        <p:spPr bwMode="auto">
          <a:xfrm>
            <a:off x="6672064" y="1741396"/>
            <a:ext cx="3546764" cy="3997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Arrow 3"/>
          <p:cNvSpPr/>
          <p:nvPr/>
        </p:nvSpPr>
        <p:spPr>
          <a:xfrm rot="18990883">
            <a:off x="6095999" y="3860751"/>
            <a:ext cx="1152128" cy="79208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ight Arrow 4"/>
          <p:cNvSpPr/>
          <p:nvPr/>
        </p:nvSpPr>
        <p:spPr>
          <a:xfrm rot="5400000">
            <a:off x="7730141" y="1921415"/>
            <a:ext cx="1152128" cy="79208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832498" y="5876402"/>
            <a:ext cx="84242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Falling CO</a:t>
            </a:r>
            <a:r>
              <a:rPr lang="en-GB" sz="3600" baseline="-25000" dirty="0"/>
              <a:t>2 </a:t>
            </a:r>
            <a:r>
              <a:rPr lang="en-GB" sz="3600" dirty="0"/>
              <a:t>resulting from mountain building</a:t>
            </a:r>
            <a:endParaRPr lang="en-GB" sz="3600" baseline="-25000" dirty="0"/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49682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A change of atmosphere?</a:t>
            </a:r>
            <a:endParaRPr lang="en-GB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915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upload.wikimedia.org/wikipedia/commons/thumb/4/46/Grasslands-menggu.JPG/800px-Grasslands-menggu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t="383" r="28" b="24765"/>
          <a:stretch/>
        </p:blipFill>
        <p:spPr bwMode="auto">
          <a:xfrm>
            <a:off x="-1" y="-12654"/>
            <a:ext cx="1221281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0" y="12653"/>
            <a:ext cx="45096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The Rise of the Grasses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13849" y="2123684"/>
            <a:ext cx="918510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/>
              <a:t>Grasses short</a:t>
            </a:r>
          </a:p>
          <a:p>
            <a:pPr algn="ctr"/>
            <a:r>
              <a:rPr lang="en-GB" sz="5400" dirty="0"/>
              <a:t>Grazing tolerant</a:t>
            </a:r>
          </a:p>
          <a:p>
            <a:pPr algn="ctr"/>
            <a:r>
              <a:rPr lang="en-GB" sz="5400" dirty="0"/>
              <a:t>Fire tolerant</a:t>
            </a:r>
          </a:p>
        </p:txBody>
      </p:sp>
    </p:spTree>
    <p:extLst>
      <p:ext uri="{BB962C8B-B14F-4D97-AF65-F5344CB8AC3E}">
        <p14:creationId xmlns:p14="http://schemas.microsoft.com/office/powerpoint/2010/main" val="210449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7B9425-1CA1-429C-BA54-CC287A36558D}"/>
              </a:ext>
            </a:extLst>
          </p:cNvPr>
          <p:cNvSpPr/>
          <p:nvPr/>
        </p:nvSpPr>
        <p:spPr>
          <a:xfrm>
            <a:off x="2009546" y="6143898"/>
            <a:ext cx="81729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Video: </a:t>
            </a:r>
            <a:r>
              <a:rPr lang="en-GB" dirty="0">
                <a:hlinkClick r:id="rId2"/>
              </a:rPr>
              <a:t>https://www.futurelearn.com/courses/extinctions-past-present/0/steps/24693</a:t>
            </a:r>
            <a:endParaRPr lang="en-GB" dirty="0"/>
          </a:p>
          <a:p>
            <a:pPr algn="ctr"/>
            <a:r>
              <a:rPr lang="en-GB" dirty="0"/>
              <a:t>Paper (more technical): </a:t>
            </a:r>
            <a:r>
              <a:rPr lang="en-GB" dirty="0">
                <a:hlinkClick r:id="rId3"/>
              </a:rPr>
              <a:t>https://www.pnas.org/content/113/38/E5572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5E4C04-9045-48A6-902C-80C89A5A116E}"/>
              </a:ext>
            </a:extLst>
          </p:cNvPr>
          <p:cNvSpPr txBox="1"/>
          <p:nvPr/>
        </p:nvSpPr>
        <p:spPr>
          <a:xfrm>
            <a:off x="1914999" y="3429000"/>
            <a:ext cx="862992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~20MYa – Africa collided with Eurasia</a:t>
            </a:r>
          </a:p>
          <a:p>
            <a:pPr algn="ctr"/>
            <a:r>
              <a:rPr lang="en-GB" sz="3200" dirty="0"/>
              <a:t>Proboscidea (elephant relatives) spread out</a:t>
            </a:r>
          </a:p>
          <a:p>
            <a:pPr algn="ctr"/>
            <a:r>
              <a:rPr lang="en-GB" sz="3200" dirty="0"/>
              <a:t>Bovidae moved in</a:t>
            </a:r>
          </a:p>
          <a:p>
            <a:pPr algn="ctr"/>
            <a:r>
              <a:rPr lang="en-GB" sz="3200" dirty="0"/>
              <a:t>Trees decline – grasses and thorny bushes increase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90796A-8A06-4111-B29A-749F8D0231D4}"/>
              </a:ext>
            </a:extLst>
          </p:cNvPr>
          <p:cNvSpPr txBox="1"/>
          <p:nvPr/>
        </p:nvSpPr>
        <p:spPr>
          <a:xfrm>
            <a:off x="0" y="0"/>
            <a:ext cx="51790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The Rise of African Grasslands</a:t>
            </a:r>
            <a:endParaRPr lang="en-GB" sz="2000" dirty="0">
              <a:solidFill>
                <a:srgbClr val="FF0000"/>
              </a:solidFill>
            </a:endParaRPr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93457B19-466E-434A-8F09-7A8A6752F7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298" y="965046"/>
            <a:ext cx="3573331" cy="197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18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443" y="0"/>
            <a:ext cx="22191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Eating Grass</a:t>
            </a:r>
            <a:endParaRPr lang="en-GB" sz="2000" dirty="0">
              <a:solidFill>
                <a:srgbClr val="FF0000"/>
              </a:solidFill>
            </a:endParaRPr>
          </a:p>
        </p:txBody>
      </p:sp>
      <p:pic>
        <p:nvPicPr>
          <p:cNvPr id="9218" name="Picture 2" descr="https://upload.wikimedia.org/wikipedia/commons/thumb/a/ad/Phytolithes_observ%C3%A9s_au_Microscope_Electronique_%C3%A0_Balayage_06.jpg/800px-Phytolithes_observ%C3%A9s_au_Microscope_Electronique_%C3%A0_Balayage_0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2941" y="946950"/>
            <a:ext cx="5476875" cy="410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866837" y="209736"/>
            <a:ext cx="7965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 err="1"/>
              <a:t>Phytoliths</a:t>
            </a:r>
            <a:r>
              <a:rPr lang="en-GB" sz="3600" dirty="0"/>
              <a:t>: silica crystals formed by plants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77196" y="5339437"/>
            <a:ext cx="57283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Co-evolution of herbivores</a:t>
            </a:r>
          </a:p>
        </p:txBody>
      </p:sp>
      <p:pic>
        <p:nvPicPr>
          <p:cNvPr id="9220" name="Picture 4" descr="Cow Teeth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926" y="901507"/>
            <a:ext cx="6013602" cy="4196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https://upload.wikimedia.org/wikipedia/commons/thumb/0/01/Pogonatum_urnigerum_amongst_rabbit_droppings.jpg/800px-Pogonatum_urnigerum_amongst_rabbit_dropping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7196" y="847998"/>
            <a:ext cx="5914619" cy="4241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6800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Diagram of a typical lawn grass plant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784" y="692696"/>
            <a:ext cx="3896611" cy="616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0" y="0"/>
            <a:ext cx="5922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Grasses Grow from the Bottom Up</a:t>
            </a:r>
            <a:endParaRPr lang="en-GB" sz="2000" dirty="0">
              <a:solidFill>
                <a:srgbClr val="FF0000"/>
              </a:solidFill>
            </a:endParaRPr>
          </a:p>
        </p:txBody>
      </p:sp>
      <p:sp>
        <p:nvSpPr>
          <p:cNvPr id="2" name="Down Arrow 1"/>
          <p:cNvSpPr/>
          <p:nvPr/>
        </p:nvSpPr>
        <p:spPr>
          <a:xfrm rot="4816510">
            <a:off x="7894885" y="3269654"/>
            <a:ext cx="576064" cy="7200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887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Image result for grass fir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85"/>
          <a:stretch/>
        </p:blipFill>
        <p:spPr bwMode="auto">
          <a:xfrm>
            <a:off x="-47327" y="-34506"/>
            <a:ext cx="12331015" cy="6892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945092" y="6074032"/>
            <a:ext cx="8280920" cy="830997"/>
          </a:xfrm>
          <a:prstGeom prst="rect">
            <a:avLst/>
          </a:prstGeom>
          <a:solidFill>
            <a:srgbClr val="FFFFFF">
              <a:alpha val="30196"/>
            </a:srgbClr>
          </a:solidFill>
        </p:spPr>
        <p:txBody>
          <a:bodyPr wrap="square">
            <a:spAutoFit/>
          </a:bodyPr>
          <a:lstStyle/>
          <a:p>
            <a:r>
              <a:rPr lang="en-GB" sz="2400" dirty="0">
                <a:hlinkClick r:id="rId3"/>
              </a:rPr>
              <a:t>https://learningonscreen.ac.uk/ondemand/index.php/clip/32212</a:t>
            </a:r>
            <a:endParaRPr lang="en-GB" sz="2400" dirty="0"/>
          </a:p>
          <a:p>
            <a:pPr algn="ctr"/>
            <a:r>
              <a:rPr lang="en-GB" sz="2400" dirty="0"/>
              <a:t>7:30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-34506"/>
            <a:ext cx="19742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Grass Fires</a:t>
            </a:r>
            <a:endParaRPr lang="en-GB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8926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large green field with trees in the background&#10;&#10;Description automatically generated">
            <a:extLst>
              <a:ext uri="{FF2B5EF4-FFF2-40B4-BE49-F238E27FC236}">
                <a16:creationId xmlns:a16="http://schemas.microsoft.com/office/drawing/2014/main" id="{60586614-B776-4374-BC00-5BA651F9C2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74" b="1824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65F241-8387-4002-A1FC-C971D7E951EF}"/>
              </a:ext>
            </a:extLst>
          </p:cNvPr>
          <p:cNvSpPr txBox="1"/>
          <p:nvPr/>
        </p:nvSpPr>
        <p:spPr>
          <a:xfrm>
            <a:off x="2383253" y="572333"/>
            <a:ext cx="7425494" cy="4355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EART11100</a:t>
            </a:r>
          </a:p>
          <a:p>
            <a:pPr algn="ctr"/>
            <a:r>
              <a:rPr lang="en-GB" sz="5400" dirty="0"/>
              <a:t>How to Grow a Planet</a:t>
            </a:r>
          </a:p>
          <a:p>
            <a:pPr algn="ctr"/>
            <a:endParaRPr lang="en-GB" sz="5400" dirty="0"/>
          </a:p>
          <a:p>
            <a:pPr algn="ctr"/>
            <a:r>
              <a:rPr lang="en-GB" sz="11500" dirty="0">
                <a:solidFill>
                  <a:schemeClr val="bg1"/>
                </a:solidFill>
              </a:rPr>
              <a:t>Fields of Joy</a:t>
            </a:r>
          </a:p>
        </p:txBody>
      </p:sp>
      <p:pic>
        <p:nvPicPr>
          <p:cNvPr id="1026" name="Picture 2" descr="Image result for lenny kravitz fields of joy">
            <a:extLst>
              <a:ext uri="{FF2B5EF4-FFF2-40B4-BE49-F238E27FC236}">
                <a16:creationId xmlns:a16="http://schemas.microsoft.com/office/drawing/2014/main" id="{01EB97EE-D3D4-4FC0-A75E-DC4426D0D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4352925"/>
            <a:ext cx="1971675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971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nimal on the field&#10;&#10;Description automatically generated">
            <a:extLst>
              <a:ext uri="{FF2B5EF4-FFF2-40B4-BE49-F238E27FC236}">
                <a16:creationId xmlns:a16="http://schemas.microsoft.com/office/drawing/2014/main" id="{18830860-4CDF-4A3D-957E-4202383047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948"/>
          <a:stretch/>
        </p:blipFill>
        <p:spPr>
          <a:xfrm>
            <a:off x="1099" y="0"/>
            <a:ext cx="12190901" cy="6858000"/>
          </a:xfrm>
          <a:prstGeom prst="rect">
            <a:avLst/>
          </a:prstGeom>
        </p:spPr>
      </p:pic>
      <p:sp>
        <p:nvSpPr>
          <p:cNvPr id="2" name="AutoShape 2" descr="Picture of a shaggy male gelada looking out from a cliff above the great rift valley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" name="AutoShape 4" descr="Picture of a shaggy male gelada looking out from a cliff above the great rift valley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" name="AutoShape 6" descr="Picture of a shaggy male gelada looking out from a cliff above the great rift valley"/>
          <p:cNvSpPr>
            <a:spLocks noChangeAspect="1" noChangeArrowheads="1"/>
          </p:cNvSpPr>
          <p:nvPr/>
        </p:nvSpPr>
        <p:spPr bwMode="auto">
          <a:xfrm>
            <a:off x="1984375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6602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i="1" dirty="0" err="1">
                <a:solidFill>
                  <a:srgbClr val="FF0000"/>
                </a:solidFill>
              </a:rPr>
              <a:t>Theropithecus</a:t>
            </a:r>
            <a:r>
              <a:rPr lang="en-GB" sz="4000" i="1" dirty="0">
                <a:solidFill>
                  <a:srgbClr val="FF0000"/>
                </a:solidFill>
              </a:rPr>
              <a:t> gelada</a:t>
            </a:r>
            <a:endParaRPr lang="en-GB" sz="40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187EB5-B28F-420B-AD9C-6136A7E410DB}"/>
              </a:ext>
            </a:extLst>
          </p:cNvPr>
          <p:cNvSpPr txBox="1"/>
          <p:nvPr/>
        </p:nvSpPr>
        <p:spPr>
          <a:xfrm>
            <a:off x="0" y="6573063"/>
            <a:ext cx="84757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By </a:t>
            </a:r>
            <a:r>
              <a:rPr lang="en-GB" sz="1200" dirty="0" err="1"/>
              <a:t>Geertchaos</a:t>
            </a:r>
            <a:r>
              <a:rPr lang="en-GB" sz="1200" dirty="0"/>
              <a:t> - Own work, CC BY-SA 4.0, https://commons.wikimedia.org/w/index.php?curid=77060831</a:t>
            </a:r>
          </a:p>
        </p:txBody>
      </p:sp>
    </p:spTree>
    <p:extLst>
      <p:ext uri="{BB962C8B-B14F-4D97-AF65-F5344CB8AC3E}">
        <p14:creationId xmlns:p14="http://schemas.microsoft.com/office/powerpoint/2010/main" val="399481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s://upload.wikimedia.org/wikipedia/commons/thumb/7/71/Vavilov-center.jpg/800px-Vavilov-cent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8326" y="1440465"/>
            <a:ext cx="6264696" cy="384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0" y="3154"/>
            <a:ext cx="37347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Origins of Agriculture</a:t>
            </a:r>
            <a:endParaRPr lang="en-GB" sz="2000" dirty="0">
              <a:solidFill>
                <a:srgbClr val="FF0000"/>
              </a:solidFill>
            </a:endParaRPr>
          </a:p>
        </p:txBody>
      </p:sp>
      <p:sp>
        <p:nvSpPr>
          <p:cNvPr id="2" name="Up Arrow 1"/>
          <p:cNvSpPr/>
          <p:nvPr/>
        </p:nvSpPr>
        <p:spPr>
          <a:xfrm>
            <a:off x="7428246" y="3341660"/>
            <a:ext cx="981337" cy="2148295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7221735" y="5489954"/>
            <a:ext cx="139435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Wheat </a:t>
            </a:r>
          </a:p>
          <a:p>
            <a:pPr algn="ctr"/>
            <a:r>
              <a:rPr lang="en-GB" sz="3200" dirty="0"/>
              <a:t>Barley</a:t>
            </a:r>
          </a:p>
        </p:txBody>
      </p:sp>
      <p:sp>
        <p:nvSpPr>
          <p:cNvPr id="6" name="Up Arrow 5"/>
          <p:cNvSpPr/>
          <p:nvPr/>
        </p:nvSpPr>
        <p:spPr>
          <a:xfrm rot="16200000">
            <a:off x="9715281" y="2824780"/>
            <a:ext cx="981337" cy="1074147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10755149" y="3049272"/>
            <a:ext cx="8787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2593" y="4676181"/>
            <a:ext cx="1183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Maize</a:t>
            </a:r>
          </a:p>
        </p:txBody>
      </p:sp>
      <p:sp>
        <p:nvSpPr>
          <p:cNvPr id="9" name="Up Arrow 8"/>
          <p:cNvSpPr/>
          <p:nvPr/>
        </p:nvSpPr>
        <p:spPr>
          <a:xfrm rot="2217269">
            <a:off x="4461275" y="3529033"/>
            <a:ext cx="981337" cy="1272354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4001303" y="587929"/>
            <a:ext cx="7835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Occurred across the world ~12-10 </a:t>
            </a:r>
            <a:r>
              <a:rPr lang="en-GB" sz="3200" dirty="0" err="1"/>
              <a:t>KYa</a:t>
            </a:r>
            <a:r>
              <a:rPr lang="en-GB" sz="3200" dirty="0"/>
              <a:t> – Why?</a:t>
            </a:r>
          </a:p>
        </p:txBody>
      </p:sp>
    </p:spTree>
    <p:extLst>
      <p:ext uri="{BB962C8B-B14F-4D97-AF65-F5344CB8AC3E}">
        <p14:creationId xmlns:p14="http://schemas.microsoft.com/office/powerpoint/2010/main" val="134665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6" grpId="0" animBg="1"/>
      <p:bldP spid="7" grpId="0"/>
      <p:bldP spid="8" grpId="0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 result for garden of ede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86"/>
          <a:stretch/>
        </p:blipFill>
        <p:spPr bwMode="auto">
          <a:xfrm>
            <a:off x="-17426" y="0"/>
            <a:ext cx="1220942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mage result for the flood noah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7" r="18389"/>
          <a:stretch/>
        </p:blipFill>
        <p:spPr bwMode="auto">
          <a:xfrm>
            <a:off x="0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2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009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Milankovitch cycles</a:t>
            </a:r>
          </a:p>
        </p:txBody>
      </p:sp>
      <p:pic>
        <p:nvPicPr>
          <p:cNvPr id="2050" name="Picture 2" descr="https://upload.wikimedia.org/wikipedia/commons/thumb/8/89/Precessing_Kepler_orbit_280frames_e0.6_smaller.gif/280px-Precessing_Kepler_orbit_280frames_e0.6_smaller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323" y="1306681"/>
            <a:ext cx="2667000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510664" y="385197"/>
            <a:ext cx="65566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Irregularities in Earth’s orbit – solar radiation varies</a:t>
            </a:r>
          </a:p>
          <a:p>
            <a:pPr algn="ctr"/>
            <a:r>
              <a:rPr lang="en-GB" sz="2400" dirty="0"/>
              <a:t>~130 </a:t>
            </a:r>
            <a:r>
              <a:rPr lang="en-GB" sz="2400" dirty="0" err="1"/>
              <a:t>Ky</a:t>
            </a:r>
            <a:r>
              <a:rPr lang="en-GB" sz="2400" dirty="0"/>
              <a:t> cycle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5706" y="1216194"/>
            <a:ext cx="3656484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 descr="https://upload.wikimedia.org/wikipedia/commons/thumb/4/42/Northern_icesheet_hg.png/1280px-Northern_icesheet_hg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323" y="3711744"/>
            <a:ext cx="2841625" cy="2079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 rot="18665186">
            <a:off x="6626681" y="2938434"/>
            <a:ext cx="1789954" cy="40322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79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result for wheat evolu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4203" y="607843"/>
            <a:ext cx="3336925" cy="5399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011128" y="1237516"/>
            <a:ext cx="1434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Hybridisation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11128" y="2648168"/>
            <a:ext cx="2669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Genome duplication – new species!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60"/>
            <a:ext cx="33896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Evolution of Bread Wheat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1128" y="3561616"/>
            <a:ext cx="2990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  <a:r>
              <a:rPr lang="en-GB" baseline="30000" dirty="0"/>
              <a:t>nd</a:t>
            </a:r>
            <a:r>
              <a:rPr lang="en-GB" dirty="0"/>
              <a:t> Hybridisation - duplication</a:t>
            </a:r>
          </a:p>
        </p:txBody>
      </p:sp>
      <p:pic>
        <p:nvPicPr>
          <p:cNvPr id="3076" name="Picture 4" descr="Image result for triticum monococc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376" y="607843"/>
            <a:ext cx="1484435" cy="197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160727" y="607843"/>
            <a:ext cx="891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Einkorn</a:t>
            </a:r>
          </a:p>
        </p:txBody>
      </p:sp>
      <p:pic>
        <p:nvPicPr>
          <p:cNvPr id="3078" name="Picture 6" descr="Image result for triticum turgidum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376" y="2648170"/>
            <a:ext cx="1484434" cy="222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Left Arrow 6"/>
          <p:cNvSpPr/>
          <p:nvPr/>
        </p:nvSpPr>
        <p:spPr>
          <a:xfrm>
            <a:off x="3603195" y="4184966"/>
            <a:ext cx="657225" cy="483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3212243" y="2648170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Emmer</a:t>
            </a:r>
          </a:p>
        </p:txBody>
      </p:sp>
      <p:pic>
        <p:nvPicPr>
          <p:cNvPr id="3080" name="Picture 8" descr="Image result for duru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470" y="3664246"/>
            <a:ext cx="1525071" cy="1525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989226" y="5217357"/>
            <a:ext cx="1613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Durum – pasta</a:t>
            </a:r>
          </a:p>
        </p:txBody>
      </p:sp>
      <p:pic>
        <p:nvPicPr>
          <p:cNvPr id="3082" name="Picture 10" descr="Image result for wheat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61" t="15353" r="33235" b="755"/>
          <a:stretch/>
        </p:blipFill>
        <p:spPr bwMode="auto">
          <a:xfrm>
            <a:off x="9011128" y="4226222"/>
            <a:ext cx="1477667" cy="22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0579560" y="5189317"/>
            <a:ext cx="1657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Bread wheat - </a:t>
            </a:r>
            <a:r>
              <a:rPr lang="en-GB" dirty="0" err="1"/>
              <a:t>hexaploid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825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5" grpId="0"/>
      <p:bldP spid="7" grpId="0" animBg="1"/>
      <p:bldP spid="8" grpId="0"/>
      <p:bldP spid="9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4617" y="836712"/>
            <a:ext cx="71628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74617" y="5069151"/>
            <a:ext cx="7162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hlinkClick r:id="rId3"/>
              </a:rPr>
              <a:t>Video on </a:t>
            </a:r>
            <a:r>
              <a:rPr lang="en-GB" sz="2000" dirty="0" err="1">
                <a:hlinkClick r:id="rId3"/>
              </a:rPr>
              <a:t>BoB</a:t>
            </a:r>
            <a:r>
              <a:rPr lang="en-GB" sz="2000" dirty="0"/>
              <a:t> 3:30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3159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FF0000"/>
                </a:solidFill>
              </a:rPr>
              <a:t>Graminivore</a:t>
            </a:r>
            <a:r>
              <a:rPr lang="en-GB" sz="3200" dirty="0">
                <a:solidFill>
                  <a:srgbClr val="FF0000"/>
                </a:solidFill>
              </a:rPr>
              <a:t> Apes</a:t>
            </a:r>
            <a:endParaRPr lang="en-GB" sz="20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17871" y="5469262"/>
            <a:ext cx="62519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>
                <a:solidFill>
                  <a:srgbClr val="FF0000"/>
                </a:solidFill>
              </a:rPr>
              <a:t>Non-shattering phenotype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63552" y="6412686"/>
            <a:ext cx="8475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Also try reading this review - </a:t>
            </a:r>
            <a:r>
              <a:rPr lang="en-GB" dirty="0">
                <a:hlinkClick r:id="rId4"/>
              </a:rPr>
              <a:t>http://science.sciencemag.org/content/316/5833/1830.full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414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world population 10000 yea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859" y="572179"/>
            <a:ext cx="9771623" cy="58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524750" y="1362075"/>
            <a:ext cx="4483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Current population 7.8 Billion</a:t>
            </a:r>
          </a:p>
        </p:txBody>
      </p:sp>
    </p:spTree>
    <p:extLst>
      <p:ext uri="{BB962C8B-B14F-4D97-AF65-F5344CB8AC3E}">
        <p14:creationId xmlns:p14="http://schemas.microsoft.com/office/powerpoint/2010/main" val="3253013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64A3D3-512C-4332-A63C-9D4A9D57A7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-251"/>
          <a:stretch/>
        </p:blipFill>
        <p:spPr>
          <a:xfrm>
            <a:off x="-2" y="-1"/>
            <a:ext cx="12308116" cy="69757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A5223F-9661-4AF2-B2F0-111C1DBF82EC}"/>
              </a:ext>
            </a:extLst>
          </p:cNvPr>
          <p:cNvSpPr txBox="1"/>
          <p:nvPr/>
        </p:nvSpPr>
        <p:spPr>
          <a:xfrm>
            <a:off x="7162169" y="389488"/>
            <a:ext cx="4600369" cy="2062103"/>
          </a:xfrm>
          <a:prstGeom prst="rect">
            <a:avLst/>
          </a:prstGeom>
          <a:solidFill>
            <a:srgbClr val="FFFFFF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GB" sz="3200" dirty="0">
                <a:latin typeface="Arial Rounded MT Bold" panose="020F0704030504030204" pitchFamily="34" charset="0"/>
              </a:rPr>
              <a:t>Thomas Malthus</a:t>
            </a:r>
          </a:p>
          <a:p>
            <a:pPr algn="r"/>
            <a:r>
              <a:rPr lang="en-GB" sz="3200" dirty="0"/>
              <a:t>An Essay on the Principle of Population</a:t>
            </a:r>
          </a:p>
          <a:p>
            <a:pPr algn="r"/>
            <a:r>
              <a:rPr lang="en-GB" sz="3200" dirty="0"/>
              <a:t>(1789)</a:t>
            </a:r>
          </a:p>
        </p:txBody>
      </p:sp>
      <p:sp>
        <p:nvSpPr>
          <p:cNvPr id="4" name="Rectangle 3"/>
          <p:cNvSpPr/>
          <p:nvPr/>
        </p:nvSpPr>
        <p:spPr>
          <a:xfrm>
            <a:off x="333830" y="5467305"/>
            <a:ext cx="11640456" cy="1200329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r>
              <a:rPr lang="en-GB" sz="2400" dirty="0"/>
              <a:t>That the increase of population is necessarily limited by the means of subsistence,</a:t>
            </a:r>
            <a:br>
              <a:rPr lang="en-GB" sz="2400" dirty="0"/>
            </a:br>
            <a:r>
              <a:rPr lang="en-GB" sz="2400" dirty="0"/>
              <a:t>That population does invariably increase when the means of subsistence increase, and,</a:t>
            </a:r>
            <a:br>
              <a:rPr lang="en-GB" sz="2400" dirty="0"/>
            </a:br>
            <a:r>
              <a:rPr lang="en-GB" sz="2400" dirty="0"/>
              <a:t>That the superior power of population is repressed by </a:t>
            </a:r>
            <a:r>
              <a:rPr lang="en-GB" sz="2400" i="1" dirty="0"/>
              <a:t>moral restraint, vice and misery</a:t>
            </a:r>
          </a:p>
        </p:txBody>
      </p:sp>
    </p:spTree>
    <p:extLst>
      <p:ext uri="{BB962C8B-B14F-4D97-AF65-F5344CB8AC3E}">
        <p14:creationId xmlns:p14="http://schemas.microsoft.com/office/powerpoint/2010/main" val="1249394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mage result for haber bos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599" y="657347"/>
            <a:ext cx="5892799" cy="2427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11557" y="3084945"/>
            <a:ext cx="45720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Fritz Haber and Carl Bosch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2572"/>
            <a:ext cx="2555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Haber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3205" y="3638883"/>
            <a:ext cx="49455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N</a:t>
            </a:r>
            <a:r>
              <a:rPr lang="en-GB" sz="5400" baseline="-25000" dirty="0"/>
              <a:t>2</a:t>
            </a:r>
            <a:r>
              <a:rPr lang="en-GB" sz="5400" dirty="0"/>
              <a:t> + 3H</a:t>
            </a:r>
            <a:r>
              <a:rPr lang="en-GB" sz="5400" baseline="-25000" dirty="0"/>
              <a:t>2</a:t>
            </a:r>
            <a:r>
              <a:rPr lang="en-GB" sz="5400" dirty="0"/>
              <a:t> → 2NH</a:t>
            </a:r>
            <a:r>
              <a:rPr lang="en-GB" sz="5400" baseline="-25000" dirty="0"/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7598" y="4346583"/>
            <a:ext cx="3781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∆H = -91.8 kJ .mol</a:t>
            </a:r>
            <a:r>
              <a:rPr lang="en-GB" sz="3600" baseline="30000" dirty="0"/>
              <a:t>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2353" y="5326744"/>
            <a:ext cx="530728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>
                <a:solidFill>
                  <a:srgbClr val="FF0000"/>
                </a:solidFill>
              </a:rPr>
              <a:t>Very energy expensive</a:t>
            </a:r>
          </a:p>
        </p:txBody>
      </p:sp>
    </p:spTree>
    <p:extLst>
      <p:ext uri="{BB962C8B-B14F-4D97-AF65-F5344CB8AC3E}">
        <p14:creationId xmlns:p14="http://schemas.microsoft.com/office/powerpoint/2010/main" val="3568709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norman borlau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5" r="463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329835" y="0"/>
            <a:ext cx="4862165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Norman Ernest Borlaug</a:t>
            </a:r>
          </a:p>
          <a:p>
            <a:r>
              <a:rPr lang="en-GB" sz="2800" dirty="0"/>
              <a:t>1914-2009</a:t>
            </a:r>
          </a:p>
          <a:p>
            <a:r>
              <a:rPr lang="en-GB" sz="2800" dirty="0"/>
              <a:t>Father of the ‘Green Revolution’</a:t>
            </a:r>
          </a:p>
          <a:p>
            <a:r>
              <a:rPr lang="en-GB" sz="2800" dirty="0"/>
              <a:t>Nobel Peace Prize 1970</a:t>
            </a:r>
          </a:p>
        </p:txBody>
      </p:sp>
    </p:spTree>
    <p:extLst>
      <p:ext uri="{BB962C8B-B14F-4D97-AF65-F5344CB8AC3E}">
        <p14:creationId xmlns:p14="http://schemas.microsoft.com/office/powerpoint/2010/main" val="2928207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s://intensivedietarymanagement.com/wp-content/uploads/2014/08/Dwarf-Wheat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63450" y="3131781"/>
            <a:ext cx="5324548" cy="3697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79" r="10495" b="22228"/>
          <a:stretch/>
        </p:blipFill>
        <p:spPr bwMode="auto">
          <a:xfrm>
            <a:off x="5587998" y="566071"/>
            <a:ext cx="6117771" cy="38511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pic>
      <p:sp>
        <p:nvSpPr>
          <p:cNvPr id="2" name="TextBox 1"/>
          <p:cNvSpPr txBox="1"/>
          <p:nvPr/>
        </p:nvSpPr>
        <p:spPr>
          <a:xfrm>
            <a:off x="0" y="29029"/>
            <a:ext cx="3039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Dwarf Varieties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3480" y="4474425"/>
            <a:ext cx="5552289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Shorter plants = higher </a:t>
            </a:r>
            <a:r>
              <a:rPr lang="en-GB" sz="2800" dirty="0">
                <a:solidFill>
                  <a:srgbClr val="FF0000"/>
                </a:solidFill>
              </a:rPr>
              <a:t>harvest index</a:t>
            </a:r>
          </a:p>
          <a:p>
            <a:pPr algn="ctr"/>
            <a:r>
              <a:rPr lang="en-GB" sz="2800" dirty="0"/>
              <a:t>(harvest index = grain/total plant)</a:t>
            </a:r>
          </a:p>
          <a:p>
            <a:pPr algn="ctr"/>
            <a:r>
              <a:rPr lang="en-GB" sz="2800" i="1" dirty="0">
                <a:solidFill>
                  <a:srgbClr val="FF0000"/>
                </a:solidFill>
              </a:rPr>
              <a:t>also - </a:t>
            </a:r>
            <a:r>
              <a:rPr lang="en-GB" sz="2800" dirty="0"/>
              <a:t>less lodging (falling over)</a:t>
            </a:r>
          </a:p>
          <a:p>
            <a:pPr algn="ctr"/>
            <a:r>
              <a:rPr lang="en-GB" sz="3200" dirty="0">
                <a:solidFill>
                  <a:srgbClr val="FF0000"/>
                </a:solidFill>
              </a:rPr>
              <a:t>So higher yields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7679836" y="1304925"/>
            <a:ext cx="1824647" cy="8953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New Maximum</a:t>
            </a:r>
          </a:p>
        </p:txBody>
      </p:sp>
      <p:sp>
        <p:nvSpPr>
          <p:cNvPr id="6" name="Explosion 1 5"/>
          <p:cNvSpPr/>
          <p:nvPr/>
        </p:nvSpPr>
        <p:spPr>
          <a:xfrm>
            <a:off x="8229600" y="2356625"/>
            <a:ext cx="2933700" cy="2174860"/>
          </a:xfrm>
          <a:prstGeom prst="irregularSeal1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Requires chemicals</a:t>
            </a:r>
          </a:p>
        </p:txBody>
      </p:sp>
    </p:spTree>
    <p:extLst>
      <p:ext uri="{BB962C8B-B14F-4D97-AF65-F5344CB8AC3E}">
        <p14:creationId xmlns:p14="http://schemas.microsoft.com/office/powerpoint/2010/main" val="105271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AF58DAE7-2568-4B44-A8E6-F6D63CA273C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70" r="20013"/>
          <a:stretch/>
        </p:blipFill>
        <p:spPr>
          <a:xfrm>
            <a:off x="5878850" y="-2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pic>
        <p:nvPicPr>
          <p:cNvPr id="3" name="Picture 2" descr="A picture containing text, map&#10;&#10;Description automatically generated">
            <a:extLst>
              <a:ext uri="{FF2B5EF4-FFF2-40B4-BE49-F238E27FC236}">
                <a16:creationId xmlns:a16="http://schemas.microsoft.com/office/drawing/2014/main" id="{BB8BB86B-519F-4F7A-969E-13A78B0545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796" y="3567548"/>
            <a:ext cx="2555430" cy="27364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34098" y="6303988"/>
            <a:ext cx="247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Thanks to </a:t>
            </a:r>
            <a:r>
              <a:rPr lang="en-GB" dirty="0" err="1">
                <a:solidFill>
                  <a:schemeClr val="bg1"/>
                </a:solidFill>
              </a:rPr>
              <a:t>Aleana</a:t>
            </a:r>
            <a:r>
              <a:rPr lang="en-GB" dirty="0">
                <a:solidFill>
                  <a:schemeClr val="bg1"/>
                </a:solidFill>
              </a:rPr>
              <a:t> Cairns 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5596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Wheat Stem Rust – </a:t>
            </a:r>
            <a:r>
              <a:rPr lang="en-GB" sz="2800" i="1" dirty="0" err="1">
                <a:solidFill>
                  <a:srgbClr val="FF0000"/>
                </a:solidFill>
              </a:rPr>
              <a:t>Puccinia</a:t>
            </a:r>
            <a:r>
              <a:rPr lang="en-GB" sz="2800" i="1" dirty="0">
                <a:solidFill>
                  <a:srgbClr val="FF0000"/>
                </a:solidFill>
              </a:rPr>
              <a:t> </a:t>
            </a:r>
            <a:r>
              <a:rPr lang="en-GB" sz="2800" i="1" dirty="0" err="1">
                <a:solidFill>
                  <a:srgbClr val="FF0000"/>
                </a:solidFill>
              </a:rPr>
              <a:t>graminis</a:t>
            </a:r>
            <a:endParaRPr lang="en-GB" sz="2800" i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935" y="6306117"/>
            <a:ext cx="55716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New rust variety able to infect wheat crops in Africa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5352" y="2583671"/>
            <a:ext cx="45938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Rust reduces crop yields</a:t>
            </a:r>
          </a:p>
          <a:p>
            <a:r>
              <a:rPr lang="en-GB" sz="2400" dirty="0"/>
              <a:t>Plant breeding produced </a:t>
            </a:r>
            <a:r>
              <a:rPr lang="en-GB" sz="2400" dirty="0">
                <a:solidFill>
                  <a:srgbClr val="FF0000"/>
                </a:solidFill>
              </a:rPr>
              <a:t>resistance</a:t>
            </a:r>
          </a:p>
        </p:txBody>
      </p:sp>
    </p:spTree>
    <p:extLst>
      <p:ext uri="{BB962C8B-B14F-4D97-AF65-F5344CB8AC3E}">
        <p14:creationId xmlns:p14="http://schemas.microsoft.com/office/powerpoint/2010/main" val="52060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Image result for global popul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1" y="3004350"/>
            <a:ext cx="5359400" cy="3052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 descr="Image result for projected CO2 concentration"/>
          <p:cNvSpPr>
            <a:spLocks noChangeAspect="1" noChangeArrowheads="1"/>
          </p:cNvSpPr>
          <p:nvPr/>
        </p:nvSpPr>
        <p:spPr bwMode="auto">
          <a:xfrm>
            <a:off x="155575" y="-776288"/>
            <a:ext cx="2800350" cy="162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2831" y="339416"/>
            <a:ext cx="5486400" cy="3191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3502" y="47029"/>
            <a:ext cx="3162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A changing world</a:t>
            </a:r>
            <a:endParaRPr lang="en-GB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7802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i.vimeocdn.com/video/102308351_1280x72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78477" y="631804"/>
            <a:ext cx="9331530" cy="5246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3502" y="47029"/>
            <a:ext cx="40052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A Challenge for YOU… </a:t>
            </a:r>
            <a:endParaRPr lang="en-GB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7834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https://nottingham.ac.uk/GlobalFoodSecurity/images-multimedia/erikmurchi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526" y="4058916"/>
            <a:ext cx="4324611" cy="2027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0" y="0"/>
            <a:ext cx="51134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Food security - biotechnology</a:t>
            </a:r>
            <a:endParaRPr lang="en-GB" sz="2000" dirty="0">
              <a:solidFill>
                <a:srgbClr val="FF0000"/>
              </a:solidFill>
            </a:endParaRPr>
          </a:p>
        </p:txBody>
      </p:sp>
      <p:pic>
        <p:nvPicPr>
          <p:cNvPr id="3" name="Picture 2" descr="BMG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83976" y="5584734"/>
            <a:ext cx="2404161" cy="48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 descr="http://www.global-inst.com/images/programmes/IRRI%20logo%20left%20align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0142" y="3043085"/>
            <a:ext cx="3531376" cy="967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45539" y="6121620"/>
            <a:ext cx="23605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C4 Rice Project</a:t>
            </a:r>
          </a:p>
        </p:txBody>
      </p:sp>
      <p:pic>
        <p:nvPicPr>
          <p:cNvPr id="14338" name="Picture 2" descr="https://upload.wikimedia.org/wikipedia/commons/thumb/f/f5/Carboxysomes_EM.jpg/1280px-Carboxysomes_EM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9451" y="509630"/>
            <a:ext cx="4690627" cy="1702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799405" y="2212088"/>
            <a:ext cx="39829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Learning lessons form cyanobacteria</a:t>
            </a:r>
          </a:p>
          <a:p>
            <a:pPr algn="ctr"/>
            <a:r>
              <a:rPr lang="en-GB" sz="2800" dirty="0" err="1">
                <a:solidFill>
                  <a:srgbClr val="FF0000"/>
                </a:solidFill>
              </a:rPr>
              <a:t>Carboxysomes</a:t>
            </a:r>
            <a:endParaRPr lang="en-GB" sz="2800" dirty="0">
              <a:solidFill>
                <a:srgbClr val="FF0000"/>
              </a:solidFill>
            </a:endParaRPr>
          </a:p>
        </p:txBody>
      </p:sp>
      <p:pic>
        <p:nvPicPr>
          <p:cNvPr id="10" name="Picture 2" descr="Image result for golden rice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8" r="8252"/>
          <a:stretch/>
        </p:blipFill>
        <p:spPr bwMode="auto">
          <a:xfrm>
            <a:off x="8666069" y="3610439"/>
            <a:ext cx="3250662" cy="2221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tree with green leaves&#10;&#10;Description automatically generated">
            <a:extLst>
              <a:ext uri="{FF2B5EF4-FFF2-40B4-BE49-F238E27FC236}">
                <a16:creationId xmlns:a16="http://schemas.microsoft.com/office/drawing/2014/main" id="{5FF873C3-44F2-4C01-9EFD-E29B6437D5A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880" y="4065555"/>
            <a:ext cx="3642703" cy="20490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8A4274-DC3D-462E-8D72-B8D7B719D12E}"/>
              </a:ext>
            </a:extLst>
          </p:cNvPr>
          <p:cNvSpPr txBox="1"/>
          <p:nvPr/>
        </p:nvSpPr>
        <p:spPr>
          <a:xfrm>
            <a:off x="4814296" y="6150114"/>
            <a:ext cx="32138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i="1" dirty="0">
                <a:latin typeface="Arial Rounded MT Bold" panose="020F0704030504030204" pitchFamily="34" charset="0"/>
              </a:rPr>
              <a:t>Eutrema salsugineum </a:t>
            </a:r>
            <a:r>
              <a:rPr lang="en-GB" sz="2000" dirty="0">
                <a:latin typeface="Arial Rounded MT Bold" panose="020F0704030504030204" pitchFamily="34" charset="0"/>
              </a:rPr>
              <a:t>– salt water cress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13041" y="5825150"/>
            <a:ext cx="19271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Golden Rice</a:t>
            </a:r>
          </a:p>
        </p:txBody>
      </p:sp>
    </p:spTree>
    <p:extLst>
      <p:ext uri="{BB962C8B-B14F-4D97-AF65-F5344CB8AC3E}">
        <p14:creationId xmlns:p14="http://schemas.microsoft.com/office/powerpoint/2010/main" val="3503707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47888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Food Security - agroecology</a:t>
            </a:r>
            <a:endParaRPr lang="en-GB" sz="2000" dirty="0">
              <a:solidFill>
                <a:srgbClr val="FF0000"/>
              </a:solidFill>
            </a:endParaRPr>
          </a:p>
        </p:txBody>
      </p:sp>
      <p:pic>
        <p:nvPicPr>
          <p:cNvPr id="7170" name="Picture 2" descr="Image result for intercropp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0" y="856322"/>
            <a:ext cx="5283200" cy="2105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Image result for agroforestr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949" y="975629"/>
            <a:ext cx="4371975" cy="2674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Image result for soi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862" y="3501682"/>
            <a:ext cx="2876550" cy="287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499645" y="2980441"/>
            <a:ext cx="1871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Intercropping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6111" y="513964"/>
            <a:ext cx="1840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Agro-forestry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34090" y="6334423"/>
            <a:ext cx="23560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Soil management</a:t>
            </a:r>
          </a:p>
        </p:txBody>
      </p:sp>
      <p:pic>
        <p:nvPicPr>
          <p:cNvPr id="7178" name="Picture 10" descr="Image result for integrated pest managemen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875" y="3857625"/>
            <a:ext cx="3830367" cy="245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375921" y="6291263"/>
            <a:ext cx="3810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Integrated pest management</a:t>
            </a:r>
          </a:p>
        </p:txBody>
      </p:sp>
    </p:spTree>
    <p:extLst>
      <p:ext uri="{BB962C8B-B14F-4D97-AF65-F5344CB8AC3E}">
        <p14:creationId xmlns:p14="http://schemas.microsoft.com/office/powerpoint/2010/main" val="20774139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77752" y="2151727"/>
            <a:ext cx="90364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Grasses evolved in the cretaceous understorey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Dominated as world got drier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Basal meristems and </a:t>
            </a:r>
            <a:r>
              <a:rPr lang="en-GB" sz="3200" dirty="0" err="1"/>
              <a:t>phytoliths</a:t>
            </a:r>
            <a:endParaRPr lang="en-GB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Grass drove animal evolution – teeth and guts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Co-evolution of humans and crops – </a:t>
            </a:r>
            <a:r>
              <a:rPr lang="en-GB" sz="3200" dirty="0" err="1"/>
              <a:t>espec</a:t>
            </a:r>
            <a:r>
              <a:rPr lang="en-GB" sz="3200" dirty="0"/>
              <a:t>. grasses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723" y="0"/>
            <a:ext cx="19678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Summary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46813" y="5063628"/>
            <a:ext cx="52983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Further reading – “Life” Chapter 38</a:t>
            </a:r>
          </a:p>
        </p:txBody>
      </p:sp>
    </p:spTree>
    <p:extLst>
      <p:ext uri="{BB962C8B-B14F-4D97-AF65-F5344CB8AC3E}">
        <p14:creationId xmlns:p14="http://schemas.microsoft.com/office/powerpoint/2010/main" val="4087502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725</Words>
  <Application>Microsoft Office PowerPoint</Application>
  <PresentationFormat>Widescreen</PresentationFormat>
  <Paragraphs>134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Giles Johnson</dc:creator>
  <cp:lastModifiedBy>Giles Johnson</cp:lastModifiedBy>
  <cp:revision>2</cp:revision>
  <cp:lastPrinted>2022-12-07T09:52:05Z</cp:lastPrinted>
  <dcterms:created xsi:type="dcterms:W3CDTF">2020-12-02T13:03:46Z</dcterms:created>
  <dcterms:modified xsi:type="dcterms:W3CDTF">2022-12-07T10:38:09Z</dcterms:modified>
</cp:coreProperties>
</file>