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276" r:id="rId2"/>
    <p:sldId id="277" r:id="rId3"/>
    <p:sldId id="278" r:id="rId4"/>
    <p:sldId id="282" r:id="rId5"/>
    <p:sldId id="283" r:id="rId6"/>
    <p:sldId id="280" r:id="rId7"/>
    <p:sldId id="302" r:id="rId8"/>
    <p:sldId id="279" r:id="rId9"/>
    <p:sldId id="303" r:id="rId10"/>
    <p:sldId id="304" r:id="rId11"/>
    <p:sldId id="284" r:id="rId12"/>
    <p:sldId id="285" r:id="rId13"/>
    <p:sldId id="286" r:id="rId14"/>
    <p:sldId id="287" r:id="rId15"/>
    <p:sldId id="288" r:id="rId16"/>
    <p:sldId id="305" r:id="rId17"/>
    <p:sldId id="306" r:id="rId18"/>
    <p:sldId id="289" r:id="rId19"/>
    <p:sldId id="290" r:id="rId20"/>
    <p:sldId id="291" r:id="rId21"/>
    <p:sldId id="307" r:id="rId22"/>
    <p:sldId id="308" r:id="rId23"/>
    <p:sldId id="309" r:id="rId24"/>
    <p:sldId id="259" r:id="rId25"/>
    <p:sldId id="310" r:id="rId26"/>
    <p:sldId id="311" r:id="rId27"/>
    <p:sldId id="314" r:id="rId28"/>
    <p:sldId id="312" r:id="rId29"/>
    <p:sldId id="313" r:id="rId30"/>
    <p:sldId id="256" r:id="rId31"/>
    <p:sldId id="257" r:id="rId32"/>
    <p:sldId id="266" r:id="rId33"/>
    <p:sldId id="315" r:id="rId34"/>
    <p:sldId id="316" r:id="rId35"/>
    <p:sldId id="317" r:id="rId36"/>
    <p:sldId id="292" r:id="rId37"/>
    <p:sldId id="293" r:id="rId38"/>
    <p:sldId id="263" r:id="rId39"/>
    <p:sldId id="318" r:id="rId40"/>
    <p:sldId id="281" r:id="rId41"/>
    <p:sldId id="319" r:id="rId42"/>
    <p:sldId id="294" r:id="rId43"/>
    <p:sldId id="295" r:id="rId44"/>
    <p:sldId id="320" r:id="rId45"/>
    <p:sldId id="321" r:id="rId46"/>
    <p:sldId id="322" r:id="rId47"/>
    <p:sldId id="323" r:id="rId48"/>
    <p:sldId id="324" r:id="rId49"/>
    <p:sldId id="296" r:id="rId50"/>
    <p:sldId id="297" r:id="rId51"/>
    <p:sldId id="325" r:id="rId52"/>
    <p:sldId id="264" r:id="rId53"/>
    <p:sldId id="265" r:id="rId54"/>
    <p:sldId id="269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5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D8F8A9-CBAC-4BF1-BBDB-76F97E65A3F8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F88172-7FE1-4EBE-AAF4-DFCF23C81D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4337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arthobservatory.nasa.gov/GlobalMaps/view.php?d1=MY1DMM_CHLORA" TargetMode="External"/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885B14-CDAF-415F-A608-AD934B9102B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81444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See also: </a:t>
            </a:r>
            <a:r>
              <a:rPr lang="en-GB" sz="1200" dirty="0">
                <a:hlinkClick r:id="rId3"/>
              </a:rPr>
              <a:t>https://earthobservatory.nasa.gov/GlobalMaps/view.php?d1=MY1DMM_CHLORA</a:t>
            </a:r>
            <a:endParaRPr lang="en-GB" sz="1200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8260DE-84A5-4B58-B0B0-448B4D100ED9}" type="slidenum">
              <a:rPr lang="en-GB" smtClean="0"/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4650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B34CB-E5BF-4F8D-B6D7-CCB81C4F16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2AEA7A-A308-42AE-8926-5A8EE9F698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38A91-6D7D-4D15-878D-810A06B72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28D81-0648-4593-985F-AD435961EB3E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2F79B-796D-4788-B473-672DAEE84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F94583-1745-4E36-BCEE-011732084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28707-8FA3-4D55-AE38-053B1452FF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3965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CC7D5-E8A7-4DDE-B1F2-C193EFBAF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822FE-CC9C-44D4-A0E9-A2D9CF09E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C6B26-D4FA-45F0-A093-29DE9D084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28D81-0648-4593-985F-AD435961EB3E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065DE-3CE3-48E1-BBB0-07542F22E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F6538-B4F5-477D-AD73-AD25D1B08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28707-8FA3-4D55-AE38-053B1452FF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7342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8E7BC-F54B-4EB6-BD52-C287D3D98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134C08-7230-4FD2-B525-A05075ABAD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4D511-F906-4794-9678-5120BCEB1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28D81-0648-4593-985F-AD435961EB3E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7DBCA-6BB0-4B5A-ADF3-FFBAE770C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7B2354-D920-4571-AE13-0E1AAA6FD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28707-8FA3-4D55-AE38-053B1452FF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5463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B26C-64E2-4B32-9B7C-CBF54E795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9DA62-CD40-4B49-8FCD-F7CA3B07BC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4E3FA3-201F-4150-B0C2-89FF126D05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01B61D-88A2-40DE-8D85-F0F35D7DF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28D81-0648-4593-985F-AD435961EB3E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60E06A-E7E5-4BB1-BDDA-CDA920424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1B68BE-6019-4E95-9D8A-61DCA7CEC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28707-8FA3-4D55-AE38-053B1452FF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4793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FED51-B5C4-41A6-8698-C1E4C1489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557372-814A-47E3-A4EA-E64F01C06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1F5A2E-B52C-4A0D-AE5E-F2FDEF030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28E8E-2B7E-4CAF-AD31-2C3B59461E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DA2204-0C68-4B98-9501-48ED1A30AE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DFF3AA-4336-4E11-B876-827A20ED7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28D81-0648-4593-985F-AD435961EB3E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854D10-6BBD-4035-9577-A58AEAB34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775C85-F754-473E-871D-8CBB457C7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28707-8FA3-4D55-AE38-053B1452FF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2775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FB2E3-5504-47F2-BE41-6D4B23D1C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092775-026C-4BC1-B195-3BD207BBD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28D81-0648-4593-985F-AD435961EB3E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2F48C4-2481-4D06-8EA5-125693CAC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805145-23FB-4628-9D15-56BCD753F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28707-8FA3-4D55-AE38-053B1452FF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7255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C6E080-F689-49E6-A568-8FDF194E0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28D81-0648-4593-985F-AD435961EB3E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FB92FA-7759-4F9A-B12B-B27BC349D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15102-09F9-4664-96E3-4989EEFD4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28707-8FA3-4D55-AE38-053B1452FF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0025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5BA99-CE66-465F-A216-6CFCB9B4F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8B4DD-C57C-45EE-8257-749924779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E20716-49E2-44A0-B4B5-A799752FA4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BA92E-BDB3-488D-9302-7BA8C1C75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28D81-0648-4593-985F-AD435961EB3E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2CB17C-4444-4FBE-B42B-5D5D332C1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88B172-8C55-4127-A46B-BD68B2231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28707-8FA3-4D55-AE38-053B1452FF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2201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D2D01-FD8F-47AB-898E-E21B50625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8F7ABE-E7C4-4EE2-A6FA-2C09F69989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48E949-4467-4E1B-9853-82217A6381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487EBA-49E4-4BCE-90B6-DADF2BE8C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28D81-0648-4593-985F-AD435961EB3E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5ACC2D-B2DB-4664-A16D-DC12C0DC2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C58EBD-2163-48E8-9C70-11EC39CD6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28707-8FA3-4D55-AE38-053B1452FF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9465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C00ED-E4EC-4D4E-BB73-C38389376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195BFA-DB60-459C-A80E-9E2592627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E08F7-EA94-4AF6-8997-729E07585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28D81-0648-4593-985F-AD435961EB3E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25BAE-42B7-48F0-926A-ED85F4B17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8C6BE-59A3-49BB-BD3B-9E243B4F1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28707-8FA3-4D55-AE38-053B1452FF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1777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68A96A-8F2C-4B60-A5AC-F076AE773B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5294A4-29D8-4A0E-894D-AF709B38F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6458F-FF85-4B95-863A-12B0F08EA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28D81-0648-4593-985F-AD435961EB3E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5019C-CA51-4B1C-89E1-D62F2AD80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BA2D9-5C30-4D39-9AE1-E2E1276FB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28707-8FA3-4D55-AE38-053B1452FF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9900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6294FF-464B-4263-A060-8126F8B1A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6A788A-6CA0-4899-AC15-C361BF0DCD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1923C3-D7C9-4750-941E-AB77D2D660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28D81-0648-4593-985F-AD435961EB3E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7A541-DD27-4E76-ADBD-17E1BDB2E0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50131-A210-4886-B95E-7C83D566B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228707-8FA3-4D55-AE38-053B1452FF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1700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://www.bbc.co.uk/earth/story/20141017-how-flowers-conquered-the-world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www.amjbot.org/content/96/1/5.full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bUjVHUf4d1I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ommons.wikimedia.org/w/index.php?curid=15780731" TargetMode="Externa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learningonscreen.ac.uk/ondemand/index.php/clip/102364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://science.kennesaw.edu/jmcneal7/plantsys/basals.html" TargetMode="External"/><Relationship Id="rId4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ingonscreen.ac.uk/ondemand/index.php/clip/102363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learningonscreen.ac.uk/ondemand/index.php/clip/102366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ingonscreen.ac.uk/ondemand/index.php/clip/102388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www.smithsonianmag.com/arts-culture/why-the-avocado-should-have-gone-the-way-of-the-dodo-4976527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ingonscreen.ac.uk/ondemand/index.php/clip/104150" TargetMode="Externa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gif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ingonscreen.ac.uk/ondemand/index.php/clip/151606" TargetMode="External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ikiwand.com/en/Chert" TargetMode="External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hyperlink" Target="https://learningonscreen.ac.uk/ondemand/index.php/clip/101209" TargetMode="Externa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gif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2500" b="1250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2135560" y="260648"/>
            <a:ext cx="8229600" cy="6336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19200" dirty="0">
              <a:solidFill>
                <a:schemeClr val="bg1"/>
              </a:solidFill>
            </a:endParaRPr>
          </a:p>
          <a:p>
            <a:r>
              <a:rPr lang="en-GB" sz="28800" dirty="0">
                <a:solidFill>
                  <a:schemeClr val="bg1"/>
                </a:solidFill>
              </a:rPr>
              <a:t>Wild Flower</a:t>
            </a:r>
          </a:p>
          <a:p>
            <a:br>
              <a:rPr lang="en-GB" sz="3600" dirty="0">
                <a:solidFill>
                  <a:srgbClr val="FF0000"/>
                </a:solidFill>
              </a:rPr>
            </a:br>
            <a:endParaRPr lang="en-GB" sz="2000" dirty="0">
              <a:solidFill>
                <a:srgbClr val="FF0000"/>
              </a:solidFill>
            </a:endParaRPr>
          </a:p>
        </p:txBody>
      </p:sp>
      <p:sp>
        <p:nvSpPr>
          <p:cNvPr id="3" name="AutoShape 2" descr="Image result for the cult wild flower"/>
          <p:cNvSpPr>
            <a:spLocks noChangeAspect="1" noChangeArrowheads="1"/>
          </p:cNvSpPr>
          <p:nvPr/>
        </p:nvSpPr>
        <p:spPr bwMode="auto">
          <a:xfrm>
            <a:off x="1679576" y="-2147888"/>
            <a:ext cx="4467225" cy="4476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AutoShape 4" descr="Image result for the cult wild flower"/>
          <p:cNvSpPr>
            <a:spLocks noChangeAspect="1" noChangeArrowheads="1"/>
          </p:cNvSpPr>
          <p:nvPr/>
        </p:nvSpPr>
        <p:spPr bwMode="auto">
          <a:xfrm>
            <a:off x="1831976" y="-1995488"/>
            <a:ext cx="4467225" cy="4476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1813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28752" y="6381328"/>
            <a:ext cx="78306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http://www.bbc.co.uk/earth/story/20141017-how-flowers-conquered-the-world</a:t>
            </a:r>
            <a:endParaRPr lang="en-GB" dirty="0"/>
          </a:p>
        </p:txBody>
      </p:sp>
      <p:sp>
        <p:nvSpPr>
          <p:cNvPr id="3" name="Rectangle 2"/>
          <p:cNvSpPr/>
          <p:nvPr/>
        </p:nvSpPr>
        <p:spPr>
          <a:xfrm>
            <a:off x="100981" y="9812"/>
            <a:ext cx="546130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dirty="0">
                <a:solidFill>
                  <a:srgbClr val="FF0000"/>
                </a:solidFill>
              </a:rPr>
              <a:t>Darwin’s “abominable mystery”</a:t>
            </a:r>
          </a:p>
        </p:txBody>
      </p:sp>
      <p:pic>
        <p:nvPicPr>
          <p:cNvPr id="1026" name="Picture 2" descr="http://www.amjbot.org/content/96/1/5/F3.large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" t="57785" r="-109" b="24674"/>
          <a:stretch/>
        </p:blipFill>
        <p:spPr bwMode="auto">
          <a:xfrm>
            <a:off x="4123473" y="594587"/>
            <a:ext cx="5788271" cy="1648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8167808" y="1230973"/>
            <a:ext cx="150028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4687015" y="2023061"/>
            <a:ext cx="150028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37409" y="2242119"/>
            <a:ext cx="47530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Letter from Darwin to Joseph Hooker,  1879</a:t>
            </a:r>
          </a:p>
          <a:p>
            <a:r>
              <a:rPr lang="en-GB" dirty="0"/>
              <a:t>See: </a:t>
            </a:r>
            <a:r>
              <a:rPr lang="en-GB" dirty="0">
                <a:hlinkClick r:id="rId4"/>
              </a:rPr>
              <a:t>http://www.amjbot.org/content/96/1/5.full</a:t>
            </a:r>
            <a:endParaRPr lang="en-GB" dirty="0"/>
          </a:p>
        </p:txBody>
      </p:sp>
      <p:sp>
        <p:nvSpPr>
          <p:cNvPr id="10" name="TextBox 9"/>
          <p:cNvSpPr txBox="1"/>
          <p:nvPr/>
        </p:nvSpPr>
        <p:spPr>
          <a:xfrm>
            <a:off x="2475880" y="3501009"/>
            <a:ext cx="915732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First fossil flowers – mid cretaceous  (~100 </a:t>
            </a:r>
            <a:r>
              <a:rPr lang="en-GB" sz="3200" dirty="0" err="1"/>
              <a:t>MYa</a:t>
            </a:r>
            <a:r>
              <a:rPr lang="en-GB" sz="3200" dirty="0"/>
              <a:t> late dinosaur)</a:t>
            </a:r>
          </a:p>
          <a:p>
            <a:pPr algn="ctr"/>
            <a:r>
              <a:rPr lang="en-GB" sz="3200" dirty="0"/>
              <a:t>Already high diversity</a:t>
            </a:r>
          </a:p>
          <a:p>
            <a:pPr algn="ctr"/>
            <a:r>
              <a:rPr lang="en-GB" sz="4400" dirty="0">
                <a:solidFill>
                  <a:srgbClr val="FF0000"/>
                </a:solidFill>
              </a:rPr>
              <a:t>So, how did they evolve?</a:t>
            </a:r>
          </a:p>
        </p:txBody>
      </p:sp>
    </p:spTree>
    <p:extLst>
      <p:ext uri="{BB962C8B-B14F-4D97-AF65-F5344CB8AC3E}">
        <p14:creationId xmlns:p14="http://schemas.microsoft.com/office/powerpoint/2010/main" val="573350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1170" y="-63595"/>
            <a:ext cx="33329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Earliest Fossil Flowers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54637" y="720745"/>
            <a:ext cx="484853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i="1" dirty="0" err="1"/>
              <a:t>Archaefructus</a:t>
            </a:r>
            <a:r>
              <a:rPr lang="en-GB" sz="2400" dirty="0"/>
              <a:t> ~125 Mya</a:t>
            </a:r>
          </a:p>
          <a:p>
            <a:r>
              <a:rPr lang="en-GB" sz="2400" dirty="0"/>
              <a:t>From Chinese fossils</a:t>
            </a:r>
          </a:p>
          <a:p>
            <a:r>
              <a:rPr lang="en-GB" sz="2400" dirty="0"/>
              <a:t>Aquatic</a:t>
            </a:r>
          </a:p>
          <a:p>
            <a:r>
              <a:rPr lang="en-GB" sz="2400" dirty="0"/>
              <a:t>Elongated “flowers”; no petals; male parts below female parts</a:t>
            </a: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2752" y="3526914"/>
            <a:ext cx="3015110" cy="2872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3308" y="3834028"/>
            <a:ext cx="2509780" cy="1932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399656" y="3690013"/>
            <a:ext cx="295177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i="1" dirty="0" err="1"/>
              <a:t>Montsechia</a:t>
            </a:r>
            <a:r>
              <a:rPr lang="en-GB" sz="2400" dirty="0"/>
              <a:t> ~130 Mya</a:t>
            </a:r>
          </a:p>
          <a:p>
            <a:r>
              <a:rPr lang="en-GB" sz="2400" dirty="0"/>
              <a:t>From fossils in Spain</a:t>
            </a:r>
          </a:p>
          <a:p>
            <a:r>
              <a:rPr lang="en-GB" sz="2400" dirty="0"/>
              <a:t>Aquatic plant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862" y="6066276"/>
            <a:ext cx="50576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www.pnas.org/cgi/doi/10.1073/pnas.1509241112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6644" y="2738546"/>
            <a:ext cx="43236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http://dx.doi.org/10.1126/science.1069439 </a:t>
            </a:r>
          </a:p>
        </p:txBody>
      </p:sp>
      <p:pic>
        <p:nvPicPr>
          <p:cNvPr id="1035" name="Picture 11" descr="http://ars.els-cdn.com/content/image/1-s2.0-S1360138503001614-gr2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5197" y="305636"/>
            <a:ext cx="3216357" cy="290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3786684" y="6488668"/>
            <a:ext cx="7134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For more discussion see: https://www.nature.com/articles/nplants201715</a:t>
            </a:r>
          </a:p>
        </p:txBody>
      </p:sp>
    </p:spTree>
    <p:extLst>
      <p:ext uri="{BB962C8B-B14F-4D97-AF65-F5344CB8AC3E}">
        <p14:creationId xmlns:p14="http://schemas.microsoft.com/office/powerpoint/2010/main" val="1503491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7" grpId="0"/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870601" y="5783613"/>
            <a:ext cx="39472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hlinkClick r:id="rId3"/>
              </a:rPr>
              <a:t>See also: https://youtu.be/bUjVHUf4d1I</a:t>
            </a: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101601" y="-21013"/>
            <a:ext cx="76957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FF0000"/>
                </a:solidFill>
              </a:rPr>
              <a:t>Angiosperm innovations: Double Fertilisation</a:t>
            </a:r>
            <a:endParaRPr lang="en-GB" sz="3200" i="1" dirty="0">
              <a:solidFill>
                <a:srgbClr val="FF0000"/>
              </a:solidFill>
            </a:endParaRPr>
          </a:p>
        </p:txBody>
      </p:sp>
      <p:pic>
        <p:nvPicPr>
          <p:cNvPr id="1026" name="Picture 2" descr="https://upload.wikimedia.org/wikipedia/commons/thumb/5/5c/Double_fertilization_in_arabidopsis_2.jpg/1280px-Double_fertilization_in_arabidopsis_2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5117" y="1308616"/>
            <a:ext cx="8372475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4870464" y="4966217"/>
            <a:ext cx="594757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CC BY 2.0, </a:t>
            </a:r>
            <a:r>
              <a:rPr lang="en-GB" sz="1400" dirty="0">
                <a:hlinkClick r:id="rId5"/>
              </a:rPr>
              <a:t>https://commons.wikimedia.org/w/index.php?curid=15780731</a:t>
            </a:r>
            <a:endParaRPr lang="en-GB" sz="1400" dirty="0"/>
          </a:p>
        </p:txBody>
      </p:sp>
      <p:sp>
        <p:nvSpPr>
          <p:cNvPr id="6" name="TextBox 5"/>
          <p:cNvSpPr txBox="1"/>
          <p:nvPr/>
        </p:nvSpPr>
        <p:spPr>
          <a:xfrm>
            <a:off x="4837642" y="6178928"/>
            <a:ext cx="56630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 err="1"/>
              <a:t>Gnetophytes</a:t>
            </a:r>
            <a:r>
              <a:rPr lang="en-GB" sz="2800" dirty="0"/>
              <a:t> have double fertilisation</a:t>
            </a:r>
          </a:p>
        </p:txBody>
      </p:sp>
    </p:spTree>
    <p:extLst>
      <p:ext uri="{BB962C8B-B14F-4D97-AF65-F5344CB8AC3E}">
        <p14:creationId xmlns:p14="http://schemas.microsoft.com/office/powerpoint/2010/main" val="1795131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://img.sparknotes.com/figures/D/de8ebcc8ff4d3a7214b83f580ad855f3/xylem2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412" y="1290163"/>
            <a:ext cx="3312368" cy="438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44479" y="-28539"/>
            <a:ext cx="58300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FF0000"/>
                </a:solidFill>
              </a:rPr>
              <a:t>Angiosperm innovations:  Vessels</a:t>
            </a:r>
            <a:endParaRPr lang="en-GB" sz="3200" i="1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681412" y="1337190"/>
            <a:ext cx="1656184" cy="42393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/>
          <p:cNvSpPr txBox="1"/>
          <p:nvPr/>
        </p:nvSpPr>
        <p:spPr>
          <a:xfrm>
            <a:off x="5692582" y="896020"/>
            <a:ext cx="597666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Gymnosperms – </a:t>
            </a:r>
            <a:r>
              <a:rPr lang="en-GB" sz="2800" dirty="0" err="1">
                <a:solidFill>
                  <a:srgbClr val="FF0000"/>
                </a:solidFill>
              </a:rPr>
              <a:t>tracheids</a:t>
            </a:r>
            <a:r>
              <a:rPr lang="en-GB" sz="2800" dirty="0"/>
              <a:t>:</a:t>
            </a:r>
          </a:p>
          <a:p>
            <a:r>
              <a:rPr lang="en-GB" sz="2800" dirty="0"/>
              <a:t>	narrow hollow cells</a:t>
            </a:r>
          </a:p>
          <a:p>
            <a:r>
              <a:rPr lang="en-GB" sz="2800" dirty="0"/>
              <a:t>	overlapping ends allow for water 			to flow</a:t>
            </a:r>
          </a:p>
          <a:p>
            <a:r>
              <a:rPr lang="en-GB" sz="2800" dirty="0"/>
              <a:t>Angiosperms – also </a:t>
            </a:r>
            <a:r>
              <a:rPr lang="en-GB" sz="2800" dirty="0">
                <a:solidFill>
                  <a:srgbClr val="FF0000"/>
                </a:solidFill>
              </a:rPr>
              <a:t>xylem vessels</a:t>
            </a:r>
          </a:p>
          <a:p>
            <a:r>
              <a:rPr lang="en-GB" sz="2800" dirty="0"/>
              <a:t>	Wider, better contact between 			cells so better water flow</a:t>
            </a:r>
          </a:p>
          <a:p>
            <a:r>
              <a:rPr lang="en-GB" sz="2800" dirty="0"/>
              <a:t>But… more prone to </a:t>
            </a:r>
            <a:r>
              <a:rPr lang="en-GB" sz="2800" dirty="0">
                <a:solidFill>
                  <a:srgbClr val="FF0000"/>
                </a:solidFill>
              </a:rPr>
              <a:t>embolisms</a:t>
            </a:r>
            <a:r>
              <a:rPr lang="en-GB" sz="2800" dirty="0"/>
              <a:t> (air 			bubbles)</a:t>
            </a:r>
          </a:p>
          <a:p>
            <a:endParaRPr lang="en-GB" sz="2800" dirty="0"/>
          </a:p>
          <a:p>
            <a:r>
              <a:rPr lang="en-GB" sz="2800" dirty="0"/>
              <a:t>[Also differences in phloem]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89525" y="6080596"/>
            <a:ext cx="65258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 err="1">
                <a:solidFill>
                  <a:srgbClr val="FF0000"/>
                </a:solidFill>
              </a:rPr>
              <a:t>Gnetophytes</a:t>
            </a:r>
            <a:r>
              <a:rPr lang="en-GB" sz="2800" dirty="0">
                <a:solidFill>
                  <a:srgbClr val="FF0000"/>
                </a:solidFill>
              </a:rPr>
              <a:t> have vessels like angiosperms </a:t>
            </a:r>
          </a:p>
        </p:txBody>
      </p:sp>
    </p:spTree>
    <p:extLst>
      <p:ext uri="{BB962C8B-B14F-4D97-AF65-F5344CB8AC3E}">
        <p14:creationId xmlns:p14="http://schemas.microsoft.com/office/powerpoint/2010/main" val="678777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fresh coconu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3628" y="1774847"/>
            <a:ext cx="2554948" cy="1703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0" y="0"/>
            <a:ext cx="61798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solidFill>
                  <a:srgbClr val="FF0000"/>
                </a:solidFill>
              </a:rPr>
              <a:t>The Angiosperms – Cased Seeds</a:t>
            </a:r>
            <a:endParaRPr lang="en-GB" sz="3200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10850" y="1311323"/>
            <a:ext cx="520405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Ovary </a:t>
            </a:r>
            <a:r>
              <a:rPr lang="en-GB" sz="3200" dirty="0">
                <a:solidFill>
                  <a:srgbClr val="FF0000"/>
                </a:solidFill>
              </a:rPr>
              <a:t>protects</a:t>
            </a:r>
            <a:r>
              <a:rPr lang="en-GB" sz="3200" dirty="0"/>
              <a:t> the seed</a:t>
            </a:r>
          </a:p>
          <a:p>
            <a:r>
              <a:rPr lang="en-GB" sz="3200" dirty="0"/>
              <a:t>Formed from maternal tissues</a:t>
            </a:r>
          </a:p>
        </p:txBody>
      </p:sp>
      <p:pic>
        <p:nvPicPr>
          <p:cNvPr id="18" name="Picture 2" descr="Brokencoconut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3628" y="3820500"/>
            <a:ext cx="2554948" cy="2066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/>
          <p:cNvSpPr txBox="1"/>
          <p:nvPr/>
        </p:nvSpPr>
        <p:spPr>
          <a:xfrm>
            <a:off x="6974118" y="3109708"/>
            <a:ext cx="495118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Endosperm – storage tissue Feeds embryo but…</a:t>
            </a:r>
          </a:p>
          <a:p>
            <a:r>
              <a:rPr lang="en-GB" sz="3200" dirty="0"/>
              <a:t>Gymnosperms have storage</a:t>
            </a:r>
          </a:p>
          <a:p>
            <a:r>
              <a:rPr lang="en-GB" sz="3200" dirty="0"/>
              <a:t>Advanced angiosperms (e.g. orchids – no 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77543" y="5919836"/>
            <a:ext cx="69202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Greatest innovation - </a:t>
            </a:r>
            <a:r>
              <a:rPr lang="en-GB" sz="4400" dirty="0">
                <a:solidFill>
                  <a:srgbClr val="FF0000"/>
                </a:solidFill>
              </a:rPr>
              <a:t>Flowers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238019" y="5202588"/>
            <a:ext cx="257283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800" dirty="0">
                <a:solidFill>
                  <a:schemeClr val="bg1"/>
                </a:solidFill>
              </a:rPr>
              <a:t>By Fir0002 - Own work, GFDL 1.2, https://commons.wikimedia.org/w/index.php?curid=202664</a:t>
            </a:r>
          </a:p>
        </p:txBody>
      </p:sp>
      <p:sp>
        <p:nvSpPr>
          <p:cNvPr id="3" name="Left Arrow 2"/>
          <p:cNvSpPr/>
          <p:nvPr/>
        </p:nvSpPr>
        <p:spPr>
          <a:xfrm rot="19449866">
            <a:off x="5535800" y="3588293"/>
            <a:ext cx="1453399" cy="50740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4015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uiExpand="1" build="p"/>
      <p:bldP spid="20" grpId="0"/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5636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87564" y="5208406"/>
            <a:ext cx="65344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https://learningonscreen.ac.uk/ondemand/index.php/clip/102364</a:t>
            </a:r>
            <a:endParaRPr lang="en-GB" dirty="0"/>
          </a:p>
          <a:p>
            <a:pPr algn="ctr"/>
            <a:r>
              <a:rPr lang="en-GB" dirty="0"/>
              <a:t>3:50</a:t>
            </a:r>
          </a:p>
        </p:txBody>
      </p:sp>
      <p:sp>
        <p:nvSpPr>
          <p:cNvPr id="4" name="Rectangle 3"/>
          <p:cNvSpPr/>
          <p:nvPr/>
        </p:nvSpPr>
        <p:spPr>
          <a:xfrm>
            <a:off x="1510681" y="1"/>
            <a:ext cx="298652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dirty="0">
                <a:solidFill>
                  <a:srgbClr val="FF0000"/>
                </a:solidFill>
              </a:rPr>
              <a:t>Any </a:t>
            </a:r>
            <a:r>
              <a:rPr lang="en-GB" sz="3200" dirty="0" err="1">
                <a:solidFill>
                  <a:srgbClr val="FF0000"/>
                </a:solidFill>
              </a:rPr>
              <a:t>Amborellas</a:t>
            </a:r>
            <a:r>
              <a:rPr lang="en-GB" sz="3200" dirty="0">
                <a:solidFill>
                  <a:srgbClr val="FF0000"/>
                </a:solidFill>
              </a:rPr>
              <a:t>?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51" t="32738" r="21913" b="8712"/>
          <a:stretch/>
        </p:blipFill>
        <p:spPr bwMode="auto">
          <a:xfrm>
            <a:off x="2511335" y="889964"/>
            <a:ext cx="7486073" cy="4283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1636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3264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2500" b="1250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2135560" y="260648"/>
            <a:ext cx="8229600" cy="6336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19200" dirty="0">
              <a:solidFill>
                <a:schemeClr val="bg1"/>
              </a:solidFill>
            </a:endParaRPr>
          </a:p>
          <a:p>
            <a:r>
              <a:rPr lang="en-GB" sz="28800" dirty="0">
                <a:solidFill>
                  <a:schemeClr val="bg1"/>
                </a:solidFill>
              </a:rPr>
              <a:t>Flower Evolution</a:t>
            </a:r>
          </a:p>
          <a:p>
            <a:br>
              <a:rPr lang="en-GB" sz="3600" dirty="0">
                <a:solidFill>
                  <a:srgbClr val="FF0000"/>
                </a:solidFill>
              </a:rPr>
            </a:br>
            <a:endParaRPr lang="en-GB" sz="2000" dirty="0">
              <a:solidFill>
                <a:srgbClr val="FF0000"/>
              </a:solidFill>
            </a:endParaRPr>
          </a:p>
        </p:txBody>
      </p:sp>
      <p:sp>
        <p:nvSpPr>
          <p:cNvPr id="3" name="AutoShape 2" descr="Image result for the cult wild flower"/>
          <p:cNvSpPr>
            <a:spLocks noChangeAspect="1" noChangeArrowheads="1"/>
          </p:cNvSpPr>
          <p:nvPr/>
        </p:nvSpPr>
        <p:spPr bwMode="auto">
          <a:xfrm>
            <a:off x="1679576" y="-2147888"/>
            <a:ext cx="4467225" cy="4476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AutoShape 4" descr="Image result for the cult wild flower"/>
          <p:cNvSpPr>
            <a:spLocks noChangeAspect="1" noChangeArrowheads="1"/>
          </p:cNvSpPr>
          <p:nvPr/>
        </p:nvSpPr>
        <p:spPr bwMode="auto">
          <a:xfrm>
            <a:off x="1831976" y="-1995488"/>
            <a:ext cx="4467225" cy="4476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3772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7654616" y="523220"/>
            <a:ext cx="4165601" cy="2554515"/>
            <a:chOff x="199923" y="836712"/>
            <a:chExt cx="4165601" cy="2554515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02" t="33531" r="50582" b="31548"/>
            <a:stretch/>
          </p:blipFill>
          <p:spPr bwMode="auto">
            <a:xfrm>
              <a:off x="199923" y="836712"/>
              <a:ext cx="4165601" cy="25545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Rectangle 1"/>
            <p:cNvSpPr/>
            <p:nvPr/>
          </p:nvSpPr>
          <p:spPr>
            <a:xfrm>
              <a:off x="487955" y="2979894"/>
              <a:ext cx="2400016" cy="253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050" dirty="0"/>
                <a:t>https://en.wikipedia.org/wiki/Amborella</a:t>
              </a:r>
            </a:p>
          </p:txBody>
        </p:sp>
      </p:grpSp>
      <p:sp>
        <p:nvSpPr>
          <p:cNvPr id="4" name="Rectangle 3"/>
          <p:cNvSpPr/>
          <p:nvPr/>
        </p:nvSpPr>
        <p:spPr>
          <a:xfrm>
            <a:off x="0" y="-42159"/>
            <a:ext cx="69862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i="1" dirty="0" err="1">
                <a:solidFill>
                  <a:srgbClr val="FF0000"/>
                </a:solidFill>
              </a:rPr>
              <a:t>Amborella</a:t>
            </a:r>
            <a:r>
              <a:rPr lang="en-GB" sz="2800" i="1" dirty="0">
                <a:solidFill>
                  <a:srgbClr val="FF0000"/>
                </a:solidFill>
              </a:rPr>
              <a:t> </a:t>
            </a:r>
            <a:r>
              <a:rPr lang="en-GB" sz="2800" i="1" dirty="0" err="1">
                <a:solidFill>
                  <a:srgbClr val="FF0000"/>
                </a:solidFill>
              </a:rPr>
              <a:t>trichopoda</a:t>
            </a:r>
            <a:r>
              <a:rPr lang="en-GB" sz="2800" dirty="0">
                <a:solidFill>
                  <a:srgbClr val="FF0000"/>
                </a:solidFill>
              </a:rPr>
              <a:t> – the basal angiosperm?</a:t>
            </a:r>
            <a:endParaRPr lang="en-GB" dirty="0">
              <a:solidFill>
                <a:srgbClr val="FF0000"/>
              </a:solidFill>
            </a:endParaRPr>
          </a:p>
        </p:txBody>
      </p:sp>
      <p:pic>
        <p:nvPicPr>
          <p:cNvPr id="3078" name="Picture 6" descr="Amborella trichopoda (3065965956)-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8394" y="4730169"/>
            <a:ext cx="2691078" cy="2127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http://science.kennesaw.edu/jmcneal7/plantsys/images/pbase/basals/ambtri_fem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9488" y="3721317"/>
            <a:ext cx="2352512" cy="3136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9739574" y="6449266"/>
            <a:ext cx="25562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http://science.kennesaw.edu/jmcneal7/plantsys/basals.html#amborella</a:t>
            </a:r>
          </a:p>
        </p:txBody>
      </p:sp>
      <p:sp>
        <p:nvSpPr>
          <p:cNvPr id="6" name="Rectangle 5"/>
          <p:cNvSpPr/>
          <p:nvPr/>
        </p:nvSpPr>
        <p:spPr>
          <a:xfrm rot="16200000">
            <a:off x="2210765" y="5490745"/>
            <a:ext cx="222309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CC BY 2.0, https://commons.wikimedia.org/w/index.php?curid=10196277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1" y="692696"/>
            <a:ext cx="5382157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Has no vessels only </a:t>
            </a:r>
            <a:r>
              <a:rPr lang="en-GB" sz="2800" dirty="0" err="1"/>
              <a:t>tracheids</a:t>
            </a:r>
            <a:endParaRPr lang="en-GB" sz="2800" dirty="0"/>
          </a:p>
          <a:p>
            <a:r>
              <a:rPr lang="en-GB" sz="2800" dirty="0"/>
              <a:t>But has flowers</a:t>
            </a:r>
          </a:p>
          <a:p>
            <a:endParaRPr lang="en-GB" sz="2800" dirty="0"/>
          </a:p>
          <a:p>
            <a:r>
              <a:rPr lang="en-GB" sz="2800" dirty="0"/>
              <a:t>Shown by sequencing to be most basal plant</a:t>
            </a:r>
          </a:p>
          <a:p>
            <a:r>
              <a:rPr lang="en-GB" sz="1600" dirty="0"/>
              <a:t>(see: </a:t>
            </a:r>
            <a:r>
              <a:rPr lang="en-GB" sz="1600" dirty="0">
                <a:hlinkClick r:id="rId5"/>
              </a:rPr>
              <a:t>http://science.kennesaw.edu/jmcneal7/plantsys/basals.html</a:t>
            </a:r>
            <a:r>
              <a:rPr lang="en-GB" sz="1600" dirty="0"/>
              <a:t>)</a:t>
            </a:r>
          </a:p>
          <a:p>
            <a:endParaRPr lang="en-GB" sz="1600" dirty="0"/>
          </a:p>
          <a:p>
            <a:endParaRPr lang="en-GB" sz="1600" dirty="0"/>
          </a:p>
          <a:p>
            <a:endParaRPr lang="en-GB" sz="2800" dirty="0"/>
          </a:p>
        </p:txBody>
      </p:sp>
      <p:sp>
        <p:nvSpPr>
          <p:cNvPr id="9" name="Rectangle 8"/>
          <p:cNvSpPr/>
          <p:nvPr/>
        </p:nvSpPr>
        <p:spPr>
          <a:xfrm>
            <a:off x="5932527" y="4633114"/>
            <a:ext cx="342847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800" dirty="0"/>
              <a:t>Females may have </a:t>
            </a:r>
            <a:r>
              <a:rPr lang="en-GB" sz="2800" dirty="0" err="1"/>
              <a:t>staminodes</a:t>
            </a:r>
            <a:r>
              <a:rPr lang="en-GB" sz="2800" dirty="0"/>
              <a:t> (infertile stamens) – evolved from bisexual flower?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42026" y="3501008"/>
            <a:ext cx="669746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/>
              <a:t>Dioecious – separate male and female plants</a:t>
            </a:r>
          </a:p>
          <a:p>
            <a:r>
              <a:rPr lang="en-GB" sz="2800" dirty="0"/>
              <a:t>(developmentally determined)</a:t>
            </a:r>
          </a:p>
        </p:txBody>
      </p:sp>
    </p:spTree>
    <p:extLst>
      <p:ext uri="{BB962C8B-B14F-4D97-AF65-F5344CB8AC3E}">
        <p14:creationId xmlns:p14="http://schemas.microsoft.com/office/powerpoint/2010/main" val="3487515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9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3693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Key steps in flower evolution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92004" y="523220"/>
            <a:ext cx="619268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Gymnosperms:   </a:t>
            </a:r>
            <a:r>
              <a:rPr lang="en-GB" sz="2800" dirty="0"/>
              <a:t>Male and female cones</a:t>
            </a:r>
          </a:p>
          <a:p>
            <a:r>
              <a:rPr lang="en-GB" sz="2800" dirty="0"/>
              <a:t>	Pollen spread by wind – </a:t>
            </a:r>
          </a:p>
          <a:p>
            <a:r>
              <a:rPr lang="en-GB" sz="2800" dirty="0"/>
              <a:t>		Uncontrolled;  risk of 			</a:t>
            </a:r>
            <a:r>
              <a:rPr lang="en-GB" sz="2800" dirty="0" err="1"/>
              <a:t>selfing</a:t>
            </a:r>
            <a:r>
              <a:rPr lang="en-GB" sz="2800" dirty="0"/>
              <a:t>/hybridisation</a:t>
            </a:r>
          </a:p>
          <a:p>
            <a:r>
              <a:rPr lang="en-GB" sz="3600" dirty="0">
                <a:solidFill>
                  <a:srgbClr val="FF0000"/>
                </a:solidFill>
              </a:rPr>
              <a:t>	Pollen stolen by insects</a:t>
            </a:r>
          </a:p>
          <a:p>
            <a:endParaRPr lang="en-GB" sz="2800" dirty="0"/>
          </a:p>
        </p:txBody>
      </p:sp>
      <p:pic>
        <p:nvPicPr>
          <p:cNvPr id="4098" name="Picture 2" descr="Image result for pine polle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0676" y="667235"/>
            <a:ext cx="2664296" cy="1923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210102" y="2899483"/>
            <a:ext cx="828092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Angiosperms:  </a:t>
            </a:r>
            <a:r>
              <a:rPr lang="en-GB" sz="2800" dirty="0"/>
              <a:t>Male and female organs come together</a:t>
            </a:r>
          </a:p>
          <a:p>
            <a:r>
              <a:rPr lang="en-GB" sz="2800" dirty="0"/>
              <a:t>			So… pollen carried to female organ</a:t>
            </a:r>
          </a:p>
          <a:p>
            <a:r>
              <a:rPr lang="en-GB" sz="2800" dirty="0"/>
              <a:t>	But… </a:t>
            </a:r>
            <a:r>
              <a:rPr lang="en-GB" sz="2800" dirty="0">
                <a:solidFill>
                  <a:srgbClr val="FF0000"/>
                </a:solidFill>
              </a:rPr>
              <a:t>increased risk of self pollination</a:t>
            </a:r>
          </a:p>
          <a:p>
            <a:r>
              <a:rPr lang="en-GB" sz="2800" dirty="0">
                <a:solidFill>
                  <a:srgbClr val="FF0000"/>
                </a:solidFill>
              </a:rPr>
              <a:t>			and… </a:t>
            </a:r>
            <a:r>
              <a:rPr lang="en-GB" sz="2800" dirty="0"/>
              <a:t>hybridisation still possible</a:t>
            </a:r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9959" y="4676195"/>
            <a:ext cx="7041207" cy="1940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6502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757" y="-18491"/>
            <a:ext cx="28958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solidFill>
                  <a:srgbClr val="FF0000"/>
                </a:solidFill>
              </a:rPr>
              <a:t>Specialisation!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76786" y="818341"/>
            <a:ext cx="9199314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i="1" dirty="0"/>
              <a:t>Co-evolution</a:t>
            </a:r>
            <a:r>
              <a:rPr lang="en-GB" sz="2800" dirty="0"/>
              <a:t> of </a:t>
            </a:r>
            <a:r>
              <a:rPr lang="en-GB" sz="2800" dirty="0">
                <a:solidFill>
                  <a:srgbClr val="00B050"/>
                </a:solidFill>
              </a:rPr>
              <a:t>plants</a:t>
            </a:r>
            <a:r>
              <a:rPr lang="en-GB" sz="2800" dirty="0"/>
              <a:t> and </a:t>
            </a:r>
            <a:r>
              <a:rPr lang="en-GB" sz="2800" dirty="0">
                <a:solidFill>
                  <a:srgbClr val="FF0000"/>
                </a:solidFill>
              </a:rPr>
              <a:t>animals</a:t>
            </a:r>
            <a:r>
              <a:rPr lang="en-GB" sz="2800" dirty="0"/>
              <a:t> allows special relationships</a:t>
            </a:r>
          </a:p>
          <a:p>
            <a:pPr algn="ctr"/>
            <a:r>
              <a:rPr lang="en-GB" sz="3600" dirty="0"/>
              <a:t>Increased diversity </a:t>
            </a:r>
            <a:r>
              <a:rPr lang="en-GB" sz="3600" dirty="0">
                <a:solidFill>
                  <a:srgbClr val="FF0000"/>
                </a:solidFill>
              </a:rPr>
              <a:t>of both groups</a:t>
            </a:r>
            <a:endParaRPr lang="en-GB" sz="2800" dirty="0">
              <a:solidFill>
                <a:srgbClr val="FF0000"/>
              </a:solidFill>
            </a:endParaRPr>
          </a:p>
          <a:p>
            <a:endParaRPr lang="en-GB" dirty="0"/>
          </a:p>
        </p:txBody>
      </p:sp>
      <p:pic>
        <p:nvPicPr>
          <p:cNvPr id="4098" name="Picture 2" descr="https://upload.wikimedia.org/wikipedia/commons/thumb/2/24/Ophrys_bombyliflora_%28flower%29.jpg/800px-Ophrys_bombyliflora_%28flower%29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677" y="1970287"/>
            <a:ext cx="3076575" cy="410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2848868" y="6105732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GB" sz="900" dirty="0"/>
              <a:t>By © Hans </a:t>
            </a:r>
            <a:r>
              <a:rPr lang="en-GB" sz="900" dirty="0" err="1"/>
              <a:t>Hillewaert</a:t>
            </a:r>
            <a:r>
              <a:rPr lang="en-GB" sz="900" dirty="0"/>
              <a:t> /, CC BY-SA 3.0, https://commons.wikimedia.org/w/index.php?curid=6591781</a:t>
            </a:r>
          </a:p>
        </p:txBody>
      </p:sp>
      <p:sp>
        <p:nvSpPr>
          <p:cNvPr id="5" name="Rectangle 4"/>
          <p:cNvSpPr/>
          <p:nvPr/>
        </p:nvSpPr>
        <p:spPr>
          <a:xfrm>
            <a:off x="6828037" y="2179340"/>
            <a:ext cx="4181529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dirty="0" err="1"/>
              <a:t>e.g.</a:t>
            </a:r>
            <a:r>
              <a:rPr lang="en-GB" sz="3200" i="1" dirty="0" err="1"/>
              <a:t>Ophrys</a:t>
            </a:r>
            <a:r>
              <a:rPr lang="en-GB" sz="3200" i="1" dirty="0"/>
              <a:t> </a:t>
            </a:r>
            <a:r>
              <a:rPr lang="en-GB" sz="3200" i="1" dirty="0" err="1"/>
              <a:t>bombyliflora</a:t>
            </a:r>
            <a:endParaRPr lang="en-GB" sz="3200" i="1" dirty="0"/>
          </a:p>
          <a:p>
            <a:r>
              <a:rPr lang="en-GB" sz="3200" dirty="0"/>
              <a:t>(Bumblebee orchid)</a:t>
            </a:r>
          </a:p>
        </p:txBody>
      </p:sp>
      <p:pic>
        <p:nvPicPr>
          <p:cNvPr id="4100" name="Picture 4" descr="Eucera cinnamomea female 2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75" t="19289" r="34813" b="30711"/>
          <a:stretch/>
        </p:blipFill>
        <p:spPr bwMode="auto">
          <a:xfrm>
            <a:off x="7403032" y="3659980"/>
            <a:ext cx="3426385" cy="2445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7846402" y="3188664"/>
            <a:ext cx="27257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i="1" dirty="0" err="1"/>
              <a:t>Eucera</a:t>
            </a:r>
            <a:r>
              <a:rPr lang="en-GB" sz="2400" i="1" dirty="0"/>
              <a:t> </a:t>
            </a:r>
            <a:r>
              <a:rPr lang="en-GB" sz="2400" i="1" dirty="0" err="1"/>
              <a:t>cinnamomea</a:t>
            </a:r>
            <a:endParaRPr lang="en-GB" sz="2400" dirty="0"/>
          </a:p>
        </p:txBody>
      </p:sp>
      <p:sp>
        <p:nvSpPr>
          <p:cNvPr id="7" name="Rectangle 6"/>
          <p:cNvSpPr/>
          <p:nvPr/>
        </p:nvSpPr>
        <p:spPr>
          <a:xfrm>
            <a:off x="6923275" y="5736447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By Gideon </a:t>
            </a:r>
            <a:r>
              <a:rPr lang="en-GB" sz="900" dirty="0" err="1">
                <a:solidFill>
                  <a:schemeClr val="bg1"/>
                </a:solidFill>
              </a:rPr>
              <a:t>Pisanty</a:t>
            </a:r>
            <a:r>
              <a:rPr lang="en-GB" sz="900" dirty="0">
                <a:solidFill>
                  <a:schemeClr val="bg1"/>
                </a:solidFill>
              </a:rPr>
              <a:t> (</a:t>
            </a:r>
            <a:r>
              <a:rPr lang="en-GB" sz="900" dirty="0" err="1">
                <a:solidFill>
                  <a:schemeClr val="bg1"/>
                </a:solidFill>
              </a:rPr>
              <a:t>Gidip</a:t>
            </a:r>
            <a:r>
              <a:rPr lang="en-GB" sz="900" dirty="0">
                <a:solidFill>
                  <a:schemeClr val="bg1"/>
                </a:solidFill>
              </a:rPr>
              <a:t>) - Own work, CC BY 3.0, https://commons.wikimedia.org/w/index.php?curid=17842883</a:t>
            </a:r>
          </a:p>
        </p:txBody>
      </p:sp>
    </p:spTree>
    <p:extLst>
      <p:ext uri="{BB962C8B-B14F-4D97-AF65-F5344CB8AC3E}">
        <p14:creationId xmlns:p14="http://schemas.microsoft.com/office/powerpoint/2010/main" val="4038862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ttps://upload.wikimedia.org/wikipedia/commons/thumb/3/3c/Angraecum_sesquipedale_%2814877836163%29.jpg/800px-Angraecum_sesquipedale_%2814877836163%29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719" t="30720" r="36041"/>
          <a:stretch/>
        </p:blipFill>
        <p:spPr bwMode="auto">
          <a:xfrm>
            <a:off x="3964198" y="968029"/>
            <a:ext cx="2801441" cy="5252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-18894" y="-15026"/>
            <a:ext cx="6468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i="1" dirty="0" err="1">
                <a:solidFill>
                  <a:srgbClr val="FF0000"/>
                </a:solidFill>
              </a:rPr>
              <a:t>Angraecum</a:t>
            </a:r>
            <a:r>
              <a:rPr lang="en-GB" sz="2800" i="1" dirty="0">
                <a:solidFill>
                  <a:srgbClr val="FF0000"/>
                </a:solidFill>
              </a:rPr>
              <a:t> </a:t>
            </a:r>
            <a:r>
              <a:rPr lang="en-GB" sz="2800" i="1" dirty="0" err="1">
                <a:solidFill>
                  <a:srgbClr val="FF0000"/>
                </a:solidFill>
              </a:rPr>
              <a:t>sesquipedale</a:t>
            </a:r>
            <a:r>
              <a:rPr lang="en-GB" sz="2800" i="1" dirty="0">
                <a:solidFill>
                  <a:srgbClr val="FF0000"/>
                </a:solidFill>
              </a:rPr>
              <a:t> – </a:t>
            </a:r>
            <a:r>
              <a:rPr lang="en-GB" sz="2800" dirty="0">
                <a:solidFill>
                  <a:srgbClr val="FF0000"/>
                </a:solidFill>
              </a:rPr>
              <a:t>Darwin’s Orchid</a:t>
            </a:r>
          </a:p>
        </p:txBody>
      </p:sp>
      <p:pic>
        <p:nvPicPr>
          <p:cNvPr id="5124" name="Picture 4" descr="NHM Xanthopan morgani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2975" y="1463311"/>
            <a:ext cx="2686050" cy="3667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7620000" y="4976665"/>
            <a:ext cx="4572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GB" sz="1000" dirty="0"/>
              <a:t>By </a:t>
            </a:r>
            <a:r>
              <a:rPr lang="en-GB" sz="1000" dirty="0" err="1"/>
              <a:t>Esculapio</a:t>
            </a:r>
            <a:r>
              <a:rPr lang="en-GB" sz="1000" dirty="0"/>
              <a:t> - Own work, CC BY-SA 3.0, https://commons.wikimedia.org/w/index.php?curid=9856527</a:t>
            </a:r>
          </a:p>
        </p:txBody>
      </p:sp>
      <p:sp>
        <p:nvSpPr>
          <p:cNvPr id="4" name="Rectangle 3"/>
          <p:cNvSpPr/>
          <p:nvPr/>
        </p:nvSpPr>
        <p:spPr>
          <a:xfrm>
            <a:off x="8285140" y="5379145"/>
            <a:ext cx="32417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i="1" dirty="0" err="1"/>
              <a:t>Xanthopan</a:t>
            </a:r>
            <a:r>
              <a:rPr lang="en-GB" sz="2800" i="1" dirty="0"/>
              <a:t> </a:t>
            </a:r>
            <a:r>
              <a:rPr lang="en-GB" sz="2800" i="1" dirty="0" err="1"/>
              <a:t>morganii</a:t>
            </a:r>
            <a:r>
              <a:rPr lang="en-GB" sz="2800" i="1" dirty="0"/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3531226" y="6167829"/>
            <a:ext cx="380731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100" dirty="0"/>
              <a:t>By </a:t>
            </a:r>
            <a:r>
              <a:rPr lang="en-GB" sz="1100" dirty="0" err="1"/>
              <a:t>Wilferd</a:t>
            </a:r>
            <a:r>
              <a:rPr lang="en-GB" sz="1100" dirty="0"/>
              <a:t> </a:t>
            </a:r>
            <a:r>
              <a:rPr lang="en-GB" sz="1100" dirty="0" err="1"/>
              <a:t>Duckitt</a:t>
            </a:r>
            <a:r>
              <a:rPr lang="en-GB" sz="1100" dirty="0"/>
              <a:t> from Darling,, CC BY 2.0, https://commons.wikimedia.org/w/index.php?curid=42036024</a:t>
            </a:r>
          </a:p>
        </p:txBody>
      </p:sp>
      <p:sp>
        <p:nvSpPr>
          <p:cNvPr id="6" name="Left Arrow 5"/>
          <p:cNvSpPr/>
          <p:nvPr/>
        </p:nvSpPr>
        <p:spPr>
          <a:xfrm>
            <a:off x="4824857" y="4605265"/>
            <a:ext cx="1080120" cy="648072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5193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74" r="13436"/>
          <a:stretch/>
        </p:blipFill>
        <p:spPr bwMode="auto">
          <a:xfrm>
            <a:off x="4862736" y="1423680"/>
            <a:ext cx="4608512" cy="3535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9749" y="-83598"/>
            <a:ext cx="384605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600" i="1" dirty="0" err="1">
                <a:solidFill>
                  <a:srgbClr val="FF0000"/>
                </a:solidFill>
              </a:rPr>
              <a:t>Orphium</a:t>
            </a:r>
            <a:r>
              <a:rPr lang="en-GB" sz="3600" i="1" dirty="0">
                <a:solidFill>
                  <a:srgbClr val="FF0000"/>
                </a:solidFill>
              </a:rPr>
              <a:t> </a:t>
            </a:r>
            <a:r>
              <a:rPr lang="en-GB" sz="3600" i="1" dirty="0" err="1">
                <a:solidFill>
                  <a:srgbClr val="FF0000"/>
                </a:solidFill>
              </a:rPr>
              <a:t>frutescens</a:t>
            </a:r>
            <a:endParaRPr lang="en-GB" sz="3600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70437" y="5117020"/>
            <a:ext cx="89371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/>
              <a:t>David Attenborough </a:t>
            </a:r>
            <a:r>
              <a:rPr lang="en-GB" dirty="0"/>
              <a:t>- </a:t>
            </a:r>
            <a:r>
              <a:rPr lang="en-GB" dirty="0">
                <a:hlinkClick r:id="rId3"/>
              </a:rPr>
              <a:t>https://learningonscreen.ac.uk/ondemand/index.php/clip/102363</a:t>
            </a:r>
            <a:r>
              <a:rPr lang="en-GB" dirty="0"/>
              <a:t> 2:35</a:t>
            </a:r>
          </a:p>
          <a:p>
            <a:r>
              <a:rPr lang="en-GB" i="1" dirty="0"/>
              <a:t>Iain Stewart </a:t>
            </a:r>
            <a:r>
              <a:rPr lang="en-GB" dirty="0"/>
              <a:t>- </a:t>
            </a:r>
            <a:r>
              <a:rPr lang="en-GB" dirty="0">
                <a:hlinkClick r:id="rId4"/>
              </a:rPr>
              <a:t>https://learningonscreen.ac.uk/ondemand/index.php/clip/102366</a:t>
            </a:r>
            <a:r>
              <a:rPr lang="en-GB" dirty="0"/>
              <a:t> 3 mins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98802" y="957288"/>
            <a:ext cx="43363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Relationship with Carpenter Bees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542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42019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2500" b="1250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2135560" y="260648"/>
            <a:ext cx="8229600" cy="6336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19200" dirty="0">
              <a:solidFill>
                <a:schemeClr val="bg1"/>
              </a:solidFill>
            </a:endParaRPr>
          </a:p>
          <a:p>
            <a:r>
              <a:rPr lang="en-GB" sz="28800" dirty="0">
                <a:solidFill>
                  <a:schemeClr val="bg1"/>
                </a:solidFill>
              </a:rPr>
              <a:t>It </a:t>
            </a:r>
            <a:r>
              <a:rPr lang="en-GB" sz="28800" dirty="0" err="1">
                <a:solidFill>
                  <a:schemeClr val="bg1"/>
                </a:solidFill>
              </a:rPr>
              <a:t>ain’t</a:t>
            </a:r>
            <a:r>
              <a:rPr lang="en-GB" sz="28800" dirty="0">
                <a:solidFill>
                  <a:schemeClr val="bg1"/>
                </a:solidFill>
              </a:rPr>
              <a:t> all flowers</a:t>
            </a:r>
          </a:p>
          <a:p>
            <a:br>
              <a:rPr lang="en-GB" sz="3600" dirty="0">
                <a:solidFill>
                  <a:srgbClr val="FF0000"/>
                </a:solidFill>
              </a:rPr>
            </a:br>
            <a:endParaRPr lang="en-GB" sz="2000" dirty="0">
              <a:solidFill>
                <a:srgbClr val="FF0000"/>
              </a:solidFill>
            </a:endParaRPr>
          </a:p>
        </p:txBody>
      </p:sp>
      <p:sp>
        <p:nvSpPr>
          <p:cNvPr id="3" name="AutoShape 2" descr="Image result for the cult wild flower"/>
          <p:cNvSpPr>
            <a:spLocks noChangeAspect="1" noChangeArrowheads="1"/>
          </p:cNvSpPr>
          <p:nvPr/>
        </p:nvSpPr>
        <p:spPr bwMode="auto">
          <a:xfrm>
            <a:off x="1679576" y="-2147888"/>
            <a:ext cx="4467225" cy="4476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AutoShape 4" descr="Image result for the cult wild flower"/>
          <p:cNvSpPr>
            <a:spLocks noChangeAspect="1" noChangeArrowheads="1"/>
          </p:cNvSpPr>
          <p:nvPr/>
        </p:nvSpPr>
        <p:spPr bwMode="auto">
          <a:xfrm>
            <a:off x="1831976" y="-1995488"/>
            <a:ext cx="4467225" cy="4476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77769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251" y="1707"/>
            <a:ext cx="34155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FF0000"/>
                </a:solidFill>
              </a:rPr>
              <a:t>Evolution of “Fruit”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040932" y="586482"/>
            <a:ext cx="6839886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Not exclusively angiosperm (e.g. yew, juniper)</a:t>
            </a:r>
          </a:p>
          <a:p>
            <a:pPr algn="ctr"/>
            <a:r>
              <a:rPr lang="en-GB" sz="2800" i="1" dirty="0"/>
              <a:t>but</a:t>
            </a:r>
            <a:r>
              <a:rPr lang="en-GB" sz="2800" dirty="0"/>
              <a:t> most common in this group</a:t>
            </a:r>
          </a:p>
          <a:p>
            <a:pPr algn="ctr"/>
            <a:r>
              <a:rPr lang="en-GB" sz="2800" dirty="0"/>
              <a:t>Various developmental origins</a:t>
            </a:r>
          </a:p>
          <a:p>
            <a:pPr algn="ctr"/>
            <a:r>
              <a:rPr lang="en-GB" sz="2800" dirty="0"/>
              <a:t>Designed to be eaten</a:t>
            </a:r>
          </a:p>
          <a:p>
            <a:pPr algn="ctr"/>
            <a:r>
              <a:rPr lang="en-GB" sz="2800" dirty="0"/>
              <a:t>Resistant seeds tolerate gut environment</a:t>
            </a:r>
          </a:p>
          <a:p>
            <a:pPr algn="ctr"/>
            <a:r>
              <a:rPr lang="en-GB" sz="2800" dirty="0"/>
              <a:t>Spreads seeds</a:t>
            </a:r>
          </a:p>
          <a:p>
            <a:pPr algn="ctr"/>
            <a:r>
              <a:rPr lang="en-GB" sz="2800" dirty="0"/>
              <a:t>Germination with fertiliser  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64" t="33532" r="22583" b="9280"/>
          <a:stretch/>
        </p:blipFill>
        <p:spPr bwMode="auto">
          <a:xfrm>
            <a:off x="5233230" y="3861049"/>
            <a:ext cx="4001952" cy="2271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4463326" y="6120834"/>
            <a:ext cx="581351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dirty="0">
                <a:hlinkClick r:id="rId3"/>
              </a:rPr>
              <a:t>https://learningonscreen.ac.uk/ondemand/index.php/clip/102388</a:t>
            </a:r>
            <a:r>
              <a:rPr lang="en-GB" sz="1600" dirty="0"/>
              <a:t> 2:00</a:t>
            </a:r>
          </a:p>
          <a:p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40588648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907" y="0"/>
            <a:ext cx="489441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600" i="1" dirty="0" err="1">
                <a:solidFill>
                  <a:srgbClr val="FF0000"/>
                </a:solidFill>
              </a:rPr>
              <a:t>Sideroxylon</a:t>
            </a:r>
            <a:r>
              <a:rPr lang="en-GB" sz="3600" i="1" dirty="0">
                <a:solidFill>
                  <a:srgbClr val="FF0000"/>
                </a:solidFill>
              </a:rPr>
              <a:t> grandiflorum</a:t>
            </a:r>
            <a:endParaRPr lang="en-GB" sz="3600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505880" y="1069752"/>
            <a:ext cx="8485400" cy="28623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600" dirty="0" err="1"/>
              <a:t>Tambalacoque</a:t>
            </a:r>
            <a:endParaRPr lang="en-GB" sz="3600" dirty="0"/>
          </a:p>
          <a:p>
            <a:r>
              <a:rPr lang="en-GB" sz="3600" dirty="0"/>
              <a:t>Native tree of Mauritius</a:t>
            </a:r>
          </a:p>
          <a:p>
            <a:r>
              <a:rPr lang="en-GB" sz="3600" dirty="0"/>
              <a:t>Apricot like fruit</a:t>
            </a:r>
          </a:p>
          <a:p>
            <a:r>
              <a:rPr lang="en-GB" sz="3600" dirty="0"/>
              <a:t>1973 – Stanley Temple claimed only 13 trees</a:t>
            </a:r>
          </a:p>
          <a:p>
            <a:r>
              <a:rPr lang="en-GB" sz="3600" dirty="0"/>
              <a:t>All ~300 years old</a:t>
            </a:r>
          </a:p>
        </p:txBody>
      </p:sp>
      <p:pic>
        <p:nvPicPr>
          <p:cNvPr id="1026" name="Picture 2" descr="Sideroxylon grandiflorum - Mauritian endemic tre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0964" y="199864"/>
            <a:ext cx="2304256" cy="2545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3132336" y="6361668"/>
            <a:ext cx="41839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https://stories.rbge.org.uk/archives/19390</a:t>
            </a:r>
          </a:p>
        </p:txBody>
      </p:sp>
      <p:pic>
        <p:nvPicPr>
          <p:cNvPr id="1028" name="Picture 4" descr="https://upload.wikimedia.org/wikipedia/commons/thumb/7/79/Dronte_17th_Century_color_corrected.jpg/800px-Dronte_17th_Century_color_corrected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4976" y="3503116"/>
            <a:ext cx="2440244" cy="3048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827272" y="4180997"/>
            <a:ext cx="5427704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solidFill>
                  <a:srgbClr val="FF0000"/>
                </a:solidFill>
              </a:rPr>
              <a:t>The Dodo – last see 1662</a:t>
            </a:r>
          </a:p>
          <a:p>
            <a:r>
              <a:rPr lang="en-GB" sz="3200" dirty="0"/>
              <a:t>Seeds abraded by dodo gizzard</a:t>
            </a:r>
          </a:p>
          <a:p>
            <a:r>
              <a:rPr lang="en-GB" sz="3200" dirty="0"/>
              <a:t>(n.b. probably not true)</a:t>
            </a: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6262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62400" y="6029797"/>
            <a:ext cx="76328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hlinkClick r:id="rId2"/>
              </a:rPr>
              <a:t>https://www.smithsonianmag.com/arts-culture/why-the-avocado-should-have-gone-the-way-of-the-dodo-4976527/</a:t>
            </a:r>
            <a:endParaRPr lang="en-GB" dirty="0"/>
          </a:p>
        </p:txBody>
      </p:sp>
      <p:sp>
        <p:nvSpPr>
          <p:cNvPr id="3" name="AutoShape 2" descr="Avocado Cut in Half"/>
          <p:cNvSpPr>
            <a:spLocks noChangeAspect="1" noChangeArrowheads="1"/>
          </p:cNvSpPr>
          <p:nvPr/>
        </p:nvSpPr>
        <p:spPr bwMode="auto">
          <a:xfrm>
            <a:off x="2746375" y="-2079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0185" y="1061244"/>
            <a:ext cx="6337278" cy="3384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 descr="https://upload.wikimedia.org/wikipedia/commons/e/e6/Megatherium_NT_small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7068" y="610307"/>
            <a:ext cx="57150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295797" y="5264130"/>
            <a:ext cx="41375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i="1" dirty="0" err="1"/>
              <a:t>Megatherium</a:t>
            </a:r>
            <a:r>
              <a:rPr lang="en-GB" sz="2800" dirty="0"/>
              <a:t> – Giant Sloth</a:t>
            </a:r>
          </a:p>
        </p:txBody>
      </p:sp>
    </p:spTree>
    <p:extLst>
      <p:ext uri="{BB962C8B-B14F-4D97-AF65-F5344CB8AC3E}">
        <p14:creationId xmlns:p14="http://schemas.microsoft.com/office/powerpoint/2010/main" val="1392551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88808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2500" b="1250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2135560" y="260648"/>
            <a:ext cx="8229600" cy="6336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19200" dirty="0">
              <a:solidFill>
                <a:schemeClr val="bg1"/>
              </a:solidFill>
            </a:endParaRPr>
          </a:p>
          <a:p>
            <a:r>
              <a:rPr lang="en-GB" sz="28800" dirty="0">
                <a:solidFill>
                  <a:schemeClr val="bg1"/>
                </a:solidFill>
              </a:rPr>
              <a:t>Spread of the Angiosperms</a:t>
            </a:r>
          </a:p>
          <a:p>
            <a:br>
              <a:rPr lang="en-GB" sz="3600" dirty="0">
                <a:solidFill>
                  <a:srgbClr val="FF0000"/>
                </a:solidFill>
              </a:rPr>
            </a:br>
            <a:endParaRPr lang="en-GB" sz="2000" dirty="0">
              <a:solidFill>
                <a:srgbClr val="FF0000"/>
              </a:solidFill>
            </a:endParaRPr>
          </a:p>
        </p:txBody>
      </p:sp>
      <p:sp>
        <p:nvSpPr>
          <p:cNvPr id="3" name="AutoShape 2" descr="Image result for the cult wild flower"/>
          <p:cNvSpPr>
            <a:spLocks noChangeAspect="1" noChangeArrowheads="1"/>
          </p:cNvSpPr>
          <p:nvPr/>
        </p:nvSpPr>
        <p:spPr bwMode="auto">
          <a:xfrm>
            <a:off x="1679576" y="-2147888"/>
            <a:ext cx="4467225" cy="4476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AutoShape 4" descr="Image result for the cult wild flower"/>
          <p:cNvSpPr>
            <a:spLocks noChangeAspect="1" noChangeArrowheads="1"/>
          </p:cNvSpPr>
          <p:nvPr/>
        </p:nvSpPr>
        <p:spPr bwMode="auto">
          <a:xfrm>
            <a:off x="1831976" y="-1995488"/>
            <a:ext cx="4467225" cy="4476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69157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62612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FF0000"/>
                </a:solidFill>
              </a:rPr>
              <a:t>What I did in my summer holidays…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15170" y="767420"/>
            <a:ext cx="5940662" cy="3960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6" name="Picture 8" descr="Image result for obelix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28201" y="995040"/>
            <a:ext cx="2514600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280538" y="4361116"/>
            <a:ext cx="1743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Carnac - Brittany</a:t>
            </a:r>
          </a:p>
        </p:txBody>
      </p:sp>
      <p:pic>
        <p:nvPicPr>
          <p:cNvPr id="2058" name="Picture 1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80537" y="699384"/>
            <a:ext cx="6144768" cy="4096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57406" y="699384"/>
            <a:ext cx="6144768" cy="4096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9" name="Picture 11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53423" y="699384"/>
            <a:ext cx="6144768" cy="4096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0" name="Picture 1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67217" y="699384"/>
            <a:ext cx="6144768" cy="4096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888302" y="4795897"/>
            <a:ext cx="5155386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i="1" dirty="0" err="1"/>
              <a:t>Ephedera</a:t>
            </a:r>
            <a:r>
              <a:rPr lang="en-GB" sz="3200" i="1" dirty="0"/>
              <a:t> </a:t>
            </a:r>
            <a:r>
              <a:rPr lang="en-GB" sz="3200" i="1" dirty="0" err="1"/>
              <a:t>distachya</a:t>
            </a:r>
            <a:endParaRPr lang="en-GB" sz="3200" i="1" dirty="0"/>
          </a:p>
          <a:p>
            <a:pPr algn="ctr"/>
            <a:r>
              <a:rPr lang="en-GB" sz="3200" dirty="0"/>
              <a:t>Raisins de </a:t>
            </a:r>
            <a:r>
              <a:rPr lang="en-GB" sz="3200" dirty="0" err="1"/>
              <a:t>Mer</a:t>
            </a:r>
            <a:endParaRPr lang="en-GB" sz="3200" dirty="0"/>
          </a:p>
          <a:p>
            <a:pPr algn="ctr"/>
            <a:r>
              <a:rPr lang="en-GB" sz="3200" dirty="0"/>
              <a:t>NOT grass but fills same niche</a:t>
            </a:r>
          </a:p>
          <a:p>
            <a:pPr algn="ctr"/>
            <a:r>
              <a:rPr lang="en-GB" sz="3200" i="1" dirty="0"/>
              <a:t>Almost</a:t>
            </a:r>
            <a:r>
              <a:rPr lang="en-GB" sz="3200" dirty="0"/>
              <a:t> a HERB</a:t>
            </a:r>
          </a:p>
        </p:txBody>
      </p:sp>
    </p:spTree>
    <p:extLst>
      <p:ext uri="{BB962C8B-B14F-4D97-AF65-F5344CB8AC3E}">
        <p14:creationId xmlns:p14="http://schemas.microsoft.com/office/powerpoint/2010/main" val="3107272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526" y="-77812"/>
            <a:ext cx="36840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>
                <a:solidFill>
                  <a:srgbClr val="FF0000"/>
                </a:solidFill>
              </a:rPr>
              <a:t>What is a “Herb”</a:t>
            </a:r>
            <a:endParaRPr lang="en-GB" sz="2400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5493" y="1040160"/>
            <a:ext cx="2457065" cy="5237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366870" y="392088"/>
            <a:ext cx="5968622" cy="61247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Herb = plant with soft tissues only</a:t>
            </a:r>
          </a:p>
          <a:p>
            <a:r>
              <a:rPr lang="en-GB" sz="3600" i="1" dirty="0"/>
              <a:t>No secondary thickening</a:t>
            </a:r>
          </a:p>
          <a:p>
            <a:endParaRPr lang="en-GB" sz="3600" i="1" dirty="0"/>
          </a:p>
          <a:p>
            <a:r>
              <a:rPr lang="en-GB" sz="3600" dirty="0"/>
              <a:t>May die down in winter</a:t>
            </a:r>
          </a:p>
          <a:p>
            <a:r>
              <a:rPr lang="en-GB" sz="3600" dirty="0"/>
              <a:t>Maybe be annual…</a:t>
            </a:r>
          </a:p>
          <a:p>
            <a:r>
              <a:rPr lang="en-GB" sz="3600" dirty="0"/>
              <a:t>			biennial…</a:t>
            </a:r>
          </a:p>
          <a:p>
            <a:r>
              <a:rPr lang="en-GB" sz="3600" dirty="0"/>
              <a:t>				perennial…</a:t>
            </a:r>
          </a:p>
          <a:p>
            <a:r>
              <a:rPr lang="en-GB" sz="3600" dirty="0">
                <a:solidFill>
                  <a:srgbClr val="FF0000"/>
                </a:solidFill>
              </a:rPr>
              <a:t>No extant gymnosperm herbs</a:t>
            </a:r>
          </a:p>
          <a:p>
            <a:endParaRPr lang="en-GB" sz="3600" dirty="0">
              <a:solidFill>
                <a:srgbClr val="FF0000"/>
              </a:solidFill>
            </a:endParaRPr>
          </a:p>
          <a:p>
            <a:r>
              <a:rPr lang="en-GB" sz="3600" dirty="0"/>
              <a:t>Possible fossil - </a:t>
            </a:r>
            <a:r>
              <a:rPr lang="en-GB" sz="3600" i="1" dirty="0" err="1"/>
              <a:t>Aethophyllum</a:t>
            </a:r>
            <a:r>
              <a:rPr lang="en-GB" sz="3600" dirty="0"/>
              <a:t> </a:t>
            </a:r>
          </a:p>
          <a:p>
            <a:r>
              <a:rPr lang="en-GB" sz="3600" dirty="0">
                <a:solidFill>
                  <a:srgbClr val="FF0000"/>
                </a:solidFill>
              </a:rPr>
              <a:t>(but maybe woody…)</a:t>
            </a:r>
          </a:p>
        </p:txBody>
      </p:sp>
    </p:spTree>
    <p:extLst>
      <p:ext uri="{BB962C8B-B14F-4D97-AF65-F5344CB8AC3E}">
        <p14:creationId xmlns:p14="http://schemas.microsoft.com/office/powerpoint/2010/main" val="1630675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-100557"/>
            <a:ext cx="29849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solidFill>
                  <a:srgbClr val="FF0000"/>
                </a:solidFill>
              </a:rPr>
              <a:t>Being Woody…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49374" y="571174"/>
            <a:ext cx="3860031" cy="2739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>
                <a:solidFill>
                  <a:srgbClr val="FF0000"/>
                </a:solidFill>
              </a:rPr>
              <a:t>Pros</a:t>
            </a:r>
          </a:p>
          <a:p>
            <a:pPr algn="ctr"/>
            <a:r>
              <a:rPr lang="en-GB" sz="3200" dirty="0"/>
              <a:t>Can grow TALL</a:t>
            </a:r>
          </a:p>
          <a:p>
            <a:pPr algn="ctr"/>
            <a:r>
              <a:rPr lang="en-GB" sz="3200" dirty="0"/>
              <a:t>(competition for light)</a:t>
            </a:r>
          </a:p>
          <a:p>
            <a:pPr algn="ctr"/>
            <a:r>
              <a:rPr lang="en-GB" sz="3200" dirty="0"/>
              <a:t>Resilient</a:t>
            </a:r>
          </a:p>
          <a:p>
            <a:pPr algn="ctr"/>
            <a:r>
              <a:rPr lang="en-GB" sz="3200" dirty="0"/>
              <a:t>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59521" y="3310385"/>
            <a:ext cx="1839734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>
                <a:solidFill>
                  <a:srgbClr val="FF0000"/>
                </a:solidFill>
              </a:rPr>
              <a:t>Cons</a:t>
            </a:r>
          </a:p>
          <a:p>
            <a:pPr algn="ctr"/>
            <a:r>
              <a:rPr lang="en-GB" sz="3200" dirty="0"/>
              <a:t>Expensive</a:t>
            </a:r>
          </a:p>
          <a:p>
            <a:pPr algn="ctr"/>
            <a:r>
              <a:rPr lang="en-GB" sz="3200" dirty="0"/>
              <a:t>Inflexible</a:t>
            </a:r>
          </a:p>
          <a:p>
            <a:pPr algn="ctr"/>
            <a:r>
              <a:rPr lang="en-GB" sz="3200" dirty="0"/>
              <a:t>…</a:t>
            </a:r>
          </a:p>
        </p:txBody>
      </p:sp>
      <p:pic>
        <p:nvPicPr>
          <p:cNvPr id="2050" name="Picture 2" descr="https://upload.wikimedia.org/wikipedia/commons/thumb/7/7c/Kalkfuruskog.jpg/800px-Kalkfuruskog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2732" y="193043"/>
            <a:ext cx="4032448" cy="537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526268" y="5686648"/>
            <a:ext cx="86657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Many angiosperms have lost ability to produce wood and adopted alternative growth forms</a:t>
            </a:r>
          </a:p>
        </p:txBody>
      </p:sp>
      <p:sp>
        <p:nvSpPr>
          <p:cNvPr id="7" name="Rectangle 6"/>
          <p:cNvSpPr/>
          <p:nvPr/>
        </p:nvSpPr>
        <p:spPr>
          <a:xfrm>
            <a:off x="7486708" y="5284434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GB" sz="1100" dirty="0">
                <a:solidFill>
                  <a:schemeClr val="bg1"/>
                </a:solidFill>
              </a:rPr>
              <a:t>, https://commons.wikimedia.org/w/index.php?curid=942983</a:t>
            </a:r>
          </a:p>
        </p:txBody>
      </p:sp>
    </p:spTree>
    <p:extLst>
      <p:ext uri="{BB962C8B-B14F-4D97-AF65-F5344CB8AC3E}">
        <p14:creationId xmlns:p14="http://schemas.microsoft.com/office/powerpoint/2010/main" val="285553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 descr="File:Flowering Wild Garlic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4667" y="1348456"/>
            <a:ext cx="4824536" cy="3612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0" y="-15457"/>
            <a:ext cx="33047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solidFill>
                  <a:srgbClr val="FF0000"/>
                </a:solidFill>
              </a:rPr>
              <a:t>The Understorey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881034" y="630874"/>
            <a:ext cx="4343497" cy="4678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Low Light = Low Energy</a:t>
            </a:r>
          </a:p>
          <a:p>
            <a:pPr algn="ctr"/>
            <a:endParaRPr lang="en-GB" sz="1600" dirty="0"/>
          </a:p>
          <a:p>
            <a:pPr algn="ctr"/>
            <a:r>
              <a:rPr lang="en-GB" sz="3200" dirty="0"/>
              <a:t>Transient light:</a:t>
            </a:r>
          </a:p>
          <a:p>
            <a:pPr algn="ctr"/>
            <a:r>
              <a:rPr lang="en-GB" sz="3200" dirty="0"/>
              <a:t>Seasonal (spring flowers)</a:t>
            </a:r>
          </a:p>
          <a:p>
            <a:pPr algn="ctr"/>
            <a:r>
              <a:rPr lang="en-GB" sz="3200" dirty="0" err="1"/>
              <a:t>Lightflecks</a:t>
            </a:r>
            <a:endParaRPr lang="en-GB" sz="3200" dirty="0"/>
          </a:p>
          <a:p>
            <a:pPr algn="ctr"/>
            <a:endParaRPr lang="en-GB" sz="1600" dirty="0"/>
          </a:p>
          <a:p>
            <a:pPr algn="ctr"/>
            <a:r>
              <a:rPr lang="en-GB" sz="4400" dirty="0"/>
              <a:t>Needs </a:t>
            </a:r>
            <a:r>
              <a:rPr lang="en-GB" sz="4400" dirty="0">
                <a:solidFill>
                  <a:srgbClr val="FF0000"/>
                </a:solidFill>
              </a:rPr>
              <a:t>efficiency</a:t>
            </a:r>
          </a:p>
          <a:p>
            <a:pPr algn="ctr"/>
            <a:endParaRPr lang="en-GB" sz="1400" dirty="0"/>
          </a:p>
          <a:p>
            <a:pPr algn="ctr"/>
            <a:r>
              <a:rPr lang="en-GB" sz="3200" dirty="0"/>
              <a:t>Low wind – </a:t>
            </a:r>
          </a:p>
          <a:p>
            <a:pPr algn="ctr"/>
            <a:r>
              <a:rPr lang="en-GB" sz="3200" dirty="0"/>
              <a:t>limits wind pollination</a:t>
            </a:r>
          </a:p>
          <a:p>
            <a:pPr algn="ctr"/>
            <a:endParaRPr lang="en-GB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3139795" y="5220788"/>
            <a:ext cx="88204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/>
              <a:t>Angiosperms could (finally) compete with non-seed plants!</a:t>
            </a:r>
          </a:p>
        </p:txBody>
      </p:sp>
    </p:spTree>
    <p:extLst>
      <p:ext uri="{BB962C8B-B14F-4D97-AF65-F5344CB8AC3E}">
        <p14:creationId xmlns:p14="http://schemas.microsoft.com/office/powerpoint/2010/main" val="771515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61157" y="0"/>
            <a:ext cx="61847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solidFill>
                  <a:srgbClr val="FF0000"/>
                </a:solidFill>
              </a:rPr>
              <a:t>Ephemerals – live fast die young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9328" y="646331"/>
            <a:ext cx="8457167" cy="689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Weed species – short lived (usually </a:t>
            </a:r>
            <a:r>
              <a:rPr lang="en-GB" sz="3200" dirty="0">
                <a:solidFill>
                  <a:srgbClr val="00B050"/>
                </a:solidFill>
              </a:rPr>
              <a:t>annual</a:t>
            </a:r>
            <a:r>
              <a:rPr lang="en-GB" sz="3200" dirty="0"/>
              <a:t> plants)</a:t>
            </a:r>
          </a:p>
          <a:p>
            <a:pPr algn="ctr"/>
            <a:r>
              <a:rPr lang="en-GB" sz="3200" dirty="0"/>
              <a:t>Exploit </a:t>
            </a:r>
            <a:r>
              <a:rPr lang="en-GB" sz="3200" dirty="0">
                <a:solidFill>
                  <a:srgbClr val="FF0000"/>
                </a:solidFill>
              </a:rPr>
              <a:t>transient gaps </a:t>
            </a:r>
            <a:r>
              <a:rPr lang="en-GB" sz="3200" dirty="0"/>
              <a:t>in ecosystems</a:t>
            </a:r>
          </a:p>
          <a:p>
            <a:pPr algn="ctr"/>
            <a:r>
              <a:rPr lang="en-GB" sz="3200" dirty="0"/>
              <a:t>Naturally – tree fall</a:t>
            </a:r>
          </a:p>
          <a:p>
            <a:pPr algn="ctr"/>
            <a:r>
              <a:rPr lang="en-GB" sz="3200" dirty="0"/>
              <a:t>Human influence – fields</a:t>
            </a:r>
          </a:p>
          <a:p>
            <a:pPr algn="ctr"/>
            <a:endParaRPr lang="en-GB" sz="3200" dirty="0"/>
          </a:p>
          <a:p>
            <a:pPr algn="ctr"/>
            <a:endParaRPr lang="en-GB" sz="3200" dirty="0"/>
          </a:p>
          <a:p>
            <a:pPr algn="ctr"/>
            <a:endParaRPr lang="en-GB" sz="3200" dirty="0"/>
          </a:p>
          <a:p>
            <a:pPr algn="ctr"/>
            <a:endParaRPr lang="en-GB" sz="3200" dirty="0"/>
          </a:p>
          <a:p>
            <a:pPr algn="ctr"/>
            <a:endParaRPr lang="en-GB" sz="3200" dirty="0"/>
          </a:p>
          <a:p>
            <a:pPr algn="ctr"/>
            <a:endParaRPr lang="en-GB" sz="3200" dirty="0"/>
          </a:p>
          <a:p>
            <a:pPr algn="ctr"/>
            <a:endParaRPr lang="en-GB" sz="3200" dirty="0"/>
          </a:p>
          <a:p>
            <a:pPr algn="ctr"/>
            <a:r>
              <a:rPr lang="en-GB" sz="5400" dirty="0"/>
              <a:t>Exploit </a:t>
            </a:r>
            <a:r>
              <a:rPr lang="en-GB" sz="5400" dirty="0">
                <a:solidFill>
                  <a:srgbClr val="FF0000"/>
                </a:solidFill>
              </a:rPr>
              <a:t>DISTURBANCE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1026" name="Picture 2" descr="https://upload.wikimedia.org/wikipedia/commons/thumb/2/2e/Torrid_summer_with_the_poppies_and_wheat_-_Vara_torida_cu_maci_si_grau_-_panoramio.jpg/1280px-Torrid_summer_with_the_poppies_and_wheat_-_Vara_torida_cu_maci_si_grau_-_panoramio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002" y="2662555"/>
            <a:ext cx="5197112" cy="346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9739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-60648"/>
            <a:ext cx="55615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FF0000"/>
                </a:solidFill>
              </a:rPr>
              <a:t>Cheating you way to the Canopy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97980" y="497447"/>
            <a:ext cx="464466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FF0000"/>
                </a:solidFill>
              </a:rPr>
              <a:t>Epiphytes:</a:t>
            </a:r>
          </a:p>
          <a:p>
            <a:r>
              <a:rPr lang="en-GB" sz="3200" dirty="0"/>
              <a:t>	Height without wood</a:t>
            </a:r>
          </a:p>
          <a:p>
            <a:r>
              <a:rPr lang="en-GB" sz="3200" dirty="0"/>
              <a:t>…but limited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0480" y="2553593"/>
            <a:ext cx="5596036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rgbClr val="FF0000"/>
                </a:solidFill>
              </a:rPr>
              <a:t>   Climbers:</a:t>
            </a:r>
          </a:p>
          <a:p>
            <a:r>
              <a:rPr lang="en-GB" sz="3200" dirty="0"/>
              <a:t>	</a:t>
            </a:r>
            <a:r>
              <a:rPr lang="en-GB" sz="2800" dirty="0"/>
              <a:t>Attached to ground but get 	height without making a trunk</a:t>
            </a:r>
            <a:endParaRPr lang="en-GB" sz="3200" dirty="0"/>
          </a:p>
        </p:txBody>
      </p:sp>
      <p:pic>
        <p:nvPicPr>
          <p:cNvPr id="5122" name="Picture 2" descr="File:Epiphytes costa rica santa elena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8673" y="369580"/>
            <a:ext cx="2903617" cy="2177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Image result for tarzan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99" r="7846"/>
          <a:stretch/>
        </p:blipFill>
        <p:spPr bwMode="auto">
          <a:xfrm>
            <a:off x="3320563" y="2437904"/>
            <a:ext cx="3546457" cy="2487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281501" y="5246216"/>
            <a:ext cx="449392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 err="1">
                <a:solidFill>
                  <a:srgbClr val="FF0000"/>
                </a:solidFill>
              </a:rPr>
              <a:t>Hemiparasites</a:t>
            </a:r>
            <a:r>
              <a:rPr lang="en-GB" sz="3200" dirty="0">
                <a:solidFill>
                  <a:srgbClr val="FF0000"/>
                </a:solidFill>
              </a:rPr>
              <a:t>:</a:t>
            </a:r>
          </a:p>
          <a:p>
            <a:r>
              <a:rPr lang="en-GB" sz="3200" dirty="0"/>
              <a:t>	Steal from your host</a:t>
            </a:r>
          </a:p>
        </p:txBody>
      </p:sp>
      <p:pic>
        <p:nvPicPr>
          <p:cNvPr id="5126" name="Picture 6" descr="Mistletoe P1210829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0601" y="4382121"/>
            <a:ext cx="2962841" cy="2222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3568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06" t="21945" r="14875" b="24122"/>
          <a:stretch/>
        </p:blipFill>
        <p:spPr bwMode="auto">
          <a:xfrm>
            <a:off x="2495600" y="1030370"/>
            <a:ext cx="7236296" cy="421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510503" y="1"/>
            <a:ext cx="38672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solidFill>
                  <a:srgbClr val="FF0000"/>
                </a:solidFill>
              </a:rPr>
              <a:t>Doing without Light</a:t>
            </a:r>
          </a:p>
        </p:txBody>
      </p:sp>
      <p:sp>
        <p:nvSpPr>
          <p:cNvPr id="2" name="Rectangle 1"/>
          <p:cNvSpPr/>
          <p:nvPr/>
        </p:nvSpPr>
        <p:spPr>
          <a:xfrm>
            <a:off x="2897808" y="5081535"/>
            <a:ext cx="66848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https://learningonscreen.ac.uk/ondemand/index.php/clip/104150</a:t>
            </a:r>
            <a:endParaRPr lang="en-GB" dirty="0"/>
          </a:p>
          <a:p>
            <a:pPr algn="ctr"/>
            <a:r>
              <a:rPr lang="en-GB" dirty="0"/>
              <a:t>(6: 56 Dodder to 3:40 then </a:t>
            </a:r>
            <a:r>
              <a:rPr lang="en-GB" dirty="0" err="1"/>
              <a:t>Rafflesia</a:t>
            </a:r>
            <a:r>
              <a:rPr lang="en-GB" dirty="0"/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00018" y="5861705"/>
            <a:ext cx="73318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Parasites take </a:t>
            </a:r>
            <a:r>
              <a:rPr lang="en-GB" sz="3200" i="1" dirty="0"/>
              <a:t>all </a:t>
            </a:r>
            <a:r>
              <a:rPr lang="en-GB" sz="3200" dirty="0"/>
              <a:t>resources from host plant</a:t>
            </a:r>
          </a:p>
        </p:txBody>
      </p:sp>
    </p:spTree>
    <p:extLst>
      <p:ext uri="{BB962C8B-B14F-4D97-AF65-F5344CB8AC3E}">
        <p14:creationId xmlns:p14="http://schemas.microsoft.com/office/powerpoint/2010/main" val="4027178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57299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Gephyrocapsa oceanica color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1988" r="-629" b="31769"/>
          <a:stretch/>
        </p:blipFill>
        <p:spPr bwMode="auto">
          <a:xfrm>
            <a:off x="0" y="0"/>
            <a:ext cx="1227025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2035104" y="1268760"/>
            <a:ext cx="8157592" cy="23042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200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36084" y="2788186"/>
            <a:ext cx="6598088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9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Sea of Green</a:t>
            </a:r>
            <a:endParaRPr lang="en-GB" sz="9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618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8009"/>
            <a:ext cx="88567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Phytoplankton – feeding the oceans since 3 000 000 000 BC</a:t>
            </a:r>
            <a:endParaRPr lang="en-GB" sz="2000" dirty="0">
              <a:solidFill>
                <a:srgbClr val="FF0000"/>
              </a:solidFill>
            </a:endParaRPr>
          </a:p>
        </p:txBody>
      </p:sp>
      <p:pic>
        <p:nvPicPr>
          <p:cNvPr id="3" name="Picture 2" descr="https://upload.wikimedia.org/wikipedia/commons/thumb/7/77/Geologic_Clock_with_events_and_periods.svg/803px-Geologic_Clock_with_events_and_periods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1749" y="1806353"/>
            <a:ext cx="3384376" cy="3245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ight Arrow 3"/>
          <p:cNvSpPr/>
          <p:nvPr/>
        </p:nvSpPr>
        <p:spPr>
          <a:xfrm rot="17852561">
            <a:off x="6522142" y="4993524"/>
            <a:ext cx="936104" cy="64807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ight Arrow 4"/>
          <p:cNvSpPr/>
          <p:nvPr/>
        </p:nvSpPr>
        <p:spPr>
          <a:xfrm rot="14951983">
            <a:off x="7587688" y="4856655"/>
            <a:ext cx="936104" cy="64807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ight Arrow 5"/>
          <p:cNvSpPr/>
          <p:nvPr/>
        </p:nvSpPr>
        <p:spPr>
          <a:xfrm rot="11531099">
            <a:off x="8612044" y="3836095"/>
            <a:ext cx="936104" cy="64807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9584482" y="4068417"/>
            <a:ext cx="23882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Photosynthesis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62787" y="5587196"/>
            <a:ext cx="35688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Cyanobacteria - oxygen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72795" y="4809939"/>
            <a:ext cx="2813655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Primary symbiosis</a:t>
            </a:r>
          </a:p>
          <a:p>
            <a:pPr algn="ctr"/>
            <a:r>
              <a:rPr lang="en-GB" sz="2800" dirty="0">
                <a:solidFill>
                  <a:srgbClr val="00B050"/>
                </a:solidFill>
              </a:rPr>
              <a:t>Green algae</a:t>
            </a:r>
          </a:p>
          <a:p>
            <a:pPr algn="ctr"/>
            <a:r>
              <a:rPr lang="en-GB" sz="2800" dirty="0">
                <a:solidFill>
                  <a:srgbClr val="FF0000"/>
                </a:solidFill>
              </a:rPr>
              <a:t>Red algae</a:t>
            </a:r>
          </a:p>
          <a:p>
            <a:pPr algn="ctr"/>
            <a:r>
              <a:rPr lang="en-GB" sz="2800" dirty="0" err="1"/>
              <a:t>Glaucophytes</a:t>
            </a:r>
            <a:endParaRPr lang="en-GB" sz="2800" dirty="0"/>
          </a:p>
        </p:txBody>
      </p:sp>
      <p:sp>
        <p:nvSpPr>
          <p:cNvPr id="10" name="Right Arrow 9"/>
          <p:cNvSpPr/>
          <p:nvPr/>
        </p:nvSpPr>
        <p:spPr>
          <a:xfrm rot="2620058">
            <a:off x="5775332" y="1889909"/>
            <a:ext cx="936104" cy="64807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ight Arrow 10"/>
          <p:cNvSpPr/>
          <p:nvPr/>
        </p:nvSpPr>
        <p:spPr>
          <a:xfrm rot="3359729">
            <a:off x="6010485" y="1685544"/>
            <a:ext cx="936104" cy="64807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ight Arrow 11"/>
          <p:cNvSpPr/>
          <p:nvPr/>
        </p:nvSpPr>
        <p:spPr>
          <a:xfrm rot="4549663">
            <a:off x="6337640" y="1504535"/>
            <a:ext cx="936104" cy="64807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3208974" y="467525"/>
            <a:ext cx="289289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Secondary Symbiosis</a:t>
            </a:r>
          </a:p>
          <a:p>
            <a:pPr algn="ctr"/>
            <a:r>
              <a:rPr lang="en-GB" sz="2800" dirty="0"/>
              <a:t>Multiple events leading to different algal groups</a:t>
            </a:r>
          </a:p>
        </p:txBody>
      </p:sp>
    </p:spTree>
    <p:extLst>
      <p:ext uri="{BB962C8B-B14F-4D97-AF65-F5344CB8AC3E}">
        <p14:creationId xmlns:p14="http://schemas.microsoft.com/office/powerpoint/2010/main" val="3928648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/>
      <p:bldP spid="8" grpId="0"/>
      <p:bldP spid="9" grpId="0"/>
      <p:bldP spid="10" grpId="0" animBg="1"/>
      <p:bldP spid="11" grpId="0" animBg="1"/>
      <p:bldP spid="12" grpId="0" animBg="1"/>
      <p:bldP spid="1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9209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FF0000"/>
                </a:solidFill>
              </a:rPr>
              <a:t>The Cast…</a:t>
            </a:r>
            <a:endParaRPr lang="en-GB" sz="2000" dirty="0">
              <a:solidFill>
                <a:srgbClr val="FF0000"/>
              </a:solidFill>
            </a:endParaRPr>
          </a:p>
        </p:txBody>
      </p:sp>
      <p:pic>
        <p:nvPicPr>
          <p:cNvPr id="4" name="Picture 2" descr="http://bioinformatica.uab.es/biocomputacio/treballs00-01/torres-vela/WEB/800/GIFS/endosymbiosis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4699" y="302459"/>
            <a:ext cx="4643828" cy="6223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2561262" y="6525532"/>
            <a:ext cx="713070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/>
              <a:t>http://bioinformatica.uab.es/biocomputacio/treballs00-01/torres-vela/WEB/800/GIFS/endosymbiosis.gif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9392" y="1370206"/>
            <a:ext cx="1574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Archaeplastida</a:t>
            </a:r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3374149" y="1969643"/>
            <a:ext cx="5435916" cy="46085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39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655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upload.wikimedia.org/wikipedia/commons/7/78/Bioluminescent_dinoflagellates_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12" y="1417566"/>
            <a:ext cx="9144000" cy="3235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626326" y="67880"/>
            <a:ext cx="49391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>
                <a:solidFill>
                  <a:schemeClr val="bg1"/>
                </a:solidFill>
              </a:rPr>
              <a:t>Bioluminescence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39617" y="4653137"/>
            <a:ext cx="7175811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>
                <a:solidFill>
                  <a:schemeClr val="bg1"/>
                </a:solidFill>
              </a:rPr>
              <a:t>Thought to protect against predation – </a:t>
            </a:r>
          </a:p>
          <a:p>
            <a:pPr algn="ctr"/>
            <a:r>
              <a:rPr lang="en-GB" sz="3200" dirty="0">
                <a:solidFill>
                  <a:schemeClr val="bg1"/>
                </a:solidFill>
              </a:rPr>
              <a:t>Confuses predators</a:t>
            </a:r>
          </a:p>
          <a:p>
            <a:pPr algn="ctr"/>
            <a:r>
              <a:rPr lang="en-GB" sz="3200" dirty="0">
                <a:solidFill>
                  <a:schemeClr val="bg1"/>
                </a:solidFill>
              </a:rPr>
              <a:t>May attract predators’ predators</a:t>
            </a:r>
          </a:p>
          <a:p>
            <a:pPr algn="ctr"/>
            <a:r>
              <a:rPr lang="en-GB" sz="3200" dirty="0">
                <a:solidFill>
                  <a:schemeClr val="bg1"/>
                </a:solidFill>
              </a:rPr>
              <a:t>luciferin + O</a:t>
            </a:r>
            <a:r>
              <a:rPr lang="en-GB" sz="3200" baseline="-25000" dirty="0">
                <a:solidFill>
                  <a:schemeClr val="bg1"/>
                </a:solidFill>
              </a:rPr>
              <a:t>2</a:t>
            </a:r>
            <a:r>
              <a:rPr lang="en-GB" sz="3200" dirty="0">
                <a:solidFill>
                  <a:schemeClr val="bg1"/>
                </a:solidFill>
              </a:rPr>
              <a:t> ⇌ luciferin-ox + H</a:t>
            </a:r>
            <a:r>
              <a:rPr lang="en-GB" sz="3200" baseline="-25000" dirty="0">
                <a:solidFill>
                  <a:schemeClr val="bg1"/>
                </a:solidFill>
              </a:rPr>
              <a:t>2</a:t>
            </a:r>
            <a:r>
              <a:rPr lang="en-GB" sz="3200" dirty="0">
                <a:solidFill>
                  <a:schemeClr val="bg1"/>
                </a:solidFill>
              </a:rPr>
              <a:t>O + LIGHT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3023166" y="4759817"/>
            <a:ext cx="64087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  <a:hlinkClick r:id="rId3"/>
              </a:rPr>
              <a:t>https://learningonscreen.ac.uk/ondemand/index.php/clip/151606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8925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7871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Gephyrocapsa oceanica color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1988" r="-629" b="31769"/>
          <a:stretch/>
        </p:blipFill>
        <p:spPr bwMode="auto">
          <a:xfrm>
            <a:off x="0" y="0"/>
            <a:ext cx="1227025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2035104" y="1268760"/>
            <a:ext cx="8157592" cy="23042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200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523209" y="2644170"/>
            <a:ext cx="7223837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9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Meet the Cast</a:t>
            </a:r>
            <a:endParaRPr lang="en-GB" sz="9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53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497147" y="1014618"/>
            <a:ext cx="8907375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Appeared in Triassic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May be </a:t>
            </a:r>
            <a:r>
              <a:rPr lang="en-GB" sz="3200" dirty="0" err="1"/>
              <a:t>heterotropic</a:t>
            </a:r>
            <a:r>
              <a:rPr lang="en-GB" sz="3200" dirty="0"/>
              <a:t> or </a:t>
            </a:r>
            <a:br>
              <a:rPr lang="en-GB" sz="3200" dirty="0"/>
            </a:br>
            <a:r>
              <a:rPr lang="en-GB" sz="3200" dirty="0"/>
              <a:t>	autotropic (or </a:t>
            </a:r>
            <a:r>
              <a:rPr lang="en-GB" sz="3200" dirty="0" err="1"/>
              <a:t>mixo</a:t>
            </a:r>
            <a:r>
              <a:rPr lang="en-GB" sz="3200" dirty="0"/>
              <a:t>-)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i="1" dirty="0"/>
              <a:t>May</a:t>
            </a:r>
            <a:r>
              <a:rPr lang="en-GB" sz="3200" dirty="0"/>
              <a:t> have </a:t>
            </a:r>
            <a:r>
              <a:rPr lang="en-GB" sz="3200" b="1" dirty="0"/>
              <a:t>cellulose</a:t>
            </a:r>
            <a:r>
              <a:rPr lang="en-GB" sz="3200" dirty="0"/>
              <a:t> cell </a:t>
            </a:r>
            <a:br>
              <a:rPr lang="en-GB" sz="3200" dirty="0"/>
            </a:br>
            <a:r>
              <a:rPr lang="en-GB" sz="3200" dirty="0"/>
              <a:t>wall – host cell is an alga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May be secondary or tertiary endosymbiosis</a:t>
            </a:r>
            <a:endParaRPr lang="en-GB" sz="3200" dirty="0">
              <a:solidFill>
                <a:srgbClr val="FF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i="1" dirty="0"/>
              <a:t>Usually</a:t>
            </a:r>
            <a:r>
              <a:rPr lang="en-GB" sz="3200" dirty="0"/>
              <a:t> from </a:t>
            </a:r>
            <a:r>
              <a:rPr lang="en-GB" sz="3200" dirty="0" err="1"/>
              <a:t>rhodophytes</a:t>
            </a:r>
            <a:r>
              <a:rPr lang="en-GB" sz="3200" dirty="0"/>
              <a:t> but no </a:t>
            </a:r>
            <a:r>
              <a:rPr lang="en-GB" sz="3200" dirty="0" err="1"/>
              <a:t>phycobillisomes</a:t>
            </a:r>
            <a:endParaRPr lang="en-GB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Contain </a:t>
            </a:r>
            <a:r>
              <a:rPr lang="en-GB" sz="3200" dirty="0">
                <a:solidFill>
                  <a:srgbClr val="00B050"/>
                </a:solidFill>
              </a:rPr>
              <a:t>chlorophyll a and c</a:t>
            </a:r>
            <a:r>
              <a:rPr lang="en-GB" sz="3200" dirty="0">
                <a:solidFill>
                  <a:srgbClr val="F3900D"/>
                </a:solidFill>
              </a:rPr>
              <a:t> + carotenoids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Cause “Red Tides”</a:t>
            </a:r>
          </a:p>
          <a:p>
            <a:endParaRPr lang="en-GB" sz="3200" dirty="0"/>
          </a:p>
        </p:txBody>
      </p:sp>
      <p:sp>
        <p:nvSpPr>
          <p:cNvPr id="2" name="TextBox 1"/>
          <p:cNvSpPr txBox="1"/>
          <p:nvPr/>
        </p:nvSpPr>
        <p:spPr>
          <a:xfrm>
            <a:off x="99686" y="-42519"/>
            <a:ext cx="21014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solidFill>
                  <a:srgbClr val="FF0000"/>
                </a:solidFill>
              </a:rPr>
              <a:t>The Cast…</a:t>
            </a:r>
            <a:endParaRPr lang="en-GB" sz="2400" dirty="0">
              <a:solidFill>
                <a:srgbClr val="FF0000"/>
              </a:solidFill>
            </a:endParaRPr>
          </a:p>
        </p:txBody>
      </p:sp>
      <p:pic>
        <p:nvPicPr>
          <p:cNvPr id="5122" name="Picture 2" descr="https://upload.wikimedia.org/wikipedia/commons/thumb/2/2f/Dinoflagellate_-_SEM_MUSE.tif/lossy-page1-800px-Dinoflagellate_-_SEM_MUSE.tif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124"/>
          <a:stretch/>
        </p:blipFill>
        <p:spPr bwMode="auto">
          <a:xfrm>
            <a:off x="8028647" y="44686"/>
            <a:ext cx="4063667" cy="2708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7520314" y="2353300"/>
            <a:ext cx="4572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By Nicola </a:t>
            </a:r>
            <a:r>
              <a:rPr lang="en-GB" sz="1000" dirty="0" err="1">
                <a:solidFill>
                  <a:schemeClr val="bg1"/>
                </a:solidFill>
              </a:rPr>
              <a:t>Angeli</a:t>
            </a:r>
            <a:r>
              <a:rPr lang="en-GB" sz="1000" dirty="0">
                <a:solidFill>
                  <a:schemeClr val="bg1"/>
                </a:solidFill>
              </a:rPr>
              <a:t>/MUSETCC BY-SA 3.0, https://commons.wikimedia.org/w/index.php?curid=48309073</a:t>
            </a:r>
          </a:p>
        </p:txBody>
      </p:sp>
      <p:sp>
        <p:nvSpPr>
          <p:cNvPr id="5" name="Rectangle 4"/>
          <p:cNvSpPr/>
          <p:nvPr/>
        </p:nvSpPr>
        <p:spPr>
          <a:xfrm>
            <a:off x="4241165" y="44686"/>
            <a:ext cx="370967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400" dirty="0"/>
              <a:t>Dinoflagellates </a:t>
            </a:r>
          </a:p>
        </p:txBody>
      </p:sp>
      <p:pic>
        <p:nvPicPr>
          <p:cNvPr id="5124" name="Picture 4" descr="https://upload.wikimedia.org/wikipedia/commons/6/65/Red_tid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86" y="4238984"/>
            <a:ext cx="3397461" cy="2548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7300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-56865"/>
            <a:ext cx="21014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solidFill>
                  <a:srgbClr val="FF0000"/>
                </a:solidFill>
              </a:rPr>
              <a:t>The Cast…</a:t>
            </a:r>
            <a:endParaRPr lang="en-GB" sz="2400" dirty="0">
              <a:solidFill>
                <a:srgbClr val="FF0000"/>
              </a:solidFill>
            </a:endParaRPr>
          </a:p>
        </p:txBody>
      </p:sp>
      <p:pic>
        <p:nvPicPr>
          <p:cNvPr id="3" name="Picture 2" descr="Gephyrocapsa oceanica color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-485" r="-629" b="-3694"/>
          <a:stretch/>
        </p:blipFill>
        <p:spPr bwMode="auto">
          <a:xfrm>
            <a:off x="7263575" y="1088663"/>
            <a:ext cx="4928425" cy="510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4005171" y="0"/>
            <a:ext cx="418165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400" dirty="0" err="1"/>
              <a:t>Coccolithophores</a:t>
            </a:r>
            <a:endParaRPr lang="en-GB" sz="4400" dirty="0"/>
          </a:p>
        </p:txBody>
      </p:sp>
      <p:sp>
        <p:nvSpPr>
          <p:cNvPr id="6" name="Rectangle 5"/>
          <p:cNvSpPr/>
          <p:nvPr/>
        </p:nvSpPr>
        <p:spPr>
          <a:xfrm>
            <a:off x="7549799" y="5584671"/>
            <a:ext cx="43559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Photo by NEON </a:t>
            </a:r>
            <a:r>
              <a:rPr lang="en-GB" sz="900" dirty="0" err="1">
                <a:solidFill>
                  <a:schemeClr val="bg1"/>
                </a:solidFill>
              </a:rPr>
              <a:t>ja</a:t>
            </a:r>
            <a:r>
              <a:rPr lang="en-GB" sz="900" dirty="0">
                <a:solidFill>
                  <a:schemeClr val="bg1"/>
                </a:solidFill>
              </a:rPr>
              <a:t>, </a:t>
            </a:r>
            <a:r>
              <a:rPr lang="en-GB" sz="900" dirty="0" err="1">
                <a:solidFill>
                  <a:schemeClr val="bg1"/>
                </a:solidFill>
              </a:rPr>
              <a:t>colored</a:t>
            </a:r>
            <a:r>
              <a:rPr lang="en-GB" sz="900" dirty="0">
                <a:solidFill>
                  <a:schemeClr val="bg1"/>
                </a:solidFill>
              </a:rPr>
              <a:t> by Richard </a:t>
            </a:r>
            <a:r>
              <a:rPr lang="en-GB" sz="900" dirty="0" err="1">
                <a:solidFill>
                  <a:schemeClr val="bg1"/>
                </a:solidFill>
              </a:rPr>
              <a:t>Bartz</a:t>
            </a:r>
            <a:r>
              <a:rPr lang="en-GB" sz="900" dirty="0">
                <a:solidFill>
                  <a:schemeClr val="bg1"/>
                </a:solidFill>
              </a:rPr>
              <a:t> - Own work, CC BY-SA 2.5, https://commons.wikimedia.org/w/index.php?curid=6072505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521" y="2737013"/>
            <a:ext cx="663105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3200" dirty="0"/>
              <a:t>In the group </a:t>
            </a:r>
            <a:r>
              <a:rPr lang="en-GB" sz="3200" dirty="0" err="1"/>
              <a:t>Haptophyta</a:t>
            </a:r>
            <a:endParaRPr lang="en-GB" sz="3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3200" dirty="0"/>
              <a:t>Upper Triassic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3200" dirty="0"/>
              <a:t>Probably from </a:t>
            </a:r>
            <a:r>
              <a:rPr lang="en-GB" sz="3200" dirty="0" err="1"/>
              <a:t>Rhodophytes</a:t>
            </a:r>
            <a:endParaRPr lang="en-GB" sz="3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3200" dirty="0"/>
              <a:t>Brown chloroplasts – </a:t>
            </a:r>
            <a:r>
              <a:rPr lang="en-GB" sz="3200" dirty="0" err="1"/>
              <a:t>Chl</a:t>
            </a:r>
            <a:r>
              <a:rPr lang="en-GB" sz="3200" dirty="0"/>
              <a:t> a &amp; c and </a:t>
            </a:r>
            <a:r>
              <a:rPr lang="en-GB" sz="3200" dirty="0" err="1"/>
              <a:t>fucoxanthin</a:t>
            </a:r>
            <a:endParaRPr lang="en-GB" sz="3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FF0000"/>
                </a:solidFill>
              </a:rPr>
              <a:t>Calcium carbonate </a:t>
            </a:r>
            <a:r>
              <a:rPr lang="en-GB" sz="3200" dirty="0"/>
              <a:t>shell</a:t>
            </a:r>
          </a:p>
        </p:txBody>
      </p:sp>
    </p:spTree>
    <p:extLst>
      <p:ext uri="{BB962C8B-B14F-4D97-AF65-F5344CB8AC3E}">
        <p14:creationId xmlns:p14="http://schemas.microsoft.com/office/powerpoint/2010/main" val="171826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40646" y="3255561"/>
            <a:ext cx="7653909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000" dirty="0"/>
              <a:t>Dimethyl sulphide (DMS- the smell of the sea) </a:t>
            </a:r>
          </a:p>
          <a:p>
            <a:pPr algn="ctr"/>
            <a:r>
              <a:rPr lang="en-GB" sz="4000" dirty="0"/>
              <a:t>Seeds cloud formation, cooling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-16329"/>
            <a:ext cx="29622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solidFill>
                  <a:srgbClr val="FF0000"/>
                </a:solidFill>
              </a:rPr>
              <a:t>Climate effects</a:t>
            </a:r>
          </a:p>
        </p:txBody>
      </p:sp>
      <p:pic>
        <p:nvPicPr>
          <p:cNvPr id="2050" name="Picture 2" descr="Skeletal formula of dimethyl sulfide with all implicit hydrogens show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6139" y="630002"/>
            <a:ext cx="7242922" cy="2625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3448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21014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solidFill>
                  <a:srgbClr val="FF0000"/>
                </a:solidFill>
              </a:rPr>
              <a:t>The Cast…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840848" y="184666"/>
            <a:ext cx="251030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5400" dirty="0"/>
              <a:t>Diatoms</a:t>
            </a:r>
          </a:p>
        </p:txBody>
      </p:sp>
      <p:pic>
        <p:nvPicPr>
          <p:cNvPr id="7170" name="Picture 2" descr="https://upload.wikimedia.org/wikipedia/commons/thumb/3/31/Diatoms_through_the_microscope.jpg/800px-Diatoms_through_the_microscop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7507" y="646331"/>
            <a:ext cx="3733355" cy="2450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7992796" y="3096944"/>
            <a:ext cx="4572000" cy="43088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GB" sz="1050" dirty="0"/>
              <a:t>By </a:t>
            </a:r>
            <a:r>
              <a:rPr lang="en-GB" sz="1050" dirty="0" err="1"/>
              <a:t>Prof.</a:t>
            </a:r>
            <a:r>
              <a:rPr lang="en-GB" sz="1050" dirty="0"/>
              <a:t> Gordon T. Taylor, Stony Brook University, https://commons.wikimedia.org/w/index.php?curid=246319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5507" y="1107996"/>
            <a:ext cx="45720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dirty="0"/>
              <a:t>Jurassic (or earlier)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dirty="0"/>
              <a:t>Non motile (but may float)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dirty="0"/>
              <a:t>Silica “shell” in two parts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dirty="0"/>
              <a:t>4 chloroplast membranes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dirty="0"/>
              <a:t>In group </a:t>
            </a:r>
            <a:r>
              <a:rPr lang="en-GB" sz="3200" dirty="0" err="1"/>
              <a:t>Heterokonta</a:t>
            </a:r>
            <a:endParaRPr lang="en-GB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dirty="0"/>
              <a:t>From </a:t>
            </a:r>
            <a:r>
              <a:rPr lang="en-GB" sz="3200" dirty="0" err="1"/>
              <a:t>Rhodophytes</a:t>
            </a:r>
            <a:r>
              <a:rPr lang="en-GB" sz="32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dirty="0" err="1"/>
              <a:t>Chl</a:t>
            </a:r>
            <a:r>
              <a:rPr lang="en-GB" sz="3200" dirty="0"/>
              <a:t> a and </a:t>
            </a:r>
            <a:r>
              <a:rPr lang="en-GB" sz="3200" dirty="0" err="1"/>
              <a:t>fucoxanthin</a:t>
            </a:r>
            <a:r>
              <a:rPr lang="en-GB" sz="3200" dirty="0"/>
              <a:t> but no </a:t>
            </a:r>
            <a:r>
              <a:rPr lang="en-GB" sz="3200" dirty="0" err="1"/>
              <a:t>chl</a:t>
            </a:r>
            <a:r>
              <a:rPr lang="en-GB" sz="3200" dirty="0"/>
              <a:t> b or </a:t>
            </a:r>
            <a:r>
              <a:rPr lang="en-GB" sz="3200" dirty="0" err="1"/>
              <a:t>phycobilisomes</a:t>
            </a:r>
            <a:endParaRPr lang="en-GB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3200" dirty="0"/>
          </a:p>
        </p:txBody>
      </p:sp>
      <p:pic>
        <p:nvPicPr>
          <p:cNvPr id="1026" name="Picture 2" descr="Image result for diatom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8663" y="3633109"/>
            <a:ext cx="2721100" cy="272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3945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8227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Gephyrocapsa oceanica color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1988" r="-629" b="31769"/>
          <a:stretch/>
        </p:blipFill>
        <p:spPr bwMode="auto">
          <a:xfrm>
            <a:off x="0" y="0"/>
            <a:ext cx="1227025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2035104" y="1268760"/>
            <a:ext cx="8157592" cy="23042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200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240987" y="2644170"/>
            <a:ext cx="5710025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9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Let it Snow</a:t>
            </a:r>
            <a:endParaRPr lang="en-GB" sz="9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5309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upload.wikimedia.org/wikipedia/commons/2/23/Chert_beds_EverettPA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" t="14242" r="-1" b="244"/>
          <a:stretch/>
        </p:blipFill>
        <p:spPr bwMode="auto">
          <a:xfrm>
            <a:off x="18504" y="0"/>
            <a:ext cx="12173496" cy="6819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0" y="-42083"/>
            <a:ext cx="2233304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Marine </a:t>
            </a:r>
            <a:r>
              <a:rPr lang="en-GB" sz="3200" dirty="0">
                <a:solidFill>
                  <a:srgbClr val="FF0000"/>
                </a:solidFill>
              </a:rPr>
              <a:t>Snow</a:t>
            </a:r>
            <a:endParaRPr lang="en-GB" sz="2800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97574" y="3019155"/>
            <a:ext cx="8692765" cy="1323439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Diatoms form </a:t>
            </a:r>
            <a:r>
              <a:rPr lang="en-GB" sz="4000" i="1" dirty="0"/>
              <a:t>diatomaceous </a:t>
            </a:r>
            <a:r>
              <a:rPr lang="en-GB" sz="4000" i="1" dirty="0" err="1"/>
              <a:t>chert</a:t>
            </a:r>
            <a:r>
              <a:rPr lang="en-GB" sz="4000" dirty="0"/>
              <a:t> (silica)</a:t>
            </a:r>
          </a:p>
          <a:p>
            <a:pPr algn="ctr"/>
            <a:r>
              <a:rPr lang="en-GB" sz="4000" dirty="0"/>
              <a:t>(Most </a:t>
            </a:r>
            <a:r>
              <a:rPr lang="en-GB" sz="4000" dirty="0" err="1"/>
              <a:t>cherts</a:t>
            </a:r>
            <a:r>
              <a:rPr lang="en-GB" sz="4000" dirty="0"/>
              <a:t> are of biological origin)</a:t>
            </a:r>
          </a:p>
        </p:txBody>
      </p:sp>
      <p:sp>
        <p:nvSpPr>
          <p:cNvPr id="6" name="Rectangle 5"/>
          <p:cNvSpPr/>
          <p:nvPr/>
        </p:nvSpPr>
        <p:spPr>
          <a:xfrm>
            <a:off x="3392829" y="6469196"/>
            <a:ext cx="5902257" cy="369332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none">
            <a:spAutoFit/>
          </a:bodyPr>
          <a:lstStyle/>
          <a:p>
            <a:r>
              <a:rPr lang="en-GB" dirty="0"/>
              <a:t>Read all about </a:t>
            </a:r>
            <a:r>
              <a:rPr lang="en-GB" dirty="0" err="1"/>
              <a:t>chert</a:t>
            </a:r>
            <a:r>
              <a:rPr lang="en-GB" dirty="0"/>
              <a:t> at </a:t>
            </a:r>
            <a:r>
              <a:rPr lang="en-GB" dirty="0">
                <a:hlinkClick r:id="rId3"/>
              </a:rPr>
              <a:t>https://www.wikiwand.com/en/Chert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52801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upload.wikimedia.org/wikipedia/commons/thumb/7/74/White_Cliffs_of_Dover_02.JPG/1280px-White_Cliffs_of_Dover_02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803"/>
          <a:stretch/>
        </p:blipFill>
        <p:spPr bwMode="auto">
          <a:xfrm>
            <a:off x="0" y="0"/>
            <a:ext cx="12192000" cy="6808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336404" y="323165"/>
            <a:ext cx="76909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4000" dirty="0" err="1"/>
              <a:t>Coccoliths</a:t>
            </a:r>
            <a:r>
              <a:rPr lang="en-GB" sz="4000" dirty="0"/>
              <a:t> form chalk and limestone</a:t>
            </a:r>
          </a:p>
          <a:p>
            <a:pPr algn="r"/>
            <a:r>
              <a:rPr lang="en-GB" sz="4000" dirty="0"/>
              <a:t>Major Carbon Sink!</a:t>
            </a:r>
          </a:p>
        </p:txBody>
      </p:sp>
      <p:sp>
        <p:nvSpPr>
          <p:cNvPr id="5" name="Rectangle 4"/>
          <p:cNvSpPr/>
          <p:nvPr/>
        </p:nvSpPr>
        <p:spPr>
          <a:xfrm>
            <a:off x="2417874" y="6554505"/>
            <a:ext cx="7380312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050" dirty="0">
                <a:solidFill>
                  <a:schemeClr val="bg1"/>
                </a:solidFill>
              </a:rPr>
              <a:t>By Immanuel Giel - Own work, CC BY-SA 3.0, https://commons.wikimedia.org/w/index.php?curid=25365041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26675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solidFill>
                  <a:srgbClr val="FF0000"/>
                </a:solidFill>
              </a:rPr>
              <a:t>Marine Snow</a:t>
            </a:r>
          </a:p>
        </p:txBody>
      </p:sp>
    </p:spTree>
    <p:extLst>
      <p:ext uri="{BB962C8B-B14F-4D97-AF65-F5344CB8AC3E}">
        <p14:creationId xmlns:p14="http://schemas.microsoft.com/office/powerpoint/2010/main" val="2277440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674"/>
          <a:stretch/>
        </p:blipFill>
        <p:spPr bwMode="auto">
          <a:xfrm>
            <a:off x="3738727" y="1177351"/>
            <a:ext cx="4714545" cy="3422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417428" y="2009158"/>
            <a:ext cx="2851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Aragonite seas - High Mg/Ca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53271" y="3118967"/>
            <a:ext cx="2521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Calcite seas - Low Mg/Ca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7428" y="3929971"/>
            <a:ext cx="25434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Different algae dominate depending on seawater 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81" y="31130"/>
            <a:ext cx="107135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Plankton species depend on water chemistry depends on plate tectonics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6799" y="5284907"/>
            <a:ext cx="58000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High tectonic activity = Calcite</a:t>
            </a:r>
          </a:p>
        </p:txBody>
      </p:sp>
    </p:spTree>
    <p:extLst>
      <p:ext uri="{BB962C8B-B14F-4D97-AF65-F5344CB8AC3E}">
        <p14:creationId xmlns:p14="http://schemas.microsoft.com/office/powerpoint/2010/main" val="4119401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26108" y="4528125"/>
            <a:ext cx="8339784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 err="1">
                <a:solidFill>
                  <a:srgbClr val="FF0000"/>
                </a:solidFill>
              </a:rPr>
              <a:t>Formanifera</a:t>
            </a:r>
            <a:r>
              <a:rPr lang="en-GB" sz="3200" dirty="0"/>
              <a:t> – (mainly) marine protists</a:t>
            </a:r>
          </a:p>
          <a:p>
            <a:pPr algn="ctr"/>
            <a:r>
              <a:rPr lang="en-GB" sz="3200" dirty="0"/>
              <a:t>Many form CaCO</a:t>
            </a:r>
            <a:r>
              <a:rPr lang="en-GB" sz="3200" baseline="-25000" dirty="0"/>
              <a:t>3</a:t>
            </a:r>
            <a:r>
              <a:rPr lang="en-GB" sz="3200" dirty="0"/>
              <a:t> shells</a:t>
            </a:r>
          </a:p>
          <a:p>
            <a:pPr algn="ctr"/>
            <a:r>
              <a:rPr lang="en-GB" sz="3200" dirty="0"/>
              <a:t>Elaborate structures – easy to identify</a:t>
            </a:r>
          </a:p>
          <a:p>
            <a:pPr algn="ctr"/>
            <a:r>
              <a:rPr lang="en-GB" sz="3200" dirty="0"/>
              <a:t>Can be used to age rocks (used in oil exploration)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51367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FF0000"/>
                </a:solidFill>
              </a:rPr>
              <a:t>Marine Snow – not only algae</a:t>
            </a:r>
          </a:p>
        </p:txBody>
      </p:sp>
      <p:pic>
        <p:nvPicPr>
          <p:cNvPr id="4098" name="Picture 2" descr="https://upload.wikimedia.org/wikipedia/commons/1/10/Benthic_foraminifer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2094" y="22203"/>
            <a:ext cx="4760270" cy="4615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9213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 result for oil platform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1" r="10793" b="12231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90237" y="0"/>
            <a:ext cx="26675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Marine Snow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934200" y="664012"/>
            <a:ext cx="55054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/>
              <a:t>Oil deposits arise from plankton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/>
              <a:t>Anaerobic conditions – partial decay of biological materials</a:t>
            </a:r>
          </a:p>
        </p:txBody>
      </p:sp>
    </p:spTree>
    <p:extLst>
      <p:ext uri="{BB962C8B-B14F-4D97-AF65-F5344CB8AC3E}">
        <p14:creationId xmlns:p14="http://schemas.microsoft.com/office/powerpoint/2010/main" val="1102756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0929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Gephyrocapsa oceanica color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1988" r="-629" b="31769"/>
          <a:stretch/>
        </p:blipFill>
        <p:spPr bwMode="auto">
          <a:xfrm>
            <a:off x="0" y="0"/>
            <a:ext cx="1227025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2035104" y="1268760"/>
            <a:ext cx="8157592" cy="23042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200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615057" y="2420888"/>
            <a:ext cx="9040141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9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Algae and the Carbon cycle</a:t>
            </a:r>
            <a:endParaRPr lang="en-GB" sz="9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2525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28720" y="6488668"/>
            <a:ext cx="77785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hlinkClick r:id="rId2"/>
              </a:rPr>
              <a:t>See: https://learningonscreen.ac.uk/ondemand/index.php/clip/101209</a:t>
            </a:r>
            <a:r>
              <a:rPr lang="en-GB" dirty="0"/>
              <a:t> (4mins)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-46547"/>
            <a:ext cx="63734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Phytoplankton and the global carbon cycle</a:t>
            </a:r>
            <a:endParaRPr lang="en-GB" sz="2000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94093" y="944053"/>
            <a:ext cx="784906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~50% global carbon fixation is due to phytoplankton</a:t>
            </a:r>
          </a:p>
          <a:p>
            <a:pPr algn="ctr"/>
            <a:r>
              <a:rPr lang="en-GB" sz="2800" dirty="0"/>
              <a:t>Plankton form the basis of all marine food webs</a:t>
            </a:r>
          </a:p>
          <a:p>
            <a:pPr algn="ctr"/>
            <a:r>
              <a:rPr lang="en-GB" sz="2800" dirty="0"/>
              <a:t>Major driver of ocean carbon cycle</a:t>
            </a:r>
          </a:p>
        </p:txBody>
      </p:sp>
      <p:pic>
        <p:nvPicPr>
          <p:cNvPr id="4100" name="Picture 4" descr="https://upload.wikimedia.org/wikipedia/commons/thumb/f/fb/CO2_pump_hg.svg/720px-CO2_pump_hg.sv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220" y="2329047"/>
            <a:ext cx="5109229" cy="3583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4744243" y="5912602"/>
            <a:ext cx="467718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900" dirty="0"/>
              <a:t>CO2_pump_hg.png, CC BY-SA 2.5, https://commons.wikimedia.org/w/index.php?curid=4956173</a:t>
            </a:r>
          </a:p>
        </p:txBody>
      </p:sp>
    </p:spTree>
    <p:extLst>
      <p:ext uri="{BB962C8B-B14F-4D97-AF65-F5344CB8AC3E}">
        <p14:creationId xmlns:p14="http://schemas.microsoft.com/office/powerpoint/2010/main" val="3452935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ocean chlorophyll animated 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485504"/>
            <a:ext cx="12192000" cy="9813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0" y="0"/>
            <a:ext cx="6373476" cy="523220"/>
          </a:xfrm>
          <a:prstGeom prst="rect">
            <a:avLst/>
          </a:prstGeom>
          <a:solidFill>
            <a:srgbClr val="000000">
              <a:alpha val="50196"/>
            </a:srgbClr>
          </a:solidFill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Phytoplankton and the global carbon cycle</a:t>
            </a:r>
            <a:endParaRPr lang="en-GB" sz="2000" dirty="0">
              <a:solidFill>
                <a:srgbClr val="FF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717590" y="6165304"/>
            <a:ext cx="67049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Why don’t phytoplankton grow everywhere?</a:t>
            </a:r>
          </a:p>
        </p:txBody>
      </p:sp>
    </p:spTree>
    <p:extLst>
      <p:ext uri="{BB962C8B-B14F-4D97-AF65-F5344CB8AC3E}">
        <p14:creationId xmlns:p14="http://schemas.microsoft.com/office/powerpoint/2010/main" val="2145635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https://svs.gsfc.nasa.gov/vis/a010000/a012100/a012176/Neutal_to_El_Nino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2736" y="646331"/>
            <a:ext cx="4762500" cy="267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0" y="0"/>
            <a:ext cx="15103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solidFill>
                  <a:srgbClr val="FF0000"/>
                </a:solidFill>
              </a:rPr>
              <a:t>El Niño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74505" y="3454641"/>
            <a:ext cx="8908208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Reversal of normal ocean currents in South Pacific</a:t>
            </a:r>
          </a:p>
          <a:p>
            <a:pPr algn="ctr"/>
            <a:r>
              <a:rPr lang="en-GB" sz="3200" dirty="0"/>
              <a:t>Causes droughts in S.E Asia and storms in S. America</a:t>
            </a:r>
          </a:p>
          <a:p>
            <a:pPr algn="ctr"/>
            <a:r>
              <a:rPr lang="en-GB" sz="3200" dirty="0"/>
              <a:t>Stops cold waters from rising on S. America coast</a:t>
            </a:r>
          </a:p>
          <a:p>
            <a:pPr algn="ctr"/>
            <a:r>
              <a:rPr lang="en-GB" sz="4000" dirty="0">
                <a:solidFill>
                  <a:srgbClr val="FF0000"/>
                </a:solidFill>
              </a:rPr>
              <a:t>Fish die</a:t>
            </a:r>
          </a:p>
          <a:p>
            <a:pPr algn="ctr"/>
            <a:r>
              <a:rPr lang="en-GB" sz="4000" dirty="0"/>
              <a:t>Why?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045646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1979"/>
            <a:ext cx="70822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High Nutrient – Low Chlorophyll (HNLC) regions</a:t>
            </a:r>
          </a:p>
        </p:txBody>
      </p:sp>
      <p:pic>
        <p:nvPicPr>
          <p:cNvPr id="6146" name="Picture 2" descr="Image result for algae satellite image wik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0"/>
            <a:ext cx="4419600" cy="3533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8043753" y="3167390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050" dirty="0">
                <a:solidFill>
                  <a:schemeClr val="bg1"/>
                </a:solidFill>
              </a:rPr>
              <a:t>https://commons.wikimedia.org/wiki/File%3ACwall99_lg.jpg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1445" y="3803879"/>
            <a:ext cx="1046385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Most nutrients present in large quantities – but few phytoplankton</a:t>
            </a:r>
          </a:p>
          <a:p>
            <a:pPr algn="ctr"/>
            <a:r>
              <a:rPr lang="en-GB" sz="4000" dirty="0">
                <a:solidFill>
                  <a:srgbClr val="FF0000"/>
                </a:solidFill>
              </a:rPr>
              <a:t>Limited by IRON</a:t>
            </a:r>
          </a:p>
          <a:p>
            <a:pPr algn="ctr"/>
            <a:r>
              <a:rPr lang="en-GB" sz="3200" dirty="0"/>
              <a:t>Fe needed for growth, especially photosynthesis</a:t>
            </a:r>
          </a:p>
          <a:p>
            <a:pPr algn="ctr"/>
            <a:r>
              <a:rPr lang="en-GB" sz="3200" dirty="0"/>
              <a:t>Fe</a:t>
            </a:r>
            <a:r>
              <a:rPr lang="en-GB" sz="3200" baseline="30000" dirty="0"/>
              <a:t>3+</a:t>
            </a:r>
            <a:r>
              <a:rPr lang="en-GB" sz="3200" dirty="0"/>
              <a:t> insoluble – results from </a:t>
            </a:r>
            <a:r>
              <a:rPr lang="en-GB" sz="3200" i="1" dirty="0"/>
              <a:t>OXIDATION</a:t>
            </a:r>
            <a:endParaRPr lang="en-GB" sz="2800" i="1" dirty="0"/>
          </a:p>
        </p:txBody>
      </p:sp>
    </p:spTree>
    <p:extLst>
      <p:ext uri="{BB962C8B-B14F-4D97-AF65-F5344CB8AC3E}">
        <p14:creationId xmlns:p14="http://schemas.microsoft.com/office/powerpoint/2010/main" val="3706887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1825</Words>
  <Application>Microsoft Office PowerPoint</Application>
  <PresentationFormat>Widescreen</PresentationFormat>
  <Paragraphs>278</Paragraphs>
  <Slides>54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Giles Johnson</dc:creator>
  <cp:lastModifiedBy>Giles Johnson</cp:lastModifiedBy>
  <cp:revision>1</cp:revision>
  <dcterms:created xsi:type="dcterms:W3CDTF">2020-11-02T14:09:11Z</dcterms:created>
  <dcterms:modified xsi:type="dcterms:W3CDTF">2020-11-02T14:12:08Z</dcterms:modified>
</cp:coreProperties>
</file>