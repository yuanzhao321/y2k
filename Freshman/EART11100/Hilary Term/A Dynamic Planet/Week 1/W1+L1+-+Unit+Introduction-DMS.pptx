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415" r:id="rId2"/>
    <p:sldId id="417" r:id="rId3"/>
    <p:sldId id="416" r:id="rId4"/>
    <p:sldId id="403" r:id="rId5"/>
    <p:sldId id="406" r:id="rId6"/>
    <p:sldId id="522" r:id="rId7"/>
    <p:sldId id="520" r:id="rId8"/>
    <p:sldId id="407" r:id="rId9"/>
    <p:sldId id="404" r:id="rId10"/>
    <p:sldId id="362" r:id="rId11"/>
    <p:sldId id="375" r:id="rId12"/>
    <p:sldId id="373" r:id="rId13"/>
    <p:sldId id="378" r:id="rId14"/>
    <p:sldId id="379" r:id="rId15"/>
    <p:sldId id="380" r:id="rId16"/>
    <p:sldId id="396" r:id="rId17"/>
    <p:sldId id="398" r:id="rId18"/>
    <p:sldId id="399" r:id="rId19"/>
    <p:sldId id="423" r:id="rId20"/>
    <p:sldId id="382" r:id="rId21"/>
    <p:sldId id="361" r:id="rId22"/>
    <p:sldId id="364" r:id="rId23"/>
    <p:sldId id="371" r:id="rId24"/>
    <p:sldId id="521" r:id="rId25"/>
    <p:sldId id="384" r:id="rId26"/>
    <p:sldId id="383" r:id="rId27"/>
    <p:sldId id="385" r:id="rId28"/>
    <p:sldId id="418" r:id="rId29"/>
    <p:sldId id="419" r:id="rId30"/>
    <p:sldId id="420" r:id="rId31"/>
    <p:sldId id="421" r:id="rId32"/>
    <p:sldId id="409" r:id="rId33"/>
    <p:sldId id="410" r:id="rId34"/>
    <p:sldId id="411" r:id="rId35"/>
    <p:sldId id="412" r:id="rId36"/>
    <p:sldId id="413" r:id="rId37"/>
    <p:sldId id="414" r:id="rId38"/>
    <p:sldId id="523" r:id="rId39"/>
    <p:sldId id="519" r:id="rId40"/>
    <p:sldId id="422" r:id="rId41"/>
  </p:sldIdLst>
  <p:sldSz cx="9144000" cy="6858000" type="screen4x3"/>
  <p:notesSz cx="6797675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>
          <p15:clr>
            <a:srgbClr val="A4A3A4"/>
          </p15:clr>
        </p15:guide>
        <p15:guide id="2" pos="451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66"/>
    <a:srgbClr val="FF9933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15"/>
    <p:restoredTop sz="95279" autoAdjust="0"/>
  </p:normalViewPr>
  <p:slideViewPr>
    <p:cSldViewPr showGuides="1">
      <p:cViewPr varScale="1">
        <p:scale>
          <a:sx n="104" d="100"/>
          <a:sy n="104" d="100"/>
        </p:scale>
        <p:origin x="216" y="1032"/>
      </p:cViewPr>
      <p:guideLst>
        <p:guide orient="horz" pos="346"/>
        <p:guide pos="45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47956-B2B7-4F61-89C8-CAD0C80FF734}" type="datetimeFigureOut">
              <a:rPr lang="en-GB" smtClean="0"/>
              <a:pPr/>
              <a:t>23/01/2025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2A6F2-4AE1-4385-ABD6-10FCC3249DA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2171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22AD4-7DB7-45C8-B816-4DF7645EE769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1235075"/>
            <a:ext cx="4441825" cy="3332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51388"/>
            <a:ext cx="5438775" cy="38893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97A13-6C2A-4803-9BA4-BA24E611C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428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9552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Image source:  http://1ms.net/desert-233215.html</a:t>
            </a:r>
          </a:p>
        </p:txBody>
      </p:sp>
    </p:spTree>
    <p:extLst>
      <p:ext uri="{BB962C8B-B14F-4D97-AF65-F5344CB8AC3E}">
        <p14:creationId xmlns:p14="http://schemas.microsoft.com/office/powerpoint/2010/main" val="2609251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Image source:  http://1ms.net/desert-233215.html</a:t>
            </a:r>
          </a:p>
        </p:txBody>
      </p:sp>
    </p:spTree>
    <p:extLst>
      <p:ext uri="{BB962C8B-B14F-4D97-AF65-F5344CB8AC3E}">
        <p14:creationId xmlns:p14="http://schemas.microsoft.com/office/powerpoint/2010/main" val="1571811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Image source:  http://1ms.net/desert-233215.html</a:t>
            </a:r>
          </a:p>
        </p:txBody>
      </p:sp>
    </p:spTree>
    <p:extLst>
      <p:ext uri="{BB962C8B-B14F-4D97-AF65-F5344CB8AC3E}">
        <p14:creationId xmlns:p14="http://schemas.microsoft.com/office/powerpoint/2010/main" val="1367682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Image source:  http://1ms.net/desert-233215.html</a:t>
            </a:r>
          </a:p>
        </p:txBody>
      </p:sp>
    </p:spTree>
    <p:extLst>
      <p:ext uri="{BB962C8B-B14F-4D97-AF65-F5344CB8AC3E}">
        <p14:creationId xmlns:p14="http://schemas.microsoft.com/office/powerpoint/2010/main" val="1364843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No moon?</a:t>
            </a:r>
          </a:p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No life?</a:t>
            </a:r>
          </a:p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No impact?</a:t>
            </a:r>
          </a:p>
        </p:txBody>
      </p:sp>
    </p:spTree>
    <p:extLst>
      <p:ext uri="{BB962C8B-B14F-4D97-AF65-F5344CB8AC3E}">
        <p14:creationId xmlns:p14="http://schemas.microsoft.com/office/powerpoint/2010/main" val="3590227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97A13-6C2A-4803-9BA4-BA24E611C6C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522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97A13-6C2A-4803-9BA4-BA24E611C6C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4803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www.usgs.gov</a:t>
            </a:r>
            <a:r>
              <a:rPr lang="en-US" dirty="0"/>
              <a:t>/special-topic/water-science-school/science/</a:t>
            </a:r>
            <a:r>
              <a:rPr lang="en-US" dirty="0" err="1"/>
              <a:t>fundamentals-water-cycle?qt-science_center_objects</a:t>
            </a:r>
            <a:r>
              <a:rPr lang="en-US" dirty="0"/>
              <a:t>=0#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97A13-6C2A-4803-9BA4-BA24E611C6C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7470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2">
            <a:extLst>
              <a:ext uri="{FF2B5EF4-FFF2-40B4-BE49-F238E27FC236}">
                <a16:creationId xmlns:a16="http://schemas.microsoft.com/office/drawing/2014/main" id="{737C2F89-7173-374A-A1B5-53C5E24A6A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0" name="Rectangle 3">
            <a:extLst>
              <a:ext uri="{FF2B5EF4-FFF2-40B4-BE49-F238E27FC236}">
                <a16:creationId xmlns:a16="http://schemas.microsoft.com/office/drawing/2014/main" id="{433AEE27-9262-7549-968C-751AC02D77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negative feedback stabilizes the climate system, counteracting the original action.</a:t>
            </a:r>
          </a:p>
        </p:txBody>
      </p:sp>
    </p:spTree>
    <p:extLst>
      <p:ext uri="{BB962C8B-B14F-4D97-AF65-F5344CB8AC3E}">
        <p14:creationId xmlns:p14="http://schemas.microsoft.com/office/powerpoint/2010/main" val="1278281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2">
            <a:extLst>
              <a:ext uri="{FF2B5EF4-FFF2-40B4-BE49-F238E27FC236}">
                <a16:creationId xmlns:a16="http://schemas.microsoft.com/office/drawing/2014/main" id="{737C2F89-7173-374A-A1B5-53C5E24A6A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0" name="Rectangle 3">
            <a:extLst>
              <a:ext uri="{FF2B5EF4-FFF2-40B4-BE49-F238E27FC236}">
                <a16:creationId xmlns:a16="http://schemas.microsoft.com/office/drawing/2014/main" id="{433AEE27-9262-7549-968C-751AC02D77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negative feedback stabilizes the climate system, counteracting the original action.</a:t>
            </a:r>
          </a:p>
        </p:txBody>
      </p:sp>
    </p:spTree>
    <p:extLst>
      <p:ext uri="{BB962C8B-B14F-4D97-AF65-F5344CB8AC3E}">
        <p14:creationId xmlns:p14="http://schemas.microsoft.com/office/powerpoint/2010/main" val="3633931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23/01/2025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64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23/01/2025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74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23/01/2025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107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23/01/2025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587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23/01/2025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8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23/01/2025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8891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23/01/2025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099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476672"/>
          </a:xfrm>
          <a:prstGeom prst="rect">
            <a:avLst/>
          </a:prstGeom>
          <a:solidFill>
            <a:srgbClr val="6699FF"/>
          </a:solidFill>
          <a:ln>
            <a:solidFill>
              <a:srgbClr val="66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504056"/>
          </a:xfrm>
        </p:spPr>
        <p:txBody>
          <a:bodyPr>
            <a:noAutofit/>
          </a:bodyPr>
          <a:lstStyle>
            <a:lvl1pPr>
              <a:defRPr sz="2800" b="1" u="sng" spc="3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669360"/>
            <a:ext cx="9144000" cy="0"/>
          </a:xfrm>
          <a:prstGeom prst="line">
            <a:avLst/>
          </a:prstGeom>
          <a:ln w="19050">
            <a:solidFill>
              <a:srgbClr val="66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-33070" y="6642815"/>
            <a:ext cx="39946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cap="all" dirty="0">
                <a:solidFill>
                  <a:srgbClr val="6699FF"/>
                </a:solidFill>
              </a:rPr>
              <a:t>Introduction  To Petroleum Geology – B.</a:t>
            </a:r>
            <a:r>
              <a:rPr lang="en-GB" sz="1200" cap="all" baseline="0" dirty="0">
                <a:solidFill>
                  <a:srgbClr val="6699FF"/>
                </a:solidFill>
              </a:rPr>
              <a:t> Legler 2013</a:t>
            </a:r>
            <a:endParaRPr lang="en-GB" sz="1200" cap="all" dirty="0">
              <a:solidFill>
                <a:srgbClr val="669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13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23/01/2025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991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23/01/2025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905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23/01/2025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242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23/01/2025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213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84413-C829-4961-8E50-198007333F2B}" type="datetimeFigureOut">
              <a:rPr lang="en-GB" smtClean="0"/>
              <a:pPr/>
              <a:t>23/01/2025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08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hodri.jerrett@manchester.ac.uk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avid.schultz@manchester.ac.uk" TargetMode="External"/><Relationship Id="rId4" Type="http://schemas.openxmlformats.org/officeDocument/2006/relationships/hyperlink" Target="mailto:hugh.coe@manchester.ac.uk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audio" Target="file:////Users/davidschultz/TEACHING/UnivManchester-OLD/2013-2014/EART10111-PlanetEarth/PlanetEarth-Lectures2013/Lecture1-Intro&amp;Climate/10%20Life%20Down%20Here%20On%20Earth.m4a" TargetMode="Externa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0.jpeg"/><Relationship Id="rId4" Type="http://schemas.openxmlformats.org/officeDocument/2006/relationships/image" Target="../media/image29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3" Type="http://schemas.openxmlformats.org/officeDocument/2006/relationships/image" Target="../media/image34.jpeg"/><Relationship Id="rId7" Type="http://schemas.openxmlformats.org/officeDocument/2006/relationships/image" Target="../media/image38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Relationship Id="rId9" Type="http://schemas.openxmlformats.org/officeDocument/2006/relationships/image" Target="../media/image40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imelapse-water-storm-microburst-tsunami-from-heaven-alpine-lake-4">
            <a:extLst>
              <a:ext uri="{FF2B5EF4-FFF2-40B4-BE49-F238E27FC236}">
                <a16:creationId xmlns:a16="http://schemas.microsoft.com/office/drawing/2014/main" id="{14C856E4-36F0-424F-8CC1-5EC72D3B9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5252" y="0"/>
            <a:ext cx="91530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AA56E2-144A-4079-AEB6-9ADEB6CA8556}"/>
              </a:ext>
            </a:extLst>
          </p:cNvPr>
          <p:cNvSpPr txBox="1">
            <a:spLocks noChangeArrowheads="1"/>
          </p:cNvSpPr>
          <p:nvPr/>
        </p:nvSpPr>
        <p:spPr>
          <a:xfrm>
            <a:off x="-15252" y="0"/>
            <a:ext cx="9153020" cy="6858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oudy Old Style" panose="02020502050305020303" pitchFamily="18" charset="0"/>
                <a:ea typeface="Adobe Fangsong Std R" pitchFamily="18" charset="-128"/>
                <a:cs typeface="+mj-cs"/>
              </a:rPr>
              <a:t>EART11100: </a:t>
            </a:r>
            <a:r>
              <a:rPr lang="en-GB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udy Old Style" panose="02020502050305020303" pitchFamily="18" charset="0"/>
                <a:ea typeface="Adobe Fangsong Std R" pitchFamily="18" charset="-128"/>
                <a:cs typeface="+mj-cs"/>
              </a:rPr>
              <a:t>Understanding t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oudy Old Style" panose="02020502050305020303" pitchFamily="18" charset="0"/>
                <a:ea typeface="Adobe Fangsong Std R" pitchFamily="18" charset="-128"/>
                <a:cs typeface="+mj-cs"/>
              </a:rPr>
              <a:t>he Earth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udy Old Style" panose="02020502050305020303" pitchFamily="18" charset="0"/>
                <a:ea typeface="Adobe Fangsong Std R" pitchFamily="18" charset="-128"/>
                <a:cs typeface="+mj-cs"/>
              </a:rPr>
              <a:t>A Dynamic Planet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oudy Old Style" panose="02020502050305020303" pitchFamily="18" charset="0"/>
                <a:ea typeface="Adobe Fangsong Std R" pitchFamily="18" charset="-128"/>
                <a:cs typeface="+mj-cs"/>
              </a:rPr>
              <a:t>Introduction: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oudy Old Style" panose="02020502050305020303" pitchFamily="18" charset="0"/>
                <a:ea typeface="Adobe Fangsong Std R" pitchFamily="18" charset="-128"/>
                <a:cs typeface="+mj-cs"/>
              </a:rPr>
              <a:t>The</a:t>
            </a:r>
            <a:r>
              <a:rPr kumimoji="0" lang="en-GB" sz="44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oudy Old Style" panose="02020502050305020303" pitchFamily="18" charset="0"/>
                <a:ea typeface="Adobe Fangsong Std R" pitchFamily="18" charset="-128"/>
                <a:cs typeface="+mj-cs"/>
              </a:rPr>
              <a:t> Earth System and Unit Content</a:t>
            </a:r>
          </a:p>
          <a:p>
            <a:pPr lvl="0" algn="ctr">
              <a:spcBef>
                <a:spcPct val="0"/>
              </a:spcBef>
              <a:defRPr/>
            </a:pPr>
            <a:endParaRPr lang="en-GB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udy Old Style" panose="02020502050305020303" pitchFamily="18" charset="0"/>
              <a:ea typeface="Adobe Fangsong Std R" pitchFamily="18" charset="-128"/>
            </a:endParaRPr>
          </a:p>
          <a:p>
            <a:pPr lvl="0" algn="ctr">
              <a:spcBef>
                <a:spcPct val="0"/>
              </a:spcBef>
              <a:defRPr/>
            </a:pPr>
            <a:r>
              <a:rPr lang="en-GB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udy Old Style" panose="02020502050305020303" pitchFamily="18" charset="0"/>
                <a:ea typeface="Adobe Fangsong Std R" pitchFamily="18" charset="-128"/>
              </a:rPr>
              <a:t>Rhodri </a:t>
            </a:r>
            <a:r>
              <a:rPr lang="en-GB" sz="24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udy Old Style" panose="02020502050305020303" pitchFamily="18" charset="0"/>
                <a:ea typeface="Adobe Fangsong Std R" pitchFamily="18" charset="-128"/>
              </a:rPr>
              <a:t>Jerrett</a:t>
            </a:r>
            <a:endParaRPr lang="en-GB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udy Old Style" panose="02020502050305020303" pitchFamily="18" charset="0"/>
              <a:ea typeface="Adobe Fangsong Std R" pitchFamily="18" charset="-128"/>
            </a:endParaRPr>
          </a:p>
          <a:p>
            <a:pPr lvl="0" algn="ctr">
              <a:spcBef>
                <a:spcPct val="0"/>
              </a:spcBef>
              <a:defRPr/>
            </a:pPr>
            <a:r>
              <a:rPr lang="en-GB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udy Old Style" panose="02020502050305020303" pitchFamily="18" charset="0"/>
                <a:ea typeface="Adobe Fangsong Std R" pitchFamily="18" charset="-12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rhodri.jerrett@manchester.ac.uk</a:t>
            </a:r>
            <a:endParaRPr lang="en-GB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udy Old Style" panose="02020502050305020303" pitchFamily="18" charset="0"/>
              <a:ea typeface="Adobe Fangsong Std R" pitchFamily="18" charset="-128"/>
            </a:endParaRPr>
          </a:p>
          <a:p>
            <a:pPr lvl="0" algn="ctr">
              <a:spcBef>
                <a:spcPct val="0"/>
              </a:spcBef>
              <a:defRPr/>
            </a:pPr>
            <a:endParaRPr lang="en-GB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udy Old Style" panose="02020502050305020303" pitchFamily="18" charset="0"/>
              <a:ea typeface="Adobe Fangsong Std R" pitchFamily="18" charset="-128"/>
            </a:endParaRPr>
          </a:p>
          <a:p>
            <a:pPr lvl="0" algn="ctr">
              <a:spcBef>
                <a:spcPct val="0"/>
              </a:spcBef>
              <a:defRPr/>
            </a:pPr>
            <a:r>
              <a:rPr lang="en-GB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udy Old Style" panose="02020502050305020303" pitchFamily="18" charset="0"/>
                <a:ea typeface="Adobe Fangsong Std R" pitchFamily="18" charset="-128"/>
              </a:rPr>
              <a:t>David Schultz</a:t>
            </a:r>
          </a:p>
          <a:p>
            <a:pPr lvl="0" algn="ctr">
              <a:spcBef>
                <a:spcPct val="0"/>
              </a:spcBef>
              <a:defRPr/>
            </a:pPr>
            <a:r>
              <a:rPr lang="en-GB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udy Old Style" panose="02020502050305020303" pitchFamily="18" charset="0"/>
                <a:ea typeface="Adobe Fangsong Std R" pitchFamily="18" charset="-12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lang="en-GB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udy Old Style" panose="02020502050305020303" pitchFamily="18" charset="0"/>
                <a:ea typeface="Adobe Fangsong Std R" pitchFamily="18" charset="-128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avid.schultz@manchester.ac.uk</a:t>
            </a:r>
            <a:endParaRPr lang="en-GB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udy Old Style" panose="02020502050305020303" pitchFamily="18" charset="0"/>
              <a:ea typeface="Adobe Fangsong Std R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9668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imelapse-water-storm-microburst-tsunami-from-heaven-alpine-lake-4">
            <a:extLst>
              <a:ext uri="{FF2B5EF4-FFF2-40B4-BE49-F238E27FC236}">
                <a16:creationId xmlns:a16="http://schemas.microsoft.com/office/drawing/2014/main" id="{14C856E4-36F0-424F-8CC1-5EC72D3B9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5252" y="0"/>
            <a:ext cx="91530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8A43E0-9761-47A2-9D9B-FF475E89947C}"/>
              </a:ext>
            </a:extLst>
          </p:cNvPr>
          <p:cNvSpPr txBox="1">
            <a:spLocks/>
          </p:cNvSpPr>
          <p:nvPr/>
        </p:nvSpPr>
        <p:spPr>
          <a:xfrm>
            <a:off x="179512" y="584684"/>
            <a:ext cx="8784976" cy="5688632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/>
            <a:r>
              <a:rPr lang="en-GB" sz="3000" b="1" dirty="0">
                <a:solidFill>
                  <a:schemeClr val="tx1"/>
                </a:solidFill>
                <a:latin typeface="Goudy Old Style" panose="02020502050305020303" pitchFamily="18" charset="0"/>
                <a:cs typeface="Arial" pitchFamily="34" charset="0"/>
              </a:rPr>
              <a:t>In this lecture, we’ll look at:</a:t>
            </a:r>
          </a:p>
          <a:p>
            <a:pPr lvl="1" algn="l"/>
            <a:endParaRPr lang="en-GB" sz="3000" b="1" dirty="0">
              <a:solidFill>
                <a:schemeClr val="tx1"/>
              </a:solidFill>
              <a:latin typeface="Goudy Old Style" panose="02020502050305020303" pitchFamily="18" charset="0"/>
              <a:cs typeface="Arial" pitchFamily="34" charset="0"/>
            </a:endParaRPr>
          </a:p>
          <a:p>
            <a:pPr lvl="1" algn="l">
              <a:buFont typeface="Wingdings" pitchFamily="2" charset="2"/>
              <a:buChar char="Ø"/>
            </a:pPr>
            <a:r>
              <a:rPr lang="en-GB" sz="3000" dirty="0">
                <a:solidFill>
                  <a:schemeClr val="tx1"/>
                </a:solidFill>
                <a:latin typeface="Goudy Old Style" panose="02020502050305020303" pitchFamily="18" charset="0"/>
                <a:cs typeface="Arial" pitchFamily="34" charset="0"/>
              </a:rPr>
              <a:t> the broad content of the Unit, including assessment.</a:t>
            </a:r>
          </a:p>
          <a:p>
            <a:pPr lvl="1" algn="l">
              <a:buFont typeface="Wingdings" pitchFamily="2" charset="2"/>
              <a:buChar char="Ø"/>
            </a:pPr>
            <a:r>
              <a:rPr lang="en-GB" sz="3000" dirty="0">
                <a:solidFill>
                  <a:schemeClr val="tx1"/>
                </a:solidFill>
                <a:latin typeface="Goudy Old Style" panose="02020502050305020303" pitchFamily="18" charset="0"/>
                <a:cs typeface="Arial" pitchFamily="34" charset="0"/>
              </a:rPr>
              <a:t> the principle of the “Earth System”, its component “spheres” (or reservoirs), and cycles.</a:t>
            </a:r>
          </a:p>
          <a:p>
            <a:pPr lvl="1" algn="l">
              <a:buFont typeface="Wingdings" pitchFamily="2" charset="2"/>
              <a:buChar char="Ø"/>
            </a:pPr>
            <a:r>
              <a:rPr lang="en-GB" sz="3000" dirty="0">
                <a:solidFill>
                  <a:schemeClr val="tx1"/>
                </a:solidFill>
                <a:latin typeface="Goudy Old Style" panose="02020502050305020303" pitchFamily="18" charset="0"/>
                <a:cs typeface="Arial" pitchFamily="34" charset="0"/>
              </a:rPr>
              <a:t> why heat and mass are transferred through the Earth System.</a:t>
            </a:r>
          </a:p>
          <a:p>
            <a:pPr lvl="1" algn="l">
              <a:buFont typeface="Wingdings" pitchFamily="2" charset="2"/>
              <a:buChar char="Ø"/>
            </a:pPr>
            <a:r>
              <a:rPr lang="en-GB" sz="3000" dirty="0">
                <a:solidFill>
                  <a:schemeClr val="tx1"/>
                </a:solidFill>
                <a:latin typeface="Goudy Old Style" panose="02020502050305020303" pitchFamily="18" charset="0"/>
                <a:cs typeface="Arial" pitchFamily="34" charset="0"/>
              </a:rPr>
              <a:t> the “Rock Cycle”, and its main processes and products.</a:t>
            </a:r>
          </a:p>
          <a:p>
            <a:pPr lvl="1" algn="l">
              <a:buFont typeface="Wingdings" pitchFamily="2" charset="2"/>
              <a:buChar char="Ø"/>
            </a:pPr>
            <a:r>
              <a:rPr lang="en-GB" sz="3000" dirty="0">
                <a:solidFill>
                  <a:schemeClr val="tx1"/>
                </a:solidFill>
                <a:latin typeface="Goudy Old Style" panose="02020502050305020303" pitchFamily="18" charset="0"/>
                <a:cs typeface="Arial" pitchFamily="34" charset="0"/>
              </a:rPr>
              <a:t> a weekly breakdown of Unit content.</a:t>
            </a:r>
          </a:p>
        </p:txBody>
      </p:sp>
    </p:spTree>
    <p:extLst>
      <p:ext uri="{BB962C8B-B14F-4D97-AF65-F5344CB8AC3E}">
        <p14:creationId xmlns:p14="http://schemas.microsoft.com/office/powerpoint/2010/main" val="2864909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imelapse-water-storm-microburst-tsunami-from-heaven-alpine-lake-4">
            <a:extLst>
              <a:ext uri="{FF2B5EF4-FFF2-40B4-BE49-F238E27FC236}">
                <a16:creationId xmlns:a16="http://schemas.microsoft.com/office/drawing/2014/main" id="{14C856E4-36F0-424F-8CC1-5EC72D3B9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5252" y="0"/>
            <a:ext cx="91530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46C380-EEB1-40B5-A4AA-E4F9809B2541}"/>
              </a:ext>
            </a:extLst>
          </p:cNvPr>
          <p:cNvSpPr txBox="1"/>
          <p:nvPr/>
        </p:nvSpPr>
        <p:spPr>
          <a:xfrm>
            <a:off x="179512" y="137032"/>
            <a:ext cx="8806775" cy="6401753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</a:pPr>
            <a:r>
              <a:rPr lang="en-GB" sz="3000" b="1" dirty="0">
                <a:latin typeface="Goudy Old Style" panose="02020502050305020303" pitchFamily="18" charset="0"/>
              </a:rPr>
              <a:t>Lectures: Mondays 10.00–12.00, Blackett Theatre, Schuster Building.</a:t>
            </a:r>
          </a:p>
          <a:p>
            <a:pPr marL="285750" indent="-285750">
              <a:spcAft>
                <a:spcPts val="600"/>
              </a:spcAft>
            </a:pPr>
            <a:r>
              <a:rPr lang="en-GB" sz="3000" b="1" dirty="0">
                <a:latin typeface="Goudy Old Style" panose="02020502050305020303" pitchFamily="18" charset="0"/>
              </a:rPr>
              <a:t>Usually alternate David and Rhodri each week.</a:t>
            </a:r>
            <a:endParaRPr lang="en-GB" sz="2000" b="1" dirty="0">
              <a:latin typeface="Goudy Old Style" panose="02020502050305020303" pitchFamily="18" charset="0"/>
            </a:endParaRPr>
          </a:p>
          <a:p>
            <a:pPr marL="285750" indent="-285750">
              <a:spcAft>
                <a:spcPts val="600"/>
              </a:spcAft>
            </a:pPr>
            <a:endParaRPr lang="en-GB" sz="2000" b="1" dirty="0">
              <a:latin typeface="Goudy Old Style" panose="02020502050305020303" pitchFamily="18" charset="0"/>
            </a:endParaRPr>
          </a:p>
          <a:p>
            <a:pPr marL="285750" indent="-285750">
              <a:spcAft>
                <a:spcPts val="600"/>
              </a:spcAft>
            </a:pPr>
            <a:endParaRPr lang="en-GB" sz="2000" b="1" dirty="0">
              <a:latin typeface="Goudy Old Style" panose="02020502050305020303" pitchFamily="18" charset="0"/>
            </a:endParaRPr>
          </a:p>
          <a:p>
            <a:pPr marL="285750" indent="-285750">
              <a:spcAft>
                <a:spcPts val="600"/>
              </a:spcAft>
            </a:pPr>
            <a:endParaRPr lang="en-GB" sz="2000" b="1" dirty="0">
              <a:latin typeface="Goudy Old Style" panose="02020502050305020303" pitchFamily="18" charset="0"/>
            </a:endParaRPr>
          </a:p>
          <a:p>
            <a:pPr marL="285750" indent="-285750">
              <a:spcAft>
                <a:spcPts val="600"/>
              </a:spcAft>
            </a:pPr>
            <a:endParaRPr lang="en-GB" sz="2000" b="1" dirty="0">
              <a:latin typeface="Goudy Old Style" panose="02020502050305020303" pitchFamily="18" charset="0"/>
            </a:endParaRPr>
          </a:p>
          <a:p>
            <a:pPr marL="285750" indent="-285750">
              <a:spcAft>
                <a:spcPts val="600"/>
              </a:spcAft>
            </a:pPr>
            <a:endParaRPr lang="en-GB" sz="2000" b="1" dirty="0">
              <a:latin typeface="Goudy Old Style" panose="02020502050305020303" pitchFamily="18" charset="0"/>
            </a:endParaRPr>
          </a:p>
          <a:p>
            <a:pPr marL="285750" indent="-285750">
              <a:spcAft>
                <a:spcPts val="600"/>
              </a:spcAft>
            </a:pPr>
            <a:endParaRPr lang="en-GB" sz="2000" b="1" dirty="0">
              <a:latin typeface="Goudy Old Style" panose="02020502050305020303" pitchFamily="18" charset="0"/>
            </a:endParaRPr>
          </a:p>
          <a:p>
            <a:pPr marL="285750" indent="-285750">
              <a:spcAft>
                <a:spcPts val="600"/>
              </a:spcAft>
            </a:pPr>
            <a:endParaRPr lang="en-GB" sz="2000" b="1" dirty="0">
              <a:latin typeface="Goudy Old Style" panose="02020502050305020303" pitchFamily="18" charset="0"/>
            </a:endParaRPr>
          </a:p>
          <a:p>
            <a:pPr marL="285750" indent="-285750">
              <a:spcAft>
                <a:spcPts val="600"/>
              </a:spcAft>
            </a:pPr>
            <a:endParaRPr lang="en-GB" sz="2000" b="1" dirty="0">
              <a:latin typeface="Goudy Old Style" panose="02020502050305020303" pitchFamily="18" charset="0"/>
            </a:endParaRPr>
          </a:p>
          <a:p>
            <a:pPr marL="285750" indent="-285750">
              <a:spcAft>
                <a:spcPts val="600"/>
              </a:spcAft>
            </a:pPr>
            <a:endParaRPr lang="en-GB" sz="2000" b="1" dirty="0">
              <a:latin typeface="Goudy Old Style" panose="02020502050305020303" pitchFamily="18" charset="0"/>
            </a:endParaRPr>
          </a:p>
          <a:p>
            <a:pPr marL="285750" indent="-285750">
              <a:spcAft>
                <a:spcPts val="600"/>
              </a:spcAft>
            </a:pPr>
            <a:endParaRPr lang="en-GB" sz="2000" b="1" dirty="0">
              <a:latin typeface="Goudy Old Style" panose="02020502050305020303" pitchFamily="18" charset="0"/>
            </a:endParaRPr>
          </a:p>
          <a:p>
            <a:pPr marL="285750" indent="-285750">
              <a:spcAft>
                <a:spcPts val="600"/>
              </a:spcAft>
            </a:pPr>
            <a:r>
              <a:rPr lang="en-GB" sz="3000" b="1" dirty="0">
                <a:latin typeface="Goudy Old Style" panose="02020502050305020303" pitchFamily="18" charset="0"/>
              </a:rPr>
              <a:t>Assessment (100% of the course unit): summative online test in Exam period.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650C54-A88F-4EC0-BDE4-A0C2969605D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1600" y="2035051"/>
            <a:ext cx="3129422" cy="28365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B00862-EF8C-45BE-91AB-F978CB127124}"/>
              </a:ext>
            </a:extLst>
          </p:cNvPr>
          <p:cNvSpPr txBox="1">
            <a:spLocks/>
          </p:cNvSpPr>
          <p:nvPr/>
        </p:nvSpPr>
        <p:spPr>
          <a:xfrm>
            <a:off x="971600" y="4293096"/>
            <a:ext cx="3149826" cy="60625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1500" b="1" dirty="0">
                <a:latin typeface="Arial" pitchFamily="34" charset="0"/>
                <a:cs typeface="Arial" pitchFamily="34" charset="0"/>
              </a:rPr>
              <a:t>Rhodri Jerrett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, </a:t>
            </a:r>
            <a:r>
              <a:rPr lang="en-GB" sz="1500" dirty="0" err="1">
                <a:latin typeface="Arial" pitchFamily="34" charset="0"/>
                <a:cs typeface="Arial" pitchFamily="34" charset="0"/>
              </a:rPr>
              <a:t>Sedimentologist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 and </a:t>
            </a:r>
            <a:r>
              <a:rPr lang="en-GB" sz="1500" dirty="0" err="1">
                <a:latin typeface="Arial" pitchFamily="34" charset="0"/>
                <a:cs typeface="Arial" pitchFamily="34" charset="0"/>
              </a:rPr>
              <a:t>stratigrapher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5C4A3B-B8E9-3B4A-86DA-F17E4D5EAC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1790451"/>
            <a:ext cx="2685205" cy="36502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4D9A742-88AE-4C3E-9323-824ACFAD2DD0}"/>
              </a:ext>
            </a:extLst>
          </p:cNvPr>
          <p:cNvSpPr txBox="1">
            <a:spLocks/>
          </p:cNvSpPr>
          <p:nvPr/>
        </p:nvSpPr>
        <p:spPr>
          <a:xfrm>
            <a:off x="5364088" y="4936595"/>
            <a:ext cx="2736304" cy="50405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1500" b="1" dirty="0">
                <a:latin typeface="Arial" pitchFamily="34" charset="0"/>
                <a:cs typeface="Arial" pitchFamily="34" charset="0"/>
              </a:rPr>
              <a:t>David Schultz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, Atmospheric scientist and weather weenie.</a:t>
            </a:r>
          </a:p>
        </p:txBody>
      </p:sp>
    </p:spTree>
    <p:extLst>
      <p:ext uri="{BB962C8B-B14F-4D97-AF65-F5344CB8AC3E}">
        <p14:creationId xmlns:p14="http://schemas.microsoft.com/office/powerpoint/2010/main" val="1272713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10 Life Down Here On Earth.m4a" descr="/Users/davidschultz/Desktop/PlanetEarth-Lecture1/10 Life Down Here On Earth.m4a">
            <a:hlinkClick r:id="" action="ppaction://media"/>
          </p:cNvPr>
          <p:cNvPicPr>
            <a:picLocks noChangeAspect="1" noChangeArrowheads="1"/>
          </p:cNvPicPr>
          <p:nvPr>
            <a:audioFile r:link="rId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159500"/>
            <a:ext cx="152400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662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26628" name="Picture 3" descr="earth+from+space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TextBox 4"/>
          <p:cNvSpPr txBox="1">
            <a:spLocks noChangeArrowheads="1"/>
          </p:cNvSpPr>
          <p:nvPr/>
        </p:nvSpPr>
        <p:spPr bwMode="auto">
          <a:xfrm>
            <a:off x="1060450" y="682625"/>
            <a:ext cx="7245350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5400" dirty="0">
                <a:solidFill>
                  <a:srgbClr val="FBFF09"/>
                </a:solidFill>
                <a:latin typeface="Goudy Old Style" panose="02020502050305020303" pitchFamily="18" charset="0"/>
              </a:rPr>
              <a:t>Things You’ll Learn This </a:t>
            </a:r>
          </a:p>
          <a:p>
            <a:pPr algn="r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5400" dirty="0">
                <a:solidFill>
                  <a:srgbClr val="FBFF09"/>
                </a:solidFill>
                <a:latin typeface="Goudy Old Style" panose="02020502050305020303" pitchFamily="18" charset="0"/>
              </a:rPr>
              <a:t>										Semester</a:t>
            </a:r>
            <a:endParaRPr lang="en-US" altLang="en-US" sz="3600" dirty="0">
              <a:solidFill>
                <a:srgbClr val="FBFF09"/>
              </a:solidFill>
              <a:latin typeface="Goudy Old Style" panose="0202050205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33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3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3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31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4"/>
          <p:cNvSpPr txBox="1">
            <a:spLocks noChangeArrowheads="1"/>
          </p:cNvSpPr>
          <p:nvPr/>
        </p:nvSpPr>
        <p:spPr bwMode="auto">
          <a:xfrm>
            <a:off x="0" y="457200"/>
            <a:ext cx="91440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4800" dirty="0">
                <a:solidFill>
                  <a:srgbClr val="FBFF09"/>
                </a:solidFill>
                <a:latin typeface="Goudy Old Style" panose="02020502050305020303" pitchFamily="18" charset="0"/>
              </a:rPr>
              <a:t>The number of jet streams on a planet depends on its rotation rate and size.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3EC47-5A35-304C-8337-17DC40BD90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6817">
            <a:off x="3059832" y="3140968"/>
            <a:ext cx="6502400" cy="2628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24719B-9E24-1546-835B-4770BA0872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924944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809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4"/>
          <p:cNvSpPr txBox="1">
            <a:spLocks noChangeArrowheads="1"/>
          </p:cNvSpPr>
          <p:nvPr/>
        </p:nvSpPr>
        <p:spPr bwMode="auto">
          <a:xfrm>
            <a:off x="0" y="457200"/>
            <a:ext cx="91440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4800" dirty="0">
                <a:solidFill>
                  <a:srgbClr val="FBFF09"/>
                </a:solidFill>
                <a:latin typeface="Goudy Old Style" panose="02020502050305020303" pitchFamily="18" charset="0"/>
              </a:rPr>
              <a:t>How the local climate determines weathering rates.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D3323D-601F-E14B-9D5E-D2D305D5FB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2420888"/>
            <a:ext cx="9143238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476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4"/>
          <p:cNvSpPr txBox="1">
            <a:spLocks noChangeArrowheads="1"/>
          </p:cNvSpPr>
          <p:nvPr/>
        </p:nvSpPr>
        <p:spPr bwMode="auto">
          <a:xfrm>
            <a:off x="807808" y="1628800"/>
            <a:ext cx="4248472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4800" dirty="0">
                <a:solidFill>
                  <a:srgbClr val="FBFF09"/>
                </a:solidFill>
                <a:latin typeface="Goudy Old Style" panose="02020502050305020303" pitchFamily="18" charset="0"/>
              </a:rPr>
              <a:t>You can make your own weather forecasts.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31891E-4587-0645-88C8-628C3607A6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6280" y="12596"/>
            <a:ext cx="4087720" cy="684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22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4"/>
          <p:cNvSpPr txBox="1">
            <a:spLocks noChangeArrowheads="1"/>
          </p:cNvSpPr>
          <p:nvPr/>
        </p:nvSpPr>
        <p:spPr bwMode="auto">
          <a:xfrm>
            <a:off x="34925" y="152400"/>
            <a:ext cx="91440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4800" dirty="0">
                <a:solidFill>
                  <a:srgbClr val="FBFF09"/>
                </a:solidFill>
                <a:latin typeface="Goudy Old Style" panose="02020502050305020303" pitchFamily="18" charset="0"/>
              </a:rPr>
              <a:t>How to keep yourself safe during field work.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1A0DC5-BCF6-6D43-895F-4E319F4AB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2204864"/>
            <a:ext cx="3848100" cy="3467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F4983B-B2BD-D64B-BAF9-6389D40B4E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2204864"/>
            <a:ext cx="5450500" cy="347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854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pic>
        <p:nvPicPr>
          <p:cNvPr id="28676" name="Picture 3" descr="earth+from+spac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31840" y="-564580"/>
            <a:ext cx="10125373" cy="7594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TextBox 4"/>
          <p:cNvSpPr txBox="1">
            <a:spLocks noChangeArrowheads="1"/>
          </p:cNvSpPr>
          <p:nvPr/>
        </p:nvSpPr>
        <p:spPr bwMode="auto">
          <a:xfrm>
            <a:off x="304800" y="609600"/>
            <a:ext cx="8607425" cy="486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5400" dirty="0">
                <a:solidFill>
                  <a:srgbClr val="FBFF09"/>
                </a:solidFill>
                <a:latin typeface="Goudy Old Style" panose="02020502050305020303" pitchFamily="18" charset="0"/>
              </a:rPr>
              <a:t>How different would the Earth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5400" dirty="0">
                <a:solidFill>
                  <a:srgbClr val="FBFF09"/>
                </a:solidFill>
                <a:latin typeface="Goudy Old Style" panose="02020502050305020303" pitchFamily="18" charset="0"/>
              </a:rPr>
              <a:t>have been with a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5400" dirty="0">
                <a:solidFill>
                  <a:srgbClr val="FBFF09"/>
                </a:solidFill>
                <a:latin typeface="Goudy Old Style" panose="02020502050305020303" pitchFamily="18" charset="0"/>
              </a:rPr>
              <a:t>different set of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5400" dirty="0">
                <a:solidFill>
                  <a:srgbClr val="FBFF09"/>
                </a:solidFill>
                <a:latin typeface="Goudy Old Style" panose="02020502050305020303" pitchFamily="18" charset="0"/>
              </a:rPr>
              <a:t>properties? </a:t>
            </a:r>
          </a:p>
          <a:p>
            <a:pPr algn="r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endParaRPr lang="en-US" altLang="en-US" sz="5400" dirty="0">
              <a:solidFill>
                <a:srgbClr val="FBFF09"/>
              </a:solidFill>
              <a:latin typeface="Goudy Old Style" panose="0202050205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172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79512" y="332656"/>
            <a:ext cx="8784976" cy="5926968"/>
          </a:xfrm>
          <a:noFill/>
        </p:spPr>
        <p:txBody>
          <a:bodyPr>
            <a:noAutofit/>
          </a:bodyPr>
          <a:lstStyle/>
          <a:p>
            <a:r>
              <a:rPr lang="en-GB" sz="2400" b="1" dirty="0">
                <a:latin typeface="Arial" pitchFamily="34" charset="0"/>
                <a:cs typeface="Arial" pitchFamily="34" charset="0"/>
              </a:rPr>
              <a:t>This course deals with key elements and processes involved in “Earth System Science” – the study of Planet Earth as a whole.</a:t>
            </a:r>
          </a:p>
          <a:p>
            <a:endParaRPr lang="en-GB" sz="2400" b="1" dirty="0">
              <a:latin typeface="Arial" pitchFamily="34" charset="0"/>
              <a:cs typeface="Arial" pitchFamily="34" charset="0"/>
            </a:endParaRPr>
          </a:p>
          <a:p>
            <a:r>
              <a:rPr lang="en-GB" sz="2400" b="1" dirty="0">
                <a:latin typeface="Arial" pitchFamily="34" charset="0"/>
                <a:cs typeface="Arial" pitchFamily="34" charset="0"/>
              </a:rPr>
              <a:t>Study of the processes “happening” in and between the different components or “spheres” of Earth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860032" y="2924944"/>
            <a:ext cx="3980384" cy="3847864"/>
            <a:chOff x="2051720" y="262447"/>
            <a:chExt cx="6788696" cy="6510361"/>
          </a:xfrm>
        </p:grpSpPr>
        <p:pic>
          <p:nvPicPr>
            <p:cNvPr id="3078" name="Picture 6" descr="Image result for earth system science"/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1720" y="262447"/>
              <a:ext cx="6788696" cy="6510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Freeform 8"/>
            <p:cNvSpPr/>
            <p:nvPr/>
          </p:nvSpPr>
          <p:spPr>
            <a:xfrm>
              <a:off x="7527271" y="307731"/>
              <a:ext cx="1081957" cy="1336431"/>
            </a:xfrm>
            <a:custGeom>
              <a:avLst/>
              <a:gdLst>
                <a:gd name="connsiteX0" fmla="*/ 25321 w 1081957"/>
                <a:gd name="connsiteY0" fmla="*/ 43961 h 1336431"/>
                <a:gd name="connsiteX1" fmla="*/ 16529 w 1081957"/>
                <a:gd name="connsiteY1" fmla="*/ 87923 h 1336431"/>
                <a:gd name="connsiteX2" fmla="*/ 34114 w 1081957"/>
                <a:gd name="connsiteY2" fmla="*/ 202223 h 1336431"/>
                <a:gd name="connsiteX3" fmla="*/ 34114 w 1081957"/>
                <a:gd name="connsiteY3" fmla="*/ 659423 h 1336431"/>
                <a:gd name="connsiteX4" fmla="*/ 42906 w 1081957"/>
                <a:gd name="connsiteY4" fmla="*/ 861646 h 1336431"/>
                <a:gd name="connsiteX5" fmla="*/ 95660 w 1081957"/>
                <a:gd name="connsiteY5" fmla="*/ 896815 h 1336431"/>
                <a:gd name="connsiteX6" fmla="*/ 122037 w 1081957"/>
                <a:gd name="connsiteY6" fmla="*/ 923192 h 1336431"/>
                <a:gd name="connsiteX7" fmla="*/ 139621 w 1081957"/>
                <a:gd name="connsiteY7" fmla="*/ 949569 h 1336431"/>
                <a:gd name="connsiteX8" fmla="*/ 192375 w 1081957"/>
                <a:gd name="connsiteY8" fmla="*/ 984738 h 1336431"/>
                <a:gd name="connsiteX9" fmla="*/ 209960 w 1081957"/>
                <a:gd name="connsiteY9" fmla="*/ 1011115 h 1336431"/>
                <a:gd name="connsiteX10" fmla="*/ 236337 w 1081957"/>
                <a:gd name="connsiteY10" fmla="*/ 1037492 h 1336431"/>
                <a:gd name="connsiteX11" fmla="*/ 271506 w 1081957"/>
                <a:gd name="connsiteY11" fmla="*/ 1081454 h 1336431"/>
                <a:gd name="connsiteX12" fmla="*/ 333052 w 1081957"/>
                <a:gd name="connsiteY12" fmla="*/ 1151792 h 1336431"/>
                <a:gd name="connsiteX13" fmla="*/ 350637 w 1081957"/>
                <a:gd name="connsiteY13" fmla="*/ 1178169 h 1336431"/>
                <a:gd name="connsiteX14" fmla="*/ 403391 w 1081957"/>
                <a:gd name="connsiteY14" fmla="*/ 1213338 h 1336431"/>
                <a:gd name="connsiteX15" fmla="*/ 412183 w 1081957"/>
                <a:gd name="connsiteY15" fmla="*/ 1239715 h 1336431"/>
                <a:gd name="connsiteX16" fmla="*/ 473729 w 1081957"/>
                <a:gd name="connsiteY16" fmla="*/ 1310054 h 1336431"/>
                <a:gd name="connsiteX17" fmla="*/ 526483 w 1081957"/>
                <a:gd name="connsiteY17" fmla="*/ 1327638 h 1336431"/>
                <a:gd name="connsiteX18" fmla="*/ 552860 w 1081957"/>
                <a:gd name="connsiteY18" fmla="*/ 1336431 h 1336431"/>
                <a:gd name="connsiteX19" fmla="*/ 869383 w 1081957"/>
                <a:gd name="connsiteY19" fmla="*/ 1327638 h 1336431"/>
                <a:gd name="connsiteX20" fmla="*/ 957306 w 1081957"/>
                <a:gd name="connsiteY20" fmla="*/ 1318846 h 1336431"/>
                <a:gd name="connsiteX21" fmla="*/ 974891 w 1081957"/>
                <a:gd name="connsiteY21" fmla="*/ 1266092 h 1336431"/>
                <a:gd name="connsiteX22" fmla="*/ 983683 w 1081957"/>
                <a:gd name="connsiteY22" fmla="*/ 1239715 h 1336431"/>
                <a:gd name="connsiteX23" fmla="*/ 992475 w 1081957"/>
                <a:gd name="connsiteY23" fmla="*/ 1213338 h 1336431"/>
                <a:gd name="connsiteX24" fmla="*/ 1010060 w 1081957"/>
                <a:gd name="connsiteY24" fmla="*/ 1186961 h 1336431"/>
                <a:gd name="connsiteX25" fmla="*/ 1027644 w 1081957"/>
                <a:gd name="connsiteY25" fmla="*/ 1134207 h 1336431"/>
                <a:gd name="connsiteX26" fmla="*/ 1054021 w 1081957"/>
                <a:gd name="connsiteY26" fmla="*/ 993531 h 1336431"/>
                <a:gd name="connsiteX27" fmla="*/ 1071606 w 1081957"/>
                <a:gd name="connsiteY27" fmla="*/ 861646 h 1336431"/>
                <a:gd name="connsiteX28" fmla="*/ 1071606 w 1081957"/>
                <a:gd name="connsiteY28" fmla="*/ 219807 h 1336431"/>
                <a:gd name="connsiteX29" fmla="*/ 1054021 w 1081957"/>
                <a:gd name="connsiteY29" fmla="*/ 167054 h 1336431"/>
                <a:gd name="connsiteX30" fmla="*/ 1045229 w 1081957"/>
                <a:gd name="connsiteY30" fmla="*/ 140677 h 1336431"/>
                <a:gd name="connsiteX31" fmla="*/ 1018852 w 1081957"/>
                <a:gd name="connsiteY31" fmla="*/ 79131 h 1336431"/>
                <a:gd name="connsiteX32" fmla="*/ 992475 w 1081957"/>
                <a:gd name="connsiteY32" fmla="*/ 61546 h 1336431"/>
                <a:gd name="connsiteX33" fmla="*/ 948514 w 1081957"/>
                <a:gd name="connsiteY33" fmla="*/ 17584 h 1336431"/>
                <a:gd name="connsiteX34" fmla="*/ 825421 w 1081957"/>
                <a:gd name="connsiteY34" fmla="*/ 0 h 1336431"/>
                <a:gd name="connsiteX35" fmla="*/ 684744 w 1081957"/>
                <a:gd name="connsiteY35" fmla="*/ 8792 h 1336431"/>
                <a:gd name="connsiteX36" fmla="*/ 561652 w 1081957"/>
                <a:gd name="connsiteY36" fmla="*/ 17584 h 1336431"/>
                <a:gd name="connsiteX37" fmla="*/ 324260 w 1081957"/>
                <a:gd name="connsiteY37" fmla="*/ 26377 h 1336431"/>
                <a:gd name="connsiteX38" fmla="*/ 25321 w 1081957"/>
                <a:gd name="connsiteY38" fmla="*/ 43961 h 133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081957" h="1336431">
                  <a:moveTo>
                    <a:pt x="25321" y="43961"/>
                  </a:moveTo>
                  <a:cubicBezTo>
                    <a:pt x="-25968" y="54219"/>
                    <a:pt x="16529" y="72979"/>
                    <a:pt x="16529" y="87923"/>
                  </a:cubicBezTo>
                  <a:cubicBezTo>
                    <a:pt x="16529" y="155928"/>
                    <a:pt x="19063" y="157073"/>
                    <a:pt x="34114" y="202223"/>
                  </a:cubicBezTo>
                  <a:cubicBezTo>
                    <a:pt x="60613" y="414224"/>
                    <a:pt x="34114" y="174306"/>
                    <a:pt x="34114" y="659423"/>
                  </a:cubicBezTo>
                  <a:cubicBezTo>
                    <a:pt x="34114" y="726894"/>
                    <a:pt x="25973" y="796334"/>
                    <a:pt x="42906" y="861646"/>
                  </a:cubicBezTo>
                  <a:cubicBezTo>
                    <a:pt x="48210" y="882104"/>
                    <a:pt x="80716" y="881871"/>
                    <a:pt x="95660" y="896815"/>
                  </a:cubicBezTo>
                  <a:cubicBezTo>
                    <a:pt x="104452" y="905607"/>
                    <a:pt x="114077" y="913640"/>
                    <a:pt x="122037" y="923192"/>
                  </a:cubicBezTo>
                  <a:cubicBezTo>
                    <a:pt x="128802" y="931310"/>
                    <a:pt x="131669" y="942611"/>
                    <a:pt x="139621" y="949569"/>
                  </a:cubicBezTo>
                  <a:cubicBezTo>
                    <a:pt x="155526" y="963486"/>
                    <a:pt x="192375" y="984738"/>
                    <a:pt x="192375" y="984738"/>
                  </a:cubicBezTo>
                  <a:cubicBezTo>
                    <a:pt x="198237" y="993530"/>
                    <a:pt x="203195" y="1002997"/>
                    <a:pt x="209960" y="1011115"/>
                  </a:cubicBezTo>
                  <a:cubicBezTo>
                    <a:pt x="217920" y="1020667"/>
                    <a:pt x="229440" y="1027146"/>
                    <a:pt x="236337" y="1037492"/>
                  </a:cubicBezTo>
                  <a:cubicBezTo>
                    <a:pt x="270312" y="1088455"/>
                    <a:pt x="212514" y="1042125"/>
                    <a:pt x="271506" y="1081454"/>
                  </a:cubicBezTo>
                  <a:cubicBezTo>
                    <a:pt x="312537" y="1142999"/>
                    <a:pt x="289091" y="1122484"/>
                    <a:pt x="333052" y="1151792"/>
                  </a:cubicBezTo>
                  <a:cubicBezTo>
                    <a:pt x="338914" y="1160584"/>
                    <a:pt x="342684" y="1171211"/>
                    <a:pt x="350637" y="1178169"/>
                  </a:cubicBezTo>
                  <a:cubicBezTo>
                    <a:pt x="366542" y="1192086"/>
                    <a:pt x="403391" y="1213338"/>
                    <a:pt x="403391" y="1213338"/>
                  </a:cubicBezTo>
                  <a:cubicBezTo>
                    <a:pt x="406322" y="1222130"/>
                    <a:pt x="407682" y="1231613"/>
                    <a:pt x="412183" y="1239715"/>
                  </a:cubicBezTo>
                  <a:cubicBezTo>
                    <a:pt x="429719" y="1271280"/>
                    <a:pt x="441515" y="1295737"/>
                    <a:pt x="473729" y="1310054"/>
                  </a:cubicBezTo>
                  <a:cubicBezTo>
                    <a:pt x="490667" y="1317582"/>
                    <a:pt x="508898" y="1321776"/>
                    <a:pt x="526483" y="1327638"/>
                  </a:cubicBezTo>
                  <a:lnTo>
                    <a:pt x="552860" y="1336431"/>
                  </a:lnTo>
                  <a:lnTo>
                    <a:pt x="869383" y="1327638"/>
                  </a:lnTo>
                  <a:cubicBezTo>
                    <a:pt x="898809" y="1326359"/>
                    <a:pt x="931864" y="1333687"/>
                    <a:pt x="957306" y="1318846"/>
                  </a:cubicBezTo>
                  <a:cubicBezTo>
                    <a:pt x="973317" y="1309506"/>
                    <a:pt x="969029" y="1283677"/>
                    <a:pt x="974891" y="1266092"/>
                  </a:cubicBezTo>
                  <a:lnTo>
                    <a:pt x="983683" y="1239715"/>
                  </a:lnTo>
                  <a:cubicBezTo>
                    <a:pt x="986614" y="1230923"/>
                    <a:pt x="987334" y="1221049"/>
                    <a:pt x="992475" y="1213338"/>
                  </a:cubicBezTo>
                  <a:lnTo>
                    <a:pt x="1010060" y="1186961"/>
                  </a:lnTo>
                  <a:cubicBezTo>
                    <a:pt x="1015921" y="1169376"/>
                    <a:pt x="1023148" y="1152189"/>
                    <a:pt x="1027644" y="1134207"/>
                  </a:cubicBezTo>
                  <a:cubicBezTo>
                    <a:pt x="1040664" y="1082132"/>
                    <a:pt x="1047495" y="1058782"/>
                    <a:pt x="1054021" y="993531"/>
                  </a:cubicBezTo>
                  <a:cubicBezTo>
                    <a:pt x="1064301" y="890737"/>
                    <a:pt x="1057038" y="934489"/>
                    <a:pt x="1071606" y="861646"/>
                  </a:cubicBezTo>
                  <a:cubicBezTo>
                    <a:pt x="1081397" y="597286"/>
                    <a:pt x="1088917" y="519865"/>
                    <a:pt x="1071606" y="219807"/>
                  </a:cubicBezTo>
                  <a:cubicBezTo>
                    <a:pt x="1070538" y="201302"/>
                    <a:pt x="1059883" y="184638"/>
                    <a:pt x="1054021" y="167054"/>
                  </a:cubicBezTo>
                  <a:cubicBezTo>
                    <a:pt x="1051090" y="158262"/>
                    <a:pt x="1047477" y="149668"/>
                    <a:pt x="1045229" y="140677"/>
                  </a:cubicBezTo>
                  <a:cubicBezTo>
                    <a:pt x="1038503" y="113770"/>
                    <a:pt x="1039093" y="99372"/>
                    <a:pt x="1018852" y="79131"/>
                  </a:cubicBezTo>
                  <a:cubicBezTo>
                    <a:pt x="1011380" y="71659"/>
                    <a:pt x="1001267" y="67408"/>
                    <a:pt x="992475" y="61546"/>
                  </a:cubicBezTo>
                  <a:cubicBezTo>
                    <a:pt x="981025" y="44370"/>
                    <a:pt x="971688" y="23037"/>
                    <a:pt x="948514" y="17584"/>
                  </a:cubicBezTo>
                  <a:cubicBezTo>
                    <a:pt x="908168" y="8091"/>
                    <a:pt x="825421" y="0"/>
                    <a:pt x="825421" y="0"/>
                  </a:cubicBezTo>
                  <a:lnTo>
                    <a:pt x="684744" y="8792"/>
                  </a:lnTo>
                  <a:cubicBezTo>
                    <a:pt x="643700" y="11528"/>
                    <a:pt x="602738" y="15580"/>
                    <a:pt x="561652" y="17584"/>
                  </a:cubicBezTo>
                  <a:cubicBezTo>
                    <a:pt x="482561" y="21442"/>
                    <a:pt x="403433" y="25012"/>
                    <a:pt x="324260" y="26377"/>
                  </a:cubicBezTo>
                  <a:cubicBezTo>
                    <a:pt x="233420" y="27943"/>
                    <a:pt x="76610" y="33703"/>
                    <a:pt x="25321" y="4396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4" name="Content Placeholder 2"/>
          <p:cNvSpPr txBox="1">
            <a:spLocks/>
          </p:cNvSpPr>
          <p:nvPr/>
        </p:nvSpPr>
        <p:spPr>
          <a:xfrm>
            <a:off x="179512" y="3212976"/>
            <a:ext cx="4544969" cy="212251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>
                <a:latin typeface="Arial" pitchFamily="34" charset="0"/>
                <a:cs typeface="Arial" pitchFamily="34" charset="0"/>
              </a:rPr>
              <a:t>The Earth is a differentiated planet.</a:t>
            </a:r>
          </a:p>
          <a:p>
            <a:endParaRPr lang="en-GB" sz="2400" b="1" dirty="0">
              <a:latin typeface="Arial" pitchFamily="34" charset="0"/>
              <a:cs typeface="Arial" pitchFamily="34" charset="0"/>
            </a:endParaRPr>
          </a:p>
          <a:p>
            <a:endParaRPr lang="en-GB" sz="2400" b="1" dirty="0">
              <a:latin typeface="Arial" pitchFamily="34" charset="0"/>
              <a:cs typeface="Arial" pitchFamily="34" charset="0"/>
            </a:endParaRPr>
          </a:p>
          <a:p>
            <a:r>
              <a:rPr lang="en-GB" sz="2400" b="1" dirty="0">
                <a:latin typeface="Arial" pitchFamily="34" charset="0"/>
                <a:cs typeface="Arial" pitchFamily="34" charset="0"/>
              </a:rPr>
              <a:t>What are the five main Earth “spheres” (debatably four)?</a:t>
            </a:r>
          </a:p>
          <a:p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578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565" y="654195"/>
            <a:ext cx="2913313" cy="5480277"/>
          </a:xfrm>
          <a:prstGeom prst="rect">
            <a:avLst/>
          </a:prstGeom>
        </p:spPr>
      </p:pic>
      <p:sp>
        <p:nvSpPr>
          <p:cNvPr id="64" name="Content Placeholder 2"/>
          <p:cNvSpPr txBox="1">
            <a:spLocks/>
          </p:cNvSpPr>
          <p:nvPr/>
        </p:nvSpPr>
        <p:spPr>
          <a:xfrm>
            <a:off x="2699792" y="3239262"/>
            <a:ext cx="3816424" cy="530271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2. Cryosphere (water ice)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3. Hydrosphere (liquid water)</a:t>
            </a:r>
          </a:p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4. Biosphere (sum of all life)</a:t>
            </a:r>
          </a:p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5. Geosphere </a:t>
            </a:r>
          </a:p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    </a:t>
            </a:r>
            <a:r>
              <a:rPr lang="en-GB" sz="1400" b="1" dirty="0">
                <a:latin typeface="Arial" pitchFamily="34" charset="0"/>
                <a:cs typeface="Arial" pitchFamily="34" charset="0"/>
              </a:rPr>
              <a:t>- Lithosphere</a:t>
            </a:r>
          </a:p>
          <a:p>
            <a:pPr marL="0" indent="0">
              <a:buFont typeface="Arial" pitchFamily="34" charset="0"/>
              <a:buNone/>
            </a:pPr>
            <a:r>
              <a:rPr lang="en-GB" sz="1400" b="1" dirty="0">
                <a:latin typeface="Arial" pitchFamily="34" charset="0"/>
                <a:cs typeface="Arial" pitchFamily="34" charset="0"/>
              </a:rPr>
              <a:t>     - Asthenosphere</a:t>
            </a:r>
          </a:p>
          <a:p>
            <a:pPr marL="0" indent="0">
              <a:buFont typeface="Arial" pitchFamily="34" charset="0"/>
              <a:buNone/>
            </a:pPr>
            <a:r>
              <a:rPr lang="en-GB" sz="1400" b="1" dirty="0">
                <a:latin typeface="Arial" pitchFamily="34" charset="0"/>
                <a:cs typeface="Arial" pitchFamily="34" charset="0"/>
              </a:rPr>
              <a:t>     - Remaining mantle</a:t>
            </a:r>
          </a:p>
          <a:p>
            <a:pPr marL="0" indent="0">
              <a:buFont typeface="Arial" pitchFamily="34" charset="0"/>
              <a:buNone/>
            </a:pPr>
            <a:r>
              <a:rPr lang="en-GB" sz="1400" b="1" dirty="0">
                <a:latin typeface="Arial" pitchFamily="34" charset="0"/>
                <a:cs typeface="Arial" pitchFamily="34" charset="0"/>
              </a:rPr>
              <a:t>     - Outer and inner core</a:t>
            </a:r>
          </a:p>
          <a:p>
            <a:endParaRPr lang="en-GB" sz="1400" b="1" dirty="0">
              <a:latin typeface="Arial" pitchFamily="34" charset="0"/>
              <a:cs typeface="Arial" pitchFamily="34" charset="0"/>
            </a:endParaRPr>
          </a:p>
          <a:p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228343" y="1635896"/>
            <a:ext cx="3816424" cy="589823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1. Atmosphere</a:t>
            </a:r>
          </a:p>
        </p:txBody>
      </p:sp>
      <p:sp>
        <p:nvSpPr>
          <p:cNvPr id="14" name="Left Bracket 13"/>
          <p:cNvSpPr/>
          <p:nvPr/>
        </p:nvSpPr>
        <p:spPr>
          <a:xfrm flipH="1">
            <a:off x="3005494" y="973340"/>
            <a:ext cx="147321" cy="1989002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Left Bracket 29"/>
          <p:cNvSpPr/>
          <p:nvPr/>
        </p:nvSpPr>
        <p:spPr>
          <a:xfrm flipH="1">
            <a:off x="2470864" y="3060228"/>
            <a:ext cx="156920" cy="2945912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Straight Arrow Connector 31"/>
          <p:cNvCxnSpPr/>
          <p:nvPr/>
        </p:nvCxnSpPr>
        <p:spPr>
          <a:xfrm flipH="1" flipV="1">
            <a:off x="315030" y="891163"/>
            <a:ext cx="427257" cy="1946625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 rot="20953981">
            <a:off x="363214" y="626887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500 km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751410" y="2962342"/>
            <a:ext cx="600380" cy="299485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 rot="20948999">
            <a:off x="994764" y="5878289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6300 km</a:t>
            </a:r>
          </a:p>
        </p:txBody>
      </p:sp>
      <p:sp>
        <p:nvSpPr>
          <p:cNvPr id="46" name="Content Placeholder 2"/>
          <p:cNvSpPr txBox="1">
            <a:spLocks/>
          </p:cNvSpPr>
          <p:nvPr/>
        </p:nvSpPr>
        <p:spPr>
          <a:xfrm>
            <a:off x="7534221" y="476672"/>
            <a:ext cx="1584176" cy="119825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% by mass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 rot="16200000">
            <a:off x="4900399" y="1668753"/>
            <a:ext cx="1024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Gases</a:t>
            </a:r>
          </a:p>
        </p:txBody>
      </p:sp>
      <p:sp>
        <p:nvSpPr>
          <p:cNvPr id="56" name="TextBox 55"/>
          <p:cNvSpPr txBox="1"/>
          <p:nvPr/>
        </p:nvSpPr>
        <p:spPr>
          <a:xfrm rot="16200000">
            <a:off x="4581593" y="4988342"/>
            <a:ext cx="1537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Solid Earth</a:t>
            </a:r>
          </a:p>
        </p:txBody>
      </p:sp>
      <p:pic>
        <p:nvPicPr>
          <p:cNvPr id="58" name="Picture 2" descr="Related image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704876" y="893572"/>
            <a:ext cx="1324211" cy="1241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58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5203" y="2261724"/>
            <a:ext cx="1274257" cy="1341324"/>
          </a:xfrm>
          <a:prstGeom prst="rect">
            <a:avLst/>
          </a:prstGeom>
        </p:spPr>
      </p:pic>
      <p:pic>
        <p:nvPicPr>
          <p:cNvPr id="60" name="Picture 4" descr="https://i.stack.imgur.com/ajURi.jpg"/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704667" y="5006668"/>
            <a:ext cx="1324699" cy="1287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60"/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0657" y="3701884"/>
            <a:ext cx="1274258" cy="1243918"/>
          </a:xfrm>
          <a:prstGeom prst="rect">
            <a:avLst/>
          </a:prstGeom>
        </p:spPr>
      </p:pic>
      <p:sp>
        <p:nvSpPr>
          <p:cNvPr id="62" name="Content Placeholder 2"/>
          <p:cNvSpPr txBox="1">
            <a:spLocks/>
          </p:cNvSpPr>
          <p:nvPr/>
        </p:nvSpPr>
        <p:spPr>
          <a:xfrm>
            <a:off x="6359077" y="1316895"/>
            <a:ext cx="1584176" cy="432147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1600" b="1" dirty="0">
                <a:latin typeface="Arial" pitchFamily="34" charset="0"/>
                <a:cs typeface="Arial" pitchFamily="34" charset="0"/>
              </a:rPr>
              <a:t>Universe</a:t>
            </a:r>
          </a:p>
        </p:txBody>
      </p:sp>
      <p:sp>
        <p:nvSpPr>
          <p:cNvPr id="63" name="Content Placeholder 2"/>
          <p:cNvSpPr txBox="1">
            <a:spLocks/>
          </p:cNvSpPr>
          <p:nvPr/>
        </p:nvSpPr>
        <p:spPr>
          <a:xfrm>
            <a:off x="6249428" y="2702398"/>
            <a:ext cx="1706948" cy="432147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1600" b="1" dirty="0">
                <a:latin typeface="Arial" pitchFamily="34" charset="0"/>
                <a:cs typeface="Arial" pitchFamily="34" charset="0"/>
              </a:rPr>
              <a:t>Atmosphere</a:t>
            </a:r>
          </a:p>
        </p:txBody>
      </p:sp>
      <p:sp>
        <p:nvSpPr>
          <p:cNvPr id="66" name="Content Placeholder 2"/>
          <p:cNvSpPr txBox="1">
            <a:spLocks/>
          </p:cNvSpPr>
          <p:nvPr/>
        </p:nvSpPr>
        <p:spPr>
          <a:xfrm>
            <a:off x="6372200" y="3989817"/>
            <a:ext cx="1872208" cy="432147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1600" b="1" dirty="0" err="1">
                <a:latin typeface="Arial" pitchFamily="34" charset="0"/>
                <a:cs typeface="Arial" pitchFamily="34" charset="0"/>
              </a:rPr>
              <a:t>Cryo</a:t>
            </a:r>
            <a:r>
              <a:rPr lang="en-GB" sz="1600" b="1" dirty="0">
                <a:latin typeface="Arial" pitchFamily="34" charset="0"/>
                <a:cs typeface="Arial" pitchFamily="34" charset="0"/>
              </a:rPr>
              <a:t>- and</a:t>
            </a:r>
          </a:p>
          <a:p>
            <a:pPr marL="0" indent="0">
              <a:buFont typeface="Arial" pitchFamily="34" charset="0"/>
              <a:buNone/>
            </a:pPr>
            <a:r>
              <a:rPr lang="en-GB" sz="1600" b="1" dirty="0">
                <a:latin typeface="Arial" pitchFamily="34" charset="0"/>
                <a:cs typeface="Arial" pitchFamily="34" charset="0"/>
              </a:rPr>
              <a:t>hydrosphere</a:t>
            </a:r>
          </a:p>
        </p:txBody>
      </p:sp>
      <p:sp>
        <p:nvSpPr>
          <p:cNvPr id="67" name="Content Placeholder 2"/>
          <p:cNvSpPr txBox="1">
            <a:spLocks/>
          </p:cNvSpPr>
          <p:nvPr/>
        </p:nvSpPr>
        <p:spPr>
          <a:xfrm>
            <a:off x="6372200" y="5429977"/>
            <a:ext cx="1872208" cy="432147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1600" b="1" dirty="0">
                <a:latin typeface="Arial" pitchFamily="34" charset="0"/>
                <a:cs typeface="Arial" pitchFamily="34" charset="0"/>
              </a:rPr>
              <a:t>Geosphere</a:t>
            </a: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528262" y="1614812"/>
            <a:ext cx="587354" cy="35141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1 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1961970" y="2662081"/>
            <a:ext cx="587354" cy="35141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2 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821939" y="2783131"/>
            <a:ext cx="587354" cy="35141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3 </a:t>
            </a:r>
            <a:endParaRPr lang="en-GB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Content Placeholder 2"/>
          <p:cNvSpPr txBox="1">
            <a:spLocks/>
          </p:cNvSpPr>
          <p:nvPr/>
        </p:nvSpPr>
        <p:spPr>
          <a:xfrm>
            <a:off x="1668293" y="2837788"/>
            <a:ext cx="587354" cy="35141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4 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Content Placeholder 2"/>
          <p:cNvSpPr txBox="1">
            <a:spLocks/>
          </p:cNvSpPr>
          <p:nvPr/>
        </p:nvSpPr>
        <p:spPr>
          <a:xfrm>
            <a:off x="1051600" y="3844415"/>
            <a:ext cx="587354" cy="35141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5 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669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592" y="404664"/>
            <a:ext cx="7344816" cy="4515823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7504" y="5157192"/>
            <a:ext cx="9036496" cy="1700808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Much of what we observe at the Earth’s surface today is the result of two major interacting cycles: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the </a:t>
            </a:r>
            <a:r>
              <a:rPr lang="en-GB" sz="2000" b="1" u="sng" dirty="0">
                <a:latin typeface="Arial" pitchFamily="34" charset="0"/>
                <a:cs typeface="Arial" pitchFamily="34" charset="0"/>
              </a:rPr>
              <a:t>Rock Cycle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, driven by the Earth’s internal heat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the </a:t>
            </a:r>
            <a:r>
              <a:rPr lang="en-GB" sz="2000" b="1" u="sng" dirty="0">
                <a:latin typeface="Arial" pitchFamily="34" charset="0"/>
                <a:cs typeface="Arial" pitchFamily="34" charset="0"/>
              </a:rPr>
              <a:t>Hydrological Cycle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, driven by the sun’s energy</a:t>
            </a:r>
          </a:p>
          <a:p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589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576" y="764704"/>
            <a:ext cx="7261335" cy="4464496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7504" y="5753439"/>
            <a:ext cx="8928992" cy="771905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Rhodri will predominantly be dealing with the </a:t>
            </a:r>
            <a:r>
              <a:rPr lang="en-GB" sz="2000" b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Geosphere</a:t>
            </a:r>
            <a:r>
              <a:rPr lang="en-GB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and the </a:t>
            </a:r>
            <a:r>
              <a:rPr lang="en-GB" sz="2000" b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Rock cycle</a:t>
            </a:r>
            <a:r>
              <a:rPr lang="en-GB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– its </a:t>
            </a:r>
            <a:r>
              <a:rPr lang="en-GB" sz="2000" b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processes</a:t>
            </a:r>
            <a:r>
              <a:rPr lang="en-GB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and </a:t>
            </a:r>
            <a:r>
              <a:rPr lang="en-GB" sz="2000" b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products</a:t>
            </a:r>
            <a:r>
              <a:rPr lang="en-GB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buNone/>
            </a:pPr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L-Shape 1"/>
          <p:cNvSpPr/>
          <p:nvPr/>
        </p:nvSpPr>
        <p:spPr>
          <a:xfrm>
            <a:off x="683568" y="2418453"/>
            <a:ext cx="6712343" cy="2952328"/>
          </a:xfrm>
          <a:prstGeom prst="corner">
            <a:avLst>
              <a:gd name="adj1" fmla="val 79778"/>
              <a:gd name="adj2" fmla="val 139291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255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576" y="685496"/>
            <a:ext cx="7200800" cy="4427277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7504" y="5654047"/>
            <a:ext cx="8928992" cy="799289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David will mainly be dealing with the Atmosphere, Hydrosphere and Cryosphere, and the Hydrological </a:t>
            </a:r>
            <a:r>
              <a:rPr lang="en-GB" sz="2000" b="1" u="sng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Cycle</a:t>
            </a:r>
            <a:r>
              <a:rPr lang="en-GB" sz="20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 – its </a:t>
            </a:r>
            <a:r>
              <a:rPr lang="en-GB" sz="2000" b="1" u="sng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processes</a:t>
            </a:r>
            <a:r>
              <a:rPr lang="en-GB" sz="20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 and </a:t>
            </a:r>
            <a:r>
              <a:rPr lang="en-GB" sz="2000" b="1" u="sng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products</a:t>
            </a:r>
            <a:r>
              <a:rPr lang="en-GB" sz="20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buNone/>
            </a:pPr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L-Shape 7"/>
          <p:cNvSpPr/>
          <p:nvPr/>
        </p:nvSpPr>
        <p:spPr>
          <a:xfrm flipV="1">
            <a:off x="827584" y="620688"/>
            <a:ext cx="6947420" cy="2053890"/>
          </a:xfrm>
          <a:prstGeom prst="corner">
            <a:avLst>
              <a:gd name="adj1" fmla="val 100000"/>
              <a:gd name="adj2" fmla="val 139291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2963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592" y="685496"/>
            <a:ext cx="7200800" cy="4427277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7504" y="5661248"/>
            <a:ext cx="8928992" cy="86409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But the two are not separate closed cycles – they interact, and there are internal feedbacks: emphasis in the latter part of the Unit.</a:t>
            </a:r>
          </a:p>
        </p:txBody>
      </p:sp>
      <p:sp>
        <p:nvSpPr>
          <p:cNvPr id="2" name="L-Shape 1"/>
          <p:cNvSpPr/>
          <p:nvPr/>
        </p:nvSpPr>
        <p:spPr>
          <a:xfrm>
            <a:off x="827584" y="2318417"/>
            <a:ext cx="6743084" cy="2880320"/>
          </a:xfrm>
          <a:prstGeom prst="corner">
            <a:avLst>
              <a:gd name="adj1" fmla="val 79778"/>
              <a:gd name="adj2" fmla="val 139291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L-Shape 6"/>
          <p:cNvSpPr/>
          <p:nvPr/>
        </p:nvSpPr>
        <p:spPr>
          <a:xfrm flipV="1">
            <a:off x="971600" y="620688"/>
            <a:ext cx="6947420" cy="2053890"/>
          </a:xfrm>
          <a:prstGeom prst="corner">
            <a:avLst>
              <a:gd name="adj1" fmla="val 100000"/>
              <a:gd name="adj2" fmla="val 139291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690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7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Geochemical Cycles: what and how?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83142" y="1340768"/>
            <a:ext cx="8928992" cy="504056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Geochemical cycles are the cycle of mass (elements) between the different Earth spheres (or reservoirs).</a:t>
            </a:r>
          </a:p>
          <a:p>
            <a:pPr marL="0" indent="0">
              <a:buNone/>
            </a:pPr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 They are complex, but happen for the following main reasons:</a:t>
            </a:r>
          </a:p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	 Heat (energy is unevenly distributed).</a:t>
            </a:r>
          </a:p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	</a:t>
            </a:r>
          </a:p>
          <a:p>
            <a:pPr marL="0" indent="0">
              <a:buNone/>
            </a:pPr>
            <a:endParaRPr lang="en-GB" sz="2000" b="1" dirty="0">
              <a:latin typeface="Arial" pitchFamily="34" charset="0"/>
              <a:cs typeface="Arial" pitchFamily="34" charset="0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GB" sz="3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Why? Can you give examples?</a:t>
            </a:r>
            <a:endParaRPr lang="en-GB" sz="30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120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seismic tomography mantle convectio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943358" y="1115988"/>
            <a:ext cx="3772855" cy="346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mage result for spin of the earth clima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3527" y="1268760"/>
            <a:ext cx="4127287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54922" y="4941168"/>
            <a:ext cx="4464496" cy="158417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Earth spins – night and day</a:t>
            </a:r>
          </a:p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Earth revolves around the sun on a plane – climate belts</a:t>
            </a:r>
          </a:p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Earth is tilted – seasons. 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450814" y="4941168"/>
            <a:ext cx="4464496" cy="158417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Earth is not spherical and not materially heterogeneous – Some bits just warm up faster than others.</a:t>
            </a:r>
          </a:p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These are SOME reasons.</a:t>
            </a: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7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Geochemical Cycles: what and how?</a:t>
            </a:r>
          </a:p>
        </p:txBody>
      </p:sp>
    </p:spTree>
    <p:extLst>
      <p:ext uri="{BB962C8B-B14F-4D97-AF65-F5344CB8AC3E}">
        <p14:creationId xmlns:p14="http://schemas.microsoft.com/office/powerpoint/2010/main" val="2157577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251520" y="1268760"/>
            <a:ext cx="8568952" cy="158417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These effects generate temperature and pressure gradients in the Earth System.</a:t>
            </a:r>
          </a:p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Mass and energy move through gradients</a:t>
            </a: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7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Geochemical Cycles: what and how?</a:t>
            </a:r>
          </a:p>
        </p:txBody>
      </p:sp>
      <p:pic>
        <p:nvPicPr>
          <p:cNvPr id="5122" name="Picture 2" descr="Image result for arctic from space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2749" y="2522620"/>
            <a:ext cx="4946066" cy="278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mage result for partial meltin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66592" y="1700808"/>
            <a:ext cx="2312894" cy="3705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310534" y="5373216"/>
            <a:ext cx="8568952" cy="127321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Mass can be moved to a new position where new temperature/ pressure profile cause it to become unstable.</a:t>
            </a:r>
          </a:p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Phase or chemical reactions from materials with different physical properties – Gravity is important.</a:t>
            </a:r>
          </a:p>
        </p:txBody>
      </p:sp>
    </p:spTree>
    <p:extLst>
      <p:ext uri="{BB962C8B-B14F-4D97-AF65-F5344CB8AC3E}">
        <p14:creationId xmlns:p14="http://schemas.microsoft.com/office/powerpoint/2010/main" val="3784421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288032" y="0"/>
            <a:ext cx="8855968" cy="92172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The Hydrologic Cycle describes how water flows through the Earth System.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4D2BE6-D39F-D346-AD0B-0B8DA3FBA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32" y="921726"/>
            <a:ext cx="8532440" cy="594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878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The Rock Cycle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7504" y="1268760"/>
            <a:ext cx="8928992" cy="5256584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The Rock cycle is the concept that rocks change their physical and chemical properties when they are forced out of their equilibrium conditions.</a:t>
            </a:r>
          </a:p>
        </p:txBody>
      </p:sp>
      <p:pic>
        <p:nvPicPr>
          <p:cNvPr id="7170" name="Picture 2" descr="Image result for rock cyc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95936" y="2181718"/>
            <a:ext cx="4639390" cy="4522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112040" y="2420888"/>
            <a:ext cx="3883895" cy="424847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Changes in T and P, mainly driven by tectonics</a:t>
            </a:r>
          </a:p>
          <a:p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Aided by the hydrological cycle, gravity, and sometimes life!</a:t>
            </a:r>
          </a:p>
          <a:p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As with all (bio) geochemical cycles, it is not a simple “circular” cycle</a:t>
            </a:r>
          </a:p>
        </p:txBody>
      </p:sp>
    </p:spTree>
    <p:extLst>
      <p:ext uri="{BB962C8B-B14F-4D97-AF65-F5344CB8AC3E}">
        <p14:creationId xmlns:p14="http://schemas.microsoft.com/office/powerpoint/2010/main" val="3130447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Recap: Structure of the Solid Earth</a:t>
            </a:r>
          </a:p>
        </p:txBody>
      </p:sp>
      <p:pic>
        <p:nvPicPr>
          <p:cNvPr id="1028" name="Picture 4" descr="https://scx2.b-cdn.net/gfx/news/hires/2015/3-whataretheea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86091" y="3184963"/>
            <a:ext cx="5058896" cy="3556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79511" y="1142774"/>
            <a:ext cx="6048672" cy="5589240"/>
          </a:xfrm>
          <a:noFill/>
        </p:spPr>
        <p:txBody>
          <a:bodyPr>
            <a:noAutofit/>
          </a:bodyPr>
          <a:lstStyle/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Differentiated planet – undergone partial melting during formation.</a:t>
            </a:r>
          </a:p>
          <a:p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“Popular” “chemical” model</a:t>
            </a:r>
          </a:p>
          <a:p>
            <a:pPr lvl="1"/>
            <a:r>
              <a:rPr lang="en-GB" sz="1600" b="1" dirty="0">
                <a:latin typeface="Arial" pitchFamily="34" charset="0"/>
                <a:cs typeface="Arial" pitchFamily="34" charset="0"/>
              </a:rPr>
              <a:t>Based on major changes in composition</a:t>
            </a:r>
          </a:p>
          <a:p>
            <a:pPr lvl="1"/>
            <a:r>
              <a:rPr lang="en-GB" sz="1600" b="1" dirty="0">
                <a:latin typeface="Arial" pitchFamily="34" charset="0"/>
                <a:cs typeface="Arial" pitchFamily="34" charset="0"/>
              </a:rPr>
              <a:t>Crust, Mantle and Core (inner and outer)</a:t>
            </a:r>
          </a:p>
          <a:p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79511" y="3248005"/>
            <a:ext cx="3518642" cy="1378777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“Mechanical” model</a:t>
            </a:r>
          </a:p>
          <a:p>
            <a:pPr lvl="1"/>
            <a:r>
              <a:rPr lang="en-GB" sz="1600" b="1" dirty="0">
                <a:latin typeface="Arial" pitchFamily="34" charset="0"/>
                <a:cs typeface="Arial" pitchFamily="34" charset="0"/>
              </a:rPr>
              <a:t>Based on changes in the “rheological” (m. study of flow) behaviour</a:t>
            </a:r>
          </a:p>
          <a:p>
            <a:pPr lvl="1"/>
            <a:r>
              <a:rPr lang="en-GB" sz="1600" b="1" dirty="0">
                <a:latin typeface="Arial" pitchFamily="34" charset="0"/>
                <a:cs typeface="Arial" pitchFamily="34" charset="0"/>
              </a:rPr>
              <a:t>Lithosphere, Asthenosphere, Outer      Core and Inner Core</a:t>
            </a:r>
          </a:p>
          <a:p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The latter more useful for understanding tectonics and the Rock Cycle</a:t>
            </a:r>
            <a:endParaRPr lang="en-GB" sz="16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30" name="Picture 6" descr="https://upload.wikimedia.org/wikipedia/commons/2/2a/Refraction_of_P-wave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15539" y="1131314"/>
            <a:ext cx="2194235" cy="191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491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179512" y="1340768"/>
            <a:ext cx="4953000" cy="2265363"/>
            <a:chOff x="144" y="576"/>
            <a:chExt cx="3120" cy="1427"/>
          </a:xfrm>
        </p:grpSpPr>
        <p:graphicFrame>
          <p:nvGraphicFramePr>
            <p:cNvPr id="6" name="Object 26"/>
            <p:cNvGraphicFramePr>
              <a:graphicFrameLocks noChangeAspect="1"/>
            </p:cNvGraphicFramePr>
            <p:nvPr/>
          </p:nvGraphicFramePr>
          <p:xfrm>
            <a:off x="658" y="588"/>
            <a:ext cx="1187" cy="1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" name="CorelDRAW" r:id="rId3" imgW="1989720" imgH="2327760" progId="CorelDraw.Graphic.13">
                    <p:embed/>
                  </p:oleObj>
                </mc:Choice>
                <mc:Fallback>
                  <p:oleObj name="CorelDRAW" r:id="rId3" imgW="1989720" imgH="2327760" progId="CorelDraw.Graphic.13">
                    <p:embed/>
                    <p:pic>
                      <p:nvPicPr>
                        <p:cNvPr id="6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8" y="588"/>
                          <a:ext cx="1187" cy="1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27"/>
            <p:cNvSpPr txBox="1">
              <a:spLocks noChangeArrowheads="1"/>
            </p:cNvSpPr>
            <p:nvPr/>
          </p:nvSpPr>
          <p:spPr bwMode="auto">
            <a:xfrm>
              <a:off x="1803" y="839"/>
              <a:ext cx="1461" cy="8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u="sng" dirty="0">
                  <a:solidFill>
                    <a:srgbClr val="000000"/>
                  </a:solidFill>
                </a:rPr>
                <a:t>Continental</a:t>
              </a:r>
              <a:r>
                <a:rPr lang="en-US" dirty="0">
                  <a:solidFill>
                    <a:srgbClr val="000000"/>
                  </a:solidFill>
                </a:rPr>
                <a:t> - granitic 2.8g/cm</a:t>
              </a:r>
              <a:r>
                <a:rPr lang="en-US" baseline="30000" dirty="0">
                  <a:solidFill>
                    <a:srgbClr val="000000"/>
                  </a:solidFill>
                </a:rPr>
                <a:t>3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u="sng" dirty="0">
                  <a:solidFill>
                    <a:srgbClr val="000000"/>
                  </a:solidFill>
                </a:rPr>
                <a:t>Oceanic </a:t>
              </a:r>
              <a:r>
                <a:rPr lang="en-US" dirty="0">
                  <a:solidFill>
                    <a:srgbClr val="000000"/>
                  </a:solidFill>
                </a:rPr>
                <a:t>– basaltic 3.0g/cm</a:t>
              </a:r>
              <a:r>
                <a:rPr lang="en-US" baseline="300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8" name="Line 28"/>
            <p:cNvSpPr>
              <a:spLocks noChangeShapeType="1"/>
            </p:cNvSpPr>
            <p:nvPr/>
          </p:nvSpPr>
          <p:spPr bwMode="auto">
            <a:xfrm flipH="1">
              <a:off x="672" y="1176"/>
              <a:ext cx="221" cy="421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" name="Rectangle 29"/>
            <p:cNvSpPr>
              <a:spLocks noChangeArrowheads="1"/>
            </p:cNvSpPr>
            <p:nvPr/>
          </p:nvSpPr>
          <p:spPr bwMode="auto">
            <a:xfrm>
              <a:off x="144" y="1596"/>
              <a:ext cx="761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 err="1"/>
                <a:t>Peridotite</a:t>
              </a:r>
              <a:r>
                <a:rPr lang="en-US" dirty="0"/>
                <a:t> </a:t>
              </a:r>
            </a:p>
            <a:p>
              <a:r>
                <a:rPr lang="en-US" dirty="0"/>
                <a:t>&gt;3.3 g/cm</a:t>
              </a:r>
              <a:r>
                <a:rPr lang="en-US" baseline="30000" dirty="0"/>
                <a:t>3</a:t>
              </a:r>
              <a:endParaRPr lang="en-GB" baseline="30000" dirty="0"/>
            </a:p>
          </p:txBody>
        </p:sp>
        <p:sp>
          <p:nvSpPr>
            <p:cNvPr id="10" name="Line 30"/>
            <p:cNvSpPr>
              <a:spLocks noChangeShapeType="1"/>
            </p:cNvSpPr>
            <p:nvPr/>
          </p:nvSpPr>
          <p:spPr bwMode="auto">
            <a:xfrm>
              <a:off x="1773" y="713"/>
              <a:ext cx="309" cy="168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" name="Text Box 31"/>
            <p:cNvSpPr txBox="1">
              <a:spLocks noChangeArrowheads="1"/>
            </p:cNvSpPr>
            <p:nvPr/>
          </p:nvSpPr>
          <p:spPr bwMode="auto">
            <a:xfrm>
              <a:off x="889" y="1015"/>
              <a:ext cx="752" cy="7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600" b="1" dirty="0"/>
                <a:t>MANTLE</a:t>
              </a:r>
            </a:p>
            <a:p>
              <a:pPr algn="ctr" eaLnBrk="0" hangingPunct="0">
                <a:spcBef>
                  <a:spcPct val="50000"/>
                </a:spcBef>
              </a:pPr>
              <a:r>
                <a:rPr lang="en-US" sz="1600" dirty="0">
                  <a:latin typeface="Comic Sans MS" pitchFamily="66" charset="0"/>
                </a:rPr>
                <a:t>down to 2900 km depth</a:t>
              </a:r>
            </a:p>
          </p:txBody>
        </p:sp>
        <p:sp>
          <p:nvSpPr>
            <p:cNvPr id="12" name="Text Box 32"/>
            <p:cNvSpPr txBox="1">
              <a:spLocks noChangeArrowheads="1"/>
            </p:cNvSpPr>
            <p:nvPr/>
          </p:nvSpPr>
          <p:spPr bwMode="auto">
            <a:xfrm>
              <a:off x="676" y="576"/>
              <a:ext cx="1145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Lithosphere </a:t>
              </a:r>
            </a:p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mic Sans MS" pitchFamily="66" charset="0"/>
                </a:rPr>
                <a:t>30-70 km thick</a:t>
              </a:r>
              <a:endParaRPr lang="en-GB" sz="1600" dirty="0">
                <a:solidFill>
                  <a:srgbClr val="000000"/>
                </a:solidFill>
                <a:latin typeface="Comic Sans MS" pitchFamily="66" charset="0"/>
              </a:endParaRPr>
            </a:p>
          </p:txBody>
        </p:sp>
      </p:grp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5076056" y="1340768"/>
            <a:ext cx="3888432" cy="2160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15875">
              <a:lnSpc>
                <a:spcPct val="8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sz="1500" u="sng" dirty="0">
                <a:latin typeface="Arial" pitchFamily="34" charset="0"/>
                <a:cs typeface="Arial" pitchFamily="34" charset="0"/>
              </a:rPr>
              <a:t>asthenosphere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 is weak, and undergoes low rates of ductile deformation as a result of thermal gradients (convection) – it is plastic.</a:t>
            </a:r>
          </a:p>
          <a:p>
            <a:pPr marL="0" marR="0" lvl="0" indent="15875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500" dirty="0">
              <a:latin typeface="Arial" pitchFamily="34" charset="0"/>
              <a:cs typeface="Arial" pitchFamily="34" charset="0"/>
            </a:endParaRPr>
          </a:p>
          <a:p>
            <a:pPr marL="0" marR="0" lvl="0" indent="15875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50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Overlying</a:t>
            </a:r>
            <a:r>
              <a:rPr kumimoji="0" lang="en-US" sz="1500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1500" u="sng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l</a:t>
            </a:r>
            <a:r>
              <a:rPr kumimoji="0" lang="en-US" sz="150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ithosphere</a:t>
            </a:r>
            <a:r>
              <a:rPr kumimoji="0" lang="en-US" sz="150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is rigid enough to comprise a number of relatively coherent plates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, that move relative to each other as a result of </a:t>
            </a:r>
            <a:r>
              <a:rPr lang="en-US" sz="1500" dirty="0" err="1">
                <a:latin typeface="Arial" pitchFamily="34" charset="0"/>
                <a:cs typeface="Arial" pitchFamily="34" charset="0"/>
              </a:rPr>
              <a:t>asthenospheric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 deformation – it is brittle.</a:t>
            </a:r>
            <a:endParaRPr kumimoji="0" lang="en-US" sz="1500" strike="noStrike" kern="1200" cap="none" spc="0" normalizeH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15875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1500" baseline="0" dirty="0">
              <a:latin typeface="Arial" pitchFamily="34" charset="0"/>
              <a:cs typeface="Arial" pitchFamily="34" charset="0"/>
            </a:endParaRPr>
          </a:p>
          <a:p>
            <a:pPr marL="0" marR="0" lvl="0" indent="15875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150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14" name="Picture 4" descr="figure 20-12.jpg                                               0000D7E6Macintosh HD                   ABA78158: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75856" y="3555619"/>
            <a:ext cx="5758826" cy="322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107504" y="3861048"/>
            <a:ext cx="31683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Both"/>
            </a:pPr>
            <a:r>
              <a:rPr lang="en-GB" sz="1500" b="1" u="sng" dirty="0">
                <a:solidFill>
                  <a:srgbClr val="E1AA1F"/>
                </a:solidFill>
                <a:latin typeface="Arial" pitchFamily="34" charset="0"/>
                <a:cs typeface="Arial" pitchFamily="34" charset="0"/>
              </a:rPr>
              <a:t>Divergent: leading to thinning of the lithosphere</a:t>
            </a:r>
          </a:p>
          <a:p>
            <a:pPr marL="342900" indent="-342900">
              <a:buAutoNum type="arabicParenBoth"/>
            </a:pPr>
            <a:endParaRPr lang="en-GB" sz="15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AutoNum type="arabicParenBoth"/>
            </a:pPr>
            <a:r>
              <a:rPr lang="en-GB" sz="15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Convergent: leading to thickening of the lithosphere</a:t>
            </a:r>
          </a:p>
          <a:p>
            <a:pPr marL="342900" indent="-342900">
              <a:buAutoNum type="arabicParenBoth"/>
            </a:pPr>
            <a:endParaRPr lang="en-GB" sz="1500" dirty="0">
              <a:solidFill>
                <a:schemeClr val="accent3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AutoNum type="arabicParenBoth"/>
            </a:pPr>
            <a:r>
              <a:rPr lang="en-GB" sz="1500" b="1" u="sng" dirty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Conservative: little change in </a:t>
            </a:r>
            <a:r>
              <a:rPr lang="en-GB" sz="1500" b="1" u="sng" dirty="0" err="1">
                <a:solidFill>
                  <a:schemeClr val="accent3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lithospheric</a:t>
            </a:r>
            <a:r>
              <a:rPr lang="en-GB" sz="1500" b="1" u="sng" dirty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thickness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7504" y="1268760"/>
            <a:ext cx="8856984" cy="5529128"/>
            <a:chOff x="107504" y="1268760"/>
            <a:chExt cx="8856984" cy="5529128"/>
          </a:xfrm>
        </p:grpSpPr>
        <p:sp>
          <p:nvSpPr>
            <p:cNvPr id="2" name="Rounded Rectangle 1"/>
            <p:cNvSpPr/>
            <p:nvPr/>
          </p:nvSpPr>
          <p:spPr>
            <a:xfrm>
              <a:off x="5004048" y="1268760"/>
              <a:ext cx="3960440" cy="2160240"/>
            </a:xfrm>
            <a:prstGeom prst="roundRect">
              <a:avLst/>
            </a:prstGeom>
            <a:noFill/>
            <a:ln w="762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7504" y="3728368"/>
              <a:ext cx="3096344" cy="2148904"/>
            </a:xfrm>
            <a:prstGeom prst="roundRect">
              <a:avLst/>
            </a:prstGeom>
            <a:noFill/>
            <a:ln w="762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3"/>
            <p:cNvSpPr txBox="1">
              <a:spLocks noChangeArrowheads="1"/>
            </p:cNvSpPr>
            <p:nvPr/>
          </p:nvSpPr>
          <p:spPr>
            <a:xfrm>
              <a:off x="270818" y="6055335"/>
              <a:ext cx="2705671" cy="74255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15875" algn="l" defTabSz="914400" rtl="0" eaLnBrk="1" fontAlgn="auto" latinLnBrk="0" hangingPunct="1">
                <a:lnSpc>
                  <a:spcPct val="8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0" lang="en-GB" sz="2000" b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itchFamily="34" charset="0"/>
                  <a:cs typeface="Arial" pitchFamily="34" charset="0"/>
                </a:rPr>
                <a:t>We will revisit this in much more detail</a:t>
              </a:r>
            </a:p>
          </p:txBody>
        </p:sp>
      </p:grpSp>
      <p:sp>
        <p:nvSpPr>
          <p:cNvPr id="18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Recap: Structure of the Solid Earth</a:t>
            </a:r>
          </a:p>
        </p:txBody>
      </p:sp>
    </p:spTree>
    <p:extLst>
      <p:ext uri="{BB962C8B-B14F-4D97-AF65-F5344CB8AC3E}">
        <p14:creationId xmlns:p14="http://schemas.microsoft.com/office/powerpoint/2010/main" val="3148447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llustration of the Wilson cyc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512" y="1124744"/>
            <a:ext cx="4116710" cy="558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4008" y="1268760"/>
            <a:ext cx="4392488" cy="416024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Mature (eroded) continental crust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644008" y="2004864"/>
            <a:ext cx="4392488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Continental rifting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644008" y="2796952"/>
            <a:ext cx="4392488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Formation of first oceanic crust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644008" y="3661048"/>
            <a:ext cx="4392488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Mature ocean formed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644008" y="4293096"/>
            <a:ext cx="4392488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Incipience of ocean-continent subduction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644008" y="5157192"/>
            <a:ext cx="4392488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Closing ocean (subduction of spreading centre)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644008" y="6253336"/>
            <a:ext cx="4392488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Docking of continents, </a:t>
            </a:r>
            <a:r>
              <a:rPr lang="en-GB" sz="2000" b="1" dirty="0" err="1">
                <a:latin typeface="Arial" pitchFamily="34" charset="0"/>
                <a:cs typeface="Arial" pitchFamily="34" charset="0"/>
              </a:rPr>
              <a:t>orogenesis</a:t>
            </a:r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6516216" y="1628800"/>
            <a:ext cx="0" cy="44807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516216" y="2404864"/>
            <a:ext cx="0" cy="44807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516216" y="3212976"/>
            <a:ext cx="0" cy="44807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516216" y="3989040"/>
            <a:ext cx="0" cy="44807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516216" y="4709120"/>
            <a:ext cx="0" cy="44807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516216" y="5861248"/>
            <a:ext cx="0" cy="44807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8892480" y="1684784"/>
            <a:ext cx="0" cy="44005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Recap (sem. 1): Tectonics</a:t>
            </a:r>
          </a:p>
        </p:txBody>
      </p:sp>
    </p:spTree>
    <p:extLst>
      <p:ext uri="{BB962C8B-B14F-4D97-AF65-F5344CB8AC3E}">
        <p14:creationId xmlns:p14="http://schemas.microsoft.com/office/powerpoint/2010/main" val="506909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D86764-73D4-114E-8B5B-DB2604056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990600"/>
            <a:ext cx="8153400" cy="2895600"/>
          </a:xfrm>
          <a:prstGeom prst="rect">
            <a:avLst/>
          </a:prstGeom>
          <a:noFill/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4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oudy Old Style" panose="02020502050305020303" pitchFamily="18" charset="77"/>
              </a:rPr>
              <a:t>On your computer’s or phone’s web browser, go to </a:t>
            </a:r>
          </a:p>
          <a:p>
            <a:pPr algn="ctr" eaLnBrk="1" hangingPunct="1"/>
            <a:endParaRPr lang="en-US" altLang="en-US" sz="44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oudy Old Style" panose="02020502050305020303" pitchFamily="18" charset="77"/>
            </a:endParaRPr>
          </a:p>
          <a:p>
            <a:pPr algn="ctr" eaLnBrk="1" hangingPunct="1"/>
            <a:r>
              <a:rPr lang="en-US" altLang="en-US" sz="7200" b="1">
                <a:solidFill>
                  <a:srgbClr val="E9F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oudy Old Style" panose="02020502050305020303" pitchFamily="18" charset="77"/>
              </a:rPr>
              <a:t>kahoot.it</a:t>
            </a:r>
          </a:p>
        </p:txBody>
      </p:sp>
      <p:sp>
        <p:nvSpPr>
          <p:cNvPr id="139267" name="TextBox 1">
            <a:extLst>
              <a:ext uri="{FF2B5EF4-FFF2-40B4-BE49-F238E27FC236}">
                <a16:creationId xmlns:a16="http://schemas.microsoft.com/office/drawing/2014/main" id="{73629884-F87B-D342-B91A-E16A1632E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5037138"/>
            <a:ext cx="185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6DB5E490-4FCF-E44A-9663-9A0D092D2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181600"/>
            <a:ext cx="7848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457200">
              <a:defRPr/>
            </a:pPr>
            <a:r>
              <a:rPr lang="en-US" sz="3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oudy Old Style" charset="0"/>
                <a:ea typeface="ＭＳ Ｐゴシック" charset="0"/>
                <a:cs typeface="Goudy Old Style" charset="0"/>
              </a:rPr>
              <a:t>You can download the </a:t>
            </a:r>
            <a:r>
              <a:rPr lang="en-US" sz="3600" b="1" dirty="0" err="1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oudy Old Style" charset="0"/>
                <a:ea typeface="ＭＳ Ｐゴシック" charset="0"/>
                <a:cs typeface="Goudy Old Style" charset="0"/>
              </a:rPr>
              <a:t>kahoot</a:t>
            </a:r>
            <a:r>
              <a:rPr lang="en-US" sz="36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oudy Old Style" charset="0"/>
                <a:ea typeface="ＭＳ Ｐゴシック" charset="0"/>
                <a:cs typeface="Goudy Old Style" charset="0"/>
              </a:rPr>
              <a:t> app</a:t>
            </a:r>
            <a:r>
              <a:rPr lang="en-US" sz="3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oudy Old Style" charset="0"/>
                <a:ea typeface="ＭＳ Ｐゴシック" charset="0"/>
                <a:cs typeface="Goudy Old Style" charset="0"/>
              </a:rPr>
              <a:t> or </a:t>
            </a:r>
            <a:r>
              <a:rPr lang="en-US" sz="36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oudy Old Style" charset="0"/>
                <a:ea typeface="ＭＳ Ｐゴシック" charset="0"/>
                <a:cs typeface="Goudy Old Style" charset="0"/>
              </a:rPr>
              <a:t>bookmark </a:t>
            </a:r>
            <a:r>
              <a:rPr lang="en-US" sz="3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oudy Old Style" charset="0"/>
                <a:ea typeface="ＭＳ Ｐゴシック" charset="0"/>
                <a:cs typeface="Goudy Old Style" charset="0"/>
              </a:rPr>
              <a:t>the website for future lectures.</a:t>
            </a:r>
            <a:endParaRPr lang="en-US" sz="60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oudy Old Style" charset="0"/>
              <a:ea typeface="ＭＳ Ｐゴシック" charset="0"/>
              <a:cs typeface="Goudy Old Styl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714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504" y="1124744"/>
            <a:ext cx="8928992" cy="56166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0" y="2492896"/>
            <a:ext cx="720080" cy="504056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5292080" y="3140968"/>
            <a:ext cx="432048" cy="36004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5289077" y="3645024"/>
            <a:ext cx="363043" cy="468052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ounded Rectangle 7"/>
          <p:cNvSpPr/>
          <p:nvPr/>
        </p:nvSpPr>
        <p:spPr>
          <a:xfrm>
            <a:off x="6300192" y="2636912"/>
            <a:ext cx="864096" cy="504056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ounded Rectangle 8"/>
          <p:cNvSpPr/>
          <p:nvPr/>
        </p:nvSpPr>
        <p:spPr>
          <a:xfrm>
            <a:off x="179512" y="3861048"/>
            <a:ext cx="2880320" cy="165618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ounded Rectangle 9"/>
          <p:cNvSpPr/>
          <p:nvPr/>
        </p:nvSpPr>
        <p:spPr>
          <a:xfrm>
            <a:off x="3347864" y="3573016"/>
            <a:ext cx="1656184" cy="165618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Recap: Tectonics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260146" y="3933056"/>
            <a:ext cx="2376264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A </a:t>
            </a:r>
          </a:p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South Pacific </a:t>
            </a: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3412657" y="3633056"/>
            <a:ext cx="2376264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B </a:t>
            </a:r>
          </a:p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South </a:t>
            </a:r>
          </a:p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Atlantic</a:t>
            </a: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3979452" y="2112893"/>
            <a:ext cx="2376264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Mediterranean</a:t>
            </a: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7128284" y="2672966"/>
            <a:ext cx="2376264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Himalaya</a:t>
            </a:r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5696750" y="3117687"/>
            <a:ext cx="2376264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Red Sea</a:t>
            </a:r>
          </a:p>
        </p:txBody>
      </p:sp>
      <p:sp>
        <p:nvSpPr>
          <p:cNvPr id="27" name="Content Placeholder 2"/>
          <p:cNvSpPr txBox="1">
            <a:spLocks/>
          </p:cNvSpPr>
          <p:nvPr/>
        </p:nvSpPr>
        <p:spPr>
          <a:xfrm>
            <a:off x="4547663" y="2625970"/>
            <a:ext cx="467865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>
            <a:off x="6300005" y="1764588"/>
            <a:ext cx="467865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6300004" y="2672966"/>
            <a:ext cx="467865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E</a:t>
            </a:r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5240951" y="3140968"/>
            <a:ext cx="467865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4440" y="1739569"/>
            <a:ext cx="720080" cy="504056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Content Placeholder 2"/>
          <p:cNvSpPr txBox="1">
            <a:spLocks/>
          </p:cNvSpPr>
          <p:nvPr/>
        </p:nvSpPr>
        <p:spPr>
          <a:xfrm>
            <a:off x="5254364" y="3722304"/>
            <a:ext cx="467865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G</a:t>
            </a:r>
          </a:p>
        </p:txBody>
      </p:sp>
      <p:pic>
        <p:nvPicPr>
          <p:cNvPr id="40" name="Picture 2" descr="Illustration of the Wilson cycle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97195" y="3598218"/>
            <a:ext cx="2260078" cy="3067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Content Placeholder 2"/>
          <p:cNvSpPr>
            <a:spLocks noGrp="1"/>
          </p:cNvSpPr>
          <p:nvPr>
            <p:ph idx="1"/>
          </p:nvPr>
        </p:nvSpPr>
        <p:spPr>
          <a:xfrm>
            <a:off x="7129243" y="3573016"/>
            <a:ext cx="432048" cy="416024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7050020" y="3978595"/>
            <a:ext cx="432048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43" name="Content Placeholder 2"/>
          <p:cNvSpPr txBox="1">
            <a:spLocks/>
          </p:cNvSpPr>
          <p:nvPr/>
        </p:nvSpPr>
        <p:spPr>
          <a:xfrm>
            <a:off x="6884882" y="4402744"/>
            <a:ext cx="432048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44" name="Content Placeholder 2"/>
          <p:cNvSpPr txBox="1">
            <a:spLocks/>
          </p:cNvSpPr>
          <p:nvPr/>
        </p:nvSpPr>
        <p:spPr>
          <a:xfrm>
            <a:off x="6732240" y="5776386"/>
            <a:ext cx="432048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45" name="Content Placeholder 2"/>
          <p:cNvSpPr txBox="1">
            <a:spLocks/>
          </p:cNvSpPr>
          <p:nvPr/>
        </p:nvSpPr>
        <p:spPr>
          <a:xfrm>
            <a:off x="7109532" y="6331401"/>
            <a:ext cx="432048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7</a:t>
            </a:r>
          </a:p>
        </p:txBody>
      </p:sp>
      <p:sp>
        <p:nvSpPr>
          <p:cNvPr id="31" name="Content Placeholder 2"/>
          <p:cNvSpPr txBox="1">
            <a:spLocks/>
          </p:cNvSpPr>
          <p:nvPr/>
        </p:nvSpPr>
        <p:spPr>
          <a:xfrm>
            <a:off x="6292380" y="1370485"/>
            <a:ext cx="2376264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Siberian Craton</a:t>
            </a:r>
          </a:p>
        </p:txBody>
      </p:sp>
      <p:sp>
        <p:nvSpPr>
          <p:cNvPr id="32" name="Content Placeholder 2"/>
          <p:cNvSpPr txBox="1">
            <a:spLocks/>
          </p:cNvSpPr>
          <p:nvPr/>
        </p:nvSpPr>
        <p:spPr>
          <a:xfrm>
            <a:off x="5619169" y="3502560"/>
            <a:ext cx="2376264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East</a:t>
            </a:r>
          </a:p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Africa</a:t>
            </a:r>
          </a:p>
        </p:txBody>
      </p:sp>
      <p:sp>
        <p:nvSpPr>
          <p:cNvPr id="33" name="Content Placeholder 2"/>
          <p:cNvSpPr txBox="1">
            <a:spLocks/>
          </p:cNvSpPr>
          <p:nvPr/>
        </p:nvSpPr>
        <p:spPr>
          <a:xfrm>
            <a:off x="6516216" y="4934366"/>
            <a:ext cx="432048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4</a:t>
            </a:r>
          </a:p>
        </p:txBody>
      </p:sp>
      <p:sp>
        <p:nvSpPr>
          <p:cNvPr id="34" name="Content Placeholder 2"/>
          <p:cNvSpPr txBox="1">
            <a:spLocks/>
          </p:cNvSpPr>
          <p:nvPr/>
        </p:nvSpPr>
        <p:spPr>
          <a:xfrm>
            <a:off x="6516216" y="5348630"/>
            <a:ext cx="432048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078985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504" y="1124744"/>
            <a:ext cx="8928992" cy="56166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0" y="2492896"/>
            <a:ext cx="720080" cy="504056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5292080" y="3140968"/>
            <a:ext cx="432048" cy="36004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5289077" y="3645024"/>
            <a:ext cx="363043" cy="468052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ounded Rectangle 7"/>
          <p:cNvSpPr/>
          <p:nvPr/>
        </p:nvSpPr>
        <p:spPr>
          <a:xfrm>
            <a:off x="6300192" y="2636912"/>
            <a:ext cx="864096" cy="504056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ounded Rectangle 8"/>
          <p:cNvSpPr/>
          <p:nvPr/>
        </p:nvSpPr>
        <p:spPr>
          <a:xfrm>
            <a:off x="179512" y="3861048"/>
            <a:ext cx="2880320" cy="165618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ounded Rectangle 9"/>
          <p:cNvSpPr/>
          <p:nvPr/>
        </p:nvSpPr>
        <p:spPr>
          <a:xfrm>
            <a:off x="3347864" y="3573016"/>
            <a:ext cx="1656184" cy="165618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2" descr="Illustration of the Wilson cycle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697195" y="5301208"/>
            <a:ext cx="2260078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7129243" y="3573016"/>
            <a:ext cx="432048" cy="416024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7050020" y="3978595"/>
            <a:ext cx="432048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6884882" y="4402744"/>
            <a:ext cx="432048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6732240" y="5776386"/>
            <a:ext cx="432048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7109532" y="6331401"/>
            <a:ext cx="432048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7</a:t>
            </a:r>
          </a:p>
        </p:txBody>
      </p:sp>
      <p:sp>
        <p:nvSpPr>
          <p:cNvPr id="19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Recap: Tectonics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260146" y="3933056"/>
            <a:ext cx="2376264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A </a:t>
            </a:r>
          </a:p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South Pacific </a:t>
            </a: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3412657" y="3633056"/>
            <a:ext cx="2376264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B </a:t>
            </a:r>
          </a:p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South </a:t>
            </a:r>
          </a:p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Atlantic</a:t>
            </a:r>
          </a:p>
        </p:txBody>
      </p:sp>
      <p:sp>
        <p:nvSpPr>
          <p:cNvPr id="27" name="Content Placeholder 2"/>
          <p:cNvSpPr txBox="1">
            <a:spLocks/>
          </p:cNvSpPr>
          <p:nvPr/>
        </p:nvSpPr>
        <p:spPr>
          <a:xfrm>
            <a:off x="4547663" y="2625970"/>
            <a:ext cx="467865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>
            <a:off x="6300005" y="1764588"/>
            <a:ext cx="467865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6300004" y="2672966"/>
            <a:ext cx="467865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E</a:t>
            </a:r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5240951" y="3140968"/>
            <a:ext cx="467865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F</a:t>
            </a:r>
          </a:p>
        </p:txBody>
      </p:sp>
      <p:sp>
        <p:nvSpPr>
          <p:cNvPr id="31" name="Content Placeholder 2"/>
          <p:cNvSpPr txBox="1">
            <a:spLocks/>
          </p:cNvSpPr>
          <p:nvPr/>
        </p:nvSpPr>
        <p:spPr>
          <a:xfrm>
            <a:off x="107503" y="1268760"/>
            <a:ext cx="3456385" cy="42008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Solution: D, G, F, B, A, C, E</a:t>
            </a:r>
          </a:p>
          <a:p>
            <a:pPr marL="0" indent="0">
              <a:buNone/>
            </a:pPr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2" name="Picture 2" descr="Illustration of the Wilson cycle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989" t="-6375" r="-8379"/>
          <a:stretch/>
        </p:blipFill>
        <p:spPr bwMode="auto">
          <a:xfrm>
            <a:off x="6640268" y="3573624"/>
            <a:ext cx="2494402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Illustration of the Wilson cycle"/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693195" y="5733256"/>
            <a:ext cx="2260078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Illustration of the Wilson cycle"/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686690" y="6237312"/>
            <a:ext cx="2260078" cy="430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ounded Rectangle 37"/>
          <p:cNvSpPr/>
          <p:nvPr/>
        </p:nvSpPr>
        <p:spPr>
          <a:xfrm>
            <a:off x="6304440" y="1739569"/>
            <a:ext cx="720080" cy="504056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Content Placeholder 2"/>
          <p:cNvSpPr txBox="1">
            <a:spLocks/>
          </p:cNvSpPr>
          <p:nvPr/>
        </p:nvSpPr>
        <p:spPr>
          <a:xfrm>
            <a:off x="5254364" y="3722304"/>
            <a:ext cx="467865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G</a:t>
            </a:r>
          </a:p>
        </p:txBody>
      </p:sp>
      <p:pic>
        <p:nvPicPr>
          <p:cNvPr id="33" name="Picture 2" descr="Illustration of the Wilson cycle"/>
          <p:cNvPicPr>
            <a:picLocks noChangeAspect="1" noChangeArrowheads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697195" y="4005063"/>
            <a:ext cx="2260078" cy="432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Illustration of the Wilson cycle"/>
          <p:cNvPicPr>
            <a:picLocks noChangeAspect="1" noChangeArrowheads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047"/>
          <a:stretch/>
        </p:blipFill>
        <p:spPr bwMode="auto">
          <a:xfrm>
            <a:off x="6701704" y="4437112"/>
            <a:ext cx="226007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Illustration of the Wilson cycle"/>
          <p:cNvPicPr>
            <a:picLocks noChangeAspect="1" noChangeArrowheads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693195" y="4869160"/>
            <a:ext cx="226007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Content Placeholder 2"/>
          <p:cNvSpPr txBox="1">
            <a:spLocks/>
          </p:cNvSpPr>
          <p:nvPr/>
        </p:nvSpPr>
        <p:spPr>
          <a:xfrm>
            <a:off x="3979452" y="2112893"/>
            <a:ext cx="2376264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Mediterranean</a:t>
            </a:r>
          </a:p>
        </p:txBody>
      </p:sp>
      <p:sp>
        <p:nvSpPr>
          <p:cNvPr id="41" name="Content Placeholder 2"/>
          <p:cNvSpPr txBox="1">
            <a:spLocks/>
          </p:cNvSpPr>
          <p:nvPr/>
        </p:nvSpPr>
        <p:spPr>
          <a:xfrm>
            <a:off x="7128284" y="2672966"/>
            <a:ext cx="2376264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Himalaya</a:t>
            </a:r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5696750" y="3117687"/>
            <a:ext cx="2376264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Red Sea</a:t>
            </a:r>
          </a:p>
        </p:txBody>
      </p:sp>
      <p:sp>
        <p:nvSpPr>
          <p:cNvPr id="43" name="Content Placeholder 2"/>
          <p:cNvSpPr txBox="1">
            <a:spLocks/>
          </p:cNvSpPr>
          <p:nvPr/>
        </p:nvSpPr>
        <p:spPr>
          <a:xfrm>
            <a:off x="6292380" y="1370485"/>
            <a:ext cx="2376264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Siberian Craton</a:t>
            </a:r>
          </a:p>
        </p:txBody>
      </p:sp>
      <p:sp>
        <p:nvSpPr>
          <p:cNvPr id="44" name="Content Placeholder 2"/>
          <p:cNvSpPr txBox="1">
            <a:spLocks/>
          </p:cNvSpPr>
          <p:nvPr/>
        </p:nvSpPr>
        <p:spPr>
          <a:xfrm>
            <a:off x="5619169" y="3502560"/>
            <a:ext cx="2376264" cy="4160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East</a:t>
            </a:r>
          </a:p>
          <a:p>
            <a:pPr marL="0" indent="0">
              <a:buFont typeface="Arial" pitchFamily="34" charset="0"/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Africa</a:t>
            </a:r>
          </a:p>
        </p:txBody>
      </p:sp>
    </p:spTree>
    <p:extLst>
      <p:ext uri="{BB962C8B-B14F-4D97-AF65-F5344CB8AC3E}">
        <p14:creationId xmlns:p14="http://schemas.microsoft.com/office/powerpoint/2010/main" val="909596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7037E-6 L -0.06545 -0.3430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81" y="-17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7.40741E-7 L -0.10295 -0.0509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56" y="-2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2.22222E-6 L -0.40364 -0.1983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91" y="-9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4.81481E-6 L -0.33629 0.0641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23" y="3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2.22222E-6 L -0.69444 -0.07708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722" y="-3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22222E-6 L -0.35816 -0.56667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17" y="-2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7.40741E-7 L 0.05816 -0.57731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9" y="-28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520" y="2924944"/>
            <a:ext cx="5832648" cy="3586094"/>
          </a:xfrm>
          <a:prstGeom prst="rect">
            <a:avLst/>
          </a:prstGeom>
        </p:spPr>
      </p:pic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144016" y="71433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Week-by-week: Rhodri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22449" y="1088740"/>
            <a:ext cx="6470111" cy="1440160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Week 3 – Igneous processes and volcanoes</a:t>
            </a:r>
          </a:p>
          <a:p>
            <a:pPr marL="0" indent="0">
              <a:buNone/>
            </a:pPr>
            <a:endParaRPr lang="en-GB" sz="20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GB" sz="2000" dirty="0">
                <a:latin typeface="Arial" pitchFamily="34" charset="0"/>
                <a:cs typeface="Arial" pitchFamily="34" charset="0"/>
              </a:rPr>
              <a:t>How and where does rock melt? Where does it go? How is it erupted?</a:t>
            </a:r>
          </a:p>
        </p:txBody>
      </p:sp>
      <p:pic>
        <p:nvPicPr>
          <p:cNvPr id="4098" name="Picture 2" descr="Image result for lava lamp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790897" y="116632"/>
            <a:ext cx="1485371" cy="264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716016" y="4797152"/>
            <a:ext cx="1152128" cy="108012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69776" y="3717032"/>
            <a:ext cx="1080120" cy="1944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4" descr="Image result for volcano">
            <a:extLst>
              <a:ext uri="{FF2B5EF4-FFF2-40B4-BE49-F238E27FC236}">
                <a16:creationId xmlns:a16="http://schemas.microsoft.com/office/drawing/2014/main" id="{CCB0154B-6AB7-4CDD-AB54-0DB4B51CD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02424" y="2924944"/>
            <a:ext cx="2862318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1645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520" y="2924944"/>
            <a:ext cx="5832648" cy="3586094"/>
          </a:xfrm>
          <a:prstGeom prst="rect">
            <a:avLst/>
          </a:prstGeom>
        </p:spPr>
      </p:pic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144016" y="71433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Week-by-week: Rhodri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16016" y="4797152"/>
            <a:ext cx="1152128" cy="108012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69776" y="3717032"/>
            <a:ext cx="1080120" cy="1944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7423635-639D-4CC1-BFE9-3C17B57EE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59" y="980852"/>
            <a:ext cx="8118649" cy="1862854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Week 5 – Global highs and lows - vertical crustal movements.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9C0E49D-3ADE-4672-B9F6-0C699BCF38F4}"/>
              </a:ext>
            </a:extLst>
          </p:cNvPr>
          <p:cNvSpPr txBox="1">
            <a:spLocks/>
          </p:cNvSpPr>
          <p:nvPr/>
        </p:nvSpPr>
        <p:spPr>
          <a:xfrm>
            <a:off x="147997" y="1571196"/>
            <a:ext cx="8640960" cy="113314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latin typeface="Arial" pitchFamily="34" charset="0"/>
                <a:cs typeface="Arial" pitchFamily="34" charset="0"/>
              </a:rPr>
              <a:t>We understand that plates move horizontally via tectonics, but the crust moves up and down, too. </a:t>
            </a:r>
          </a:p>
          <a:p>
            <a:pPr marL="0" indent="0">
              <a:buNone/>
            </a:pPr>
            <a:r>
              <a:rPr lang="en-GB" sz="2000" dirty="0">
                <a:latin typeface="Arial" pitchFamily="34" charset="0"/>
                <a:cs typeface="Arial" pitchFamily="34" charset="0"/>
              </a:rPr>
              <a:t>Mountains are the source of sediment, and basins are its fate... </a:t>
            </a:r>
          </a:p>
        </p:txBody>
      </p:sp>
      <p:pic>
        <p:nvPicPr>
          <p:cNvPr id="13" name="Picture 2" descr="Related image">
            <a:extLst>
              <a:ext uri="{FF2B5EF4-FFF2-40B4-BE49-F238E27FC236}">
                <a16:creationId xmlns:a16="http://schemas.microsoft.com/office/drawing/2014/main" id="{1FB8D5A5-374C-4666-B41D-75C10470C0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462464" y="3311987"/>
            <a:ext cx="2376264" cy="297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58055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144016" y="71433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Week-by-week: Rhodri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0BB826-A9EA-453C-99EE-9AB83DA779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272" y="2924944"/>
            <a:ext cx="5832648" cy="358609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2ED7746-0EA7-4297-A78B-368826A158E7}"/>
              </a:ext>
            </a:extLst>
          </p:cNvPr>
          <p:cNvSpPr/>
          <p:nvPr/>
        </p:nvSpPr>
        <p:spPr>
          <a:xfrm>
            <a:off x="377280" y="3573017"/>
            <a:ext cx="1962472" cy="79208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2" descr="Image result for Grand Canyon">
            <a:extLst>
              <a:ext uri="{FF2B5EF4-FFF2-40B4-BE49-F238E27FC236}">
                <a16:creationId xmlns:a16="http://schemas.microsoft.com/office/drawing/2014/main" id="{8456F757-43A2-496A-A38F-419B29BF28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33410" y="2599964"/>
            <a:ext cx="2741456" cy="2927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3EFDFC3-9324-4CEC-8C4C-444184167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16" y="1357490"/>
            <a:ext cx="8964489" cy="1368152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Week 7 – Geomorphology: sculpting landscapes</a:t>
            </a:r>
          </a:p>
          <a:p>
            <a:pPr marL="0" indent="0">
              <a:buNone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erosion, tectonics and deposition make many of Earth’s landscapes and seascapes.</a:t>
            </a:r>
            <a:endParaRPr lang="en-GB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D5E811-3BF3-49DB-AB30-39672BE2327E}"/>
              </a:ext>
            </a:extLst>
          </p:cNvPr>
          <p:cNvSpPr/>
          <p:nvPr/>
        </p:nvSpPr>
        <p:spPr>
          <a:xfrm>
            <a:off x="2753544" y="4080111"/>
            <a:ext cx="1242392" cy="79208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9691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144016" y="71433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Week-by-week: Rhodri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0BB826-A9EA-453C-99EE-9AB83DA779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272" y="2924944"/>
            <a:ext cx="5832648" cy="358609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2ED7746-0EA7-4297-A78B-368826A158E7}"/>
              </a:ext>
            </a:extLst>
          </p:cNvPr>
          <p:cNvSpPr/>
          <p:nvPr/>
        </p:nvSpPr>
        <p:spPr>
          <a:xfrm>
            <a:off x="377280" y="3573017"/>
            <a:ext cx="1962472" cy="79208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3EFDFC3-9324-4CEC-8C4C-444184167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16" y="1073120"/>
            <a:ext cx="6033678" cy="1368152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Week 9 – Different types of sediment, how and where they’re made, and where they go.</a:t>
            </a:r>
          </a:p>
          <a:p>
            <a:pPr marL="0" indent="0">
              <a:buNone/>
            </a:pPr>
            <a:r>
              <a:rPr lang="en-GB" sz="2000" dirty="0">
                <a:latin typeface="Arial" pitchFamily="34" charset="0"/>
                <a:cs typeface="Arial" pitchFamily="34" charset="0"/>
              </a:rPr>
              <a:t>Some sediment is made from weathered and eroded rock, some isn’t? What’s the difference? </a:t>
            </a:r>
          </a:p>
          <a:p>
            <a:pPr marL="0" indent="0">
              <a:buNone/>
            </a:pPr>
            <a:r>
              <a:rPr lang="en-GB" sz="2000" dirty="0">
                <a:latin typeface="Arial" pitchFamily="34" charset="0"/>
                <a:cs typeface="Arial" pitchFamily="34" charset="0"/>
              </a:rPr>
              <a:t>Where are they made and where do they go?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D5E811-3BF3-49DB-AB30-39672BE2327E}"/>
              </a:ext>
            </a:extLst>
          </p:cNvPr>
          <p:cNvSpPr/>
          <p:nvPr/>
        </p:nvSpPr>
        <p:spPr>
          <a:xfrm>
            <a:off x="2753544" y="4080111"/>
            <a:ext cx="1242392" cy="79208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4" descr="Related image">
            <a:extLst>
              <a:ext uri="{FF2B5EF4-FFF2-40B4-BE49-F238E27FC236}">
                <a16:creationId xmlns:a16="http://schemas.microsoft.com/office/drawing/2014/main" id="{741E44A1-6FF3-43DF-99F7-D970AA8112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444208" y="3550321"/>
            <a:ext cx="2584457" cy="323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Related image">
            <a:extLst>
              <a:ext uri="{FF2B5EF4-FFF2-40B4-BE49-F238E27FC236}">
                <a16:creationId xmlns:a16="http://schemas.microsoft.com/office/drawing/2014/main" id="{E9AA0CBC-A71E-4BD5-87D3-C0518C8794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437045" y="119613"/>
            <a:ext cx="2591620" cy="3309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27578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144016" y="71433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Week-by-week: Rhodri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0BB826-A9EA-453C-99EE-9AB83DA779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272" y="2924944"/>
            <a:ext cx="5832648" cy="358609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2ED7746-0EA7-4297-A78B-368826A158E7}"/>
              </a:ext>
            </a:extLst>
          </p:cNvPr>
          <p:cNvSpPr/>
          <p:nvPr/>
        </p:nvSpPr>
        <p:spPr>
          <a:xfrm>
            <a:off x="377280" y="3573017"/>
            <a:ext cx="1962472" cy="79208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3EFDFC3-9324-4CEC-8C4C-444184167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542" y="779011"/>
            <a:ext cx="6033678" cy="1558234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Week 10 – Diagenesis, deformation and metamorphism</a:t>
            </a:r>
          </a:p>
          <a:p>
            <a:pPr marL="0" indent="0">
              <a:buNone/>
            </a:pPr>
            <a:r>
              <a:rPr lang="en-GB" sz="2000" dirty="0">
                <a:latin typeface="Arial" pitchFamily="34" charset="0"/>
                <a:cs typeface="Arial" pitchFamily="34" charset="0"/>
              </a:rPr>
              <a:t>How do you make a rock out of sediment? </a:t>
            </a:r>
          </a:p>
          <a:p>
            <a:pPr marL="0" indent="0">
              <a:buNone/>
            </a:pPr>
            <a:r>
              <a:rPr lang="en-GB" sz="2000" dirty="0">
                <a:latin typeface="Arial" pitchFamily="34" charset="0"/>
                <a:cs typeface="Arial" pitchFamily="34" charset="0"/>
              </a:rPr>
              <a:t>What happens if you squeeze or stretch a rock? What happens if you compress it and heat it even more….?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D5E811-3BF3-49DB-AB30-39672BE2327E}"/>
              </a:ext>
            </a:extLst>
          </p:cNvPr>
          <p:cNvSpPr/>
          <p:nvPr/>
        </p:nvSpPr>
        <p:spPr>
          <a:xfrm>
            <a:off x="2753544" y="4080111"/>
            <a:ext cx="1242392" cy="79208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2" descr="Image result for chevron folding">
            <a:extLst>
              <a:ext uri="{FF2B5EF4-FFF2-40B4-BE49-F238E27FC236}">
                <a16:creationId xmlns:a16="http://schemas.microsoft.com/office/drawing/2014/main" id="{E344557A-EA7C-4FD9-BBFC-27C871B058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119664" y="89235"/>
            <a:ext cx="2880320" cy="3560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 result for metamorphic rocks">
            <a:extLst>
              <a:ext uri="{FF2B5EF4-FFF2-40B4-BE49-F238E27FC236}">
                <a16:creationId xmlns:a16="http://schemas.microsoft.com/office/drawing/2014/main" id="{B1524737-718F-4CD2-B4BF-5F56BBE7F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88545" y="3789040"/>
            <a:ext cx="2808312" cy="2839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8271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2" y="1196752"/>
            <a:ext cx="5832648" cy="3586094"/>
          </a:xfrm>
          <a:prstGeom prst="rect">
            <a:avLst/>
          </a:prstGeom>
        </p:spPr>
      </p:pic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Week-by-week: David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79511" y="5085184"/>
            <a:ext cx="8964489" cy="1512168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Week 2: Atmospheric structure and dynamics</a:t>
            </a:r>
          </a:p>
          <a:p>
            <a:r>
              <a:rPr lang="en-GB" sz="2000" dirty="0">
                <a:latin typeface="Arial" pitchFamily="34" charset="0"/>
                <a:cs typeface="Arial" pitchFamily="34" charset="0"/>
              </a:rPr>
              <a:t>What is the composition and vertical structure of the atmosphere?</a:t>
            </a:r>
          </a:p>
          <a:p>
            <a:r>
              <a:rPr lang="en-GB" sz="2000" dirty="0">
                <a:latin typeface="Arial" pitchFamily="34" charset="0"/>
                <a:cs typeface="Arial" pitchFamily="34" charset="0"/>
              </a:rPr>
              <a:t>How does the global climate and circulation work?</a:t>
            </a:r>
          </a:p>
          <a:p>
            <a:r>
              <a:rPr lang="en-GB" sz="2000" dirty="0">
                <a:latin typeface="Arial" pitchFamily="34" charset="0"/>
                <a:cs typeface="Arial" pitchFamily="34" charset="0"/>
              </a:rPr>
              <a:t>Why does it rain and snow?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3768" y="1080120"/>
            <a:ext cx="3384376" cy="105273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FCE681-0A5D-0940-90C8-A53045A1CA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95120" y="1052736"/>
            <a:ext cx="2348880" cy="23488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87E013-40D7-0341-9CB3-88AAB4C8B64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324" y="3401616"/>
            <a:ext cx="3945863" cy="168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3336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2" y="1196752"/>
            <a:ext cx="5832648" cy="3586094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79511" y="5085184"/>
            <a:ext cx="8964489" cy="1512168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Week 4: Weather and weather forecasting</a:t>
            </a:r>
          </a:p>
          <a:p>
            <a:r>
              <a:rPr lang="en-GB" sz="2000" dirty="0">
                <a:latin typeface="Arial" pitchFamily="34" charset="0"/>
                <a:cs typeface="Arial" pitchFamily="34" charset="0"/>
              </a:rPr>
              <a:t>What is the jet stream and why is it important?</a:t>
            </a:r>
          </a:p>
          <a:p>
            <a:r>
              <a:rPr lang="en-GB" sz="2000" dirty="0">
                <a:latin typeface="Arial" pitchFamily="34" charset="0"/>
                <a:cs typeface="Arial" pitchFamily="34" charset="0"/>
              </a:rPr>
              <a:t>How does weather forecasting work?</a:t>
            </a:r>
          </a:p>
          <a:p>
            <a:r>
              <a:rPr lang="en-GB" sz="2000" dirty="0">
                <a:latin typeface="Arial" pitchFamily="34" charset="0"/>
                <a:cs typeface="Arial" pitchFamily="34" charset="0"/>
              </a:rPr>
              <a:t>Can I make my own forecasts?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3768" y="1556792"/>
            <a:ext cx="1296144" cy="57606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FB60EE-F056-C94C-8809-DE7A3FA8B42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8228" y="3933056"/>
            <a:ext cx="2435772" cy="29249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E38EAE-FCA4-3D47-BD99-E79073F7855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6378" y="1628421"/>
            <a:ext cx="3467622" cy="2304635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AFDD4848-4C11-4DF5-8D5C-EB97CBEC218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Week-by-week: David</a:t>
            </a:r>
          </a:p>
        </p:txBody>
      </p:sp>
    </p:spTree>
    <p:extLst>
      <p:ext uri="{BB962C8B-B14F-4D97-AF65-F5344CB8AC3E}">
        <p14:creationId xmlns:p14="http://schemas.microsoft.com/office/powerpoint/2010/main" val="31460433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2" y="1196752"/>
            <a:ext cx="5832648" cy="3586094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79511" y="5085184"/>
            <a:ext cx="8964489" cy="1512168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Week 6: Atmospheric chemistry and ocean circulation</a:t>
            </a:r>
          </a:p>
          <a:p>
            <a:r>
              <a:rPr lang="en-GB" sz="2000" dirty="0">
                <a:latin typeface="Arial" pitchFamily="34" charset="0"/>
                <a:cs typeface="Arial" pitchFamily="34" charset="0"/>
              </a:rPr>
              <a:t>How is the ozone layer depletion different from the ozone hole?</a:t>
            </a:r>
          </a:p>
          <a:p>
            <a:r>
              <a:rPr lang="en-GB" sz="2000" dirty="0">
                <a:latin typeface="Arial" pitchFamily="34" charset="0"/>
                <a:cs typeface="Arial" pitchFamily="34" charset="0"/>
              </a:rPr>
              <a:t>How does air pollution in cities </a:t>
            </a:r>
            <a:r>
              <a:rPr lang="en-GB" sz="2000">
                <a:latin typeface="Arial" pitchFamily="34" charset="0"/>
                <a:cs typeface="Arial" pitchFamily="34" charset="0"/>
              </a:rPr>
              <a:t>work?</a:t>
            </a:r>
            <a:endParaRPr lang="en-GB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2933B0-FB94-0041-BCC6-8FB0D17EAC5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7826" y="2053203"/>
            <a:ext cx="1075376" cy="6557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55708" y="1556792"/>
            <a:ext cx="1568220" cy="115212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F7ECDF4-A777-45C6-93D3-75305ABF8A5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Week-by-week: David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AEB0C1-1F74-7044-BE3B-86D4E53898F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6096" y="2620973"/>
            <a:ext cx="3707904" cy="24642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115943-CCE7-E44E-84CA-B2090338277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6096" y="1057811"/>
            <a:ext cx="3707904" cy="208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6622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2" y="1196752"/>
            <a:ext cx="5832648" cy="3586094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79511" y="5085184"/>
            <a:ext cx="8964489" cy="1512168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Week 6: Hydrosphere (oceans)</a:t>
            </a:r>
          </a:p>
          <a:p>
            <a:r>
              <a:rPr lang="en-GB" sz="2000" dirty="0">
                <a:latin typeface="Arial" pitchFamily="34" charset="0"/>
                <a:cs typeface="Arial" pitchFamily="34" charset="0"/>
              </a:rPr>
              <a:t>How do the oceans work?</a:t>
            </a:r>
          </a:p>
          <a:p>
            <a:r>
              <a:rPr lang="en-GB" sz="2000" dirty="0">
                <a:latin typeface="Arial" pitchFamily="34" charset="0"/>
                <a:cs typeface="Arial" pitchFamily="34" charset="0"/>
              </a:rPr>
              <a:t>How are all the oceans interconnected?</a:t>
            </a:r>
          </a:p>
          <a:p>
            <a:r>
              <a:rPr lang="en-GB" sz="2000" dirty="0">
                <a:latin typeface="Arial" pitchFamily="34" charset="0"/>
                <a:cs typeface="Arial" pitchFamily="34" charset="0"/>
              </a:rPr>
              <a:t>Is European temperature moderated by the Gulf Stream?</a:t>
            </a:r>
          </a:p>
        </p:txBody>
      </p:sp>
      <p:sp>
        <p:nvSpPr>
          <p:cNvPr id="7" name="Rectangle 6"/>
          <p:cNvSpPr/>
          <p:nvPr/>
        </p:nvSpPr>
        <p:spPr>
          <a:xfrm>
            <a:off x="3579844" y="2348879"/>
            <a:ext cx="1424204" cy="57606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4B7067-979F-064A-8A40-6ADFE7BFC3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53042" y="2181360"/>
            <a:ext cx="3290958" cy="1849865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CED3676C-6288-4D41-AE52-977BF136EC2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Week-by-week: David</a:t>
            </a:r>
          </a:p>
        </p:txBody>
      </p:sp>
    </p:spTree>
    <p:extLst>
      <p:ext uri="{BB962C8B-B14F-4D97-AF65-F5344CB8AC3E}">
        <p14:creationId xmlns:p14="http://schemas.microsoft.com/office/powerpoint/2010/main" val="26368159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2" y="1196752"/>
            <a:ext cx="5832648" cy="3586094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79511" y="5085184"/>
            <a:ext cx="8964489" cy="1512168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Week 8: Cryosphere</a:t>
            </a:r>
          </a:p>
          <a:p>
            <a:r>
              <a:rPr lang="en-GB" sz="2000" dirty="0">
                <a:latin typeface="Arial" pitchFamily="34" charset="0"/>
                <a:cs typeface="Arial" pitchFamily="34" charset="0"/>
              </a:rPr>
              <a:t>How has the volume and location of ice changed over geological time?</a:t>
            </a:r>
          </a:p>
          <a:p>
            <a:r>
              <a:rPr lang="en-GB" sz="2000" dirty="0">
                <a:latin typeface="Arial" pitchFamily="34" charset="0"/>
                <a:cs typeface="Arial" pitchFamily="34" charset="0"/>
              </a:rPr>
              <a:t>What are the processes that control its waxing and waning?</a:t>
            </a:r>
          </a:p>
          <a:p>
            <a:r>
              <a:rPr lang="en-GB" sz="2000" dirty="0">
                <a:latin typeface="Arial" pitchFamily="34" charset="0"/>
                <a:cs typeface="Arial" pitchFamily="34" charset="0"/>
              </a:rPr>
              <a:t>Why is the Arctic most sensitive to climate on Earth?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9592" y="1700808"/>
            <a:ext cx="1152128" cy="86409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66BCDB-5001-054B-854D-C597B0A2E94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1095" y="2270566"/>
            <a:ext cx="4062905" cy="2022530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960C1695-3B30-49F6-92C2-4A0C6FBAACD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Week-by-week: David</a:t>
            </a:r>
          </a:p>
        </p:txBody>
      </p:sp>
    </p:spTree>
    <p:extLst>
      <p:ext uri="{BB962C8B-B14F-4D97-AF65-F5344CB8AC3E}">
        <p14:creationId xmlns:p14="http://schemas.microsoft.com/office/powerpoint/2010/main" val="639737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2" y="1196752"/>
            <a:ext cx="5832648" cy="3586094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79511" y="5157192"/>
            <a:ext cx="8964489" cy="1512168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Week 8: Climate and climate </a:t>
            </a:r>
            <a:r>
              <a:rPr lang="en-GB" sz="2000" b="1" dirty="0" err="1">
                <a:latin typeface="Arial" pitchFamily="34" charset="0"/>
                <a:cs typeface="Arial" pitchFamily="34" charset="0"/>
              </a:rPr>
              <a:t>modeling</a:t>
            </a:r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r>
              <a:rPr lang="en-GB" sz="2000" dirty="0">
                <a:latin typeface="Arial" pitchFamily="34" charset="0"/>
                <a:cs typeface="Arial" pitchFamily="34" charset="0"/>
              </a:rPr>
              <a:t>What does the geological record tell us about future climate change?</a:t>
            </a:r>
          </a:p>
          <a:p>
            <a:r>
              <a:rPr lang="en-GB" sz="2000" dirty="0">
                <a:latin typeface="Arial" pitchFamily="34" charset="0"/>
                <a:cs typeface="Arial" pitchFamily="34" charset="0"/>
              </a:rPr>
              <a:t>How can we project into future Earth’s climates?</a:t>
            </a:r>
          </a:p>
          <a:p>
            <a:endParaRPr lang="en-GB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99592" y="1700808"/>
            <a:ext cx="4392488" cy="201622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EC50F4E-13C9-4069-9B67-3195BBC6069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Week-by-week: David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47798A-3EB6-4143-9B63-30AE8964B3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132228"/>
            <a:ext cx="2915816" cy="21842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0A6528-605C-9145-BF1A-993C0FC32C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1276193"/>
            <a:ext cx="2915816" cy="193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2771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2" y="1196752"/>
            <a:ext cx="5832648" cy="3586094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79511" y="5157192"/>
            <a:ext cx="8964489" cy="1512168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Week 11: Climate feedbacks</a:t>
            </a:r>
          </a:p>
          <a:p>
            <a:r>
              <a:rPr lang="en-GB" sz="2000" dirty="0">
                <a:latin typeface="Arial" pitchFamily="34" charset="0"/>
                <a:cs typeface="Arial" pitchFamily="34" charset="0"/>
              </a:rPr>
              <a:t>Case studies showing how all five components of the Earth’s climate system interact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9592" y="1700808"/>
            <a:ext cx="4392488" cy="201622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74CC34-655D-FD4E-BD01-B8E48D714E2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6112" y="2636911"/>
            <a:ext cx="2957887" cy="1548541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7EC50F4E-13C9-4069-9B67-3195BBC6069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Week-by-week: David</a:t>
            </a:r>
          </a:p>
        </p:txBody>
      </p:sp>
    </p:spTree>
    <p:extLst>
      <p:ext uri="{BB962C8B-B14F-4D97-AF65-F5344CB8AC3E}">
        <p14:creationId xmlns:p14="http://schemas.microsoft.com/office/powerpoint/2010/main" val="2427125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D86764-73D4-114E-8B5B-DB2604056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990600"/>
            <a:ext cx="8153400" cy="2895600"/>
          </a:xfrm>
          <a:prstGeom prst="rect">
            <a:avLst/>
          </a:prstGeom>
          <a:noFill/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4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oudy Old Style" panose="02020502050305020303" pitchFamily="18" charset="77"/>
              </a:rPr>
              <a:t>On your computer’s or phone’s web browser, go to </a:t>
            </a:r>
          </a:p>
          <a:p>
            <a:pPr algn="ctr" eaLnBrk="1" hangingPunct="1"/>
            <a:endParaRPr lang="en-US" altLang="en-US" sz="44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oudy Old Style" panose="02020502050305020303" pitchFamily="18" charset="77"/>
            </a:endParaRPr>
          </a:p>
          <a:p>
            <a:pPr algn="ctr" eaLnBrk="1" hangingPunct="1"/>
            <a:r>
              <a:rPr lang="en-US" altLang="en-US" sz="7200" b="1">
                <a:solidFill>
                  <a:srgbClr val="E9F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oudy Old Style" panose="02020502050305020303" pitchFamily="18" charset="77"/>
              </a:rPr>
              <a:t>kahoot.it</a:t>
            </a:r>
          </a:p>
        </p:txBody>
      </p:sp>
      <p:sp>
        <p:nvSpPr>
          <p:cNvPr id="139267" name="TextBox 1">
            <a:extLst>
              <a:ext uri="{FF2B5EF4-FFF2-40B4-BE49-F238E27FC236}">
                <a16:creationId xmlns:a16="http://schemas.microsoft.com/office/drawing/2014/main" id="{73629884-F87B-D342-B91A-E16A1632E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5037138"/>
            <a:ext cx="185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6DB5E490-4FCF-E44A-9663-9A0D092D2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181600"/>
            <a:ext cx="7848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457200">
              <a:defRPr/>
            </a:pPr>
            <a:r>
              <a:rPr lang="en-US" sz="3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oudy Old Style" charset="0"/>
                <a:ea typeface="ＭＳ Ｐゴシック" charset="0"/>
                <a:cs typeface="Goudy Old Style" charset="0"/>
              </a:rPr>
              <a:t>You can download the </a:t>
            </a:r>
            <a:r>
              <a:rPr lang="en-US" sz="3600" b="1" dirty="0" err="1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oudy Old Style" charset="0"/>
                <a:ea typeface="ＭＳ Ｐゴシック" charset="0"/>
                <a:cs typeface="Goudy Old Style" charset="0"/>
              </a:rPr>
              <a:t>kahoot</a:t>
            </a:r>
            <a:r>
              <a:rPr lang="en-US" sz="36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oudy Old Style" charset="0"/>
                <a:ea typeface="ＭＳ Ｐゴシック" charset="0"/>
                <a:cs typeface="Goudy Old Style" charset="0"/>
              </a:rPr>
              <a:t> app</a:t>
            </a:r>
            <a:r>
              <a:rPr lang="en-US" sz="3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oudy Old Style" charset="0"/>
                <a:ea typeface="ＭＳ Ｐゴシック" charset="0"/>
                <a:cs typeface="Goudy Old Style" charset="0"/>
              </a:rPr>
              <a:t> or </a:t>
            </a:r>
            <a:r>
              <a:rPr lang="en-US" sz="36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oudy Old Style" charset="0"/>
                <a:ea typeface="ＭＳ Ｐゴシック" charset="0"/>
                <a:cs typeface="Goudy Old Style" charset="0"/>
              </a:rPr>
              <a:t>bookmark </a:t>
            </a:r>
            <a:r>
              <a:rPr lang="en-US" sz="3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oudy Old Style" charset="0"/>
                <a:ea typeface="ＭＳ Ｐゴシック" charset="0"/>
                <a:cs typeface="Goudy Old Style" charset="0"/>
              </a:rPr>
              <a:t>the website for future lectures.</a:t>
            </a:r>
            <a:endParaRPr lang="en-US" sz="60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oudy Old Style" charset="0"/>
              <a:ea typeface="ＭＳ Ｐゴシック" charset="0"/>
              <a:cs typeface="Goudy Old Styl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4034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imelapse-water-storm-microburst-tsunami-from-heaven-alpine-lake-4">
            <a:extLst>
              <a:ext uri="{FF2B5EF4-FFF2-40B4-BE49-F238E27FC236}">
                <a16:creationId xmlns:a16="http://schemas.microsoft.com/office/drawing/2014/main" id="{14C856E4-36F0-424F-8CC1-5EC72D3B9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5252" y="0"/>
            <a:ext cx="91530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D11BD7-D404-45E4-BECB-9D2386F42350}"/>
              </a:ext>
            </a:extLst>
          </p:cNvPr>
          <p:cNvSpPr txBox="1">
            <a:spLocks/>
          </p:cNvSpPr>
          <p:nvPr/>
        </p:nvSpPr>
        <p:spPr>
          <a:xfrm>
            <a:off x="323528" y="1628800"/>
            <a:ext cx="6984776" cy="46805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8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en-GB" sz="1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… you should be able to:</a:t>
            </a:r>
          </a:p>
          <a:p>
            <a:pPr algn="l"/>
            <a:endParaRPr lang="en-GB" sz="18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en-GB" sz="1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Name the main spheres (or “reservoirs”) of the Earth System.</a:t>
            </a:r>
          </a:p>
          <a:p>
            <a:pPr algn="l"/>
            <a:endParaRPr lang="en-GB" sz="18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en-GB" sz="1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Define a (bio)geochemical cycle.</a:t>
            </a:r>
          </a:p>
          <a:p>
            <a:pPr algn="l"/>
            <a:endParaRPr lang="en-GB" sz="18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en-GB" sz="1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Explain why energy and mass transfer from one reservoir to another.</a:t>
            </a:r>
          </a:p>
          <a:p>
            <a:pPr algn="l"/>
            <a:endParaRPr lang="en-GB" sz="18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en-GB" sz="1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Define the rock cycle and outline the principal controls that drive it.</a:t>
            </a:r>
          </a:p>
          <a:p>
            <a:pPr lvl="1" algn="l">
              <a:buFont typeface="Wingdings" pitchFamily="2" charset="2"/>
              <a:buChar char="Ø"/>
            </a:pPr>
            <a:endParaRPr lang="en-GB" sz="1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lvl="1" algn="l">
              <a:buFont typeface="Wingdings" pitchFamily="2" charset="2"/>
              <a:buChar char="Ø"/>
            </a:pPr>
            <a:endParaRPr lang="en-GB" sz="1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62B1F20-32EC-4E2C-A7E0-7283722C17A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Class Intended </a:t>
            </a:r>
            <a:r>
              <a:rPr lang="en-GB" sz="3800" b="1" dirty="0">
                <a:latin typeface="Bookman Old Style" pitchFamily="18" charset="0"/>
                <a:ea typeface="Adobe Fangsong Std R" pitchFamily="18" charset="-128"/>
                <a:cs typeface="+mj-cs"/>
              </a:rPr>
              <a:t>L</a:t>
            </a:r>
            <a:r>
              <a:rPr kumimoji="0" lang="en-GB" sz="3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earning </a:t>
            </a:r>
            <a:r>
              <a:rPr lang="en-GB" sz="3800" b="1" dirty="0">
                <a:latin typeface="Bookman Old Style" pitchFamily="18" charset="0"/>
                <a:ea typeface="Adobe Fangsong Std R" pitchFamily="18" charset="-128"/>
                <a:cs typeface="+mj-cs"/>
              </a:rPr>
              <a:t>O</a:t>
            </a:r>
            <a:r>
              <a:rPr kumimoji="0" lang="en-GB" sz="3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utcomes</a:t>
            </a:r>
            <a:endParaRPr kumimoji="0" lang="en-GB" sz="3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82613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7376</TotalTime>
  <Words>1671</Words>
  <Application>Microsoft Macintosh PowerPoint</Application>
  <PresentationFormat>On-screen Show (4:3)</PresentationFormat>
  <Paragraphs>280</Paragraphs>
  <Slides>40</Slides>
  <Notes>11</Notes>
  <HiddenSlides>0</HiddenSlides>
  <MMClips>1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ＭＳ Ｐゴシック</vt:lpstr>
      <vt:lpstr>Adobe Fangsong Std R</vt:lpstr>
      <vt:lpstr>Arial</vt:lpstr>
      <vt:lpstr>Bookman Old Style</vt:lpstr>
      <vt:lpstr>Calibri</vt:lpstr>
      <vt:lpstr>Comic Sans MS</vt:lpstr>
      <vt:lpstr>Goudy Old Style</vt:lpstr>
      <vt:lpstr>Wingdings</vt:lpstr>
      <vt:lpstr>Office Theme</vt:lpstr>
      <vt:lpstr>CorelDRAW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Berit</dc:creator>
  <cp:lastModifiedBy>David Schultz</cp:lastModifiedBy>
  <cp:revision>273</cp:revision>
  <cp:lastPrinted>2013-01-27T21:56:10Z</cp:lastPrinted>
  <dcterms:created xsi:type="dcterms:W3CDTF">2011-07-08T07:22:54Z</dcterms:created>
  <dcterms:modified xsi:type="dcterms:W3CDTF">2025-01-24T16:38:07Z</dcterms:modified>
</cp:coreProperties>
</file>