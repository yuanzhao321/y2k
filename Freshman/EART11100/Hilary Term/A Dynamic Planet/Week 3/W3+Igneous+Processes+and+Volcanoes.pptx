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8"/>
  </p:notesMasterIdLst>
  <p:handoutMasterIdLst>
    <p:handoutMasterId r:id="rId89"/>
  </p:handoutMasterIdLst>
  <p:sldIdLst>
    <p:sldId id="359" r:id="rId2"/>
    <p:sldId id="385" r:id="rId3"/>
    <p:sldId id="453" r:id="rId4"/>
    <p:sldId id="450" r:id="rId5"/>
    <p:sldId id="454" r:id="rId6"/>
    <p:sldId id="455" r:id="rId7"/>
    <p:sldId id="405" r:id="rId8"/>
    <p:sldId id="407" r:id="rId9"/>
    <p:sldId id="424" r:id="rId10"/>
    <p:sldId id="426" r:id="rId11"/>
    <p:sldId id="430" r:id="rId12"/>
    <p:sldId id="467" r:id="rId13"/>
    <p:sldId id="428" r:id="rId14"/>
    <p:sldId id="408" r:id="rId15"/>
    <p:sldId id="431" r:id="rId16"/>
    <p:sldId id="468" r:id="rId17"/>
    <p:sldId id="432" r:id="rId18"/>
    <p:sldId id="433" r:id="rId19"/>
    <p:sldId id="434" r:id="rId20"/>
    <p:sldId id="435" r:id="rId21"/>
    <p:sldId id="436" r:id="rId22"/>
    <p:sldId id="437" r:id="rId23"/>
    <p:sldId id="469" r:id="rId24"/>
    <p:sldId id="470" r:id="rId25"/>
    <p:sldId id="473" r:id="rId26"/>
    <p:sldId id="475" r:id="rId27"/>
    <p:sldId id="449" r:id="rId28"/>
    <p:sldId id="456" r:id="rId29"/>
    <p:sldId id="439" r:id="rId30"/>
    <p:sldId id="457" r:id="rId31"/>
    <p:sldId id="476" r:id="rId32"/>
    <p:sldId id="477" r:id="rId33"/>
    <p:sldId id="478" r:id="rId34"/>
    <p:sldId id="458" r:id="rId35"/>
    <p:sldId id="442" r:id="rId36"/>
    <p:sldId id="459" r:id="rId37"/>
    <p:sldId id="461" r:id="rId38"/>
    <p:sldId id="465" r:id="rId39"/>
    <p:sldId id="445" r:id="rId40"/>
    <p:sldId id="466" r:id="rId41"/>
    <p:sldId id="446" r:id="rId42"/>
    <p:sldId id="464" r:id="rId43"/>
    <p:sldId id="462" r:id="rId44"/>
    <p:sldId id="448" r:id="rId45"/>
    <p:sldId id="479" r:id="rId46"/>
    <p:sldId id="480" r:id="rId47"/>
    <p:sldId id="481" r:id="rId48"/>
    <p:sldId id="535" r:id="rId49"/>
    <p:sldId id="536" r:id="rId50"/>
    <p:sldId id="521" r:id="rId51"/>
    <p:sldId id="573" r:id="rId52"/>
    <p:sldId id="574" r:id="rId53"/>
    <p:sldId id="575" r:id="rId54"/>
    <p:sldId id="576" r:id="rId55"/>
    <p:sldId id="482" r:id="rId56"/>
    <p:sldId id="483" r:id="rId57"/>
    <p:sldId id="544" r:id="rId58"/>
    <p:sldId id="546" r:id="rId59"/>
    <p:sldId id="547" r:id="rId60"/>
    <p:sldId id="548" r:id="rId61"/>
    <p:sldId id="549" r:id="rId62"/>
    <p:sldId id="552" r:id="rId63"/>
    <p:sldId id="551" r:id="rId64"/>
    <p:sldId id="554" r:id="rId65"/>
    <p:sldId id="555" r:id="rId66"/>
    <p:sldId id="557" r:id="rId67"/>
    <p:sldId id="513" r:id="rId68"/>
    <p:sldId id="563" r:id="rId69"/>
    <p:sldId id="516" r:id="rId70"/>
    <p:sldId id="517" r:id="rId71"/>
    <p:sldId id="559" r:id="rId72"/>
    <p:sldId id="560" r:id="rId73"/>
    <p:sldId id="495" r:id="rId74"/>
    <p:sldId id="562" r:id="rId75"/>
    <p:sldId id="561" r:id="rId76"/>
    <p:sldId id="577" r:id="rId77"/>
    <p:sldId id="578" r:id="rId78"/>
    <p:sldId id="556" r:id="rId79"/>
    <p:sldId id="490" r:id="rId80"/>
    <p:sldId id="565" r:id="rId81"/>
    <p:sldId id="566" r:id="rId82"/>
    <p:sldId id="570" r:id="rId83"/>
    <p:sldId id="568" r:id="rId84"/>
    <p:sldId id="569" r:id="rId85"/>
    <p:sldId id="579" r:id="rId86"/>
    <p:sldId id="474" r:id="rId87"/>
  </p:sldIdLst>
  <p:sldSz cx="9144000" cy="6858000" type="screen4x3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>
          <p15:clr>
            <a:srgbClr val="A4A3A4"/>
          </p15:clr>
        </p15:guide>
        <p15:guide id="2" pos="451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66"/>
    <a:srgbClr val="FF993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163" autoAdjust="0"/>
  </p:normalViewPr>
  <p:slideViewPr>
    <p:cSldViewPr showGuides="1">
      <p:cViewPr varScale="1">
        <p:scale>
          <a:sx n="59" d="100"/>
          <a:sy n="59" d="100"/>
        </p:scale>
        <p:origin x="1500" y="52"/>
      </p:cViewPr>
      <p:guideLst>
        <p:guide orient="horz" pos="346"/>
        <p:guide pos="45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7956-B2B7-4F61-89C8-CAD0C80FF734}" type="datetimeFigureOut">
              <a:rPr lang="en-GB" smtClean="0"/>
              <a:pPr/>
              <a:t>13/02/2023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2A6F2-4AE1-4385-ABD6-10FCC3249DA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2171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22AD4-7DB7-45C8-B816-4DF7645EE769}" type="datetimeFigureOut">
              <a:rPr lang="en-GB" smtClean="0"/>
              <a:t>13/02/2023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1235075"/>
            <a:ext cx="4441825" cy="3332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93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A97A13-6C2A-4803-9BA4-BA24E611C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428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97A13-6C2A-4803-9BA4-BA24E611C6C0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875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>
            <a:extLst>
              <a:ext uri="{FF2B5EF4-FFF2-40B4-BE49-F238E27FC236}">
                <a16:creationId xmlns:a16="http://schemas.microsoft.com/office/drawing/2014/main" id="{737C2F89-7173-374A-A1B5-53C5E24A6A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0" name="Rectangle 3">
            <a:extLst>
              <a:ext uri="{FF2B5EF4-FFF2-40B4-BE49-F238E27FC236}">
                <a16:creationId xmlns:a16="http://schemas.microsoft.com/office/drawing/2014/main" id="{433AEE27-9262-7549-968C-751AC02D77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negative feedback stabilizes the climate system, counteracting the original action.</a:t>
            </a:r>
          </a:p>
        </p:txBody>
      </p:sp>
    </p:spTree>
    <p:extLst>
      <p:ext uri="{BB962C8B-B14F-4D97-AF65-F5344CB8AC3E}">
        <p14:creationId xmlns:p14="http://schemas.microsoft.com/office/powerpoint/2010/main" val="1278281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97A13-6C2A-4803-9BA4-BA24E611C6C0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947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A97A13-6C2A-4803-9BA4-BA24E611C6C0}" type="slidenum">
              <a:rPr lang="en-GB" smtClean="0"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638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64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74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10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13/02/2023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87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13/02/2023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8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13/02/2023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891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13/02/2023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09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476672"/>
          </a:xfrm>
          <a:prstGeom prst="rect">
            <a:avLst/>
          </a:prstGeom>
          <a:solidFill>
            <a:srgbClr val="6699FF"/>
          </a:solidFill>
          <a:ln>
            <a:solidFill>
              <a:srgbClr val="66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504056"/>
          </a:xfrm>
        </p:spPr>
        <p:txBody>
          <a:bodyPr>
            <a:noAutofit/>
          </a:bodyPr>
          <a:lstStyle>
            <a:lvl1pPr>
              <a:defRPr sz="2800" b="1" u="sng" spc="3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669360"/>
            <a:ext cx="9144000" cy="0"/>
          </a:xfrm>
          <a:prstGeom prst="line">
            <a:avLst/>
          </a:prstGeom>
          <a:ln w="19050">
            <a:solidFill>
              <a:srgbClr val="66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-33070" y="6642815"/>
            <a:ext cx="39946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cap="all" dirty="0">
                <a:solidFill>
                  <a:srgbClr val="6699FF"/>
                </a:solidFill>
              </a:rPr>
              <a:t>Introduction  To Petroleum Geology – B.</a:t>
            </a:r>
            <a:r>
              <a:rPr lang="en-GB" sz="1200" cap="all" baseline="0" dirty="0">
                <a:solidFill>
                  <a:srgbClr val="6699FF"/>
                </a:solidFill>
              </a:rPr>
              <a:t> Legler 2013</a:t>
            </a:r>
            <a:endParaRPr lang="en-GB" sz="1200" cap="all" dirty="0">
              <a:solidFill>
                <a:srgbClr val="669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13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13/02/2023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991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13/02/2023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90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242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84413-C829-4961-8E50-198007333F2B}" type="datetimeFigureOut">
              <a:rPr lang="en-GB" smtClean="0"/>
              <a:pPr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213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284318-C082-0145-B871-04B1EE67F4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53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b="8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84413-C829-4961-8E50-198007333F2B}" type="datetimeFigureOut">
              <a:rPr lang="en-GB" smtClean="0"/>
              <a:pPr/>
              <a:t>13/02/2023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247F8-AAD6-42DE-BDAA-71219EE1B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08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DdIUuUY0L9c" TargetMode="External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sKTzBZNjtE" TargetMode="External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jpeg"/><Relationship Id="rId4" Type="http://schemas.openxmlformats.org/officeDocument/2006/relationships/image" Target="../media/image9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371/journal.pone.0203210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76clm5_Qpw" TargetMode="External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eg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eg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0" y="0"/>
            <a:ext cx="9142909" cy="6858000"/>
          </a:xfrm>
          <a:prstGeom prst="rect">
            <a:avLst/>
          </a:prstGeom>
        </p:spPr>
      </p:pic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107504" y="188640"/>
            <a:ext cx="8928992" cy="2520280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EART11100: </a:t>
            </a: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Understanding 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he 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A dynamic Planet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How and where do we melt rock?</a:t>
            </a:r>
            <a:endParaRPr kumimoji="0" lang="en-GB" sz="4800" b="1" i="0" u="none" strike="noStrike" kern="1200" cap="none" spc="0" normalizeH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925534" y="6561218"/>
            <a:ext cx="2326986" cy="252158"/>
          </a:xfrm>
          <a:prstGeom prst="rect">
            <a:avLst/>
          </a:prstGeom>
          <a:noFill/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500" b="1" dirty="0">
                <a:latin typeface="Arial" pitchFamily="34" charset="0"/>
                <a:cs typeface="Arial" pitchFamily="34" charset="0"/>
              </a:rPr>
              <a:t>Jurassic sill, Antarctica</a:t>
            </a: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algn="l"/>
            <a:endParaRPr lang="en-GB" sz="15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15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672" y="1178750"/>
            <a:ext cx="5832648" cy="3586094"/>
          </a:xfrm>
          <a:prstGeom prst="rect">
            <a:avLst/>
          </a:prstGeom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Intended learning outcomes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4172" y="4890858"/>
            <a:ext cx="8964489" cy="1440160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… you should be able to</a:t>
            </a: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explain the main mechanisms for melting in the crust and upper mantle, and</a:t>
            </a: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integrate this information into plate tectonics to make predictions about where these different types of melting happen</a:t>
            </a:r>
          </a:p>
        </p:txBody>
      </p:sp>
      <p:sp>
        <p:nvSpPr>
          <p:cNvPr id="2" name="Rectangle 1"/>
          <p:cNvSpPr/>
          <p:nvPr/>
        </p:nvSpPr>
        <p:spPr>
          <a:xfrm>
            <a:off x="6084168" y="2978950"/>
            <a:ext cx="1152128" cy="72008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547664" y="2726922"/>
            <a:ext cx="1080120" cy="111612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7079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6" descr="Fig. 1.1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512" y="2811023"/>
            <a:ext cx="5760640" cy="3901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What are igneous rocks?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15361" name="Text Box 5"/>
          <p:cNvSpPr txBox="1">
            <a:spLocks noChangeArrowheads="1"/>
          </p:cNvSpPr>
          <p:nvPr/>
        </p:nvSpPr>
        <p:spPr bwMode="auto">
          <a:xfrm>
            <a:off x="611560" y="1353026"/>
            <a:ext cx="838200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/>
                </a:solidFill>
              </a:rPr>
              <a:t>All igneous rocks crystallise from</a:t>
            </a:r>
            <a:r>
              <a:rPr lang="en-GB" sz="2000" b="1" dirty="0"/>
              <a:t> magma.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/>
                </a:solidFill>
              </a:rPr>
              <a:t>Magma  is molten rock in the subsurface and usually consists of...					liquid  (usually silicate liquid)</a:t>
            </a:r>
          </a:p>
          <a:p>
            <a:pPr eaLnBrk="1" hangingPunct="1"/>
            <a:r>
              <a:rPr lang="en-GB" sz="2000" b="1" dirty="0">
                <a:solidFill>
                  <a:schemeClr val="tx1"/>
                </a:solidFill>
              </a:rPr>
              <a:t>					± crystals</a:t>
            </a:r>
          </a:p>
          <a:p>
            <a:pPr eaLnBrk="1" hangingPunct="1"/>
            <a:r>
              <a:rPr lang="en-GB" sz="2000" b="1" dirty="0">
                <a:solidFill>
                  <a:schemeClr val="tx1"/>
                </a:solidFill>
              </a:rPr>
              <a:t>					± gas bubbles</a:t>
            </a:r>
          </a:p>
        </p:txBody>
      </p:sp>
    </p:spTree>
    <p:extLst>
      <p:ext uri="{BB962C8B-B14F-4D97-AF65-F5344CB8AC3E}">
        <p14:creationId xmlns:p14="http://schemas.microsoft.com/office/powerpoint/2010/main" val="770819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7504" y="1340768"/>
            <a:ext cx="8712968" cy="367240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Magmas form because the interior of the Earth is </a:t>
            </a:r>
            <a:r>
              <a:rPr lang="en-GB" sz="2000" b="1" dirty="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rPr>
              <a:t>hot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When the Earth formed from accretion of colliding planetesimals, kinetic energy from the colliding planetesimals 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  <a:sym typeface="Wingdings"/>
              </a:rPr>
              <a:t> </a:t>
            </a:r>
            <a:r>
              <a:rPr lang="en-GB" sz="2000" b="1" dirty="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rPr>
              <a:t>heat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 energy. </a:t>
            </a:r>
            <a:b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</a:br>
            <a:r>
              <a:rPr lang="en-GB" sz="2000" b="1" dirty="0">
                <a:solidFill>
                  <a:srgbClr val="333399"/>
                </a:solidFill>
                <a:latin typeface="Arial" charset="0"/>
                <a:ea typeface="ＭＳ Ｐゴシック" charset="0"/>
                <a:cs typeface="ＭＳ Ｐゴシック" charset="0"/>
              </a:rPr>
              <a:t>The Earth was so hot that most of it probably melted.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Why do magmas form?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6" name="Picture 5" descr="Fig.3.1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9948" y="3068960"/>
            <a:ext cx="3609150" cy="3559254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11767" y="2780928"/>
            <a:ext cx="4504093" cy="367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Another early </a:t>
            </a:r>
            <a:r>
              <a:rPr lang="en-GB" sz="2000" b="1" dirty="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rPr>
              <a:t>heat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 source was gravitational energy from iron sinking to form the core.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Throughout Earth’s history, </a:t>
            </a:r>
            <a:r>
              <a:rPr lang="en-GB" sz="2000" b="1" dirty="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rPr>
              <a:t>heat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 is being added from radioactive decay.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The </a:t>
            </a:r>
            <a:r>
              <a:rPr lang="en-GB" sz="2000" b="1" dirty="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rPr>
              <a:t>hot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 Earth loses its heat mostly through magmatism.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Arial" pitchFamily="34" charset="0"/>
              <a:buNone/>
            </a:pPr>
            <a:r>
              <a:rPr lang="en-GB" sz="2000" b="1" dirty="0">
                <a:solidFill>
                  <a:srgbClr val="333399"/>
                </a:solidFill>
                <a:latin typeface="Arial" charset="0"/>
                <a:ea typeface="ＭＳ Ｐゴシック" charset="0"/>
                <a:cs typeface="ＭＳ Ｐゴシック" charset="0"/>
              </a:rPr>
              <a:t>(Read more in </a:t>
            </a:r>
            <a:r>
              <a:rPr lang="en-GB" sz="2000" b="1" dirty="0" err="1">
                <a:solidFill>
                  <a:srgbClr val="333399"/>
                </a:solidFill>
                <a:latin typeface="Arial" charset="0"/>
                <a:ea typeface="ＭＳ Ｐゴシック" charset="0"/>
                <a:cs typeface="ＭＳ Ｐゴシック" charset="0"/>
              </a:rPr>
              <a:t>Marshak</a:t>
            </a:r>
            <a:r>
              <a:rPr lang="en-GB" sz="2000" b="1" dirty="0">
                <a:solidFill>
                  <a:srgbClr val="333399"/>
                </a:solidFill>
                <a:latin typeface="Arial" charset="0"/>
                <a:ea typeface="ＭＳ Ｐゴシック" charset="0"/>
                <a:cs typeface="ＭＳ Ｐゴシック" charset="0"/>
              </a:rPr>
              <a:t> Chapter 6)</a:t>
            </a:r>
          </a:p>
        </p:txBody>
      </p:sp>
    </p:spTree>
    <p:extLst>
      <p:ext uri="{BB962C8B-B14F-4D97-AF65-F5344CB8AC3E}">
        <p14:creationId xmlns:p14="http://schemas.microsoft.com/office/powerpoint/2010/main" val="1823827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hemical layering of the crust and upper mant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2674" y="3501008"/>
            <a:ext cx="4742245" cy="302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062714" y="4509120"/>
            <a:ext cx="1224136" cy="100811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063351" y="4437112"/>
            <a:ext cx="951691" cy="504056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646890" y="5157192"/>
            <a:ext cx="1224136" cy="504056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Where do magmas come from?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7504" y="1810743"/>
            <a:ext cx="4248472" cy="1436314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Continental Crust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Andesitic – “intermediate”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52-63% SiO</a:t>
            </a:r>
            <a:r>
              <a:rPr lang="en-GB" sz="2000" b="1" baseline="-25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2</a:t>
            </a:r>
            <a:r>
              <a:rPr lang="en-GB" sz="2000" b="1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, high in K</a:t>
            </a:r>
            <a:r>
              <a:rPr lang="en-GB" sz="2000" b="1" baseline="-25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2</a:t>
            </a:r>
            <a:r>
              <a:rPr lang="en-GB" sz="2000" b="1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O and Na</a:t>
            </a:r>
            <a:r>
              <a:rPr lang="en-GB" sz="2000" b="1" baseline="-25000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2</a:t>
            </a:r>
            <a:r>
              <a:rPr lang="en-GB" sz="2000" b="1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O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Quartz, Feldspars, Fe and Mg minerals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GB" sz="2000" b="1" dirty="0">
              <a:solidFill>
                <a:srgbClr val="FF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GB" sz="2000" b="1" dirty="0">
              <a:solidFill>
                <a:srgbClr val="FF0000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25296" y="4514807"/>
            <a:ext cx="3577378" cy="14363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Upper Mantle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Peridotite – “ultrabasic”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&lt;45% SiO</a:t>
            </a:r>
            <a:r>
              <a:rPr lang="en-GB" sz="2000" b="1" baseline="-25000" dirty="0">
                <a:latin typeface="Arial" charset="0"/>
                <a:ea typeface="ＭＳ Ｐゴシック" charset="0"/>
                <a:cs typeface="ＭＳ Ｐゴシック" charset="0"/>
              </a:rPr>
              <a:t>2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, high in </a:t>
            </a:r>
            <a:r>
              <a:rPr lang="en-GB" sz="2000" b="1" dirty="0" err="1">
                <a:latin typeface="Arial" charset="0"/>
                <a:ea typeface="ＭＳ Ｐゴシック" charset="0"/>
                <a:cs typeface="ＭＳ Ｐゴシック" charset="0"/>
              </a:rPr>
              <a:t>FeO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 and </a:t>
            </a:r>
            <a:r>
              <a:rPr lang="en-GB" sz="2000" b="1" dirty="0" err="1">
                <a:latin typeface="Arial" charset="0"/>
                <a:ea typeface="ＭＳ Ｐゴシック" charset="0"/>
                <a:cs typeface="ＭＳ Ｐゴシック" charset="0"/>
              </a:rPr>
              <a:t>MgO</a:t>
            </a:r>
            <a:endParaRPr lang="en-GB" sz="20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Olivine and pyroxenes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5148064" y="1252919"/>
            <a:ext cx="3296855" cy="2626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rPr>
              <a:t>Oceanic crust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rPr>
              <a:t>Basaltic – “basic”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rPr>
              <a:t>45-52% SiO</a:t>
            </a:r>
            <a:r>
              <a:rPr lang="en-GB" sz="2000" b="1" baseline="-25000" dirty="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rPr>
              <a:t>2</a:t>
            </a:r>
            <a:r>
              <a:rPr lang="en-GB" sz="2000" b="1" dirty="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rPr>
              <a:t>, high in </a:t>
            </a:r>
            <a:r>
              <a:rPr lang="en-GB" sz="2000" b="1" dirty="0" err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rPr>
              <a:t>FeO</a:t>
            </a:r>
            <a:r>
              <a:rPr lang="en-GB" sz="2000" b="1" dirty="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GB" sz="2000" b="1" dirty="0" err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rPr>
              <a:t>MgO</a:t>
            </a:r>
            <a:r>
              <a:rPr lang="en-GB" sz="2000" b="1" dirty="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rPr>
              <a:t>, and </a:t>
            </a:r>
            <a:r>
              <a:rPr lang="en-GB" sz="2000" b="1" dirty="0" err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rPr>
              <a:t>CaO</a:t>
            </a:r>
            <a:endParaRPr lang="en-GB" sz="2000" b="1" dirty="0">
              <a:solidFill>
                <a:schemeClr val="tx2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rPr>
              <a:t>Olivine,  pyroxenes and plagioclase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7362" y="1810742"/>
            <a:ext cx="4228614" cy="219432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5116643" y="1196586"/>
            <a:ext cx="3055757" cy="2300575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107504" y="4296777"/>
            <a:ext cx="3456384" cy="230057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125296" y="1093506"/>
            <a:ext cx="4878752" cy="14363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Recap of the composition of the Earth’s surface</a:t>
            </a:r>
          </a:p>
        </p:txBody>
      </p:sp>
    </p:spTree>
    <p:extLst>
      <p:ext uri="{BB962C8B-B14F-4D97-AF65-F5344CB8AC3E}">
        <p14:creationId xmlns:p14="http://schemas.microsoft.com/office/powerpoint/2010/main" val="2636402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1988840"/>
            <a:ext cx="8738484" cy="4681755"/>
          </a:xfrm>
          <a:prstGeom prst="rect">
            <a:avLst/>
          </a:prstGeom>
        </p:spPr>
      </p:pic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Where do magmas come from?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25296" y="1093506"/>
            <a:ext cx="8792700" cy="14363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Upper mantle (ultrabasic), and lower continental crust (intermediate) are the two main location where melting happens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lead two major groups of igneous rocks (give or take)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Why? We will understand by the end of the lecture.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115616" y="4837158"/>
            <a:ext cx="4032449" cy="423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Mantle peridotite (ultrabasic)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 rot="486076">
            <a:off x="1903164" y="3316366"/>
            <a:ext cx="3285927" cy="6087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Ocean crust basal (basic)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6272375" y="2924944"/>
            <a:ext cx="2692460" cy="6087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Upper continental crust granite (acidic)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6942752" y="3563426"/>
            <a:ext cx="2088232" cy="1491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spcBef>
                <a:spcPct val="50000"/>
              </a:spcBef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Lower continental crust (</a:t>
            </a:r>
            <a:r>
              <a:rPr lang="en-GB" sz="2000" b="1" dirty="0" err="1">
                <a:latin typeface="Arial" charset="0"/>
                <a:ea typeface="ＭＳ Ｐゴシック" charset="0"/>
                <a:cs typeface="ＭＳ Ｐゴシック" charset="0"/>
              </a:rPr>
              <a:t>intemediate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2723" y="3213341"/>
            <a:ext cx="830925" cy="86373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7571405" y="4828918"/>
            <a:ext cx="830925" cy="86373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1457864" y="3494697"/>
            <a:ext cx="1224136" cy="423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GB" sz="2000" b="1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Melting!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6443671" y="5384909"/>
            <a:ext cx="1224136" cy="423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GB" sz="2000" b="1" dirty="0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Melting!</a:t>
            </a:r>
          </a:p>
        </p:txBody>
      </p:sp>
    </p:spTree>
    <p:extLst>
      <p:ext uri="{BB962C8B-B14F-4D97-AF65-F5344CB8AC3E}">
        <p14:creationId xmlns:p14="http://schemas.microsoft.com/office/powerpoint/2010/main" val="414838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79512" y="1412875"/>
            <a:ext cx="8785101" cy="518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Volcanoes exist…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… so we know that there must be molten rock – magma – at depth.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GB" sz="20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But…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…we also know from seismology that  the Earth’s interior is </a:t>
            </a:r>
            <a:r>
              <a:rPr lang="en-GB" altLang="ja-JP" sz="2000" b="1" dirty="0">
                <a:latin typeface="Arial" charset="0"/>
                <a:ea typeface="ＭＳ Ｐゴシック" charset="0"/>
                <a:cs typeface="ＭＳ Ｐゴシック" charset="0"/>
              </a:rPr>
              <a:t>mostly solid to base of mantle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GB" sz="2000" b="1" dirty="0">
              <a:latin typeface="Cambria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Production of magma must be: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	(1) localised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	(2) require special conditions.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			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4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melting</a:t>
            </a:r>
          </a:p>
        </p:txBody>
      </p:sp>
      <p:pic>
        <p:nvPicPr>
          <p:cNvPr id="1026" name="Picture 2" descr="Image result for lava hawaii&quot;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2210" y="3861048"/>
            <a:ext cx="4322403" cy="288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83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81630" y="1339453"/>
            <a:ext cx="8569325" cy="518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dirty="0">
                <a:latin typeface="Arial" charset="0"/>
                <a:ea typeface="ＭＳ Ｐゴシック" charset="0"/>
                <a:cs typeface="ＭＳ Ｐゴシック" charset="0"/>
              </a:rPr>
              <a:t>Melting will be caused by increasing the temperature of the rock to above its melting point.	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		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1920" y="2348880"/>
            <a:ext cx="5218176" cy="3886200"/>
          </a:xfrm>
          <a:prstGeom prst="rect">
            <a:avLst/>
          </a:prstGeom>
        </p:spPr>
      </p:pic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62471" y="2346449"/>
            <a:ext cx="3514324" cy="4464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dirty="0">
                <a:latin typeface="Arial" charset="0"/>
                <a:ea typeface="ＭＳ Ｐゴシック" charset="0"/>
                <a:cs typeface="ＭＳ Ｐゴシック" charset="0"/>
              </a:rPr>
              <a:t>The melting point of rock increases with pressure (and depth)</a:t>
            </a:r>
            <a:endParaRPr lang="en-GB" sz="2000" dirty="0">
              <a:latin typeface="Arial" charset="0"/>
              <a:ea typeface="ＭＳ Ｐゴシック" charset="0"/>
              <a:cs typeface="ＭＳ Ｐゴシック" charset="0"/>
              <a:sym typeface="Wingdings" panose="05000000000000000000" pitchFamily="2" charset="2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GB" sz="2000" dirty="0">
                <a:latin typeface="Arial" charset="0"/>
                <a:ea typeface="ＭＳ Ｐゴシック" charset="0"/>
                <a:cs typeface="ＭＳ Ｐゴシック" charset="0"/>
                <a:sym typeface="Wingdings" panose="05000000000000000000" pitchFamily="2" charset="2"/>
              </a:rPr>
              <a:t>this profile is called the </a:t>
            </a:r>
            <a:r>
              <a:rPr lang="en-GB" sz="2000" u="sng" dirty="0">
                <a:latin typeface="Arial" charset="0"/>
                <a:ea typeface="ＭＳ Ｐゴシック" charset="0"/>
                <a:cs typeface="ＭＳ Ｐゴシック" charset="0"/>
                <a:sym typeface="Wingdings" panose="05000000000000000000" pitchFamily="2" charset="2"/>
              </a:rPr>
              <a:t>solidus</a:t>
            </a:r>
            <a:r>
              <a:rPr lang="en-GB" sz="2000" dirty="0">
                <a:latin typeface="Arial" charset="0"/>
                <a:ea typeface="ＭＳ Ｐゴシック" charset="0"/>
                <a:cs typeface="ＭＳ Ｐゴシック" charset="0"/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000" dirty="0">
                <a:latin typeface=" arial"/>
              </a:rPr>
              <a:t>Melting can only occur if the </a:t>
            </a:r>
            <a:r>
              <a:rPr lang="en-US" sz="2000" dirty="0" err="1">
                <a:latin typeface=" arial"/>
              </a:rPr>
              <a:t>geotherm</a:t>
            </a:r>
            <a:r>
              <a:rPr lang="en-US" sz="2000" dirty="0">
                <a:latin typeface=" arial"/>
              </a:rPr>
              <a:t> (T vs. depth curve) intersects the solidus.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sz="2000" b="1" dirty="0">
              <a:latin typeface=" arial"/>
              <a:ea typeface="ＭＳ Ｐゴシック" charset="0"/>
              <a:cs typeface="ＭＳ Ｐゴシック" charset="0"/>
              <a:sym typeface="Wingdings" panose="05000000000000000000" pitchFamily="2" charset="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000" b="1" dirty="0">
                <a:latin typeface=" arial"/>
                <a:ea typeface="ＭＳ Ｐゴシック" charset="0"/>
                <a:cs typeface="ＭＳ Ｐゴシック" charset="0"/>
                <a:sym typeface="Wingdings" panose="05000000000000000000" pitchFamily="2" charset="2"/>
              </a:rPr>
              <a:t>Which it normally does not!</a:t>
            </a:r>
            <a:endParaRPr lang="en-GB" sz="2000" b="1" dirty="0">
              <a:latin typeface="Arial" charset="0"/>
              <a:ea typeface="ＭＳ Ｐゴシック" charset="0"/>
              <a:cs typeface="ＭＳ Ｐゴシック" charset="0"/>
              <a:sym typeface="Wingdings" panose="05000000000000000000" pitchFamily="2" charset="2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endParaRPr lang="en-GB" sz="2000" b="1" dirty="0">
              <a:latin typeface="Arial" charset="0"/>
              <a:ea typeface="ＭＳ Ｐゴシック" charset="0"/>
              <a:cs typeface="ＭＳ Ｐゴシック" charset="0"/>
              <a:sym typeface="Wingdings" panose="05000000000000000000" pitchFamily="2" charset="2"/>
            </a:endParaRP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endParaRPr lang="en-GB" sz="20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			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995936" y="6245662"/>
            <a:ext cx="4913530" cy="567714"/>
          </a:xfrm>
        </p:spPr>
        <p:txBody>
          <a:bodyPr>
            <a:noAutofit/>
          </a:bodyPr>
          <a:lstStyle/>
          <a:p>
            <a:pPr algn="l"/>
            <a:r>
              <a:rPr lang="en-US" sz="1600" b="1" dirty="0">
                <a:latin typeface="Arial" pitchFamily="34" charset="0"/>
                <a:cs typeface="Arial" pitchFamily="34" charset="0"/>
              </a:rPr>
              <a:t>Melting temperatures of mantle peridotite as a function of pressure (depth) </a:t>
            </a:r>
            <a:endParaRPr lang="en-GB" sz="1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1920" y="2348880"/>
            <a:ext cx="5218176" cy="3886200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4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melting</a:t>
            </a:r>
          </a:p>
        </p:txBody>
      </p:sp>
    </p:spTree>
    <p:extLst>
      <p:ext uri="{BB962C8B-B14F-4D97-AF65-F5344CB8AC3E}">
        <p14:creationId xmlns:p14="http://schemas.microsoft.com/office/powerpoint/2010/main" val="168649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7" descr="magma sources 1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1676400"/>
            <a:ext cx="8382000" cy="404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4356100" y="5229225"/>
            <a:ext cx="4176713" cy="1622425"/>
            <a:chOff x="4355976" y="5229200"/>
            <a:chExt cx="4176464" cy="1623085"/>
          </a:xfrm>
        </p:grpSpPr>
        <p:sp>
          <p:nvSpPr>
            <p:cNvPr id="22539" name="TextBox 1"/>
            <p:cNvSpPr txBox="1">
              <a:spLocks noChangeArrowheads="1"/>
            </p:cNvSpPr>
            <p:nvPr/>
          </p:nvSpPr>
          <p:spPr bwMode="auto">
            <a:xfrm>
              <a:off x="4355976" y="6021288"/>
              <a:ext cx="417646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solidFill>
                    <a:schemeClr val="accent2"/>
                  </a:solidFill>
                </a:rPr>
                <a:t>= relationship of temperature to depth in the Earth</a:t>
              </a:r>
            </a:p>
          </p:txBody>
        </p:sp>
        <p:cxnSp>
          <p:nvCxnSpPr>
            <p:cNvPr id="22540" name="Straight Arrow Connector 3"/>
            <p:cNvCxnSpPr>
              <a:cxnSpLocks noChangeShapeType="1"/>
            </p:cNvCxnSpPr>
            <p:nvPr/>
          </p:nvCxnSpPr>
          <p:spPr bwMode="auto">
            <a:xfrm flipV="1">
              <a:off x="6156176" y="5229200"/>
              <a:ext cx="216024" cy="864096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537" name="TextBox 6"/>
          <p:cNvSpPr txBox="1">
            <a:spLocks noChangeArrowheads="1"/>
          </p:cNvSpPr>
          <p:nvPr/>
        </p:nvSpPr>
        <p:spPr bwMode="auto">
          <a:xfrm>
            <a:off x="2051720" y="1072505"/>
            <a:ext cx="6228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dirty="0"/>
              <a:t>= temperature at which rocks start to melt</a:t>
            </a:r>
          </a:p>
        </p:txBody>
      </p:sp>
      <p:cxnSp>
        <p:nvCxnSpPr>
          <p:cNvPr id="22538" name="Straight Arrow Connector 7"/>
          <p:cNvCxnSpPr>
            <a:cxnSpLocks noChangeShapeType="1"/>
          </p:cNvCxnSpPr>
          <p:nvPr/>
        </p:nvCxnSpPr>
        <p:spPr bwMode="auto">
          <a:xfrm flipH="1">
            <a:off x="7128284" y="1484784"/>
            <a:ext cx="684076" cy="159879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-323850" y="4652963"/>
            <a:ext cx="4175125" cy="1439862"/>
            <a:chOff x="-324544" y="4653136"/>
            <a:chExt cx="4176464" cy="1440160"/>
          </a:xfrm>
        </p:grpSpPr>
        <p:sp>
          <p:nvSpPr>
            <p:cNvPr id="22535" name="TextBox 12"/>
            <p:cNvSpPr txBox="1">
              <a:spLocks noChangeArrowheads="1"/>
            </p:cNvSpPr>
            <p:nvPr/>
          </p:nvSpPr>
          <p:spPr bwMode="auto">
            <a:xfrm>
              <a:off x="-324544" y="5631631"/>
              <a:ext cx="41764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accent2"/>
                  </a:solidFill>
                </a:rPr>
                <a:t>but </a:t>
              </a:r>
              <a:r>
                <a:rPr lang="en-US" u="sng" dirty="0">
                  <a:solidFill>
                    <a:schemeClr val="accent2"/>
                  </a:solidFill>
                </a:rPr>
                <a:t>solid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cxnSp>
          <p:nvCxnSpPr>
            <p:cNvPr id="22536" name="Straight Arrow Connector 13"/>
            <p:cNvCxnSpPr>
              <a:cxnSpLocks noChangeShapeType="1"/>
            </p:cNvCxnSpPr>
            <p:nvPr/>
          </p:nvCxnSpPr>
          <p:spPr bwMode="auto">
            <a:xfrm flipV="1">
              <a:off x="1691680" y="4653136"/>
              <a:ext cx="216024" cy="1152128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4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melting</a:t>
            </a:r>
          </a:p>
        </p:txBody>
      </p:sp>
    </p:spTree>
    <p:extLst>
      <p:ext uri="{BB962C8B-B14F-4D97-AF65-F5344CB8AC3E}">
        <p14:creationId xmlns:p14="http://schemas.microsoft.com/office/powerpoint/2010/main" val="4189072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"/>
          <a:stretch/>
        </p:blipFill>
        <p:spPr>
          <a:xfrm>
            <a:off x="2915816" y="1955762"/>
            <a:ext cx="2579841" cy="2458203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79512" y="1124744"/>
            <a:ext cx="8569325" cy="607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So what can we do to melt? 	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872" y="1804347"/>
            <a:ext cx="266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Ambient mantle </a:t>
            </a:r>
            <a:r>
              <a:rPr lang="en-GB" sz="1400" dirty="0" err="1"/>
              <a:t>geotherm</a:t>
            </a:r>
            <a:endParaRPr lang="en-GB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070176" y="1804347"/>
            <a:ext cx="266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Mantle plume </a:t>
            </a:r>
            <a:r>
              <a:rPr lang="en-GB" sz="1400" dirty="0" err="1"/>
              <a:t>geotherm</a:t>
            </a:r>
            <a:endParaRPr lang="en-GB" sz="1400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5700089" y="1428610"/>
            <a:ext cx="3335552" cy="19048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Basic case - we can introduce heat.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Upwelling of warm mantle plume.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Melting occurs relatively deeply (~100 km) through</a:t>
            </a:r>
            <a:r>
              <a:rPr lang="en-GB" sz="2000" b="1" u="sng" dirty="0">
                <a:latin typeface="Arial" charset="0"/>
                <a:ea typeface="ＭＳ Ｐゴシック" charset="0"/>
                <a:cs typeface="ＭＳ Ｐゴシック" charset="0"/>
              </a:rPr>
              <a:t> partial melting 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of </a:t>
            </a:r>
            <a:r>
              <a:rPr lang="en-GB" sz="2000" b="1" u="sng" dirty="0">
                <a:latin typeface="Arial" charset="0"/>
                <a:ea typeface="ＭＳ Ｐゴシック" charset="0"/>
                <a:cs typeface="ＭＳ Ｐゴシック" charset="0"/>
              </a:rPr>
              <a:t>mantle peridotite</a:t>
            </a:r>
            <a:endParaRPr lang="en-GB" sz="2000" b="1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162328" y="5028485"/>
            <a:ext cx="5086413" cy="15961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u="sng" dirty="0">
                <a:latin typeface="Arial" charset="0"/>
                <a:ea typeface="ＭＳ Ｐゴシック" charset="0"/>
                <a:cs typeface="ＭＳ Ｐゴシック" charset="0"/>
              </a:rPr>
              <a:t>Basaltic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 melt rises due to its lesser density of the new phase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This is how </a:t>
            </a:r>
            <a:r>
              <a:rPr lang="en-GB" sz="2000" b="1" u="sng" dirty="0">
                <a:latin typeface="Arial" charset="0"/>
                <a:ea typeface="ＭＳ Ｐゴシック" charset="0"/>
                <a:cs typeface="ＭＳ Ｐゴシック" charset="0"/>
              </a:rPr>
              <a:t>Ocean Islands 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(“Seamounts) are produced.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4788024" y="3284984"/>
            <a:ext cx="360040" cy="36737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FF3300"/>
              </a:solidFill>
              <a:effectLst/>
              <a:latin typeface="Arial" pitchFamily="-65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65646" y="2911505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melting</a:t>
            </a:r>
          </a:p>
        </p:txBody>
      </p:sp>
      <p:pic>
        <p:nvPicPr>
          <p:cNvPr id="17" name="Content Placeholder 4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2328" y="1965694"/>
            <a:ext cx="2710904" cy="2545990"/>
          </a:xfrm>
          <a:prstGeom prst="rect">
            <a:avLst/>
          </a:prstGeom>
        </p:spPr>
      </p:pic>
      <p:pic>
        <p:nvPicPr>
          <p:cNvPr id="1026" name="Picture 2" descr="Image result for mantle hotspot&quot;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48064" y="4453697"/>
            <a:ext cx="3724672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4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melting – heating</a:t>
            </a:r>
          </a:p>
        </p:txBody>
      </p:sp>
    </p:spTree>
    <p:extLst>
      <p:ext uri="{BB962C8B-B14F-4D97-AF65-F5344CB8AC3E}">
        <p14:creationId xmlns:p14="http://schemas.microsoft.com/office/powerpoint/2010/main" val="415164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topex.ucsd.edu/marine_topo/gif_images/global_topo_large.gif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7" t="5145" r="2497" b="3529"/>
          <a:stretch/>
        </p:blipFill>
        <p:spPr bwMode="auto">
          <a:xfrm>
            <a:off x="76555" y="1268760"/>
            <a:ext cx="9006071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179512" y="2204864"/>
            <a:ext cx="5256584" cy="4297658"/>
            <a:chOff x="179512" y="2204864"/>
            <a:chExt cx="5256584" cy="4297658"/>
          </a:xfrm>
        </p:grpSpPr>
        <p:grpSp>
          <p:nvGrpSpPr>
            <p:cNvPr id="2" name="Group 1"/>
            <p:cNvGrpSpPr/>
            <p:nvPr/>
          </p:nvGrpSpPr>
          <p:grpSpPr>
            <a:xfrm>
              <a:off x="179512" y="2204864"/>
              <a:ext cx="5256584" cy="4297658"/>
              <a:chOff x="179512" y="2204864"/>
              <a:chExt cx="5256584" cy="4297658"/>
            </a:xfrm>
          </p:grpSpPr>
          <p:pic>
            <p:nvPicPr>
              <p:cNvPr id="4" name="Picture 2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9512" y="3284984"/>
                <a:ext cx="4157026" cy="3217538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  <p:sp>
            <p:nvSpPr>
              <p:cNvPr id="3" name="Rectangle 2"/>
              <p:cNvSpPr/>
              <p:nvPr/>
            </p:nvSpPr>
            <p:spPr>
              <a:xfrm>
                <a:off x="4067944" y="2204864"/>
                <a:ext cx="1368152" cy="14401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5004047" y="3284984"/>
                <a:ext cx="360041" cy="288032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251520" y="5488108"/>
              <a:ext cx="1836204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E.g. Hawaiian Chain</a:t>
              </a:r>
            </a:p>
          </p:txBody>
        </p:sp>
      </p:grp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4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melting – heating</a:t>
            </a:r>
          </a:p>
        </p:txBody>
      </p:sp>
    </p:spTree>
    <p:extLst>
      <p:ext uri="{BB962C8B-B14F-4D97-AF65-F5344CB8AC3E}">
        <p14:creationId xmlns:p14="http://schemas.microsoft.com/office/powerpoint/2010/main" val="275890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Mauna_Kea_smaller.jpg"/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28817"/>
            <a:ext cx="9144000" cy="5929184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8221" y="1268760"/>
            <a:ext cx="4320480" cy="1143000"/>
          </a:xfrm>
        </p:spPr>
        <p:txBody>
          <a:bodyPr>
            <a:normAutofit/>
          </a:bodyPr>
          <a:lstStyle/>
          <a:p>
            <a:pPr algn="l"/>
            <a:r>
              <a:rPr lang="en-GB" sz="2400" dirty="0">
                <a:solidFill>
                  <a:schemeClr val="bg1"/>
                </a:solidFill>
              </a:rPr>
              <a:t>Mauna Kea – an Ocean Island Volcano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4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melting – heating</a:t>
            </a:r>
          </a:p>
        </p:txBody>
      </p:sp>
    </p:spTree>
    <p:extLst>
      <p:ext uri="{BB962C8B-B14F-4D97-AF65-F5344CB8AC3E}">
        <p14:creationId xmlns:p14="http://schemas.microsoft.com/office/powerpoint/2010/main" val="1296154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Fig 13.9.pdf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4140" y="980728"/>
            <a:ext cx="7604168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5929554" y="1813551"/>
            <a:ext cx="1921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plate</a:t>
            </a:r>
          </a:p>
          <a:p>
            <a:r>
              <a:rPr lang="en-GB" dirty="0">
                <a:solidFill>
                  <a:srgbClr val="C00000"/>
                </a:solidFill>
              </a:rPr>
              <a:t>motion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5364088" y="1916832"/>
            <a:ext cx="1188132" cy="108610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8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melting – heating</a:t>
            </a:r>
          </a:p>
        </p:txBody>
      </p:sp>
    </p:spTree>
    <p:extLst>
      <p:ext uri="{BB962C8B-B14F-4D97-AF65-F5344CB8AC3E}">
        <p14:creationId xmlns:p14="http://schemas.microsoft.com/office/powerpoint/2010/main" val="3117386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7504" y="1988702"/>
            <a:ext cx="5500092" cy="2551949"/>
            <a:chOff x="107504" y="1988702"/>
            <a:chExt cx="5500092" cy="2551949"/>
          </a:xfrm>
        </p:grpSpPr>
        <p:pic>
          <p:nvPicPr>
            <p:cNvPr id="4" name="Content Placeholder 5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7504" y="1988702"/>
              <a:ext cx="5500092" cy="2551949"/>
            </a:xfrm>
            <a:prstGeom prst="rect">
              <a:avLst/>
            </a:prstGeom>
          </p:spPr>
        </p:pic>
        <p:grpSp>
          <p:nvGrpSpPr>
            <p:cNvPr id="3" name="Group 2"/>
            <p:cNvGrpSpPr/>
            <p:nvPr/>
          </p:nvGrpSpPr>
          <p:grpSpPr>
            <a:xfrm>
              <a:off x="3923928" y="2894901"/>
              <a:ext cx="574747" cy="258123"/>
              <a:chOff x="3923928" y="2894901"/>
              <a:chExt cx="574747" cy="258123"/>
            </a:xfrm>
            <a:solidFill>
              <a:schemeClr val="bg1"/>
            </a:solidFill>
          </p:grpSpPr>
          <p:sp>
            <p:nvSpPr>
              <p:cNvPr id="2" name="Rectangle 1"/>
              <p:cNvSpPr/>
              <p:nvPr/>
            </p:nvSpPr>
            <p:spPr>
              <a:xfrm>
                <a:off x="3923928" y="2924944"/>
                <a:ext cx="360040" cy="14401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4138635" y="2894901"/>
                <a:ext cx="360040" cy="258123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5" name="TextBox 4"/>
          <p:cNvSpPr txBox="1"/>
          <p:nvPr/>
        </p:nvSpPr>
        <p:spPr>
          <a:xfrm>
            <a:off x="333872" y="1804347"/>
            <a:ext cx="266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Ambient mantle </a:t>
            </a:r>
            <a:r>
              <a:rPr lang="en-GB" sz="1400" dirty="0" err="1"/>
              <a:t>geotherm</a:t>
            </a:r>
            <a:endParaRPr lang="en-GB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3070176" y="1804347"/>
            <a:ext cx="2664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Mid-ocean ridge </a:t>
            </a:r>
            <a:r>
              <a:rPr lang="en-GB" sz="1400" dirty="0" err="1"/>
              <a:t>geotherm</a:t>
            </a:r>
            <a:endParaRPr lang="en-GB" sz="1400" dirty="0"/>
          </a:p>
        </p:txBody>
      </p:sp>
      <p:pic>
        <p:nvPicPr>
          <p:cNvPr id="9" name="Picture 6" descr="Image result for mid ocean ridge crust stretchi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08104" y="4725006"/>
            <a:ext cx="3384376" cy="1899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5700944" y="1988702"/>
            <a:ext cx="3335552" cy="2337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Oceanic crust extended and thinned.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This removes the “lid” over the mantle, and the shallow geothermal gradient is steepened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179512" y="4624715"/>
            <a:ext cx="5086413" cy="21285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u="sng" dirty="0">
                <a:latin typeface="Arial" charset="0"/>
                <a:ea typeface="ＭＳ Ｐゴシック" charset="0"/>
                <a:cs typeface="ＭＳ Ｐゴシック" charset="0"/>
              </a:rPr>
              <a:t>NO HEAT INTRODUCED!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u="sng" dirty="0">
                <a:latin typeface="Arial" charset="0"/>
                <a:ea typeface="ＭＳ Ｐゴシック" charset="0"/>
                <a:cs typeface="ＭＳ Ｐゴシック" charset="0"/>
              </a:rPr>
              <a:t>Basaltic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 melt is produced through </a:t>
            </a:r>
            <a:r>
              <a:rPr lang="en-GB" sz="2000" b="1" u="sng" dirty="0">
                <a:latin typeface="Arial" charset="0"/>
                <a:ea typeface="ＭＳ Ｐゴシック" charset="0"/>
                <a:cs typeface="ＭＳ Ｐゴシック" charset="0"/>
              </a:rPr>
              <a:t>partial melting 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of the peridotite mantle.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This is how </a:t>
            </a:r>
            <a:r>
              <a:rPr lang="en-GB" sz="2000" b="1" u="sng" dirty="0">
                <a:latin typeface="Arial" charset="0"/>
                <a:ea typeface="ＭＳ Ｐゴシック" charset="0"/>
                <a:cs typeface="ＭＳ Ｐゴシック" charset="0"/>
              </a:rPr>
              <a:t>Oceanic Crust 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is produced at </a:t>
            </a:r>
            <a:r>
              <a:rPr lang="en-GB" sz="2000" b="1" u="sng" dirty="0">
                <a:latin typeface="Arial" charset="0"/>
                <a:ea typeface="ＭＳ Ｐゴシック" charset="0"/>
                <a:cs typeface="ＭＳ Ｐゴシック" charset="0"/>
              </a:rPr>
              <a:t>Mid Ocean Ridges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1880" y="2471548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melting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62980" y="1236070"/>
            <a:ext cx="8469460" cy="536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In practice, most common cause is “decompression melting”.</a:t>
            </a:r>
          </a:p>
        </p:txBody>
      </p:sp>
      <p:pic>
        <p:nvPicPr>
          <p:cNvPr id="18" name="Content Placeholder 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3996483" y="2925353"/>
            <a:ext cx="1151033" cy="28803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358801" y="2545856"/>
            <a:ext cx="102361" cy="1456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 bwMode="auto">
          <a:xfrm>
            <a:off x="4391980" y="2493852"/>
            <a:ext cx="360040" cy="35908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FF3300"/>
              </a:solidFill>
              <a:effectLst/>
              <a:latin typeface="Arial" pitchFamily="-65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572000" y="3200102"/>
            <a:ext cx="120460" cy="300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8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melting – decompression</a:t>
            </a:r>
          </a:p>
        </p:txBody>
      </p:sp>
    </p:spTree>
    <p:extLst>
      <p:ext uri="{BB962C8B-B14F-4D97-AF65-F5344CB8AC3E}">
        <p14:creationId xmlns:p14="http://schemas.microsoft.com/office/powerpoint/2010/main" val="244880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topex.ucsd.edu/marine_topo/gif_images/global_topo_large.gif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7" t="5145" r="2497" b="3529"/>
          <a:stretch/>
        </p:blipFill>
        <p:spPr bwMode="auto">
          <a:xfrm>
            <a:off x="76555" y="1268760"/>
            <a:ext cx="9006071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643751" y="1772816"/>
            <a:ext cx="8320737" cy="3196723"/>
            <a:chOff x="643751" y="1772816"/>
            <a:chExt cx="8320737" cy="3196723"/>
          </a:xfrm>
        </p:grpSpPr>
        <p:sp>
          <p:nvSpPr>
            <p:cNvPr id="5" name="Rectangle 4"/>
            <p:cNvSpPr/>
            <p:nvPr/>
          </p:nvSpPr>
          <p:spPr>
            <a:xfrm>
              <a:off x="6804248" y="2348880"/>
              <a:ext cx="2160240" cy="165618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751" y="1772816"/>
              <a:ext cx="3935839" cy="2808312"/>
            </a:xfrm>
            <a:prstGeom prst="rect">
              <a:avLst/>
            </a:prstGeom>
            <a:noFill/>
            <a:ln w="762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643751" y="4661762"/>
              <a:ext cx="393584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E.g. Central Atlantic (amongst many)</a:t>
              </a:r>
            </a:p>
          </p:txBody>
        </p:sp>
      </p:grpSp>
      <p:sp>
        <p:nvSpPr>
          <p:cNvPr id="9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8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melting – decompression</a:t>
            </a:r>
          </a:p>
        </p:txBody>
      </p:sp>
    </p:spTree>
    <p:extLst>
      <p:ext uri="{BB962C8B-B14F-4D97-AF65-F5344CB8AC3E}">
        <p14:creationId xmlns:p14="http://schemas.microsoft.com/office/powerpoint/2010/main" val="2651509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4048" y="1484784"/>
            <a:ext cx="385182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Oceanic crust covers ~70% of the Earth’s surface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18 km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yr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erupted compared to 4 km</a:t>
            </a:r>
            <a:r>
              <a:rPr lang="en-GB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yr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at Ocean Islands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ridges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9829" y="1153410"/>
            <a:ext cx="4322171" cy="2779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60881" y="4003421"/>
            <a:ext cx="4239010" cy="2705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5536" y="4869160"/>
            <a:ext cx="3851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65,000 km of mid-ocean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Oldest oceanic lithosphere is ~200 Ma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8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melting – decompression</a:t>
            </a:r>
          </a:p>
        </p:txBody>
      </p:sp>
    </p:spTree>
    <p:extLst>
      <p:ext uri="{BB962C8B-B14F-4D97-AF65-F5344CB8AC3E}">
        <p14:creationId xmlns:p14="http://schemas.microsoft.com/office/powerpoint/2010/main" val="1619384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6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melting – addition of water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1920" y="2711152"/>
            <a:ext cx="5218176" cy="3886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0152" y="2855168"/>
            <a:ext cx="1512168" cy="33843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79512" y="1289535"/>
            <a:ext cx="8469460" cy="1472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Addition of water to crystal structure of a mineral – usually creating a new mineral.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Effectively the opposite of weathering reactions.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79512" y="4077072"/>
            <a:ext cx="3096344" cy="1472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How can we add water?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GB" sz="20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Via subduction (occurs to a lesser degree in other settings)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180051" y="2470593"/>
            <a:ext cx="3672408" cy="1472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changes fundamental properties of rocks, incl. melting temperature</a:t>
            </a:r>
          </a:p>
        </p:txBody>
      </p:sp>
    </p:spTree>
    <p:extLst>
      <p:ext uri="{BB962C8B-B14F-4D97-AF65-F5344CB8AC3E}">
        <p14:creationId xmlns:p14="http://schemas.microsoft.com/office/powerpoint/2010/main" val="252864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edia.springernature.com/original/springer-static/image/chp%3A10.1007%2F978-94-007-6644-0_110-1/MediaObjects/300684_0_En_110-1_Fig2_HTML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51520" y="2060848"/>
            <a:ext cx="5095875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6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melting – addition of water</a:t>
            </a:r>
          </a:p>
        </p:txBody>
      </p:sp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24128" y="3933056"/>
            <a:ext cx="3313608" cy="2672988"/>
          </a:xfrm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51520" y="1268760"/>
            <a:ext cx="8469460" cy="483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Ocean-ocean subduction and ocean-continent subduction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580112" y="1694758"/>
            <a:ext cx="3301577" cy="10103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Position of solidus shifted to intersect the natural geothermal gradient – melting.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Basalts, </a:t>
            </a:r>
            <a:r>
              <a:rPr lang="en-GB" sz="2000" b="1" dirty="0" err="1">
                <a:latin typeface="Arial" charset="0"/>
                <a:ea typeface="ＭＳ Ｐゴシック" charset="0"/>
                <a:cs typeface="ＭＳ Ｐゴシック" charset="0"/>
              </a:rPr>
              <a:t>Andesties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 and Granites produced (more complex)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1859" y="5729839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melting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7164288" y="5589240"/>
            <a:ext cx="792088" cy="93364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FF3300"/>
              </a:solidFill>
              <a:effectLst/>
              <a:latin typeface="Arial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81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topex.ucsd.edu/marine_topo/gif_images/global_topo_large.gif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7" t="5145" r="2497" b="3529"/>
          <a:stretch/>
        </p:blipFill>
        <p:spPr bwMode="auto">
          <a:xfrm>
            <a:off x="76555" y="1268760"/>
            <a:ext cx="9006071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6948263" y="3933056"/>
            <a:ext cx="1512168" cy="2160240"/>
            <a:chOff x="6948263" y="3933056"/>
            <a:chExt cx="1512168" cy="2160240"/>
          </a:xfrm>
        </p:grpSpPr>
        <p:sp>
          <p:nvSpPr>
            <p:cNvPr id="5" name="Rectangle 4"/>
            <p:cNvSpPr/>
            <p:nvPr/>
          </p:nvSpPr>
          <p:spPr>
            <a:xfrm>
              <a:off x="6948263" y="3933056"/>
              <a:ext cx="648073" cy="165618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948263" y="5693186"/>
              <a:ext cx="151216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E.g. Andes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3275856" y="2996952"/>
            <a:ext cx="648073" cy="86409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683568" y="3068960"/>
            <a:ext cx="24288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E.g. Japanese Arc</a:t>
            </a:r>
          </a:p>
        </p:txBody>
      </p:sp>
      <p:pic>
        <p:nvPicPr>
          <p:cNvPr id="2050" name="Picture 2" descr="Image result for mount fuji&quot;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11960" y="1430015"/>
            <a:ext cx="3832969" cy="234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volcano andes&quot;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6716" y="3920180"/>
            <a:ext cx="3935257" cy="261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latin typeface="Bookman Old Style" pitchFamily="18" charset="0"/>
                <a:ea typeface="Adobe Fangsong Std R" pitchFamily="18" charset="-128"/>
                <a:cs typeface="+mj-cs"/>
              </a:rPr>
              <a:t>C</a:t>
            </a:r>
            <a:r>
              <a:rPr kumimoji="0" lang="en-GB" sz="36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auses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melting – addition of water</a:t>
            </a:r>
          </a:p>
        </p:txBody>
      </p:sp>
    </p:spTree>
    <p:extLst>
      <p:ext uri="{BB962C8B-B14F-4D97-AF65-F5344CB8AC3E}">
        <p14:creationId xmlns:p14="http://schemas.microsoft.com/office/powerpoint/2010/main" val="505874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800" b="1" dirty="0">
                <a:latin typeface="Bookman Old Style" pitchFamily="18" charset="0"/>
                <a:ea typeface="Adobe Fangsong Std R" pitchFamily="18" charset="-128"/>
                <a:cs typeface="+mj-cs"/>
              </a:rPr>
              <a:t>Melting in orogenic belts (heating)</a:t>
            </a:r>
            <a:endParaRPr kumimoji="0" lang="en-GB" sz="3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85066" y="1193628"/>
            <a:ext cx="4379422" cy="15841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Rather more complex, but is fundamentally by heating.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Continental-continental collision effectively results in doubling of crustal thickness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GB" sz="20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GB" sz="2000" b="1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3074" name="Picture 2" descr="Image result for geothermal gradient orogen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59696" y="3356992"/>
            <a:ext cx="4876800" cy="335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076056" y="6413266"/>
            <a:ext cx="338437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E.g. Himalayas</a:t>
            </a:r>
          </a:p>
        </p:txBody>
      </p:sp>
      <p:pic>
        <p:nvPicPr>
          <p:cNvPr id="7" name="Picture 4" descr="collisional belt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016"/>
          <a:stretch/>
        </p:blipFill>
        <p:spPr bwMode="auto">
          <a:xfrm>
            <a:off x="122929" y="999363"/>
            <a:ext cx="4339208" cy="190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52708" y="3140968"/>
            <a:ext cx="3843228" cy="3414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The cold </a:t>
            </a:r>
            <a:r>
              <a:rPr lang="en-GB" sz="2000" b="1" dirty="0" err="1">
                <a:latin typeface="Arial" charset="0"/>
                <a:ea typeface="ＭＳ Ｐゴシック" charset="0"/>
                <a:cs typeface="ＭＳ Ｐゴシック" charset="0"/>
              </a:rPr>
              <a:t>underriding</a:t>
            </a: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 slab is warmed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Rock is a terrible conductor of heat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So the thick continental crust cannot lose radiogenic heat fast enough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GB" sz="2000" b="1" dirty="0">
                <a:latin typeface="Arial" charset="0"/>
                <a:ea typeface="ＭＳ Ｐゴシック" charset="0"/>
                <a:cs typeface="ＭＳ Ｐゴシック" charset="0"/>
              </a:rPr>
              <a:t>Resulting in heating of the crust above the granite solidus.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GB" sz="2000" b="1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GB" sz="2000" b="1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739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s://topex.ucsd.edu/marine_topo/gif_images/global_topo_large.gif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7" t="5145" r="2497" b="3529"/>
          <a:stretch/>
        </p:blipFill>
        <p:spPr bwMode="auto">
          <a:xfrm>
            <a:off x="76555" y="1268760"/>
            <a:ext cx="9006071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763688" y="2780928"/>
            <a:ext cx="1152128" cy="5040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043608" y="2272806"/>
            <a:ext cx="187220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E.g. Himalaya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3428402" y="1520441"/>
            <a:ext cx="5627053" cy="4356831"/>
            <a:chOff x="3428402" y="1520441"/>
            <a:chExt cx="5627053" cy="4356831"/>
          </a:xfrm>
        </p:grpSpPr>
        <p:pic>
          <p:nvPicPr>
            <p:cNvPr id="8" name="Picture 12" descr="Everest N face.jpg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8402" y="1520441"/>
              <a:ext cx="5429281" cy="435683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Connector 8"/>
            <p:cNvCxnSpPr/>
            <p:nvPr/>
          </p:nvCxnSpPr>
          <p:spPr>
            <a:xfrm flipV="1">
              <a:off x="4139952" y="2379857"/>
              <a:ext cx="3024336" cy="86409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4946650" y="3760806"/>
              <a:ext cx="3024336" cy="86409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4873006" y="1808821"/>
              <a:ext cx="12369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solidFill>
                    <a:schemeClr val="bg1"/>
                  </a:solidFill>
                </a:rPr>
                <a:t>Everest (8848 m)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42180" y="2476000"/>
              <a:ext cx="14305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 err="1">
                  <a:solidFill>
                    <a:schemeClr val="bg1"/>
                  </a:solidFill>
                </a:rPr>
                <a:t>Limestones</a:t>
              </a:r>
              <a:endParaRPr lang="en-GB" sz="1600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53472" y="2880229"/>
              <a:ext cx="9868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 err="1">
                  <a:solidFill>
                    <a:schemeClr val="bg1"/>
                  </a:solidFill>
                </a:rPr>
                <a:t>Pelites</a:t>
              </a:r>
              <a:endParaRPr lang="en-GB" sz="1600" dirty="0">
                <a:solidFill>
                  <a:schemeClr val="bg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341403" y="4872066"/>
              <a:ext cx="17140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srgbClr val="FFFF00"/>
                  </a:solidFill>
                </a:rPr>
                <a:t>Granites and gneisses: </a:t>
              </a:r>
              <a:r>
                <a:rPr lang="en-GB" sz="1600" dirty="0" err="1">
                  <a:solidFill>
                    <a:srgbClr val="FFFF00"/>
                  </a:solidFill>
                </a:rPr>
                <a:t>Nuptse</a:t>
              </a:r>
              <a:r>
                <a:rPr lang="en-GB" sz="1600" dirty="0">
                  <a:solidFill>
                    <a:srgbClr val="FFFF00"/>
                  </a:solidFill>
                </a:rPr>
                <a:t> </a:t>
              </a:r>
              <a:r>
                <a:rPr lang="en-GB" sz="1600" dirty="0" err="1">
                  <a:solidFill>
                    <a:srgbClr val="FFFF00"/>
                  </a:solidFill>
                </a:rPr>
                <a:t>leucogranite</a:t>
              </a:r>
              <a:endParaRPr lang="en-GB" sz="1600" dirty="0">
                <a:solidFill>
                  <a:srgbClr val="FFFF00"/>
                </a:solidFill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6247661" y="2251953"/>
              <a:ext cx="792088" cy="21602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H="1">
              <a:off x="7496308" y="3510117"/>
              <a:ext cx="792088" cy="21602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7177460" y="1926487"/>
              <a:ext cx="18179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 err="1"/>
                <a:t>Qomolangma</a:t>
              </a:r>
              <a:r>
                <a:rPr lang="en-GB" sz="1600" dirty="0"/>
                <a:t> detachment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692441" y="2938981"/>
              <a:ext cx="129360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Lhotse detachment</a:t>
              </a:r>
            </a:p>
          </p:txBody>
        </p:sp>
      </p:grpSp>
      <p:sp>
        <p:nvSpPr>
          <p:cNvPr id="33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800" b="1" dirty="0">
                <a:latin typeface="Bookman Old Style" pitchFamily="18" charset="0"/>
                <a:ea typeface="Adobe Fangsong Std R" pitchFamily="18" charset="-128"/>
                <a:cs typeface="+mj-cs"/>
              </a:rPr>
              <a:t>Melting in orogenic belts (heating)</a:t>
            </a:r>
            <a:endParaRPr kumimoji="0" lang="en-GB" sz="3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19479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www.raon.ch/images/np/nat/np_geologprof01B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512" y="2060848"/>
            <a:ext cx="8812638" cy="441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6516216" y="2780928"/>
            <a:ext cx="1872208" cy="273630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800" b="1" dirty="0">
                <a:latin typeface="Bookman Old Style" pitchFamily="18" charset="0"/>
                <a:ea typeface="Adobe Fangsong Std R" pitchFamily="18" charset="-128"/>
                <a:cs typeface="+mj-cs"/>
              </a:rPr>
              <a:t>Melting in orogenic belts (heating)</a:t>
            </a:r>
            <a:endParaRPr kumimoji="0" lang="en-GB" sz="3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39172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1844080"/>
            <a:ext cx="8282160" cy="4969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38504" y="1314926"/>
            <a:ext cx="2051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Change pressure</a:t>
            </a:r>
          </a:p>
          <a:p>
            <a:r>
              <a:rPr lang="en-GB" sz="1600" dirty="0">
                <a:solidFill>
                  <a:srgbClr val="C00000"/>
                </a:solidFill>
              </a:rPr>
              <a:t>Lithospheric thinning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92280" y="125438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Change H</a:t>
            </a:r>
            <a:r>
              <a:rPr lang="en-GB" sz="1600" baseline="-25000" dirty="0">
                <a:solidFill>
                  <a:srgbClr val="C00000"/>
                </a:solidFill>
              </a:rPr>
              <a:t>2</a:t>
            </a:r>
            <a:r>
              <a:rPr lang="en-GB" sz="1600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Causes of 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melting -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8624" y="1087361"/>
            <a:ext cx="304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Change temperature</a:t>
            </a:r>
          </a:p>
          <a:p>
            <a:r>
              <a:rPr lang="en-GB" sz="1600" dirty="0">
                <a:solidFill>
                  <a:srgbClr val="C00000"/>
                </a:solidFill>
              </a:rPr>
              <a:t>Mantle plumes</a:t>
            </a:r>
          </a:p>
          <a:p>
            <a:r>
              <a:rPr lang="en-GB" sz="1600" dirty="0">
                <a:solidFill>
                  <a:srgbClr val="C00000"/>
                </a:solidFill>
              </a:rPr>
              <a:t>Orogenic lithospheric thickening</a:t>
            </a:r>
          </a:p>
        </p:txBody>
      </p:sp>
    </p:spTree>
    <p:extLst>
      <p:ext uri="{BB962C8B-B14F-4D97-AF65-F5344CB8AC3E}">
        <p14:creationId xmlns:p14="http://schemas.microsoft.com/office/powerpoint/2010/main" val="2030884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0" y="0"/>
            <a:ext cx="9142909" cy="6858000"/>
          </a:xfrm>
          <a:prstGeom prst="rect">
            <a:avLst/>
          </a:prstGeom>
        </p:spPr>
      </p:pic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107504" y="188640"/>
            <a:ext cx="8928992" cy="2520280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EART11100: </a:t>
            </a: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Understanding 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he 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A dynamic Planet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What’s the composition of molten rock?</a:t>
            </a:r>
            <a:endParaRPr kumimoji="0" lang="en-GB" sz="4800" b="1" i="0" u="none" strike="noStrike" kern="1200" cap="none" spc="0" normalizeH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925534" y="6561218"/>
            <a:ext cx="2326986" cy="252158"/>
          </a:xfrm>
          <a:prstGeom prst="rect">
            <a:avLst/>
          </a:prstGeom>
          <a:noFill/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500" b="1" dirty="0">
                <a:latin typeface="Arial" pitchFamily="34" charset="0"/>
                <a:cs typeface="Arial" pitchFamily="34" charset="0"/>
              </a:rPr>
              <a:t>Jurassic sill, Antarctica</a:t>
            </a: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algn="l"/>
            <a:endParaRPr lang="en-GB" sz="15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18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672" y="1178750"/>
            <a:ext cx="5832648" cy="3586094"/>
          </a:xfrm>
          <a:prstGeom prst="rect">
            <a:avLst/>
          </a:prstGeom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Intended learning outcomes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74888" y="5124884"/>
            <a:ext cx="8964489" cy="1440160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… you should be able to</a:t>
            </a: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explain why molten rock is typically either felsic (acidic) and mafic (basic) in composition.</a:t>
            </a:r>
          </a:p>
        </p:txBody>
      </p:sp>
      <p:sp>
        <p:nvSpPr>
          <p:cNvPr id="2" name="Rectangle 1"/>
          <p:cNvSpPr/>
          <p:nvPr/>
        </p:nvSpPr>
        <p:spPr>
          <a:xfrm>
            <a:off x="6084168" y="2978950"/>
            <a:ext cx="1152128" cy="72008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547664" y="2726922"/>
            <a:ext cx="1080120" cy="111612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293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544" y="1844080"/>
            <a:ext cx="8282160" cy="4969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38504" y="1314926"/>
            <a:ext cx="2051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Change pressure</a:t>
            </a:r>
          </a:p>
          <a:p>
            <a:r>
              <a:rPr lang="en-GB" sz="1600" dirty="0">
                <a:solidFill>
                  <a:srgbClr val="C00000"/>
                </a:solidFill>
              </a:rPr>
              <a:t>Lithospheric thinning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92280" y="125438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Change H</a:t>
            </a:r>
            <a:r>
              <a:rPr lang="en-GB" sz="1600" baseline="-25000" dirty="0">
                <a:solidFill>
                  <a:srgbClr val="C00000"/>
                </a:solidFill>
              </a:rPr>
              <a:t>2</a:t>
            </a:r>
            <a:r>
              <a:rPr lang="en-GB" sz="1600" dirty="0">
                <a:solidFill>
                  <a:srgbClr val="C00000"/>
                </a:solidFill>
              </a:rPr>
              <a:t>O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latin typeface="Bookman Old Style" pitchFamily="18" charset="0"/>
                <a:ea typeface="Adobe Fangsong Std R" pitchFamily="18" charset="-128"/>
                <a:cs typeface="+mj-cs"/>
              </a:rPr>
              <a:t>Where does melting happen?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08624" y="1087361"/>
            <a:ext cx="304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Change temperature</a:t>
            </a:r>
          </a:p>
          <a:p>
            <a:r>
              <a:rPr lang="en-GB" sz="1600" dirty="0">
                <a:solidFill>
                  <a:srgbClr val="C00000"/>
                </a:solidFill>
              </a:rPr>
              <a:t>Mantle plumes</a:t>
            </a:r>
          </a:p>
          <a:p>
            <a:r>
              <a:rPr lang="en-GB" sz="1600" dirty="0">
                <a:solidFill>
                  <a:srgbClr val="C00000"/>
                </a:solidFill>
              </a:rPr>
              <a:t>Orogenic lithospheric thickening</a:t>
            </a:r>
          </a:p>
        </p:txBody>
      </p:sp>
    </p:spTree>
    <p:extLst>
      <p:ext uri="{BB962C8B-B14F-4D97-AF65-F5344CB8AC3E}">
        <p14:creationId xmlns:p14="http://schemas.microsoft.com/office/powerpoint/2010/main" val="1994350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What determines magma composition?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61764" y="1124744"/>
            <a:ext cx="3834172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Magmas can be derived from mantle or crust. Composition of the magma initially formed depends on …</a:t>
            </a:r>
          </a:p>
          <a:p>
            <a:pPr marL="0" indent="0" eaLnBrk="1" hangingPunct="1">
              <a:spcBef>
                <a:spcPct val="50000"/>
              </a:spcBef>
            </a:pPr>
            <a:endParaRPr lang="en-GB" sz="2000" b="1" dirty="0">
              <a:solidFill>
                <a:schemeClr val="tx1"/>
              </a:solidFill>
            </a:endParaRPr>
          </a:p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(1) Composition of the source rocks:	</a:t>
            </a:r>
          </a:p>
          <a:p>
            <a:pPr marL="0" indent="0" eaLnBrk="1" hangingPunct="1">
              <a:spcBef>
                <a:spcPct val="50000"/>
              </a:spcBef>
            </a:pPr>
            <a:endParaRPr lang="en-GB" sz="2000" b="1" dirty="0">
              <a:solidFill>
                <a:srgbClr val="009900"/>
              </a:solidFill>
            </a:endParaRPr>
          </a:p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rgbClr val="009900"/>
                </a:solidFill>
              </a:rPr>
              <a:t>Mantle peridotite </a:t>
            </a:r>
            <a:r>
              <a:rPr lang="en-GB" sz="2000" b="1" dirty="0">
                <a:solidFill>
                  <a:srgbClr val="009900"/>
                </a:solidFill>
                <a:sym typeface="Wingdings" charset="0"/>
              </a:rPr>
              <a:t>= </a:t>
            </a:r>
            <a:r>
              <a:rPr lang="en-GB" sz="2000" b="1" u="sng" dirty="0">
                <a:solidFill>
                  <a:srgbClr val="009900"/>
                </a:solidFill>
                <a:sym typeface="Wingdings" charset="0"/>
              </a:rPr>
              <a:t>ultrabasic</a:t>
            </a:r>
          </a:p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rgbClr val="009900"/>
                </a:solidFill>
              </a:rPr>
              <a:t>Olivine, Pyroxene and Garnet</a:t>
            </a:r>
          </a:p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rgbClr val="009900"/>
                </a:solidFill>
              </a:rPr>
              <a:t>	</a:t>
            </a:r>
            <a:endParaRPr lang="en-GB" sz="2000" b="1" baseline="-25000" dirty="0">
              <a:solidFill>
                <a:schemeClr val="tx1"/>
              </a:solidFill>
            </a:endParaRPr>
          </a:p>
        </p:txBody>
      </p:sp>
      <p:pic>
        <p:nvPicPr>
          <p:cNvPr id="4" name="Picture 2" descr="Image result for partial melting of granites&quot;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005566" y="1124744"/>
            <a:ext cx="4998182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61764" y="5661248"/>
            <a:ext cx="8568952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altLang="ja-JP" sz="2000" b="1" dirty="0">
                <a:solidFill>
                  <a:srgbClr val="FF0000"/>
                </a:solidFill>
              </a:rPr>
              <a:t>‘Average’ continental crust =</a:t>
            </a:r>
            <a:r>
              <a:rPr lang="en-GB" altLang="ja-JP" sz="2000" b="1" dirty="0">
                <a:solidFill>
                  <a:srgbClr val="FF0000"/>
                </a:solidFill>
                <a:sym typeface="Wingdings" charset="0"/>
              </a:rPr>
              <a:t> intermediate</a:t>
            </a:r>
          </a:p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rgbClr val="FF0000"/>
                </a:solidFill>
              </a:rPr>
              <a:t>Feldspar, pyroxenes or micas, lesser Quartz and amphiboles</a:t>
            </a:r>
            <a:endParaRPr lang="en-GB" sz="2000" b="1" baseline="-250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84368" y="1124744"/>
            <a:ext cx="1119380" cy="3096344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803636" y="1124744"/>
            <a:ext cx="1119380" cy="309634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07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What determines magma composition?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17553" y="1196752"/>
            <a:ext cx="882047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(2) Degree of partial melting 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-252536" y="1742442"/>
            <a:ext cx="889248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446088" eaLnBrk="1" hangingPunct="1"/>
            <a:r>
              <a:rPr lang="en-GB" sz="2000" b="1" dirty="0">
                <a:solidFill>
                  <a:srgbClr val="009900"/>
                </a:solidFill>
              </a:rPr>
              <a:t>Total melting of mantle peridotite (ultrabasic)</a:t>
            </a:r>
            <a:r>
              <a:rPr lang="en-GB" sz="2000" b="1" dirty="0">
                <a:solidFill>
                  <a:srgbClr val="009900"/>
                </a:solidFill>
                <a:sym typeface="Wingdings" charset="0"/>
              </a:rPr>
              <a:t>→ ultrabasic </a:t>
            </a:r>
            <a:r>
              <a:rPr lang="en-GB" sz="2000" b="1" dirty="0">
                <a:solidFill>
                  <a:srgbClr val="009900"/>
                </a:solidFill>
              </a:rPr>
              <a:t>magma</a:t>
            </a:r>
          </a:p>
          <a:p>
            <a:pPr marL="446088" eaLnBrk="1" hangingPunct="1">
              <a:spcBef>
                <a:spcPct val="50000"/>
              </a:spcBef>
            </a:pPr>
            <a:r>
              <a:rPr lang="en-GB" sz="2000" b="1" dirty="0">
                <a:solidFill>
                  <a:srgbClr val="FF0000"/>
                </a:solidFill>
              </a:rPr>
              <a:t>Total melting of ‘</a:t>
            </a:r>
            <a:r>
              <a:rPr lang="en-GB" altLang="ja-JP" sz="2000" b="1" dirty="0">
                <a:solidFill>
                  <a:srgbClr val="FF0000"/>
                </a:solidFill>
              </a:rPr>
              <a:t>average’ crustal rock (intermediate) </a:t>
            </a:r>
            <a:r>
              <a:rPr lang="en-GB" sz="2000" b="1" dirty="0">
                <a:solidFill>
                  <a:srgbClr val="FF0000"/>
                </a:solidFill>
                <a:sym typeface="Wingdings" charset="0"/>
              </a:rPr>
              <a:t>→ intermediate 								magma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-180528" y="2911993"/>
            <a:ext cx="4487567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446088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  <a:sym typeface="Wingdings" charset="0"/>
              </a:rPr>
              <a:t>In reality, total melting rarely happens</a:t>
            </a:r>
          </a:p>
          <a:p>
            <a:pPr marL="788988" indent="-342900" eaLnBrk="1" hangingPunct="1">
              <a:spcBef>
                <a:spcPct val="50000"/>
              </a:spcBef>
              <a:buFont typeface="Wingdings" panose="05000000000000000000" pitchFamily="2" charset="2"/>
              <a:buChar char="à"/>
            </a:pPr>
            <a:r>
              <a:rPr lang="en-GB" sz="2000" b="1" dirty="0">
                <a:solidFill>
                  <a:schemeClr val="tx1"/>
                </a:solidFill>
                <a:sym typeface="Wingdings" panose="05000000000000000000" pitchFamily="2" charset="2"/>
              </a:rPr>
              <a:t>The parent rock is made up of a variety of minerals with different melting points, and…</a:t>
            </a:r>
          </a:p>
          <a:p>
            <a:pPr marL="788988" indent="-342900" eaLnBrk="1" hangingPunct="1">
              <a:spcBef>
                <a:spcPct val="50000"/>
              </a:spcBef>
              <a:buFont typeface="Wingdings" panose="05000000000000000000" pitchFamily="2" charset="2"/>
              <a:buChar char="à"/>
            </a:pPr>
            <a:r>
              <a:rPr lang="en-GB" sz="2000" b="1" dirty="0">
                <a:solidFill>
                  <a:schemeClr val="tx1"/>
                </a:solidFill>
                <a:sym typeface="Wingdings" panose="05000000000000000000" pitchFamily="2" charset="2"/>
              </a:rPr>
              <a:t>Temperatures aren’t high enough.</a:t>
            </a:r>
          </a:p>
          <a:p>
            <a:pPr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  <a:sym typeface="Wingdings" charset="0"/>
              </a:rPr>
              <a:t>	</a:t>
            </a:r>
            <a:endParaRPr lang="en-GB" sz="2000" b="1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9F8773-56F5-4ECC-B064-85D823551CA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3190" y="3212976"/>
            <a:ext cx="4487567" cy="334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53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bowen's reaction series&quot;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51920" y="3933056"/>
            <a:ext cx="5204260" cy="269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25865" y="4170566"/>
            <a:ext cx="12581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1600" b="1" dirty="0">
                <a:solidFill>
                  <a:srgbClr val="FF0000"/>
                </a:solidFill>
              </a:rPr>
              <a:t>~1300</a:t>
            </a:r>
            <a:r>
              <a:rPr lang="en-GB" sz="1600" b="1" baseline="30000" dirty="0">
                <a:solidFill>
                  <a:srgbClr val="FF0000"/>
                </a:solidFill>
              </a:rPr>
              <a:t>o</a:t>
            </a:r>
            <a:r>
              <a:rPr lang="en-GB" sz="16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169881" y="6258798"/>
            <a:ext cx="12581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1600" b="1" dirty="0">
                <a:solidFill>
                  <a:srgbClr val="0070C0"/>
                </a:solidFill>
              </a:rPr>
              <a:t>~750</a:t>
            </a:r>
            <a:r>
              <a:rPr lang="en-GB" sz="1600" b="1" baseline="30000" dirty="0">
                <a:solidFill>
                  <a:srgbClr val="0070C0"/>
                </a:solidFill>
              </a:rPr>
              <a:t>o</a:t>
            </a:r>
            <a:r>
              <a:rPr lang="en-GB" sz="1600" b="1" dirty="0">
                <a:solidFill>
                  <a:srgbClr val="0070C0"/>
                </a:solidFill>
              </a:rPr>
              <a:t>C</a:t>
            </a:r>
          </a:p>
        </p:txBody>
      </p:sp>
      <p:pic>
        <p:nvPicPr>
          <p:cNvPr id="3076" name="Picture 4" descr="Image result for partial melting&quot;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76056" y="1191400"/>
            <a:ext cx="3674839" cy="244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07504" y="3946872"/>
            <a:ext cx="3240360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Lower temperature minerals will melt, leaving behind a residue of higher temperature minerals</a:t>
            </a:r>
          </a:p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GB" sz="2000" b="1" u="sng" dirty="0">
                <a:solidFill>
                  <a:schemeClr val="tx1"/>
                </a:solidFill>
                <a:sym typeface="Wingdings" panose="05000000000000000000" pitchFamily="2" charset="2"/>
              </a:rPr>
              <a:t>Magmatic differentiation </a:t>
            </a:r>
            <a:r>
              <a:rPr lang="en-GB" sz="2000" b="1" dirty="0">
                <a:solidFill>
                  <a:schemeClr val="tx1"/>
                </a:solidFill>
                <a:sym typeface="Wingdings" panose="05000000000000000000" pitchFamily="2" charset="2"/>
              </a:rPr>
              <a:t>during </a:t>
            </a:r>
            <a:r>
              <a:rPr lang="en-GB" sz="2000" b="1" u="sng" dirty="0">
                <a:solidFill>
                  <a:schemeClr val="tx1"/>
                </a:solidFill>
                <a:sym typeface="Wingdings" panose="05000000000000000000" pitchFamily="2" charset="2"/>
              </a:rPr>
              <a:t>partial melting</a:t>
            </a:r>
            <a:r>
              <a:rPr lang="en-GB" sz="2000" b="1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  <a:r>
              <a:rPr lang="en-GB" sz="2000" b="1" dirty="0">
                <a:solidFill>
                  <a:schemeClr val="tx1"/>
                </a:solidFill>
              </a:rPr>
              <a:t>	</a:t>
            </a:r>
            <a:endParaRPr lang="en-GB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What determines magma composition?</a:t>
            </a:r>
          </a:p>
        </p:txBody>
      </p:sp>
      <p:pic>
        <p:nvPicPr>
          <p:cNvPr id="9" name="Picture 2" descr="Image result for partial melting of granites&quot;">
            <a:extLst>
              <a:ext uri="{FF2B5EF4-FFF2-40B4-BE49-F238E27FC236}">
                <a16:creationId xmlns:a16="http://schemas.microsoft.com/office/drawing/2014/main" id="{BD0CC550-0D1D-4CAF-8C13-A63DF5E87E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0954"/>
          <a:stretch/>
        </p:blipFill>
        <p:spPr bwMode="auto">
          <a:xfrm>
            <a:off x="360040" y="1191400"/>
            <a:ext cx="4211960" cy="2597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02850AA-3467-46FD-9A0B-E170A089BB99}"/>
              </a:ext>
            </a:extLst>
          </p:cNvPr>
          <p:cNvSpPr/>
          <p:nvPr/>
        </p:nvSpPr>
        <p:spPr>
          <a:xfrm>
            <a:off x="3592825" y="1191400"/>
            <a:ext cx="1013405" cy="2652256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7EB26B-A4A4-4C81-A8A6-337ED6CF10FC}"/>
              </a:ext>
            </a:extLst>
          </p:cNvPr>
          <p:cNvSpPr/>
          <p:nvPr/>
        </p:nvSpPr>
        <p:spPr>
          <a:xfrm>
            <a:off x="1796389" y="1191400"/>
            <a:ext cx="1047372" cy="265225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429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partial melting of granites&quot;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98119" y="2162004"/>
            <a:ext cx="5076056" cy="4534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524328" y="2162004"/>
            <a:ext cx="1161658" cy="3141706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5364088" y="2162004"/>
            <a:ext cx="1262243" cy="314170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What determines magma composition?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79271" y="1195663"/>
            <a:ext cx="885698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This results in a melt that is usually more acidic (“felsic”) than the parent material	</a:t>
            </a:r>
            <a:endParaRPr lang="en-GB" sz="2000" b="1" baseline="-25000" dirty="0">
              <a:solidFill>
                <a:schemeClr val="tx1"/>
              </a:solidFill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43508" y="2246869"/>
            <a:ext cx="306034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Partial melting of our two main melt sources</a:t>
            </a:r>
          </a:p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rgbClr val="00B050"/>
                </a:solidFill>
              </a:rPr>
              <a:t>Mantle peridotite</a:t>
            </a:r>
            <a:r>
              <a:rPr lang="en-GB" sz="2000" b="1" dirty="0">
                <a:solidFill>
                  <a:srgbClr val="00B050"/>
                </a:solidFill>
                <a:sym typeface="Wingdings" panose="05000000000000000000" pitchFamily="2" charset="2"/>
              </a:rPr>
              <a:t> basaltic melt (</a:t>
            </a:r>
            <a:r>
              <a:rPr lang="en-GB" sz="2000" b="1" dirty="0" err="1">
                <a:solidFill>
                  <a:srgbClr val="00B050"/>
                </a:solidFill>
                <a:sym typeface="Wingdings" panose="05000000000000000000" pitchFamily="2" charset="2"/>
              </a:rPr>
              <a:t>Pg</a:t>
            </a:r>
            <a:r>
              <a:rPr lang="en-GB" sz="2000" b="1" dirty="0">
                <a:solidFill>
                  <a:srgbClr val="00B050"/>
                </a:solidFill>
                <a:sym typeface="Wingdings" panose="05000000000000000000" pitchFamily="2" charset="2"/>
              </a:rPr>
              <a:t> Feldspars and pyroxenes)</a:t>
            </a:r>
          </a:p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Intermediate lower continental crust felsic melt (K and </a:t>
            </a:r>
            <a:r>
              <a:rPr lang="en-GB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Pg</a:t>
            </a:r>
            <a:r>
              <a:rPr lang="en-GB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Feldspars, Quartz, micas)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4860032" y="3861048"/>
            <a:ext cx="93610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6948264" y="3863213"/>
            <a:ext cx="936104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3908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Summary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5F8E125-A4DC-48E0-AE06-FB5EA02DD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171" y="1556792"/>
            <a:ext cx="8856984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Melting usually happens in the asthenosphere (hot-spots, decompression), or in the lower continental crust (subduction zones and orogenic belts).</a:t>
            </a:r>
          </a:p>
          <a:p>
            <a:pPr marL="0" indent="0" eaLnBrk="1" hangingPunct="1">
              <a:spcBef>
                <a:spcPct val="50000"/>
              </a:spcBef>
            </a:pPr>
            <a:endParaRPr lang="en-GB" sz="2000" b="1" dirty="0">
              <a:solidFill>
                <a:schemeClr val="tx1"/>
              </a:solidFill>
            </a:endParaRPr>
          </a:p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The asthenosphere is ultrabasic in composition and the continental crust is intermediate in composition</a:t>
            </a:r>
          </a:p>
          <a:p>
            <a:pPr marL="0" indent="0" eaLnBrk="1" hangingPunct="1">
              <a:spcBef>
                <a:spcPct val="50000"/>
              </a:spcBef>
            </a:pPr>
            <a:endParaRPr lang="en-GB" sz="2000" b="1" dirty="0">
              <a:solidFill>
                <a:schemeClr val="tx1"/>
              </a:solidFill>
            </a:endParaRPr>
          </a:p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But neither of the fully melt (partial melting), so a residue of high temperature minerals is left behind, and low temperature minerals melt and rise to form a melt.</a:t>
            </a:r>
          </a:p>
          <a:p>
            <a:pPr marL="0" indent="0" eaLnBrk="1" hangingPunct="1">
              <a:spcBef>
                <a:spcPct val="50000"/>
              </a:spcBef>
            </a:pPr>
            <a:endParaRPr lang="en-GB" sz="2000" b="1" dirty="0">
              <a:solidFill>
                <a:schemeClr val="tx1"/>
              </a:solidFill>
            </a:endParaRPr>
          </a:p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These melts are basic, and felsic, respectively.</a:t>
            </a:r>
            <a:endParaRPr lang="en-GB" sz="2000" b="1" baseline="-25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184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0" y="0"/>
            <a:ext cx="9142909" cy="6858000"/>
          </a:xfrm>
          <a:prstGeom prst="rect">
            <a:avLst/>
          </a:prstGeom>
        </p:spPr>
      </p:pic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107504" y="188640"/>
            <a:ext cx="8928992" cy="2520280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EART11100: </a:t>
            </a: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Understanding 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he 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A dynamic Planet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Intrusive igneous rocks</a:t>
            </a:r>
            <a:endParaRPr kumimoji="0" lang="en-GB" sz="4800" b="1" i="0" u="none" strike="noStrike" kern="1200" cap="none" spc="0" normalizeH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925534" y="6561218"/>
            <a:ext cx="2326986" cy="252158"/>
          </a:xfrm>
          <a:prstGeom prst="rect">
            <a:avLst/>
          </a:prstGeom>
          <a:noFill/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500" b="1" dirty="0">
                <a:latin typeface="Arial" pitchFamily="34" charset="0"/>
                <a:cs typeface="Arial" pitchFamily="34" charset="0"/>
              </a:rPr>
              <a:t>Jurassic sill, Antarctica</a:t>
            </a:r>
            <a:endParaRPr lang="en-GB" sz="1800" dirty="0">
              <a:latin typeface="Arial" pitchFamily="34" charset="0"/>
              <a:cs typeface="Arial" pitchFamily="34" charset="0"/>
            </a:endParaRPr>
          </a:p>
          <a:p>
            <a:pPr algn="l"/>
            <a:endParaRPr lang="en-GB" sz="15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95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7664" y="1307224"/>
            <a:ext cx="5832648" cy="3586094"/>
          </a:xfrm>
          <a:prstGeom prst="rect">
            <a:avLst/>
          </a:prstGeom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400" b="1" dirty="0">
                <a:latin typeface="Bookman Old Style" pitchFamily="18" charset="0"/>
                <a:ea typeface="Adobe Fangsong Std R" pitchFamily="18" charset="-128"/>
                <a:cs typeface="+mj-cs"/>
              </a:rPr>
              <a:t>Intended learning outcomes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79511" y="5085184"/>
            <a:ext cx="8964489" cy="1440160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itchFamily="34" charset="0"/>
                <a:cs typeface="Arial" pitchFamily="34" charset="0"/>
              </a:rPr>
              <a:t>… you should be able to explain why</a:t>
            </a: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magma rises, and intrusive igneous rocks cool slowly</a:t>
            </a:r>
          </a:p>
          <a:p>
            <a:r>
              <a:rPr lang="en-GB" sz="2000" b="1" dirty="0">
                <a:latin typeface="Arial" pitchFamily="34" charset="0"/>
                <a:cs typeface="Arial" pitchFamily="34" charset="0"/>
              </a:rPr>
              <a:t>slow, fractional </a:t>
            </a:r>
            <a:r>
              <a:rPr lang="en-GB" sz="2000" b="1" dirty="0" err="1">
                <a:latin typeface="Arial" pitchFamily="34" charset="0"/>
                <a:cs typeface="Arial" pitchFamily="34" charset="0"/>
              </a:rPr>
              <a:t>crystalisation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 results in phaneritic, cumulate, and </a:t>
            </a:r>
            <a:r>
              <a:rPr lang="en-GB" sz="2000" b="1" dirty="0" err="1">
                <a:latin typeface="Arial" pitchFamily="34" charset="0"/>
                <a:cs typeface="Arial" pitchFamily="34" charset="0"/>
              </a:rPr>
              <a:t>porphorytic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 textures, that are characteristic of intrusive igneous rocks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084168" y="2978950"/>
            <a:ext cx="1152128" cy="72008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547664" y="2726922"/>
            <a:ext cx="1080120" cy="1116124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65265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Why</a:t>
            </a:r>
            <a:r>
              <a:rPr kumimoji="0" lang="en-GB" sz="40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do magmas rise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?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EDBA87B-BD78-405C-B41B-5B4E1869D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196752"/>
            <a:ext cx="8496944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Magmas rise primarily because of two main physical properties:</a:t>
            </a:r>
          </a:p>
          <a:p>
            <a:pPr eaLnBrk="1" hangingPunct="1">
              <a:spcBef>
                <a:spcPct val="50000"/>
              </a:spcBef>
              <a:buAutoNum type="arabicParenR"/>
            </a:pPr>
            <a:endParaRPr lang="en-GB" sz="2000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  <a:buAutoNum type="arabicParenR"/>
            </a:pPr>
            <a:r>
              <a:rPr lang="en-GB" sz="2000" b="1" dirty="0">
                <a:solidFill>
                  <a:schemeClr val="tx1"/>
                </a:solidFill>
              </a:rPr>
              <a:t>They are less dense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/>
                </a:solidFill>
              </a:rPr>
              <a:t>Melting causes the break-up of the organised mineral crystal structure, 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/>
                </a:solidFill>
              </a:rPr>
              <a:t>Atoms are more randomly and less efficiently organised – a more open and less tightly (densely) packed structure.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2AE168-11E9-4C15-A74F-476D3110BAEF}"/>
              </a:ext>
            </a:extLst>
          </p:cNvPr>
          <p:cNvGraphicFramePr>
            <a:graphicFrameLocks noGrp="1"/>
          </p:cNvGraphicFramePr>
          <p:nvPr/>
        </p:nvGraphicFramePr>
        <p:xfrm>
          <a:off x="250825" y="4221088"/>
          <a:ext cx="8642349" cy="23891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7636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rial"/>
                        <a:cs typeface="Arial"/>
                      </a:endParaRPr>
                    </a:p>
                  </a:txBody>
                  <a:tcPr marL="91455" marR="91455"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Arial"/>
                          <a:ea typeface="ＭＳ Ｐゴシック" charset="0"/>
                          <a:cs typeface="Arial"/>
                        </a:rPr>
                        <a:t>Density (g/cm</a:t>
                      </a:r>
                      <a:r>
                        <a:rPr lang="en-GB" sz="2400" baseline="40000" dirty="0">
                          <a:latin typeface="Arial"/>
                          <a:ea typeface="ＭＳ Ｐゴシック" charset="0"/>
                          <a:cs typeface="Arial"/>
                        </a:rPr>
                        <a:t>3</a:t>
                      </a:r>
                      <a:r>
                        <a:rPr lang="en-GB" sz="2400" dirty="0">
                          <a:latin typeface="Arial"/>
                          <a:ea typeface="ＭＳ Ｐゴシック" charset="0"/>
                          <a:cs typeface="Arial"/>
                        </a:rPr>
                        <a:t>)</a:t>
                      </a:r>
                    </a:p>
                    <a:p>
                      <a:pPr algn="ctr"/>
                      <a:r>
                        <a:rPr lang="en-GB" sz="2400" i="1" dirty="0">
                          <a:latin typeface="Arial"/>
                          <a:ea typeface="ＭＳ Ｐゴシック" charset="0"/>
                          <a:cs typeface="Arial"/>
                        </a:rPr>
                        <a:t>as liquid (1250 ºC)</a:t>
                      </a:r>
                      <a:endParaRPr lang="en-US" sz="2400" dirty="0">
                        <a:latin typeface="Arial"/>
                        <a:cs typeface="Arial"/>
                      </a:endParaRPr>
                    </a:p>
                  </a:txBody>
                  <a:tcPr marL="91455" marR="91455"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>
                          <a:latin typeface="Arial"/>
                          <a:ea typeface="ＭＳ Ｐゴシック" charset="0"/>
                          <a:cs typeface="Arial"/>
                        </a:rPr>
                        <a:t>Density (g/cm</a:t>
                      </a:r>
                      <a:r>
                        <a:rPr lang="en-GB" sz="2400" baseline="40000">
                          <a:latin typeface="Arial"/>
                          <a:ea typeface="ＭＳ Ｐゴシック" charset="0"/>
                          <a:cs typeface="Arial"/>
                        </a:rPr>
                        <a:t>3</a:t>
                      </a:r>
                      <a:r>
                        <a:rPr lang="en-GB" sz="2400">
                          <a:latin typeface="Arial"/>
                          <a:ea typeface="ＭＳ Ｐゴシック" charset="0"/>
                          <a:cs typeface="Arial"/>
                        </a:rPr>
                        <a:t>)</a:t>
                      </a:r>
                    </a:p>
                    <a:p>
                      <a:pPr algn="ctr"/>
                      <a:r>
                        <a:rPr lang="en-GB" sz="2400" i="1">
                          <a:latin typeface="Arial"/>
                          <a:ea typeface="ＭＳ Ｐゴシック" charset="0"/>
                          <a:cs typeface="Arial"/>
                        </a:rPr>
                        <a:t>as solid</a:t>
                      </a:r>
                      <a:endParaRPr lang="en-US" sz="2400">
                        <a:latin typeface="Arial"/>
                        <a:cs typeface="Arial"/>
                      </a:endParaRPr>
                    </a:p>
                  </a:txBody>
                  <a:tcPr marL="91455" marR="91455"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84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GB" sz="2400" dirty="0">
                          <a:latin typeface="Arial"/>
                          <a:ea typeface="ＭＳ Ｐゴシック" charset="0"/>
                          <a:cs typeface="Arial"/>
                        </a:rPr>
                        <a:t>Acid</a:t>
                      </a:r>
                      <a:endParaRPr lang="en-US" sz="2400" dirty="0">
                        <a:latin typeface="Arial"/>
                        <a:cs typeface="Arial"/>
                      </a:endParaRPr>
                    </a:p>
                  </a:txBody>
                  <a:tcPr marL="91455" marR="91455" marT="45713" marB="45713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/>
                          <a:cs typeface="Arial"/>
                        </a:rPr>
                        <a:t>2.2</a:t>
                      </a:r>
                    </a:p>
                  </a:txBody>
                  <a:tcPr marL="91455" marR="91455" marT="45713" marB="45713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/>
                          <a:cs typeface="Arial"/>
                        </a:rPr>
                        <a:t>2.7</a:t>
                      </a:r>
                    </a:p>
                  </a:txBody>
                  <a:tcPr marL="91455" marR="91455"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84">
                <a:tc>
                  <a:txBody>
                    <a:bodyPr/>
                    <a:lstStyle/>
                    <a:p>
                      <a:r>
                        <a:rPr lang="en-GB" sz="2400">
                          <a:latin typeface="Arial"/>
                          <a:ea typeface="ＭＳ Ｐゴシック" charset="0"/>
                          <a:cs typeface="Arial"/>
                        </a:rPr>
                        <a:t>Intermediate</a:t>
                      </a:r>
                      <a:endParaRPr lang="en-US" sz="2400">
                        <a:latin typeface="Arial"/>
                        <a:cs typeface="Arial"/>
                      </a:endParaRPr>
                    </a:p>
                  </a:txBody>
                  <a:tcPr marL="91455" marR="91455" marT="45713" marB="4571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/>
                          <a:cs typeface="Arial"/>
                        </a:rPr>
                        <a:t>2.4</a:t>
                      </a:r>
                    </a:p>
                  </a:txBody>
                  <a:tcPr marL="91455" marR="91455" marT="45713" marB="45713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/>
                          <a:cs typeface="Arial"/>
                        </a:rPr>
                        <a:t>2.85</a:t>
                      </a:r>
                    </a:p>
                  </a:txBody>
                  <a:tcPr marL="91455" marR="91455"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84">
                <a:tc>
                  <a:txBody>
                    <a:bodyPr/>
                    <a:lstStyle/>
                    <a:p>
                      <a:r>
                        <a:rPr lang="en-GB" sz="2400">
                          <a:latin typeface="Arial"/>
                          <a:ea typeface="ＭＳ Ｐゴシック" charset="0"/>
                          <a:cs typeface="Arial"/>
                        </a:rPr>
                        <a:t>Basic</a:t>
                      </a:r>
                      <a:endParaRPr lang="en-US" sz="2400">
                        <a:latin typeface="Arial"/>
                        <a:cs typeface="Arial"/>
                      </a:endParaRPr>
                    </a:p>
                  </a:txBody>
                  <a:tcPr marL="91455" marR="91455" marT="45713" marB="45713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/>
                          <a:cs typeface="Arial"/>
                        </a:rPr>
                        <a:t>2.6</a:t>
                      </a:r>
                    </a:p>
                  </a:txBody>
                  <a:tcPr marL="91455" marR="91455" marT="45713" marB="4571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/>
                          <a:cs typeface="Arial"/>
                        </a:rPr>
                        <a:t>3.0</a:t>
                      </a:r>
                    </a:p>
                  </a:txBody>
                  <a:tcPr marL="91455" marR="91455" marT="45713" marB="457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949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11944" y="1497137"/>
            <a:ext cx="8520112" cy="475523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u="sng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2) They can flow (are viscous)</a:t>
            </a:r>
            <a:endParaRPr lang="en-GB" sz="2000" b="1" dirty="0"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	Varies with composition: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					</a:t>
            </a:r>
            <a:r>
              <a:rPr lang="en-GB" sz="2000" b="1" u="sng" dirty="0">
                <a:solidFill>
                  <a:srgbClr val="009900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Viscosity in Pa s at 1200 </a:t>
            </a:r>
            <a:r>
              <a:rPr lang="en-GB" sz="2000" b="1" u="sng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º</a:t>
            </a:r>
            <a:r>
              <a:rPr lang="en-GB" sz="2000" b="1" u="sng" dirty="0">
                <a:solidFill>
                  <a:srgbClr val="009900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solidFill>
                  <a:srgbClr val="333399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Basic Magma			10-100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solidFill>
                  <a:srgbClr val="333399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Intermediate Magma		1,000-10,000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solidFill>
                  <a:srgbClr val="333399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Acid Magma			100,000-1,000,000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solidFill>
                  <a:srgbClr val="333399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H</a:t>
            </a:r>
            <a:r>
              <a:rPr lang="en-GB" sz="2000" b="1" baseline="-25000" dirty="0">
                <a:solidFill>
                  <a:srgbClr val="333399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2</a:t>
            </a:r>
            <a:r>
              <a:rPr lang="en-GB" sz="2000" b="1" dirty="0">
                <a:solidFill>
                  <a:srgbClr val="333399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O at 20 </a:t>
            </a:r>
            <a:r>
              <a:rPr lang="en-GB" sz="20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º</a:t>
            </a:r>
            <a:r>
              <a:rPr lang="en-GB" sz="2000" b="1" dirty="0">
                <a:solidFill>
                  <a:srgbClr val="333399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			0.001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solidFill>
                  <a:srgbClr val="333399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Honey at 20 </a:t>
            </a:r>
            <a:r>
              <a:rPr lang="en-GB" sz="20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º</a:t>
            </a:r>
            <a:r>
              <a:rPr lang="en-GB" sz="2000" b="1" dirty="0">
                <a:solidFill>
                  <a:srgbClr val="333399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C			~10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	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This has implications for ....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		....   style of eruption  (explosive vs. non-explosive)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GB" sz="20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		....   architecture of volcanoes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652120" y="5877272"/>
            <a:ext cx="27368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See later!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75F102-073B-4652-A4D5-916BB785860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Why</a:t>
            </a:r>
            <a:r>
              <a:rPr kumimoji="0" lang="en-GB" sz="40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do magmas rise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?</a:t>
            </a:r>
          </a:p>
        </p:txBody>
      </p:sp>
      <p:pic>
        <p:nvPicPr>
          <p:cNvPr id="2050" name="Picture 2" descr="Image result for pot of honey&quot;">
            <a:extLst>
              <a:ext uri="{FF2B5EF4-FFF2-40B4-BE49-F238E27FC236}">
                <a16:creationId xmlns:a16="http://schemas.microsoft.com/office/drawing/2014/main" id="{9EC89E7E-E5B9-43C8-ADDB-28640C63E3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804248" y="2681610"/>
            <a:ext cx="1962270" cy="26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29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EA5CAB27-AAE0-475B-996D-3CB5DED94E0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Where do the </a:t>
            </a:r>
            <a:r>
              <a:rPr kumimoji="0" lang="en-GB" sz="40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magmas go</a:t>
            </a: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?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B5BF5B4A-1831-442C-8D85-5AD32FF8B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874" y="1137275"/>
            <a:ext cx="8861622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Magmas rise and can…</a:t>
            </a:r>
          </a:p>
          <a:p>
            <a:pPr eaLnBrk="1" hangingPunct="1">
              <a:spcBef>
                <a:spcPct val="50000"/>
              </a:spcBef>
              <a:buAutoNum type="arabicParenR"/>
            </a:pPr>
            <a:r>
              <a:rPr lang="en-GB" sz="2000" b="1" dirty="0">
                <a:solidFill>
                  <a:schemeClr val="tx1"/>
                </a:solidFill>
              </a:rPr>
              <a:t>crystallise beneath the Earth’s surface</a:t>
            </a:r>
          </a:p>
          <a:p>
            <a:pPr marL="457200" lvl="1" indent="0" eaLnBrk="1" hangingPunct="1">
              <a:spcBef>
                <a:spcPct val="50000"/>
              </a:spcBef>
            </a:pPr>
            <a:r>
              <a:rPr lang="en-GB" sz="2000" dirty="0">
                <a:solidFill>
                  <a:schemeClr val="tx1"/>
                </a:solidFill>
              </a:rPr>
              <a:t>Deep (&gt;2 km) – “plutonic” – tend to be </a:t>
            </a:r>
            <a:r>
              <a:rPr lang="en-GB" sz="2000" dirty="0" err="1">
                <a:solidFill>
                  <a:schemeClr val="tx1"/>
                </a:solidFill>
              </a:rPr>
              <a:t>coare</a:t>
            </a:r>
            <a:r>
              <a:rPr lang="en-GB" sz="2000" dirty="0">
                <a:solidFill>
                  <a:schemeClr val="tx1"/>
                </a:solidFill>
              </a:rPr>
              <a:t> grained</a:t>
            </a:r>
          </a:p>
          <a:p>
            <a:pPr marL="457200" lvl="1" indent="0" eaLnBrk="1" hangingPunct="1">
              <a:spcBef>
                <a:spcPct val="50000"/>
              </a:spcBef>
            </a:pPr>
            <a:r>
              <a:rPr lang="en-GB" sz="2000" dirty="0">
                <a:solidFill>
                  <a:schemeClr val="tx1"/>
                </a:solidFill>
              </a:rPr>
              <a:t>Shallow (&lt;2 km) – “hypabyssal” – between plutonic and volcanic</a:t>
            </a:r>
          </a:p>
          <a:p>
            <a:pPr eaLnBrk="1" hangingPunct="1">
              <a:spcBef>
                <a:spcPct val="50000"/>
              </a:spcBef>
              <a:buAutoNum type="arabicParenR"/>
            </a:pPr>
            <a:r>
              <a:rPr lang="en-GB" sz="2000" b="1" dirty="0">
                <a:solidFill>
                  <a:schemeClr val="tx1"/>
                </a:solidFill>
              </a:rPr>
              <a:t>erupt on the Earth’s surface </a:t>
            </a:r>
            <a:r>
              <a:rPr lang="en-GB" sz="2000" dirty="0">
                <a:solidFill>
                  <a:schemeClr val="tx1"/>
                </a:solidFill>
              </a:rPr>
              <a:t>– “volcanic” – tend to be fine grained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BEA592-FF6D-4B70-90F9-9E91DE98F64D}"/>
              </a:ext>
            </a:extLst>
          </p:cNvPr>
          <p:cNvGrpSpPr/>
          <p:nvPr/>
        </p:nvGrpSpPr>
        <p:grpSpPr>
          <a:xfrm>
            <a:off x="4022189" y="3474489"/>
            <a:ext cx="5107318" cy="3383511"/>
            <a:chOff x="4067944" y="1354015"/>
            <a:chExt cx="5107318" cy="3383511"/>
          </a:xfrm>
        </p:grpSpPr>
        <p:pic>
          <p:nvPicPr>
            <p:cNvPr id="1026" name="Picture 2" descr="Difference Between Dyke and Sill">
              <a:extLst>
                <a:ext uri="{FF2B5EF4-FFF2-40B4-BE49-F238E27FC236}">
                  <a16:creationId xmlns:a16="http://schemas.microsoft.com/office/drawing/2014/main" id="{B1F2138C-0A5E-42C6-97D5-EEDF03EA07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0529" y="1357424"/>
              <a:ext cx="4163529" cy="32975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226C94-3227-4B72-B5D4-0124DD7C9209}"/>
                </a:ext>
              </a:extLst>
            </p:cNvPr>
            <p:cNvSpPr txBox="1"/>
            <p:nvPr/>
          </p:nvSpPr>
          <p:spPr>
            <a:xfrm>
              <a:off x="4067944" y="2276872"/>
              <a:ext cx="101309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/>
                <a:t>Laccolith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BCAA446-CF11-4775-B25A-B85DB87A06D9}"/>
                </a:ext>
              </a:extLst>
            </p:cNvPr>
            <p:cNvSpPr txBox="1"/>
            <p:nvPr/>
          </p:nvSpPr>
          <p:spPr>
            <a:xfrm>
              <a:off x="4716016" y="4251581"/>
              <a:ext cx="104336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/>
                <a:t>Batholith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9CE90F9-0A2F-493C-99D8-BE1524868575}"/>
                </a:ext>
              </a:extLst>
            </p:cNvPr>
            <p:cNvSpPr txBox="1"/>
            <p:nvPr/>
          </p:nvSpPr>
          <p:spPr>
            <a:xfrm>
              <a:off x="7825599" y="1354015"/>
              <a:ext cx="95836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Volcano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690B4FD-7BF2-469A-9EBB-C1F0D473AB21}"/>
                </a:ext>
              </a:extLst>
            </p:cNvPr>
            <p:cNvSpPr txBox="1"/>
            <p:nvPr/>
          </p:nvSpPr>
          <p:spPr>
            <a:xfrm>
              <a:off x="8222757" y="2461538"/>
              <a:ext cx="95250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/>
                <a:t>Lopolith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AD6288-F822-4748-9BBB-60C43F2EFD0E}"/>
                </a:ext>
              </a:extLst>
            </p:cNvPr>
            <p:cNvSpPr txBox="1"/>
            <p:nvPr/>
          </p:nvSpPr>
          <p:spPr>
            <a:xfrm>
              <a:off x="7236296" y="4066915"/>
              <a:ext cx="44916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/>
                <a:t>Sill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87CF46-724B-4C05-AAE4-CED313E7D30F}"/>
                </a:ext>
              </a:extLst>
            </p:cNvPr>
            <p:cNvSpPr txBox="1"/>
            <p:nvPr/>
          </p:nvSpPr>
          <p:spPr>
            <a:xfrm>
              <a:off x="6857620" y="4368194"/>
              <a:ext cx="124277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Dyke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8948AF2-2356-4121-B193-7B88F579A98D}"/>
                </a:ext>
              </a:extLst>
            </p:cNvPr>
            <p:cNvSpPr txBox="1"/>
            <p:nvPr/>
          </p:nvSpPr>
          <p:spPr>
            <a:xfrm>
              <a:off x="4298910" y="3835021"/>
              <a:ext cx="70513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Dyke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43C5B3-249C-487B-B24C-0805105483F8}"/>
                </a:ext>
              </a:extLst>
            </p:cNvPr>
            <p:cNvSpPr txBox="1"/>
            <p:nvPr/>
          </p:nvSpPr>
          <p:spPr>
            <a:xfrm>
              <a:off x="7870188" y="3524212"/>
              <a:ext cx="80626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Dyke</a:t>
              </a:r>
            </a:p>
          </p:txBody>
        </p:sp>
      </p:grpSp>
      <p:sp>
        <p:nvSpPr>
          <p:cNvPr id="22" name="Text Box 4">
            <a:extLst>
              <a:ext uri="{FF2B5EF4-FFF2-40B4-BE49-F238E27FC236}">
                <a16:creationId xmlns:a16="http://schemas.microsoft.com/office/drawing/2014/main" id="{258BF404-AD13-4FC4-A46B-B660F62F5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71" y="3863690"/>
            <a:ext cx="4033560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Fundamentally controlled by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/>
                </a:solidFill>
              </a:rPr>
              <a:t>Rate of magma production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/>
                </a:solidFill>
              </a:rPr>
              <a:t>Temperature of the host “country” rock</a:t>
            </a:r>
          </a:p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/>
                </a:solidFill>
              </a:rPr>
              <a:t>Size and shape of the conduits (surface area: volume ratio)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C5CEE9-E8C3-4940-89C6-8BE1E0D5616A}"/>
              </a:ext>
            </a:extLst>
          </p:cNvPr>
          <p:cNvGrpSpPr/>
          <p:nvPr/>
        </p:nvGrpSpPr>
        <p:grpSpPr>
          <a:xfrm>
            <a:off x="174874" y="2974932"/>
            <a:ext cx="8563333" cy="836187"/>
            <a:chOff x="174874" y="2974932"/>
            <a:chExt cx="8563333" cy="8361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4879344-D865-4C30-BBA4-678EBC492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6349" y="3349454"/>
              <a:ext cx="2736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>
                  <a:solidFill>
                    <a:srgbClr val="FF0000"/>
                  </a:solidFill>
                </a:rPr>
                <a:t>Later in the lecture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662287C-A6E5-4DF4-896D-41773F80C88E}"/>
                </a:ext>
              </a:extLst>
            </p:cNvPr>
            <p:cNvSpPr/>
            <p:nvPr/>
          </p:nvSpPr>
          <p:spPr>
            <a:xfrm rot="16200000">
              <a:off x="4251985" y="-1102179"/>
              <a:ext cx="409111" cy="8563333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448C10A-7D41-4083-AC7B-5299D1B8C390}"/>
              </a:ext>
            </a:extLst>
          </p:cNvPr>
          <p:cNvGrpSpPr/>
          <p:nvPr/>
        </p:nvGrpSpPr>
        <p:grpSpPr>
          <a:xfrm>
            <a:off x="107504" y="1608937"/>
            <a:ext cx="9437923" cy="1257254"/>
            <a:chOff x="174874" y="2974932"/>
            <a:chExt cx="9437923" cy="40911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DB636C8-F79C-41FE-96C8-3F6DB1B0E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5947" y="3010050"/>
              <a:ext cx="2736850" cy="270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3300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>
                  <a:solidFill>
                    <a:schemeClr val="tx2"/>
                  </a:solidFill>
                </a:rPr>
                <a:t>These are</a:t>
              </a:r>
            </a:p>
            <a:p>
              <a:pPr eaLnBrk="1" hangingPunct="1"/>
              <a:r>
                <a:rPr lang="en-US" dirty="0">
                  <a:solidFill>
                    <a:schemeClr val="tx2"/>
                  </a:solidFill>
                </a:rPr>
                <a:t>“intrusive”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C918A98-5A2A-496F-8BFD-2C604A99353F}"/>
                </a:ext>
              </a:extLst>
            </p:cNvPr>
            <p:cNvSpPr/>
            <p:nvPr/>
          </p:nvSpPr>
          <p:spPr>
            <a:xfrm rot="16200000">
              <a:off x="4251985" y="-1102179"/>
              <a:ext cx="409111" cy="8563333"/>
            </a:xfrm>
            <a:prstGeom prst="rect">
              <a:avLst/>
            </a:prstGeom>
            <a:noFill/>
            <a:ln w="762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4617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8389146-7131-4CB0-9351-F5CC824FC160}"/>
              </a:ext>
            </a:extLst>
          </p:cNvPr>
          <p:cNvGrpSpPr/>
          <p:nvPr/>
        </p:nvGrpSpPr>
        <p:grpSpPr>
          <a:xfrm>
            <a:off x="107504" y="1196752"/>
            <a:ext cx="5107318" cy="3383511"/>
            <a:chOff x="4067944" y="1354015"/>
            <a:chExt cx="5107318" cy="3383511"/>
          </a:xfrm>
        </p:grpSpPr>
        <p:pic>
          <p:nvPicPr>
            <p:cNvPr id="7" name="Picture 2" descr="Difference Between Dyke and Sill">
              <a:extLst>
                <a:ext uri="{FF2B5EF4-FFF2-40B4-BE49-F238E27FC236}">
                  <a16:creationId xmlns:a16="http://schemas.microsoft.com/office/drawing/2014/main" id="{53B09321-3593-4F6C-B35D-D11276B77A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0529" y="1357424"/>
              <a:ext cx="4163529" cy="32975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17E14E6-79DD-4CD4-AF79-A395105F7FCD}"/>
                </a:ext>
              </a:extLst>
            </p:cNvPr>
            <p:cNvSpPr txBox="1"/>
            <p:nvPr/>
          </p:nvSpPr>
          <p:spPr>
            <a:xfrm>
              <a:off x="4067944" y="2276872"/>
              <a:ext cx="101309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/>
                <a:t>Laccolith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F8BB755-2C38-4176-9E6C-641505ADC185}"/>
                </a:ext>
              </a:extLst>
            </p:cNvPr>
            <p:cNvSpPr txBox="1"/>
            <p:nvPr/>
          </p:nvSpPr>
          <p:spPr>
            <a:xfrm>
              <a:off x="4716016" y="4251581"/>
              <a:ext cx="104336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/>
                <a:t>Batholith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716F9D-7891-4EE9-B013-5094377E3A80}"/>
                </a:ext>
              </a:extLst>
            </p:cNvPr>
            <p:cNvSpPr txBox="1"/>
            <p:nvPr/>
          </p:nvSpPr>
          <p:spPr>
            <a:xfrm>
              <a:off x="7825599" y="1354015"/>
              <a:ext cx="95836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Volcano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A7D6394-8D67-4651-8FBB-684250345626}"/>
                </a:ext>
              </a:extLst>
            </p:cNvPr>
            <p:cNvSpPr txBox="1"/>
            <p:nvPr/>
          </p:nvSpPr>
          <p:spPr>
            <a:xfrm>
              <a:off x="8222757" y="2461538"/>
              <a:ext cx="95250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/>
                <a:t>Lopolith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28272E6-44F0-4BB4-9341-5AD7BFFD9978}"/>
                </a:ext>
              </a:extLst>
            </p:cNvPr>
            <p:cNvSpPr txBox="1"/>
            <p:nvPr/>
          </p:nvSpPr>
          <p:spPr>
            <a:xfrm>
              <a:off x="7236296" y="4066915"/>
              <a:ext cx="44916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GB" dirty="0"/>
                <a:t>Sill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1C60B0E-9ABD-4D7E-B699-A63C30225BDC}"/>
                </a:ext>
              </a:extLst>
            </p:cNvPr>
            <p:cNvSpPr txBox="1"/>
            <p:nvPr/>
          </p:nvSpPr>
          <p:spPr>
            <a:xfrm>
              <a:off x="6857620" y="4368194"/>
              <a:ext cx="124277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Dyke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B1C471-FA82-41B3-B53A-B80179883C2D}"/>
                </a:ext>
              </a:extLst>
            </p:cNvPr>
            <p:cNvSpPr txBox="1"/>
            <p:nvPr/>
          </p:nvSpPr>
          <p:spPr>
            <a:xfrm>
              <a:off x="4298910" y="3835021"/>
              <a:ext cx="70513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Dyke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2E7A139-05AA-45E5-81EE-CBBE5FC4566A}"/>
                </a:ext>
              </a:extLst>
            </p:cNvPr>
            <p:cNvSpPr txBox="1"/>
            <p:nvPr/>
          </p:nvSpPr>
          <p:spPr>
            <a:xfrm>
              <a:off x="7870188" y="3524212"/>
              <a:ext cx="80626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Dyke</a:t>
              </a:r>
            </a:p>
          </p:txBody>
        </p:sp>
      </p:grpSp>
      <p:pic>
        <p:nvPicPr>
          <p:cNvPr id="16" name="Picture 2" descr="Image result for flat rectangular prism&quot;">
            <a:extLst>
              <a:ext uri="{FF2B5EF4-FFF2-40B4-BE49-F238E27FC236}">
                <a16:creationId xmlns:a16="http://schemas.microsoft.com/office/drawing/2014/main" id="{F2AEF18A-51EF-4288-9003-E868553C0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60032" y="1566083"/>
            <a:ext cx="4163529" cy="49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Image result for sphere&quot;">
            <a:extLst>
              <a:ext uri="{FF2B5EF4-FFF2-40B4-BE49-F238E27FC236}">
                <a16:creationId xmlns:a16="http://schemas.microsoft.com/office/drawing/2014/main" id="{092F42A8-C087-4A12-B9AB-F20FD4052F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34103" y="4586596"/>
            <a:ext cx="1707367" cy="170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Image result for geometry tube&quot;">
            <a:extLst>
              <a:ext uri="{FF2B5EF4-FFF2-40B4-BE49-F238E27FC236}">
                <a16:creationId xmlns:a16="http://schemas.microsoft.com/office/drawing/2014/main" id="{B4113247-6338-4867-84CD-8A47B5FE9C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519759" y="2304275"/>
            <a:ext cx="1512168" cy="118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Image result for geometry tube&quot;">
            <a:extLst>
              <a:ext uri="{FF2B5EF4-FFF2-40B4-BE49-F238E27FC236}">
                <a16:creationId xmlns:a16="http://schemas.microsoft.com/office/drawing/2014/main" id="{E55A0992-D616-4D41-AEAC-8A19CBF7F5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6200000">
            <a:off x="3362786" y="3576157"/>
            <a:ext cx="724465" cy="325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Image result for flat rectangular prism&quot;">
            <a:extLst>
              <a:ext uri="{FF2B5EF4-FFF2-40B4-BE49-F238E27FC236}">
                <a16:creationId xmlns:a16="http://schemas.microsoft.com/office/drawing/2014/main" id="{25054952-784A-4B23-980A-E312BB7AA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5041860" y="3388625"/>
            <a:ext cx="1804049" cy="1411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D199332-08F5-48FB-8645-A507895EFA05}"/>
              </a:ext>
            </a:extLst>
          </p:cNvPr>
          <p:cNvSpPr/>
          <p:nvPr/>
        </p:nvSpPr>
        <p:spPr>
          <a:xfrm>
            <a:off x="3482309" y="4949787"/>
            <a:ext cx="449162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BE998F-FD0D-4B6F-8796-C4FD330D549E}"/>
              </a:ext>
            </a:extLst>
          </p:cNvPr>
          <p:cNvSpPr/>
          <p:nvPr/>
        </p:nvSpPr>
        <p:spPr>
          <a:xfrm>
            <a:off x="7706860" y="2688236"/>
            <a:ext cx="1113612" cy="380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FCF501-D2C1-4D54-B01C-8C80C5E1C5AF}"/>
              </a:ext>
            </a:extLst>
          </p:cNvPr>
          <p:cNvSpPr txBox="1"/>
          <p:nvPr/>
        </p:nvSpPr>
        <p:spPr>
          <a:xfrm>
            <a:off x="6727671" y="1467200"/>
            <a:ext cx="7920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/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30A4A6-4D5B-4F9C-A3DB-0501C64EFA45}"/>
              </a:ext>
            </a:extLst>
          </p:cNvPr>
          <p:cNvSpPr txBox="1"/>
          <p:nvPr/>
        </p:nvSpPr>
        <p:spPr>
          <a:xfrm>
            <a:off x="7949382" y="2586592"/>
            <a:ext cx="7920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/>
              <a:t>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575F50-13ED-4CBF-AE74-0FFA7BD511E2}"/>
              </a:ext>
            </a:extLst>
          </p:cNvPr>
          <p:cNvSpPr txBox="1"/>
          <p:nvPr/>
        </p:nvSpPr>
        <p:spPr>
          <a:xfrm>
            <a:off x="5418213" y="3724986"/>
            <a:ext cx="7920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/>
              <a:t>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36985-FBED-4C30-BBA9-212F69F82B9D}"/>
              </a:ext>
            </a:extLst>
          </p:cNvPr>
          <p:cNvSpPr txBox="1"/>
          <p:nvPr/>
        </p:nvSpPr>
        <p:spPr>
          <a:xfrm>
            <a:off x="3556006" y="4956845"/>
            <a:ext cx="7920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/>
              <a:t>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842B63-53D9-4A45-9AA7-657334A7B493}"/>
              </a:ext>
            </a:extLst>
          </p:cNvPr>
          <p:cNvSpPr txBox="1"/>
          <p:nvPr/>
        </p:nvSpPr>
        <p:spPr>
          <a:xfrm>
            <a:off x="7668344" y="4645585"/>
            <a:ext cx="7920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3000" b="1" dirty="0"/>
          </a:p>
          <a:p>
            <a:r>
              <a:rPr lang="en-GB" sz="3000" b="1" dirty="0"/>
              <a:t>E</a:t>
            </a:r>
          </a:p>
        </p:txBody>
      </p:sp>
      <p:sp>
        <p:nvSpPr>
          <p:cNvPr id="30" name="Text Box 4">
            <a:extLst>
              <a:ext uri="{FF2B5EF4-FFF2-40B4-BE49-F238E27FC236}">
                <a16:creationId xmlns:a16="http://schemas.microsoft.com/office/drawing/2014/main" id="{F48B1A76-B797-4656-98CC-DB4368C54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497" y="5827317"/>
            <a:ext cx="635996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2000" b="1" dirty="0">
                <a:solidFill>
                  <a:schemeClr val="tx1"/>
                </a:solidFill>
              </a:rPr>
              <a:t>Organise A-E according to the rate at which they cool (slowest to fastest).</a:t>
            </a:r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EA5CAB27-AAE0-475B-996D-3CB5DED94E0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Cooling and </a:t>
            </a:r>
            <a:r>
              <a:rPr kumimoji="0" lang="en-GB" sz="3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crystalisation</a:t>
            </a:r>
            <a:r>
              <a:rPr kumimoji="0" lang="en-GB" sz="3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magmas</a:t>
            </a:r>
          </a:p>
        </p:txBody>
      </p:sp>
    </p:spTree>
    <p:extLst>
      <p:ext uri="{BB962C8B-B14F-4D97-AF65-F5344CB8AC3E}">
        <p14:creationId xmlns:p14="http://schemas.microsoft.com/office/powerpoint/2010/main" val="27635514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C90215-F535-437C-8E62-90BC2FA1EFB8}"/>
              </a:ext>
            </a:extLst>
          </p:cNvPr>
          <p:cNvSpPr txBox="1"/>
          <p:nvPr/>
        </p:nvSpPr>
        <p:spPr>
          <a:xfrm>
            <a:off x="261157" y="1196752"/>
            <a:ext cx="8703331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charset="0"/>
                <a:cs typeface="Arial" panose="020B0604020202020204" pitchFamily="34" charset="0"/>
              </a:rPr>
              <a:t>Intrusive melts cool slowly</a:t>
            </a:r>
          </a:p>
          <a:p>
            <a:r>
              <a:rPr lang="en-GB" sz="2000" b="1" dirty="0">
                <a:solidFill>
                  <a:srgbClr val="FF0000"/>
                </a:solidFill>
                <a:latin typeface="Arial" charset="0"/>
                <a:cs typeface="Arial" panose="020B0604020202020204" pitchFamily="34" charset="0"/>
              </a:rPr>
              <a:t>     This is not the case for extrusive (volcanic) rocks.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This is because rock is a very poor conductor – the magma loses its heat to the country rock slowly.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A0DEA0-EC7E-4DB7-8938-0EC1CF0F2E5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5616" y="2827968"/>
            <a:ext cx="7344816" cy="3241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359D09-9054-4474-9A76-D41E1BAB4B32}"/>
              </a:ext>
            </a:extLst>
          </p:cNvPr>
          <p:cNvSpPr txBox="1"/>
          <p:nvPr/>
        </p:nvSpPr>
        <p:spPr>
          <a:xfrm>
            <a:off x="261157" y="6069961"/>
            <a:ext cx="87130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heat of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crystallisation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slows down the cooling rate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(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second derivative).</a:t>
            </a:r>
            <a:endParaRPr lang="en-GB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A5CAB27-AAE0-475B-996D-3CB5DED94E0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Cooling and </a:t>
            </a:r>
            <a:r>
              <a:rPr kumimoji="0" lang="en-GB" sz="3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crystalisation</a:t>
            </a:r>
            <a:r>
              <a:rPr kumimoji="0" lang="en-GB" sz="3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magmas</a:t>
            </a:r>
          </a:p>
        </p:txBody>
      </p:sp>
    </p:spTree>
    <p:extLst>
      <p:ext uri="{BB962C8B-B14F-4D97-AF65-F5344CB8AC3E}">
        <p14:creationId xmlns:p14="http://schemas.microsoft.com/office/powerpoint/2010/main" val="322891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F5E9C6-B289-45DC-8919-102C393A44AF}"/>
              </a:ext>
            </a:extLst>
          </p:cNvPr>
          <p:cNvSpPr txBox="1"/>
          <p:nvPr/>
        </p:nvSpPr>
        <p:spPr>
          <a:xfrm>
            <a:off x="179512" y="1170383"/>
            <a:ext cx="8487307" cy="22467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charset="0"/>
              </a:rPr>
              <a:t>Because magmas are complex mixtures (</a:t>
            </a:r>
            <a:r>
              <a:rPr lang="en-GB" sz="2000" b="1" u="sng" dirty="0">
                <a:latin typeface="Arial" charset="0"/>
              </a:rPr>
              <a:t>that have already undergone differentiation from their parent material during partial melting</a:t>
            </a:r>
            <a:r>
              <a:rPr lang="en-GB" sz="2000" b="1" dirty="0">
                <a:latin typeface="Arial" charset="0"/>
              </a:rPr>
              <a:t>), slow cooling rates result in “</a:t>
            </a:r>
            <a:r>
              <a:rPr lang="en-GB" sz="2000" b="1" u="sng" dirty="0">
                <a:latin typeface="Arial" charset="0"/>
              </a:rPr>
              <a:t>Fractional Crystallisation</a:t>
            </a:r>
            <a:r>
              <a:rPr lang="en-GB" sz="2000" b="1" dirty="0">
                <a:latin typeface="Arial" charset="0"/>
              </a:rPr>
              <a:t>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>
              <a:latin typeface="Arial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charset="0"/>
              </a:rPr>
              <a:t>As the temperature descends, high temperature minerals form at their melting T, leaving behind a melt that is enriched in the components of lower T minerals.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Fractional_crystallization.png">
            <a:extLst>
              <a:ext uri="{FF2B5EF4-FFF2-40B4-BE49-F238E27FC236}">
                <a16:creationId xmlns:a16="http://schemas.microsoft.com/office/drawing/2014/main" id="{208C0F40-4791-4818-9AEA-B31167DC9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7604" y="3573016"/>
            <a:ext cx="7128792" cy="304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EA5CAB27-AAE0-475B-996D-3CB5DED94E0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Cooling and </a:t>
            </a:r>
            <a:r>
              <a:rPr kumimoji="0" lang="en-GB" sz="3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crystalisation</a:t>
            </a:r>
            <a:r>
              <a:rPr kumimoji="0" lang="en-GB" sz="3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of magmas</a:t>
            </a:r>
          </a:p>
        </p:txBody>
      </p:sp>
    </p:spTree>
    <p:extLst>
      <p:ext uri="{BB962C8B-B14F-4D97-AF65-F5344CB8AC3E}">
        <p14:creationId xmlns:p14="http://schemas.microsoft.com/office/powerpoint/2010/main" val="11812700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D2ACDB5-C920-4364-9F65-1CE29727E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046" y="1181130"/>
            <a:ext cx="8645434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sym typeface="Wingdings" charset="0"/>
              </a:rPr>
              <a:t>Slow cooling of intrusive igneous rocks results in the ready formation of crystals out of the melt – visible to the naked eye.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sym typeface="Wingdings" charset="0"/>
              </a:rPr>
              <a:t>“Phaneritic” texture – useful word with hand specimens/in the field.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75D6A9A6-EDB7-45E5-8867-26BFF0B0C4C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Intrusive igneous rock textures</a:t>
            </a:r>
          </a:p>
        </p:txBody>
      </p:sp>
      <p:pic>
        <p:nvPicPr>
          <p:cNvPr id="8" name="Picture 2" descr="Image result for partial melting of granites&quot;">
            <a:extLst>
              <a:ext uri="{FF2B5EF4-FFF2-40B4-BE49-F238E27FC236}">
                <a16:creationId xmlns:a16="http://schemas.microsoft.com/office/drawing/2014/main" id="{74F48276-2FEC-426D-88F5-BA4948F4FD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555776" y="4353280"/>
            <a:ext cx="3629891" cy="223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Image result for phaneritic&quot;">
            <a:extLst>
              <a:ext uri="{FF2B5EF4-FFF2-40B4-BE49-F238E27FC236}">
                <a16:creationId xmlns:a16="http://schemas.microsoft.com/office/drawing/2014/main" id="{3336A52F-0D8A-446E-A4CC-46B4BA56B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64696" y="4442786"/>
            <a:ext cx="2804116" cy="210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Image result for gabbro&quot;">
            <a:extLst>
              <a:ext uri="{FF2B5EF4-FFF2-40B4-BE49-F238E27FC236}">
                <a16:creationId xmlns:a16="http://schemas.microsoft.com/office/drawing/2014/main" id="{711B8C8C-049D-403E-AE6F-A9AF32A88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52120" y="2255001"/>
            <a:ext cx="2627784" cy="1960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Image result for diorite&quot;">
            <a:extLst>
              <a:ext uri="{FF2B5EF4-FFF2-40B4-BE49-F238E27FC236}">
                <a16:creationId xmlns:a16="http://schemas.microsoft.com/office/drawing/2014/main" id="{D93D942D-CDF1-4E75-B1CC-4838D2240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7744" y="2340659"/>
            <a:ext cx="2430215" cy="187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Image result for granite hand specimen&quot;">
            <a:extLst>
              <a:ext uri="{FF2B5EF4-FFF2-40B4-BE49-F238E27FC236}">
                <a16:creationId xmlns:a16="http://schemas.microsoft.com/office/drawing/2014/main" id="{378E379F-8E72-4EDE-A993-8688B210A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188" y="4321223"/>
            <a:ext cx="2627785" cy="225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0710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ractional_crystallization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5670" y="4077072"/>
            <a:ext cx="5952982" cy="2539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0C386A37-B069-4ECC-B6B7-92BB0417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04048" y="1124744"/>
            <a:ext cx="3822915" cy="2539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066355" y="1124094"/>
            <a:ext cx="36204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solidFill>
                  <a:srgbClr val="FFFF00"/>
                </a:solidFill>
                <a:sym typeface="Wingdings" charset="0"/>
              </a:rPr>
              <a:t>Cumulate textures, Oman</a:t>
            </a:r>
            <a:endParaRPr lang="en-US" b="1" dirty="0">
              <a:solidFill>
                <a:srgbClr val="FFFF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6915505" y="3429000"/>
            <a:ext cx="968863" cy="172819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D2ACDB5-C920-4364-9F65-1CE29727E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3" y="4141274"/>
            <a:ext cx="295232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solidFill>
                  <a:schemeClr val="tx1"/>
                </a:solidFill>
                <a:sym typeface="Wingdings" charset="0"/>
              </a:rPr>
              <a:t>Fractional </a:t>
            </a:r>
            <a:r>
              <a:rPr lang="en-US" sz="2000" b="1" dirty="0" err="1">
                <a:solidFill>
                  <a:schemeClr val="tx1"/>
                </a:solidFill>
                <a:sym typeface="Wingdings" charset="0"/>
              </a:rPr>
              <a:t>crystalisation</a:t>
            </a:r>
            <a:r>
              <a:rPr lang="en-US" sz="2000" b="1" dirty="0">
                <a:solidFill>
                  <a:schemeClr val="tx1"/>
                </a:solidFill>
                <a:sym typeface="Wingdings" charset="0"/>
              </a:rPr>
              <a:t> and multi-stage cooling result in the formation of cumulate and </a:t>
            </a:r>
            <a:r>
              <a:rPr lang="en-US" sz="2000" b="1" dirty="0" err="1">
                <a:solidFill>
                  <a:schemeClr val="tx1"/>
                </a:solidFill>
                <a:sym typeface="Wingdings" charset="0"/>
              </a:rPr>
              <a:t>porphorytic</a:t>
            </a:r>
            <a:r>
              <a:rPr lang="en-US" sz="2000" b="1" dirty="0">
                <a:solidFill>
                  <a:schemeClr val="tx1"/>
                </a:solidFill>
                <a:sym typeface="Wingdings" charset="0"/>
              </a:rPr>
              <a:t> textures.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75D6A9A6-EDB7-45E5-8867-26BFF0B0C4C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Intrusive igneous rock textures</a:t>
            </a:r>
          </a:p>
        </p:txBody>
      </p:sp>
      <p:pic>
        <p:nvPicPr>
          <p:cNvPr id="7174" name="Picture 6" descr="Image result for granite hand specimen&quot;">
            <a:extLst>
              <a:ext uri="{FF2B5EF4-FFF2-40B4-BE49-F238E27FC236}">
                <a16:creationId xmlns:a16="http://schemas.microsoft.com/office/drawing/2014/main" id="{A917C06D-8AD4-4836-9239-7DC2854E9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9122" y="1124094"/>
            <a:ext cx="3221456" cy="274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F7384ED-0C3A-433A-A616-496641A98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3" y="1065636"/>
            <a:ext cx="36204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 dirty="0" err="1">
                <a:solidFill>
                  <a:schemeClr val="tx1"/>
                </a:solidFill>
                <a:sym typeface="Wingdings" charset="0"/>
              </a:rPr>
              <a:t>Porphorytic</a:t>
            </a:r>
            <a:r>
              <a:rPr lang="en-US" sz="2000" b="1" dirty="0">
                <a:solidFill>
                  <a:schemeClr val="tx1"/>
                </a:solidFill>
                <a:sym typeface="Wingdings" charset="0"/>
              </a:rPr>
              <a:t> granite 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0060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Image result for bowen's reaction series&quot;">
            <a:extLst>
              <a:ext uri="{FF2B5EF4-FFF2-40B4-BE49-F238E27FC236}">
                <a16:creationId xmlns:a16="http://schemas.microsoft.com/office/drawing/2014/main" id="{24E38C66-0A60-4E09-82BD-AD0116145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7904" y="3933056"/>
            <a:ext cx="5204260" cy="269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2508122F-8A7C-43A7-AC8A-078984AF2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1849" y="4170566"/>
            <a:ext cx="12581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1600" b="1" dirty="0">
                <a:solidFill>
                  <a:srgbClr val="FF0000"/>
                </a:solidFill>
              </a:rPr>
              <a:t>~1300</a:t>
            </a:r>
            <a:r>
              <a:rPr lang="en-GB" sz="1600" b="1" baseline="30000" dirty="0">
                <a:solidFill>
                  <a:srgbClr val="FF0000"/>
                </a:solidFill>
              </a:rPr>
              <a:t>o</a:t>
            </a:r>
            <a:r>
              <a:rPr lang="en-GB" sz="16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74A87C90-DD93-44DF-8DBD-D05FCE895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5865" y="6258798"/>
            <a:ext cx="12581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r>
              <a:rPr lang="en-GB" sz="1600" b="1" dirty="0">
                <a:solidFill>
                  <a:srgbClr val="0070C0"/>
                </a:solidFill>
              </a:rPr>
              <a:t>~750</a:t>
            </a:r>
            <a:r>
              <a:rPr lang="en-GB" sz="1600" b="1" baseline="30000" dirty="0">
                <a:solidFill>
                  <a:srgbClr val="0070C0"/>
                </a:solidFill>
              </a:rPr>
              <a:t>o</a:t>
            </a:r>
            <a:r>
              <a:rPr lang="en-GB" sz="1600" b="1" dirty="0">
                <a:solidFill>
                  <a:srgbClr val="0070C0"/>
                </a:solidFill>
              </a:rPr>
              <a:t>C</a:t>
            </a:r>
          </a:p>
        </p:txBody>
      </p:sp>
      <p:pic>
        <p:nvPicPr>
          <p:cNvPr id="10242" name="Picture 2" descr="Image result for porphorytic texture granite&quot;">
            <a:extLst>
              <a:ext uri="{FF2B5EF4-FFF2-40B4-BE49-F238E27FC236}">
                <a16:creationId xmlns:a16="http://schemas.microsoft.com/office/drawing/2014/main" id="{85B9FDE6-F866-4D6E-A630-54639C3FB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36096" y="1079868"/>
            <a:ext cx="3476068" cy="2754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Image result for olivine phenocryst&quot;">
            <a:extLst>
              <a:ext uri="{FF2B5EF4-FFF2-40B4-BE49-F238E27FC236}">
                <a16:creationId xmlns:a16="http://schemas.microsoft.com/office/drawing/2014/main" id="{623DFB6C-3EA5-4842-9C5E-80A72B2A7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1901" y="4241401"/>
            <a:ext cx="2739948" cy="228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 result for partial melting of granites&quot;">
            <a:extLst>
              <a:ext uri="{FF2B5EF4-FFF2-40B4-BE49-F238E27FC236}">
                <a16:creationId xmlns:a16="http://schemas.microsoft.com/office/drawing/2014/main" id="{7EDCDF2B-DBA3-4780-9096-DCA75A8725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23528" y="1079868"/>
            <a:ext cx="4680520" cy="288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75D6A9A6-EDB7-45E5-8867-26BFF0B0C4C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Intrusive igneous rock textures</a:t>
            </a:r>
          </a:p>
        </p:txBody>
      </p:sp>
    </p:spTree>
    <p:extLst>
      <p:ext uri="{BB962C8B-B14F-4D97-AF65-F5344CB8AC3E}">
        <p14:creationId xmlns:p14="http://schemas.microsoft.com/office/powerpoint/2010/main" val="22897294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magmatic mixing&quot;">
            <a:extLst>
              <a:ext uri="{FF2B5EF4-FFF2-40B4-BE49-F238E27FC236}">
                <a16:creationId xmlns:a16="http://schemas.microsoft.com/office/drawing/2014/main" id="{15BF6864-7CCB-49A6-9B9E-D043CA7CDE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79511" y="1196752"/>
            <a:ext cx="3648405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8FBA53-2CBC-4116-AF40-7B0D2AA89A7C}"/>
              </a:ext>
            </a:extLst>
          </p:cNvPr>
          <p:cNvSpPr txBox="1"/>
          <p:nvPr/>
        </p:nvSpPr>
        <p:spPr>
          <a:xfrm>
            <a:off x="3923928" y="1484784"/>
            <a:ext cx="5106857" cy="47089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Magma mixing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is another example of magmatic differentiation.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It is the physical mixing of two magma types to give a new homogeneous one. 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e.g. acidic (rhyolitic) magma formed by partial melting continental crust…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… mixes with basic (basaltic) magma formed by partial melting in the mantle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…to form a melt with intermediate (andesitic) composition.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C03FF52-1A42-4CDE-97DC-D0C65DC01C0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Other differentiation processes</a:t>
            </a:r>
          </a:p>
        </p:txBody>
      </p:sp>
    </p:spTree>
    <p:extLst>
      <p:ext uri="{BB962C8B-B14F-4D97-AF65-F5344CB8AC3E}">
        <p14:creationId xmlns:p14="http://schemas.microsoft.com/office/powerpoint/2010/main" val="5030493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5508104" y="1290079"/>
            <a:ext cx="3024336" cy="187220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en-GB" sz="2000" b="1" dirty="0">
              <a:solidFill>
                <a:srgbClr val="FF3300"/>
              </a:solidFill>
              <a:latin typeface="Arial" charset="0"/>
              <a:cs typeface="+mn-cs"/>
            </a:endParaRPr>
          </a:p>
        </p:txBody>
      </p:sp>
      <p:pic>
        <p:nvPicPr>
          <p:cNvPr id="5" name="Picture 4" descr="Fig 6.7 magma assimilation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72108" y="3662533"/>
            <a:ext cx="4816706" cy="3096344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287669E7-F75B-4D07-95F7-0043C32572D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Other differentiation processes</a:t>
            </a:r>
          </a:p>
        </p:txBody>
      </p:sp>
      <p:pic>
        <p:nvPicPr>
          <p:cNvPr id="6146" name="Picture 2" descr="Image result for granite xenolith&quot;">
            <a:extLst>
              <a:ext uri="{FF2B5EF4-FFF2-40B4-BE49-F238E27FC236}">
                <a16:creationId xmlns:a16="http://schemas.microsoft.com/office/drawing/2014/main" id="{8DDDBF49-913B-49A8-8743-C39E53836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3465" y="1124745"/>
            <a:ext cx="4310844" cy="287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32E7A6-EFE5-4D4F-9B53-CBE078990F06}"/>
              </a:ext>
            </a:extLst>
          </p:cNvPr>
          <p:cNvSpPr txBox="1"/>
          <p:nvPr/>
        </p:nvSpPr>
        <p:spPr>
          <a:xfrm>
            <a:off x="4665731" y="1290079"/>
            <a:ext cx="4310843" cy="22467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charset="0"/>
              </a:rPr>
              <a:t>Partial melting of wall rock and “</a:t>
            </a:r>
            <a:r>
              <a:rPr lang="en-GB" sz="2000" b="1" dirty="0" err="1">
                <a:latin typeface="Arial" charset="0"/>
              </a:rPr>
              <a:t>stoping</a:t>
            </a:r>
            <a:r>
              <a:rPr lang="en-GB" sz="2000" b="1" dirty="0">
                <a:latin typeface="Arial" charset="0"/>
              </a:rPr>
              <a:t>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charset="0"/>
              </a:rPr>
              <a:t>Heat provided by the magma can melt the wall rock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charset="0"/>
              </a:rPr>
              <a:t>blocks of wall rock can be incorporated into the melt (</a:t>
            </a:r>
            <a:r>
              <a:rPr lang="en-GB" sz="2000" b="1" dirty="0" err="1">
                <a:latin typeface="Arial" charset="0"/>
              </a:rPr>
              <a:t>stoping</a:t>
            </a:r>
            <a:r>
              <a:rPr lang="en-GB" sz="2000" b="1" dirty="0">
                <a:latin typeface="Arial" charset="0"/>
              </a:rPr>
              <a:t>)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8C6E9-09EA-4690-9868-1208F85BAFDE}"/>
              </a:ext>
            </a:extLst>
          </p:cNvPr>
          <p:cNvSpPr txBox="1"/>
          <p:nvPr/>
        </p:nvSpPr>
        <p:spPr>
          <a:xfrm>
            <a:off x="187234" y="4388999"/>
            <a:ext cx="3880710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charset="0"/>
              </a:rPr>
              <a:t>The material dissolves and mixes into the melt to form a new composition.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charset="0"/>
              </a:rPr>
              <a:t>More common in basic </a:t>
            </a:r>
            <a:r>
              <a:rPr lang="en-GB" sz="2000" b="1" dirty="0" err="1">
                <a:latin typeface="Arial" charset="0"/>
              </a:rPr>
              <a:t>intrusives</a:t>
            </a:r>
            <a:r>
              <a:rPr lang="en-GB" sz="2000" b="1" dirty="0">
                <a:latin typeface="Arial" charset="0"/>
              </a:rPr>
              <a:t>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D1596E-32C3-46A5-A63E-4710A9230B40}"/>
              </a:ext>
            </a:extLst>
          </p:cNvPr>
          <p:cNvSpPr txBox="1"/>
          <p:nvPr/>
        </p:nvSpPr>
        <p:spPr>
          <a:xfrm>
            <a:off x="233518" y="1194427"/>
            <a:ext cx="2088232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Arial" charset="0"/>
                <a:cs typeface="Arial" panose="020B0604020202020204" pitchFamily="34" charset="0"/>
              </a:rPr>
              <a:t>Xenolith of rhyolite in a basaltic matrix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041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Eruption of the Soufrière Mountains in the Island of St Vincent, 30 April 18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" y="8125"/>
            <a:ext cx="9180513" cy="684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08048" y="760329"/>
            <a:ext cx="8928992" cy="25202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EART11100: </a:t>
            </a:r>
            <a:r>
              <a:rPr lang="en-GB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Understanding 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he 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A dynamic Planet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Where do volcanoes form?</a:t>
            </a:r>
            <a:endParaRPr kumimoji="0" lang="en-GB" sz="4800" b="1" i="0" u="none" strike="noStrike" kern="1200" cap="none" spc="0" normalizeH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6237312"/>
            <a:ext cx="3414338" cy="50405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1200" dirty="0">
                <a:solidFill>
                  <a:srgbClr val="FFFF00"/>
                </a:solidFill>
              </a:rPr>
              <a:t>The Eruption of the </a:t>
            </a:r>
            <a:r>
              <a:rPr lang="en-GB" sz="1200" dirty="0" err="1">
                <a:solidFill>
                  <a:srgbClr val="FFFF00"/>
                </a:solidFill>
              </a:rPr>
              <a:t>Soufrière</a:t>
            </a:r>
            <a:r>
              <a:rPr lang="en-GB" sz="1200" dirty="0">
                <a:solidFill>
                  <a:srgbClr val="FFFF00"/>
                </a:solidFill>
              </a:rPr>
              <a:t> Mountains in the Island of St Vincent, 30 April 1812, JMW Turner</a:t>
            </a:r>
          </a:p>
        </p:txBody>
      </p:sp>
    </p:spTree>
    <p:extLst>
      <p:ext uri="{BB962C8B-B14F-4D97-AF65-F5344CB8AC3E}">
        <p14:creationId xmlns:p14="http://schemas.microsoft.com/office/powerpoint/2010/main" val="5992540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672" y="1178750"/>
            <a:ext cx="5832648" cy="3586094"/>
          </a:xfrm>
          <a:prstGeom prst="rect">
            <a:avLst/>
          </a:prstGeom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Intended</a:t>
            </a:r>
            <a:r>
              <a:rPr kumimoji="0" lang="en-GB" sz="34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learning outcomes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5713" y="4782383"/>
            <a:ext cx="8964489" cy="1440160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>
                <a:latin typeface="Arial" pitchFamily="34" charset="0"/>
                <a:cs typeface="Arial" pitchFamily="34" charset="0"/>
              </a:rPr>
              <a:t>You should be able to</a:t>
            </a:r>
          </a:p>
          <a:p>
            <a:r>
              <a:rPr lang="en-GB" sz="1800" b="1" dirty="0">
                <a:latin typeface="Arial" pitchFamily="34" charset="0"/>
                <a:cs typeface="Arial" pitchFamily="34" charset="0"/>
              </a:rPr>
              <a:t>define a volcano</a:t>
            </a:r>
          </a:p>
          <a:p>
            <a:r>
              <a:rPr lang="en-GB" sz="1800" b="1" dirty="0">
                <a:latin typeface="Arial" pitchFamily="34" charset="0"/>
                <a:cs typeface="Arial" pitchFamily="34" charset="0"/>
              </a:rPr>
              <a:t>explain where volcanoes form</a:t>
            </a:r>
          </a:p>
          <a:p>
            <a:endParaRPr lang="en-GB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516216" y="2971797"/>
            <a:ext cx="432048" cy="36004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691680" y="2222866"/>
            <a:ext cx="864096" cy="91810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9188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What is a volcano?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1412776"/>
            <a:ext cx="7859216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A volcano is a rupture in a planet’s surface, through which molten rock, and/or ash and gasses escape from an underlying magma chamber.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Is a volcano a mountain?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79512" y="4273812"/>
            <a:ext cx="3509628" cy="2431044"/>
            <a:chOff x="179512" y="4273812"/>
            <a:chExt cx="3509628" cy="2431044"/>
          </a:xfrm>
        </p:grpSpPr>
        <p:pic>
          <p:nvPicPr>
            <p:cNvPr id="3078" name="Picture 6" descr="Image result for vesuvius with snow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512" y="4365104"/>
              <a:ext cx="3509628" cy="2339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4"/>
            <p:cNvSpPr txBox="1">
              <a:spLocks noChangeArrowheads="1"/>
            </p:cNvSpPr>
            <p:nvPr/>
          </p:nvSpPr>
          <p:spPr>
            <a:xfrm>
              <a:off x="208024" y="4273812"/>
              <a:ext cx="1872208" cy="504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/>
            <a:p>
              <a:r>
                <a:rPr lang="en-GB" sz="1200" dirty="0"/>
                <a:t>Vesuvius, Italy.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483768" y="3068960"/>
            <a:ext cx="3524123" cy="2809522"/>
            <a:chOff x="2483768" y="3068960"/>
            <a:chExt cx="3524123" cy="2809522"/>
          </a:xfrm>
        </p:grpSpPr>
        <p:pic>
          <p:nvPicPr>
            <p:cNvPr id="3074" name="Picture 2" descr="Image result for olympus mon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3768" y="3173199"/>
              <a:ext cx="3524123" cy="2705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4"/>
            <p:cNvSpPr txBox="1">
              <a:spLocks noChangeArrowheads="1"/>
            </p:cNvSpPr>
            <p:nvPr/>
          </p:nvSpPr>
          <p:spPr>
            <a:xfrm>
              <a:off x="2491843" y="3068960"/>
              <a:ext cx="1872208" cy="504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Olympus Mons, Mars.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607182" y="2077140"/>
            <a:ext cx="3357306" cy="2648004"/>
            <a:chOff x="5607182" y="2077140"/>
            <a:chExt cx="3357306" cy="2648004"/>
          </a:xfrm>
        </p:grpSpPr>
        <p:pic>
          <p:nvPicPr>
            <p:cNvPr id="3076" name="Picture 4" descr="Image result for billow basalts formi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7182" y="2151209"/>
              <a:ext cx="3357306" cy="25739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4"/>
            <p:cNvSpPr txBox="1">
              <a:spLocks noChangeArrowheads="1"/>
            </p:cNvSpPr>
            <p:nvPr/>
          </p:nvSpPr>
          <p:spPr>
            <a:xfrm>
              <a:off x="5645548" y="2077140"/>
              <a:ext cx="2094803" cy="504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</a:rPr>
                <a:t>Submarine eruption, Iceland.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277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What is a volcano?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1322539"/>
            <a:ext cx="8784976" cy="2554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They have a variety of shapes and sizes depending on key geological controls, which we will discuss in this lecture.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They lead to deposits on the Earth’s surface, so they represent</a:t>
            </a:r>
          </a:p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an interface between internal and Earth surface processes.</a:t>
            </a:r>
          </a:p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 a major hazard to the environment, infrastructure and 	civilisation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4954" y="4047125"/>
            <a:ext cx="3799447" cy="23237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They bring minerals to the surface which fertilises land and aids agriculture.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They release gasses and dust which can have major impacts on the Earth’s climate system.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139952" y="3645024"/>
            <a:ext cx="4718285" cy="3147982"/>
            <a:chOff x="4139952" y="3710018"/>
            <a:chExt cx="4718285" cy="3147982"/>
          </a:xfrm>
        </p:grpSpPr>
        <p:pic>
          <p:nvPicPr>
            <p:cNvPr id="4098" name="Picture 2" descr="Image result for volcanic eruption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9952" y="3710018"/>
              <a:ext cx="4718285" cy="3147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4"/>
            <p:cNvSpPr txBox="1">
              <a:spLocks noChangeArrowheads="1"/>
            </p:cNvSpPr>
            <p:nvPr/>
          </p:nvSpPr>
          <p:spPr>
            <a:xfrm>
              <a:off x="4139952" y="3751297"/>
              <a:ext cx="1872208" cy="50405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/>
            <a:p>
              <a:r>
                <a:rPr lang="en-GB" sz="1200" dirty="0"/>
                <a:t>White Island, New Zealand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82001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Tectonic setting of volcanoes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8" name="Content Placeholder 3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1417" y="2206196"/>
            <a:ext cx="2024608" cy="18708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7828" y="1685684"/>
            <a:ext cx="2051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Change pressure</a:t>
            </a:r>
          </a:p>
          <a:p>
            <a:r>
              <a:rPr lang="en-GB" sz="1600" dirty="0">
                <a:solidFill>
                  <a:srgbClr val="C00000"/>
                </a:solidFill>
              </a:rPr>
              <a:t>Lithospheric thinning</a:t>
            </a:r>
          </a:p>
        </p:txBody>
      </p:sp>
      <p:pic>
        <p:nvPicPr>
          <p:cNvPr id="10" name="Content Placeholder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19872" y="2235452"/>
            <a:ext cx="1944216" cy="1800200"/>
          </a:xfrm>
          <a:prstGeom prst="rect">
            <a:avLst/>
          </a:prstGeom>
        </p:spPr>
      </p:pic>
      <p:pic>
        <p:nvPicPr>
          <p:cNvPr id="11" name="Content Placeholder 3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00192" y="2276872"/>
            <a:ext cx="2016224" cy="1800200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91501" y="4210966"/>
            <a:ext cx="8902910" cy="1408472"/>
            <a:chOff x="91501" y="4324785"/>
            <a:chExt cx="8902910" cy="140847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18415" y="4325461"/>
              <a:ext cx="1584176" cy="140779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49995" y="4324785"/>
              <a:ext cx="3744416" cy="1408472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63688" y="4329187"/>
              <a:ext cx="1656184" cy="140407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1501" y="4329187"/>
              <a:ext cx="1952600" cy="1404070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/>
        </p:nvSpPr>
        <p:spPr>
          <a:xfrm>
            <a:off x="3258616" y="1449549"/>
            <a:ext cx="304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Change temperature</a:t>
            </a:r>
          </a:p>
          <a:p>
            <a:r>
              <a:rPr lang="en-GB" sz="1600" dirty="0">
                <a:solidFill>
                  <a:srgbClr val="C00000"/>
                </a:solidFill>
              </a:rPr>
              <a:t>Mantle plumes</a:t>
            </a:r>
          </a:p>
          <a:p>
            <a:r>
              <a:rPr lang="en-GB" sz="1600" dirty="0">
                <a:solidFill>
                  <a:srgbClr val="C00000"/>
                </a:solidFill>
              </a:rPr>
              <a:t>Orogenic lithospheric thickening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536" y="5633501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Ocean spreading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9712" y="5641419"/>
            <a:ext cx="1358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Continental rifting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4210" y="5641419"/>
            <a:ext cx="1358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Continental and ocean hot-spots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4088" y="5685690"/>
            <a:ext cx="3528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Ocean-ocean and Ocean-continent subduction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323528" y="6339517"/>
            <a:ext cx="3014565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5436096" y="6339517"/>
            <a:ext cx="3456384" cy="9551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4565" y="6474822"/>
            <a:ext cx="276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EXTENSIONAL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6540" y="6474822"/>
            <a:ext cx="276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CONTRACTIONAL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1220842" y="3933056"/>
            <a:ext cx="494748" cy="40146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659218" y="3933056"/>
            <a:ext cx="464510" cy="40146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4254817" y="3805370"/>
            <a:ext cx="137164" cy="52914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769260" y="1865047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C00000"/>
                </a:solidFill>
              </a:rPr>
              <a:t>Change H</a:t>
            </a:r>
            <a:r>
              <a:rPr lang="en-GB" sz="1600" baseline="-25000" dirty="0">
                <a:solidFill>
                  <a:srgbClr val="C00000"/>
                </a:solidFill>
              </a:rPr>
              <a:t>2</a:t>
            </a:r>
            <a:r>
              <a:rPr lang="en-GB" sz="1600" dirty="0">
                <a:solidFill>
                  <a:srgbClr val="C00000"/>
                </a:solidFill>
              </a:rPr>
              <a:t>O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6824546" y="3884482"/>
            <a:ext cx="494748" cy="40146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7262922" y="3884482"/>
            <a:ext cx="464510" cy="40146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1462" y="1075219"/>
            <a:ext cx="3799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Where melting happens (first video)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3275856" y="1147420"/>
            <a:ext cx="4427872" cy="1142549"/>
            <a:chOff x="4608624" y="1029217"/>
            <a:chExt cx="4427872" cy="1142549"/>
          </a:xfrm>
        </p:grpSpPr>
        <p:sp>
          <p:nvSpPr>
            <p:cNvPr id="53" name="Rectangle 52"/>
            <p:cNvSpPr/>
            <p:nvPr/>
          </p:nvSpPr>
          <p:spPr>
            <a:xfrm>
              <a:off x="4608624" y="1846346"/>
              <a:ext cx="2843696" cy="32542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690224" y="1029217"/>
              <a:ext cx="4346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Doesn’t usually lead to volcanism</a:t>
              </a:r>
            </a:p>
          </p:txBody>
        </p:sp>
        <p:cxnSp>
          <p:nvCxnSpPr>
            <p:cNvPr id="55" name="Straight Connector 54"/>
            <p:cNvCxnSpPr/>
            <p:nvPr/>
          </p:nvCxnSpPr>
          <p:spPr>
            <a:xfrm flipV="1">
              <a:off x="6444208" y="1398549"/>
              <a:ext cx="416976" cy="4477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920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E7244A-08BE-4B76-9C79-548D551F394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D86764-73D4-114E-8B5B-DB2604056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90600"/>
            <a:ext cx="8153400" cy="2895600"/>
          </a:xfrm>
          <a:prstGeom prst="rect">
            <a:avLst/>
          </a:prstGeom>
          <a:noFill/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oudy Old Style" panose="02020502050305020303" pitchFamily="18" charset="77"/>
              </a:rPr>
              <a:t>On your computer’s or phone’s web browser, go to </a:t>
            </a:r>
          </a:p>
          <a:p>
            <a:pPr algn="ctr" eaLnBrk="1" hangingPunct="1"/>
            <a:endParaRPr lang="en-US" altLang="en-US" sz="44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oudy Old Style" panose="02020502050305020303" pitchFamily="18" charset="77"/>
            </a:endParaRPr>
          </a:p>
          <a:p>
            <a:pPr algn="ctr" eaLnBrk="1" hangingPunct="1"/>
            <a:r>
              <a:rPr lang="en-US" altLang="en-US" sz="7200" b="1">
                <a:solidFill>
                  <a:srgbClr val="E9FE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oudy Old Style" panose="02020502050305020303" pitchFamily="18" charset="77"/>
              </a:rPr>
              <a:t>kahoot.it</a:t>
            </a:r>
          </a:p>
        </p:txBody>
      </p:sp>
      <p:sp>
        <p:nvSpPr>
          <p:cNvPr id="139267" name="TextBox 1">
            <a:extLst>
              <a:ext uri="{FF2B5EF4-FFF2-40B4-BE49-F238E27FC236}">
                <a16:creationId xmlns:a16="http://schemas.microsoft.com/office/drawing/2014/main" id="{73629884-F87B-D342-B91A-E16A1632E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5037138"/>
            <a:ext cx="185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6DB5E490-4FCF-E44A-9663-9A0D092D2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181600"/>
            <a:ext cx="7848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457200">
              <a:defRPr/>
            </a:pPr>
            <a:r>
              <a:rPr lang="en-US" sz="3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You can download the </a:t>
            </a:r>
            <a:r>
              <a:rPr lang="en-US" sz="3600" b="1" dirty="0" err="1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kahoot</a:t>
            </a:r>
            <a:r>
              <a:rPr lang="en-US" sz="36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 app</a:t>
            </a:r>
            <a:r>
              <a:rPr lang="en-US" sz="3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 or </a:t>
            </a:r>
            <a:r>
              <a:rPr lang="en-US" sz="3600" b="1" dirty="0">
                <a:solidFill>
                  <a:srgbClr val="FFFF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bookmark </a:t>
            </a:r>
            <a:r>
              <a:rPr lang="en-US" sz="3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oudy Old Style" charset="0"/>
                <a:ea typeface="ＭＳ Ｐゴシック" charset="0"/>
                <a:cs typeface="Goudy Old Style" charset="0"/>
              </a:rPr>
              <a:t>the website for future lectures.</a:t>
            </a:r>
            <a:endParaRPr lang="en-US" sz="6000" b="1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oudy Old Style" charset="0"/>
              <a:ea typeface="ＭＳ Ｐゴシック" charset="0"/>
              <a:cs typeface="Goudy Old Sty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7144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Eruption of the Soufrière Mountains in the Island of St Vincent, 30 April 18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" y="8125"/>
            <a:ext cx="9180513" cy="684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08048" y="760329"/>
            <a:ext cx="8928992" cy="25202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EART11100: </a:t>
            </a:r>
            <a:r>
              <a:rPr lang="en-GB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Understanding 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he 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A dynamic Planet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Eruption products</a:t>
            </a:r>
            <a:endParaRPr kumimoji="0" lang="en-GB" sz="4800" b="1" i="0" u="none" strike="noStrike" kern="1200" cap="none" spc="0" normalizeH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6237312"/>
            <a:ext cx="3414338" cy="50405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1200" dirty="0">
                <a:solidFill>
                  <a:srgbClr val="FFFF00"/>
                </a:solidFill>
              </a:rPr>
              <a:t>The Eruption of the </a:t>
            </a:r>
            <a:r>
              <a:rPr lang="en-GB" sz="1200" dirty="0" err="1">
                <a:solidFill>
                  <a:srgbClr val="FFFF00"/>
                </a:solidFill>
              </a:rPr>
              <a:t>Soufrière</a:t>
            </a:r>
            <a:r>
              <a:rPr lang="en-GB" sz="1200" dirty="0">
                <a:solidFill>
                  <a:srgbClr val="FFFF00"/>
                </a:solidFill>
              </a:rPr>
              <a:t> Mountains in the Island of St Vincent, 30 April 1812, JMW Turner</a:t>
            </a:r>
          </a:p>
        </p:txBody>
      </p:sp>
    </p:spTree>
    <p:extLst>
      <p:ext uri="{BB962C8B-B14F-4D97-AF65-F5344CB8AC3E}">
        <p14:creationId xmlns:p14="http://schemas.microsoft.com/office/powerpoint/2010/main" val="39875952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672" y="1178750"/>
            <a:ext cx="5832648" cy="3586094"/>
          </a:xfrm>
          <a:prstGeom prst="rect">
            <a:avLst/>
          </a:prstGeom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Intended</a:t>
            </a:r>
            <a:r>
              <a:rPr kumimoji="0" lang="en-GB" sz="34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learning outcomes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5713" y="4782383"/>
            <a:ext cx="8964489" cy="1440160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>
                <a:latin typeface="Arial" pitchFamily="34" charset="0"/>
                <a:cs typeface="Arial" pitchFamily="34" charset="0"/>
              </a:rPr>
              <a:t>You should be able to</a:t>
            </a:r>
          </a:p>
          <a:p>
            <a:r>
              <a:rPr lang="en-GB" sz="1800" b="1" dirty="0">
                <a:latin typeface="Arial" pitchFamily="34" charset="0"/>
                <a:cs typeface="Arial" pitchFamily="34" charset="0"/>
              </a:rPr>
              <a:t>describe the main controls on eruption style</a:t>
            </a:r>
          </a:p>
          <a:p>
            <a:r>
              <a:rPr lang="en-GB" sz="1800" b="1" dirty="0">
                <a:latin typeface="Arial" pitchFamily="34" charset="0"/>
                <a:cs typeface="Arial" pitchFamily="34" charset="0"/>
              </a:rPr>
              <a:t>describe the main eruptive products of submarine and subaerial volcanoes. </a:t>
            </a:r>
          </a:p>
        </p:txBody>
      </p:sp>
      <p:sp>
        <p:nvSpPr>
          <p:cNvPr id="2" name="Rectangle 1"/>
          <p:cNvSpPr/>
          <p:nvPr/>
        </p:nvSpPr>
        <p:spPr>
          <a:xfrm>
            <a:off x="6516216" y="2971797"/>
            <a:ext cx="432048" cy="36004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691680" y="2222866"/>
            <a:ext cx="864096" cy="91810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2245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512" y="1322539"/>
            <a:ext cx="8784976" cy="23237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Eruptive style is controlled by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Viscosity of magma and lava</a:t>
            </a:r>
          </a:p>
          <a:p>
            <a:pPr lvl="1">
              <a:spcAft>
                <a:spcPts val="600"/>
              </a:spcAft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Which also controls gas pressure</a:t>
            </a:r>
          </a:p>
          <a:p>
            <a:pPr lvl="1">
              <a:spcAft>
                <a:spcPts val="600"/>
              </a:spcAft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Environment of emplacement (submarine versus subaerial)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style: controls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725291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ig. 6.3.1.jpg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5856" y="2635289"/>
            <a:ext cx="2572139" cy="25840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9512" y="1779684"/>
            <a:ext cx="856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Viscosity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is the measure of the capability of a magma (or any material) to flow. It is controlled by: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897" y="2650989"/>
            <a:ext cx="294979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Temperature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– viscosity decreases with temperature.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Composition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(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SiO</a:t>
            </a:r>
            <a:r>
              <a:rPr lang="en-GB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content) – acidic (felsic) melts are always more viscous than basic (mafic) melts.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Water content – melts with high dissolved water content are always less viscous.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1897" y="1216155"/>
            <a:ext cx="878497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</a:t>
            </a:r>
            <a:r>
              <a:rPr lang="en-GB" sz="2000" b="1" u="sng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Viscosity of magma and lava</a:t>
            </a: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12160" y="2850295"/>
            <a:ext cx="3037066" cy="2253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6860" y="5411765"/>
            <a:ext cx="5770984" cy="1388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161897" y="3482213"/>
            <a:ext cx="3846935" cy="1929552"/>
            <a:chOff x="179512" y="4023458"/>
            <a:chExt cx="3846935" cy="1929552"/>
          </a:xfrm>
        </p:grpSpPr>
        <p:sp>
          <p:nvSpPr>
            <p:cNvPr id="15" name="Rectangle 14"/>
            <p:cNvSpPr/>
            <p:nvPr/>
          </p:nvSpPr>
          <p:spPr>
            <a:xfrm>
              <a:off x="179512" y="4771652"/>
              <a:ext cx="2843696" cy="1181358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53311" y="4023458"/>
              <a:ext cx="21731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16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two major types of melt formed</a:t>
              </a:r>
            </a:p>
          </p:txBody>
        </p:sp>
      </p:grpSp>
      <p:sp>
        <p:nvSpPr>
          <p:cNvPr id="18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style: controls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9582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05363" y="1102098"/>
            <a:ext cx="1954560" cy="3799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779912" y="3586413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⇒ viscosity is 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100" y="3075460"/>
            <a:ext cx="3240360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At depth (high pressure):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Temperature is high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 solubility is high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Crystal content is 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2830" y="181182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⇒ viscosity 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100" y="1139746"/>
            <a:ext cx="5215995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As magma ascends (decreasing pressure):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Temperature decreases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 solubility decreases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Crystal content increases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744" y="4950852"/>
            <a:ext cx="7848872" cy="1862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Explosive eruptions are more likely when the magma is: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SiO</a:t>
            </a:r>
            <a:r>
              <a:rPr lang="en-GB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-rich: highly polymerised melts have higher viscosity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GB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O-rich: the more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exsolved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gas trying to escape, the more pressure builds up in bubbles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High eruption rate: less time for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exsolved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gas to escape</a:t>
            </a:r>
          </a:p>
        </p:txBody>
      </p:sp>
      <p:sp>
        <p:nvSpPr>
          <p:cNvPr id="12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style: controls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6206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ig. 7.1.jpg"/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7200" y="1340768"/>
            <a:ext cx="4078964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932040" y="5446965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High pressure: all H</a:t>
            </a:r>
            <a:r>
              <a:rPr lang="en-GB" baseline="-25000" dirty="0"/>
              <a:t>2</a:t>
            </a:r>
            <a:r>
              <a:rPr lang="en-GB" dirty="0"/>
              <a:t>O is dissolved in the melt.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2040" y="3573016"/>
            <a:ext cx="360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GB" dirty="0" err="1"/>
              <a:t>Vesiculation</a:t>
            </a:r>
            <a:r>
              <a:rPr lang="en-GB" dirty="0"/>
              <a:t> horizon: H</a:t>
            </a:r>
            <a:r>
              <a:rPr lang="en-GB" baseline="-25000" dirty="0"/>
              <a:t>2</a:t>
            </a:r>
            <a:r>
              <a:rPr lang="en-GB" dirty="0"/>
              <a:t>O </a:t>
            </a:r>
            <a:r>
              <a:rPr lang="en-GB" dirty="0" err="1"/>
              <a:t>exsolves</a:t>
            </a:r>
            <a:r>
              <a:rPr lang="en-GB" dirty="0"/>
              <a:t> and gas bubbles form. At the same time, T is decreasing and the crystal content increasing. Viscosity increases.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2040" y="1700808"/>
            <a:ext cx="36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GB" dirty="0"/>
              <a:t>Fragmentation: if viscosity and bubble pressure are high enough, an explosive eruption will occur.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style: controls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550206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submarine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322539"/>
            <a:ext cx="8784976" cy="30931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Environment of emplacement (submarine/aqueous)</a:t>
            </a:r>
          </a:p>
          <a:p>
            <a:pPr>
              <a:spcAft>
                <a:spcPts val="600"/>
              </a:spcAft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Common at </a:t>
            </a:r>
          </a:p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mid ocean spreading centres</a:t>
            </a:r>
          </a:p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mantle hot spots beneath oceanic crust</a:t>
            </a:r>
          </a:p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early stages of Oceanic Arc formation (Ocean-Ocean subduction).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91501" y="4210966"/>
            <a:ext cx="8902910" cy="1408472"/>
            <a:chOff x="91501" y="4324785"/>
            <a:chExt cx="8902910" cy="1408472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18415" y="4325461"/>
              <a:ext cx="1584176" cy="140779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49995" y="4324785"/>
              <a:ext cx="3744416" cy="1408472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63688" y="4329187"/>
              <a:ext cx="1656184" cy="140407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1501" y="4329187"/>
              <a:ext cx="1952600" cy="1404070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395536" y="5633501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Ocean spreading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9712" y="5641419"/>
            <a:ext cx="1358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Continental rifting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4210" y="5641419"/>
            <a:ext cx="1358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Continental and ocean hot-spots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4088" y="5685690"/>
            <a:ext cx="3528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Ocean-ocean and Ocean-continent subduction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323528" y="6339517"/>
            <a:ext cx="3014565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5436096" y="6339517"/>
            <a:ext cx="3456384" cy="9551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4565" y="6474822"/>
            <a:ext cx="276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EXTENSIONAL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6540" y="6474822"/>
            <a:ext cx="276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CONTRACTIONAL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1897" y="4293096"/>
            <a:ext cx="1503248" cy="13925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3652660" y="4248826"/>
            <a:ext cx="3151587" cy="13925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3119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91501" y="4210966"/>
            <a:ext cx="8902910" cy="1408472"/>
            <a:chOff x="91501" y="4324785"/>
            <a:chExt cx="8902910" cy="1408472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18415" y="4325461"/>
              <a:ext cx="1584176" cy="140779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49995" y="4324785"/>
              <a:ext cx="3744416" cy="1408472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63688" y="4329187"/>
              <a:ext cx="1656184" cy="140407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1501" y="4329187"/>
              <a:ext cx="1952600" cy="1404070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395536" y="5633501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Ocean spreading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9712" y="5641419"/>
            <a:ext cx="1358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Continental rifting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4210" y="5641419"/>
            <a:ext cx="1358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Continental and ocean hot-spots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4088" y="5685690"/>
            <a:ext cx="3528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Ocean-ocean and Ocean-continent subduction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323528" y="6339517"/>
            <a:ext cx="3014565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5436096" y="6339517"/>
            <a:ext cx="3456384" cy="9551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4565" y="6474822"/>
            <a:ext cx="276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EXTENSIONAL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6540" y="6474822"/>
            <a:ext cx="276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CONTRACTIONAL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1897" y="4293096"/>
            <a:ext cx="1503248" cy="13925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3633562" y="4293096"/>
            <a:ext cx="3299151" cy="13925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161897" y="1161725"/>
            <a:ext cx="8784976" cy="29392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Ocean spreading centres and mantle hot spots beneath oceanic crust are dominated by partial melting of ultrabasic mantle peridotite</a:t>
            </a:r>
          </a:p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 Melts are basic (mafic)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Subducting ocean plates are dominated by partial melting of basic ocean crust and intermediate lower continental crust</a:t>
            </a:r>
          </a:p>
          <a:p>
            <a:pPr lvl="1"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 Melts often variable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Submarine setting means the melts often become saturated in H</a:t>
            </a:r>
            <a:r>
              <a:rPr lang="en-GB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O.</a:t>
            </a:r>
          </a:p>
          <a:p>
            <a:pPr lvl="1"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 Overall, melts in these settings are often have low viscosity.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submarine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91479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submarine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1340768"/>
            <a:ext cx="8784976" cy="14003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Because eruptions are often deep underwater, much of what we understand about submarine volcanism is derived from looking at rocks that have been later uplifted and exposed on land. </a:t>
            </a:r>
          </a:p>
          <a:p>
            <a:pPr>
              <a:spcAft>
                <a:spcPts val="600"/>
              </a:spcAft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More recently, we have been able to make direct observations.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846" y="6444044"/>
            <a:ext cx="537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Exposed slither of mantle-ocean crust in the Swiss Alps.</a:t>
            </a:r>
          </a:p>
        </p:txBody>
      </p:sp>
      <p:pic>
        <p:nvPicPr>
          <p:cNvPr id="14338" name="Picture 2" descr="Image result for deepest dive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52856" y="2852936"/>
            <a:ext cx="4322711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512" y="3207802"/>
            <a:ext cx="4939836" cy="321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38383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0678" y="1184177"/>
            <a:ext cx="4421457" cy="2892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07504" y="4087891"/>
            <a:ext cx="4824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http://www.youtube.com/watch?v=DdIUuUY0L9c</a:t>
            </a:r>
            <a:endParaRPr lang="en-GB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4644008" y="1229959"/>
            <a:ext cx="43723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At sufficient water depths, high water pressure keeps gasses dissolved in the melt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low viscosity lava erupts as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pillow lavas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Glassy rind forms by rapid quenching when lava comes into contact with cold water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460" y="4439209"/>
            <a:ext cx="3982592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rind is initially warm and ductile, so it inflates</a:t>
            </a:r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as more magma is injected into it. Eventually it cracks and a new pillow breaks through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Pillow interiors have radial cooling joints perpendicular to the cooling surface</a:t>
            </a: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submarine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23556" name="Picture 4" descr="Image result for pillow basalts llanddwyn isla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02406" y="3717032"/>
            <a:ext cx="4744434" cy="309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5148064" y="3769296"/>
            <a:ext cx="358009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Pillow basalts, 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Llanddwyn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Island, Anglesey</a:t>
            </a:r>
          </a:p>
        </p:txBody>
      </p:sp>
    </p:spTree>
    <p:extLst>
      <p:ext uri="{BB962C8B-B14F-4D97-AF65-F5344CB8AC3E}">
        <p14:creationId xmlns:p14="http://schemas.microsoft.com/office/powerpoint/2010/main" val="3884478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submarine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6" name="Picture 2" descr="Image result for seamount pillow basalts hyaloclasti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76056" y="1196752"/>
            <a:ext cx="3759603" cy="539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51520" y="1264930"/>
            <a:ext cx="437235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As the volcano grows upwards</a:t>
            </a: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The pillow lavas reach angle-of-repose, and may begin to break and tumble down, forming aprons of pillow lava debris: stratification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Feeding dykes and tubes intrude the older pillow lavas.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It extends to lower water pressures, where water and other gasses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exsolve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increasing bubble pressure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Eruption style become explosive, pillows cease forming, replaced with hyaloclastites – glassy chaotic basaltic fragments. 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310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Image result for pillow basalts dike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552" y="1052736"/>
            <a:ext cx="7491784" cy="567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submarine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869020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submarine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25602" name="Picture 2" descr="Image result for surtseyan erupti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19672" y="1130260"/>
            <a:ext cx="5467814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546259" y="4946684"/>
            <a:ext cx="535170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hlinkClick r:id="rId3"/>
              </a:rPr>
              <a:t>https://www.youtube.com/watch?v=CsKTzBZNjtE</a:t>
            </a:r>
            <a:endParaRPr lang="en-GB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223356" y="5301208"/>
            <a:ext cx="77048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Rapid cooling of the lava in contact with sea water leads to rapid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exsolution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and rapid increase in pressure.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Eruptions with magma-water interactions are called phreatomagmatic.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This style is called “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Surtseyan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after the island of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Surstey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Iceland which formed this way.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4711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subaerial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060654"/>
            <a:ext cx="8784976" cy="42319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Environment of emplacement (subaerial = on land)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Common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where volcanoes at mantle hot beneath ocean crust have grown above   	sea level, and at mantle hot spots below continental crust.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in the latter stages of Oceanic Arc formation (Ocean-Ocean subduction).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in Continental Arc settings (Ocean-Continent subduction)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on continental rifts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Does not happen at mid ocean spreading centres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(Iceland is an exception and coincides with a mantle hot spot).</a:t>
            </a:r>
          </a:p>
          <a:p>
            <a:pPr>
              <a:spcAft>
                <a:spcPts val="600"/>
              </a:spcAft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91501" y="4210966"/>
            <a:ext cx="8902910" cy="1408472"/>
            <a:chOff x="91501" y="4324785"/>
            <a:chExt cx="8902910" cy="1408472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18415" y="4325461"/>
              <a:ext cx="1584176" cy="140779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49995" y="4324785"/>
              <a:ext cx="3744416" cy="1408472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63688" y="4329187"/>
              <a:ext cx="1656184" cy="140407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1501" y="4329187"/>
              <a:ext cx="1952600" cy="1404070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395536" y="5633501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Ocean spreading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9712" y="5641419"/>
            <a:ext cx="1358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Continental rifting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4210" y="5641419"/>
            <a:ext cx="1358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Continental and ocean hot-spots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4088" y="5685690"/>
            <a:ext cx="3528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Ocean-ocean and Ocean-continent subduction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323528" y="6339517"/>
            <a:ext cx="3014565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5436096" y="6339517"/>
            <a:ext cx="3456384" cy="9551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4565" y="6474822"/>
            <a:ext cx="276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EXTENSIONAL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6540" y="6474822"/>
            <a:ext cx="276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CONTRACTIONAL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81168" y="4210966"/>
            <a:ext cx="7011311" cy="14225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7293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91501" y="4210966"/>
            <a:ext cx="8902910" cy="1408472"/>
            <a:chOff x="91501" y="4324785"/>
            <a:chExt cx="8902910" cy="1408472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18415" y="4325461"/>
              <a:ext cx="1584176" cy="140779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49995" y="4324785"/>
              <a:ext cx="3744416" cy="1408472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63688" y="4329187"/>
              <a:ext cx="1656184" cy="140407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1501" y="4329187"/>
              <a:ext cx="1952600" cy="1404070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395536" y="5633501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Ocean spreading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9712" y="5641419"/>
            <a:ext cx="1358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Continental rifting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4210" y="5641419"/>
            <a:ext cx="1358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Continental and ocean hot-spots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4088" y="5685690"/>
            <a:ext cx="3528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Ocean-ocean and Ocean-continent subduction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323528" y="6339517"/>
            <a:ext cx="3014565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5436096" y="6339517"/>
            <a:ext cx="3456384" cy="9551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4565" y="6474822"/>
            <a:ext cx="276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EXTENSIONAL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6540" y="6474822"/>
            <a:ext cx="276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CONTRACTIONAL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97" y="1161725"/>
            <a:ext cx="8784976" cy="29700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Mantle hot spots beneath oceanic crust are dominated by partial melting of ultrabasic mantle peridotite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 Melts are basic (mafic)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Subducting ocean plates are dominated by partial melting of basic ocean crust and intermediate lower continental crust</a:t>
            </a:r>
          </a:p>
          <a:p>
            <a:pPr lvl="1"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 Melts often variable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Mantle hot spots beneath continental crust and continental rifting dominated by partial melting of the lower continental crust</a:t>
            </a:r>
          </a:p>
          <a:p>
            <a:pPr lvl="2"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Melts are acidic (felsic)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E8ABA2B3-4905-40D2-9805-BC125806755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subaerial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A0A270-6C1E-4431-A4E1-736B493CA4B7}"/>
              </a:ext>
            </a:extLst>
          </p:cNvPr>
          <p:cNvSpPr/>
          <p:nvPr/>
        </p:nvSpPr>
        <p:spPr>
          <a:xfrm>
            <a:off x="1881168" y="4210966"/>
            <a:ext cx="7011311" cy="14225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6356305-EE5D-442D-B98B-A466DFF2370E}"/>
              </a:ext>
            </a:extLst>
          </p:cNvPr>
          <p:cNvGrpSpPr/>
          <p:nvPr/>
        </p:nvGrpSpPr>
        <p:grpSpPr>
          <a:xfrm>
            <a:off x="162342" y="1126629"/>
            <a:ext cx="8832069" cy="3005140"/>
            <a:chOff x="162342" y="1126629"/>
            <a:chExt cx="8832069" cy="300514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4F08872-854F-456A-B00F-EC3308D759DD}"/>
                </a:ext>
              </a:extLst>
            </p:cNvPr>
            <p:cNvSpPr/>
            <p:nvPr/>
          </p:nvSpPr>
          <p:spPr>
            <a:xfrm>
              <a:off x="162342" y="1126629"/>
              <a:ext cx="8658130" cy="3005140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65101AB-5D55-4AD0-A0AF-A4C1CD87E194}"/>
                </a:ext>
              </a:extLst>
            </p:cNvPr>
            <p:cNvSpPr txBox="1"/>
            <p:nvPr/>
          </p:nvSpPr>
          <p:spPr>
            <a:xfrm>
              <a:off x="3925994" y="3685102"/>
              <a:ext cx="50684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sz="20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Subaerial settings show high variability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382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382AFF59-4ABE-4601-BD32-0D654FB08ED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subaerial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46C40-8A52-4BB3-8B72-1B4CF2437782}"/>
              </a:ext>
            </a:extLst>
          </p:cNvPr>
          <p:cNvSpPr txBox="1"/>
          <p:nvPr/>
        </p:nvSpPr>
        <p:spPr>
          <a:xfrm>
            <a:off x="179512" y="1388243"/>
            <a:ext cx="8640960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On land, erupted material is either as</a:t>
            </a:r>
          </a:p>
          <a:p>
            <a:pPr marL="914400" lvl="1" indent="-457200">
              <a:spcAft>
                <a:spcPts val="600"/>
              </a:spcAft>
              <a:buAutoNum type="arabicPeriod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Lava flows, or</a:t>
            </a:r>
          </a:p>
          <a:p>
            <a:pPr marL="914400" lvl="1" indent="-457200">
              <a:spcAft>
                <a:spcPts val="600"/>
              </a:spcAft>
              <a:buAutoNum type="arabicPeriod"/>
            </a:pP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Pyroclastics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(“fire pieces”) = rock fragments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C383B-C670-4CEA-B88F-DC31F9FC22E1}"/>
              </a:ext>
            </a:extLst>
          </p:cNvPr>
          <p:cNvSpPr txBox="1"/>
          <p:nvPr/>
        </p:nvSpPr>
        <p:spPr>
          <a:xfrm>
            <a:off x="179512" y="3074666"/>
            <a:ext cx="3789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Holuhraun</a:t>
            </a:r>
            <a:r>
              <a:rPr lang="en-GB" sz="1400" dirty="0"/>
              <a:t>, Iceland, August 2014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55E87CB6-1B11-428E-9536-8AB26074B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528" y="3444579"/>
            <a:ext cx="4248472" cy="3152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Image result for pyroclastic">
            <a:extLst>
              <a:ext uri="{FF2B5EF4-FFF2-40B4-BE49-F238E27FC236}">
                <a16:creationId xmlns:a16="http://schemas.microsoft.com/office/drawing/2014/main" id="{301F2EDE-4D8C-4EC7-B542-BB7242E35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429000"/>
            <a:ext cx="4320480" cy="315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B17548-13B3-4451-9D59-7A4845C4AE38}"/>
              </a:ext>
            </a:extLst>
          </p:cNvPr>
          <p:cNvSpPr txBox="1"/>
          <p:nvPr/>
        </p:nvSpPr>
        <p:spPr>
          <a:xfrm>
            <a:off x="4637221" y="3080817"/>
            <a:ext cx="3789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Sinabung, Indonesia, July 2015</a:t>
            </a:r>
          </a:p>
        </p:txBody>
      </p:sp>
    </p:spTree>
    <p:extLst>
      <p:ext uri="{BB962C8B-B14F-4D97-AF65-F5344CB8AC3E}">
        <p14:creationId xmlns:p14="http://schemas.microsoft.com/office/powerpoint/2010/main" val="1100111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9028" y="2946209"/>
            <a:ext cx="3812932" cy="2543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 descr="Image result for aa lava flow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91516" y="2939947"/>
            <a:ext cx="3812932" cy="254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57200" y="2483604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Pahoehoe</a:t>
            </a:r>
            <a:r>
              <a:rPr lang="en-GB" dirty="0"/>
              <a:t>: </a:t>
            </a:r>
            <a:r>
              <a:rPr lang="en-GB" sz="1600" dirty="0"/>
              <a:t>hot, low-viscosity lava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0032" y="2483604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`A`a</a:t>
            </a:r>
            <a:r>
              <a:rPr lang="en-GB" dirty="0"/>
              <a:t>: </a:t>
            </a:r>
            <a:r>
              <a:rPr lang="en-GB" sz="1600" dirty="0"/>
              <a:t>cooler, higher viscosity lava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9937"/>
            <a:ext cx="41044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Smooth, billowy, ropy surface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Vesicular interior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Fast flow rates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Individual flows may be thin (1-3 m) and long (&gt;50 km)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0032" y="5489937"/>
            <a:ext cx="41044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Rough, rubbly and fragmented surface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Vesicular interior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Slower flow rates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Individual flows are thicker (5-20+ m) and shorter than </a:t>
            </a:r>
            <a:r>
              <a:rPr lang="en-GB" sz="1600" dirty="0" err="1"/>
              <a:t>pahoehoe</a:t>
            </a:r>
            <a:endParaRPr lang="en-GB" sz="16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5E12711-25B9-4BAC-9AE1-408A6B68C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05" y="1107061"/>
            <a:ext cx="8856984" cy="2880319"/>
          </a:xfrm>
        </p:spPr>
        <p:txBody>
          <a:bodyPr>
            <a:normAutofit/>
          </a:bodyPr>
          <a:lstStyle/>
          <a:p>
            <a:pPr>
              <a:buAutoNum type="arabicPeriod"/>
            </a:pPr>
            <a:r>
              <a:rPr lang="en-GB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Lava flows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Molten rock flowing on the land surface.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These are more common when basic or intermediate lava is erupted.</a:t>
            </a:r>
          </a:p>
          <a:p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B7FFBC40-D38B-4DE7-8851-59563570D2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subaerial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520659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5E12711-25B9-4BAC-9AE1-408A6B68C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05" y="1107061"/>
            <a:ext cx="8856984" cy="2880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Lava flows are disruptive because they can destroy infrastructure and crops….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… but are rarely dangerous to life because they do not usually flow fast enough.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B7FFBC40-D38B-4DE7-8851-59563570D2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subaerial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EA0AFEC-12A2-426B-A280-64D433BA8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19672" y="2555879"/>
            <a:ext cx="7287766" cy="4100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765E88B-A6C5-4152-9E1C-9CEEBBFE4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942" y="2361361"/>
            <a:ext cx="8229600" cy="850106"/>
          </a:xfrm>
        </p:spPr>
        <p:txBody>
          <a:bodyPr>
            <a:normAutofit/>
          </a:bodyPr>
          <a:lstStyle/>
          <a:p>
            <a:pPr algn="l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Leilani Estates eruption, Kilauea East Rift Zone, 3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May to 15</a:t>
            </a:r>
            <a:r>
              <a:rPr lang="en-GB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August 2018</a:t>
            </a:r>
          </a:p>
        </p:txBody>
      </p:sp>
    </p:spTree>
    <p:extLst>
      <p:ext uri="{BB962C8B-B14F-4D97-AF65-F5344CB8AC3E}">
        <p14:creationId xmlns:p14="http://schemas.microsoft.com/office/powerpoint/2010/main" val="26155444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Picture 1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87624" y="1700808"/>
            <a:ext cx="3957672" cy="2013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40387" y="3933056"/>
            <a:ext cx="49493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Columns develop perpendicular to cooling isotherms due to contraction.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Colonnade: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regular columns with 3 to 8 near-planar sides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Entablature: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thinner, less regular columns with curving sides. Forms when two opposing joint sets meet, or when water penetrates the flow.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41785" y="1844824"/>
            <a:ext cx="3350695" cy="4766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3340BFC8-1017-42A6-8ED0-EEBB2D3F06A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subaerial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0C3FEB0-FB1B-4F2D-8755-885DB5F8D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05" y="1107061"/>
            <a:ext cx="8856984" cy="2880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Thick, slowly cooling lava flows develop a characteristic “columnar” jointing style </a:t>
            </a:r>
          </a:p>
        </p:txBody>
      </p:sp>
    </p:spTree>
    <p:extLst>
      <p:ext uri="{BB962C8B-B14F-4D97-AF65-F5344CB8AC3E}">
        <p14:creationId xmlns:p14="http://schemas.microsoft.com/office/powerpoint/2010/main" val="31329390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423" b="11351"/>
          <a:stretch/>
        </p:blipFill>
        <p:spPr bwMode="auto">
          <a:xfrm>
            <a:off x="71529" y="1109609"/>
            <a:ext cx="9000941" cy="3904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504" y="4365103"/>
            <a:ext cx="3600400" cy="2391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995936" y="5284837"/>
            <a:ext cx="5040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Above: Staffa, NW Scotland (61 Ma old)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Left: Giant’s Causeway, Northern Ireland (50-60 Ma old).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3750E8CC-09B5-4722-B444-F5539AE53CB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subaerial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217071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5E12711-25B9-4BAC-9AE1-408A6B68C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05" y="1107061"/>
            <a:ext cx="8856984" cy="2880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GB" sz="20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Pyroclastics</a:t>
            </a:r>
            <a:endParaRPr lang="en-GB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Fragments of rock erupted solid from the volcanic vent.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These are more common in intermediate to acidic settings.</a:t>
            </a:r>
          </a:p>
          <a:p>
            <a:pPr marL="0" indent="0">
              <a:buNone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Occur in two basic forms: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B7FFBC40-D38B-4DE7-8851-59563570D2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subaerial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4D33B8-4BE0-4299-B88A-733B402ED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1128" y="5503117"/>
            <a:ext cx="2855912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" name="Picture 10" descr="pyro fall">
            <a:extLst>
              <a:ext uri="{FF2B5EF4-FFF2-40B4-BE49-F238E27FC236}">
                <a16:creationId xmlns:a16="http://schemas.microsoft.com/office/drawing/2014/main" id="{E286BD4E-06BB-47AF-855C-454CC9665B42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4184" y="4090626"/>
            <a:ext cx="2209800" cy="116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C00B3B0-52AD-46A7-BB70-3C3743FF302C}"/>
              </a:ext>
            </a:extLst>
          </p:cNvPr>
          <p:cNvSpPr txBox="1"/>
          <p:nvPr/>
        </p:nvSpPr>
        <p:spPr>
          <a:xfrm>
            <a:off x="703193" y="2833670"/>
            <a:ext cx="315640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Pyroclastic fall deposits:</a:t>
            </a:r>
          </a:p>
          <a:p>
            <a:pPr>
              <a:spcAft>
                <a:spcPts val="600"/>
              </a:spcAft>
            </a:pPr>
            <a:r>
              <a:rPr lang="en-GB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Formed by fallout from eruption column</a:t>
            </a:r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id="{56818A7E-BB9D-4ECD-8098-BEE1D494E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20072" y="5532290"/>
            <a:ext cx="2855912" cy="11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" name="Picture 15" descr="pyro flow">
            <a:extLst>
              <a:ext uri="{FF2B5EF4-FFF2-40B4-BE49-F238E27FC236}">
                <a16:creationId xmlns:a16="http://schemas.microsoft.com/office/drawing/2014/main" id="{49CDAD15-51DF-4492-987A-BEA5E4A3168F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46576" y="4310111"/>
            <a:ext cx="22098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E80D62F-8E5B-4D50-ACCD-D0A04922F1E4}"/>
              </a:ext>
            </a:extLst>
          </p:cNvPr>
          <p:cNvSpPr txBox="1"/>
          <p:nvPr/>
        </p:nvSpPr>
        <p:spPr>
          <a:xfrm>
            <a:off x="5123284" y="2440586"/>
            <a:ext cx="345638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Pyroclastic flow and surge deposits:</a:t>
            </a:r>
          </a:p>
          <a:p>
            <a:pPr>
              <a:spcAft>
                <a:spcPts val="600"/>
              </a:spcAft>
            </a:pPr>
            <a:r>
              <a:rPr lang="en-GB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Deposited by gravity flows of mixtures of rock fragments and hot air, which are denser than the ambient air. </a:t>
            </a:r>
          </a:p>
        </p:txBody>
      </p:sp>
    </p:spTree>
    <p:extLst>
      <p:ext uri="{BB962C8B-B14F-4D97-AF65-F5344CB8AC3E}">
        <p14:creationId xmlns:p14="http://schemas.microsoft.com/office/powerpoint/2010/main" val="11964425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559" y="4336157"/>
            <a:ext cx="9151119" cy="2521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7504" y="6453336"/>
            <a:ext cx="885698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altLang="en-US" sz="1600" dirty="0">
                <a:solidFill>
                  <a:srgbClr val="000000"/>
                </a:solidFill>
              </a:rPr>
              <a:t>Ash fall deposits form layers which blanket topography. From the eruption of Chimborazo, Ecuador.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2DE86BB4-D012-4286-9FC5-CAD44DB328C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subaerial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DAC2F0-A6CC-4FC1-A86B-125B0D93ABE2}"/>
              </a:ext>
            </a:extLst>
          </p:cNvPr>
          <p:cNvSpPr txBox="1"/>
          <p:nvPr/>
        </p:nvSpPr>
        <p:spPr>
          <a:xfrm>
            <a:off x="251520" y="1267452"/>
            <a:ext cx="5760640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Pyroclastic fall deposits are the most basic type.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Material of different grain sizes is ejected into the air, and fall out via suspension settling.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GB" b="1" dirty="0"/>
              <a:t>Ash particles</a:t>
            </a:r>
            <a:r>
              <a:rPr lang="en-GB" dirty="0"/>
              <a:t> are &lt;2 mm in diameter. Consolidated deposit (i.e. rock) is called a </a:t>
            </a:r>
            <a:r>
              <a:rPr lang="en-GB" b="1" dirty="0"/>
              <a:t>tuff</a:t>
            </a:r>
            <a:r>
              <a:rPr lang="en-GB" dirty="0"/>
              <a:t>.</a:t>
            </a:r>
          </a:p>
          <a:p>
            <a:pPr>
              <a:spcAft>
                <a:spcPts val="600"/>
              </a:spcAft>
            </a:pPr>
            <a:r>
              <a:rPr lang="en-GB" b="1" dirty="0">
                <a:sym typeface="Wingdings" panose="05000000000000000000" pitchFamily="2" charset="2"/>
              </a:rPr>
              <a:t> </a:t>
            </a:r>
            <a:r>
              <a:rPr lang="en-GB" b="1" dirty="0"/>
              <a:t>Lapilli</a:t>
            </a:r>
            <a:r>
              <a:rPr lang="en-GB" dirty="0"/>
              <a:t> are fragments 2 mm to 64 mm in diameter. Rock is called a </a:t>
            </a:r>
            <a:r>
              <a:rPr lang="en-GB" b="1" dirty="0"/>
              <a:t>lapilli-tuff</a:t>
            </a:r>
            <a:r>
              <a:rPr lang="en-GB" dirty="0"/>
              <a:t>. </a:t>
            </a:r>
          </a:p>
          <a:p>
            <a:pPr>
              <a:spcAft>
                <a:spcPts val="600"/>
              </a:spcAft>
            </a:pPr>
            <a:r>
              <a:rPr lang="en-GB" b="1" dirty="0">
                <a:sym typeface="Wingdings" panose="05000000000000000000" pitchFamily="2" charset="2"/>
              </a:rPr>
              <a:t> </a:t>
            </a:r>
            <a:r>
              <a:rPr lang="en-GB" b="1" dirty="0"/>
              <a:t>Bombs</a:t>
            </a:r>
            <a:r>
              <a:rPr lang="en-GB" dirty="0"/>
              <a:t> or </a:t>
            </a:r>
            <a:r>
              <a:rPr lang="en-GB" b="1" dirty="0"/>
              <a:t>blocks</a:t>
            </a:r>
            <a:r>
              <a:rPr lang="en-GB" dirty="0"/>
              <a:t> are &gt;64 mm. Rock is called a </a:t>
            </a:r>
            <a:r>
              <a:rPr lang="en-GB" b="1" dirty="0"/>
              <a:t>volcanic bomb or block breccia</a:t>
            </a:r>
            <a:r>
              <a:rPr lang="en-GB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BEDCA4C-E9C0-4D41-90F4-6424B7EFD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28184" y="2831126"/>
            <a:ext cx="2855912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" name="Picture 16" descr="pyro fall">
            <a:extLst>
              <a:ext uri="{FF2B5EF4-FFF2-40B4-BE49-F238E27FC236}">
                <a16:creationId xmlns:a16="http://schemas.microsoft.com/office/drawing/2014/main" id="{70382B42-468E-4DE0-B998-234264871086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16216" y="1369677"/>
            <a:ext cx="2209800" cy="116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513459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>
            <a:extLst>
              <a:ext uri="{FF2B5EF4-FFF2-40B4-BE49-F238E27FC236}">
                <a16:creationId xmlns:a16="http://schemas.microsoft.com/office/drawing/2014/main" id="{2DE86BB4-D012-4286-9FC5-CAD44DB328C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subaerial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DAC2F0-A6CC-4FC1-A86B-125B0D93ABE2}"/>
              </a:ext>
            </a:extLst>
          </p:cNvPr>
          <p:cNvSpPr txBox="1"/>
          <p:nvPr/>
        </p:nvSpPr>
        <p:spPr>
          <a:xfrm>
            <a:off x="251520" y="1267452"/>
            <a:ext cx="5832648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Pyroclastic flow and surge deposits are more complex.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Eruption material and gas form a mixture. This mixture is denser than the ambient air, and so collapses under its own gravity.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Hugs the floor as it does so.</a:t>
            </a:r>
          </a:p>
        </p:txBody>
      </p:sp>
      <p:pic>
        <p:nvPicPr>
          <p:cNvPr id="18" name="Picture 5">
            <a:extLst>
              <a:ext uri="{FF2B5EF4-FFF2-40B4-BE49-F238E27FC236}">
                <a16:creationId xmlns:a16="http://schemas.microsoft.com/office/drawing/2014/main" id="{38011581-CAF6-4C6A-B6E9-A2B69A7E2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83961" y="2564904"/>
            <a:ext cx="2855912" cy="11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9" name="Picture 18" descr="pyro flow">
            <a:extLst>
              <a:ext uri="{FF2B5EF4-FFF2-40B4-BE49-F238E27FC236}">
                <a16:creationId xmlns:a16="http://schemas.microsoft.com/office/drawing/2014/main" id="{CBFE872A-0E92-4177-AA88-86538CB35B56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07017" y="1196752"/>
            <a:ext cx="220980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59C9483-8209-4276-AF22-929C693C0990}"/>
              </a:ext>
            </a:extLst>
          </p:cNvPr>
          <p:cNvSpPr txBox="1"/>
          <p:nvPr/>
        </p:nvSpPr>
        <p:spPr>
          <a:xfrm>
            <a:off x="298450" y="3861048"/>
            <a:ext cx="3913510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The flow wanes as turbulent mixing decreases the density contrast between the flow and the air.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As the flow wanes, it begins to deposit its coarsest load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Leads to “normally” 		graded deposits.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Image result for graded ignimbrite">
            <a:extLst>
              <a:ext uri="{FF2B5EF4-FFF2-40B4-BE49-F238E27FC236}">
                <a16:creationId xmlns:a16="http://schemas.microsoft.com/office/drawing/2014/main" id="{FFEC562E-D36D-405D-BD4C-3B7B0D580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745" y="3705729"/>
            <a:ext cx="4581128" cy="305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6516E83-3999-4C09-9C31-177A7DFCD412}"/>
              </a:ext>
            </a:extLst>
          </p:cNvPr>
          <p:cNvGrpSpPr/>
          <p:nvPr/>
        </p:nvGrpSpPr>
        <p:grpSpPr>
          <a:xfrm>
            <a:off x="261357" y="1844824"/>
            <a:ext cx="5836703" cy="4832380"/>
            <a:chOff x="261357" y="1844824"/>
            <a:chExt cx="5836703" cy="483238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0CC0E2D-2233-4D54-B02E-D02DC3313077}"/>
                </a:ext>
              </a:extLst>
            </p:cNvPr>
            <p:cNvSpPr/>
            <p:nvPr/>
          </p:nvSpPr>
          <p:spPr>
            <a:xfrm>
              <a:off x="261357" y="1844824"/>
              <a:ext cx="5606787" cy="483238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6DC097C-FB21-4858-A346-7E3BD803D4AA}"/>
                </a:ext>
              </a:extLst>
            </p:cNvPr>
            <p:cNvSpPr txBox="1"/>
            <p:nvPr/>
          </p:nvSpPr>
          <p:spPr>
            <a:xfrm>
              <a:off x="323528" y="1916832"/>
              <a:ext cx="5774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GB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 will revisit gravity deposits later in the course.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55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6BFC17F9-CA86-4247-87DC-BCA3CF67C6E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subaerial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pic>
        <p:nvPicPr>
          <p:cNvPr id="4104" name="Picture 8" descr="Image result for pompeii">
            <a:extLst>
              <a:ext uri="{FF2B5EF4-FFF2-40B4-BE49-F238E27FC236}">
                <a16:creationId xmlns:a16="http://schemas.microsoft.com/office/drawing/2014/main" id="{2405ECD5-C654-43F9-87A2-68AAD8A9A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6" y="1132530"/>
            <a:ext cx="4694874" cy="469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mage result for herculaneum">
            <a:extLst>
              <a:ext uri="{FF2B5EF4-FFF2-40B4-BE49-F238E27FC236}">
                <a16:creationId xmlns:a16="http://schemas.microsoft.com/office/drawing/2014/main" id="{27D9A89C-AA46-462C-9654-3527E7488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336191"/>
            <a:ext cx="4464496" cy="245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2C1997-15AF-4298-A888-8C37515D8C10}"/>
              </a:ext>
            </a:extLst>
          </p:cNvPr>
          <p:cNvSpPr txBox="1"/>
          <p:nvPr/>
        </p:nvSpPr>
        <p:spPr>
          <a:xfrm>
            <a:off x="4860360" y="1194633"/>
            <a:ext cx="417613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Pyroclastic gravity flows are extremely dangerous to human civilisation.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Pompeii and Herculaneum were destroyed by these when Vesuvius </a:t>
            </a:r>
            <a:r>
              <a:rPr lang="en-GB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eruputed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 in AD 79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At least 13,000 people were killed.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1CA1D-068A-4BA4-88FE-476D70D555E0}"/>
              </a:ext>
            </a:extLst>
          </p:cNvPr>
          <p:cNvSpPr txBox="1"/>
          <p:nvPr/>
        </p:nvSpPr>
        <p:spPr>
          <a:xfrm>
            <a:off x="165486" y="1196311"/>
            <a:ext cx="86409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altLang="en-US" sz="1600" dirty="0">
                <a:solidFill>
                  <a:srgbClr val="000000"/>
                </a:solidFill>
              </a:rPr>
              <a:t>Pompeii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E0E7E9-107F-49B7-B1D2-4C73A2710BA3}"/>
              </a:ext>
            </a:extLst>
          </p:cNvPr>
          <p:cNvSpPr txBox="1"/>
          <p:nvPr/>
        </p:nvSpPr>
        <p:spPr>
          <a:xfrm>
            <a:off x="4716016" y="4437112"/>
            <a:ext cx="129614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altLang="en-US" sz="1600" dirty="0">
                <a:solidFill>
                  <a:srgbClr val="000000"/>
                </a:solidFill>
              </a:rPr>
              <a:t>Herculaneum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A6D627-A2E3-4117-BEF5-F36798B29349}"/>
              </a:ext>
            </a:extLst>
          </p:cNvPr>
          <p:cNvSpPr txBox="1"/>
          <p:nvPr/>
        </p:nvSpPr>
        <p:spPr>
          <a:xfrm>
            <a:off x="193650" y="5907540"/>
            <a:ext cx="43783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500" b="1" dirty="0">
                <a:latin typeface="Arial" panose="020B0604020202020204" pitchFamily="34" charset="0"/>
                <a:cs typeface="Arial" panose="020B0604020202020204" pitchFamily="34" charset="0"/>
              </a:rPr>
              <a:t>You can read more in this recent scientific study</a:t>
            </a:r>
          </a:p>
          <a:p>
            <a:pPr>
              <a:spcAft>
                <a:spcPts val="600"/>
              </a:spcAft>
            </a:pPr>
            <a:r>
              <a:rPr lang="en-GB" sz="1500" dirty="0">
                <a:hlinkClick r:id="rId4"/>
              </a:rPr>
              <a:t>https://doi.org/10.1371/journal.pone.0203210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063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B1AB1E-2D50-4CE2-8956-A14E045C89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399"/>
          <a:stretch/>
        </p:blipFill>
        <p:spPr>
          <a:xfrm>
            <a:off x="467544" y="1124744"/>
            <a:ext cx="8127483" cy="46085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5E494FC-60B3-423F-98A6-04129B444DD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Eruption style in subaerial settings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E0BA6-BD7A-45D9-9B3E-8A8472B80F30}"/>
              </a:ext>
            </a:extLst>
          </p:cNvPr>
          <p:cNvSpPr txBox="1"/>
          <p:nvPr/>
        </p:nvSpPr>
        <p:spPr>
          <a:xfrm>
            <a:off x="395536" y="5826414"/>
            <a:ext cx="502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3"/>
              </a:rPr>
              <a:t>https://www.youtube.com/watch?v=u76clm5_Qpw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E0DBB-E584-4E4D-AF30-5410061CBE4F}"/>
              </a:ext>
            </a:extLst>
          </p:cNvPr>
          <p:cNvSpPr txBox="1"/>
          <p:nvPr/>
        </p:nvSpPr>
        <p:spPr>
          <a:xfrm>
            <a:off x="467544" y="6288904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Examples of pyroclastic fall-out, and flows, Mount Etna, January 2015.</a:t>
            </a:r>
          </a:p>
        </p:txBody>
      </p:sp>
    </p:spTree>
    <p:extLst>
      <p:ext uri="{BB962C8B-B14F-4D97-AF65-F5344CB8AC3E}">
        <p14:creationId xmlns:p14="http://schemas.microsoft.com/office/powerpoint/2010/main" val="19602555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Eruption of the Soufrière Mountains in the Island of St Vincent, 30 April 18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" y="8125"/>
            <a:ext cx="9180513" cy="684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108048" y="760329"/>
            <a:ext cx="8928992" cy="25202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EART11100: </a:t>
            </a:r>
            <a:r>
              <a:rPr lang="en-GB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Understanding 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he Earth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ea typeface="Adobe Fangsong Std R" pitchFamily="18" charset="-128"/>
                <a:cs typeface="+mj-cs"/>
              </a:rPr>
              <a:t>A dynamic Planet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The four main types of volcano</a:t>
            </a:r>
            <a:endParaRPr kumimoji="0" lang="en-GB" sz="4800" b="1" i="0" u="none" strike="noStrike" kern="1200" cap="none" spc="0" normalizeH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6237312"/>
            <a:ext cx="3414338" cy="50405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1200" dirty="0">
                <a:solidFill>
                  <a:srgbClr val="FFFF00"/>
                </a:solidFill>
              </a:rPr>
              <a:t>The Eruption of the </a:t>
            </a:r>
            <a:r>
              <a:rPr lang="en-GB" sz="1200" dirty="0" err="1">
                <a:solidFill>
                  <a:srgbClr val="FFFF00"/>
                </a:solidFill>
              </a:rPr>
              <a:t>Soufrière</a:t>
            </a:r>
            <a:r>
              <a:rPr lang="en-GB" sz="1200" dirty="0">
                <a:solidFill>
                  <a:srgbClr val="FFFF00"/>
                </a:solidFill>
              </a:rPr>
              <a:t> Mountains in the Island of St Vincent, 30 April 1812, JMW Turner</a:t>
            </a:r>
          </a:p>
        </p:txBody>
      </p:sp>
    </p:spTree>
    <p:extLst>
      <p:ext uri="{BB962C8B-B14F-4D97-AF65-F5344CB8AC3E}">
        <p14:creationId xmlns:p14="http://schemas.microsoft.com/office/powerpoint/2010/main" val="6629164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672" y="1178750"/>
            <a:ext cx="5832648" cy="3586094"/>
          </a:xfrm>
          <a:prstGeom prst="rect">
            <a:avLst/>
          </a:prstGeom>
        </p:spPr>
      </p:pic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Intended</a:t>
            </a:r>
            <a:r>
              <a:rPr kumimoji="0" lang="en-GB" sz="34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 learning outcomes</a:t>
            </a:r>
            <a:endParaRPr kumimoji="0" lang="en-GB" sz="3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79511" y="4934015"/>
            <a:ext cx="8964489" cy="1440160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b="1" dirty="0">
                <a:latin typeface="Arial" pitchFamily="34" charset="0"/>
                <a:cs typeface="Arial" pitchFamily="34" charset="0"/>
              </a:rPr>
              <a:t>You should be able to</a:t>
            </a:r>
          </a:p>
          <a:p>
            <a:r>
              <a:rPr lang="en-GB" sz="1800" b="1" dirty="0">
                <a:latin typeface="Arial" pitchFamily="34" charset="0"/>
                <a:cs typeface="Arial" pitchFamily="34" charset="0"/>
              </a:rPr>
              <a:t>describe the four main types of volcano, and</a:t>
            </a:r>
          </a:p>
          <a:p>
            <a:r>
              <a:rPr lang="en-GB" sz="1800" b="1" dirty="0">
                <a:latin typeface="Arial" pitchFamily="34" charset="0"/>
                <a:cs typeface="Arial" pitchFamily="34" charset="0"/>
              </a:rPr>
              <a:t>explain the processes that form them, and</a:t>
            </a:r>
          </a:p>
          <a:p>
            <a:r>
              <a:rPr lang="en-GB" sz="1800" b="1" dirty="0">
                <a:latin typeface="Arial" pitchFamily="34" charset="0"/>
                <a:cs typeface="Arial" pitchFamily="34" charset="0"/>
              </a:rPr>
              <a:t>Where they are most likely to form.</a:t>
            </a:r>
          </a:p>
          <a:p>
            <a:endParaRPr lang="en-GB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516216" y="2971797"/>
            <a:ext cx="432048" cy="36004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691680" y="2222866"/>
            <a:ext cx="864096" cy="91810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5709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746C40-8A52-4BB3-8B72-1B4CF2437782}"/>
              </a:ext>
            </a:extLst>
          </p:cNvPr>
          <p:cNvSpPr txBox="1"/>
          <p:nvPr/>
        </p:nvSpPr>
        <p:spPr>
          <a:xfrm>
            <a:off x="107504" y="1144127"/>
            <a:ext cx="5184576" cy="56169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Variability in composition (viscosity), eruption speed of the lava,  and environmental setting of the volcano results in different eruption styles.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9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Basic to intermediate composition tend:</a:t>
            </a:r>
          </a:p>
          <a:p>
            <a:pPr>
              <a:spcAft>
                <a:spcPts val="600"/>
              </a:spcAft>
            </a:pPr>
            <a:r>
              <a:rPr lang="en-GB" sz="19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 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low explosivity</a:t>
            </a:r>
          </a:p>
          <a:p>
            <a:pPr>
              <a:spcAft>
                <a:spcPts val="600"/>
              </a:spcAft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dominated by lava flows</a:t>
            </a:r>
          </a:p>
          <a:p>
            <a:pPr>
              <a:spcAft>
                <a:spcPts val="600"/>
              </a:spcAft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low volumes of </a:t>
            </a:r>
            <a:r>
              <a:rPr lang="en-GB" sz="19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pyroclcastics</a:t>
            </a:r>
            <a:endParaRPr lang="en-GB" sz="19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regular/continuous eruptions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Intermediate to acidic composition tend:</a:t>
            </a:r>
          </a:p>
          <a:p>
            <a:pPr>
              <a:spcAft>
                <a:spcPts val="600"/>
              </a:spcAft>
            </a:pPr>
            <a:r>
              <a:rPr lang="en-GB" sz="19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 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high explosivity</a:t>
            </a:r>
          </a:p>
          <a:p>
            <a:pPr>
              <a:spcAft>
                <a:spcPts val="600"/>
              </a:spcAft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dominated by </a:t>
            </a:r>
            <a:r>
              <a:rPr lang="en-GB" sz="19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pyrolastics</a:t>
            </a:r>
            <a:endParaRPr lang="en-GB" sz="19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Aft>
                <a:spcPts val="600"/>
              </a:spcAft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low volumes of lava flows</a:t>
            </a:r>
          </a:p>
          <a:p>
            <a:pPr>
              <a:spcAft>
                <a:spcPts val="600"/>
              </a:spcAft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Irregular eruptions interspaced by 	quiescence.</a:t>
            </a:r>
            <a:endParaRPr lang="en-GB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88189B06-5F9B-4924-99B3-DE0D1A75D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95342" y="1700808"/>
            <a:ext cx="3469146" cy="4613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382AFF59-4ABE-4601-BD32-0D654FB08ED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The four main types of volcano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41082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>
          <a:xfrm>
            <a:off x="224644" y="1268761"/>
            <a:ext cx="8694712" cy="3168352"/>
          </a:xfrm>
        </p:spPr>
        <p:txBody>
          <a:bodyPr lIns="91440" tIns="45720" rIns="91440" bIns="45720">
            <a:normAutofit lnSpcReduction="10000"/>
          </a:bodyPr>
          <a:lstStyle/>
          <a:p>
            <a:pPr indent="-307975" eaLnBrk="1">
              <a:lnSpc>
                <a:spcPct val="100000"/>
              </a:lnSpc>
              <a:spcBef>
                <a:spcPts val="288"/>
              </a:spcBef>
              <a:spcAft>
                <a:spcPct val="0"/>
              </a:spcAft>
              <a:buClrTx/>
              <a:buFontTx/>
              <a:buNone/>
              <a:tabLst>
                <a:tab pos="342900" algn="l"/>
                <a:tab pos="449263" algn="l"/>
                <a:tab pos="1714500" algn="l"/>
                <a:tab pos="2857500" algn="l"/>
                <a:tab pos="4157663" algn="l"/>
                <a:tab pos="5600700" algn="l"/>
                <a:tab pos="6815138" algn="l"/>
                <a:tab pos="7204075" algn="l"/>
                <a:tab pos="7927975" algn="l"/>
                <a:tab pos="8651875" algn="l"/>
                <a:tab pos="8950325" algn="l"/>
                <a:tab pos="9399588" algn="l"/>
                <a:tab pos="9848850" algn="l"/>
                <a:tab pos="10304463" algn="l"/>
                <a:tab pos="10761663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</a:pPr>
            <a:r>
              <a:rPr lang="en-GB" altLang="en-US" sz="1400" b="1" u="sng" dirty="0">
                <a:latin typeface="Times New Roman" pitchFamily="16" charset="0"/>
                <a:cs typeface="Times New Roman" pitchFamily="16" charset="0"/>
              </a:rPr>
              <a:t>VEI		Description	Plume height	Volume	Classification	How often	Example</a:t>
            </a:r>
          </a:p>
          <a:p>
            <a:pPr indent="-307975" eaLnBrk="1">
              <a:lnSpc>
                <a:spcPct val="100000"/>
              </a:lnSpc>
              <a:spcBef>
                <a:spcPts val="288"/>
              </a:spcBef>
              <a:spcAft>
                <a:spcPct val="0"/>
              </a:spcAft>
              <a:buClrTx/>
              <a:buFontTx/>
              <a:buNone/>
              <a:tabLst>
                <a:tab pos="342900" algn="l"/>
                <a:tab pos="449263" algn="l"/>
                <a:tab pos="1714500" algn="l"/>
                <a:tab pos="2857500" algn="l"/>
                <a:tab pos="4157663" algn="l"/>
                <a:tab pos="5600700" algn="l"/>
                <a:tab pos="6815138" algn="l"/>
                <a:tab pos="7204075" algn="l"/>
                <a:tab pos="7927975" algn="l"/>
                <a:tab pos="8651875" algn="l"/>
                <a:tab pos="8950325" algn="l"/>
                <a:tab pos="9399588" algn="l"/>
                <a:tab pos="9848850" algn="l"/>
                <a:tab pos="10304463" algn="l"/>
                <a:tab pos="10761663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</a:pP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0		non-explosive	&lt;100 m	&lt;10,000 m</a:t>
            </a:r>
            <a:r>
              <a:rPr lang="en-GB" altLang="en-US" sz="1400" b="1" baseline="33000" dirty="0">
                <a:latin typeface="Times New Roman" pitchFamily="16" charset="0"/>
                <a:cs typeface="Times New Roman" pitchFamily="16" charset="0"/>
              </a:rPr>
              <a:t>3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hawaiian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constant/daily	Kilauea</a:t>
            </a:r>
          </a:p>
          <a:p>
            <a:pPr indent="-307975" eaLnBrk="1">
              <a:lnSpc>
                <a:spcPct val="100000"/>
              </a:lnSpc>
              <a:spcBef>
                <a:spcPts val="288"/>
              </a:spcBef>
              <a:spcAft>
                <a:spcPct val="0"/>
              </a:spcAft>
              <a:buClrTx/>
              <a:buFontTx/>
              <a:buNone/>
              <a:tabLst>
                <a:tab pos="342900" algn="l"/>
                <a:tab pos="449263" algn="l"/>
                <a:tab pos="1714500" algn="l"/>
                <a:tab pos="2857500" algn="l"/>
                <a:tab pos="4157663" algn="l"/>
                <a:tab pos="5600700" algn="l"/>
                <a:tab pos="6815138" algn="l"/>
                <a:tab pos="7204075" algn="l"/>
                <a:tab pos="7927975" algn="l"/>
                <a:tab pos="8651875" algn="l"/>
                <a:tab pos="8950325" algn="l"/>
                <a:tab pos="9399588" algn="l"/>
                <a:tab pos="9848850" algn="l"/>
                <a:tab pos="10304463" algn="l"/>
                <a:tab pos="10761663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</a:pP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1		gentle	100-1000 m	&gt;10,000 m</a:t>
            </a:r>
            <a:r>
              <a:rPr lang="en-GB" altLang="en-US" sz="1400" b="1" baseline="33000" dirty="0">
                <a:latin typeface="Times New Roman" pitchFamily="16" charset="0"/>
                <a:cs typeface="Times New Roman" pitchFamily="16" charset="0"/>
              </a:rPr>
              <a:t>3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haw/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strombolian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daily	Stromboli</a:t>
            </a:r>
          </a:p>
          <a:p>
            <a:pPr indent="-307975" eaLnBrk="1">
              <a:lnSpc>
                <a:spcPct val="100000"/>
              </a:lnSpc>
              <a:spcBef>
                <a:spcPts val="288"/>
              </a:spcBef>
              <a:spcAft>
                <a:spcPct val="0"/>
              </a:spcAft>
              <a:buClrTx/>
              <a:buFontTx/>
              <a:buNone/>
              <a:tabLst>
                <a:tab pos="342900" algn="l"/>
                <a:tab pos="449263" algn="l"/>
                <a:tab pos="1714500" algn="l"/>
                <a:tab pos="2857500" algn="l"/>
                <a:tab pos="4157663" algn="l"/>
                <a:tab pos="5600700" algn="l"/>
                <a:tab pos="6815138" algn="l"/>
                <a:tab pos="7204075" algn="l"/>
                <a:tab pos="7927975" algn="l"/>
                <a:tab pos="8651875" algn="l"/>
                <a:tab pos="8950325" algn="l"/>
                <a:tab pos="9399588" algn="l"/>
                <a:tab pos="9848850" algn="l"/>
                <a:tab pos="10304463" algn="l"/>
                <a:tab pos="10761663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</a:pP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2		explosive	1-5 km	&gt;1,000,000 m</a:t>
            </a:r>
            <a:r>
              <a:rPr lang="en-GB" altLang="en-US" sz="1400" b="1" baseline="33000" dirty="0">
                <a:latin typeface="Times New Roman" pitchFamily="16" charset="0"/>
                <a:cs typeface="Times New Roman" pitchFamily="16" charset="0"/>
              </a:rPr>
              <a:t>3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strom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/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vulcanian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weekly	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Sinabung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 2010</a:t>
            </a:r>
          </a:p>
          <a:p>
            <a:pPr indent="-307975" eaLnBrk="1">
              <a:lnSpc>
                <a:spcPct val="100000"/>
              </a:lnSpc>
              <a:spcBef>
                <a:spcPts val="288"/>
              </a:spcBef>
              <a:spcAft>
                <a:spcPct val="0"/>
              </a:spcAft>
              <a:buClrTx/>
              <a:buFontTx/>
              <a:buNone/>
              <a:tabLst>
                <a:tab pos="342900" algn="l"/>
                <a:tab pos="449263" algn="l"/>
                <a:tab pos="1714500" algn="l"/>
                <a:tab pos="2857500" algn="l"/>
                <a:tab pos="4157663" algn="l"/>
                <a:tab pos="5600700" algn="l"/>
                <a:tab pos="6815138" algn="l"/>
                <a:tab pos="7204075" algn="l"/>
                <a:tab pos="7927975" algn="l"/>
                <a:tab pos="8651875" algn="l"/>
                <a:tab pos="8950325" algn="l"/>
                <a:tab pos="9399588" algn="l"/>
                <a:tab pos="9848850" algn="l"/>
                <a:tab pos="10304463" algn="l"/>
                <a:tab pos="10761663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</a:pP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3		severe	3-15 km	&gt;10,000,000 m</a:t>
            </a:r>
            <a:r>
              <a:rPr lang="en-GB" altLang="en-US" sz="1400" b="1" baseline="33000" dirty="0">
                <a:latin typeface="Times New Roman" pitchFamily="16" charset="0"/>
                <a:cs typeface="Times New Roman" pitchFamily="16" charset="0"/>
              </a:rPr>
              <a:t>3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vulcanian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few months	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Nevado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 del Ruiz 1985</a:t>
            </a:r>
          </a:p>
          <a:p>
            <a:pPr indent="-307975" eaLnBrk="1">
              <a:lnSpc>
                <a:spcPct val="100000"/>
              </a:lnSpc>
              <a:spcBef>
                <a:spcPts val="288"/>
              </a:spcBef>
              <a:spcAft>
                <a:spcPct val="0"/>
              </a:spcAft>
              <a:buClrTx/>
              <a:buFontTx/>
              <a:buNone/>
              <a:tabLst>
                <a:tab pos="342900" algn="l"/>
                <a:tab pos="449263" algn="l"/>
                <a:tab pos="1714500" algn="l"/>
                <a:tab pos="2857500" algn="l"/>
                <a:tab pos="4157663" algn="l"/>
                <a:tab pos="5600700" algn="l"/>
                <a:tab pos="6815138" algn="l"/>
                <a:tab pos="7204075" algn="l"/>
                <a:tab pos="7927975" algn="l"/>
                <a:tab pos="8651875" algn="l"/>
                <a:tab pos="8950325" algn="l"/>
                <a:tab pos="9399588" algn="l"/>
                <a:tab pos="9848850" algn="l"/>
                <a:tab pos="10304463" algn="l"/>
                <a:tab pos="10761663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</a:pP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4		cataclysmic	10-25 km	&gt;0.1 km</a:t>
            </a:r>
            <a:r>
              <a:rPr lang="en-GB" altLang="en-US" sz="1400" b="1" baseline="33000" dirty="0">
                <a:latin typeface="Times New Roman" pitchFamily="16" charset="0"/>
                <a:cs typeface="Times New Roman" pitchFamily="16" charset="0"/>
              </a:rPr>
              <a:t>3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vulc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/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Plinian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</a:t>
            </a:r>
            <a:r>
              <a:rPr lang="en-GB" altLang="en-US" sz="1400" b="1" dirty="0">
                <a:latin typeface="Times New Roman" pitchFamily="16" charset="0"/>
                <a:ea typeface="Ubuntu" charset="0"/>
                <a:cs typeface="Ubuntu" charset="0"/>
              </a:rPr>
              <a:t>≥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1 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yr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Galunggung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 1982</a:t>
            </a:r>
          </a:p>
          <a:p>
            <a:pPr indent="-307975" eaLnBrk="1">
              <a:lnSpc>
                <a:spcPct val="100000"/>
              </a:lnSpc>
              <a:spcBef>
                <a:spcPts val="288"/>
              </a:spcBef>
              <a:spcAft>
                <a:spcPct val="0"/>
              </a:spcAft>
              <a:buClrTx/>
              <a:buFontTx/>
              <a:buNone/>
              <a:tabLst>
                <a:tab pos="342900" algn="l"/>
                <a:tab pos="449263" algn="l"/>
                <a:tab pos="1714500" algn="l"/>
                <a:tab pos="2857500" algn="l"/>
                <a:tab pos="4157663" algn="l"/>
                <a:tab pos="5600700" algn="l"/>
                <a:tab pos="6815138" algn="l"/>
                <a:tab pos="7204075" algn="l"/>
                <a:tab pos="7927975" algn="l"/>
                <a:tab pos="8651875" algn="l"/>
                <a:tab pos="8950325" algn="l"/>
                <a:tab pos="9399588" algn="l"/>
                <a:tab pos="9848850" algn="l"/>
                <a:tab pos="10304463" algn="l"/>
                <a:tab pos="10761663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</a:pP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5		paroxysmal	&gt;25 km	&gt;1 km</a:t>
            </a:r>
            <a:r>
              <a:rPr lang="en-GB" altLang="en-US" sz="1400" b="1" baseline="33000" dirty="0">
                <a:latin typeface="Times New Roman" pitchFamily="16" charset="0"/>
                <a:cs typeface="Times New Roman" pitchFamily="16" charset="0"/>
              </a:rPr>
              <a:t>3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Plinian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</a:t>
            </a:r>
            <a:r>
              <a:rPr lang="en-GB" altLang="en-US" sz="1400" b="1" dirty="0">
                <a:latin typeface="Times New Roman" pitchFamily="16" charset="0"/>
                <a:ea typeface="Ubuntu" charset="0"/>
                <a:cs typeface="Ubuntu" charset="0"/>
              </a:rPr>
              <a:t>≥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10 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yrs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Mount St Helens 1980</a:t>
            </a:r>
          </a:p>
          <a:p>
            <a:pPr indent="-307975" eaLnBrk="1">
              <a:lnSpc>
                <a:spcPct val="100000"/>
              </a:lnSpc>
              <a:spcBef>
                <a:spcPts val="288"/>
              </a:spcBef>
              <a:spcAft>
                <a:spcPct val="0"/>
              </a:spcAft>
              <a:buClrTx/>
              <a:buFontTx/>
              <a:buNone/>
              <a:tabLst>
                <a:tab pos="342900" algn="l"/>
                <a:tab pos="449263" algn="l"/>
                <a:tab pos="1714500" algn="l"/>
                <a:tab pos="2857500" algn="l"/>
                <a:tab pos="4157663" algn="l"/>
                <a:tab pos="5600700" algn="l"/>
                <a:tab pos="6815138" algn="l"/>
                <a:tab pos="7204075" algn="l"/>
                <a:tab pos="7927975" algn="l"/>
                <a:tab pos="8651875" algn="l"/>
                <a:tab pos="8950325" algn="l"/>
                <a:tab pos="9399588" algn="l"/>
                <a:tab pos="9848850" algn="l"/>
                <a:tab pos="10304463" algn="l"/>
                <a:tab pos="10761663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</a:pP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6		colossal	&gt;25 km	&gt;10 km</a:t>
            </a:r>
            <a:r>
              <a:rPr lang="en-GB" altLang="en-US" sz="1400" b="1" baseline="33000" dirty="0">
                <a:latin typeface="Times New Roman" pitchFamily="16" charset="0"/>
                <a:cs typeface="Times New Roman" pitchFamily="16" charset="0"/>
              </a:rPr>
              <a:t>3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Plin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/ultra-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Plinian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</a:t>
            </a:r>
            <a:r>
              <a:rPr lang="en-GB" altLang="en-US" sz="1400" b="1" dirty="0">
                <a:latin typeface="Times New Roman" pitchFamily="16" charset="0"/>
                <a:ea typeface="Ubuntu" charset="0"/>
                <a:cs typeface="Ubuntu" charset="0"/>
              </a:rPr>
              <a:t>≥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100 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yrs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Krakatau 1883</a:t>
            </a:r>
          </a:p>
          <a:p>
            <a:pPr indent="-307975" eaLnBrk="1">
              <a:lnSpc>
                <a:spcPct val="100000"/>
              </a:lnSpc>
              <a:spcBef>
                <a:spcPts val="288"/>
              </a:spcBef>
              <a:spcAft>
                <a:spcPct val="0"/>
              </a:spcAft>
              <a:buClrTx/>
              <a:buFontTx/>
              <a:buNone/>
              <a:tabLst>
                <a:tab pos="342900" algn="l"/>
                <a:tab pos="449263" algn="l"/>
                <a:tab pos="1714500" algn="l"/>
                <a:tab pos="2857500" algn="l"/>
                <a:tab pos="4157663" algn="l"/>
                <a:tab pos="5600700" algn="l"/>
                <a:tab pos="6815138" algn="l"/>
                <a:tab pos="7204075" algn="l"/>
                <a:tab pos="7927975" algn="l"/>
                <a:tab pos="8651875" algn="l"/>
                <a:tab pos="8950325" algn="l"/>
                <a:tab pos="9399588" algn="l"/>
                <a:tab pos="9848850" algn="l"/>
                <a:tab pos="10304463" algn="l"/>
                <a:tab pos="10761663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</a:pP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7		super-colossal	&gt;25 km	&gt;100 km</a:t>
            </a:r>
            <a:r>
              <a:rPr lang="en-GB" altLang="en-US" sz="1400" b="1" baseline="33000" dirty="0">
                <a:latin typeface="Times New Roman" pitchFamily="16" charset="0"/>
                <a:cs typeface="Times New Roman" pitchFamily="16" charset="0"/>
              </a:rPr>
              <a:t>3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ultra-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Plinian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</a:t>
            </a:r>
            <a:r>
              <a:rPr lang="en-GB" altLang="en-US" sz="1400" b="1" dirty="0">
                <a:latin typeface="Times New Roman" pitchFamily="16" charset="0"/>
                <a:ea typeface="Ubuntu" charset="0"/>
                <a:cs typeface="Ubuntu" charset="0"/>
              </a:rPr>
              <a:t>≥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1000 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yrs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Tambora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 1815</a:t>
            </a:r>
          </a:p>
          <a:p>
            <a:pPr indent="-307975" eaLnBrk="1">
              <a:lnSpc>
                <a:spcPct val="100000"/>
              </a:lnSpc>
              <a:spcBef>
                <a:spcPts val="288"/>
              </a:spcBef>
              <a:spcAft>
                <a:spcPct val="0"/>
              </a:spcAft>
              <a:buClrTx/>
              <a:buFontTx/>
              <a:buNone/>
              <a:tabLst>
                <a:tab pos="342900" algn="l"/>
                <a:tab pos="449263" algn="l"/>
                <a:tab pos="1714500" algn="l"/>
                <a:tab pos="2857500" algn="l"/>
                <a:tab pos="4157663" algn="l"/>
                <a:tab pos="5600700" algn="l"/>
                <a:tab pos="6815138" algn="l"/>
                <a:tab pos="7204075" algn="l"/>
                <a:tab pos="7927975" algn="l"/>
                <a:tab pos="8651875" algn="l"/>
                <a:tab pos="8950325" algn="l"/>
                <a:tab pos="9399588" algn="l"/>
                <a:tab pos="9848850" algn="l"/>
                <a:tab pos="10304463" algn="l"/>
                <a:tab pos="10761663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</a:pP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8		mega-colossal	&gt;25 km	&gt;1000 km</a:t>
            </a:r>
            <a:r>
              <a:rPr lang="en-GB" altLang="en-US" sz="1400" b="1" baseline="33000" dirty="0">
                <a:latin typeface="Times New Roman" pitchFamily="16" charset="0"/>
                <a:cs typeface="Times New Roman" pitchFamily="16" charset="0"/>
              </a:rPr>
              <a:t>3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ultra-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Plinian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</a:t>
            </a:r>
            <a:r>
              <a:rPr lang="en-GB" altLang="en-US" sz="1400" b="1" dirty="0">
                <a:latin typeface="Times New Roman" pitchFamily="16" charset="0"/>
                <a:ea typeface="Ubuntu" charset="0"/>
                <a:cs typeface="Ubuntu" charset="0"/>
              </a:rPr>
              <a:t>≥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10,000 </a:t>
            </a:r>
            <a:r>
              <a:rPr lang="en-GB" altLang="en-US" sz="1400" b="1" dirty="0" err="1">
                <a:latin typeface="Times New Roman" pitchFamily="16" charset="0"/>
                <a:cs typeface="Times New Roman" pitchFamily="16" charset="0"/>
              </a:rPr>
              <a:t>yrs</a:t>
            </a:r>
            <a:r>
              <a:rPr lang="en-GB" altLang="en-US" sz="1400" b="1" dirty="0">
                <a:latin typeface="Times New Roman" pitchFamily="16" charset="0"/>
                <a:cs typeface="Times New Roman" pitchFamily="16" charset="0"/>
              </a:rPr>
              <a:t>	Yellowstone 2 Ma</a:t>
            </a:r>
          </a:p>
          <a:p>
            <a:pPr indent="-307975" eaLnBrk="1">
              <a:lnSpc>
                <a:spcPct val="100000"/>
              </a:lnSpc>
              <a:spcBef>
                <a:spcPts val="288"/>
              </a:spcBef>
              <a:spcAft>
                <a:spcPct val="0"/>
              </a:spcAft>
              <a:buClrTx/>
              <a:buFontTx/>
              <a:buNone/>
              <a:tabLst>
                <a:tab pos="342900" algn="l"/>
                <a:tab pos="449263" algn="l"/>
                <a:tab pos="1714500" algn="l"/>
                <a:tab pos="2857500" algn="l"/>
                <a:tab pos="4157663" algn="l"/>
                <a:tab pos="5600700" algn="l"/>
                <a:tab pos="6815138" algn="l"/>
                <a:tab pos="7204075" algn="l"/>
                <a:tab pos="7927975" algn="l"/>
                <a:tab pos="8651875" algn="l"/>
                <a:tab pos="8950325" algn="l"/>
                <a:tab pos="9399588" algn="l"/>
                <a:tab pos="9848850" algn="l"/>
                <a:tab pos="10304463" algn="l"/>
                <a:tab pos="10761663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</a:pPr>
            <a:endParaRPr lang="en-GB" altLang="en-US" sz="1400" b="1" dirty="0">
              <a:cs typeface="Times New Roman" pitchFamily="16" charset="0"/>
            </a:endParaRPr>
          </a:p>
          <a:p>
            <a:pPr indent="-307975" eaLnBrk="1">
              <a:lnSpc>
                <a:spcPct val="100000"/>
              </a:lnSpc>
              <a:spcBef>
                <a:spcPts val="288"/>
              </a:spcBef>
              <a:spcAft>
                <a:spcPct val="0"/>
              </a:spcAft>
              <a:buClrTx/>
              <a:buFontTx/>
              <a:buNone/>
              <a:tabLst>
                <a:tab pos="342900" algn="l"/>
                <a:tab pos="449263" algn="l"/>
                <a:tab pos="1714500" algn="l"/>
                <a:tab pos="2857500" algn="l"/>
                <a:tab pos="4157663" algn="l"/>
                <a:tab pos="5600700" algn="l"/>
                <a:tab pos="6815138" algn="l"/>
                <a:tab pos="7204075" algn="l"/>
                <a:tab pos="7927975" algn="l"/>
                <a:tab pos="8651875" algn="l"/>
                <a:tab pos="8950325" algn="l"/>
                <a:tab pos="9399588" algn="l"/>
                <a:tab pos="9848850" algn="l"/>
                <a:tab pos="10304463" algn="l"/>
                <a:tab pos="10761663" algn="l"/>
                <a:tab pos="10763250" algn="l"/>
                <a:tab pos="10764838" algn="l"/>
                <a:tab pos="10766425" algn="l"/>
                <a:tab pos="10768013" algn="l"/>
                <a:tab pos="10769600" algn="l"/>
                <a:tab pos="10771188" algn="l"/>
                <a:tab pos="10772775" algn="l"/>
                <a:tab pos="10774363" algn="l"/>
                <a:tab pos="10775950" algn="l"/>
                <a:tab pos="10777538" algn="l"/>
                <a:tab pos="10779125" algn="l"/>
                <a:tab pos="10780713" algn="l"/>
              </a:tabLst>
            </a:pPr>
            <a:r>
              <a:rPr lang="en-GB" altLang="en-US" sz="1400" dirty="0">
                <a:cs typeface="Times New Roman" pitchFamily="16" charset="0"/>
              </a:rPr>
              <a:t>Pyle DM (2000) Sizes of volcanic eruptions. </a:t>
            </a:r>
            <a:r>
              <a:rPr lang="en-GB" altLang="en-US" sz="1400" dirty="0" err="1">
                <a:cs typeface="Times New Roman" pitchFamily="16" charset="0"/>
              </a:rPr>
              <a:t>Encyclopedia</a:t>
            </a:r>
            <a:r>
              <a:rPr lang="en-GB" altLang="en-US" sz="1400" dirty="0">
                <a:cs typeface="Times New Roman" pitchFamily="16" charset="0"/>
              </a:rPr>
              <a:t> of Volcanoes, pp 263-269.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588" y="4735159"/>
            <a:ext cx="7416824" cy="17081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VEI 0-1 	Always basaltic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VEI 2	Basalt or basaltic andesite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VEI 3-4	Usually basaltic andesite to dacite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VEI 5-8	Usually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dacitic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or rhyolitic, although there are rare examples of 	basaltic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Plinian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eruptions in the geological record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82AFF59-4ABE-4601-BD32-0D654FB08ED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The four main types of volcano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810807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746C40-8A52-4BB3-8B72-1B4CF2437782}"/>
              </a:ext>
            </a:extLst>
          </p:cNvPr>
          <p:cNvSpPr txBox="1"/>
          <p:nvPr/>
        </p:nvSpPr>
        <p:spPr>
          <a:xfrm>
            <a:off x="323528" y="1144127"/>
            <a:ext cx="8568952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This leads to the formation of four basic volcano types (not an all-encompassing classification):</a:t>
            </a:r>
          </a:p>
        </p:txBody>
      </p:sp>
      <p:pic>
        <p:nvPicPr>
          <p:cNvPr id="6" name="Picture 2" descr="prodcut-image">
            <a:extLst>
              <a:ext uri="{FF2B5EF4-FFF2-40B4-BE49-F238E27FC236}">
                <a16:creationId xmlns:a16="http://schemas.microsoft.com/office/drawing/2014/main" id="{6376B35E-B502-427C-8D3D-2AFBD42B5C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47" t="5250" b="78638"/>
          <a:stretch/>
        </p:blipFill>
        <p:spPr bwMode="auto">
          <a:xfrm>
            <a:off x="4745610" y="2366462"/>
            <a:ext cx="4389312" cy="1654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prodcut-image">
            <a:extLst>
              <a:ext uri="{FF2B5EF4-FFF2-40B4-BE49-F238E27FC236}">
                <a16:creationId xmlns:a16="http://schemas.microsoft.com/office/drawing/2014/main" id="{37B85BDD-3CA1-4DBA-A511-8726FE92AF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40" t="25200" r="32492" b="56495"/>
          <a:stretch/>
        </p:blipFill>
        <p:spPr bwMode="auto">
          <a:xfrm>
            <a:off x="4494156" y="4322356"/>
            <a:ext cx="2489671" cy="188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prodcut-image">
            <a:extLst>
              <a:ext uri="{FF2B5EF4-FFF2-40B4-BE49-F238E27FC236}">
                <a16:creationId xmlns:a16="http://schemas.microsoft.com/office/drawing/2014/main" id="{341D327D-84CB-4687-B852-4DE444E9FD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00" r="68805" b="56803"/>
          <a:stretch/>
        </p:blipFill>
        <p:spPr bwMode="auto">
          <a:xfrm>
            <a:off x="7040878" y="4346446"/>
            <a:ext cx="2082246" cy="183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8D1342-5C19-46C5-9AC2-3CA4FCF5B9D3}"/>
              </a:ext>
            </a:extLst>
          </p:cNvPr>
          <p:cNvSpPr txBox="1"/>
          <p:nvPr/>
        </p:nvSpPr>
        <p:spPr>
          <a:xfrm>
            <a:off x="4616267" y="4017187"/>
            <a:ext cx="2916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1) Shield volcanoes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44A47D-0B54-4324-80F9-0F81640D366F}"/>
              </a:ext>
            </a:extLst>
          </p:cNvPr>
          <p:cNvSpPr txBox="1"/>
          <p:nvPr/>
        </p:nvSpPr>
        <p:spPr>
          <a:xfrm>
            <a:off x="7132146" y="4007892"/>
            <a:ext cx="2124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2) Lava domes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D5063E-08D2-45A9-9107-23C7EC50B1C8}"/>
              </a:ext>
            </a:extLst>
          </p:cNvPr>
          <p:cNvSpPr txBox="1"/>
          <p:nvPr/>
        </p:nvSpPr>
        <p:spPr>
          <a:xfrm>
            <a:off x="4616267" y="6216386"/>
            <a:ext cx="271303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3) Composite cones/</a:t>
            </a:r>
          </a:p>
          <a:p>
            <a:pPr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stratovolcanoes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1E0EC0-46C4-4774-9014-FB1B095A2858}"/>
              </a:ext>
            </a:extLst>
          </p:cNvPr>
          <p:cNvSpPr txBox="1"/>
          <p:nvPr/>
        </p:nvSpPr>
        <p:spPr>
          <a:xfrm>
            <a:off x="7132146" y="6342028"/>
            <a:ext cx="21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4) Cinder cones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4" descr="Image result for VOLCANO TYPES AND SIZE">
            <a:extLst>
              <a:ext uri="{FF2B5EF4-FFF2-40B4-BE49-F238E27FC236}">
                <a16:creationId xmlns:a16="http://schemas.microsoft.com/office/drawing/2014/main" id="{0C05C7B7-9A3C-4E73-8FAF-262E000505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230" b="65579"/>
          <a:stretch/>
        </p:blipFill>
        <p:spPr bwMode="auto">
          <a:xfrm>
            <a:off x="72427" y="2050751"/>
            <a:ext cx="4608512" cy="127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Image result for VOLCANO TYPES AND SIZE">
            <a:extLst>
              <a:ext uri="{FF2B5EF4-FFF2-40B4-BE49-F238E27FC236}">
                <a16:creationId xmlns:a16="http://schemas.microsoft.com/office/drawing/2014/main" id="{9242C180-F04F-476F-9E71-DF8978B92C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80" t="1315" r="19843" b="85686"/>
          <a:stretch/>
        </p:blipFill>
        <p:spPr bwMode="auto">
          <a:xfrm>
            <a:off x="239962" y="5229200"/>
            <a:ext cx="720080" cy="48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Image result for VOLCANO TYPES AND SIZE">
            <a:extLst>
              <a:ext uri="{FF2B5EF4-FFF2-40B4-BE49-F238E27FC236}">
                <a16:creationId xmlns:a16="http://schemas.microsoft.com/office/drawing/2014/main" id="{F8903EE4-5274-4BA0-8848-A3BAF6FCEB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64" t="84479"/>
          <a:stretch/>
        </p:blipFill>
        <p:spPr bwMode="auto">
          <a:xfrm>
            <a:off x="1403648" y="5663397"/>
            <a:ext cx="1656184" cy="57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Image result for VOLCANO TYPES AND SIZE">
            <a:extLst>
              <a:ext uri="{FF2B5EF4-FFF2-40B4-BE49-F238E27FC236}">
                <a16:creationId xmlns:a16="http://schemas.microsoft.com/office/drawing/2014/main" id="{ED1B9F83-1C7F-4002-AE24-384AA982C2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80" t="36504" r="15733" b="40127"/>
          <a:stretch/>
        </p:blipFill>
        <p:spPr bwMode="auto">
          <a:xfrm>
            <a:off x="239962" y="5805264"/>
            <a:ext cx="1008112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Image result for VOLCANO TYPES AND SIZE">
            <a:extLst>
              <a:ext uri="{FF2B5EF4-FFF2-40B4-BE49-F238E27FC236}">
                <a16:creationId xmlns:a16="http://schemas.microsoft.com/office/drawing/2014/main" id="{E9296831-3D57-4D0F-BB8D-49BD77AD8A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4" t="84498" r="37313"/>
          <a:stretch/>
        </p:blipFill>
        <p:spPr bwMode="auto">
          <a:xfrm>
            <a:off x="1907704" y="3284984"/>
            <a:ext cx="2664296" cy="573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143508" y="3854547"/>
            <a:ext cx="2734657" cy="1083654"/>
            <a:chOff x="143508" y="3854547"/>
            <a:chExt cx="2734657" cy="1083654"/>
          </a:xfrm>
        </p:grpSpPr>
        <p:pic>
          <p:nvPicPr>
            <p:cNvPr id="14" name="Picture 4" descr="Image result for VOLCANO TYPES AND SIZE">
              <a:extLst>
                <a:ext uri="{FF2B5EF4-FFF2-40B4-BE49-F238E27FC236}">
                  <a16:creationId xmlns:a16="http://schemas.microsoft.com/office/drawing/2014/main" id="{5C825F3F-9C0F-4893-8021-69797E816C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530" t="32687" r="31502" b="38842"/>
            <a:stretch/>
          </p:blipFill>
          <p:spPr bwMode="auto">
            <a:xfrm>
              <a:off x="357885" y="3885465"/>
              <a:ext cx="2520280" cy="1052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239962" y="3854547"/>
              <a:ext cx="360040" cy="436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43508" y="3987336"/>
              <a:ext cx="360040" cy="436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0" name="Rectangle 4">
            <a:extLst>
              <a:ext uri="{FF2B5EF4-FFF2-40B4-BE49-F238E27FC236}">
                <a16:creationId xmlns:a16="http://schemas.microsoft.com/office/drawing/2014/main" id="{382AFF59-4ABE-4601-BD32-0D654FB08ED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The four main types of volcano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705160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Mauna_Kea_smaller.jpg"/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52736"/>
            <a:ext cx="9144000" cy="58052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399511-A965-43DA-A858-A4E3D4A18EC3}"/>
              </a:ext>
            </a:extLst>
          </p:cNvPr>
          <p:cNvSpPr txBox="1"/>
          <p:nvPr/>
        </p:nvSpPr>
        <p:spPr>
          <a:xfrm>
            <a:off x="134634" y="1052736"/>
            <a:ext cx="887473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Shield volcanoes (e.g. Hawaii)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Basic composition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Low explosivity (Hawaiian)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Low viscosity lavas which flow long distances before solidifying.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Little or no </a:t>
            </a:r>
            <a:r>
              <a:rPr lang="en-GB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pyroclastics</a:t>
            </a: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Made up virtually exclusively of lava flows.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Largest volcanoes on Earth (and the Solar System):  broad and gently sloping.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82AFF59-4ABE-4601-BD32-0D654FB08ED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The four main types of volcano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3278725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4" name="Picture 10" descr="mount-fuji-japan">
            <a:extLst>
              <a:ext uri="{FF2B5EF4-FFF2-40B4-BE49-F238E27FC236}">
                <a16:creationId xmlns:a16="http://schemas.microsoft.com/office/drawing/2014/main" id="{574099C9-4E34-4792-B539-CAA7A2B9A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2736"/>
            <a:ext cx="9144000" cy="580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BB01B2-A215-4271-91D1-B20E8F585A13}"/>
              </a:ext>
            </a:extLst>
          </p:cNvPr>
          <p:cNvSpPr txBox="1"/>
          <p:nvPr/>
        </p:nvSpPr>
        <p:spPr>
          <a:xfrm>
            <a:off x="254015" y="4437112"/>
            <a:ext cx="8874732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9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Stratovolcanoes (e.g. Fiji, Vesuvius)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Intermediate to acidic composition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Moderate to high explosivity </a:t>
            </a:r>
            <a:r>
              <a:rPr lang="en-GB" sz="190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(Strombolian 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 Plinian)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Moderate to high viscosity lavas and </a:t>
            </a:r>
            <a:r>
              <a:rPr lang="en-GB" sz="19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pyroclastics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Made up interstratified </a:t>
            </a:r>
            <a:r>
              <a:rPr lang="en-GB" sz="19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pyroclastics</a:t>
            </a: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and lavas.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Archetypal volcano. Large, with concave-up, steep profile.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2AFF59-4ABE-4601-BD32-0D654FB08ED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The four main types of volcano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2348342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Image result for lava dome">
            <a:extLst>
              <a:ext uri="{FF2B5EF4-FFF2-40B4-BE49-F238E27FC236}">
                <a16:creationId xmlns:a16="http://schemas.microsoft.com/office/drawing/2014/main" id="{7A27161F-BAE7-47B4-ABB1-AD7FCC7458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3" r="8263"/>
          <a:stretch/>
        </p:blipFill>
        <p:spPr bwMode="auto">
          <a:xfrm>
            <a:off x="-1" y="1052736"/>
            <a:ext cx="9144001" cy="579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DBC5B9-9CB4-4497-831C-1869C45B3772}"/>
              </a:ext>
            </a:extLst>
          </p:cNvPr>
          <p:cNvSpPr txBox="1"/>
          <p:nvPr/>
        </p:nvSpPr>
        <p:spPr>
          <a:xfrm>
            <a:off x="134633" y="4221088"/>
            <a:ext cx="8874732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Lava Domes (e.g. </a:t>
            </a:r>
            <a:r>
              <a:rPr lang="en-GB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Paluweh</a:t>
            </a:r>
            <a:r>
              <a:rPr lang="en-GB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Indonesia)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Basic to intermediate composition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Low explosivity (Hawaiian)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Moderate to high viscosity lavas.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Little or no </a:t>
            </a:r>
            <a:r>
              <a:rPr lang="en-GB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pyroclastics</a:t>
            </a:r>
            <a:endParaRPr lang="en-GB" sz="1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Made up interstratified lavas, and lava blocks.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Small, often subsidiary (flank or caldera eruption) to larger stratovolcanoes.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2AFF59-4ABE-4601-BD32-0D654FB08ED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The four main types of volcano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780302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Image result for cinder cone etna">
            <a:extLst>
              <a:ext uri="{FF2B5EF4-FFF2-40B4-BE49-F238E27FC236}">
                <a16:creationId xmlns:a16="http://schemas.microsoft.com/office/drawing/2014/main" id="{E10206DF-9382-4DB0-A699-6970E2457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2736"/>
            <a:ext cx="9144000" cy="582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2763BB-5FDA-4344-8EE2-D8E6899B560C}"/>
              </a:ext>
            </a:extLst>
          </p:cNvPr>
          <p:cNvSpPr txBox="1"/>
          <p:nvPr/>
        </p:nvSpPr>
        <p:spPr>
          <a:xfrm>
            <a:off x="134633" y="4221088"/>
            <a:ext cx="887473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Cinder Cones (e.g. Etna, Italy)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Basic to acidic composition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Low to moderate viscosity lavas, which fountain, solidify in the air, forming lapilli-sized fragments which fall more-or less in place.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Made up almost exclusively of these </a:t>
            </a:r>
            <a:r>
              <a:rPr lang="en-GB" sz="1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pyroclasts</a:t>
            </a: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Small, often subsidiary (flank or caldera eruption) to larger shield of stratovolcanoes. Often the product of a single eruption.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82AFF59-4ABE-4601-BD32-0D654FB08ED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The four main types of volcano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785016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382AFF59-4ABE-4601-BD32-0D654FB08ED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00"/>
                </a:solidFill>
                <a:latin typeface="Bookman Old Style" pitchFamily="18" charset="0"/>
                <a:ea typeface="Adobe Fangsong Std R" pitchFamily="18" charset="-128"/>
                <a:cs typeface="+mj-cs"/>
              </a:rPr>
              <a:t>Summary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ookman Old Style" pitchFamily="18" charset="0"/>
              <a:ea typeface="Adobe Fangsong Std R" pitchFamily="18" charset="-128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46C40-8A52-4BB3-8B72-1B4CF2437782}"/>
              </a:ext>
            </a:extLst>
          </p:cNvPr>
          <p:cNvSpPr txBox="1"/>
          <p:nvPr/>
        </p:nvSpPr>
        <p:spPr>
          <a:xfrm>
            <a:off x="323528" y="1144127"/>
            <a:ext cx="8568952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There are four basic volcano types (not an all-encompassing classification):</a:t>
            </a:r>
          </a:p>
        </p:txBody>
      </p:sp>
      <p:pic>
        <p:nvPicPr>
          <p:cNvPr id="6" name="Picture 2" descr="prodcut-image">
            <a:extLst>
              <a:ext uri="{FF2B5EF4-FFF2-40B4-BE49-F238E27FC236}">
                <a16:creationId xmlns:a16="http://schemas.microsoft.com/office/drawing/2014/main" id="{6376B35E-B502-427C-8D3D-2AFBD42B5C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47" t="5250" b="78638"/>
          <a:stretch/>
        </p:blipFill>
        <p:spPr bwMode="auto">
          <a:xfrm>
            <a:off x="4745610" y="2366462"/>
            <a:ext cx="4389312" cy="1654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prodcut-image">
            <a:extLst>
              <a:ext uri="{FF2B5EF4-FFF2-40B4-BE49-F238E27FC236}">
                <a16:creationId xmlns:a16="http://schemas.microsoft.com/office/drawing/2014/main" id="{37B85BDD-3CA1-4DBA-A511-8726FE92AF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40" t="25200" r="32492" b="56495"/>
          <a:stretch/>
        </p:blipFill>
        <p:spPr bwMode="auto">
          <a:xfrm>
            <a:off x="4494156" y="4322356"/>
            <a:ext cx="2489671" cy="188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prodcut-image">
            <a:extLst>
              <a:ext uri="{FF2B5EF4-FFF2-40B4-BE49-F238E27FC236}">
                <a16:creationId xmlns:a16="http://schemas.microsoft.com/office/drawing/2014/main" id="{341D327D-84CB-4687-B852-4DE444E9FD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00" r="68805" b="56803"/>
          <a:stretch/>
        </p:blipFill>
        <p:spPr bwMode="auto">
          <a:xfrm>
            <a:off x="7040878" y="4346446"/>
            <a:ext cx="2082246" cy="183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8D1342-5C19-46C5-9AC2-3CA4FCF5B9D3}"/>
              </a:ext>
            </a:extLst>
          </p:cNvPr>
          <p:cNvSpPr txBox="1"/>
          <p:nvPr/>
        </p:nvSpPr>
        <p:spPr>
          <a:xfrm>
            <a:off x="4616267" y="4017187"/>
            <a:ext cx="29163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1) Shield volcanoes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44A47D-0B54-4324-80F9-0F81640D366F}"/>
              </a:ext>
            </a:extLst>
          </p:cNvPr>
          <p:cNvSpPr txBox="1"/>
          <p:nvPr/>
        </p:nvSpPr>
        <p:spPr>
          <a:xfrm>
            <a:off x="7132146" y="4007892"/>
            <a:ext cx="2124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2) Lava domes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D5063E-08D2-45A9-9107-23C7EC50B1C8}"/>
              </a:ext>
            </a:extLst>
          </p:cNvPr>
          <p:cNvSpPr txBox="1"/>
          <p:nvPr/>
        </p:nvSpPr>
        <p:spPr>
          <a:xfrm>
            <a:off x="4616267" y="6216386"/>
            <a:ext cx="2713032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3) Composite cones/</a:t>
            </a:r>
          </a:p>
          <a:p>
            <a:pPr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stratovolcanoes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1E0EC0-46C4-4774-9014-FB1B095A2858}"/>
              </a:ext>
            </a:extLst>
          </p:cNvPr>
          <p:cNvSpPr txBox="1"/>
          <p:nvPr/>
        </p:nvSpPr>
        <p:spPr>
          <a:xfrm>
            <a:off x="7132146" y="6342028"/>
            <a:ext cx="21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4) Cinder cones</a:t>
            </a:r>
            <a:endParaRPr lang="en-GB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4" descr="Image result for VOLCANO TYPES AND SIZE">
            <a:extLst>
              <a:ext uri="{FF2B5EF4-FFF2-40B4-BE49-F238E27FC236}">
                <a16:creationId xmlns:a16="http://schemas.microsoft.com/office/drawing/2014/main" id="{0C05C7B7-9A3C-4E73-8FAF-262E000505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230" b="65579"/>
          <a:stretch/>
        </p:blipFill>
        <p:spPr bwMode="auto">
          <a:xfrm>
            <a:off x="72427" y="2050751"/>
            <a:ext cx="4608512" cy="127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Image result for VOLCANO TYPES AND SIZE">
            <a:extLst>
              <a:ext uri="{FF2B5EF4-FFF2-40B4-BE49-F238E27FC236}">
                <a16:creationId xmlns:a16="http://schemas.microsoft.com/office/drawing/2014/main" id="{9242C180-F04F-476F-9E71-DF8978B92C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80" t="1315" r="19843" b="85686"/>
          <a:stretch/>
        </p:blipFill>
        <p:spPr bwMode="auto">
          <a:xfrm>
            <a:off x="239962" y="5229200"/>
            <a:ext cx="720080" cy="48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Image result for VOLCANO TYPES AND SIZE">
            <a:extLst>
              <a:ext uri="{FF2B5EF4-FFF2-40B4-BE49-F238E27FC236}">
                <a16:creationId xmlns:a16="http://schemas.microsoft.com/office/drawing/2014/main" id="{F8903EE4-5274-4BA0-8848-A3BAF6FCEB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64" t="84479"/>
          <a:stretch/>
        </p:blipFill>
        <p:spPr bwMode="auto">
          <a:xfrm>
            <a:off x="1403648" y="5663397"/>
            <a:ext cx="1656184" cy="57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Image result for VOLCANO TYPES AND SIZE">
            <a:extLst>
              <a:ext uri="{FF2B5EF4-FFF2-40B4-BE49-F238E27FC236}">
                <a16:creationId xmlns:a16="http://schemas.microsoft.com/office/drawing/2014/main" id="{ED1B9F83-1C7F-4002-AE24-384AA982C2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80" t="36504" r="15733" b="40127"/>
          <a:stretch/>
        </p:blipFill>
        <p:spPr bwMode="auto">
          <a:xfrm>
            <a:off x="239962" y="5805264"/>
            <a:ext cx="1008112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Image result for VOLCANO TYPES AND SIZE">
            <a:extLst>
              <a:ext uri="{FF2B5EF4-FFF2-40B4-BE49-F238E27FC236}">
                <a16:creationId xmlns:a16="http://schemas.microsoft.com/office/drawing/2014/main" id="{E9296831-3D57-4D0F-BB8D-49BD77AD8A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4" t="84498" r="37313"/>
          <a:stretch/>
        </p:blipFill>
        <p:spPr bwMode="auto">
          <a:xfrm>
            <a:off x="1907704" y="3284984"/>
            <a:ext cx="2664296" cy="573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143508" y="3854547"/>
            <a:ext cx="2734657" cy="1083654"/>
            <a:chOff x="143508" y="3854547"/>
            <a:chExt cx="2734657" cy="1083654"/>
          </a:xfrm>
        </p:grpSpPr>
        <p:pic>
          <p:nvPicPr>
            <p:cNvPr id="14" name="Picture 4" descr="Image result for VOLCANO TYPES AND SIZE">
              <a:extLst>
                <a:ext uri="{FF2B5EF4-FFF2-40B4-BE49-F238E27FC236}">
                  <a16:creationId xmlns:a16="http://schemas.microsoft.com/office/drawing/2014/main" id="{5C825F3F-9C0F-4893-8021-69797E816C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530" t="32687" r="31502" b="38842"/>
            <a:stretch/>
          </p:blipFill>
          <p:spPr bwMode="auto">
            <a:xfrm>
              <a:off x="357885" y="3885465"/>
              <a:ext cx="2520280" cy="1052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239962" y="3854547"/>
              <a:ext cx="360040" cy="436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43508" y="3987336"/>
              <a:ext cx="360040" cy="436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5422940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340768"/>
            <a:ext cx="86630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</a:pPr>
            <a:r>
              <a:rPr lang="en-GB" sz="2000" dirty="0" err="1"/>
              <a:t>Marshak</a:t>
            </a:r>
            <a:r>
              <a:rPr lang="en-GB" sz="2000" dirty="0"/>
              <a:t>, Earth: Portrait of a Planet, Ch. 6, Ch. 9.</a:t>
            </a:r>
          </a:p>
          <a:p>
            <a:pPr marL="285750" indent="-285750">
              <a:spcAft>
                <a:spcPts val="600"/>
              </a:spcAft>
            </a:pPr>
            <a:r>
              <a:rPr lang="en-GB" sz="2000" dirty="0"/>
              <a:t>Klein and </a:t>
            </a:r>
            <a:r>
              <a:rPr lang="en-GB" sz="2000" dirty="0" err="1"/>
              <a:t>Philpotts</a:t>
            </a:r>
            <a:r>
              <a:rPr lang="en-GB" sz="2000" dirty="0"/>
              <a:t>, Earth Materials, Ch. 8.</a:t>
            </a:r>
          </a:p>
          <a:p>
            <a:pPr marL="285750" indent="-285750">
              <a:spcAft>
                <a:spcPts val="600"/>
              </a:spcAft>
            </a:pPr>
            <a:r>
              <a:rPr lang="en-GB" sz="2000" dirty="0" err="1"/>
              <a:t>Grotzinger</a:t>
            </a:r>
            <a:r>
              <a:rPr lang="en-GB" sz="2000" dirty="0"/>
              <a:t> and Jordan, Understanding Earth, Ch.  4.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itchFamily="18" charset="0"/>
                <a:ea typeface="Adobe Fangsong Std R" pitchFamily="18" charset="-128"/>
                <a:cs typeface="+mj-cs"/>
              </a:rPr>
              <a:t>Further reading</a:t>
            </a:r>
          </a:p>
        </p:txBody>
      </p:sp>
      <p:pic>
        <p:nvPicPr>
          <p:cNvPr id="3074" name="Picture 2" descr="Earth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748" y="2974930"/>
            <a:ext cx="3106829" cy="375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1984" y="2985583"/>
            <a:ext cx="2879436" cy="37557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5195" y="2986089"/>
            <a:ext cx="3000561" cy="375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05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6541</TotalTime>
  <Words>4772</Words>
  <Application>Microsoft Office PowerPoint</Application>
  <PresentationFormat>On-screen Show (4:3)</PresentationFormat>
  <Paragraphs>641</Paragraphs>
  <Slides>86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5" baseType="lpstr">
      <vt:lpstr> arial</vt:lpstr>
      <vt:lpstr>Arial</vt:lpstr>
      <vt:lpstr>Bookman Old Style</vt:lpstr>
      <vt:lpstr>Calibri</vt:lpstr>
      <vt:lpstr>Cambria</vt:lpstr>
      <vt:lpstr>Goudy Old Style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Melting temperatures of mantle peridotite as a function of pressure (depth) </vt:lpstr>
      <vt:lpstr>PowerPoint Presentation</vt:lpstr>
      <vt:lpstr>PowerPoint Presentation</vt:lpstr>
      <vt:lpstr>PowerPoint Presentation</vt:lpstr>
      <vt:lpstr>Mauna Kea – an Ocean Island Volcano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Leilani Estates eruption, Kilauea East Rift Zone, 3rd May to 15th August 2018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Berit</dc:creator>
  <cp:lastModifiedBy>Rhodri Jerrett</cp:lastModifiedBy>
  <cp:revision>311</cp:revision>
  <cp:lastPrinted>2013-01-27T21:56:10Z</cp:lastPrinted>
  <dcterms:created xsi:type="dcterms:W3CDTF">2011-07-08T07:22:54Z</dcterms:created>
  <dcterms:modified xsi:type="dcterms:W3CDTF">2023-02-13T09:15:13Z</dcterms:modified>
</cp:coreProperties>
</file>