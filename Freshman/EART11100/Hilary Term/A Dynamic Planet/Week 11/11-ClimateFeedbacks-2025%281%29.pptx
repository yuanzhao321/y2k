
<file path=[Content_Types].xml><?xml version="1.0" encoding="utf-8"?>
<Types xmlns="http://schemas.openxmlformats.org/package/2006/content-types">
  <Default Extension="png" ContentType="image/png"/>
  <Default Extension="jpeg" ContentType="image/jpeg"/>
  <Default Extension="emf" ContentType="image/x-emf"/>
  <Default Extension="rels" ContentType="application/vnd.openxmlformats-package.relationships+xml"/>
  <Default Extension="xml" ContentType="application/xml"/>
  <Default Extension="gif" ContentType="image/gif"/>
  <Default Extension="jpg" ContentType="image/jpeg"/>
  <Default Extension="mp4" ContentType="video/mp4"/>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 id="2147483743" r:id="rId2"/>
  </p:sldMasterIdLst>
  <p:notesMasterIdLst>
    <p:notesMasterId r:id="rId73"/>
  </p:notesMasterIdLst>
  <p:sldIdLst>
    <p:sldId id="500" r:id="rId3"/>
    <p:sldId id="665" r:id="rId4"/>
    <p:sldId id="585" r:id="rId5"/>
    <p:sldId id="560" r:id="rId6"/>
    <p:sldId id="666" r:id="rId7"/>
    <p:sldId id="858" r:id="rId8"/>
    <p:sldId id="859" r:id="rId9"/>
    <p:sldId id="862" r:id="rId10"/>
    <p:sldId id="864" r:id="rId11"/>
    <p:sldId id="855" r:id="rId12"/>
    <p:sldId id="856" r:id="rId13"/>
    <p:sldId id="860" r:id="rId14"/>
    <p:sldId id="861" r:id="rId15"/>
    <p:sldId id="863" r:id="rId16"/>
    <p:sldId id="866" r:id="rId17"/>
    <p:sldId id="865" r:id="rId18"/>
    <p:sldId id="256" r:id="rId19"/>
    <p:sldId id="407" r:id="rId20"/>
    <p:sldId id="408" r:id="rId21"/>
    <p:sldId id="413" r:id="rId22"/>
    <p:sldId id="547" r:id="rId23"/>
    <p:sldId id="645" r:id="rId24"/>
    <p:sldId id="646" r:id="rId25"/>
    <p:sldId id="647" r:id="rId26"/>
    <p:sldId id="648" r:id="rId27"/>
    <p:sldId id="420" r:id="rId28"/>
    <p:sldId id="410" r:id="rId29"/>
    <p:sldId id="411" r:id="rId30"/>
    <p:sldId id="400" r:id="rId31"/>
    <p:sldId id="399" r:id="rId32"/>
    <p:sldId id="421" r:id="rId33"/>
    <p:sldId id="422" r:id="rId34"/>
    <p:sldId id="418" r:id="rId35"/>
    <p:sldId id="657" r:id="rId36"/>
    <p:sldId id="424" r:id="rId37"/>
    <p:sldId id="426" r:id="rId38"/>
    <p:sldId id="425" r:id="rId39"/>
    <p:sldId id="412" r:id="rId40"/>
    <p:sldId id="423" r:id="rId41"/>
    <p:sldId id="409" r:id="rId42"/>
    <p:sldId id="406" r:id="rId43"/>
    <p:sldId id="427" r:id="rId44"/>
    <p:sldId id="428" r:id="rId45"/>
    <p:sldId id="401" r:id="rId46"/>
    <p:sldId id="430" r:id="rId47"/>
    <p:sldId id="301" r:id="rId48"/>
    <p:sldId id="445" r:id="rId49"/>
    <p:sldId id="444" r:id="rId50"/>
    <p:sldId id="327" r:id="rId51"/>
    <p:sldId id="649" r:id="rId52"/>
    <p:sldId id="650" r:id="rId53"/>
    <p:sldId id="651" r:id="rId54"/>
    <p:sldId id="654" r:id="rId55"/>
    <p:sldId id="642" r:id="rId56"/>
    <p:sldId id="652" r:id="rId57"/>
    <p:sldId id="660" r:id="rId58"/>
    <p:sldId id="661" r:id="rId59"/>
    <p:sldId id="655" r:id="rId60"/>
    <p:sldId id="867" r:id="rId61"/>
    <p:sldId id="653" r:id="rId62"/>
    <p:sldId id="659" r:id="rId63"/>
    <p:sldId id="664" r:id="rId64"/>
    <p:sldId id="658" r:id="rId65"/>
    <p:sldId id="854" r:id="rId66"/>
    <p:sldId id="663" r:id="rId67"/>
    <p:sldId id="662" r:id="rId68"/>
    <p:sldId id="853" r:id="rId69"/>
    <p:sldId id="667" r:id="rId70"/>
    <p:sldId id="643" r:id="rId71"/>
    <p:sldId id="640" r:id="rId72"/>
  </p:sldIdLst>
  <p:sldSz cx="9144000" cy="6858000" type="screen4x3"/>
  <p:notesSz cx="6858000" cy="9144000"/>
  <p:defaultTextStyle>
    <a:defPPr>
      <a:defRPr lang="en-US"/>
    </a:defPPr>
    <a:lvl1pPr algn="l" rtl="0" fontAlgn="base">
      <a:spcBef>
        <a:spcPct val="0"/>
      </a:spcBef>
      <a:spcAft>
        <a:spcPct val="0"/>
      </a:spcAft>
      <a:defRPr sz="2400" kern="1200">
        <a:solidFill>
          <a:schemeClr val="tx1"/>
        </a:solidFill>
        <a:latin typeface="Arial" panose="020B0604020202020204" pitchFamily="34" charset="0"/>
        <a:ea typeface="ＭＳ Ｐゴシック" panose="020B0600070205080204" pitchFamily="34" charset="-128"/>
        <a:cs typeface="+mn-cs"/>
      </a:defRPr>
    </a:lvl1pPr>
    <a:lvl2pPr marL="457200" algn="l" rtl="0" fontAlgn="base">
      <a:spcBef>
        <a:spcPct val="0"/>
      </a:spcBef>
      <a:spcAft>
        <a:spcPct val="0"/>
      </a:spcAft>
      <a:defRPr sz="2400" kern="1200">
        <a:solidFill>
          <a:schemeClr val="tx1"/>
        </a:solidFill>
        <a:latin typeface="Arial" panose="020B0604020202020204" pitchFamily="34" charset="0"/>
        <a:ea typeface="ＭＳ Ｐゴシック" panose="020B0600070205080204" pitchFamily="34" charset="-128"/>
        <a:cs typeface="+mn-cs"/>
      </a:defRPr>
    </a:lvl2pPr>
    <a:lvl3pPr marL="914400" algn="l" rtl="0" fontAlgn="base">
      <a:spcBef>
        <a:spcPct val="0"/>
      </a:spcBef>
      <a:spcAft>
        <a:spcPct val="0"/>
      </a:spcAft>
      <a:defRPr sz="2400" kern="1200">
        <a:solidFill>
          <a:schemeClr val="tx1"/>
        </a:solidFill>
        <a:latin typeface="Arial" panose="020B0604020202020204" pitchFamily="34" charset="0"/>
        <a:ea typeface="ＭＳ Ｐゴシック" panose="020B0600070205080204" pitchFamily="34" charset="-128"/>
        <a:cs typeface="+mn-cs"/>
      </a:defRPr>
    </a:lvl3pPr>
    <a:lvl4pPr marL="1371600" algn="l" rtl="0" fontAlgn="base">
      <a:spcBef>
        <a:spcPct val="0"/>
      </a:spcBef>
      <a:spcAft>
        <a:spcPct val="0"/>
      </a:spcAft>
      <a:defRPr sz="2400" kern="1200">
        <a:solidFill>
          <a:schemeClr val="tx1"/>
        </a:solidFill>
        <a:latin typeface="Arial" panose="020B0604020202020204" pitchFamily="34" charset="0"/>
        <a:ea typeface="ＭＳ Ｐゴシック" panose="020B0600070205080204" pitchFamily="34" charset="-128"/>
        <a:cs typeface="+mn-cs"/>
      </a:defRPr>
    </a:lvl4pPr>
    <a:lvl5pPr marL="1828800" algn="l" rtl="0" fontAlgn="base">
      <a:spcBef>
        <a:spcPct val="0"/>
      </a:spcBef>
      <a:spcAft>
        <a:spcPct val="0"/>
      </a:spcAft>
      <a:defRPr sz="2400" kern="1200">
        <a:solidFill>
          <a:schemeClr val="tx1"/>
        </a:solidFill>
        <a:latin typeface="Arial" panose="020B0604020202020204" pitchFamily="34" charset="0"/>
        <a:ea typeface="ＭＳ Ｐゴシック" panose="020B0600070205080204" pitchFamily="34" charset="-128"/>
        <a:cs typeface="+mn-cs"/>
      </a:defRPr>
    </a:lvl5pPr>
    <a:lvl6pPr marL="2286000" algn="l" defTabSz="914400" rtl="0" eaLnBrk="1" latinLnBrk="0" hangingPunct="1">
      <a:defRPr sz="2400" kern="1200">
        <a:solidFill>
          <a:schemeClr val="tx1"/>
        </a:solidFill>
        <a:latin typeface="Arial" panose="020B0604020202020204" pitchFamily="34" charset="0"/>
        <a:ea typeface="ＭＳ Ｐゴシック" panose="020B0600070205080204" pitchFamily="34" charset="-128"/>
        <a:cs typeface="+mn-cs"/>
      </a:defRPr>
    </a:lvl6pPr>
    <a:lvl7pPr marL="2743200" algn="l" defTabSz="914400" rtl="0" eaLnBrk="1" latinLnBrk="0" hangingPunct="1">
      <a:defRPr sz="2400" kern="1200">
        <a:solidFill>
          <a:schemeClr val="tx1"/>
        </a:solidFill>
        <a:latin typeface="Arial" panose="020B0604020202020204" pitchFamily="34" charset="0"/>
        <a:ea typeface="ＭＳ Ｐゴシック" panose="020B0600070205080204" pitchFamily="34" charset="-128"/>
        <a:cs typeface="+mn-cs"/>
      </a:defRPr>
    </a:lvl7pPr>
    <a:lvl8pPr marL="3200400" algn="l" defTabSz="914400" rtl="0" eaLnBrk="1" latinLnBrk="0" hangingPunct="1">
      <a:defRPr sz="2400" kern="1200">
        <a:solidFill>
          <a:schemeClr val="tx1"/>
        </a:solidFill>
        <a:latin typeface="Arial" panose="020B0604020202020204" pitchFamily="34" charset="0"/>
        <a:ea typeface="ＭＳ Ｐゴシック" panose="020B0600070205080204" pitchFamily="34" charset="-128"/>
        <a:cs typeface="+mn-cs"/>
      </a:defRPr>
    </a:lvl8pPr>
    <a:lvl9pPr marL="3657600" algn="l" defTabSz="914400" rtl="0" eaLnBrk="1" latinLnBrk="0" hangingPunct="1">
      <a:defRPr sz="2400" kern="1200">
        <a:solidFill>
          <a:schemeClr val="tx1"/>
        </a:solidFill>
        <a:latin typeface="Arial" panose="020B0604020202020204" pitchFamily="34" charset="0"/>
        <a:ea typeface="ＭＳ Ｐゴシック" panose="020B0600070205080204" pitchFamily="34" charset="-128"/>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0791"/>
    <p:restoredTop sz="93617"/>
  </p:normalViewPr>
  <p:slideViewPr>
    <p:cSldViewPr>
      <p:cViewPr>
        <p:scale>
          <a:sx n="102" d="100"/>
          <a:sy n="102" d="100"/>
        </p:scale>
        <p:origin x="952" y="704"/>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100" d="100"/>
        <a:sy n="100" d="100"/>
      </p:scale>
      <p:origin x="0" y="5736"/>
    </p:cViewPr>
  </p:sorter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4.xml"/><Relationship Id="rId21" Type="http://schemas.openxmlformats.org/officeDocument/2006/relationships/slide" Target="slides/slide19.xml"/><Relationship Id="rId42" Type="http://schemas.openxmlformats.org/officeDocument/2006/relationships/slide" Target="slides/slide40.xml"/><Relationship Id="rId47" Type="http://schemas.openxmlformats.org/officeDocument/2006/relationships/slide" Target="slides/slide45.xml"/><Relationship Id="rId63" Type="http://schemas.openxmlformats.org/officeDocument/2006/relationships/slide" Target="slides/slide61.xml"/><Relationship Id="rId68" Type="http://schemas.openxmlformats.org/officeDocument/2006/relationships/slide" Target="slides/slide66.xml"/><Relationship Id="rId16" Type="http://schemas.openxmlformats.org/officeDocument/2006/relationships/slide" Target="slides/slide14.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slide" Target="slides/slide35.xml"/><Relationship Id="rId40" Type="http://schemas.openxmlformats.org/officeDocument/2006/relationships/slide" Target="slides/slide38.xml"/><Relationship Id="rId45" Type="http://schemas.openxmlformats.org/officeDocument/2006/relationships/slide" Target="slides/slide43.xml"/><Relationship Id="rId53" Type="http://schemas.openxmlformats.org/officeDocument/2006/relationships/slide" Target="slides/slide51.xml"/><Relationship Id="rId58" Type="http://schemas.openxmlformats.org/officeDocument/2006/relationships/slide" Target="slides/slide56.xml"/><Relationship Id="rId66" Type="http://schemas.openxmlformats.org/officeDocument/2006/relationships/slide" Target="slides/slide64.xml"/><Relationship Id="rId74" Type="http://schemas.openxmlformats.org/officeDocument/2006/relationships/presProps" Target="presProps.xml"/><Relationship Id="rId5" Type="http://schemas.openxmlformats.org/officeDocument/2006/relationships/slide" Target="slides/slide3.xml"/><Relationship Id="rId61" Type="http://schemas.openxmlformats.org/officeDocument/2006/relationships/slide" Target="slides/slide59.xml"/><Relationship Id="rId19" Type="http://schemas.openxmlformats.org/officeDocument/2006/relationships/slide" Target="slides/slide1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43" Type="http://schemas.openxmlformats.org/officeDocument/2006/relationships/slide" Target="slides/slide41.xml"/><Relationship Id="rId48" Type="http://schemas.openxmlformats.org/officeDocument/2006/relationships/slide" Target="slides/slide46.xml"/><Relationship Id="rId56" Type="http://schemas.openxmlformats.org/officeDocument/2006/relationships/slide" Target="slides/slide54.xml"/><Relationship Id="rId64" Type="http://schemas.openxmlformats.org/officeDocument/2006/relationships/slide" Target="slides/slide62.xml"/><Relationship Id="rId69" Type="http://schemas.openxmlformats.org/officeDocument/2006/relationships/slide" Target="slides/slide67.xml"/><Relationship Id="rId77" Type="http://schemas.openxmlformats.org/officeDocument/2006/relationships/tableStyles" Target="tableStyles.xml"/><Relationship Id="rId8" Type="http://schemas.openxmlformats.org/officeDocument/2006/relationships/slide" Target="slides/slide6.xml"/><Relationship Id="rId51" Type="http://schemas.openxmlformats.org/officeDocument/2006/relationships/slide" Target="slides/slide49.xml"/><Relationship Id="rId72" Type="http://schemas.openxmlformats.org/officeDocument/2006/relationships/slide" Target="slides/slide70.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 Id="rId46" Type="http://schemas.openxmlformats.org/officeDocument/2006/relationships/slide" Target="slides/slide44.xml"/><Relationship Id="rId59" Type="http://schemas.openxmlformats.org/officeDocument/2006/relationships/slide" Target="slides/slide57.xml"/><Relationship Id="rId67" Type="http://schemas.openxmlformats.org/officeDocument/2006/relationships/slide" Target="slides/slide65.xml"/><Relationship Id="rId20" Type="http://schemas.openxmlformats.org/officeDocument/2006/relationships/slide" Target="slides/slide18.xml"/><Relationship Id="rId41" Type="http://schemas.openxmlformats.org/officeDocument/2006/relationships/slide" Target="slides/slide39.xml"/><Relationship Id="rId54" Type="http://schemas.openxmlformats.org/officeDocument/2006/relationships/slide" Target="slides/slide52.xml"/><Relationship Id="rId62" Type="http://schemas.openxmlformats.org/officeDocument/2006/relationships/slide" Target="slides/slide60.xml"/><Relationship Id="rId70" Type="http://schemas.openxmlformats.org/officeDocument/2006/relationships/slide" Target="slides/slide68.xml"/><Relationship Id="rId75"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4.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49" Type="http://schemas.openxmlformats.org/officeDocument/2006/relationships/slide" Target="slides/slide47.xml"/><Relationship Id="rId57" Type="http://schemas.openxmlformats.org/officeDocument/2006/relationships/slide" Target="slides/slide55.xml"/><Relationship Id="rId10" Type="http://schemas.openxmlformats.org/officeDocument/2006/relationships/slide" Target="slides/slide8.xml"/><Relationship Id="rId31" Type="http://schemas.openxmlformats.org/officeDocument/2006/relationships/slide" Target="slides/slide29.xml"/><Relationship Id="rId44" Type="http://schemas.openxmlformats.org/officeDocument/2006/relationships/slide" Target="slides/slide42.xml"/><Relationship Id="rId52" Type="http://schemas.openxmlformats.org/officeDocument/2006/relationships/slide" Target="slides/slide50.xml"/><Relationship Id="rId60" Type="http://schemas.openxmlformats.org/officeDocument/2006/relationships/slide" Target="slides/slide58.xml"/><Relationship Id="rId65" Type="http://schemas.openxmlformats.org/officeDocument/2006/relationships/slide" Target="slides/slide63.xml"/><Relationship Id="rId73" Type="http://schemas.openxmlformats.org/officeDocument/2006/relationships/notesMaster" Target="notesMasters/notesMaster1.xml"/><Relationship Id="rId4" Type="http://schemas.openxmlformats.org/officeDocument/2006/relationships/slide" Target="slides/slide2.xml"/><Relationship Id="rId9" Type="http://schemas.openxmlformats.org/officeDocument/2006/relationships/slide" Target="slides/slide7.xml"/><Relationship Id="rId13" Type="http://schemas.openxmlformats.org/officeDocument/2006/relationships/slide" Target="slides/slide11.xml"/><Relationship Id="rId18" Type="http://schemas.openxmlformats.org/officeDocument/2006/relationships/slide" Target="slides/slide16.xml"/><Relationship Id="rId39" Type="http://schemas.openxmlformats.org/officeDocument/2006/relationships/slide" Target="slides/slide37.xml"/><Relationship Id="rId34" Type="http://schemas.openxmlformats.org/officeDocument/2006/relationships/slide" Target="slides/slide32.xml"/><Relationship Id="rId50" Type="http://schemas.openxmlformats.org/officeDocument/2006/relationships/slide" Target="slides/slide48.xml"/><Relationship Id="rId55" Type="http://schemas.openxmlformats.org/officeDocument/2006/relationships/slide" Target="slides/slide53.xml"/><Relationship Id="rId76" Type="http://schemas.openxmlformats.org/officeDocument/2006/relationships/theme" Target="theme/theme1.xml"/><Relationship Id="rId7" Type="http://schemas.openxmlformats.org/officeDocument/2006/relationships/slide" Target="slides/slide5.xml"/><Relationship Id="rId71" Type="http://schemas.openxmlformats.org/officeDocument/2006/relationships/slide" Target="slides/slide69.xml"/><Relationship Id="rId2" Type="http://schemas.openxmlformats.org/officeDocument/2006/relationships/slideMaster" Target="slideMasters/slideMaster2.xml"/><Relationship Id="rId29" Type="http://schemas.openxmlformats.org/officeDocument/2006/relationships/slide" Target="slides/slide2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074" name="Rectangle 2">
            <a:extLst>
              <a:ext uri="{FF2B5EF4-FFF2-40B4-BE49-F238E27FC236}">
                <a16:creationId xmlns:a16="http://schemas.microsoft.com/office/drawing/2014/main" id="{AC0DCD4C-DD6B-2142-9DC9-1CA4DF2BD3B7}"/>
              </a:ext>
            </a:extLst>
          </p:cNvPr>
          <p:cNvSpPr>
            <a:spLocks noGrp="1" noChangeArrowheads="1"/>
          </p:cNvSpPr>
          <p:nvPr>
            <p:ph type="hdr" sz="quarter"/>
          </p:nvPr>
        </p:nvSpPr>
        <p:spPr bwMode="auto">
          <a:xfrm>
            <a:off x="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defRPr sz="1200">
                <a:latin typeface="Arial" charset="0"/>
                <a:ea typeface="ＭＳ Ｐゴシック" charset="0"/>
                <a:cs typeface="ＭＳ Ｐゴシック" charset="0"/>
              </a:defRPr>
            </a:lvl1pPr>
          </a:lstStyle>
          <a:p>
            <a:pPr>
              <a:defRPr/>
            </a:pPr>
            <a:endParaRPr lang="en-US"/>
          </a:p>
        </p:txBody>
      </p:sp>
      <p:sp>
        <p:nvSpPr>
          <p:cNvPr id="3075" name="Rectangle 3">
            <a:extLst>
              <a:ext uri="{FF2B5EF4-FFF2-40B4-BE49-F238E27FC236}">
                <a16:creationId xmlns:a16="http://schemas.microsoft.com/office/drawing/2014/main" id="{88693CC3-4FEF-5F44-866A-8F45F22A1EFC}"/>
              </a:ext>
            </a:extLst>
          </p:cNvPr>
          <p:cNvSpPr>
            <a:spLocks noGrp="1" noChangeArrowheads="1"/>
          </p:cNvSpPr>
          <p:nvPr>
            <p:ph type="dt" idx="1"/>
          </p:nvPr>
        </p:nvSpPr>
        <p:spPr bwMode="auto">
          <a:xfrm>
            <a:off x="3884613"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200">
                <a:latin typeface="Arial" charset="0"/>
                <a:ea typeface="ＭＳ Ｐゴシック" charset="0"/>
                <a:cs typeface="ＭＳ Ｐゴシック" charset="0"/>
              </a:defRPr>
            </a:lvl1pPr>
          </a:lstStyle>
          <a:p>
            <a:pPr>
              <a:defRPr/>
            </a:pPr>
            <a:endParaRPr lang="en-US"/>
          </a:p>
        </p:txBody>
      </p:sp>
      <p:sp>
        <p:nvSpPr>
          <p:cNvPr id="56324" name="Rectangle 4">
            <a:extLst>
              <a:ext uri="{FF2B5EF4-FFF2-40B4-BE49-F238E27FC236}">
                <a16:creationId xmlns:a16="http://schemas.microsoft.com/office/drawing/2014/main" id="{083B6356-32C7-E44E-BAD9-081CA5DEC145}"/>
              </a:ext>
            </a:extLst>
          </p:cNvPr>
          <p:cNvSpPr>
            <a:spLocks noGrp="1" noRot="1" noChangeAspect="1" noChangeArrowheads="1" noTextEdit="1"/>
          </p:cNvSpPr>
          <p:nvPr>
            <p:ph type="sldImg" idx="2"/>
          </p:nvPr>
        </p:nvSpPr>
        <p:spPr bwMode="auto">
          <a:xfrm>
            <a:off x="1143000" y="685800"/>
            <a:ext cx="4572000" cy="3429000"/>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077" name="Rectangle 5">
            <a:extLst>
              <a:ext uri="{FF2B5EF4-FFF2-40B4-BE49-F238E27FC236}">
                <a16:creationId xmlns:a16="http://schemas.microsoft.com/office/drawing/2014/main" id="{A775977D-1106-0349-AE68-11719AD86E7E}"/>
              </a:ext>
            </a:extLst>
          </p:cNvPr>
          <p:cNvSpPr>
            <a:spLocks noGrp="1" noChangeArrowheads="1"/>
          </p:cNvSpPr>
          <p:nvPr>
            <p:ph type="body" sz="quarter" idx="3"/>
          </p:nvPr>
        </p:nvSpPr>
        <p:spPr bwMode="auto">
          <a:xfrm>
            <a:off x="685800" y="4343400"/>
            <a:ext cx="5486400" cy="41148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3078" name="Rectangle 6">
            <a:extLst>
              <a:ext uri="{FF2B5EF4-FFF2-40B4-BE49-F238E27FC236}">
                <a16:creationId xmlns:a16="http://schemas.microsoft.com/office/drawing/2014/main" id="{FF640E92-70BB-ED46-BF69-FD480B519259}"/>
              </a:ext>
            </a:extLst>
          </p:cNvPr>
          <p:cNvSpPr>
            <a:spLocks noGrp="1" noChangeArrowheads="1"/>
          </p:cNvSpPr>
          <p:nvPr>
            <p:ph type="ftr" sz="quarter" idx="4"/>
          </p:nvPr>
        </p:nvSpPr>
        <p:spPr bwMode="auto">
          <a:xfrm>
            <a:off x="0"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defRPr sz="1200">
                <a:latin typeface="Arial" charset="0"/>
                <a:ea typeface="ＭＳ Ｐゴシック" charset="0"/>
                <a:cs typeface="ＭＳ Ｐゴシック" charset="0"/>
              </a:defRPr>
            </a:lvl1pPr>
          </a:lstStyle>
          <a:p>
            <a:pPr>
              <a:defRPr/>
            </a:pPr>
            <a:endParaRPr lang="en-US"/>
          </a:p>
        </p:txBody>
      </p:sp>
      <p:sp>
        <p:nvSpPr>
          <p:cNvPr id="3079" name="Rectangle 7">
            <a:extLst>
              <a:ext uri="{FF2B5EF4-FFF2-40B4-BE49-F238E27FC236}">
                <a16:creationId xmlns:a16="http://schemas.microsoft.com/office/drawing/2014/main" id="{F8865276-0FC6-B146-842A-F0402BB9299F}"/>
              </a:ext>
            </a:extLst>
          </p:cNvPr>
          <p:cNvSpPr>
            <a:spLocks noGrp="1" noChangeArrowheads="1"/>
          </p:cNvSpPr>
          <p:nvPr>
            <p:ph type="sldNum" sz="quarter" idx="5"/>
          </p:nvPr>
        </p:nvSpPr>
        <p:spPr bwMode="auto">
          <a:xfrm>
            <a:off x="3884613"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a:defRPr sz="1200"/>
            </a:lvl1pPr>
          </a:lstStyle>
          <a:p>
            <a:fld id="{0D13B836-165A-E84F-8B64-D096F7B4BC99}" type="slidenum">
              <a:rPr lang="en-US" altLang="en-US"/>
              <a:pPr/>
              <a:t>‹#›</a:t>
            </a:fld>
            <a:endParaRPr lang="en-US" altLang="en-US"/>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Arial" charset="0"/>
        <a:ea typeface="ＭＳ Ｐゴシック" charset="0"/>
        <a:cs typeface="ＭＳ Ｐゴシック" charset="0"/>
      </a:defRPr>
    </a:lvl1pPr>
    <a:lvl2pPr marL="457200" algn="l" rtl="0" eaLnBrk="0" fontAlgn="base" hangingPunct="0">
      <a:spcBef>
        <a:spcPct val="30000"/>
      </a:spcBef>
      <a:spcAft>
        <a:spcPct val="0"/>
      </a:spcAft>
      <a:defRPr sz="1200" kern="1200">
        <a:solidFill>
          <a:schemeClr val="tx1"/>
        </a:solidFill>
        <a:latin typeface="Arial" charset="0"/>
        <a:ea typeface="ＭＳ Ｐゴシック" charset="-128"/>
        <a:cs typeface="+mn-cs"/>
      </a:defRPr>
    </a:lvl2pPr>
    <a:lvl3pPr marL="914400" algn="l" rtl="0" eaLnBrk="0" fontAlgn="base" hangingPunct="0">
      <a:spcBef>
        <a:spcPct val="30000"/>
      </a:spcBef>
      <a:spcAft>
        <a:spcPct val="0"/>
      </a:spcAft>
      <a:defRPr sz="1200" kern="1200">
        <a:solidFill>
          <a:schemeClr val="tx1"/>
        </a:solidFill>
        <a:latin typeface="Arial" charset="0"/>
        <a:ea typeface="ＭＳ Ｐゴシック" charset="-128"/>
        <a:cs typeface="+mn-cs"/>
      </a:defRPr>
    </a:lvl3pPr>
    <a:lvl4pPr marL="1371600" algn="l" rtl="0" eaLnBrk="0" fontAlgn="base" hangingPunct="0">
      <a:spcBef>
        <a:spcPct val="30000"/>
      </a:spcBef>
      <a:spcAft>
        <a:spcPct val="0"/>
      </a:spcAft>
      <a:defRPr sz="1200" kern="1200">
        <a:solidFill>
          <a:schemeClr val="tx1"/>
        </a:solidFill>
        <a:latin typeface="Arial" charset="0"/>
        <a:ea typeface="ＭＳ Ｐゴシック" charset="-128"/>
        <a:cs typeface="+mn-cs"/>
      </a:defRPr>
    </a:lvl4pPr>
    <a:lvl5pPr marL="1828800" algn="l" rtl="0" eaLnBrk="0" fontAlgn="base" hangingPunct="0">
      <a:spcBef>
        <a:spcPct val="30000"/>
      </a:spcBef>
      <a:spcAft>
        <a:spcPct val="0"/>
      </a:spcAft>
      <a:defRPr sz="1200" kern="1200">
        <a:solidFill>
          <a:schemeClr val="tx1"/>
        </a:solidFill>
        <a:latin typeface="Arial" charset="0"/>
        <a:ea typeface="ＭＳ Ｐゴシック" charset="-128"/>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3" Type="http://schemas.openxmlformats.org/officeDocument/2006/relationships/hyperlink" Target="https://en.wikipedia.org/wiki/Wollastonite" TargetMode="External"/><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8" Type="http://schemas.openxmlformats.org/officeDocument/2006/relationships/hyperlink" Target="https://en.wikipedia.org/wiki/Canyonlands_National_Park" TargetMode="External"/><Relationship Id="rId13" Type="http://schemas.openxmlformats.org/officeDocument/2006/relationships/hyperlink" Target="https://en.wikipedia.org/wiki/Moenkopi_Formation" TargetMode="External"/><Relationship Id="rId3" Type="http://schemas.openxmlformats.org/officeDocument/2006/relationships/hyperlink" Target="https://en.wikipedia.org/wiki/Permian" TargetMode="External"/><Relationship Id="rId7" Type="http://schemas.openxmlformats.org/officeDocument/2006/relationships/hyperlink" Target="https://en.wikipedia.org/wiki/Capitol_Reef_National_Park" TargetMode="External"/><Relationship Id="rId12" Type="http://schemas.openxmlformats.org/officeDocument/2006/relationships/hyperlink" Target="https://en.wikipedia.org/wiki/Chinle_Formation" TargetMode="External"/><Relationship Id="rId2" Type="http://schemas.openxmlformats.org/officeDocument/2006/relationships/slide" Target="../slides/slide46.xml"/><Relationship Id="rId1" Type="http://schemas.openxmlformats.org/officeDocument/2006/relationships/notesMaster" Target="../notesMasters/notesMaster1.xml"/><Relationship Id="rId6" Type="http://schemas.openxmlformats.org/officeDocument/2006/relationships/hyperlink" Target="https://en.wikipedia.org/wiki/Utah" TargetMode="External"/><Relationship Id="rId11" Type="http://schemas.openxmlformats.org/officeDocument/2006/relationships/hyperlink" Target="https://en.wikipedia.org/wiki/Wingate_Sandstone" TargetMode="External"/><Relationship Id="rId5" Type="http://schemas.openxmlformats.org/officeDocument/2006/relationships/hyperlink" Target="https://en.wikipedia.org/wiki/Colorado_Plateau" TargetMode="External"/><Relationship Id="rId15" Type="http://schemas.openxmlformats.org/officeDocument/2006/relationships/hyperlink" Target="https://en.wikipedia.org/wiki/Glen_Canyon_National_Recreation_Area" TargetMode="External"/><Relationship Id="rId10" Type="http://schemas.openxmlformats.org/officeDocument/2006/relationships/hyperlink" Target="https://en.wikipedia.org/wiki/Kayenta_Formation" TargetMode="External"/><Relationship Id="rId4" Type="http://schemas.openxmlformats.org/officeDocument/2006/relationships/hyperlink" Target="https://en.wikipedia.org/wiki/Jurassic" TargetMode="External"/><Relationship Id="rId9" Type="http://schemas.openxmlformats.org/officeDocument/2006/relationships/hyperlink" Target="https://en.wikipedia.org/wiki/Navajo_Sandstone" TargetMode="External"/><Relationship Id="rId14" Type="http://schemas.openxmlformats.org/officeDocument/2006/relationships/hyperlink" Target="https://en.wikipedia.org/wiki/Cutler_Formation" TargetMode="External"/></Relationships>
</file>

<file path=ppt/notesSlides/_rels/notesSlide17.xml.rels><?xml version="1.0" encoding="UTF-8" standalone="yes"?>
<Relationships xmlns="http://schemas.openxmlformats.org/package/2006/relationships"><Relationship Id="rId8" Type="http://schemas.openxmlformats.org/officeDocument/2006/relationships/hyperlink" Target="https://en.wikipedia.org/wiki/Canyonlands_National_Park" TargetMode="External"/><Relationship Id="rId13" Type="http://schemas.openxmlformats.org/officeDocument/2006/relationships/hyperlink" Target="https://en.wikipedia.org/wiki/Moenkopi_Formation" TargetMode="External"/><Relationship Id="rId3" Type="http://schemas.openxmlformats.org/officeDocument/2006/relationships/hyperlink" Target="https://en.wikipedia.org/wiki/Permian" TargetMode="External"/><Relationship Id="rId7" Type="http://schemas.openxmlformats.org/officeDocument/2006/relationships/hyperlink" Target="https://en.wikipedia.org/wiki/Capitol_Reef_National_Park" TargetMode="External"/><Relationship Id="rId12" Type="http://schemas.openxmlformats.org/officeDocument/2006/relationships/hyperlink" Target="https://en.wikipedia.org/wiki/Chinle_Formation" TargetMode="External"/><Relationship Id="rId2" Type="http://schemas.openxmlformats.org/officeDocument/2006/relationships/slide" Target="../slides/slide47.xml"/><Relationship Id="rId1" Type="http://schemas.openxmlformats.org/officeDocument/2006/relationships/notesMaster" Target="../notesMasters/notesMaster1.xml"/><Relationship Id="rId6" Type="http://schemas.openxmlformats.org/officeDocument/2006/relationships/hyperlink" Target="https://en.wikipedia.org/wiki/Utah" TargetMode="External"/><Relationship Id="rId11" Type="http://schemas.openxmlformats.org/officeDocument/2006/relationships/hyperlink" Target="https://en.wikipedia.org/wiki/Wingate_Sandstone" TargetMode="External"/><Relationship Id="rId5" Type="http://schemas.openxmlformats.org/officeDocument/2006/relationships/hyperlink" Target="https://en.wikipedia.org/wiki/Colorado_Plateau" TargetMode="External"/><Relationship Id="rId15" Type="http://schemas.openxmlformats.org/officeDocument/2006/relationships/hyperlink" Target="https://en.wikipedia.org/wiki/Glen_Canyon_National_Recreation_Area" TargetMode="External"/><Relationship Id="rId10" Type="http://schemas.openxmlformats.org/officeDocument/2006/relationships/hyperlink" Target="https://en.wikipedia.org/wiki/Kayenta_Formation" TargetMode="External"/><Relationship Id="rId4" Type="http://schemas.openxmlformats.org/officeDocument/2006/relationships/hyperlink" Target="https://en.wikipedia.org/wiki/Jurassic" TargetMode="External"/><Relationship Id="rId9" Type="http://schemas.openxmlformats.org/officeDocument/2006/relationships/hyperlink" Target="https://en.wikipedia.org/wiki/Navajo_Sandstone" TargetMode="External"/><Relationship Id="rId14" Type="http://schemas.openxmlformats.org/officeDocument/2006/relationships/hyperlink" Target="https://en.wikipedia.org/wiki/Cutler_Formation" TargetMode="Externa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3" Type="http://schemas.openxmlformats.org/officeDocument/2006/relationships/hyperlink" Target="http://nsidc.org/data/seaice_index" TargetMode="External"/><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7" name="Rectangle 2">
            <a:extLst>
              <a:ext uri="{FF2B5EF4-FFF2-40B4-BE49-F238E27FC236}">
                <a16:creationId xmlns:a16="http://schemas.microsoft.com/office/drawing/2014/main" id="{AC200824-7854-E74E-AA04-A9A8FB3B55B3}"/>
              </a:ext>
            </a:extLst>
          </p:cNvPr>
          <p:cNvSpPr>
            <a:spLocks noGrp="1" noRot="1" noChangeAspect="1" noChangeArrowheads="1" noTextEdit="1"/>
          </p:cNvSpPr>
          <p:nvPr>
            <p:ph type="sldImg"/>
          </p:nvPr>
        </p:nvSpPr>
        <p:spPr>
          <a:ln/>
        </p:spPr>
      </p:sp>
      <p:sp>
        <p:nvSpPr>
          <p:cNvPr id="29698" name="Rectangle 3">
            <a:extLst>
              <a:ext uri="{FF2B5EF4-FFF2-40B4-BE49-F238E27FC236}">
                <a16:creationId xmlns:a16="http://schemas.microsoft.com/office/drawing/2014/main" id="{E7D76027-FC25-934C-ADD5-B00A0EF8F3FE}"/>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ltLang="en-US" dirty="0">
                <a:latin typeface="Arial" panose="020B0604020202020204" pitchFamily="34" charset="0"/>
                <a:ea typeface="ＭＳ Ｐゴシック" panose="020B0600070205080204" pitchFamily="34" charset="-128"/>
                <a:cs typeface="ＭＳ Ｐゴシック" panose="020B0600070205080204" pitchFamily="34" charset="-128"/>
              </a:rPr>
              <a:t>4:01  long</a:t>
            </a:r>
          </a:p>
        </p:txBody>
      </p:sp>
    </p:spTree>
    <p:extLst>
      <p:ext uri="{BB962C8B-B14F-4D97-AF65-F5344CB8AC3E}">
        <p14:creationId xmlns:p14="http://schemas.microsoft.com/office/powerpoint/2010/main" val="382597042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5233" name="Rectangle 7">
            <a:extLst>
              <a:ext uri="{FF2B5EF4-FFF2-40B4-BE49-F238E27FC236}">
                <a16:creationId xmlns:a16="http://schemas.microsoft.com/office/drawing/2014/main" id="{C7A9E491-740A-034C-BEBE-EAE8A4AB8215}"/>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fld id="{6D1AED6F-8CA4-A049-B185-FA4B91462BD3}" type="slidenum">
              <a:rPr lang="en-US" altLang="en-US" sz="1200"/>
              <a:pPr eaLnBrk="1" hangingPunct="1"/>
              <a:t>17</a:t>
            </a:fld>
            <a:endParaRPr lang="en-US" altLang="en-US" sz="1200"/>
          </a:p>
        </p:txBody>
      </p:sp>
      <p:sp>
        <p:nvSpPr>
          <p:cNvPr id="95234" name="Rectangle 2">
            <a:extLst>
              <a:ext uri="{FF2B5EF4-FFF2-40B4-BE49-F238E27FC236}">
                <a16:creationId xmlns:a16="http://schemas.microsoft.com/office/drawing/2014/main" id="{9088D974-6639-CA4E-92EB-00DF3DDBFFD7}"/>
              </a:ext>
            </a:extLst>
          </p:cNvPr>
          <p:cNvSpPr>
            <a:spLocks noGrp="1" noRot="1" noChangeAspect="1" noChangeArrowheads="1" noTextEdit="1"/>
          </p:cNvSpPr>
          <p:nvPr>
            <p:ph type="sldImg"/>
          </p:nvPr>
        </p:nvSpPr>
        <p:spPr>
          <a:ln/>
        </p:spPr>
      </p:sp>
      <p:sp>
        <p:nvSpPr>
          <p:cNvPr id="95235" name="Rectangle 3">
            <a:extLst>
              <a:ext uri="{FF2B5EF4-FFF2-40B4-BE49-F238E27FC236}">
                <a16:creationId xmlns:a16="http://schemas.microsoft.com/office/drawing/2014/main" id="{0E2DE916-7E34-CE4D-8956-5B72253A879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GB" altLang="en-US">
              <a:latin typeface="Arial" panose="020B0604020202020204" pitchFamily="34" charset="0"/>
              <a:ea typeface="ＭＳ Ｐゴシック" panose="020B0600070205080204" pitchFamily="34" charset="-128"/>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377" name="Rectangle 2">
            <a:extLst>
              <a:ext uri="{FF2B5EF4-FFF2-40B4-BE49-F238E27FC236}">
                <a16:creationId xmlns:a16="http://schemas.microsoft.com/office/drawing/2014/main" id="{BE10B20C-8739-1B47-941F-B0C92F0074E8}"/>
              </a:ext>
            </a:extLst>
          </p:cNvPr>
          <p:cNvSpPr>
            <a:spLocks noGrp="1" noRot="1" noChangeAspect="1" noChangeArrowheads="1" noTextEdit="1"/>
          </p:cNvSpPr>
          <p:nvPr>
            <p:ph type="sldImg"/>
          </p:nvPr>
        </p:nvSpPr>
        <p:spPr>
          <a:ln/>
        </p:spPr>
      </p:sp>
      <p:sp>
        <p:nvSpPr>
          <p:cNvPr id="101378" name="Rectangle 3">
            <a:extLst>
              <a:ext uri="{FF2B5EF4-FFF2-40B4-BE49-F238E27FC236}">
                <a16:creationId xmlns:a16="http://schemas.microsoft.com/office/drawing/2014/main" id="{32201F5D-CAE4-C543-B535-6B5007A699E6}"/>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ea typeface="ＭＳ Ｐゴシック" panose="020B0600070205080204" pitchFamily="34" charset="-128"/>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3425" name="Rectangle 2">
            <a:extLst>
              <a:ext uri="{FF2B5EF4-FFF2-40B4-BE49-F238E27FC236}">
                <a16:creationId xmlns:a16="http://schemas.microsoft.com/office/drawing/2014/main" id="{D6E83721-DC43-DB4D-BF33-A99FA33159A8}"/>
              </a:ext>
            </a:extLst>
          </p:cNvPr>
          <p:cNvSpPr>
            <a:spLocks noGrp="1" noRot="1" noChangeAspect="1" noChangeArrowheads="1" noTextEdit="1"/>
          </p:cNvSpPr>
          <p:nvPr>
            <p:ph type="sldImg"/>
          </p:nvPr>
        </p:nvSpPr>
        <p:spPr>
          <a:ln/>
        </p:spPr>
      </p:sp>
      <p:sp>
        <p:nvSpPr>
          <p:cNvPr id="103426" name="Rectangle 3">
            <a:extLst>
              <a:ext uri="{FF2B5EF4-FFF2-40B4-BE49-F238E27FC236}">
                <a16:creationId xmlns:a16="http://schemas.microsoft.com/office/drawing/2014/main" id="{F0E43006-EC42-8247-B73A-4B2E885C76F8}"/>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ea typeface="ＭＳ Ｐゴシック" panose="020B0600070205080204" pitchFamily="34" charset="-128"/>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473" name="Rectangle 2">
            <a:extLst>
              <a:ext uri="{FF2B5EF4-FFF2-40B4-BE49-F238E27FC236}">
                <a16:creationId xmlns:a16="http://schemas.microsoft.com/office/drawing/2014/main" id="{0C301E00-842E-C840-AEC5-9080AACB0A28}"/>
              </a:ext>
            </a:extLst>
          </p:cNvPr>
          <p:cNvSpPr>
            <a:spLocks noGrp="1" noRot="1" noChangeAspect="1" noChangeArrowheads="1" noTextEdit="1"/>
          </p:cNvSpPr>
          <p:nvPr>
            <p:ph type="sldImg"/>
          </p:nvPr>
        </p:nvSpPr>
        <p:spPr>
          <a:ln/>
        </p:spPr>
      </p:sp>
      <p:sp>
        <p:nvSpPr>
          <p:cNvPr id="105474" name="Rectangle 3">
            <a:extLst>
              <a:ext uri="{FF2B5EF4-FFF2-40B4-BE49-F238E27FC236}">
                <a16:creationId xmlns:a16="http://schemas.microsoft.com/office/drawing/2014/main" id="{B08CCA64-9700-F44B-B96F-17435A7A9E9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ea typeface="ＭＳ Ｐゴシック" panose="020B0600070205080204" pitchFamily="34" charset="-128"/>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089" name="Rectangle 2">
            <a:extLst>
              <a:ext uri="{FF2B5EF4-FFF2-40B4-BE49-F238E27FC236}">
                <a16:creationId xmlns:a16="http://schemas.microsoft.com/office/drawing/2014/main" id="{C8065646-C0B6-7449-A2C6-3255BE6E6A6F}"/>
              </a:ext>
            </a:extLst>
          </p:cNvPr>
          <p:cNvSpPr>
            <a:spLocks noGrp="1" noRot="1" noChangeAspect="1" noChangeArrowheads="1" noTextEdit="1"/>
          </p:cNvSpPr>
          <p:nvPr>
            <p:ph type="sldImg"/>
          </p:nvPr>
        </p:nvSpPr>
        <p:spPr>
          <a:ln/>
        </p:spPr>
      </p:sp>
      <p:sp>
        <p:nvSpPr>
          <p:cNvPr id="89090" name="Rectangle 3">
            <a:extLst>
              <a:ext uri="{FF2B5EF4-FFF2-40B4-BE49-F238E27FC236}">
                <a16:creationId xmlns:a16="http://schemas.microsoft.com/office/drawing/2014/main" id="{23F8DD3B-3F1D-2646-B8E8-F883E107F9EC}"/>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dirty="0"/>
              <a:t>An example of such a reaction is the weathering of </a:t>
            </a:r>
            <a:r>
              <a:rPr lang="en-US" dirty="0">
                <a:hlinkClick r:id="rId3" tooltip="Wollastonite"/>
              </a:rPr>
              <a:t>wollastonite</a:t>
            </a:r>
            <a:r>
              <a:rPr lang="en-US" dirty="0"/>
              <a:t>: </a:t>
            </a:r>
          </a:p>
          <a:p>
            <a:r>
              <a:rPr lang="en-US" dirty="0"/>
              <a:t>CaSiO</a:t>
            </a:r>
            <a:r>
              <a:rPr lang="en-US" baseline="-25000" dirty="0"/>
              <a:t>3</a:t>
            </a:r>
            <a:r>
              <a:rPr lang="en-US" dirty="0"/>
              <a:t> + 2CO</a:t>
            </a:r>
            <a:r>
              <a:rPr lang="en-US" baseline="-25000" dirty="0"/>
              <a:t>2</a:t>
            </a:r>
            <a:r>
              <a:rPr lang="en-US" dirty="0"/>
              <a:t> + H</a:t>
            </a:r>
            <a:r>
              <a:rPr lang="en-US" baseline="-25000" dirty="0"/>
              <a:t>2</a:t>
            </a:r>
            <a:r>
              <a:rPr lang="en-US" dirty="0"/>
              <a:t>O → Ca</a:t>
            </a:r>
            <a:r>
              <a:rPr lang="en-US" baseline="30000" dirty="0"/>
              <a:t>2+</a:t>
            </a:r>
            <a:r>
              <a:rPr lang="en-US" dirty="0"/>
              <a:t> + SiO</a:t>
            </a:r>
            <a:r>
              <a:rPr lang="en-US" baseline="-25000" dirty="0"/>
              <a:t>2</a:t>
            </a:r>
            <a:r>
              <a:rPr lang="en-US" dirty="0"/>
              <a:t> + 2HCO</a:t>
            </a:r>
            <a:r>
              <a:rPr lang="en-US" baseline="-25000" dirty="0"/>
              <a:t>3</a:t>
            </a:r>
            <a:r>
              <a:rPr lang="en-US" baseline="30000" dirty="0"/>
              <a:t>−</a:t>
            </a:r>
            <a:endParaRPr lang="en-GB" altLang="en-US" dirty="0">
              <a:latin typeface="Arial" panose="020B0604020202020204" pitchFamily="34" charset="0"/>
              <a:ea typeface="ＭＳ Ｐゴシック" panose="020B0600070205080204" pitchFamily="34" charset="-128"/>
            </a:endParaRPr>
          </a:p>
        </p:txBody>
      </p:sp>
    </p:spTree>
    <p:extLst>
      <p:ext uri="{BB962C8B-B14F-4D97-AF65-F5344CB8AC3E}">
        <p14:creationId xmlns:p14="http://schemas.microsoft.com/office/powerpoint/2010/main" val="214454430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473" name="Rectangle 2">
            <a:extLst>
              <a:ext uri="{FF2B5EF4-FFF2-40B4-BE49-F238E27FC236}">
                <a16:creationId xmlns:a16="http://schemas.microsoft.com/office/drawing/2014/main" id="{0C301E00-842E-C840-AEC5-9080AACB0A28}"/>
              </a:ext>
            </a:extLst>
          </p:cNvPr>
          <p:cNvSpPr>
            <a:spLocks noGrp="1" noRot="1" noChangeAspect="1" noChangeArrowheads="1" noTextEdit="1"/>
          </p:cNvSpPr>
          <p:nvPr>
            <p:ph type="sldImg"/>
          </p:nvPr>
        </p:nvSpPr>
        <p:spPr>
          <a:ln/>
        </p:spPr>
      </p:sp>
      <p:sp>
        <p:nvSpPr>
          <p:cNvPr id="105474" name="Rectangle 3">
            <a:extLst>
              <a:ext uri="{FF2B5EF4-FFF2-40B4-BE49-F238E27FC236}">
                <a16:creationId xmlns:a16="http://schemas.microsoft.com/office/drawing/2014/main" id="{B08CCA64-9700-F44B-B96F-17435A7A9E9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ea typeface="ＭＳ Ｐゴシック" panose="020B0600070205080204" pitchFamily="34" charset="-128"/>
            </a:endParaRPr>
          </a:p>
        </p:txBody>
      </p:sp>
    </p:spTree>
    <p:extLst>
      <p:ext uri="{BB962C8B-B14F-4D97-AF65-F5344CB8AC3E}">
        <p14:creationId xmlns:p14="http://schemas.microsoft.com/office/powerpoint/2010/main" val="219609531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8545" name="Rectangle 2">
            <a:extLst>
              <a:ext uri="{FF2B5EF4-FFF2-40B4-BE49-F238E27FC236}">
                <a16:creationId xmlns:a16="http://schemas.microsoft.com/office/drawing/2014/main" id="{34AA003C-9B11-684F-8074-E92990362741}"/>
              </a:ext>
            </a:extLst>
          </p:cNvPr>
          <p:cNvSpPr>
            <a:spLocks noGrp="1" noRot="1" noChangeAspect="1" noChangeArrowheads="1" noTextEdit="1"/>
          </p:cNvSpPr>
          <p:nvPr>
            <p:ph type="sldImg"/>
          </p:nvPr>
        </p:nvSpPr>
        <p:spPr>
          <a:ln/>
        </p:spPr>
      </p:sp>
      <p:sp>
        <p:nvSpPr>
          <p:cNvPr id="108546" name="Rectangle 3">
            <a:extLst>
              <a:ext uri="{FF2B5EF4-FFF2-40B4-BE49-F238E27FC236}">
                <a16:creationId xmlns:a16="http://schemas.microsoft.com/office/drawing/2014/main" id="{1C94F6BE-E996-C242-ADB3-0B5FF332AFBA}"/>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ea typeface="ＭＳ Ｐゴシック" panose="020B0600070205080204" pitchFamily="34" charset="-128"/>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1" name="Rectangle 7">
            <a:extLst>
              <a:ext uri="{FF2B5EF4-FFF2-40B4-BE49-F238E27FC236}">
                <a16:creationId xmlns:a16="http://schemas.microsoft.com/office/drawing/2014/main" id="{952721CD-FD18-6E41-8838-9F348587507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fld id="{82A21BF4-EB08-2947-B9E3-5BB5432CEA14}" type="slidenum">
              <a:rPr lang="en-GB" altLang="en-US" sz="1200">
                <a:solidFill>
                  <a:srgbClr val="000000"/>
                </a:solidFill>
              </a:rPr>
              <a:pPr eaLnBrk="1" hangingPunct="1"/>
              <a:t>30</a:t>
            </a:fld>
            <a:endParaRPr lang="en-GB" altLang="en-US" sz="1200">
              <a:solidFill>
                <a:srgbClr val="000000"/>
              </a:solidFill>
            </a:endParaRPr>
          </a:p>
        </p:txBody>
      </p:sp>
      <p:sp>
        <p:nvSpPr>
          <p:cNvPr id="112642" name="Rectangle 2">
            <a:extLst>
              <a:ext uri="{FF2B5EF4-FFF2-40B4-BE49-F238E27FC236}">
                <a16:creationId xmlns:a16="http://schemas.microsoft.com/office/drawing/2014/main" id="{667A957B-C965-424D-BF3B-1DEF1874E932}"/>
              </a:ext>
            </a:extLst>
          </p:cNvPr>
          <p:cNvSpPr>
            <a:spLocks noGrp="1" noRot="1" noChangeAspect="1" noChangeArrowheads="1" noTextEdit="1"/>
          </p:cNvSpPr>
          <p:nvPr>
            <p:ph type="sldImg"/>
          </p:nvPr>
        </p:nvSpPr>
        <p:spPr>
          <a:ln/>
        </p:spPr>
      </p:sp>
      <p:sp>
        <p:nvSpPr>
          <p:cNvPr id="112643" name="Rectangle 3">
            <a:extLst>
              <a:ext uri="{FF2B5EF4-FFF2-40B4-BE49-F238E27FC236}">
                <a16:creationId xmlns:a16="http://schemas.microsoft.com/office/drawing/2014/main" id="{B7055D8E-D4EC-2148-9031-C3738777D787}"/>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Arial" panose="020B0604020202020204" pitchFamily="34" charset="0"/>
              <a:ea typeface="ＭＳ Ｐゴシック" panose="020B0600070205080204" pitchFamily="34" charset="-128"/>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5713" name="Rectangle 2">
            <a:extLst>
              <a:ext uri="{FF2B5EF4-FFF2-40B4-BE49-F238E27FC236}">
                <a16:creationId xmlns:a16="http://schemas.microsoft.com/office/drawing/2014/main" id="{7FDAEF99-0077-4044-93DA-4DB7C077192C}"/>
              </a:ext>
            </a:extLst>
          </p:cNvPr>
          <p:cNvSpPr>
            <a:spLocks noGrp="1" noRot="1" noChangeAspect="1" noChangeArrowheads="1" noTextEdit="1"/>
          </p:cNvSpPr>
          <p:nvPr>
            <p:ph type="sldImg"/>
          </p:nvPr>
        </p:nvSpPr>
        <p:spPr>
          <a:ln/>
        </p:spPr>
      </p:sp>
      <p:sp>
        <p:nvSpPr>
          <p:cNvPr id="115714" name="Rectangle 3">
            <a:extLst>
              <a:ext uri="{FF2B5EF4-FFF2-40B4-BE49-F238E27FC236}">
                <a16:creationId xmlns:a16="http://schemas.microsoft.com/office/drawing/2014/main" id="{E9A90A3A-2C6B-EC49-8A18-B494386FE895}"/>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ea typeface="ＭＳ Ｐゴシック" panose="020B0600070205080204" pitchFamily="34" charset="-128"/>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1857" name="Rectangle 2">
            <a:extLst>
              <a:ext uri="{FF2B5EF4-FFF2-40B4-BE49-F238E27FC236}">
                <a16:creationId xmlns:a16="http://schemas.microsoft.com/office/drawing/2014/main" id="{E34964E9-2161-6040-9A46-42C3F115F8C5}"/>
              </a:ext>
            </a:extLst>
          </p:cNvPr>
          <p:cNvSpPr>
            <a:spLocks noGrp="1" noRot="1" noChangeAspect="1" noChangeArrowheads="1" noTextEdit="1"/>
          </p:cNvSpPr>
          <p:nvPr>
            <p:ph type="sldImg"/>
          </p:nvPr>
        </p:nvSpPr>
        <p:spPr>
          <a:ln/>
        </p:spPr>
      </p:sp>
      <p:sp>
        <p:nvSpPr>
          <p:cNvPr id="121858" name="Rectangle 3">
            <a:extLst>
              <a:ext uri="{FF2B5EF4-FFF2-40B4-BE49-F238E27FC236}">
                <a16:creationId xmlns:a16="http://schemas.microsoft.com/office/drawing/2014/main" id="{48712F6D-A251-074E-8AEB-67DA44AEAA94}"/>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ea typeface="ＭＳ Ｐゴシック" panose="020B0600070205080204" pitchFamily="34" charset="-128"/>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4929" name="Rectangle 2">
            <a:extLst>
              <a:ext uri="{FF2B5EF4-FFF2-40B4-BE49-F238E27FC236}">
                <a16:creationId xmlns:a16="http://schemas.microsoft.com/office/drawing/2014/main" id="{89AE10F0-B9B6-D940-8F7F-7A63F5D8C930}"/>
              </a:ext>
            </a:extLst>
          </p:cNvPr>
          <p:cNvSpPr>
            <a:spLocks noGrp="1" noRot="1" noChangeAspect="1" noChangeArrowheads="1"/>
          </p:cNvSpPr>
          <p:nvPr>
            <p:ph type="sldImg"/>
          </p:nvPr>
        </p:nvSpPr>
        <p:spPr>
          <a:solidFill>
            <a:srgbClr val="FFFFFF"/>
          </a:solidFill>
          <a:ln/>
        </p:spPr>
      </p:sp>
      <p:sp>
        <p:nvSpPr>
          <p:cNvPr id="124930" name="Rectangle 3">
            <a:extLst>
              <a:ext uri="{FF2B5EF4-FFF2-40B4-BE49-F238E27FC236}">
                <a16:creationId xmlns:a16="http://schemas.microsoft.com/office/drawing/2014/main" id="{32106C5A-67B6-6644-B93D-E6CF3BF5ED0D}"/>
              </a:ext>
            </a:extLst>
          </p:cNvPr>
          <p:cNvSpPr>
            <a:spLocks noGrp="1" noChangeArrowheads="1"/>
          </p:cNvSpPr>
          <p:nvPr>
            <p:ph type="body" idx="1"/>
          </p:nvPr>
        </p:nvSpPr>
        <p:spPr>
          <a:solidFill>
            <a:srgbClr val="FFFFFF"/>
          </a:solidFill>
          <a:ln>
            <a:solidFill>
              <a:srgbClr val="000000"/>
            </a:solidFill>
          </a:ln>
        </p:spPr>
        <p:txBody>
          <a:bodyPr/>
          <a:lstStyle/>
          <a:p>
            <a:endParaRPr lang="en-GB" altLang="en-US">
              <a:latin typeface="Arial" panose="020B0604020202020204" pitchFamily="34" charset="0"/>
              <a:ea typeface="ＭＳ Ｐゴシック" panose="020B0600070205080204" pitchFamily="34" charset="-128"/>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6977" name="Rectangle 2">
            <a:extLst>
              <a:ext uri="{FF2B5EF4-FFF2-40B4-BE49-F238E27FC236}">
                <a16:creationId xmlns:a16="http://schemas.microsoft.com/office/drawing/2014/main" id="{A2338AC0-DE76-DD4A-96F6-DC070D74AB14}"/>
              </a:ext>
            </a:extLst>
          </p:cNvPr>
          <p:cNvSpPr>
            <a:spLocks noGrp="1" noRot="1" noChangeAspect="1" noChangeArrowheads="1"/>
          </p:cNvSpPr>
          <p:nvPr>
            <p:ph type="sldImg"/>
          </p:nvPr>
        </p:nvSpPr>
        <p:spPr>
          <a:solidFill>
            <a:srgbClr val="FFFFFF"/>
          </a:solidFill>
          <a:ln/>
        </p:spPr>
      </p:sp>
      <p:sp>
        <p:nvSpPr>
          <p:cNvPr id="126978" name="Rectangle 3">
            <a:extLst>
              <a:ext uri="{FF2B5EF4-FFF2-40B4-BE49-F238E27FC236}">
                <a16:creationId xmlns:a16="http://schemas.microsoft.com/office/drawing/2014/main" id="{CA3160CB-2213-4A4E-871F-7DD879E6A873}"/>
              </a:ext>
            </a:extLst>
          </p:cNvPr>
          <p:cNvSpPr>
            <a:spLocks noGrp="1" noChangeArrowheads="1"/>
          </p:cNvSpPr>
          <p:nvPr>
            <p:ph type="body" idx="1"/>
          </p:nvPr>
        </p:nvSpPr>
        <p:spPr>
          <a:solidFill>
            <a:srgbClr val="FFFFFF"/>
          </a:solidFill>
          <a:ln>
            <a:solidFill>
              <a:srgbClr val="000000"/>
            </a:solidFill>
          </a:ln>
        </p:spPr>
        <p:txBody>
          <a:bodyPr/>
          <a:lstStyle/>
          <a:p>
            <a:endParaRPr lang="en-GB" altLang="en-US">
              <a:latin typeface="Arial" panose="020B0604020202020204" pitchFamily="34" charset="0"/>
              <a:ea typeface="ＭＳ Ｐゴシック" panose="020B0600070205080204" pitchFamily="34" charset="-128"/>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9025" name="Rectangle 2">
            <a:extLst>
              <a:ext uri="{FF2B5EF4-FFF2-40B4-BE49-F238E27FC236}">
                <a16:creationId xmlns:a16="http://schemas.microsoft.com/office/drawing/2014/main" id="{0BA1E5D7-29DD-D442-9674-6F581DDBA266}"/>
              </a:ext>
            </a:extLst>
          </p:cNvPr>
          <p:cNvSpPr>
            <a:spLocks noGrp="1" noRot="1" noChangeAspect="1" noChangeArrowheads="1"/>
          </p:cNvSpPr>
          <p:nvPr>
            <p:ph type="sldImg"/>
          </p:nvPr>
        </p:nvSpPr>
        <p:spPr>
          <a:solidFill>
            <a:srgbClr val="FFFFFF"/>
          </a:solidFill>
          <a:ln/>
        </p:spPr>
      </p:sp>
      <p:sp>
        <p:nvSpPr>
          <p:cNvPr id="129026" name="Rectangle 3">
            <a:extLst>
              <a:ext uri="{FF2B5EF4-FFF2-40B4-BE49-F238E27FC236}">
                <a16:creationId xmlns:a16="http://schemas.microsoft.com/office/drawing/2014/main" id="{8BF70010-8B74-214D-9882-97836A92262F}"/>
              </a:ext>
            </a:extLst>
          </p:cNvPr>
          <p:cNvSpPr>
            <a:spLocks noGrp="1" noChangeArrowheads="1"/>
          </p:cNvSpPr>
          <p:nvPr>
            <p:ph type="body" idx="1"/>
          </p:nvPr>
        </p:nvSpPr>
        <p:spPr>
          <a:solidFill>
            <a:srgbClr val="FFFFFF"/>
          </a:solidFill>
          <a:ln>
            <a:solidFill>
              <a:srgbClr val="000000"/>
            </a:solidFill>
          </a:ln>
        </p:spPr>
        <p:txBody>
          <a:bodyPr/>
          <a:lstStyle/>
          <a:p>
            <a:endParaRPr lang="en-GB" altLang="en-US">
              <a:latin typeface="Arial" panose="020B0604020202020204" pitchFamily="34" charset="0"/>
              <a:ea typeface="ＭＳ Ｐゴシック" panose="020B0600070205080204" pitchFamily="34" charset="-128"/>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5169" name="Rectangle 2">
            <a:extLst>
              <a:ext uri="{FF2B5EF4-FFF2-40B4-BE49-F238E27FC236}">
                <a16:creationId xmlns:a16="http://schemas.microsoft.com/office/drawing/2014/main" id="{1A00E846-DFF7-764F-831E-3B60C30E33A4}"/>
              </a:ext>
            </a:extLst>
          </p:cNvPr>
          <p:cNvSpPr>
            <a:spLocks noGrp="1" noRot="1" noChangeAspect="1" noChangeArrowheads="1" noTextEdit="1"/>
          </p:cNvSpPr>
          <p:nvPr>
            <p:ph type="sldImg"/>
          </p:nvPr>
        </p:nvSpPr>
        <p:spPr>
          <a:ln/>
        </p:spPr>
      </p:sp>
      <p:sp>
        <p:nvSpPr>
          <p:cNvPr id="135170" name="Rectangle 3">
            <a:extLst>
              <a:ext uri="{FF2B5EF4-FFF2-40B4-BE49-F238E27FC236}">
                <a16:creationId xmlns:a16="http://schemas.microsoft.com/office/drawing/2014/main" id="{DB1D21E3-1556-7246-9EF3-85967F809C0D}"/>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ea typeface="ＭＳ Ｐゴシック" panose="020B0600070205080204" pitchFamily="34" charset="-128"/>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9265" name="Rectangle 2">
            <a:extLst>
              <a:ext uri="{FF2B5EF4-FFF2-40B4-BE49-F238E27FC236}">
                <a16:creationId xmlns:a16="http://schemas.microsoft.com/office/drawing/2014/main" id="{C289B435-2EA2-7A4E-973B-B85EF127EEBC}"/>
              </a:ext>
            </a:extLst>
          </p:cNvPr>
          <p:cNvSpPr>
            <a:spLocks noGrp="1" noRot="1" noChangeAspect="1" noChangeArrowheads="1"/>
          </p:cNvSpPr>
          <p:nvPr>
            <p:ph type="sldImg"/>
          </p:nvPr>
        </p:nvSpPr>
        <p:spPr>
          <a:solidFill>
            <a:srgbClr val="FFFFFF"/>
          </a:solidFill>
          <a:ln/>
        </p:spPr>
      </p:sp>
      <p:sp>
        <p:nvSpPr>
          <p:cNvPr id="139266" name="Rectangle 3">
            <a:extLst>
              <a:ext uri="{FF2B5EF4-FFF2-40B4-BE49-F238E27FC236}">
                <a16:creationId xmlns:a16="http://schemas.microsoft.com/office/drawing/2014/main" id="{FF5C617A-0DE9-DE47-8437-3C636FECC6E2}"/>
              </a:ext>
            </a:extLst>
          </p:cNvPr>
          <p:cNvSpPr>
            <a:spLocks noGrp="1" noChangeArrowheads="1"/>
          </p:cNvSpPr>
          <p:nvPr>
            <p:ph type="body" idx="1"/>
          </p:nvPr>
        </p:nvSpPr>
        <p:spPr>
          <a:solidFill>
            <a:srgbClr val="FFFFFF"/>
          </a:solidFill>
          <a:ln>
            <a:solidFill>
              <a:srgbClr val="000000"/>
            </a:solidFill>
          </a:ln>
        </p:spPr>
        <p:txBody>
          <a:bodyPr/>
          <a:lstStyle/>
          <a:p>
            <a:r>
              <a:rPr lang="en-GB" altLang="en-US">
                <a:latin typeface="Arial" panose="020B0604020202020204" pitchFamily="34" charset="0"/>
                <a:ea typeface="ＭＳ Ｐゴシック" panose="020B0600070205080204" pitchFamily="34" charset="-128"/>
              </a:rPr>
              <a:t>https://commons.wikimedia.org/wiki/File:SEUtahStrat.JPG</a:t>
            </a:r>
          </a:p>
          <a:p>
            <a:r>
              <a:rPr lang="en-GB" altLang="en-US">
                <a:latin typeface="Arial" panose="020B0604020202020204" pitchFamily="34" charset="0"/>
                <a:ea typeface="ＭＳ Ｐゴシック" panose="020B0600070205080204" pitchFamily="34" charset="-128"/>
              </a:rPr>
              <a:t>The </a:t>
            </a:r>
            <a:r>
              <a:rPr lang="en-GB" altLang="en-US">
                <a:latin typeface="Arial" panose="020B0604020202020204" pitchFamily="34" charset="0"/>
                <a:ea typeface="ＭＳ Ｐゴシック" panose="020B0600070205080204" pitchFamily="34" charset="-128"/>
                <a:hlinkClick r:id="rId3" tooltip="en:Permian"/>
              </a:rPr>
              <a:t>Permian</a:t>
            </a:r>
            <a:r>
              <a:rPr lang="en-GB" altLang="en-US">
                <a:latin typeface="Arial" panose="020B0604020202020204" pitchFamily="34" charset="0"/>
                <a:ea typeface="ＭＳ Ｐゴシック" panose="020B0600070205080204" pitchFamily="34" charset="-128"/>
              </a:rPr>
              <a:t> (bottom) through </a:t>
            </a:r>
            <a:r>
              <a:rPr lang="en-GB" altLang="en-US">
                <a:latin typeface="Arial" panose="020B0604020202020204" pitchFamily="34" charset="0"/>
                <a:ea typeface="ＭＳ Ｐゴシック" panose="020B0600070205080204" pitchFamily="34" charset="-128"/>
                <a:hlinkClick r:id="rId4" tooltip="en:Jurassic"/>
              </a:rPr>
              <a:t>Jurassic</a:t>
            </a:r>
            <a:r>
              <a:rPr lang="en-GB" altLang="en-US">
                <a:latin typeface="Arial" panose="020B0604020202020204" pitchFamily="34" charset="0"/>
                <a:ea typeface="ＭＳ Ｐゴシック" panose="020B0600070205080204" pitchFamily="34" charset="-128"/>
              </a:rPr>
              <a:t> (top) stratigraphy of the </a:t>
            </a:r>
            <a:r>
              <a:rPr lang="en-GB" altLang="en-US">
                <a:latin typeface="Arial" panose="020B0604020202020204" pitchFamily="34" charset="0"/>
                <a:ea typeface="ＭＳ Ｐゴシック" panose="020B0600070205080204" pitchFamily="34" charset="-128"/>
                <a:hlinkClick r:id="rId5" tooltip="en:Colorado Plateau"/>
              </a:rPr>
              <a:t>Colorado Plateau</a:t>
            </a:r>
            <a:r>
              <a:rPr lang="en-GB" altLang="en-US">
                <a:latin typeface="Arial" panose="020B0604020202020204" pitchFamily="34" charset="0"/>
                <a:ea typeface="ＭＳ Ｐゴシック" panose="020B0600070205080204" pitchFamily="34" charset="-128"/>
              </a:rPr>
              <a:t> area of southeastern </a:t>
            </a:r>
            <a:r>
              <a:rPr lang="en-GB" altLang="en-US">
                <a:latin typeface="Arial" panose="020B0604020202020204" pitchFamily="34" charset="0"/>
                <a:ea typeface="ＭＳ Ｐゴシック" panose="020B0600070205080204" pitchFamily="34" charset="-128"/>
                <a:hlinkClick r:id="rId6" tooltip="en:Utah"/>
              </a:rPr>
              <a:t>Utah</a:t>
            </a:r>
            <a:r>
              <a:rPr lang="en-GB" altLang="en-US">
                <a:latin typeface="Arial" panose="020B0604020202020204" pitchFamily="34" charset="0"/>
                <a:ea typeface="ＭＳ Ｐゴシック" panose="020B0600070205080204" pitchFamily="34" charset="-128"/>
              </a:rPr>
              <a:t> that makes up much of the famous prominent rock formations in protected areas such as </a:t>
            </a:r>
            <a:r>
              <a:rPr lang="en-GB" altLang="en-US">
                <a:latin typeface="Arial" panose="020B0604020202020204" pitchFamily="34" charset="0"/>
                <a:ea typeface="ＭＳ Ｐゴシック" panose="020B0600070205080204" pitchFamily="34" charset="-128"/>
                <a:hlinkClick r:id="rId7" tooltip="en:Capitol Reef National Park"/>
              </a:rPr>
              <a:t>Capitol Reef National Park</a:t>
            </a:r>
            <a:r>
              <a:rPr lang="en-GB" altLang="en-US">
                <a:latin typeface="Arial" panose="020B0604020202020204" pitchFamily="34" charset="0"/>
                <a:ea typeface="ＭＳ Ｐゴシック" panose="020B0600070205080204" pitchFamily="34" charset="-128"/>
              </a:rPr>
              <a:t> and </a:t>
            </a:r>
            <a:r>
              <a:rPr lang="en-GB" altLang="en-US">
                <a:latin typeface="Arial" panose="020B0604020202020204" pitchFamily="34" charset="0"/>
                <a:ea typeface="ＭＳ Ｐゴシック" panose="020B0600070205080204" pitchFamily="34" charset="-128"/>
                <a:hlinkClick r:id="rId8" tooltip="en:Canyonlands National Park"/>
              </a:rPr>
              <a:t>Canyonlands National Park</a:t>
            </a:r>
            <a:r>
              <a:rPr lang="en-GB" altLang="en-US">
                <a:latin typeface="Arial" panose="020B0604020202020204" pitchFamily="34" charset="0"/>
                <a:ea typeface="ＭＳ Ｐゴシック" panose="020B0600070205080204" pitchFamily="34" charset="-128"/>
              </a:rPr>
              <a:t>. From top to bottom: Rounded tan domes of the </a:t>
            </a:r>
            <a:r>
              <a:rPr lang="en-GB" altLang="en-US">
                <a:latin typeface="Arial" panose="020B0604020202020204" pitchFamily="34" charset="0"/>
                <a:ea typeface="ＭＳ Ｐゴシック" panose="020B0600070205080204" pitchFamily="34" charset="-128"/>
                <a:hlinkClick r:id="rId9" tooltip="en:Navajo Sandstone"/>
              </a:rPr>
              <a:t>Navajo Sandstone</a:t>
            </a:r>
            <a:r>
              <a:rPr lang="en-GB" altLang="en-US">
                <a:latin typeface="Arial" panose="020B0604020202020204" pitchFamily="34" charset="0"/>
                <a:ea typeface="ＭＳ Ｐゴシック" panose="020B0600070205080204" pitchFamily="34" charset="-128"/>
              </a:rPr>
              <a:t>, layered red </a:t>
            </a:r>
            <a:r>
              <a:rPr lang="en-GB" altLang="en-US">
                <a:latin typeface="Arial" panose="020B0604020202020204" pitchFamily="34" charset="0"/>
                <a:ea typeface="ＭＳ Ｐゴシック" panose="020B0600070205080204" pitchFamily="34" charset="-128"/>
                <a:hlinkClick r:id="rId10" tooltip="en:Kayenta Formation"/>
              </a:rPr>
              <a:t>Kayenta Formation</a:t>
            </a:r>
            <a:r>
              <a:rPr lang="en-GB" altLang="en-US">
                <a:latin typeface="Arial" panose="020B0604020202020204" pitchFamily="34" charset="0"/>
                <a:ea typeface="ＭＳ Ｐゴシック" panose="020B0600070205080204" pitchFamily="34" charset="-128"/>
              </a:rPr>
              <a:t>, cliff-forming, vertically-jointed, red </a:t>
            </a:r>
            <a:r>
              <a:rPr lang="en-GB" altLang="en-US">
                <a:latin typeface="Arial" panose="020B0604020202020204" pitchFamily="34" charset="0"/>
                <a:ea typeface="ＭＳ Ｐゴシック" panose="020B0600070205080204" pitchFamily="34" charset="-128"/>
                <a:hlinkClick r:id="rId11" tooltip="en:Wingate Sandstone"/>
              </a:rPr>
              <a:t>Wingate Sandstone</a:t>
            </a:r>
            <a:r>
              <a:rPr lang="en-GB" altLang="en-US">
                <a:latin typeface="Arial" panose="020B0604020202020204" pitchFamily="34" charset="0"/>
                <a:ea typeface="ＭＳ Ｐゴシック" panose="020B0600070205080204" pitchFamily="34" charset="-128"/>
              </a:rPr>
              <a:t>, slope-forming, purplish </a:t>
            </a:r>
            <a:r>
              <a:rPr lang="en-GB" altLang="en-US">
                <a:latin typeface="Arial" panose="020B0604020202020204" pitchFamily="34" charset="0"/>
                <a:ea typeface="ＭＳ Ｐゴシック" panose="020B0600070205080204" pitchFamily="34" charset="-128"/>
                <a:hlinkClick r:id="rId12" tooltip="en:Chinle Formation"/>
              </a:rPr>
              <a:t>Chinle Formation</a:t>
            </a:r>
            <a:r>
              <a:rPr lang="en-GB" altLang="en-US">
                <a:latin typeface="Arial" panose="020B0604020202020204" pitchFamily="34" charset="0"/>
                <a:ea typeface="ＭＳ Ｐゴシック" panose="020B0600070205080204" pitchFamily="34" charset="-128"/>
              </a:rPr>
              <a:t>, layered, lighter-red </a:t>
            </a:r>
            <a:r>
              <a:rPr lang="en-GB" altLang="en-US">
                <a:latin typeface="Arial" panose="020B0604020202020204" pitchFamily="34" charset="0"/>
                <a:ea typeface="ＭＳ Ｐゴシック" panose="020B0600070205080204" pitchFamily="34" charset="-128"/>
                <a:hlinkClick r:id="rId13" tooltip="en:Moenkopi Formation"/>
              </a:rPr>
              <a:t>Moenkopi Formation</a:t>
            </a:r>
            <a:r>
              <a:rPr lang="en-GB" altLang="en-US">
                <a:latin typeface="Arial" panose="020B0604020202020204" pitchFamily="34" charset="0"/>
                <a:ea typeface="ＭＳ Ｐゴシック" panose="020B0600070205080204" pitchFamily="34" charset="-128"/>
              </a:rPr>
              <a:t>, and white, layered </a:t>
            </a:r>
            <a:r>
              <a:rPr lang="en-GB" altLang="en-US">
                <a:latin typeface="Arial" panose="020B0604020202020204" pitchFamily="34" charset="0"/>
                <a:ea typeface="ＭＳ Ｐゴシック" panose="020B0600070205080204" pitchFamily="34" charset="-128"/>
                <a:hlinkClick r:id="rId14" tooltip="en:Cutler Formation"/>
              </a:rPr>
              <a:t>Cutler Formation</a:t>
            </a:r>
            <a:r>
              <a:rPr lang="en-GB" altLang="en-US">
                <a:latin typeface="Arial" panose="020B0604020202020204" pitchFamily="34" charset="0"/>
                <a:ea typeface="ＭＳ Ｐゴシック" panose="020B0600070205080204" pitchFamily="34" charset="-128"/>
              </a:rPr>
              <a:t> sandstone. Picture from </a:t>
            </a:r>
            <a:r>
              <a:rPr lang="en-GB" altLang="en-US">
                <a:latin typeface="Arial" panose="020B0604020202020204" pitchFamily="34" charset="0"/>
                <a:ea typeface="ＭＳ Ｐゴシック" panose="020B0600070205080204" pitchFamily="34" charset="-128"/>
                <a:hlinkClick r:id="rId15" tooltip="en:Glen Canyon National Recreation Area"/>
              </a:rPr>
              <a:t>Glen Canyon National Recreation Area</a:t>
            </a:r>
            <a:r>
              <a:rPr lang="en-GB" altLang="en-US">
                <a:latin typeface="Arial" panose="020B0604020202020204" pitchFamily="34" charset="0"/>
                <a:ea typeface="ＭＳ Ｐゴシック" panose="020B0600070205080204" pitchFamily="34" charset="-128"/>
              </a:rPr>
              <a:t>, Utah.</a:t>
            </a: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1313" name="Rectangle 2">
            <a:extLst>
              <a:ext uri="{FF2B5EF4-FFF2-40B4-BE49-F238E27FC236}">
                <a16:creationId xmlns:a16="http://schemas.microsoft.com/office/drawing/2014/main" id="{179D8CF2-9C7F-9B44-8BA7-AE9BC1B6F7B9}"/>
              </a:ext>
            </a:extLst>
          </p:cNvPr>
          <p:cNvSpPr>
            <a:spLocks noGrp="1" noRot="1" noChangeAspect="1" noChangeArrowheads="1"/>
          </p:cNvSpPr>
          <p:nvPr>
            <p:ph type="sldImg"/>
          </p:nvPr>
        </p:nvSpPr>
        <p:spPr>
          <a:solidFill>
            <a:srgbClr val="FFFFFF"/>
          </a:solidFill>
          <a:ln/>
        </p:spPr>
      </p:sp>
      <p:sp>
        <p:nvSpPr>
          <p:cNvPr id="141314" name="Rectangle 3">
            <a:extLst>
              <a:ext uri="{FF2B5EF4-FFF2-40B4-BE49-F238E27FC236}">
                <a16:creationId xmlns:a16="http://schemas.microsoft.com/office/drawing/2014/main" id="{0661F308-A015-EF43-9A8D-B92CC22F5206}"/>
              </a:ext>
            </a:extLst>
          </p:cNvPr>
          <p:cNvSpPr>
            <a:spLocks noGrp="1" noChangeArrowheads="1"/>
          </p:cNvSpPr>
          <p:nvPr>
            <p:ph type="body" idx="1"/>
          </p:nvPr>
        </p:nvSpPr>
        <p:spPr>
          <a:solidFill>
            <a:srgbClr val="FFFFFF"/>
          </a:solidFill>
          <a:ln>
            <a:solidFill>
              <a:srgbClr val="000000"/>
            </a:solidFill>
          </a:ln>
        </p:spPr>
        <p:txBody>
          <a:bodyPr/>
          <a:lstStyle/>
          <a:p>
            <a:r>
              <a:rPr lang="en-GB" altLang="en-US">
                <a:latin typeface="Arial" panose="020B0604020202020204" pitchFamily="34" charset="0"/>
                <a:ea typeface="ＭＳ Ｐゴシック" panose="020B0600070205080204" pitchFamily="34" charset="-128"/>
              </a:rPr>
              <a:t>https://commons.wikimedia.org/wiki/File:SEUtahStrat.JPG</a:t>
            </a:r>
          </a:p>
          <a:p>
            <a:r>
              <a:rPr lang="en-GB" altLang="en-US">
                <a:latin typeface="Arial" panose="020B0604020202020204" pitchFamily="34" charset="0"/>
                <a:ea typeface="ＭＳ Ｐゴシック" panose="020B0600070205080204" pitchFamily="34" charset="-128"/>
              </a:rPr>
              <a:t>The </a:t>
            </a:r>
            <a:r>
              <a:rPr lang="en-GB" altLang="en-US">
                <a:latin typeface="Arial" panose="020B0604020202020204" pitchFamily="34" charset="0"/>
                <a:ea typeface="ＭＳ Ｐゴシック" panose="020B0600070205080204" pitchFamily="34" charset="-128"/>
                <a:hlinkClick r:id="rId3" tooltip="en:Permian"/>
              </a:rPr>
              <a:t>Permian</a:t>
            </a:r>
            <a:r>
              <a:rPr lang="en-GB" altLang="en-US">
                <a:latin typeface="Arial" panose="020B0604020202020204" pitchFamily="34" charset="0"/>
                <a:ea typeface="ＭＳ Ｐゴシック" panose="020B0600070205080204" pitchFamily="34" charset="-128"/>
              </a:rPr>
              <a:t> (bottom) through </a:t>
            </a:r>
            <a:r>
              <a:rPr lang="en-GB" altLang="en-US">
                <a:latin typeface="Arial" panose="020B0604020202020204" pitchFamily="34" charset="0"/>
                <a:ea typeface="ＭＳ Ｐゴシック" panose="020B0600070205080204" pitchFamily="34" charset="-128"/>
                <a:hlinkClick r:id="rId4" tooltip="en:Jurassic"/>
              </a:rPr>
              <a:t>Jurassic</a:t>
            </a:r>
            <a:r>
              <a:rPr lang="en-GB" altLang="en-US">
                <a:latin typeface="Arial" panose="020B0604020202020204" pitchFamily="34" charset="0"/>
                <a:ea typeface="ＭＳ Ｐゴシック" panose="020B0600070205080204" pitchFamily="34" charset="-128"/>
              </a:rPr>
              <a:t> (top) stratigraphy of the </a:t>
            </a:r>
            <a:r>
              <a:rPr lang="en-GB" altLang="en-US">
                <a:latin typeface="Arial" panose="020B0604020202020204" pitchFamily="34" charset="0"/>
                <a:ea typeface="ＭＳ Ｐゴシック" panose="020B0600070205080204" pitchFamily="34" charset="-128"/>
                <a:hlinkClick r:id="rId5" tooltip="en:Colorado Plateau"/>
              </a:rPr>
              <a:t>Colorado Plateau</a:t>
            </a:r>
            <a:r>
              <a:rPr lang="en-GB" altLang="en-US">
                <a:latin typeface="Arial" panose="020B0604020202020204" pitchFamily="34" charset="0"/>
                <a:ea typeface="ＭＳ Ｐゴシック" panose="020B0600070205080204" pitchFamily="34" charset="-128"/>
              </a:rPr>
              <a:t> area of southeastern </a:t>
            </a:r>
            <a:r>
              <a:rPr lang="en-GB" altLang="en-US">
                <a:latin typeface="Arial" panose="020B0604020202020204" pitchFamily="34" charset="0"/>
                <a:ea typeface="ＭＳ Ｐゴシック" panose="020B0600070205080204" pitchFamily="34" charset="-128"/>
                <a:hlinkClick r:id="rId6" tooltip="en:Utah"/>
              </a:rPr>
              <a:t>Utah</a:t>
            </a:r>
            <a:r>
              <a:rPr lang="en-GB" altLang="en-US">
                <a:latin typeface="Arial" panose="020B0604020202020204" pitchFamily="34" charset="0"/>
                <a:ea typeface="ＭＳ Ｐゴシック" panose="020B0600070205080204" pitchFamily="34" charset="-128"/>
              </a:rPr>
              <a:t> that makes up much of the famous prominent rock formations in protected areas such as </a:t>
            </a:r>
            <a:r>
              <a:rPr lang="en-GB" altLang="en-US">
                <a:latin typeface="Arial" panose="020B0604020202020204" pitchFamily="34" charset="0"/>
                <a:ea typeface="ＭＳ Ｐゴシック" panose="020B0600070205080204" pitchFamily="34" charset="-128"/>
                <a:hlinkClick r:id="rId7" tooltip="en:Capitol Reef National Park"/>
              </a:rPr>
              <a:t>Capitol Reef National Park</a:t>
            </a:r>
            <a:r>
              <a:rPr lang="en-GB" altLang="en-US">
                <a:latin typeface="Arial" panose="020B0604020202020204" pitchFamily="34" charset="0"/>
                <a:ea typeface="ＭＳ Ｐゴシック" panose="020B0600070205080204" pitchFamily="34" charset="-128"/>
              </a:rPr>
              <a:t> and </a:t>
            </a:r>
            <a:r>
              <a:rPr lang="en-GB" altLang="en-US">
                <a:latin typeface="Arial" panose="020B0604020202020204" pitchFamily="34" charset="0"/>
                <a:ea typeface="ＭＳ Ｐゴシック" panose="020B0600070205080204" pitchFamily="34" charset="-128"/>
                <a:hlinkClick r:id="rId8" tooltip="en:Canyonlands National Park"/>
              </a:rPr>
              <a:t>Canyonlands National Park</a:t>
            </a:r>
            <a:r>
              <a:rPr lang="en-GB" altLang="en-US">
                <a:latin typeface="Arial" panose="020B0604020202020204" pitchFamily="34" charset="0"/>
                <a:ea typeface="ＭＳ Ｐゴシック" panose="020B0600070205080204" pitchFamily="34" charset="-128"/>
              </a:rPr>
              <a:t>. From top to bottom: Rounded tan domes of the </a:t>
            </a:r>
            <a:r>
              <a:rPr lang="en-GB" altLang="en-US">
                <a:latin typeface="Arial" panose="020B0604020202020204" pitchFamily="34" charset="0"/>
                <a:ea typeface="ＭＳ Ｐゴシック" panose="020B0600070205080204" pitchFamily="34" charset="-128"/>
                <a:hlinkClick r:id="rId9" tooltip="en:Navajo Sandstone"/>
              </a:rPr>
              <a:t>Navajo Sandstone</a:t>
            </a:r>
            <a:r>
              <a:rPr lang="en-GB" altLang="en-US">
                <a:latin typeface="Arial" panose="020B0604020202020204" pitchFamily="34" charset="0"/>
                <a:ea typeface="ＭＳ Ｐゴシック" panose="020B0600070205080204" pitchFamily="34" charset="-128"/>
              </a:rPr>
              <a:t>, layered red </a:t>
            </a:r>
            <a:r>
              <a:rPr lang="en-GB" altLang="en-US">
                <a:latin typeface="Arial" panose="020B0604020202020204" pitchFamily="34" charset="0"/>
                <a:ea typeface="ＭＳ Ｐゴシック" panose="020B0600070205080204" pitchFamily="34" charset="-128"/>
                <a:hlinkClick r:id="rId10" tooltip="en:Kayenta Formation"/>
              </a:rPr>
              <a:t>Kayenta Formation</a:t>
            </a:r>
            <a:r>
              <a:rPr lang="en-GB" altLang="en-US">
                <a:latin typeface="Arial" panose="020B0604020202020204" pitchFamily="34" charset="0"/>
                <a:ea typeface="ＭＳ Ｐゴシック" panose="020B0600070205080204" pitchFamily="34" charset="-128"/>
              </a:rPr>
              <a:t>, cliff-forming, vertically-jointed, red </a:t>
            </a:r>
            <a:r>
              <a:rPr lang="en-GB" altLang="en-US">
                <a:latin typeface="Arial" panose="020B0604020202020204" pitchFamily="34" charset="0"/>
                <a:ea typeface="ＭＳ Ｐゴシック" panose="020B0600070205080204" pitchFamily="34" charset="-128"/>
                <a:hlinkClick r:id="rId11" tooltip="en:Wingate Sandstone"/>
              </a:rPr>
              <a:t>Wingate Sandstone</a:t>
            </a:r>
            <a:r>
              <a:rPr lang="en-GB" altLang="en-US">
                <a:latin typeface="Arial" panose="020B0604020202020204" pitchFamily="34" charset="0"/>
                <a:ea typeface="ＭＳ Ｐゴシック" panose="020B0600070205080204" pitchFamily="34" charset="-128"/>
              </a:rPr>
              <a:t>, slope-forming, purplish </a:t>
            </a:r>
            <a:r>
              <a:rPr lang="en-GB" altLang="en-US">
                <a:latin typeface="Arial" panose="020B0604020202020204" pitchFamily="34" charset="0"/>
                <a:ea typeface="ＭＳ Ｐゴシック" panose="020B0600070205080204" pitchFamily="34" charset="-128"/>
                <a:hlinkClick r:id="rId12" tooltip="en:Chinle Formation"/>
              </a:rPr>
              <a:t>Chinle Formation</a:t>
            </a:r>
            <a:r>
              <a:rPr lang="en-GB" altLang="en-US">
                <a:latin typeface="Arial" panose="020B0604020202020204" pitchFamily="34" charset="0"/>
                <a:ea typeface="ＭＳ Ｐゴシック" panose="020B0600070205080204" pitchFamily="34" charset="-128"/>
              </a:rPr>
              <a:t>, layered, lighter-red </a:t>
            </a:r>
            <a:r>
              <a:rPr lang="en-GB" altLang="en-US">
                <a:latin typeface="Arial" panose="020B0604020202020204" pitchFamily="34" charset="0"/>
                <a:ea typeface="ＭＳ Ｐゴシック" panose="020B0600070205080204" pitchFamily="34" charset="-128"/>
                <a:hlinkClick r:id="rId13" tooltip="en:Moenkopi Formation"/>
              </a:rPr>
              <a:t>Moenkopi Formation</a:t>
            </a:r>
            <a:r>
              <a:rPr lang="en-GB" altLang="en-US">
                <a:latin typeface="Arial" panose="020B0604020202020204" pitchFamily="34" charset="0"/>
                <a:ea typeface="ＭＳ Ｐゴシック" panose="020B0600070205080204" pitchFamily="34" charset="-128"/>
              </a:rPr>
              <a:t>, and white, layered </a:t>
            </a:r>
            <a:r>
              <a:rPr lang="en-GB" altLang="en-US">
                <a:latin typeface="Arial" panose="020B0604020202020204" pitchFamily="34" charset="0"/>
                <a:ea typeface="ＭＳ Ｐゴシック" panose="020B0600070205080204" pitchFamily="34" charset="-128"/>
                <a:hlinkClick r:id="rId14" tooltip="en:Cutler Formation"/>
              </a:rPr>
              <a:t>Cutler Formation</a:t>
            </a:r>
            <a:r>
              <a:rPr lang="en-GB" altLang="en-US">
                <a:latin typeface="Arial" panose="020B0604020202020204" pitchFamily="34" charset="0"/>
                <a:ea typeface="ＭＳ Ｐゴシック" panose="020B0600070205080204" pitchFamily="34" charset="-128"/>
              </a:rPr>
              <a:t> sandstone. Picture from </a:t>
            </a:r>
            <a:r>
              <a:rPr lang="en-GB" altLang="en-US">
                <a:latin typeface="Arial" panose="020B0604020202020204" pitchFamily="34" charset="0"/>
                <a:ea typeface="ＭＳ Ｐゴシック" panose="020B0600070205080204" pitchFamily="34" charset="-128"/>
                <a:hlinkClick r:id="rId15" tooltip="en:Glen Canyon National Recreation Area"/>
              </a:rPr>
              <a:t>Glen Canyon National Recreation Area</a:t>
            </a:r>
            <a:r>
              <a:rPr lang="en-GB" altLang="en-US">
                <a:latin typeface="Arial" panose="020B0604020202020204" pitchFamily="34" charset="0"/>
                <a:ea typeface="ＭＳ Ｐゴシック" panose="020B0600070205080204" pitchFamily="34" charset="-128"/>
              </a:rPr>
              <a:t>, Utah.</a:t>
            </a: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61" name="Rectangle 2">
            <a:extLst>
              <a:ext uri="{FF2B5EF4-FFF2-40B4-BE49-F238E27FC236}">
                <a16:creationId xmlns:a16="http://schemas.microsoft.com/office/drawing/2014/main" id="{64C5A355-3D27-4643-9B02-3CFD8FB9EA9D}"/>
              </a:ext>
            </a:extLst>
          </p:cNvPr>
          <p:cNvSpPr>
            <a:spLocks noGrp="1" noRot="1" noChangeAspect="1" noChangeArrowheads="1"/>
          </p:cNvSpPr>
          <p:nvPr>
            <p:ph type="sldImg"/>
          </p:nvPr>
        </p:nvSpPr>
        <p:spPr>
          <a:solidFill>
            <a:srgbClr val="FFFFFF"/>
          </a:solidFill>
          <a:ln/>
        </p:spPr>
      </p:sp>
      <p:sp>
        <p:nvSpPr>
          <p:cNvPr id="143362" name="Rectangle 3">
            <a:extLst>
              <a:ext uri="{FF2B5EF4-FFF2-40B4-BE49-F238E27FC236}">
                <a16:creationId xmlns:a16="http://schemas.microsoft.com/office/drawing/2014/main" id="{F7C921BD-9099-A844-81C5-FE1B6F7410D7}"/>
              </a:ext>
            </a:extLst>
          </p:cNvPr>
          <p:cNvSpPr>
            <a:spLocks noGrp="1" noChangeArrowheads="1"/>
          </p:cNvSpPr>
          <p:nvPr>
            <p:ph type="body" idx="1"/>
          </p:nvPr>
        </p:nvSpPr>
        <p:spPr>
          <a:solidFill>
            <a:srgbClr val="FFFFFF"/>
          </a:solidFill>
          <a:ln>
            <a:solidFill>
              <a:srgbClr val="000000"/>
            </a:solidFill>
          </a:ln>
        </p:spPr>
        <p:txBody>
          <a:bodyPr/>
          <a:lstStyle/>
          <a:p>
            <a:endParaRPr lang="en-GB" altLang="en-US">
              <a:latin typeface="Arial" panose="020B0604020202020204" pitchFamily="34" charset="0"/>
              <a:ea typeface="ＭＳ Ｐゴシック" panose="020B0600070205080204" pitchFamily="34" charset="-128"/>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5409" name="Rectangle 2">
            <a:extLst>
              <a:ext uri="{FF2B5EF4-FFF2-40B4-BE49-F238E27FC236}">
                <a16:creationId xmlns:a16="http://schemas.microsoft.com/office/drawing/2014/main" id="{3FC37F5A-537F-1A43-8BB6-DBB0EA9993B8}"/>
              </a:ext>
            </a:extLst>
          </p:cNvPr>
          <p:cNvSpPr>
            <a:spLocks noGrp="1" noRot="1" noChangeAspect="1" noChangeArrowheads="1" noTextEdit="1"/>
          </p:cNvSpPr>
          <p:nvPr>
            <p:ph type="sldImg"/>
          </p:nvPr>
        </p:nvSpPr>
        <p:spPr>
          <a:ln/>
        </p:spPr>
      </p:sp>
      <p:sp>
        <p:nvSpPr>
          <p:cNvPr id="145410" name="Rectangle 3">
            <a:extLst>
              <a:ext uri="{FF2B5EF4-FFF2-40B4-BE49-F238E27FC236}">
                <a16:creationId xmlns:a16="http://schemas.microsoft.com/office/drawing/2014/main" id="{CBE3A211-1EDC-4547-B9E5-6CB6F4833FE4}"/>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GB" altLang="en-US">
              <a:latin typeface="Arial" panose="020B0604020202020204" pitchFamily="34" charset="0"/>
              <a:ea typeface="ＭＳ Ｐゴシック" panose="020B0600070205080204" pitchFamily="34" charset="-128"/>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tabLst/>
              <a:defRPr/>
            </a:pPr>
            <a:r>
              <a:rPr lang="en-US" sz="1200" kern="1200" dirty="0">
                <a:solidFill>
                  <a:schemeClr val="tx1"/>
                </a:solidFill>
                <a:effectLst/>
                <a:latin typeface="Arial" charset="0"/>
                <a:ea typeface="ＭＳ Ｐゴシック" charset="0"/>
                <a:cs typeface="ＭＳ Ｐゴシック" charset="0"/>
              </a:rPr>
              <a:t>Fig. 1. Carbon dioxide and climate through the Phanerozoic. (a) Latitudinal extent of continental ice deposits (Crowley 1998) shown as blue bars (left axis) and atmospheric CO2 content (red, right axis) from the compilation of Foster et al. (2017) augmented with the data from Witkowski et al. (2018). The dotted line shows the 95% confidence interval and the shaded band the 68% confidence interval. Note the close correspondence between extensive continental glaciation (i.e. cold icehouse climates) and intervals of low CO2 content (e.g. the Carboniferous), and times of no or limited continental ice (i.e. warm greenhouse climates) with elevated CO2 (e.g. the Cretaceous). (b) A close-up of the last 0.8 million years comparing CO2 from ice cores (red, right axis; Bereiter et al. 2015) with benthic foraminiferal oxygen isotope ratios (</a:t>
            </a:r>
            <a:r>
              <a:rPr lang="el-GR" sz="1200" kern="1200" dirty="0">
                <a:solidFill>
                  <a:schemeClr val="tx1"/>
                </a:solidFill>
                <a:effectLst/>
                <a:latin typeface="Arial" charset="0"/>
                <a:ea typeface="ＭＳ Ｐゴシック" charset="0"/>
                <a:cs typeface="ＭＳ Ｐゴシック" charset="0"/>
              </a:rPr>
              <a:t>δ18</a:t>
            </a:r>
            <a:r>
              <a:rPr lang="en-US" sz="1200" kern="1200" dirty="0">
                <a:solidFill>
                  <a:schemeClr val="tx1"/>
                </a:solidFill>
                <a:effectLst/>
                <a:latin typeface="Arial" charset="0"/>
                <a:ea typeface="ＭＳ Ｐゴシック" charset="0"/>
                <a:cs typeface="ＭＳ Ｐゴシック" charset="0"/>
              </a:rPr>
              <a:t>O) (blue, left axis; from </a:t>
            </a:r>
            <a:r>
              <a:rPr lang="en-US" sz="1200" kern="1200" dirty="0" err="1">
                <a:solidFill>
                  <a:schemeClr val="tx1"/>
                </a:solidFill>
                <a:effectLst/>
                <a:latin typeface="Arial" charset="0"/>
                <a:ea typeface="ＭＳ Ｐゴシック" charset="0"/>
                <a:cs typeface="ＭＳ Ｐゴシック" charset="0"/>
              </a:rPr>
              <a:t>Lisiecki</a:t>
            </a:r>
            <a:r>
              <a:rPr lang="en-US" sz="1200" kern="1200" dirty="0">
                <a:solidFill>
                  <a:schemeClr val="tx1"/>
                </a:solidFill>
                <a:effectLst/>
                <a:latin typeface="Arial" charset="0"/>
                <a:ea typeface="ＭＳ Ｐゴシック" charset="0"/>
                <a:cs typeface="ＭＳ Ｐゴシック" charset="0"/>
              </a:rPr>
              <a:t> and </a:t>
            </a:r>
            <a:r>
              <a:rPr lang="en-US" sz="1200" kern="1200" dirty="0" err="1">
                <a:solidFill>
                  <a:schemeClr val="tx1"/>
                </a:solidFill>
                <a:effectLst/>
                <a:latin typeface="Arial" charset="0"/>
                <a:ea typeface="ＭＳ Ｐゴシック" charset="0"/>
                <a:cs typeface="ＭＳ Ｐゴシック" charset="0"/>
              </a:rPr>
              <a:t>Raymo</a:t>
            </a:r>
            <a:r>
              <a:rPr lang="en-US" sz="1200" kern="1200" dirty="0">
                <a:solidFill>
                  <a:schemeClr val="tx1"/>
                </a:solidFill>
                <a:effectLst/>
                <a:latin typeface="Arial" charset="0"/>
                <a:ea typeface="ＭＳ Ｐゴシック" charset="0"/>
                <a:cs typeface="ＭＳ Ｐゴシック" charset="0"/>
              </a:rPr>
              <a:t> 2005). Benthic foraminiferal </a:t>
            </a:r>
            <a:r>
              <a:rPr lang="el-GR" sz="1200" kern="1200" dirty="0">
                <a:solidFill>
                  <a:schemeClr val="tx1"/>
                </a:solidFill>
                <a:effectLst/>
                <a:latin typeface="Arial" charset="0"/>
                <a:ea typeface="ＭＳ Ｐゴシック" charset="0"/>
                <a:cs typeface="ＭＳ Ｐゴシック" charset="0"/>
              </a:rPr>
              <a:t>δ18</a:t>
            </a:r>
            <a:r>
              <a:rPr lang="en-US" sz="1200" kern="1200" dirty="0">
                <a:solidFill>
                  <a:schemeClr val="tx1"/>
                </a:solidFill>
                <a:effectLst/>
                <a:latin typeface="Arial" charset="0"/>
                <a:ea typeface="ＭＳ Ｐゴシック" charset="0"/>
                <a:cs typeface="ＭＳ Ｐゴシック" charset="0"/>
              </a:rPr>
              <a:t>O reflects a combination of bottom water temperature and ice volume, cold glacial climates are towards the bottom of the diagram and warm interglacial intervals are at the top of the diagram. Again a close correspondence exists between cold intervals and low CO2 (and vice versa). In (b) the relatively rapid cycling between low CO2 </a:t>
            </a:r>
            <a:r>
              <a:rPr lang="en-US" sz="1200" kern="1200" dirty="0" err="1">
                <a:solidFill>
                  <a:schemeClr val="tx1"/>
                </a:solidFill>
                <a:effectLst/>
                <a:latin typeface="Arial" charset="0"/>
                <a:ea typeface="ＭＳ Ｐゴシック" charset="0"/>
                <a:cs typeface="ＭＳ Ｐゴシック" charset="0"/>
              </a:rPr>
              <a:t>glacials</a:t>
            </a:r>
            <a:r>
              <a:rPr lang="en-US" sz="1200" kern="1200" dirty="0">
                <a:solidFill>
                  <a:schemeClr val="tx1"/>
                </a:solidFill>
                <a:effectLst/>
                <a:latin typeface="Arial" charset="0"/>
                <a:ea typeface="ＭＳ Ｐゴシック" charset="0"/>
                <a:cs typeface="ＭＳ Ｐゴシック" charset="0"/>
              </a:rPr>
              <a:t> and high CO2 </a:t>
            </a:r>
            <a:r>
              <a:rPr lang="en-US" sz="1200" kern="1200" dirty="0" err="1">
                <a:solidFill>
                  <a:schemeClr val="tx1"/>
                </a:solidFill>
                <a:effectLst/>
                <a:latin typeface="Arial" charset="0"/>
                <a:ea typeface="ＭＳ Ｐゴシック" charset="0"/>
                <a:cs typeface="ＭＳ Ｐゴシック" charset="0"/>
              </a:rPr>
              <a:t>interglacials</a:t>
            </a:r>
            <a:r>
              <a:rPr lang="en-US" sz="1200" kern="1200" dirty="0">
                <a:solidFill>
                  <a:schemeClr val="tx1"/>
                </a:solidFill>
                <a:effectLst/>
                <a:latin typeface="Arial" charset="0"/>
                <a:ea typeface="ＭＳ Ｐゴシック" charset="0"/>
                <a:cs typeface="ＭＳ Ｐゴシック" charset="0"/>
              </a:rPr>
              <a:t> is paced by orbital forcing (Milankovitch cycles, see text and Box 2). The geological time intervals are shown on the top of panel (a). Abbreviations are as follows: Carb., Carboniferous; Ordo, Ordovician; </a:t>
            </a:r>
            <a:r>
              <a:rPr lang="en-US" sz="1200" kern="1200" dirty="0" err="1">
                <a:solidFill>
                  <a:schemeClr val="tx1"/>
                </a:solidFill>
                <a:effectLst/>
                <a:latin typeface="Arial" charset="0"/>
                <a:ea typeface="ＭＳ Ｐゴシック" charset="0"/>
                <a:cs typeface="ＭＳ Ｐゴシック" charset="0"/>
              </a:rPr>
              <a:t>Paleog</a:t>
            </a:r>
            <a:r>
              <a:rPr lang="en-US" sz="1200" kern="1200" dirty="0">
                <a:solidFill>
                  <a:schemeClr val="tx1"/>
                </a:solidFill>
                <a:effectLst/>
                <a:latin typeface="Arial" charset="0"/>
                <a:ea typeface="ＭＳ Ｐゴシック" charset="0"/>
                <a:cs typeface="ＭＳ Ｐゴシック" charset="0"/>
              </a:rPr>
              <a:t>, Paleogene; </a:t>
            </a:r>
            <a:r>
              <a:rPr lang="en-US" sz="1200" kern="1200" dirty="0" err="1">
                <a:solidFill>
                  <a:schemeClr val="tx1"/>
                </a:solidFill>
                <a:effectLst/>
                <a:latin typeface="Arial" charset="0"/>
                <a:ea typeface="ＭＳ Ｐゴシック" charset="0"/>
                <a:cs typeface="ＭＳ Ｐゴシック" charset="0"/>
              </a:rPr>
              <a:t>Quat</a:t>
            </a:r>
            <a:r>
              <a:rPr lang="en-US" sz="1200" kern="1200" dirty="0">
                <a:solidFill>
                  <a:schemeClr val="tx1"/>
                </a:solidFill>
                <a:effectLst/>
                <a:latin typeface="Arial" charset="0"/>
                <a:ea typeface="ＭＳ Ｐゴシック" charset="0"/>
                <a:cs typeface="ＭＳ Ｐゴシック" charset="0"/>
              </a:rPr>
              <a:t>., Quaternary. </a:t>
            </a:r>
            <a:endParaRPr lang="en-US" dirty="0"/>
          </a:p>
          <a:p>
            <a:endParaRPr lang="en-US" dirty="0"/>
          </a:p>
        </p:txBody>
      </p:sp>
      <p:sp>
        <p:nvSpPr>
          <p:cNvPr id="4" name="Slide Number Placeholder 3"/>
          <p:cNvSpPr>
            <a:spLocks noGrp="1"/>
          </p:cNvSpPr>
          <p:nvPr>
            <p:ph type="sldNum" sz="quarter" idx="5"/>
          </p:nvPr>
        </p:nvSpPr>
        <p:spPr/>
        <p:txBody>
          <a:bodyPr/>
          <a:lstStyle/>
          <a:p>
            <a:fld id="{0D13B836-165A-E84F-8B64-D096F7B4BC99}" type="slidenum">
              <a:rPr lang="en-US" altLang="en-US" smtClean="0"/>
              <a:pPr/>
              <a:t>51</a:t>
            </a:fld>
            <a:endParaRPr lang="en-US" altLang="en-US"/>
          </a:p>
        </p:txBody>
      </p:sp>
    </p:spTree>
    <p:extLst>
      <p:ext uri="{BB962C8B-B14F-4D97-AF65-F5344CB8AC3E}">
        <p14:creationId xmlns:p14="http://schemas.microsoft.com/office/powerpoint/2010/main" val="482034633"/>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tabLst/>
              <a:defRPr/>
            </a:pPr>
            <a:r>
              <a:rPr lang="en-US" sz="1200" kern="1200" dirty="0">
                <a:solidFill>
                  <a:schemeClr val="tx1"/>
                </a:solidFill>
                <a:effectLst/>
                <a:latin typeface="Arial" charset="0"/>
                <a:ea typeface="ＭＳ Ｐゴシック" charset="0"/>
                <a:cs typeface="ＭＳ Ｐゴシック" charset="0"/>
              </a:rPr>
              <a:t>Fig. 1. Carbon dioxide and climate through the Phanerozoic. (a) Latitudinal extent of continental ice deposits (Crowley 1998) shown as blue bars (left axis) and atmospheric CO2 content (red, right axis) from the compilation of Foster et al. (2017) augmented with the data from Witkowski et al. (2018). The dotted line shows the 95% confidence interval and the shaded band the 68% confidence interval. Note the close correspondence between extensive continental glaciation (i.e. cold icehouse climates) and intervals of low CO2 content (e.g. the Carboniferous), and times of no or limited continental ice (i.e. warm greenhouse climates) with elevated CO2 (e.g. the Cretaceous). (b) A close-up of the last 0.8 million years comparing CO2 from ice cores (red, right axis; Bereiter et al. 2015) with benthic foraminiferal oxygen isotope ratios (</a:t>
            </a:r>
            <a:r>
              <a:rPr lang="el-GR" sz="1200" kern="1200" dirty="0">
                <a:solidFill>
                  <a:schemeClr val="tx1"/>
                </a:solidFill>
                <a:effectLst/>
                <a:latin typeface="Arial" charset="0"/>
                <a:ea typeface="ＭＳ Ｐゴシック" charset="0"/>
                <a:cs typeface="ＭＳ Ｐゴシック" charset="0"/>
              </a:rPr>
              <a:t>δ18</a:t>
            </a:r>
            <a:r>
              <a:rPr lang="en-US" sz="1200" kern="1200" dirty="0">
                <a:solidFill>
                  <a:schemeClr val="tx1"/>
                </a:solidFill>
                <a:effectLst/>
                <a:latin typeface="Arial" charset="0"/>
                <a:ea typeface="ＭＳ Ｐゴシック" charset="0"/>
                <a:cs typeface="ＭＳ Ｐゴシック" charset="0"/>
              </a:rPr>
              <a:t>O) (blue, left axis; from </a:t>
            </a:r>
            <a:r>
              <a:rPr lang="en-US" sz="1200" kern="1200" dirty="0" err="1">
                <a:solidFill>
                  <a:schemeClr val="tx1"/>
                </a:solidFill>
                <a:effectLst/>
                <a:latin typeface="Arial" charset="0"/>
                <a:ea typeface="ＭＳ Ｐゴシック" charset="0"/>
                <a:cs typeface="ＭＳ Ｐゴシック" charset="0"/>
              </a:rPr>
              <a:t>Lisiecki</a:t>
            </a:r>
            <a:r>
              <a:rPr lang="en-US" sz="1200" kern="1200" dirty="0">
                <a:solidFill>
                  <a:schemeClr val="tx1"/>
                </a:solidFill>
                <a:effectLst/>
                <a:latin typeface="Arial" charset="0"/>
                <a:ea typeface="ＭＳ Ｐゴシック" charset="0"/>
                <a:cs typeface="ＭＳ Ｐゴシック" charset="0"/>
              </a:rPr>
              <a:t> and </a:t>
            </a:r>
            <a:r>
              <a:rPr lang="en-US" sz="1200" kern="1200" dirty="0" err="1">
                <a:solidFill>
                  <a:schemeClr val="tx1"/>
                </a:solidFill>
                <a:effectLst/>
                <a:latin typeface="Arial" charset="0"/>
                <a:ea typeface="ＭＳ Ｐゴシック" charset="0"/>
                <a:cs typeface="ＭＳ Ｐゴシック" charset="0"/>
              </a:rPr>
              <a:t>Raymo</a:t>
            </a:r>
            <a:r>
              <a:rPr lang="en-US" sz="1200" kern="1200" dirty="0">
                <a:solidFill>
                  <a:schemeClr val="tx1"/>
                </a:solidFill>
                <a:effectLst/>
                <a:latin typeface="Arial" charset="0"/>
                <a:ea typeface="ＭＳ Ｐゴシック" charset="0"/>
                <a:cs typeface="ＭＳ Ｐゴシック" charset="0"/>
              </a:rPr>
              <a:t> 2005). Benthic foraminiferal </a:t>
            </a:r>
            <a:r>
              <a:rPr lang="el-GR" sz="1200" kern="1200" dirty="0">
                <a:solidFill>
                  <a:schemeClr val="tx1"/>
                </a:solidFill>
                <a:effectLst/>
                <a:latin typeface="Arial" charset="0"/>
                <a:ea typeface="ＭＳ Ｐゴシック" charset="0"/>
                <a:cs typeface="ＭＳ Ｐゴシック" charset="0"/>
              </a:rPr>
              <a:t>δ18</a:t>
            </a:r>
            <a:r>
              <a:rPr lang="en-US" sz="1200" kern="1200" dirty="0">
                <a:solidFill>
                  <a:schemeClr val="tx1"/>
                </a:solidFill>
                <a:effectLst/>
                <a:latin typeface="Arial" charset="0"/>
                <a:ea typeface="ＭＳ Ｐゴシック" charset="0"/>
                <a:cs typeface="ＭＳ Ｐゴシック" charset="0"/>
              </a:rPr>
              <a:t>O reflects a combination of bottom water temperature and ice volume, cold glacial climates are towards the bottom of the diagram and warm interglacial intervals are at the top of the diagram. Again a close correspondence exists between cold intervals and low CO2 (and vice versa). In (b) the relatively rapid cycling between low CO2 </a:t>
            </a:r>
            <a:r>
              <a:rPr lang="en-US" sz="1200" kern="1200" dirty="0" err="1">
                <a:solidFill>
                  <a:schemeClr val="tx1"/>
                </a:solidFill>
                <a:effectLst/>
                <a:latin typeface="Arial" charset="0"/>
                <a:ea typeface="ＭＳ Ｐゴシック" charset="0"/>
                <a:cs typeface="ＭＳ Ｐゴシック" charset="0"/>
              </a:rPr>
              <a:t>glacials</a:t>
            </a:r>
            <a:r>
              <a:rPr lang="en-US" sz="1200" kern="1200" dirty="0">
                <a:solidFill>
                  <a:schemeClr val="tx1"/>
                </a:solidFill>
                <a:effectLst/>
                <a:latin typeface="Arial" charset="0"/>
                <a:ea typeface="ＭＳ Ｐゴシック" charset="0"/>
                <a:cs typeface="ＭＳ Ｐゴシック" charset="0"/>
              </a:rPr>
              <a:t> and high CO2 </a:t>
            </a:r>
            <a:r>
              <a:rPr lang="en-US" sz="1200" kern="1200" dirty="0" err="1">
                <a:solidFill>
                  <a:schemeClr val="tx1"/>
                </a:solidFill>
                <a:effectLst/>
                <a:latin typeface="Arial" charset="0"/>
                <a:ea typeface="ＭＳ Ｐゴシック" charset="0"/>
                <a:cs typeface="ＭＳ Ｐゴシック" charset="0"/>
              </a:rPr>
              <a:t>interglacials</a:t>
            </a:r>
            <a:r>
              <a:rPr lang="en-US" sz="1200" kern="1200" dirty="0">
                <a:solidFill>
                  <a:schemeClr val="tx1"/>
                </a:solidFill>
                <a:effectLst/>
                <a:latin typeface="Arial" charset="0"/>
                <a:ea typeface="ＭＳ Ｐゴシック" charset="0"/>
                <a:cs typeface="ＭＳ Ｐゴシック" charset="0"/>
              </a:rPr>
              <a:t> is paced by orbital forcing (Milankovitch cycles, see text and Box 2). The geological time intervals are shown on the top of panel (a). Abbreviations are as follows: Carb., Carboniferous; Ordo, Ordovician; </a:t>
            </a:r>
            <a:r>
              <a:rPr lang="en-US" sz="1200" kern="1200" dirty="0" err="1">
                <a:solidFill>
                  <a:schemeClr val="tx1"/>
                </a:solidFill>
                <a:effectLst/>
                <a:latin typeface="Arial" charset="0"/>
                <a:ea typeface="ＭＳ Ｐゴシック" charset="0"/>
                <a:cs typeface="ＭＳ Ｐゴシック" charset="0"/>
              </a:rPr>
              <a:t>Paleog</a:t>
            </a:r>
            <a:r>
              <a:rPr lang="en-US" sz="1200" kern="1200" dirty="0">
                <a:solidFill>
                  <a:schemeClr val="tx1"/>
                </a:solidFill>
                <a:effectLst/>
                <a:latin typeface="Arial" charset="0"/>
                <a:ea typeface="ＭＳ Ｐゴシック" charset="0"/>
                <a:cs typeface="ＭＳ Ｐゴシック" charset="0"/>
              </a:rPr>
              <a:t>, Paleogene; </a:t>
            </a:r>
            <a:r>
              <a:rPr lang="en-US" sz="1200" kern="1200" dirty="0" err="1">
                <a:solidFill>
                  <a:schemeClr val="tx1"/>
                </a:solidFill>
                <a:effectLst/>
                <a:latin typeface="Arial" charset="0"/>
                <a:ea typeface="ＭＳ Ｐゴシック" charset="0"/>
                <a:cs typeface="ＭＳ Ｐゴシック" charset="0"/>
              </a:rPr>
              <a:t>Quat</a:t>
            </a:r>
            <a:r>
              <a:rPr lang="en-US" sz="1200" kern="1200" dirty="0">
                <a:solidFill>
                  <a:schemeClr val="tx1"/>
                </a:solidFill>
                <a:effectLst/>
                <a:latin typeface="Arial" charset="0"/>
                <a:ea typeface="ＭＳ Ｐゴシック" charset="0"/>
                <a:cs typeface="ＭＳ Ｐゴシック" charset="0"/>
              </a:rPr>
              <a:t>., Quaternary. </a:t>
            </a:r>
            <a:endParaRPr lang="en-US" dirty="0"/>
          </a:p>
          <a:p>
            <a:endParaRPr lang="en-US" dirty="0"/>
          </a:p>
        </p:txBody>
      </p:sp>
      <p:sp>
        <p:nvSpPr>
          <p:cNvPr id="4" name="Slide Number Placeholder 3"/>
          <p:cNvSpPr>
            <a:spLocks noGrp="1"/>
          </p:cNvSpPr>
          <p:nvPr>
            <p:ph type="sldNum" sz="quarter" idx="5"/>
          </p:nvPr>
        </p:nvSpPr>
        <p:spPr/>
        <p:txBody>
          <a:bodyPr/>
          <a:lstStyle/>
          <a:p>
            <a:fld id="{0D13B836-165A-E84F-8B64-D096F7B4BC99}" type="slidenum">
              <a:rPr lang="en-US" altLang="en-US" smtClean="0"/>
              <a:pPr/>
              <a:t>52</a:t>
            </a:fld>
            <a:endParaRPr lang="en-US" altLang="en-US"/>
          </a:p>
        </p:txBody>
      </p:sp>
    </p:spTree>
    <p:extLst>
      <p:ext uri="{BB962C8B-B14F-4D97-AF65-F5344CB8AC3E}">
        <p14:creationId xmlns:p14="http://schemas.microsoft.com/office/powerpoint/2010/main" val="1271848273"/>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tabLst/>
              <a:defRPr/>
            </a:pPr>
            <a:r>
              <a:rPr lang="en-US" sz="1200" b="0" kern="1200" dirty="0">
                <a:solidFill>
                  <a:schemeClr val="tx1"/>
                </a:solidFill>
                <a:effectLst/>
                <a:latin typeface="Arial" charset="0"/>
                <a:ea typeface="ＭＳ Ｐゴシック" charset="0"/>
                <a:cs typeface="ＭＳ Ｐゴシック" charset="0"/>
              </a:rPr>
              <a:t>Fig. 2. Global mean surface temperature change over the last 24 ka. </a:t>
            </a:r>
            <a:r>
              <a:rPr lang="en-US" sz="1200" kern="1200" dirty="0">
                <a:solidFill>
                  <a:schemeClr val="tx1"/>
                </a:solidFill>
                <a:effectLst/>
                <a:latin typeface="Arial" charset="0"/>
                <a:ea typeface="ＭＳ Ｐゴシック" charset="0"/>
                <a:cs typeface="ＭＳ Ｐゴシック" charset="0"/>
              </a:rPr>
              <a:t>Ensemble distribution (n = 300) of LGMR GMST for the past 24 ka (blue colors), with a decadal 95th-percentile range (dotted-dashed lines) estimated using time-evolving GMST decadal-to-centennial mean ratios from </a:t>
            </a:r>
            <a:r>
              <a:rPr lang="en-US" sz="1200" kern="1200" dirty="0" err="1">
                <a:solidFill>
                  <a:schemeClr val="tx1"/>
                </a:solidFill>
                <a:effectLst/>
                <a:latin typeface="Arial" charset="0"/>
                <a:ea typeface="ＭＳ Ｐゴシック" charset="0"/>
                <a:cs typeface="ＭＳ Ｐゴシック" charset="0"/>
              </a:rPr>
              <a:t>iCESM</a:t>
            </a:r>
            <a:r>
              <a:rPr lang="en-US" sz="1200" kern="1200" dirty="0">
                <a:solidFill>
                  <a:schemeClr val="tx1"/>
                </a:solidFill>
                <a:effectLst/>
                <a:latin typeface="Arial" charset="0"/>
                <a:ea typeface="ＭＳ Ｐゴシック" charset="0"/>
                <a:cs typeface="ＭＳ Ｐゴシック" charset="0"/>
              </a:rPr>
              <a:t> (Methods). Shown at top are corresponding spatial surface temperature anomalies for intervals discussed in the main text. The estimated last deglacial and interglacial onset timings are shown as dark and light histograms at bottom (Methods). Juxtaposed alongside the LGMR (right-hand side) are reconstructed decadal GMST’s from the Last Millennium Reanalysis v2.1 18 and HadCRUT5 observational product 11. ∆GMST is computed relative to the pre-industrial last millennium average (1000-1850 CE). </a:t>
            </a:r>
            <a:endParaRPr lang="en-US" dirty="0"/>
          </a:p>
          <a:p>
            <a:endParaRPr lang="en-US" dirty="0"/>
          </a:p>
        </p:txBody>
      </p:sp>
      <p:sp>
        <p:nvSpPr>
          <p:cNvPr id="4" name="Slide Number Placeholder 3"/>
          <p:cNvSpPr>
            <a:spLocks noGrp="1"/>
          </p:cNvSpPr>
          <p:nvPr>
            <p:ph type="sldNum" sz="quarter" idx="5"/>
          </p:nvPr>
        </p:nvSpPr>
        <p:spPr/>
        <p:txBody>
          <a:bodyPr/>
          <a:lstStyle/>
          <a:p>
            <a:fld id="{0D13B836-165A-E84F-8B64-D096F7B4BC99}" type="slidenum">
              <a:rPr lang="en-US" altLang="en-US" smtClean="0"/>
              <a:pPr/>
              <a:t>53</a:t>
            </a:fld>
            <a:endParaRPr lang="en-US" altLang="en-US"/>
          </a:p>
        </p:txBody>
      </p:sp>
    </p:spTree>
    <p:extLst>
      <p:ext uri="{BB962C8B-B14F-4D97-AF65-F5344CB8AC3E}">
        <p14:creationId xmlns:p14="http://schemas.microsoft.com/office/powerpoint/2010/main" val="2328355102"/>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tabLst/>
              <a:defRPr/>
            </a:pPr>
            <a:r>
              <a:rPr lang="en-US" sz="1200" kern="1200" dirty="0">
                <a:solidFill>
                  <a:schemeClr val="tx1"/>
                </a:solidFill>
                <a:effectLst/>
                <a:latin typeface="Arial" charset="0"/>
                <a:ea typeface="ＭＳ Ｐゴシック" charset="0"/>
                <a:cs typeface="ＭＳ Ｐゴシック" charset="0"/>
              </a:rPr>
              <a:t>Fig. 2. (a) The relationship between atmospheric CO2 concentration and global mean surface temperature (GMST) for five time intervals where both variables have been recently well constrained by geological data (</a:t>
            </a:r>
            <a:r>
              <a:rPr lang="en-US" sz="1200" kern="1200" dirty="0" err="1">
                <a:solidFill>
                  <a:schemeClr val="tx1"/>
                </a:solidFill>
                <a:effectLst/>
                <a:latin typeface="Arial" charset="0"/>
                <a:ea typeface="ＭＳ Ｐゴシック" charset="0"/>
                <a:cs typeface="ＭＳ Ｐゴシック" charset="0"/>
              </a:rPr>
              <a:t>Anagnostou</a:t>
            </a:r>
            <a:r>
              <a:rPr lang="en-US" sz="1200" kern="1200" dirty="0">
                <a:solidFill>
                  <a:schemeClr val="tx1"/>
                </a:solidFill>
                <a:effectLst/>
                <a:latin typeface="Arial" charset="0"/>
                <a:ea typeface="ＭＳ Ｐゴシック" charset="0"/>
                <a:cs typeface="ＭＳ Ｐゴシック" charset="0"/>
              </a:rPr>
              <a:t> et al. 2020; de la Vega et al. 2020; </a:t>
            </a:r>
            <a:r>
              <a:rPr lang="en-US" sz="1200" kern="1200" dirty="0" err="1">
                <a:solidFill>
                  <a:schemeClr val="tx1"/>
                </a:solidFill>
                <a:effectLst/>
                <a:latin typeface="Arial" charset="0"/>
                <a:ea typeface="ＭＳ Ｐゴシック" charset="0"/>
                <a:cs typeface="ＭＳ Ｐゴシック" charset="0"/>
              </a:rPr>
              <a:t>Inglis</a:t>
            </a:r>
            <a:r>
              <a:rPr lang="en-US" sz="1200" kern="1200" dirty="0">
                <a:solidFill>
                  <a:schemeClr val="tx1"/>
                </a:solidFill>
                <a:effectLst/>
                <a:latin typeface="Arial" charset="0"/>
                <a:ea typeface="ＭＳ Ｐゴシック" charset="0"/>
                <a:cs typeface="ＭＳ Ｐゴシック" charset="0"/>
              </a:rPr>
              <a:t> et al. 2020; Sherwood et al. 2020; Tierney et al. 2020). Error bars reflect 68% confidence intervals and in some cases are smaller than the symbol. LGM, Last Glacial Maximum; EECO, Early Eocene Climatic Optimum; PETM, Paleocene–Eocene Thermal Maximum. (b) The relationship between radiative forcing (</a:t>
            </a:r>
            <a:r>
              <a:rPr lang="el-GR" sz="1200" kern="1200" dirty="0">
                <a:solidFill>
                  <a:schemeClr val="tx1"/>
                </a:solidFill>
                <a:effectLst/>
                <a:latin typeface="Arial" charset="0"/>
                <a:ea typeface="ＭＳ Ｐゴシック" charset="0"/>
                <a:cs typeface="ＭＳ Ｐゴシック" charset="0"/>
              </a:rPr>
              <a:t>Δ</a:t>
            </a:r>
            <a:r>
              <a:rPr lang="en-US" sz="1200" kern="1200" dirty="0">
                <a:solidFill>
                  <a:schemeClr val="tx1"/>
                </a:solidFill>
                <a:effectLst/>
                <a:latin typeface="Arial" charset="0"/>
                <a:ea typeface="ＭＳ Ｐゴシック" charset="0"/>
                <a:cs typeface="ＭＳ Ｐゴシック" charset="0"/>
              </a:rPr>
              <a:t>R in W m−2) and global mean surface temperature (</a:t>
            </a:r>
            <a:r>
              <a:rPr lang="el-GR" sz="1200" kern="1200" dirty="0">
                <a:solidFill>
                  <a:schemeClr val="tx1"/>
                </a:solidFill>
                <a:effectLst/>
                <a:latin typeface="Arial" charset="0"/>
                <a:ea typeface="ＭＳ Ｐゴシック" charset="0"/>
                <a:cs typeface="ＭＳ Ｐゴシック" charset="0"/>
              </a:rPr>
              <a:t>Δ</a:t>
            </a:r>
            <a:r>
              <a:rPr lang="en-US" sz="1200" kern="1200" dirty="0">
                <a:solidFill>
                  <a:schemeClr val="tx1"/>
                </a:solidFill>
                <a:effectLst/>
                <a:latin typeface="Arial" charset="0"/>
                <a:ea typeface="ＭＳ Ｐゴシック" charset="0"/>
                <a:cs typeface="ＭＳ Ｐゴシック" charset="0"/>
              </a:rPr>
              <a:t>GMST) relative to pre-industrial values. Contours show equilibrium climate sensitivity from 1 to 10°C per CO2 doubling, and the blue band shows the canonical IPCC range of Equilibrium Climate Sensitivity of 1.5 to 4.5°C per CO2 doubling. Note that data in panel (b) are corrected for slow feedbacks (see text) following the methods detailed in Tierney et al. (2020) and </a:t>
            </a:r>
            <a:r>
              <a:rPr lang="en-US" sz="1200" kern="1200" dirty="0" err="1">
                <a:solidFill>
                  <a:schemeClr val="tx1"/>
                </a:solidFill>
                <a:effectLst/>
                <a:latin typeface="Arial" charset="0"/>
                <a:ea typeface="ＭＳ Ｐゴシック" charset="0"/>
                <a:cs typeface="ＭＳ Ｐゴシック" charset="0"/>
              </a:rPr>
              <a:t>Inglis</a:t>
            </a:r>
            <a:r>
              <a:rPr lang="en-US" sz="1200" kern="1200" dirty="0">
                <a:solidFill>
                  <a:schemeClr val="tx1"/>
                </a:solidFill>
                <a:effectLst/>
                <a:latin typeface="Arial" charset="0"/>
                <a:ea typeface="ＭＳ Ｐゴシック" charset="0"/>
                <a:cs typeface="ＭＳ Ｐゴシック" charset="0"/>
              </a:rPr>
              <a:t> et al. (2020). </a:t>
            </a:r>
            <a:endParaRPr lang="en-US" dirty="0"/>
          </a:p>
          <a:p>
            <a:endParaRPr lang="en-US" dirty="0"/>
          </a:p>
        </p:txBody>
      </p:sp>
      <p:sp>
        <p:nvSpPr>
          <p:cNvPr id="4" name="Slide Number Placeholder 3"/>
          <p:cNvSpPr>
            <a:spLocks noGrp="1"/>
          </p:cNvSpPr>
          <p:nvPr>
            <p:ph type="sldNum" sz="quarter" idx="5"/>
          </p:nvPr>
        </p:nvSpPr>
        <p:spPr/>
        <p:txBody>
          <a:bodyPr/>
          <a:lstStyle/>
          <a:p>
            <a:fld id="{0D13B836-165A-E84F-8B64-D096F7B4BC99}" type="slidenum">
              <a:rPr lang="en-US" altLang="en-US" smtClean="0"/>
              <a:pPr/>
              <a:t>54</a:t>
            </a:fld>
            <a:endParaRPr lang="en-US" altLang="en-US"/>
          </a:p>
        </p:txBody>
      </p:sp>
    </p:spTree>
    <p:extLst>
      <p:ext uri="{BB962C8B-B14F-4D97-AF65-F5344CB8AC3E}">
        <p14:creationId xmlns:p14="http://schemas.microsoft.com/office/powerpoint/2010/main" val="2749241004"/>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377" name="Rectangle 2">
            <a:extLst>
              <a:ext uri="{FF2B5EF4-FFF2-40B4-BE49-F238E27FC236}">
                <a16:creationId xmlns:a16="http://schemas.microsoft.com/office/drawing/2014/main" id="{BE10B20C-8739-1B47-941F-B0C92F0074E8}"/>
              </a:ext>
            </a:extLst>
          </p:cNvPr>
          <p:cNvSpPr>
            <a:spLocks noGrp="1" noRot="1" noChangeAspect="1" noChangeArrowheads="1" noTextEdit="1"/>
          </p:cNvSpPr>
          <p:nvPr>
            <p:ph type="sldImg"/>
          </p:nvPr>
        </p:nvSpPr>
        <p:spPr>
          <a:ln/>
        </p:spPr>
      </p:sp>
      <p:sp>
        <p:nvSpPr>
          <p:cNvPr id="101378" name="Rectangle 3">
            <a:extLst>
              <a:ext uri="{FF2B5EF4-FFF2-40B4-BE49-F238E27FC236}">
                <a16:creationId xmlns:a16="http://schemas.microsoft.com/office/drawing/2014/main" id="{32201F5D-CAE4-C543-B535-6B5007A699E6}"/>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ea typeface="ＭＳ Ｐゴシック" panose="020B0600070205080204" pitchFamily="34" charset="-128"/>
            </a:endParaRPr>
          </a:p>
        </p:txBody>
      </p:sp>
    </p:spTree>
    <p:extLst>
      <p:ext uri="{BB962C8B-B14F-4D97-AF65-F5344CB8AC3E}">
        <p14:creationId xmlns:p14="http://schemas.microsoft.com/office/powerpoint/2010/main" val="293808392"/>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377" name="Rectangle 2">
            <a:extLst>
              <a:ext uri="{FF2B5EF4-FFF2-40B4-BE49-F238E27FC236}">
                <a16:creationId xmlns:a16="http://schemas.microsoft.com/office/drawing/2014/main" id="{BE10B20C-8739-1B47-941F-B0C92F0074E8}"/>
              </a:ext>
            </a:extLst>
          </p:cNvPr>
          <p:cNvSpPr>
            <a:spLocks noGrp="1" noRot="1" noChangeAspect="1" noChangeArrowheads="1" noTextEdit="1"/>
          </p:cNvSpPr>
          <p:nvPr>
            <p:ph type="sldImg"/>
          </p:nvPr>
        </p:nvSpPr>
        <p:spPr>
          <a:ln/>
        </p:spPr>
      </p:sp>
      <p:sp>
        <p:nvSpPr>
          <p:cNvPr id="101378" name="Rectangle 3">
            <a:extLst>
              <a:ext uri="{FF2B5EF4-FFF2-40B4-BE49-F238E27FC236}">
                <a16:creationId xmlns:a16="http://schemas.microsoft.com/office/drawing/2014/main" id="{32201F5D-CAE4-C543-B535-6B5007A699E6}"/>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ea typeface="ＭＳ Ｐゴシック" panose="020B0600070205080204" pitchFamily="34" charset="-128"/>
            </a:endParaRPr>
          </a:p>
        </p:txBody>
      </p:sp>
    </p:spTree>
    <p:extLst>
      <p:ext uri="{BB962C8B-B14F-4D97-AF65-F5344CB8AC3E}">
        <p14:creationId xmlns:p14="http://schemas.microsoft.com/office/powerpoint/2010/main" val="3364256417"/>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tabLst/>
              <a:defRPr/>
            </a:pPr>
            <a:r>
              <a:rPr lang="en-US" sz="1200" kern="1200" dirty="0">
                <a:solidFill>
                  <a:schemeClr val="tx1"/>
                </a:solidFill>
                <a:effectLst/>
                <a:latin typeface="Arial" charset="0"/>
                <a:ea typeface="ＭＳ Ｐゴシック" charset="0"/>
                <a:cs typeface="ＭＳ Ｐゴシック" charset="0"/>
              </a:rPr>
              <a:t>Fig. 3 Surface salinity changes since the 1870s compared with Surface Air Temperature (SAT) and Sea Surface Temperature (SST). Surface salinity (SSS) changes compared with changes in a, </a:t>
            </a:r>
            <a:r>
              <a:rPr lang="en-US" sz="1200" kern="1200" dirty="0" err="1">
                <a:solidFill>
                  <a:schemeClr val="tx1"/>
                </a:solidFill>
                <a:effectLst/>
                <a:latin typeface="Arial" charset="0"/>
                <a:ea typeface="ＭＳ Ｐゴシック" charset="0"/>
                <a:cs typeface="ＭＳ Ｐゴシック" charset="0"/>
              </a:rPr>
              <a:t>HadCRUT</a:t>
            </a:r>
            <a:r>
              <a:rPr lang="en-US" sz="1200" kern="1200" dirty="0">
                <a:solidFill>
                  <a:schemeClr val="tx1"/>
                </a:solidFill>
                <a:effectLst/>
                <a:latin typeface="Arial" charset="0"/>
                <a:ea typeface="ＭＳ Ｐゴシック" charset="0"/>
                <a:cs typeface="ＭＳ Ｐゴシック" charset="0"/>
              </a:rPr>
              <a:t> Surface Air Temperature (SAT) and b, </a:t>
            </a:r>
            <a:r>
              <a:rPr lang="en-US" sz="1200" kern="1200" dirty="0" err="1">
                <a:solidFill>
                  <a:schemeClr val="tx1"/>
                </a:solidFill>
                <a:effectLst/>
                <a:latin typeface="Arial" charset="0"/>
                <a:ea typeface="ＭＳ Ｐゴシック" charset="0"/>
                <a:cs typeface="ＭＳ Ｐゴシック" charset="0"/>
              </a:rPr>
              <a:t>HadSST</a:t>
            </a:r>
            <a:r>
              <a:rPr lang="en-US" sz="1200" kern="1200" dirty="0">
                <a:solidFill>
                  <a:schemeClr val="tx1"/>
                </a:solidFill>
                <a:effectLst/>
                <a:latin typeface="Arial" charset="0"/>
                <a:ea typeface="ＭＳ Ｐゴシック" charset="0"/>
                <a:cs typeface="ＭＳ Ｐゴシック" charset="0"/>
              </a:rPr>
              <a:t> Sea Surface Temperature (SST). Both data sets have been adjusted so that the average temperature anomaly for the period (1950–1959) is zero. The solid black line from 1954 to 2014 is the mean EN4 salinity change (2010–2019)-(1950–1959) between positive and negative salinity anomaly regions of 0.184 g kg−1. The salinity change pre-1950s is determined from the comparison of the Challenger and Gazelle data to both EN4 and CZ16 data. The error bars are derived from the 95% confidence limits. Magenta solid CH(EN4), magenta dashed GZ(EN4), green solid CH(CZ16) and green dashed GZ(CZ16). The solid red is the mean of the slope and error from the four analyses. </a:t>
            </a:r>
            <a:endParaRPr lang="en-US" dirty="0"/>
          </a:p>
          <a:p>
            <a:endParaRPr lang="en-US" dirty="0"/>
          </a:p>
        </p:txBody>
      </p:sp>
      <p:sp>
        <p:nvSpPr>
          <p:cNvPr id="4" name="Slide Number Placeholder 3"/>
          <p:cNvSpPr>
            <a:spLocks noGrp="1"/>
          </p:cNvSpPr>
          <p:nvPr>
            <p:ph type="sldNum" sz="quarter" idx="5"/>
          </p:nvPr>
        </p:nvSpPr>
        <p:spPr/>
        <p:txBody>
          <a:bodyPr/>
          <a:lstStyle/>
          <a:p>
            <a:fld id="{0D13B836-165A-E84F-8B64-D096F7B4BC99}" type="slidenum">
              <a:rPr lang="en-US" altLang="en-US" smtClean="0"/>
              <a:pPr/>
              <a:t>58</a:t>
            </a:fld>
            <a:endParaRPr lang="en-US" altLang="en-US"/>
          </a:p>
        </p:txBody>
      </p:sp>
    </p:spTree>
    <p:extLst>
      <p:ext uri="{BB962C8B-B14F-4D97-AF65-F5344CB8AC3E}">
        <p14:creationId xmlns:p14="http://schemas.microsoft.com/office/powerpoint/2010/main" val="1187083467"/>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similar graph from satellite data from the European Space Agency is here</a:t>
            </a:r>
            <a:r>
              <a:rPr lang="en-US"/>
              <a:t>:  </a:t>
            </a:r>
          </a:p>
          <a:p>
            <a:r>
              <a:rPr lang="en-US"/>
              <a:t>https</a:t>
            </a:r>
            <a:r>
              <a:rPr lang="en-US" dirty="0"/>
              <a:t>://</a:t>
            </a:r>
            <a:r>
              <a:rPr lang="en-US" dirty="0" err="1"/>
              <a:t>www.esa.int</a:t>
            </a:r>
            <a:r>
              <a:rPr lang="en-US" dirty="0"/>
              <a:t>/</a:t>
            </a:r>
            <a:r>
              <a:rPr lang="en-US" dirty="0" err="1"/>
              <a:t>ESA_Multimedia</a:t>
            </a:r>
            <a:r>
              <a:rPr lang="en-US" dirty="0"/>
              <a:t>/Images/2024/02/</a:t>
            </a:r>
            <a:r>
              <a:rPr lang="en-US" dirty="0" err="1"/>
              <a:t>Global_ocean_acidification_increase</a:t>
            </a:r>
            <a:r>
              <a:rPr lang="en-US" dirty="0"/>
              <a:t>.</a:t>
            </a:r>
          </a:p>
        </p:txBody>
      </p:sp>
      <p:sp>
        <p:nvSpPr>
          <p:cNvPr id="4" name="Slide Number Placeholder 3"/>
          <p:cNvSpPr>
            <a:spLocks noGrp="1"/>
          </p:cNvSpPr>
          <p:nvPr>
            <p:ph type="sldNum" sz="quarter" idx="5"/>
          </p:nvPr>
        </p:nvSpPr>
        <p:spPr/>
        <p:txBody>
          <a:bodyPr/>
          <a:lstStyle/>
          <a:p>
            <a:fld id="{0D13B836-165A-E84F-8B64-D096F7B4BC99}" type="slidenum">
              <a:rPr lang="en-US" altLang="en-US" smtClean="0"/>
              <a:pPr/>
              <a:t>59</a:t>
            </a:fld>
            <a:endParaRPr lang="en-US" altLang="en-US"/>
          </a:p>
        </p:txBody>
      </p:sp>
    </p:spTree>
    <p:extLst>
      <p:ext uri="{BB962C8B-B14F-4D97-AF65-F5344CB8AC3E}">
        <p14:creationId xmlns:p14="http://schemas.microsoft.com/office/powerpoint/2010/main" val="2244472079"/>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https://</a:t>
            </a:r>
            <a:r>
              <a:rPr lang="en-US" dirty="0" err="1"/>
              <a:t>nsidc.org</a:t>
            </a:r>
            <a:r>
              <a:rPr lang="en-US" dirty="0"/>
              <a:t>/</a:t>
            </a:r>
            <a:r>
              <a:rPr lang="en-US" dirty="0" err="1"/>
              <a:t>arcticseaicenews</a:t>
            </a:r>
            <a:r>
              <a:rPr lang="en-US" dirty="0"/>
              <a:t>/</a:t>
            </a:r>
          </a:p>
          <a:p>
            <a:endParaRPr lang="en-US" dirty="0"/>
          </a:p>
          <a:p>
            <a:r>
              <a:rPr lang="en-US" dirty="0"/>
              <a:t>Figure 2a. The graph above shows Arctic sea ice extent as of May 2, 2022, along with daily ice extent data for four previous years and the record low year. 2022 is shown in blue, 2021 in green, 2020 in orange, 2019 in brown, 2018 in magenta, and 2012 in dashed brown. The 1981 to 2010 median is in dark gray. The gray areas around the median line show the interquartile and </a:t>
            </a:r>
            <a:r>
              <a:rPr lang="en-US" dirty="0" err="1"/>
              <a:t>interdecile</a:t>
            </a:r>
            <a:r>
              <a:rPr lang="en-US" dirty="0"/>
              <a:t> ranges of the data. </a:t>
            </a:r>
            <a:r>
              <a:rPr lang="en-US" dirty="0">
                <a:hlinkClick r:id="rId3"/>
              </a:rPr>
              <a:t>Sea Ice Index</a:t>
            </a:r>
            <a:r>
              <a:rPr lang="en-US" dirty="0"/>
              <a:t> data.</a:t>
            </a:r>
            <a:br>
              <a:rPr lang="en-US" dirty="0"/>
            </a:br>
            <a:br>
              <a:rPr lang="en-US" dirty="0"/>
            </a:br>
            <a:r>
              <a:rPr lang="en-US" dirty="0"/>
              <a:t>Credit: National Snow and Ice Data Center</a:t>
            </a:r>
          </a:p>
        </p:txBody>
      </p:sp>
      <p:sp>
        <p:nvSpPr>
          <p:cNvPr id="4" name="Slide Number Placeholder 3"/>
          <p:cNvSpPr>
            <a:spLocks noGrp="1"/>
          </p:cNvSpPr>
          <p:nvPr>
            <p:ph type="sldNum" sz="quarter" idx="5"/>
          </p:nvPr>
        </p:nvSpPr>
        <p:spPr/>
        <p:txBody>
          <a:bodyPr/>
          <a:lstStyle/>
          <a:p>
            <a:fld id="{0D13B836-165A-E84F-8B64-D096F7B4BC99}" type="slidenum">
              <a:rPr lang="en-US" altLang="en-US" smtClean="0"/>
              <a:pPr/>
              <a:t>60</a:t>
            </a:fld>
            <a:endParaRPr lang="en-US" altLang="en-US"/>
          </a:p>
        </p:txBody>
      </p:sp>
    </p:spTree>
    <p:extLst>
      <p:ext uri="{BB962C8B-B14F-4D97-AF65-F5344CB8AC3E}">
        <p14:creationId xmlns:p14="http://schemas.microsoft.com/office/powerpoint/2010/main" val="1493508115"/>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15900" indent="-214313" eaLnBrk="1">
              <a:lnSpc>
                <a:spcPct val="93000"/>
              </a:lnSpc>
              <a:spcBef>
                <a:spcPct val="0"/>
              </a:spcBef>
              <a:tabLst>
                <a:tab pos="723900" algn="l"/>
                <a:tab pos="1447800" algn="l"/>
                <a:tab pos="2171700" algn="l"/>
                <a:tab pos="2895600" algn="l"/>
                <a:tab pos="3619500" algn="l"/>
                <a:tab pos="4343400" algn="l"/>
                <a:tab pos="5067300" algn="l"/>
              </a:tabLst>
            </a:pPr>
            <a:r>
              <a:rPr lang="en-US" altLang="en-US" sz="1200" dirty="0">
                <a:latin typeface="Arial" panose="020B0604020202020204" pitchFamily="34" charset="0"/>
                <a:ea typeface="Baekmuk Batang" charset="0"/>
                <a:cs typeface="Baekmuk Batang" charset="0"/>
              </a:rPr>
              <a:t>Global average of </a:t>
            </a:r>
            <a:r>
              <a:rPr lang="en-US" sz="1200" b="0" i="0" u="none" strike="noStrike" kern="1200" dirty="0">
                <a:solidFill>
                  <a:schemeClr val="tx1"/>
                </a:solidFill>
                <a:effectLst/>
                <a:latin typeface="Arial" charset="0"/>
                <a:ea typeface="ＭＳ Ｐゴシック" charset="0"/>
                <a:cs typeface="ＭＳ Ｐゴシック" charset="0"/>
              </a:rPr>
              <a:t>ground surface temperature histories (</a:t>
            </a:r>
            <a:r>
              <a:rPr lang="en-US" altLang="en-US" sz="1200" dirty="0">
                <a:latin typeface="Arial" panose="020B0604020202020204" pitchFamily="34" charset="0"/>
                <a:ea typeface="Baekmuk Batang" charset="0"/>
                <a:cs typeface="Baekmuk Batang" charset="0"/>
              </a:rPr>
              <a:t>GSTH) over the past five centuries. Shaded areas represent ±1 standard error about the mean. Inset shows the location of the 616 bore holes where subsurface temperature measurements have been analyzed to reconstruct the global GSTH. https://</a:t>
            </a:r>
            <a:r>
              <a:rPr lang="en-US" altLang="en-US" sz="1200" dirty="0" err="1">
                <a:latin typeface="Arial" panose="020B0604020202020204" pitchFamily="34" charset="0"/>
                <a:ea typeface="Baekmuk Batang" charset="0"/>
                <a:cs typeface="Baekmuk Batang" charset="0"/>
              </a:rPr>
              <a:t>agupubs.onlinelibrary.wiley.com</a:t>
            </a:r>
            <a:r>
              <a:rPr lang="en-US" altLang="en-US" sz="1200" dirty="0">
                <a:latin typeface="Arial" panose="020B0604020202020204" pitchFamily="34" charset="0"/>
                <a:ea typeface="Baekmuk Batang" charset="0"/>
                <a:cs typeface="Baekmuk Batang" charset="0"/>
              </a:rPr>
              <a:t>/</a:t>
            </a:r>
            <a:r>
              <a:rPr lang="en-US" altLang="en-US" sz="1200" dirty="0" err="1">
                <a:latin typeface="Arial" panose="020B0604020202020204" pitchFamily="34" charset="0"/>
                <a:ea typeface="Baekmuk Batang" charset="0"/>
                <a:cs typeface="Baekmuk Batang" charset="0"/>
              </a:rPr>
              <a:t>doi</a:t>
            </a:r>
            <a:r>
              <a:rPr lang="en-US" altLang="en-US" sz="1200" dirty="0">
                <a:latin typeface="Arial" panose="020B0604020202020204" pitchFamily="34" charset="0"/>
                <a:ea typeface="Baekmuk Batang" charset="0"/>
                <a:cs typeface="Baekmuk Batang" charset="0"/>
              </a:rPr>
              <a:t>/10.1029/2001GL014310</a:t>
            </a:r>
            <a:endParaRPr lang="en-US" dirty="0"/>
          </a:p>
        </p:txBody>
      </p:sp>
      <p:sp>
        <p:nvSpPr>
          <p:cNvPr id="4" name="Slide Number Placeholder 3"/>
          <p:cNvSpPr>
            <a:spLocks noGrp="1"/>
          </p:cNvSpPr>
          <p:nvPr>
            <p:ph type="sldNum" sz="quarter" idx="5"/>
          </p:nvPr>
        </p:nvSpPr>
        <p:spPr/>
        <p:txBody>
          <a:bodyPr/>
          <a:lstStyle/>
          <a:p>
            <a:fld id="{0D13B836-165A-E84F-8B64-D096F7B4BC99}" type="slidenum">
              <a:rPr lang="en-US" altLang="en-US" smtClean="0"/>
              <a:pPr/>
              <a:t>61</a:t>
            </a:fld>
            <a:endParaRPr lang="en-US" altLang="en-US"/>
          </a:p>
        </p:txBody>
      </p:sp>
    </p:spTree>
    <p:extLst>
      <p:ext uri="{BB962C8B-B14F-4D97-AF65-F5344CB8AC3E}">
        <p14:creationId xmlns:p14="http://schemas.microsoft.com/office/powerpoint/2010/main" val="4138013500"/>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15900" indent="-214313" eaLnBrk="1">
              <a:lnSpc>
                <a:spcPct val="93000"/>
              </a:lnSpc>
              <a:spcBef>
                <a:spcPct val="0"/>
              </a:spcBef>
              <a:tabLst>
                <a:tab pos="723900" algn="l"/>
                <a:tab pos="1447800" algn="l"/>
                <a:tab pos="2171700" algn="l"/>
                <a:tab pos="2895600" algn="l"/>
                <a:tab pos="3619500" algn="l"/>
                <a:tab pos="4343400" algn="l"/>
                <a:tab pos="5067300" algn="l"/>
              </a:tabLst>
            </a:pPr>
            <a:r>
              <a:rPr lang="en-US" dirty="0"/>
              <a:t>See also:  https://</a:t>
            </a:r>
            <a:r>
              <a:rPr lang="en-US" dirty="0" err="1"/>
              <a:t>www.mdpi.com</a:t>
            </a:r>
            <a:r>
              <a:rPr lang="en-US" dirty="0"/>
              <a:t>/2076-3263/11/2/71#</a:t>
            </a:r>
          </a:p>
        </p:txBody>
      </p:sp>
      <p:sp>
        <p:nvSpPr>
          <p:cNvPr id="4" name="Slide Number Placeholder 3"/>
          <p:cNvSpPr>
            <a:spLocks noGrp="1"/>
          </p:cNvSpPr>
          <p:nvPr>
            <p:ph type="sldNum" sz="quarter" idx="5"/>
          </p:nvPr>
        </p:nvSpPr>
        <p:spPr/>
        <p:txBody>
          <a:bodyPr/>
          <a:lstStyle/>
          <a:p>
            <a:fld id="{0D13B836-165A-E84F-8B64-D096F7B4BC99}" type="slidenum">
              <a:rPr lang="en-US" altLang="en-US" smtClean="0"/>
              <a:pPr/>
              <a:t>62</a:t>
            </a:fld>
            <a:endParaRPr lang="en-US" altLang="en-US"/>
          </a:p>
        </p:txBody>
      </p:sp>
    </p:spTree>
    <p:extLst>
      <p:ext uri="{BB962C8B-B14F-4D97-AF65-F5344CB8AC3E}">
        <p14:creationId xmlns:p14="http://schemas.microsoft.com/office/powerpoint/2010/main" val="3872315355"/>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377" name="Rectangle 2">
            <a:extLst>
              <a:ext uri="{FF2B5EF4-FFF2-40B4-BE49-F238E27FC236}">
                <a16:creationId xmlns:a16="http://schemas.microsoft.com/office/drawing/2014/main" id="{BE10B20C-8739-1B47-941F-B0C92F0074E8}"/>
              </a:ext>
            </a:extLst>
          </p:cNvPr>
          <p:cNvSpPr>
            <a:spLocks noGrp="1" noRot="1" noChangeAspect="1" noChangeArrowheads="1" noTextEdit="1"/>
          </p:cNvSpPr>
          <p:nvPr>
            <p:ph type="sldImg"/>
          </p:nvPr>
        </p:nvSpPr>
        <p:spPr>
          <a:ln/>
        </p:spPr>
      </p:sp>
      <p:sp>
        <p:nvSpPr>
          <p:cNvPr id="101378" name="Rectangle 3">
            <a:extLst>
              <a:ext uri="{FF2B5EF4-FFF2-40B4-BE49-F238E27FC236}">
                <a16:creationId xmlns:a16="http://schemas.microsoft.com/office/drawing/2014/main" id="{32201F5D-CAE4-C543-B535-6B5007A699E6}"/>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ea typeface="ＭＳ Ｐゴシック" panose="020B0600070205080204" pitchFamily="34" charset="-128"/>
            </a:endParaRPr>
          </a:p>
        </p:txBody>
      </p:sp>
    </p:spTree>
    <p:extLst>
      <p:ext uri="{BB962C8B-B14F-4D97-AF65-F5344CB8AC3E}">
        <p14:creationId xmlns:p14="http://schemas.microsoft.com/office/powerpoint/2010/main" val="2082559544"/>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377" name="Rectangle 2">
            <a:extLst>
              <a:ext uri="{FF2B5EF4-FFF2-40B4-BE49-F238E27FC236}">
                <a16:creationId xmlns:a16="http://schemas.microsoft.com/office/drawing/2014/main" id="{BE10B20C-8739-1B47-941F-B0C92F0074E8}"/>
              </a:ext>
            </a:extLst>
          </p:cNvPr>
          <p:cNvSpPr>
            <a:spLocks noGrp="1" noRot="1" noChangeAspect="1" noChangeArrowheads="1" noTextEdit="1"/>
          </p:cNvSpPr>
          <p:nvPr>
            <p:ph type="sldImg"/>
          </p:nvPr>
        </p:nvSpPr>
        <p:spPr>
          <a:ln/>
        </p:spPr>
      </p:sp>
      <p:sp>
        <p:nvSpPr>
          <p:cNvPr id="101378" name="Rectangle 3">
            <a:extLst>
              <a:ext uri="{FF2B5EF4-FFF2-40B4-BE49-F238E27FC236}">
                <a16:creationId xmlns:a16="http://schemas.microsoft.com/office/drawing/2014/main" id="{32201F5D-CAE4-C543-B535-6B5007A699E6}"/>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ea typeface="ＭＳ Ｐゴシック" panose="020B0600070205080204" pitchFamily="34" charset="-128"/>
            </a:endParaRPr>
          </a:p>
        </p:txBody>
      </p:sp>
    </p:spTree>
    <p:extLst>
      <p:ext uri="{BB962C8B-B14F-4D97-AF65-F5344CB8AC3E}">
        <p14:creationId xmlns:p14="http://schemas.microsoft.com/office/powerpoint/2010/main" val="487381193"/>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3" name="Rectangle 2">
            <a:extLst>
              <a:ext uri="{FF2B5EF4-FFF2-40B4-BE49-F238E27FC236}">
                <a16:creationId xmlns:a16="http://schemas.microsoft.com/office/drawing/2014/main" id="{DFFAF084-747A-0A4A-8ECA-A37E6EB6A5B7}"/>
              </a:ext>
            </a:extLst>
          </p:cNvPr>
          <p:cNvSpPr>
            <a:spLocks noGrp="1" noRot="1" noChangeAspect="1" noChangeArrowheads="1" noTextEdit="1"/>
          </p:cNvSpPr>
          <p:nvPr>
            <p:ph type="sldImg"/>
          </p:nvPr>
        </p:nvSpPr>
        <p:spPr>
          <a:ln/>
        </p:spPr>
      </p:sp>
      <p:sp>
        <p:nvSpPr>
          <p:cNvPr id="38914" name="Rectangle 3">
            <a:extLst>
              <a:ext uri="{FF2B5EF4-FFF2-40B4-BE49-F238E27FC236}">
                <a16:creationId xmlns:a16="http://schemas.microsoft.com/office/drawing/2014/main" id="{B9D98FFB-13F0-834E-A633-3F9B35039973}"/>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dirty="0">
              <a:latin typeface="Calibri" panose="020F0502020204030204" pitchFamily="34" charset="0"/>
              <a:ea typeface="ＭＳ Ｐゴシック" panose="020B0600070205080204" pitchFamily="34" charset="-128"/>
              <a:cs typeface="ＭＳ Ｐゴシック" panose="020B0600070205080204" pitchFamily="34" charset="-128"/>
            </a:endParaRPr>
          </a:p>
        </p:txBody>
      </p:sp>
    </p:spTree>
    <p:extLst>
      <p:ext uri="{BB962C8B-B14F-4D97-AF65-F5344CB8AC3E}">
        <p14:creationId xmlns:p14="http://schemas.microsoft.com/office/powerpoint/2010/main" val="908111717"/>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3" name="Rectangle 2">
            <a:extLst>
              <a:ext uri="{FF2B5EF4-FFF2-40B4-BE49-F238E27FC236}">
                <a16:creationId xmlns:a16="http://schemas.microsoft.com/office/drawing/2014/main" id="{DFFAF084-747A-0A4A-8ECA-A37E6EB6A5B7}"/>
              </a:ext>
            </a:extLst>
          </p:cNvPr>
          <p:cNvSpPr>
            <a:spLocks noGrp="1" noRot="1" noChangeAspect="1" noChangeArrowheads="1" noTextEdit="1"/>
          </p:cNvSpPr>
          <p:nvPr>
            <p:ph type="sldImg"/>
          </p:nvPr>
        </p:nvSpPr>
        <p:spPr>
          <a:ln/>
        </p:spPr>
      </p:sp>
      <p:sp>
        <p:nvSpPr>
          <p:cNvPr id="38914" name="Rectangle 3">
            <a:extLst>
              <a:ext uri="{FF2B5EF4-FFF2-40B4-BE49-F238E27FC236}">
                <a16:creationId xmlns:a16="http://schemas.microsoft.com/office/drawing/2014/main" id="{B9D98FFB-13F0-834E-A633-3F9B35039973}"/>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dirty="0">
              <a:latin typeface="Calibri" panose="020F0502020204030204" pitchFamily="34" charset="0"/>
              <a:ea typeface="ＭＳ Ｐゴシック" panose="020B0600070205080204" pitchFamily="34" charset="-128"/>
              <a:cs typeface="ＭＳ Ｐゴシック" panose="020B0600070205080204" pitchFamily="34" charset="-128"/>
            </a:endParaRPr>
          </a:p>
        </p:txBody>
      </p:sp>
    </p:spTree>
    <p:extLst>
      <p:ext uri="{BB962C8B-B14F-4D97-AF65-F5344CB8AC3E}">
        <p14:creationId xmlns:p14="http://schemas.microsoft.com/office/powerpoint/2010/main" val="40209521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US"/>
              <a:t>Click to edit Master subtitle style</a:t>
            </a:r>
          </a:p>
        </p:txBody>
      </p:sp>
      <p:sp>
        <p:nvSpPr>
          <p:cNvPr id="4" name="Rectangle 4">
            <a:extLst>
              <a:ext uri="{FF2B5EF4-FFF2-40B4-BE49-F238E27FC236}">
                <a16:creationId xmlns:a16="http://schemas.microsoft.com/office/drawing/2014/main" id="{45942F51-28BE-D448-8FD2-6A3DE24DDA75}"/>
              </a:ext>
            </a:extLst>
          </p:cNvPr>
          <p:cNvSpPr>
            <a:spLocks noGrp="1" noChangeArrowheads="1"/>
          </p:cNvSpPr>
          <p:nvPr>
            <p:ph type="dt" sz="half" idx="10"/>
          </p:nvPr>
        </p:nvSpPr>
        <p:spPr>
          <a:ln/>
        </p:spPr>
        <p:txBody>
          <a:bodyPr/>
          <a:lstStyle>
            <a:lvl1pPr>
              <a:defRPr/>
            </a:lvl1pPr>
          </a:lstStyle>
          <a:p>
            <a:pPr>
              <a:defRPr/>
            </a:pPr>
            <a:endParaRPr lang="en-US"/>
          </a:p>
        </p:txBody>
      </p:sp>
      <p:sp>
        <p:nvSpPr>
          <p:cNvPr id="5" name="Rectangle 5">
            <a:extLst>
              <a:ext uri="{FF2B5EF4-FFF2-40B4-BE49-F238E27FC236}">
                <a16:creationId xmlns:a16="http://schemas.microsoft.com/office/drawing/2014/main" id="{D0686B68-E391-2141-B9F3-F94D800B22F8}"/>
              </a:ext>
            </a:extLst>
          </p:cNvPr>
          <p:cNvSpPr>
            <a:spLocks noGrp="1" noChangeArrowheads="1"/>
          </p:cNvSpPr>
          <p:nvPr>
            <p:ph type="ftr" sz="quarter" idx="11"/>
          </p:nvPr>
        </p:nvSpPr>
        <p:spPr>
          <a:ln/>
        </p:spPr>
        <p:txBody>
          <a:bodyPr/>
          <a:lstStyle>
            <a:lvl1pPr>
              <a:defRPr/>
            </a:lvl1pPr>
          </a:lstStyle>
          <a:p>
            <a:pPr>
              <a:defRPr/>
            </a:pPr>
            <a:endParaRPr lang="en-US"/>
          </a:p>
        </p:txBody>
      </p:sp>
      <p:sp>
        <p:nvSpPr>
          <p:cNvPr id="6" name="Rectangle 6">
            <a:extLst>
              <a:ext uri="{FF2B5EF4-FFF2-40B4-BE49-F238E27FC236}">
                <a16:creationId xmlns:a16="http://schemas.microsoft.com/office/drawing/2014/main" id="{EF131143-EDF4-064C-ABEE-5DF048DDD8DC}"/>
              </a:ext>
            </a:extLst>
          </p:cNvPr>
          <p:cNvSpPr>
            <a:spLocks noGrp="1" noChangeArrowheads="1"/>
          </p:cNvSpPr>
          <p:nvPr>
            <p:ph type="sldNum" sz="quarter" idx="12"/>
          </p:nvPr>
        </p:nvSpPr>
        <p:spPr>
          <a:ln/>
        </p:spPr>
        <p:txBody>
          <a:bodyPr/>
          <a:lstStyle>
            <a:lvl1pPr>
              <a:defRPr/>
            </a:lvl1pPr>
          </a:lstStyle>
          <a:p>
            <a:fld id="{8A1FD13D-FB75-8946-8B9E-A4722DF4C1AE}" type="slidenum">
              <a:rPr lang="en-US" altLang="en-US"/>
              <a:pPr/>
              <a:t>‹#›</a:t>
            </a:fld>
            <a:endParaRPr lang="en-US" altLang="en-US"/>
          </a:p>
        </p:txBody>
      </p:sp>
    </p:spTree>
    <p:extLst>
      <p:ext uri="{BB962C8B-B14F-4D97-AF65-F5344CB8AC3E}">
        <p14:creationId xmlns:p14="http://schemas.microsoft.com/office/powerpoint/2010/main" val="264993532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4">
            <a:extLst>
              <a:ext uri="{FF2B5EF4-FFF2-40B4-BE49-F238E27FC236}">
                <a16:creationId xmlns:a16="http://schemas.microsoft.com/office/drawing/2014/main" id="{24C4509E-8438-6F42-933F-F674E08CBE24}"/>
              </a:ext>
            </a:extLst>
          </p:cNvPr>
          <p:cNvSpPr>
            <a:spLocks noGrp="1" noChangeArrowheads="1"/>
          </p:cNvSpPr>
          <p:nvPr>
            <p:ph type="dt" sz="half" idx="10"/>
          </p:nvPr>
        </p:nvSpPr>
        <p:spPr>
          <a:ln/>
        </p:spPr>
        <p:txBody>
          <a:bodyPr/>
          <a:lstStyle>
            <a:lvl1pPr>
              <a:defRPr/>
            </a:lvl1pPr>
          </a:lstStyle>
          <a:p>
            <a:pPr>
              <a:defRPr/>
            </a:pPr>
            <a:endParaRPr lang="en-US"/>
          </a:p>
        </p:txBody>
      </p:sp>
      <p:sp>
        <p:nvSpPr>
          <p:cNvPr id="5" name="Rectangle 5">
            <a:extLst>
              <a:ext uri="{FF2B5EF4-FFF2-40B4-BE49-F238E27FC236}">
                <a16:creationId xmlns:a16="http://schemas.microsoft.com/office/drawing/2014/main" id="{95BFC569-A1B2-2F4E-9C09-22981E875704}"/>
              </a:ext>
            </a:extLst>
          </p:cNvPr>
          <p:cNvSpPr>
            <a:spLocks noGrp="1" noChangeArrowheads="1"/>
          </p:cNvSpPr>
          <p:nvPr>
            <p:ph type="ftr" sz="quarter" idx="11"/>
          </p:nvPr>
        </p:nvSpPr>
        <p:spPr>
          <a:ln/>
        </p:spPr>
        <p:txBody>
          <a:bodyPr/>
          <a:lstStyle>
            <a:lvl1pPr>
              <a:defRPr/>
            </a:lvl1pPr>
          </a:lstStyle>
          <a:p>
            <a:pPr>
              <a:defRPr/>
            </a:pPr>
            <a:endParaRPr lang="en-US"/>
          </a:p>
        </p:txBody>
      </p:sp>
      <p:sp>
        <p:nvSpPr>
          <p:cNvPr id="6" name="Rectangle 6">
            <a:extLst>
              <a:ext uri="{FF2B5EF4-FFF2-40B4-BE49-F238E27FC236}">
                <a16:creationId xmlns:a16="http://schemas.microsoft.com/office/drawing/2014/main" id="{79FE7BC4-3FF2-014B-9025-776DDFCC6605}"/>
              </a:ext>
            </a:extLst>
          </p:cNvPr>
          <p:cNvSpPr>
            <a:spLocks noGrp="1" noChangeArrowheads="1"/>
          </p:cNvSpPr>
          <p:nvPr>
            <p:ph type="sldNum" sz="quarter" idx="12"/>
          </p:nvPr>
        </p:nvSpPr>
        <p:spPr>
          <a:ln/>
        </p:spPr>
        <p:txBody>
          <a:bodyPr/>
          <a:lstStyle>
            <a:lvl1pPr>
              <a:defRPr/>
            </a:lvl1pPr>
          </a:lstStyle>
          <a:p>
            <a:fld id="{8C759CF1-7D81-9244-92BF-195D839C3503}" type="slidenum">
              <a:rPr lang="en-US" altLang="en-US"/>
              <a:pPr/>
              <a:t>‹#›</a:t>
            </a:fld>
            <a:endParaRPr lang="en-US" altLang="en-US"/>
          </a:p>
        </p:txBody>
      </p:sp>
    </p:spTree>
    <p:extLst>
      <p:ext uri="{BB962C8B-B14F-4D97-AF65-F5344CB8AC3E}">
        <p14:creationId xmlns:p14="http://schemas.microsoft.com/office/powerpoint/2010/main" val="361966276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
        <p:nvSpPr>
          <p:cNvPr id="4" name="Rectangle 4">
            <a:extLst>
              <a:ext uri="{FF2B5EF4-FFF2-40B4-BE49-F238E27FC236}">
                <a16:creationId xmlns:a16="http://schemas.microsoft.com/office/drawing/2014/main" id="{5FF83267-7D9D-8144-A24E-9F522ED551A8}"/>
              </a:ext>
            </a:extLst>
          </p:cNvPr>
          <p:cNvSpPr>
            <a:spLocks noGrp="1" noChangeArrowheads="1"/>
          </p:cNvSpPr>
          <p:nvPr>
            <p:ph type="dt" sz="half" idx="10"/>
          </p:nvPr>
        </p:nvSpPr>
        <p:spPr>
          <a:ln/>
        </p:spPr>
        <p:txBody>
          <a:bodyPr/>
          <a:lstStyle>
            <a:lvl1pPr>
              <a:defRPr/>
            </a:lvl1pPr>
          </a:lstStyle>
          <a:p>
            <a:pPr>
              <a:defRPr/>
            </a:pPr>
            <a:endParaRPr lang="en-US"/>
          </a:p>
        </p:txBody>
      </p:sp>
      <p:sp>
        <p:nvSpPr>
          <p:cNvPr id="5" name="Rectangle 5">
            <a:extLst>
              <a:ext uri="{FF2B5EF4-FFF2-40B4-BE49-F238E27FC236}">
                <a16:creationId xmlns:a16="http://schemas.microsoft.com/office/drawing/2014/main" id="{86CCDEE3-69ED-E246-866F-7BF78067E9AC}"/>
              </a:ext>
            </a:extLst>
          </p:cNvPr>
          <p:cNvSpPr>
            <a:spLocks noGrp="1" noChangeArrowheads="1"/>
          </p:cNvSpPr>
          <p:nvPr>
            <p:ph type="ftr" sz="quarter" idx="11"/>
          </p:nvPr>
        </p:nvSpPr>
        <p:spPr>
          <a:ln/>
        </p:spPr>
        <p:txBody>
          <a:bodyPr/>
          <a:lstStyle>
            <a:lvl1pPr>
              <a:defRPr/>
            </a:lvl1pPr>
          </a:lstStyle>
          <a:p>
            <a:pPr>
              <a:defRPr/>
            </a:pPr>
            <a:endParaRPr lang="en-US"/>
          </a:p>
        </p:txBody>
      </p:sp>
      <p:sp>
        <p:nvSpPr>
          <p:cNvPr id="6" name="Rectangle 6">
            <a:extLst>
              <a:ext uri="{FF2B5EF4-FFF2-40B4-BE49-F238E27FC236}">
                <a16:creationId xmlns:a16="http://schemas.microsoft.com/office/drawing/2014/main" id="{1016F6F0-3D18-9249-A0D3-FDDB8DA35144}"/>
              </a:ext>
            </a:extLst>
          </p:cNvPr>
          <p:cNvSpPr>
            <a:spLocks noGrp="1" noChangeArrowheads="1"/>
          </p:cNvSpPr>
          <p:nvPr>
            <p:ph type="sldNum" sz="quarter" idx="12"/>
          </p:nvPr>
        </p:nvSpPr>
        <p:spPr>
          <a:ln/>
        </p:spPr>
        <p:txBody>
          <a:bodyPr/>
          <a:lstStyle>
            <a:lvl1pPr>
              <a:defRPr/>
            </a:lvl1pPr>
          </a:lstStyle>
          <a:p>
            <a:fld id="{E414F842-9F41-3542-8CB0-E7316B391FB7}" type="slidenum">
              <a:rPr lang="en-US" altLang="en-US"/>
              <a:pPr/>
              <a:t>‹#›</a:t>
            </a:fld>
            <a:endParaRPr lang="en-US" altLang="en-US"/>
          </a:p>
        </p:txBody>
      </p:sp>
    </p:spTree>
    <p:extLst>
      <p:ext uri="{BB962C8B-B14F-4D97-AF65-F5344CB8AC3E}">
        <p14:creationId xmlns:p14="http://schemas.microsoft.com/office/powerpoint/2010/main" val="26001336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4">
            <a:extLst>
              <a:ext uri="{FF2B5EF4-FFF2-40B4-BE49-F238E27FC236}">
                <a16:creationId xmlns:a16="http://schemas.microsoft.com/office/drawing/2014/main" id="{B4D4CD49-A3E8-DB44-A050-6B3DD2941A47}"/>
              </a:ext>
            </a:extLst>
          </p:cNvPr>
          <p:cNvSpPr>
            <a:spLocks noGrp="1" noChangeArrowheads="1"/>
          </p:cNvSpPr>
          <p:nvPr>
            <p:ph type="dt" sz="half" idx="10"/>
          </p:nvPr>
        </p:nvSpPr>
        <p:spPr>
          <a:ln/>
        </p:spPr>
        <p:txBody>
          <a:bodyPr/>
          <a:lstStyle>
            <a:lvl1pPr>
              <a:defRPr/>
            </a:lvl1pPr>
          </a:lstStyle>
          <a:p>
            <a:pPr>
              <a:defRPr/>
            </a:pPr>
            <a:endParaRPr lang="en-US"/>
          </a:p>
        </p:txBody>
      </p:sp>
      <p:sp>
        <p:nvSpPr>
          <p:cNvPr id="6" name="Rectangle 5">
            <a:extLst>
              <a:ext uri="{FF2B5EF4-FFF2-40B4-BE49-F238E27FC236}">
                <a16:creationId xmlns:a16="http://schemas.microsoft.com/office/drawing/2014/main" id="{E0E0340A-841F-A84A-A535-0A1EF76C41D1}"/>
              </a:ext>
            </a:extLst>
          </p:cNvPr>
          <p:cNvSpPr>
            <a:spLocks noGrp="1" noChangeArrowheads="1"/>
          </p:cNvSpPr>
          <p:nvPr>
            <p:ph type="ftr" sz="quarter" idx="11"/>
          </p:nvPr>
        </p:nvSpPr>
        <p:spPr>
          <a:ln/>
        </p:spPr>
        <p:txBody>
          <a:bodyPr/>
          <a:lstStyle>
            <a:lvl1pPr>
              <a:defRPr/>
            </a:lvl1pPr>
          </a:lstStyle>
          <a:p>
            <a:pPr>
              <a:defRPr/>
            </a:pPr>
            <a:endParaRPr lang="en-US"/>
          </a:p>
        </p:txBody>
      </p:sp>
      <p:sp>
        <p:nvSpPr>
          <p:cNvPr id="7" name="Rectangle 6">
            <a:extLst>
              <a:ext uri="{FF2B5EF4-FFF2-40B4-BE49-F238E27FC236}">
                <a16:creationId xmlns:a16="http://schemas.microsoft.com/office/drawing/2014/main" id="{CF2662D8-8EA8-5B47-9669-2E18DA9DBE2D}"/>
              </a:ext>
            </a:extLst>
          </p:cNvPr>
          <p:cNvSpPr>
            <a:spLocks noGrp="1" noChangeArrowheads="1"/>
          </p:cNvSpPr>
          <p:nvPr>
            <p:ph type="sldNum" sz="quarter" idx="12"/>
          </p:nvPr>
        </p:nvSpPr>
        <p:spPr>
          <a:ln/>
        </p:spPr>
        <p:txBody>
          <a:bodyPr/>
          <a:lstStyle>
            <a:lvl1pPr>
              <a:defRPr/>
            </a:lvl1pPr>
          </a:lstStyle>
          <a:p>
            <a:fld id="{8FC89DF1-42AD-974C-8206-EC9D251ED19D}" type="slidenum">
              <a:rPr lang="en-US" altLang="en-US"/>
              <a:pPr/>
              <a:t>‹#›</a:t>
            </a:fld>
            <a:endParaRPr lang="en-US" altLang="en-US"/>
          </a:p>
        </p:txBody>
      </p:sp>
    </p:spTree>
    <p:extLst>
      <p:ext uri="{BB962C8B-B14F-4D97-AF65-F5344CB8AC3E}">
        <p14:creationId xmlns:p14="http://schemas.microsoft.com/office/powerpoint/2010/main" val="293965993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Rectangle 4">
            <a:extLst>
              <a:ext uri="{FF2B5EF4-FFF2-40B4-BE49-F238E27FC236}">
                <a16:creationId xmlns:a16="http://schemas.microsoft.com/office/drawing/2014/main" id="{4CCA3C3D-3F6B-C340-9434-BC22093F66C4}"/>
              </a:ext>
            </a:extLst>
          </p:cNvPr>
          <p:cNvSpPr>
            <a:spLocks noGrp="1" noChangeArrowheads="1"/>
          </p:cNvSpPr>
          <p:nvPr>
            <p:ph type="dt" sz="half" idx="10"/>
          </p:nvPr>
        </p:nvSpPr>
        <p:spPr>
          <a:ln/>
        </p:spPr>
        <p:txBody>
          <a:bodyPr/>
          <a:lstStyle>
            <a:lvl1pPr>
              <a:defRPr/>
            </a:lvl1pPr>
          </a:lstStyle>
          <a:p>
            <a:pPr>
              <a:defRPr/>
            </a:pPr>
            <a:endParaRPr lang="en-US"/>
          </a:p>
        </p:txBody>
      </p:sp>
      <p:sp>
        <p:nvSpPr>
          <p:cNvPr id="8" name="Rectangle 5">
            <a:extLst>
              <a:ext uri="{FF2B5EF4-FFF2-40B4-BE49-F238E27FC236}">
                <a16:creationId xmlns:a16="http://schemas.microsoft.com/office/drawing/2014/main" id="{46325B26-A36C-604A-A949-95C56D35ECD5}"/>
              </a:ext>
            </a:extLst>
          </p:cNvPr>
          <p:cNvSpPr>
            <a:spLocks noGrp="1" noChangeArrowheads="1"/>
          </p:cNvSpPr>
          <p:nvPr>
            <p:ph type="ftr" sz="quarter" idx="11"/>
          </p:nvPr>
        </p:nvSpPr>
        <p:spPr>
          <a:ln/>
        </p:spPr>
        <p:txBody>
          <a:bodyPr/>
          <a:lstStyle>
            <a:lvl1pPr>
              <a:defRPr/>
            </a:lvl1pPr>
          </a:lstStyle>
          <a:p>
            <a:pPr>
              <a:defRPr/>
            </a:pPr>
            <a:endParaRPr lang="en-US"/>
          </a:p>
        </p:txBody>
      </p:sp>
      <p:sp>
        <p:nvSpPr>
          <p:cNvPr id="9" name="Rectangle 6">
            <a:extLst>
              <a:ext uri="{FF2B5EF4-FFF2-40B4-BE49-F238E27FC236}">
                <a16:creationId xmlns:a16="http://schemas.microsoft.com/office/drawing/2014/main" id="{0896F2EF-5C1B-394D-BB75-26CD186ADE8E}"/>
              </a:ext>
            </a:extLst>
          </p:cNvPr>
          <p:cNvSpPr>
            <a:spLocks noGrp="1" noChangeArrowheads="1"/>
          </p:cNvSpPr>
          <p:nvPr>
            <p:ph type="sldNum" sz="quarter" idx="12"/>
          </p:nvPr>
        </p:nvSpPr>
        <p:spPr>
          <a:ln/>
        </p:spPr>
        <p:txBody>
          <a:bodyPr/>
          <a:lstStyle>
            <a:lvl1pPr>
              <a:defRPr/>
            </a:lvl1pPr>
          </a:lstStyle>
          <a:p>
            <a:fld id="{EFE9968E-DA41-6846-BE45-B916A44A7E80}" type="slidenum">
              <a:rPr lang="en-US" altLang="en-US"/>
              <a:pPr/>
              <a:t>‹#›</a:t>
            </a:fld>
            <a:endParaRPr lang="en-US" altLang="en-US"/>
          </a:p>
        </p:txBody>
      </p:sp>
    </p:spTree>
    <p:extLst>
      <p:ext uri="{BB962C8B-B14F-4D97-AF65-F5344CB8AC3E}">
        <p14:creationId xmlns:p14="http://schemas.microsoft.com/office/powerpoint/2010/main" val="123079363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Rectangle 4">
            <a:extLst>
              <a:ext uri="{FF2B5EF4-FFF2-40B4-BE49-F238E27FC236}">
                <a16:creationId xmlns:a16="http://schemas.microsoft.com/office/drawing/2014/main" id="{CB993708-329B-E642-A563-C6423BD90296}"/>
              </a:ext>
            </a:extLst>
          </p:cNvPr>
          <p:cNvSpPr>
            <a:spLocks noGrp="1" noChangeArrowheads="1"/>
          </p:cNvSpPr>
          <p:nvPr>
            <p:ph type="dt" sz="half" idx="10"/>
          </p:nvPr>
        </p:nvSpPr>
        <p:spPr>
          <a:ln/>
        </p:spPr>
        <p:txBody>
          <a:bodyPr/>
          <a:lstStyle>
            <a:lvl1pPr>
              <a:defRPr/>
            </a:lvl1pPr>
          </a:lstStyle>
          <a:p>
            <a:pPr>
              <a:defRPr/>
            </a:pPr>
            <a:endParaRPr lang="en-US"/>
          </a:p>
        </p:txBody>
      </p:sp>
      <p:sp>
        <p:nvSpPr>
          <p:cNvPr id="4" name="Rectangle 5">
            <a:extLst>
              <a:ext uri="{FF2B5EF4-FFF2-40B4-BE49-F238E27FC236}">
                <a16:creationId xmlns:a16="http://schemas.microsoft.com/office/drawing/2014/main" id="{3FB92336-7C99-5247-9A9F-AF2401064419}"/>
              </a:ext>
            </a:extLst>
          </p:cNvPr>
          <p:cNvSpPr>
            <a:spLocks noGrp="1" noChangeArrowheads="1"/>
          </p:cNvSpPr>
          <p:nvPr>
            <p:ph type="ftr" sz="quarter" idx="11"/>
          </p:nvPr>
        </p:nvSpPr>
        <p:spPr>
          <a:ln/>
        </p:spPr>
        <p:txBody>
          <a:bodyPr/>
          <a:lstStyle>
            <a:lvl1pPr>
              <a:defRPr/>
            </a:lvl1pPr>
          </a:lstStyle>
          <a:p>
            <a:pPr>
              <a:defRPr/>
            </a:pPr>
            <a:endParaRPr lang="en-US"/>
          </a:p>
        </p:txBody>
      </p:sp>
      <p:sp>
        <p:nvSpPr>
          <p:cNvPr id="5" name="Rectangle 6">
            <a:extLst>
              <a:ext uri="{FF2B5EF4-FFF2-40B4-BE49-F238E27FC236}">
                <a16:creationId xmlns:a16="http://schemas.microsoft.com/office/drawing/2014/main" id="{69014D55-FC60-E944-97E3-C24B38CA678C}"/>
              </a:ext>
            </a:extLst>
          </p:cNvPr>
          <p:cNvSpPr>
            <a:spLocks noGrp="1" noChangeArrowheads="1"/>
          </p:cNvSpPr>
          <p:nvPr>
            <p:ph type="sldNum" sz="quarter" idx="12"/>
          </p:nvPr>
        </p:nvSpPr>
        <p:spPr>
          <a:ln/>
        </p:spPr>
        <p:txBody>
          <a:bodyPr/>
          <a:lstStyle>
            <a:lvl1pPr>
              <a:defRPr/>
            </a:lvl1pPr>
          </a:lstStyle>
          <a:p>
            <a:fld id="{DB0C1E5D-5677-FD4D-997F-45D5721A243B}" type="slidenum">
              <a:rPr lang="en-US" altLang="en-US"/>
              <a:pPr/>
              <a:t>‹#›</a:t>
            </a:fld>
            <a:endParaRPr lang="en-US" altLang="en-US"/>
          </a:p>
        </p:txBody>
      </p:sp>
    </p:spTree>
    <p:extLst>
      <p:ext uri="{BB962C8B-B14F-4D97-AF65-F5344CB8AC3E}">
        <p14:creationId xmlns:p14="http://schemas.microsoft.com/office/powerpoint/2010/main" val="135159414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4">
            <a:extLst>
              <a:ext uri="{FF2B5EF4-FFF2-40B4-BE49-F238E27FC236}">
                <a16:creationId xmlns:a16="http://schemas.microsoft.com/office/drawing/2014/main" id="{93B995BD-0A7A-3146-88C8-3A54F6768C3F}"/>
              </a:ext>
            </a:extLst>
          </p:cNvPr>
          <p:cNvSpPr>
            <a:spLocks noGrp="1" noChangeArrowheads="1"/>
          </p:cNvSpPr>
          <p:nvPr>
            <p:ph type="dt" sz="half" idx="10"/>
          </p:nvPr>
        </p:nvSpPr>
        <p:spPr>
          <a:ln/>
        </p:spPr>
        <p:txBody>
          <a:bodyPr/>
          <a:lstStyle>
            <a:lvl1pPr>
              <a:defRPr/>
            </a:lvl1pPr>
          </a:lstStyle>
          <a:p>
            <a:pPr>
              <a:defRPr/>
            </a:pPr>
            <a:endParaRPr lang="en-US"/>
          </a:p>
        </p:txBody>
      </p:sp>
      <p:sp>
        <p:nvSpPr>
          <p:cNvPr id="3" name="Rectangle 5">
            <a:extLst>
              <a:ext uri="{FF2B5EF4-FFF2-40B4-BE49-F238E27FC236}">
                <a16:creationId xmlns:a16="http://schemas.microsoft.com/office/drawing/2014/main" id="{2039394D-F23D-9C41-B3DC-72EFE7071ACC}"/>
              </a:ext>
            </a:extLst>
          </p:cNvPr>
          <p:cNvSpPr>
            <a:spLocks noGrp="1" noChangeArrowheads="1"/>
          </p:cNvSpPr>
          <p:nvPr>
            <p:ph type="ftr" sz="quarter" idx="11"/>
          </p:nvPr>
        </p:nvSpPr>
        <p:spPr>
          <a:ln/>
        </p:spPr>
        <p:txBody>
          <a:bodyPr/>
          <a:lstStyle>
            <a:lvl1pPr>
              <a:defRPr/>
            </a:lvl1pPr>
          </a:lstStyle>
          <a:p>
            <a:pPr>
              <a:defRPr/>
            </a:pPr>
            <a:endParaRPr lang="en-US"/>
          </a:p>
        </p:txBody>
      </p:sp>
      <p:sp>
        <p:nvSpPr>
          <p:cNvPr id="4" name="Rectangle 6">
            <a:extLst>
              <a:ext uri="{FF2B5EF4-FFF2-40B4-BE49-F238E27FC236}">
                <a16:creationId xmlns:a16="http://schemas.microsoft.com/office/drawing/2014/main" id="{60F467E1-F78E-1549-B541-36AD5B5C2512}"/>
              </a:ext>
            </a:extLst>
          </p:cNvPr>
          <p:cNvSpPr>
            <a:spLocks noGrp="1" noChangeArrowheads="1"/>
          </p:cNvSpPr>
          <p:nvPr>
            <p:ph type="sldNum" sz="quarter" idx="12"/>
          </p:nvPr>
        </p:nvSpPr>
        <p:spPr>
          <a:ln/>
        </p:spPr>
        <p:txBody>
          <a:bodyPr/>
          <a:lstStyle>
            <a:lvl1pPr>
              <a:defRPr/>
            </a:lvl1pPr>
          </a:lstStyle>
          <a:p>
            <a:fld id="{2FA1ABC1-1312-9347-B0CF-2BE64970D013}" type="slidenum">
              <a:rPr lang="en-US" altLang="en-US"/>
              <a:pPr/>
              <a:t>‹#›</a:t>
            </a:fld>
            <a:endParaRPr lang="en-US" altLang="en-US"/>
          </a:p>
        </p:txBody>
      </p:sp>
    </p:spTree>
    <p:extLst>
      <p:ext uri="{BB962C8B-B14F-4D97-AF65-F5344CB8AC3E}">
        <p14:creationId xmlns:p14="http://schemas.microsoft.com/office/powerpoint/2010/main" val="365570315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4">
            <a:extLst>
              <a:ext uri="{FF2B5EF4-FFF2-40B4-BE49-F238E27FC236}">
                <a16:creationId xmlns:a16="http://schemas.microsoft.com/office/drawing/2014/main" id="{739929F5-6281-C34C-8C95-7534C77F9CE7}"/>
              </a:ext>
            </a:extLst>
          </p:cNvPr>
          <p:cNvSpPr>
            <a:spLocks noGrp="1" noChangeArrowheads="1"/>
          </p:cNvSpPr>
          <p:nvPr>
            <p:ph type="dt" sz="half" idx="10"/>
          </p:nvPr>
        </p:nvSpPr>
        <p:spPr>
          <a:ln/>
        </p:spPr>
        <p:txBody>
          <a:bodyPr/>
          <a:lstStyle>
            <a:lvl1pPr>
              <a:defRPr/>
            </a:lvl1pPr>
          </a:lstStyle>
          <a:p>
            <a:pPr>
              <a:defRPr/>
            </a:pPr>
            <a:endParaRPr lang="en-US"/>
          </a:p>
        </p:txBody>
      </p:sp>
      <p:sp>
        <p:nvSpPr>
          <p:cNvPr id="6" name="Rectangle 5">
            <a:extLst>
              <a:ext uri="{FF2B5EF4-FFF2-40B4-BE49-F238E27FC236}">
                <a16:creationId xmlns:a16="http://schemas.microsoft.com/office/drawing/2014/main" id="{F28CC4AA-046D-E940-A91D-6FCA23C05C51}"/>
              </a:ext>
            </a:extLst>
          </p:cNvPr>
          <p:cNvSpPr>
            <a:spLocks noGrp="1" noChangeArrowheads="1"/>
          </p:cNvSpPr>
          <p:nvPr>
            <p:ph type="ftr" sz="quarter" idx="11"/>
          </p:nvPr>
        </p:nvSpPr>
        <p:spPr>
          <a:ln/>
        </p:spPr>
        <p:txBody>
          <a:bodyPr/>
          <a:lstStyle>
            <a:lvl1pPr>
              <a:defRPr/>
            </a:lvl1pPr>
          </a:lstStyle>
          <a:p>
            <a:pPr>
              <a:defRPr/>
            </a:pPr>
            <a:endParaRPr lang="en-US"/>
          </a:p>
        </p:txBody>
      </p:sp>
      <p:sp>
        <p:nvSpPr>
          <p:cNvPr id="7" name="Rectangle 6">
            <a:extLst>
              <a:ext uri="{FF2B5EF4-FFF2-40B4-BE49-F238E27FC236}">
                <a16:creationId xmlns:a16="http://schemas.microsoft.com/office/drawing/2014/main" id="{33D1C576-D856-7D4A-A543-FF819E497CEF}"/>
              </a:ext>
            </a:extLst>
          </p:cNvPr>
          <p:cNvSpPr>
            <a:spLocks noGrp="1" noChangeArrowheads="1"/>
          </p:cNvSpPr>
          <p:nvPr>
            <p:ph type="sldNum" sz="quarter" idx="12"/>
          </p:nvPr>
        </p:nvSpPr>
        <p:spPr>
          <a:ln/>
        </p:spPr>
        <p:txBody>
          <a:bodyPr/>
          <a:lstStyle>
            <a:lvl1pPr>
              <a:defRPr/>
            </a:lvl1pPr>
          </a:lstStyle>
          <a:p>
            <a:fld id="{3790EBE6-DD82-1E44-84E7-C8D3FE7342A9}" type="slidenum">
              <a:rPr lang="en-US" altLang="en-US"/>
              <a:pPr/>
              <a:t>‹#›</a:t>
            </a:fld>
            <a:endParaRPr lang="en-US" altLang="en-US"/>
          </a:p>
        </p:txBody>
      </p:sp>
    </p:spTree>
    <p:extLst>
      <p:ext uri="{BB962C8B-B14F-4D97-AF65-F5344CB8AC3E}">
        <p14:creationId xmlns:p14="http://schemas.microsoft.com/office/powerpoint/2010/main" val="241712324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4">
            <a:extLst>
              <a:ext uri="{FF2B5EF4-FFF2-40B4-BE49-F238E27FC236}">
                <a16:creationId xmlns:a16="http://schemas.microsoft.com/office/drawing/2014/main" id="{1665A231-88D7-FD4B-BB02-5E266C765541}"/>
              </a:ext>
            </a:extLst>
          </p:cNvPr>
          <p:cNvSpPr>
            <a:spLocks noGrp="1" noChangeArrowheads="1"/>
          </p:cNvSpPr>
          <p:nvPr>
            <p:ph type="dt" sz="half" idx="10"/>
          </p:nvPr>
        </p:nvSpPr>
        <p:spPr>
          <a:ln/>
        </p:spPr>
        <p:txBody>
          <a:bodyPr/>
          <a:lstStyle>
            <a:lvl1pPr>
              <a:defRPr/>
            </a:lvl1pPr>
          </a:lstStyle>
          <a:p>
            <a:pPr>
              <a:defRPr/>
            </a:pPr>
            <a:endParaRPr lang="en-US"/>
          </a:p>
        </p:txBody>
      </p:sp>
      <p:sp>
        <p:nvSpPr>
          <p:cNvPr id="6" name="Rectangle 5">
            <a:extLst>
              <a:ext uri="{FF2B5EF4-FFF2-40B4-BE49-F238E27FC236}">
                <a16:creationId xmlns:a16="http://schemas.microsoft.com/office/drawing/2014/main" id="{C2A7C140-1F11-984A-A777-9698ED78448F}"/>
              </a:ext>
            </a:extLst>
          </p:cNvPr>
          <p:cNvSpPr>
            <a:spLocks noGrp="1" noChangeArrowheads="1"/>
          </p:cNvSpPr>
          <p:nvPr>
            <p:ph type="ftr" sz="quarter" idx="11"/>
          </p:nvPr>
        </p:nvSpPr>
        <p:spPr>
          <a:ln/>
        </p:spPr>
        <p:txBody>
          <a:bodyPr/>
          <a:lstStyle>
            <a:lvl1pPr>
              <a:defRPr/>
            </a:lvl1pPr>
          </a:lstStyle>
          <a:p>
            <a:pPr>
              <a:defRPr/>
            </a:pPr>
            <a:endParaRPr lang="en-US"/>
          </a:p>
        </p:txBody>
      </p:sp>
      <p:sp>
        <p:nvSpPr>
          <p:cNvPr id="7" name="Rectangle 6">
            <a:extLst>
              <a:ext uri="{FF2B5EF4-FFF2-40B4-BE49-F238E27FC236}">
                <a16:creationId xmlns:a16="http://schemas.microsoft.com/office/drawing/2014/main" id="{3962D6DB-D753-4249-BFEB-CA2B23E4377B}"/>
              </a:ext>
            </a:extLst>
          </p:cNvPr>
          <p:cNvSpPr>
            <a:spLocks noGrp="1" noChangeArrowheads="1"/>
          </p:cNvSpPr>
          <p:nvPr>
            <p:ph type="sldNum" sz="quarter" idx="12"/>
          </p:nvPr>
        </p:nvSpPr>
        <p:spPr>
          <a:ln/>
        </p:spPr>
        <p:txBody>
          <a:bodyPr/>
          <a:lstStyle>
            <a:lvl1pPr>
              <a:defRPr/>
            </a:lvl1pPr>
          </a:lstStyle>
          <a:p>
            <a:fld id="{52EEF9B5-BAF2-4641-B617-7AE6F405699E}" type="slidenum">
              <a:rPr lang="en-US" altLang="en-US"/>
              <a:pPr/>
              <a:t>‹#›</a:t>
            </a:fld>
            <a:endParaRPr lang="en-US" altLang="en-US"/>
          </a:p>
        </p:txBody>
      </p:sp>
    </p:spTree>
    <p:extLst>
      <p:ext uri="{BB962C8B-B14F-4D97-AF65-F5344CB8AC3E}">
        <p14:creationId xmlns:p14="http://schemas.microsoft.com/office/powerpoint/2010/main" val="10731525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4">
            <a:extLst>
              <a:ext uri="{FF2B5EF4-FFF2-40B4-BE49-F238E27FC236}">
                <a16:creationId xmlns:a16="http://schemas.microsoft.com/office/drawing/2014/main" id="{9F002CC2-D671-9A4A-A986-98AE4FEB551C}"/>
              </a:ext>
            </a:extLst>
          </p:cNvPr>
          <p:cNvSpPr>
            <a:spLocks noGrp="1" noChangeArrowheads="1"/>
          </p:cNvSpPr>
          <p:nvPr>
            <p:ph type="dt" sz="half" idx="10"/>
          </p:nvPr>
        </p:nvSpPr>
        <p:spPr>
          <a:ln/>
        </p:spPr>
        <p:txBody>
          <a:bodyPr/>
          <a:lstStyle>
            <a:lvl1pPr>
              <a:defRPr/>
            </a:lvl1pPr>
          </a:lstStyle>
          <a:p>
            <a:pPr>
              <a:defRPr/>
            </a:pPr>
            <a:endParaRPr lang="en-US"/>
          </a:p>
        </p:txBody>
      </p:sp>
      <p:sp>
        <p:nvSpPr>
          <p:cNvPr id="5" name="Rectangle 5">
            <a:extLst>
              <a:ext uri="{FF2B5EF4-FFF2-40B4-BE49-F238E27FC236}">
                <a16:creationId xmlns:a16="http://schemas.microsoft.com/office/drawing/2014/main" id="{24408F21-AC1A-004F-8663-C58C55050502}"/>
              </a:ext>
            </a:extLst>
          </p:cNvPr>
          <p:cNvSpPr>
            <a:spLocks noGrp="1" noChangeArrowheads="1"/>
          </p:cNvSpPr>
          <p:nvPr>
            <p:ph type="ftr" sz="quarter" idx="11"/>
          </p:nvPr>
        </p:nvSpPr>
        <p:spPr>
          <a:ln/>
        </p:spPr>
        <p:txBody>
          <a:bodyPr/>
          <a:lstStyle>
            <a:lvl1pPr>
              <a:defRPr/>
            </a:lvl1pPr>
          </a:lstStyle>
          <a:p>
            <a:pPr>
              <a:defRPr/>
            </a:pPr>
            <a:endParaRPr lang="en-US"/>
          </a:p>
        </p:txBody>
      </p:sp>
      <p:sp>
        <p:nvSpPr>
          <p:cNvPr id="6" name="Rectangle 6">
            <a:extLst>
              <a:ext uri="{FF2B5EF4-FFF2-40B4-BE49-F238E27FC236}">
                <a16:creationId xmlns:a16="http://schemas.microsoft.com/office/drawing/2014/main" id="{4536952C-7DBD-C640-A675-FF3B3911E4C8}"/>
              </a:ext>
            </a:extLst>
          </p:cNvPr>
          <p:cNvSpPr>
            <a:spLocks noGrp="1" noChangeArrowheads="1"/>
          </p:cNvSpPr>
          <p:nvPr>
            <p:ph type="sldNum" sz="quarter" idx="12"/>
          </p:nvPr>
        </p:nvSpPr>
        <p:spPr>
          <a:ln/>
        </p:spPr>
        <p:txBody>
          <a:bodyPr/>
          <a:lstStyle>
            <a:lvl1pPr>
              <a:defRPr/>
            </a:lvl1pPr>
          </a:lstStyle>
          <a:p>
            <a:fld id="{8F3B0EC0-6D7F-F147-B234-E6EDB5E0CA3B}" type="slidenum">
              <a:rPr lang="en-US" altLang="en-US"/>
              <a:pPr/>
              <a:t>‹#›</a:t>
            </a:fld>
            <a:endParaRPr lang="en-US" altLang="en-US"/>
          </a:p>
        </p:txBody>
      </p:sp>
    </p:spTree>
    <p:extLst>
      <p:ext uri="{BB962C8B-B14F-4D97-AF65-F5344CB8AC3E}">
        <p14:creationId xmlns:p14="http://schemas.microsoft.com/office/powerpoint/2010/main" val="293524109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4">
            <a:extLst>
              <a:ext uri="{FF2B5EF4-FFF2-40B4-BE49-F238E27FC236}">
                <a16:creationId xmlns:a16="http://schemas.microsoft.com/office/drawing/2014/main" id="{7D7A4B95-5D12-CB40-949F-880DD5B6B1C1}"/>
              </a:ext>
            </a:extLst>
          </p:cNvPr>
          <p:cNvSpPr>
            <a:spLocks noGrp="1" noChangeArrowheads="1"/>
          </p:cNvSpPr>
          <p:nvPr>
            <p:ph type="dt" sz="half" idx="10"/>
          </p:nvPr>
        </p:nvSpPr>
        <p:spPr>
          <a:ln/>
        </p:spPr>
        <p:txBody>
          <a:bodyPr/>
          <a:lstStyle>
            <a:lvl1pPr>
              <a:defRPr/>
            </a:lvl1pPr>
          </a:lstStyle>
          <a:p>
            <a:pPr>
              <a:defRPr/>
            </a:pPr>
            <a:endParaRPr lang="en-US"/>
          </a:p>
        </p:txBody>
      </p:sp>
      <p:sp>
        <p:nvSpPr>
          <p:cNvPr id="5" name="Rectangle 5">
            <a:extLst>
              <a:ext uri="{FF2B5EF4-FFF2-40B4-BE49-F238E27FC236}">
                <a16:creationId xmlns:a16="http://schemas.microsoft.com/office/drawing/2014/main" id="{A0DC57A7-20C7-1747-84B5-BAA581C85A6F}"/>
              </a:ext>
            </a:extLst>
          </p:cNvPr>
          <p:cNvSpPr>
            <a:spLocks noGrp="1" noChangeArrowheads="1"/>
          </p:cNvSpPr>
          <p:nvPr>
            <p:ph type="ftr" sz="quarter" idx="11"/>
          </p:nvPr>
        </p:nvSpPr>
        <p:spPr>
          <a:ln/>
        </p:spPr>
        <p:txBody>
          <a:bodyPr/>
          <a:lstStyle>
            <a:lvl1pPr>
              <a:defRPr/>
            </a:lvl1pPr>
          </a:lstStyle>
          <a:p>
            <a:pPr>
              <a:defRPr/>
            </a:pPr>
            <a:endParaRPr lang="en-US"/>
          </a:p>
        </p:txBody>
      </p:sp>
      <p:sp>
        <p:nvSpPr>
          <p:cNvPr id="6" name="Rectangle 6">
            <a:extLst>
              <a:ext uri="{FF2B5EF4-FFF2-40B4-BE49-F238E27FC236}">
                <a16:creationId xmlns:a16="http://schemas.microsoft.com/office/drawing/2014/main" id="{F3EC001D-BCE1-CD47-A1C4-FB0FA8CC22DC}"/>
              </a:ext>
            </a:extLst>
          </p:cNvPr>
          <p:cNvSpPr>
            <a:spLocks noGrp="1" noChangeArrowheads="1"/>
          </p:cNvSpPr>
          <p:nvPr>
            <p:ph type="sldNum" sz="quarter" idx="12"/>
          </p:nvPr>
        </p:nvSpPr>
        <p:spPr>
          <a:ln/>
        </p:spPr>
        <p:txBody>
          <a:bodyPr/>
          <a:lstStyle>
            <a:lvl1pPr>
              <a:defRPr/>
            </a:lvl1pPr>
          </a:lstStyle>
          <a:p>
            <a:fld id="{74385888-EDBD-784D-9913-D310ACBA5344}" type="slidenum">
              <a:rPr lang="en-US" altLang="en-US"/>
              <a:pPr/>
              <a:t>‹#›</a:t>
            </a:fld>
            <a:endParaRPr lang="en-US" altLang="en-US"/>
          </a:p>
        </p:txBody>
      </p:sp>
    </p:spTree>
    <p:extLst>
      <p:ext uri="{BB962C8B-B14F-4D97-AF65-F5344CB8AC3E}">
        <p14:creationId xmlns:p14="http://schemas.microsoft.com/office/powerpoint/2010/main" val="160136225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objOverTx" preserve="1">
  <p:cSld name="Title and Content over Text">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p>
            <a:r>
              <a:rPr lang="en-US"/>
              <a:t>Click to edit Master title style</a:t>
            </a:r>
          </a:p>
        </p:txBody>
      </p:sp>
      <p:sp>
        <p:nvSpPr>
          <p:cNvPr id="3" name="Content Placeholder 2"/>
          <p:cNvSpPr>
            <a:spLocks noGrp="1"/>
          </p:cNvSpPr>
          <p:nvPr>
            <p:ph sz="half" idx="1"/>
          </p:nvPr>
        </p:nvSpPr>
        <p:spPr>
          <a:xfrm>
            <a:off x="457200" y="1600200"/>
            <a:ext cx="8229600" cy="21859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3938588"/>
            <a:ext cx="8229600" cy="218757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4">
            <a:extLst>
              <a:ext uri="{FF2B5EF4-FFF2-40B4-BE49-F238E27FC236}">
                <a16:creationId xmlns:a16="http://schemas.microsoft.com/office/drawing/2014/main" id="{0ABDBCF9-CF41-0047-A281-A51E40C7930E}"/>
              </a:ext>
            </a:extLst>
          </p:cNvPr>
          <p:cNvSpPr>
            <a:spLocks noGrp="1" noChangeArrowheads="1"/>
          </p:cNvSpPr>
          <p:nvPr>
            <p:ph type="dt" sz="half" idx="10"/>
          </p:nvPr>
        </p:nvSpPr>
        <p:spPr>
          <a:ln/>
        </p:spPr>
        <p:txBody>
          <a:bodyPr/>
          <a:lstStyle>
            <a:lvl1pPr>
              <a:defRPr/>
            </a:lvl1pPr>
          </a:lstStyle>
          <a:p>
            <a:pPr>
              <a:defRPr/>
            </a:pPr>
            <a:endParaRPr lang="en-US"/>
          </a:p>
        </p:txBody>
      </p:sp>
      <p:sp>
        <p:nvSpPr>
          <p:cNvPr id="6" name="Rectangle 5">
            <a:extLst>
              <a:ext uri="{FF2B5EF4-FFF2-40B4-BE49-F238E27FC236}">
                <a16:creationId xmlns:a16="http://schemas.microsoft.com/office/drawing/2014/main" id="{1E510697-5C07-D64D-944A-1B1AB0BA3C05}"/>
              </a:ext>
            </a:extLst>
          </p:cNvPr>
          <p:cNvSpPr>
            <a:spLocks noGrp="1" noChangeArrowheads="1"/>
          </p:cNvSpPr>
          <p:nvPr>
            <p:ph type="ftr" sz="quarter" idx="11"/>
          </p:nvPr>
        </p:nvSpPr>
        <p:spPr>
          <a:ln/>
        </p:spPr>
        <p:txBody>
          <a:bodyPr/>
          <a:lstStyle>
            <a:lvl1pPr>
              <a:defRPr/>
            </a:lvl1pPr>
          </a:lstStyle>
          <a:p>
            <a:pPr>
              <a:defRPr/>
            </a:pPr>
            <a:endParaRPr lang="en-US"/>
          </a:p>
        </p:txBody>
      </p:sp>
      <p:sp>
        <p:nvSpPr>
          <p:cNvPr id="7" name="Rectangle 6">
            <a:extLst>
              <a:ext uri="{FF2B5EF4-FFF2-40B4-BE49-F238E27FC236}">
                <a16:creationId xmlns:a16="http://schemas.microsoft.com/office/drawing/2014/main" id="{23B98005-46BD-604C-87A2-281A2FF05103}"/>
              </a:ext>
            </a:extLst>
          </p:cNvPr>
          <p:cNvSpPr>
            <a:spLocks noGrp="1" noChangeArrowheads="1"/>
          </p:cNvSpPr>
          <p:nvPr>
            <p:ph type="sldNum" sz="quarter" idx="12"/>
          </p:nvPr>
        </p:nvSpPr>
        <p:spPr>
          <a:ln/>
        </p:spPr>
        <p:txBody>
          <a:bodyPr/>
          <a:lstStyle>
            <a:lvl1pPr>
              <a:defRPr/>
            </a:lvl1pPr>
          </a:lstStyle>
          <a:p>
            <a:fld id="{4CB36BE3-D5A0-5F4A-912C-7C291B0D1D84}" type="slidenum">
              <a:rPr lang="en-US" altLang="en-US"/>
              <a:pPr/>
              <a:t>‹#›</a:t>
            </a:fld>
            <a:endParaRPr lang="en-US" altLang="en-US"/>
          </a:p>
        </p:txBody>
      </p:sp>
    </p:spTree>
    <p:extLst>
      <p:ext uri="{BB962C8B-B14F-4D97-AF65-F5344CB8AC3E}">
        <p14:creationId xmlns:p14="http://schemas.microsoft.com/office/powerpoint/2010/main" val="355080111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xAndObj" preserve="1">
  <p:cSld name="Title, Text,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p>
            <a:r>
              <a:rPr lang="en-US"/>
              <a:t>Click to edit Master title style</a:t>
            </a:r>
          </a:p>
        </p:txBody>
      </p:sp>
      <p:sp>
        <p:nvSpPr>
          <p:cNvPr id="3" name="Text Placeholder 2"/>
          <p:cNvSpPr>
            <a:spLocks noGrp="1"/>
          </p:cNvSpPr>
          <p:nvPr>
            <p:ph type="body" sz="half" idx="1"/>
          </p:nvPr>
        </p:nvSpPr>
        <p:spPr>
          <a:xfrm>
            <a:off x="457200" y="1600200"/>
            <a:ext cx="4038600" cy="452596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4">
            <a:extLst>
              <a:ext uri="{FF2B5EF4-FFF2-40B4-BE49-F238E27FC236}">
                <a16:creationId xmlns:a16="http://schemas.microsoft.com/office/drawing/2014/main" id="{98FCD1EC-09DA-9B41-8FCF-C59830AFD9AE}"/>
              </a:ext>
            </a:extLst>
          </p:cNvPr>
          <p:cNvSpPr>
            <a:spLocks noGrp="1" noChangeArrowheads="1"/>
          </p:cNvSpPr>
          <p:nvPr>
            <p:ph type="dt" sz="half" idx="10"/>
          </p:nvPr>
        </p:nvSpPr>
        <p:spPr>
          <a:ln/>
        </p:spPr>
        <p:txBody>
          <a:bodyPr/>
          <a:lstStyle>
            <a:lvl1pPr>
              <a:defRPr/>
            </a:lvl1pPr>
          </a:lstStyle>
          <a:p>
            <a:pPr>
              <a:defRPr/>
            </a:pPr>
            <a:endParaRPr lang="en-US"/>
          </a:p>
        </p:txBody>
      </p:sp>
      <p:sp>
        <p:nvSpPr>
          <p:cNvPr id="6" name="Rectangle 5">
            <a:extLst>
              <a:ext uri="{FF2B5EF4-FFF2-40B4-BE49-F238E27FC236}">
                <a16:creationId xmlns:a16="http://schemas.microsoft.com/office/drawing/2014/main" id="{375E0EB3-9241-F84D-85C1-9B7FB8E2E731}"/>
              </a:ext>
            </a:extLst>
          </p:cNvPr>
          <p:cNvSpPr>
            <a:spLocks noGrp="1" noChangeArrowheads="1"/>
          </p:cNvSpPr>
          <p:nvPr>
            <p:ph type="ftr" sz="quarter" idx="11"/>
          </p:nvPr>
        </p:nvSpPr>
        <p:spPr>
          <a:ln/>
        </p:spPr>
        <p:txBody>
          <a:bodyPr/>
          <a:lstStyle>
            <a:lvl1pPr>
              <a:defRPr/>
            </a:lvl1pPr>
          </a:lstStyle>
          <a:p>
            <a:pPr>
              <a:defRPr/>
            </a:pPr>
            <a:endParaRPr lang="en-US"/>
          </a:p>
        </p:txBody>
      </p:sp>
      <p:sp>
        <p:nvSpPr>
          <p:cNvPr id="7" name="Rectangle 6">
            <a:extLst>
              <a:ext uri="{FF2B5EF4-FFF2-40B4-BE49-F238E27FC236}">
                <a16:creationId xmlns:a16="http://schemas.microsoft.com/office/drawing/2014/main" id="{527D926C-EF55-3A4B-AB00-A9B543EF5CF2}"/>
              </a:ext>
            </a:extLst>
          </p:cNvPr>
          <p:cNvSpPr>
            <a:spLocks noGrp="1" noChangeArrowheads="1"/>
          </p:cNvSpPr>
          <p:nvPr>
            <p:ph type="sldNum" sz="quarter" idx="12"/>
          </p:nvPr>
        </p:nvSpPr>
        <p:spPr>
          <a:ln/>
        </p:spPr>
        <p:txBody>
          <a:bodyPr/>
          <a:lstStyle>
            <a:lvl1pPr>
              <a:defRPr/>
            </a:lvl1pPr>
          </a:lstStyle>
          <a:p>
            <a:fld id="{09484A39-A67A-B040-8298-586EF8E3ED40}" type="slidenum">
              <a:rPr lang="en-US" altLang="en-US"/>
              <a:pPr/>
              <a:t>‹#›</a:t>
            </a:fld>
            <a:endParaRPr lang="en-US" altLang="en-US"/>
          </a:p>
        </p:txBody>
      </p:sp>
    </p:spTree>
    <p:extLst>
      <p:ext uri="{BB962C8B-B14F-4D97-AF65-F5344CB8AC3E}">
        <p14:creationId xmlns:p14="http://schemas.microsoft.com/office/powerpoint/2010/main" val="926256515"/>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endParaRPr lang="en-GB"/>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GB"/>
          </a:p>
        </p:txBody>
      </p:sp>
      <p:sp>
        <p:nvSpPr>
          <p:cNvPr id="4" name="Date Placeholder 3">
            <a:extLst>
              <a:ext uri="{FF2B5EF4-FFF2-40B4-BE49-F238E27FC236}">
                <a16:creationId xmlns:a16="http://schemas.microsoft.com/office/drawing/2014/main" id="{C500BC43-1BA8-9143-970B-E6DD06FF2F7D}"/>
              </a:ext>
            </a:extLst>
          </p:cNvPr>
          <p:cNvSpPr>
            <a:spLocks noGrp="1"/>
          </p:cNvSpPr>
          <p:nvPr>
            <p:ph type="dt" sz="half" idx="10"/>
          </p:nvPr>
        </p:nvSpPr>
        <p:spPr/>
        <p:txBody>
          <a:bodyPr/>
          <a:lstStyle>
            <a:lvl1pPr>
              <a:defRPr/>
            </a:lvl1pPr>
          </a:lstStyle>
          <a:p>
            <a:fld id="{7B369481-EFF0-CD47-9589-C6F794573C9D}" type="datetimeFigureOut">
              <a:rPr lang="en-GB" altLang="en-US"/>
              <a:pPr/>
              <a:t>28/04/2025</a:t>
            </a:fld>
            <a:endParaRPr lang="en-GB" altLang="en-US"/>
          </a:p>
        </p:txBody>
      </p:sp>
      <p:sp>
        <p:nvSpPr>
          <p:cNvPr id="5" name="Footer Placeholder 4">
            <a:extLst>
              <a:ext uri="{FF2B5EF4-FFF2-40B4-BE49-F238E27FC236}">
                <a16:creationId xmlns:a16="http://schemas.microsoft.com/office/drawing/2014/main" id="{2EC7AC2A-EAE7-1C45-AE19-C556E6C5E34C}"/>
              </a:ext>
            </a:extLst>
          </p:cNvPr>
          <p:cNvSpPr>
            <a:spLocks noGrp="1"/>
          </p:cNvSpPr>
          <p:nvPr>
            <p:ph type="ftr" sz="quarter" idx="11"/>
          </p:nvPr>
        </p:nvSpPr>
        <p:spPr/>
        <p:txBody>
          <a:bodyPr/>
          <a:lstStyle>
            <a:lvl1pPr fontAlgn="base">
              <a:spcBef>
                <a:spcPct val="0"/>
              </a:spcBef>
              <a:spcAft>
                <a:spcPct val="0"/>
              </a:spcAft>
              <a:defRPr>
                <a:ea typeface="ＭＳ Ｐゴシック" charset="0"/>
                <a:cs typeface="ＭＳ Ｐゴシック" charset="0"/>
              </a:defRPr>
            </a:lvl1pPr>
          </a:lstStyle>
          <a:p>
            <a:pPr>
              <a:defRPr/>
            </a:pPr>
            <a:endParaRPr lang="en-GB"/>
          </a:p>
        </p:txBody>
      </p:sp>
      <p:sp>
        <p:nvSpPr>
          <p:cNvPr id="6" name="Slide Number Placeholder 5">
            <a:extLst>
              <a:ext uri="{FF2B5EF4-FFF2-40B4-BE49-F238E27FC236}">
                <a16:creationId xmlns:a16="http://schemas.microsoft.com/office/drawing/2014/main" id="{F91EDD85-667A-2C45-A0D6-A6D2DF1EC8E4}"/>
              </a:ext>
            </a:extLst>
          </p:cNvPr>
          <p:cNvSpPr>
            <a:spLocks noGrp="1"/>
          </p:cNvSpPr>
          <p:nvPr>
            <p:ph type="sldNum" sz="quarter" idx="12"/>
          </p:nvPr>
        </p:nvSpPr>
        <p:spPr/>
        <p:txBody>
          <a:bodyPr/>
          <a:lstStyle>
            <a:lvl1pPr>
              <a:defRPr/>
            </a:lvl1pPr>
          </a:lstStyle>
          <a:p>
            <a:fld id="{A072EB30-A254-754C-9E3F-9E1666F24127}" type="slidenum">
              <a:rPr lang="en-GB" altLang="en-US"/>
              <a:pPr/>
              <a:t>‹#›</a:t>
            </a:fld>
            <a:endParaRPr lang="en-GB" altLang="en-US"/>
          </a:p>
        </p:txBody>
      </p:sp>
    </p:spTree>
    <p:extLst>
      <p:ext uri="{BB962C8B-B14F-4D97-AF65-F5344CB8AC3E}">
        <p14:creationId xmlns:p14="http://schemas.microsoft.com/office/powerpoint/2010/main" val="1702701587"/>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C659EDB9-AC15-4240-94B8-F1C22E208506}"/>
              </a:ext>
            </a:extLst>
          </p:cNvPr>
          <p:cNvSpPr>
            <a:spLocks noGrp="1"/>
          </p:cNvSpPr>
          <p:nvPr>
            <p:ph type="dt" sz="half" idx="10"/>
          </p:nvPr>
        </p:nvSpPr>
        <p:spPr/>
        <p:txBody>
          <a:bodyPr/>
          <a:lstStyle>
            <a:lvl1pPr>
              <a:defRPr/>
            </a:lvl1pPr>
          </a:lstStyle>
          <a:p>
            <a:fld id="{8F8AD6E3-EBB8-BD4E-A3B4-ECB8434A1BD2}" type="datetimeFigureOut">
              <a:rPr lang="en-GB" altLang="en-US"/>
              <a:pPr/>
              <a:t>28/04/2025</a:t>
            </a:fld>
            <a:endParaRPr lang="en-GB" altLang="en-US"/>
          </a:p>
        </p:txBody>
      </p:sp>
      <p:sp>
        <p:nvSpPr>
          <p:cNvPr id="5" name="Footer Placeholder 4">
            <a:extLst>
              <a:ext uri="{FF2B5EF4-FFF2-40B4-BE49-F238E27FC236}">
                <a16:creationId xmlns:a16="http://schemas.microsoft.com/office/drawing/2014/main" id="{E2CF49CB-8DF9-CB42-9D5A-11700E3F8930}"/>
              </a:ext>
            </a:extLst>
          </p:cNvPr>
          <p:cNvSpPr>
            <a:spLocks noGrp="1"/>
          </p:cNvSpPr>
          <p:nvPr>
            <p:ph type="ftr" sz="quarter" idx="11"/>
          </p:nvPr>
        </p:nvSpPr>
        <p:spPr/>
        <p:txBody>
          <a:bodyPr/>
          <a:lstStyle>
            <a:lvl1pPr fontAlgn="base">
              <a:spcBef>
                <a:spcPct val="0"/>
              </a:spcBef>
              <a:spcAft>
                <a:spcPct val="0"/>
              </a:spcAft>
              <a:defRPr>
                <a:ea typeface="ＭＳ Ｐゴシック" charset="0"/>
                <a:cs typeface="ＭＳ Ｐゴシック" charset="0"/>
              </a:defRPr>
            </a:lvl1pPr>
          </a:lstStyle>
          <a:p>
            <a:pPr>
              <a:defRPr/>
            </a:pPr>
            <a:endParaRPr lang="en-GB"/>
          </a:p>
        </p:txBody>
      </p:sp>
      <p:sp>
        <p:nvSpPr>
          <p:cNvPr id="6" name="Slide Number Placeholder 5">
            <a:extLst>
              <a:ext uri="{FF2B5EF4-FFF2-40B4-BE49-F238E27FC236}">
                <a16:creationId xmlns:a16="http://schemas.microsoft.com/office/drawing/2014/main" id="{8ECFC098-0874-2241-B540-74B2D622250C}"/>
              </a:ext>
            </a:extLst>
          </p:cNvPr>
          <p:cNvSpPr>
            <a:spLocks noGrp="1"/>
          </p:cNvSpPr>
          <p:nvPr>
            <p:ph type="sldNum" sz="quarter" idx="12"/>
          </p:nvPr>
        </p:nvSpPr>
        <p:spPr/>
        <p:txBody>
          <a:bodyPr/>
          <a:lstStyle>
            <a:lvl1pPr>
              <a:defRPr/>
            </a:lvl1pPr>
          </a:lstStyle>
          <a:p>
            <a:fld id="{79327878-3871-DF4C-8C70-18857135DD91}" type="slidenum">
              <a:rPr lang="en-GB" altLang="en-US"/>
              <a:pPr/>
              <a:t>‹#›</a:t>
            </a:fld>
            <a:endParaRPr lang="en-GB" altLang="en-US"/>
          </a:p>
        </p:txBody>
      </p:sp>
    </p:spTree>
    <p:extLst>
      <p:ext uri="{BB962C8B-B14F-4D97-AF65-F5344CB8AC3E}">
        <p14:creationId xmlns:p14="http://schemas.microsoft.com/office/powerpoint/2010/main" val="4243985279"/>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endParaRPr lang="en-GB"/>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E6FD039C-4A9E-F947-897A-2261F6A88E53}"/>
              </a:ext>
            </a:extLst>
          </p:cNvPr>
          <p:cNvSpPr>
            <a:spLocks noGrp="1"/>
          </p:cNvSpPr>
          <p:nvPr>
            <p:ph type="dt" sz="half" idx="10"/>
          </p:nvPr>
        </p:nvSpPr>
        <p:spPr/>
        <p:txBody>
          <a:bodyPr/>
          <a:lstStyle>
            <a:lvl1pPr>
              <a:defRPr/>
            </a:lvl1pPr>
          </a:lstStyle>
          <a:p>
            <a:fld id="{A744B87F-E803-8141-905C-DC164D8B8DC6}" type="datetimeFigureOut">
              <a:rPr lang="en-GB" altLang="en-US"/>
              <a:pPr/>
              <a:t>28/04/2025</a:t>
            </a:fld>
            <a:endParaRPr lang="en-GB" altLang="en-US"/>
          </a:p>
        </p:txBody>
      </p:sp>
      <p:sp>
        <p:nvSpPr>
          <p:cNvPr id="5" name="Footer Placeholder 4">
            <a:extLst>
              <a:ext uri="{FF2B5EF4-FFF2-40B4-BE49-F238E27FC236}">
                <a16:creationId xmlns:a16="http://schemas.microsoft.com/office/drawing/2014/main" id="{B76C3DAC-ACC9-DC4C-85AE-7DF351AD81B7}"/>
              </a:ext>
            </a:extLst>
          </p:cNvPr>
          <p:cNvSpPr>
            <a:spLocks noGrp="1"/>
          </p:cNvSpPr>
          <p:nvPr>
            <p:ph type="ftr" sz="quarter" idx="11"/>
          </p:nvPr>
        </p:nvSpPr>
        <p:spPr/>
        <p:txBody>
          <a:bodyPr/>
          <a:lstStyle>
            <a:lvl1pPr fontAlgn="base">
              <a:spcBef>
                <a:spcPct val="0"/>
              </a:spcBef>
              <a:spcAft>
                <a:spcPct val="0"/>
              </a:spcAft>
              <a:defRPr>
                <a:ea typeface="ＭＳ Ｐゴシック" charset="0"/>
                <a:cs typeface="ＭＳ Ｐゴシック" charset="0"/>
              </a:defRPr>
            </a:lvl1pPr>
          </a:lstStyle>
          <a:p>
            <a:pPr>
              <a:defRPr/>
            </a:pPr>
            <a:endParaRPr lang="en-GB"/>
          </a:p>
        </p:txBody>
      </p:sp>
      <p:sp>
        <p:nvSpPr>
          <p:cNvPr id="6" name="Slide Number Placeholder 5">
            <a:extLst>
              <a:ext uri="{FF2B5EF4-FFF2-40B4-BE49-F238E27FC236}">
                <a16:creationId xmlns:a16="http://schemas.microsoft.com/office/drawing/2014/main" id="{DDDF1EE4-B40D-3945-AB3B-694EB27BFF30}"/>
              </a:ext>
            </a:extLst>
          </p:cNvPr>
          <p:cNvSpPr>
            <a:spLocks noGrp="1"/>
          </p:cNvSpPr>
          <p:nvPr>
            <p:ph type="sldNum" sz="quarter" idx="12"/>
          </p:nvPr>
        </p:nvSpPr>
        <p:spPr/>
        <p:txBody>
          <a:bodyPr/>
          <a:lstStyle>
            <a:lvl1pPr>
              <a:defRPr/>
            </a:lvl1pPr>
          </a:lstStyle>
          <a:p>
            <a:fld id="{3C4DB24A-A0B6-E246-864C-0826835FB1BC}" type="slidenum">
              <a:rPr lang="en-GB" altLang="en-US"/>
              <a:pPr/>
              <a:t>‹#›</a:t>
            </a:fld>
            <a:endParaRPr lang="en-GB" altLang="en-US"/>
          </a:p>
        </p:txBody>
      </p:sp>
    </p:spTree>
    <p:extLst>
      <p:ext uri="{BB962C8B-B14F-4D97-AF65-F5344CB8AC3E}">
        <p14:creationId xmlns:p14="http://schemas.microsoft.com/office/powerpoint/2010/main" val="3568322219"/>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Date Placeholder 4">
            <a:extLst>
              <a:ext uri="{FF2B5EF4-FFF2-40B4-BE49-F238E27FC236}">
                <a16:creationId xmlns:a16="http://schemas.microsoft.com/office/drawing/2014/main" id="{73867130-D612-064D-AF92-CD550E04C3E1}"/>
              </a:ext>
            </a:extLst>
          </p:cNvPr>
          <p:cNvSpPr>
            <a:spLocks noGrp="1"/>
          </p:cNvSpPr>
          <p:nvPr>
            <p:ph type="dt" sz="half" idx="10"/>
          </p:nvPr>
        </p:nvSpPr>
        <p:spPr/>
        <p:txBody>
          <a:bodyPr/>
          <a:lstStyle>
            <a:lvl1pPr>
              <a:defRPr/>
            </a:lvl1pPr>
          </a:lstStyle>
          <a:p>
            <a:fld id="{4CDF343E-0197-D34F-A549-3837F05BD0F7}" type="datetimeFigureOut">
              <a:rPr lang="en-GB" altLang="en-US"/>
              <a:pPr/>
              <a:t>28/04/2025</a:t>
            </a:fld>
            <a:endParaRPr lang="en-GB" altLang="en-US"/>
          </a:p>
        </p:txBody>
      </p:sp>
      <p:sp>
        <p:nvSpPr>
          <p:cNvPr id="6" name="Footer Placeholder 5">
            <a:extLst>
              <a:ext uri="{FF2B5EF4-FFF2-40B4-BE49-F238E27FC236}">
                <a16:creationId xmlns:a16="http://schemas.microsoft.com/office/drawing/2014/main" id="{9FA6AE0F-C767-8F4D-892E-247EE592F83C}"/>
              </a:ext>
            </a:extLst>
          </p:cNvPr>
          <p:cNvSpPr>
            <a:spLocks noGrp="1"/>
          </p:cNvSpPr>
          <p:nvPr>
            <p:ph type="ftr" sz="quarter" idx="11"/>
          </p:nvPr>
        </p:nvSpPr>
        <p:spPr/>
        <p:txBody>
          <a:bodyPr/>
          <a:lstStyle>
            <a:lvl1pPr fontAlgn="base">
              <a:spcBef>
                <a:spcPct val="0"/>
              </a:spcBef>
              <a:spcAft>
                <a:spcPct val="0"/>
              </a:spcAft>
              <a:defRPr>
                <a:ea typeface="ＭＳ Ｐゴシック" charset="0"/>
                <a:cs typeface="ＭＳ Ｐゴシック" charset="0"/>
              </a:defRPr>
            </a:lvl1pPr>
          </a:lstStyle>
          <a:p>
            <a:pPr>
              <a:defRPr/>
            </a:pPr>
            <a:endParaRPr lang="en-GB"/>
          </a:p>
        </p:txBody>
      </p:sp>
      <p:sp>
        <p:nvSpPr>
          <p:cNvPr id="7" name="Slide Number Placeholder 6">
            <a:extLst>
              <a:ext uri="{FF2B5EF4-FFF2-40B4-BE49-F238E27FC236}">
                <a16:creationId xmlns:a16="http://schemas.microsoft.com/office/drawing/2014/main" id="{7DBE4C79-9F5D-0F48-989C-7AE176999F20}"/>
              </a:ext>
            </a:extLst>
          </p:cNvPr>
          <p:cNvSpPr>
            <a:spLocks noGrp="1"/>
          </p:cNvSpPr>
          <p:nvPr>
            <p:ph type="sldNum" sz="quarter" idx="12"/>
          </p:nvPr>
        </p:nvSpPr>
        <p:spPr/>
        <p:txBody>
          <a:bodyPr/>
          <a:lstStyle>
            <a:lvl1pPr>
              <a:defRPr/>
            </a:lvl1pPr>
          </a:lstStyle>
          <a:p>
            <a:fld id="{8E6EF6BE-BA5F-B942-A550-3649A147FBF4}" type="slidenum">
              <a:rPr lang="en-GB" altLang="en-US"/>
              <a:pPr/>
              <a:t>‹#›</a:t>
            </a:fld>
            <a:endParaRPr lang="en-GB" altLang="en-US"/>
          </a:p>
        </p:txBody>
      </p:sp>
    </p:spTree>
    <p:extLst>
      <p:ext uri="{BB962C8B-B14F-4D97-AF65-F5344CB8AC3E}">
        <p14:creationId xmlns:p14="http://schemas.microsoft.com/office/powerpoint/2010/main" val="2748079269"/>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GB"/>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7" name="Date Placeholder 6">
            <a:extLst>
              <a:ext uri="{FF2B5EF4-FFF2-40B4-BE49-F238E27FC236}">
                <a16:creationId xmlns:a16="http://schemas.microsoft.com/office/drawing/2014/main" id="{FC323E7F-1F58-004B-A457-06A0C4F0B30E}"/>
              </a:ext>
            </a:extLst>
          </p:cNvPr>
          <p:cNvSpPr>
            <a:spLocks noGrp="1"/>
          </p:cNvSpPr>
          <p:nvPr>
            <p:ph type="dt" sz="half" idx="10"/>
          </p:nvPr>
        </p:nvSpPr>
        <p:spPr/>
        <p:txBody>
          <a:bodyPr/>
          <a:lstStyle>
            <a:lvl1pPr>
              <a:defRPr/>
            </a:lvl1pPr>
          </a:lstStyle>
          <a:p>
            <a:fld id="{5C56C7EB-28D4-7445-BD14-6C79DACDFAD1}" type="datetimeFigureOut">
              <a:rPr lang="en-GB" altLang="en-US"/>
              <a:pPr/>
              <a:t>28/04/2025</a:t>
            </a:fld>
            <a:endParaRPr lang="en-GB" altLang="en-US"/>
          </a:p>
        </p:txBody>
      </p:sp>
      <p:sp>
        <p:nvSpPr>
          <p:cNvPr id="8" name="Footer Placeholder 7">
            <a:extLst>
              <a:ext uri="{FF2B5EF4-FFF2-40B4-BE49-F238E27FC236}">
                <a16:creationId xmlns:a16="http://schemas.microsoft.com/office/drawing/2014/main" id="{4F83F8D2-F803-8C40-A966-BEDB5A3FA30E}"/>
              </a:ext>
            </a:extLst>
          </p:cNvPr>
          <p:cNvSpPr>
            <a:spLocks noGrp="1"/>
          </p:cNvSpPr>
          <p:nvPr>
            <p:ph type="ftr" sz="quarter" idx="11"/>
          </p:nvPr>
        </p:nvSpPr>
        <p:spPr/>
        <p:txBody>
          <a:bodyPr/>
          <a:lstStyle>
            <a:lvl1pPr fontAlgn="base">
              <a:spcBef>
                <a:spcPct val="0"/>
              </a:spcBef>
              <a:spcAft>
                <a:spcPct val="0"/>
              </a:spcAft>
              <a:defRPr>
                <a:ea typeface="ＭＳ Ｐゴシック" charset="0"/>
                <a:cs typeface="ＭＳ Ｐゴシック" charset="0"/>
              </a:defRPr>
            </a:lvl1pPr>
          </a:lstStyle>
          <a:p>
            <a:pPr>
              <a:defRPr/>
            </a:pPr>
            <a:endParaRPr lang="en-GB"/>
          </a:p>
        </p:txBody>
      </p:sp>
      <p:sp>
        <p:nvSpPr>
          <p:cNvPr id="9" name="Slide Number Placeholder 8">
            <a:extLst>
              <a:ext uri="{FF2B5EF4-FFF2-40B4-BE49-F238E27FC236}">
                <a16:creationId xmlns:a16="http://schemas.microsoft.com/office/drawing/2014/main" id="{90B9C1D3-489F-E840-960A-EE0D080D1732}"/>
              </a:ext>
            </a:extLst>
          </p:cNvPr>
          <p:cNvSpPr>
            <a:spLocks noGrp="1"/>
          </p:cNvSpPr>
          <p:nvPr>
            <p:ph type="sldNum" sz="quarter" idx="12"/>
          </p:nvPr>
        </p:nvSpPr>
        <p:spPr/>
        <p:txBody>
          <a:bodyPr/>
          <a:lstStyle>
            <a:lvl1pPr>
              <a:defRPr/>
            </a:lvl1pPr>
          </a:lstStyle>
          <a:p>
            <a:fld id="{4CF9511B-CAE6-D249-A97E-0E62E8C19CF0}" type="slidenum">
              <a:rPr lang="en-GB" altLang="en-US"/>
              <a:pPr/>
              <a:t>‹#›</a:t>
            </a:fld>
            <a:endParaRPr lang="en-GB" altLang="en-US"/>
          </a:p>
        </p:txBody>
      </p:sp>
    </p:spTree>
    <p:extLst>
      <p:ext uri="{BB962C8B-B14F-4D97-AF65-F5344CB8AC3E}">
        <p14:creationId xmlns:p14="http://schemas.microsoft.com/office/powerpoint/2010/main" val="1493178280"/>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Date Placeholder 2">
            <a:extLst>
              <a:ext uri="{FF2B5EF4-FFF2-40B4-BE49-F238E27FC236}">
                <a16:creationId xmlns:a16="http://schemas.microsoft.com/office/drawing/2014/main" id="{C8A0FC7D-6712-8D45-BB30-57ECB017C356}"/>
              </a:ext>
            </a:extLst>
          </p:cNvPr>
          <p:cNvSpPr>
            <a:spLocks noGrp="1"/>
          </p:cNvSpPr>
          <p:nvPr>
            <p:ph type="dt" sz="half" idx="10"/>
          </p:nvPr>
        </p:nvSpPr>
        <p:spPr/>
        <p:txBody>
          <a:bodyPr/>
          <a:lstStyle>
            <a:lvl1pPr>
              <a:defRPr/>
            </a:lvl1pPr>
          </a:lstStyle>
          <a:p>
            <a:fld id="{0FBADAF8-E3DC-8946-98C4-DB3F4231C6BB}" type="datetimeFigureOut">
              <a:rPr lang="en-GB" altLang="en-US"/>
              <a:pPr/>
              <a:t>28/04/2025</a:t>
            </a:fld>
            <a:endParaRPr lang="en-GB" altLang="en-US"/>
          </a:p>
        </p:txBody>
      </p:sp>
      <p:sp>
        <p:nvSpPr>
          <p:cNvPr id="4" name="Footer Placeholder 3">
            <a:extLst>
              <a:ext uri="{FF2B5EF4-FFF2-40B4-BE49-F238E27FC236}">
                <a16:creationId xmlns:a16="http://schemas.microsoft.com/office/drawing/2014/main" id="{6127AE25-BBE6-C54C-A9E7-C7CB35647A39}"/>
              </a:ext>
            </a:extLst>
          </p:cNvPr>
          <p:cNvSpPr>
            <a:spLocks noGrp="1"/>
          </p:cNvSpPr>
          <p:nvPr>
            <p:ph type="ftr" sz="quarter" idx="11"/>
          </p:nvPr>
        </p:nvSpPr>
        <p:spPr/>
        <p:txBody>
          <a:bodyPr/>
          <a:lstStyle>
            <a:lvl1pPr fontAlgn="base">
              <a:spcBef>
                <a:spcPct val="0"/>
              </a:spcBef>
              <a:spcAft>
                <a:spcPct val="0"/>
              </a:spcAft>
              <a:defRPr>
                <a:ea typeface="ＭＳ Ｐゴシック" charset="0"/>
                <a:cs typeface="ＭＳ Ｐゴシック" charset="0"/>
              </a:defRPr>
            </a:lvl1pPr>
          </a:lstStyle>
          <a:p>
            <a:pPr>
              <a:defRPr/>
            </a:pPr>
            <a:endParaRPr lang="en-GB"/>
          </a:p>
        </p:txBody>
      </p:sp>
      <p:sp>
        <p:nvSpPr>
          <p:cNvPr id="5" name="Slide Number Placeholder 4">
            <a:extLst>
              <a:ext uri="{FF2B5EF4-FFF2-40B4-BE49-F238E27FC236}">
                <a16:creationId xmlns:a16="http://schemas.microsoft.com/office/drawing/2014/main" id="{41780365-A95D-934A-8EC8-A74EA29E345B}"/>
              </a:ext>
            </a:extLst>
          </p:cNvPr>
          <p:cNvSpPr>
            <a:spLocks noGrp="1"/>
          </p:cNvSpPr>
          <p:nvPr>
            <p:ph type="sldNum" sz="quarter" idx="12"/>
          </p:nvPr>
        </p:nvSpPr>
        <p:spPr/>
        <p:txBody>
          <a:bodyPr/>
          <a:lstStyle>
            <a:lvl1pPr>
              <a:defRPr/>
            </a:lvl1pPr>
          </a:lstStyle>
          <a:p>
            <a:fld id="{B78156DF-2D8B-B14C-8AEB-AECF52B94542}" type="slidenum">
              <a:rPr lang="en-GB" altLang="en-US"/>
              <a:pPr/>
              <a:t>‹#›</a:t>
            </a:fld>
            <a:endParaRPr lang="en-GB" altLang="en-US"/>
          </a:p>
        </p:txBody>
      </p:sp>
    </p:spTree>
    <p:extLst>
      <p:ext uri="{BB962C8B-B14F-4D97-AF65-F5344CB8AC3E}">
        <p14:creationId xmlns:p14="http://schemas.microsoft.com/office/powerpoint/2010/main" val="1708792819"/>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B2CCAB67-FE51-9449-8FC5-05C715066C43}"/>
              </a:ext>
            </a:extLst>
          </p:cNvPr>
          <p:cNvSpPr>
            <a:spLocks noGrp="1"/>
          </p:cNvSpPr>
          <p:nvPr>
            <p:ph type="dt" sz="half" idx="10"/>
          </p:nvPr>
        </p:nvSpPr>
        <p:spPr/>
        <p:txBody>
          <a:bodyPr/>
          <a:lstStyle>
            <a:lvl1pPr>
              <a:defRPr/>
            </a:lvl1pPr>
          </a:lstStyle>
          <a:p>
            <a:fld id="{1C87BCF1-3624-B746-BE94-2C487B68DFBC}" type="datetimeFigureOut">
              <a:rPr lang="en-GB" altLang="en-US"/>
              <a:pPr/>
              <a:t>28/04/2025</a:t>
            </a:fld>
            <a:endParaRPr lang="en-GB" altLang="en-US"/>
          </a:p>
        </p:txBody>
      </p:sp>
      <p:sp>
        <p:nvSpPr>
          <p:cNvPr id="3" name="Footer Placeholder 2">
            <a:extLst>
              <a:ext uri="{FF2B5EF4-FFF2-40B4-BE49-F238E27FC236}">
                <a16:creationId xmlns:a16="http://schemas.microsoft.com/office/drawing/2014/main" id="{8CA63618-6A37-8042-B379-67F8CB783A89}"/>
              </a:ext>
            </a:extLst>
          </p:cNvPr>
          <p:cNvSpPr>
            <a:spLocks noGrp="1"/>
          </p:cNvSpPr>
          <p:nvPr>
            <p:ph type="ftr" sz="quarter" idx="11"/>
          </p:nvPr>
        </p:nvSpPr>
        <p:spPr/>
        <p:txBody>
          <a:bodyPr/>
          <a:lstStyle>
            <a:lvl1pPr fontAlgn="base">
              <a:spcBef>
                <a:spcPct val="0"/>
              </a:spcBef>
              <a:spcAft>
                <a:spcPct val="0"/>
              </a:spcAft>
              <a:defRPr>
                <a:ea typeface="ＭＳ Ｐゴシック" charset="0"/>
                <a:cs typeface="ＭＳ Ｐゴシック" charset="0"/>
              </a:defRPr>
            </a:lvl1pPr>
          </a:lstStyle>
          <a:p>
            <a:pPr>
              <a:defRPr/>
            </a:pPr>
            <a:endParaRPr lang="en-GB"/>
          </a:p>
        </p:txBody>
      </p:sp>
      <p:sp>
        <p:nvSpPr>
          <p:cNvPr id="4" name="Slide Number Placeholder 3">
            <a:extLst>
              <a:ext uri="{FF2B5EF4-FFF2-40B4-BE49-F238E27FC236}">
                <a16:creationId xmlns:a16="http://schemas.microsoft.com/office/drawing/2014/main" id="{E99836C6-199A-CC4A-90C3-D7BC16D654FA}"/>
              </a:ext>
            </a:extLst>
          </p:cNvPr>
          <p:cNvSpPr>
            <a:spLocks noGrp="1"/>
          </p:cNvSpPr>
          <p:nvPr>
            <p:ph type="sldNum" sz="quarter" idx="12"/>
          </p:nvPr>
        </p:nvSpPr>
        <p:spPr/>
        <p:txBody>
          <a:bodyPr/>
          <a:lstStyle>
            <a:lvl1pPr>
              <a:defRPr/>
            </a:lvl1pPr>
          </a:lstStyle>
          <a:p>
            <a:fld id="{B589D8A8-680D-E448-96FC-2BA91483D9CE}" type="slidenum">
              <a:rPr lang="en-GB" altLang="en-US"/>
              <a:pPr/>
              <a:t>‹#›</a:t>
            </a:fld>
            <a:endParaRPr lang="en-GB" altLang="en-US"/>
          </a:p>
        </p:txBody>
      </p:sp>
    </p:spTree>
    <p:extLst>
      <p:ext uri="{BB962C8B-B14F-4D97-AF65-F5344CB8AC3E}">
        <p14:creationId xmlns:p14="http://schemas.microsoft.com/office/powerpoint/2010/main" val="3348291017"/>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endParaRPr lang="en-GB"/>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a:extLst>
              <a:ext uri="{FF2B5EF4-FFF2-40B4-BE49-F238E27FC236}">
                <a16:creationId xmlns:a16="http://schemas.microsoft.com/office/drawing/2014/main" id="{1E7F7E52-2919-D84F-92C1-7B8EF216FBB1}"/>
              </a:ext>
            </a:extLst>
          </p:cNvPr>
          <p:cNvSpPr>
            <a:spLocks noGrp="1"/>
          </p:cNvSpPr>
          <p:nvPr>
            <p:ph type="dt" sz="half" idx="10"/>
          </p:nvPr>
        </p:nvSpPr>
        <p:spPr/>
        <p:txBody>
          <a:bodyPr/>
          <a:lstStyle>
            <a:lvl1pPr>
              <a:defRPr/>
            </a:lvl1pPr>
          </a:lstStyle>
          <a:p>
            <a:fld id="{FCB278DC-08EB-FF49-910D-EAB3188E58A1}" type="datetimeFigureOut">
              <a:rPr lang="en-GB" altLang="en-US"/>
              <a:pPr/>
              <a:t>28/04/2025</a:t>
            </a:fld>
            <a:endParaRPr lang="en-GB" altLang="en-US"/>
          </a:p>
        </p:txBody>
      </p:sp>
      <p:sp>
        <p:nvSpPr>
          <p:cNvPr id="6" name="Footer Placeholder 5">
            <a:extLst>
              <a:ext uri="{FF2B5EF4-FFF2-40B4-BE49-F238E27FC236}">
                <a16:creationId xmlns:a16="http://schemas.microsoft.com/office/drawing/2014/main" id="{C32F55C7-10E9-C948-8F92-35E8781EFD73}"/>
              </a:ext>
            </a:extLst>
          </p:cNvPr>
          <p:cNvSpPr>
            <a:spLocks noGrp="1"/>
          </p:cNvSpPr>
          <p:nvPr>
            <p:ph type="ftr" sz="quarter" idx="11"/>
          </p:nvPr>
        </p:nvSpPr>
        <p:spPr/>
        <p:txBody>
          <a:bodyPr/>
          <a:lstStyle>
            <a:lvl1pPr fontAlgn="base">
              <a:spcBef>
                <a:spcPct val="0"/>
              </a:spcBef>
              <a:spcAft>
                <a:spcPct val="0"/>
              </a:spcAft>
              <a:defRPr>
                <a:ea typeface="ＭＳ Ｐゴシック" charset="0"/>
                <a:cs typeface="ＭＳ Ｐゴシック" charset="0"/>
              </a:defRPr>
            </a:lvl1pPr>
          </a:lstStyle>
          <a:p>
            <a:pPr>
              <a:defRPr/>
            </a:pPr>
            <a:endParaRPr lang="en-GB"/>
          </a:p>
        </p:txBody>
      </p:sp>
      <p:sp>
        <p:nvSpPr>
          <p:cNvPr id="7" name="Slide Number Placeholder 6">
            <a:extLst>
              <a:ext uri="{FF2B5EF4-FFF2-40B4-BE49-F238E27FC236}">
                <a16:creationId xmlns:a16="http://schemas.microsoft.com/office/drawing/2014/main" id="{093A813E-861C-5047-8A8F-26347DE39E15}"/>
              </a:ext>
            </a:extLst>
          </p:cNvPr>
          <p:cNvSpPr>
            <a:spLocks noGrp="1"/>
          </p:cNvSpPr>
          <p:nvPr>
            <p:ph type="sldNum" sz="quarter" idx="12"/>
          </p:nvPr>
        </p:nvSpPr>
        <p:spPr/>
        <p:txBody>
          <a:bodyPr/>
          <a:lstStyle>
            <a:lvl1pPr>
              <a:defRPr/>
            </a:lvl1pPr>
          </a:lstStyle>
          <a:p>
            <a:fld id="{0019D029-52DC-1640-AA14-32C52ACAE71D}" type="slidenum">
              <a:rPr lang="en-GB" altLang="en-US"/>
              <a:pPr/>
              <a:t>‹#›</a:t>
            </a:fld>
            <a:endParaRPr lang="en-GB" altLang="en-US"/>
          </a:p>
        </p:txBody>
      </p:sp>
    </p:spTree>
    <p:extLst>
      <p:ext uri="{BB962C8B-B14F-4D97-AF65-F5344CB8AC3E}">
        <p14:creationId xmlns:p14="http://schemas.microsoft.com/office/powerpoint/2010/main" val="804475810"/>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endParaRPr lang="en-GB"/>
          </a:p>
        </p:txBody>
      </p:sp>
      <p:sp>
        <p:nvSpPr>
          <p:cNvPr id="3" name="Picture Placeholder 2"/>
          <p:cNvSpPr>
            <a:spLocks noGrp="1"/>
          </p:cNvSpPr>
          <p:nvPr>
            <p:ph type="pic" idx="1"/>
          </p:nvPr>
        </p:nvSpPr>
        <p:spPr>
          <a:xfrm>
            <a:off x="1792288" y="612775"/>
            <a:ext cx="5486400" cy="4114800"/>
          </a:xfr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GB" noProof="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a:extLst>
              <a:ext uri="{FF2B5EF4-FFF2-40B4-BE49-F238E27FC236}">
                <a16:creationId xmlns:a16="http://schemas.microsoft.com/office/drawing/2014/main" id="{F61753A0-4A5E-9C4F-8C35-EAD58118C5D1}"/>
              </a:ext>
            </a:extLst>
          </p:cNvPr>
          <p:cNvSpPr>
            <a:spLocks noGrp="1"/>
          </p:cNvSpPr>
          <p:nvPr>
            <p:ph type="dt" sz="half" idx="10"/>
          </p:nvPr>
        </p:nvSpPr>
        <p:spPr/>
        <p:txBody>
          <a:bodyPr/>
          <a:lstStyle>
            <a:lvl1pPr>
              <a:defRPr/>
            </a:lvl1pPr>
          </a:lstStyle>
          <a:p>
            <a:fld id="{B1B97816-6065-A64C-8EF1-EE9FFDC477E9}" type="datetimeFigureOut">
              <a:rPr lang="en-GB" altLang="en-US"/>
              <a:pPr/>
              <a:t>28/04/2025</a:t>
            </a:fld>
            <a:endParaRPr lang="en-GB" altLang="en-US"/>
          </a:p>
        </p:txBody>
      </p:sp>
      <p:sp>
        <p:nvSpPr>
          <p:cNvPr id="6" name="Footer Placeholder 5">
            <a:extLst>
              <a:ext uri="{FF2B5EF4-FFF2-40B4-BE49-F238E27FC236}">
                <a16:creationId xmlns:a16="http://schemas.microsoft.com/office/drawing/2014/main" id="{92DB2E11-1DD7-144E-8528-C957876D41E9}"/>
              </a:ext>
            </a:extLst>
          </p:cNvPr>
          <p:cNvSpPr>
            <a:spLocks noGrp="1"/>
          </p:cNvSpPr>
          <p:nvPr>
            <p:ph type="ftr" sz="quarter" idx="11"/>
          </p:nvPr>
        </p:nvSpPr>
        <p:spPr/>
        <p:txBody>
          <a:bodyPr/>
          <a:lstStyle>
            <a:lvl1pPr fontAlgn="base">
              <a:spcBef>
                <a:spcPct val="0"/>
              </a:spcBef>
              <a:spcAft>
                <a:spcPct val="0"/>
              </a:spcAft>
              <a:defRPr>
                <a:ea typeface="ＭＳ Ｐゴシック" charset="0"/>
                <a:cs typeface="ＭＳ Ｐゴシック" charset="0"/>
              </a:defRPr>
            </a:lvl1pPr>
          </a:lstStyle>
          <a:p>
            <a:pPr>
              <a:defRPr/>
            </a:pPr>
            <a:endParaRPr lang="en-GB"/>
          </a:p>
        </p:txBody>
      </p:sp>
      <p:sp>
        <p:nvSpPr>
          <p:cNvPr id="7" name="Slide Number Placeholder 6">
            <a:extLst>
              <a:ext uri="{FF2B5EF4-FFF2-40B4-BE49-F238E27FC236}">
                <a16:creationId xmlns:a16="http://schemas.microsoft.com/office/drawing/2014/main" id="{66267273-00E1-A54D-8585-86B0209FBAEB}"/>
              </a:ext>
            </a:extLst>
          </p:cNvPr>
          <p:cNvSpPr>
            <a:spLocks noGrp="1"/>
          </p:cNvSpPr>
          <p:nvPr>
            <p:ph type="sldNum" sz="quarter" idx="12"/>
          </p:nvPr>
        </p:nvSpPr>
        <p:spPr/>
        <p:txBody>
          <a:bodyPr/>
          <a:lstStyle>
            <a:lvl1pPr>
              <a:defRPr/>
            </a:lvl1pPr>
          </a:lstStyle>
          <a:p>
            <a:fld id="{E8AF08D4-4B38-B64E-B355-31A9B7BB5178}" type="slidenum">
              <a:rPr lang="en-GB" altLang="en-US"/>
              <a:pPr/>
              <a:t>‹#›</a:t>
            </a:fld>
            <a:endParaRPr lang="en-GB" altLang="en-US"/>
          </a:p>
        </p:txBody>
      </p:sp>
    </p:spTree>
    <p:extLst>
      <p:ext uri="{BB962C8B-B14F-4D97-AF65-F5344CB8AC3E}">
        <p14:creationId xmlns:p14="http://schemas.microsoft.com/office/powerpoint/2010/main" val="212641071"/>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A7B8F838-3BDB-514B-9599-FD3080DB6DF5}"/>
              </a:ext>
            </a:extLst>
          </p:cNvPr>
          <p:cNvSpPr>
            <a:spLocks noGrp="1"/>
          </p:cNvSpPr>
          <p:nvPr>
            <p:ph type="dt" sz="half" idx="10"/>
          </p:nvPr>
        </p:nvSpPr>
        <p:spPr/>
        <p:txBody>
          <a:bodyPr/>
          <a:lstStyle>
            <a:lvl1pPr>
              <a:defRPr/>
            </a:lvl1pPr>
          </a:lstStyle>
          <a:p>
            <a:fld id="{87A44E14-02BE-1F4E-9751-1AF9EE0A653A}" type="datetimeFigureOut">
              <a:rPr lang="en-GB" altLang="en-US"/>
              <a:pPr/>
              <a:t>28/04/2025</a:t>
            </a:fld>
            <a:endParaRPr lang="en-GB" altLang="en-US"/>
          </a:p>
        </p:txBody>
      </p:sp>
      <p:sp>
        <p:nvSpPr>
          <p:cNvPr id="5" name="Footer Placeholder 4">
            <a:extLst>
              <a:ext uri="{FF2B5EF4-FFF2-40B4-BE49-F238E27FC236}">
                <a16:creationId xmlns:a16="http://schemas.microsoft.com/office/drawing/2014/main" id="{B2F402FD-D340-D941-B4D6-7A43488D27B5}"/>
              </a:ext>
            </a:extLst>
          </p:cNvPr>
          <p:cNvSpPr>
            <a:spLocks noGrp="1"/>
          </p:cNvSpPr>
          <p:nvPr>
            <p:ph type="ftr" sz="quarter" idx="11"/>
          </p:nvPr>
        </p:nvSpPr>
        <p:spPr/>
        <p:txBody>
          <a:bodyPr/>
          <a:lstStyle>
            <a:lvl1pPr fontAlgn="base">
              <a:spcBef>
                <a:spcPct val="0"/>
              </a:spcBef>
              <a:spcAft>
                <a:spcPct val="0"/>
              </a:spcAft>
              <a:defRPr>
                <a:ea typeface="ＭＳ Ｐゴシック" charset="0"/>
                <a:cs typeface="ＭＳ Ｐゴシック" charset="0"/>
              </a:defRPr>
            </a:lvl1pPr>
          </a:lstStyle>
          <a:p>
            <a:pPr>
              <a:defRPr/>
            </a:pPr>
            <a:endParaRPr lang="en-GB"/>
          </a:p>
        </p:txBody>
      </p:sp>
      <p:sp>
        <p:nvSpPr>
          <p:cNvPr id="6" name="Slide Number Placeholder 5">
            <a:extLst>
              <a:ext uri="{FF2B5EF4-FFF2-40B4-BE49-F238E27FC236}">
                <a16:creationId xmlns:a16="http://schemas.microsoft.com/office/drawing/2014/main" id="{5F4A3B3B-41BB-7E4E-B877-6D255925355A}"/>
              </a:ext>
            </a:extLst>
          </p:cNvPr>
          <p:cNvSpPr>
            <a:spLocks noGrp="1"/>
          </p:cNvSpPr>
          <p:nvPr>
            <p:ph type="sldNum" sz="quarter" idx="12"/>
          </p:nvPr>
        </p:nvSpPr>
        <p:spPr/>
        <p:txBody>
          <a:bodyPr/>
          <a:lstStyle>
            <a:lvl1pPr>
              <a:defRPr/>
            </a:lvl1pPr>
          </a:lstStyle>
          <a:p>
            <a:fld id="{F1EB5CB4-6E1B-2545-B4AA-C22200225D21}" type="slidenum">
              <a:rPr lang="en-GB" altLang="en-US"/>
              <a:pPr/>
              <a:t>‹#›</a:t>
            </a:fld>
            <a:endParaRPr lang="en-GB" altLang="en-US"/>
          </a:p>
        </p:txBody>
      </p:sp>
    </p:spTree>
    <p:extLst>
      <p:ext uri="{BB962C8B-B14F-4D97-AF65-F5344CB8AC3E}">
        <p14:creationId xmlns:p14="http://schemas.microsoft.com/office/powerpoint/2010/main" val="173853846"/>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endParaRPr lang="en-GB"/>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3D440F4C-AA35-3A4C-9A9F-C90ACB109A7F}"/>
              </a:ext>
            </a:extLst>
          </p:cNvPr>
          <p:cNvSpPr>
            <a:spLocks noGrp="1"/>
          </p:cNvSpPr>
          <p:nvPr>
            <p:ph type="dt" sz="half" idx="10"/>
          </p:nvPr>
        </p:nvSpPr>
        <p:spPr/>
        <p:txBody>
          <a:bodyPr/>
          <a:lstStyle>
            <a:lvl1pPr>
              <a:defRPr/>
            </a:lvl1pPr>
          </a:lstStyle>
          <a:p>
            <a:fld id="{CD627229-D7E2-E043-8379-8B57309E6D01}" type="datetimeFigureOut">
              <a:rPr lang="en-GB" altLang="en-US"/>
              <a:pPr/>
              <a:t>28/04/2025</a:t>
            </a:fld>
            <a:endParaRPr lang="en-GB" altLang="en-US"/>
          </a:p>
        </p:txBody>
      </p:sp>
      <p:sp>
        <p:nvSpPr>
          <p:cNvPr id="5" name="Footer Placeholder 4">
            <a:extLst>
              <a:ext uri="{FF2B5EF4-FFF2-40B4-BE49-F238E27FC236}">
                <a16:creationId xmlns:a16="http://schemas.microsoft.com/office/drawing/2014/main" id="{00D9D690-AD91-1849-B2D8-9C9884F35674}"/>
              </a:ext>
            </a:extLst>
          </p:cNvPr>
          <p:cNvSpPr>
            <a:spLocks noGrp="1"/>
          </p:cNvSpPr>
          <p:nvPr>
            <p:ph type="ftr" sz="quarter" idx="11"/>
          </p:nvPr>
        </p:nvSpPr>
        <p:spPr/>
        <p:txBody>
          <a:bodyPr/>
          <a:lstStyle>
            <a:lvl1pPr fontAlgn="base">
              <a:spcBef>
                <a:spcPct val="0"/>
              </a:spcBef>
              <a:spcAft>
                <a:spcPct val="0"/>
              </a:spcAft>
              <a:defRPr>
                <a:ea typeface="ＭＳ Ｐゴシック" charset="0"/>
                <a:cs typeface="ＭＳ Ｐゴシック" charset="0"/>
              </a:defRPr>
            </a:lvl1pPr>
          </a:lstStyle>
          <a:p>
            <a:pPr>
              <a:defRPr/>
            </a:pPr>
            <a:endParaRPr lang="en-GB"/>
          </a:p>
        </p:txBody>
      </p:sp>
      <p:sp>
        <p:nvSpPr>
          <p:cNvPr id="6" name="Slide Number Placeholder 5">
            <a:extLst>
              <a:ext uri="{FF2B5EF4-FFF2-40B4-BE49-F238E27FC236}">
                <a16:creationId xmlns:a16="http://schemas.microsoft.com/office/drawing/2014/main" id="{96E13D4E-D689-8B43-AC91-9D62E7729995}"/>
              </a:ext>
            </a:extLst>
          </p:cNvPr>
          <p:cNvSpPr>
            <a:spLocks noGrp="1"/>
          </p:cNvSpPr>
          <p:nvPr>
            <p:ph type="sldNum" sz="quarter" idx="12"/>
          </p:nvPr>
        </p:nvSpPr>
        <p:spPr/>
        <p:txBody>
          <a:bodyPr/>
          <a:lstStyle>
            <a:lvl1pPr>
              <a:defRPr/>
            </a:lvl1pPr>
          </a:lstStyle>
          <a:p>
            <a:fld id="{6C86916F-4706-2D48-9DA0-132E9E19A605}" type="slidenum">
              <a:rPr lang="en-GB" altLang="en-US"/>
              <a:pPr/>
              <a:t>‹#›</a:t>
            </a:fld>
            <a:endParaRPr lang="en-GB" altLang="en-US"/>
          </a:p>
        </p:txBody>
      </p:sp>
    </p:spTree>
    <p:extLst>
      <p:ext uri="{BB962C8B-B14F-4D97-AF65-F5344CB8AC3E}">
        <p14:creationId xmlns:p14="http://schemas.microsoft.com/office/powerpoint/2010/main" val="248664941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1.xml"/><Relationship Id="rId3" Type="http://schemas.openxmlformats.org/officeDocument/2006/relationships/slideLayout" Target="../slideLayouts/slideLayout16.xml"/><Relationship Id="rId7" Type="http://schemas.openxmlformats.org/officeDocument/2006/relationships/slideLayout" Target="../slideLayouts/slideLayout20.xml"/><Relationship Id="rId12" Type="http://schemas.openxmlformats.org/officeDocument/2006/relationships/theme" Target="../theme/theme2.xml"/><Relationship Id="rId2" Type="http://schemas.openxmlformats.org/officeDocument/2006/relationships/slideLayout" Target="../slideLayouts/slideLayout15.xml"/><Relationship Id="rId1" Type="http://schemas.openxmlformats.org/officeDocument/2006/relationships/slideLayout" Target="../slideLayouts/slideLayout14.xml"/><Relationship Id="rId6" Type="http://schemas.openxmlformats.org/officeDocument/2006/relationships/slideLayout" Target="../slideLayouts/slideLayout19.xml"/><Relationship Id="rId11" Type="http://schemas.openxmlformats.org/officeDocument/2006/relationships/slideLayout" Target="../slideLayouts/slideLayout24.xml"/><Relationship Id="rId5" Type="http://schemas.openxmlformats.org/officeDocument/2006/relationships/slideLayout" Target="../slideLayouts/slideLayout18.xml"/><Relationship Id="rId10" Type="http://schemas.openxmlformats.org/officeDocument/2006/relationships/slideLayout" Target="../slideLayouts/slideLayout23.xml"/><Relationship Id="rId4" Type="http://schemas.openxmlformats.org/officeDocument/2006/relationships/slideLayout" Target="../slideLayouts/slideLayout17.xml"/><Relationship Id="rId9" Type="http://schemas.openxmlformats.org/officeDocument/2006/relationships/slideLayout" Target="../slideLayouts/slideLayout2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Rectangle 2">
            <a:extLst>
              <a:ext uri="{FF2B5EF4-FFF2-40B4-BE49-F238E27FC236}">
                <a16:creationId xmlns:a16="http://schemas.microsoft.com/office/drawing/2014/main" id="{ED230C9B-D0C0-A741-AF86-A578B8EC2702}"/>
              </a:ext>
            </a:extLst>
          </p:cNvPr>
          <p:cNvSpPr>
            <a:spLocks noGrp="1" noChangeArrowheads="1"/>
          </p:cNvSpPr>
          <p:nvPr>
            <p:ph type="title"/>
          </p:nvPr>
        </p:nvSpPr>
        <p:spPr bwMode="auto">
          <a:xfrm>
            <a:off x="457200" y="274638"/>
            <a:ext cx="82296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altLang="en-US"/>
              <a:t>Click to edit Master title style</a:t>
            </a:r>
          </a:p>
        </p:txBody>
      </p:sp>
      <p:sp>
        <p:nvSpPr>
          <p:cNvPr id="1027" name="Rectangle 3">
            <a:extLst>
              <a:ext uri="{FF2B5EF4-FFF2-40B4-BE49-F238E27FC236}">
                <a16:creationId xmlns:a16="http://schemas.microsoft.com/office/drawing/2014/main" id="{595BA24F-2EBC-0A42-BC0B-D3498906D742}"/>
              </a:ext>
            </a:extLst>
          </p:cNvPr>
          <p:cNvSpPr>
            <a:spLocks noGrp="1" noChangeArrowheads="1"/>
          </p:cNvSpPr>
          <p:nvPr>
            <p:ph type="body" idx="1"/>
          </p:nvPr>
        </p:nvSpPr>
        <p:spPr bwMode="auto">
          <a:xfrm>
            <a:off x="457200" y="1600200"/>
            <a:ext cx="8229600" cy="4525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sp>
        <p:nvSpPr>
          <p:cNvPr id="1028" name="Rectangle 4">
            <a:extLst>
              <a:ext uri="{FF2B5EF4-FFF2-40B4-BE49-F238E27FC236}">
                <a16:creationId xmlns:a16="http://schemas.microsoft.com/office/drawing/2014/main" id="{CE08E06E-3CFE-4047-A37F-E2367DE368FA}"/>
              </a:ext>
            </a:extLst>
          </p:cNvPr>
          <p:cNvSpPr>
            <a:spLocks noGrp="1" noChangeArrowheads="1"/>
          </p:cNvSpPr>
          <p:nvPr>
            <p:ph type="dt" sz="half" idx="2"/>
          </p:nvPr>
        </p:nvSpPr>
        <p:spPr bwMode="auto">
          <a:xfrm>
            <a:off x="457200" y="6245225"/>
            <a:ext cx="2133600" cy="47625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defRPr sz="1400">
                <a:latin typeface="Arial" charset="0"/>
                <a:ea typeface="ＭＳ Ｐゴシック" charset="0"/>
                <a:cs typeface="ＭＳ Ｐゴシック" charset="0"/>
              </a:defRPr>
            </a:lvl1pPr>
          </a:lstStyle>
          <a:p>
            <a:pPr>
              <a:defRPr/>
            </a:pPr>
            <a:endParaRPr lang="en-US"/>
          </a:p>
        </p:txBody>
      </p:sp>
      <p:sp>
        <p:nvSpPr>
          <p:cNvPr id="1029" name="Rectangle 5">
            <a:extLst>
              <a:ext uri="{FF2B5EF4-FFF2-40B4-BE49-F238E27FC236}">
                <a16:creationId xmlns:a16="http://schemas.microsoft.com/office/drawing/2014/main" id="{1175E21B-6A73-7B49-B029-32A085DFAB05}"/>
              </a:ext>
            </a:extLst>
          </p:cNvPr>
          <p:cNvSpPr>
            <a:spLocks noGrp="1" noChangeArrowheads="1"/>
          </p:cNvSpPr>
          <p:nvPr>
            <p:ph type="ftr" sz="quarter" idx="3"/>
          </p:nvPr>
        </p:nvSpPr>
        <p:spPr bwMode="auto">
          <a:xfrm>
            <a:off x="3124200" y="6245225"/>
            <a:ext cx="2895600" cy="47625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ctr">
              <a:defRPr sz="1400">
                <a:latin typeface="Arial" charset="0"/>
                <a:ea typeface="ＭＳ Ｐゴシック" charset="0"/>
                <a:cs typeface="ＭＳ Ｐゴシック" charset="0"/>
              </a:defRPr>
            </a:lvl1pPr>
          </a:lstStyle>
          <a:p>
            <a:pPr>
              <a:defRPr/>
            </a:pPr>
            <a:endParaRPr lang="en-US"/>
          </a:p>
        </p:txBody>
      </p:sp>
      <p:sp>
        <p:nvSpPr>
          <p:cNvPr id="1030" name="Rectangle 6">
            <a:extLst>
              <a:ext uri="{FF2B5EF4-FFF2-40B4-BE49-F238E27FC236}">
                <a16:creationId xmlns:a16="http://schemas.microsoft.com/office/drawing/2014/main" id="{C27913FB-CCE1-DB4F-B207-54C546058E75}"/>
              </a:ext>
            </a:extLst>
          </p:cNvPr>
          <p:cNvSpPr>
            <a:spLocks noGrp="1" noChangeArrowheads="1"/>
          </p:cNvSpPr>
          <p:nvPr>
            <p:ph type="sldNum" sz="quarter" idx="4"/>
          </p:nvPr>
        </p:nvSpPr>
        <p:spPr bwMode="auto">
          <a:xfrm>
            <a:off x="6553200" y="6245225"/>
            <a:ext cx="2133600" cy="47625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400"/>
            </a:lvl1pPr>
          </a:lstStyle>
          <a:p>
            <a:fld id="{054E25B5-B163-8F44-BB91-4BFB433E053B}" type="slidenum">
              <a:rPr lang="en-US" altLang="en-US"/>
              <a:pPr/>
              <a:t>‹#›</a:t>
            </a:fld>
            <a:endParaRPr lang="en-US" altLang="en-US"/>
          </a:p>
        </p:txBody>
      </p:sp>
    </p:spTree>
  </p:cSld>
  <p:clrMap bg1="lt1" tx1="dk1" bg2="lt2" tx2="dk2" accent1="accent1" accent2="accent2" accent3="accent3" accent4="accent4" accent5="accent5" accent6="accent6" hlink="hlink" folHlink="folHlink"/>
  <p:sldLayoutIdLst>
    <p:sldLayoutId id="2147484254" r:id="rId1"/>
    <p:sldLayoutId id="2147484255" r:id="rId2"/>
    <p:sldLayoutId id="2147484256" r:id="rId3"/>
    <p:sldLayoutId id="2147484257" r:id="rId4"/>
    <p:sldLayoutId id="2147484258" r:id="rId5"/>
    <p:sldLayoutId id="2147484259" r:id="rId6"/>
    <p:sldLayoutId id="2147484260" r:id="rId7"/>
    <p:sldLayoutId id="2147484261" r:id="rId8"/>
    <p:sldLayoutId id="2147484262" r:id="rId9"/>
    <p:sldLayoutId id="2147484263" r:id="rId10"/>
    <p:sldLayoutId id="2147484264" r:id="rId11"/>
    <p:sldLayoutId id="2147484265" r:id="rId12"/>
    <p:sldLayoutId id="2147484266" r:id="rId13"/>
  </p:sldLayoutIdLst>
  <p:txStyles>
    <p:titleStyle>
      <a:lvl1pPr algn="ctr" rtl="0" eaLnBrk="0" fontAlgn="base" hangingPunct="0">
        <a:spcBef>
          <a:spcPct val="0"/>
        </a:spcBef>
        <a:spcAft>
          <a:spcPct val="0"/>
        </a:spcAft>
        <a:defRPr sz="4400">
          <a:solidFill>
            <a:schemeClr val="tx2"/>
          </a:solidFill>
          <a:latin typeface="+mj-lt"/>
          <a:ea typeface="ＭＳ Ｐゴシック" charset="0"/>
          <a:cs typeface="ＭＳ Ｐゴシック" charset="0"/>
        </a:defRPr>
      </a:lvl1pPr>
      <a:lvl2pPr algn="ctr" rtl="0" eaLnBrk="0" fontAlgn="base" hangingPunct="0">
        <a:spcBef>
          <a:spcPct val="0"/>
        </a:spcBef>
        <a:spcAft>
          <a:spcPct val="0"/>
        </a:spcAft>
        <a:defRPr sz="4400">
          <a:solidFill>
            <a:schemeClr val="tx2"/>
          </a:solidFill>
          <a:latin typeface="Arial" charset="0"/>
          <a:ea typeface="ＭＳ Ｐゴシック" charset="0"/>
          <a:cs typeface="ＭＳ Ｐゴシック" charset="0"/>
        </a:defRPr>
      </a:lvl2pPr>
      <a:lvl3pPr algn="ctr" rtl="0" eaLnBrk="0" fontAlgn="base" hangingPunct="0">
        <a:spcBef>
          <a:spcPct val="0"/>
        </a:spcBef>
        <a:spcAft>
          <a:spcPct val="0"/>
        </a:spcAft>
        <a:defRPr sz="4400">
          <a:solidFill>
            <a:schemeClr val="tx2"/>
          </a:solidFill>
          <a:latin typeface="Arial" charset="0"/>
          <a:ea typeface="ＭＳ Ｐゴシック" charset="0"/>
          <a:cs typeface="ＭＳ Ｐゴシック" charset="0"/>
        </a:defRPr>
      </a:lvl3pPr>
      <a:lvl4pPr algn="ctr" rtl="0" eaLnBrk="0" fontAlgn="base" hangingPunct="0">
        <a:spcBef>
          <a:spcPct val="0"/>
        </a:spcBef>
        <a:spcAft>
          <a:spcPct val="0"/>
        </a:spcAft>
        <a:defRPr sz="4400">
          <a:solidFill>
            <a:schemeClr val="tx2"/>
          </a:solidFill>
          <a:latin typeface="Arial" charset="0"/>
          <a:ea typeface="ＭＳ Ｐゴシック" charset="0"/>
          <a:cs typeface="ＭＳ Ｐゴシック" charset="0"/>
        </a:defRPr>
      </a:lvl4pPr>
      <a:lvl5pPr algn="ctr" rtl="0" eaLnBrk="0" fontAlgn="base" hangingPunct="0">
        <a:spcBef>
          <a:spcPct val="0"/>
        </a:spcBef>
        <a:spcAft>
          <a:spcPct val="0"/>
        </a:spcAft>
        <a:defRPr sz="4400">
          <a:solidFill>
            <a:schemeClr val="tx2"/>
          </a:solidFill>
          <a:latin typeface="Arial" charset="0"/>
          <a:ea typeface="ＭＳ Ｐゴシック" charset="0"/>
          <a:cs typeface="ＭＳ Ｐゴシック" charset="0"/>
        </a:defRPr>
      </a:lvl5pPr>
      <a:lvl6pPr marL="457200" algn="ctr" rtl="0" fontAlgn="base">
        <a:spcBef>
          <a:spcPct val="0"/>
        </a:spcBef>
        <a:spcAft>
          <a:spcPct val="0"/>
        </a:spcAft>
        <a:defRPr sz="4400">
          <a:solidFill>
            <a:schemeClr val="tx2"/>
          </a:solidFill>
          <a:latin typeface="Arial" charset="0"/>
        </a:defRPr>
      </a:lvl6pPr>
      <a:lvl7pPr marL="914400" algn="ctr" rtl="0" fontAlgn="base">
        <a:spcBef>
          <a:spcPct val="0"/>
        </a:spcBef>
        <a:spcAft>
          <a:spcPct val="0"/>
        </a:spcAft>
        <a:defRPr sz="4400">
          <a:solidFill>
            <a:schemeClr val="tx2"/>
          </a:solidFill>
          <a:latin typeface="Arial" charset="0"/>
        </a:defRPr>
      </a:lvl7pPr>
      <a:lvl8pPr marL="1371600" algn="ctr" rtl="0" fontAlgn="base">
        <a:spcBef>
          <a:spcPct val="0"/>
        </a:spcBef>
        <a:spcAft>
          <a:spcPct val="0"/>
        </a:spcAft>
        <a:defRPr sz="4400">
          <a:solidFill>
            <a:schemeClr val="tx2"/>
          </a:solidFill>
          <a:latin typeface="Arial" charset="0"/>
        </a:defRPr>
      </a:lvl8pPr>
      <a:lvl9pPr marL="1828800" algn="ctr" rtl="0" fontAlgn="base">
        <a:spcBef>
          <a:spcPct val="0"/>
        </a:spcBef>
        <a:spcAft>
          <a:spcPct val="0"/>
        </a:spcAft>
        <a:defRPr sz="4400">
          <a:solidFill>
            <a:schemeClr val="tx2"/>
          </a:solidFill>
          <a:latin typeface="Arial" charset="0"/>
        </a:defRPr>
      </a:lvl9pPr>
    </p:titleStyle>
    <p:bodyStyle>
      <a:lvl1pPr marL="342900" indent="-342900" algn="l" rtl="0" eaLnBrk="0" fontAlgn="base" hangingPunct="0">
        <a:spcBef>
          <a:spcPct val="20000"/>
        </a:spcBef>
        <a:spcAft>
          <a:spcPct val="0"/>
        </a:spcAft>
        <a:buChar char="•"/>
        <a:defRPr sz="3200">
          <a:solidFill>
            <a:schemeClr val="tx1"/>
          </a:solidFill>
          <a:latin typeface="+mn-lt"/>
          <a:ea typeface="ＭＳ Ｐゴシック" charset="0"/>
          <a:cs typeface="ＭＳ Ｐゴシック" charset="0"/>
        </a:defRPr>
      </a:lvl1pPr>
      <a:lvl2pPr marL="742950" indent="-285750" algn="l" rtl="0" eaLnBrk="0" fontAlgn="base" hangingPunct="0">
        <a:spcBef>
          <a:spcPct val="20000"/>
        </a:spcBef>
        <a:spcAft>
          <a:spcPct val="0"/>
        </a:spcAft>
        <a:buChar char="–"/>
        <a:defRPr sz="2800">
          <a:solidFill>
            <a:schemeClr val="tx1"/>
          </a:solidFill>
          <a:latin typeface="+mn-lt"/>
          <a:ea typeface="ＭＳ Ｐゴシック" charset="-128"/>
        </a:defRPr>
      </a:lvl2pPr>
      <a:lvl3pPr marL="1143000" indent="-228600" algn="l" rtl="0" eaLnBrk="0" fontAlgn="base" hangingPunct="0">
        <a:spcBef>
          <a:spcPct val="20000"/>
        </a:spcBef>
        <a:spcAft>
          <a:spcPct val="0"/>
        </a:spcAft>
        <a:buChar char="•"/>
        <a:defRPr sz="2400">
          <a:solidFill>
            <a:schemeClr val="tx1"/>
          </a:solidFill>
          <a:latin typeface="+mn-lt"/>
          <a:ea typeface="ＭＳ Ｐゴシック" charset="-128"/>
        </a:defRPr>
      </a:lvl3pPr>
      <a:lvl4pPr marL="1600200" indent="-228600" algn="l" rtl="0" eaLnBrk="0" fontAlgn="base" hangingPunct="0">
        <a:spcBef>
          <a:spcPct val="20000"/>
        </a:spcBef>
        <a:spcAft>
          <a:spcPct val="0"/>
        </a:spcAft>
        <a:buChar char="–"/>
        <a:defRPr sz="2000">
          <a:solidFill>
            <a:schemeClr val="tx1"/>
          </a:solidFill>
          <a:latin typeface="+mn-lt"/>
          <a:ea typeface="ＭＳ Ｐゴシック" charset="-128"/>
        </a:defRPr>
      </a:lvl4pPr>
      <a:lvl5pPr marL="2057400" indent="-228600" algn="l" rtl="0" eaLnBrk="0" fontAlgn="base" hangingPunct="0">
        <a:spcBef>
          <a:spcPct val="20000"/>
        </a:spcBef>
        <a:spcAft>
          <a:spcPct val="0"/>
        </a:spcAft>
        <a:buChar char="»"/>
        <a:defRPr sz="2000">
          <a:solidFill>
            <a:schemeClr val="tx1"/>
          </a:solidFill>
          <a:latin typeface="+mn-lt"/>
          <a:ea typeface="ＭＳ Ｐゴシック" charset="-128"/>
        </a:defRPr>
      </a:lvl5pPr>
      <a:lvl6pPr marL="2514600" indent="-228600" algn="l" rtl="0" fontAlgn="base">
        <a:spcBef>
          <a:spcPct val="20000"/>
        </a:spcBef>
        <a:spcAft>
          <a:spcPct val="0"/>
        </a:spcAft>
        <a:buChar char="»"/>
        <a:defRPr sz="2000">
          <a:solidFill>
            <a:schemeClr val="tx1"/>
          </a:solidFill>
          <a:latin typeface="+mn-lt"/>
          <a:ea typeface="ＭＳ Ｐゴシック" charset="-128"/>
        </a:defRPr>
      </a:lvl6pPr>
      <a:lvl7pPr marL="2971800" indent="-228600" algn="l" rtl="0" fontAlgn="base">
        <a:spcBef>
          <a:spcPct val="20000"/>
        </a:spcBef>
        <a:spcAft>
          <a:spcPct val="0"/>
        </a:spcAft>
        <a:buChar char="»"/>
        <a:defRPr sz="2000">
          <a:solidFill>
            <a:schemeClr val="tx1"/>
          </a:solidFill>
          <a:latin typeface="+mn-lt"/>
          <a:ea typeface="ＭＳ Ｐゴシック" charset="-128"/>
        </a:defRPr>
      </a:lvl7pPr>
      <a:lvl8pPr marL="3429000" indent="-228600" algn="l" rtl="0" fontAlgn="base">
        <a:spcBef>
          <a:spcPct val="20000"/>
        </a:spcBef>
        <a:spcAft>
          <a:spcPct val="0"/>
        </a:spcAft>
        <a:buChar char="»"/>
        <a:defRPr sz="2000">
          <a:solidFill>
            <a:schemeClr val="tx1"/>
          </a:solidFill>
          <a:latin typeface="+mn-lt"/>
          <a:ea typeface="ＭＳ Ｐゴシック" charset="-128"/>
        </a:defRPr>
      </a:lvl8pPr>
      <a:lvl9pPr marL="3886200" indent="-228600" algn="l" rtl="0" fontAlgn="base">
        <a:spcBef>
          <a:spcPct val="20000"/>
        </a:spcBef>
        <a:spcAft>
          <a:spcPct val="0"/>
        </a:spcAft>
        <a:buChar char="»"/>
        <a:defRPr sz="2000">
          <a:solidFill>
            <a:schemeClr val="tx1"/>
          </a:solidFill>
          <a:latin typeface="+mn-lt"/>
          <a:ea typeface="ＭＳ Ｐゴシック" charset="-128"/>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4034" name="Title Placeholder 1">
            <a:extLst>
              <a:ext uri="{FF2B5EF4-FFF2-40B4-BE49-F238E27FC236}">
                <a16:creationId xmlns:a16="http://schemas.microsoft.com/office/drawing/2014/main" id="{EE62AA9E-05BA-0A42-AD45-5CEEDBD7B355}"/>
              </a:ext>
            </a:extLst>
          </p:cNvPr>
          <p:cNvSpPr>
            <a:spLocks noGrp="1"/>
          </p:cNvSpPr>
          <p:nvPr>
            <p:ph type="title"/>
          </p:nvPr>
        </p:nvSpPr>
        <p:spPr bwMode="auto">
          <a:xfrm>
            <a:off x="457200" y="274638"/>
            <a:ext cx="82296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altLang="en-US"/>
              <a:t>Click to edit Master title style</a:t>
            </a:r>
            <a:endParaRPr lang="en-GB" altLang="en-US"/>
          </a:p>
        </p:txBody>
      </p:sp>
      <p:sp>
        <p:nvSpPr>
          <p:cNvPr id="44035" name="Text Placeholder 2">
            <a:extLst>
              <a:ext uri="{FF2B5EF4-FFF2-40B4-BE49-F238E27FC236}">
                <a16:creationId xmlns:a16="http://schemas.microsoft.com/office/drawing/2014/main" id="{7D386A54-3AE0-5344-B6BD-AFF1C995A1BD}"/>
              </a:ext>
            </a:extLst>
          </p:cNvPr>
          <p:cNvSpPr>
            <a:spLocks noGrp="1"/>
          </p:cNvSpPr>
          <p:nvPr>
            <p:ph type="body" idx="1"/>
          </p:nvPr>
        </p:nvSpPr>
        <p:spPr bwMode="auto">
          <a:xfrm>
            <a:off x="457200" y="1600200"/>
            <a:ext cx="8229600" cy="4525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endParaRPr lang="en-GB" altLang="en-US"/>
          </a:p>
        </p:txBody>
      </p:sp>
      <p:sp>
        <p:nvSpPr>
          <p:cNvPr id="4" name="Date Placeholder 3">
            <a:extLst>
              <a:ext uri="{FF2B5EF4-FFF2-40B4-BE49-F238E27FC236}">
                <a16:creationId xmlns:a16="http://schemas.microsoft.com/office/drawing/2014/main" id="{A662B4C3-CABB-DB40-A82C-872E5FCC889B}"/>
              </a:ext>
            </a:extLst>
          </p:cNvPr>
          <p:cNvSpPr>
            <a:spLocks noGrp="1"/>
          </p:cNvSpPr>
          <p:nvPr>
            <p:ph type="dt" sz="half" idx="2"/>
          </p:nvPr>
        </p:nvSpPr>
        <p:spPr>
          <a:xfrm>
            <a:off x="457200" y="6356350"/>
            <a:ext cx="2133600" cy="365125"/>
          </a:xfrm>
          <a:prstGeom prst="rect">
            <a:avLst/>
          </a:prstGeom>
        </p:spPr>
        <p:txBody>
          <a:bodyPr vert="horz" wrap="square" lIns="91440" tIns="45720" rIns="91440" bIns="45720" numCol="1" anchor="ctr" anchorCtr="0" compatLnSpc="1">
            <a:prstTxWarp prst="textNoShape">
              <a:avLst/>
            </a:prstTxWarp>
          </a:bodyPr>
          <a:lstStyle>
            <a:lvl1pPr>
              <a:defRPr sz="1200">
                <a:solidFill>
                  <a:srgbClr val="898989"/>
                </a:solidFill>
                <a:latin typeface="Calibri" panose="020F0502020204030204" pitchFamily="34" charset="0"/>
              </a:defRPr>
            </a:lvl1pPr>
          </a:lstStyle>
          <a:p>
            <a:fld id="{88C67385-0335-4544-AFF6-FF4FA01CFA02}" type="datetimeFigureOut">
              <a:rPr lang="en-GB" altLang="en-US"/>
              <a:pPr/>
              <a:t>28/04/2025</a:t>
            </a:fld>
            <a:endParaRPr lang="en-GB" altLang="en-US"/>
          </a:p>
        </p:txBody>
      </p:sp>
      <p:sp>
        <p:nvSpPr>
          <p:cNvPr id="5" name="Footer Placeholder 4">
            <a:extLst>
              <a:ext uri="{FF2B5EF4-FFF2-40B4-BE49-F238E27FC236}">
                <a16:creationId xmlns:a16="http://schemas.microsoft.com/office/drawing/2014/main" id="{48A2BB0F-64D6-D041-9F54-77E912A245FC}"/>
              </a:ext>
            </a:extLst>
          </p:cNvPr>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fontAlgn="auto">
              <a:spcBef>
                <a:spcPts val="0"/>
              </a:spcBef>
              <a:spcAft>
                <a:spcPts val="0"/>
              </a:spcAft>
              <a:defRPr sz="1200">
                <a:solidFill>
                  <a:prstClr val="black">
                    <a:tint val="75000"/>
                  </a:prstClr>
                </a:solidFill>
                <a:latin typeface="Calibri"/>
                <a:ea typeface="+mn-ea"/>
                <a:cs typeface="+mn-cs"/>
              </a:defRPr>
            </a:lvl1pPr>
          </a:lstStyle>
          <a:p>
            <a:pPr>
              <a:defRPr/>
            </a:pPr>
            <a:endParaRPr lang="en-GB"/>
          </a:p>
        </p:txBody>
      </p:sp>
      <p:sp>
        <p:nvSpPr>
          <p:cNvPr id="6" name="Slide Number Placeholder 5">
            <a:extLst>
              <a:ext uri="{FF2B5EF4-FFF2-40B4-BE49-F238E27FC236}">
                <a16:creationId xmlns:a16="http://schemas.microsoft.com/office/drawing/2014/main" id="{F59D4FB7-0148-5946-B2D4-D8AC8AC07918}"/>
              </a:ext>
            </a:extLst>
          </p:cNvPr>
          <p:cNvSpPr>
            <a:spLocks noGrp="1"/>
          </p:cNvSpPr>
          <p:nvPr>
            <p:ph type="sldNum" sz="quarter" idx="4"/>
          </p:nvPr>
        </p:nvSpPr>
        <p:spPr>
          <a:xfrm>
            <a:off x="6553200" y="6356350"/>
            <a:ext cx="2133600" cy="365125"/>
          </a:xfrm>
          <a:prstGeom prst="rect">
            <a:avLst/>
          </a:prstGeom>
        </p:spPr>
        <p:txBody>
          <a:bodyPr vert="horz" wrap="square" lIns="91440" tIns="45720" rIns="91440" bIns="45720" numCol="1" anchor="ctr" anchorCtr="0" compatLnSpc="1">
            <a:prstTxWarp prst="textNoShape">
              <a:avLst/>
            </a:prstTxWarp>
          </a:bodyPr>
          <a:lstStyle>
            <a:lvl1pPr algn="r">
              <a:defRPr sz="1200">
                <a:solidFill>
                  <a:srgbClr val="898989"/>
                </a:solidFill>
                <a:latin typeface="Calibri" panose="020F0502020204030204" pitchFamily="34" charset="0"/>
              </a:defRPr>
            </a:lvl1pPr>
          </a:lstStyle>
          <a:p>
            <a:fld id="{D383FADA-81C4-E746-A292-D7AD389CBE58}" type="slidenum">
              <a:rPr lang="en-GB" altLang="en-US"/>
              <a:pPr/>
              <a:t>‹#›</a:t>
            </a:fld>
            <a:endParaRPr lang="en-GB" altLang="en-US"/>
          </a:p>
        </p:txBody>
      </p:sp>
    </p:spTree>
  </p:cSld>
  <p:clrMap bg1="lt1" tx1="dk1" bg2="lt2" tx2="dk2" accent1="accent1" accent2="accent2" accent3="accent3" accent4="accent4" accent5="accent5" accent6="accent6" hlink="hlink" folHlink="folHlink"/>
  <p:sldLayoutIdLst>
    <p:sldLayoutId id="2147484293" r:id="rId1"/>
    <p:sldLayoutId id="2147484294" r:id="rId2"/>
    <p:sldLayoutId id="2147484295" r:id="rId3"/>
    <p:sldLayoutId id="2147484296" r:id="rId4"/>
    <p:sldLayoutId id="2147484297" r:id="rId5"/>
    <p:sldLayoutId id="2147484298" r:id="rId6"/>
    <p:sldLayoutId id="2147484299" r:id="rId7"/>
    <p:sldLayoutId id="2147484300" r:id="rId8"/>
    <p:sldLayoutId id="2147484301" r:id="rId9"/>
    <p:sldLayoutId id="2147484302" r:id="rId10"/>
    <p:sldLayoutId id="2147484303" r:id="rId11"/>
  </p:sldLayoutIdLst>
  <p:txStyles>
    <p:titleStyle>
      <a:lvl1pPr algn="ctr" rtl="0" eaLnBrk="0" fontAlgn="base" hangingPunct="0">
        <a:spcBef>
          <a:spcPct val="0"/>
        </a:spcBef>
        <a:spcAft>
          <a:spcPct val="0"/>
        </a:spcAft>
        <a:defRPr sz="4400" kern="1200">
          <a:solidFill>
            <a:schemeClr val="tx1"/>
          </a:solidFill>
          <a:latin typeface="+mj-lt"/>
          <a:ea typeface="ＭＳ Ｐゴシック" charset="0"/>
          <a:cs typeface="ＭＳ Ｐゴシック" charset="0"/>
        </a:defRPr>
      </a:lvl1pPr>
      <a:lvl2pPr algn="ctr" rtl="0" eaLnBrk="0" fontAlgn="base" hangingPunct="0">
        <a:spcBef>
          <a:spcPct val="0"/>
        </a:spcBef>
        <a:spcAft>
          <a:spcPct val="0"/>
        </a:spcAft>
        <a:defRPr sz="4400">
          <a:solidFill>
            <a:schemeClr val="tx1"/>
          </a:solidFill>
          <a:latin typeface="Calibri" charset="0"/>
          <a:ea typeface="ＭＳ Ｐゴシック" charset="0"/>
          <a:cs typeface="ＭＳ Ｐゴシック" charset="0"/>
        </a:defRPr>
      </a:lvl2pPr>
      <a:lvl3pPr algn="ctr" rtl="0" eaLnBrk="0" fontAlgn="base" hangingPunct="0">
        <a:spcBef>
          <a:spcPct val="0"/>
        </a:spcBef>
        <a:spcAft>
          <a:spcPct val="0"/>
        </a:spcAft>
        <a:defRPr sz="4400">
          <a:solidFill>
            <a:schemeClr val="tx1"/>
          </a:solidFill>
          <a:latin typeface="Calibri" charset="0"/>
          <a:ea typeface="ＭＳ Ｐゴシック" charset="0"/>
          <a:cs typeface="ＭＳ Ｐゴシック" charset="0"/>
        </a:defRPr>
      </a:lvl3pPr>
      <a:lvl4pPr algn="ctr" rtl="0" eaLnBrk="0" fontAlgn="base" hangingPunct="0">
        <a:spcBef>
          <a:spcPct val="0"/>
        </a:spcBef>
        <a:spcAft>
          <a:spcPct val="0"/>
        </a:spcAft>
        <a:defRPr sz="4400">
          <a:solidFill>
            <a:schemeClr val="tx1"/>
          </a:solidFill>
          <a:latin typeface="Calibri" charset="0"/>
          <a:ea typeface="ＭＳ Ｐゴシック" charset="0"/>
          <a:cs typeface="ＭＳ Ｐゴシック" charset="0"/>
        </a:defRPr>
      </a:lvl4pPr>
      <a:lvl5pPr algn="ctr" rtl="0" eaLnBrk="0" fontAlgn="base" hangingPunct="0">
        <a:spcBef>
          <a:spcPct val="0"/>
        </a:spcBef>
        <a:spcAft>
          <a:spcPct val="0"/>
        </a:spcAft>
        <a:defRPr sz="4400">
          <a:solidFill>
            <a:schemeClr val="tx1"/>
          </a:solidFill>
          <a:latin typeface="Calibri" charset="0"/>
          <a:ea typeface="ＭＳ Ｐゴシック" charset="0"/>
          <a:cs typeface="ＭＳ Ｐゴシック" charset="0"/>
        </a:defRPr>
      </a:lvl5pPr>
      <a:lvl6pPr marL="457200" algn="ctr" rtl="0" fontAlgn="base">
        <a:spcBef>
          <a:spcPct val="0"/>
        </a:spcBef>
        <a:spcAft>
          <a:spcPct val="0"/>
        </a:spcAft>
        <a:defRPr sz="4400">
          <a:solidFill>
            <a:schemeClr val="tx1"/>
          </a:solidFill>
          <a:latin typeface="Calibri" charset="0"/>
          <a:ea typeface="ＭＳ Ｐゴシック" charset="0"/>
          <a:cs typeface="ＭＳ Ｐゴシック" charset="0"/>
        </a:defRPr>
      </a:lvl6pPr>
      <a:lvl7pPr marL="914400" algn="ctr" rtl="0" fontAlgn="base">
        <a:spcBef>
          <a:spcPct val="0"/>
        </a:spcBef>
        <a:spcAft>
          <a:spcPct val="0"/>
        </a:spcAft>
        <a:defRPr sz="4400">
          <a:solidFill>
            <a:schemeClr val="tx1"/>
          </a:solidFill>
          <a:latin typeface="Calibri" charset="0"/>
          <a:ea typeface="ＭＳ Ｐゴシック" charset="0"/>
          <a:cs typeface="ＭＳ Ｐゴシック" charset="0"/>
        </a:defRPr>
      </a:lvl7pPr>
      <a:lvl8pPr marL="1371600" algn="ctr" rtl="0" fontAlgn="base">
        <a:spcBef>
          <a:spcPct val="0"/>
        </a:spcBef>
        <a:spcAft>
          <a:spcPct val="0"/>
        </a:spcAft>
        <a:defRPr sz="4400">
          <a:solidFill>
            <a:schemeClr val="tx1"/>
          </a:solidFill>
          <a:latin typeface="Calibri" charset="0"/>
          <a:ea typeface="ＭＳ Ｐゴシック" charset="0"/>
          <a:cs typeface="ＭＳ Ｐゴシック" charset="0"/>
        </a:defRPr>
      </a:lvl8pPr>
      <a:lvl9pPr marL="1828800" algn="ctr" rtl="0" fontAlgn="base">
        <a:spcBef>
          <a:spcPct val="0"/>
        </a:spcBef>
        <a:spcAft>
          <a:spcPct val="0"/>
        </a:spcAft>
        <a:defRPr sz="4400">
          <a:solidFill>
            <a:schemeClr val="tx1"/>
          </a:solidFill>
          <a:latin typeface="Calibri" charset="0"/>
          <a:ea typeface="ＭＳ Ｐゴシック" charset="0"/>
          <a:cs typeface="ＭＳ Ｐゴシック" charset="0"/>
        </a:defRPr>
      </a:lvl9pPr>
    </p:titleStyle>
    <p:bodyStyle>
      <a:lvl1pPr marL="342900" indent="-342900" algn="l" rtl="0" eaLnBrk="0" fontAlgn="base" hangingPunct="0">
        <a:spcBef>
          <a:spcPct val="20000"/>
        </a:spcBef>
        <a:spcAft>
          <a:spcPct val="0"/>
        </a:spcAft>
        <a:buFont typeface="Arial" panose="020B0604020202020204" pitchFamily="34" charset="0"/>
        <a:buChar char="•"/>
        <a:defRPr sz="3200" kern="1200">
          <a:solidFill>
            <a:schemeClr val="tx1"/>
          </a:solidFill>
          <a:latin typeface="+mn-lt"/>
          <a:ea typeface="ＭＳ Ｐゴシック" charset="0"/>
          <a:cs typeface="ＭＳ Ｐゴシック" charset="0"/>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ＭＳ Ｐゴシック" charset="0"/>
          <a:cs typeface="+mn-cs"/>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ＭＳ Ｐゴシック" charset="0"/>
          <a:cs typeface="+mn-cs"/>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ＭＳ Ｐゴシック" charset="0"/>
          <a:cs typeface="+mn-cs"/>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ＭＳ Ｐゴシック" charset="0"/>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2.gif"/><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3.gif"/><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18.jpg"/><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slideLayout" Target="../slideLayouts/slideLayout19.xml"/><Relationship Id="rId2" Type="http://schemas.openxmlformats.org/officeDocument/2006/relationships/video" Target="../media/media1.mp4"/><Relationship Id="rId1" Type="http://schemas.microsoft.com/office/2007/relationships/media" Target="../media/media1.mp4"/><Relationship Id="rId4" Type="http://schemas.openxmlformats.org/officeDocument/2006/relationships/image" Target="../media/image19.png"/></Relationships>
</file>

<file path=ppt/slides/_rels/slide30.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9.xml"/><Relationship Id="rId1" Type="http://schemas.openxmlformats.org/officeDocument/2006/relationships/slideLayout" Target="../slideLayouts/slideLayout19.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3" Type="http://schemas.openxmlformats.org/officeDocument/2006/relationships/image" Target="../media/image22.emf"/><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3" Type="http://schemas.openxmlformats.org/officeDocument/2006/relationships/image" Target="../media/image23.emf"/><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3" Type="http://schemas.openxmlformats.org/officeDocument/2006/relationships/image" Target="../media/image24.emf"/><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44.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19.xml"/></Relationships>
</file>

<file path=ppt/slides/_rels/slide45.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19.xml"/></Relationships>
</file>

<file path=ppt/slides/_rels/slide46.xml.rels><?xml version="1.0" encoding="UTF-8" standalone="yes"?>
<Relationships xmlns="http://schemas.openxmlformats.org/package/2006/relationships"><Relationship Id="rId3" Type="http://schemas.openxmlformats.org/officeDocument/2006/relationships/image" Target="../media/image27.jpeg"/><Relationship Id="rId2" Type="http://schemas.openxmlformats.org/officeDocument/2006/relationships/notesSlide" Target="../notesSlides/notesSlide16.xml"/><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3" Type="http://schemas.openxmlformats.org/officeDocument/2006/relationships/image" Target="../media/image27.jpeg"/><Relationship Id="rId2" Type="http://schemas.openxmlformats.org/officeDocument/2006/relationships/notesSlide" Target="../notesSlides/notesSlide17.xml"/><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3" Type="http://schemas.openxmlformats.org/officeDocument/2006/relationships/image" Target="../media/image27.jpeg"/><Relationship Id="rId2" Type="http://schemas.openxmlformats.org/officeDocument/2006/relationships/notesSlide" Target="../notesSlides/notesSlide18.xml"/><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22.xml"/><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23.xml"/><Relationship Id="rId1" Type="http://schemas.openxmlformats.org/officeDocument/2006/relationships/slideLayout" Target="../slideLayouts/slideLayout7.xml"/></Relationships>
</file>

<file path=ppt/slides/_rels/slide55.xml.rels><?xml version="1.0" encoding="UTF-8" standalone="yes"?>
<Relationships xmlns="http://schemas.openxmlformats.org/package/2006/relationships"><Relationship Id="rId3" Type="http://schemas.openxmlformats.org/officeDocument/2006/relationships/hyperlink" Target="https://doi.org/10.1126/science.aay3701" TargetMode="External"/><Relationship Id="rId2" Type="http://schemas.openxmlformats.org/officeDocument/2006/relationships/image" Target="../media/image32.png"/><Relationship Id="rId1" Type="http://schemas.openxmlformats.org/officeDocument/2006/relationships/slideLayout" Target="../slideLayouts/slideLayout7.xml"/></Relationships>
</file>

<file path=ppt/slides/_rels/slide56.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57.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58.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26.xml"/><Relationship Id="rId1" Type="http://schemas.openxmlformats.org/officeDocument/2006/relationships/slideLayout" Target="../slideLayouts/slideLayout7.xml"/></Relationships>
</file>

<file path=ppt/slides/_rels/slide59.xml.rels><?xml version="1.0" encoding="UTF-8" standalone="yes"?>
<Relationships xmlns="http://schemas.openxmlformats.org/package/2006/relationships"><Relationship Id="rId3" Type="http://schemas.openxmlformats.org/officeDocument/2006/relationships/image" Target="../media/image34.jpg"/><Relationship Id="rId2" Type="http://schemas.openxmlformats.org/officeDocument/2006/relationships/notesSlide" Target="../notesSlides/notesSlide27.xml"/><Relationship Id="rId1" Type="http://schemas.openxmlformats.org/officeDocument/2006/relationships/slideLayout" Target="../slideLayouts/slideLayout7.xml"/></Relationships>
</file>

<file path=ppt/slides/_rels/slide60.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28.xml"/><Relationship Id="rId1" Type="http://schemas.openxmlformats.org/officeDocument/2006/relationships/slideLayout" Target="../slideLayouts/slideLayout7.xml"/></Relationships>
</file>

<file path=ppt/slides/_rels/slide61.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29.xml"/><Relationship Id="rId1" Type="http://schemas.openxmlformats.org/officeDocument/2006/relationships/slideLayout" Target="../slideLayouts/slideLayout7.xml"/></Relationships>
</file>

<file path=ppt/slides/_rels/slide62.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video" Target="../media/media2.mp4"/><Relationship Id="rId1" Type="http://schemas.microsoft.com/office/2007/relationships/media" Target="../media/media2.mp4"/><Relationship Id="rId5" Type="http://schemas.openxmlformats.org/officeDocument/2006/relationships/image" Target="../media/image37.png"/><Relationship Id="rId4" Type="http://schemas.openxmlformats.org/officeDocument/2006/relationships/notesSlide" Target="../notesSlides/notesSlide30.xml"/></Relationships>
</file>

<file path=ppt/slides/_rels/slide63.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7.xml"/></Relationships>
</file>

<file path=ppt/slides/_rels/slide64.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7.xml"/></Relationships>
</file>

<file path=ppt/slides/_rels/slide65.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31.xml"/><Relationship Id="rId1" Type="http://schemas.openxmlformats.org/officeDocument/2006/relationships/slideLayout" Target="../slideLayouts/slideLayout1.xml"/></Relationships>
</file>

<file path=ppt/slides/_rels/slide66.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32.xml"/><Relationship Id="rId1" Type="http://schemas.openxmlformats.org/officeDocument/2006/relationships/slideLayout" Target="../slideLayouts/slideLayout1.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7.xml"/></Relationships>
</file>

<file path=ppt/slides/_rels/slide70.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pic>
        <p:nvPicPr>
          <p:cNvPr id="28674" name="Picture 1" descr="globe_west_2048.jpg">
            <a:extLst>
              <a:ext uri="{FF2B5EF4-FFF2-40B4-BE49-F238E27FC236}">
                <a16:creationId xmlns:a16="http://schemas.microsoft.com/office/drawing/2014/main" id="{BC75F72C-DAAC-BF42-B4EC-C8803340DED1}"/>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4419600" y="304800"/>
            <a:ext cx="6477000" cy="6286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8676" name="TextBox 5">
            <a:extLst>
              <a:ext uri="{FF2B5EF4-FFF2-40B4-BE49-F238E27FC236}">
                <a16:creationId xmlns:a16="http://schemas.microsoft.com/office/drawing/2014/main" id="{144B5527-4F03-1545-98A1-2530A4724CA7}"/>
              </a:ext>
            </a:extLst>
          </p:cNvPr>
          <p:cNvSpPr txBox="1">
            <a:spLocks noChangeArrowheads="1"/>
          </p:cNvSpPr>
          <p:nvPr/>
        </p:nvSpPr>
        <p:spPr bwMode="auto">
          <a:xfrm>
            <a:off x="120650" y="762001"/>
            <a:ext cx="5874813" cy="278537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ＭＳ Ｐゴシック" panose="020B0600070205080204" pitchFamily="34" charset="-128"/>
                <a:cs typeface="ＭＳ Ｐゴシック"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ＭＳ Ｐゴシック" panose="020B0600070205080204" pitchFamily="34" charset="-128"/>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eaLnBrk="1" hangingPunct="1">
              <a:spcBef>
                <a:spcPct val="0"/>
              </a:spcBef>
              <a:buFontTx/>
              <a:buNone/>
            </a:pPr>
            <a:r>
              <a:rPr lang="en-US" altLang="en-US" sz="3500" dirty="0">
                <a:solidFill>
                  <a:srgbClr val="FFFFFF"/>
                </a:solidFill>
                <a:latin typeface="Goudy Old Style" panose="02020502050305020303" pitchFamily="18" charset="77"/>
                <a:cs typeface="Arial" panose="020B0604020202020204" pitchFamily="34" charset="0"/>
              </a:rPr>
              <a:t>Week 11</a:t>
            </a:r>
          </a:p>
          <a:p>
            <a:pPr eaLnBrk="1" hangingPunct="1">
              <a:spcBef>
                <a:spcPct val="0"/>
              </a:spcBef>
              <a:buFontTx/>
              <a:buNone/>
            </a:pPr>
            <a:endParaRPr lang="en-US" altLang="en-US" sz="3500" dirty="0">
              <a:solidFill>
                <a:srgbClr val="FFFFFF"/>
              </a:solidFill>
              <a:latin typeface="Goudy Old Style" panose="02020502050305020303" pitchFamily="18" charset="77"/>
              <a:cs typeface="Arial" panose="020B0604020202020204" pitchFamily="34" charset="0"/>
            </a:endParaRPr>
          </a:p>
          <a:p>
            <a:pPr eaLnBrk="1" hangingPunct="1">
              <a:spcBef>
                <a:spcPct val="0"/>
              </a:spcBef>
              <a:buFontTx/>
              <a:buNone/>
            </a:pPr>
            <a:r>
              <a:rPr lang="en-US" altLang="en-US" sz="3500" dirty="0">
                <a:solidFill>
                  <a:srgbClr val="FFFFFF"/>
                </a:solidFill>
                <a:latin typeface="Goudy Old Style" panose="02020502050305020303" pitchFamily="18" charset="77"/>
                <a:cs typeface="Arial" panose="020B0604020202020204" pitchFamily="34" charset="0"/>
              </a:rPr>
              <a:t>Synthesis: </a:t>
            </a:r>
          </a:p>
          <a:p>
            <a:pPr eaLnBrk="1" hangingPunct="1">
              <a:spcBef>
                <a:spcPct val="0"/>
              </a:spcBef>
              <a:buFontTx/>
              <a:buNone/>
            </a:pPr>
            <a:r>
              <a:rPr lang="en-US" altLang="en-US" sz="3500" dirty="0">
                <a:solidFill>
                  <a:srgbClr val="FFFFFF"/>
                </a:solidFill>
                <a:latin typeface="Goudy Old Style" panose="02020502050305020303" pitchFamily="18" charset="77"/>
                <a:cs typeface="Arial" panose="020B0604020202020204" pitchFamily="34" charset="0"/>
              </a:rPr>
              <a:t>Climate Feedbacks</a:t>
            </a:r>
            <a:br>
              <a:rPr lang="en-US" altLang="en-US" sz="3500" dirty="0">
                <a:solidFill>
                  <a:srgbClr val="FFFFFF"/>
                </a:solidFill>
                <a:latin typeface="Goudy Old Style" panose="02020502050305020303" pitchFamily="18" charset="77"/>
                <a:cs typeface="Arial" panose="020B0604020202020204" pitchFamily="34" charset="0"/>
              </a:rPr>
            </a:br>
            <a:r>
              <a:rPr lang="en-US" altLang="en-US" sz="3500" dirty="0">
                <a:solidFill>
                  <a:srgbClr val="FFFFFF"/>
                </a:solidFill>
                <a:latin typeface="Goudy Old Style" panose="02020502050305020303" pitchFamily="18" charset="77"/>
                <a:cs typeface="Arial" panose="020B0604020202020204" pitchFamily="34" charset="0"/>
              </a:rPr>
              <a:t>Anthropogenic Climate Change</a:t>
            </a:r>
          </a:p>
        </p:txBody>
      </p:sp>
    </p:spTree>
    <p:extLst>
      <p:ext uri="{BB962C8B-B14F-4D97-AF65-F5344CB8AC3E}">
        <p14:creationId xmlns:p14="http://schemas.microsoft.com/office/powerpoint/2010/main" val="311266881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C00000"/>
        </a:solidFill>
        <a:effectLst/>
      </p:bgPr>
    </p:bg>
    <p:spTree>
      <p:nvGrpSpPr>
        <p:cNvPr id="1" name=""/>
        <p:cNvGrpSpPr/>
        <p:nvPr/>
      </p:nvGrpSpPr>
      <p:grpSpPr>
        <a:xfrm>
          <a:off x="0" y="0"/>
          <a:ext cx="0" cy="0"/>
          <a:chOff x="0" y="0"/>
          <a:chExt cx="0" cy="0"/>
        </a:xfrm>
      </p:grpSpPr>
      <p:sp>
        <p:nvSpPr>
          <p:cNvPr id="30722" name="Content Placeholder 2">
            <a:extLst>
              <a:ext uri="{FF2B5EF4-FFF2-40B4-BE49-F238E27FC236}">
                <a16:creationId xmlns:a16="http://schemas.microsoft.com/office/drawing/2014/main" id="{99B0D072-17FC-F540-8EE6-199FD232EB57}"/>
              </a:ext>
            </a:extLst>
          </p:cNvPr>
          <p:cNvSpPr>
            <a:spLocks noGrp="1" noChangeArrowheads="1"/>
          </p:cNvSpPr>
          <p:nvPr>
            <p:ph idx="1"/>
          </p:nvPr>
        </p:nvSpPr>
        <p:spPr>
          <a:xfrm>
            <a:off x="457200" y="914400"/>
            <a:ext cx="8229600" cy="3771900"/>
          </a:xfrm>
        </p:spPr>
        <p:txBody>
          <a:bodyPr/>
          <a:lstStyle/>
          <a:p>
            <a:pPr>
              <a:buNone/>
              <a:defRPr/>
            </a:pPr>
            <a:r>
              <a:rPr lang="en-US" sz="2000" b="1" dirty="0">
                <a:solidFill>
                  <a:srgbClr val="FFFF00"/>
                </a:solidFill>
                <a:effectLst>
                  <a:outerShdw blurRad="50800" dist="38100" dir="2700000" algn="tl" rotWithShape="0">
                    <a:prstClr val="black">
                      <a:alpha val="40000"/>
                    </a:prstClr>
                  </a:outerShdw>
                </a:effectLst>
              </a:rPr>
              <a:t>Required Reading:</a:t>
            </a:r>
          </a:p>
          <a:p>
            <a:pPr>
              <a:buNone/>
              <a:defRPr/>
            </a:pPr>
            <a:r>
              <a:rPr lang="en-US" sz="2000" dirty="0" err="1">
                <a:solidFill>
                  <a:schemeClr val="accent1"/>
                </a:solidFill>
                <a:effectLst>
                  <a:outerShdw blurRad="50800" dist="38100" dir="2700000" algn="tl" rotWithShape="0">
                    <a:prstClr val="black">
                      <a:alpha val="40000"/>
                    </a:prstClr>
                  </a:outerShdw>
                </a:effectLst>
              </a:rPr>
              <a:t>Donnadieu</a:t>
            </a:r>
            <a:r>
              <a:rPr lang="en-US" sz="2000" dirty="0">
                <a:solidFill>
                  <a:schemeClr val="accent1"/>
                </a:solidFill>
                <a:effectLst>
                  <a:outerShdw blurRad="50800" dist="38100" dir="2700000" algn="tl" rotWithShape="0">
                    <a:prstClr val="black">
                      <a:alpha val="40000"/>
                    </a:prstClr>
                  </a:outerShdw>
                </a:effectLst>
              </a:rPr>
              <a:t> et al. (2004): “A ‘snowball Earth’ climate triggered by continental break-up through changes in runoff”</a:t>
            </a:r>
          </a:p>
          <a:p>
            <a:pPr>
              <a:buNone/>
              <a:defRPr/>
            </a:pPr>
            <a:r>
              <a:rPr lang="en-US" sz="2000" dirty="0">
                <a:solidFill>
                  <a:schemeClr val="accent1"/>
                </a:solidFill>
                <a:effectLst>
                  <a:outerShdw blurRad="50800" dist="38100" dir="2700000" algn="tl" rotWithShape="0">
                    <a:prstClr val="black">
                      <a:alpha val="40000"/>
                    </a:prstClr>
                  </a:outerShdw>
                </a:effectLst>
              </a:rPr>
              <a:t>First five pages of Build Your Own Earth exercises assignment</a:t>
            </a:r>
          </a:p>
          <a:p>
            <a:pPr>
              <a:buNone/>
              <a:defRPr/>
            </a:pPr>
            <a:endParaRPr lang="en-US" sz="2000" dirty="0">
              <a:solidFill>
                <a:srgbClr val="FFFF00"/>
              </a:solidFill>
              <a:effectLst>
                <a:outerShdw blurRad="50800" dist="38100" dir="2700000" algn="tl" rotWithShape="0">
                  <a:prstClr val="black">
                    <a:alpha val="40000"/>
                  </a:prstClr>
                </a:outerShdw>
              </a:effectLst>
            </a:endParaRPr>
          </a:p>
          <a:p>
            <a:pPr>
              <a:buNone/>
              <a:defRPr/>
            </a:pPr>
            <a:r>
              <a:rPr lang="en-US" sz="2000" b="1" dirty="0">
                <a:solidFill>
                  <a:srgbClr val="FFFF00"/>
                </a:solidFill>
                <a:effectLst>
                  <a:outerShdw blurRad="50800" dist="38100" dir="2700000" algn="tl" rotWithShape="0">
                    <a:prstClr val="black">
                      <a:alpha val="40000"/>
                    </a:prstClr>
                  </a:outerShdw>
                </a:effectLst>
              </a:rPr>
              <a:t>Optional Assignment:</a:t>
            </a:r>
          </a:p>
          <a:p>
            <a:pPr>
              <a:buNone/>
              <a:defRPr/>
            </a:pPr>
            <a:r>
              <a:rPr lang="en-US" sz="2000" dirty="0" err="1">
                <a:solidFill>
                  <a:schemeClr val="accent1"/>
                </a:solidFill>
                <a:effectLst>
                  <a:outerShdw blurRad="50800" dist="38100" dir="2700000" algn="tl" rotWithShape="0">
                    <a:prstClr val="black">
                      <a:alpha val="40000"/>
                    </a:prstClr>
                  </a:outerShdw>
                </a:effectLst>
              </a:rPr>
              <a:t>BuildYourOwnEarth</a:t>
            </a:r>
            <a:r>
              <a:rPr lang="en-US" sz="2000" dirty="0">
                <a:solidFill>
                  <a:schemeClr val="accent1"/>
                </a:solidFill>
                <a:effectLst>
                  <a:outerShdw blurRad="50800" dist="38100" dir="2700000" algn="tl" rotWithShape="0">
                    <a:prstClr val="black">
                      <a:alpha val="40000"/>
                    </a:prstClr>
                  </a:outerShdw>
                </a:effectLst>
              </a:rPr>
              <a:t> exercises</a:t>
            </a:r>
          </a:p>
          <a:p>
            <a:pPr>
              <a:buNone/>
              <a:defRPr/>
            </a:pPr>
            <a:endParaRPr lang="en-US" sz="2000" dirty="0">
              <a:solidFill>
                <a:schemeClr val="bg1"/>
              </a:solidFill>
              <a:effectLst>
                <a:outerShdw blurRad="50800" dist="38100" dir="2700000" algn="tl" rotWithShape="0">
                  <a:prstClr val="black">
                    <a:alpha val="40000"/>
                  </a:prstClr>
                </a:outerShdw>
              </a:effectLst>
            </a:endParaRPr>
          </a:p>
          <a:p>
            <a:pPr>
              <a:buNone/>
              <a:defRPr/>
            </a:pPr>
            <a:r>
              <a:rPr lang="en-US" sz="2000" b="1" dirty="0">
                <a:solidFill>
                  <a:srgbClr val="FFFF00"/>
                </a:solidFill>
                <a:effectLst>
                  <a:outerShdw blurRad="50800" dist="38100" dir="2700000" algn="tl" rotWithShape="0">
                    <a:prstClr val="black">
                      <a:alpha val="40000"/>
                    </a:prstClr>
                  </a:outerShdw>
                </a:effectLst>
              </a:rPr>
              <a:t>Optional Reading:</a:t>
            </a:r>
            <a:endParaRPr lang="en-US" sz="2000" dirty="0">
              <a:solidFill>
                <a:schemeClr val="bg1"/>
              </a:solidFill>
              <a:effectLst>
                <a:outerShdw blurRad="50800" dist="38100" dir="2700000" algn="tl" rotWithShape="0">
                  <a:prstClr val="black">
                    <a:alpha val="40000"/>
                  </a:prstClr>
                </a:outerShdw>
              </a:effectLst>
            </a:endParaRPr>
          </a:p>
          <a:p>
            <a:pPr>
              <a:buNone/>
              <a:defRPr/>
            </a:pPr>
            <a:r>
              <a:rPr lang="en-US" sz="2000" dirty="0">
                <a:solidFill>
                  <a:schemeClr val="accent1"/>
                </a:solidFill>
                <a:effectLst>
                  <a:outerShdw blurRad="50800" dist="38100" dir="2700000" algn="tl" rotWithShape="0">
                    <a:prstClr val="black">
                      <a:alpha val="40000"/>
                    </a:prstClr>
                  </a:outerShdw>
                </a:effectLst>
              </a:rPr>
              <a:t>A Walk Through Climate History</a:t>
            </a:r>
          </a:p>
          <a:p>
            <a:pPr>
              <a:buNone/>
              <a:defRPr/>
            </a:pPr>
            <a:r>
              <a:rPr lang="en-US" sz="2000" dirty="0">
                <a:solidFill>
                  <a:schemeClr val="accent1"/>
                </a:solidFill>
                <a:effectLst>
                  <a:outerShdw blurRad="50800" dist="38100" dir="2700000" algn="tl" rotWithShape="0">
                    <a:prstClr val="black">
                      <a:alpha val="40000"/>
                    </a:prstClr>
                  </a:outerShdw>
                </a:effectLst>
              </a:rPr>
              <a:t>Introduction to Climate Science</a:t>
            </a:r>
          </a:p>
          <a:p>
            <a:pPr>
              <a:buNone/>
              <a:defRPr/>
            </a:pPr>
            <a:r>
              <a:rPr lang="en-US" sz="2000" dirty="0">
                <a:solidFill>
                  <a:schemeClr val="accent1"/>
                </a:solidFill>
                <a:effectLst>
                  <a:outerShdw blurRad="50800" dist="38100" dir="2700000" algn="tl" rotWithShape="0">
                    <a:prstClr val="black">
                      <a:alpha val="40000"/>
                    </a:prstClr>
                  </a:outerShdw>
                </a:effectLst>
              </a:rPr>
              <a:t>Paleogeographic controls on climate and proxy interpretation</a:t>
            </a:r>
          </a:p>
          <a:p>
            <a:pPr>
              <a:buNone/>
              <a:defRPr/>
            </a:pPr>
            <a:r>
              <a:rPr lang="en-US" sz="2000" dirty="0">
                <a:solidFill>
                  <a:schemeClr val="accent1"/>
                </a:solidFill>
                <a:effectLst>
                  <a:outerShdw blurRad="50800" dist="38100" dir="2700000" algn="tl" rotWithShape="0">
                    <a:prstClr val="black">
                      <a:alpha val="40000"/>
                    </a:prstClr>
                  </a:outerShdw>
                </a:effectLst>
              </a:rPr>
              <a:t>How Proxy Data reveals the climate of the Earth’s distant past</a:t>
            </a:r>
          </a:p>
        </p:txBody>
      </p:sp>
    </p:spTree>
    <p:extLst>
      <p:ext uri="{BB962C8B-B14F-4D97-AF65-F5344CB8AC3E}">
        <p14:creationId xmlns:p14="http://schemas.microsoft.com/office/powerpoint/2010/main" val="3608485753"/>
      </p:ext>
    </p:extLst>
  </p:cSld>
  <p:clrMapOvr>
    <a:masterClrMapping/>
  </p:clrMapOvr>
  <p:transition spd="slow"/>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lumMod val="25000"/>
          </a:schemeClr>
        </a:solidFill>
        <a:effectLst/>
      </p:bgPr>
    </p:bg>
    <p:spTree>
      <p:nvGrpSpPr>
        <p:cNvPr id="1" name=""/>
        <p:cNvGrpSpPr/>
        <p:nvPr/>
      </p:nvGrpSpPr>
      <p:grpSpPr>
        <a:xfrm>
          <a:off x="0" y="0"/>
          <a:ext cx="0" cy="0"/>
          <a:chOff x="0" y="0"/>
          <a:chExt cx="0" cy="0"/>
        </a:xfrm>
      </p:grpSpPr>
      <p:sp>
        <p:nvSpPr>
          <p:cNvPr id="30722" name="Content Placeholder 2">
            <a:extLst>
              <a:ext uri="{FF2B5EF4-FFF2-40B4-BE49-F238E27FC236}">
                <a16:creationId xmlns:a16="http://schemas.microsoft.com/office/drawing/2014/main" id="{99B0D072-17FC-F540-8EE6-199FD232EB57}"/>
              </a:ext>
            </a:extLst>
          </p:cNvPr>
          <p:cNvSpPr>
            <a:spLocks noGrp="1" noChangeArrowheads="1"/>
          </p:cNvSpPr>
          <p:nvPr>
            <p:ph idx="1"/>
          </p:nvPr>
        </p:nvSpPr>
        <p:spPr>
          <a:xfrm>
            <a:off x="533400" y="1143000"/>
            <a:ext cx="8229600" cy="4110038"/>
          </a:xfrm>
        </p:spPr>
        <p:txBody>
          <a:bodyPr/>
          <a:lstStyle/>
          <a:p>
            <a:pPr marL="0" indent="0">
              <a:buNone/>
            </a:pPr>
            <a:endParaRPr lang="en-US" altLang="en-US" sz="2800" dirty="0">
              <a:solidFill>
                <a:srgbClr val="FFFF00"/>
              </a:solidFill>
              <a:ea typeface="ＭＳ Ｐゴシック" panose="020B0600070205080204" pitchFamily="34" charset="-128"/>
              <a:cs typeface="ＭＳ Ｐゴシック" panose="020B0600070205080204" pitchFamily="34" charset="-128"/>
            </a:endParaRPr>
          </a:p>
          <a:p>
            <a:r>
              <a:rPr lang="en-US" altLang="en-US" sz="2800" dirty="0">
                <a:solidFill>
                  <a:schemeClr val="accent1"/>
                </a:solidFill>
                <a:ea typeface="ＭＳ Ｐゴシック" panose="020B0600070205080204" pitchFamily="34" charset="-128"/>
                <a:cs typeface="ＭＳ Ｐゴシック" panose="020B0600070205080204" pitchFamily="34" charset="-128"/>
              </a:rPr>
              <a:t>Questions from last week or videos</a:t>
            </a:r>
          </a:p>
          <a:p>
            <a:r>
              <a:rPr lang="en-US" altLang="en-US" sz="2800" dirty="0">
                <a:solidFill>
                  <a:schemeClr val="accent1"/>
                </a:solidFill>
                <a:ea typeface="ＭＳ Ｐゴシック" panose="020B0600070205080204" pitchFamily="34" charset="-128"/>
                <a:cs typeface="ＭＳ Ｐゴシック" panose="020B0600070205080204" pitchFamily="34" charset="-128"/>
              </a:rPr>
              <a:t>Weather recap and forecast</a:t>
            </a:r>
          </a:p>
          <a:p>
            <a:r>
              <a:rPr lang="en-US" altLang="en-US" sz="2800" dirty="0">
                <a:solidFill>
                  <a:schemeClr val="accent1"/>
                </a:solidFill>
                <a:ea typeface="ＭＳ Ｐゴシック" panose="020B0600070205080204" pitchFamily="34" charset="-128"/>
                <a:cs typeface="ＭＳ Ｐゴシック" panose="020B0600070205080204" pitchFamily="34" charset="-128"/>
              </a:rPr>
              <a:t>Examples of feedbacks in the climate system</a:t>
            </a:r>
          </a:p>
          <a:p>
            <a:r>
              <a:rPr lang="en-US" altLang="en-US" sz="2800" dirty="0">
                <a:solidFill>
                  <a:schemeClr val="accent1"/>
                </a:solidFill>
                <a:ea typeface="ＭＳ Ｐゴシック" panose="020B0600070205080204" pitchFamily="34" charset="-128"/>
                <a:cs typeface="ＭＳ Ｐゴシック" panose="020B0600070205080204" pitchFamily="34" charset="-128"/>
              </a:rPr>
              <a:t>Implications for climate change in field geology</a:t>
            </a:r>
          </a:p>
          <a:p>
            <a:r>
              <a:rPr lang="en-US" altLang="en-US" sz="2800" dirty="0">
                <a:solidFill>
                  <a:schemeClr val="accent1"/>
                </a:solidFill>
                <a:ea typeface="ＭＳ Ｐゴシック" panose="020B0600070205080204" pitchFamily="34" charset="-128"/>
                <a:cs typeface="ＭＳ Ｐゴシック" panose="020B0600070205080204" pitchFamily="34" charset="-128"/>
              </a:rPr>
              <a:t>Anthropogenic climate change affects all components of the climate system</a:t>
            </a:r>
          </a:p>
          <a:p>
            <a:r>
              <a:rPr lang="en-US" altLang="en-US" sz="2800" dirty="0">
                <a:solidFill>
                  <a:schemeClr val="accent1"/>
                </a:solidFill>
                <a:ea typeface="ＭＳ Ｐゴシック" panose="020B0600070205080204" pitchFamily="34" charset="-128"/>
                <a:cs typeface="ＭＳ Ｐゴシック" panose="020B0600070205080204" pitchFamily="34" charset="-128"/>
              </a:rPr>
              <a:t>Final exam</a:t>
            </a:r>
          </a:p>
          <a:p>
            <a:r>
              <a:rPr lang="en-US" altLang="en-US" sz="2800" dirty="0">
                <a:solidFill>
                  <a:schemeClr val="accent1"/>
                </a:solidFill>
                <a:ea typeface="ＭＳ Ｐゴシック" panose="020B0600070205080204" pitchFamily="34" charset="-128"/>
                <a:cs typeface="ＭＳ Ｐゴシック" panose="020B0600070205080204" pitchFamily="34" charset="-128"/>
              </a:rPr>
              <a:t>25-Question </a:t>
            </a:r>
            <a:r>
              <a:rPr lang="en-US" altLang="en-US" sz="2800" dirty="0" err="1">
                <a:solidFill>
                  <a:schemeClr val="accent1"/>
                </a:solidFill>
                <a:ea typeface="ＭＳ Ｐゴシック" panose="020B0600070205080204" pitchFamily="34" charset="-128"/>
                <a:cs typeface="ＭＳ Ｐゴシック" panose="020B0600070205080204" pitchFamily="34" charset="-128"/>
              </a:rPr>
              <a:t>Kahoot</a:t>
            </a:r>
            <a:r>
              <a:rPr lang="en-US" altLang="en-US" sz="2800" dirty="0">
                <a:solidFill>
                  <a:schemeClr val="accent1"/>
                </a:solidFill>
                <a:ea typeface="ＭＳ Ｐゴシック" panose="020B0600070205080204" pitchFamily="34" charset="-128"/>
                <a:cs typeface="ＭＳ Ｐゴシック" panose="020B0600070205080204" pitchFamily="34" charset="-128"/>
              </a:rPr>
              <a:t>!</a:t>
            </a:r>
          </a:p>
        </p:txBody>
      </p:sp>
      <p:sp>
        <p:nvSpPr>
          <p:cNvPr id="3" name="TextBox 2">
            <a:extLst>
              <a:ext uri="{FF2B5EF4-FFF2-40B4-BE49-F238E27FC236}">
                <a16:creationId xmlns:a16="http://schemas.microsoft.com/office/drawing/2014/main" id="{FEE66326-8641-1049-85B3-AAA16DBD4757}"/>
              </a:ext>
            </a:extLst>
          </p:cNvPr>
          <p:cNvSpPr txBox="1"/>
          <p:nvPr/>
        </p:nvSpPr>
        <p:spPr>
          <a:xfrm>
            <a:off x="3581400" y="312003"/>
            <a:ext cx="1830053" cy="830997"/>
          </a:xfrm>
          <a:prstGeom prst="rect">
            <a:avLst/>
          </a:prstGeom>
          <a:noFill/>
        </p:spPr>
        <p:txBody>
          <a:bodyPr wrap="none" rtlCol="0">
            <a:spAutoFit/>
          </a:bodyPr>
          <a:lstStyle/>
          <a:p>
            <a:r>
              <a:rPr lang="en-US" sz="4800" dirty="0">
                <a:solidFill>
                  <a:srgbClr val="FFFF00"/>
                </a:solidFill>
              </a:rPr>
              <a:t>Today</a:t>
            </a:r>
          </a:p>
        </p:txBody>
      </p:sp>
    </p:spTree>
    <p:extLst>
      <p:ext uri="{BB962C8B-B14F-4D97-AF65-F5344CB8AC3E}">
        <p14:creationId xmlns:p14="http://schemas.microsoft.com/office/powerpoint/2010/main" val="103771230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lumMod val="25000"/>
          </a:schemeClr>
        </a:solidFill>
        <a:effectLst/>
      </p:bgPr>
    </p:bg>
    <p:spTree>
      <p:nvGrpSpPr>
        <p:cNvPr id="1" name=""/>
        <p:cNvGrpSpPr/>
        <p:nvPr/>
      </p:nvGrpSpPr>
      <p:grpSpPr>
        <a:xfrm>
          <a:off x="0" y="0"/>
          <a:ext cx="0" cy="0"/>
          <a:chOff x="0" y="0"/>
          <a:chExt cx="0" cy="0"/>
        </a:xfrm>
      </p:grpSpPr>
      <p:sp>
        <p:nvSpPr>
          <p:cNvPr id="31746" name="TextBox 4">
            <a:extLst>
              <a:ext uri="{FF2B5EF4-FFF2-40B4-BE49-F238E27FC236}">
                <a16:creationId xmlns:a16="http://schemas.microsoft.com/office/drawing/2014/main" id="{FEA2326E-379B-B644-B487-8CF6D5D53534}"/>
              </a:ext>
            </a:extLst>
          </p:cNvPr>
          <p:cNvSpPr txBox="1">
            <a:spLocks noChangeArrowheads="1"/>
          </p:cNvSpPr>
          <p:nvPr/>
        </p:nvSpPr>
        <p:spPr bwMode="auto">
          <a:xfrm>
            <a:off x="2057400" y="2362200"/>
            <a:ext cx="5231497"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ＭＳ Ｐゴシック" panose="020B0600070205080204" pitchFamily="34" charset="-128"/>
                <a:cs typeface="ＭＳ Ｐゴシック"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ＭＳ Ｐゴシック" panose="020B0600070205080204" pitchFamily="34" charset="-128"/>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a:spcBef>
                <a:spcPct val="0"/>
              </a:spcBef>
              <a:buFontTx/>
              <a:buNone/>
            </a:pPr>
            <a:r>
              <a:rPr lang="en-US" altLang="en-US" dirty="0">
                <a:solidFill>
                  <a:srgbClr val="FFFF00"/>
                </a:solidFill>
                <a:cs typeface="Arial" panose="020B0604020202020204" pitchFamily="34" charset="0"/>
              </a:rPr>
              <a:t>Weather recap and forecast</a:t>
            </a:r>
            <a:endParaRPr lang="en-US" altLang="en-US" sz="2400" dirty="0">
              <a:solidFill>
                <a:srgbClr val="FFFF00"/>
              </a:solidFill>
              <a:cs typeface="Arial" panose="020B0604020202020204" pitchFamily="34" charset="0"/>
            </a:endParaRPr>
          </a:p>
        </p:txBody>
      </p:sp>
    </p:spTree>
    <p:extLst>
      <p:ext uri="{BB962C8B-B14F-4D97-AF65-F5344CB8AC3E}">
        <p14:creationId xmlns:p14="http://schemas.microsoft.com/office/powerpoint/2010/main" val="63533186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accent1"/>
        </a:solidFill>
        <a:effectLst/>
      </p:bgPr>
    </p:bg>
    <p:spTree>
      <p:nvGrpSpPr>
        <p:cNvPr id="1" name=""/>
        <p:cNvGrpSpPr/>
        <p:nvPr/>
      </p:nvGrpSpPr>
      <p:grpSpPr>
        <a:xfrm>
          <a:off x="0" y="0"/>
          <a:ext cx="0" cy="0"/>
          <a:chOff x="0" y="0"/>
          <a:chExt cx="0" cy="0"/>
        </a:xfrm>
      </p:grpSpPr>
      <p:sp>
        <p:nvSpPr>
          <p:cNvPr id="5" name="Up Arrow 4">
            <a:extLst>
              <a:ext uri="{FF2B5EF4-FFF2-40B4-BE49-F238E27FC236}">
                <a16:creationId xmlns:a16="http://schemas.microsoft.com/office/drawing/2014/main" id="{4B14559E-D69F-C441-B1D7-98D488268060}"/>
              </a:ext>
            </a:extLst>
          </p:cNvPr>
          <p:cNvSpPr/>
          <p:nvPr/>
        </p:nvSpPr>
        <p:spPr>
          <a:xfrm rot="18559532">
            <a:off x="4800600" y="2819400"/>
            <a:ext cx="228600" cy="533400"/>
          </a:xfrm>
          <a:prstGeom prst="upArrow">
            <a:avLst/>
          </a:prstGeom>
          <a:solidFill>
            <a:srgbClr val="FF0000"/>
          </a:solidFill>
          <a:ln>
            <a:solidFill>
              <a:srgbClr val="FF0000"/>
            </a:solid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2400" b="0" i="0" u="none" strike="noStrike" kern="1200" cap="none" spc="0" normalizeH="0" baseline="0" noProof="0">
              <a:ln>
                <a:noFill/>
              </a:ln>
              <a:solidFill>
                <a:srgbClr val="DEF6F1"/>
              </a:solidFill>
              <a:effectLst/>
              <a:uLnTx/>
              <a:uFillTx/>
              <a:latin typeface="Arial"/>
              <a:ea typeface="+mn-ea"/>
              <a:cs typeface="+mn-cs"/>
            </a:endParaRPr>
          </a:p>
        </p:txBody>
      </p:sp>
      <p:sp>
        <p:nvSpPr>
          <p:cNvPr id="6" name="Up Arrow 5">
            <a:extLst>
              <a:ext uri="{FF2B5EF4-FFF2-40B4-BE49-F238E27FC236}">
                <a16:creationId xmlns:a16="http://schemas.microsoft.com/office/drawing/2014/main" id="{C9D8AB17-2458-3044-9C49-C8C41FAC6C69}"/>
              </a:ext>
            </a:extLst>
          </p:cNvPr>
          <p:cNvSpPr/>
          <p:nvPr/>
        </p:nvSpPr>
        <p:spPr>
          <a:xfrm rot="10046640">
            <a:off x="6493764" y="1638300"/>
            <a:ext cx="228600" cy="533400"/>
          </a:xfrm>
          <a:prstGeom prst="upArrow">
            <a:avLst/>
          </a:prstGeom>
          <a:solidFill>
            <a:srgbClr val="FFFF00"/>
          </a:solidFill>
          <a:ln>
            <a:solidFill>
              <a:srgbClr val="FF0000"/>
            </a:solid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2400" b="0" i="0" u="none" strike="noStrike" kern="1200" cap="none" spc="0" normalizeH="0" baseline="0" noProof="0">
              <a:ln>
                <a:noFill/>
              </a:ln>
              <a:solidFill>
                <a:srgbClr val="DEF6F1"/>
              </a:solidFill>
              <a:effectLst/>
              <a:uLnTx/>
              <a:uFillTx/>
              <a:latin typeface="Arial"/>
              <a:ea typeface="+mn-ea"/>
              <a:cs typeface="+mn-cs"/>
            </a:endParaRPr>
          </a:p>
        </p:txBody>
      </p:sp>
      <p:sp>
        <p:nvSpPr>
          <p:cNvPr id="7" name="Up Arrow 6">
            <a:extLst>
              <a:ext uri="{FF2B5EF4-FFF2-40B4-BE49-F238E27FC236}">
                <a16:creationId xmlns:a16="http://schemas.microsoft.com/office/drawing/2014/main" id="{F080101E-0E3E-DD4C-8A83-BA41DFC6314F}"/>
              </a:ext>
            </a:extLst>
          </p:cNvPr>
          <p:cNvSpPr/>
          <p:nvPr/>
        </p:nvSpPr>
        <p:spPr>
          <a:xfrm>
            <a:off x="4800600" y="1359408"/>
            <a:ext cx="228600" cy="533400"/>
          </a:xfrm>
          <a:prstGeom prst="upArrow">
            <a:avLst/>
          </a:prstGeom>
          <a:solidFill>
            <a:srgbClr val="FF0000"/>
          </a:solidFill>
          <a:ln>
            <a:solidFill>
              <a:srgbClr val="FF0000"/>
            </a:solid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2400" b="0" i="0" u="none" strike="noStrike" kern="1200" cap="none" spc="0" normalizeH="0" baseline="0" noProof="0">
              <a:ln>
                <a:noFill/>
              </a:ln>
              <a:solidFill>
                <a:srgbClr val="DEF6F1"/>
              </a:solidFill>
              <a:effectLst/>
              <a:uLnTx/>
              <a:uFillTx/>
              <a:latin typeface="Arial"/>
              <a:ea typeface="+mn-ea"/>
              <a:cs typeface="+mn-cs"/>
            </a:endParaRPr>
          </a:p>
        </p:txBody>
      </p:sp>
      <p:sp>
        <p:nvSpPr>
          <p:cNvPr id="8" name="Up Arrow 7">
            <a:extLst>
              <a:ext uri="{FF2B5EF4-FFF2-40B4-BE49-F238E27FC236}">
                <a16:creationId xmlns:a16="http://schemas.microsoft.com/office/drawing/2014/main" id="{419DA8B1-78A8-394C-A9D9-A05FBEB35472}"/>
              </a:ext>
            </a:extLst>
          </p:cNvPr>
          <p:cNvSpPr/>
          <p:nvPr/>
        </p:nvSpPr>
        <p:spPr>
          <a:xfrm rot="3214969">
            <a:off x="4152900" y="3774974"/>
            <a:ext cx="228600" cy="533400"/>
          </a:xfrm>
          <a:prstGeom prst="upArrow">
            <a:avLst/>
          </a:prstGeom>
          <a:solidFill>
            <a:srgbClr val="FF0000"/>
          </a:solidFill>
          <a:ln>
            <a:solidFill>
              <a:srgbClr val="FF0000"/>
            </a:solid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2400" b="0" i="0" u="none" strike="noStrike" kern="1200" cap="none" spc="0" normalizeH="0" baseline="0" noProof="0">
              <a:ln>
                <a:noFill/>
              </a:ln>
              <a:solidFill>
                <a:srgbClr val="DEF6F1"/>
              </a:solidFill>
              <a:effectLst/>
              <a:uLnTx/>
              <a:uFillTx/>
              <a:latin typeface="Arial"/>
              <a:ea typeface="+mn-ea"/>
              <a:cs typeface="+mn-cs"/>
            </a:endParaRPr>
          </a:p>
        </p:txBody>
      </p:sp>
      <p:pic>
        <p:nvPicPr>
          <p:cNvPr id="3" name="Picture 2">
            <a:extLst>
              <a:ext uri="{FF2B5EF4-FFF2-40B4-BE49-F238E27FC236}">
                <a16:creationId xmlns:a16="http://schemas.microsoft.com/office/drawing/2014/main" id="{FCDB192E-374C-6F40-8090-EE9F7A73D647}"/>
              </a:ext>
            </a:extLst>
          </p:cNvPr>
          <p:cNvPicPr>
            <a:picLocks noChangeAspect="1"/>
          </p:cNvPicPr>
          <p:nvPr/>
        </p:nvPicPr>
        <p:blipFill>
          <a:blip r:embed="rId2"/>
          <a:stretch>
            <a:fillRect/>
          </a:stretch>
        </p:blipFill>
        <p:spPr>
          <a:xfrm>
            <a:off x="-1" y="0"/>
            <a:ext cx="9183905" cy="6858000"/>
          </a:xfrm>
          <a:prstGeom prst="rect">
            <a:avLst/>
          </a:prstGeom>
        </p:spPr>
      </p:pic>
      <p:sp>
        <p:nvSpPr>
          <p:cNvPr id="9" name="TextBox 8">
            <a:extLst>
              <a:ext uri="{FF2B5EF4-FFF2-40B4-BE49-F238E27FC236}">
                <a16:creationId xmlns:a16="http://schemas.microsoft.com/office/drawing/2014/main" id="{A2728A40-0501-3E42-8318-4474DE4FE12A}"/>
              </a:ext>
            </a:extLst>
          </p:cNvPr>
          <p:cNvSpPr txBox="1"/>
          <p:nvPr/>
        </p:nvSpPr>
        <p:spPr>
          <a:xfrm>
            <a:off x="1365974" y="6273225"/>
            <a:ext cx="4262514" cy="584775"/>
          </a:xfrm>
          <a:prstGeom prst="rect">
            <a:avLst/>
          </a:prstGeom>
          <a:solidFill>
            <a:schemeClr val="accent1"/>
          </a:solidFill>
          <a:ln>
            <a:solidFill>
              <a:srgbClr val="FF0000"/>
            </a:solidFill>
          </a:ln>
        </p:spPr>
        <p:txBody>
          <a:bodyPr wrap="none" rtlCol="0">
            <a:spAutoFit/>
          </a:bodyPr>
          <a:lstStyle/>
          <a:p>
            <a:r>
              <a:rPr lang="en-US" sz="3200" dirty="0">
                <a:solidFill>
                  <a:srgbClr val="FF0000"/>
                </a:solidFill>
              </a:rPr>
              <a:t>1200 UTC Sat 26 April</a:t>
            </a:r>
          </a:p>
        </p:txBody>
      </p:sp>
      <p:sp>
        <p:nvSpPr>
          <p:cNvPr id="11" name="Up Arrow 10">
            <a:extLst>
              <a:ext uri="{FF2B5EF4-FFF2-40B4-BE49-F238E27FC236}">
                <a16:creationId xmlns:a16="http://schemas.microsoft.com/office/drawing/2014/main" id="{5276C4F0-643E-5147-A288-0167E0D14835}"/>
              </a:ext>
            </a:extLst>
          </p:cNvPr>
          <p:cNvSpPr/>
          <p:nvPr/>
        </p:nvSpPr>
        <p:spPr>
          <a:xfrm rot="3214969">
            <a:off x="4251426" y="3184009"/>
            <a:ext cx="228600" cy="533400"/>
          </a:xfrm>
          <a:prstGeom prst="upArrow">
            <a:avLst/>
          </a:prstGeom>
          <a:solidFill>
            <a:srgbClr val="FF0000"/>
          </a:solidFill>
          <a:ln>
            <a:solidFill>
              <a:srgbClr val="FF0000"/>
            </a:solid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2400" b="0" i="0" u="none" strike="noStrike" kern="1200" cap="none" spc="0" normalizeH="0" baseline="0" noProof="0">
              <a:ln>
                <a:noFill/>
              </a:ln>
              <a:solidFill>
                <a:srgbClr val="DEF6F1"/>
              </a:solidFill>
              <a:effectLst/>
              <a:uLnTx/>
              <a:uFillTx/>
              <a:latin typeface="Arial"/>
              <a:ea typeface="+mn-ea"/>
              <a:cs typeface="+mn-cs"/>
            </a:endParaRPr>
          </a:p>
        </p:txBody>
      </p:sp>
      <p:sp>
        <p:nvSpPr>
          <p:cNvPr id="12" name="TextBox 11">
            <a:extLst>
              <a:ext uri="{FF2B5EF4-FFF2-40B4-BE49-F238E27FC236}">
                <a16:creationId xmlns:a16="http://schemas.microsoft.com/office/drawing/2014/main" id="{BC67D2E8-8747-4D47-A292-B6A6F749487A}"/>
              </a:ext>
            </a:extLst>
          </p:cNvPr>
          <p:cNvSpPr txBox="1"/>
          <p:nvPr/>
        </p:nvSpPr>
        <p:spPr>
          <a:xfrm>
            <a:off x="3219751" y="4100493"/>
            <a:ext cx="554960" cy="707886"/>
          </a:xfrm>
          <a:prstGeom prst="rect">
            <a:avLst/>
          </a:prstGeom>
          <a:noFill/>
        </p:spPr>
        <p:txBody>
          <a:bodyPr wrap="none" rtlCol="0">
            <a:spAutoFit/>
          </a:bodyPr>
          <a:lstStyle/>
          <a:p>
            <a:r>
              <a:rPr lang="en-US" sz="4000" dirty="0">
                <a:solidFill>
                  <a:srgbClr val="FF0000"/>
                </a:solidFill>
              </a:rPr>
              <a:t>H</a:t>
            </a:r>
          </a:p>
        </p:txBody>
      </p:sp>
      <p:sp>
        <p:nvSpPr>
          <p:cNvPr id="13" name="TextBox 12">
            <a:extLst>
              <a:ext uri="{FF2B5EF4-FFF2-40B4-BE49-F238E27FC236}">
                <a16:creationId xmlns:a16="http://schemas.microsoft.com/office/drawing/2014/main" id="{3E11D4D9-5948-3544-AA22-37A84D0B846A}"/>
              </a:ext>
            </a:extLst>
          </p:cNvPr>
          <p:cNvSpPr txBox="1"/>
          <p:nvPr/>
        </p:nvSpPr>
        <p:spPr>
          <a:xfrm>
            <a:off x="3156282" y="1005465"/>
            <a:ext cx="470000" cy="707886"/>
          </a:xfrm>
          <a:prstGeom prst="rect">
            <a:avLst/>
          </a:prstGeom>
          <a:noFill/>
        </p:spPr>
        <p:txBody>
          <a:bodyPr wrap="none" rtlCol="0">
            <a:spAutoFit/>
          </a:bodyPr>
          <a:lstStyle/>
          <a:p>
            <a:r>
              <a:rPr lang="en-US" sz="4000" dirty="0">
                <a:solidFill>
                  <a:srgbClr val="FF0000"/>
                </a:solidFill>
              </a:rPr>
              <a:t>L</a:t>
            </a:r>
          </a:p>
        </p:txBody>
      </p:sp>
      <p:sp>
        <p:nvSpPr>
          <p:cNvPr id="14" name="TextBox 13">
            <a:extLst>
              <a:ext uri="{FF2B5EF4-FFF2-40B4-BE49-F238E27FC236}">
                <a16:creationId xmlns:a16="http://schemas.microsoft.com/office/drawing/2014/main" id="{973EB382-841E-9F4D-8026-04BE2F79AD71}"/>
              </a:ext>
            </a:extLst>
          </p:cNvPr>
          <p:cNvSpPr txBox="1"/>
          <p:nvPr/>
        </p:nvSpPr>
        <p:spPr>
          <a:xfrm>
            <a:off x="7745757" y="1359408"/>
            <a:ext cx="470000" cy="707886"/>
          </a:xfrm>
          <a:prstGeom prst="rect">
            <a:avLst/>
          </a:prstGeom>
          <a:noFill/>
        </p:spPr>
        <p:txBody>
          <a:bodyPr wrap="none" rtlCol="0">
            <a:spAutoFit/>
          </a:bodyPr>
          <a:lstStyle/>
          <a:p>
            <a:r>
              <a:rPr lang="en-US" sz="4000" dirty="0">
                <a:solidFill>
                  <a:srgbClr val="FF0000"/>
                </a:solidFill>
              </a:rPr>
              <a:t>L</a:t>
            </a:r>
          </a:p>
        </p:txBody>
      </p:sp>
      <p:sp>
        <p:nvSpPr>
          <p:cNvPr id="15" name="Oval 14">
            <a:extLst>
              <a:ext uri="{FF2B5EF4-FFF2-40B4-BE49-F238E27FC236}">
                <a16:creationId xmlns:a16="http://schemas.microsoft.com/office/drawing/2014/main" id="{19F2EF82-CD5A-1C4F-82A3-D8711794B51B}"/>
              </a:ext>
            </a:extLst>
          </p:cNvPr>
          <p:cNvSpPr/>
          <p:nvPr/>
        </p:nvSpPr>
        <p:spPr>
          <a:xfrm>
            <a:off x="4829860" y="3255506"/>
            <a:ext cx="76200" cy="76200"/>
          </a:xfrm>
          <a:prstGeom prst="ellipse">
            <a:avLst/>
          </a:prstGeom>
          <a:solidFill>
            <a:srgbClr val="FF0000"/>
          </a:solidFill>
          <a:ln>
            <a:solidFill>
              <a:srgbClr val="FF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6" name="TextBox 15">
            <a:extLst>
              <a:ext uri="{FF2B5EF4-FFF2-40B4-BE49-F238E27FC236}">
                <a16:creationId xmlns:a16="http://schemas.microsoft.com/office/drawing/2014/main" id="{55326C54-98FD-BE41-AD90-09640D67644D}"/>
              </a:ext>
            </a:extLst>
          </p:cNvPr>
          <p:cNvSpPr txBox="1"/>
          <p:nvPr/>
        </p:nvSpPr>
        <p:spPr>
          <a:xfrm>
            <a:off x="5941331" y="2652005"/>
            <a:ext cx="554960" cy="707886"/>
          </a:xfrm>
          <a:prstGeom prst="rect">
            <a:avLst/>
          </a:prstGeom>
          <a:noFill/>
        </p:spPr>
        <p:txBody>
          <a:bodyPr wrap="none" rtlCol="0">
            <a:spAutoFit/>
          </a:bodyPr>
          <a:lstStyle/>
          <a:p>
            <a:r>
              <a:rPr lang="en-US" sz="4000" dirty="0">
                <a:solidFill>
                  <a:srgbClr val="FF0000"/>
                </a:solidFill>
              </a:rPr>
              <a:t>H</a:t>
            </a:r>
          </a:p>
        </p:txBody>
      </p:sp>
      <p:sp>
        <p:nvSpPr>
          <p:cNvPr id="17" name="TextBox 16">
            <a:extLst>
              <a:ext uri="{FF2B5EF4-FFF2-40B4-BE49-F238E27FC236}">
                <a16:creationId xmlns:a16="http://schemas.microsoft.com/office/drawing/2014/main" id="{E850FA38-56CA-B241-A91F-FEA8AD7D70DF}"/>
              </a:ext>
            </a:extLst>
          </p:cNvPr>
          <p:cNvSpPr txBox="1"/>
          <p:nvPr/>
        </p:nvSpPr>
        <p:spPr>
          <a:xfrm>
            <a:off x="3557313" y="2226385"/>
            <a:ext cx="470000" cy="707886"/>
          </a:xfrm>
          <a:prstGeom prst="rect">
            <a:avLst/>
          </a:prstGeom>
          <a:noFill/>
        </p:spPr>
        <p:txBody>
          <a:bodyPr wrap="none" rtlCol="0">
            <a:spAutoFit/>
          </a:bodyPr>
          <a:lstStyle/>
          <a:p>
            <a:r>
              <a:rPr lang="en-US" sz="4000" dirty="0">
                <a:solidFill>
                  <a:srgbClr val="FF0000"/>
                </a:solidFill>
              </a:rPr>
              <a:t>L</a:t>
            </a:r>
          </a:p>
        </p:txBody>
      </p:sp>
      <p:sp>
        <p:nvSpPr>
          <p:cNvPr id="18" name="Rectangle 17">
            <a:extLst>
              <a:ext uri="{FF2B5EF4-FFF2-40B4-BE49-F238E27FC236}">
                <a16:creationId xmlns:a16="http://schemas.microsoft.com/office/drawing/2014/main" id="{6D44563D-D915-9746-8513-993321E8BF39}"/>
              </a:ext>
            </a:extLst>
          </p:cNvPr>
          <p:cNvSpPr/>
          <p:nvPr/>
        </p:nvSpPr>
        <p:spPr>
          <a:xfrm>
            <a:off x="5029200" y="-46711"/>
            <a:ext cx="4154703" cy="338554"/>
          </a:xfrm>
          <a:prstGeom prst="rect">
            <a:avLst/>
          </a:prstGeom>
          <a:solidFill>
            <a:schemeClr val="accent1"/>
          </a:solidFill>
        </p:spPr>
        <p:txBody>
          <a:bodyPr wrap="square">
            <a:spAutoFit/>
          </a:bodyPr>
          <a:lstStyle/>
          <a:p>
            <a:pPr algn="r"/>
            <a:r>
              <a:rPr lang="en-US" sz="1600" dirty="0"/>
              <a:t>https://www.wetter3.de/</a:t>
            </a:r>
            <a:r>
              <a:rPr lang="en-US" sz="1600" dirty="0" err="1"/>
              <a:t>archiv_dwd_dt.html</a:t>
            </a:r>
            <a:endParaRPr lang="en-US" sz="1600" dirty="0"/>
          </a:p>
        </p:txBody>
      </p:sp>
    </p:spTree>
    <p:extLst>
      <p:ext uri="{BB962C8B-B14F-4D97-AF65-F5344CB8AC3E}">
        <p14:creationId xmlns:p14="http://schemas.microsoft.com/office/powerpoint/2010/main" val="28356458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accent1"/>
        </a:solidFill>
        <a:effectLst/>
      </p:bgPr>
    </p:bg>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5762DC79-7703-C044-B7A3-4D21AE2C48FF}"/>
              </a:ext>
            </a:extLst>
          </p:cNvPr>
          <p:cNvPicPr>
            <a:picLocks noChangeAspect="1"/>
          </p:cNvPicPr>
          <p:nvPr/>
        </p:nvPicPr>
        <p:blipFill>
          <a:blip r:embed="rId2"/>
          <a:stretch>
            <a:fillRect/>
          </a:stretch>
        </p:blipFill>
        <p:spPr>
          <a:xfrm>
            <a:off x="5080" y="0"/>
            <a:ext cx="9138920" cy="6824408"/>
          </a:xfrm>
          <a:prstGeom prst="rect">
            <a:avLst/>
          </a:prstGeom>
        </p:spPr>
      </p:pic>
      <p:sp>
        <p:nvSpPr>
          <p:cNvPr id="8" name="Up Arrow 7">
            <a:extLst>
              <a:ext uri="{FF2B5EF4-FFF2-40B4-BE49-F238E27FC236}">
                <a16:creationId xmlns:a16="http://schemas.microsoft.com/office/drawing/2014/main" id="{419DA8B1-78A8-394C-A9D9-A05FBEB35472}"/>
              </a:ext>
            </a:extLst>
          </p:cNvPr>
          <p:cNvSpPr/>
          <p:nvPr/>
        </p:nvSpPr>
        <p:spPr>
          <a:xfrm rot="3214969">
            <a:off x="4198087" y="3395813"/>
            <a:ext cx="228600" cy="533400"/>
          </a:xfrm>
          <a:prstGeom prst="upArrow">
            <a:avLst/>
          </a:prstGeom>
          <a:solidFill>
            <a:srgbClr val="FF0000"/>
          </a:solidFill>
          <a:ln>
            <a:solidFill>
              <a:srgbClr val="FF0000"/>
            </a:solid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2400" b="0" i="0" u="none" strike="noStrike" kern="1200" cap="none" spc="0" normalizeH="0" baseline="0" noProof="0">
              <a:ln>
                <a:noFill/>
              </a:ln>
              <a:solidFill>
                <a:srgbClr val="DEF6F1"/>
              </a:solidFill>
              <a:effectLst/>
              <a:uLnTx/>
              <a:uFillTx/>
              <a:latin typeface="Arial"/>
              <a:ea typeface="+mn-ea"/>
              <a:cs typeface="+mn-cs"/>
            </a:endParaRPr>
          </a:p>
        </p:txBody>
      </p:sp>
      <p:sp>
        <p:nvSpPr>
          <p:cNvPr id="9" name="TextBox 8">
            <a:extLst>
              <a:ext uri="{FF2B5EF4-FFF2-40B4-BE49-F238E27FC236}">
                <a16:creationId xmlns:a16="http://schemas.microsoft.com/office/drawing/2014/main" id="{6495B764-116F-C240-A2B1-93A4566A7ED3}"/>
              </a:ext>
            </a:extLst>
          </p:cNvPr>
          <p:cNvSpPr txBox="1"/>
          <p:nvPr/>
        </p:nvSpPr>
        <p:spPr>
          <a:xfrm>
            <a:off x="533400" y="2362200"/>
            <a:ext cx="554960" cy="707886"/>
          </a:xfrm>
          <a:prstGeom prst="rect">
            <a:avLst/>
          </a:prstGeom>
          <a:noFill/>
        </p:spPr>
        <p:txBody>
          <a:bodyPr wrap="none" rtlCol="0">
            <a:spAutoFit/>
          </a:bodyPr>
          <a:lstStyle/>
          <a:p>
            <a:r>
              <a:rPr lang="en-US" sz="4000" dirty="0">
                <a:solidFill>
                  <a:srgbClr val="FF0000"/>
                </a:solidFill>
              </a:rPr>
              <a:t>H</a:t>
            </a:r>
          </a:p>
        </p:txBody>
      </p:sp>
      <p:sp>
        <p:nvSpPr>
          <p:cNvPr id="10" name="TextBox 9">
            <a:extLst>
              <a:ext uri="{FF2B5EF4-FFF2-40B4-BE49-F238E27FC236}">
                <a16:creationId xmlns:a16="http://schemas.microsoft.com/office/drawing/2014/main" id="{7B96BDC8-5A8F-B246-960A-65E298A5DF1B}"/>
              </a:ext>
            </a:extLst>
          </p:cNvPr>
          <p:cNvSpPr txBox="1"/>
          <p:nvPr/>
        </p:nvSpPr>
        <p:spPr>
          <a:xfrm>
            <a:off x="7010400" y="3276600"/>
            <a:ext cx="554960" cy="707886"/>
          </a:xfrm>
          <a:prstGeom prst="rect">
            <a:avLst/>
          </a:prstGeom>
          <a:noFill/>
        </p:spPr>
        <p:txBody>
          <a:bodyPr wrap="none" rtlCol="0">
            <a:spAutoFit/>
          </a:bodyPr>
          <a:lstStyle/>
          <a:p>
            <a:r>
              <a:rPr lang="en-US" sz="4000" dirty="0">
                <a:solidFill>
                  <a:srgbClr val="FF0000"/>
                </a:solidFill>
              </a:rPr>
              <a:t>H</a:t>
            </a:r>
          </a:p>
        </p:txBody>
      </p:sp>
      <p:sp>
        <p:nvSpPr>
          <p:cNvPr id="11" name="TextBox 10">
            <a:extLst>
              <a:ext uri="{FF2B5EF4-FFF2-40B4-BE49-F238E27FC236}">
                <a16:creationId xmlns:a16="http://schemas.microsoft.com/office/drawing/2014/main" id="{D4D44826-6EC9-3447-89AB-32A03EADA2DE}"/>
              </a:ext>
            </a:extLst>
          </p:cNvPr>
          <p:cNvSpPr txBox="1"/>
          <p:nvPr/>
        </p:nvSpPr>
        <p:spPr>
          <a:xfrm>
            <a:off x="3352800" y="990600"/>
            <a:ext cx="470000" cy="707886"/>
          </a:xfrm>
          <a:prstGeom prst="rect">
            <a:avLst/>
          </a:prstGeom>
          <a:noFill/>
        </p:spPr>
        <p:txBody>
          <a:bodyPr wrap="none" rtlCol="0">
            <a:spAutoFit/>
          </a:bodyPr>
          <a:lstStyle/>
          <a:p>
            <a:r>
              <a:rPr lang="en-US" sz="4000" dirty="0">
                <a:solidFill>
                  <a:srgbClr val="FF0000"/>
                </a:solidFill>
              </a:rPr>
              <a:t>L</a:t>
            </a:r>
          </a:p>
        </p:txBody>
      </p:sp>
      <p:sp>
        <p:nvSpPr>
          <p:cNvPr id="12" name="TextBox 11">
            <a:extLst>
              <a:ext uri="{FF2B5EF4-FFF2-40B4-BE49-F238E27FC236}">
                <a16:creationId xmlns:a16="http://schemas.microsoft.com/office/drawing/2014/main" id="{4CBA6F43-9C4B-F042-84A5-7B98FFAFA787}"/>
              </a:ext>
            </a:extLst>
          </p:cNvPr>
          <p:cNvSpPr txBox="1"/>
          <p:nvPr/>
        </p:nvSpPr>
        <p:spPr>
          <a:xfrm>
            <a:off x="4594860" y="1219200"/>
            <a:ext cx="470000" cy="707886"/>
          </a:xfrm>
          <a:prstGeom prst="rect">
            <a:avLst/>
          </a:prstGeom>
          <a:noFill/>
        </p:spPr>
        <p:txBody>
          <a:bodyPr wrap="none" rtlCol="0">
            <a:spAutoFit/>
          </a:bodyPr>
          <a:lstStyle/>
          <a:p>
            <a:r>
              <a:rPr lang="en-US" sz="4000" dirty="0">
                <a:solidFill>
                  <a:srgbClr val="FF0000"/>
                </a:solidFill>
              </a:rPr>
              <a:t>L</a:t>
            </a:r>
          </a:p>
        </p:txBody>
      </p:sp>
      <p:sp>
        <p:nvSpPr>
          <p:cNvPr id="13" name="TextBox 12">
            <a:extLst>
              <a:ext uri="{FF2B5EF4-FFF2-40B4-BE49-F238E27FC236}">
                <a16:creationId xmlns:a16="http://schemas.microsoft.com/office/drawing/2014/main" id="{B662181B-93BF-6545-8150-211CCF7AB248}"/>
              </a:ext>
            </a:extLst>
          </p:cNvPr>
          <p:cNvSpPr txBox="1"/>
          <p:nvPr/>
        </p:nvSpPr>
        <p:spPr>
          <a:xfrm>
            <a:off x="2802740" y="3293606"/>
            <a:ext cx="470000" cy="707886"/>
          </a:xfrm>
          <a:prstGeom prst="rect">
            <a:avLst/>
          </a:prstGeom>
          <a:noFill/>
        </p:spPr>
        <p:txBody>
          <a:bodyPr wrap="none" rtlCol="0">
            <a:spAutoFit/>
          </a:bodyPr>
          <a:lstStyle/>
          <a:p>
            <a:r>
              <a:rPr lang="en-US" sz="4000" dirty="0">
                <a:solidFill>
                  <a:srgbClr val="FF0000"/>
                </a:solidFill>
              </a:rPr>
              <a:t>L</a:t>
            </a:r>
          </a:p>
        </p:txBody>
      </p:sp>
      <p:sp>
        <p:nvSpPr>
          <p:cNvPr id="14" name="Oval 13">
            <a:extLst>
              <a:ext uri="{FF2B5EF4-FFF2-40B4-BE49-F238E27FC236}">
                <a16:creationId xmlns:a16="http://schemas.microsoft.com/office/drawing/2014/main" id="{D318BAC7-9EED-DC46-B51F-AB0F616430AE}"/>
              </a:ext>
            </a:extLst>
          </p:cNvPr>
          <p:cNvSpPr/>
          <p:nvPr/>
        </p:nvSpPr>
        <p:spPr>
          <a:xfrm>
            <a:off x="4829860" y="3255506"/>
            <a:ext cx="76200" cy="76200"/>
          </a:xfrm>
          <a:prstGeom prst="ellipse">
            <a:avLst/>
          </a:prstGeom>
          <a:solidFill>
            <a:srgbClr val="FF0000"/>
          </a:solidFill>
          <a:ln>
            <a:solidFill>
              <a:srgbClr val="FF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6" name="TextBox 15">
            <a:extLst>
              <a:ext uri="{FF2B5EF4-FFF2-40B4-BE49-F238E27FC236}">
                <a16:creationId xmlns:a16="http://schemas.microsoft.com/office/drawing/2014/main" id="{58731770-05BD-EE4A-A794-A6E7B298D6E2}"/>
              </a:ext>
            </a:extLst>
          </p:cNvPr>
          <p:cNvSpPr txBox="1"/>
          <p:nvPr/>
        </p:nvSpPr>
        <p:spPr>
          <a:xfrm>
            <a:off x="1365974" y="6273225"/>
            <a:ext cx="4443652" cy="584775"/>
          </a:xfrm>
          <a:prstGeom prst="rect">
            <a:avLst/>
          </a:prstGeom>
          <a:solidFill>
            <a:schemeClr val="accent1"/>
          </a:solidFill>
          <a:ln>
            <a:solidFill>
              <a:srgbClr val="FF0000"/>
            </a:solidFill>
          </a:ln>
        </p:spPr>
        <p:txBody>
          <a:bodyPr wrap="none" rtlCol="0">
            <a:spAutoFit/>
          </a:bodyPr>
          <a:lstStyle/>
          <a:p>
            <a:r>
              <a:rPr lang="en-US" sz="3200" dirty="0">
                <a:solidFill>
                  <a:srgbClr val="FF0000"/>
                </a:solidFill>
              </a:rPr>
              <a:t>0000 UTC Mon 28 April</a:t>
            </a:r>
          </a:p>
        </p:txBody>
      </p:sp>
      <p:sp>
        <p:nvSpPr>
          <p:cNvPr id="17" name="Rectangle 16">
            <a:extLst>
              <a:ext uri="{FF2B5EF4-FFF2-40B4-BE49-F238E27FC236}">
                <a16:creationId xmlns:a16="http://schemas.microsoft.com/office/drawing/2014/main" id="{DC8BFE7E-A5A8-594B-8B93-EC9BAC67344F}"/>
              </a:ext>
            </a:extLst>
          </p:cNvPr>
          <p:cNvSpPr/>
          <p:nvPr/>
        </p:nvSpPr>
        <p:spPr>
          <a:xfrm>
            <a:off x="5029200" y="-46711"/>
            <a:ext cx="4154703" cy="338554"/>
          </a:xfrm>
          <a:prstGeom prst="rect">
            <a:avLst/>
          </a:prstGeom>
          <a:solidFill>
            <a:schemeClr val="accent1"/>
          </a:solidFill>
        </p:spPr>
        <p:txBody>
          <a:bodyPr wrap="square">
            <a:spAutoFit/>
          </a:bodyPr>
          <a:lstStyle/>
          <a:p>
            <a:pPr algn="r"/>
            <a:r>
              <a:rPr lang="en-US" sz="1600" dirty="0"/>
              <a:t>https://www.wetter3.de/</a:t>
            </a:r>
            <a:r>
              <a:rPr lang="en-US" sz="1600" dirty="0" err="1"/>
              <a:t>archiv_dwd_dt.html</a:t>
            </a:r>
            <a:endParaRPr lang="en-US" sz="1600" dirty="0"/>
          </a:p>
        </p:txBody>
      </p:sp>
      <p:sp>
        <p:nvSpPr>
          <p:cNvPr id="19" name="TextBox 18">
            <a:extLst>
              <a:ext uri="{FF2B5EF4-FFF2-40B4-BE49-F238E27FC236}">
                <a16:creationId xmlns:a16="http://schemas.microsoft.com/office/drawing/2014/main" id="{899AE911-8755-AD44-AF2E-5440EA84E675}"/>
              </a:ext>
            </a:extLst>
          </p:cNvPr>
          <p:cNvSpPr txBox="1"/>
          <p:nvPr/>
        </p:nvSpPr>
        <p:spPr>
          <a:xfrm rot="19877233">
            <a:off x="3891521" y="2435937"/>
            <a:ext cx="1439818" cy="707886"/>
          </a:xfrm>
          <a:prstGeom prst="rect">
            <a:avLst/>
          </a:prstGeom>
          <a:noFill/>
        </p:spPr>
        <p:txBody>
          <a:bodyPr wrap="none" rtlCol="0">
            <a:spAutoFit/>
          </a:bodyPr>
          <a:lstStyle/>
          <a:p>
            <a:r>
              <a:rPr lang="en-US" sz="4000" dirty="0">
                <a:solidFill>
                  <a:srgbClr val="0070C0"/>
                </a:solidFill>
              </a:rPr>
              <a:t>warm</a:t>
            </a:r>
          </a:p>
        </p:txBody>
      </p:sp>
      <p:sp>
        <p:nvSpPr>
          <p:cNvPr id="20" name="TextBox 19">
            <a:extLst>
              <a:ext uri="{FF2B5EF4-FFF2-40B4-BE49-F238E27FC236}">
                <a16:creationId xmlns:a16="http://schemas.microsoft.com/office/drawing/2014/main" id="{C231A549-62DA-574C-8240-F35F19E8E108}"/>
              </a:ext>
            </a:extLst>
          </p:cNvPr>
          <p:cNvSpPr txBox="1"/>
          <p:nvPr/>
        </p:nvSpPr>
        <p:spPr>
          <a:xfrm rot="19877233">
            <a:off x="3041355" y="2351785"/>
            <a:ext cx="1125629" cy="707886"/>
          </a:xfrm>
          <a:prstGeom prst="rect">
            <a:avLst/>
          </a:prstGeom>
          <a:noFill/>
        </p:spPr>
        <p:txBody>
          <a:bodyPr wrap="none" rtlCol="0">
            <a:spAutoFit/>
          </a:bodyPr>
          <a:lstStyle/>
          <a:p>
            <a:r>
              <a:rPr lang="en-US" sz="4000" dirty="0">
                <a:solidFill>
                  <a:srgbClr val="0070C0"/>
                </a:solidFill>
              </a:rPr>
              <a:t>cool</a:t>
            </a:r>
          </a:p>
        </p:txBody>
      </p:sp>
    </p:spTree>
    <p:extLst>
      <p:ext uri="{BB962C8B-B14F-4D97-AF65-F5344CB8AC3E}">
        <p14:creationId xmlns:p14="http://schemas.microsoft.com/office/powerpoint/2010/main" val="5861599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accent1"/>
        </a:solidFill>
        <a:effectLst/>
      </p:bgPr>
    </p:bg>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AA1BEB90-A576-F142-ABE5-43185967AA38}"/>
              </a:ext>
            </a:extLst>
          </p:cNvPr>
          <p:cNvSpPr txBox="1"/>
          <p:nvPr/>
        </p:nvSpPr>
        <p:spPr>
          <a:xfrm>
            <a:off x="1447800" y="685800"/>
            <a:ext cx="1646605" cy="646331"/>
          </a:xfrm>
          <a:prstGeom prst="rect">
            <a:avLst/>
          </a:prstGeom>
          <a:noFill/>
        </p:spPr>
        <p:txBody>
          <a:bodyPr wrap="none" rtlCol="0">
            <a:spAutoFit/>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sz="1800" b="0" i="0" u="none" strike="noStrike" kern="1200" cap="none" spc="0" normalizeH="0" baseline="0" noProof="0" dirty="0">
                <a:ln>
                  <a:noFill/>
                </a:ln>
                <a:solidFill>
                  <a:srgbClr val="7030A0"/>
                </a:solidFill>
                <a:effectLst/>
                <a:uLnTx/>
                <a:uFillTx/>
                <a:latin typeface="Arial" panose="020B0604020202020204" pitchFamily="34" charset="0"/>
                <a:ea typeface="ＭＳ Ｐゴシック" panose="020B0600070205080204" pitchFamily="34" charset="-128"/>
                <a:cs typeface="+mn-cs"/>
              </a:rPr>
              <a:t>comma</a:t>
            </a:r>
          </a:p>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sz="1800" b="0" i="0" u="none" strike="noStrike" kern="1200" cap="none" spc="0" normalizeH="0" baseline="0" noProof="0" dirty="0">
                <a:ln>
                  <a:noFill/>
                </a:ln>
                <a:solidFill>
                  <a:srgbClr val="7030A0"/>
                </a:solidFill>
                <a:effectLst/>
                <a:uLnTx/>
                <a:uFillTx/>
                <a:latin typeface="Arial" panose="020B0604020202020204" pitchFamily="34" charset="0"/>
                <a:ea typeface="ＭＳ Ｐゴシック" panose="020B0600070205080204" pitchFamily="34" charset="-128"/>
                <a:cs typeface="+mn-cs"/>
              </a:rPr>
              <a:t>(low pressure)</a:t>
            </a:r>
          </a:p>
        </p:txBody>
      </p:sp>
      <p:sp>
        <p:nvSpPr>
          <p:cNvPr id="6" name="TextBox 5">
            <a:extLst>
              <a:ext uri="{FF2B5EF4-FFF2-40B4-BE49-F238E27FC236}">
                <a16:creationId xmlns:a16="http://schemas.microsoft.com/office/drawing/2014/main" id="{38CBFE1C-F19F-B344-8489-8B140E436E7A}"/>
              </a:ext>
            </a:extLst>
          </p:cNvPr>
          <p:cNvSpPr txBox="1"/>
          <p:nvPr/>
        </p:nvSpPr>
        <p:spPr>
          <a:xfrm>
            <a:off x="4831915" y="228600"/>
            <a:ext cx="1736374" cy="646331"/>
          </a:xfrm>
          <a:prstGeom prst="rect">
            <a:avLst/>
          </a:prstGeom>
          <a:noFill/>
        </p:spPr>
        <p:txBody>
          <a:bodyPr wrap="none" rtlCol="0">
            <a:spAutoFit/>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sz="1800" b="0" i="0" u="none" strike="noStrike" kern="1200" cap="none" spc="0" normalizeH="0" baseline="0" noProof="0" dirty="0">
                <a:ln>
                  <a:noFill/>
                </a:ln>
                <a:solidFill>
                  <a:srgbClr val="7030A0"/>
                </a:solidFill>
                <a:effectLst/>
                <a:uLnTx/>
                <a:uFillTx/>
                <a:latin typeface="Arial" panose="020B0604020202020204" pitchFamily="34" charset="0"/>
                <a:ea typeface="ＭＳ Ｐゴシック" panose="020B0600070205080204" pitchFamily="34" charset="-128"/>
                <a:cs typeface="+mn-cs"/>
              </a:rPr>
              <a:t>no/low clouds</a:t>
            </a:r>
          </a:p>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sz="1800" b="0" i="0" u="none" strike="noStrike" kern="1200" cap="none" spc="0" normalizeH="0" baseline="0" noProof="0" dirty="0">
                <a:ln>
                  <a:noFill/>
                </a:ln>
                <a:solidFill>
                  <a:srgbClr val="7030A0"/>
                </a:solidFill>
                <a:effectLst/>
                <a:uLnTx/>
                <a:uFillTx/>
                <a:latin typeface="Arial" panose="020B0604020202020204" pitchFamily="34" charset="0"/>
                <a:ea typeface="ＭＳ Ｐゴシック" panose="020B0600070205080204" pitchFamily="34" charset="-128"/>
                <a:cs typeface="+mn-cs"/>
              </a:rPr>
              <a:t>(high pressure)</a:t>
            </a:r>
          </a:p>
        </p:txBody>
      </p:sp>
      <p:sp>
        <p:nvSpPr>
          <p:cNvPr id="7" name="TextBox 6">
            <a:extLst>
              <a:ext uri="{FF2B5EF4-FFF2-40B4-BE49-F238E27FC236}">
                <a16:creationId xmlns:a16="http://schemas.microsoft.com/office/drawing/2014/main" id="{04AD9E4E-926E-C948-8848-5393496DCE1A}"/>
              </a:ext>
            </a:extLst>
          </p:cNvPr>
          <p:cNvSpPr txBox="1"/>
          <p:nvPr/>
        </p:nvSpPr>
        <p:spPr>
          <a:xfrm>
            <a:off x="5607453" y="6378285"/>
            <a:ext cx="966932" cy="369332"/>
          </a:xfrm>
          <a:prstGeom prst="rect">
            <a:avLst/>
          </a:prstGeom>
          <a:solidFill>
            <a:srgbClr val="FFFF00"/>
          </a:solidFill>
        </p:spPr>
        <p:txBody>
          <a:bodyPr wrap="none" rtlCol="0">
            <a:spAutoFit/>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sz="1800" b="0" i="0" u="none" strike="noStrike" kern="1200" cap="none" spc="0" normalizeH="0" baseline="0" noProof="0" dirty="0">
                <a:ln>
                  <a:noFill/>
                </a:ln>
                <a:solidFill>
                  <a:srgbClr val="7030A0"/>
                </a:solidFill>
                <a:effectLst/>
                <a:uLnTx/>
                <a:uFillTx/>
                <a:latin typeface="Arial" panose="020B0604020202020204" pitchFamily="34" charset="0"/>
                <a:ea typeface="ＭＳ Ｐゴシック" panose="020B0600070205080204" pitchFamily="34" charset="-128"/>
                <a:cs typeface="+mn-cs"/>
              </a:rPr>
              <a:t>infrared</a:t>
            </a:r>
          </a:p>
        </p:txBody>
      </p:sp>
      <p:pic>
        <p:nvPicPr>
          <p:cNvPr id="3" name="Picture 2">
            <a:extLst>
              <a:ext uri="{FF2B5EF4-FFF2-40B4-BE49-F238E27FC236}">
                <a16:creationId xmlns:a16="http://schemas.microsoft.com/office/drawing/2014/main" id="{B23C6645-AE49-F241-A8F6-56162E145640}"/>
              </a:ext>
            </a:extLst>
          </p:cNvPr>
          <p:cNvPicPr>
            <a:picLocks noChangeAspect="1"/>
          </p:cNvPicPr>
          <p:nvPr/>
        </p:nvPicPr>
        <p:blipFill>
          <a:blip r:embed="rId2"/>
          <a:stretch>
            <a:fillRect/>
          </a:stretch>
        </p:blipFill>
        <p:spPr>
          <a:xfrm>
            <a:off x="18040" y="0"/>
            <a:ext cx="9107919" cy="6858000"/>
          </a:xfrm>
          <a:prstGeom prst="rect">
            <a:avLst/>
          </a:prstGeom>
        </p:spPr>
      </p:pic>
      <p:sp>
        <p:nvSpPr>
          <p:cNvPr id="8" name="Rectangle 7">
            <a:extLst>
              <a:ext uri="{FF2B5EF4-FFF2-40B4-BE49-F238E27FC236}">
                <a16:creationId xmlns:a16="http://schemas.microsoft.com/office/drawing/2014/main" id="{A60D6097-7626-9D4C-9D05-43C9B57E0CB6}"/>
              </a:ext>
            </a:extLst>
          </p:cNvPr>
          <p:cNvSpPr/>
          <p:nvPr/>
        </p:nvSpPr>
        <p:spPr>
          <a:xfrm>
            <a:off x="4724399" y="6464255"/>
            <a:ext cx="4381159" cy="338554"/>
          </a:xfrm>
          <a:prstGeom prst="rect">
            <a:avLst/>
          </a:prstGeom>
          <a:solidFill>
            <a:schemeClr val="accent1"/>
          </a:solidFill>
        </p:spPr>
        <p:txBody>
          <a:bodyPr wrap="square">
            <a:spAutoFit/>
          </a:bodyPr>
          <a:lstStyle/>
          <a:p>
            <a:pPr algn="r"/>
            <a:r>
              <a:rPr lang="en-US" sz="1600" dirty="0"/>
              <a:t>https://www.sat24.com/</a:t>
            </a:r>
            <a:r>
              <a:rPr lang="en-US" sz="1600" dirty="0" err="1"/>
              <a:t>en-gb</a:t>
            </a:r>
            <a:r>
              <a:rPr lang="en-US" sz="1600" dirty="0"/>
              <a:t>/continent/</a:t>
            </a:r>
            <a:r>
              <a:rPr lang="en-US" sz="1600" dirty="0" err="1"/>
              <a:t>eu</a:t>
            </a:r>
            <a:r>
              <a:rPr lang="en-US" sz="1600" dirty="0"/>
              <a:t>/</a:t>
            </a:r>
            <a:r>
              <a:rPr lang="en-US" sz="1600" dirty="0" err="1"/>
              <a:t>hd</a:t>
            </a:r>
            <a:endParaRPr lang="en-US" sz="1600" dirty="0"/>
          </a:p>
        </p:txBody>
      </p:sp>
    </p:spTree>
    <p:extLst>
      <p:ext uri="{BB962C8B-B14F-4D97-AF65-F5344CB8AC3E}">
        <p14:creationId xmlns:p14="http://schemas.microsoft.com/office/powerpoint/2010/main" val="256952264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accent1"/>
        </a:solidFill>
        <a:effectLst/>
      </p:bgPr>
    </p:bg>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AA1BEB90-A576-F142-ABE5-43185967AA38}"/>
              </a:ext>
            </a:extLst>
          </p:cNvPr>
          <p:cNvSpPr txBox="1"/>
          <p:nvPr/>
        </p:nvSpPr>
        <p:spPr>
          <a:xfrm>
            <a:off x="1447800" y="685800"/>
            <a:ext cx="1646605" cy="646331"/>
          </a:xfrm>
          <a:prstGeom prst="rect">
            <a:avLst/>
          </a:prstGeom>
          <a:noFill/>
        </p:spPr>
        <p:txBody>
          <a:bodyPr wrap="none" rtlCol="0">
            <a:spAutoFit/>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sz="1800" b="0" i="0" u="none" strike="noStrike" kern="1200" cap="none" spc="0" normalizeH="0" baseline="0" noProof="0" dirty="0">
                <a:ln>
                  <a:noFill/>
                </a:ln>
                <a:solidFill>
                  <a:srgbClr val="7030A0"/>
                </a:solidFill>
                <a:effectLst/>
                <a:uLnTx/>
                <a:uFillTx/>
                <a:latin typeface="Arial" panose="020B0604020202020204" pitchFamily="34" charset="0"/>
                <a:ea typeface="ＭＳ Ｐゴシック" panose="020B0600070205080204" pitchFamily="34" charset="-128"/>
                <a:cs typeface="+mn-cs"/>
              </a:rPr>
              <a:t>comma</a:t>
            </a:r>
          </a:p>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sz="1800" b="0" i="0" u="none" strike="noStrike" kern="1200" cap="none" spc="0" normalizeH="0" baseline="0" noProof="0" dirty="0">
                <a:ln>
                  <a:noFill/>
                </a:ln>
                <a:solidFill>
                  <a:srgbClr val="7030A0"/>
                </a:solidFill>
                <a:effectLst/>
                <a:uLnTx/>
                <a:uFillTx/>
                <a:latin typeface="Arial" panose="020B0604020202020204" pitchFamily="34" charset="0"/>
                <a:ea typeface="ＭＳ Ｐゴシック" panose="020B0600070205080204" pitchFamily="34" charset="-128"/>
                <a:cs typeface="+mn-cs"/>
              </a:rPr>
              <a:t>(low pressure)</a:t>
            </a:r>
          </a:p>
        </p:txBody>
      </p:sp>
      <p:sp>
        <p:nvSpPr>
          <p:cNvPr id="6" name="TextBox 5">
            <a:extLst>
              <a:ext uri="{FF2B5EF4-FFF2-40B4-BE49-F238E27FC236}">
                <a16:creationId xmlns:a16="http://schemas.microsoft.com/office/drawing/2014/main" id="{38CBFE1C-F19F-B344-8489-8B140E436E7A}"/>
              </a:ext>
            </a:extLst>
          </p:cNvPr>
          <p:cNvSpPr txBox="1"/>
          <p:nvPr/>
        </p:nvSpPr>
        <p:spPr>
          <a:xfrm>
            <a:off x="4831915" y="228600"/>
            <a:ext cx="1736374" cy="646331"/>
          </a:xfrm>
          <a:prstGeom prst="rect">
            <a:avLst/>
          </a:prstGeom>
          <a:noFill/>
        </p:spPr>
        <p:txBody>
          <a:bodyPr wrap="none" rtlCol="0">
            <a:spAutoFit/>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sz="1800" b="0" i="0" u="none" strike="noStrike" kern="1200" cap="none" spc="0" normalizeH="0" baseline="0" noProof="0" dirty="0">
                <a:ln>
                  <a:noFill/>
                </a:ln>
                <a:solidFill>
                  <a:srgbClr val="7030A0"/>
                </a:solidFill>
                <a:effectLst/>
                <a:uLnTx/>
                <a:uFillTx/>
                <a:latin typeface="Arial" panose="020B0604020202020204" pitchFamily="34" charset="0"/>
                <a:ea typeface="ＭＳ Ｐゴシック" panose="020B0600070205080204" pitchFamily="34" charset="-128"/>
                <a:cs typeface="+mn-cs"/>
              </a:rPr>
              <a:t>no/low clouds</a:t>
            </a:r>
          </a:p>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sz="1800" b="0" i="0" u="none" strike="noStrike" kern="1200" cap="none" spc="0" normalizeH="0" baseline="0" noProof="0" dirty="0">
                <a:ln>
                  <a:noFill/>
                </a:ln>
                <a:solidFill>
                  <a:srgbClr val="7030A0"/>
                </a:solidFill>
                <a:effectLst/>
                <a:uLnTx/>
                <a:uFillTx/>
                <a:latin typeface="Arial" panose="020B0604020202020204" pitchFamily="34" charset="0"/>
                <a:ea typeface="ＭＳ Ｐゴシック" panose="020B0600070205080204" pitchFamily="34" charset="-128"/>
                <a:cs typeface="+mn-cs"/>
              </a:rPr>
              <a:t>(high pressure)</a:t>
            </a:r>
          </a:p>
        </p:txBody>
      </p:sp>
      <p:sp>
        <p:nvSpPr>
          <p:cNvPr id="7" name="TextBox 6">
            <a:extLst>
              <a:ext uri="{FF2B5EF4-FFF2-40B4-BE49-F238E27FC236}">
                <a16:creationId xmlns:a16="http://schemas.microsoft.com/office/drawing/2014/main" id="{04AD9E4E-926E-C948-8848-5393496DCE1A}"/>
              </a:ext>
            </a:extLst>
          </p:cNvPr>
          <p:cNvSpPr txBox="1"/>
          <p:nvPr/>
        </p:nvSpPr>
        <p:spPr>
          <a:xfrm>
            <a:off x="5607453" y="6378285"/>
            <a:ext cx="966932" cy="369332"/>
          </a:xfrm>
          <a:prstGeom prst="rect">
            <a:avLst/>
          </a:prstGeom>
          <a:solidFill>
            <a:srgbClr val="FFFF00"/>
          </a:solidFill>
        </p:spPr>
        <p:txBody>
          <a:bodyPr wrap="none" rtlCol="0">
            <a:spAutoFit/>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sz="1800" b="0" i="0" u="none" strike="noStrike" kern="1200" cap="none" spc="0" normalizeH="0" baseline="0" noProof="0" dirty="0">
                <a:ln>
                  <a:noFill/>
                </a:ln>
                <a:solidFill>
                  <a:srgbClr val="7030A0"/>
                </a:solidFill>
                <a:effectLst/>
                <a:uLnTx/>
                <a:uFillTx/>
                <a:latin typeface="Arial" panose="020B0604020202020204" pitchFamily="34" charset="0"/>
                <a:ea typeface="ＭＳ Ｐゴシック" panose="020B0600070205080204" pitchFamily="34" charset="-128"/>
                <a:cs typeface="+mn-cs"/>
              </a:rPr>
              <a:t>infrared</a:t>
            </a:r>
          </a:p>
        </p:txBody>
      </p:sp>
      <p:pic>
        <p:nvPicPr>
          <p:cNvPr id="3" name="Picture 2">
            <a:extLst>
              <a:ext uri="{FF2B5EF4-FFF2-40B4-BE49-F238E27FC236}">
                <a16:creationId xmlns:a16="http://schemas.microsoft.com/office/drawing/2014/main" id="{B23C6645-AE49-F241-A8F6-56162E145640}"/>
              </a:ext>
            </a:extLst>
          </p:cNvPr>
          <p:cNvPicPr>
            <a:picLocks noChangeAspect="1"/>
          </p:cNvPicPr>
          <p:nvPr/>
        </p:nvPicPr>
        <p:blipFill>
          <a:blip r:embed="rId2"/>
          <a:stretch>
            <a:fillRect/>
          </a:stretch>
        </p:blipFill>
        <p:spPr>
          <a:xfrm>
            <a:off x="18040" y="0"/>
            <a:ext cx="9107919" cy="6858000"/>
          </a:xfrm>
          <a:prstGeom prst="rect">
            <a:avLst/>
          </a:prstGeom>
        </p:spPr>
      </p:pic>
      <p:sp>
        <p:nvSpPr>
          <p:cNvPr id="8" name="Rectangle 7">
            <a:extLst>
              <a:ext uri="{FF2B5EF4-FFF2-40B4-BE49-F238E27FC236}">
                <a16:creationId xmlns:a16="http://schemas.microsoft.com/office/drawing/2014/main" id="{A60D6097-7626-9D4C-9D05-43C9B57E0CB6}"/>
              </a:ext>
            </a:extLst>
          </p:cNvPr>
          <p:cNvSpPr/>
          <p:nvPr/>
        </p:nvSpPr>
        <p:spPr>
          <a:xfrm>
            <a:off x="4724399" y="6464255"/>
            <a:ext cx="4381159" cy="338554"/>
          </a:xfrm>
          <a:prstGeom prst="rect">
            <a:avLst/>
          </a:prstGeom>
          <a:solidFill>
            <a:schemeClr val="accent1"/>
          </a:solidFill>
        </p:spPr>
        <p:txBody>
          <a:bodyPr wrap="square">
            <a:spAutoFit/>
          </a:bodyPr>
          <a:lstStyle/>
          <a:p>
            <a:pPr algn="r"/>
            <a:r>
              <a:rPr lang="en-US" sz="1600" dirty="0"/>
              <a:t>https://www.sat24.com/</a:t>
            </a:r>
            <a:r>
              <a:rPr lang="en-US" sz="1600" dirty="0" err="1"/>
              <a:t>en-gb</a:t>
            </a:r>
            <a:r>
              <a:rPr lang="en-US" sz="1600" dirty="0"/>
              <a:t>/continent/</a:t>
            </a:r>
            <a:r>
              <a:rPr lang="en-US" sz="1600" dirty="0" err="1"/>
              <a:t>eu</a:t>
            </a:r>
            <a:r>
              <a:rPr lang="en-US" sz="1600" dirty="0"/>
              <a:t>/</a:t>
            </a:r>
            <a:r>
              <a:rPr lang="en-US" sz="1600" dirty="0" err="1"/>
              <a:t>hd</a:t>
            </a:r>
            <a:endParaRPr lang="en-US" sz="1600" dirty="0"/>
          </a:p>
        </p:txBody>
      </p:sp>
      <p:sp>
        <p:nvSpPr>
          <p:cNvPr id="9" name="TextBox 8">
            <a:extLst>
              <a:ext uri="{FF2B5EF4-FFF2-40B4-BE49-F238E27FC236}">
                <a16:creationId xmlns:a16="http://schemas.microsoft.com/office/drawing/2014/main" id="{E127051E-95E7-0742-96B6-8326D4E1C900}"/>
              </a:ext>
            </a:extLst>
          </p:cNvPr>
          <p:cNvSpPr txBox="1"/>
          <p:nvPr/>
        </p:nvSpPr>
        <p:spPr>
          <a:xfrm>
            <a:off x="4306182" y="3559314"/>
            <a:ext cx="554960" cy="707886"/>
          </a:xfrm>
          <a:prstGeom prst="rect">
            <a:avLst/>
          </a:prstGeom>
          <a:noFill/>
        </p:spPr>
        <p:txBody>
          <a:bodyPr wrap="none" rtlCol="0">
            <a:spAutoFit/>
          </a:bodyPr>
          <a:lstStyle/>
          <a:p>
            <a:r>
              <a:rPr lang="en-US" sz="4000" dirty="0">
                <a:solidFill>
                  <a:srgbClr val="FF0000"/>
                </a:solidFill>
              </a:rPr>
              <a:t>H</a:t>
            </a:r>
          </a:p>
        </p:txBody>
      </p:sp>
      <p:sp>
        <p:nvSpPr>
          <p:cNvPr id="2" name="Freeform 1">
            <a:extLst>
              <a:ext uri="{FF2B5EF4-FFF2-40B4-BE49-F238E27FC236}">
                <a16:creationId xmlns:a16="http://schemas.microsoft.com/office/drawing/2014/main" id="{C4DEB327-954B-4042-92D4-FCA3531EA97D}"/>
              </a:ext>
            </a:extLst>
          </p:cNvPr>
          <p:cNvSpPr/>
          <p:nvPr/>
        </p:nvSpPr>
        <p:spPr>
          <a:xfrm>
            <a:off x="12526" y="1401165"/>
            <a:ext cx="5702474" cy="4237635"/>
          </a:xfrm>
          <a:custGeom>
            <a:avLst/>
            <a:gdLst>
              <a:gd name="connsiteX0" fmla="*/ 0 w 6488482"/>
              <a:gd name="connsiteY0" fmla="*/ 2520116 h 4237635"/>
              <a:gd name="connsiteX1" fmla="*/ 150312 w 6488482"/>
              <a:gd name="connsiteY1" fmla="*/ 3622406 h 4237635"/>
              <a:gd name="connsiteX2" fmla="*/ 513567 w 6488482"/>
              <a:gd name="connsiteY2" fmla="*/ 4211130 h 4237635"/>
              <a:gd name="connsiteX3" fmla="*/ 1352811 w 6488482"/>
              <a:gd name="connsiteY3" fmla="*/ 4098395 h 4237635"/>
              <a:gd name="connsiteX4" fmla="*/ 1966586 w 6488482"/>
              <a:gd name="connsiteY4" fmla="*/ 3760193 h 4237635"/>
              <a:gd name="connsiteX5" fmla="*/ 2229633 w 6488482"/>
              <a:gd name="connsiteY5" fmla="*/ 2620324 h 4237635"/>
              <a:gd name="connsiteX6" fmla="*/ 3269293 w 6488482"/>
              <a:gd name="connsiteY6" fmla="*/ 1242461 h 4237635"/>
              <a:gd name="connsiteX7" fmla="*/ 4158641 w 6488482"/>
              <a:gd name="connsiteY7" fmla="*/ 891732 h 4237635"/>
              <a:gd name="connsiteX8" fmla="*/ 4935255 w 6488482"/>
              <a:gd name="connsiteY8" fmla="*/ 553530 h 4237635"/>
              <a:gd name="connsiteX9" fmla="*/ 5699342 w 6488482"/>
              <a:gd name="connsiteY9" fmla="*/ 52489 h 4237635"/>
              <a:gd name="connsiteX10" fmla="*/ 6488482 w 6488482"/>
              <a:gd name="connsiteY10" fmla="*/ 39963 h 42376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6488482" h="4237635">
                <a:moveTo>
                  <a:pt x="0" y="2520116"/>
                </a:moveTo>
                <a:cubicBezTo>
                  <a:pt x="32359" y="2930343"/>
                  <a:pt x="64718" y="3340570"/>
                  <a:pt x="150312" y="3622406"/>
                </a:cubicBezTo>
                <a:cubicBezTo>
                  <a:pt x="235907" y="3904242"/>
                  <a:pt x="313151" y="4131799"/>
                  <a:pt x="513567" y="4211130"/>
                </a:cubicBezTo>
                <a:cubicBezTo>
                  <a:pt x="713984" y="4290462"/>
                  <a:pt x="1110641" y="4173551"/>
                  <a:pt x="1352811" y="4098395"/>
                </a:cubicBezTo>
                <a:cubicBezTo>
                  <a:pt x="1594981" y="4023239"/>
                  <a:pt x="1820449" y="4006538"/>
                  <a:pt x="1966586" y="3760193"/>
                </a:cubicBezTo>
                <a:cubicBezTo>
                  <a:pt x="2112723" y="3513848"/>
                  <a:pt x="2012515" y="3039946"/>
                  <a:pt x="2229633" y="2620324"/>
                </a:cubicBezTo>
                <a:cubicBezTo>
                  <a:pt x="2446751" y="2200702"/>
                  <a:pt x="2947792" y="1530560"/>
                  <a:pt x="3269293" y="1242461"/>
                </a:cubicBezTo>
                <a:cubicBezTo>
                  <a:pt x="3590794" y="954362"/>
                  <a:pt x="3880981" y="1006554"/>
                  <a:pt x="4158641" y="891732"/>
                </a:cubicBezTo>
                <a:cubicBezTo>
                  <a:pt x="4436301" y="776910"/>
                  <a:pt x="4678472" y="693404"/>
                  <a:pt x="4935255" y="553530"/>
                </a:cubicBezTo>
                <a:cubicBezTo>
                  <a:pt x="5192038" y="413656"/>
                  <a:pt x="5440471" y="138083"/>
                  <a:pt x="5699342" y="52489"/>
                </a:cubicBezTo>
                <a:cubicBezTo>
                  <a:pt x="5958213" y="-33105"/>
                  <a:pt x="6223347" y="3429"/>
                  <a:pt x="6488482" y="39963"/>
                </a:cubicBezTo>
              </a:path>
            </a:pathLst>
          </a:custGeom>
          <a:noFill/>
          <a:ln w="76200">
            <a:solidFill>
              <a:srgbClr val="FFFF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0" name="TextBox 9">
            <a:extLst>
              <a:ext uri="{FF2B5EF4-FFF2-40B4-BE49-F238E27FC236}">
                <a16:creationId xmlns:a16="http://schemas.microsoft.com/office/drawing/2014/main" id="{A052E138-479F-3F4F-B469-14A4F3A1D1FB}"/>
              </a:ext>
            </a:extLst>
          </p:cNvPr>
          <p:cNvSpPr txBox="1"/>
          <p:nvPr/>
        </p:nvSpPr>
        <p:spPr>
          <a:xfrm>
            <a:off x="3962400" y="1676400"/>
            <a:ext cx="470000" cy="707886"/>
          </a:xfrm>
          <a:prstGeom prst="rect">
            <a:avLst/>
          </a:prstGeom>
          <a:noFill/>
        </p:spPr>
        <p:txBody>
          <a:bodyPr wrap="none" rtlCol="0">
            <a:spAutoFit/>
          </a:bodyPr>
          <a:lstStyle/>
          <a:p>
            <a:r>
              <a:rPr lang="en-US" sz="4000" dirty="0">
                <a:solidFill>
                  <a:srgbClr val="FF0000"/>
                </a:solidFill>
              </a:rPr>
              <a:t>L</a:t>
            </a:r>
          </a:p>
        </p:txBody>
      </p:sp>
      <p:sp>
        <p:nvSpPr>
          <p:cNvPr id="11" name="TextBox 10">
            <a:extLst>
              <a:ext uri="{FF2B5EF4-FFF2-40B4-BE49-F238E27FC236}">
                <a16:creationId xmlns:a16="http://schemas.microsoft.com/office/drawing/2014/main" id="{5A69571F-762E-894A-97D8-1CBEABC72C8C}"/>
              </a:ext>
            </a:extLst>
          </p:cNvPr>
          <p:cNvSpPr txBox="1"/>
          <p:nvPr/>
        </p:nvSpPr>
        <p:spPr>
          <a:xfrm>
            <a:off x="1801102" y="3387179"/>
            <a:ext cx="470000" cy="707886"/>
          </a:xfrm>
          <a:prstGeom prst="rect">
            <a:avLst/>
          </a:prstGeom>
          <a:noFill/>
        </p:spPr>
        <p:txBody>
          <a:bodyPr wrap="none" rtlCol="0">
            <a:spAutoFit/>
          </a:bodyPr>
          <a:lstStyle/>
          <a:p>
            <a:r>
              <a:rPr lang="en-US" sz="4000" dirty="0">
                <a:solidFill>
                  <a:srgbClr val="FF0000"/>
                </a:solidFill>
              </a:rPr>
              <a:t>L</a:t>
            </a:r>
          </a:p>
        </p:txBody>
      </p:sp>
    </p:spTree>
    <p:extLst>
      <p:ext uri="{BB962C8B-B14F-4D97-AF65-F5344CB8AC3E}">
        <p14:creationId xmlns:p14="http://schemas.microsoft.com/office/powerpoint/2010/main" val="310708925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accent1"/>
        </a:solidFill>
        <a:effectLst/>
      </p:bgPr>
    </p:bg>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2EBE57B0-29A3-AA42-9C61-82D6B17C1F71}"/>
              </a:ext>
            </a:extLst>
          </p:cNvPr>
          <p:cNvSpPr txBox="1"/>
          <p:nvPr/>
        </p:nvSpPr>
        <p:spPr>
          <a:xfrm>
            <a:off x="838200" y="3657600"/>
            <a:ext cx="7205883" cy="369332"/>
          </a:xfrm>
          <a:prstGeom prst="rect">
            <a:avLst/>
          </a:prstGeom>
          <a:noFill/>
        </p:spPr>
        <p:txBody>
          <a:bodyPr wrap="none" rtlCol="0">
            <a:spAutoFit/>
          </a:bodyPr>
          <a:lstStyle/>
          <a:p>
            <a:r>
              <a:rPr lang="en-US" sz="1800" dirty="0"/>
              <a:t>https://www.sat24.com/</a:t>
            </a:r>
            <a:r>
              <a:rPr lang="en-US" sz="1800" dirty="0" err="1"/>
              <a:t>en-gb</a:t>
            </a:r>
            <a:r>
              <a:rPr lang="en-US" sz="1800" dirty="0"/>
              <a:t>/continent/</a:t>
            </a:r>
            <a:r>
              <a:rPr lang="en-US" sz="1800" dirty="0" err="1"/>
              <a:t>eu</a:t>
            </a:r>
            <a:r>
              <a:rPr lang="en-US" sz="1800" dirty="0"/>
              <a:t>/</a:t>
            </a:r>
            <a:r>
              <a:rPr lang="en-US" sz="1800" dirty="0" err="1"/>
              <a:t>hd#selectedLayer</a:t>
            </a:r>
            <a:r>
              <a:rPr lang="en-US" sz="1800" dirty="0"/>
              <a:t>=</a:t>
            </a:r>
            <a:r>
              <a:rPr lang="en-US" sz="1800" dirty="0" err="1"/>
              <a:t>satDay</a:t>
            </a:r>
            <a:endParaRPr lang="en-US" sz="1800" dirty="0"/>
          </a:p>
        </p:txBody>
      </p:sp>
      <p:sp>
        <p:nvSpPr>
          <p:cNvPr id="17" name="TextBox 16">
            <a:extLst>
              <a:ext uri="{FF2B5EF4-FFF2-40B4-BE49-F238E27FC236}">
                <a16:creationId xmlns:a16="http://schemas.microsoft.com/office/drawing/2014/main" id="{BA5558FC-1ABC-784F-8CDE-B93E61EF8347}"/>
              </a:ext>
            </a:extLst>
          </p:cNvPr>
          <p:cNvSpPr txBox="1"/>
          <p:nvPr/>
        </p:nvSpPr>
        <p:spPr>
          <a:xfrm>
            <a:off x="1676400" y="1600200"/>
            <a:ext cx="5851282" cy="461665"/>
          </a:xfrm>
          <a:prstGeom prst="rect">
            <a:avLst/>
          </a:prstGeom>
          <a:noFill/>
        </p:spPr>
        <p:txBody>
          <a:bodyPr wrap="none" rtlCol="0">
            <a:spAutoFit/>
          </a:bodyPr>
          <a:lstStyle/>
          <a:p>
            <a:r>
              <a:rPr lang="en-US" dirty="0"/>
              <a:t>Animation of the infrared satellite imagery</a:t>
            </a:r>
          </a:p>
        </p:txBody>
      </p:sp>
    </p:spTree>
    <p:extLst>
      <p:ext uri="{BB962C8B-B14F-4D97-AF65-F5344CB8AC3E}">
        <p14:creationId xmlns:p14="http://schemas.microsoft.com/office/powerpoint/2010/main" val="144997331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accent1"/>
        </a:solidFill>
        <a:effectLst/>
      </p:bgPr>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E29CA182-809C-E245-B908-E8E636540DC6}"/>
              </a:ext>
            </a:extLst>
          </p:cNvPr>
          <p:cNvPicPr>
            <a:picLocks noChangeAspect="1"/>
          </p:cNvPicPr>
          <p:nvPr/>
        </p:nvPicPr>
        <p:blipFill>
          <a:blip r:embed="rId2"/>
          <a:stretch>
            <a:fillRect/>
          </a:stretch>
        </p:blipFill>
        <p:spPr>
          <a:xfrm>
            <a:off x="0" y="0"/>
            <a:ext cx="7337639" cy="6858000"/>
          </a:xfrm>
          <a:prstGeom prst="rect">
            <a:avLst/>
          </a:prstGeom>
        </p:spPr>
      </p:pic>
      <p:sp>
        <p:nvSpPr>
          <p:cNvPr id="5" name="TextBox 4">
            <a:extLst>
              <a:ext uri="{FF2B5EF4-FFF2-40B4-BE49-F238E27FC236}">
                <a16:creationId xmlns:a16="http://schemas.microsoft.com/office/drawing/2014/main" id="{0EC1FD10-5E08-EF4B-9D89-E7702B14EA8E}"/>
              </a:ext>
            </a:extLst>
          </p:cNvPr>
          <p:cNvSpPr txBox="1"/>
          <p:nvPr/>
        </p:nvSpPr>
        <p:spPr>
          <a:xfrm>
            <a:off x="2920025" y="6419299"/>
            <a:ext cx="6226063" cy="461665"/>
          </a:xfrm>
          <a:prstGeom prst="rect">
            <a:avLst/>
          </a:prstGeom>
          <a:solidFill>
            <a:schemeClr val="accent1"/>
          </a:solidFill>
        </p:spPr>
        <p:txBody>
          <a:bodyPr wrap="none" rtlCol="0">
            <a:spAutoFit/>
          </a:bodyPr>
          <a:lstStyle/>
          <a:p>
            <a:r>
              <a:rPr lang="en-US" dirty="0"/>
              <a:t>https://</a:t>
            </a:r>
            <a:r>
              <a:rPr lang="en-US" dirty="0" err="1"/>
              <a:t>www.netweather.tv</a:t>
            </a:r>
            <a:r>
              <a:rPr lang="en-US" dirty="0"/>
              <a:t>/live-weather/radar</a:t>
            </a:r>
          </a:p>
        </p:txBody>
      </p:sp>
    </p:spTree>
    <p:extLst>
      <p:ext uri="{BB962C8B-B14F-4D97-AF65-F5344CB8AC3E}">
        <p14:creationId xmlns:p14="http://schemas.microsoft.com/office/powerpoint/2010/main" val="286208605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accent1"/>
        </a:solidFill>
        <a:effectLst/>
      </p:bgPr>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AF62AD2B-424B-934F-9CE2-DA1B875683C1}"/>
              </a:ext>
            </a:extLst>
          </p:cNvPr>
          <p:cNvSpPr/>
          <p:nvPr/>
        </p:nvSpPr>
        <p:spPr>
          <a:xfrm>
            <a:off x="152400" y="6443246"/>
            <a:ext cx="8839200" cy="338554"/>
          </a:xfrm>
          <a:prstGeom prst="rect">
            <a:avLst/>
          </a:prstGeom>
        </p:spPr>
        <p:txBody>
          <a:bodyPr wrap="square">
            <a:spAutoFit/>
          </a:bodyPr>
          <a:lstStyle/>
          <a:p>
            <a:r>
              <a:rPr lang="en-US" sz="1600" dirty="0"/>
              <a:t>http://</a:t>
            </a:r>
            <a:r>
              <a:rPr lang="en-US" sz="1600" dirty="0" err="1"/>
              <a:t>whitworth.cas.manchester.ac.uk</a:t>
            </a:r>
            <a:r>
              <a:rPr lang="en-US" sz="1600" dirty="0"/>
              <a:t>/2025/04/26/</a:t>
            </a:r>
          </a:p>
        </p:txBody>
      </p:sp>
      <p:sp>
        <p:nvSpPr>
          <p:cNvPr id="8" name="TextBox 7">
            <a:extLst>
              <a:ext uri="{FF2B5EF4-FFF2-40B4-BE49-F238E27FC236}">
                <a16:creationId xmlns:a16="http://schemas.microsoft.com/office/drawing/2014/main" id="{A275A3B8-955D-6E42-93A5-2D3A1D9F4D18}"/>
              </a:ext>
            </a:extLst>
          </p:cNvPr>
          <p:cNvSpPr txBox="1"/>
          <p:nvPr/>
        </p:nvSpPr>
        <p:spPr>
          <a:xfrm>
            <a:off x="7277622" y="1553227"/>
            <a:ext cx="1417376" cy="461665"/>
          </a:xfrm>
          <a:prstGeom prst="rect">
            <a:avLst/>
          </a:prstGeom>
          <a:noFill/>
        </p:spPr>
        <p:txBody>
          <a:bodyPr wrap="none" rtlCol="0">
            <a:spAutoFit/>
          </a:bodyPr>
          <a:lstStyle/>
          <a:p>
            <a:r>
              <a:rPr lang="en-US" dirty="0"/>
              <a:t>Saturday</a:t>
            </a:r>
          </a:p>
        </p:txBody>
      </p:sp>
      <p:pic>
        <p:nvPicPr>
          <p:cNvPr id="12" name="Picture 11">
            <a:extLst>
              <a:ext uri="{FF2B5EF4-FFF2-40B4-BE49-F238E27FC236}">
                <a16:creationId xmlns:a16="http://schemas.microsoft.com/office/drawing/2014/main" id="{6DBABCE3-A939-234E-8FEF-244F07590DB2}"/>
              </a:ext>
            </a:extLst>
          </p:cNvPr>
          <p:cNvPicPr>
            <a:picLocks noChangeAspect="1"/>
          </p:cNvPicPr>
          <p:nvPr/>
        </p:nvPicPr>
        <p:blipFill>
          <a:blip r:embed="rId2"/>
          <a:stretch>
            <a:fillRect/>
          </a:stretch>
        </p:blipFill>
        <p:spPr>
          <a:xfrm>
            <a:off x="-1" y="0"/>
            <a:ext cx="6842449" cy="3352800"/>
          </a:xfrm>
          <a:prstGeom prst="rect">
            <a:avLst/>
          </a:prstGeom>
        </p:spPr>
      </p:pic>
      <p:pic>
        <p:nvPicPr>
          <p:cNvPr id="15" name="Picture 14">
            <a:extLst>
              <a:ext uri="{FF2B5EF4-FFF2-40B4-BE49-F238E27FC236}">
                <a16:creationId xmlns:a16="http://schemas.microsoft.com/office/drawing/2014/main" id="{026106D2-CA4E-0E46-B4DF-B89662A3325D}"/>
              </a:ext>
            </a:extLst>
          </p:cNvPr>
          <p:cNvPicPr>
            <a:picLocks noChangeAspect="1"/>
          </p:cNvPicPr>
          <p:nvPr/>
        </p:nvPicPr>
        <p:blipFill>
          <a:blip r:embed="rId3"/>
          <a:stretch>
            <a:fillRect/>
          </a:stretch>
        </p:blipFill>
        <p:spPr>
          <a:xfrm>
            <a:off x="0" y="3352800"/>
            <a:ext cx="6867658" cy="3090446"/>
          </a:xfrm>
          <a:prstGeom prst="rect">
            <a:avLst/>
          </a:prstGeom>
        </p:spPr>
      </p:pic>
      <p:sp>
        <p:nvSpPr>
          <p:cNvPr id="16" name="Up Arrow 15">
            <a:extLst>
              <a:ext uri="{FF2B5EF4-FFF2-40B4-BE49-F238E27FC236}">
                <a16:creationId xmlns:a16="http://schemas.microsoft.com/office/drawing/2014/main" id="{FC4B9F6B-6D9F-4C40-A52F-DBECEAFA21DA}"/>
              </a:ext>
            </a:extLst>
          </p:cNvPr>
          <p:cNvSpPr/>
          <p:nvPr/>
        </p:nvSpPr>
        <p:spPr>
          <a:xfrm rot="16200000">
            <a:off x="4457700" y="4271546"/>
            <a:ext cx="228600" cy="533400"/>
          </a:xfrm>
          <a:prstGeom prst="upArrow">
            <a:avLst/>
          </a:prstGeom>
          <a:solidFill>
            <a:srgbClr val="FF0000"/>
          </a:solidFill>
          <a:ln>
            <a:solidFill>
              <a:srgbClr val="FF0000"/>
            </a:solid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2400" b="0" i="0" u="none" strike="noStrike" kern="1200" cap="none" spc="0" normalizeH="0" baseline="0" noProof="0">
              <a:ln>
                <a:noFill/>
              </a:ln>
              <a:solidFill>
                <a:srgbClr val="DEF6F1"/>
              </a:solidFill>
              <a:effectLst/>
              <a:uLnTx/>
              <a:uFillTx/>
              <a:latin typeface="Arial"/>
              <a:ea typeface="+mn-ea"/>
              <a:cs typeface="+mn-cs"/>
            </a:endParaRPr>
          </a:p>
        </p:txBody>
      </p:sp>
      <p:sp>
        <p:nvSpPr>
          <p:cNvPr id="17" name="Up Arrow 16">
            <a:extLst>
              <a:ext uri="{FF2B5EF4-FFF2-40B4-BE49-F238E27FC236}">
                <a16:creationId xmlns:a16="http://schemas.microsoft.com/office/drawing/2014/main" id="{F24B9848-AE43-6F49-BC4E-BF64C66FD221}"/>
              </a:ext>
            </a:extLst>
          </p:cNvPr>
          <p:cNvSpPr/>
          <p:nvPr/>
        </p:nvSpPr>
        <p:spPr>
          <a:xfrm rot="16200000">
            <a:off x="5562600" y="903081"/>
            <a:ext cx="228600" cy="533400"/>
          </a:xfrm>
          <a:prstGeom prst="upArrow">
            <a:avLst/>
          </a:prstGeom>
          <a:solidFill>
            <a:srgbClr val="FF0000"/>
          </a:solidFill>
          <a:ln>
            <a:solidFill>
              <a:srgbClr val="FF0000"/>
            </a:solid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2400" b="0" i="0" u="none" strike="noStrike" kern="1200" cap="none" spc="0" normalizeH="0" baseline="0" noProof="0">
              <a:ln>
                <a:noFill/>
              </a:ln>
              <a:solidFill>
                <a:srgbClr val="DEF6F1"/>
              </a:solidFill>
              <a:effectLst/>
              <a:uLnTx/>
              <a:uFillTx/>
              <a:latin typeface="Arial"/>
              <a:ea typeface="+mn-ea"/>
              <a:cs typeface="+mn-cs"/>
            </a:endParaRPr>
          </a:p>
        </p:txBody>
      </p:sp>
      <p:sp>
        <p:nvSpPr>
          <p:cNvPr id="18" name="TextBox 17">
            <a:extLst>
              <a:ext uri="{FF2B5EF4-FFF2-40B4-BE49-F238E27FC236}">
                <a16:creationId xmlns:a16="http://schemas.microsoft.com/office/drawing/2014/main" id="{AC3983BE-08B1-FE4C-807A-D34125D3FD2F}"/>
              </a:ext>
            </a:extLst>
          </p:cNvPr>
          <p:cNvSpPr txBox="1"/>
          <p:nvPr/>
        </p:nvSpPr>
        <p:spPr>
          <a:xfrm>
            <a:off x="7082024" y="54489"/>
            <a:ext cx="1861407" cy="830997"/>
          </a:xfrm>
          <a:prstGeom prst="rect">
            <a:avLst/>
          </a:prstGeom>
          <a:noFill/>
        </p:spPr>
        <p:txBody>
          <a:bodyPr wrap="none" rtlCol="0">
            <a:spAutoFit/>
          </a:bodyPr>
          <a:lstStyle/>
          <a:p>
            <a:pPr algn="ctr"/>
            <a:r>
              <a:rPr lang="en-US" dirty="0"/>
              <a:t>Whitworth</a:t>
            </a:r>
          </a:p>
          <a:p>
            <a:pPr algn="ctr"/>
            <a:r>
              <a:rPr lang="en-US" dirty="0"/>
              <a:t>Observatory</a:t>
            </a:r>
          </a:p>
        </p:txBody>
      </p:sp>
    </p:spTree>
    <p:extLst>
      <p:ext uri="{BB962C8B-B14F-4D97-AF65-F5344CB8AC3E}">
        <p14:creationId xmlns:p14="http://schemas.microsoft.com/office/powerpoint/2010/main" val="361117266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accent1"/>
        </a:solidFill>
        <a:effectLst/>
      </p:bgPr>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AF62AD2B-424B-934F-9CE2-DA1B875683C1}"/>
              </a:ext>
            </a:extLst>
          </p:cNvPr>
          <p:cNvSpPr/>
          <p:nvPr/>
        </p:nvSpPr>
        <p:spPr>
          <a:xfrm>
            <a:off x="152400" y="6443246"/>
            <a:ext cx="8839200" cy="338554"/>
          </a:xfrm>
          <a:prstGeom prst="rect">
            <a:avLst/>
          </a:prstGeom>
        </p:spPr>
        <p:txBody>
          <a:bodyPr wrap="square">
            <a:spAutoFit/>
          </a:bodyPr>
          <a:lstStyle/>
          <a:p>
            <a:r>
              <a:rPr lang="en-US" sz="1600" dirty="0"/>
              <a:t>http://</a:t>
            </a:r>
            <a:r>
              <a:rPr lang="en-US" sz="1600" dirty="0" err="1"/>
              <a:t>www.cas.manchester.ac.uk</a:t>
            </a:r>
            <a:r>
              <a:rPr lang="en-US" sz="1600" dirty="0"/>
              <a:t>/</a:t>
            </a:r>
            <a:r>
              <a:rPr lang="en-US" sz="1600" dirty="0" err="1"/>
              <a:t>restools</a:t>
            </a:r>
            <a:r>
              <a:rPr lang="en-US" sz="1600" dirty="0"/>
              <a:t>/</a:t>
            </a:r>
            <a:r>
              <a:rPr lang="en-US" sz="1600" dirty="0" err="1"/>
              <a:t>whitworth</a:t>
            </a:r>
            <a:r>
              <a:rPr lang="en-US" sz="1600" dirty="0"/>
              <a:t>/data/</a:t>
            </a:r>
          </a:p>
        </p:txBody>
      </p:sp>
      <p:sp>
        <p:nvSpPr>
          <p:cNvPr id="8" name="TextBox 7">
            <a:extLst>
              <a:ext uri="{FF2B5EF4-FFF2-40B4-BE49-F238E27FC236}">
                <a16:creationId xmlns:a16="http://schemas.microsoft.com/office/drawing/2014/main" id="{A275A3B8-955D-6E42-93A5-2D3A1D9F4D18}"/>
              </a:ext>
            </a:extLst>
          </p:cNvPr>
          <p:cNvSpPr txBox="1"/>
          <p:nvPr/>
        </p:nvSpPr>
        <p:spPr>
          <a:xfrm>
            <a:off x="7277622" y="1553227"/>
            <a:ext cx="1229824" cy="461665"/>
          </a:xfrm>
          <a:prstGeom prst="rect">
            <a:avLst/>
          </a:prstGeom>
          <a:noFill/>
        </p:spPr>
        <p:txBody>
          <a:bodyPr wrap="none" rtlCol="0">
            <a:spAutoFit/>
          </a:bodyPr>
          <a:lstStyle/>
          <a:p>
            <a:r>
              <a:rPr lang="en-US" dirty="0"/>
              <a:t>Sunday</a:t>
            </a:r>
          </a:p>
        </p:txBody>
      </p:sp>
      <p:pic>
        <p:nvPicPr>
          <p:cNvPr id="3" name="Picture 2">
            <a:extLst>
              <a:ext uri="{FF2B5EF4-FFF2-40B4-BE49-F238E27FC236}">
                <a16:creationId xmlns:a16="http://schemas.microsoft.com/office/drawing/2014/main" id="{488799B7-C81F-AA41-9C83-FFDE8545385B}"/>
              </a:ext>
            </a:extLst>
          </p:cNvPr>
          <p:cNvPicPr>
            <a:picLocks noChangeAspect="1"/>
          </p:cNvPicPr>
          <p:nvPr/>
        </p:nvPicPr>
        <p:blipFill>
          <a:blip r:embed="rId2"/>
          <a:stretch>
            <a:fillRect/>
          </a:stretch>
        </p:blipFill>
        <p:spPr>
          <a:xfrm>
            <a:off x="-3132" y="-1"/>
            <a:ext cx="6854912" cy="3358907"/>
          </a:xfrm>
          <a:prstGeom prst="rect">
            <a:avLst/>
          </a:prstGeom>
        </p:spPr>
      </p:pic>
      <p:pic>
        <p:nvPicPr>
          <p:cNvPr id="9" name="Picture 8">
            <a:extLst>
              <a:ext uri="{FF2B5EF4-FFF2-40B4-BE49-F238E27FC236}">
                <a16:creationId xmlns:a16="http://schemas.microsoft.com/office/drawing/2014/main" id="{34119C2D-CD33-7040-ACE1-DBD7933A7B1B}"/>
              </a:ext>
            </a:extLst>
          </p:cNvPr>
          <p:cNvPicPr>
            <a:picLocks noChangeAspect="1"/>
          </p:cNvPicPr>
          <p:nvPr/>
        </p:nvPicPr>
        <p:blipFill>
          <a:blip r:embed="rId3"/>
          <a:stretch>
            <a:fillRect/>
          </a:stretch>
        </p:blipFill>
        <p:spPr>
          <a:xfrm>
            <a:off x="-3132" y="3383958"/>
            <a:ext cx="6854912" cy="3084710"/>
          </a:xfrm>
          <a:prstGeom prst="rect">
            <a:avLst/>
          </a:prstGeom>
        </p:spPr>
      </p:pic>
      <p:sp>
        <p:nvSpPr>
          <p:cNvPr id="10" name="Up Arrow 9">
            <a:extLst>
              <a:ext uri="{FF2B5EF4-FFF2-40B4-BE49-F238E27FC236}">
                <a16:creationId xmlns:a16="http://schemas.microsoft.com/office/drawing/2014/main" id="{33D42689-ACC3-914B-BC2E-FEB35ED73BFE}"/>
              </a:ext>
            </a:extLst>
          </p:cNvPr>
          <p:cNvSpPr/>
          <p:nvPr/>
        </p:nvSpPr>
        <p:spPr>
          <a:xfrm rot="16200000">
            <a:off x="4724400" y="4114800"/>
            <a:ext cx="228600" cy="533400"/>
          </a:xfrm>
          <a:prstGeom prst="upArrow">
            <a:avLst/>
          </a:prstGeom>
          <a:solidFill>
            <a:srgbClr val="FF0000"/>
          </a:solidFill>
          <a:ln>
            <a:solidFill>
              <a:srgbClr val="FF0000"/>
            </a:solid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2400" b="0" i="0" u="none" strike="noStrike" kern="1200" cap="none" spc="0" normalizeH="0" baseline="0" noProof="0">
              <a:ln>
                <a:noFill/>
              </a:ln>
              <a:solidFill>
                <a:srgbClr val="DEF6F1"/>
              </a:solidFill>
              <a:effectLst/>
              <a:uLnTx/>
              <a:uFillTx/>
              <a:latin typeface="Arial"/>
              <a:ea typeface="+mn-ea"/>
              <a:cs typeface="+mn-cs"/>
            </a:endParaRPr>
          </a:p>
        </p:txBody>
      </p:sp>
      <p:sp>
        <p:nvSpPr>
          <p:cNvPr id="11" name="Up Arrow 10">
            <a:extLst>
              <a:ext uri="{FF2B5EF4-FFF2-40B4-BE49-F238E27FC236}">
                <a16:creationId xmlns:a16="http://schemas.microsoft.com/office/drawing/2014/main" id="{3DB8FBF4-C00B-6145-82B4-5CC9BD1D897B}"/>
              </a:ext>
            </a:extLst>
          </p:cNvPr>
          <p:cNvSpPr/>
          <p:nvPr/>
        </p:nvSpPr>
        <p:spPr>
          <a:xfrm rot="16200000">
            <a:off x="5562600" y="903081"/>
            <a:ext cx="228600" cy="533400"/>
          </a:xfrm>
          <a:prstGeom prst="upArrow">
            <a:avLst/>
          </a:prstGeom>
          <a:solidFill>
            <a:srgbClr val="FF0000"/>
          </a:solidFill>
          <a:ln>
            <a:solidFill>
              <a:srgbClr val="FF0000"/>
            </a:solid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2400" b="0" i="0" u="none" strike="noStrike" kern="1200" cap="none" spc="0" normalizeH="0" baseline="0" noProof="0">
              <a:ln>
                <a:noFill/>
              </a:ln>
              <a:solidFill>
                <a:srgbClr val="DEF6F1"/>
              </a:solidFill>
              <a:effectLst/>
              <a:uLnTx/>
              <a:uFillTx/>
              <a:latin typeface="Arial"/>
              <a:ea typeface="+mn-ea"/>
              <a:cs typeface="+mn-cs"/>
            </a:endParaRPr>
          </a:p>
        </p:txBody>
      </p:sp>
      <p:sp>
        <p:nvSpPr>
          <p:cNvPr id="12" name="TextBox 11">
            <a:extLst>
              <a:ext uri="{FF2B5EF4-FFF2-40B4-BE49-F238E27FC236}">
                <a16:creationId xmlns:a16="http://schemas.microsoft.com/office/drawing/2014/main" id="{D01610BC-1282-9044-99A2-9F358C338F5D}"/>
              </a:ext>
            </a:extLst>
          </p:cNvPr>
          <p:cNvSpPr txBox="1"/>
          <p:nvPr/>
        </p:nvSpPr>
        <p:spPr>
          <a:xfrm>
            <a:off x="6888139" y="4129736"/>
            <a:ext cx="2103461" cy="1938992"/>
          </a:xfrm>
          <a:prstGeom prst="rect">
            <a:avLst/>
          </a:prstGeom>
          <a:noFill/>
        </p:spPr>
        <p:txBody>
          <a:bodyPr wrap="none" rtlCol="0">
            <a:spAutoFit/>
          </a:bodyPr>
          <a:lstStyle/>
          <a:p>
            <a:r>
              <a:rPr lang="en-US" dirty="0">
                <a:solidFill>
                  <a:srgbClr val="FF0000"/>
                </a:solidFill>
              </a:rPr>
              <a:t>Closer to</a:t>
            </a:r>
          </a:p>
          <a:p>
            <a:r>
              <a:rPr lang="en-US" dirty="0">
                <a:solidFill>
                  <a:srgbClr val="FF0000"/>
                </a:solidFill>
              </a:rPr>
              <a:t>a perfect</a:t>
            </a:r>
          </a:p>
          <a:p>
            <a:r>
              <a:rPr lang="en-US" dirty="0">
                <a:solidFill>
                  <a:srgbClr val="FF0000"/>
                </a:solidFill>
              </a:rPr>
              <a:t>parabola and</a:t>
            </a:r>
          </a:p>
          <a:p>
            <a:r>
              <a:rPr lang="en-US" dirty="0">
                <a:solidFill>
                  <a:srgbClr val="FF0000"/>
                </a:solidFill>
              </a:rPr>
              <a:t>higher values:</a:t>
            </a:r>
          </a:p>
          <a:p>
            <a:r>
              <a:rPr lang="en-US" dirty="0">
                <a:solidFill>
                  <a:srgbClr val="FF0000"/>
                </a:solidFill>
              </a:rPr>
              <a:t>fewer clouds</a:t>
            </a:r>
          </a:p>
        </p:txBody>
      </p:sp>
      <p:sp>
        <p:nvSpPr>
          <p:cNvPr id="14" name="TextBox 13">
            <a:extLst>
              <a:ext uri="{FF2B5EF4-FFF2-40B4-BE49-F238E27FC236}">
                <a16:creationId xmlns:a16="http://schemas.microsoft.com/office/drawing/2014/main" id="{98643226-B581-EB45-8E2A-AF47DE7AB86A}"/>
              </a:ext>
            </a:extLst>
          </p:cNvPr>
          <p:cNvSpPr txBox="1"/>
          <p:nvPr/>
        </p:nvSpPr>
        <p:spPr>
          <a:xfrm>
            <a:off x="7082024" y="54489"/>
            <a:ext cx="1861407" cy="830997"/>
          </a:xfrm>
          <a:prstGeom prst="rect">
            <a:avLst/>
          </a:prstGeom>
          <a:noFill/>
        </p:spPr>
        <p:txBody>
          <a:bodyPr wrap="none" rtlCol="0">
            <a:spAutoFit/>
          </a:bodyPr>
          <a:lstStyle/>
          <a:p>
            <a:pPr algn="ctr"/>
            <a:r>
              <a:rPr lang="en-US" dirty="0"/>
              <a:t>Whitworth</a:t>
            </a:r>
          </a:p>
          <a:p>
            <a:pPr algn="ctr"/>
            <a:r>
              <a:rPr lang="en-US" dirty="0"/>
              <a:t>Observatory</a:t>
            </a:r>
          </a:p>
        </p:txBody>
      </p:sp>
    </p:spTree>
    <p:extLst>
      <p:ext uri="{BB962C8B-B14F-4D97-AF65-F5344CB8AC3E}">
        <p14:creationId xmlns:p14="http://schemas.microsoft.com/office/powerpoint/2010/main" val="391490549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accent1"/>
        </a:solidFill>
        <a:effectLst/>
      </p:bgPr>
    </p:bg>
    <p:spTree>
      <p:nvGrpSpPr>
        <p:cNvPr id="1" name=""/>
        <p:cNvGrpSpPr/>
        <p:nvPr/>
      </p:nvGrpSpPr>
      <p:grpSpPr>
        <a:xfrm>
          <a:off x="0" y="0"/>
          <a:ext cx="0" cy="0"/>
          <a:chOff x="0" y="0"/>
          <a:chExt cx="0" cy="0"/>
        </a:xfrm>
      </p:grpSpPr>
      <p:sp>
        <p:nvSpPr>
          <p:cNvPr id="10" name="TextBox 9">
            <a:extLst>
              <a:ext uri="{FF2B5EF4-FFF2-40B4-BE49-F238E27FC236}">
                <a16:creationId xmlns:a16="http://schemas.microsoft.com/office/drawing/2014/main" id="{21F5076A-9822-9946-B299-2E7F474DB83B}"/>
              </a:ext>
            </a:extLst>
          </p:cNvPr>
          <p:cNvSpPr txBox="1"/>
          <p:nvPr/>
        </p:nvSpPr>
        <p:spPr>
          <a:xfrm>
            <a:off x="914400" y="6549303"/>
            <a:ext cx="7359066" cy="276999"/>
          </a:xfrm>
          <a:prstGeom prst="rect">
            <a:avLst/>
          </a:prstGeom>
          <a:noFill/>
        </p:spPr>
        <p:txBody>
          <a:bodyPr wrap="none" rtlCol="0">
            <a:spAutoFit/>
          </a:bodyPr>
          <a:lstStyle/>
          <a:p>
            <a:r>
              <a:rPr lang="en-US" sz="1200" dirty="0"/>
              <a:t>https://</a:t>
            </a:r>
            <a:r>
              <a:rPr lang="en-US" sz="1200" dirty="0" err="1"/>
              <a:t>www.atmos.albany.edu</a:t>
            </a:r>
            <a:r>
              <a:rPr lang="en-US" sz="1200" dirty="0"/>
              <a:t>/student/</a:t>
            </a:r>
            <a:r>
              <a:rPr lang="en-US" sz="1200" dirty="0" err="1"/>
              <a:t>abentley</a:t>
            </a:r>
            <a:r>
              <a:rPr lang="en-US" sz="1200" dirty="0"/>
              <a:t>/</a:t>
            </a:r>
            <a:r>
              <a:rPr lang="en-US" sz="1200" dirty="0" err="1"/>
              <a:t>realtime</a:t>
            </a:r>
            <a:r>
              <a:rPr lang="en-US" sz="1200" dirty="0"/>
              <a:t>/</a:t>
            </a:r>
            <a:r>
              <a:rPr lang="en-US" sz="1200" dirty="0" err="1"/>
              <a:t>standard.php?domain</a:t>
            </a:r>
            <a:r>
              <a:rPr lang="en-US" sz="1200" dirty="0"/>
              <a:t>=</a:t>
            </a:r>
            <a:r>
              <a:rPr lang="en-US" sz="1200" dirty="0" err="1"/>
              <a:t>europe&amp;variable</a:t>
            </a:r>
            <a:r>
              <a:rPr lang="en-US" sz="1200" dirty="0"/>
              <a:t>=</a:t>
            </a:r>
            <a:r>
              <a:rPr lang="en-US" sz="1200" dirty="0" err="1"/>
              <a:t>mslp_jet</a:t>
            </a:r>
            <a:endParaRPr lang="en-US" sz="1200" dirty="0"/>
          </a:p>
        </p:txBody>
      </p:sp>
      <p:sp>
        <p:nvSpPr>
          <p:cNvPr id="11" name="TextBox 10">
            <a:extLst>
              <a:ext uri="{FF2B5EF4-FFF2-40B4-BE49-F238E27FC236}">
                <a16:creationId xmlns:a16="http://schemas.microsoft.com/office/drawing/2014/main" id="{71A9ADAF-F95B-794F-8EDD-C1DDB3A01A5A}"/>
              </a:ext>
            </a:extLst>
          </p:cNvPr>
          <p:cNvSpPr txBox="1"/>
          <p:nvPr/>
        </p:nvSpPr>
        <p:spPr>
          <a:xfrm>
            <a:off x="1066800" y="5092276"/>
            <a:ext cx="6620723" cy="830997"/>
          </a:xfrm>
          <a:prstGeom prst="rect">
            <a:avLst/>
          </a:prstGeom>
          <a:noFill/>
        </p:spPr>
        <p:txBody>
          <a:bodyPr wrap="none" rtlCol="0">
            <a:spAutoFit/>
          </a:bodyPr>
          <a:lstStyle/>
          <a:p>
            <a:r>
              <a:rPr lang="en-US" dirty="0"/>
              <a:t>Winds at 250-hPa (jet stream): colored shading</a:t>
            </a:r>
          </a:p>
          <a:p>
            <a:r>
              <a:rPr lang="en-US" dirty="0"/>
              <a:t>Sea-level pressure: black solid lines</a:t>
            </a:r>
          </a:p>
        </p:txBody>
      </p:sp>
      <p:pic>
        <p:nvPicPr>
          <p:cNvPr id="16" name="Picture 15">
            <a:extLst>
              <a:ext uri="{FF2B5EF4-FFF2-40B4-BE49-F238E27FC236}">
                <a16:creationId xmlns:a16="http://schemas.microsoft.com/office/drawing/2014/main" id="{5FDAAB58-1173-714E-8BE1-08830B10B259}"/>
              </a:ext>
            </a:extLst>
          </p:cNvPr>
          <p:cNvPicPr>
            <a:picLocks noChangeAspect="1"/>
          </p:cNvPicPr>
          <p:nvPr/>
        </p:nvPicPr>
        <p:blipFill>
          <a:blip r:embed="rId2"/>
          <a:stretch>
            <a:fillRect/>
          </a:stretch>
        </p:blipFill>
        <p:spPr>
          <a:xfrm>
            <a:off x="0" y="0"/>
            <a:ext cx="5348260" cy="4204838"/>
          </a:xfrm>
          <a:prstGeom prst="rect">
            <a:avLst/>
          </a:prstGeom>
        </p:spPr>
      </p:pic>
      <p:pic>
        <p:nvPicPr>
          <p:cNvPr id="17" name="Picture 16">
            <a:extLst>
              <a:ext uri="{FF2B5EF4-FFF2-40B4-BE49-F238E27FC236}">
                <a16:creationId xmlns:a16="http://schemas.microsoft.com/office/drawing/2014/main" id="{14F85193-AB68-D44B-B682-C462BEFABEE9}"/>
              </a:ext>
            </a:extLst>
          </p:cNvPr>
          <p:cNvPicPr>
            <a:picLocks noChangeAspect="1"/>
          </p:cNvPicPr>
          <p:nvPr/>
        </p:nvPicPr>
        <p:blipFill>
          <a:blip r:embed="rId3"/>
          <a:stretch>
            <a:fillRect/>
          </a:stretch>
        </p:blipFill>
        <p:spPr>
          <a:xfrm>
            <a:off x="4084525" y="0"/>
            <a:ext cx="5330658" cy="4191000"/>
          </a:xfrm>
          <a:prstGeom prst="rect">
            <a:avLst/>
          </a:prstGeom>
        </p:spPr>
      </p:pic>
      <p:sp>
        <p:nvSpPr>
          <p:cNvPr id="18" name="TextBox 17">
            <a:extLst>
              <a:ext uri="{FF2B5EF4-FFF2-40B4-BE49-F238E27FC236}">
                <a16:creationId xmlns:a16="http://schemas.microsoft.com/office/drawing/2014/main" id="{58568516-6D4B-5F4F-9378-E8939893022B}"/>
              </a:ext>
            </a:extLst>
          </p:cNvPr>
          <p:cNvSpPr txBox="1"/>
          <p:nvPr/>
        </p:nvSpPr>
        <p:spPr>
          <a:xfrm>
            <a:off x="533400" y="4267200"/>
            <a:ext cx="3378104" cy="400110"/>
          </a:xfrm>
          <a:prstGeom prst="rect">
            <a:avLst/>
          </a:prstGeom>
          <a:noFill/>
        </p:spPr>
        <p:txBody>
          <a:bodyPr wrap="none" rtlCol="0">
            <a:spAutoFit/>
          </a:bodyPr>
          <a:lstStyle/>
          <a:p>
            <a:r>
              <a:rPr lang="en-US" sz="2000" dirty="0"/>
              <a:t>1200 UTC Saturday 26 April</a:t>
            </a:r>
          </a:p>
        </p:txBody>
      </p:sp>
      <p:sp>
        <p:nvSpPr>
          <p:cNvPr id="19" name="TextBox 18">
            <a:extLst>
              <a:ext uri="{FF2B5EF4-FFF2-40B4-BE49-F238E27FC236}">
                <a16:creationId xmlns:a16="http://schemas.microsoft.com/office/drawing/2014/main" id="{FE7438BF-68B9-2D45-B6B0-D8E99349B187}"/>
              </a:ext>
            </a:extLst>
          </p:cNvPr>
          <p:cNvSpPr txBox="1"/>
          <p:nvPr/>
        </p:nvSpPr>
        <p:spPr>
          <a:xfrm>
            <a:off x="5117708" y="4267200"/>
            <a:ext cx="3264292" cy="400110"/>
          </a:xfrm>
          <a:prstGeom prst="rect">
            <a:avLst/>
          </a:prstGeom>
          <a:noFill/>
        </p:spPr>
        <p:txBody>
          <a:bodyPr wrap="none" rtlCol="0">
            <a:spAutoFit/>
          </a:bodyPr>
          <a:lstStyle/>
          <a:p>
            <a:r>
              <a:rPr lang="en-US" sz="2000" dirty="0"/>
              <a:t>0000 UTC Monday 28 April</a:t>
            </a:r>
          </a:p>
        </p:txBody>
      </p:sp>
    </p:spTree>
    <p:extLst>
      <p:ext uri="{BB962C8B-B14F-4D97-AF65-F5344CB8AC3E}">
        <p14:creationId xmlns:p14="http://schemas.microsoft.com/office/powerpoint/2010/main" val="294370168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accent1"/>
        </a:solidFill>
        <a:effectLst/>
      </p:bgPr>
    </p:bg>
    <p:spTree>
      <p:nvGrpSpPr>
        <p:cNvPr id="1" name=""/>
        <p:cNvGrpSpPr/>
        <p:nvPr/>
      </p:nvGrpSpPr>
      <p:grpSpPr>
        <a:xfrm>
          <a:off x="0" y="0"/>
          <a:ext cx="0" cy="0"/>
          <a:chOff x="0" y="0"/>
          <a:chExt cx="0" cy="0"/>
        </a:xfrm>
      </p:grpSpPr>
      <p:sp>
        <p:nvSpPr>
          <p:cNvPr id="8" name="TextBox 7">
            <a:extLst>
              <a:ext uri="{FF2B5EF4-FFF2-40B4-BE49-F238E27FC236}">
                <a16:creationId xmlns:a16="http://schemas.microsoft.com/office/drawing/2014/main" id="{A275A3B8-955D-6E42-93A5-2D3A1D9F4D18}"/>
              </a:ext>
            </a:extLst>
          </p:cNvPr>
          <p:cNvSpPr txBox="1"/>
          <p:nvPr/>
        </p:nvSpPr>
        <p:spPr>
          <a:xfrm>
            <a:off x="7277622" y="1553227"/>
            <a:ext cx="1229824" cy="461665"/>
          </a:xfrm>
          <a:prstGeom prst="rect">
            <a:avLst/>
          </a:prstGeom>
          <a:noFill/>
        </p:spPr>
        <p:txBody>
          <a:bodyPr wrap="none" rtlCol="0">
            <a:spAutoFit/>
          </a:bodyPr>
          <a:lstStyle/>
          <a:p>
            <a:r>
              <a:rPr lang="en-US" dirty="0"/>
              <a:t>Sunday</a:t>
            </a:r>
          </a:p>
        </p:txBody>
      </p:sp>
      <p:pic>
        <p:nvPicPr>
          <p:cNvPr id="4" name="Picture 3">
            <a:extLst>
              <a:ext uri="{FF2B5EF4-FFF2-40B4-BE49-F238E27FC236}">
                <a16:creationId xmlns:a16="http://schemas.microsoft.com/office/drawing/2014/main" id="{DBD2FF81-3E17-264C-AABD-096BEED236C1}"/>
              </a:ext>
            </a:extLst>
          </p:cNvPr>
          <p:cNvPicPr>
            <a:picLocks noChangeAspect="1"/>
          </p:cNvPicPr>
          <p:nvPr/>
        </p:nvPicPr>
        <p:blipFill>
          <a:blip r:embed="rId2"/>
          <a:stretch>
            <a:fillRect/>
          </a:stretch>
        </p:blipFill>
        <p:spPr>
          <a:xfrm>
            <a:off x="0" y="0"/>
            <a:ext cx="5348260" cy="4204838"/>
          </a:xfrm>
          <a:prstGeom prst="rect">
            <a:avLst/>
          </a:prstGeom>
        </p:spPr>
      </p:pic>
      <p:pic>
        <p:nvPicPr>
          <p:cNvPr id="6" name="Picture 5">
            <a:extLst>
              <a:ext uri="{FF2B5EF4-FFF2-40B4-BE49-F238E27FC236}">
                <a16:creationId xmlns:a16="http://schemas.microsoft.com/office/drawing/2014/main" id="{5A9407F3-FEA1-0E4A-B781-DB51DD6DDC27}"/>
              </a:ext>
            </a:extLst>
          </p:cNvPr>
          <p:cNvPicPr>
            <a:picLocks noChangeAspect="1"/>
          </p:cNvPicPr>
          <p:nvPr/>
        </p:nvPicPr>
        <p:blipFill>
          <a:blip r:embed="rId3"/>
          <a:stretch>
            <a:fillRect/>
          </a:stretch>
        </p:blipFill>
        <p:spPr>
          <a:xfrm>
            <a:off x="4084525" y="0"/>
            <a:ext cx="5330658" cy="4191000"/>
          </a:xfrm>
          <a:prstGeom prst="rect">
            <a:avLst/>
          </a:prstGeom>
        </p:spPr>
      </p:pic>
      <p:sp>
        <p:nvSpPr>
          <p:cNvPr id="10" name="TextBox 9">
            <a:extLst>
              <a:ext uri="{FF2B5EF4-FFF2-40B4-BE49-F238E27FC236}">
                <a16:creationId xmlns:a16="http://schemas.microsoft.com/office/drawing/2014/main" id="{21F5076A-9822-9946-B299-2E7F474DB83B}"/>
              </a:ext>
            </a:extLst>
          </p:cNvPr>
          <p:cNvSpPr txBox="1"/>
          <p:nvPr/>
        </p:nvSpPr>
        <p:spPr>
          <a:xfrm>
            <a:off x="914400" y="6549303"/>
            <a:ext cx="7359066" cy="276999"/>
          </a:xfrm>
          <a:prstGeom prst="rect">
            <a:avLst/>
          </a:prstGeom>
          <a:noFill/>
        </p:spPr>
        <p:txBody>
          <a:bodyPr wrap="none" rtlCol="0">
            <a:spAutoFit/>
          </a:bodyPr>
          <a:lstStyle/>
          <a:p>
            <a:r>
              <a:rPr lang="en-US" sz="1200" dirty="0"/>
              <a:t>https://</a:t>
            </a:r>
            <a:r>
              <a:rPr lang="en-US" sz="1200" dirty="0" err="1"/>
              <a:t>www.atmos.albany.edu</a:t>
            </a:r>
            <a:r>
              <a:rPr lang="en-US" sz="1200" dirty="0"/>
              <a:t>/student/</a:t>
            </a:r>
            <a:r>
              <a:rPr lang="en-US" sz="1200" dirty="0" err="1"/>
              <a:t>abentley</a:t>
            </a:r>
            <a:r>
              <a:rPr lang="en-US" sz="1200" dirty="0"/>
              <a:t>/</a:t>
            </a:r>
            <a:r>
              <a:rPr lang="en-US" sz="1200" dirty="0" err="1"/>
              <a:t>realtime</a:t>
            </a:r>
            <a:r>
              <a:rPr lang="en-US" sz="1200" dirty="0"/>
              <a:t>/</a:t>
            </a:r>
            <a:r>
              <a:rPr lang="en-US" sz="1200" dirty="0" err="1"/>
              <a:t>standard.php?domain</a:t>
            </a:r>
            <a:r>
              <a:rPr lang="en-US" sz="1200" dirty="0"/>
              <a:t>=</a:t>
            </a:r>
            <a:r>
              <a:rPr lang="en-US" sz="1200" dirty="0" err="1"/>
              <a:t>europe&amp;variable</a:t>
            </a:r>
            <a:r>
              <a:rPr lang="en-US" sz="1200" dirty="0"/>
              <a:t>=</a:t>
            </a:r>
            <a:r>
              <a:rPr lang="en-US" sz="1200" dirty="0" err="1"/>
              <a:t>mslp_jet</a:t>
            </a:r>
            <a:endParaRPr lang="en-US" sz="1200" dirty="0"/>
          </a:p>
        </p:txBody>
      </p:sp>
      <p:sp>
        <p:nvSpPr>
          <p:cNvPr id="11" name="TextBox 10">
            <a:extLst>
              <a:ext uri="{FF2B5EF4-FFF2-40B4-BE49-F238E27FC236}">
                <a16:creationId xmlns:a16="http://schemas.microsoft.com/office/drawing/2014/main" id="{71A9ADAF-F95B-794F-8EDD-C1DDB3A01A5A}"/>
              </a:ext>
            </a:extLst>
          </p:cNvPr>
          <p:cNvSpPr txBox="1"/>
          <p:nvPr/>
        </p:nvSpPr>
        <p:spPr>
          <a:xfrm>
            <a:off x="1066800" y="5092276"/>
            <a:ext cx="6620723" cy="830997"/>
          </a:xfrm>
          <a:prstGeom prst="rect">
            <a:avLst/>
          </a:prstGeom>
          <a:noFill/>
        </p:spPr>
        <p:txBody>
          <a:bodyPr wrap="none" rtlCol="0">
            <a:spAutoFit/>
          </a:bodyPr>
          <a:lstStyle/>
          <a:p>
            <a:r>
              <a:rPr lang="en-US" dirty="0"/>
              <a:t>Winds at 250-hPa (jet stream): colored shading</a:t>
            </a:r>
          </a:p>
          <a:p>
            <a:r>
              <a:rPr lang="en-US" dirty="0"/>
              <a:t>Sea-level pressure: black solid lines</a:t>
            </a:r>
          </a:p>
        </p:txBody>
      </p:sp>
      <p:sp>
        <p:nvSpPr>
          <p:cNvPr id="12" name="TextBox 11">
            <a:extLst>
              <a:ext uri="{FF2B5EF4-FFF2-40B4-BE49-F238E27FC236}">
                <a16:creationId xmlns:a16="http://schemas.microsoft.com/office/drawing/2014/main" id="{BEF5491F-0B27-C04D-B4B6-DA541EEC2A1B}"/>
              </a:ext>
            </a:extLst>
          </p:cNvPr>
          <p:cNvSpPr txBox="1"/>
          <p:nvPr/>
        </p:nvSpPr>
        <p:spPr>
          <a:xfrm>
            <a:off x="533400" y="4267200"/>
            <a:ext cx="3378104" cy="400110"/>
          </a:xfrm>
          <a:prstGeom prst="rect">
            <a:avLst/>
          </a:prstGeom>
          <a:noFill/>
        </p:spPr>
        <p:txBody>
          <a:bodyPr wrap="none" rtlCol="0">
            <a:spAutoFit/>
          </a:bodyPr>
          <a:lstStyle/>
          <a:p>
            <a:r>
              <a:rPr lang="en-US" sz="2000" dirty="0"/>
              <a:t>1200 UTC Saturday 26 April</a:t>
            </a:r>
          </a:p>
        </p:txBody>
      </p:sp>
      <p:sp>
        <p:nvSpPr>
          <p:cNvPr id="13" name="TextBox 12">
            <a:extLst>
              <a:ext uri="{FF2B5EF4-FFF2-40B4-BE49-F238E27FC236}">
                <a16:creationId xmlns:a16="http://schemas.microsoft.com/office/drawing/2014/main" id="{49825B63-0335-FF44-AF44-986647996762}"/>
              </a:ext>
            </a:extLst>
          </p:cNvPr>
          <p:cNvSpPr txBox="1"/>
          <p:nvPr/>
        </p:nvSpPr>
        <p:spPr>
          <a:xfrm>
            <a:off x="5117708" y="4267200"/>
            <a:ext cx="3264292" cy="400110"/>
          </a:xfrm>
          <a:prstGeom prst="rect">
            <a:avLst/>
          </a:prstGeom>
          <a:noFill/>
        </p:spPr>
        <p:txBody>
          <a:bodyPr wrap="none" rtlCol="0">
            <a:spAutoFit/>
          </a:bodyPr>
          <a:lstStyle/>
          <a:p>
            <a:r>
              <a:rPr lang="en-US" sz="2000" dirty="0"/>
              <a:t>0000 UTC Monday 28 April</a:t>
            </a:r>
          </a:p>
        </p:txBody>
      </p:sp>
      <p:sp>
        <p:nvSpPr>
          <p:cNvPr id="14" name="Up Arrow 13">
            <a:extLst>
              <a:ext uri="{FF2B5EF4-FFF2-40B4-BE49-F238E27FC236}">
                <a16:creationId xmlns:a16="http://schemas.microsoft.com/office/drawing/2014/main" id="{C5008F0B-F223-3146-9B6D-35855D6EB647}"/>
              </a:ext>
            </a:extLst>
          </p:cNvPr>
          <p:cNvSpPr/>
          <p:nvPr/>
        </p:nvSpPr>
        <p:spPr>
          <a:xfrm rot="16200000">
            <a:off x="2785350" y="1631659"/>
            <a:ext cx="228600" cy="533400"/>
          </a:xfrm>
          <a:prstGeom prst="upArrow">
            <a:avLst/>
          </a:prstGeom>
          <a:solidFill>
            <a:srgbClr val="FF0000"/>
          </a:solidFill>
          <a:ln>
            <a:solidFill>
              <a:srgbClr val="FF0000"/>
            </a:solid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2400" b="0" i="0" u="none" strike="noStrike" kern="1200" cap="none" spc="0" normalizeH="0" baseline="0" noProof="0">
              <a:ln>
                <a:noFill/>
              </a:ln>
              <a:solidFill>
                <a:srgbClr val="DEF6F1"/>
              </a:solidFill>
              <a:effectLst/>
              <a:uLnTx/>
              <a:uFillTx/>
              <a:latin typeface="Arial"/>
              <a:ea typeface="+mn-ea"/>
              <a:cs typeface="+mn-cs"/>
            </a:endParaRPr>
          </a:p>
        </p:txBody>
      </p:sp>
      <p:sp>
        <p:nvSpPr>
          <p:cNvPr id="15" name="Up Arrow 14">
            <a:extLst>
              <a:ext uri="{FF2B5EF4-FFF2-40B4-BE49-F238E27FC236}">
                <a16:creationId xmlns:a16="http://schemas.microsoft.com/office/drawing/2014/main" id="{C4200CB9-485F-CE4A-85A2-8C90392D9F79}"/>
              </a:ext>
            </a:extLst>
          </p:cNvPr>
          <p:cNvSpPr/>
          <p:nvPr/>
        </p:nvSpPr>
        <p:spPr>
          <a:xfrm rot="16200000">
            <a:off x="6852550" y="1219200"/>
            <a:ext cx="228600" cy="533400"/>
          </a:xfrm>
          <a:prstGeom prst="upArrow">
            <a:avLst/>
          </a:prstGeom>
          <a:solidFill>
            <a:srgbClr val="FF0000"/>
          </a:solidFill>
          <a:ln>
            <a:solidFill>
              <a:srgbClr val="FF0000"/>
            </a:solid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2400" b="0" i="0" u="none" strike="noStrike" kern="1200" cap="none" spc="0" normalizeH="0" baseline="0" noProof="0">
              <a:ln>
                <a:noFill/>
              </a:ln>
              <a:solidFill>
                <a:srgbClr val="DEF6F1"/>
              </a:solidFill>
              <a:effectLst/>
              <a:uLnTx/>
              <a:uFillTx/>
              <a:latin typeface="Arial"/>
              <a:ea typeface="+mn-ea"/>
              <a:cs typeface="+mn-cs"/>
            </a:endParaRPr>
          </a:p>
        </p:txBody>
      </p:sp>
      <p:sp>
        <p:nvSpPr>
          <p:cNvPr id="16" name="TextBox 15">
            <a:extLst>
              <a:ext uri="{FF2B5EF4-FFF2-40B4-BE49-F238E27FC236}">
                <a16:creationId xmlns:a16="http://schemas.microsoft.com/office/drawing/2014/main" id="{2D98C9AB-64A4-F640-BAE8-82B9576A9631}"/>
              </a:ext>
            </a:extLst>
          </p:cNvPr>
          <p:cNvSpPr txBox="1"/>
          <p:nvPr/>
        </p:nvSpPr>
        <p:spPr>
          <a:xfrm>
            <a:off x="108513" y="5985636"/>
            <a:ext cx="9035487" cy="461665"/>
          </a:xfrm>
          <a:prstGeom prst="rect">
            <a:avLst/>
          </a:prstGeom>
          <a:noFill/>
        </p:spPr>
        <p:txBody>
          <a:bodyPr wrap="none" rtlCol="0">
            <a:spAutoFit/>
          </a:bodyPr>
          <a:lstStyle/>
          <a:p>
            <a:r>
              <a:rPr lang="en-US" dirty="0">
                <a:solidFill>
                  <a:srgbClr val="FF0000"/>
                </a:solidFill>
              </a:rPr>
              <a:t>Jet stream has moved poleward, bringing warmer, less-cloudy air</a:t>
            </a:r>
          </a:p>
        </p:txBody>
      </p:sp>
    </p:spTree>
    <p:extLst>
      <p:ext uri="{BB962C8B-B14F-4D97-AF65-F5344CB8AC3E}">
        <p14:creationId xmlns:p14="http://schemas.microsoft.com/office/powerpoint/2010/main" val="159968297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accent1"/>
        </a:solidFill>
        <a:effectLst/>
      </p:bgPr>
    </p:bg>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2EBE57B0-29A3-AA42-9C61-82D6B17C1F71}"/>
              </a:ext>
            </a:extLst>
          </p:cNvPr>
          <p:cNvSpPr txBox="1"/>
          <p:nvPr/>
        </p:nvSpPr>
        <p:spPr>
          <a:xfrm>
            <a:off x="838200" y="3657600"/>
            <a:ext cx="7359066" cy="276999"/>
          </a:xfrm>
          <a:prstGeom prst="rect">
            <a:avLst/>
          </a:prstGeom>
          <a:noFill/>
        </p:spPr>
        <p:txBody>
          <a:bodyPr wrap="none" rtlCol="0">
            <a:spAutoFit/>
          </a:bodyPr>
          <a:lstStyle/>
          <a:p>
            <a:r>
              <a:rPr lang="en-US" sz="1200" dirty="0"/>
              <a:t>https://</a:t>
            </a:r>
            <a:r>
              <a:rPr lang="en-US" sz="1200" dirty="0" err="1"/>
              <a:t>www.atmos.albany.edu</a:t>
            </a:r>
            <a:r>
              <a:rPr lang="en-US" sz="1200" dirty="0"/>
              <a:t>/student/</a:t>
            </a:r>
            <a:r>
              <a:rPr lang="en-US" sz="1200" dirty="0" err="1"/>
              <a:t>abentley</a:t>
            </a:r>
            <a:r>
              <a:rPr lang="en-US" sz="1200" dirty="0"/>
              <a:t>/</a:t>
            </a:r>
            <a:r>
              <a:rPr lang="en-US" sz="1200" dirty="0" err="1"/>
              <a:t>realtime</a:t>
            </a:r>
            <a:r>
              <a:rPr lang="en-US" sz="1200" dirty="0"/>
              <a:t>/</a:t>
            </a:r>
            <a:r>
              <a:rPr lang="en-US" sz="1200" dirty="0" err="1"/>
              <a:t>standard.php?domain</a:t>
            </a:r>
            <a:r>
              <a:rPr lang="en-US" sz="1200" dirty="0"/>
              <a:t>=</a:t>
            </a:r>
            <a:r>
              <a:rPr lang="en-US" sz="1200" dirty="0" err="1"/>
              <a:t>europe&amp;variable</a:t>
            </a:r>
            <a:r>
              <a:rPr lang="en-US" sz="1200" dirty="0"/>
              <a:t>=</a:t>
            </a:r>
            <a:r>
              <a:rPr lang="en-US" sz="1200" dirty="0" err="1"/>
              <a:t>mslp_jet</a:t>
            </a:r>
            <a:endParaRPr lang="en-US" sz="1200" dirty="0"/>
          </a:p>
        </p:txBody>
      </p:sp>
      <p:sp>
        <p:nvSpPr>
          <p:cNvPr id="17" name="TextBox 16">
            <a:extLst>
              <a:ext uri="{FF2B5EF4-FFF2-40B4-BE49-F238E27FC236}">
                <a16:creationId xmlns:a16="http://schemas.microsoft.com/office/drawing/2014/main" id="{BA5558FC-1ABC-784F-8CDE-B93E61EF8347}"/>
              </a:ext>
            </a:extLst>
          </p:cNvPr>
          <p:cNvSpPr txBox="1"/>
          <p:nvPr/>
        </p:nvSpPr>
        <p:spPr>
          <a:xfrm>
            <a:off x="2594770" y="1371600"/>
            <a:ext cx="3930884" cy="830997"/>
          </a:xfrm>
          <a:prstGeom prst="rect">
            <a:avLst/>
          </a:prstGeom>
          <a:noFill/>
        </p:spPr>
        <p:txBody>
          <a:bodyPr wrap="none" rtlCol="0">
            <a:spAutoFit/>
          </a:bodyPr>
          <a:lstStyle/>
          <a:p>
            <a:r>
              <a:rPr lang="en-US" dirty="0"/>
              <a:t>Animation of the jet stream:</a:t>
            </a:r>
          </a:p>
          <a:p>
            <a:r>
              <a:rPr lang="en-US" dirty="0"/>
              <a:t>Past, present, and future</a:t>
            </a:r>
          </a:p>
        </p:txBody>
      </p:sp>
    </p:spTree>
    <p:extLst>
      <p:ext uri="{BB962C8B-B14F-4D97-AF65-F5344CB8AC3E}">
        <p14:creationId xmlns:p14="http://schemas.microsoft.com/office/powerpoint/2010/main" val="286417250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accent1"/>
        </a:solidFill>
        <a:effectLst/>
      </p:bgPr>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46E8278A-06F7-934D-BC15-EBC1B8584642}"/>
              </a:ext>
            </a:extLst>
          </p:cNvPr>
          <p:cNvPicPr>
            <a:picLocks noChangeAspect="1"/>
          </p:cNvPicPr>
          <p:nvPr/>
        </p:nvPicPr>
        <p:blipFill>
          <a:blip r:embed="rId2"/>
          <a:stretch>
            <a:fillRect/>
          </a:stretch>
        </p:blipFill>
        <p:spPr>
          <a:xfrm>
            <a:off x="0" y="507502"/>
            <a:ext cx="9144000" cy="5842995"/>
          </a:xfrm>
          <a:prstGeom prst="rect">
            <a:avLst/>
          </a:prstGeom>
        </p:spPr>
      </p:pic>
    </p:spTree>
    <p:extLst>
      <p:ext uri="{BB962C8B-B14F-4D97-AF65-F5344CB8AC3E}">
        <p14:creationId xmlns:p14="http://schemas.microsoft.com/office/powerpoint/2010/main" val="58522620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4209" name="Picture 5" descr="Where-the-ocean-and-the-atmosphere-meet_full_size_landscape.jpg">
            <a:extLst>
              <a:ext uri="{FF2B5EF4-FFF2-40B4-BE49-F238E27FC236}">
                <a16:creationId xmlns:a16="http://schemas.microsoft.com/office/drawing/2014/main" id="{B0558F89-E6D9-6C42-AC74-5E0D36514B7E}"/>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0" y="0"/>
            <a:ext cx="9153525"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050" name="Rectangle 2">
            <a:extLst>
              <a:ext uri="{FF2B5EF4-FFF2-40B4-BE49-F238E27FC236}">
                <a16:creationId xmlns:a16="http://schemas.microsoft.com/office/drawing/2014/main" id="{BB4B6571-5A61-3044-924C-2A1BF9F43009}"/>
              </a:ext>
            </a:extLst>
          </p:cNvPr>
          <p:cNvSpPr>
            <a:spLocks noGrp="1" noChangeArrowheads="1"/>
          </p:cNvSpPr>
          <p:nvPr>
            <p:ph type="ctrTitle"/>
          </p:nvPr>
        </p:nvSpPr>
        <p:spPr>
          <a:xfrm>
            <a:off x="304800" y="228600"/>
            <a:ext cx="8382000" cy="860425"/>
          </a:xfrm>
          <a:solidFill>
            <a:schemeClr val="accent2"/>
          </a:solidFill>
        </p:spPr>
        <p:txBody>
          <a:bodyPr/>
          <a:lstStyle/>
          <a:p>
            <a:pPr eaLnBrk="1" hangingPunct="1">
              <a:defRPr/>
            </a:pPr>
            <a:r>
              <a:rPr lang="en-GB" sz="3600" dirty="0">
                <a:effectLst>
                  <a:outerShdw blurRad="38100" dist="38100" dir="2700000" algn="tl">
                    <a:srgbClr val="FFFFFF"/>
                  </a:outerShdw>
                </a:effectLst>
              </a:rPr>
              <a:t>Feedbacks in Earth’s Climate System</a:t>
            </a:r>
            <a:endParaRPr lang="en-US" sz="3600" dirty="0">
              <a:effectLst>
                <a:outerShdw blurRad="38100" dist="38100" dir="2700000" algn="tl">
                  <a:srgbClr val="FFFFFF"/>
                </a:outerShdw>
              </a:effectLst>
            </a:endParaRPr>
          </a:p>
        </p:txBody>
      </p:sp>
      <p:sp>
        <p:nvSpPr>
          <p:cNvPr id="16388" name="Text Box 4">
            <a:extLst>
              <a:ext uri="{FF2B5EF4-FFF2-40B4-BE49-F238E27FC236}">
                <a16:creationId xmlns:a16="http://schemas.microsoft.com/office/drawing/2014/main" id="{56CA21FF-529B-CC43-ADBA-B3FE657018CB}"/>
              </a:ext>
            </a:extLst>
          </p:cNvPr>
          <p:cNvSpPr txBox="1">
            <a:spLocks noChangeArrowheads="1"/>
          </p:cNvSpPr>
          <p:nvPr/>
        </p:nvSpPr>
        <p:spPr bwMode="auto">
          <a:xfrm>
            <a:off x="8686800" y="5867400"/>
            <a:ext cx="184150" cy="366713"/>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a:defRPr/>
            </a:pPr>
            <a:endParaRPr lang="en-US" sz="1800">
              <a:latin typeface="Arial" charset="0"/>
              <a:ea typeface="ＭＳ Ｐゴシック" charset="0"/>
              <a:cs typeface="ＭＳ Ｐゴシック" charset="0"/>
            </a:endParaRPr>
          </a:p>
        </p:txBody>
      </p:sp>
      <p:sp>
        <p:nvSpPr>
          <p:cNvPr id="5" name="Rectangle 2">
            <a:extLst>
              <a:ext uri="{FF2B5EF4-FFF2-40B4-BE49-F238E27FC236}">
                <a16:creationId xmlns:a16="http://schemas.microsoft.com/office/drawing/2014/main" id="{E6C94C73-299C-6C4F-9C5A-55069D17BED9}"/>
              </a:ext>
            </a:extLst>
          </p:cNvPr>
          <p:cNvSpPr txBox="1">
            <a:spLocks noChangeArrowheads="1"/>
          </p:cNvSpPr>
          <p:nvPr/>
        </p:nvSpPr>
        <p:spPr bwMode="auto">
          <a:xfrm>
            <a:off x="137638" y="990600"/>
            <a:ext cx="8763000" cy="2260724"/>
          </a:xfrm>
          <a:prstGeom prst="rect">
            <a:avLst/>
          </a:prstGeom>
          <a:solidFill>
            <a:srgbClr val="8DC6FF">
              <a:alpha val="52000"/>
            </a:srgb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gn="ctr" rtl="0" eaLnBrk="0" fontAlgn="base" hangingPunct="0">
              <a:spcBef>
                <a:spcPct val="0"/>
              </a:spcBef>
              <a:spcAft>
                <a:spcPct val="0"/>
              </a:spcAft>
              <a:defRPr sz="4400">
                <a:solidFill>
                  <a:schemeClr val="tx2"/>
                </a:solidFill>
                <a:latin typeface="+mj-lt"/>
                <a:ea typeface="ＭＳ Ｐゴシック" charset="0"/>
                <a:cs typeface="ＭＳ Ｐゴシック" charset="0"/>
              </a:defRPr>
            </a:lvl1pPr>
            <a:lvl2pPr algn="ctr" rtl="0" eaLnBrk="0" fontAlgn="base" hangingPunct="0">
              <a:spcBef>
                <a:spcPct val="0"/>
              </a:spcBef>
              <a:spcAft>
                <a:spcPct val="0"/>
              </a:spcAft>
              <a:defRPr sz="4400">
                <a:solidFill>
                  <a:schemeClr val="tx2"/>
                </a:solidFill>
                <a:latin typeface="Arial" charset="0"/>
                <a:ea typeface="ＭＳ Ｐゴシック" charset="0"/>
                <a:cs typeface="ＭＳ Ｐゴシック" charset="0"/>
              </a:defRPr>
            </a:lvl2pPr>
            <a:lvl3pPr algn="ctr" rtl="0" eaLnBrk="0" fontAlgn="base" hangingPunct="0">
              <a:spcBef>
                <a:spcPct val="0"/>
              </a:spcBef>
              <a:spcAft>
                <a:spcPct val="0"/>
              </a:spcAft>
              <a:defRPr sz="4400">
                <a:solidFill>
                  <a:schemeClr val="tx2"/>
                </a:solidFill>
                <a:latin typeface="Arial" charset="0"/>
                <a:ea typeface="ＭＳ Ｐゴシック" charset="0"/>
                <a:cs typeface="ＭＳ Ｐゴシック" charset="0"/>
              </a:defRPr>
            </a:lvl3pPr>
            <a:lvl4pPr algn="ctr" rtl="0" eaLnBrk="0" fontAlgn="base" hangingPunct="0">
              <a:spcBef>
                <a:spcPct val="0"/>
              </a:spcBef>
              <a:spcAft>
                <a:spcPct val="0"/>
              </a:spcAft>
              <a:defRPr sz="4400">
                <a:solidFill>
                  <a:schemeClr val="tx2"/>
                </a:solidFill>
                <a:latin typeface="Arial" charset="0"/>
                <a:ea typeface="ＭＳ Ｐゴシック" charset="0"/>
                <a:cs typeface="ＭＳ Ｐゴシック" charset="0"/>
              </a:defRPr>
            </a:lvl4pPr>
            <a:lvl5pPr algn="ctr" rtl="0" eaLnBrk="0" fontAlgn="base" hangingPunct="0">
              <a:spcBef>
                <a:spcPct val="0"/>
              </a:spcBef>
              <a:spcAft>
                <a:spcPct val="0"/>
              </a:spcAft>
              <a:defRPr sz="4400">
                <a:solidFill>
                  <a:schemeClr val="tx2"/>
                </a:solidFill>
                <a:latin typeface="Arial" charset="0"/>
                <a:ea typeface="ＭＳ Ｐゴシック" charset="0"/>
                <a:cs typeface="ＭＳ Ｐゴシック" charset="0"/>
              </a:defRPr>
            </a:lvl5pPr>
            <a:lvl6pPr marL="457200" algn="ctr" rtl="0" fontAlgn="base">
              <a:spcBef>
                <a:spcPct val="0"/>
              </a:spcBef>
              <a:spcAft>
                <a:spcPct val="0"/>
              </a:spcAft>
              <a:defRPr sz="4400">
                <a:solidFill>
                  <a:schemeClr val="tx2"/>
                </a:solidFill>
                <a:latin typeface="Arial" charset="0"/>
              </a:defRPr>
            </a:lvl6pPr>
            <a:lvl7pPr marL="914400" algn="ctr" rtl="0" fontAlgn="base">
              <a:spcBef>
                <a:spcPct val="0"/>
              </a:spcBef>
              <a:spcAft>
                <a:spcPct val="0"/>
              </a:spcAft>
              <a:defRPr sz="4400">
                <a:solidFill>
                  <a:schemeClr val="tx2"/>
                </a:solidFill>
                <a:latin typeface="Arial" charset="0"/>
              </a:defRPr>
            </a:lvl7pPr>
            <a:lvl8pPr marL="1371600" algn="ctr" rtl="0" fontAlgn="base">
              <a:spcBef>
                <a:spcPct val="0"/>
              </a:spcBef>
              <a:spcAft>
                <a:spcPct val="0"/>
              </a:spcAft>
              <a:defRPr sz="4400">
                <a:solidFill>
                  <a:schemeClr val="tx2"/>
                </a:solidFill>
                <a:latin typeface="Arial" charset="0"/>
              </a:defRPr>
            </a:lvl8pPr>
            <a:lvl9pPr marL="1828800" algn="ctr" rtl="0" fontAlgn="base">
              <a:spcBef>
                <a:spcPct val="0"/>
              </a:spcBef>
              <a:spcAft>
                <a:spcPct val="0"/>
              </a:spcAft>
              <a:defRPr sz="4400">
                <a:solidFill>
                  <a:schemeClr val="tx2"/>
                </a:solidFill>
                <a:latin typeface="Arial" charset="0"/>
              </a:defRPr>
            </a:lvl9pPr>
          </a:lstStyle>
          <a:p>
            <a:pPr algn="l" eaLnBrk="1" hangingPunct="1"/>
            <a:r>
              <a:rPr lang="en-GB" altLang="en-US" sz="2800" kern="0" dirty="0">
                <a:effectLst>
                  <a:outerShdw blurRad="38100" dist="38100" dir="2700000" algn="tl">
                    <a:srgbClr val="FFFFFF"/>
                  </a:outerShdw>
                </a:effectLst>
                <a:ea typeface="ＭＳ Ｐゴシック" panose="020B0600070205080204" pitchFamily="34" charset="-128"/>
              </a:rPr>
              <a:t>A look at the variety of interactions within the climate system</a:t>
            </a:r>
            <a:br>
              <a:rPr lang="en-GB" altLang="en-US" sz="2800" kern="0" dirty="0">
                <a:effectLst>
                  <a:outerShdw blurRad="38100" dist="38100" dir="2700000" algn="tl">
                    <a:srgbClr val="FFFFFF"/>
                  </a:outerShdw>
                </a:effectLst>
                <a:ea typeface="ＭＳ Ｐゴシック" panose="020B0600070205080204" pitchFamily="34" charset="-128"/>
              </a:rPr>
            </a:br>
            <a:br>
              <a:rPr lang="en-GB" altLang="en-US" sz="2800" kern="0" dirty="0">
                <a:effectLst>
                  <a:outerShdw blurRad="38100" dist="38100" dir="2700000" algn="tl">
                    <a:srgbClr val="FFFFFF"/>
                  </a:outerShdw>
                </a:effectLst>
                <a:ea typeface="ＭＳ Ｐゴシック" panose="020B0600070205080204" pitchFamily="34" charset="-128"/>
              </a:rPr>
            </a:br>
            <a:r>
              <a:rPr lang="en-GB" altLang="en-US" sz="2800" kern="0" dirty="0">
                <a:effectLst>
                  <a:outerShdw blurRad="38100" dist="38100" dir="2700000" algn="tl">
                    <a:srgbClr val="FFFFFF"/>
                  </a:outerShdw>
                </a:effectLst>
                <a:ea typeface="ＭＳ Ｐゴシック" panose="020B0600070205080204" pitchFamily="34" charset="-128"/>
              </a:rPr>
              <a:t>What it means for doing field research</a:t>
            </a:r>
            <a:endParaRPr lang="en-US" altLang="en-US" sz="2800" kern="0" dirty="0">
              <a:effectLst>
                <a:outerShdw blurRad="38100" dist="38100" dir="2700000" algn="tl">
                  <a:srgbClr val="FFFFFF"/>
                </a:outerShdw>
              </a:effectLst>
              <a:ea typeface="ＭＳ Ｐゴシック" panose="020B0600070205080204" pitchFamily="34" charset="-128"/>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470048"/>
        </a:solidFill>
        <a:effectLst/>
      </p:bgPr>
    </p:bg>
    <p:spTree>
      <p:nvGrpSpPr>
        <p:cNvPr id="1" name=""/>
        <p:cNvGrpSpPr/>
        <p:nvPr/>
      </p:nvGrpSpPr>
      <p:grpSpPr>
        <a:xfrm>
          <a:off x="0" y="0"/>
          <a:ext cx="0" cy="0"/>
          <a:chOff x="0" y="0"/>
          <a:chExt cx="0" cy="0"/>
        </a:xfrm>
      </p:grpSpPr>
      <p:sp>
        <p:nvSpPr>
          <p:cNvPr id="100354" name="Title 1">
            <a:extLst>
              <a:ext uri="{FF2B5EF4-FFF2-40B4-BE49-F238E27FC236}">
                <a16:creationId xmlns:a16="http://schemas.microsoft.com/office/drawing/2014/main" id="{9003C9D7-808C-C747-B717-1D3F93571E45}"/>
              </a:ext>
            </a:extLst>
          </p:cNvPr>
          <p:cNvSpPr>
            <a:spLocks noGrp="1"/>
          </p:cNvSpPr>
          <p:nvPr>
            <p:ph type="ctrTitle"/>
          </p:nvPr>
        </p:nvSpPr>
        <p:spPr/>
        <p:txBody>
          <a:bodyPr/>
          <a:lstStyle/>
          <a:p>
            <a:pPr eaLnBrk="1" hangingPunct="1"/>
            <a:endParaRPr lang="en-US" altLang="en-US">
              <a:latin typeface="Calibri" panose="020F0502020204030204" pitchFamily="34" charset="0"/>
              <a:ea typeface="ＭＳ Ｐゴシック" panose="020B0600070205080204" pitchFamily="34" charset="-128"/>
            </a:endParaRPr>
          </a:p>
        </p:txBody>
      </p:sp>
      <p:pic>
        <p:nvPicPr>
          <p:cNvPr id="100355" name="Picture 6" descr="Forcing and response.tiff">
            <a:extLst>
              <a:ext uri="{FF2B5EF4-FFF2-40B4-BE49-F238E27FC236}">
                <a16:creationId xmlns:a16="http://schemas.microsoft.com/office/drawing/2014/main" id="{1532BEF9-E8F4-4C4A-81F1-9862A1B8C06D}"/>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219075" y="1524000"/>
            <a:ext cx="8772525" cy="38274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0356" name="TextBox 8">
            <a:extLst>
              <a:ext uri="{FF2B5EF4-FFF2-40B4-BE49-F238E27FC236}">
                <a16:creationId xmlns:a16="http://schemas.microsoft.com/office/drawing/2014/main" id="{37ACB667-4E4C-1F45-B31E-E3F10E647A40}"/>
              </a:ext>
            </a:extLst>
          </p:cNvPr>
          <p:cNvSpPr txBox="1">
            <a:spLocks noChangeArrowheads="1"/>
          </p:cNvSpPr>
          <p:nvPr/>
        </p:nvSpPr>
        <p:spPr bwMode="auto">
          <a:xfrm>
            <a:off x="4506913" y="6400800"/>
            <a:ext cx="466090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r>
              <a:rPr lang="en-US" altLang="en-US" sz="1800">
                <a:solidFill>
                  <a:srgbClr val="FFFFFF"/>
                </a:solidFill>
                <a:latin typeface="Goudy Old Style" panose="02020502050305020303" pitchFamily="18" charset="77"/>
              </a:rPr>
              <a:t>(Ruddiman 2008: </a:t>
            </a:r>
            <a:r>
              <a:rPr lang="en-US" altLang="en-US" sz="1800" i="1">
                <a:solidFill>
                  <a:srgbClr val="FFFFFF"/>
                </a:solidFill>
                <a:latin typeface="Goudy Old Style" panose="02020502050305020303" pitchFamily="18" charset="77"/>
              </a:rPr>
              <a:t>Earth’s Climate: Past and Future</a:t>
            </a:r>
            <a:r>
              <a:rPr lang="en-US" altLang="en-US" sz="1800">
                <a:solidFill>
                  <a:srgbClr val="FFFFFF"/>
                </a:solidFill>
                <a:latin typeface="Goudy Old Style" panose="02020502050305020303" pitchFamily="18" charset="77"/>
              </a:rPr>
              <a:t>)</a:t>
            </a:r>
          </a:p>
        </p:txBody>
      </p:sp>
      <p:sp>
        <p:nvSpPr>
          <p:cNvPr id="6" name="TextBox 5">
            <a:extLst>
              <a:ext uri="{FF2B5EF4-FFF2-40B4-BE49-F238E27FC236}">
                <a16:creationId xmlns:a16="http://schemas.microsoft.com/office/drawing/2014/main" id="{596D1D08-DB4B-374A-A970-12AA04C05BD4}"/>
              </a:ext>
            </a:extLst>
          </p:cNvPr>
          <p:cNvSpPr txBox="1"/>
          <p:nvPr/>
        </p:nvSpPr>
        <p:spPr>
          <a:xfrm>
            <a:off x="76200" y="146050"/>
            <a:ext cx="9067800" cy="723900"/>
          </a:xfrm>
          <a:prstGeom prst="rect">
            <a:avLst/>
          </a:prstGeom>
          <a:noFill/>
        </p:spPr>
        <p:txBody>
          <a:bodyP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r>
              <a:rPr lang="en-US" altLang="en-US" sz="4100">
                <a:solidFill>
                  <a:srgbClr val="FBFF09"/>
                </a:solidFill>
                <a:effectLst>
                  <a:outerShdw blurRad="38100" dist="38100" dir="2700000" algn="tl">
                    <a:srgbClr val="000000"/>
                  </a:outerShdw>
                </a:effectLst>
                <a:latin typeface="Goudy Old Style" panose="02020502050305020303" pitchFamily="18" charset="77"/>
              </a:rPr>
              <a:t>Cause and Effect  =  Forcing and Response</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accent1"/>
        </a:solidFill>
        <a:effectLst/>
      </p:bgPr>
    </p:bg>
    <p:spTree>
      <p:nvGrpSpPr>
        <p:cNvPr id="1" name=""/>
        <p:cNvGrpSpPr/>
        <p:nvPr/>
      </p:nvGrpSpPr>
      <p:grpSpPr>
        <a:xfrm>
          <a:off x="0" y="0"/>
          <a:ext cx="0" cy="0"/>
          <a:chOff x="0" y="0"/>
          <a:chExt cx="0" cy="0"/>
        </a:xfrm>
      </p:grpSpPr>
      <p:pic>
        <p:nvPicPr>
          <p:cNvPr id="102402" name="Picture 1" descr="Untitled2.png">
            <a:extLst>
              <a:ext uri="{FF2B5EF4-FFF2-40B4-BE49-F238E27FC236}">
                <a16:creationId xmlns:a16="http://schemas.microsoft.com/office/drawing/2014/main" id="{7D05A695-F917-9B4F-86ED-29AF8F8AEDD7}"/>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0" y="0"/>
            <a:ext cx="9144000"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chemeClr val="accent1"/>
        </a:solidFill>
        <a:effectLst/>
      </p:bgPr>
    </p:bg>
    <p:spTree>
      <p:nvGrpSpPr>
        <p:cNvPr id="1" name=""/>
        <p:cNvGrpSpPr/>
        <p:nvPr/>
      </p:nvGrpSpPr>
      <p:grpSpPr>
        <a:xfrm>
          <a:off x="0" y="0"/>
          <a:ext cx="0" cy="0"/>
          <a:chOff x="0" y="0"/>
          <a:chExt cx="0" cy="0"/>
        </a:xfrm>
      </p:grpSpPr>
      <p:pic>
        <p:nvPicPr>
          <p:cNvPr id="104450" name="Picture 1" descr="Untitled2.png">
            <a:extLst>
              <a:ext uri="{FF2B5EF4-FFF2-40B4-BE49-F238E27FC236}">
                <a16:creationId xmlns:a16="http://schemas.microsoft.com/office/drawing/2014/main" id="{F9BBCA85-C523-4E45-917B-FCBBD6B33543}"/>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0" y="0"/>
            <a:ext cx="9144000"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4452" name="TextBox 3">
            <a:extLst>
              <a:ext uri="{FF2B5EF4-FFF2-40B4-BE49-F238E27FC236}">
                <a16:creationId xmlns:a16="http://schemas.microsoft.com/office/drawing/2014/main" id="{859F39A5-44D6-E949-A945-54BD369D5453}"/>
              </a:ext>
            </a:extLst>
          </p:cNvPr>
          <p:cNvSpPr txBox="1">
            <a:spLocks noChangeArrowheads="1"/>
          </p:cNvSpPr>
          <p:nvPr/>
        </p:nvSpPr>
        <p:spPr bwMode="auto">
          <a:xfrm>
            <a:off x="152400" y="152400"/>
            <a:ext cx="2121093"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r>
              <a:rPr lang="en-US" altLang="en-US" sz="3200" dirty="0"/>
              <a:t>Example 1</a:t>
            </a:r>
          </a:p>
        </p:txBody>
      </p:sp>
      <p:sp>
        <p:nvSpPr>
          <p:cNvPr id="2" name="Down Arrow 1">
            <a:extLst>
              <a:ext uri="{FF2B5EF4-FFF2-40B4-BE49-F238E27FC236}">
                <a16:creationId xmlns:a16="http://schemas.microsoft.com/office/drawing/2014/main" id="{11568176-F0E5-8C41-8DB1-6573AAE2BF30}"/>
              </a:ext>
            </a:extLst>
          </p:cNvPr>
          <p:cNvSpPr/>
          <p:nvPr/>
        </p:nvSpPr>
        <p:spPr>
          <a:xfrm rot="907462">
            <a:off x="3304511" y="1517458"/>
            <a:ext cx="1066800" cy="4013634"/>
          </a:xfrm>
          <a:prstGeom prst="downArrow">
            <a:avLst/>
          </a:prstGeom>
          <a:solidFill>
            <a:srgbClr val="FF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solidFill>
                <a:srgbClr val="FF0000"/>
              </a:solidFill>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1" name="TextBox 1">
            <a:extLst>
              <a:ext uri="{FF2B5EF4-FFF2-40B4-BE49-F238E27FC236}">
                <a16:creationId xmlns:a16="http://schemas.microsoft.com/office/drawing/2014/main" id="{A33CFE22-17F8-F048-BE35-2617E1E4D13E}"/>
              </a:ext>
            </a:extLst>
          </p:cNvPr>
          <p:cNvSpPr txBox="1">
            <a:spLocks noChangeArrowheads="1"/>
          </p:cNvSpPr>
          <p:nvPr/>
        </p:nvSpPr>
        <p:spPr bwMode="auto">
          <a:xfrm>
            <a:off x="107551" y="1981200"/>
            <a:ext cx="9036449" cy="138499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lgn="ctr" eaLnBrk="1" hangingPunct="1"/>
            <a:endParaRPr lang="en-US" sz="2800" dirty="0">
              <a:solidFill>
                <a:srgbClr val="FFFF00"/>
              </a:solidFill>
            </a:endParaRPr>
          </a:p>
          <a:p>
            <a:pPr algn="ctr" eaLnBrk="1" hangingPunct="1"/>
            <a:endParaRPr lang="en-US" sz="2800" dirty="0">
              <a:solidFill>
                <a:srgbClr val="FFFF00"/>
              </a:solidFill>
            </a:endParaRPr>
          </a:p>
          <a:p>
            <a:pPr algn="ctr" eaLnBrk="1" hangingPunct="1"/>
            <a:r>
              <a:rPr lang="en-US" sz="2800" dirty="0">
                <a:solidFill>
                  <a:srgbClr val="002060"/>
                </a:solidFill>
              </a:rPr>
              <a:t>silicate mineral + CO</a:t>
            </a:r>
            <a:r>
              <a:rPr lang="en-US" sz="2800" baseline="-25000" dirty="0">
                <a:solidFill>
                  <a:srgbClr val="002060"/>
                </a:solidFill>
              </a:rPr>
              <a:t>2</a:t>
            </a:r>
            <a:r>
              <a:rPr lang="en-US" sz="2800" dirty="0">
                <a:solidFill>
                  <a:srgbClr val="002060"/>
                </a:solidFill>
              </a:rPr>
              <a:t> + H</a:t>
            </a:r>
            <a:r>
              <a:rPr lang="en-US" sz="2800" baseline="-25000" dirty="0">
                <a:solidFill>
                  <a:srgbClr val="002060"/>
                </a:solidFill>
              </a:rPr>
              <a:t>2</a:t>
            </a:r>
            <a:r>
              <a:rPr lang="en-US" sz="2800" dirty="0">
                <a:solidFill>
                  <a:srgbClr val="002060"/>
                </a:solidFill>
              </a:rPr>
              <a:t>O → cations + HCO</a:t>
            </a:r>
            <a:r>
              <a:rPr lang="en-US" sz="2800" baseline="-25000" dirty="0">
                <a:solidFill>
                  <a:srgbClr val="002060"/>
                </a:solidFill>
              </a:rPr>
              <a:t>3</a:t>
            </a:r>
            <a:r>
              <a:rPr lang="en-US" sz="2800" baseline="30000" dirty="0">
                <a:solidFill>
                  <a:srgbClr val="002060"/>
                </a:solidFill>
              </a:rPr>
              <a:t>–</a:t>
            </a:r>
            <a:r>
              <a:rPr lang="en-US" sz="2800" dirty="0">
                <a:solidFill>
                  <a:srgbClr val="002060"/>
                </a:solidFill>
              </a:rPr>
              <a:t> + SiO</a:t>
            </a:r>
            <a:r>
              <a:rPr lang="en-US" sz="2800" baseline="-25000" dirty="0">
                <a:solidFill>
                  <a:srgbClr val="002060"/>
                </a:solidFill>
              </a:rPr>
              <a:t>2</a:t>
            </a:r>
            <a:endParaRPr lang="en-US" altLang="en-US" sz="2800" dirty="0">
              <a:solidFill>
                <a:srgbClr val="002060"/>
              </a:solidFill>
              <a:effectLst>
                <a:outerShdw blurRad="38100" dist="38100" dir="2700000" algn="tl">
                  <a:srgbClr val="000000"/>
                </a:outerShdw>
              </a:effectLst>
            </a:endParaRPr>
          </a:p>
        </p:txBody>
      </p:sp>
      <p:sp>
        <p:nvSpPr>
          <p:cNvPr id="3" name="TextBox 1">
            <a:extLst>
              <a:ext uri="{FF2B5EF4-FFF2-40B4-BE49-F238E27FC236}">
                <a16:creationId xmlns:a16="http://schemas.microsoft.com/office/drawing/2014/main" id="{39870275-2B8C-FE4F-B5C8-D631E2FEDA32}"/>
              </a:ext>
            </a:extLst>
          </p:cNvPr>
          <p:cNvSpPr txBox="1">
            <a:spLocks noChangeArrowheads="1"/>
          </p:cNvSpPr>
          <p:nvPr/>
        </p:nvSpPr>
        <p:spPr bwMode="auto">
          <a:xfrm>
            <a:off x="99617" y="286053"/>
            <a:ext cx="8383705" cy="1200329"/>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r>
              <a:rPr lang="en-US" sz="3600" dirty="0"/>
              <a:t>Weathering of silicates removes carbon </a:t>
            </a:r>
          </a:p>
          <a:p>
            <a:pPr eaLnBrk="1" hangingPunct="1"/>
            <a:r>
              <a:rPr lang="en-US" sz="3600" dirty="0"/>
              <a:t>dioxide from the atmosphere. </a:t>
            </a:r>
            <a:endParaRPr lang="en-US" altLang="en-US" sz="3600" dirty="0">
              <a:effectLst>
                <a:outerShdw blurRad="38100" dist="38100" dir="2700000" algn="tl">
                  <a:srgbClr val="000000"/>
                </a:outerShdw>
              </a:effectLst>
            </a:endParaRPr>
          </a:p>
        </p:txBody>
      </p:sp>
    </p:spTree>
    <p:extLst>
      <p:ext uri="{BB962C8B-B14F-4D97-AF65-F5344CB8AC3E}">
        <p14:creationId xmlns:p14="http://schemas.microsoft.com/office/powerpoint/2010/main" val="263965082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2B560034-4AA1-8A43-8E3B-9F9895F239B3}"/>
              </a:ext>
            </a:extLst>
          </p:cNvPr>
          <p:cNvPicPr>
            <a:picLocks noChangeAspect="1"/>
          </p:cNvPicPr>
          <p:nvPr/>
        </p:nvPicPr>
        <p:blipFill>
          <a:blip r:embed="rId2"/>
          <a:stretch>
            <a:fillRect/>
          </a:stretch>
        </p:blipFill>
        <p:spPr>
          <a:xfrm>
            <a:off x="-6927" y="152400"/>
            <a:ext cx="9144000" cy="4916506"/>
          </a:xfrm>
          <a:prstGeom prst="rect">
            <a:avLst/>
          </a:prstGeom>
        </p:spPr>
      </p:pic>
      <p:sp>
        <p:nvSpPr>
          <p:cNvPr id="6" name="TextBox 5">
            <a:extLst>
              <a:ext uri="{FF2B5EF4-FFF2-40B4-BE49-F238E27FC236}">
                <a16:creationId xmlns:a16="http://schemas.microsoft.com/office/drawing/2014/main" id="{24FBF87C-2745-404E-897C-65E476C4FA99}"/>
              </a:ext>
            </a:extLst>
          </p:cNvPr>
          <p:cNvSpPr txBox="1"/>
          <p:nvPr/>
        </p:nvSpPr>
        <p:spPr>
          <a:xfrm>
            <a:off x="1869463" y="5181600"/>
            <a:ext cx="5391219" cy="461665"/>
          </a:xfrm>
          <a:prstGeom prst="rect">
            <a:avLst/>
          </a:prstGeom>
          <a:noFill/>
        </p:spPr>
        <p:txBody>
          <a:bodyPr wrap="none" rtlCol="0">
            <a:spAutoFit/>
          </a:bodyPr>
          <a:lstStyle/>
          <a:p>
            <a:r>
              <a:rPr lang="en-US" dirty="0"/>
              <a:t>Calculated chemical weathering rates </a:t>
            </a:r>
          </a:p>
        </p:txBody>
      </p:sp>
      <p:sp>
        <p:nvSpPr>
          <p:cNvPr id="7" name="TextBox 6">
            <a:extLst>
              <a:ext uri="{FF2B5EF4-FFF2-40B4-BE49-F238E27FC236}">
                <a16:creationId xmlns:a16="http://schemas.microsoft.com/office/drawing/2014/main" id="{8EC2763A-6C8F-314A-8B57-76D539C182C6}"/>
              </a:ext>
            </a:extLst>
          </p:cNvPr>
          <p:cNvSpPr txBox="1"/>
          <p:nvPr/>
        </p:nvSpPr>
        <p:spPr>
          <a:xfrm>
            <a:off x="4560124" y="6519446"/>
            <a:ext cx="4658648" cy="338554"/>
          </a:xfrm>
          <a:prstGeom prst="rect">
            <a:avLst/>
          </a:prstGeom>
          <a:noFill/>
        </p:spPr>
        <p:txBody>
          <a:bodyPr wrap="none" rtlCol="0">
            <a:spAutoFit/>
          </a:bodyPr>
          <a:lstStyle/>
          <a:p>
            <a:r>
              <a:rPr lang="en-US" sz="1600" dirty="0"/>
              <a:t>http://</a:t>
            </a:r>
            <a:r>
              <a:rPr lang="en-US" sz="1600" dirty="0" err="1"/>
              <a:t>dx.doi.org</a:t>
            </a:r>
            <a:r>
              <a:rPr lang="en-US" sz="1600" dirty="0"/>
              <a:t>/10.1016/j.chemgeo.2013.10.025 </a:t>
            </a:r>
          </a:p>
        </p:txBody>
      </p:sp>
    </p:spTree>
    <p:extLst>
      <p:ext uri="{BB962C8B-B14F-4D97-AF65-F5344CB8AC3E}">
        <p14:creationId xmlns:p14="http://schemas.microsoft.com/office/powerpoint/2010/main" val="137227764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2B560034-4AA1-8A43-8E3B-9F9895F239B3}"/>
              </a:ext>
            </a:extLst>
          </p:cNvPr>
          <p:cNvPicPr>
            <a:picLocks noChangeAspect="1"/>
          </p:cNvPicPr>
          <p:nvPr/>
        </p:nvPicPr>
        <p:blipFill>
          <a:blip r:embed="rId2"/>
          <a:stretch>
            <a:fillRect/>
          </a:stretch>
        </p:blipFill>
        <p:spPr>
          <a:xfrm>
            <a:off x="0" y="22761"/>
            <a:ext cx="6944336" cy="3733800"/>
          </a:xfrm>
          <a:prstGeom prst="rect">
            <a:avLst/>
          </a:prstGeom>
        </p:spPr>
      </p:pic>
      <p:sp>
        <p:nvSpPr>
          <p:cNvPr id="7" name="TextBox 6">
            <a:extLst>
              <a:ext uri="{FF2B5EF4-FFF2-40B4-BE49-F238E27FC236}">
                <a16:creationId xmlns:a16="http://schemas.microsoft.com/office/drawing/2014/main" id="{8EC2763A-6C8F-314A-8B57-76D539C182C6}"/>
              </a:ext>
            </a:extLst>
          </p:cNvPr>
          <p:cNvSpPr txBox="1"/>
          <p:nvPr/>
        </p:nvSpPr>
        <p:spPr>
          <a:xfrm>
            <a:off x="4560124" y="6519446"/>
            <a:ext cx="4658648" cy="338554"/>
          </a:xfrm>
          <a:prstGeom prst="rect">
            <a:avLst/>
          </a:prstGeom>
          <a:noFill/>
        </p:spPr>
        <p:txBody>
          <a:bodyPr wrap="none" rtlCol="0">
            <a:spAutoFit/>
          </a:bodyPr>
          <a:lstStyle/>
          <a:p>
            <a:r>
              <a:rPr lang="en-US" sz="1600" dirty="0"/>
              <a:t>http://</a:t>
            </a:r>
            <a:r>
              <a:rPr lang="en-US" sz="1600" dirty="0" err="1"/>
              <a:t>dx.doi.org</a:t>
            </a:r>
            <a:r>
              <a:rPr lang="en-US" sz="1600" dirty="0"/>
              <a:t>/10.1016/j.chemgeo.2013.10.025 </a:t>
            </a:r>
          </a:p>
        </p:txBody>
      </p:sp>
      <p:pic>
        <p:nvPicPr>
          <p:cNvPr id="9" name="Picture 8">
            <a:extLst>
              <a:ext uri="{FF2B5EF4-FFF2-40B4-BE49-F238E27FC236}">
                <a16:creationId xmlns:a16="http://schemas.microsoft.com/office/drawing/2014/main" id="{178E2783-D372-4A4B-AF73-9DAFCCC3C897}"/>
              </a:ext>
            </a:extLst>
          </p:cNvPr>
          <p:cNvPicPr>
            <a:picLocks noChangeAspect="1"/>
          </p:cNvPicPr>
          <p:nvPr/>
        </p:nvPicPr>
        <p:blipFill>
          <a:blip r:embed="rId3"/>
          <a:stretch>
            <a:fillRect/>
          </a:stretch>
        </p:blipFill>
        <p:spPr>
          <a:xfrm>
            <a:off x="3325091" y="3181350"/>
            <a:ext cx="5818909" cy="4000500"/>
          </a:xfrm>
          <a:prstGeom prst="rect">
            <a:avLst/>
          </a:prstGeom>
        </p:spPr>
      </p:pic>
      <p:sp>
        <p:nvSpPr>
          <p:cNvPr id="8" name="TextBox 7">
            <a:extLst>
              <a:ext uri="{FF2B5EF4-FFF2-40B4-BE49-F238E27FC236}">
                <a16:creationId xmlns:a16="http://schemas.microsoft.com/office/drawing/2014/main" id="{201E0DC6-ABFE-C04E-811A-3CA36072CFF9}"/>
              </a:ext>
            </a:extLst>
          </p:cNvPr>
          <p:cNvSpPr txBox="1"/>
          <p:nvPr/>
        </p:nvSpPr>
        <p:spPr>
          <a:xfrm>
            <a:off x="116943" y="5334000"/>
            <a:ext cx="3114955" cy="461665"/>
          </a:xfrm>
          <a:prstGeom prst="rect">
            <a:avLst/>
          </a:prstGeom>
          <a:noFill/>
        </p:spPr>
        <p:txBody>
          <a:bodyPr wrap="none" rtlCol="0">
            <a:spAutoFit/>
          </a:bodyPr>
          <a:lstStyle/>
          <a:p>
            <a:r>
              <a:rPr lang="en-US" dirty="0"/>
              <a:t>modeled precipitation</a:t>
            </a:r>
          </a:p>
        </p:txBody>
      </p:sp>
    </p:spTree>
    <p:extLst>
      <p:ext uri="{BB962C8B-B14F-4D97-AF65-F5344CB8AC3E}">
        <p14:creationId xmlns:p14="http://schemas.microsoft.com/office/powerpoint/2010/main" val="428149448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2B560034-4AA1-8A43-8E3B-9F9895F239B3}"/>
              </a:ext>
            </a:extLst>
          </p:cNvPr>
          <p:cNvPicPr>
            <a:picLocks noChangeAspect="1"/>
          </p:cNvPicPr>
          <p:nvPr/>
        </p:nvPicPr>
        <p:blipFill>
          <a:blip r:embed="rId2"/>
          <a:stretch>
            <a:fillRect/>
          </a:stretch>
        </p:blipFill>
        <p:spPr>
          <a:xfrm>
            <a:off x="0" y="22761"/>
            <a:ext cx="6944336" cy="3733800"/>
          </a:xfrm>
          <a:prstGeom prst="rect">
            <a:avLst/>
          </a:prstGeom>
        </p:spPr>
      </p:pic>
      <p:sp>
        <p:nvSpPr>
          <p:cNvPr id="6" name="TextBox 5">
            <a:extLst>
              <a:ext uri="{FF2B5EF4-FFF2-40B4-BE49-F238E27FC236}">
                <a16:creationId xmlns:a16="http://schemas.microsoft.com/office/drawing/2014/main" id="{24FBF87C-2745-404E-897C-65E476C4FA99}"/>
              </a:ext>
            </a:extLst>
          </p:cNvPr>
          <p:cNvSpPr txBox="1"/>
          <p:nvPr/>
        </p:nvSpPr>
        <p:spPr>
          <a:xfrm>
            <a:off x="609600" y="5334000"/>
            <a:ext cx="3507692" cy="461665"/>
          </a:xfrm>
          <a:prstGeom prst="rect">
            <a:avLst/>
          </a:prstGeom>
          <a:noFill/>
        </p:spPr>
        <p:txBody>
          <a:bodyPr wrap="none" rtlCol="0">
            <a:spAutoFit/>
          </a:bodyPr>
          <a:lstStyle/>
          <a:p>
            <a:r>
              <a:rPr lang="en-US" dirty="0"/>
              <a:t>“observed” precipitation</a:t>
            </a:r>
          </a:p>
        </p:txBody>
      </p:sp>
      <p:sp>
        <p:nvSpPr>
          <p:cNvPr id="7" name="TextBox 6">
            <a:extLst>
              <a:ext uri="{FF2B5EF4-FFF2-40B4-BE49-F238E27FC236}">
                <a16:creationId xmlns:a16="http://schemas.microsoft.com/office/drawing/2014/main" id="{8EC2763A-6C8F-314A-8B57-76D539C182C6}"/>
              </a:ext>
            </a:extLst>
          </p:cNvPr>
          <p:cNvSpPr txBox="1"/>
          <p:nvPr/>
        </p:nvSpPr>
        <p:spPr>
          <a:xfrm>
            <a:off x="4560124" y="6519446"/>
            <a:ext cx="4658648" cy="338554"/>
          </a:xfrm>
          <a:prstGeom prst="rect">
            <a:avLst/>
          </a:prstGeom>
          <a:noFill/>
        </p:spPr>
        <p:txBody>
          <a:bodyPr wrap="none" rtlCol="0">
            <a:spAutoFit/>
          </a:bodyPr>
          <a:lstStyle/>
          <a:p>
            <a:r>
              <a:rPr lang="en-US" sz="1600" dirty="0"/>
              <a:t>http://</a:t>
            </a:r>
            <a:r>
              <a:rPr lang="en-US" sz="1600" dirty="0" err="1"/>
              <a:t>dx.doi.org</a:t>
            </a:r>
            <a:r>
              <a:rPr lang="en-US" sz="1600" dirty="0"/>
              <a:t>/10.1016/j.chemgeo.2013.10.025 </a:t>
            </a:r>
          </a:p>
        </p:txBody>
      </p:sp>
      <p:pic>
        <p:nvPicPr>
          <p:cNvPr id="8" name="Picture 7">
            <a:extLst>
              <a:ext uri="{FF2B5EF4-FFF2-40B4-BE49-F238E27FC236}">
                <a16:creationId xmlns:a16="http://schemas.microsoft.com/office/drawing/2014/main" id="{60E1F688-FA76-094A-9401-0EB7891411FE}"/>
              </a:ext>
            </a:extLst>
          </p:cNvPr>
          <p:cNvPicPr>
            <a:picLocks noChangeAspect="1"/>
          </p:cNvPicPr>
          <p:nvPr/>
        </p:nvPicPr>
        <p:blipFill>
          <a:blip r:embed="rId3"/>
          <a:stretch>
            <a:fillRect/>
          </a:stretch>
        </p:blipFill>
        <p:spPr>
          <a:xfrm>
            <a:off x="4414265" y="3219203"/>
            <a:ext cx="4737652" cy="3657600"/>
          </a:xfrm>
          <a:prstGeom prst="rect">
            <a:avLst/>
          </a:prstGeom>
        </p:spPr>
      </p:pic>
    </p:spTree>
    <p:extLst>
      <p:ext uri="{BB962C8B-B14F-4D97-AF65-F5344CB8AC3E}">
        <p14:creationId xmlns:p14="http://schemas.microsoft.com/office/powerpoint/2010/main" val="239840096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chemeClr val="accent1"/>
        </a:solidFill>
        <a:effectLst/>
      </p:bgPr>
    </p:bg>
    <p:spTree>
      <p:nvGrpSpPr>
        <p:cNvPr id="1" name=""/>
        <p:cNvGrpSpPr/>
        <p:nvPr/>
      </p:nvGrpSpPr>
      <p:grpSpPr>
        <a:xfrm>
          <a:off x="0" y="0"/>
          <a:ext cx="0" cy="0"/>
          <a:chOff x="0" y="0"/>
          <a:chExt cx="0" cy="0"/>
        </a:xfrm>
      </p:grpSpPr>
      <p:pic>
        <p:nvPicPr>
          <p:cNvPr id="104450" name="Picture 1" descr="Untitled2.png">
            <a:extLst>
              <a:ext uri="{FF2B5EF4-FFF2-40B4-BE49-F238E27FC236}">
                <a16:creationId xmlns:a16="http://schemas.microsoft.com/office/drawing/2014/main" id="{F9BBCA85-C523-4E45-917B-FCBBD6B33543}"/>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0" y="0"/>
            <a:ext cx="9144000"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Left-Right Arrow 2">
            <a:extLst>
              <a:ext uri="{FF2B5EF4-FFF2-40B4-BE49-F238E27FC236}">
                <a16:creationId xmlns:a16="http://schemas.microsoft.com/office/drawing/2014/main" id="{86539689-B217-1B42-9810-1FA22C473C69}"/>
              </a:ext>
            </a:extLst>
          </p:cNvPr>
          <p:cNvSpPr>
            <a:spLocks noChangeArrowheads="1"/>
          </p:cNvSpPr>
          <p:nvPr/>
        </p:nvSpPr>
        <p:spPr bwMode="auto">
          <a:xfrm rot="2886258">
            <a:off x="4843463" y="1611313"/>
            <a:ext cx="2447925" cy="1362075"/>
          </a:xfrm>
          <a:prstGeom prst="leftRightArrow">
            <a:avLst>
              <a:gd name="adj1" fmla="val 50000"/>
              <a:gd name="adj2" fmla="val 49997"/>
            </a:avLst>
          </a:prstGeom>
          <a:solidFill>
            <a:srgbClr val="FF0000"/>
          </a:solidFill>
          <a:ln>
            <a:noFill/>
          </a:ln>
          <a:effectLst>
            <a:outerShdw blurRad="40000" dist="23000" dir="5400000" rotWithShape="0">
              <a:srgbClr val="808080">
                <a:alpha val="34999"/>
              </a:srgbClr>
            </a:outerShdw>
          </a:effectLst>
          <a:extLs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lgn="ctr" eaLnBrk="1" hangingPunct="1"/>
            <a:r>
              <a:rPr lang="en-US" altLang="en-US">
                <a:solidFill>
                  <a:srgbClr val="FFFFFF"/>
                </a:solidFill>
              </a:rPr>
              <a:t>Ice–Albedo Feedback</a:t>
            </a:r>
          </a:p>
        </p:txBody>
      </p:sp>
      <p:sp>
        <p:nvSpPr>
          <p:cNvPr id="104452" name="TextBox 3">
            <a:extLst>
              <a:ext uri="{FF2B5EF4-FFF2-40B4-BE49-F238E27FC236}">
                <a16:creationId xmlns:a16="http://schemas.microsoft.com/office/drawing/2014/main" id="{859F39A5-44D6-E949-A945-54BD369D5453}"/>
              </a:ext>
            </a:extLst>
          </p:cNvPr>
          <p:cNvSpPr txBox="1">
            <a:spLocks noChangeArrowheads="1"/>
          </p:cNvSpPr>
          <p:nvPr/>
        </p:nvSpPr>
        <p:spPr bwMode="auto">
          <a:xfrm>
            <a:off x="152400" y="152400"/>
            <a:ext cx="2124075"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r>
              <a:rPr lang="en-US" altLang="en-US" sz="3200" dirty="0"/>
              <a:t>Example 2</a:t>
            </a:r>
          </a:p>
        </p:txBody>
      </p:sp>
    </p:spTree>
    <p:extLst>
      <p:ext uri="{BB962C8B-B14F-4D97-AF65-F5344CB8AC3E}">
        <p14:creationId xmlns:p14="http://schemas.microsoft.com/office/powerpoint/2010/main" val="328174403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6497" name="Content Placeholder 2">
            <a:extLst>
              <a:ext uri="{FF2B5EF4-FFF2-40B4-BE49-F238E27FC236}">
                <a16:creationId xmlns:a16="http://schemas.microsoft.com/office/drawing/2014/main" id="{811C544E-0479-0143-BE62-C5362B34BB80}"/>
              </a:ext>
            </a:extLst>
          </p:cNvPr>
          <p:cNvSpPr>
            <a:spLocks noGrp="1"/>
          </p:cNvSpPr>
          <p:nvPr>
            <p:ph idx="1"/>
          </p:nvPr>
        </p:nvSpPr>
        <p:spPr>
          <a:xfrm>
            <a:off x="457200" y="1311275"/>
            <a:ext cx="8229600" cy="3717925"/>
          </a:xfrm>
        </p:spPr>
        <p:txBody>
          <a:bodyPr/>
          <a:lstStyle/>
          <a:p>
            <a:pPr marL="0" indent="0" algn="ctr">
              <a:buFontTx/>
              <a:buNone/>
            </a:pPr>
            <a:r>
              <a:rPr lang="en-US" altLang="en-US" dirty="0">
                <a:latin typeface="Helvetica" pitchFamily="2" charset="0"/>
                <a:ea typeface="ＭＳ Ｐゴシック" panose="020B0600070205080204" pitchFamily="34" charset="-128"/>
                <a:sym typeface="Wingdings" pitchFamily="2" charset="2"/>
              </a:rPr>
              <a:t>Higher temperature </a:t>
            </a:r>
            <a:r>
              <a:rPr lang="en-US" altLang="en-US" dirty="0">
                <a:latin typeface="Wingdings" pitchFamily="2" charset="2"/>
                <a:ea typeface="ＭＳ Ｐゴシック" panose="020B0600070205080204" pitchFamily="34" charset="-128"/>
                <a:sym typeface="Wingdings" pitchFamily="2" charset="2"/>
              </a:rPr>
              <a:t></a:t>
            </a:r>
            <a:endParaRPr lang="en-US" altLang="en-US" dirty="0">
              <a:latin typeface="Helvetica" pitchFamily="2" charset="0"/>
              <a:ea typeface="ＭＳ Ｐゴシック" panose="020B0600070205080204" pitchFamily="34" charset="-128"/>
              <a:sym typeface="Wingdings" pitchFamily="2" charset="2"/>
            </a:endParaRPr>
          </a:p>
          <a:p>
            <a:pPr marL="0" indent="0" algn="ctr">
              <a:buFontTx/>
              <a:buNone/>
            </a:pPr>
            <a:r>
              <a:rPr lang="en-US" altLang="en-US" dirty="0">
                <a:latin typeface="Helvetica" pitchFamily="2" charset="0"/>
                <a:ea typeface="ＭＳ Ｐゴシック" panose="020B0600070205080204" pitchFamily="34" charset="-128"/>
                <a:sym typeface="Wingdings" pitchFamily="2" charset="2"/>
              </a:rPr>
              <a:t>Less polar ice </a:t>
            </a:r>
            <a:r>
              <a:rPr lang="en-US" altLang="en-US" dirty="0">
                <a:latin typeface="Wingdings" pitchFamily="2" charset="2"/>
                <a:ea typeface="ＭＳ Ｐゴシック" panose="020B0600070205080204" pitchFamily="34" charset="-128"/>
                <a:sym typeface="Wingdings" pitchFamily="2" charset="2"/>
              </a:rPr>
              <a:t></a:t>
            </a:r>
            <a:endParaRPr lang="en-US" altLang="en-US" dirty="0">
              <a:latin typeface="Helvetica" pitchFamily="2" charset="0"/>
              <a:ea typeface="ＭＳ Ｐゴシック" panose="020B0600070205080204" pitchFamily="34" charset="-128"/>
              <a:sym typeface="Wingdings" pitchFamily="2" charset="2"/>
            </a:endParaRPr>
          </a:p>
          <a:p>
            <a:pPr marL="0" indent="0" algn="ctr">
              <a:buFontTx/>
              <a:buNone/>
            </a:pPr>
            <a:r>
              <a:rPr lang="en-US" altLang="en-US" dirty="0">
                <a:latin typeface="Helvetica" pitchFamily="2" charset="0"/>
                <a:ea typeface="ＭＳ Ｐゴシック" panose="020B0600070205080204" pitchFamily="34" charset="-128"/>
                <a:sym typeface="Wingdings" pitchFamily="2" charset="2"/>
              </a:rPr>
              <a:t>Lower albedo (reflectivity of planet) </a:t>
            </a:r>
            <a:r>
              <a:rPr lang="en-US" altLang="en-US" dirty="0">
                <a:latin typeface="Wingdings" pitchFamily="2" charset="2"/>
                <a:ea typeface="ＭＳ Ｐゴシック" panose="020B0600070205080204" pitchFamily="34" charset="-128"/>
                <a:sym typeface="Wingdings" pitchFamily="2" charset="2"/>
              </a:rPr>
              <a:t></a:t>
            </a:r>
            <a:endParaRPr lang="en-US" altLang="en-US" dirty="0">
              <a:latin typeface="Helvetica" pitchFamily="2" charset="0"/>
              <a:ea typeface="ＭＳ Ｐゴシック" panose="020B0600070205080204" pitchFamily="34" charset="-128"/>
              <a:sym typeface="Wingdings" pitchFamily="2" charset="2"/>
            </a:endParaRPr>
          </a:p>
          <a:p>
            <a:pPr marL="0" indent="0" algn="ctr">
              <a:buFontTx/>
              <a:buNone/>
            </a:pPr>
            <a:r>
              <a:rPr lang="en-US" altLang="en-US" dirty="0">
                <a:latin typeface="Helvetica" pitchFamily="2" charset="0"/>
                <a:ea typeface="ＭＳ Ｐゴシック" panose="020B0600070205080204" pitchFamily="34" charset="-128"/>
                <a:sym typeface="Wingdings" pitchFamily="2" charset="2"/>
              </a:rPr>
              <a:t>More absorbed solar radiation </a:t>
            </a:r>
            <a:r>
              <a:rPr lang="en-US" altLang="en-US" dirty="0">
                <a:latin typeface="Wingdings" pitchFamily="2" charset="2"/>
                <a:ea typeface="ＭＳ Ｐゴシック" panose="020B0600070205080204" pitchFamily="34" charset="-128"/>
                <a:sym typeface="Wingdings" pitchFamily="2" charset="2"/>
              </a:rPr>
              <a:t></a:t>
            </a:r>
          </a:p>
          <a:p>
            <a:pPr marL="0" indent="0" algn="ctr">
              <a:buFontTx/>
              <a:buNone/>
            </a:pPr>
            <a:r>
              <a:rPr lang="en-US" altLang="en-US" dirty="0">
                <a:latin typeface="Helvetica" pitchFamily="2" charset="0"/>
                <a:ea typeface="ＭＳ Ｐゴシック" panose="020B0600070205080204" pitchFamily="34" charset="-128"/>
                <a:sym typeface="Wingdings" pitchFamily="2" charset="2"/>
              </a:rPr>
              <a:t>Higher temperature</a:t>
            </a:r>
          </a:p>
          <a:p>
            <a:pPr marL="0" indent="0" algn="ctr">
              <a:buFontTx/>
              <a:buNone/>
            </a:pPr>
            <a:r>
              <a:rPr lang="en-US" altLang="en-US" dirty="0">
                <a:latin typeface="Helvetica" pitchFamily="2" charset="0"/>
                <a:ea typeface="ＭＳ Ｐゴシック" panose="020B0600070205080204" pitchFamily="34" charset="-128"/>
                <a:sym typeface="Wingdings" pitchFamily="2" charset="2"/>
              </a:rPr>
              <a:t> </a:t>
            </a:r>
            <a:endParaRPr lang="en-US" altLang="en-US" dirty="0">
              <a:latin typeface="Helvetica" pitchFamily="2" charset="0"/>
              <a:ea typeface="ＭＳ Ｐゴシック" panose="020B0600070205080204" pitchFamily="34" charset="-128"/>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chemeClr val="accent1"/>
        </a:solidFill>
        <a:effectLst/>
      </p:bgPr>
    </p:bg>
    <p:spTree>
      <p:nvGrpSpPr>
        <p:cNvPr id="1" name=""/>
        <p:cNvGrpSpPr/>
        <p:nvPr/>
      </p:nvGrpSpPr>
      <p:grpSpPr>
        <a:xfrm>
          <a:off x="0" y="0"/>
          <a:ext cx="0" cy="0"/>
          <a:chOff x="0" y="0"/>
          <a:chExt cx="0" cy="0"/>
        </a:xfrm>
      </p:grpSpPr>
      <p:pic>
        <p:nvPicPr>
          <p:cNvPr id="107522" name="Picture 1" descr="Untitled2.png">
            <a:extLst>
              <a:ext uri="{FF2B5EF4-FFF2-40B4-BE49-F238E27FC236}">
                <a16:creationId xmlns:a16="http://schemas.microsoft.com/office/drawing/2014/main" id="{434758AB-2F21-0B42-A92E-9D095A042647}"/>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0" y="0"/>
            <a:ext cx="9144000"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Left-Right Arrow 2">
            <a:extLst>
              <a:ext uri="{FF2B5EF4-FFF2-40B4-BE49-F238E27FC236}">
                <a16:creationId xmlns:a16="http://schemas.microsoft.com/office/drawing/2014/main" id="{EA956C9D-A160-D148-85F7-D78A5D928ED5}"/>
              </a:ext>
            </a:extLst>
          </p:cNvPr>
          <p:cNvSpPr>
            <a:spLocks noChangeArrowheads="1"/>
          </p:cNvSpPr>
          <p:nvPr/>
        </p:nvSpPr>
        <p:spPr bwMode="auto">
          <a:xfrm rot="-1950577">
            <a:off x="3100388" y="4029075"/>
            <a:ext cx="3962400" cy="1066800"/>
          </a:xfrm>
          <a:prstGeom prst="leftRightArrow">
            <a:avLst>
              <a:gd name="adj1" fmla="val 50000"/>
              <a:gd name="adj2" fmla="val 50005"/>
            </a:avLst>
          </a:prstGeom>
          <a:solidFill>
            <a:srgbClr val="FF0000"/>
          </a:solidFill>
          <a:ln>
            <a:noFill/>
          </a:ln>
          <a:effectLst>
            <a:outerShdw blurRad="40000" dist="23000" dir="5400000" rotWithShape="0">
              <a:srgbClr val="808080">
                <a:alpha val="34999"/>
              </a:srgbClr>
            </a:outerShdw>
          </a:effectLst>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defRPr/>
            </a:pPr>
            <a:r>
              <a:rPr lang="en-US" dirty="0">
                <a:solidFill>
                  <a:srgbClr val="FFFFFF"/>
                </a:solidFill>
                <a:latin typeface="+mn-lt"/>
                <a:ea typeface="+mn-ea"/>
              </a:rPr>
              <a:t>The Glacial </a:t>
            </a:r>
            <a:r>
              <a:rPr lang="en-US" dirty="0" err="1">
                <a:solidFill>
                  <a:srgbClr val="FFFFFF"/>
                </a:solidFill>
                <a:latin typeface="+mn-lt"/>
                <a:ea typeface="+mn-ea"/>
              </a:rPr>
              <a:t>Buzzsaw</a:t>
            </a:r>
            <a:endParaRPr lang="en-US" dirty="0">
              <a:solidFill>
                <a:srgbClr val="FFFFFF"/>
              </a:solidFill>
              <a:latin typeface="+mn-lt"/>
              <a:ea typeface="+mn-ea"/>
            </a:endParaRPr>
          </a:p>
        </p:txBody>
      </p:sp>
      <p:sp>
        <p:nvSpPr>
          <p:cNvPr id="107524" name="TextBox 3">
            <a:extLst>
              <a:ext uri="{FF2B5EF4-FFF2-40B4-BE49-F238E27FC236}">
                <a16:creationId xmlns:a16="http://schemas.microsoft.com/office/drawing/2014/main" id="{1A0768B9-5C72-8340-B2C9-FE7A64C3554D}"/>
              </a:ext>
            </a:extLst>
          </p:cNvPr>
          <p:cNvSpPr txBox="1">
            <a:spLocks noChangeArrowheads="1"/>
          </p:cNvSpPr>
          <p:nvPr/>
        </p:nvSpPr>
        <p:spPr bwMode="auto">
          <a:xfrm>
            <a:off x="152400" y="152400"/>
            <a:ext cx="2124075"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r>
              <a:rPr lang="en-US" altLang="en-US" sz="3200" dirty="0"/>
              <a:t>Example 3</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9569" name="Title 1">
            <a:extLst>
              <a:ext uri="{FF2B5EF4-FFF2-40B4-BE49-F238E27FC236}">
                <a16:creationId xmlns:a16="http://schemas.microsoft.com/office/drawing/2014/main" id="{56AAC368-971A-864A-8ACF-55A2E8777D1D}"/>
              </a:ext>
            </a:extLst>
          </p:cNvPr>
          <p:cNvSpPr>
            <a:spLocks noGrp="1"/>
          </p:cNvSpPr>
          <p:nvPr>
            <p:ph type="title"/>
          </p:nvPr>
        </p:nvSpPr>
        <p:spPr/>
        <p:txBody>
          <a:bodyPr/>
          <a:lstStyle/>
          <a:p>
            <a:r>
              <a:rPr lang="en-US" altLang="en-US">
                <a:solidFill>
                  <a:srgbClr val="FF0000"/>
                </a:solidFill>
                <a:ea typeface="ＭＳ Ｐゴシック" panose="020B0600070205080204" pitchFamily="34" charset="-128"/>
              </a:rPr>
              <a:t>The Glacial Buzzsaw</a:t>
            </a:r>
          </a:p>
        </p:txBody>
      </p:sp>
      <p:sp>
        <p:nvSpPr>
          <p:cNvPr id="109570" name="Content Placeholder 2">
            <a:extLst>
              <a:ext uri="{FF2B5EF4-FFF2-40B4-BE49-F238E27FC236}">
                <a16:creationId xmlns:a16="http://schemas.microsoft.com/office/drawing/2014/main" id="{44FA027F-CFB5-6F49-ACA1-2857C7A20B6D}"/>
              </a:ext>
            </a:extLst>
          </p:cNvPr>
          <p:cNvSpPr>
            <a:spLocks noGrp="1"/>
          </p:cNvSpPr>
          <p:nvPr>
            <p:ph idx="1"/>
          </p:nvPr>
        </p:nvSpPr>
        <p:spPr/>
        <p:txBody>
          <a:bodyPr/>
          <a:lstStyle/>
          <a:p>
            <a:pPr marL="0" indent="0">
              <a:buFontTx/>
              <a:buNone/>
            </a:pPr>
            <a:r>
              <a:rPr lang="en-US" altLang="en-US" dirty="0">
                <a:ea typeface="ＭＳ Ｐゴシック" panose="020B0600070205080204" pitchFamily="34" charset="-128"/>
              </a:rPr>
              <a:t>Glaciers erode mountain peaks.</a:t>
            </a:r>
          </a:p>
          <a:p>
            <a:pPr marL="0" indent="0">
              <a:buFontTx/>
              <a:buNone/>
            </a:pPr>
            <a:endParaRPr lang="en-US" altLang="en-US" dirty="0">
              <a:ea typeface="ＭＳ Ｐゴシック" panose="020B0600070205080204" pitchFamily="34" charset="-128"/>
            </a:endParaRPr>
          </a:p>
          <a:p>
            <a:pPr marL="0" indent="0">
              <a:buFontTx/>
              <a:buNone/>
            </a:pPr>
            <a:r>
              <a:rPr lang="en-US" altLang="en-US" dirty="0">
                <a:ea typeface="ＭＳ Ｐゴシック" panose="020B0600070205080204" pitchFamily="34" charset="-128"/>
              </a:rPr>
              <a:t>Mountains undergoing active orogeny are inhibited from rising much above the elevation of permanent glaciation, leaving just glaciated peaks.</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0593" name="TextBox 3">
            <a:extLst>
              <a:ext uri="{FF2B5EF4-FFF2-40B4-BE49-F238E27FC236}">
                <a16:creationId xmlns:a16="http://schemas.microsoft.com/office/drawing/2014/main" id="{68295DC4-841B-654C-8B7B-5E47AFB0FCAC}"/>
              </a:ext>
            </a:extLst>
          </p:cNvPr>
          <p:cNvSpPr txBox="1">
            <a:spLocks noChangeArrowheads="1"/>
          </p:cNvSpPr>
          <p:nvPr/>
        </p:nvSpPr>
        <p:spPr bwMode="auto">
          <a:xfrm>
            <a:off x="3048000" y="152400"/>
            <a:ext cx="3070225"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r>
              <a:rPr lang="en-US" altLang="en-US">
                <a:solidFill>
                  <a:srgbClr val="000000"/>
                </a:solidFill>
              </a:rPr>
              <a:t>The Glacial Buzzsaw</a:t>
            </a:r>
          </a:p>
        </p:txBody>
      </p:sp>
      <p:pic>
        <p:nvPicPr>
          <p:cNvPr id="3" name="The glacial buzzsaw.mp4">
            <a:hlinkClick r:id="" action="ppaction://media"/>
            <a:extLst>
              <a:ext uri="{FF2B5EF4-FFF2-40B4-BE49-F238E27FC236}">
                <a16:creationId xmlns:a16="http://schemas.microsoft.com/office/drawing/2014/main" id="{4FDD0F12-8C9A-4943-94B4-77D447957EA6}"/>
              </a:ext>
            </a:extLst>
          </p:cNvPr>
          <p:cNvPicPr>
            <a:picLocks noChangeAspect="1"/>
          </p:cNvPicPr>
          <p:nvPr>
            <a:videoFile r:link="rId2"/>
            <p:extLst>
              <p:ext uri="{DAA4B4D4-6D71-4841-9C94-3DE7FCFB9230}">
                <p14:media xmlns:p14="http://schemas.microsoft.com/office/powerpoint/2010/main" r:embed="rId1"/>
              </p:ext>
            </p:extLst>
          </p:nvPr>
        </p:nvPicPr>
        <p:blipFill>
          <a:blip r:embed="rId4"/>
          <a:stretch>
            <a:fillRect/>
          </a:stretch>
        </p:blipFill>
        <p:spPr>
          <a:xfrm>
            <a:off x="0" y="857250"/>
            <a:ext cx="9144000" cy="514350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49922" fill="hold"/>
                                        <p:tgtEl>
                                          <p:spTgt spid="3"/>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3"/>
                </p:tgtEl>
              </p:cMediaNode>
            </p:video>
            <p:seq concurrent="1" nextAc="seek">
              <p:cTn id="8" restart="whenNotActive" fill="hold" evtFilter="cancelBubble" nodeType="interactiveSeq">
                <p:stCondLst>
                  <p:cond evt="onClick" delay="0">
                    <p:tgtEl>
                      <p:spTgt spid="3"/>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3"/>
                                        </p:tgtEl>
                                      </p:cBhvr>
                                    </p:cmd>
                                  </p:childTnLst>
                                </p:cTn>
                              </p:par>
                            </p:childTnLst>
                          </p:cTn>
                        </p:par>
                      </p:childTnLst>
                    </p:cTn>
                  </p:par>
                </p:childTnLst>
              </p:cTn>
              <p:nextCondLst>
                <p:cond evt="onClick" delay="0">
                  <p:tgtEl>
                    <p:spTgt spid="3"/>
                  </p:tgtEl>
                </p:cond>
              </p:nextCondLst>
            </p:seq>
          </p:childTnLst>
        </p:cTn>
      </p:par>
    </p:tnLst>
  </p:timing>
</p:sld>
</file>

<file path=ppt/slides/slide30.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grpSp>
        <p:nvGrpSpPr>
          <p:cNvPr id="111618" name="Group 47">
            <a:extLst>
              <a:ext uri="{FF2B5EF4-FFF2-40B4-BE49-F238E27FC236}">
                <a16:creationId xmlns:a16="http://schemas.microsoft.com/office/drawing/2014/main" id="{26540F8F-0DD8-784A-87F7-43D9F0F91DAE}"/>
              </a:ext>
            </a:extLst>
          </p:cNvPr>
          <p:cNvGrpSpPr>
            <a:grpSpLocks/>
          </p:cNvGrpSpPr>
          <p:nvPr/>
        </p:nvGrpSpPr>
        <p:grpSpPr bwMode="auto">
          <a:xfrm>
            <a:off x="76200" y="838200"/>
            <a:ext cx="9067800" cy="4419600"/>
            <a:chOff x="1525" y="597"/>
            <a:chExt cx="4070" cy="1727"/>
          </a:xfrm>
        </p:grpSpPr>
        <p:pic>
          <p:nvPicPr>
            <p:cNvPr id="111620" name="Picture 48" descr="broeker and denton, 1990">
              <a:extLst>
                <a:ext uri="{FF2B5EF4-FFF2-40B4-BE49-F238E27FC236}">
                  <a16:creationId xmlns:a16="http://schemas.microsoft.com/office/drawing/2014/main" id="{35563DC7-23AF-2C44-B3CA-82334E337F2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525" y="604"/>
              <a:ext cx="4070" cy="17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1621" name="Text Box 49">
              <a:extLst>
                <a:ext uri="{FF2B5EF4-FFF2-40B4-BE49-F238E27FC236}">
                  <a16:creationId xmlns:a16="http://schemas.microsoft.com/office/drawing/2014/main" id="{15010CBB-C965-D448-B6B8-C974F7AB8E55}"/>
                </a:ext>
              </a:extLst>
            </p:cNvPr>
            <p:cNvSpPr txBox="1">
              <a:spLocks noChangeArrowheads="1"/>
            </p:cNvSpPr>
            <p:nvPr/>
          </p:nvSpPr>
          <p:spPr bwMode="auto">
            <a:xfrm>
              <a:off x="4578" y="597"/>
              <a:ext cx="920" cy="1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lgn="ctr" eaLnBrk="1" hangingPunct="1"/>
              <a:r>
                <a:rPr lang="en-GB" altLang="en-US" sz="1000" i="1">
                  <a:solidFill>
                    <a:srgbClr val="000000"/>
                  </a:solidFill>
                </a:rPr>
                <a:t>Broecker and Denton,</a:t>
              </a:r>
              <a:r>
                <a:rPr lang="en-GB" altLang="en-US" sz="1000">
                  <a:solidFill>
                    <a:srgbClr val="000000"/>
                  </a:solidFill>
                </a:rPr>
                <a:t> 1990</a:t>
              </a:r>
            </a:p>
          </p:txBody>
        </p:sp>
      </p:grpSp>
      <p:sp>
        <p:nvSpPr>
          <p:cNvPr id="111619" name="Text Box 49">
            <a:extLst>
              <a:ext uri="{FF2B5EF4-FFF2-40B4-BE49-F238E27FC236}">
                <a16:creationId xmlns:a16="http://schemas.microsoft.com/office/drawing/2014/main" id="{28BCF229-B174-C947-B964-FA1ABD035728}"/>
              </a:ext>
            </a:extLst>
          </p:cNvPr>
          <p:cNvSpPr txBox="1">
            <a:spLocks noChangeArrowheads="1"/>
          </p:cNvSpPr>
          <p:nvPr/>
        </p:nvSpPr>
        <p:spPr bwMode="auto">
          <a:xfrm>
            <a:off x="7373938" y="6477000"/>
            <a:ext cx="1739900" cy="2460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lgn="ctr" eaLnBrk="1" hangingPunct="1"/>
            <a:r>
              <a:rPr lang="en-GB" altLang="en-US" sz="1000" i="1">
                <a:solidFill>
                  <a:srgbClr val="FFFFFF"/>
                </a:solidFill>
              </a:rPr>
              <a:t>Broecker and Denton,</a:t>
            </a:r>
            <a:r>
              <a:rPr lang="en-GB" altLang="en-US" sz="1000">
                <a:solidFill>
                  <a:srgbClr val="FFFFFF"/>
                </a:solidFill>
              </a:rPr>
              <a:t> 1990</a:t>
            </a:r>
          </a:p>
        </p:txBody>
      </p:sp>
    </p:spTree>
  </p:cSld>
  <p:clrMapOvr>
    <a:masterClrMapping/>
  </p:clrMapOvr>
  <p:transition/>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3665" name="Title 1">
            <a:extLst>
              <a:ext uri="{FF2B5EF4-FFF2-40B4-BE49-F238E27FC236}">
                <a16:creationId xmlns:a16="http://schemas.microsoft.com/office/drawing/2014/main" id="{F6F23E0D-7C32-3245-8546-590012280CC0}"/>
              </a:ext>
            </a:extLst>
          </p:cNvPr>
          <p:cNvSpPr>
            <a:spLocks noGrp="1"/>
          </p:cNvSpPr>
          <p:nvPr>
            <p:ph type="title"/>
          </p:nvPr>
        </p:nvSpPr>
        <p:spPr>
          <a:xfrm>
            <a:off x="228600" y="274638"/>
            <a:ext cx="8686800" cy="1143000"/>
          </a:xfrm>
        </p:spPr>
        <p:txBody>
          <a:bodyPr/>
          <a:lstStyle/>
          <a:p>
            <a:r>
              <a:rPr lang="en-US" altLang="en-US">
                <a:solidFill>
                  <a:srgbClr val="FF0000"/>
                </a:solidFill>
                <a:ea typeface="ＭＳ Ｐゴシック" panose="020B0600070205080204" pitchFamily="34" charset="-128"/>
              </a:rPr>
              <a:t>Limitation of the Glacial Buzzsaw</a:t>
            </a:r>
          </a:p>
        </p:txBody>
      </p:sp>
      <p:sp>
        <p:nvSpPr>
          <p:cNvPr id="113666" name="Content Placeholder 2">
            <a:extLst>
              <a:ext uri="{FF2B5EF4-FFF2-40B4-BE49-F238E27FC236}">
                <a16:creationId xmlns:a16="http://schemas.microsoft.com/office/drawing/2014/main" id="{744D0859-EB94-3348-A6E6-23B5461F28C1}"/>
              </a:ext>
            </a:extLst>
          </p:cNvPr>
          <p:cNvSpPr>
            <a:spLocks noGrp="1"/>
          </p:cNvSpPr>
          <p:nvPr>
            <p:ph idx="1"/>
          </p:nvPr>
        </p:nvSpPr>
        <p:spPr/>
        <p:txBody>
          <a:bodyPr/>
          <a:lstStyle/>
          <a:p>
            <a:pPr marL="0" indent="0">
              <a:buFontTx/>
              <a:buNone/>
            </a:pPr>
            <a:r>
              <a:rPr lang="en-US" altLang="en-US">
                <a:ea typeface="ＭＳ Ｐゴシック" panose="020B0600070205080204" pitchFamily="34" charset="-128"/>
              </a:rPr>
              <a:t>Glaciers that are frozen to the bedrock protect mountains from erosion more than they erode them (e.g., Patagonia, Antarctica, Alaska).</a:t>
            </a:r>
          </a:p>
          <a:p>
            <a:pPr marL="0" indent="0">
              <a:buFontTx/>
              <a:buNone/>
            </a:pPr>
            <a:endParaRPr lang="en-US" altLang="en-US">
              <a:ea typeface="ＭＳ Ｐゴシック" panose="020B0600070205080204" pitchFamily="34" charset="-128"/>
            </a:endParaRPr>
          </a:p>
          <a:p>
            <a:pPr marL="0" indent="0">
              <a:buFontTx/>
              <a:buNone/>
            </a:pPr>
            <a:r>
              <a:rPr lang="en-US" altLang="en-US">
                <a:latin typeface="Wingdings" pitchFamily="2" charset="2"/>
                <a:ea typeface="ＭＳ Ｐゴシック" panose="020B0600070205080204" pitchFamily="34" charset="-128"/>
                <a:sym typeface="Wingdings" pitchFamily="2" charset="2"/>
              </a:rPr>
              <a:t> </a:t>
            </a:r>
            <a:r>
              <a:rPr lang="en-US" altLang="en-US">
                <a:ea typeface="ＭＳ Ｐゴシック" panose="020B0600070205080204" pitchFamily="34" charset="-128"/>
                <a:sym typeface="Wingdings" pitchFamily="2" charset="2"/>
              </a:rPr>
              <a:t>Why glacial buzzsaw relationship breaks down at higher latitudes </a:t>
            </a:r>
            <a:endParaRPr lang="en-US" altLang="en-US">
              <a:ea typeface="ＭＳ Ｐゴシック" panose="020B0600070205080204" pitchFamily="34" charset="-128"/>
            </a:endParaRPr>
          </a:p>
          <a:p>
            <a:pPr marL="0" indent="0">
              <a:buFontTx/>
              <a:buNone/>
            </a:pPr>
            <a:endParaRPr lang="en-US" altLang="en-US">
              <a:ea typeface="ＭＳ Ｐゴシック" panose="020B0600070205080204" pitchFamily="34" charset="-128"/>
            </a:endParaRPr>
          </a:p>
          <a:p>
            <a:pPr marL="0" indent="0">
              <a:buFontTx/>
              <a:buNone/>
            </a:pPr>
            <a:endParaRPr lang="en-US" altLang="en-US">
              <a:ea typeface="ＭＳ Ｐゴシック" panose="020B0600070205080204" pitchFamily="34" charset="-128"/>
            </a:endParaRPr>
          </a:p>
          <a:p>
            <a:pPr marL="0" indent="0">
              <a:buFontTx/>
              <a:buNone/>
            </a:pPr>
            <a:endParaRPr lang="en-US" altLang="en-US">
              <a:ea typeface="ＭＳ Ｐゴシック" panose="020B0600070205080204" pitchFamily="34" charset="-128"/>
            </a:endParaRPr>
          </a:p>
          <a:p>
            <a:pPr marL="0" indent="0">
              <a:buFontTx/>
              <a:buNone/>
            </a:pPr>
            <a:endParaRPr lang="en-US" altLang="en-US">
              <a:ea typeface="ＭＳ Ｐゴシック" panose="020B0600070205080204" pitchFamily="34" charset="-128"/>
            </a:endParaRPr>
          </a:p>
          <a:p>
            <a:pPr marL="0" indent="0" algn="r">
              <a:buFontTx/>
              <a:buNone/>
            </a:pPr>
            <a:endParaRPr lang="en-US" altLang="en-US">
              <a:ea typeface="ＭＳ Ｐゴシック" panose="020B0600070205080204" pitchFamily="34" charset="-128"/>
            </a:endParaRPr>
          </a:p>
          <a:p>
            <a:pPr marL="0" indent="0" algn="r">
              <a:buFontTx/>
              <a:buNone/>
            </a:pPr>
            <a:r>
              <a:rPr lang="en-US" altLang="en-US" sz="2400">
                <a:ea typeface="ＭＳ Ｐゴシック" panose="020B0600070205080204" pitchFamily="34" charset="-128"/>
              </a:rPr>
              <a:t>(Thomson et al. 2010, </a:t>
            </a:r>
            <a:r>
              <a:rPr lang="fr-FR" altLang="en-US" sz="2400">
                <a:ea typeface="ＭＳ Ｐゴシック" panose="020B0600070205080204" pitchFamily="34" charset="-128"/>
              </a:rPr>
              <a:t>doi:10.1038/nature09365)</a:t>
            </a:r>
            <a:endParaRPr lang="en-US" altLang="en-US" sz="2400">
              <a:ea typeface="ＭＳ Ｐゴシック" panose="020B0600070205080204" pitchFamily="34" charset="-128"/>
            </a:endParaRP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bg>
      <p:bgPr>
        <a:solidFill>
          <a:schemeClr val="accent1"/>
        </a:solidFill>
        <a:effectLst/>
      </p:bgPr>
    </p:bg>
    <p:spTree>
      <p:nvGrpSpPr>
        <p:cNvPr id="1" name=""/>
        <p:cNvGrpSpPr/>
        <p:nvPr/>
      </p:nvGrpSpPr>
      <p:grpSpPr>
        <a:xfrm>
          <a:off x="0" y="0"/>
          <a:ext cx="0" cy="0"/>
          <a:chOff x="0" y="0"/>
          <a:chExt cx="0" cy="0"/>
        </a:xfrm>
      </p:grpSpPr>
      <p:pic>
        <p:nvPicPr>
          <p:cNvPr id="114690" name="Picture 1" descr="Untitled2.png">
            <a:extLst>
              <a:ext uri="{FF2B5EF4-FFF2-40B4-BE49-F238E27FC236}">
                <a16:creationId xmlns:a16="http://schemas.microsoft.com/office/drawing/2014/main" id="{8E40D71E-AA64-8347-A837-2FB8C845E2FD}"/>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0" y="0"/>
            <a:ext cx="9144000"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 name="Left-Right Arrow 3">
            <a:extLst>
              <a:ext uri="{FF2B5EF4-FFF2-40B4-BE49-F238E27FC236}">
                <a16:creationId xmlns:a16="http://schemas.microsoft.com/office/drawing/2014/main" id="{7C5237C1-858E-064D-A2CC-5B4A1B1F87BF}"/>
              </a:ext>
            </a:extLst>
          </p:cNvPr>
          <p:cNvSpPr>
            <a:spLocks noChangeArrowheads="1"/>
          </p:cNvSpPr>
          <p:nvPr/>
        </p:nvSpPr>
        <p:spPr bwMode="auto">
          <a:xfrm rot="6208901">
            <a:off x="1895475" y="2889250"/>
            <a:ext cx="3962400" cy="1066800"/>
          </a:xfrm>
          <a:prstGeom prst="leftRightArrow">
            <a:avLst>
              <a:gd name="adj1" fmla="val 50000"/>
              <a:gd name="adj2" fmla="val 50005"/>
            </a:avLst>
          </a:prstGeom>
          <a:solidFill>
            <a:srgbClr val="FF0000"/>
          </a:solidFill>
          <a:ln>
            <a:noFill/>
          </a:ln>
          <a:effectLst>
            <a:outerShdw blurRad="40000" dist="23000" dir="5400000" rotWithShape="0">
              <a:srgbClr val="808080">
                <a:alpha val="34999"/>
              </a:srgbClr>
            </a:outerShdw>
          </a:effectLst>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defRPr/>
            </a:pPr>
            <a:endParaRPr lang="en-US" dirty="0">
              <a:solidFill>
                <a:srgbClr val="FFFFFF"/>
              </a:solidFill>
              <a:latin typeface="+mn-lt"/>
              <a:ea typeface="+mn-ea"/>
            </a:endParaRPr>
          </a:p>
        </p:txBody>
      </p:sp>
      <p:sp>
        <p:nvSpPr>
          <p:cNvPr id="5" name="Left-Right Arrow 4">
            <a:extLst>
              <a:ext uri="{FF2B5EF4-FFF2-40B4-BE49-F238E27FC236}">
                <a16:creationId xmlns:a16="http://schemas.microsoft.com/office/drawing/2014/main" id="{FE4B9F49-5C76-E54C-84A7-1CF5B13E16FD}"/>
              </a:ext>
            </a:extLst>
          </p:cNvPr>
          <p:cNvSpPr>
            <a:spLocks noChangeArrowheads="1"/>
          </p:cNvSpPr>
          <p:nvPr/>
        </p:nvSpPr>
        <p:spPr bwMode="auto">
          <a:xfrm rot="3241991">
            <a:off x="4920456" y="1756569"/>
            <a:ext cx="2249488" cy="1066800"/>
          </a:xfrm>
          <a:prstGeom prst="leftRightArrow">
            <a:avLst>
              <a:gd name="adj1" fmla="val 50000"/>
              <a:gd name="adj2" fmla="val 50002"/>
            </a:avLst>
          </a:prstGeom>
          <a:solidFill>
            <a:srgbClr val="FF0000"/>
          </a:solidFill>
          <a:ln>
            <a:noFill/>
          </a:ln>
          <a:effectLst>
            <a:outerShdw blurRad="40000" dist="23000" dir="5400000" rotWithShape="0">
              <a:srgbClr val="808080">
                <a:alpha val="34999"/>
              </a:srgbClr>
            </a:outerShdw>
          </a:effectLst>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defRPr/>
            </a:pPr>
            <a:endParaRPr lang="en-US" dirty="0">
              <a:solidFill>
                <a:srgbClr val="FFFFFF"/>
              </a:solidFill>
              <a:latin typeface="+mn-lt"/>
              <a:ea typeface="+mn-ea"/>
            </a:endParaRPr>
          </a:p>
        </p:txBody>
      </p:sp>
      <p:sp>
        <p:nvSpPr>
          <p:cNvPr id="114693" name="TextBox 5">
            <a:extLst>
              <a:ext uri="{FF2B5EF4-FFF2-40B4-BE49-F238E27FC236}">
                <a16:creationId xmlns:a16="http://schemas.microsoft.com/office/drawing/2014/main" id="{064D240B-CED9-E842-99B2-D81E0B1C958E}"/>
              </a:ext>
            </a:extLst>
          </p:cNvPr>
          <p:cNvSpPr txBox="1">
            <a:spLocks noChangeArrowheads="1"/>
          </p:cNvSpPr>
          <p:nvPr/>
        </p:nvSpPr>
        <p:spPr bwMode="auto">
          <a:xfrm>
            <a:off x="152400" y="152400"/>
            <a:ext cx="2124075"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r>
              <a:rPr lang="en-US" altLang="en-US" sz="3200" dirty="0"/>
              <a:t>Example 4</a:t>
            </a: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6737" name="Title 1">
            <a:extLst>
              <a:ext uri="{FF2B5EF4-FFF2-40B4-BE49-F238E27FC236}">
                <a16:creationId xmlns:a16="http://schemas.microsoft.com/office/drawing/2014/main" id="{AC0CB974-32E7-9940-A8B9-581468BAD8C5}"/>
              </a:ext>
            </a:extLst>
          </p:cNvPr>
          <p:cNvSpPr>
            <a:spLocks noGrp="1"/>
          </p:cNvSpPr>
          <p:nvPr>
            <p:ph type="title"/>
          </p:nvPr>
        </p:nvSpPr>
        <p:spPr>
          <a:xfrm>
            <a:off x="381000" y="2438400"/>
            <a:ext cx="8229600" cy="1143000"/>
          </a:xfrm>
        </p:spPr>
        <p:txBody>
          <a:bodyPr/>
          <a:lstStyle/>
          <a:p>
            <a:r>
              <a:rPr lang="en-US" altLang="en-US" sz="3200" dirty="0">
                <a:solidFill>
                  <a:schemeClr val="tx1"/>
                </a:solidFill>
                <a:ea typeface="ＭＳ Ｐゴシック" panose="020B0600070205080204" pitchFamily="34" charset="-128"/>
              </a:rPr>
              <a:t>The break-up of the supercontinent </a:t>
            </a:r>
            <a:r>
              <a:rPr lang="en-US" altLang="en-US" sz="3200" dirty="0" err="1">
                <a:solidFill>
                  <a:schemeClr val="tx1"/>
                </a:solidFill>
                <a:ea typeface="ＭＳ Ｐゴシック" panose="020B0600070205080204" pitchFamily="34" charset="-128"/>
              </a:rPr>
              <a:t>Rodinia</a:t>
            </a:r>
            <a:r>
              <a:rPr lang="en-US" altLang="en-US" sz="3200" dirty="0">
                <a:solidFill>
                  <a:schemeClr val="tx1"/>
                </a:solidFill>
                <a:ea typeface="ＭＳ Ｐゴシック" panose="020B0600070205080204" pitchFamily="34" charset="-128"/>
              </a:rPr>
              <a:t> at 750 Ma led to an increase in weathering and runoff, reducing the amount of carbon dioxide in the atmosphere, leading to the </a:t>
            </a:r>
            <a:r>
              <a:rPr lang="en-US" altLang="en-US" sz="3200" dirty="0" err="1">
                <a:solidFill>
                  <a:schemeClr val="tx1"/>
                </a:solidFill>
                <a:ea typeface="ＭＳ Ｐゴシック" panose="020B0600070205080204" pitchFamily="34" charset="-128"/>
              </a:rPr>
              <a:t>Sturtian</a:t>
            </a:r>
            <a:r>
              <a:rPr lang="en-US" altLang="en-US" sz="3200" dirty="0">
                <a:solidFill>
                  <a:schemeClr val="tx1"/>
                </a:solidFill>
                <a:ea typeface="ＭＳ Ｐゴシック" panose="020B0600070205080204" pitchFamily="34" charset="-128"/>
              </a:rPr>
              <a:t> Snowball Earth….</a:t>
            </a:r>
            <a:br>
              <a:rPr lang="en-US" altLang="en-US" sz="3200" dirty="0">
                <a:solidFill>
                  <a:schemeClr val="tx1"/>
                </a:solidFill>
                <a:ea typeface="ＭＳ Ｐゴシック" panose="020B0600070205080204" pitchFamily="34" charset="-128"/>
              </a:rPr>
            </a:br>
            <a:r>
              <a:rPr lang="en-US" altLang="en-US" sz="3200" dirty="0">
                <a:solidFill>
                  <a:schemeClr val="tx1"/>
                </a:solidFill>
                <a:ea typeface="ＭＳ Ｐゴシック" panose="020B0600070205080204" pitchFamily="34" charset="-128"/>
              </a:rPr>
              <a:t>but </a:t>
            </a:r>
            <a:r>
              <a:rPr lang="en-US" altLang="en-US" sz="3200" dirty="0">
                <a:solidFill>
                  <a:srgbClr val="FF0000"/>
                </a:solidFill>
                <a:ea typeface="ＭＳ Ｐゴシック" panose="020B0600070205080204" pitchFamily="34" charset="-128"/>
              </a:rPr>
              <a:t>only</a:t>
            </a:r>
            <a:r>
              <a:rPr lang="en-US" altLang="en-US" sz="3200" dirty="0">
                <a:solidFill>
                  <a:schemeClr val="tx1"/>
                </a:solidFill>
                <a:ea typeface="ＭＳ Ｐゴシック" panose="020B0600070205080204" pitchFamily="34" charset="-128"/>
              </a:rPr>
              <a:t> because there was a flood basalt in the tropics.</a:t>
            </a: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6737" name="Title 1">
            <a:extLst>
              <a:ext uri="{FF2B5EF4-FFF2-40B4-BE49-F238E27FC236}">
                <a16:creationId xmlns:a16="http://schemas.microsoft.com/office/drawing/2014/main" id="{AC0CB974-32E7-9940-A8B9-581468BAD8C5}"/>
              </a:ext>
            </a:extLst>
          </p:cNvPr>
          <p:cNvSpPr>
            <a:spLocks noGrp="1"/>
          </p:cNvSpPr>
          <p:nvPr>
            <p:ph type="title"/>
          </p:nvPr>
        </p:nvSpPr>
        <p:spPr>
          <a:xfrm>
            <a:off x="685800" y="1676400"/>
            <a:ext cx="7848600" cy="2667000"/>
          </a:xfrm>
        </p:spPr>
        <p:txBody>
          <a:bodyPr/>
          <a:lstStyle/>
          <a:p>
            <a:pPr algn="l"/>
            <a:r>
              <a:rPr lang="en-US" altLang="en-US" sz="3200" dirty="0">
                <a:solidFill>
                  <a:schemeClr val="tx1"/>
                </a:solidFill>
                <a:ea typeface="ＭＳ Ｐゴシック" panose="020B0600070205080204" pitchFamily="34" charset="-128"/>
              </a:rPr>
              <a:t>Method: </a:t>
            </a:r>
            <a:br>
              <a:rPr lang="en-US" altLang="en-US" sz="3200" dirty="0">
                <a:solidFill>
                  <a:schemeClr val="tx1"/>
                </a:solidFill>
                <a:ea typeface="ＭＳ Ｐゴシック" panose="020B0600070205080204" pitchFamily="34" charset="-128"/>
              </a:rPr>
            </a:br>
            <a:br>
              <a:rPr lang="en-US" altLang="en-US" sz="3200" dirty="0">
                <a:solidFill>
                  <a:schemeClr val="tx1"/>
                </a:solidFill>
                <a:ea typeface="ＭＳ Ｐゴシック" panose="020B0600070205080204" pitchFamily="34" charset="-128"/>
              </a:rPr>
            </a:br>
            <a:r>
              <a:rPr lang="en-US" altLang="en-US" sz="3200" dirty="0">
                <a:solidFill>
                  <a:schemeClr val="tx1"/>
                </a:solidFill>
                <a:ea typeface="ＭＳ Ｐゴシック" panose="020B0600070205080204" pitchFamily="34" charset="-128"/>
              </a:rPr>
              <a:t>Coupled climate–geochemical model GEOCLIM</a:t>
            </a:r>
            <a:br>
              <a:rPr lang="en-US" altLang="en-US" sz="3200" dirty="0">
                <a:solidFill>
                  <a:schemeClr val="tx1"/>
                </a:solidFill>
                <a:ea typeface="ＭＳ Ｐゴシック" panose="020B0600070205080204" pitchFamily="34" charset="-128"/>
              </a:rPr>
            </a:br>
            <a:br>
              <a:rPr lang="en-US" altLang="en-US" sz="3200" dirty="0">
                <a:solidFill>
                  <a:schemeClr val="tx1"/>
                </a:solidFill>
                <a:ea typeface="ＭＳ Ｐゴシック" panose="020B0600070205080204" pitchFamily="34" charset="-128"/>
              </a:rPr>
            </a:br>
            <a:r>
              <a:rPr lang="en-US" altLang="en-US" sz="2000" dirty="0">
                <a:solidFill>
                  <a:schemeClr val="tx1"/>
                </a:solidFill>
                <a:ea typeface="ＭＳ Ｐゴシック" panose="020B0600070205080204" pitchFamily="34" charset="-128"/>
              </a:rPr>
              <a:t>(essentially, FOAM + long-term global carbon-cycle model)</a:t>
            </a:r>
            <a:endParaRPr lang="en-US" altLang="en-US" sz="3200" dirty="0">
              <a:solidFill>
                <a:schemeClr val="tx1"/>
              </a:solidFill>
              <a:ea typeface="ＭＳ Ｐゴシック" panose="020B0600070205080204" pitchFamily="34" charset="-128"/>
            </a:endParaRPr>
          </a:p>
        </p:txBody>
      </p:sp>
    </p:spTree>
    <p:extLst>
      <p:ext uri="{BB962C8B-B14F-4D97-AF65-F5344CB8AC3E}">
        <p14:creationId xmlns:p14="http://schemas.microsoft.com/office/powerpoint/2010/main" val="64290980"/>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7761" name="Picture 3" descr="Screen Shot 2016-11-07 at 1.29.18 PM.png">
            <a:extLst>
              <a:ext uri="{FF2B5EF4-FFF2-40B4-BE49-F238E27FC236}">
                <a16:creationId xmlns:a16="http://schemas.microsoft.com/office/drawing/2014/main" id="{19154D36-869B-714E-B0D0-D6743427AE0F}"/>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42863" y="0"/>
            <a:ext cx="6048375"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7762" name="TextBox 4">
            <a:extLst>
              <a:ext uri="{FF2B5EF4-FFF2-40B4-BE49-F238E27FC236}">
                <a16:creationId xmlns:a16="http://schemas.microsoft.com/office/drawing/2014/main" id="{8279CBEC-C71A-3E4E-B749-DFA98DE664CC}"/>
              </a:ext>
            </a:extLst>
          </p:cNvPr>
          <p:cNvSpPr txBox="1">
            <a:spLocks noChangeArrowheads="1"/>
          </p:cNvSpPr>
          <p:nvPr/>
        </p:nvSpPr>
        <p:spPr bwMode="auto">
          <a:xfrm>
            <a:off x="6553200" y="838200"/>
            <a:ext cx="2262188" cy="830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lgn="ctr" eaLnBrk="1" hangingPunct="1"/>
            <a:r>
              <a:rPr lang="en-US" altLang="en-US"/>
              <a:t>Supercontinent</a:t>
            </a:r>
          </a:p>
          <a:p>
            <a:pPr algn="ctr" eaLnBrk="1" hangingPunct="1"/>
            <a:r>
              <a:rPr lang="en-US" altLang="en-US"/>
              <a:t>Configuration</a:t>
            </a:r>
          </a:p>
        </p:txBody>
      </p:sp>
      <p:sp>
        <p:nvSpPr>
          <p:cNvPr id="117763" name="TextBox 5">
            <a:extLst>
              <a:ext uri="{FF2B5EF4-FFF2-40B4-BE49-F238E27FC236}">
                <a16:creationId xmlns:a16="http://schemas.microsoft.com/office/drawing/2014/main" id="{6DB9B90C-EB91-F842-BAED-872D84AFD2F4}"/>
              </a:ext>
            </a:extLst>
          </p:cNvPr>
          <p:cNvSpPr txBox="1">
            <a:spLocks noChangeArrowheads="1"/>
          </p:cNvSpPr>
          <p:nvPr/>
        </p:nvSpPr>
        <p:spPr bwMode="auto">
          <a:xfrm>
            <a:off x="6677025" y="4343400"/>
            <a:ext cx="2014538" cy="830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lgn="ctr" eaLnBrk="1" hangingPunct="1"/>
            <a:r>
              <a:rPr lang="en-US" altLang="en-US"/>
              <a:t>Dispersed</a:t>
            </a:r>
          </a:p>
          <a:p>
            <a:pPr algn="ctr" eaLnBrk="1" hangingPunct="1"/>
            <a:r>
              <a:rPr lang="en-US" altLang="en-US"/>
              <a:t>Configuration</a:t>
            </a:r>
          </a:p>
        </p:txBody>
      </p:sp>
      <p:sp>
        <p:nvSpPr>
          <p:cNvPr id="117764" name="TextBox 7">
            <a:extLst>
              <a:ext uri="{FF2B5EF4-FFF2-40B4-BE49-F238E27FC236}">
                <a16:creationId xmlns:a16="http://schemas.microsoft.com/office/drawing/2014/main" id="{BEDD437C-A02D-F74A-9A31-4AB6F58708AB}"/>
              </a:ext>
            </a:extLst>
          </p:cNvPr>
          <p:cNvSpPr txBox="1">
            <a:spLocks noChangeArrowheads="1"/>
          </p:cNvSpPr>
          <p:nvPr/>
        </p:nvSpPr>
        <p:spPr bwMode="auto">
          <a:xfrm>
            <a:off x="5257800" y="0"/>
            <a:ext cx="1665288"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r>
              <a:rPr lang="en-US" altLang="en-US" sz="1400"/>
              <a:t>Weathering rates</a:t>
            </a:r>
          </a:p>
          <a:p>
            <a:pPr eaLnBrk="1" hangingPunct="1"/>
            <a:r>
              <a:rPr lang="en-US" altLang="en-US" sz="1400"/>
              <a:t>(10</a:t>
            </a:r>
            <a:r>
              <a:rPr lang="en-US" altLang="en-US" sz="1400" baseline="30000"/>
              <a:t>4</a:t>
            </a:r>
            <a:r>
              <a:rPr lang="en-US" altLang="en-US" sz="1400"/>
              <a:t> mol km</a:t>
            </a:r>
            <a:r>
              <a:rPr lang="en-US" altLang="en-US" sz="1400" baseline="30000"/>
              <a:t>–2</a:t>
            </a:r>
            <a:r>
              <a:rPr lang="en-US" altLang="en-US" sz="1400"/>
              <a:t> yr</a:t>
            </a:r>
            <a:r>
              <a:rPr lang="en-US" altLang="en-US" sz="1400" baseline="30000"/>
              <a:t>–1</a:t>
            </a:r>
            <a:r>
              <a:rPr lang="en-US" altLang="en-US" sz="1400"/>
              <a:t>) </a:t>
            </a:r>
          </a:p>
        </p:txBody>
      </p:sp>
      <p:sp>
        <p:nvSpPr>
          <p:cNvPr id="117765" name="TextBox 13">
            <a:extLst>
              <a:ext uri="{FF2B5EF4-FFF2-40B4-BE49-F238E27FC236}">
                <a16:creationId xmlns:a16="http://schemas.microsoft.com/office/drawing/2014/main" id="{58BC5FC6-3F4F-0A45-99E5-8B7E286D3901}"/>
              </a:ext>
            </a:extLst>
          </p:cNvPr>
          <p:cNvSpPr txBox="1">
            <a:spLocks noChangeArrowheads="1"/>
          </p:cNvSpPr>
          <p:nvPr/>
        </p:nvSpPr>
        <p:spPr bwMode="auto">
          <a:xfrm>
            <a:off x="0" y="6581775"/>
            <a:ext cx="2339975" cy="276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r>
              <a:rPr lang="en-US" altLang="en-US" sz="1200"/>
              <a:t>(Donnadieu et al. 2004, </a:t>
            </a:r>
            <a:r>
              <a:rPr lang="en-US" altLang="en-US" sz="1200" i="1"/>
              <a:t>Nature</a:t>
            </a:r>
            <a:r>
              <a:rPr lang="en-US" altLang="en-US" sz="1200"/>
              <a:t>)</a:t>
            </a:r>
          </a:p>
        </p:txBody>
      </p:sp>
      <p:sp>
        <p:nvSpPr>
          <p:cNvPr id="16" name="TextBox 15">
            <a:extLst>
              <a:ext uri="{FF2B5EF4-FFF2-40B4-BE49-F238E27FC236}">
                <a16:creationId xmlns:a16="http://schemas.microsoft.com/office/drawing/2014/main" id="{6C82FE63-52CE-1743-BF53-C73EC8D9792F}"/>
              </a:ext>
            </a:extLst>
          </p:cNvPr>
          <p:cNvSpPr txBox="1"/>
          <p:nvPr/>
        </p:nvSpPr>
        <p:spPr>
          <a:xfrm>
            <a:off x="925513" y="457200"/>
            <a:ext cx="4133850" cy="400050"/>
          </a:xfrm>
          <a:prstGeom prst="rect">
            <a:avLst/>
          </a:prstGeom>
          <a:noFill/>
        </p:spPr>
        <p:txBody>
          <a:bodyPr wrap="none">
            <a:spAutoFit/>
          </a:bodyPr>
          <a:lstStyle/>
          <a:p>
            <a:pPr algn="ctr">
              <a:defRPr/>
            </a:pPr>
            <a:r>
              <a:rPr lang="en-US" sz="2000" dirty="0">
                <a:solidFill>
                  <a:schemeClr val="bg1">
                    <a:lumMod val="25000"/>
                  </a:schemeClr>
                </a:solidFill>
                <a:latin typeface="Arial" charset="0"/>
                <a:ea typeface="ＭＳ Ｐゴシック" charset="0"/>
                <a:cs typeface="ＭＳ Ｐゴシック" charset="0"/>
              </a:rPr>
              <a:t>lots of tropical and subtropical land</a:t>
            </a:r>
          </a:p>
        </p:txBody>
      </p:sp>
      <p:sp>
        <p:nvSpPr>
          <p:cNvPr id="117767" name="TextBox 1">
            <a:extLst>
              <a:ext uri="{FF2B5EF4-FFF2-40B4-BE49-F238E27FC236}">
                <a16:creationId xmlns:a16="http://schemas.microsoft.com/office/drawing/2014/main" id="{80BC3EE3-0566-6245-A610-31117AC2AD4B}"/>
              </a:ext>
            </a:extLst>
          </p:cNvPr>
          <p:cNvSpPr txBox="1">
            <a:spLocks noChangeArrowheads="1"/>
          </p:cNvSpPr>
          <p:nvPr/>
        </p:nvSpPr>
        <p:spPr bwMode="auto">
          <a:xfrm>
            <a:off x="6477000" y="2743200"/>
            <a:ext cx="2287588" cy="830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lgn="ctr" eaLnBrk="1" hangingPunct="1"/>
            <a:r>
              <a:rPr lang="en-US" altLang="en-US">
                <a:solidFill>
                  <a:srgbClr val="FF0000"/>
                </a:solidFill>
              </a:rPr>
              <a:t>CONTROLLED</a:t>
            </a:r>
          </a:p>
          <a:p>
            <a:pPr algn="ctr" eaLnBrk="1" hangingPunct="1"/>
            <a:r>
              <a:rPr lang="en-US" altLang="en-US">
                <a:solidFill>
                  <a:srgbClr val="FF0000"/>
                </a:solidFill>
              </a:rPr>
              <a:t>EXPERIMENT</a:t>
            </a: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8785" name="Picture 3" descr="Screen Shot 2016-11-07 at 1.29.18 PM.png">
            <a:extLst>
              <a:ext uri="{FF2B5EF4-FFF2-40B4-BE49-F238E27FC236}">
                <a16:creationId xmlns:a16="http://schemas.microsoft.com/office/drawing/2014/main" id="{99265E16-2CEE-A941-A306-0514D37F9864}"/>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42863" y="0"/>
            <a:ext cx="6048375"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8786" name="TextBox 4">
            <a:extLst>
              <a:ext uri="{FF2B5EF4-FFF2-40B4-BE49-F238E27FC236}">
                <a16:creationId xmlns:a16="http://schemas.microsoft.com/office/drawing/2014/main" id="{0E4B4C7F-7357-D848-96F8-DD344D669979}"/>
              </a:ext>
            </a:extLst>
          </p:cNvPr>
          <p:cNvSpPr txBox="1">
            <a:spLocks noChangeArrowheads="1"/>
          </p:cNvSpPr>
          <p:nvPr/>
        </p:nvSpPr>
        <p:spPr bwMode="auto">
          <a:xfrm>
            <a:off x="6553200" y="838200"/>
            <a:ext cx="2262188" cy="830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lgn="ctr" eaLnBrk="1" hangingPunct="1"/>
            <a:r>
              <a:rPr lang="en-US" altLang="en-US"/>
              <a:t>Supercontinent</a:t>
            </a:r>
          </a:p>
          <a:p>
            <a:pPr algn="ctr" eaLnBrk="1" hangingPunct="1"/>
            <a:r>
              <a:rPr lang="en-US" altLang="en-US"/>
              <a:t>Configuration</a:t>
            </a:r>
          </a:p>
        </p:txBody>
      </p:sp>
      <p:sp>
        <p:nvSpPr>
          <p:cNvPr id="118787" name="TextBox 5">
            <a:extLst>
              <a:ext uri="{FF2B5EF4-FFF2-40B4-BE49-F238E27FC236}">
                <a16:creationId xmlns:a16="http://schemas.microsoft.com/office/drawing/2014/main" id="{A8DC6FD6-72F2-3444-AB24-B99BE472CAE1}"/>
              </a:ext>
            </a:extLst>
          </p:cNvPr>
          <p:cNvSpPr txBox="1">
            <a:spLocks noChangeArrowheads="1"/>
          </p:cNvSpPr>
          <p:nvPr/>
        </p:nvSpPr>
        <p:spPr bwMode="auto">
          <a:xfrm>
            <a:off x="6677025" y="4343400"/>
            <a:ext cx="2014538" cy="830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lgn="ctr" eaLnBrk="1" hangingPunct="1"/>
            <a:r>
              <a:rPr lang="en-US" altLang="en-US"/>
              <a:t>Dispersed</a:t>
            </a:r>
          </a:p>
          <a:p>
            <a:pPr algn="ctr" eaLnBrk="1" hangingPunct="1"/>
            <a:r>
              <a:rPr lang="en-US" altLang="en-US"/>
              <a:t>Configuration</a:t>
            </a:r>
          </a:p>
        </p:txBody>
      </p:sp>
      <p:sp>
        <p:nvSpPr>
          <p:cNvPr id="118788" name="TextBox 7">
            <a:extLst>
              <a:ext uri="{FF2B5EF4-FFF2-40B4-BE49-F238E27FC236}">
                <a16:creationId xmlns:a16="http://schemas.microsoft.com/office/drawing/2014/main" id="{70451BBB-8B77-2F42-8BE9-2A59BC822207}"/>
              </a:ext>
            </a:extLst>
          </p:cNvPr>
          <p:cNvSpPr txBox="1">
            <a:spLocks noChangeArrowheads="1"/>
          </p:cNvSpPr>
          <p:nvPr/>
        </p:nvSpPr>
        <p:spPr bwMode="auto">
          <a:xfrm>
            <a:off x="5257800" y="0"/>
            <a:ext cx="1665288"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r>
              <a:rPr lang="en-US" altLang="en-US" sz="1400"/>
              <a:t>Weathering rates</a:t>
            </a:r>
          </a:p>
          <a:p>
            <a:pPr eaLnBrk="1" hangingPunct="1"/>
            <a:r>
              <a:rPr lang="en-US" altLang="en-US" sz="1400"/>
              <a:t>(10</a:t>
            </a:r>
            <a:r>
              <a:rPr lang="en-US" altLang="en-US" sz="1400" baseline="30000"/>
              <a:t>4</a:t>
            </a:r>
            <a:r>
              <a:rPr lang="en-US" altLang="en-US" sz="1400"/>
              <a:t> mol km</a:t>
            </a:r>
            <a:r>
              <a:rPr lang="en-US" altLang="en-US" sz="1400" baseline="30000"/>
              <a:t>–2</a:t>
            </a:r>
            <a:r>
              <a:rPr lang="en-US" altLang="en-US" sz="1400"/>
              <a:t> yr</a:t>
            </a:r>
            <a:r>
              <a:rPr lang="en-US" altLang="en-US" sz="1400" baseline="30000"/>
              <a:t>–1</a:t>
            </a:r>
            <a:r>
              <a:rPr lang="en-US" altLang="en-US" sz="1400"/>
              <a:t>) </a:t>
            </a:r>
          </a:p>
        </p:txBody>
      </p:sp>
      <p:sp>
        <p:nvSpPr>
          <p:cNvPr id="118789" name="TextBox 11">
            <a:extLst>
              <a:ext uri="{FF2B5EF4-FFF2-40B4-BE49-F238E27FC236}">
                <a16:creationId xmlns:a16="http://schemas.microsoft.com/office/drawing/2014/main" id="{54743F5C-EE62-3546-8882-05984EEB7CEB}"/>
              </a:ext>
            </a:extLst>
          </p:cNvPr>
          <p:cNvSpPr txBox="1">
            <a:spLocks noChangeArrowheads="1"/>
          </p:cNvSpPr>
          <p:nvPr/>
        </p:nvSpPr>
        <p:spPr bwMode="auto">
          <a:xfrm>
            <a:off x="6553200" y="1976438"/>
            <a:ext cx="2411413"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r>
              <a:rPr lang="en-US" altLang="en-US"/>
              <a:t>p</a:t>
            </a:r>
            <a:r>
              <a:rPr lang="en-US" altLang="en-US" baseline="-25000"/>
              <a:t>CO2</a:t>
            </a:r>
            <a:r>
              <a:rPr lang="en-US" altLang="en-US"/>
              <a:t> =1830 ppm</a:t>
            </a:r>
            <a:endParaRPr lang="en-US" altLang="en-US" baseline="-25000"/>
          </a:p>
        </p:txBody>
      </p:sp>
      <p:sp>
        <p:nvSpPr>
          <p:cNvPr id="13" name="TextBox 12">
            <a:extLst>
              <a:ext uri="{FF2B5EF4-FFF2-40B4-BE49-F238E27FC236}">
                <a16:creationId xmlns:a16="http://schemas.microsoft.com/office/drawing/2014/main" id="{5162501F-25B3-5549-9FBC-5C914B6440A6}"/>
              </a:ext>
            </a:extLst>
          </p:cNvPr>
          <p:cNvSpPr txBox="1"/>
          <p:nvPr/>
        </p:nvSpPr>
        <p:spPr>
          <a:xfrm>
            <a:off x="6477000" y="5481638"/>
            <a:ext cx="2239963" cy="1077912"/>
          </a:xfrm>
          <a:prstGeom prst="rect">
            <a:avLst/>
          </a:prstGeom>
          <a:noFill/>
        </p:spPr>
        <p:txBody>
          <a:bodyPr wrap="none">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r>
              <a:rPr lang="en-US" altLang="en-US" dirty="0"/>
              <a:t>p</a:t>
            </a:r>
            <a:r>
              <a:rPr lang="en-US" altLang="en-US" baseline="-25000" dirty="0"/>
              <a:t>CO2</a:t>
            </a:r>
            <a:r>
              <a:rPr lang="en-US" altLang="en-US" dirty="0"/>
              <a:t> =510 ppm</a:t>
            </a:r>
          </a:p>
          <a:p>
            <a:pPr eaLnBrk="1" hangingPunct="1"/>
            <a:endParaRPr lang="en-US" altLang="en-US" baseline="-25000" dirty="0"/>
          </a:p>
          <a:p>
            <a:pPr eaLnBrk="1" hangingPunct="1"/>
            <a:r>
              <a:rPr lang="en-US" altLang="en-US" dirty="0"/>
              <a:t>    </a:t>
            </a:r>
            <a:r>
              <a:rPr lang="en-US" altLang="en-US" dirty="0">
                <a:solidFill>
                  <a:srgbClr val="0063C6"/>
                </a:solidFill>
              </a:rPr>
              <a:t>8</a:t>
            </a:r>
            <a:r>
              <a:rPr lang="en-US" altLang="en-US" dirty="0">
                <a:solidFill>
                  <a:srgbClr val="0063C6"/>
                </a:solidFill>
                <a:latin typeface="Arial Unicode MS" panose="020B0604020202020204" pitchFamily="34" charset="-128"/>
                <a:ea typeface="Arial Unicode MS" panose="020B0604020202020204" pitchFamily="34" charset="-128"/>
                <a:cs typeface="Arial Unicode MS" panose="020B0604020202020204" pitchFamily="34" charset="-128"/>
              </a:rPr>
              <a:t>°</a:t>
            </a:r>
            <a:r>
              <a:rPr lang="en-US" altLang="en-US" dirty="0">
                <a:solidFill>
                  <a:srgbClr val="0063C6"/>
                </a:solidFill>
              </a:rPr>
              <a:t>C colder</a:t>
            </a:r>
          </a:p>
        </p:txBody>
      </p:sp>
      <p:sp>
        <p:nvSpPr>
          <p:cNvPr id="118791" name="TextBox 13">
            <a:extLst>
              <a:ext uri="{FF2B5EF4-FFF2-40B4-BE49-F238E27FC236}">
                <a16:creationId xmlns:a16="http://schemas.microsoft.com/office/drawing/2014/main" id="{FF336B27-BE2C-8643-BA3D-25FF74E20742}"/>
              </a:ext>
            </a:extLst>
          </p:cNvPr>
          <p:cNvSpPr txBox="1">
            <a:spLocks noChangeArrowheads="1"/>
          </p:cNvSpPr>
          <p:nvPr/>
        </p:nvSpPr>
        <p:spPr bwMode="auto">
          <a:xfrm>
            <a:off x="0" y="6581775"/>
            <a:ext cx="2339975" cy="276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r>
              <a:rPr lang="en-US" altLang="en-US" sz="1200"/>
              <a:t>(Donnadieu et al. 2004, </a:t>
            </a:r>
            <a:r>
              <a:rPr lang="en-US" altLang="en-US" sz="1200" i="1"/>
              <a:t>Nature</a:t>
            </a:r>
            <a:r>
              <a:rPr lang="en-US" altLang="en-US" sz="1200"/>
              <a:t>)</a:t>
            </a: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9809" name="Picture 3" descr="Screen Shot 2016-11-07 at 1.29.18 PM.png">
            <a:extLst>
              <a:ext uri="{FF2B5EF4-FFF2-40B4-BE49-F238E27FC236}">
                <a16:creationId xmlns:a16="http://schemas.microsoft.com/office/drawing/2014/main" id="{44686D0C-1D42-3841-879B-03CEC096E3E5}"/>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42863" y="0"/>
            <a:ext cx="6048375"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9810" name="TextBox 4">
            <a:extLst>
              <a:ext uri="{FF2B5EF4-FFF2-40B4-BE49-F238E27FC236}">
                <a16:creationId xmlns:a16="http://schemas.microsoft.com/office/drawing/2014/main" id="{E6A2A1E3-1B79-E643-8A1F-3167ECB954BB}"/>
              </a:ext>
            </a:extLst>
          </p:cNvPr>
          <p:cNvSpPr txBox="1">
            <a:spLocks noChangeArrowheads="1"/>
          </p:cNvSpPr>
          <p:nvPr/>
        </p:nvSpPr>
        <p:spPr bwMode="auto">
          <a:xfrm>
            <a:off x="6553200" y="838200"/>
            <a:ext cx="2262188" cy="830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lgn="ctr" eaLnBrk="1" hangingPunct="1"/>
            <a:r>
              <a:rPr lang="en-US" altLang="en-US"/>
              <a:t>Supercontinent</a:t>
            </a:r>
          </a:p>
          <a:p>
            <a:pPr algn="ctr" eaLnBrk="1" hangingPunct="1"/>
            <a:r>
              <a:rPr lang="en-US" altLang="en-US"/>
              <a:t>Configuration</a:t>
            </a:r>
          </a:p>
        </p:txBody>
      </p:sp>
      <p:sp>
        <p:nvSpPr>
          <p:cNvPr id="119811" name="TextBox 5">
            <a:extLst>
              <a:ext uri="{FF2B5EF4-FFF2-40B4-BE49-F238E27FC236}">
                <a16:creationId xmlns:a16="http://schemas.microsoft.com/office/drawing/2014/main" id="{0AF7BCBF-B0DE-144B-998C-C90B53D939AA}"/>
              </a:ext>
            </a:extLst>
          </p:cNvPr>
          <p:cNvSpPr txBox="1">
            <a:spLocks noChangeArrowheads="1"/>
          </p:cNvSpPr>
          <p:nvPr/>
        </p:nvSpPr>
        <p:spPr bwMode="auto">
          <a:xfrm>
            <a:off x="6677025" y="4343400"/>
            <a:ext cx="2014538" cy="830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lgn="ctr" eaLnBrk="1" hangingPunct="1"/>
            <a:r>
              <a:rPr lang="en-US" altLang="en-US"/>
              <a:t>Dispersed</a:t>
            </a:r>
          </a:p>
          <a:p>
            <a:pPr algn="ctr" eaLnBrk="1" hangingPunct="1"/>
            <a:r>
              <a:rPr lang="en-US" altLang="en-US"/>
              <a:t>Configuration</a:t>
            </a:r>
          </a:p>
        </p:txBody>
      </p:sp>
      <p:sp>
        <p:nvSpPr>
          <p:cNvPr id="7" name="Oval 6">
            <a:extLst>
              <a:ext uri="{FF2B5EF4-FFF2-40B4-BE49-F238E27FC236}">
                <a16:creationId xmlns:a16="http://schemas.microsoft.com/office/drawing/2014/main" id="{26B9C347-F368-3D40-B299-DCF4B10C7BD8}"/>
              </a:ext>
            </a:extLst>
          </p:cNvPr>
          <p:cNvSpPr>
            <a:spLocks noChangeArrowheads="1"/>
          </p:cNvSpPr>
          <p:nvPr/>
        </p:nvSpPr>
        <p:spPr bwMode="auto">
          <a:xfrm>
            <a:off x="2895600" y="1066800"/>
            <a:ext cx="304800" cy="304800"/>
          </a:xfrm>
          <a:prstGeom prst="ellipse">
            <a:avLst/>
          </a:prstGeom>
          <a:solidFill>
            <a:srgbClr val="FF0000"/>
          </a:solidFill>
          <a:ln w="9525">
            <a:solidFill>
              <a:srgbClr val="F9F9F9"/>
            </a:solidFill>
            <a:round/>
            <a:headEnd/>
            <a:tailEnd/>
          </a:ln>
          <a:effectLst>
            <a:outerShdw blurRad="40000" dist="23000" dir="5400000" rotWithShape="0">
              <a:srgbClr val="808080">
                <a:alpha val="34999"/>
              </a:srgbClr>
            </a:outerShdw>
          </a:effectLst>
        </p:spPr>
        <p:txBody>
          <a:bodyPr anchor="ctr"/>
          <a:lstStyle/>
          <a:p>
            <a:pPr algn="ctr">
              <a:defRPr/>
            </a:pPr>
            <a:endParaRPr lang="en-US">
              <a:solidFill>
                <a:schemeClr val="lt1"/>
              </a:solidFill>
              <a:latin typeface="+mn-lt"/>
              <a:ea typeface="+mn-ea"/>
            </a:endParaRPr>
          </a:p>
        </p:txBody>
      </p:sp>
      <p:sp>
        <p:nvSpPr>
          <p:cNvPr id="119813" name="TextBox 7">
            <a:extLst>
              <a:ext uri="{FF2B5EF4-FFF2-40B4-BE49-F238E27FC236}">
                <a16:creationId xmlns:a16="http://schemas.microsoft.com/office/drawing/2014/main" id="{3FBD99E8-A9AF-C74C-94C5-04FF18E95B95}"/>
              </a:ext>
            </a:extLst>
          </p:cNvPr>
          <p:cNvSpPr txBox="1">
            <a:spLocks noChangeArrowheads="1"/>
          </p:cNvSpPr>
          <p:nvPr/>
        </p:nvSpPr>
        <p:spPr bwMode="auto">
          <a:xfrm>
            <a:off x="5257800" y="0"/>
            <a:ext cx="1665288"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r>
              <a:rPr lang="en-US" altLang="en-US" sz="1400"/>
              <a:t>Weathering rates</a:t>
            </a:r>
          </a:p>
          <a:p>
            <a:pPr eaLnBrk="1" hangingPunct="1"/>
            <a:r>
              <a:rPr lang="en-US" altLang="en-US" sz="1400"/>
              <a:t>(10</a:t>
            </a:r>
            <a:r>
              <a:rPr lang="en-US" altLang="en-US" sz="1400" baseline="30000"/>
              <a:t>4</a:t>
            </a:r>
            <a:r>
              <a:rPr lang="en-US" altLang="en-US" sz="1400"/>
              <a:t> mol km</a:t>
            </a:r>
            <a:r>
              <a:rPr lang="en-US" altLang="en-US" sz="1400" baseline="30000"/>
              <a:t>–2</a:t>
            </a:r>
            <a:r>
              <a:rPr lang="en-US" altLang="en-US" sz="1400"/>
              <a:t> yr</a:t>
            </a:r>
            <a:r>
              <a:rPr lang="en-US" altLang="en-US" sz="1400" baseline="30000"/>
              <a:t>–1</a:t>
            </a:r>
            <a:r>
              <a:rPr lang="en-US" altLang="en-US" sz="1400"/>
              <a:t>) </a:t>
            </a:r>
          </a:p>
        </p:txBody>
      </p:sp>
      <p:sp>
        <p:nvSpPr>
          <p:cNvPr id="9" name="Oval 8">
            <a:extLst>
              <a:ext uri="{FF2B5EF4-FFF2-40B4-BE49-F238E27FC236}">
                <a16:creationId xmlns:a16="http://schemas.microsoft.com/office/drawing/2014/main" id="{B29BD36F-49C6-1045-8010-562A969F9E28}"/>
              </a:ext>
            </a:extLst>
          </p:cNvPr>
          <p:cNvSpPr>
            <a:spLocks noChangeArrowheads="1"/>
          </p:cNvSpPr>
          <p:nvPr/>
        </p:nvSpPr>
        <p:spPr bwMode="auto">
          <a:xfrm>
            <a:off x="3048000" y="4800600"/>
            <a:ext cx="304800" cy="304800"/>
          </a:xfrm>
          <a:prstGeom prst="ellipse">
            <a:avLst/>
          </a:prstGeom>
          <a:solidFill>
            <a:srgbClr val="FF0000"/>
          </a:solidFill>
          <a:ln w="9525">
            <a:solidFill>
              <a:srgbClr val="F9F9F9"/>
            </a:solidFill>
            <a:round/>
            <a:headEnd/>
            <a:tailEnd/>
          </a:ln>
          <a:effectLst>
            <a:outerShdw blurRad="40000" dist="23000" dir="5400000" rotWithShape="0">
              <a:srgbClr val="808080">
                <a:alpha val="34999"/>
              </a:srgbClr>
            </a:outerShdw>
          </a:effectLst>
        </p:spPr>
        <p:txBody>
          <a:bodyPr anchor="ctr"/>
          <a:lstStyle/>
          <a:p>
            <a:pPr algn="ctr">
              <a:defRPr/>
            </a:pPr>
            <a:endParaRPr lang="en-US">
              <a:solidFill>
                <a:schemeClr val="lt1"/>
              </a:solidFill>
              <a:latin typeface="+mn-lt"/>
              <a:ea typeface="+mn-ea"/>
            </a:endParaRPr>
          </a:p>
        </p:txBody>
      </p:sp>
      <p:sp>
        <p:nvSpPr>
          <p:cNvPr id="10" name="Oval 9">
            <a:extLst>
              <a:ext uri="{FF2B5EF4-FFF2-40B4-BE49-F238E27FC236}">
                <a16:creationId xmlns:a16="http://schemas.microsoft.com/office/drawing/2014/main" id="{9C5D1BA4-A63D-E44D-A47C-F7DB4B6F1F5C}"/>
              </a:ext>
            </a:extLst>
          </p:cNvPr>
          <p:cNvSpPr>
            <a:spLocks noChangeArrowheads="1"/>
          </p:cNvSpPr>
          <p:nvPr/>
        </p:nvSpPr>
        <p:spPr bwMode="auto">
          <a:xfrm>
            <a:off x="6629400" y="2819400"/>
            <a:ext cx="304800" cy="304800"/>
          </a:xfrm>
          <a:prstGeom prst="ellipse">
            <a:avLst/>
          </a:prstGeom>
          <a:solidFill>
            <a:srgbClr val="FF0000"/>
          </a:solidFill>
          <a:ln w="9525">
            <a:solidFill>
              <a:srgbClr val="F9F9F9"/>
            </a:solidFill>
            <a:round/>
            <a:headEnd/>
            <a:tailEnd/>
          </a:ln>
          <a:effectLst>
            <a:outerShdw blurRad="40000" dist="23000" dir="5400000" rotWithShape="0">
              <a:srgbClr val="808080">
                <a:alpha val="34999"/>
              </a:srgbClr>
            </a:outerShdw>
          </a:effectLst>
        </p:spPr>
        <p:txBody>
          <a:bodyPr anchor="ctr"/>
          <a:lstStyle/>
          <a:p>
            <a:pPr algn="ctr">
              <a:defRPr/>
            </a:pPr>
            <a:endParaRPr lang="en-US">
              <a:solidFill>
                <a:schemeClr val="lt1"/>
              </a:solidFill>
              <a:latin typeface="+mn-lt"/>
              <a:ea typeface="+mn-ea"/>
            </a:endParaRPr>
          </a:p>
        </p:txBody>
      </p:sp>
      <p:sp>
        <p:nvSpPr>
          <p:cNvPr id="119816" name="TextBox 10">
            <a:extLst>
              <a:ext uri="{FF2B5EF4-FFF2-40B4-BE49-F238E27FC236}">
                <a16:creationId xmlns:a16="http://schemas.microsoft.com/office/drawing/2014/main" id="{223CE739-4C09-6846-852C-553A6534DD9B}"/>
              </a:ext>
            </a:extLst>
          </p:cNvPr>
          <p:cNvSpPr txBox="1">
            <a:spLocks noChangeArrowheads="1"/>
          </p:cNvSpPr>
          <p:nvPr/>
        </p:nvSpPr>
        <p:spPr bwMode="auto">
          <a:xfrm>
            <a:off x="7010400" y="2743200"/>
            <a:ext cx="1762125"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r>
              <a:rPr lang="en-US" altLang="en-US"/>
              <a:t>flood basalt</a:t>
            </a:r>
          </a:p>
        </p:txBody>
      </p:sp>
      <p:sp>
        <p:nvSpPr>
          <p:cNvPr id="119817" name="TextBox 11">
            <a:extLst>
              <a:ext uri="{FF2B5EF4-FFF2-40B4-BE49-F238E27FC236}">
                <a16:creationId xmlns:a16="http://schemas.microsoft.com/office/drawing/2014/main" id="{2B106259-EA67-AC49-8971-000BCF2EF011}"/>
              </a:ext>
            </a:extLst>
          </p:cNvPr>
          <p:cNvSpPr txBox="1">
            <a:spLocks noChangeArrowheads="1"/>
          </p:cNvSpPr>
          <p:nvPr/>
        </p:nvSpPr>
        <p:spPr bwMode="auto">
          <a:xfrm>
            <a:off x="6096000" y="1676400"/>
            <a:ext cx="3087688"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r>
              <a:rPr lang="en-US" altLang="en-US"/>
              <a:t>p</a:t>
            </a:r>
            <a:r>
              <a:rPr lang="en-US" altLang="en-US" baseline="-25000"/>
              <a:t>CO2</a:t>
            </a:r>
            <a:r>
              <a:rPr lang="en-US" altLang="en-US"/>
              <a:t> about 1500 ppm</a:t>
            </a:r>
            <a:endParaRPr lang="en-US" altLang="en-US" baseline="-25000"/>
          </a:p>
        </p:txBody>
      </p:sp>
      <p:sp>
        <p:nvSpPr>
          <p:cNvPr id="119818" name="TextBox 12">
            <a:extLst>
              <a:ext uri="{FF2B5EF4-FFF2-40B4-BE49-F238E27FC236}">
                <a16:creationId xmlns:a16="http://schemas.microsoft.com/office/drawing/2014/main" id="{77892ECE-6B29-F542-B5A6-12E07E911361}"/>
              </a:ext>
            </a:extLst>
          </p:cNvPr>
          <p:cNvSpPr txBox="1">
            <a:spLocks noChangeArrowheads="1"/>
          </p:cNvSpPr>
          <p:nvPr/>
        </p:nvSpPr>
        <p:spPr bwMode="auto">
          <a:xfrm>
            <a:off x="6365875" y="5181600"/>
            <a:ext cx="2619375" cy="12620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lgn="ctr" eaLnBrk="1" hangingPunct="1"/>
            <a:r>
              <a:rPr lang="en-US" altLang="en-US"/>
              <a:t>p</a:t>
            </a:r>
            <a:r>
              <a:rPr lang="en-US" altLang="en-US" baseline="-25000"/>
              <a:t>CO2</a:t>
            </a:r>
            <a:r>
              <a:rPr lang="en-US" altLang="en-US"/>
              <a:t> &lt;250 ppm</a:t>
            </a:r>
          </a:p>
          <a:p>
            <a:pPr algn="ctr" eaLnBrk="1" hangingPunct="1"/>
            <a:endParaRPr lang="en-US" altLang="en-US" baseline="-25000"/>
          </a:p>
          <a:p>
            <a:pPr algn="ctr" eaLnBrk="1" hangingPunct="1"/>
            <a:r>
              <a:rPr lang="en-US" altLang="en-US" sz="3600">
                <a:solidFill>
                  <a:srgbClr val="FF0000"/>
                </a:solidFill>
                <a:latin typeface="Almonte Snow" panose="02000400000000000000" pitchFamily="2" charset="77"/>
              </a:rPr>
              <a:t>SNOWBALL EARTH</a:t>
            </a:r>
          </a:p>
        </p:txBody>
      </p:sp>
      <p:sp>
        <p:nvSpPr>
          <p:cNvPr id="119819" name="TextBox 13">
            <a:extLst>
              <a:ext uri="{FF2B5EF4-FFF2-40B4-BE49-F238E27FC236}">
                <a16:creationId xmlns:a16="http://schemas.microsoft.com/office/drawing/2014/main" id="{69C4762E-FFCB-2D49-894A-861D477E1D51}"/>
              </a:ext>
            </a:extLst>
          </p:cNvPr>
          <p:cNvSpPr txBox="1">
            <a:spLocks noChangeArrowheads="1"/>
          </p:cNvSpPr>
          <p:nvPr/>
        </p:nvSpPr>
        <p:spPr bwMode="auto">
          <a:xfrm>
            <a:off x="0" y="6581775"/>
            <a:ext cx="2339975" cy="276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r>
              <a:rPr lang="en-US" altLang="en-US" sz="1200"/>
              <a:t>(Donnadieu et al. 2004, </a:t>
            </a:r>
            <a:r>
              <a:rPr lang="en-US" altLang="en-US" sz="1200" i="1"/>
              <a:t>Nature</a:t>
            </a:r>
            <a:r>
              <a:rPr lang="en-US" altLang="en-US" sz="1200"/>
              <a:t>)</a:t>
            </a: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bg>
      <p:bgPr>
        <a:solidFill>
          <a:schemeClr val="accent1"/>
        </a:solidFill>
        <a:effectLst/>
      </p:bgPr>
    </p:bg>
    <p:spTree>
      <p:nvGrpSpPr>
        <p:cNvPr id="1" name=""/>
        <p:cNvGrpSpPr/>
        <p:nvPr/>
      </p:nvGrpSpPr>
      <p:grpSpPr>
        <a:xfrm>
          <a:off x="0" y="0"/>
          <a:ext cx="0" cy="0"/>
          <a:chOff x="0" y="0"/>
          <a:chExt cx="0" cy="0"/>
        </a:xfrm>
      </p:grpSpPr>
      <p:pic>
        <p:nvPicPr>
          <p:cNvPr id="120834" name="Picture 1" descr="Untitled2.png">
            <a:extLst>
              <a:ext uri="{FF2B5EF4-FFF2-40B4-BE49-F238E27FC236}">
                <a16:creationId xmlns:a16="http://schemas.microsoft.com/office/drawing/2014/main" id="{B8AFB7B8-BE69-E741-B828-460112588511}"/>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0" y="0"/>
            <a:ext cx="9144000"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Left-Right Arrow 2">
            <a:extLst>
              <a:ext uri="{FF2B5EF4-FFF2-40B4-BE49-F238E27FC236}">
                <a16:creationId xmlns:a16="http://schemas.microsoft.com/office/drawing/2014/main" id="{EBE0A3E8-DB82-9547-95E8-0A0F682CCF8C}"/>
              </a:ext>
            </a:extLst>
          </p:cNvPr>
          <p:cNvSpPr>
            <a:spLocks noChangeArrowheads="1"/>
          </p:cNvSpPr>
          <p:nvPr/>
        </p:nvSpPr>
        <p:spPr bwMode="auto">
          <a:xfrm rot="4592079">
            <a:off x="3189288" y="3041650"/>
            <a:ext cx="3962400" cy="1066800"/>
          </a:xfrm>
          <a:prstGeom prst="leftRightArrow">
            <a:avLst>
              <a:gd name="adj1" fmla="val 50000"/>
              <a:gd name="adj2" fmla="val 50005"/>
            </a:avLst>
          </a:prstGeom>
          <a:solidFill>
            <a:srgbClr val="FF0000"/>
          </a:solidFill>
          <a:ln>
            <a:noFill/>
          </a:ln>
          <a:effectLst>
            <a:outerShdw blurRad="40000" dist="23000" dir="5400000" rotWithShape="0">
              <a:srgbClr val="808080">
                <a:alpha val="34999"/>
              </a:srgbClr>
            </a:outerShdw>
          </a:effectLst>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defRPr/>
            </a:pPr>
            <a:endParaRPr lang="en-US" dirty="0">
              <a:solidFill>
                <a:srgbClr val="FFFFFF"/>
              </a:solidFill>
              <a:latin typeface="+mn-lt"/>
              <a:ea typeface="+mn-ea"/>
            </a:endParaRPr>
          </a:p>
        </p:txBody>
      </p:sp>
      <p:sp>
        <p:nvSpPr>
          <p:cNvPr id="4" name="Left-Right Arrow 3">
            <a:extLst>
              <a:ext uri="{FF2B5EF4-FFF2-40B4-BE49-F238E27FC236}">
                <a16:creationId xmlns:a16="http://schemas.microsoft.com/office/drawing/2014/main" id="{C732D19E-8424-3A4C-9256-B2BF8616634A}"/>
              </a:ext>
            </a:extLst>
          </p:cNvPr>
          <p:cNvSpPr>
            <a:spLocks noChangeArrowheads="1"/>
          </p:cNvSpPr>
          <p:nvPr/>
        </p:nvSpPr>
        <p:spPr bwMode="auto">
          <a:xfrm rot="1922433">
            <a:off x="2038350" y="4094163"/>
            <a:ext cx="3962400" cy="1066800"/>
          </a:xfrm>
          <a:prstGeom prst="leftRightArrow">
            <a:avLst>
              <a:gd name="adj1" fmla="val 50000"/>
              <a:gd name="adj2" fmla="val 50005"/>
            </a:avLst>
          </a:prstGeom>
          <a:solidFill>
            <a:srgbClr val="FF0000"/>
          </a:solidFill>
          <a:ln>
            <a:noFill/>
          </a:ln>
          <a:effectLst>
            <a:outerShdw blurRad="40000" dist="23000" dir="5400000" rotWithShape="0">
              <a:srgbClr val="808080">
                <a:alpha val="34999"/>
              </a:srgbClr>
            </a:outerShdw>
          </a:effectLst>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defRPr/>
            </a:pPr>
            <a:endParaRPr lang="en-US" dirty="0">
              <a:solidFill>
                <a:srgbClr val="FFFFFF"/>
              </a:solidFill>
              <a:latin typeface="+mn-lt"/>
              <a:ea typeface="+mn-ea"/>
            </a:endParaRPr>
          </a:p>
        </p:txBody>
      </p:sp>
      <p:sp>
        <p:nvSpPr>
          <p:cNvPr id="5" name="Left-Right Arrow 4">
            <a:extLst>
              <a:ext uri="{FF2B5EF4-FFF2-40B4-BE49-F238E27FC236}">
                <a16:creationId xmlns:a16="http://schemas.microsoft.com/office/drawing/2014/main" id="{12B8D76C-C2AC-C64A-8F70-6BC4DB256A7C}"/>
              </a:ext>
            </a:extLst>
          </p:cNvPr>
          <p:cNvSpPr>
            <a:spLocks noChangeArrowheads="1"/>
          </p:cNvSpPr>
          <p:nvPr/>
        </p:nvSpPr>
        <p:spPr bwMode="auto">
          <a:xfrm rot="6521369">
            <a:off x="5772944" y="4185444"/>
            <a:ext cx="1979612" cy="1066800"/>
          </a:xfrm>
          <a:prstGeom prst="leftRightArrow">
            <a:avLst>
              <a:gd name="adj1" fmla="val 50000"/>
              <a:gd name="adj2" fmla="val 50000"/>
            </a:avLst>
          </a:prstGeom>
          <a:solidFill>
            <a:srgbClr val="FF0000"/>
          </a:solidFill>
          <a:ln>
            <a:noFill/>
          </a:ln>
          <a:effectLst>
            <a:outerShdw blurRad="40000" dist="23000" dir="5400000" rotWithShape="0">
              <a:srgbClr val="808080">
                <a:alpha val="34999"/>
              </a:srgbClr>
            </a:outerShdw>
          </a:effectLst>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defRPr/>
            </a:pPr>
            <a:endParaRPr lang="en-US" dirty="0">
              <a:solidFill>
                <a:srgbClr val="FFFFFF"/>
              </a:solidFill>
              <a:latin typeface="+mn-lt"/>
              <a:ea typeface="+mn-ea"/>
            </a:endParaRPr>
          </a:p>
        </p:txBody>
      </p:sp>
      <p:sp>
        <p:nvSpPr>
          <p:cNvPr id="120838" name="TextBox 5">
            <a:extLst>
              <a:ext uri="{FF2B5EF4-FFF2-40B4-BE49-F238E27FC236}">
                <a16:creationId xmlns:a16="http://schemas.microsoft.com/office/drawing/2014/main" id="{9A12D40D-FF37-5849-93AA-62259ED8D481}"/>
              </a:ext>
            </a:extLst>
          </p:cNvPr>
          <p:cNvSpPr txBox="1">
            <a:spLocks noChangeArrowheads="1"/>
          </p:cNvSpPr>
          <p:nvPr/>
        </p:nvSpPr>
        <p:spPr bwMode="auto">
          <a:xfrm>
            <a:off x="152400" y="152400"/>
            <a:ext cx="2124075"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r>
              <a:rPr lang="en-US" altLang="en-US" sz="3200" dirty="0"/>
              <a:t>Example 5</a:t>
            </a: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881" name="Title 1">
            <a:extLst>
              <a:ext uri="{FF2B5EF4-FFF2-40B4-BE49-F238E27FC236}">
                <a16:creationId xmlns:a16="http://schemas.microsoft.com/office/drawing/2014/main" id="{3568D4D5-EEE8-3446-B59D-6C468B934C5B}"/>
              </a:ext>
            </a:extLst>
          </p:cNvPr>
          <p:cNvSpPr>
            <a:spLocks noGrp="1"/>
          </p:cNvSpPr>
          <p:nvPr>
            <p:ph type="title"/>
          </p:nvPr>
        </p:nvSpPr>
        <p:spPr>
          <a:xfrm>
            <a:off x="381000" y="2438400"/>
            <a:ext cx="8229600" cy="1143000"/>
          </a:xfrm>
        </p:spPr>
        <p:txBody>
          <a:bodyPr/>
          <a:lstStyle/>
          <a:p>
            <a:r>
              <a:rPr lang="en-US" altLang="en-US" sz="3200">
                <a:solidFill>
                  <a:srgbClr val="000000"/>
                </a:solidFill>
                <a:ea typeface="ＭＳ Ｐゴシック" panose="020B0600070205080204" pitchFamily="34" charset="-128"/>
              </a:rPr>
              <a:t>The difference in temperature between the poles and the equator determines the ocean circulation and sedimentary environment.</a:t>
            </a: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bg>
      <p:bgPr>
        <a:solidFill>
          <a:schemeClr val="accent1"/>
        </a:solidFill>
        <a:effectLst/>
      </p:bgPr>
    </p:bg>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94470C53-69FD-7E4B-B21D-2D44D5B896F6}"/>
              </a:ext>
            </a:extLst>
          </p:cNvPr>
          <p:cNvSpPr/>
          <p:nvPr/>
        </p:nvSpPr>
        <p:spPr>
          <a:xfrm>
            <a:off x="0" y="5943600"/>
            <a:ext cx="9144000" cy="609600"/>
          </a:xfrm>
          <a:prstGeom prst="rect">
            <a:avLst/>
          </a:prstGeom>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a:p>
        </p:txBody>
      </p:sp>
      <p:pic>
        <p:nvPicPr>
          <p:cNvPr id="123907" name="Picture 3" descr="graphic03.eps">
            <a:extLst>
              <a:ext uri="{FF2B5EF4-FFF2-40B4-BE49-F238E27FC236}">
                <a16:creationId xmlns:a16="http://schemas.microsoft.com/office/drawing/2014/main" id="{4214C14B-9C14-6B45-A0EC-98552E11BEBF}"/>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76200" y="457200"/>
            <a:ext cx="8915400" cy="5930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Rectangle 1">
            <a:extLst>
              <a:ext uri="{FF2B5EF4-FFF2-40B4-BE49-F238E27FC236}">
                <a16:creationId xmlns:a16="http://schemas.microsoft.com/office/drawing/2014/main" id="{591EC031-ED18-D54D-972B-D02435EA9170}"/>
              </a:ext>
            </a:extLst>
          </p:cNvPr>
          <p:cNvSpPr>
            <a:spLocks noChangeArrowheads="1"/>
          </p:cNvSpPr>
          <p:nvPr/>
        </p:nvSpPr>
        <p:spPr bwMode="auto">
          <a:xfrm>
            <a:off x="0" y="3276600"/>
            <a:ext cx="9144000" cy="3581400"/>
          </a:xfrm>
          <a:prstGeom prst="rect">
            <a:avLst/>
          </a:prstGeom>
          <a:gradFill rotWithShape="1">
            <a:gsLst>
              <a:gs pos="0">
                <a:srgbClr val="FFFFFF"/>
              </a:gs>
              <a:gs pos="100000">
                <a:srgbClr val="FFFFFF"/>
              </a:gs>
            </a:gsLst>
            <a:lin ang="5400000"/>
          </a:gradFill>
          <a:ln w="9525">
            <a:solidFill>
              <a:srgbClr val="F9F9F9"/>
            </a:solidFill>
            <a:miter lim="800000"/>
            <a:headEnd/>
            <a:tailEnd/>
          </a:ln>
          <a:effectLst>
            <a:outerShdw blurRad="40000" dist="23000" dir="5400000" rotWithShape="0">
              <a:srgbClr val="808080">
                <a:alpha val="34999"/>
              </a:srgbClr>
            </a:outerShdw>
          </a:effectLst>
        </p:spPr>
        <p:txBody>
          <a:bodyPr anchor="ctr"/>
          <a:lstStyle/>
          <a:p>
            <a:pPr algn="ctr">
              <a:defRPr/>
            </a:pPr>
            <a:endParaRPr lang="en-US">
              <a:solidFill>
                <a:schemeClr val="lt1"/>
              </a:solidFill>
              <a:latin typeface="+mn-lt"/>
              <a:ea typeface="+mn-ea"/>
            </a:endParaRPr>
          </a:p>
        </p:txBody>
      </p:sp>
      <p:sp>
        <p:nvSpPr>
          <p:cNvPr id="123909" name="TextBox 3">
            <a:extLst>
              <a:ext uri="{FF2B5EF4-FFF2-40B4-BE49-F238E27FC236}">
                <a16:creationId xmlns:a16="http://schemas.microsoft.com/office/drawing/2014/main" id="{0FDC1D5C-5F32-5744-8302-C9C587491279}"/>
              </a:ext>
            </a:extLst>
          </p:cNvPr>
          <p:cNvSpPr txBox="1">
            <a:spLocks noChangeArrowheads="1"/>
          </p:cNvSpPr>
          <p:nvPr/>
        </p:nvSpPr>
        <p:spPr bwMode="auto">
          <a:xfrm>
            <a:off x="296863" y="0"/>
            <a:ext cx="8161337"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r>
              <a:rPr lang="en-US" altLang="en-US">
                <a:solidFill>
                  <a:srgbClr val="FF0000"/>
                </a:solidFill>
              </a:rPr>
              <a:t>strong gradient in temperature between poles and equator</a:t>
            </a:r>
          </a:p>
        </p:txBody>
      </p:sp>
      <p:sp>
        <p:nvSpPr>
          <p:cNvPr id="6" name="TextBox 5">
            <a:extLst>
              <a:ext uri="{FF2B5EF4-FFF2-40B4-BE49-F238E27FC236}">
                <a16:creationId xmlns:a16="http://schemas.microsoft.com/office/drawing/2014/main" id="{639D9333-1226-C24E-9814-17BDBFB66146}"/>
              </a:ext>
            </a:extLst>
          </p:cNvPr>
          <p:cNvSpPr txBox="1"/>
          <p:nvPr/>
        </p:nvSpPr>
        <p:spPr>
          <a:xfrm>
            <a:off x="228600" y="1600200"/>
            <a:ext cx="1249363" cy="461963"/>
          </a:xfrm>
          <a:prstGeom prst="rect">
            <a:avLst/>
          </a:prstGeom>
          <a:noFill/>
        </p:spPr>
        <p:txBody>
          <a:bodyPr wrap="none">
            <a:spAutoFit/>
          </a:bodyPr>
          <a:lstStyle/>
          <a:p>
            <a:pPr algn="ctr">
              <a:defRPr/>
            </a:pPr>
            <a:r>
              <a:rPr lang="en-US" dirty="0">
                <a:solidFill>
                  <a:schemeClr val="bg1">
                    <a:lumMod val="50000"/>
                  </a:schemeClr>
                </a:solidFill>
                <a:latin typeface="Arial" charset="0"/>
                <a:ea typeface="ＭＳ Ｐゴシック" charset="0"/>
                <a:cs typeface="ＭＳ Ｐゴシック" charset="0"/>
              </a:rPr>
              <a:t>Present</a:t>
            </a:r>
          </a:p>
        </p:txBody>
      </p:sp>
      <p:sp>
        <p:nvSpPr>
          <p:cNvPr id="4" name="Rectangle 3">
            <a:extLst>
              <a:ext uri="{FF2B5EF4-FFF2-40B4-BE49-F238E27FC236}">
                <a16:creationId xmlns:a16="http://schemas.microsoft.com/office/drawing/2014/main" id="{5C6731E1-264D-8A48-BB7D-7B2064F15D92}"/>
              </a:ext>
            </a:extLst>
          </p:cNvPr>
          <p:cNvSpPr/>
          <p:nvPr/>
        </p:nvSpPr>
        <p:spPr>
          <a:xfrm>
            <a:off x="1752600" y="914400"/>
            <a:ext cx="533400" cy="381000"/>
          </a:xfrm>
          <a:prstGeom prst="rect">
            <a:avLst/>
          </a:prstGeom>
          <a:noFill/>
          <a:ln w="57150">
            <a:solidFill>
              <a:srgbClr val="FF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8" name="Rectangle 7">
            <a:extLst>
              <a:ext uri="{FF2B5EF4-FFF2-40B4-BE49-F238E27FC236}">
                <a16:creationId xmlns:a16="http://schemas.microsoft.com/office/drawing/2014/main" id="{3FA1B0BE-277A-BF48-B9BB-2027F0D4AB4D}"/>
              </a:ext>
            </a:extLst>
          </p:cNvPr>
          <p:cNvSpPr/>
          <p:nvPr/>
        </p:nvSpPr>
        <p:spPr>
          <a:xfrm>
            <a:off x="4953000" y="914400"/>
            <a:ext cx="685800" cy="381000"/>
          </a:xfrm>
          <a:prstGeom prst="rect">
            <a:avLst/>
          </a:prstGeom>
          <a:noFill/>
          <a:ln w="57150">
            <a:solidFill>
              <a:srgbClr val="FF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bg>
      <p:bgPr>
        <a:solidFill>
          <a:schemeClr val="accent1"/>
        </a:solidFill>
        <a:effectLst/>
      </p:bgPr>
    </p:bg>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465637B2-FA79-A640-A720-825A8310BF53}"/>
              </a:ext>
            </a:extLst>
          </p:cNvPr>
          <p:cNvSpPr/>
          <p:nvPr/>
        </p:nvSpPr>
        <p:spPr>
          <a:xfrm>
            <a:off x="0" y="5943600"/>
            <a:ext cx="9144000" cy="609600"/>
          </a:xfrm>
          <a:prstGeom prst="rect">
            <a:avLst/>
          </a:prstGeom>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a:p>
        </p:txBody>
      </p:sp>
      <p:pic>
        <p:nvPicPr>
          <p:cNvPr id="125955" name="Picture 3" descr="graphic03.eps">
            <a:extLst>
              <a:ext uri="{FF2B5EF4-FFF2-40B4-BE49-F238E27FC236}">
                <a16:creationId xmlns:a16="http://schemas.microsoft.com/office/drawing/2014/main" id="{9B003242-2944-9540-ADA7-EA28A0B8D09C}"/>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76200" y="457200"/>
            <a:ext cx="8915400" cy="5930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25956" name="TextBox 3">
            <a:extLst>
              <a:ext uri="{FF2B5EF4-FFF2-40B4-BE49-F238E27FC236}">
                <a16:creationId xmlns:a16="http://schemas.microsoft.com/office/drawing/2014/main" id="{FFD28D31-7F37-1C48-896F-A0B04DCC2B0B}"/>
              </a:ext>
            </a:extLst>
          </p:cNvPr>
          <p:cNvSpPr txBox="1">
            <a:spLocks noChangeArrowheads="1"/>
          </p:cNvSpPr>
          <p:nvPr/>
        </p:nvSpPr>
        <p:spPr bwMode="auto">
          <a:xfrm>
            <a:off x="381000" y="6396038"/>
            <a:ext cx="7981950"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r>
              <a:rPr lang="en-US" altLang="en-US">
                <a:solidFill>
                  <a:srgbClr val="FF0000"/>
                </a:solidFill>
              </a:rPr>
              <a:t>weak gradient in temperature between poles and equator</a:t>
            </a:r>
          </a:p>
        </p:txBody>
      </p:sp>
      <p:sp>
        <p:nvSpPr>
          <p:cNvPr id="5" name="TextBox 4">
            <a:extLst>
              <a:ext uri="{FF2B5EF4-FFF2-40B4-BE49-F238E27FC236}">
                <a16:creationId xmlns:a16="http://schemas.microsoft.com/office/drawing/2014/main" id="{92D9E1EE-97E1-F44C-8F9A-1C9BC316146A}"/>
              </a:ext>
            </a:extLst>
          </p:cNvPr>
          <p:cNvSpPr txBox="1"/>
          <p:nvPr/>
        </p:nvSpPr>
        <p:spPr>
          <a:xfrm>
            <a:off x="228600" y="1600200"/>
            <a:ext cx="1249363" cy="461963"/>
          </a:xfrm>
          <a:prstGeom prst="rect">
            <a:avLst/>
          </a:prstGeom>
          <a:noFill/>
        </p:spPr>
        <p:txBody>
          <a:bodyPr wrap="none">
            <a:spAutoFit/>
          </a:bodyPr>
          <a:lstStyle/>
          <a:p>
            <a:pPr algn="ctr">
              <a:defRPr/>
            </a:pPr>
            <a:r>
              <a:rPr lang="en-US" dirty="0">
                <a:solidFill>
                  <a:schemeClr val="bg1">
                    <a:lumMod val="50000"/>
                  </a:schemeClr>
                </a:solidFill>
                <a:latin typeface="Arial" charset="0"/>
                <a:ea typeface="ＭＳ Ｐゴシック" charset="0"/>
                <a:cs typeface="ＭＳ Ｐゴシック" charset="0"/>
              </a:rPr>
              <a:t>Present</a:t>
            </a:r>
          </a:p>
        </p:txBody>
      </p:sp>
      <p:sp>
        <p:nvSpPr>
          <p:cNvPr id="6" name="TextBox 5">
            <a:extLst>
              <a:ext uri="{FF2B5EF4-FFF2-40B4-BE49-F238E27FC236}">
                <a16:creationId xmlns:a16="http://schemas.microsoft.com/office/drawing/2014/main" id="{C72E3079-0127-CB47-A71E-648F01AB1B8A}"/>
              </a:ext>
            </a:extLst>
          </p:cNvPr>
          <p:cNvSpPr txBox="1"/>
          <p:nvPr/>
        </p:nvSpPr>
        <p:spPr>
          <a:xfrm>
            <a:off x="-6350" y="4876800"/>
            <a:ext cx="1758950" cy="461963"/>
          </a:xfrm>
          <a:prstGeom prst="rect">
            <a:avLst/>
          </a:prstGeom>
          <a:noFill/>
        </p:spPr>
        <p:txBody>
          <a:bodyPr wrap="none">
            <a:spAutoFit/>
          </a:bodyPr>
          <a:lstStyle/>
          <a:p>
            <a:pPr algn="ctr">
              <a:defRPr/>
            </a:pPr>
            <a:r>
              <a:rPr lang="en-US" dirty="0">
                <a:solidFill>
                  <a:schemeClr val="bg1">
                    <a:lumMod val="50000"/>
                  </a:schemeClr>
                </a:solidFill>
                <a:latin typeface="Arial" charset="0"/>
                <a:ea typeface="ＭＳ Ｐゴシック" charset="0"/>
                <a:cs typeface="ＭＳ Ｐゴシック" charset="0"/>
              </a:rPr>
              <a:t>Cretaceous</a:t>
            </a:r>
          </a:p>
        </p:txBody>
      </p:sp>
      <p:sp>
        <p:nvSpPr>
          <p:cNvPr id="125959" name="TextBox 3">
            <a:extLst>
              <a:ext uri="{FF2B5EF4-FFF2-40B4-BE49-F238E27FC236}">
                <a16:creationId xmlns:a16="http://schemas.microsoft.com/office/drawing/2014/main" id="{FCF11DDB-2645-CB4A-ABA1-C7C10C05D449}"/>
              </a:ext>
            </a:extLst>
          </p:cNvPr>
          <p:cNvSpPr txBox="1">
            <a:spLocks noChangeArrowheads="1"/>
          </p:cNvSpPr>
          <p:nvPr/>
        </p:nvSpPr>
        <p:spPr bwMode="auto">
          <a:xfrm>
            <a:off x="296863" y="0"/>
            <a:ext cx="8161337"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r>
              <a:rPr lang="en-US" altLang="en-US">
                <a:solidFill>
                  <a:srgbClr val="FF0000"/>
                </a:solidFill>
              </a:rPr>
              <a:t>strong gradient in temperature between poles and equator</a:t>
            </a:r>
          </a:p>
        </p:txBody>
      </p:sp>
      <p:sp>
        <p:nvSpPr>
          <p:cNvPr id="8" name="Rectangle 7">
            <a:extLst>
              <a:ext uri="{FF2B5EF4-FFF2-40B4-BE49-F238E27FC236}">
                <a16:creationId xmlns:a16="http://schemas.microsoft.com/office/drawing/2014/main" id="{5F229BCA-835A-A24E-BD2E-81CD6C22395D}"/>
              </a:ext>
            </a:extLst>
          </p:cNvPr>
          <p:cNvSpPr/>
          <p:nvPr/>
        </p:nvSpPr>
        <p:spPr>
          <a:xfrm>
            <a:off x="2057400" y="4114800"/>
            <a:ext cx="609600" cy="381000"/>
          </a:xfrm>
          <a:prstGeom prst="rect">
            <a:avLst/>
          </a:prstGeom>
          <a:noFill/>
          <a:ln w="57150">
            <a:solidFill>
              <a:srgbClr val="FF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9" name="Rectangle 8">
            <a:extLst>
              <a:ext uri="{FF2B5EF4-FFF2-40B4-BE49-F238E27FC236}">
                <a16:creationId xmlns:a16="http://schemas.microsoft.com/office/drawing/2014/main" id="{41041DE1-7E0C-2A48-B466-D9936FE8F351}"/>
              </a:ext>
            </a:extLst>
          </p:cNvPr>
          <p:cNvSpPr/>
          <p:nvPr/>
        </p:nvSpPr>
        <p:spPr>
          <a:xfrm>
            <a:off x="5045528" y="4114800"/>
            <a:ext cx="783771" cy="381000"/>
          </a:xfrm>
          <a:prstGeom prst="rect">
            <a:avLst/>
          </a:prstGeom>
          <a:noFill/>
          <a:ln w="57150">
            <a:solidFill>
              <a:srgbClr val="FF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 name="TextBox 1">
            <a:extLst>
              <a:ext uri="{FF2B5EF4-FFF2-40B4-BE49-F238E27FC236}">
                <a16:creationId xmlns:a16="http://schemas.microsoft.com/office/drawing/2014/main" id="{AC722F59-A284-AC4E-8063-1F9755931FD9}"/>
              </a:ext>
            </a:extLst>
          </p:cNvPr>
          <p:cNvSpPr txBox="1"/>
          <p:nvPr/>
        </p:nvSpPr>
        <p:spPr>
          <a:xfrm>
            <a:off x="2819400" y="1261646"/>
            <a:ext cx="1346844" cy="338554"/>
          </a:xfrm>
          <a:prstGeom prst="rect">
            <a:avLst/>
          </a:prstGeom>
          <a:noFill/>
        </p:spPr>
        <p:txBody>
          <a:bodyPr wrap="none" rtlCol="0">
            <a:spAutoFit/>
          </a:bodyPr>
          <a:lstStyle/>
          <a:p>
            <a:r>
              <a:rPr lang="en-US" sz="1600" dirty="0">
                <a:solidFill>
                  <a:srgbClr val="00B0F0"/>
                </a:solidFill>
              </a:rPr>
              <a:t>marine snow</a:t>
            </a:r>
          </a:p>
        </p:txBody>
      </p:sp>
      <p:sp>
        <p:nvSpPr>
          <p:cNvPr id="11" name="TextBox 10">
            <a:extLst>
              <a:ext uri="{FF2B5EF4-FFF2-40B4-BE49-F238E27FC236}">
                <a16:creationId xmlns:a16="http://schemas.microsoft.com/office/drawing/2014/main" id="{18901EC2-5C23-3345-B2EF-BBBA87E4B27D}"/>
              </a:ext>
            </a:extLst>
          </p:cNvPr>
          <p:cNvSpPr txBox="1"/>
          <p:nvPr/>
        </p:nvSpPr>
        <p:spPr>
          <a:xfrm>
            <a:off x="3657409" y="4495800"/>
            <a:ext cx="1346844" cy="338554"/>
          </a:xfrm>
          <a:prstGeom prst="rect">
            <a:avLst/>
          </a:prstGeom>
          <a:noFill/>
        </p:spPr>
        <p:txBody>
          <a:bodyPr wrap="none" rtlCol="0">
            <a:spAutoFit/>
          </a:bodyPr>
          <a:lstStyle/>
          <a:p>
            <a:r>
              <a:rPr lang="en-US" sz="1600" dirty="0">
                <a:solidFill>
                  <a:srgbClr val="00B0F0"/>
                </a:solidFill>
              </a:rPr>
              <a:t>marine snow</a:t>
            </a: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bg>
      <p:bgPr>
        <a:solidFill>
          <a:schemeClr val="accent1"/>
        </a:solidFill>
        <a:effectLst/>
      </p:bgPr>
    </p:bg>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6F120D2C-DF7D-F34C-AA45-CD4E47C4C08E}"/>
              </a:ext>
            </a:extLst>
          </p:cNvPr>
          <p:cNvSpPr/>
          <p:nvPr/>
        </p:nvSpPr>
        <p:spPr>
          <a:xfrm>
            <a:off x="0" y="5943600"/>
            <a:ext cx="9144000" cy="609600"/>
          </a:xfrm>
          <a:prstGeom prst="rect">
            <a:avLst/>
          </a:prstGeom>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a:p>
        </p:txBody>
      </p:sp>
      <p:pic>
        <p:nvPicPr>
          <p:cNvPr id="128003" name="Picture 3" descr="graphic03.eps">
            <a:extLst>
              <a:ext uri="{FF2B5EF4-FFF2-40B4-BE49-F238E27FC236}">
                <a16:creationId xmlns:a16="http://schemas.microsoft.com/office/drawing/2014/main" id="{CE15DAB3-A4AA-BB43-8881-280919368582}"/>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76200" y="457200"/>
            <a:ext cx="8915400" cy="5930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28004" name="TextBox 1">
            <a:extLst>
              <a:ext uri="{FF2B5EF4-FFF2-40B4-BE49-F238E27FC236}">
                <a16:creationId xmlns:a16="http://schemas.microsoft.com/office/drawing/2014/main" id="{4EF5BE37-FB88-7846-833F-27868AC2B231}"/>
              </a:ext>
            </a:extLst>
          </p:cNvPr>
          <p:cNvSpPr txBox="1">
            <a:spLocks noChangeArrowheads="1"/>
          </p:cNvSpPr>
          <p:nvPr/>
        </p:nvSpPr>
        <p:spPr bwMode="auto">
          <a:xfrm>
            <a:off x="76200" y="5410200"/>
            <a:ext cx="2990850" cy="830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lgn="ctr" eaLnBrk="1" hangingPunct="1"/>
            <a:r>
              <a:rPr lang="en-US" altLang="en-US">
                <a:solidFill>
                  <a:srgbClr val="FF0000"/>
                </a:solidFill>
              </a:rPr>
              <a:t>ocean anoxic events</a:t>
            </a:r>
          </a:p>
          <a:p>
            <a:pPr algn="ctr" eaLnBrk="1" hangingPunct="1"/>
            <a:r>
              <a:rPr lang="en-US" altLang="en-US">
                <a:solidFill>
                  <a:srgbClr val="FF0000"/>
                </a:solidFill>
              </a:rPr>
              <a:t>black shales</a:t>
            </a:r>
          </a:p>
        </p:txBody>
      </p:sp>
      <p:sp>
        <p:nvSpPr>
          <p:cNvPr id="6" name="TextBox 5">
            <a:extLst>
              <a:ext uri="{FF2B5EF4-FFF2-40B4-BE49-F238E27FC236}">
                <a16:creationId xmlns:a16="http://schemas.microsoft.com/office/drawing/2014/main" id="{DF08659A-E79F-4643-8B8A-583D4CDECB53}"/>
              </a:ext>
            </a:extLst>
          </p:cNvPr>
          <p:cNvSpPr txBox="1"/>
          <p:nvPr/>
        </p:nvSpPr>
        <p:spPr>
          <a:xfrm>
            <a:off x="228600" y="1600200"/>
            <a:ext cx="1249363" cy="461963"/>
          </a:xfrm>
          <a:prstGeom prst="rect">
            <a:avLst/>
          </a:prstGeom>
          <a:noFill/>
        </p:spPr>
        <p:txBody>
          <a:bodyPr wrap="none">
            <a:spAutoFit/>
          </a:bodyPr>
          <a:lstStyle/>
          <a:p>
            <a:pPr algn="ctr">
              <a:defRPr/>
            </a:pPr>
            <a:r>
              <a:rPr lang="en-US" dirty="0">
                <a:solidFill>
                  <a:schemeClr val="bg1">
                    <a:lumMod val="50000"/>
                  </a:schemeClr>
                </a:solidFill>
                <a:latin typeface="Arial" charset="0"/>
                <a:ea typeface="ＭＳ Ｐゴシック" charset="0"/>
                <a:cs typeface="ＭＳ Ｐゴシック" charset="0"/>
              </a:rPr>
              <a:t>Present</a:t>
            </a:r>
          </a:p>
        </p:txBody>
      </p:sp>
      <p:sp>
        <p:nvSpPr>
          <p:cNvPr id="7" name="TextBox 6">
            <a:extLst>
              <a:ext uri="{FF2B5EF4-FFF2-40B4-BE49-F238E27FC236}">
                <a16:creationId xmlns:a16="http://schemas.microsoft.com/office/drawing/2014/main" id="{CF4981D6-F575-BE4A-B15D-237A53CF6DAA}"/>
              </a:ext>
            </a:extLst>
          </p:cNvPr>
          <p:cNvSpPr txBox="1"/>
          <p:nvPr/>
        </p:nvSpPr>
        <p:spPr>
          <a:xfrm>
            <a:off x="-6350" y="4876800"/>
            <a:ext cx="1758950" cy="461963"/>
          </a:xfrm>
          <a:prstGeom prst="rect">
            <a:avLst/>
          </a:prstGeom>
          <a:noFill/>
        </p:spPr>
        <p:txBody>
          <a:bodyPr wrap="none">
            <a:spAutoFit/>
          </a:bodyPr>
          <a:lstStyle/>
          <a:p>
            <a:pPr algn="ctr">
              <a:defRPr/>
            </a:pPr>
            <a:r>
              <a:rPr lang="en-US" dirty="0">
                <a:solidFill>
                  <a:schemeClr val="bg1">
                    <a:lumMod val="50000"/>
                  </a:schemeClr>
                </a:solidFill>
                <a:latin typeface="Arial" charset="0"/>
                <a:ea typeface="ＭＳ Ｐゴシック" charset="0"/>
                <a:cs typeface="ＭＳ Ｐゴシック" charset="0"/>
              </a:rPr>
              <a:t>Cretaceous</a:t>
            </a: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bg>
      <p:bgPr>
        <a:solidFill>
          <a:srgbClr val="470048"/>
        </a:solidFill>
        <a:effectLst/>
      </p:bgPr>
    </p:bg>
    <p:spTree>
      <p:nvGrpSpPr>
        <p:cNvPr id="1" name=""/>
        <p:cNvGrpSpPr/>
        <p:nvPr/>
      </p:nvGrpSpPr>
      <p:grpSpPr>
        <a:xfrm>
          <a:off x="0" y="0"/>
          <a:ext cx="0" cy="0"/>
          <a:chOff x="0" y="0"/>
          <a:chExt cx="0" cy="0"/>
        </a:xfrm>
      </p:grpSpPr>
      <p:sp>
        <p:nvSpPr>
          <p:cNvPr id="134146" name="Title 1">
            <a:extLst>
              <a:ext uri="{FF2B5EF4-FFF2-40B4-BE49-F238E27FC236}">
                <a16:creationId xmlns:a16="http://schemas.microsoft.com/office/drawing/2014/main" id="{CFE13808-9B14-4F41-86B8-EC5CB10DE5BC}"/>
              </a:ext>
            </a:extLst>
          </p:cNvPr>
          <p:cNvSpPr>
            <a:spLocks noGrp="1"/>
          </p:cNvSpPr>
          <p:nvPr>
            <p:ph type="ctrTitle"/>
          </p:nvPr>
        </p:nvSpPr>
        <p:spPr/>
        <p:txBody>
          <a:bodyPr/>
          <a:lstStyle/>
          <a:p>
            <a:pPr eaLnBrk="1" hangingPunct="1"/>
            <a:r>
              <a:rPr lang="en-US" altLang="en-US">
                <a:solidFill>
                  <a:srgbClr val="FFFF00"/>
                </a:solidFill>
                <a:latin typeface="Helvetica" pitchFamily="2" charset="0"/>
                <a:ea typeface="ＭＳ Ｐゴシック" panose="020B0600070205080204" pitchFamily="34" charset="-128"/>
              </a:rPr>
              <a:t>Implications for Global Climate-Scale Thinking for Field Geological Studies</a:t>
            </a: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36193" name="Picture 1" descr="Screen Shot 2016-11-07 at 4.06.02 PM.png">
            <a:extLst>
              <a:ext uri="{FF2B5EF4-FFF2-40B4-BE49-F238E27FC236}">
                <a16:creationId xmlns:a16="http://schemas.microsoft.com/office/drawing/2014/main" id="{40465F81-6D8E-8E43-AD27-49B0B2255986}"/>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2057400" y="-990600"/>
            <a:ext cx="12539663" cy="8001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36194" name="TextBox 4">
            <a:extLst>
              <a:ext uri="{FF2B5EF4-FFF2-40B4-BE49-F238E27FC236}">
                <a16:creationId xmlns:a16="http://schemas.microsoft.com/office/drawing/2014/main" id="{D958B940-539A-9B40-8BAE-36AB6339EB63}"/>
              </a:ext>
            </a:extLst>
          </p:cNvPr>
          <p:cNvSpPr txBox="1">
            <a:spLocks noChangeArrowheads="1"/>
          </p:cNvSpPr>
          <p:nvPr/>
        </p:nvSpPr>
        <p:spPr bwMode="auto">
          <a:xfrm>
            <a:off x="0" y="6019800"/>
            <a:ext cx="3109913"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r>
              <a:rPr lang="en-US" altLang="en-US" sz="1800"/>
              <a:t>(Lunt et al. 2016, </a:t>
            </a:r>
            <a:r>
              <a:rPr lang="en-US" altLang="en-US" sz="1800" i="1"/>
              <a:t>Clim. Past</a:t>
            </a:r>
            <a:r>
              <a:rPr lang="en-US" altLang="en-US" sz="1800"/>
              <a:t>)</a:t>
            </a:r>
          </a:p>
        </p:txBody>
      </p:sp>
      <p:sp>
        <p:nvSpPr>
          <p:cNvPr id="136195" name="TextBox 2">
            <a:extLst>
              <a:ext uri="{FF2B5EF4-FFF2-40B4-BE49-F238E27FC236}">
                <a16:creationId xmlns:a16="http://schemas.microsoft.com/office/drawing/2014/main" id="{6DCB5A72-F11D-394F-BA56-15CDE6E3DF63}"/>
              </a:ext>
            </a:extLst>
          </p:cNvPr>
          <p:cNvSpPr txBox="1">
            <a:spLocks noChangeArrowheads="1"/>
          </p:cNvSpPr>
          <p:nvPr/>
        </p:nvSpPr>
        <p:spPr bwMode="auto">
          <a:xfrm>
            <a:off x="1600200" y="1143000"/>
            <a:ext cx="1249363"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r>
              <a:rPr lang="en-US" altLang="en-US"/>
              <a:t>Present</a:t>
            </a:r>
          </a:p>
        </p:txBody>
      </p:sp>
      <p:sp>
        <p:nvSpPr>
          <p:cNvPr id="136196" name="TextBox 6">
            <a:extLst>
              <a:ext uri="{FF2B5EF4-FFF2-40B4-BE49-F238E27FC236}">
                <a16:creationId xmlns:a16="http://schemas.microsoft.com/office/drawing/2014/main" id="{294750A0-EE5A-BC46-8BD4-67A964CA1438}"/>
              </a:ext>
            </a:extLst>
          </p:cNvPr>
          <p:cNvSpPr txBox="1">
            <a:spLocks noChangeArrowheads="1"/>
          </p:cNvSpPr>
          <p:nvPr/>
        </p:nvSpPr>
        <p:spPr bwMode="auto">
          <a:xfrm>
            <a:off x="1981200" y="1752600"/>
            <a:ext cx="1039813"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r>
              <a:rPr lang="en-US" altLang="en-US"/>
              <a:t>34 Ma</a:t>
            </a:r>
          </a:p>
        </p:txBody>
      </p:sp>
      <p:sp>
        <p:nvSpPr>
          <p:cNvPr id="136197" name="TextBox 7">
            <a:extLst>
              <a:ext uri="{FF2B5EF4-FFF2-40B4-BE49-F238E27FC236}">
                <a16:creationId xmlns:a16="http://schemas.microsoft.com/office/drawing/2014/main" id="{9F76EE04-5C80-7045-8DFA-9F33615C5AC1}"/>
              </a:ext>
            </a:extLst>
          </p:cNvPr>
          <p:cNvSpPr txBox="1">
            <a:spLocks noChangeArrowheads="1"/>
          </p:cNvSpPr>
          <p:nvPr/>
        </p:nvSpPr>
        <p:spPr bwMode="auto">
          <a:xfrm>
            <a:off x="3886200" y="2133600"/>
            <a:ext cx="1211263"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r>
              <a:rPr lang="en-US" altLang="en-US"/>
              <a:t>146 Ma</a:t>
            </a: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37217" name="Picture 2" descr="Screen Shot 2016-11-07 at 4.06.12 PM.png">
            <a:extLst>
              <a:ext uri="{FF2B5EF4-FFF2-40B4-BE49-F238E27FC236}">
                <a16:creationId xmlns:a16="http://schemas.microsoft.com/office/drawing/2014/main" id="{FD87CB98-765F-1540-953F-E6C01B356D2D}"/>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0" y="76200"/>
            <a:ext cx="9144000" cy="6524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37218" name="TextBox 3">
            <a:extLst>
              <a:ext uri="{FF2B5EF4-FFF2-40B4-BE49-F238E27FC236}">
                <a16:creationId xmlns:a16="http://schemas.microsoft.com/office/drawing/2014/main" id="{A2BA6118-F88E-6A46-B6FD-4076DEE52361}"/>
              </a:ext>
            </a:extLst>
          </p:cNvPr>
          <p:cNvSpPr txBox="1">
            <a:spLocks noChangeArrowheads="1"/>
          </p:cNvSpPr>
          <p:nvPr/>
        </p:nvSpPr>
        <p:spPr bwMode="auto">
          <a:xfrm>
            <a:off x="0" y="6488113"/>
            <a:ext cx="3109913"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r>
              <a:rPr lang="en-US" altLang="en-US" sz="1800"/>
              <a:t>(Lunt et al. 2016, </a:t>
            </a:r>
            <a:r>
              <a:rPr lang="en-US" altLang="en-US" sz="1800" i="1"/>
              <a:t>Clim. Past</a:t>
            </a:r>
            <a:r>
              <a:rPr lang="en-US" altLang="en-US" sz="1800"/>
              <a:t>)</a:t>
            </a: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8241" name="Rectangle 1027">
            <a:extLst>
              <a:ext uri="{FF2B5EF4-FFF2-40B4-BE49-F238E27FC236}">
                <a16:creationId xmlns:a16="http://schemas.microsoft.com/office/drawing/2014/main" id="{852295B3-8D99-CD44-BD2D-4F07B3978CE5}"/>
              </a:ext>
            </a:extLst>
          </p:cNvPr>
          <p:cNvSpPr>
            <a:spLocks noChangeArrowheads="1"/>
          </p:cNvSpPr>
          <p:nvPr/>
        </p:nvSpPr>
        <p:spPr bwMode="auto">
          <a:xfrm>
            <a:off x="533400" y="533400"/>
            <a:ext cx="7924800" cy="762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lgn="ctr" eaLnBrk="1" hangingPunct="1"/>
            <a:r>
              <a:rPr lang="en-US" altLang="en-US" sz="3200">
                <a:solidFill>
                  <a:srgbClr val="000F7F"/>
                </a:solidFill>
                <a:cs typeface="Arial" panose="020B0604020202020204" pitchFamily="34" charset="0"/>
              </a:rPr>
              <a:t>Your field site</a:t>
            </a:r>
          </a:p>
          <a:p>
            <a:pPr algn="ctr" eaLnBrk="1" hangingPunct="1"/>
            <a:endParaRPr lang="en-US" altLang="en-US" sz="3200">
              <a:solidFill>
                <a:srgbClr val="000F7F"/>
              </a:solidFill>
              <a:cs typeface="Arial" panose="020B0604020202020204" pitchFamily="34" charset="0"/>
            </a:endParaRPr>
          </a:p>
        </p:txBody>
      </p:sp>
      <p:pic>
        <p:nvPicPr>
          <p:cNvPr id="138242" name="Picture 1" descr="SEUtahStrat.JPG">
            <a:extLst>
              <a:ext uri="{FF2B5EF4-FFF2-40B4-BE49-F238E27FC236}">
                <a16:creationId xmlns:a16="http://schemas.microsoft.com/office/drawing/2014/main" id="{7FB222DC-02F2-0B40-BD64-EE5FBAE9386C}"/>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0" y="1668463"/>
            <a:ext cx="9144000" cy="51895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0289" name="Rectangle 1027">
            <a:extLst>
              <a:ext uri="{FF2B5EF4-FFF2-40B4-BE49-F238E27FC236}">
                <a16:creationId xmlns:a16="http://schemas.microsoft.com/office/drawing/2014/main" id="{E201C827-B886-2641-BAA1-2BBA102B2DBC}"/>
              </a:ext>
            </a:extLst>
          </p:cNvPr>
          <p:cNvSpPr>
            <a:spLocks noChangeArrowheads="1"/>
          </p:cNvSpPr>
          <p:nvPr/>
        </p:nvSpPr>
        <p:spPr bwMode="auto">
          <a:xfrm>
            <a:off x="533400" y="533400"/>
            <a:ext cx="7924800" cy="762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lgn="ctr" eaLnBrk="1" hangingPunct="1"/>
            <a:r>
              <a:rPr lang="en-US" altLang="en-US" sz="3200">
                <a:solidFill>
                  <a:srgbClr val="000F7F"/>
                </a:solidFill>
                <a:cs typeface="Arial" panose="020B0604020202020204" pitchFamily="34" charset="0"/>
              </a:rPr>
              <a:t>Your field site</a:t>
            </a:r>
          </a:p>
          <a:p>
            <a:pPr algn="ctr" eaLnBrk="1" hangingPunct="1"/>
            <a:endParaRPr lang="en-US" altLang="en-US" sz="3200">
              <a:solidFill>
                <a:srgbClr val="000F7F"/>
              </a:solidFill>
              <a:cs typeface="Arial" panose="020B0604020202020204" pitchFamily="34" charset="0"/>
            </a:endParaRPr>
          </a:p>
        </p:txBody>
      </p:sp>
      <p:pic>
        <p:nvPicPr>
          <p:cNvPr id="140290" name="Picture 1" descr="SEUtahStrat.JPG">
            <a:extLst>
              <a:ext uri="{FF2B5EF4-FFF2-40B4-BE49-F238E27FC236}">
                <a16:creationId xmlns:a16="http://schemas.microsoft.com/office/drawing/2014/main" id="{F6355319-CD62-AF4E-8746-062122B5EF2B}"/>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0" y="1668463"/>
            <a:ext cx="9144000" cy="51895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40291" name="TextBox 2">
            <a:extLst>
              <a:ext uri="{FF2B5EF4-FFF2-40B4-BE49-F238E27FC236}">
                <a16:creationId xmlns:a16="http://schemas.microsoft.com/office/drawing/2014/main" id="{227A2F9C-3A44-BE48-BD4E-D3FA51ACDB08}"/>
              </a:ext>
            </a:extLst>
          </p:cNvPr>
          <p:cNvSpPr txBox="1">
            <a:spLocks noChangeArrowheads="1"/>
          </p:cNvSpPr>
          <p:nvPr/>
        </p:nvSpPr>
        <p:spPr bwMode="auto">
          <a:xfrm>
            <a:off x="3962400" y="3505200"/>
            <a:ext cx="3657600"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r>
              <a:rPr lang="en-US" altLang="en-US" b="1">
                <a:solidFill>
                  <a:schemeClr val="accent1"/>
                </a:solidFill>
              </a:rPr>
              <a:t>braided-river sediments</a:t>
            </a:r>
          </a:p>
        </p:txBody>
      </p:sp>
      <p:sp>
        <p:nvSpPr>
          <p:cNvPr id="140292" name="TextBox 4">
            <a:extLst>
              <a:ext uri="{FF2B5EF4-FFF2-40B4-BE49-F238E27FC236}">
                <a16:creationId xmlns:a16="http://schemas.microsoft.com/office/drawing/2014/main" id="{F88A8A78-9967-8A44-AE27-B0D5EB3E1765}"/>
              </a:ext>
            </a:extLst>
          </p:cNvPr>
          <p:cNvSpPr txBox="1">
            <a:spLocks noChangeArrowheads="1"/>
          </p:cNvSpPr>
          <p:nvPr/>
        </p:nvSpPr>
        <p:spPr bwMode="auto">
          <a:xfrm>
            <a:off x="5486400" y="2057400"/>
            <a:ext cx="2870200"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r>
              <a:rPr lang="en-US" altLang="en-US" b="1">
                <a:solidFill>
                  <a:srgbClr val="FFFFFF"/>
                </a:solidFill>
              </a:rPr>
              <a:t>aeolian sandstone</a:t>
            </a:r>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2337" name="Rectangle 1027">
            <a:extLst>
              <a:ext uri="{FF2B5EF4-FFF2-40B4-BE49-F238E27FC236}">
                <a16:creationId xmlns:a16="http://schemas.microsoft.com/office/drawing/2014/main" id="{938E0D57-E309-1942-BC7E-F9F0CA02ABD8}"/>
              </a:ext>
            </a:extLst>
          </p:cNvPr>
          <p:cNvSpPr>
            <a:spLocks noChangeArrowheads="1"/>
          </p:cNvSpPr>
          <p:nvPr/>
        </p:nvSpPr>
        <p:spPr bwMode="auto">
          <a:xfrm>
            <a:off x="457200" y="304800"/>
            <a:ext cx="7924800" cy="762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lgn="ctr" eaLnBrk="1" hangingPunct="1"/>
            <a:r>
              <a:rPr lang="en-US" altLang="en-US" sz="3200">
                <a:solidFill>
                  <a:srgbClr val="FF0000"/>
                </a:solidFill>
                <a:cs typeface="Arial" panose="020B0604020202020204" pitchFamily="34" charset="0"/>
              </a:rPr>
              <a:t>How do you know that the climate changed or the paleolocation changed?</a:t>
            </a:r>
          </a:p>
          <a:p>
            <a:pPr algn="ctr" eaLnBrk="1" hangingPunct="1"/>
            <a:endParaRPr lang="en-US" altLang="en-US" sz="3200">
              <a:solidFill>
                <a:srgbClr val="FF0000"/>
              </a:solidFill>
              <a:cs typeface="Arial" panose="020B0604020202020204" pitchFamily="34" charset="0"/>
            </a:endParaRPr>
          </a:p>
          <a:p>
            <a:pPr algn="ctr" eaLnBrk="1" hangingPunct="1"/>
            <a:endParaRPr lang="en-US" altLang="en-US" sz="3200">
              <a:solidFill>
                <a:srgbClr val="FF0000"/>
              </a:solidFill>
              <a:cs typeface="Arial" panose="020B0604020202020204" pitchFamily="34" charset="0"/>
            </a:endParaRPr>
          </a:p>
          <a:p>
            <a:pPr algn="ctr" eaLnBrk="1" hangingPunct="1"/>
            <a:endParaRPr lang="en-US" altLang="en-US" sz="3200">
              <a:solidFill>
                <a:srgbClr val="FF0000"/>
              </a:solidFill>
              <a:cs typeface="Arial" panose="020B0604020202020204" pitchFamily="34" charset="0"/>
            </a:endParaRPr>
          </a:p>
        </p:txBody>
      </p:sp>
      <p:pic>
        <p:nvPicPr>
          <p:cNvPr id="142338" name="Picture 1" descr="SEUtahStrat.JPG">
            <a:extLst>
              <a:ext uri="{FF2B5EF4-FFF2-40B4-BE49-F238E27FC236}">
                <a16:creationId xmlns:a16="http://schemas.microsoft.com/office/drawing/2014/main" id="{0BB3E1F4-BFBB-AC4A-BFFA-F8A1D053D718}"/>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0" y="1668463"/>
            <a:ext cx="9144000" cy="51895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42339" name="TextBox 3">
            <a:extLst>
              <a:ext uri="{FF2B5EF4-FFF2-40B4-BE49-F238E27FC236}">
                <a16:creationId xmlns:a16="http://schemas.microsoft.com/office/drawing/2014/main" id="{CBD05C9B-E72B-2441-8218-75CC064AEB0A}"/>
              </a:ext>
            </a:extLst>
          </p:cNvPr>
          <p:cNvSpPr txBox="1">
            <a:spLocks noChangeArrowheads="1"/>
          </p:cNvSpPr>
          <p:nvPr/>
        </p:nvSpPr>
        <p:spPr bwMode="auto">
          <a:xfrm>
            <a:off x="3962400" y="3505200"/>
            <a:ext cx="3657600"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r>
              <a:rPr lang="en-US" altLang="en-US" b="1">
                <a:solidFill>
                  <a:schemeClr val="accent1"/>
                </a:solidFill>
              </a:rPr>
              <a:t>braided-river sediments</a:t>
            </a:r>
          </a:p>
        </p:txBody>
      </p:sp>
      <p:sp>
        <p:nvSpPr>
          <p:cNvPr id="142340" name="TextBox 4">
            <a:extLst>
              <a:ext uri="{FF2B5EF4-FFF2-40B4-BE49-F238E27FC236}">
                <a16:creationId xmlns:a16="http://schemas.microsoft.com/office/drawing/2014/main" id="{026E0F37-F0C0-1142-8E29-E6CF6E4A8F96}"/>
              </a:ext>
            </a:extLst>
          </p:cNvPr>
          <p:cNvSpPr txBox="1">
            <a:spLocks noChangeArrowheads="1"/>
          </p:cNvSpPr>
          <p:nvPr/>
        </p:nvSpPr>
        <p:spPr bwMode="auto">
          <a:xfrm>
            <a:off x="5486400" y="2057400"/>
            <a:ext cx="2870200"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r>
              <a:rPr lang="en-US" altLang="en-US" b="1">
                <a:solidFill>
                  <a:srgbClr val="FFFFFF"/>
                </a:solidFill>
              </a:rPr>
              <a:t>aeolian sandstone</a:t>
            </a:r>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bg>
      <p:bgPr>
        <a:solidFill>
          <a:srgbClr val="063D09"/>
        </a:solidFill>
        <a:effectLst/>
      </p:bgPr>
    </p:bg>
    <p:spTree>
      <p:nvGrpSpPr>
        <p:cNvPr id="1" name=""/>
        <p:cNvGrpSpPr/>
        <p:nvPr/>
      </p:nvGrpSpPr>
      <p:grpSpPr>
        <a:xfrm>
          <a:off x="0" y="0"/>
          <a:ext cx="0" cy="0"/>
          <a:chOff x="0" y="0"/>
          <a:chExt cx="0" cy="0"/>
        </a:xfrm>
      </p:grpSpPr>
      <p:sp>
        <p:nvSpPr>
          <p:cNvPr id="8" name="TextBox 7">
            <a:extLst>
              <a:ext uri="{FF2B5EF4-FFF2-40B4-BE49-F238E27FC236}">
                <a16:creationId xmlns:a16="http://schemas.microsoft.com/office/drawing/2014/main" id="{BE20ECB5-E326-2442-AA3B-9A4D46DF045E}"/>
              </a:ext>
            </a:extLst>
          </p:cNvPr>
          <p:cNvSpPr txBox="1"/>
          <p:nvPr/>
        </p:nvSpPr>
        <p:spPr>
          <a:xfrm>
            <a:off x="0" y="76200"/>
            <a:ext cx="9144000" cy="914400"/>
          </a:xfrm>
          <a:prstGeom prst="rect">
            <a:avLst/>
          </a:prstGeom>
          <a:noFill/>
        </p:spPr>
        <p:txBody>
          <a:bodyP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lgn="ctr" eaLnBrk="1" hangingPunct="1"/>
            <a:r>
              <a:rPr lang="en-US" altLang="en-US" sz="5400" dirty="0">
                <a:solidFill>
                  <a:srgbClr val="FBFF09"/>
                </a:solidFill>
                <a:effectLst>
                  <a:outerShdw blurRad="38100" dist="38100" dir="2700000" algn="tl">
                    <a:srgbClr val="000000"/>
                  </a:outerShdw>
                </a:effectLst>
                <a:latin typeface="Helvetica" pitchFamily="2" charset="0"/>
              </a:rPr>
              <a:t>Summary</a:t>
            </a:r>
          </a:p>
        </p:txBody>
      </p:sp>
      <p:sp>
        <p:nvSpPr>
          <p:cNvPr id="2" name="TextBox 7">
            <a:extLst>
              <a:ext uri="{FF2B5EF4-FFF2-40B4-BE49-F238E27FC236}">
                <a16:creationId xmlns:a16="http://schemas.microsoft.com/office/drawing/2014/main" id="{EFECD608-088F-CD48-90B6-D1C0AD3DCAB4}"/>
              </a:ext>
            </a:extLst>
          </p:cNvPr>
          <p:cNvSpPr txBox="1"/>
          <p:nvPr/>
        </p:nvSpPr>
        <p:spPr>
          <a:xfrm>
            <a:off x="381000" y="1447800"/>
            <a:ext cx="8610600" cy="5357108"/>
          </a:xfrm>
          <a:prstGeom prst="rect">
            <a:avLst/>
          </a:prstGeom>
          <a:noFill/>
        </p:spPr>
        <p:txBody>
          <a:bodyP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lnSpc>
                <a:spcPct val="110000"/>
              </a:lnSpc>
            </a:pPr>
            <a:r>
              <a:rPr lang="en-US" altLang="en-US" dirty="0">
                <a:solidFill>
                  <a:schemeClr val="accent1"/>
                </a:solidFill>
                <a:effectLst>
                  <a:outerShdw blurRad="38100" dist="38100" dir="2700000" algn="tl">
                    <a:srgbClr val="000000"/>
                  </a:outerShdw>
                </a:effectLst>
                <a:latin typeface="Helvetica" pitchFamily="2" charset="0"/>
              </a:rPr>
              <a:t>Climate feedbacks help us understand the interactions between the different climate components.</a:t>
            </a:r>
          </a:p>
          <a:p>
            <a:pPr eaLnBrk="1" hangingPunct="1">
              <a:lnSpc>
                <a:spcPct val="110000"/>
              </a:lnSpc>
            </a:pPr>
            <a:endParaRPr lang="en-US" altLang="en-US" dirty="0">
              <a:solidFill>
                <a:schemeClr val="accent1"/>
              </a:solidFill>
              <a:effectLst>
                <a:outerShdw blurRad="38100" dist="38100" dir="2700000" algn="tl">
                  <a:srgbClr val="000000"/>
                </a:outerShdw>
              </a:effectLst>
              <a:latin typeface="Helvetica" pitchFamily="2" charset="0"/>
            </a:endParaRPr>
          </a:p>
          <a:p>
            <a:pPr eaLnBrk="1" hangingPunct="1">
              <a:lnSpc>
                <a:spcPct val="110000"/>
              </a:lnSpc>
            </a:pPr>
            <a:r>
              <a:rPr lang="en-US" altLang="en-US" dirty="0">
                <a:solidFill>
                  <a:schemeClr val="accent1"/>
                </a:solidFill>
                <a:effectLst>
                  <a:outerShdw blurRad="38100" dist="38100" dir="2700000" algn="tl">
                    <a:srgbClr val="000000"/>
                  </a:outerShdw>
                </a:effectLst>
                <a:latin typeface="Helvetica" pitchFamily="2" charset="0"/>
              </a:rPr>
              <a:t>Glacial </a:t>
            </a:r>
            <a:r>
              <a:rPr lang="en-US" altLang="en-US" dirty="0" err="1">
                <a:solidFill>
                  <a:schemeClr val="accent1"/>
                </a:solidFill>
                <a:effectLst>
                  <a:outerShdw blurRad="38100" dist="38100" dir="2700000" algn="tl">
                    <a:srgbClr val="000000"/>
                  </a:outerShdw>
                </a:effectLst>
                <a:latin typeface="Helvetica" pitchFamily="2" charset="0"/>
              </a:rPr>
              <a:t>buzzsaw</a:t>
            </a:r>
            <a:r>
              <a:rPr lang="en-US" altLang="en-US" dirty="0">
                <a:solidFill>
                  <a:schemeClr val="accent1"/>
                </a:solidFill>
                <a:effectLst>
                  <a:outerShdw blurRad="38100" dist="38100" dir="2700000" algn="tl">
                    <a:srgbClr val="000000"/>
                  </a:outerShdw>
                </a:effectLst>
                <a:latin typeface="Helvetica" pitchFamily="2" charset="0"/>
              </a:rPr>
              <a:t> limits the growth of mountains.</a:t>
            </a:r>
          </a:p>
          <a:p>
            <a:pPr eaLnBrk="1" hangingPunct="1">
              <a:lnSpc>
                <a:spcPct val="110000"/>
              </a:lnSpc>
            </a:pPr>
            <a:endParaRPr lang="en-US" altLang="en-US" dirty="0">
              <a:solidFill>
                <a:schemeClr val="accent1"/>
              </a:solidFill>
              <a:effectLst>
                <a:outerShdw blurRad="38100" dist="38100" dir="2700000" algn="tl">
                  <a:srgbClr val="000000"/>
                </a:outerShdw>
              </a:effectLst>
              <a:latin typeface="Helvetica" pitchFamily="2" charset="0"/>
            </a:endParaRPr>
          </a:p>
          <a:p>
            <a:pPr eaLnBrk="1" hangingPunct="1">
              <a:lnSpc>
                <a:spcPct val="110000"/>
              </a:lnSpc>
            </a:pPr>
            <a:r>
              <a:rPr lang="en-US" altLang="en-US" dirty="0">
                <a:solidFill>
                  <a:schemeClr val="accent1"/>
                </a:solidFill>
                <a:effectLst>
                  <a:outerShdw blurRad="38100" dist="38100" dir="2700000" algn="tl">
                    <a:srgbClr val="000000"/>
                  </a:outerShdw>
                </a:effectLst>
                <a:latin typeface="Helvetica" pitchFamily="2" charset="0"/>
              </a:rPr>
              <a:t>Weathering of silicates removes carbon dioxide from </a:t>
            </a:r>
            <a:r>
              <a:rPr lang="en-US" altLang="en-US">
                <a:solidFill>
                  <a:schemeClr val="accent1"/>
                </a:solidFill>
                <a:effectLst>
                  <a:outerShdw blurRad="38100" dist="38100" dir="2700000" algn="tl">
                    <a:srgbClr val="000000"/>
                  </a:outerShdw>
                </a:effectLst>
                <a:latin typeface="Helvetica" pitchFamily="2" charset="0"/>
              </a:rPr>
              <a:t>the atmosphere.</a:t>
            </a:r>
            <a:endParaRPr lang="en-US" altLang="en-US" dirty="0">
              <a:solidFill>
                <a:schemeClr val="accent1"/>
              </a:solidFill>
              <a:effectLst>
                <a:outerShdw blurRad="38100" dist="38100" dir="2700000" algn="tl">
                  <a:srgbClr val="000000"/>
                </a:outerShdw>
              </a:effectLst>
              <a:latin typeface="Helvetica" pitchFamily="2" charset="0"/>
            </a:endParaRPr>
          </a:p>
          <a:p>
            <a:pPr eaLnBrk="1" hangingPunct="1">
              <a:lnSpc>
                <a:spcPct val="110000"/>
              </a:lnSpc>
            </a:pPr>
            <a:endParaRPr lang="en-US" altLang="en-US" dirty="0">
              <a:solidFill>
                <a:schemeClr val="accent1"/>
              </a:solidFill>
              <a:effectLst>
                <a:outerShdw blurRad="38100" dist="38100" dir="2700000" algn="tl">
                  <a:srgbClr val="000000"/>
                </a:outerShdw>
              </a:effectLst>
              <a:latin typeface="Helvetica" pitchFamily="2" charset="0"/>
            </a:endParaRPr>
          </a:p>
          <a:p>
            <a:pPr eaLnBrk="1" hangingPunct="1">
              <a:lnSpc>
                <a:spcPct val="110000"/>
              </a:lnSpc>
            </a:pPr>
            <a:r>
              <a:rPr lang="en-US" altLang="en-US" dirty="0">
                <a:solidFill>
                  <a:schemeClr val="accent1"/>
                </a:solidFill>
                <a:effectLst>
                  <a:outerShdw blurRad="38100" dist="38100" dir="2700000" algn="tl">
                    <a:srgbClr val="000000"/>
                  </a:outerShdw>
                </a:effectLst>
                <a:latin typeface="Helvetica" pitchFamily="2" charset="0"/>
              </a:rPr>
              <a:t>Hot-house climates limit the decay of organic material in ocean.</a:t>
            </a:r>
          </a:p>
          <a:p>
            <a:pPr eaLnBrk="1" hangingPunct="1">
              <a:lnSpc>
                <a:spcPct val="110000"/>
              </a:lnSpc>
            </a:pPr>
            <a:endParaRPr lang="en-US" altLang="en-US" dirty="0">
              <a:solidFill>
                <a:schemeClr val="accent1"/>
              </a:solidFill>
              <a:effectLst>
                <a:outerShdw blurRad="38100" dist="38100" dir="2700000" algn="tl">
                  <a:srgbClr val="000000"/>
                </a:outerShdw>
              </a:effectLst>
              <a:latin typeface="Helvetica" pitchFamily="2" charset="0"/>
            </a:endParaRPr>
          </a:p>
          <a:p>
            <a:pPr eaLnBrk="1" hangingPunct="1">
              <a:lnSpc>
                <a:spcPct val="110000"/>
              </a:lnSpc>
            </a:pPr>
            <a:r>
              <a:rPr lang="en-US" altLang="en-US" dirty="0">
                <a:solidFill>
                  <a:schemeClr val="accent1"/>
                </a:solidFill>
                <a:effectLst>
                  <a:outerShdw blurRad="38100" dist="38100" dir="2700000" algn="tl">
                    <a:srgbClr val="000000"/>
                  </a:outerShdw>
                </a:effectLst>
                <a:latin typeface="Helvetica" pitchFamily="2" charset="0"/>
              </a:rPr>
              <a:t>Be careful interpreting single-site changes in climate in your fieldwork.</a:t>
            </a:r>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bg>
      <p:bgPr>
        <a:solidFill>
          <a:schemeClr val="bg1">
            <a:lumMod val="25000"/>
          </a:schemeClr>
        </a:solidFill>
        <a:effectLst/>
      </p:bgPr>
    </p:bg>
    <p:spTree>
      <p:nvGrpSpPr>
        <p:cNvPr id="1" name=""/>
        <p:cNvGrpSpPr/>
        <p:nvPr/>
      </p:nvGrpSpPr>
      <p:grpSpPr>
        <a:xfrm>
          <a:off x="0" y="0"/>
          <a:ext cx="0" cy="0"/>
          <a:chOff x="0" y="0"/>
          <a:chExt cx="0" cy="0"/>
        </a:xfrm>
      </p:grpSpPr>
      <p:sp>
        <p:nvSpPr>
          <p:cNvPr id="30722" name="Content Placeholder 2">
            <a:extLst>
              <a:ext uri="{FF2B5EF4-FFF2-40B4-BE49-F238E27FC236}">
                <a16:creationId xmlns:a16="http://schemas.microsoft.com/office/drawing/2014/main" id="{99B0D072-17FC-F540-8EE6-199FD232EB57}"/>
              </a:ext>
            </a:extLst>
          </p:cNvPr>
          <p:cNvSpPr>
            <a:spLocks noGrp="1" noChangeArrowheads="1"/>
          </p:cNvSpPr>
          <p:nvPr>
            <p:ph idx="1"/>
          </p:nvPr>
        </p:nvSpPr>
        <p:spPr>
          <a:xfrm>
            <a:off x="381000" y="1066800"/>
            <a:ext cx="8458200" cy="2438400"/>
          </a:xfrm>
        </p:spPr>
        <p:txBody>
          <a:bodyPr/>
          <a:lstStyle/>
          <a:p>
            <a:pPr marL="0" indent="0">
              <a:buNone/>
            </a:pPr>
            <a:endParaRPr lang="en-US" altLang="en-US" sz="3600" dirty="0">
              <a:solidFill>
                <a:srgbClr val="FFFF00"/>
              </a:solidFill>
              <a:ea typeface="ＭＳ Ｐゴシック" panose="020B0600070205080204" pitchFamily="34" charset="-128"/>
              <a:cs typeface="ＭＳ Ｐゴシック" panose="020B0600070205080204" pitchFamily="34" charset="-128"/>
            </a:endParaRPr>
          </a:p>
          <a:p>
            <a:pPr marL="0" indent="0">
              <a:buNone/>
            </a:pPr>
            <a:r>
              <a:rPr lang="en-US" altLang="en-US" sz="3600" dirty="0">
                <a:solidFill>
                  <a:srgbClr val="FFFF00"/>
                </a:solidFill>
                <a:ea typeface="ＭＳ Ｐゴシック" panose="020B0600070205080204" pitchFamily="34" charset="-128"/>
                <a:cs typeface="ＭＳ Ｐゴシック" panose="020B0600070205080204" pitchFamily="34" charset="-128"/>
              </a:rPr>
              <a:t>Anthropogenic climate change affects all five components of the climate system.</a:t>
            </a:r>
          </a:p>
        </p:txBody>
      </p:sp>
    </p:spTree>
    <p:extLst>
      <p:ext uri="{BB962C8B-B14F-4D97-AF65-F5344CB8AC3E}">
        <p14:creationId xmlns:p14="http://schemas.microsoft.com/office/powerpoint/2010/main" val="518616924"/>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bg>
      <p:bgPr>
        <a:solidFill>
          <a:schemeClr val="accent1"/>
        </a:solidFill>
        <a:effectLst/>
      </p:bgPr>
    </p:bg>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51CFC60A-6CC3-A247-9ADA-8FC3243DDF9E}"/>
              </a:ext>
            </a:extLst>
          </p:cNvPr>
          <p:cNvPicPr>
            <a:picLocks noChangeAspect="1"/>
          </p:cNvPicPr>
          <p:nvPr/>
        </p:nvPicPr>
        <p:blipFill>
          <a:blip r:embed="rId3"/>
          <a:stretch>
            <a:fillRect/>
          </a:stretch>
        </p:blipFill>
        <p:spPr>
          <a:xfrm>
            <a:off x="0" y="0"/>
            <a:ext cx="9144000" cy="3930404"/>
          </a:xfrm>
          <a:prstGeom prst="rect">
            <a:avLst/>
          </a:prstGeom>
        </p:spPr>
      </p:pic>
      <p:sp>
        <p:nvSpPr>
          <p:cNvPr id="6" name="TextBox 5">
            <a:extLst>
              <a:ext uri="{FF2B5EF4-FFF2-40B4-BE49-F238E27FC236}">
                <a16:creationId xmlns:a16="http://schemas.microsoft.com/office/drawing/2014/main" id="{C5F46015-E255-2640-9E2D-75DE05464274}"/>
              </a:ext>
            </a:extLst>
          </p:cNvPr>
          <p:cNvSpPr txBox="1"/>
          <p:nvPr/>
        </p:nvSpPr>
        <p:spPr>
          <a:xfrm>
            <a:off x="7315200" y="6500396"/>
            <a:ext cx="1941557" cy="369332"/>
          </a:xfrm>
          <a:prstGeom prst="rect">
            <a:avLst/>
          </a:prstGeom>
          <a:noFill/>
        </p:spPr>
        <p:txBody>
          <a:bodyPr wrap="none" rtlCol="0">
            <a:spAutoFit/>
          </a:bodyPr>
          <a:lstStyle/>
          <a:p>
            <a:r>
              <a:rPr lang="en-US" sz="1800" dirty="0"/>
              <a:t>Lear et al. (2020)</a:t>
            </a:r>
          </a:p>
        </p:txBody>
      </p:sp>
    </p:spTree>
    <p:extLst>
      <p:ext uri="{BB962C8B-B14F-4D97-AF65-F5344CB8AC3E}">
        <p14:creationId xmlns:p14="http://schemas.microsoft.com/office/powerpoint/2010/main" val="1663565181"/>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bg>
      <p:bgPr>
        <a:solidFill>
          <a:schemeClr val="accent1"/>
        </a:solidFill>
        <a:effectLst/>
      </p:bgPr>
    </p:bg>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2E9F8620-3211-E241-984F-1AD9D3171DB0}"/>
              </a:ext>
            </a:extLst>
          </p:cNvPr>
          <p:cNvPicPr>
            <a:picLocks noChangeAspect="1"/>
          </p:cNvPicPr>
          <p:nvPr/>
        </p:nvPicPr>
        <p:blipFill>
          <a:blip r:embed="rId3"/>
          <a:stretch>
            <a:fillRect/>
          </a:stretch>
        </p:blipFill>
        <p:spPr>
          <a:xfrm>
            <a:off x="152400" y="0"/>
            <a:ext cx="8592618" cy="6858000"/>
          </a:xfrm>
          <a:prstGeom prst="rect">
            <a:avLst/>
          </a:prstGeom>
        </p:spPr>
      </p:pic>
      <p:sp>
        <p:nvSpPr>
          <p:cNvPr id="6" name="TextBox 5">
            <a:extLst>
              <a:ext uri="{FF2B5EF4-FFF2-40B4-BE49-F238E27FC236}">
                <a16:creationId xmlns:a16="http://schemas.microsoft.com/office/drawing/2014/main" id="{C5F46015-E255-2640-9E2D-75DE05464274}"/>
              </a:ext>
            </a:extLst>
          </p:cNvPr>
          <p:cNvSpPr txBox="1"/>
          <p:nvPr/>
        </p:nvSpPr>
        <p:spPr>
          <a:xfrm>
            <a:off x="7202443" y="6488668"/>
            <a:ext cx="1941557" cy="369332"/>
          </a:xfrm>
          <a:prstGeom prst="rect">
            <a:avLst/>
          </a:prstGeom>
          <a:noFill/>
        </p:spPr>
        <p:txBody>
          <a:bodyPr wrap="none" rtlCol="0">
            <a:spAutoFit/>
          </a:bodyPr>
          <a:lstStyle/>
          <a:p>
            <a:r>
              <a:rPr lang="en-US" sz="1800" dirty="0"/>
              <a:t>Lear et al. (2020)</a:t>
            </a:r>
          </a:p>
        </p:txBody>
      </p:sp>
    </p:spTree>
    <p:extLst>
      <p:ext uri="{BB962C8B-B14F-4D97-AF65-F5344CB8AC3E}">
        <p14:creationId xmlns:p14="http://schemas.microsoft.com/office/powerpoint/2010/main" val="2618397702"/>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bg>
      <p:bgPr>
        <a:solidFill>
          <a:schemeClr val="accent1"/>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A9CADC83-78D1-E24D-98F9-3B7BFFE3354B}"/>
              </a:ext>
            </a:extLst>
          </p:cNvPr>
          <p:cNvSpPr txBox="1"/>
          <p:nvPr/>
        </p:nvSpPr>
        <p:spPr>
          <a:xfrm>
            <a:off x="5104946" y="6519446"/>
            <a:ext cx="4039054" cy="338554"/>
          </a:xfrm>
          <a:prstGeom prst="rect">
            <a:avLst/>
          </a:prstGeom>
          <a:noFill/>
        </p:spPr>
        <p:txBody>
          <a:bodyPr wrap="none" rtlCol="0">
            <a:spAutoFit/>
          </a:bodyPr>
          <a:lstStyle/>
          <a:p>
            <a:r>
              <a:rPr lang="en-US" sz="1600" dirty="0"/>
              <a:t>https://</a:t>
            </a:r>
            <a:r>
              <a:rPr lang="en-US" sz="1600" dirty="0" err="1"/>
              <a:t>eartharxiv.org</a:t>
            </a:r>
            <a:r>
              <a:rPr lang="en-US" sz="1600" dirty="0"/>
              <a:t>/repository/view/2219/</a:t>
            </a:r>
          </a:p>
        </p:txBody>
      </p:sp>
      <p:pic>
        <p:nvPicPr>
          <p:cNvPr id="4" name="Picture 3">
            <a:extLst>
              <a:ext uri="{FF2B5EF4-FFF2-40B4-BE49-F238E27FC236}">
                <a16:creationId xmlns:a16="http://schemas.microsoft.com/office/drawing/2014/main" id="{6D42E11B-C02B-034F-BECE-1A42893B22F4}"/>
              </a:ext>
            </a:extLst>
          </p:cNvPr>
          <p:cNvPicPr>
            <a:picLocks noChangeAspect="1"/>
          </p:cNvPicPr>
          <p:nvPr/>
        </p:nvPicPr>
        <p:blipFill>
          <a:blip r:embed="rId3"/>
          <a:stretch>
            <a:fillRect/>
          </a:stretch>
        </p:blipFill>
        <p:spPr>
          <a:xfrm>
            <a:off x="0" y="312490"/>
            <a:ext cx="9144000" cy="6233020"/>
          </a:xfrm>
          <a:prstGeom prst="rect">
            <a:avLst/>
          </a:prstGeom>
        </p:spPr>
      </p:pic>
    </p:spTree>
    <p:extLst>
      <p:ext uri="{BB962C8B-B14F-4D97-AF65-F5344CB8AC3E}">
        <p14:creationId xmlns:p14="http://schemas.microsoft.com/office/powerpoint/2010/main" val="2538735983"/>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bg>
      <p:bgPr>
        <a:solidFill>
          <a:schemeClr val="accent1"/>
        </a:solidFill>
        <a:effectLst/>
      </p:bgPr>
    </p:bg>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20026B40-40D4-D040-B525-E4621BEAE4C9}"/>
              </a:ext>
            </a:extLst>
          </p:cNvPr>
          <p:cNvPicPr>
            <a:picLocks noChangeAspect="1"/>
          </p:cNvPicPr>
          <p:nvPr/>
        </p:nvPicPr>
        <p:blipFill>
          <a:blip r:embed="rId3"/>
          <a:stretch>
            <a:fillRect/>
          </a:stretch>
        </p:blipFill>
        <p:spPr>
          <a:xfrm>
            <a:off x="609600" y="0"/>
            <a:ext cx="7097233" cy="6858000"/>
          </a:xfrm>
          <a:prstGeom prst="rect">
            <a:avLst/>
          </a:prstGeom>
        </p:spPr>
      </p:pic>
      <p:sp>
        <p:nvSpPr>
          <p:cNvPr id="6" name="TextBox 5">
            <a:extLst>
              <a:ext uri="{FF2B5EF4-FFF2-40B4-BE49-F238E27FC236}">
                <a16:creationId xmlns:a16="http://schemas.microsoft.com/office/drawing/2014/main" id="{3EAFF1C2-91D2-AB4F-95AB-7D1064AD975E}"/>
              </a:ext>
            </a:extLst>
          </p:cNvPr>
          <p:cNvSpPr txBox="1"/>
          <p:nvPr/>
        </p:nvSpPr>
        <p:spPr>
          <a:xfrm>
            <a:off x="7202443" y="6488668"/>
            <a:ext cx="1941557" cy="369332"/>
          </a:xfrm>
          <a:prstGeom prst="rect">
            <a:avLst/>
          </a:prstGeom>
          <a:noFill/>
        </p:spPr>
        <p:txBody>
          <a:bodyPr wrap="none" rtlCol="0">
            <a:spAutoFit/>
          </a:bodyPr>
          <a:lstStyle/>
          <a:p>
            <a:r>
              <a:rPr lang="en-US" sz="1800" dirty="0"/>
              <a:t>Lear et al. (2020)</a:t>
            </a:r>
          </a:p>
        </p:txBody>
      </p:sp>
    </p:spTree>
    <p:extLst>
      <p:ext uri="{BB962C8B-B14F-4D97-AF65-F5344CB8AC3E}">
        <p14:creationId xmlns:p14="http://schemas.microsoft.com/office/powerpoint/2010/main" val="3513593128"/>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bg>
      <p:bgPr>
        <a:solidFill>
          <a:schemeClr val="accent1"/>
        </a:solidFill>
        <a:effectLst/>
      </p:bgPr>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2F5695CE-EF5C-054E-ADC9-6C8B32BFD651}"/>
              </a:ext>
            </a:extLst>
          </p:cNvPr>
          <p:cNvPicPr>
            <a:picLocks noChangeAspect="1"/>
          </p:cNvPicPr>
          <p:nvPr/>
        </p:nvPicPr>
        <p:blipFill>
          <a:blip r:embed="rId2"/>
          <a:stretch>
            <a:fillRect/>
          </a:stretch>
        </p:blipFill>
        <p:spPr>
          <a:xfrm>
            <a:off x="0" y="0"/>
            <a:ext cx="9144000" cy="6501581"/>
          </a:xfrm>
          <a:prstGeom prst="rect">
            <a:avLst/>
          </a:prstGeom>
        </p:spPr>
      </p:pic>
      <p:sp>
        <p:nvSpPr>
          <p:cNvPr id="4" name="TextBox 3">
            <a:extLst>
              <a:ext uri="{FF2B5EF4-FFF2-40B4-BE49-F238E27FC236}">
                <a16:creationId xmlns:a16="http://schemas.microsoft.com/office/drawing/2014/main" id="{E16178B6-CCAD-DE42-A1AB-C03F218C7D4E}"/>
              </a:ext>
            </a:extLst>
          </p:cNvPr>
          <p:cNvSpPr txBox="1"/>
          <p:nvPr/>
        </p:nvSpPr>
        <p:spPr>
          <a:xfrm>
            <a:off x="4915278" y="6488668"/>
            <a:ext cx="4258410" cy="369332"/>
          </a:xfrm>
          <a:prstGeom prst="rect">
            <a:avLst/>
          </a:prstGeom>
          <a:noFill/>
        </p:spPr>
        <p:txBody>
          <a:bodyPr wrap="none" rtlCol="0">
            <a:spAutoFit/>
          </a:bodyPr>
          <a:lstStyle/>
          <a:p>
            <a:r>
              <a:rPr lang="en-US" sz="1800" dirty="0">
                <a:hlinkClick r:id="rId3"/>
              </a:rPr>
              <a:t>https://doi.org/10.1126/science.aay3701</a:t>
            </a:r>
            <a:endParaRPr lang="en-US" sz="1800" dirty="0"/>
          </a:p>
        </p:txBody>
      </p:sp>
    </p:spTree>
    <p:extLst>
      <p:ext uri="{BB962C8B-B14F-4D97-AF65-F5344CB8AC3E}">
        <p14:creationId xmlns:p14="http://schemas.microsoft.com/office/powerpoint/2010/main" val="2244284237"/>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bg>
      <p:bgPr>
        <a:solidFill>
          <a:srgbClr val="470048"/>
        </a:solidFill>
        <a:effectLst/>
      </p:bgPr>
    </p:bg>
    <p:spTree>
      <p:nvGrpSpPr>
        <p:cNvPr id="1" name=""/>
        <p:cNvGrpSpPr/>
        <p:nvPr/>
      </p:nvGrpSpPr>
      <p:grpSpPr>
        <a:xfrm>
          <a:off x="0" y="0"/>
          <a:ext cx="0" cy="0"/>
          <a:chOff x="0" y="0"/>
          <a:chExt cx="0" cy="0"/>
        </a:xfrm>
      </p:grpSpPr>
      <p:sp>
        <p:nvSpPr>
          <p:cNvPr id="100354" name="Title 1">
            <a:extLst>
              <a:ext uri="{FF2B5EF4-FFF2-40B4-BE49-F238E27FC236}">
                <a16:creationId xmlns:a16="http://schemas.microsoft.com/office/drawing/2014/main" id="{9003C9D7-808C-C747-B717-1D3F93571E45}"/>
              </a:ext>
            </a:extLst>
          </p:cNvPr>
          <p:cNvSpPr>
            <a:spLocks noGrp="1"/>
          </p:cNvSpPr>
          <p:nvPr>
            <p:ph type="ctrTitle"/>
          </p:nvPr>
        </p:nvSpPr>
        <p:spPr/>
        <p:txBody>
          <a:bodyPr/>
          <a:lstStyle/>
          <a:p>
            <a:pPr eaLnBrk="1" hangingPunct="1"/>
            <a:endParaRPr lang="en-US" altLang="en-US">
              <a:latin typeface="Calibri" panose="020F0502020204030204" pitchFamily="34" charset="0"/>
              <a:ea typeface="ＭＳ Ｐゴシック" panose="020B0600070205080204" pitchFamily="34" charset="-128"/>
            </a:endParaRPr>
          </a:p>
        </p:txBody>
      </p:sp>
      <p:pic>
        <p:nvPicPr>
          <p:cNvPr id="100355" name="Picture 6" descr="Forcing and response.tiff">
            <a:extLst>
              <a:ext uri="{FF2B5EF4-FFF2-40B4-BE49-F238E27FC236}">
                <a16:creationId xmlns:a16="http://schemas.microsoft.com/office/drawing/2014/main" id="{1532BEF9-E8F4-4C4A-81F1-9862A1B8C06D}"/>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219075" y="1524000"/>
            <a:ext cx="8772525" cy="38274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0356" name="TextBox 8">
            <a:extLst>
              <a:ext uri="{FF2B5EF4-FFF2-40B4-BE49-F238E27FC236}">
                <a16:creationId xmlns:a16="http://schemas.microsoft.com/office/drawing/2014/main" id="{37ACB667-4E4C-1F45-B31E-E3F10E647A40}"/>
              </a:ext>
            </a:extLst>
          </p:cNvPr>
          <p:cNvSpPr txBox="1">
            <a:spLocks noChangeArrowheads="1"/>
          </p:cNvSpPr>
          <p:nvPr/>
        </p:nvSpPr>
        <p:spPr bwMode="auto">
          <a:xfrm>
            <a:off x="4506913" y="6400800"/>
            <a:ext cx="466090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r>
              <a:rPr lang="en-US" altLang="en-US" sz="1800">
                <a:solidFill>
                  <a:srgbClr val="FFFFFF"/>
                </a:solidFill>
                <a:latin typeface="Goudy Old Style" panose="02020502050305020303" pitchFamily="18" charset="77"/>
              </a:rPr>
              <a:t>(Ruddiman 2008: </a:t>
            </a:r>
            <a:r>
              <a:rPr lang="en-US" altLang="en-US" sz="1800" i="1">
                <a:solidFill>
                  <a:srgbClr val="FFFFFF"/>
                </a:solidFill>
                <a:latin typeface="Goudy Old Style" panose="02020502050305020303" pitchFamily="18" charset="77"/>
              </a:rPr>
              <a:t>Earth’s Climate: Past and Future</a:t>
            </a:r>
            <a:r>
              <a:rPr lang="en-US" altLang="en-US" sz="1800">
                <a:solidFill>
                  <a:srgbClr val="FFFFFF"/>
                </a:solidFill>
                <a:latin typeface="Goudy Old Style" panose="02020502050305020303" pitchFamily="18" charset="77"/>
              </a:rPr>
              <a:t>)</a:t>
            </a:r>
          </a:p>
        </p:txBody>
      </p:sp>
      <p:sp>
        <p:nvSpPr>
          <p:cNvPr id="6" name="TextBox 5">
            <a:extLst>
              <a:ext uri="{FF2B5EF4-FFF2-40B4-BE49-F238E27FC236}">
                <a16:creationId xmlns:a16="http://schemas.microsoft.com/office/drawing/2014/main" id="{596D1D08-DB4B-374A-A970-12AA04C05BD4}"/>
              </a:ext>
            </a:extLst>
          </p:cNvPr>
          <p:cNvSpPr txBox="1"/>
          <p:nvPr/>
        </p:nvSpPr>
        <p:spPr>
          <a:xfrm>
            <a:off x="76200" y="146050"/>
            <a:ext cx="9067800" cy="723900"/>
          </a:xfrm>
          <a:prstGeom prst="rect">
            <a:avLst/>
          </a:prstGeom>
          <a:noFill/>
        </p:spPr>
        <p:txBody>
          <a:bodyP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r>
              <a:rPr lang="en-US" altLang="en-US" sz="4100">
                <a:solidFill>
                  <a:srgbClr val="FBFF09"/>
                </a:solidFill>
                <a:effectLst>
                  <a:outerShdw blurRad="38100" dist="38100" dir="2700000" algn="tl">
                    <a:srgbClr val="000000"/>
                  </a:outerShdw>
                </a:effectLst>
                <a:latin typeface="Goudy Old Style" panose="02020502050305020303" pitchFamily="18" charset="77"/>
              </a:rPr>
              <a:t>Cause and Effect  =  Forcing and Response</a:t>
            </a:r>
          </a:p>
        </p:txBody>
      </p:sp>
    </p:spTree>
    <p:extLst>
      <p:ext uri="{BB962C8B-B14F-4D97-AF65-F5344CB8AC3E}">
        <p14:creationId xmlns:p14="http://schemas.microsoft.com/office/powerpoint/2010/main" val="1919852222"/>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bg>
      <p:bgPr>
        <a:solidFill>
          <a:srgbClr val="470048"/>
        </a:solidFill>
        <a:effectLst/>
      </p:bgPr>
    </p:bg>
    <p:spTree>
      <p:nvGrpSpPr>
        <p:cNvPr id="1" name=""/>
        <p:cNvGrpSpPr/>
        <p:nvPr/>
      </p:nvGrpSpPr>
      <p:grpSpPr>
        <a:xfrm>
          <a:off x="0" y="0"/>
          <a:ext cx="0" cy="0"/>
          <a:chOff x="0" y="0"/>
          <a:chExt cx="0" cy="0"/>
        </a:xfrm>
      </p:grpSpPr>
      <p:sp>
        <p:nvSpPr>
          <p:cNvPr id="100354" name="Title 1">
            <a:extLst>
              <a:ext uri="{FF2B5EF4-FFF2-40B4-BE49-F238E27FC236}">
                <a16:creationId xmlns:a16="http://schemas.microsoft.com/office/drawing/2014/main" id="{9003C9D7-808C-C747-B717-1D3F93571E45}"/>
              </a:ext>
            </a:extLst>
          </p:cNvPr>
          <p:cNvSpPr>
            <a:spLocks noGrp="1"/>
          </p:cNvSpPr>
          <p:nvPr>
            <p:ph type="ctrTitle"/>
          </p:nvPr>
        </p:nvSpPr>
        <p:spPr/>
        <p:txBody>
          <a:bodyPr/>
          <a:lstStyle/>
          <a:p>
            <a:pPr eaLnBrk="1" hangingPunct="1"/>
            <a:endParaRPr lang="en-US" altLang="en-US">
              <a:latin typeface="Calibri" panose="020F0502020204030204" pitchFamily="34" charset="0"/>
              <a:ea typeface="ＭＳ Ｐゴシック" panose="020B0600070205080204" pitchFamily="34" charset="-128"/>
            </a:endParaRPr>
          </a:p>
        </p:txBody>
      </p:sp>
      <p:pic>
        <p:nvPicPr>
          <p:cNvPr id="100355" name="Picture 6" descr="Forcing and response.tiff">
            <a:extLst>
              <a:ext uri="{FF2B5EF4-FFF2-40B4-BE49-F238E27FC236}">
                <a16:creationId xmlns:a16="http://schemas.microsoft.com/office/drawing/2014/main" id="{1532BEF9-E8F4-4C4A-81F1-9862A1B8C06D}"/>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219075" y="1524000"/>
            <a:ext cx="8772525" cy="38274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0356" name="TextBox 8">
            <a:extLst>
              <a:ext uri="{FF2B5EF4-FFF2-40B4-BE49-F238E27FC236}">
                <a16:creationId xmlns:a16="http://schemas.microsoft.com/office/drawing/2014/main" id="{37ACB667-4E4C-1F45-B31E-E3F10E647A40}"/>
              </a:ext>
            </a:extLst>
          </p:cNvPr>
          <p:cNvSpPr txBox="1">
            <a:spLocks noChangeArrowheads="1"/>
          </p:cNvSpPr>
          <p:nvPr/>
        </p:nvSpPr>
        <p:spPr bwMode="auto">
          <a:xfrm>
            <a:off x="4506913" y="6400800"/>
            <a:ext cx="466090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r>
              <a:rPr lang="en-US" altLang="en-US" sz="1800">
                <a:solidFill>
                  <a:srgbClr val="FFFFFF"/>
                </a:solidFill>
                <a:latin typeface="Goudy Old Style" panose="02020502050305020303" pitchFamily="18" charset="77"/>
              </a:rPr>
              <a:t>(Ruddiman 2008: </a:t>
            </a:r>
            <a:r>
              <a:rPr lang="en-US" altLang="en-US" sz="1800" i="1">
                <a:solidFill>
                  <a:srgbClr val="FFFFFF"/>
                </a:solidFill>
                <a:latin typeface="Goudy Old Style" panose="02020502050305020303" pitchFamily="18" charset="77"/>
              </a:rPr>
              <a:t>Earth’s Climate: Past and Future</a:t>
            </a:r>
            <a:r>
              <a:rPr lang="en-US" altLang="en-US" sz="1800">
                <a:solidFill>
                  <a:srgbClr val="FFFFFF"/>
                </a:solidFill>
                <a:latin typeface="Goudy Old Style" panose="02020502050305020303" pitchFamily="18" charset="77"/>
              </a:rPr>
              <a:t>)</a:t>
            </a:r>
          </a:p>
        </p:txBody>
      </p:sp>
      <p:sp>
        <p:nvSpPr>
          <p:cNvPr id="6" name="TextBox 5">
            <a:extLst>
              <a:ext uri="{FF2B5EF4-FFF2-40B4-BE49-F238E27FC236}">
                <a16:creationId xmlns:a16="http://schemas.microsoft.com/office/drawing/2014/main" id="{596D1D08-DB4B-374A-A970-12AA04C05BD4}"/>
              </a:ext>
            </a:extLst>
          </p:cNvPr>
          <p:cNvSpPr txBox="1"/>
          <p:nvPr/>
        </p:nvSpPr>
        <p:spPr>
          <a:xfrm>
            <a:off x="76200" y="146050"/>
            <a:ext cx="9067800" cy="723900"/>
          </a:xfrm>
          <a:prstGeom prst="rect">
            <a:avLst/>
          </a:prstGeom>
          <a:noFill/>
        </p:spPr>
        <p:txBody>
          <a:bodyP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r>
              <a:rPr lang="en-US" altLang="en-US" sz="4100">
                <a:solidFill>
                  <a:srgbClr val="FBFF09"/>
                </a:solidFill>
                <a:effectLst>
                  <a:outerShdw blurRad="38100" dist="38100" dir="2700000" algn="tl">
                    <a:srgbClr val="000000"/>
                  </a:outerShdw>
                </a:effectLst>
                <a:latin typeface="Goudy Old Style" panose="02020502050305020303" pitchFamily="18" charset="77"/>
              </a:rPr>
              <a:t>Cause and Effect  =  Forcing and Response</a:t>
            </a:r>
          </a:p>
        </p:txBody>
      </p:sp>
      <p:sp>
        <p:nvSpPr>
          <p:cNvPr id="7" name="Right Arrow Callout 6">
            <a:extLst>
              <a:ext uri="{FF2B5EF4-FFF2-40B4-BE49-F238E27FC236}">
                <a16:creationId xmlns:a16="http://schemas.microsoft.com/office/drawing/2014/main" id="{3E0B5011-64FD-2043-8FB5-F4B5BE6FDD5A}"/>
              </a:ext>
            </a:extLst>
          </p:cNvPr>
          <p:cNvSpPr>
            <a:spLocks noChangeArrowheads="1"/>
          </p:cNvSpPr>
          <p:nvPr/>
        </p:nvSpPr>
        <p:spPr bwMode="auto">
          <a:xfrm>
            <a:off x="304800" y="3962400"/>
            <a:ext cx="2209800" cy="685800"/>
          </a:xfrm>
          <a:prstGeom prst="rightArrowCallout">
            <a:avLst>
              <a:gd name="adj1" fmla="val 25000"/>
              <a:gd name="adj2" fmla="val 23671"/>
              <a:gd name="adj3" fmla="val 25002"/>
              <a:gd name="adj4" fmla="val 64977"/>
            </a:avLst>
          </a:prstGeom>
          <a:solidFill>
            <a:srgbClr val="FF0208"/>
          </a:solidFill>
          <a:ln w="19050">
            <a:solidFill>
              <a:schemeClr val="tx1"/>
            </a:solidFill>
            <a:miter lim="800000"/>
            <a:headEnd/>
            <a:tailEnd/>
          </a:ln>
          <a:effectLst>
            <a:outerShdw blurRad="40000" dist="23000" dir="5400000" rotWithShape="0">
              <a:srgbClr val="808080">
                <a:alpha val="34998"/>
              </a:srgbClr>
            </a:outerShdw>
          </a:effectLst>
        </p:spPr>
        <p:txBody>
          <a:bodyPr anchor="ctr"/>
          <a:lstStyle/>
          <a:p>
            <a:pPr algn="ctr">
              <a:defRPr/>
            </a:pPr>
            <a:r>
              <a:rPr lang="en-US" sz="1600" dirty="0">
                <a:solidFill>
                  <a:srgbClr val="FFFFFF"/>
                </a:solidFill>
                <a:latin typeface="Calibri" charset="0"/>
                <a:ea typeface="ＭＳ Ｐゴシック" charset="0"/>
                <a:cs typeface="ＭＳ Ｐゴシック" charset="0"/>
              </a:rPr>
              <a:t>Anthropogenic</a:t>
            </a:r>
          </a:p>
          <a:p>
            <a:pPr algn="ctr">
              <a:defRPr/>
            </a:pPr>
            <a:r>
              <a:rPr lang="en-US" sz="1600" dirty="0">
                <a:solidFill>
                  <a:srgbClr val="FFFFFF"/>
                </a:solidFill>
                <a:latin typeface="Calibri" charset="0"/>
                <a:ea typeface="ＭＳ Ｐゴシック" charset="0"/>
                <a:cs typeface="ＭＳ Ｐゴシック" charset="0"/>
              </a:rPr>
              <a:t>forcing</a:t>
            </a:r>
          </a:p>
        </p:txBody>
      </p:sp>
    </p:spTree>
    <p:extLst>
      <p:ext uri="{BB962C8B-B14F-4D97-AF65-F5344CB8AC3E}">
        <p14:creationId xmlns:p14="http://schemas.microsoft.com/office/powerpoint/2010/main" val="1313220902"/>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bg>
      <p:bgPr>
        <a:solidFill>
          <a:schemeClr val="accent1"/>
        </a:solidFill>
        <a:effectLst/>
      </p:bgPr>
    </p:bg>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F5E74DF4-AE5B-0E43-8B68-D40C6785587F}"/>
              </a:ext>
            </a:extLst>
          </p:cNvPr>
          <p:cNvSpPr txBox="1"/>
          <p:nvPr/>
        </p:nvSpPr>
        <p:spPr>
          <a:xfrm>
            <a:off x="4953000" y="6519446"/>
            <a:ext cx="4246675" cy="338554"/>
          </a:xfrm>
          <a:prstGeom prst="rect">
            <a:avLst/>
          </a:prstGeom>
          <a:noFill/>
        </p:spPr>
        <p:txBody>
          <a:bodyPr wrap="none" rtlCol="0">
            <a:spAutoFit/>
          </a:bodyPr>
          <a:lstStyle/>
          <a:p>
            <a:r>
              <a:rPr lang="en-US" sz="1600" dirty="0"/>
              <a:t>https://</a:t>
            </a:r>
            <a:r>
              <a:rPr lang="en-US" sz="1600" dirty="0" err="1"/>
              <a:t>doi.org</a:t>
            </a:r>
            <a:r>
              <a:rPr lang="en-US" sz="1600" dirty="0"/>
              <a:t>/10.1038/s43247-021-00161-3 </a:t>
            </a:r>
          </a:p>
        </p:txBody>
      </p:sp>
      <p:grpSp>
        <p:nvGrpSpPr>
          <p:cNvPr id="20" name="Group 19">
            <a:extLst>
              <a:ext uri="{FF2B5EF4-FFF2-40B4-BE49-F238E27FC236}">
                <a16:creationId xmlns:a16="http://schemas.microsoft.com/office/drawing/2014/main" id="{5259D51D-3ABF-1847-80FC-C56A473B331A}"/>
              </a:ext>
            </a:extLst>
          </p:cNvPr>
          <p:cNvGrpSpPr/>
          <p:nvPr/>
        </p:nvGrpSpPr>
        <p:grpSpPr>
          <a:xfrm>
            <a:off x="0" y="635071"/>
            <a:ext cx="9144000" cy="5232329"/>
            <a:chOff x="0" y="635071"/>
            <a:chExt cx="9144000" cy="5232329"/>
          </a:xfrm>
        </p:grpSpPr>
        <p:pic>
          <p:nvPicPr>
            <p:cNvPr id="3" name="Picture 2">
              <a:extLst>
                <a:ext uri="{FF2B5EF4-FFF2-40B4-BE49-F238E27FC236}">
                  <a16:creationId xmlns:a16="http://schemas.microsoft.com/office/drawing/2014/main" id="{281AF3F7-3F54-B14E-99EC-FCD826A119DB}"/>
                </a:ext>
              </a:extLst>
            </p:cNvPr>
            <p:cNvPicPr>
              <a:picLocks noChangeAspect="1"/>
            </p:cNvPicPr>
            <p:nvPr/>
          </p:nvPicPr>
          <p:blipFill>
            <a:blip r:embed="rId3"/>
            <a:stretch>
              <a:fillRect/>
            </a:stretch>
          </p:blipFill>
          <p:spPr>
            <a:xfrm>
              <a:off x="0" y="635071"/>
              <a:ext cx="9144000" cy="3194410"/>
            </a:xfrm>
            <a:prstGeom prst="rect">
              <a:avLst/>
            </a:prstGeom>
          </p:spPr>
        </p:pic>
        <p:sp>
          <p:nvSpPr>
            <p:cNvPr id="4" name="TextBox 3">
              <a:extLst>
                <a:ext uri="{FF2B5EF4-FFF2-40B4-BE49-F238E27FC236}">
                  <a16:creationId xmlns:a16="http://schemas.microsoft.com/office/drawing/2014/main" id="{D47C7217-AC12-0B45-9532-C878B3DF26D6}"/>
                </a:ext>
              </a:extLst>
            </p:cNvPr>
            <p:cNvSpPr txBox="1"/>
            <p:nvPr/>
          </p:nvSpPr>
          <p:spPr>
            <a:xfrm>
              <a:off x="1286485" y="4944070"/>
              <a:ext cx="6571030" cy="923330"/>
            </a:xfrm>
            <a:prstGeom prst="rect">
              <a:avLst/>
            </a:prstGeom>
            <a:noFill/>
          </p:spPr>
          <p:txBody>
            <a:bodyPr wrap="none" rtlCol="0">
              <a:spAutoFit/>
            </a:bodyPr>
            <a:lstStyle/>
            <a:p>
              <a:r>
                <a:rPr lang="en-US" sz="1800" dirty="0">
                  <a:latin typeface="Arial" charset="0"/>
                  <a:ea typeface="ＭＳ Ｐゴシック" charset="0"/>
                  <a:cs typeface="ＭＳ Ｐゴシック" charset="0"/>
                </a:rPr>
                <a:t>Surface ocean salinity changes from </a:t>
              </a:r>
              <a:r>
                <a:rPr lang="en-US" sz="1800" dirty="0"/>
                <a:t>round-the-world voyages </a:t>
              </a:r>
            </a:p>
            <a:p>
              <a:r>
                <a:rPr lang="en-US" sz="1800" dirty="0"/>
                <a:t>of </a:t>
              </a:r>
              <a:r>
                <a:rPr lang="en-US" sz="1800" i="1" dirty="0"/>
                <a:t>HMS Challenger</a:t>
              </a:r>
              <a:r>
                <a:rPr lang="en-US" sz="1800" dirty="0"/>
                <a:t> and </a:t>
              </a:r>
              <a:r>
                <a:rPr lang="en-US" sz="1800" i="1" dirty="0"/>
                <a:t>SMS Gazelle</a:t>
              </a:r>
              <a:r>
                <a:rPr lang="en-US" sz="1800" dirty="0"/>
                <a:t> in the 1870s </a:t>
              </a:r>
              <a:r>
                <a:rPr lang="en-US" sz="1800" dirty="0">
                  <a:latin typeface="Arial" charset="0"/>
                  <a:ea typeface="ＭＳ Ｐゴシック" charset="0"/>
                  <a:cs typeface="ＭＳ Ｐゴシック" charset="0"/>
                </a:rPr>
                <a:t>compared </a:t>
              </a:r>
            </a:p>
            <a:p>
              <a:r>
                <a:rPr lang="en-US" sz="1800" dirty="0">
                  <a:latin typeface="Arial" charset="0"/>
                  <a:ea typeface="ＭＳ Ｐゴシック" charset="0"/>
                  <a:cs typeface="ＭＳ Ｐゴシック" charset="0"/>
                </a:rPr>
                <a:t>with Surface Air Temperature and Sea Surface Temperature</a:t>
              </a:r>
              <a:endParaRPr lang="en-US" sz="1800" dirty="0"/>
            </a:p>
          </p:txBody>
        </p:sp>
        <p:grpSp>
          <p:nvGrpSpPr>
            <p:cNvPr id="19" name="Group 18">
              <a:extLst>
                <a:ext uri="{FF2B5EF4-FFF2-40B4-BE49-F238E27FC236}">
                  <a16:creationId xmlns:a16="http://schemas.microsoft.com/office/drawing/2014/main" id="{47E8A572-9EC4-1945-812E-0B53CE94A285}"/>
                </a:ext>
              </a:extLst>
            </p:cNvPr>
            <p:cNvGrpSpPr/>
            <p:nvPr/>
          </p:nvGrpSpPr>
          <p:grpSpPr>
            <a:xfrm>
              <a:off x="152400" y="3829480"/>
              <a:ext cx="3706411" cy="307778"/>
              <a:chOff x="152400" y="3194409"/>
              <a:chExt cx="3706411" cy="307778"/>
            </a:xfrm>
          </p:grpSpPr>
          <p:sp>
            <p:nvSpPr>
              <p:cNvPr id="5" name="TextBox 4">
                <a:extLst>
                  <a:ext uri="{FF2B5EF4-FFF2-40B4-BE49-F238E27FC236}">
                    <a16:creationId xmlns:a16="http://schemas.microsoft.com/office/drawing/2014/main" id="{3DAC22D4-5956-9440-A149-CB77F48C6781}"/>
                  </a:ext>
                </a:extLst>
              </p:cNvPr>
              <p:cNvSpPr txBox="1"/>
              <p:nvPr/>
            </p:nvSpPr>
            <p:spPr>
              <a:xfrm>
                <a:off x="152400" y="3194410"/>
                <a:ext cx="582211" cy="307777"/>
              </a:xfrm>
              <a:prstGeom prst="rect">
                <a:avLst/>
              </a:prstGeom>
              <a:noFill/>
            </p:spPr>
            <p:txBody>
              <a:bodyPr wrap="none" rtlCol="0">
                <a:spAutoFit/>
              </a:bodyPr>
              <a:lstStyle/>
              <a:p>
                <a:r>
                  <a:rPr lang="en-US" sz="1400" dirty="0"/>
                  <a:t>1850</a:t>
                </a:r>
              </a:p>
            </p:txBody>
          </p:sp>
          <p:sp>
            <p:nvSpPr>
              <p:cNvPr id="7" name="TextBox 6">
                <a:extLst>
                  <a:ext uri="{FF2B5EF4-FFF2-40B4-BE49-F238E27FC236}">
                    <a16:creationId xmlns:a16="http://schemas.microsoft.com/office/drawing/2014/main" id="{E40B4575-1C53-104F-9FCB-42EFD0EB6118}"/>
                  </a:ext>
                </a:extLst>
              </p:cNvPr>
              <p:cNvSpPr txBox="1"/>
              <p:nvPr/>
            </p:nvSpPr>
            <p:spPr>
              <a:xfrm>
                <a:off x="1219200" y="3194409"/>
                <a:ext cx="582211" cy="307777"/>
              </a:xfrm>
              <a:prstGeom prst="rect">
                <a:avLst/>
              </a:prstGeom>
              <a:noFill/>
            </p:spPr>
            <p:txBody>
              <a:bodyPr wrap="none" rtlCol="0">
                <a:spAutoFit/>
              </a:bodyPr>
              <a:lstStyle/>
              <a:p>
                <a:r>
                  <a:rPr lang="en-US" sz="1400" dirty="0"/>
                  <a:t>1900</a:t>
                </a:r>
              </a:p>
            </p:txBody>
          </p:sp>
          <p:sp>
            <p:nvSpPr>
              <p:cNvPr id="8" name="TextBox 7">
                <a:extLst>
                  <a:ext uri="{FF2B5EF4-FFF2-40B4-BE49-F238E27FC236}">
                    <a16:creationId xmlns:a16="http://schemas.microsoft.com/office/drawing/2014/main" id="{5AAAE273-B572-0E47-8B01-7F85198B999B}"/>
                  </a:ext>
                </a:extLst>
              </p:cNvPr>
              <p:cNvSpPr txBox="1"/>
              <p:nvPr/>
            </p:nvSpPr>
            <p:spPr>
              <a:xfrm>
                <a:off x="2209800" y="3194409"/>
                <a:ext cx="582211" cy="307777"/>
              </a:xfrm>
              <a:prstGeom prst="rect">
                <a:avLst/>
              </a:prstGeom>
              <a:noFill/>
            </p:spPr>
            <p:txBody>
              <a:bodyPr wrap="none" rtlCol="0">
                <a:spAutoFit/>
              </a:bodyPr>
              <a:lstStyle/>
              <a:p>
                <a:r>
                  <a:rPr lang="en-US" sz="1400" dirty="0"/>
                  <a:t>1950</a:t>
                </a:r>
              </a:p>
            </p:txBody>
          </p:sp>
          <p:sp>
            <p:nvSpPr>
              <p:cNvPr id="9" name="TextBox 8">
                <a:extLst>
                  <a:ext uri="{FF2B5EF4-FFF2-40B4-BE49-F238E27FC236}">
                    <a16:creationId xmlns:a16="http://schemas.microsoft.com/office/drawing/2014/main" id="{72C4EC07-93ED-6F42-A686-875D20885407}"/>
                  </a:ext>
                </a:extLst>
              </p:cNvPr>
              <p:cNvSpPr txBox="1"/>
              <p:nvPr/>
            </p:nvSpPr>
            <p:spPr>
              <a:xfrm>
                <a:off x="3276600" y="3194409"/>
                <a:ext cx="582211" cy="307777"/>
              </a:xfrm>
              <a:prstGeom prst="rect">
                <a:avLst/>
              </a:prstGeom>
              <a:noFill/>
            </p:spPr>
            <p:txBody>
              <a:bodyPr wrap="none" rtlCol="0">
                <a:spAutoFit/>
              </a:bodyPr>
              <a:lstStyle/>
              <a:p>
                <a:r>
                  <a:rPr lang="en-US" sz="1400" dirty="0"/>
                  <a:t>2000</a:t>
                </a:r>
              </a:p>
            </p:txBody>
          </p:sp>
        </p:grpSp>
        <p:grpSp>
          <p:nvGrpSpPr>
            <p:cNvPr id="14" name="Group 13">
              <a:extLst>
                <a:ext uri="{FF2B5EF4-FFF2-40B4-BE49-F238E27FC236}">
                  <a16:creationId xmlns:a16="http://schemas.microsoft.com/office/drawing/2014/main" id="{D804F8BE-F405-E943-AD57-34C1A78C0D98}"/>
                </a:ext>
              </a:extLst>
            </p:cNvPr>
            <p:cNvGrpSpPr/>
            <p:nvPr/>
          </p:nvGrpSpPr>
          <p:grpSpPr>
            <a:xfrm>
              <a:off x="4800600" y="3829479"/>
              <a:ext cx="3706411" cy="307778"/>
              <a:chOff x="304800" y="3346809"/>
              <a:chExt cx="3706411" cy="307778"/>
            </a:xfrm>
          </p:grpSpPr>
          <p:sp>
            <p:nvSpPr>
              <p:cNvPr id="10" name="TextBox 9">
                <a:extLst>
                  <a:ext uri="{FF2B5EF4-FFF2-40B4-BE49-F238E27FC236}">
                    <a16:creationId xmlns:a16="http://schemas.microsoft.com/office/drawing/2014/main" id="{CB1A49BC-9F54-0242-B4FC-2951FB8E3262}"/>
                  </a:ext>
                </a:extLst>
              </p:cNvPr>
              <p:cNvSpPr txBox="1"/>
              <p:nvPr/>
            </p:nvSpPr>
            <p:spPr>
              <a:xfrm>
                <a:off x="304800" y="3346810"/>
                <a:ext cx="582211" cy="307777"/>
              </a:xfrm>
              <a:prstGeom prst="rect">
                <a:avLst/>
              </a:prstGeom>
              <a:noFill/>
            </p:spPr>
            <p:txBody>
              <a:bodyPr wrap="none" rtlCol="0">
                <a:spAutoFit/>
              </a:bodyPr>
              <a:lstStyle/>
              <a:p>
                <a:r>
                  <a:rPr lang="en-US" sz="1400" dirty="0"/>
                  <a:t>1850</a:t>
                </a:r>
              </a:p>
            </p:txBody>
          </p:sp>
          <p:sp>
            <p:nvSpPr>
              <p:cNvPr id="11" name="TextBox 10">
                <a:extLst>
                  <a:ext uri="{FF2B5EF4-FFF2-40B4-BE49-F238E27FC236}">
                    <a16:creationId xmlns:a16="http://schemas.microsoft.com/office/drawing/2014/main" id="{94C934B5-F477-C140-ACE7-A8B4D024C255}"/>
                  </a:ext>
                </a:extLst>
              </p:cNvPr>
              <p:cNvSpPr txBox="1"/>
              <p:nvPr/>
            </p:nvSpPr>
            <p:spPr>
              <a:xfrm>
                <a:off x="1371600" y="3346809"/>
                <a:ext cx="582211" cy="307777"/>
              </a:xfrm>
              <a:prstGeom prst="rect">
                <a:avLst/>
              </a:prstGeom>
              <a:noFill/>
            </p:spPr>
            <p:txBody>
              <a:bodyPr wrap="none" rtlCol="0">
                <a:spAutoFit/>
              </a:bodyPr>
              <a:lstStyle/>
              <a:p>
                <a:r>
                  <a:rPr lang="en-US" sz="1400" dirty="0"/>
                  <a:t>1900</a:t>
                </a:r>
              </a:p>
            </p:txBody>
          </p:sp>
          <p:sp>
            <p:nvSpPr>
              <p:cNvPr id="12" name="TextBox 11">
                <a:extLst>
                  <a:ext uri="{FF2B5EF4-FFF2-40B4-BE49-F238E27FC236}">
                    <a16:creationId xmlns:a16="http://schemas.microsoft.com/office/drawing/2014/main" id="{123D1E2B-32D3-0346-95FC-9F03303E9E90}"/>
                  </a:ext>
                </a:extLst>
              </p:cNvPr>
              <p:cNvSpPr txBox="1"/>
              <p:nvPr/>
            </p:nvSpPr>
            <p:spPr>
              <a:xfrm>
                <a:off x="2362200" y="3346809"/>
                <a:ext cx="582211" cy="307777"/>
              </a:xfrm>
              <a:prstGeom prst="rect">
                <a:avLst/>
              </a:prstGeom>
              <a:noFill/>
            </p:spPr>
            <p:txBody>
              <a:bodyPr wrap="none" rtlCol="0">
                <a:spAutoFit/>
              </a:bodyPr>
              <a:lstStyle/>
              <a:p>
                <a:r>
                  <a:rPr lang="en-US" sz="1400" dirty="0"/>
                  <a:t>1950</a:t>
                </a:r>
              </a:p>
            </p:txBody>
          </p:sp>
          <p:sp>
            <p:nvSpPr>
              <p:cNvPr id="13" name="TextBox 12">
                <a:extLst>
                  <a:ext uri="{FF2B5EF4-FFF2-40B4-BE49-F238E27FC236}">
                    <a16:creationId xmlns:a16="http://schemas.microsoft.com/office/drawing/2014/main" id="{73A2DBB1-32FE-EE47-B6C7-D2F993133B38}"/>
                  </a:ext>
                </a:extLst>
              </p:cNvPr>
              <p:cNvSpPr txBox="1"/>
              <p:nvPr/>
            </p:nvSpPr>
            <p:spPr>
              <a:xfrm>
                <a:off x="3429000" y="3346809"/>
                <a:ext cx="582211" cy="307777"/>
              </a:xfrm>
              <a:prstGeom prst="rect">
                <a:avLst/>
              </a:prstGeom>
              <a:noFill/>
            </p:spPr>
            <p:txBody>
              <a:bodyPr wrap="none" rtlCol="0">
                <a:spAutoFit/>
              </a:bodyPr>
              <a:lstStyle/>
              <a:p>
                <a:r>
                  <a:rPr lang="en-US" sz="1400" dirty="0"/>
                  <a:t>2000</a:t>
                </a:r>
              </a:p>
            </p:txBody>
          </p:sp>
        </p:grpSp>
        <p:sp>
          <p:nvSpPr>
            <p:cNvPr id="15" name="Rectangle 14">
              <a:extLst>
                <a:ext uri="{FF2B5EF4-FFF2-40B4-BE49-F238E27FC236}">
                  <a16:creationId xmlns:a16="http://schemas.microsoft.com/office/drawing/2014/main" id="{B024F003-2E0C-464A-9D2E-E061D73E08C0}"/>
                </a:ext>
              </a:extLst>
            </p:cNvPr>
            <p:cNvSpPr/>
            <p:nvPr/>
          </p:nvSpPr>
          <p:spPr>
            <a:xfrm>
              <a:off x="1801411" y="787471"/>
              <a:ext cx="2110514" cy="307777"/>
            </a:xfrm>
            <a:prstGeom prst="rect">
              <a:avLst/>
            </a:prstGeom>
          </p:spPr>
          <p:txBody>
            <a:bodyPr wrap="none">
              <a:spAutoFit/>
            </a:bodyPr>
            <a:lstStyle/>
            <a:p>
              <a:r>
                <a:rPr lang="en-US" sz="1400" dirty="0">
                  <a:latin typeface="Arial" charset="0"/>
                  <a:ea typeface="ＭＳ Ｐゴシック" charset="0"/>
                  <a:cs typeface="ＭＳ Ｐゴシック" charset="0"/>
                </a:rPr>
                <a:t>Surface Air Temperature</a:t>
              </a:r>
              <a:endParaRPr lang="en-US" sz="1400" dirty="0"/>
            </a:p>
          </p:txBody>
        </p:sp>
        <p:sp>
          <p:nvSpPr>
            <p:cNvPr id="16" name="Rectangle 15">
              <a:extLst>
                <a:ext uri="{FF2B5EF4-FFF2-40B4-BE49-F238E27FC236}">
                  <a16:creationId xmlns:a16="http://schemas.microsoft.com/office/drawing/2014/main" id="{9231AB8F-BE50-FE4A-93CC-04F4EAEADAF3}"/>
                </a:ext>
              </a:extLst>
            </p:cNvPr>
            <p:cNvSpPr/>
            <p:nvPr/>
          </p:nvSpPr>
          <p:spPr>
            <a:xfrm>
              <a:off x="6330323" y="1095248"/>
              <a:ext cx="2219775" cy="307777"/>
            </a:xfrm>
            <a:prstGeom prst="rect">
              <a:avLst/>
            </a:prstGeom>
          </p:spPr>
          <p:txBody>
            <a:bodyPr wrap="none">
              <a:spAutoFit/>
            </a:bodyPr>
            <a:lstStyle/>
            <a:p>
              <a:r>
                <a:rPr lang="en-US" sz="1400" dirty="0">
                  <a:latin typeface="Arial" charset="0"/>
                  <a:ea typeface="ＭＳ Ｐゴシック" charset="0"/>
                  <a:cs typeface="ＭＳ Ｐゴシック" charset="0"/>
                </a:rPr>
                <a:t>Sea Surface Temperature</a:t>
              </a:r>
              <a:endParaRPr lang="en-US" sz="1400" dirty="0"/>
            </a:p>
          </p:txBody>
        </p:sp>
        <p:sp>
          <p:nvSpPr>
            <p:cNvPr id="17" name="TextBox 16">
              <a:extLst>
                <a:ext uri="{FF2B5EF4-FFF2-40B4-BE49-F238E27FC236}">
                  <a16:creationId xmlns:a16="http://schemas.microsoft.com/office/drawing/2014/main" id="{CD268B5F-8D0F-4F4A-A195-D1B1E4B14AB6}"/>
                </a:ext>
              </a:extLst>
            </p:cNvPr>
            <p:cNvSpPr txBox="1"/>
            <p:nvPr/>
          </p:nvSpPr>
          <p:spPr>
            <a:xfrm>
              <a:off x="3175889" y="2194587"/>
              <a:ext cx="1906291" cy="307777"/>
            </a:xfrm>
            <a:prstGeom prst="rect">
              <a:avLst/>
            </a:prstGeom>
            <a:noFill/>
          </p:spPr>
          <p:txBody>
            <a:bodyPr wrap="none" rtlCol="0">
              <a:spAutoFit/>
            </a:bodyPr>
            <a:lstStyle/>
            <a:p>
              <a:r>
                <a:rPr lang="en-US" sz="1400" dirty="0">
                  <a:solidFill>
                    <a:srgbClr val="FF0000"/>
                  </a:solidFill>
                  <a:latin typeface="Arial" charset="0"/>
                  <a:ea typeface="ＭＳ Ｐゴシック" charset="0"/>
                  <a:cs typeface="ＭＳ Ｐゴシック" charset="0"/>
                </a:rPr>
                <a:t>surface ocean salinity</a:t>
              </a:r>
              <a:endParaRPr lang="en-US" sz="1400" dirty="0">
                <a:solidFill>
                  <a:srgbClr val="FF0000"/>
                </a:solidFill>
              </a:endParaRPr>
            </a:p>
          </p:txBody>
        </p:sp>
        <p:sp>
          <p:nvSpPr>
            <p:cNvPr id="18" name="TextBox 17">
              <a:extLst>
                <a:ext uri="{FF2B5EF4-FFF2-40B4-BE49-F238E27FC236}">
                  <a16:creationId xmlns:a16="http://schemas.microsoft.com/office/drawing/2014/main" id="{2984035D-FEE9-C446-B01B-B58D4FAAAC59}"/>
                </a:ext>
              </a:extLst>
            </p:cNvPr>
            <p:cNvSpPr txBox="1"/>
            <p:nvPr/>
          </p:nvSpPr>
          <p:spPr>
            <a:xfrm>
              <a:off x="5850149" y="2966073"/>
              <a:ext cx="1906291" cy="307777"/>
            </a:xfrm>
            <a:prstGeom prst="rect">
              <a:avLst/>
            </a:prstGeom>
            <a:noFill/>
          </p:spPr>
          <p:txBody>
            <a:bodyPr wrap="none" rtlCol="0">
              <a:spAutoFit/>
            </a:bodyPr>
            <a:lstStyle/>
            <a:p>
              <a:r>
                <a:rPr lang="en-US" sz="1400" dirty="0">
                  <a:solidFill>
                    <a:srgbClr val="FF0000"/>
                  </a:solidFill>
                  <a:latin typeface="Arial" charset="0"/>
                  <a:ea typeface="ＭＳ Ｐゴシック" charset="0"/>
                  <a:cs typeface="ＭＳ Ｐゴシック" charset="0"/>
                </a:rPr>
                <a:t>surface ocean salinity</a:t>
              </a:r>
              <a:endParaRPr lang="en-US" sz="1400" dirty="0">
                <a:solidFill>
                  <a:srgbClr val="FF0000"/>
                </a:solidFill>
              </a:endParaRPr>
            </a:p>
          </p:txBody>
        </p:sp>
      </p:grpSp>
      <p:sp>
        <p:nvSpPr>
          <p:cNvPr id="21" name="TextBox 20">
            <a:extLst>
              <a:ext uri="{FF2B5EF4-FFF2-40B4-BE49-F238E27FC236}">
                <a16:creationId xmlns:a16="http://schemas.microsoft.com/office/drawing/2014/main" id="{EE80261A-BE59-9B4C-851A-1D20B93B7257}"/>
              </a:ext>
            </a:extLst>
          </p:cNvPr>
          <p:cNvSpPr txBox="1"/>
          <p:nvPr/>
        </p:nvSpPr>
        <p:spPr>
          <a:xfrm>
            <a:off x="0" y="0"/>
            <a:ext cx="9337749" cy="523220"/>
          </a:xfrm>
          <a:prstGeom prst="rect">
            <a:avLst/>
          </a:prstGeom>
          <a:noFill/>
        </p:spPr>
        <p:txBody>
          <a:bodyPr wrap="none" rtlCol="0">
            <a:spAutoFit/>
          </a:bodyPr>
          <a:lstStyle/>
          <a:p>
            <a:r>
              <a:rPr lang="en-US" sz="2800" dirty="0">
                <a:solidFill>
                  <a:srgbClr val="FF0000"/>
                </a:solidFill>
              </a:rPr>
              <a:t>Climate change affects the atmosphere and hydrosphere.</a:t>
            </a:r>
          </a:p>
        </p:txBody>
      </p:sp>
    </p:spTree>
    <p:extLst>
      <p:ext uri="{BB962C8B-B14F-4D97-AF65-F5344CB8AC3E}">
        <p14:creationId xmlns:p14="http://schemas.microsoft.com/office/powerpoint/2010/main" val="2015717371"/>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bg>
      <p:bgPr>
        <a:solidFill>
          <a:schemeClr val="accent1"/>
        </a:solidFill>
        <a:effectLst/>
      </p:bgPr>
    </p:bg>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F5E74DF4-AE5B-0E43-8B68-D40C6785587F}"/>
              </a:ext>
            </a:extLst>
          </p:cNvPr>
          <p:cNvSpPr txBox="1"/>
          <p:nvPr/>
        </p:nvSpPr>
        <p:spPr>
          <a:xfrm>
            <a:off x="1449008" y="6495438"/>
            <a:ext cx="7694992" cy="338554"/>
          </a:xfrm>
          <a:prstGeom prst="rect">
            <a:avLst/>
          </a:prstGeom>
          <a:noFill/>
        </p:spPr>
        <p:txBody>
          <a:bodyPr wrap="none" rtlCol="0">
            <a:spAutoFit/>
          </a:bodyPr>
          <a:lstStyle/>
          <a:p>
            <a:r>
              <a:rPr lang="en-US" sz="1600" dirty="0"/>
              <a:t>https://</a:t>
            </a:r>
            <a:r>
              <a:rPr lang="en-US" sz="1600" dirty="0" err="1"/>
              <a:t>www.pmel.noaa.gov</a:t>
            </a:r>
            <a:r>
              <a:rPr lang="en-US" sz="1600" dirty="0"/>
              <a:t>/co2/file/Hawaii%20Carbon%20Dioxide%20Time-Series</a:t>
            </a:r>
          </a:p>
        </p:txBody>
      </p:sp>
      <p:sp>
        <p:nvSpPr>
          <p:cNvPr id="21" name="TextBox 20">
            <a:extLst>
              <a:ext uri="{FF2B5EF4-FFF2-40B4-BE49-F238E27FC236}">
                <a16:creationId xmlns:a16="http://schemas.microsoft.com/office/drawing/2014/main" id="{EE80261A-BE59-9B4C-851A-1D20B93B7257}"/>
              </a:ext>
            </a:extLst>
          </p:cNvPr>
          <p:cNvSpPr txBox="1"/>
          <p:nvPr/>
        </p:nvSpPr>
        <p:spPr>
          <a:xfrm>
            <a:off x="0" y="0"/>
            <a:ext cx="9337749" cy="523220"/>
          </a:xfrm>
          <a:prstGeom prst="rect">
            <a:avLst/>
          </a:prstGeom>
          <a:noFill/>
        </p:spPr>
        <p:txBody>
          <a:bodyPr wrap="none" rtlCol="0">
            <a:spAutoFit/>
          </a:bodyPr>
          <a:lstStyle/>
          <a:p>
            <a:r>
              <a:rPr lang="en-US" sz="2800" dirty="0">
                <a:solidFill>
                  <a:srgbClr val="FF0000"/>
                </a:solidFill>
              </a:rPr>
              <a:t>Climate change affects the atmosphere and hydrosphere.</a:t>
            </a:r>
          </a:p>
        </p:txBody>
      </p:sp>
      <p:pic>
        <p:nvPicPr>
          <p:cNvPr id="22" name="Picture 21">
            <a:extLst>
              <a:ext uri="{FF2B5EF4-FFF2-40B4-BE49-F238E27FC236}">
                <a16:creationId xmlns:a16="http://schemas.microsoft.com/office/drawing/2014/main" id="{39249AAA-6576-B94A-8BAC-727F079C9737}"/>
              </a:ext>
            </a:extLst>
          </p:cNvPr>
          <p:cNvPicPr>
            <a:picLocks noChangeAspect="1"/>
          </p:cNvPicPr>
          <p:nvPr/>
        </p:nvPicPr>
        <p:blipFill>
          <a:blip r:embed="rId3"/>
          <a:stretch>
            <a:fillRect/>
          </a:stretch>
        </p:blipFill>
        <p:spPr>
          <a:xfrm>
            <a:off x="990600" y="685800"/>
            <a:ext cx="7292236" cy="5676591"/>
          </a:xfrm>
          <a:prstGeom prst="rect">
            <a:avLst/>
          </a:prstGeom>
        </p:spPr>
      </p:pic>
    </p:spTree>
    <p:extLst>
      <p:ext uri="{BB962C8B-B14F-4D97-AF65-F5344CB8AC3E}">
        <p14:creationId xmlns:p14="http://schemas.microsoft.com/office/powerpoint/2010/main" val="1297620654"/>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bg>
      <p:bgPr>
        <a:solidFill>
          <a:schemeClr val="accent1"/>
        </a:solidFill>
        <a:effectLst/>
      </p:bgPr>
    </p:bg>
    <p:spTree>
      <p:nvGrpSpPr>
        <p:cNvPr id="1" name=""/>
        <p:cNvGrpSpPr/>
        <p:nvPr/>
      </p:nvGrpSpPr>
      <p:grpSpPr>
        <a:xfrm>
          <a:off x="0" y="0"/>
          <a:ext cx="0" cy="0"/>
          <a:chOff x="0" y="0"/>
          <a:chExt cx="0" cy="0"/>
        </a:xfrm>
      </p:grpSpPr>
      <p:sp>
        <p:nvSpPr>
          <p:cNvPr id="14" name="TextBox 13">
            <a:extLst>
              <a:ext uri="{FF2B5EF4-FFF2-40B4-BE49-F238E27FC236}">
                <a16:creationId xmlns:a16="http://schemas.microsoft.com/office/drawing/2014/main" id="{9150E694-55F0-1049-8F72-355C054DEB46}"/>
              </a:ext>
            </a:extLst>
          </p:cNvPr>
          <p:cNvSpPr txBox="1"/>
          <p:nvPr/>
        </p:nvSpPr>
        <p:spPr>
          <a:xfrm>
            <a:off x="0" y="0"/>
            <a:ext cx="6415474" cy="523220"/>
          </a:xfrm>
          <a:prstGeom prst="rect">
            <a:avLst/>
          </a:prstGeom>
          <a:noFill/>
        </p:spPr>
        <p:txBody>
          <a:bodyPr wrap="none" rtlCol="0">
            <a:spAutoFit/>
          </a:bodyPr>
          <a:lstStyle/>
          <a:p>
            <a:r>
              <a:rPr lang="en-US" sz="2800" dirty="0">
                <a:solidFill>
                  <a:srgbClr val="FF0000"/>
                </a:solidFill>
              </a:rPr>
              <a:t>Climate change affects the cryosphere.</a:t>
            </a:r>
          </a:p>
        </p:txBody>
      </p:sp>
      <p:pic>
        <p:nvPicPr>
          <p:cNvPr id="3" name="Picture 2">
            <a:extLst>
              <a:ext uri="{FF2B5EF4-FFF2-40B4-BE49-F238E27FC236}">
                <a16:creationId xmlns:a16="http://schemas.microsoft.com/office/drawing/2014/main" id="{F38A2791-5A3B-BE4B-B967-8626809340B6}"/>
              </a:ext>
            </a:extLst>
          </p:cNvPr>
          <p:cNvPicPr>
            <a:picLocks noChangeAspect="1"/>
          </p:cNvPicPr>
          <p:nvPr/>
        </p:nvPicPr>
        <p:blipFill>
          <a:blip r:embed="rId3"/>
          <a:stretch>
            <a:fillRect/>
          </a:stretch>
        </p:blipFill>
        <p:spPr>
          <a:xfrm>
            <a:off x="533400" y="474719"/>
            <a:ext cx="8020050" cy="6416040"/>
          </a:xfrm>
          <a:prstGeom prst="rect">
            <a:avLst/>
          </a:prstGeom>
        </p:spPr>
      </p:pic>
    </p:spTree>
    <p:extLst>
      <p:ext uri="{BB962C8B-B14F-4D97-AF65-F5344CB8AC3E}">
        <p14:creationId xmlns:p14="http://schemas.microsoft.com/office/powerpoint/2010/main" val="2579542941"/>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bg>
      <p:bgPr>
        <a:solidFill>
          <a:schemeClr val="accent1"/>
        </a:solidFill>
        <a:effectLst/>
      </p:bgPr>
    </p:bg>
    <p:spTree>
      <p:nvGrpSpPr>
        <p:cNvPr id="1" name=""/>
        <p:cNvGrpSpPr/>
        <p:nvPr/>
      </p:nvGrpSpPr>
      <p:grpSpPr>
        <a:xfrm>
          <a:off x="0" y="0"/>
          <a:ext cx="0" cy="0"/>
          <a:chOff x="0" y="0"/>
          <a:chExt cx="0" cy="0"/>
        </a:xfrm>
      </p:grpSpPr>
      <p:sp>
        <p:nvSpPr>
          <p:cNvPr id="14" name="TextBox 13">
            <a:extLst>
              <a:ext uri="{FF2B5EF4-FFF2-40B4-BE49-F238E27FC236}">
                <a16:creationId xmlns:a16="http://schemas.microsoft.com/office/drawing/2014/main" id="{9150E694-55F0-1049-8F72-355C054DEB46}"/>
              </a:ext>
            </a:extLst>
          </p:cNvPr>
          <p:cNvSpPr txBox="1"/>
          <p:nvPr/>
        </p:nvSpPr>
        <p:spPr>
          <a:xfrm>
            <a:off x="0" y="0"/>
            <a:ext cx="6396238" cy="523220"/>
          </a:xfrm>
          <a:prstGeom prst="rect">
            <a:avLst/>
          </a:prstGeom>
          <a:noFill/>
        </p:spPr>
        <p:txBody>
          <a:bodyPr wrap="none" rtlCol="0">
            <a:spAutoFit/>
          </a:bodyPr>
          <a:lstStyle/>
          <a:p>
            <a:r>
              <a:rPr lang="en-US" sz="2800" dirty="0">
                <a:solidFill>
                  <a:srgbClr val="FF0000"/>
                </a:solidFill>
              </a:rPr>
              <a:t>Climate change affects the lithosphere.</a:t>
            </a:r>
          </a:p>
        </p:txBody>
      </p:sp>
      <p:sp>
        <p:nvSpPr>
          <p:cNvPr id="4" name="Text Box 1">
            <a:extLst>
              <a:ext uri="{FF2B5EF4-FFF2-40B4-BE49-F238E27FC236}">
                <a16:creationId xmlns:a16="http://schemas.microsoft.com/office/drawing/2014/main" id="{BF83DE76-3CB3-9943-A63B-9EC8E9CB04DE}"/>
              </a:ext>
            </a:extLst>
          </p:cNvPr>
          <p:cNvSpPr txBox="1">
            <a:spLocks noChangeArrowheads="1"/>
          </p:cNvSpPr>
          <p:nvPr/>
        </p:nvSpPr>
        <p:spPr bwMode="auto">
          <a:xfrm>
            <a:off x="457200" y="5215717"/>
            <a:ext cx="7199313" cy="2619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lstStyle>
            <a:lvl1pPr>
              <a:tabLst>
                <a:tab pos="723900" algn="l"/>
                <a:tab pos="1447800" algn="l"/>
                <a:tab pos="2171700" algn="l"/>
                <a:tab pos="2895600" algn="l"/>
                <a:tab pos="3619500" algn="l"/>
                <a:tab pos="4343400" algn="l"/>
                <a:tab pos="5067300" algn="l"/>
                <a:tab pos="5791200" algn="l"/>
                <a:tab pos="6515100" algn="l"/>
              </a:tabLst>
              <a:defRPr sz="1400">
                <a:solidFill>
                  <a:srgbClr val="000000"/>
                </a:solidFill>
                <a:latin typeface="Arial" panose="020B0604020202020204" pitchFamily="34" charset="0"/>
                <a:ea typeface="ＭＳ Ｐゴシック" panose="020B0600070205080204" pitchFamily="34" charset="-128"/>
              </a:defRPr>
            </a:lvl1pPr>
            <a:lvl2pPr>
              <a:tabLst>
                <a:tab pos="723900" algn="l"/>
                <a:tab pos="1447800" algn="l"/>
                <a:tab pos="2171700" algn="l"/>
                <a:tab pos="2895600" algn="l"/>
                <a:tab pos="3619500" algn="l"/>
                <a:tab pos="4343400" algn="l"/>
                <a:tab pos="5067300" algn="l"/>
                <a:tab pos="5791200" algn="l"/>
                <a:tab pos="6515100" algn="l"/>
              </a:tabLst>
              <a:defRPr sz="1400">
                <a:solidFill>
                  <a:srgbClr val="000000"/>
                </a:solidFill>
                <a:latin typeface="Arial" panose="020B0604020202020204" pitchFamily="34" charset="0"/>
                <a:ea typeface="ＭＳ Ｐゴシック" panose="020B0600070205080204" pitchFamily="34" charset="-128"/>
              </a:defRPr>
            </a:lvl2pPr>
            <a:lvl3pPr>
              <a:tabLst>
                <a:tab pos="723900" algn="l"/>
                <a:tab pos="1447800" algn="l"/>
                <a:tab pos="2171700" algn="l"/>
                <a:tab pos="2895600" algn="l"/>
                <a:tab pos="3619500" algn="l"/>
                <a:tab pos="4343400" algn="l"/>
                <a:tab pos="5067300" algn="l"/>
                <a:tab pos="5791200" algn="l"/>
                <a:tab pos="6515100" algn="l"/>
              </a:tabLst>
              <a:defRPr sz="1400">
                <a:solidFill>
                  <a:srgbClr val="000000"/>
                </a:solidFill>
                <a:latin typeface="Arial" panose="020B0604020202020204" pitchFamily="34" charset="0"/>
                <a:ea typeface="ＭＳ Ｐゴシック" panose="020B0600070205080204" pitchFamily="34" charset="-128"/>
              </a:defRPr>
            </a:lvl3pPr>
            <a:lvl4pPr>
              <a:tabLst>
                <a:tab pos="723900" algn="l"/>
                <a:tab pos="1447800" algn="l"/>
                <a:tab pos="2171700" algn="l"/>
                <a:tab pos="2895600" algn="l"/>
                <a:tab pos="3619500" algn="l"/>
                <a:tab pos="4343400" algn="l"/>
                <a:tab pos="5067300" algn="l"/>
                <a:tab pos="5791200" algn="l"/>
                <a:tab pos="6515100" algn="l"/>
              </a:tabLst>
              <a:defRPr sz="1400">
                <a:solidFill>
                  <a:srgbClr val="000000"/>
                </a:solidFill>
                <a:latin typeface="Arial" panose="020B0604020202020204" pitchFamily="34" charset="0"/>
                <a:ea typeface="ＭＳ Ｐゴシック" panose="020B0600070205080204" pitchFamily="34" charset="-128"/>
              </a:defRPr>
            </a:lvl4pPr>
            <a:lvl5pPr>
              <a:tabLst>
                <a:tab pos="723900" algn="l"/>
                <a:tab pos="1447800" algn="l"/>
                <a:tab pos="2171700" algn="l"/>
                <a:tab pos="2895600" algn="l"/>
                <a:tab pos="3619500" algn="l"/>
                <a:tab pos="4343400" algn="l"/>
                <a:tab pos="5067300" algn="l"/>
                <a:tab pos="5791200" algn="l"/>
                <a:tab pos="6515100" algn="l"/>
              </a:tabLst>
              <a:defRPr sz="1400">
                <a:solidFill>
                  <a:srgbClr val="000000"/>
                </a:solidFill>
                <a:latin typeface="Arial" panose="020B0604020202020204" pitchFamily="34" charset="0"/>
                <a:ea typeface="ＭＳ Ｐゴシック" panose="020B0600070205080204" pitchFamily="34" charset="-128"/>
              </a:defRPr>
            </a:lvl5pPr>
            <a:lvl6pPr marL="2514600" indent="-228600" defTabSz="457200" fontAlgn="base">
              <a:spcBef>
                <a:spcPct val="0"/>
              </a:spcBef>
              <a:spcAft>
                <a:spcPct val="0"/>
              </a:spcAft>
              <a:buClr>
                <a:srgbClr val="000000"/>
              </a:buClr>
              <a:buSzPct val="100000"/>
              <a:buFont typeface="Times New Roman" panose="02020603050405020304" pitchFamily="18" charset="0"/>
              <a:tabLst>
                <a:tab pos="723900" algn="l"/>
                <a:tab pos="1447800" algn="l"/>
                <a:tab pos="2171700" algn="l"/>
                <a:tab pos="2895600" algn="l"/>
                <a:tab pos="3619500" algn="l"/>
                <a:tab pos="4343400" algn="l"/>
                <a:tab pos="5067300" algn="l"/>
                <a:tab pos="5791200" algn="l"/>
                <a:tab pos="6515100" algn="l"/>
              </a:tabLst>
              <a:defRPr sz="1400">
                <a:solidFill>
                  <a:srgbClr val="000000"/>
                </a:solidFill>
                <a:latin typeface="Arial" panose="020B0604020202020204" pitchFamily="34" charset="0"/>
                <a:ea typeface="ＭＳ Ｐゴシック" panose="020B0600070205080204" pitchFamily="34" charset="-128"/>
              </a:defRPr>
            </a:lvl6pPr>
            <a:lvl7pPr marL="2971800" indent="-228600" defTabSz="457200" fontAlgn="base">
              <a:spcBef>
                <a:spcPct val="0"/>
              </a:spcBef>
              <a:spcAft>
                <a:spcPct val="0"/>
              </a:spcAft>
              <a:buClr>
                <a:srgbClr val="000000"/>
              </a:buClr>
              <a:buSzPct val="100000"/>
              <a:buFont typeface="Times New Roman" panose="02020603050405020304" pitchFamily="18" charset="0"/>
              <a:tabLst>
                <a:tab pos="723900" algn="l"/>
                <a:tab pos="1447800" algn="l"/>
                <a:tab pos="2171700" algn="l"/>
                <a:tab pos="2895600" algn="l"/>
                <a:tab pos="3619500" algn="l"/>
                <a:tab pos="4343400" algn="l"/>
                <a:tab pos="5067300" algn="l"/>
                <a:tab pos="5791200" algn="l"/>
                <a:tab pos="6515100" algn="l"/>
              </a:tabLst>
              <a:defRPr sz="1400">
                <a:solidFill>
                  <a:srgbClr val="000000"/>
                </a:solidFill>
                <a:latin typeface="Arial" panose="020B0604020202020204" pitchFamily="34" charset="0"/>
                <a:ea typeface="ＭＳ Ｐゴシック" panose="020B0600070205080204" pitchFamily="34" charset="-128"/>
              </a:defRPr>
            </a:lvl7pPr>
            <a:lvl8pPr marL="3429000" indent="-228600" defTabSz="457200" fontAlgn="base">
              <a:spcBef>
                <a:spcPct val="0"/>
              </a:spcBef>
              <a:spcAft>
                <a:spcPct val="0"/>
              </a:spcAft>
              <a:buClr>
                <a:srgbClr val="000000"/>
              </a:buClr>
              <a:buSzPct val="100000"/>
              <a:buFont typeface="Times New Roman" panose="02020603050405020304" pitchFamily="18" charset="0"/>
              <a:tabLst>
                <a:tab pos="723900" algn="l"/>
                <a:tab pos="1447800" algn="l"/>
                <a:tab pos="2171700" algn="l"/>
                <a:tab pos="2895600" algn="l"/>
                <a:tab pos="3619500" algn="l"/>
                <a:tab pos="4343400" algn="l"/>
                <a:tab pos="5067300" algn="l"/>
                <a:tab pos="5791200" algn="l"/>
                <a:tab pos="6515100" algn="l"/>
              </a:tabLst>
              <a:defRPr sz="1400">
                <a:solidFill>
                  <a:srgbClr val="000000"/>
                </a:solidFill>
                <a:latin typeface="Arial" panose="020B0604020202020204" pitchFamily="34" charset="0"/>
                <a:ea typeface="ＭＳ Ｐゴシック" panose="020B0600070205080204" pitchFamily="34" charset="-128"/>
              </a:defRPr>
            </a:lvl8pPr>
            <a:lvl9pPr marL="3886200" indent="-228600" defTabSz="457200" fontAlgn="base">
              <a:spcBef>
                <a:spcPct val="0"/>
              </a:spcBef>
              <a:spcAft>
                <a:spcPct val="0"/>
              </a:spcAft>
              <a:buClr>
                <a:srgbClr val="000000"/>
              </a:buClr>
              <a:buSzPct val="100000"/>
              <a:buFont typeface="Times New Roman" panose="02020603050405020304" pitchFamily="18" charset="0"/>
              <a:tabLst>
                <a:tab pos="723900" algn="l"/>
                <a:tab pos="1447800" algn="l"/>
                <a:tab pos="2171700" algn="l"/>
                <a:tab pos="2895600" algn="l"/>
                <a:tab pos="3619500" algn="l"/>
                <a:tab pos="4343400" algn="l"/>
                <a:tab pos="5067300" algn="l"/>
                <a:tab pos="5791200" algn="l"/>
                <a:tab pos="6515100" algn="l"/>
              </a:tabLst>
              <a:defRPr sz="1400">
                <a:solidFill>
                  <a:srgbClr val="000000"/>
                </a:solidFill>
                <a:latin typeface="Arial" panose="020B0604020202020204" pitchFamily="34" charset="0"/>
                <a:ea typeface="ＭＳ Ｐゴシック" panose="020B0600070205080204" pitchFamily="34" charset="-128"/>
              </a:defRPr>
            </a:lvl9pPr>
          </a:lstStyle>
          <a:p>
            <a:r>
              <a:rPr lang="en-US" dirty="0"/>
              <a:t>ground surface temperatures, calculated as histories from borehole temperatures</a:t>
            </a:r>
            <a:endParaRPr lang="en-US" altLang="en-US" sz="1100" dirty="0"/>
          </a:p>
        </p:txBody>
      </p:sp>
      <p:sp>
        <p:nvSpPr>
          <p:cNvPr id="5" name="Text Box 3">
            <a:extLst>
              <a:ext uri="{FF2B5EF4-FFF2-40B4-BE49-F238E27FC236}">
                <a16:creationId xmlns:a16="http://schemas.microsoft.com/office/drawing/2014/main" id="{AF4B11E2-F5D9-0740-9597-F6E082F128BF}"/>
              </a:ext>
            </a:extLst>
          </p:cNvPr>
          <p:cNvSpPr txBox="1">
            <a:spLocks noChangeArrowheads="1"/>
          </p:cNvSpPr>
          <p:nvPr/>
        </p:nvSpPr>
        <p:spPr bwMode="auto">
          <a:xfrm>
            <a:off x="233363" y="6540500"/>
            <a:ext cx="8640762" cy="2127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5000" rIns="90000" bIns="45000"/>
          <a:lstStyle>
            <a:lvl1pPr>
              <a:tabLst>
                <a:tab pos="723900" algn="l"/>
                <a:tab pos="1447800" algn="l"/>
                <a:tab pos="2171700" algn="l"/>
                <a:tab pos="2895600" algn="l"/>
                <a:tab pos="3619500" algn="l"/>
                <a:tab pos="4343400" algn="l"/>
                <a:tab pos="5067300" algn="l"/>
                <a:tab pos="5791200" algn="l"/>
                <a:tab pos="6515100" algn="l"/>
                <a:tab pos="7239000" algn="l"/>
                <a:tab pos="7962900" algn="l"/>
              </a:tabLst>
              <a:defRPr sz="1400">
                <a:solidFill>
                  <a:srgbClr val="000000"/>
                </a:solidFill>
                <a:latin typeface="Arial" panose="020B0604020202020204" pitchFamily="34" charset="0"/>
                <a:ea typeface="ＭＳ Ｐゴシック" panose="020B0600070205080204" pitchFamily="34" charset="-128"/>
              </a:defRPr>
            </a:lvl1pPr>
            <a:lvl2pPr>
              <a:tabLst>
                <a:tab pos="723900" algn="l"/>
                <a:tab pos="1447800" algn="l"/>
                <a:tab pos="2171700" algn="l"/>
                <a:tab pos="2895600" algn="l"/>
                <a:tab pos="3619500" algn="l"/>
                <a:tab pos="4343400" algn="l"/>
                <a:tab pos="5067300" algn="l"/>
                <a:tab pos="5791200" algn="l"/>
                <a:tab pos="6515100" algn="l"/>
                <a:tab pos="7239000" algn="l"/>
                <a:tab pos="7962900" algn="l"/>
              </a:tabLst>
              <a:defRPr sz="1400">
                <a:solidFill>
                  <a:srgbClr val="000000"/>
                </a:solidFill>
                <a:latin typeface="Arial" panose="020B0604020202020204" pitchFamily="34" charset="0"/>
                <a:ea typeface="ＭＳ Ｐゴシック" panose="020B0600070205080204" pitchFamily="34" charset="-128"/>
              </a:defRPr>
            </a:lvl2pPr>
            <a:lvl3pPr>
              <a:tabLst>
                <a:tab pos="723900" algn="l"/>
                <a:tab pos="1447800" algn="l"/>
                <a:tab pos="2171700" algn="l"/>
                <a:tab pos="2895600" algn="l"/>
                <a:tab pos="3619500" algn="l"/>
                <a:tab pos="4343400" algn="l"/>
                <a:tab pos="5067300" algn="l"/>
                <a:tab pos="5791200" algn="l"/>
                <a:tab pos="6515100" algn="l"/>
                <a:tab pos="7239000" algn="l"/>
                <a:tab pos="7962900" algn="l"/>
              </a:tabLst>
              <a:defRPr sz="1400">
                <a:solidFill>
                  <a:srgbClr val="000000"/>
                </a:solidFill>
                <a:latin typeface="Arial" panose="020B0604020202020204" pitchFamily="34" charset="0"/>
                <a:ea typeface="ＭＳ Ｐゴシック" panose="020B0600070205080204" pitchFamily="34" charset="-128"/>
              </a:defRPr>
            </a:lvl3pPr>
            <a:lvl4pPr>
              <a:tabLst>
                <a:tab pos="723900" algn="l"/>
                <a:tab pos="1447800" algn="l"/>
                <a:tab pos="2171700" algn="l"/>
                <a:tab pos="2895600" algn="l"/>
                <a:tab pos="3619500" algn="l"/>
                <a:tab pos="4343400" algn="l"/>
                <a:tab pos="5067300" algn="l"/>
                <a:tab pos="5791200" algn="l"/>
                <a:tab pos="6515100" algn="l"/>
                <a:tab pos="7239000" algn="l"/>
                <a:tab pos="7962900" algn="l"/>
              </a:tabLst>
              <a:defRPr sz="1400">
                <a:solidFill>
                  <a:srgbClr val="000000"/>
                </a:solidFill>
                <a:latin typeface="Arial" panose="020B0604020202020204" pitchFamily="34" charset="0"/>
                <a:ea typeface="ＭＳ Ｐゴシック" panose="020B0600070205080204" pitchFamily="34" charset="-128"/>
              </a:defRPr>
            </a:lvl4pPr>
            <a:lvl5pPr>
              <a:tabLst>
                <a:tab pos="723900" algn="l"/>
                <a:tab pos="1447800" algn="l"/>
                <a:tab pos="2171700" algn="l"/>
                <a:tab pos="2895600" algn="l"/>
                <a:tab pos="3619500" algn="l"/>
                <a:tab pos="4343400" algn="l"/>
                <a:tab pos="5067300" algn="l"/>
                <a:tab pos="5791200" algn="l"/>
                <a:tab pos="6515100" algn="l"/>
                <a:tab pos="7239000" algn="l"/>
                <a:tab pos="7962900" algn="l"/>
              </a:tabLst>
              <a:defRPr sz="1400">
                <a:solidFill>
                  <a:srgbClr val="000000"/>
                </a:solidFill>
                <a:latin typeface="Arial" panose="020B0604020202020204" pitchFamily="34" charset="0"/>
                <a:ea typeface="ＭＳ Ｐゴシック" panose="020B0600070205080204" pitchFamily="34" charset="-128"/>
              </a:defRPr>
            </a:lvl5pPr>
            <a:lvl6pPr marL="2514600" indent="-228600" defTabSz="457200" fontAlgn="base">
              <a:spcBef>
                <a:spcPct val="0"/>
              </a:spcBef>
              <a:spcAft>
                <a:spcPct val="0"/>
              </a:spcAft>
              <a:buClr>
                <a:srgbClr val="000000"/>
              </a:buClr>
              <a:buSzPct val="100000"/>
              <a:buFont typeface="Times New Roman" panose="02020603050405020304" pitchFamily="18" charset="0"/>
              <a:tabLst>
                <a:tab pos="723900" algn="l"/>
                <a:tab pos="1447800" algn="l"/>
                <a:tab pos="2171700" algn="l"/>
                <a:tab pos="2895600" algn="l"/>
                <a:tab pos="3619500" algn="l"/>
                <a:tab pos="4343400" algn="l"/>
                <a:tab pos="5067300" algn="l"/>
                <a:tab pos="5791200" algn="l"/>
                <a:tab pos="6515100" algn="l"/>
                <a:tab pos="7239000" algn="l"/>
                <a:tab pos="7962900" algn="l"/>
              </a:tabLst>
              <a:defRPr sz="1400">
                <a:solidFill>
                  <a:srgbClr val="000000"/>
                </a:solidFill>
                <a:latin typeface="Arial" panose="020B0604020202020204" pitchFamily="34" charset="0"/>
                <a:ea typeface="ＭＳ Ｐゴシック" panose="020B0600070205080204" pitchFamily="34" charset="-128"/>
              </a:defRPr>
            </a:lvl6pPr>
            <a:lvl7pPr marL="2971800" indent="-228600" defTabSz="457200" fontAlgn="base">
              <a:spcBef>
                <a:spcPct val="0"/>
              </a:spcBef>
              <a:spcAft>
                <a:spcPct val="0"/>
              </a:spcAft>
              <a:buClr>
                <a:srgbClr val="000000"/>
              </a:buClr>
              <a:buSzPct val="100000"/>
              <a:buFont typeface="Times New Roman" panose="02020603050405020304" pitchFamily="18" charset="0"/>
              <a:tabLst>
                <a:tab pos="723900" algn="l"/>
                <a:tab pos="1447800" algn="l"/>
                <a:tab pos="2171700" algn="l"/>
                <a:tab pos="2895600" algn="l"/>
                <a:tab pos="3619500" algn="l"/>
                <a:tab pos="4343400" algn="l"/>
                <a:tab pos="5067300" algn="l"/>
                <a:tab pos="5791200" algn="l"/>
                <a:tab pos="6515100" algn="l"/>
                <a:tab pos="7239000" algn="l"/>
                <a:tab pos="7962900" algn="l"/>
              </a:tabLst>
              <a:defRPr sz="1400">
                <a:solidFill>
                  <a:srgbClr val="000000"/>
                </a:solidFill>
                <a:latin typeface="Arial" panose="020B0604020202020204" pitchFamily="34" charset="0"/>
                <a:ea typeface="ＭＳ Ｐゴシック" panose="020B0600070205080204" pitchFamily="34" charset="-128"/>
              </a:defRPr>
            </a:lvl7pPr>
            <a:lvl8pPr marL="3429000" indent="-228600" defTabSz="457200" fontAlgn="base">
              <a:spcBef>
                <a:spcPct val="0"/>
              </a:spcBef>
              <a:spcAft>
                <a:spcPct val="0"/>
              </a:spcAft>
              <a:buClr>
                <a:srgbClr val="000000"/>
              </a:buClr>
              <a:buSzPct val="100000"/>
              <a:buFont typeface="Times New Roman" panose="02020603050405020304" pitchFamily="18" charset="0"/>
              <a:tabLst>
                <a:tab pos="723900" algn="l"/>
                <a:tab pos="1447800" algn="l"/>
                <a:tab pos="2171700" algn="l"/>
                <a:tab pos="2895600" algn="l"/>
                <a:tab pos="3619500" algn="l"/>
                <a:tab pos="4343400" algn="l"/>
                <a:tab pos="5067300" algn="l"/>
                <a:tab pos="5791200" algn="l"/>
                <a:tab pos="6515100" algn="l"/>
                <a:tab pos="7239000" algn="l"/>
                <a:tab pos="7962900" algn="l"/>
              </a:tabLst>
              <a:defRPr sz="1400">
                <a:solidFill>
                  <a:srgbClr val="000000"/>
                </a:solidFill>
                <a:latin typeface="Arial" panose="020B0604020202020204" pitchFamily="34" charset="0"/>
                <a:ea typeface="ＭＳ Ｐゴシック" panose="020B0600070205080204" pitchFamily="34" charset="-128"/>
              </a:defRPr>
            </a:lvl8pPr>
            <a:lvl9pPr marL="3886200" indent="-228600" defTabSz="457200" fontAlgn="base">
              <a:spcBef>
                <a:spcPct val="0"/>
              </a:spcBef>
              <a:spcAft>
                <a:spcPct val="0"/>
              </a:spcAft>
              <a:buClr>
                <a:srgbClr val="000000"/>
              </a:buClr>
              <a:buSzPct val="100000"/>
              <a:buFont typeface="Times New Roman" panose="02020603050405020304" pitchFamily="18" charset="0"/>
              <a:tabLst>
                <a:tab pos="723900" algn="l"/>
                <a:tab pos="1447800" algn="l"/>
                <a:tab pos="2171700" algn="l"/>
                <a:tab pos="2895600" algn="l"/>
                <a:tab pos="3619500" algn="l"/>
                <a:tab pos="4343400" algn="l"/>
                <a:tab pos="5067300" algn="l"/>
                <a:tab pos="5791200" algn="l"/>
                <a:tab pos="6515100" algn="l"/>
                <a:tab pos="7239000" algn="l"/>
                <a:tab pos="7962900" algn="l"/>
              </a:tabLst>
              <a:defRPr sz="1400">
                <a:solidFill>
                  <a:srgbClr val="000000"/>
                </a:solidFill>
                <a:latin typeface="Arial" panose="020B0604020202020204" pitchFamily="34" charset="0"/>
                <a:ea typeface="ＭＳ Ｐゴシック" panose="020B0600070205080204" pitchFamily="34" charset="-128"/>
              </a:defRPr>
            </a:lvl9pPr>
          </a:lstStyle>
          <a:p>
            <a:r>
              <a:rPr lang="en-US" altLang="en-US" sz="800" b="1">
                <a:solidFill>
                  <a:srgbClr val="0054A6"/>
                </a:solidFill>
              </a:rPr>
              <a:t>Geophysical Research Letters, Volume: 29, Issue: 8, Pages: 8-1-8-3, First published: 17 April 2002, DOI: (10.1029/2001GL014310) </a:t>
            </a:r>
          </a:p>
        </p:txBody>
      </p:sp>
      <p:pic>
        <p:nvPicPr>
          <p:cNvPr id="3" name="Picture 2">
            <a:extLst>
              <a:ext uri="{FF2B5EF4-FFF2-40B4-BE49-F238E27FC236}">
                <a16:creationId xmlns:a16="http://schemas.microsoft.com/office/drawing/2014/main" id="{CDED5992-C1E7-DA48-9E06-66A9268AE351}"/>
              </a:ext>
            </a:extLst>
          </p:cNvPr>
          <p:cNvPicPr>
            <a:picLocks noChangeAspect="1"/>
          </p:cNvPicPr>
          <p:nvPr/>
        </p:nvPicPr>
        <p:blipFill>
          <a:blip r:embed="rId3"/>
          <a:stretch>
            <a:fillRect/>
          </a:stretch>
        </p:blipFill>
        <p:spPr>
          <a:xfrm>
            <a:off x="457200" y="769152"/>
            <a:ext cx="7766049" cy="4446565"/>
          </a:xfrm>
          <a:prstGeom prst="rect">
            <a:avLst/>
          </a:prstGeom>
        </p:spPr>
      </p:pic>
    </p:spTree>
    <p:extLst>
      <p:ext uri="{BB962C8B-B14F-4D97-AF65-F5344CB8AC3E}">
        <p14:creationId xmlns:p14="http://schemas.microsoft.com/office/powerpoint/2010/main" val="1184065538"/>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bg>
      <p:bgPr>
        <a:solidFill>
          <a:schemeClr val="accent1"/>
        </a:solidFill>
        <a:effectLst/>
      </p:bgPr>
    </p:bg>
    <p:spTree>
      <p:nvGrpSpPr>
        <p:cNvPr id="1" name=""/>
        <p:cNvGrpSpPr/>
        <p:nvPr/>
      </p:nvGrpSpPr>
      <p:grpSpPr>
        <a:xfrm>
          <a:off x="0" y="0"/>
          <a:ext cx="0" cy="0"/>
          <a:chOff x="0" y="0"/>
          <a:chExt cx="0" cy="0"/>
        </a:xfrm>
      </p:grpSpPr>
      <p:sp>
        <p:nvSpPr>
          <p:cNvPr id="14" name="TextBox 13">
            <a:extLst>
              <a:ext uri="{FF2B5EF4-FFF2-40B4-BE49-F238E27FC236}">
                <a16:creationId xmlns:a16="http://schemas.microsoft.com/office/drawing/2014/main" id="{9150E694-55F0-1049-8F72-355C054DEB46}"/>
              </a:ext>
            </a:extLst>
          </p:cNvPr>
          <p:cNvSpPr txBox="1"/>
          <p:nvPr/>
        </p:nvSpPr>
        <p:spPr>
          <a:xfrm>
            <a:off x="0" y="0"/>
            <a:ext cx="9097299" cy="523220"/>
          </a:xfrm>
          <a:prstGeom prst="rect">
            <a:avLst/>
          </a:prstGeom>
          <a:noFill/>
        </p:spPr>
        <p:txBody>
          <a:bodyPr wrap="none" rtlCol="0">
            <a:spAutoFit/>
          </a:bodyPr>
          <a:lstStyle/>
          <a:p>
            <a:r>
              <a:rPr lang="en-US" sz="2800" dirty="0">
                <a:solidFill>
                  <a:srgbClr val="FF0000"/>
                </a:solidFill>
              </a:rPr>
              <a:t>Climate change affects the lithosphere and atmosphere.</a:t>
            </a:r>
          </a:p>
        </p:txBody>
      </p:sp>
      <p:pic>
        <p:nvPicPr>
          <p:cNvPr id="2" name="SIBERIACRATERWEBTAG1">
            <a:hlinkClick r:id="" action="ppaction://media"/>
            <a:extLst>
              <a:ext uri="{FF2B5EF4-FFF2-40B4-BE49-F238E27FC236}">
                <a16:creationId xmlns:a16="http://schemas.microsoft.com/office/drawing/2014/main" id="{B9EDAF76-DEDA-D742-8CAC-A66B1BD0302E}"/>
              </a:ext>
            </a:extLst>
          </p:cNvPr>
          <p:cNvPicPr>
            <a:picLocks noChangeAspect="1"/>
          </p:cNvPicPr>
          <p:nvPr>
            <a:videoFile r:link="rId2"/>
            <p:extLst>
              <p:ext uri="{DAA4B4D4-6D71-4841-9C94-3DE7FCFB9230}">
                <p14:media xmlns:p14="http://schemas.microsoft.com/office/powerpoint/2010/main" r:embed="rId1"/>
              </p:ext>
            </p:extLst>
          </p:nvPr>
        </p:nvPicPr>
        <p:blipFill>
          <a:blip r:embed="rId5"/>
          <a:stretch>
            <a:fillRect/>
          </a:stretch>
        </p:blipFill>
        <p:spPr>
          <a:xfrm>
            <a:off x="0" y="609600"/>
            <a:ext cx="9144000" cy="5143500"/>
          </a:xfrm>
          <a:prstGeom prst="rect">
            <a:avLst/>
          </a:prstGeom>
        </p:spPr>
      </p:pic>
      <p:sp>
        <p:nvSpPr>
          <p:cNvPr id="3" name="TextBox 2">
            <a:extLst>
              <a:ext uri="{FF2B5EF4-FFF2-40B4-BE49-F238E27FC236}">
                <a16:creationId xmlns:a16="http://schemas.microsoft.com/office/drawing/2014/main" id="{3560465C-220F-3947-9AF4-F1D7BB19747C}"/>
              </a:ext>
            </a:extLst>
          </p:cNvPr>
          <p:cNvSpPr txBox="1"/>
          <p:nvPr/>
        </p:nvSpPr>
        <p:spPr>
          <a:xfrm>
            <a:off x="5486400" y="6581001"/>
            <a:ext cx="3721853" cy="276999"/>
          </a:xfrm>
          <a:prstGeom prst="rect">
            <a:avLst/>
          </a:prstGeom>
          <a:noFill/>
        </p:spPr>
        <p:txBody>
          <a:bodyPr wrap="none" rtlCol="0">
            <a:spAutoFit/>
          </a:bodyPr>
          <a:lstStyle/>
          <a:p>
            <a:r>
              <a:rPr lang="en-US" sz="1200" dirty="0"/>
              <a:t>See also https://</a:t>
            </a:r>
            <a:r>
              <a:rPr lang="en-US" sz="1200" dirty="0" err="1"/>
              <a:t>www.mdpi.com</a:t>
            </a:r>
            <a:r>
              <a:rPr lang="en-US" sz="1200" dirty="0"/>
              <a:t>/2076-3263/11/2/71#</a:t>
            </a:r>
          </a:p>
        </p:txBody>
      </p:sp>
      <p:sp>
        <p:nvSpPr>
          <p:cNvPr id="7" name="TextBox 6">
            <a:extLst>
              <a:ext uri="{FF2B5EF4-FFF2-40B4-BE49-F238E27FC236}">
                <a16:creationId xmlns:a16="http://schemas.microsoft.com/office/drawing/2014/main" id="{7B879C71-E2FE-A644-83C1-AFD1CDA6653F}"/>
              </a:ext>
            </a:extLst>
          </p:cNvPr>
          <p:cNvSpPr txBox="1"/>
          <p:nvPr/>
        </p:nvSpPr>
        <p:spPr>
          <a:xfrm>
            <a:off x="228600" y="5940251"/>
            <a:ext cx="7455887" cy="415498"/>
          </a:xfrm>
          <a:prstGeom prst="rect">
            <a:avLst/>
          </a:prstGeom>
          <a:noFill/>
        </p:spPr>
        <p:txBody>
          <a:bodyPr wrap="none" rtlCol="0">
            <a:spAutoFit/>
          </a:bodyPr>
          <a:lstStyle/>
          <a:p>
            <a:r>
              <a:rPr lang="en-US" sz="1050" dirty="0"/>
              <a:t>“The accumulation of gas, the pressure rise and the development of gas-dynamic processes in the cavity led to the growth </a:t>
            </a:r>
          </a:p>
          <a:p>
            <a:r>
              <a:rPr lang="en-US" sz="1050" dirty="0"/>
              <a:t>of the perennial heaving mound, and the explosion and formation of the </a:t>
            </a:r>
            <a:r>
              <a:rPr lang="en-US" sz="1050"/>
              <a:t>crater.”  </a:t>
            </a:r>
            <a:endParaRPr lang="en-US" sz="1050" dirty="0"/>
          </a:p>
        </p:txBody>
      </p:sp>
    </p:spTree>
    <p:extLst>
      <p:ext uri="{BB962C8B-B14F-4D97-AF65-F5344CB8AC3E}">
        <p14:creationId xmlns:p14="http://schemas.microsoft.com/office/powerpoint/2010/main" val="351349953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8512" fill="hold"/>
                                        <p:tgtEl>
                                          <p:spTgt spid="2"/>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repeatCount="indefinite" fill="hold" display="0">
                  <p:stCondLst>
                    <p:cond delay="indefinite"/>
                  </p:stCondLst>
                </p:cTn>
                <p:tgtEl>
                  <p:spTgt spid="2"/>
                </p:tgtEl>
              </p:cMediaNode>
            </p:video>
            <p:seq concurrent="1" nextAc="seek">
              <p:cTn id="8" restart="whenNotActive" fill="hold" evtFilter="cancelBubble" nodeType="interactiveSeq">
                <p:stCondLst>
                  <p:cond evt="onClick" delay="0">
                    <p:tgtEl>
                      <p:spTgt spid="2"/>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2"/>
                                        </p:tgtEl>
                                      </p:cBhvr>
                                    </p:cmd>
                                  </p:childTnLst>
                                </p:cTn>
                              </p:par>
                            </p:childTnLst>
                          </p:cTn>
                        </p:par>
                      </p:childTnLst>
                    </p:cTn>
                  </p:par>
                </p:childTnLst>
              </p:cTn>
              <p:nextCondLst>
                <p:cond evt="onClick" delay="0">
                  <p:tgtEl>
                    <p:spTgt spid="2"/>
                  </p:tgtEl>
                </p:cond>
              </p:nextCondLst>
            </p:seq>
          </p:childTnLst>
        </p:cTn>
      </p:par>
    </p:tnLst>
  </p:timing>
</p:sld>
</file>

<file path=ppt/slides/slide63.xml><?xml version="1.0" encoding="utf-8"?>
<p:sld xmlns:a="http://schemas.openxmlformats.org/drawingml/2006/main" xmlns:r="http://schemas.openxmlformats.org/officeDocument/2006/relationships" xmlns:p="http://schemas.openxmlformats.org/presentationml/2006/main">
  <p:cSld>
    <p:bg>
      <p:bgPr>
        <a:solidFill>
          <a:schemeClr val="accent1"/>
        </a:solidFill>
        <a:effectLst/>
      </p:bgPr>
    </p:bg>
    <p:spTree>
      <p:nvGrpSpPr>
        <p:cNvPr id="1" name=""/>
        <p:cNvGrpSpPr/>
        <p:nvPr/>
      </p:nvGrpSpPr>
      <p:grpSpPr>
        <a:xfrm>
          <a:off x="0" y="0"/>
          <a:ext cx="0" cy="0"/>
          <a:chOff x="0" y="0"/>
          <a:chExt cx="0" cy="0"/>
        </a:xfrm>
      </p:grpSpPr>
      <p:sp>
        <p:nvSpPr>
          <p:cNvPr id="14" name="TextBox 13">
            <a:extLst>
              <a:ext uri="{FF2B5EF4-FFF2-40B4-BE49-F238E27FC236}">
                <a16:creationId xmlns:a16="http://schemas.microsoft.com/office/drawing/2014/main" id="{9150E694-55F0-1049-8F72-355C054DEB46}"/>
              </a:ext>
            </a:extLst>
          </p:cNvPr>
          <p:cNvSpPr txBox="1"/>
          <p:nvPr/>
        </p:nvSpPr>
        <p:spPr>
          <a:xfrm>
            <a:off x="0" y="0"/>
            <a:ext cx="6216702" cy="523220"/>
          </a:xfrm>
          <a:prstGeom prst="rect">
            <a:avLst/>
          </a:prstGeom>
          <a:noFill/>
        </p:spPr>
        <p:txBody>
          <a:bodyPr wrap="none" rtlCol="0">
            <a:spAutoFit/>
          </a:bodyPr>
          <a:lstStyle/>
          <a:p>
            <a:r>
              <a:rPr lang="en-US" sz="2800" dirty="0">
                <a:solidFill>
                  <a:srgbClr val="FF0000"/>
                </a:solidFill>
              </a:rPr>
              <a:t>Climate change affects the biosphere.</a:t>
            </a:r>
          </a:p>
        </p:txBody>
      </p:sp>
      <p:pic>
        <p:nvPicPr>
          <p:cNvPr id="3" name="Picture 2">
            <a:extLst>
              <a:ext uri="{FF2B5EF4-FFF2-40B4-BE49-F238E27FC236}">
                <a16:creationId xmlns:a16="http://schemas.microsoft.com/office/drawing/2014/main" id="{9F7D695F-AA3F-594B-BD23-E00378139388}"/>
              </a:ext>
            </a:extLst>
          </p:cNvPr>
          <p:cNvPicPr>
            <a:picLocks noChangeAspect="1"/>
          </p:cNvPicPr>
          <p:nvPr/>
        </p:nvPicPr>
        <p:blipFill>
          <a:blip r:embed="rId2"/>
          <a:stretch>
            <a:fillRect/>
          </a:stretch>
        </p:blipFill>
        <p:spPr>
          <a:xfrm>
            <a:off x="0" y="838200"/>
            <a:ext cx="9144000" cy="5384928"/>
          </a:xfrm>
          <a:prstGeom prst="rect">
            <a:avLst/>
          </a:prstGeom>
        </p:spPr>
      </p:pic>
      <p:sp>
        <p:nvSpPr>
          <p:cNvPr id="4" name="Rectangle 3">
            <a:extLst>
              <a:ext uri="{FF2B5EF4-FFF2-40B4-BE49-F238E27FC236}">
                <a16:creationId xmlns:a16="http://schemas.microsoft.com/office/drawing/2014/main" id="{06A24D00-BC54-864E-AD23-D295B096FDB2}"/>
              </a:ext>
            </a:extLst>
          </p:cNvPr>
          <p:cNvSpPr/>
          <p:nvPr/>
        </p:nvSpPr>
        <p:spPr>
          <a:xfrm>
            <a:off x="304800" y="6356895"/>
            <a:ext cx="8534400" cy="338554"/>
          </a:xfrm>
          <a:prstGeom prst="rect">
            <a:avLst/>
          </a:prstGeom>
        </p:spPr>
        <p:txBody>
          <a:bodyPr wrap="square">
            <a:spAutoFit/>
          </a:bodyPr>
          <a:lstStyle/>
          <a:p>
            <a:r>
              <a:rPr lang="en-US" sz="1600" dirty="0"/>
              <a:t>https://</a:t>
            </a:r>
            <a:r>
              <a:rPr lang="en-US" sz="1600" dirty="0" err="1"/>
              <a:t>datagraver.com</a:t>
            </a:r>
            <a:r>
              <a:rPr lang="en-US" sz="1600" dirty="0"/>
              <a:t>/kyoto-full-flowering-day-cherry-blossom-since-year-812/</a:t>
            </a:r>
          </a:p>
        </p:txBody>
      </p:sp>
    </p:spTree>
    <p:extLst>
      <p:ext uri="{BB962C8B-B14F-4D97-AF65-F5344CB8AC3E}">
        <p14:creationId xmlns:p14="http://schemas.microsoft.com/office/powerpoint/2010/main" val="1515967894"/>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bg>
      <p:bgPr>
        <a:solidFill>
          <a:schemeClr val="accent1"/>
        </a:solidFill>
        <a:effectLst/>
      </p:bgPr>
    </p:bg>
    <p:spTree>
      <p:nvGrpSpPr>
        <p:cNvPr id="1" name=""/>
        <p:cNvGrpSpPr/>
        <p:nvPr/>
      </p:nvGrpSpPr>
      <p:grpSpPr>
        <a:xfrm>
          <a:off x="0" y="0"/>
          <a:ext cx="0" cy="0"/>
          <a:chOff x="0" y="0"/>
          <a:chExt cx="0" cy="0"/>
        </a:xfrm>
      </p:grpSpPr>
      <p:sp>
        <p:nvSpPr>
          <p:cNvPr id="14" name="TextBox 13">
            <a:extLst>
              <a:ext uri="{FF2B5EF4-FFF2-40B4-BE49-F238E27FC236}">
                <a16:creationId xmlns:a16="http://schemas.microsoft.com/office/drawing/2014/main" id="{9150E694-55F0-1049-8F72-355C054DEB46}"/>
              </a:ext>
            </a:extLst>
          </p:cNvPr>
          <p:cNvSpPr txBox="1"/>
          <p:nvPr/>
        </p:nvSpPr>
        <p:spPr>
          <a:xfrm>
            <a:off x="0" y="0"/>
            <a:ext cx="6216702" cy="523220"/>
          </a:xfrm>
          <a:prstGeom prst="rect">
            <a:avLst/>
          </a:prstGeom>
          <a:noFill/>
        </p:spPr>
        <p:txBody>
          <a:bodyPr wrap="none" rtlCol="0">
            <a:spAutoFit/>
          </a:bodyPr>
          <a:lstStyle/>
          <a:p>
            <a:r>
              <a:rPr lang="en-US" sz="2800" dirty="0">
                <a:solidFill>
                  <a:srgbClr val="FF0000"/>
                </a:solidFill>
              </a:rPr>
              <a:t>Climate change affects the biosphere.</a:t>
            </a:r>
          </a:p>
        </p:txBody>
      </p:sp>
      <p:pic>
        <p:nvPicPr>
          <p:cNvPr id="3" name="Picture 2">
            <a:extLst>
              <a:ext uri="{FF2B5EF4-FFF2-40B4-BE49-F238E27FC236}">
                <a16:creationId xmlns:a16="http://schemas.microsoft.com/office/drawing/2014/main" id="{9F7D695F-AA3F-594B-BD23-E00378139388}"/>
              </a:ext>
            </a:extLst>
          </p:cNvPr>
          <p:cNvPicPr>
            <a:picLocks noChangeAspect="1"/>
          </p:cNvPicPr>
          <p:nvPr/>
        </p:nvPicPr>
        <p:blipFill>
          <a:blip r:embed="rId2"/>
          <a:stretch>
            <a:fillRect/>
          </a:stretch>
        </p:blipFill>
        <p:spPr>
          <a:xfrm>
            <a:off x="0" y="838200"/>
            <a:ext cx="9144000" cy="5384928"/>
          </a:xfrm>
          <a:prstGeom prst="rect">
            <a:avLst/>
          </a:prstGeom>
        </p:spPr>
      </p:pic>
      <p:sp>
        <p:nvSpPr>
          <p:cNvPr id="4" name="Rectangle 3">
            <a:extLst>
              <a:ext uri="{FF2B5EF4-FFF2-40B4-BE49-F238E27FC236}">
                <a16:creationId xmlns:a16="http://schemas.microsoft.com/office/drawing/2014/main" id="{06A24D00-BC54-864E-AD23-D295B096FDB2}"/>
              </a:ext>
            </a:extLst>
          </p:cNvPr>
          <p:cNvSpPr/>
          <p:nvPr/>
        </p:nvSpPr>
        <p:spPr>
          <a:xfrm>
            <a:off x="304800" y="6356895"/>
            <a:ext cx="8534400" cy="338554"/>
          </a:xfrm>
          <a:prstGeom prst="rect">
            <a:avLst/>
          </a:prstGeom>
        </p:spPr>
        <p:txBody>
          <a:bodyPr wrap="square">
            <a:spAutoFit/>
          </a:bodyPr>
          <a:lstStyle/>
          <a:p>
            <a:r>
              <a:rPr lang="en-US" sz="1600" dirty="0"/>
              <a:t>https://</a:t>
            </a:r>
            <a:r>
              <a:rPr lang="en-US" sz="1600" dirty="0" err="1"/>
              <a:t>datagraver.com</a:t>
            </a:r>
            <a:r>
              <a:rPr lang="en-US" sz="1600" dirty="0"/>
              <a:t>/kyoto-full-flowering-day-cherry-blossom-since-year-812/</a:t>
            </a:r>
          </a:p>
        </p:txBody>
      </p:sp>
      <p:cxnSp>
        <p:nvCxnSpPr>
          <p:cNvPr id="5" name="Straight Connector 4">
            <a:extLst>
              <a:ext uri="{FF2B5EF4-FFF2-40B4-BE49-F238E27FC236}">
                <a16:creationId xmlns:a16="http://schemas.microsoft.com/office/drawing/2014/main" id="{CFD33CBC-F902-D941-8171-056BB5E23591}"/>
              </a:ext>
            </a:extLst>
          </p:cNvPr>
          <p:cNvCxnSpPr>
            <a:cxnSpLocks/>
          </p:cNvCxnSpPr>
          <p:nvPr/>
        </p:nvCxnSpPr>
        <p:spPr>
          <a:xfrm>
            <a:off x="8153400" y="1219200"/>
            <a:ext cx="0" cy="4191000"/>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972420298"/>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bg>
      <p:bgPr>
        <a:solidFill>
          <a:srgbClr val="470048"/>
        </a:solidFill>
        <a:effectLst/>
      </p:bgPr>
    </p:bg>
    <p:spTree>
      <p:nvGrpSpPr>
        <p:cNvPr id="1" name=""/>
        <p:cNvGrpSpPr/>
        <p:nvPr/>
      </p:nvGrpSpPr>
      <p:grpSpPr>
        <a:xfrm>
          <a:off x="0" y="0"/>
          <a:ext cx="0" cy="0"/>
          <a:chOff x="0" y="0"/>
          <a:chExt cx="0" cy="0"/>
        </a:xfrm>
      </p:grpSpPr>
      <p:sp>
        <p:nvSpPr>
          <p:cNvPr id="100354" name="Title 1">
            <a:extLst>
              <a:ext uri="{FF2B5EF4-FFF2-40B4-BE49-F238E27FC236}">
                <a16:creationId xmlns:a16="http://schemas.microsoft.com/office/drawing/2014/main" id="{9003C9D7-808C-C747-B717-1D3F93571E45}"/>
              </a:ext>
            </a:extLst>
          </p:cNvPr>
          <p:cNvSpPr>
            <a:spLocks noGrp="1"/>
          </p:cNvSpPr>
          <p:nvPr>
            <p:ph type="ctrTitle"/>
          </p:nvPr>
        </p:nvSpPr>
        <p:spPr/>
        <p:txBody>
          <a:bodyPr/>
          <a:lstStyle/>
          <a:p>
            <a:pPr eaLnBrk="1" hangingPunct="1"/>
            <a:endParaRPr lang="en-US" altLang="en-US">
              <a:latin typeface="Calibri" panose="020F0502020204030204" pitchFamily="34" charset="0"/>
              <a:ea typeface="ＭＳ Ｐゴシック" panose="020B0600070205080204" pitchFamily="34" charset="-128"/>
            </a:endParaRPr>
          </a:p>
        </p:txBody>
      </p:sp>
      <p:pic>
        <p:nvPicPr>
          <p:cNvPr id="100355" name="Picture 6" descr="Forcing and response.tiff">
            <a:extLst>
              <a:ext uri="{FF2B5EF4-FFF2-40B4-BE49-F238E27FC236}">
                <a16:creationId xmlns:a16="http://schemas.microsoft.com/office/drawing/2014/main" id="{1532BEF9-E8F4-4C4A-81F1-9862A1B8C06D}"/>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219075" y="1524000"/>
            <a:ext cx="8772525" cy="38274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0356" name="TextBox 8">
            <a:extLst>
              <a:ext uri="{FF2B5EF4-FFF2-40B4-BE49-F238E27FC236}">
                <a16:creationId xmlns:a16="http://schemas.microsoft.com/office/drawing/2014/main" id="{37ACB667-4E4C-1F45-B31E-E3F10E647A40}"/>
              </a:ext>
            </a:extLst>
          </p:cNvPr>
          <p:cNvSpPr txBox="1">
            <a:spLocks noChangeArrowheads="1"/>
          </p:cNvSpPr>
          <p:nvPr/>
        </p:nvSpPr>
        <p:spPr bwMode="auto">
          <a:xfrm>
            <a:off x="4506913" y="6400800"/>
            <a:ext cx="466090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r>
              <a:rPr lang="en-US" altLang="en-US" sz="1800">
                <a:solidFill>
                  <a:srgbClr val="FFFFFF"/>
                </a:solidFill>
                <a:latin typeface="Goudy Old Style" panose="02020502050305020303" pitchFamily="18" charset="77"/>
              </a:rPr>
              <a:t>(Ruddiman 2008: </a:t>
            </a:r>
            <a:r>
              <a:rPr lang="en-US" altLang="en-US" sz="1800" i="1">
                <a:solidFill>
                  <a:srgbClr val="FFFFFF"/>
                </a:solidFill>
                <a:latin typeface="Goudy Old Style" panose="02020502050305020303" pitchFamily="18" charset="77"/>
              </a:rPr>
              <a:t>Earth’s Climate: Past and Future</a:t>
            </a:r>
            <a:r>
              <a:rPr lang="en-US" altLang="en-US" sz="1800">
                <a:solidFill>
                  <a:srgbClr val="FFFFFF"/>
                </a:solidFill>
                <a:latin typeface="Goudy Old Style" panose="02020502050305020303" pitchFamily="18" charset="77"/>
              </a:rPr>
              <a:t>)</a:t>
            </a:r>
          </a:p>
        </p:txBody>
      </p:sp>
      <p:sp>
        <p:nvSpPr>
          <p:cNvPr id="6" name="TextBox 5">
            <a:extLst>
              <a:ext uri="{FF2B5EF4-FFF2-40B4-BE49-F238E27FC236}">
                <a16:creationId xmlns:a16="http://schemas.microsoft.com/office/drawing/2014/main" id="{596D1D08-DB4B-374A-A970-12AA04C05BD4}"/>
              </a:ext>
            </a:extLst>
          </p:cNvPr>
          <p:cNvSpPr txBox="1"/>
          <p:nvPr/>
        </p:nvSpPr>
        <p:spPr>
          <a:xfrm>
            <a:off x="76200" y="146050"/>
            <a:ext cx="9067800" cy="723900"/>
          </a:xfrm>
          <a:prstGeom prst="rect">
            <a:avLst/>
          </a:prstGeom>
          <a:noFill/>
        </p:spPr>
        <p:txBody>
          <a:bodyP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r>
              <a:rPr lang="en-US" altLang="en-US" sz="4100">
                <a:solidFill>
                  <a:srgbClr val="FBFF09"/>
                </a:solidFill>
                <a:effectLst>
                  <a:outerShdw blurRad="38100" dist="38100" dir="2700000" algn="tl">
                    <a:srgbClr val="000000"/>
                  </a:outerShdw>
                </a:effectLst>
                <a:latin typeface="Goudy Old Style" panose="02020502050305020303" pitchFamily="18" charset="77"/>
              </a:rPr>
              <a:t>Cause and Effect  =  Forcing and Response</a:t>
            </a:r>
          </a:p>
        </p:txBody>
      </p:sp>
      <p:sp>
        <p:nvSpPr>
          <p:cNvPr id="7" name="Right Arrow Callout 6">
            <a:extLst>
              <a:ext uri="{FF2B5EF4-FFF2-40B4-BE49-F238E27FC236}">
                <a16:creationId xmlns:a16="http://schemas.microsoft.com/office/drawing/2014/main" id="{3E0B5011-64FD-2043-8FB5-F4B5BE6FDD5A}"/>
              </a:ext>
            </a:extLst>
          </p:cNvPr>
          <p:cNvSpPr>
            <a:spLocks noChangeArrowheads="1"/>
          </p:cNvSpPr>
          <p:nvPr/>
        </p:nvSpPr>
        <p:spPr bwMode="auto">
          <a:xfrm>
            <a:off x="304800" y="3962400"/>
            <a:ext cx="2209800" cy="685800"/>
          </a:xfrm>
          <a:prstGeom prst="rightArrowCallout">
            <a:avLst>
              <a:gd name="adj1" fmla="val 25000"/>
              <a:gd name="adj2" fmla="val 23671"/>
              <a:gd name="adj3" fmla="val 25002"/>
              <a:gd name="adj4" fmla="val 64977"/>
            </a:avLst>
          </a:prstGeom>
          <a:solidFill>
            <a:srgbClr val="FF0208"/>
          </a:solidFill>
          <a:ln w="19050">
            <a:solidFill>
              <a:schemeClr val="tx1"/>
            </a:solidFill>
            <a:miter lim="800000"/>
            <a:headEnd/>
            <a:tailEnd/>
          </a:ln>
          <a:effectLst>
            <a:outerShdw blurRad="40000" dist="23000" dir="5400000" rotWithShape="0">
              <a:srgbClr val="808080">
                <a:alpha val="34998"/>
              </a:srgbClr>
            </a:outerShdw>
          </a:effectLst>
        </p:spPr>
        <p:txBody>
          <a:bodyPr anchor="ctr"/>
          <a:lstStyle/>
          <a:p>
            <a:pPr algn="ctr">
              <a:defRPr/>
            </a:pPr>
            <a:r>
              <a:rPr lang="en-US" sz="1600" dirty="0">
                <a:solidFill>
                  <a:srgbClr val="FFFFFF"/>
                </a:solidFill>
                <a:latin typeface="Calibri" charset="0"/>
                <a:ea typeface="ＭＳ Ｐゴシック" charset="0"/>
                <a:cs typeface="ＭＳ Ｐゴシック" charset="0"/>
              </a:rPr>
              <a:t>Anthropogenic</a:t>
            </a:r>
          </a:p>
          <a:p>
            <a:pPr algn="ctr">
              <a:defRPr/>
            </a:pPr>
            <a:r>
              <a:rPr lang="en-US" sz="1600" dirty="0">
                <a:solidFill>
                  <a:srgbClr val="FFFFFF"/>
                </a:solidFill>
                <a:latin typeface="Calibri" charset="0"/>
                <a:ea typeface="ＭＳ Ｐゴシック" charset="0"/>
                <a:cs typeface="ＭＳ Ｐゴシック" charset="0"/>
              </a:rPr>
              <a:t>forcing</a:t>
            </a:r>
          </a:p>
        </p:txBody>
      </p:sp>
    </p:spTree>
    <p:extLst>
      <p:ext uri="{BB962C8B-B14F-4D97-AF65-F5344CB8AC3E}">
        <p14:creationId xmlns:p14="http://schemas.microsoft.com/office/powerpoint/2010/main" val="1194800544"/>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bg>
      <p:bgPr>
        <a:solidFill>
          <a:srgbClr val="470048"/>
        </a:solidFill>
        <a:effectLst/>
      </p:bgPr>
    </p:bg>
    <p:spTree>
      <p:nvGrpSpPr>
        <p:cNvPr id="1" name=""/>
        <p:cNvGrpSpPr/>
        <p:nvPr/>
      </p:nvGrpSpPr>
      <p:grpSpPr>
        <a:xfrm>
          <a:off x="0" y="0"/>
          <a:ext cx="0" cy="0"/>
          <a:chOff x="0" y="0"/>
          <a:chExt cx="0" cy="0"/>
        </a:xfrm>
      </p:grpSpPr>
      <p:sp>
        <p:nvSpPr>
          <p:cNvPr id="100354" name="Title 1">
            <a:extLst>
              <a:ext uri="{FF2B5EF4-FFF2-40B4-BE49-F238E27FC236}">
                <a16:creationId xmlns:a16="http://schemas.microsoft.com/office/drawing/2014/main" id="{9003C9D7-808C-C747-B717-1D3F93571E45}"/>
              </a:ext>
            </a:extLst>
          </p:cNvPr>
          <p:cNvSpPr>
            <a:spLocks noGrp="1"/>
          </p:cNvSpPr>
          <p:nvPr>
            <p:ph type="ctrTitle"/>
          </p:nvPr>
        </p:nvSpPr>
        <p:spPr/>
        <p:txBody>
          <a:bodyPr/>
          <a:lstStyle/>
          <a:p>
            <a:pPr eaLnBrk="1" hangingPunct="1"/>
            <a:endParaRPr lang="en-US" altLang="en-US">
              <a:latin typeface="Calibri" panose="020F0502020204030204" pitchFamily="34" charset="0"/>
              <a:ea typeface="ＭＳ Ｐゴシック" panose="020B0600070205080204" pitchFamily="34" charset="-128"/>
            </a:endParaRPr>
          </a:p>
        </p:txBody>
      </p:sp>
      <p:pic>
        <p:nvPicPr>
          <p:cNvPr id="100355" name="Picture 6" descr="Forcing and response.tiff">
            <a:extLst>
              <a:ext uri="{FF2B5EF4-FFF2-40B4-BE49-F238E27FC236}">
                <a16:creationId xmlns:a16="http://schemas.microsoft.com/office/drawing/2014/main" id="{1532BEF9-E8F4-4C4A-81F1-9862A1B8C06D}"/>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219075" y="1524000"/>
            <a:ext cx="8772525" cy="38274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0356" name="TextBox 8">
            <a:extLst>
              <a:ext uri="{FF2B5EF4-FFF2-40B4-BE49-F238E27FC236}">
                <a16:creationId xmlns:a16="http://schemas.microsoft.com/office/drawing/2014/main" id="{37ACB667-4E4C-1F45-B31E-E3F10E647A40}"/>
              </a:ext>
            </a:extLst>
          </p:cNvPr>
          <p:cNvSpPr txBox="1">
            <a:spLocks noChangeArrowheads="1"/>
          </p:cNvSpPr>
          <p:nvPr/>
        </p:nvSpPr>
        <p:spPr bwMode="auto">
          <a:xfrm>
            <a:off x="4506913" y="6400800"/>
            <a:ext cx="466090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r>
              <a:rPr lang="en-US" altLang="en-US" sz="1800">
                <a:solidFill>
                  <a:srgbClr val="FFFFFF"/>
                </a:solidFill>
                <a:latin typeface="Goudy Old Style" panose="02020502050305020303" pitchFamily="18" charset="77"/>
              </a:rPr>
              <a:t>(Ruddiman 2008: </a:t>
            </a:r>
            <a:r>
              <a:rPr lang="en-US" altLang="en-US" sz="1800" i="1">
                <a:solidFill>
                  <a:srgbClr val="FFFFFF"/>
                </a:solidFill>
                <a:latin typeface="Goudy Old Style" panose="02020502050305020303" pitchFamily="18" charset="77"/>
              </a:rPr>
              <a:t>Earth’s Climate: Past and Future</a:t>
            </a:r>
            <a:r>
              <a:rPr lang="en-US" altLang="en-US" sz="1800">
                <a:solidFill>
                  <a:srgbClr val="FFFFFF"/>
                </a:solidFill>
                <a:latin typeface="Goudy Old Style" panose="02020502050305020303" pitchFamily="18" charset="77"/>
              </a:rPr>
              <a:t>)</a:t>
            </a:r>
          </a:p>
        </p:txBody>
      </p:sp>
      <p:sp>
        <p:nvSpPr>
          <p:cNvPr id="6" name="TextBox 5">
            <a:extLst>
              <a:ext uri="{FF2B5EF4-FFF2-40B4-BE49-F238E27FC236}">
                <a16:creationId xmlns:a16="http://schemas.microsoft.com/office/drawing/2014/main" id="{596D1D08-DB4B-374A-A970-12AA04C05BD4}"/>
              </a:ext>
            </a:extLst>
          </p:cNvPr>
          <p:cNvSpPr txBox="1"/>
          <p:nvPr/>
        </p:nvSpPr>
        <p:spPr>
          <a:xfrm>
            <a:off x="76200" y="146050"/>
            <a:ext cx="9067800" cy="723900"/>
          </a:xfrm>
          <a:prstGeom prst="rect">
            <a:avLst/>
          </a:prstGeom>
          <a:noFill/>
        </p:spPr>
        <p:txBody>
          <a:bodyP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r>
              <a:rPr lang="en-US" altLang="en-US" sz="4100">
                <a:solidFill>
                  <a:srgbClr val="FBFF09"/>
                </a:solidFill>
                <a:effectLst>
                  <a:outerShdw blurRad="38100" dist="38100" dir="2700000" algn="tl">
                    <a:srgbClr val="000000"/>
                  </a:outerShdw>
                </a:effectLst>
                <a:latin typeface="Goudy Old Style" panose="02020502050305020303" pitchFamily="18" charset="77"/>
              </a:rPr>
              <a:t>Cause and Effect  =  Forcing and Response</a:t>
            </a:r>
          </a:p>
        </p:txBody>
      </p:sp>
      <p:sp>
        <p:nvSpPr>
          <p:cNvPr id="7" name="Right Arrow Callout 6">
            <a:extLst>
              <a:ext uri="{FF2B5EF4-FFF2-40B4-BE49-F238E27FC236}">
                <a16:creationId xmlns:a16="http://schemas.microsoft.com/office/drawing/2014/main" id="{3E0B5011-64FD-2043-8FB5-F4B5BE6FDD5A}"/>
              </a:ext>
            </a:extLst>
          </p:cNvPr>
          <p:cNvSpPr>
            <a:spLocks noChangeArrowheads="1"/>
          </p:cNvSpPr>
          <p:nvPr/>
        </p:nvSpPr>
        <p:spPr bwMode="auto">
          <a:xfrm>
            <a:off x="304800" y="3962400"/>
            <a:ext cx="2209800" cy="685800"/>
          </a:xfrm>
          <a:prstGeom prst="rightArrowCallout">
            <a:avLst>
              <a:gd name="adj1" fmla="val 25000"/>
              <a:gd name="adj2" fmla="val 23671"/>
              <a:gd name="adj3" fmla="val 25002"/>
              <a:gd name="adj4" fmla="val 64977"/>
            </a:avLst>
          </a:prstGeom>
          <a:solidFill>
            <a:srgbClr val="FF0208"/>
          </a:solidFill>
          <a:ln w="19050">
            <a:solidFill>
              <a:schemeClr val="tx1"/>
            </a:solidFill>
            <a:miter lim="800000"/>
            <a:headEnd/>
            <a:tailEnd/>
          </a:ln>
          <a:effectLst>
            <a:outerShdw blurRad="40000" dist="23000" dir="5400000" rotWithShape="0">
              <a:srgbClr val="808080">
                <a:alpha val="34998"/>
              </a:srgbClr>
            </a:outerShdw>
          </a:effectLst>
        </p:spPr>
        <p:txBody>
          <a:bodyPr anchor="ctr"/>
          <a:lstStyle/>
          <a:p>
            <a:pPr algn="ctr">
              <a:defRPr/>
            </a:pPr>
            <a:r>
              <a:rPr lang="en-US" sz="1600" dirty="0">
                <a:solidFill>
                  <a:srgbClr val="FFFFFF"/>
                </a:solidFill>
                <a:latin typeface="Calibri" charset="0"/>
                <a:ea typeface="ＭＳ Ｐゴシック" charset="0"/>
                <a:cs typeface="ＭＳ Ｐゴシック" charset="0"/>
              </a:rPr>
              <a:t>Anthropogenic</a:t>
            </a:r>
          </a:p>
          <a:p>
            <a:pPr algn="ctr">
              <a:defRPr/>
            </a:pPr>
            <a:r>
              <a:rPr lang="en-US" sz="1600" dirty="0">
                <a:solidFill>
                  <a:srgbClr val="FFFFFF"/>
                </a:solidFill>
                <a:latin typeface="Calibri" charset="0"/>
                <a:ea typeface="ＭＳ Ｐゴシック" charset="0"/>
                <a:cs typeface="ＭＳ Ｐゴシック" charset="0"/>
              </a:rPr>
              <a:t>forcing</a:t>
            </a:r>
          </a:p>
        </p:txBody>
      </p:sp>
      <p:sp>
        <p:nvSpPr>
          <p:cNvPr id="5" name="Right Arrow 4">
            <a:extLst>
              <a:ext uri="{FF2B5EF4-FFF2-40B4-BE49-F238E27FC236}">
                <a16:creationId xmlns:a16="http://schemas.microsoft.com/office/drawing/2014/main" id="{C0A314AE-D8BF-214B-B480-F53B55E33B74}"/>
              </a:ext>
            </a:extLst>
          </p:cNvPr>
          <p:cNvSpPr/>
          <p:nvPr/>
        </p:nvSpPr>
        <p:spPr>
          <a:xfrm>
            <a:off x="6629400" y="2286000"/>
            <a:ext cx="990600" cy="384175"/>
          </a:xfrm>
          <a:prstGeom prst="rightArrow">
            <a:avLst/>
          </a:prstGeom>
          <a:solidFill>
            <a:srgbClr val="FF0000"/>
          </a:solidFill>
          <a:ln w="38100">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1" name="Right Arrow 10">
            <a:extLst>
              <a:ext uri="{FF2B5EF4-FFF2-40B4-BE49-F238E27FC236}">
                <a16:creationId xmlns:a16="http://schemas.microsoft.com/office/drawing/2014/main" id="{A2935144-AD2E-6445-A771-F73DD407643F}"/>
              </a:ext>
            </a:extLst>
          </p:cNvPr>
          <p:cNvSpPr/>
          <p:nvPr/>
        </p:nvSpPr>
        <p:spPr>
          <a:xfrm>
            <a:off x="6629400" y="2973388"/>
            <a:ext cx="990600" cy="384175"/>
          </a:xfrm>
          <a:prstGeom prst="rightArrow">
            <a:avLst/>
          </a:prstGeom>
          <a:solidFill>
            <a:srgbClr val="FF0000"/>
          </a:solidFill>
          <a:ln w="38100">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2" name="Right Arrow 11">
            <a:extLst>
              <a:ext uri="{FF2B5EF4-FFF2-40B4-BE49-F238E27FC236}">
                <a16:creationId xmlns:a16="http://schemas.microsoft.com/office/drawing/2014/main" id="{6D8C815C-ACE9-C045-A2A7-A3D9C4A71B33}"/>
              </a:ext>
            </a:extLst>
          </p:cNvPr>
          <p:cNvSpPr/>
          <p:nvPr/>
        </p:nvSpPr>
        <p:spPr>
          <a:xfrm>
            <a:off x="6629400" y="3619501"/>
            <a:ext cx="990600" cy="384175"/>
          </a:xfrm>
          <a:prstGeom prst="rightArrow">
            <a:avLst/>
          </a:prstGeom>
          <a:solidFill>
            <a:srgbClr val="FF0000"/>
          </a:solidFill>
          <a:ln w="38100">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3" name="Right Arrow 12">
            <a:extLst>
              <a:ext uri="{FF2B5EF4-FFF2-40B4-BE49-F238E27FC236}">
                <a16:creationId xmlns:a16="http://schemas.microsoft.com/office/drawing/2014/main" id="{8BA0E5FF-BC96-324B-A83A-B51DEA71D287}"/>
              </a:ext>
            </a:extLst>
          </p:cNvPr>
          <p:cNvSpPr/>
          <p:nvPr/>
        </p:nvSpPr>
        <p:spPr>
          <a:xfrm>
            <a:off x="6629400" y="4336257"/>
            <a:ext cx="990600" cy="384175"/>
          </a:xfrm>
          <a:prstGeom prst="rightArrow">
            <a:avLst/>
          </a:prstGeom>
          <a:solidFill>
            <a:srgbClr val="FF0000"/>
          </a:solidFill>
          <a:ln w="38100">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4" name="Right Arrow 13">
            <a:extLst>
              <a:ext uri="{FF2B5EF4-FFF2-40B4-BE49-F238E27FC236}">
                <a16:creationId xmlns:a16="http://schemas.microsoft.com/office/drawing/2014/main" id="{F535714D-CF2D-8942-A2AB-957EAB6EF059}"/>
              </a:ext>
            </a:extLst>
          </p:cNvPr>
          <p:cNvSpPr/>
          <p:nvPr/>
        </p:nvSpPr>
        <p:spPr>
          <a:xfrm>
            <a:off x="6629400" y="4985545"/>
            <a:ext cx="990600" cy="384175"/>
          </a:xfrm>
          <a:prstGeom prst="rightArrow">
            <a:avLst/>
          </a:prstGeom>
          <a:solidFill>
            <a:srgbClr val="FF0000"/>
          </a:solidFill>
          <a:ln w="38100">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8" name="Up-Down Arrow 17">
            <a:extLst>
              <a:ext uri="{FF2B5EF4-FFF2-40B4-BE49-F238E27FC236}">
                <a16:creationId xmlns:a16="http://schemas.microsoft.com/office/drawing/2014/main" id="{5EFC406B-A600-1243-83D0-A6D5DE4449D2}"/>
              </a:ext>
            </a:extLst>
          </p:cNvPr>
          <p:cNvSpPr/>
          <p:nvPr/>
        </p:nvSpPr>
        <p:spPr>
          <a:xfrm rot="778506">
            <a:off x="4428624" y="2661994"/>
            <a:ext cx="239713" cy="1884161"/>
          </a:xfrm>
          <a:prstGeom prst="upDownArrow">
            <a:avLst/>
          </a:prstGeom>
          <a:solidFill>
            <a:srgbClr val="FF0000"/>
          </a:solidFill>
          <a:ln w="38100">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2" name="Up-Down Arrow 21">
            <a:extLst>
              <a:ext uri="{FF2B5EF4-FFF2-40B4-BE49-F238E27FC236}">
                <a16:creationId xmlns:a16="http://schemas.microsoft.com/office/drawing/2014/main" id="{43B0DF55-4C01-D74B-91D8-D94036E505E1}"/>
              </a:ext>
            </a:extLst>
          </p:cNvPr>
          <p:cNvSpPr/>
          <p:nvPr/>
        </p:nvSpPr>
        <p:spPr>
          <a:xfrm rot="20734938">
            <a:off x="4581024" y="2814394"/>
            <a:ext cx="239713" cy="1884161"/>
          </a:xfrm>
          <a:prstGeom prst="upDownArrow">
            <a:avLst/>
          </a:prstGeom>
          <a:solidFill>
            <a:srgbClr val="FF0000"/>
          </a:solidFill>
          <a:ln w="38100">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3" name="Up-Down Arrow 22">
            <a:extLst>
              <a:ext uri="{FF2B5EF4-FFF2-40B4-BE49-F238E27FC236}">
                <a16:creationId xmlns:a16="http://schemas.microsoft.com/office/drawing/2014/main" id="{D374E475-9534-9544-BF64-BA1A1391CD4F}"/>
              </a:ext>
            </a:extLst>
          </p:cNvPr>
          <p:cNvSpPr/>
          <p:nvPr/>
        </p:nvSpPr>
        <p:spPr>
          <a:xfrm rot="5400000">
            <a:off x="4452143" y="2864879"/>
            <a:ext cx="239713" cy="1884161"/>
          </a:xfrm>
          <a:prstGeom prst="upDownArrow">
            <a:avLst/>
          </a:prstGeom>
          <a:solidFill>
            <a:srgbClr val="FF0000"/>
          </a:solidFill>
          <a:ln w="38100">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4" name="Up-Down Arrow 23">
            <a:extLst>
              <a:ext uri="{FF2B5EF4-FFF2-40B4-BE49-F238E27FC236}">
                <a16:creationId xmlns:a16="http://schemas.microsoft.com/office/drawing/2014/main" id="{7883B7AB-7AD3-614D-B4BB-08FF3371BC06}"/>
              </a:ext>
            </a:extLst>
          </p:cNvPr>
          <p:cNvSpPr/>
          <p:nvPr/>
        </p:nvSpPr>
        <p:spPr>
          <a:xfrm rot="2017653">
            <a:off x="3977996" y="2650605"/>
            <a:ext cx="239713" cy="902748"/>
          </a:xfrm>
          <a:prstGeom prst="upDownArrow">
            <a:avLst/>
          </a:prstGeom>
          <a:solidFill>
            <a:srgbClr val="FF0000"/>
          </a:solidFill>
          <a:ln w="38100">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5" name="Up-Down Arrow 24">
            <a:extLst>
              <a:ext uri="{FF2B5EF4-FFF2-40B4-BE49-F238E27FC236}">
                <a16:creationId xmlns:a16="http://schemas.microsoft.com/office/drawing/2014/main" id="{3973D91A-CEC7-3147-973A-E3B687902259}"/>
              </a:ext>
            </a:extLst>
          </p:cNvPr>
          <p:cNvSpPr/>
          <p:nvPr/>
        </p:nvSpPr>
        <p:spPr>
          <a:xfrm rot="19447529">
            <a:off x="5065016" y="2677020"/>
            <a:ext cx="262436" cy="865570"/>
          </a:xfrm>
          <a:prstGeom prst="upDownArrow">
            <a:avLst/>
          </a:prstGeom>
          <a:solidFill>
            <a:srgbClr val="FF0000"/>
          </a:solidFill>
          <a:ln w="38100">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6" name="Up-Down Arrow 25">
            <a:extLst>
              <a:ext uri="{FF2B5EF4-FFF2-40B4-BE49-F238E27FC236}">
                <a16:creationId xmlns:a16="http://schemas.microsoft.com/office/drawing/2014/main" id="{5BCA5987-D509-3D46-AF47-A7F7AB6B0E9A}"/>
              </a:ext>
            </a:extLst>
          </p:cNvPr>
          <p:cNvSpPr/>
          <p:nvPr/>
        </p:nvSpPr>
        <p:spPr>
          <a:xfrm rot="3254786">
            <a:off x="4886043" y="3360432"/>
            <a:ext cx="239713" cy="1884161"/>
          </a:xfrm>
          <a:prstGeom prst="upDownArrow">
            <a:avLst/>
          </a:prstGeom>
          <a:solidFill>
            <a:srgbClr val="FF0000"/>
          </a:solidFill>
          <a:ln w="38100">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7" name="Up-Down Arrow 26">
            <a:extLst>
              <a:ext uri="{FF2B5EF4-FFF2-40B4-BE49-F238E27FC236}">
                <a16:creationId xmlns:a16="http://schemas.microsoft.com/office/drawing/2014/main" id="{AF75D00A-AF7B-D049-B84C-A8B6DEA1A49A}"/>
              </a:ext>
            </a:extLst>
          </p:cNvPr>
          <p:cNvSpPr/>
          <p:nvPr/>
        </p:nvSpPr>
        <p:spPr>
          <a:xfrm rot="18372877">
            <a:off x="4100782" y="3441154"/>
            <a:ext cx="239713" cy="1884161"/>
          </a:xfrm>
          <a:prstGeom prst="upDownArrow">
            <a:avLst/>
          </a:prstGeom>
          <a:solidFill>
            <a:srgbClr val="FF0000"/>
          </a:solidFill>
          <a:ln w="38100">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8" name="Up-Down Arrow 27">
            <a:extLst>
              <a:ext uri="{FF2B5EF4-FFF2-40B4-BE49-F238E27FC236}">
                <a16:creationId xmlns:a16="http://schemas.microsoft.com/office/drawing/2014/main" id="{1F9BAD3C-27A8-0341-BD9B-167AA33A1641}"/>
              </a:ext>
            </a:extLst>
          </p:cNvPr>
          <p:cNvSpPr/>
          <p:nvPr/>
        </p:nvSpPr>
        <p:spPr>
          <a:xfrm rot="675114">
            <a:off x="5774901" y="3815875"/>
            <a:ext cx="262436" cy="865570"/>
          </a:xfrm>
          <a:prstGeom prst="upDownArrow">
            <a:avLst/>
          </a:prstGeom>
          <a:solidFill>
            <a:srgbClr val="FF0000"/>
          </a:solidFill>
          <a:ln w="38100">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9" name="Up-Down Arrow 28">
            <a:extLst>
              <a:ext uri="{FF2B5EF4-FFF2-40B4-BE49-F238E27FC236}">
                <a16:creationId xmlns:a16="http://schemas.microsoft.com/office/drawing/2014/main" id="{EC297327-6CD0-4143-81FD-AB91B28A5F22}"/>
              </a:ext>
            </a:extLst>
          </p:cNvPr>
          <p:cNvSpPr/>
          <p:nvPr/>
        </p:nvSpPr>
        <p:spPr>
          <a:xfrm rot="20401943">
            <a:off x="3348130" y="3790930"/>
            <a:ext cx="262436" cy="778503"/>
          </a:xfrm>
          <a:prstGeom prst="upDownArrow">
            <a:avLst/>
          </a:prstGeom>
          <a:solidFill>
            <a:srgbClr val="FF0000"/>
          </a:solidFill>
          <a:ln w="38100">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450732980"/>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bg>
      <p:bgPr>
        <a:solidFill>
          <a:srgbClr val="C00000"/>
        </a:solidFill>
        <a:effectLst/>
      </p:bgPr>
    </p:bg>
    <p:spTree>
      <p:nvGrpSpPr>
        <p:cNvPr id="1" name=""/>
        <p:cNvGrpSpPr/>
        <p:nvPr/>
      </p:nvGrpSpPr>
      <p:grpSpPr>
        <a:xfrm>
          <a:off x="0" y="0"/>
          <a:ext cx="0" cy="0"/>
          <a:chOff x="0" y="0"/>
          <a:chExt cx="0" cy="0"/>
        </a:xfrm>
      </p:grpSpPr>
      <p:sp>
        <p:nvSpPr>
          <p:cNvPr id="27" name="TextBox 26">
            <a:extLst>
              <a:ext uri="{FF2B5EF4-FFF2-40B4-BE49-F238E27FC236}">
                <a16:creationId xmlns:a16="http://schemas.microsoft.com/office/drawing/2014/main" id="{97AC15FB-0635-E447-BE77-0FA8CE277F38}"/>
              </a:ext>
            </a:extLst>
          </p:cNvPr>
          <p:cNvSpPr txBox="1">
            <a:spLocks noChangeArrowheads="1"/>
          </p:cNvSpPr>
          <p:nvPr/>
        </p:nvSpPr>
        <p:spPr bwMode="auto">
          <a:xfrm>
            <a:off x="838200" y="1066800"/>
            <a:ext cx="7447780" cy="4573560"/>
          </a:xfrm>
          <a:prstGeom prst="rect">
            <a:avLst/>
          </a:prstGeom>
          <a:noFill/>
          <a:ln>
            <a:noFill/>
          </a:ln>
          <a:extLst/>
        </p:spPr>
        <p:txBody>
          <a:bodyPr wrap="square">
            <a:spAutoFit/>
          </a:bodyPr>
          <a:lstStyle>
            <a:lvl1pPr>
              <a:spcBef>
                <a:spcPct val="20000"/>
              </a:spcBef>
              <a:buChar char="•"/>
              <a:defRPr sz="3200">
                <a:solidFill>
                  <a:schemeClr val="tx1"/>
                </a:solidFill>
                <a:latin typeface="Arial" panose="020B0604020202020204" pitchFamily="34" charset="0"/>
                <a:ea typeface="ＭＳ Ｐゴシック" panose="020B0600070205080204" pitchFamily="34" charset="-128"/>
                <a:cs typeface="ＭＳ Ｐゴシック"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ＭＳ Ｐゴシック" panose="020B0600070205080204" pitchFamily="34" charset="-128"/>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lvl="0">
              <a:buNone/>
            </a:pPr>
            <a:r>
              <a:rPr lang="en-US" sz="2800" dirty="0">
                <a:solidFill>
                  <a:schemeClr val="accent1"/>
                </a:solidFill>
                <a:effectLst>
                  <a:outerShdw blurRad="50800" dist="38100" dir="2700000" algn="tl" rotWithShape="0">
                    <a:prstClr val="black">
                      <a:alpha val="40000"/>
                    </a:prstClr>
                  </a:outerShdw>
                </a:effectLst>
              </a:rPr>
              <a:t>Although the Earth has undergone</a:t>
            </a:r>
            <a:r>
              <a:rPr lang="en-US" sz="2800" dirty="0">
                <a:solidFill>
                  <a:schemeClr val="bg1"/>
                </a:solidFill>
                <a:effectLst>
                  <a:outerShdw blurRad="50800" dist="38100" dir="2700000" algn="tl" rotWithShape="0">
                    <a:prstClr val="black">
                      <a:alpha val="40000"/>
                    </a:prstClr>
                  </a:outerShdw>
                </a:effectLst>
              </a:rPr>
              <a:t> </a:t>
            </a:r>
            <a:r>
              <a:rPr lang="en-US" sz="2800" dirty="0">
                <a:solidFill>
                  <a:srgbClr val="FFFF00"/>
                </a:solidFill>
                <a:effectLst>
                  <a:outerShdw blurRad="50800" dist="38100" dir="2700000" algn="tl" rotWithShape="0">
                    <a:prstClr val="black">
                      <a:alpha val="40000"/>
                    </a:prstClr>
                  </a:outerShdw>
                </a:effectLst>
              </a:rPr>
              <a:t>large changes over geologic time</a:t>
            </a:r>
            <a:r>
              <a:rPr lang="en-US" sz="2800" dirty="0">
                <a:solidFill>
                  <a:schemeClr val="accent1"/>
                </a:solidFill>
                <a:effectLst>
                  <a:outerShdw blurRad="50800" dist="38100" dir="2700000" algn="tl" rotWithShape="0">
                    <a:prstClr val="black">
                      <a:alpha val="40000"/>
                    </a:prstClr>
                  </a:outerShdw>
                </a:effectLst>
              </a:rPr>
              <a:t>, the patterns of moist tropics and dry subtropics with polar jet streams are relatively consistent. </a:t>
            </a:r>
          </a:p>
          <a:p>
            <a:pPr lvl="0">
              <a:buNone/>
            </a:pPr>
            <a:endParaRPr lang="en-US" sz="2800" dirty="0">
              <a:solidFill>
                <a:schemeClr val="bg1"/>
              </a:solidFill>
              <a:effectLst>
                <a:outerShdw blurRad="50800" dist="38100" dir="2700000" algn="tl" rotWithShape="0">
                  <a:prstClr val="black">
                    <a:alpha val="40000"/>
                  </a:prstClr>
                </a:outerShdw>
              </a:effectLst>
            </a:endParaRPr>
          </a:p>
          <a:p>
            <a:pPr lvl="0">
              <a:buNone/>
            </a:pPr>
            <a:r>
              <a:rPr lang="en-US" sz="2800" dirty="0">
                <a:solidFill>
                  <a:schemeClr val="accent1"/>
                </a:solidFill>
                <a:effectLst>
                  <a:outerShdw blurRad="50800" dist="38100" dir="2700000" algn="tl" rotWithShape="0">
                    <a:prstClr val="black">
                      <a:alpha val="40000"/>
                    </a:prstClr>
                  </a:outerShdw>
                </a:effectLst>
              </a:rPr>
              <a:t>Details about these features change and their locations may shift slightly on the planet, but </a:t>
            </a:r>
            <a:r>
              <a:rPr lang="en-US" sz="2800" dirty="0">
                <a:solidFill>
                  <a:srgbClr val="FFFF00"/>
                </a:solidFill>
                <a:effectLst>
                  <a:outerShdw blurRad="50800" dist="38100" dir="2700000" algn="tl" rotWithShape="0">
                    <a:prstClr val="black">
                      <a:alpha val="40000"/>
                    </a:prstClr>
                  </a:outerShdw>
                </a:effectLst>
              </a:rPr>
              <a:t>the planetary-scale circulation (Hadley cells, polar jet streams) is a consistent feature </a:t>
            </a:r>
            <a:r>
              <a:rPr lang="en-US" sz="2800" dirty="0">
                <a:solidFill>
                  <a:schemeClr val="accent1"/>
                </a:solidFill>
                <a:effectLst>
                  <a:outerShdw blurRad="50800" dist="38100" dir="2700000" algn="tl" rotWithShape="0">
                    <a:prstClr val="black">
                      <a:alpha val="40000"/>
                    </a:prstClr>
                  </a:outerShdw>
                </a:effectLst>
              </a:rPr>
              <a:t>throughout geologic time.</a:t>
            </a:r>
          </a:p>
        </p:txBody>
      </p:sp>
    </p:spTree>
    <p:extLst>
      <p:ext uri="{BB962C8B-B14F-4D97-AF65-F5344CB8AC3E}">
        <p14:creationId xmlns:p14="http://schemas.microsoft.com/office/powerpoint/2010/main" val="2514872825"/>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bg>
      <p:bgPr>
        <a:solidFill>
          <a:srgbClr val="7030A0"/>
        </a:solidFill>
        <a:effectLst/>
      </p:bgPr>
    </p:bg>
    <p:spTree>
      <p:nvGrpSpPr>
        <p:cNvPr id="1" name=""/>
        <p:cNvGrpSpPr/>
        <p:nvPr/>
      </p:nvGrpSpPr>
      <p:grpSpPr>
        <a:xfrm>
          <a:off x="0" y="0"/>
          <a:ext cx="0" cy="0"/>
          <a:chOff x="0" y="0"/>
          <a:chExt cx="0" cy="0"/>
        </a:xfrm>
      </p:grpSpPr>
      <p:sp>
        <p:nvSpPr>
          <p:cNvPr id="139266" name="Title 1">
            <a:extLst>
              <a:ext uri="{FF2B5EF4-FFF2-40B4-BE49-F238E27FC236}">
                <a16:creationId xmlns:a16="http://schemas.microsoft.com/office/drawing/2014/main" id="{DAB33945-D1D7-5C45-8B04-933467DE51D1}"/>
              </a:ext>
            </a:extLst>
          </p:cNvPr>
          <p:cNvSpPr>
            <a:spLocks noGrp="1" noChangeArrowheads="1"/>
          </p:cNvSpPr>
          <p:nvPr>
            <p:ph type="title"/>
          </p:nvPr>
        </p:nvSpPr>
        <p:spPr>
          <a:xfrm>
            <a:off x="457200" y="644525"/>
            <a:ext cx="8229600" cy="952500"/>
          </a:xfrm>
        </p:spPr>
        <p:txBody>
          <a:bodyPr/>
          <a:lstStyle/>
          <a:p>
            <a:r>
              <a:rPr lang="en-US" altLang="en-US" dirty="0">
                <a:solidFill>
                  <a:srgbClr val="FFFF00"/>
                </a:solidFill>
                <a:ea typeface="ＭＳ Ｐゴシック" panose="020B0600070205080204" pitchFamily="34" charset="-128"/>
              </a:rPr>
              <a:t>Thought-Provoking Question</a:t>
            </a:r>
          </a:p>
        </p:txBody>
      </p:sp>
      <p:sp>
        <p:nvSpPr>
          <p:cNvPr id="30722" name="Content Placeholder 2">
            <a:extLst>
              <a:ext uri="{FF2B5EF4-FFF2-40B4-BE49-F238E27FC236}">
                <a16:creationId xmlns:a16="http://schemas.microsoft.com/office/drawing/2014/main" id="{99B0D072-17FC-F540-8EE6-199FD232EB57}"/>
              </a:ext>
            </a:extLst>
          </p:cNvPr>
          <p:cNvSpPr>
            <a:spLocks noGrp="1" noChangeArrowheads="1"/>
          </p:cNvSpPr>
          <p:nvPr>
            <p:ph idx="1"/>
          </p:nvPr>
        </p:nvSpPr>
        <p:spPr>
          <a:xfrm>
            <a:off x="457200" y="1613354"/>
            <a:ext cx="8229600" cy="4076700"/>
          </a:xfrm>
        </p:spPr>
        <p:txBody>
          <a:bodyPr/>
          <a:lstStyle/>
          <a:p>
            <a:pPr marL="0" indent="0">
              <a:buNone/>
              <a:defRPr/>
            </a:pPr>
            <a:endParaRPr lang="en-US" altLang="en-US" sz="2333" dirty="0">
              <a:solidFill>
                <a:schemeClr val="accent1"/>
              </a:solidFill>
              <a:ea typeface="ＭＳ Ｐゴシック" panose="020B0600070205080204" pitchFamily="34" charset="-128"/>
              <a:cs typeface="ＭＳ Ｐゴシック" panose="020B0600070205080204" pitchFamily="34" charset="-128"/>
            </a:endParaRPr>
          </a:p>
          <a:p>
            <a:pPr marL="0" indent="0">
              <a:buNone/>
              <a:defRPr/>
            </a:pPr>
            <a:r>
              <a:rPr lang="en-US" altLang="en-US" sz="2333" dirty="0">
                <a:solidFill>
                  <a:schemeClr val="accent1"/>
                </a:solidFill>
                <a:ea typeface="ＭＳ Ｐゴシック" panose="020B0600070205080204" pitchFamily="34" charset="-128"/>
                <a:cs typeface="ＭＳ Ｐゴシック" panose="020B0600070205080204" pitchFamily="34" charset="-128"/>
              </a:rPr>
              <a:t>Consider a hypothetical distribution of land, oceans, and mountains on the Earth.  Map out the associated climate patterns (winds, temperature, precipitation), ocean circulation (currents, temperature, salinity), vegetation, sedimentary record, etc.  Justify your map.</a:t>
            </a:r>
          </a:p>
          <a:p>
            <a:pPr marL="0" indent="0">
              <a:buNone/>
              <a:defRPr/>
            </a:pPr>
            <a:endParaRPr lang="en-US" altLang="en-US" sz="2333" dirty="0">
              <a:solidFill>
                <a:schemeClr val="accent1"/>
              </a:solidFill>
              <a:ea typeface="ＭＳ Ｐゴシック" panose="020B0600070205080204" pitchFamily="34" charset="-128"/>
              <a:cs typeface="ＭＳ Ｐゴシック" panose="020B0600070205080204" pitchFamily="34" charset="-128"/>
            </a:endParaRPr>
          </a:p>
          <a:p>
            <a:pPr marL="0" indent="0">
              <a:buNone/>
              <a:defRPr/>
            </a:pPr>
            <a:endParaRPr lang="en-US" altLang="en-US" sz="2333" dirty="0">
              <a:solidFill>
                <a:schemeClr val="accent1"/>
              </a:solidFill>
              <a:ea typeface="ＭＳ Ｐゴシック" panose="020B0600070205080204" pitchFamily="34" charset="-128"/>
              <a:cs typeface="ＭＳ Ｐゴシック" panose="020B0600070205080204" pitchFamily="34" charset="-128"/>
            </a:endParaRPr>
          </a:p>
          <a:p>
            <a:pPr marL="0" indent="0">
              <a:buNone/>
              <a:defRPr/>
            </a:pPr>
            <a:endParaRPr lang="en-US" altLang="en-US" sz="2333" dirty="0">
              <a:solidFill>
                <a:schemeClr val="accent1"/>
              </a:solidFill>
              <a:ea typeface="ＭＳ Ｐゴシック" panose="020B0600070205080204" pitchFamily="34" charset="-128"/>
              <a:cs typeface="ＭＳ Ｐゴシック" panose="020B0600070205080204" pitchFamily="34" charset="-128"/>
            </a:endParaRPr>
          </a:p>
          <a:p>
            <a:pPr marL="0" indent="0">
              <a:buNone/>
              <a:defRPr/>
            </a:pPr>
            <a:endParaRPr lang="en-US" altLang="en-US" sz="2333" dirty="0">
              <a:solidFill>
                <a:schemeClr val="accent1"/>
              </a:solidFill>
              <a:ea typeface="ＭＳ Ｐゴシック" panose="020B0600070205080204" pitchFamily="34" charset="-128"/>
              <a:cs typeface="ＭＳ Ｐゴシック" panose="020B0600070205080204" pitchFamily="34" charset="-128"/>
            </a:endParaRPr>
          </a:p>
          <a:p>
            <a:pPr marL="0" indent="0">
              <a:buNone/>
              <a:defRPr/>
            </a:pPr>
            <a:endParaRPr lang="en-US" altLang="en-US" sz="2333" dirty="0">
              <a:solidFill>
                <a:schemeClr val="accent1"/>
              </a:solidFill>
              <a:ea typeface="ＭＳ Ｐゴシック" panose="020B0600070205080204" pitchFamily="34" charset="-128"/>
              <a:cs typeface="ＭＳ Ｐゴシック" panose="020B0600070205080204" pitchFamily="34" charset="-128"/>
            </a:endParaRPr>
          </a:p>
          <a:p>
            <a:pPr marL="0" indent="0">
              <a:buNone/>
              <a:defRPr/>
            </a:pPr>
            <a:endParaRPr lang="en-US" altLang="en-US" sz="2333" dirty="0">
              <a:solidFill>
                <a:schemeClr val="accent1"/>
              </a:solidFill>
              <a:ea typeface="ＭＳ Ｐゴシック" panose="020B0600070205080204" pitchFamily="34" charset="-128"/>
              <a:cs typeface="ＭＳ Ｐゴシック" panose="020B0600070205080204" pitchFamily="34" charset="-128"/>
            </a:endParaRPr>
          </a:p>
        </p:txBody>
      </p:sp>
    </p:spTree>
    <p:extLst>
      <p:ext uri="{BB962C8B-B14F-4D97-AF65-F5344CB8AC3E}">
        <p14:creationId xmlns:p14="http://schemas.microsoft.com/office/powerpoint/2010/main" val="3128955724"/>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bg>
      <p:bgPr>
        <a:solidFill>
          <a:srgbClr val="C00000"/>
        </a:solidFill>
        <a:effectLst/>
      </p:bgPr>
    </p:bg>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FC35A118-1044-B747-A624-85CF617BADB9}"/>
              </a:ext>
            </a:extLst>
          </p:cNvPr>
          <p:cNvSpPr>
            <a:spLocks noChangeArrowheads="1"/>
          </p:cNvSpPr>
          <p:nvPr/>
        </p:nvSpPr>
        <p:spPr bwMode="auto">
          <a:xfrm>
            <a:off x="1066800" y="864627"/>
            <a:ext cx="6794500" cy="2413000"/>
          </a:xfrm>
          <a:prstGeom prst="rect">
            <a:avLst/>
          </a:prstGeom>
          <a:noFill/>
          <a:ln>
            <a:noFill/>
          </a:ln>
          <a:effectLst>
            <a:outerShdw blurRad="40000" dist="23000" dir="5400000" rotWithShape="0">
              <a:srgbClr val="808080">
                <a:alpha val="34999"/>
              </a:srgbClr>
            </a:outer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lgn="ctr" eaLnBrk="1" hangingPunct="1">
              <a:defRPr/>
            </a:pPr>
            <a:r>
              <a:rPr lang="en-US" altLang="en-US" sz="3667" b="1" dirty="0">
                <a:solidFill>
                  <a:srgbClr val="FFFFFF"/>
                </a:solidFill>
                <a:effectLst>
                  <a:outerShdw blurRad="38100" dist="38100" dir="2700000" algn="tl">
                    <a:srgbClr val="000000"/>
                  </a:outerShdw>
                </a:effectLst>
                <a:latin typeface="Goudy Old Style" panose="02020502050305020303" pitchFamily="18" charset="77"/>
                <a:ea typeface="Arial" panose="020B0604020202020204" pitchFamily="34" charset="0"/>
              </a:rPr>
              <a:t>0945–1145 Wednesday 4 June</a:t>
            </a:r>
          </a:p>
          <a:p>
            <a:pPr algn="ctr" eaLnBrk="1" hangingPunct="1">
              <a:defRPr/>
            </a:pPr>
            <a:r>
              <a:rPr lang="en-US" altLang="en-US" sz="2800" b="1" dirty="0">
                <a:solidFill>
                  <a:srgbClr val="FFFFFF"/>
                </a:solidFill>
                <a:effectLst>
                  <a:outerShdw blurRad="38100" dist="38100" dir="2700000" algn="tl">
                    <a:srgbClr val="000000"/>
                  </a:outerShdw>
                </a:effectLst>
                <a:latin typeface="Goudy Old Style" panose="02020502050305020303" pitchFamily="18" charset="77"/>
                <a:ea typeface="Arial" panose="020B0604020202020204" pitchFamily="34" charset="0"/>
              </a:rPr>
              <a:t>Nancy Rothwell CL 4 &amp; 5</a:t>
            </a:r>
          </a:p>
          <a:p>
            <a:pPr algn="ctr" eaLnBrk="1" hangingPunct="1">
              <a:defRPr/>
            </a:pPr>
            <a:endParaRPr lang="en-US" altLang="en-US" sz="3667" b="1" dirty="0">
              <a:solidFill>
                <a:srgbClr val="FFFFFF"/>
              </a:solidFill>
              <a:effectLst>
                <a:outerShdw blurRad="38100" dist="38100" dir="2700000" algn="tl">
                  <a:srgbClr val="000000"/>
                </a:outerShdw>
              </a:effectLst>
              <a:latin typeface="Goudy Old Style" panose="02020502050305020303" pitchFamily="18" charset="77"/>
              <a:ea typeface="Arial" panose="020B0604020202020204" pitchFamily="34" charset="0"/>
            </a:endParaRPr>
          </a:p>
          <a:p>
            <a:pPr algn="ctr" eaLnBrk="1" hangingPunct="1">
              <a:defRPr/>
            </a:pPr>
            <a:r>
              <a:rPr lang="en-US" altLang="en-US" sz="6000" b="1" dirty="0">
                <a:solidFill>
                  <a:srgbClr val="E9FE00"/>
                </a:solidFill>
                <a:effectLst>
                  <a:outerShdw blurRad="38100" dist="38100" dir="2700000" algn="tl">
                    <a:srgbClr val="000000"/>
                  </a:outerShdw>
                </a:effectLst>
                <a:latin typeface="Goudy Old Style" panose="02020502050305020303" pitchFamily="18" charset="77"/>
                <a:ea typeface="Arial" panose="020B0604020202020204" pitchFamily="34" charset="0"/>
              </a:rPr>
              <a:t>Final Exam</a:t>
            </a:r>
          </a:p>
        </p:txBody>
      </p:sp>
      <p:sp>
        <p:nvSpPr>
          <p:cNvPr id="37891" name="TextBox 1">
            <a:extLst>
              <a:ext uri="{FF2B5EF4-FFF2-40B4-BE49-F238E27FC236}">
                <a16:creationId xmlns:a16="http://schemas.microsoft.com/office/drawing/2014/main" id="{3E2A5460-C734-7547-B4F9-7E73EDB5A7CB}"/>
              </a:ext>
            </a:extLst>
          </p:cNvPr>
          <p:cNvSpPr txBox="1">
            <a:spLocks noChangeArrowheads="1"/>
          </p:cNvSpPr>
          <p:nvPr/>
        </p:nvSpPr>
        <p:spPr bwMode="auto">
          <a:xfrm>
            <a:off x="1479550" y="4768850"/>
            <a:ext cx="184150"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defTabSz="760413">
              <a:spcBef>
                <a:spcPct val="20000"/>
              </a:spcBef>
              <a:buChar char="•"/>
              <a:defRPr sz="3200">
                <a:solidFill>
                  <a:schemeClr val="tx1"/>
                </a:solidFill>
                <a:latin typeface="Arial" panose="020B0604020202020204" pitchFamily="34" charset="0"/>
                <a:ea typeface="ＭＳ Ｐゴシック" panose="020B0600070205080204" pitchFamily="34" charset="-128"/>
                <a:cs typeface="ＭＳ Ｐゴシック" panose="020B0600070205080204" pitchFamily="34" charset="-128"/>
              </a:defRPr>
            </a:lvl1pPr>
            <a:lvl2pPr marL="742950" indent="-285750" defTabSz="760413">
              <a:spcBef>
                <a:spcPct val="20000"/>
              </a:spcBef>
              <a:buChar char="–"/>
              <a:defRPr sz="2800">
                <a:solidFill>
                  <a:schemeClr val="tx1"/>
                </a:solidFill>
                <a:latin typeface="Arial" panose="020B0604020202020204" pitchFamily="34" charset="0"/>
                <a:ea typeface="ＭＳ Ｐゴシック" panose="020B0600070205080204" pitchFamily="34" charset="-128"/>
                <a:cs typeface="Arial" panose="020B0604020202020204" pitchFamily="34" charset="0"/>
              </a:defRPr>
            </a:lvl2pPr>
            <a:lvl3pPr marL="1143000" indent="-228600" defTabSz="760413">
              <a:spcBef>
                <a:spcPct val="20000"/>
              </a:spcBef>
              <a:buChar char="•"/>
              <a:defRPr sz="24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1600200" indent="-228600" defTabSz="760413">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2057400" indent="-228600" defTabSz="760413">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2514600" indent="-228600" defTabSz="760413"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2971800" indent="-228600" defTabSz="760413"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3429000" indent="-228600" defTabSz="760413"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3886200" indent="-228600" defTabSz="760413"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eaLnBrk="1" hangingPunct="1">
              <a:spcBef>
                <a:spcPct val="0"/>
              </a:spcBef>
              <a:buFontTx/>
              <a:buNone/>
            </a:pPr>
            <a:endParaRPr lang="en-US" altLang="en-US" sz="2000">
              <a:solidFill>
                <a:srgbClr val="000000"/>
              </a:solidFill>
              <a:cs typeface="Arial" panose="020B0604020202020204" pitchFamily="34" charset="0"/>
            </a:endParaRPr>
          </a:p>
        </p:txBody>
      </p:sp>
      <p:sp>
        <p:nvSpPr>
          <p:cNvPr id="118788" name="Rectangle 4">
            <a:extLst>
              <a:ext uri="{FF2B5EF4-FFF2-40B4-BE49-F238E27FC236}">
                <a16:creationId xmlns:a16="http://schemas.microsoft.com/office/drawing/2014/main" id="{08045F53-1F48-9F40-9B81-6C5AE465975D}"/>
              </a:ext>
            </a:extLst>
          </p:cNvPr>
          <p:cNvSpPr>
            <a:spLocks noChangeArrowheads="1"/>
          </p:cNvSpPr>
          <p:nvPr/>
        </p:nvSpPr>
        <p:spPr bwMode="auto">
          <a:xfrm>
            <a:off x="0" y="3886200"/>
            <a:ext cx="9144000" cy="1477328"/>
          </a:xfrm>
          <a:prstGeom prst="rect">
            <a:avLst/>
          </a:prstGeom>
          <a:noFill/>
          <a:ln>
            <a:noFill/>
          </a:ln>
          <a:extLst>
            <a:ext uri="{909E8E84-426E-40dd-AFC4-6F175D3DCCD1}"/>
            <a:ext uri="{91240B29-F687-4f45-9708-019B960494DF}"/>
          </a:extLst>
        </p:spPr>
        <p:txBody>
          <a:bodyPr wrap="square">
            <a:spAutoFit/>
          </a:bodyPr>
          <a:lstStyle/>
          <a:p>
            <a:pPr algn="ctr">
              <a:defRPr/>
            </a:pPr>
            <a:r>
              <a:rPr lang="en-US" sz="3000" b="1" dirty="0">
                <a:solidFill>
                  <a:srgbClr val="FFFFFF"/>
                </a:solidFill>
                <a:effectLst>
                  <a:outerShdw blurRad="50800" dist="38100" dir="2700000" algn="tl" rotWithShape="0">
                    <a:prstClr val="black">
                      <a:alpha val="40000"/>
                    </a:prstClr>
                  </a:outerShdw>
                </a:effectLst>
                <a:latin typeface="Goudy Old Style" charset="0"/>
                <a:ea typeface="ＭＳ Ｐゴシック" charset="0"/>
                <a:cs typeface="Goudy Old Style" charset="0"/>
              </a:rPr>
              <a:t>Read: </a:t>
            </a:r>
          </a:p>
          <a:p>
            <a:pPr algn="ctr">
              <a:defRPr/>
            </a:pPr>
            <a:r>
              <a:rPr lang="en-US" sz="3000" b="1" dirty="0">
                <a:solidFill>
                  <a:srgbClr val="FFFFFF"/>
                </a:solidFill>
                <a:effectLst>
                  <a:outerShdw blurRad="50800" dist="38100" dir="2700000" algn="tl" rotWithShape="0">
                    <a:prstClr val="black">
                      <a:alpha val="40000"/>
                    </a:prstClr>
                  </a:outerShdw>
                </a:effectLst>
                <a:latin typeface="Goudy Old Style" charset="0"/>
                <a:ea typeface="ＭＳ Ｐゴシック" charset="0"/>
                <a:cs typeface="Goudy Old Style" charset="0"/>
              </a:rPr>
              <a:t>Blackboard &gt; Assessment &amp; Feedback &gt;</a:t>
            </a:r>
          </a:p>
          <a:p>
            <a:pPr algn="ctr">
              <a:defRPr/>
            </a:pPr>
            <a:r>
              <a:rPr lang="en-US" sz="3000" b="1" dirty="0">
                <a:solidFill>
                  <a:srgbClr val="FFFFFF"/>
                </a:solidFill>
                <a:effectLst>
                  <a:outerShdw blurRad="50800" dist="38100" dir="2700000" algn="tl" rotWithShape="0">
                    <a:prstClr val="black">
                      <a:alpha val="40000"/>
                    </a:prstClr>
                  </a:outerShdw>
                </a:effectLst>
                <a:latin typeface="Goudy Old Style" charset="0"/>
                <a:ea typeface="ＭＳ Ｐゴシック" charset="0"/>
                <a:cs typeface="Goudy Old Style" charset="0"/>
              </a:rPr>
              <a:t>Information about the Assessment in A Dynamic Planet</a:t>
            </a:r>
          </a:p>
        </p:txBody>
      </p:sp>
    </p:spTree>
    <p:extLst>
      <p:ext uri="{BB962C8B-B14F-4D97-AF65-F5344CB8AC3E}">
        <p14:creationId xmlns:p14="http://schemas.microsoft.com/office/powerpoint/2010/main" val="1321652127"/>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bg>
      <p:bgPr>
        <a:solidFill>
          <a:srgbClr val="C00000"/>
        </a:solidFill>
        <a:effectLst/>
      </p:bgPr>
    </p:bg>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FC35A118-1044-B747-A624-85CF617BADB9}"/>
              </a:ext>
            </a:extLst>
          </p:cNvPr>
          <p:cNvSpPr>
            <a:spLocks noChangeArrowheads="1"/>
          </p:cNvSpPr>
          <p:nvPr/>
        </p:nvSpPr>
        <p:spPr bwMode="auto">
          <a:xfrm>
            <a:off x="1079500" y="1397000"/>
            <a:ext cx="6794500" cy="2413000"/>
          </a:xfrm>
          <a:prstGeom prst="rect">
            <a:avLst/>
          </a:prstGeom>
          <a:noFill/>
          <a:ln>
            <a:noFill/>
          </a:ln>
          <a:effectLst>
            <a:outerShdw blurRad="40000" dist="23000" dir="5400000" rotWithShape="0">
              <a:srgbClr val="808080">
                <a:alpha val="34999"/>
              </a:srgbClr>
            </a:outer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lgn="ctr" eaLnBrk="1" hangingPunct="1">
              <a:defRPr/>
            </a:pPr>
            <a:r>
              <a:rPr lang="en-US" altLang="en-US" sz="3667" b="1">
                <a:solidFill>
                  <a:srgbClr val="FFFFFF"/>
                </a:solidFill>
                <a:effectLst>
                  <a:outerShdw blurRad="38100" dist="38100" dir="2700000" algn="tl">
                    <a:srgbClr val="000000"/>
                  </a:outerShdw>
                </a:effectLst>
                <a:latin typeface="Goudy Old Style" panose="02020502050305020303" pitchFamily="18" charset="77"/>
                <a:ea typeface="Arial" panose="020B0604020202020204" pitchFamily="34" charset="0"/>
              </a:rPr>
              <a:t>On your computer’s or phone’s web browser, go to </a:t>
            </a:r>
          </a:p>
          <a:p>
            <a:pPr algn="ctr" eaLnBrk="1" hangingPunct="1">
              <a:defRPr/>
            </a:pPr>
            <a:endParaRPr lang="en-US" altLang="en-US" sz="3667" b="1">
              <a:solidFill>
                <a:srgbClr val="FFFFFF"/>
              </a:solidFill>
              <a:effectLst>
                <a:outerShdw blurRad="38100" dist="38100" dir="2700000" algn="tl">
                  <a:srgbClr val="000000"/>
                </a:outerShdw>
              </a:effectLst>
              <a:latin typeface="Goudy Old Style" panose="02020502050305020303" pitchFamily="18" charset="77"/>
              <a:ea typeface="Arial" panose="020B0604020202020204" pitchFamily="34" charset="0"/>
            </a:endParaRPr>
          </a:p>
          <a:p>
            <a:pPr algn="ctr" eaLnBrk="1" hangingPunct="1">
              <a:defRPr/>
            </a:pPr>
            <a:r>
              <a:rPr lang="en-US" altLang="en-US" sz="6000" b="1">
                <a:solidFill>
                  <a:srgbClr val="E9FE00"/>
                </a:solidFill>
                <a:effectLst>
                  <a:outerShdw blurRad="38100" dist="38100" dir="2700000" algn="tl">
                    <a:srgbClr val="000000"/>
                  </a:outerShdw>
                </a:effectLst>
                <a:latin typeface="Goudy Old Style" panose="02020502050305020303" pitchFamily="18" charset="77"/>
                <a:ea typeface="Arial" panose="020B0604020202020204" pitchFamily="34" charset="0"/>
              </a:rPr>
              <a:t>kahoot.it</a:t>
            </a:r>
          </a:p>
        </p:txBody>
      </p:sp>
      <p:sp>
        <p:nvSpPr>
          <p:cNvPr id="37891" name="TextBox 1">
            <a:extLst>
              <a:ext uri="{FF2B5EF4-FFF2-40B4-BE49-F238E27FC236}">
                <a16:creationId xmlns:a16="http://schemas.microsoft.com/office/drawing/2014/main" id="{3E2A5460-C734-7547-B4F9-7E73EDB5A7CB}"/>
              </a:ext>
            </a:extLst>
          </p:cNvPr>
          <p:cNvSpPr txBox="1">
            <a:spLocks noChangeArrowheads="1"/>
          </p:cNvSpPr>
          <p:nvPr/>
        </p:nvSpPr>
        <p:spPr bwMode="auto">
          <a:xfrm>
            <a:off x="1479550" y="4768850"/>
            <a:ext cx="184150"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defTabSz="760413">
              <a:spcBef>
                <a:spcPct val="20000"/>
              </a:spcBef>
              <a:buChar char="•"/>
              <a:defRPr sz="3200">
                <a:solidFill>
                  <a:schemeClr val="tx1"/>
                </a:solidFill>
                <a:latin typeface="Arial" panose="020B0604020202020204" pitchFamily="34" charset="0"/>
                <a:ea typeface="ＭＳ Ｐゴシック" panose="020B0600070205080204" pitchFamily="34" charset="-128"/>
                <a:cs typeface="ＭＳ Ｐゴシック" panose="020B0600070205080204" pitchFamily="34" charset="-128"/>
              </a:defRPr>
            </a:lvl1pPr>
            <a:lvl2pPr marL="742950" indent="-285750" defTabSz="760413">
              <a:spcBef>
                <a:spcPct val="20000"/>
              </a:spcBef>
              <a:buChar char="–"/>
              <a:defRPr sz="2800">
                <a:solidFill>
                  <a:schemeClr val="tx1"/>
                </a:solidFill>
                <a:latin typeface="Arial" panose="020B0604020202020204" pitchFamily="34" charset="0"/>
                <a:ea typeface="ＭＳ Ｐゴシック" panose="020B0600070205080204" pitchFamily="34" charset="-128"/>
                <a:cs typeface="Arial" panose="020B0604020202020204" pitchFamily="34" charset="0"/>
              </a:defRPr>
            </a:lvl2pPr>
            <a:lvl3pPr marL="1143000" indent="-228600" defTabSz="760413">
              <a:spcBef>
                <a:spcPct val="20000"/>
              </a:spcBef>
              <a:buChar char="•"/>
              <a:defRPr sz="24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1600200" indent="-228600" defTabSz="760413">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2057400" indent="-228600" defTabSz="760413">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2514600" indent="-228600" defTabSz="760413"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2971800" indent="-228600" defTabSz="760413"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3429000" indent="-228600" defTabSz="760413"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3886200" indent="-228600" defTabSz="760413"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eaLnBrk="1" hangingPunct="1">
              <a:spcBef>
                <a:spcPct val="0"/>
              </a:spcBef>
              <a:buFontTx/>
              <a:buNone/>
            </a:pPr>
            <a:endParaRPr lang="en-US" altLang="en-US" sz="2000">
              <a:solidFill>
                <a:srgbClr val="000000"/>
              </a:solidFill>
              <a:cs typeface="Arial" panose="020B0604020202020204" pitchFamily="34" charset="0"/>
            </a:endParaRPr>
          </a:p>
        </p:txBody>
      </p:sp>
      <p:sp>
        <p:nvSpPr>
          <p:cNvPr id="118788" name="Rectangle 4">
            <a:extLst>
              <a:ext uri="{FF2B5EF4-FFF2-40B4-BE49-F238E27FC236}">
                <a16:creationId xmlns:a16="http://schemas.microsoft.com/office/drawing/2014/main" id="{08045F53-1F48-9F40-9B81-6C5AE465975D}"/>
              </a:ext>
            </a:extLst>
          </p:cNvPr>
          <p:cNvSpPr>
            <a:spLocks noChangeArrowheads="1"/>
          </p:cNvSpPr>
          <p:nvPr/>
        </p:nvSpPr>
        <p:spPr bwMode="auto">
          <a:xfrm>
            <a:off x="1397000" y="4889501"/>
            <a:ext cx="6540500" cy="1477963"/>
          </a:xfrm>
          <a:prstGeom prst="rect">
            <a:avLst/>
          </a:prstGeom>
          <a:noFill/>
          <a:ln>
            <a:noFill/>
          </a:ln>
          <a:extLst>
            <a:ext uri="{909E8E84-426E-40dd-AFC4-6F175D3DCCD1}"/>
            <a:ext uri="{91240B29-F687-4f45-9708-019B960494DF}"/>
          </a:extLst>
        </p:spPr>
        <p:txBody>
          <a:bodyPr>
            <a:spAutoFit/>
          </a:bodyPr>
          <a:lstStyle/>
          <a:p>
            <a:pPr algn="ctr">
              <a:defRPr/>
            </a:pPr>
            <a:r>
              <a:rPr lang="en-US" sz="3000" b="1" dirty="0">
                <a:solidFill>
                  <a:srgbClr val="FFFFFF"/>
                </a:solidFill>
                <a:effectLst>
                  <a:outerShdw blurRad="50800" dist="38100" dir="2700000" algn="tl" rotWithShape="0">
                    <a:prstClr val="black">
                      <a:alpha val="40000"/>
                    </a:prstClr>
                  </a:outerShdw>
                </a:effectLst>
                <a:latin typeface="Goudy Old Style" charset="0"/>
                <a:ea typeface="ＭＳ Ｐゴシック" charset="0"/>
                <a:cs typeface="Goudy Old Style" charset="0"/>
              </a:rPr>
              <a:t>You can download the </a:t>
            </a:r>
            <a:r>
              <a:rPr lang="en-US" sz="3000" b="1" dirty="0" err="1">
                <a:solidFill>
                  <a:srgbClr val="FFFF00"/>
                </a:solidFill>
                <a:effectLst>
                  <a:outerShdw blurRad="50800" dist="38100" dir="2700000" algn="tl" rotWithShape="0">
                    <a:prstClr val="black">
                      <a:alpha val="40000"/>
                    </a:prstClr>
                  </a:outerShdw>
                </a:effectLst>
                <a:latin typeface="Goudy Old Style" charset="0"/>
                <a:ea typeface="ＭＳ Ｐゴシック" charset="0"/>
                <a:cs typeface="Goudy Old Style" charset="0"/>
              </a:rPr>
              <a:t>kahoot</a:t>
            </a:r>
            <a:r>
              <a:rPr lang="en-US" sz="3000" b="1" dirty="0">
                <a:solidFill>
                  <a:srgbClr val="FFFF00"/>
                </a:solidFill>
                <a:effectLst>
                  <a:outerShdw blurRad="50800" dist="38100" dir="2700000" algn="tl" rotWithShape="0">
                    <a:prstClr val="black">
                      <a:alpha val="40000"/>
                    </a:prstClr>
                  </a:outerShdw>
                </a:effectLst>
                <a:latin typeface="Goudy Old Style" charset="0"/>
                <a:ea typeface="ＭＳ Ｐゴシック" charset="0"/>
                <a:cs typeface="Goudy Old Style" charset="0"/>
              </a:rPr>
              <a:t> app</a:t>
            </a:r>
            <a:r>
              <a:rPr lang="en-US" sz="3000" b="1" dirty="0">
                <a:solidFill>
                  <a:srgbClr val="FFFFFF"/>
                </a:solidFill>
                <a:effectLst>
                  <a:outerShdw blurRad="50800" dist="38100" dir="2700000" algn="tl" rotWithShape="0">
                    <a:prstClr val="black">
                      <a:alpha val="40000"/>
                    </a:prstClr>
                  </a:outerShdw>
                </a:effectLst>
                <a:latin typeface="Goudy Old Style" charset="0"/>
                <a:ea typeface="ＭＳ Ｐゴシック" charset="0"/>
                <a:cs typeface="Goudy Old Style" charset="0"/>
              </a:rPr>
              <a:t> or </a:t>
            </a:r>
            <a:r>
              <a:rPr lang="en-US" sz="3000" b="1" dirty="0">
                <a:solidFill>
                  <a:srgbClr val="FFFF00"/>
                </a:solidFill>
                <a:effectLst>
                  <a:outerShdw blurRad="50800" dist="38100" dir="2700000" algn="tl" rotWithShape="0">
                    <a:prstClr val="black">
                      <a:alpha val="40000"/>
                    </a:prstClr>
                  </a:outerShdw>
                </a:effectLst>
                <a:latin typeface="Goudy Old Style" charset="0"/>
                <a:ea typeface="ＭＳ Ｐゴシック" charset="0"/>
                <a:cs typeface="Goudy Old Style" charset="0"/>
              </a:rPr>
              <a:t>bookmark </a:t>
            </a:r>
            <a:r>
              <a:rPr lang="en-US" sz="3000" b="1" dirty="0">
                <a:solidFill>
                  <a:srgbClr val="FFFFFF"/>
                </a:solidFill>
                <a:effectLst>
                  <a:outerShdw blurRad="50800" dist="38100" dir="2700000" algn="tl" rotWithShape="0">
                    <a:prstClr val="black">
                      <a:alpha val="40000"/>
                    </a:prstClr>
                  </a:outerShdw>
                </a:effectLst>
                <a:latin typeface="Goudy Old Style" charset="0"/>
                <a:ea typeface="ＭＳ Ｐゴシック" charset="0"/>
                <a:cs typeface="Goudy Old Style" charset="0"/>
              </a:rPr>
              <a:t>the website for future lectures.</a:t>
            </a:r>
            <a:endParaRPr lang="en-US" sz="5000" b="1" dirty="0">
              <a:solidFill>
                <a:srgbClr val="FFFFFF"/>
              </a:solidFill>
              <a:effectLst>
                <a:outerShdw blurRad="50800" dist="38100" dir="2700000" algn="tl" rotWithShape="0">
                  <a:prstClr val="black">
                    <a:alpha val="40000"/>
                  </a:prstClr>
                </a:outerShdw>
              </a:effectLst>
              <a:latin typeface="Goudy Old Style" charset="0"/>
              <a:ea typeface="ＭＳ Ｐゴシック" charset="0"/>
              <a:cs typeface="Goudy Old Style" charset="0"/>
            </a:endParaRPr>
          </a:p>
        </p:txBody>
      </p:sp>
    </p:spTree>
    <p:extLst>
      <p:ext uri="{BB962C8B-B14F-4D97-AF65-F5344CB8AC3E}">
        <p14:creationId xmlns:p14="http://schemas.microsoft.com/office/powerpoint/2010/main" val="3386038017"/>
      </p:ext>
    </p:extLst>
  </p:cSld>
  <p:clrMapOvr>
    <a:masterClrMapping/>
  </p:clrMapOvr>
</p:sld>
</file>

<file path=ppt/theme/theme1.xml><?xml version="1.0" encoding="utf-8"?>
<a:theme xmlns:a="http://schemas.openxmlformats.org/drawingml/2006/main" name="Default Design">
  <a:themeElements>
    <a:clrScheme name="Default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fontScheme name="Default Design">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extraClrScheme>
      <a:clrScheme name="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Default 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Default 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Default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Default 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Default 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Default 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Default 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Default 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Default 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Default 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Default 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19717</TotalTime>
  <Words>3264</Words>
  <Application>Microsoft Macintosh PowerPoint</Application>
  <PresentationFormat>On-screen Show (4:3)</PresentationFormat>
  <Paragraphs>308</Paragraphs>
  <Slides>70</Slides>
  <Notes>34</Notes>
  <HiddenSlides>0</HiddenSlides>
  <MMClips>2</MMClips>
  <ScaleCrop>false</ScaleCrop>
  <HeadingPairs>
    <vt:vector size="6" baseType="variant">
      <vt:variant>
        <vt:lpstr>Fonts Used</vt:lpstr>
      </vt:variant>
      <vt:variant>
        <vt:i4>9</vt:i4>
      </vt:variant>
      <vt:variant>
        <vt:lpstr>Theme</vt:lpstr>
      </vt:variant>
      <vt:variant>
        <vt:i4>2</vt:i4>
      </vt:variant>
      <vt:variant>
        <vt:lpstr>Slide Titles</vt:lpstr>
      </vt:variant>
      <vt:variant>
        <vt:i4>70</vt:i4>
      </vt:variant>
    </vt:vector>
  </HeadingPairs>
  <TitlesOfParts>
    <vt:vector size="81" baseType="lpstr">
      <vt:lpstr>Arial Unicode MS</vt:lpstr>
      <vt:lpstr>ＭＳ Ｐゴシック</vt:lpstr>
      <vt:lpstr>Almonte Snow</vt:lpstr>
      <vt:lpstr>Arial</vt:lpstr>
      <vt:lpstr>Baekmuk Batang</vt:lpstr>
      <vt:lpstr>Calibri</vt:lpstr>
      <vt:lpstr>Goudy Old Style</vt:lpstr>
      <vt:lpstr>Helvetica</vt:lpstr>
      <vt:lpstr>Wingdings</vt:lpstr>
      <vt:lpstr>Default Design</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Feedbacks in Earth’s Climate System</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The Glacial Buzzsaw</vt:lpstr>
      <vt:lpstr>PowerPoint Presentation</vt:lpstr>
      <vt:lpstr>PowerPoint Presentation</vt:lpstr>
      <vt:lpstr>Limitation of the Glacial Buzzsaw</vt:lpstr>
      <vt:lpstr>PowerPoint Presentation</vt:lpstr>
      <vt:lpstr>The break-up of the supercontinent Rodinia at 750 Ma led to an increase in weathering and runoff, reducing the amount of carbon dioxide in the atmosphere, leading to the Sturtian Snowball Earth…. but only because there was a flood basalt in the tropics.</vt:lpstr>
      <vt:lpstr>Method:   Coupled climate–geochemical model GEOCLIM  (essentially, FOAM + long-term global carbon-cycle model)</vt:lpstr>
      <vt:lpstr>PowerPoint Presentation</vt:lpstr>
      <vt:lpstr>PowerPoint Presentation</vt:lpstr>
      <vt:lpstr>PowerPoint Presentation</vt:lpstr>
      <vt:lpstr>PowerPoint Presentation</vt:lpstr>
      <vt:lpstr>The difference in temperature between the poles and the equator determines the ocean circulation and sedimentary environment.</vt:lpstr>
      <vt:lpstr>PowerPoint Presentation</vt:lpstr>
      <vt:lpstr>PowerPoint Presentation</vt:lpstr>
      <vt:lpstr>PowerPoint Presentation</vt:lpstr>
      <vt:lpstr>Implications for Global Climate-Scale Thinking for Field Geological Studies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Thought-Provoking Question</vt:lpstr>
      <vt:lpstr>PowerPoint Presentation</vt:lpstr>
      <vt:lpstr>PowerPoint Presentation</vt:lpstr>
    </vt:vector>
  </TitlesOfParts>
  <Company> University of Manchester</Company>
  <LinksUpToDate>false</LinksUpToDate>
  <SharedDoc>false</SharedDoc>
  <HyperlinksChanged>false</HyperlinksChanged>
  <AppVersion>16.0016</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Sea-water Evolution</dc:title>
  <dc:creator> adams</dc:creator>
  <cp:lastModifiedBy>David Schultz</cp:lastModifiedBy>
  <cp:revision>476</cp:revision>
  <dcterms:created xsi:type="dcterms:W3CDTF">2011-11-13T20:58:28Z</dcterms:created>
  <dcterms:modified xsi:type="dcterms:W3CDTF">2025-04-28T08:22:32Z</dcterms:modified>
</cp:coreProperties>
</file>