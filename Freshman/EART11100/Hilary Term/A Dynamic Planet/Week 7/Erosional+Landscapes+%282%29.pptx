
<file path=[Content_Types].xml><?xml version="1.0" encoding="utf-8"?>
<Types xmlns="http://schemas.openxmlformats.org/package/2006/content-types">
  <Default Extension="avi" ContentType="video/x-msvideo"/>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687" r:id="rId2"/>
    <p:sldId id="689" r:id="rId3"/>
    <p:sldId id="693" r:id="rId4"/>
    <p:sldId id="691" r:id="rId5"/>
    <p:sldId id="692" r:id="rId6"/>
    <p:sldId id="690" r:id="rId7"/>
    <p:sldId id="319" r:id="rId8"/>
    <p:sldId id="399" r:id="rId9"/>
    <p:sldId id="325" r:id="rId10"/>
    <p:sldId id="326" r:id="rId11"/>
    <p:sldId id="327" r:id="rId12"/>
    <p:sldId id="329" r:id="rId13"/>
    <p:sldId id="330" r:id="rId14"/>
    <p:sldId id="332" r:id="rId15"/>
    <p:sldId id="338" r:id="rId16"/>
    <p:sldId id="333" r:id="rId17"/>
    <p:sldId id="334" r:id="rId18"/>
    <p:sldId id="331" r:id="rId19"/>
    <p:sldId id="403" r:id="rId20"/>
    <p:sldId id="401" r:id="rId21"/>
    <p:sldId id="402" r:id="rId22"/>
    <p:sldId id="337" r:id="rId23"/>
    <p:sldId id="388" r:id="rId24"/>
    <p:sldId id="389" r:id="rId25"/>
    <p:sldId id="674" r:id="rId26"/>
    <p:sldId id="675" r:id="rId27"/>
    <p:sldId id="391" r:id="rId28"/>
    <p:sldId id="392" r:id="rId29"/>
    <p:sldId id="694" r:id="rId30"/>
    <p:sldId id="685" r:id="rId31"/>
    <p:sldId id="678" r:id="rId32"/>
    <p:sldId id="680" r:id="rId33"/>
    <p:sldId id="681" r:id="rId34"/>
    <p:sldId id="682" r:id="rId35"/>
    <p:sldId id="358" r:id="rId36"/>
    <p:sldId id="361" r:id="rId37"/>
    <p:sldId id="360" r:id="rId38"/>
    <p:sldId id="363" r:id="rId39"/>
    <p:sldId id="362" r:id="rId40"/>
    <p:sldId id="364" r:id="rId41"/>
    <p:sldId id="365" r:id="rId42"/>
    <p:sldId id="366" r:id="rId43"/>
    <p:sldId id="369" r:id="rId44"/>
    <p:sldId id="368" r:id="rId45"/>
    <p:sldId id="367" r:id="rId46"/>
    <p:sldId id="370" r:id="rId47"/>
    <p:sldId id="688" r:id="rId48"/>
    <p:sldId id="695" r:id="rId49"/>
    <p:sldId id="696" r:id="rId50"/>
    <p:sldId id="697" r:id="rId51"/>
    <p:sldId id="698" r:id="rId52"/>
    <p:sldId id="371" r:id="rId53"/>
    <p:sldId id="375" r:id="rId54"/>
    <p:sldId id="379" r:id="rId55"/>
    <p:sldId id="374" r:id="rId56"/>
    <p:sldId id="376" r:id="rId57"/>
    <p:sldId id="378" r:id="rId58"/>
    <p:sldId id="377" r:id="rId59"/>
    <p:sldId id="381" r:id="rId60"/>
    <p:sldId id="382" r:id="rId61"/>
    <p:sldId id="383" r:id="rId62"/>
    <p:sldId id="384" r:id="rId63"/>
    <p:sldId id="385" r:id="rId64"/>
    <p:sldId id="386" r:id="rId65"/>
    <p:sldId id="387" r:id="rId66"/>
    <p:sldId id="699" r:id="rId67"/>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115" autoAdjust="0"/>
    <p:restoredTop sz="94660"/>
  </p:normalViewPr>
  <p:slideViewPr>
    <p:cSldViewPr>
      <p:cViewPr varScale="1">
        <p:scale>
          <a:sx n="114" d="100"/>
          <a:sy n="114" d="100"/>
        </p:scale>
        <p:origin x="1266" y="10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GB"/>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581BD5B3-2227-4F74-88EB-EDE42B6DC404}" type="datetimeFigureOut">
              <a:rPr lang="en-GB" smtClean="0"/>
              <a:pPr/>
              <a:t>23/04/2024</a:t>
            </a:fld>
            <a:endParaRPr lang="en-GB"/>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en-GB"/>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GB"/>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7E8DA976-7593-4481-8276-5261B387B540}" type="slidenum">
              <a:rPr lang="en-GB" smtClean="0"/>
              <a:pPr/>
              <a:t>‹#›</a:t>
            </a:fld>
            <a:endParaRPr lang="en-GB"/>
          </a:p>
        </p:txBody>
      </p:sp>
    </p:spTree>
    <p:extLst>
      <p:ext uri="{BB962C8B-B14F-4D97-AF65-F5344CB8AC3E}">
        <p14:creationId xmlns:p14="http://schemas.microsoft.com/office/powerpoint/2010/main" val="2628504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F7F7EA29-A8EC-4B9E-A8E0-AB41BD475EE3}" type="datetimeFigureOut">
              <a:rPr lang="en-GB" smtClean="0"/>
              <a:pPr/>
              <a:t>23/04/2024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094D153-523A-4459-9282-AD6F6927CDD8}"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F7F7EA29-A8EC-4B9E-A8E0-AB41BD475EE3}" type="datetimeFigureOut">
              <a:rPr lang="en-GB" smtClean="0"/>
              <a:pPr/>
              <a:t>23/04/2024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094D153-523A-4459-9282-AD6F6927CDD8}"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F7EA29-A8EC-4B9E-A8E0-AB41BD475EE3}" type="datetimeFigureOut">
              <a:rPr lang="en-GB" smtClean="0"/>
              <a:pPr/>
              <a:t>23/04/2024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094D153-523A-4459-9282-AD6F6927CDD8}"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F7F7EA29-A8EC-4B9E-A8E0-AB41BD475EE3}" type="datetimeFigureOut">
              <a:rPr lang="en-GB" smtClean="0"/>
              <a:pPr/>
              <a:t>23/04/2024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094D153-523A-4459-9282-AD6F6927CDD8}"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F7F7EA29-A8EC-4B9E-A8E0-AB41BD475EE3}" type="datetimeFigureOut">
              <a:rPr lang="en-GB" smtClean="0"/>
              <a:pPr/>
              <a:t>23/04/2024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094D153-523A-4459-9282-AD6F6927CDD8}"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F7F7EA29-A8EC-4B9E-A8E0-AB41BD475EE3}" type="datetimeFigureOut">
              <a:rPr lang="en-GB" smtClean="0"/>
              <a:pPr/>
              <a:t>23/04/2024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094D153-523A-4459-9282-AD6F6927CDD8}"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F7EA29-A8EC-4B9E-A8E0-AB41BD475EE3}" type="datetimeFigureOut">
              <a:rPr lang="en-GB" smtClean="0"/>
              <a:pPr/>
              <a:t>23/04/2024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094D153-523A-4459-9282-AD6F6927CDD8}"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F7EA29-A8EC-4B9E-A8E0-AB41BD475EE3}" type="datetimeFigureOut">
              <a:rPr lang="en-GB" smtClean="0"/>
              <a:pPr/>
              <a:t>23/04/2024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094D153-523A-4459-9282-AD6F6927CDD8}"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F7EA29-A8EC-4B9E-A8E0-AB41BD475EE3}" type="datetimeFigureOut">
              <a:rPr lang="en-GB" smtClean="0"/>
              <a:pPr/>
              <a:t>23/04/2024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094D153-523A-4459-9282-AD6F6927CDD8}"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F7F7EA29-A8EC-4B9E-A8E0-AB41BD475EE3}" type="datetimeFigureOut">
              <a:rPr lang="en-GB" smtClean="0"/>
              <a:pPr/>
              <a:t>23/04/2024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094D153-523A-4459-9282-AD6F6927CDD8}"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F7F7EA29-A8EC-4B9E-A8E0-AB41BD475EE3}" type="datetimeFigureOut">
              <a:rPr lang="en-GB" smtClean="0"/>
              <a:pPr/>
              <a:t>23/04/2024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094D153-523A-4459-9282-AD6F6927CDD8}" type="slidenum">
              <a:rPr lang="en-GB" smtClean="0"/>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06400" y="228600"/>
            <a:ext cx="7772400" cy="1143000"/>
          </a:xfrm>
        </p:spPr>
        <p:txBody>
          <a:bodyPr/>
          <a:lstStyle/>
          <a:p>
            <a:r>
              <a:rPr lang="en-US"/>
              <a:t>Click to edit Master title style</a:t>
            </a:r>
            <a:endParaRPr lang="en-GB"/>
          </a:p>
        </p:txBody>
      </p:sp>
      <p:sp>
        <p:nvSpPr>
          <p:cNvPr id="3" name="Chart Placeholder 2"/>
          <p:cNvSpPr>
            <a:spLocks noGrp="1"/>
          </p:cNvSpPr>
          <p:nvPr>
            <p:ph type="chart" idx="1"/>
          </p:nvPr>
        </p:nvSpPr>
        <p:spPr>
          <a:xfrm>
            <a:off x="457200" y="1885950"/>
            <a:ext cx="8178800" cy="4171950"/>
          </a:xfrm>
        </p:spPr>
        <p:txBody>
          <a:bodyPr/>
          <a:lstStyle/>
          <a:p>
            <a:pPr lvl="0"/>
            <a:endParaRPr lang="en-GB" noProof="0"/>
          </a:p>
        </p:txBody>
      </p:sp>
      <p:sp>
        <p:nvSpPr>
          <p:cNvPr id="4" name="Date Placeholder 3"/>
          <p:cNvSpPr>
            <a:spLocks noGrp="1"/>
          </p:cNvSpPr>
          <p:nvPr>
            <p:ph type="dt" sz="half" idx="10"/>
          </p:nvPr>
        </p:nvSpPr>
        <p:spPr>
          <a:xfrm>
            <a:off x="431800" y="6229350"/>
            <a:ext cx="1905000" cy="457200"/>
          </a:xfrm>
        </p:spPr>
        <p:txBody>
          <a:bodyPr/>
          <a:lstStyle>
            <a:lvl1pPr>
              <a:defRPr/>
            </a:lvl1pPr>
          </a:lstStyle>
          <a:p>
            <a:pPr>
              <a:defRPr/>
            </a:pPr>
            <a:endParaRPr lang="en-US" altLang="en-US"/>
          </a:p>
        </p:txBody>
      </p:sp>
      <p:sp>
        <p:nvSpPr>
          <p:cNvPr id="5" name="Footer Placeholder 4"/>
          <p:cNvSpPr>
            <a:spLocks noGrp="1"/>
          </p:cNvSpPr>
          <p:nvPr>
            <p:ph type="ftr" sz="quarter" idx="11"/>
          </p:nvPr>
        </p:nvSpPr>
        <p:spPr>
          <a:xfrm>
            <a:off x="3124200" y="6229350"/>
            <a:ext cx="2895600" cy="457200"/>
          </a:xfrm>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a:xfrm>
            <a:off x="6731000" y="6229350"/>
            <a:ext cx="1905000" cy="457200"/>
          </a:xfrm>
        </p:spPr>
        <p:txBody>
          <a:bodyPr/>
          <a:lstStyle>
            <a:lvl1pPr>
              <a:defRPr/>
            </a:lvl1pPr>
          </a:lstStyle>
          <a:p>
            <a:fld id="{118F7E76-FF49-4966-B140-F030C2301EFE}" type="slidenum">
              <a:rPr lang="en-US" altLang="en-US"/>
              <a:pPr/>
              <a:t>‹#›</a:t>
            </a:fld>
            <a:endParaRPr lang="en-US" altLang="en-US"/>
          </a:p>
        </p:txBody>
      </p:sp>
    </p:spTree>
    <p:extLst>
      <p:ext uri="{BB962C8B-B14F-4D97-AF65-F5344CB8AC3E}">
        <p14:creationId xmlns:p14="http://schemas.microsoft.com/office/powerpoint/2010/main" val="1805381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email">
            <a:lum/>
            <a:extLst>
              <a:ext uri="{28A0092B-C50C-407E-A947-70E740481C1C}">
                <a14:useLocalDpi xmlns:a14="http://schemas.microsoft.com/office/drawing/2010/main"/>
              </a:ext>
            </a:extLst>
          </a:blip>
          <a:srcRect/>
          <a:stretch>
            <a:fillRect b="85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F7EA29-A8EC-4B9E-A8E0-AB41BD475EE3}" type="datetimeFigureOut">
              <a:rPr lang="en-GB" smtClean="0"/>
              <a:pPr/>
              <a:t>23/04/2024</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94D153-523A-4459-9282-AD6F6927CDD8}"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7.xml"/><Relationship Id="rId4" Type="http://schemas.openxmlformats.org/officeDocument/2006/relationships/image" Target="../media/image24.jpeg"/></Relationships>
</file>

<file path=ppt/slides/_rels/slide2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www.youtube.com/watch?v=F9j9U2kR73w" TargetMode="External"/><Relationship Id="rId2" Type="http://schemas.openxmlformats.org/officeDocument/2006/relationships/hyperlink" Target="https://www.youtube.com/watch?v=VHKZrwJALSA" TargetMode="Externa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avi"/><Relationship Id="rId1" Type="http://schemas.microsoft.com/office/2007/relationships/media" Target="../media/media1.avi"/><Relationship Id="rId5" Type="http://schemas.openxmlformats.org/officeDocument/2006/relationships/image" Target="../media/image32.png"/><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47.xml.rels><?xml version="1.0" encoding="UTF-8" standalone="yes"?>
<Relationships xmlns="http://schemas.openxmlformats.org/package/2006/relationships"><Relationship Id="rId3" Type="http://schemas.openxmlformats.org/officeDocument/2006/relationships/image" Target="../media/image41.jpeg"/><Relationship Id="rId7" Type="http://schemas.openxmlformats.org/officeDocument/2006/relationships/image" Target="../media/image45.jpeg"/><Relationship Id="rId2" Type="http://schemas.openxmlformats.org/officeDocument/2006/relationships/image" Target="../media/image40.jpeg"/><Relationship Id="rId1" Type="http://schemas.openxmlformats.org/officeDocument/2006/relationships/slideLayout" Target="../slideLayouts/slideLayout7.xml"/><Relationship Id="rId6" Type="http://schemas.openxmlformats.org/officeDocument/2006/relationships/image" Target="../media/image44.jpeg"/><Relationship Id="rId5" Type="http://schemas.openxmlformats.org/officeDocument/2006/relationships/image" Target="../media/image43.jpeg"/><Relationship Id="rId4" Type="http://schemas.openxmlformats.org/officeDocument/2006/relationships/image" Target="../media/image42.jpeg"/></Relationships>
</file>

<file path=ppt/slides/_rels/slide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9.jpe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jpeg"/><Relationship Id="rId4" Type="http://schemas.openxmlformats.org/officeDocument/2006/relationships/image" Target="../media/image6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monument-valley-camping-9campfire"/>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896" y="0"/>
            <a:ext cx="9137104" cy="685282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4">
            <a:extLst>
              <a:ext uri="{FF2B5EF4-FFF2-40B4-BE49-F238E27FC236}">
                <a16:creationId xmlns:a16="http://schemas.microsoft.com/office/drawing/2014/main" id="{229DC45C-1036-4D09-98B4-96AA72E1D51B}"/>
              </a:ext>
            </a:extLst>
          </p:cNvPr>
          <p:cNvSpPr txBox="1">
            <a:spLocks noChangeArrowheads="1"/>
          </p:cNvSpPr>
          <p:nvPr/>
        </p:nvSpPr>
        <p:spPr>
          <a:xfrm>
            <a:off x="107504" y="1916832"/>
            <a:ext cx="8928992" cy="3312368"/>
          </a:xfrm>
          <a:prstGeom prst="rect">
            <a:avLst/>
          </a:prstGeom>
          <a:solidFill>
            <a:schemeClr val="bg1">
              <a:alpha val="60000"/>
            </a:schemeClr>
          </a:solidFill>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800" b="1" i="0" u="none" strike="noStrike" kern="1200" cap="none" spc="0" normalizeH="0" baseline="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EART11100: </a:t>
            </a:r>
            <a:r>
              <a:rPr lang="en-GB" sz="2800" b="1" dirty="0">
                <a:effectLst>
                  <a:outerShdw blurRad="38100" dist="38100" dir="2700000" algn="tl">
                    <a:srgbClr val="000000">
                      <a:alpha val="43137"/>
                    </a:srgbClr>
                  </a:outerShdw>
                </a:effectLst>
                <a:latin typeface="Bookman Old Style" pitchFamily="18" charset="0"/>
                <a:ea typeface="Adobe Fangsong Std R" pitchFamily="18" charset="-128"/>
                <a:cs typeface="+mj-cs"/>
              </a:rPr>
              <a:t>Understanding t</a:t>
            </a:r>
            <a:r>
              <a:rPr kumimoji="0" lang="en-GB" sz="2800" b="1" i="0" u="none" strike="noStrike" kern="1200" cap="none" spc="0" normalizeH="0" baseline="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he Earth</a:t>
            </a:r>
          </a:p>
          <a:p>
            <a:pPr marL="0" marR="0" lvl="0" indent="0" algn="ctr" defTabSz="914400" rtl="0" eaLnBrk="1" fontAlgn="auto" latinLnBrk="0" hangingPunct="1">
              <a:lnSpc>
                <a:spcPct val="100000"/>
              </a:lnSpc>
              <a:spcBef>
                <a:spcPct val="0"/>
              </a:spcBef>
              <a:spcAft>
                <a:spcPts val="0"/>
              </a:spcAft>
              <a:buClrTx/>
              <a:buSzTx/>
              <a:buFontTx/>
              <a:buNone/>
              <a:tabLst/>
              <a:defRPr/>
            </a:pPr>
            <a:r>
              <a:rPr lang="en-GB" sz="2800" b="1" dirty="0">
                <a:effectLst>
                  <a:outerShdw blurRad="38100" dist="38100" dir="2700000" algn="tl">
                    <a:srgbClr val="000000">
                      <a:alpha val="43137"/>
                    </a:srgbClr>
                  </a:outerShdw>
                </a:effectLst>
                <a:latin typeface="Bookman Old Style" pitchFamily="18" charset="0"/>
                <a:ea typeface="Adobe Fangsong Std R" pitchFamily="18" charset="-128"/>
                <a:cs typeface="+mj-cs"/>
              </a:rPr>
              <a:t>A dynamic Planet</a:t>
            </a:r>
          </a:p>
          <a:p>
            <a:pPr marL="0" marR="0" lvl="0" indent="0" algn="ctr" defTabSz="914400" rtl="0" eaLnBrk="1" fontAlgn="auto" latinLnBrk="0" hangingPunct="1">
              <a:lnSpc>
                <a:spcPct val="100000"/>
              </a:lnSpc>
              <a:spcBef>
                <a:spcPct val="0"/>
              </a:spcBef>
              <a:spcAft>
                <a:spcPts val="0"/>
              </a:spcAft>
              <a:buClrTx/>
              <a:buSzTx/>
              <a:buFontTx/>
              <a:buNone/>
              <a:tabLst/>
              <a:defRPr/>
            </a:pPr>
            <a:r>
              <a:rPr lang="en-GB" sz="4800" b="1" dirty="0">
                <a:effectLst>
                  <a:outerShdw blurRad="38100" dist="38100" dir="2700000" algn="tl">
                    <a:srgbClr val="000000">
                      <a:alpha val="43137"/>
                    </a:srgbClr>
                  </a:outerShdw>
                </a:effectLst>
                <a:latin typeface="Bookman Old Style" pitchFamily="18" charset="0"/>
                <a:ea typeface="Adobe Fangsong Std R" pitchFamily="18" charset="-128"/>
                <a:cs typeface="+mj-cs"/>
              </a:rPr>
              <a:t>Erosional l</a:t>
            </a:r>
            <a:r>
              <a:rPr kumimoji="0" lang="en-GB" sz="4800" b="1" i="0" u="none" strike="noStrike" kern="1200" cap="none" spc="0" normalizeH="0" baseline="0" noProof="0" dirty="0" err="1">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andscape</a:t>
            </a:r>
            <a:r>
              <a:rPr kumimoji="0" lang="en-GB" sz="4800" b="1" i="0" u="none" strike="noStrike" kern="1200" cap="none" spc="0" normalizeH="0" baseline="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 development</a:t>
            </a:r>
            <a:endParaRPr kumimoji="0" lang="en-GB" sz="4800" b="1" i="0" u="none" strike="noStrike" kern="1200" cap="none" spc="0" normalizeH="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4060415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19672" y="1178750"/>
            <a:ext cx="5832648" cy="3586094"/>
          </a:xfrm>
          <a:prstGeom prst="rect">
            <a:avLst/>
          </a:prstGeom>
        </p:spPr>
      </p:pic>
      <p:sp>
        <p:nvSpPr>
          <p:cNvPr id="6" name="Content Placeholder 2"/>
          <p:cNvSpPr>
            <a:spLocks noGrp="1"/>
          </p:cNvSpPr>
          <p:nvPr>
            <p:ph idx="1"/>
          </p:nvPr>
        </p:nvSpPr>
        <p:spPr>
          <a:xfrm>
            <a:off x="179511" y="5229200"/>
            <a:ext cx="8964489" cy="1440160"/>
          </a:xfrm>
          <a:noFill/>
        </p:spPr>
        <p:txBody>
          <a:bodyPr>
            <a:noAutofit/>
          </a:bodyPr>
          <a:lstStyle/>
          <a:p>
            <a:pPr marL="0" indent="0">
              <a:buNone/>
            </a:pPr>
            <a:r>
              <a:rPr lang="en-GB" sz="2000" b="1" dirty="0">
                <a:latin typeface="Arial" panose="020B0604020202020204" pitchFamily="34" charset="0"/>
                <a:cs typeface="Arial" pitchFamily="34" charset="0"/>
              </a:rPr>
              <a:t>… you should be able to…</a:t>
            </a:r>
          </a:p>
          <a:p>
            <a:r>
              <a:rPr lang="en-GB" sz="2000" b="1" dirty="0">
                <a:latin typeface="Arial" panose="020B0604020202020204" pitchFamily="34" charset="0"/>
                <a:cs typeface="Arial" panose="020B0604020202020204" pitchFamily="34" charset="0"/>
                <a:sym typeface="Wingdings" pitchFamily="2" charset="2"/>
              </a:rPr>
              <a:t>describe the main processes that form the different erosional landscape types across the world.</a:t>
            </a:r>
          </a:p>
          <a:p>
            <a:r>
              <a:rPr lang="en-GB" sz="2000" b="1" dirty="0">
                <a:latin typeface="Arial" panose="020B0604020202020204" pitchFamily="34" charset="0"/>
                <a:cs typeface="Arial" panose="020B0604020202020204" pitchFamily="34" charset="0"/>
                <a:sym typeface="Wingdings" pitchFamily="2" charset="2"/>
              </a:rPr>
              <a:t>recognise that few landscapes are governed by a single process.</a:t>
            </a:r>
          </a:p>
        </p:txBody>
      </p:sp>
      <p:sp>
        <p:nvSpPr>
          <p:cNvPr id="7" name="Rectangle 6"/>
          <p:cNvSpPr/>
          <p:nvPr/>
        </p:nvSpPr>
        <p:spPr>
          <a:xfrm>
            <a:off x="1853443" y="1988840"/>
            <a:ext cx="1998477" cy="648072"/>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4">
            <a:extLst>
              <a:ext uri="{FF2B5EF4-FFF2-40B4-BE49-F238E27FC236}">
                <a16:creationId xmlns:a16="http://schemas.microsoft.com/office/drawing/2014/main" id="{115699D5-9C24-44CF-BEED-22B237E1D07C}"/>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chemeClr val="bg1"/>
                </a:solidFill>
                <a:latin typeface="Bookman Old Style" panose="02050604050505020204" pitchFamily="18" charset="0"/>
                <a:ea typeface="Adobe Fangsong Std R" pitchFamily="18" charset="-128"/>
                <a:cs typeface="+mj-cs"/>
              </a:rPr>
              <a:t>Intended learning outcomes</a:t>
            </a:r>
            <a:endParaRPr kumimoji="0" lang="en-GB" sz="4000" b="1" i="0" u="none" strike="noStrike" kern="1200" cap="none" spc="0" normalizeH="0" baseline="0" noProof="0" dirty="0">
              <a:ln>
                <a:noFill/>
              </a:ln>
              <a:solidFill>
                <a:schemeClr val="bg1"/>
              </a:solidFill>
              <a:effectLst/>
              <a:uLnTx/>
              <a:uFillTx/>
              <a:latin typeface="Bookman Old Style" panose="02050604050505020204" pitchFamily="18" charset="0"/>
              <a:ea typeface="Adobe Fangsong Std R" pitchFamily="18" charset="-128"/>
              <a:cs typeface="+mj-cs"/>
            </a:endParaRPr>
          </a:p>
        </p:txBody>
      </p:sp>
    </p:spTree>
    <p:extLst>
      <p:ext uri="{BB962C8B-B14F-4D97-AF65-F5344CB8AC3E}">
        <p14:creationId xmlns:p14="http://schemas.microsoft.com/office/powerpoint/2010/main" val="790837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54C1763F-3B57-46FE-9889-D9EF96E81D94}"/>
              </a:ext>
            </a:extLst>
          </p:cNvPr>
          <p:cNvGrpSpPr/>
          <p:nvPr/>
        </p:nvGrpSpPr>
        <p:grpSpPr>
          <a:xfrm>
            <a:off x="683568" y="3651901"/>
            <a:ext cx="8096250" cy="3171825"/>
            <a:chOff x="683568" y="3651901"/>
            <a:chExt cx="8096250" cy="3171825"/>
          </a:xfrm>
        </p:grpSpPr>
        <p:pic>
          <p:nvPicPr>
            <p:cNvPr id="6" name="Picture 2" descr="Image result for source to sink">
              <a:extLst>
                <a:ext uri="{FF2B5EF4-FFF2-40B4-BE49-F238E27FC236}">
                  <a16:creationId xmlns:a16="http://schemas.microsoft.com/office/drawing/2014/main" id="{F486F37C-333A-4BBA-BF04-65BDE401A19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83568" y="3651901"/>
              <a:ext cx="8096250" cy="31718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7CD23F5-C287-451E-8C2F-209DFCBFCAB8}"/>
                </a:ext>
              </a:extLst>
            </p:cNvPr>
            <p:cNvSpPr/>
            <p:nvPr/>
          </p:nvSpPr>
          <p:spPr>
            <a:xfrm rot="449741">
              <a:off x="3481011" y="5047335"/>
              <a:ext cx="1876951"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Rectangle 4"/>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In this lecture…</a:t>
            </a:r>
          </a:p>
        </p:txBody>
      </p:sp>
      <p:sp>
        <p:nvSpPr>
          <p:cNvPr id="5" name="TextBox 4"/>
          <p:cNvSpPr txBox="1"/>
          <p:nvPr/>
        </p:nvSpPr>
        <p:spPr>
          <a:xfrm>
            <a:off x="179512" y="1340768"/>
            <a:ext cx="8496943" cy="1785104"/>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Last time, we looked at vertical crustal movements</a:t>
            </a:r>
          </a:p>
          <a:p>
            <a:pPr marL="800100" lvl="1" indent="-342900">
              <a:spcAft>
                <a:spcPts val="600"/>
              </a:spcAft>
              <a:buFont typeface="Wingdings"/>
              <a:buChar char="à"/>
            </a:pPr>
            <a:r>
              <a:rPr lang="en-GB" sz="2000" b="1" dirty="0">
                <a:sym typeface="Wingdings" panose="05000000000000000000" pitchFamily="2" charset="2"/>
              </a:rPr>
              <a:t>The main controls on vertical crustal movement: isostacy, flexure and dynamic mantle effect</a:t>
            </a:r>
          </a:p>
          <a:p>
            <a:pPr marL="800100" lvl="1" indent="-342900">
              <a:spcAft>
                <a:spcPts val="600"/>
              </a:spcAft>
              <a:buFont typeface="Wingdings"/>
              <a:buChar char="à"/>
            </a:pPr>
            <a:r>
              <a:rPr lang="en-GB" sz="2000" b="1" dirty="0">
                <a:sym typeface="Wingdings" panose="05000000000000000000" pitchFamily="2" charset="2"/>
              </a:rPr>
              <a:t>And how vertical uplift forms high areas on the Earth’s surface </a:t>
            </a:r>
            <a:r>
              <a:rPr lang="en-GB" sz="2000" b="1" dirty="0"/>
              <a:t>(</a:t>
            </a:r>
            <a:r>
              <a:rPr lang="en-GB" sz="2000" b="1" u="sng" dirty="0"/>
              <a:t>mountains</a:t>
            </a:r>
            <a:r>
              <a:rPr lang="en-GB" sz="2000" b="1" dirty="0"/>
              <a:t> or </a:t>
            </a:r>
            <a:r>
              <a:rPr lang="en-GB" sz="2000" b="1" u="sng" dirty="0"/>
              <a:t>hinterlands</a:t>
            </a:r>
            <a:r>
              <a:rPr lang="en-GB" sz="2000" b="1" dirty="0"/>
              <a:t>), and subsidence forms </a:t>
            </a:r>
            <a:r>
              <a:rPr lang="en-GB" sz="2000" b="1" u="sng" dirty="0"/>
              <a:t>Sedimentary Basins</a:t>
            </a:r>
            <a:r>
              <a:rPr lang="en-GB" sz="2000" b="1" dirty="0"/>
              <a:t>.</a:t>
            </a:r>
          </a:p>
        </p:txBody>
      </p:sp>
      <p:sp>
        <p:nvSpPr>
          <p:cNvPr id="2" name="Rectangle 1">
            <a:extLst>
              <a:ext uri="{FF2B5EF4-FFF2-40B4-BE49-F238E27FC236}">
                <a16:creationId xmlns:a16="http://schemas.microsoft.com/office/drawing/2014/main" id="{527A7B94-10ED-4104-987F-2B865629F5C1}"/>
              </a:ext>
            </a:extLst>
          </p:cNvPr>
          <p:cNvSpPr/>
          <p:nvPr/>
        </p:nvSpPr>
        <p:spPr>
          <a:xfrm>
            <a:off x="1475656" y="5929738"/>
            <a:ext cx="1152128" cy="30757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09315CB9-E08E-47C8-85A1-746DA2B7F901}"/>
              </a:ext>
            </a:extLst>
          </p:cNvPr>
          <p:cNvSpPr/>
          <p:nvPr/>
        </p:nvSpPr>
        <p:spPr>
          <a:xfrm>
            <a:off x="6300192" y="6435580"/>
            <a:ext cx="1152128" cy="30757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66197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0C7F003-7E2D-4C75-A23A-58D7EB4152B6}"/>
              </a:ext>
            </a:extLst>
          </p:cNvPr>
          <p:cNvGrpSpPr/>
          <p:nvPr/>
        </p:nvGrpSpPr>
        <p:grpSpPr>
          <a:xfrm>
            <a:off x="683568" y="3651901"/>
            <a:ext cx="8096250" cy="3171825"/>
            <a:chOff x="683568" y="3651901"/>
            <a:chExt cx="8096250" cy="3171825"/>
          </a:xfrm>
        </p:grpSpPr>
        <p:pic>
          <p:nvPicPr>
            <p:cNvPr id="11" name="Picture 2" descr="Image result for source to sink">
              <a:extLst>
                <a:ext uri="{FF2B5EF4-FFF2-40B4-BE49-F238E27FC236}">
                  <a16:creationId xmlns:a16="http://schemas.microsoft.com/office/drawing/2014/main" id="{44E4B173-DE83-47AD-BD4A-8665E785269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83568" y="3651901"/>
              <a:ext cx="8096250" cy="317182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038739C5-8E6B-40F9-9B53-D51B266F1BA4}"/>
                </a:ext>
              </a:extLst>
            </p:cNvPr>
            <p:cNvSpPr/>
            <p:nvPr/>
          </p:nvSpPr>
          <p:spPr>
            <a:xfrm rot="449741">
              <a:off x="3481011" y="5047335"/>
              <a:ext cx="1876951"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Rectangle 4"/>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In this lecture…</a:t>
            </a:r>
          </a:p>
        </p:txBody>
      </p:sp>
      <p:sp>
        <p:nvSpPr>
          <p:cNvPr id="5" name="TextBox 4"/>
          <p:cNvSpPr txBox="1"/>
          <p:nvPr/>
        </p:nvSpPr>
        <p:spPr>
          <a:xfrm>
            <a:off x="179512" y="1340768"/>
            <a:ext cx="8496943" cy="2169825"/>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Landscapes fall into two categories.</a:t>
            </a:r>
          </a:p>
          <a:p>
            <a:pPr marL="457200" indent="-457200">
              <a:spcAft>
                <a:spcPts val="600"/>
              </a:spcAft>
              <a:buAutoNum type="arabicPeriod"/>
            </a:pPr>
            <a:r>
              <a:rPr lang="en-GB" sz="2000" b="1" dirty="0"/>
              <a:t>“Erosional Landscapes” – generated by uplift, weathering and erosion.</a:t>
            </a:r>
          </a:p>
          <a:p>
            <a:pPr marL="457200" indent="-457200">
              <a:spcAft>
                <a:spcPts val="600"/>
              </a:spcAft>
              <a:buAutoNum type="arabicPeriod"/>
            </a:pPr>
            <a:r>
              <a:rPr lang="en-GB" sz="2000" dirty="0"/>
              <a:t>“Depositional Landscapes” generated by subsidence and deposition of sediment.</a:t>
            </a:r>
          </a:p>
          <a:p>
            <a:pPr>
              <a:spcAft>
                <a:spcPts val="600"/>
              </a:spcAft>
            </a:pPr>
            <a:r>
              <a:rPr lang="en-GB" sz="2000" b="1" dirty="0"/>
              <a:t>	This week we focus exclusively on Erosional Landscapes, and how 	they form.</a:t>
            </a:r>
          </a:p>
        </p:txBody>
      </p:sp>
      <p:sp>
        <p:nvSpPr>
          <p:cNvPr id="8" name="Rectangle 7">
            <a:extLst>
              <a:ext uri="{FF2B5EF4-FFF2-40B4-BE49-F238E27FC236}">
                <a16:creationId xmlns:a16="http://schemas.microsoft.com/office/drawing/2014/main" id="{633E309B-A960-4483-9D54-8F1923B0FAAE}"/>
              </a:ext>
            </a:extLst>
          </p:cNvPr>
          <p:cNvSpPr/>
          <p:nvPr/>
        </p:nvSpPr>
        <p:spPr>
          <a:xfrm>
            <a:off x="6228184" y="4293096"/>
            <a:ext cx="1296144" cy="422362"/>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C84EC23F-2EF6-4F20-A44F-F3958B28C993}"/>
              </a:ext>
            </a:extLst>
          </p:cNvPr>
          <p:cNvSpPr/>
          <p:nvPr/>
        </p:nvSpPr>
        <p:spPr>
          <a:xfrm>
            <a:off x="1475656" y="3870734"/>
            <a:ext cx="1152128" cy="422362"/>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29291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C0EFD6F8-4D55-4A8B-B381-F75F5249CE72}"/>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3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The difference between an erosional and depositional landscape</a:t>
            </a:r>
          </a:p>
        </p:txBody>
      </p:sp>
      <p:sp>
        <p:nvSpPr>
          <p:cNvPr id="5" name="TextBox 4">
            <a:extLst>
              <a:ext uri="{FF2B5EF4-FFF2-40B4-BE49-F238E27FC236}">
                <a16:creationId xmlns:a16="http://schemas.microsoft.com/office/drawing/2014/main" id="{EC218B09-2E44-4669-9125-587FA6951598}"/>
              </a:ext>
            </a:extLst>
          </p:cNvPr>
          <p:cNvSpPr txBox="1"/>
          <p:nvPr/>
        </p:nvSpPr>
        <p:spPr>
          <a:xfrm>
            <a:off x="205458" y="1340768"/>
            <a:ext cx="8496943" cy="5109091"/>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200" b="1" dirty="0"/>
              <a:t>Because erosional landscapes are dominated by UPLIFT, and WEATHERING AND EROSION, they</a:t>
            </a:r>
          </a:p>
          <a:p>
            <a:pPr lvl="1">
              <a:spcAft>
                <a:spcPts val="600"/>
              </a:spcAft>
            </a:pPr>
            <a:r>
              <a:rPr lang="en-GB" sz="2200" dirty="0">
                <a:sym typeface="Wingdings" panose="05000000000000000000" pitchFamily="2" charset="2"/>
              </a:rPr>
              <a:t></a:t>
            </a:r>
            <a:r>
              <a:rPr lang="en-GB" sz="2200" dirty="0"/>
              <a:t> tend to have topographic relief, and</a:t>
            </a:r>
          </a:p>
          <a:p>
            <a:pPr lvl="1">
              <a:spcAft>
                <a:spcPts val="600"/>
              </a:spcAft>
            </a:pPr>
            <a:r>
              <a:rPr lang="en-GB" sz="2200" dirty="0">
                <a:sym typeface="Wingdings" panose="05000000000000000000" pitchFamily="2" charset="2"/>
              </a:rPr>
              <a:t> are dominated surfaces covered in weathering products (“</a:t>
            </a:r>
            <a:r>
              <a:rPr lang="en-GB" sz="2200" dirty="0" err="1">
                <a:sym typeface="Wingdings" panose="05000000000000000000" pitchFamily="2" charset="2"/>
              </a:rPr>
              <a:t>regolith</a:t>
            </a:r>
            <a:r>
              <a:rPr lang="en-GB" sz="2200" dirty="0">
                <a:sym typeface="Wingdings" panose="05000000000000000000" pitchFamily="2" charset="2"/>
              </a:rPr>
              <a:t>”), or</a:t>
            </a:r>
          </a:p>
          <a:p>
            <a:pPr lvl="1">
              <a:spcAft>
                <a:spcPts val="600"/>
              </a:spcAft>
            </a:pPr>
            <a:r>
              <a:rPr lang="en-GB" sz="2200" dirty="0">
                <a:sym typeface="Wingdings" panose="05000000000000000000" pitchFamily="2" charset="2"/>
              </a:rPr>
              <a:t> or dominated by bare eroding bedrock.</a:t>
            </a:r>
          </a:p>
          <a:p>
            <a:pPr marL="342900" indent="-342900">
              <a:spcAft>
                <a:spcPts val="600"/>
              </a:spcAft>
              <a:buFont typeface="Arial" panose="020B0604020202020204" pitchFamily="34" charset="0"/>
              <a:buChar char="•"/>
            </a:pPr>
            <a:endParaRPr lang="en-GB" sz="2200" b="1" dirty="0">
              <a:sym typeface="Wingdings" panose="05000000000000000000" pitchFamily="2" charset="2"/>
            </a:endParaRPr>
          </a:p>
          <a:p>
            <a:pPr marL="342900" indent="-342900">
              <a:spcAft>
                <a:spcPts val="600"/>
              </a:spcAft>
              <a:buFont typeface="Arial" panose="020B0604020202020204" pitchFamily="34" charset="0"/>
              <a:buChar char="•"/>
            </a:pPr>
            <a:r>
              <a:rPr lang="en-GB" sz="2200" b="1" dirty="0">
                <a:sym typeface="Wingdings" panose="05000000000000000000" pitchFamily="2" charset="2"/>
              </a:rPr>
              <a:t>By contrast, depositional landscapes are dominated by SUBSIDENCE and DEPOSITION of sediment. They are</a:t>
            </a:r>
          </a:p>
          <a:p>
            <a:pPr lvl="1">
              <a:spcAft>
                <a:spcPts val="600"/>
              </a:spcAft>
            </a:pPr>
            <a:r>
              <a:rPr lang="en-GB" sz="2200" dirty="0">
                <a:sym typeface="Wingdings" panose="05000000000000000000" pitchFamily="2" charset="2"/>
              </a:rPr>
              <a:t> low areas, either flooded by the lakes or sea, if they haven’t been filled with sediment, or</a:t>
            </a:r>
          </a:p>
          <a:p>
            <a:pPr lvl="1">
              <a:spcAft>
                <a:spcPts val="600"/>
              </a:spcAft>
            </a:pPr>
            <a:r>
              <a:rPr lang="en-GB" sz="2200" dirty="0">
                <a:sym typeface="Wingdings" panose="05000000000000000000" pitchFamily="2" charset="2"/>
              </a:rPr>
              <a:t> very flat (little relief) if they have been filled up with sediment.</a:t>
            </a:r>
          </a:p>
          <a:p>
            <a:pPr lvl="1">
              <a:spcAft>
                <a:spcPts val="600"/>
              </a:spcAft>
            </a:pPr>
            <a:r>
              <a:rPr lang="en-GB" sz="2200" dirty="0">
                <a:sym typeface="Wingdings" panose="05000000000000000000" pitchFamily="2" charset="2"/>
              </a:rPr>
              <a:t> characterised by bedrock buried under 10 to 100s m of sediment.</a:t>
            </a:r>
          </a:p>
        </p:txBody>
      </p:sp>
      <p:grpSp>
        <p:nvGrpSpPr>
          <p:cNvPr id="8" name="Group 7">
            <a:extLst>
              <a:ext uri="{FF2B5EF4-FFF2-40B4-BE49-F238E27FC236}">
                <a16:creationId xmlns:a16="http://schemas.microsoft.com/office/drawing/2014/main" id="{C18A5430-4236-4EA5-8E8A-D83F975E0DA6}"/>
              </a:ext>
            </a:extLst>
          </p:cNvPr>
          <p:cNvGrpSpPr/>
          <p:nvPr/>
        </p:nvGrpSpPr>
        <p:grpSpPr>
          <a:xfrm>
            <a:off x="217290" y="1340768"/>
            <a:ext cx="8171134" cy="2520280"/>
            <a:chOff x="217290" y="1340768"/>
            <a:chExt cx="8171134" cy="2520280"/>
          </a:xfrm>
        </p:grpSpPr>
        <p:sp>
          <p:nvSpPr>
            <p:cNvPr id="6" name="Rectangle 5">
              <a:extLst>
                <a:ext uri="{FF2B5EF4-FFF2-40B4-BE49-F238E27FC236}">
                  <a16:creationId xmlns:a16="http://schemas.microsoft.com/office/drawing/2014/main" id="{9D0721E3-2840-40DB-A8F1-26EC3B8FB015}"/>
                </a:ext>
              </a:extLst>
            </p:cNvPr>
            <p:cNvSpPr/>
            <p:nvPr/>
          </p:nvSpPr>
          <p:spPr>
            <a:xfrm>
              <a:off x="217290" y="1340768"/>
              <a:ext cx="7920880" cy="252028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57676001-A5F6-4A7B-90E3-F5551FBFB694}"/>
                </a:ext>
              </a:extLst>
            </p:cNvPr>
            <p:cNvSpPr txBox="1"/>
            <p:nvPr/>
          </p:nvSpPr>
          <p:spPr>
            <a:xfrm>
              <a:off x="6372200" y="3284984"/>
              <a:ext cx="2016224" cy="477054"/>
            </a:xfrm>
            <a:prstGeom prst="rect">
              <a:avLst/>
            </a:prstGeom>
            <a:noFill/>
          </p:spPr>
          <p:txBody>
            <a:bodyPr wrap="square" rtlCol="0">
              <a:spAutoFit/>
            </a:bodyPr>
            <a:lstStyle/>
            <a:p>
              <a:pPr>
                <a:spcAft>
                  <a:spcPts val="600"/>
                </a:spcAft>
              </a:pPr>
              <a:r>
                <a:rPr lang="en-GB" sz="2500" b="1" dirty="0">
                  <a:solidFill>
                    <a:srgbClr val="FF0000"/>
                  </a:solidFill>
                </a:rPr>
                <a:t>This week</a:t>
              </a:r>
            </a:p>
          </p:txBody>
        </p:sp>
      </p:grpSp>
    </p:spTree>
    <p:extLst>
      <p:ext uri="{BB962C8B-B14F-4D97-AF65-F5344CB8AC3E}">
        <p14:creationId xmlns:p14="http://schemas.microsoft.com/office/powerpoint/2010/main" val="194685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eath Valley National Park: Badwater Alluvial Fan - YouTube">
            <a:extLst>
              <a:ext uri="{FF2B5EF4-FFF2-40B4-BE49-F238E27FC236}">
                <a16:creationId xmlns:a16="http://schemas.microsoft.com/office/drawing/2014/main" id="{4E2BE97E-8B8C-4044-99B7-4F46B538B6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86644"/>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41A46B12-99D1-4E76-8270-BC0341085124}"/>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3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The difference between an erosional and depositional landscape</a:t>
            </a:r>
          </a:p>
        </p:txBody>
      </p:sp>
      <p:sp>
        <p:nvSpPr>
          <p:cNvPr id="4" name="Freeform: Shape 3">
            <a:extLst>
              <a:ext uri="{FF2B5EF4-FFF2-40B4-BE49-F238E27FC236}">
                <a16:creationId xmlns:a16="http://schemas.microsoft.com/office/drawing/2014/main" id="{B098B41B-C464-4BFF-97AE-2D7864AC68E7}"/>
              </a:ext>
            </a:extLst>
          </p:cNvPr>
          <p:cNvSpPr/>
          <p:nvPr/>
        </p:nvSpPr>
        <p:spPr>
          <a:xfrm>
            <a:off x="-36512" y="1835621"/>
            <a:ext cx="8705850" cy="4219575"/>
          </a:xfrm>
          <a:custGeom>
            <a:avLst/>
            <a:gdLst>
              <a:gd name="connsiteX0" fmla="*/ 0 w 8705850"/>
              <a:gd name="connsiteY0" fmla="*/ 0 h 4219575"/>
              <a:gd name="connsiteX1" fmla="*/ 28575 w 8705850"/>
              <a:gd name="connsiteY1" fmla="*/ 47625 h 4219575"/>
              <a:gd name="connsiteX2" fmla="*/ 38100 w 8705850"/>
              <a:gd name="connsiteY2" fmla="*/ 76200 h 4219575"/>
              <a:gd name="connsiteX3" fmla="*/ 95250 w 8705850"/>
              <a:gd name="connsiteY3" fmla="*/ 133350 h 4219575"/>
              <a:gd name="connsiteX4" fmla="*/ 152400 w 8705850"/>
              <a:gd name="connsiteY4" fmla="*/ 171450 h 4219575"/>
              <a:gd name="connsiteX5" fmla="*/ 200025 w 8705850"/>
              <a:gd name="connsiteY5" fmla="*/ 209550 h 4219575"/>
              <a:gd name="connsiteX6" fmla="*/ 285750 w 8705850"/>
              <a:gd name="connsiteY6" fmla="*/ 257175 h 4219575"/>
              <a:gd name="connsiteX7" fmla="*/ 352425 w 8705850"/>
              <a:gd name="connsiteY7" fmla="*/ 276225 h 4219575"/>
              <a:gd name="connsiteX8" fmla="*/ 409575 w 8705850"/>
              <a:gd name="connsiteY8" fmla="*/ 314325 h 4219575"/>
              <a:gd name="connsiteX9" fmla="*/ 438150 w 8705850"/>
              <a:gd name="connsiteY9" fmla="*/ 333375 h 4219575"/>
              <a:gd name="connsiteX10" fmla="*/ 504825 w 8705850"/>
              <a:gd name="connsiteY10" fmla="*/ 361950 h 4219575"/>
              <a:gd name="connsiteX11" fmla="*/ 581025 w 8705850"/>
              <a:gd name="connsiteY11" fmla="*/ 390525 h 4219575"/>
              <a:gd name="connsiteX12" fmla="*/ 676275 w 8705850"/>
              <a:gd name="connsiteY12" fmla="*/ 447675 h 4219575"/>
              <a:gd name="connsiteX13" fmla="*/ 762000 w 8705850"/>
              <a:gd name="connsiteY13" fmla="*/ 485775 h 4219575"/>
              <a:gd name="connsiteX14" fmla="*/ 809625 w 8705850"/>
              <a:gd name="connsiteY14" fmla="*/ 523875 h 4219575"/>
              <a:gd name="connsiteX15" fmla="*/ 838200 w 8705850"/>
              <a:gd name="connsiteY15" fmla="*/ 552450 h 4219575"/>
              <a:gd name="connsiteX16" fmla="*/ 866775 w 8705850"/>
              <a:gd name="connsiteY16" fmla="*/ 561975 h 4219575"/>
              <a:gd name="connsiteX17" fmla="*/ 923925 w 8705850"/>
              <a:gd name="connsiteY17" fmla="*/ 600075 h 4219575"/>
              <a:gd name="connsiteX18" fmla="*/ 952500 w 8705850"/>
              <a:gd name="connsiteY18" fmla="*/ 619125 h 4219575"/>
              <a:gd name="connsiteX19" fmla="*/ 1000125 w 8705850"/>
              <a:gd name="connsiteY19" fmla="*/ 657225 h 4219575"/>
              <a:gd name="connsiteX20" fmla="*/ 1057275 w 8705850"/>
              <a:gd name="connsiteY20" fmla="*/ 714375 h 4219575"/>
              <a:gd name="connsiteX21" fmla="*/ 1152525 w 8705850"/>
              <a:gd name="connsiteY21" fmla="*/ 742950 h 4219575"/>
              <a:gd name="connsiteX22" fmla="*/ 1181100 w 8705850"/>
              <a:gd name="connsiteY22" fmla="*/ 762000 h 4219575"/>
              <a:gd name="connsiteX23" fmla="*/ 1200150 w 8705850"/>
              <a:gd name="connsiteY23" fmla="*/ 790575 h 4219575"/>
              <a:gd name="connsiteX24" fmla="*/ 1238250 w 8705850"/>
              <a:gd name="connsiteY24" fmla="*/ 800100 h 4219575"/>
              <a:gd name="connsiteX25" fmla="*/ 1266825 w 8705850"/>
              <a:gd name="connsiteY25" fmla="*/ 819150 h 4219575"/>
              <a:gd name="connsiteX26" fmla="*/ 1295400 w 8705850"/>
              <a:gd name="connsiteY26" fmla="*/ 847725 h 4219575"/>
              <a:gd name="connsiteX27" fmla="*/ 1314450 w 8705850"/>
              <a:gd name="connsiteY27" fmla="*/ 876300 h 4219575"/>
              <a:gd name="connsiteX28" fmla="*/ 1343025 w 8705850"/>
              <a:gd name="connsiteY28" fmla="*/ 885825 h 4219575"/>
              <a:gd name="connsiteX29" fmla="*/ 1371600 w 8705850"/>
              <a:gd name="connsiteY29" fmla="*/ 914400 h 4219575"/>
              <a:gd name="connsiteX30" fmla="*/ 1381125 w 8705850"/>
              <a:gd name="connsiteY30" fmla="*/ 942975 h 4219575"/>
              <a:gd name="connsiteX31" fmla="*/ 1409700 w 8705850"/>
              <a:gd name="connsiteY31" fmla="*/ 962025 h 4219575"/>
              <a:gd name="connsiteX32" fmla="*/ 1438275 w 8705850"/>
              <a:gd name="connsiteY32" fmla="*/ 990600 h 4219575"/>
              <a:gd name="connsiteX33" fmla="*/ 1447800 w 8705850"/>
              <a:gd name="connsiteY33" fmla="*/ 1019175 h 4219575"/>
              <a:gd name="connsiteX34" fmla="*/ 1485900 w 8705850"/>
              <a:gd name="connsiteY34" fmla="*/ 1076325 h 4219575"/>
              <a:gd name="connsiteX35" fmla="*/ 1524000 w 8705850"/>
              <a:gd name="connsiteY35" fmla="*/ 1190625 h 4219575"/>
              <a:gd name="connsiteX36" fmla="*/ 1533525 w 8705850"/>
              <a:gd name="connsiteY36" fmla="*/ 1219200 h 4219575"/>
              <a:gd name="connsiteX37" fmla="*/ 1552575 w 8705850"/>
              <a:gd name="connsiteY37" fmla="*/ 1247775 h 4219575"/>
              <a:gd name="connsiteX38" fmla="*/ 1562100 w 8705850"/>
              <a:gd name="connsiteY38" fmla="*/ 1276350 h 4219575"/>
              <a:gd name="connsiteX39" fmla="*/ 1609725 w 8705850"/>
              <a:gd name="connsiteY39" fmla="*/ 1343025 h 4219575"/>
              <a:gd name="connsiteX40" fmla="*/ 1647825 w 8705850"/>
              <a:gd name="connsiteY40" fmla="*/ 1400175 h 4219575"/>
              <a:gd name="connsiteX41" fmla="*/ 1666875 w 8705850"/>
              <a:gd name="connsiteY41" fmla="*/ 1428750 h 4219575"/>
              <a:gd name="connsiteX42" fmla="*/ 1676400 w 8705850"/>
              <a:gd name="connsiteY42" fmla="*/ 1485900 h 4219575"/>
              <a:gd name="connsiteX43" fmla="*/ 1685925 w 8705850"/>
              <a:gd name="connsiteY43" fmla="*/ 1514475 h 4219575"/>
              <a:gd name="connsiteX44" fmla="*/ 1695450 w 8705850"/>
              <a:gd name="connsiteY44" fmla="*/ 1552575 h 4219575"/>
              <a:gd name="connsiteX45" fmla="*/ 1714500 w 8705850"/>
              <a:gd name="connsiteY45" fmla="*/ 1609725 h 4219575"/>
              <a:gd name="connsiteX46" fmla="*/ 1724025 w 8705850"/>
              <a:gd name="connsiteY46" fmla="*/ 1647825 h 4219575"/>
              <a:gd name="connsiteX47" fmla="*/ 1743075 w 8705850"/>
              <a:gd name="connsiteY47" fmla="*/ 1704975 h 4219575"/>
              <a:gd name="connsiteX48" fmla="*/ 1752600 w 8705850"/>
              <a:gd name="connsiteY48" fmla="*/ 1733550 h 4219575"/>
              <a:gd name="connsiteX49" fmla="*/ 1781175 w 8705850"/>
              <a:gd name="connsiteY49" fmla="*/ 1762125 h 4219575"/>
              <a:gd name="connsiteX50" fmla="*/ 1800225 w 8705850"/>
              <a:gd name="connsiteY50" fmla="*/ 1790700 h 4219575"/>
              <a:gd name="connsiteX51" fmla="*/ 1857375 w 8705850"/>
              <a:gd name="connsiteY51" fmla="*/ 1828800 h 4219575"/>
              <a:gd name="connsiteX52" fmla="*/ 1885950 w 8705850"/>
              <a:gd name="connsiteY52" fmla="*/ 1857375 h 4219575"/>
              <a:gd name="connsiteX53" fmla="*/ 1905000 w 8705850"/>
              <a:gd name="connsiteY53" fmla="*/ 1885950 h 4219575"/>
              <a:gd name="connsiteX54" fmla="*/ 1933575 w 8705850"/>
              <a:gd name="connsiteY54" fmla="*/ 1905000 h 4219575"/>
              <a:gd name="connsiteX55" fmla="*/ 2000250 w 8705850"/>
              <a:gd name="connsiteY55" fmla="*/ 1943100 h 4219575"/>
              <a:gd name="connsiteX56" fmla="*/ 2057400 w 8705850"/>
              <a:gd name="connsiteY56" fmla="*/ 2000250 h 4219575"/>
              <a:gd name="connsiteX57" fmla="*/ 2085975 w 8705850"/>
              <a:gd name="connsiteY57" fmla="*/ 2009775 h 4219575"/>
              <a:gd name="connsiteX58" fmla="*/ 2143125 w 8705850"/>
              <a:gd name="connsiteY58" fmla="*/ 2047875 h 4219575"/>
              <a:gd name="connsiteX59" fmla="*/ 2171700 w 8705850"/>
              <a:gd name="connsiteY59" fmla="*/ 2066925 h 4219575"/>
              <a:gd name="connsiteX60" fmla="*/ 2209800 w 8705850"/>
              <a:gd name="connsiteY60" fmla="*/ 2085975 h 4219575"/>
              <a:gd name="connsiteX61" fmla="*/ 2266950 w 8705850"/>
              <a:gd name="connsiteY61" fmla="*/ 2105025 h 4219575"/>
              <a:gd name="connsiteX62" fmla="*/ 2324100 w 8705850"/>
              <a:gd name="connsiteY62" fmla="*/ 2133600 h 4219575"/>
              <a:gd name="connsiteX63" fmla="*/ 2381250 w 8705850"/>
              <a:gd name="connsiteY63" fmla="*/ 2162175 h 4219575"/>
              <a:gd name="connsiteX64" fmla="*/ 2419350 w 8705850"/>
              <a:gd name="connsiteY64" fmla="*/ 2190750 h 4219575"/>
              <a:gd name="connsiteX65" fmla="*/ 2447925 w 8705850"/>
              <a:gd name="connsiteY65" fmla="*/ 2209800 h 4219575"/>
              <a:gd name="connsiteX66" fmla="*/ 2476500 w 8705850"/>
              <a:gd name="connsiteY66" fmla="*/ 2238375 h 4219575"/>
              <a:gd name="connsiteX67" fmla="*/ 2533650 w 8705850"/>
              <a:gd name="connsiteY67" fmla="*/ 2276475 h 4219575"/>
              <a:gd name="connsiteX68" fmla="*/ 2562225 w 8705850"/>
              <a:gd name="connsiteY68" fmla="*/ 2305050 h 4219575"/>
              <a:gd name="connsiteX69" fmla="*/ 2657475 w 8705850"/>
              <a:gd name="connsiteY69" fmla="*/ 2343150 h 4219575"/>
              <a:gd name="connsiteX70" fmla="*/ 2686050 w 8705850"/>
              <a:gd name="connsiteY70" fmla="*/ 2352675 h 4219575"/>
              <a:gd name="connsiteX71" fmla="*/ 2714625 w 8705850"/>
              <a:gd name="connsiteY71" fmla="*/ 2362200 h 4219575"/>
              <a:gd name="connsiteX72" fmla="*/ 2762250 w 8705850"/>
              <a:gd name="connsiteY72" fmla="*/ 2381250 h 4219575"/>
              <a:gd name="connsiteX73" fmla="*/ 2933700 w 8705850"/>
              <a:gd name="connsiteY73" fmla="*/ 2409825 h 4219575"/>
              <a:gd name="connsiteX74" fmla="*/ 3028950 w 8705850"/>
              <a:gd name="connsiteY74" fmla="*/ 2428875 h 4219575"/>
              <a:gd name="connsiteX75" fmla="*/ 3086100 w 8705850"/>
              <a:gd name="connsiteY75" fmla="*/ 2438400 h 4219575"/>
              <a:gd name="connsiteX76" fmla="*/ 3152775 w 8705850"/>
              <a:gd name="connsiteY76" fmla="*/ 2457450 h 4219575"/>
              <a:gd name="connsiteX77" fmla="*/ 3276600 w 8705850"/>
              <a:gd name="connsiteY77" fmla="*/ 2466975 h 4219575"/>
              <a:gd name="connsiteX78" fmla="*/ 3314700 w 8705850"/>
              <a:gd name="connsiteY78" fmla="*/ 2476500 h 4219575"/>
              <a:gd name="connsiteX79" fmla="*/ 3400425 w 8705850"/>
              <a:gd name="connsiteY79" fmla="*/ 2505075 h 4219575"/>
              <a:gd name="connsiteX80" fmla="*/ 3495675 w 8705850"/>
              <a:gd name="connsiteY80" fmla="*/ 2514600 h 4219575"/>
              <a:gd name="connsiteX81" fmla="*/ 3609975 w 8705850"/>
              <a:gd name="connsiteY81" fmla="*/ 2533650 h 4219575"/>
              <a:gd name="connsiteX82" fmla="*/ 3638550 w 8705850"/>
              <a:gd name="connsiteY82" fmla="*/ 2543175 h 4219575"/>
              <a:gd name="connsiteX83" fmla="*/ 3714750 w 8705850"/>
              <a:gd name="connsiteY83" fmla="*/ 2552700 h 4219575"/>
              <a:gd name="connsiteX84" fmla="*/ 3819525 w 8705850"/>
              <a:gd name="connsiteY84" fmla="*/ 2581275 h 4219575"/>
              <a:gd name="connsiteX85" fmla="*/ 3886200 w 8705850"/>
              <a:gd name="connsiteY85" fmla="*/ 2590800 h 4219575"/>
              <a:gd name="connsiteX86" fmla="*/ 3990975 w 8705850"/>
              <a:gd name="connsiteY86" fmla="*/ 2619375 h 4219575"/>
              <a:gd name="connsiteX87" fmla="*/ 4086225 w 8705850"/>
              <a:gd name="connsiteY87" fmla="*/ 2628900 h 4219575"/>
              <a:gd name="connsiteX88" fmla="*/ 4133850 w 8705850"/>
              <a:gd name="connsiteY88" fmla="*/ 2638425 h 4219575"/>
              <a:gd name="connsiteX89" fmla="*/ 4210050 w 8705850"/>
              <a:gd name="connsiteY89" fmla="*/ 2647950 h 4219575"/>
              <a:gd name="connsiteX90" fmla="*/ 4248150 w 8705850"/>
              <a:gd name="connsiteY90" fmla="*/ 2657475 h 4219575"/>
              <a:gd name="connsiteX91" fmla="*/ 4295775 w 8705850"/>
              <a:gd name="connsiteY91" fmla="*/ 2667000 h 4219575"/>
              <a:gd name="connsiteX92" fmla="*/ 4324350 w 8705850"/>
              <a:gd name="connsiteY92" fmla="*/ 2676525 h 4219575"/>
              <a:gd name="connsiteX93" fmla="*/ 4362450 w 8705850"/>
              <a:gd name="connsiteY93" fmla="*/ 2686050 h 4219575"/>
              <a:gd name="connsiteX94" fmla="*/ 4457700 w 8705850"/>
              <a:gd name="connsiteY94" fmla="*/ 2724150 h 4219575"/>
              <a:gd name="connsiteX95" fmla="*/ 4543425 w 8705850"/>
              <a:gd name="connsiteY95" fmla="*/ 2762250 h 4219575"/>
              <a:gd name="connsiteX96" fmla="*/ 4600575 w 8705850"/>
              <a:gd name="connsiteY96" fmla="*/ 2771775 h 4219575"/>
              <a:gd name="connsiteX97" fmla="*/ 4657725 w 8705850"/>
              <a:gd name="connsiteY97" fmla="*/ 2790825 h 4219575"/>
              <a:gd name="connsiteX98" fmla="*/ 4714875 w 8705850"/>
              <a:gd name="connsiteY98" fmla="*/ 2809875 h 4219575"/>
              <a:gd name="connsiteX99" fmla="*/ 4743450 w 8705850"/>
              <a:gd name="connsiteY99" fmla="*/ 2819400 h 4219575"/>
              <a:gd name="connsiteX100" fmla="*/ 4781550 w 8705850"/>
              <a:gd name="connsiteY100" fmla="*/ 2828925 h 4219575"/>
              <a:gd name="connsiteX101" fmla="*/ 4819650 w 8705850"/>
              <a:gd name="connsiteY101" fmla="*/ 2847975 h 4219575"/>
              <a:gd name="connsiteX102" fmla="*/ 4848225 w 8705850"/>
              <a:gd name="connsiteY102" fmla="*/ 2857500 h 4219575"/>
              <a:gd name="connsiteX103" fmla="*/ 4876800 w 8705850"/>
              <a:gd name="connsiteY103" fmla="*/ 2876550 h 4219575"/>
              <a:gd name="connsiteX104" fmla="*/ 4905375 w 8705850"/>
              <a:gd name="connsiteY104" fmla="*/ 2886075 h 4219575"/>
              <a:gd name="connsiteX105" fmla="*/ 5010150 w 8705850"/>
              <a:gd name="connsiteY105" fmla="*/ 2933700 h 4219575"/>
              <a:gd name="connsiteX106" fmla="*/ 5048250 w 8705850"/>
              <a:gd name="connsiteY106" fmla="*/ 2943225 h 4219575"/>
              <a:gd name="connsiteX107" fmla="*/ 5076825 w 8705850"/>
              <a:gd name="connsiteY107" fmla="*/ 2952750 h 4219575"/>
              <a:gd name="connsiteX108" fmla="*/ 5114925 w 8705850"/>
              <a:gd name="connsiteY108" fmla="*/ 2962275 h 4219575"/>
              <a:gd name="connsiteX109" fmla="*/ 5172075 w 8705850"/>
              <a:gd name="connsiteY109" fmla="*/ 2981325 h 4219575"/>
              <a:gd name="connsiteX110" fmla="*/ 5210175 w 8705850"/>
              <a:gd name="connsiteY110" fmla="*/ 2990850 h 4219575"/>
              <a:gd name="connsiteX111" fmla="*/ 5257800 w 8705850"/>
              <a:gd name="connsiteY111" fmla="*/ 3000375 h 4219575"/>
              <a:gd name="connsiteX112" fmla="*/ 5286375 w 8705850"/>
              <a:gd name="connsiteY112" fmla="*/ 3009900 h 4219575"/>
              <a:gd name="connsiteX113" fmla="*/ 5324475 w 8705850"/>
              <a:gd name="connsiteY113" fmla="*/ 3019425 h 4219575"/>
              <a:gd name="connsiteX114" fmla="*/ 5372100 w 8705850"/>
              <a:gd name="connsiteY114" fmla="*/ 3028950 h 4219575"/>
              <a:gd name="connsiteX115" fmla="*/ 5438775 w 8705850"/>
              <a:gd name="connsiteY115" fmla="*/ 3057525 h 4219575"/>
              <a:gd name="connsiteX116" fmla="*/ 5476875 w 8705850"/>
              <a:gd name="connsiteY116" fmla="*/ 3067050 h 4219575"/>
              <a:gd name="connsiteX117" fmla="*/ 5524500 w 8705850"/>
              <a:gd name="connsiteY117" fmla="*/ 3076575 h 4219575"/>
              <a:gd name="connsiteX118" fmla="*/ 5562600 w 8705850"/>
              <a:gd name="connsiteY118" fmla="*/ 3086100 h 4219575"/>
              <a:gd name="connsiteX119" fmla="*/ 5610225 w 8705850"/>
              <a:gd name="connsiteY119" fmla="*/ 3095625 h 4219575"/>
              <a:gd name="connsiteX120" fmla="*/ 5648325 w 8705850"/>
              <a:gd name="connsiteY120" fmla="*/ 3105150 h 4219575"/>
              <a:gd name="connsiteX121" fmla="*/ 5724525 w 8705850"/>
              <a:gd name="connsiteY121" fmla="*/ 3114675 h 4219575"/>
              <a:gd name="connsiteX122" fmla="*/ 5810250 w 8705850"/>
              <a:gd name="connsiteY122" fmla="*/ 3133725 h 4219575"/>
              <a:gd name="connsiteX123" fmla="*/ 5838825 w 8705850"/>
              <a:gd name="connsiteY123" fmla="*/ 3143250 h 4219575"/>
              <a:gd name="connsiteX124" fmla="*/ 5876925 w 8705850"/>
              <a:gd name="connsiteY124" fmla="*/ 3162300 h 4219575"/>
              <a:gd name="connsiteX125" fmla="*/ 5924550 w 8705850"/>
              <a:gd name="connsiteY125" fmla="*/ 3171825 h 4219575"/>
              <a:gd name="connsiteX126" fmla="*/ 6000750 w 8705850"/>
              <a:gd name="connsiteY126" fmla="*/ 3200400 h 4219575"/>
              <a:gd name="connsiteX127" fmla="*/ 6057900 w 8705850"/>
              <a:gd name="connsiteY127" fmla="*/ 3238500 h 4219575"/>
              <a:gd name="connsiteX128" fmla="*/ 6086475 w 8705850"/>
              <a:gd name="connsiteY128" fmla="*/ 3257550 h 4219575"/>
              <a:gd name="connsiteX129" fmla="*/ 6153150 w 8705850"/>
              <a:gd name="connsiteY129" fmla="*/ 3276600 h 4219575"/>
              <a:gd name="connsiteX130" fmla="*/ 6210300 w 8705850"/>
              <a:gd name="connsiteY130" fmla="*/ 3295650 h 4219575"/>
              <a:gd name="connsiteX131" fmla="*/ 6267450 w 8705850"/>
              <a:gd name="connsiteY131" fmla="*/ 3305175 h 4219575"/>
              <a:gd name="connsiteX132" fmla="*/ 6296025 w 8705850"/>
              <a:gd name="connsiteY132" fmla="*/ 3314700 h 4219575"/>
              <a:gd name="connsiteX133" fmla="*/ 6334125 w 8705850"/>
              <a:gd name="connsiteY133" fmla="*/ 3324225 h 4219575"/>
              <a:gd name="connsiteX134" fmla="*/ 6457950 w 8705850"/>
              <a:gd name="connsiteY134" fmla="*/ 3343275 h 4219575"/>
              <a:gd name="connsiteX135" fmla="*/ 6562725 w 8705850"/>
              <a:gd name="connsiteY135" fmla="*/ 3362325 h 4219575"/>
              <a:gd name="connsiteX136" fmla="*/ 6619875 w 8705850"/>
              <a:gd name="connsiteY136" fmla="*/ 3371850 h 4219575"/>
              <a:gd name="connsiteX137" fmla="*/ 6715125 w 8705850"/>
              <a:gd name="connsiteY137" fmla="*/ 3419475 h 4219575"/>
              <a:gd name="connsiteX138" fmla="*/ 6829425 w 8705850"/>
              <a:gd name="connsiteY138" fmla="*/ 3467100 h 4219575"/>
              <a:gd name="connsiteX139" fmla="*/ 6858000 w 8705850"/>
              <a:gd name="connsiteY139" fmla="*/ 3486150 h 4219575"/>
              <a:gd name="connsiteX140" fmla="*/ 6886575 w 8705850"/>
              <a:gd name="connsiteY140" fmla="*/ 3495675 h 4219575"/>
              <a:gd name="connsiteX141" fmla="*/ 6924675 w 8705850"/>
              <a:gd name="connsiteY141" fmla="*/ 3514725 h 4219575"/>
              <a:gd name="connsiteX142" fmla="*/ 6953250 w 8705850"/>
              <a:gd name="connsiteY142" fmla="*/ 3524250 h 4219575"/>
              <a:gd name="connsiteX143" fmla="*/ 7029450 w 8705850"/>
              <a:gd name="connsiteY143" fmla="*/ 3552825 h 4219575"/>
              <a:gd name="connsiteX144" fmla="*/ 7115175 w 8705850"/>
              <a:gd name="connsiteY144" fmla="*/ 3590925 h 4219575"/>
              <a:gd name="connsiteX145" fmla="*/ 7153275 w 8705850"/>
              <a:gd name="connsiteY145" fmla="*/ 3609975 h 4219575"/>
              <a:gd name="connsiteX146" fmla="*/ 7181850 w 8705850"/>
              <a:gd name="connsiteY146" fmla="*/ 3629025 h 4219575"/>
              <a:gd name="connsiteX147" fmla="*/ 7229475 w 8705850"/>
              <a:gd name="connsiteY147" fmla="*/ 3638550 h 4219575"/>
              <a:gd name="connsiteX148" fmla="*/ 7286625 w 8705850"/>
              <a:gd name="connsiteY148" fmla="*/ 3676650 h 4219575"/>
              <a:gd name="connsiteX149" fmla="*/ 7315200 w 8705850"/>
              <a:gd name="connsiteY149" fmla="*/ 3686175 h 4219575"/>
              <a:gd name="connsiteX150" fmla="*/ 7362825 w 8705850"/>
              <a:gd name="connsiteY150" fmla="*/ 3705225 h 4219575"/>
              <a:gd name="connsiteX151" fmla="*/ 7410450 w 8705850"/>
              <a:gd name="connsiteY151" fmla="*/ 3714750 h 4219575"/>
              <a:gd name="connsiteX152" fmla="*/ 7467600 w 8705850"/>
              <a:gd name="connsiteY152" fmla="*/ 3733800 h 4219575"/>
              <a:gd name="connsiteX153" fmla="*/ 7553325 w 8705850"/>
              <a:gd name="connsiteY153" fmla="*/ 3743325 h 4219575"/>
              <a:gd name="connsiteX154" fmla="*/ 7658100 w 8705850"/>
              <a:gd name="connsiteY154" fmla="*/ 3771900 h 4219575"/>
              <a:gd name="connsiteX155" fmla="*/ 7715250 w 8705850"/>
              <a:gd name="connsiteY155" fmla="*/ 3790950 h 4219575"/>
              <a:gd name="connsiteX156" fmla="*/ 7753350 w 8705850"/>
              <a:gd name="connsiteY156" fmla="*/ 3800475 h 4219575"/>
              <a:gd name="connsiteX157" fmla="*/ 7829550 w 8705850"/>
              <a:gd name="connsiteY157" fmla="*/ 3838575 h 4219575"/>
              <a:gd name="connsiteX158" fmla="*/ 7905750 w 8705850"/>
              <a:gd name="connsiteY158" fmla="*/ 3886200 h 4219575"/>
              <a:gd name="connsiteX159" fmla="*/ 7943850 w 8705850"/>
              <a:gd name="connsiteY159" fmla="*/ 3895725 h 4219575"/>
              <a:gd name="connsiteX160" fmla="*/ 7981950 w 8705850"/>
              <a:gd name="connsiteY160" fmla="*/ 3914775 h 4219575"/>
              <a:gd name="connsiteX161" fmla="*/ 8020050 w 8705850"/>
              <a:gd name="connsiteY161" fmla="*/ 3924300 h 4219575"/>
              <a:gd name="connsiteX162" fmla="*/ 8048625 w 8705850"/>
              <a:gd name="connsiteY162" fmla="*/ 3933825 h 4219575"/>
              <a:gd name="connsiteX163" fmla="*/ 8077200 w 8705850"/>
              <a:gd name="connsiteY163" fmla="*/ 3962400 h 4219575"/>
              <a:gd name="connsiteX164" fmla="*/ 8115300 w 8705850"/>
              <a:gd name="connsiteY164" fmla="*/ 3971925 h 4219575"/>
              <a:gd name="connsiteX165" fmla="*/ 8143875 w 8705850"/>
              <a:gd name="connsiteY165" fmla="*/ 3990975 h 4219575"/>
              <a:gd name="connsiteX166" fmla="*/ 8201025 w 8705850"/>
              <a:gd name="connsiteY166" fmla="*/ 4010025 h 4219575"/>
              <a:gd name="connsiteX167" fmla="*/ 8239125 w 8705850"/>
              <a:gd name="connsiteY167" fmla="*/ 4029075 h 4219575"/>
              <a:gd name="connsiteX168" fmla="*/ 8296275 w 8705850"/>
              <a:gd name="connsiteY168" fmla="*/ 4048125 h 4219575"/>
              <a:gd name="connsiteX169" fmla="*/ 8362950 w 8705850"/>
              <a:gd name="connsiteY169" fmla="*/ 4076700 h 4219575"/>
              <a:gd name="connsiteX170" fmla="*/ 8401050 w 8705850"/>
              <a:gd name="connsiteY170" fmla="*/ 4095750 h 4219575"/>
              <a:gd name="connsiteX171" fmla="*/ 8505825 w 8705850"/>
              <a:gd name="connsiteY171" fmla="*/ 4124325 h 4219575"/>
              <a:gd name="connsiteX172" fmla="*/ 8572500 w 8705850"/>
              <a:gd name="connsiteY172" fmla="*/ 4162425 h 4219575"/>
              <a:gd name="connsiteX173" fmla="*/ 8629650 w 8705850"/>
              <a:gd name="connsiteY173" fmla="*/ 4171950 h 4219575"/>
              <a:gd name="connsiteX174" fmla="*/ 8658225 w 8705850"/>
              <a:gd name="connsiteY174" fmla="*/ 4181475 h 4219575"/>
              <a:gd name="connsiteX175" fmla="*/ 8696325 w 8705850"/>
              <a:gd name="connsiteY175" fmla="*/ 4191000 h 4219575"/>
              <a:gd name="connsiteX176" fmla="*/ 8705850 w 8705850"/>
              <a:gd name="connsiteY176" fmla="*/ 4219575 h 421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Lst>
            <a:rect l="l" t="t" r="r" b="b"/>
            <a:pathLst>
              <a:path w="8705850" h="4219575">
                <a:moveTo>
                  <a:pt x="0" y="0"/>
                </a:moveTo>
                <a:cubicBezTo>
                  <a:pt x="9525" y="15875"/>
                  <a:pt x="20296" y="31066"/>
                  <a:pt x="28575" y="47625"/>
                </a:cubicBezTo>
                <a:cubicBezTo>
                  <a:pt x="33065" y="56605"/>
                  <a:pt x="31936" y="68275"/>
                  <a:pt x="38100" y="76200"/>
                </a:cubicBezTo>
                <a:cubicBezTo>
                  <a:pt x="54640" y="97466"/>
                  <a:pt x="76200" y="114300"/>
                  <a:pt x="95250" y="133350"/>
                </a:cubicBezTo>
                <a:cubicBezTo>
                  <a:pt x="130925" y="169025"/>
                  <a:pt x="111046" y="157665"/>
                  <a:pt x="152400" y="171450"/>
                </a:cubicBezTo>
                <a:cubicBezTo>
                  <a:pt x="187599" y="224248"/>
                  <a:pt x="151311" y="182487"/>
                  <a:pt x="200025" y="209550"/>
                </a:cubicBezTo>
                <a:cubicBezTo>
                  <a:pt x="272262" y="249681"/>
                  <a:pt x="232502" y="241961"/>
                  <a:pt x="285750" y="257175"/>
                </a:cubicBezTo>
                <a:cubicBezTo>
                  <a:pt x="295905" y="260076"/>
                  <a:pt x="340334" y="269508"/>
                  <a:pt x="352425" y="276225"/>
                </a:cubicBezTo>
                <a:cubicBezTo>
                  <a:pt x="372439" y="287344"/>
                  <a:pt x="390525" y="301625"/>
                  <a:pt x="409575" y="314325"/>
                </a:cubicBezTo>
                <a:cubicBezTo>
                  <a:pt x="419100" y="320675"/>
                  <a:pt x="427911" y="328255"/>
                  <a:pt x="438150" y="333375"/>
                </a:cubicBezTo>
                <a:cubicBezTo>
                  <a:pt x="564512" y="396556"/>
                  <a:pt x="406719" y="319905"/>
                  <a:pt x="504825" y="361950"/>
                </a:cubicBezTo>
                <a:cubicBezTo>
                  <a:pt x="574557" y="391835"/>
                  <a:pt x="510781" y="372964"/>
                  <a:pt x="581025" y="390525"/>
                </a:cubicBezTo>
                <a:cubicBezTo>
                  <a:pt x="614569" y="412888"/>
                  <a:pt x="639664" y="433030"/>
                  <a:pt x="676275" y="447675"/>
                </a:cubicBezTo>
                <a:cubicBezTo>
                  <a:pt x="761288" y="481680"/>
                  <a:pt x="707024" y="449124"/>
                  <a:pt x="762000" y="485775"/>
                </a:cubicBezTo>
                <a:cubicBezTo>
                  <a:pt x="804605" y="549682"/>
                  <a:pt x="754416" y="487069"/>
                  <a:pt x="809625" y="523875"/>
                </a:cubicBezTo>
                <a:cubicBezTo>
                  <a:pt x="820833" y="531347"/>
                  <a:pt x="826992" y="544978"/>
                  <a:pt x="838200" y="552450"/>
                </a:cubicBezTo>
                <a:cubicBezTo>
                  <a:pt x="846554" y="558019"/>
                  <a:pt x="857998" y="557099"/>
                  <a:pt x="866775" y="561975"/>
                </a:cubicBezTo>
                <a:cubicBezTo>
                  <a:pt x="886789" y="573094"/>
                  <a:pt x="904875" y="587375"/>
                  <a:pt x="923925" y="600075"/>
                </a:cubicBezTo>
                <a:lnTo>
                  <a:pt x="952500" y="619125"/>
                </a:lnTo>
                <a:cubicBezTo>
                  <a:pt x="1004789" y="697558"/>
                  <a:pt x="936422" y="607678"/>
                  <a:pt x="1000125" y="657225"/>
                </a:cubicBezTo>
                <a:cubicBezTo>
                  <a:pt x="1021391" y="673765"/>
                  <a:pt x="1031139" y="707841"/>
                  <a:pt x="1057275" y="714375"/>
                </a:cubicBezTo>
                <a:cubicBezTo>
                  <a:pt x="1088940" y="722291"/>
                  <a:pt x="1122710" y="729699"/>
                  <a:pt x="1152525" y="742950"/>
                </a:cubicBezTo>
                <a:cubicBezTo>
                  <a:pt x="1162986" y="747599"/>
                  <a:pt x="1171575" y="755650"/>
                  <a:pt x="1181100" y="762000"/>
                </a:cubicBezTo>
                <a:cubicBezTo>
                  <a:pt x="1187450" y="771525"/>
                  <a:pt x="1190625" y="784225"/>
                  <a:pt x="1200150" y="790575"/>
                </a:cubicBezTo>
                <a:cubicBezTo>
                  <a:pt x="1211042" y="797837"/>
                  <a:pt x="1226218" y="794943"/>
                  <a:pt x="1238250" y="800100"/>
                </a:cubicBezTo>
                <a:cubicBezTo>
                  <a:pt x="1248772" y="804609"/>
                  <a:pt x="1258031" y="811821"/>
                  <a:pt x="1266825" y="819150"/>
                </a:cubicBezTo>
                <a:cubicBezTo>
                  <a:pt x="1277173" y="827774"/>
                  <a:pt x="1286776" y="837377"/>
                  <a:pt x="1295400" y="847725"/>
                </a:cubicBezTo>
                <a:cubicBezTo>
                  <a:pt x="1302729" y="856519"/>
                  <a:pt x="1305511" y="869149"/>
                  <a:pt x="1314450" y="876300"/>
                </a:cubicBezTo>
                <a:cubicBezTo>
                  <a:pt x="1322290" y="882572"/>
                  <a:pt x="1333500" y="882650"/>
                  <a:pt x="1343025" y="885825"/>
                </a:cubicBezTo>
                <a:cubicBezTo>
                  <a:pt x="1352550" y="895350"/>
                  <a:pt x="1364128" y="903192"/>
                  <a:pt x="1371600" y="914400"/>
                </a:cubicBezTo>
                <a:cubicBezTo>
                  <a:pt x="1377169" y="922754"/>
                  <a:pt x="1374853" y="935135"/>
                  <a:pt x="1381125" y="942975"/>
                </a:cubicBezTo>
                <a:cubicBezTo>
                  <a:pt x="1388276" y="951914"/>
                  <a:pt x="1400906" y="954696"/>
                  <a:pt x="1409700" y="962025"/>
                </a:cubicBezTo>
                <a:cubicBezTo>
                  <a:pt x="1420048" y="970649"/>
                  <a:pt x="1428750" y="981075"/>
                  <a:pt x="1438275" y="990600"/>
                </a:cubicBezTo>
                <a:cubicBezTo>
                  <a:pt x="1441450" y="1000125"/>
                  <a:pt x="1442924" y="1010398"/>
                  <a:pt x="1447800" y="1019175"/>
                </a:cubicBezTo>
                <a:cubicBezTo>
                  <a:pt x="1458919" y="1039189"/>
                  <a:pt x="1478660" y="1054605"/>
                  <a:pt x="1485900" y="1076325"/>
                </a:cubicBezTo>
                <a:lnTo>
                  <a:pt x="1524000" y="1190625"/>
                </a:lnTo>
                <a:cubicBezTo>
                  <a:pt x="1527175" y="1200150"/>
                  <a:pt x="1527956" y="1210846"/>
                  <a:pt x="1533525" y="1219200"/>
                </a:cubicBezTo>
                <a:cubicBezTo>
                  <a:pt x="1539875" y="1228725"/>
                  <a:pt x="1547455" y="1237536"/>
                  <a:pt x="1552575" y="1247775"/>
                </a:cubicBezTo>
                <a:cubicBezTo>
                  <a:pt x="1557065" y="1256755"/>
                  <a:pt x="1557610" y="1267370"/>
                  <a:pt x="1562100" y="1276350"/>
                </a:cubicBezTo>
                <a:cubicBezTo>
                  <a:pt x="1569842" y="1291834"/>
                  <a:pt x="1602175" y="1332239"/>
                  <a:pt x="1609725" y="1343025"/>
                </a:cubicBezTo>
                <a:cubicBezTo>
                  <a:pt x="1622855" y="1361782"/>
                  <a:pt x="1635125" y="1381125"/>
                  <a:pt x="1647825" y="1400175"/>
                </a:cubicBezTo>
                <a:lnTo>
                  <a:pt x="1666875" y="1428750"/>
                </a:lnTo>
                <a:cubicBezTo>
                  <a:pt x="1670050" y="1447800"/>
                  <a:pt x="1672210" y="1467047"/>
                  <a:pt x="1676400" y="1485900"/>
                </a:cubicBezTo>
                <a:cubicBezTo>
                  <a:pt x="1678578" y="1495701"/>
                  <a:pt x="1683167" y="1504821"/>
                  <a:pt x="1685925" y="1514475"/>
                </a:cubicBezTo>
                <a:cubicBezTo>
                  <a:pt x="1689521" y="1527062"/>
                  <a:pt x="1691688" y="1540036"/>
                  <a:pt x="1695450" y="1552575"/>
                </a:cubicBezTo>
                <a:cubicBezTo>
                  <a:pt x="1701220" y="1571809"/>
                  <a:pt x="1709630" y="1590244"/>
                  <a:pt x="1714500" y="1609725"/>
                </a:cubicBezTo>
                <a:cubicBezTo>
                  <a:pt x="1717675" y="1622425"/>
                  <a:pt x="1720263" y="1635286"/>
                  <a:pt x="1724025" y="1647825"/>
                </a:cubicBezTo>
                <a:cubicBezTo>
                  <a:pt x="1729795" y="1667059"/>
                  <a:pt x="1736725" y="1685925"/>
                  <a:pt x="1743075" y="1704975"/>
                </a:cubicBezTo>
                <a:cubicBezTo>
                  <a:pt x="1746250" y="1714500"/>
                  <a:pt x="1745500" y="1726450"/>
                  <a:pt x="1752600" y="1733550"/>
                </a:cubicBezTo>
                <a:cubicBezTo>
                  <a:pt x="1762125" y="1743075"/>
                  <a:pt x="1772551" y="1751777"/>
                  <a:pt x="1781175" y="1762125"/>
                </a:cubicBezTo>
                <a:cubicBezTo>
                  <a:pt x="1788504" y="1770919"/>
                  <a:pt x="1791610" y="1783162"/>
                  <a:pt x="1800225" y="1790700"/>
                </a:cubicBezTo>
                <a:cubicBezTo>
                  <a:pt x="1817455" y="1805777"/>
                  <a:pt x="1841186" y="1812611"/>
                  <a:pt x="1857375" y="1828800"/>
                </a:cubicBezTo>
                <a:cubicBezTo>
                  <a:pt x="1866900" y="1838325"/>
                  <a:pt x="1877326" y="1847027"/>
                  <a:pt x="1885950" y="1857375"/>
                </a:cubicBezTo>
                <a:cubicBezTo>
                  <a:pt x="1893279" y="1866169"/>
                  <a:pt x="1896905" y="1877855"/>
                  <a:pt x="1905000" y="1885950"/>
                </a:cubicBezTo>
                <a:cubicBezTo>
                  <a:pt x="1913095" y="1894045"/>
                  <a:pt x="1924260" y="1898346"/>
                  <a:pt x="1933575" y="1905000"/>
                </a:cubicBezTo>
                <a:cubicBezTo>
                  <a:pt x="1984032" y="1941041"/>
                  <a:pt x="1953879" y="1927643"/>
                  <a:pt x="2000250" y="1943100"/>
                </a:cubicBezTo>
                <a:cubicBezTo>
                  <a:pt x="2019300" y="1962150"/>
                  <a:pt x="2031842" y="1991731"/>
                  <a:pt x="2057400" y="2000250"/>
                </a:cubicBezTo>
                <a:cubicBezTo>
                  <a:pt x="2066925" y="2003425"/>
                  <a:pt x="2077198" y="2004899"/>
                  <a:pt x="2085975" y="2009775"/>
                </a:cubicBezTo>
                <a:cubicBezTo>
                  <a:pt x="2105989" y="2020894"/>
                  <a:pt x="2124075" y="2035175"/>
                  <a:pt x="2143125" y="2047875"/>
                </a:cubicBezTo>
                <a:cubicBezTo>
                  <a:pt x="2152650" y="2054225"/>
                  <a:pt x="2161461" y="2061805"/>
                  <a:pt x="2171700" y="2066925"/>
                </a:cubicBezTo>
                <a:cubicBezTo>
                  <a:pt x="2184400" y="2073275"/>
                  <a:pt x="2196617" y="2080702"/>
                  <a:pt x="2209800" y="2085975"/>
                </a:cubicBezTo>
                <a:cubicBezTo>
                  <a:pt x="2228444" y="2093433"/>
                  <a:pt x="2250242" y="2093886"/>
                  <a:pt x="2266950" y="2105025"/>
                </a:cubicBezTo>
                <a:cubicBezTo>
                  <a:pt x="2348842" y="2159620"/>
                  <a:pt x="2245230" y="2094165"/>
                  <a:pt x="2324100" y="2133600"/>
                </a:cubicBezTo>
                <a:cubicBezTo>
                  <a:pt x="2397958" y="2170529"/>
                  <a:pt x="2309426" y="2138234"/>
                  <a:pt x="2381250" y="2162175"/>
                </a:cubicBezTo>
                <a:cubicBezTo>
                  <a:pt x="2393950" y="2171700"/>
                  <a:pt x="2406432" y="2181523"/>
                  <a:pt x="2419350" y="2190750"/>
                </a:cubicBezTo>
                <a:cubicBezTo>
                  <a:pt x="2428665" y="2197404"/>
                  <a:pt x="2439131" y="2202471"/>
                  <a:pt x="2447925" y="2209800"/>
                </a:cubicBezTo>
                <a:cubicBezTo>
                  <a:pt x="2458273" y="2218424"/>
                  <a:pt x="2465867" y="2230105"/>
                  <a:pt x="2476500" y="2238375"/>
                </a:cubicBezTo>
                <a:cubicBezTo>
                  <a:pt x="2494572" y="2252431"/>
                  <a:pt x="2517461" y="2260286"/>
                  <a:pt x="2533650" y="2276475"/>
                </a:cubicBezTo>
                <a:cubicBezTo>
                  <a:pt x="2543175" y="2286000"/>
                  <a:pt x="2551264" y="2297220"/>
                  <a:pt x="2562225" y="2305050"/>
                </a:cubicBezTo>
                <a:cubicBezTo>
                  <a:pt x="2586751" y="2322569"/>
                  <a:pt x="2631450" y="2334475"/>
                  <a:pt x="2657475" y="2343150"/>
                </a:cubicBezTo>
                <a:lnTo>
                  <a:pt x="2686050" y="2352675"/>
                </a:lnTo>
                <a:cubicBezTo>
                  <a:pt x="2695575" y="2355850"/>
                  <a:pt x="2705303" y="2358471"/>
                  <a:pt x="2714625" y="2362200"/>
                </a:cubicBezTo>
                <a:cubicBezTo>
                  <a:pt x="2730500" y="2368550"/>
                  <a:pt x="2745729" y="2376845"/>
                  <a:pt x="2762250" y="2381250"/>
                </a:cubicBezTo>
                <a:cubicBezTo>
                  <a:pt x="2859461" y="2407173"/>
                  <a:pt x="2843665" y="2394819"/>
                  <a:pt x="2933700" y="2409825"/>
                </a:cubicBezTo>
                <a:cubicBezTo>
                  <a:pt x="2965638" y="2415148"/>
                  <a:pt x="2997012" y="2423552"/>
                  <a:pt x="3028950" y="2428875"/>
                </a:cubicBezTo>
                <a:cubicBezTo>
                  <a:pt x="3048000" y="2432050"/>
                  <a:pt x="3067247" y="2434210"/>
                  <a:pt x="3086100" y="2438400"/>
                </a:cubicBezTo>
                <a:cubicBezTo>
                  <a:pt x="3124212" y="2446869"/>
                  <a:pt x="3108692" y="2452264"/>
                  <a:pt x="3152775" y="2457450"/>
                </a:cubicBezTo>
                <a:cubicBezTo>
                  <a:pt x="3193888" y="2462287"/>
                  <a:pt x="3235325" y="2463800"/>
                  <a:pt x="3276600" y="2466975"/>
                </a:cubicBezTo>
                <a:cubicBezTo>
                  <a:pt x="3289300" y="2470150"/>
                  <a:pt x="3302281" y="2472360"/>
                  <a:pt x="3314700" y="2476500"/>
                </a:cubicBezTo>
                <a:cubicBezTo>
                  <a:pt x="3355225" y="2490008"/>
                  <a:pt x="3360480" y="2499369"/>
                  <a:pt x="3400425" y="2505075"/>
                </a:cubicBezTo>
                <a:cubicBezTo>
                  <a:pt x="3432013" y="2509588"/>
                  <a:pt x="3464059" y="2510289"/>
                  <a:pt x="3495675" y="2514600"/>
                </a:cubicBezTo>
                <a:cubicBezTo>
                  <a:pt x="3533946" y="2519819"/>
                  <a:pt x="3573332" y="2521436"/>
                  <a:pt x="3609975" y="2533650"/>
                </a:cubicBezTo>
                <a:cubicBezTo>
                  <a:pt x="3619500" y="2536825"/>
                  <a:pt x="3628672" y="2541379"/>
                  <a:pt x="3638550" y="2543175"/>
                </a:cubicBezTo>
                <a:cubicBezTo>
                  <a:pt x="3663735" y="2547754"/>
                  <a:pt x="3689450" y="2548808"/>
                  <a:pt x="3714750" y="2552700"/>
                </a:cubicBezTo>
                <a:cubicBezTo>
                  <a:pt x="3819621" y="2568834"/>
                  <a:pt x="3700435" y="2553793"/>
                  <a:pt x="3819525" y="2581275"/>
                </a:cubicBezTo>
                <a:cubicBezTo>
                  <a:pt x="3841401" y="2586323"/>
                  <a:pt x="3863975" y="2587625"/>
                  <a:pt x="3886200" y="2590800"/>
                </a:cubicBezTo>
                <a:cubicBezTo>
                  <a:pt x="3918427" y="2601542"/>
                  <a:pt x="3960282" y="2616306"/>
                  <a:pt x="3990975" y="2619375"/>
                </a:cubicBezTo>
                <a:cubicBezTo>
                  <a:pt x="4022725" y="2622550"/>
                  <a:pt x="4054597" y="2624683"/>
                  <a:pt x="4086225" y="2628900"/>
                </a:cubicBezTo>
                <a:cubicBezTo>
                  <a:pt x="4102272" y="2631040"/>
                  <a:pt x="4117849" y="2635963"/>
                  <a:pt x="4133850" y="2638425"/>
                </a:cubicBezTo>
                <a:cubicBezTo>
                  <a:pt x="4159150" y="2642317"/>
                  <a:pt x="4184801" y="2643742"/>
                  <a:pt x="4210050" y="2647950"/>
                </a:cubicBezTo>
                <a:cubicBezTo>
                  <a:pt x="4222963" y="2650102"/>
                  <a:pt x="4235371" y="2654635"/>
                  <a:pt x="4248150" y="2657475"/>
                </a:cubicBezTo>
                <a:cubicBezTo>
                  <a:pt x="4263954" y="2660987"/>
                  <a:pt x="4280069" y="2663073"/>
                  <a:pt x="4295775" y="2667000"/>
                </a:cubicBezTo>
                <a:cubicBezTo>
                  <a:pt x="4305515" y="2669435"/>
                  <a:pt x="4314696" y="2673767"/>
                  <a:pt x="4324350" y="2676525"/>
                </a:cubicBezTo>
                <a:cubicBezTo>
                  <a:pt x="4336937" y="2680121"/>
                  <a:pt x="4349911" y="2682288"/>
                  <a:pt x="4362450" y="2686050"/>
                </a:cubicBezTo>
                <a:cubicBezTo>
                  <a:pt x="4403534" y="2698375"/>
                  <a:pt x="4422525" y="2704050"/>
                  <a:pt x="4457700" y="2724150"/>
                </a:cubicBezTo>
                <a:cubicBezTo>
                  <a:pt x="4497673" y="2746992"/>
                  <a:pt x="4484729" y="2752467"/>
                  <a:pt x="4543425" y="2762250"/>
                </a:cubicBezTo>
                <a:cubicBezTo>
                  <a:pt x="4562475" y="2765425"/>
                  <a:pt x="4581839" y="2767091"/>
                  <a:pt x="4600575" y="2771775"/>
                </a:cubicBezTo>
                <a:cubicBezTo>
                  <a:pt x="4620056" y="2776645"/>
                  <a:pt x="4638675" y="2784475"/>
                  <a:pt x="4657725" y="2790825"/>
                </a:cubicBezTo>
                <a:lnTo>
                  <a:pt x="4714875" y="2809875"/>
                </a:lnTo>
                <a:cubicBezTo>
                  <a:pt x="4724400" y="2813050"/>
                  <a:pt x="4733710" y="2816965"/>
                  <a:pt x="4743450" y="2819400"/>
                </a:cubicBezTo>
                <a:cubicBezTo>
                  <a:pt x="4756150" y="2822575"/>
                  <a:pt x="4769293" y="2824328"/>
                  <a:pt x="4781550" y="2828925"/>
                </a:cubicBezTo>
                <a:cubicBezTo>
                  <a:pt x="4794845" y="2833911"/>
                  <a:pt x="4806599" y="2842382"/>
                  <a:pt x="4819650" y="2847975"/>
                </a:cubicBezTo>
                <a:cubicBezTo>
                  <a:pt x="4828878" y="2851930"/>
                  <a:pt x="4839245" y="2853010"/>
                  <a:pt x="4848225" y="2857500"/>
                </a:cubicBezTo>
                <a:cubicBezTo>
                  <a:pt x="4858464" y="2862620"/>
                  <a:pt x="4866561" y="2871430"/>
                  <a:pt x="4876800" y="2876550"/>
                </a:cubicBezTo>
                <a:cubicBezTo>
                  <a:pt x="4885780" y="2881040"/>
                  <a:pt x="4896235" y="2881920"/>
                  <a:pt x="4905375" y="2886075"/>
                </a:cubicBezTo>
                <a:cubicBezTo>
                  <a:pt x="4969200" y="2915086"/>
                  <a:pt x="4962184" y="2919996"/>
                  <a:pt x="5010150" y="2933700"/>
                </a:cubicBezTo>
                <a:cubicBezTo>
                  <a:pt x="5022737" y="2937296"/>
                  <a:pt x="5035663" y="2939629"/>
                  <a:pt x="5048250" y="2943225"/>
                </a:cubicBezTo>
                <a:cubicBezTo>
                  <a:pt x="5057904" y="2945983"/>
                  <a:pt x="5067171" y="2949992"/>
                  <a:pt x="5076825" y="2952750"/>
                </a:cubicBezTo>
                <a:cubicBezTo>
                  <a:pt x="5089412" y="2956346"/>
                  <a:pt x="5102386" y="2958513"/>
                  <a:pt x="5114925" y="2962275"/>
                </a:cubicBezTo>
                <a:cubicBezTo>
                  <a:pt x="5134159" y="2968045"/>
                  <a:pt x="5152594" y="2976455"/>
                  <a:pt x="5172075" y="2981325"/>
                </a:cubicBezTo>
                <a:cubicBezTo>
                  <a:pt x="5184775" y="2984500"/>
                  <a:pt x="5197396" y="2988010"/>
                  <a:pt x="5210175" y="2990850"/>
                </a:cubicBezTo>
                <a:cubicBezTo>
                  <a:pt x="5225979" y="2994362"/>
                  <a:pt x="5242094" y="2996448"/>
                  <a:pt x="5257800" y="3000375"/>
                </a:cubicBezTo>
                <a:cubicBezTo>
                  <a:pt x="5267540" y="3002810"/>
                  <a:pt x="5276721" y="3007142"/>
                  <a:pt x="5286375" y="3009900"/>
                </a:cubicBezTo>
                <a:cubicBezTo>
                  <a:pt x="5298962" y="3013496"/>
                  <a:pt x="5311696" y="3016585"/>
                  <a:pt x="5324475" y="3019425"/>
                </a:cubicBezTo>
                <a:cubicBezTo>
                  <a:pt x="5340279" y="3022937"/>
                  <a:pt x="5356394" y="3025023"/>
                  <a:pt x="5372100" y="3028950"/>
                </a:cubicBezTo>
                <a:cubicBezTo>
                  <a:pt x="5419406" y="3040776"/>
                  <a:pt x="5384255" y="3037080"/>
                  <a:pt x="5438775" y="3057525"/>
                </a:cubicBezTo>
                <a:cubicBezTo>
                  <a:pt x="5451032" y="3062122"/>
                  <a:pt x="5464096" y="3064210"/>
                  <a:pt x="5476875" y="3067050"/>
                </a:cubicBezTo>
                <a:cubicBezTo>
                  <a:pt x="5492679" y="3070562"/>
                  <a:pt x="5508696" y="3073063"/>
                  <a:pt x="5524500" y="3076575"/>
                </a:cubicBezTo>
                <a:cubicBezTo>
                  <a:pt x="5537279" y="3079415"/>
                  <a:pt x="5549821" y="3083260"/>
                  <a:pt x="5562600" y="3086100"/>
                </a:cubicBezTo>
                <a:cubicBezTo>
                  <a:pt x="5578404" y="3089612"/>
                  <a:pt x="5594421" y="3092113"/>
                  <a:pt x="5610225" y="3095625"/>
                </a:cubicBezTo>
                <a:cubicBezTo>
                  <a:pt x="5623004" y="3098465"/>
                  <a:pt x="5635412" y="3102998"/>
                  <a:pt x="5648325" y="3105150"/>
                </a:cubicBezTo>
                <a:cubicBezTo>
                  <a:pt x="5673574" y="3109358"/>
                  <a:pt x="5699225" y="3110783"/>
                  <a:pt x="5724525" y="3114675"/>
                </a:cubicBezTo>
                <a:cubicBezTo>
                  <a:pt x="5745803" y="3117949"/>
                  <a:pt x="5788128" y="3127404"/>
                  <a:pt x="5810250" y="3133725"/>
                </a:cubicBezTo>
                <a:cubicBezTo>
                  <a:pt x="5819904" y="3136483"/>
                  <a:pt x="5829597" y="3139295"/>
                  <a:pt x="5838825" y="3143250"/>
                </a:cubicBezTo>
                <a:cubicBezTo>
                  <a:pt x="5851876" y="3148843"/>
                  <a:pt x="5863455" y="3157810"/>
                  <a:pt x="5876925" y="3162300"/>
                </a:cubicBezTo>
                <a:cubicBezTo>
                  <a:pt x="5892284" y="3167420"/>
                  <a:pt x="5908746" y="3168313"/>
                  <a:pt x="5924550" y="3171825"/>
                </a:cubicBezTo>
                <a:cubicBezTo>
                  <a:pt x="5960455" y="3179804"/>
                  <a:pt x="5968263" y="3180908"/>
                  <a:pt x="6000750" y="3200400"/>
                </a:cubicBezTo>
                <a:cubicBezTo>
                  <a:pt x="6020383" y="3212180"/>
                  <a:pt x="6038850" y="3225800"/>
                  <a:pt x="6057900" y="3238500"/>
                </a:cubicBezTo>
                <a:cubicBezTo>
                  <a:pt x="6067425" y="3244850"/>
                  <a:pt x="6075615" y="3253930"/>
                  <a:pt x="6086475" y="3257550"/>
                </a:cubicBezTo>
                <a:cubicBezTo>
                  <a:pt x="6182507" y="3289561"/>
                  <a:pt x="6033549" y="3240720"/>
                  <a:pt x="6153150" y="3276600"/>
                </a:cubicBezTo>
                <a:cubicBezTo>
                  <a:pt x="6172384" y="3282370"/>
                  <a:pt x="6190819" y="3290780"/>
                  <a:pt x="6210300" y="3295650"/>
                </a:cubicBezTo>
                <a:cubicBezTo>
                  <a:pt x="6229036" y="3300334"/>
                  <a:pt x="6248597" y="3300985"/>
                  <a:pt x="6267450" y="3305175"/>
                </a:cubicBezTo>
                <a:cubicBezTo>
                  <a:pt x="6277251" y="3307353"/>
                  <a:pt x="6286371" y="3311942"/>
                  <a:pt x="6296025" y="3314700"/>
                </a:cubicBezTo>
                <a:cubicBezTo>
                  <a:pt x="6308612" y="3318296"/>
                  <a:pt x="6321346" y="3321385"/>
                  <a:pt x="6334125" y="3324225"/>
                </a:cubicBezTo>
                <a:cubicBezTo>
                  <a:pt x="6390228" y="3336692"/>
                  <a:pt x="6391969" y="3335027"/>
                  <a:pt x="6457950" y="3343275"/>
                </a:cubicBezTo>
                <a:cubicBezTo>
                  <a:pt x="6513977" y="3361951"/>
                  <a:pt x="6468485" y="3348862"/>
                  <a:pt x="6562725" y="3362325"/>
                </a:cubicBezTo>
                <a:cubicBezTo>
                  <a:pt x="6581844" y="3365056"/>
                  <a:pt x="6600825" y="3368675"/>
                  <a:pt x="6619875" y="3371850"/>
                </a:cubicBezTo>
                <a:cubicBezTo>
                  <a:pt x="6758239" y="3464092"/>
                  <a:pt x="6614606" y="3377592"/>
                  <a:pt x="6715125" y="3419475"/>
                </a:cubicBezTo>
                <a:cubicBezTo>
                  <a:pt x="6846988" y="3474418"/>
                  <a:pt x="6743513" y="3445622"/>
                  <a:pt x="6829425" y="3467100"/>
                </a:cubicBezTo>
                <a:cubicBezTo>
                  <a:pt x="6838950" y="3473450"/>
                  <a:pt x="6847761" y="3481030"/>
                  <a:pt x="6858000" y="3486150"/>
                </a:cubicBezTo>
                <a:cubicBezTo>
                  <a:pt x="6866980" y="3490640"/>
                  <a:pt x="6877347" y="3491720"/>
                  <a:pt x="6886575" y="3495675"/>
                </a:cubicBezTo>
                <a:cubicBezTo>
                  <a:pt x="6899626" y="3501268"/>
                  <a:pt x="6911624" y="3509132"/>
                  <a:pt x="6924675" y="3514725"/>
                </a:cubicBezTo>
                <a:cubicBezTo>
                  <a:pt x="6933903" y="3518680"/>
                  <a:pt x="6944022" y="3520295"/>
                  <a:pt x="6953250" y="3524250"/>
                </a:cubicBezTo>
                <a:cubicBezTo>
                  <a:pt x="7022982" y="3554135"/>
                  <a:pt x="6959206" y="3535264"/>
                  <a:pt x="7029450" y="3552825"/>
                </a:cubicBezTo>
                <a:cubicBezTo>
                  <a:pt x="7100330" y="3605985"/>
                  <a:pt x="7031762" y="3563121"/>
                  <a:pt x="7115175" y="3590925"/>
                </a:cubicBezTo>
                <a:cubicBezTo>
                  <a:pt x="7128645" y="3595415"/>
                  <a:pt x="7140947" y="3602930"/>
                  <a:pt x="7153275" y="3609975"/>
                </a:cubicBezTo>
                <a:cubicBezTo>
                  <a:pt x="7163214" y="3615655"/>
                  <a:pt x="7171131" y="3625005"/>
                  <a:pt x="7181850" y="3629025"/>
                </a:cubicBezTo>
                <a:cubicBezTo>
                  <a:pt x="7197009" y="3634709"/>
                  <a:pt x="7213600" y="3635375"/>
                  <a:pt x="7229475" y="3638550"/>
                </a:cubicBezTo>
                <a:cubicBezTo>
                  <a:pt x="7248525" y="3651250"/>
                  <a:pt x="7264905" y="3669410"/>
                  <a:pt x="7286625" y="3676650"/>
                </a:cubicBezTo>
                <a:cubicBezTo>
                  <a:pt x="7296150" y="3679825"/>
                  <a:pt x="7305799" y="3682650"/>
                  <a:pt x="7315200" y="3686175"/>
                </a:cubicBezTo>
                <a:cubicBezTo>
                  <a:pt x="7331209" y="3692178"/>
                  <a:pt x="7346448" y="3700312"/>
                  <a:pt x="7362825" y="3705225"/>
                </a:cubicBezTo>
                <a:cubicBezTo>
                  <a:pt x="7378332" y="3709877"/>
                  <a:pt x="7394831" y="3710490"/>
                  <a:pt x="7410450" y="3714750"/>
                </a:cubicBezTo>
                <a:cubicBezTo>
                  <a:pt x="7429823" y="3720034"/>
                  <a:pt x="7447642" y="3731582"/>
                  <a:pt x="7467600" y="3733800"/>
                </a:cubicBezTo>
                <a:lnTo>
                  <a:pt x="7553325" y="3743325"/>
                </a:lnTo>
                <a:cubicBezTo>
                  <a:pt x="7726027" y="3800892"/>
                  <a:pt x="7510006" y="3731511"/>
                  <a:pt x="7658100" y="3771900"/>
                </a:cubicBezTo>
                <a:cubicBezTo>
                  <a:pt x="7677473" y="3777184"/>
                  <a:pt x="7696016" y="3785180"/>
                  <a:pt x="7715250" y="3790950"/>
                </a:cubicBezTo>
                <a:cubicBezTo>
                  <a:pt x="7727789" y="3794712"/>
                  <a:pt x="7740650" y="3797300"/>
                  <a:pt x="7753350" y="3800475"/>
                </a:cubicBezTo>
                <a:cubicBezTo>
                  <a:pt x="7803496" y="3850621"/>
                  <a:pt x="7756549" y="3814241"/>
                  <a:pt x="7829550" y="3838575"/>
                </a:cubicBezTo>
                <a:cubicBezTo>
                  <a:pt x="7895907" y="3860694"/>
                  <a:pt x="7840574" y="3853612"/>
                  <a:pt x="7905750" y="3886200"/>
                </a:cubicBezTo>
                <a:cubicBezTo>
                  <a:pt x="7917459" y="3892054"/>
                  <a:pt x="7931593" y="3891128"/>
                  <a:pt x="7943850" y="3895725"/>
                </a:cubicBezTo>
                <a:cubicBezTo>
                  <a:pt x="7957145" y="3900711"/>
                  <a:pt x="7968655" y="3909789"/>
                  <a:pt x="7981950" y="3914775"/>
                </a:cubicBezTo>
                <a:cubicBezTo>
                  <a:pt x="7994207" y="3919372"/>
                  <a:pt x="8007463" y="3920704"/>
                  <a:pt x="8020050" y="3924300"/>
                </a:cubicBezTo>
                <a:cubicBezTo>
                  <a:pt x="8029704" y="3927058"/>
                  <a:pt x="8039100" y="3930650"/>
                  <a:pt x="8048625" y="3933825"/>
                </a:cubicBezTo>
                <a:cubicBezTo>
                  <a:pt x="8058150" y="3943350"/>
                  <a:pt x="8065504" y="3955717"/>
                  <a:pt x="8077200" y="3962400"/>
                </a:cubicBezTo>
                <a:cubicBezTo>
                  <a:pt x="8088566" y="3968895"/>
                  <a:pt x="8103268" y="3966768"/>
                  <a:pt x="8115300" y="3971925"/>
                </a:cubicBezTo>
                <a:cubicBezTo>
                  <a:pt x="8125822" y="3976434"/>
                  <a:pt x="8133414" y="3986326"/>
                  <a:pt x="8143875" y="3990975"/>
                </a:cubicBezTo>
                <a:cubicBezTo>
                  <a:pt x="8162225" y="3999130"/>
                  <a:pt x="8183064" y="4001045"/>
                  <a:pt x="8201025" y="4010025"/>
                </a:cubicBezTo>
                <a:cubicBezTo>
                  <a:pt x="8213725" y="4016375"/>
                  <a:pt x="8225942" y="4023802"/>
                  <a:pt x="8239125" y="4029075"/>
                </a:cubicBezTo>
                <a:cubicBezTo>
                  <a:pt x="8257769" y="4036533"/>
                  <a:pt x="8278314" y="4039145"/>
                  <a:pt x="8296275" y="4048125"/>
                </a:cubicBezTo>
                <a:cubicBezTo>
                  <a:pt x="8422637" y="4111306"/>
                  <a:pt x="8264844" y="4034655"/>
                  <a:pt x="8362950" y="4076700"/>
                </a:cubicBezTo>
                <a:cubicBezTo>
                  <a:pt x="8376001" y="4082293"/>
                  <a:pt x="8387999" y="4090157"/>
                  <a:pt x="8401050" y="4095750"/>
                </a:cubicBezTo>
                <a:cubicBezTo>
                  <a:pt x="8425976" y="4106433"/>
                  <a:pt x="8494170" y="4121411"/>
                  <a:pt x="8505825" y="4124325"/>
                </a:cubicBezTo>
                <a:cubicBezTo>
                  <a:pt x="8528050" y="4137025"/>
                  <a:pt x="8548609" y="4153236"/>
                  <a:pt x="8572500" y="4162425"/>
                </a:cubicBezTo>
                <a:cubicBezTo>
                  <a:pt x="8590525" y="4169358"/>
                  <a:pt x="8610797" y="4167760"/>
                  <a:pt x="8629650" y="4171950"/>
                </a:cubicBezTo>
                <a:cubicBezTo>
                  <a:pt x="8639451" y="4174128"/>
                  <a:pt x="8648571" y="4178717"/>
                  <a:pt x="8658225" y="4181475"/>
                </a:cubicBezTo>
                <a:cubicBezTo>
                  <a:pt x="8670812" y="4185071"/>
                  <a:pt x="8683625" y="4187825"/>
                  <a:pt x="8696325" y="4191000"/>
                </a:cubicBezTo>
                <a:lnTo>
                  <a:pt x="8705850" y="4219575"/>
                </a:lnTo>
              </a:path>
            </a:pathLst>
          </a:cu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a:extLst>
              <a:ext uri="{FF2B5EF4-FFF2-40B4-BE49-F238E27FC236}">
                <a16:creationId xmlns:a16="http://schemas.microsoft.com/office/drawing/2014/main" id="{868EDA7F-974E-4C80-AAEF-53EB19D7E4B3}"/>
              </a:ext>
            </a:extLst>
          </p:cNvPr>
          <p:cNvCxnSpPr/>
          <p:nvPr/>
        </p:nvCxnSpPr>
        <p:spPr>
          <a:xfrm flipV="1">
            <a:off x="7380312" y="3822948"/>
            <a:ext cx="0" cy="108012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B20AE6A-C9E0-4FF7-A475-90883F17F5FB}"/>
              </a:ext>
            </a:extLst>
          </p:cNvPr>
          <p:cNvCxnSpPr>
            <a:cxnSpLocks/>
          </p:cNvCxnSpPr>
          <p:nvPr/>
        </p:nvCxnSpPr>
        <p:spPr>
          <a:xfrm>
            <a:off x="467544" y="3822948"/>
            <a:ext cx="0" cy="122413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4515226-442D-43F2-A3DE-39B61D5FEDE6}"/>
              </a:ext>
            </a:extLst>
          </p:cNvPr>
          <p:cNvSpPr txBox="1"/>
          <p:nvPr/>
        </p:nvSpPr>
        <p:spPr>
          <a:xfrm>
            <a:off x="67941" y="6303312"/>
            <a:ext cx="8496943" cy="430887"/>
          </a:xfrm>
          <a:prstGeom prst="rect">
            <a:avLst/>
          </a:prstGeom>
          <a:noFill/>
        </p:spPr>
        <p:txBody>
          <a:bodyPr wrap="square" rtlCol="0">
            <a:spAutoFit/>
          </a:bodyPr>
          <a:lstStyle/>
          <a:p>
            <a:pPr>
              <a:spcAft>
                <a:spcPts val="600"/>
              </a:spcAft>
            </a:pPr>
            <a:r>
              <a:rPr lang="en-GB" sz="2200" b="1" dirty="0"/>
              <a:t>Death Valley, California</a:t>
            </a:r>
            <a:endParaRPr lang="en-GB" sz="2200" dirty="0">
              <a:sym typeface="Wingdings" panose="05000000000000000000" pitchFamily="2" charset="2"/>
            </a:endParaRPr>
          </a:p>
        </p:txBody>
      </p:sp>
      <p:sp>
        <p:nvSpPr>
          <p:cNvPr id="12" name="TextBox 11">
            <a:extLst>
              <a:ext uri="{FF2B5EF4-FFF2-40B4-BE49-F238E27FC236}">
                <a16:creationId xmlns:a16="http://schemas.microsoft.com/office/drawing/2014/main" id="{CB384579-E6E7-499E-BB32-C76F23A6845C}"/>
              </a:ext>
            </a:extLst>
          </p:cNvPr>
          <p:cNvSpPr txBox="1"/>
          <p:nvPr/>
        </p:nvSpPr>
        <p:spPr>
          <a:xfrm>
            <a:off x="0" y="5120252"/>
            <a:ext cx="2016224" cy="477054"/>
          </a:xfrm>
          <a:prstGeom prst="rect">
            <a:avLst/>
          </a:prstGeom>
          <a:noFill/>
        </p:spPr>
        <p:txBody>
          <a:bodyPr wrap="square" rtlCol="0">
            <a:spAutoFit/>
          </a:bodyPr>
          <a:lstStyle/>
          <a:p>
            <a:pPr>
              <a:spcAft>
                <a:spcPts val="600"/>
              </a:spcAft>
            </a:pPr>
            <a:r>
              <a:rPr lang="en-GB" sz="2500" b="1" dirty="0">
                <a:solidFill>
                  <a:schemeClr val="bg1"/>
                </a:solidFill>
              </a:rPr>
              <a:t>Subsidence</a:t>
            </a:r>
          </a:p>
        </p:txBody>
      </p:sp>
      <p:sp>
        <p:nvSpPr>
          <p:cNvPr id="13" name="TextBox 12">
            <a:extLst>
              <a:ext uri="{FF2B5EF4-FFF2-40B4-BE49-F238E27FC236}">
                <a16:creationId xmlns:a16="http://schemas.microsoft.com/office/drawing/2014/main" id="{8EF2661E-5D2B-4925-B417-914A1B03D0FD}"/>
              </a:ext>
            </a:extLst>
          </p:cNvPr>
          <p:cNvSpPr txBox="1"/>
          <p:nvPr/>
        </p:nvSpPr>
        <p:spPr>
          <a:xfrm>
            <a:off x="6876256" y="3345894"/>
            <a:ext cx="1184792" cy="477054"/>
          </a:xfrm>
          <a:prstGeom prst="rect">
            <a:avLst/>
          </a:prstGeom>
          <a:noFill/>
        </p:spPr>
        <p:txBody>
          <a:bodyPr wrap="square" rtlCol="0">
            <a:spAutoFit/>
          </a:bodyPr>
          <a:lstStyle/>
          <a:p>
            <a:pPr>
              <a:spcAft>
                <a:spcPts val="600"/>
              </a:spcAft>
            </a:pPr>
            <a:r>
              <a:rPr lang="en-GB" sz="2500" b="1" dirty="0">
                <a:solidFill>
                  <a:schemeClr val="bg1"/>
                </a:solidFill>
              </a:rPr>
              <a:t>Uplift</a:t>
            </a:r>
          </a:p>
        </p:txBody>
      </p:sp>
      <p:sp>
        <p:nvSpPr>
          <p:cNvPr id="14" name="TextBox 13">
            <a:extLst>
              <a:ext uri="{FF2B5EF4-FFF2-40B4-BE49-F238E27FC236}">
                <a16:creationId xmlns:a16="http://schemas.microsoft.com/office/drawing/2014/main" id="{B4DD18D2-DDE3-4F20-82E7-A3B699F867CC}"/>
              </a:ext>
            </a:extLst>
          </p:cNvPr>
          <p:cNvSpPr txBox="1"/>
          <p:nvPr/>
        </p:nvSpPr>
        <p:spPr>
          <a:xfrm>
            <a:off x="5209753" y="1342268"/>
            <a:ext cx="3312368" cy="1323439"/>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500" b="1" dirty="0">
                <a:solidFill>
                  <a:schemeClr val="bg1"/>
                </a:solidFill>
              </a:rPr>
              <a:t>High relief</a:t>
            </a:r>
          </a:p>
          <a:p>
            <a:pPr marL="342900" indent="-342900">
              <a:spcAft>
                <a:spcPts val="600"/>
              </a:spcAft>
              <a:buFont typeface="Arial" panose="020B0604020202020204" pitchFamily="34" charset="0"/>
              <a:buChar char="•"/>
            </a:pPr>
            <a:r>
              <a:rPr lang="en-GB" sz="2500" b="1" dirty="0">
                <a:solidFill>
                  <a:schemeClr val="bg1"/>
                </a:solidFill>
              </a:rPr>
              <a:t>Bedrock and </a:t>
            </a:r>
            <a:r>
              <a:rPr lang="en-GB" sz="2500" b="1" dirty="0" err="1">
                <a:solidFill>
                  <a:schemeClr val="bg1"/>
                </a:solidFill>
              </a:rPr>
              <a:t>regolith</a:t>
            </a:r>
            <a:r>
              <a:rPr lang="en-GB" sz="2500" b="1" dirty="0">
                <a:solidFill>
                  <a:schemeClr val="bg1"/>
                </a:solidFill>
              </a:rPr>
              <a:t> at surface</a:t>
            </a:r>
          </a:p>
        </p:txBody>
      </p:sp>
      <p:sp>
        <p:nvSpPr>
          <p:cNvPr id="15" name="TextBox 14">
            <a:extLst>
              <a:ext uri="{FF2B5EF4-FFF2-40B4-BE49-F238E27FC236}">
                <a16:creationId xmlns:a16="http://schemas.microsoft.com/office/drawing/2014/main" id="{DD8093DC-F8E5-4D09-B972-9F485B0746A4}"/>
              </a:ext>
            </a:extLst>
          </p:cNvPr>
          <p:cNvSpPr txBox="1"/>
          <p:nvPr/>
        </p:nvSpPr>
        <p:spPr>
          <a:xfrm>
            <a:off x="1639686" y="4819231"/>
            <a:ext cx="4183073" cy="1323439"/>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500" b="1" dirty="0">
                <a:solidFill>
                  <a:schemeClr val="bg1"/>
                </a:solidFill>
              </a:rPr>
              <a:t>Low relief</a:t>
            </a:r>
          </a:p>
          <a:p>
            <a:pPr marL="342900" indent="-342900">
              <a:spcAft>
                <a:spcPts val="600"/>
              </a:spcAft>
              <a:buFont typeface="Arial" panose="020B0604020202020204" pitchFamily="34" charset="0"/>
              <a:buChar char="•"/>
            </a:pPr>
            <a:r>
              <a:rPr lang="en-GB" sz="2500" b="1" dirty="0">
                <a:solidFill>
                  <a:schemeClr val="bg1"/>
                </a:solidFill>
              </a:rPr>
              <a:t>Bedrock  buried under thick sediment</a:t>
            </a:r>
          </a:p>
        </p:txBody>
      </p:sp>
      <p:sp>
        <p:nvSpPr>
          <p:cNvPr id="16" name="TextBox 15">
            <a:extLst>
              <a:ext uri="{FF2B5EF4-FFF2-40B4-BE49-F238E27FC236}">
                <a16:creationId xmlns:a16="http://schemas.microsoft.com/office/drawing/2014/main" id="{13A110F7-D3E4-4F75-B39C-80E21CE55C04}"/>
              </a:ext>
            </a:extLst>
          </p:cNvPr>
          <p:cNvSpPr txBox="1"/>
          <p:nvPr/>
        </p:nvSpPr>
        <p:spPr>
          <a:xfrm rot="1089839">
            <a:off x="4409097" y="5228531"/>
            <a:ext cx="4157700" cy="400110"/>
          </a:xfrm>
          <a:prstGeom prst="rect">
            <a:avLst/>
          </a:prstGeom>
          <a:noFill/>
        </p:spPr>
        <p:txBody>
          <a:bodyPr wrap="square" rtlCol="0">
            <a:spAutoFit/>
          </a:bodyPr>
          <a:lstStyle/>
          <a:p>
            <a:pPr>
              <a:spcAft>
                <a:spcPts val="600"/>
              </a:spcAft>
            </a:pPr>
            <a:r>
              <a:rPr lang="en-GB" sz="2000" b="1" dirty="0">
                <a:solidFill>
                  <a:schemeClr val="bg1"/>
                </a:solidFill>
              </a:rPr>
              <a:t>(Normal) fault</a:t>
            </a:r>
          </a:p>
        </p:txBody>
      </p:sp>
    </p:spTree>
    <p:extLst>
      <p:ext uri="{BB962C8B-B14F-4D97-AF65-F5344CB8AC3E}">
        <p14:creationId xmlns:p14="http://schemas.microsoft.com/office/powerpoint/2010/main" val="85748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monument-valley-camping-9campfire"/>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896" y="0"/>
            <a:ext cx="9137104" cy="685282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4">
            <a:extLst>
              <a:ext uri="{FF2B5EF4-FFF2-40B4-BE49-F238E27FC236}">
                <a16:creationId xmlns:a16="http://schemas.microsoft.com/office/drawing/2014/main" id="{229DC45C-1036-4D09-98B4-96AA72E1D51B}"/>
              </a:ext>
            </a:extLst>
          </p:cNvPr>
          <p:cNvSpPr txBox="1">
            <a:spLocks noChangeArrowheads="1"/>
          </p:cNvSpPr>
          <p:nvPr/>
        </p:nvSpPr>
        <p:spPr>
          <a:xfrm>
            <a:off x="107504" y="1916832"/>
            <a:ext cx="8928992" cy="2520280"/>
          </a:xfrm>
          <a:prstGeom prst="rect">
            <a:avLst/>
          </a:prstGeom>
          <a:solidFill>
            <a:schemeClr val="bg1">
              <a:alpha val="60000"/>
            </a:schemeClr>
          </a:solidFill>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800" b="1" i="0" u="none" strike="noStrike" kern="1200" cap="none" spc="0" normalizeH="0" baseline="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EART11100: </a:t>
            </a:r>
            <a:r>
              <a:rPr lang="en-GB" sz="2800" b="1" dirty="0">
                <a:effectLst>
                  <a:outerShdw blurRad="38100" dist="38100" dir="2700000" algn="tl">
                    <a:srgbClr val="000000">
                      <a:alpha val="43137"/>
                    </a:srgbClr>
                  </a:outerShdw>
                </a:effectLst>
                <a:latin typeface="Bookman Old Style" pitchFamily="18" charset="0"/>
                <a:ea typeface="Adobe Fangsong Std R" pitchFamily="18" charset="-128"/>
                <a:cs typeface="+mj-cs"/>
              </a:rPr>
              <a:t>Understanding t</a:t>
            </a:r>
            <a:r>
              <a:rPr kumimoji="0" lang="en-GB" sz="2800" b="1" i="0" u="none" strike="noStrike" kern="1200" cap="none" spc="0" normalizeH="0" baseline="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he Earth</a:t>
            </a:r>
          </a:p>
          <a:p>
            <a:pPr marL="0" marR="0" lvl="0" indent="0" algn="ctr" defTabSz="914400" rtl="0" eaLnBrk="1" fontAlgn="auto" latinLnBrk="0" hangingPunct="1">
              <a:lnSpc>
                <a:spcPct val="100000"/>
              </a:lnSpc>
              <a:spcBef>
                <a:spcPct val="0"/>
              </a:spcBef>
              <a:spcAft>
                <a:spcPts val="0"/>
              </a:spcAft>
              <a:buClrTx/>
              <a:buSzTx/>
              <a:buFontTx/>
              <a:buNone/>
              <a:tabLst/>
              <a:defRPr/>
            </a:pPr>
            <a:r>
              <a:rPr lang="en-GB" sz="2800" b="1" dirty="0">
                <a:effectLst>
                  <a:outerShdw blurRad="38100" dist="38100" dir="2700000" algn="tl">
                    <a:srgbClr val="000000">
                      <a:alpha val="43137"/>
                    </a:srgbClr>
                  </a:outerShdw>
                </a:effectLst>
                <a:latin typeface="Bookman Old Style" pitchFamily="18" charset="0"/>
                <a:ea typeface="Adobe Fangsong Std R" pitchFamily="18" charset="-128"/>
                <a:cs typeface="+mj-cs"/>
              </a:rPr>
              <a:t>A dynamic Planet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800" b="1" i="0" u="none" strike="noStrike" kern="1200" cap="none" spc="0" normalizeH="0" baseline="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Weathering</a:t>
            </a:r>
            <a:endParaRPr kumimoji="0" lang="en-GB" sz="4800" b="1" i="0" u="none" strike="noStrike" kern="1200" cap="none" spc="0" normalizeH="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1525386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19672" y="1178750"/>
            <a:ext cx="5832648" cy="3586094"/>
          </a:xfrm>
          <a:prstGeom prst="rect">
            <a:avLst/>
          </a:prstGeom>
        </p:spPr>
      </p:pic>
      <p:sp>
        <p:nvSpPr>
          <p:cNvPr id="6" name="Content Placeholder 2"/>
          <p:cNvSpPr>
            <a:spLocks noGrp="1"/>
          </p:cNvSpPr>
          <p:nvPr>
            <p:ph idx="1"/>
          </p:nvPr>
        </p:nvSpPr>
        <p:spPr>
          <a:xfrm>
            <a:off x="179511" y="5229200"/>
            <a:ext cx="8964489" cy="1440160"/>
          </a:xfrm>
          <a:noFill/>
        </p:spPr>
        <p:txBody>
          <a:bodyPr>
            <a:noAutofit/>
          </a:bodyPr>
          <a:lstStyle/>
          <a:p>
            <a:pPr marL="0" indent="0">
              <a:buNone/>
            </a:pPr>
            <a:r>
              <a:rPr lang="en-GB" sz="2000" b="1" dirty="0">
                <a:latin typeface="Arial" panose="020B0604020202020204" pitchFamily="34" charset="0"/>
                <a:cs typeface="Arial" pitchFamily="34" charset="0"/>
              </a:rPr>
              <a:t>… you should be able to…</a:t>
            </a:r>
          </a:p>
          <a:p>
            <a:r>
              <a:rPr lang="en-GB" sz="2000" b="1" dirty="0">
                <a:latin typeface="Arial" panose="020B0604020202020204" pitchFamily="34" charset="0"/>
                <a:cs typeface="Arial" panose="020B0604020202020204" pitchFamily="34" charset="0"/>
                <a:sym typeface="Wingdings" pitchFamily="2" charset="2"/>
              </a:rPr>
              <a:t>describe the main controls on global weathering rates, and</a:t>
            </a:r>
          </a:p>
          <a:p>
            <a:r>
              <a:rPr lang="en-GB" sz="2000" b="1" dirty="0">
                <a:latin typeface="Arial" panose="020B0604020202020204" pitchFamily="34" charset="0"/>
                <a:cs typeface="Arial" panose="020B0604020202020204" pitchFamily="34" charset="0"/>
                <a:sym typeface="Wingdings" pitchFamily="2" charset="2"/>
              </a:rPr>
              <a:t>use this information to explain where weathering happens to a greater and lesser degree.</a:t>
            </a:r>
          </a:p>
        </p:txBody>
      </p:sp>
      <p:sp>
        <p:nvSpPr>
          <p:cNvPr id="7" name="Rectangle 6"/>
          <p:cNvSpPr/>
          <p:nvPr/>
        </p:nvSpPr>
        <p:spPr>
          <a:xfrm>
            <a:off x="1853443" y="1988840"/>
            <a:ext cx="1998477" cy="648072"/>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4">
            <a:extLst>
              <a:ext uri="{FF2B5EF4-FFF2-40B4-BE49-F238E27FC236}">
                <a16:creationId xmlns:a16="http://schemas.microsoft.com/office/drawing/2014/main" id="{115699D5-9C24-44CF-BEED-22B237E1D07C}"/>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chemeClr val="bg1"/>
                </a:solidFill>
                <a:latin typeface="Bookman Old Style" panose="02050604050505020204" pitchFamily="18" charset="0"/>
                <a:ea typeface="Adobe Fangsong Std R" pitchFamily="18" charset="-128"/>
                <a:cs typeface="+mj-cs"/>
              </a:rPr>
              <a:t>Intended learning outcomes</a:t>
            </a:r>
            <a:endParaRPr kumimoji="0" lang="en-GB" sz="4000" b="1" i="0" u="none" strike="noStrike" kern="1200" cap="none" spc="0" normalizeH="0" baseline="0" noProof="0" dirty="0">
              <a:ln>
                <a:noFill/>
              </a:ln>
              <a:solidFill>
                <a:schemeClr val="bg1"/>
              </a:solidFill>
              <a:effectLst/>
              <a:uLnTx/>
              <a:uFillTx/>
              <a:latin typeface="Bookman Old Style" panose="02050604050505020204" pitchFamily="18" charset="0"/>
              <a:ea typeface="Adobe Fangsong Std R" pitchFamily="18" charset="-128"/>
              <a:cs typeface="+mj-cs"/>
            </a:endParaRPr>
          </a:p>
        </p:txBody>
      </p:sp>
    </p:spTree>
    <p:extLst>
      <p:ext uri="{BB962C8B-B14F-4D97-AF65-F5344CB8AC3E}">
        <p14:creationId xmlns:p14="http://schemas.microsoft.com/office/powerpoint/2010/main" val="2087079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Image result for regolith"/>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004049" y="1234060"/>
            <a:ext cx="3955130" cy="553501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331913" y="1493168"/>
            <a:ext cx="4536504" cy="4939814"/>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As the land surface us uplifted…</a:t>
            </a:r>
          </a:p>
          <a:p>
            <a:pPr lvl="1">
              <a:spcAft>
                <a:spcPts val="600"/>
              </a:spcAft>
            </a:pPr>
            <a:r>
              <a:rPr lang="en-GB" sz="2000" dirty="0">
                <a:sym typeface="Wingdings" panose="05000000000000000000" pitchFamily="2" charset="2"/>
              </a:rPr>
              <a:t>Via isostatic processes, lithospheric flexure, dynamic effects (W5)</a:t>
            </a:r>
          </a:p>
          <a:p>
            <a:pPr lvl="1">
              <a:spcAft>
                <a:spcPts val="600"/>
              </a:spcAft>
            </a:pPr>
            <a:r>
              <a:rPr lang="en-GB" sz="2000" dirty="0">
                <a:sym typeface="Wingdings" panose="05000000000000000000" pitchFamily="2" charset="2"/>
              </a:rPr>
              <a:t>Also via the formation of volcanoes (W3)</a:t>
            </a:r>
          </a:p>
          <a:p>
            <a:pPr lvl="1">
              <a:spcAft>
                <a:spcPts val="600"/>
              </a:spcAft>
            </a:pPr>
            <a:r>
              <a:rPr lang="en-GB" sz="2000" b="1" dirty="0">
                <a:sym typeface="Wingdings" panose="05000000000000000000" pitchFamily="2" charset="2"/>
              </a:rPr>
              <a:t>…the newly available rock is weakened through weathering</a:t>
            </a:r>
          </a:p>
          <a:p>
            <a:pPr marL="342900" indent="-342900">
              <a:spcAft>
                <a:spcPts val="600"/>
              </a:spcAft>
              <a:buFont typeface="Arial" panose="020B0604020202020204" pitchFamily="34" charset="0"/>
              <a:buChar char="•"/>
            </a:pPr>
            <a:endParaRPr lang="en-GB" sz="2000" b="1" dirty="0">
              <a:sym typeface="Wingdings" panose="05000000000000000000" pitchFamily="2" charset="2"/>
            </a:endParaRPr>
          </a:p>
          <a:p>
            <a:pPr marL="342900" indent="-342900">
              <a:spcAft>
                <a:spcPts val="600"/>
              </a:spcAft>
              <a:buFont typeface="Arial" panose="020B0604020202020204" pitchFamily="34" charset="0"/>
              <a:buChar char="•"/>
            </a:pPr>
            <a:r>
              <a:rPr lang="en-GB" sz="2000" b="1" dirty="0">
                <a:sym typeface="Wingdings" panose="05000000000000000000" pitchFamily="2" charset="2"/>
              </a:rPr>
              <a:t>This is the physical and chemical  breakdown of the rock </a:t>
            </a:r>
            <a:r>
              <a:rPr lang="en-GB" sz="2000" b="1" u="sng" dirty="0">
                <a:sym typeface="Wingdings" panose="05000000000000000000" pitchFamily="2" charset="2"/>
              </a:rPr>
              <a:t>in place</a:t>
            </a:r>
            <a:r>
              <a:rPr lang="en-GB" sz="2000" b="1" dirty="0">
                <a:sym typeface="Wingdings" panose="05000000000000000000" pitchFamily="2" charset="2"/>
              </a:rPr>
              <a:t>, at the surface.</a:t>
            </a:r>
          </a:p>
          <a:p>
            <a:pPr lvl="1">
              <a:spcAft>
                <a:spcPts val="600"/>
              </a:spcAft>
            </a:pPr>
            <a:r>
              <a:rPr lang="en-GB" sz="2000" dirty="0">
                <a:sym typeface="Wingdings" panose="05000000000000000000" pitchFamily="2" charset="2"/>
              </a:rPr>
              <a:t>The process of </a:t>
            </a:r>
            <a:r>
              <a:rPr lang="en-GB" sz="2000" dirty="0" err="1">
                <a:sym typeface="Wingdings" panose="05000000000000000000" pitchFamily="2" charset="2"/>
              </a:rPr>
              <a:t>regolith</a:t>
            </a:r>
            <a:r>
              <a:rPr lang="en-GB" sz="2000" dirty="0">
                <a:sym typeface="Wingdings" panose="05000000000000000000" pitchFamily="2" charset="2"/>
              </a:rPr>
              <a:t> and soil formation.</a:t>
            </a:r>
          </a:p>
          <a:p>
            <a:pPr lvl="1">
              <a:spcAft>
                <a:spcPts val="600"/>
              </a:spcAft>
            </a:pPr>
            <a:endParaRPr lang="en-GB" sz="2000" b="1" dirty="0"/>
          </a:p>
        </p:txBody>
      </p:sp>
      <p:grpSp>
        <p:nvGrpSpPr>
          <p:cNvPr id="6" name="Group 5"/>
          <p:cNvGrpSpPr/>
          <p:nvPr/>
        </p:nvGrpSpPr>
        <p:grpSpPr>
          <a:xfrm>
            <a:off x="107503" y="4365104"/>
            <a:ext cx="4881299" cy="2403974"/>
            <a:chOff x="107503" y="4365104"/>
            <a:chExt cx="4881299" cy="2403974"/>
          </a:xfrm>
        </p:grpSpPr>
        <p:sp>
          <p:nvSpPr>
            <p:cNvPr id="12" name="Rectangle 11">
              <a:extLst>
                <a:ext uri="{FF2B5EF4-FFF2-40B4-BE49-F238E27FC236}">
                  <a16:creationId xmlns:a16="http://schemas.microsoft.com/office/drawing/2014/main" id="{C84EC23F-2EF6-4F20-A44F-F3958B28C993}"/>
                </a:ext>
              </a:extLst>
            </p:cNvPr>
            <p:cNvSpPr/>
            <p:nvPr/>
          </p:nvSpPr>
          <p:spPr>
            <a:xfrm>
              <a:off x="107503" y="4365104"/>
              <a:ext cx="4760914" cy="240397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1244386" y="6202300"/>
              <a:ext cx="3744416" cy="477054"/>
            </a:xfrm>
            <a:prstGeom prst="rect">
              <a:avLst/>
            </a:prstGeom>
            <a:noFill/>
          </p:spPr>
          <p:txBody>
            <a:bodyPr wrap="square" rtlCol="0">
              <a:spAutoFit/>
            </a:bodyPr>
            <a:lstStyle/>
            <a:p>
              <a:pPr>
                <a:spcAft>
                  <a:spcPts val="600"/>
                </a:spcAft>
              </a:pPr>
              <a:r>
                <a:rPr lang="en-GB" sz="2500" b="1" dirty="0">
                  <a:solidFill>
                    <a:srgbClr val="FF0000"/>
                  </a:solidFill>
                </a:rPr>
                <a:t>Victoria’s lecture</a:t>
              </a:r>
            </a:p>
          </p:txBody>
        </p:sp>
      </p:grpSp>
      <p:sp>
        <p:nvSpPr>
          <p:cNvPr id="15" name="Rectangle 4"/>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C</a:t>
            </a:r>
            <a:r>
              <a:rPr kumimoji="0" lang="en-GB" sz="4000" b="1" i="0" u="none" kern="1200" cap="none" spc="0" normalizeH="0" baseline="0" noProof="0" dirty="0" err="1">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ontrols</a:t>
            </a:r>
            <a:r>
              <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 on weathering rates</a:t>
            </a:r>
          </a:p>
        </p:txBody>
      </p:sp>
    </p:spTree>
    <p:extLst>
      <p:ext uri="{BB962C8B-B14F-4D97-AF65-F5344CB8AC3E}">
        <p14:creationId xmlns:p14="http://schemas.microsoft.com/office/powerpoint/2010/main" val="151243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79512" y="1268760"/>
            <a:ext cx="8640960" cy="5016758"/>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Physical weathering</a:t>
            </a:r>
          </a:p>
          <a:p>
            <a:pPr lvl="1">
              <a:spcAft>
                <a:spcPts val="600"/>
              </a:spcAft>
            </a:pPr>
            <a:r>
              <a:rPr lang="en-GB" sz="2000" dirty="0">
                <a:sym typeface="Wingdings" panose="05000000000000000000" pitchFamily="2" charset="2"/>
              </a:rPr>
              <a:t>Frost wedging (freeze-thaw)</a:t>
            </a:r>
          </a:p>
          <a:p>
            <a:pPr lvl="1">
              <a:spcAft>
                <a:spcPts val="600"/>
              </a:spcAft>
            </a:pPr>
            <a:r>
              <a:rPr lang="en-GB" sz="2000" dirty="0">
                <a:sym typeface="Wingdings" panose="05000000000000000000" pitchFamily="2" charset="2"/>
              </a:rPr>
              <a:t>Exfoliation (heat-cool, peeling)</a:t>
            </a:r>
          </a:p>
          <a:p>
            <a:pPr lvl="1">
              <a:spcAft>
                <a:spcPts val="600"/>
              </a:spcAft>
            </a:pPr>
            <a:r>
              <a:rPr lang="en-GB" sz="2000" dirty="0">
                <a:sym typeface="Wingdings" panose="05000000000000000000" pitchFamily="2" charset="2"/>
              </a:rPr>
              <a:t>Action of plants</a:t>
            </a:r>
          </a:p>
          <a:p>
            <a:pPr lvl="1">
              <a:spcAft>
                <a:spcPts val="600"/>
              </a:spcAft>
            </a:pPr>
            <a:endParaRPr lang="en-GB" sz="2000" dirty="0">
              <a:sym typeface="Wingdings" panose="05000000000000000000" pitchFamily="2" charset="2"/>
            </a:endParaRPr>
          </a:p>
          <a:p>
            <a:pPr marL="342900" indent="-342900">
              <a:spcAft>
                <a:spcPts val="600"/>
              </a:spcAft>
              <a:buFont typeface="Arial" panose="020B0604020202020204" pitchFamily="34" charset="0"/>
              <a:buChar char="•"/>
            </a:pPr>
            <a:r>
              <a:rPr lang="en-GB" sz="2000" b="1" dirty="0">
                <a:sym typeface="Wingdings" panose="05000000000000000000" pitchFamily="2" charset="2"/>
              </a:rPr>
              <a:t>Chemical weathering </a:t>
            </a:r>
            <a:r>
              <a:rPr lang="en-GB" sz="2000" dirty="0">
                <a:sym typeface="Wingdings" panose="05000000000000000000" pitchFamily="2" charset="2"/>
              </a:rPr>
              <a:t>(always mediated by water)</a:t>
            </a:r>
          </a:p>
          <a:p>
            <a:pPr lvl="1">
              <a:spcAft>
                <a:spcPts val="600"/>
              </a:spcAft>
            </a:pPr>
            <a:r>
              <a:rPr lang="en-GB" sz="2000" dirty="0">
                <a:sym typeface="Wingdings" panose="05000000000000000000" pitchFamily="2" charset="2"/>
              </a:rPr>
              <a:t>Hydrolysis</a:t>
            </a:r>
          </a:p>
          <a:p>
            <a:pPr lvl="1">
              <a:spcAft>
                <a:spcPts val="600"/>
              </a:spcAft>
            </a:pPr>
            <a:r>
              <a:rPr lang="en-GB" sz="2000" dirty="0">
                <a:sym typeface="Wingdings" panose="05000000000000000000" pitchFamily="2" charset="2"/>
              </a:rPr>
              <a:t>Hydration</a:t>
            </a:r>
          </a:p>
          <a:p>
            <a:pPr lvl="1">
              <a:spcAft>
                <a:spcPts val="600"/>
              </a:spcAft>
            </a:pPr>
            <a:r>
              <a:rPr lang="en-GB" sz="2000" dirty="0">
                <a:sym typeface="Wingdings" panose="05000000000000000000" pitchFamily="2" charset="2"/>
              </a:rPr>
              <a:t>Carbonation</a:t>
            </a:r>
          </a:p>
          <a:p>
            <a:pPr lvl="1">
              <a:spcAft>
                <a:spcPts val="600"/>
              </a:spcAft>
            </a:pPr>
            <a:r>
              <a:rPr lang="en-GB" sz="2000" dirty="0">
                <a:sym typeface="Wingdings" panose="05000000000000000000" pitchFamily="2" charset="2"/>
              </a:rPr>
              <a:t>Oxidation</a:t>
            </a:r>
          </a:p>
          <a:p>
            <a:pPr lvl="1">
              <a:spcAft>
                <a:spcPts val="600"/>
              </a:spcAft>
            </a:pPr>
            <a:r>
              <a:rPr lang="en-GB" sz="2000" dirty="0">
                <a:sym typeface="Wingdings" panose="05000000000000000000" pitchFamily="2" charset="2"/>
              </a:rPr>
              <a:t>Ion exchange</a:t>
            </a:r>
          </a:p>
          <a:p>
            <a:pPr lvl="1">
              <a:spcAft>
                <a:spcPts val="600"/>
              </a:spcAft>
            </a:pPr>
            <a:r>
              <a:rPr lang="en-GB" sz="2000" dirty="0">
                <a:sym typeface="Wingdings" panose="05000000000000000000" pitchFamily="2" charset="2"/>
              </a:rPr>
              <a:t>Chelation</a:t>
            </a:r>
          </a:p>
          <a:p>
            <a:pPr marL="342900" indent="-342900">
              <a:spcAft>
                <a:spcPts val="600"/>
              </a:spcAft>
              <a:buFont typeface="Arial" panose="020B0604020202020204" pitchFamily="34" charset="0"/>
              <a:buChar char="•"/>
            </a:pPr>
            <a:endParaRPr lang="en-GB" sz="2000" b="1" dirty="0"/>
          </a:p>
        </p:txBody>
      </p:sp>
      <p:pic>
        <p:nvPicPr>
          <p:cNvPr id="4098" name="Picture 2" descr="Picture"/>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362616" y="1124744"/>
            <a:ext cx="2673880" cy="182232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upload.wikimedia.org/wikipedia/commons/7/73/Concentric_spheroidal_weathering_in_granite.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365236" y="2996952"/>
            <a:ext cx="2671260" cy="1949439"/>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Image result for tree growing in a rock"/>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6372199" y="4989410"/>
            <a:ext cx="2664297" cy="1767135"/>
          </a:xfrm>
          <a:prstGeom prst="rect">
            <a:avLst/>
          </a:prstGeom>
          <a:noFill/>
          <a:extLst>
            <a:ext uri="{909E8E84-426E-40DD-AFC4-6F175D3DCCD1}">
              <a14:hiddenFill xmlns:a14="http://schemas.microsoft.com/office/drawing/2010/main">
                <a:solidFill>
                  <a:srgbClr val="FFFFFF"/>
                </a:solidFill>
              </a14:hiddenFill>
            </a:ext>
          </a:extLst>
        </p:spPr>
      </p:pic>
      <p:sp>
        <p:nvSpPr>
          <p:cNvPr id="2" name="Right Brace 1"/>
          <p:cNvSpPr/>
          <p:nvPr/>
        </p:nvSpPr>
        <p:spPr>
          <a:xfrm>
            <a:off x="2339752" y="3645024"/>
            <a:ext cx="432048" cy="2227953"/>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 name="TextBox 11"/>
          <p:cNvSpPr txBox="1"/>
          <p:nvPr/>
        </p:nvSpPr>
        <p:spPr>
          <a:xfrm>
            <a:off x="2843808" y="3645024"/>
            <a:ext cx="3024336" cy="2169825"/>
          </a:xfrm>
          <a:prstGeom prst="rect">
            <a:avLst/>
          </a:prstGeom>
          <a:noFill/>
        </p:spPr>
        <p:txBody>
          <a:bodyPr wrap="square" rtlCol="0">
            <a:spAutoFit/>
          </a:bodyPr>
          <a:lstStyle/>
          <a:p>
            <a:pPr>
              <a:spcAft>
                <a:spcPts val="600"/>
              </a:spcAft>
            </a:pPr>
            <a:r>
              <a:rPr lang="en-GB" sz="2000" dirty="0"/>
              <a:t>Lead to</a:t>
            </a:r>
          </a:p>
          <a:p>
            <a:pPr>
              <a:spcAft>
                <a:spcPts val="600"/>
              </a:spcAft>
            </a:pPr>
            <a:r>
              <a:rPr lang="en-GB" sz="2000" dirty="0">
                <a:sym typeface="Wingdings" panose="05000000000000000000" pitchFamily="2" charset="2"/>
              </a:rPr>
              <a:t>Formation of new minerals with different volumes</a:t>
            </a:r>
          </a:p>
          <a:p>
            <a:pPr>
              <a:spcAft>
                <a:spcPts val="600"/>
              </a:spcAft>
            </a:pPr>
            <a:r>
              <a:rPr lang="en-GB" sz="2000" dirty="0">
                <a:sym typeface="Wingdings" panose="05000000000000000000" pitchFamily="2" charset="2"/>
              </a:rPr>
              <a:t>Dissolution of minerals</a:t>
            </a:r>
          </a:p>
          <a:p>
            <a:pPr marL="342900" indent="-342900">
              <a:spcAft>
                <a:spcPts val="600"/>
              </a:spcAft>
              <a:buFont typeface="Arial" panose="020B0604020202020204" pitchFamily="34" charset="0"/>
              <a:buChar char="•"/>
            </a:pPr>
            <a:endParaRPr lang="en-GB" sz="2000" b="1" dirty="0"/>
          </a:p>
        </p:txBody>
      </p:sp>
      <p:grpSp>
        <p:nvGrpSpPr>
          <p:cNvPr id="13" name="Group 12"/>
          <p:cNvGrpSpPr/>
          <p:nvPr/>
        </p:nvGrpSpPr>
        <p:grpSpPr>
          <a:xfrm>
            <a:off x="179512" y="1148585"/>
            <a:ext cx="8919477" cy="5607962"/>
            <a:chOff x="107503" y="4365104"/>
            <a:chExt cx="4760914" cy="2403974"/>
          </a:xfrm>
        </p:grpSpPr>
        <p:sp>
          <p:nvSpPr>
            <p:cNvPr id="14" name="Rectangle 13">
              <a:extLst>
                <a:ext uri="{FF2B5EF4-FFF2-40B4-BE49-F238E27FC236}">
                  <a16:creationId xmlns:a16="http://schemas.microsoft.com/office/drawing/2014/main" id="{C84EC23F-2EF6-4F20-A44F-F3958B28C993}"/>
                </a:ext>
              </a:extLst>
            </p:cNvPr>
            <p:cNvSpPr/>
            <p:nvPr/>
          </p:nvSpPr>
          <p:spPr>
            <a:xfrm>
              <a:off x="107503" y="4365104"/>
              <a:ext cx="4760914" cy="240397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p:cNvSpPr txBox="1"/>
            <p:nvPr/>
          </p:nvSpPr>
          <p:spPr>
            <a:xfrm>
              <a:off x="1124001" y="6453894"/>
              <a:ext cx="3744416" cy="204500"/>
            </a:xfrm>
            <a:prstGeom prst="rect">
              <a:avLst/>
            </a:prstGeom>
            <a:noFill/>
          </p:spPr>
          <p:txBody>
            <a:bodyPr wrap="square" rtlCol="0">
              <a:spAutoFit/>
            </a:bodyPr>
            <a:lstStyle/>
            <a:p>
              <a:pPr>
                <a:spcAft>
                  <a:spcPts val="600"/>
                </a:spcAft>
              </a:pPr>
              <a:r>
                <a:rPr lang="en-GB" sz="2500" b="1" dirty="0">
                  <a:solidFill>
                    <a:srgbClr val="FF0000"/>
                  </a:solidFill>
                </a:rPr>
                <a:t>Victoria’s lecture</a:t>
              </a:r>
            </a:p>
          </p:txBody>
        </p:sp>
      </p:grpSp>
      <p:sp>
        <p:nvSpPr>
          <p:cNvPr id="16" name="Rectangle 4"/>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C</a:t>
            </a:r>
            <a:r>
              <a:rPr kumimoji="0" lang="en-GB" sz="4000" b="1" i="0" u="none" kern="1200" cap="none" spc="0" normalizeH="0" baseline="0" noProof="0" dirty="0" err="1">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ontrols</a:t>
            </a:r>
            <a:r>
              <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 on weathering rates</a:t>
            </a:r>
          </a:p>
        </p:txBody>
      </p:sp>
    </p:spTree>
    <p:extLst>
      <p:ext uri="{BB962C8B-B14F-4D97-AF65-F5344CB8AC3E}">
        <p14:creationId xmlns:p14="http://schemas.microsoft.com/office/powerpoint/2010/main" val="297882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http://geology.csupomona.edu/drjessey/class/Gsc101/chemweather.gif"/>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727756" y="2420888"/>
            <a:ext cx="4126170" cy="414835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179512" y="1412776"/>
            <a:ext cx="8496944" cy="400110"/>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u="sng" dirty="0"/>
              <a:t>Rates of weathering are climate controlled. </a:t>
            </a:r>
            <a:endParaRPr lang="en-GB" sz="2000" b="1" dirty="0">
              <a:sym typeface="Wingdings" panose="05000000000000000000" pitchFamily="2" charset="2"/>
            </a:endParaRPr>
          </a:p>
        </p:txBody>
      </p:sp>
      <p:sp>
        <p:nvSpPr>
          <p:cNvPr id="9" name="TextBox 8"/>
          <p:cNvSpPr txBox="1"/>
          <p:nvPr/>
        </p:nvSpPr>
        <p:spPr>
          <a:xfrm>
            <a:off x="195246" y="2255990"/>
            <a:ext cx="4340750" cy="4478149"/>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Generally,</a:t>
            </a:r>
          </a:p>
          <a:p>
            <a:pPr lvl="1">
              <a:spcAft>
                <a:spcPts val="600"/>
              </a:spcAft>
            </a:pPr>
            <a:r>
              <a:rPr lang="en-GB" sz="2000" b="1" dirty="0">
                <a:sym typeface="Wingdings" panose="05000000000000000000" pitchFamily="2" charset="2"/>
              </a:rPr>
              <a:t>Areas of high rainfall provide the water that is necessary for chemical weathering.</a:t>
            </a:r>
          </a:p>
          <a:p>
            <a:pPr lvl="1">
              <a:spcAft>
                <a:spcPts val="600"/>
              </a:spcAft>
            </a:pPr>
            <a:r>
              <a:rPr lang="en-GB" sz="2000" b="1" dirty="0">
                <a:sym typeface="Wingdings" panose="05000000000000000000" pitchFamily="2" charset="2"/>
              </a:rPr>
              <a:t>In areas that are too cold, the water is in the solid phase (ice) and cannot mediate the chemical reactions.</a:t>
            </a:r>
          </a:p>
          <a:p>
            <a:pPr lvl="1">
              <a:spcAft>
                <a:spcPts val="600"/>
              </a:spcAft>
            </a:pPr>
            <a:r>
              <a:rPr lang="en-GB" sz="2000" b="1" dirty="0">
                <a:sym typeface="Wingdings" panose="05000000000000000000" pitchFamily="2" charset="2"/>
              </a:rPr>
              <a:t>In areas that are hot, higher temperatures speed up the rate of chemical weathering reactions.</a:t>
            </a:r>
          </a:p>
          <a:p>
            <a:pPr marL="342900" indent="-342900">
              <a:spcAft>
                <a:spcPts val="600"/>
              </a:spcAft>
              <a:buFont typeface="Arial" panose="020B0604020202020204" pitchFamily="34" charset="0"/>
              <a:buChar char="•"/>
            </a:pPr>
            <a:endParaRPr lang="en-GB" sz="2000" dirty="0">
              <a:sym typeface="Wingdings" panose="05000000000000000000" pitchFamily="2" charset="2"/>
            </a:endParaRPr>
          </a:p>
          <a:p>
            <a:pPr marL="342900" indent="-342900">
              <a:spcAft>
                <a:spcPts val="600"/>
              </a:spcAft>
              <a:buFont typeface="Arial" panose="020B0604020202020204" pitchFamily="34" charset="0"/>
              <a:buChar char="•"/>
            </a:pPr>
            <a:endParaRPr lang="en-GB" sz="2000" b="1" dirty="0"/>
          </a:p>
        </p:txBody>
      </p:sp>
      <p:sp>
        <p:nvSpPr>
          <p:cNvPr id="11" name="Rectangle 4"/>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C</a:t>
            </a:r>
            <a:r>
              <a:rPr kumimoji="0" lang="en-GB" sz="4000" b="1" i="0" u="none" kern="1200" cap="none" spc="0" normalizeH="0" baseline="0" noProof="0" dirty="0" err="1">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ontrols</a:t>
            </a:r>
            <a:r>
              <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 on weathering rates</a:t>
            </a:r>
          </a:p>
        </p:txBody>
      </p:sp>
    </p:spTree>
    <p:extLst>
      <p:ext uri="{BB962C8B-B14F-4D97-AF65-F5344CB8AC3E}">
        <p14:creationId xmlns:p14="http://schemas.microsoft.com/office/powerpoint/2010/main" val="1262122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7" name="Picture 1" descr="a2eE0AC.tmp"/>
          <p:cNvPicPr>
            <a:picLocks/>
          </p:cNvPicPr>
          <p:nvPr/>
        </p:nvPicPr>
        <p:blipFill>
          <a:blip r:embed="rId2" cstate="screen">
            <a:extLst>
              <a:ext uri="{28A0092B-C50C-407E-A947-70E740481C1C}">
                <a14:useLocalDpi xmlns:a14="http://schemas.microsoft.com/office/drawing/2010/main"/>
              </a:ext>
            </a:extLst>
          </a:blip>
          <a:srcRect/>
          <a:stretch>
            <a:fillRect/>
          </a:stretch>
        </p:blipFill>
        <p:spPr bwMode="auto">
          <a:xfrm>
            <a:off x="108743" y="1075792"/>
            <a:ext cx="7847807" cy="508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8" name="Text Box 10"/>
          <p:cNvSpPr txBox="1">
            <a:spLocks noChangeArrowheads="1"/>
          </p:cNvSpPr>
          <p:nvPr/>
        </p:nvSpPr>
        <p:spPr bwMode="auto">
          <a:xfrm>
            <a:off x="7347044" y="3919983"/>
            <a:ext cx="1223963" cy="1077913"/>
          </a:xfrm>
          <a:prstGeom prst="rect">
            <a:avLst/>
          </a:prstGeom>
          <a:noFill/>
          <a:ln>
            <a:noFill/>
          </a:ln>
        </p:spPr>
        <p:txBody>
          <a:bodyPr>
            <a:spAutoFit/>
          </a:bodyPr>
          <a:lstStyle>
            <a:lvl1pPr>
              <a:spcBef>
                <a:spcPct val="20000"/>
              </a:spcBef>
              <a:buChar char="•"/>
              <a:defRPr sz="3200">
                <a:solidFill>
                  <a:schemeClr val="tx1"/>
                </a:solidFill>
                <a:latin typeface="Arial" charset="0"/>
                <a:cs typeface="Arial" charset="0"/>
              </a:defRPr>
            </a:lvl1pPr>
            <a:lvl2pPr marL="742950" indent="-285750">
              <a:spcBef>
                <a:spcPct val="20000"/>
              </a:spcBef>
              <a:buChar char="–"/>
              <a:defRPr sz="2800">
                <a:solidFill>
                  <a:schemeClr val="tx1"/>
                </a:solidFill>
                <a:latin typeface="Arial" charset="0"/>
                <a:cs typeface="Arial" charset="0"/>
              </a:defRPr>
            </a:lvl2pPr>
            <a:lvl3pPr marL="1143000" indent="-228600">
              <a:spcBef>
                <a:spcPct val="20000"/>
              </a:spcBef>
              <a:buChar char="•"/>
              <a:defRPr sz="2400">
                <a:solidFill>
                  <a:schemeClr val="tx1"/>
                </a:solidFill>
                <a:latin typeface="Arial" charset="0"/>
                <a:cs typeface="Arial" charset="0"/>
              </a:defRPr>
            </a:lvl3pPr>
            <a:lvl4pPr marL="1600200" indent="-228600">
              <a:spcBef>
                <a:spcPct val="20000"/>
              </a:spcBef>
              <a:buChar char="–"/>
              <a:defRPr sz="2000">
                <a:solidFill>
                  <a:schemeClr val="tx1"/>
                </a:solidFill>
                <a:latin typeface="Arial" charset="0"/>
                <a:cs typeface="Arial" charset="0"/>
              </a:defRPr>
            </a:lvl4pPr>
            <a:lvl5pPr marL="2057400" indent="-22860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algn="ctr" eaLnBrk="1" hangingPunct="1">
              <a:spcBef>
                <a:spcPct val="50000"/>
              </a:spcBef>
              <a:buFontTx/>
              <a:buNone/>
            </a:pPr>
            <a:r>
              <a:rPr lang="en-GB" altLang="en-US" sz="1600" b="1" dirty="0"/>
              <a:t>Thickness of weathered profile</a:t>
            </a:r>
          </a:p>
        </p:txBody>
      </p:sp>
      <p:sp>
        <p:nvSpPr>
          <p:cNvPr id="2" name="Right Brace 1"/>
          <p:cNvSpPr/>
          <p:nvPr/>
        </p:nvSpPr>
        <p:spPr>
          <a:xfrm>
            <a:off x="6948264" y="3761234"/>
            <a:ext cx="360362" cy="1395413"/>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4" name="Rectangle 3"/>
          <p:cNvSpPr/>
          <p:nvPr/>
        </p:nvSpPr>
        <p:spPr>
          <a:xfrm>
            <a:off x="5219700" y="4413250"/>
            <a:ext cx="4318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dirty="0">
                <a:solidFill>
                  <a:schemeClr val="bg1">
                    <a:lumMod val="50000"/>
                    <a:lumOff val="50000"/>
                  </a:schemeClr>
                </a:solidFill>
              </a:rPr>
              <a:t>K</a:t>
            </a:r>
          </a:p>
        </p:txBody>
      </p:sp>
      <p:sp>
        <p:nvSpPr>
          <p:cNvPr id="15" name="Rectangle 4"/>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C</a:t>
            </a:r>
            <a:r>
              <a:rPr kumimoji="0" lang="en-GB" sz="4000" b="1" i="0" u="none" kern="1200" cap="none" spc="0" normalizeH="0" baseline="0" noProof="0" dirty="0" err="1">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ontrols</a:t>
            </a:r>
            <a:r>
              <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 on weathering rates</a:t>
            </a:r>
          </a:p>
        </p:txBody>
      </p:sp>
    </p:spTree>
    <p:extLst>
      <p:ext uri="{BB962C8B-B14F-4D97-AF65-F5344CB8AC3E}">
        <p14:creationId xmlns:p14="http://schemas.microsoft.com/office/powerpoint/2010/main" val="1575192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mage result for glyder faw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7504" y="1196752"/>
            <a:ext cx="5184576" cy="345638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result for thick laterite deposit"/>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424125" y="1196752"/>
            <a:ext cx="3665499" cy="555504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7504" y="4725144"/>
            <a:ext cx="4824536" cy="1400383"/>
          </a:xfrm>
          <a:prstGeom prst="rect">
            <a:avLst/>
          </a:prstGeom>
          <a:noFill/>
        </p:spPr>
        <p:txBody>
          <a:bodyPr wrap="square" rtlCol="0">
            <a:spAutoFit/>
          </a:bodyPr>
          <a:lstStyle/>
          <a:p>
            <a:pPr>
              <a:spcAft>
                <a:spcPts val="600"/>
              </a:spcAft>
            </a:pPr>
            <a:r>
              <a:rPr lang="en-GB" sz="2000" dirty="0">
                <a:sym typeface="Wingdings" panose="05000000000000000000" pitchFamily="2" charset="2"/>
              </a:rPr>
              <a:t>(Top) </a:t>
            </a:r>
            <a:r>
              <a:rPr lang="en-GB" sz="2000" dirty="0" err="1">
                <a:sym typeface="Wingdings" panose="05000000000000000000" pitchFamily="2" charset="2"/>
              </a:rPr>
              <a:t>Blockfield</a:t>
            </a:r>
            <a:r>
              <a:rPr lang="en-GB" sz="2000" dirty="0">
                <a:sym typeface="Wingdings" panose="05000000000000000000" pitchFamily="2" charset="2"/>
              </a:rPr>
              <a:t> and thin </a:t>
            </a:r>
            <a:r>
              <a:rPr lang="en-GB" sz="2000" dirty="0" err="1">
                <a:sym typeface="Wingdings" panose="05000000000000000000" pitchFamily="2" charset="2"/>
              </a:rPr>
              <a:t>regolith</a:t>
            </a:r>
            <a:r>
              <a:rPr lang="en-GB" sz="2000" dirty="0">
                <a:sym typeface="Wingdings" panose="05000000000000000000" pitchFamily="2" charset="2"/>
              </a:rPr>
              <a:t> at mid-high latitudes, and modest altitudes (1000 m), Snowdonia, UK.</a:t>
            </a:r>
          </a:p>
          <a:p>
            <a:pPr marL="342900" indent="-342900">
              <a:spcAft>
                <a:spcPts val="600"/>
              </a:spcAft>
              <a:buFont typeface="Arial" panose="020B0604020202020204" pitchFamily="34" charset="0"/>
              <a:buChar char="•"/>
            </a:pPr>
            <a:endParaRPr lang="en-GB" sz="2000" b="1" dirty="0"/>
          </a:p>
        </p:txBody>
      </p:sp>
      <p:sp>
        <p:nvSpPr>
          <p:cNvPr id="6" name="TextBox 5"/>
          <p:cNvSpPr txBox="1"/>
          <p:nvPr/>
        </p:nvSpPr>
        <p:spPr>
          <a:xfrm>
            <a:off x="467544" y="6015191"/>
            <a:ext cx="4824536" cy="707886"/>
          </a:xfrm>
          <a:prstGeom prst="rect">
            <a:avLst/>
          </a:prstGeom>
          <a:noFill/>
        </p:spPr>
        <p:txBody>
          <a:bodyPr wrap="square" rtlCol="0">
            <a:spAutoFit/>
          </a:bodyPr>
          <a:lstStyle/>
          <a:p>
            <a:pPr algn="r">
              <a:spcAft>
                <a:spcPts val="600"/>
              </a:spcAft>
            </a:pPr>
            <a:r>
              <a:rPr lang="en-GB" sz="2000" dirty="0">
                <a:sym typeface="Wingdings" panose="05000000000000000000" pitchFamily="2" charset="2"/>
              </a:rPr>
              <a:t>(Right) Thickly developed laterite </a:t>
            </a:r>
            <a:r>
              <a:rPr lang="en-GB" sz="2000" dirty="0" err="1">
                <a:sym typeface="Wingdings" panose="05000000000000000000" pitchFamily="2" charset="2"/>
              </a:rPr>
              <a:t>regolith</a:t>
            </a:r>
            <a:r>
              <a:rPr lang="en-GB" sz="2000" dirty="0">
                <a:sym typeface="Wingdings" panose="05000000000000000000" pitchFamily="2" charset="2"/>
              </a:rPr>
              <a:t> at low latitude and low altitude, Kerala, India.</a:t>
            </a:r>
            <a:endParaRPr lang="en-GB" sz="2000" b="1" dirty="0"/>
          </a:p>
        </p:txBody>
      </p:sp>
      <p:sp>
        <p:nvSpPr>
          <p:cNvPr id="8" name="Rectangle 4"/>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C</a:t>
            </a:r>
            <a:r>
              <a:rPr kumimoji="0" lang="en-GB" sz="4000" b="1" i="0" u="none" kern="1200" cap="none" spc="0" normalizeH="0" baseline="0" noProof="0" dirty="0" err="1">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ontrols</a:t>
            </a:r>
            <a:r>
              <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 on weathering rates</a:t>
            </a:r>
          </a:p>
        </p:txBody>
      </p:sp>
    </p:spTree>
    <p:extLst>
      <p:ext uri="{BB962C8B-B14F-4D97-AF65-F5344CB8AC3E}">
        <p14:creationId xmlns:p14="http://schemas.microsoft.com/office/powerpoint/2010/main" val="2731295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C</a:t>
            </a:r>
            <a:r>
              <a:rPr kumimoji="0" lang="en-GB" sz="4000" b="1" i="0" u="none" kern="1200" cap="none" spc="0" normalizeH="0" baseline="0" noProof="0" dirty="0" err="1">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ontrols</a:t>
            </a:r>
            <a:r>
              <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 on weathering rates</a:t>
            </a:r>
          </a:p>
        </p:txBody>
      </p:sp>
      <p:sp>
        <p:nvSpPr>
          <p:cNvPr id="10" name="TextBox 9"/>
          <p:cNvSpPr txBox="1"/>
          <p:nvPr/>
        </p:nvSpPr>
        <p:spPr>
          <a:xfrm>
            <a:off x="179512" y="1412776"/>
            <a:ext cx="8496944" cy="400110"/>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u="sng" dirty="0"/>
              <a:t>Rates of weathering are slope controlled. </a:t>
            </a:r>
            <a:endParaRPr lang="en-GB" sz="2000" b="1" dirty="0">
              <a:sym typeface="Wingdings" panose="05000000000000000000" pitchFamily="2" charset="2"/>
            </a:endParaRPr>
          </a:p>
        </p:txBody>
      </p:sp>
      <p:sp>
        <p:nvSpPr>
          <p:cNvPr id="7" name="Rectangle 11"/>
          <p:cNvSpPr>
            <a:spLocks noChangeArrowheads="1"/>
          </p:cNvSpPr>
          <p:nvPr/>
        </p:nvSpPr>
        <p:spPr bwMode="auto">
          <a:xfrm>
            <a:off x="179512" y="1988840"/>
            <a:ext cx="5655469"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Arial" charset="0"/>
                <a:cs typeface="Arial" charset="0"/>
              </a:defRPr>
            </a:lvl1pPr>
            <a:lvl2pPr>
              <a:spcBef>
                <a:spcPct val="20000"/>
              </a:spcBef>
              <a:buChar char="–"/>
              <a:defRPr sz="2800">
                <a:solidFill>
                  <a:schemeClr val="tx1"/>
                </a:solidFill>
                <a:latin typeface="Arial" charset="0"/>
                <a:cs typeface="Arial" charset="0"/>
              </a:defRPr>
            </a:lvl2pPr>
            <a:lvl3pPr marL="1143000" indent="-228600">
              <a:spcBef>
                <a:spcPct val="20000"/>
              </a:spcBef>
              <a:buChar char="•"/>
              <a:defRPr sz="2400">
                <a:solidFill>
                  <a:schemeClr val="tx1"/>
                </a:solidFill>
                <a:latin typeface="Arial" charset="0"/>
                <a:cs typeface="Arial" charset="0"/>
              </a:defRPr>
            </a:lvl3pPr>
            <a:lvl4pPr marL="1600200" indent="-228600">
              <a:spcBef>
                <a:spcPct val="20000"/>
              </a:spcBef>
              <a:buChar char="–"/>
              <a:defRPr sz="2000">
                <a:solidFill>
                  <a:schemeClr val="tx1"/>
                </a:solidFill>
                <a:latin typeface="Arial" charset="0"/>
                <a:cs typeface="Arial" charset="0"/>
              </a:defRPr>
            </a:lvl4pPr>
            <a:lvl5pPr marL="2057400" indent="-22860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a:defRPr/>
            </a:pPr>
            <a:r>
              <a:rPr lang="en-GB" sz="2000" b="1" dirty="0" err="1"/>
              <a:t>Regolith</a:t>
            </a:r>
            <a:r>
              <a:rPr lang="en-GB" sz="2000" b="1" dirty="0"/>
              <a:t> growth is self-limiting.</a:t>
            </a:r>
          </a:p>
          <a:p>
            <a:pPr lvl="1">
              <a:buNone/>
              <a:defRPr/>
            </a:pPr>
            <a:r>
              <a:rPr lang="en-GB" sz="2000" dirty="0">
                <a:sym typeface="Wingdings" panose="05000000000000000000" pitchFamily="2" charset="2"/>
              </a:rPr>
              <a:t>reduction in grainsize and formation of clays reduced permeability, and limits </a:t>
            </a:r>
            <a:r>
              <a:rPr lang="en-GB" sz="2000" dirty="0"/>
              <a:t>access of water to for chemical weathering.</a:t>
            </a:r>
          </a:p>
          <a:p>
            <a:pPr lvl="1">
              <a:buNone/>
              <a:defRPr/>
            </a:pPr>
            <a:r>
              <a:rPr lang="en-GB" altLang="en-US" sz="2000" dirty="0">
                <a:sym typeface="Wingdings" panose="05000000000000000000" pitchFamily="2" charset="2"/>
              </a:rPr>
              <a:t>so weathering rate decreases downward in the </a:t>
            </a:r>
            <a:r>
              <a:rPr lang="en-GB" altLang="en-US" sz="2000" dirty="0" err="1">
                <a:sym typeface="Wingdings" panose="05000000000000000000" pitchFamily="2" charset="2"/>
              </a:rPr>
              <a:t>regolith</a:t>
            </a:r>
            <a:r>
              <a:rPr lang="en-GB" altLang="en-US" sz="2000" dirty="0">
                <a:sym typeface="Wingdings" panose="05000000000000000000" pitchFamily="2" charset="2"/>
              </a:rPr>
              <a:t> profile.</a:t>
            </a:r>
          </a:p>
        </p:txBody>
      </p:sp>
      <p:pic>
        <p:nvPicPr>
          <p:cNvPr id="11" name="Picture 2" descr="http://www.public.asu.edu/~arrows/geomorph/soil.GIF"/>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t="44945"/>
          <a:stretch/>
        </p:blipFill>
        <p:spPr bwMode="auto">
          <a:xfrm>
            <a:off x="5834981" y="1268760"/>
            <a:ext cx="2948861"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5"/>
          <p:cNvSpPr txBox="1">
            <a:spLocks noChangeArrowheads="1"/>
          </p:cNvSpPr>
          <p:nvPr/>
        </p:nvSpPr>
        <p:spPr bwMode="auto">
          <a:xfrm>
            <a:off x="5940152" y="3933056"/>
            <a:ext cx="2592387"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cs typeface="Arial" charset="0"/>
              </a:defRPr>
            </a:lvl1pPr>
            <a:lvl2pPr marL="742950" indent="-285750">
              <a:spcBef>
                <a:spcPct val="20000"/>
              </a:spcBef>
              <a:buChar char="–"/>
              <a:defRPr sz="2800">
                <a:solidFill>
                  <a:schemeClr val="tx1"/>
                </a:solidFill>
                <a:latin typeface="Arial" charset="0"/>
                <a:cs typeface="Arial" charset="0"/>
              </a:defRPr>
            </a:lvl2pPr>
            <a:lvl3pPr marL="1143000" indent="-228600">
              <a:spcBef>
                <a:spcPct val="20000"/>
              </a:spcBef>
              <a:buChar char="•"/>
              <a:defRPr sz="2400">
                <a:solidFill>
                  <a:schemeClr val="tx1"/>
                </a:solidFill>
                <a:latin typeface="Arial" charset="0"/>
                <a:cs typeface="Arial" charset="0"/>
              </a:defRPr>
            </a:lvl3pPr>
            <a:lvl4pPr marL="1600200" indent="-228600">
              <a:spcBef>
                <a:spcPct val="20000"/>
              </a:spcBef>
              <a:buChar char="–"/>
              <a:defRPr sz="2000">
                <a:solidFill>
                  <a:schemeClr val="tx1"/>
                </a:solidFill>
                <a:latin typeface="Arial" charset="0"/>
                <a:cs typeface="Arial" charset="0"/>
              </a:defRPr>
            </a:lvl4pPr>
            <a:lvl5pPr marL="2057400" indent="-22860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algn="ctr" eaLnBrk="1" hangingPunct="1">
              <a:spcBef>
                <a:spcPct val="0"/>
              </a:spcBef>
              <a:buFontTx/>
              <a:buNone/>
            </a:pPr>
            <a:r>
              <a:rPr lang="en-GB" altLang="en-US" sz="1100" dirty="0"/>
              <a:t>Source http://www.public.asu.edu/~arrows/geomorph/soil.GIF</a:t>
            </a:r>
          </a:p>
        </p:txBody>
      </p:sp>
      <p:cxnSp>
        <p:nvCxnSpPr>
          <p:cNvPr id="13" name="Straight Arrow Connector 12"/>
          <p:cNvCxnSpPr/>
          <p:nvPr/>
        </p:nvCxnSpPr>
        <p:spPr>
          <a:xfrm>
            <a:off x="8898123" y="1561840"/>
            <a:ext cx="0" cy="160786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1"/>
          <p:cNvSpPr>
            <a:spLocks noChangeArrowheads="1"/>
          </p:cNvSpPr>
          <p:nvPr/>
        </p:nvSpPr>
        <p:spPr bwMode="auto">
          <a:xfrm>
            <a:off x="179512" y="4581128"/>
            <a:ext cx="8684372"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Arial" charset="0"/>
                <a:cs typeface="Arial" charset="0"/>
              </a:defRPr>
            </a:lvl1pPr>
            <a:lvl2pPr>
              <a:spcBef>
                <a:spcPct val="20000"/>
              </a:spcBef>
              <a:buChar char="–"/>
              <a:defRPr sz="2800">
                <a:solidFill>
                  <a:schemeClr val="tx1"/>
                </a:solidFill>
                <a:latin typeface="Arial" charset="0"/>
                <a:cs typeface="Arial" charset="0"/>
              </a:defRPr>
            </a:lvl2pPr>
            <a:lvl3pPr marL="1143000" indent="-228600">
              <a:spcBef>
                <a:spcPct val="20000"/>
              </a:spcBef>
              <a:buChar char="•"/>
              <a:defRPr sz="2400">
                <a:solidFill>
                  <a:schemeClr val="tx1"/>
                </a:solidFill>
                <a:latin typeface="Arial" charset="0"/>
                <a:cs typeface="Arial" charset="0"/>
              </a:defRPr>
            </a:lvl3pPr>
            <a:lvl4pPr marL="1600200" indent="-228600">
              <a:spcBef>
                <a:spcPct val="20000"/>
              </a:spcBef>
              <a:buChar char="–"/>
              <a:defRPr sz="2000">
                <a:solidFill>
                  <a:schemeClr val="tx1"/>
                </a:solidFill>
                <a:latin typeface="Arial" charset="0"/>
                <a:cs typeface="Arial" charset="0"/>
              </a:defRPr>
            </a:lvl4pPr>
            <a:lvl5pPr marL="2057400" indent="-22860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a:defRPr/>
            </a:pPr>
            <a:r>
              <a:rPr lang="en-GB" altLang="en-US" sz="2000" b="1" dirty="0"/>
              <a:t>However, if the </a:t>
            </a:r>
            <a:r>
              <a:rPr lang="en-GB" altLang="en-US" sz="2000" b="1" dirty="0" err="1"/>
              <a:t>regolith</a:t>
            </a:r>
            <a:r>
              <a:rPr lang="en-GB" altLang="en-US" sz="2000" b="1" dirty="0"/>
              <a:t> is readily removed, then water can access the reaction front.</a:t>
            </a:r>
          </a:p>
          <a:p>
            <a:pPr>
              <a:defRPr/>
            </a:pPr>
            <a:endParaRPr lang="en-GB" altLang="en-US" sz="2000" b="1" dirty="0"/>
          </a:p>
          <a:p>
            <a:pPr>
              <a:defRPr/>
            </a:pPr>
            <a:r>
              <a:rPr lang="en-GB" altLang="en-US" sz="2000" b="1" dirty="0"/>
              <a:t>So rapid (or continuous) removal of </a:t>
            </a:r>
            <a:r>
              <a:rPr lang="en-GB" altLang="en-US" sz="2000" b="1" dirty="0" err="1"/>
              <a:t>regolith</a:t>
            </a:r>
            <a:r>
              <a:rPr lang="en-GB" altLang="en-US" sz="2000" b="1" dirty="0"/>
              <a:t> increases weathering rates. </a:t>
            </a:r>
          </a:p>
        </p:txBody>
      </p:sp>
    </p:spTree>
    <p:extLst>
      <p:ext uri="{BB962C8B-B14F-4D97-AF65-F5344CB8AC3E}">
        <p14:creationId xmlns:p14="http://schemas.microsoft.com/office/powerpoint/2010/main" val="721891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Image result for mont eguille"/>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830401" y="1772816"/>
            <a:ext cx="7547625" cy="49800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7504" y="1916832"/>
            <a:ext cx="3240360" cy="984885"/>
          </a:xfrm>
          <a:prstGeom prst="rect">
            <a:avLst/>
          </a:prstGeom>
          <a:solidFill>
            <a:schemeClr val="bg1"/>
          </a:solidFill>
          <a:ln w="57150">
            <a:solidFill>
              <a:schemeClr val="tx1"/>
            </a:solidFill>
          </a:ln>
        </p:spPr>
        <p:txBody>
          <a:bodyPr wrap="square" rtlCol="0">
            <a:spAutoFit/>
          </a:bodyPr>
          <a:lstStyle/>
          <a:p>
            <a:pPr>
              <a:spcAft>
                <a:spcPts val="600"/>
              </a:spcAft>
            </a:pPr>
            <a:r>
              <a:rPr lang="en-GB" sz="1600" dirty="0">
                <a:sym typeface="Wingdings" panose="05000000000000000000" pitchFamily="2" charset="2"/>
              </a:rPr>
              <a:t>Steep slope</a:t>
            </a:r>
          </a:p>
          <a:p>
            <a:pPr>
              <a:spcAft>
                <a:spcPts val="600"/>
              </a:spcAft>
            </a:pPr>
            <a:r>
              <a:rPr lang="en-GB" sz="1600" dirty="0">
                <a:sym typeface="Wingdings" panose="05000000000000000000" pitchFamily="2" charset="2"/>
              </a:rPr>
              <a:t>Instantaneous removal of </a:t>
            </a:r>
            <a:r>
              <a:rPr lang="en-GB" sz="1600" dirty="0" err="1">
                <a:sym typeface="Wingdings" panose="05000000000000000000" pitchFamily="2" charset="2"/>
              </a:rPr>
              <a:t>regolith</a:t>
            </a:r>
            <a:endParaRPr lang="en-GB" sz="1600" dirty="0">
              <a:sym typeface="Wingdings" panose="05000000000000000000" pitchFamily="2" charset="2"/>
            </a:endParaRPr>
          </a:p>
          <a:p>
            <a:pPr>
              <a:spcAft>
                <a:spcPts val="600"/>
              </a:spcAft>
            </a:pPr>
            <a:r>
              <a:rPr lang="en-GB" sz="1600" dirty="0">
                <a:sym typeface="Wingdings" panose="05000000000000000000" pitchFamily="2" charset="2"/>
              </a:rPr>
              <a:t>High weathering rate</a:t>
            </a:r>
            <a:endParaRPr lang="en-GB" sz="1600" b="1" dirty="0"/>
          </a:p>
        </p:txBody>
      </p:sp>
      <p:sp>
        <p:nvSpPr>
          <p:cNvPr id="6" name="TextBox 5"/>
          <p:cNvSpPr txBox="1"/>
          <p:nvPr/>
        </p:nvSpPr>
        <p:spPr>
          <a:xfrm>
            <a:off x="6024868" y="5649634"/>
            <a:ext cx="3024336" cy="984885"/>
          </a:xfrm>
          <a:prstGeom prst="rect">
            <a:avLst/>
          </a:prstGeom>
          <a:solidFill>
            <a:schemeClr val="bg1"/>
          </a:solidFill>
          <a:ln w="57150">
            <a:solidFill>
              <a:schemeClr val="tx1"/>
            </a:solidFill>
          </a:ln>
        </p:spPr>
        <p:txBody>
          <a:bodyPr wrap="square" rtlCol="0">
            <a:spAutoFit/>
          </a:bodyPr>
          <a:lstStyle/>
          <a:p>
            <a:pPr>
              <a:spcAft>
                <a:spcPts val="600"/>
              </a:spcAft>
            </a:pPr>
            <a:r>
              <a:rPr lang="en-GB" sz="1600" dirty="0">
                <a:sym typeface="Wingdings" panose="05000000000000000000" pitchFamily="2" charset="2"/>
              </a:rPr>
              <a:t>Low gradient slope</a:t>
            </a:r>
          </a:p>
          <a:p>
            <a:pPr>
              <a:spcAft>
                <a:spcPts val="600"/>
              </a:spcAft>
            </a:pPr>
            <a:r>
              <a:rPr lang="en-GB" sz="1600" dirty="0">
                <a:sym typeface="Wingdings" panose="05000000000000000000" pitchFamily="2" charset="2"/>
              </a:rPr>
              <a:t>Low rate of removal of </a:t>
            </a:r>
            <a:r>
              <a:rPr lang="en-GB" sz="1600" dirty="0" err="1">
                <a:sym typeface="Wingdings" panose="05000000000000000000" pitchFamily="2" charset="2"/>
              </a:rPr>
              <a:t>regolith</a:t>
            </a:r>
            <a:endParaRPr lang="en-GB" sz="1600" dirty="0">
              <a:sym typeface="Wingdings" panose="05000000000000000000" pitchFamily="2" charset="2"/>
            </a:endParaRPr>
          </a:p>
          <a:p>
            <a:pPr>
              <a:spcAft>
                <a:spcPts val="600"/>
              </a:spcAft>
            </a:pPr>
            <a:r>
              <a:rPr lang="en-GB" sz="1600" dirty="0">
                <a:sym typeface="Wingdings" panose="05000000000000000000" pitchFamily="2" charset="2"/>
              </a:rPr>
              <a:t>Low weathering rate</a:t>
            </a:r>
            <a:endParaRPr lang="en-GB" sz="1600" b="1" dirty="0"/>
          </a:p>
        </p:txBody>
      </p:sp>
      <p:sp>
        <p:nvSpPr>
          <p:cNvPr id="7" name="TextBox 6"/>
          <p:cNvSpPr txBox="1"/>
          <p:nvPr/>
        </p:nvSpPr>
        <p:spPr>
          <a:xfrm>
            <a:off x="6228184" y="2156083"/>
            <a:ext cx="2821020" cy="984885"/>
          </a:xfrm>
          <a:prstGeom prst="rect">
            <a:avLst/>
          </a:prstGeom>
          <a:solidFill>
            <a:schemeClr val="bg1"/>
          </a:solidFill>
          <a:ln w="57150">
            <a:solidFill>
              <a:schemeClr val="tx1"/>
            </a:solidFill>
          </a:ln>
        </p:spPr>
        <p:txBody>
          <a:bodyPr wrap="square" rtlCol="0">
            <a:spAutoFit/>
          </a:bodyPr>
          <a:lstStyle/>
          <a:p>
            <a:pPr>
              <a:spcAft>
                <a:spcPts val="600"/>
              </a:spcAft>
            </a:pPr>
            <a:r>
              <a:rPr lang="en-GB" sz="1600" dirty="0">
                <a:sym typeface="Wingdings" panose="05000000000000000000" pitchFamily="2" charset="2"/>
              </a:rPr>
              <a:t>Moderate slope</a:t>
            </a:r>
          </a:p>
          <a:p>
            <a:pPr>
              <a:spcAft>
                <a:spcPts val="600"/>
              </a:spcAft>
            </a:pPr>
            <a:r>
              <a:rPr lang="en-GB" sz="1600" dirty="0">
                <a:sym typeface="Wingdings" panose="05000000000000000000" pitchFamily="2" charset="2"/>
              </a:rPr>
              <a:t>Moderate removal of </a:t>
            </a:r>
            <a:r>
              <a:rPr lang="en-GB" sz="1600" dirty="0" err="1">
                <a:sym typeface="Wingdings" panose="05000000000000000000" pitchFamily="2" charset="2"/>
              </a:rPr>
              <a:t>regolith</a:t>
            </a:r>
            <a:endParaRPr lang="en-GB" sz="1600" dirty="0">
              <a:sym typeface="Wingdings" panose="05000000000000000000" pitchFamily="2" charset="2"/>
            </a:endParaRPr>
          </a:p>
          <a:p>
            <a:pPr>
              <a:spcAft>
                <a:spcPts val="600"/>
              </a:spcAft>
            </a:pPr>
            <a:r>
              <a:rPr lang="en-GB" sz="1600" dirty="0">
                <a:sym typeface="Wingdings" panose="05000000000000000000" pitchFamily="2" charset="2"/>
              </a:rPr>
              <a:t>Moderate weathering rate</a:t>
            </a:r>
            <a:endParaRPr lang="en-GB" sz="1600" b="1" dirty="0"/>
          </a:p>
        </p:txBody>
      </p:sp>
      <p:sp>
        <p:nvSpPr>
          <p:cNvPr id="8" name="Rectangle 11"/>
          <p:cNvSpPr>
            <a:spLocks noChangeArrowheads="1"/>
          </p:cNvSpPr>
          <p:nvPr/>
        </p:nvSpPr>
        <p:spPr bwMode="auto">
          <a:xfrm>
            <a:off x="179512" y="1196752"/>
            <a:ext cx="87849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Arial" charset="0"/>
                <a:cs typeface="Arial" charset="0"/>
              </a:defRPr>
            </a:lvl1pPr>
            <a:lvl2pPr>
              <a:spcBef>
                <a:spcPct val="20000"/>
              </a:spcBef>
              <a:buChar char="–"/>
              <a:defRPr sz="2800">
                <a:solidFill>
                  <a:schemeClr val="tx1"/>
                </a:solidFill>
                <a:latin typeface="Arial" charset="0"/>
                <a:cs typeface="Arial" charset="0"/>
              </a:defRPr>
            </a:lvl2pPr>
            <a:lvl3pPr marL="1143000" indent="-228600">
              <a:spcBef>
                <a:spcPct val="20000"/>
              </a:spcBef>
              <a:buChar char="•"/>
              <a:defRPr sz="2400">
                <a:solidFill>
                  <a:schemeClr val="tx1"/>
                </a:solidFill>
                <a:latin typeface="Arial" charset="0"/>
                <a:cs typeface="Arial" charset="0"/>
              </a:defRPr>
            </a:lvl3pPr>
            <a:lvl4pPr marL="1600200" indent="-228600">
              <a:spcBef>
                <a:spcPct val="20000"/>
              </a:spcBef>
              <a:buChar char="–"/>
              <a:defRPr sz="2000">
                <a:solidFill>
                  <a:schemeClr val="tx1"/>
                </a:solidFill>
                <a:latin typeface="Arial" charset="0"/>
                <a:cs typeface="Arial" charset="0"/>
              </a:defRPr>
            </a:lvl4pPr>
            <a:lvl5pPr marL="2057400" indent="-22860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a:defRPr/>
            </a:pPr>
            <a:r>
              <a:rPr lang="en-GB" altLang="en-US" sz="2000" b="1" dirty="0">
                <a:sym typeface="Wingdings" panose="05000000000000000000" pitchFamily="2" charset="2"/>
              </a:rPr>
              <a:t>… and the rate of removal of </a:t>
            </a:r>
            <a:r>
              <a:rPr lang="en-GB" altLang="en-US" sz="2000" b="1" dirty="0" err="1">
                <a:sym typeface="Wingdings" panose="05000000000000000000" pitchFamily="2" charset="2"/>
              </a:rPr>
              <a:t>regolith</a:t>
            </a:r>
            <a:r>
              <a:rPr lang="en-GB" altLang="en-US" sz="2000" b="1" dirty="0">
                <a:sym typeface="Wingdings" panose="05000000000000000000" pitchFamily="2" charset="2"/>
              </a:rPr>
              <a:t> is related to slope gradient.</a:t>
            </a:r>
            <a:endParaRPr lang="en-GB" altLang="en-US" sz="2000" dirty="0">
              <a:sym typeface="Wingdings" panose="05000000000000000000" pitchFamily="2" charset="2"/>
            </a:endParaRPr>
          </a:p>
        </p:txBody>
      </p:sp>
      <p:sp>
        <p:nvSpPr>
          <p:cNvPr id="9" name="Rectangle 4"/>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C</a:t>
            </a:r>
            <a:r>
              <a:rPr kumimoji="0" lang="en-GB" sz="4000" b="1" i="0" u="none" kern="1200" cap="none" spc="0" normalizeH="0" baseline="0" noProof="0" dirty="0" err="1">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ontrols</a:t>
            </a:r>
            <a:r>
              <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 on weathering rates</a:t>
            </a:r>
          </a:p>
        </p:txBody>
      </p:sp>
      <p:cxnSp>
        <p:nvCxnSpPr>
          <p:cNvPr id="10" name="Straight Arrow Connector 9"/>
          <p:cNvCxnSpPr>
            <a:stCxn id="5" idx="3"/>
          </p:cNvCxnSpPr>
          <p:nvPr/>
        </p:nvCxnSpPr>
        <p:spPr>
          <a:xfrm>
            <a:off x="3347864" y="2409275"/>
            <a:ext cx="792088" cy="492442"/>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4535996" y="2663371"/>
            <a:ext cx="1661938" cy="1053661"/>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flipV="1">
            <a:off x="3995936" y="5949280"/>
            <a:ext cx="2028932" cy="192796"/>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99592" y="6352766"/>
            <a:ext cx="2592288" cy="338554"/>
          </a:xfrm>
          <a:prstGeom prst="rect">
            <a:avLst/>
          </a:prstGeom>
          <a:solidFill>
            <a:schemeClr val="bg1"/>
          </a:solidFill>
        </p:spPr>
        <p:txBody>
          <a:bodyPr wrap="square" rtlCol="0">
            <a:spAutoFit/>
          </a:bodyPr>
          <a:lstStyle/>
          <a:p>
            <a:pPr>
              <a:spcAft>
                <a:spcPts val="600"/>
              </a:spcAft>
            </a:pPr>
            <a:r>
              <a:rPr lang="en-GB" sz="1600" b="1" dirty="0">
                <a:sym typeface="Wingdings" panose="05000000000000000000" pitchFamily="2" charset="2"/>
              </a:rPr>
              <a:t>Mont Aiguille, French Alps</a:t>
            </a:r>
          </a:p>
        </p:txBody>
      </p:sp>
    </p:spTree>
    <p:extLst>
      <p:ext uri="{BB962C8B-B14F-4D97-AF65-F5344CB8AC3E}">
        <p14:creationId xmlns:p14="http://schemas.microsoft.com/office/powerpoint/2010/main" val="4094642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504" y="1628800"/>
            <a:ext cx="8856984" cy="511256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9155" name="Picture 4"/>
          <p:cNvPicPr>
            <a:picLocks noGrp="1" noChangeAspect="1" noChangeArrowheads="1"/>
          </p:cNvPicPr>
          <p:nvPr>
            <p:ph type="chart" idx="1"/>
          </p:nvPr>
        </p:nvPicPr>
        <p:blipFill>
          <a:blip r:embed="rId2" cstate="email">
            <a:extLst>
              <a:ext uri="{28A0092B-C50C-407E-A947-70E740481C1C}">
                <a14:useLocalDpi xmlns:a14="http://schemas.microsoft.com/office/drawing/2010/main"/>
              </a:ext>
            </a:extLst>
          </a:blip>
          <a:srcRect/>
          <a:stretch>
            <a:fillRect/>
          </a:stretch>
        </p:blipFill>
        <p:spPr>
          <a:xfrm>
            <a:off x="147638" y="1700213"/>
            <a:ext cx="8745537" cy="5005387"/>
          </a:xfrm>
          <a:noFill/>
          <a:ln w="57150">
            <a:solidFill>
              <a:srgbClr val="0000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64" name="Rectangle 1"/>
          <p:cNvSpPr>
            <a:spLocks noChangeArrowheads="1"/>
          </p:cNvSpPr>
          <p:nvPr/>
        </p:nvSpPr>
        <p:spPr bwMode="auto">
          <a:xfrm>
            <a:off x="1042988" y="2060575"/>
            <a:ext cx="2286000" cy="2308225"/>
          </a:xfrm>
          <a:prstGeom prst="rect">
            <a:avLst/>
          </a:prstGeom>
          <a:noFill/>
          <a:ln>
            <a:noFill/>
          </a:ln>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defRPr/>
            </a:pPr>
            <a:r>
              <a:rPr lang="en-GB" altLang="en-US" sz="1800" dirty="0">
                <a:solidFill>
                  <a:schemeClr val="bg2"/>
                </a:solidFill>
              </a:rPr>
              <a:t>On </a:t>
            </a:r>
            <a:r>
              <a:rPr lang="en-GB" altLang="en-US" sz="1800" b="1" i="1" dirty="0">
                <a:solidFill>
                  <a:schemeClr val="bg2"/>
                </a:solidFill>
              </a:rPr>
              <a:t>weathering-limited slopes</a:t>
            </a:r>
            <a:r>
              <a:rPr lang="en-GB" altLang="en-US" sz="1800" b="1" dirty="0">
                <a:solidFill>
                  <a:schemeClr val="bg2"/>
                </a:solidFill>
              </a:rPr>
              <a:t>, </a:t>
            </a:r>
            <a:r>
              <a:rPr lang="en-GB" altLang="en-US" sz="1800" dirty="0">
                <a:solidFill>
                  <a:schemeClr val="bg2"/>
                </a:solidFill>
              </a:rPr>
              <a:t>transport processes are so efficient that debris is removed more quickly than it can be generated by further weathering. </a:t>
            </a:r>
          </a:p>
        </p:txBody>
      </p:sp>
      <p:sp>
        <p:nvSpPr>
          <p:cNvPr id="40965" name="Rectangle 2"/>
          <p:cNvSpPr>
            <a:spLocks noChangeArrowheads="1"/>
          </p:cNvSpPr>
          <p:nvPr/>
        </p:nvSpPr>
        <p:spPr bwMode="auto">
          <a:xfrm>
            <a:off x="3887788" y="4581525"/>
            <a:ext cx="52562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defRPr/>
            </a:pPr>
            <a:r>
              <a:rPr lang="en-GB" altLang="en-US" sz="1800" b="1" i="1" dirty="0">
                <a:solidFill>
                  <a:schemeClr val="bg2"/>
                </a:solidFill>
              </a:rPr>
              <a:t>Transport-limited slopes </a:t>
            </a:r>
            <a:r>
              <a:rPr lang="en-GB" altLang="en-US" sz="1800" dirty="0">
                <a:solidFill>
                  <a:schemeClr val="bg2"/>
                </a:solidFill>
              </a:rPr>
              <a:t>occur where weathering processes are efficient at producing debris but where transport processes are inefficient at removing it from the slope</a:t>
            </a:r>
          </a:p>
        </p:txBody>
      </p:sp>
      <p:sp>
        <p:nvSpPr>
          <p:cNvPr id="9" name="Rectangle 4"/>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C</a:t>
            </a:r>
            <a:r>
              <a:rPr kumimoji="0" lang="en-GB" sz="4000" b="1" i="0" u="none" kern="1200" cap="none" spc="0" normalizeH="0" baseline="0" noProof="0" dirty="0" err="1">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ontrols</a:t>
            </a:r>
            <a:r>
              <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 on weathering rates</a:t>
            </a:r>
          </a:p>
        </p:txBody>
      </p:sp>
      <p:sp>
        <p:nvSpPr>
          <p:cNvPr id="10" name="TextBox 9"/>
          <p:cNvSpPr txBox="1"/>
          <p:nvPr/>
        </p:nvSpPr>
        <p:spPr>
          <a:xfrm>
            <a:off x="97600" y="1124744"/>
            <a:ext cx="8496944" cy="400110"/>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The concept of weathering-limited and transport-limited slopes. </a:t>
            </a:r>
            <a:endParaRPr lang="en-GB" sz="2000" b="1" dirty="0">
              <a:sym typeface="Wingdings" panose="05000000000000000000" pitchFamily="2" charset="2"/>
            </a:endParaRPr>
          </a:p>
        </p:txBody>
      </p:sp>
    </p:spTree>
    <p:extLst>
      <p:ext uri="{BB962C8B-B14F-4D97-AF65-F5344CB8AC3E}">
        <p14:creationId xmlns:p14="http://schemas.microsoft.com/office/powerpoint/2010/main" val="1855779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1"/>
          <p:cNvSpPr>
            <a:spLocks noChangeArrowheads="1"/>
          </p:cNvSpPr>
          <p:nvPr/>
        </p:nvSpPr>
        <p:spPr bwMode="auto">
          <a:xfrm>
            <a:off x="196588" y="1832630"/>
            <a:ext cx="39608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algn="ctr" eaLnBrk="1" hangingPunct="1">
              <a:spcBef>
                <a:spcPct val="0"/>
              </a:spcBef>
              <a:buFontTx/>
              <a:buNone/>
              <a:defRPr/>
            </a:pPr>
            <a:r>
              <a:rPr lang="en-GB" altLang="en-US" sz="2000" b="1" i="1" dirty="0"/>
              <a:t>Weathering-limited slopes:</a:t>
            </a:r>
          </a:p>
          <a:p>
            <a:pPr algn="ctr" eaLnBrk="1" hangingPunct="1">
              <a:spcBef>
                <a:spcPct val="0"/>
              </a:spcBef>
              <a:buFontTx/>
              <a:buNone/>
              <a:defRPr/>
            </a:pPr>
            <a:r>
              <a:rPr lang="en-GB" altLang="en-US" sz="2000" b="1" i="1" dirty="0"/>
              <a:t>Thin </a:t>
            </a:r>
            <a:r>
              <a:rPr lang="en-GB" altLang="en-US" sz="2000" b="1" i="1" dirty="0" err="1"/>
              <a:t>regolith</a:t>
            </a:r>
            <a:r>
              <a:rPr lang="en-GB" altLang="en-US" sz="2000" b="1" dirty="0"/>
              <a:t>  </a:t>
            </a:r>
          </a:p>
        </p:txBody>
      </p:sp>
      <p:pic>
        <p:nvPicPr>
          <p:cNvPr id="50180" name="Picture 7"/>
          <p:cNvPicPr>
            <a:picLocks noChangeAspect="1" noChangeArrowheads="1"/>
          </p:cNvPicPr>
          <p:nvPr/>
        </p:nvPicPr>
        <p:blipFill>
          <a:blip r:embed="rId2" cstate="email">
            <a:extLst>
              <a:ext uri="{28A0092B-C50C-407E-A947-70E740481C1C}">
                <a14:useLocalDpi xmlns:a14="http://schemas.microsoft.com/office/drawing/2010/main"/>
              </a:ext>
            </a:extLst>
          </a:blip>
          <a:srcRect t="-1887"/>
          <a:stretch>
            <a:fillRect/>
          </a:stretch>
        </p:blipFill>
        <p:spPr bwMode="auto">
          <a:xfrm>
            <a:off x="794751" y="2636912"/>
            <a:ext cx="2447925"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1" name="Picture 7" descr="http://w3.salemstate.edu/~lhanson/gls210/images_slopes/DalrympleSlopeExample.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258109" y="2636912"/>
            <a:ext cx="4297362" cy="257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2" name="Rectangle 2"/>
          <p:cNvSpPr>
            <a:spLocks noChangeArrowheads="1"/>
          </p:cNvSpPr>
          <p:nvPr/>
        </p:nvSpPr>
        <p:spPr bwMode="auto">
          <a:xfrm>
            <a:off x="4741063" y="1772816"/>
            <a:ext cx="38163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cs typeface="Arial" charset="0"/>
              </a:defRPr>
            </a:lvl1pPr>
            <a:lvl2pPr marL="742950" indent="-285750">
              <a:spcBef>
                <a:spcPct val="20000"/>
              </a:spcBef>
              <a:buChar char="–"/>
              <a:defRPr sz="2800">
                <a:solidFill>
                  <a:schemeClr val="tx1"/>
                </a:solidFill>
                <a:latin typeface="Arial" charset="0"/>
                <a:cs typeface="Arial" charset="0"/>
              </a:defRPr>
            </a:lvl2pPr>
            <a:lvl3pPr marL="1143000" indent="-228600">
              <a:spcBef>
                <a:spcPct val="20000"/>
              </a:spcBef>
              <a:buChar char="•"/>
              <a:defRPr sz="2400">
                <a:solidFill>
                  <a:schemeClr val="tx1"/>
                </a:solidFill>
                <a:latin typeface="Arial" charset="0"/>
                <a:cs typeface="Arial" charset="0"/>
              </a:defRPr>
            </a:lvl3pPr>
            <a:lvl4pPr marL="1600200" indent="-228600">
              <a:spcBef>
                <a:spcPct val="20000"/>
              </a:spcBef>
              <a:buChar char="–"/>
              <a:defRPr sz="2000">
                <a:solidFill>
                  <a:schemeClr val="tx1"/>
                </a:solidFill>
                <a:latin typeface="Arial" charset="0"/>
                <a:cs typeface="Arial" charset="0"/>
              </a:defRPr>
            </a:lvl4pPr>
            <a:lvl5pPr marL="2057400" indent="-22860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algn="ctr" eaLnBrk="1" hangingPunct="1">
              <a:spcBef>
                <a:spcPct val="0"/>
              </a:spcBef>
              <a:buFontTx/>
              <a:buNone/>
            </a:pPr>
            <a:r>
              <a:rPr lang="en-GB" altLang="en-US" sz="2000" b="1" i="1" dirty="0"/>
              <a:t>Transport-limited slopes: thick </a:t>
            </a:r>
            <a:r>
              <a:rPr lang="en-GB" altLang="en-US" sz="2000" b="1" i="1" dirty="0" err="1"/>
              <a:t>regolith</a:t>
            </a:r>
            <a:endParaRPr lang="en-GB" altLang="en-US" sz="2000" dirty="0"/>
          </a:p>
        </p:txBody>
      </p:sp>
      <p:sp>
        <p:nvSpPr>
          <p:cNvPr id="45063" name="Rectangle 1"/>
          <p:cNvSpPr>
            <a:spLocks noChangeArrowheads="1"/>
          </p:cNvSpPr>
          <p:nvPr/>
        </p:nvSpPr>
        <p:spPr bwMode="auto">
          <a:xfrm>
            <a:off x="179388" y="5301208"/>
            <a:ext cx="37592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algn="ctr" eaLnBrk="1" hangingPunct="1">
              <a:spcBef>
                <a:spcPct val="0"/>
              </a:spcBef>
              <a:buFontTx/>
              <a:buNone/>
              <a:defRPr/>
            </a:pPr>
            <a:r>
              <a:rPr lang="en-GB" altLang="en-US" sz="1800" dirty="0"/>
              <a:t>On </a:t>
            </a:r>
            <a:r>
              <a:rPr lang="en-GB" altLang="en-US" sz="1800" b="1" dirty="0"/>
              <a:t>weathering-limited slopes, </a:t>
            </a:r>
            <a:r>
              <a:rPr lang="en-GB" altLang="en-US" sz="1800" dirty="0"/>
              <a:t>transport processes are very efficient so debris is removed more quickly than it can be generated by further weathering. </a:t>
            </a:r>
          </a:p>
        </p:txBody>
      </p:sp>
      <p:sp>
        <p:nvSpPr>
          <p:cNvPr id="50184" name="Rectangle 2"/>
          <p:cNvSpPr>
            <a:spLocks noChangeArrowheads="1"/>
          </p:cNvSpPr>
          <p:nvPr/>
        </p:nvSpPr>
        <p:spPr bwMode="auto">
          <a:xfrm>
            <a:off x="4157400" y="5301207"/>
            <a:ext cx="475615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cs typeface="Arial" charset="0"/>
              </a:defRPr>
            </a:lvl1pPr>
            <a:lvl2pPr marL="742950" indent="-285750">
              <a:spcBef>
                <a:spcPct val="20000"/>
              </a:spcBef>
              <a:buChar char="–"/>
              <a:defRPr sz="2800">
                <a:solidFill>
                  <a:schemeClr val="tx1"/>
                </a:solidFill>
                <a:latin typeface="Arial" charset="0"/>
                <a:cs typeface="Arial" charset="0"/>
              </a:defRPr>
            </a:lvl2pPr>
            <a:lvl3pPr marL="1143000" indent="-228600">
              <a:spcBef>
                <a:spcPct val="20000"/>
              </a:spcBef>
              <a:buChar char="•"/>
              <a:defRPr sz="2400">
                <a:solidFill>
                  <a:schemeClr val="tx1"/>
                </a:solidFill>
                <a:latin typeface="Arial" charset="0"/>
                <a:cs typeface="Arial" charset="0"/>
              </a:defRPr>
            </a:lvl3pPr>
            <a:lvl4pPr marL="1600200" indent="-228600">
              <a:spcBef>
                <a:spcPct val="20000"/>
              </a:spcBef>
              <a:buChar char="–"/>
              <a:defRPr sz="2000">
                <a:solidFill>
                  <a:schemeClr val="tx1"/>
                </a:solidFill>
                <a:latin typeface="Arial" charset="0"/>
                <a:cs typeface="Arial" charset="0"/>
              </a:defRPr>
            </a:lvl4pPr>
            <a:lvl5pPr marL="2057400" indent="-22860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algn="ctr" eaLnBrk="1" hangingPunct="1">
              <a:spcBef>
                <a:spcPct val="0"/>
              </a:spcBef>
              <a:buFontTx/>
              <a:buNone/>
            </a:pPr>
            <a:r>
              <a:rPr lang="en-GB" altLang="en-US" sz="1800" b="1" dirty="0"/>
              <a:t>Transport-limited slopes </a:t>
            </a:r>
            <a:r>
              <a:rPr lang="en-GB" altLang="en-US" sz="1800" dirty="0"/>
              <a:t>occur where weathering processes are efficient at producing debris but where transport processes are inefficient at removing it from the slope</a:t>
            </a:r>
          </a:p>
        </p:txBody>
      </p:sp>
      <p:sp>
        <p:nvSpPr>
          <p:cNvPr id="10" name="TextBox 9"/>
          <p:cNvSpPr txBox="1"/>
          <p:nvPr/>
        </p:nvSpPr>
        <p:spPr>
          <a:xfrm>
            <a:off x="97600" y="1124744"/>
            <a:ext cx="8496944" cy="707886"/>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And we can readily recognise weathering-limited and transport-limited slopes in our environment.</a:t>
            </a:r>
            <a:endParaRPr lang="en-GB" sz="2000" b="1" dirty="0">
              <a:sym typeface="Wingdings" panose="05000000000000000000" pitchFamily="2" charset="2"/>
            </a:endParaRPr>
          </a:p>
        </p:txBody>
      </p:sp>
      <p:sp>
        <p:nvSpPr>
          <p:cNvPr id="11" name="Rectangle 4"/>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C</a:t>
            </a:r>
            <a:r>
              <a:rPr kumimoji="0" lang="en-GB" sz="4000" b="1" i="0" u="none" kern="1200" cap="none" spc="0" normalizeH="0" baseline="0" noProof="0" dirty="0" err="1">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ontrols</a:t>
            </a:r>
            <a:r>
              <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 on weathering rates</a:t>
            </a:r>
          </a:p>
        </p:txBody>
      </p:sp>
    </p:spTree>
    <p:extLst>
      <p:ext uri="{BB962C8B-B14F-4D97-AF65-F5344CB8AC3E}">
        <p14:creationId xmlns:p14="http://schemas.microsoft.com/office/powerpoint/2010/main" val="2984776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9512" y="1196752"/>
            <a:ext cx="8730447" cy="2246769"/>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We see, then, that weathering rates (the rate of generation of sediment):</a:t>
            </a:r>
          </a:p>
          <a:p>
            <a:pPr marL="800100" lvl="1" indent="-342900">
              <a:spcAft>
                <a:spcPts val="600"/>
              </a:spcAft>
              <a:buFont typeface="Wingdings" pitchFamily="2" charset="2"/>
              <a:buChar char="à"/>
            </a:pPr>
            <a:r>
              <a:rPr lang="en-GB" sz="2000" b="1" dirty="0">
                <a:sym typeface="Wingdings" panose="05000000000000000000" pitchFamily="2" charset="2"/>
              </a:rPr>
              <a:t>Is high in areas of abundant rainfall and high temperatures</a:t>
            </a:r>
          </a:p>
          <a:p>
            <a:pPr marL="800100" lvl="1" indent="-342900">
              <a:spcAft>
                <a:spcPts val="600"/>
              </a:spcAft>
              <a:buFont typeface="Wingdings" pitchFamily="2" charset="2"/>
              <a:buChar char="à"/>
            </a:pPr>
            <a:r>
              <a:rPr lang="en-GB" sz="2000" b="1" dirty="0">
                <a:sym typeface="Wingdings" panose="05000000000000000000" pitchFamily="2" charset="2"/>
              </a:rPr>
              <a:t>Is high in areas of steep slope (and therefore topography)</a:t>
            </a:r>
          </a:p>
          <a:p>
            <a:pPr marL="800100" lvl="1" indent="-342900">
              <a:spcAft>
                <a:spcPts val="600"/>
              </a:spcAft>
              <a:buFont typeface="Wingdings" pitchFamily="2" charset="2"/>
              <a:buChar char="à"/>
            </a:pPr>
            <a:r>
              <a:rPr lang="en-GB" sz="2000" b="1" dirty="0">
                <a:sym typeface="Wingdings" panose="05000000000000000000" pitchFamily="2" charset="2"/>
              </a:rPr>
              <a:t>Note the positive feedback because of orographic rainfall (Dave’s lectures).</a:t>
            </a:r>
            <a:endParaRPr lang="en-GB" sz="2000" dirty="0">
              <a:sym typeface="Wingdings" panose="05000000000000000000" pitchFamily="2" charset="2"/>
            </a:endParaRPr>
          </a:p>
          <a:p>
            <a:pPr marL="342900" indent="-342900">
              <a:spcAft>
                <a:spcPts val="600"/>
              </a:spcAft>
              <a:buFont typeface="Arial" panose="020B0604020202020204" pitchFamily="34" charset="0"/>
              <a:buChar char="•"/>
            </a:pPr>
            <a:endParaRPr lang="en-GB" sz="2000" b="1" dirty="0"/>
          </a:p>
        </p:txBody>
      </p:sp>
      <p:pic>
        <p:nvPicPr>
          <p:cNvPr id="8194" name="Picture 2" descr="https://www.researchgate.net/profile/A_Joshua_West/publication/259243854/figure/fig1/AS:297184269488128@1447865659315/Calculated-chemical-weathering-rates-applying-the-island-arc-runoff-lithology-functions_W640.jpg"/>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1399180" y="2996952"/>
            <a:ext cx="6685039" cy="362134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2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Summary: C</a:t>
            </a:r>
            <a:r>
              <a:rPr kumimoji="0" lang="en-GB" sz="3200" b="1" i="0" u="none" kern="1200" cap="none" spc="0" normalizeH="0" baseline="0" noProof="0" dirty="0" err="1">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ontrols</a:t>
            </a:r>
            <a:r>
              <a:rPr kumimoji="0" lang="en-GB" sz="32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 on weathering rates</a:t>
            </a:r>
          </a:p>
        </p:txBody>
      </p:sp>
    </p:spTree>
    <p:extLst>
      <p:ext uri="{BB962C8B-B14F-4D97-AF65-F5344CB8AC3E}">
        <p14:creationId xmlns:p14="http://schemas.microsoft.com/office/powerpoint/2010/main" val="804497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monument-valley-camping-9campfire"/>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896" y="0"/>
            <a:ext cx="9137104" cy="685282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4">
            <a:extLst>
              <a:ext uri="{FF2B5EF4-FFF2-40B4-BE49-F238E27FC236}">
                <a16:creationId xmlns:a16="http://schemas.microsoft.com/office/drawing/2014/main" id="{229DC45C-1036-4D09-98B4-96AA72E1D51B}"/>
              </a:ext>
            </a:extLst>
          </p:cNvPr>
          <p:cNvSpPr txBox="1">
            <a:spLocks noChangeArrowheads="1"/>
          </p:cNvSpPr>
          <p:nvPr/>
        </p:nvSpPr>
        <p:spPr>
          <a:xfrm>
            <a:off x="107504" y="1628800"/>
            <a:ext cx="8928992" cy="3960440"/>
          </a:xfrm>
          <a:prstGeom prst="rect">
            <a:avLst/>
          </a:prstGeom>
          <a:solidFill>
            <a:schemeClr val="bg1">
              <a:alpha val="60000"/>
            </a:schemeClr>
          </a:solidFill>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800" b="1" i="0" u="none" strike="noStrike" kern="1200" cap="none" spc="0" normalizeH="0" baseline="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EART11100: </a:t>
            </a:r>
            <a:r>
              <a:rPr lang="en-GB" sz="2800" b="1" dirty="0">
                <a:effectLst>
                  <a:outerShdw blurRad="38100" dist="38100" dir="2700000" algn="tl">
                    <a:srgbClr val="000000">
                      <a:alpha val="43137"/>
                    </a:srgbClr>
                  </a:outerShdw>
                </a:effectLst>
                <a:latin typeface="Bookman Old Style" pitchFamily="18" charset="0"/>
                <a:ea typeface="Adobe Fangsong Std R" pitchFamily="18" charset="-128"/>
                <a:cs typeface="+mj-cs"/>
              </a:rPr>
              <a:t>Understanding t</a:t>
            </a:r>
            <a:r>
              <a:rPr kumimoji="0" lang="en-GB" sz="2800" b="1" i="0" u="none" strike="noStrike" kern="1200" cap="none" spc="0" normalizeH="0" baseline="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he Earth</a:t>
            </a:r>
          </a:p>
          <a:p>
            <a:pPr marL="0" marR="0" lvl="0" indent="0" algn="ctr" defTabSz="914400" rtl="0" eaLnBrk="1" fontAlgn="auto" latinLnBrk="0" hangingPunct="1">
              <a:lnSpc>
                <a:spcPct val="100000"/>
              </a:lnSpc>
              <a:spcBef>
                <a:spcPct val="0"/>
              </a:spcBef>
              <a:spcAft>
                <a:spcPts val="0"/>
              </a:spcAft>
              <a:buClrTx/>
              <a:buSzTx/>
              <a:buFontTx/>
              <a:buNone/>
              <a:tabLst/>
              <a:defRPr/>
            </a:pPr>
            <a:r>
              <a:rPr lang="en-GB" sz="2800" b="1" dirty="0">
                <a:effectLst>
                  <a:outerShdw blurRad="38100" dist="38100" dir="2700000" algn="tl">
                    <a:srgbClr val="000000">
                      <a:alpha val="43137"/>
                    </a:srgbClr>
                  </a:outerShdw>
                </a:effectLst>
                <a:latin typeface="Bookman Old Style" pitchFamily="18" charset="0"/>
                <a:ea typeface="Adobe Fangsong Std R" pitchFamily="18" charset="-128"/>
                <a:cs typeface="+mj-cs"/>
              </a:rPr>
              <a:t>A dynamic Planet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800" b="1" i="0" u="none" strike="noStrike" kern="1200" cap="none" spc="0" normalizeH="0" baseline="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Landscapes dominated by hillslope erosion (“hillslope geomorphology”)</a:t>
            </a:r>
            <a:endParaRPr kumimoji="0" lang="en-GB" sz="4800" b="1" i="0" u="none" strike="noStrike" kern="1200" cap="none" spc="0" normalizeH="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2012749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19672" y="1178750"/>
            <a:ext cx="5832648" cy="3586094"/>
          </a:xfrm>
          <a:prstGeom prst="rect">
            <a:avLst/>
          </a:prstGeom>
        </p:spPr>
      </p:pic>
      <p:sp>
        <p:nvSpPr>
          <p:cNvPr id="6" name="Content Placeholder 2"/>
          <p:cNvSpPr>
            <a:spLocks noGrp="1"/>
          </p:cNvSpPr>
          <p:nvPr>
            <p:ph idx="1"/>
          </p:nvPr>
        </p:nvSpPr>
        <p:spPr>
          <a:xfrm>
            <a:off x="179511" y="5229200"/>
            <a:ext cx="8964489" cy="1440160"/>
          </a:xfrm>
          <a:noFill/>
        </p:spPr>
        <p:txBody>
          <a:bodyPr>
            <a:noAutofit/>
          </a:bodyPr>
          <a:lstStyle/>
          <a:p>
            <a:pPr marL="0" indent="0">
              <a:buNone/>
            </a:pPr>
            <a:r>
              <a:rPr lang="en-GB" sz="2000" b="1" dirty="0">
                <a:latin typeface="Arial" panose="020B0604020202020204" pitchFamily="34" charset="0"/>
                <a:cs typeface="Arial" pitchFamily="34" charset="0"/>
              </a:rPr>
              <a:t>… you should be able to…</a:t>
            </a:r>
          </a:p>
          <a:p>
            <a:r>
              <a:rPr lang="en-GB" sz="2000" b="1" dirty="0">
                <a:latin typeface="Arial" panose="020B0604020202020204" pitchFamily="34" charset="0"/>
                <a:cs typeface="Arial" panose="020B0604020202020204" pitchFamily="34" charset="0"/>
                <a:sym typeface="Wingdings" pitchFamily="2" charset="2"/>
              </a:rPr>
              <a:t>describe the main hillslope erosion processes, where they happen, and the landforms (“geomorphology”) that result.</a:t>
            </a:r>
          </a:p>
        </p:txBody>
      </p:sp>
      <p:sp>
        <p:nvSpPr>
          <p:cNvPr id="7" name="Rectangle 6"/>
          <p:cNvSpPr/>
          <p:nvPr/>
        </p:nvSpPr>
        <p:spPr>
          <a:xfrm>
            <a:off x="1853443" y="1988840"/>
            <a:ext cx="1998477" cy="648072"/>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4">
            <a:extLst>
              <a:ext uri="{FF2B5EF4-FFF2-40B4-BE49-F238E27FC236}">
                <a16:creationId xmlns:a16="http://schemas.microsoft.com/office/drawing/2014/main" id="{115699D5-9C24-44CF-BEED-22B237E1D07C}"/>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chemeClr val="bg1"/>
                </a:solidFill>
                <a:latin typeface="Bookman Old Style" panose="02050604050505020204" pitchFamily="18" charset="0"/>
                <a:ea typeface="Adobe Fangsong Std R" pitchFamily="18" charset="-128"/>
                <a:cs typeface="+mj-cs"/>
              </a:rPr>
              <a:t>Intended learning outcomes</a:t>
            </a:r>
            <a:endParaRPr kumimoji="0" lang="en-GB" sz="4000" b="1" i="0" u="none" strike="noStrike" kern="1200" cap="none" spc="0" normalizeH="0" baseline="0" noProof="0" dirty="0">
              <a:ln>
                <a:noFill/>
              </a:ln>
              <a:solidFill>
                <a:schemeClr val="bg1"/>
              </a:solidFill>
              <a:effectLst/>
              <a:uLnTx/>
              <a:uFillTx/>
              <a:latin typeface="Bookman Old Style" panose="02050604050505020204" pitchFamily="18" charset="0"/>
              <a:ea typeface="Adobe Fangsong Std R" pitchFamily="18" charset="-128"/>
              <a:cs typeface="+mj-cs"/>
            </a:endParaRPr>
          </a:p>
        </p:txBody>
      </p:sp>
    </p:spTree>
    <p:extLst>
      <p:ext uri="{BB962C8B-B14F-4D97-AF65-F5344CB8AC3E}">
        <p14:creationId xmlns:p14="http://schemas.microsoft.com/office/powerpoint/2010/main" val="913615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7524" y="1496338"/>
            <a:ext cx="8496943" cy="1169551"/>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In this lecture we will look at </a:t>
            </a:r>
          </a:p>
          <a:p>
            <a:pPr marL="800100" lvl="1" indent="-342900">
              <a:spcAft>
                <a:spcPts val="600"/>
              </a:spcAft>
              <a:buFont typeface="Wingdings" panose="05000000000000000000" pitchFamily="2" charset="2"/>
              <a:buChar char="à"/>
            </a:pPr>
            <a:r>
              <a:rPr lang="en-GB" sz="2000" b="1" dirty="0">
                <a:sym typeface="Wingdings" panose="05000000000000000000" pitchFamily="2" charset="2"/>
              </a:rPr>
              <a:t>Erosion of weathered material, and the landforms that are generated</a:t>
            </a:r>
          </a:p>
          <a:p>
            <a:pPr marL="800100" lvl="1" indent="-342900">
              <a:spcAft>
                <a:spcPts val="600"/>
              </a:spcAft>
              <a:buFont typeface="Wingdings" panose="05000000000000000000" pitchFamily="2" charset="2"/>
              <a:buChar char="à"/>
            </a:pPr>
            <a:r>
              <a:rPr lang="en-GB" sz="2000" b="1" dirty="0">
                <a:sym typeface="Wingdings" panose="05000000000000000000" pitchFamily="2" charset="2"/>
              </a:rPr>
              <a:t>Beginning with “hillslope” (aka “gravity”) erosion.</a:t>
            </a:r>
            <a:endParaRPr lang="en-GB" sz="2000" b="1" dirty="0"/>
          </a:p>
        </p:txBody>
      </p:sp>
      <p:sp>
        <p:nvSpPr>
          <p:cNvPr id="4" name="Rectangle 4"/>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In this lecture…</a:t>
            </a:r>
          </a:p>
        </p:txBody>
      </p:sp>
      <p:grpSp>
        <p:nvGrpSpPr>
          <p:cNvPr id="7" name="Group 6"/>
          <p:cNvGrpSpPr/>
          <p:nvPr/>
        </p:nvGrpSpPr>
        <p:grpSpPr>
          <a:xfrm>
            <a:off x="963888" y="3148893"/>
            <a:ext cx="7712566" cy="3592475"/>
            <a:chOff x="963888" y="3148893"/>
            <a:chExt cx="7712566" cy="3592475"/>
          </a:xfrm>
        </p:grpSpPr>
        <p:pic>
          <p:nvPicPr>
            <p:cNvPr id="3074" name="Picture 2" descr="Products of Geomorphic Processes&#10;Process&#10;Erosion&#10;Transportation&#10;Deposition&#10;Erosional landform features&#10;Transportation&#10;Depo..."/>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963888" y="3148893"/>
              <a:ext cx="7144216" cy="35924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716016" y="4221088"/>
              <a:ext cx="3960438" cy="2016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Rectangle 1"/>
          <p:cNvSpPr/>
          <p:nvPr/>
        </p:nvSpPr>
        <p:spPr>
          <a:xfrm>
            <a:off x="683568" y="3501008"/>
            <a:ext cx="7920880" cy="1224136"/>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74185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Hillsope</a:t>
            </a:r>
            <a:r>
              <a:rPr lang="en-GB" sz="40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processes</a:t>
            </a:r>
            <a:endPar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4" name="TextBox 3"/>
          <p:cNvSpPr txBox="1"/>
          <p:nvPr/>
        </p:nvSpPr>
        <p:spPr>
          <a:xfrm>
            <a:off x="179512" y="1196752"/>
            <a:ext cx="8730447" cy="5401479"/>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Erosion is the process of removal of the </a:t>
            </a:r>
            <a:r>
              <a:rPr lang="en-GB" sz="2000" b="1" dirty="0" err="1"/>
              <a:t>regolith</a:t>
            </a:r>
            <a:r>
              <a:rPr lang="en-GB" sz="2000" b="1" dirty="0"/>
              <a:t> that was generated through weathering, and its transport to a new location.</a:t>
            </a:r>
          </a:p>
          <a:p>
            <a:pPr marL="342900" indent="-342900">
              <a:spcAft>
                <a:spcPts val="600"/>
              </a:spcAft>
              <a:buFont typeface="Arial" panose="020B0604020202020204" pitchFamily="34" charset="0"/>
              <a:buChar char="•"/>
            </a:pPr>
            <a:r>
              <a:rPr lang="en-GB" sz="2000" b="1" dirty="0">
                <a:sym typeface="Wingdings" panose="05000000000000000000" pitchFamily="2" charset="2"/>
              </a:rPr>
              <a:t>There are two main mechanisms for erosion</a:t>
            </a:r>
          </a:p>
          <a:p>
            <a:pPr marL="342900" indent="-342900">
              <a:spcAft>
                <a:spcPts val="600"/>
              </a:spcAft>
              <a:buFont typeface="Arial" panose="020B0604020202020204" pitchFamily="34" charset="0"/>
              <a:buChar char="•"/>
            </a:pPr>
            <a:endParaRPr lang="en-GB" sz="2000" dirty="0">
              <a:sym typeface="Wingdings" panose="05000000000000000000" pitchFamily="2" charset="2"/>
            </a:endParaRPr>
          </a:p>
          <a:p>
            <a:pPr>
              <a:spcAft>
                <a:spcPts val="600"/>
              </a:spcAft>
            </a:pPr>
            <a:r>
              <a:rPr lang="en-GB" sz="2000" b="1" u="sng" dirty="0">
                <a:sym typeface="Wingdings" panose="05000000000000000000" pitchFamily="2" charset="2"/>
              </a:rPr>
              <a:t>1. Gravity</a:t>
            </a:r>
            <a:r>
              <a:rPr lang="en-GB" sz="2000" dirty="0">
                <a:sym typeface="Wingdings" panose="05000000000000000000" pitchFamily="2" charset="2"/>
              </a:rPr>
              <a:t> moves material from uplifted areas (mountains, hinterlands) to low areas (sedimentary basins)</a:t>
            </a:r>
          </a:p>
          <a:p>
            <a:pPr lvl="1">
              <a:spcAft>
                <a:spcPts val="600"/>
              </a:spcAft>
            </a:pPr>
            <a:r>
              <a:rPr lang="en-GB" sz="2000" dirty="0">
                <a:sym typeface="Wingdings" panose="05000000000000000000" pitchFamily="2" charset="2"/>
              </a:rPr>
              <a:t>The movement of material under its own gravitational potential in areas of steep slope.</a:t>
            </a:r>
          </a:p>
          <a:p>
            <a:pPr marL="342900" indent="-342900">
              <a:spcAft>
                <a:spcPts val="600"/>
              </a:spcAft>
              <a:buFont typeface="Arial" panose="020B0604020202020204" pitchFamily="34" charset="0"/>
              <a:buChar char="•"/>
            </a:pPr>
            <a:endParaRPr lang="en-GB" sz="2000" dirty="0">
              <a:sym typeface="Wingdings" panose="05000000000000000000" pitchFamily="2" charset="2"/>
            </a:endParaRPr>
          </a:p>
          <a:p>
            <a:pPr>
              <a:spcAft>
                <a:spcPts val="600"/>
              </a:spcAft>
            </a:pPr>
            <a:r>
              <a:rPr lang="en-GB" sz="2000" b="1" u="sng" dirty="0">
                <a:sym typeface="Wingdings" panose="05000000000000000000" pitchFamily="2" charset="2"/>
              </a:rPr>
              <a:t>2. Fluid flow</a:t>
            </a:r>
            <a:r>
              <a:rPr lang="en-GB" sz="2000" b="1" dirty="0">
                <a:sym typeface="Wingdings" panose="05000000000000000000" pitchFamily="2" charset="2"/>
              </a:rPr>
              <a:t> </a:t>
            </a:r>
            <a:r>
              <a:rPr lang="en-GB" sz="2000" dirty="0">
                <a:sym typeface="Wingdings" panose="05000000000000000000" pitchFamily="2" charset="2"/>
              </a:rPr>
              <a:t>exerts shear stress which moves material from one place to the next</a:t>
            </a:r>
          </a:p>
          <a:p>
            <a:pPr lvl="1">
              <a:spcAft>
                <a:spcPts val="600"/>
              </a:spcAft>
            </a:pPr>
            <a:r>
              <a:rPr lang="en-GB" sz="2000" dirty="0">
                <a:sym typeface="Wingdings" panose="05000000000000000000" pitchFamily="2" charset="2"/>
              </a:rPr>
              <a:t>The flow of water in streams and rivers (fluvial processes), which entrains sediment (gravity driven)</a:t>
            </a:r>
          </a:p>
          <a:p>
            <a:pPr lvl="1">
              <a:spcAft>
                <a:spcPts val="600"/>
              </a:spcAft>
            </a:pPr>
            <a:r>
              <a:rPr lang="en-GB" sz="2000" dirty="0">
                <a:sym typeface="Wingdings" panose="05000000000000000000" pitchFamily="2" charset="2"/>
              </a:rPr>
              <a:t>The flow of ice (glacial processes), which entrains sediment (gravity driven)</a:t>
            </a:r>
          </a:p>
          <a:p>
            <a:pPr lvl="1">
              <a:spcAft>
                <a:spcPts val="600"/>
              </a:spcAft>
            </a:pPr>
            <a:r>
              <a:rPr lang="en-GB" sz="2000" dirty="0">
                <a:sym typeface="Wingdings" panose="05000000000000000000" pitchFamily="2" charset="2"/>
              </a:rPr>
              <a:t>The flow of air (wind, or aeolian processes) from areas of high to low  atmospheric pressure, which entrains sediment.</a:t>
            </a:r>
            <a:endParaRPr lang="en-GB" sz="2000" b="1" dirty="0"/>
          </a:p>
        </p:txBody>
      </p:sp>
      <p:sp>
        <p:nvSpPr>
          <p:cNvPr id="5" name="Rectangle 4">
            <a:extLst>
              <a:ext uri="{FF2B5EF4-FFF2-40B4-BE49-F238E27FC236}">
                <a16:creationId xmlns:a16="http://schemas.microsoft.com/office/drawing/2014/main" id="{B5DE348F-C9AD-4863-A0B7-F6290A0B6D21}"/>
              </a:ext>
            </a:extLst>
          </p:cNvPr>
          <p:cNvSpPr/>
          <p:nvPr/>
        </p:nvSpPr>
        <p:spPr>
          <a:xfrm>
            <a:off x="179512" y="2673354"/>
            <a:ext cx="8712968" cy="140371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67038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Arrow Connector 8"/>
          <p:cNvCxnSpPr/>
          <p:nvPr/>
        </p:nvCxnSpPr>
        <p:spPr>
          <a:xfrm>
            <a:off x="5436096" y="1475160"/>
            <a:ext cx="0" cy="5112568"/>
          </a:xfrm>
          <a:prstGeom prst="straightConnector1">
            <a:avLst/>
          </a:prstGeom>
          <a:ln w="762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rot="5400000">
            <a:off x="2429467" y="3538057"/>
            <a:ext cx="5213913" cy="784830"/>
          </a:xfrm>
          <a:prstGeom prst="rect">
            <a:avLst/>
          </a:prstGeom>
          <a:noFill/>
        </p:spPr>
        <p:txBody>
          <a:bodyPr wrap="square" rtlCol="0">
            <a:spAutoFit/>
          </a:bodyPr>
          <a:lstStyle/>
          <a:p>
            <a:pPr algn="ctr">
              <a:spcAft>
                <a:spcPts val="600"/>
              </a:spcAft>
            </a:pPr>
            <a:r>
              <a:rPr lang="en-GB" sz="2000" b="1" dirty="0"/>
              <a:t>Decreasing strength of the sediment/</a:t>
            </a:r>
            <a:r>
              <a:rPr lang="en-GB" sz="2000" b="1" dirty="0" err="1"/>
              <a:t>regolith</a:t>
            </a:r>
            <a:endParaRPr lang="en-GB" sz="2000" b="1" dirty="0"/>
          </a:p>
          <a:p>
            <a:pPr algn="ctr">
              <a:spcAft>
                <a:spcPts val="600"/>
              </a:spcAft>
            </a:pPr>
            <a:r>
              <a:rPr lang="en-GB" sz="2000" b="1" dirty="0"/>
              <a:t>Decreasing gradient required</a:t>
            </a:r>
          </a:p>
        </p:txBody>
      </p:sp>
      <p:sp>
        <p:nvSpPr>
          <p:cNvPr id="11" name="TextBox 10"/>
          <p:cNvSpPr txBox="1"/>
          <p:nvPr/>
        </p:nvSpPr>
        <p:spPr>
          <a:xfrm>
            <a:off x="5724128" y="1619176"/>
            <a:ext cx="1224136" cy="400110"/>
          </a:xfrm>
          <a:prstGeom prst="rect">
            <a:avLst/>
          </a:prstGeom>
          <a:noFill/>
        </p:spPr>
        <p:txBody>
          <a:bodyPr wrap="square" rtlCol="0">
            <a:spAutoFit/>
          </a:bodyPr>
          <a:lstStyle/>
          <a:p>
            <a:pPr>
              <a:spcAft>
                <a:spcPts val="600"/>
              </a:spcAft>
            </a:pPr>
            <a:r>
              <a:rPr lang="en-GB" sz="2000" b="1" dirty="0"/>
              <a:t>Rock fall</a:t>
            </a:r>
          </a:p>
        </p:txBody>
      </p:sp>
      <p:sp>
        <p:nvSpPr>
          <p:cNvPr id="13" name="TextBox 12"/>
          <p:cNvSpPr txBox="1"/>
          <p:nvPr/>
        </p:nvSpPr>
        <p:spPr>
          <a:xfrm>
            <a:off x="5879310" y="2339256"/>
            <a:ext cx="1224136" cy="400110"/>
          </a:xfrm>
          <a:prstGeom prst="rect">
            <a:avLst/>
          </a:prstGeom>
          <a:noFill/>
        </p:spPr>
        <p:txBody>
          <a:bodyPr wrap="square" rtlCol="0">
            <a:spAutoFit/>
          </a:bodyPr>
          <a:lstStyle/>
          <a:p>
            <a:pPr>
              <a:spcAft>
                <a:spcPts val="600"/>
              </a:spcAft>
            </a:pPr>
            <a:r>
              <a:rPr lang="en-GB" sz="2000" b="1" dirty="0"/>
              <a:t>Slide</a:t>
            </a:r>
          </a:p>
        </p:txBody>
      </p:sp>
      <p:sp>
        <p:nvSpPr>
          <p:cNvPr id="14" name="TextBox 13"/>
          <p:cNvSpPr txBox="1"/>
          <p:nvPr/>
        </p:nvSpPr>
        <p:spPr>
          <a:xfrm>
            <a:off x="5480718" y="2996952"/>
            <a:ext cx="1568732" cy="1015663"/>
          </a:xfrm>
          <a:prstGeom prst="rect">
            <a:avLst/>
          </a:prstGeom>
          <a:noFill/>
        </p:spPr>
        <p:txBody>
          <a:bodyPr wrap="square" rtlCol="0">
            <a:spAutoFit/>
          </a:bodyPr>
          <a:lstStyle/>
          <a:p>
            <a:pPr algn="ctr">
              <a:spcAft>
                <a:spcPts val="600"/>
              </a:spcAft>
            </a:pPr>
            <a:r>
              <a:rPr lang="en-GB" sz="2000" b="1" dirty="0"/>
              <a:t>Slump (fast) and creep (slow)</a:t>
            </a:r>
          </a:p>
        </p:txBody>
      </p:sp>
      <p:sp>
        <p:nvSpPr>
          <p:cNvPr id="15" name="TextBox 14"/>
          <p:cNvSpPr txBox="1"/>
          <p:nvPr/>
        </p:nvSpPr>
        <p:spPr>
          <a:xfrm>
            <a:off x="5537282" y="4437112"/>
            <a:ext cx="1512168" cy="400110"/>
          </a:xfrm>
          <a:prstGeom prst="rect">
            <a:avLst/>
          </a:prstGeom>
          <a:noFill/>
        </p:spPr>
        <p:txBody>
          <a:bodyPr wrap="square" rtlCol="0">
            <a:spAutoFit/>
          </a:bodyPr>
          <a:lstStyle/>
          <a:p>
            <a:pPr>
              <a:spcAft>
                <a:spcPts val="600"/>
              </a:spcAft>
            </a:pPr>
            <a:r>
              <a:rPr lang="en-GB" sz="2000" b="1" dirty="0"/>
              <a:t>Debris flow</a:t>
            </a:r>
          </a:p>
        </p:txBody>
      </p:sp>
      <p:sp>
        <p:nvSpPr>
          <p:cNvPr id="17" name="TextBox 16"/>
          <p:cNvSpPr txBox="1"/>
          <p:nvPr/>
        </p:nvSpPr>
        <p:spPr>
          <a:xfrm>
            <a:off x="5439516" y="5445224"/>
            <a:ext cx="1599421" cy="1015663"/>
          </a:xfrm>
          <a:prstGeom prst="rect">
            <a:avLst/>
          </a:prstGeom>
          <a:noFill/>
        </p:spPr>
        <p:txBody>
          <a:bodyPr wrap="square" rtlCol="0">
            <a:spAutoFit/>
          </a:bodyPr>
          <a:lstStyle/>
          <a:p>
            <a:pPr algn="ctr">
              <a:spcAft>
                <a:spcPts val="600"/>
              </a:spcAft>
            </a:pPr>
            <a:r>
              <a:rPr lang="en-GB" sz="2000" b="1" dirty="0"/>
              <a:t>Turbidity and pyroclastic flows</a:t>
            </a:r>
          </a:p>
        </p:txBody>
      </p:sp>
      <p:sp>
        <p:nvSpPr>
          <p:cNvPr id="18" name="Left Brace 17"/>
          <p:cNvSpPr/>
          <p:nvPr/>
        </p:nvSpPr>
        <p:spPr>
          <a:xfrm>
            <a:off x="4391628" y="1396806"/>
            <a:ext cx="252028" cy="1342560"/>
          </a:xfrm>
          <a:prstGeom prst="leftBrace">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9" name="Left Brace 18"/>
          <p:cNvSpPr/>
          <p:nvPr/>
        </p:nvSpPr>
        <p:spPr>
          <a:xfrm>
            <a:off x="4391628" y="2996952"/>
            <a:ext cx="252028" cy="1048007"/>
          </a:xfrm>
          <a:prstGeom prst="leftBrace">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4" name="Left Brace 33"/>
          <p:cNvSpPr/>
          <p:nvPr/>
        </p:nvSpPr>
        <p:spPr>
          <a:xfrm>
            <a:off x="4391628" y="4437112"/>
            <a:ext cx="252028" cy="2026636"/>
          </a:xfrm>
          <a:prstGeom prst="leftBrace">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5" name="TextBox 34"/>
          <p:cNvSpPr txBox="1"/>
          <p:nvPr/>
        </p:nvSpPr>
        <p:spPr>
          <a:xfrm rot="5400000">
            <a:off x="3559571" y="1896797"/>
            <a:ext cx="1224136" cy="400110"/>
          </a:xfrm>
          <a:prstGeom prst="rect">
            <a:avLst/>
          </a:prstGeom>
          <a:noFill/>
        </p:spPr>
        <p:txBody>
          <a:bodyPr wrap="square" rtlCol="0">
            <a:spAutoFit/>
          </a:bodyPr>
          <a:lstStyle/>
          <a:p>
            <a:pPr>
              <a:spcAft>
                <a:spcPts val="600"/>
              </a:spcAft>
            </a:pPr>
            <a:r>
              <a:rPr lang="en-GB" sz="2000" b="1" dirty="0"/>
              <a:t>Brittle</a:t>
            </a:r>
          </a:p>
        </p:txBody>
      </p:sp>
      <p:sp>
        <p:nvSpPr>
          <p:cNvPr id="36" name="TextBox 35"/>
          <p:cNvSpPr txBox="1"/>
          <p:nvPr/>
        </p:nvSpPr>
        <p:spPr>
          <a:xfrm rot="5400000">
            <a:off x="3605637" y="3409620"/>
            <a:ext cx="1036693" cy="400110"/>
          </a:xfrm>
          <a:prstGeom prst="rect">
            <a:avLst/>
          </a:prstGeom>
          <a:noFill/>
        </p:spPr>
        <p:txBody>
          <a:bodyPr wrap="square" rtlCol="0">
            <a:spAutoFit/>
          </a:bodyPr>
          <a:lstStyle/>
          <a:p>
            <a:pPr>
              <a:spcAft>
                <a:spcPts val="600"/>
              </a:spcAft>
            </a:pPr>
            <a:r>
              <a:rPr lang="en-GB" sz="2000" b="1" dirty="0"/>
              <a:t>Ductile</a:t>
            </a:r>
          </a:p>
        </p:txBody>
      </p:sp>
      <p:sp>
        <p:nvSpPr>
          <p:cNvPr id="37" name="TextBox 36"/>
          <p:cNvSpPr txBox="1"/>
          <p:nvPr/>
        </p:nvSpPr>
        <p:spPr>
          <a:xfrm rot="5400000">
            <a:off x="3653292" y="5443127"/>
            <a:ext cx="1036693" cy="400110"/>
          </a:xfrm>
          <a:prstGeom prst="rect">
            <a:avLst/>
          </a:prstGeom>
          <a:noFill/>
        </p:spPr>
        <p:txBody>
          <a:bodyPr wrap="square" rtlCol="0">
            <a:spAutoFit/>
          </a:bodyPr>
          <a:lstStyle/>
          <a:p>
            <a:pPr>
              <a:spcAft>
                <a:spcPts val="600"/>
              </a:spcAft>
            </a:pPr>
            <a:r>
              <a:rPr lang="en-GB" sz="2000" b="1" dirty="0"/>
              <a:t>Fluid</a:t>
            </a:r>
          </a:p>
        </p:txBody>
      </p:sp>
      <p:sp>
        <p:nvSpPr>
          <p:cNvPr id="38" name="TextBox 37"/>
          <p:cNvSpPr txBox="1"/>
          <p:nvPr/>
        </p:nvSpPr>
        <p:spPr>
          <a:xfrm>
            <a:off x="179512" y="1345149"/>
            <a:ext cx="3960440" cy="5478423"/>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Steep surface topography (sometimes enhanced by fluvial and glacial erosion) lead to secondary erosional processes called mass wasting.</a:t>
            </a:r>
          </a:p>
          <a:p>
            <a:pPr marL="342900" indent="-342900">
              <a:spcAft>
                <a:spcPts val="600"/>
              </a:spcAft>
              <a:buFont typeface="Arial" panose="020B0604020202020204" pitchFamily="34" charset="0"/>
              <a:buChar char="•"/>
            </a:pPr>
            <a:endParaRPr lang="en-GB" sz="2000" b="1" dirty="0"/>
          </a:p>
          <a:p>
            <a:pPr marL="342900" indent="-342900">
              <a:spcAft>
                <a:spcPts val="600"/>
              </a:spcAft>
              <a:buFont typeface="Arial" panose="020B0604020202020204" pitchFamily="34" charset="0"/>
              <a:buChar char="•"/>
            </a:pPr>
            <a:r>
              <a:rPr lang="en-GB" sz="2000" b="1" dirty="0"/>
              <a:t>They are amongst the most spectacular erosion and transport processes.</a:t>
            </a:r>
          </a:p>
          <a:p>
            <a:pPr marL="342900" indent="-342900">
              <a:spcAft>
                <a:spcPts val="600"/>
              </a:spcAft>
              <a:buFont typeface="Arial" panose="020B0604020202020204" pitchFamily="34" charset="0"/>
              <a:buChar char="•"/>
            </a:pPr>
            <a:endParaRPr lang="en-GB" sz="2000" b="1" dirty="0"/>
          </a:p>
          <a:p>
            <a:pPr marL="342900" indent="-342900">
              <a:spcAft>
                <a:spcPts val="600"/>
              </a:spcAft>
              <a:buFont typeface="Arial" panose="020B0604020202020204" pitchFamily="34" charset="0"/>
              <a:buChar char="•"/>
            </a:pPr>
            <a:r>
              <a:rPr lang="en-GB" sz="2000" b="1" dirty="0"/>
              <a:t>They also represent hazards to life and infrastructure.</a:t>
            </a:r>
          </a:p>
          <a:p>
            <a:pPr marL="342900" indent="-342900">
              <a:spcAft>
                <a:spcPts val="600"/>
              </a:spcAft>
              <a:buFont typeface="Arial" panose="020B0604020202020204" pitchFamily="34" charset="0"/>
              <a:buChar char="•"/>
            </a:pPr>
            <a:endParaRPr lang="en-GB" sz="2000" b="1" dirty="0"/>
          </a:p>
          <a:p>
            <a:pPr marL="342900" indent="-342900">
              <a:spcAft>
                <a:spcPts val="600"/>
              </a:spcAft>
              <a:buFont typeface="Arial" panose="020B0604020202020204" pitchFamily="34" charset="0"/>
              <a:buChar char="•"/>
            </a:pPr>
            <a:r>
              <a:rPr lang="en-GB" sz="2000" b="1" dirty="0"/>
              <a:t>These can also happen in submarine settings (where the gradients permit).</a:t>
            </a:r>
          </a:p>
        </p:txBody>
      </p:sp>
      <p:grpSp>
        <p:nvGrpSpPr>
          <p:cNvPr id="2" name="Group 1"/>
          <p:cNvGrpSpPr/>
          <p:nvPr/>
        </p:nvGrpSpPr>
        <p:grpSpPr>
          <a:xfrm>
            <a:off x="6938457" y="1344622"/>
            <a:ext cx="2155228" cy="5285359"/>
            <a:chOff x="7268412" y="1095968"/>
            <a:chExt cx="1835080" cy="4853312"/>
          </a:xfrm>
        </p:grpSpPr>
        <p:pic>
          <p:nvPicPr>
            <p:cNvPr id="5" name="Picture 4" descr="Marine Sediment Processes"/>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31726" t="33704" r="42652" b="57409"/>
            <a:stretch/>
          </p:blipFill>
          <p:spPr>
            <a:xfrm>
              <a:off x="7288707" y="3851452"/>
              <a:ext cx="1666159" cy="972484"/>
            </a:xfrm>
            <a:prstGeom prst="rect">
              <a:avLst/>
            </a:prstGeom>
            <a:noFill/>
          </p:spPr>
        </p:pic>
        <p:grpSp>
          <p:nvGrpSpPr>
            <p:cNvPr id="24" name="Group 23"/>
            <p:cNvGrpSpPr/>
            <p:nvPr/>
          </p:nvGrpSpPr>
          <p:grpSpPr>
            <a:xfrm>
              <a:off x="7268412" y="1095968"/>
              <a:ext cx="1666159" cy="1151454"/>
              <a:chOff x="9288047" y="980728"/>
              <a:chExt cx="1729975" cy="1274200"/>
            </a:xfrm>
          </p:grpSpPr>
          <p:pic>
            <p:nvPicPr>
              <p:cNvPr id="20" name="Picture 19" descr="Marine Sediment Processes"/>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31726" t="8866" r="42652" b="81131"/>
              <a:stretch/>
            </p:blipFill>
            <p:spPr>
              <a:xfrm>
                <a:off x="9288047" y="980728"/>
                <a:ext cx="1729975" cy="1211210"/>
              </a:xfrm>
              <a:prstGeom prst="rect">
                <a:avLst/>
              </a:prstGeom>
              <a:noFill/>
            </p:spPr>
          </p:pic>
          <p:sp>
            <p:nvSpPr>
              <p:cNvPr id="23" name="Freeform 22"/>
              <p:cNvSpPr/>
              <p:nvPr/>
            </p:nvSpPr>
            <p:spPr>
              <a:xfrm>
                <a:off x="9337715" y="1837136"/>
                <a:ext cx="898238" cy="417792"/>
              </a:xfrm>
              <a:custGeom>
                <a:avLst/>
                <a:gdLst>
                  <a:gd name="connsiteX0" fmla="*/ 10471 w 898238"/>
                  <a:gd name="connsiteY0" fmla="*/ 9419 h 417792"/>
                  <a:gd name="connsiteX1" fmla="*/ 276802 w 898238"/>
                  <a:gd name="connsiteY1" fmla="*/ 9419 h 417792"/>
                  <a:gd name="connsiteX2" fmla="*/ 338945 w 898238"/>
                  <a:gd name="connsiteY2" fmla="*/ 27175 h 417792"/>
                  <a:gd name="connsiteX3" fmla="*/ 427722 w 898238"/>
                  <a:gd name="connsiteY3" fmla="*/ 53808 h 417792"/>
                  <a:gd name="connsiteX4" fmla="*/ 454355 w 898238"/>
                  <a:gd name="connsiteY4" fmla="*/ 71563 h 417792"/>
                  <a:gd name="connsiteX5" fmla="*/ 498743 w 898238"/>
                  <a:gd name="connsiteY5" fmla="*/ 80441 h 417792"/>
                  <a:gd name="connsiteX6" fmla="*/ 552009 w 898238"/>
                  <a:gd name="connsiteY6" fmla="*/ 98196 h 417792"/>
                  <a:gd name="connsiteX7" fmla="*/ 623031 w 898238"/>
                  <a:gd name="connsiteY7" fmla="*/ 115951 h 417792"/>
                  <a:gd name="connsiteX8" fmla="*/ 658541 w 898238"/>
                  <a:gd name="connsiteY8" fmla="*/ 124829 h 417792"/>
                  <a:gd name="connsiteX9" fmla="*/ 747318 w 898238"/>
                  <a:gd name="connsiteY9" fmla="*/ 151462 h 417792"/>
                  <a:gd name="connsiteX10" fmla="*/ 773951 w 898238"/>
                  <a:gd name="connsiteY10" fmla="*/ 169217 h 417792"/>
                  <a:gd name="connsiteX11" fmla="*/ 827217 w 898238"/>
                  <a:gd name="connsiteY11" fmla="*/ 186973 h 417792"/>
                  <a:gd name="connsiteX12" fmla="*/ 853850 w 898238"/>
                  <a:gd name="connsiteY12" fmla="*/ 204728 h 417792"/>
                  <a:gd name="connsiteX13" fmla="*/ 862728 w 898238"/>
                  <a:gd name="connsiteY13" fmla="*/ 231361 h 417792"/>
                  <a:gd name="connsiteX14" fmla="*/ 880483 w 898238"/>
                  <a:gd name="connsiteY14" fmla="*/ 257994 h 417792"/>
                  <a:gd name="connsiteX15" fmla="*/ 898238 w 898238"/>
                  <a:gd name="connsiteY15" fmla="*/ 311260 h 417792"/>
                  <a:gd name="connsiteX16" fmla="*/ 889361 w 898238"/>
                  <a:gd name="connsiteY16" fmla="*/ 373404 h 417792"/>
                  <a:gd name="connsiteX17" fmla="*/ 844972 w 898238"/>
                  <a:gd name="connsiteY17" fmla="*/ 400037 h 417792"/>
                  <a:gd name="connsiteX18" fmla="*/ 658541 w 898238"/>
                  <a:gd name="connsiteY18" fmla="*/ 417792 h 417792"/>
                  <a:gd name="connsiteX19" fmla="*/ 152514 w 898238"/>
                  <a:gd name="connsiteY19" fmla="*/ 408914 h 417792"/>
                  <a:gd name="connsiteX20" fmla="*/ 72615 w 898238"/>
                  <a:gd name="connsiteY20" fmla="*/ 373404 h 417792"/>
                  <a:gd name="connsiteX21" fmla="*/ 54860 w 898238"/>
                  <a:gd name="connsiteY21" fmla="*/ 355648 h 417792"/>
                  <a:gd name="connsiteX22" fmla="*/ 37104 w 898238"/>
                  <a:gd name="connsiteY22" fmla="*/ 329015 h 417792"/>
                  <a:gd name="connsiteX23" fmla="*/ 37104 w 898238"/>
                  <a:gd name="connsiteY23" fmla="*/ 142584 h 417792"/>
                  <a:gd name="connsiteX24" fmla="*/ 45982 w 898238"/>
                  <a:gd name="connsiteY24" fmla="*/ 115951 h 417792"/>
                  <a:gd name="connsiteX25" fmla="*/ 54860 w 898238"/>
                  <a:gd name="connsiteY25" fmla="*/ 71563 h 417792"/>
                  <a:gd name="connsiteX26" fmla="*/ 10471 w 898238"/>
                  <a:gd name="connsiteY26" fmla="*/ 9419 h 417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98238" h="417792">
                    <a:moveTo>
                      <a:pt x="10471" y="9419"/>
                    </a:moveTo>
                    <a:cubicBezTo>
                      <a:pt x="47461" y="-938"/>
                      <a:pt x="65311" y="-5166"/>
                      <a:pt x="276802" y="9419"/>
                    </a:cubicBezTo>
                    <a:cubicBezTo>
                      <a:pt x="295094" y="10680"/>
                      <a:pt x="320906" y="22021"/>
                      <a:pt x="338945" y="27175"/>
                    </a:cubicBezTo>
                    <a:cubicBezTo>
                      <a:pt x="360661" y="33380"/>
                      <a:pt x="411892" y="43255"/>
                      <a:pt x="427722" y="53808"/>
                    </a:cubicBezTo>
                    <a:cubicBezTo>
                      <a:pt x="436600" y="59726"/>
                      <a:pt x="444365" y="67817"/>
                      <a:pt x="454355" y="71563"/>
                    </a:cubicBezTo>
                    <a:cubicBezTo>
                      <a:pt x="468483" y="76861"/>
                      <a:pt x="484186" y="76471"/>
                      <a:pt x="498743" y="80441"/>
                    </a:cubicBezTo>
                    <a:cubicBezTo>
                      <a:pt x="516799" y="85365"/>
                      <a:pt x="533852" y="93657"/>
                      <a:pt x="552009" y="98196"/>
                    </a:cubicBezTo>
                    <a:lnTo>
                      <a:pt x="623031" y="115951"/>
                    </a:lnTo>
                    <a:cubicBezTo>
                      <a:pt x="634868" y="118910"/>
                      <a:pt x="646966" y="120971"/>
                      <a:pt x="658541" y="124829"/>
                    </a:cubicBezTo>
                    <a:cubicBezTo>
                      <a:pt x="723382" y="146442"/>
                      <a:pt x="693650" y="138045"/>
                      <a:pt x="747318" y="151462"/>
                    </a:cubicBezTo>
                    <a:cubicBezTo>
                      <a:pt x="756196" y="157380"/>
                      <a:pt x="764201" y="164884"/>
                      <a:pt x="773951" y="169217"/>
                    </a:cubicBezTo>
                    <a:cubicBezTo>
                      <a:pt x="791054" y="176818"/>
                      <a:pt x="811644" y="176591"/>
                      <a:pt x="827217" y="186973"/>
                    </a:cubicBezTo>
                    <a:lnTo>
                      <a:pt x="853850" y="204728"/>
                    </a:lnTo>
                    <a:cubicBezTo>
                      <a:pt x="856809" y="213606"/>
                      <a:pt x="858543" y="222991"/>
                      <a:pt x="862728" y="231361"/>
                    </a:cubicBezTo>
                    <a:cubicBezTo>
                      <a:pt x="867500" y="240904"/>
                      <a:pt x="876150" y="248244"/>
                      <a:pt x="880483" y="257994"/>
                    </a:cubicBezTo>
                    <a:cubicBezTo>
                      <a:pt x="888084" y="275097"/>
                      <a:pt x="898238" y="311260"/>
                      <a:pt x="898238" y="311260"/>
                    </a:cubicBezTo>
                    <a:cubicBezTo>
                      <a:pt x="895279" y="331975"/>
                      <a:pt x="895978" y="353553"/>
                      <a:pt x="889361" y="373404"/>
                    </a:cubicBezTo>
                    <a:cubicBezTo>
                      <a:pt x="883948" y="389643"/>
                      <a:pt x="858347" y="397605"/>
                      <a:pt x="844972" y="400037"/>
                    </a:cubicBezTo>
                    <a:cubicBezTo>
                      <a:pt x="794882" y="409144"/>
                      <a:pt x="701971" y="414451"/>
                      <a:pt x="658541" y="417792"/>
                    </a:cubicBezTo>
                    <a:cubicBezTo>
                      <a:pt x="489865" y="414833"/>
                      <a:pt x="321025" y="416938"/>
                      <a:pt x="152514" y="408914"/>
                    </a:cubicBezTo>
                    <a:cubicBezTo>
                      <a:pt x="126319" y="407667"/>
                      <a:pt x="93618" y="390206"/>
                      <a:pt x="72615" y="373404"/>
                    </a:cubicBezTo>
                    <a:cubicBezTo>
                      <a:pt x="66079" y="368175"/>
                      <a:pt x="60089" y="362184"/>
                      <a:pt x="54860" y="355648"/>
                    </a:cubicBezTo>
                    <a:cubicBezTo>
                      <a:pt x="48195" y="347316"/>
                      <a:pt x="43023" y="337893"/>
                      <a:pt x="37104" y="329015"/>
                    </a:cubicBezTo>
                    <a:cubicBezTo>
                      <a:pt x="22545" y="241652"/>
                      <a:pt x="23000" y="269526"/>
                      <a:pt x="37104" y="142584"/>
                    </a:cubicBezTo>
                    <a:cubicBezTo>
                      <a:pt x="38137" y="133283"/>
                      <a:pt x="43712" y="125029"/>
                      <a:pt x="45982" y="115951"/>
                    </a:cubicBezTo>
                    <a:cubicBezTo>
                      <a:pt x="49642" y="101313"/>
                      <a:pt x="51901" y="86359"/>
                      <a:pt x="54860" y="71563"/>
                    </a:cubicBezTo>
                    <a:cubicBezTo>
                      <a:pt x="45655" y="-11277"/>
                      <a:pt x="-26519" y="19776"/>
                      <a:pt x="10471" y="941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 name="Group 25"/>
            <p:cNvGrpSpPr/>
            <p:nvPr/>
          </p:nvGrpSpPr>
          <p:grpSpPr>
            <a:xfrm>
              <a:off x="7280382" y="1957941"/>
              <a:ext cx="1654190" cy="1785393"/>
              <a:chOff x="9300475" y="1934588"/>
              <a:chExt cx="1717548" cy="1975718"/>
            </a:xfrm>
          </p:grpSpPr>
          <p:pic>
            <p:nvPicPr>
              <p:cNvPr id="22" name="Picture 21" descr="Marine Sediment Processes"/>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31762" t="20616" r="42800" b="64184"/>
              <a:stretch/>
            </p:blipFill>
            <p:spPr>
              <a:xfrm>
                <a:off x="9300475" y="2069726"/>
                <a:ext cx="1717548" cy="1840580"/>
              </a:xfrm>
              <a:prstGeom prst="rect">
                <a:avLst/>
              </a:prstGeom>
              <a:noFill/>
            </p:spPr>
          </p:pic>
          <p:sp>
            <p:nvSpPr>
              <p:cNvPr id="25" name="Freeform 24"/>
              <p:cNvSpPr/>
              <p:nvPr/>
            </p:nvSpPr>
            <p:spPr>
              <a:xfrm>
                <a:off x="10021721" y="1934588"/>
                <a:ext cx="969667" cy="461639"/>
              </a:xfrm>
              <a:custGeom>
                <a:avLst/>
                <a:gdLst>
                  <a:gd name="connsiteX0" fmla="*/ 2001 w 969667"/>
                  <a:gd name="connsiteY0" fmla="*/ 115410 h 461639"/>
                  <a:gd name="connsiteX1" fmla="*/ 73022 w 969667"/>
                  <a:gd name="connsiteY1" fmla="*/ 150921 h 461639"/>
                  <a:gd name="connsiteX2" fmla="*/ 90778 w 969667"/>
                  <a:gd name="connsiteY2" fmla="*/ 168676 h 461639"/>
                  <a:gd name="connsiteX3" fmla="*/ 108533 w 969667"/>
                  <a:gd name="connsiteY3" fmla="*/ 195309 h 461639"/>
                  <a:gd name="connsiteX4" fmla="*/ 135166 w 969667"/>
                  <a:gd name="connsiteY4" fmla="*/ 204187 h 461639"/>
                  <a:gd name="connsiteX5" fmla="*/ 161799 w 969667"/>
                  <a:gd name="connsiteY5" fmla="*/ 221942 h 461639"/>
                  <a:gd name="connsiteX6" fmla="*/ 215065 w 969667"/>
                  <a:gd name="connsiteY6" fmla="*/ 266331 h 461639"/>
                  <a:gd name="connsiteX7" fmla="*/ 232820 w 969667"/>
                  <a:gd name="connsiteY7" fmla="*/ 292964 h 461639"/>
                  <a:gd name="connsiteX8" fmla="*/ 303842 w 969667"/>
                  <a:gd name="connsiteY8" fmla="*/ 355107 h 461639"/>
                  <a:gd name="connsiteX9" fmla="*/ 321597 w 969667"/>
                  <a:gd name="connsiteY9" fmla="*/ 372863 h 461639"/>
                  <a:gd name="connsiteX10" fmla="*/ 419252 w 969667"/>
                  <a:gd name="connsiteY10" fmla="*/ 399496 h 461639"/>
                  <a:gd name="connsiteX11" fmla="*/ 454762 w 969667"/>
                  <a:gd name="connsiteY11" fmla="*/ 408373 h 461639"/>
                  <a:gd name="connsiteX12" fmla="*/ 516906 w 969667"/>
                  <a:gd name="connsiteY12" fmla="*/ 426129 h 461639"/>
                  <a:gd name="connsiteX13" fmla="*/ 703337 w 969667"/>
                  <a:gd name="connsiteY13" fmla="*/ 435006 h 461639"/>
                  <a:gd name="connsiteX14" fmla="*/ 836502 w 969667"/>
                  <a:gd name="connsiteY14" fmla="*/ 461639 h 461639"/>
                  <a:gd name="connsiteX15" fmla="*/ 880890 w 969667"/>
                  <a:gd name="connsiteY15" fmla="*/ 452762 h 461639"/>
                  <a:gd name="connsiteX16" fmla="*/ 925279 w 969667"/>
                  <a:gd name="connsiteY16" fmla="*/ 417251 h 461639"/>
                  <a:gd name="connsiteX17" fmla="*/ 960789 w 969667"/>
                  <a:gd name="connsiteY17" fmla="*/ 363985 h 461639"/>
                  <a:gd name="connsiteX18" fmla="*/ 969667 w 969667"/>
                  <a:gd name="connsiteY18" fmla="*/ 319597 h 461639"/>
                  <a:gd name="connsiteX19" fmla="*/ 951912 w 969667"/>
                  <a:gd name="connsiteY19" fmla="*/ 213064 h 461639"/>
                  <a:gd name="connsiteX20" fmla="*/ 934156 w 969667"/>
                  <a:gd name="connsiteY20" fmla="*/ 186431 h 461639"/>
                  <a:gd name="connsiteX21" fmla="*/ 916401 w 969667"/>
                  <a:gd name="connsiteY21" fmla="*/ 97655 h 461639"/>
                  <a:gd name="connsiteX22" fmla="*/ 898646 w 969667"/>
                  <a:gd name="connsiteY22" fmla="*/ 44389 h 461639"/>
                  <a:gd name="connsiteX23" fmla="*/ 854257 w 969667"/>
                  <a:gd name="connsiteY23" fmla="*/ 8878 h 461639"/>
                  <a:gd name="connsiteX24" fmla="*/ 827624 w 969667"/>
                  <a:gd name="connsiteY24" fmla="*/ 0 h 461639"/>
                  <a:gd name="connsiteX25" fmla="*/ 774358 w 969667"/>
                  <a:gd name="connsiteY25" fmla="*/ 26633 h 461639"/>
                  <a:gd name="connsiteX26" fmla="*/ 765481 w 969667"/>
                  <a:gd name="connsiteY26" fmla="*/ 53266 h 461639"/>
                  <a:gd name="connsiteX27" fmla="*/ 729970 w 969667"/>
                  <a:gd name="connsiteY27" fmla="*/ 97655 h 461639"/>
                  <a:gd name="connsiteX28" fmla="*/ 676704 w 969667"/>
                  <a:gd name="connsiteY28" fmla="*/ 133165 h 461639"/>
                  <a:gd name="connsiteX29" fmla="*/ 445885 w 969667"/>
                  <a:gd name="connsiteY29" fmla="*/ 124288 h 461639"/>
                  <a:gd name="connsiteX30" fmla="*/ 410374 w 969667"/>
                  <a:gd name="connsiteY30" fmla="*/ 115410 h 461639"/>
                  <a:gd name="connsiteX31" fmla="*/ 357108 w 969667"/>
                  <a:gd name="connsiteY31" fmla="*/ 97655 h 461639"/>
                  <a:gd name="connsiteX32" fmla="*/ 330475 w 969667"/>
                  <a:gd name="connsiteY32" fmla="*/ 88777 h 461639"/>
                  <a:gd name="connsiteX33" fmla="*/ 294964 w 969667"/>
                  <a:gd name="connsiteY33" fmla="*/ 71022 h 461639"/>
                  <a:gd name="connsiteX34" fmla="*/ 241698 w 969667"/>
                  <a:gd name="connsiteY34" fmla="*/ 53266 h 461639"/>
                  <a:gd name="connsiteX35" fmla="*/ 215065 w 969667"/>
                  <a:gd name="connsiteY35" fmla="*/ 44389 h 461639"/>
                  <a:gd name="connsiteX36" fmla="*/ 126288 w 969667"/>
                  <a:gd name="connsiteY36" fmla="*/ 26633 h 461639"/>
                  <a:gd name="connsiteX37" fmla="*/ 64145 w 969667"/>
                  <a:gd name="connsiteY37" fmla="*/ 44389 h 461639"/>
                  <a:gd name="connsiteX38" fmla="*/ 37512 w 969667"/>
                  <a:gd name="connsiteY38" fmla="*/ 62144 h 461639"/>
                  <a:gd name="connsiteX39" fmla="*/ 19756 w 969667"/>
                  <a:gd name="connsiteY39" fmla="*/ 79899 h 461639"/>
                  <a:gd name="connsiteX40" fmla="*/ 2001 w 969667"/>
                  <a:gd name="connsiteY40" fmla="*/ 115410 h 46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69667" h="461639">
                    <a:moveTo>
                      <a:pt x="2001" y="115410"/>
                    </a:moveTo>
                    <a:cubicBezTo>
                      <a:pt x="10879" y="127247"/>
                      <a:pt x="46424" y="129643"/>
                      <a:pt x="73022" y="150921"/>
                    </a:cubicBezTo>
                    <a:cubicBezTo>
                      <a:pt x="79558" y="156150"/>
                      <a:pt x="85549" y="162140"/>
                      <a:pt x="90778" y="168676"/>
                    </a:cubicBezTo>
                    <a:cubicBezTo>
                      <a:pt x="97443" y="177007"/>
                      <a:pt x="100202" y="188644"/>
                      <a:pt x="108533" y="195309"/>
                    </a:cubicBezTo>
                    <a:cubicBezTo>
                      <a:pt x="115840" y="201155"/>
                      <a:pt x="126796" y="200002"/>
                      <a:pt x="135166" y="204187"/>
                    </a:cubicBezTo>
                    <a:cubicBezTo>
                      <a:pt x="144709" y="208959"/>
                      <a:pt x="153117" y="215740"/>
                      <a:pt x="161799" y="221942"/>
                    </a:cubicBezTo>
                    <a:cubicBezTo>
                      <a:pt x="177918" y="233455"/>
                      <a:pt x="201605" y="249506"/>
                      <a:pt x="215065" y="266331"/>
                    </a:cubicBezTo>
                    <a:cubicBezTo>
                      <a:pt x="221730" y="274663"/>
                      <a:pt x="225794" y="284934"/>
                      <a:pt x="232820" y="292964"/>
                    </a:cubicBezTo>
                    <a:cubicBezTo>
                      <a:pt x="296712" y="365982"/>
                      <a:pt x="253701" y="314993"/>
                      <a:pt x="303842" y="355107"/>
                    </a:cubicBezTo>
                    <a:cubicBezTo>
                      <a:pt x="310378" y="360336"/>
                      <a:pt x="314111" y="369120"/>
                      <a:pt x="321597" y="372863"/>
                    </a:cubicBezTo>
                    <a:cubicBezTo>
                      <a:pt x="354851" y="389490"/>
                      <a:pt x="384187" y="391704"/>
                      <a:pt x="419252" y="399496"/>
                    </a:cubicBezTo>
                    <a:cubicBezTo>
                      <a:pt x="431162" y="402143"/>
                      <a:pt x="443031" y="405021"/>
                      <a:pt x="454762" y="408373"/>
                    </a:cubicBezTo>
                    <a:cubicBezTo>
                      <a:pt x="473555" y="413742"/>
                      <a:pt x="497631" y="424587"/>
                      <a:pt x="516906" y="426129"/>
                    </a:cubicBezTo>
                    <a:cubicBezTo>
                      <a:pt x="578922" y="431090"/>
                      <a:pt x="641193" y="432047"/>
                      <a:pt x="703337" y="435006"/>
                    </a:cubicBezTo>
                    <a:cubicBezTo>
                      <a:pt x="819099" y="454300"/>
                      <a:pt x="775716" y="441378"/>
                      <a:pt x="836502" y="461639"/>
                    </a:cubicBezTo>
                    <a:cubicBezTo>
                      <a:pt x="851298" y="458680"/>
                      <a:pt x="866762" y="458060"/>
                      <a:pt x="880890" y="452762"/>
                    </a:cubicBezTo>
                    <a:cubicBezTo>
                      <a:pt x="893041" y="448205"/>
                      <a:pt x="916802" y="428554"/>
                      <a:pt x="925279" y="417251"/>
                    </a:cubicBezTo>
                    <a:cubicBezTo>
                      <a:pt x="938083" y="400180"/>
                      <a:pt x="960789" y="363985"/>
                      <a:pt x="960789" y="363985"/>
                    </a:cubicBezTo>
                    <a:cubicBezTo>
                      <a:pt x="963748" y="349189"/>
                      <a:pt x="969667" y="334686"/>
                      <a:pt x="969667" y="319597"/>
                    </a:cubicBezTo>
                    <a:cubicBezTo>
                      <a:pt x="969667" y="299916"/>
                      <a:pt x="965801" y="240843"/>
                      <a:pt x="951912" y="213064"/>
                    </a:cubicBezTo>
                    <a:cubicBezTo>
                      <a:pt x="947140" y="203521"/>
                      <a:pt x="940075" y="195309"/>
                      <a:pt x="934156" y="186431"/>
                    </a:cubicBezTo>
                    <a:cubicBezTo>
                      <a:pt x="909537" y="112570"/>
                      <a:pt x="947007" y="230279"/>
                      <a:pt x="916401" y="97655"/>
                    </a:cubicBezTo>
                    <a:cubicBezTo>
                      <a:pt x="912193" y="79419"/>
                      <a:pt x="911880" y="57623"/>
                      <a:pt x="898646" y="44389"/>
                    </a:cubicBezTo>
                    <a:cubicBezTo>
                      <a:pt x="882131" y="27874"/>
                      <a:pt x="876656" y="20078"/>
                      <a:pt x="854257" y="8878"/>
                    </a:cubicBezTo>
                    <a:cubicBezTo>
                      <a:pt x="845887" y="4693"/>
                      <a:pt x="836502" y="2959"/>
                      <a:pt x="827624" y="0"/>
                    </a:cubicBezTo>
                    <a:cubicBezTo>
                      <a:pt x="810080" y="5848"/>
                      <a:pt x="786873" y="10989"/>
                      <a:pt x="774358" y="26633"/>
                    </a:cubicBezTo>
                    <a:cubicBezTo>
                      <a:pt x="768512" y="33940"/>
                      <a:pt x="769666" y="44896"/>
                      <a:pt x="765481" y="53266"/>
                    </a:cubicBezTo>
                    <a:cubicBezTo>
                      <a:pt x="758494" y="67240"/>
                      <a:pt x="743179" y="87748"/>
                      <a:pt x="729970" y="97655"/>
                    </a:cubicBezTo>
                    <a:cubicBezTo>
                      <a:pt x="712899" y="110459"/>
                      <a:pt x="676704" y="133165"/>
                      <a:pt x="676704" y="133165"/>
                    </a:cubicBezTo>
                    <a:cubicBezTo>
                      <a:pt x="599764" y="130206"/>
                      <a:pt x="522711" y="129410"/>
                      <a:pt x="445885" y="124288"/>
                    </a:cubicBezTo>
                    <a:cubicBezTo>
                      <a:pt x="433711" y="123476"/>
                      <a:pt x="422061" y="118916"/>
                      <a:pt x="410374" y="115410"/>
                    </a:cubicBezTo>
                    <a:cubicBezTo>
                      <a:pt x="392448" y="110032"/>
                      <a:pt x="374863" y="103573"/>
                      <a:pt x="357108" y="97655"/>
                    </a:cubicBezTo>
                    <a:cubicBezTo>
                      <a:pt x="348230" y="94696"/>
                      <a:pt x="338845" y="92962"/>
                      <a:pt x="330475" y="88777"/>
                    </a:cubicBezTo>
                    <a:cubicBezTo>
                      <a:pt x="318638" y="82859"/>
                      <a:pt x="307252" y="75937"/>
                      <a:pt x="294964" y="71022"/>
                    </a:cubicBezTo>
                    <a:cubicBezTo>
                      <a:pt x="277587" y="64071"/>
                      <a:pt x="259453" y="59184"/>
                      <a:pt x="241698" y="53266"/>
                    </a:cubicBezTo>
                    <a:cubicBezTo>
                      <a:pt x="232820" y="50307"/>
                      <a:pt x="224241" y="46224"/>
                      <a:pt x="215065" y="44389"/>
                    </a:cubicBezTo>
                    <a:lnTo>
                      <a:pt x="126288" y="26633"/>
                    </a:lnTo>
                    <a:cubicBezTo>
                      <a:pt x="114910" y="29478"/>
                      <a:pt x="76881" y="38021"/>
                      <a:pt x="64145" y="44389"/>
                    </a:cubicBezTo>
                    <a:cubicBezTo>
                      <a:pt x="54602" y="49161"/>
                      <a:pt x="45844" y="55479"/>
                      <a:pt x="37512" y="62144"/>
                    </a:cubicBezTo>
                    <a:cubicBezTo>
                      <a:pt x="30976" y="67373"/>
                      <a:pt x="22865" y="72128"/>
                      <a:pt x="19756" y="79899"/>
                    </a:cubicBezTo>
                    <a:cubicBezTo>
                      <a:pt x="16459" y="88142"/>
                      <a:pt x="-6877" y="103573"/>
                      <a:pt x="2001" y="11541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7" name="Rectangle 26"/>
            <p:cNvSpPr/>
            <p:nvPr/>
          </p:nvSpPr>
          <p:spPr>
            <a:xfrm>
              <a:off x="7285499" y="3575568"/>
              <a:ext cx="463301" cy="1566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Freeform 27"/>
            <p:cNvSpPr/>
            <p:nvPr/>
          </p:nvSpPr>
          <p:spPr>
            <a:xfrm>
              <a:off x="8001797" y="3549831"/>
              <a:ext cx="1017473" cy="352989"/>
            </a:xfrm>
            <a:custGeom>
              <a:avLst/>
              <a:gdLst>
                <a:gd name="connsiteX0" fmla="*/ 0 w 1056443"/>
                <a:gd name="connsiteY0" fmla="*/ 53266 h 390618"/>
                <a:gd name="connsiteX1" fmla="*/ 8878 w 1056443"/>
                <a:gd name="connsiteY1" fmla="*/ 97655 h 390618"/>
                <a:gd name="connsiteX2" fmla="*/ 71022 w 1056443"/>
                <a:gd name="connsiteY2" fmla="*/ 168676 h 390618"/>
                <a:gd name="connsiteX3" fmla="*/ 142043 w 1056443"/>
                <a:gd name="connsiteY3" fmla="*/ 257453 h 390618"/>
                <a:gd name="connsiteX4" fmla="*/ 195309 w 1056443"/>
                <a:gd name="connsiteY4" fmla="*/ 301841 h 390618"/>
                <a:gd name="connsiteX5" fmla="*/ 248575 w 1056443"/>
                <a:gd name="connsiteY5" fmla="*/ 319596 h 390618"/>
                <a:gd name="connsiteX6" fmla="*/ 319596 w 1056443"/>
                <a:gd name="connsiteY6" fmla="*/ 346229 h 390618"/>
                <a:gd name="connsiteX7" fmla="*/ 381740 w 1056443"/>
                <a:gd name="connsiteY7" fmla="*/ 363985 h 390618"/>
                <a:gd name="connsiteX8" fmla="*/ 426128 w 1056443"/>
                <a:gd name="connsiteY8" fmla="*/ 372862 h 390618"/>
                <a:gd name="connsiteX9" fmla="*/ 452761 w 1056443"/>
                <a:gd name="connsiteY9" fmla="*/ 381740 h 390618"/>
                <a:gd name="connsiteX10" fmla="*/ 994299 w 1056443"/>
                <a:gd name="connsiteY10" fmla="*/ 390618 h 390618"/>
                <a:gd name="connsiteX11" fmla="*/ 1029810 w 1056443"/>
                <a:gd name="connsiteY11" fmla="*/ 381740 h 390618"/>
                <a:gd name="connsiteX12" fmla="*/ 1056443 w 1056443"/>
                <a:gd name="connsiteY12" fmla="*/ 328474 h 390618"/>
                <a:gd name="connsiteX13" fmla="*/ 1029810 w 1056443"/>
                <a:gd name="connsiteY13" fmla="*/ 301841 h 390618"/>
                <a:gd name="connsiteX14" fmla="*/ 941033 w 1056443"/>
                <a:gd name="connsiteY14" fmla="*/ 248575 h 390618"/>
                <a:gd name="connsiteX15" fmla="*/ 887767 w 1056443"/>
                <a:gd name="connsiteY15" fmla="*/ 230820 h 390618"/>
                <a:gd name="connsiteX16" fmla="*/ 843379 w 1056443"/>
                <a:gd name="connsiteY16" fmla="*/ 204187 h 390618"/>
                <a:gd name="connsiteX17" fmla="*/ 790113 w 1056443"/>
                <a:gd name="connsiteY17" fmla="*/ 177554 h 390618"/>
                <a:gd name="connsiteX18" fmla="*/ 727969 w 1056443"/>
                <a:gd name="connsiteY18" fmla="*/ 150921 h 390618"/>
                <a:gd name="connsiteX19" fmla="*/ 701336 w 1056443"/>
                <a:gd name="connsiteY19" fmla="*/ 133165 h 390618"/>
                <a:gd name="connsiteX20" fmla="*/ 674703 w 1056443"/>
                <a:gd name="connsiteY20" fmla="*/ 124288 h 390618"/>
                <a:gd name="connsiteX21" fmla="*/ 603682 w 1056443"/>
                <a:gd name="connsiteY21" fmla="*/ 106532 h 390618"/>
                <a:gd name="connsiteX22" fmla="*/ 550416 w 1056443"/>
                <a:gd name="connsiteY22" fmla="*/ 88777 h 390618"/>
                <a:gd name="connsiteX23" fmla="*/ 514905 w 1056443"/>
                <a:gd name="connsiteY23" fmla="*/ 71022 h 390618"/>
                <a:gd name="connsiteX24" fmla="*/ 426128 w 1056443"/>
                <a:gd name="connsiteY24" fmla="*/ 44389 h 390618"/>
                <a:gd name="connsiteX25" fmla="*/ 399495 w 1056443"/>
                <a:gd name="connsiteY25" fmla="*/ 35511 h 390618"/>
                <a:gd name="connsiteX26" fmla="*/ 319596 w 1056443"/>
                <a:gd name="connsiteY26" fmla="*/ 26633 h 390618"/>
                <a:gd name="connsiteX27" fmla="*/ 284086 w 1056443"/>
                <a:gd name="connsiteY27" fmla="*/ 17756 h 390618"/>
                <a:gd name="connsiteX28" fmla="*/ 213064 w 1056443"/>
                <a:gd name="connsiteY28" fmla="*/ 8878 h 390618"/>
                <a:gd name="connsiteX29" fmla="*/ 159798 w 1056443"/>
                <a:gd name="connsiteY29" fmla="*/ 0 h 390618"/>
                <a:gd name="connsiteX30" fmla="*/ 35511 w 1056443"/>
                <a:gd name="connsiteY30" fmla="*/ 8878 h 390618"/>
                <a:gd name="connsiteX31" fmla="*/ 8878 w 1056443"/>
                <a:gd name="connsiteY31" fmla="*/ 17756 h 390618"/>
                <a:gd name="connsiteX32" fmla="*/ 0 w 1056443"/>
                <a:gd name="connsiteY32" fmla="*/ 53266 h 390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56443" h="390618">
                  <a:moveTo>
                    <a:pt x="0" y="53266"/>
                  </a:moveTo>
                  <a:cubicBezTo>
                    <a:pt x="0" y="66582"/>
                    <a:pt x="3580" y="83526"/>
                    <a:pt x="8878" y="97655"/>
                  </a:cubicBezTo>
                  <a:cubicBezTo>
                    <a:pt x="20228" y="127922"/>
                    <a:pt x="54413" y="143762"/>
                    <a:pt x="71022" y="168676"/>
                  </a:cubicBezTo>
                  <a:cubicBezTo>
                    <a:pt x="115818" y="235871"/>
                    <a:pt x="91443" y="206853"/>
                    <a:pt x="142043" y="257453"/>
                  </a:cubicBezTo>
                  <a:cubicBezTo>
                    <a:pt x="158769" y="274179"/>
                    <a:pt x="173061" y="291953"/>
                    <a:pt x="195309" y="301841"/>
                  </a:cubicBezTo>
                  <a:cubicBezTo>
                    <a:pt x="212412" y="309442"/>
                    <a:pt x="248575" y="319596"/>
                    <a:pt x="248575" y="319596"/>
                  </a:cubicBezTo>
                  <a:cubicBezTo>
                    <a:pt x="292418" y="348825"/>
                    <a:pt x="258162" y="330871"/>
                    <a:pt x="319596" y="346229"/>
                  </a:cubicBezTo>
                  <a:cubicBezTo>
                    <a:pt x="438237" y="375889"/>
                    <a:pt x="232279" y="330772"/>
                    <a:pt x="381740" y="363985"/>
                  </a:cubicBezTo>
                  <a:cubicBezTo>
                    <a:pt x="396470" y="367258"/>
                    <a:pt x="411490" y="369202"/>
                    <a:pt x="426128" y="372862"/>
                  </a:cubicBezTo>
                  <a:cubicBezTo>
                    <a:pt x="435207" y="375132"/>
                    <a:pt x="443408" y="381448"/>
                    <a:pt x="452761" y="381740"/>
                  </a:cubicBezTo>
                  <a:cubicBezTo>
                    <a:pt x="633210" y="387379"/>
                    <a:pt x="813786" y="387659"/>
                    <a:pt x="994299" y="390618"/>
                  </a:cubicBezTo>
                  <a:cubicBezTo>
                    <a:pt x="1006136" y="387659"/>
                    <a:pt x="1019658" y="388508"/>
                    <a:pt x="1029810" y="381740"/>
                  </a:cubicBezTo>
                  <a:cubicBezTo>
                    <a:pt x="1044560" y="371906"/>
                    <a:pt x="1051379" y="343666"/>
                    <a:pt x="1056443" y="328474"/>
                  </a:cubicBezTo>
                  <a:cubicBezTo>
                    <a:pt x="1047565" y="319596"/>
                    <a:pt x="1039720" y="309549"/>
                    <a:pt x="1029810" y="301841"/>
                  </a:cubicBezTo>
                  <a:cubicBezTo>
                    <a:pt x="1007738" y="284674"/>
                    <a:pt x="969456" y="259944"/>
                    <a:pt x="941033" y="248575"/>
                  </a:cubicBezTo>
                  <a:cubicBezTo>
                    <a:pt x="923656" y="241624"/>
                    <a:pt x="887767" y="230820"/>
                    <a:pt x="887767" y="230820"/>
                  </a:cubicBezTo>
                  <a:cubicBezTo>
                    <a:pt x="842780" y="185830"/>
                    <a:pt x="901001" y="238761"/>
                    <a:pt x="843379" y="204187"/>
                  </a:cubicBezTo>
                  <a:cubicBezTo>
                    <a:pt x="786844" y="170266"/>
                    <a:pt x="877699" y="199449"/>
                    <a:pt x="790113" y="177554"/>
                  </a:cubicBezTo>
                  <a:cubicBezTo>
                    <a:pt x="723249" y="132976"/>
                    <a:pt x="808228" y="185317"/>
                    <a:pt x="727969" y="150921"/>
                  </a:cubicBezTo>
                  <a:cubicBezTo>
                    <a:pt x="718162" y="146718"/>
                    <a:pt x="710879" y="137937"/>
                    <a:pt x="701336" y="133165"/>
                  </a:cubicBezTo>
                  <a:cubicBezTo>
                    <a:pt x="692966" y="128980"/>
                    <a:pt x="683731" y="126750"/>
                    <a:pt x="674703" y="124288"/>
                  </a:cubicBezTo>
                  <a:cubicBezTo>
                    <a:pt x="651161" y="117867"/>
                    <a:pt x="626832" y="114249"/>
                    <a:pt x="603682" y="106532"/>
                  </a:cubicBezTo>
                  <a:cubicBezTo>
                    <a:pt x="585927" y="100614"/>
                    <a:pt x="567156" y="97147"/>
                    <a:pt x="550416" y="88777"/>
                  </a:cubicBezTo>
                  <a:cubicBezTo>
                    <a:pt x="538579" y="82859"/>
                    <a:pt x="527193" y="75937"/>
                    <a:pt x="514905" y="71022"/>
                  </a:cubicBezTo>
                  <a:cubicBezTo>
                    <a:pt x="462145" y="49918"/>
                    <a:pt x="471920" y="57472"/>
                    <a:pt x="426128" y="44389"/>
                  </a:cubicBezTo>
                  <a:cubicBezTo>
                    <a:pt x="417130" y="41818"/>
                    <a:pt x="408726" y="37049"/>
                    <a:pt x="399495" y="35511"/>
                  </a:cubicBezTo>
                  <a:cubicBezTo>
                    <a:pt x="373063" y="31105"/>
                    <a:pt x="346229" y="29592"/>
                    <a:pt x="319596" y="26633"/>
                  </a:cubicBezTo>
                  <a:cubicBezTo>
                    <a:pt x="307759" y="23674"/>
                    <a:pt x="296121" y="19762"/>
                    <a:pt x="284086" y="17756"/>
                  </a:cubicBezTo>
                  <a:cubicBezTo>
                    <a:pt x="260552" y="13834"/>
                    <a:pt x="236682" y="12252"/>
                    <a:pt x="213064" y="8878"/>
                  </a:cubicBezTo>
                  <a:cubicBezTo>
                    <a:pt x="195245" y="6332"/>
                    <a:pt x="177553" y="2959"/>
                    <a:pt x="159798" y="0"/>
                  </a:cubicBezTo>
                  <a:cubicBezTo>
                    <a:pt x="118369" y="2959"/>
                    <a:pt x="76761" y="4025"/>
                    <a:pt x="35511" y="8878"/>
                  </a:cubicBezTo>
                  <a:cubicBezTo>
                    <a:pt x="26217" y="9971"/>
                    <a:pt x="14493" y="10270"/>
                    <a:pt x="8878" y="17756"/>
                  </a:cubicBezTo>
                  <a:cubicBezTo>
                    <a:pt x="3551" y="24858"/>
                    <a:pt x="0" y="39950"/>
                    <a:pt x="0" y="5326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Freeform 28"/>
            <p:cNvSpPr/>
            <p:nvPr/>
          </p:nvSpPr>
          <p:spPr>
            <a:xfrm>
              <a:off x="7332998" y="3543696"/>
              <a:ext cx="848354" cy="417168"/>
            </a:xfrm>
            <a:custGeom>
              <a:avLst/>
              <a:gdLst>
                <a:gd name="connsiteX0" fmla="*/ 1957 w 880847"/>
                <a:gd name="connsiteY0" fmla="*/ 390618 h 461639"/>
                <a:gd name="connsiteX1" fmla="*/ 72978 w 880847"/>
                <a:gd name="connsiteY1" fmla="*/ 417251 h 461639"/>
                <a:gd name="connsiteX2" fmla="*/ 152877 w 880847"/>
                <a:gd name="connsiteY2" fmla="*/ 435006 h 461639"/>
                <a:gd name="connsiteX3" fmla="*/ 179510 w 880847"/>
                <a:gd name="connsiteY3" fmla="*/ 443884 h 461639"/>
                <a:gd name="connsiteX4" fmla="*/ 232776 w 880847"/>
                <a:gd name="connsiteY4" fmla="*/ 452761 h 461639"/>
                <a:gd name="connsiteX5" fmla="*/ 277165 w 880847"/>
                <a:gd name="connsiteY5" fmla="*/ 461639 h 461639"/>
                <a:gd name="connsiteX6" fmla="*/ 561250 w 880847"/>
                <a:gd name="connsiteY6" fmla="*/ 443884 h 461639"/>
                <a:gd name="connsiteX7" fmla="*/ 614516 w 880847"/>
                <a:gd name="connsiteY7" fmla="*/ 426128 h 461639"/>
                <a:gd name="connsiteX8" fmla="*/ 641149 w 880847"/>
                <a:gd name="connsiteY8" fmla="*/ 417251 h 461639"/>
                <a:gd name="connsiteX9" fmla="*/ 667782 w 880847"/>
                <a:gd name="connsiteY9" fmla="*/ 408373 h 461639"/>
                <a:gd name="connsiteX10" fmla="*/ 756559 w 880847"/>
                <a:gd name="connsiteY10" fmla="*/ 417251 h 461639"/>
                <a:gd name="connsiteX11" fmla="*/ 792070 w 880847"/>
                <a:gd name="connsiteY11" fmla="*/ 426128 h 461639"/>
                <a:gd name="connsiteX12" fmla="*/ 836458 w 880847"/>
                <a:gd name="connsiteY12" fmla="*/ 435006 h 461639"/>
                <a:gd name="connsiteX13" fmla="*/ 871969 w 880847"/>
                <a:gd name="connsiteY13" fmla="*/ 426128 h 461639"/>
                <a:gd name="connsiteX14" fmla="*/ 871969 w 880847"/>
                <a:gd name="connsiteY14" fmla="*/ 355107 h 461639"/>
                <a:gd name="connsiteX15" fmla="*/ 854213 w 880847"/>
                <a:gd name="connsiteY15" fmla="*/ 337352 h 461639"/>
                <a:gd name="connsiteX16" fmla="*/ 836458 w 880847"/>
                <a:gd name="connsiteY16" fmla="*/ 310719 h 461639"/>
                <a:gd name="connsiteX17" fmla="*/ 774314 w 880847"/>
                <a:gd name="connsiteY17" fmla="*/ 257453 h 461639"/>
                <a:gd name="connsiteX18" fmla="*/ 747681 w 880847"/>
                <a:gd name="connsiteY18" fmla="*/ 248575 h 461639"/>
                <a:gd name="connsiteX19" fmla="*/ 685538 w 880847"/>
                <a:gd name="connsiteY19" fmla="*/ 213064 h 461639"/>
                <a:gd name="connsiteX20" fmla="*/ 667782 w 880847"/>
                <a:gd name="connsiteY20" fmla="*/ 195309 h 461639"/>
                <a:gd name="connsiteX21" fmla="*/ 614516 w 880847"/>
                <a:gd name="connsiteY21" fmla="*/ 177554 h 461639"/>
                <a:gd name="connsiteX22" fmla="*/ 570128 w 880847"/>
                <a:gd name="connsiteY22" fmla="*/ 142043 h 461639"/>
                <a:gd name="connsiteX23" fmla="*/ 543495 w 880847"/>
                <a:gd name="connsiteY23" fmla="*/ 133165 h 461639"/>
                <a:gd name="connsiteX24" fmla="*/ 490229 w 880847"/>
                <a:gd name="connsiteY24" fmla="*/ 106532 h 461639"/>
                <a:gd name="connsiteX25" fmla="*/ 463596 w 880847"/>
                <a:gd name="connsiteY25" fmla="*/ 79899 h 461639"/>
                <a:gd name="connsiteX26" fmla="*/ 339309 w 880847"/>
                <a:gd name="connsiteY26" fmla="*/ 26633 h 461639"/>
                <a:gd name="connsiteX27" fmla="*/ 312676 w 880847"/>
                <a:gd name="connsiteY27" fmla="*/ 17756 h 461639"/>
                <a:gd name="connsiteX28" fmla="*/ 286043 w 880847"/>
                <a:gd name="connsiteY28" fmla="*/ 8878 h 461639"/>
                <a:gd name="connsiteX29" fmla="*/ 232776 w 880847"/>
                <a:gd name="connsiteY29" fmla="*/ 0 h 461639"/>
                <a:gd name="connsiteX30" fmla="*/ 55223 w 880847"/>
                <a:gd name="connsiteY30" fmla="*/ 8878 h 461639"/>
                <a:gd name="connsiteX31" fmla="*/ 19712 w 880847"/>
                <a:gd name="connsiteY31" fmla="*/ 71022 h 461639"/>
                <a:gd name="connsiteX32" fmla="*/ 1957 w 880847"/>
                <a:gd name="connsiteY32" fmla="*/ 390618 h 46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80847" h="461639">
                  <a:moveTo>
                    <a:pt x="1957" y="390618"/>
                  </a:moveTo>
                  <a:cubicBezTo>
                    <a:pt x="10835" y="448323"/>
                    <a:pt x="54427" y="412613"/>
                    <a:pt x="72978" y="417251"/>
                  </a:cubicBezTo>
                  <a:cubicBezTo>
                    <a:pt x="146213" y="435559"/>
                    <a:pt x="89078" y="416777"/>
                    <a:pt x="152877" y="435006"/>
                  </a:cubicBezTo>
                  <a:cubicBezTo>
                    <a:pt x="161875" y="437577"/>
                    <a:pt x="170375" y="441854"/>
                    <a:pt x="179510" y="443884"/>
                  </a:cubicBezTo>
                  <a:cubicBezTo>
                    <a:pt x="197082" y="447789"/>
                    <a:pt x="215066" y="449541"/>
                    <a:pt x="232776" y="452761"/>
                  </a:cubicBezTo>
                  <a:cubicBezTo>
                    <a:pt x="247622" y="455460"/>
                    <a:pt x="262369" y="458680"/>
                    <a:pt x="277165" y="461639"/>
                  </a:cubicBezTo>
                  <a:cubicBezTo>
                    <a:pt x="308198" y="460445"/>
                    <a:pt x="482946" y="463460"/>
                    <a:pt x="561250" y="443884"/>
                  </a:cubicBezTo>
                  <a:cubicBezTo>
                    <a:pt x="579407" y="439345"/>
                    <a:pt x="596761" y="432046"/>
                    <a:pt x="614516" y="426128"/>
                  </a:cubicBezTo>
                  <a:lnTo>
                    <a:pt x="641149" y="417251"/>
                  </a:lnTo>
                  <a:lnTo>
                    <a:pt x="667782" y="408373"/>
                  </a:lnTo>
                  <a:cubicBezTo>
                    <a:pt x="697374" y="411332"/>
                    <a:pt x="727118" y="413045"/>
                    <a:pt x="756559" y="417251"/>
                  </a:cubicBezTo>
                  <a:cubicBezTo>
                    <a:pt x="768638" y="418976"/>
                    <a:pt x="780159" y="423481"/>
                    <a:pt x="792070" y="426128"/>
                  </a:cubicBezTo>
                  <a:cubicBezTo>
                    <a:pt x="806800" y="429401"/>
                    <a:pt x="821662" y="432047"/>
                    <a:pt x="836458" y="435006"/>
                  </a:cubicBezTo>
                  <a:cubicBezTo>
                    <a:pt x="848295" y="432047"/>
                    <a:pt x="862441" y="433750"/>
                    <a:pt x="871969" y="426128"/>
                  </a:cubicBezTo>
                  <a:cubicBezTo>
                    <a:pt x="889546" y="412066"/>
                    <a:pt x="876346" y="365319"/>
                    <a:pt x="871969" y="355107"/>
                  </a:cubicBezTo>
                  <a:cubicBezTo>
                    <a:pt x="868672" y="347414"/>
                    <a:pt x="859442" y="343888"/>
                    <a:pt x="854213" y="337352"/>
                  </a:cubicBezTo>
                  <a:cubicBezTo>
                    <a:pt x="847548" y="329021"/>
                    <a:pt x="843402" y="318820"/>
                    <a:pt x="836458" y="310719"/>
                  </a:cubicBezTo>
                  <a:cubicBezTo>
                    <a:pt x="820075" y="291606"/>
                    <a:pt x="797875" y="269234"/>
                    <a:pt x="774314" y="257453"/>
                  </a:cubicBezTo>
                  <a:cubicBezTo>
                    <a:pt x="765944" y="253268"/>
                    <a:pt x="756559" y="251534"/>
                    <a:pt x="747681" y="248575"/>
                  </a:cubicBezTo>
                  <a:cubicBezTo>
                    <a:pt x="687885" y="188779"/>
                    <a:pt x="757072" y="248831"/>
                    <a:pt x="685538" y="213064"/>
                  </a:cubicBezTo>
                  <a:cubicBezTo>
                    <a:pt x="678052" y="209321"/>
                    <a:pt x="675268" y="199052"/>
                    <a:pt x="667782" y="195309"/>
                  </a:cubicBezTo>
                  <a:cubicBezTo>
                    <a:pt x="651042" y="186939"/>
                    <a:pt x="614516" y="177554"/>
                    <a:pt x="614516" y="177554"/>
                  </a:cubicBezTo>
                  <a:cubicBezTo>
                    <a:pt x="598000" y="161038"/>
                    <a:pt x="592528" y="153243"/>
                    <a:pt x="570128" y="142043"/>
                  </a:cubicBezTo>
                  <a:cubicBezTo>
                    <a:pt x="561758" y="137858"/>
                    <a:pt x="551865" y="137350"/>
                    <a:pt x="543495" y="133165"/>
                  </a:cubicBezTo>
                  <a:cubicBezTo>
                    <a:pt x="474656" y="98746"/>
                    <a:pt x="557172" y="128847"/>
                    <a:pt x="490229" y="106532"/>
                  </a:cubicBezTo>
                  <a:cubicBezTo>
                    <a:pt x="481351" y="97654"/>
                    <a:pt x="474188" y="86639"/>
                    <a:pt x="463596" y="79899"/>
                  </a:cubicBezTo>
                  <a:cubicBezTo>
                    <a:pt x="415333" y="49187"/>
                    <a:pt x="389755" y="43448"/>
                    <a:pt x="339309" y="26633"/>
                  </a:cubicBezTo>
                  <a:lnTo>
                    <a:pt x="312676" y="17756"/>
                  </a:lnTo>
                  <a:cubicBezTo>
                    <a:pt x="303798" y="14797"/>
                    <a:pt x="295274" y="10416"/>
                    <a:pt x="286043" y="8878"/>
                  </a:cubicBezTo>
                  <a:lnTo>
                    <a:pt x="232776" y="0"/>
                  </a:lnTo>
                  <a:cubicBezTo>
                    <a:pt x="173592" y="2959"/>
                    <a:pt x="113984" y="1214"/>
                    <a:pt x="55223" y="8878"/>
                  </a:cubicBezTo>
                  <a:cubicBezTo>
                    <a:pt x="23361" y="13034"/>
                    <a:pt x="20322" y="47240"/>
                    <a:pt x="19712" y="71022"/>
                  </a:cubicBezTo>
                  <a:cubicBezTo>
                    <a:pt x="17133" y="171602"/>
                    <a:pt x="-6921" y="332913"/>
                    <a:pt x="1957" y="39061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Freeform 29"/>
            <p:cNvSpPr/>
            <p:nvPr/>
          </p:nvSpPr>
          <p:spPr>
            <a:xfrm>
              <a:off x="8469921" y="3847699"/>
              <a:ext cx="485303" cy="201412"/>
            </a:xfrm>
            <a:custGeom>
              <a:avLst/>
              <a:gdLst>
                <a:gd name="connsiteX0" fmla="*/ 11097 w 503891"/>
                <a:gd name="connsiteY0" fmla="*/ 942 h 222883"/>
                <a:gd name="connsiteX1" fmla="*/ 108751 w 503891"/>
                <a:gd name="connsiteY1" fmla="*/ 27575 h 222883"/>
                <a:gd name="connsiteX2" fmla="*/ 162017 w 503891"/>
                <a:gd name="connsiteY2" fmla="*/ 45330 h 222883"/>
                <a:gd name="connsiteX3" fmla="*/ 304060 w 503891"/>
                <a:gd name="connsiteY3" fmla="*/ 36452 h 222883"/>
                <a:gd name="connsiteX4" fmla="*/ 330693 w 503891"/>
                <a:gd name="connsiteY4" fmla="*/ 27575 h 222883"/>
                <a:gd name="connsiteX5" fmla="*/ 446103 w 503891"/>
                <a:gd name="connsiteY5" fmla="*/ 36452 h 222883"/>
                <a:gd name="connsiteX6" fmla="*/ 490491 w 503891"/>
                <a:gd name="connsiteY6" fmla="*/ 45330 h 222883"/>
                <a:gd name="connsiteX7" fmla="*/ 499369 w 503891"/>
                <a:gd name="connsiteY7" fmla="*/ 80841 h 222883"/>
                <a:gd name="connsiteX8" fmla="*/ 463858 w 503891"/>
                <a:gd name="connsiteY8" fmla="*/ 222883 h 222883"/>
                <a:gd name="connsiteX9" fmla="*/ 215283 w 503891"/>
                <a:gd name="connsiteY9" fmla="*/ 214006 h 222883"/>
                <a:gd name="connsiteX10" fmla="*/ 188650 w 503891"/>
                <a:gd name="connsiteY10" fmla="*/ 205128 h 222883"/>
                <a:gd name="connsiteX11" fmla="*/ 153140 w 503891"/>
                <a:gd name="connsiteY11" fmla="*/ 196250 h 222883"/>
                <a:gd name="connsiteX12" fmla="*/ 108751 w 503891"/>
                <a:gd name="connsiteY12" fmla="*/ 169617 h 222883"/>
                <a:gd name="connsiteX13" fmla="*/ 28852 w 503891"/>
                <a:gd name="connsiteY13" fmla="*/ 98596 h 222883"/>
                <a:gd name="connsiteX14" fmla="*/ 2219 w 503891"/>
                <a:gd name="connsiteY14" fmla="*/ 45330 h 222883"/>
                <a:gd name="connsiteX15" fmla="*/ 11097 w 503891"/>
                <a:gd name="connsiteY15" fmla="*/ 942 h 222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03891" h="222883">
                  <a:moveTo>
                    <a:pt x="11097" y="942"/>
                  </a:moveTo>
                  <a:cubicBezTo>
                    <a:pt x="28852" y="-2017"/>
                    <a:pt x="1443" y="748"/>
                    <a:pt x="108751" y="27575"/>
                  </a:cubicBezTo>
                  <a:cubicBezTo>
                    <a:pt x="126908" y="32114"/>
                    <a:pt x="162017" y="45330"/>
                    <a:pt x="162017" y="45330"/>
                  </a:cubicBezTo>
                  <a:cubicBezTo>
                    <a:pt x="209365" y="42371"/>
                    <a:pt x="256881" y="41418"/>
                    <a:pt x="304060" y="36452"/>
                  </a:cubicBezTo>
                  <a:cubicBezTo>
                    <a:pt x="313366" y="35472"/>
                    <a:pt x="321335" y="27575"/>
                    <a:pt x="330693" y="27575"/>
                  </a:cubicBezTo>
                  <a:cubicBezTo>
                    <a:pt x="369277" y="27575"/>
                    <a:pt x="407633" y="33493"/>
                    <a:pt x="446103" y="36452"/>
                  </a:cubicBezTo>
                  <a:cubicBezTo>
                    <a:pt x="460899" y="39411"/>
                    <a:pt x="478899" y="35670"/>
                    <a:pt x="490491" y="45330"/>
                  </a:cubicBezTo>
                  <a:cubicBezTo>
                    <a:pt x="499864" y="53141"/>
                    <a:pt x="499369" y="68640"/>
                    <a:pt x="499369" y="80841"/>
                  </a:cubicBezTo>
                  <a:cubicBezTo>
                    <a:pt x="499369" y="209345"/>
                    <a:pt x="522574" y="183740"/>
                    <a:pt x="463858" y="222883"/>
                  </a:cubicBezTo>
                  <a:cubicBezTo>
                    <a:pt x="381000" y="219924"/>
                    <a:pt x="298022" y="219344"/>
                    <a:pt x="215283" y="214006"/>
                  </a:cubicBezTo>
                  <a:cubicBezTo>
                    <a:pt x="205944" y="213404"/>
                    <a:pt x="197648" y="207699"/>
                    <a:pt x="188650" y="205128"/>
                  </a:cubicBezTo>
                  <a:cubicBezTo>
                    <a:pt x="176918" y="201776"/>
                    <a:pt x="164977" y="199209"/>
                    <a:pt x="153140" y="196250"/>
                  </a:cubicBezTo>
                  <a:cubicBezTo>
                    <a:pt x="111584" y="154697"/>
                    <a:pt x="162535" y="200351"/>
                    <a:pt x="108751" y="169617"/>
                  </a:cubicBezTo>
                  <a:cubicBezTo>
                    <a:pt x="87435" y="157436"/>
                    <a:pt x="39955" y="115251"/>
                    <a:pt x="28852" y="98596"/>
                  </a:cubicBezTo>
                  <a:cubicBezTo>
                    <a:pt x="19876" y="85131"/>
                    <a:pt x="2219" y="63706"/>
                    <a:pt x="2219" y="45330"/>
                  </a:cubicBezTo>
                  <a:cubicBezTo>
                    <a:pt x="2219" y="42371"/>
                    <a:pt x="-6658" y="3901"/>
                    <a:pt x="11097" y="94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9" name="Picture 38" descr="Marine Sediment Processes"/>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31726" t="45312" r="42652" b="45896"/>
            <a:stretch/>
          </p:blipFill>
          <p:spPr>
            <a:xfrm>
              <a:off x="7316248" y="4987182"/>
              <a:ext cx="1666159" cy="962098"/>
            </a:xfrm>
            <a:prstGeom prst="rect">
              <a:avLst/>
            </a:prstGeom>
            <a:noFill/>
          </p:spPr>
        </p:pic>
        <p:sp>
          <p:nvSpPr>
            <p:cNvPr id="40" name="Freeform 39"/>
            <p:cNvSpPr/>
            <p:nvPr/>
          </p:nvSpPr>
          <p:spPr>
            <a:xfrm>
              <a:off x="7292447" y="4393608"/>
              <a:ext cx="1811045" cy="887767"/>
            </a:xfrm>
            <a:custGeom>
              <a:avLst/>
              <a:gdLst>
                <a:gd name="connsiteX0" fmla="*/ 133165 w 1811045"/>
                <a:gd name="connsiteY0" fmla="*/ 8878 h 887767"/>
                <a:gd name="connsiteX1" fmla="*/ 106532 w 1811045"/>
                <a:gd name="connsiteY1" fmla="*/ 53266 h 887767"/>
                <a:gd name="connsiteX2" fmla="*/ 53266 w 1811045"/>
                <a:gd name="connsiteY2" fmla="*/ 62144 h 887767"/>
                <a:gd name="connsiteX3" fmla="*/ 26633 w 1811045"/>
                <a:gd name="connsiteY3" fmla="*/ 79899 h 887767"/>
                <a:gd name="connsiteX4" fmla="*/ 0 w 1811045"/>
                <a:gd name="connsiteY4" fmla="*/ 168676 h 887767"/>
                <a:gd name="connsiteX5" fmla="*/ 8878 w 1811045"/>
                <a:gd name="connsiteY5" fmla="*/ 266330 h 887767"/>
                <a:gd name="connsiteX6" fmla="*/ 26633 w 1811045"/>
                <a:gd name="connsiteY6" fmla="*/ 292963 h 887767"/>
                <a:gd name="connsiteX7" fmla="*/ 53266 w 1811045"/>
                <a:gd name="connsiteY7" fmla="*/ 346229 h 887767"/>
                <a:gd name="connsiteX8" fmla="*/ 115410 w 1811045"/>
                <a:gd name="connsiteY8" fmla="*/ 399495 h 887767"/>
                <a:gd name="connsiteX9" fmla="*/ 142043 w 1811045"/>
                <a:gd name="connsiteY9" fmla="*/ 408373 h 887767"/>
                <a:gd name="connsiteX10" fmla="*/ 168676 w 1811045"/>
                <a:gd name="connsiteY10" fmla="*/ 426128 h 887767"/>
                <a:gd name="connsiteX11" fmla="*/ 221942 w 1811045"/>
                <a:gd name="connsiteY11" fmla="*/ 435006 h 887767"/>
                <a:gd name="connsiteX12" fmla="*/ 275208 w 1811045"/>
                <a:gd name="connsiteY12" fmla="*/ 452761 h 887767"/>
                <a:gd name="connsiteX13" fmla="*/ 301841 w 1811045"/>
                <a:gd name="connsiteY13" fmla="*/ 461639 h 887767"/>
                <a:gd name="connsiteX14" fmla="*/ 363985 w 1811045"/>
                <a:gd name="connsiteY14" fmla="*/ 470516 h 887767"/>
                <a:gd name="connsiteX15" fmla="*/ 470517 w 1811045"/>
                <a:gd name="connsiteY15" fmla="*/ 506027 h 887767"/>
                <a:gd name="connsiteX16" fmla="*/ 497150 w 1811045"/>
                <a:gd name="connsiteY16" fmla="*/ 514905 h 887767"/>
                <a:gd name="connsiteX17" fmla="*/ 523783 w 1811045"/>
                <a:gd name="connsiteY17" fmla="*/ 523782 h 887767"/>
                <a:gd name="connsiteX18" fmla="*/ 603682 w 1811045"/>
                <a:gd name="connsiteY18" fmla="*/ 568171 h 887767"/>
                <a:gd name="connsiteX19" fmla="*/ 639193 w 1811045"/>
                <a:gd name="connsiteY19" fmla="*/ 594804 h 887767"/>
                <a:gd name="connsiteX20" fmla="*/ 692459 w 1811045"/>
                <a:gd name="connsiteY20" fmla="*/ 612559 h 887767"/>
                <a:gd name="connsiteX21" fmla="*/ 719092 w 1811045"/>
                <a:gd name="connsiteY21" fmla="*/ 639192 h 887767"/>
                <a:gd name="connsiteX22" fmla="*/ 745725 w 1811045"/>
                <a:gd name="connsiteY22" fmla="*/ 648070 h 887767"/>
                <a:gd name="connsiteX23" fmla="*/ 772358 w 1811045"/>
                <a:gd name="connsiteY23" fmla="*/ 665825 h 887767"/>
                <a:gd name="connsiteX24" fmla="*/ 798991 w 1811045"/>
                <a:gd name="connsiteY24" fmla="*/ 674703 h 887767"/>
                <a:gd name="connsiteX25" fmla="*/ 825624 w 1811045"/>
                <a:gd name="connsiteY25" fmla="*/ 692458 h 887767"/>
                <a:gd name="connsiteX26" fmla="*/ 861134 w 1811045"/>
                <a:gd name="connsiteY26" fmla="*/ 701336 h 887767"/>
                <a:gd name="connsiteX27" fmla="*/ 896645 w 1811045"/>
                <a:gd name="connsiteY27" fmla="*/ 719091 h 887767"/>
                <a:gd name="connsiteX28" fmla="*/ 1012055 w 1811045"/>
                <a:gd name="connsiteY28" fmla="*/ 736846 h 887767"/>
                <a:gd name="connsiteX29" fmla="*/ 1047565 w 1811045"/>
                <a:gd name="connsiteY29" fmla="*/ 745724 h 887767"/>
                <a:gd name="connsiteX30" fmla="*/ 1100831 w 1811045"/>
                <a:gd name="connsiteY30" fmla="*/ 763479 h 887767"/>
                <a:gd name="connsiteX31" fmla="*/ 1136342 w 1811045"/>
                <a:gd name="connsiteY31" fmla="*/ 772357 h 887767"/>
                <a:gd name="connsiteX32" fmla="*/ 1162975 w 1811045"/>
                <a:gd name="connsiteY32" fmla="*/ 781235 h 887767"/>
                <a:gd name="connsiteX33" fmla="*/ 1278385 w 1811045"/>
                <a:gd name="connsiteY33" fmla="*/ 798990 h 887767"/>
                <a:gd name="connsiteX34" fmla="*/ 1331651 w 1811045"/>
                <a:gd name="connsiteY34" fmla="*/ 816745 h 887767"/>
                <a:gd name="connsiteX35" fmla="*/ 1402672 w 1811045"/>
                <a:gd name="connsiteY35" fmla="*/ 843378 h 887767"/>
                <a:gd name="connsiteX36" fmla="*/ 1562470 w 1811045"/>
                <a:gd name="connsiteY36" fmla="*/ 878889 h 887767"/>
                <a:gd name="connsiteX37" fmla="*/ 1615736 w 1811045"/>
                <a:gd name="connsiteY37" fmla="*/ 887767 h 887767"/>
                <a:gd name="connsiteX38" fmla="*/ 1731146 w 1811045"/>
                <a:gd name="connsiteY38" fmla="*/ 878889 h 887767"/>
                <a:gd name="connsiteX39" fmla="*/ 1775534 w 1811045"/>
                <a:gd name="connsiteY39" fmla="*/ 852256 h 887767"/>
                <a:gd name="connsiteX40" fmla="*/ 1802167 w 1811045"/>
                <a:gd name="connsiteY40" fmla="*/ 843378 h 887767"/>
                <a:gd name="connsiteX41" fmla="*/ 1811045 w 1811045"/>
                <a:gd name="connsiteY41" fmla="*/ 816745 h 887767"/>
                <a:gd name="connsiteX42" fmla="*/ 1802167 w 1811045"/>
                <a:gd name="connsiteY42" fmla="*/ 772357 h 887767"/>
                <a:gd name="connsiteX43" fmla="*/ 1748901 w 1811045"/>
                <a:gd name="connsiteY43" fmla="*/ 745724 h 887767"/>
                <a:gd name="connsiteX44" fmla="*/ 1660125 w 1811045"/>
                <a:gd name="connsiteY44" fmla="*/ 683580 h 887767"/>
                <a:gd name="connsiteX45" fmla="*/ 1624614 w 1811045"/>
                <a:gd name="connsiteY45" fmla="*/ 665825 h 887767"/>
                <a:gd name="connsiteX46" fmla="*/ 1535837 w 1811045"/>
                <a:gd name="connsiteY46" fmla="*/ 639192 h 887767"/>
                <a:gd name="connsiteX47" fmla="*/ 1491449 w 1811045"/>
                <a:gd name="connsiteY47" fmla="*/ 612559 h 887767"/>
                <a:gd name="connsiteX48" fmla="*/ 1438183 w 1811045"/>
                <a:gd name="connsiteY48" fmla="*/ 594804 h 887767"/>
                <a:gd name="connsiteX49" fmla="*/ 1340529 w 1811045"/>
                <a:gd name="connsiteY49" fmla="*/ 568171 h 887767"/>
                <a:gd name="connsiteX50" fmla="*/ 1313896 w 1811045"/>
                <a:gd name="connsiteY50" fmla="*/ 559293 h 887767"/>
                <a:gd name="connsiteX51" fmla="*/ 1251752 w 1811045"/>
                <a:gd name="connsiteY51" fmla="*/ 541538 h 887767"/>
                <a:gd name="connsiteX52" fmla="*/ 1162975 w 1811045"/>
                <a:gd name="connsiteY52" fmla="*/ 506027 h 887767"/>
                <a:gd name="connsiteX53" fmla="*/ 1136342 w 1811045"/>
                <a:gd name="connsiteY53" fmla="*/ 497149 h 887767"/>
                <a:gd name="connsiteX54" fmla="*/ 1109709 w 1811045"/>
                <a:gd name="connsiteY54" fmla="*/ 488272 h 887767"/>
                <a:gd name="connsiteX55" fmla="*/ 1065321 w 1811045"/>
                <a:gd name="connsiteY55" fmla="*/ 452761 h 887767"/>
                <a:gd name="connsiteX56" fmla="*/ 1012055 w 1811045"/>
                <a:gd name="connsiteY56" fmla="*/ 426128 h 887767"/>
                <a:gd name="connsiteX57" fmla="*/ 958789 w 1811045"/>
                <a:gd name="connsiteY57" fmla="*/ 381740 h 887767"/>
                <a:gd name="connsiteX58" fmla="*/ 923278 w 1811045"/>
                <a:gd name="connsiteY58" fmla="*/ 355107 h 887767"/>
                <a:gd name="connsiteX59" fmla="*/ 887767 w 1811045"/>
                <a:gd name="connsiteY59" fmla="*/ 346229 h 887767"/>
                <a:gd name="connsiteX60" fmla="*/ 861134 w 1811045"/>
                <a:gd name="connsiteY60" fmla="*/ 328474 h 887767"/>
                <a:gd name="connsiteX61" fmla="*/ 843379 w 1811045"/>
                <a:gd name="connsiteY61" fmla="*/ 310718 h 887767"/>
                <a:gd name="connsiteX62" fmla="*/ 807868 w 1811045"/>
                <a:gd name="connsiteY62" fmla="*/ 292963 h 887767"/>
                <a:gd name="connsiteX63" fmla="*/ 736847 w 1811045"/>
                <a:gd name="connsiteY63" fmla="*/ 266330 h 887767"/>
                <a:gd name="connsiteX64" fmla="*/ 683581 w 1811045"/>
                <a:gd name="connsiteY64" fmla="*/ 230819 h 887767"/>
                <a:gd name="connsiteX65" fmla="*/ 656948 w 1811045"/>
                <a:gd name="connsiteY65" fmla="*/ 213064 h 887767"/>
                <a:gd name="connsiteX66" fmla="*/ 603682 w 1811045"/>
                <a:gd name="connsiteY66" fmla="*/ 177553 h 887767"/>
                <a:gd name="connsiteX67" fmla="*/ 550416 w 1811045"/>
                <a:gd name="connsiteY67" fmla="*/ 133165 h 887767"/>
                <a:gd name="connsiteX68" fmla="*/ 497150 w 1811045"/>
                <a:gd name="connsiteY68" fmla="*/ 115410 h 887767"/>
                <a:gd name="connsiteX69" fmla="*/ 435006 w 1811045"/>
                <a:gd name="connsiteY69" fmla="*/ 79899 h 887767"/>
                <a:gd name="connsiteX70" fmla="*/ 408373 w 1811045"/>
                <a:gd name="connsiteY70" fmla="*/ 71021 h 887767"/>
                <a:gd name="connsiteX71" fmla="*/ 355107 w 1811045"/>
                <a:gd name="connsiteY71" fmla="*/ 35511 h 887767"/>
                <a:gd name="connsiteX72" fmla="*/ 301841 w 1811045"/>
                <a:gd name="connsiteY72" fmla="*/ 17755 h 887767"/>
                <a:gd name="connsiteX73" fmla="*/ 275208 w 1811045"/>
                <a:gd name="connsiteY73" fmla="*/ 8878 h 887767"/>
                <a:gd name="connsiteX74" fmla="*/ 230820 w 1811045"/>
                <a:gd name="connsiteY74" fmla="*/ 0 h 887767"/>
                <a:gd name="connsiteX75" fmla="*/ 133165 w 1811045"/>
                <a:gd name="connsiteY75" fmla="*/ 8878 h 887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1811045" h="887767">
                  <a:moveTo>
                    <a:pt x="133165" y="8878"/>
                  </a:moveTo>
                  <a:cubicBezTo>
                    <a:pt x="112450" y="17756"/>
                    <a:pt x="120889" y="43695"/>
                    <a:pt x="106532" y="53266"/>
                  </a:cubicBezTo>
                  <a:cubicBezTo>
                    <a:pt x="91555" y="63251"/>
                    <a:pt x="70343" y="56452"/>
                    <a:pt x="53266" y="62144"/>
                  </a:cubicBezTo>
                  <a:cubicBezTo>
                    <a:pt x="43144" y="65518"/>
                    <a:pt x="35511" y="73981"/>
                    <a:pt x="26633" y="79899"/>
                  </a:cubicBezTo>
                  <a:cubicBezTo>
                    <a:pt x="2567" y="115998"/>
                    <a:pt x="0" y="111550"/>
                    <a:pt x="0" y="168676"/>
                  </a:cubicBezTo>
                  <a:cubicBezTo>
                    <a:pt x="0" y="201362"/>
                    <a:pt x="2029" y="234370"/>
                    <a:pt x="8878" y="266330"/>
                  </a:cubicBezTo>
                  <a:cubicBezTo>
                    <a:pt x="11114" y="276763"/>
                    <a:pt x="21861" y="283420"/>
                    <a:pt x="26633" y="292963"/>
                  </a:cubicBezTo>
                  <a:cubicBezTo>
                    <a:pt x="45536" y="330768"/>
                    <a:pt x="22738" y="310612"/>
                    <a:pt x="53266" y="346229"/>
                  </a:cubicBezTo>
                  <a:cubicBezTo>
                    <a:pt x="69649" y="365342"/>
                    <a:pt x="91849" y="387714"/>
                    <a:pt x="115410" y="399495"/>
                  </a:cubicBezTo>
                  <a:cubicBezTo>
                    <a:pt x="123780" y="403680"/>
                    <a:pt x="133673" y="404188"/>
                    <a:pt x="142043" y="408373"/>
                  </a:cubicBezTo>
                  <a:cubicBezTo>
                    <a:pt x="151586" y="413145"/>
                    <a:pt x="158554" y="422754"/>
                    <a:pt x="168676" y="426128"/>
                  </a:cubicBezTo>
                  <a:cubicBezTo>
                    <a:pt x="185753" y="431820"/>
                    <a:pt x="204479" y="430640"/>
                    <a:pt x="221942" y="435006"/>
                  </a:cubicBezTo>
                  <a:cubicBezTo>
                    <a:pt x="240099" y="439545"/>
                    <a:pt x="257453" y="446843"/>
                    <a:pt x="275208" y="452761"/>
                  </a:cubicBezTo>
                  <a:cubicBezTo>
                    <a:pt x="284086" y="455720"/>
                    <a:pt x="292577" y="460316"/>
                    <a:pt x="301841" y="461639"/>
                  </a:cubicBezTo>
                  <a:lnTo>
                    <a:pt x="363985" y="470516"/>
                  </a:lnTo>
                  <a:lnTo>
                    <a:pt x="470517" y="506027"/>
                  </a:lnTo>
                  <a:lnTo>
                    <a:pt x="497150" y="514905"/>
                  </a:lnTo>
                  <a:lnTo>
                    <a:pt x="523783" y="523782"/>
                  </a:lnTo>
                  <a:cubicBezTo>
                    <a:pt x="584835" y="564484"/>
                    <a:pt x="556805" y="552545"/>
                    <a:pt x="603682" y="568171"/>
                  </a:cubicBezTo>
                  <a:cubicBezTo>
                    <a:pt x="615519" y="577049"/>
                    <a:pt x="625959" y="588187"/>
                    <a:pt x="639193" y="594804"/>
                  </a:cubicBezTo>
                  <a:cubicBezTo>
                    <a:pt x="655933" y="603174"/>
                    <a:pt x="692459" y="612559"/>
                    <a:pt x="692459" y="612559"/>
                  </a:cubicBezTo>
                  <a:cubicBezTo>
                    <a:pt x="701337" y="621437"/>
                    <a:pt x="708646" y="632228"/>
                    <a:pt x="719092" y="639192"/>
                  </a:cubicBezTo>
                  <a:cubicBezTo>
                    <a:pt x="726878" y="644383"/>
                    <a:pt x="737355" y="643885"/>
                    <a:pt x="745725" y="648070"/>
                  </a:cubicBezTo>
                  <a:cubicBezTo>
                    <a:pt x="755268" y="652842"/>
                    <a:pt x="762815" y="661053"/>
                    <a:pt x="772358" y="665825"/>
                  </a:cubicBezTo>
                  <a:cubicBezTo>
                    <a:pt x="780728" y="670010"/>
                    <a:pt x="790621" y="670518"/>
                    <a:pt x="798991" y="674703"/>
                  </a:cubicBezTo>
                  <a:cubicBezTo>
                    <a:pt x="808534" y="679475"/>
                    <a:pt x="815817" y="688255"/>
                    <a:pt x="825624" y="692458"/>
                  </a:cubicBezTo>
                  <a:cubicBezTo>
                    <a:pt x="836838" y="697264"/>
                    <a:pt x="849710" y="697052"/>
                    <a:pt x="861134" y="701336"/>
                  </a:cubicBezTo>
                  <a:cubicBezTo>
                    <a:pt x="873525" y="705983"/>
                    <a:pt x="884090" y="714906"/>
                    <a:pt x="896645" y="719091"/>
                  </a:cubicBezTo>
                  <a:cubicBezTo>
                    <a:pt x="921052" y="727227"/>
                    <a:pt x="994645" y="734670"/>
                    <a:pt x="1012055" y="736846"/>
                  </a:cubicBezTo>
                  <a:cubicBezTo>
                    <a:pt x="1023892" y="739805"/>
                    <a:pt x="1035879" y="742218"/>
                    <a:pt x="1047565" y="745724"/>
                  </a:cubicBezTo>
                  <a:cubicBezTo>
                    <a:pt x="1065491" y="751102"/>
                    <a:pt x="1082674" y="758940"/>
                    <a:pt x="1100831" y="763479"/>
                  </a:cubicBezTo>
                  <a:cubicBezTo>
                    <a:pt x="1112668" y="766438"/>
                    <a:pt x="1124610" y="769005"/>
                    <a:pt x="1136342" y="772357"/>
                  </a:cubicBezTo>
                  <a:cubicBezTo>
                    <a:pt x="1145340" y="774928"/>
                    <a:pt x="1153840" y="779205"/>
                    <a:pt x="1162975" y="781235"/>
                  </a:cubicBezTo>
                  <a:cubicBezTo>
                    <a:pt x="1185133" y="786159"/>
                    <a:pt x="1258578" y="796160"/>
                    <a:pt x="1278385" y="798990"/>
                  </a:cubicBezTo>
                  <a:cubicBezTo>
                    <a:pt x="1296140" y="804908"/>
                    <a:pt x="1314274" y="809794"/>
                    <a:pt x="1331651" y="816745"/>
                  </a:cubicBezTo>
                  <a:cubicBezTo>
                    <a:pt x="1350888" y="824440"/>
                    <a:pt x="1380792" y="837411"/>
                    <a:pt x="1402672" y="843378"/>
                  </a:cubicBezTo>
                  <a:cubicBezTo>
                    <a:pt x="1452848" y="857062"/>
                    <a:pt x="1511751" y="870436"/>
                    <a:pt x="1562470" y="878889"/>
                  </a:cubicBezTo>
                  <a:lnTo>
                    <a:pt x="1615736" y="887767"/>
                  </a:lnTo>
                  <a:cubicBezTo>
                    <a:pt x="1654206" y="884808"/>
                    <a:pt x="1692860" y="883675"/>
                    <a:pt x="1731146" y="878889"/>
                  </a:cubicBezTo>
                  <a:cubicBezTo>
                    <a:pt x="1773504" y="873594"/>
                    <a:pt x="1744199" y="871058"/>
                    <a:pt x="1775534" y="852256"/>
                  </a:cubicBezTo>
                  <a:cubicBezTo>
                    <a:pt x="1783558" y="847441"/>
                    <a:pt x="1793289" y="846337"/>
                    <a:pt x="1802167" y="843378"/>
                  </a:cubicBezTo>
                  <a:cubicBezTo>
                    <a:pt x="1805126" y="834500"/>
                    <a:pt x="1811045" y="826103"/>
                    <a:pt x="1811045" y="816745"/>
                  </a:cubicBezTo>
                  <a:cubicBezTo>
                    <a:pt x="1811045" y="801656"/>
                    <a:pt x="1809653" y="785458"/>
                    <a:pt x="1802167" y="772357"/>
                  </a:cubicBezTo>
                  <a:cubicBezTo>
                    <a:pt x="1794069" y="758185"/>
                    <a:pt x="1762571" y="750281"/>
                    <a:pt x="1748901" y="745724"/>
                  </a:cubicBezTo>
                  <a:cubicBezTo>
                    <a:pt x="1726632" y="729022"/>
                    <a:pt x="1681984" y="694509"/>
                    <a:pt x="1660125" y="683580"/>
                  </a:cubicBezTo>
                  <a:cubicBezTo>
                    <a:pt x="1648288" y="677662"/>
                    <a:pt x="1636902" y="670740"/>
                    <a:pt x="1624614" y="665825"/>
                  </a:cubicBezTo>
                  <a:cubicBezTo>
                    <a:pt x="1588593" y="651417"/>
                    <a:pt x="1570716" y="647912"/>
                    <a:pt x="1535837" y="639192"/>
                  </a:cubicBezTo>
                  <a:cubicBezTo>
                    <a:pt x="1521041" y="630314"/>
                    <a:pt x="1507157" y="619699"/>
                    <a:pt x="1491449" y="612559"/>
                  </a:cubicBezTo>
                  <a:cubicBezTo>
                    <a:pt x="1474411" y="604814"/>
                    <a:pt x="1456071" y="600308"/>
                    <a:pt x="1438183" y="594804"/>
                  </a:cubicBezTo>
                  <a:cubicBezTo>
                    <a:pt x="1276263" y="544982"/>
                    <a:pt x="1446802" y="598535"/>
                    <a:pt x="1340529" y="568171"/>
                  </a:cubicBezTo>
                  <a:cubicBezTo>
                    <a:pt x="1331531" y="565600"/>
                    <a:pt x="1322894" y="561864"/>
                    <a:pt x="1313896" y="559293"/>
                  </a:cubicBezTo>
                  <a:cubicBezTo>
                    <a:pt x="1291381" y="552860"/>
                    <a:pt x="1273031" y="550657"/>
                    <a:pt x="1251752" y="541538"/>
                  </a:cubicBezTo>
                  <a:cubicBezTo>
                    <a:pt x="1160300" y="502345"/>
                    <a:pt x="1284234" y="546447"/>
                    <a:pt x="1162975" y="506027"/>
                  </a:cubicBezTo>
                  <a:lnTo>
                    <a:pt x="1136342" y="497149"/>
                  </a:lnTo>
                  <a:lnTo>
                    <a:pt x="1109709" y="488272"/>
                  </a:lnTo>
                  <a:cubicBezTo>
                    <a:pt x="1093193" y="471756"/>
                    <a:pt x="1087721" y="463961"/>
                    <a:pt x="1065321" y="452761"/>
                  </a:cubicBezTo>
                  <a:cubicBezTo>
                    <a:pt x="1025284" y="432743"/>
                    <a:pt x="1050216" y="457928"/>
                    <a:pt x="1012055" y="426128"/>
                  </a:cubicBezTo>
                  <a:cubicBezTo>
                    <a:pt x="912575" y="343229"/>
                    <a:pt x="1051365" y="447865"/>
                    <a:pt x="958789" y="381740"/>
                  </a:cubicBezTo>
                  <a:cubicBezTo>
                    <a:pt x="946749" y="373140"/>
                    <a:pt x="936512" y="361724"/>
                    <a:pt x="923278" y="355107"/>
                  </a:cubicBezTo>
                  <a:cubicBezTo>
                    <a:pt x="912365" y="349650"/>
                    <a:pt x="899604" y="349188"/>
                    <a:pt x="887767" y="346229"/>
                  </a:cubicBezTo>
                  <a:cubicBezTo>
                    <a:pt x="878889" y="340311"/>
                    <a:pt x="869465" y="335139"/>
                    <a:pt x="861134" y="328474"/>
                  </a:cubicBezTo>
                  <a:cubicBezTo>
                    <a:pt x="854598" y="323245"/>
                    <a:pt x="850343" y="315361"/>
                    <a:pt x="843379" y="310718"/>
                  </a:cubicBezTo>
                  <a:cubicBezTo>
                    <a:pt x="832368" y="303377"/>
                    <a:pt x="820032" y="298176"/>
                    <a:pt x="807868" y="292963"/>
                  </a:cubicBezTo>
                  <a:cubicBezTo>
                    <a:pt x="770892" y="277116"/>
                    <a:pt x="781793" y="290846"/>
                    <a:pt x="736847" y="266330"/>
                  </a:cubicBezTo>
                  <a:cubicBezTo>
                    <a:pt x="718113" y="256112"/>
                    <a:pt x="701336" y="242656"/>
                    <a:pt x="683581" y="230819"/>
                  </a:cubicBezTo>
                  <a:lnTo>
                    <a:pt x="656948" y="213064"/>
                  </a:lnTo>
                  <a:cubicBezTo>
                    <a:pt x="618543" y="155456"/>
                    <a:pt x="665419" y="212831"/>
                    <a:pt x="603682" y="177553"/>
                  </a:cubicBezTo>
                  <a:cubicBezTo>
                    <a:pt x="530513" y="135742"/>
                    <a:pt x="620632" y="164371"/>
                    <a:pt x="550416" y="133165"/>
                  </a:cubicBezTo>
                  <a:cubicBezTo>
                    <a:pt x="533313" y="125564"/>
                    <a:pt x="497150" y="115410"/>
                    <a:pt x="497150" y="115410"/>
                  </a:cubicBezTo>
                  <a:cubicBezTo>
                    <a:pt x="470400" y="97576"/>
                    <a:pt x="466548" y="93417"/>
                    <a:pt x="435006" y="79899"/>
                  </a:cubicBezTo>
                  <a:cubicBezTo>
                    <a:pt x="426405" y="76213"/>
                    <a:pt x="416553" y="75566"/>
                    <a:pt x="408373" y="71021"/>
                  </a:cubicBezTo>
                  <a:cubicBezTo>
                    <a:pt x="389719" y="60658"/>
                    <a:pt x="375351" y="42259"/>
                    <a:pt x="355107" y="35511"/>
                  </a:cubicBezTo>
                  <a:lnTo>
                    <a:pt x="301841" y="17755"/>
                  </a:lnTo>
                  <a:cubicBezTo>
                    <a:pt x="292963" y="14796"/>
                    <a:pt x="284384" y="10713"/>
                    <a:pt x="275208" y="8878"/>
                  </a:cubicBezTo>
                  <a:lnTo>
                    <a:pt x="230820" y="0"/>
                  </a:lnTo>
                  <a:cubicBezTo>
                    <a:pt x="160390" y="10062"/>
                    <a:pt x="153880" y="0"/>
                    <a:pt x="133165" y="887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33" name="Straight Connector 32"/>
          <p:cNvCxnSpPr/>
          <p:nvPr/>
        </p:nvCxnSpPr>
        <p:spPr>
          <a:xfrm>
            <a:off x="7066642" y="1196752"/>
            <a:ext cx="0" cy="558025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Rectangle 4">
            <a:extLst>
              <a:ext uri="{FF2B5EF4-FFF2-40B4-BE49-F238E27FC236}">
                <a16:creationId xmlns:a16="http://schemas.microsoft.com/office/drawing/2014/main" id="{2B647D8A-9D3B-47D3-897A-998A624BDF4E}"/>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Hillsope</a:t>
            </a:r>
            <a:r>
              <a:rPr lang="en-GB" sz="40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processes</a:t>
            </a:r>
            <a:endPar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1613430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6"/>
          <p:cNvGrpSpPr/>
          <p:nvPr/>
        </p:nvGrpSpPr>
        <p:grpSpPr>
          <a:xfrm>
            <a:off x="6516216" y="1412776"/>
            <a:ext cx="2088232" cy="1352250"/>
            <a:chOff x="4716016" y="1340768"/>
            <a:chExt cx="2088232" cy="1352250"/>
          </a:xfrm>
        </p:grpSpPr>
        <p:grpSp>
          <p:nvGrpSpPr>
            <p:cNvPr id="4" name="Group 12"/>
            <p:cNvGrpSpPr/>
            <p:nvPr/>
          </p:nvGrpSpPr>
          <p:grpSpPr>
            <a:xfrm>
              <a:off x="4716016" y="1340768"/>
              <a:ext cx="2088232" cy="1296144"/>
              <a:chOff x="4211960" y="1340768"/>
              <a:chExt cx="2088232" cy="1296144"/>
            </a:xfrm>
          </p:grpSpPr>
          <p:pic>
            <p:nvPicPr>
              <p:cNvPr id="6146" name="Picture 2" descr="eosc250054"/>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355976" y="1340768"/>
                <a:ext cx="1944216" cy="1224136"/>
              </a:xfrm>
              <a:prstGeom prst="rect">
                <a:avLst/>
              </a:prstGeom>
              <a:noFill/>
              <a:ln w="9525">
                <a:noFill/>
                <a:miter lim="800000"/>
                <a:headEnd/>
                <a:tailEnd/>
              </a:ln>
            </p:spPr>
          </p:pic>
          <p:sp>
            <p:nvSpPr>
              <p:cNvPr id="12" name="Rectangle 11"/>
              <p:cNvSpPr/>
              <p:nvPr/>
            </p:nvSpPr>
            <p:spPr>
              <a:xfrm>
                <a:off x="4211960" y="2420888"/>
                <a:ext cx="720080"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6" name="TextBox 15"/>
            <p:cNvSpPr txBox="1"/>
            <p:nvPr/>
          </p:nvSpPr>
          <p:spPr>
            <a:xfrm>
              <a:off x="4743449" y="2323686"/>
              <a:ext cx="576064" cy="369332"/>
            </a:xfrm>
            <a:prstGeom prst="rect">
              <a:avLst/>
            </a:prstGeom>
            <a:noFill/>
          </p:spPr>
          <p:txBody>
            <a:bodyPr wrap="square" rtlCol="0">
              <a:spAutoFit/>
            </a:bodyPr>
            <a:lstStyle/>
            <a:p>
              <a:r>
                <a:rPr lang="en-GB" dirty="0"/>
                <a:t>Fall</a:t>
              </a:r>
            </a:p>
          </p:txBody>
        </p:sp>
      </p:grpSp>
      <p:sp>
        <p:nvSpPr>
          <p:cNvPr id="28" name="TextBox 27"/>
          <p:cNvSpPr txBox="1"/>
          <p:nvPr/>
        </p:nvSpPr>
        <p:spPr>
          <a:xfrm>
            <a:off x="179512" y="1196752"/>
            <a:ext cx="6462464" cy="1323439"/>
          </a:xfrm>
          <a:prstGeom prst="rect">
            <a:avLst/>
          </a:prstGeom>
          <a:noFill/>
        </p:spPr>
        <p:txBody>
          <a:bodyPr wrap="square" rtlCol="0">
            <a:spAutoFit/>
          </a:bodyPr>
          <a:lstStyle/>
          <a:p>
            <a:pPr marL="342900" indent="-342900">
              <a:buFont typeface="Arial" panose="020B0604020202020204" pitchFamily="34" charset="0"/>
              <a:buChar char="•"/>
            </a:pPr>
            <a:r>
              <a:rPr lang="en-GB" sz="2000" b="1" u="sng" dirty="0"/>
              <a:t>Fall</a:t>
            </a:r>
            <a:r>
              <a:rPr lang="en-GB" sz="2000" b="1" dirty="0"/>
              <a:t> – detachment occurs with little or no shear, movement occurs through free-fall, bouncing or rolling</a:t>
            </a:r>
            <a:r>
              <a:rPr lang="en-GB" sz="2000" dirty="0"/>
              <a:t>.</a:t>
            </a:r>
          </a:p>
          <a:p>
            <a:pPr lvl="1"/>
            <a:r>
              <a:rPr lang="en-GB" sz="2000" dirty="0">
                <a:sym typeface="Wingdings" panose="05000000000000000000" pitchFamily="2" charset="2"/>
              </a:rPr>
              <a:t>Common in glacial, canyon and sea-cliff geomorphic terranes with steep valley walls.</a:t>
            </a:r>
            <a:endParaRPr lang="en-GB" sz="2000" dirty="0"/>
          </a:p>
        </p:txBody>
      </p:sp>
      <p:pic>
        <p:nvPicPr>
          <p:cNvPr id="18434" name="Picture 2" descr="Image result for talus slope"/>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612678" y="2765026"/>
            <a:ext cx="5416602" cy="3832326"/>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Image result for house crushed by boulde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79512" y="2765026"/>
            <a:ext cx="3266744" cy="3920092"/>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p:cNvSpPr txBox="1"/>
          <p:nvPr/>
        </p:nvSpPr>
        <p:spPr>
          <a:xfrm>
            <a:off x="5903640" y="2901717"/>
            <a:ext cx="3240360" cy="830997"/>
          </a:xfrm>
          <a:prstGeom prst="rect">
            <a:avLst/>
          </a:prstGeom>
          <a:solidFill>
            <a:schemeClr val="bg1"/>
          </a:solidFill>
          <a:ln w="57150">
            <a:solidFill>
              <a:schemeClr val="tx1"/>
            </a:solidFill>
          </a:ln>
        </p:spPr>
        <p:txBody>
          <a:bodyPr wrap="square" rtlCol="0">
            <a:spAutoFit/>
          </a:bodyPr>
          <a:lstStyle/>
          <a:p>
            <a:pPr>
              <a:spcAft>
                <a:spcPts val="600"/>
              </a:spcAft>
            </a:pPr>
            <a:r>
              <a:rPr lang="en-GB" sz="1600" dirty="0">
                <a:sym typeface="Wingdings" panose="05000000000000000000" pitchFamily="2" charset="2"/>
              </a:rPr>
              <a:t>The clasts and the piles thereof are called talus, and are a good indicator of the process of falling.</a:t>
            </a:r>
            <a:endParaRPr lang="en-GB" sz="1600" b="1" dirty="0"/>
          </a:p>
        </p:txBody>
      </p:sp>
      <p:cxnSp>
        <p:nvCxnSpPr>
          <p:cNvPr id="24" name="Straight Arrow Connector 23"/>
          <p:cNvCxnSpPr/>
          <p:nvPr/>
        </p:nvCxnSpPr>
        <p:spPr>
          <a:xfrm flipH="1">
            <a:off x="5903640" y="3732714"/>
            <a:ext cx="1476672" cy="1856526"/>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4">
            <a:extLst>
              <a:ext uri="{FF2B5EF4-FFF2-40B4-BE49-F238E27FC236}">
                <a16:creationId xmlns:a16="http://schemas.microsoft.com/office/drawing/2014/main" id="{C03D08D6-2CEB-4D6B-A430-1F9211687D0D}"/>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Hillsope</a:t>
            </a:r>
            <a:r>
              <a:rPr lang="en-GB" sz="40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processes</a:t>
            </a:r>
            <a:endPar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255973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lide and slump structures | SpringerLink">
            <a:extLst>
              <a:ext uri="{FF2B5EF4-FFF2-40B4-BE49-F238E27FC236}">
                <a16:creationId xmlns:a16="http://schemas.microsoft.com/office/drawing/2014/main" id="{385D664D-259E-4475-B49F-F4B9BC29DA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421354"/>
            <a:ext cx="8269163" cy="51294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CF13830-8AC5-479D-A764-140836F46AAD}"/>
              </a:ext>
            </a:extLst>
          </p:cNvPr>
          <p:cNvSpPr txBox="1"/>
          <p:nvPr/>
        </p:nvSpPr>
        <p:spPr>
          <a:xfrm>
            <a:off x="5718504" y="1256317"/>
            <a:ext cx="3331330" cy="2462213"/>
          </a:xfrm>
          <a:prstGeom prst="rect">
            <a:avLst/>
          </a:prstGeom>
          <a:noFill/>
        </p:spPr>
        <p:txBody>
          <a:bodyPr wrap="square" rtlCol="0">
            <a:spAutoFit/>
          </a:bodyPr>
          <a:lstStyle/>
          <a:p>
            <a:r>
              <a:rPr lang="en-GB" sz="2200" b="1" u="sng" dirty="0">
                <a:latin typeface="Calibri" panose="020F0502020204030204" pitchFamily="34" charset="0"/>
                <a:cs typeface="Calibri" panose="020F0502020204030204" pitchFamily="34" charset="0"/>
              </a:rPr>
              <a:t>Slide</a:t>
            </a:r>
            <a:r>
              <a:rPr lang="en-GB" sz="2200" b="1" dirty="0">
                <a:latin typeface="Calibri" panose="020F0502020204030204" pitchFamily="34" charset="0"/>
                <a:cs typeface="Calibri" panose="020F0502020204030204" pitchFamily="34" charset="0"/>
              </a:rPr>
              <a:t> </a:t>
            </a:r>
            <a:r>
              <a:rPr lang="en-GB" sz="2200" dirty="0">
                <a:latin typeface="Calibri" panose="020F0502020204030204" pitchFamily="34" charset="0"/>
                <a:cs typeface="Calibri" panose="020F0502020204030204" pitchFamily="34" charset="0"/>
              </a:rPr>
              <a:t>– detachment and movement occurs along one or several  surfaces of shear (a scar and fault), with limited </a:t>
            </a:r>
            <a:r>
              <a:rPr lang="en-GB" sz="2200" b="1" u="sng" dirty="0">
                <a:latin typeface="Calibri" panose="020F0502020204030204" pitchFamily="34" charset="0"/>
                <a:cs typeface="Calibri" panose="020F0502020204030204" pitchFamily="34" charset="0"/>
              </a:rPr>
              <a:t>brittle</a:t>
            </a:r>
            <a:r>
              <a:rPr lang="en-GB" sz="2200" dirty="0">
                <a:latin typeface="Calibri" panose="020F0502020204030204" pitchFamily="34" charset="0"/>
                <a:cs typeface="Calibri" panose="020F0502020204030204" pitchFamily="34" charset="0"/>
              </a:rPr>
              <a:t> internal deformation (fracturing or faulting). </a:t>
            </a:r>
          </a:p>
        </p:txBody>
      </p:sp>
      <p:sp>
        <p:nvSpPr>
          <p:cNvPr id="5" name="Rectangle 4">
            <a:extLst>
              <a:ext uri="{FF2B5EF4-FFF2-40B4-BE49-F238E27FC236}">
                <a16:creationId xmlns:a16="http://schemas.microsoft.com/office/drawing/2014/main" id="{FB2B77A1-6971-4797-B240-E21EB8BD4863}"/>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Hillsope</a:t>
            </a:r>
            <a:r>
              <a:rPr lang="en-GB" sz="40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processes</a:t>
            </a:r>
            <a:endPar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173526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lide and slump structures | SpringerLink">
            <a:extLst>
              <a:ext uri="{FF2B5EF4-FFF2-40B4-BE49-F238E27FC236}">
                <a16:creationId xmlns:a16="http://schemas.microsoft.com/office/drawing/2014/main" id="{8B31E9CD-64FE-4CA4-B8E6-19674A7153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794157"/>
            <a:ext cx="8659688" cy="483048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2C524B5-722C-46F6-8418-86B065FA8AAF}"/>
              </a:ext>
            </a:extLst>
          </p:cNvPr>
          <p:cNvSpPr txBox="1"/>
          <p:nvPr/>
        </p:nvSpPr>
        <p:spPr>
          <a:xfrm>
            <a:off x="5295901" y="1227497"/>
            <a:ext cx="3453656" cy="2123658"/>
          </a:xfrm>
          <a:prstGeom prst="rect">
            <a:avLst/>
          </a:prstGeom>
          <a:noFill/>
        </p:spPr>
        <p:txBody>
          <a:bodyPr wrap="square" rtlCol="0">
            <a:spAutoFit/>
          </a:bodyPr>
          <a:lstStyle/>
          <a:p>
            <a:r>
              <a:rPr lang="en-GB" sz="2200" b="1" u="sng" dirty="0">
                <a:latin typeface="Calibri" panose="020F0502020204030204" pitchFamily="34" charset="0"/>
                <a:cs typeface="Calibri" panose="020F0502020204030204" pitchFamily="34" charset="0"/>
              </a:rPr>
              <a:t>Slump</a:t>
            </a:r>
            <a:r>
              <a:rPr lang="en-GB" sz="2200" b="1" dirty="0">
                <a:latin typeface="Calibri" panose="020F0502020204030204" pitchFamily="34" charset="0"/>
                <a:cs typeface="Calibri" panose="020F0502020204030204" pitchFamily="34" charset="0"/>
              </a:rPr>
              <a:t> </a:t>
            </a:r>
            <a:r>
              <a:rPr lang="en-GB" sz="2200" dirty="0">
                <a:latin typeface="Calibri" panose="020F0502020204030204" pitchFamily="34" charset="0"/>
                <a:cs typeface="Calibri" panose="020F0502020204030204" pitchFamily="34" charset="0"/>
              </a:rPr>
              <a:t>– detachment and movement occurs along one or several  surfaces of shear, with </a:t>
            </a:r>
            <a:r>
              <a:rPr lang="en-GB" sz="2200" b="1" u="sng" dirty="0">
                <a:latin typeface="Calibri" panose="020F0502020204030204" pitchFamily="34" charset="0"/>
                <a:cs typeface="Calibri" panose="020F0502020204030204" pitchFamily="34" charset="0"/>
              </a:rPr>
              <a:t>brittle and ductile</a:t>
            </a:r>
            <a:r>
              <a:rPr lang="en-GB" sz="2200" dirty="0">
                <a:latin typeface="Calibri" panose="020F0502020204030204" pitchFamily="34" charset="0"/>
                <a:cs typeface="Calibri" panose="020F0502020204030204" pitchFamily="34" charset="0"/>
              </a:rPr>
              <a:t> internal deformation (faulting and folding). </a:t>
            </a:r>
          </a:p>
        </p:txBody>
      </p:sp>
      <p:sp>
        <p:nvSpPr>
          <p:cNvPr id="5" name="Rectangle 4">
            <a:extLst>
              <a:ext uri="{FF2B5EF4-FFF2-40B4-BE49-F238E27FC236}">
                <a16:creationId xmlns:a16="http://schemas.microsoft.com/office/drawing/2014/main" id="{690AB651-63CF-44F3-983E-187D5175E023}"/>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Hillsope</a:t>
            </a:r>
            <a:r>
              <a:rPr lang="en-GB" sz="40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processes</a:t>
            </a:r>
            <a:endPar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1116439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mam tor landslide"/>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9862" y="1044190"/>
            <a:ext cx="9078641" cy="58052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69462" y="5589240"/>
            <a:ext cx="3240360" cy="1077218"/>
          </a:xfrm>
          <a:prstGeom prst="rect">
            <a:avLst/>
          </a:prstGeom>
          <a:solidFill>
            <a:schemeClr val="bg1"/>
          </a:solidFill>
          <a:ln w="57150">
            <a:solidFill>
              <a:schemeClr val="tx1"/>
            </a:solidFill>
          </a:ln>
        </p:spPr>
        <p:txBody>
          <a:bodyPr wrap="square" rtlCol="0">
            <a:spAutoFit/>
          </a:bodyPr>
          <a:lstStyle/>
          <a:p>
            <a:pPr>
              <a:spcAft>
                <a:spcPts val="600"/>
              </a:spcAft>
            </a:pPr>
            <a:r>
              <a:rPr lang="en-GB" sz="1600" dirty="0">
                <a:sym typeface="Wingdings" panose="05000000000000000000" pitchFamily="2" charset="2"/>
              </a:rPr>
              <a:t>The Mam Tor Slump closed the main highway between Manchester and Sheffield in the 1970s. It has been creeping for thousands of years.</a:t>
            </a:r>
            <a:endParaRPr lang="en-GB" sz="1600" dirty="0"/>
          </a:p>
        </p:txBody>
      </p:sp>
      <p:sp>
        <p:nvSpPr>
          <p:cNvPr id="5" name="TextBox 4"/>
          <p:cNvSpPr txBox="1"/>
          <p:nvPr/>
        </p:nvSpPr>
        <p:spPr>
          <a:xfrm>
            <a:off x="6228184" y="1171491"/>
            <a:ext cx="2064973" cy="584775"/>
          </a:xfrm>
          <a:prstGeom prst="rect">
            <a:avLst/>
          </a:prstGeom>
          <a:solidFill>
            <a:schemeClr val="bg1"/>
          </a:solidFill>
          <a:ln w="57150">
            <a:solidFill>
              <a:schemeClr val="tx1"/>
            </a:solidFill>
          </a:ln>
        </p:spPr>
        <p:txBody>
          <a:bodyPr wrap="square" rtlCol="0">
            <a:spAutoFit/>
          </a:bodyPr>
          <a:lstStyle/>
          <a:p>
            <a:pPr>
              <a:spcAft>
                <a:spcPts val="600"/>
              </a:spcAft>
            </a:pPr>
            <a:r>
              <a:rPr lang="en-GB" sz="1600" dirty="0">
                <a:sym typeface="Wingdings" panose="05000000000000000000" pitchFamily="2" charset="2"/>
              </a:rPr>
              <a:t>Slump scar (arcuate)</a:t>
            </a:r>
            <a:r>
              <a:rPr lang="en-GB" sz="1600" b="1" dirty="0">
                <a:sym typeface="Wingdings" panose="05000000000000000000" pitchFamily="2" charset="2"/>
              </a:rPr>
              <a:t>. Area of erosion.</a:t>
            </a:r>
            <a:endParaRPr lang="en-GB" sz="1600" dirty="0">
              <a:sym typeface="Wingdings" panose="05000000000000000000" pitchFamily="2" charset="2"/>
            </a:endParaRPr>
          </a:p>
        </p:txBody>
      </p:sp>
      <p:cxnSp>
        <p:nvCxnSpPr>
          <p:cNvPr id="6" name="Straight Arrow Connector 5"/>
          <p:cNvCxnSpPr/>
          <p:nvPr/>
        </p:nvCxnSpPr>
        <p:spPr>
          <a:xfrm flipH="1">
            <a:off x="4211960" y="1340768"/>
            <a:ext cx="2016224" cy="1208454"/>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flipV="1">
            <a:off x="4932040" y="4781470"/>
            <a:ext cx="2160240" cy="115853"/>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073342" y="4753254"/>
            <a:ext cx="1219815" cy="338554"/>
          </a:xfrm>
          <a:prstGeom prst="rect">
            <a:avLst/>
          </a:prstGeom>
          <a:solidFill>
            <a:schemeClr val="bg1"/>
          </a:solidFill>
          <a:ln w="57150">
            <a:solidFill>
              <a:schemeClr val="tx1"/>
            </a:solidFill>
          </a:ln>
        </p:spPr>
        <p:txBody>
          <a:bodyPr wrap="square" rtlCol="0">
            <a:spAutoFit/>
          </a:bodyPr>
          <a:lstStyle/>
          <a:p>
            <a:pPr>
              <a:spcAft>
                <a:spcPts val="600"/>
              </a:spcAft>
            </a:pPr>
            <a:r>
              <a:rPr lang="en-GB" sz="1600" dirty="0">
                <a:sym typeface="Wingdings" panose="05000000000000000000" pitchFamily="2" charset="2"/>
              </a:rPr>
              <a:t>Slump mass</a:t>
            </a:r>
            <a:endParaRPr lang="en-GB" sz="1600" b="1" dirty="0"/>
          </a:p>
        </p:txBody>
      </p:sp>
      <p:sp>
        <p:nvSpPr>
          <p:cNvPr id="9" name="Rectangle 4">
            <a:extLst>
              <a:ext uri="{FF2B5EF4-FFF2-40B4-BE49-F238E27FC236}">
                <a16:creationId xmlns:a16="http://schemas.microsoft.com/office/drawing/2014/main" id="{F85E555A-C159-4EEF-99DF-D41368B16CD7}"/>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Hillsope</a:t>
            </a:r>
            <a:r>
              <a:rPr lang="en-GB" sz="40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processes</a:t>
            </a:r>
            <a:endPar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703928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3"/>
          <p:cNvSpPr txBox="1">
            <a:spLocks noChangeArrowheads="1"/>
          </p:cNvSpPr>
          <p:nvPr/>
        </p:nvSpPr>
        <p:spPr bwMode="auto">
          <a:xfrm>
            <a:off x="179512" y="1124744"/>
            <a:ext cx="8784976" cy="400110"/>
          </a:xfrm>
          <a:prstGeom prst="rect">
            <a:avLst/>
          </a:prstGeom>
          <a:noFill/>
          <a:ln w="9525">
            <a:noFill/>
            <a:miter lim="800000"/>
            <a:headEnd/>
            <a:tailEnd/>
          </a:ln>
        </p:spPr>
        <p:txBody>
          <a:bodyPr wrap="square">
            <a:spAutoFit/>
          </a:bodyPr>
          <a:lstStyle/>
          <a:p>
            <a:r>
              <a:rPr lang="en-GB" sz="2000" b="1" u="sng" dirty="0"/>
              <a:t>Debris flows</a:t>
            </a:r>
            <a:endParaRPr lang="en-GB" sz="2000" u="sng" dirty="0"/>
          </a:p>
        </p:txBody>
      </p:sp>
      <p:sp>
        <p:nvSpPr>
          <p:cNvPr id="28" name="TextBox 27"/>
          <p:cNvSpPr txBox="1"/>
          <p:nvPr/>
        </p:nvSpPr>
        <p:spPr>
          <a:xfrm>
            <a:off x="467544" y="1916832"/>
            <a:ext cx="5616624" cy="400110"/>
          </a:xfrm>
          <a:prstGeom prst="rect">
            <a:avLst/>
          </a:prstGeom>
          <a:noFill/>
        </p:spPr>
        <p:txBody>
          <a:bodyPr wrap="square" rtlCol="0">
            <a:spAutoFit/>
          </a:bodyPr>
          <a:lstStyle/>
          <a:p>
            <a:endParaRPr lang="en-GB" sz="2000" dirty="0">
              <a:solidFill>
                <a:schemeClr val="tx2"/>
              </a:solidFill>
            </a:endParaRPr>
          </a:p>
        </p:txBody>
      </p:sp>
      <p:sp>
        <p:nvSpPr>
          <p:cNvPr id="9" name="TextBox 8"/>
          <p:cNvSpPr txBox="1"/>
          <p:nvPr/>
        </p:nvSpPr>
        <p:spPr>
          <a:xfrm>
            <a:off x="251520" y="1700808"/>
            <a:ext cx="8640960" cy="2862322"/>
          </a:xfrm>
          <a:prstGeom prst="rect">
            <a:avLst/>
          </a:prstGeom>
          <a:noFill/>
        </p:spPr>
        <p:txBody>
          <a:bodyPr wrap="square" rtlCol="0">
            <a:spAutoFit/>
          </a:bodyPr>
          <a:lstStyle/>
          <a:p>
            <a:pPr>
              <a:buFont typeface="Arial" pitchFamily="34" charset="0"/>
              <a:buChar char="•"/>
            </a:pPr>
            <a:r>
              <a:rPr lang="en-GB" sz="2000" dirty="0">
                <a:sym typeface="Wingdings" pitchFamily="2" charset="2"/>
              </a:rPr>
              <a:t>Debris flows form where water saturated soil, sediment or </a:t>
            </a:r>
            <a:r>
              <a:rPr lang="en-GB" sz="2000" dirty="0" err="1">
                <a:sym typeface="Wingdings" pitchFamily="2" charset="2"/>
              </a:rPr>
              <a:t>regolith</a:t>
            </a:r>
            <a:r>
              <a:rPr lang="en-GB" sz="2000" dirty="0">
                <a:sym typeface="Wingdings" pitchFamily="2" charset="2"/>
              </a:rPr>
              <a:t>, fails – usually via catastrophic (rather than creeping) slumping</a:t>
            </a:r>
          </a:p>
          <a:p>
            <a:pPr>
              <a:buFont typeface="Arial" pitchFamily="34" charset="0"/>
              <a:buChar char="•"/>
            </a:pPr>
            <a:endParaRPr lang="en-GB" sz="2000" dirty="0">
              <a:sym typeface="Wingdings" pitchFamily="2" charset="2"/>
            </a:endParaRPr>
          </a:p>
          <a:p>
            <a:pPr>
              <a:buFont typeface="Arial" pitchFamily="34" charset="0"/>
              <a:buChar char="•"/>
            </a:pPr>
            <a:r>
              <a:rPr lang="en-GB" sz="2000" dirty="0">
                <a:sym typeface="Wingdings" pitchFamily="2" charset="2"/>
              </a:rPr>
              <a:t>The kinetic energy imparted by the mass movement, causes grains to collide and bounce apart, allowing to flow freely between the grains, so that the material (even though it is composed of &gt;50% grains) behaves as a fluid.</a:t>
            </a:r>
          </a:p>
          <a:p>
            <a:pPr>
              <a:buFont typeface="Arial" pitchFamily="34" charset="0"/>
              <a:buChar char="•"/>
            </a:pPr>
            <a:endParaRPr lang="en-GB" sz="2000" dirty="0">
              <a:sym typeface="Wingdings" pitchFamily="2" charset="2"/>
            </a:endParaRPr>
          </a:p>
          <a:p>
            <a:pPr>
              <a:buFont typeface="Arial" pitchFamily="34" charset="0"/>
              <a:buChar char="•"/>
            </a:pPr>
            <a:r>
              <a:rPr lang="en-GB" sz="2000" dirty="0">
                <a:sym typeface="Wingdings" pitchFamily="2" charset="2"/>
              </a:rPr>
              <a:t>These pose a significant threat to society and infrastructure.</a:t>
            </a:r>
          </a:p>
          <a:p>
            <a:pPr lvl="1">
              <a:buFont typeface="Arial" pitchFamily="34" charset="0"/>
              <a:buChar char="•"/>
            </a:pPr>
            <a:endParaRPr lang="en-GB" sz="2000" dirty="0"/>
          </a:p>
        </p:txBody>
      </p:sp>
      <p:sp>
        <p:nvSpPr>
          <p:cNvPr id="17" name="Text Box 7"/>
          <p:cNvSpPr txBox="1">
            <a:spLocks noChangeArrowheads="1"/>
          </p:cNvSpPr>
          <p:nvPr/>
        </p:nvSpPr>
        <p:spPr bwMode="auto">
          <a:xfrm>
            <a:off x="290860" y="4454957"/>
            <a:ext cx="4065116" cy="2554545"/>
          </a:xfrm>
          <a:prstGeom prst="rect">
            <a:avLst/>
          </a:prstGeom>
          <a:noFill/>
          <a:ln w="9525">
            <a:noFill/>
            <a:miter lim="800000"/>
            <a:headEnd/>
            <a:tailEnd/>
          </a:ln>
        </p:spPr>
        <p:txBody>
          <a:bodyPr wrap="square">
            <a:spAutoFit/>
          </a:bodyPr>
          <a:lstStyle/>
          <a:p>
            <a:r>
              <a:rPr lang="en-GB" sz="2000" b="1" dirty="0"/>
              <a:t>A debris flow disrupted the Tour-de-France in 2019</a:t>
            </a:r>
          </a:p>
          <a:p>
            <a:pPr algn="ctr"/>
            <a:r>
              <a:rPr lang="en-GB" sz="2000" dirty="0">
                <a:hlinkClick r:id="rId2"/>
              </a:rPr>
              <a:t>https://www.youtube.com/watch?v=VHKZrwJALSA</a:t>
            </a:r>
            <a:endParaRPr lang="en-GB" sz="2000" dirty="0"/>
          </a:p>
          <a:p>
            <a:r>
              <a:rPr lang="en-GB" sz="2000" b="1" dirty="0"/>
              <a:t>Also</a:t>
            </a:r>
          </a:p>
          <a:p>
            <a:pPr algn="ctr"/>
            <a:r>
              <a:rPr lang="en-GB" sz="2000" dirty="0">
                <a:hlinkClick r:id="rId3"/>
              </a:rPr>
              <a:t>https://www.youtube.com/watch?v=F9j9U2kR73w</a:t>
            </a:r>
            <a:endParaRPr lang="en-GB" sz="2000" dirty="0"/>
          </a:p>
          <a:p>
            <a:pPr algn="ctr"/>
            <a:endParaRPr lang="en-GB" sz="2000" dirty="0"/>
          </a:p>
        </p:txBody>
      </p:sp>
      <p:pic>
        <p:nvPicPr>
          <p:cNvPr id="3" name="Picture 2">
            <a:extLst>
              <a:ext uri="{FF2B5EF4-FFF2-40B4-BE49-F238E27FC236}">
                <a16:creationId xmlns:a16="http://schemas.microsoft.com/office/drawing/2014/main" id="{84F78B2D-9488-4F8E-8023-01F0457C9393}"/>
              </a:ext>
            </a:extLst>
          </p:cNvPr>
          <p:cNvPicPr>
            <a:picLocks noChangeAspect="1"/>
          </p:cNvPicPr>
          <p:nvPr/>
        </p:nvPicPr>
        <p:blipFill rotWithShape="1">
          <a:blip r:embed="rId4"/>
          <a:srcRect l="5113" t="23400" r="38975" b="23751"/>
          <a:stretch/>
        </p:blipFill>
        <p:spPr>
          <a:xfrm>
            <a:off x="4525305" y="4365104"/>
            <a:ext cx="4327835" cy="2301071"/>
          </a:xfrm>
          <a:prstGeom prst="rect">
            <a:avLst/>
          </a:prstGeom>
        </p:spPr>
      </p:pic>
      <p:sp>
        <p:nvSpPr>
          <p:cNvPr id="10" name="Rectangle 4">
            <a:extLst>
              <a:ext uri="{FF2B5EF4-FFF2-40B4-BE49-F238E27FC236}">
                <a16:creationId xmlns:a16="http://schemas.microsoft.com/office/drawing/2014/main" id="{3C948A7A-FA62-4357-B685-878D5AD25852}"/>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Hillsope</a:t>
            </a:r>
            <a:r>
              <a:rPr lang="en-GB" sz="40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processes</a:t>
            </a:r>
            <a:endPar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22215987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Arrow Connector 8"/>
          <p:cNvCxnSpPr/>
          <p:nvPr/>
        </p:nvCxnSpPr>
        <p:spPr>
          <a:xfrm>
            <a:off x="5436096" y="1475160"/>
            <a:ext cx="0" cy="5112568"/>
          </a:xfrm>
          <a:prstGeom prst="straightConnector1">
            <a:avLst/>
          </a:prstGeom>
          <a:ln w="762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rot="5400000">
            <a:off x="2429467" y="3538057"/>
            <a:ext cx="5213913" cy="784830"/>
          </a:xfrm>
          <a:prstGeom prst="rect">
            <a:avLst/>
          </a:prstGeom>
          <a:noFill/>
        </p:spPr>
        <p:txBody>
          <a:bodyPr wrap="square" rtlCol="0">
            <a:spAutoFit/>
          </a:bodyPr>
          <a:lstStyle/>
          <a:p>
            <a:pPr algn="ctr">
              <a:spcAft>
                <a:spcPts val="600"/>
              </a:spcAft>
            </a:pPr>
            <a:r>
              <a:rPr lang="en-GB" sz="2000" b="1" dirty="0"/>
              <a:t>Decreasing strength of the sediment/</a:t>
            </a:r>
            <a:r>
              <a:rPr lang="en-GB" sz="2000" b="1" dirty="0" err="1"/>
              <a:t>regolith</a:t>
            </a:r>
            <a:endParaRPr lang="en-GB" sz="2000" b="1" dirty="0"/>
          </a:p>
          <a:p>
            <a:pPr algn="ctr">
              <a:spcAft>
                <a:spcPts val="600"/>
              </a:spcAft>
            </a:pPr>
            <a:r>
              <a:rPr lang="en-GB" sz="2000" b="1" dirty="0"/>
              <a:t>Decreasing gradient required</a:t>
            </a:r>
          </a:p>
        </p:txBody>
      </p:sp>
      <p:sp>
        <p:nvSpPr>
          <p:cNvPr id="11" name="TextBox 10"/>
          <p:cNvSpPr txBox="1"/>
          <p:nvPr/>
        </p:nvSpPr>
        <p:spPr>
          <a:xfrm>
            <a:off x="5724128" y="1619176"/>
            <a:ext cx="1224136" cy="400110"/>
          </a:xfrm>
          <a:prstGeom prst="rect">
            <a:avLst/>
          </a:prstGeom>
          <a:noFill/>
        </p:spPr>
        <p:txBody>
          <a:bodyPr wrap="square" rtlCol="0">
            <a:spAutoFit/>
          </a:bodyPr>
          <a:lstStyle/>
          <a:p>
            <a:pPr>
              <a:spcAft>
                <a:spcPts val="600"/>
              </a:spcAft>
            </a:pPr>
            <a:r>
              <a:rPr lang="en-GB" sz="2000" b="1" dirty="0"/>
              <a:t>Rock fall</a:t>
            </a:r>
          </a:p>
        </p:txBody>
      </p:sp>
      <p:sp>
        <p:nvSpPr>
          <p:cNvPr id="13" name="TextBox 12"/>
          <p:cNvSpPr txBox="1"/>
          <p:nvPr/>
        </p:nvSpPr>
        <p:spPr>
          <a:xfrm>
            <a:off x="5879310" y="2339256"/>
            <a:ext cx="1224136" cy="400110"/>
          </a:xfrm>
          <a:prstGeom prst="rect">
            <a:avLst/>
          </a:prstGeom>
          <a:noFill/>
        </p:spPr>
        <p:txBody>
          <a:bodyPr wrap="square" rtlCol="0">
            <a:spAutoFit/>
          </a:bodyPr>
          <a:lstStyle/>
          <a:p>
            <a:pPr>
              <a:spcAft>
                <a:spcPts val="600"/>
              </a:spcAft>
            </a:pPr>
            <a:r>
              <a:rPr lang="en-GB" sz="2000" b="1" dirty="0"/>
              <a:t>Slide</a:t>
            </a:r>
          </a:p>
        </p:txBody>
      </p:sp>
      <p:sp>
        <p:nvSpPr>
          <p:cNvPr id="14" name="TextBox 13"/>
          <p:cNvSpPr txBox="1"/>
          <p:nvPr/>
        </p:nvSpPr>
        <p:spPr>
          <a:xfrm>
            <a:off x="5480718" y="2996952"/>
            <a:ext cx="1568732" cy="1015663"/>
          </a:xfrm>
          <a:prstGeom prst="rect">
            <a:avLst/>
          </a:prstGeom>
          <a:noFill/>
        </p:spPr>
        <p:txBody>
          <a:bodyPr wrap="square" rtlCol="0">
            <a:spAutoFit/>
          </a:bodyPr>
          <a:lstStyle/>
          <a:p>
            <a:pPr algn="ctr">
              <a:spcAft>
                <a:spcPts val="600"/>
              </a:spcAft>
            </a:pPr>
            <a:r>
              <a:rPr lang="en-GB" sz="2000" b="1" dirty="0"/>
              <a:t>Slump (fast) and creep (slow)</a:t>
            </a:r>
          </a:p>
        </p:txBody>
      </p:sp>
      <p:sp>
        <p:nvSpPr>
          <p:cNvPr id="15" name="TextBox 14"/>
          <p:cNvSpPr txBox="1"/>
          <p:nvPr/>
        </p:nvSpPr>
        <p:spPr>
          <a:xfrm>
            <a:off x="5537282" y="4437112"/>
            <a:ext cx="1512168" cy="400110"/>
          </a:xfrm>
          <a:prstGeom prst="rect">
            <a:avLst/>
          </a:prstGeom>
          <a:noFill/>
        </p:spPr>
        <p:txBody>
          <a:bodyPr wrap="square" rtlCol="0">
            <a:spAutoFit/>
          </a:bodyPr>
          <a:lstStyle/>
          <a:p>
            <a:pPr>
              <a:spcAft>
                <a:spcPts val="600"/>
              </a:spcAft>
            </a:pPr>
            <a:r>
              <a:rPr lang="en-GB" sz="2000" b="1" dirty="0"/>
              <a:t>Debris flow</a:t>
            </a:r>
          </a:p>
        </p:txBody>
      </p:sp>
      <p:sp>
        <p:nvSpPr>
          <p:cNvPr id="17" name="TextBox 16"/>
          <p:cNvSpPr txBox="1"/>
          <p:nvPr/>
        </p:nvSpPr>
        <p:spPr>
          <a:xfrm>
            <a:off x="5439516" y="5445224"/>
            <a:ext cx="1599421" cy="1015663"/>
          </a:xfrm>
          <a:prstGeom prst="rect">
            <a:avLst/>
          </a:prstGeom>
          <a:noFill/>
        </p:spPr>
        <p:txBody>
          <a:bodyPr wrap="square" rtlCol="0">
            <a:spAutoFit/>
          </a:bodyPr>
          <a:lstStyle/>
          <a:p>
            <a:pPr algn="ctr">
              <a:spcAft>
                <a:spcPts val="600"/>
              </a:spcAft>
            </a:pPr>
            <a:r>
              <a:rPr lang="en-GB" sz="2000" b="1" dirty="0"/>
              <a:t>Turbidity and pyroclastic flows</a:t>
            </a:r>
          </a:p>
        </p:txBody>
      </p:sp>
      <p:sp>
        <p:nvSpPr>
          <p:cNvPr id="18" name="Left Brace 17"/>
          <p:cNvSpPr/>
          <p:nvPr/>
        </p:nvSpPr>
        <p:spPr>
          <a:xfrm>
            <a:off x="4391628" y="1396806"/>
            <a:ext cx="252028" cy="1342560"/>
          </a:xfrm>
          <a:prstGeom prst="leftBrace">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9" name="Left Brace 18"/>
          <p:cNvSpPr/>
          <p:nvPr/>
        </p:nvSpPr>
        <p:spPr>
          <a:xfrm>
            <a:off x="4391628" y="2996952"/>
            <a:ext cx="252028" cy="1048007"/>
          </a:xfrm>
          <a:prstGeom prst="leftBrace">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4" name="Left Brace 33"/>
          <p:cNvSpPr/>
          <p:nvPr/>
        </p:nvSpPr>
        <p:spPr>
          <a:xfrm>
            <a:off x="4391628" y="4437112"/>
            <a:ext cx="252028" cy="2026636"/>
          </a:xfrm>
          <a:prstGeom prst="leftBrace">
            <a:avLst/>
          </a:prstGeom>
          <a:ln w="571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5" name="TextBox 34"/>
          <p:cNvSpPr txBox="1"/>
          <p:nvPr/>
        </p:nvSpPr>
        <p:spPr>
          <a:xfrm rot="5400000">
            <a:off x="3559571" y="1896797"/>
            <a:ext cx="1224136" cy="400110"/>
          </a:xfrm>
          <a:prstGeom prst="rect">
            <a:avLst/>
          </a:prstGeom>
          <a:noFill/>
        </p:spPr>
        <p:txBody>
          <a:bodyPr wrap="square" rtlCol="0">
            <a:spAutoFit/>
          </a:bodyPr>
          <a:lstStyle/>
          <a:p>
            <a:pPr>
              <a:spcAft>
                <a:spcPts val="600"/>
              </a:spcAft>
            </a:pPr>
            <a:r>
              <a:rPr lang="en-GB" sz="2000" b="1" dirty="0"/>
              <a:t>Brittle</a:t>
            </a:r>
          </a:p>
        </p:txBody>
      </p:sp>
      <p:sp>
        <p:nvSpPr>
          <p:cNvPr id="36" name="TextBox 35"/>
          <p:cNvSpPr txBox="1"/>
          <p:nvPr/>
        </p:nvSpPr>
        <p:spPr>
          <a:xfrm rot="5400000">
            <a:off x="3605637" y="3409620"/>
            <a:ext cx="1036693" cy="400110"/>
          </a:xfrm>
          <a:prstGeom prst="rect">
            <a:avLst/>
          </a:prstGeom>
          <a:noFill/>
        </p:spPr>
        <p:txBody>
          <a:bodyPr wrap="square" rtlCol="0">
            <a:spAutoFit/>
          </a:bodyPr>
          <a:lstStyle/>
          <a:p>
            <a:pPr>
              <a:spcAft>
                <a:spcPts val="600"/>
              </a:spcAft>
            </a:pPr>
            <a:r>
              <a:rPr lang="en-GB" sz="2000" b="1" dirty="0"/>
              <a:t>Ductile</a:t>
            </a:r>
          </a:p>
        </p:txBody>
      </p:sp>
      <p:sp>
        <p:nvSpPr>
          <p:cNvPr id="37" name="TextBox 36"/>
          <p:cNvSpPr txBox="1"/>
          <p:nvPr/>
        </p:nvSpPr>
        <p:spPr>
          <a:xfrm rot="5400000">
            <a:off x="3653292" y="5443127"/>
            <a:ext cx="1036693" cy="400110"/>
          </a:xfrm>
          <a:prstGeom prst="rect">
            <a:avLst/>
          </a:prstGeom>
          <a:noFill/>
        </p:spPr>
        <p:txBody>
          <a:bodyPr wrap="square" rtlCol="0">
            <a:spAutoFit/>
          </a:bodyPr>
          <a:lstStyle/>
          <a:p>
            <a:pPr>
              <a:spcAft>
                <a:spcPts val="600"/>
              </a:spcAft>
            </a:pPr>
            <a:r>
              <a:rPr lang="en-GB" sz="2000" b="1" dirty="0"/>
              <a:t>Fluid</a:t>
            </a:r>
          </a:p>
        </p:txBody>
      </p:sp>
      <p:grpSp>
        <p:nvGrpSpPr>
          <p:cNvPr id="2" name="Group 1"/>
          <p:cNvGrpSpPr/>
          <p:nvPr/>
        </p:nvGrpSpPr>
        <p:grpSpPr>
          <a:xfrm>
            <a:off x="6938457" y="1344622"/>
            <a:ext cx="2155228" cy="5285359"/>
            <a:chOff x="7268412" y="1095968"/>
            <a:chExt cx="1835080" cy="4853312"/>
          </a:xfrm>
        </p:grpSpPr>
        <p:pic>
          <p:nvPicPr>
            <p:cNvPr id="5" name="Picture 4" descr="Marine Sediment Processes"/>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31726" t="33704" r="42652" b="57409"/>
            <a:stretch/>
          </p:blipFill>
          <p:spPr>
            <a:xfrm>
              <a:off x="7288707" y="3851452"/>
              <a:ext cx="1666159" cy="972484"/>
            </a:xfrm>
            <a:prstGeom prst="rect">
              <a:avLst/>
            </a:prstGeom>
            <a:noFill/>
          </p:spPr>
        </p:pic>
        <p:grpSp>
          <p:nvGrpSpPr>
            <p:cNvPr id="24" name="Group 23"/>
            <p:cNvGrpSpPr/>
            <p:nvPr/>
          </p:nvGrpSpPr>
          <p:grpSpPr>
            <a:xfrm>
              <a:off x="7268412" y="1095968"/>
              <a:ext cx="1666159" cy="1151454"/>
              <a:chOff x="9288047" y="980728"/>
              <a:chExt cx="1729975" cy="1274200"/>
            </a:xfrm>
          </p:grpSpPr>
          <p:pic>
            <p:nvPicPr>
              <p:cNvPr id="20" name="Picture 19" descr="Marine Sediment Processes"/>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31726" t="8866" r="42652" b="81131"/>
              <a:stretch/>
            </p:blipFill>
            <p:spPr>
              <a:xfrm>
                <a:off x="9288047" y="980728"/>
                <a:ext cx="1729975" cy="1211210"/>
              </a:xfrm>
              <a:prstGeom prst="rect">
                <a:avLst/>
              </a:prstGeom>
              <a:noFill/>
            </p:spPr>
          </p:pic>
          <p:sp>
            <p:nvSpPr>
              <p:cNvPr id="23" name="Freeform 22"/>
              <p:cNvSpPr/>
              <p:nvPr/>
            </p:nvSpPr>
            <p:spPr>
              <a:xfrm>
                <a:off x="9337715" y="1837136"/>
                <a:ext cx="898238" cy="417792"/>
              </a:xfrm>
              <a:custGeom>
                <a:avLst/>
                <a:gdLst>
                  <a:gd name="connsiteX0" fmla="*/ 10471 w 898238"/>
                  <a:gd name="connsiteY0" fmla="*/ 9419 h 417792"/>
                  <a:gd name="connsiteX1" fmla="*/ 276802 w 898238"/>
                  <a:gd name="connsiteY1" fmla="*/ 9419 h 417792"/>
                  <a:gd name="connsiteX2" fmla="*/ 338945 w 898238"/>
                  <a:gd name="connsiteY2" fmla="*/ 27175 h 417792"/>
                  <a:gd name="connsiteX3" fmla="*/ 427722 w 898238"/>
                  <a:gd name="connsiteY3" fmla="*/ 53808 h 417792"/>
                  <a:gd name="connsiteX4" fmla="*/ 454355 w 898238"/>
                  <a:gd name="connsiteY4" fmla="*/ 71563 h 417792"/>
                  <a:gd name="connsiteX5" fmla="*/ 498743 w 898238"/>
                  <a:gd name="connsiteY5" fmla="*/ 80441 h 417792"/>
                  <a:gd name="connsiteX6" fmla="*/ 552009 w 898238"/>
                  <a:gd name="connsiteY6" fmla="*/ 98196 h 417792"/>
                  <a:gd name="connsiteX7" fmla="*/ 623031 w 898238"/>
                  <a:gd name="connsiteY7" fmla="*/ 115951 h 417792"/>
                  <a:gd name="connsiteX8" fmla="*/ 658541 w 898238"/>
                  <a:gd name="connsiteY8" fmla="*/ 124829 h 417792"/>
                  <a:gd name="connsiteX9" fmla="*/ 747318 w 898238"/>
                  <a:gd name="connsiteY9" fmla="*/ 151462 h 417792"/>
                  <a:gd name="connsiteX10" fmla="*/ 773951 w 898238"/>
                  <a:gd name="connsiteY10" fmla="*/ 169217 h 417792"/>
                  <a:gd name="connsiteX11" fmla="*/ 827217 w 898238"/>
                  <a:gd name="connsiteY11" fmla="*/ 186973 h 417792"/>
                  <a:gd name="connsiteX12" fmla="*/ 853850 w 898238"/>
                  <a:gd name="connsiteY12" fmla="*/ 204728 h 417792"/>
                  <a:gd name="connsiteX13" fmla="*/ 862728 w 898238"/>
                  <a:gd name="connsiteY13" fmla="*/ 231361 h 417792"/>
                  <a:gd name="connsiteX14" fmla="*/ 880483 w 898238"/>
                  <a:gd name="connsiteY14" fmla="*/ 257994 h 417792"/>
                  <a:gd name="connsiteX15" fmla="*/ 898238 w 898238"/>
                  <a:gd name="connsiteY15" fmla="*/ 311260 h 417792"/>
                  <a:gd name="connsiteX16" fmla="*/ 889361 w 898238"/>
                  <a:gd name="connsiteY16" fmla="*/ 373404 h 417792"/>
                  <a:gd name="connsiteX17" fmla="*/ 844972 w 898238"/>
                  <a:gd name="connsiteY17" fmla="*/ 400037 h 417792"/>
                  <a:gd name="connsiteX18" fmla="*/ 658541 w 898238"/>
                  <a:gd name="connsiteY18" fmla="*/ 417792 h 417792"/>
                  <a:gd name="connsiteX19" fmla="*/ 152514 w 898238"/>
                  <a:gd name="connsiteY19" fmla="*/ 408914 h 417792"/>
                  <a:gd name="connsiteX20" fmla="*/ 72615 w 898238"/>
                  <a:gd name="connsiteY20" fmla="*/ 373404 h 417792"/>
                  <a:gd name="connsiteX21" fmla="*/ 54860 w 898238"/>
                  <a:gd name="connsiteY21" fmla="*/ 355648 h 417792"/>
                  <a:gd name="connsiteX22" fmla="*/ 37104 w 898238"/>
                  <a:gd name="connsiteY22" fmla="*/ 329015 h 417792"/>
                  <a:gd name="connsiteX23" fmla="*/ 37104 w 898238"/>
                  <a:gd name="connsiteY23" fmla="*/ 142584 h 417792"/>
                  <a:gd name="connsiteX24" fmla="*/ 45982 w 898238"/>
                  <a:gd name="connsiteY24" fmla="*/ 115951 h 417792"/>
                  <a:gd name="connsiteX25" fmla="*/ 54860 w 898238"/>
                  <a:gd name="connsiteY25" fmla="*/ 71563 h 417792"/>
                  <a:gd name="connsiteX26" fmla="*/ 10471 w 898238"/>
                  <a:gd name="connsiteY26" fmla="*/ 9419 h 417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98238" h="417792">
                    <a:moveTo>
                      <a:pt x="10471" y="9419"/>
                    </a:moveTo>
                    <a:cubicBezTo>
                      <a:pt x="47461" y="-938"/>
                      <a:pt x="65311" y="-5166"/>
                      <a:pt x="276802" y="9419"/>
                    </a:cubicBezTo>
                    <a:cubicBezTo>
                      <a:pt x="295094" y="10680"/>
                      <a:pt x="320906" y="22021"/>
                      <a:pt x="338945" y="27175"/>
                    </a:cubicBezTo>
                    <a:cubicBezTo>
                      <a:pt x="360661" y="33380"/>
                      <a:pt x="411892" y="43255"/>
                      <a:pt x="427722" y="53808"/>
                    </a:cubicBezTo>
                    <a:cubicBezTo>
                      <a:pt x="436600" y="59726"/>
                      <a:pt x="444365" y="67817"/>
                      <a:pt x="454355" y="71563"/>
                    </a:cubicBezTo>
                    <a:cubicBezTo>
                      <a:pt x="468483" y="76861"/>
                      <a:pt x="484186" y="76471"/>
                      <a:pt x="498743" y="80441"/>
                    </a:cubicBezTo>
                    <a:cubicBezTo>
                      <a:pt x="516799" y="85365"/>
                      <a:pt x="533852" y="93657"/>
                      <a:pt x="552009" y="98196"/>
                    </a:cubicBezTo>
                    <a:lnTo>
                      <a:pt x="623031" y="115951"/>
                    </a:lnTo>
                    <a:cubicBezTo>
                      <a:pt x="634868" y="118910"/>
                      <a:pt x="646966" y="120971"/>
                      <a:pt x="658541" y="124829"/>
                    </a:cubicBezTo>
                    <a:cubicBezTo>
                      <a:pt x="723382" y="146442"/>
                      <a:pt x="693650" y="138045"/>
                      <a:pt x="747318" y="151462"/>
                    </a:cubicBezTo>
                    <a:cubicBezTo>
                      <a:pt x="756196" y="157380"/>
                      <a:pt x="764201" y="164884"/>
                      <a:pt x="773951" y="169217"/>
                    </a:cubicBezTo>
                    <a:cubicBezTo>
                      <a:pt x="791054" y="176818"/>
                      <a:pt x="811644" y="176591"/>
                      <a:pt x="827217" y="186973"/>
                    </a:cubicBezTo>
                    <a:lnTo>
                      <a:pt x="853850" y="204728"/>
                    </a:lnTo>
                    <a:cubicBezTo>
                      <a:pt x="856809" y="213606"/>
                      <a:pt x="858543" y="222991"/>
                      <a:pt x="862728" y="231361"/>
                    </a:cubicBezTo>
                    <a:cubicBezTo>
                      <a:pt x="867500" y="240904"/>
                      <a:pt x="876150" y="248244"/>
                      <a:pt x="880483" y="257994"/>
                    </a:cubicBezTo>
                    <a:cubicBezTo>
                      <a:pt x="888084" y="275097"/>
                      <a:pt x="898238" y="311260"/>
                      <a:pt x="898238" y="311260"/>
                    </a:cubicBezTo>
                    <a:cubicBezTo>
                      <a:pt x="895279" y="331975"/>
                      <a:pt x="895978" y="353553"/>
                      <a:pt x="889361" y="373404"/>
                    </a:cubicBezTo>
                    <a:cubicBezTo>
                      <a:pt x="883948" y="389643"/>
                      <a:pt x="858347" y="397605"/>
                      <a:pt x="844972" y="400037"/>
                    </a:cubicBezTo>
                    <a:cubicBezTo>
                      <a:pt x="794882" y="409144"/>
                      <a:pt x="701971" y="414451"/>
                      <a:pt x="658541" y="417792"/>
                    </a:cubicBezTo>
                    <a:cubicBezTo>
                      <a:pt x="489865" y="414833"/>
                      <a:pt x="321025" y="416938"/>
                      <a:pt x="152514" y="408914"/>
                    </a:cubicBezTo>
                    <a:cubicBezTo>
                      <a:pt x="126319" y="407667"/>
                      <a:pt x="93618" y="390206"/>
                      <a:pt x="72615" y="373404"/>
                    </a:cubicBezTo>
                    <a:cubicBezTo>
                      <a:pt x="66079" y="368175"/>
                      <a:pt x="60089" y="362184"/>
                      <a:pt x="54860" y="355648"/>
                    </a:cubicBezTo>
                    <a:cubicBezTo>
                      <a:pt x="48195" y="347316"/>
                      <a:pt x="43023" y="337893"/>
                      <a:pt x="37104" y="329015"/>
                    </a:cubicBezTo>
                    <a:cubicBezTo>
                      <a:pt x="22545" y="241652"/>
                      <a:pt x="23000" y="269526"/>
                      <a:pt x="37104" y="142584"/>
                    </a:cubicBezTo>
                    <a:cubicBezTo>
                      <a:pt x="38137" y="133283"/>
                      <a:pt x="43712" y="125029"/>
                      <a:pt x="45982" y="115951"/>
                    </a:cubicBezTo>
                    <a:cubicBezTo>
                      <a:pt x="49642" y="101313"/>
                      <a:pt x="51901" y="86359"/>
                      <a:pt x="54860" y="71563"/>
                    </a:cubicBezTo>
                    <a:cubicBezTo>
                      <a:pt x="45655" y="-11277"/>
                      <a:pt x="-26519" y="19776"/>
                      <a:pt x="10471" y="941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 name="Group 25"/>
            <p:cNvGrpSpPr/>
            <p:nvPr/>
          </p:nvGrpSpPr>
          <p:grpSpPr>
            <a:xfrm>
              <a:off x="7280382" y="1957941"/>
              <a:ext cx="1654190" cy="1785393"/>
              <a:chOff x="9300475" y="1934588"/>
              <a:chExt cx="1717548" cy="1975718"/>
            </a:xfrm>
          </p:grpSpPr>
          <p:pic>
            <p:nvPicPr>
              <p:cNvPr id="22" name="Picture 21" descr="Marine Sediment Processes"/>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31762" t="20616" r="42800" b="64184"/>
              <a:stretch/>
            </p:blipFill>
            <p:spPr>
              <a:xfrm>
                <a:off x="9300475" y="2069726"/>
                <a:ext cx="1717548" cy="1840580"/>
              </a:xfrm>
              <a:prstGeom prst="rect">
                <a:avLst/>
              </a:prstGeom>
              <a:noFill/>
            </p:spPr>
          </p:pic>
          <p:sp>
            <p:nvSpPr>
              <p:cNvPr id="25" name="Freeform 24"/>
              <p:cNvSpPr/>
              <p:nvPr/>
            </p:nvSpPr>
            <p:spPr>
              <a:xfrm>
                <a:off x="10021721" y="1934588"/>
                <a:ext cx="969667" cy="461639"/>
              </a:xfrm>
              <a:custGeom>
                <a:avLst/>
                <a:gdLst>
                  <a:gd name="connsiteX0" fmla="*/ 2001 w 969667"/>
                  <a:gd name="connsiteY0" fmla="*/ 115410 h 461639"/>
                  <a:gd name="connsiteX1" fmla="*/ 73022 w 969667"/>
                  <a:gd name="connsiteY1" fmla="*/ 150921 h 461639"/>
                  <a:gd name="connsiteX2" fmla="*/ 90778 w 969667"/>
                  <a:gd name="connsiteY2" fmla="*/ 168676 h 461639"/>
                  <a:gd name="connsiteX3" fmla="*/ 108533 w 969667"/>
                  <a:gd name="connsiteY3" fmla="*/ 195309 h 461639"/>
                  <a:gd name="connsiteX4" fmla="*/ 135166 w 969667"/>
                  <a:gd name="connsiteY4" fmla="*/ 204187 h 461639"/>
                  <a:gd name="connsiteX5" fmla="*/ 161799 w 969667"/>
                  <a:gd name="connsiteY5" fmla="*/ 221942 h 461639"/>
                  <a:gd name="connsiteX6" fmla="*/ 215065 w 969667"/>
                  <a:gd name="connsiteY6" fmla="*/ 266331 h 461639"/>
                  <a:gd name="connsiteX7" fmla="*/ 232820 w 969667"/>
                  <a:gd name="connsiteY7" fmla="*/ 292964 h 461639"/>
                  <a:gd name="connsiteX8" fmla="*/ 303842 w 969667"/>
                  <a:gd name="connsiteY8" fmla="*/ 355107 h 461639"/>
                  <a:gd name="connsiteX9" fmla="*/ 321597 w 969667"/>
                  <a:gd name="connsiteY9" fmla="*/ 372863 h 461639"/>
                  <a:gd name="connsiteX10" fmla="*/ 419252 w 969667"/>
                  <a:gd name="connsiteY10" fmla="*/ 399496 h 461639"/>
                  <a:gd name="connsiteX11" fmla="*/ 454762 w 969667"/>
                  <a:gd name="connsiteY11" fmla="*/ 408373 h 461639"/>
                  <a:gd name="connsiteX12" fmla="*/ 516906 w 969667"/>
                  <a:gd name="connsiteY12" fmla="*/ 426129 h 461639"/>
                  <a:gd name="connsiteX13" fmla="*/ 703337 w 969667"/>
                  <a:gd name="connsiteY13" fmla="*/ 435006 h 461639"/>
                  <a:gd name="connsiteX14" fmla="*/ 836502 w 969667"/>
                  <a:gd name="connsiteY14" fmla="*/ 461639 h 461639"/>
                  <a:gd name="connsiteX15" fmla="*/ 880890 w 969667"/>
                  <a:gd name="connsiteY15" fmla="*/ 452762 h 461639"/>
                  <a:gd name="connsiteX16" fmla="*/ 925279 w 969667"/>
                  <a:gd name="connsiteY16" fmla="*/ 417251 h 461639"/>
                  <a:gd name="connsiteX17" fmla="*/ 960789 w 969667"/>
                  <a:gd name="connsiteY17" fmla="*/ 363985 h 461639"/>
                  <a:gd name="connsiteX18" fmla="*/ 969667 w 969667"/>
                  <a:gd name="connsiteY18" fmla="*/ 319597 h 461639"/>
                  <a:gd name="connsiteX19" fmla="*/ 951912 w 969667"/>
                  <a:gd name="connsiteY19" fmla="*/ 213064 h 461639"/>
                  <a:gd name="connsiteX20" fmla="*/ 934156 w 969667"/>
                  <a:gd name="connsiteY20" fmla="*/ 186431 h 461639"/>
                  <a:gd name="connsiteX21" fmla="*/ 916401 w 969667"/>
                  <a:gd name="connsiteY21" fmla="*/ 97655 h 461639"/>
                  <a:gd name="connsiteX22" fmla="*/ 898646 w 969667"/>
                  <a:gd name="connsiteY22" fmla="*/ 44389 h 461639"/>
                  <a:gd name="connsiteX23" fmla="*/ 854257 w 969667"/>
                  <a:gd name="connsiteY23" fmla="*/ 8878 h 461639"/>
                  <a:gd name="connsiteX24" fmla="*/ 827624 w 969667"/>
                  <a:gd name="connsiteY24" fmla="*/ 0 h 461639"/>
                  <a:gd name="connsiteX25" fmla="*/ 774358 w 969667"/>
                  <a:gd name="connsiteY25" fmla="*/ 26633 h 461639"/>
                  <a:gd name="connsiteX26" fmla="*/ 765481 w 969667"/>
                  <a:gd name="connsiteY26" fmla="*/ 53266 h 461639"/>
                  <a:gd name="connsiteX27" fmla="*/ 729970 w 969667"/>
                  <a:gd name="connsiteY27" fmla="*/ 97655 h 461639"/>
                  <a:gd name="connsiteX28" fmla="*/ 676704 w 969667"/>
                  <a:gd name="connsiteY28" fmla="*/ 133165 h 461639"/>
                  <a:gd name="connsiteX29" fmla="*/ 445885 w 969667"/>
                  <a:gd name="connsiteY29" fmla="*/ 124288 h 461639"/>
                  <a:gd name="connsiteX30" fmla="*/ 410374 w 969667"/>
                  <a:gd name="connsiteY30" fmla="*/ 115410 h 461639"/>
                  <a:gd name="connsiteX31" fmla="*/ 357108 w 969667"/>
                  <a:gd name="connsiteY31" fmla="*/ 97655 h 461639"/>
                  <a:gd name="connsiteX32" fmla="*/ 330475 w 969667"/>
                  <a:gd name="connsiteY32" fmla="*/ 88777 h 461639"/>
                  <a:gd name="connsiteX33" fmla="*/ 294964 w 969667"/>
                  <a:gd name="connsiteY33" fmla="*/ 71022 h 461639"/>
                  <a:gd name="connsiteX34" fmla="*/ 241698 w 969667"/>
                  <a:gd name="connsiteY34" fmla="*/ 53266 h 461639"/>
                  <a:gd name="connsiteX35" fmla="*/ 215065 w 969667"/>
                  <a:gd name="connsiteY35" fmla="*/ 44389 h 461639"/>
                  <a:gd name="connsiteX36" fmla="*/ 126288 w 969667"/>
                  <a:gd name="connsiteY36" fmla="*/ 26633 h 461639"/>
                  <a:gd name="connsiteX37" fmla="*/ 64145 w 969667"/>
                  <a:gd name="connsiteY37" fmla="*/ 44389 h 461639"/>
                  <a:gd name="connsiteX38" fmla="*/ 37512 w 969667"/>
                  <a:gd name="connsiteY38" fmla="*/ 62144 h 461639"/>
                  <a:gd name="connsiteX39" fmla="*/ 19756 w 969667"/>
                  <a:gd name="connsiteY39" fmla="*/ 79899 h 461639"/>
                  <a:gd name="connsiteX40" fmla="*/ 2001 w 969667"/>
                  <a:gd name="connsiteY40" fmla="*/ 115410 h 46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69667" h="461639">
                    <a:moveTo>
                      <a:pt x="2001" y="115410"/>
                    </a:moveTo>
                    <a:cubicBezTo>
                      <a:pt x="10879" y="127247"/>
                      <a:pt x="46424" y="129643"/>
                      <a:pt x="73022" y="150921"/>
                    </a:cubicBezTo>
                    <a:cubicBezTo>
                      <a:pt x="79558" y="156150"/>
                      <a:pt x="85549" y="162140"/>
                      <a:pt x="90778" y="168676"/>
                    </a:cubicBezTo>
                    <a:cubicBezTo>
                      <a:pt x="97443" y="177007"/>
                      <a:pt x="100202" y="188644"/>
                      <a:pt x="108533" y="195309"/>
                    </a:cubicBezTo>
                    <a:cubicBezTo>
                      <a:pt x="115840" y="201155"/>
                      <a:pt x="126796" y="200002"/>
                      <a:pt x="135166" y="204187"/>
                    </a:cubicBezTo>
                    <a:cubicBezTo>
                      <a:pt x="144709" y="208959"/>
                      <a:pt x="153117" y="215740"/>
                      <a:pt x="161799" y="221942"/>
                    </a:cubicBezTo>
                    <a:cubicBezTo>
                      <a:pt x="177918" y="233455"/>
                      <a:pt x="201605" y="249506"/>
                      <a:pt x="215065" y="266331"/>
                    </a:cubicBezTo>
                    <a:cubicBezTo>
                      <a:pt x="221730" y="274663"/>
                      <a:pt x="225794" y="284934"/>
                      <a:pt x="232820" y="292964"/>
                    </a:cubicBezTo>
                    <a:cubicBezTo>
                      <a:pt x="296712" y="365982"/>
                      <a:pt x="253701" y="314993"/>
                      <a:pt x="303842" y="355107"/>
                    </a:cubicBezTo>
                    <a:cubicBezTo>
                      <a:pt x="310378" y="360336"/>
                      <a:pt x="314111" y="369120"/>
                      <a:pt x="321597" y="372863"/>
                    </a:cubicBezTo>
                    <a:cubicBezTo>
                      <a:pt x="354851" y="389490"/>
                      <a:pt x="384187" y="391704"/>
                      <a:pt x="419252" y="399496"/>
                    </a:cubicBezTo>
                    <a:cubicBezTo>
                      <a:pt x="431162" y="402143"/>
                      <a:pt x="443031" y="405021"/>
                      <a:pt x="454762" y="408373"/>
                    </a:cubicBezTo>
                    <a:cubicBezTo>
                      <a:pt x="473555" y="413742"/>
                      <a:pt x="497631" y="424587"/>
                      <a:pt x="516906" y="426129"/>
                    </a:cubicBezTo>
                    <a:cubicBezTo>
                      <a:pt x="578922" y="431090"/>
                      <a:pt x="641193" y="432047"/>
                      <a:pt x="703337" y="435006"/>
                    </a:cubicBezTo>
                    <a:cubicBezTo>
                      <a:pt x="819099" y="454300"/>
                      <a:pt x="775716" y="441378"/>
                      <a:pt x="836502" y="461639"/>
                    </a:cubicBezTo>
                    <a:cubicBezTo>
                      <a:pt x="851298" y="458680"/>
                      <a:pt x="866762" y="458060"/>
                      <a:pt x="880890" y="452762"/>
                    </a:cubicBezTo>
                    <a:cubicBezTo>
                      <a:pt x="893041" y="448205"/>
                      <a:pt x="916802" y="428554"/>
                      <a:pt x="925279" y="417251"/>
                    </a:cubicBezTo>
                    <a:cubicBezTo>
                      <a:pt x="938083" y="400180"/>
                      <a:pt x="960789" y="363985"/>
                      <a:pt x="960789" y="363985"/>
                    </a:cubicBezTo>
                    <a:cubicBezTo>
                      <a:pt x="963748" y="349189"/>
                      <a:pt x="969667" y="334686"/>
                      <a:pt x="969667" y="319597"/>
                    </a:cubicBezTo>
                    <a:cubicBezTo>
                      <a:pt x="969667" y="299916"/>
                      <a:pt x="965801" y="240843"/>
                      <a:pt x="951912" y="213064"/>
                    </a:cubicBezTo>
                    <a:cubicBezTo>
                      <a:pt x="947140" y="203521"/>
                      <a:pt x="940075" y="195309"/>
                      <a:pt x="934156" y="186431"/>
                    </a:cubicBezTo>
                    <a:cubicBezTo>
                      <a:pt x="909537" y="112570"/>
                      <a:pt x="947007" y="230279"/>
                      <a:pt x="916401" y="97655"/>
                    </a:cubicBezTo>
                    <a:cubicBezTo>
                      <a:pt x="912193" y="79419"/>
                      <a:pt x="911880" y="57623"/>
                      <a:pt x="898646" y="44389"/>
                    </a:cubicBezTo>
                    <a:cubicBezTo>
                      <a:pt x="882131" y="27874"/>
                      <a:pt x="876656" y="20078"/>
                      <a:pt x="854257" y="8878"/>
                    </a:cubicBezTo>
                    <a:cubicBezTo>
                      <a:pt x="845887" y="4693"/>
                      <a:pt x="836502" y="2959"/>
                      <a:pt x="827624" y="0"/>
                    </a:cubicBezTo>
                    <a:cubicBezTo>
                      <a:pt x="810080" y="5848"/>
                      <a:pt x="786873" y="10989"/>
                      <a:pt x="774358" y="26633"/>
                    </a:cubicBezTo>
                    <a:cubicBezTo>
                      <a:pt x="768512" y="33940"/>
                      <a:pt x="769666" y="44896"/>
                      <a:pt x="765481" y="53266"/>
                    </a:cubicBezTo>
                    <a:cubicBezTo>
                      <a:pt x="758494" y="67240"/>
                      <a:pt x="743179" y="87748"/>
                      <a:pt x="729970" y="97655"/>
                    </a:cubicBezTo>
                    <a:cubicBezTo>
                      <a:pt x="712899" y="110459"/>
                      <a:pt x="676704" y="133165"/>
                      <a:pt x="676704" y="133165"/>
                    </a:cubicBezTo>
                    <a:cubicBezTo>
                      <a:pt x="599764" y="130206"/>
                      <a:pt x="522711" y="129410"/>
                      <a:pt x="445885" y="124288"/>
                    </a:cubicBezTo>
                    <a:cubicBezTo>
                      <a:pt x="433711" y="123476"/>
                      <a:pt x="422061" y="118916"/>
                      <a:pt x="410374" y="115410"/>
                    </a:cubicBezTo>
                    <a:cubicBezTo>
                      <a:pt x="392448" y="110032"/>
                      <a:pt x="374863" y="103573"/>
                      <a:pt x="357108" y="97655"/>
                    </a:cubicBezTo>
                    <a:cubicBezTo>
                      <a:pt x="348230" y="94696"/>
                      <a:pt x="338845" y="92962"/>
                      <a:pt x="330475" y="88777"/>
                    </a:cubicBezTo>
                    <a:cubicBezTo>
                      <a:pt x="318638" y="82859"/>
                      <a:pt x="307252" y="75937"/>
                      <a:pt x="294964" y="71022"/>
                    </a:cubicBezTo>
                    <a:cubicBezTo>
                      <a:pt x="277587" y="64071"/>
                      <a:pt x="259453" y="59184"/>
                      <a:pt x="241698" y="53266"/>
                    </a:cubicBezTo>
                    <a:cubicBezTo>
                      <a:pt x="232820" y="50307"/>
                      <a:pt x="224241" y="46224"/>
                      <a:pt x="215065" y="44389"/>
                    </a:cubicBezTo>
                    <a:lnTo>
                      <a:pt x="126288" y="26633"/>
                    </a:lnTo>
                    <a:cubicBezTo>
                      <a:pt x="114910" y="29478"/>
                      <a:pt x="76881" y="38021"/>
                      <a:pt x="64145" y="44389"/>
                    </a:cubicBezTo>
                    <a:cubicBezTo>
                      <a:pt x="54602" y="49161"/>
                      <a:pt x="45844" y="55479"/>
                      <a:pt x="37512" y="62144"/>
                    </a:cubicBezTo>
                    <a:cubicBezTo>
                      <a:pt x="30976" y="67373"/>
                      <a:pt x="22865" y="72128"/>
                      <a:pt x="19756" y="79899"/>
                    </a:cubicBezTo>
                    <a:cubicBezTo>
                      <a:pt x="16459" y="88142"/>
                      <a:pt x="-6877" y="103573"/>
                      <a:pt x="2001" y="11541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7" name="Rectangle 26"/>
            <p:cNvSpPr/>
            <p:nvPr/>
          </p:nvSpPr>
          <p:spPr>
            <a:xfrm>
              <a:off x="7285499" y="3575568"/>
              <a:ext cx="463301" cy="1566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Freeform 27"/>
            <p:cNvSpPr/>
            <p:nvPr/>
          </p:nvSpPr>
          <p:spPr>
            <a:xfrm>
              <a:off x="8001797" y="3549831"/>
              <a:ext cx="1017473" cy="352989"/>
            </a:xfrm>
            <a:custGeom>
              <a:avLst/>
              <a:gdLst>
                <a:gd name="connsiteX0" fmla="*/ 0 w 1056443"/>
                <a:gd name="connsiteY0" fmla="*/ 53266 h 390618"/>
                <a:gd name="connsiteX1" fmla="*/ 8878 w 1056443"/>
                <a:gd name="connsiteY1" fmla="*/ 97655 h 390618"/>
                <a:gd name="connsiteX2" fmla="*/ 71022 w 1056443"/>
                <a:gd name="connsiteY2" fmla="*/ 168676 h 390618"/>
                <a:gd name="connsiteX3" fmla="*/ 142043 w 1056443"/>
                <a:gd name="connsiteY3" fmla="*/ 257453 h 390618"/>
                <a:gd name="connsiteX4" fmla="*/ 195309 w 1056443"/>
                <a:gd name="connsiteY4" fmla="*/ 301841 h 390618"/>
                <a:gd name="connsiteX5" fmla="*/ 248575 w 1056443"/>
                <a:gd name="connsiteY5" fmla="*/ 319596 h 390618"/>
                <a:gd name="connsiteX6" fmla="*/ 319596 w 1056443"/>
                <a:gd name="connsiteY6" fmla="*/ 346229 h 390618"/>
                <a:gd name="connsiteX7" fmla="*/ 381740 w 1056443"/>
                <a:gd name="connsiteY7" fmla="*/ 363985 h 390618"/>
                <a:gd name="connsiteX8" fmla="*/ 426128 w 1056443"/>
                <a:gd name="connsiteY8" fmla="*/ 372862 h 390618"/>
                <a:gd name="connsiteX9" fmla="*/ 452761 w 1056443"/>
                <a:gd name="connsiteY9" fmla="*/ 381740 h 390618"/>
                <a:gd name="connsiteX10" fmla="*/ 994299 w 1056443"/>
                <a:gd name="connsiteY10" fmla="*/ 390618 h 390618"/>
                <a:gd name="connsiteX11" fmla="*/ 1029810 w 1056443"/>
                <a:gd name="connsiteY11" fmla="*/ 381740 h 390618"/>
                <a:gd name="connsiteX12" fmla="*/ 1056443 w 1056443"/>
                <a:gd name="connsiteY12" fmla="*/ 328474 h 390618"/>
                <a:gd name="connsiteX13" fmla="*/ 1029810 w 1056443"/>
                <a:gd name="connsiteY13" fmla="*/ 301841 h 390618"/>
                <a:gd name="connsiteX14" fmla="*/ 941033 w 1056443"/>
                <a:gd name="connsiteY14" fmla="*/ 248575 h 390618"/>
                <a:gd name="connsiteX15" fmla="*/ 887767 w 1056443"/>
                <a:gd name="connsiteY15" fmla="*/ 230820 h 390618"/>
                <a:gd name="connsiteX16" fmla="*/ 843379 w 1056443"/>
                <a:gd name="connsiteY16" fmla="*/ 204187 h 390618"/>
                <a:gd name="connsiteX17" fmla="*/ 790113 w 1056443"/>
                <a:gd name="connsiteY17" fmla="*/ 177554 h 390618"/>
                <a:gd name="connsiteX18" fmla="*/ 727969 w 1056443"/>
                <a:gd name="connsiteY18" fmla="*/ 150921 h 390618"/>
                <a:gd name="connsiteX19" fmla="*/ 701336 w 1056443"/>
                <a:gd name="connsiteY19" fmla="*/ 133165 h 390618"/>
                <a:gd name="connsiteX20" fmla="*/ 674703 w 1056443"/>
                <a:gd name="connsiteY20" fmla="*/ 124288 h 390618"/>
                <a:gd name="connsiteX21" fmla="*/ 603682 w 1056443"/>
                <a:gd name="connsiteY21" fmla="*/ 106532 h 390618"/>
                <a:gd name="connsiteX22" fmla="*/ 550416 w 1056443"/>
                <a:gd name="connsiteY22" fmla="*/ 88777 h 390618"/>
                <a:gd name="connsiteX23" fmla="*/ 514905 w 1056443"/>
                <a:gd name="connsiteY23" fmla="*/ 71022 h 390618"/>
                <a:gd name="connsiteX24" fmla="*/ 426128 w 1056443"/>
                <a:gd name="connsiteY24" fmla="*/ 44389 h 390618"/>
                <a:gd name="connsiteX25" fmla="*/ 399495 w 1056443"/>
                <a:gd name="connsiteY25" fmla="*/ 35511 h 390618"/>
                <a:gd name="connsiteX26" fmla="*/ 319596 w 1056443"/>
                <a:gd name="connsiteY26" fmla="*/ 26633 h 390618"/>
                <a:gd name="connsiteX27" fmla="*/ 284086 w 1056443"/>
                <a:gd name="connsiteY27" fmla="*/ 17756 h 390618"/>
                <a:gd name="connsiteX28" fmla="*/ 213064 w 1056443"/>
                <a:gd name="connsiteY28" fmla="*/ 8878 h 390618"/>
                <a:gd name="connsiteX29" fmla="*/ 159798 w 1056443"/>
                <a:gd name="connsiteY29" fmla="*/ 0 h 390618"/>
                <a:gd name="connsiteX30" fmla="*/ 35511 w 1056443"/>
                <a:gd name="connsiteY30" fmla="*/ 8878 h 390618"/>
                <a:gd name="connsiteX31" fmla="*/ 8878 w 1056443"/>
                <a:gd name="connsiteY31" fmla="*/ 17756 h 390618"/>
                <a:gd name="connsiteX32" fmla="*/ 0 w 1056443"/>
                <a:gd name="connsiteY32" fmla="*/ 53266 h 390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56443" h="390618">
                  <a:moveTo>
                    <a:pt x="0" y="53266"/>
                  </a:moveTo>
                  <a:cubicBezTo>
                    <a:pt x="0" y="66582"/>
                    <a:pt x="3580" y="83526"/>
                    <a:pt x="8878" y="97655"/>
                  </a:cubicBezTo>
                  <a:cubicBezTo>
                    <a:pt x="20228" y="127922"/>
                    <a:pt x="54413" y="143762"/>
                    <a:pt x="71022" y="168676"/>
                  </a:cubicBezTo>
                  <a:cubicBezTo>
                    <a:pt x="115818" y="235871"/>
                    <a:pt x="91443" y="206853"/>
                    <a:pt x="142043" y="257453"/>
                  </a:cubicBezTo>
                  <a:cubicBezTo>
                    <a:pt x="158769" y="274179"/>
                    <a:pt x="173061" y="291953"/>
                    <a:pt x="195309" y="301841"/>
                  </a:cubicBezTo>
                  <a:cubicBezTo>
                    <a:pt x="212412" y="309442"/>
                    <a:pt x="248575" y="319596"/>
                    <a:pt x="248575" y="319596"/>
                  </a:cubicBezTo>
                  <a:cubicBezTo>
                    <a:pt x="292418" y="348825"/>
                    <a:pt x="258162" y="330871"/>
                    <a:pt x="319596" y="346229"/>
                  </a:cubicBezTo>
                  <a:cubicBezTo>
                    <a:pt x="438237" y="375889"/>
                    <a:pt x="232279" y="330772"/>
                    <a:pt x="381740" y="363985"/>
                  </a:cubicBezTo>
                  <a:cubicBezTo>
                    <a:pt x="396470" y="367258"/>
                    <a:pt x="411490" y="369202"/>
                    <a:pt x="426128" y="372862"/>
                  </a:cubicBezTo>
                  <a:cubicBezTo>
                    <a:pt x="435207" y="375132"/>
                    <a:pt x="443408" y="381448"/>
                    <a:pt x="452761" y="381740"/>
                  </a:cubicBezTo>
                  <a:cubicBezTo>
                    <a:pt x="633210" y="387379"/>
                    <a:pt x="813786" y="387659"/>
                    <a:pt x="994299" y="390618"/>
                  </a:cubicBezTo>
                  <a:cubicBezTo>
                    <a:pt x="1006136" y="387659"/>
                    <a:pt x="1019658" y="388508"/>
                    <a:pt x="1029810" y="381740"/>
                  </a:cubicBezTo>
                  <a:cubicBezTo>
                    <a:pt x="1044560" y="371906"/>
                    <a:pt x="1051379" y="343666"/>
                    <a:pt x="1056443" y="328474"/>
                  </a:cubicBezTo>
                  <a:cubicBezTo>
                    <a:pt x="1047565" y="319596"/>
                    <a:pt x="1039720" y="309549"/>
                    <a:pt x="1029810" y="301841"/>
                  </a:cubicBezTo>
                  <a:cubicBezTo>
                    <a:pt x="1007738" y="284674"/>
                    <a:pt x="969456" y="259944"/>
                    <a:pt x="941033" y="248575"/>
                  </a:cubicBezTo>
                  <a:cubicBezTo>
                    <a:pt x="923656" y="241624"/>
                    <a:pt x="887767" y="230820"/>
                    <a:pt x="887767" y="230820"/>
                  </a:cubicBezTo>
                  <a:cubicBezTo>
                    <a:pt x="842780" y="185830"/>
                    <a:pt x="901001" y="238761"/>
                    <a:pt x="843379" y="204187"/>
                  </a:cubicBezTo>
                  <a:cubicBezTo>
                    <a:pt x="786844" y="170266"/>
                    <a:pt x="877699" y="199449"/>
                    <a:pt x="790113" y="177554"/>
                  </a:cubicBezTo>
                  <a:cubicBezTo>
                    <a:pt x="723249" y="132976"/>
                    <a:pt x="808228" y="185317"/>
                    <a:pt x="727969" y="150921"/>
                  </a:cubicBezTo>
                  <a:cubicBezTo>
                    <a:pt x="718162" y="146718"/>
                    <a:pt x="710879" y="137937"/>
                    <a:pt x="701336" y="133165"/>
                  </a:cubicBezTo>
                  <a:cubicBezTo>
                    <a:pt x="692966" y="128980"/>
                    <a:pt x="683731" y="126750"/>
                    <a:pt x="674703" y="124288"/>
                  </a:cubicBezTo>
                  <a:cubicBezTo>
                    <a:pt x="651161" y="117867"/>
                    <a:pt x="626832" y="114249"/>
                    <a:pt x="603682" y="106532"/>
                  </a:cubicBezTo>
                  <a:cubicBezTo>
                    <a:pt x="585927" y="100614"/>
                    <a:pt x="567156" y="97147"/>
                    <a:pt x="550416" y="88777"/>
                  </a:cubicBezTo>
                  <a:cubicBezTo>
                    <a:pt x="538579" y="82859"/>
                    <a:pt x="527193" y="75937"/>
                    <a:pt x="514905" y="71022"/>
                  </a:cubicBezTo>
                  <a:cubicBezTo>
                    <a:pt x="462145" y="49918"/>
                    <a:pt x="471920" y="57472"/>
                    <a:pt x="426128" y="44389"/>
                  </a:cubicBezTo>
                  <a:cubicBezTo>
                    <a:pt x="417130" y="41818"/>
                    <a:pt x="408726" y="37049"/>
                    <a:pt x="399495" y="35511"/>
                  </a:cubicBezTo>
                  <a:cubicBezTo>
                    <a:pt x="373063" y="31105"/>
                    <a:pt x="346229" y="29592"/>
                    <a:pt x="319596" y="26633"/>
                  </a:cubicBezTo>
                  <a:cubicBezTo>
                    <a:pt x="307759" y="23674"/>
                    <a:pt x="296121" y="19762"/>
                    <a:pt x="284086" y="17756"/>
                  </a:cubicBezTo>
                  <a:cubicBezTo>
                    <a:pt x="260552" y="13834"/>
                    <a:pt x="236682" y="12252"/>
                    <a:pt x="213064" y="8878"/>
                  </a:cubicBezTo>
                  <a:cubicBezTo>
                    <a:pt x="195245" y="6332"/>
                    <a:pt x="177553" y="2959"/>
                    <a:pt x="159798" y="0"/>
                  </a:cubicBezTo>
                  <a:cubicBezTo>
                    <a:pt x="118369" y="2959"/>
                    <a:pt x="76761" y="4025"/>
                    <a:pt x="35511" y="8878"/>
                  </a:cubicBezTo>
                  <a:cubicBezTo>
                    <a:pt x="26217" y="9971"/>
                    <a:pt x="14493" y="10270"/>
                    <a:pt x="8878" y="17756"/>
                  </a:cubicBezTo>
                  <a:cubicBezTo>
                    <a:pt x="3551" y="24858"/>
                    <a:pt x="0" y="39950"/>
                    <a:pt x="0" y="5326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Freeform 28"/>
            <p:cNvSpPr/>
            <p:nvPr/>
          </p:nvSpPr>
          <p:spPr>
            <a:xfrm>
              <a:off x="7332998" y="3543696"/>
              <a:ext cx="848354" cy="417168"/>
            </a:xfrm>
            <a:custGeom>
              <a:avLst/>
              <a:gdLst>
                <a:gd name="connsiteX0" fmla="*/ 1957 w 880847"/>
                <a:gd name="connsiteY0" fmla="*/ 390618 h 461639"/>
                <a:gd name="connsiteX1" fmla="*/ 72978 w 880847"/>
                <a:gd name="connsiteY1" fmla="*/ 417251 h 461639"/>
                <a:gd name="connsiteX2" fmla="*/ 152877 w 880847"/>
                <a:gd name="connsiteY2" fmla="*/ 435006 h 461639"/>
                <a:gd name="connsiteX3" fmla="*/ 179510 w 880847"/>
                <a:gd name="connsiteY3" fmla="*/ 443884 h 461639"/>
                <a:gd name="connsiteX4" fmla="*/ 232776 w 880847"/>
                <a:gd name="connsiteY4" fmla="*/ 452761 h 461639"/>
                <a:gd name="connsiteX5" fmla="*/ 277165 w 880847"/>
                <a:gd name="connsiteY5" fmla="*/ 461639 h 461639"/>
                <a:gd name="connsiteX6" fmla="*/ 561250 w 880847"/>
                <a:gd name="connsiteY6" fmla="*/ 443884 h 461639"/>
                <a:gd name="connsiteX7" fmla="*/ 614516 w 880847"/>
                <a:gd name="connsiteY7" fmla="*/ 426128 h 461639"/>
                <a:gd name="connsiteX8" fmla="*/ 641149 w 880847"/>
                <a:gd name="connsiteY8" fmla="*/ 417251 h 461639"/>
                <a:gd name="connsiteX9" fmla="*/ 667782 w 880847"/>
                <a:gd name="connsiteY9" fmla="*/ 408373 h 461639"/>
                <a:gd name="connsiteX10" fmla="*/ 756559 w 880847"/>
                <a:gd name="connsiteY10" fmla="*/ 417251 h 461639"/>
                <a:gd name="connsiteX11" fmla="*/ 792070 w 880847"/>
                <a:gd name="connsiteY11" fmla="*/ 426128 h 461639"/>
                <a:gd name="connsiteX12" fmla="*/ 836458 w 880847"/>
                <a:gd name="connsiteY12" fmla="*/ 435006 h 461639"/>
                <a:gd name="connsiteX13" fmla="*/ 871969 w 880847"/>
                <a:gd name="connsiteY13" fmla="*/ 426128 h 461639"/>
                <a:gd name="connsiteX14" fmla="*/ 871969 w 880847"/>
                <a:gd name="connsiteY14" fmla="*/ 355107 h 461639"/>
                <a:gd name="connsiteX15" fmla="*/ 854213 w 880847"/>
                <a:gd name="connsiteY15" fmla="*/ 337352 h 461639"/>
                <a:gd name="connsiteX16" fmla="*/ 836458 w 880847"/>
                <a:gd name="connsiteY16" fmla="*/ 310719 h 461639"/>
                <a:gd name="connsiteX17" fmla="*/ 774314 w 880847"/>
                <a:gd name="connsiteY17" fmla="*/ 257453 h 461639"/>
                <a:gd name="connsiteX18" fmla="*/ 747681 w 880847"/>
                <a:gd name="connsiteY18" fmla="*/ 248575 h 461639"/>
                <a:gd name="connsiteX19" fmla="*/ 685538 w 880847"/>
                <a:gd name="connsiteY19" fmla="*/ 213064 h 461639"/>
                <a:gd name="connsiteX20" fmla="*/ 667782 w 880847"/>
                <a:gd name="connsiteY20" fmla="*/ 195309 h 461639"/>
                <a:gd name="connsiteX21" fmla="*/ 614516 w 880847"/>
                <a:gd name="connsiteY21" fmla="*/ 177554 h 461639"/>
                <a:gd name="connsiteX22" fmla="*/ 570128 w 880847"/>
                <a:gd name="connsiteY22" fmla="*/ 142043 h 461639"/>
                <a:gd name="connsiteX23" fmla="*/ 543495 w 880847"/>
                <a:gd name="connsiteY23" fmla="*/ 133165 h 461639"/>
                <a:gd name="connsiteX24" fmla="*/ 490229 w 880847"/>
                <a:gd name="connsiteY24" fmla="*/ 106532 h 461639"/>
                <a:gd name="connsiteX25" fmla="*/ 463596 w 880847"/>
                <a:gd name="connsiteY25" fmla="*/ 79899 h 461639"/>
                <a:gd name="connsiteX26" fmla="*/ 339309 w 880847"/>
                <a:gd name="connsiteY26" fmla="*/ 26633 h 461639"/>
                <a:gd name="connsiteX27" fmla="*/ 312676 w 880847"/>
                <a:gd name="connsiteY27" fmla="*/ 17756 h 461639"/>
                <a:gd name="connsiteX28" fmla="*/ 286043 w 880847"/>
                <a:gd name="connsiteY28" fmla="*/ 8878 h 461639"/>
                <a:gd name="connsiteX29" fmla="*/ 232776 w 880847"/>
                <a:gd name="connsiteY29" fmla="*/ 0 h 461639"/>
                <a:gd name="connsiteX30" fmla="*/ 55223 w 880847"/>
                <a:gd name="connsiteY30" fmla="*/ 8878 h 461639"/>
                <a:gd name="connsiteX31" fmla="*/ 19712 w 880847"/>
                <a:gd name="connsiteY31" fmla="*/ 71022 h 461639"/>
                <a:gd name="connsiteX32" fmla="*/ 1957 w 880847"/>
                <a:gd name="connsiteY32" fmla="*/ 390618 h 46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80847" h="461639">
                  <a:moveTo>
                    <a:pt x="1957" y="390618"/>
                  </a:moveTo>
                  <a:cubicBezTo>
                    <a:pt x="10835" y="448323"/>
                    <a:pt x="54427" y="412613"/>
                    <a:pt x="72978" y="417251"/>
                  </a:cubicBezTo>
                  <a:cubicBezTo>
                    <a:pt x="146213" y="435559"/>
                    <a:pt x="89078" y="416777"/>
                    <a:pt x="152877" y="435006"/>
                  </a:cubicBezTo>
                  <a:cubicBezTo>
                    <a:pt x="161875" y="437577"/>
                    <a:pt x="170375" y="441854"/>
                    <a:pt x="179510" y="443884"/>
                  </a:cubicBezTo>
                  <a:cubicBezTo>
                    <a:pt x="197082" y="447789"/>
                    <a:pt x="215066" y="449541"/>
                    <a:pt x="232776" y="452761"/>
                  </a:cubicBezTo>
                  <a:cubicBezTo>
                    <a:pt x="247622" y="455460"/>
                    <a:pt x="262369" y="458680"/>
                    <a:pt x="277165" y="461639"/>
                  </a:cubicBezTo>
                  <a:cubicBezTo>
                    <a:pt x="308198" y="460445"/>
                    <a:pt x="482946" y="463460"/>
                    <a:pt x="561250" y="443884"/>
                  </a:cubicBezTo>
                  <a:cubicBezTo>
                    <a:pt x="579407" y="439345"/>
                    <a:pt x="596761" y="432046"/>
                    <a:pt x="614516" y="426128"/>
                  </a:cubicBezTo>
                  <a:lnTo>
                    <a:pt x="641149" y="417251"/>
                  </a:lnTo>
                  <a:lnTo>
                    <a:pt x="667782" y="408373"/>
                  </a:lnTo>
                  <a:cubicBezTo>
                    <a:pt x="697374" y="411332"/>
                    <a:pt x="727118" y="413045"/>
                    <a:pt x="756559" y="417251"/>
                  </a:cubicBezTo>
                  <a:cubicBezTo>
                    <a:pt x="768638" y="418976"/>
                    <a:pt x="780159" y="423481"/>
                    <a:pt x="792070" y="426128"/>
                  </a:cubicBezTo>
                  <a:cubicBezTo>
                    <a:pt x="806800" y="429401"/>
                    <a:pt x="821662" y="432047"/>
                    <a:pt x="836458" y="435006"/>
                  </a:cubicBezTo>
                  <a:cubicBezTo>
                    <a:pt x="848295" y="432047"/>
                    <a:pt x="862441" y="433750"/>
                    <a:pt x="871969" y="426128"/>
                  </a:cubicBezTo>
                  <a:cubicBezTo>
                    <a:pt x="889546" y="412066"/>
                    <a:pt x="876346" y="365319"/>
                    <a:pt x="871969" y="355107"/>
                  </a:cubicBezTo>
                  <a:cubicBezTo>
                    <a:pt x="868672" y="347414"/>
                    <a:pt x="859442" y="343888"/>
                    <a:pt x="854213" y="337352"/>
                  </a:cubicBezTo>
                  <a:cubicBezTo>
                    <a:pt x="847548" y="329021"/>
                    <a:pt x="843402" y="318820"/>
                    <a:pt x="836458" y="310719"/>
                  </a:cubicBezTo>
                  <a:cubicBezTo>
                    <a:pt x="820075" y="291606"/>
                    <a:pt x="797875" y="269234"/>
                    <a:pt x="774314" y="257453"/>
                  </a:cubicBezTo>
                  <a:cubicBezTo>
                    <a:pt x="765944" y="253268"/>
                    <a:pt x="756559" y="251534"/>
                    <a:pt x="747681" y="248575"/>
                  </a:cubicBezTo>
                  <a:cubicBezTo>
                    <a:pt x="687885" y="188779"/>
                    <a:pt x="757072" y="248831"/>
                    <a:pt x="685538" y="213064"/>
                  </a:cubicBezTo>
                  <a:cubicBezTo>
                    <a:pt x="678052" y="209321"/>
                    <a:pt x="675268" y="199052"/>
                    <a:pt x="667782" y="195309"/>
                  </a:cubicBezTo>
                  <a:cubicBezTo>
                    <a:pt x="651042" y="186939"/>
                    <a:pt x="614516" y="177554"/>
                    <a:pt x="614516" y="177554"/>
                  </a:cubicBezTo>
                  <a:cubicBezTo>
                    <a:pt x="598000" y="161038"/>
                    <a:pt x="592528" y="153243"/>
                    <a:pt x="570128" y="142043"/>
                  </a:cubicBezTo>
                  <a:cubicBezTo>
                    <a:pt x="561758" y="137858"/>
                    <a:pt x="551865" y="137350"/>
                    <a:pt x="543495" y="133165"/>
                  </a:cubicBezTo>
                  <a:cubicBezTo>
                    <a:pt x="474656" y="98746"/>
                    <a:pt x="557172" y="128847"/>
                    <a:pt x="490229" y="106532"/>
                  </a:cubicBezTo>
                  <a:cubicBezTo>
                    <a:pt x="481351" y="97654"/>
                    <a:pt x="474188" y="86639"/>
                    <a:pt x="463596" y="79899"/>
                  </a:cubicBezTo>
                  <a:cubicBezTo>
                    <a:pt x="415333" y="49187"/>
                    <a:pt x="389755" y="43448"/>
                    <a:pt x="339309" y="26633"/>
                  </a:cubicBezTo>
                  <a:lnTo>
                    <a:pt x="312676" y="17756"/>
                  </a:lnTo>
                  <a:cubicBezTo>
                    <a:pt x="303798" y="14797"/>
                    <a:pt x="295274" y="10416"/>
                    <a:pt x="286043" y="8878"/>
                  </a:cubicBezTo>
                  <a:lnTo>
                    <a:pt x="232776" y="0"/>
                  </a:lnTo>
                  <a:cubicBezTo>
                    <a:pt x="173592" y="2959"/>
                    <a:pt x="113984" y="1214"/>
                    <a:pt x="55223" y="8878"/>
                  </a:cubicBezTo>
                  <a:cubicBezTo>
                    <a:pt x="23361" y="13034"/>
                    <a:pt x="20322" y="47240"/>
                    <a:pt x="19712" y="71022"/>
                  </a:cubicBezTo>
                  <a:cubicBezTo>
                    <a:pt x="17133" y="171602"/>
                    <a:pt x="-6921" y="332913"/>
                    <a:pt x="1957" y="39061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Freeform 29"/>
            <p:cNvSpPr/>
            <p:nvPr/>
          </p:nvSpPr>
          <p:spPr>
            <a:xfrm>
              <a:off x="8469921" y="3847699"/>
              <a:ext cx="485303" cy="201412"/>
            </a:xfrm>
            <a:custGeom>
              <a:avLst/>
              <a:gdLst>
                <a:gd name="connsiteX0" fmla="*/ 11097 w 503891"/>
                <a:gd name="connsiteY0" fmla="*/ 942 h 222883"/>
                <a:gd name="connsiteX1" fmla="*/ 108751 w 503891"/>
                <a:gd name="connsiteY1" fmla="*/ 27575 h 222883"/>
                <a:gd name="connsiteX2" fmla="*/ 162017 w 503891"/>
                <a:gd name="connsiteY2" fmla="*/ 45330 h 222883"/>
                <a:gd name="connsiteX3" fmla="*/ 304060 w 503891"/>
                <a:gd name="connsiteY3" fmla="*/ 36452 h 222883"/>
                <a:gd name="connsiteX4" fmla="*/ 330693 w 503891"/>
                <a:gd name="connsiteY4" fmla="*/ 27575 h 222883"/>
                <a:gd name="connsiteX5" fmla="*/ 446103 w 503891"/>
                <a:gd name="connsiteY5" fmla="*/ 36452 h 222883"/>
                <a:gd name="connsiteX6" fmla="*/ 490491 w 503891"/>
                <a:gd name="connsiteY6" fmla="*/ 45330 h 222883"/>
                <a:gd name="connsiteX7" fmla="*/ 499369 w 503891"/>
                <a:gd name="connsiteY7" fmla="*/ 80841 h 222883"/>
                <a:gd name="connsiteX8" fmla="*/ 463858 w 503891"/>
                <a:gd name="connsiteY8" fmla="*/ 222883 h 222883"/>
                <a:gd name="connsiteX9" fmla="*/ 215283 w 503891"/>
                <a:gd name="connsiteY9" fmla="*/ 214006 h 222883"/>
                <a:gd name="connsiteX10" fmla="*/ 188650 w 503891"/>
                <a:gd name="connsiteY10" fmla="*/ 205128 h 222883"/>
                <a:gd name="connsiteX11" fmla="*/ 153140 w 503891"/>
                <a:gd name="connsiteY11" fmla="*/ 196250 h 222883"/>
                <a:gd name="connsiteX12" fmla="*/ 108751 w 503891"/>
                <a:gd name="connsiteY12" fmla="*/ 169617 h 222883"/>
                <a:gd name="connsiteX13" fmla="*/ 28852 w 503891"/>
                <a:gd name="connsiteY13" fmla="*/ 98596 h 222883"/>
                <a:gd name="connsiteX14" fmla="*/ 2219 w 503891"/>
                <a:gd name="connsiteY14" fmla="*/ 45330 h 222883"/>
                <a:gd name="connsiteX15" fmla="*/ 11097 w 503891"/>
                <a:gd name="connsiteY15" fmla="*/ 942 h 222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03891" h="222883">
                  <a:moveTo>
                    <a:pt x="11097" y="942"/>
                  </a:moveTo>
                  <a:cubicBezTo>
                    <a:pt x="28852" y="-2017"/>
                    <a:pt x="1443" y="748"/>
                    <a:pt x="108751" y="27575"/>
                  </a:cubicBezTo>
                  <a:cubicBezTo>
                    <a:pt x="126908" y="32114"/>
                    <a:pt x="162017" y="45330"/>
                    <a:pt x="162017" y="45330"/>
                  </a:cubicBezTo>
                  <a:cubicBezTo>
                    <a:pt x="209365" y="42371"/>
                    <a:pt x="256881" y="41418"/>
                    <a:pt x="304060" y="36452"/>
                  </a:cubicBezTo>
                  <a:cubicBezTo>
                    <a:pt x="313366" y="35472"/>
                    <a:pt x="321335" y="27575"/>
                    <a:pt x="330693" y="27575"/>
                  </a:cubicBezTo>
                  <a:cubicBezTo>
                    <a:pt x="369277" y="27575"/>
                    <a:pt x="407633" y="33493"/>
                    <a:pt x="446103" y="36452"/>
                  </a:cubicBezTo>
                  <a:cubicBezTo>
                    <a:pt x="460899" y="39411"/>
                    <a:pt x="478899" y="35670"/>
                    <a:pt x="490491" y="45330"/>
                  </a:cubicBezTo>
                  <a:cubicBezTo>
                    <a:pt x="499864" y="53141"/>
                    <a:pt x="499369" y="68640"/>
                    <a:pt x="499369" y="80841"/>
                  </a:cubicBezTo>
                  <a:cubicBezTo>
                    <a:pt x="499369" y="209345"/>
                    <a:pt x="522574" y="183740"/>
                    <a:pt x="463858" y="222883"/>
                  </a:cubicBezTo>
                  <a:cubicBezTo>
                    <a:pt x="381000" y="219924"/>
                    <a:pt x="298022" y="219344"/>
                    <a:pt x="215283" y="214006"/>
                  </a:cubicBezTo>
                  <a:cubicBezTo>
                    <a:pt x="205944" y="213404"/>
                    <a:pt x="197648" y="207699"/>
                    <a:pt x="188650" y="205128"/>
                  </a:cubicBezTo>
                  <a:cubicBezTo>
                    <a:pt x="176918" y="201776"/>
                    <a:pt x="164977" y="199209"/>
                    <a:pt x="153140" y="196250"/>
                  </a:cubicBezTo>
                  <a:cubicBezTo>
                    <a:pt x="111584" y="154697"/>
                    <a:pt x="162535" y="200351"/>
                    <a:pt x="108751" y="169617"/>
                  </a:cubicBezTo>
                  <a:cubicBezTo>
                    <a:pt x="87435" y="157436"/>
                    <a:pt x="39955" y="115251"/>
                    <a:pt x="28852" y="98596"/>
                  </a:cubicBezTo>
                  <a:cubicBezTo>
                    <a:pt x="19876" y="85131"/>
                    <a:pt x="2219" y="63706"/>
                    <a:pt x="2219" y="45330"/>
                  </a:cubicBezTo>
                  <a:cubicBezTo>
                    <a:pt x="2219" y="42371"/>
                    <a:pt x="-6658" y="3901"/>
                    <a:pt x="11097" y="94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9" name="Picture 38" descr="Marine Sediment Processes"/>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31726" t="45312" r="42652" b="45896"/>
            <a:stretch/>
          </p:blipFill>
          <p:spPr>
            <a:xfrm>
              <a:off x="7316248" y="4987182"/>
              <a:ext cx="1666159" cy="962098"/>
            </a:xfrm>
            <a:prstGeom prst="rect">
              <a:avLst/>
            </a:prstGeom>
            <a:noFill/>
          </p:spPr>
        </p:pic>
        <p:sp>
          <p:nvSpPr>
            <p:cNvPr id="40" name="Freeform 39"/>
            <p:cNvSpPr/>
            <p:nvPr/>
          </p:nvSpPr>
          <p:spPr>
            <a:xfrm>
              <a:off x="7292447" y="4393608"/>
              <a:ext cx="1811045" cy="887767"/>
            </a:xfrm>
            <a:custGeom>
              <a:avLst/>
              <a:gdLst>
                <a:gd name="connsiteX0" fmla="*/ 133165 w 1811045"/>
                <a:gd name="connsiteY0" fmla="*/ 8878 h 887767"/>
                <a:gd name="connsiteX1" fmla="*/ 106532 w 1811045"/>
                <a:gd name="connsiteY1" fmla="*/ 53266 h 887767"/>
                <a:gd name="connsiteX2" fmla="*/ 53266 w 1811045"/>
                <a:gd name="connsiteY2" fmla="*/ 62144 h 887767"/>
                <a:gd name="connsiteX3" fmla="*/ 26633 w 1811045"/>
                <a:gd name="connsiteY3" fmla="*/ 79899 h 887767"/>
                <a:gd name="connsiteX4" fmla="*/ 0 w 1811045"/>
                <a:gd name="connsiteY4" fmla="*/ 168676 h 887767"/>
                <a:gd name="connsiteX5" fmla="*/ 8878 w 1811045"/>
                <a:gd name="connsiteY5" fmla="*/ 266330 h 887767"/>
                <a:gd name="connsiteX6" fmla="*/ 26633 w 1811045"/>
                <a:gd name="connsiteY6" fmla="*/ 292963 h 887767"/>
                <a:gd name="connsiteX7" fmla="*/ 53266 w 1811045"/>
                <a:gd name="connsiteY7" fmla="*/ 346229 h 887767"/>
                <a:gd name="connsiteX8" fmla="*/ 115410 w 1811045"/>
                <a:gd name="connsiteY8" fmla="*/ 399495 h 887767"/>
                <a:gd name="connsiteX9" fmla="*/ 142043 w 1811045"/>
                <a:gd name="connsiteY9" fmla="*/ 408373 h 887767"/>
                <a:gd name="connsiteX10" fmla="*/ 168676 w 1811045"/>
                <a:gd name="connsiteY10" fmla="*/ 426128 h 887767"/>
                <a:gd name="connsiteX11" fmla="*/ 221942 w 1811045"/>
                <a:gd name="connsiteY11" fmla="*/ 435006 h 887767"/>
                <a:gd name="connsiteX12" fmla="*/ 275208 w 1811045"/>
                <a:gd name="connsiteY12" fmla="*/ 452761 h 887767"/>
                <a:gd name="connsiteX13" fmla="*/ 301841 w 1811045"/>
                <a:gd name="connsiteY13" fmla="*/ 461639 h 887767"/>
                <a:gd name="connsiteX14" fmla="*/ 363985 w 1811045"/>
                <a:gd name="connsiteY14" fmla="*/ 470516 h 887767"/>
                <a:gd name="connsiteX15" fmla="*/ 470517 w 1811045"/>
                <a:gd name="connsiteY15" fmla="*/ 506027 h 887767"/>
                <a:gd name="connsiteX16" fmla="*/ 497150 w 1811045"/>
                <a:gd name="connsiteY16" fmla="*/ 514905 h 887767"/>
                <a:gd name="connsiteX17" fmla="*/ 523783 w 1811045"/>
                <a:gd name="connsiteY17" fmla="*/ 523782 h 887767"/>
                <a:gd name="connsiteX18" fmla="*/ 603682 w 1811045"/>
                <a:gd name="connsiteY18" fmla="*/ 568171 h 887767"/>
                <a:gd name="connsiteX19" fmla="*/ 639193 w 1811045"/>
                <a:gd name="connsiteY19" fmla="*/ 594804 h 887767"/>
                <a:gd name="connsiteX20" fmla="*/ 692459 w 1811045"/>
                <a:gd name="connsiteY20" fmla="*/ 612559 h 887767"/>
                <a:gd name="connsiteX21" fmla="*/ 719092 w 1811045"/>
                <a:gd name="connsiteY21" fmla="*/ 639192 h 887767"/>
                <a:gd name="connsiteX22" fmla="*/ 745725 w 1811045"/>
                <a:gd name="connsiteY22" fmla="*/ 648070 h 887767"/>
                <a:gd name="connsiteX23" fmla="*/ 772358 w 1811045"/>
                <a:gd name="connsiteY23" fmla="*/ 665825 h 887767"/>
                <a:gd name="connsiteX24" fmla="*/ 798991 w 1811045"/>
                <a:gd name="connsiteY24" fmla="*/ 674703 h 887767"/>
                <a:gd name="connsiteX25" fmla="*/ 825624 w 1811045"/>
                <a:gd name="connsiteY25" fmla="*/ 692458 h 887767"/>
                <a:gd name="connsiteX26" fmla="*/ 861134 w 1811045"/>
                <a:gd name="connsiteY26" fmla="*/ 701336 h 887767"/>
                <a:gd name="connsiteX27" fmla="*/ 896645 w 1811045"/>
                <a:gd name="connsiteY27" fmla="*/ 719091 h 887767"/>
                <a:gd name="connsiteX28" fmla="*/ 1012055 w 1811045"/>
                <a:gd name="connsiteY28" fmla="*/ 736846 h 887767"/>
                <a:gd name="connsiteX29" fmla="*/ 1047565 w 1811045"/>
                <a:gd name="connsiteY29" fmla="*/ 745724 h 887767"/>
                <a:gd name="connsiteX30" fmla="*/ 1100831 w 1811045"/>
                <a:gd name="connsiteY30" fmla="*/ 763479 h 887767"/>
                <a:gd name="connsiteX31" fmla="*/ 1136342 w 1811045"/>
                <a:gd name="connsiteY31" fmla="*/ 772357 h 887767"/>
                <a:gd name="connsiteX32" fmla="*/ 1162975 w 1811045"/>
                <a:gd name="connsiteY32" fmla="*/ 781235 h 887767"/>
                <a:gd name="connsiteX33" fmla="*/ 1278385 w 1811045"/>
                <a:gd name="connsiteY33" fmla="*/ 798990 h 887767"/>
                <a:gd name="connsiteX34" fmla="*/ 1331651 w 1811045"/>
                <a:gd name="connsiteY34" fmla="*/ 816745 h 887767"/>
                <a:gd name="connsiteX35" fmla="*/ 1402672 w 1811045"/>
                <a:gd name="connsiteY35" fmla="*/ 843378 h 887767"/>
                <a:gd name="connsiteX36" fmla="*/ 1562470 w 1811045"/>
                <a:gd name="connsiteY36" fmla="*/ 878889 h 887767"/>
                <a:gd name="connsiteX37" fmla="*/ 1615736 w 1811045"/>
                <a:gd name="connsiteY37" fmla="*/ 887767 h 887767"/>
                <a:gd name="connsiteX38" fmla="*/ 1731146 w 1811045"/>
                <a:gd name="connsiteY38" fmla="*/ 878889 h 887767"/>
                <a:gd name="connsiteX39" fmla="*/ 1775534 w 1811045"/>
                <a:gd name="connsiteY39" fmla="*/ 852256 h 887767"/>
                <a:gd name="connsiteX40" fmla="*/ 1802167 w 1811045"/>
                <a:gd name="connsiteY40" fmla="*/ 843378 h 887767"/>
                <a:gd name="connsiteX41" fmla="*/ 1811045 w 1811045"/>
                <a:gd name="connsiteY41" fmla="*/ 816745 h 887767"/>
                <a:gd name="connsiteX42" fmla="*/ 1802167 w 1811045"/>
                <a:gd name="connsiteY42" fmla="*/ 772357 h 887767"/>
                <a:gd name="connsiteX43" fmla="*/ 1748901 w 1811045"/>
                <a:gd name="connsiteY43" fmla="*/ 745724 h 887767"/>
                <a:gd name="connsiteX44" fmla="*/ 1660125 w 1811045"/>
                <a:gd name="connsiteY44" fmla="*/ 683580 h 887767"/>
                <a:gd name="connsiteX45" fmla="*/ 1624614 w 1811045"/>
                <a:gd name="connsiteY45" fmla="*/ 665825 h 887767"/>
                <a:gd name="connsiteX46" fmla="*/ 1535837 w 1811045"/>
                <a:gd name="connsiteY46" fmla="*/ 639192 h 887767"/>
                <a:gd name="connsiteX47" fmla="*/ 1491449 w 1811045"/>
                <a:gd name="connsiteY47" fmla="*/ 612559 h 887767"/>
                <a:gd name="connsiteX48" fmla="*/ 1438183 w 1811045"/>
                <a:gd name="connsiteY48" fmla="*/ 594804 h 887767"/>
                <a:gd name="connsiteX49" fmla="*/ 1340529 w 1811045"/>
                <a:gd name="connsiteY49" fmla="*/ 568171 h 887767"/>
                <a:gd name="connsiteX50" fmla="*/ 1313896 w 1811045"/>
                <a:gd name="connsiteY50" fmla="*/ 559293 h 887767"/>
                <a:gd name="connsiteX51" fmla="*/ 1251752 w 1811045"/>
                <a:gd name="connsiteY51" fmla="*/ 541538 h 887767"/>
                <a:gd name="connsiteX52" fmla="*/ 1162975 w 1811045"/>
                <a:gd name="connsiteY52" fmla="*/ 506027 h 887767"/>
                <a:gd name="connsiteX53" fmla="*/ 1136342 w 1811045"/>
                <a:gd name="connsiteY53" fmla="*/ 497149 h 887767"/>
                <a:gd name="connsiteX54" fmla="*/ 1109709 w 1811045"/>
                <a:gd name="connsiteY54" fmla="*/ 488272 h 887767"/>
                <a:gd name="connsiteX55" fmla="*/ 1065321 w 1811045"/>
                <a:gd name="connsiteY55" fmla="*/ 452761 h 887767"/>
                <a:gd name="connsiteX56" fmla="*/ 1012055 w 1811045"/>
                <a:gd name="connsiteY56" fmla="*/ 426128 h 887767"/>
                <a:gd name="connsiteX57" fmla="*/ 958789 w 1811045"/>
                <a:gd name="connsiteY57" fmla="*/ 381740 h 887767"/>
                <a:gd name="connsiteX58" fmla="*/ 923278 w 1811045"/>
                <a:gd name="connsiteY58" fmla="*/ 355107 h 887767"/>
                <a:gd name="connsiteX59" fmla="*/ 887767 w 1811045"/>
                <a:gd name="connsiteY59" fmla="*/ 346229 h 887767"/>
                <a:gd name="connsiteX60" fmla="*/ 861134 w 1811045"/>
                <a:gd name="connsiteY60" fmla="*/ 328474 h 887767"/>
                <a:gd name="connsiteX61" fmla="*/ 843379 w 1811045"/>
                <a:gd name="connsiteY61" fmla="*/ 310718 h 887767"/>
                <a:gd name="connsiteX62" fmla="*/ 807868 w 1811045"/>
                <a:gd name="connsiteY62" fmla="*/ 292963 h 887767"/>
                <a:gd name="connsiteX63" fmla="*/ 736847 w 1811045"/>
                <a:gd name="connsiteY63" fmla="*/ 266330 h 887767"/>
                <a:gd name="connsiteX64" fmla="*/ 683581 w 1811045"/>
                <a:gd name="connsiteY64" fmla="*/ 230819 h 887767"/>
                <a:gd name="connsiteX65" fmla="*/ 656948 w 1811045"/>
                <a:gd name="connsiteY65" fmla="*/ 213064 h 887767"/>
                <a:gd name="connsiteX66" fmla="*/ 603682 w 1811045"/>
                <a:gd name="connsiteY66" fmla="*/ 177553 h 887767"/>
                <a:gd name="connsiteX67" fmla="*/ 550416 w 1811045"/>
                <a:gd name="connsiteY67" fmla="*/ 133165 h 887767"/>
                <a:gd name="connsiteX68" fmla="*/ 497150 w 1811045"/>
                <a:gd name="connsiteY68" fmla="*/ 115410 h 887767"/>
                <a:gd name="connsiteX69" fmla="*/ 435006 w 1811045"/>
                <a:gd name="connsiteY69" fmla="*/ 79899 h 887767"/>
                <a:gd name="connsiteX70" fmla="*/ 408373 w 1811045"/>
                <a:gd name="connsiteY70" fmla="*/ 71021 h 887767"/>
                <a:gd name="connsiteX71" fmla="*/ 355107 w 1811045"/>
                <a:gd name="connsiteY71" fmla="*/ 35511 h 887767"/>
                <a:gd name="connsiteX72" fmla="*/ 301841 w 1811045"/>
                <a:gd name="connsiteY72" fmla="*/ 17755 h 887767"/>
                <a:gd name="connsiteX73" fmla="*/ 275208 w 1811045"/>
                <a:gd name="connsiteY73" fmla="*/ 8878 h 887767"/>
                <a:gd name="connsiteX74" fmla="*/ 230820 w 1811045"/>
                <a:gd name="connsiteY74" fmla="*/ 0 h 887767"/>
                <a:gd name="connsiteX75" fmla="*/ 133165 w 1811045"/>
                <a:gd name="connsiteY75" fmla="*/ 8878 h 887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1811045" h="887767">
                  <a:moveTo>
                    <a:pt x="133165" y="8878"/>
                  </a:moveTo>
                  <a:cubicBezTo>
                    <a:pt x="112450" y="17756"/>
                    <a:pt x="120889" y="43695"/>
                    <a:pt x="106532" y="53266"/>
                  </a:cubicBezTo>
                  <a:cubicBezTo>
                    <a:pt x="91555" y="63251"/>
                    <a:pt x="70343" y="56452"/>
                    <a:pt x="53266" y="62144"/>
                  </a:cubicBezTo>
                  <a:cubicBezTo>
                    <a:pt x="43144" y="65518"/>
                    <a:pt x="35511" y="73981"/>
                    <a:pt x="26633" y="79899"/>
                  </a:cubicBezTo>
                  <a:cubicBezTo>
                    <a:pt x="2567" y="115998"/>
                    <a:pt x="0" y="111550"/>
                    <a:pt x="0" y="168676"/>
                  </a:cubicBezTo>
                  <a:cubicBezTo>
                    <a:pt x="0" y="201362"/>
                    <a:pt x="2029" y="234370"/>
                    <a:pt x="8878" y="266330"/>
                  </a:cubicBezTo>
                  <a:cubicBezTo>
                    <a:pt x="11114" y="276763"/>
                    <a:pt x="21861" y="283420"/>
                    <a:pt x="26633" y="292963"/>
                  </a:cubicBezTo>
                  <a:cubicBezTo>
                    <a:pt x="45536" y="330768"/>
                    <a:pt x="22738" y="310612"/>
                    <a:pt x="53266" y="346229"/>
                  </a:cubicBezTo>
                  <a:cubicBezTo>
                    <a:pt x="69649" y="365342"/>
                    <a:pt x="91849" y="387714"/>
                    <a:pt x="115410" y="399495"/>
                  </a:cubicBezTo>
                  <a:cubicBezTo>
                    <a:pt x="123780" y="403680"/>
                    <a:pt x="133673" y="404188"/>
                    <a:pt x="142043" y="408373"/>
                  </a:cubicBezTo>
                  <a:cubicBezTo>
                    <a:pt x="151586" y="413145"/>
                    <a:pt x="158554" y="422754"/>
                    <a:pt x="168676" y="426128"/>
                  </a:cubicBezTo>
                  <a:cubicBezTo>
                    <a:pt x="185753" y="431820"/>
                    <a:pt x="204479" y="430640"/>
                    <a:pt x="221942" y="435006"/>
                  </a:cubicBezTo>
                  <a:cubicBezTo>
                    <a:pt x="240099" y="439545"/>
                    <a:pt x="257453" y="446843"/>
                    <a:pt x="275208" y="452761"/>
                  </a:cubicBezTo>
                  <a:cubicBezTo>
                    <a:pt x="284086" y="455720"/>
                    <a:pt x="292577" y="460316"/>
                    <a:pt x="301841" y="461639"/>
                  </a:cubicBezTo>
                  <a:lnTo>
                    <a:pt x="363985" y="470516"/>
                  </a:lnTo>
                  <a:lnTo>
                    <a:pt x="470517" y="506027"/>
                  </a:lnTo>
                  <a:lnTo>
                    <a:pt x="497150" y="514905"/>
                  </a:lnTo>
                  <a:lnTo>
                    <a:pt x="523783" y="523782"/>
                  </a:lnTo>
                  <a:cubicBezTo>
                    <a:pt x="584835" y="564484"/>
                    <a:pt x="556805" y="552545"/>
                    <a:pt x="603682" y="568171"/>
                  </a:cubicBezTo>
                  <a:cubicBezTo>
                    <a:pt x="615519" y="577049"/>
                    <a:pt x="625959" y="588187"/>
                    <a:pt x="639193" y="594804"/>
                  </a:cubicBezTo>
                  <a:cubicBezTo>
                    <a:pt x="655933" y="603174"/>
                    <a:pt x="692459" y="612559"/>
                    <a:pt x="692459" y="612559"/>
                  </a:cubicBezTo>
                  <a:cubicBezTo>
                    <a:pt x="701337" y="621437"/>
                    <a:pt x="708646" y="632228"/>
                    <a:pt x="719092" y="639192"/>
                  </a:cubicBezTo>
                  <a:cubicBezTo>
                    <a:pt x="726878" y="644383"/>
                    <a:pt x="737355" y="643885"/>
                    <a:pt x="745725" y="648070"/>
                  </a:cubicBezTo>
                  <a:cubicBezTo>
                    <a:pt x="755268" y="652842"/>
                    <a:pt x="762815" y="661053"/>
                    <a:pt x="772358" y="665825"/>
                  </a:cubicBezTo>
                  <a:cubicBezTo>
                    <a:pt x="780728" y="670010"/>
                    <a:pt x="790621" y="670518"/>
                    <a:pt x="798991" y="674703"/>
                  </a:cubicBezTo>
                  <a:cubicBezTo>
                    <a:pt x="808534" y="679475"/>
                    <a:pt x="815817" y="688255"/>
                    <a:pt x="825624" y="692458"/>
                  </a:cubicBezTo>
                  <a:cubicBezTo>
                    <a:pt x="836838" y="697264"/>
                    <a:pt x="849710" y="697052"/>
                    <a:pt x="861134" y="701336"/>
                  </a:cubicBezTo>
                  <a:cubicBezTo>
                    <a:pt x="873525" y="705983"/>
                    <a:pt x="884090" y="714906"/>
                    <a:pt x="896645" y="719091"/>
                  </a:cubicBezTo>
                  <a:cubicBezTo>
                    <a:pt x="921052" y="727227"/>
                    <a:pt x="994645" y="734670"/>
                    <a:pt x="1012055" y="736846"/>
                  </a:cubicBezTo>
                  <a:cubicBezTo>
                    <a:pt x="1023892" y="739805"/>
                    <a:pt x="1035879" y="742218"/>
                    <a:pt x="1047565" y="745724"/>
                  </a:cubicBezTo>
                  <a:cubicBezTo>
                    <a:pt x="1065491" y="751102"/>
                    <a:pt x="1082674" y="758940"/>
                    <a:pt x="1100831" y="763479"/>
                  </a:cubicBezTo>
                  <a:cubicBezTo>
                    <a:pt x="1112668" y="766438"/>
                    <a:pt x="1124610" y="769005"/>
                    <a:pt x="1136342" y="772357"/>
                  </a:cubicBezTo>
                  <a:cubicBezTo>
                    <a:pt x="1145340" y="774928"/>
                    <a:pt x="1153840" y="779205"/>
                    <a:pt x="1162975" y="781235"/>
                  </a:cubicBezTo>
                  <a:cubicBezTo>
                    <a:pt x="1185133" y="786159"/>
                    <a:pt x="1258578" y="796160"/>
                    <a:pt x="1278385" y="798990"/>
                  </a:cubicBezTo>
                  <a:cubicBezTo>
                    <a:pt x="1296140" y="804908"/>
                    <a:pt x="1314274" y="809794"/>
                    <a:pt x="1331651" y="816745"/>
                  </a:cubicBezTo>
                  <a:cubicBezTo>
                    <a:pt x="1350888" y="824440"/>
                    <a:pt x="1380792" y="837411"/>
                    <a:pt x="1402672" y="843378"/>
                  </a:cubicBezTo>
                  <a:cubicBezTo>
                    <a:pt x="1452848" y="857062"/>
                    <a:pt x="1511751" y="870436"/>
                    <a:pt x="1562470" y="878889"/>
                  </a:cubicBezTo>
                  <a:lnTo>
                    <a:pt x="1615736" y="887767"/>
                  </a:lnTo>
                  <a:cubicBezTo>
                    <a:pt x="1654206" y="884808"/>
                    <a:pt x="1692860" y="883675"/>
                    <a:pt x="1731146" y="878889"/>
                  </a:cubicBezTo>
                  <a:cubicBezTo>
                    <a:pt x="1773504" y="873594"/>
                    <a:pt x="1744199" y="871058"/>
                    <a:pt x="1775534" y="852256"/>
                  </a:cubicBezTo>
                  <a:cubicBezTo>
                    <a:pt x="1783558" y="847441"/>
                    <a:pt x="1793289" y="846337"/>
                    <a:pt x="1802167" y="843378"/>
                  </a:cubicBezTo>
                  <a:cubicBezTo>
                    <a:pt x="1805126" y="834500"/>
                    <a:pt x="1811045" y="826103"/>
                    <a:pt x="1811045" y="816745"/>
                  </a:cubicBezTo>
                  <a:cubicBezTo>
                    <a:pt x="1811045" y="801656"/>
                    <a:pt x="1809653" y="785458"/>
                    <a:pt x="1802167" y="772357"/>
                  </a:cubicBezTo>
                  <a:cubicBezTo>
                    <a:pt x="1794069" y="758185"/>
                    <a:pt x="1762571" y="750281"/>
                    <a:pt x="1748901" y="745724"/>
                  </a:cubicBezTo>
                  <a:cubicBezTo>
                    <a:pt x="1726632" y="729022"/>
                    <a:pt x="1681984" y="694509"/>
                    <a:pt x="1660125" y="683580"/>
                  </a:cubicBezTo>
                  <a:cubicBezTo>
                    <a:pt x="1648288" y="677662"/>
                    <a:pt x="1636902" y="670740"/>
                    <a:pt x="1624614" y="665825"/>
                  </a:cubicBezTo>
                  <a:cubicBezTo>
                    <a:pt x="1588593" y="651417"/>
                    <a:pt x="1570716" y="647912"/>
                    <a:pt x="1535837" y="639192"/>
                  </a:cubicBezTo>
                  <a:cubicBezTo>
                    <a:pt x="1521041" y="630314"/>
                    <a:pt x="1507157" y="619699"/>
                    <a:pt x="1491449" y="612559"/>
                  </a:cubicBezTo>
                  <a:cubicBezTo>
                    <a:pt x="1474411" y="604814"/>
                    <a:pt x="1456071" y="600308"/>
                    <a:pt x="1438183" y="594804"/>
                  </a:cubicBezTo>
                  <a:cubicBezTo>
                    <a:pt x="1276263" y="544982"/>
                    <a:pt x="1446802" y="598535"/>
                    <a:pt x="1340529" y="568171"/>
                  </a:cubicBezTo>
                  <a:cubicBezTo>
                    <a:pt x="1331531" y="565600"/>
                    <a:pt x="1322894" y="561864"/>
                    <a:pt x="1313896" y="559293"/>
                  </a:cubicBezTo>
                  <a:cubicBezTo>
                    <a:pt x="1291381" y="552860"/>
                    <a:pt x="1273031" y="550657"/>
                    <a:pt x="1251752" y="541538"/>
                  </a:cubicBezTo>
                  <a:cubicBezTo>
                    <a:pt x="1160300" y="502345"/>
                    <a:pt x="1284234" y="546447"/>
                    <a:pt x="1162975" y="506027"/>
                  </a:cubicBezTo>
                  <a:lnTo>
                    <a:pt x="1136342" y="497149"/>
                  </a:lnTo>
                  <a:lnTo>
                    <a:pt x="1109709" y="488272"/>
                  </a:lnTo>
                  <a:cubicBezTo>
                    <a:pt x="1093193" y="471756"/>
                    <a:pt x="1087721" y="463961"/>
                    <a:pt x="1065321" y="452761"/>
                  </a:cubicBezTo>
                  <a:cubicBezTo>
                    <a:pt x="1025284" y="432743"/>
                    <a:pt x="1050216" y="457928"/>
                    <a:pt x="1012055" y="426128"/>
                  </a:cubicBezTo>
                  <a:cubicBezTo>
                    <a:pt x="912575" y="343229"/>
                    <a:pt x="1051365" y="447865"/>
                    <a:pt x="958789" y="381740"/>
                  </a:cubicBezTo>
                  <a:cubicBezTo>
                    <a:pt x="946749" y="373140"/>
                    <a:pt x="936512" y="361724"/>
                    <a:pt x="923278" y="355107"/>
                  </a:cubicBezTo>
                  <a:cubicBezTo>
                    <a:pt x="912365" y="349650"/>
                    <a:pt x="899604" y="349188"/>
                    <a:pt x="887767" y="346229"/>
                  </a:cubicBezTo>
                  <a:cubicBezTo>
                    <a:pt x="878889" y="340311"/>
                    <a:pt x="869465" y="335139"/>
                    <a:pt x="861134" y="328474"/>
                  </a:cubicBezTo>
                  <a:cubicBezTo>
                    <a:pt x="854598" y="323245"/>
                    <a:pt x="850343" y="315361"/>
                    <a:pt x="843379" y="310718"/>
                  </a:cubicBezTo>
                  <a:cubicBezTo>
                    <a:pt x="832368" y="303377"/>
                    <a:pt x="820032" y="298176"/>
                    <a:pt x="807868" y="292963"/>
                  </a:cubicBezTo>
                  <a:cubicBezTo>
                    <a:pt x="770892" y="277116"/>
                    <a:pt x="781793" y="290846"/>
                    <a:pt x="736847" y="266330"/>
                  </a:cubicBezTo>
                  <a:cubicBezTo>
                    <a:pt x="718113" y="256112"/>
                    <a:pt x="701336" y="242656"/>
                    <a:pt x="683581" y="230819"/>
                  </a:cubicBezTo>
                  <a:lnTo>
                    <a:pt x="656948" y="213064"/>
                  </a:lnTo>
                  <a:cubicBezTo>
                    <a:pt x="618543" y="155456"/>
                    <a:pt x="665419" y="212831"/>
                    <a:pt x="603682" y="177553"/>
                  </a:cubicBezTo>
                  <a:cubicBezTo>
                    <a:pt x="530513" y="135742"/>
                    <a:pt x="620632" y="164371"/>
                    <a:pt x="550416" y="133165"/>
                  </a:cubicBezTo>
                  <a:cubicBezTo>
                    <a:pt x="533313" y="125564"/>
                    <a:pt x="497150" y="115410"/>
                    <a:pt x="497150" y="115410"/>
                  </a:cubicBezTo>
                  <a:cubicBezTo>
                    <a:pt x="470400" y="97576"/>
                    <a:pt x="466548" y="93417"/>
                    <a:pt x="435006" y="79899"/>
                  </a:cubicBezTo>
                  <a:cubicBezTo>
                    <a:pt x="426405" y="76213"/>
                    <a:pt x="416553" y="75566"/>
                    <a:pt x="408373" y="71021"/>
                  </a:cubicBezTo>
                  <a:cubicBezTo>
                    <a:pt x="389719" y="60658"/>
                    <a:pt x="375351" y="42259"/>
                    <a:pt x="355107" y="35511"/>
                  </a:cubicBezTo>
                  <a:lnTo>
                    <a:pt x="301841" y="17755"/>
                  </a:lnTo>
                  <a:cubicBezTo>
                    <a:pt x="292963" y="14796"/>
                    <a:pt x="284384" y="10713"/>
                    <a:pt x="275208" y="8878"/>
                  </a:cubicBezTo>
                  <a:lnTo>
                    <a:pt x="230820" y="0"/>
                  </a:lnTo>
                  <a:cubicBezTo>
                    <a:pt x="160390" y="10062"/>
                    <a:pt x="153880" y="0"/>
                    <a:pt x="133165" y="887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33" name="Straight Connector 32"/>
          <p:cNvCxnSpPr/>
          <p:nvPr/>
        </p:nvCxnSpPr>
        <p:spPr>
          <a:xfrm>
            <a:off x="7066642" y="1196752"/>
            <a:ext cx="0" cy="558025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Rectangle 4">
            <a:extLst>
              <a:ext uri="{FF2B5EF4-FFF2-40B4-BE49-F238E27FC236}">
                <a16:creationId xmlns:a16="http://schemas.microsoft.com/office/drawing/2014/main" id="{2B647D8A-9D3B-47D3-897A-998A624BDF4E}"/>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Hillsope</a:t>
            </a:r>
            <a:r>
              <a:rPr lang="en-GB" sz="40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processes</a:t>
            </a:r>
            <a:endPar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41" name="TextBox 40">
            <a:extLst>
              <a:ext uri="{FF2B5EF4-FFF2-40B4-BE49-F238E27FC236}">
                <a16:creationId xmlns:a16="http://schemas.microsoft.com/office/drawing/2014/main" id="{25D32582-305D-4A8A-9426-644FB9334762}"/>
              </a:ext>
            </a:extLst>
          </p:cNvPr>
          <p:cNvSpPr txBox="1"/>
          <p:nvPr/>
        </p:nvSpPr>
        <p:spPr>
          <a:xfrm>
            <a:off x="167084" y="1198349"/>
            <a:ext cx="3960440" cy="5478423"/>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As gradient is reduced by hillslope processes, there is a general change in behaviour.</a:t>
            </a:r>
          </a:p>
          <a:p>
            <a:pPr marL="342900" indent="-342900">
              <a:spcAft>
                <a:spcPts val="600"/>
              </a:spcAft>
              <a:buFont typeface="Arial" panose="020B0604020202020204" pitchFamily="34" charset="0"/>
              <a:buChar char="•"/>
            </a:pPr>
            <a:endParaRPr lang="en-GB" sz="2000" b="1" dirty="0"/>
          </a:p>
          <a:p>
            <a:pPr marL="342900" indent="-342900">
              <a:spcAft>
                <a:spcPts val="600"/>
              </a:spcAft>
              <a:buFont typeface="Arial" panose="020B0604020202020204" pitchFamily="34" charset="0"/>
              <a:buChar char="•"/>
            </a:pPr>
            <a:r>
              <a:rPr lang="en-GB" sz="2000" b="1" dirty="0"/>
              <a:t>Turbidity currents and pyroclastic flows are “special cases” associated with volcanoes and subaqueous (under water) conditions.</a:t>
            </a:r>
          </a:p>
          <a:p>
            <a:pPr marL="342900" indent="-342900">
              <a:spcAft>
                <a:spcPts val="600"/>
              </a:spcAft>
              <a:buFont typeface="Arial" panose="020B0604020202020204" pitchFamily="34" charset="0"/>
              <a:buChar char="•"/>
            </a:pPr>
            <a:endParaRPr lang="en-GB" sz="2000" b="1" dirty="0"/>
          </a:p>
          <a:p>
            <a:pPr marL="342900" indent="-342900">
              <a:spcAft>
                <a:spcPts val="600"/>
              </a:spcAft>
              <a:buFont typeface="Arial" panose="020B0604020202020204" pitchFamily="34" charset="0"/>
              <a:buChar char="•"/>
            </a:pPr>
            <a:r>
              <a:rPr lang="en-GB" sz="2000" b="1" dirty="0"/>
              <a:t>Eventually, gradients are insufficient to move material by their gravitational potential alone….</a:t>
            </a:r>
          </a:p>
          <a:p>
            <a:pPr marL="342900" indent="-342900">
              <a:spcAft>
                <a:spcPts val="600"/>
              </a:spcAft>
              <a:buFont typeface="Arial" panose="020B0604020202020204" pitchFamily="34" charset="0"/>
              <a:buChar char="•"/>
            </a:pPr>
            <a:endParaRPr lang="en-GB" sz="2000" b="1" dirty="0"/>
          </a:p>
          <a:p>
            <a:pPr marL="342900" indent="-342900">
              <a:spcAft>
                <a:spcPts val="600"/>
              </a:spcAft>
              <a:buFont typeface="Arial" panose="020B0604020202020204" pitchFamily="34" charset="0"/>
              <a:buChar char="•"/>
            </a:pPr>
            <a:r>
              <a:rPr lang="en-GB" sz="2000" b="1" dirty="0"/>
              <a:t>…fluvial processes take over.</a:t>
            </a:r>
          </a:p>
        </p:txBody>
      </p:sp>
    </p:spTree>
    <p:extLst>
      <p:ext uri="{BB962C8B-B14F-4D97-AF65-F5344CB8AC3E}">
        <p14:creationId xmlns:p14="http://schemas.microsoft.com/office/powerpoint/2010/main" val="29494744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5677EE8-CE4F-4706-9D2B-5C0BDA4D0AD3}"/>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Summary</a:t>
            </a:r>
            <a:endPar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3" name="Text Box 3">
            <a:extLst>
              <a:ext uri="{FF2B5EF4-FFF2-40B4-BE49-F238E27FC236}">
                <a16:creationId xmlns:a16="http://schemas.microsoft.com/office/drawing/2014/main" id="{E69DA53B-434E-4ECF-A4FE-BBCDC5443790}"/>
              </a:ext>
            </a:extLst>
          </p:cNvPr>
          <p:cNvSpPr txBox="1">
            <a:spLocks noChangeArrowheads="1"/>
          </p:cNvSpPr>
          <p:nvPr/>
        </p:nvSpPr>
        <p:spPr bwMode="auto">
          <a:xfrm>
            <a:off x="179512" y="1124744"/>
            <a:ext cx="8784976" cy="477054"/>
          </a:xfrm>
          <a:prstGeom prst="rect">
            <a:avLst/>
          </a:prstGeom>
          <a:noFill/>
          <a:ln w="9525">
            <a:noFill/>
            <a:miter lim="800000"/>
            <a:headEnd/>
            <a:tailEnd/>
          </a:ln>
        </p:spPr>
        <p:txBody>
          <a:bodyPr wrap="square">
            <a:spAutoFit/>
          </a:bodyPr>
          <a:lstStyle/>
          <a:p>
            <a:r>
              <a:rPr lang="en-GB" sz="2500" b="1" u="sng" dirty="0"/>
              <a:t>What to look for….</a:t>
            </a:r>
            <a:endParaRPr lang="en-GB" sz="2500" u="sng" dirty="0"/>
          </a:p>
        </p:txBody>
      </p:sp>
      <p:pic>
        <p:nvPicPr>
          <p:cNvPr id="1026" name="Picture 2" descr="Chaco Culture - the talus slope">
            <a:extLst>
              <a:ext uri="{FF2B5EF4-FFF2-40B4-BE49-F238E27FC236}">
                <a16:creationId xmlns:a16="http://schemas.microsoft.com/office/drawing/2014/main" id="{1EB8E1B0-4BF5-403E-8393-FE3D68A188B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627" y="1795509"/>
            <a:ext cx="4355976" cy="326698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aw scars widespread across the northland | Geophysical Institute">
            <a:extLst>
              <a:ext uri="{FF2B5EF4-FFF2-40B4-BE49-F238E27FC236}">
                <a16:creationId xmlns:a16="http://schemas.microsoft.com/office/drawing/2014/main" id="{82BC0A00-1DE4-411A-90C8-8E787DE33B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9795" y="3557232"/>
            <a:ext cx="4829371" cy="3010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83231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monument-valley-camping-9campfire"/>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896" y="0"/>
            <a:ext cx="9137104" cy="685282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4">
            <a:extLst>
              <a:ext uri="{FF2B5EF4-FFF2-40B4-BE49-F238E27FC236}">
                <a16:creationId xmlns:a16="http://schemas.microsoft.com/office/drawing/2014/main" id="{229DC45C-1036-4D09-98B4-96AA72E1D51B}"/>
              </a:ext>
            </a:extLst>
          </p:cNvPr>
          <p:cNvSpPr txBox="1">
            <a:spLocks noChangeArrowheads="1"/>
          </p:cNvSpPr>
          <p:nvPr/>
        </p:nvSpPr>
        <p:spPr>
          <a:xfrm>
            <a:off x="107504" y="1916832"/>
            <a:ext cx="8928992" cy="3888432"/>
          </a:xfrm>
          <a:prstGeom prst="rect">
            <a:avLst/>
          </a:prstGeom>
          <a:solidFill>
            <a:schemeClr val="bg1">
              <a:alpha val="60000"/>
            </a:schemeClr>
          </a:solidFill>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800" b="1" i="0" u="none" strike="noStrike" kern="1200" cap="none" spc="0" normalizeH="0" baseline="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EART11100: </a:t>
            </a:r>
            <a:r>
              <a:rPr lang="en-GB" sz="2800" b="1" dirty="0">
                <a:effectLst>
                  <a:outerShdw blurRad="38100" dist="38100" dir="2700000" algn="tl">
                    <a:srgbClr val="000000">
                      <a:alpha val="43137"/>
                    </a:srgbClr>
                  </a:outerShdw>
                </a:effectLst>
                <a:latin typeface="Bookman Old Style" pitchFamily="18" charset="0"/>
                <a:ea typeface="Adobe Fangsong Std R" pitchFamily="18" charset="-128"/>
                <a:cs typeface="+mj-cs"/>
              </a:rPr>
              <a:t>Understanding t</a:t>
            </a:r>
            <a:r>
              <a:rPr kumimoji="0" lang="en-GB" sz="2800" b="1" i="0" u="none" strike="noStrike" kern="1200" cap="none" spc="0" normalizeH="0" baseline="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he Earth</a:t>
            </a:r>
          </a:p>
          <a:p>
            <a:pPr marL="0" marR="0" lvl="0" indent="0" algn="ctr" defTabSz="914400" rtl="0" eaLnBrk="1" fontAlgn="auto" latinLnBrk="0" hangingPunct="1">
              <a:lnSpc>
                <a:spcPct val="100000"/>
              </a:lnSpc>
              <a:spcBef>
                <a:spcPct val="0"/>
              </a:spcBef>
              <a:spcAft>
                <a:spcPts val="0"/>
              </a:spcAft>
              <a:buClrTx/>
              <a:buSzTx/>
              <a:buFontTx/>
              <a:buNone/>
              <a:tabLst/>
              <a:defRPr/>
            </a:pPr>
            <a:r>
              <a:rPr lang="en-GB" sz="2800" b="1" dirty="0">
                <a:effectLst>
                  <a:outerShdw blurRad="38100" dist="38100" dir="2700000" algn="tl">
                    <a:srgbClr val="000000">
                      <a:alpha val="43137"/>
                    </a:srgbClr>
                  </a:outerShdw>
                </a:effectLst>
                <a:latin typeface="Bookman Old Style" pitchFamily="18" charset="0"/>
                <a:ea typeface="Adobe Fangsong Std R" pitchFamily="18" charset="-128"/>
                <a:cs typeface="+mj-cs"/>
              </a:rPr>
              <a:t>A dynamic Planet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800" b="1" i="0" u="none" strike="noStrike" kern="1200" cap="none" spc="0" normalizeH="0" baseline="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Landscapes dominated by fluvial erosion (“fluvial geomorphology”)</a:t>
            </a:r>
            <a:endParaRPr kumimoji="0" lang="en-GB" sz="4800" b="1" i="0" u="none" strike="noStrike" kern="1200" cap="none" spc="0" normalizeH="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32522698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19672" y="1178750"/>
            <a:ext cx="5832648" cy="3586094"/>
          </a:xfrm>
          <a:prstGeom prst="rect">
            <a:avLst/>
          </a:prstGeom>
        </p:spPr>
      </p:pic>
      <p:sp>
        <p:nvSpPr>
          <p:cNvPr id="6" name="Content Placeholder 2"/>
          <p:cNvSpPr>
            <a:spLocks noGrp="1"/>
          </p:cNvSpPr>
          <p:nvPr>
            <p:ph idx="1"/>
          </p:nvPr>
        </p:nvSpPr>
        <p:spPr>
          <a:xfrm>
            <a:off x="179511" y="5229200"/>
            <a:ext cx="8964489" cy="1440160"/>
          </a:xfrm>
          <a:noFill/>
        </p:spPr>
        <p:txBody>
          <a:bodyPr>
            <a:noAutofit/>
          </a:bodyPr>
          <a:lstStyle/>
          <a:p>
            <a:pPr marL="0" indent="0">
              <a:buNone/>
            </a:pPr>
            <a:r>
              <a:rPr lang="en-GB" sz="2000" b="1" dirty="0">
                <a:latin typeface="Arial" panose="020B0604020202020204" pitchFamily="34" charset="0"/>
                <a:cs typeface="Arial" pitchFamily="34" charset="0"/>
              </a:rPr>
              <a:t>… you should be able to…</a:t>
            </a:r>
          </a:p>
          <a:p>
            <a:r>
              <a:rPr lang="en-GB" sz="2000" b="1" dirty="0">
                <a:latin typeface="Arial" panose="020B0604020202020204" pitchFamily="34" charset="0"/>
                <a:cs typeface="Arial" panose="020B0604020202020204" pitchFamily="34" charset="0"/>
                <a:sym typeface="Wingdings" pitchFamily="2" charset="2"/>
              </a:rPr>
              <a:t>describe the main fluvial erosion processes, where they happen, and the landforms (“geomorphology”) that result.</a:t>
            </a:r>
          </a:p>
        </p:txBody>
      </p:sp>
      <p:sp>
        <p:nvSpPr>
          <p:cNvPr id="7" name="Rectangle 6"/>
          <p:cNvSpPr/>
          <p:nvPr/>
        </p:nvSpPr>
        <p:spPr>
          <a:xfrm>
            <a:off x="1853443" y="1988840"/>
            <a:ext cx="1998477" cy="648072"/>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4">
            <a:extLst>
              <a:ext uri="{FF2B5EF4-FFF2-40B4-BE49-F238E27FC236}">
                <a16:creationId xmlns:a16="http://schemas.microsoft.com/office/drawing/2014/main" id="{115699D5-9C24-44CF-BEED-22B237E1D07C}"/>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chemeClr val="bg1"/>
                </a:solidFill>
                <a:latin typeface="Bookman Old Style" panose="02050604050505020204" pitchFamily="18" charset="0"/>
                <a:ea typeface="Adobe Fangsong Std R" pitchFamily="18" charset="-128"/>
                <a:cs typeface="+mj-cs"/>
              </a:rPr>
              <a:t>Intended learning outcomes</a:t>
            </a:r>
            <a:endParaRPr kumimoji="0" lang="en-GB" sz="4000" b="1" i="0" u="none" strike="noStrike" kern="1200" cap="none" spc="0" normalizeH="0" baseline="0" noProof="0" dirty="0">
              <a:ln>
                <a:noFill/>
              </a:ln>
              <a:solidFill>
                <a:schemeClr val="bg1"/>
              </a:solidFill>
              <a:effectLst/>
              <a:uLnTx/>
              <a:uFillTx/>
              <a:latin typeface="Bookman Old Style" panose="02050604050505020204" pitchFamily="18" charset="0"/>
              <a:ea typeface="Adobe Fangsong Std R" pitchFamily="18" charset="-128"/>
              <a:cs typeface="+mj-cs"/>
            </a:endParaRPr>
          </a:p>
        </p:txBody>
      </p:sp>
    </p:spTree>
    <p:extLst>
      <p:ext uri="{BB962C8B-B14F-4D97-AF65-F5344CB8AC3E}">
        <p14:creationId xmlns:p14="http://schemas.microsoft.com/office/powerpoint/2010/main" val="449092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7524" y="1496338"/>
            <a:ext cx="8496943" cy="1169551"/>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In this lecture we will look at </a:t>
            </a:r>
          </a:p>
          <a:p>
            <a:pPr marL="800100" lvl="1" indent="-342900">
              <a:spcAft>
                <a:spcPts val="600"/>
              </a:spcAft>
              <a:buFont typeface="Wingdings" panose="05000000000000000000" pitchFamily="2" charset="2"/>
              <a:buChar char="à"/>
            </a:pPr>
            <a:r>
              <a:rPr lang="en-GB" sz="2000" b="1" dirty="0">
                <a:sym typeface="Wingdings" panose="05000000000000000000" pitchFamily="2" charset="2"/>
              </a:rPr>
              <a:t>Erosion of weathered material, and the landforms that are generated</a:t>
            </a:r>
          </a:p>
          <a:p>
            <a:pPr marL="800100" lvl="1" indent="-342900">
              <a:spcAft>
                <a:spcPts val="600"/>
              </a:spcAft>
              <a:buFont typeface="Wingdings" panose="05000000000000000000" pitchFamily="2" charset="2"/>
              <a:buChar char="à"/>
            </a:pPr>
            <a:r>
              <a:rPr lang="en-GB" sz="2000" b="1" dirty="0">
                <a:sym typeface="Wingdings" panose="05000000000000000000" pitchFamily="2" charset="2"/>
              </a:rPr>
              <a:t>Moving on to fluvial (aka river and stream) erosion.</a:t>
            </a:r>
            <a:endParaRPr lang="en-GB" sz="2000" b="1" dirty="0"/>
          </a:p>
        </p:txBody>
      </p:sp>
      <p:sp>
        <p:nvSpPr>
          <p:cNvPr id="4" name="Rectangle 4"/>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In this lecture…</a:t>
            </a:r>
          </a:p>
        </p:txBody>
      </p:sp>
      <p:grpSp>
        <p:nvGrpSpPr>
          <p:cNvPr id="7" name="Group 6"/>
          <p:cNvGrpSpPr/>
          <p:nvPr/>
        </p:nvGrpSpPr>
        <p:grpSpPr>
          <a:xfrm>
            <a:off x="963888" y="3148893"/>
            <a:ext cx="7712566" cy="3592475"/>
            <a:chOff x="963888" y="3148893"/>
            <a:chExt cx="7712566" cy="3592475"/>
          </a:xfrm>
        </p:grpSpPr>
        <p:pic>
          <p:nvPicPr>
            <p:cNvPr id="3074" name="Picture 2" descr="Products of Geomorphic Processes&#10;Process&#10;Erosion&#10;Transportation&#10;Deposition&#10;Erosional landform features&#10;Transportation&#10;Depo..."/>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963888" y="3148893"/>
              <a:ext cx="7144216" cy="35924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716016" y="4221088"/>
              <a:ext cx="3960438" cy="2016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Rectangle 1"/>
          <p:cNvSpPr/>
          <p:nvPr/>
        </p:nvSpPr>
        <p:spPr>
          <a:xfrm>
            <a:off x="683568" y="3501008"/>
            <a:ext cx="7920880" cy="1224136"/>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066825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1196752"/>
            <a:ext cx="8730447" cy="5478423"/>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Erosion is the process of removal of the </a:t>
            </a:r>
            <a:r>
              <a:rPr lang="en-GB" sz="2000" b="1" dirty="0" err="1"/>
              <a:t>regolith</a:t>
            </a:r>
            <a:r>
              <a:rPr lang="en-GB" sz="2000" b="1" dirty="0"/>
              <a:t> that was generated through weathering, and its transport to a new location.</a:t>
            </a:r>
          </a:p>
          <a:p>
            <a:pPr marL="342900" indent="-342900">
              <a:spcAft>
                <a:spcPts val="600"/>
              </a:spcAft>
              <a:buFont typeface="Arial" panose="020B0604020202020204" pitchFamily="34" charset="0"/>
              <a:buChar char="•"/>
            </a:pPr>
            <a:endParaRPr lang="en-GB" sz="2000" b="1" dirty="0">
              <a:sym typeface="Wingdings" panose="05000000000000000000" pitchFamily="2" charset="2"/>
            </a:endParaRPr>
          </a:p>
          <a:p>
            <a:pPr marL="342900" indent="-342900">
              <a:spcAft>
                <a:spcPts val="600"/>
              </a:spcAft>
              <a:buFont typeface="Arial" panose="020B0604020202020204" pitchFamily="34" charset="0"/>
              <a:buChar char="•"/>
            </a:pPr>
            <a:r>
              <a:rPr lang="en-GB" sz="2000" b="1" dirty="0">
                <a:sym typeface="Wingdings" panose="05000000000000000000" pitchFamily="2" charset="2"/>
              </a:rPr>
              <a:t>There are two main mechanisms for erosion</a:t>
            </a:r>
          </a:p>
          <a:p>
            <a:pPr marL="342900" indent="-342900">
              <a:spcAft>
                <a:spcPts val="600"/>
              </a:spcAft>
              <a:buFont typeface="Arial" panose="020B0604020202020204" pitchFamily="34" charset="0"/>
              <a:buChar char="•"/>
            </a:pPr>
            <a:endParaRPr lang="en-GB" sz="2000" dirty="0">
              <a:sym typeface="Wingdings" panose="05000000000000000000" pitchFamily="2" charset="2"/>
            </a:endParaRPr>
          </a:p>
          <a:p>
            <a:pPr>
              <a:spcAft>
                <a:spcPts val="600"/>
              </a:spcAft>
            </a:pPr>
            <a:r>
              <a:rPr lang="en-GB" sz="2000" b="1" u="sng" dirty="0">
                <a:sym typeface="Wingdings" panose="05000000000000000000" pitchFamily="2" charset="2"/>
              </a:rPr>
              <a:t>1. Gravity</a:t>
            </a:r>
            <a:r>
              <a:rPr lang="en-GB" sz="2000" dirty="0">
                <a:sym typeface="Wingdings" panose="05000000000000000000" pitchFamily="2" charset="2"/>
              </a:rPr>
              <a:t> moves material from uplifted areas (mountains, hinterlands) to low areas (sedimentary basins)</a:t>
            </a:r>
          </a:p>
          <a:p>
            <a:pPr lvl="1">
              <a:spcAft>
                <a:spcPts val="600"/>
              </a:spcAft>
            </a:pPr>
            <a:r>
              <a:rPr lang="en-GB" sz="2000" dirty="0">
                <a:sym typeface="Wingdings" panose="05000000000000000000" pitchFamily="2" charset="2"/>
              </a:rPr>
              <a:t>The movement of material under its own gravitational potential in areas of steep slope.</a:t>
            </a:r>
          </a:p>
          <a:p>
            <a:pPr marL="342900" indent="-342900">
              <a:spcAft>
                <a:spcPts val="600"/>
              </a:spcAft>
              <a:buFont typeface="Arial" panose="020B0604020202020204" pitchFamily="34" charset="0"/>
              <a:buChar char="•"/>
            </a:pPr>
            <a:endParaRPr lang="en-GB" sz="2000" dirty="0">
              <a:sym typeface="Wingdings" panose="05000000000000000000" pitchFamily="2" charset="2"/>
            </a:endParaRPr>
          </a:p>
          <a:p>
            <a:pPr>
              <a:spcAft>
                <a:spcPts val="600"/>
              </a:spcAft>
            </a:pPr>
            <a:r>
              <a:rPr lang="en-GB" sz="2000" b="1" u="sng" dirty="0">
                <a:sym typeface="Wingdings" panose="05000000000000000000" pitchFamily="2" charset="2"/>
              </a:rPr>
              <a:t>2. Fluid flow</a:t>
            </a:r>
            <a:r>
              <a:rPr lang="en-GB" sz="2000" b="1" dirty="0">
                <a:sym typeface="Wingdings" panose="05000000000000000000" pitchFamily="2" charset="2"/>
              </a:rPr>
              <a:t> </a:t>
            </a:r>
            <a:r>
              <a:rPr lang="en-GB" sz="2000" dirty="0">
                <a:sym typeface="Wingdings" panose="05000000000000000000" pitchFamily="2" charset="2"/>
              </a:rPr>
              <a:t>exerts shear stress which moves material from one place to the next</a:t>
            </a:r>
          </a:p>
          <a:p>
            <a:pPr lvl="1">
              <a:spcAft>
                <a:spcPts val="600"/>
              </a:spcAft>
            </a:pPr>
            <a:r>
              <a:rPr lang="en-GB" sz="2000" dirty="0">
                <a:sym typeface="Wingdings" panose="05000000000000000000" pitchFamily="2" charset="2"/>
              </a:rPr>
              <a:t>The flow of water in streams and rivers (fluvial processes), which entrains sediment (gravity driven)</a:t>
            </a:r>
          </a:p>
          <a:p>
            <a:pPr lvl="1">
              <a:spcAft>
                <a:spcPts val="600"/>
              </a:spcAft>
            </a:pPr>
            <a:r>
              <a:rPr lang="en-GB" sz="2000" dirty="0">
                <a:sym typeface="Wingdings" panose="05000000000000000000" pitchFamily="2" charset="2"/>
              </a:rPr>
              <a:t>The flow of ice (glacial processes), which entrains sediment</a:t>
            </a:r>
          </a:p>
          <a:p>
            <a:pPr lvl="1">
              <a:spcAft>
                <a:spcPts val="600"/>
              </a:spcAft>
            </a:pPr>
            <a:r>
              <a:rPr lang="en-GB" sz="2000" dirty="0">
                <a:sym typeface="Wingdings" panose="05000000000000000000" pitchFamily="2" charset="2"/>
              </a:rPr>
              <a:t>The flow of air (wind, or aeolian processes) which entrains sediment.</a:t>
            </a:r>
            <a:endParaRPr lang="en-GB" sz="2000" b="1" dirty="0"/>
          </a:p>
        </p:txBody>
      </p:sp>
      <p:sp>
        <p:nvSpPr>
          <p:cNvPr id="5" name="Rectangle 4">
            <a:extLst>
              <a:ext uri="{FF2B5EF4-FFF2-40B4-BE49-F238E27FC236}">
                <a16:creationId xmlns:a16="http://schemas.microsoft.com/office/drawing/2014/main" id="{4A49276D-EEEB-40C5-8FC4-83768DB537C4}"/>
              </a:ext>
            </a:extLst>
          </p:cNvPr>
          <p:cNvSpPr/>
          <p:nvPr/>
        </p:nvSpPr>
        <p:spPr>
          <a:xfrm>
            <a:off x="107504" y="5157192"/>
            <a:ext cx="8712968" cy="68363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4">
            <a:extLst>
              <a:ext uri="{FF2B5EF4-FFF2-40B4-BE49-F238E27FC236}">
                <a16:creationId xmlns:a16="http://schemas.microsoft.com/office/drawing/2014/main" id="{385C3F42-D76C-4FD7-A8DC-BEB9ACDFD7C4}"/>
              </a:ext>
            </a:extLst>
          </p:cNvPr>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Fluvial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186206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ixed bedload and suspended sediment.avi">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cstate="screen"/>
          <a:stretch>
            <a:fillRect/>
          </a:stretch>
        </p:blipFill>
        <p:spPr>
          <a:xfrm>
            <a:off x="963386" y="3501008"/>
            <a:ext cx="5460624" cy="3272929"/>
          </a:xfrm>
          <a:prstGeom prst="rect">
            <a:avLst/>
          </a:prstGeom>
        </p:spPr>
      </p:pic>
      <p:pic>
        <p:nvPicPr>
          <p:cNvPr id="8" name="Picture 2" descr="C:\Users\Berit\AppData\Local\Microsoft\Windows\Temporary Internet Files\Content.IE5\F0IB5FC6\MC900441498[1].png"/>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42376" y="6135074"/>
            <a:ext cx="676443" cy="676443"/>
          </a:xfrm>
          <a:prstGeom prst="rect">
            <a:avLst/>
          </a:prstGeom>
          <a:noFill/>
          <a:extLst>
            <a:ext uri="{909E8E84-426E-40DD-AFC4-6F175D3DCCD1}">
              <a14:hiddenFill xmlns:a14="http://schemas.microsoft.com/office/drawing/2010/main">
                <a:solidFill>
                  <a:srgbClr val="FFFFFF"/>
                </a:solidFill>
              </a14:hiddenFill>
            </a:ext>
          </a:extLst>
        </p:spPr>
      </p:pic>
      <p:sp>
        <p:nvSpPr>
          <p:cNvPr id="9" name="Right Brace 8"/>
          <p:cNvSpPr/>
          <p:nvPr/>
        </p:nvSpPr>
        <p:spPr>
          <a:xfrm>
            <a:off x="6513289" y="3611726"/>
            <a:ext cx="290959" cy="2427031"/>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0" name="Right Brace 9"/>
          <p:cNvSpPr/>
          <p:nvPr/>
        </p:nvSpPr>
        <p:spPr>
          <a:xfrm flipV="1">
            <a:off x="6516216" y="6038757"/>
            <a:ext cx="211472" cy="63438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1" name="TextBox 10"/>
          <p:cNvSpPr txBox="1"/>
          <p:nvPr/>
        </p:nvSpPr>
        <p:spPr>
          <a:xfrm>
            <a:off x="6993722" y="3811320"/>
            <a:ext cx="1702710" cy="369332"/>
          </a:xfrm>
          <a:prstGeom prst="rect">
            <a:avLst/>
          </a:prstGeom>
          <a:noFill/>
        </p:spPr>
        <p:txBody>
          <a:bodyPr wrap="none" rtlCol="0">
            <a:spAutoFit/>
          </a:bodyPr>
          <a:lstStyle/>
          <a:p>
            <a:r>
              <a:rPr lang="en-GB" b="1" dirty="0"/>
              <a:t>Suspended load</a:t>
            </a:r>
          </a:p>
        </p:txBody>
      </p:sp>
      <p:sp>
        <p:nvSpPr>
          <p:cNvPr id="12" name="TextBox 11"/>
          <p:cNvSpPr txBox="1"/>
          <p:nvPr/>
        </p:nvSpPr>
        <p:spPr>
          <a:xfrm>
            <a:off x="7248891" y="5573608"/>
            <a:ext cx="1023037" cy="369332"/>
          </a:xfrm>
          <a:prstGeom prst="rect">
            <a:avLst/>
          </a:prstGeom>
          <a:noFill/>
        </p:spPr>
        <p:txBody>
          <a:bodyPr wrap="none" rtlCol="0">
            <a:spAutoFit/>
          </a:bodyPr>
          <a:lstStyle/>
          <a:p>
            <a:r>
              <a:rPr lang="en-GB" b="1" dirty="0"/>
              <a:t>Bed load</a:t>
            </a:r>
          </a:p>
        </p:txBody>
      </p:sp>
      <p:sp>
        <p:nvSpPr>
          <p:cNvPr id="13" name="TextBox 12"/>
          <p:cNvSpPr txBox="1"/>
          <p:nvPr/>
        </p:nvSpPr>
        <p:spPr>
          <a:xfrm>
            <a:off x="6916155" y="5942940"/>
            <a:ext cx="2123728" cy="584775"/>
          </a:xfrm>
          <a:prstGeom prst="rect">
            <a:avLst/>
          </a:prstGeom>
          <a:solidFill>
            <a:schemeClr val="bg1"/>
          </a:solidFill>
        </p:spPr>
        <p:txBody>
          <a:bodyPr wrap="square" rtlCol="0">
            <a:spAutoFit/>
          </a:bodyPr>
          <a:lstStyle/>
          <a:p>
            <a:pPr marL="285750" indent="-285750">
              <a:buFont typeface="Symbol" pitchFamily="18" charset="2"/>
              <a:buChar char="Þ"/>
            </a:pPr>
            <a:r>
              <a:rPr lang="en-GB" sz="1600" dirty="0"/>
              <a:t>Large particles</a:t>
            </a:r>
          </a:p>
          <a:p>
            <a:pPr marL="285750" indent="-285750">
              <a:buFont typeface="Symbol" pitchFamily="18" charset="2"/>
              <a:buChar char="Þ"/>
            </a:pPr>
            <a:r>
              <a:rPr lang="en-GB" sz="1600" dirty="0"/>
              <a:t>Roll and bounce</a:t>
            </a:r>
          </a:p>
        </p:txBody>
      </p:sp>
      <p:sp>
        <p:nvSpPr>
          <p:cNvPr id="14" name="TextBox 13"/>
          <p:cNvSpPr txBox="1"/>
          <p:nvPr/>
        </p:nvSpPr>
        <p:spPr>
          <a:xfrm>
            <a:off x="6916154" y="4180652"/>
            <a:ext cx="2227845" cy="338554"/>
          </a:xfrm>
          <a:prstGeom prst="rect">
            <a:avLst/>
          </a:prstGeom>
          <a:solidFill>
            <a:schemeClr val="bg1"/>
          </a:solidFill>
        </p:spPr>
        <p:txBody>
          <a:bodyPr wrap="square" rtlCol="0">
            <a:spAutoFit/>
          </a:bodyPr>
          <a:lstStyle/>
          <a:p>
            <a:pPr marL="285750" indent="-285750">
              <a:buFont typeface="Symbol" pitchFamily="18" charset="2"/>
              <a:buChar char="Þ"/>
            </a:pPr>
            <a:r>
              <a:rPr lang="en-GB" sz="1600" dirty="0"/>
              <a:t>Small particles</a:t>
            </a:r>
          </a:p>
        </p:txBody>
      </p:sp>
      <p:sp>
        <p:nvSpPr>
          <p:cNvPr id="15" name="TextBox 14"/>
          <p:cNvSpPr txBox="1"/>
          <p:nvPr/>
        </p:nvSpPr>
        <p:spPr>
          <a:xfrm>
            <a:off x="2627784" y="4400239"/>
            <a:ext cx="791435" cy="369332"/>
          </a:xfrm>
          <a:prstGeom prst="rect">
            <a:avLst/>
          </a:prstGeom>
          <a:noFill/>
        </p:spPr>
        <p:txBody>
          <a:bodyPr wrap="none" rtlCol="0">
            <a:spAutoFit/>
          </a:bodyPr>
          <a:lstStyle/>
          <a:p>
            <a:r>
              <a:rPr lang="en-GB" b="1" dirty="0">
                <a:solidFill>
                  <a:schemeClr val="bg1"/>
                </a:solidFill>
              </a:rPr>
              <a:t>VIDEO</a:t>
            </a:r>
          </a:p>
        </p:txBody>
      </p:sp>
      <p:sp>
        <p:nvSpPr>
          <p:cNvPr id="16" name="TextBox 15"/>
          <p:cNvSpPr txBox="1"/>
          <p:nvPr/>
        </p:nvSpPr>
        <p:spPr>
          <a:xfrm>
            <a:off x="179512" y="1103347"/>
            <a:ext cx="8730447" cy="2323713"/>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As with weathering, water is the most important agent of erosion.</a:t>
            </a:r>
          </a:p>
          <a:p>
            <a:pPr marL="342900" indent="-342900">
              <a:spcAft>
                <a:spcPts val="600"/>
              </a:spcAft>
              <a:buFont typeface="Arial" panose="020B0604020202020204" pitchFamily="34" charset="0"/>
              <a:buChar char="•"/>
            </a:pPr>
            <a:r>
              <a:rPr lang="en-GB" sz="2000" b="1" dirty="0"/>
              <a:t>Rainfall, when it lands on the soil, flows downslope. </a:t>
            </a:r>
          </a:p>
          <a:p>
            <a:pPr marL="342900" indent="-342900">
              <a:spcAft>
                <a:spcPts val="600"/>
              </a:spcAft>
              <a:buFont typeface="Arial" panose="020B0604020202020204" pitchFamily="34" charset="0"/>
              <a:buChar char="•"/>
            </a:pPr>
            <a:r>
              <a:rPr lang="en-GB" sz="2000" b="1" dirty="0"/>
              <a:t>Because water has viscosity, it can impart a shear stress on particles, and</a:t>
            </a:r>
          </a:p>
          <a:p>
            <a:pPr lvl="1">
              <a:spcAft>
                <a:spcPts val="600"/>
              </a:spcAft>
            </a:pPr>
            <a:r>
              <a:rPr lang="en-GB" sz="2000" dirty="0">
                <a:sym typeface="Wingdings" panose="05000000000000000000" pitchFamily="2" charset="2"/>
              </a:rPr>
              <a:t>move grains as bedload</a:t>
            </a:r>
          </a:p>
          <a:p>
            <a:pPr lvl="1">
              <a:spcAft>
                <a:spcPts val="600"/>
              </a:spcAft>
            </a:pPr>
            <a:r>
              <a:rPr lang="en-GB" sz="2000" dirty="0">
                <a:sym typeface="Wingdings" panose="05000000000000000000" pitchFamily="2" charset="2"/>
              </a:rPr>
              <a:t>move grains as suspended load,</a:t>
            </a:r>
          </a:p>
          <a:p>
            <a:pPr lvl="1">
              <a:spcAft>
                <a:spcPts val="600"/>
              </a:spcAft>
            </a:pPr>
            <a:r>
              <a:rPr lang="en-GB" sz="2000" dirty="0">
                <a:sym typeface="Wingdings" panose="05000000000000000000" pitchFamily="2" charset="2"/>
              </a:rPr>
              <a:t>and as the universal solvent, dissolve and transport solute minerals.</a:t>
            </a:r>
          </a:p>
        </p:txBody>
      </p:sp>
      <p:sp>
        <p:nvSpPr>
          <p:cNvPr id="17"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Fluvial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3745583092"/>
      </p:ext>
    </p:extLst>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037938" y="1268760"/>
            <a:ext cx="4579801" cy="3773125"/>
            <a:chOff x="460375" y="1733075"/>
            <a:chExt cx="4579800" cy="3773125"/>
          </a:xfrm>
        </p:grpSpPr>
        <p:pic>
          <p:nvPicPr>
            <p:cNvPr id="9" name="Picture 8" descr="riversys1.jpg (40693 bytes)"/>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4602" r="4318"/>
            <a:stretch/>
          </p:blipFill>
          <p:spPr bwMode="auto">
            <a:xfrm>
              <a:off x="631726" y="1733075"/>
              <a:ext cx="4408449" cy="3773125"/>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p:cNvCxnSpPr/>
            <p:nvPr/>
          </p:nvCxnSpPr>
          <p:spPr>
            <a:xfrm flipH="1">
              <a:off x="460375" y="2031112"/>
              <a:ext cx="1817960" cy="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460375" y="4106808"/>
              <a:ext cx="1817960" cy="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460375" y="4849190"/>
              <a:ext cx="1817960" cy="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460375" y="5013176"/>
              <a:ext cx="799257" cy="493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p:nvSpPr>
          <p:spPr>
            <a:xfrm>
              <a:off x="1454470" y="5115576"/>
              <a:ext cx="422256" cy="720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 name="TextBox 5"/>
          <p:cNvSpPr txBox="1"/>
          <p:nvPr/>
        </p:nvSpPr>
        <p:spPr>
          <a:xfrm>
            <a:off x="179512" y="1653389"/>
            <a:ext cx="1522596" cy="646331"/>
          </a:xfrm>
          <a:prstGeom prst="rect">
            <a:avLst/>
          </a:prstGeom>
          <a:solidFill>
            <a:schemeClr val="bg1"/>
          </a:solidFill>
        </p:spPr>
        <p:txBody>
          <a:bodyPr wrap="none" rtlCol="0">
            <a:spAutoFit/>
          </a:bodyPr>
          <a:lstStyle/>
          <a:p>
            <a:r>
              <a:rPr lang="en-GB" dirty="0" err="1"/>
              <a:t>Tributive</a:t>
            </a:r>
            <a:r>
              <a:rPr lang="en-GB" dirty="0"/>
              <a:t> Zone</a:t>
            </a:r>
          </a:p>
          <a:p>
            <a:r>
              <a:rPr lang="en-GB" dirty="0">
                <a:sym typeface="Wingdings" panose="05000000000000000000" pitchFamily="2" charset="2"/>
              </a:rPr>
              <a:t> </a:t>
            </a:r>
            <a:r>
              <a:rPr lang="en-GB" dirty="0"/>
              <a:t>erosion</a:t>
            </a:r>
          </a:p>
        </p:txBody>
      </p:sp>
      <p:sp>
        <p:nvSpPr>
          <p:cNvPr id="7" name="TextBox 6"/>
          <p:cNvSpPr txBox="1"/>
          <p:nvPr/>
        </p:nvSpPr>
        <p:spPr>
          <a:xfrm>
            <a:off x="296300" y="3880012"/>
            <a:ext cx="1404938" cy="369332"/>
          </a:xfrm>
          <a:prstGeom prst="rect">
            <a:avLst/>
          </a:prstGeom>
          <a:solidFill>
            <a:schemeClr val="bg1"/>
          </a:solidFill>
        </p:spPr>
        <p:txBody>
          <a:bodyPr wrap="none" rtlCol="0">
            <a:spAutoFit/>
          </a:bodyPr>
          <a:lstStyle/>
          <a:p>
            <a:r>
              <a:rPr lang="en-GB" dirty="0"/>
              <a:t>Intermediate</a:t>
            </a:r>
          </a:p>
        </p:txBody>
      </p:sp>
      <p:sp>
        <p:nvSpPr>
          <p:cNvPr id="8" name="TextBox 7"/>
          <p:cNvSpPr txBox="1"/>
          <p:nvPr/>
        </p:nvSpPr>
        <p:spPr>
          <a:xfrm>
            <a:off x="236931" y="4548861"/>
            <a:ext cx="1407758" cy="646331"/>
          </a:xfrm>
          <a:prstGeom prst="rect">
            <a:avLst/>
          </a:prstGeom>
          <a:solidFill>
            <a:schemeClr val="bg1"/>
          </a:solidFill>
        </p:spPr>
        <p:txBody>
          <a:bodyPr wrap="none" rtlCol="0">
            <a:spAutoFit/>
          </a:bodyPr>
          <a:lstStyle/>
          <a:p>
            <a:r>
              <a:rPr lang="en-GB" dirty="0"/>
              <a:t>Distributive</a:t>
            </a:r>
          </a:p>
          <a:p>
            <a:r>
              <a:rPr lang="en-GB" dirty="0">
                <a:sym typeface="Wingdings" panose="05000000000000000000" pitchFamily="2" charset="2"/>
              </a:rPr>
              <a:t>deposition</a:t>
            </a:r>
            <a:endParaRPr lang="en-GB" dirty="0"/>
          </a:p>
        </p:txBody>
      </p:sp>
      <p:pic>
        <p:nvPicPr>
          <p:cNvPr id="15" name="Picture 6" descr="http://riverrestoration.wikispaces.com/file/view/4_streams.png/327540294/4_streams.png"/>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4745521" y="3880012"/>
            <a:ext cx="4339718" cy="2789348"/>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3"/>
          <p:cNvSpPr txBox="1">
            <a:spLocks noChangeArrowheads="1"/>
          </p:cNvSpPr>
          <p:nvPr/>
        </p:nvSpPr>
        <p:spPr>
          <a:xfrm>
            <a:off x="5802836" y="1656306"/>
            <a:ext cx="3168352" cy="12241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b="1" dirty="0"/>
              <a:t>As water flows down slope, rivulets and streams join together.</a:t>
            </a:r>
          </a:p>
        </p:txBody>
      </p:sp>
      <p:sp>
        <p:nvSpPr>
          <p:cNvPr id="18"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Fluvial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19" name="Rectangle 3"/>
          <p:cNvSpPr txBox="1">
            <a:spLocks noChangeArrowheads="1"/>
          </p:cNvSpPr>
          <p:nvPr/>
        </p:nvSpPr>
        <p:spPr>
          <a:xfrm>
            <a:off x="100395" y="5445224"/>
            <a:ext cx="4399597" cy="129614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b="1" dirty="0"/>
              <a:t>River systems that are eroding have a characteristic “</a:t>
            </a:r>
            <a:r>
              <a:rPr lang="en-US" sz="2000" b="1" dirty="0" err="1"/>
              <a:t>tributive</a:t>
            </a:r>
            <a:r>
              <a:rPr lang="en-US" sz="2000" b="1" dirty="0"/>
              <a:t>” plan view, which contrasts with the lower depositional reaches of the system.</a:t>
            </a:r>
            <a:endParaRPr lang="en-US" sz="2000" dirty="0"/>
          </a:p>
        </p:txBody>
      </p:sp>
    </p:spTree>
    <p:extLst>
      <p:ext uri="{BB962C8B-B14F-4D97-AF65-F5344CB8AC3E}">
        <p14:creationId xmlns:p14="http://schemas.microsoft.com/office/powerpoint/2010/main" val="34851410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Fluvial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pic>
        <p:nvPicPr>
          <p:cNvPr id="22530" name="Picture 2" descr="Image result for interlocking spurs rainforest"/>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82757" y="3149965"/>
            <a:ext cx="7634548" cy="353889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txBox="1">
            <a:spLocks noChangeArrowheads="1"/>
          </p:cNvSpPr>
          <p:nvPr/>
        </p:nvSpPr>
        <p:spPr>
          <a:xfrm>
            <a:off x="179512" y="1106795"/>
            <a:ext cx="8576911" cy="129614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b="1" dirty="0"/>
              <a:t>Through erosion, rivers incise the uplifted land to form valleys.</a:t>
            </a:r>
          </a:p>
          <a:p>
            <a:r>
              <a:rPr lang="en-US" sz="2000" b="1" dirty="0"/>
              <a:t>Where (1) rocks are soft and (2) weathering (regolith development) rates are high, the steepened valley walls fail, via hillslope processes, in order to achieve at-equilibrium slopes.</a:t>
            </a:r>
          </a:p>
          <a:p>
            <a:r>
              <a:rPr lang="en-US" sz="2000" b="1" dirty="0"/>
              <a:t>Associated hillslope process: slumps and debris flows.</a:t>
            </a:r>
          </a:p>
          <a:p>
            <a:r>
              <a:rPr lang="en-US" sz="2000" b="1" dirty="0"/>
              <a:t>This leads to the characteristic </a:t>
            </a:r>
            <a:r>
              <a:rPr lang="en-US" sz="2000" b="1" dirty="0" err="1"/>
              <a:t>v-shape</a:t>
            </a:r>
            <a:r>
              <a:rPr lang="en-US" sz="2000" b="1" dirty="0"/>
              <a:t> profile of fluvial environments. </a:t>
            </a:r>
            <a:endParaRPr lang="en-US" sz="2000" dirty="0"/>
          </a:p>
        </p:txBody>
      </p:sp>
      <p:grpSp>
        <p:nvGrpSpPr>
          <p:cNvPr id="22" name="Group 21"/>
          <p:cNvGrpSpPr/>
          <p:nvPr/>
        </p:nvGrpSpPr>
        <p:grpSpPr>
          <a:xfrm>
            <a:off x="792106" y="3284984"/>
            <a:ext cx="6490919" cy="1800200"/>
            <a:chOff x="792106" y="3284984"/>
            <a:chExt cx="6490919" cy="1800200"/>
          </a:xfrm>
        </p:grpSpPr>
        <p:cxnSp>
          <p:nvCxnSpPr>
            <p:cNvPr id="11" name="Straight Connector 10"/>
            <p:cNvCxnSpPr/>
            <p:nvPr/>
          </p:nvCxnSpPr>
          <p:spPr>
            <a:xfrm>
              <a:off x="899592" y="3284984"/>
              <a:ext cx="2664296" cy="180020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2987824" y="3645024"/>
              <a:ext cx="1440160" cy="936104"/>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rot="1962654">
              <a:off x="792106" y="4000418"/>
              <a:ext cx="2115579" cy="369332"/>
            </a:xfrm>
            <a:prstGeom prst="rect">
              <a:avLst/>
            </a:prstGeom>
            <a:noFill/>
          </p:spPr>
          <p:txBody>
            <a:bodyPr wrap="none" rtlCol="0">
              <a:spAutoFit/>
            </a:bodyPr>
            <a:lstStyle/>
            <a:p>
              <a:r>
                <a:rPr lang="en-GB" b="1" dirty="0">
                  <a:solidFill>
                    <a:srgbClr val="FFFF00"/>
                  </a:solidFill>
                </a:rPr>
                <a:t>At equilibrium slope</a:t>
              </a:r>
            </a:p>
          </p:txBody>
        </p:sp>
        <p:sp>
          <p:nvSpPr>
            <p:cNvPr id="17" name="TextBox 16"/>
            <p:cNvSpPr txBox="1"/>
            <p:nvPr/>
          </p:nvSpPr>
          <p:spPr>
            <a:xfrm rot="19574353">
              <a:off x="2888746" y="4008966"/>
              <a:ext cx="2115579" cy="369332"/>
            </a:xfrm>
            <a:prstGeom prst="rect">
              <a:avLst/>
            </a:prstGeom>
            <a:noFill/>
          </p:spPr>
          <p:txBody>
            <a:bodyPr wrap="none" rtlCol="0">
              <a:spAutoFit/>
            </a:bodyPr>
            <a:lstStyle/>
            <a:p>
              <a:r>
                <a:rPr lang="en-GB" b="1" dirty="0">
                  <a:solidFill>
                    <a:srgbClr val="FFFF00"/>
                  </a:solidFill>
                </a:rPr>
                <a:t>At equilibrium slope</a:t>
              </a:r>
            </a:p>
          </p:txBody>
        </p:sp>
        <p:sp>
          <p:nvSpPr>
            <p:cNvPr id="19" name="TextBox 18"/>
            <p:cNvSpPr txBox="1"/>
            <p:nvPr/>
          </p:nvSpPr>
          <p:spPr>
            <a:xfrm>
              <a:off x="6228184" y="4396462"/>
              <a:ext cx="1054841" cy="369332"/>
            </a:xfrm>
            <a:prstGeom prst="rect">
              <a:avLst/>
            </a:prstGeom>
            <a:noFill/>
          </p:spPr>
          <p:txBody>
            <a:bodyPr wrap="none" rtlCol="0">
              <a:spAutoFit/>
            </a:bodyPr>
            <a:lstStyle/>
            <a:p>
              <a:r>
                <a:rPr lang="en-GB" b="1" dirty="0">
                  <a:solidFill>
                    <a:srgbClr val="FFFF00"/>
                  </a:solidFill>
                </a:rPr>
                <a:t>Tributary</a:t>
              </a:r>
            </a:p>
          </p:txBody>
        </p:sp>
        <p:cxnSp>
          <p:nvCxnSpPr>
            <p:cNvPr id="20" name="Straight Arrow Connector 19"/>
            <p:cNvCxnSpPr/>
            <p:nvPr/>
          </p:nvCxnSpPr>
          <p:spPr>
            <a:xfrm flipH="1" flipV="1">
              <a:off x="5724128" y="4293096"/>
              <a:ext cx="504056" cy="288032"/>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grpSp>
      <p:sp>
        <p:nvSpPr>
          <p:cNvPr id="23" name="TextBox 22"/>
          <p:cNvSpPr txBox="1"/>
          <p:nvPr/>
        </p:nvSpPr>
        <p:spPr>
          <a:xfrm>
            <a:off x="6372200" y="5085184"/>
            <a:ext cx="2549160" cy="1631216"/>
          </a:xfrm>
          <a:prstGeom prst="rect">
            <a:avLst/>
          </a:prstGeom>
          <a:solidFill>
            <a:schemeClr val="bg1"/>
          </a:solidFill>
          <a:ln w="57150">
            <a:solidFill>
              <a:schemeClr val="tx1"/>
            </a:solidFill>
          </a:ln>
        </p:spPr>
        <p:txBody>
          <a:bodyPr wrap="square" rtlCol="0">
            <a:spAutoFit/>
          </a:bodyPr>
          <a:lstStyle/>
          <a:p>
            <a:pPr>
              <a:spcAft>
                <a:spcPts val="600"/>
              </a:spcAft>
            </a:pPr>
            <a:r>
              <a:rPr lang="en-GB" sz="2000" dirty="0">
                <a:sym typeface="Wingdings" panose="05000000000000000000" pitchFamily="2" charset="2"/>
              </a:rPr>
              <a:t>In this example from Madagascar, a warm wet climate promotes weathering and failure of the slopes</a:t>
            </a:r>
            <a:endParaRPr lang="en-GB" sz="2000" b="1" dirty="0"/>
          </a:p>
        </p:txBody>
      </p:sp>
    </p:spTree>
    <p:extLst>
      <p:ext uri="{BB962C8B-B14F-4D97-AF65-F5344CB8AC3E}">
        <p14:creationId xmlns:p14="http://schemas.microsoft.com/office/powerpoint/2010/main" val="6188737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Image result for badlands spain"/>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67544" y="1264438"/>
            <a:ext cx="8208912" cy="54569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001039" y="3859088"/>
            <a:ext cx="3024336" cy="2862322"/>
          </a:xfrm>
          <a:prstGeom prst="rect">
            <a:avLst/>
          </a:prstGeom>
          <a:solidFill>
            <a:schemeClr val="bg1"/>
          </a:solidFill>
          <a:ln w="57150">
            <a:solidFill>
              <a:schemeClr val="tx1"/>
            </a:solidFill>
          </a:ln>
        </p:spPr>
        <p:txBody>
          <a:bodyPr wrap="square" rtlCol="0">
            <a:spAutoFit/>
          </a:bodyPr>
          <a:lstStyle/>
          <a:p>
            <a:pPr>
              <a:spcAft>
                <a:spcPts val="600"/>
              </a:spcAft>
            </a:pPr>
            <a:r>
              <a:rPr lang="en-GB" sz="2000" dirty="0">
                <a:sym typeface="Wingdings" panose="05000000000000000000" pitchFamily="2" charset="2"/>
              </a:rPr>
              <a:t>In this example from </a:t>
            </a:r>
            <a:r>
              <a:rPr lang="en-GB" sz="2000" dirty="0" err="1">
                <a:sym typeface="Wingdings" panose="05000000000000000000" pitchFamily="2" charset="2"/>
              </a:rPr>
              <a:t>Tabernas</a:t>
            </a:r>
            <a:r>
              <a:rPr lang="en-GB" sz="2000" dirty="0">
                <a:sym typeface="Wingdings" panose="05000000000000000000" pitchFamily="2" charset="2"/>
              </a:rPr>
              <a:t>, Spain, weathering rates are low. But, the rock is very soft, and low vegetation (</a:t>
            </a:r>
            <a:r>
              <a:rPr lang="en-GB" sz="2000">
                <a:sym typeface="Wingdings" panose="05000000000000000000" pitchFamily="2" charset="2"/>
              </a:rPr>
              <a:t>whose roots can bind </a:t>
            </a:r>
            <a:r>
              <a:rPr lang="en-GB" sz="2000" dirty="0" err="1">
                <a:sym typeface="Wingdings" panose="05000000000000000000" pitchFamily="2" charset="2"/>
              </a:rPr>
              <a:t>regolith</a:t>
            </a:r>
            <a:r>
              <a:rPr lang="en-GB" sz="2000" dirty="0">
                <a:sym typeface="Wingdings" panose="05000000000000000000" pitchFamily="2" charset="2"/>
              </a:rPr>
              <a:t> together) promotes failure of the slopes: </a:t>
            </a:r>
            <a:r>
              <a:rPr lang="en-GB" sz="2000" dirty="0" err="1">
                <a:sym typeface="Wingdings" panose="05000000000000000000" pitchFamily="2" charset="2"/>
              </a:rPr>
              <a:t>Badland</a:t>
            </a:r>
            <a:r>
              <a:rPr lang="en-GB" sz="2000" dirty="0">
                <a:sym typeface="Wingdings" panose="05000000000000000000" pitchFamily="2" charset="2"/>
              </a:rPr>
              <a:t> geomorphology.</a:t>
            </a:r>
            <a:endParaRPr lang="en-GB" sz="2000" b="1" dirty="0"/>
          </a:p>
        </p:txBody>
      </p:sp>
      <p:cxnSp>
        <p:nvCxnSpPr>
          <p:cNvPr id="8" name="Straight Connector 7"/>
          <p:cNvCxnSpPr/>
          <p:nvPr/>
        </p:nvCxnSpPr>
        <p:spPr>
          <a:xfrm>
            <a:off x="2123728" y="3356992"/>
            <a:ext cx="2088232" cy="1426779"/>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3563888" y="3056820"/>
            <a:ext cx="1224136" cy="1013562"/>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rot="1962654">
            <a:off x="1623718" y="3899336"/>
            <a:ext cx="2115579" cy="369332"/>
          </a:xfrm>
          <a:prstGeom prst="rect">
            <a:avLst/>
          </a:prstGeom>
          <a:noFill/>
        </p:spPr>
        <p:txBody>
          <a:bodyPr wrap="none" rtlCol="0">
            <a:spAutoFit/>
          </a:bodyPr>
          <a:lstStyle/>
          <a:p>
            <a:r>
              <a:rPr lang="en-GB" b="1" dirty="0">
                <a:solidFill>
                  <a:srgbClr val="FFFF00"/>
                </a:solidFill>
              </a:rPr>
              <a:t>At equilibrium slope</a:t>
            </a:r>
          </a:p>
        </p:txBody>
      </p:sp>
      <p:sp>
        <p:nvSpPr>
          <p:cNvPr id="11" name="TextBox 10"/>
          <p:cNvSpPr txBox="1"/>
          <p:nvPr/>
        </p:nvSpPr>
        <p:spPr>
          <a:xfrm rot="19356420">
            <a:off x="3118166" y="3113662"/>
            <a:ext cx="2115579" cy="369332"/>
          </a:xfrm>
          <a:prstGeom prst="rect">
            <a:avLst/>
          </a:prstGeom>
          <a:noFill/>
        </p:spPr>
        <p:txBody>
          <a:bodyPr wrap="none" rtlCol="0">
            <a:spAutoFit/>
          </a:bodyPr>
          <a:lstStyle/>
          <a:p>
            <a:r>
              <a:rPr lang="en-GB" b="1" dirty="0">
                <a:solidFill>
                  <a:srgbClr val="FFFF00"/>
                </a:solidFill>
              </a:rPr>
              <a:t>At equilibrium slope</a:t>
            </a:r>
          </a:p>
        </p:txBody>
      </p:sp>
      <p:sp>
        <p:nvSpPr>
          <p:cNvPr id="12" name="TextBox 11"/>
          <p:cNvSpPr txBox="1"/>
          <p:nvPr/>
        </p:nvSpPr>
        <p:spPr>
          <a:xfrm>
            <a:off x="5652120" y="2164214"/>
            <a:ext cx="1054841" cy="369332"/>
          </a:xfrm>
          <a:prstGeom prst="rect">
            <a:avLst/>
          </a:prstGeom>
          <a:noFill/>
        </p:spPr>
        <p:txBody>
          <a:bodyPr wrap="none" rtlCol="0">
            <a:spAutoFit/>
          </a:bodyPr>
          <a:lstStyle/>
          <a:p>
            <a:r>
              <a:rPr lang="en-GB" b="1" dirty="0">
                <a:solidFill>
                  <a:srgbClr val="FFFF00"/>
                </a:solidFill>
              </a:rPr>
              <a:t>Tributary</a:t>
            </a:r>
          </a:p>
        </p:txBody>
      </p:sp>
      <p:cxnSp>
        <p:nvCxnSpPr>
          <p:cNvPr id="13" name="Straight Arrow Connector 12"/>
          <p:cNvCxnSpPr/>
          <p:nvPr/>
        </p:nvCxnSpPr>
        <p:spPr>
          <a:xfrm flipH="1">
            <a:off x="5043638" y="2348880"/>
            <a:ext cx="504056" cy="232866"/>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18"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Fluvial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18667518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Fluvial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6" name="Rectangle 3"/>
          <p:cNvSpPr txBox="1">
            <a:spLocks noChangeArrowheads="1"/>
          </p:cNvSpPr>
          <p:nvPr/>
        </p:nvSpPr>
        <p:spPr>
          <a:xfrm>
            <a:off x="243560" y="1197093"/>
            <a:ext cx="8576911" cy="129614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b="1" dirty="0"/>
              <a:t>Where (1) rocks are hard and (2) weathering (regolith development) rates are low, the steepened valley walls do not fail, and the valley walls remain steep, as the river carves ever more deeply. </a:t>
            </a:r>
          </a:p>
          <a:p>
            <a:r>
              <a:rPr lang="en-US" sz="2000" b="1" dirty="0"/>
              <a:t>This leads to the formation of canyon and gorge geomorphology.</a:t>
            </a:r>
          </a:p>
          <a:p>
            <a:r>
              <a:rPr lang="en-US" sz="2000" b="1" dirty="0"/>
              <a:t>Associated hillslope process: “falls”</a:t>
            </a:r>
            <a:endParaRPr lang="en-US" sz="2000" dirty="0"/>
          </a:p>
        </p:txBody>
      </p:sp>
      <p:pic>
        <p:nvPicPr>
          <p:cNvPr id="27650" name="Picture 2" descr="Image result for grand canyon"/>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23528" y="2996952"/>
            <a:ext cx="6337999" cy="3565124"/>
          </a:xfrm>
          <a:prstGeom prst="rect">
            <a:avLst/>
          </a:prstGeom>
          <a:noFill/>
          <a:extLst>
            <a:ext uri="{909E8E84-426E-40DD-AFC4-6F175D3DCCD1}">
              <a14:hiddenFill xmlns:a14="http://schemas.microsoft.com/office/drawing/2010/main">
                <a:solidFill>
                  <a:srgbClr val="FFFFFF"/>
                </a:solidFill>
              </a14:hiddenFill>
            </a:ext>
          </a:extLst>
        </p:spPr>
      </p:pic>
      <p:pic>
        <p:nvPicPr>
          <p:cNvPr id="27652" name="Picture 4" descr="Image result for slot gorge"/>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04048" y="2780928"/>
            <a:ext cx="4256741" cy="3077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816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Fluvial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pic>
        <p:nvPicPr>
          <p:cNvPr id="28674" name="Picture 2" descr="http://www.scienceclarified.com/landforms/images/ueol_03_img0108.jp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345560" y="1556792"/>
            <a:ext cx="4631554" cy="518457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txBox="1">
            <a:spLocks noChangeArrowheads="1"/>
          </p:cNvSpPr>
          <p:nvPr/>
        </p:nvSpPr>
        <p:spPr>
          <a:xfrm>
            <a:off x="179512" y="1340768"/>
            <a:ext cx="4032448" cy="511256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b="1" dirty="0"/>
              <a:t>Following the establishment of a fluvial erosional system, if erosion&gt;uplift, it will “denude” the landscape</a:t>
            </a:r>
          </a:p>
          <a:p>
            <a:r>
              <a:rPr lang="en-US" sz="2000" b="1" dirty="0"/>
              <a:t>Leading to landscape evolution.</a:t>
            </a:r>
          </a:p>
          <a:p>
            <a:endParaRPr lang="en-US" sz="2000" b="1" dirty="0">
              <a:sym typeface="Wingdings" panose="05000000000000000000" pitchFamily="2" charset="2"/>
            </a:endParaRPr>
          </a:p>
          <a:p>
            <a:pPr marL="0" indent="0">
              <a:buNone/>
            </a:pPr>
            <a:r>
              <a:rPr lang="en-US" sz="2000" b="1" dirty="0">
                <a:sym typeface="Wingdings" panose="05000000000000000000" pitchFamily="2" charset="2"/>
              </a:rPr>
              <a:t>1. After uplift, newly established, “young” rivers have</a:t>
            </a:r>
          </a:p>
          <a:p>
            <a:pPr>
              <a:buFont typeface="Wingdings" pitchFamily="2" charset="2"/>
              <a:buChar char="à"/>
            </a:pPr>
            <a:r>
              <a:rPr lang="en-US" sz="2000" dirty="0">
                <a:sym typeface="Wingdings" panose="05000000000000000000" pitchFamily="2" charset="2"/>
              </a:rPr>
              <a:t>Steep gradients (high elevation)</a:t>
            </a:r>
          </a:p>
          <a:p>
            <a:pPr>
              <a:buFont typeface="Wingdings" pitchFamily="2" charset="2"/>
              <a:buChar char="à"/>
            </a:pPr>
            <a:r>
              <a:rPr lang="en-US" sz="2000" dirty="0">
                <a:sym typeface="Wingdings" panose="05000000000000000000" pitchFamily="2" charset="2"/>
              </a:rPr>
              <a:t>The river mainly erodes by </a:t>
            </a:r>
            <a:r>
              <a:rPr lang="en-US" sz="2000" dirty="0" err="1">
                <a:sym typeface="Wingdings" panose="05000000000000000000" pitchFamily="2" charset="2"/>
              </a:rPr>
              <a:t>downcutting</a:t>
            </a:r>
            <a:r>
              <a:rPr lang="en-US" sz="2000" dirty="0">
                <a:sym typeface="Wingdings" panose="05000000000000000000" pitchFamily="2" charset="2"/>
              </a:rPr>
              <a:t> and </a:t>
            </a:r>
            <a:r>
              <a:rPr lang="en-US" sz="2000" dirty="0" err="1">
                <a:sym typeface="Wingdings" panose="05000000000000000000" pitchFamily="2" charset="2"/>
              </a:rPr>
              <a:t>headward</a:t>
            </a:r>
            <a:r>
              <a:rPr lang="en-US" sz="2000" dirty="0">
                <a:sym typeface="Wingdings" panose="05000000000000000000" pitchFamily="2" charset="2"/>
              </a:rPr>
              <a:t> erosion (</a:t>
            </a:r>
            <a:r>
              <a:rPr lang="en-US" sz="2000" dirty="0" err="1">
                <a:sym typeface="Wingdings" panose="05000000000000000000" pitchFamily="2" charset="2"/>
              </a:rPr>
              <a:t>nickpoints</a:t>
            </a:r>
            <a:r>
              <a:rPr lang="en-US" sz="2000" dirty="0">
                <a:sym typeface="Wingdings" panose="05000000000000000000" pitchFamily="2" charset="2"/>
              </a:rPr>
              <a:t>)</a:t>
            </a:r>
          </a:p>
          <a:p>
            <a:pPr>
              <a:buFont typeface="Wingdings" pitchFamily="2" charset="2"/>
              <a:buChar char="à"/>
            </a:pPr>
            <a:r>
              <a:rPr lang="en-US" sz="2000" dirty="0">
                <a:sym typeface="Wingdings" panose="05000000000000000000" pitchFamily="2" charset="2"/>
              </a:rPr>
              <a:t>The divides between rivers are broad, and </a:t>
            </a:r>
            <a:r>
              <a:rPr lang="en-US" sz="2000" dirty="0" err="1">
                <a:sym typeface="Wingdings" panose="05000000000000000000" pitchFamily="2" charset="2"/>
              </a:rPr>
              <a:t>undisected</a:t>
            </a:r>
            <a:r>
              <a:rPr lang="en-US" sz="2000" dirty="0">
                <a:sym typeface="Wingdings" panose="05000000000000000000" pitchFamily="2" charset="2"/>
              </a:rPr>
              <a:t>, because tributaries have had little time to form.</a:t>
            </a:r>
          </a:p>
        </p:txBody>
      </p:sp>
      <p:sp>
        <p:nvSpPr>
          <p:cNvPr id="7" name="Rectangle 6"/>
          <p:cNvSpPr/>
          <p:nvPr/>
        </p:nvSpPr>
        <p:spPr>
          <a:xfrm>
            <a:off x="4427984" y="1579662"/>
            <a:ext cx="3096344" cy="2209378"/>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183760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Image result for yellowstone river waterfall"/>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9762" y="1052737"/>
            <a:ext cx="9088742" cy="58052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444208" y="5949280"/>
            <a:ext cx="2549160" cy="707886"/>
          </a:xfrm>
          <a:prstGeom prst="rect">
            <a:avLst/>
          </a:prstGeom>
          <a:solidFill>
            <a:schemeClr val="bg1"/>
          </a:solidFill>
          <a:ln w="57150">
            <a:solidFill>
              <a:schemeClr val="tx1"/>
            </a:solidFill>
          </a:ln>
        </p:spPr>
        <p:txBody>
          <a:bodyPr wrap="square" rtlCol="0">
            <a:spAutoFit/>
          </a:bodyPr>
          <a:lstStyle/>
          <a:p>
            <a:pPr>
              <a:spcAft>
                <a:spcPts val="600"/>
              </a:spcAft>
            </a:pPr>
            <a:r>
              <a:rPr lang="en-GB" sz="2000" b="1" dirty="0">
                <a:sym typeface="Wingdings" panose="05000000000000000000" pitchFamily="2" charset="2"/>
              </a:rPr>
              <a:t>The Yellowstone river is a young system.</a:t>
            </a:r>
            <a:endParaRPr lang="en-GB" sz="2000" b="1" dirty="0"/>
          </a:p>
        </p:txBody>
      </p:sp>
      <p:sp>
        <p:nvSpPr>
          <p:cNvPr id="6" name="TextBox 5"/>
          <p:cNvSpPr txBox="1"/>
          <p:nvPr/>
        </p:nvSpPr>
        <p:spPr>
          <a:xfrm>
            <a:off x="1547663" y="1187460"/>
            <a:ext cx="2880321" cy="369332"/>
          </a:xfrm>
          <a:prstGeom prst="rect">
            <a:avLst/>
          </a:prstGeom>
          <a:solidFill>
            <a:schemeClr val="bg1"/>
          </a:solidFill>
        </p:spPr>
        <p:txBody>
          <a:bodyPr wrap="square" rtlCol="0">
            <a:spAutoFit/>
          </a:bodyPr>
          <a:lstStyle/>
          <a:p>
            <a:r>
              <a:rPr lang="en-GB" b="1" dirty="0"/>
              <a:t>Broad, </a:t>
            </a:r>
            <a:r>
              <a:rPr lang="en-GB" b="1" dirty="0" err="1"/>
              <a:t>undisected</a:t>
            </a:r>
            <a:r>
              <a:rPr lang="en-GB" b="1" dirty="0"/>
              <a:t> interfluve</a:t>
            </a:r>
          </a:p>
        </p:txBody>
      </p:sp>
      <p:cxnSp>
        <p:nvCxnSpPr>
          <p:cNvPr id="7" name="Straight Arrow Connector 6"/>
          <p:cNvCxnSpPr/>
          <p:nvPr/>
        </p:nvCxnSpPr>
        <p:spPr>
          <a:xfrm flipH="1">
            <a:off x="939181" y="1556792"/>
            <a:ext cx="504056" cy="432048"/>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707904" y="5517232"/>
            <a:ext cx="0" cy="785991"/>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065706" y="5013176"/>
            <a:ext cx="1512169" cy="369332"/>
          </a:xfrm>
          <a:prstGeom prst="rect">
            <a:avLst/>
          </a:prstGeom>
          <a:solidFill>
            <a:schemeClr val="bg1"/>
          </a:solidFill>
        </p:spPr>
        <p:txBody>
          <a:bodyPr wrap="square" rtlCol="0">
            <a:spAutoFit/>
          </a:bodyPr>
          <a:lstStyle/>
          <a:p>
            <a:r>
              <a:rPr lang="en-GB" b="1" dirty="0" err="1"/>
              <a:t>Downcutting</a:t>
            </a:r>
            <a:endParaRPr lang="en-GB" b="1" dirty="0"/>
          </a:p>
        </p:txBody>
      </p:sp>
      <p:cxnSp>
        <p:nvCxnSpPr>
          <p:cNvPr id="12" name="Straight Arrow Connector 11"/>
          <p:cNvCxnSpPr/>
          <p:nvPr/>
        </p:nvCxnSpPr>
        <p:spPr>
          <a:xfrm flipH="1">
            <a:off x="5796136" y="3955369"/>
            <a:ext cx="864096" cy="0"/>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6804248" y="3632203"/>
            <a:ext cx="1209697" cy="646331"/>
          </a:xfrm>
          <a:prstGeom prst="rect">
            <a:avLst/>
          </a:prstGeom>
          <a:solidFill>
            <a:schemeClr val="bg1"/>
          </a:solidFill>
        </p:spPr>
        <p:txBody>
          <a:bodyPr wrap="square" rtlCol="0">
            <a:spAutoFit/>
          </a:bodyPr>
          <a:lstStyle/>
          <a:p>
            <a:r>
              <a:rPr lang="en-GB" b="1" dirty="0" err="1"/>
              <a:t>Headward</a:t>
            </a:r>
            <a:r>
              <a:rPr lang="en-GB" b="1" dirty="0"/>
              <a:t> erosion</a:t>
            </a:r>
          </a:p>
        </p:txBody>
      </p:sp>
      <p:grpSp>
        <p:nvGrpSpPr>
          <p:cNvPr id="19" name="Group 18"/>
          <p:cNvGrpSpPr/>
          <p:nvPr/>
        </p:nvGrpSpPr>
        <p:grpSpPr>
          <a:xfrm>
            <a:off x="4283968" y="2060848"/>
            <a:ext cx="2016224" cy="994965"/>
            <a:chOff x="4283968" y="2060848"/>
            <a:chExt cx="2016224" cy="994965"/>
          </a:xfrm>
        </p:grpSpPr>
        <p:cxnSp>
          <p:nvCxnSpPr>
            <p:cNvPr id="15" name="Straight Connector 14"/>
            <p:cNvCxnSpPr/>
            <p:nvPr/>
          </p:nvCxnSpPr>
          <p:spPr>
            <a:xfrm>
              <a:off x="4283968" y="2060848"/>
              <a:ext cx="1180265" cy="994965"/>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5616116" y="2276872"/>
              <a:ext cx="684076" cy="763258"/>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grpSp>
      <p:sp>
        <p:nvSpPr>
          <p:cNvPr id="21" name="Rectangle 4"/>
          <p:cNvSpPr txBox="1">
            <a:spLocks noChangeArrowheads="1"/>
          </p:cNvSpPr>
          <p:nvPr/>
        </p:nvSpPr>
        <p:spPr>
          <a:xfrm>
            <a:off x="56063" y="44624"/>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Fluvial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234577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Fluvial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pic>
        <p:nvPicPr>
          <p:cNvPr id="28674" name="Picture 2" descr="http://www.scienceclarified.com/landforms/images/ueol_03_img0108.jp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345560" y="1556792"/>
            <a:ext cx="4631554" cy="518457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txBox="1">
            <a:spLocks noChangeArrowheads="1"/>
          </p:cNvSpPr>
          <p:nvPr/>
        </p:nvSpPr>
        <p:spPr>
          <a:xfrm>
            <a:off x="179512" y="1844824"/>
            <a:ext cx="4032448" cy="43924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dirty="0">
                <a:sym typeface="Wingdings" panose="05000000000000000000" pitchFamily="2" charset="2"/>
              </a:rPr>
              <a:t>2. In the intermediate state</a:t>
            </a:r>
          </a:p>
          <a:p>
            <a:pPr>
              <a:buFont typeface="Wingdings" pitchFamily="2" charset="2"/>
              <a:buChar char="à"/>
            </a:pPr>
            <a:r>
              <a:rPr lang="en-US" sz="2000" dirty="0">
                <a:sym typeface="Wingdings" panose="05000000000000000000" pitchFamily="2" charset="2"/>
              </a:rPr>
              <a:t>Streams have fully dissected the former highlands</a:t>
            </a:r>
          </a:p>
          <a:p>
            <a:pPr>
              <a:buFont typeface="Wingdings" pitchFamily="2" charset="2"/>
              <a:buChar char="à"/>
            </a:pPr>
            <a:r>
              <a:rPr lang="en-US" sz="2000" dirty="0">
                <a:sym typeface="Wingdings" panose="05000000000000000000" pitchFamily="2" charset="2"/>
              </a:rPr>
              <a:t>Whole area is covered by an extensive drainage network.</a:t>
            </a:r>
          </a:p>
          <a:p>
            <a:pPr>
              <a:buFont typeface="Wingdings" pitchFamily="2" charset="2"/>
              <a:buChar char="à"/>
            </a:pPr>
            <a:r>
              <a:rPr lang="en-US" sz="2000" dirty="0">
                <a:sym typeface="Wingdings" panose="05000000000000000000" pitchFamily="2" charset="2"/>
              </a:rPr>
              <a:t>River erodes through horizontal sweeping and develops a flood plain (and meanders).</a:t>
            </a:r>
          </a:p>
          <a:p>
            <a:pPr>
              <a:buFont typeface="Wingdings" pitchFamily="2" charset="2"/>
              <a:buChar char="à"/>
            </a:pPr>
            <a:r>
              <a:rPr lang="en-US" sz="2000" dirty="0">
                <a:sym typeface="Wingdings" panose="05000000000000000000" pitchFamily="2" charset="2"/>
              </a:rPr>
              <a:t>Slopes retreat, and interfluves become narrower</a:t>
            </a:r>
          </a:p>
          <a:p>
            <a:pPr>
              <a:buFont typeface="Wingdings" pitchFamily="2" charset="2"/>
              <a:buChar char="à"/>
            </a:pPr>
            <a:r>
              <a:rPr lang="en-US" sz="2000" dirty="0">
                <a:sym typeface="Wingdings" panose="05000000000000000000" pitchFamily="2" charset="2"/>
              </a:rPr>
              <a:t>Landscape dominated by rolling hills between the main distributaries.</a:t>
            </a:r>
          </a:p>
        </p:txBody>
      </p:sp>
      <p:sp>
        <p:nvSpPr>
          <p:cNvPr id="7" name="Rectangle 6"/>
          <p:cNvSpPr/>
          <p:nvPr/>
        </p:nvSpPr>
        <p:spPr>
          <a:xfrm>
            <a:off x="5842506" y="3044391"/>
            <a:ext cx="3096344" cy="2209378"/>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838555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Fluvial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pic>
        <p:nvPicPr>
          <p:cNvPr id="32770" name="Picture 2" descr="Afon Dulas below the ford geograph - 2962117.jp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7334" y="1094769"/>
            <a:ext cx="8949162" cy="567942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172370" y="1403484"/>
            <a:ext cx="3423966" cy="369332"/>
          </a:xfrm>
          <a:prstGeom prst="rect">
            <a:avLst/>
          </a:prstGeom>
          <a:solidFill>
            <a:schemeClr val="bg1"/>
          </a:solidFill>
        </p:spPr>
        <p:txBody>
          <a:bodyPr wrap="square" rtlCol="0">
            <a:spAutoFit/>
          </a:bodyPr>
          <a:lstStyle/>
          <a:p>
            <a:r>
              <a:rPr lang="en-GB" b="1" dirty="0"/>
              <a:t>Rounded hills between tributaries</a:t>
            </a:r>
          </a:p>
        </p:txBody>
      </p:sp>
      <p:cxnSp>
        <p:nvCxnSpPr>
          <p:cNvPr id="7" name="Straight Arrow Connector 6"/>
          <p:cNvCxnSpPr/>
          <p:nvPr/>
        </p:nvCxnSpPr>
        <p:spPr>
          <a:xfrm flipH="1">
            <a:off x="3779912" y="1772816"/>
            <a:ext cx="392458" cy="504056"/>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043608" y="3565148"/>
            <a:ext cx="1375324" cy="369332"/>
          </a:xfrm>
          <a:prstGeom prst="rect">
            <a:avLst/>
          </a:prstGeom>
          <a:solidFill>
            <a:schemeClr val="bg1"/>
          </a:solidFill>
        </p:spPr>
        <p:txBody>
          <a:bodyPr wrap="square" rtlCol="0">
            <a:spAutoFit/>
          </a:bodyPr>
          <a:lstStyle/>
          <a:p>
            <a:r>
              <a:rPr lang="en-GB" b="1" dirty="0"/>
              <a:t>Floodplain</a:t>
            </a:r>
          </a:p>
        </p:txBody>
      </p:sp>
      <p:cxnSp>
        <p:nvCxnSpPr>
          <p:cNvPr id="10" name="Straight Arrow Connector 9"/>
          <p:cNvCxnSpPr>
            <a:stCxn id="9" idx="2"/>
          </p:cNvCxnSpPr>
          <p:nvPr/>
        </p:nvCxnSpPr>
        <p:spPr>
          <a:xfrm>
            <a:off x="1731270" y="3934480"/>
            <a:ext cx="0" cy="504056"/>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51520" y="5657966"/>
            <a:ext cx="2549160" cy="707886"/>
          </a:xfrm>
          <a:prstGeom prst="rect">
            <a:avLst/>
          </a:prstGeom>
          <a:solidFill>
            <a:schemeClr val="bg1"/>
          </a:solidFill>
          <a:ln w="57150">
            <a:solidFill>
              <a:schemeClr val="tx1"/>
            </a:solidFill>
          </a:ln>
        </p:spPr>
        <p:txBody>
          <a:bodyPr wrap="square" rtlCol="0">
            <a:spAutoFit/>
          </a:bodyPr>
          <a:lstStyle/>
          <a:p>
            <a:pPr>
              <a:spcAft>
                <a:spcPts val="600"/>
              </a:spcAft>
            </a:pPr>
            <a:r>
              <a:rPr lang="en-GB" sz="2000" b="1" dirty="0">
                <a:sym typeface="Wingdings" panose="05000000000000000000" pitchFamily="2" charset="2"/>
              </a:rPr>
              <a:t>Upper tributaries of the river Severn, UK.</a:t>
            </a:r>
            <a:endParaRPr lang="en-GB" sz="2000" b="1" dirty="0"/>
          </a:p>
        </p:txBody>
      </p:sp>
    </p:spTree>
    <p:extLst>
      <p:ext uri="{BB962C8B-B14F-4D97-AF65-F5344CB8AC3E}">
        <p14:creationId xmlns:p14="http://schemas.microsoft.com/office/powerpoint/2010/main" val="25845068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Fluvial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pic>
        <p:nvPicPr>
          <p:cNvPr id="28674" name="Picture 2" descr="http://www.scienceclarified.com/landforms/images/ueol_03_img0108.jp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345560" y="1556792"/>
            <a:ext cx="4631554" cy="518457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txBox="1">
            <a:spLocks noChangeArrowheads="1"/>
          </p:cNvSpPr>
          <p:nvPr/>
        </p:nvSpPr>
        <p:spPr>
          <a:xfrm>
            <a:off x="160771" y="2780928"/>
            <a:ext cx="4032448" cy="201622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2000" b="1" dirty="0"/>
              <a:t>3. In the mature stage, the old river</a:t>
            </a:r>
            <a:r>
              <a:rPr lang="en-GB" sz="2000" dirty="0"/>
              <a:t>:</a:t>
            </a:r>
          </a:p>
          <a:p>
            <a:pPr marL="0" indent="0">
              <a:buNone/>
            </a:pPr>
            <a:r>
              <a:rPr lang="en-GB" sz="2000" dirty="0">
                <a:sym typeface="Wingdings" panose="05000000000000000000" pitchFamily="2" charset="2"/>
              </a:rPr>
              <a:t>Widens its flood plain further</a:t>
            </a:r>
          </a:p>
          <a:p>
            <a:pPr marL="0" indent="0">
              <a:buNone/>
            </a:pPr>
            <a:r>
              <a:rPr lang="en-GB" sz="2000" dirty="0">
                <a:sym typeface="Wingdings" panose="05000000000000000000" pitchFamily="2" charset="2"/>
              </a:rPr>
              <a:t></a:t>
            </a:r>
            <a:r>
              <a:rPr lang="en-GB" sz="2000" dirty="0"/>
              <a:t>Slopes retreat until they meet, forming a flat featureless landscape.</a:t>
            </a:r>
          </a:p>
          <a:p>
            <a:pPr marL="0" indent="0">
              <a:buNone/>
            </a:pPr>
            <a:r>
              <a:rPr lang="en-GB" sz="2000" dirty="0">
                <a:sym typeface="Wingdings" panose="05000000000000000000" pitchFamily="2" charset="2"/>
              </a:rPr>
              <a:t></a:t>
            </a:r>
            <a:r>
              <a:rPr lang="en-GB" sz="2000" dirty="0"/>
              <a:t>This surface is called a </a:t>
            </a:r>
            <a:r>
              <a:rPr lang="en-GB" sz="2000" b="1" dirty="0" err="1"/>
              <a:t>peneplain</a:t>
            </a:r>
            <a:r>
              <a:rPr lang="en-GB" sz="2000" dirty="0"/>
              <a:t>. </a:t>
            </a:r>
            <a:endParaRPr lang="en-US" sz="2000" dirty="0">
              <a:sym typeface="Wingdings" panose="05000000000000000000" pitchFamily="2" charset="2"/>
            </a:endParaRPr>
          </a:p>
        </p:txBody>
      </p:sp>
      <p:sp>
        <p:nvSpPr>
          <p:cNvPr id="7" name="Rectangle 6"/>
          <p:cNvSpPr/>
          <p:nvPr/>
        </p:nvSpPr>
        <p:spPr>
          <a:xfrm>
            <a:off x="4427984" y="4516987"/>
            <a:ext cx="3096344" cy="2209378"/>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488897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Image result for mississippi rive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7504" y="1124744"/>
            <a:ext cx="8938924" cy="561662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Fluvial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6" name="TextBox 5"/>
          <p:cNvSpPr txBox="1"/>
          <p:nvPr/>
        </p:nvSpPr>
        <p:spPr>
          <a:xfrm>
            <a:off x="601007" y="1339846"/>
            <a:ext cx="7951918" cy="400110"/>
          </a:xfrm>
          <a:prstGeom prst="rect">
            <a:avLst/>
          </a:prstGeom>
          <a:solidFill>
            <a:schemeClr val="bg1"/>
          </a:solidFill>
          <a:ln w="57150">
            <a:solidFill>
              <a:schemeClr val="tx1"/>
            </a:solidFill>
          </a:ln>
        </p:spPr>
        <p:txBody>
          <a:bodyPr wrap="square" rtlCol="0">
            <a:spAutoFit/>
          </a:bodyPr>
          <a:lstStyle/>
          <a:p>
            <a:pPr>
              <a:spcAft>
                <a:spcPts val="600"/>
              </a:spcAft>
            </a:pPr>
            <a:r>
              <a:rPr lang="en-GB" sz="2000" b="1" dirty="0">
                <a:sym typeface="Wingdings" panose="05000000000000000000" pitchFamily="2" charset="2"/>
              </a:rPr>
              <a:t>The lower Mississippi valley has been occupied by the river for c. 40 Ma.</a:t>
            </a:r>
            <a:endParaRPr lang="en-GB" sz="2000" b="1" dirty="0"/>
          </a:p>
        </p:txBody>
      </p:sp>
      <p:cxnSp>
        <p:nvCxnSpPr>
          <p:cNvPr id="7" name="Straight Arrow Connector 6"/>
          <p:cNvCxnSpPr/>
          <p:nvPr/>
        </p:nvCxnSpPr>
        <p:spPr>
          <a:xfrm>
            <a:off x="7469388" y="2420887"/>
            <a:ext cx="0" cy="785991"/>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067944" y="2051555"/>
            <a:ext cx="1224136" cy="369332"/>
          </a:xfrm>
          <a:prstGeom prst="rect">
            <a:avLst/>
          </a:prstGeom>
          <a:solidFill>
            <a:schemeClr val="bg1"/>
          </a:solidFill>
        </p:spPr>
        <p:txBody>
          <a:bodyPr wrap="square" rtlCol="0">
            <a:spAutoFit/>
          </a:bodyPr>
          <a:lstStyle/>
          <a:p>
            <a:r>
              <a:rPr lang="en-GB" b="1" dirty="0" err="1"/>
              <a:t>Peneplain</a:t>
            </a:r>
            <a:endParaRPr lang="en-GB" b="1" dirty="0"/>
          </a:p>
        </p:txBody>
      </p:sp>
      <p:cxnSp>
        <p:nvCxnSpPr>
          <p:cNvPr id="9" name="Straight Arrow Connector 8"/>
          <p:cNvCxnSpPr/>
          <p:nvPr/>
        </p:nvCxnSpPr>
        <p:spPr>
          <a:xfrm>
            <a:off x="3635896" y="2507236"/>
            <a:ext cx="0" cy="785991"/>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67544" y="2516251"/>
            <a:ext cx="0" cy="785991"/>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27601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result for grand canyon"/>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179512" y="1124744"/>
            <a:ext cx="4000514" cy="309634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monument-valley-camping-9campfire"/>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817506" y="3761728"/>
            <a:ext cx="4085051" cy="3063788"/>
          </a:xfrm>
          <a:prstGeom prst="rect">
            <a:avLst/>
          </a:prstGeom>
          <a:noFill/>
          <a:extLst>
            <a:ext uri="{909E8E84-426E-40DD-AFC4-6F175D3DCCD1}">
              <a14:hiddenFill xmlns:a14="http://schemas.microsoft.com/office/drawing/2010/main">
                <a:solidFill>
                  <a:srgbClr val="FFFFFF"/>
                </a:solidFill>
              </a14:hiddenFill>
            </a:ext>
          </a:extLst>
        </p:spPr>
      </p:pic>
      <p:pic>
        <p:nvPicPr>
          <p:cNvPr id="34818" name="Picture 2" descr="Image result for desert peneplain"/>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4860032" y="1124744"/>
            <a:ext cx="3973796" cy="283324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p:cNvCxnSpPr/>
          <p:nvPr/>
        </p:nvCxnSpPr>
        <p:spPr>
          <a:xfrm>
            <a:off x="2313450" y="3703376"/>
            <a:ext cx="1008112" cy="1035424"/>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4788024" y="3489744"/>
            <a:ext cx="1008112" cy="936480"/>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Fluvial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12" name="TextBox 11"/>
          <p:cNvSpPr txBox="1"/>
          <p:nvPr/>
        </p:nvSpPr>
        <p:spPr>
          <a:xfrm>
            <a:off x="251520" y="4369468"/>
            <a:ext cx="1224136" cy="369332"/>
          </a:xfrm>
          <a:prstGeom prst="rect">
            <a:avLst/>
          </a:prstGeom>
          <a:solidFill>
            <a:schemeClr val="bg1"/>
          </a:solidFill>
        </p:spPr>
        <p:txBody>
          <a:bodyPr wrap="square" rtlCol="0">
            <a:spAutoFit/>
          </a:bodyPr>
          <a:lstStyle/>
          <a:p>
            <a:r>
              <a:rPr lang="en-GB" b="1" dirty="0"/>
              <a:t>“Young”</a:t>
            </a:r>
          </a:p>
        </p:txBody>
      </p:sp>
      <p:sp>
        <p:nvSpPr>
          <p:cNvPr id="13" name="TextBox 12"/>
          <p:cNvSpPr txBox="1"/>
          <p:nvPr/>
        </p:nvSpPr>
        <p:spPr>
          <a:xfrm>
            <a:off x="1567701" y="6456184"/>
            <a:ext cx="1224136" cy="369332"/>
          </a:xfrm>
          <a:prstGeom prst="rect">
            <a:avLst/>
          </a:prstGeom>
          <a:solidFill>
            <a:schemeClr val="bg1"/>
          </a:solidFill>
        </p:spPr>
        <p:txBody>
          <a:bodyPr wrap="square" rtlCol="0">
            <a:spAutoFit/>
          </a:bodyPr>
          <a:lstStyle/>
          <a:p>
            <a:r>
              <a:rPr lang="en-GB" b="1" dirty="0"/>
              <a:t>“Mature”</a:t>
            </a:r>
          </a:p>
        </p:txBody>
      </p:sp>
      <p:sp>
        <p:nvSpPr>
          <p:cNvPr id="14" name="TextBox 13"/>
          <p:cNvSpPr txBox="1"/>
          <p:nvPr/>
        </p:nvSpPr>
        <p:spPr>
          <a:xfrm>
            <a:off x="7452320" y="4134724"/>
            <a:ext cx="1224136" cy="369332"/>
          </a:xfrm>
          <a:prstGeom prst="rect">
            <a:avLst/>
          </a:prstGeom>
          <a:solidFill>
            <a:schemeClr val="bg1"/>
          </a:solidFill>
        </p:spPr>
        <p:txBody>
          <a:bodyPr wrap="square" rtlCol="0">
            <a:spAutoFit/>
          </a:bodyPr>
          <a:lstStyle/>
          <a:p>
            <a:r>
              <a:rPr lang="en-GB" b="1" dirty="0"/>
              <a:t>“Old”</a:t>
            </a:r>
          </a:p>
        </p:txBody>
      </p:sp>
    </p:spTree>
    <p:extLst>
      <p:ext uri="{BB962C8B-B14F-4D97-AF65-F5344CB8AC3E}">
        <p14:creationId xmlns:p14="http://schemas.microsoft.com/office/powerpoint/2010/main" val="38073478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5677EE8-CE4F-4706-9D2B-5C0BDA4D0AD3}"/>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Summary</a:t>
            </a:r>
            <a:endPar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3" name="Text Box 3">
            <a:extLst>
              <a:ext uri="{FF2B5EF4-FFF2-40B4-BE49-F238E27FC236}">
                <a16:creationId xmlns:a16="http://schemas.microsoft.com/office/drawing/2014/main" id="{E69DA53B-434E-4ECF-A4FE-BBCDC5443790}"/>
              </a:ext>
            </a:extLst>
          </p:cNvPr>
          <p:cNvSpPr txBox="1">
            <a:spLocks noChangeArrowheads="1"/>
          </p:cNvSpPr>
          <p:nvPr/>
        </p:nvSpPr>
        <p:spPr bwMode="auto">
          <a:xfrm>
            <a:off x="166192" y="1044005"/>
            <a:ext cx="8784976" cy="477054"/>
          </a:xfrm>
          <a:prstGeom prst="rect">
            <a:avLst/>
          </a:prstGeom>
          <a:noFill/>
          <a:ln w="9525">
            <a:noFill/>
            <a:miter lim="800000"/>
            <a:headEnd/>
            <a:tailEnd/>
          </a:ln>
        </p:spPr>
        <p:txBody>
          <a:bodyPr wrap="square">
            <a:spAutoFit/>
          </a:bodyPr>
          <a:lstStyle/>
          <a:p>
            <a:r>
              <a:rPr lang="en-GB" sz="2500" b="1" u="sng" dirty="0"/>
              <a:t>What to look for….</a:t>
            </a:r>
            <a:endParaRPr lang="en-GB" sz="2500" u="sng" dirty="0"/>
          </a:p>
        </p:txBody>
      </p:sp>
      <p:pic>
        <p:nvPicPr>
          <p:cNvPr id="6" name="Picture 2" descr="Image result for yellowstone river waterfall">
            <a:extLst>
              <a:ext uri="{FF2B5EF4-FFF2-40B4-BE49-F238E27FC236}">
                <a16:creationId xmlns:a16="http://schemas.microsoft.com/office/drawing/2014/main" id="{310B7158-7493-4702-886F-DC805AD0D99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131840" y="1584336"/>
            <a:ext cx="2679476" cy="171146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Afon Dulas below the ford geograph - 2962117.jpg">
            <a:extLst>
              <a:ext uri="{FF2B5EF4-FFF2-40B4-BE49-F238E27FC236}">
                <a16:creationId xmlns:a16="http://schemas.microsoft.com/office/drawing/2014/main" id="{02C46524-4AED-46EE-A4F7-732B456B7ECE}"/>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131840" y="3339529"/>
            <a:ext cx="2679476" cy="170048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Image result for mississippi river">
            <a:extLst>
              <a:ext uri="{FF2B5EF4-FFF2-40B4-BE49-F238E27FC236}">
                <a16:creationId xmlns:a16="http://schemas.microsoft.com/office/drawing/2014/main" id="{30443492-7E36-47B5-831A-9C9E13F8DCD4}"/>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129980" y="5102783"/>
            <a:ext cx="2679476" cy="168360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grand canyon">
            <a:extLst>
              <a:ext uri="{FF2B5EF4-FFF2-40B4-BE49-F238E27FC236}">
                <a16:creationId xmlns:a16="http://schemas.microsoft.com/office/drawing/2014/main" id="{5ADAB547-4A12-4335-B5AD-2A2F4E54B33F}"/>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012160" y="1584336"/>
            <a:ext cx="2627710" cy="172773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monument-valley-camping-9campfire">
            <a:extLst>
              <a:ext uri="{FF2B5EF4-FFF2-40B4-BE49-F238E27FC236}">
                <a16:creationId xmlns:a16="http://schemas.microsoft.com/office/drawing/2014/main" id="{408C0832-A07D-4808-AF60-A4B4FA7C8B5C}"/>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6012160" y="3339529"/>
            <a:ext cx="2627710" cy="166212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Image result for desert peneplain">
            <a:extLst>
              <a:ext uri="{FF2B5EF4-FFF2-40B4-BE49-F238E27FC236}">
                <a16:creationId xmlns:a16="http://schemas.microsoft.com/office/drawing/2014/main" id="{030F2F85-9614-44BA-9374-754BD6769C34}"/>
              </a:ext>
            </a:extLst>
          </p:cNvPr>
          <p:cNvPicPr>
            <a:picLocks noChangeAspect="1" noChangeArrowheads="1"/>
          </p:cNvPicPr>
          <p:nvPr/>
        </p:nvPicPr>
        <p:blipFill rotWithShape="1">
          <a:blip r:embed="rId7" cstate="email">
            <a:extLst>
              <a:ext uri="{28A0092B-C50C-407E-A947-70E740481C1C}">
                <a14:useLocalDpi xmlns:a14="http://schemas.microsoft.com/office/drawing/2010/main"/>
              </a:ext>
            </a:extLst>
          </a:blip>
          <a:srcRect/>
          <a:stretch/>
        </p:blipFill>
        <p:spPr bwMode="auto">
          <a:xfrm>
            <a:off x="6012160" y="5102783"/>
            <a:ext cx="2627710" cy="162952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5F71F8F8-0E7E-4C2C-9C56-94ACB88D8142}"/>
              </a:ext>
            </a:extLst>
          </p:cNvPr>
          <p:cNvSpPr txBox="1"/>
          <p:nvPr/>
        </p:nvSpPr>
        <p:spPr>
          <a:xfrm>
            <a:off x="1043608" y="2245628"/>
            <a:ext cx="1224136" cy="369332"/>
          </a:xfrm>
          <a:prstGeom prst="rect">
            <a:avLst/>
          </a:prstGeom>
          <a:solidFill>
            <a:schemeClr val="bg1"/>
          </a:solidFill>
        </p:spPr>
        <p:txBody>
          <a:bodyPr wrap="square" rtlCol="0">
            <a:spAutoFit/>
          </a:bodyPr>
          <a:lstStyle/>
          <a:p>
            <a:r>
              <a:rPr lang="en-GB" b="1" dirty="0"/>
              <a:t>“Young”</a:t>
            </a:r>
          </a:p>
        </p:txBody>
      </p:sp>
      <p:sp>
        <p:nvSpPr>
          <p:cNvPr id="13" name="TextBox 12">
            <a:extLst>
              <a:ext uri="{FF2B5EF4-FFF2-40B4-BE49-F238E27FC236}">
                <a16:creationId xmlns:a16="http://schemas.microsoft.com/office/drawing/2014/main" id="{589FEC84-2D97-4143-95AD-EB3803DF9D54}"/>
              </a:ext>
            </a:extLst>
          </p:cNvPr>
          <p:cNvSpPr txBox="1"/>
          <p:nvPr/>
        </p:nvSpPr>
        <p:spPr>
          <a:xfrm>
            <a:off x="1043608" y="4058375"/>
            <a:ext cx="1224136" cy="369332"/>
          </a:xfrm>
          <a:prstGeom prst="rect">
            <a:avLst/>
          </a:prstGeom>
          <a:solidFill>
            <a:schemeClr val="bg1"/>
          </a:solidFill>
        </p:spPr>
        <p:txBody>
          <a:bodyPr wrap="square" rtlCol="0">
            <a:spAutoFit/>
          </a:bodyPr>
          <a:lstStyle/>
          <a:p>
            <a:r>
              <a:rPr lang="en-GB" b="1" dirty="0"/>
              <a:t>“Mature”</a:t>
            </a:r>
          </a:p>
        </p:txBody>
      </p:sp>
      <p:sp>
        <p:nvSpPr>
          <p:cNvPr id="14" name="TextBox 13">
            <a:extLst>
              <a:ext uri="{FF2B5EF4-FFF2-40B4-BE49-F238E27FC236}">
                <a16:creationId xmlns:a16="http://schemas.microsoft.com/office/drawing/2014/main" id="{7F3F9A03-B73F-4F4D-8B2F-9CFCFA7241B5}"/>
              </a:ext>
            </a:extLst>
          </p:cNvPr>
          <p:cNvSpPr txBox="1"/>
          <p:nvPr/>
        </p:nvSpPr>
        <p:spPr>
          <a:xfrm>
            <a:off x="1192424" y="5759919"/>
            <a:ext cx="1224136" cy="369332"/>
          </a:xfrm>
          <a:prstGeom prst="rect">
            <a:avLst/>
          </a:prstGeom>
          <a:solidFill>
            <a:schemeClr val="bg1"/>
          </a:solidFill>
        </p:spPr>
        <p:txBody>
          <a:bodyPr wrap="square" rtlCol="0">
            <a:spAutoFit/>
          </a:bodyPr>
          <a:lstStyle/>
          <a:p>
            <a:r>
              <a:rPr lang="en-GB" b="1" dirty="0"/>
              <a:t>“Old”</a:t>
            </a:r>
          </a:p>
        </p:txBody>
      </p:sp>
      <p:sp>
        <p:nvSpPr>
          <p:cNvPr id="15" name="TextBox 14">
            <a:extLst>
              <a:ext uri="{FF2B5EF4-FFF2-40B4-BE49-F238E27FC236}">
                <a16:creationId xmlns:a16="http://schemas.microsoft.com/office/drawing/2014/main" id="{06B3560E-25E3-4F82-A285-508EDF1573E8}"/>
              </a:ext>
            </a:extLst>
          </p:cNvPr>
          <p:cNvSpPr txBox="1"/>
          <p:nvPr/>
        </p:nvSpPr>
        <p:spPr>
          <a:xfrm>
            <a:off x="3058902" y="1110382"/>
            <a:ext cx="2821632" cy="369332"/>
          </a:xfrm>
          <a:prstGeom prst="rect">
            <a:avLst/>
          </a:prstGeom>
          <a:solidFill>
            <a:schemeClr val="bg1"/>
          </a:solidFill>
        </p:spPr>
        <p:txBody>
          <a:bodyPr wrap="square" rtlCol="0">
            <a:spAutoFit/>
          </a:bodyPr>
          <a:lstStyle/>
          <a:p>
            <a:r>
              <a:rPr lang="en-GB" b="1" dirty="0"/>
              <a:t>High weathering, weak rock</a:t>
            </a:r>
          </a:p>
        </p:txBody>
      </p:sp>
      <p:sp>
        <p:nvSpPr>
          <p:cNvPr id="16" name="TextBox 15">
            <a:extLst>
              <a:ext uri="{FF2B5EF4-FFF2-40B4-BE49-F238E27FC236}">
                <a16:creationId xmlns:a16="http://schemas.microsoft.com/office/drawing/2014/main" id="{3BAB42FA-6D74-4951-BEF2-927AFE55074D}"/>
              </a:ext>
            </a:extLst>
          </p:cNvPr>
          <p:cNvSpPr txBox="1"/>
          <p:nvPr/>
        </p:nvSpPr>
        <p:spPr>
          <a:xfrm>
            <a:off x="5951612" y="1097866"/>
            <a:ext cx="2940868" cy="369332"/>
          </a:xfrm>
          <a:prstGeom prst="rect">
            <a:avLst/>
          </a:prstGeom>
          <a:solidFill>
            <a:schemeClr val="bg1"/>
          </a:solidFill>
        </p:spPr>
        <p:txBody>
          <a:bodyPr wrap="square" rtlCol="0">
            <a:spAutoFit/>
          </a:bodyPr>
          <a:lstStyle/>
          <a:p>
            <a:r>
              <a:rPr lang="en-GB" b="1" dirty="0"/>
              <a:t>Low weathering, strong rock</a:t>
            </a:r>
          </a:p>
        </p:txBody>
      </p:sp>
      <p:cxnSp>
        <p:nvCxnSpPr>
          <p:cNvPr id="17" name="Straight Arrow Connector 16">
            <a:extLst>
              <a:ext uri="{FF2B5EF4-FFF2-40B4-BE49-F238E27FC236}">
                <a16:creationId xmlns:a16="http://schemas.microsoft.com/office/drawing/2014/main" id="{AEA6B436-58D5-4A4D-80A3-7E60FEF05EA4}"/>
              </a:ext>
            </a:extLst>
          </p:cNvPr>
          <p:cNvCxnSpPr>
            <a:cxnSpLocks/>
          </p:cNvCxnSpPr>
          <p:nvPr/>
        </p:nvCxnSpPr>
        <p:spPr>
          <a:xfrm>
            <a:off x="2699792" y="2009664"/>
            <a:ext cx="0" cy="4299656"/>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87433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monument-valley-camping-9campfire"/>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896" y="0"/>
            <a:ext cx="9137104" cy="685282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4">
            <a:extLst>
              <a:ext uri="{FF2B5EF4-FFF2-40B4-BE49-F238E27FC236}">
                <a16:creationId xmlns:a16="http://schemas.microsoft.com/office/drawing/2014/main" id="{229DC45C-1036-4D09-98B4-96AA72E1D51B}"/>
              </a:ext>
            </a:extLst>
          </p:cNvPr>
          <p:cNvSpPr txBox="1">
            <a:spLocks noChangeArrowheads="1"/>
          </p:cNvSpPr>
          <p:nvPr/>
        </p:nvSpPr>
        <p:spPr>
          <a:xfrm>
            <a:off x="107504" y="1916832"/>
            <a:ext cx="8928992" cy="3888432"/>
          </a:xfrm>
          <a:prstGeom prst="rect">
            <a:avLst/>
          </a:prstGeom>
          <a:solidFill>
            <a:schemeClr val="bg1">
              <a:alpha val="60000"/>
            </a:schemeClr>
          </a:solidFill>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800" b="1" i="0" u="none" strike="noStrike" kern="1200" cap="none" spc="0" normalizeH="0" baseline="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EART11100: </a:t>
            </a:r>
            <a:r>
              <a:rPr lang="en-GB" sz="2800" b="1" dirty="0">
                <a:effectLst>
                  <a:outerShdw blurRad="38100" dist="38100" dir="2700000" algn="tl">
                    <a:srgbClr val="000000">
                      <a:alpha val="43137"/>
                    </a:srgbClr>
                  </a:outerShdw>
                </a:effectLst>
                <a:latin typeface="Bookman Old Style" pitchFamily="18" charset="0"/>
                <a:ea typeface="Adobe Fangsong Std R" pitchFamily="18" charset="-128"/>
                <a:cs typeface="+mj-cs"/>
              </a:rPr>
              <a:t>Understanding t</a:t>
            </a:r>
            <a:r>
              <a:rPr kumimoji="0" lang="en-GB" sz="2800" b="1" i="0" u="none" strike="noStrike" kern="1200" cap="none" spc="0" normalizeH="0" baseline="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he Earth</a:t>
            </a:r>
          </a:p>
          <a:p>
            <a:pPr marL="0" marR="0" lvl="0" indent="0" algn="ctr" defTabSz="914400" rtl="0" eaLnBrk="1" fontAlgn="auto" latinLnBrk="0" hangingPunct="1">
              <a:lnSpc>
                <a:spcPct val="100000"/>
              </a:lnSpc>
              <a:spcBef>
                <a:spcPct val="0"/>
              </a:spcBef>
              <a:spcAft>
                <a:spcPts val="0"/>
              </a:spcAft>
              <a:buClrTx/>
              <a:buSzTx/>
              <a:buFontTx/>
              <a:buNone/>
              <a:tabLst/>
              <a:defRPr/>
            </a:pPr>
            <a:r>
              <a:rPr lang="en-GB" sz="2800" b="1" dirty="0">
                <a:effectLst>
                  <a:outerShdw blurRad="38100" dist="38100" dir="2700000" algn="tl">
                    <a:srgbClr val="000000">
                      <a:alpha val="43137"/>
                    </a:srgbClr>
                  </a:outerShdw>
                </a:effectLst>
                <a:latin typeface="Bookman Old Style" pitchFamily="18" charset="0"/>
                <a:ea typeface="Adobe Fangsong Std R" pitchFamily="18" charset="-128"/>
                <a:cs typeface="+mj-cs"/>
              </a:rPr>
              <a:t>A dynamic Planet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800" b="1" i="0" u="none" strike="noStrike" kern="1200" cap="none" spc="0" normalizeH="0" baseline="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Landscapes dominated by glacial erosion (“glacial geomorphology”)</a:t>
            </a:r>
            <a:endParaRPr kumimoji="0" lang="en-GB" sz="4800" b="1" i="0" u="none" strike="noStrike" kern="1200" cap="none" spc="0" normalizeH="0" noProof="0" dirty="0">
              <a:ln>
                <a:noFill/>
              </a:ln>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31927346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19672" y="1178750"/>
            <a:ext cx="5832648" cy="3586094"/>
          </a:xfrm>
          <a:prstGeom prst="rect">
            <a:avLst/>
          </a:prstGeom>
        </p:spPr>
      </p:pic>
      <p:sp>
        <p:nvSpPr>
          <p:cNvPr id="6" name="Content Placeholder 2"/>
          <p:cNvSpPr>
            <a:spLocks noGrp="1"/>
          </p:cNvSpPr>
          <p:nvPr>
            <p:ph idx="1"/>
          </p:nvPr>
        </p:nvSpPr>
        <p:spPr>
          <a:xfrm>
            <a:off x="179511" y="5229200"/>
            <a:ext cx="8964489" cy="1440160"/>
          </a:xfrm>
          <a:noFill/>
        </p:spPr>
        <p:txBody>
          <a:bodyPr>
            <a:noAutofit/>
          </a:bodyPr>
          <a:lstStyle/>
          <a:p>
            <a:pPr marL="0" indent="0">
              <a:buNone/>
            </a:pPr>
            <a:r>
              <a:rPr lang="en-GB" sz="2000" b="1" dirty="0">
                <a:latin typeface="Arial" panose="020B0604020202020204" pitchFamily="34" charset="0"/>
                <a:cs typeface="Arial" pitchFamily="34" charset="0"/>
              </a:rPr>
              <a:t>… you should be able to…</a:t>
            </a:r>
          </a:p>
          <a:p>
            <a:r>
              <a:rPr lang="en-GB" sz="2000" b="1" dirty="0">
                <a:latin typeface="Arial" panose="020B0604020202020204" pitchFamily="34" charset="0"/>
                <a:cs typeface="Arial" panose="020B0604020202020204" pitchFamily="34" charset="0"/>
                <a:sym typeface="Wingdings" pitchFamily="2" charset="2"/>
              </a:rPr>
              <a:t>describe the main glacial erosion processes, where they happen, and the landforms (“geomorphology”) that result.</a:t>
            </a:r>
          </a:p>
        </p:txBody>
      </p:sp>
      <p:sp>
        <p:nvSpPr>
          <p:cNvPr id="7" name="Rectangle 6"/>
          <p:cNvSpPr/>
          <p:nvPr/>
        </p:nvSpPr>
        <p:spPr>
          <a:xfrm>
            <a:off x="1853443" y="1988840"/>
            <a:ext cx="1998477" cy="648072"/>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4">
            <a:extLst>
              <a:ext uri="{FF2B5EF4-FFF2-40B4-BE49-F238E27FC236}">
                <a16:creationId xmlns:a16="http://schemas.microsoft.com/office/drawing/2014/main" id="{115699D5-9C24-44CF-BEED-22B237E1D07C}"/>
              </a:ext>
            </a:extLst>
          </p:cNvPr>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4000" b="1" dirty="0">
                <a:solidFill>
                  <a:schemeClr val="bg1"/>
                </a:solidFill>
                <a:latin typeface="Bookman Old Style" panose="02050604050505020204" pitchFamily="18" charset="0"/>
                <a:ea typeface="Adobe Fangsong Std R" pitchFamily="18" charset="-128"/>
                <a:cs typeface="+mj-cs"/>
              </a:rPr>
              <a:t>Intended learning outcomes</a:t>
            </a:r>
            <a:endParaRPr kumimoji="0" lang="en-GB" sz="4000" b="1" i="0" u="none" strike="noStrike" kern="1200" cap="none" spc="0" normalizeH="0" baseline="0" noProof="0" dirty="0">
              <a:ln>
                <a:noFill/>
              </a:ln>
              <a:solidFill>
                <a:schemeClr val="bg1"/>
              </a:solidFill>
              <a:effectLst/>
              <a:uLnTx/>
              <a:uFillTx/>
              <a:latin typeface="Bookman Old Style" panose="02050604050505020204" pitchFamily="18" charset="0"/>
              <a:ea typeface="Adobe Fangsong Std R" pitchFamily="18" charset="-128"/>
              <a:cs typeface="+mj-cs"/>
            </a:endParaRPr>
          </a:p>
        </p:txBody>
      </p:sp>
    </p:spTree>
    <p:extLst>
      <p:ext uri="{BB962C8B-B14F-4D97-AF65-F5344CB8AC3E}">
        <p14:creationId xmlns:p14="http://schemas.microsoft.com/office/powerpoint/2010/main" val="3640618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7524" y="1496338"/>
            <a:ext cx="8496943" cy="1169551"/>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In this lecture we will look at </a:t>
            </a:r>
          </a:p>
          <a:p>
            <a:pPr marL="800100" lvl="1" indent="-342900">
              <a:spcAft>
                <a:spcPts val="600"/>
              </a:spcAft>
              <a:buFont typeface="Wingdings" panose="05000000000000000000" pitchFamily="2" charset="2"/>
              <a:buChar char="à"/>
            </a:pPr>
            <a:r>
              <a:rPr lang="en-GB" sz="2000" b="1" dirty="0">
                <a:sym typeface="Wingdings" panose="05000000000000000000" pitchFamily="2" charset="2"/>
              </a:rPr>
              <a:t>Erosion of weathered material, and the landforms that are generated</a:t>
            </a:r>
          </a:p>
          <a:p>
            <a:pPr marL="800100" lvl="1" indent="-342900">
              <a:spcAft>
                <a:spcPts val="600"/>
              </a:spcAft>
              <a:buFont typeface="Wingdings" panose="05000000000000000000" pitchFamily="2" charset="2"/>
              <a:buChar char="à"/>
            </a:pPr>
            <a:r>
              <a:rPr lang="en-GB" sz="2000" b="1" dirty="0">
                <a:sym typeface="Wingdings" panose="05000000000000000000" pitchFamily="2" charset="2"/>
              </a:rPr>
              <a:t>Moving on to fluvial (aka river and stream) erosion.</a:t>
            </a:r>
            <a:endParaRPr lang="en-GB" sz="2000" b="1" dirty="0"/>
          </a:p>
        </p:txBody>
      </p:sp>
      <p:sp>
        <p:nvSpPr>
          <p:cNvPr id="4" name="Rectangle 4"/>
          <p:cNvSpPr txBox="1">
            <a:spLocks noChangeArrowheads="1"/>
          </p:cNvSpPr>
          <p:nvPr/>
        </p:nvSpPr>
        <p:spPr>
          <a:xfrm>
            <a:off x="179512" y="0"/>
            <a:ext cx="8712968"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GB" sz="40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rPr>
              <a:t>In this lecture…</a:t>
            </a:r>
          </a:p>
        </p:txBody>
      </p:sp>
      <p:grpSp>
        <p:nvGrpSpPr>
          <p:cNvPr id="7" name="Group 6"/>
          <p:cNvGrpSpPr/>
          <p:nvPr/>
        </p:nvGrpSpPr>
        <p:grpSpPr>
          <a:xfrm>
            <a:off x="963888" y="3148893"/>
            <a:ext cx="7712566" cy="3592475"/>
            <a:chOff x="963888" y="3148893"/>
            <a:chExt cx="7712566" cy="3592475"/>
          </a:xfrm>
        </p:grpSpPr>
        <p:pic>
          <p:nvPicPr>
            <p:cNvPr id="3074" name="Picture 2" descr="Products of Geomorphic Processes&#10;Process&#10;Erosion&#10;Transportation&#10;Deposition&#10;Erosional landform features&#10;Transportation&#10;Depo..."/>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963888" y="3148893"/>
              <a:ext cx="7144216" cy="35924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716016" y="4221088"/>
              <a:ext cx="3960438" cy="2016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Rectangle 1"/>
          <p:cNvSpPr/>
          <p:nvPr/>
        </p:nvSpPr>
        <p:spPr>
          <a:xfrm>
            <a:off x="683568" y="3501008"/>
            <a:ext cx="7920880" cy="1224136"/>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70825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1196752"/>
            <a:ext cx="8730447" cy="5478423"/>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Erosion is the process of removal of the </a:t>
            </a:r>
            <a:r>
              <a:rPr lang="en-GB" sz="2000" b="1" dirty="0" err="1"/>
              <a:t>regolith</a:t>
            </a:r>
            <a:r>
              <a:rPr lang="en-GB" sz="2000" b="1" dirty="0"/>
              <a:t> that was generated through weathering, and its transport to a new location.</a:t>
            </a:r>
          </a:p>
          <a:p>
            <a:pPr marL="342900" indent="-342900">
              <a:spcAft>
                <a:spcPts val="600"/>
              </a:spcAft>
              <a:buFont typeface="Arial" panose="020B0604020202020204" pitchFamily="34" charset="0"/>
              <a:buChar char="•"/>
            </a:pPr>
            <a:endParaRPr lang="en-GB" sz="2000" b="1" dirty="0">
              <a:sym typeface="Wingdings" panose="05000000000000000000" pitchFamily="2" charset="2"/>
            </a:endParaRPr>
          </a:p>
          <a:p>
            <a:pPr marL="342900" indent="-342900">
              <a:spcAft>
                <a:spcPts val="600"/>
              </a:spcAft>
              <a:buFont typeface="Arial" panose="020B0604020202020204" pitchFamily="34" charset="0"/>
              <a:buChar char="•"/>
            </a:pPr>
            <a:r>
              <a:rPr lang="en-GB" sz="2000" b="1" dirty="0">
                <a:sym typeface="Wingdings" panose="05000000000000000000" pitchFamily="2" charset="2"/>
              </a:rPr>
              <a:t>There are two main mechanisms for erosion</a:t>
            </a:r>
          </a:p>
          <a:p>
            <a:pPr marL="342900" indent="-342900">
              <a:spcAft>
                <a:spcPts val="600"/>
              </a:spcAft>
              <a:buFont typeface="Arial" panose="020B0604020202020204" pitchFamily="34" charset="0"/>
              <a:buChar char="•"/>
            </a:pPr>
            <a:endParaRPr lang="en-GB" sz="2000" dirty="0">
              <a:sym typeface="Wingdings" panose="05000000000000000000" pitchFamily="2" charset="2"/>
            </a:endParaRPr>
          </a:p>
          <a:p>
            <a:pPr>
              <a:spcAft>
                <a:spcPts val="600"/>
              </a:spcAft>
            </a:pPr>
            <a:r>
              <a:rPr lang="en-GB" sz="2000" b="1" u="sng" dirty="0">
                <a:sym typeface="Wingdings" panose="05000000000000000000" pitchFamily="2" charset="2"/>
              </a:rPr>
              <a:t>1. Gravity</a:t>
            </a:r>
            <a:r>
              <a:rPr lang="en-GB" sz="2000" dirty="0">
                <a:sym typeface="Wingdings" panose="05000000000000000000" pitchFamily="2" charset="2"/>
              </a:rPr>
              <a:t> moves material from uplifted areas (mountains, hinterlands) to low areas (sedimentary basins)</a:t>
            </a:r>
          </a:p>
          <a:p>
            <a:pPr lvl="1">
              <a:spcAft>
                <a:spcPts val="600"/>
              </a:spcAft>
            </a:pPr>
            <a:r>
              <a:rPr lang="en-GB" sz="2000" dirty="0">
                <a:sym typeface="Wingdings" panose="05000000000000000000" pitchFamily="2" charset="2"/>
              </a:rPr>
              <a:t>The movement of material under its own gravitational potential in areas of steep slope.</a:t>
            </a:r>
          </a:p>
          <a:p>
            <a:pPr marL="342900" indent="-342900">
              <a:spcAft>
                <a:spcPts val="600"/>
              </a:spcAft>
              <a:buFont typeface="Arial" panose="020B0604020202020204" pitchFamily="34" charset="0"/>
              <a:buChar char="•"/>
            </a:pPr>
            <a:endParaRPr lang="en-GB" sz="2000" dirty="0">
              <a:sym typeface="Wingdings" panose="05000000000000000000" pitchFamily="2" charset="2"/>
            </a:endParaRPr>
          </a:p>
          <a:p>
            <a:pPr>
              <a:spcAft>
                <a:spcPts val="600"/>
              </a:spcAft>
            </a:pPr>
            <a:r>
              <a:rPr lang="en-GB" sz="2000" b="1" u="sng" dirty="0">
                <a:sym typeface="Wingdings" panose="05000000000000000000" pitchFamily="2" charset="2"/>
              </a:rPr>
              <a:t>2. Fluid flow</a:t>
            </a:r>
            <a:r>
              <a:rPr lang="en-GB" sz="2000" b="1" dirty="0">
                <a:sym typeface="Wingdings" panose="05000000000000000000" pitchFamily="2" charset="2"/>
              </a:rPr>
              <a:t> </a:t>
            </a:r>
            <a:r>
              <a:rPr lang="en-GB" sz="2000" dirty="0">
                <a:sym typeface="Wingdings" panose="05000000000000000000" pitchFamily="2" charset="2"/>
              </a:rPr>
              <a:t>exerts shear stress which moves material from one place to the next</a:t>
            </a:r>
          </a:p>
          <a:p>
            <a:pPr lvl="1">
              <a:spcAft>
                <a:spcPts val="600"/>
              </a:spcAft>
            </a:pPr>
            <a:r>
              <a:rPr lang="en-GB" sz="2000" dirty="0">
                <a:sym typeface="Wingdings" panose="05000000000000000000" pitchFamily="2" charset="2"/>
              </a:rPr>
              <a:t>The flow of water in streams and rivers (fluvial processes), which entrains sediment (gravity driven)</a:t>
            </a:r>
          </a:p>
          <a:p>
            <a:pPr lvl="1">
              <a:spcAft>
                <a:spcPts val="600"/>
              </a:spcAft>
            </a:pPr>
            <a:r>
              <a:rPr lang="en-GB" sz="2000" dirty="0">
                <a:sym typeface="Wingdings" panose="05000000000000000000" pitchFamily="2" charset="2"/>
              </a:rPr>
              <a:t>The flow of ice (glacial processes), which entrains sediment</a:t>
            </a:r>
          </a:p>
          <a:p>
            <a:pPr lvl="1">
              <a:spcAft>
                <a:spcPts val="600"/>
              </a:spcAft>
            </a:pPr>
            <a:r>
              <a:rPr lang="en-GB" sz="2000" dirty="0">
                <a:sym typeface="Wingdings" panose="05000000000000000000" pitchFamily="2" charset="2"/>
              </a:rPr>
              <a:t>The flow of air (wind, or aeolian processes) which entrains sediment.</a:t>
            </a:r>
            <a:endParaRPr lang="en-GB" sz="2000" b="1" dirty="0"/>
          </a:p>
        </p:txBody>
      </p:sp>
      <p:sp>
        <p:nvSpPr>
          <p:cNvPr id="5" name="Rectangle 4">
            <a:extLst>
              <a:ext uri="{FF2B5EF4-FFF2-40B4-BE49-F238E27FC236}">
                <a16:creationId xmlns:a16="http://schemas.microsoft.com/office/drawing/2014/main" id="{4A49276D-EEEB-40C5-8FC4-83768DB537C4}"/>
              </a:ext>
            </a:extLst>
          </p:cNvPr>
          <p:cNvSpPr/>
          <p:nvPr/>
        </p:nvSpPr>
        <p:spPr>
          <a:xfrm>
            <a:off x="179512" y="5805264"/>
            <a:ext cx="8712968" cy="467613"/>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4">
            <a:extLst>
              <a:ext uri="{FF2B5EF4-FFF2-40B4-BE49-F238E27FC236}">
                <a16:creationId xmlns:a16="http://schemas.microsoft.com/office/drawing/2014/main" id="{385C3F42-D76C-4FD7-A8DC-BEB9ACDFD7C4}"/>
              </a:ext>
            </a:extLst>
          </p:cNvPr>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Fluvial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2437401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G</a:t>
            </a:r>
            <a:r>
              <a:rPr lang="en-GB" sz="38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lacial</a:t>
            </a: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5" name="TextBox 4"/>
          <p:cNvSpPr txBox="1"/>
          <p:nvPr/>
        </p:nvSpPr>
        <p:spPr>
          <a:xfrm>
            <a:off x="179512" y="1196752"/>
            <a:ext cx="8730447" cy="1400383"/>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Ice caps and associated glaciers form because an excess of snow falls (relative to melting). </a:t>
            </a:r>
          </a:p>
          <a:p>
            <a:pPr marL="342900" indent="-342900">
              <a:spcAft>
                <a:spcPts val="600"/>
              </a:spcAft>
              <a:buFont typeface="Arial" panose="020B0604020202020204" pitchFamily="34" charset="0"/>
              <a:buChar char="•"/>
            </a:pPr>
            <a:r>
              <a:rPr lang="en-GB" sz="2000" b="1" dirty="0"/>
              <a:t>Compaction of the snow forms ice which behaves in a ductile to brittle manner, and can flow downhill, over timescales of years to 100s years.</a:t>
            </a:r>
          </a:p>
        </p:txBody>
      </p:sp>
      <p:pic>
        <p:nvPicPr>
          <p:cNvPr id="6" name="Picture 4" descr="Glacier Budget showing the accumulation zone and ablation zone"/>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1475656" y="2708920"/>
            <a:ext cx="5885034" cy="3971092"/>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84079" y="1210104"/>
            <a:ext cx="8825879" cy="5531263"/>
            <a:chOff x="84079" y="1210104"/>
            <a:chExt cx="8825879" cy="5531263"/>
          </a:xfrm>
        </p:grpSpPr>
        <p:sp>
          <p:nvSpPr>
            <p:cNvPr id="7" name="TextBox 6"/>
            <p:cNvSpPr txBox="1"/>
            <p:nvPr/>
          </p:nvSpPr>
          <p:spPr>
            <a:xfrm>
              <a:off x="6804248" y="5085184"/>
              <a:ext cx="2016224" cy="861774"/>
            </a:xfrm>
            <a:prstGeom prst="rect">
              <a:avLst/>
            </a:prstGeom>
            <a:noFill/>
          </p:spPr>
          <p:txBody>
            <a:bodyPr wrap="square" rtlCol="0">
              <a:spAutoFit/>
            </a:bodyPr>
            <a:lstStyle/>
            <a:p>
              <a:pPr>
                <a:spcAft>
                  <a:spcPts val="600"/>
                </a:spcAft>
              </a:pPr>
              <a:r>
                <a:rPr lang="en-GB" sz="2500" b="1" dirty="0">
                  <a:solidFill>
                    <a:srgbClr val="FF0000"/>
                  </a:solidFill>
                </a:rPr>
                <a:t>Dave’s lecture</a:t>
              </a:r>
            </a:p>
          </p:txBody>
        </p:sp>
        <p:sp>
          <p:nvSpPr>
            <p:cNvPr id="8" name="Rectangle 7"/>
            <p:cNvSpPr/>
            <p:nvPr/>
          </p:nvSpPr>
          <p:spPr>
            <a:xfrm>
              <a:off x="84079" y="1210104"/>
              <a:ext cx="8825879" cy="5531263"/>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145566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1196752"/>
            <a:ext cx="8730447" cy="1785104"/>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Ice is less dense than water, but it has a much higher viscosity, so its capacity to erode and transport material is enormous.</a:t>
            </a:r>
          </a:p>
          <a:p>
            <a:pPr marL="342900" indent="-342900">
              <a:spcAft>
                <a:spcPts val="600"/>
              </a:spcAft>
              <a:buFont typeface="Arial" panose="020B0604020202020204" pitchFamily="34" charset="0"/>
              <a:buChar char="•"/>
            </a:pPr>
            <a:r>
              <a:rPr lang="en-GB" sz="2000" b="1" dirty="0"/>
              <a:t>Typically, valley glaciers form in, and re-excavate major fluvial trunk river valleys.</a:t>
            </a:r>
          </a:p>
          <a:p>
            <a:pPr marL="342900" indent="-342900">
              <a:spcAft>
                <a:spcPts val="600"/>
              </a:spcAft>
              <a:buFont typeface="Arial" panose="020B0604020202020204" pitchFamily="34" charset="0"/>
              <a:buChar char="•"/>
            </a:pPr>
            <a:endParaRPr lang="en-GB" sz="2000" b="1" dirty="0"/>
          </a:p>
        </p:txBody>
      </p:sp>
      <p:pic>
        <p:nvPicPr>
          <p:cNvPr id="36866" name="Picture 2" descr="Image result for aletsch glacie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1691680" y="2564904"/>
            <a:ext cx="7119582" cy="400506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G</a:t>
            </a:r>
            <a:r>
              <a:rPr lang="en-GB" sz="38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lacial</a:t>
            </a: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7" name="TextBox 6"/>
          <p:cNvSpPr txBox="1"/>
          <p:nvPr/>
        </p:nvSpPr>
        <p:spPr>
          <a:xfrm>
            <a:off x="5652120" y="5445224"/>
            <a:ext cx="3024336" cy="1015663"/>
          </a:xfrm>
          <a:prstGeom prst="rect">
            <a:avLst/>
          </a:prstGeom>
          <a:solidFill>
            <a:schemeClr val="bg1"/>
          </a:solidFill>
          <a:ln w="57150">
            <a:solidFill>
              <a:schemeClr val="tx1"/>
            </a:solidFill>
          </a:ln>
        </p:spPr>
        <p:txBody>
          <a:bodyPr wrap="square" rtlCol="0">
            <a:spAutoFit/>
          </a:bodyPr>
          <a:lstStyle/>
          <a:p>
            <a:pPr>
              <a:spcAft>
                <a:spcPts val="600"/>
              </a:spcAft>
            </a:pPr>
            <a:r>
              <a:rPr lang="en-GB" sz="2000" b="1" dirty="0">
                <a:sym typeface="Wingdings" panose="05000000000000000000" pitchFamily="2" charset="2"/>
              </a:rPr>
              <a:t>The </a:t>
            </a:r>
            <a:r>
              <a:rPr lang="en-GB" sz="2000" b="1" dirty="0" err="1">
                <a:sym typeface="Wingdings" panose="05000000000000000000" pitchFamily="2" charset="2"/>
              </a:rPr>
              <a:t>Aletsch</a:t>
            </a:r>
            <a:r>
              <a:rPr lang="en-GB" sz="2000" b="1" dirty="0">
                <a:sym typeface="Wingdings" panose="05000000000000000000" pitchFamily="2" charset="2"/>
              </a:rPr>
              <a:t> Glacier, Switzerland, is the longest glacier in the Alps.</a:t>
            </a:r>
            <a:endParaRPr lang="en-GB" sz="2000" b="1" dirty="0"/>
          </a:p>
        </p:txBody>
      </p:sp>
    </p:spTree>
    <p:extLst>
      <p:ext uri="{BB962C8B-B14F-4D97-AF65-F5344CB8AC3E}">
        <p14:creationId xmlns:p14="http://schemas.microsoft.com/office/powerpoint/2010/main" val="2741734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1196752"/>
            <a:ext cx="8730447" cy="707886"/>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These are fed by ice-caps, or more minor hanging, or “cirque” glaciers which form in the former fluvial tributaries.</a:t>
            </a:r>
          </a:p>
        </p:txBody>
      </p:sp>
      <p:pic>
        <p:nvPicPr>
          <p:cNvPr id="41986" name="Picture 2" descr="Bucher Valley Glacie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187624" y="2080753"/>
            <a:ext cx="6840760" cy="464451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5138351" y="6165304"/>
            <a:ext cx="3744416" cy="400110"/>
          </a:xfrm>
          <a:prstGeom prst="rect">
            <a:avLst/>
          </a:prstGeom>
          <a:solidFill>
            <a:schemeClr val="bg1"/>
          </a:solidFill>
          <a:ln w="57150">
            <a:solidFill>
              <a:schemeClr val="tx1"/>
            </a:solidFill>
          </a:ln>
        </p:spPr>
        <p:txBody>
          <a:bodyPr wrap="square" rtlCol="0">
            <a:spAutoFit/>
          </a:bodyPr>
          <a:lstStyle/>
          <a:p>
            <a:pPr>
              <a:spcAft>
                <a:spcPts val="600"/>
              </a:spcAft>
            </a:pPr>
            <a:r>
              <a:rPr lang="en-GB" sz="2000" b="1" dirty="0">
                <a:sym typeface="Wingdings" panose="05000000000000000000" pitchFamily="2" charset="2"/>
              </a:rPr>
              <a:t>The Bucher Valley Glacier, Alaska.</a:t>
            </a:r>
            <a:endParaRPr lang="en-GB" sz="2000" b="1" dirty="0"/>
          </a:p>
        </p:txBody>
      </p:sp>
      <p:sp>
        <p:nvSpPr>
          <p:cNvPr id="7" name="TextBox 6"/>
          <p:cNvSpPr txBox="1"/>
          <p:nvPr/>
        </p:nvSpPr>
        <p:spPr>
          <a:xfrm>
            <a:off x="5004048" y="2204864"/>
            <a:ext cx="1728193" cy="369332"/>
          </a:xfrm>
          <a:prstGeom prst="rect">
            <a:avLst/>
          </a:prstGeom>
          <a:solidFill>
            <a:schemeClr val="bg1"/>
          </a:solidFill>
        </p:spPr>
        <p:txBody>
          <a:bodyPr wrap="square" rtlCol="0">
            <a:spAutoFit/>
          </a:bodyPr>
          <a:lstStyle/>
          <a:p>
            <a:r>
              <a:rPr lang="en-GB" b="1" dirty="0"/>
              <a:t>Hanging Glacier</a:t>
            </a:r>
          </a:p>
        </p:txBody>
      </p:sp>
      <p:cxnSp>
        <p:nvCxnSpPr>
          <p:cNvPr id="8" name="Straight Arrow Connector 7"/>
          <p:cNvCxnSpPr/>
          <p:nvPr/>
        </p:nvCxnSpPr>
        <p:spPr>
          <a:xfrm flipH="1">
            <a:off x="4629030" y="2574196"/>
            <a:ext cx="375018" cy="560675"/>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G</a:t>
            </a:r>
            <a:r>
              <a:rPr lang="en-GB" sz="38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lacial</a:t>
            </a: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20800615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G</a:t>
            </a:r>
            <a:r>
              <a:rPr lang="en-GB" sz="38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lacial</a:t>
            </a: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pic>
        <p:nvPicPr>
          <p:cNvPr id="35842" name="Picture 2"/>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rot="10800000">
            <a:off x="827584" y="1113327"/>
            <a:ext cx="7128792" cy="56018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5508104" y="6093296"/>
            <a:ext cx="3240360" cy="400110"/>
          </a:xfrm>
          <a:prstGeom prst="rect">
            <a:avLst/>
          </a:prstGeom>
          <a:solidFill>
            <a:schemeClr val="bg1"/>
          </a:solidFill>
          <a:ln w="57150">
            <a:solidFill>
              <a:schemeClr val="tx1"/>
            </a:solidFill>
          </a:ln>
        </p:spPr>
        <p:txBody>
          <a:bodyPr wrap="square" rtlCol="0">
            <a:spAutoFit/>
          </a:bodyPr>
          <a:lstStyle/>
          <a:p>
            <a:pPr>
              <a:spcAft>
                <a:spcPts val="600"/>
              </a:spcAft>
            </a:pPr>
            <a:r>
              <a:rPr lang="en-GB" sz="2000" b="1" dirty="0">
                <a:sym typeface="Wingdings" panose="05000000000000000000" pitchFamily="2" charset="2"/>
              </a:rPr>
              <a:t>Baffin Island, Arctic Canada.</a:t>
            </a:r>
            <a:endParaRPr lang="en-GB" sz="2000" b="1" dirty="0"/>
          </a:p>
        </p:txBody>
      </p:sp>
    </p:spTree>
    <p:extLst>
      <p:ext uri="{BB962C8B-B14F-4D97-AF65-F5344CB8AC3E}">
        <p14:creationId xmlns:p14="http://schemas.microsoft.com/office/powerpoint/2010/main" val="12278957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Image result for glacial sediment transport"/>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43608" y="1164851"/>
            <a:ext cx="6534026" cy="305623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G</a:t>
            </a:r>
            <a:r>
              <a:rPr lang="en-GB" sz="38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lacial</a:t>
            </a: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6" name="TextBox 5"/>
          <p:cNvSpPr txBox="1"/>
          <p:nvPr/>
        </p:nvSpPr>
        <p:spPr>
          <a:xfrm>
            <a:off x="56063" y="4365104"/>
            <a:ext cx="8887264" cy="2246769"/>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The glacier can erode and transport virtually any grainsize, either</a:t>
            </a:r>
          </a:p>
          <a:p>
            <a:pPr lvl="1">
              <a:spcAft>
                <a:spcPts val="600"/>
              </a:spcAft>
            </a:pPr>
            <a:r>
              <a:rPr lang="en-GB" sz="2000" dirty="0">
                <a:sym typeface="Wingdings" panose="05000000000000000000" pitchFamily="2" charset="2"/>
              </a:rPr>
              <a:t>as material that has fallen via gravity processes on to the top of the glacier</a:t>
            </a:r>
          </a:p>
          <a:p>
            <a:pPr lvl="1">
              <a:spcAft>
                <a:spcPts val="600"/>
              </a:spcAft>
            </a:pPr>
            <a:r>
              <a:rPr lang="en-GB" sz="2000" dirty="0">
                <a:sym typeface="Wingdings" panose="05000000000000000000" pitchFamily="2" charset="2"/>
              </a:rPr>
              <a:t>by melting and then freezing around, then “plucking” rocks from the interface of the glacier with bedrock.</a:t>
            </a:r>
          </a:p>
          <a:p>
            <a:pPr lvl="1">
              <a:spcAft>
                <a:spcPts val="600"/>
              </a:spcAft>
            </a:pPr>
            <a:r>
              <a:rPr lang="en-GB" sz="2000" dirty="0">
                <a:sym typeface="Wingdings" panose="05000000000000000000" pitchFamily="2" charset="2"/>
              </a:rPr>
              <a:t>by pulverising rock at the interface of the glacier with bedrock.</a:t>
            </a:r>
          </a:p>
          <a:p>
            <a:pPr lvl="1">
              <a:spcAft>
                <a:spcPts val="600"/>
              </a:spcAft>
            </a:pPr>
            <a:r>
              <a:rPr lang="en-GB" sz="2000" dirty="0">
                <a:sym typeface="Wingdings" panose="05000000000000000000" pitchFamily="2" charset="2"/>
              </a:rPr>
              <a:t>by pushing sediment that is in front of the glacier, during episodes of growth.</a:t>
            </a:r>
            <a:endParaRPr lang="en-GB" sz="2000" dirty="0"/>
          </a:p>
        </p:txBody>
      </p:sp>
    </p:spTree>
    <p:extLst>
      <p:ext uri="{BB962C8B-B14F-4D97-AF65-F5344CB8AC3E}">
        <p14:creationId xmlns:p14="http://schemas.microsoft.com/office/powerpoint/2010/main" val="42393182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0101" y="1196752"/>
            <a:ext cx="8887264" cy="1862048"/>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Glaciers thus deepen and widen the </a:t>
            </a:r>
            <a:r>
              <a:rPr lang="en-GB" sz="2000" b="1" dirty="0" err="1"/>
              <a:t>preexisitng</a:t>
            </a:r>
            <a:r>
              <a:rPr lang="en-GB" sz="2000" b="1" dirty="0"/>
              <a:t> valley, modifying its morphology.</a:t>
            </a:r>
          </a:p>
          <a:p>
            <a:pPr lvl="1">
              <a:spcAft>
                <a:spcPts val="600"/>
              </a:spcAft>
            </a:pPr>
            <a:r>
              <a:rPr lang="en-GB" sz="2000" dirty="0">
                <a:sym typeface="Wingdings" panose="05000000000000000000" pitchFamily="2" charset="2"/>
              </a:rPr>
              <a:t>The base of the glacier is relatively flat, and the sides relatively steep.</a:t>
            </a:r>
          </a:p>
          <a:p>
            <a:pPr marL="342900" indent="-342900">
              <a:spcAft>
                <a:spcPts val="600"/>
              </a:spcAft>
              <a:buFont typeface="Arial" panose="020B0604020202020204" pitchFamily="34" charset="0"/>
              <a:buChar char="•"/>
            </a:pPr>
            <a:r>
              <a:rPr lang="en-GB" sz="2000" b="1" dirty="0"/>
              <a:t>At the front of the glacier, the transported material is melted out </a:t>
            </a:r>
            <a:r>
              <a:rPr lang="en-GB" sz="2000" b="1" i="1" dirty="0"/>
              <a:t>in situ</a:t>
            </a:r>
            <a:r>
              <a:rPr lang="en-GB" sz="2000" b="1" dirty="0"/>
              <a:t>.</a:t>
            </a:r>
          </a:p>
          <a:p>
            <a:pPr lvl="1">
              <a:spcAft>
                <a:spcPts val="600"/>
              </a:spcAft>
            </a:pPr>
            <a:r>
              <a:rPr lang="en-GB" sz="2000" dirty="0">
                <a:sym typeface="Wingdings" panose="05000000000000000000" pitchFamily="2" charset="2"/>
              </a:rPr>
              <a:t></a:t>
            </a:r>
            <a:r>
              <a:rPr lang="en-GB" sz="2000" dirty="0"/>
              <a:t> all the sediment is “dumped” in an unsorted manner in moraines.</a:t>
            </a:r>
          </a:p>
        </p:txBody>
      </p:sp>
      <p:pic>
        <p:nvPicPr>
          <p:cNvPr id="40962" name="Picture 2" descr="Image result for glacial geomorphology"/>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467544" y="3050843"/>
            <a:ext cx="4625947" cy="354607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http://mamontoff.org/SCIENCE%20ice%20deposition%20terminal_moraine.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796136" y="3256839"/>
            <a:ext cx="2520280" cy="3360374"/>
          </a:xfrm>
          <a:prstGeom prst="rect">
            <a:avLst/>
          </a:prstGeom>
          <a:noFill/>
        </p:spPr>
      </p:pic>
      <p:sp>
        <p:nvSpPr>
          <p:cNvPr id="7"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G</a:t>
            </a:r>
            <a:r>
              <a:rPr lang="en-GB" sz="38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lacial</a:t>
            </a: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20233833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Image result for glacial geomorphology"/>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1272936" y="2420888"/>
            <a:ext cx="6428851" cy="4244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G</a:t>
            </a:r>
            <a:r>
              <a:rPr lang="en-GB" sz="38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lacial</a:t>
            </a: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6" name="TextBox 5"/>
          <p:cNvSpPr txBox="1"/>
          <p:nvPr/>
        </p:nvSpPr>
        <p:spPr>
          <a:xfrm>
            <a:off x="90101" y="1196752"/>
            <a:ext cx="8887264" cy="1477328"/>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Ice retreat reveals a characteristic geomorphology of</a:t>
            </a:r>
          </a:p>
          <a:p>
            <a:pPr marL="800100" lvl="1" indent="-342900">
              <a:spcAft>
                <a:spcPts val="600"/>
              </a:spcAft>
              <a:buFont typeface="Wingdings"/>
              <a:buChar char="à"/>
            </a:pPr>
            <a:r>
              <a:rPr lang="en-GB" sz="2000" b="1" dirty="0">
                <a:sym typeface="Wingdings" panose="05000000000000000000" pitchFamily="2" charset="2"/>
              </a:rPr>
              <a:t>Over-deepened trunk valleys, with flat bottoms and steep sides (the famous “U” shape</a:t>
            </a:r>
            <a:endParaRPr lang="en-GB" sz="2000" dirty="0">
              <a:sym typeface="Wingdings" panose="05000000000000000000" pitchFamily="2" charset="2"/>
            </a:endParaRPr>
          </a:p>
          <a:p>
            <a:pPr marL="800100" lvl="1" indent="-342900">
              <a:spcAft>
                <a:spcPts val="600"/>
              </a:spcAft>
              <a:buFont typeface="Wingdings"/>
              <a:buChar char="à"/>
            </a:pPr>
            <a:r>
              <a:rPr lang="en-GB" sz="2000" b="1" dirty="0">
                <a:sym typeface="Wingdings" panose="05000000000000000000" pitchFamily="2" charset="2"/>
              </a:rPr>
              <a:t>Typically with a “misfit” river.</a:t>
            </a:r>
          </a:p>
        </p:txBody>
      </p:sp>
    </p:spTree>
    <p:extLst>
      <p:ext uri="{BB962C8B-B14F-4D97-AF65-F5344CB8AC3E}">
        <p14:creationId xmlns:p14="http://schemas.microsoft.com/office/powerpoint/2010/main" val="6465674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https://planet-terre.ens-lyon.fr/planetterre/objets/Images/Img001/01-vallee-glaciaire.jp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23528" y="1151906"/>
            <a:ext cx="8640960" cy="5538069"/>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p:cNvGrpSpPr/>
          <p:nvPr/>
        </p:nvGrpSpPr>
        <p:grpSpPr>
          <a:xfrm>
            <a:off x="2771800" y="3212976"/>
            <a:ext cx="3420380" cy="994966"/>
            <a:chOff x="2771800" y="3212976"/>
            <a:chExt cx="3420380" cy="994966"/>
          </a:xfrm>
        </p:grpSpPr>
        <p:cxnSp>
          <p:nvCxnSpPr>
            <p:cNvPr id="6" name="Straight Connector 5"/>
            <p:cNvCxnSpPr/>
            <p:nvPr/>
          </p:nvCxnSpPr>
          <p:spPr>
            <a:xfrm>
              <a:off x="2771800" y="3212976"/>
              <a:ext cx="792088" cy="994965"/>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5724128" y="3328829"/>
              <a:ext cx="468052" cy="879112"/>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779912" y="4207941"/>
              <a:ext cx="1836204" cy="1"/>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grpSp>
      <p:sp>
        <p:nvSpPr>
          <p:cNvPr id="14" name="TextBox 13"/>
          <p:cNvSpPr txBox="1"/>
          <p:nvPr/>
        </p:nvSpPr>
        <p:spPr>
          <a:xfrm>
            <a:off x="539552" y="1340768"/>
            <a:ext cx="4608512" cy="400110"/>
          </a:xfrm>
          <a:prstGeom prst="rect">
            <a:avLst/>
          </a:prstGeom>
          <a:solidFill>
            <a:schemeClr val="bg1"/>
          </a:solidFill>
          <a:ln w="57150">
            <a:solidFill>
              <a:schemeClr val="tx1"/>
            </a:solidFill>
          </a:ln>
        </p:spPr>
        <p:txBody>
          <a:bodyPr wrap="square" rtlCol="0">
            <a:spAutoFit/>
          </a:bodyPr>
          <a:lstStyle/>
          <a:p>
            <a:pPr>
              <a:spcAft>
                <a:spcPts val="600"/>
              </a:spcAft>
            </a:pPr>
            <a:r>
              <a:rPr lang="en-GB" sz="2000" b="1" dirty="0">
                <a:sym typeface="Wingdings" panose="05000000000000000000" pitchFamily="2" charset="2"/>
              </a:rPr>
              <a:t>Recently </a:t>
            </a:r>
            <a:r>
              <a:rPr lang="en-GB" sz="2000" b="1" dirty="0" err="1">
                <a:sym typeface="Wingdings" panose="05000000000000000000" pitchFamily="2" charset="2"/>
              </a:rPr>
              <a:t>deglaciated</a:t>
            </a:r>
            <a:r>
              <a:rPr lang="en-GB" sz="2000" b="1" dirty="0">
                <a:sym typeface="Wingdings" panose="05000000000000000000" pitchFamily="2" charset="2"/>
              </a:rPr>
              <a:t> valley in Greenland.</a:t>
            </a:r>
            <a:endParaRPr lang="en-GB" sz="2000" b="1" dirty="0"/>
          </a:p>
        </p:txBody>
      </p:sp>
      <p:sp>
        <p:nvSpPr>
          <p:cNvPr id="15"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G</a:t>
            </a:r>
            <a:r>
              <a:rPr lang="en-GB" sz="38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lacial</a:t>
            </a: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Tree>
    <p:extLst>
      <p:ext uri="{BB962C8B-B14F-4D97-AF65-F5344CB8AC3E}">
        <p14:creationId xmlns:p14="http://schemas.microsoft.com/office/powerpoint/2010/main" val="32925615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Image result for glacial geomorphology"/>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1272936" y="2420888"/>
            <a:ext cx="6428851" cy="4244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G</a:t>
            </a:r>
            <a:r>
              <a:rPr lang="en-GB" sz="38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lacial</a:t>
            </a: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6" name="TextBox 5"/>
          <p:cNvSpPr txBox="1"/>
          <p:nvPr/>
        </p:nvSpPr>
        <p:spPr>
          <a:xfrm>
            <a:off x="90101" y="1196752"/>
            <a:ext cx="8887264" cy="1092607"/>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Ice retreat reveals a characteristic geomorphology of</a:t>
            </a:r>
          </a:p>
          <a:p>
            <a:pPr marL="800100" lvl="1" indent="-342900">
              <a:spcAft>
                <a:spcPts val="600"/>
              </a:spcAft>
              <a:buFont typeface="Wingdings"/>
              <a:buChar char="à"/>
            </a:pPr>
            <a:r>
              <a:rPr lang="en-GB" sz="2000" b="1" dirty="0">
                <a:sym typeface="Wingdings" panose="05000000000000000000" pitchFamily="2" charset="2"/>
              </a:rPr>
              <a:t>Hanging valleys where tributary glaciers eroded down only to level of the top of the valley glacier</a:t>
            </a:r>
          </a:p>
        </p:txBody>
      </p:sp>
    </p:spTree>
    <p:extLst>
      <p:ext uri="{BB962C8B-B14F-4D97-AF65-F5344CB8AC3E}">
        <p14:creationId xmlns:p14="http://schemas.microsoft.com/office/powerpoint/2010/main" val="30201718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G</a:t>
            </a:r>
            <a:r>
              <a:rPr lang="en-GB" sz="38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lacial</a:t>
            </a: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pic>
        <p:nvPicPr>
          <p:cNvPr id="45058" name="Picture 2" descr="(AG30) U-shaped valley with hanging valley, Yosemite National Park, CA"/>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6062" y="1124744"/>
            <a:ext cx="9021745" cy="5544616"/>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323528" y="1268760"/>
            <a:ext cx="3816424" cy="400110"/>
          </a:xfrm>
          <a:prstGeom prst="rect">
            <a:avLst/>
          </a:prstGeom>
          <a:solidFill>
            <a:schemeClr val="bg1"/>
          </a:solidFill>
          <a:ln w="57150">
            <a:solidFill>
              <a:schemeClr val="tx1"/>
            </a:solidFill>
          </a:ln>
        </p:spPr>
        <p:txBody>
          <a:bodyPr wrap="square" rtlCol="0">
            <a:spAutoFit/>
          </a:bodyPr>
          <a:lstStyle/>
          <a:p>
            <a:pPr>
              <a:spcAft>
                <a:spcPts val="600"/>
              </a:spcAft>
            </a:pPr>
            <a:r>
              <a:rPr lang="en-GB" sz="2000" b="1" dirty="0">
                <a:sym typeface="Wingdings" panose="05000000000000000000" pitchFamily="2" charset="2"/>
              </a:rPr>
              <a:t>Yosemite National Park, California</a:t>
            </a:r>
            <a:endParaRPr lang="en-GB" sz="2000" b="1" dirty="0"/>
          </a:p>
        </p:txBody>
      </p:sp>
      <p:sp>
        <p:nvSpPr>
          <p:cNvPr id="11" name="TextBox 10"/>
          <p:cNvSpPr txBox="1"/>
          <p:nvPr/>
        </p:nvSpPr>
        <p:spPr>
          <a:xfrm>
            <a:off x="6814528" y="4221088"/>
            <a:ext cx="1645903" cy="369332"/>
          </a:xfrm>
          <a:prstGeom prst="rect">
            <a:avLst/>
          </a:prstGeom>
          <a:solidFill>
            <a:schemeClr val="bg1"/>
          </a:solidFill>
        </p:spPr>
        <p:txBody>
          <a:bodyPr wrap="square" rtlCol="0">
            <a:spAutoFit/>
          </a:bodyPr>
          <a:lstStyle/>
          <a:p>
            <a:r>
              <a:rPr lang="en-GB" b="1" dirty="0"/>
              <a:t>Hanging Valley</a:t>
            </a:r>
          </a:p>
        </p:txBody>
      </p:sp>
      <p:cxnSp>
        <p:nvCxnSpPr>
          <p:cNvPr id="13" name="Straight Arrow Connector 12"/>
          <p:cNvCxnSpPr/>
          <p:nvPr/>
        </p:nvCxnSpPr>
        <p:spPr>
          <a:xfrm flipH="1" flipV="1">
            <a:off x="6320753" y="3737007"/>
            <a:ext cx="987551" cy="484081"/>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grpSp>
        <p:nvGrpSpPr>
          <p:cNvPr id="5" name="Group 4"/>
          <p:cNvGrpSpPr/>
          <p:nvPr/>
        </p:nvGrpSpPr>
        <p:grpSpPr>
          <a:xfrm>
            <a:off x="2123728" y="2343993"/>
            <a:ext cx="3168352" cy="2741192"/>
            <a:chOff x="2123728" y="2343993"/>
            <a:chExt cx="3168352" cy="2741192"/>
          </a:xfrm>
        </p:grpSpPr>
        <p:cxnSp>
          <p:nvCxnSpPr>
            <p:cNvPr id="17" name="Straight Connector 16"/>
            <p:cNvCxnSpPr/>
            <p:nvPr/>
          </p:nvCxnSpPr>
          <p:spPr>
            <a:xfrm>
              <a:off x="2123728" y="2343993"/>
              <a:ext cx="504056" cy="2525167"/>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824028" y="3356992"/>
              <a:ext cx="468052" cy="1599192"/>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87824" y="5085184"/>
              <a:ext cx="1836204" cy="1"/>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3415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Image result for glacial geomorphology"/>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1272936" y="2420888"/>
            <a:ext cx="6428851" cy="4244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G</a:t>
            </a:r>
            <a:r>
              <a:rPr lang="en-GB" sz="38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lacial</a:t>
            </a: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6" name="TextBox 5"/>
          <p:cNvSpPr txBox="1"/>
          <p:nvPr/>
        </p:nvSpPr>
        <p:spPr>
          <a:xfrm>
            <a:off x="90101" y="1196752"/>
            <a:ext cx="8887264" cy="1092607"/>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Ice retreat reveals a characteristic geomorphology of</a:t>
            </a:r>
          </a:p>
          <a:p>
            <a:pPr marL="800100" lvl="1" indent="-342900">
              <a:spcAft>
                <a:spcPts val="600"/>
              </a:spcAft>
              <a:buFont typeface="Wingdings"/>
              <a:buChar char="à"/>
            </a:pPr>
            <a:r>
              <a:rPr lang="en-GB" sz="2000" b="1" dirty="0">
                <a:sym typeface="Wingdings" panose="05000000000000000000" pitchFamily="2" charset="2"/>
              </a:rPr>
              <a:t>Amphitheatre-like “cirques” often filled with and quasi-circular lakes (“tarns”) at the headwalls of valley glaciers.</a:t>
            </a:r>
          </a:p>
        </p:txBody>
      </p:sp>
    </p:spTree>
    <p:extLst>
      <p:ext uri="{BB962C8B-B14F-4D97-AF65-F5344CB8AC3E}">
        <p14:creationId xmlns:p14="http://schemas.microsoft.com/office/powerpoint/2010/main" val="16852582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Image result for cirque de gavarnie"/>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95536" y="1268760"/>
            <a:ext cx="8208912" cy="547260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G</a:t>
            </a:r>
            <a:r>
              <a:rPr lang="en-GB" sz="38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lacial</a:t>
            </a: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6" name="TextBox 5"/>
          <p:cNvSpPr txBox="1"/>
          <p:nvPr/>
        </p:nvSpPr>
        <p:spPr>
          <a:xfrm>
            <a:off x="683568" y="6021288"/>
            <a:ext cx="3384376" cy="400110"/>
          </a:xfrm>
          <a:prstGeom prst="rect">
            <a:avLst/>
          </a:prstGeom>
          <a:solidFill>
            <a:schemeClr val="bg1"/>
          </a:solidFill>
          <a:ln w="57150">
            <a:solidFill>
              <a:schemeClr val="tx1"/>
            </a:solidFill>
          </a:ln>
        </p:spPr>
        <p:txBody>
          <a:bodyPr wrap="square" rtlCol="0">
            <a:spAutoFit/>
          </a:bodyPr>
          <a:lstStyle/>
          <a:p>
            <a:pPr>
              <a:spcAft>
                <a:spcPts val="600"/>
              </a:spcAft>
            </a:pPr>
            <a:r>
              <a:rPr lang="en-GB" sz="2000" b="1" dirty="0">
                <a:sym typeface="Wingdings" panose="05000000000000000000" pitchFamily="2" charset="2"/>
              </a:rPr>
              <a:t>Cirque de </a:t>
            </a:r>
            <a:r>
              <a:rPr lang="en-GB" sz="2000" b="1" dirty="0" err="1">
                <a:sym typeface="Wingdings" panose="05000000000000000000" pitchFamily="2" charset="2"/>
              </a:rPr>
              <a:t>Gavarine</a:t>
            </a:r>
            <a:r>
              <a:rPr lang="en-GB" sz="2000" b="1" dirty="0">
                <a:sym typeface="Wingdings" panose="05000000000000000000" pitchFamily="2" charset="2"/>
              </a:rPr>
              <a:t>, Pyrenees</a:t>
            </a:r>
            <a:endParaRPr lang="en-GB" sz="2000" b="1" dirty="0"/>
          </a:p>
        </p:txBody>
      </p:sp>
    </p:spTree>
    <p:extLst>
      <p:ext uri="{BB962C8B-B14F-4D97-AF65-F5344CB8AC3E}">
        <p14:creationId xmlns:p14="http://schemas.microsoft.com/office/powerpoint/2010/main" val="27537199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Image result for glacial geomorphology"/>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1272936" y="2420888"/>
            <a:ext cx="6428851" cy="4244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G</a:t>
            </a:r>
            <a:r>
              <a:rPr lang="en-GB" sz="38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lacial</a:t>
            </a: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6" name="TextBox 5"/>
          <p:cNvSpPr txBox="1"/>
          <p:nvPr/>
        </p:nvSpPr>
        <p:spPr>
          <a:xfrm>
            <a:off x="90101" y="1196752"/>
            <a:ext cx="8887264" cy="1400383"/>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GB" sz="2000" b="1" dirty="0"/>
              <a:t>Ice retreat reveals a characteristic geomorphology of</a:t>
            </a:r>
          </a:p>
          <a:p>
            <a:pPr marL="800100" lvl="1" indent="-342900">
              <a:spcAft>
                <a:spcPts val="600"/>
              </a:spcAft>
              <a:buFont typeface="Wingdings"/>
              <a:buChar char="à"/>
            </a:pPr>
            <a:r>
              <a:rPr lang="en-GB" sz="2000" b="1" dirty="0">
                <a:sym typeface="Wingdings" panose="05000000000000000000" pitchFamily="2" charset="2"/>
              </a:rPr>
              <a:t>Extremely narrow, steep ridges, called </a:t>
            </a:r>
            <a:r>
              <a:rPr lang="en-GB" sz="2000" b="1" dirty="0" err="1">
                <a:sym typeface="Wingdings" panose="05000000000000000000" pitchFamily="2" charset="2"/>
              </a:rPr>
              <a:t>arretes</a:t>
            </a:r>
            <a:r>
              <a:rPr lang="en-GB" sz="2000" b="1" dirty="0">
                <a:sym typeface="Wingdings" panose="05000000000000000000" pitchFamily="2" charset="2"/>
              </a:rPr>
              <a:t>, and steep “horns” (or “pyramidal peaks”, where the steep margins of glacial valleys have retreated towards one another.</a:t>
            </a:r>
          </a:p>
        </p:txBody>
      </p:sp>
    </p:spTree>
    <p:extLst>
      <p:ext uri="{BB962C8B-B14F-4D97-AF65-F5344CB8AC3E}">
        <p14:creationId xmlns:p14="http://schemas.microsoft.com/office/powerpoint/2010/main" val="6449718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G</a:t>
            </a:r>
            <a:r>
              <a:rPr lang="en-GB" sz="38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lacial</a:t>
            </a: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6" name="TextBox 5"/>
          <p:cNvSpPr txBox="1"/>
          <p:nvPr/>
        </p:nvSpPr>
        <p:spPr>
          <a:xfrm>
            <a:off x="166220" y="1340768"/>
            <a:ext cx="3253652" cy="707886"/>
          </a:xfrm>
          <a:prstGeom prst="rect">
            <a:avLst/>
          </a:prstGeom>
          <a:solidFill>
            <a:schemeClr val="bg1"/>
          </a:solidFill>
          <a:ln w="57150">
            <a:noFill/>
          </a:ln>
        </p:spPr>
        <p:txBody>
          <a:bodyPr wrap="square" rtlCol="0">
            <a:spAutoFit/>
          </a:bodyPr>
          <a:lstStyle/>
          <a:p>
            <a:pPr algn="r">
              <a:spcAft>
                <a:spcPts val="600"/>
              </a:spcAft>
            </a:pPr>
            <a:r>
              <a:rPr lang="en-GB" sz="2000" b="1" dirty="0">
                <a:sym typeface="Wingdings" panose="05000000000000000000" pitchFamily="2" charset="2"/>
              </a:rPr>
              <a:t>The Matterhorn (right) is the eponymous “horn”</a:t>
            </a:r>
            <a:endParaRPr lang="en-GB" sz="2000" b="1" dirty="0"/>
          </a:p>
        </p:txBody>
      </p:sp>
      <p:pic>
        <p:nvPicPr>
          <p:cNvPr id="49158" name="Picture 6" descr="NIKON D5300 + 70-300mm f/4.5-6.3 @ 70mm, ISO 100, 1/200, f/8.0"/>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563888" y="1124744"/>
            <a:ext cx="5347909" cy="3564402"/>
          </a:xfrm>
          <a:prstGeom prst="rect">
            <a:avLst/>
          </a:prstGeom>
          <a:noFill/>
          <a:extLst>
            <a:ext uri="{909E8E84-426E-40DD-AFC4-6F175D3DCCD1}">
              <a14:hiddenFill xmlns:a14="http://schemas.microsoft.com/office/drawing/2010/main">
                <a:solidFill>
                  <a:srgbClr val="FFFFFF"/>
                </a:solidFill>
              </a14:hiddenFill>
            </a:ext>
          </a:extLst>
        </p:spPr>
      </p:pic>
      <p:pic>
        <p:nvPicPr>
          <p:cNvPr id="49156" name="Picture 4" descr="Crib Goch Snowdonia Wales"/>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77207" y="3212976"/>
            <a:ext cx="5230717" cy="352419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5508104" y="5684194"/>
            <a:ext cx="3253652" cy="707886"/>
          </a:xfrm>
          <a:prstGeom prst="rect">
            <a:avLst/>
          </a:prstGeom>
          <a:solidFill>
            <a:schemeClr val="bg1"/>
          </a:solidFill>
          <a:ln w="57150">
            <a:noFill/>
          </a:ln>
        </p:spPr>
        <p:txBody>
          <a:bodyPr wrap="square" rtlCol="0">
            <a:spAutoFit/>
          </a:bodyPr>
          <a:lstStyle/>
          <a:p>
            <a:pPr>
              <a:spcAft>
                <a:spcPts val="600"/>
              </a:spcAft>
            </a:pPr>
            <a:r>
              <a:rPr lang="en-GB" sz="2000" b="1" dirty="0">
                <a:sym typeface="Wingdings" panose="05000000000000000000" pitchFamily="2" charset="2"/>
              </a:rPr>
              <a:t>Crib Goch, Snowdonia (left) is an </a:t>
            </a:r>
            <a:r>
              <a:rPr lang="en-GB" sz="2000" b="1" dirty="0" err="1">
                <a:sym typeface="Wingdings" panose="05000000000000000000" pitchFamily="2" charset="2"/>
              </a:rPr>
              <a:t>Arrete</a:t>
            </a:r>
            <a:r>
              <a:rPr lang="en-GB" sz="2000" b="1" dirty="0">
                <a:sym typeface="Wingdings" panose="05000000000000000000" pitchFamily="2" charset="2"/>
              </a:rPr>
              <a:t>.</a:t>
            </a:r>
            <a:endParaRPr lang="en-GB" sz="2000" b="1" dirty="0"/>
          </a:p>
        </p:txBody>
      </p:sp>
    </p:spTree>
    <p:extLst>
      <p:ext uri="{BB962C8B-B14F-4D97-AF65-F5344CB8AC3E}">
        <p14:creationId xmlns:p14="http://schemas.microsoft.com/office/powerpoint/2010/main" val="5331743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arrête rocheuse | Guides Saint-Gervais Mont-Blanc">
            <a:extLst>
              <a:ext uri="{FF2B5EF4-FFF2-40B4-BE49-F238E27FC236}">
                <a16:creationId xmlns:a16="http://schemas.microsoft.com/office/drawing/2014/main" id="{CE488007-BA3C-41B4-B49F-CD38E01E912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112" y="1080120"/>
            <a:ext cx="3131840" cy="2348880"/>
          </a:xfrm>
          <a:prstGeom prst="rect">
            <a:avLst/>
          </a:prstGeom>
          <a:noFill/>
          <a:extLst>
            <a:ext uri="{909E8E84-426E-40DD-AFC4-6F175D3DCCD1}">
              <a14:hiddenFill xmlns:a14="http://schemas.microsoft.com/office/drawing/2010/main">
                <a:solidFill>
                  <a:srgbClr val="FFFFFF"/>
                </a:solidFill>
              </a14:hiddenFill>
            </a:ext>
          </a:extLst>
        </p:spPr>
      </p:pic>
      <p:pic>
        <p:nvPicPr>
          <p:cNvPr id="39938" name="Picture 2" descr="Image result for glacial geomorphology"/>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3851920" y="3472783"/>
            <a:ext cx="4934561" cy="325769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txBox="1">
            <a:spLocks noChangeArrowheads="1"/>
          </p:cNvSpPr>
          <p:nvPr/>
        </p:nvSpPr>
        <p:spPr>
          <a:xfrm>
            <a:off x="56063" y="0"/>
            <a:ext cx="9087937" cy="980728"/>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n-GB" sz="3800" b="1"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G</a:t>
            </a:r>
            <a:r>
              <a:rPr lang="en-GB" sz="3800" b="1" noProof="0" dirty="0" err="1">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lacial</a:t>
            </a:r>
            <a:r>
              <a:rPr lang="en-GB" sz="3800" b="1" noProof="0" dirty="0">
                <a:solidFill>
                  <a:schemeClr val="bg1"/>
                </a:solidFill>
                <a:effectLst>
                  <a:outerShdw blurRad="38100" dist="38100" dir="2700000" algn="tl">
                    <a:srgbClr val="000000">
                      <a:alpha val="43137"/>
                    </a:srgbClr>
                  </a:outerShdw>
                </a:effectLst>
                <a:latin typeface="Bookman Old Style" pitchFamily="18" charset="0"/>
                <a:ea typeface="Adobe Fangsong Std R" pitchFamily="18" charset="-128"/>
                <a:cs typeface="+mj-cs"/>
              </a:rPr>
              <a:t> erosion and geomorphology</a:t>
            </a:r>
            <a:endParaRPr kumimoji="0" lang="en-GB" sz="3800" b="1" i="0" u="none" kern="1200" cap="none" spc="0" normalizeH="0" baseline="0" noProof="0" dirty="0">
              <a:ln>
                <a:noFill/>
              </a:ln>
              <a:solidFill>
                <a:schemeClr val="bg1"/>
              </a:solidFill>
              <a:effectLst>
                <a:outerShdw blurRad="38100" dist="38100" dir="2700000" algn="tl">
                  <a:srgbClr val="000000">
                    <a:alpha val="43137"/>
                  </a:srgbClr>
                </a:outerShdw>
              </a:effectLst>
              <a:uLnTx/>
              <a:uFillTx/>
              <a:latin typeface="Bookman Old Style" pitchFamily="18" charset="0"/>
              <a:ea typeface="Adobe Fangsong Std R" pitchFamily="18" charset="-128"/>
              <a:cs typeface="+mj-cs"/>
            </a:endParaRPr>
          </a:p>
        </p:txBody>
      </p:sp>
      <p:sp>
        <p:nvSpPr>
          <p:cNvPr id="7" name="Text Box 3">
            <a:extLst>
              <a:ext uri="{FF2B5EF4-FFF2-40B4-BE49-F238E27FC236}">
                <a16:creationId xmlns:a16="http://schemas.microsoft.com/office/drawing/2014/main" id="{7540E9B8-3B0B-415F-BD28-2CF66C6EB498}"/>
              </a:ext>
            </a:extLst>
          </p:cNvPr>
          <p:cNvSpPr txBox="1">
            <a:spLocks noChangeArrowheads="1"/>
          </p:cNvSpPr>
          <p:nvPr/>
        </p:nvSpPr>
        <p:spPr bwMode="auto">
          <a:xfrm>
            <a:off x="179512" y="1196752"/>
            <a:ext cx="8784976" cy="477054"/>
          </a:xfrm>
          <a:prstGeom prst="rect">
            <a:avLst/>
          </a:prstGeom>
          <a:noFill/>
          <a:ln w="9525">
            <a:noFill/>
            <a:miter lim="800000"/>
            <a:headEnd/>
            <a:tailEnd/>
          </a:ln>
        </p:spPr>
        <p:txBody>
          <a:bodyPr wrap="square">
            <a:spAutoFit/>
          </a:bodyPr>
          <a:lstStyle/>
          <a:p>
            <a:r>
              <a:rPr lang="en-GB" sz="2500" b="1" u="sng" dirty="0"/>
              <a:t>What to look for….</a:t>
            </a:r>
            <a:endParaRPr lang="en-GB" sz="2500" u="sng" dirty="0"/>
          </a:p>
        </p:txBody>
      </p:sp>
      <p:sp>
        <p:nvSpPr>
          <p:cNvPr id="8" name="TextBox 7">
            <a:extLst>
              <a:ext uri="{FF2B5EF4-FFF2-40B4-BE49-F238E27FC236}">
                <a16:creationId xmlns:a16="http://schemas.microsoft.com/office/drawing/2014/main" id="{C0C16E4C-5ECC-4A4B-A41B-8506275ECCEC}"/>
              </a:ext>
            </a:extLst>
          </p:cNvPr>
          <p:cNvSpPr txBox="1"/>
          <p:nvPr/>
        </p:nvSpPr>
        <p:spPr>
          <a:xfrm>
            <a:off x="5652120" y="1196752"/>
            <a:ext cx="1800200" cy="338554"/>
          </a:xfrm>
          <a:prstGeom prst="rect">
            <a:avLst/>
          </a:prstGeom>
          <a:solidFill>
            <a:schemeClr val="bg1"/>
          </a:solidFill>
          <a:ln w="57150">
            <a:noFill/>
          </a:ln>
        </p:spPr>
        <p:txBody>
          <a:bodyPr wrap="square" rtlCol="0">
            <a:spAutoFit/>
          </a:bodyPr>
          <a:lstStyle/>
          <a:p>
            <a:pPr>
              <a:spcAft>
                <a:spcPts val="600"/>
              </a:spcAft>
            </a:pPr>
            <a:r>
              <a:rPr lang="en-GB" sz="1600" b="1" dirty="0" err="1">
                <a:sym typeface="Wingdings" panose="05000000000000000000" pitchFamily="2" charset="2"/>
              </a:rPr>
              <a:t>Arretes</a:t>
            </a:r>
            <a:r>
              <a:rPr lang="en-GB" sz="1600" b="1" dirty="0">
                <a:sym typeface="Wingdings" panose="05000000000000000000" pitchFamily="2" charset="2"/>
              </a:rPr>
              <a:t> and Horns</a:t>
            </a:r>
            <a:endParaRPr lang="en-GB" sz="1600" b="1" dirty="0"/>
          </a:p>
        </p:txBody>
      </p:sp>
      <p:pic>
        <p:nvPicPr>
          <p:cNvPr id="1032" name="Picture 8" descr="Alpine glaciers | Glaciers | Earth processes | OneGeology Kids | eXtra |  OneGeology">
            <a:extLst>
              <a:ext uri="{FF2B5EF4-FFF2-40B4-BE49-F238E27FC236}">
                <a16:creationId xmlns:a16="http://schemas.microsoft.com/office/drawing/2014/main" id="{2981BF5C-A8DE-49A7-969C-BA0742B54E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392" y="4671529"/>
            <a:ext cx="3353496" cy="196514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6116C4F5-F0BB-4B12-B895-FBFB03E78FA3}"/>
              </a:ext>
            </a:extLst>
          </p:cNvPr>
          <p:cNvSpPr txBox="1"/>
          <p:nvPr/>
        </p:nvSpPr>
        <p:spPr>
          <a:xfrm>
            <a:off x="340429" y="6165304"/>
            <a:ext cx="936104" cy="338554"/>
          </a:xfrm>
          <a:prstGeom prst="rect">
            <a:avLst/>
          </a:prstGeom>
          <a:solidFill>
            <a:schemeClr val="bg1"/>
          </a:solidFill>
          <a:ln w="57150">
            <a:noFill/>
          </a:ln>
        </p:spPr>
        <p:txBody>
          <a:bodyPr wrap="square" rtlCol="0">
            <a:spAutoFit/>
          </a:bodyPr>
          <a:lstStyle/>
          <a:p>
            <a:pPr>
              <a:spcAft>
                <a:spcPts val="600"/>
              </a:spcAft>
            </a:pPr>
            <a:r>
              <a:rPr lang="en-GB" sz="1600" b="1" dirty="0"/>
              <a:t>Cirques</a:t>
            </a:r>
          </a:p>
        </p:txBody>
      </p:sp>
      <p:pic>
        <p:nvPicPr>
          <p:cNvPr id="1034" name="Picture 10" descr="Hanging Valleys | Hanging Valley | Natural landmarks, Geology, Landmarks">
            <a:extLst>
              <a:ext uri="{FF2B5EF4-FFF2-40B4-BE49-F238E27FC236}">
                <a16:creationId xmlns:a16="http://schemas.microsoft.com/office/drawing/2014/main" id="{1E64AF56-CC58-451D-8609-92F26D0B92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9776" y="1620792"/>
            <a:ext cx="3135641" cy="234888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eography 12 Rocks: U-shaped valley">
            <a:extLst>
              <a:ext uri="{FF2B5EF4-FFF2-40B4-BE49-F238E27FC236}">
                <a16:creationId xmlns:a16="http://schemas.microsoft.com/office/drawing/2014/main" id="{6DBFCDE5-99B7-4FC4-AC4D-A21A4186CD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958" y="2479345"/>
            <a:ext cx="3131840" cy="208789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D9CED05-64A3-412D-A1C6-E50412384047}"/>
              </a:ext>
            </a:extLst>
          </p:cNvPr>
          <p:cNvSpPr txBox="1"/>
          <p:nvPr/>
        </p:nvSpPr>
        <p:spPr>
          <a:xfrm>
            <a:off x="135310" y="2414521"/>
            <a:ext cx="1800200" cy="338554"/>
          </a:xfrm>
          <a:prstGeom prst="rect">
            <a:avLst/>
          </a:prstGeom>
          <a:solidFill>
            <a:schemeClr val="bg1"/>
          </a:solidFill>
          <a:ln w="57150">
            <a:noFill/>
          </a:ln>
        </p:spPr>
        <p:txBody>
          <a:bodyPr wrap="square" rtlCol="0">
            <a:spAutoFit/>
          </a:bodyPr>
          <a:lstStyle/>
          <a:p>
            <a:pPr>
              <a:spcAft>
                <a:spcPts val="600"/>
              </a:spcAft>
            </a:pPr>
            <a:r>
              <a:rPr lang="en-GB" sz="1600" b="1" dirty="0">
                <a:sym typeface="Wingdings" panose="05000000000000000000" pitchFamily="2" charset="2"/>
              </a:rPr>
              <a:t>U-shaped valleys</a:t>
            </a:r>
            <a:endParaRPr lang="en-GB" sz="1600" b="1" dirty="0"/>
          </a:p>
        </p:txBody>
      </p:sp>
      <p:sp>
        <p:nvSpPr>
          <p:cNvPr id="15" name="TextBox 14">
            <a:extLst>
              <a:ext uri="{FF2B5EF4-FFF2-40B4-BE49-F238E27FC236}">
                <a16:creationId xmlns:a16="http://schemas.microsoft.com/office/drawing/2014/main" id="{E68D0C7F-B1AC-441C-A2F8-3C5D70EF31CC}"/>
              </a:ext>
            </a:extLst>
          </p:cNvPr>
          <p:cNvSpPr txBox="1"/>
          <p:nvPr/>
        </p:nvSpPr>
        <p:spPr>
          <a:xfrm>
            <a:off x="2761236" y="1690155"/>
            <a:ext cx="1789060" cy="338554"/>
          </a:xfrm>
          <a:prstGeom prst="rect">
            <a:avLst/>
          </a:prstGeom>
          <a:solidFill>
            <a:schemeClr val="bg1"/>
          </a:solidFill>
          <a:ln w="57150">
            <a:noFill/>
          </a:ln>
        </p:spPr>
        <p:txBody>
          <a:bodyPr wrap="square" rtlCol="0">
            <a:spAutoFit/>
          </a:bodyPr>
          <a:lstStyle/>
          <a:p>
            <a:pPr>
              <a:spcAft>
                <a:spcPts val="600"/>
              </a:spcAft>
            </a:pPr>
            <a:r>
              <a:rPr lang="en-GB" sz="1600" b="1" dirty="0"/>
              <a:t>Hanging valleys</a:t>
            </a:r>
          </a:p>
        </p:txBody>
      </p:sp>
    </p:spTree>
    <p:extLst>
      <p:ext uri="{BB962C8B-B14F-4D97-AF65-F5344CB8AC3E}">
        <p14:creationId xmlns:p14="http://schemas.microsoft.com/office/powerpoint/2010/main" val="38796996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1907</TotalTime>
  <Words>3191</Words>
  <Application>Microsoft Office PowerPoint</Application>
  <PresentationFormat>On-screen Show (4:3)</PresentationFormat>
  <Paragraphs>381</Paragraphs>
  <Slides>66</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66</vt:i4>
      </vt:variant>
    </vt:vector>
  </HeadingPairs>
  <TitlesOfParts>
    <vt:vector size="72" baseType="lpstr">
      <vt:lpstr>Arial</vt:lpstr>
      <vt:lpstr>Bookman Old Style</vt:lpstr>
      <vt:lpstr>Calibri</vt:lpstr>
      <vt:lpstr>Symbol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Rhodri Jerrett</dc:creator>
  <cp:lastModifiedBy>Rhodri Jerrett</cp:lastModifiedBy>
  <cp:revision>157</cp:revision>
  <dcterms:created xsi:type="dcterms:W3CDTF">2014-02-06T10:47:42Z</dcterms:created>
  <dcterms:modified xsi:type="dcterms:W3CDTF">2024-04-23T09:47:47Z</dcterms:modified>
</cp:coreProperties>
</file>