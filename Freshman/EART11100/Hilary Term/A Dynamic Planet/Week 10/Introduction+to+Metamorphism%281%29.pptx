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470" r:id="rId2"/>
    <p:sldId id="689" r:id="rId3"/>
    <p:sldId id="492" r:id="rId4"/>
    <p:sldId id="493" r:id="rId5"/>
    <p:sldId id="494" r:id="rId6"/>
    <p:sldId id="495" r:id="rId7"/>
    <p:sldId id="496" r:id="rId8"/>
    <p:sldId id="690" r:id="rId9"/>
    <p:sldId id="691" r:id="rId10"/>
    <p:sldId id="692" r:id="rId11"/>
    <p:sldId id="693" r:id="rId12"/>
    <p:sldId id="694" r:id="rId13"/>
    <p:sldId id="695" r:id="rId14"/>
    <p:sldId id="696" r:id="rId15"/>
    <p:sldId id="697" r:id="rId16"/>
    <p:sldId id="698" r:id="rId17"/>
    <p:sldId id="699" r:id="rId18"/>
    <p:sldId id="700" r:id="rId19"/>
    <p:sldId id="701" r:id="rId20"/>
    <p:sldId id="702" r:id="rId21"/>
    <p:sldId id="703" r:id="rId22"/>
    <p:sldId id="704" r:id="rId23"/>
    <p:sldId id="705" r:id="rId24"/>
    <p:sldId id="706" r:id="rId25"/>
    <p:sldId id="707" r:id="rId26"/>
    <p:sldId id="708" r:id="rId27"/>
    <p:sldId id="709" r:id="rId28"/>
    <p:sldId id="710" r:id="rId29"/>
    <p:sldId id="711" r:id="rId30"/>
    <p:sldId id="712" r:id="rId31"/>
    <p:sldId id="713" r:id="rId32"/>
    <p:sldId id="714" r:id="rId33"/>
    <p:sldId id="715" r:id="rId34"/>
    <p:sldId id="716" r:id="rId35"/>
    <p:sldId id="717" r:id="rId36"/>
    <p:sldId id="718" r:id="rId37"/>
    <p:sldId id="719" r:id="rId38"/>
    <p:sldId id="720" r:id="rId39"/>
    <p:sldId id="721" r:id="rId40"/>
    <p:sldId id="722" r:id="rId41"/>
    <p:sldId id="723" r:id="rId42"/>
    <p:sldId id="724" r:id="rId43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45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66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26" autoAdjust="0"/>
  </p:normalViewPr>
  <p:slideViewPr>
    <p:cSldViewPr showGuides="1">
      <p:cViewPr varScale="1">
        <p:scale>
          <a:sx n="106" d="100"/>
          <a:sy n="106" d="100"/>
        </p:scale>
        <p:origin x="1764" y="108"/>
      </p:cViewPr>
      <p:guideLst>
        <p:guide orient="horz" pos="346"/>
        <p:guide pos="4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7956-B2B7-4F61-89C8-CAD0C80FF734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2A6F2-4AE1-4385-ABD6-10FCC3249D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17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22AD4-7DB7-45C8-B816-4DF7645EE769}" type="datetimeFigureOut">
              <a:rPr lang="en-GB" smtClean="0"/>
              <a:t>03/05/2022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97A13-6C2A-4803-9BA4-BA24E611C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2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893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97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4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0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87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8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09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504056"/>
          </a:xfrm>
        </p:spPr>
        <p:txBody>
          <a:bodyPr>
            <a:noAutofit/>
          </a:bodyPr>
          <a:lstStyle>
            <a:lvl1pPr>
              <a:defRPr sz="2800" b="1" u="sng" spc="3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669360"/>
            <a:ext cx="9144000" cy="0"/>
          </a:xfrm>
          <a:prstGeom prst="line">
            <a:avLst/>
          </a:prstGeom>
          <a:ln w="19050">
            <a:solidFill>
              <a:srgbClr val="66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-33070" y="6642815"/>
            <a:ext cx="3994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cap="all" dirty="0">
                <a:solidFill>
                  <a:srgbClr val="6699FF"/>
                </a:solidFill>
              </a:rPr>
              <a:t>Introduction  To Petroleum Geology – B.</a:t>
            </a:r>
            <a:r>
              <a:rPr lang="en-GB" sz="1200" cap="all" baseline="0" dirty="0">
                <a:solidFill>
                  <a:srgbClr val="6699FF"/>
                </a:solidFill>
              </a:rPr>
              <a:t> Legler 2013</a:t>
            </a:r>
            <a:endParaRPr lang="en-GB" sz="1200" cap="all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1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9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90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4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4413-C829-4961-8E50-198007333F2B}" type="datetimeFigureOut">
              <a:rPr lang="en-GB" smtClean="0"/>
              <a:pPr/>
              <a:t>03/05/2022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8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lewisian gneiss&quot;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7272" y="0"/>
            <a:ext cx="91512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08048" y="760328"/>
            <a:ext cx="8928992" cy="4108831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8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Introduction to </a:t>
            </a: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Metamorphism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129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3263" y="4869160"/>
            <a:ext cx="8964489" cy="864096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itchFamily="34" charset="0"/>
              </a:rPr>
              <a:t>… you should be able to…</a:t>
            </a:r>
          </a:p>
          <a:p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define metamorphism, and describe the principal changes that occur</a:t>
            </a:r>
            <a:r>
              <a:rPr lang="en-GB" sz="1400" dirty="0" smtClean="0">
                <a:latin typeface="Arial" panose="020B0604020202020204" pitchFamily="34" charset="0"/>
                <a:cs typeface="Arial" pitchFamily="34" charset="0"/>
              </a:rPr>
              <a:t>.</a:t>
            </a:r>
          </a:p>
          <a:p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describe the main causes of metamorphism, and describe how tectonic setting controls temperature, but not pressure.</a:t>
            </a:r>
          </a:p>
          <a:p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describe the relationship between </a:t>
            </a:r>
            <a:r>
              <a:rPr lang="en-GB" sz="1400" dirty="0" err="1">
                <a:latin typeface="Arial" panose="020B0604020202020204" pitchFamily="34" charset="0"/>
                <a:cs typeface="Arial" pitchFamily="34" charset="0"/>
              </a:rPr>
              <a:t>deviatoric</a:t>
            </a:r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 stress and metamorphic texture.</a:t>
            </a:r>
          </a:p>
          <a:p>
            <a:r>
              <a:rPr lang="en-GB" sz="1400" dirty="0" smtClean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explain why different kinds of metamorphic rock form, and</a:t>
            </a:r>
          </a:p>
          <a:p>
            <a:r>
              <a:rPr lang="en-GB" sz="1400" dirty="0">
                <a:latin typeface="Arial" panose="020B0604020202020204" pitchFamily="34" charset="0"/>
                <a:cs typeface="Arial" pitchFamily="34" charset="0"/>
              </a:rPr>
              <a:t>how recognising different kinds of metamorphic minerals and fabrics can tell us where they formed.</a:t>
            </a:r>
          </a:p>
          <a:p>
            <a:endParaRPr lang="en-GB" sz="18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67744" y="2953844"/>
            <a:ext cx="1080120" cy="504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5699D5-9C24-44CF-BEED-22B237E1D07C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anose="02050604050505020204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083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B283918B-6221-4076-B665-245B676C6E6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is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m?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D9803-3684-46F1-A9F9-B4612EE32D1B}"/>
              </a:ext>
            </a:extLst>
          </p:cNvPr>
          <p:cNvSpPr txBox="1"/>
          <p:nvPr/>
        </p:nvSpPr>
        <p:spPr>
          <a:xfrm>
            <a:off x="107504" y="1124744"/>
            <a:ext cx="8928992" cy="594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rial" charset="0"/>
              </a:rPr>
              <a:t>From “meta” (change) and “morph” (shape)</a:t>
            </a:r>
          </a:p>
          <a:p>
            <a:pPr>
              <a:lnSpc>
                <a:spcPct val="120000"/>
              </a:lnSpc>
            </a:pPr>
            <a:endParaRPr lang="en-GB" b="1" dirty="0">
              <a:latin typeface="Arial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u="sng" dirty="0">
                <a:latin typeface="Arial" charset="0"/>
              </a:rPr>
              <a:t>Changes in the mineralogy and texture </a:t>
            </a:r>
            <a:r>
              <a:rPr lang="en-GB" b="1" dirty="0">
                <a:latin typeface="Arial" charset="0"/>
              </a:rPr>
              <a:t>(shape and size of minerals) that occur </a:t>
            </a:r>
            <a:r>
              <a:rPr lang="en-GB" b="1" u="sng" dirty="0">
                <a:latin typeface="Arial" charset="0"/>
              </a:rPr>
              <a:t>in the solid state</a:t>
            </a:r>
            <a:r>
              <a:rPr lang="en-GB" b="1" dirty="0">
                <a:latin typeface="Arial" charset="0"/>
              </a:rPr>
              <a:t> (strictly no melting).</a:t>
            </a:r>
            <a:endParaRPr lang="en-GB" b="1" u="sng" dirty="0">
              <a:latin typeface="Arial" charset="0"/>
            </a:endParaRPr>
          </a:p>
          <a:p>
            <a:pPr>
              <a:lnSpc>
                <a:spcPct val="120000"/>
              </a:lnSpc>
            </a:pPr>
            <a:endParaRPr lang="en-GB" b="1" u="sng" dirty="0">
              <a:latin typeface="Arial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rial" charset="0"/>
              </a:rPr>
              <a:t>Response to the addition of </a:t>
            </a:r>
            <a:r>
              <a:rPr lang="en-GB" altLang="ja-JP" b="1" u="sng" dirty="0">
                <a:latin typeface="Arial" charset="0"/>
              </a:rPr>
              <a:t>thermal energy </a:t>
            </a:r>
            <a:r>
              <a:rPr lang="en-GB" altLang="ja-JP" b="1" dirty="0">
                <a:latin typeface="Arial" charset="0"/>
              </a:rPr>
              <a:t>(heat) and </a:t>
            </a:r>
            <a:r>
              <a:rPr lang="en-GB" altLang="ja-JP" b="1" u="sng" dirty="0">
                <a:latin typeface="Arial" charset="0"/>
              </a:rPr>
              <a:t>mechanical energy </a:t>
            </a:r>
            <a:r>
              <a:rPr lang="en-GB" altLang="ja-JP" b="1" dirty="0">
                <a:latin typeface="Arial" charset="0"/>
              </a:rPr>
              <a:t>(work)… change to an equilibrium state.</a:t>
            </a:r>
          </a:p>
          <a:p>
            <a:pPr>
              <a:lnSpc>
                <a:spcPct val="120000"/>
              </a:lnSpc>
            </a:pPr>
            <a:endParaRPr lang="en-GB" altLang="ja-JP" b="1" dirty="0">
              <a:latin typeface="Arial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altLang="ja-JP" b="1" dirty="0">
                <a:latin typeface="Arial" charset="0"/>
              </a:rPr>
              <a:t>It doesn’t change the bulk chemical composition of the rock</a:t>
            </a:r>
          </a:p>
          <a:p>
            <a:pPr>
              <a:lnSpc>
                <a:spcPct val="120000"/>
              </a:lnSpc>
            </a:pPr>
            <a:r>
              <a:rPr lang="en-GB" altLang="ja-JP" b="1" dirty="0">
                <a:latin typeface="Arial" charset="0"/>
              </a:rPr>
              <a:t>	</a:t>
            </a:r>
            <a:r>
              <a:rPr lang="en-GB" altLang="ja-JP" dirty="0">
                <a:latin typeface="Arial" charset="0"/>
                <a:sym typeface="Wingdings" panose="05000000000000000000" pitchFamily="2" charset="2"/>
              </a:rPr>
              <a:t></a:t>
            </a:r>
            <a:r>
              <a:rPr lang="en-GB" altLang="ja-JP" dirty="0">
                <a:latin typeface="Arial" charset="0"/>
              </a:rPr>
              <a:t> it is a closed system process.</a:t>
            </a:r>
          </a:p>
          <a:p>
            <a:pPr>
              <a:lnSpc>
                <a:spcPct val="120000"/>
              </a:lnSpc>
            </a:pPr>
            <a:r>
              <a:rPr lang="en-GB" altLang="ja-JP" dirty="0">
                <a:latin typeface="Arial" charset="0"/>
              </a:rPr>
              <a:t>	</a:t>
            </a:r>
            <a:r>
              <a:rPr lang="en-GB" altLang="ja-JP" dirty="0">
                <a:latin typeface="Arial" charset="0"/>
                <a:sym typeface="Wingdings" panose="05000000000000000000" pitchFamily="2" charset="2"/>
              </a:rPr>
              <a:t> i.e. one that involves transfer of energy but not material.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altLang="ja-JP" b="1" dirty="0">
              <a:latin typeface="Arial" charset="0"/>
              <a:sym typeface="Wingdings" panose="05000000000000000000" pitchFamily="2" charset="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altLang="ja-JP" b="1" dirty="0">
                <a:latin typeface="Arial" charset="0"/>
                <a:sym typeface="Wingdings" panose="05000000000000000000" pitchFamily="2" charset="2"/>
              </a:rPr>
              <a:t>The exceptions are…</a:t>
            </a:r>
          </a:p>
          <a:p>
            <a:pPr lvl="1">
              <a:lnSpc>
                <a:spcPct val="120000"/>
              </a:lnSpc>
            </a:pPr>
            <a:r>
              <a:rPr lang="en-GB" altLang="ja-JP" b="1" dirty="0">
                <a:latin typeface="Arial" charset="0"/>
                <a:sym typeface="Wingdings" panose="05000000000000000000" pitchFamily="2" charset="2"/>
              </a:rPr>
              <a:t>	</a:t>
            </a:r>
            <a:r>
              <a:rPr lang="en-GB" altLang="ja-JP" dirty="0">
                <a:latin typeface="Arial" charset="0"/>
                <a:sym typeface="Wingdings" panose="05000000000000000000" pitchFamily="2" charset="2"/>
              </a:rPr>
              <a:t> Volatiles (</a:t>
            </a:r>
            <a:r>
              <a:rPr lang="en-GB" dirty="0"/>
              <a:t>H</a:t>
            </a:r>
            <a:r>
              <a:rPr lang="en-GB" baseline="-25000" dirty="0"/>
              <a:t>2</a:t>
            </a:r>
            <a:r>
              <a:rPr lang="en-GB" dirty="0"/>
              <a:t>O &amp; CO</a:t>
            </a:r>
            <a:r>
              <a:rPr lang="en-GB" baseline="-25000" dirty="0"/>
              <a:t>2</a:t>
            </a:r>
            <a:r>
              <a:rPr lang="en-GB" dirty="0">
                <a:latin typeface="Arial" charset="0"/>
              </a:rPr>
              <a:t>) are lost (</a:t>
            </a:r>
            <a:r>
              <a:rPr lang="en-GB" dirty="0"/>
              <a:t>H</a:t>
            </a:r>
            <a:r>
              <a:rPr lang="en-GB" baseline="-25000" dirty="0"/>
              <a:t>2</a:t>
            </a:r>
            <a:r>
              <a:rPr lang="en-GB" dirty="0"/>
              <a:t>O abundant in crystal structure of clays, CO</a:t>
            </a:r>
            <a:r>
              <a:rPr lang="en-GB" baseline="-25000" dirty="0"/>
              <a:t>2</a:t>
            </a:r>
            <a:r>
              <a:rPr lang="en-GB" dirty="0"/>
              <a:t>). 	They can also sometime be added. 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	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Metasomatism</a:t>
            </a:r>
            <a:r>
              <a:rPr lang="en-GB" dirty="0">
                <a:sym typeface="Wingdings" panose="05000000000000000000" pitchFamily="2" charset="2"/>
              </a:rPr>
              <a:t> – metamorphism caused by the addition or removal of 	elements by the pumping of hot, saturated pore waters.</a:t>
            </a:r>
            <a:endParaRPr lang="en-GB" dirty="0"/>
          </a:p>
          <a:p>
            <a:pPr lvl="1">
              <a:lnSpc>
                <a:spcPct val="120000"/>
              </a:lnSpc>
            </a:pPr>
            <a:r>
              <a:rPr lang="en-GB" baseline="-25000" dirty="0"/>
              <a:t>	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51520" y="4797152"/>
            <a:ext cx="8784976" cy="2016224"/>
            <a:chOff x="251520" y="4797152"/>
            <a:chExt cx="8784976" cy="2016224"/>
          </a:xfrm>
        </p:grpSpPr>
        <p:sp>
          <p:nvSpPr>
            <p:cNvPr id="2" name="Rectangle 1"/>
            <p:cNvSpPr/>
            <p:nvPr/>
          </p:nvSpPr>
          <p:spPr>
            <a:xfrm>
              <a:off x="251520" y="4797152"/>
              <a:ext cx="8712968" cy="2016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5D9803-3684-46F1-A9F9-B4612EE32D1B}"/>
                </a:ext>
              </a:extLst>
            </p:cNvPr>
            <p:cNvSpPr txBox="1"/>
            <p:nvPr/>
          </p:nvSpPr>
          <p:spPr>
            <a:xfrm>
              <a:off x="3059832" y="4941168"/>
              <a:ext cx="5976664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b="1" dirty="0">
                  <a:solidFill>
                    <a:srgbClr val="FF0000"/>
                  </a:solidFill>
                  <a:latin typeface="Arial" charset="0"/>
                </a:rPr>
                <a:t>Not concern ourselves too much with these for now.</a:t>
              </a:r>
              <a:endParaRPr lang="en-GB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11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6413261F-5B34-4F62-BF3E-B59B74492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052736"/>
            <a:ext cx="88924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b="1" u="sng" dirty="0"/>
              <a:t>1. Recrystallisation </a:t>
            </a:r>
            <a:r>
              <a:rPr lang="en-GB" sz="2000" b="1" dirty="0"/>
              <a:t>– existing minerals adopt new </a:t>
            </a:r>
            <a:r>
              <a:rPr lang="en-GB" sz="2000" b="1" u="sng" dirty="0"/>
              <a:t>textures</a:t>
            </a:r>
            <a:r>
              <a:rPr lang="en-GB" sz="2000" b="1" dirty="0"/>
              <a:t> (shapes and 	sizes). Some minerals adopt a preferred orientation (as we will 	see).</a:t>
            </a:r>
          </a:p>
        </p:txBody>
      </p:sp>
      <p:pic>
        <p:nvPicPr>
          <p:cNvPr id="6" name="Picture 2" descr="Image result for granoblastic">
            <a:extLst>
              <a:ext uri="{FF2B5EF4-FFF2-40B4-BE49-F238E27FC236}">
                <a16:creationId xmlns:a16="http://schemas.microsoft.com/office/drawing/2014/main" id="{EEF954C0-0D43-43AF-A41D-3BCA1DDC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48102" y="2104043"/>
            <a:ext cx="4215038" cy="315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sandstone thin section">
            <a:extLst>
              <a:ext uri="{FF2B5EF4-FFF2-40B4-BE49-F238E27FC236}">
                <a16:creationId xmlns:a16="http://schemas.microsoft.com/office/drawing/2014/main" id="{1FD13E72-B6F1-4059-9B2C-EAB3957CC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2096852"/>
            <a:ext cx="4215038" cy="316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 result for shale thin section">
            <a:extLst>
              <a:ext uri="{FF2B5EF4-FFF2-40B4-BE49-F238E27FC236}">
                <a16:creationId xmlns:a16="http://schemas.microsoft.com/office/drawing/2014/main" id="{5CB504C6-6144-4C6D-BBD2-E7A89E74C4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599" t="89616" r="4389" b="4166"/>
          <a:stretch/>
        </p:blipFill>
        <p:spPr bwMode="auto">
          <a:xfrm>
            <a:off x="296721" y="2185518"/>
            <a:ext cx="1322951" cy="30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 result for shale thin section">
            <a:extLst>
              <a:ext uri="{FF2B5EF4-FFF2-40B4-BE49-F238E27FC236}">
                <a16:creationId xmlns:a16="http://schemas.microsoft.com/office/drawing/2014/main" id="{172F763C-389D-491A-8B48-73E4345BAC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599" t="89616" r="4389" b="4166"/>
          <a:stretch/>
        </p:blipFill>
        <p:spPr bwMode="auto">
          <a:xfrm>
            <a:off x="4836234" y="2186217"/>
            <a:ext cx="1319942" cy="306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221D72F5-B42C-4BFF-9E60-79BA4E4DB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315891"/>
            <a:ext cx="6768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b="1" dirty="0"/>
              <a:t>Sandstone		 </a:t>
            </a:r>
            <a:r>
              <a:rPr lang="en-GB" sz="2000" b="1" dirty="0">
                <a:sym typeface="Wingdings" panose="05000000000000000000" pitchFamily="2" charset="2"/>
              </a:rPr>
              <a:t>		Quartzite</a:t>
            </a:r>
            <a:endParaRPr lang="en-GB" sz="2000" b="1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8DF9BA38-E6D9-4512-B385-49363B6FC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15" y="5733256"/>
            <a:ext cx="88924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dirty="0"/>
              <a:t>Quartz has recrystalised in the solid state from a rounded, abraded sedimentary texture to an interlocking “granoblastic” texture. No new minerals.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CF9B837-CE80-4CF1-B79C-0A7509EECCD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happens during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m?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1264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6413261F-5B34-4F62-BF3E-B59B74492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60" y="1124744"/>
            <a:ext cx="889248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b="1" u="sng" dirty="0"/>
              <a:t>2. </a:t>
            </a:r>
            <a:r>
              <a:rPr lang="en-GB" sz="2000" b="1" u="sng" dirty="0" err="1"/>
              <a:t>Neomineralisation</a:t>
            </a:r>
            <a:r>
              <a:rPr lang="en-GB" sz="2000" b="1" u="sng" dirty="0"/>
              <a:t> </a:t>
            </a:r>
            <a:r>
              <a:rPr lang="en-GB" sz="2000" b="1" dirty="0"/>
              <a:t>– the formation of new minerals at the expense of 	existing ones (new formulae and </a:t>
            </a:r>
            <a:r>
              <a:rPr lang="en-GB" sz="2000" b="1" u="sng" dirty="0"/>
              <a:t>polymorphs</a:t>
            </a:r>
            <a:r>
              <a:rPr lang="en-GB" sz="2000" b="1" dirty="0"/>
              <a:t>).</a:t>
            </a:r>
          </a:p>
          <a:p>
            <a:pPr lvl="1" indent="0" eaLnBrk="1" hangingPunct="1">
              <a:spcBef>
                <a:spcPct val="20000"/>
              </a:spcBef>
            </a:pPr>
            <a:r>
              <a:rPr lang="en-GB" sz="2000" b="1" dirty="0"/>
              <a:t>	Involves chemical reactions between minerals (± fluid)</a:t>
            </a:r>
            <a:endParaRPr lang="en-GB" sz="2000" b="1" u="sng" dirty="0">
              <a:sym typeface="Wingdings" charset="0"/>
            </a:endParaRPr>
          </a:p>
          <a:p>
            <a:pPr eaLnBrk="1" hangingPunct="1"/>
            <a:endParaRPr lang="en-GB" sz="2000" b="1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4210542-06EA-4458-A426-EAE568B90B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26186" y="2204864"/>
            <a:ext cx="4191001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 result for shale thin section">
            <a:extLst>
              <a:ext uri="{FF2B5EF4-FFF2-40B4-BE49-F238E27FC236}">
                <a16:creationId xmlns:a16="http://schemas.microsoft.com/office/drawing/2014/main" id="{2F2D4374-D4C0-449F-B45F-F60A29AC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2211" y="2204864"/>
            <a:ext cx="41910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571FFDBD-D8E5-4616-956E-C0A56EF41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5301208"/>
            <a:ext cx="6192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b="1" dirty="0"/>
              <a:t>Shale		          </a:t>
            </a:r>
            <a:r>
              <a:rPr lang="en-GB" sz="2000" b="1" dirty="0">
                <a:sym typeface="Wingdings" panose="05000000000000000000" pitchFamily="2" charset="2"/>
              </a:rPr>
              <a:t>	 	Schist</a:t>
            </a:r>
            <a:endParaRPr lang="en-GB" sz="2000" b="1" dirty="0"/>
          </a:p>
        </p:txBody>
      </p:sp>
      <p:pic>
        <p:nvPicPr>
          <p:cNvPr id="9" name="Picture 6" descr="Image result for shale thin section">
            <a:extLst>
              <a:ext uri="{FF2B5EF4-FFF2-40B4-BE49-F238E27FC236}">
                <a16:creationId xmlns:a16="http://schemas.microsoft.com/office/drawing/2014/main" id="{91257BDF-CB09-4C36-8A51-35B06CBED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599" t="89616" r="4389" b="4166"/>
          <a:stretch/>
        </p:blipFill>
        <p:spPr bwMode="auto">
          <a:xfrm>
            <a:off x="7452320" y="4897773"/>
            <a:ext cx="1368153" cy="31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58178A2F-1C00-4591-9CAA-BDBCA857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23" y="5710823"/>
            <a:ext cx="88924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sz="2000" dirty="0"/>
              <a:t>A variety of elements in the clay minerals in the shale have recombined to form micas (colourful), garnets (black blobs) and </a:t>
            </a:r>
            <a:r>
              <a:rPr lang="en-GB" sz="2000" dirty="0" err="1"/>
              <a:t>stauralite</a:t>
            </a:r>
            <a:r>
              <a:rPr lang="en-GB" sz="2000" dirty="0"/>
              <a:t> (whites and greys). Note that the new minerals also don’t have the same size as before.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CF9B837-CE80-4CF1-B79C-0A7509EECCD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happens during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m?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366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910" y="4690536"/>
            <a:ext cx="8736013" cy="198916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GB" sz="2000" b="1" dirty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Arial" charset="0"/>
              </a:rPr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E04D0-2EC7-4C06-9458-0E1D3A491A1A}"/>
              </a:ext>
            </a:extLst>
          </p:cNvPr>
          <p:cNvSpPr txBox="1"/>
          <p:nvPr/>
        </p:nvSpPr>
        <p:spPr>
          <a:xfrm>
            <a:off x="107504" y="1114993"/>
            <a:ext cx="871296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b="1" dirty="0">
                <a:latin typeface="Arial" charset="0"/>
              </a:rPr>
              <a:t>Metamorphic rocks are volumetrically more abundant in the Earth’s </a:t>
            </a:r>
            <a:r>
              <a:rPr lang="en-GB" altLang="ja-JP" b="1" dirty="0">
                <a:latin typeface="Arial" charset="0"/>
              </a:rPr>
              <a:t>crust (and upper mantle) than igneous and sedimentary rocks put together…</a:t>
            </a:r>
          </a:p>
          <a:p>
            <a:pPr>
              <a:lnSpc>
                <a:spcPct val="120000"/>
              </a:lnSpc>
            </a:pPr>
            <a:endParaRPr lang="en-GB" altLang="ja-JP" b="1" dirty="0">
              <a:latin typeface="Arial" charset="0"/>
            </a:endParaRPr>
          </a:p>
          <a:p>
            <a:pPr>
              <a:lnSpc>
                <a:spcPct val="120000"/>
              </a:lnSpc>
            </a:pPr>
            <a:r>
              <a:rPr lang="en-GB" altLang="ja-JP" b="1" dirty="0">
                <a:latin typeface="Arial" charset="0"/>
              </a:rPr>
              <a:t>…and host economically important mineral deposits. </a:t>
            </a:r>
          </a:p>
          <a:p>
            <a:pPr>
              <a:lnSpc>
                <a:spcPct val="120000"/>
              </a:lnSpc>
            </a:pPr>
            <a:endParaRPr lang="en-GB" altLang="ja-JP" b="1" dirty="0">
              <a:latin typeface="Arial" charset="0"/>
            </a:endParaRPr>
          </a:p>
          <a:p>
            <a:pPr>
              <a:lnSpc>
                <a:spcPct val="120000"/>
              </a:lnSpc>
            </a:pPr>
            <a:endParaRPr lang="en-GB" b="1" dirty="0">
              <a:latin typeface="Arial" charset="0"/>
            </a:endParaRPr>
          </a:p>
          <a:p>
            <a:pPr>
              <a:lnSpc>
                <a:spcPct val="120000"/>
              </a:lnSpc>
            </a:pPr>
            <a:endParaRPr lang="en-GB" altLang="ja-JP" b="1" dirty="0"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B0636-B6AE-4185-9DD3-78B07561545C}"/>
              </a:ext>
            </a:extLst>
          </p:cNvPr>
          <p:cNvSpPr txBox="1"/>
          <p:nvPr/>
        </p:nvSpPr>
        <p:spPr>
          <a:xfrm>
            <a:off x="190910" y="3090784"/>
            <a:ext cx="32903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b="1" dirty="0">
                <a:latin typeface="Arial" charset="0"/>
              </a:rPr>
              <a:t>They tend not to undergo retrograde metamorphism (revert back to the original rock type when they are exhumed and cooled)…</a:t>
            </a:r>
          </a:p>
          <a:p>
            <a:pPr>
              <a:lnSpc>
                <a:spcPct val="120000"/>
              </a:lnSpc>
            </a:pPr>
            <a:endParaRPr lang="en-GB" b="1" dirty="0">
              <a:latin typeface="Arial" charset="0"/>
            </a:endParaRPr>
          </a:p>
          <a:p>
            <a:pPr>
              <a:lnSpc>
                <a:spcPct val="120000"/>
              </a:lnSpc>
            </a:pPr>
            <a:r>
              <a:rPr lang="en-GB" b="1" dirty="0">
                <a:latin typeface="Arial" charset="0"/>
              </a:rPr>
              <a:t>… so they can be studied to understand what processes operate deep inside the Earth.</a:t>
            </a:r>
            <a:endParaRPr lang="en-GB" altLang="ja-JP" b="1" dirty="0">
              <a:latin typeface="Arial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is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m?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995936" y="6245662"/>
            <a:ext cx="4913530" cy="567714"/>
          </a:xfrm>
        </p:spPr>
        <p:txBody>
          <a:bodyPr>
            <a:noAutofit/>
          </a:bodyPr>
          <a:lstStyle/>
          <a:p>
            <a:pPr algn="l"/>
            <a:r>
              <a:rPr lang="en-US" sz="1600" b="1" dirty="0">
                <a:latin typeface="Arial" pitchFamily="34" charset="0"/>
                <a:cs typeface="Arial" pitchFamily="34" charset="0"/>
              </a:rPr>
              <a:t>Melting temperatures of mantle peridotite as a function of pressure (depth) </a:t>
            </a:r>
            <a:endParaRPr lang="en-GB" sz="1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3384" y="2686279"/>
            <a:ext cx="4674050" cy="348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4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is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m?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E04D0-2EC7-4C06-9458-0E1D3A491A1A}"/>
              </a:ext>
            </a:extLst>
          </p:cNvPr>
          <p:cNvSpPr txBox="1"/>
          <p:nvPr/>
        </p:nvSpPr>
        <p:spPr>
          <a:xfrm>
            <a:off x="251520" y="1412776"/>
            <a:ext cx="3600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latin typeface="Arial" charset="0"/>
              </a:rPr>
              <a:t>All</a:t>
            </a:r>
            <a:r>
              <a:rPr lang="en-GB" dirty="0">
                <a:latin typeface="Arial" charset="0"/>
              </a:rPr>
              <a:t> types of igneous and sedimentary rocks can (potentially) be subjected to metamorphism. </a:t>
            </a:r>
          </a:p>
          <a:p>
            <a:endParaRPr lang="en-GB" dirty="0">
              <a:latin typeface="Arial" charset="0"/>
            </a:endParaRPr>
          </a:p>
          <a:p>
            <a:r>
              <a:rPr lang="en-GB" dirty="0">
                <a:latin typeface="Arial" charset="0"/>
              </a:rPr>
              <a:t>Metamorphic rocks can be derived from </a:t>
            </a:r>
            <a:r>
              <a:rPr lang="en-GB" u="sng" dirty="0">
                <a:latin typeface="Arial" charset="0"/>
              </a:rPr>
              <a:t>any</a:t>
            </a:r>
            <a:r>
              <a:rPr lang="en-GB" dirty="0">
                <a:latin typeface="Arial" charset="0"/>
              </a:rPr>
              <a:t> kind of precursor rock (</a:t>
            </a:r>
            <a:r>
              <a:rPr lang="en-GB" dirty="0" err="1">
                <a:solidFill>
                  <a:srgbClr val="FF3300"/>
                </a:solidFill>
                <a:latin typeface="Arial" charset="0"/>
              </a:rPr>
              <a:t>protolith</a:t>
            </a:r>
            <a:r>
              <a:rPr lang="en-GB" dirty="0">
                <a:latin typeface="Arial" charset="0"/>
              </a:rPr>
              <a:t>) and therefore collectively show a very large range in bulk compositions.</a:t>
            </a:r>
          </a:p>
          <a:p>
            <a:endParaRPr lang="en-GB" b="1" dirty="0">
              <a:latin typeface="Arial" charset="0"/>
            </a:endParaRPr>
          </a:p>
          <a:p>
            <a:r>
              <a:rPr lang="en-GB" b="1" dirty="0">
                <a:latin typeface="Arial" charset="0"/>
              </a:rPr>
              <a:t>A rule of thumb is that increasing metamorphic grade = increases size of crystals (but depends on grain size of </a:t>
            </a:r>
            <a:r>
              <a:rPr lang="en-GB" b="1" dirty="0" err="1">
                <a:latin typeface="Arial" charset="0"/>
              </a:rPr>
              <a:t>protolith</a:t>
            </a:r>
            <a:r>
              <a:rPr lang="en-GB" b="1" dirty="0">
                <a:latin typeface="Arial" charset="0"/>
              </a:rPr>
              <a:t>, obviously!).</a:t>
            </a:r>
          </a:p>
        </p:txBody>
      </p:sp>
      <p:pic>
        <p:nvPicPr>
          <p:cNvPr id="7" name="Picture 9" descr="Rock cycl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39952" y="1196752"/>
            <a:ext cx="4684327" cy="54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63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Causes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504" y="1340768"/>
            <a:ext cx="8736013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Two main agents:  	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1.	Temperature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“Original heat” (the Geothermal Gradient)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				 “Local heat” (igneous intrusions)</a:t>
            </a:r>
            <a:endParaRPr lang="en-GB" sz="2000" b="1" dirty="0">
              <a:latin typeface="Arial" charset="0"/>
            </a:endParaRP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2.	Stress	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</a:t>
            </a:r>
            <a:r>
              <a:rPr lang="en-GB" sz="2000" b="1" dirty="0">
                <a:latin typeface="Arial" charset="0"/>
              </a:rPr>
              <a:t>Load Pressure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		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</a:t>
            </a:r>
            <a:r>
              <a:rPr lang="en-GB" sz="2000" b="1" dirty="0" err="1">
                <a:latin typeface="Arial" charset="0"/>
              </a:rPr>
              <a:t>Deviatoric</a:t>
            </a:r>
            <a:r>
              <a:rPr lang="en-GB" sz="2000" b="1" dirty="0">
                <a:latin typeface="Arial" charset="0"/>
              </a:rPr>
              <a:t> Stress</a:t>
            </a:r>
          </a:p>
        </p:txBody>
      </p:sp>
    </p:spTree>
    <p:extLst>
      <p:ext uri="{BB962C8B-B14F-4D97-AF65-F5344CB8AC3E}">
        <p14:creationId xmlns:p14="http://schemas.microsoft.com/office/powerpoint/2010/main" val="378710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heat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8918" y="1251783"/>
            <a:ext cx="5400600" cy="2702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GB" sz="2000" b="1" dirty="0">
                <a:latin typeface="Arial" charset="0"/>
              </a:rPr>
              <a:t>Original heat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The </a:t>
            </a:r>
            <a:r>
              <a:rPr lang="en-GB" sz="2000" b="1" u="sng" dirty="0">
                <a:latin typeface="Arial" charset="0"/>
              </a:rPr>
              <a:t>geothermal gradient </a:t>
            </a:r>
            <a:r>
              <a:rPr lang="en-GB" sz="2000" b="1" dirty="0">
                <a:latin typeface="Arial" charset="0"/>
              </a:rPr>
              <a:t>(accretionary and differentiation kinetic energy, radioactive decay) is on average 25-30ºC/km.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But it is variable depending on tectonic setting….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000" b="1" dirty="0">
              <a:solidFill>
                <a:srgbClr val="FF3300"/>
              </a:solidFill>
              <a:latin typeface="Arial" charset="0"/>
            </a:endParaRPr>
          </a:p>
        </p:txBody>
      </p:sp>
      <p:pic>
        <p:nvPicPr>
          <p:cNvPr id="102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4170106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Fig.3.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425" y="1124744"/>
            <a:ext cx="3141911" cy="30984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40352" y="4293096"/>
            <a:ext cx="792088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8173722" y="4523199"/>
            <a:ext cx="792088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94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heat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266027" y="1136425"/>
            <a:ext cx="2943485" cy="2176631"/>
            <a:chOff x="3266027" y="1136425"/>
            <a:chExt cx="2943485" cy="2176631"/>
          </a:xfrm>
        </p:grpSpPr>
        <p:pic>
          <p:nvPicPr>
            <p:cNvPr id="2056" name="Picture 8" descr="Image result for geothermal gradient at different tectonic environments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6027" y="1199469"/>
              <a:ext cx="2943485" cy="2113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7929CF-6965-0347-8BC3-0DC5487E8F9C}"/>
                </a:ext>
              </a:extLst>
            </p:cNvPr>
            <p:cNvSpPr txBox="1"/>
            <p:nvPr/>
          </p:nvSpPr>
          <p:spPr>
            <a:xfrm>
              <a:off x="3266027" y="1136425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64636" y="1123960"/>
            <a:ext cx="2955182" cy="2174547"/>
            <a:chOff x="164636" y="1123960"/>
            <a:chExt cx="2955182" cy="2174547"/>
          </a:xfrm>
        </p:grpSpPr>
        <p:pic>
          <p:nvPicPr>
            <p:cNvPr id="2052" name="Picture 4" descr="Image result for geothermal gradient at different tectonic environments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636" y="1184920"/>
              <a:ext cx="2955182" cy="2113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7929CF-6965-0347-8BC3-0DC5487E8F9C}"/>
                </a:ext>
              </a:extLst>
            </p:cNvPr>
            <p:cNvSpPr txBox="1"/>
            <p:nvPr/>
          </p:nvSpPr>
          <p:spPr>
            <a:xfrm>
              <a:off x="164636" y="1123960"/>
              <a:ext cx="43204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55721" y="1125084"/>
            <a:ext cx="2680774" cy="2170420"/>
            <a:chOff x="6355721" y="1125084"/>
            <a:chExt cx="2680774" cy="2170420"/>
          </a:xfrm>
        </p:grpSpPr>
        <p:pic>
          <p:nvPicPr>
            <p:cNvPr id="2050" name="Picture 2" descr="Image result for geothermal gradient at different tectonic environments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5721" y="1187922"/>
              <a:ext cx="2680774" cy="2107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7929CF-6965-0347-8BC3-0DC5487E8F9C}"/>
                </a:ext>
              </a:extLst>
            </p:cNvPr>
            <p:cNvSpPr txBox="1"/>
            <p:nvPr/>
          </p:nvSpPr>
          <p:spPr>
            <a:xfrm>
              <a:off x="6355721" y="1125084"/>
              <a:ext cx="43204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0699" y="3485463"/>
            <a:ext cx="9088713" cy="3231494"/>
            <a:chOff x="30699" y="3485463"/>
            <a:chExt cx="9088713" cy="3231494"/>
          </a:xfrm>
        </p:grpSpPr>
        <p:grpSp>
          <p:nvGrpSpPr>
            <p:cNvPr id="4" name="Group 3"/>
            <p:cNvGrpSpPr/>
            <p:nvPr/>
          </p:nvGrpSpPr>
          <p:grpSpPr>
            <a:xfrm>
              <a:off x="30699" y="3485463"/>
              <a:ext cx="8301161" cy="3231494"/>
              <a:chOff x="499228" y="3507642"/>
              <a:chExt cx="8301161" cy="3231494"/>
            </a:xfrm>
          </p:grpSpPr>
          <p:sp>
            <p:nvSpPr>
              <p:cNvPr id="9" name="Line 2"/>
              <p:cNvSpPr>
                <a:spLocks noChangeShapeType="1"/>
              </p:cNvSpPr>
              <p:nvPr/>
            </p:nvSpPr>
            <p:spPr bwMode="auto">
              <a:xfrm>
                <a:off x="1642228" y="4039006"/>
                <a:ext cx="0" cy="270013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" name="Line 3"/>
              <p:cNvSpPr>
                <a:spLocks noChangeShapeType="1"/>
              </p:cNvSpPr>
              <p:nvPr/>
            </p:nvSpPr>
            <p:spPr bwMode="auto">
              <a:xfrm>
                <a:off x="1642228" y="6739136"/>
                <a:ext cx="40041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1" name="Line 4"/>
              <p:cNvSpPr>
                <a:spLocks noChangeShapeType="1"/>
              </p:cNvSpPr>
              <p:nvPr/>
            </p:nvSpPr>
            <p:spPr bwMode="auto">
              <a:xfrm flipV="1">
                <a:off x="1642228" y="4032404"/>
                <a:ext cx="1071039" cy="27067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2" name="Line 5"/>
              <p:cNvSpPr>
                <a:spLocks noChangeShapeType="1"/>
              </p:cNvSpPr>
              <p:nvPr/>
            </p:nvSpPr>
            <p:spPr bwMode="auto">
              <a:xfrm flipV="1">
                <a:off x="1642228" y="6156754"/>
                <a:ext cx="3781730" cy="5823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3" name="Line 6"/>
              <p:cNvSpPr>
                <a:spLocks noChangeShapeType="1"/>
              </p:cNvSpPr>
              <p:nvPr/>
            </p:nvSpPr>
            <p:spPr bwMode="auto">
              <a:xfrm flipV="1">
                <a:off x="1642227" y="5237321"/>
                <a:ext cx="3587181" cy="15018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4" name="Line 7"/>
              <p:cNvSpPr>
                <a:spLocks noChangeShapeType="1"/>
              </p:cNvSpPr>
              <p:nvPr/>
            </p:nvSpPr>
            <p:spPr bwMode="auto">
              <a:xfrm flipV="1">
                <a:off x="1642228" y="4402378"/>
                <a:ext cx="2425716" cy="23367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499228" y="4224975"/>
                <a:ext cx="1061295" cy="1000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latin typeface="Times New Roman" charset="0"/>
                    <a:cs typeface="+mn-cs"/>
                  </a:rPr>
                  <a:t>   </a:t>
                </a:r>
                <a:r>
                  <a:rPr lang="en-GB" sz="3200" dirty="0">
                    <a:latin typeface="Times New Roman" charset="0"/>
                    <a:cs typeface="+mn-cs"/>
                  </a:rPr>
                  <a:t> </a:t>
                </a:r>
                <a:r>
                  <a:rPr lang="en-GB" sz="3200" b="1" dirty="0">
                    <a:latin typeface="Times New Roman" charset="0"/>
                    <a:cs typeface="+mn-cs"/>
                  </a:rPr>
                  <a:t>P</a:t>
                </a:r>
                <a:endParaRPr lang="en-GB" b="1" dirty="0">
                  <a:latin typeface="Times New Roman" charset="0"/>
                  <a:cs typeface="+mn-cs"/>
                </a:endParaRPr>
              </a:p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latin typeface="Times New Roman" charset="0"/>
                    <a:cs typeface="+mn-cs"/>
                  </a:rPr>
                  <a:t>(Depth)</a:t>
                </a:r>
              </a:p>
            </p:txBody>
          </p:sp>
          <p:sp>
            <p:nvSpPr>
              <p:cNvPr id="16" name="Rectangle 10"/>
              <p:cNvSpPr>
                <a:spLocks noChangeArrowheads="1"/>
              </p:cNvSpPr>
              <p:nvPr/>
            </p:nvSpPr>
            <p:spPr bwMode="auto">
              <a:xfrm>
                <a:off x="2785623" y="3507642"/>
                <a:ext cx="2780684" cy="369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solidFill>
                      <a:schemeClr val="accent2"/>
                    </a:solidFill>
                  </a:rPr>
                  <a:t>C</a:t>
                </a:r>
                <a:r>
                  <a:rPr lang="en-GB" dirty="0">
                    <a:solidFill>
                      <a:schemeClr val="accent2"/>
                    </a:solidFill>
                    <a:cs typeface="+mn-cs"/>
                  </a:rPr>
                  <a:t>old subduction zone</a:t>
                </a:r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5423958" y="5786779"/>
                <a:ext cx="3376431" cy="369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solidFill>
                      <a:srgbClr val="FF0033"/>
                    </a:solidFill>
                    <a:cs typeface="+mn-cs"/>
                  </a:rPr>
                  <a:t>Volcanic areas/(contact </a:t>
                </a:r>
                <a:r>
                  <a:rPr lang="en-GB" dirty="0" err="1">
                    <a:solidFill>
                      <a:srgbClr val="FF0033"/>
                    </a:solidFill>
                    <a:cs typeface="+mn-cs"/>
                  </a:rPr>
                  <a:t>metam</a:t>
                </a:r>
                <a:r>
                  <a:rPr lang="en-GB" dirty="0">
                    <a:solidFill>
                      <a:srgbClr val="FF0033"/>
                    </a:solidFill>
                    <a:cs typeface="+mn-cs"/>
                  </a:rPr>
                  <a:t>)</a:t>
                </a:r>
              </a:p>
            </p:txBody>
          </p:sp>
          <p:sp>
            <p:nvSpPr>
              <p:cNvPr id="18" name="Rectangle 12"/>
              <p:cNvSpPr>
                <a:spLocks noChangeArrowheads="1"/>
              </p:cNvSpPr>
              <p:nvPr/>
            </p:nvSpPr>
            <p:spPr bwMode="auto">
              <a:xfrm>
                <a:off x="5311113" y="4910874"/>
                <a:ext cx="2150396" cy="369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solidFill>
                      <a:srgbClr val="FF6633"/>
                    </a:solidFill>
                    <a:cs typeface="+mn-cs"/>
                  </a:rPr>
                  <a:t>Mid ocean ridges</a:t>
                </a:r>
              </a:p>
            </p:txBody>
          </p:sp>
          <p:sp>
            <p:nvSpPr>
              <p:cNvPr id="19" name="Rectangle 13"/>
              <p:cNvSpPr>
                <a:spLocks noChangeArrowheads="1"/>
              </p:cNvSpPr>
              <p:nvPr/>
            </p:nvSpPr>
            <p:spPr bwMode="auto">
              <a:xfrm>
                <a:off x="4172536" y="4073274"/>
                <a:ext cx="3494748" cy="369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dirty="0">
                    <a:solidFill>
                      <a:srgbClr val="009900"/>
                    </a:solidFill>
                  </a:rPr>
                  <a:t>A</a:t>
                </a:r>
                <a:r>
                  <a:rPr lang="en-GB" dirty="0">
                    <a:solidFill>
                      <a:srgbClr val="009900"/>
                    </a:solidFill>
                    <a:cs typeface="+mn-cs"/>
                  </a:rPr>
                  <a:t>verage continental </a:t>
                </a:r>
                <a:r>
                  <a:rPr lang="en-GB" dirty="0" err="1">
                    <a:solidFill>
                      <a:srgbClr val="009900"/>
                    </a:solidFill>
                    <a:cs typeface="+mn-cs"/>
                  </a:rPr>
                  <a:t>geotherm</a:t>
                </a:r>
                <a:endParaRPr lang="en-GB" dirty="0">
                  <a:solidFill>
                    <a:srgbClr val="009900"/>
                  </a:solidFill>
                  <a:cs typeface="+mn-cs"/>
                </a:endParaRPr>
              </a:p>
            </p:txBody>
          </p:sp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5465303" y="6096827"/>
                <a:ext cx="1413515" cy="400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sz="2000" dirty="0">
                    <a:solidFill>
                      <a:srgbClr val="FF0033"/>
                    </a:solidFill>
                    <a:cs typeface="+mn-cs"/>
                  </a:rPr>
                  <a:t>&gt;100</a:t>
                </a:r>
                <a:r>
                  <a:rPr lang="en-GB" sz="2000" baseline="30000" dirty="0">
                    <a:solidFill>
                      <a:srgbClr val="FF0033"/>
                    </a:solidFill>
                    <a:cs typeface="+mn-cs"/>
                  </a:rPr>
                  <a:t>o</a:t>
                </a:r>
                <a:r>
                  <a:rPr lang="en-GB" sz="2000" dirty="0">
                    <a:solidFill>
                      <a:srgbClr val="FF0033"/>
                    </a:solidFill>
                    <a:cs typeface="+mn-cs"/>
                  </a:rPr>
                  <a:t>C/km</a:t>
                </a:r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5311113" y="5198506"/>
                <a:ext cx="1186425" cy="400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sz="2000" dirty="0">
                    <a:solidFill>
                      <a:srgbClr val="FF6633"/>
                    </a:solidFill>
                    <a:cs typeface="+mn-cs"/>
                  </a:rPr>
                  <a:t>50</a:t>
                </a:r>
                <a:r>
                  <a:rPr lang="en-GB" sz="2000" baseline="30000" dirty="0">
                    <a:solidFill>
                      <a:srgbClr val="FF6633"/>
                    </a:solidFill>
                    <a:cs typeface="+mn-cs"/>
                  </a:rPr>
                  <a:t>o</a:t>
                </a:r>
                <a:r>
                  <a:rPr lang="en-GB" sz="2000" dirty="0">
                    <a:solidFill>
                      <a:srgbClr val="FF6633"/>
                    </a:solidFill>
                    <a:cs typeface="+mn-cs"/>
                  </a:rPr>
                  <a:t>C/km </a:t>
                </a: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4186065" y="4352770"/>
                <a:ext cx="1991278" cy="400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sz="2000" dirty="0">
                    <a:solidFill>
                      <a:srgbClr val="009900"/>
                    </a:solidFill>
                    <a:cs typeface="+mn-cs"/>
                  </a:rPr>
                  <a:t>25-30</a:t>
                </a:r>
                <a:r>
                  <a:rPr lang="en-GB" sz="2000" baseline="30000" dirty="0">
                    <a:solidFill>
                      <a:srgbClr val="009900"/>
                    </a:solidFill>
                    <a:cs typeface="+mn-cs"/>
                  </a:rPr>
                  <a:t>o</a:t>
                </a:r>
                <a:r>
                  <a:rPr lang="en-GB" sz="2000" dirty="0">
                    <a:solidFill>
                      <a:srgbClr val="009900"/>
                    </a:solidFill>
                    <a:cs typeface="+mn-cs"/>
                  </a:rPr>
                  <a:t>C/km</a:t>
                </a:r>
              </a:p>
            </p:txBody>
          </p:sp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2785623" y="3792491"/>
                <a:ext cx="1490756" cy="4007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 defTabSz="762000">
                  <a:spcBef>
                    <a:spcPct val="50000"/>
                  </a:spcBef>
                  <a:defRPr/>
                </a:pPr>
                <a:r>
                  <a:rPr lang="en-GB" sz="2000" dirty="0">
                    <a:solidFill>
                      <a:schemeClr val="accent2"/>
                    </a:solidFill>
                    <a:cs typeface="+mn-cs"/>
                  </a:rPr>
                  <a:t>3-5</a:t>
                </a:r>
                <a:r>
                  <a:rPr lang="en-GB" sz="2000" baseline="30000" dirty="0">
                    <a:solidFill>
                      <a:schemeClr val="accent2"/>
                    </a:solidFill>
                    <a:cs typeface="+mn-cs"/>
                  </a:rPr>
                  <a:t>o</a:t>
                </a:r>
                <a:r>
                  <a:rPr lang="en-GB" sz="2000" dirty="0">
                    <a:solidFill>
                      <a:schemeClr val="accent2"/>
                    </a:solidFill>
                    <a:cs typeface="+mn-cs"/>
                  </a:rPr>
                  <a:t>C/km</a:t>
                </a:r>
              </a:p>
            </p:txBody>
          </p:sp>
        </p:grpSp>
        <p:sp>
          <p:nvSpPr>
            <p:cNvPr id="29" name="Rectangle 3"/>
            <p:cNvSpPr txBox="1">
              <a:spLocks noChangeArrowheads="1"/>
            </p:cNvSpPr>
            <p:nvPr/>
          </p:nvSpPr>
          <p:spPr>
            <a:xfrm>
              <a:off x="7212284" y="4010225"/>
              <a:ext cx="1907128" cy="99700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90000"/>
                </a:lnSpc>
                <a:buNone/>
              </a:pPr>
              <a:r>
                <a:rPr lang="en-GB" sz="2000" b="1" dirty="0">
                  <a:latin typeface="Arial" charset="0"/>
                </a:rPr>
                <a:t>But burial results in increasing T</a:t>
              </a:r>
              <a:endParaRPr lang="en-GB" sz="2000" b="1" dirty="0">
                <a:solidFill>
                  <a:srgbClr val="FF33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505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504" y="1196752"/>
            <a:ext cx="5184576" cy="27029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2. “Local” heat – igneous intrusions</a:t>
            </a:r>
          </a:p>
          <a:p>
            <a:pPr>
              <a:lnSpc>
                <a:spcPct val="90000"/>
              </a:lnSpc>
            </a:pPr>
            <a:endParaRPr lang="en-GB" sz="2000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GB" sz="2000" dirty="0">
                <a:latin typeface="Arial" charset="0"/>
              </a:rPr>
              <a:t>Common in the settings discussed in Week 3.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latin typeface="Arial" charset="0"/>
              </a:rPr>
              <a:t>Intense local heat source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latin typeface="Arial" charset="0"/>
              </a:rPr>
              <a:t>Disturbs the “normal” geothermal gradient.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latin typeface="Arial" charset="0"/>
              </a:rPr>
              <a:t>Strong, but localised metamorphic effects.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A0DEA0-EC7E-4DB7-8938-0EC1CF0F2E5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624" y="3983775"/>
            <a:ext cx="6120680" cy="2701661"/>
          </a:xfrm>
          <a:prstGeom prst="rect">
            <a:avLst/>
          </a:prstGeom>
        </p:spPr>
      </p:pic>
      <p:pic>
        <p:nvPicPr>
          <p:cNvPr id="4100" name="Picture 4" descr="Image result for basalt dyk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6096" y="1208490"/>
            <a:ext cx="3521094" cy="264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heat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377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484784"/>
            <a:ext cx="828092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Stress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) is defined as the average force per unit area that some particle of a body exerts on an adjacent particle, across an imaginary surface that separates them</a:t>
            </a:r>
          </a:p>
          <a:p>
            <a:pPr lvl="1"/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i.e. Stress (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= Force (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/ Area (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).</a:t>
            </a:r>
          </a:p>
          <a:p>
            <a:pPr lvl="1"/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It is intuitive that a cube of sandstone with sides of 25 cm submitted to a compressive force of 10 tonnes (10,000 kg) may deform insignificantly, compared to the same force being applied to a cube of the same material but with sides 1cm (which likely would be pulverised).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Therefore the behaviour of material is measured against units of stress (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Pascals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Newtons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/m</a:t>
            </a:r>
            <a:r>
              <a:rPr lang="en-GB" sz="2000" b="1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rather than force.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4047DF0-F5A5-4598-869B-E9EC198D3DA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metamorphism: stress</a:t>
            </a:r>
          </a:p>
        </p:txBody>
      </p:sp>
    </p:spTree>
    <p:extLst>
      <p:ext uri="{BB962C8B-B14F-4D97-AF65-F5344CB8AC3E}">
        <p14:creationId xmlns:p14="http://schemas.microsoft.com/office/powerpoint/2010/main" val="1178516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C4047DF0-F5A5-4598-869B-E9EC198D3DA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metamorphism: stress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9512" y="1160748"/>
            <a:ext cx="878497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GB" sz="2000" b="1" dirty="0"/>
              <a:t>In the Earth’s crust, stress can be resolved into two parts:</a:t>
            </a:r>
          </a:p>
          <a:p>
            <a:pPr eaLnBrk="1" hangingPunct="1">
              <a:lnSpc>
                <a:spcPct val="120000"/>
              </a:lnSpc>
            </a:pPr>
            <a:endParaRPr lang="en-GB" sz="2000" b="1" dirty="0"/>
          </a:p>
          <a:p>
            <a:pPr eaLnBrk="1" hangingPunct="1">
              <a:lnSpc>
                <a:spcPct val="120000"/>
              </a:lnSpc>
            </a:pPr>
            <a:r>
              <a:rPr lang="en-GB" sz="2000" b="1" u="sng" dirty="0"/>
              <a:t>1. Load pressure</a:t>
            </a:r>
            <a:r>
              <a:rPr lang="en-GB" sz="2000" b="1" dirty="0"/>
              <a:t>: (= </a:t>
            </a:r>
            <a:r>
              <a:rPr lang="en-GB" altLang="ja-JP" sz="2000" b="1" dirty="0"/>
              <a:t>‘</a:t>
            </a:r>
            <a:r>
              <a:rPr lang="en-GB" altLang="ja-JP" sz="2000" b="1" dirty="0" err="1"/>
              <a:t>lithostatic</a:t>
            </a:r>
            <a:r>
              <a:rPr lang="en-GB" altLang="ja-JP" sz="2000" b="1" dirty="0"/>
              <a:t> stress or confining stress):</a:t>
            </a:r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Results from the weight of overlying rock.</a:t>
            </a:r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Stress acts </a:t>
            </a:r>
            <a:r>
              <a:rPr lang="en-GB" sz="2000" u="sng" dirty="0"/>
              <a:t>uniformly in every direction</a:t>
            </a:r>
            <a:endParaRPr lang="en-GB" sz="2000" dirty="0"/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(Analogous to the hydrostatic pressure beneath a head of water)</a:t>
            </a:r>
          </a:p>
        </p:txBody>
      </p:sp>
      <p:pic>
        <p:nvPicPr>
          <p:cNvPr id="6146" name="Picture 2" descr="Image result for deep sea di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8" y="3577084"/>
            <a:ext cx="22479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1403648" y="3469072"/>
            <a:ext cx="0" cy="58637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475656" y="6381328"/>
            <a:ext cx="0" cy="47667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23528" y="5425473"/>
            <a:ext cx="627720" cy="47618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984848" y="4306162"/>
            <a:ext cx="678940" cy="45936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79512" y="5054412"/>
            <a:ext cx="648072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051720" y="5054412"/>
            <a:ext cx="61206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491880" y="3673217"/>
            <a:ext cx="3754760" cy="2996143"/>
            <a:chOff x="3851920" y="3673217"/>
            <a:chExt cx="3754760" cy="2996143"/>
          </a:xfrm>
        </p:grpSpPr>
        <p:pic>
          <p:nvPicPr>
            <p:cNvPr id="19" name="Picture 4" descr="Load pressure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962"/>
            <a:stretch/>
          </p:blipFill>
          <p:spPr bwMode="auto">
            <a:xfrm>
              <a:off x="4067944" y="3673217"/>
              <a:ext cx="3538736" cy="2996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3851920" y="3673217"/>
              <a:ext cx="1008112" cy="38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6516216" y="4869160"/>
            <a:ext cx="730424" cy="72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78948" y="4654302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2479474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5262" y="3951102"/>
            <a:ext cx="3316618" cy="2002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Does load pressure vary with tectonic setting?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Yes, but negligibly compared to temperature.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By approx. 3.5x10</a:t>
            </a:r>
            <a:r>
              <a:rPr lang="en-GB" sz="2000" b="1" baseline="30000" dirty="0">
                <a:latin typeface="Arial" charset="0"/>
              </a:rPr>
              <a:t>8</a:t>
            </a:r>
            <a:r>
              <a:rPr lang="en-GB" sz="2000" b="1" dirty="0">
                <a:latin typeface="Arial" charset="0"/>
              </a:rPr>
              <a:t> Pa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000" b="1" dirty="0">
                <a:latin typeface="Arial" charset="0"/>
              </a:rPr>
              <a:t>(3.5 </a:t>
            </a:r>
            <a:r>
              <a:rPr lang="en-GB" sz="2000" b="1" dirty="0" err="1">
                <a:latin typeface="Arial" charset="0"/>
              </a:rPr>
              <a:t>Kbar</a:t>
            </a:r>
            <a:r>
              <a:rPr lang="en-GB" sz="2000" b="1" dirty="0">
                <a:latin typeface="Arial" charset="0"/>
              </a:rPr>
              <a:t>)/km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000" b="1" dirty="0">
              <a:solidFill>
                <a:srgbClr val="FF3300"/>
              </a:solidFill>
              <a:latin typeface="Arial" charset="0"/>
            </a:endParaRPr>
          </a:p>
        </p:txBody>
      </p:sp>
      <p:pic>
        <p:nvPicPr>
          <p:cNvPr id="102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82" y="1074329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524328" y="1196752"/>
            <a:ext cx="792088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957698" y="1426855"/>
            <a:ext cx="792088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3491880" y="3789040"/>
            <a:ext cx="4756217" cy="3024336"/>
            <a:chOff x="3491880" y="3645024"/>
            <a:chExt cx="4756217" cy="3024336"/>
          </a:xfrm>
        </p:grpSpPr>
        <p:grpSp>
          <p:nvGrpSpPr>
            <p:cNvPr id="10" name="Group 9"/>
            <p:cNvGrpSpPr/>
            <p:nvPr/>
          </p:nvGrpSpPr>
          <p:grpSpPr>
            <a:xfrm>
              <a:off x="3491880" y="3645024"/>
              <a:ext cx="3754760" cy="3024336"/>
              <a:chOff x="3851920" y="3645024"/>
              <a:chExt cx="3754760" cy="3024336"/>
            </a:xfrm>
          </p:grpSpPr>
          <p:pic>
            <p:nvPicPr>
              <p:cNvPr id="11" name="Picture 4" descr="Load pressure"/>
              <p:cNvPicPr>
                <a:picLocks noChangeAspect="1" noChangeArrowheads="1"/>
              </p:cNvPicPr>
              <p:nvPr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47962"/>
              <a:stretch/>
            </p:blipFill>
            <p:spPr bwMode="auto">
              <a:xfrm>
                <a:off x="4067944" y="3673217"/>
                <a:ext cx="3538736" cy="2996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3851920" y="3645024"/>
                <a:ext cx="1008112" cy="3822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3" name="Straight Connector 12"/>
            <p:cNvCxnSpPr/>
            <p:nvPr/>
          </p:nvCxnSpPr>
          <p:spPr>
            <a:xfrm flipV="1">
              <a:off x="6516216" y="4869160"/>
              <a:ext cx="730424" cy="72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7378948" y="4654302"/>
              <a:ext cx="8691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Depth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364088" y="3644698"/>
            <a:ext cx="3528392" cy="1080446"/>
            <a:chOff x="5364088" y="3644698"/>
            <a:chExt cx="3528392" cy="1080446"/>
          </a:xfrm>
        </p:grpSpPr>
        <p:sp>
          <p:nvSpPr>
            <p:cNvPr id="3" name="Rectangle 2"/>
            <p:cNvSpPr/>
            <p:nvPr/>
          </p:nvSpPr>
          <p:spPr>
            <a:xfrm>
              <a:off x="5364088" y="3644698"/>
              <a:ext cx="3528392" cy="108044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3"/>
            <p:cNvSpPr txBox="1">
              <a:spLocks noChangeArrowheads="1"/>
            </p:cNvSpPr>
            <p:nvPr/>
          </p:nvSpPr>
          <p:spPr>
            <a:xfrm>
              <a:off x="7469290" y="3903656"/>
              <a:ext cx="1368152" cy="3755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90000"/>
                </a:lnSpc>
                <a:buNone/>
              </a:pPr>
              <a:r>
                <a:rPr lang="en-GB" sz="2400" b="1" dirty="0">
                  <a:solidFill>
                    <a:srgbClr val="FF0000"/>
                  </a:solidFill>
                  <a:latin typeface="Arial" charset="0"/>
                </a:rPr>
                <a:t>2.8-3.1</a:t>
              </a:r>
            </a:p>
            <a:p>
              <a:pPr marL="0" indent="0">
                <a:lnSpc>
                  <a:spcPct val="90000"/>
                </a:lnSpc>
                <a:buNone/>
              </a:pPr>
              <a:endParaRPr lang="en-GB" sz="2400" b="1" dirty="0">
                <a:solidFill>
                  <a:srgbClr val="FF0000"/>
                </a:solidFill>
                <a:latin typeface="Arial" charset="0"/>
              </a:endParaRPr>
            </a:p>
            <a:p>
              <a:pPr marL="0" indent="0">
                <a:lnSpc>
                  <a:spcPct val="90000"/>
                </a:lnSpc>
                <a:buNone/>
              </a:pPr>
              <a:endParaRPr lang="en-GB" sz="2400" b="1" dirty="0">
                <a:solidFill>
                  <a:srgbClr val="FF0000"/>
                </a:solidFill>
                <a:latin typeface="Arial" charset="0"/>
              </a:endParaRPr>
            </a:p>
            <a:p>
              <a:pPr>
                <a:lnSpc>
                  <a:spcPct val="90000"/>
                </a:lnSpc>
                <a:buFontTx/>
                <a:buNone/>
              </a:pPr>
              <a:endParaRPr lang="en-GB" sz="2400" b="1" dirty="0">
                <a:solidFill>
                  <a:srgbClr val="FF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565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3"/>
          <p:cNvSpPr txBox="1">
            <a:spLocks noChangeArrowheads="1"/>
          </p:cNvSpPr>
          <p:nvPr/>
        </p:nvSpPr>
        <p:spPr bwMode="auto">
          <a:xfrm>
            <a:off x="323528" y="1196752"/>
            <a:ext cx="871296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2000" b="1" dirty="0"/>
              <a:t>2. </a:t>
            </a:r>
            <a:r>
              <a:rPr lang="en-GB" sz="2000" b="1" dirty="0" err="1"/>
              <a:t>Deviatoric</a:t>
            </a:r>
            <a:r>
              <a:rPr lang="en-GB" sz="2000" b="1" dirty="0"/>
              <a:t> (differential, or </a:t>
            </a:r>
            <a:r>
              <a:rPr lang="en-GB" sz="2000" b="1" dirty="0" err="1"/>
              <a:t>triaxial</a:t>
            </a:r>
            <a:r>
              <a:rPr lang="en-GB" sz="2000" b="1" dirty="0"/>
              <a:t>) stress</a:t>
            </a:r>
            <a:endParaRPr lang="en-GB" sz="2000" dirty="0"/>
          </a:p>
          <a:p>
            <a:pPr eaLnBrk="1" hangingPunct="1"/>
            <a:r>
              <a:rPr lang="en-GB" sz="2000" dirty="0"/>
              <a:t>	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In some settings, stresses do not act uniformly on the rock (not simple </a:t>
            </a:r>
            <a:r>
              <a:rPr lang="en-GB" sz="2000" dirty="0" err="1"/>
              <a:t>lithostatic</a:t>
            </a:r>
            <a:r>
              <a:rPr lang="en-GB" sz="2000" dirty="0"/>
              <a:t> stress). </a:t>
            </a:r>
          </a:p>
          <a:p>
            <a:pPr marL="342900" indent="-342900" eaLnBrk="1" hangingPunct="1">
              <a:buFont typeface="Arial"/>
              <a:buChar char="•"/>
            </a:pPr>
            <a:endParaRPr lang="en-GB" sz="2000" dirty="0"/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What could be the cause of non </a:t>
            </a:r>
            <a:r>
              <a:rPr lang="en-GB" sz="2000" dirty="0" err="1"/>
              <a:t>lithostatic</a:t>
            </a:r>
            <a:r>
              <a:rPr lang="en-GB" sz="2000" dirty="0"/>
              <a:t> stress?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23528" y="2708920"/>
            <a:ext cx="8712968" cy="3773898"/>
            <a:chOff x="323528" y="2708920"/>
            <a:chExt cx="8712968" cy="3773898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323528" y="2708920"/>
              <a:ext cx="5143437" cy="1631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342900" indent="-342900" eaLnBrk="1" hangingPunct="1">
                <a:buFont typeface="Arial"/>
                <a:buChar char="•"/>
              </a:pPr>
              <a:r>
                <a:rPr lang="en-GB" sz="2000" dirty="0"/>
                <a:t>Caused by lateral transmission of horizontal tectonic forces through the solid Earth’</a:t>
              </a:r>
              <a:r>
                <a:rPr lang="en-GB" altLang="ja-JP" sz="2000" dirty="0"/>
                <a:t>s crust (contraction or extension).  </a:t>
              </a:r>
            </a:p>
            <a:p>
              <a:pPr marL="342900" indent="-342900" eaLnBrk="1" hangingPunct="1">
                <a:buFont typeface="Arial"/>
                <a:buChar char="•"/>
              </a:pPr>
              <a:endParaRPr lang="en-GB" altLang="ja-JP" sz="2000" dirty="0"/>
            </a:p>
          </p:txBody>
        </p:sp>
        <p:pic>
          <p:nvPicPr>
            <p:cNvPr id="7" name="Picture 2" descr="http://www.nptel.ac.in/courses/Webcourse-contents/IIT-ROORKEE/strength%20of%20materials/lects%20&amp;%20picts/image/lect1/fig%205.jpg"/>
            <p:cNvPicPr>
              <a:picLocks noChangeAspect="1" noChangeArrowheads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466965" y="2813005"/>
              <a:ext cx="3569531" cy="3669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/>
            <p:cNvCxnSpPr/>
            <p:nvPr/>
          </p:nvCxnSpPr>
          <p:spPr>
            <a:xfrm>
              <a:off x="7157333" y="2995403"/>
              <a:ext cx="0" cy="9874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907125" y="5474447"/>
              <a:ext cx="0" cy="59668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5610981" y="4888229"/>
              <a:ext cx="1224136" cy="73861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8244409" y="3622857"/>
              <a:ext cx="678940" cy="45936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7884368" y="4509120"/>
              <a:ext cx="1020876" cy="129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5466965" y="4722131"/>
              <a:ext cx="778027" cy="2986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6989" y="4236049"/>
              <a:ext cx="536973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b="1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 the real 3D world (which always includes gravity), there will always be three principal, perpendicular stresses acting on an object</a:t>
              </a:r>
            </a:p>
            <a:p>
              <a:pPr lvl="1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1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maximum principal stress</a:t>
              </a:r>
            </a:p>
            <a:p>
              <a:pPr marL="800100" lvl="1" indent="-342900">
                <a:buFont typeface="Wingdings"/>
                <a:buChar char="à"/>
              </a:pP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2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intermediate principal stress</a:t>
              </a:r>
            </a:p>
            <a:p>
              <a:pPr marL="800100" lvl="1" indent="-342900">
                <a:buFont typeface="Wingdings"/>
                <a:buChar char="à"/>
              </a:pP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3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minimum principal stress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05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79512" y="1207510"/>
            <a:ext cx="8581716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GB" altLang="ja-JP" sz="2000" dirty="0"/>
              <a:t>Compressive force at convergent plate margins </a:t>
            </a:r>
            <a:r>
              <a:rPr lang="en-GB" altLang="ja-JP" sz="2000" dirty="0">
                <a:sym typeface="Wingdings" pitchFamily="2" charset="2"/>
              </a:rPr>
              <a:t> deviatoric stress.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GB" altLang="ja-JP" sz="2000" dirty="0"/>
              <a:t>Extensional force at divergent plate margins </a:t>
            </a:r>
            <a:r>
              <a:rPr lang="en-GB" altLang="ja-JP" sz="2000" dirty="0">
                <a:sym typeface="Wingdings" pitchFamily="2" charset="2"/>
              </a:rPr>
              <a:t> </a:t>
            </a:r>
            <a:r>
              <a:rPr lang="en-GB" altLang="ja-JP" sz="2000" dirty="0" err="1">
                <a:sym typeface="Wingdings" pitchFamily="2" charset="2"/>
              </a:rPr>
              <a:t>deviatoric</a:t>
            </a:r>
            <a:r>
              <a:rPr lang="en-GB" altLang="ja-JP" sz="2000" dirty="0">
                <a:sym typeface="Wingdings" pitchFamily="2" charset="2"/>
              </a:rPr>
              <a:t> stress.</a:t>
            </a:r>
            <a:endParaRPr lang="en-GB" altLang="ja-JP" sz="2000" dirty="0"/>
          </a:p>
          <a:p>
            <a:pPr marL="342900" indent="-342900" eaLnBrk="1" hangingPunct="1">
              <a:buFont typeface="Arial"/>
              <a:buChar char="•"/>
            </a:pPr>
            <a:endParaRPr lang="en-GB" altLang="ja-JP" sz="2000" dirty="0"/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Results in </a:t>
            </a:r>
            <a:r>
              <a:rPr lang="en-GB" sz="2000" b="1" dirty="0"/>
              <a:t>fracturing</a:t>
            </a:r>
            <a:r>
              <a:rPr lang="en-GB" sz="2000" dirty="0"/>
              <a:t> (faulting) in cold, brittle upper crust.</a:t>
            </a:r>
          </a:p>
          <a:p>
            <a:pPr marL="342900" indent="-342900" eaLnBrk="1" hangingPunct="1">
              <a:buFont typeface="Arial"/>
              <a:buChar char="•"/>
            </a:pPr>
            <a:endParaRPr lang="en-GB" sz="2000" dirty="0"/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Results in </a:t>
            </a:r>
            <a:r>
              <a:rPr lang="en-GB" sz="2000" b="1" dirty="0"/>
              <a:t>plastic deformation</a:t>
            </a:r>
            <a:r>
              <a:rPr lang="en-GB" sz="2000" dirty="0"/>
              <a:t> (folding) in warm ductile middle &amp; lower crust. (Heat reduces the strength of rock.)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79512" y="3861048"/>
            <a:ext cx="4176464" cy="2814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GB" sz="2000" dirty="0">
                <a:latin typeface="Arial" charset="0"/>
              </a:rPr>
              <a:t>Hot rocks are weak, so they resolve (and dissipate) </a:t>
            </a:r>
            <a:r>
              <a:rPr lang="en-GB" sz="2000" dirty="0" err="1">
                <a:latin typeface="Arial" charset="0"/>
              </a:rPr>
              <a:t>deviatoric</a:t>
            </a:r>
            <a:r>
              <a:rPr lang="en-GB" sz="2000" dirty="0">
                <a:latin typeface="Arial" charset="0"/>
              </a:rPr>
              <a:t> stresses by deforming plastically.</a:t>
            </a:r>
          </a:p>
          <a:p>
            <a:pPr>
              <a:spcBef>
                <a:spcPct val="0"/>
              </a:spcBef>
            </a:pPr>
            <a:endParaRPr lang="en-GB" sz="2000" dirty="0">
              <a:latin typeface="Arial" charset="0"/>
            </a:endParaRPr>
          </a:p>
          <a:p>
            <a:pPr>
              <a:spcBef>
                <a:spcPct val="0"/>
              </a:spcBef>
            </a:pPr>
            <a:r>
              <a:rPr lang="en-GB" sz="2000" b="1" dirty="0">
                <a:latin typeface="Arial" charset="0"/>
              </a:rPr>
              <a:t>So </a:t>
            </a:r>
            <a:r>
              <a:rPr lang="en-GB" sz="2000" b="1" dirty="0" err="1">
                <a:latin typeface="Arial" charset="0"/>
              </a:rPr>
              <a:t>deviatoric</a:t>
            </a:r>
            <a:r>
              <a:rPr lang="en-GB" sz="2000" b="1" dirty="0">
                <a:latin typeface="Arial" charset="0"/>
              </a:rPr>
              <a:t> stresses have minimal effect on mineral stabilities…</a:t>
            </a:r>
          </a:p>
        </p:txBody>
      </p:sp>
      <p:pic>
        <p:nvPicPr>
          <p:cNvPr id="7170" name="Picture 2" descr="Form's AR goggles can swimming track distance and heart rat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44694" y="3920282"/>
            <a:ext cx="4191115" cy="275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79512" y="1207510"/>
            <a:ext cx="8581716" cy="2653538"/>
            <a:chOff x="179512" y="1207510"/>
            <a:chExt cx="8581716" cy="2365506"/>
          </a:xfrm>
        </p:grpSpPr>
        <p:sp>
          <p:nvSpPr>
            <p:cNvPr id="2" name="Rectangle 1"/>
            <p:cNvSpPr/>
            <p:nvPr/>
          </p:nvSpPr>
          <p:spPr>
            <a:xfrm>
              <a:off x="179512" y="1207510"/>
              <a:ext cx="8581716" cy="23655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5D9803-3684-46F1-A9F9-B4612EE32D1B}"/>
                </a:ext>
              </a:extLst>
            </p:cNvPr>
            <p:cNvSpPr txBox="1"/>
            <p:nvPr/>
          </p:nvSpPr>
          <p:spPr>
            <a:xfrm>
              <a:off x="6156176" y="2863996"/>
              <a:ext cx="2088232" cy="647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b="1" dirty="0">
                  <a:solidFill>
                    <a:srgbClr val="FF0000"/>
                  </a:solidFill>
                  <a:latin typeface="Arial" charset="0"/>
                </a:rPr>
                <a:t>We looked at this in Week 5</a:t>
              </a:r>
              <a:endParaRPr lang="en-GB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901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51520" y="1340768"/>
            <a:ext cx="82089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2000" b="1" dirty="0"/>
              <a:t>... but can have a </a:t>
            </a:r>
            <a:r>
              <a:rPr lang="en-GB" sz="2000" b="1" u="sng" dirty="0"/>
              <a:t>major effect on texture.</a:t>
            </a:r>
            <a:endParaRPr lang="en-GB" sz="2000" b="1" dirty="0"/>
          </a:p>
          <a:p>
            <a:pPr eaLnBrk="1" hangingPunct="1"/>
            <a:endParaRPr lang="en-GB" sz="2000" b="1" dirty="0">
              <a:sym typeface="Wingdings" pitchFamily="2" charset="2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Existing minerals may be compressed, elongated or rotated.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GB" sz="2000" dirty="0">
              <a:sym typeface="Wingdings" pitchFamily="2" charset="2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New minerals’ shape and orientation also guided by deviatoric stress.</a:t>
            </a:r>
            <a:endParaRPr lang="en-GB" sz="20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51520" y="3370312"/>
            <a:ext cx="6264696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1.	Rotation and regrowth of flaky minerals into parallelism, resulting in the development of </a:t>
            </a:r>
            <a:r>
              <a:rPr lang="en-GB" sz="20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cleavage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perpendicular to </a:t>
            </a:r>
            <a:r>
              <a:rPr lang="az-Cyrl-AZ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Tx/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567" y="5661248"/>
            <a:ext cx="32319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medium/coarse-grained 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rocks, cleavage is usually 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termed </a:t>
            </a:r>
            <a:r>
              <a:rPr lang="en-GB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altLang="ja-JP" sz="2000" b="1" dirty="0" err="1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schistosity</a:t>
            </a:r>
            <a:r>
              <a:rPr lang="en-GB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2771800" y="3789040"/>
            <a:ext cx="6126163" cy="3548062"/>
            <a:chOff x="1701" y="2341"/>
            <a:chExt cx="3859" cy="2235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01" y="2341"/>
              <a:ext cx="3810" cy="2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174" y="2798"/>
              <a:ext cx="908" cy="909"/>
            </a:xfrm>
            <a:prstGeom prst="rect">
              <a:avLst/>
            </a:prstGeom>
            <a:solidFill>
              <a:srgbClr val="B7D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174" y="2798"/>
              <a:ext cx="908" cy="909"/>
            </a:xfrm>
            <a:prstGeom prst="rect">
              <a:avLst/>
            </a:prstGeom>
            <a:noFill/>
            <a:ln w="1588">
              <a:solidFill>
                <a:srgbClr val="1F1A1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210" y="3526"/>
              <a:ext cx="145" cy="145"/>
            </a:xfrm>
            <a:custGeom>
              <a:avLst/>
              <a:gdLst>
                <a:gd name="T0" fmla="*/ 644 w 728"/>
                <a:gd name="T1" fmla="*/ 595 h 727"/>
                <a:gd name="T2" fmla="*/ 675 w 728"/>
                <a:gd name="T3" fmla="*/ 551 h 727"/>
                <a:gd name="T4" fmla="*/ 699 w 728"/>
                <a:gd name="T5" fmla="*/ 503 h 727"/>
                <a:gd name="T6" fmla="*/ 716 w 728"/>
                <a:gd name="T7" fmla="*/ 452 h 727"/>
                <a:gd name="T8" fmla="*/ 725 w 728"/>
                <a:gd name="T9" fmla="*/ 400 h 727"/>
                <a:gd name="T10" fmla="*/ 728 w 728"/>
                <a:gd name="T11" fmla="*/ 345 h 727"/>
                <a:gd name="T12" fmla="*/ 721 w 728"/>
                <a:gd name="T13" fmla="*/ 290 h 727"/>
                <a:gd name="T14" fmla="*/ 705 w 728"/>
                <a:gd name="T15" fmla="*/ 239 h 727"/>
                <a:gd name="T16" fmla="*/ 684 w 728"/>
                <a:gd name="T17" fmla="*/ 190 h 727"/>
                <a:gd name="T18" fmla="*/ 655 w 728"/>
                <a:gd name="T19" fmla="*/ 146 h 727"/>
                <a:gd name="T20" fmla="*/ 621 w 728"/>
                <a:gd name="T21" fmla="*/ 107 h 727"/>
                <a:gd name="T22" fmla="*/ 581 w 728"/>
                <a:gd name="T23" fmla="*/ 72 h 727"/>
                <a:gd name="T24" fmla="*/ 537 w 728"/>
                <a:gd name="T25" fmla="*/ 44 h 727"/>
                <a:gd name="T26" fmla="*/ 489 w 728"/>
                <a:gd name="T27" fmla="*/ 22 h 727"/>
                <a:gd name="T28" fmla="*/ 437 w 728"/>
                <a:gd name="T29" fmla="*/ 8 h 727"/>
                <a:gd name="T30" fmla="*/ 383 w 728"/>
                <a:gd name="T31" fmla="*/ 1 h 727"/>
                <a:gd name="T32" fmla="*/ 327 w 728"/>
                <a:gd name="T33" fmla="*/ 2 h 727"/>
                <a:gd name="T34" fmla="*/ 273 w 728"/>
                <a:gd name="T35" fmla="*/ 12 h 727"/>
                <a:gd name="T36" fmla="*/ 223 w 728"/>
                <a:gd name="T37" fmla="*/ 29 h 727"/>
                <a:gd name="T38" fmla="*/ 175 w 728"/>
                <a:gd name="T39" fmla="*/ 53 h 727"/>
                <a:gd name="T40" fmla="*/ 134 w 728"/>
                <a:gd name="T41" fmla="*/ 83 h 727"/>
                <a:gd name="T42" fmla="*/ 96 w 728"/>
                <a:gd name="T43" fmla="*/ 120 h 727"/>
                <a:gd name="T44" fmla="*/ 63 w 728"/>
                <a:gd name="T45" fmla="*/ 160 h 727"/>
                <a:gd name="T46" fmla="*/ 36 w 728"/>
                <a:gd name="T47" fmla="*/ 207 h 727"/>
                <a:gd name="T48" fmla="*/ 17 w 728"/>
                <a:gd name="T49" fmla="*/ 256 h 727"/>
                <a:gd name="T50" fmla="*/ 5 w 728"/>
                <a:gd name="T51" fmla="*/ 308 h 727"/>
                <a:gd name="T52" fmla="*/ 0 w 728"/>
                <a:gd name="T53" fmla="*/ 364 h 727"/>
                <a:gd name="T54" fmla="*/ 5 w 728"/>
                <a:gd name="T55" fmla="*/ 419 h 727"/>
                <a:gd name="T56" fmla="*/ 17 w 728"/>
                <a:gd name="T57" fmla="*/ 471 h 727"/>
                <a:gd name="T58" fmla="*/ 36 w 728"/>
                <a:gd name="T59" fmla="*/ 521 h 727"/>
                <a:gd name="T60" fmla="*/ 63 w 728"/>
                <a:gd name="T61" fmla="*/ 566 h 727"/>
                <a:gd name="T62" fmla="*/ 96 w 728"/>
                <a:gd name="T63" fmla="*/ 608 h 727"/>
                <a:gd name="T64" fmla="*/ 134 w 728"/>
                <a:gd name="T65" fmla="*/ 644 h 727"/>
                <a:gd name="T66" fmla="*/ 175 w 728"/>
                <a:gd name="T67" fmla="*/ 675 h 727"/>
                <a:gd name="T68" fmla="*/ 223 w 728"/>
                <a:gd name="T69" fmla="*/ 699 h 727"/>
                <a:gd name="T70" fmla="*/ 273 w 728"/>
                <a:gd name="T71" fmla="*/ 715 h 727"/>
                <a:gd name="T72" fmla="*/ 327 w 728"/>
                <a:gd name="T73" fmla="*/ 726 h 727"/>
                <a:gd name="T74" fmla="*/ 383 w 728"/>
                <a:gd name="T75" fmla="*/ 727 h 727"/>
                <a:gd name="T76" fmla="*/ 435 w 728"/>
                <a:gd name="T77" fmla="*/ 720 h 727"/>
                <a:gd name="T78" fmla="*/ 486 w 728"/>
                <a:gd name="T79" fmla="*/ 706 h 727"/>
                <a:gd name="T80" fmla="*/ 536 w 728"/>
                <a:gd name="T81" fmla="*/ 684 h 727"/>
                <a:gd name="T82" fmla="*/ 581 w 728"/>
                <a:gd name="T83" fmla="*/ 656 h 727"/>
                <a:gd name="T84" fmla="*/ 621 w 728"/>
                <a:gd name="T85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8" h="727">
                  <a:moveTo>
                    <a:pt x="621" y="621"/>
                  </a:moveTo>
                  <a:lnTo>
                    <a:pt x="634" y="608"/>
                  </a:lnTo>
                  <a:lnTo>
                    <a:pt x="644" y="595"/>
                  </a:lnTo>
                  <a:lnTo>
                    <a:pt x="656" y="581"/>
                  </a:lnTo>
                  <a:lnTo>
                    <a:pt x="666" y="566"/>
                  </a:lnTo>
                  <a:lnTo>
                    <a:pt x="675" y="551"/>
                  </a:lnTo>
                  <a:lnTo>
                    <a:pt x="684" y="536"/>
                  </a:lnTo>
                  <a:lnTo>
                    <a:pt x="692" y="519"/>
                  </a:lnTo>
                  <a:lnTo>
                    <a:pt x="699" y="503"/>
                  </a:lnTo>
                  <a:lnTo>
                    <a:pt x="706" y="487"/>
                  </a:lnTo>
                  <a:lnTo>
                    <a:pt x="711" y="469"/>
                  </a:lnTo>
                  <a:lnTo>
                    <a:pt x="716" y="452"/>
                  </a:lnTo>
                  <a:lnTo>
                    <a:pt x="721" y="434"/>
                  </a:lnTo>
                  <a:lnTo>
                    <a:pt x="723" y="418"/>
                  </a:lnTo>
                  <a:lnTo>
                    <a:pt x="725" y="400"/>
                  </a:lnTo>
                  <a:lnTo>
                    <a:pt x="728" y="382"/>
                  </a:lnTo>
                  <a:lnTo>
                    <a:pt x="728" y="364"/>
                  </a:lnTo>
                  <a:lnTo>
                    <a:pt x="728" y="345"/>
                  </a:lnTo>
                  <a:lnTo>
                    <a:pt x="725" y="327"/>
                  </a:lnTo>
                  <a:lnTo>
                    <a:pt x="723" y="308"/>
                  </a:lnTo>
                  <a:lnTo>
                    <a:pt x="721" y="290"/>
                  </a:lnTo>
                  <a:lnTo>
                    <a:pt x="716" y="274"/>
                  </a:lnTo>
                  <a:lnTo>
                    <a:pt x="711" y="256"/>
                  </a:lnTo>
                  <a:lnTo>
                    <a:pt x="705" y="239"/>
                  </a:lnTo>
                  <a:lnTo>
                    <a:pt x="699" y="222"/>
                  </a:lnTo>
                  <a:lnTo>
                    <a:pt x="692" y="207"/>
                  </a:lnTo>
                  <a:lnTo>
                    <a:pt x="684" y="190"/>
                  </a:lnTo>
                  <a:lnTo>
                    <a:pt x="675" y="176"/>
                  </a:lnTo>
                  <a:lnTo>
                    <a:pt x="666" y="160"/>
                  </a:lnTo>
                  <a:lnTo>
                    <a:pt x="655" y="146"/>
                  </a:lnTo>
                  <a:lnTo>
                    <a:pt x="644" y="133"/>
                  </a:lnTo>
                  <a:lnTo>
                    <a:pt x="633" y="120"/>
                  </a:lnTo>
                  <a:lnTo>
                    <a:pt x="621" y="107"/>
                  </a:lnTo>
                  <a:lnTo>
                    <a:pt x="609" y="95"/>
                  </a:lnTo>
                  <a:lnTo>
                    <a:pt x="596" y="83"/>
                  </a:lnTo>
                  <a:lnTo>
                    <a:pt x="581" y="72"/>
                  </a:lnTo>
                  <a:lnTo>
                    <a:pt x="567" y="63"/>
                  </a:lnTo>
                  <a:lnTo>
                    <a:pt x="553" y="53"/>
                  </a:lnTo>
                  <a:lnTo>
                    <a:pt x="537" y="44"/>
                  </a:lnTo>
                  <a:lnTo>
                    <a:pt x="522" y="37"/>
                  </a:lnTo>
                  <a:lnTo>
                    <a:pt x="505" y="29"/>
                  </a:lnTo>
                  <a:lnTo>
                    <a:pt x="489" y="22"/>
                  </a:lnTo>
                  <a:lnTo>
                    <a:pt x="472" y="16"/>
                  </a:lnTo>
                  <a:lnTo>
                    <a:pt x="455" y="12"/>
                  </a:lnTo>
                  <a:lnTo>
                    <a:pt x="437" y="8"/>
                  </a:lnTo>
                  <a:lnTo>
                    <a:pt x="419" y="4"/>
                  </a:lnTo>
                  <a:lnTo>
                    <a:pt x="402" y="2"/>
                  </a:lnTo>
                  <a:lnTo>
                    <a:pt x="383" y="1"/>
                  </a:lnTo>
                  <a:lnTo>
                    <a:pt x="365" y="0"/>
                  </a:lnTo>
                  <a:lnTo>
                    <a:pt x="346" y="1"/>
                  </a:lnTo>
                  <a:lnTo>
                    <a:pt x="327" y="2"/>
                  </a:lnTo>
                  <a:lnTo>
                    <a:pt x="309" y="4"/>
                  </a:lnTo>
                  <a:lnTo>
                    <a:pt x="291" y="8"/>
                  </a:lnTo>
                  <a:lnTo>
                    <a:pt x="273" y="12"/>
                  </a:lnTo>
                  <a:lnTo>
                    <a:pt x="256" y="16"/>
                  </a:lnTo>
                  <a:lnTo>
                    <a:pt x="240" y="22"/>
                  </a:lnTo>
                  <a:lnTo>
                    <a:pt x="223" y="29"/>
                  </a:lnTo>
                  <a:lnTo>
                    <a:pt x="206" y="37"/>
                  </a:lnTo>
                  <a:lnTo>
                    <a:pt x="191" y="44"/>
                  </a:lnTo>
                  <a:lnTo>
                    <a:pt x="175" y="53"/>
                  </a:lnTo>
                  <a:lnTo>
                    <a:pt x="161" y="63"/>
                  </a:lnTo>
                  <a:lnTo>
                    <a:pt x="147" y="72"/>
                  </a:lnTo>
                  <a:lnTo>
                    <a:pt x="134" y="83"/>
                  </a:lnTo>
                  <a:lnTo>
                    <a:pt x="119" y="95"/>
                  </a:lnTo>
                  <a:lnTo>
                    <a:pt x="108" y="107"/>
                  </a:lnTo>
                  <a:lnTo>
                    <a:pt x="96" y="120"/>
                  </a:lnTo>
                  <a:lnTo>
                    <a:pt x="84" y="133"/>
                  </a:lnTo>
                  <a:lnTo>
                    <a:pt x="73" y="146"/>
                  </a:lnTo>
                  <a:lnTo>
                    <a:pt x="63" y="160"/>
                  </a:lnTo>
                  <a:lnTo>
                    <a:pt x="54" y="176"/>
                  </a:lnTo>
                  <a:lnTo>
                    <a:pt x="44" y="190"/>
                  </a:lnTo>
                  <a:lnTo>
                    <a:pt x="36" y="207"/>
                  </a:lnTo>
                  <a:lnTo>
                    <a:pt x="29" y="222"/>
                  </a:lnTo>
                  <a:lnTo>
                    <a:pt x="23" y="239"/>
                  </a:lnTo>
                  <a:lnTo>
                    <a:pt x="17" y="256"/>
                  </a:lnTo>
                  <a:lnTo>
                    <a:pt x="12" y="274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3" y="327"/>
                  </a:lnTo>
                  <a:lnTo>
                    <a:pt x="2" y="345"/>
                  </a:lnTo>
                  <a:lnTo>
                    <a:pt x="0" y="364"/>
                  </a:lnTo>
                  <a:lnTo>
                    <a:pt x="2" y="382"/>
                  </a:lnTo>
                  <a:lnTo>
                    <a:pt x="3" y="401"/>
                  </a:lnTo>
                  <a:lnTo>
                    <a:pt x="5" y="419"/>
                  </a:lnTo>
                  <a:lnTo>
                    <a:pt x="8" y="437"/>
                  </a:lnTo>
                  <a:lnTo>
                    <a:pt x="12" y="455"/>
                  </a:lnTo>
                  <a:lnTo>
                    <a:pt x="17" y="471"/>
                  </a:lnTo>
                  <a:lnTo>
                    <a:pt x="23" y="489"/>
                  </a:lnTo>
                  <a:lnTo>
                    <a:pt x="29" y="505"/>
                  </a:lnTo>
                  <a:lnTo>
                    <a:pt x="36" y="521"/>
                  </a:lnTo>
                  <a:lnTo>
                    <a:pt x="44" y="537"/>
                  </a:lnTo>
                  <a:lnTo>
                    <a:pt x="54" y="552"/>
                  </a:lnTo>
                  <a:lnTo>
                    <a:pt x="63" y="566"/>
                  </a:lnTo>
                  <a:lnTo>
                    <a:pt x="73" y="581"/>
                  </a:lnTo>
                  <a:lnTo>
                    <a:pt x="84" y="595"/>
                  </a:lnTo>
                  <a:lnTo>
                    <a:pt x="96" y="608"/>
                  </a:lnTo>
                  <a:lnTo>
                    <a:pt x="108" y="621"/>
                  </a:lnTo>
                  <a:lnTo>
                    <a:pt x="119" y="633"/>
                  </a:lnTo>
                  <a:lnTo>
                    <a:pt x="134" y="644"/>
                  </a:lnTo>
                  <a:lnTo>
                    <a:pt x="147" y="655"/>
                  </a:lnTo>
                  <a:lnTo>
                    <a:pt x="161" y="665"/>
                  </a:lnTo>
                  <a:lnTo>
                    <a:pt x="175" y="675"/>
                  </a:lnTo>
                  <a:lnTo>
                    <a:pt x="191" y="683"/>
                  </a:lnTo>
                  <a:lnTo>
                    <a:pt x="206" y="692"/>
                  </a:lnTo>
                  <a:lnTo>
                    <a:pt x="223" y="699"/>
                  </a:lnTo>
                  <a:lnTo>
                    <a:pt x="240" y="706"/>
                  </a:lnTo>
                  <a:lnTo>
                    <a:pt x="256" y="711"/>
                  </a:lnTo>
                  <a:lnTo>
                    <a:pt x="273" y="715"/>
                  </a:lnTo>
                  <a:lnTo>
                    <a:pt x="291" y="720"/>
                  </a:lnTo>
                  <a:lnTo>
                    <a:pt x="309" y="724"/>
                  </a:lnTo>
                  <a:lnTo>
                    <a:pt x="327" y="726"/>
                  </a:lnTo>
                  <a:lnTo>
                    <a:pt x="346" y="727"/>
                  </a:lnTo>
                  <a:lnTo>
                    <a:pt x="365" y="727"/>
                  </a:lnTo>
                  <a:lnTo>
                    <a:pt x="383" y="727"/>
                  </a:lnTo>
                  <a:lnTo>
                    <a:pt x="399" y="726"/>
                  </a:lnTo>
                  <a:lnTo>
                    <a:pt x="417" y="724"/>
                  </a:lnTo>
                  <a:lnTo>
                    <a:pt x="435" y="720"/>
                  </a:lnTo>
                  <a:lnTo>
                    <a:pt x="453" y="717"/>
                  </a:lnTo>
                  <a:lnTo>
                    <a:pt x="469" y="712"/>
                  </a:lnTo>
                  <a:lnTo>
                    <a:pt x="486" y="706"/>
                  </a:lnTo>
                  <a:lnTo>
                    <a:pt x="503" y="699"/>
                  </a:lnTo>
                  <a:lnTo>
                    <a:pt x="519" y="692"/>
                  </a:lnTo>
                  <a:lnTo>
                    <a:pt x="536" y="684"/>
                  </a:lnTo>
                  <a:lnTo>
                    <a:pt x="552" y="675"/>
                  </a:lnTo>
                  <a:lnTo>
                    <a:pt x="566" y="665"/>
                  </a:lnTo>
                  <a:lnTo>
                    <a:pt x="581" y="656"/>
                  </a:lnTo>
                  <a:lnTo>
                    <a:pt x="594" y="645"/>
                  </a:lnTo>
                  <a:lnTo>
                    <a:pt x="609" y="633"/>
                  </a:lnTo>
                  <a:lnTo>
                    <a:pt x="621" y="621"/>
                  </a:lnTo>
                  <a:close/>
                </a:path>
              </a:pathLst>
            </a:cu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2210" y="3526"/>
              <a:ext cx="145" cy="145"/>
            </a:xfrm>
            <a:custGeom>
              <a:avLst/>
              <a:gdLst>
                <a:gd name="T0" fmla="*/ 644 w 728"/>
                <a:gd name="T1" fmla="*/ 595 h 727"/>
                <a:gd name="T2" fmla="*/ 675 w 728"/>
                <a:gd name="T3" fmla="*/ 551 h 727"/>
                <a:gd name="T4" fmla="*/ 699 w 728"/>
                <a:gd name="T5" fmla="*/ 503 h 727"/>
                <a:gd name="T6" fmla="*/ 716 w 728"/>
                <a:gd name="T7" fmla="*/ 452 h 727"/>
                <a:gd name="T8" fmla="*/ 725 w 728"/>
                <a:gd name="T9" fmla="*/ 400 h 727"/>
                <a:gd name="T10" fmla="*/ 728 w 728"/>
                <a:gd name="T11" fmla="*/ 345 h 727"/>
                <a:gd name="T12" fmla="*/ 721 w 728"/>
                <a:gd name="T13" fmla="*/ 290 h 727"/>
                <a:gd name="T14" fmla="*/ 705 w 728"/>
                <a:gd name="T15" fmla="*/ 239 h 727"/>
                <a:gd name="T16" fmla="*/ 684 w 728"/>
                <a:gd name="T17" fmla="*/ 190 h 727"/>
                <a:gd name="T18" fmla="*/ 655 w 728"/>
                <a:gd name="T19" fmla="*/ 146 h 727"/>
                <a:gd name="T20" fmla="*/ 621 w 728"/>
                <a:gd name="T21" fmla="*/ 107 h 727"/>
                <a:gd name="T22" fmla="*/ 581 w 728"/>
                <a:gd name="T23" fmla="*/ 72 h 727"/>
                <a:gd name="T24" fmla="*/ 537 w 728"/>
                <a:gd name="T25" fmla="*/ 44 h 727"/>
                <a:gd name="T26" fmla="*/ 489 w 728"/>
                <a:gd name="T27" fmla="*/ 22 h 727"/>
                <a:gd name="T28" fmla="*/ 437 w 728"/>
                <a:gd name="T29" fmla="*/ 8 h 727"/>
                <a:gd name="T30" fmla="*/ 383 w 728"/>
                <a:gd name="T31" fmla="*/ 1 h 727"/>
                <a:gd name="T32" fmla="*/ 327 w 728"/>
                <a:gd name="T33" fmla="*/ 2 h 727"/>
                <a:gd name="T34" fmla="*/ 273 w 728"/>
                <a:gd name="T35" fmla="*/ 12 h 727"/>
                <a:gd name="T36" fmla="*/ 223 w 728"/>
                <a:gd name="T37" fmla="*/ 29 h 727"/>
                <a:gd name="T38" fmla="*/ 175 w 728"/>
                <a:gd name="T39" fmla="*/ 53 h 727"/>
                <a:gd name="T40" fmla="*/ 134 w 728"/>
                <a:gd name="T41" fmla="*/ 83 h 727"/>
                <a:gd name="T42" fmla="*/ 96 w 728"/>
                <a:gd name="T43" fmla="*/ 120 h 727"/>
                <a:gd name="T44" fmla="*/ 63 w 728"/>
                <a:gd name="T45" fmla="*/ 160 h 727"/>
                <a:gd name="T46" fmla="*/ 36 w 728"/>
                <a:gd name="T47" fmla="*/ 207 h 727"/>
                <a:gd name="T48" fmla="*/ 17 w 728"/>
                <a:gd name="T49" fmla="*/ 256 h 727"/>
                <a:gd name="T50" fmla="*/ 5 w 728"/>
                <a:gd name="T51" fmla="*/ 308 h 727"/>
                <a:gd name="T52" fmla="*/ 0 w 728"/>
                <a:gd name="T53" fmla="*/ 364 h 727"/>
                <a:gd name="T54" fmla="*/ 5 w 728"/>
                <a:gd name="T55" fmla="*/ 419 h 727"/>
                <a:gd name="T56" fmla="*/ 17 w 728"/>
                <a:gd name="T57" fmla="*/ 471 h 727"/>
                <a:gd name="T58" fmla="*/ 36 w 728"/>
                <a:gd name="T59" fmla="*/ 521 h 727"/>
                <a:gd name="T60" fmla="*/ 63 w 728"/>
                <a:gd name="T61" fmla="*/ 566 h 727"/>
                <a:gd name="T62" fmla="*/ 96 w 728"/>
                <a:gd name="T63" fmla="*/ 608 h 727"/>
                <a:gd name="T64" fmla="*/ 134 w 728"/>
                <a:gd name="T65" fmla="*/ 644 h 727"/>
                <a:gd name="T66" fmla="*/ 175 w 728"/>
                <a:gd name="T67" fmla="*/ 675 h 727"/>
                <a:gd name="T68" fmla="*/ 223 w 728"/>
                <a:gd name="T69" fmla="*/ 699 h 727"/>
                <a:gd name="T70" fmla="*/ 273 w 728"/>
                <a:gd name="T71" fmla="*/ 715 h 727"/>
                <a:gd name="T72" fmla="*/ 327 w 728"/>
                <a:gd name="T73" fmla="*/ 726 h 727"/>
                <a:gd name="T74" fmla="*/ 383 w 728"/>
                <a:gd name="T75" fmla="*/ 727 h 727"/>
                <a:gd name="T76" fmla="*/ 435 w 728"/>
                <a:gd name="T77" fmla="*/ 720 h 727"/>
                <a:gd name="T78" fmla="*/ 486 w 728"/>
                <a:gd name="T79" fmla="*/ 706 h 727"/>
                <a:gd name="T80" fmla="*/ 536 w 728"/>
                <a:gd name="T81" fmla="*/ 684 h 727"/>
                <a:gd name="T82" fmla="*/ 581 w 728"/>
                <a:gd name="T83" fmla="*/ 656 h 727"/>
                <a:gd name="T84" fmla="*/ 621 w 728"/>
                <a:gd name="T85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8" h="727">
                  <a:moveTo>
                    <a:pt x="621" y="621"/>
                  </a:moveTo>
                  <a:lnTo>
                    <a:pt x="634" y="608"/>
                  </a:lnTo>
                  <a:lnTo>
                    <a:pt x="644" y="595"/>
                  </a:lnTo>
                  <a:lnTo>
                    <a:pt x="656" y="581"/>
                  </a:lnTo>
                  <a:lnTo>
                    <a:pt x="666" y="566"/>
                  </a:lnTo>
                  <a:lnTo>
                    <a:pt x="675" y="551"/>
                  </a:lnTo>
                  <a:lnTo>
                    <a:pt x="684" y="536"/>
                  </a:lnTo>
                  <a:lnTo>
                    <a:pt x="692" y="519"/>
                  </a:lnTo>
                  <a:lnTo>
                    <a:pt x="699" y="503"/>
                  </a:lnTo>
                  <a:lnTo>
                    <a:pt x="706" y="487"/>
                  </a:lnTo>
                  <a:lnTo>
                    <a:pt x="711" y="469"/>
                  </a:lnTo>
                  <a:lnTo>
                    <a:pt x="716" y="452"/>
                  </a:lnTo>
                  <a:lnTo>
                    <a:pt x="721" y="434"/>
                  </a:lnTo>
                  <a:lnTo>
                    <a:pt x="723" y="418"/>
                  </a:lnTo>
                  <a:lnTo>
                    <a:pt x="725" y="400"/>
                  </a:lnTo>
                  <a:lnTo>
                    <a:pt x="728" y="382"/>
                  </a:lnTo>
                  <a:lnTo>
                    <a:pt x="728" y="364"/>
                  </a:lnTo>
                  <a:lnTo>
                    <a:pt x="728" y="345"/>
                  </a:lnTo>
                  <a:lnTo>
                    <a:pt x="725" y="327"/>
                  </a:lnTo>
                  <a:lnTo>
                    <a:pt x="723" y="308"/>
                  </a:lnTo>
                  <a:lnTo>
                    <a:pt x="721" y="290"/>
                  </a:lnTo>
                  <a:lnTo>
                    <a:pt x="716" y="274"/>
                  </a:lnTo>
                  <a:lnTo>
                    <a:pt x="711" y="256"/>
                  </a:lnTo>
                  <a:lnTo>
                    <a:pt x="705" y="239"/>
                  </a:lnTo>
                  <a:lnTo>
                    <a:pt x="699" y="222"/>
                  </a:lnTo>
                  <a:lnTo>
                    <a:pt x="692" y="207"/>
                  </a:lnTo>
                  <a:lnTo>
                    <a:pt x="684" y="190"/>
                  </a:lnTo>
                  <a:lnTo>
                    <a:pt x="675" y="176"/>
                  </a:lnTo>
                  <a:lnTo>
                    <a:pt x="666" y="160"/>
                  </a:lnTo>
                  <a:lnTo>
                    <a:pt x="655" y="146"/>
                  </a:lnTo>
                  <a:lnTo>
                    <a:pt x="644" y="133"/>
                  </a:lnTo>
                  <a:lnTo>
                    <a:pt x="633" y="120"/>
                  </a:lnTo>
                  <a:lnTo>
                    <a:pt x="621" y="107"/>
                  </a:lnTo>
                  <a:lnTo>
                    <a:pt x="609" y="95"/>
                  </a:lnTo>
                  <a:lnTo>
                    <a:pt x="596" y="83"/>
                  </a:lnTo>
                  <a:lnTo>
                    <a:pt x="581" y="72"/>
                  </a:lnTo>
                  <a:lnTo>
                    <a:pt x="567" y="63"/>
                  </a:lnTo>
                  <a:lnTo>
                    <a:pt x="553" y="53"/>
                  </a:lnTo>
                  <a:lnTo>
                    <a:pt x="537" y="44"/>
                  </a:lnTo>
                  <a:lnTo>
                    <a:pt x="522" y="37"/>
                  </a:lnTo>
                  <a:lnTo>
                    <a:pt x="505" y="29"/>
                  </a:lnTo>
                  <a:lnTo>
                    <a:pt x="489" y="22"/>
                  </a:lnTo>
                  <a:lnTo>
                    <a:pt x="472" y="16"/>
                  </a:lnTo>
                  <a:lnTo>
                    <a:pt x="455" y="12"/>
                  </a:lnTo>
                  <a:lnTo>
                    <a:pt x="437" y="8"/>
                  </a:lnTo>
                  <a:lnTo>
                    <a:pt x="419" y="4"/>
                  </a:lnTo>
                  <a:lnTo>
                    <a:pt x="402" y="2"/>
                  </a:lnTo>
                  <a:lnTo>
                    <a:pt x="383" y="1"/>
                  </a:lnTo>
                  <a:lnTo>
                    <a:pt x="365" y="0"/>
                  </a:lnTo>
                  <a:lnTo>
                    <a:pt x="346" y="1"/>
                  </a:lnTo>
                  <a:lnTo>
                    <a:pt x="327" y="2"/>
                  </a:lnTo>
                  <a:lnTo>
                    <a:pt x="309" y="4"/>
                  </a:lnTo>
                  <a:lnTo>
                    <a:pt x="291" y="8"/>
                  </a:lnTo>
                  <a:lnTo>
                    <a:pt x="273" y="12"/>
                  </a:lnTo>
                  <a:lnTo>
                    <a:pt x="256" y="16"/>
                  </a:lnTo>
                  <a:lnTo>
                    <a:pt x="240" y="22"/>
                  </a:lnTo>
                  <a:lnTo>
                    <a:pt x="223" y="29"/>
                  </a:lnTo>
                  <a:lnTo>
                    <a:pt x="206" y="37"/>
                  </a:lnTo>
                  <a:lnTo>
                    <a:pt x="191" y="44"/>
                  </a:lnTo>
                  <a:lnTo>
                    <a:pt x="175" y="53"/>
                  </a:lnTo>
                  <a:lnTo>
                    <a:pt x="161" y="63"/>
                  </a:lnTo>
                  <a:lnTo>
                    <a:pt x="147" y="72"/>
                  </a:lnTo>
                  <a:lnTo>
                    <a:pt x="134" y="83"/>
                  </a:lnTo>
                  <a:lnTo>
                    <a:pt x="119" y="95"/>
                  </a:lnTo>
                  <a:lnTo>
                    <a:pt x="108" y="107"/>
                  </a:lnTo>
                  <a:lnTo>
                    <a:pt x="96" y="120"/>
                  </a:lnTo>
                  <a:lnTo>
                    <a:pt x="84" y="133"/>
                  </a:lnTo>
                  <a:lnTo>
                    <a:pt x="73" y="146"/>
                  </a:lnTo>
                  <a:lnTo>
                    <a:pt x="63" y="160"/>
                  </a:lnTo>
                  <a:lnTo>
                    <a:pt x="54" y="176"/>
                  </a:lnTo>
                  <a:lnTo>
                    <a:pt x="44" y="190"/>
                  </a:lnTo>
                  <a:lnTo>
                    <a:pt x="36" y="207"/>
                  </a:lnTo>
                  <a:lnTo>
                    <a:pt x="29" y="222"/>
                  </a:lnTo>
                  <a:lnTo>
                    <a:pt x="23" y="239"/>
                  </a:lnTo>
                  <a:lnTo>
                    <a:pt x="17" y="256"/>
                  </a:lnTo>
                  <a:lnTo>
                    <a:pt x="12" y="274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3" y="327"/>
                  </a:lnTo>
                  <a:lnTo>
                    <a:pt x="2" y="345"/>
                  </a:lnTo>
                  <a:lnTo>
                    <a:pt x="0" y="364"/>
                  </a:lnTo>
                  <a:lnTo>
                    <a:pt x="2" y="382"/>
                  </a:lnTo>
                  <a:lnTo>
                    <a:pt x="3" y="401"/>
                  </a:lnTo>
                  <a:lnTo>
                    <a:pt x="5" y="419"/>
                  </a:lnTo>
                  <a:lnTo>
                    <a:pt x="8" y="437"/>
                  </a:lnTo>
                  <a:lnTo>
                    <a:pt x="12" y="455"/>
                  </a:lnTo>
                  <a:lnTo>
                    <a:pt x="17" y="471"/>
                  </a:lnTo>
                  <a:lnTo>
                    <a:pt x="23" y="489"/>
                  </a:lnTo>
                  <a:lnTo>
                    <a:pt x="29" y="505"/>
                  </a:lnTo>
                  <a:lnTo>
                    <a:pt x="36" y="521"/>
                  </a:lnTo>
                  <a:lnTo>
                    <a:pt x="44" y="537"/>
                  </a:lnTo>
                  <a:lnTo>
                    <a:pt x="54" y="552"/>
                  </a:lnTo>
                  <a:lnTo>
                    <a:pt x="63" y="566"/>
                  </a:lnTo>
                  <a:lnTo>
                    <a:pt x="73" y="581"/>
                  </a:lnTo>
                  <a:lnTo>
                    <a:pt x="84" y="595"/>
                  </a:lnTo>
                  <a:lnTo>
                    <a:pt x="96" y="608"/>
                  </a:lnTo>
                  <a:lnTo>
                    <a:pt x="108" y="621"/>
                  </a:lnTo>
                  <a:lnTo>
                    <a:pt x="119" y="633"/>
                  </a:lnTo>
                  <a:lnTo>
                    <a:pt x="134" y="644"/>
                  </a:lnTo>
                  <a:lnTo>
                    <a:pt x="147" y="655"/>
                  </a:lnTo>
                  <a:lnTo>
                    <a:pt x="161" y="665"/>
                  </a:lnTo>
                  <a:lnTo>
                    <a:pt x="175" y="675"/>
                  </a:lnTo>
                  <a:lnTo>
                    <a:pt x="191" y="683"/>
                  </a:lnTo>
                  <a:lnTo>
                    <a:pt x="206" y="692"/>
                  </a:lnTo>
                  <a:lnTo>
                    <a:pt x="223" y="699"/>
                  </a:lnTo>
                  <a:lnTo>
                    <a:pt x="240" y="706"/>
                  </a:lnTo>
                  <a:lnTo>
                    <a:pt x="256" y="711"/>
                  </a:lnTo>
                  <a:lnTo>
                    <a:pt x="273" y="715"/>
                  </a:lnTo>
                  <a:lnTo>
                    <a:pt x="291" y="720"/>
                  </a:lnTo>
                  <a:lnTo>
                    <a:pt x="309" y="724"/>
                  </a:lnTo>
                  <a:lnTo>
                    <a:pt x="327" y="726"/>
                  </a:lnTo>
                  <a:lnTo>
                    <a:pt x="346" y="727"/>
                  </a:lnTo>
                  <a:lnTo>
                    <a:pt x="365" y="727"/>
                  </a:lnTo>
                  <a:lnTo>
                    <a:pt x="383" y="727"/>
                  </a:lnTo>
                  <a:lnTo>
                    <a:pt x="399" y="726"/>
                  </a:lnTo>
                  <a:lnTo>
                    <a:pt x="417" y="724"/>
                  </a:lnTo>
                  <a:lnTo>
                    <a:pt x="435" y="720"/>
                  </a:lnTo>
                  <a:lnTo>
                    <a:pt x="453" y="717"/>
                  </a:lnTo>
                  <a:lnTo>
                    <a:pt x="469" y="712"/>
                  </a:lnTo>
                  <a:lnTo>
                    <a:pt x="486" y="706"/>
                  </a:lnTo>
                  <a:lnTo>
                    <a:pt x="503" y="699"/>
                  </a:lnTo>
                  <a:lnTo>
                    <a:pt x="519" y="692"/>
                  </a:lnTo>
                  <a:lnTo>
                    <a:pt x="536" y="684"/>
                  </a:lnTo>
                  <a:lnTo>
                    <a:pt x="552" y="675"/>
                  </a:lnTo>
                  <a:lnTo>
                    <a:pt x="566" y="665"/>
                  </a:lnTo>
                  <a:lnTo>
                    <a:pt x="581" y="656"/>
                  </a:lnTo>
                  <a:lnTo>
                    <a:pt x="594" y="645"/>
                  </a:lnTo>
                  <a:lnTo>
                    <a:pt x="609" y="633"/>
                  </a:lnTo>
                  <a:lnTo>
                    <a:pt x="621" y="621"/>
                  </a:lnTo>
                </a:path>
              </a:pathLst>
            </a:custGeom>
            <a:noFill/>
            <a:ln w="1588">
              <a:solidFill>
                <a:srgbClr val="1F1A1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2307" y="3050"/>
              <a:ext cx="61" cy="152"/>
            </a:xfrm>
            <a:custGeom>
              <a:avLst/>
              <a:gdLst>
                <a:gd name="T0" fmla="*/ 306 w 306"/>
                <a:gd name="T1" fmla="*/ 727 h 758"/>
                <a:gd name="T2" fmla="*/ 124 w 306"/>
                <a:gd name="T3" fmla="*/ 0 h 758"/>
                <a:gd name="T4" fmla="*/ 0 w 306"/>
                <a:gd name="T5" fmla="*/ 31 h 758"/>
                <a:gd name="T6" fmla="*/ 182 w 306"/>
                <a:gd name="T7" fmla="*/ 758 h 758"/>
                <a:gd name="T8" fmla="*/ 306 w 306"/>
                <a:gd name="T9" fmla="*/ 727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8">
                  <a:moveTo>
                    <a:pt x="306" y="727"/>
                  </a:moveTo>
                  <a:lnTo>
                    <a:pt x="124" y="0"/>
                  </a:lnTo>
                  <a:lnTo>
                    <a:pt x="0" y="31"/>
                  </a:lnTo>
                  <a:lnTo>
                    <a:pt x="182" y="758"/>
                  </a:lnTo>
                  <a:lnTo>
                    <a:pt x="306" y="72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421" y="3260"/>
              <a:ext cx="123" cy="95"/>
            </a:xfrm>
            <a:custGeom>
              <a:avLst/>
              <a:gdLst>
                <a:gd name="T0" fmla="*/ 546 w 617"/>
                <a:gd name="T1" fmla="*/ 0 h 471"/>
                <a:gd name="T2" fmla="*/ 0 w 617"/>
                <a:gd name="T3" fmla="*/ 364 h 471"/>
                <a:gd name="T4" fmla="*/ 72 w 617"/>
                <a:gd name="T5" fmla="*/ 471 h 471"/>
                <a:gd name="T6" fmla="*/ 617 w 617"/>
                <a:gd name="T7" fmla="*/ 108 h 471"/>
                <a:gd name="T8" fmla="*/ 546 w 61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471">
                  <a:moveTo>
                    <a:pt x="546" y="0"/>
                  </a:moveTo>
                  <a:lnTo>
                    <a:pt x="0" y="364"/>
                  </a:lnTo>
                  <a:lnTo>
                    <a:pt x="72" y="471"/>
                  </a:lnTo>
                  <a:lnTo>
                    <a:pt x="617" y="108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2561" y="2977"/>
              <a:ext cx="61" cy="152"/>
            </a:xfrm>
            <a:custGeom>
              <a:avLst/>
              <a:gdLst>
                <a:gd name="T0" fmla="*/ 181 w 306"/>
                <a:gd name="T1" fmla="*/ 0 h 757"/>
                <a:gd name="T2" fmla="*/ 0 w 306"/>
                <a:gd name="T3" fmla="*/ 726 h 757"/>
                <a:gd name="T4" fmla="*/ 123 w 306"/>
                <a:gd name="T5" fmla="*/ 757 h 757"/>
                <a:gd name="T6" fmla="*/ 306 w 306"/>
                <a:gd name="T7" fmla="*/ 31 h 757"/>
                <a:gd name="T8" fmla="*/ 181 w 306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7">
                  <a:moveTo>
                    <a:pt x="181" y="0"/>
                  </a:moveTo>
                  <a:lnTo>
                    <a:pt x="0" y="726"/>
                  </a:lnTo>
                  <a:lnTo>
                    <a:pt x="123" y="757"/>
                  </a:lnTo>
                  <a:lnTo>
                    <a:pt x="306" y="31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597" y="3377"/>
              <a:ext cx="62" cy="152"/>
            </a:xfrm>
            <a:custGeom>
              <a:avLst/>
              <a:gdLst>
                <a:gd name="T0" fmla="*/ 306 w 306"/>
                <a:gd name="T1" fmla="*/ 726 h 758"/>
                <a:gd name="T2" fmla="*/ 125 w 306"/>
                <a:gd name="T3" fmla="*/ 0 h 758"/>
                <a:gd name="T4" fmla="*/ 0 w 306"/>
                <a:gd name="T5" fmla="*/ 31 h 758"/>
                <a:gd name="T6" fmla="*/ 182 w 306"/>
                <a:gd name="T7" fmla="*/ 758 h 758"/>
                <a:gd name="T8" fmla="*/ 306 w 306"/>
                <a:gd name="T9" fmla="*/ 726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8">
                  <a:moveTo>
                    <a:pt x="306" y="726"/>
                  </a:moveTo>
                  <a:lnTo>
                    <a:pt x="125" y="0"/>
                  </a:lnTo>
                  <a:lnTo>
                    <a:pt x="0" y="31"/>
                  </a:lnTo>
                  <a:lnTo>
                    <a:pt x="182" y="758"/>
                  </a:lnTo>
                  <a:lnTo>
                    <a:pt x="306" y="726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639" y="3151"/>
              <a:ext cx="123" cy="94"/>
            </a:xfrm>
            <a:custGeom>
              <a:avLst/>
              <a:gdLst>
                <a:gd name="T0" fmla="*/ 617 w 617"/>
                <a:gd name="T1" fmla="*/ 363 h 470"/>
                <a:gd name="T2" fmla="*/ 71 w 617"/>
                <a:gd name="T3" fmla="*/ 0 h 470"/>
                <a:gd name="T4" fmla="*/ 0 w 617"/>
                <a:gd name="T5" fmla="*/ 107 h 470"/>
                <a:gd name="T6" fmla="*/ 545 w 617"/>
                <a:gd name="T7" fmla="*/ 470 h 470"/>
                <a:gd name="T8" fmla="*/ 617 w 617"/>
                <a:gd name="T9" fmla="*/ 363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470">
                  <a:moveTo>
                    <a:pt x="617" y="363"/>
                  </a:moveTo>
                  <a:lnTo>
                    <a:pt x="71" y="0"/>
                  </a:lnTo>
                  <a:lnTo>
                    <a:pt x="0" y="107"/>
                  </a:lnTo>
                  <a:lnTo>
                    <a:pt x="545" y="470"/>
                  </a:lnTo>
                  <a:lnTo>
                    <a:pt x="617" y="363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392" y="3004"/>
              <a:ext cx="145" cy="25"/>
            </a:xfrm>
            <a:prstGeom prst="rect">
              <a:avLst/>
            </a:pr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2276" y="2897"/>
              <a:ext cx="123" cy="94"/>
            </a:xfrm>
            <a:custGeom>
              <a:avLst/>
              <a:gdLst>
                <a:gd name="T0" fmla="*/ 545 w 616"/>
                <a:gd name="T1" fmla="*/ 0 h 471"/>
                <a:gd name="T2" fmla="*/ 0 w 616"/>
                <a:gd name="T3" fmla="*/ 365 h 471"/>
                <a:gd name="T4" fmla="*/ 70 w 616"/>
                <a:gd name="T5" fmla="*/ 471 h 471"/>
                <a:gd name="T6" fmla="*/ 616 w 616"/>
                <a:gd name="T7" fmla="*/ 107 h 471"/>
                <a:gd name="T8" fmla="*/ 545 w 616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" h="471">
                  <a:moveTo>
                    <a:pt x="545" y="0"/>
                  </a:moveTo>
                  <a:lnTo>
                    <a:pt x="0" y="365"/>
                  </a:lnTo>
                  <a:lnTo>
                    <a:pt x="70" y="471"/>
                  </a:lnTo>
                  <a:lnTo>
                    <a:pt x="616" y="10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2205" y="3223"/>
              <a:ext cx="192" cy="96"/>
            </a:xfrm>
            <a:custGeom>
              <a:avLst/>
              <a:gdLst>
                <a:gd name="T0" fmla="*/ 957 w 957"/>
                <a:gd name="T1" fmla="*/ 365 h 483"/>
                <a:gd name="T2" fmla="*/ 47 w 957"/>
                <a:gd name="T3" fmla="*/ 0 h 483"/>
                <a:gd name="T4" fmla="*/ 0 w 957"/>
                <a:gd name="T5" fmla="*/ 119 h 483"/>
                <a:gd name="T6" fmla="*/ 909 w 957"/>
                <a:gd name="T7" fmla="*/ 483 h 483"/>
                <a:gd name="T8" fmla="*/ 957 w 957"/>
                <a:gd name="T9" fmla="*/ 365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7" h="483">
                  <a:moveTo>
                    <a:pt x="957" y="365"/>
                  </a:moveTo>
                  <a:lnTo>
                    <a:pt x="47" y="0"/>
                  </a:lnTo>
                  <a:lnTo>
                    <a:pt x="0" y="119"/>
                  </a:lnTo>
                  <a:lnTo>
                    <a:pt x="909" y="483"/>
                  </a:lnTo>
                  <a:lnTo>
                    <a:pt x="957" y="36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2345" y="3410"/>
              <a:ext cx="94" cy="123"/>
            </a:xfrm>
            <a:custGeom>
              <a:avLst/>
              <a:gdLst>
                <a:gd name="T0" fmla="*/ 471 w 471"/>
                <a:gd name="T1" fmla="*/ 545 h 615"/>
                <a:gd name="T2" fmla="*/ 107 w 471"/>
                <a:gd name="T3" fmla="*/ 0 h 615"/>
                <a:gd name="T4" fmla="*/ 0 w 471"/>
                <a:gd name="T5" fmla="*/ 70 h 615"/>
                <a:gd name="T6" fmla="*/ 363 w 471"/>
                <a:gd name="T7" fmla="*/ 615 h 615"/>
                <a:gd name="T8" fmla="*/ 471 w 471"/>
                <a:gd name="T9" fmla="*/ 545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1" h="615">
                  <a:moveTo>
                    <a:pt x="471" y="545"/>
                  </a:moveTo>
                  <a:lnTo>
                    <a:pt x="107" y="0"/>
                  </a:lnTo>
                  <a:lnTo>
                    <a:pt x="0" y="70"/>
                  </a:lnTo>
                  <a:lnTo>
                    <a:pt x="363" y="615"/>
                  </a:lnTo>
                  <a:lnTo>
                    <a:pt x="471" y="54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2713" y="3332"/>
              <a:ext cx="157" cy="96"/>
            </a:xfrm>
            <a:custGeom>
              <a:avLst/>
              <a:gdLst>
                <a:gd name="T0" fmla="*/ 727 w 784"/>
                <a:gd name="T1" fmla="*/ 0 h 477"/>
                <a:gd name="T2" fmla="*/ 0 w 784"/>
                <a:gd name="T3" fmla="*/ 364 h 477"/>
                <a:gd name="T4" fmla="*/ 57 w 784"/>
                <a:gd name="T5" fmla="*/ 477 h 477"/>
                <a:gd name="T6" fmla="*/ 784 w 784"/>
                <a:gd name="T7" fmla="*/ 114 h 477"/>
                <a:gd name="T8" fmla="*/ 727 w 784"/>
                <a:gd name="T9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4" h="477">
                  <a:moveTo>
                    <a:pt x="727" y="0"/>
                  </a:moveTo>
                  <a:lnTo>
                    <a:pt x="0" y="364"/>
                  </a:lnTo>
                  <a:lnTo>
                    <a:pt x="57" y="477"/>
                  </a:lnTo>
                  <a:lnTo>
                    <a:pt x="784" y="114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2749" y="3478"/>
              <a:ext cx="157" cy="95"/>
            </a:xfrm>
            <a:custGeom>
              <a:avLst/>
              <a:gdLst>
                <a:gd name="T0" fmla="*/ 785 w 785"/>
                <a:gd name="T1" fmla="*/ 363 h 477"/>
                <a:gd name="T2" fmla="*/ 57 w 785"/>
                <a:gd name="T3" fmla="*/ 0 h 477"/>
                <a:gd name="T4" fmla="*/ 0 w 785"/>
                <a:gd name="T5" fmla="*/ 114 h 477"/>
                <a:gd name="T6" fmla="*/ 728 w 785"/>
                <a:gd name="T7" fmla="*/ 477 h 477"/>
                <a:gd name="T8" fmla="*/ 785 w 785"/>
                <a:gd name="T9" fmla="*/ 363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5" h="477">
                  <a:moveTo>
                    <a:pt x="785" y="363"/>
                  </a:moveTo>
                  <a:lnTo>
                    <a:pt x="57" y="0"/>
                  </a:lnTo>
                  <a:lnTo>
                    <a:pt x="0" y="114"/>
                  </a:lnTo>
                  <a:lnTo>
                    <a:pt x="728" y="477"/>
                  </a:lnTo>
                  <a:lnTo>
                    <a:pt x="785" y="363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2457" y="3515"/>
              <a:ext cx="124" cy="94"/>
            </a:xfrm>
            <a:custGeom>
              <a:avLst/>
              <a:gdLst>
                <a:gd name="T0" fmla="*/ 72 w 617"/>
                <a:gd name="T1" fmla="*/ 471 h 471"/>
                <a:gd name="T2" fmla="*/ 617 w 617"/>
                <a:gd name="T3" fmla="*/ 106 h 471"/>
                <a:gd name="T4" fmla="*/ 546 w 617"/>
                <a:gd name="T5" fmla="*/ 0 h 471"/>
                <a:gd name="T6" fmla="*/ 0 w 617"/>
                <a:gd name="T7" fmla="*/ 363 h 471"/>
                <a:gd name="T8" fmla="*/ 72 w 617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471">
                  <a:moveTo>
                    <a:pt x="72" y="471"/>
                  </a:moveTo>
                  <a:lnTo>
                    <a:pt x="617" y="106"/>
                  </a:lnTo>
                  <a:lnTo>
                    <a:pt x="546" y="0"/>
                  </a:lnTo>
                  <a:lnTo>
                    <a:pt x="0" y="363"/>
                  </a:lnTo>
                  <a:lnTo>
                    <a:pt x="72" y="47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2815" y="3123"/>
              <a:ext cx="62" cy="151"/>
            </a:xfrm>
            <a:custGeom>
              <a:avLst/>
              <a:gdLst>
                <a:gd name="T0" fmla="*/ 182 w 306"/>
                <a:gd name="T1" fmla="*/ 0 h 758"/>
                <a:gd name="T2" fmla="*/ 0 w 306"/>
                <a:gd name="T3" fmla="*/ 728 h 758"/>
                <a:gd name="T4" fmla="*/ 125 w 306"/>
                <a:gd name="T5" fmla="*/ 758 h 758"/>
                <a:gd name="T6" fmla="*/ 306 w 306"/>
                <a:gd name="T7" fmla="*/ 31 h 758"/>
                <a:gd name="T8" fmla="*/ 182 w 306"/>
                <a:gd name="T9" fmla="*/ 0 h 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8">
                  <a:moveTo>
                    <a:pt x="182" y="0"/>
                  </a:moveTo>
                  <a:lnTo>
                    <a:pt x="0" y="728"/>
                  </a:lnTo>
                  <a:lnTo>
                    <a:pt x="125" y="758"/>
                  </a:lnTo>
                  <a:lnTo>
                    <a:pt x="306" y="31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2"/>
            <p:cNvSpPr>
              <a:spLocks/>
            </p:cNvSpPr>
            <p:nvPr/>
          </p:nvSpPr>
          <p:spPr bwMode="auto">
            <a:xfrm>
              <a:off x="2420" y="3115"/>
              <a:ext cx="161" cy="130"/>
            </a:xfrm>
            <a:custGeom>
              <a:avLst/>
              <a:gdLst>
                <a:gd name="T0" fmla="*/ 804 w 804"/>
                <a:gd name="T1" fmla="*/ 546 h 648"/>
                <a:gd name="T2" fmla="*/ 76 w 804"/>
                <a:gd name="T3" fmla="*/ 0 h 648"/>
                <a:gd name="T4" fmla="*/ 0 w 804"/>
                <a:gd name="T5" fmla="*/ 103 h 648"/>
                <a:gd name="T6" fmla="*/ 727 w 804"/>
                <a:gd name="T7" fmla="*/ 648 h 648"/>
                <a:gd name="T8" fmla="*/ 804 w 804"/>
                <a:gd name="T9" fmla="*/ 546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4" h="648">
                  <a:moveTo>
                    <a:pt x="804" y="546"/>
                  </a:moveTo>
                  <a:lnTo>
                    <a:pt x="76" y="0"/>
                  </a:lnTo>
                  <a:lnTo>
                    <a:pt x="0" y="103"/>
                  </a:lnTo>
                  <a:lnTo>
                    <a:pt x="727" y="648"/>
                  </a:lnTo>
                  <a:lnTo>
                    <a:pt x="804" y="546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2564" y="2862"/>
              <a:ext cx="128" cy="127"/>
            </a:xfrm>
            <a:custGeom>
              <a:avLst/>
              <a:gdLst>
                <a:gd name="T0" fmla="*/ 636 w 636"/>
                <a:gd name="T1" fmla="*/ 545 h 635"/>
                <a:gd name="T2" fmla="*/ 91 w 636"/>
                <a:gd name="T3" fmla="*/ 0 h 635"/>
                <a:gd name="T4" fmla="*/ 0 w 636"/>
                <a:gd name="T5" fmla="*/ 90 h 635"/>
                <a:gd name="T6" fmla="*/ 546 w 636"/>
                <a:gd name="T7" fmla="*/ 635 h 635"/>
                <a:gd name="T8" fmla="*/ 636 w 636"/>
                <a:gd name="T9" fmla="*/ 54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635">
                  <a:moveTo>
                    <a:pt x="636" y="545"/>
                  </a:moveTo>
                  <a:lnTo>
                    <a:pt x="91" y="0"/>
                  </a:lnTo>
                  <a:lnTo>
                    <a:pt x="0" y="90"/>
                  </a:lnTo>
                  <a:lnTo>
                    <a:pt x="546" y="635"/>
                  </a:lnTo>
                  <a:lnTo>
                    <a:pt x="636" y="54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4"/>
            <p:cNvSpPr>
              <a:spLocks/>
            </p:cNvSpPr>
            <p:nvPr/>
          </p:nvSpPr>
          <p:spPr bwMode="auto">
            <a:xfrm>
              <a:off x="2712" y="3042"/>
              <a:ext cx="123" cy="94"/>
            </a:xfrm>
            <a:custGeom>
              <a:avLst/>
              <a:gdLst>
                <a:gd name="T0" fmla="*/ 546 w 616"/>
                <a:gd name="T1" fmla="*/ 0 h 470"/>
                <a:gd name="T2" fmla="*/ 0 w 616"/>
                <a:gd name="T3" fmla="*/ 363 h 470"/>
                <a:gd name="T4" fmla="*/ 70 w 616"/>
                <a:gd name="T5" fmla="*/ 470 h 470"/>
                <a:gd name="T6" fmla="*/ 616 w 616"/>
                <a:gd name="T7" fmla="*/ 107 h 470"/>
                <a:gd name="T8" fmla="*/ 546 w 616"/>
                <a:gd name="T9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" h="470">
                  <a:moveTo>
                    <a:pt x="546" y="0"/>
                  </a:moveTo>
                  <a:lnTo>
                    <a:pt x="0" y="363"/>
                  </a:lnTo>
                  <a:lnTo>
                    <a:pt x="70" y="470"/>
                  </a:lnTo>
                  <a:lnTo>
                    <a:pt x="616" y="10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2744" y="2829"/>
              <a:ext cx="95" cy="157"/>
            </a:xfrm>
            <a:custGeom>
              <a:avLst/>
              <a:gdLst>
                <a:gd name="T0" fmla="*/ 364 w 477"/>
                <a:gd name="T1" fmla="*/ 0 h 785"/>
                <a:gd name="T2" fmla="*/ 0 w 477"/>
                <a:gd name="T3" fmla="*/ 728 h 785"/>
                <a:gd name="T4" fmla="*/ 114 w 477"/>
                <a:gd name="T5" fmla="*/ 785 h 785"/>
                <a:gd name="T6" fmla="*/ 477 w 477"/>
                <a:gd name="T7" fmla="*/ 57 h 785"/>
                <a:gd name="T8" fmla="*/ 364 w 47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7" h="785">
                  <a:moveTo>
                    <a:pt x="364" y="0"/>
                  </a:moveTo>
                  <a:lnTo>
                    <a:pt x="0" y="728"/>
                  </a:lnTo>
                  <a:lnTo>
                    <a:pt x="114" y="785"/>
                  </a:lnTo>
                  <a:lnTo>
                    <a:pt x="477" y="57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2671" y="2793"/>
              <a:ext cx="59" cy="84"/>
            </a:xfrm>
            <a:custGeom>
              <a:avLst/>
              <a:gdLst>
                <a:gd name="T0" fmla="*/ 0 w 295"/>
                <a:gd name="T1" fmla="*/ 57 h 421"/>
                <a:gd name="T2" fmla="*/ 182 w 295"/>
                <a:gd name="T3" fmla="*/ 421 h 421"/>
                <a:gd name="T4" fmla="*/ 295 w 295"/>
                <a:gd name="T5" fmla="*/ 364 h 421"/>
                <a:gd name="T6" fmla="*/ 114 w 295"/>
                <a:gd name="T7" fmla="*/ 0 h 421"/>
                <a:gd name="T8" fmla="*/ 0 w 295"/>
                <a:gd name="T9" fmla="*/ 57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421">
                  <a:moveTo>
                    <a:pt x="0" y="57"/>
                  </a:moveTo>
                  <a:lnTo>
                    <a:pt x="182" y="421"/>
                  </a:lnTo>
                  <a:lnTo>
                    <a:pt x="295" y="364"/>
                  </a:lnTo>
                  <a:lnTo>
                    <a:pt x="114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2892" y="3008"/>
              <a:ext cx="127" cy="127"/>
            </a:xfrm>
            <a:custGeom>
              <a:avLst/>
              <a:gdLst>
                <a:gd name="T0" fmla="*/ 636 w 636"/>
                <a:gd name="T1" fmla="*/ 545 h 636"/>
                <a:gd name="T2" fmla="*/ 91 w 636"/>
                <a:gd name="T3" fmla="*/ 0 h 636"/>
                <a:gd name="T4" fmla="*/ 0 w 636"/>
                <a:gd name="T5" fmla="*/ 90 h 636"/>
                <a:gd name="T6" fmla="*/ 545 w 636"/>
                <a:gd name="T7" fmla="*/ 636 h 636"/>
                <a:gd name="T8" fmla="*/ 636 w 636"/>
                <a:gd name="T9" fmla="*/ 54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636">
                  <a:moveTo>
                    <a:pt x="636" y="545"/>
                  </a:moveTo>
                  <a:lnTo>
                    <a:pt x="91" y="0"/>
                  </a:lnTo>
                  <a:lnTo>
                    <a:pt x="0" y="90"/>
                  </a:lnTo>
                  <a:lnTo>
                    <a:pt x="545" y="636"/>
                  </a:lnTo>
                  <a:lnTo>
                    <a:pt x="636" y="54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68" name="Freeform 28"/>
            <p:cNvSpPr>
              <a:spLocks/>
            </p:cNvSpPr>
            <p:nvPr/>
          </p:nvSpPr>
          <p:spPr bwMode="auto">
            <a:xfrm>
              <a:off x="2933" y="3223"/>
              <a:ext cx="117" cy="60"/>
            </a:xfrm>
            <a:custGeom>
              <a:avLst/>
              <a:gdLst>
                <a:gd name="T0" fmla="*/ 546 w 585"/>
                <a:gd name="T1" fmla="*/ 0 h 304"/>
                <a:gd name="T2" fmla="*/ 0 w 585"/>
                <a:gd name="T3" fmla="*/ 182 h 304"/>
                <a:gd name="T4" fmla="*/ 40 w 585"/>
                <a:gd name="T5" fmla="*/ 304 h 304"/>
                <a:gd name="T6" fmla="*/ 585 w 585"/>
                <a:gd name="T7" fmla="*/ 122 h 304"/>
                <a:gd name="T8" fmla="*/ 546 w 585"/>
                <a:gd name="T9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5" h="304">
                  <a:moveTo>
                    <a:pt x="546" y="0"/>
                  </a:moveTo>
                  <a:lnTo>
                    <a:pt x="0" y="182"/>
                  </a:lnTo>
                  <a:lnTo>
                    <a:pt x="40" y="304"/>
                  </a:lnTo>
                  <a:lnTo>
                    <a:pt x="585" y="122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69" name="Freeform 29"/>
            <p:cNvSpPr>
              <a:spLocks/>
            </p:cNvSpPr>
            <p:nvPr/>
          </p:nvSpPr>
          <p:spPr bwMode="auto">
            <a:xfrm>
              <a:off x="2889" y="3375"/>
              <a:ext cx="96" cy="156"/>
            </a:xfrm>
            <a:custGeom>
              <a:avLst/>
              <a:gdLst>
                <a:gd name="T0" fmla="*/ 478 w 478"/>
                <a:gd name="T1" fmla="*/ 727 h 783"/>
                <a:gd name="T2" fmla="*/ 115 w 478"/>
                <a:gd name="T3" fmla="*/ 0 h 783"/>
                <a:gd name="T4" fmla="*/ 0 w 478"/>
                <a:gd name="T5" fmla="*/ 57 h 783"/>
                <a:gd name="T6" fmla="*/ 363 w 478"/>
                <a:gd name="T7" fmla="*/ 783 h 783"/>
                <a:gd name="T8" fmla="*/ 478 w 478"/>
                <a:gd name="T9" fmla="*/ 727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83">
                  <a:moveTo>
                    <a:pt x="478" y="727"/>
                  </a:moveTo>
                  <a:lnTo>
                    <a:pt x="115" y="0"/>
                  </a:lnTo>
                  <a:lnTo>
                    <a:pt x="0" y="57"/>
                  </a:lnTo>
                  <a:lnTo>
                    <a:pt x="363" y="783"/>
                  </a:lnTo>
                  <a:lnTo>
                    <a:pt x="478" y="72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0" name="Freeform 30"/>
            <p:cNvSpPr>
              <a:spLocks/>
            </p:cNvSpPr>
            <p:nvPr/>
          </p:nvSpPr>
          <p:spPr bwMode="auto">
            <a:xfrm>
              <a:off x="2670" y="3559"/>
              <a:ext cx="61" cy="152"/>
            </a:xfrm>
            <a:custGeom>
              <a:avLst/>
              <a:gdLst>
                <a:gd name="T0" fmla="*/ 124 w 306"/>
                <a:gd name="T1" fmla="*/ 759 h 759"/>
                <a:gd name="T2" fmla="*/ 306 w 306"/>
                <a:gd name="T3" fmla="*/ 31 h 759"/>
                <a:gd name="T4" fmla="*/ 181 w 306"/>
                <a:gd name="T5" fmla="*/ 0 h 759"/>
                <a:gd name="T6" fmla="*/ 0 w 306"/>
                <a:gd name="T7" fmla="*/ 728 h 759"/>
                <a:gd name="T8" fmla="*/ 124 w 306"/>
                <a:gd name="T9" fmla="*/ 759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9">
                  <a:moveTo>
                    <a:pt x="124" y="759"/>
                  </a:moveTo>
                  <a:lnTo>
                    <a:pt x="306" y="31"/>
                  </a:lnTo>
                  <a:lnTo>
                    <a:pt x="181" y="0"/>
                  </a:lnTo>
                  <a:lnTo>
                    <a:pt x="0" y="728"/>
                  </a:lnTo>
                  <a:lnTo>
                    <a:pt x="124" y="759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1" name="Freeform 31"/>
            <p:cNvSpPr>
              <a:spLocks/>
            </p:cNvSpPr>
            <p:nvPr/>
          </p:nvSpPr>
          <p:spPr bwMode="auto">
            <a:xfrm>
              <a:off x="2197" y="2941"/>
              <a:ext cx="62" cy="152"/>
            </a:xfrm>
            <a:custGeom>
              <a:avLst/>
              <a:gdLst>
                <a:gd name="T0" fmla="*/ 0 w 306"/>
                <a:gd name="T1" fmla="*/ 31 h 759"/>
                <a:gd name="T2" fmla="*/ 183 w 306"/>
                <a:gd name="T3" fmla="*/ 759 h 759"/>
                <a:gd name="T4" fmla="*/ 306 w 306"/>
                <a:gd name="T5" fmla="*/ 728 h 759"/>
                <a:gd name="T6" fmla="*/ 124 w 306"/>
                <a:gd name="T7" fmla="*/ 0 h 759"/>
                <a:gd name="T8" fmla="*/ 0 w 306"/>
                <a:gd name="T9" fmla="*/ 31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759">
                  <a:moveTo>
                    <a:pt x="0" y="31"/>
                  </a:moveTo>
                  <a:lnTo>
                    <a:pt x="183" y="759"/>
                  </a:lnTo>
                  <a:lnTo>
                    <a:pt x="306" y="728"/>
                  </a:lnTo>
                  <a:lnTo>
                    <a:pt x="12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3" name="Freeform 32"/>
            <p:cNvSpPr>
              <a:spLocks/>
            </p:cNvSpPr>
            <p:nvPr/>
          </p:nvSpPr>
          <p:spPr bwMode="auto">
            <a:xfrm>
              <a:off x="2895" y="2860"/>
              <a:ext cx="157" cy="95"/>
            </a:xfrm>
            <a:custGeom>
              <a:avLst/>
              <a:gdLst>
                <a:gd name="T0" fmla="*/ 726 w 783"/>
                <a:gd name="T1" fmla="*/ 0 h 477"/>
                <a:gd name="T2" fmla="*/ 0 w 783"/>
                <a:gd name="T3" fmla="*/ 363 h 477"/>
                <a:gd name="T4" fmla="*/ 57 w 783"/>
                <a:gd name="T5" fmla="*/ 477 h 477"/>
                <a:gd name="T6" fmla="*/ 783 w 783"/>
                <a:gd name="T7" fmla="*/ 114 h 477"/>
                <a:gd name="T8" fmla="*/ 726 w 783"/>
                <a:gd name="T9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3" h="477">
                  <a:moveTo>
                    <a:pt x="726" y="0"/>
                  </a:moveTo>
                  <a:lnTo>
                    <a:pt x="0" y="363"/>
                  </a:lnTo>
                  <a:lnTo>
                    <a:pt x="57" y="477"/>
                  </a:lnTo>
                  <a:lnTo>
                    <a:pt x="783" y="114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4" name="Freeform 33"/>
            <p:cNvSpPr>
              <a:spLocks/>
            </p:cNvSpPr>
            <p:nvPr/>
          </p:nvSpPr>
          <p:spPr bwMode="auto">
            <a:xfrm>
              <a:off x="2350" y="2823"/>
              <a:ext cx="157" cy="96"/>
            </a:xfrm>
            <a:custGeom>
              <a:avLst/>
              <a:gdLst>
                <a:gd name="T0" fmla="*/ 0 w 785"/>
                <a:gd name="T1" fmla="*/ 115 h 478"/>
                <a:gd name="T2" fmla="*/ 728 w 785"/>
                <a:gd name="T3" fmla="*/ 478 h 478"/>
                <a:gd name="T4" fmla="*/ 785 w 785"/>
                <a:gd name="T5" fmla="*/ 364 h 478"/>
                <a:gd name="T6" fmla="*/ 57 w 785"/>
                <a:gd name="T7" fmla="*/ 0 h 478"/>
                <a:gd name="T8" fmla="*/ 0 w 785"/>
                <a:gd name="T9" fmla="*/ 115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5" h="478">
                  <a:moveTo>
                    <a:pt x="0" y="115"/>
                  </a:moveTo>
                  <a:lnTo>
                    <a:pt x="728" y="478"/>
                  </a:lnTo>
                  <a:lnTo>
                    <a:pt x="785" y="364"/>
                  </a:lnTo>
                  <a:lnTo>
                    <a:pt x="57" y="0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5" name="Freeform 34"/>
            <p:cNvSpPr>
              <a:spLocks/>
            </p:cNvSpPr>
            <p:nvPr/>
          </p:nvSpPr>
          <p:spPr bwMode="auto">
            <a:xfrm>
              <a:off x="2236" y="3337"/>
              <a:ext cx="94" cy="123"/>
            </a:xfrm>
            <a:custGeom>
              <a:avLst/>
              <a:gdLst>
                <a:gd name="T0" fmla="*/ 363 w 470"/>
                <a:gd name="T1" fmla="*/ 0 h 617"/>
                <a:gd name="T2" fmla="*/ 0 w 470"/>
                <a:gd name="T3" fmla="*/ 546 h 617"/>
                <a:gd name="T4" fmla="*/ 107 w 470"/>
                <a:gd name="T5" fmla="*/ 617 h 617"/>
                <a:gd name="T6" fmla="*/ 470 w 470"/>
                <a:gd name="T7" fmla="*/ 72 h 617"/>
                <a:gd name="T8" fmla="*/ 363 w 470"/>
                <a:gd name="T9" fmla="*/ 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0" h="617">
                  <a:moveTo>
                    <a:pt x="363" y="0"/>
                  </a:moveTo>
                  <a:lnTo>
                    <a:pt x="0" y="546"/>
                  </a:lnTo>
                  <a:lnTo>
                    <a:pt x="107" y="617"/>
                  </a:lnTo>
                  <a:lnTo>
                    <a:pt x="470" y="72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6" name="Freeform 35"/>
            <p:cNvSpPr>
              <a:spLocks/>
            </p:cNvSpPr>
            <p:nvPr/>
          </p:nvSpPr>
          <p:spPr bwMode="auto">
            <a:xfrm>
              <a:off x="2459" y="3405"/>
              <a:ext cx="84" cy="59"/>
            </a:xfrm>
            <a:custGeom>
              <a:avLst/>
              <a:gdLst>
                <a:gd name="T0" fmla="*/ 420 w 420"/>
                <a:gd name="T1" fmla="*/ 181 h 296"/>
                <a:gd name="T2" fmla="*/ 57 w 420"/>
                <a:gd name="T3" fmla="*/ 0 h 296"/>
                <a:gd name="T4" fmla="*/ 0 w 420"/>
                <a:gd name="T5" fmla="*/ 113 h 296"/>
                <a:gd name="T6" fmla="*/ 363 w 420"/>
                <a:gd name="T7" fmla="*/ 296 h 296"/>
                <a:gd name="T8" fmla="*/ 420 w 420"/>
                <a:gd name="T9" fmla="*/ 18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0" h="296">
                  <a:moveTo>
                    <a:pt x="420" y="181"/>
                  </a:moveTo>
                  <a:lnTo>
                    <a:pt x="57" y="0"/>
                  </a:lnTo>
                  <a:lnTo>
                    <a:pt x="0" y="113"/>
                  </a:lnTo>
                  <a:lnTo>
                    <a:pt x="363" y="296"/>
                  </a:lnTo>
                  <a:lnTo>
                    <a:pt x="420" y="18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7" name="Freeform 36"/>
            <p:cNvSpPr>
              <a:spLocks/>
            </p:cNvSpPr>
            <p:nvPr/>
          </p:nvSpPr>
          <p:spPr bwMode="auto">
            <a:xfrm>
              <a:off x="2165" y="2789"/>
              <a:ext cx="127" cy="128"/>
            </a:xfrm>
            <a:custGeom>
              <a:avLst/>
              <a:gdLst>
                <a:gd name="T0" fmla="*/ 636 w 636"/>
                <a:gd name="T1" fmla="*/ 545 h 636"/>
                <a:gd name="T2" fmla="*/ 91 w 636"/>
                <a:gd name="T3" fmla="*/ 0 h 636"/>
                <a:gd name="T4" fmla="*/ 0 w 636"/>
                <a:gd name="T5" fmla="*/ 91 h 636"/>
                <a:gd name="T6" fmla="*/ 545 w 636"/>
                <a:gd name="T7" fmla="*/ 636 h 636"/>
                <a:gd name="T8" fmla="*/ 636 w 636"/>
                <a:gd name="T9" fmla="*/ 54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636">
                  <a:moveTo>
                    <a:pt x="636" y="545"/>
                  </a:moveTo>
                  <a:lnTo>
                    <a:pt x="91" y="0"/>
                  </a:lnTo>
                  <a:lnTo>
                    <a:pt x="0" y="91"/>
                  </a:lnTo>
                  <a:lnTo>
                    <a:pt x="545" y="636"/>
                  </a:lnTo>
                  <a:lnTo>
                    <a:pt x="636" y="545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8" name="Freeform 37"/>
            <p:cNvSpPr>
              <a:spLocks/>
            </p:cNvSpPr>
            <p:nvPr/>
          </p:nvSpPr>
          <p:spPr bwMode="auto">
            <a:xfrm>
              <a:off x="2566" y="3260"/>
              <a:ext cx="124" cy="95"/>
            </a:xfrm>
            <a:custGeom>
              <a:avLst/>
              <a:gdLst>
                <a:gd name="T0" fmla="*/ 545 w 616"/>
                <a:gd name="T1" fmla="*/ 0 h 471"/>
                <a:gd name="T2" fmla="*/ 0 w 616"/>
                <a:gd name="T3" fmla="*/ 364 h 471"/>
                <a:gd name="T4" fmla="*/ 71 w 616"/>
                <a:gd name="T5" fmla="*/ 471 h 471"/>
                <a:gd name="T6" fmla="*/ 616 w 616"/>
                <a:gd name="T7" fmla="*/ 108 h 471"/>
                <a:gd name="T8" fmla="*/ 545 w 616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" h="471">
                  <a:moveTo>
                    <a:pt x="545" y="0"/>
                  </a:moveTo>
                  <a:lnTo>
                    <a:pt x="0" y="364"/>
                  </a:lnTo>
                  <a:lnTo>
                    <a:pt x="71" y="471"/>
                  </a:lnTo>
                  <a:lnTo>
                    <a:pt x="616" y="108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79" name="Freeform 38"/>
            <p:cNvSpPr>
              <a:spLocks/>
            </p:cNvSpPr>
            <p:nvPr/>
          </p:nvSpPr>
          <p:spPr bwMode="auto">
            <a:xfrm>
              <a:off x="2857" y="3552"/>
              <a:ext cx="160" cy="129"/>
            </a:xfrm>
            <a:custGeom>
              <a:avLst/>
              <a:gdLst>
                <a:gd name="T0" fmla="*/ 728 w 804"/>
                <a:gd name="T1" fmla="*/ 0 h 647"/>
                <a:gd name="T2" fmla="*/ 0 w 804"/>
                <a:gd name="T3" fmla="*/ 545 h 647"/>
                <a:gd name="T4" fmla="*/ 76 w 804"/>
                <a:gd name="T5" fmla="*/ 647 h 647"/>
                <a:gd name="T6" fmla="*/ 804 w 804"/>
                <a:gd name="T7" fmla="*/ 102 h 647"/>
                <a:gd name="T8" fmla="*/ 728 w 804"/>
                <a:gd name="T9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4" h="647">
                  <a:moveTo>
                    <a:pt x="728" y="0"/>
                  </a:moveTo>
                  <a:lnTo>
                    <a:pt x="0" y="545"/>
                  </a:lnTo>
                  <a:lnTo>
                    <a:pt x="76" y="647"/>
                  </a:lnTo>
                  <a:lnTo>
                    <a:pt x="804" y="102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0" name="Freeform 39"/>
            <p:cNvSpPr>
              <a:spLocks/>
            </p:cNvSpPr>
            <p:nvPr/>
          </p:nvSpPr>
          <p:spPr bwMode="auto">
            <a:xfrm>
              <a:off x="2969" y="3368"/>
              <a:ext cx="117" cy="61"/>
            </a:xfrm>
            <a:custGeom>
              <a:avLst/>
              <a:gdLst>
                <a:gd name="T0" fmla="*/ 586 w 586"/>
                <a:gd name="T1" fmla="*/ 182 h 302"/>
                <a:gd name="T2" fmla="*/ 41 w 586"/>
                <a:gd name="T3" fmla="*/ 0 h 302"/>
                <a:gd name="T4" fmla="*/ 0 w 586"/>
                <a:gd name="T5" fmla="*/ 121 h 302"/>
                <a:gd name="T6" fmla="*/ 546 w 586"/>
                <a:gd name="T7" fmla="*/ 302 h 302"/>
                <a:gd name="T8" fmla="*/ 586 w 586"/>
                <a:gd name="T9" fmla="*/ 18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6" h="302">
                  <a:moveTo>
                    <a:pt x="586" y="182"/>
                  </a:moveTo>
                  <a:lnTo>
                    <a:pt x="41" y="0"/>
                  </a:lnTo>
                  <a:lnTo>
                    <a:pt x="0" y="121"/>
                  </a:lnTo>
                  <a:lnTo>
                    <a:pt x="546" y="302"/>
                  </a:lnTo>
                  <a:lnTo>
                    <a:pt x="586" y="182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1" name="Freeform 40"/>
            <p:cNvSpPr>
              <a:spLocks/>
            </p:cNvSpPr>
            <p:nvPr/>
          </p:nvSpPr>
          <p:spPr bwMode="auto">
            <a:xfrm>
              <a:off x="2389" y="3622"/>
              <a:ext cx="151" cy="61"/>
            </a:xfrm>
            <a:custGeom>
              <a:avLst/>
              <a:gdLst>
                <a:gd name="T0" fmla="*/ 726 w 757"/>
                <a:gd name="T1" fmla="*/ 0 h 306"/>
                <a:gd name="T2" fmla="*/ 0 w 757"/>
                <a:gd name="T3" fmla="*/ 182 h 306"/>
                <a:gd name="T4" fmla="*/ 30 w 757"/>
                <a:gd name="T5" fmla="*/ 306 h 306"/>
                <a:gd name="T6" fmla="*/ 757 w 757"/>
                <a:gd name="T7" fmla="*/ 125 h 306"/>
                <a:gd name="T8" fmla="*/ 726 w 757"/>
                <a:gd name="T9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7" h="306">
                  <a:moveTo>
                    <a:pt x="726" y="0"/>
                  </a:moveTo>
                  <a:lnTo>
                    <a:pt x="0" y="182"/>
                  </a:lnTo>
                  <a:lnTo>
                    <a:pt x="30" y="306"/>
                  </a:lnTo>
                  <a:lnTo>
                    <a:pt x="757" y="125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2" name="Freeform 41"/>
            <p:cNvSpPr>
              <a:spLocks/>
            </p:cNvSpPr>
            <p:nvPr/>
          </p:nvSpPr>
          <p:spPr bwMode="auto">
            <a:xfrm>
              <a:off x="4925" y="2501"/>
              <a:ext cx="131" cy="195"/>
            </a:xfrm>
            <a:custGeom>
              <a:avLst/>
              <a:gdLst>
                <a:gd name="T0" fmla="*/ 546 w 655"/>
                <a:gd name="T1" fmla="*/ 0 h 975"/>
                <a:gd name="T2" fmla="*/ 0 w 655"/>
                <a:gd name="T3" fmla="*/ 910 h 975"/>
                <a:gd name="T4" fmla="*/ 110 w 655"/>
                <a:gd name="T5" fmla="*/ 975 h 975"/>
                <a:gd name="T6" fmla="*/ 655 w 655"/>
                <a:gd name="T7" fmla="*/ 67 h 975"/>
                <a:gd name="T8" fmla="*/ 546 w 655"/>
                <a:gd name="T9" fmla="*/ 0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5" h="975">
                  <a:moveTo>
                    <a:pt x="546" y="0"/>
                  </a:moveTo>
                  <a:lnTo>
                    <a:pt x="0" y="910"/>
                  </a:lnTo>
                  <a:lnTo>
                    <a:pt x="110" y="975"/>
                  </a:lnTo>
                  <a:lnTo>
                    <a:pt x="655" y="67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3" name="Freeform 42"/>
            <p:cNvSpPr>
              <a:spLocks/>
            </p:cNvSpPr>
            <p:nvPr/>
          </p:nvSpPr>
          <p:spPr bwMode="auto">
            <a:xfrm>
              <a:off x="4925" y="2937"/>
              <a:ext cx="131" cy="195"/>
            </a:xfrm>
            <a:custGeom>
              <a:avLst/>
              <a:gdLst>
                <a:gd name="T0" fmla="*/ 110 w 655"/>
                <a:gd name="T1" fmla="*/ 975 h 975"/>
                <a:gd name="T2" fmla="*/ 655 w 655"/>
                <a:gd name="T3" fmla="*/ 65 h 975"/>
                <a:gd name="T4" fmla="*/ 546 w 655"/>
                <a:gd name="T5" fmla="*/ 0 h 975"/>
                <a:gd name="T6" fmla="*/ 0 w 655"/>
                <a:gd name="T7" fmla="*/ 909 h 975"/>
                <a:gd name="T8" fmla="*/ 110 w 655"/>
                <a:gd name="T9" fmla="*/ 975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5" h="975">
                  <a:moveTo>
                    <a:pt x="110" y="975"/>
                  </a:moveTo>
                  <a:lnTo>
                    <a:pt x="655" y="65"/>
                  </a:lnTo>
                  <a:lnTo>
                    <a:pt x="546" y="0"/>
                  </a:lnTo>
                  <a:lnTo>
                    <a:pt x="0" y="909"/>
                  </a:lnTo>
                  <a:lnTo>
                    <a:pt x="110" y="975"/>
                  </a:lnTo>
                  <a:close/>
                </a:path>
              </a:pathLst>
            </a:cu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4" name="Rectangle 43"/>
            <p:cNvSpPr>
              <a:spLocks noChangeArrowheads="1"/>
            </p:cNvSpPr>
            <p:nvPr/>
          </p:nvSpPr>
          <p:spPr bwMode="auto">
            <a:xfrm>
              <a:off x="4218" y="2344"/>
              <a:ext cx="455" cy="1818"/>
            </a:xfrm>
            <a:prstGeom prst="rect">
              <a:avLst/>
            </a:prstGeom>
            <a:solidFill>
              <a:srgbClr val="B7D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5" name="Rectangle 44"/>
            <p:cNvSpPr>
              <a:spLocks noChangeArrowheads="1"/>
            </p:cNvSpPr>
            <p:nvPr/>
          </p:nvSpPr>
          <p:spPr bwMode="auto">
            <a:xfrm>
              <a:off x="4218" y="2344"/>
              <a:ext cx="455" cy="1818"/>
            </a:xfrm>
            <a:prstGeom prst="rect">
              <a:avLst/>
            </a:prstGeom>
            <a:noFill/>
            <a:ln w="1588">
              <a:solidFill>
                <a:srgbClr val="1F1A1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6" name="Freeform 45"/>
            <p:cNvSpPr>
              <a:spLocks/>
            </p:cNvSpPr>
            <p:nvPr/>
          </p:nvSpPr>
          <p:spPr bwMode="auto">
            <a:xfrm>
              <a:off x="4237" y="3798"/>
              <a:ext cx="72" cy="291"/>
            </a:xfrm>
            <a:custGeom>
              <a:avLst/>
              <a:gdLst>
                <a:gd name="T0" fmla="*/ 322 w 363"/>
                <a:gd name="T1" fmla="*/ 1190 h 1455"/>
                <a:gd name="T2" fmla="*/ 341 w 363"/>
                <a:gd name="T3" fmla="*/ 1071 h 1455"/>
                <a:gd name="T4" fmla="*/ 356 w 363"/>
                <a:gd name="T5" fmla="*/ 938 h 1455"/>
                <a:gd name="T6" fmla="*/ 363 w 363"/>
                <a:gd name="T7" fmla="*/ 799 h 1455"/>
                <a:gd name="T8" fmla="*/ 363 w 363"/>
                <a:gd name="T9" fmla="*/ 654 h 1455"/>
                <a:gd name="T10" fmla="*/ 356 w 363"/>
                <a:gd name="T11" fmla="*/ 512 h 1455"/>
                <a:gd name="T12" fmla="*/ 341 w 363"/>
                <a:gd name="T13" fmla="*/ 381 h 1455"/>
                <a:gd name="T14" fmla="*/ 322 w 363"/>
                <a:gd name="T15" fmla="*/ 266 h 1455"/>
                <a:gd name="T16" fmla="*/ 303 w 363"/>
                <a:gd name="T17" fmla="*/ 189 h 1455"/>
                <a:gd name="T18" fmla="*/ 290 w 363"/>
                <a:gd name="T19" fmla="*/ 145 h 1455"/>
                <a:gd name="T20" fmla="*/ 276 w 363"/>
                <a:gd name="T21" fmla="*/ 106 h 1455"/>
                <a:gd name="T22" fmla="*/ 261 w 363"/>
                <a:gd name="T23" fmla="*/ 73 h 1455"/>
                <a:gd name="T24" fmla="*/ 244 w 363"/>
                <a:gd name="T25" fmla="*/ 45 h 1455"/>
                <a:gd name="T26" fmla="*/ 227 w 363"/>
                <a:gd name="T27" fmla="*/ 24 h 1455"/>
                <a:gd name="T28" fmla="*/ 209 w 363"/>
                <a:gd name="T29" fmla="*/ 8 h 1455"/>
                <a:gd name="T30" fmla="*/ 191 w 363"/>
                <a:gd name="T31" fmla="*/ 1 h 1455"/>
                <a:gd name="T32" fmla="*/ 172 w 363"/>
                <a:gd name="T33" fmla="*/ 1 h 1455"/>
                <a:gd name="T34" fmla="*/ 155 w 363"/>
                <a:gd name="T35" fmla="*/ 8 h 1455"/>
                <a:gd name="T36" fmla="*/ 137 w 363"/>
                <a:gd name="T37" fmla="*/ 24 h 1455"/>
                <a:gd name="T38" fmla="*/ 119 w 363"/>
                <a:gd name="T39" fmla="*/ 45 h 1455"/>
                <a:gd name="T40" fmla="*/ 103 w 363"/>
                <a:gd name="T41" fmla="*/ 73 h 1455"/>
                <a:gd name="T42" fmla="*/ 88 w 363"/>
                <a:gd name="T43" fmla="*/ 106 h 1455"/>
                <a:gd name="T44" fmla="*/ 74 w 363"/>
                <a:gd name="T45" fmla="*/ 145 h 1455"/>
                <a:gd name="T46" fmla="*/ 59 w 363"/>
                <a:gd name="T47" fmla="*/ 189 h 1455"/>
                <a:gd name="T48" fmla="*/ 41 w 363"/>
                <a:gd name="T49" fmla="*/ 266 h 1455"/>
                <a:gd name="T50" fmla="*/ 22 w 363"/>
                <a:gd name="T51" fmla="*/ 381 h 1455"/>
                <a:gd name="T52" fmla="*/ 8 w 363"/>
                <a:gd name="T53" fmla="*/ 512 h 1455"/>
                <a:gd name="T54" fmla="*/ 1 w 363"/>
                <a:gd name="T55" fmla="*/ 654 h 1455"/>
                <a:gd name="T56" fmla="*/ 1 w 363"/>
                <a:gd name="T57" fmla="*/ 801 h 1455"/>
                <a:gd name="T58" fmla="*/ 8 w 363"/>
                <a:gd name="T59" fmla="*/ 943 h 1455"/>
                <a:gd name="T60" fmla="*/ 22 w 363"/>
                <a:gd name="T61" fmla="*/ 1074 h 1455"/>
                <a:gd name="T62" fmla="*/ 41 w 363"/>
                <a:gd name="T63" fmla="*/ 1190 h 1455"/>
                <a:gd name="T64" fmla="*/ 59 w 363"/>
                <a:gd name="T65" fmla="*/ 1266 h 1455"/>
                <a:gd name="T66" fmla="*/ 74 w 363"/>
                <a:gd name="T67" fmla="*/ 1310 h 1455"/>
                <a:gd name="T68" fmla="*/ 88 w 363"/>
                <a:gd name="T69" fmla="*/ 1349 h 1455"/>
                <a:gd name="T70" fmla="*/ 103 w 363"/>
                <a:gd name="T71" fmla="*/ 1383 h 1455"/>
                <a:gd name="T72" fmla="*/ 119 w 363"/>
                <a:gd name="T73" fmla="*/ 1411 h 1455"/>
                <a:gd name="T74" fmla="*/ 137 w 363"/>
                <a:gd name="T75" fmla="*/ 1431 h 1455"/>
                <a:gd name="T76" fmla="*/ 155 w 363"/>
                <a:gd name="T77" fmla="*/ 1447 h 1455"/>
                <a:gd name="T78" fmla="*/ 172 w 363"/>
                <a:gd name="T79" fmla="*/ 1454 h 1455"/>
                <a:gd name="T80" fmla="*/ 190 w 363"/>
                <a:gd name="T81" fmla="*/ 1454 h 1455"/>
                <a:gd name="T82" fmla="*/ 208 w 363"/>
                <a:gd name="T83" fmla="*/ 1447 h 1455"/>
                <a:gd name="T84" fmla="*/ 226 w 363"/>
                <a:gd name="T85" fmla="*/ 1433 h 1455"/>
                <a:gd name="T86" fmla="*/ 243 w 363"/>
                <a:gd name="T87" fmla="*/ 1411 h 1455"/>
                <a:gd name="T88" fmla="*/ 259 w 363"/>
                <a:gd name="T89" fmla="*/ 1384 h 1455"/>
                <a:gd name="T90" fmla="*/ 275 w 363"/>
                <a:gd name="T91" fmla="*/ 1350 h 1455"/>
                <a:gd name="T92" fmla="*/ 290 w 363"/>
                <a:gd name="T93" fmla="*/ 1311 h 1455"/>
                <a:gd name="T94" fmla="*/ 303 w 363"/>
                <a:gd name="T95" fmla="*/ 1266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63" h="1455">
                  <a:moveTo>
                    <a:pt x="311" y="1242"/>
                  </a:moveTo>
                  <a:lnTo>
                    <a:pt x="322" y="1190"/>
                  </a:lnTo>
                  <a:lnTo>
                    <a:pt x="333" y="1132"/>
                  </a:lnTo>
                  <a:lnTo>
                    <a:pt x="341" y="1071"/>
                  </a:lnTo>
                  <a:lnTo>
                    <a:pt x="350" y="1006"/>
                  </a:lnTo>
                  <a:lnTo>
                    <a:pt x="356" y="938"/>
                  </a:lnTo>
                  <a:lnTo>
                    <a:pt x="359" y="869"/>
                  </a:lnTo>
                  <a:lnTo>
                    <a:pt x="363" y="799"/>
                  </a:lnTo>
                  <a:lnTo>
                    <a:pt x="363" y="728"/>
                  </a:lnTo>
                  <a:lnTo>
                    <a:pt x="363" y="654"/>
                  </a:lnTo>
                  <a:lnTo>
                    <a:pt x="359" y="581"/>
                  </a:lnTo>
                  <a:lnTo>
                    <a:pt x="356" y="512"/>
                  </a:lnTo>
                  <a:lnTo>
                    <a:pt x="349" y="445"/>
                  </a:lnTo>
                  <a:lnTo>
                    <a:pt x="341" y="381"/>
                  </a:lnTo>
                  <a:lnTo>
                    <a:pt x="332" y="322"/>
                  </a:lnTo>
                  <a:lnTo>
                    <a:pt x="322" y="266"/>
                  </a:lnTo>
                  <a:lnTo>
                    <a:pt x="311" y="214"/>
                  </a:lnTo>
                  <a:lnTo>
                    <a:pt x="303" y="189"/>
                  </a:lnTo>
                  <a:lnTo>
                    <a:pt x="297" y="167"/>
                  </a:lnTo>
                  <a:lnTo>
                    <a:pt x="290" y="145"/>
                  </a:lnTo>
                  <a:lnTo>
                    <a:pt x="283" y="125"/>
                  </a:lnTo>
                  <a:lnTo>
                    <a:pt x="276" y="106"/>
                  </a:lnTo>
                  <a:lnTo>
                    <a:pt x="268" y="88"/>
                  </a:lnTo>
                  <a:lnTo>
                    <a:pt x="261" y="73"/>
                  </a:lnTo>
                  <a:lnTo>
                    <a:pt x="252" y="58"/>
                  </a:lnTo>
                  <a:lnTo>
                    <a:pt x="244" y="45"/>
                  </a:lnTo>
                  <a:lnTo>
                    <a:pt x="236" y="33"/>
                  </a:lnTo>
                  <a:lnTo>
                    <a:pt x="227" y="24"/>
                  </a:lnTo>
                  <a:lnTo>
                    <a:pt x="218" y="16"/>
                  </a:lnTo>
                  <a:lnTo>
                    <a:pt x="209" y="8"/>
                  </a:lnTo>
                  <a:lnTo>
                    <a:pt x="200" y="5"/>
                  </a:lnTo>
                  <a:lnTo>
                    <a:pt x="191" y="1"/>
                  </a:lnTo>
                  <a:lnTo>
                    <a:pt x="182" y="0"/>
                  </a:lnTo>
                  <a:lnTo>
                    <a:pt x="172" y="1"/>
                  </a:lnTo>
                  <a:lnTo>
                    <a:pt x="163" y="5"/>
                  </a:lnTo>
                  <a:lnTo>
                    <a:pt x="155" y="8"/>
                  </a:lnTo>
                  <a:lnTo>
                    <a:pt x="145" y="16"/>
                  </a:lnTo>
                  <a:lnTo>
                    <a:pt x="137" y="24"/>
                  </a:lnTo>
                  <a:lnTo>
                    <a:pt x="127" y="33"/>
                  </a:lnTo>
                  <a:lnTo>
                    <a:pt x="119" y="45"/>
                  </a:lnTo>
                  <a:lnTo>
                    <a:pt x="111" y="58"/>
                  </a:lnTo>
                  <a:lnTo>
                    <a:pt x="103" y="73"/>
                  </a:lnTo>
                  <a:lnTo>
                    <a:pt x="95" y="88"/>
                  </a:lnTo>
                  <a:lnTo>
                    <a:pt x="88" y="106"/>
                  </a:lnTo>
                  <a:lnTo>
                    <a:pt x="81" y="125"/>
                  </a:lnTo>
                  <a:lnTo>
                    <a:pt x="74" y="145"/>
                  </a:lnTo>
                  <a:lnTo>
                    <a:pt x="66" y="167"/>
                  </a:lnTo>
                  <a:lnTo>
                    <a:pt x="59" y="189"/>
                  </a:lnTo>
                  <a:lnTo>
                    <a:pt x="53" y="214"/>
                  </a:lnTo>
                  <a:lnTo>
                    <a:pt x="41" y="266"/>
                  </a:lnTo>
                  <a:lnTo>
                    <a:pt x="31" y="322"/>
                  </a:lnTo>
                  <a:lnTo>
                    <a:pt x="22" y="381"/>
                  </a:lnTo>
                  <a:lnTo>
                    <a:pt x="14" y="445"/>
                  </a:lnTo>
                  <a:lnTo>
                    <a:pt x="8" y="512"/>
                  </a:lnTo>
                  <a:lnTo>
                    <a:pt x="3" y="581"/>
                  </a:lnTo>
                  <a:lnTo>
                    <a:pt x="1" y="654"/>
                  </a:lnTo>
                  <a:lnTo>
                    <a:pt x="0" y="728"/>
                  </a:lnTo>
                  <a:lnTo>
                    <a:pt x="1" y="801"/>
                  </a:lnTo>
                  <a:lnTo>
                    <a:pt x="3" y="874"/>
                  </a:lnTo>
                  <a:lnTo>
                    <a:pt x="8" y="943"/>
                  </a:lnTo>
                  <a:lnTo>
                    <a:pt x="14" y="1010"/>
                  </a:lnTo>
                  <a:lnTo>
                    <a:pt x="22" y="1074"/>
                  </a:lnTo>
                  <a:lnTo>
                    <a:pt x="31" y="1134"/>
                  </a:lnTo>
                  <a:lnTo>
                    <a:pt x="41" y="1190"/>
                  </a:lnTo>
                  <a:lnTo>
                    <a:pt x="53" y="1242"/>
                  </a:lnTo>
                  <a:lnTo>
                    <a:pt x="59" y="1266"/>
                  </a:lnTo>
                  <a:lnTo>
                    <a:pt x="66" y="1288"/>
                  </a:lnTo>
                  <a:lnTo>
                    <a:pt x="74" y="1310"/>
                  </a:lnTo>
                  <a:lnTo>
                    <a:pt x="81" y="1330"/>
                  </a:lnTo>
                  <a:lnTo>
                    <a:pt x="88" y="1349"/>
                  </a:lnTo>
                  <a:lnTo>
                    <a:pt x="95" y="1367"/>
                  </a:lnTo>
                  <a:lnTo>
                    <a:pt x="103" y="1383"/>
                  </a:lnTo>
                  <a:lnTo>
                    <a:pt x="111" y="1398"/>
                  </a:lnTo>
                  <a:lnTo>
                    <a:pt x="119" y="1411"/>
                  </a:lnTo>
                  <a:lnTo>
                    <a:pt x="127" y="1422"/>
                  </a:lnTo>
                  <a:lnTo>
                    <a:pt x="137" y="1431"/>
                  </a:lnTo>
                  <a:lnTo>
                    <a:pt x="145" y="1440"/>
                  </a:lnTo>
                  <a:lnTo>
                    <a:pt x="155" y="1447"/>
                  </a:lnTo>
                  <a:lnTo>
                    <a:pt x="163" y="1452"/>
                  </a:lnTo>
                  <a:lnTo>
                    <a:pt x="172" y="1454"/>
                  </a:lnTo>
                  <a:lnTo>
                    <a:pt x="182" y="1455"/>
                  </a:lnTo>
                  <a:lnTo>
                    <a:pt x="190" y="1454"/>
                  </a:lnTo>
                  <a:lnTo>
                    <a:pt x="200" y="1452"/>
                  </a:lnTo>
                  <a:lnTo>
                    <a:pt x="208" y="1447"/>
                  </a:lnTo>
                  <a:lnTo>
                    <a:pt x="218" y="1441"/>
                  </a:lnTo>
                  <a:lnTo>
                    <a:pt x="226" y="1433"/>
                  </a:lnTo>
                  <a:lnTo>
                    <a:pt x="234" y="1423"/>
                  </a:lnTo>
                  <a:lnTo>
                    <a:pt x="243" y="1411"/>
                  </a:lnTo>
                  <a:lnTo>
                    <a:pt x="251" y="1398"/>
                  </a:lnTo>
                  <a:lnTo>
                    <a:pt x="259" y="1384"/>
                  </a:lnTo>
                  <a:lnTo>
                    <a:pt x="268" y="1368"/>
                  </a:lnTo>
                  <a:lnTo>
                    <a:pt x="275" y="1350"/>
                  </a:lnTo>
                  <a:lnTo>
                    <a:pt x="283" y="1331"/>
                  </a:lnTo>
                  <a:lnTo>
                    <a:pt x="290" y="1311"/>
                  </a:lnTo>
                  <a:lnTo>
                    <a:pt x="297" y="1290"/>
                  </a:lnTo>
                  <a:lnTo>
                    <a:pt x="303" y="1266"/>
                  </a:lnTo>
                  <a:lnTo>
                    <a:pt x="311" y="1242"/>
                  </a:lnTo>
                  <a:close/>
                </a:path>
              </a:pathLst>
            </a:cu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7" name="Freeform 46"/>
            <p:cNvSpPr>
              <a:spLocks/>
            </p:cNvSpPr>
            <p:nvPr/>
          </p:nvSpPr>
          <p:spPr bwMode="auto">
            <a:xfrm>
              <a:off x="4237" y="3798"/>
              <a:ext cx="72" cy="291"/>
            </a:xfrm>
            <a:custGeom>
              <a:avLst/>
              <a:gdLst>
                <a:gd name="T0" fmla="*/ 322 w 363"/>
                <a:gd name="T1" fmla="*/ 1190 h 1455"/>
                <a:gd name="T2" fmla="*/ 341 w 363"/>
                <a:gd name="T3" fmla="*/ 1071 h 1455"/>
                <a:gd name="T4" fmla="*/ 356 w 363"/>
                <a:gd name="T5" fmla="*/ 938 h 1455"/>
                <a:gd name="T6" fmla="*/ 363 w 363"/>
                <a:gd name="T7" fmla="*/ 799 h 1455"/>
                <a:gd name="T8" fmla="*/ 363 w 363"/>
                <a:gd name="T9" fmla="*/ 654 h 1455"/>
                <a:gd name="T10" fmla="*/ 356 w 363"/>
                <a:gd name="T11" fmla="*/ 512 h 1455"/>
                <a:gd name="T12" fmla="*/ 341 w 363"/>
                <a:gd name="T13" fmla="*/ 381 h 1455"/>
                <a:gd name="T14" fmla="*/ 322 w 363"/>
                <a:gd name="T15" fmla="*/ 266 h 1455"/>
                <a:gd name="T16" fmla="*/ 303 w 363"/>
                <a:gd name="T17" fmla="*/ 189 h 1455"/>
                <a:gd name="T18" fmla="*/ 290 w 363"/>
                <a:gd name="T19" fmla="*/ 145 h 1455"/>
                <a:gd name="T20" fmla="*/ 276 w 363"/>
                <a:gd name="T21" fmla="*/ 106 h 1455"/>
                <a:gd name="T22" fmla="*/ 261 w 363"/>
                <a:gd name="T23" fmla="*/ 73 h 1455"/>
                <a:gd name="T24" fmla="*/ 244 w 363"/>
                <a:gd name="T25" fmla="*/ 45 h 1455"/>
                <a:gd name="T26" fmla="*/ 227 w 363"/>
                <a:gd name="T27" fmla="*/ 24 h 1455"/>
                <a:gd name="T28" fmla="*/ 209 w 363"/>
                <a:gd name="T29" fmla="*/ 8 h 1455"/>
                <a:gd name="T30" fmla="*/ 191 w 363"/>
                <a:gd name="T31" fmla="*/ 1 h 1455"/>
                <a:gd name="T32" fmla="*/ 172 w 363"/>
                <a:gd name="T33" fmla="*/ 1 h 1455"/>
                <a:gd name="T34" fmla="*/ 155 w 363"/>
                <a:gd name="T35" fmla="*/ 8 h 1455"/>
                <a:gd name="T36" fmla="*/ 137 w 363"/>
                <a:gd name="T37" fmla="*/ 24 h 1455"/>
                <a:gd name="T38" fmla="*/ 119 w 363"/>
                <a:gd name="T39" fmla="*/ 45 h 1455"/>
                <a:gd name="T40" fmla="*/ 103 w 363"/>
                <a:gd name="T41" fmla="*/ 73 h 1455"/>
                <a:gd name="T42" fmla="*/ 88 w 363"/>
                <a:gd name="T43" fmla="*/ 106 h 1455"/>
                <a:gd name="T44" fmla="*/ 74 w 363"/>
                <a:gd name="T45" fmla="*/ 145 h 1455"/>
                <a:gd name="T46" fmla="*/ 59 w 363"/>
                <a:gd name="T47" fmla="*/ 189 h 1455"/>
                <a:gd name="T48" fmla="*/ 41 w 363"/>
                <a:gd name="T49" fmla="*/ 266 h 1455"/>
                <a:gd name="T50" fmla="*/ 22 w 363"/>
                <a:gd name="T51" fmla="*/ 381 h 1455"/>
                <a:gd name="T52" fmla="*/ 8 w 363"/>
                <a:gd name="T53" fmla="*/ 512 h 1455"/>
                <a:gd name="T54" fmla="*/ 1 w 363"/>
                <a:gd name="T55" fmla="*/ 654 h 1455"/>
                <a:gd name="T56" fmla="*/ 1 w 363"/>
                <a:gd name="T57" fmla="*/ 801 h 1455"/>
                <a:gd name="T58" fmla="*/ 8 w 363"/>
                <a:gd name="T59" fmla="*/ 943 h 1455"/>
                <a:gd name="T60" fmla="*/ 22 w 363"/>
                <a:gd name="T61" fmla="*/ 1074 h 1455"/>
                <a:gd name="T62" fmla="*/ 41 w 363"/>
                <a:gd name="T63" fmla="*/ 1190 h 1455"/>
                <a:gd name="T64" fmla="*/ 59 w 363"/>
                <a:gd name="T65" fmla="*/ 1266 h 1455"/>
                <a:gd name="T66" fmla="*/ 74 w 363"/>
                <a:gd name="T67" fmla="*/ 1310 h 1455"/>
                <a:gd name="T68" fmla="*/ 88 w 363"/>
                <a:gd name="T69" fmla="*/ 1349 h 1455"/>
                <a:gd name="T70" fmla="*/ 103 w 363"/>
                <a:gd name="T71" fmla="*/ 1383 h 1455"/>
                <a:gd name="T72" fmla="*/ 119 w 363"/>
                <a:gd name="T73" fmla="*/ 1411 h 1455"/>
                <a:gd name="T74" fmla="*/ 137 w 363"/>
                <a:gd name="T75" fmla="*/ 1431 h 1455"/>
                <a:gd name="T76" fmla="*/ 155 w 363"/>
                <a:gd name="T77" fmla="*/ 1447 h 1455"/>
                <a:gd name="T78" fmla="*/ 172 w 363"/>
                <a:gd name="T79" fmla="*/ 1454 h 1455"/>
                <a:gd name="T80" fmla="*/ 190 w 363"/>
                <a:gd name="T81" fmla="*/ 1454 h 1455"/>
                <a:gd name="T82" fmla="*/ 208 w 363"/>
                <a:gd name="T83" fmla="*/ 1447 h 1455"/>
                <a:gd name="T84" fmla="*/ 226 w 363"/>
                <a:gd name="T85" fmla="*/ 1433 h 1455"/>
                <a:gd name="T86" fmla="*/ 243 w 363"/>
                <a:gd name="T87" fmla="*/ 1411 h 1455"/>
                <a:gd name="T88" fmla="*/ 259 w 363"/>
                <a:gd name="T89" fmla="*/ 1384 h 1455"/>
                <a:gd name="T90" fmla="*/ 275 w 363"/>
                <a:gd name="T91" fmla="*/ 1350 h 1455"/>
                <a:gd name="T92" fmla="*/ 290 w 363"/>
                <a:gd name="T93" fmla="*/ 1311 h 1455"/>
                <a:gd name="T94" fmla="*/ 303 w 363"/>
                <a:gd name="T95" fmla="*/ 1266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63" h="1455">
                  <a:moveTo>
                    <a:pt x="311" y="1242"/>
                  </a:moveTo>
                  <a:lnTo>
                    <a:pt x="322" y="1190"/>
                  </a:lnTo>
                  <a:lnTo>
                    <a:pt x="333" y="1132"/>
                  </a:lnTo>
                  <a:lnTo>
                    <a:pt x="341" y="1071"/>
                  </a:lnTo>
                  <a:lnTo>
                    <a:pt x="350" y="1006"/>
                  </a:lnTo>
                  <a:lnTo>
                    <a:pt x="356" y="938"/>
                  </a:lnTo>
                  <a:lnTo>
                    <a:pt x="359" y="869"/>
                  </a:lnTo>
                  <a:lnTo>
                    <a:pt x="363" y="799"/>
                  </a:lnTo>
                  <a:lnTo>
                    <a:pt x="363" y="728"/>
                  </a:lnTo>
                  <a:lnTo>
                    <a:pt x="363" y="654"/>
                  </a:lnTo>
                  <a:lnTo>
                    <a:pt x="359" y="581"/>
                  </a:lnTo>
                  <a:lnTo>
                    <a:pt x="356" y="512"/>
                  </a:lnTo>
                  <a:lnTo>
                    <a:pt x="349" y="445"/>
                  </a:lnTo>
                  <a:lnTo>
                    <a:pt x="341" y="381"/>
                  </a:lnTo>
                  <a:lnTo>
                    <a:pt x="332" y="322"/>
                  </a:lnTo>
                  <a:lnTo>
                    <a:pt x="322" y="266"/>
                  </a:lnTo>
                  <a:lnTo>
                    <a:pt x="311" y="214"/>
                  </a:lnTo>
                  <a:lnTo>
                    <a:pt x="303" y="189"/>
                  </a:lnTo>
                  <a:lnTo>
                    <a:pt x="297" y="167"/>
                  </a:lnTo>
                  <a:lnTo>
                    <a:pt x="290" y="145"/>
                  </a:lnTo>
                  <a:lnTo>
                    <a:pt x="283" y="125"/>
                  </a:lnTo>
                  <a:lnTo>
                    <a:pt x="276" y="106"/>
                  </a:lnTo>
                  <a:lnTo>
                    <a:pt x="268" y="88"/>
                  </a:lnTo>
                  <a:lnTo>
                    <a:pt x="261" y="73"/>
                  </a:lnTo>
                  <a:lnTo>
                    <a:pt x="252" y="58"/>
                  </a:lnTo>
                  <a:lnTo>
                    <a:pt x="244" y="45"/>
                  </a:lnTo>
                  <a:lnTo>
                    <a:pt x="236" y="33"/>
                  </a:lnTo>
                  <a:lnTo>
                    <a:pt x="227" y="24"/>
                  </a:lnTo>
                  <a:lnTo>
                    <a:pt x="218" y="16"/>
                  </a:lnTo>
                  <a:lnTo>
                    <a:pt x="209" y="8"/>
                  </a:lnTo>
                  <a:lnTo>
                    <a:pt x="200" y="5"/>
                  </a:lnTo>
                  <a:lnTo>
                    <a:pt x="191" y="1"/>
                  </a:lnTo>
                  <a:lnTo>
                    <a:pt x="182" y="0"/>
                  </a:lnTo>
                  <a:lnTo>
                    <a:pt x="172" y="1"/>
                  </a:lnTo>
                  <a:lnTo>
                    <a:pt x="163" y="5"/>
                  </a:lnTo>
                  <a:lnTo>
                    <a:pt x="155" y="8"/>
                  </a:lnTo>
                  <a:lnTo>
                    <a:pt x="145" y="16"/>
                  </a:lnTo>
                  <a:lnTo>
                    <a:pt x="137" y="24"/>
                  </a:lnTo>
                  <a:lnTo>
                    <a:pt x="127" y="33"/>
                  </a:lnTo>
                  <a:lnTo>
                    <a:pt x="119" y="45"/>
                  </a:lnTo>
                  <a:lnTo>
                    <a:pt x="111" y="58"/>
                  </a:lnTo>
                  <a:lnTo>
                    <a:pt x="103" y="73"/>
                  </a:lnTo>
                  <a:lnTo>
                    <a:pt x="95" y="88"/>
                  </a:lnTo>
                  <a:lnTo>
                    <a:pt x="88" y="106"/>
                  </a:lnTo>
                  <a:lnTo>
                    <a:pt x="81" y="125"/>
                  </a:lnTo>
                  <a:lnTo>
                    <a:pt x="74" y="145"/>
                  </a:lnTo>
                  <a:lnTo>
                    <a:pt x="66" y="167"/>
                  </a:lnTo>
                  <a:lnTo>
                    <a:pt x="59" y="189"/>
                  </a:lnTo>
                  <a:lnTo>
                    <a:pt x="53" y="214"/>
                  </a:lnTo>
                  <a:lnTo>
                    <a:pt x="41" y="266"/>
                  </a:lnTo>
                  <a:lnTo>
                    <a:pt x="31" y="322"/>
                  </a:lnTo>
                  <a:lnTo>
                    <a:pt x="22" y="381"/>
                  </a:lnTo>
                  <a:lnTo>
                    <a:pt x="14" y="445"/>
                  </a:lnTo>
                  <a:lnTo>
                    <a:pt x="8" y="512"/>
                  </a:lnTo>
                  <a:lnTo>
                    <a:pt x="3" y="581"/>
                  </a:lnTo>
                  <a:lnTo>
                    <a:pt x="1" y="654"/>
                  </a:lnTo>
                  <a:lnTo>
                    <a:pt x="0" y="728"/>
                  </a:lnTo>
                  <a:lnTo>
                    <a:pt x="1" y="801"/>
                  </a:lnTo>
                  <a:lnTo>
                    <a:pt x="3" y="874"/>
                  </a:lnTo>
                  <a:lnTo>
                    <a:pt x="8" y="943"/>
                  </a:lnTo>
                  <a:lnTo>
                    <a:pt x="14" y="1010"/>
                  </a:lnTo>
                  <a:lnTo>
                    <a:pt x="22" y="1074"/>
                  </a:lnTo>
                  <a:lnTo>
                    <a:pt x="31" y="1134"/>
                  </a:lnTo>
                  <a:lnTo>
                    <a:pt x="41" y="1190"/>
                  </a:lnTo>
                  <a:lnTo>
                    <a:pt x="53" y="1242"/>
                  </a:lnTo>
                  <a:lnTo>
                    <a:pt x="59" y="1266"/>
                  </a:lnTo>
                  <a:lnTo>
                    <a:pt x="66" y="1288"/>
                  </a:lnTo>
                  <a:lnTo>
                    <a:pt x="74" y="1310"/>
                  </a:lnTo>
                  <a:lnTo>
                    <a:pt x="81" y="1330"/>
                  </a:lnTo>
                  <a:lnTo>
                    <a:pt x="88" y="1349"/>
                  </a:lnTo>
                  <a:lnTo>
                    <a:pt x="95" y="1367"/>
                  </a:lnTo>
                  <a:lnTo>
                    <a:pt x="103" y="1383"/>
                  </a:lnTo>
                  <a:lnTo>
                    <a:pt x="111" y="1398"/>
                  </a:lnTo>
                  <a:lnTo>
                    <a:pt x="119" y="1411"/>
                  </a:lnTo>
                  <a:lnTo>
                    <a:pt x="127" y="1422"/>
                  </a:lnTo>
                  <a:lnTo>
                    <a:pt x="137" y="1431"/>
                  </a:lnTo>
                  <a:lnTo>
                    <a:pt x="145" y="1440"/>
                  </a:lnTo>
                  <a:lnTo>
                    <a:pt x="155" y="1447"/>
                  </a:lnTo>
                  <a:lnTo>
                    <a:pt x="163" y="1452"/>
                  </a:lnTo>
                  <a:lnTo>
                    <a:pt x="172" y="1454"/>
                  </a:lnTo>
                  <a:lnTo>
                    <a:pt x="182" y="1455"/>
                  </a:lnTo>
                  <a:lnTo>
                    <a:pt x="190" y="1454"/>
                  </a:lnTo>
                  <a:lnTo>
                    <a:pt x="200" y="1452"/>
                  </a:lnTo>
                  <a:lnTo>
                    <a:pt x="208" y="1447"/>
                  </a:lnTo>
                  <a:lnTo>
                    <a:pt x="218" y="1441"/>
                  </a:lnTo>
                  <a:lnTo>
                    <a:pt x="226" y="1433"/>
                  </a:lnTo>
                  <a:lnTo>
                    <a:pt x="234" y="1423"/>
                  </a:lnTo>
                  <a:lnTo>
                    <a:pt x="243" y="1411"/>
                  </a:lnTo>
                  <a:lnTo>
                    <a:pt x="251" y="1398"/>
                  </a:lnTo>
                  <a:lnTo>
                    <a:pt x="259" y="1384"/>
                  </a:lnTo>
                  <a:lnTo>
                    <a:pt x="268" y="1368"/>
                  </a:lnTo>
                  <a:lnTo>
                    <a:pt x="275" y="1350"/>
                  </a:lnTo>
                  <a:lnTo>
                    <a:pt x="283" y="1331"/>
                  </a:lnTo>
                  <a:lnTo>
                    <a:pt x="290" y="1311"/>
                  </a:lnTo>
                  <a:lnTo>
                    <a:pt x="297" y="1290"/>
                  </a:lnTo>
                  <a:lnTo>
                    <a:pt x="303" y="1266"/>
                  </a:lnTo>
                  <a:lnTo>
                    <a:pt x="311" y="1242"/>
                  </a:lnTo>
                </a:path>
              </a:pathLst>
            </a:custGeom>
            <a:noFill/>
            <a:ln w="1588">
              <a:solidFill>
                <a:srgbClr val="1F1A17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8" name="Freeform 47"/>
            <p:cNvSpPr>
              <a:spLocks/>
            </p:cNvSpPr>
            <p:nvPr/>
          </p:nvSpPr>
          <p:spPr bwMode="auto">
            <a:xfrm>
              <a:off x="4278" y="2852"/>
              <a:ext cx="44" cy="293"/>
            </a:xfrm>
            <a:custGeom>
              <a:avLst/>
              <a:gdLst>
                <a:gd name="T0" fmla="*/ 219 w 219"/>
                <a:gd name="T1" fmla="*/ 1454 h 1463"/>
                <a:gd name="T2" fmla="*/ 129 w 219"/>
                <a:gd name="T3" fmla="*/ 0 h 1463"/>
                <a:gd name="T4" fmla="*/ 0 w 219"/>
                <a:gd name="T5" fmla="*/ 8 h 1463"/>
                <a:gd name="T6" fmla="*/ 92 w 219"/>
                <a:gd name="T7" fmla="*/ 1463 h 1463"/>
                <a:gd name="T8" fmla="*/ 219 w 219"/>
                <a:gd name="T9" fmla="*/ 1454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1463">
                  <a:moveTo>
                    <a:pt x="219" y="1454"/>
                  </a:moveTo>
                  <a:lnTo>
                    <a:pt x="129" y="0"/>
                  </a:lnTo>
                  <a:lnTo>
                    <a:pt x="0" y="8"/>
                  </a:lnTo>
                  <a:lnTo>
                    <a:pt x="92" y="1463"/>
                  </a:lnTo>
                  <a:lnTo>
                    <a:pt x="219" y="1454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89" name="Freeform 48"/>
            <p:cNvSpPr>
              <a:spLocks/>
            </p:cNvSpPr>
            <p:nvPr/>
          </p:nvSpPr>
          <p:spPr bwMode="auto">
            <a:xfrm>
              <a:off x="4334" y="3285"/>
              <a:ext cx="78" cy="154"/>
            </a:xfrm>
            <a:custGeom>
              <a:avLst/>
              <a:gdLst>
                <a:gd name="T0" fmla="*/ 272 w 391"/>
                <a:gd name="T1" fmla="*/ 0 h 773"/>
                <a:gd name="T2" fmla="*/ 0 w 391"/>
                <a:gd name="T3" fmla="*/ 727 h 773"/>
                <a:gd name="T4" fmla="*/ 119 w 391"/>
                <a:gd name="T5" fmla="*/ 773 h 773"/>
                <a:gd name="T6" fmla="*/ 391 w 391"/>
                <a:gd name="T7" fmla="*/ 45 h 773"/>
                <a:gd name="T8" fmla="*/ 272 w 391"/>
                <a:gd name="T9" fmla="*/ 0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" h="773">
                  <a:moveTo>
                    <a:pt x="272" y="0"/>
                  </a:moveTo>
                  <a:lnTo>
                    <a:pt x="0" y="727"/>
                  </a:lnTo>
                  <a:lnTo>
                    <a:pt x="119" y="773"/>
                  </a:lnTo>
                  <a:lnTo>
                    <a:pt x="391" y="4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0" name="Freeform 49"/>
            <p:cNvSpPr>
              <a:spLocks/>
            </p:cNvSpPr>
            <p:nvPr/>
          </p:nvSpPr>
          <p:spPr bwMode="auto">
            <a:xfrm>
              <a:off x="4406" y="2707"/>
              <a:ext cx="43" cy="292"/>
            </a:xfrm>
            <a:custGeom>
              <a:avLst/>
              <a:gdLst>
                <a:gd name="T0" fmla="*/ 91 w 218"/>
                <a:gd name="T1" fmla="*/ 0 h 1462"/>
                <a:gd name="T2" fmla="*/ 0 w 218"/>
                <a:gd name="T3" fmla="*/ 1455 h 1462"/>
                <a:gd name="T4" fmla="*/ 128 w 218"/>
                <a:gd name="T5" fmla="*/ 1462 h 1462"/>
                <a:gd name="T6" fmla="*/ 218 w 218"/>
                <a:gd name="T7" fmla="*/ 8 h 1462"/>
                <a:gd name="T8" fmla="*/ 91 w 218"/>
                <a:gd name="T9" fmla="*/ 0 h 1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1462">
                  <a:moveTo>
                    <a:pt x="91" y="0"/>
                  </a:moveTo>
                  <a:lnTo>
                    <a:pt x="0" y="1455"/>
                  </a:lnTo>
                  <a:lnTo>
                    <a:pt x="128" y="1462"/>
                  </a:lnTo>
                  <a:lnTo>
                    <a:pt x="218" y="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1" name="Freeform 50"/>
            <p:cNvSpPr>
              <a:spLocks/>
            </p:cNvSpPr>
            <p:nvPr/>
          </p:nvSpPr>
          <p:spPr bwMode="auto">
            <a:xfrm>
              <a:off x="4424" y="3507"/>
              <a:ext cx="44" cy="292"/>
            </a:xfrm>
            <a:custGeom>
              <a:avLst/>
              <a:gdLst>
                <a:gd name="T0" fmla="*/ 219 w 219"/>
                <a:gd name="T1" fmla="*/ 1454 h 1462"/>
                <a:gd name="T2" fmla="*/ 127 w 219"/>
                <a:gd name="T3" fmla="*/ 0 h 1462"/>
                <a:gd name="T4" fmla="*/ 0 w 219"/>
                <a:gd name="T5" fmla="*/ 7 h 1462"/>
                <a:gd name="T6" fmla="*/ 90 w 219"/>
                <a:gd name="T7" fmla="*/ 1462 h 1462"/>
                <a:gd name="T8" fmla="*/ 219 w 219"/>
                <a:gd name="T9" fmla="*/ 1454 h 1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1462">
                  <a:moveTo>
                    <a:pt x="219" y="1454"/>
                  </a:moveTo>
                  <a:lnTo>
                    <a:pt x="127" y="0"/>
                  </a:lnTo>
                  <a:lnTo>
                    <a:pt x="0" y="7"/>
                  </a:lnTo>
                  <a:lnTo>
                    <a:pt x="90" y="1462"/>
                  </a:lnTo>
                  <a:lnTo>
                    <a:pt x="219" y="1454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2" name="Freeform 51"/>
            <p:cNvSpPr>
              <a:spLocks/>
            </p:cNvSpPr>
            <p:nvPr/>
          </p:nvSpPr>
          <p:spPr bwMode="auto">
            <a:xfrm>
              <a:off x="4443" y="3067"/>
              <a:ext cx="78" cy="154"/>
            </a:xfrm>
            <a:custGeom>
              <a:avLst/>
              <a:gdLst>
                <a:gd name="T0" fmla="*/ 392 w 392"/>
                <a:gd name="T1" fmla="*/ 727 h 772"/>
                <a:gd name="T2" fmla="*/ 119 w 392"/>
                <a:gd name="T3" fmla="*/ 0 h 772"/>
                <a:gd name="T4" fmla="*/ 0 w 392"/>
                <a:gd name="T5" fmla="*/ 44 h 772"/>
                <a:gd name="T6" fmla="*/ 273 w 392"/>
                <a:gd name="T7" fmla="*/ 772 h 772"/>
                <a:gd name="T8" fmla="*/ 392 w 392"/>
                <a:gd name="T9" fmla="*/ 727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772">
                  <a:moveTo>
                    <a:pt x="392" y="727"/>
                  </a:moveTo>
                  <a:lnTo>
                    <a:pt x="119" y="0"/>
                  </a:lnTo>
                  <a:lnTo>
                    <a:pt x="0" y="44"/>
                  </a:lnTo>
                  <a:lnTo>
                    <a:pt x="273" y="772"/>
                  </a:lnTo>
                  <a:lnTo>
                    <a:pt x="392" y="72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3" name="Rectangle 52"/>
            <p:cNvSpPr>
              <a:spLocks noChangeArrowheads="1"/>
            </p:cNvSpPr>
            <p:nvPr/>
          </p:nvSpPr>
          <p:spPr bwMode="auto">
            <a:xfrm>
              <a:off x="4328" y="2768"/>
              <a:ext cx="72" cy="25"/>
            </a:xfrm>
            <a:prstGeom prst="rect">
              <a:avLst/>
            </a:pr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4" name="Freeform 53"/>
            <p:cNvSpPr>
              <a:spLocks/>
            </p:cNvSpPr>
            <p:nvPr/>
          </p:nvSpPr>
          <p:spPr bwMode="auto">
            <a:xfrm>
              <a:off x="4261" y="2558"/>
              <a:ext cx="78" cy="154"/>
            </a:xfrm>
            <a:custGeom>
              <a:avLst/>
              <a:gdLst>
                <a:gd name="T0" fmla="*/ 273 w 392"/>
                <a:gd name="T1" fmla="*/ 0 h 771"/>
                <a:gd name="T2" fmla="*/ 0 w 392"/>
                <a:gd name="T3" fmla="*/ 727 h 771"/>
                <a:gd name="T4" fmla="*/ 119 w 392"/>
                <a:gd name="T5" fmla="*/ 771 h 771"/>
                <a:gd name="T6" fmla="*/ 392 w 392"/>
                <a:gd name="T7" fmla="*/ 45 h 771"/>
                <a:gd name="T8" fmla="*/ 273 w 392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771">
                  <a:moveTo>
                    <a:pt x="273" y="0"/>
                  </a:moveTo>
                  <a:lnTo>
                    <a:pt x="0" y="727"/>
                  </a:lnTo>
                  <a:lnTo>
                    <a:pt x="119" y="771"/>
                  </a:lnTo>
                  <a:lnTo>
                    <a:pt x="392" y="45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5" name="Freeform 54"/>
            <p:cNvSpPr>
              <a:spLocks/>
            </p:cNvSpPr>
            <p:nvPr/>
          </p:nvSpPr>
          <p:spPr bwMode="auto">
            <a:xfrm>
              <a:off x="4226" y="3210"/>
              <a:ext cx="112" cy="159"/>
            </a:xfrm>
            <a:custGeom>
              <a:avLst/>
              <a:gdLst>
                <a:gd name="T0" fmla="*/ 563 w 563"/>
                <a:gd name="T1" fmla="*/ 727 h 795"/>
                <a:gd name="T2" fmla="*/ 110 w 563"/>
                <a:gd name="T3" fmla="*/ 0 h 795"/>
                <a:gd name="T4" fmla="*/ 0 w 563"/>
                <a:gd name="T5" fmla="*/ 68 h 795"/>
                <a:gd name="T6" fmla="*/ 455 w 563"/>
                <a:gd name="T7" fmla="*/ 795 h 795"/>
                <a:gd name="T8" fmla="*/ 563 w 563"/>
                <a:gd name="T9" fmla="*/ 727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3" h="795">
                  <a:moveTo>
                    <a:pt x="563" y="727"/>
                  </a:moveTo>
                  <a:lnTo>
                    <a:pt x="110" y="0"/>
                  </a:lnTo>
                  <a:lnTo>
                    <a:pt x="0" y="68"/>
                  </a:lnTo>
                  <a:lnTo>
                    <a:pt x="455" y="795"/>
                  </a:lnTo>
                  <a:lnTo>
                    <a:pt x="563" y="72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6" name="Freeform 55"/>
            <p:cNvSpPr>
              <a:spLocks/>
            </p:cNvSpPr>
            <p:nvPr/>
          </p:nvSpPr>
          <p:spPr bwMode="auto">
            <a:xfrm>
              <a:off x="4297" y="3578"/>
              <a:ext cx="61" cy="222"/>
            </a:xfrm>
            <a:custGeom>
              <a:avLst/>
              <a:gdLst>
                <a:gd name="T0" fmla="*/ 308 w 308"/>
                <a:gd name="T1" fmla="*/ 1091 h 1111"/>
                <a:gd name="T2" fmla="*/ 126 w 308"/>
                <a:gd name="T3" fmla="*/ 0 h 1111"/>
                <a:gd name="T4" fmla="*/ 0 w 308"/>
                <a:gd name="T5" fmla="*/ 20 h 1111"/>
                <a:gd name="T6" fmla="*/ 182 w 308"/>
                <a:gd name="T7" fmla="*/ 1111 h 1111"/>
                <a:gd name="T8" fmla="*/ 308 w 308"/>
                <a:gd name="T9" fmla="*/ 109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1111">
                  <a:moveTo>
                    <a:pt x="308" y="1091"/>
                  </a:moveTo>
                  <a:lnTo>
                    <a:pt x="126" y="0"/>
                  </a:lnTo>
                  <a:lnTo>
                    <a:pt x="0" y="20"/>
                  </a:lnTo>
                  <a:lnTo>
                    <a:pt x="182" y="1111"/>
                  </a:lnTo>
                  <a:lnTo>
                    <a:pt x="308" y="109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7" name="Freeform 56"/>
            <p:cNvSpPr>
              <a:spLocks/>
            </p:cNvSpPr>
            <p:nvPr/>
          </p:nvSpPr>
          <p:spPr bwMode="auto">
            <a:xfrm>
              <a:off x="4480" y="3429"/>
              <a:ext cx="95" cy="157"/>
            </a:xfrm>
            <a:custGeom>
              <a:avLst/>
              <a:gdLst>
                <a:gd name="T0" fmla="*/ 364 w 478"/>
                <a:gd name="T1" fmla="*/ 0 h 784"/>
                <a:gd name="T2" fmla="*/ 0 w 478"/>
                <a:gd name="T3" fmla="*/ 727 h 784"/>
                <a:gd name="T4" fmla="*/ 115 w 478"/>
                <a:gd name="T5" fmla="*/ 784 h 784"/>
                <a:gd name="T6" fmla="*/ 478 w 478"/>
                <a:gd name="T7" fmla="*/ 58 h 784"/>
                <a:gd name="T8" fmla="*/ 364 w 478"/>
                <a:gd name="T9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84">
                  <a:moveTo>
                    <a:pt x="364" y="0"/>
                  </a:moveTo>
                  <a:lnTo>
                    <a:pt x="0" y="727"/>
                  </a:lnTo>
                  <a:lnTo>
                    <a:pt x="115" y="784"/>
                  </a:lnTo>
                  <a:lnTo>
                    <a:pt x="478" y="58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8" name="Freeform 57"/>
            <p:cNvSpPr>
              <a:spLocks/>
            </p:cNvSpPr>
            <p:nvPr/>
          </p:nvSpPr>
          <p:spPr bwMode="auto">
            <a:xfrm>
              <a:off x="4498" y="3720"/>
              <a:ext cx="95" cy="157"/>
            </a:xfrm>
            <a:custGeom>
              <a:avLst/>
              <a:gdLst>
                <a:gd name="T0" fmla="*/ 477 w 477"/>
                <a:gd name="T1" fmla="*/ 728 h 785"/>
                <a:gd name="T2" fmla="*/ 114 w 477"/>
                <a:gd name="T3" fmla="*/ 0 h 785"/>
                <a:gd name="T4" fmla="*/ 0 w 477"/>
                <a:gd name="T5" fmla="*/ 57 h 785"/>
                <a:gd name="T6" fmla="*/ 363 w 477"/>
                <a:gd name="T7" fmla="*/ 785 h 785"/>
                <a:gd name="T8" fmla="*/ 477 w 477"/>
                <a:gd name="T9" fmla="*/ 72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7" h="785">
                  <a:moveTo>
                    <a:pt x="477" y="728"/>
                  </a:moveTo>
                  <a:lnTo>
                    <a:pt x="114" y="0"/>
                  </a:lnTo>
                  <a:lnTo>
                    <a:pt x="0" y="57"/>
                  </a:lnTo>
                  <a:lnTo>
                    <a:pt x="363" y="785"/>
                  </a:lnTo>
                  <a:lnTo>
                    <a:pt x="477" y="728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399" name="Freeform 58"/>
            <p:cNvSpPr>
              <a:spLocks/>
            </p:cNvSpPr>
            <p:nvPr/>
          </p:nvSpPr>
          <p:spPr bwMode="auto">
            <a:xfrm>
              <a:off x="4352" y="3794"/>
              <a:ext cx="78" cy="154"/>
            </a:xfrm>
            <a:custGeom>
              <a:avLst/>
              <a:gdLst>
                <a:gd name="T0" fmla="*/ 120 w 393"/>
                <a:gd name="T1" fmla="*/ 771 h 771"/>
                <a:gd name="T2" fmla="*/ 393 w 393"/>
                <a:gd name="T3" fmla="*/ 44 h 771"/>
                <a:gd name="T4" fmla="*/ 273 w 393"/>
                <a:gd name="T5" fmla="*/ 0 h 771"/>
                <a:gd name="T6" fmla="*/ 0 w 393"/>
                <a:gd name="T7" fmla="*/ 726 h 771"/>
                <a:gd name="T8" fmla="*/ 120 w 393"/>
                <a:gd name="T9" fmla="*/ 77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771">
                  <a:moveTo>
                    <a:pt x="120" y="771"/>
                  </a:moveTo>
                  <a:lnTo>
                    <a:pt x="393" y="44"/>
                  </a:lnTo>
                  <a:lnTo>
                    <a:pt x="273" y="0"/>
                  </a:lnTo>
                  <a:lnTo>
                    <a:pt x="0" y="726"/>
                  </a:lnTo>
                  <a:lnTo>
                    <a:pt x="120" y="77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0" name="Freeform 59"/>
            <p:cNvSpPr>
              <a:spLocks/>
            </p:cNvSpPr>
            <p:nvPr/>
          </p:nvSpPr>
          <p:spPr bwMode="auto">
            <a:xfrm>
              <a:off x="4533" y="2998"/>
              <a:ext cx="44" cy="292"/>
            </a:xfrm>
            <a:custGeom>
              <a:avLst/>
              <a:gdLst>
                <a:gd name="T0" fmla="*/ 90 w 219"/>
                <a:gd name="T1" fmla="*/ 0 h 1461"/>
                <a:gd name="T2" fmla="*/ 0 w 219"/>
                <a:gd name="T3" fmla="*/ 1454 h 1461"/>
                <a:gd name="T4" fmla="*/ 127 w 219"/>
                <a:gd name="T5" fmla="*/ 1461 h 1461"/>
                <a:gd name="T6" fmla="*/ 219 w 219"/>
                <a:gd name="T7" fmla="*/ 7 h 1461"/>
                <a:gd name="T8" fmla="*/ 90 w 219"/>
                <a:gd name="T9" fmla="*/ 0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1461">
                  <a:moveTo>
                    <a:pt x="90" y="0"/>
                  </a:moveTo>
                  <a:lnTo>
                    <a:pt x="0" y="1454"/>
                  </a:lnTo>
                  <a:lnTo>
                    <a:pt x="127" y="1461"/>
                  </a:lnTo>
                  <a:lnTo>
                    <a:pt x="219" y="7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2" name="Freeform 60"/>
            <p:cNvSpPr>
              <a:spLocks/>
            </p:cNvSpPr>
            <p:nvPr/>
          </p:nvSpPr>
          <p:spPr bwMode="auto">
            <a:xfrm>
              <a:off x="4333" y="2994"/>
              <a:ext cx="97" cy="227"/>
            </a:xfrm>
            <a:custGeom>
              <a:avLst/>
              <a:gdLst>
                <a:gd name="T0" fmla="*/ 485 w 485"/>
                <a:gd name="T1" fmla="*/ 1091 h 1132"/>
                <a:gd name="T2" fmla="*/ 122 w 485"/>
                <a:gd name="T3" fmla="*/ 0 h 1132"/>
                <a:gd name="T4" fmla="*/ 0 w 485"/>
                <a:gd name="T5" fmla="*/ 41 h 1132"/>
                <a:gd name="T6" fmla="*/ 365 w 485"/>
                <a:gd name="T7" fmla="*/ 1132 h 1132"/>
                <a:gd name="T8" fmla="*/ 485 w 485"/>
                <a:gd name="T9" fmla="*/ 1091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5" h="1132">
                  <a:moveTo>
                    <a:pt x="485" y="1091"/>
                  </a:moveTo>
                  <a:lnTo>
                    <a:pt x="122" y="0"/>
                  </a:lnTo>
                  <a:lnTo>
                    <a:pt x="0" y="41"/>
                  </a:lnTo>
                  <a:lnTo>
                    <a:pt x="365" y="1132"/>
                  </a:lnTo>
                  <a:lnTo>
                    <a:pt x="485" y="109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3" name="Freeform 61"/>
            <p:cNvSpPr>
              <a:spLocks/>
            </p:cNvSpPr>
            <p:nvPr/>
          </p:nvSpPr>
          <p:spPr bwMode="auto">
            <a:xfrm>
              <a:off x="4406" y="2487"/>
              <a:ext cx="79" cy="224"/>
            </a:xfrm>
            <a:custGeom>
              <a:avLst/>
              <a:gdLst>
                <a:gd name="T0" fmla="*/ 398 w 398"/>
                <a:gd name="T1" fmla="*/ 1090 h 1121"/>
                <a:gd name="T2" fmla="*/ 125 w 398"/>
                <a:gd name="T3" fmla="*/ 0 h 1121"/>
                <a:gd name="T4" fmla="*/ 0 w 398"/>
                <a:gd name="T5" fmla="*/ 30 h 1121"/>
                <a:gd name="T6" fmla="*/ 273 w 398"/>
                <a:gd name="T7" fmla="*/ 1121 h 1121"/>
                <a:gd name="T8" fmla="*/ 398 w 398"/>
                <a:gd name="T9" fmla="*/ 109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1121">
                  <a:moveTo>
                    <a:pt x="398" y="1090"/>
                  </a:moveTo>
                  <a:lnTo>
                    <a:pt x="125" y="0"/>
                  </a:lnTo>
                  <a:lnTo>
                    <a:pt x="0" y="30"/>
                  </a:lnTo>
                  <a:lnTo>
                    <a:pt x="273" y="1121"/>
                  </a:lnTo>
                  <a:lnTo>
                    <a:pt x="398" y="109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4" name="Freeform 62"/>
            <p:cNvSpPr>
              <a:spLocks/>
            </p:cNvSpPr>
            <p:nvPr/>
          </p:nvSpPr>
          <p:spPr bwMode="auto">
            <a:xfrm>
              <a:off x="4479" y="2849"/>
              <a:ext cx="79" cy="154"/>
            </a:xfrm>
            <a:custGeom>
              <a:avLst/>
              <a:gdLst>
                <a:gd name="T0" fmla="*/ 272 w 393"/>
                <a:gd name="T1" fmla="*/ 0 h 771"/>
                <a:gd name="T2" fmla="*/ 0 w 393"/>
                <a:gd name="T3" fmla="*/ 726 h 771"/>
                <a:gd name="T4" fmla="*/ 120 w 393"/>
                <a:gd name="T5" fmla="*/ 771 h 771"/>
                <a:gd name="T6" fmla="*/ 393 w 393"/>
                <a:gd name="T7" fmla="*/ 44 h 771"/>
                <a:gd name="T8" fmla="*/ 272 w 393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771">
                  <a:moveTo>
                    <a:pt x="272" y="0"/>
                  </a:moveTo>
                  <a:lnTo>
                    <a:pt x="0" y="726"/>
                  </a:lnTo>
                  <a:lnTo>
                    <a:pt x="120" y="771"/>
                  </a:lnTo>
                  <a:lnTo>
                    <a:pt x="393" y="44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5" name="Freeform 63"/>
            <p:cNvSpPr>
              <a:spLocks/>
            </p:cNvSpPr>
            <p:nvPr/>
          </p:nvSpPr>
          <p:spPr bwMode="auto">
            <a:xfrm>
              <a:off x="4497" y="2415"/>
              <a:ext cx="61" cy="294"/>
            </a:xfrm>
            <a:custGeom>
              <a:avLst/>
              <a:gdLst>
                <a:gd name="T0" fmla="*/ 181 w 308"/>
                <a:gd name="T1" fmla="*/ 0 h 1469"/>
                <a:gd name="T2" fmla="*/ 0 w 308"/>
                <a:gd name="T3" fmla="*/ 1453 h 1469"/>
                <a:gd name="T4" fmla="*/ 127 w 308"/>
                <a:gd name="T5" fmla="*/ 1469 h 1469"/>
                <a:gd name="T6" fmla="*/ 308 w 308"/>
                <a:gd name="T7" fmla="*/ 15 h 1469"/>
                <a:gd name="T8" fmla="*/ 181 w 308"/>
                <a:gd name="T9" fmla="*/ 0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1469">
                  <a:moveTo>
                    <a:pt x="181" y="0"/>
                  </a:moveTo>
                  <a:lnTo>
                    <a:pt x="0" y="1453"/>
                  </a:lnTo>
                  <a:lnTo>
                    <a:pt x="127" y="1469"/>
                  </a:lnTo>
                  <a:lnTo>
                    <a:pt x="308" y="15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6" name="Freeform 64"/>
            <p:cNvSpPr>
              <a:spLocks/>
            </p:cNvSpPr>
            <p:nvPr/>
          </p:nvSpPr>
          <p:spPr bwMode="auto">
            <a:xfrm>
              <a:off x="4460" y="2343"/>
              <a:ext cx="44" cy="148"/>
            </a:xfrm>
            <a:custGeom>
              <a:avLst/>
              <a:gdLst>
                <a:gd name="T0" fmla="*/ 0 w 218"/>
                <a:gd name="T1" fmla="*/ 16 h 742"/>
                <a:gd name="T2" fmla="*/ 90 w 218"/>
                <a:gd name="T3" fmla="*/ 742 h 742"/>
                <a:gd name="T4" fmla="*/ 218 w 218"/>
                <a:gd name="T5" fmla="*/ 727 h 742"/>
                <a:gd name="T6" fmla="*/ 127 w 218"/>
                <a:gd name="T7" fmla="*/ 0 h 742"/>
                <a:gd name="T8" fmla="*/ 0 w 218"/>
                <a:gd name="T9" fmla="*/ 16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742">
                  <a:moveTo>
                    <a:pt x="0" y="16"/>
                  </a:moveTo>
                  <a:lnTo>
                    <a:pt x="90" y="742"/>
                  </a:lnTo>
                  <a:lnTo>
                    <a:pt x="218" y="727"/>
                  </a:lnTo>
                  <a:lnTo>
                    <a:pt x="127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7" name="Freeform 65"/>
            <p:cNvSpPr>
              <a:spLocks/>
            </p:cNvSpPr>
            <p:nvPr/>
          </p:nvSpPr>
          <p:spPr bwMode="auto">
            <a:xfrm>
              <a:off x="4569" y="2777"/>
              <a:ext cx="80" cy="225"/>
            </a:xfrm>
            <a:custGeom>
              <a:avLst/>
              <a:gdLst>
                <a:gd name="T0" fmla="*/ 398 w 398"/>
                <a:gd name="T1" fmla="*/ 1091 h 1122"/>
                <a:gd name="T2" fmla="*/ 125 w 398"/>
                <a:gd name="T3" fmla="*/ 0 h 1122"/>
                <a:gd name="T4" fmla="*/ 0 w 398"/>
                <a:gd name="T5" fmla="*/ 31 h 1122"/>
                <a:gd name="T6" fmla="*/ 273 w 398"/>
                <a:gd name="T7" fmla="*/ 1122 h 1122"/>
                <a:gd name="T8" fmla="*/ 398 w 398"/>
                <a:gd name="T9" fmla="*/ 1091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1122">
                  <a:moveTo>
                    <a:pt x="398" y="1091"/>
                  </a:moveTo>
                  <a:lnTo>
                    <a:pt x="125" y="0"/>
                  </a:lnTo>
                  <a:lnTo>
                    <a:pt x="0" y="31"/>
                  </a:lnTo>
                  <a:lnTo>
                    <a:pt x="273" y="1122"/>
                  </a:lnTo>
                  <a:lnTo>
                    <a:pt x="398" y="109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8" name="Freeform 66"/>
            <p:cNvSpPr>
              <a:spLocks/>
            </p:cNvSpPr>
            <p:nvPr/>
          </p:nvSpPr>
          <p:spPr bwMode="auto">
            <a:xfrm>
              <a:off x="4590" y="3209"/>
              <a:ext cx="75" cy="88"/>
            </a:xfrm>
            <a:custGeom>
              <a:avLst/>
              <a:gdLst>
                <a:gd name="T0" fmla="*/ 272 w 375"/>
                <a:gd name="T1" fmla="*/ 0 h 440"/>
                <a:gd name="T2" fmla="*/ 0 w 375"/>
                <a:gd name="T3" fmla="*/ 363 h 440"/>
                <a:gd name="T4" fmla="*/ 102 w 375"/>
                <a:gd name="T5" fmla="*/ 440 h 440"/>
                <a:gd name="T6" fmla="*/ 375 w 375"/>
                <a:gd name="T7" fmla="*/ 76 h 440"/>
                <a:gd name="T8" fmla="*/ 272 w 375"/>
                <a:gd name="T9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5" h="440">
                  <a:moveTo>
                    <a:pt x="272" y="0"/>
                  </a:moveTo>
                  <a:lnTo>
                    <a:pt x="0" y="363"/>
                  </a:lnTo>
                  <a:lnTo>
                    <a:pt x="102" y="440"/>
                  </a:lnTo>
                  <a:lnTo>
                    <a:pt x="375" y="76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89" name="Freeform 67"/>
            <p:cNvSpPr>
              <a:spLocks/>
            </p:cNvSpPr>
            <p:nvPr/>
          </p:nvSpPr>
          <p:spPr bwMode="auto">
            <a:xfrm>
              <a:off x="4569" y="3506"/>
              <a:ext cx="62" cy="294"/>
            </a:xfrm>
            <a:custGeom>
              <a:avLst/>
              <a:gdLst>
                <a:gd name="T0" fmla="*/ 310 w 310"/>
                <a:gd name="T1" fmla="*/ 1454 h 1469"/>
                <a:gd name="T2" fmla="*/ 127 w 310"/>
                <a:gd name="T3" fmla="*/ 0 h 1469"/>
                <a:gd name="T4" fmla="*/ 0 w 310"/>
                <a:gd name="T5" fmla="*/ 16 h 1469"/>
                <a:gd name="T6" fmla="*/ 182 w 310"/>
                <a:gd name="T7" fmla="*/ 1469 h 1469"/>
                <a:gd name="T8" fmla="*/ 310 w 310"/>
                <a:gd name="T9" fmla="*/ 1454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1469">
                  <a:moveTo>
                    <a:pt x="310" y="1454"/>
                  </a:moveTo>
                  <a:lnTo>
                    <a:pt x="127" y="0"/>
                  </a:lnTo>
                  <a:lnTo>
                    <a:pt x="0" y="16"/>
                  </a:lnTo>
                  <a:lnTo>
                    <a:pt x="182" y="1469"/>
                  </a:lnTo>
                  <a:lnTo>
                    <a:pt x="310" y="1454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0" name="Freeform 68"/>
            <p:cNvSpPr>
              <a:spLocks/>
            </p:cNvSpPr>
            <p:nvPr/>
          </p:nvSpPr>
          <p:spPr bwMode="auto">
            <a:xfrm>
              <a:off x="4460" y="3870"/>
              <a:ext cx="44" cy="293"/>
            </a:xfrm>
            <a:custGeom>
              <a:avLst/>
              <a:gdLst>
                <a:gd name="T0" fmla="*/ 127 w 218"/>
                <a:gd name="T1" fmla="*/ 1461 h 1461"/>
                <a:gd name="T2" fmla="*/ 218 w 218"/>
                <a:gd name="T3" fmla="*/ 7 h 1461"/>
                <a:gd name="T4" fmla="*/ 90 w 218"/>
                <a:gd name="T5" fmla="*/ 0 h 1461"/>
                <a:gd name="T6" fmla="*/ 0 w 218"/>
                <a:gd name="T7" fmla="*/ 1454 h 1461"/>
                <a:gd name="T8" fmla="*/ 127 w 218"/>
                <a:gd name="T9" fmla="*/ 1461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1461">
                  <a:moveTo>
                    <a:pt x="127" y="1461"/>
                  </a:moveTo>
                  <a:lnTo>
                    <a:pt x="218" y="7"/>
                  </a:lnTo>
                  <a:lnTo>
                    <a:pt x="90" y="0"/>
                  </a:lnTo>
                  <a:lnTo>
                    <a:pt x="0" y="1454"/>
                  </a:lnTo>
                  <a:lnTo>
                    <a:pt x="127" y="146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1" name="Freeform 69"/>
            <p:cNvSpPr>
              <a:spLocks/>
            </p:cNvSpPr>
            <p:nvPr/>
          </p:nvSpPr>
          <p:spPr bwMode="auto">
            <a:xfrm>
              <a:off x="4224" y="2634"/>
              <a:ext cx="44" cy="293"/>
            </a:xfrm>
            <a:custGeom>
              <a:avLst/>
              <a:gdLst>
                <a:gd name="T0" fmla="*/ 0 w 220"/>
                <a:gd name="T1" fmla="*/ 7 h 1462"/>
                <a:gd name="T2" fmla="*/ 92 w 220"/>
                <a:gd name="T3" fmla="*/ 1462 h 1462"/>
                <a:gd name="T4" fmla="*/ 220 w 220"/>
                <a:gd name="T5" fmla="*/ 1454 h 1462"/>
                <a:gd name="T6" fmla="*/ 129 w 220"/>
                <a:gd name="T7" fmla="*/ 0 h 1462"/>
                <a:gd name="T8" fmla="*/ 0 w 220"/>
                <a:gd name="T9" fmla="*/ 7 h 1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462">
                  <a:moveTo>
                    <a:pt x="0" y="7"/>
                  </a:moveTo>
                  <a:lnTo>
                    <a:pt x="92" y="1462"/>
                  </a:lnTo>
                  <a:lnTo>
                    <a:pt x="220" y="1454"/>
                  </a:lnTo>
                  <a:lnTo>
                    <a:pt x="129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2" name="Freeform 70"/>
            <p:cNvSpPr>
              <a:spLocks/>
            </p:cNvSpPr>
            <p:nvPr/>
          </p:nvSpPr>
          <p:spPr bwMode="auto">
            <a:xfrm>
              <a:off x="4570" y="2484"/>
              <a:ext cx="96" cy="157"/>
            </a:xfrm>
            <a:custGeom>
              <a:avLst/>
              <a:gdLst>
                <a:gd name="T0" fmla="*/ 364 w 479"/>
                <a:gd name="T1" fmla="*/ 0 h 784"/>
                <a:gd name="T2" fmla="*/ 0 w 479"/>
                <a:gd name="T3" fmla="*/ 727 h 784"/>
                <a:gd name="T4" fmla="*/ 114 w 479"/>
                <a:gd name="T5" fmla="*/ 784 h 784"/>
                <a:gd name="T6" fmla="*/ 479 w 479"/>
                <a:gd name="T7" fmla="*/ 58 h 784"/>
                <a:gd name="T8" fmla="*/ 364 w 479"/>
                <a:gd name="T9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784">
                  <a:moveTo>
                    <a:pt x="364" y="0"/>
                  </a:moveTo>
                  <a:lnTo>
                    <a:pt x="0" y="727"/>
                  </a:lnTo>
                  <a:lnTo>
                    <a:pt x="114" y="784"/>
                  </a:lnTo>
                  <a:lnTo>
                    <a:pt x="479" y="58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3" name="Freeform 71"/>
            <p:cNvSpPr>
              <a:spLocks/>
            </p:cNvSpPr>
            <p:nvPr/>
          </p:nvSpPr>
          <p:spPr bwMode="auto">
            <a:xfrm>
              <a:off x="4298" y="2411"/>
              <a:ext cx="95" cy="157"/>
            </a:xfrm>
            <a:custGeom>
              <a:avLst/>
              <a:gdLst>
                <a:gd name="T0" fmla="*/ 0 w 478"/>
                <a:gd name="T1" fmla="*/ 57 h 785"/>
                <a:gd name="T2" fmla="*/ 364 w 478"/>
                <a:gd name="T3" fmla="*/ 785 h 785"/>
                <a:gd name="T4" fmla="*/ 478 w 478"/>
                <a:gd name="T5" fmla="*/ 728 h 785"/>
                <a:gd name="T6" fmla="*/ 114 w 478"/>
                <a:gd name="T7" fmla="*/ 0 h 785"/>
                <a:gd name="T8" fmla="*/ 0 w 478"/>
                <a:gd name="T9" fmla="*/ 57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85">
                  <a:moveTo>
                    <a:pt x="0" y="57"/>
                  </a:moveTo>
                  <a:lnTo>
                    <a:pt x="364" y="785"/>
                  </a:lnTo>
                  <a:lnTo>
                    <a:pt x="478" y="728"/>
                  </a:lnTo>
                  <a:lnTo>
                    <a:pt x="114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4" name="Freeform 72"/>
            <p:cNvSpPr>
              <a:spLocks/>
            </p:cNvSpPr>
            <p:nvPr/>
          </p:nvSpPr>
          <p:spPr bwMode="auto">
            <a:xfrm>
              <a:off x="4242" y="3433"/>
              <a:ext cx="62" cy="222"/>
            </a:xfrm>
            <a:custGeom>
              <a:avLst/>
              <a:gdLst>
                <a:gd name="T0" fmla="*/ 182 w 309"/>
                <a:gd name="T1" fmla="*/ 0 h 1112"/>
                <a:gd name="T2" fmla="*/ 0 w 309"/>
                <a:gd name="T3" fmla="*/ 1091 h 1112"/>
                <a:gd name="T4" fmla="*/ 126 w 309"/>
                <a:gd name="T5" fmla="*/ 1112 h 1112"/>
                <a:gd name="T6" fmla="*/ 309 w 309"/>
                <a:gd name="T7" fmla="*/ 22 h 1112"/>
                <a:gd name="T8" fmla="*/ 182 w 309"/>
                <a:gd name="T9" fmla="*/ 0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1112">
                  <a:moveTo>
                    <a:pt x="182" y="0"/>
                  </a:moveTo>
                  <a:lnTo>
                    <a:pt x="0" y="1091"/>
                  </a:lnTo>
                  <a:lnTo>
                    <a:pt x="126" y="1112"/>
                  </a:lnTo>
                  <a:lnTo>
                    <a:pt x="309" y="22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5" name="Freeform 73"/>
            <p:cNvSpPr>
              <a:spLocks/>
            </p:cNvSpPr>
            <p:nvPr/>
          </p:nvSpPr>
          <p:spPr bwMode="auto">
            <a:xfrm>
              <a:off x="4352" y="3574"/>
              <a:ext cx="60" cy="85"/>
            </a:xfrm>
            <a:custGeom>
              <a:avLst/>
              <a:gdLst>
                <a:gd name="T0" fmla="*/ 297 w 297"/>
                <a:gd name="T1" fmla="*/ 364 h 421"/>
                <a:gd name="T2" fmla="*/ 115 w 297"/>
                <a:gd name="T3" fmla="*/ 0 h 421"/>
                <a:gd name="T4" fmla="*/ 0 w 297"/>
                <a:gd name="T5" fmla="*/ 57 h 421"/>
                <a:gd name="T6" fmla="*/ 183 w 297"/>
                <a:gd name="T7" fmla="*/ 421 h 421"/>
                <a:gd name="T8" fmla="*/ 297 w 297"/>
                <a:gd name="T9" fmla="*/ 364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7" h="421">
                  <a:moveTo>
                    <a:pt x="297" y="364"/>
                  </a:moveTo>
                  <a:lnTo>
                    <a:pt x="115" y="0"/>
                  </a:lnTo>
                  <a:lnTo>
                    <a:pt x="0" y="57"/>
                  </a:lnTo>
                  <a:lnTo>
                    <a:pt x="183" y="421"/>
                  </a:lnTo>
                  <a:lnTo>
                    <a:pt x="297" y="364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6" name="Freeform 74"/>
            <p:cNvSpPr>
              <a:spLocks/>
            </p:cNvSpPr>
            <p:nvPr/>
          </p:nvSpPr>
          <p:spPr bwMode="auto">
            <a:xfrm>
              <a:off x="4206" y="2341"/>
              <a:ext cx="79" cy="224"/>
            </a:xfrm>
            <a:custGeom>
              <a:avLst/>
              <a:gdLst>
                <a:gd name="T0" fmla="*/ 397 w 397"/>
                <a:gd name="T1" fmla="*/ 1091 h 1122"/>
                <a:gd name="T2" fmla="*/ 124 w 397"/>
                <a:gd name="T3" fmla="*/ 0 h 1122"/>
                <a:gd name="T4" fmla="*/ 0 w 397"/>
                <a:gd name="T5" fmla="*/ 31 h 1122"/>
                <a:gd name="T6" fmla="*/ 273 w 397"/>
                <a:gd name="T7" fmla="*/ 1122 h 1122"/>
                <a:gd name="T8" fmla="*/ 397 w 397"/>
                <a:gd name="T9" fmla="*/ 1091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1122">
                  <a:moveTo>
                    <a:pt x="397" y="1091"/>
                  </a:moveTo>
                  <a:lnTo>
                    <a:pt x="124" y="0"/>
                  </a:lnTo>
                  <a:lnTo>
                    <a:pt x="0" y="31"/>
                  </a:lnTo>
                  <a:lnTo>
                    <a:pt x="273" y="1122"/>
                  </a:lnTo>
                  <a:lnTo>
                    <a:pt x="397" y="1091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7" name="Freeform 75"/>
            <p:cNvSpPr>
              <a:spLocks/>
            </p:cNvSpPr>
            <p:nvPr/>
          </p:nvSpPr>
          <p:spPr bwMode="auto">
            <a:xfrm>
              <a:off x="4406" y="3285"/>
              <a:ext cx="79" cy="154"/>
            </a:xfrm>
            <a:custGeom>
              <a:avLst/>
              <a:gdLst>
                <a:gd name="T0" fmla="*/ 272 w 393"/>
                <a:gd name="T1" fmla="*/ 0 h 773"/>
                <a:gd name="T2" fmla="*/ 0 w 393"/>
                <a:gd name="T3" fmla="*/ 727 h 773"/>
                <a:gd name="T4" fmla="*/ 120 w 393"/>
                <a:gd name="T5" fmla="*/ 773 h 773"/>
                <a:gd name="T6" fmla="*/ 393 w 393"/>
                <a:gd name="T7" fmla="*/ 45 h 773"/>
                <a:gd name="T8" fmla="*/ 272 w 393"/>
                <a:gd name="T9" fmla="*/ 0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773">
                  <a:moveTo>
                    <a:pt x="272" y="0"/>
                  </a:moveTo>
                  <a:lnTo>
                    <a:pt x="0" y="727"/>
                  </a:lnTo>
                  <a:lnTo>
                    <a:pt x="120" y="773"/>
                  </a:lnTo>
                  <a:lnTo>
                    <a:pt x="393" y="4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8" name="Freeform 76"/>
            <p:cNvSpPr>
              <a:spLocks/>
            </p:cNvSpPr>
            <p:nvPr/>
          </p:nvSpPr>
          <p:spPr bwMode="auto">
            <a:xfrm>
              <a:off x="4552" y="3867"/>
              <a:ext cx="97" cy="226"/>
            </a:xfrm>
            <a:custGeom>
              <a:avLst/>
              <a:gdLst>
                <a:gd name="T0" fmla="*/ 363 w 485"/>
                <a:gd name="T1" fmla="*/ 0 h 1131"/>
                <a:gd name="T2" fmla="*/ 0 w 485"/>
                <a:gd name="T3" fmla="*/ 1091 h 1131"/>
                <a:gd name="T4" fmla="*/ 121 w 485"/>
                <a:gd name="T5" fmla="*/ 1131 h 1131"/>
                <a:gd name="T6" fmla="*/ 485 w 485"/>
                <a:gd name="T7" fmla="*/ 41 h 1131"/>
                <a:gd name="T8" fmla="*/ 363 w 485"/>
                <a:gd name="T9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5" h="1131">
                  <a:moveTo>
                    <a:pt x="363" y="0"/>
                  </a:moveTo>
                  <a:lnTo>
                    <a:pt x="0" y="1091"/>
                  </a:lnTo>
                  <a:lnTo>
                    <a:pt x="121" y="1131"/>
                  </a:lnTo>
                  <a:lnTo>
                    <a:pt x="485" y="41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099" name="Freeform 77"/>
            <p:cNvSpPr>
              <a:spLocks/>
            </p:cNvSpPr>
            <p:nvPr/>
          </p:nvSpPr>
          <p:spPr bwMode="auto">
            <a:xfrm>
              <a:off x="4608" y="3500"/>
              <a:ext cx="75" cy="88"/>
            </a:xfrm>
            <a:custGeom>
              <a:avLst/>
              <a:gdLst>
                <a:gd name="T0" fmla="*/ 375 w 375"/>
                <a:gd name="T1" fmla="*/ 363 h 441"/>
                <a:gd name="T2" fmla="*/ 103 w 375"/>
                <a:gd name="T3" fmla="*/ 0 h 441"/>
                <a:gd name="T4" fmla="*/ 0 w 375"/>
                <a:gd name="T5" fmla="*/ 76 h 441"/>
                <a:gd name="T6" fmla="*/ 273 w 375"/>
                <a:gd name="T7" fmla="*/ 441 h 441"/>
                <a:gd name="T8" fmla="*/ 375 w 375"/>
                <a:gd name="T9" fmla="*/ 363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5" h="441">
                  <a:moveTo>
                    <a:pt x="375" y="363"/>
                  </a:moveTo>
                  <a:lnTo>
                    <a:pt x="103" y="0"/>
                  </a:lnTo>
                  <a:lnTo>
                    <a:pt x="0" y="76"/>
                  </a:lnTo>
                  <a:lnTo>
                    <a:pt x="273" y="441"/>
                  </a:lnTo>
                  <a:lnTo>
                    <a:pt x="375" y="363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0" name="Freeform 78"/>
            <p:cNvSpPr>
              <a:spLocks/>
            </p:cNvSpPr>
            <p:nvPr/>
          </p:nvSpPr>
          <p:spPr bwMode="auto">
            <a:xfrm>
              <a:off x="4318" y="4007"/>
              <a:ext cx="91" cy="91"/>
            </a:xfrm>
            <a:custGeom>
              <a:avLst/>
              <a:gdLst>
                <a:gd name="T0" fmla="*/ 363 w 454"/>
                <a:gd name="T1" fmla="*/ 0 h 454"/>
                <a:gd name="T2" fmla="*/ 0 w 454"/>
                <a:gd name="T3" fmla="*/ 364 h 454"/>
                <a:gd name="T4" fmla="*/ 91 w 454"/>
                <a:gd name="T5" fmla="*/ 454 h 454"/>
                <a:gd name="T6" fmla="*/ 454 w 454"/>
                <a:gd name="T7" fmla="*/ 90 h 454"/>
                <a:gd name="T8" fmla="*/ 363 w 454"/>
                <a:gd name="T9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4" h="454">
                  <a:moveTo>
                    <a:pt x="363" y="0"/>
                  </a:moveTo>
                  <a:lnTo>
                    <a:pt x="0" y="364"/>
                  </a:lnTo>
                  <a:lnTo>
                    <a:pt x="91" y="454"/>
                  </a:lnTo>
                  <a:lnTo>
                    <a:pt x="454" y="90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rgbClr val="7062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1" name="Rectangle 79"/>
            <p:cNvSpPr>
              <a:spLocks noChangeArrowheads="1"/>
            </p:cNvSpPr>
            <p:nvPr/>
          </p:nvSpPr>
          <p:spPr bwMode="auto">
            <a:xfrm>
              <a:off x="4378" y="2362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2" name="Rectangle 80"/>
            <p:cNvSpPr>
              <a:spLocks noChangeArrowheads="1"/>
            </p:cNvSpPr>
            <p:nvPr/>
          </p:nvSpPr>
          <p:spPr bwMode="auto">
            <a:xfrm>
              <a:off x="4342" y="2617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3" name="Rectangle 81"/>
            <p:cNvSpPr>
              <a:spLocks noChangeArrowheads="1"/>
            </p:cNvSpPr>
            <p:nvPr/>
          </p:nvSpPr>
          <p:spPr bwMode="auto">
            <a:xfrm>
              <a:off x="4633" y="2653"/>
              <a:ext cx="25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4" name="Freeform 82"/>
            <p:cNvSpPr>
              <a:spLocks/>
            </p:cNvSpPr>
            <p:nvPr/>
          </p:nvSpPr>
          <p:spPr bwMode="auto">
            <a:xfrm>
              <a:off x="4452" y="2758"/>
              <a:ext cx="60" cy="117"/>
            </a:xfrm>
            <a:custGeom>
              <a:avLst/>
              <a:gdLst>
                <a:gd name="T0" fmla="*/ 304 w 304"/>
                <a:gd name="T1" fmla="*/ 546 h 585"/>
                <a:gd name="T2" fmla="*/ 121 w 304"/>
                <a:gd name="T3" fmla="*/ 0 h 585"/>
                <a:gd name="T4" fmla="*/ 0 w 304"/>
                <a:gd name="T5" fmla="*/ 39 h 585"/>
                <a:gd name="T6" fmla="*/ 182 w 304"/>
                <a:gd name="T7" fmla="*/ 585 h 585"/>
                <a:gd name="T8" fmla="*/ 304 w 304"/>
                <a:gd name="T9" fmla="*/ 546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585">
                  <a:moveTo>
                    <a:pt x="304" y="546"/>
                  </a:moveTo>
                  <a:lnTo>
                    <a:pt x="121" y="0"/>
                  </a:lnTo>
                  <a:lnTo>
                    <a:pt x="0" y="39"/>
                  </a:lnTo>
                  <a:lnTo>
                    <a:pt x="182" y="585"/>
                  </a:lnTo>
                  <a:lnTo>
                    <a:pt x="304" y="546"/>
                  </a:lnTo>
                  <a:close/>
                </a:path>
              </a:pathLst>
            </a:cu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5" name="Rectangle 83"/>
            <p:cNvSpPr>
              <a:spLocks noChangeArrowheads="1"/>
            </p:cNvSpPr>
            <p:nvPr/>
          </p:nvSpPr>
          <p:spPr bwMode="auto">
            <a:xfrm>
              <a:off x="4342" y="2835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6" name="Rectangle 84"/>
            <p:cNvSpPr>
              <a:spLocks noChangeArrowheads="1"/>
            </p:cNvSpPr>
            <p:nvPr/>
          </p:nvSpPr>
          <p:spPr bwMode="auto">
            <a:xfrm>
              <a:off x="4342" y="3126"/>
              <a:ext cx="26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7" name="Rectangle 85"/>
            <p:cNvSpPr>
              <a:spLocks noChangeArrowheads="1"/>
            </p:cNvSpPr>
            <p:nvPr/>
          </p:nvSpPr>
          <p:spPr bwMode="auto">
            <a:xfrm>
              <a:off x="4233" y="3053"/>
              <a:ext cx="25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8" name="Rectangle 86"/>
            <p:cNvSpPr>
              <a:spLocks noChangeArrowheads="1"/>
            </p:cNvSpPr>
            <p:nvPr/>
          </p:nvSpPr>
          <p:spPr bwMode="auto">
            <a:xfrm>
              <a:off x="4487" y="3344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09" name="Rectangle 87"/>
            <p:cNvSpPr>
              <a:spLocks noChangeArrowheads="1"/>
            </p:cNvSpPr>
            <p:nvPr/>
          </p:nvSpPr>
          <p:spPr bwMode="auto">
            <a:xfrm>
              <a:off x="4633" y="3308"/>
              <a:ext cx="25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10" name="Rectangle 88"/>
            <p:cNvSpPr>
              <a:spLocks noChangeArrowheads="1"/>
            </p:cNvSpPr>
            <p:nvPr/>
          </p:nvSpPr>
          <p:spPr bwMode="auto">
            <a:xfrm>
              <a:off x="4596" y="3053"/>
              <a:ext cx="26" cy="146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111" name="Rectangle 89"/>
            <p:cNvSpPr>
              <a:spLocks noChangeArrowheads="1"/>
            </p:cNvSpPr>
            <p:nvPr/>
          </p:nvSpPr>
          <p:spPr bwMode="auto">
            <a:xfrm>
              <a:off x="4233" y="3344"/>
              <a:ext cx="25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0" name="Rectangle 90"/>
            <p:cNvSpPr>
              <a:spLocks noChangeArrowheads="1"/>
            </p:cNvSpPr>
            <p:nvPr/>
          </p:nvSpPr>
          <p:spPr bwMode="auto">
            <a:xfrm>
              <a:off x="4596" y="2362"/>
              <a:ext cx="26" cy="146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1" name="Rectangle 91"/>
            <p:cNvSpPr>
              <a:spLocks noChangeArrowheads="1"/>
            </p:cNvSpPr>
            <p:nvPr/>
          </p:nvSpPr>
          <p:spPr bwMode="auto">
            <a:xfrm>
              <a:off x="4524" y="2653"/>
              <a:ext cx="25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2" name="Rectangle 92"/>
            <p:cNvSpPr>
              <a:spLocks noChangeArrowheads="1"/>
            </p:cNvSpPr>
            <p:nvPr/>
          </p:nvSpPr>
          <p:spPr bwMode="auto">
            <a:xfrm>
              <a:off x="4451" y="2944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3" name="Rectangle 93"/>
            <p:cNvSpPr>
              <a:spLocks noChangeArrowheads="1"/>
            </p:cNvSpPr>
            <p:nvPr/>
          </p:nvSpPr>
          <p:spPr bwMode="auto">
            <a:xfrm>
              <a:off x="4269" y="2399"/>
              <a:ext cx="26" cy="72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4" name="Rectangle 94"/>
            <p:cNvSpPr>
              <a:spLocks noChangeArrowheads="1"/>
            </p:cNvSpPr>
            <p:nvPr/>
          </p:nvSpPr>
          <p:spPr bwMode="auto">
            <a:xfrm>
              <a:off x="4524" y="3562"/>
              <a:ext cx="25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5" name="Rectangle 95"/>
            <p:cNvSpPr>
              <a:spLocks noChangeArrowheads="1"/>
            </p:cNvSpPr>
            <p:nvPr/>
          </p:nvSpPr>
          <p:spPr bwMode="auto">
            <a:xfrm>
              <a:off x="4415" y="3889"/>
              <a:ext cx="25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6" name="Rectangle 96"/>
            <p:cNvSpPr>
              <a:spLocks noChangeArrowheads="1"/>
            </p:cNvSpPr>
            <p:nvPr/>
          </p:nvSpPr>
          <p:spPr bwMode="auto">
            <a:xfrm>
              <a:off x="4378" y="3671"/>
              <a:ext cx="26" cy="146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7" name="Rectangle 97"/>
            <p:cNvSpPr>
              <a:spLocks noChangeArrowheads="1"/>
            </p:cNvSpPr>
            <p:nvPr/>
          </p:nvSpPr>
          <p:spPr bwMode="auto">
            <a:xfrm>
              <a:off x="4378" y="3417"/>
              <a:ext cx="26" cy="145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8" name="Rectangle 98"/>
            <p:cNvSpPr>
              <a:spLocks noChangeArrowheads="1"/>
            </p:cNvSpPr>
            <p:nvPr/>
          </p:nvSpPr>
          <p:spPr bwMode="auto">
            <a:xfrm>
              <a:off x="4524" y="3817"/>
              <a:ext cx="25" cy="181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09" name="Rectangle 99"/>
            <p:cNvSpPr>
              <a:spLocks noChangeArrowheads="1"/>
            </p:cNvSpPr>
            <p:nvPr/>
          </p:nvSpPr>
          <p:spPr bwMode="auto">
            <a:xfrm>
              <a:off x="4633" y="3998"/>
              <a:ext cx="25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0" name="Rectangle 100"/>
            <p:cNvSpPr>
              <a:spLocks noChangeArrowheads="1"/>
            </p:cNvSpPr>
            <p:nvPr/>
          </p:nvSpPr>
          <p:spPr bwMode="auto">
            <a:xfrm>
              <a:off x="4378" y="4071"/>
              <a:ext cx="26" cy="73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1" name="Rectangle 101"/>
            <p:cNvSpPr>
              <a:spLocks noChangeArrowheads="1"/>
            </p:cNvSpPr>
            <p:nvPr/>
          </p:nvSpPr>
          <p:spPr bwMode="auto">
            <a:xfrm>
              <a:off x="4269" y="3671"/>
              <a:ext cx="26" cy="10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2" name="Rectangle 102"/>
            <p:cNvSpPr>
              <a:spLocks noChangeArrowheads="1"/>
            </p:cNvSpPr>
            <p:nvPr/>
          </p:nvSpPr>
          <p:spPr bwMode="auto">
            <a:xfrm>
              <a:off x="1701" y="3215"/>
              <a:ext cx="177" cy="3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3" name="Freeform 103"/>
            <p:cNvSpPr>
              <a:spLocks/>
            </p:cNvSpPr>
            <p:nvPr/>
          </p:nvSpPr>
          <p:spPr bwMode="auto">
            <a:xfrm>
              <a:off x="1865" y="3117"/>
              <a:ext cx="236" cy="236"/>
            </a:xfrm>
            <a:custGeom>
              <a:avLst/>
              <a:gdLst>
                <a:gd name="T0" fmla="*/ 1177 w 1177"/>
                <a:gd name="T1" fmla="*/ 588 h 1177"/>
                <a:gd name="T2" fmla="*/ 0 w 1177"/>
                <a:gd name="T3" fmla="*/ 0 h 1177"/>
                <a:gd name="T4" fmla="*/ 0 w 1177"/>
                <a:gd name="T5" fmla="*/ 1177 h 1177"/>
                <a:gd name="T6" fmla="*/ 1177 w 1177"/>
                <a:gd name="T7" fmla="*/ 588 h 1177"/>
                <a:gd name="T8" fmla="*/ 1177 w 1177"/>
                <a:gd name="T9" fmla="*/ 588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7" h="1177">
                  <a:moveTo>
                    <a:pt x="1177" y="588"/>
                  </a:moveTo>
                  <a:lnTo>
                    <a:pt x="0" y="0"/>
                  </a:lnTo>
                  <a:lnTo>
                    <a:pt x="0" y="1177"/>
                  </a:lnTo>
                  <a:lnTo>
                    <a:pt x="1177" y="588"/>
                  </a:lnTo>
                  <a:lnTo>
                    <a:pt x="1177" y="588"/>
                  </a:lnTo>
                  <a:close/>
                </a:path>
              </a:pathLst>
            </a:cu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4" name="Rectangle 104"/>
            <p:cNvSpPr>
              <a:spLocks noChangeArrowheads="1"/>
            </p:cNvSpPr>
            <p:nvPr/>
          </p:nvSpPr>
          <p:spPr bwMode="auto">
            <a:xfrm>
              <a:off x="3378" y="3215"/>
              <a:ext cx="177" cy="39"/>
            </a:xfrm>
            <a:prstGeom prst="rect">
              <a:avLst/>
            </a:pr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5" name="Freeform 105"/>
            <p:cNvSpPr>
              <a:spLocks/>
            </p:cNvSpPr>
            <p:nvPr/>
          </p:nvSpPr>
          <p:spPr bwMode="auto">
            <a:xfrm>
              <a:off x="3155" y="3117"/>
              <a:ext cx="236" cy="236"/>
            </a:xfrm>
            <a:custGeom>
              <a:avLst/>
              <a:gdLst>
                <a:gd name="T0" fmla="*/ 0 w 1179"/>
                <a:gd name="T1" fmla="*/ 590 h 1179"/>
                <a:gd name="T2" fmla="*/ 1179 w 1179"/>
                <a:gd name="T3" fmla="*/ 1179 h 1179"/>
                <a:gd name="T4" fmla="*/ 1179 w 1179"/>
                <a:gd name="T5" fmla="*/ 0 h 1179"/>
                <a:gd name="T6" fmla="*/ 0 w 1179"/>
                <a:gd name="T7" fmla="*/ 590 h 1179"/>
                <a:gd name="T8" fmla="*/ 0 w 1179"/>
                <a:gd name="T9" fmla="*/ 590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9" h="1179">
                  <a:moveTo>
                    <a:pt x="0" y="590"/>
                  </a:moveTo>
                  <a:lnTo>
                    <a:pt x="1179" y="1179"/>
                  </a:lnTo>
                  <a:lnTo>
                    <a:pt x="1179" y="0"/>
                  </a:lnTo>
                  <a:lnTo>
                    <a:pt x="0" y="590"/>
                  </a:lnTo>
                  <a:lnTo>
                    <a:pt x="0" y="590"/>
                  </a:lnTo>
                  <a:close/>
                </a:path>
              </a:pathLst>
            </a:custGeom>
            <a:solidFill>
              <a:srgbClr val="DA25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17" name="Rectangle 107"/>
            <p:cNvSpPr>
              <a:spLocks noChangeArrowheads="1"/>
            </p:cNvSpPr>
            <p:nvPr/>
          </p:nvSpPr>
          <p:spPr bwMode="auto">
            <a:xfrm>
              <a:off x="5118" y="2487"/>
              <a:ext cx="43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Rotated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418" name="Rectangle 108"/>
            <p:cNvSpPr>
              <a:spLocks noChangeArrowheads="1"/>
            </p:cNvSpPr>
            <p:nvPr/>
          </p:nvSpPr>
          <p:spPr bwMode="auto">
            <a:xfrm>
              <a:off x="5118" y="2602"/>
              <a:ext cx="37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  flakes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419" name="Rectangle 109"/>
            <p:cNvSpPr>
              <a:spLocks noChangeArrowheads="1"/>
            </p:cNvSpPr>
            <p:nvPr/>
          </p:nvSpPr>
          <p:spPr bwMode="auto">
            <a:xfrm>
              <a:off x="5118" y="2924"/>
              <a:ext cx="279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New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420" name="Rectangle 110"/>
            <p:cNvSpPr>
              <a:spLocks noChangeArrowheads="1"/>
            </p:cNvSpPr>
            <p:nvPr/>
          </p:nvSpPr>
          <p:spPr bwMode="auto">
            <a:xfrm>
              <a:off x="5118" y="3038"/>
              <a:ext cx="370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  flakes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421" name="Rectangle 111"/>
            <p:cNvSpPr>
              <a:spLocks noChangeArrowheads="1"/>
            </p:cNvSpPr>
            <p:nvPr/>
          </p:nvSpPr>
          <p:spPr bwMode="auto">
            <a:xfrm>
              <a:off x="4966" y="3526"/>
              <a:ext cx="13" cy="64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2" name="Rectangle 112"/>
            <p:cNvSpPr>
              <a:spLocks noChangeArrowheads="1"/>
            </p:cNvSpPr>
            <p:nvPr/>
          </p:nvSpPr>
          <p:spPr bwMode="auto">
            <a:xfrm>
              <a:off x="4966" y="3628"/>
              <a:ext cx="13" cy="64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3" name="Rectangle 113"/>
            <p:cNvSpPr>
              <a:spLocks noChangeArrowheads="1"/>
            </p:cNvSpPr>
            <p:nvPr/>
          </p:nvSpPr>
          <p:spPr bwMode="auto">
            <a:xfrm>
              <a:off x="4966" y="3731"/>
              <a:ext cx="13" cy="64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4" name="Rectangle 114"/>
            <p:cNvSpPr>
              <a:spLocks noChangeArrowheads="1"/>
            </p:cNvSpPr>
            <p:nvPr/>
          </p:nvSpPr>
          <p:spPr bwMode="auto">
            <a:xfrm>
              <a:off x="4966" y="3833"/>
              <a:ext cx="13" cy="65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5" name="Rectangle 115"/>
            <p:cNvSpPr>
              <a:spLocks noChangeArrowheads="1"/>
            </p:cNvSpPr>
            <p:nvPr/>
          </p:nvSpPr>
          <p:spPr bwMode="auto">
            <a:xfrm>
              <a:off x="4966" y="3936"/>
              <a:ext cx="13" cy="64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6" name="Rectangle 116"/>
            <p:cNvSpPr>
              <a:spLocks noChangeArrowheads="1"/>
            </p:cNvSpPr>
            <p:nvPr/>
          </p:nvSpPr>
          <p:spPr bwMode="auto">
            <a:xfrm>
              <a:off x="4966" y="4039"/>
              <a:ext cx="13" cy="32"/>
            </a:xfrm>
            <a:prstGeom prst="rect">
              <a:avLst/>
            </a:prstGeom>
            <a:solidFill>
              <a:srgbClr val="1F1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427" name="Rectangle 117"/>
            <p:cNvSpPr>
              <a:spLocks noChangeArrowheads="1"/>
            </p:cNvSpPr>
            <p:nvPr/>
          </p:nvSpPr>
          <p:spPr bwMode="auto">
            <a:xfrm>
              <a:off x="5082" y="3651"/>
              <a:ext cx="478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Cleavage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428" name="Rectangle 118"/>
            <p:cNvSpPr>
              <a:spLocks noChangeArrowheads="1"/>
            </p:cNvSpPr>
            <p:nvPr/>
          </p:nvSpPr>
          <p:spPr bwMode="auto">
            <a:xfrm>
              <a:off x="5082" y="3765"/>
              <a:ext cx="432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>
                  <a:ln>
                    <a:noFill/>
                  </a:ln>
                  <a:solidFill>
                    <a:srgbClr val="1F1A17"/>
                  </a:solidFill>
                  <a:effectLst/>
                  <a:latin typeface="Arial" panose="020B0604020202020204" pitchFamily="34" charset="0"/>
                </a:rPr>
                <a:t>direction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25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6253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SCN0580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752" y="1052736"/>
            <a:ext cx="9090248" cy="580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3752" y="6309320"/>
            <a:ext cx="90364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Folded metamorphosed mudstone (slate), with axial-planar cleavage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087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4" descr="Garnet biotite schist 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1052736"/>
            <a:ext cx="9115025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24744"/>
            <a:ext cx="8856984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sz="2400" dirty="0">
                <a:solidFill>
                  <a:srgbClr val="FFFF00"/>
                </a:solidFill>
                <a:latin typeface="Arial" charset="0"/>
              </a:rPr>
              <a:t>Metamorphosed mudstone (</a:t>
            </a:r>
            <a:r>
              <a:rPr lang="en-GB" altLang="ja-JP" sz="2400" dirty="0">
                <a:solidFill>
                  <a:srgbClr val="FFFF00"/>
                </a:solidFill>
                <a:latin typeface="Arial" charset="0"/>
              </a:rPr>
              <a:t>garnet mica schist), with folded bedding and axial-planar </a:t>
            </a:r>
            <a:r>
              <a:rPr lang="en-GB" altLang="ja-JP" sz="2400" dirty="0" err="1">
                <a:solidFill>
                  <a:srgbClr val="FFFF00"/>
                </a:solidFill>
                <a:latin typeface="Arial" charset="0"/>
              </a:rPr>
              <a:t>schistosity</a:t>
            </a:r>
            <a:endParaRPr lang="en-GB" sz="2400" dirty="0">
              <a:solidFill>
                <a:srgbClr val="FFFF00"/>
              </a:solidFill>
              <a:latin typeface="Arial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30402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08720"/>
            <a:ext cx="5351512" cy="526348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buNone/>
            </a:pPr>
            <a:r>
              <a:rPr lang="en-GB" sz="2000" b="1" dirty="0">
                <a:latin typeface="Arial" charset="0"/>
              </a:rPr>
              <a:t>Another type of tectonic fabric is a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</a:rPr>
              <a:t>lineation</a:t>
            </a:r>
            <a:r>
              <a:rPr lang="en-GB" sz="2000" b="1" dirty="0">
                <a:solidFill>
                  <a:srgbClr val="CC0000"/>
                </a:solidFill>
                <a:latin typeface="Arial" charset="0"/>
              </a:rPr>
              <a:t> </a:t>
            </a:r>
            <a:r>
              <a:rPr lang="en-GB" sz="2000" b="1" dirty="0">
                <a:latin typeface="Arial" charset="0"/>
              </a:rPr>
              <a:t>(</a:t>
            </a:r>
            <a:r>
              <a:rPr lang="en-GB" sz="2000" b="1" u="sng" dirty="0">
                <a:latin typeface="Arial" charset="0"/>
              </a:rPr>
              <a:t>linear</a:t>
            </a:r>
            <a:r>
              <a:rPr lang="en-GB" sz="2000" b="1" dirty="0">
                <a:latin typeface="Arial" charset="0"/>
              </a:rPr>
              <a:t> fabric of metamorphic origin).</a:t>
            </a:r>
          </a:p>
          <a:p>
            <a:pPr eaLnBrk="1" hangingPunct="1">
              <a:buFontTx/>
              <a:buNone/>
            </a:pPr>
            <a:endParaRPr lang="en-GB" sz="2000" b="1" dirty="0">
              <a:latin typeface="Arial" charset="0"/>
            </a:endParaRPr>
          </a:p>
          <a:p>
            <a:pPr marL="0" indent="0">
              <a:buNone/>
            </a:pPr>
            <a:r>
              <a:rPr lang="en-GB" sz="2000" b="1" dirty="0" err="1">
                <a:latin typeface="Arial" charset="0"/>
              </a:rPr>
              <a:t>Lineations</a:t>
            </a:r>
            <a:r>
              <a:rPr lang="en-GB" sz="2000" b="1" dirty="0">
                <a:latin typeface="Arial" charset="0"/>
              </a:rPr>
              <a:t> often record </a:t>
            </a:r>
            <a:r>
              <a:rPr lang="en-GB" sz="2000" b="1" i="1" u="sng" dirty="0">
                <a:latin typeface="Arial" charset="0"/>
              </a:rPr>
              <a:t>stretching</a:t>
            </a:r>
            <a:r>
              <a:rPr lang="en-GB" sz="2000" b="1" dirty="0">
                <a:latin typeface="Arial" charset="0"/>
              </a:rPr>
              <a:t> strains </a:t>
            </a:r>
          </a:p>
          <a:p>
            <a:pPr eaLnBrk="1" hangingPunct="1">
              <a:buFontTx/>
              <a:buNone/>
            </a:pPr>
            <a:r>
              <a:rPr lang="en-GB" sz="2000" b="1" dirty="0">
                <a:latin typeface="Arial" charset="0"/>
              </a:rPr>
              <a:t>		(where  </a:t>
            </a:r>
            <a:r>
              <a:rPr lang="en-GB" sz="2000" b="1" dirty="0">
                <a:latin typeface="Symbol" charset="0"/>
              </a:rPr>
              <a:t>s</a:t>
            </a:r>
            <a:r>
              <a:rPr lang="en-GB" sz="2000" b="1" dirty="0">
                <a:latin typeface="Arial" charset="0"/>
              </a:rPr>
              <a:t>1 ~ </a:t>
            </a:r>
            <a:r>
              <a:rPr lang="en-GB" sz="2000" b="1" dirty="0">
                <a:latin typeface="Symbol" charset="0"/>
              </a:rPr>
              <a:t>s2</a:t>
            </a:r>
            <a:r>
              <a:rPr lang="en-GB" sz="2000" b="1" dirty="0">
                <a:latin typeface="Arial" charset="0"/>
              </a:rPr>
              <a:t> &gt;&gt; </a:t>
            </a:r>
            <a:r>
              <a:rPr lang="en-GB" sz="2000" b="1" dirty="0">
                <a:latin typeface="Symbol" charset="0"/>
              </a:rPr>
              <a:t>s3).</a:t>
            </a:r>
            <a:r>
              <a:rPr lang="en-GB" sz="2000" b="1" dirty="0">
                <a:latin typeface="Arial" charset="0"/>
              </a:rPr>
              <a:t> </a:t>
            </a:r>
          </a:p>
        </p:txBody>
      </p:sp>
      <p:pic>
        <p:nvPicPr>
          <p:cNvPr id="3" name="Picture 4" descr="Copy of line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2475" y="1143000"/>
            <a:ext cx="2992438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B lineation ppl x5.ti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307" y="3540460"/>
            <a:ext cx="3647325" cy="2736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R9897 amp lin  ppl x5.tif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74096" y="4437112"/>
            <a:ext cx="3132197" cy="234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</a:t>
            </a:r>
            <a:r>
              <a:rPr kumimoji="0" lang="en-GB" sz="3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metamorphis</a:t>
            </a: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m: stress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102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B9B6787-3719-4311-BBBB-9B31700462B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Summary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504" y="1340768"/>
            <a:ext cx="8736013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Two main agents:  	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1.	Temperature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“Original heat” (the Geothermal Gradient)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					</a:t>
            </a:r>
            <a:r>
              <a:rPr lang="en-GB" sz="2000" dirty="0">
                <a:latin typeface="Arial" charset="0"/>
                <a:sym typeface="Wingdings" panose="05000000000000000000" pitchFamily="2" charset="2"/>
              </a:rPr>
              <a:t>Varies strongly according to tectonic setting</a:t>
            </a:r>
            <a:endParaRPr lang="en-GB" sz="2000" b="1" dirty="0">
              <a:latin typeface="Arial" charset="0"/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				 “Local heat” (igneous intrusions)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					</a:t>
            </a:r>
            <a:r>
              <a:rPr lang="en-GB" sz="2000" dirty="0">
                <a:latin typeface="Arial" charset="0"/>
                <a:sym typeface="Wingdings" panose="05000000000000000000" pitchFamily="2" charset="2"/>
              </a:rPr>
              <a:t>Can locally cause metamorphism</a:t>
            </a:r>
            <a:endParaRPr lang="en-GB" sz="2000" b="1" dirty="0">
              <a:latin typeface="Arial" charset="0"/>
            </a:endParaRP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2.	Stress	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</a:t>
            </a:r>
            <a:r>
              <a:rPr lang="en-GB" sz="2000" b="1" dirty="0">
                <a:latin typeface="Arial" charset="0"/>
              </a:rPr>
              <a:t>Load Pressure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				</a:t>
            </a:r>
            <a:r>
              <a:rPr lang="en-GB" sz="2000" dirty="0">
                <a:latin typeface="Arial" charset="0"/>
              </a:rPr>
              <a:t>Increases with depth, but doesn’t really 					vary with tectonic setting</a:t>
            </a:r>
            <a:endParaRPr lang="en-GB" sz="2000" b="1" dirty="0">
              <a:latin typeface="Arial" charset="0"/>
            </a:endParaRP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			</a:t>
            </a:r>
            <a:r>
              <a:rPr lang="en-GB" sz="2000" b="1" dirty="0">
                <a:latin typeface="Arial" charset="0"/>
                <a:sym typeface="Wingdings" panose="05000000000000000000" pitchFamily="2" charset="2"/>
              </a:rPr>
              <a:t> </a:t>
            </a:r>
            <a:r>
              <a:rPr lang="en-GB" sz="2000" b="1" dirty="0">
                <a:latin typeface="Arial" charset="0"/>
              </a:rPr>
              <a:t>Deviatoric Stress</a:t>
            </a:r>
          </a:p>
          <a:p>
            <a:pPr>
              <a:buFontTx/>
              <a:buNone/>
            </a:pPr>
            <a:r>
              <a:rPr lang="en-GB" sz="2000" b="1" dirty="0">
                <a:latin typeface="Arial" charset="0"/>
              </a:rPr>
              <a:t>					Doesn’t cause metamorphism, </a:t>
            </a:r>
            <a:r>
              <a:rPr lang="en-GB" sz="2000" dirty="0">
                <a:latin typeface="Arial" charset="0"/>
              </a:rPr>
              <a:t>but can 				influence the texture of the metamorphic 				rock.</a:t>
            </a:r>
          </a:p>
        </p:txBody>
      </p:sp>
    </p:spTree>
    <p:extLst>
      <p:ext uri="{BB962C8B-B14F-4D97-AF65-F5344CB8AC3E}">
        <p14:creationId xmlns:p14="http://schemas.microsoft.com/office/powerpoint/2010/main" val="1081696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Metamorphic </a:t>
            </a:r>
            <a:r>
              <a:rPr lang="en-GB" sz="4000" b="1" dirty="0" err="1">
                <a:latin typeface="Bookman Old Style" pitchFamily="18" charset="0"/>
                <a:ea typeface="Adobe Fangsong Std R" pitchFamily="18" charset="-128"/>
                <a:cs typeface="+mj-cs"/>
              </a:rPr>
              <a:t>facies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51520" y="1196752"/>
            <a:ext cx="8784976" cy="547091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itchFamily="34" charset="0"/>
                <a:cs typeface="Arial" pitchFamily="34" charset="0"/>
              </a:rPr>
              <a:t>We have seen that metamorphism is caused by</a:t>
            </a:r>
          </a:p>
          <a:p>
            <a:pPr algn="l"/>
            <a:r>
              <a:rPr lang="en-GB" sz="19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</a:t>
            </a:r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increased T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Increased 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That results in</a:t>
            </a:r>
          </a:p>
          <a:p>
            <a:pPr algn="l"/>
            <a:r>
              <a:rPr lang="en-GB" sz="19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</a:t>
            </a:r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formation of new minerals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increase in crystal size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reorientation and segregation of crystals if there are 	  	 	    significant </a:t>
            </a:r>
            <a:r>
              <a:rPr lang="en-GB" sz="1900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deviatoric</a:t>
            </a:r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stresses.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We have also seen that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 T increases with depth (geothermal gradient) differently in    	     	     different places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 but P increases more-or-less linearly with depth.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Therefore we have a single variable (T).</a:t>
            </a:r>
          </a:p>
          <a:p>
            <a:pPr algn="l"/>
            <a:r>
              <a:rPr lang="en-GB" sz="19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	 We can work out where a metamorphic rock formed based on its 	     	     composition and texture.</a:t>
            </a:r>
          </a:p>
        </p:txBody>
      </p:sp>
    </p:spTree>
    <p:extLst>
      <p:ext uri="{BB962C8B-B14F-4D97-AF65-F5344CB8AC3E}">
        <p14:creationId xmlns:p14="http://schemas.microsoft.com/office/powerpoint/2010/main" val="4266749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07504" y="1124744"/>
            <a:ext cx="8784976" cy="100811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Metamorphic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facies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are sets of mineral assemblages that form under distinct pressure and temperature fields. </a:t>
            </a:r>
          </a:p>
        </p:txBody>
      </p:sp>
      <p:pic>
        <p:nvPicPr>
          <p:cNvPr id="4" name="Picture 2" descr="Image result for metamorphic index minerals">
            <a:extLst>
              <a:ext uri="{FF2B5EF4-FFF2-40B4-BE49-F238E27FC236}">
                <a16:creationId xmlns:a16="http://schemas.microsoft.com/office/drawing/2014/main" id="{0681E324-DB4B-4AE3-B8CF-3D21CED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3888" y="2053128"/>
            <a:ext cx="5474100" cy="441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Metamorphic </a:t>
            </a:r>
            <a:r>
              <a:rPr lang="en-GB" sz="4000" b="1" dirty="0" err="1">
                <a:latin typeface="Bookman Old Style" pitchFamily="18" charset="0"/>
                <a:ea typeface="Adobe Fangsong Std R" pitchFamily="18" charset="-128"/>
                <a:cs typeface="+mj-cs"/>
              </a:rPr>
              <a:t>facies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504" y="1916832"/>
            <a:ext cx="3456384" cy="44831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Broadly, we can divide metamorphism into three categories</a:t>
            </a:r>
          </a:p>
          <a:p>
            <a:pPr algn="l"/>
            <a:endParaRPr lang="en-GB" sz="2000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Regional metamorphism, where T and P increase.</a:t>
            </a:r>
          </a:p>
          <a:p>
            <a:pPr algn="l"/>
            <a:endParaRPr lang="en-GB" sz="2000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Contact metamorphism where T increases and P does not.</a:t>
            </a:r>
          </a:p>
          <a:p>
            <a:pPr algn="l"/>
            <a:endParaRPr lang="en-GB" sz="2000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Dynamic metamorphism where P increases but T does not.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137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07504" y="1166271"/>
            <a:ext cx="4896544" cy="30875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Most common way of metamorphosing rock is to thicken the crust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Usually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via subduction of one crustal slab beneath another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Ocean-continent or continent-continent collision.</a:t>
            </a: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Termed “Regional metamorphism”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Increase in T and P (see a, b, c, d, e)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 descr="Image result for metamorphic index minerals">
            <a:extLst>
              <a:ext uri="{FF2B5EF4-FFF2-40B4-BE49-F238E27FC236}">
                <a16:creationId xmlns:a16="http://schemas.microsoft.com/office/drawing/2014/main" id="{0681E324-DB4B-4AE3-B8CF-3D21CED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0681" y="1124744"/>
            <a:ext cx="3772894" cy="304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4253771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519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79512" y="1160452"/>
            <a:ext cx="4896544" cy="29166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Distinct mineral assemblages with increasing T and P</a:t>
            </a: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Grainsize increases with increasing T and P.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</a:rPr>
              <a:t>Regional metamorphism is almost always associated with contraction (</a:t>
            </a:r>
            <a:r>
              <a:rPr lang="en-GB" sz="2000" dirty="0" err="1">
                <a:latin typeface="Arial" pitchFamily="34" charset="0"/>
                <a:cs typeface="Arial" pitchFamily="34" charset="0"/>
              </a:rPr>
              <a:t>deviatoric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stresses), so…</a:t>
            </a: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Development of cleavage to </a:t>
            </a:r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schistosity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with increasing T and P.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 descr="Image result for metamorphic index minerals">
            <a:extLst>
              <a:ext uri="{FF2B5EF4-FFF2-40B4-BE49-F238E27FC236}">
                <a16:creationId xmlns:a16="http://schemas.microsoft.com/office/drawing/2014/main" id="{0681E324-DB4B-4AE3-B8CF-3D21CED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0681" y="1124744"/>
            <a:ext cx="3772894" cy="304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4253771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47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1276" name="Picture 12" descr="Image result for shal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3" y="1161633"/>
            <a:ext cx="4038983" cy="26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Image result for schist field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00297" y="4111561"/>
            <a:ext cx="4020175" cy="262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0" name="Picture 16" descr="Image result for gneiss fiel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3" y="4112747"/>
            <a:ext cx="4051596" cy="262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Image result for bedding cleavage intersection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67609" y="1161632"/>
            <a:ext cx="4052863" cy="26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179512" y="3356992"/>
            <a:ext cx="3240360" cy="360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Protolith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(e.g. mudstone)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806412" y="1223231"/>
            <a:ext cx="864096" cy="3064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Slate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830214" y="4149079"/>
            <a:ext cx="1902026" cy="35047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(Green)schist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51520" y="6309320"/>
            <a:ext cx="1080120" cy="3064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Gneiss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4159099" y="2294708"/>
            <a:ext cx="504056" cy="3600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</a:t>
            </a:r>
            <a:endParaRPr lang="en-GB" sz="3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 rot="5400000">
            <a:off x="6542012" y="3743775"/>
            <a:ext cx="504056" cy="3600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</a:t>
            </a:r>
            <a:endParaRPr lang="en-GB" sz="3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 rot="10800000">
            <a:off x="4227670" y="5066424"/>
            <a:ext cx="504056" cy="3600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</a:t>
            </a:r>
            <a:endParaRPr lang="en-GB" sz="3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2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F6FF6E-DA46-4173-BF6E-C994FF1B2310}"/>
              </a:ext>
            </a:extLst>
          </p:cNvPr>
          <p:cNvSpPr txBox="1">
            <a:spLocks/>
          </p:cNvSpPr>
          <p:nvPr/>
        </p:nvSpPr>
        <p:spPr>
          <a:xfrm>
            <a:off x="126896" y="1225496"/>
            <a:ext cx="8496944" cy="13839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Let’s look at the concept of metamorphic grade…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As the protolith (parent rock) is buried, minerals transform from one into the other with increasing rank.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Form three assemblages (for convenience)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</p:txBody>
      </p:sp>
      <p:pic>
        <p:nvPicPr>
          <p:cNvPr id="6146" name="Picture 2" descr="Image result for metamorphic zones inex minerals">
            <a:extLst>
              <a:ext uri="{FF2B5EF4-FFF2-40B4-BE49-F238E27FC236}">
                <a16:creationId xmlns:a16="http://schemas.microsoft.com/office/drawing/2014/main" id="{E3EF583B-4D03-4D81-BB61-F48623DCA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38568" y="2894275"/>
            <a:ext cx="7056760" cy="372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 result for shale">
            <a:extLst>
              <a:ext uri="{FF2B5EF4-FFF2-40B4-BE49-F238E27FC236}">
                <a16:creationId xmlns:a16="http://schemas.microsoft.com/office/drawing/2014/main" id="{8007C047-0715-460F-9924-1CB1D3DD8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896" y="3369699"/>
            <a:ext cx="1798000" cy="11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basalt">
            <a:extLst>
              <a:ext uri="{FF2B5EF4-FFF2-40B4-BE49-F238E27FC236}">
                <a16:creationId xmlns:a16="http://schemas.microsoft.com/office/drawing/2014/main" id="{F5EBA6CA-F3E2-4E4E-A067-12243F7E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8672" y="4675443"/>
            <a:ext cx="1776224" cy="118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A3CF83-37FD-483D-96EE-1B4C1ABDC4E1}"/>
              </a:ext>
            </a:extLst>
          </p:cNvPr>
          <p:cNvSpPr txBox="1">
            <a:spLocks/>
          </p:cNvSpPr>
          <p:nvPr/>
        </p:nvSpPr>
        <p:spPr>
          <a:xfrm>
            <a:off x="179512" y="3429000"/>
            <a:ext cx="936104" cy="21602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2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Mudstone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BE53CF-1944-4A53-A846-361E6C47F6FC}"/>
              </a:ext>
            </a:extLst>
          </p:cNvPr>
          <p:cNvSpPr txBox="1">
            <a:spLocks/>
          </p:cNvSpPr>
          <p:nvPr/>
        </p:nvSpPr>
        <p:spPr>
          <a:xfrm>
            <a:off x="179512" y="5589240"/>
            <a:ext cx="648072" cy="21602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2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Basalt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C6A1B-65B2-4EF7-A067-C65C44BF9417}"/>
              </a:ext>
            </a:extLst>
          </p:cNvPr>
          <p:cNvSpPr txBox="1"/>
          <p:nvPr/>
        </p:nvSpPr>
        <p:spPr>
          <a:xfrm>
            <a:off x="6172630" y="2167666"/>
            <a:ext cx="2940474" cy="726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b="1" dirty="0">
                <a:solidFill>
                  <a:srgbClr val="FF0000"/>
                </a:solidFill>
                <a:latin typeface="Arial" charset="0"/>
              </a:rPr>
              <a:t>Learn the concept, not the minerals (for now)</a:t>
            </a:r>
            <a:endParaRPr lang="en-GB" baseline="-25000" dirty="0">
              <a:solidFill>
                <a:srgbClr val="FF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D4B44-4B22-4C9B-B7BD-387190CE3046}"/>
              </a:ext>
            </a:extLst>
          </p:cNvPr>
          <p:cNvGrpSpPr/>
          <p:nvPr/>
        </p:nvGrpSpPr>
        <p:grpSpPr>
          <a:xfrm>
            <a:off x="1955736" y="3140968"/>
            <a:ext cx="5790248" cy="2592288"/>
            <a:chOff x="1955736" y="3140968"/>
            <a:chExt cx="5790248" cy="25922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F8C1B4-ABA7-4187-9A12-B213B62C1004}"/>
                </a:ext>
              </a:extLst>
            </p:cNvPr>
            <p:cNvSpPr/>
            <p:nvPr/>
          </p:nvSpPr>
          <p:spPr>
            <a:xfrm>
              <a:off x="1955736" y="3140968"/>
              <a:ext cx="1896184" cy="18002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A4ACD90-ACD7-4870-9D60-6ECFC1259985}"/>
                </a:ext>
              </a:extLst>
            </p:cNvPr>
            <p:cNvSpPr/>
            <p:nvPr/>
          </p:nvSpPr>
          <p:spPr>
            <a:xfrm>
              <a:off x="3894184" y="3142496"/>
              <a:ext cx="2000200" cy="2446744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6D4C58-3134-459E-87B9-FEB35CC099FC}"/>
                </a:ext>
              </a:extLst>
            </p:cNvPr>
            <p:cNvSpPr/>
            <p:nvPr/>
          </p:nvSpPr>
          <p:spPr>
            <a:xfrm>
              <a:off x="5984341" y="3142496"/>
              <a:ext cx="1761643" cy="2590760"/>
            </a:xfrm>
            <a:prstGeom prst="rect">
              <a:avLst/>
            </a:prstGeom>
            <a:noFill/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7811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223"/>
          <p:cNvGrpSpPr/>
          <p:nvPr/>
        </p:nvGrpSpPr>
        <p:grpSpPr>
          <a:xfrm>
            <a:off x="1115616" y="1052736"/>
            <a:ext cx="6768752" cy="4786988"/>
            <a:chOff x="337343" y="1306308"/>
            <a:chExt cx="7979073" cy="5551700"/>
          </a:xfrm>
        </p:grpSpPr>
        <p:grpSp>
          <p:nvGrpSpPr>
            <p:cNvPr id="2" name="Group 4">
              <a:extLst>
                <a:ext uri="{FF2B5EF4-FFF2-40B4-BE49-F238E27FC236}">
                  <a16:creationId xmlns:a16="http://schemas.microsoft.com/office/drawing/2014/main" id="{F50A7899-0A2A-4B63-95C6-E7A46D545E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343" y="1306308"/>
              <a:ext cx="7979073" cy="5551700"/>
              <a:chOff x="226" y="307"/>
              <a:chExt cx="5335" cy="3712"/>
            </a:xfrm>
          </p:grpSpPr>
          <p:sp>
            <p:nvSpPr>
              <p:cNvPr id="3" name="AutoShape 3">
                <a:extLst>
                  <a:ext uri="{FF2B5EF4-FFF2-40B4-BE49-F238E27FC236}">
                    <a16:creationId xmlns:a16="http://schemas.microsoft.com/office/drawing/2014/main" id="{F4643FF1-C524-4D98-9107-4C5E684AC89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92" y="343"/>
                <a:ext cx="5175" cy="3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4" name="Group 205">
                <a:extLst>
                  <a:ext uri="{FF2B5EF4-FFF2-40B4-BE49-F238E27FC236}">
                    <a16:creationId xmlns:a16="http://schemas.microsoft.com/office/drawing/2014/main" id="{7B64A6EF-04B4-464B-8D74-0A5757145C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" y="307"/>
                <a:ext cx="5335" cy="3712"/>
                <a:chOff x="226" y="307"/>
                <a:chExt cx="5335" cy="3712"/>
              </a:xfrm>
            </p:grpSpPr>
            <p:sp>
              <p:nvSpPr>
                <p:cNvPr id="22542" name="Rectangle 5">
                  <a:extLst>
                    <a:ext uri="{FF2B5EF4-FFF2-40B4-BE49-F238E27FC236}">
                      <a16:creationId xmlns:a16="http://schemas.microsoft.com/office/drawing/2014/main" id="{7EEFE25C-017F-4E50-9E1B-56173BEC27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" y="409"/>
                  <a:ext cx="4326" cy="2880"/>
                </a:xfrm>
                <a:prstGeom prst="rect">
                  <a:avLst/>
                </a:prstGeom>
                <a:solidFill>
                  <a:srgbClr val="FBFA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43" name="Rectangle 6">
                  <a:extLst>
                    <a:ext uri="{FF2B5EF4-FFF2-40B4-BE49-F238E27FC236}">
                      <a16:creationId xmlns:a16="http://schemas.microsoft.com/office/drawing/2014/main" id="{A8E327D8-1D44-44C4-9312-C2F12CABB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6" y="3763"/>
                  <a:ext cx="170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Temperature  (°C)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4" name="Rectangle 7">
                  <a:extLst>
                    <a:ext uri="{FF2B5EF4-FFF2-40B4-BE49-F238E27FC236}">
                      <a16:creationId xmlns:a16="http://schemas.microsoft.com/office/drawing/2014/main" id="{D37CA4E8-860A-4A3F-BA14-635714D2E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4" y="2272"/>
                  <a:ext cx="220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P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5" name="Rectangle 8">
                  <a:extLst>
                    <a:ext uri="{FF2B5EF4-FFF2-40B4-BE49-F238E27FC236}">
                      <a16:creationId xmlns:a16="http://schemas.microsoft.com/office/drawing/2014/main" id="{A758C81B-D0F5-436F-9919-2E898C913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2170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6" name="Rectangle 9">
                  <a:extLst>
                    <a:ext uri="{FF2B5EF4-FFF2-40B4-BE49-F238E27FC236}">
                      <a16:creationId xmlns:a16="http://schemas.microsoft.com/office/drawing/2014/main" id="{156F82A1-BF19-4DE4-8F7F-E3902A80D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208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7" name="Rectangle 10">
                  <a:extLst>
                    <a:ext uri="{FF2B5EF4-FFF2-40B4-BE49-F238E27FC236}">
                      <a16:creationId xmlns:a16="http://schemas.microsoft.com/office/drawing/2014/main" id="{B7EB8497-5F53-4220-934E-69163B851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973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8" name="Rectangle 11">
                  <a:extLst>
                    <a:ext uri="{FF2B5EF4-FFF2-40B4-BE49-F238E27FC236}">
                      <a16:creationId xmlns:a16="http://schemas.microsoft.com/office/drawing/2014/main" id="{4D523D4B-84F0-41F9-8ACE-9D2F062F0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8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9" name="Rectangle 12">
                  <a:extLst>
                    <a:ext uri="{FF2B5EF4-FFF2-40B4-BE49-F238E27FC236}">
                      <a16:creationId xmlns:a16="http://schemas.microsoft.com/office/drawing/2014/main" id="{365D24DB-0F40-440B-B0D9-644F762AE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754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u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0" name="Rectangle 13">
                  <a:extLst>
                    <a:ext uri="{FF2B5EF4-FFF2-40B4-BE49-F238E27FC236}">
                      <a16:creationId xmlns:a16="http://schemas.microsoft.com/office/drawing/2014/main" id="{C15FC2AA-15ED-4FBD-AAA7-2FB270552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1658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1" name="Rectangle 14">
                  <a:extLst>
                    <a:ext uri="{FF2B5EF4-FFF2-40B4-BE49-F238E27FC236}">
                      <a16:creationId xmlns:a16="http://schemas.microsoft.com/office/drawing/2014/main" id="{9C0E622B-E6C2-4D7D-BACC-A920BDB72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567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2" name="Rectangle 15">
                  <a:extLst>
                    <a:ext uri="{FF2B5EF4-FFF2-40B4-BE49-F238E27FC236}">
                      <a16:creationId xmlns:a16="http://schemas.microsoft.com/office/drawing/2014/main" id="{B244C72B-2C4C-4C51-BA28-95403C46F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88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3" name="Rectangle 16">
                  <a:extLst>
                    <a:ext uri="{FF2B5EF4-FFF2-40B4-BE49-F238E27FC236}">
                      <a16:creationId xmlns:a16="http://schemas.microsoft.com/office/drawing/2014/main" id="{5A82527F-8BC4-4E8E-82B6-41E470490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34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4" name="Rectangle 17">
                  <a:extLst>
                    <a:ext uri="{FF2B5EF4-FFF2-40B4-BE49-F238E27FC236}">
                      <a16:creationId xmlns:a16="http://schemas.microsoft.com/office/drawing/2014/main" id="{44B9A364-381C-4870-BEE6-A7C1B8CE5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1376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(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5" name="Rectangle 18">
                  <a:extLst>
                    <a:ext uri="{FF2B5EF4-FFF2-40B4-BE49-F238E27FC236}">
                      <a16:creationId xmlns:a16="http://schemas.microsoft.com/office/drawing/2014/main" id="{7AA07DBC-16FB-49FD-B5F0-AF53BA343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29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6" name="Rectangle 19">
                  <a:extLst>
                    <a:ext uri="{FF2B5EF4-FFF2-40B4-BE49-F238E27FC236}">
                      <a16:creationId xmlns:a16="http://schemas.microsoft.com/office/drawing/2014/main" id="{AF7CBE01-1DED-48A1-A9AA-4AE5604B1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178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7" name="Rectangle 20">
                  <a:extLst>
                    <a:ext uri="{FF2B5EF4-FFF2-40B4-BE49-F238E27FC236}">
                      <a16:creationId xmlns:a16="http://schemas.microsoft.com/office/drawing/2014/main" id="{EF80A776-DB3F-4927-A3DE-F72017CCE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0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8" name="Rectangle 21">
                  <a:extLst>
                    <a:ext uri="{FF2B5EF4-FFF2-40B4-BE49-F238E27FC236}">
                      <a16:creationId xmlns:a16="http://schemas.microsoft.com/office/drawing/2014/main" id="{ECCBFB03-1183-421A-989E-5BF2F2F64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975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9" name="Rectangle 22">
                  <a:extLst>
                    <a:ext uri="{FF2B5EF4-FFF2-40B4-BE49-F238E27FC236}">
                      <a16:creationId xmlns:a16="http://schemas.microsoft.com/office/drawing/2014/main" id="{B0FBC8C9-FEE8-4A40-95FC-95BC24933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907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60" name="Rectangle 23">
                  <a:extLst>
                    <a:ext uri="{FF2B5EF4-FFF2-40B4-BE49-F238E27FC236}">
                      <a16:creationId xmlns:a16="http://schemas.microsoft.com/office/drawing/2014/main" id="{19B109F1-029D-4DF2-9EBE-8650C0B00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3" y="3283"/>
                  <a:ext cx="6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1" name="Freeform 24">
                  <a:extLst>
                    <a:ext uri="{FF2B5EF4-FFF2-40B4-BE49-F238E27FC236}">
                      <a16:creationId xmlns:a16="http://schemas.microsoft.com/office/drawing/2014/main" id="{CF42FA94-1B86-4F1C-A32E-712E56224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283"/>
                  <a:ext cx="4325" cy="12"/>
                </a:xfrm>
                <a:custGeom>
                  <a:avLst/>
                  <a:gdLst>
                    <a:gd name="T0" fmla="*/ 0 w 17299"/>
                    <a:gd name="T1" fmla="*/ 24 h 48"/>
                    <a:gd name="T2" fmla="*/ 23 w 17299"/>
                    <a:gd name="T3" fmla="*/ 48 h 48"/>
                    <a:gd name="T4" fmla="*/ 17299 w 17299"/>
                    <a:gd name="T5" fmla="*/ 48 h 48"/>
                    <a:gd name="T6" fmla="*/ 17299 w 17299"/>
                    <a:gd name="T7" fmla="*/ 0 h 48"/>
                    <a:gd name="T8" fmla="*/ 23 w 17299"/>
                    <a:gd name="T9" fmla="*/ 0 h 48"/>
                    <a:gd name="T10" fmla="*/ 0 w 17299"/>
                    <a:gd name="T11" fmla="*/ 24 h 48"/>
                    <a:gd name="T12" fmla="*/ 0 w 17299"/>
                    <a:gd name="T13" fmla="*/ 24 h 48"/>
                    <a:gd name="T14" fmla="*/ 0 w 17299"/>
                    <a:gd name="T15" fmla="*/ 48 h 48"/>
                    <a:gd name="T16" fmla="*/ 23 w 17299"/>
                    <a:gd name="T17" fmla="*/ 48 h 48"/>
                    <a:gd name="T18" fmla="*/ 0 w 17299"/>
                    <a:gd name="T19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299" h="48">
                      <a:moveTo>
                        <a:pt x="0" y="24"/>
                      </a:moveTo>
                      <a:lnTo>
                        <a:pt x="23" y="48"/>
                      </a:lnTo>
                      <a:lnTo>
                        <a:pt x="17299" y="48"/>
                      </a:lnTo>
                      <a:lnTo>
                        <a:pt x="17299" y="0"/>
                      </a:lnTo>
                      <a:lnTo>
                        <a:pt x="23" y="0"/>
                      </a:lnTo>
                      <a:lnTo>
                        <a:pt x="0" y="24"/>
                      </a:lnTo>
                      <a:lnTo>
                        <a:pt x="0" y="24"/>
                      </a:lnTo>
                      <a:lnTo>
                        <a:pt x="0" y="48"/>
                      </a:lnTo>
                      <a:lnTo>
                        <a:pt x="23" y="4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2" name="Rectangle 25">
                  <a:extLst>
                    <a:ext uri="{FF2B5EF4-FFF2-40B4-BE49-F238E27FC236}">
                      <a16:creationId xmlns:a16="http://schemas.microsoft.com/office/drawing/2014/main" id="{7C40D448-A795-4435-96BD-21560381E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9"/>
                  <a:ext cx="12" cy="2880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3" name="Rectangle 26">
                  <a:extLst>
                    <a:ext uri="{FF2B5EF4-FFF2-40B4-BE49-F238E27FC236}">
                      <a16:creationId xmlns:a16="http://schemas.microsoft.com/office/drawing/2014/main" id="{247AFE1A-1F02-40E7-8CD9-624F48568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3"/>
                  <a:ext cx="12" cy="6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4" name="Rectangle 27">
                  <a:extLst>
                    <a:ext uri="{FF2B5EF4-FFF2-40B4-BE49-F238E27FC236}">
                      <a16:creationId xmlns:a16="http://schemas.microsoft.com/office/drawing/2014/main" id="{E64FF46E-D909-4D87-BD33-A7ED67CA7D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28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5" name="Rectangle 28">
                  <a:extLst>
                    <a:ext uri="{FF2B5EF4-FFF2-40B4-BE49-F238E27FC236}">
                      <a16:creationId xmlns:a16="http://schemas.microsoft.com/office/drawing/2014/main" id="{6518E213-1484-43F8-A085-4ABCD2114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6" name="Rectangle 29">
                  <a:extLst>
                    <a:ext uri="{FF2B5EF4-FFF2-40B4-BE49-F238E27FC236}">
                      <a16:creationId xmlns:a16="http://schemas.microsoft.com/office/drawing/2014/main" id="{AD949FB5-BC50-4B61-8E8A-59BB2D2D6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0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7" name="Rectangle 30">
                  <a:extLst>
                    <a:ext uri="{FF2B5EF4-FFF2-40B4-BE49-F238E27FC236}">
                      <a16:creationId xmlns:a16="http://schemas.microsoft.com/office/drawing/2014/main" id="{3FF8C8FD-940C-49B8-B807-F1373BF5C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2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8" name="Rectangle 31">
                  <a:extLst>
                    <a:ext uri="{FF2B5EF4-FFF2-40B4-BE49-F238E27FC236}">
                      <a16:creationId xmlns:a16="http://schemas.microsoft.com/office/drawing/2014/main" id="{F0D7D1AC-40B0-40EC-A15B-259D0A099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4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9" name="Rectangle 32">
                  <a:extLst>
                    <a:ext uri="{FF2B5EF4-FFF2-40B4-BE49-F238E27FC236}">
                      <a16:creationId xmlns:a16="http://schemas.microsoft.com/office/drawing/2014/main" id="{345B3EBE-19A1-4FF6-B9EF-3056B73A3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6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0" name="Rectangle 33">
                  <a:extLst>
                    <a:ext uri="{FF2B5EF4-FFF2-40B4-BE49-F238E27FC236}">
                      <a16:creationId xmlns:a16="http://schemas.microsoft.com/office/drawing/2014/main" id="{F8D69F18-54DA-4A97-879E-CEB25915F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1" name="Rectangle 34">
                  <a:extLst>
                    <a:ext uri="{FF2B5EF4-FFF2-40B4-BE49-F238E27FC236}">
                      <a16:creationId xmlns:a16="http://schemas.microsoft.com/office/drawing/2014/main" id="{7D773C4C-8882-4C2C-9D89-8025F6E19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9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2" name="Rectangle 35">
                  <a:extLst>
                    <a:ext uri="{FF2B5EF4-FFF2-40B4-BE49-F238E27FC236}">
                      <a16:creationId xmlns:a16="http://schemas.microsoft.com/office/drawing/2014/main" id="{FACC4179-9353-40EF-944F-D5E15B05E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1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3" name="Rectangle 36">
                  <a:extLst>
                    <a:ext uri="{FF2B5EF4-FFF2-40B4-BE49-F238E27FC236}">
                      <a16:creationId xmlns:a16="http://schemas.microsoft.com/office/drawing/2014/main" id="{2B5A90AA-4E7B-4DAD-B675-7F6DD58D5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83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4" name="Rectangle 37">
                  <a:extLst>
                    <a:ext uri="{FF2B5EF4-FFF2-40B4-BE49-F238E27FC236}">
                      <a16:creationId xmlns:a16="http://schemas.microsoft.com/office/drawing/2014/main" id="{996F19A2-FAFD-43D4-A222-72F7EB1D5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5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5" name="Rectangle 38">
                  <a:extLst>
                    <a:ext uri="{FF2B5EF4-FFF2-40B4-BE49-F238E27FC236}">
                      <a16:creationId xmlns:a16="http://schemas.microsoft.com/office/drawing/2014/main" id="{A9AC59BC-89BA-4E36-B186-D607B3ADB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6" name="Rectangle 39">
                  <a:extLst>
                    <a:ext uri="{FF2B5EF4-FFF2-40B4-BE49-F238E27FC236}">
                      <a16:creationId xmlns:a16="http://schemas.microsoft.com/office/drawing/2014/main" id="{6A2F8807-9C4A-4C78-97B7-0BFB50A59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99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7" name="Rectangle 40">
                  <a:extLst>
                    <a:ext uri="{FF2B5EF4-FFF2-40B4-BE49-F238E27FC236}">
                      <a16:creationId xmlns:a16="http://schemas.microsoft.com/office/drawing/2014/main" id="{02C2A4FD-7763-4092-8DA6-B63D419D6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70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8" name="Rectangle 41">
                  <a:extLst>
                    <a:ext uri="{FF2B5EF4-FFF2-40B4-BE49-F238E27FC236}">
                      <a16:creationId xmlns:a16="http://schemas.microsoft.com/office/drawing/2014/main" id="{DA43024B-A527-46A7-9DE1-C38CCAD16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41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9" name="Rectangle 42">
                  <a:extLst>
                    <a:ext uri="{FF2B5EF4-FFF2-40B4-BE49-F238E27FC236}">
                      <a16:creationId xmlns:a16="http://schemas.microsoft.com/office/drawing/2014/main" id="{EE1F53F5-EAC8-4BCD-9B8F-BE32A7C4B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13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0" name="Rectangle 43">
                  <a:extLst>
                    <a:ext uri="{FF2B5EF4-FFF2-40B4-BE49-F238E27FC236}">
                      <a16:creationId xmlns:a16="http://schemas.microsoft.com/office/drawing/2014/main" id="{282A4028-2420-4B3B-BD38-F5842177D5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84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1" name="Rectangle 44">
                  <a:extLst>
                    <a:ext uri="{FF2B5EF4-FFF2-40B4-BE49-F238E27FC236}">
                      <a16:creationId xmlns:a16="http://schemas.microsoft.com/office/drawing/2014/main" id="{0CDD8D5F-F2A2-40BD-B100-25B0B6E87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55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2" name="Rectangle 45">
                  <a:extLst>
                    <a:ext uri="{FF2B5EF4-FFF2-40B4-BE49-F238E27FC236}">
                      <a16:creationId xmlns:a16="http://schemas.microsoft.com/office/drawing/2014/main" id="{49254DAE-7C4D-4CA6-BCF5-27A17A1E6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26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3" name="Rectangle 46">
                  <a:extLst>
                    <a:ext uri="{FF2B5EF4-FFF2-40B4-BE49-F238E27FC236}">
                      <a16:creationId xmlns:a16="http://schemas.microsoft.com/office/drawing/2014/main" id="{19D5025B-72C3-47DC-886A-560E5CC59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97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4" name="Rectangle 47">
                  <a:extLst>
                    <a:ext uri="{FF2B5EF4-FFF2-40B4-BE49-F238E27FC236}">
                      <a16:creationId xmlns:a16="http://schemas.microsoft.com/office/drawing/2014/main" id="{7F5952EE-0F24-4B13-9104-7D759ACDE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69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5" name="Rectangle 48">
                  <a:extLst>
                    <a:ext uri="{FF2B5EF4-FFF2-40B4-BE49-F238E27FC236}">
                      <a16:creationId xmlns:a16="http://schemas.microsoft.com/office/drawing/2014/main" id="{83B403DF-AF6C-41B1-A4A5-841FF4631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40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6" name="Rectangle 49">
                  <a:extLst>
                    <a:ext uri="{FF2B5EF4-FFF2-40B4-BE49-F238E27FC236}">
                      <a16:creationId xmlns:a16="http://schemas.microsoft.com/office/drawing/2014/main" id="{0B21845C-3BA2-4F8E-8569-4381D12F0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318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7" name="Rectangle 50">
                  <a:extLst>
                    <a:ext uri="{FF2B5EF4-FFF2-40B4-BE49-F238E27FC236}">
                      <a16:creationId xmlns:a16="http://schemas.microsoft.com/office/drawing/2014/main" id="{F9692779-C521-44DE-A44F-E9B0BE907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611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8" name="Rectangle 51">
                  <a:extLst>
                    <a:ext uri="{FF2B5EF4-FFF2-40B4-BE49-F238E27FC236}">
                      <a16:creationId xmlns:a16="http://schemas.microsoft.com/office/drawing/2014/main" id="{032B8416-69B9-44FA-9855-22ED2558F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035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9" name="Rectangle 52">
                  <a:extLst>
                    <a:ext uri="{FF2B5EF4-FFF2-40B4-BE49-F238E27FC236}">
                      <a16:creationId xmlns:a16="http://schemas.microsoft.com/office/drawing/2014/main" id="{736C4E91-63D6-4BA3-8D58-266A9A124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1459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0" name="Rectangle 53">
                  <a:extLst>
                    <a:ext uri="{FF2B5EF4-FFF2-40B4-BE49-F238E27FC236}">
                      <a16:creationId xmlns:a16="http://schemas.microsoft.com/office/drawing/2014/main" id="{C205B9E9-1483-4AAE-AC57-E531D3714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883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1" name="Rectangle 54">
                  <a:extLst>
                    <a:ext uri="{FF2B5EF4-FFF2-40B4-BE49-F238E27FC236}">
                      <a16:creationId xmlns:a16="http://schemas.microsoft.com/office/drawing/2014/main" id="{C902DA6B-7B7B-496C-BCC0-6E05DA3F0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3" y="307"/>
                  <a:ext cx="298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2" name="Rectangle 55">
                  <a:extLst>
                    <a:ext uri="{FF2B5EF4-FFF2-40B4-BE49-F238E27FC236}">
                      <a16:creationId xmlns:a16="http://schemas.microsoft.com/office/drawing/2014/main" id="{BF0E3311-A67A-48CA-970A-D017E258C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" y="340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3" name="Rectangle 56">
                  <a:extLst>
                    <a:ext uri="{FF2B5EF4-FFF2-40B4-BE49-F238E27FC236}">
                      <a16:creationId xmlns:a16="http://schemas.microsoft.com/office/drawing/2014/main" id="{88AAFA0B-AF7F-40A7-9CEF-565EEC9EB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6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4" name="Rectangle 57">
                  <a:extLst>
                    <a:ext uri="{FF2B5EF4-FFF2-40B4-BE49-F238E27FC236}">
                      <a16:creationId xmlns:a16="http://schemas.microsoft.com/office/drawing/2014/main" id="{75288ECC-1C80-4F9F-A6FB-83E56BB60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0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5" name="Rectangle 58">
                  <a:extLst>
                    <a:ext uri="{FF2B5EF4-FFF2-40B4-BE49-F238E27FC236}">
                      <a16:creationId xmlns:a16="http://schemas.microsoft.com/office/drawing/2014/main" id="{EE463492-0179-4B1F-8716-8F6DF5F69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3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6" name="Rectangle 59">
                  <a:extLst>
                    <a:ext uri="{FF2B5EF4-FFF2-40B4-BE49-F238E27FC236}">
                      <a16:creationId xmlns:a16="http://schemas.microsoft.com/office/drawing/2014/main" id="{CADFCD6C-D6AF-4A37-836A-4563B2567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7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7" name="Rectangle 60">
                  <a:extLst>
                    <a:ext uri="{FF2B5EF4-FFF2-40B4-BE49-F238E27FC236}">
                      <a16:creationId xmlns:a16="http://schemas.microsoft.com/office/drawing/2014/main" id="{CFDC73D1-FA97-4EFC-BA9E-1AF609B81D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9" y="3407"/>
                  <a:ext cx="512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8" name="Freeform 61">
                  <a:extLst>
                    <a:ext uri="{FF2B5EF4-FFF2-40B4-BE49-F238E27FC236}">
                      <a16:creationId xmlns:a16="http://schemas.microsoft.com/office/drawing/2014/main" id="{1E7FFBB4-A092-42A4-BA0D-9843D4F69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4" y="405"/>
                  <a:ext cx="1090" cy="1519"/>
                </a:xfrm>
                <a:custGeom>
                  <a:avLst/>
                  <a:gdLst>
                    <a:gd name="T0" fmla="*/ 4319 w 4357"/>
                    <a:gd name="T1" fmla="*/ 0 h 6075"/>
                    <a:gd name="T2" fmla="*/ 0 w 4357"/>
                    <a:gd name="T3" fmla="*/ 6048 h 6075"/>
                    <a:gd name="T4" fmla="*/ 39 w 4357"/>
                    <a:gd name="T5" fmla="*/ 6075 h 6075"/>
                    <a:gd name="T6" fmla="*/ 4357 w 4357"/>
                    <a:gd name="T7" fmla="*/ 28 h 6075"/>
                    <a:gd name="T8" fmla="*/ 4319 w 4357"/>
                    <a:gd name="T9" fmla="*/ 0 h 60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57" h="6075">
                      <a:moveTo>
                        <a:pt x="4319" y="0"/>
                      </a:moveTo>
                      <a:lnTo>
                        <a:pt x="0" y="6048"/>
                      </a:lnTo>
                      <a:lnTo>
                        <a:pt x="39" y="6075"/>
                      </a:lnTo>
                      <a:lnTo>
                        <a:pt x="4357" y="28"/>
                      </a:lnTo>
                      <a:lnTo>
                        <a:pt x="4319" y="0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99" name="Freeform 62">
                  <a:extLst>
                    <a:ext uri="{FF2B5EF4-FFF2-40B4-BE49-F238E27FC236}">
                      <a16:creationId xmlns:a16="http://schemas.microsoft.com/office/drawing/2014/main" id="{68047B9C-86AE-419D-9AAA-391F3F8DA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5" y="1913"/>
                  <a:ext cx="1232" cy="1380"/>
                </a:xfrm>
                <a:custGeom>
                  <a:avLst/>
                  <a:gdLst>
                    <a:gd name="T0" fmla="*/ 5 w 4931"/>
                    <a:gd name="T1" fmla="*/ 12 h 5519"/>
                    <a:gd name="T2" fmla="*/ 0 w 4931"/>
                    <a:gd name="T3" fmla="*/ 48 h 5519"/>
                    <a:gd name="T4" fmla="*/ 4896 w 4931"/>
                    <a:gd name="T5" fmla="*/ 5519 h 5519"/>
                    <a:gd name="T6" fmla="*/ 4931 w 4931"/>
                    <a:gd name="T7" fmla="*/ 5488 h 5519"/>
                    <a:gd name="T8" fmla="*/ 37 w 4931"/>
                    <a:gd name="T9" fmla="*/ 16 h 5519"/>
                    <a:gd name="T10" fmla="*/ 5 w 4931"/>
                    <a:gd name="T11" fmla="*/ 12 h 5519"/>
                    <a:gd name="T12" fmla="*/ 37 w 4931"/>
                    <a:gd name="T13" fmla="*/ 16 h 5519"/>
                    <a:gd name="T14" fmla="*/ 22 w 4931"/>
                    <a:gd name="T15" fmla="*/ 0 h 5519"/>
                    <a:gd name="T16" fmla="*/ 5 w 4931"/>
                    <a:gd name="T17" fmla="*/ 12 h 55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31" h="5519">
                      <a:moveTo>
                        <a:pt x="5" y="12"/>
                      </a:moveTo>
                      <a:lnTo>
                        <a:pt x="0" y="48"/>
                      </a:lnTo>
                      <a:lnTo>
                        <a:pt x="4896" y="5519"/>
                      </a:lnTo>
                      <a:lnTo>
                        <a:pt x="4931" y="5488"/>
                      </a:lnTo>
                      <a:lnTo>
                        <a:pt x="37" y="16"/>
                      </a:lnTo>
                      <a:lnTo>
                        <a:pt x="5" y="12"/>
                      </a:lnTo>
                      <a:lnTo>
                        <a:pt x="37" y="16"/>
                      </a:lnTo>
                      <a:lnTo>
                        <a:pt x="22" y="0"/>
                      </a:ln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0" name="Freeform 63">
                  <a:extLst>
                    <a:ext uri="{FF2B5EF4-FFF2-40B4-BE49-F238E27FC236}">
                      <a16:creationId xmlns:a16="http://schemas.microsoft.com/office/drawing/2014/main" id="{907BBBB4-9333-4BB4-ADC5-127DF81CD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19" y="1916"/>
                  <a:ext cx="2094" cy="1378"/>
                </a:xfrm>
                <a:custGeom>
                  <a:avLst/>
                  <a:gdLst>
                    <a:gd name="T0" fmla="*/ 25 w 8375"/>
                    <a:gd name="T1" fmla="*/ 5512 h 5512"/>
                    <a:gd name="T2" fmla="*/ 8375 w 8375"/>
                    <a:gd name="T3" fmla="*/ 40 h 5512"/>
                    <a:gd name="T4" fmla="*/ 8349 w 8375"/>
                    <a:gd name="T5" fmla="*/ 0 h 5512"/>
                    <a:gd name="T6" fmla="*/ 0 w 8375"/>
                    <a:gd name="T7" fmla="*/ 5472 h 5512"/>
                    <a:gd name="T8" fmla="*/ 25 w 8375"/>
                    <a:gd name="T9" fmla="*/ 5512 h 5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375" h="5512">
                      <a:moveTo>
                        <a:pt x="25" y="5512"/>
                      </a:moveTo>
                      <a:lnTo>
                        <a:pt x="8375" y="40"/>
                      </a:lnTo>
                      <a:lnTo>
                        <a:pt x="8349" y="0"/>
                      </a:lnTo>
                      <a:lnTo>
                        <a:pt x="0" y="5472"/>
                      </a:lnTo>
                      <a:lnTo>
                        <a:pt x="25" y="55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1" name="Rectangle 64">
                  <a:extLst>
                    <a:ext uri="{FF2B5EF4-FFF2-40B4-BE49-F238E27FC236}">
                      <a16:creationId xmlns:a16="http://schemas.microsoft.com/office/drawing/2014/main" id="{DAD01070-0781-420E-A0C9-5D120DD14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71" y="2480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2" name="Rectangle 65">
                  <a:extLst>
                    <a:ext uri="{FF2B5EF4-FFF2-40B4-BE49-F238E27FC236}">
                      <a16:creationId xmlns:a16="http://schemas.microsoft.com/office/drawing/2014/main" id="{0B7F63B0-8975-4F8A-955D-E82CE83BA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452" y="2431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3" name="Rectangle 66">
                  <a:extLst>
                    <a:ext uri="{FF2B5EF4-FFF2-40B4-BE49-F238E27FC236}">
                      <a16:creationId xmlns:a16="http://schemas.microsoft.com/office/drawing/2014/main" id="{E6CC235C-FBFA-4438-8827-ED4F0843D6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518" y="238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4" name="Rectangle 67">
                  <a:extLst>
                    <a:ext uri="{FF2B5EF4-FFF2-40B4-BE49-F238E27FC236}">
                      <a16:creationId xmlns:a16="http://schemas.microsoft.com/office/drawing/2014/main" id="{FA3FD212-5632-475E-A450-D00C9CE7F1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18" y="2292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5" name="Rectangle 68">
                  <a:extLst>
                    <a:ext uri="{FF2B5EF4-FFF2-40B4-BE49-F238E27FC236}">
                      <a16:creationId xmlns:a16="http://schemas.microsoft.com/office/drawing/2014/main" id="{F4620D29-B950-49AC-BD45-447CCFEA69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99" y="2245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6" name="Rectangle 69">
                  <a:extLst>
                    <a:ext uri="{FF2B5EF4-FFF2-40B4-BE49-F238E27FC236}">
                      <a16:creationId xmlns:a16="http://schemas.microsoft.com/office/drawing/2014/main" id="{73232789-C5DA-401D-A690-C1C08E13C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32" y="79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7" name="Rectangle 70">
                  <a:extLst>
                    <a:ext uri="{FF2B5EF4-FFF2-40B4-BE49-F238E27FC236}">
                      <a16:creationId xmlns:a16="http://schemas.microsoft.com/office/drawing/2014/main" id="{B73FFE44-2FFF-4586-8BAC-9EF71D63A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92" y="728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8" name="Rectangle 71">
                  <a:extLst>
                    <a:ext uri="{FF2B5EF4-FFF2-40B4-BE49-F238E27FC236}">
                      <a16:creationId xmlns:a16="http://schemas.microsoft.com/office/drawing/2014/main" id="{B979DD8E-5603-453A-91D8-20CB94312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968" y="926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9" name="Rectangle 72">
                  <a:extLst>
                    <a:ext uri="{FF2B5EF4-FFF2-40B4-BE49-F238E27FC236}">
                      <a16:creationId xmlns:a16="http://schemas.microsoft.com/office/drawing/2014/main" id="{3608B9C0-F1F8-42E1-B8C6-B7D69CA83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36" y="873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0" name="Rectangle 73">
                  <a:extLst>
                    <a:ext uri="{FF2B5EF4-FFF2-40B4-BE49-F238E27FC236}">
                      <a16:creationId xmlns:a16="http://schemas.microsoft.com/office/drawing/2014/main" id="{F9F23A27-B525-414E-B938-433EFEC938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55" y="847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1" name="Rectangle 74">
                  <a:extLst>
                    <a:ext uri="{FF2B5EF4-FFF2-40B4-BE49-F238E27FC236}">
                      <a16:creationId xmlns:a16="http://schemas.microsoft.com/office/drawing/2014/main" id="{49AA35B0-8259-4764-9033-79AE71511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73" y="821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2" name="Rectangle 75">
                  <a:extLst>
                    <a:ext uri="{FF2B5EF4-FFF2-40B4-BE49-F238E27FC236}">
                      <a16:creationId xmlns:a16="http://schemas.microsoft.com/office/drawing/2014/main" id="{FC93B9F8-005B-45E0-BC59-54CAF9820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3" name="Rectangle 76">
                  <a:extLst>
                    <a:ext uri="{FF2B5EF4-FFF2-40B4-BE49-F238E27FC236}">
                      <a16:creationId xmlns:a16="http://schemas.microsoft.com/office/drawing/2014/main" id="{5E073E4C-3204-4BC7-AEE5-9BC1EE6D5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4" name="Rectangle 77">
                  <a:extLst>
                    <a:ext uri="{FF2B5EF4-FFF2-40B4-BE49-F238E27FC236}">
                      <a16:creationId xmlns:a16="http://schemas.microsoft.com/office/drawing/2014/main" id="{B1446899-7983-431A-A9A3-5AB412467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5" name="Rectangle 78">
                  <a:extLst>
                    <a:ext uri="{FF2B5EF4-FFF2-40B4-BE49-F238E27FC236}">
                      <a16:creationId xmlns:a16="http://schemas.microsoft.com/office/drawing/2014/main" id="{98FB4EFE-7B2E-432D-9D55-91E6BADBB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6" name="Rectangle 79">
                  <a:extLst>
                    <a:ext uri="{FF2B5EF4-FFF2-40B4-BE49-F238E27FC236}">
                      <a16:creationId xmlns:a16="http://schemas.microsoft.com/office/drawing/2014/main" id="{636039C6-BEEE-43A8-A36C-02E2A4B11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7" name="Rectangle 80">
                  <a:extLst>
                    <a:ext uri="{FF2B5EF4-FFF2-40B4-BE49-F238E27FC236}">
                      <a16:creationId xmlns:a16="http://schemas.microsoft.com/office/drawing/2014/main" id="{AC2CFC41-648B-4B07-A24E-79222F50E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8" name="Rectangle 81">
                  <a:extLst>
                    <a:ext uri="{FF2B5EF4-FFF2-40B4-BE49-F238E27FC236}">
                      <a16:creationId xmlns:a16="http://schemas.microsoft.com/office/drawing/2014/main" id="{A363ED62-E31C-413C-B2BA-FE4EE53814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9" name="Freeform 82">
                  <a:extLst>
                    <a:ext uri="{FF2B5EF4-FFF2-40B4-BE49-F238E27FC236}">
                      <a16:creationId xmlns:a16="http://schemas.microsoft.com/office/drawing/2014/main" id="{1DBFA626-DA3A-454D-8A52-1AA6F1FA6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1" y="407"/>
                  <a:ext cx="1376" cy="2887"/>
                </a:xfrm>
                <a:custGeom>
                  <a:avLst/>
                  <a:gdLst>
                    <a:gd name="T0" fmla="*/ 5295 w 5504"/>
                    <a:gd name="T1" fmla="*/ 563 h 11548"/>
                    <a:gd name="T2" fmla="*/ 5051 w 5504"/>
                    <a:gd name="T3" fmla="*/ 1391 h 11548"/>
                    <a:gd name="T4" fmla="*/ 4805 w 5504"/>
                    <a:gd name="T5" fmla="*/ 2198 h 11548"/>
                    <a:gd name="T6" fmla="*/ 4558 w 5504"/>
                    <a:gd name="T7" fmla="*/ 2982 h 11548"/>
                    <a:gd name="T8" fmla="*/ 4310 w 5504"/>
                    <a:gd name="T9" fmla="*/ 3743 h 11548"/>
                    <a:gd name="T10" fmla="*/ 4060 w 5504"/>
                    <a:gd name="T11" fmla="*/ 4477 h 11548"/>
                    <a:gd name="T12" fmla="*/ 3809 w 5504"/>
                    <a:gd name="T13" fmla="*/ 5185 h 11548"/>
                    <a:gd name="T14" fmla="*/ 3557 w 5504"/>
                    <a:gd name="T15" fmla="*/ 5866 h 11548"/>
                    <a:gd name="T16" fmla="*/ 3303 w 5504"/>
                    <a:gd name="T17" fmla="*/ 6515 h 11548"/>
                    <a:gd name="T18" fmla="*/ 3049 w 5504"/>
                    <a:gd name="T19" fmla="*/ 7134 h 11548"/>
                    <a:gd name="T20" fmla="*/ 2793 w 5504"/>
                    <a:gd name="T21" fmla="*/ 7719 h 11548"/>
                    <a:gd name="T22" fmla="*/ 2536 w 5504"/>
                    <a:gd name="T23" fmla="*/ 8269 h 11548"/>
                    <a:gd name="T24" fmla="*/ 2278 w 5504"/>
                    <a:gd name="T25" fmla="*/ 8784 h 11548"/>
                    <a:gd name="T26" fmla="*/ 2018 w 5504"/>
                    <a:gd name="T27" fmla="*/ 9260 h 11548"/>
                    <a:gd name="T28" fmla="*/ 1758 w 5504"/>
                    <a:gd name="T29" fmla="*/ 9698 h 11548"/>
                    <a:gd name="T30" fmla="*/ 1541 w 5504"/>
                    <a:gd name="T31" fmla="*/ 10032 h 11548"/>
                    <a:gd name="T32" fmla="*/ 1410 w 5504"/>
                    <a:gd name="T33" fmla="*/ 10219 h 11548"/>
                    <a:gd name="T34" fmla="*/ 1278 w 5504"/>
                    <a:gd name="T35" fmla="*/ 10393 h 11548"/>
                    <a:gd name="T36" fmla="*/ 1148 w 5504"/>
                    <a:gd name="T37" fmla="*/ 10559 h 11548"/>
                    <a:gd name="T38" fmla="*/ 1016 w 5504"/>
                    <a:gd name="T39" fmla="*/ 10713 h 11548"/>
                    <a:gd name="T40" fmla="*/ 884 w 5504"/>
                    <a:gd name="T41" fmla="*/ 10855 h 11548"/>
                    <a:gd name="T42" fmla="*/ 752 w 5504"/>
                    <a:gd name="T43" fmla="*/ 10986 h 11548"/>
                    <a:gd name="T44" fmla="*/ 620 w 5504"/>
                    <a:gd name="T45" fmla="*/ 11105 h 11548"/>
                    <a:gd name="T46" fmla="*/ 487 w 5504"/>
                    <a:gd name="T47" fmla="*/ 11212 h 11548"/>
                    <a:gd name="T48" fmla="*/ 355 w 5504"/>
                    <a:gd name="T49" fmla="*/ 11308 h 11548"/>
                    <a:gd name="T50" fmla="*/ 221 w 5504"/>
                    <a:gd name="T51" fmla="*/ 11392 h 11548"/>
                    <a:gd name="T52" fmla="*/ 89 w 5504"/>
                    <a:gd name="T53" fmla="*/ 11463 h 11548"/>
                    <a:gd name="T54" fmla="*/ 20 w 5504"/>
                    <a:gd name="T55" fmla="*/ 11548 h 11548"/>
                    <a:gd name="T56" fmla="*/ 155 w 5504"/>
                    <a:gd name="T57" fmla="*/ 11483 h 11548"/>
                    <a:gd name="T58" fmla="*/ 291 w 5504"/>
                    <a:gd name="T59" fmla="*/ 11406 h 11548"/>
                    <a:gd name="T60" fmla="*/ 426 w 5504"/>
                    <a:gd name="T61" fmla="*/ 11317 h 11548"/>
                    <a:gd name="T62" fmla="*/ 560 w 5504"/>
                    <a:gd name="T63" fmla="*/ 11216 h 11548"/>
                    <a:gd name="T64" fmla="*/ 695 w 5504"/>
                    <a:gd name="T65" fmla="*/ 11102 h 11548"/>
                    <a:gd name="T66" fmla="*/ 829 w 5504"/>
                    <a:gd name="T67" fmla="*/ 10978 h 11548"/>
                    <a:gd name="T68" fmla="*/ 963 w 5504"/>
                    <a:gd name="T69" fmla="*/ 10841 h 11548"/>
                    <a:gd name="T70" fmla="*/ 1096 w 5504"/>
                    <a:gd name="T71" fmla="*/ 10694 h 11548"/>
                    <a:gd name="T72" fmla="*/ 1228 w 5504"/>
                    <a:gd name="T73" fmla="*/ 10534 h 11548"/>
                    <a:gd name="T74" fmla="*/ 1361 w 5504"/>
                    <a:gd name="T75" fmla="*/ 10365 h 11548"/>
                    <a:gd name="T76" fmla="*/ 1493 w 5504"/>
                    <a:gd name="T77" fmla="*/ 10185 h 11548"/>
                    <a:gd name="T78" fmla="*/ 1624 w 5504"/>
                    <a:gd name="T79" fmla="*/ 9994 h 11548"/>
                    <a:gd name="T80" fmla="*/ 1886 w 5504"/>
                    <a:gd name="T81" fmla="*/ 9581 h 11548"/>
                    <a:gd name="T82" fmla="*/ 2148 w 5504"/>
                    <a:gd name="T83" fmla="*/ 9129 h 11548"/>
                    <a:gd name="T84" fmla="*/ 2406 w 5504"/>
                    <a:gd name="T85" fmla="*/ 8637 h 11548"/>
                    <a:gd name="T86" fmla="*/ 2665 w 5504"/>
                    <a:gd name="T87" fmla="*/ 8110 h 11548"/>
                    <a:gd name="T88" fmla="*/ 2923 w 5504"/>
                    <a:gd name="T89" fmla="*/ 7547 h 11548"/>
                    <a:gd name="T90" fmla="*/ 3178 w 5504"/>
                    <a:gd name="T91" fmla="*/ 6949 h 11548"/>
                    <a:gd name="T92" fmla="*/ 3432 w 5504"/>
                    <a:gd name="T93" fmla="*/ 6320 h 11548"/>
                    <a:gd name="T94" fmla="*/ 3686 w 5504"/>
                    <a:gd name="T95" fmla="*/ 5659 h 11548"/>
                    <a:gd name="T96" fmla="*/ 3938 w 5504"/>
                    <a:gd name="T97" fmla="*/ 4969 h 11548"/>
                    <a:gd name="T98" fmla="*/ 4188 w 5504"/>
                    <a:gd name="T99" fmla="*/ 4251 h 11548"/>
                    <a:gd name="T100" fmla="*/ 4438 w 5504"/>
                    <a:gd name="T101" fmla="*/ 3507 h 11548"/>
                    <a:gd name="T102" fmla="*/ 4686 w 5504"/>
                    <a:gd name="T103" fmla="*/ 2737 h 11548"/>
                    <a:gd name="T104" fmla="*/ 4933 w 5504"/>
                    <a:gd name="T105" fmla="*/ 1945 h 11548"/>
                    <a:gd name="T106" fmla="*/ 5178 w 5504"/>
                    <a:gd name="T107" fmla="*/ 1131 h 11548"/>
                    <a:gd name="T108" fmla="*/ 5422 w 5504"/>
                    <a:gd name="T109" fmla="*/ 296 h 11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504" h="11548">
                      <a:moveTo>
                        <a:pt x="5457" y="0"/>
                      </a:moveTo>
                      <a:lnTo>
                        <a:pt x="5376" y="283"/>
                      </a:lnTo>
                      <a:lnTo>
                        <a:pt x="5295" y="563"/>
                      </a:lnTo>
                      <a:lnTo>
                        <a:pt x="5214" y="842"/>
                      </a:lnTo>
                      <a:lnTo>
                        <a:pt x="5132" y="1117"/>
                      </a:lnTo>
                      <a:lnTo>
                        <a:pt x="5051" y="1391"/>
                      </a:lnTo>
                      <a:lnTo>
                        <a:pt x="4969" y="1662"/>
                      </a:lnTo>
                      <a:lnTo>
                        <a:pt x="4887" y="1931"/>
                      </a:lnTo>
                      <a:lnTo>
                        <a:pt x="4805" y="2198"/>
                      </a:lnTo>
                      <a:lnTo>
                        <a:pt x="4722" y="2462"/>
                      </a:lnTo>
                      <a:lnTo>
                        <a:pt x="4641" y="2723"/>
                      </a:lnTo>
                      <a:lnTo>
                        <a:pt x="4558" y="2982"/>
                      </a:lnTo>
                      <a:lnTo>
                        <a:pt x="4475" y="3238"/>
                      </a:lnTo>
                      <a:lnTo>
                        <a:pt x="4392" y="3492"/>
                      </a:lnTo>
                      <a:lnTo>
                        <a:pt x="4310" y="3743"/>
                      </a:lnTo>
                      <a:lnTo>
                        <a:pt x="4227" y="3991"/>
                      </a:lnTo>
                      <a:lnTo>
                        <a:pt x="4143" y="4236"/>
                      </a:lnTo>
                      <a:lnTo>
                        <a:pt x="4060" y="4477"/>
                      </a:lnTo>
                      <a:lnTo>
                        <a:pt x="3976" y="4717"/>
                      </a:lnTo>
                      <a:lnTo>
                        <a:pt x="3893" y="4952"/>
                      </a:lnTo>
                      <a:lnTo>
                        <a:pt x="3809" y="5185"/>
                      </a:lnTo>
                      <a:lnTo>
                        <a:pt x="3725" y="5416"/>
                      </a:lnTo>
                      <a:lnTo>
                        <a:pt x="3641" y="5642"/>
                      </a:lnTo>
                      <a:lnTo>
                        <a:pt x="3557" y="5866"/>
                      </a:lnTo>
                      <a:lnTo>
                        <a:pt x="3473" y="6086"/>
                      </a:lnTo>
                      <a:lnTo>
                        <a:pt x="3388" y="6302"/>
                      </a:lnTo>
                      <a:lnTo>
                        <a:pt x="3303" y="6515"/>
                      </a:lnTo>
                      <a:lnTo>
                        <a:pt x="3219" y="6725"/>
                      </a:lnTo>
                      <a:lnTo>
                        <a:pt x="3134" y="6931"/>
                      </a:lnTo>
                      <a:lnTo>
                        <a:pt x="3049" y="7134"/>
                      </a:lnTo>
                      <a:lnTo>
                        <a:pt x="2964" y="7332"/>
                      </a:lnTo>
                      <a:lnTo>
                        <a:pt x="2879" y="7527"/>
                      </a:lnTo>
                      <a:lnTo>
                        <a:pt x="2793" y="7719"/>
                      </a:lnTo>
                      <a:lnTo>
                        <a:pt x="2708" y="7906"/>
                      </a:lnTo>
                      <a:lnTo>
                        <a:pt x="2623" y="8089"/>
                      </a:lnTo>
                      <a:lnTo>
                        <a:pt x="2536" y="8269"/>
                      </a:lnTo>
                      <a:lnTo>
                        <a:pt x="2450" y="8445"/>
                      </a:lnTo>
                      <a:lnTo>
                        <a:pt x="2364" y="8617"/>
                      </a:lnTo>
                      <a:lnTo>
                        <a:pt x="2278" y="8784"/>
                      </a:lnTo>
                      <a:lnTo>
                        <a:pt x="2192" y="8947"/>
                      </a:lnTo>
                      <a:lnTo>
                        <a:pt x="2105" y="9106"/>
                      </a:lnTo>
                      <a:lnTo>
                        <a:pt x="2018" y="9260"/>
                      </a:lnTo>
                      <a:lnTo>
                        <a:pt x="1932" y="9411"/>
                      </a:lnTo>
                      <a:lnTo>
                        <a:pt x="1845" y="9556"/>
                      </a:lnTo>
                      <a:lnTo>
                        <a:pt x="1758" y="9698"/>
                      </a:lnTo>
                      <a:lnTo>
                        <a:pt x="1672" y="9834"/>
                      </a:lnTo>
                      <a:lnTo>
                        <a:pt x="1584" y="9968"/>
                      </a:lnTo>
                      <a:lnTo>
                        <a:pt x="1541" y="10032"/>
                      </a:lnTo>
                      <a:lnTo>
                        <a:pt x="1497" y="10096"/>
                      </a:lnTo>
                      <a:lnTo>
                        <a:pt x="1453" y="10158"/>
                      </a:lnTo>
                      <a:lnTo>
                        <a:pt x="1410" y="10219"/>
                      </a:lnTo>
                      <a:lnTo>
                        <a:pt x="1366" y="10278"/>
                      </a:lnTo>
                      <a:lnTo>
                        <a:pt x="1322" y="10336"/>
                      </a:lnTo>
                      <a:lnTo>
                        <a:pt x="1278" y="10393"/>
                      </a:lnTo>
                      <a:lnTo>
                        <a:pt x="1234" y="10450"/>
                      </a:lnTo>
                      <a:lnTo>
                        <a:pt x="1190" y="10505"/>
                      </a:lnTo>
                      <a:lnTo>
                        <a:pt x="1148" y="10559"/>
                      </a:lnTo>
                      <a:lnTo>
                        <a:pt x="1104" y="10611"/>
                      </a:lnTo>
                      <a:lnTo>
                        <a:pt x="1060" y="10662"/>
                      </a:lnTo>
                      <a:lnTo>
                        <a:pt x="1016" y="10713"/>
                      </a:lnTo>
                      <a:lnTo>
                        <a:pt x="972" y="10761"/>
                      </a:lnTo>
                      <a:lnTo>
                        <a:pt x="928" y="10809"/>
                      </a:lnTo>
                      <a:lnTo>
                        <a:pt x="884" y="10855"/>
                      </a:lnTo>
                      <a:lnTo>
                        <a:pt x="840" y="10899"/>
                      </a:lnTo>
                      <a:lnTo>
                        <a:pt x="796" y="10943"/>
                      </a:lnTo>
                      <a:lnTo>
                        <a:pt x="752" y="10986"/>
                      </a:lnTo>
                      <a:lnTo>
                        <a:pt x="708" y="11027"/>
                      </a:lnTo>
                      <a:lnTo>
                        <a:pt x="664" y="11066"/>
                      </a:lnTo>
                      <a:lnTo>
                        <a:pt x="620" y="11105"/>
                      </a:lnTo>
                      <a:lnTo>
                        <a:pt x="575" y="11143"/>
                      </a:lnTo>
                      <a:lnTo>
                        <a:pt x="531" y="11179"/>
                      </a:lnTo>
                      <a:lnTo>
                        <a:pt x="487" y="11212"/>
                      </a:lnTo>
                      <a:lnTo>
                        <a:pt x="443" y="11246"/>
                      </a:lnTo>
                      <a:lnTo>
                        <a:pt x="399" y="11278"/>
                      </a:lnTo>
                      <a:lnTo>
                        <a:pt x="355" y="11308"/>
                      </a:lnTo>
                      <a:lnTo>
                        <a:pt x="311" y="11338"/>
                      </a:lnTo>
                      <a:lnTo>
                        <a:pt x="265" y="11365"/>
                      </a:lnTo>
                      <a:lnTo>
                        <a:pt x="221" y="11392"/>
                      </a:lnTo>
                      <a:lnTo>
                        <a:pt x="177" y="11417"/>
                      </a:lnTo>
                      <a:lnTo>
                        <a:pt x="133" y="11440"/>
                      </a:lnTo>
                      <a:lnTo>
                        <a:pt x="89" y="11463"/>
                      </a:lnTo>
                      <a:lnTo>
                        <a:pt x="44" y="11484"/>
                      </a:lnTo>
                      <a:lnTo>
                        <a:pt x="0" y="11504"/>
                      </a:lnTo>
                      <a:lnTo>
                        <a:pt x="20" y="11548"/>
                      </a:lnTo>
                      <a:lnTo>
                        <a:pt x="65" y="11528"/>
                      </a:lnTo>
                      <a:lnTo>
                        <a:pt x="110" y="11506"/>
                      </a:lnTo>
                      <a:lnTo>
                        <a:pt x="155" y="11483"/>
                      </a:lnTo>
                      <a:lnTo>
                        <a:pt x="201" y="11460"/>
                      </a:lnTo>
                      <a:lnTo>
                        <a:pt x="246" y="11434"/>
                      </a:lnTo>
                      <a:lnTo>
                        <a:pt x="291" y="11406"/>
                      </a:lnTo>
                      <a:lnTo>
                        <a:pt x="336" y="11378"/>
                      </a:lnTo>
                      <a:lnTo>
                        <a:pt x="380" y="11348"/>
                      </a:lnTo>
                      <a:lnTo>
                        <a:pt x="426" y="11317"/>
                      </a:lnTo>
                      <a:lnTo>
                        <a:pt x="471" y="11285"/>
                      </a:lnTo>
                      <a:lnTo>
                        <a:pt x="516" y="11251"/>
                      </a:lnTo>
                      <a:lnTo>
                        <a:pt x="560" y="11216"/>
                      </a:lnTo>
                      <a:lnTo>
                        <a:pt x="606" y="11179"/>
                      </a:lnTo>
                      <a:lnTo>
                        <a:pt x="651" y="11141"/>
                      </a:lnTo>
                      <a:lnTo>
                        <a:pt x="695" y="11102"/>
                      </a:lnTo>
                      <a:lnTo>
                        <a:pt x="740" y="11062"/>
                      </a:lnTo>
                      <a:lnTo>
                        <a:pt x="784" y="11021"/>
                      </a:lnTo>
                      <a:lnTo>
                        <a:pt x="829" y="10978"/>
                      </a:lnTo>
                      <a:lnTo>
                        <a:pt x="873" y="10933"/>
                      </a:lnTo>
                      <a:lnTo>
                        <a:pt x="917" y="10888"/>
                      </a:lnTo>
                      <a:lnTo>
                        <a:pt x="963" y="10841"/>
                      </a:lnTo>
                      <a:lnTo>
                        <a:pt x="1007" y="10793"/>
                      </a:lnTo>
                      <a:lnTo>
                        <a:pt x="1051" y="10744"/>
                      </a:lnTo>
                      <a:lnTo>
                        <a:pt x="1096" y="10694"/>
                      </a:lnTo>
                      <a:lnTo>
                        <a:pt x="1140" y="10642"/>
                      </a:lnTo>
                      <a:lnTo>
                        <a:pt x="1184" y="10589"/>
                      </a:lnTo>
                      <a:lnTo>
                        <a:pt x="1228" y="10534"/>
                      </a:lnTo>
                      <a:lnTo>
                        <a:pt x="1272" y="10480"/>
                      </a:lnTo>
                      <a:lnTo>
                        <a:pt x="1316" y="10423"/>
                      </a:lnTo>
                      <a:lnTo>
                        <a:pt x="1361" y="10365"/>
                      </a:lnTo>
                      <a:lnTo>
                        <a:pt x="1405" y="10307"/>
                      </a:lnTo>
                      <a:lnTo>
                        <a:pt x="1449" y="10246"/>
                      </a:lnTo>
                      <a:lnTo>
                        <a:pt x="1493" y="10185"/>
                      </a:lnTo>
                      <a:lnTo>
                        <a:pt x="1537" y="10123"/>
                      </a:lnTo>
                      <a:lnTo>
                        <a:pt x="1580" y="10058"/>
                      </a:lnTo>
                      <a:lnTo>
                        <a:pt x="1624" y="9994"/>
                      </a:lnTo>
                      <a:lnTo>
                        <a:pt x="1712" y="9862"/>
                      </a:lnTo>
                      <a:lnTo>
                        <a:pt x="1800" y="9723"/>
                      </a:lnTo>
                      <a:lnTo>
                        <a:pt x="1886" y="9581"/>
                      </a:lnTo>
                      <a:lnTo>
                        <a:pt x="1973" y="9435"/>
                      </a:lnTo>
                      <a:lnTo>
                        <a:pt x="2061" y="9284"/>
                      </a:lnTo>
                      <a:lnTo>
                        <a:pt x="2148" y="9129"/>
                      </a:lnTo>
                      <a:lnTo>
                        <a:pt x="2234" y="8969"/>
                      </a:lnTo>
                      <a:lnTo>
                        <a:pt x="2321" y="8806"/>
                      </a:lnTo>
                      <a:lnTo>
                        <a:pt x="2406" y="8637"/>
                      </a:lnTo>
                      <a:lnTo>
                        <a:pt x="2493" y="8465"/>
                      </a:lnTo>
                      <a:lnTo>
                        <a:pt x="2580" y="8289"/>
                      </a:lnTo>
                      <a:lnTo>
                        <a:pt x="2665" y="8110"/>
                      </a:lnTo>
                      <a:lnTo>
                        <a:pt x="2751" y="7926"/>
                      </a:lnTo>
                      <a:lnTo>
                        <a:pt x="2837" y="7738"/>
                      </a:lnTo>
                      <a:lnTo>
                        <a:pt x="2923" y="7547"/>
                      </a:lnTo>
                      <a:lnTo>
                        <a:pt x="3008" y="7351"/>
                      </a:lnTo>
                      <a:lnTo>
                        <a:pt x="3093" y="7152"/>
                      </a:lnTo>
                      <a:lnTo>
                        <a:pt x="3178" y="6949"/>
                      </a:lnTo>
                      <a:lnTo>
                        <a:pt x="3263" y="6743"/>
                      </a:lnTo>
                      <a:lnTo>
                        <a:pt x="3348" y="6534"/>
                      </a:lnTo>
                      <a:lnTo>
                        <a:pt x="3432" y="6320"/>
                      </a:lnTo>
                      <a:lnTo>
                        <a:pt x="3518" y="6103"/>
                      </a:lnTo>
                      <a:lnTo>
                        <a:pt x="3602" y="5883"/>
                      </a:lnTo>
                      <a:lnTo>
                        <a:pt x="3686" y="5659"/>
                      </a:lnTo>
                      <a:lnTo>
                        <a:pt x="3770" y="5432"/>
                      </a:lnTo>
                      <a:lnTo>
                        <a:pt x="3854" y="5202"/>
                      </a:lnTo>
                      <a:lnTo>
                        <a:pt x="3938" y="4969"/>
                      </a:lnTo>
                      <a:lnTo>
                        <a:pt x="4021" y="4732"/>
                      </a:lnTo>
                      <a:lnTo>
                        <a:pt x="4105" y="4493"/>
                      </a:lnTo>
                      <a:lnTo>
                        <a:pt x="4188" y="4251"/>
                      </a:lnTo>
                      <a:lnTo>
                        <a:pt x="4272" y="4005"/>
                      </a:lnTo>
                      <a:lnTo>
                        <a:pt x="4355" y="3758"/>
                      </a:lnTo>
                      <a:lnTo>
                        <a:pt x="4438" y="3507"/>
                      </a:lnTo>
                      <a:lnTo>
                        <a:pt x="4520" y="3253"/>
                      </a:lnTo>
                      <a:lnTo>
                        <a:pt x="4603" y="2997"/>
                      </a:lnTo>
                      <a:lnTo>
                        <a:pt x="4686" y="2737"/>
                      </a:lnTo>
                      <a:lnTo>
                        <a:pt x="4769" y="2476"/>
                      </a:lnTo>
                      <a:lnTo>
                        <a:pt x="4850" y="2212"/>
                      </a:lnTo>
                      <a:lnTo>
                        <a:pt x="4933" y="1945"/>
                      </a:lnTo>
                      <a:lnTo>
                        <a:pt x="5015" y="1676"/>
                      </a:lnTo>
                      <a:lnTo>
                        <a:pt x="5096" y="1404"/>
                      </a:lnTo>
                      <a:lnTo>
                        <a:pt x="5178" y="1131"/>
                      </a:lnTo>
                      <a:lnTo>
                        <a:pt x="5259" y="854"/>
                      </a:lnTo>
                      <a:lnTo>
                        <a:pt x="5341" y="576"/>
                      </a:lnTo>
                      <a:lnTo>
                        <a:pt x="5422" y="296"/>
                      </a:lnTo>
                      <a:lnTo>
                        <a:pt x="5504" y="13"/>
                      </a:lnTo>
                      <a:lnTo>
                        <a:pt x="5457" y="0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0" name="Freeform 83">
                  <a:extLst>
                    <a:ext uri="{FF2B5EF4-FFF2-40B4-BE49-F238E27FC236}">
                      <a16:creationId xmlns:a16="http://schemas.microsoft.com/office/drawing/2014/main" id="{E3121B50-0603-48EE-86AB-DE600C28C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409"/>
                  <a:ext cx="871" cy="2886"/>
                </a:xfrm>
                <a:custGeom>
                  <a:avLst/>
                  <a:gdLst>
                    <a:gd name="T0" fmla="*/ 3285 w 3482"/>
                    <a:gd name="T1" fmla="*/ 11467 h 11543"/>
                    <a:gd name="T2" fmla="*/ 3035 w 3482"/>
                    <a:gd name="T3" fmla="*/ 11407 h 11543"/>
                    <a:gd name="T4" fmla="*/ 2799 w 3482"/>
                    <a:gd name="T5" fmla="*/ 11322 h 11543"/>
                    <a:gd name="T6" fmla="*/ 2576 w 3482"/>
                    <a:gd name="T7" fmla="*/ 11212 h 11543"/>
                    <a:gd name="T8" fmla="*/ 2365 w 3482"/>
                    <a:gd name="T9" fmla="*/ 11077 h 11543"/>
                    <a:gd name="T10" fmla="*/ 2167 w 3482"/>
                    <a:gd name="T11" fmla="*/ 10918 h 11543"/>
                    <a:gd name="T12" fmla="*/ 1981 w 3482"/>
                    <a:gd name="T13" fmla="*/ 10734 h 11543"/>
                    <a:gd name="T14" fmla="*/ 1806 w 3482"/>
                    <a:gd name="T15" fmla="*/ 10529 h 11543"/>
                    <a:gd name="T16" fmla="*/ 1642 w 3482"/>
                    <a:gd name="T17" fmla="*/ 10301 h 11543"/>
                    <a:gd name="T18" fmla="*/ 1488 w 3482"/>
                    <a:gd name="T19" fmla="*/ 10050 h 11543"/>
                    <a:gd name="T20" fmla="*/ 1346 w 3482"/>
                    <a:gd name="T21" fmla="*/ 9778 h 11543"/>
                    <a:gd name="T22" fmla="*/ 1213 w 3482"/>
                    <a:gd name="T23" fmla="*/ 9486 h 11543"/>
                    <a:gd name="T24" fmla="*/ 1090 w 3482"/>
                    <a:gd name="T25" fmla="*/ 9173 h 11543"/>
                    <a:gd name="T26" fmla="*/ 974 w 3482"/>
                    <a:gd name="T27" fmla="*/ 8839 h 11543"/>
                    <a:gd name="T28" fmla="*/ 870 w 3482"/>
                    <a:gd name="T29" fmla="*/ 8487 h 11543"/>
                    <a:gd name="T30" fmla="*/ 773 w 3482"/>
                    <a:gd name="T31" fmla="*/ 8117 h 11543"/>
                    <a:gd name="T32" fmla="*/ 683 w 3482"/>
                    <a:gd name="T33" fmla="*/ 7729 h 11543"/>
                    <a:gd name="T34" fmla="*/ 602 w 3482"/>
                    <a:gd name="T35" fmla="*/ 7322 h 11543"/>
                    <a:gd name="T36" fmla="*/ 476 w 3482"/>
                    <a:gd name="T37" fmla="*/ 6573 h 11543"/>
                    <a:gd name="T38" fmla="*/ 359 w 3482"/>
                    <a:gd name="T39" fmla="*/ 5657 h 11543"/>
                    <a:gd name="T40" fmla="*/ 264 w 3482"/>
                    <a:gd name="T41" fmla="*/ 4683 h 11543"/>
                    <a:gd name="T42" fmla="*/ 189 w 3482"/>
                    <a:gd name="T43" fmla="*/ 3654 h 11543"/>
                    <a:gd name="T44" fmla="*/ 132 w 3482"/>
                    <a:gd name="T45" fmla="*/ 2577 h 11543"/>
                    <a:gd name="T46" fmla="*/ 88 w 3482"/>
                    <a:gd name="T47" fmla="*/ 1456 h 11543"/>
                    <a:gd name="T48" fmla="*/ 0 w 3482"/>
                    <a:gd name="T49" fmla="*/ 0 h 11543"/>
                    <a:gd name="T50" fmla="*/ 49 w 3482"/>
                    <a:gd name="T51" fmla="*/ 1742 h 11543"/>
                    <a:gd name="T52" fmla="*/ 97 w 3482"/>
                    <a:gd name="T53" fmla="*/ 2853 h 11543"/>
                    <a:gd name="T54" fmla="*/ 158 w 3482"/>
                    <a:gd name="T55" fmla="*/ 3919 h 11543"/>
                    <a:gd name="T56" fmla="*/ 238 w 3482"/>
                    <a:gd name="T57" fmla="*/ 4935 h 11543"/>
                    <a:gd name="T58" fmla="*/ 338 w 3482"/>
                    <a:gd name="T59" fmla="*/ 5896 h 11543"/>
                    <a:gd name="T60" fmla="*/ 463 w 3482"/>
                    <a:gd name="T61" fmla="*/ 6800 h 11543"/>
                    <a:gd name="T62" fmla="*/ 575 w 3482"/>
                    <a:gd name="T63" fmla="*/ 7435 h 11543"/>
                    <a:gd name="T64" fmla="*/ 657 w 3482"/>
                    <a:gd name="T65" fmla="*/ 7837 h 11543"/>
                    <a:gd name="T66" fmla="*/ 749 w 3482"/>
                    <a:gd name="T67" fmla="*/ 8223 h 11543"/>
                    <a:gd name="T68" fmla="*/ 849 w 3482"/>
                    <a:gd name="T69" fmla="*/ 8590 h 11543"/>
                    <a:gd name="T70" fmla="*/ 958 w 3482"/>
                    <a:gd name="T71" fmla="*/ 8940 h 11543"/>
                    <a:gd name="T72" fmla="*/ 1074 w 3482"/>
                    <a:gd name="T73" fmla="*/ 9270 h 11543"/>
                    <a:gd name="T74" fmla="*/ 1201 w 3482"/>
                    <a:gd name="T75" fmla="*/ 9580 h 11543"/>
                    <a:gd name="T76" fmla="*/ 1338 w 3482"/>
                    <a:gd name="T77" fmla="*/ 9870 h 11543"/>
                    <a:gd name="T78" fmla="*/ 1484 w 3482"/>
                    <a:gd name="T79" fmla="*/ 10139 h 11543"/>
                    <a:gd name="T80" fmla="*/ 1642 w 3482"/>
                    <a:gd name="T81" fmla="*/ 10386 h 11543"/>
                    <a:gd name="T82" fmla="*/ 1812 w 3482"/>
                    <a:gd name="T83" fmla="*/ 10613 h 11543"/>
                    <a:gd name="T84" fmla="*/ 1993 w 3482"/>
                    <a:gd name="T85" fmla="*/ 10816 h 11543"/>
                    <a:gd name="T86" fmla="*/ 2185 w 3482"/>
                    <a:gd name="T87" fmla="*/ 10996 h 11543"/>
                    <a:gd name="T88" fmla="*/ 2390 w 3482"/>
                    <a:gd name="T89" fmla="*/ 11152 h 11543"/>
                    <a:gd name="T90" fmla="*/ 2608 w 3482"/>
                    <a:gd name="T91" fmla="*/ 11284 h 11543"/>
                    <a:gd name="T92" fmla="*/ 2839 w 3482"/>
                    <a:gd name="T93" fmla="*/ 11390 h 11543"/>
                    <a:gd name="T94" fmla="*/ 3085 w 3482"/>
                    <a:gd name="T95" fmla="*/ 11472 h 11543"/>
                    <a:gd name="T96" fmla="*/ 3342 w 3482"/>
                    <a:gd name="T97" fmla="*/ 11525 h 115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482" h="11543">
                      <a:moveTo>
                        <a:pt x="3482" y="11495"/>
                      </a:moveTo>
                      <a:lnTo>
                        <a:pt x="3414" y="11487"/>
                      </a:lnTo>
                      <a:lnTo>
                        <a:pt x="3350" y="11478"/>
                      </a:lnTo>
                      <a:lnTo>
                        <a:pt x="3285" y="11467"/>
                      </a:lnTo>
                      <a:lnTo>
                        <a:pt x="3222" y="11455"/>
                      </a:lnTo>
                      <a:lnTo>
                        <a:pt x="3158" y="11441"/>
                      </a:lnTo>
                      <a:lnTo>
                        <a:pt x="3096" y="11425"/>
                      </a:lnTo>
                      <a:lnTo>
                        <a:pt x="3035" y="11407"/>
                      </a:lnTo>
                      <a:lnTo>
                        <a:pt x="2975" y="11389"/>
                      </a:lnTo>
                      <a:lnTo>
                        <a:pt x="2915" y="11368"/>
                      </a:lnTo>
                      <a:lnTo>
                        <a:pt x="2857" y="11346"/>
                      </a:lnTo>
                      <a:lnTo>
                        <a:pt x="2799" y="11322"/>
                      </a:lnTo>
                      <a:lnTo>
                        <a:pt x="2742" y="11297"/>
                      </a:lnTo>
                      <a:lnTo>
                        <a:pt x="2686" y="11270"/>
                      </a:lnTo>
                      <a:lnTo>
                        <a:pt x="2630" y="11242"/>
                      </a:lnTo>
                      <a:lnTo>
                        <a:pt x="2576" y="11212"/>
                      </a:lnTo>
                      <a:lnTo>
                        <a:pt x="2522" y="11181"/>
                      </a:lnTo>
                      <a:lnTo>
                        <a:pt x="2469" y="11147"/>
                      </a:lnTo>
                      <a:lnTo>
                        <a:pt x="2417" y="11114"/>
                      </a:lnTo>
                      <a:lnTo>
                        <a:pt x="2365" y="11077"/>
                      </a:lnTo>
                      <a:lnTo>
                        <a:pt x="2315" y="11040"/>
                      </a:lnTo>
                      <a:lnTo>
                        <a:pt x="2266" y="11000"/>
                      </a:lnTo>
                      <a:lnTo>
                        <a:pt x="2216" y="10960"/>
                      </a:lnTo>
                      <a:lnTo>
                        <a:pt x="2167" y="10918"/>
                      </a:lnTo>
                      <a:lnTo>
                        <a:pt x="2119" y="10874"/>
                      </a:lnTo>
                      <a:lnTo>
                        <a:pt x="2073" y="10829"/>
                      </a:lnTo>
                      <a:lnTo>
                        <a:pt x="2026" y="10782"/>
                      </a:lnTo>
                      <a:lnTo>
                        <a:pt x="1981" y="10734"/>
                      </a:lnTo>
                      <a:lnTo>
                        <a:pt x="1936" y="10685"/>
                      </a:lnTo>
                      <a:lnTo>
                        <a:pt x="1892" y="10635"/>
                      </a:lnTo>
                      <a:lnTo>
                        <a:pt x="1849" y="10583"/>
                      </a:lnTo>
                      <a:lnTo>
                        <a:pt x="1806" y="10529"/>
                      </a:lnTo>
                      <a:lnTo>
                        <a:pt x="1764" y="10474"/>
                      </a:lnTo>
                      <a:lnTo>
                        <a:pt x="1722" y="10417"/>
                      </a:lnTo>
                      <a:lnTo>
                        <a:pt x="1682" y="10359"/>
                      </a:lnTo>
                      <a:lnTo>
                        <a:pt x="1642" y="10301"/>
                      </a:lnTo>
                      <a:lnTo>
                        <a:pt x="1603" y="10240"/>
                      </a:lnTo>
                      <a:lnTo>
                        <a:pt x="1564" y="10178"/>
                      </a:lnTo>
                      <a:lnTo>
                        <a:pt x="1526" y="10115"/>
                      </a:lnTo>
                      <a:lnTo>
                        <a:pt x="1488" y="10050"/>
                      </a:lnTo>
                      <a:lnTo>
                        <a:pt x="1452" y="9984"/>
                      </a:lnTo>
                      <a:lnTo>
                        <a:pt x="1416" y="9917"/>
                      </a:lnTo>
                      <a:lnTo>
                        <a:pt x="1381" y="9848"/>
                      </a:lnTo>
                      <a:lnTo>
                        <a:pt x="1346" y="9778"/>
                      </a:lnTo>
                      <a:lnTo>
                        <a:pt x="1311" y="9707"/>
                      </a:lnTo>
                      <a:lnTo>
                        <a:pt x="1278" y="9635"/>
                      </a:lnTo>
                      <a:lnTo>
                        <a:pt x="1245" y="9561"/>
                      </a:lnTo>
                      <a:lnTo>
                        <a:pt x="1213" y="9486"/>
                      </a:lnTo>
                      <a:lnTo>
                        <a:pt x="1180" y="9409"/>
                      </a:lnTo>
                      <a:lnTo>
                        <a:pt x="1149" y="9332"/>
                      </a:lnTo>
                      <a:lnTo>
                        <a:pt x="1119" y="9253"/>
                      </a:lnTo>
                      <a:lnTo>
                        <a:pt x="1090" y="9173"/>
                      </a:lnTo>
                      <a:lnTo>
                        <a:pt x="1060" y="9091"/>
                      </a:lnTo>
                      <a:lnTo>
                        <a:pt x="1030" y="9008"/>
                      </a:lnTo>
                      <a:lnTo>
                        <a:pt x="1003" y="8924"/>
                      </a:lnTo>
                      <a:lnTo>
                        <a:pt x="974" y="8839"/>
                      </a:lnTo>
                      <a:lnTo>
                        <a:pt x="947" y="8753"/>
                      </a:lnTo>
                      <a:lnTo>
                        <a:pt x="921" y="8665"/>
                      </a:lnTo>
                      <a:lnTo>
                        <a:pt x="894" y="8577"/>
                      </a:lnTo>
                      <a:lnTo>
                        <a:pt x="870" y="8487"/>
                      </a:lnTo>
                      <a:lnTo>
                        <a:pt x="844" y="8396"/>
                      </a:lnTo>
                      <a:lnTo>
                        <a:pt x="819" y="8304"/>
                      </a:lnTo>
                      <a:lnTo>
                        <a:pt x="796" y="8211"/>
                      </a:lnTo>
                      <a:lnTo>
                        <a:pt x="773" y="8117"/>
                      </a:lnTo>
                      <a:lnTo>
                        <a:pt x="749" y="8021"/>
                      </a:lnTo>
                      <a:lnTo>
                        <a:pt x="726" y="7925"/>
                      </a:lnTo>
                      <a:lnTo>
                        <a:pt x="704" y="7827"/>
                      </a:lnTo>
                      <a:lnTo>
                        <a:pt x="683" y="7729"/>
                      </a:lnTo>
                      <a:lnTo>
                        <a:pt x="663" y="7629"/>
                      </a:lnTo>
                      <a:lnTo>
                        <a:pt x="642" y="7528"/>
                      </a:lnTo>
                      <a:lnTo>
                        <a:pt x="621" y="7426"/>
                      </a:lnTo>
                      <a:lnTo>
                        <a:pt x="602" y="7322"/>
                      </a:lnTo>
                      <a:lnTo>
                        <a:pt x="582" y="7219"/>
                      </a:lnTo>
                      <a:lnTo>
                        <a:pt x="546" y="7008"/>
                      </a:lnTo>
                      <a:lnTo>
                        <a:pt x="510" y="6792"/>
                      </a:lnTo>
                      <a:lnTo>
                        <a:pt x="476" y="6573"/>
                      </a:lnTo>
                      <a:lnTo>
                        <a:pt x="445" y="6349"/>
                      </a:lnTo>
                      <a:lnTo>
                        <a:pt x="414" y="6123"/>
                      </a:lnTo>
                      <a:lnTo>
                        <a:pt x="386" y="5891"/>
                      </a:lnTo>
                      <a:lnTo>
                        <a:pt x="359" y="5657"/>
                      </a:lnTo>
                      <a:lnTo>
                        <a:pt x="333" y="5419"/>
                      </a:lnTo>
                      <a:lnTo>
                        <a:pt x="308" y="5177"/>
                      </a:lnTo>
                      <a:lnTo>
                        <a:pt x="286" y="4931"/>
                      </a:lnTo>
                      <a:lnTo>
                        <a:pt x="264" y="4683"/>
                      </a:lnTo>
                      <a:lnTo>
                        <a:pt x="243" y="4430"/>
                      </a:lnTo>
                      <a:lnTo>
                        <a:pt x="224" y="4174"/>
                      </a:lnTo>
                      <a:lnTo>
                        <a:pt x="206" y="3917"/>
                      </a:lnTo>
                      <a:lnTo>
                        <a:pt x="189" y="3654"/>
                      </a:lnTo>
                      <a:lnTo>
                        <a:pt x="174" y="3390"/>
                      </a:lnTo>
                      <a:lnTo>
                        <a:pt x="158" y="3122"/>
                      </a:lnTo>
                      <a:lnTo>
                        <a:pt x="145" y="2850"/>
                      </a:lnTo>
                      <a:lnTo>
                        <a:pt x="132" y="2577"/>
                      </a:lnTo>
                      <a:lnTo>
                        <a:pt x="119" y="2301"/>
                      </a:lnTo>
                      <a:lnTo>
                        <a:pt x="109" y="2022"/>
                      </a:lnTo>
                      <a:lnTo>
                        <a:pt x="97" y="1740"/>
                      </a:lnTo>
                      <a:lnTo>
                        <a:pt x="88" y="1456"/>
                      </a:lnTo>
                      <a:lnTo>
                        <a:pt x="79" y="1170"/>
                      </a:lnTo>
                      <a:lnTo>
                        <a:pt x="62" y="589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14" y="590"/>
                      </a:lnTo>
                      <a:lnTo>
                        <a:pt x="31" y="1171"/>
                      </a:lnTo>
                      <a:lnTo>
                        <a:pt x="40" y="1458"/>
                      </a:lnTo>
                      <a:lnTo>
                        <a:pt x="49" y="1742"/>
                      </a:lnTo>
                      <a:lnTo>
                        <a:pt x="61" y="2024"/>
                      </a:lnTo>
                      <a:lnTo>
                        <a:pt x="71" y="2303"/>
                      </a:lnTo>
                      <a:lnTo>
                        <a:pt x="84" y="2580"/>
                      </a:lnTo>
                      <a:lnTo>
                        <a:pt x="97" y="2853"/>
                      </a:lnTo>
                      <a:lnTo>
                        <a:pt x="110" y="3125"/>
                      </a:lnTo>
                      <a:lnTo>
                        <a:pt x="126" y="3393"/>
                      </a:lnTo>
                      <a:lnTo>
                        <a:pt x="141" y="3657"/>
                      </a:lnTo>
                      <a:lnTo>
                        <a:pt x="158" y="3919"/>
                      </a:lnTo>
                      <a:lnTo>
                        <a:pt x="176" y="4178"/>
                      </a:lnTo>
                      <a:lnTo>
                        <a:pt x="196" y="4434"/>
                      </a:lnTo>
                      <a:lnTo>
                        <a:pt x="216" y="4687"/>
                      </a:lnTo>
                      <a:lnTo>
                        <a:pt x="238" y="4935"/>
                      </a:lnTo>
                      <a:lnTo>
                        <a:pt x="262" y="5181"/>
                      </a:lnTo>
                      <a:lnTo>
                        <a:pt x="285" y="5423"/>
                      </a:lnTo>
                      <a:lnTo>
                        <a:pt x="311" y="5662"/>
                      </a:lnTo>
                      <a:lnTo>
                        <a:pt x="338" y="5896"/>
                      </a:lnTo>
                      <a:lnTo>
                        <a:pt x="368" y="6128"/>
                      </a:lnTo>
                      <a:lnTo>
                        <a:pt x="397" y="6356"/>
                      </a:lnTo>
                      <a:lnTo>
                        <a:pt x="430" y="6580"/>
                      </a:lnTo>
                      <a:lnTo>
                        <a:pt x="463" y="6800"/>
                      </a:lnTo>
                      <a:lnTo>
                        <a:pt x="498" y="7016"/>
                      </a:lnTo>
                      <a:lnTo>
                        <a:pt x="536" y="7227"/>
                      </a:lnTo>
                      <a:lnTo>
                        <a:pt x="555" y="7331"/>
                      </a:lnTo>
                      <a:lnTo>
                        <a:pt x="575" y="7435"/>
                      </a:lnTo>
                      <a:lnTo>
                        <a:pt x="594" y="7537"/>
                      </a:lnTo>
                      <a:lnTo>
                        <a:pt x="615" y="7638"/>
                      </a:lnTo>
                      <a:lnTo>
                        <a:pt x="637" y="7739"/>
                      </a:lnTo>
                      <a:lnTo>
                        <a:pt x="657" y="7837"/>
                      </a:lnTo>
                      <a:lnTo>
                        <a:pt x="679" y="7936"/>
                      </a:lnTo>
                      <a:lnTo>
                        <a:pt x="703" y="8033"/>
                      </a:lnTo>
                      <a:lnTo>
                        <a:pt x="726" y="8128"/>
                      </a:lnTo>
                      <a:lnTo>
                        <a:pt x="749" y="8223"/>
                      </a:lnTo>
                      <a:lnTo>
                        <a:pt x="774" y="8316"/>
                      </a:lnTo>
                      <a:lnTo>
                        <a:pt x="799" y="8409"/>
                      </a:lnTo>
                      <a:lnTo>
                        <a:pt x="823" y="8500"/>
                      </a:lnTo>
                      <a:lnTo>
                        <a:pt x="849" y="8590"/>
                      </a:lnTo>
                      <a:lnTo>
                        <a:pt x="875" y="8680"/>
                      </a:lnTo>
                      <a:lnTo>
                        <a:pt x="902" y="8768"/>
                      </a:lnTo>
                      <a:lnTo>
                        <a:pt x="929" y="8854"/>
                      </a:lnTo>
                      <a:lnTo>
                        <a:pt x="958" y="8940"/>
                      </a:lnTo>
                      <a:lnTo>
                        <a:pt x="985" y="9024"/>
                      </a:lnTo>
                      <a:lnTo>
                        <a:pt x="1015" y="9107"/>
                      </a:lnTo>
                      <a:lnTo>
                        <a:pt x="1044" y="9188"/>
                      </a:lnTo>
                      <a:lnTo>
                        <a:pt x="1074" y="9270"/>
                      </a:lnTo>
                      <a:lnTo>
                        <a:pt x="1105" y="9349"/>
                      </a:lnTo>
                      <a:lnTo>
                        <a:pt x="1136" y="9428"/>
                      </a:lnTo>
                      <a:lnTo>
                        <a:pt x="1169" y="9504"/>
                      </a:lnTo>
                      <a:lnTo>
                        <a:pt x="1201" y="9580"/>
                      </a:lnTo>
                      <a:lnTo>
                        <a:pt x="1235" y="9654"/>
                      </a:lnTo>
                      <a:lnTo>
                        <a:pt x="1268" y="9728"/>
                      </a:lnTo>
                      <a:lnTo>
                        <a:pt x="1303" y="9799"/>
                      </a:lnTo>
                      <a:lnTo>
                        <a:pt x="1338" y="9870"/>
                      </a:lnTo>
                      <a:lnTo>
                        <a:pt x="1373" y="9939"/>
                      </a:lnTo>
                      <a:lnTo>
                        <a:pt x="1410" y="10007"/>
                      </a:lnTo>
                      <a:lnTo>
                        <a:pt x="1447" y="10073"/>
                      </a:lnTo>
                      <a:lnTo>
                        <a:pt x="1484" y="10139"/>
                      </a:lnTo>
                      <a:lnTo>
                        <a:pt x="1523" y="10203"/>
                      </a:lnTo>
                      <a:lnTo>
                        <a:pt x="1562" y="10266"/>
                      </a:lnTo>
                      <a:lnTo>
                        <a:pt x="1602" y="10327"/>
                      </a:lnTo>
                      <a:lnTo>
                        <a:pt x="1642" y="10386"/>
                      </a:lnTo>
                      <a:lnTo>
                        <a:pt x="1683" y="10446"/>
                      </a:lnTo>
                      <a:lnTo>
                        <a:pt x="1726" y="10503"/>
                      </a:lnTo>
                      <a:lnTo>
                        <a:pt x="1769" y="10558"/>
                      </a:lnTo>
                      <a:lnTo>
                        <a:pt x="1812" y="10613"/>
                      </a:lnTo>
                      <a:lnTo>
                        <a:pt x="1856" y="10666"/>
                      </a:lnTo>
                      <a:lnTo>
                        <a:pt x="1901" y="10718"/>
                      </a:lnTo>
                      <a:lnTo>
                        <a:pt x="1946" y="10768"/>
                      </a:lnTo>
                      <a:lnTo>
                        <a:pt x="1993" y="10816"/>
                      </a:lnTo>
                      <a:lnTo>
                        <a:pt x="2039" y="10864"/>
                      </a:lnTo>
                      <a:lnTo>
                        <a:pt x="2087" y="10909"/>
                      </a:lnTo>
                      <a:lnTo>
                        <a:pt x="2136" y="10953"/>
                      </a:lnTo>
                      <a:lnTo>
                        <a:pt x="2185" y="10996"/>
                      </a:lnTo>
                      <a:lnTo>
                        <a:pt x="2235" y="11037"/>
                      </a:lnTo>
                      <a:lnTo>
                        <a:pt x="2286" y="11077"/>
                      </a:lnTo>
                      <a:lnTo>
                        <a:pt x="2338" y="11116"/>
                      </a:lnTo>
                      <a:lnTo>
                        <a:pt x="2390" y="11152"/>
                      </a:lnTo>
                      <a:lnTo>
                        <a:pt x="2443" y="11187"/>
                      </a:lnTo>
                      <a:lnTo>
                        <a:pt x="2497" y="11221"/>
                      </a:lnTo>
                      <a:lnTo>
                        <a:pt x="2553" y="11253"/>
                      </a:lnTo>
                      <a:lnTo>
                        <a:pt x="2608" y="11284"/>
                      </a:lnTo>
                      <a:lnTo>
                        <a:pt x="2664" y="11313"/>
                      </a:lnTo>
                      <a:lnTo>
                        <a:pt x="2722" y="11340"/>
                      </a:lnTo>
                      <a:lnTo>
                        <a:pt x="2781" y="11366"/>
                      </a:lnTo>
                      <a:lnTo>
                        <a:pt x="2839" y="11390"/>
                      </a:lnTo>
                      <a:lnTo>
                        <a:pt x="2900" y="11414"/>
                      </a:lnTo>
                      <a:lnTo>
                        <a:pt x="2960" y="11434"/>
                      </a:lnTo>
                      <a:lnTo>
                        <a:pt x="3021" y="11454"/>
                      </a:lnTo>
                      <a:lnTo>
                        <a:pt x="3085" y="11472"/>
                      </a:lnTo>
                      <a:lnTo>
                        <a:pt x="3147" y="11487"/>
                      </a:lnTo>
                      <a:lnTo>
                        <a:pt x="3211" y="11502"/>
                      </a:lnTo>
                      <a:lnTo>
                        <a:pt x="3276" y="11515"/>
                      </a:lnTo>
                      <a:lnTo>
                        <a:pt x="3342" y="11525"/>
                      </a:lnTo>
                      <a:lnTo>
                        <a:pt x="3409" y="11535"/>
                      </a:lnTo>
                      <a:lnTo>
                        <a:pt x="3477" y="11543"/>
                      </a:lnTo>
                      <a:lnTo>
                        <a:pt x="3482" y="11495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1" name="Rectangle 84">
                  <a:extLst>
                    <a:ext uri="{FF2B5EF4-FFF2-40B4-BE49-F238E27FC236}">
                      <a16:creationId xmlns:a16="http://schemas.microsoft.com/office/drawing/2014/main" id="{298C3254-BB41-4BF4-A745-E0474ABF7E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3" y="183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2" name="Rectangle 85">
                  <a:extLst>
                    <a:ext uri="{FF2B5EF4-FFF2-40B4-BE49-F238E27FC236}">
                      <a16:creationId xmlns:a16="http://schemas.microsoft.com/office/drawing/2014/main" id="{C630E374-A4A1-4354-B60E-1F926CF5D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0" y="1793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3" name="Rectangle 86">
                  <a:extLst>
                    <a:ext uri="{FF2B5EF4-FFF2-40B4-BE49-F238E27FC236}">
                      <a16:creationId xmlns:a16="http://schemas.microsoft.com/office/drawing/2014/main" id="{DB90A78E-63FD-46E5-A35D-9B538FA2A4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5" y="175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4" name="Rectangle 87">
                  <a:extLst>
                    <a:ext uri="{FF2B5EF4-FFF2-40B4-BE49-F238E27FC236}">
                      <a16:creationId xmlns:a16="http://schemas.microsoft.com/office/drawing/2014/main" id="{3E4255A6-BBF9-4678-9579-8F077CDA0F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2" y="173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5" name="Rectangle 88">
                  <a:extLst>
                    <a:ext uri="{FF2B5EF4-FFF2-40B4-BE49-F238E27FC236}">
                      <a16:creationId xmlns:a16="http://schemas.microsoft.com/office/drawing/2014/main" id="{B2A3927C-D2B1-4405-A822-52A3E453D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9" y="171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6" name="Rectangle 89">
                  <a:extLst>
                    <a:ext uri="{FF2B5EF4-FFF2-40B4-BE49-F238E27FC236}">
                      <a16:creationId xmlns:a16="http://schemas.microsoft.com/office/drawing/2014/main" id="{00CA8699-29F2-4BAA-A016-684A089B8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4" y="1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7" name="Rectangle 90">
                  <a:extLst>
                    <a:ext uri="{FF2B5EF4-FFF2-40B4-BE49-F238E27FC236}">
                      <a16:creationId xmlns:a16="http://schemas.microsoft.com/office/drawing/2014/main" id="{9F47C82D-93AD-467B-B5A2-F92C699FCB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3" y="1651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8" name="Rectangle 91">
                  <a:extLst>
                    <a:ext uri="{FF2B5EF4-FFF2-40B4-BE49-F238E27FC236}">
                      <a16:creationId xmlns:a16="http://schemas.microsoft.com/office/drawing/2014/main" id="{C9E31EAE-FD78-4A7D-A817-FCE30FC60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91" y="161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9" name="Rectangle 92">
                  <a:extLst>
                    <a:ext uri="{FF2B5EF4-FFF2-40B4-BE49-F238E27FC236}">
                      <a16:creationId xmlns:a16="http://schemas.microsoft.com/office/drawing/2014/main" id="{4884A376-CFF7-4923-A8C0-0415D53D5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87" y="1568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0" name="Rectangle 93">
                  <a:extLst>
                    <a:ext uri="{FF2B5EF4-FFF2-40B4-BE49-F238E27FC236}">
                      <a16:creationId xmlns:a16="http://schemas.microsoft.com/office/drawing/2014/main" id="{58824544-31B8-4C23-8C34-FBBE910B1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0" y="152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1" name="Rectangle 94">
                  <a:extLst>
                    <a:ext uri="{FF2B5EF4-FFF2-40B4-BE49-F238E27FC236}">
                      <a16:creationId xmlns:a16="http://schemas.microsoft.com/office/drawing/2014/main" id="{0AFEB2D1-3F19-48DC-B60D-4DB0AC3B4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2" y="1490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2" name="Rectangle 95">
                  <a:extLst>
                    <a:ext uri="{FF2B5EF4-FFF2-40B4-BE49-F238E27FC236}">
                      <a16:creationId xmlns:a16="http://schemas.microsoft.com/office/drawing/2014/main" id="{B92DC0E3-80CA-484F-8B25-3078AD46B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5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3" name="Rectangle 96">
                  <a:extLst>
                    <a:ext uri="{FF2B5EF4-FFF2-40B4-BE49-F238E27FC236}">
                      <a16:creationId xmlns:a16="http://schemas.microsoft.com/office/drawing/2014/main" id="{0D7695FE-16B6-48C7-B627-373CED4D61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1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4" name="Rectangle 97">
                  <a:extLst>
                    <a:ext uri="{FF2B5EF4-FFF2-40B4-BE49-F238E27FC236}">
                      <a16:creationId xmlns:a16="http://schemas.microsoft.com/office/drawing/2014/main" id="{F26F53E9-BEF1-4496-BCE4-3B7DE269A8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71" y="13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5" name="Rectangle 98">
                  <a:extLst>
                    <a:ext uri="{FF2B5EF4-FFF2-40B4-BE49-F238E27FC236}">
                      <a16:creationId xmlns:a16="http://schemas.microsoft.com/office/drawing/2014/main" id="{8C5588F3-28BA-497B-8CD8-89380BA9F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66" y="133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6" name="Rectangle 99">
                  <a:extLst>
                    <a:ext uri="{FF2B5EF4-FFF2-40B4-BE49-F238E27FC236}">
                      <a16:creationId xmlns:a16="http://schemas.microsoft.com/office/drawing/2014/main" id="{B24944AF-4CE9-4D38-84F6-703802F78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01" y="1220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7" name="Rectangle 100">
                  <a:extLst>
                    <a:ext uri="{FF2B5EF4-FFF2-40B4-BE49-F238E27FC236}">
                      <a16:creationId xmlns:a16="http://schemas.microsoft.com/office/drawing/2014/main" id="{4B1D93F3-2565-4D68-BEB9-93114E1F0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21" y="1299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8" name="Rectangle 101">
                  <a:extLst>
                    <a:ext uri="{FF2B5EF4-FFF2-40B4-BE49-F238E27FC236}">
                      <a16:creationId xmlns:a16="http://schemas.microsoft.com/office/drawing/2014/main" id="{6B32FEAC-753A-48FC-9705-5FAB18E62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74" y="305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9" name="Rectangle 102">
                  <a:extLst>
                    <a:ext uri="{FF2B5EF4-FFF2-40B4-BE49-F238E27FC236}">
                      <a16:creationId xmlns:a16="http://schemas.microsoft.com/office/drawing/2014/main" id="{A6A59FDE-2837-4922-B462-608758690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90" y="302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0" name="Rectangle 103">
                  <a:extLst>
                    <a:ext uri="{FF2B5EF4-FFF2-40B4-BE49-F238E27FC236}">
                      <a16:creationId xmlns:a16="http://schemas.microsoft.com/office/drawing/2014/main" id="{AF6B5902-5FF0-4408-B6EB-3A8396418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01" y="299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1" name="Rectangle 104">
                  <a:extLst>
                    <a:ext uri="{FF2B5EF4-FFF2-40B4-BE49-F238E27FC236}">
                      <a16:creationId xmlns:a16="http://schemas.microsoft.com/office/drawing/2014/main" id="{5782D0CF-DCF1-44CC-82E3-B815227D2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0" y="29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2" name="Rectangle 105">
                  <a:extLst>
                    <a:ext uri="{FF2B5EF4-FFF2-40B4-BE49-F238E27FC236}">
                      <a16:creationId xmlns:a16="http://schemas.microsoft.com/office/drawing/2014/main" id="{2EEEEF7A-8D0D-40F2-861A-EC00F33836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9" y="292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3" name="Rectangle 106">
                  <a:extLst>
                    <a:ext uri="{FF2B5EF4-FFF2-40B4-BE49-F238E27FC236}">
                      <a16:creationId xmlns:a16="http://schemas.microsoft.com/office/drawing/2014/main" id="{297059AE-C68F-4E60-8D1C-C100B2298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94" y="289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4" name="Rectangle 107">
                  <a:extLst>
                    <a:ext uri="{FF2B5EF4-FFF2-40B4-BE49-F238E27FC236}">
                      <a16:creationId xmlns:a16="http://schemas.microsoft.com/office/drawing/2014/main" id="{ABBDFA15-90E0-4653-B4F7-A131C4271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506" y="2861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5" name="Rectangle 108">
                  <a:extLst>
                    <a:ext uri="{FF2B5EF4-FFF2-40B4-BE49-F238E27FC236}">
                      <a16:creationId xmlns:a16="http://schemas.microsoft.com/office/drawing/2014/main" id="{84718F56-8BB5-452A-AFAF-B4F229630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18" y="286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6" name="Rectangle 109">
                  <a:extLst>
                    <a:ext uri="{FF2B5EF4-FFF2-40B4-BE49-F238E27FC236}">
                      <a16:creationId xmlns:a16="http://schemas.microsoft.com/office/drawing/2014/main" id="{0D3A7035-A6DA-4BD0-AA5B-A68324F02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2" y="283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7" name="Rectangle 110">
                  <a:extLst>
                    <a:ext uri="{FF2B5EF4-FFF2-40B4-BE49-F238E27FC236}">
                      <a16:creationId xmlns:a16="http://schemas.microsoft.com/office/drawing/2014/main" id="{F97FFF9E-766F-4638-9235-80C5A2838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9" y="280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8" name="Rectangle 111">
                  <a:extLst>
                    <a:ext uri="{FF2B5EF4-FFF2-40B4-BE49-F238E27FC236}">
                      <a16:creationId xmlns:a16="http://schemas.microsoft.com/office/drawing/2014/main" id="{E009D44D-87C5-4B3C-8F1D-7D9DDDC37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4" y="276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9" name="Rectangle 112">
                  <a:extLst>
                    <a:ext uri="{FF2B5EF4-FFF2-40B4-BE49-F238E27FC236}">
                      <a16:creationId xmlns:a16="http://schemas.microsoft.com/office/drawing/2014/main" id="{364BAA6E-50CE-4517-AB05-D03C3A00B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8" y="2727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0" name="Rectangle 113">
                  <a:extLst>
                    <a:ext uri="{FF2B5EF4-FFF2-40B4-BE49-F238E27FC236}">
                      <a16:creationId xmlns:a16="http://schemas.microsoft.com/office/drawing/2014/main" id="{9970D599-D2ED-4E6D-863F-C3AAFE86A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35" y="2626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1" name="Rectangle 114">
                  <a:extLst>
                    <a:ext uri="{FF2B5EF4-FFF2-40B4-BE49-F238E27FC236}">
                      <a16:creationId xmlns:a16="http://schemas.microsoft.com/office/drawing/2014/main" id="{010024E4-6307-4E24-88A4-0FF94D5EBE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41" y="2703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2" name="Rectangle 115">
                  <a:extLst>
                    <a:ext uri="{FF2B5EF4-FFF2-40B4-BE49-F238E27FC236}">
                      <a16:creationId xmlns:a16="http://schemas.microsoft.com/office/drawing/2014/main" id="{1224D237-79BF-47A2-94D4-98BF03118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35" y="1593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3" name="Rectangle 116">
                  <a:extLst>
                    <a:ext uri="{FF2B5EF4-FFF2-40B4-BE49-F238E27FC236}">
                      <a16:creationId xmlns:a16="http://schemas.microsoft.com/office/drawing/2014/main" id="{E33436F1-21BB-40CB-BF96-8AD148B7F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72" y="153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4" name="Rectangle 117">
                  <a:extLst>
                    <a:ext uri="{FF2B5EF4-FFF2-40B4-BE49-F238E27FC236}">
                      <a16:creationId xmlns:a16="http://schemas.microsoft.com/office/drawing/2014/main" id="{B2C005DE-4BE3-4BEE-BD5A-377489984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5" y="149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5" name="Rectangle 118">
                  <a:extLst>
                    <a:ext uri="{FF2B5EF4-FFF2-40B4-BE49-F238E27FC236}">
                      <a16:creationId xmlns:a16="http://schemas.microsoft.com/office/drawing/2014/main" id="{056F6E79-9711-4582-9B30-DF13D49F44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4" y="145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6" name="Rectangle 119">
                  <a:extLst>
                    <a:ext uri="{FF2B5EF4-FFF2-40B4-BE49-F238E27FC236}">
                      <a16:creationId xmlns:a16="http://schemas.microsoft.com/office/drawing/2014/main" id="{54E66A68-7803-4F35-A9C9-5312166EA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21" y="14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7" name="Rectangle 120">
                  <a:extLst>
                    <a:ext uri="{FF2B5EF4-FFF2-40B4-BE49-F238E27FC236}">
                      <a16:creationId xmlns:a16="http://schemas.microsoft.com/office/drawing/2014/main" id="{85957940-6911-4FDA-A0E2-7C15EA46F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4" y="1371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8" name="Rectangle 121">
                  <a:extLst>
                    <a:ext uri="{FF2B5EF4-FFF2-40B4-BE49-F238E27FC236}">
                      <a16:creationId xmlns:a16="http://schemas.microsoft.com/office/drawing/2014/main" id="{B7CE6E41-0093-47A2-AFD9-0C2039A94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7" y="131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9" name="Rectangle 122">
                  <a:extLst>
                    <a:ext uri="{FF2B5EF4-FFF2-40B4-BE49-F238E27FC236}">
                      <a16:creationId xmlns:a16="http://schemas.microsoft.com/office/drawing/2014/main" id="{5D704309-C852-4DD8-9FDA-59B6FFCED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299" y="2910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0" name="Rectangle 123">
                  <a:extLst>
                    <a:ext uri="{FF2B5EF4-FFF2-40B4-BE49-F238E27FC236}">
                      <a16:creationId xmlns:a16="http://schemas.microsoft.com/office/drawing/2014/main" id="{AEFAB9BF-FF94-42B6-A238-BB1276614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52" y="285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1" name="Rectangle 124">
                  <a:extLst>
                    <a:ext uri="{FF2B5EF4-FFF2-40B4-BE49-F238E27FC236}">
                      <a16:creationId xmlns:a16="http://schemas.microsoft.com/office/drawing/2014/main" id="{99C80E03-39E9-4C36-8081-E7D83C899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83" y="282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2" name="Rectangle 125">
                  <a:extLst>
                    <a:ext uri="{FF2B5EF4-FFF2-40B4-BE49-F238E27FC236}">
                      <a16:creationId xmlns:a16="http://schemas.microsoft.com/office/drawing/2014/main" id="{9A89A979-2CA1-4DC3-A487-F5007C1A8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93" y="279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3" name="Rectangle 126">
                  <a:extLst>
                    <a:ext uri="{FF2B5EF4-FFF2-40B4-BE49-F238E27FC236}">
                      <a16:creationId xmlns:a16="http://schemas.microsoft.com/office/drawing/2014/main" id="{B74F56D5-9DEF-4905-A992-DD8431215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1" y="275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4" name="Rectangle 127">
                  <a:extLst>
                    <a:ext uri="{FF2B5EF4-FFF2-40B4-BE49-F238E27FC236}">
                      <a16:creationId xmlns:a16="http://schemas.microsoft.com/office/drawing/2014/main" id="{7E81E1A7-614C-4B81-943C-5C9ADAC5F0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6" y="2717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5" name="Rectangle 128">
                  <a:extLst>
                    <a:ext uri="{FF2B5EF4-FFF2-40B4-BE49-F238E27FC236}">
                      <a16:creationId xmlns:a16="http://schemas.microsoft.com/office/drawing/2014/main" id="{BA97E6B1-A497-403B-9A74-4FED8BDC7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85" y="266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6" name="Rectangle 129">
                  <a:extLst>
                    <a:ext uri="{FF2B5EF4-FFF2-40B4-BE49-F238E27FC236}">
                      <a16:creationId xmlns:a16="http://schemas.microsoft.com/office/drawing/2014/main" id="{0D8DFBC4-DCD2-45BD-BD7C-E00FB50FE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274" y="3132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7" name="Rectangle 130">
                  <a:extLst>
                    <a:ext uri="{FF2B5EF4-FFF2-40B4-BE49-F238E27FC236}">
                      <a16:creationId xmlns:a16="http://schemas.microsoft.com/office/drawing/2014/main" id="{563C83EF-E1F1-4728-8EC7-9478420D19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18" y="308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8" name="Rectangle 131">
                  <a:extLst>
                    <a:ext uri="{FF2B5EF4-FFF2-40B4-BE49-F238E27FC236}">
                      <a16:creationId xmlns:a16="http://schemas.microsoft.com/office/drawing/2014/main" id="{D42B36C5-E7C9-49C2-9C9D-5FCFFBB36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53" y="304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9" name="Rectangle 132">
                  <a:extLst>
                    <a:ext uri="{FF2B5EF4-FFF2-40B4-BE49-F238E27FC236}">
                      <a16:creationId xmlns:a16="http://schemas.microsoft.com/office/drawing/2014/main" id="{EBF4A38C-51A1-4BFC-9DE8-21A6275E08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34" y="1691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0" name="Rectangle 133">
                  <a:extLst>
                    <a:ext uri="{FF2B5EF4-FFF2-40B4-BE49-F238E27FC236}">
                      <a16:creationId xmlns:a16="http://schemas.microsoft.com/office/drawing/2014/main" id="{EC67E1ED-3A94-49AC-A483-7FD027AD4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53" y="1758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1" name="Rectangle 134">
                  <a:extLst>
                    <a:ext uri="{FF2B5EF4-FFF2-40B4-BE49-F238E27FC236}">
                      <a16:creationId xmlns:a16="http://schemas.microsoft.com/office/drawing/2014/main" id="{8BAB330A-8755-417E-AFBF-CB65435AB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1" y="1795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2" name="Rectangle 135">
                  <a:extLst>
                    <a:ext uri="{FF2B5EF4-FFF2-40B4-BE49-F238E27FC236}">
                      <a16:creationId xmlns:a16="http://schemas.microsoft.com/office/drawing/2014/main" id="{BE6007E5-78AA-4BD4-83D4-731870470E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0" y="18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3" name="Freeform 136">
                  <a:extLst>
                    <a:ext uri="{FF2B5EF4-FFF2-40B4-BE49-F238E27FC236}">
                      <a16:creationId xmlns:a16="http://schemas.microsoft.com/office/drawing/2014/main" id="{2A2BBB78-EFE6-47D9-A106-B6F741A4A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0" y="1009"/>
                  <a:ext cx="2052" cy="1069"/>
                </a:xfrm>
                <a:custGeom>
                  <a:avLst/>
                  <a:gdLst>
                    <a:gd name="T0" fmla="*/ 7945 w 8208"/>
                    <a:gd name="T1" fmla="*/ 62 h 4275"/>
                    <a:gd name="T2" fmla="*/ 7592 w 8208"/>
                    <a:gd name="T3" fmla="*/ 165 h 4275"/>
                    <a:gd name="T4" fmla="*/ 7233 w 8208"/>
                    <a:gd name="T5" fmla="*/ 280 h 4275"/>
                    <a:gd name="T6" fmla="*/ 6870 w 8208"/>
                    <a:gd name="T7" fmla="*/ 406 h 4275"/>
                    <a:gd name="T8" fmla="*/ 6501 w 8208"/>
                    <a:gd name="T9" fmla="*/ 544 h 4275"/>
                    <a:gd name="T10" fmla="*/ 6127 w 8208"/>
                    <a:gd name="T11" fmla="*/ 691 h 4275"/>
                    <a:gd name="T12" fmla="*/ 5749 w 8208"/>
                    <a:gd name="T13" fmla="*/ 849 h 4275"/>
                    <a:gd name="T14" fmla="*/ 5369 w 8208"/>
                    <a:gd name="T15" fmla="*/ 1019 h 4275"/>
                    <a:gd name="T16" fmla="*/ 4983 w 8208"/>
                    <a:gd name="T17" fmla="*/ 1197 h 4275"/>
                    <a:gd name="T18" fmla="*/ 4597 w 8208"/>
                    <a:gd name="T19" fmla="*/ 1385 h 4275"/>
                    <a:gd name="T20" fmla="*/ 4206 w 8208"/>
                    <a:gd name="T21" fmla="*/ 1581 h 4275"/>
                    <a:gd name="T22" fmla="*/ 3814 w 8208"/>
                    <a:gd name="T23" fmla="*/ 1787 h 4275"/>
                    <a:gd name="T24" fmla="*/ 3421 w 8208"/>
                    <a:gd name="T25" fmla="*/ 2002 h 4275"/>
                    <a:gd name="T26" fmla="*/ 3025 w 8208"/>
                    <a:gd name="T27" fmla="*/ 2224 h 4275"/>
                    <a:gd name="T28" fmla="*/ 2629 w 8208"/>
                    <a:gd name="T29" fmla="*/ 2455 h 4275"/>
                    <a:gd name="T30" fmla="*/ 2233 w 8208"/>
                    <a:gd name="T31" fmla="*/ 2693 h 4275"/>
                    <a:gd name="T32" fmla="*/ 1837 w 8208"/>
                    <a:gd name="T33" fmla="*/ 2939 h 4275"/>
                    <a:gd name="T34" fmla="*/ 1441 w 8208"/>
                    <a:gd name="T35" fmla="*/ 3191 h 4275"/>
                    <a:gd name="T36" fmla="*/ 1045 w 8208"/>
                    <a:gd name="T37" fmla="*/ 3450 h 4275"/>
                    <a:gd name="T38" fmla="*/ 652 w 8208"/>
                    <a:gd name="T39" fmla="*/ 3716 h 4275"/>
                    <a:gd name="T40" fmla="*/ 260 w 8208"/>
                    <a:gd name="T41" fmla="*/ 3987 h 4275"/>
                    <a:gd name="T42" fmla="*/ 74 w 8208"/>
                    <a:gd name="T43" fmla="*/ 4275 h 4275"/>
                    <a:gd name="T44" fmla="*/ 463 w 8208"/>
                    <a:gd name="T45" fmla="*/ 4001 h 4275"/>
                    <a:gd name="T46" fmla="*/ 854 w 8208"/>
                    <a:gd name="T47" fmla="*/ 3732 h 4275"/>
                    <a:gd name="T48" fmla="*/ 1247 w 8208"/>
                    <a:gd name="T49" fmla="*/ 3469 h 4275"/>
                    <a:gd name="T50" fmla="*/ 1642 w 8208"/>
                    <a:gd name="T51" fmla="*/ 3214 h 4275"/>
                    <a:gd name="T52" fmla="*/ 2036 w 8208"/>
                    <a:gd name="T53" fmla="*/ 2965 h 4275"/>
                    <a:gd name="T54" fmla="*/ 2431 w 8208"/>
                    <a:gd name="T55" fmla="*/ 2723 h 4275"/>
                    <a:gd name="T56" fmla="*/ 2826 w 8208"/>
                    <a:gd name="T57" fmla="*/ 2487 h 4275"/>
                    <a:gd name="T58" fmla="*/ 3220 w 8208"/>
                    <a:gd name="T59" fmla="*/ 2261 h 4275"/>
                    <a:gd name="T60" fmla="*/ 3613 w 8208"/>
                    <a:gd name="T61" fmla="*/ 2042 h 4275"/>
                    <a:gd name="T62" fmla="*/ 4004 w 8208"/>
                    <a:gd name="T63" fmla="*/ 1831 h 4275"/>
                    <a:gd name="T64" fmla="*/ 4395 w 8208"/>
                    <a:gd name="T65" fmla="*/ 1629 h 4275"/>
                    <a:gd name="T66" fmla="*/ 4782 w 8208"/>
                    <a:gd name="T67" fmla="*/ 1435 h 4275"/>
                    <a:gd name="T68" fmla="*/ 5166 w 8208"/>
                    <a:gd name="T69" fmla="*/ 1251 h 4275"/>
                    <a:gd name="T70" fmla="*/ 5548 w 8208"/>
                    <a:gd name="T71" fmla="*/ 1077 h 4275"/>
                    <a:gd name="T72" fmla="*/ 5925 w 8208"/>
                    <a:gd name="T73" fmla="*/ 914 h 4275"/>
                    <a:gd name="T74" fmla="*/ 6299 w 8208"/>
                    <a:gd name="T75" fmla="*/ 760 h 4275"/>
                    <a:gd name="T76" fmla="*/ 6669 w 8208"/>
                    <a:gd name="T77" fmla="*/ 616 h 4275"/>
                    <a:gd name="T78" fmla="*/ 7034 w 8208"/>
                    <a:gd name="T79" fmla="*/ 483 h 4275"/>
                    <a:gd name="T80" fmla="*/ 7392 w 8208"/>
                    <a:gd name="T81" fmla="*/ 361 h 4275"/>
                    <a:gd name="T82" fmla="*/ 7746 w 8208"/>
                    <a:gd name="T83" fmla="*/ 253 h 4275"/>
                    <a:gd name="T84" fmla="*/ 8094 w 8208"/>
                    <a:gd name="T85" fmla="*/ 154 h 4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208" h="4275">
                      <a:moveTo>
                        <a:pt x="8176" y="0"/>
                      </a:moveTo>
                      <a:lnTo>
                        <a:pt x="8060" y="30"/>
                      </a:lnTo>
                      <a:lnTo>
                        <a:pt x="7945" y="62"/>
                      </a:lnTo>
                      <a:lnTo>
                        <a:pt x="7827" y="95"/>
                      </a:lnTo>
                      <a:lnTo>
                        <a:pt x="7711" y="130"/>
                      </a:lnTo>
                      <a:lnTo>
                        <a:pt x="7592" y="165"/>
                      </a:lnTo>
                      <a:lnTo>
                        <a:pt x="7473" y="202"/>
                      </a:lnTo>
                      <a:lnTo>
                        <a:pt x="7354" y="241"/>
                      </a:lnTo>
                      <a:lnTo>
                        <a:pt x="7233" y="280"/>
                      </a:lnTo>
                      <a:lnTo>
                        <a:pt x="7113" y="321"/>
                      </a:lnTo>
                      <a:lnTo>
                        <a:pt x="6991" y="363"/>
                      </a:lnTo>
                      <a:lnTo>
                        <a:pt x="6870" y="406"/>
                      </a:lnTo>
                      <a:lnTo>
                        <a:pt x="6747" y="450"/>
                      </a:lnTo>
                      <a:lnTo>
                        <a:pt x="6624" y="496"/>
                      </a:lnTo>
                      <a:lnTo>
                        <a:pt x="6501" y="544"/>
                      </a:lnTo>
                      <a:lnTo>
                        <a:pt x="6377" y="592"/>
                      </a:lnTo>
                      <a:lnTo>
                        <a:pt x="6253" y="641"/>
                      </a:lnTo>
                      <a:lnTo>
                        <a:pt x="6127" y="691"/>
                      </a:lnTo>
                      <a:lnTo>
                        <a:pt x="6002" y="743"/>
                      </a:lnTo>
                      <a:lnTo>
                        <a:pt x="5876" y="796"/>
                      </a:lnTo>
                      <a:lnTo>
                        <a:pt x="5749" y="849"/>
                      </a:lnTo>
                      <a:lnTo>
                        <a:pt x="5624" y="905"/>
                      </a:lnTo>
                      <a:lnTo>
                        <a:pt x="5496" y="960"/>
                      </a:lnTo>
                      <a:lnTo>
                        <a:pt x="5369" y="1019"/>
                      </a:lnTo>
                      <a:lnTo>
                        <a:pt x="5241" y="1077"/>
                      </a:lnTo>
                      <a:lnTo>
                        <a:pt x="5113" y="1136"/>
                      </a:lnTo>
                      <a:lnTo>
                        <a:pt x="4983" y="1197"/>
                      </a:lnTo>
                      <a:lnTo>
                        <a:pt x="4855" y="1258"/>
                      </a:lnTo>
                      <a:lnTo>
                        <a:pt x="4726" y="1320"/>
                      </a:lnTo>
                      <a:lnTo>
                        <a:pt x="4597" y="1385"/>
                      </a:lnTo>
                      <a:lnTo>
                        <a:pt x="4467" y="1449"/>
                      </a:lnTo>
                      <a:lnTo>
                        <a:pt x="4337" y="1514"/>
                      </a:lnTo>
                      <a:lnTo>
                        <a:pt x="4206" y="1581"/>
                      </a:lnTo>
                      <a:lnTo>
                        <a:pt x="4075" y="1649"/>
                      </a:lnTo>
                      <a:lnTo>
                        <a:pt x="3945" y="1717"/>
                      </a:lnTo>
                      <a:lnTo>
                        <a:pt x="3814" y="1787"/>
                      </a:lnTo>
                      <a:lnTo>
                        <a:pt x="3683" y="1858"/>
                      </a:lnTo>
                      <a:lnTo>
                        <a:pt x="3551" y="1929"/>
                      </a:lnTo>
                      <a:lnTo>
                        <a:pt x="3421" y="2002"/>
                      </a:lnTo>
                      <a:lnTo>
                        <a:pt x="3289" y="2076"/>
                      </a:lnTo>
                      <a:lnTo>
                        <a:pt x="3157" y="2149"/>
                      </a:lnTo>
                      <a:lnTo>
                        <a:pt x="3025" y="2224"/>
                      </a:lnTo>
                      <a:lnTo>
                        <a:pt x="2893" y="2301"/>
                      </a:lnTo>
                      <a:lnTo>
                        <a:pt x="2761" y="2377"/>
                      </a:lnTo>
                      <a:lnTo>
                        <a:pt x="2629" y="2455"/>
                      </a:lnTo>
                      <a:lnTo>
                        <a:pt x="2497" y="2534"/>
                      </a:lnTo>
                      <a:lnTo>
                        <a:pt x="2365" y="2613"/>
                      </a:lnTo>
                      <a:lnTo>
                        <a:pt x="2233" y="2693"/>
                      </a:lnTo>
                      <a:lnTo>
                        <a:pt x="2101" y="2774"/>
                      </a:lnTo>
                      <a:lnTo>
                        <a:pt x="1969" y="2856"/>
                      </a:lnTo>
                      <a:lnTo>
                        <a:pt x="1837" y="2939"/>
                      </a:lnTo>
                      <a:lnTo>
                        <a:pt x="1705" y="3022"/>
                      </a:lnTo>
                      <a:lnTo>
                        <a:pt x="1573" y="3107"/>
                      </a:lnTo>
                      <a:lnTo>
                        <a:pt x="1441" y="3191"/>
                      </a:lnTo>
                      <a:lnTo>
                        <a:pt x="1309" y="3276"/>
                      </a:lnTo>
                      <a:lnTo>
                        <a:pt x="1177" y="3363"/>
                      </a:lnTo>
                      <a:lnTo>
                        <a:pt x="1045" y="3450"/>
                      </a:lnTo>
                      <a:lnTo>
                        <a:pt x="915" y="3538"/>
                      </a:lnTo>
                      <a:lnTo>
                        <a:pt x="783" y="3627"/>
                      </a:lnTo>
                      <a:lnTo>
                        <a:pt x="652" y="3716"/>
                      </a:lnTo>
                      <a:lnTo>
                        <a:pt x="521" y="3806"/>
                      </a:lnTo>
                      <a:lnTo>
                        <a:pt x="391" y="3896"/>
                      </a:lnTo>
                      <a:lnTo>
                        <a:pt x="260" y="3987"/>
                      </a:lnTo>
                      <a:lnTo>
                        <a:pt x="129" y="4079"/>
                      </a:lnTo>
                      <a:lnTo>
                        <a:pt x="0" y="4172"/>
                      </a:lnTo>
                      <a:lnTo>
                        <a:pt x="74" y="4275"/>
                      </a:lnTo>
                      <a:lnTo>
                        <a:pt x="203" y="4183"/>
                      </a:lnTo>
                      <a:lnTo>
                        <a:pt x="332" y="4092"/>
                      </a:lnTo>
                      <a:lnTo>
                        <a:pt x="463" y="4001"/>
                      </a:lnTo>
                      <a:lnTo>
                        <a:pt x="594" y="3910"/>
                      </a:lnTo>
                      <a:lnTo>
                        <a:pt x="724" y="3821"/>
                      </a:lnTo>
                      <a:lnTo>
                        <a:pt x="854" y="3732"/>
                      </a:lnTo>
                      <a:lnTo>
                        <a:pt x="986" y="3644"/>
                      </a:lnTo>
                      <a:lnTo>
                        <a:pt x="1116" y="3557"/>
                      </a:lnTo>
                      <a:lnTo>
                        <a:pt x="1247" y="3469"/>
                      </a:lnTo>
                      <a:lnTo>
                        <a:pt x="1379" y="3384"/>
                      </a:lnTo>
                      <a:lnTo>
                        <a:pt x="1510" y="3298"/>
                      </a:lnTo>
                      <a:lnTo>
                        <a:pt x="1642" y="3214"/>
                      </a:lnTo>
                      <a:lnTo>
                        <a:pt x="1772" y="3130"/>
                      </a:lnTo>
                      <a:lnTo>
                        <a:pt x="1904" y="3047"/>
                      </a:lnTo>
                      <a:lnTo>
                        <a:pt x="2036" y="2965"/>
                      </a:lnTo>
                      <a:lnTo>
                        <a:pt x="2168" y="2883"/>
                      </a:lnTo>
                      <a:lnTo>
                        <a:pt x="2299" y="2803"/>
                      </a:lnTo>
                      <a:lnTo>
                        <a:pt x="2431" y="2723"/>
                      </a:lnTo>
                      <a:lnTo>
                        <a:pt x="2563" y="2644"/>
                      </a:lnTo>
                      <a:lnTo>
                        <a:pt x="2695" y="2565"/>
                      </a:lnTo>
                      <a:lnTo>
                        <a:pt x="2826" y="2487"/>
                      </a:lnTo>
                      <a:lnTo>
                        <a:pt x="2957" y="2411"/>
                      </a:lnTo>
                      <a:lnTo>
                        <a:pt x="3088" y="2336"/>
                      </a:lnTo>
                      <a:lnTo>
                        <a:pt x="3220" y="2261"/>
                      </a:lnTo>
                      <a:lnTo>
                        <a:pt x="3351" y="2187"/>
                      </a:lnTo>
                      <a:lnTo>
                        <a:pt x="3483" y="2113"/>
                      </a:lnTo>
                      <a:lnTo>
                        <a:pt x="3613" y="2042"/>
                      </a:lnTo>
                      <a:lnTo>
                        <a:pt x="3744" y="1971"/>
                      </a:lnTo>
                      <a:lnTo>
                        <a:pt x="3875" y="1900"/>
                      </a:lnTo>
                      <a:lnTo>
                        <a:pt x="4004" y="1831"/>
                      </a:lnTo>
                      <a:lnTo>
                        <a:pt x="4135" y="1763"/>
                      </a:lnTo>
                      <a:lnTo>
                        <a:pt x="4264" y="1695"/>
                      </a:lnTo>
                      <a:lnTo>
                        <a:pt x="4395" y="1629"/>
                      </a:lnTo>
                      <a:lnTo>
                        <a:pt x="4524" y="1563"/>
                      </a:lnTo>
                      <a:lnTo>
                        <a:pt x="4652" y="1499"/>
                      </a:lnTo>
                      <a:lnTo>
                        <a:pt x="4782" y="1435"/>
                      </a:lnTo>
                      <a:lnTo>
                        <a:pt x="4911" y="1373"/>
                      </a:lnTo>
                      <a:lnTo>
                        <a:pt x="5039" y="1312"/>
                      </a:lnTo>
                      <a:lnTo>
                        <a:pt x="5166" y="1251"/>
                      </a:lnTo>
                      <a:lnTo>
                        <a:pt x="5294" y="1192"/>
                      </a:lnTo>
                      <a:lnTo>
                        <a:pt x="5421" y="1135"/>
                      </a:lnTo>
                      <a:lnTo>
                        <a:pt x="5548" y="1077"/>
                      </a:lnTo>
                      <a:lnTo>
                        <a:pt x="5674" y="1021"/>
                      </a:lnTo>
                      <a:lnTo>
                        <a:pt x="5800" y="967"/>
                      </a:lnTo>
                      <a:lnTo>
                        <a:pt x="5925" y="914"/>
                      </a:lnTo>
                      <a:lnTo>
                        <a:pt x="6051" y="861"/>
                      </a:lnTo>
                      <a:lnTo>
                        <a:pt x="6175" y="809"/>
                      </a:lnTo>
                      <a:lnTo>
                        <a:pt x="6299" y="760"/>
                      </a:lnTo>
                      <a:lnTo>
                        <a:pt x="6423" y="711"/>
                      </a:lnTo>
                      <a:lnTo>
                        <a:pt x="6546" y="663"/>
                      </a:lnTo>
                      <a:lnTo>
                        <a:pt x="6669" y="616"/>
                      </a:lnTo>
                      <a:lnTo>
                        <a:pt x="6791" y="571"/>
                      </a:lnTo>
                      <a:lnTo>
                        <a:pt x="6912" y="526"/>
                      </a:lnTo>
                      <a:lnTo>
                        <a:pt x="7034" y="483"/>
                      </a:lnTo>
                      <a:lnTo>
                        <a:pt x="7154" y="441"/>
                      </a:lnTo>
                      <a:lnTo>
                        <a:pt x="7273" y="401"/>
                      </a:lnTo>
                      <a:lnTo>
                        <a:pt x="7392" y="361"/>
                      </a:lnTo>
                      <a:lnTo>
                        <a:pt x="7511" y="324"/>
                      </a:lnTo>
                      <a:lnTo>
                        <a:pt x="7629" y="287"/>
                      </a:lnTo>
                      <a:lnTo>
                        <a:pt x="7746" y="253"/>
                      </a:lnTo>
                      <a:lnTo>
                        <a:pt x="7862" y="218"/>
                      </a:lnTo>
                      <a:lnTo>
                        <a:pt x="7979" y="185"/>
                      </a:lnTo>
                      <a:lnTo>
                        <a:pt x="8094" y="154"/>
                      </a:lnTo>
                      <a:lnTo>
                        <a:pt x="8208" y="123"/>
                      </a:lnTo>
                      <a:lnTo>
                        <a:pt x="81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4" name="Freeform 137">
                  <a:extLst>
                    <a:ext uri="{FF2B5EF4-FFF2-40B4-BE49-F238E27FC236}">
                      <a16:creationId xmlns:a16="http://schemas.microsoft.com/office/drawing/2014/main" id="{AE1716FA-0768-4DA4-826A-D60298A9EC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4" y="933"/>
                  <a:ext cx="213" cy="189"/>
                </a:xfrm>
                <a:custGeom>
                  <a:avLst/>
                  <a:gdLst>
                    <a:gd name="T0" fmla="*/ 852 w 852"/>
                    <a:gd name="T1" fmla="*/ 182 h 755"/>
                    <a:gd name="T2" fmla="*/ 0 w 852"/>
                    <a:gd name="T3" fmla="*/ 0 h 755"/>
                    <a:gd name="T4" fmla="*/ 195 w 852"/>
                    <a:gd name="T5" fmla="*/ 755 h 755"/>
                    <a:gd name="T6" fmla="*/ 852 w 852"/>
                    <a:gd name="T7" fmla="*/ 182 h 755"/>
                    <a:gd name="T8" fmla="*/ 852 w 852"/>
                    <a:gd name="T9" fmla="*/ 182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2" h="755">
                      <a:moveTo>
                        <a:pt x="852" y="182"/>
                      </a:moveTo>
                      <a:lnTo>
                        <a:pt x="0" y="0"/>
                      </a:lnTo>
                      <a:lnTo>
                        <a:pt x="195" y="755"/>
                      </a:lnTo>
                      <a:lnTo>
                        <a:pt x="852" y="182"/>
                      </a:lnTo>
                      <a:lnTo>
                        <a:pt x="852" y="182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5" name="Freeform 138">
                  <a:extLst>
                    <a:ext uri="{FF2B5EF4-FFF2-40B4-BE49-F238E27FC236}">
                      <a16:creationId xmlns:a16="http://schemas.microsoft.com/office/drawing/2014/main" id="{D254A7FA-5DB2-4240-9381-8C25DF6A35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" y="3169"/>
                  <a:ext cx="140" cy="131"/>
                </a:xfrm>
                <a:custGeom>
                  <a:avLst/>
                  <a:gdLst>
                    <a:gd name="T0" fmla="*/ 471 w 558"/>
                    <a:gd name="T1" fmla="*/ 0 h 527"/>
                    <a:gd name="T2" fmla="*/ 350 w 558"/>
                    <a:gd name="T3" fmla="*/ 112 h 527"/>
                    <a:gd name="T4" fmla="*/ 0 w 558"/>
                    <a:gd name="T5" fmla="*/ 434 h 527"/>
                    <a:gd name="T6" fmla="*/ 87 w 558"/>
                    <a:gd name="T7" fmla="*/ 527 h 527"/>
                    <a:gd name="T8" fmla="*/ 435 w 558"/>
                    <a:gd name="T9" fmla="*/ 206 h 527"/>
                    <a:gd name="T10" fmla="*/ 558 w 558"/>
                    <a:gd name="T11" fmla="*/ 95 h 527"/>
                    <a:gd name="T12" fmla="*/ 471 w 558"/>
                    <a:gd name="T13" fmla="*/ 0 h 5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58" h="527">
                      <a:moveTo>
                        <a:pt x="471" y="0"/>
                      </a:moveTo>
                      <a:lnTo>
                        <a:pt x="350" y="112"/>
                      </a:lnTo>
                      <a:lnTo>
                        <a:pt x="0" y="434"/>
                      </a:lnTo>
                      <a:lnTo>
                        <a:pt x="87" y="527"/>
                      </a:lnTo>
                      <a:lnTo>
                        <a:pt x="435" y="206"/>
                      </a:lnTo>
                      <a:lnTo>
                        <a:pt x="558" y="95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6" name="Freeform 139">
                  <a:extLst>
                    <a:ext uri="{FF2B5EF4-FFF2-40B4-BE49-F238E27FC236}">
                      <a16:creationId xmlns:a16="http://schemas.microsoft.com/office/drawing/2014/main" id="{04B75503-18A5-4282-8F7D-45BADF321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" y="2997"/>
                  <a:ext cx="141" cy="131"/>
                </a:xfrm>
                <a:custGeom>
                  <a:avLst/>
                  <a:gdLst>
                    <a:gd name="T0" fmla="*/ 476 w 561"/>
                    <a:gd name="T1" fmla="*/ 0 h 522"/>
                    <a:gd name="T2" fmla="*/ 287 w 561"/>
                    <a:gd name="T3" fmla="*/ 168 h 522"/>
                    <a:gd name="T4" fmla="*/ 0 w 561"/>
                    <a:gd name="T5" fmla="*/ 428 h 522"/>
                    <a:gd name="T6" fmla="*/ 85 w 561"/>
                    <a:gd name="T7" fmla="*/ 522 h 522"/>
                    <a:gd name="T8" fmla="*/ 373 w 561"/>
                    <a:gd name="T9" fmla="*/ 262 h 522"/>
                    <a:gd name="T10" fmla="*/ 561 w 561"/>
                    <a:gd name="T11" fmla="*/ 94 h 522"/>
                    <a:gd name="T12" fmla="*/ 476 w 561"/>
                    <a:gd name="T13" fmla="*/ 0 h 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1" h="522">
                      <a:moveTo>
                        <a:pt x="476" y="0"/>
                      </a:moveTo>
                      <a:lnTo>
                        <a:pt x="287" y="168"/>
                      </a:lnTo>
                      <a:lnTo>
                        <a:pt x="0" y="428"/>
                      </a:lnTo>
                      <a:lnTo>
                        <a:pt x="85" y="522"/>
                      </a:lnTo>
                      <a:lnTo>
                        <a:pt x="373" y="262"/>
                      </a:lnTo>
                      <a:lnTo>
                        <a:pt x="561" y="94"/>
                      </a:ln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7" name="Freeform 140">
                  <a:extLst>
                    <a:ext uri="{FF2B5EF4-FFF2-40B4-BE49-F238E27FC236}">
                      <a16:creationId xmlns:a16="http://schemas.microsoft.com/office/drawing/2014/main" id="{8B5F9AD2-46DE-4A26-864E-67B5FB334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03" y="2828"/>
                  <a:ext cx="141" cy="129"/>
                </a:xfrm>
                <a:custGeom>
                  <a:avLst/>
                  <a:gdLst>
                    <a:gd name="T0" fmla="*/ 482 w 566"/>
                    <a:gd name="T1" fmla="*/ 0 h 517"/>
                    <a:gd name="T2" fmla="*/ 392 w 566"/>
                    <a:gd name="T3" fmla="*/ 77 h 517"/>
                    <a:gd name="T4" fmla="*/ 219 w 566"/>
                    <a:gd name="T5" fmla="*/ 230 h 517"/>
                    <a:gd name="T6" fmla="*/ 44 w 566"/>
                    <a:gd name="T7" fmla="*/ 383 h 517"/>
                    <a:gd name="T8" fmla="*/ 0 w 566"/>
                    <a:gd name="T9" fmla="*/ 421 h 517"/>
                    <a:gd name="T10" fmla="*/ 84 w 566"/>
                    <a:gd name="T11" fmla="*/ 517 h 517"/>
                    <a:gd name="T12" fmla="*/ 128 w 566"/>
                    <a:gd name="T13" fmla="*/ 478 h 517"/>
                    <a:gd name="T14" fmla="*/ 303 w 566"/>
                    <a:gd name="T15" fmla="*/ 326 h 517"/>
                    <a:gd name="T16" fmla="*/ 476 w 566"/>
                    <a:gd name="T17" fmla="*/ 174 h 517"/>
                    <a:gd name="T18" fmla="*/ 566 w 566"/>
                    <a:gd name="T19" fmla="*/ 97 h 517"/>
                    <a:gd name="T20" fmla="*/ 482 w 566"/>
                    <a:gd name="T21" fmla="*/ 0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66" h="517">
                      <a:moveTo>
                        <a:pt x="482" y="0"/>
                      </a:moveTo>
                      <a:lnTo>
                        <a:pt x="392" y="77"/>
                      </a:lnTo>
                      <a:lnTo>
                        <a:pt x="219" y="230"/>
                      </a:lnTo>
                      <a:lnTo>
                        <a:pt x="44" y="383"/>
                      </a:lnTo>
                      <a:lnTo>
                        <a:pt x="0" y="421"/>
                      </a:lnTo>
                      <a:lnTo>
                        <a:pt x="84" y="517"/>
                      </a:lnTo>
                      <a:lnTo>
                        <a:pt x="128" y="478"/>
                      </a:lnTo>
                      <a:lnTo>
                        <a:pt x="303" y="326"/>
                      </a:lnTo>
                      <a:lnTo>
                        <a:pt x="476" y="174"/>
                      </a:lnTo>
                      <a:lnTo>
                        <a:pt x="566" y="97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8" name="Freeform 141">
                  <a:extLst>
                    <a:ext uri="{FF2B5EF4-FFF2-40B4-BE49-F238E27FC236}">
                      <a16:creationId xmlns:a16="http://schemas.microsoft.com/office/drawing/2014/main" id="{4CD10244-FC32-430D-9DE3-4809643B3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6" y="2662"/>
                  <a:ext cx="143" cy="127"/>
                </a:xfrm>
                <a:custGeom>
                  <a:avLst/>
                  <a:gdLst>
                    <a:gd name="T0" fmla="*/ 488 w 570"/>
                    <a:gd name="T1" fmla="*/ 0 h 511"/>
                    <a:gd name="T2" fmla="*/ 323 w 570"/>
                    <a:gd name="T3" fmla="*/ 138 h 511"/>
                    <a:gd name="T4" fmla="*/ 146 w 570"/>
                    <a:gd name="T5" fmla="*/ 288 h 511"/>
                    <a:gd name="T6" fmla="*/ 0 w 570"/>
                    <a:gd name="T7" fmla="*/ 414 h 511"/>
                    <a:gd name="T8" fmla="*/ 83 w 570"/>
                    <a:gd name="T9" fmla="*/ 511 h 511"/>
                    <a:gd name="T10" fmla="*/ 229 w 570"/>
                    <a:gd name="T11" fmla="*/ 385 h 511"/>
                    <a:gd name="T12" fmla="*/ 406 w 570"/>
                    <a:gd name="T13" fmla="*/ 235 h 511"/>
                    <a:gd name="T14" fmla="*/ 570 w 570"/>
                    <a:gd name="T15" fmla="*/ 97 h 511"/>
                    <a:gd name="T16" fmla="*/ 488 w 570"/>
                    <a:gd name="T17" fmla="*/ 0 h 5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0" h="511">
                      <a:moveTo>
                        <a:pt x="488" y="0"/>
                      </a:moveTo>
                      <a:lnTo>
                        <a:pt x="323" y="138"/>
                      </a:lnTo>
                      <a:lnTo>
                        <a:pt x="146" y="288"/>
                      </a:lnTo>
                      <a:lnTo>
                        <a:pt x="0" y="414"/>
                      </a:lnTo>
                      <a:lnTo>
                        <a:pt x="83" y="511"/>
                      </a:lnTo>
                      <a:lnTo>
                        <a:pt x="229" y="385"/>
                      </a:lnTo>
                      <a:lnTo>
                        <a:pt x="406" y="235"/>
                      </a:lnTo>
                      <a:lnTo>
                        <a:pt x="570" y="97"/>
                      </a:lnTo>
                      <a:lnTo>
                        <a:pt x="488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9" name="Freeform 142">
                  <a:extLst>
                    <a:ext uri="{FF2B5EF4-FFF2-40B4-BE49-F238E27FC236}">
                      <a16:creationId xmlns:a16="http://schemas.microsoft.com/office/drawing/2014/main" id="{622AFC2D-0656-4D9E-BAFE-78AF2E71E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2" y="2499"/>
                  <a:ext cx="144" cy="126"/>
                </a:xfrm>
                <a:custGeom>
                  <a:avLst/>
                  <a:gdLst>
                    <a:gd name="T0" fmla="*/ 495 w 576"/>
                    <a:gd name="T1" fmla="*/ 0 h 503"/>
                    <a:gd name="T2" fmla="*/ 446 w 576"/>
                    <a:gd name="T3" fmla="*/ 40 h 503"/>
                    <a:gd name="T4" fmla="*/ 263 w 576"/>
                    <a:gd name="T5" fmla="*/ 190 h 503"/>
                    <a:gd name="T6" fmla="*/ 79 w 576"/>
                    <a:gd name="T7" fmla="*/ 340 h 503"/>
                    <a:gd name="T8" fmla="*/ 0 w 576"/>
                    <a:gd name="T9" fmla="*/ 406 h 503"/>
                    <a:gd name="T10" fmla="*/ 81 w 576"/>
                    <a:gd name="T11" fmla="*/ 503 h 503"/>
                    <a:gd name="T12" fmla="*/ 160 w 576"/>
                    <a:gd name="T13" fmla="*/ 438 h 503"/>
                    <a:gd name="T14" fmla="*/ 343 w 576"/>
                    <a:gd name="T15" fmla="*/ 288 h 503"/>
                    <a:gd name="T16" fmla="*/ 526 w 576"/>
                    <a:gd name="T17" fmla="*/ 139 h 503"/>
                    <a:gd name="T18" fmla="*/ 576 w 576"/>
                    <a:gd name="T19" fmla="*/ 99 h 503"/>
                    <a:gd name="T20" fmla="*/ 495 w 576"/>
                    <a:gd name="T21" fmla="*/ 0 h 5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76" h="503">
                      <a:moveTo>
                        <a:pt x="495" y="0"/>
                      </a:moveTo>
                      <a:lnTo>
                        <a:pt x="446" y="40"/>
                      </a:lnTo>
                      <a:lnTo>
                        <a:pt x="263" y="190"/>
                      </a:lnTo>
                      <a:lnTo>
                        <a:pt x="79" y="340"/>
                      </a:lnTo>
                      <a:lnTo>
                        <a:pt x="0" y="406"/>
                      </a:lnTo>
                      <a:lnTo>
                        <a:pt x="81" y="503"/>
                      </a:lnTo>
                      <a:lnTo>
                        <a:pt x="160" y="438"/>
                      </a:lnTo>
                      <a:lnTo>
                        <a:pt x="343" y="288"/>
                      </a:lnTo>
                      <a:lnTo>
                        <a:pt x="526" y="139"/>
                      </a:lnTo>
                      <a:lnTo>
                        <a:pt x="576" y="99"/>
                      </a:ln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0" name="Freeform 143">
                  <a:extLst>
                    <a:ext uri="{FF2B5EF4-FFF2-40B4-BE49-F238E27FC236}">
                      <a16:creationId xmlns:a16="http://schemas.microsoft.com/office/drawing/2014/main" id="{B7C60052-9674-4082-9D89-27CFA8BD6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1" y="2340"/>
                  <a:ext cx="146" cy="123"/>
                </a:xfrm>
                <a:custGeom>
                  <a:avLst/>
                  <a:gdLst>
                    <a:gd name="T0" fmla="*/ 503 w 582"/>
                    <a:gd name="T1" fmla="*/ 0 h 496"/>
                    <a:gd name="T2" fmla="*/ 407 w 582"/>
                    <a:gd name="T3" fmla="*/ 75 h 496"/>
                    <a:gd name="T4" fmla="*/ 214 w 582"/>
                    <a:gd name="T5" fmla="*/ 227 h 496"/>
                    <a:gd name="T6" fmla="*/ 24 w 582"/>
                    <a:gd name="T7" fmla="*/ 377 h 496"/>
                    <a:gd name="T8" fmla="*/ 0 w 582"/>
                    <a:gd name="T9" fmla="*/ 397 h 496"/>
                    <a:gd name="T10" fmla="*/ 79 w 582"/>
                    <a:gd name="T11" fmla="*/ 496 h 496"/>
                    <a:gd name="T12" fmla="*/ 104 w 582"/>
                    <a:gd name="T13" fmla="*/ 476 h 496"/>
                    <a:gd name="T14" fmla="*/ 293 w 582"/>
                    <a:gd name="T15" fmla="*/ 326 h 496"/>
                    <a:gd name="T16" fmla="*/ 485 w 582"/>
                    <a:gd name="T17" fmla="*/ 176 h 496"/>
                    <a:gd name="T18" fmla="*/ 582 w 582"/>
                    <a:gd name="T19" fmla="*/ 101 h 496"/>
                    <a:gd name="T20" fmla="*/ 503 w 582"/>
                    <a:gd name="T21" fmla="*/ 0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82" h="496">
                      <a:moveTo>
                        <a:pt x="503" y="0"/>
                      </a:moveTo>
                      <a:lnTo>
                        <a:pt x="407" y="75"/>
                      </a:lnTo>
                      <a:lnTo>
                        <a:pt x="214" y="227"/>
                      </a:lnTo>
                      <a:lnTo>
                        <a:pt x="24" y="377"/>
                      </a:lnTo>
                      <a:lnTo>
                        <a:pt x="0" y="397"/>
                      </a:lnTo>
                      <a:lnTo>
                        <a:pt x="79" y="496"/>
                      </a:lnTo>
                      <a:lnTo>
                        <a:pt x="104" y="476"/>
                      </a:lnTo>
                      <a:lnTo>
                        <a:pt x="293" y="326"/>
                      </a:lnTo>
                      <a:lnTo>
                        <a:pt x="485" y="176"/>
                      </a:lnTo>
                      <a:lnTo>
                        <a:pt x="582" y="101"/>
                      </a:lnTo>
                      <a:lnTo>
                        <a:pt x="503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1" name="Freeform 144">
                  <a:extLst>
                    <a:ext uri="{FF2B5EF4-FFF2-40B4-BE49-F238E27FC236}">
                      <a16:creationId xmlns:a16="http://schemas.microsoft.com/office/drawing/2014/main" id="{8083E260-6C7A-41C6-9952-A0693E63C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3" y="2184"/>
                  <a:ext cx="147" cy="122"/>
                </a:xfrm>
                <a:custGeom>
                  <a:avLst/>
                  <a:gdLst>
                    <a:gd name="T0" fmla="*/ 511 w 587"/>
                    <a:gd name="T1" fmla="*/ 0 h 488"/>
                    <a:gd name="T2" fmla="*/ 392 w 587"/>
                    <a:gd name="T3" fmla="*/ 89 h 488"/>
                    <a:gd name="T4" fmla="*/ 190 w 587"/>
                    <a:gd name="T5" fmla="*/ 242 h 488"/>
                    <a:gd name="T6" fmla="*/ 0 w 587"/>
                    <a:gd name="T7" fmla="*/ 387 h 488"/>
                    <a:gd name="T8" fmla="*/ 78 w 587"/>
                    <a:gd name="T9" fmla="*/ 488 h 488"/>
                    <a:gd name="T10" fmla="*/ 266 w 587"/>
                    <a:gd name="T11" fmla="*/ 343 h 488"/>
                    <a:gd name="T12" fmla="*/ 468 w 587"/>
                    <a:gd name="T13" fmla="*/ 190 h 488"/>
                    <a:gd name="T14" fmla="*/ 587 w 587"/>
                    <a:gd name="T15" fmla="*/ 102 h 488"/>
                    <a:gd name="T16" fmla="*/ 511 w 587"/>
                    <a:gd name="T17" fmla="*/ 0 h 4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7" h="488">
                      <a:moveTo>
                        <a:pt x="511" y="0"/>
                      </a:moveTo>
                      <a:lnTo>
                        <a:pt x="392" y="89"/>
                      </a:lnTo>
                      <a:lnTo>
                        <a:pt x="190" y="242"/>
                      </a:lnTo>
                      <a:lnTo>
                        <a:pt x="0" y="387"/>
                      </a:lnTo>
                      <a:lnTo>
                        <a:pt x="78" y="488"/>
                      </a:lnTo>
                      <a:lnTo>
                        <a:pt x="266" y="343"/>
                      </a:lnTo>
                      <a:lnTo>
                        <a:pt x="468" y="190"/>
                      </a:lnTo>
                      <a:lnTo>
                        <a:pt x="587" y="102"/>
                      </a:lnTo>
                      <a:lnTo>
                        <a:pt x="51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2" name="Freeform 145">
                  <a:extLst>
                    <a:ext uri="{FF2B5EF4-FFF2-40B4-BE49-F238E27FC236}">
                      <a16:creationId xmlns:a16="http://schemas.microsoft.com/office/drawing/2014/main" id="{11729757-1CD8-47CB-81AF-C55C32B7B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2052"/>
                  <a:ext cx="121" cy="101"/>
                </a:xfrm>
                <a:custGeom>
                  <a:avLst/>
                  <a:gdLst>
                    <a:gd name="T0" fmla="*/ 409 w 484"/>
                    <a:gd name="T1" fmla="*/ 0 h 402"/>
                    <a:gd name="T2" fmla="*/ 195 w 484"/>
                    <a:gd name="T3" fmla="*/ 155 h 402"/>
                    <a:gd name="T4" fmla="*/ 0 w 484"/>
                    <a:gd name="T5" fmla="*/ 300 h 402"/>
                    <a:gd name="T6" fmla="*/ 76 w 484"/>
                    <a:gd name="T7" fmla="*/ 402 h 402"/>
                    <a:gd name="T8" fmla="*/ 270 w 484"/>
                    <a:gd name="T9" fmla="*/ 259 h 402"/>
                    <a:gd name="T10" fmla="*/ 484 w 484"/>
                    <a:gd name="T11" fmla="*/ 103 h 402"/>
                    <a:gd name="T12" fmla="*/ 409 w 484"/>
                    <a:gd name="T13" fmla="*/ 0 h 4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84" h="402">
                      <a:moveTo>
                        <a:pt x="409" y="0"/>
                      </a:moveTo>
                      <a:lnTo>
                        <a:pt x="195" y="155"/>
                      </a:lnTo>
                      <a:lnTo>
                        <a:pt x="0" y="300"/>
                      </a:lnTo>
                      <a:lnTo>
                        <a:pt x="76" y="402"/>
                      </a:lnTo>
                      <a:lnTo>
                        <a:pt x="270" y="259"/>
                      </a:lnTo>
                      <a:lnTo>
                        <a:pt x="484" y="103"/>
                      </a:lnTo>
                      <a:lnTo>
                        <a:pt x="409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5" name="Freeform 148">
                  <a:extLst>
                    <a:ext uri="{FF2B5EF4-FFF2-40B4-BE49-F238E27FC236}">
                      <a16:creationId xmlns:a16="http://schemas.microsoft.com/office/drawing/2014/main" id="{675A7D71-6BF5-43AD-91A8-2F0A024D7A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7" y="1628"/>
                  <a:ext cx="330" cy="190"/>
                </a:xfrm>
                <a:custGeom>
                  <a:avLst/>
                  <a:gdLst>
                    <a:gd name="T0" fmla="*/ 1319 w 1319"/>
                    <a:gd name="T1" fmla="*/ 721 h 762"/>
                    <a:gd name="T2" fmla="*/ 23 w 1319"/>
                    <a:gd name="T3" fmla="*/ 0 h 762"/>
                    <a:gd name="T4" fmla="*/ 0 w 1319"/>
                    <a:gd name="T5" fmla="*/ 43 h 762"/>
                    <a:gd name="T6" fmla="*/ 1296 w 1319"/>
                    <a:gd name="T7" fmla="*/ 762 h 762"/>
                    <a:gd name="T8" fmla="*/ 1319 w 1319"/>
                    <a:gd name="T9" fmla="*/ 721 h 7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19" h="762">
                      <a:moveTo>
                        <a:pt x="1319" y="721"/>
                      </a:moveTo>
                      <a:lnTo>
                        <a:pt x="23" y="0"/>
                      </a:lnTo>
                      <a:lnTo>
                        <a:pt x="0" y="43"/>
                      </a:lnTo>
                      <a:lnTo>
                        <a:pt x="1296" y="762"/>
                      </a:lnTo>
                      <a:lnTo>
                        <a:pt x="1319" y="721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6" name="Rectangle 149">
                  <a:extLst>
                    <a:ext uri="{FF2B5EF4-FFF2-40B4-BE49-F238E27FC236}">
                      <a16:creationId xmlns:a16="http://schemas.microsoft.com/office/drawing/2014/main" id="{06B99D9D-CC15-4CC8-9088-747F9F744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7" name="Rectangle 150">
                  <a:extLst>
                    <a:ext uri="{FF2B5EF4-FFF2-40B4-BE49-F238E27FC236}">
                      <a16:creationId xmlns:a16="http://schemas.microsoft.com/office/drawing/2014/main" id="{2A6EF1F8-BA37-49AD-A0EC-4E6D1F779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8" name="Rectangle 151">
                  <a:extLst>
                    <a:ext uri="{FF2B5EF4-FFF2-40B4-BE49-F238E27FC236}">
                      <a16:creationId xmlns:a16="http://schemas.microsoft.com/office/drawing/2014/main" id="{EB48C9DF-17A8-496D-9D50-BF39F208B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9" name="Rectangle 152">
                  <a:extLst>
                    <a:ext uri="{FF2B5EF4-FFF2-40B4-BE49-F238E27FC236}">
                      <a16:creationId xmlns:a16="http://schemas.microsoft.com/office/drawing/2014/main" id="{73BB7CC2-ED3C-43CF-86E2-F2A4D6EAA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 dirty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0" name="Rectangle 153">
                  <a:extLst>
                    <a:ext uri="{FF2B5EF4-FFF2-40B4-BE49-F238E27FC236}">
                      <a16:creationId xmlns:a16="http://schemas.microsoft.com/office/drawing/2014/main" id="{B87B61DF-6B33-4DBE-9E51-B3D8A5512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1" name="Rectangle 154">
                  <a:extLst>
                    <a:ext uri="{FF2B5EF4-FFF2-40B4-BE49-F238E27FC236}">
                      <a16:creationId xmlns:a16="http://schemas.microsoft.com/office/drawing/2014/main" id="{94DC74ED-8B78-4EC9-A80A-1AA1E3813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2" name="Rectangle 155">
                  <a:extLst>
                    <a:ext uri="{FF2B5EF4-FFF2-40B4-BE49-F238E27FC236}">
                      <a16:creationId xmlns:a16="http://schemas.microsoft.com/office/drawing/2014/main" id="{0A717FAB-FB68-45DD-AE5F-A200F3ADB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3" name="Freeform 156">
                  <a:extLst>
                    <a:ext uri="{FF2B5EF4-FFF2-40B4-BE49-F238E27FC236}">
                      <a16:creationId xmlns:a16="http://schemas.microsoft.com/office/drawing/2014/main" id="{1143E366-8ACD-4E79-977F-F93804B752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2" y="407"/>
                  <a:ext cx="250" cy="1875"/>
                </a:xfrm>
                <a:custGeom>
                  <a:avLst/>
                  <a:gdLst>
                    <a:gd name="T0" fmla="*/ 105 w 1001"/>
                    <a:gd name="T1" fmla="*/ 309 h 7501"/>
                    <a:gd name="T2" fmla="*/ 250 w 1001"/>
                    <a:gd name="T3" fmla="*/ 738 h 7501"/>
                    <a:gd name="T4" fmla="*/ 379 w 1001"/>
                    <a:gd name="T5" fmla="*/ 1152 h 7501"/>
                    <a:gd name="T6" fmla="*/ 494 w 1001"/>
                    <a:gd name="T7" fmla="*/ 1553 h 7501"/>
                    <a:gd name="T8" fmla="*/ 596 w 1001"/>
                    <a:gd name="T9" fmla="*/ 1942 h 7501"/>
                    <a:gd name="T10" fmla="*/ 684 w 1001"/>
                    <a:gd name="T11" fmla="*/ 2320 h 7501"/>
                    <a:gd name="T12" fmla="*/ 759 w 1001"/>
                    <a:gd name="T13" fmla="*/ 2689 h 7501"/>
                    <a:gd name="T14" fmla="*/ 821 w 1001"/>
                    <a:gd name="T15" fmla="*/ 3047 h 7501"/>
                    <a:gd name="T16" fmla="*/ 872 w 1001"/>
                    <a:gd name="T17" fmla="*/ 3398 h 7501"/>
                    <a:gd name="T18" fmla="*/ 909 w 1001"/>
                    <a:gd name="T19" fmla="*/ 3741 h 7501"/>
                    <a:gd name="T20" fmla="*/ 935 w 1001"/>
                    <a:gd name="T21" fmla="*/ 4077 h 7501"/>
                    <a:gd name="T22" fmla="*/ 950 w 1001"/>
                    <a:gd name="T23" fmla="*/ 4407 h 7501"/>
                    <a:gd name="T24" fmla="*/ 953 w 1001"/>
                    <a:gd name="T25" fmla="*/ 4733 h 7501"/>
                    <a:gd name="T26" fmla="*/ 946 w 1001"/>
                    <a:gd name="T27" fmla="*/ 5056 h 7501"/>
                    <a:gd name="T28" fmla="*/ 929 w 1001"/>
                    <a:gd name="T29" fmla="*/ 5374 h 7501"/>
                    <a:gd name="T30" fmla="*/ 902 w 1001"/>
                    <a:gd name="T31" fmla="*/ 5691 h 7501"/>
                    <a:gd name="T32" fmla="*/ 864 w 1001"/>
                    <a:gd name="T33" fmla="*/ 6007 h 7501"/>
                    <a:gd name="T34" fmla="*/ 818 w 1001"/>
                    <a:gd name="T35" fmla="*/ 6322 h 7501"/>
                    <a:gd name="T36" fmla="*/ 763 w 1001"/>
                    <a:gd name="T37" fmla="*/ 6638 h 7501"/>
                    <a:gd name="T38" fmla="*/ 700 w 1001"/>
                    <a:gd name="T39" fmla="*/ 6955 h 7501"/>
                    <a:gd name="T40" fmla="*/ 627 w 1001"/>
                    <a:gd name="T41" fmla="*/ 7275 h 7501"/>
                    <a:gd name="T42" fmla="*/ 622 w 1001"/>
                    <a:gd name="T43" fmla="*/ 7501 h 7501"/>
                    <a:gd name="T44" fmla="*/ 700 w 1001"/>
                    <a:gd name="T45" fmla="*/ 7178 h 7501"/>
                    <a:gd name="T46" fmla="*/ 768 w 1001"/>
                    <a:gd name="T47" fmla="*/ 6858 h 7501"/>
                    <a:gd name="T48" fmla="*/ 829 w 1001"/>
                    <a:gd name="T49" fmla="*/ 6541 h 7501"/>
                    <a:gd name="T50" fmla="*/ 882 w 1001"/>
                    <a:gd name="T51" fmla="*/ 6224 h 7501"/>
                    <a:gd name="T52" fmla="*/ 925 w 1001"/>
                    <a:gd name="T53" fmla="*/ 5907 h 7501"/>
                    <a:gd name="T54" fmla="*/ 959 w 1001"/>
                    <a:gd name="T55" fmla="*/ 5590 h 7501"/>
                    <a:gd name="T56" fmla="*/ 983 w 1001"/>
                    <a:gd name="T57" fmla="*/ 5270 h 7501"/>
                    <a:gd name="T58" fmla="*/ 997 w 1001"/>
                    <a:gd name="T59" fmla="*/ 4949 h 7501"/>
                    <a:gd name="T60" fmla="*/ 1001 w 1001"/>
                    <a:gd name="T61" fmla="*/ 4625 h 7501"/>
                    <a:gd name="T62" fmla="*/ 994 w 1001"/>
                    <a:gd name="T63" fmla="*/ 4296 h 7501"/>
                    <a:gd name="T64" fmla="*/ 975 w 1001"/>
                    <a:gd name="T65" fmla="*/ 3962 h 7501"/>
                    <a:gd name="T66" fmla="*/ 946 w 1001"/>
                    <a:gd name="T67" fmla="*/ 3622 h 7501"/>
                    <a:gd name="T68" fmla="*/ 903 w 1001"/>
                    <a:gd name="T69" fmla="*/ 3275 h 7501"/>
                    <a:gd name="T70" fmla="*/ 850 w 1001"/>
                    <a:gd name="T71" fmla="*/ 2921 h 7501"/>
                    <a:gd name="T72" fmla="*/ 783 w 1001"/>
                    <a:gd name="T73" fmla="*/ 2558 h 7501"/>
                    <a:gd name="T74" fmla="*/ 704 w 1001"/>
                    <a:gd name="T75" fmla="*/ 2186 h 7501"/>
                    <a:gd name="T76" fmla="*/ 611 w 1001"/>
                    <a:gd name="T77" fmla="*/ 1801 h 7501"/>
                    <a:gd name="T78" fmla="*/ 503 w 1001"/>
                    <a:gd name="T79" fmla="*/ 1408 h 7501"/>
                    <a:gd name="T80" fmla="*/ 383 w 1001"/>
                    <a:gd name="T81" fmla="*/ 1000 h 7501"/>
                    <a:gd name="T82" fmla="*/ 248 w 1001"/>
                    <a:gd name="T83" fmla="*/ 581 h 7501"/>
                    <a:gd name="T84" fmla="*/ 98 w 1001"/>
                    <a:gd name="T85" fmla="*/ 148 h 7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001" h="7501">
                      <a:moveTo>
                        <a:pt x="0" y="16"/>
                      </a:moveTo>
                      <a:lnTo>
                        <a:pt x="53" y="163"/>
                      </a:lnTo>
                      <a:lnTo>
                        <a:pt x="105" y="309"/>
                      </a:lnTo>
                      <a:lnTo>
                        <a:pt x="155" y="454"/>
                      </a:lnTo>
                      <a:lnTo>
                        <a:pt x="203" y="597"/>
                      </a:lnTo>
                      <a:lnTo>
                        <a:pt x="250" y="738"/>
                      </a:lnTo>
                      <a:lnTo>
                        <a:pt x="294" y="877"/>
                      </a:lnTo>
                      <a:lnTo>
                        <a:pt x="338" y="1015"/>
                      </a:lnTo>
                      <a:lnTo>
                        <a:pt x="379" y="1152"/>
                      </a:lnTo>
                      <a:lnTo>
                        <a:pt x="419" y="1286"/>
                      </a:lnTo>
                      <a:lnTo>
                        <a:pt x="458" y="1421"/>
                      </a:lnTo>
                      <a:lnTo>
                        <a:pt x="494" y="1553"/>
                      </a:lnTo>
                      <a:lnTo>
                        <a:pt x="530" y="1684"/>
                      </a:lnTo>
                      <a:lnTo>
                        <a:pt x="564" y="1814"/>
                      </a:lnTo>
                      <a:lnTo>
                        <a:pt x="596" y="1942"/>
                      </a:lnTo>
                      <a:lnTo>
                        <a:pt x="627" y="2069"/>
                      </a:lnTo>
                      <a:lnTo>
                        <a:pt x="656" y="2196"/>
                      </a:lnTo>
                      <a:lnTo>
                        <a:pt x="684" y="2320"/>
                      </a:lnTo>
                      <a:lnTo>
                        <a:pt x="710" y="2444"/>
                      </a:lnTo>
                      <a:lnTo>
                        <a:pt x="736" y="2567"/>
                      </a:lnTo>
                      <a:lnTo>
                        <a:pt x="759" y="2689"/>
                      </a:lnTo>
                      <a:lnTo>
                        <a:pt x="781" y="2809"/>
                      </a:lnTo>
                      <a:lnTo>
                        <a:pt x="802" y="2928"/>
                      </a:lnTo>
                      <a:lnTo>
                        <a:pt x="821" y="3047"/>
                      </a:lnTo>
                      <a:lnTo>
                        <a:pt x="840" y="3165"/>
                      </a:lnTo>
                      <a:lnTo>
                        <a:pt x="856" y="3282"/>
                      </a:lnTo>
                      <a:lnTo>
                        <a:pt x="872" y="3398"/>
                      </a:lnTo>
                      <a:lnTo>
                        <a:pt x="885" y="3513"/>
                      </a:lnTo>
                      <a:lnTo>
                        <a:pt x="898" y="3627"/>
                      </a:lnTo>
                      <a:lnTo>
                        <a:pt x="909" y="3741"/>
                      </a:lnTo>
                      <a:lnTo>
                        <a:pt x="919" y="3854"/>
                      </a:lnTo>
                      <a:lnTo>
                        <a:pt x="928" y="3966"/>
                      </a:lnTo>
                      <a:lnTo>
                        <a:pt x="935" y="4077"/>
                      </a:lnTo>
                      <a:lnTo>
                        <a:pt x="941" y="4187"/>
                      </a:lnTo>
                      <a:lnTo>
                        <a:pt x="946" y="4297"/>
                      </a:lnTo>
                      <a:lnTo>
                        <a:pt x="950" y="4407"/>
                      </a:lnTo>
                      <a:lnTo>
                        <a:pt x="952" y="4517"/>
                      </a:lnTo>
                      <a:lnTo>
                        <a:pt x="953" y="4625"/>
                      </a:lnTo>
                      <a:lnTo>
                        <a:pt x="953" y="4733"/>
                      </a:lnTo>
                      <a:lnTo>
                        <a:pt x="952" y="4841"/>
                      </a:lnTo>
                      <a:lnTo>
                        <a:pt x="950" y="4948"/>
                      </a:lnTo>
                      <a:lnTo>
                        <a:pt x="946" y="5056"/>
                      </a:lnTo>
                      <a:lnTo>
                        <a:pt x="942" y="5162"/>
                      </a:lnTo>
                      <a:lnTo>
                        <a:pt x="935" y="5268"/>
                      </a:lnTo>
                      <a:lnTo>
                        <a:pt x="929" y="5374"/>
                      </a:lnTo>
                      <a:lnTo>
                        <a:pt x="921" y="5480"/>
                      </a:lnTo>
                      <a:lnTo>
                        <a:pt x="912" y="5586"/>
                      </a:lnTo>
                      <a:lnTo>
                        <a:pt x="902" y="5691"/>
                      </a:lnTo>
                      <a:lnTo>
                        <a:pt x="890" y="5796"/>
                      </a:lnTo>
                      <a:lnTo>
                        <a:pt x="877" y="5902"/>
                      </a:lnTo>
                      <a:lnTo>
                        <a:pt x="864" y="6007"/>
                      </a:lnTo>
                      <a:lnTo>
                        <a:pt x="850" y="6111"/>
                      </a:lnTo>
                      <a:lnTo>
                        <a:pt x="834" y="6216"/>
                      </a:lnTo>
                      <a:lnTo>
                        <a:pt x="818" y="6322"/>
                      </a:lnTo>
                      <a:lnTo>
                        <a:pt x="801" y="6427"/>
                      </a:lnTo>
                      <a:lnTo>
                        <a:pt x="783" y="6532"/>
                      </a:lnTo>
                      <a:lnTo>
                        <a:pt x="763" y="6638"/>
                      </a:lnTo>
                      <a:lnTo>
                        <a:pt x="743" y="6743"/>
                      </a:lnTo>
                      <a:lnTo>
                        <a:pt x="722" y="6849"/>
                      </a:lnTo>
                      <a:lnTo>
                        <a:pt x="700" y="6955"/>
                      </a:lnTo>
                      <a:lnTo>
                        <a:pt x="677" y="7061"/>
                      </a:lnTo>
                      <a:lnTo>
                        <a:pt x="652" y="7167"/>
                      </a:lnTo>
                      <a:lnTo>
                        <a:pt x="627" y="7275"/>
                      </a:lnTo>
                      <a:lnTo>
                        <a:pt x="603" y="7382"/>
                      </a:lnTo>
                      <a:lnTo>
                        <a:pt x="576" y="7489"/>
                      </a:lnTo>
                      <a:lnTo>
                        <a:pt x="622" y="7501"/>
                      </a:lnTo>
                      <a:lnTo>
                        <a:pt x="648" y="7392"/>
                      </a:lnTo>
                      <a:lnTo>
                        <a:pt x="674" y="7285"/>
                      </a:lnTo>
                      <a:lnTo>
                        <a:pt x="700" y="7178"/>
                      </a:lnTo>
                      <a:lnTo>
                        <a:pt x="723" y="7072"/>
                      </a:lnTo>
                      <a:lnTo>
                        <a:pt x="746" y="6965"/>
                      </a:lnTo>
                      <a:lnTo>
                        <a:pt x="768" y="6858"/>
                      </a:lnTo>
                      <a:lnTo>
                        <a:pt x="790" y="6752"/>
                      </a:lnTo>
                      <a:lnTo>
                        <a:pt x="810" y="6646"/>
                      </a:lnTo>
                      <a:lnTo>
                        <a:pt x="829" y="6541"/>
                      </a:lnTo>
                      <a:lnTo>
                        <a:pt x="849" y="6435"/>
                      </a:lnTo>
                      <a:lnTo>
                        <a:pt x="865" y="6329"/>
                      </a:lnTo>
                      <a:lnTo>
                        <a:pt x="882" y="6224"/>
                      </a:lnTo>
                      <a:lnTo>
                        <a:pt x="898" y="6118"/>
                      </a:lnTo>
                      <a:lnTo>
                        <a:pt x="912" y="6013"/>
                      </a:lnTo>
                      <a:lnTo>
                        <a:pt x="925" y="5907"/>
                      </a:lnTo>
                      <a:lnTo>
                        <a:pt x="938" y="5801"/>
                      </a:lnTo>
                      <a:lnTo>
                        <a:pt x="948" y="5696"/>
                      </a:lnTo>
                      <a:lnTo>
                        <a:pt x="959" y="5590"/>
                      </a:lnTo>
                      <a:lnTo>
                        <a:pt x="968" y="5484"/>
                      </a:lnTo>
                      <a:lnTo>
                        <a:pt x="977" y="5378"/>
                      </a:lnTo>
                      <a:lnTo>
                        <a:pt x="983" y="5270"/>
                      </a:lnTo>
                      <a:lnTo>
                        <a:pt x="990" y="5164"/>
                      </a:lnTo>
                      <a:lnTo>
                        <a:pt x="994" y="5057"/>
                      </a:lnTo>
                      <a:lnTo>
                        <a:pt x="997" y="4949"/>
                      </a:lnTo>
                      <a:lnTo>
                        <a:pt x="1000" y="4842"/>
                      </a:lnTo>
                      <a:lnTo>
                        <a:pt x="1001" y="4733"/>
                      </a:lnTo>
                      <a:lnTo>
                        <a:pt x="1001" y="4625"/>
                      </a:lnTo>
                      <a:lnTo>
                        <a:pt x="1000" y="4516"/>
                      </a:lnTo>
                      <a:lnTo>
                        <a:pt x="997" y="4406"/>
                      </a:lnTo>
                      <a:lnTo>
                        <a:pt x="994" y="4296"/>
                      </a:lnTo>
                      <a:lnTo>
                        <a:pt x="988" y="4186"/>
                      </a:lnTo>
                      <a:lnTo>
                        <a:pt x="983" y="4075"/>
                      </a:lnTo>
                      <a:lnTo>
                        <a:pt x="975" y="3962"/>
                      </a:lnTo>
                      <a:lnTo>
                        <a:pt x="966" y="3850"/>
                      </a:lnTo>
                      <a:lnTo>
                        <a:pt x="956" y="3736"/>
                      </a:lnTo>
                      <a:lnTo>
                        <a:pt x="946" y="3622"/>
                      </a:lnTo>
                      <a:lnTo>
                        <a:pt x="933" y="3508"/>
                      </a:lnTo>
                      <a:lnTo>
                        <a:pt x="919" y="3392"/>
                      </a:lnTo>
                      <a:lnTo>
                        <a:pt x="903" y="3275"/>
                      </a:lnTo>
                      <a:lnTo>
                        <a:pt x="887" y="3159"/>
                      </a:lnTo>
                      <a:lnTo>
                        <a:pt x="869" y="3040"/>
                      </a:lnTo>
                      <a:lnTo>
                        <a:pt x="850" y="2921"/>
                      </a:lnTo>
                      <a:lnTo>
                        <a:pt x="829" y="2800"/>
                      </a:lnTo>
                      <a:lnTo>
                        <a:pt x="806" y="2680"/>
                      </a:lnTo>
                      <a:lnTo>
                        <a:pt x="783" y="2558"/>
                      </a:lnTo>
                      <a:lnTo>
                        <a:pt x="758" y="2434"/>
                      </a:lnTo>
                      <a:lnTo>
                        <a:pt x="731" y="2310"/>
                      </a:lnTo>
                      <a:lnTo>
                        <a:pt x="704" y="2186"/>
                      </a:lnTo>
                      <a:lnTo>
                        <a:pt x="674" y="2059"/>
                      </a:lnTo>
                      <a:lnTo>
                        <a:pt x="643" y="1931"/>
                      </a:lnTo>
                      <a:lnTo>
                        <a:pt x="611" y="1801"/>
                      </a:lnTo>
                      <a:lnTo>
                        <a:pt x="577" y="1672"/>
                      </a:lnTo>
                      <a:lnTo>
                        <a:pt x="541" y="1540"/>
                      </a:lnTo>
                      <a:lnTo>
                        <a:pt x="503" y="1408"/>
                      </a:lnTo>
                      <a:lnTo>
                        <a:pt x="466" y="1273"/>
                      </a:lnTo>
                      <a:lnTo>
                        <a:pt x="426" y="1138"/>
                      </a:lnTo>
                      <a:lnTo>
                        <a:pt x="383" y="1000"/>
                      </a:lnTo>
                      <a:lnTo>
                        <a:pt x="340" y="862"/>
                      </a:lnTo>
                      <a:lnTo>
                        <a:pt x="295" y="722"/>
                      </a:lnTo>
                      <a:lnTo>
                        <a:pt x="248" y="581"/>
                      </a:lnTo>
                      <a:lnTo>
                        <a:pt x="200" y="439"/>
                      </a:lnTo>
                      <a:lnTo>
                        <a:pt x="150" y="294"/>
                      </a:lnTo>
                      <a:lnTo>
                        <a:pt x="98" y="148"/>
                      </a:lnTo>
                      <a:lnTo>
                        <a:pt x="45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4" name="Freeform 157">
                  <a:extLst>
                    <a:ext uri="{FF2B5EF4-FFF2-40B4-BE49-F238E27FC236}">
                      <a16:creationId xmlns:a16="http://schemas.microsoft.com/office/drawing/2014/main" id="{15D92DC4-3C5A-49C2-9A7C-753216C98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2" y="408"/>
                  <a:ext cx="131" cy="1730"/>
                </a:xfrm>
                <a:custGeom>
                  <a:avLst/>
                  <a:gdLst>
                    <a:gd name="T0" fmla="*/ 313 w 524"/>
                    <a:gd name="T1" fmla="*/ 222 h 6920"/>
                    <a:gd name="T2" fmla="*/ 360 w 524"/>
                    <a:gd name="T3" fmla="*/ 654 h 6920"/>
                    <a:gd name="T4" fmla="*/ 400 w 524"/>
                    <a:gd name="T5" fmla="*/ 1085 h 6920"/>
                    <a:gd name="T6" fmla="*/ 431 w 524"/>
                    <a:gd name="T7" fmla="*/ 1517 h 6920"/>
                    <a:gd name="T8" fmla="*/ 455 w 524"/>
                    <a:gd name="T9" fmla="*/ 1948 h 6920"/>
                    <a:gd name="T10" fmla="*/ 470 w 524"/>
                    <a:gd name="T11" fmla="*/ 2380 h 6920"/>
                    <a:gd name="T12" fmla="*/ 476 w 524"/>
                    <a:gd name="T13" fmla="*/ 2811 h 6920"/>
                    <a:gd name="T14" fmla="*/ 472 w 524"/>
                    <a:gd name="T15" fmla="*/ 3242 h 6920"/>
                    <a:gd name="T16" fmla="*/ 459 w 524"/>
                    <a:gd name="T17" fmla="*/ 3674 h 6920"/>
                    <a:gd name="T18" fmla="*/ 441 w 524"/>
                    <a:gd name="T19" fmla="*/ 3997 h 6920"/>
                    <a:gd name="T20" fmla="*/ 427 w 524"/>
                    <a:gd name="T21" fmla="*/ 4213 h 6920"/>
                    <a:gd name="T22" fmla="*/ 410 w 524"/>
                    <a:gd name="T23" fmla="*/ 4428 h 6920"/>
                    <a:gd name="T24" fmla="*/ 389 w 524"/>
                    <a:gd name="T25" fmla="*/ 4644 h 6920"/>
                    <a:gd name="T26" fmla="*/ 367 w 524"/>
                    <a:gd name="T27" fmla="*/ 4860 h 6920"/>
                    <a:gd name="T28" fmla="*/ 341 w 524"/>
                    <a:gd name="T29" fmla="*/ 5075 h 6920"/>
                    <a:gd name="T30" fmla="*/ 313 w 524"/>
                    <a:gd name="T31" fmla="*/ 5291 h 6920"/>
                    <a:gd name="T32" fmla="*/ 281 w 524"/>
                    <a:gd name="T33" fmla="*/ 5507 h 6920"/>
                    <a:gd name="T34" fmla="*/ 246 w 524"/>
                    <a:gd name="T35" fmla="*/ 5722 h 6920"/>
                    <a:gd name="T36" fmla="*/ 208 w 524"/>
                    <a:gd name="T37" fmla="*/ 5938 h 6920"/>
                    <a:gd name="T38" fmla="*/ 168 w 524"/>
                    <a:gd name="T39" fmla="*/ 6154 h 6920"/>
                    <a:gd name="T40" fmla="*/ 124 w 524"/>
                    <a:gd name="T41" fmla="*/ 6369 h 6920"/>
                    <a:gd name="T42" fmla="*/ 76 w 524"/>
                    <a:gd name="T43" fmla="*/ 6585 h 6920"/>
                    <a:gd name="T44" fmla="*/ 26 w 524"/>
                    <a:gd name="T45" fmla="*/ 6801 h 6920"/>
                    <a:gd name="T46" fmla="*/ 46 w 524"/>
                    <a:gd name="T47" fmla="*/ 6920 h 6920"/>
                    <a:gd name="T48" fmla="*/ 98 w 524"/>
                    <a:gd name="T49" fmla="*/ 6704 h 6920"/>
                    <a:gd name="T50" fmla="*/ 147 w 524"/>
                    <a:gd name="T51" fmla="*/ 6487 h 6920"/>
                    <a:gd name="T52" fmla="*/ 193 w 524"/>
                    <a:gd name="T53" fmla="*/ 6271 h 6920"/>
                    <a:gd name="T54" fmla="*/ 235 w 524"/>
                    <a:gd name="T55" fmla="*/ 6055 h 6920"/>
                    <a:gd name="T56" fmla="*/ 275 w 524"/>
                    <a:gd name="T57" fmla="*/ 5839 h 6920"/>
                    <a:gd name="T58" fmla="*/ 312 w 524"/>
                    <a:gd name="T59" fmla="*/ 5622 h 6920"/>
                    <a:gd name="T60" fmla="*/ 344 w 524"/>
                    <a:gd name="T61" fmla="*/ 5406 h 6920"/>
                    <a:gd name="T62" fmla="*/ 375 w 524"/>
                    <a:gd name="T63" fmla="*/ 5189 h 6920"/>
                    <a:gd name="T64" fmla="*/ 402 w 524"/>
                    <a:gd name="T65" fmla="*/ 4973 h 6920"/>
                    <a:gd name="T66" fmla="*/ 427 w 524"/>
                    <a:gd name="T67" fmla="*/ 4757 h 6920"/>
                    <a:gd name="T68" fmla="*/ 448 w 524"/>
                    <a:gd name="T69" fmla="*/ 4541 h 6920"/>
                    <a:gd name="T70" fmla="*/ 467 w 524"/>
                    <a:gd name="T71" fmla="*/ 4325 h 6920"/>
                    <a:gd name="T72" fmla="*/ 482 w 524"/>
                    <a:gd name="T73" fmla="*/ 4109 h 6920"/>
                    <a:gd name="T74" fmla="*/ 495 w 524"/>
                    <a:gd name="T75" fmla="*/ 3891 h 6920"/>
                    <a:gd name="T76" fmla="*/ 515 w 524"/>
                    <a:gd name="T77" fmla="*/ 3459 h 6920"/>
                    <a:gd name="T78" fmla="*/ 523 w 524"/>
                    <a:gd name="T79" fmla="*/ 3027 h 6920"/>
                    <a:gd name="T80" fmla="*/ 521 w 524"/>
                    <a:gd name="T81" fmla="*/ 2595 h 6920"/>
                    <a:gd name="T82" fmla="*/ 511 w 524"/>
                    <a:gd name="T83" fmla="*/ 2163 h 6920"/>
                    <a:gd name="T84" fmla="*/ 492 w 524"/>
                    <a:gd name="T85" fmla="*/ 1729 h 6920"/>
                    <a:gd name="T86" fmla="*/ 464 w 524"/>
                    <a:gd name="T87" fmla="*/ 1297 h 6920"/>
                    <a:gd name="T88" fmla="*/ 428 w 524"/>
                    <a:gd name="T89" fmla="*/ 865 h 6920"/>
                    <a:gd name="T90" fmla="*/ 385 w 524"/>
                    <a:gd name="T91" fmla="*/ 433 h 6920"/>
                    <a:gd name="T92" fmla="*/ 335 w 524"/>
                    <a:gd name="T93" fmla="*/ 0 h 69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524" h="6920">
                      <a:moveTo>
                        <a:pt x="287" y="6"/>
                      </a:moveTo>
                      <a:lnTo>
                        <a:pt x="313" y="222"/>
                      </a:lnTo>
                      <a:lnTo>
                        <a:pt x="338" y="438"/>
                      </a:lnTo>
                      <a:lnTo>
                        <a:pt x="360" y="654"/>
                      </a:lnTo>
                      <a:lnTo>
                        <a:pt x="380" y="869"/>
                      </a:lnTo>
                      <a:lnTo>
                        <a:pt x="400" y="1085"/>
                      </a:lnTo>
                      <a:lnTo>
                        <a:pt x="416" y="1301"/>
                      </a:lnTo>
                      <a:lnTo>
                        <a:pt x="431" y="1517"/>
                      </a:lnTo>
                      <a:lnTo>
                        <a:pt x="444" y="1732"/>
                      </a:lnTo>
                      <a:lnTo>
                        <a:pt x="455" y="1948"/>
                      </a:lnTo>
                      <a:lnTo>
                        <a:pt x="463" y="2164"/>
                      </a:lnTo>
                      <a:lnTo>
                        <a:pt x="470" y="2380"/>
                      </a:lnTo>
                      <a:lnTo>
                        <a:pt x="473" y="2595"/>
                      </a:lnTo>
                      <a:lnTo>
                        <a:pt x="476" y="2811"/>
                      </a:lnTo>
                      <a:lnTo>
                        <a:pt x="475" y="3027"/>
                      </a:lnTo>
                      <a:lnTo>
                        <a:pt x="472" y="3242"/>
                      </a:lnTo>
                      <a:lnTo>
                        <a:pt x="467" y="3458"/>
                      </a:lnTo>
                      <a:lnTo>
                        <a:pt x="459" y="3674"/>
                      </a:lnTo>
                      <a:lnTo>
                        <a:pt x="448" y="3890"/>
                      </a:lnTo>
                      <a:lnTo>
                        <a:pt x="441" y="3997"/>
                      </a:lnTo>
                      <a:lnTo>
                        <a:pt x="435" y="4105"/>
                      </a:lnTo>
                      <a:lnTo>
                        <a:pt x="427" y="4213"/>
                      </a:lnTo>
                      <a:lnTo>
                        <a:pt x="419" y="4321"/>
                      </a:lnTo>
                      <a:lnTo>
                        <a:pt x="410" y="4428"/>
                      </a:lnTo>
                      <a:lnTo>
                        <a:pt x="400" y="4537"/>
                      </a:lnTo>
                      <a:lnTo>
                        <a:pt x="389" y="4644"/>
                      </a:lnTo>
                      <a:lnTo>
                        <a:pt x="379" y="4752"/>
                      </a:lnTo>
                      <a:lnTo>
                        <a:pt x="367" y="4860"/>
                      </a:lnTo>
                      <a:lnTo>
                        <a:pt x="354" y="4968"/>
                      </a:lnTo>
                      <a:lnTo>
                        <a:pt x="341" y="5075"/>
                      </a:lnTo>
                      <a:lnTo>
                        <a:pt x="327" y="5184"/>
                      </a:lnTo>
                      <a:lnTo>
                        <a:pt x="313" y="5291"/>
                      </a:lnTo>
                      <a:lnTo>
                        <a:pt x="297" y="5399"/>
                      </a:lnTo>
                      <a:lnTo>
                        <a:pt x="281" y="5507"/>
                      </a:lnTo>
                      <a:lnTo>
                        <a:pt x="264" y="5615"/>
                      </a:lnTo>
                      <a:lnTo>
                        <a:pt x="246" y="5722"/>
                      </a:lnTo>
                      <a:lnTo>
                        <a:pt x="228" y="5831"/>
                      </a:lnTo>
                      <a:lnTo>
                        <a:pt x="208" y="5938"/>
                      </a:lnTo>
                      <a:lnTo>
                        <a:pt x="189" y="6046"/>
                      </a:lnTo>
                      <a:lnTo>
                        <a:pt x="168" y="6154"/>
                      </a:lnTo>
                      <a:lnTo>
                        <a:pt x="146" y="6262"/>
                      </a:lnTo>
                      <a:lnTo>
                        <a:pt x="124" y="6369"/>
                      </a:lnTo>
                      <a:lnTo>
                        <a:pt x="101" y="6478"/>
                      </a:lnTo>
                      <a:lnTo>
                        <a:pt x="76" y="6585"/>
                      </a:lnTo>
                      <a:lnTo>
                        <a:pt x="52" y="6693"/>
                      </a:lnTo>
                      <a:lnTo>
                        <a:pt x="26" y="6801"/>
                      </a:lnTo>
                      <a:lnTo>
                        <a:pt x="0" y="6909"/>
                      </a:lnTo>
                      <a:lnTo>
                        <a:pt x="46" y="6920"/>
                      </a:lnTo>
                      <a:lnTo>
                        <a:pt x="72" y="6812"/>
                      </a:lnTo>
                      <a:lnTo>
                        <a:pt x="98" y="6704"/>
                      </a:lnTo>
                      <a:lnTo>
                        <a:pt x="123" y="6596"/>
                      </a:lnTo>
                      <a:lnTo>
                        <a:pt x="147" y="6487"/>
                      </a:lnTo>
                      <a:lnTo>
                        <a:pt x="171" y="6379"/>
                      </a:lnTo>
                      <a:lnTo>
                        <a:pt x="193" y="6271"/>
                      </a:lnTo>
                      <a:lnTo>
                        <a:pt x="215" y="6163"/>
                      </a:lnTo>
                      <a:lnTo>
                        <a:pt x="235" y="6055"/>
                      </a:lnTo>
                      <a:lnTo>
                        <a:pt x="256" y="5946"/>
                      </a:lnTo>
                      <a:lnTo>
                        <a:pt x="275" y="5839"/>
                      </a:lnTo>
                      <a:lnTo>
                        <a:pt x="294" y="5730"/>
                      </a:lnTo>
                      <a:lnTo>
                        <a:pt x="312" y="5622"/>
                      </a:lnTo>
                      <a:lnTo>
                        <a:pt x="329" y="5514"/>
                      </a:lnTo>
                      <a:lnTo>
                        <a:pt x="344" y="5406"/>
                      </a:lnTo>
                      <a:lnTo>
                        <a:pt x="360" y="5298"/>
                      </a:lnTo>
                      <a:lnTo>
                        <a:pt x="375" y="5189"/>
                      </a:lnTo>
                      <a:lnTo>
                        <a:pt x="389" y="5082"/>
                      </a:lnTo>
                      <a:lnTo>
                        <a:pt x="402" y="4973"/>
                      </a:lnTo>
                      <a:lnTo>
                        <a:pt x="415" y="4866"/>
                      </a:lnTo>
                      <a:lnTo>
                        <a:pt x="427" y="4757"/>
                      </a:lnTo>
                      <a:lnTo>
                        <a:pt x="437" y="4649"/>
                      </a:lnTo>
                      <a:lnTo>
                        <a:pt x="448" y="4541"/>
                      </a:lnTo>
                      <a:lnTo>
                        <a:pt x="458" y="4432"/>
                      </a:lnTo>
                      <a:lnTo>
                        <a:pt x="467" y="4325"/>
                      </a:lnTo>
                      <a:lnTo>
                        <a:pt x="475" y="4216"/>
                      </a:lnTo>
                      <a:lnTo>
                        <a:pt x="482" y="4109"/>
                      </a:lnTo>
                      <a:lnTo>
                        <a:pt x="489" y="4000"/>
                      </a:lnTo>
                      <a:lnTo>
                        <a:pt x="495" y="3891"/>
                      </a:lnTo>
                      <a:lnTo>
                        <a:pt x="506" y="3675"/>
                      </a:lnTo>
                      <a:lnTo>
                        <a:pt x="515" y="3459"/>
                      </a:lnTo>
                      <a:lnTo>
                        <a:pt x="520" y="3243"/>
                      </a:lnTo>
                      <a:lnTo>
                        <a:pt x="523" y="3027"/>
                      </a:lnTo>
                      <a:lnTo>
                        <a:pt x="524" y="2811"/>
                      </a:lnTo>
                      <a:lnTo>
                        <a:pt x="521" y="2595"/>
                      </a:lnTo>
                      <a:lnTo>
                        <a:pt x="517" y="2379"/>
                      </a:lnTo>
                      <a:lnTo>
                        <a:pt x="511" y="2163"/>
                      </a:lnTo>
                      <a:lnTo>
                        <a:pt x="503" y="1945"/>
                      </a:lnTo>
                      <a:lnTo>
                        <a:pt x="492" y="1729"/>
                      </a:lnTo>
                      <a:lnTo>
                        <a:pt x="479" y="1513"/>
                      </a:lnTo>
                      <a:lnTo>
                        <a:pt x="464" y="1297"/>
                      </a:lnTo>
                      <a:lnTo>
                        <a:pt x="448" y="1081"/>
                      </a:lnTo>
                      <a:lnTo>
                        <a:pt x="428" y="865"/>
                      </a:lnTo>
                      <a:lnTo>
                        <a:pt x="407" y="649"/>
                      </a:lnTo>
                      <a:lnTo>
                        <a:pt x="385" y="433"/>
                      </a:lnTo>
                      <a:lnTo>
                        <a:pt x="361" y="216"/>
                      </a:lnTo>
                      <a:lnTo>
                        <a:pt x="335" y="0"/>
                      </a:lnTo>
                      <a:lnTo>
                        <a:pt x="287" y="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5" name="Freeform 158">
                  <a:extLst>
                    <a:ext uri="{FF2B5EF4-FFF2-40B4-BE49-F238E27FC236}">
                      <a16:creationId xmlns:a16="http://schemas.microsoft.com/office/drawing/2014/main" id="{DD965920-4496-4B2B-90D7-343B1619B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8" y="408"/>
                  <a:ext cx="60" cy="1334"/>
                </a:xfrm>
                <a:custGeom>
                  <a:avLst/>
                  <a:gdLst>
                    <a:gd name="T0" fmla="*/ 24 w 239"/>
                    <a:gd name="T1" fmla="*/ 183 h 5335"/>
                    <a:gd name="T2" fmla="*/ 67 w 239"/>
                    <a:gd name="T3" fmla="*/ 531 h 5335"/>
                    <a:gd name="T4" fmla="*/ 104 w 239"/>
                    <a:gd name="T5" fmla="*/ 876 h 5335"/>
                    <a:gd name="T6" fmla="*/ 134 w 239"/>
                    <a:gd name="T7" fmla="*/ 1218 h 5335"/>
                    <a:gd name="T8" fmla="*/ 158 w 239"/>
                    <a:gd name="T9" fmla="*/ 1555 h 5335"/>
                    <a:gd name="T10" fmla="*/ 176 w 239"/>
                    <a:gd name="T11" fmla="*/ 1892 h 5335"/>
                    <a:gd name="T12" fmla="*/ 186 w 239"/>
                    <a:gd name="T13" fmla="*/ 2224 h 5335"/>
                    <a:gd name="T14" fmla="*/ 191 w 239"/>
                    <a:gd name="T15" fmla="*/ 2557 h 5335"/>
                    <a:gd name="T16" fmla="*/ 190 w 239"/>
                    <a:gd name="T17" fmla="*/ 2886 h 5335"/>
                    <a:gd name="T18" fmla="*/ 182 w 239"/>
                    <a:gd name="T19" fmla="*/ 3214 h 5335"/>
                    <a:gd name="T20" fmla="*/ 169 w 239"/>
                    <a:gd name="T21" fmla="*/ 3540 h 5335"/>
                    <a:gd name="T22" fmla="*/ 151 w 239"/>
                    <a:gd name="T23" fmla="*/ 3866 h 5335"/>
                    <a:gd name="T24" fmla="*/ 126 w 239"/>
                    <a:gd name="T25" fmla="*/ 4191 h 5335"/>
                    <a:gd name="T26" fmla="*/ 97 w 239"/>
                    <a:gd name="T27" fmla="*/ 4516 h 5335"/>
                    <a:gd name="T28" fmla="*/ 62 w 239"/>
                    <a:gd name="T29" fmla="*/ 4841 h 5335"/>
                    <a:gd name="T30" fmla="*/ 22 w 239"/>
                    <a:gd name="T31" fmla="*/ 5165 h 5335"/>
                    <a:gd name="T32" fmla="*/ 46 w 239"/>
                    <a:gd name="T33" fmla="*/ 5335 h 5335"/>
                    <a:gd name="T34" fmla="*/ 90 w 239"/>
                    <a:gd name="T35" fmla="*/ 5009 h 5335"/>
                    <a:gd name="T36" fmla="*/ 128 w 239"/>
                    <a:gd name="T37" fmla="*/ 4684 h 5335"/>
                    <a:gd name="T38" fmla="*/ 160 w 239"/>
                    <a:gd name="T39" fmla="*/ 4358 h 5335"/>
                    <a:gd name="T40" fmla="*/ 187 w 239"/>
                    <a:gd name="T41" fmla="*/ 4033 h 5335"/>
                    <a:gd name="T42" fmla="*/ 208 w 239"/>
                    <a:gd name="T43" fmla="*/ 3706 h 5335"/>
                    <a:gd name="T44" fmla="*/ 225 w 239"/>
                    <a:gd name="T45" fmla="*/ 3380 h 5335"/>
                    <a:gd name="T46" fmla="*/ 235 w 239"/>
                    <a:gd name="T47" fmla="*/ 3051 h 5335"/>
                    <a:gd name="T48" fmla="*/ 239 w 239"/>
                    <a:gd name="T49" fmla="*/ 2721 h 5335"/>
                    <a:gd name="T50" fmla="*/ 238 w 239"/>
                    <a:gd name="T51" fmla="*/ 2390 h 5335"/>
                    <a:gd name="T52" fmla="*/ 230 w 239"/>
                    <a:gd name="T53" fmla="*/ 2057 h 5335"/>
                    <a:gd name="T54" fmla="*/ 216 w 239"/>
                    <a:gd name="T55" fmla="*/ 1721 h 5335"/>
                    <a:gd name="T56" fmla="*/ 195 w 239"/>
                    <a:gd name="T57" fmla="*/ 1383 h 5335"/>
                    <a:gd name="T58" fmla="*/ 168 w 239"/>
                    <a:gd name="T59" fmla="*/ 1043 h 5335"/>
                    <a:gd name="T60" fmla="*/ 134 w 239"/>
                    <a:gd name="T61" fmla="*/ 699 h 5335"/>
                    <a:gd name="T62" fmla="*/ 94 w 239"/>
                    <a:gd name="T63" fmla="*/ 352 h 5335"/>
                    <a:gd name="T64" fmla="*/ 46 w 239"/>
                    <a:gd name="T65" fmla="*/ 0 h 5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39" h="5335">
                      <a:moveTo>
                        <a:pt x="0" y="8"/>
                      </a:moveTo>
                      <a:lnTo>
                        <a:pt x="24" y="183"/>
                      </a:lnTo>
                      <a:lnTo>
                        <a:pt x="46" y="357"/>
                      </a:lnTo>
                      <a:lnTo>
                        <a:pt x="67" y="531"/>
                      </a:lnTo>
                      <a:lnTo>
                        <a:pt x="86" y="704"/>
                      </a:lnTo>
                      <a:lnTo>
                        <a:pt x="104" y="876"/>
                      </a:lnTo>
                      <a:lnTo>
                        <a:pt x="120" y="1047"/>
                      </a:lnTo>
                      <a:lnTo>
                        <a:pt x="134" y="1218"/>
                      </a:lnTo>
                      <a:lnTo>
                        <a:pt x="147" y="1387"/>
                      </a:lnTo>
                      <a:lnTo>
                        <a:pt x="158" y="1555"/>
                      </a:lnTo>
                      <a:lnTo>
                        <a:pt x="168" y="1724"/>
                      </a:lnTo>
                      <a:lnTo>
                        <a:pt x="176" y="1892"/>
                      </a:lnTo>
                      <a:lnTo>
                        <a:pt x="182" y="2059"/>
                      </a:lnTo>
                      <a:lnTo>
                        <a:pt x="186" y="2224"/>
                      </a:lnTo>
                      <a:lnTo>
                        <a:pt x="190" y="2391"/>
                      </a:lnTo>
                      <a:lnTo>
                        <a:pt x="191" y="2557"/>
                      </a:lnTo>
                      <a:lnTo>
                        <a:pt x="191" y="2721"/>
                      </a:lnTo>
                      <a:lnTo>
                        <a:pt x="190" y="2886"/>
                      </a:lnTo>
                      <a:lnTo>
                        <a:pt x="187" y="3050"/>
                      </a:lnTo>
                      <a:lnTo>
                        <a:pt x="182" y="3214"/>
                      </a:lnTo>
                      <a:lnTo>
                        <a:pt x="177" y="3377"/>
                      </a:lnTo>
                      <a:lnTo>
                        <a:pt x="169" y="3540"/>
                      </a:lnTo>
                      <a:lnTo>
                        <a:pt x="160" y="3703"/>
                      </a:lnTo>
                      <a:lnTo>
                        <a:pt x="151" y="3866"/>
                      </a:lnTo>
                      <a:lnTo>
                        <a:pt x="139" y="4029"/>
                      </a:lnTo>
                      <a:lnTo>
                        <a:pt x="126" y="4191"/>
                      </a:lnTo>
                      <a:lnTo>
                        <a:pt x="112" y="4354"/>
                      </a:lnTo>
                      <a:lnTo>
                        <a:pt x="97" y="4516"/>
                      </a:lnTo>
                      <a:lnTo>
                        <a:pt x="80" y="4679"/>
                      </a:lnTo>
                      <a:lnTo>
                        <a:pt x="62" y="4841"/>
                      </a:lnTo>
                      <a:lnTo>
                        <a:pt x="42" y="5004"/>
                      </a:lnTo>
                      <a:lnTo>
                        <a:pt x="22" y="5165"/>
                      </a:lnTo>
                      <a:lnTo>
                        <a:pt x="0" y="5328"/>
                      </a:lnTo>
                      <a:lnTo>
                        <a:pt x="46" y="5335"/>
                      </a:lnTo>
                      <a:lnTo>
                        <a:pt x="68" y="5172"/>
                      </a:lnTo>
                      <a:lnTo>
                        <a:pt x="90" y="5009"/>
                      </a:lnTo>
                      <a:lnTo>
                        <a:pt x="110" y="4846"/>
                      </a:lnTo>
                      <a:lnTo>
                        <a:pt x="128" y="4684"/>
                      </a:lnTo>
                      <a:lnTo>
                        <a:pt x="145" y="4521"/>
                      </a:lnTo>
                      <a:lnTo>
                        <a:pt x="160" y="4358"/>
                      </a:lnTo>
                      <a:lnTo>
                        <a:pt x="174" y="4195"/>
                      </a:lnTo>
                      <a:lnTo>
                        <a:pt x="187" y="4033"/>
                      </a:lnTo>
                      <a:lnTo>
                        <a:pt x="199" y="3870"/>
                      </a:lnTo>
                      <a:lnTo>
                        <a:pt x="208" y="3706"/>
                      </a:lnTo>
                      <a:lnTo>
                        <a:pt x="217" y="3543"/>
                      </a:lnTo>
                      <a:lnTo>
                        <a:pt x="225" y="3380"/>
                      </a:lnTo>
                      <a:lnTo>
                        <a:pt x="230" y="3215"/>
                      </a:lnTo>
                      <a:lnTo>
                        <a:pt x="235" y="3051"/>
                      </a:lnTo>
                      <a:lnTo>
                        <a:pt x="238" y="2887"/>
                      </a:lnTo>
                      <a:lnTo>
                        <a:pt x="239" y="2721"/>
                      </a:lnTo>
                      <a:lnTo>
                        <a:pt x="239" y="2556"/>
                      </a:lnTo>
                      <a:lnTo>
                        <a:pt x="238" y="2390"/>
                      </a:lnTo>
                      <a:lnTo>
                        <a:pt x="234" y="2224"/>
                      </a:lnTo>
                      <a:lnTo>
                        <a:pt x="230" y="2057"/>
                      </a:lnTo>
                      <a:lnTo>
                        <a:pt x="224" y="1889"/>
                      </a:lnTo>
                      <a:lnTo>
                        <a:pt x="216" y="1721"/>
                      </a:lnTo>
                      <a:lnTo>
                        <a:pt x="205" y="1553"/>
                      </a:lnTo>
                      <a:lnTo>
                        <a:pt x="195" y="1383"/>
                      </a:lnTo>
                      <a:lnTo>
                        <a:pt x="182" y="1214"/>
                      </a:lnTo>
                      <a:lnTo>
                        <a:pt x="168" y="1043"/>
                      </a:lnTo>
                      <a:lnTo>
                        <a:pt x="152" y="871"/>
                      </a:lnTo>
                      <a:lnTo>
                        <a:pt x="134" y="699"/>
                      </a:lnTo>
                      <a:lnTo>
                        <a:pt x="115" y="525"/>
                      </a:lnTo>
                      <a:lnTo>
                        <a:pt x="94" y="352"/>
                      </a:lnTo>
                      <a:lnTo>
                        <a:pt x="71" y="176"/>
                      </a:lnTo>
                      <a:lnTo>
                        <a:pt x="46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6" name="Rectangle 159">
                  <a:extLst>
                    <a:ext uri="{FF2B5EF4-FFF2-40B4-BE49-F238E27FC236}">
                      <a16:creationId xmlns:a16="http://schemas.microsoft.com/office/drawing/2014/main" id="{7479E4E6-37F7-4228-8B1E-39329B77E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52" y="588"/>
                  <a:ext cx="10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7" name="Rectangle 160">
                  <a:extLst>
                    <a:ext uri="{FF2B5EF4-FFF2-40B4-BE49-F238E27FC236}">
                      <a16:creationId xmlns:a16="http://schemas.microsoft.com/office/drawing/2014/main" id="{DA00EBDF-8C50-4503-BA7F-581EF0CE9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70" y="64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8" name="Rectangle 161">
                  <a:extLst>
                    <a:ext uri="{FF2B5EF4-FFF2-40B4-BE49-F238E27FC236}">
                      <a16:creationId xmlns:a16="http://schemas.microsoft.com/office/drawing/2014/main" id="{000D4A9B-2B97-4E66-A5B4-D934A1B57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91" y="684"/>
                  <a:ext cx="7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-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9" name="Rectangle 162">
                  <a:extLst>
                    <a:ext uri="{FF2B5EF4-FFF2-40B4-BE49-F238E27FC236}">
                      <a16:creationId xmlns:a16="http://schemas.microsoft.com/office/drawing/2014/main" id="{1C84FDE0-BA59-4B50-892B-CC7EAFD0A5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86" y="732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0" name="Rectangle 163">
                  <a:extLst>
                    <a:ext uri="{FF2B5EF4-FFF2-40B4-BE49-F238E27FC236}">
                      <a16:creationId xmlns:a16="http://schemas.microsoft.com/office/drawing/2014/main" id="{4B08C3E7-BD5E-4266-A739-67FFE61F2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10" y="791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1" name="Rectangle 164">
                  <a:extLst>
                    <a:ext uri="{FF2B5EF4-FFF2-40B4-BE49-F238E27FC236}">
                      <a16:creationId xmlns:a16="http://schemas.microsoft.com/office/drawing/2014/main" id="{85279B60-AA38-4B01-9302-7418171F9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28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2" name="Rectangle 165">
                  <a:extLst>
                    <a:ext uri="{FF2B5EF4-FFF2-40B4-BE49-F238E27FC236}">
                      <a16:creationId xmlns:a16="http://schemas.microsoft.com/office/drawing/2014/main" id="{0B988019-17C4-41E3-BE86-3CE24ACCB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9" y="85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3" name="Rectangle 166">
                  <a:extLst>
                    <a:ext uri="{FF2B5EF4-FFF2-40B4-BE49-F238E27FC236}">
                      <a16:creationId xmlns:a16="http://schemas.microsoft.com/office/drawing/2014/main" id="{4DE0CE08-BC22-45E8-8EDF-6E2C5BEB6F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9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4" name="Rectangle 167">
                  <a:extLst>
                    <a:ext uri="{FF2B5EF4-FFF2-40B4-BE49-F238E27FC236}">
                      <a16:creationId xmlns:a16="http://schemas.microsoft.com/office/drawing/2014/main" id="{D2E890D3-84B1-4135-9435-9E26166CDA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60" y="93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5" name="Rectangle 168">
                  <a:extLst>
                    <a:ext uri="{FF2B5EF4-FFF2-40B4-BE49-F238E27FC236}">
                      <a16:creationId xmlns:a16="http://schemas.microsoft.com/office/drawing/2014/main" id="{08182556-78F9-4714-B6A3-41385DBB1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48" y="982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6" name="Rectangle 169">
                  <a:extLst>
                    <a:ext uri="{FF2B5EF4-FFF2-40B4-BE49-F238E27FC236}">
                      <a16:creationId xmlns:a16="http://schemas.microsoft.com/office/drawing/2014/main" id="{BAC88868-260B-42B9-9B84-A6CDF92AC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80" y="1045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7" name="Rectangle 170">
                  <a:extLst>
                    <a:ext uri="{FF2B5EF4-FFF2-40B4-BE49-F238E27FC236}">
                      <a16:creationId xmlns:a16="http://schemas.microsoft.com/office/drawing/2014/main" id="{FE8FEAA1-C6F5-4AAE-9279-47F0760263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35" y="4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8" name="Rectangle 171">
                  <a:extLst>
                    <a:ext uri="{FF2B5EF4-FFF2-40B4-BE49-F238E27FC236}">
                      <a16:creationId xmlns:a16="http://schemas.microsoft.com/office/drawing/2014/main" id="{7EE0A2FB-1A12-4BED-8510-98BA669EA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7" y="4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9" name="Rectangle 172">
                  <a:extLst>
                    <a:ext uri="{FF2B5EF4-FFF2-40B4-BE49-F238E27FC236}">
                      <a16:creationId xmlns:a16="http://schemas.microsoft.com/office/drawing/2014/main" id="{EF43C918-D844-41E9-B114-AC7A4872B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9" y="490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0" name="Rectangle 173">
                  <a:extLst>
                    <a:ext uri="{FF2B5EF4-FFF2-40B4-BE49-F238E27FC236}">
                      <a16:creationId xmlns:a16="http://schemas.microsoft.com/office/drawing/2014/main" id="{56EA75AF-22F4-4C69-9731-FEB2BB15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0" y="53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1" name="Rectangle 174">
                  <a:extLst>
                    <a:ext uri="{FF2B5EF4-FFF2-40B4-BE49-F238E27FC236}">
                      <a16:creationId xmlns:a16="http://schemas.microsoft.com/office/drawing/2014/main" id="{E678D915-3C46-4000-84A4-B2CDF729A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6" y="57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2" name="Rectangle 175">
                  <a:extLst>
                    <a:ext uri="{FF2B5EF4-FFF2-40B4-BE49-F238E27FC236}">
                      <a16:creationId xmlns:a16="http://schemas.microsoft.com/office/drawing/2014/main" id="{5F21E8A7-B454-4658-8807-834395718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3" y="6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3" name="Rectangle 176">
                  <a:extLst>
                    <a:ext uri="{FF2B5EF4-FFF2-40B4-BE49-F238E27FC236}">
                      <a16:creationId xmlns:a16="http://schemas.microsoft.com/office/drawing/2014/main" id="{4A6419BD-2EB0-41AF-A7A9-DC8DB9013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5" y="66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4" name="Rectangle 177">
                  <a:extLst>
                    <a:ext uri="{FF2B5EF4-FFF2-40B4-BE49-F238E27FC236}">
                      <a16:creationId xmlns:a16="http://schemas.microsoft.com/office/drawing/2014/main" id="{7DD10115-EA23-4A6B-A3BB-448E4E3866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7" y="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5" name="Rectangle 178">
                  <a:extLst>
                    <a:ext uri="{FF2B5EF4-FFF2-40B4-BE49-F238E27FC236}">
                      <a16:creationId xmlns:a16="http://schemas.microsoft.com/office/drawing/2014/main" id="{19CAE939-64D6-4AF7-8F24-A8746BF41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7" y="72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6" name="Rectangle 179">
                  <a:extLst>
                    <a:ext uri="{FF2B5EF4-FFF2-40B4-BE49-F238E27FC236}">
                      <a16:creationId xmlns:a16="http://schemas.microsoft.com/office/drawing/2014/main" id="{093C5B48-C5C2-499F-9B42-D7EE26CFC0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490" y="53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7" name="Rectangle 180">
                  <a:extLst>
                    <a:ext uri="{FF2B5EF4-FFF2-40B4-BE49-F238E27FC236}">
                      <a16:creationId xmlns:a16="http://schemas.microsoft.com/office/drawing/2014/main" id="{34A82AF7-194E-48FC-983A-FF41575A1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2" y="5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8" name="Rectangle 181">
                  <a:extLst>
                    <a:ext uri="{FF2B5EF4-FFF2-40B4-BE49-F238E27FC236}">
                      <a16:creationId xmlns:a16="http://schemas.microsoft.com/office/drawing/2014/main" id="{C022B4A9-59BC-4558-ABF1-661607C29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4" y="6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9" name="Rectangle 182">
                  <a:extLst>
                    <a:ext uri="{FF2B5EF4-FFF2-40B4-BE49-F238E27FC236}">
                      <a16:creationId xmlns:a16="http://schemas.microsoft.com/office/drawing/2014/main" id="{C22F624B-8303-4BBB-A816-8063505D7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4" y="643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0" name="Rectangle 183">
                  <a:extLst>
                    <a:ext uri="{FF2B5EF4-FFF2-40B4-BE49-F238E27FC236}">
                      <a16:creationId xmlns:a16="http://schemas.microsoft.com/office/drawing/2014/main" id="{DC23CFF4-F970-4101-BFCE-911001CA29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1" y="68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1" name="Rectangle 184">
                  <a:extLst>
                    <a:ext uri="{FF2B5EF4-FFF2-40B4-BE49-F238E27FC236}">
                      <a16:creationId xmlns:a16="http://schemas.microsoft.com/office/drawing/2014/main" id="{FC872153-4C28-4C85-A6D0-335B37634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8" y="729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2" name="Rectangle 185">
                  <a:extLst>
                    <a:ext uri="{FF2B5EF4-FFF2-40B4-BE49-F238E27FC236}">
                      <a16:creationId xmlns:a16="http://schemas.microsoft.com/office/drawing/2014/main" id="{0B12FC1D-1984-4F2B-B529-0432B3899E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9" y="77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3" name="Rectangle 186">
                  <a:extLst>
                    <a:ext uri="{FF2B5EF4-FFF2-40B4-BE49-F238E27FC236}">
                      <a16:creationId xmlns:a16="http://schemas.microsoft.com/office/drawing/2014/main" id="{0A825D57-BBD5-4490-8655-26CF6BB5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32" y="8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4" name="Rectangle 187">
                  <a:extLst>
                    <a:ext uri="{FF2B5EF4-FFF2-40B4-BE49-F238E27FC236}">
                      <a16:creationId xmlns:a16="http://schemas.microsoft.com/office/drawing/2014/main" id="{D9470D47-B242-4A76-8F8B-F59E6BC61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2" y="84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5" name="Rectangle 188">
                  <a:extLst>
                    <a:ext uri="{FF2B5EF4-FFF2-40B4-BE49-F238E27FC236}">
                      <a16:creationId xmlns:a16="http://schemas.microsoft.com/office/drawing/2014/main" id="{40E20785-348A-4899-9A56-D7C9005C44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14" y="50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6" name="Rectangle 189">
                  <a:extLst>
                    <a:ext uri="{FF2B5EF4-FFF2-40B4-BE49-F238E27FC236}">
                      <a16:creationId xmlns:a16="http://schemas.microsoft.com/office/drawing/2014/main" id="{16A32EC1-4D82-4EDA-A826-BD52B7163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3" y="55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7" name="Rectangle 190">
                  <a:extLst>
                    <a:ext uri="{FF2B5EF4-FFF2-40B4-BE49-F238E27FC236}">
                      <a16:creationId xmlns:a16="http://schemas.microsoft.com/office/drawing/2014/main" id="{A57B3896-D22B-4890-A1EA-9A42095CD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5" y="58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8" name="Rectangle 191">
                  <a:extLst>
                    <a:ext uri="{FF2B5EF4-FFF2-40B4-BE49-F238E27FC236}">
                      <a16:creationId xmlns:a16="http://schemas.microsoft.com/office/drawing/2014/main" id="{3AC7032C-0E89-4C00-9C7C-7C93D5C4E8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5" y="62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9" name="Rectangle 192">
                  <a:extLst>
                    <a:ext uri="{FF2B5EF4-FFF2-40B4-BE49-F238E27FC236}">
                      <a16:creationId xmlns:a16="http://schemas.microsoft.com/office/drawing/2014/main" id="{065F0919-A6CC-4C8D-A404-409DFEA69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2" y="66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0" name="Rectangle 193">
                  <a:extLst>
                    <a:ext uri="{FF2B5EF4-FFF2-40B4-BE49-F238E27FC236}">
                      <a16:creationId xmlns:a16="http://schemas.microsoft.com/office/drawing/2014/main" id="{3FA1C983-64D1-4DF3-9CB5-5494F81529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6" y="71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1" name="Rectangle 194">
                  <a:extLst>
                    <a:ext uri="{FF2B5EF4-FFF2-40B4-BE49-F238E27FC236}">
                      <a16:creationId xmlns:a16="http://schemas.microsoft.com/office/drawing/2014/main" id="{5C6652DC-2ABE-4D4D-87F3-D71AE6C89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0" y="77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2" name="Rectangle 195">
                  <a:extLst>
                    <a:ext uri="{FF2B5EF4-FFF2-40B4-BE49-F238E27FC236}">
                      <a16:creationId xmlns:a16="http://schemas.microsoft.com/office/drawing/2014/main" id="{F36EA08A-07AD-4B2F-8C1B-3E226D771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68" y="809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3" name="Rectangle 196">
                  <a:extLst>
                    <a:ext uri="{FF2B5EF4-FFF2-40B4-BE49-F238E27FC236}">
                      <a16:creationId xmlns:a16="http://schemas.microsoft.com/office/drawing/2014/main" id="{557487D9-F87E-46F0-85E0-B40DB57A4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2972" y="58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4" name="Rectangle 197">
                  <a:extLst>
                    <a:ext uri="{FF2B5EF4-FFF2-40B4-BE49-F238E27FC236}">
                      <a16:creationId xmlns:a16="http://schemas.microsoft.com/office/drawing/2014/main" id="{B2369D69-38A8-4FE0-A0A8-5D649A0B0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1" y="63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5" name="Rectangle 198">
                  <a:extLst>
                    <a:ext uri="{FF2B5EF4-FFF2-40B4-BE49-F238E27FC236}">
                      <a16:creationId xmlns:a16="http://schemas.microsoft.com/office/drawing/2014/main" id="{3C14519E-BE91-4651-A0D4-6C7A849C83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9" y="65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6" name="Rectangle 199">
                  <a:extLst>
                    <a:ext uri="{FF2B5EF4-FFF2-40B4-BE49-F238E27FC236}">
                      <a16:creationId xmlns:a16="http://schemas.microsoft.com/office/drawing/2014/main" id="{A6AD819E-ABB0-46BA-8417-F5FDEB7CC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7" y="697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7" name="Rectangle 200">
                  <a:extLst>
                    <a:ext uri="{FF2B5EF4-FFF2-40B4-BE49-F238E27FC236}">
                      <a16:creationId xmlns:a16="http://schemas.microsoft.com/office/drawing/2014/main" id="{2C2A27C7-8CFF-4EE9-9AEB-4CA741FE0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43" y="73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8" name="Rectangle 201">
                  <a:extLst>
                    <a:ext uri="{FF2B5EF4-FFF2-40B4-BE49-F238E27FC236}">
                      <a16:creationId xmlns:a16="http://schemas.microsoft.com/office/drawing/2014/main" id="{CD1DC564-A29F-469C-83FE-9F6178EE6E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38" y="78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9" name="Rectangle 202">
                  <a:extLst>
                    <a:ext uri="{FF2B5EF4-FFF2-40B4-BE49-F238E27FC236}">
                      <a16:creationId xmlns:a16="http://schemas.microsoft.com/office/drawing/2014/main" id="{1CD1653A-8D20-4B14-A96B-F4802DEE1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70" y="82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0" name="Rectangle 203">
                  <a:extLst>
                    <a:ext uri="{FF2B5EF4-FFF2-40B4-BE49-F238E27FC236}">
                      <a16:creationId xmlns:a16="http://schemas.microsoft.com/office/drawing/2014/main" id="{78D532E9-E0A2-4B90-88D2-39D1BE7518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20" y="54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1" name="Rectangle 204">
                  <a:extLst>
                    <a:ext uri="{FF2B5EF4-FFF2-40B4-BE49-F238E27FC236}">
                      <a16:creationId xmlns:a16="http://schemas.microsoft.com/office/drawing/2014/main" id="{AB9C88A2-F029-4157-8249-06B42F9605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30" y="59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206">
                <a:extLst>
                  <a:ext uri="{FF2B5EF4-FFF2-40B4-BE49-F238E27FC236}">
                    <a16:creationId xmlns:a16="http://schemas.microsoft.com/office/drawing/2014/main" id="{E748DEA1-1AE5-48EF-AEBD-F9BA28238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44" y="63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" name="Rectangle 207">
                <a:extLst>
                  <a:ext uri="{FF2B5EF4-FFF2-40B4-BE49-F238E27FC236}">
                    <a16:creationId xmlns:a16="http://schemas.microsoft.com/office/drawing/2014/main" id="{88B28DA4-B8ED-4174-B9D8-3EB97ECB4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4" y="674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" name="Rectangle 208">
                <a:extLst>
                  <a:ext uri="{FF2B5EF4-FFF2-40B4-BE49-F238E27FC236}">
                    <a16:creationId xmlns:a16="http://schemas.microsoft.com/office/drawing/2014/main" id="{DF5C24A8-6C94-492C-B3AD-A9F49D1C9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0" y="71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" name="Rectangle 209">
                <a:extLst>
                  <a:ext uri="{FF2B5EF4-FFF2-40B4-BE49-F238E27FC236}">
                    <a16:creationId xmlns:a16="http://schemas.microsoft.com/office/drawing/2014/main" id="{6EBA4C2F-6F09-48A7-8913-241B5B5D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5" y="760"/>
                <a:ext cx="10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210">
                <a:extLst>
                  <a:ext uri="{FF2B5EF4-FFF2-40B4-BE49-F238E27FC236}">
                    <a16:creationId xmlns:a16="http://schemas.microsoft.com/office/drawing/2014/main" id="{A3791B4E-01F4-4AE4-A5FD-D1B744323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6" y="807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11">
                <a:extLst>
                  <a:ext uri="{FF2B5EF4-FFF2-40B4-BE49-F238E27FC236}">
                    <a16:creationId xmlns:a16="http://schemas.microsoft.com/office/drawing/2014/main" id="{3D6168BA-A719-40CA-A036-184789812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1" y="76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" name="Rectangle 212">
                <a:extLst>
                  <a:ext uri="{FF2B5EF4-FFF2-40B4-BE49-F238E27FC236}">
                    <a16:creationId xmlns:a16="http://schemas.microsoft.com/office/drawing/2014/main" id="{CEAC4077-7830-4DC3-B2B7-2446180D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814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" name="Rectangle 213">
                <a:extLst>
                  <a:ext uri="{FF2B5EF4-FFF2-40B4-BE49-F238E27FC236}">
                    <a16:creationId xmlns:a16="http://schemas.microsoft.com/office/drawing/2014/main" id="{9788A7F2-502A-4F7F-98E5-3EE6D1357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2" y="876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214">
                <a:extLst>
                  <a:ext uri="{FF2B5EF4-FFF2-40B4-BE49-F238E27FC236}">
                    <a16:creationId xmlns:a16="http://schemas.microsoft.com/office/drawing/2014/main" id="{A74DBB88-1127-4C91-9AE4-4ACC5466E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4" y="9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215">
                <a:extLst>
                  <a:ext uri="{FF2B5EF4-FFF2-40B4-BE49-F238E27FC236}">
                    <a16:creationId xmlns:a16="http://schemas.microsoft.com/office/drawing/2014/main" id="{06139411-1A42-4F24-A5CA-3936E0910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0" y="9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216">
                <a:extLst>
                  <a:ext uri="{FF2B5EF4-FFF2-40B4-BE49-F238E27FC236}">
                    <a16:creationId xmlns:a16="http://schemas.microsoft.com/office/drawing/2014/main" id="{E2D65FBF-F001-42B2-B11A-62DF28170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5" y="99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Rectangle 217">
                <a:extLst>
                  <a:ext uri="{FF2B5EF4-FFF2-40B4-BE49-F238E27FC236}">
                    <a16:creationId xmlns:a16="http://schemas.microsoft.com/office/drawing/2014/main" id="{CE42C871-5B7E-4577-AFE4-BD06D45F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5" y="10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218">
                <a:extLst>
                  <a:ext uri="{FF2B5EF4-FFF2-40B4-BE49-F238E27FC236}">
                    <a16:creationId xmlns:a16="http://schemas.microsoft.com/office/drawing/2014/main" id="{36A7C698-86D2-4EEA-8555-788ED5D52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4" y="11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" name="Rectangle 219">
                <a:extLst>
                  <a:ext uri="{FF2B5EF4-FFF2-40B4-BE49-F238E27FC236}">
                    <a16:creationId xmlns:a16="http://schemas.microsoft.com/office/drawing/2014/main" id="{185A57B8-3806-46AF-9424-B295188BF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1108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220">
                <a:extLst>
                  <a:ext uri="{FF2B5EF4-FFF2-40B4-BE49-F238E27FC236}">
                    <a16:creationId xmlns:a16="http://schemas.microsoft.com/office/drawing/2014/main" id="{43E54132-332F-44CA-8E0D-F8F417696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88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221">
                <a:extLst>
                  <a:ext uri="{FF2B5EF4-FFF2-40B4-BE49-F238E27FC236}">
                    <a16:creationId xmlns:a16="http://schemas.microsoft.com/office/drawing/2014/main" id="{42ECE788-72A3-4931-AC67-4FF234E7E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6" y="938"/>
                <a:ext cx="1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222">
                <a:extLst>
                  <a:ext uri="{FF2B5EF4-FFF2-40B4-BE49-F238E27FC236}">
                    <a16:creationId xmlns:a16="http://schemas.microsoft.com/office/drawing/2014/main" id="{27CE00EC-6F2A-4734-9D24-C73EC6142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003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223">
                <a:extLst>
                  <a:ext uri="{FF2B5EF4-FFF2-40B4-BE49-F238E27FC236}">
                    <a16:creationId xmlns:a16="http://schemas.microsoft.com/office/drawing/2014/main" id="{7879314A-868F-4278-9EF9-7BB2816E3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0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24">
                <a:extLst>
                  <a:ext uri="{FF2B5EF4-FFF2-40B4-BE49-F238E27FC236}">
                    <a16:creationId xmlns:a16="http://schemas.microsoft.com/office/drawing/2014/main" id="{10A4F41F-156A-43B3-9145-CAEFD284F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17" y="1080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225">
                <a:extLst>
                  <a:ext uri="{FF2B5EF4-FFF2-40B4-BE49-F238E27FC236}">
                    <a16:creationId xmlns:a16="http://schemas.microsoft.com/office/drawing/2014/main" id="{6601B47D-A1BB-4BD1-A419-55BE7D8E8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12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226">
                <a:extLst>
                  <a:ext uri="{FF2B5EF4-FFF2-40B4-BE49-F238E27FC236}">
                    <a16:creationId xmlns:a16="http://schemas.microsoft.com/office/drawing/2014/main" id="{58A2929D-9344-4141-B060-A4AE563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8" y="1173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227">
                <a:extLst>
                  <a:ext uri="{FF2B5EF4-FFF2-40B4-BE49-F238E27FC236}">
                    <a16:creationId xmlns:a16="http://schemas.microsoft.com/office/drawing/2014/main" id="{AE3596C8-298E-42F9-8169-115D526E1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235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28">
                <a:extLst>
                  <a:ext uri="{FF2B5EF4-FFF2-40B4-BE49-F238E27FC236}">
                    <a16:creationId xmlns:a16="http://schemas.microsoft.com/office/drawing/2014/main" id="{6486738F-15A5-4A4E-83B0-616B1BEAB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6" y="859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9">
                <a:extLst>
                  <a:ext uri="{FF2B5EF4-FFF2-40B4-BE49-F238E27FC236}">
                    <a16:creationId xmlns:a16="http://schemas.microsoft.com/office/drawing/2014/main" id="{1DBF349D-5B7A-484C-8547-A82C0A4CA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2" y="899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230">
                <a:extLst>
                  <a:ext uri="{FF2B5EF4-FFF2-40B4-BE49-F238E27FC236}">
                    <a16:creationId xmlns:a16="http://schemas.microsoft.com/office/drawing/2014/main" id="{820C559F-6C35-4565-873A-4E5E2AB17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94" y="9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231">
                <a:extLst>
                  <a:ext uri="{FF2B5EF4-FFF2-40B4-BE49-F238E27FC236}">
                    <a16:creationId xmlns:a16="http://schemas.microsoft.com/office/drawing/2014/main" id="{279AE83D-C29F-44B1-9006-F40AE5D2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3" y="987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Rectangle 232">
                <a:extLst>
                  <a:ext uri="{FF2B5EF4-FFF2-40B4-BE49-F238E27FC236}">
                    <a16:creationId xmlns:a16="http://schemas.microsoft.com/office/drawing/2014/main" id="{5CCC5FBC-31AE-47EC-A4F3-AC68AF2C1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105" y="110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28" name="Rectangle 233">
                <a:extLst>
                  <a:ext uri="{FF2B5EF4-FFF2-40B4-BE49-F238E27FC236}">
                    <a16:creationId xmlns:a16="http://schemas.microsoft.com/office/drawing/2014/main" id="{40494FC4-5C8C-4CED-9A9E-E26783277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8" y="1055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0" name="Rectangle 234">
                <a:extLst>
                  <a:ext uri="{FF2B5EF4-FFF2-40B4-BE49-F238E27FC236}">
                    <a16:creationId xmlns:a16="http://schemas.microsoft.com/office/drawing/2014/main" id="{1A15B467-AA78-455E-AC3E-81B315865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57" y="8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1" name="Rectangle 235">
                <a:extLst>
                  <a:ext uri="{FF2B5EF4-FFF2-40B4-BE49-F238E27FC236}">
                    <a16:creationId xmlns:a16="http://schemas.microsoft.com/office/drawing/2014/main" id="{7ABB386D-CE79-4598-ABE8-E290D5358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5" y="8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2" name="Rectangle 236">
                <a:extLst>
                  <a:ext uri="{FF2B5EF4-FFF2-40B4-BE49-F238E27FC236}">
                    <a16:creationId xmlns:a16="http://schemas.microsoft.com/office/drawing/2014/main" id="{7B286692-1926-4179-9392-88317FE0C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60" y="89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3" name="Rectangle 237">
                <a:extLst>
                  <a:ext uri="{FF2B5EF4-FFF2-40B4-BE49-F238E27FC236}">
                    <a16:creationId xmlns:a16="http://schemas.microsoft.com/office/drawing/2014/main" id="{60C31583-D805-4A01-AA52-F9CBBDACE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1" y="9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4" name="Rectangle 238">
                <a:extLst>
                  <a:ext uri="{FF2B5EF4-FFF2-40B4-BE49-F238E27FC236}">
                    <a16:creationId xmlns:a16="http://schemas.microsoft.com/office/drawing/2014/main" id="{E8044A0D-3740-479F-8154-B9E80F3F1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3" y="10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5" name="Rectangle 239">
                <a:extLst>
                  <a:ext uri="{FF2B5EF4-FFF2-40B4-BE49-F238E27FC236}">
                    <a16:creationId xmlns:a16="http://schemas.microsoft.com/office/drawing/2014/main" id="{929E0623-F0BF-4DB5-AC42-1414813C7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36" y="1009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6" name="Freeform 240">
                <a:extLst>
                  <a:ext uri="{FF2B5EF4-FFF2-40B4-BE49-F238E27FC236}">
                    <a16:creationId xmlns:a16="http://schemas.microsoft.com/office/drawing/2014/main" id="{C61C1CF3-7AF9-4755-B468-0CA392FD4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894"/>
                <a:ext cx="46" cy="45"/>
              </a:xfrm>
              <a:custGeom>
                <a:avLst/>
                <a:gdLst>
                  <a:gd name="T0" fmla="*/ 0 w 181"/>
                  <a:gd name="T1" fmla="*/ 76 h 181"/>
                  <a:gd name="T2" fmla="*/ 75 w 181"/>
                  <a:gd name="T3" fmla="*/ 75 h 181"/>
                  <a:gd name="T4" fmla="*/ 74 w 181"/>
                  <a:gd name="T5" fmla="*/ 1 h 181"/>
                  <a:gd name="T6" fmla="*/ 105 w 181"/>
                  <a:gd name="T7" fmla="*/ 0 h 181"/>
                  <a:gd name="T8" fmla="*/ 106 w 181"/>
                  <a:gd name="T9" fmla="*/ 75 h 181"/>
                  <a:gd name="T10" fmla="*/ 181 w 181"/>
                  <a:gd name="T11" fmla="*/ 73 h 181"/>
                  <a:gd name="T12" fmla="*/ 181 w 181"/>
                  <a:gd name="T13" fmla="*/ 104 h 181"/>
                  <a:gd name="T14" fmla="*/ 107 w 181"/>
                  <a:gd name="T15" fmla="*/ 106 h 181"/>
                  <a:gd name="T16" fmla="*/ 108 w 181"/>
                  <a:gd name="T17" fmla="*/ 181 h 181"/>
                  <a:gd name="T18" fmla="*/ 76 w 181"/>
                  <a:gd name="T19" fmla="*/ 181 h 181"/>
                  <a:gd name="T20" fmla="*/ 75 w 181"/>
                  <a:gd name="T21" fmla="*/ 107 h 181"/>
                  <a:gd name="T22" fmla="*/ 0 w 181"/>
                  <a:gd name="T23" fmla="*/ 108 h 181"/>
                  <a:gd name="T24" fmla="*/ 0 w 181"/>
                  <a:gd name="T25" fmla="*/ 76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1" h="181">
                    <a:moveTo>
                      <a:pt x="0" y="76"/>
                    </a:moveTo>
                    <a:lnTo>
                      <a:pt x="75" y="75"/>
                    </a:lnTo>
                    <a:lnTo>
                      <a:pt x="74" y="1"/>
                    </a:lnTo>
                    <a:lnTo>
                      <a:pt x="105" y="0"/>
                    </a:lnTo>
                    <a:lnTo>
                      <a:pt x="106" y="75"/>
                    </a:lnTo>
                    <a:lnTo>
                      <a:pt x="181" y="73"/>
                    </a:lnTo>
                    <a:lnTo>
                      <a:pt x="181" y="104"/>
                    </a:lnTo>
                    <a:lnTo>
                      <a:pt x="107" y="106"/>
                    </a:lnTo>
                    <a:lnTo>
                      <a:pt x="108" y="181"/>
                    </a:lnTo>
                    <a:lnTo>
                      <a:pt x="76" y="181"/>
                    </a:lnTo>
                    <a:lnTo>
                      <a:pt x="75" y="107"/>
                    </a:lnTo>
                    <a:lnTo>
                      <a:pt x="0" y="10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7" name="Freeform 241">
                <a:extLst>
                  <a:ext uri="{FF2B5EF4-FFF2-40B4-BE49-F238E27FC236}">
                    <a16:creationId xmlns:a16="http://schemas.microsoft.com/office/drawing/2014/main" id="{8D19CB03-722F-4138-AC18-31B37486E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978"/>
                <a:ext cx="70" cy="66"/>
              </a:xfrm>
              <a:custGeom>
                <a:avLst/>
                <a:gdLst>
                  <a:gd name="T0" fmla="*/ 0 w 279"/>
                  <a:gd name="T1" fmla="*/ 4 h 265"/>
                  <a:gd name="T2" fmla="*/ 274 w 279"/>
                  <a:gd name="T3" fmla="*/ 0 h 265"/>
                  <a:gd name="T4" fmla="*/ 275 w 279"/>
                  <a:gd name="T5" fmla="*/ 54 h 265"/>
                  <a:gd name="T6" fmla="*/ 81 w 279"/>
                  <a:gd name="T7" fmla="*/ 121 h 265"/>
                  <a:gd name="T8" fmla="*/ 70 w 279"/>
                  <a:gd name="T9" fmla="*/ 126 h 265"/>
                  <a:gd name="T10" fmla="*/ 58 w 279"/>
                  <a:gd name="T11" fmla="*/ 130 h 265"/>
                  <a:gd name="T12" fmla="*/ 49 w 279"/>
                  <a:gd name="T13" fmla="*/ 133 h 265"/>
                  <a:gd name="T14" fmla="*/ 41 w 279"/>
                  <a:gd name="T15" fmla="*/ 136 h 265"/>
                  <a:gd name="T16" fmla="*/ 50 w 279"/>
                  <a:gd name="T17" fmla="*/ 138 h 265"/>
                  <a:gd name="T18" fmla="*/ 60 w 279"/>
                  <a:gd name="T19" fmla="*/ 141 h 265"/>
                  <a:gd name="T20" fmla="*/ 72 w 279"/>
                  <a:gd name="T21" fmla="*/ 145 h 265"/>
                  <a:gd name="T22" fmla="*/ 85 w 279"/>
                  <a:gd name="T23" fmla="*/ 150 h 265"/>
                  <a:gd name="T24" fmla="*/ 278 w 279"/>
                  <a:gd name="T25" fmla="*/ 212 h 265"/>
                  <a:gd name="T26" fmla="*/ 279 w 279"/>
                  <a:gd name="T27" fmla="*/ 260 h 265"/>
                  <a:gd name="T28" fmla="*/ 4 w 279"/>
                  <a:gd name="T29" fmla="*/ 265 h 265"/>
                  <a:gd name="T30" fmla="*/ 4 w 279"/>
                  <a:gd name="T31" fmla="*/ 230 h 265"/>
                  <a:gd name="T32" fmla="*/ 234 w 279"/>
                  <a:gd name="T33" fmla="*/ 226 h 265"/>
                  <a:gd name="T34" fmla="*/ 2 w 279"/>
                  <a:gd name="T35" fmla="*/ 151 h 265"/>
                  <a:gd name="T36" fmla="*/ 1 w 279"/>
                  <a:gd name="T37" fmla="*/ 117 h 265"/>
                  <a:gd name="T38" fmla="*/ 234 w 279"/>
                  <a:gd name="T39" fmla="*/ 35 h 265"/>
                  <a:gd name="T40" fmla="*/ 0 w 279"/>
                  <a:gd name="T41" fmla="*/ 39 h 265"/>
                  <a:gd name="T42" fmla="*/ 0 w 279"/>
                  <a:gd name="T43" fmla="*/ 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9" h="265">
                    <a:moveTo>
                      <a:pt x="0" y="4"/>
                    </a:moveTo>
                    <a:lnTo>
                      <a:pt x="274" y="0"/>
                    </a:lnTo>
                    <a:lnTo>
                      <a:pt x="275" y="54"/>
                    </a:lnTo>
                    <a:lnTo>
                      <a:pt x="81" y="121"/>
                    </a:lnTo>
                    <a:lnTo>
                      <a:pt x="70" y="126"/>
                    </a:lnTo>
                    <a:lnTo>
                      <a:pt x="58" y="130"/>
                    </a:lnTo>
                    <a:lnTo>
                      <a:pt x="49" y="133"/>
                    </a:lnTo>
                    <a:lnTo>
                      <a:pt x="41" y="136"/>
                    </a:lnTo>
                    <a:lnTo>
                      <a:pt x="50" y="138"/>
                    </a:lnTo>
                    <a:lnTo>
                      <a:pt x="60" y="141"/>
                    </a:lnTo>
                    <a:lnTo>
                      <a:pt x="72" y="145"/>
                    </a:lnTo>
                    <a:lnTo>
                      <a:pt x="85" y="150"/>
                    </a:lnTo>
                    <a:lnTo>
                      <a:pt x="278" y="212"/>
                    </a:lnTo>
                    <a:lnTo>
                      <a:pt x="279" y="260"/>
                    </a:lnTo>
                    <a:lnTo>
                      <a:pt x="4" y="265"/>
                    </a:lnTo>
                    <a:lnTo>
                      <a:pt x="4" y="230"/>
                    </a:lnTo>
                    <a:lnTo>
                      <a:pt x="234" y="226"/>
                    </a:lnTo>
                    <a:lnTo>
                      <a:pt x="2" y="151"/>
                    </a:lnTo>
                    <a:lnTo>
                      <a:pt x="1" y="117"/>
                    </a:lnTo>
                    <a:lnTo>
                      <a:pt x="234" y="35"/>
                    </a:lnTo>
                    <a:lnTo>
                      <a:pt x="0" y="39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8" name="Freeform 242">
                <a:extLst>
                  <a:ext uri="{FF2B5EF4-FFF2-40B4-BE49-F238E27FC236}">
                    <a16:creationId xmlns:a16="http://schemas.microsoft.com/office/drawing/2014/main" id="{1464AC50-A993-45D8-850E-C40A993A2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1054"/>
                <a:ext cx="52" cy="41"/>
              </a:xfrm>
              <a:custGeom>
                <a:avLst/>
                <a:gdLst>
                  <a:gd name="T0" fmla="*/ 68 w 207"/>
                  <a:gd name="T1" fmla="*/ 32 h 164"/>
                  <a:gd name="T2" fmla="*/ 51 w 207"/>
                  <a:gd name="T3" fmla="*/ 38 h 164"/>
                  <a:gd name="T4" fmla="*/ 38 w 207"/>
                  <a:gd name="T5" fmla="*/ 49 h 164"/>
                  <a:gd name="T6" fmla="*/ 30 w 207"/>
                  <a:gd name="T7" fmla="*/ 63 h 164"/>
                  <a:gd name="T8" fmla="*/ 27 w 207"/>
                  <a:gd name="T9" fmla="*/ 84 h 164"/>
                  <a:gd name="T10" fmla="*/ 30 w 207"/>
                  <a:gd name="T11" fmla="*/ 105 h 164"/>
                  <a:gd name="T12" fmla="*/ 38 w 207"/>
                  <a:gd name="T13" fmla="*/ 119 h 164"/>
                  <a:gd name="T14" fmla="*/ 48 w 207"/>
                  <a:gd name="T15" fmla="*/ 127 h 164"/>
                  <a:gd name="T16" fmla="*/ 60 w 207"/>
                  <a:gd name="T17" fmla="*/ 129 h 164"/>
                  <a:gd name="T18" fmla="*/ 70 w 207"/>
                  <a:gd name="T19" fmla="*/ 127 h 164"/>
                  <a:gd name="T20" fmla="*/ 78 w 207"/>
                  <a:gd name="T21" fmla="*/ 119 h 164"/>
                  <a:gd name="T22" fmla="*/ 88 w 207"/>
                  <a:gd name="T23" fmla="*/ 84 h 164"/>
                  <a:gd name="T24" fmla="*/ 97 w 207"/>
                  <a:gd name="T25" fmla="*/ 53 h 164"/>
                  <a:gd name="T26" fmla="*/ 104 w 207"/>
                  <a:gd name="T27" fmla="*/ 34 h 164"/>
                  <a:gd name="T28" fmla="*/ 112 w 207"/>
                  <a:gd name="T29" fmla="*/ 21 h 164"/>
                  <a:gd name="T30" fmla="*/ 122 w 207"/>
                  <a:gd name="T31" fmla="*/ 12 h 164"/>
                  <a:gd name="T32" fmla="*/ 135 w 207"/>
                  <a:gd name="T33" fmla="*/ 5 h 164"/>
                  <a:gd name="T34" fmla="*/ 149 w 207"/>
                  <a:gd name="T35" fmla="*/ 4 h 164"/>
                  <a:gd name="T36" fmla="*/ 162 w 207"/>
                  <a:gd name="T37" fmla="*/ 5 h 164"/>
                  <a:gd name="T38" fmla="*/ 174 w 207"/>
                  <a:gd name="T39" fmla="*/ 9 h 164"/>
                  <a:gd name="T40" fmla="*/ 184 w 207"/>
                  <a:gd name="T41" fmla="*/ 16 h 164"/>
                  <a:gd name="T42" fmla="*/ 193 w 207"/>
                  <a:gd name="T43" fmla="*/ 26 h 164"/>
                  <a:gd name="T44" fmla="*/ 203 w 207"/>
                  <a:gd name="T45" fmla="*/ 47 h 164"/>
                  <a:gd name="T46" fmla="*/ 207 w 207"/>
                  <a:gd name="T47" fmla="*/ 75 h 164"/>
                  <a:gd name="T48" fmla="*/ 206 w 207"/>
                  <a:gd name="T49" fmla="*/ 97 h 164"/>
                  <a:gd name="T50" fmla="*/ 202 w 207"/>
                  <a:gd name="T51" fmla="*/ 117 h 164"/>
                  <a:gd name="T52" fmla="*/ 194 w 207"/>
                  <a:gd name="T53" fmla="*/ 132 h 164"/>
                  <a:gd name="T54" fmla="*/ 184 w 207"/>
                  <a:gd name="T55" fmla="*/ 142 h 164"/>
                  <a:gd name="T56" fmla="*/ 170 w 207"/>
                  <a:gd name="T57" fmla="*/ 150 h 164"/>
                  <a:gd name="T58" fmla="*/ 153 w 207"/>
                  <a:gd name="T59" fmla="*/ 155 h 164"/>
                  <a:gd name="T60" fmla="*/ 156 w 207"/>
                  <a:gd name="T61" fmla="*/ 120 h 164"/>
                  <a:gd name="T62" fmla="*/ 167 w 207"/>
                  <a:gd name="T63" fmla="*/ 114 h 164"/>
                  <a:gd name="T64" fmla="*/ 175 w 207"/>
                  <a:gd name="T65" fmla="*/ 102 h 164"/>
                  <a:gd name="T66" fmla="*/ 180 w 207"/>
                  <a:gd name="T67" fmla="*/ 88 h 164"/>
                  <a:gd name="T68" fmla="*/ 179 w 207"/>
                  <a:gd name="T69" fmla="*/ 67 h 164"/>
                  <a:gd name="T70" fmla="*/ 175 w 207"/>
                  <a:gd name="T71" fmla="*/ 52 h 164"/>
                  <a:gd name="T72" fmla="*/ 167 w 207"/>
                  <a:gd name="T73" fmla="*/ 41 h 164"/>
                  <a:gd name="T74" fmla="*/ 158 w 207"/>
                  <a:gd name="T75" fmla="*/ 36 h 164"/>
                  <a:gd name="T76" fmla="*/ 148 w 207"/>
                  <a:gd name="T77" fmla="*/ 38 h 164"/>
                  <a:gd name="T78" fmla="*/ 137 w 207"/>
                  <a:gd name="T79" fmla="*/ 45 h 164"/>
                  <a:gd name="T80" fmla="*/ 130 w 207"/>
                  <a:gd name="T81" fmla="*/ 63 h 164"/>
                  <a:gd name="T82" fmla="*/ 121 w 207"/>
                  <a:gd name="T83" fmla="*/ 100 h 164"/>
                  <a:gd name="T84" fmla="*/ 113 w 207"/>
                  <a:gd name="T85" fmla="*/ 124 h 164"/>
                  <a:gd name="T86" fmla="*/ 106 w 207"/>
                  <a:gd name="T87" fmla="*/ 140 h 164"/>
                  <a:gd name="T88" fmla="*/ 99 w 207"/>
                  <a:gd name="T89" fmla="*/ 151 h 164"/>
                  <a:gd name="T90" fmla="*/ 87 w 207"/>
                  <a:gd name="T91" fmla="*/ 159 h 164"/>
                  <a:gd name="T92" fmla="*/ 73 w 207"/>
                  <a:gd name="T93" fmla="*/ 163 h 164"/>
                  <a:gd name="T94" fmla="*/ 56 w 207"/>
                  <a:gd name="T95" fmla="*/ 163 h 164"/>
                  <a:gd name="T96" fmla="*/ 39 w 207"/>
                  <a:gd name="T97" fmla="*/ 159 h 164"/>
                  <a:gd name="T98" fmla="*/ 25 w 207"/>
                  <a:gd name="T99" fmla="*/ 149 h 164"/>
                  <a:gd name="T100" fmla="*/ 13 w 207"/>
                  <a:gd name="T101" fmla="*/ 136 h 164"/>
                  <a:gd name="T102" fmla="*/ 4 w 207"/>
                  <a:gd name="T103" fmla="*/ 118 h 164"/>
                  <a:gd name="T104" fmla="*/ 0 w 207"/>
                  <a:gd name="T105" fmla="*/ 97 h 164"/>
                  <a:gd name="T106" fmla="*/ 0 w 207"/>
                  <a:gd name="T107" fmla="*/ 67 h 164"/>
                  <a:gd name="T108" fmla="*/ 5 w 207"/>
                  <a:gd name="T109" fmla="*/ 44 h 164"/>
                  <a:gd name="T110" fmla="*/ 11 w 207"/>
                  <a:gd name="T111" fmla="*/ 31 h 164"/>
                  <a:gd name="T112" fmla="*/ 18 w 207"/>
                  <a:gd name="T113" fmla="*/ 21 h 164"/>
                  <a:gd name="T114" fmla="*/ 29 w 207"/>
                  <a:gd name="T115" fmla="*/ 13 h 164"/>
                  <a:gd name="T116" fmla="*/ 47 w 207"/>
                  <a:gd name="T117" fmla="*/ 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7" h="164">
                    <a:moveTo>
                      <a:pt x="62" y="0"/>
                    </a:moveTo>
                    <a:lnTo>
                      <a:pt x="68" y="32"/>
                    </a:lnTo>
                    <a:lnTo>
                      <a:pt x="58" y="35"/>
                    </a:lnTo>
                    <a:lnTo>
                      <a:pt x="51" y="38"/>
                    </a:lnTo>
                    <a:lnTo>
                      <a:pt x="43" y="43"/>
                    </a:lnTo>
                    <a:lnTo>
                      <a:pt x="38" y="49"/>
                    </a:lnTo>
                    <a:lnTo>
                      <a:pt x="33" y="56"/>
                    </a:lnTo>
                    <a:lnTo>
                      <a:pt x="30" y="63"/>
                    </a:lnTo>
                    <a:lnTo>
                      <a:pt x="27" y="74"/>
                    </a:lnTo>
                    <a:lnTo>
                      <a:pt x="27" y="84"/>
                    </a:lnTo>
                    <a:lnTo>
                      <a:pt x="29" y="96"/>
                    </a:lnTo>
                    <a:lnTo>
                      <a:pt x="30" y="105"/>
                    </a:lnTo>
                    <a:lnTo>
                      <a:pt x="33" y="113"/>
                    </a:lnTo>
                    <a:lnTo>
                      <a:pt x="38" y="119"/>
                    </a:lnTo>
                    <a:lnTo>
                      <a:pt x="43" y="123"/>
                    </a:lnTo>
                    <a:lnTo>
                      <a:pt x="48" y="127"/>
                    </a:lnTo>
                    <a:lnTo>
                      <a:pt x="53" y="129"/>
                    </a:lnTo>
                    <a:lnTo>
                      <a:pt x="60" y="129"/>
                    </a:lnTo>
                    <a:lnTo>
                      <a:pt x="65" y="128"/>
                    </a:lnTo>
                    <a:lnTo>
                      <a:pt x="70" y="127"/>
                    </a:lnTo>
                    <a:lnTo>
                      <a:pt x="74" y="124"/>
                    </a:lnTo>
                    <a:lnTo>
                      <a:pt x="78" y="119"/>
                    </a:lnTo>
                    <a:lnTo>
                      <a:pt x="83" y="107"/>
                    </a:lnTo>
                    <a:lnTo>
                      <a:pt x="88" y="84"/>
                    </a:lnTo>
                    <a:lnTo>
                      <a:pt x="92" y="67"/>
                    </a:lnTo>
                    <a:lnTo>
                      <a:pt x="97" y="53"/>
                    </a:lnTo>
                    <a:lnTo>
                      <a:pt x="100" y="41"/>
                    </a:lnTo>
                    <a:lnTo>
                      <a:pt x="104" y="34"/>
                    </a:lnTo>
                    <a:lnTo>
                      <a:pt x="108" y="26"/>
                    </a:lnTo>
                    <a:lnTo>
                      <a:pt x="112" y="21"/>
                    </a:lnTo>
                    <a:lnTo>
                      <a:pt x="117" y="16"/>
                    </a:lnTo>
                    <a:lnTo>
                      <a:pt x="122" y="12"/>
                    </a:lnTo>
                    <a:lnTo>
                      <a:pt x="128" y="8"/>
                    </a:lnTo>
                    <a:lnTo>
                      <a:pt x="135" y="5"/>
                    </a:lnTo>
                    <a:lnTo>
                      <a:pt x="141" y="4"/>
                    </a:lnTo>
                    <a:lnTo>
                      <a:pt x="149" y="4"/>
                    </a:lnTo>
                    <a:lnTo>
                      <a:pt x="156" y="4"/>
                    </a:lnTo>
                    <a:lnTo>
                      <a:pt x="162" y="5"/>
                    </a:lnTo>
                    <a:lnTo>
                      <a:pt x="168" y="7"/>
                    </a:lnTo>
                    <a:lnTo>
                      <a:pt x="174" y="9"/>
                    </a:lnTo>
                    <a:lnTo>
                      <a:pt x="179" y="13"/>
                    </a:lnTo>
                    <a:lnTo>
                      <a:pt x="184" y="16"/>
                    </a:lnTo>
                    <a:lnTo>
                      <a:pt x="189" y="21"/>
                    </a:lnTo>
                    <a:lnTo>
                      <a:pt x="193" y="26"/>
                    </a:lnTo>
                    <a:lnTo>
                      <a:pt x="198" y="35"/>
                    </a:lnTo>
                    <a:lnTo>
                      <a:pt x="203" y="47"/>
                    </a:lnTo>
                    <a:lnTo>
                      <a:pt x="206" y="61"/>
                    </a:lnTo>
                    <a:lnTo>
                      <a:pt x="207" y="75"/>
                    </a:lnTo>
                    <a:lnTo>
                      <a:pt x="207" y="87"/>
                    </a:lnTo>
                    <a:lnTo>
                      <a:pt x="206" y="97"/>
                    </a:lnTo>
                    <a:lnTo>
                      <a:pt x="205" y="107"/>
                    </a:lnTo>
                    <a:lnTo>
                      <a:pt x="202" y="117"/>
                    </a:lnTo>
                    <a:lnTo>
                      <a:pt x="198" y="124"/>
                    </a:lnTo>
                    <a:lnTo>
                      <a:pt x="194" y="132"/>
                    </a:lnTo>
                    <a:lnTo>
                      <a:pt x="189" y="139"/>
                    </a:lnTo>
                    <a:lnTo>
                      <a:pt x="184" y="142"/>
                    </a:lnTo>
                    <a:lnTo>
                      <a:pt x="178" y="146"/>
                    </a:lnTo>
                    <a:lnTo>
                      <a:pt x="170" y="150"/>
                    </a:lnTo>
                    <a:lnTo>
                      <a:pt x="162" y="153"/>
                    </a:lnTo>
                    <a:lnTo>
                      <a:pt x="153" y="155"/>
                    </a:lnTo>
                    <a:lnTo>
                      <a:pt x="148" y="122"/>
                    </a:lnTo>
                    <a:lnTo>
                      <a:pt x="156" y="120"/>
                    </a:lnTo>
                    <a:lnTo>
                      <a:pt x="162" y="118"/>
                    </a:lnTo>
                    <a:lnTo>
                      <a:pt x="167" y="114"/>
                    </a:lnTo>
                    <a:lnTo>
                      <a:pt x="172" y="109"/>
                    </a:lnTo>
                    <a:lnTo>
                      <a:pt x="175" y="102"/>
                    </a:lnTo>
                    <a:lnTo>
                      <a:pt x="178" y="96"/>
                    </a:lnTo>
                    <a:lnTo>
                      <a:pt x="180" y="88"/>
                    </a:lnTo>
                    <a:lnTo>
                      <a:pt x="180" y="78"/>
                    </a:lnTo>
                    <a:lnTo>
                      <a:pt x="179" y="67"/>
                    </a:lnTo>
                    <a:lnTo>
                      <a:pt x="178" y="58"/>
                    </a:lnTo>
                    <a:lnTo>
                      <a:pt x="175" y="52"/>
                    </a:lnTo>
                    <a:lnTo>
                      <a:pt x="171" y="45"/>
                    </a:lnTo>
                    <a:lnTo>
                      <a:pt x="167" y="41"/>
                    </a:lnTo>
                    <a:lnTo>
                      <a:pt x="163" y="38"/>
                    </a:lnTo>
                    <a:lnTo>
                      <a:pt x="158" y="36"/>
                    </a:lnTo>
                    <a:lnTo>
                      <a:pt x="153" y="36"/>
                    </a:lnTo>
                    <a:lnTo>
                      <a:pt x="148" y="38"/>
                    </a:lnTo>
                    <a:lnTo>
                      <a:pt x="141" y="40"/>
                    </a:lnTo>
                    <a:lnTo>
                      <a:pt x="137" y="45"/>
                    </a:lnTo>
                    <a:lnTo>
                      <a:pt x="134" y="53"/>
                    </a:lnTo>
                    <a:lnTo>
                      <a:pt x="130" y="63"/>
                    </a:lnTo>
                    <a:lnTo>
                      <a:pt x="124" y="83"/>
                    </a:lnTo>
                    <a:lnTo>
                      <a:pt x="121" y="100"/>
                    </a:lnTo>
                    <a:lnTo>
                      <a:pt x="117" y="114"/>
                    </a:lnTo>
                    <a:lnTo>
                      <a:pt x="113" y="124"/>
                    </a:lnTo>
                    <a:lnTo>
                      <a:pt x="110" y="133"/>
                    </a:lnTo>
                    <a:lnTo>
                      <a:pt x="106" y="140"/>
                    </a:lnTo>
                    <a:lnTo>
                      <a:pt x="102" y="146"/>
                    </a:lnTo>
                    <a:lnTo>
                      <a:pt x="99" y="151"/>
                    </a:lnTo>
                    <a:lnTo>
                      <a:pt x="92" y="155"/>
                    </a:lnTo>
                    <a:lnTo>
                      <a:pt x="87" y="159"/>
                    </a:lnTo>
                    <a:lnTo>
                      <a:pt x="79" y="162"/>
                    </a:lnTo>
                    <a:lnTo>
                      <a:pt x="73" y="163"/>
                    </a:lnTo>
                    <a:lnTo>
                      <a:pt x="64" y="164"/>
                    </a:lnTo>
                    <a:lnTo>
                      <a:pt x="56" y="163"/>
                    </a:lnTo>
                    <a:lnTo>
                      <a:pt x="48" y="162"/>
                    </a:lnTo>
                    <a:lnTo>
                      <a:pt x="39" y="159"/>
                    </a:lnTo>
                    <a:lnTo>
                      <a:pt x="33" y="154"/>
                    </a:lnTo>
                    <a:lnTo>
                      <a:pt x="25" y="149"/>
                    </a:lnTo>
                    <a:lnTo>
                      <a:pt x="18" y="142"/>
                    </a:lnTo>
                    <a:lnTo>
                      <a:pt x="13" y="136"/>
                    </a:lnTo>
                    <a:lnTo>
                      <a:pt x="8" y="127"/>
                    </a:lnTo>
                    <a:lnTo>
                      <a:pt x="4" y="118"/>
                    </a:lnTo>
                    <a:lnTo>
                      <a:pt x="2" y="107"/>
                    </a:lnTo>
                    <a:lnTo>
                      <a:pt x="0" y="97"/>
                    </a:lnTo>
                    <a:lnTo>
                      <a:pt x="0" y="85"/>
                    </a:lnTo>
                    <a:lnTo>
                      <a:pt x="0" y="67"/>
                    </a:lnTo>
                    <a:lnTo>
                      <a:pt x="3" y="51"/>
                    </a:lnTo>
                    <a:lnTo>
                      <a:pt x="5" y="44"/>
                    </a:lnTo>
                    <a:lnTo>
                      <a:pt x="8" y="38"/>
                    </a:lnTo>
                    <a:lnTo>
                      <a:pt x="11" y="31"/>
                    </a:lnTo>
                    <a:lnTo>
                      <a:pt x="15" y="26"/>
                    </a:lnTo>
                    <a:lnTo>
                      <a:pt x="18" y="21"/>
                    </a:lnTo>
                    <a:lnTo>
                      <a:pt x="24" y="17"/>
                    </a:lnTo>
                    <a:lnTo>
                      <a:pt x="29" y="13"/>
                    </a:lnTo>
                    <a:lnTo>
                      <a:pt x="34" y="9"/>
                    </a:lnTo>
                    <a:lnTo>
                      <a:pt x="47" y="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9" name="Freeform 243">
                <a:extLst>
                  <a:ext uri="{FF2B5EF4-FFF2-40B4-BE49-F238E27FC236}">
                    <a16:creationId xmlns:a16="http://schemas.microsoft.com/office/drawing/2014/main" id="{FD1A49C5-F261-483A-AA10-2F077152F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145"/>
                <a:ext cx="46" cy="46"/>
              </a:xfrm>
              <a:custGeom>
                <a:avLst/>
                <a:gdLst>
                  <a:gd name="T0" fmla="*/ 0 w 184"/>
                  <a:gd name="T1" fmla="*/ 92 h 182"/>
                  <a:gd name="T2" fmla="*/ 74 w 184"/>
                  <a:gd name="T3" fmla="*/ 79 h 182"/>
                  <a:gd name="T4" fmla="*/ 61 w 184"/>
                  <a:gd name="T5" fmla="*/ 5 h 182"/>
                  <a:gd name="T6" fmla="*/ 92 w 184"/>
                  <a:gd name="T7" fmla="*/ 0 h 182"/>
                  <a:gd name="T8" fmla="*/ 105 w 184"/>
                  <a:gd name="T9" fmla="*/ 72 h 182"/>
                  <a:gd name="T10" fmla="*/ 179 w 184"/>
                  <a:gd name="T11" fmla="*/ 59 h 182"/>
                  <a:gd name="T12" fmla="*/ 184 w 184"/>
                  <a:gd name="T13" fmla="*/ 90 h 182"/>
                  <a:gd name="T14" fmla="*/ 111 w 184"/>
                  <a:gd name="T15" fmla="*/ 103 h 182"/>
                  <a:gd name="T16" fmla="*/ 124 w 184"/>
                  <a:gd name="T17" fmla="*/ 177 h 182"/>
                  <a:gd name="T18" fmla="*/ 93 w 184"/>
                  <a:gd name="T19" fmla="*/ 182 h 182"/>
                  <a:gd name="T20" fmla="*/ 80 w 184"/>
                  <a:gd name="T21" fmla="*/ 110 h 182"/>
                  <a:gd name="T22" fmla="*/ 5 w 184"/>
                  <a:gd name="T23" fmla="*/ 123 h 182"/>
                  <a:gd name="T24" fmla="*/ 0 w 184"/>
                  <a:gd name="T25" fmla="*/ 9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4" h="182">
                    <a:moveTo>
                      <a:pt x="0" y="92"/>
                    </a:moveTo>
                    <a:lnTo>
                      <a:pt x="74" y="79"/>
                    </a:lnTo>
                    <a:lnTo>
                      <a:pt x="61" y="5"/>
                    </a:lnTo>
                    <a:lnTo>
                      <a:pt x="92" y="0"/>
                    </a:lnTo>
                    <a:lnTo>
                      <a:pt x="105" y="72"/>
                    </a:lnTo>
                    <a:lnTo>
                      <a:pt x="179" y="59"/>
                    </a:lnTo>
                    <a:lnTo>
                      <a:pt x="184" y="90"/>
                    </a:lnTo>
                    <a:lnTo>
                      <a:pt x="111" y="103"/>
                    </a:lnTo>
                    <a:lnTo>
                      <a:pt x="124" y="177"/>
                    </a:lnTo>
                    <a:lnTo>
                      <a:pt x="93" y="182"/>
                    </a:lnTo>
                    <a:lnTo>
                      <a:pt x="80" y="110"/>
                    </a:lnTo>
                    <a:lnTo>
                      <a:pt x="5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0" name="Freeform 244">
                <a:extLst>
                  <a:ext uri="{FF2B5EF4-FFF2-40B4-BE49-F238E27FC236}">
                    <a16:creationId xmlns:a16="http://schemas.microsoft.com/office/drawing/2014/main" id="{09B1E16B-2D1C-4184-9ADA-900CDEF9BA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05" y="1224"/>
                <a:ext cx="71" cy="73"/>
              </a:xfrm>
              <a:custGeom>
                <a:avLst/>
                <a:gdLst>
                  <a:gd name="T0" fmla="*/ 45 w 284"/>
                  <a:gd name="T1" fmla="*/ 252 h 289"/>
                  <a:gd name="T2" fmla="*/ 37 w 284"/>
                  <a:gd name="T3" fmla="*/ 277 h 289"/>
                  <a:gd name="T4" fmla="*/ 7 w 284"/>
                  <a:gd name="T5" fmla="*/ 282 h 289"/>
                  <a:gd name="T6" fmla="*/ 15 w 284"/>
                  <a:gd name="T7" fmla="*/ 251 h 289"/>
                  <a:gd name="T8" fmla="*/ 31 w 284"/>
                  <a:gd name="T9" fmla="*/ 219 h 289"/>
                  <a:gd name="T10" fmla="*/ 13 w 284"/>
                  <a:gd name="T11" fmla="*/ 190 h 289"/>
                  <a:gd name="T12" fmla="*/ 2 w 284"/>
                  <a:gd name="T13" fmla="*/ 155 h 289"/>
                  <a:gd name="T14" fmla="*/ 0 w 284"/>
                  <a:gd name="T15" fmla="*/ 120 h 289"/>
                  <a:gd name="T16" fmla="*/ 7 w 284"/>
                  <a:gd name="T17" fmla="*/ 87 h 289"/>
                  <a:gd name="T18" fmla="*/ 24 w 284"/>
                  <a:gd name="T19" fmla="*/ 57 h 289"/>
                  <a:gd name="T20" fmla="*/ 50 w 284"/>
                  <a:gd name="T21" fmla="*/ 32 h 289"/>
                  <a:gd name="T22" fmla="*/ 81 w 284"/>
                  <a:gd name="T23" fmla="*/ 14 h 289"/>
                  <a:gd name="T24" fmla="*/ 119 w 284"/>
                  <a:gd name="T25" fmla="*/ 3 h 289"/>
                  <a:gd name="T26" fmla="*/ 158 w 284"/>
                  <a:gd name="T27" fmla="*/ 0 h 289"/>
                  <a:gd name="T28" fmla="*/ 195 w 284"/>
                  <a:gd name="T29" fmla="*/ 6 h 289"/>
                  <a:gd name="T30" fmla="*/ 227 w 284"/>
                  <a:gd name="T31" fmla="*/ 21 h 289"/>
                  <a:gd name="T32" fmla="*/ 240 w 284"/>
                  <a:gd name="T33" fmla="*/ 31 h 289"/>
                  <a:gd name="T34" fmla="*/ 253 w 284"/>
                  <a:gd name="T35" fmla="*/ 44 h 289"/>
                  <a:gd name="T36" fmla="*/ 271 w 284"/>
                  <a:gd name="T37" fmla="*/ 72 h 289"/>
                  <a:gd name="T38" fmla="*/ 282 w 284"/>
                  <a:gd name="T39" fmla="*/ 107 h 289"/>
                  <a:gd name="T40" fmla="*/ 284 w 284"/>
                  <a:gd name="T41" fmla="*/ 144 h 289"/>
                  <a:gd name="T42" fmla="*/ 277 w 284"/>
                  <a:gd name="T43" fmla="*/ 177 h 289"/>
                  <a:gd name="T44" fmla="*/ 260 w 284"/>
                  <a:gd name="T45" fmla="*/ 208 h 289"/>
                  <a:gd name="T46" fmla="*/ 234 w 284"/>
                  <a:gd name="T47" fmla="*/ 232 h 289"/>
                  <a:gd name="T48" fmla="*/ 203 w 284"/>
                  <a:gd name="T49" fmla="*/ 250 h 289"/>
                  <a:gd name="T50" fmla="*/ 165 w 284"/>
                  <a:gd name="T51" fmla="*/ 260 h 289"/>
                  <a:gd name="T52" fmla="*/ 133 w 284"/>
                  <a:gd name="T53" fmla="*/ 264 h 289"/>
                  <a:gd name="T54" fmla="*/ 103 w 284"/>
                  <a:gd name="T55" fmla="*/ 261 h 289"/>
                  <a:gd name="T56" fmla="*/ 76 w 284"/>
                  <a:gd name="T57" fmla="*/ 252 h 289"/>
                  <a:gd name="T58" fmla="*/ 51 w 284"/>
                  <a:gd name="T59" fmla="*/ 238 h 289"/>
                  <a:gd name="T60" fmla="*/ 81 w 284"/>
                  <a:gd name="T61" fmla="*/ 168 h 289"/>
                  <a:gd name="T62" fmla="*/ 72 w 284"/>
                  <a:gd name="T63" fmla="*/ 195 h 289"/>
                  <a:gd name="T64" fmla="*/ 75 w 284"/>
                  <a:gd name="T65" fmla="*/ 213 h 289"/>
                  <a:gd name="T66" fmla="*/ 95 w 284"/>
                  <a:gd name="T67" fmla="*/ 223 h 289"/>
                  <a:gd name="T68" fmla="*/ 119 w 284"/>
                  <a:gd name="T69" fmla="*/ 226 h 289"/>
                  <a:gd name="T70" fmla="*/ 145 w 284"/>
                  <a:gd name="T71" fmla="*/ 225 h 289"/>
                  <a:gd name="T72" fmla="*/ 174 w 284"/>
                  <a:gd name="T73" fmla="*/ 220 h 289"/>
                  <a:gd name="T74" fmla="*/ 202 w 284"/>
                  <a:gd name="T75" fmla="*/ 210 h 289"/>
                  <a:gd name="T76" fmla="*/ 225 w 284"/>
                  <a:gd name="T77" fmla="*/ 194 h 289"/>
                  <a:gd name="T78" fmla="*/ 240 w 284"/>
                  <a:gd name="T79" fmla="*/ 175 h 289"/>
                  <a:gd name="T80" fmla="*/ 251 w 284"/>
                  <a:gd name="T81" fmla="*/ 151 h 289"/>
                  <a:gd name="T82" fmla="*/ 252 w 284"/>
                  <a:gd name="T83" fmla="*/ 125 h 289"/>
                  <a:gd name="T84" fmla="*/ 249 w 284"/>
                  <a:gd name="T85" fmla="*/ 103 h 289"/>
                  <a:gd name="T86" fmla="*/ 243 w 284"/>
                  <a:gd name="T87" fmla="*/ 85 h 289"/>
                  <a:gd name="T88" fmla="*/ 233 w 284"/>
                  <a:gd name="T89" fmla="*/ 70 h 289"/>
                  <a:gd name="T90" fmla="*/ 220 w 284"/>
                  <a:gd name="T91" fmla="*/ 57 h 289"/>
                  <a:gd name="T92" fmla="*/ 204 w 284"/>
                  <a:gd name="T93" fmla="*/ 47 h 289"/>
                  <a:gd name="T94" fmla="*/ 185 w 284"/>
                  <a:gd name="T95" fmla="*/ 40 h 289"/>
                  <a:gd name="T96" fmla="*/ 163 w 284"/>
                  <a:gd name="T97" fmla="*/ 37 h 289"/>
                  <a:gd name="T98" fmla="*/ 139 w 284"/>
                  <a:gd name="T99" fmla="*/ 37 h 289"/>
                  <a:gd name="T100" fmla="*/ 112 w 284"/>
                  <a:gd name="T101" fmla="*/ 43 h 289"/>
                  <a:gd name="T102" fmla="*/ 90 w 284"/>
                  <a:gd name="T103" fmla="*/ 49 h 289"/>
                  <a:gd name="T104" fmla="*/ 71 w 284"/>
                  <a:gd name="T105" fmla="*/ 59 h 289"/>
                  <a:gd name="T106" fmla="*/ 55 w 284"/>
                  <a:gd name="T107" fmla="*/ 72 h 289"/>
                  <a:gd name="T108" fmla="*/ 44 w 284"/>
                  <a:gd name="T109" fmla="*/ 88 h 289"/>
                  <a:gd name="T110" fmla="*/ 36 w 284"/>
                  <a:gd name="T111" fmla="*/ 105 h 289"/>
                  <a:gd name="T112" fmla="*/ 32 w 284"/>
                  <a:gd name="T113" fmla="*/ 123 h 289"/>
                  <a:gd name="T114" fmla="*/ 31 w 284"/>
                  <a:gd name="T115" fmla="*/ 141 h 289"/>
                  <a:gd name="T116" fmla="*/ 35 w 284"/>
                  <a:gd name="T117" fmla="*/ 160 h 289"/>
                  <a:gd name="T118" fmla="*/ 41 w 284"/>
                  <a:gd name="T119" fmla="*/ 179 h 289"/>
                  <a:gd name="T120" fmla="*/ 50 w 284"/>
                  <a:gd name="T121" fmla="*/ 177 h 289"/>
                  <a:gd name="T122" fmla="*/ 54 w 284"/>
                  <a:gd name="T123" fmla="*/ 158 h 289"/>
                  <a:gd name="T124" fmla="*/ 82 w 284"/>
                  <a:gd name="T125" fmla="*/ 15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4" h="289">
                    <a:moveTo>
                      <a:pt x="51" y="238"/>
                    </a:moveTo>
                    <a:lnTo>
                      <a:pt x="45" y="252"/>
                    </a:lnTo>
                    <a:lnTo>
                      <a:pt x="40" y="265"/>
                    </a:lnTo>
                    <a:lnTo>
                      <a:pt x="37" y="277"/>
                    </a:lnTo>
                    <a:lnTo>
                      <a:pt x="35" y="289"/>
                    </a:lnTo>
                    <a:lnTo>
                      <a:pt x="7" y="282"/>
                    </a:lnTo>
                    <a:lnTo>
                      <a:pt x="10" y="267"/>
                    </a:lnTo>
                    <a:lnTo>
                      <a:pt x="15" y="251"/>
                    </a:lnTo>
                    <a:lnTo>
                      <a:pt x="22" y="235"/>
                    </a:lnTo>
                    <a:lnTo>
                      <a:pt x="31" y="219"/>
                    </a:lnTo>
                    <a:lnTo>
                      <a:pt x="20" y="204"/>
                    </a:lnTo>
                    <a:lnTo>
                      <a:pt x="13" y="190"/>
                    </a:lnTo>
                    <a:lnTo>
                      <a:pt x="6" y="173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20"/>
                    </a:lnTo>
                    <a:lnTo>
                      <a:pt x="2" y="103"/>
                    </a:lnTo>
                    <a:lnTo>
                      <a:pt x="7" y="87"/>
                    </a:lnTo>
                    <a:lnTo>
                      <a:pt x="15" y="71"/>
                    </a:lnTo>
                    <a:lnTo>
                      <a:pt x="24" y="57"/>
                    </a:lnTo>
                    <a:lnTo>
                      <a:pt x="36" y="44"/>
                    </a:lnTo>
                    <a:lnTo>
                      <a:pt x="50" y="32"/>
                    </a:lnTo>
                    <a:lnTo>
                      <a:pt x="64" y="22"/>
                    </a:lnTo>
                    <a:lnTo>
                      <a:pt x="81" y="14"/>
                    </a:lnTo>
                    <a:lnTo>
                      <a:pt x="99" y="8"/>
                    </a:lnTo>
                    <a:lnTo>
                      <a:pt x="119" y="3"/>
                    </a:lnTo>
                    <a:lnTo>
                      <a:pt x="139" y="0"/>
                    </a:lnTo>
                    <a:lnTo>
                      <a:pt x="158" y="0"/>
                    </a:lnTo>
                    <a:lnTo>
                      <a:pt x="177" y="3"/>
                    </a:lnTo>
                    <a:lnTo>
                      <a:pt x="195" y="6"/>
                    </a:lnTo>
                    <a:lnTo>
                      <a:pt x="212" y="13"/>
                    </a:lnTo>
                    <a:lnTo>
                      <a:pt x="227" y="21"/>
                    </a:lnTo>
                    <a:lnTo>
                      <a:pt x="234" y="26"/>
                    </a:lnTo>
                    <a:lnTo>
                      <a:pt x="240" y="31"/>
                    </a:lnTo>
                    <a:lnTo>
                      <a:pt x="247" y="37"/>
                    </a:lnTo>
                    <a:lnTo>
                      <a:pt x="253" y="44"/>
                    </a:lnTo>
                    <a:lnTo>
                      <a:pt x="264" y="57"/>
                    </a:lnTo>
                    <a:lnTo>
                      <a:pt x="271" y="72"/>
                    </a:lnTo>
                    <a:lnTo>
                      <a:pt x="278" y="89"/>
                    </a:lnTo>
                    <a:lnTo>
                      <a:pt x="282" y="107"/>
                    </a:lnTo>
                    <a:lnTo>
                      <a:pt x="284" y="125"/>
                    </a:lnTo>
                    <a:lnTo>
                      <a:pt x="284" y="144"/>
                    </a:lnTo>
                    <a:lnTo>
                      <a:pt x="280" y="160"/>
                    </a:lnTo>
                    <a:lnTo>
                      <a:pt x="277" y="177"/>
                    </a:lnTo>
                    <a:lnTo>
                      <a:pt x="269" y="193"/>
                    </a:lnTo>
                    <a:lnTo>
                      <a:pt x="260" y="208"/>
                    </a:lnTo>
                    <a:lnTo>
                      <a:pt x="248" y="220"/>
                    </a:lnTo>
                    <a:lnTo>
                      <a:pt x="234" y="232"/>
                    </a:lnTo>
                    <a:lnTo>
                      <a:pt x="218" y="242"/>
                    </a:lnTo>
                    <a:lnTo>
                      <a:pt x="203" y="250"/>
                    </a:lnTo>
                    <a:lnTo>
                      <a:pt x="185" y="256"/>
                    </a:lnTo>
                    <a:lnTo>
                      <a:pt x="165" y="260"/>
                    </a:lnTo>
                    <a:lnTo>
                      <a:pt x="148" y="263"/>
                    </a:lnTo>
                    <a:lnTo>
                      <a:pt x="133" y="264"/>
                    </a:lnTo>
                    <a:lnTo>
                      <a:pt x="117" y="263"/>
                    </a:lnTo>
                    <a:lnTo>
                      <a:pt x="103" y="261"/>
                    </a:lnTo>
                    <a:lnTo>
                      <a:pt x="89" y="257"/>
                    </a:lnTo>
                    <a:lnTo>
                      <a:pt x="76" y="252"/>
                    </a:lnTo>
                    <a:lnTo>
                      <a:pt x="63" y="246"/>
                    </a:lnTo>
                    <a:lnTo>
                      <a:pt x="51" y="238"/>
                    </a:lnTo>
                    <a:close/>
                    <a:moveTo>
                      <a:pt x="82" y="153"/>
                    </a:moveTo>
                    <a:lnTo>
                      <a:pt x="81" y="168"/>
                    </a:lnTo>
                    <a:lnTo>
                      <a:pt x="77" y="182"/>
                    </a:lnTo>
                    <a:lnTo>
                      <a:pt x="72" y="195"/>
                    </a:lnTo>
                    <a:lnTo>
                      <a:pt x="66" y="207"/>
                    </a:lnTo>
                    <a:lnTo>
                      <a:pt x="75" y="213"/>
                    </a:lnTo>
                    <a:lnTo>
                      <a:pt x="85" y="219"/>
                    </a:lnTo>
                    <a:lnTo>
                      <a:pt x="95" y="223"/>
                    </a:lnTo>
                    <a:lnTo>
                      <a:pt x="106" y="225"/>
                    </a:lnTo>
                    <a:lnTo>
                      <a:pt x="119" y="226"/>
                    </a:lnTo>
                    <a:lnTo>
                      <a:pt x="130" y="226"/>
                    </a:lnTo>
                    <a:lnTo>
                      <a:pt x="145" y="225"/>
                    </a:lnTo>
                    <a:lnTo>
                      <a:pt x="159" y="224"/>
                    </a:lnTo>
                    <a:lnTo>
                      <a:pt x="174" y="220"/>
                    </a:lnTo>
                    <a:lnTo>
                      <a:pt x="189" y="216"/>
                    </a:lnTo>
                    <a:lnTo>
                      <a:pt x="202" y="210"/>
                    </a:lnTo>
                    <a:lnTo>
                      <a:pt x="213" y="202"/>
                    </a:lnTo>
                    <a:lnTo>
                      <a:pt x="225" y="194"/>
                    </a:lnTo>
                    <a:lnTo>
                      <a:pt x="233" y="185"/>
                    </a:lnTo>
                    <a:lnTo>
                      <a:pt x="240" y="175"/>
                    </a:lnTo>
                    <a:lnTo>
                      <a:pt x="245" y="163"/>
                    </a:lnTo>
                    <a:lnTo>
                      <a:pt x="251" y="151"/>
                    </a:lnTo>
                    <a:lnTo>
                      <a:pt x="252" y="138"/>
                    </a:lnTo>
                    <a:lnTo>
                      <a:pt x="252" y="125"/>
                    </a:lnTo>
                    <a:lnTo>
                      <a:pt x="251" y="113"/>
                    </a:lnTo>
                    <a:lnTo>
                      <a:pt x="249" y="103"/>
                    </a:lnTo>
                    <a:lnTo>
                      <a:pt x="245" y="94"/>
                    </a:lnTo>
                    <a:lnTo>
                      <a:pt x="243" y="85"/>
                    </a:lnTo>
                    <a:lnTo>
                      <a:pt x="238" y="78"/>
                    </a:lnTo>
                    <a:lnTo>
                      <a:pt x="233" y="70"/>
                    </a:lnTo>
                    <a:lnTo>
                      <a:pt x="226" y="63"/>
                    </a:lnTo>
                    <a:lnTo>
                      <a:pt x="220" y="57"/>
                    </a:lnTo>
                    <a:lnTo>
                      <a:pt x="212" y="52"/>
                    </a:lnTo>
                    <a:lnTo>
                      <a:pt x="204" y="47"/>
                    </a:lnTo>
                    <a:lnTo>
                      <a:pt x="195" y="43"/>
                    </a:lnTo>
                    <a:lnTo>
                      <a:pt x="185" y="40"/>
                    </a:lnTo>
                    <a:lnTo>
                      <a:pt x="174" y="37"/>
                    </a:lnTo>
                    <a:lnTo>
                      <a:pt x="163" y="37"/>
                    </a:lnTo>
                    <a:lnTo>
                      <a:pt x="151" y="37"/>
                    </a:lnTo>
                    <a:lnTo>
                      <a:pt x="139" y="37"/>
                    </a:lnTo>
                    <a:lnTo>
                      <a:pt x="125" y="40"/>
                    </a:lnTo>
                    <a:lnTo>
                      <a:pt x="112" y="43"/>
                    </a:lnTo>
                    <a:lnTo>
                      <a:pt x="101" y="45"/>
                    </a:lnTo>
                    <a:lnTo>
                      <a:pt x="90" y="49"/>
                    </a:lnTo>
                    <a:lnTo>
                      <a:pt x="80" y="54"/>
                    </a:lnTo>
                    <a:lnTo>
                      <a:pt x="71" y="59"/>
                    </a:lnTo>
                    <a:lnTo>
                      <a:pt x="63" y="66"/>
                    </a:lnTo>
                    <a:lnTo>
                      <a:pt x="55" y="72"/>
                    </a:lnTo>
                    <a:lnTo>
                      <a:pt x="49" y="80"/>
                    </a:lnTo>
                    <a:lnTo>
                      <a:pt x="44" y="88"/>
                    </a:lnTo>
                    <a:lnTo>
                      <a:pt x="40" y="96"/>
                    </a:lnTo>
                    <a:lnTo>
                      <a:pt x="36" y="105"/>
                    </a:lnTo>
                    <a:lnTo>
                      <a:pt x="33" y="114"/>
                    </a:lnTo>
                    <a:lnTo>
                      <a:pt x="32" y="123"/>
                    </a:lnTo>
                    <a:lnTo>
                      <a:pt x="31" y="132"/>
                    </a:lnTo>
                    <a:lnTo>
                      <a:pt x="31" y="141"/>
                    </a:lnTo>
                    <a:lnTo>
                      <a:pt x="32" y="151"/>
                    </a:lnTo>
                    <a:lnTo>
                      <a:pt x="35" y="160"/>
                    </a:lnTo>
                    <a:lnTo>
                      <a:pt x="37" y="169"/>
                    </a:lnTo>
                    <a:lnTo>
                      <a:pt x="41" y="179"/>
                    </a:lnTo>
                    <a:lnTo>
                      <a:pt x="46" y="186"/>
                    </a:lnTo>
                    <a:lnTo>
                      <a:pt x="50" y="177"/>
                    </a:lnTo>
                    <a:lnTo>
                      <a:pt x="53" y="167"/>
                    </a:lnTo>
                    <a:lnTo>
                      <a:pt x="54" y="158"/>
                    </a:lnTo>
                    <a:lnTo>
                      <a:pt x="55" y="147"/>
                    </a:lnTo>
                    <a:lnTo>
                      <a:pt x="82" y="153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1" name="Freeform 245">
                <a:extLst>
                  <a:ext uri="{FF2B5EF4-FFF2-40B4-BE49-F238E27FC236}">
                    <a16:creationId xmlns:a16="http://schemas.microsoft.com/office/drawing/2014/main" id="{444CCDA9-A6D8-41EA-A6E4-973F7FB51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295"/>
                <a:ext cx="57" cy="50"/>
              </a:xfrm>
              <a:custGeom>
                <a:avLst/>
                <a:gdLst>
                  <a:gd name="T0" fmla="*/ 0 w 227"/>
                  <a:gd name="T1" fmla="*/ 27 h 200"/>
                  <a:gd name="T2" fmla="*/ 27 w 227"/>
                  <a:gd name="T3" fmla="*/ 22 h 200"/>
                  <a:gd name="T4" fmla="*/ 193 w 227"/>
                  <a:gd name="T5" fmla="*/ 122 h 200"/>
                  <a:gd name="T6" fmla="*/ 189 w 227"/>
                  <a:gd name="T7" fmla="*/ 103 h 200"/>
                  <a:gd name="T8" fmla="*/ 185 w 227"/>
                  <a:gd name="T9" fmla="*/ 84 h 200"/>
                  <a:gd name="T10" fmla="*/ 171 w 227"/>
                  <a:gd name="T11" fmla="*/ 6 h 200"/>
                  <a:gd name="T12" fmla="*/ 198 w 227"/>
                  <a:gd name="T13" fmla="*/ 0 h 200"/>
                  <a:gd name="T14" fmla="*/ 227 w 227"/>
                  <a:gd name="T15" fmla="*/ 159 h 200"/>
                  <a:gd name="T16" fmla="*/ 205 w 227"/>
                  <a:gd name="T17" fmla="*/ 163 h 200"/>
                  <a:gd name="T18" fmla="*/ 61 w 227"/>
                  <a:gd name="T19" fmla="*/ 81 h 200"/>
                  <a:gd name="T20" fmla="*/ 35 w 227"/>
                  <a:gd name="T21" fmla="*/ 64 h 200"/>
                  <a:gd name="T22" fmla="*/ 38 w 227"/>
                  <a:gd name="T23" fmla="*/ 74 h 200"/>
                  <a:gd name="T24" fmla="*/ 40 w 227"/>
                  <a:gd name="T25" fmla="*/ 84 h 200"/>
                  <a:gd name="T26" fmla="*/ 42 w 227"/>
                  <a:gd name="T27" fmla="*/ 95 h 200"/>
                  <a:gd name="T28" fmla="*/ 44 w 227"/>
                  <a:gd name="T29" fmla="*/ 105 h 200"/>
                  <a:gd name="T30" fmla="*/ 60 w 227"/>
                  <a:gd name="T31" fmla="*/ 196 h 200"/>
                  <a:gd name="T32" fmla="*/ 31 w 227"/>
                  <a:gd name="T33" fmla="*/ 200 h 200"/>
                  <a:gd name="T34" fmla="*/ 0 w 227"/>
                  <a:gd name="T35" fmla="*/ 2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7" h="200">
                    <a:moveTo>
                      <a:pt x="0" y="27"/>
                    </a:moveTo>
                    <a:lnTo>
                      <a:pt x="27" y="22"/>
                    </a:lnTo>
                    <a:lnTo>
                      <a:pt x="193" y="122"/>
                    </a:lnTo>
                    <a:lnTo>
                      <a:pt x="189" y="103"/>
                    </a:lnTo>
                    <a:lnTo>
                      <a:pt x="185" y="84"/>
                    </a:lnTo>
                    <a:lnTo>
                      <a:pt x="171" y="6"/>
                    </a:lnTo>
                    <a:lnTo>
                      <a:pt x="198" y="0"/>
                    </a:lnTo>
                    <a:lnTo>
                      <a:pt x="227" y="159"/>
                    </a:lnTo>
                    <a:lnTo>
                      <a:pt x="205" y="163"/>
                    </a:lnTo>
                    <a:lnTo>
                      <a:pt x="61" y="81"/>
                    </a:lnTo>
                    <a:lnTo>
                      <a:pt x="35" y="64"/>
                    </a:lnTo>
                    <a:lnTo>
                      <a:pt x="38" y="74"/>
                    </a:lnTo>
                    <a:lnTo>
                      <a:pt x="40" y="84"/>
                    </a:lnTo>
                    <a:lnTo>
                      <a:pt x="42" y="95"/>
                    </a:lnTo>
                    <a:lnTo>
                      <a:pt x="44" y="105"/>
                    </a:lnTo>
                    <a:lnTo>
                      <a:pt x="60" y="196"/>
                    </a:lnTo>
                    <a:lnTo>
                      <a:pt x="31" y="20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2186BAC4-5B72-4F87-B193-1C95AEDECBF0}"/>
                </a:ext>
              </a:extLst>
            </p:cNvPr>
            <p:cNvSpPr txBox="1"/>
            <p:nvPr/>
          </p:nvSpPr>
          <p:spPr>
            <a:xfrm>
              <a:off x="1912315" y="2523867"/>
              <a:ext cx="2940475" cy="852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dirty="0">
                  <a:solidFill>
                    <a:srgbClr val="FF0000"/>
                  </a:solidFill>
                </a:rPr>
                <a:t>Standard “</a:t>
              </a:r>
              <a:r>
                <a:rPr lang="en-GB" dirty="0" err="1">
                  <a:solidFill>
                    <a:srgbClr val="FF0000"/>
                  </a:solidFill>
                </a:rPr>
                <a:t>Barrovian</a:t>
              </a:r>
              <a:r>
                <a:rPr lang="en-GB" dirty="0">
                  <a:solidFill>
                    <a:srgbClr val="FF0000"/>
                  </a:solidFill>
                </a:rPr>
                <a:t>” geothermal gradient</a:t>
              </a:r>
            </a:p>
          </p:txBody>
        </p:sp>
      </p:grpSp>
      <p:sp>
        <p:nvSpPr>
          <p:cNvPr id="24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251" name="Content Placeholder 2">
            <a:extLst>
              <a:ext uri="{FF2B5EF4-FFF2-40B4-BE49-F238E27FC236}">
                <a16:creationId xmlns:a16="http://schemas.microsoft.com/office/drawing/2014/main" id="{1AF6FF6E-DA46-4173-BF6E-C994FF1B2310}"/>
              </a:ext>
            </a:extLst>
          </p:cNvPr>
          <p:cNvSpPr txBox="1">
            <a:spLocks/>
          </p:cNvSpPr>
          <p:nvPr/>
        </p:nvSpPr>
        <p:spPr>
          <a:xfrm>
            <a:off x="289345" y="5946185"/>
            <a:ext cx="8496944" cy="78883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Rock is a poor conductor of heat.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So P increases at a faster rate than 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24212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223"/>
          <p:cNvGrpSpPr/>
          <p:nvPr/>
        </p:nvGrpSpPr>
        <p:grpSpPr>
          <a:xfrm>
            <a:off x="1115616" y="1052736"/>
            <a:ext cx="6768752" cy="4786988"/>
            <a:chOff x="337343" y="1306308"/>
            <a:chExt cx="7979073" cy="5551700"/>
          </a:xfrm>
        </p:grpSpPr>
        <p:grpSp>
          <p:nvGrpSpPr>
            <p:cNvPr id="2" name="Group 4">
              <a:extLst>
                <a:ext uri="{FF2B5EF4-FFF2-40B4-BE49-F238E27FC236}">
                  <a16:creationId xmlns:a16="http://schemas.microsoft.com/office/drawing/2014/main" id="{F50A7899-0A2A-4B63-95C6-E7A46D545E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343" y="1306308"/>
              <a:ext cx="7979073" cy="5551700"/>
              <a:chOff x="226" y="307"/>
              <a:chExt cx="5335" cy="3712"/>
            </a:xfrm>
          </p:grpSpPr>
          <p:sp>
            <p:nvSpPr>
              <p:cNvPr id="3" name="AutoShape 3">
                <a:extLst>
                  <a:ext uri="{FF2B5EF4-FFF2-40B4-BE49-F238E27FC236}">
                    <a16:creationId xmlns:a16="http://schemas.microsoft.com/office/drawing/2014/main" id="{F4643FF1-C524-4D98-9107-4C5E684AC89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92" y="343"/>
                <a:ext cx="5175" cy="3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4" name="Group 205">
                <a:extLst>
                  <a:ext uri="{FF2B5EF4-FFF2-40B4-BE49-F238E27FC236}">
                    <a16:creationId xmlns:a16="http://schemas.microsoft.com/office/drawing/2014/main" id="{7B64A6EF-04B4-464B-8D74-0A5757145C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" y="307"/>
                <a:ext cx="5335" cy="3712"/>
                <a:chOff x="226" y="307"/>
                <a:chExt cx="5335" cy="3712"/>
              </a:xfrm>
            </p:grpSpPr>
            <p:sp>
              <p:nvSpPr>
                <p:cNvPr id="22542" name="Rectangle 5">
                  <a:extLst>
                    <a:ext uri="{FF2B5EF4-FFF2-40B4-BE49-F238E27FC236}">
                      <a16:creationId xmlns:a16="http://schemas.microsoft.com/office/drawing/2014/main" id="{7EEFE25C-017F-4E50-9E1B-56173BEC27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" y="409"/>
                  <a:ext cx="4326" cy="2880"/>
                </a:xfrm>
                <a:prstGeom prst="rect">
                  <a:avLst/>
                </a:prstGeom>
                <a:solidFill>
                  <a:srgbClr val="FBFA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43" name="Rectangle 6">
                  <a:extLst>
                    <a:ext uri="{FF2B5EF4-FFF2-40B4-BE49-F238E27FC236}">
                      <a16:creationId xmlns:a16="http://schemas.microsoft.com/office/drawing/2014/main" id="{A8E327D8-1D44-44C4-9312-C2F12CABB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6" y="3763"/>
                  <a:ext cx="170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Temperature  (°C)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4" name="Rectangle 7">
                  <a:extLst>
                    <a:ext uri="{FF2B5EF4-FFF2-40B4-BE49-F238E27FC236}">
                      <a16:creationId xmlns:a16="http://schemas.microsoft.com/office/drawing/2014/main" id="{D37CA4E8-860A-4A3F-BA14-635714D2E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4" y="2272"/>
                  <a:ext cx="220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P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5" name="Rectangle 8">
                  <a:extLst>
                    <a:ext uri="{FF2B5EF4-FFF2-40B4-BE49-F238E27FC236}">
                      <a16:creationId xmlns:a16="http://schemas.microsoft.com/office/drawing/2014/main" id="{A758C81B-D0F5-436F-9919-2E898C913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2170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6" name="Rectangle 9">
                  <a:extLst>
                    <a:ext uri="{FF2B5EF4-FFF2-40B4-BE49-F238E27FC236}">
                      <a16:creationId xmlns:a16="http://schemas.microsoft.com/office/drawing/2014/main" id="{156F82A1-BF19-4DE4-8F7F-E3902A80D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208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7" name="Rectangle 10">
                  <a:extLst>
                    <a:ext uri="{FF2B5EF4-FFF2-40B4-BE49-F238E27FC236}">
                      <a16:creationId xmlns:a16="http://schemas.microsoft.com/office/drawing/2014/main" id="{B7EB8497-5F53-4220-934E-69163B851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973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8" name="Rectangle 11">
                  <a:extLst>
                    <a:ext uri="{FF2B5EF4-FFF2-40B4-BE49-F238E27FC236}">
                      <a16:creationId xmlns:a16="http://schemas.microsoft.com/office/drawing/2014/main" id="{4D523D4B-84F0-41F9-8ACE-9D2F062F0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8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9" name="Rectangle 12">
                  <a:extLst>
                    <a:ext uri="{FF2B5EF4-FFF2-40B4-BE49-F238E27FC236}">
                      <a16:creationId xmlns:a16="http://schemas.microsoft.com/office/drawing/2014/main" id="{365D24DB-0F40-440B-B0D9-644F762AE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754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u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0" name="Rectangle 13">
                  <a:extLst>
                    <a:ext uri="{FF2B5EF4-FFF2-40B4-BE49-F238E27FC236}">
                      <a16:creationId xmlns:a16="http://schemas.microsoft.com/office/drawing/2014/main" id="{C15FC2AA-15ED-4FBD-AAA7-2FB270552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1658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1" name="Rectangle 14">
                  <a:extLst>
                    <a:ext uri="{FF2B5EF4-FFF2-40B4-BE49-F238E27FC236}">
                      <a16:creationId xmlns:a16="http://schemas.microsoft.com/office/drawing/2014/main" id="{9C0E622B-E6C2-4D7D-BACC-A920BDB72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567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2" name="Rectangle 15">
                  <a:extLst>
                    <a:ext uri="{FF2B5EF4-FFF2-40B4-BE49-F238E27FC236}">
                      <a16:creationId xmlns:a16="http://schemas.microsoft.com/office/drawing/2014/main" id="{B244C72B-2C4C-4C51-BA28-95403C46F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88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3" name="Rectangle 16">
                  <a:extLst>
                    <a:ext uri="{FF2B5EF4-FFF2-40B4-BE49-F238E27FC236}">
                      <a16:creationId xmlns:a16="http://schemas.microsoft.com/office/drawing/2014/main" id="{5A82527F-8BC4-4E8E-82B6-41E470490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34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4" name="Rectangle 17">
                  <a:extLst>
                    <a:ext uri="{FF2B5EF4-FFF2-40B4-BE49-F238E27FC236}">
                      <a16:creationId xmlns:a16="http://schemas.microsoft.com/office/drawing/2014/main" id="{44B9A364-381C-4870-BEE6-A7C1B8CE5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1376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(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5" name="Rectangle 18">
                  <a:extLst>
                    <a:ext uri="{FF2B5EF4-FFF2-40B4-BE49-F238E27FC236}">
                      <a16:creationId xmlns:a16="http://schemas.microsoft.com/office/drawing/2014/main" id="{7AA07DBC-16FB-49FD-B5F0-AF53BA343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29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6" name="Rectangle 19">
                  <a:extLst>
                    <a:ext uri="{FF2B5EF4-FFF2-40B4-BE49-F238E27FC236}">
                      <a16:creationId xmlns:a16="http://schemas.microsoft.com/office/drawing/2014/main" id="{AF7CBE01-1DED-48A1-A9AA-4AE5604B1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178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7" name="Rectangle 20">
                  <a:extLst>
                    <a:ext uri="{FF2B5EF4-FFF2-40B4-BE49-F238E27FC236}">
                      <a16:creationId xmlns:a16="http://schemas.microsoft.com/office/drawing/2014/main" id="{EF80A776-DB3F-4927-A3DE-F72017CCE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0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8" name="Rectangle 21">
                  <a:extLst>
                    <a:ext uri="{FF2B5EF4-FFF2-40B4-BE49-F238E27FC236}">
                      <a16:creationId xmlns:a16="http://schemas.microsoft.com/office/drawing/2014/main" id="{ECCBFB03-1183-421A-989E-5BF2F2F64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975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9" name="Rectangle 22">
                  <a:extLst>
                    <a:ext uri="{FF2B5EF4-FFF2-40B4-BE49-F238E27FC236}">
                      <a16:creationId xmlns:a16="http://schemas.microsoft.com/office/drawing/2014/main" id="{B0FBC8C9-FEE8-4A40-95FC-95BC24933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907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60" name="Rectangle 23">
                  <a:extLst>
                    <a:ext uri="{FF2B5EF4-FFF2-40B4-BE49-F238E27FC236}">
                      <a16:creationId xmlns:a16="http://schemas.microsoft.com/office/drawing/2014/main" id="{19B109F1-029D-4DF2-9EBE-8650C0B00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3" y="3283"/>
                  <a:ext cx="6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1" name="Freeform 24">
                  <a:extLst>
                    <a:ext uri="{FF2B5EF4-FFF2-40B4-BE49-F238E27FC236}">
                      <a16:creationId xmlns:a16="http://schemas.microsoft.com/office/drawing/2014/main" id="{CF42FA94-1B86-4F1C-A32E-712E56224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283"/>
                  <a:ext cx="4325" cy="12"/>
                </a:xfrm>
                <a:custGeom>
                  <a:avLst/>
                  <a:gdLst>
                    <a:gd name="T0" fmla="*/ 0 w 17299"/>
                    <a:gd name="T1" fmla="*/ 24 h 48"/>
                    <a:gd name="T2" fmla="*/ 23 w 17299"/>
                    <a:gd name="T3" fmla="*/ 48 h 48"/>
                    <a:gd name="T4" fmla="*/ 17299 w 17299"/>
                    <a:gd name="T5" fmla="*/ 48 h 48"/>
                    <a:gd name="T6" fmla="*/ 17299 w 17299"/>
                    <a:gd name="T7" fmla="*/ 0 h 48"/>
                    <a:gd name="T8" fmla="*/ 23 w 17299"/>
                    <a:gd name="T9" fmla="*/ 0 h 48"/>
                    <a:gd name="T10" fmla="*/ 0 w 17299"/>
                    <a:gd name="T11" fmla="*/ 24 h 48"/>
                    <a:gd name="T12" fmla="*/ 0 w 17299"/>
                    <a:gd name="T13" fmla="*/ 24 h 48"/>
                    <a:gd name="T14" fmla="*/ 0 w 17299"/>
                    <a:gd name="T15" fmla="*/ 48 h 48"/>
                    <a:gd name="T16" fmla="*/ 23 w 17299"/>
                    <a:gd name="T17" fmla="*/ 48 h 48"/>
                    <a:gd name="T18" fmla="*/ 0 w 17299"/>
                    <a:gd name="T19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299" h="48">
                      <a:moveTo>
                        <a:pt x="0" y="24"/>
                      </a:moveTo>
                      <a:lnTo>
                        <a:pt x="23" y="48"/>
                      </a:lnTo>
                      <a:lnTo>
                        <a:pt x="17299" y="48"/>
                      </a:lnTo>
                      <a:lnTo>
                        <a:pt x="17299" y="0"/>
                      </a:lnTo>
                      <a:lnTo>
                        <a:pt x="23" y="0"/>
                      </a:lnTo>
                      <a:lnTo>
                        <a:pt x="0" y="24"/>
                      </a:lnTo>
                      <a:lnTo>
                        <a:pt x="0" y="24"/>
                      </a:lnTo>
                      <a:lnTo>
                        <a:pt x="0" y="48"/>
                      </a:lnTo>
                      <a:lnTo>
                        <a:pt x="23" y="4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2" name="Rectangle 25">
                  <a:extLst>
                    <a:ext uri="{FF2B5EF4-FFF2-40B4-BE49-F238E27FC236}">
                      <a16:creationId xmlns:a16="http://schemas.microsoft.com/office/drawing/2014/main" id="{7C40D448-A795-4435-96BD-21560381E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9"/>
                  <a:ext cx="12" cy="2880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3" name="Rectangle 26">
                  <a:extLst>
                    <a:ext uri="{FF2B5EF4-FFF2-40B4-BE49-F238E27FC236}">
                      <a16:creationId xmlns:a16="http://schemas.microsoft.com/office/drawing/2014/main" id="{247AFE1A-1F02-40E7-8CD9-624F48568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3"/>
                  <a:ext cx="12" cy="6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4" name="Rectangle 27">
                  <a:extLst>
                    <a:ext uri="{FF2B5EF4-FFF2-40B4-BE49-F238E27FC236}">
                      <a16:creationId xmlns:a16="http://schemas.microsoft.com/office/drawing/2014/main" id="{E64FF46E-D909-4D87-BD33-A7ED67CA7D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28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5" name="Rectangle 28">
                  <a:extLst>
                    <a:ext uri="{FF2B5EF4-FFF2-40B4-BE49-F238E27FC236}">
                      <a16:creationId xmlns:a16="http://schemas.microsoft.com/office/drawing/2014/main" id="{6518E213-1484-43F8-A085-4ABCD2114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6" name="Rectangle 29">
                  <a:extLst>
                    <a:ext uri="{FF2B5EF4-FFF2-40B4-BE49-F238E27FC236}">
                      <a16:creationId xmlns:a16="http://schemas.microsoft.com/office/drawing/2014/main" id="{AD949FB5-BC50-4B61-8E8A-59BB2D2D6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0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7" name="Rectangle 30">
                  <a:extLst>
                    <a:ext uri="{FF2B5EF4-FFF2-40B4-BE49-F238E27FC236}">
                      <a16:creationId xmlns:a16="http://schemas.microsoft.com/office/drawing/2014/main" id="{3FF8C8FD-940C-49B8-B807-F1373BF5C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2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8" name="Rectangle 31">
                  <a:extLst>
                    <a:ext uri="{FF2B5EF4-FFF2-40B4-BE49-F238E27FC236}">
                      <a16:creationId xmlns:a16="http://schemas.microsoft.com/office/drawing/2014/main" id="{F0D7D1AC-40B0-40EC-A15B-259D0A099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4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9" name="Rectangle 32">
                  <a:extLst>
                    <a:ext uri="{FF2B5EF4-FFF2-40B4-BE49-F238E27FC236}">
                      <a16:creationId xmlns:a16="http://schemas.microsoft.com/office/drawing/2014/main" id="{345B3EBE-19A1-4FF6-B9EF-3056B73A3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6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0" name="Rectangle 33">
                  <a:extLst>
                    <a:ext uri="{FF2B5EF4-FFF2-40B4-BE49-F238E27FC236}">
                      <a16:creationId xmlns:a16="http://schemas.microsoft.com/office/drawing/2014/main" id="{F8D69F18-54DA-4A97-879E-CEB25915F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1" name="Rectangle 34">
                  <a:extLst>
                    <a:ext uri="{FF2B5EF4-FFF2-40B4-BE49-F238E27FC236}">
                      <a16:creationId xmlns:a16="http://schemas.microsoft.com/office/drawing/2014/main" id="{7D773C4C-8882-4C2C-9D89-8025F6E19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9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2" name="Rectangle 35">
                  <a:extLst>
                    <a:ext uri="{FF2B5EF4-FFF2-40B4-BE49-F238E27FC236}">
                      <a16:creationId xmlns:a16="http://schemas.microsoft.com/office/drawing/2014/main" id="{FACC4179-9353-40EF-944F-D5E15B05E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1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3" name="Rectangle 36">
                  <a:extLst>
                    <a:ext uri="{FF2B5EF4-FFF2-40B4-BE49-F238E27FC236}">
                      <a16:creationId xmlns:a16="http://schemas.microsoft.com/office/drawing/2014/main" id="{2B5A90AA-4E7B-4DAD-B675-7F6DD58D5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83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4" name="Rectangle 37">
                  <a:extLst>
                    <a:ext uri="{FF2B5EF4-FFF2-40B4-BE49-F238E27FC236}">
                      <a16:creationId xmlns:a16="http://schemas.microsoft.com/office/drawing/2014/main" id="{996F19A2-FAFD-43D4-A222-72F7EB1D5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5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5" name="Rectangle 38">
                  <a:extLst>
                    <a:ext uri="{FF2B5EF4-FFF2-40B4-BE49-F238E27FC236}">
                      <a16:creationId xmlns:a16="http://schemas.microsoft.com/office/drawing/2014/main" id="{A9AC59BC-89BA-4E36-B186-D607B3ADB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6" name="Rectangle 39">
                  <a:extLst>
                    <a:ext uri="{FF2B5EF4-FFF2-40B4-BE49-F238E27FC236}">
                      <a16:creationId xmlns:a16="http://schemas.microsoft.com/office/drawing/2014/main" id="{6A2F8807-9C4A-4C78-97B7-0BFB50A59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99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7" name="Rectangle 40">
                  <a:extLst>
                    <a:ext uri="{FF2B5EF4-FFF2-40B4-BE49-F238E27FC236}">
                      <a16:creationId xmlns:a16="http://schemas.microsoft.com/office/drawing/2014/main" id="{02C2A4FD-7763-4092-8DA6-B63D419D6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70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8" name="Rectangle 41">
                  <a:extLst>
                    <a:ext uri="{FF2B5EF4-FFF2-40B4-BE49-F238E27FC236}">
                      <a16:creationId xmlns:a16="http://schemas.microsoft.com/office/drawing/2014/main" id="{DA43024B-A527-46A7-9DE1-C38CCAD16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41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9" name="Rectangle 42">
                  <a:extLst>
                    <a:ext uri="{FF2B5EF4-FFF2-40B4-BE49-F238E27FC236}">
                      <a16:creationId xmlns:a16="http://schemas.microsoft.com/office/drawing/2014/main" id="{EE1F53F5-EAC8-4BCD-9B8F-BE32A7C4B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13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0" name="Rectangle 43">
                  <a:extLst>
                    <a:ext uri="{FF2B5EF4-FFF2-40B4-BE49-F238E27FC236}">
                      <a16:creationId xmlns:a16="http://schemas.microsoft.com/office/drawing/2014/main" id="{282A4028-2420-4B3B-BD38-F5842177D5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84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1" name="Rectangle 44">
                  <a:extLst>
                    <a:ext uri="{FF2B5EF4-FFF2-40B4-BE49-F238E27FC236}">
                      <a16:creationId xmlns:a16="http://schemas.microsoft.com/office/drawing/2014/main" id="{0CDD8D5F-F2A2-40BD-B100-25B0B6E87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55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2" name="Rectangle 45">
                  <a:extLst>
                    <a:ext uri="{FF2B5EF4-FFF2-40B4-BE49-F238E27FC236}">
                      <a16:creationId xmlns:a16="http://schemas.microsoft.com/office/drawing/2014/main" id="{49254DAE-7C4D-4CA6-BCF5-27A17A1E6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26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3" name="Rectangle 46">
                  <a:extLst>
                    <a:ext uri="{FF2B5EF4-FFF2-40B4-BE49-F238E27FC236}">
                      <a16:creationId xmlns:a16="http://schemas.microsoft.com/office/drawing/2014/main" id="{19D5025B-72C3-47DC-886A-560E5CC59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97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4" name="Rectangle 47">
                  <a:extLst>
                    <a:ext uri="{FF2B5EF4-FFF2-40B4-BE49-F238E27FC236}">
                      <a16:creationId xmlns:a16="http://schemas.microsoft.com/office/drawing/2014/main" id="{7F5952EE-0F24-4B13-9104-7D759ACDE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69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5" name="Rectangle 48">
                  <a:extLst>
                    <a:ext uri="{FF2B5EF4-FFF2-40B4-BE49-F238E27FC236}">
                      <a16:creationId xmlns:a16="http://schemas.microsoft.com/office/drawing/2014/main" id="{83B403DF-AF6C-41B1-A4A5-841FF4631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40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6" name="Rectangle 49">
                  <a:extLst>
                    <a:ext uri="{FF2B5EF4-FFF2-40B4-BE49-F238E27FC236}">
                      <a16:creationId xmlns:a16="http://schemas.microsoft.com/office/drawing/2014/main" id="{0B21845C-3BA2-4F8E-8569-4381D12F0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318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7" name="Rectangle 50">
                  <a:extLst>
                    <a:ext uri="{FF2B5EF4-FFF2-40B4-BE49-F238E27FC236}">
                      <a16:creationId xmlns:a16="http://schemas.microsoft.com/office/drawing/2014/main" id="{F9692779-C521-44DE-A44F-E9B0BE907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611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8" name="Rectangle 51">
                  <a:extLst>
                    <a:ext uri="{FF2B5EF4-FFF2-40B4-BE49-F238E27FC236}">
                      <a16:creationId xmlns:a16="http://schemas.microsoft.com/office/drawing/2014/main" id="{032B8416-69B9-44FA-9855-22ED2558F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035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9" name="Rectangle 52">
                  <a:extLst>
                    <a:ext uri="{FF2B5EF4-FFF2-40B4-BE49-F238E27FC236}">
                      <a16:creationId xmlns:a16="http://schemas.microsoft.com/office/drawing/2014/main" id="{736C4E91-63D6-4BA3-8D58-266A9A124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1459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0" name="Rectangle 53">
                  <a:extLst>
                    <a:ext uri="{FF2B5EF4-FFF2-40B4-BE49-F238E27FC236}">
                      <a16:creationId xmlns:a16="http://schemas.microsoft.com/office/drawing/2014/main" id="{C205B9E9-1483-4AAE-AC57-E531D3714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883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1" name="Rectangle 54">
                  <a:extLst>
                    <a:ext uri="{FF2B5EF4-FFF2-40B4-BE49-F238E27FC236}">
                      <a16:creationId xmlns:a16="http://schemas.microsoft.com/office/drawing/2014/main" id="{C902DA6B-7B7B-496C-BCC0-6E05DA3F0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3" y="307"/>
                  <a:ext cx="298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2" name="Rectangle 55">
                  <a:extLst>
                    <a:ext uri="{FF2B5EF4-FFF2-40B4-BE49-F238E27FC236}">
                      <a16:creationId xmlns:a16="http://schemas.microsoft.com/office/drawing/2014/main" id="{BF0E3311-A67A-48CA-970A-D017E258C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" y="340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3" name="Rectangle 56">
                  <a:extLst>
                    <a:ext uri="{FF2B5EF4-FFF2-40B4-BE49-F238E27FC236}">
                      <a16:creationId xmlns:a16="http://schemas.microsoft.com/office/drawing/2014/main" id="{88AAFA0B-AF7F-40A7-9CEF-565EEC9EB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6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4" name="Rectangle 57">
                  <a:extLst>
                    <a:ext uri="{FF2B5EF4-FFF2-40B4-BE49-F238E27FC236}">
                      <a16:creationId xmlns:a16="http://schemas.microsoft.com/office/drawing/2014/main" id="{75288ECC-1C80-4F9F-A6FB-83E56BB60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0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5" name="Rectangle 58">
                  <a:extLst>
                    <a:ext uri="{FF2B5EF4-FFF2-40B4-BE49-F238E27FC236}">
                      <a16:creationId xmlns:a16="http://schemas.microsoft.com/office/drawing/2014/main" id="{EE463492-0179-4B1F-8716-8F6DF5F69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3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6" name="Rectangle 59">
                  <a:extLst>
                    <a:ext uri="{FF2B5EF4-FFF2-40B4-BE49-F238E27FC236}">
                      <a16:creationId xmlns:a16="http://schemas.microsoft.com/office/drawing/2014/main" id="{CADFCD6C-D6AF-4A37-836A-4563B2567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7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7" name="Rectangle 60">
                  <a:extLst>
                    <a:ext uri="{FF2B5EF4-FFF2-40B4-BE49-F238E27FC236}">
                      <a16:creationId xmlns:a16="http://schemas.microsoft.com/office/drawing/2014/main" id="{CFDC73D1-FA97-4EFC-BA9E-1AF609B81D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9" y="3407"/>
                  <a:ext cx="512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8" name="Freeform 61">
                  <a:extLst>
                    <a:ext uri="{FF2B5EF4-FFF2-40B4-BE49-F238E27FC236}">
                      <a16:creationId xmlns:a16="http://schemas.microsoft.com/office/drawing/2014/main" id="{1E7FFBB4-A092-42A4-BA0D-9843D4F69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4" y="405"/>
                  <a:ext cx="1090" cy="1519"/>
                </a:xfrm>
                <a:custGeom>
                  <a:avLst/>
                  <a:gdLst>
                    <a:gd name="T0" fmla="*/ 4319 w 4357"/>
                    <a:gd name="T1" fmla="*/ 0 h 6075"/>
                    <a:gd name="T2" fmla="*/ 0 w 4357"/>
                    <a:gd name="T3" fmla="*/ 6048 h 6075"/>
                    <a:gd name="T4" fmla="*/ 39 w 4357"/>
                    <a:gd name="T5" fmla="*/ 6075 h 6075"/>
                    <a:gd name="T6" fmla="*/ 4357 w 4357"/>
                    <a:gd name="T7" fmla="*/ 28 h 6075"/>
                    <a:gd name="T8" fmla="*/ 4319 w 4357"/>
                    <a:gd name="T9" fmla="*/ 0 h 60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57" h="6075">
                      <a:moveTo>
                        <a:pt x="4319" y="0"/>
                      </a:moveTo>
                      <a:lnTo>
                        <a:pt x="0" y="6048"/>
                      </a:lnTo>
                      <a:lnTo>
                        <a:pt x="39" y="6075"/>
                      </a:lnTo>
                      <a:lnTo>
                        <a:pt x="4357" y="28"/>
                      </a:lnTo>
                      <a:lnTo>
                        <a:pt x="4319" y="0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99" name="Freeform 62">
                  <a:extLst>
                    <a:ext uri="{FF2B5EF4-FFF2-40B4-BE49-F238E27FC236}">
                      <a16:creationId xmlns:a16="http://schemas.microsoft.com/office/drawing/2014/main" id="{68047B9C-86AE-419D-9AAA-391F3F8DA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5" y="1913"/>
                  <a:ext cx="1232" cy="1380"/>
                </a:xfrm>
                <a:custGeom>
                  <a:avLst/>
                  <a:gdLst>
                    <a:gd name="T0" fmla="*/ 5 w 4931"/>
                    <a:gd name="T1" fmla="*/ 12 h 5519"/>
                    <a:gd name="T2" fmla="*/ 0 w 4931"/>
                    <a:gd name="T3" fmla="*/ 48 h 5519"/>
                    <a:gd name="T4" fmla="*/ 4896 w 4931"/>
                    <a:gd name="T5" fmla="*/ 5519 h 5519"/>
                    <a:gd name="T6" fmla="*/ 4931 w 4931"/>
                    <a:gd name="T7" fmla="*/ 5488 h 5519"/>
                    <a:gd name="T8" fmla="*/ 37 w 4931"/>
                    <a:gd name="T9" fmla="*/ 16 h 5519"/>
                    <a:gd name="T10" fmla="*/ 5 w 4931"/>
                    <a:gd name="T11" fmla="*/ 12 h 5519"/>
                    <a:gd name="T12" fmla="*/ 37 w 4931"/>
                    <a:gd name="T13" fmla="*/ 16 h 5519"/>
                    <a:gd name="T14" fmla="*/ 22 w 4931"/>
                    <a:gd name="T15" fmla="*/ 0 h 5519"/>
                    <a:gd name="T16" fmla="*/ 5 w 4931"/>
                    <a:gd name="T17" fmla="*/ 12 h 55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31" h="5519">
                      <a:moveTo>
                        <a:pt x="5" y="12"/>
                      </a:moveTo>
                      <a:lnTo>
                        <a:pt x="0" y="48"/>
                      </a:lnTo>
                      <a:lnTo>
                        <a:pt x="4896" y="5519"/>
                      </a:lnTo>
                      <a:lnTo>
                        <a:pt x="4931" y="5488"/>
                      </a:lnTo>
                      <a:lnTo>
                        <a:pt x="37" y="16"/>
                      </a:lnTo>
                      <a:lnTo>
                        <a:pt x="5" y="12"/>
                      </a:lnTo>
                      <a:lnTo>
                        <a:pt x="37" y="16"/>
                      </a:lnTo>
                      <a:lnTo>
                        <a:pt x="22" y="0"/>
                      </a:ln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0" name="Freeform 63">
                  <a:extLst>
                    <a:ext uri="{FF2B5EF4-FFF2-40B4-BE49-F238E27FC236}">
                      <a16:creationId xmlns:a16="http://schemas.microsoft.com/office/drawing/2014/main" id="{907BBBB4-9333-4BB4-ADC5-127DF81CD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19" y="1916"/>
                  <a:ext cx="2094" cy="1378"/>
                </a:xfrm>
                <a:custGeom>
                  <a:avLst/>
                  <a:gdLst>
                    <a:gd name="T0" fmla="*/ 25 w 8375"/>
                    <a:gd name="T1" fmla="*/ 5512 h 5512"/>
                    <a:gd name="T2" fmla="*/ 8375 w 8375"/>
                    <a:gd name="T3" fmla="*/ 40 h 5512"/>
                    <a:gd name="T4" fmla="*/ 8349 w 8375"/>
                    <a:gd name="T5" fmla="*/ 0 h 5512"/>
                    <a:gd name="T6" fmla="*/ 0 w 8375"/>
                    <a:gd name="T7" fmla="*/ 5472 h 5512"/>
                    <a:gd name="T8" fmla="*/ 25 w 8375"/>
                    <a:gd name="T9" fmla="*/ 5512 h 5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375" h="5512">
                      <a:moveTo>
                        <a:pt x="25" y="5512"/>
                      </a:moveTo>
                      <a:lnTo>
                        <a:pt x="8375" y="40"/>
                      </a:lnTo>
                      <a:lnTo>
                        <a:pt x="8349" y="0"/>
                      </a:lnTo>
                      <a:lnTo>
                        <a:pt x="0" y="5472"/>
                      </a:lnTo>
                      <a:lnTo>
                        <a:pt x="25" y="55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1" name="Rectangle 64">
                  <a:extLst>
                    <a:ext uri="{FF2B5EF4-FFF2-40B4-BE49-F238E27FC236}">
                      <a16:creationId xmlns:a16="http://schemas.microsoft.com/office/drawing/2014/main" id="{DAD01070-0781-420E-A0C9-5D120DD14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71" y="2480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2" name="Rectangle 65">
                  <a:extLst>
                    <a:ext uri="{FF2B5EF4-FFF2-40B4-BE49-F238E27FC236}">
                      <a16:creationId xmlns:a16="http://schemas.microsoft.com/office/drawing/2014/main" id="{0B7F63B0-8975-4F8A-955D-E82CE83BA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452" y="2431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3" name="Rectangle 66">
                  <a:extLst>
                    <a:ext uri="{FF2B5EF4-FFF2-40B4-BE49-F238E27FC236}">
                      <a16:creationId xmlns:a16="http://schemas.microsoft.com/office/drawing/2014/main" id="{E6CC235C-FBFA-4438-8827-ED4F0843D6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518" y="238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4" name="Rectangle 67">
                  <a:extLst>
                    <a:ext uri="{FF2B5EF4-FFF2-40B4-BE49-F238E27FC236}">
                      <a16:creationId xmlns:a16="http://schemas.microsoft.com/office/drawing/2014/main" id="{FA3FD212-5632-475E-A450-D00C9CE7F1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18" y="2292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5" name="Rectangle 68">
                  <a:extLst>
                    <a:ext uri="{FF2B5EF4-FFF2-40B4-BE49-F238E27FC236}">
                      <a16:creationId xmlns:a16="http://schemas.microsoft.com/office/drawing/2014/main" id="{F4620D29-B950-49AC-BD45-447CCFEA69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99" y="2245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6" name="Rectangle 69">
                  <a:extLst>
                    <a:ext uri="{FF2B5EF4-FFF2-40B4-BE49-F238E27FC236}">
                      <a16:creationId xmlns:a16="http://schemas.microsoft.com/office/drawing/2014/main" id="{73232789-C5DA-401D-A690-C1C08E13C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32" y="79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7" name="Rectangle 70">
                  <a:extLst>
                    <a:ext uri="{FF2B5EF4-FFF2-40B4-BE49-F238E27FC236}">
                      <a16:creationId xmlns:a16="http://schemas.microsoft.com/office/drawing/2014/main" id="{B73FFE44-2FFF-4586-8BAC-9EF71D63A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92" y="728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8" name="Rectangle 71">
                  <a:extLst>
                    <a:ext uri="{FF2B5EF4-FFF2-40B4-BE49-F238E27FC236}">
                      <a16:creationId xmlns:a16="http://schemas.microsoft.com/office/drawing/2014/main" id="{B979DD8E-5603-453A-91D8-20CB94312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968" y="926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9" name="Rectangle 72">
                  <a:extLst>
                    <a:ext uri="{FF2B5EF4-FFF2-40B4-BE49-F238E27FC236}">
                      <a16:creationId xmlns:a16="http://schemas.microsoft.com/office/drawing/2014/main" id="{3608B9C0-F1F8-42E1-B8C6-B7D69CA83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36" y="873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0" name="Rectangle 73">
                  <a:extLst>
                    <a:ext uri="{FF2B5EF4-FFF2-40B4-BE49-F238E27FC236}">
                      <a16:creationId xmlns:a16="http://schemas.microsoft.com/office/drawing/2014/main" id="{F9F23A27-B525-414E-B938-433EFEC938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55" y="847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1" name="Rectangle 74">
                  <a:extLst>
                    <a:ext uri="{FF2B5EF4-FFF2-40B4-BE49-F238E27FC236}">
                      <a16:creationId xmlns:a16="http://schemas.microsoft.com/office/drawing/2014/main" id="{49AA35B0-8259-4764-9033-79AE71511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73" y="821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2" name="Rectangle 75">
                  <a:extLst>
                    <a:ext uri="{FF2B5EF4-FFF2-40B4-BE49-F238E27FC236}">
                      <a16:creationId xmlns:a16="http://schemas.microsoft.com/office/drawing/2014/main" id="{FC93B9F8-005B-45E0-BC59-54CAF9820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3" name="Rectangle 76">
                  <a:extLst>
                    <a:ext uri="{FF2B5EF4-FFF2-40B4-BE49-F238E27FC236}">
                      <a16:creationId xmlns:a16="http://schemas.microsoft.com/office/drawing/2014/main" id="{5E073E4C-3204-4BC7-AEE5-9BC1EE6D5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4" name="Rectangle 77">
                  <a:extLst>
                    <a:ext uri="{FF2B5EF4-FFF2-40B4-BE49-F238E27FC236}">
                      <a16:creationId xmlns:a16="http://schemas.microsoft.com/office/drawing/2014/main" id="{B1446899-7983-431A-A9A3-5AB412467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5" name="Rectangle 78">
                  <a:extLst>
                    <a:ext uri="{FF2B5EF4-FFF2-40B4-BE49-F238E27FC236}">
                      <a16:creationId xmlns:a16="http://schemas.microsoft.com/office/drawing/2014/main" id="{98FB4EFE-7B2E-432D-9D55-91E6BADBB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6" name="Rectangle 79">
                  <a:extLst>
                    <a:ext uri="{FF2B5EF4-FFF2-40B4-BE49-F238E27FC236}">
                      <a16:creationId xmlns:a16="http://schemas.microsoft.com/office/drawing/2014/main" id="{636039C6-BEEE-43A8-A36C-02E2A4B11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7" name="Rectangle 80">
                  <a:extLst>
                    <a:ext uri="{FF2B5EF4-FFF2-40B4-BE49-F238E27FC236}">
                      <a16:creationId xmlns:a16="http://schemas.microsoft.com/office/drawing/2014/main" id="{AC2CFC41-648B-4B07-A24E-79222F50E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8" name="Rectangle 81">
                  <a:extLst>
                    <a:ext uri="{FF2B5EF4-FFF2-40B4-BE49-F238E27FC236}">
                      <a16:creationId xmlns:a16="http://schemas.microsoft.com/office/drawing/2014/main" id="{A363ED62-E31C-413C-B2BA-FE4EE53814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9" name="Freeform 82">
                  <a:extLst>
                    <a:ext uri="{FF2B5EF4-FFF2-40B4-BE49-F238E27FC236}">
                      <a16:creationId xmlns:a16="http://schemas.microsoft.com/office/drawing/2014/main" id="{1DBFA626-DA3A-454D-8A52-1AA6F1FA6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1" y="407"/>
                  <a:ext cx="1376" cy="2887"/>
                </a:xfrm>
                <a:custGeom>
                  <a:avLst/>
                  <a:gdLst>
                    <a:gd name="T0" fmla="*/ 5295 w 5504"/>
                    <a:gd name="T1" fmla="*/ 563 h 11548"/>
                    <a:gd name="T2" fmla="*/ 5051 w 5504"/>
                    <a:gd name="T3" fmla="*/ 1391 h 11548"/>
                    <a:gd name="T4" fmla="*/ 4805 w 5504"/>
                    <a:gd name="T5" fmla="*/ 2198 h 11548"/>
                    <a:gd name="T6" fmla="*/ 4558 w 5504"/>
                    <a:gd name="T7" fmla="*/ 2982 h 11548"/>
                    <a:gd name="T8" fmla="*/ 4310 w 5504"/>
                    <a:gd name="T9" fmla="*/ 3743 h 11548"/>
                    <a:gd name="T10" fmla="*/ 4060 w 5504"/>
                    <a:gd name="T11" fmla="*/ 4477 h 11548"/>
                    <a:gd name="T12" fmla="*/ 3809 w 5504"/>
                    <a:gd name="T13" fmla="*/ 5185 h 11548"/>
                    <a:gd name="T14" fmla="*/ 3557 w 5504"/>
                    <a:gd name="T15" fmla="*/ 5866 h 11548"/>
                    <a:gd name="T16" fmla="*/ 3303 w 5504"/>
                    <a:gd name="T17" fmla="*/ 6515 h 11548"/>
                    <a:gd name="T18" fmla="*/ 3049 w 5504"/>
                    <a:gd name="T19" fmla="*/ 7134 h 11548"/>
                    <a:gd name="T20" fmla="*/ 2793 w 5504"/>
                    <a:gd name="T21" fmla="*/ 7719 h 11548"/>
                    <a:gd name="T22" fmla="*/ 2536 w 5504"/>
                    <a:gd name="T23" fmla="*/ 8269 h 11548"/>
                    <a:gd name="T24" fmla="*/ 2278 w 5504"/>
                    <a:gd name="T25" fmla="*/ 8784 h 11548"/>
                    <a:gd name="T26" fmla="*/ 2018 w 5504"/>
                    <a:gd name="T27" fmla="*/ 9260 h 11548"/>
                    <a:gd name="T28" fmla="*/ 1758 w 5504"/>
                    <a:gd name="T29" fmla="*/ 9698 h 11548"/>
                    <a:gd name="T30" fmla="*/ 1541 w 5504"/>
                    <a:gd name="T31" fmla="*/ 10032 h 11548"/>
                    <a:gd name="T32" fmla="*/ 1410 w 5504"/>
                    <a:gd name="T33" fmla="*/ 10219 h 11548"/>
                    <a:gd name="T34" fmla="*/ 1278 w 5504"/>
                    <a:gd name="T35" fmla="*/ 10393 h 11548"/>
                    <a:gd name="T36" fmla="*/ 1148 w 5504"/>
                    <a:gd name="T37" fmla="*/ 10559 h 11548"/>
                    <a:gd name="T38" fmla="*/ 1016 w 5504"/>
                    <a:gd name="T39" fmla="*/ 10713 h 11548"/>
                    <a:gd name="T40" fmla="*/ 884 w 5504"/>
                    <a:gd name="T41" fmla="*/ 10855 h 11548"/>
                    <a:gd name="T42" fmla="*/ 752 w 5504"/>
                    <a:gd name="T43" fmla="*/ 10986 h 11548"/>
                    <a:gd name="T44" fmla="*/ 620 w 5504"/>
                    <a:gd name="T45" fmla="*/ 11105 h 11548"/>
                    <a:gd name="T46" fmla="*/ 487 w 5504"/>
                    <a:gd name="T47" fmla="*/ 11212 h 11548"/>
                    <a:gd name="T48" fmla="*/ 355 w 5504"/>
                    <a:gd name="T49" fmla="*/ 11308 h 11548"/>
                    <a:gd name="T50" fmla="*/ 221 w 5504"/>
                    <a:gd name="T51" fmla="*/ 11392 h 11548"/>
                    <a:gd name="T52" fmla="*/ 89 w 5504"/>
                    <a:gd name="T53" fmla="*/ 11463 h 11548"/>
                    <a:gd name="T54" fmla="*/ 20 w 5504"/>
                    <a:gd name="T55" fmla="*/ 11548 h 11548"/>
                    <a:gd name="T56" fmla="*/ 155 w 5504"/>
                    <a:gd name="T57" fmla="*/ 11483 h 11548"/>
                    <a:gd name="T58" fmla="*/ 291 w 5504"/>
                    <a:gd name="T59" fmla="*/ 11406 h 11548"/>
                    <a:gd name="T60" fmla="*/ 426 w 5504"/>
                    <a:gd name="T61" fmla="*/ 11317 h 11548"/>
                    <a:gd name="T62" fmla="*/ 560 w 5504"/>
                    <a:gd name="T63" fmla="*/ 11216 h 11548"/>
                    <a:gd name="T64" fmla="*/ 695 w 5504"/>
                    <a:gd name="T65" fmla="*/ 11102 h 11548"/>
                    <a:gd name="T66" fmla="*/ 829 w 5504"/>
                    <a:gd name="T67" fmla="*/ 10978 h 11548"/>
                    <a:gd name="T68" fmla="*/ 963 w 5504"/>
                    <a:gd name="T69" fmla="*/ 10841 h 11548"/>
                    <a:gd name="T70" fmla="*/ 1096 w 5504"/>
                    <a:gd name="T71" fmla="*/ 10694 h 11548"/>
                    <a:gd name="T72" fmla="*/ 1228 w 5504"/>
                    <a:gd name="T73" fmla="*/ 10534 h 11548"/>
                    <a:gd name="T74" fmla="*/ 1361 w 5504"/>
                    <a:gd name="T75" fmla="*/ 10365 h 11548"/>
                    <a:gd name="T76" fmla="*/ 1493 w 5504"/>
                    <a:gd name="T77" fmla="*/ 10185 h 11548"/>
                    <a:gd name="T78" fmla="*/ 1624 w 5504"/>
                    <a:gd name="T79" fmla="*/ 9994 h 11548"/>
                    <a:gd name="T80" fmla="*/ 1886 w 5504"/>
                    <a:gd name="T81" fmla="*/ 9581 h 11548"/>
                    <a:gd name="T82" fmla="*/ 2148 w 5504"/>
                    <a:gd name="T83" fmla="*/ 9129 h 11548"/>
                    <a:gd name="T84" fmla="*/ 2406 w 5504"/>
                    <a:gd name="T85" fmla="*/ 8637 h 11548"/>
                    <a:gd name="T86" fmla="*/ 2665 w 5504"/>
                    <a:gd name="T87" fmla="*/ 8110 h 11548"/>
                    <a:gd name="T88" fmla="*/ 2923 w 5504"/>
                    <a:gd name="T89" fmla="*/ 7547 h 11548"/>
                    <a:gd name="T90" fmla="*/ 3178 w 5504"/>
                    <a:gd name="T91" fmla="*/ 6949 h 11548"/>
                    <a:gd name="T92" fmla="*/ 3432 w 5504"/>
                    <a:gd name="T93" fmla="*/ 6320 h 11548"/>
                    <a:gd name="T94" fmla="*/ 3686 w 5504"/>
                    <a:gd name="T95" fmla="*/ 5659 h 11548"/>
                    <a:gd name="T96" fmla="*/ 3938 w 5504"/>
                    <a:gd name="T97" fmla="*/ 4969 h 11548"/>
                    <a:gd name="T98" fmla="*/ 4188 w 5504"/>
                    <a:gd name="T99" fmla="*/ 4251 h 11548"/>
                    <a:gd name="T100" fmla="*/ 4438 w 5504"/>
                    <a:gd name="T101" fmla="*/ 3507 h 11548"/>
                    <a:gd name="T102" fmla="*/ 4686 w 5504"/>
                    <a:gd name="T103" fmla="*/ 2737 h 11548"/>
                    <a:gd name="T104" fmla="*/ 4933 w 5504"/>
                    <a:gd name="T105" fmla="*/ 1945 h 11548"/>
                    <a:gd name="T106" fmla="*/ 5178 w 5504"/>
                    <a:gd name="T107" fmla="*/ 1131 h 11548"/>
                    <a:gd name="T108" fmla="*/ 5422 w 5504"/>
                    <a:gd name="T109" fmla="*/ 296 h 11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504" h="11548">
                      <a:moveTo>
                        <a:pt x="5457" y="0"/>
                      </a:moveTo>
                      <a:lnTo>
                        <a:pt x="5376" y="283"/>
                      </a:lnTo>
                      <a:lnTo>
                        <a:pt x="5295" y="563"/>
                      </a:lnTo>
                      <a:lnTo>
                        <a:pt x="5214" y="842"/>
                      </a:lnTo>
                      <a:lnTo>
                        <a:pt x="5132" y="1117"/>
                      </a:lnTo>
                      <a:lnTo>
                        <a:pt x="5051" y="1391"/>
                      </a:lnTo>
                      <a:lnTo>
                        <a:pt x="4969" y="1662"/>
                      </a:lnTo>
                      <a:lnTo>
                        <a:pt x="4887" y="1931"/>
                      </a:lnTo>
                      <a:lnTo>
                        <a:pt x="4805" y="2198"/>
                      </a:lnTo>
                      <a:lnTo>
                        <a:pt x="4722" y="2462"/>
                      </a:lnTo>
                      <a:lnTo>
                        <a:pt x="4641" y="2723"/>
                      </a:lnTo>
                      <a:lnTo>
                        <a:pt x="4558" y="2982"/>
                      </a:lnTo>
                      <a:lnTo>
                        <a:pt x="4475" y="3238"/>
                      </a:lnTo>
                      <a:lnTo>
                        <a:pt x="4392" y="3492"/>
                      </a:lnTo>
                      <a:lnTo>
                        <a:pt x="4310" y="3743"/>
                      </a:lnTo>
                      <a:lnTo>
                        <a:pt x="4227" y="3991"/>
                      </a:lnTo>
                      <a:lnTo>
                        <a:pt x="4143" y="4236"/>
                      </a:lnTo>
                      <a:lnTo>
                        <a:pt x="4060" y="4477"/>
                      </a:lnTo>
                      <a:lnTo>
                        <a:pt x="3976" y="4717"/>
                      </a:lnTo>
                      <a:lnTo>
                        <a:pt x="3893" y="4952"/>
                      </a:lnTo>
                      <a:lnTo>
                        <a:pt x="3809" y="5185"/>
                      </a:lnTo>
                      <a:lnTo>
                        <a:pt x="3725" y="5416"/>
                      </a:lnTo>
                      <a:lnTo>
                        <a:pt x="3641" y="5642"/>
                      </a:lnTo>
                      <a:lnTo>
                        <a:pt x="3557" y="5866"/>
                      </a:lnTo>
                      <a:lnTo>
                        <a:pt x="3473" y="6086"/>
                      </a:lnTo>
                      <a:lnTo>
                        <a:pt x="3388" y="6302"/>
                      </a:lnTo>
                      <a:lnTo>
                        <a:pt x="3303" y="6515"/>
                      </a:lnTo>
                      <a:lnTo>
                        <a:pt x="3219" y="6725"/>
                      </a:lnTo>
                      <a:lnTo>
                        <a:pt x="3134" y="6931"/>
                      </a:lnTo>
                      <a:lnTo>
                        <a:pt x="3049" y="7134"/>
                      </a:lnTo>
                      <a:lnTo>
                        <a:pt x="2964" y="7332"/>
                      </a:lnTo>
                      <a:lnTo>
                        <a:pt x="2879" y="7527"/>
                      </a:lnTo>
                      <a:lnTo>
                        <a:pt x="2793" y="7719"/>
                      </a:lnTo>
                      <a:lnTo>
                        <a:pt x="2708" y="7906"/>
                      </a:lnTo>
                      <a:lnTo>
                        <a:pt x="2623" y="8089"/>
                      </a:lnTo>
                      <a:lnTo>
                        <a:pt x="2536" y="8269"/>
                      </a:lnTo>
                      <a:lnTo>
                        <a:pt x="2450" y="8445"/>
                      </a:lnTo>
                      <a:lnTo>
                        <a:pt x="2364" y="8617"/>
                      </a:lnTo>
                      <a:lnTo>
                        <a:pt x="2278" y="8784"/>
                      </a:lnTo>
                      <a:lnTo>
                        <a:pt x="2192" y="8947"/>
                      </a:lnTo>
                      <a:lnTo>
                        <a:pt x="2105" y="9106"/>
                      </a:lnTo>
                      <a:lnTo>
                        <a:pt x="2018" y="9260"/>
                      </a:lnTo>
                      <a:lnTo>
                        <a:pt x="1932" y="9411"/>
                      </a:lnTo>
                      <a:lnTo>
                        <a:pt x="1845" y="9556"/>
                      </a:lnTo>
                      <a:lnTo>
                        <a:pt x="1758" y="9698"/>
                      </a:lnTo>
                      <a:lnTo>
                        <a:pt x="1672" y="9834"/>
                      </a:lnTo>
                      <a:lnTo>
                        <a:pt x="1584" y="9968"/>
                      </a:lnTo>
                      <a:lnTo>
                        <a:pt x="1541" y="10032"/>
                      </a:lnTo>
                      <a:lnTo>
                        <a:pt x="1497" y="10096"/>
                      </a:lnTo>
                      <a:lnTo>
                        <a:pt x="1453" y="10158"/>
                      </a:lnTo>
                      <a:lnTo>
                        <a:pt x="1410" y="10219"/>
                      </a:lnTo>
                      <a:lnTo>
                        <a:pt x="1366" y="10278"/>
                      </a:lnTo>
                      <a:lnTo>
                        <a:pt x="1322" y="10336"/>
                      </a:lnTo>
                      <a:lnTo>
                        <a:pt x="1278" y="10393"/>
                      </a:lnTo>
                      <a:lnTo>
                        <a:pt x="1234" y="10450"/>
                      </a:lnTo>
                      <a:lnTo>
                        <a:pt x="1190" y="10505"/>
                      </a:lnTo>
                      <a:lnTo>
                        <a:pt x="1148" y="10559"/>
                      </a:lnTo>
                      <a:lnTo>
                        <a:pt x="1104" y="10611"/>
                      </a:lnTo>
                      <a:lnTo>
                        <a:pt x="1060" y="10662"/>
                      </a:lnTo>
                      <a:lnTo>
                        <a:pt x="1016" y="10713"/>
                      </a:lnTo>
                      <a:lnTo>
                        <a:pt x="972" y="10761"/>
                      </a:lnTo>
                      <a:lnTo>
                        <a:pt x="928" y="10809"/>
                      </a:lnTo>
                      <a:lnTo>
                        <a:pt x="884" y="10855"/>
                      </a:lnTo>
                      <a:lnTo>
                        <a:pt x="840" y="10899"/>
                      </a:lnTo>
                      <a:lnTo>
                        <a:pt x="796" y="10943"/>
                      </a:lnTo>
                      <a:lnTo>
                        <a:pt x="752" y="10986"/>
                      </a:lnTo>
                      <a:lnTo>
                        <a:pt x="708" y="11027"/>
                      </a:lnTo>
                      <a:lnTo>
                        <a:pt x="664" y="11066"/>
                      </a:lnTo>
                      <a:lnTo>
                        <a:pt x="620" y="11105"/>
                      </a:lnTo>
                      <a:lnTo>
                        <a:pt x="575" y="11143"/>
                      </a:lnTo>
                      <a:lnTo>
                        <a:pt x="531" y="11179"/>
                      </a:lnTo>
                      <a:lnTo>
                        <a:pt x="487" y="11212"/>
                      </a:lnTo>
                      <a:lnTo>
                        <a:pt x="443" y="11246"/>
                      </a:lnTo>
                      <a:lnTo>
                        <a:pt x="399" y="11278"/>
                      </a:lnTo>
                      <a:lnTo>
                        <a:pt x="355" y="11308"/>
                      </a:lnTo>
                      <a:lnTo>
                        <a:pt x="311" y="11338"/>
                      </a:lnTo>
                      <a:lnTo>
                        <a:pt x="265" y="11365"/>
                      </a:lnTo>
                      <a:lnTo>
                        <a:pt x="221" y="11392"/>
                      </a:lnTo>
                      <a:lnTo>
                        <a:pt x="177" y="11417"/>
                      </a:lnTo>
                      <a:lnTo>
                        <a:pt x="133" y="11440"/>
                      </a:lnTo>
                      <a:lnTo>
                        <a:pt x="89" y="11463"/>
                      </a:lnTo>
                      <a:lnTo>
                        <a:pt x="44" y="11484"/>
                      </a:lnTo>
                      <a:lnTo>
                        <a:pt x="0" y="11504"/>
                      </a:lnTo>
                      <a:lnTo>
                        <a:pt x="20" y="11548"/>
                      </a:lnTo>
                      <a:lnTo>
                        <a:pt x="65" y="11528"/>
                      </a:lnTo>
                      <a:lnTo>
                        <a:pt x="110" y="11506"/>
                      </a:lnTo>
                      <a:lnTo>
                        <a:pt x="155" y="11483"/>
                      </a:lnTo>
                      <a:lnTo>
                        <a:pt x="201" y="11460"/>
                      </a:lnTo>
                      <a:lnTo>
                        <a:pt x="246" y="11434"/>
                      </a:lnTo>
                      <a:lnTo>
                        <a:pt x="291" y="11406"/>
                      </a:lnTo>
                      <a:lnTo>
                        <a:pt x="336" y="11378"/>
                      </a:lnTo>
                      <a:lnTo>
                        <a:pt x="380" y="11348"/>
                      </a:lnTo>
                      <a:lnTo>
                        <a:pt x="426" y="11317"/>
                      </a:lnTo>
                      <a:lnTo>
                        <a:pt x="471" y="11285"/>
                      </a:lnTo>
                      <a:lnTo>
                        <a:pt x="516" y="11251"/>
                      </a:lnTo>
                      <a:lnTo>
                        <a:pt x="560" y="11216"/>
                      </a:lnTo>
                      <a:lnTo>
                        <a:pt x="606" y="11179"/>
                      </a:lnTo>
                      <a:lnTo>
                        <a:pt x="651" y="11141"/>
                      </a:lnTo>
                      <a:lnTo>
                        <a:pt x="695" y="11102"/>
                      </a:lnTo>
                      <a:lnTo>
                        <a:pt x="740" y="11062"/>
                      </a:lnTo>
                      <a:lnTo>
                        <a:pt x="784" y="11021"/>
                      </a:lnTo>
                      <a:lnTo>
                        <a:pt x="829" y="10978"/>
                      </a:lnTo>
                      <a:lnTo>
                        <a:pt x="873" y="10933"/>
                      </a:lnTo>
                      <a:lnTo>
                        <a:pt x="917" y="10888"/>
                      </a:lnTo>
                      <a:lnTo>
                        <a:pt x="963" y="10841"/>
                      </a:lnTo>
                      <a:lnTo>
                        <a:pt x="1007" y="10793"/>
                      </a:lnTo>
                      <a:lnTo>
                        <a:pt x="1051" y="10744"/>
                      </a:lnTo>
                      <a:lnTo>
                        <a:pt x="1096" y="10694"/>
                      </a:lnTo>
                      <a:lnTo>
                        <a:pt x="1140" y="10642"/>
                      </a:lnTo>
                      <a:lnTo>
                        <a:pt x="1184" y="10589"/>
                      </a:lnTo>
                      <a:lnTo>
                        <a:pt x="1228" y="10534"/>
                      </a:lnTo>
                      <a:lnTo>
                        <a:pt x="1272" y="10480"/>
                      </a:lnTo>
                      <a:lnTo>
                        <a:pt x="1316" y="10423"/>
                      </a:lnTo>
                      <a:lnTo>
                        <a:pt x="1361" y="10365"/>
                      </a:lnTo>
                      <a:lnTo>
                        <a:pt x="1405" y="10307"/>
                      </a:lnTo>
                      <a:lnTo>
                        <a:pt x="1449" y="10246"/>
                      </a:lnTo>
                      <a:lnTo>
                        <a:pt x="1493" y="10185"/>
                      </a:lnTo>
                      <a:lnTo>
                        <a:pt x="1537" y="10123"/>
                      </a:lnTo>
                      <a:lnTo>
                        <a:pt x="1580" y="10058"/>
                      </a:lnTo>
                      <a:lnTo>
                        <a:pt x="1624" y="9994"/>
                      </a:lnTo>
                      <a:lnTo>
                        <a:pt x="1712" y="9862"/>
                      </a:lnTo>
                      <a:lnTo>
                        <a:pt x="1800" y="9723"/>
                      </a:lnTo>
                      <a:lnTo>
                        <a:pt x="1886" y="9581"/>
                      </a:lnTo>
                      <a:lnTo>
                        <a:pt x="1973" y="9435"/>
                      </a:lnTo>
                      <a:lnTo>
                        <a:pt x="2061" y="9284"/>
                      </a:lnTo>
                      <a:lnTo>
                        <a:pt x="2148" y="9129"/>
                      </a:lnTo>
                      <a:lnTo>
                        <a:pt x="2234" y="8969"/>
                      </a:lnTo>
                      <a:lnTo>
                        <a:pt x="2321" y="8806"/>
                      </a:lnTo>
                      <a:lnTo>
                        <a:pt x="2406" y="8637"/>
                      </a:lnTo>
                      <a:lnTo>
                        <a:pt x="2493" y="8465"/>
                      </a:lnTo>
                      <a:lnTo>
                        <a:pt x="2580" y="8289"/>
                      </a:lnTo>
                      <a:lnTo>
                        <a:pt x="2665" y="8110"/>
                      </a:lnTo>
                      <a:lnTo>
                        <a:pt x="2751" y="7926"/>
                      </a:lnTo>
                      <a:lnTo>
                        <a:pt x="2837" y="7738"/>
                      </a:lnTo>
                      <a:lnTo>
                        <a:pt x="2923" y="7547"/>
                      </a:lnTo>
                      <a:lnTo>
                        <a:pt x="3008" y="7351"/>
                      </a:lnTo>
                      <a:lnTo>
                        <a:pt x="3093" y="7152"/>
                      </a:lnTo>
                      <a:lnTo>
                        <a:pt x="3178" y="6949"/>
                      </a:lnTo>
                      <a:lnTo>
                        <a:pt x="3263" y="6743"/>
                      </a:lnTo>
                      <a:lnTo>
                        <a:pt x="3348" y="6534"/>
                      </a:lnTo>
                      <a:lnTo>
                        <a:pt x="3432" y="6320"/>
                      </a:lnTo>
                      <a:lnTo>
                        <a:pt x="3518" y="6103"/>
                      </a:lnTo>
                      <a:lnTo>
                        <a:pt x="3602" y="5883"/>
                      </a:lnTo>
                      <a:lnTo>
                        <a:pt x="3686" y="5659"/>
                      </a:lnTo>
                      <a:lnTo>
                        <a:pt x="3770" y="5432"/>
                      </a:lnTo>
                      <a:lnTo>
                        <a:pt x="3854" y="5202"/>
                      </a:lnTo>
                      <a:lnTo>
                        <a:pt x="3938" y="4969"/>
                      </a:lnTo>
                      <a:lnTo>
                        <a:pt x="4021" y="4732"/>
                      </a:lnTo>
                      <a:lnTo>
                        <a:pt x="4105" y="4493"/>
                      </a:lnTo>
                      <a:lnTo>
                        <a:pt x="4188" y="4251"/>
                      </a:lnTo>
                      <a:lnTo>
                        <a:pt x="4272" y="4005"/>
                      </a:lnTo>
                      <a:lnTo>
                        <a:pt x="4355" y="3758"/>
                      </a:lnTo>
                      <a:lnTo>
                        <a:pt x="4438" y="3507"/>
                      </a:lnTo>
                      <a:lnTo>
                        <a:pt x="4520" y="3253"/>
                      </a:lnTo>
                      <a:lnTo>
                        <a:pt x="4603" y="2997"/>
                      </a:lnTo>
                      <a:lnTo>
                        <a:pt x="4686" y="2737"/>
                      </a:lnTo>
                      <a:lnTo>
                        <a:pt x="4769" y="2476"/>
                      </a:lnTo>
                      <a:lnTo>
                        <a:pt x="4850" y="2212"/>
                      </a:lnTo>
                      <a:lnTo>
                        <a:pt x="4933" y="1945"/>
                      </a:lnTo>
                      <a:lnTo>
                        <a:pt x="5015" y="1676"/>
                      </a:lnTo>
                      <a:lnTo>
                        <a:pt x="5096" y="1404"/>
                      </a:lnTo>
                      <a:lnTo>
                        <a:pt x="5178" y="1131"/>
                      </a:lnTo>
                      <a:lnTo>
                        <a:pt x="5259" y="854"/>
                      </a:lnTo>
                      <a:lnTo>
                        <a:pt x="5341" y="576"/>
                      </a:lnTo>
                      <a:lnTo>
                        <a:pt x="5422" y="296"/>
                      </a:lnTo>
                      <a:lnTo>
                        <a:pt x="5504" y="13"/>
                      </a:lnTo>
                      <a:lnTo>
                        <a:pt x="5457" y="0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0" name="Freeform 83">
                  <a:extLst>
                    <a:ext uri="{FF2B5EF4-FFF2-40B4-BE49-F238E27FC236}">
                      <a16:creationId xmlns:a16="http://schemas.microsoft.com/office/drawing/2014/main" id="{E3121B50-0603-48EE-86AB-DE600C28C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409"/>
                  <a:ext cx="871" cy="2886"/>
                </a:xfrm>
                <a:custGeom>
                  <a:avLst/>
                  <a:gdLst>
                    <a:gd name="T0" fmla="*/ 3285 w 3482"/>
                    <a:gd name="T1" fmla="*/ 11467 h 11543"/>
                    <a:gd name="T2" fmla="*/ 3035 w 3482"/>
                    <a:gd name="T3" fmla="*/ 11407 h 11543"/>
                    <a:gd name="T4" fmla="*/ 2799 w 3482"/>
                    <a:gd name="T5" fmla="*/ 11322 h 11543"/>
                    <a:gd name="T6" fmla="*/ 2576 w 3482"/>
                    <a:gd name="T7" fmla="*/ 11212 h 11543"/>
                    <a:gd name="T8" fmla="*/ 2365 w 3482"/>
                    <a:gd name="T9" fmla="*/ 11077 h 11543"/>
                    <a:gd name="T10" fmla="*/ 2167 w 3482"/>
                    <a:gd name="T11" fmla="*/ 10918 h 11543"/>
                    <a:gd name="T12" fmla="*/ 1981 w 3482"/>
                    <a:gd name="T13" fmla="*/ 10734 h 11543"/>
                    <a:gd name="T14" fmla="*/ 1806 w 3482"/>
                    <a:gd name="T15" fmla="*/ 10529 h 11543"/>
                    <a:gd name="T16" fmla="*/ 1642 w 3482"/>
                    <a:gd name="T17" fmla="*/ 10301 h 11543"/>
                    <a:gd name="T18" fmla="*/ 1488 w 3482"/>
                    <a:gd name="T19" fmla="*/ 10050 h 11543"/>
                    <a:gd name="T20" fmla="*/ 1346 w 3482"/>
                    <a:gd name="T21" fmla="*/ 9778 h 11543"/>
                    <a:gd name="T22" fmla="*/ 1213 w 3482"/>
                    <a:gd name="T23" fmla="*/ 9486 h 11543"/>
                    <a:gd name="T24" fmla="*/ 1090 w 3482"/>
                    <a:gd name="T25" fmla="*/ 9173 h 11543"/>
                    <a:gd name="T26" fmla="*/ 974 w 3482"/>
                    <a:gd name="T27" fmla="*/ 8839 h 11543"/>
                    <a:gd name="T28" fmla="*/ 870 w 3482"/>
                    <a:gd name="T29" fmla="*/ 8487 h 11543"/>
                    <a:gd name="T30" fmla="*/ 773 w 3482"/>
                    <a:gd name="T31" fmla="*/ 8117 h 11543"/>
                    <a:gd name="T32" fmla="*/ 683 w 3482"/>
                    <a:gd name="T33" fmla="*/ 7729 h 11543"/>
                    <a:gd name="T34" fmla="*/ 602 w 3482"/>
                    <a:gd name="T35" fmla="*/ 7322 h 11543"/>
                    <a:gd name="T36" fmla="*/ 476 w 3482"/>
                    <a:gd name="T37" fmla="*/ 6573 h 11543"/>
                    <a:gd name="T38" fmla="*/ 359 w 3482"/>
                    <a:gd name="T39" fmla="*/ 5657 h 11543"/>
                    <a:gd name="T40" fmla="*/ 264 w 3482"/>
                    <a:gd name="T41" fmla="*/ 4683 h 11543"/>
                    <a:gd name="T42" fmla="*/ 189 w 3482"/>
                    <a:gd name="T43" fmla="*/ 3654 h 11543"/>
                    <a:gd name="T44" fmla="*/ 132 w 3482"/>
                    <a:gd name="T45" fmla="*/ 2577 h 11543"/>
                    <a:gd name="T46" fmla="*/ 88 w 3482"/>
                    <a:gd name="T47" fmla="*/ 1456 h 11543"/>
                    <a:gd name="T48" fmla="*/ 0 w 3482"/>
                    <a:gd name="T49" fmla="*/ 0 h 11543"/>
                    <a:gd name="T50" fmla="*/ 49 w 3482"/>
                    <a:gd name="T51" fmla="*/ 1742 h 11543"/>
                    <a:gd name="T52" fmla="*/ 97 w 3482"/>
                    <a:gd name="T53" fmla="*/ 2853 h 11543"/>
                    <a:gd name="T54" fmla="*/ 158 w 3482"/>
                    <a:gd name="T55" fmla="*/ 3919 h 11543"/>
                    <a:gd name="T56" fmla="*/ 238 w 3482"/>
                    <a:gd name="T57" fmla="*/ 4935 h 11543"/>
                    <a:gd name="T58" fmla="*/ 338 w 3482"/>
                    <a:gd name="T59" fmla="*/ 5896 h 11543"/>
                    <a:gd name="T60" fmla="*/ 463 w 3482"/>
                    <a:gd name="T61" fmla="*/ 6800 h 11543"/>
                    <a:gd name="T62" fmla="*/ 575 w 3482"/>
                    <a:gd name="T63" fmla="*/ 7435 h 11543"/>
                    <a:gd name="T64" fmla="*/ 657 w 3482"/>
                    <a:gd name="T65" fmla="*/ 7837 h 11543"/>
                    <a:gd name="T66" fmla="*/ 749 w 3482"/>
                    <a:gd name="T67" fmla="*/ 8223 h 11543"/>
                    <a:gd name="T68" fmla="*/ 849 w 3482"/>
                    <a:gd name="T69" fmla="*/ 8590 h 11543"/>
                    <a:gd name="T70" fmla="*/ 958 w 3482"/>
                    <a:gd name="T71" fmla="*/ 8940 h 11543"/>
                    <a:gd name="T72" fmla="*/ 1074 w 3482"/>
                    <a:gd name="T73" fmla="*/ 9270 h 11543"/>
                    <a:gd name="T74" fmla="*/ 1201 w 3482"/>
                    <a:gd name="T75" fmla="*/ 9580 h 11543"/>
                    <a:gd name="T76" fmla="*/ 1338 w 3482"/>
                    <a:gd name="T77" fmla="*/ 9870 h 11543"/>
                    <a:gd name="T78" fmla="*/ 1484 w 3482"/>
                    <a:gd name="T79" fmla="*/ 10139 h 11543"/>
                    <a:gd name="T80" fmla="*/ 1642 w 3482"/>
                    <a:gd name="T81" fmla="*/ 10386 h 11543"/>
                    <a:gd name="T82" fmla="*/ 1812 w 3482"/>
                    <a:gd name="T83" fmla="*/ 10613 h 11543"/>
                    <a:gd name="T84" fmla="*/ 1993 w 3482"/>
                    <a:gd name="T85" fmla="*/ 10816 h 11543"/>
                    <a:gd name="T86" fmla="*/ 2185 w 3482"/>
                    <a:gd name="T87" fmla="*/ 10996 h 11543"/>
                    <a:gd name="T88" fmla="*/ 2390 w 3482"/>
                    <a:gd name="T89" fmla="*/ 11152 h 11543"/>
                    <a:gd name="T90" fmla="*/ 2608 w 3482"/>
                    <a:gd name="T91" fmla="*/ 11284 h 11543"/>
                    <a:gd name="T92" fmla="*/ 2839 w 3482"/>
                    <a:gd name="T93" fmla="*/ 11390 h 11543"/>
                    <a:gd name="T94" fmla="*/ 3085 w 3482"/>
                    <a:gd name="T95" fmla="*/ 11472 h 11543"/>
                    <a:gd name="T96" fmla="*/ 3342 w 3482"/>
                    <a:gd name="T97" fmla="*/ 11525 h 115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482" h="11543">
                      <a:moveTo>
                        <a:pt x="3482" y="11495"/>
                      </a:moveTo>
                      <a:lnTo>
                        <a:pt x="3414" y="11487"/>
                      </a:lnTo>
                      <a:lnTo>
                        <a:pt x="3350" y="11478"/>
                      </a:lnTo>
                      <a:lnTo>
                        <a:pt x="3285" y="11467"/>
                      </a:lnTo>
                      <a:lnTo>
                        <a:pt x="3222" y="11455"/>
                      </a:lnTo>
                      <a:lnTo>
                        <a:pt x="3158" y="11441"/>
                      </a:lnTo>
                      <a:lnTo>
                        <a:pt x="3096" y="11425"/>
                      </a:lnTo>
                      <a:lnTo>
                        <a:pt x="3035" y="11407"/>
                      </a:lnTo>
                      <a:lnTo>
                        <a:pt x="2975" y="11389"/>
                      </a:lnTo>
                      <a:lnTo>
                        <a:pt x="2915" y="11368"/>
                      </a:lnTo>
                      <a:lnTo>
                        <a:pt x="2857" y="11346"/>
                      </a:lnTo>
                      <a:lnTo>
                        <a:pt x="2799" y="11322"/>
                      </a:lnTo>
                      <a:lnTo>
                        <a:pt x="2742" y="11297"/>
                      </a:lnTo>
                      <a:lnTo>
                        <a:pt x="2686" y="11270"/>
                      </a:lnTo>
                      <a:lnTo>
                        <a:pt x="2630" y="11242"/>
                      </a:lnTo>
                      <a:lnTo>
                        <a:pt x="2576" y="11212"/>
                      </a:lnTo>
                      <a:lnTo>
                        <a:pt x="2522" y="11181"/>
                      </a:lnTo>
                      <a:lnTo>
                        <a:pt x="2469" y="11147"/>
                      </a:lnTo>
                      <a:lnTo>
                        <a:pt x="2417" y="11114"/>
                      </a:lnTo>
                      <a:lnTo>
                        <a:pt x="2365" y="11077"/>
                      </a:lnTo>
                      <a:lnTo>
                        <a:pt x="2315" y="11040"/>
                      </a:lnTo>
                      <a:lnTo>
                        <a:pt x="2266" y="11000"/>
                      </a:lnTo>
                      <a:lnTo>
                        <a:pt x="2216" y="10960"/>
                      </a:lnTo>
                      <a:lnTo>
                        <a:pt x="2167" y="10918"/>
                      </a:lnTo>
                      <a:lnTo>
                        <a:pt x="2119" y="10874"/>
                      </a:lnTo>
                      <a:lnTo>
                        <a:pt x="2073" y="10829"/>
                      </a:lnTo>
                      <a:lnTo>
                        <a:pt x="2026" y="10782"/>
                      </a:lnTo>
                      <a:lnTo>
                        <a:pt x="1981" y="10734"/>
                      </a:lnTo>
                      <a:lnTo>
                        <a:pt x="1936" y="10685"/>
                      </a:lnTo>
                      <a:lnTo>
                        <a:pt x="1892" y="10635"/>
                      </a:lnTo>
                      <a:lnTo>
                        <a:pt x="1849" y="10583"/>
                      </a:lnTo>
                      <a:lnTo>
                        <a:pt x="1806" y="10529"/>
                      </a:lnTo>
                      <a:lnTo>
                        <a:pt x="1764" y="10474"/>
                      </a:lnTo>
                      <a:lnTo>
                        <a:pt x="1722" y="10417"/>
                      </a:lnTo>
                      <a:lnTo>
                        <a:pt x="1682" y="10359"/>
                      </a:lnTo>
                      <a:lnTo>
                        <a:pt x="1642" y="10301"/>
                      </a:lnTo>
                      <a:lnTo>
                        <a:pt x="1603" y="10240"/>
                      </a:lnTo>
                      <a:lnTo>
                        <a:pt x="1564" y="10178"/>
                      </a:lnTo>
                      <a:lnTo>
                        <a:pt x="1526" y="10115"/>
                      </a:lnTo>
                      <a:lnTo>
                        <a:pt x="1488" y="10050"/>
                      </a:lnTo>
                      <a:lnTo>
                        <a:pt x="1452" y="9984"/>
                      </a:lnTo>
                      <a:lnTo>
                        <a:pt x="1416" y="9917"/>
                      </a:lnTo>
                      <a:lnTo>
                        <a:pt x="1381" y="9848"/>
                      </a:lnTo>
                      <a:lnTo>
                        <a:pt x="1346" y="9778"/>
                      </a:lnTo>
                      <a:lnTo>
                        <a:pt x="1311" y="9707"/>
                      </a:lnTo>
                      <a:lnTo>
                        <a:pt x="1278" y="9635"/>
                      </a:lnTo>
                      <a:lnTo>
                        <a:pt x="1245" y="9561"/>
                      </a:lnTo>
                      <a:lnTo>
                        <a:pt x="1213" y="9486"/>
                      </a:lnTo>
                      <a:lnTo>
                        <a:pt x="1180" y="9409"/>
                      </a:lnTo>
                      <a:lnTo>
                        <a:pt x="1149" y="9332"/>
                      </a:lnTo>
                      <a:lnTo>
                        <a:pt x="1119" y="9253"/>
                      </a:lnTo>
                      <a:lnTo>
                        <a:pt x="1090" y="9173"/>
                      </a:lnTo>
                      <a:lnTo>
                        <a:pt x="1060" y="9091"/>
                      </a:lnTo>
                      <a:lnTo>
                        <a:pt x="1030" y="9008"/>
                      </a:lnTo>
                      <a:lnTo>
                        <a:pt x="1003" y="8924"/>
                      </a:lnTo>
                      <a:lnTo>
                        <a:pt x="974" y="8839"/>
                      </a:lnTo>
                      <a:lnTo>
                        <a:pt x="947" y="8753"/>
                      </a:lnTo>
                      <a:lnTo>
                        <a:pt x="921" y="8665"/>
                      </a:lnTo>
                      <a:lnTo>
                        <a:pt x="894" y="8577"/>
                      </a:lnTo>
                      <a:lnTo>
                        <a:pt x="870" y="8487"/>
                      </a:lnTo>
                      <a:lnTo>
                        <a:pt x="844" y="8396"/>
                      </a:lnTo>
                      <a:lnTo>
                        <a:pt x="819" y="8304"/>
                      </a:lnTo>
                      <a:lnTo>
                        <a:pt x="796" y="8211"/>
                      </a:lnTo>
                      <a:lnTo>
                        <a:pt x="773" y="8117"/>
                      </a:lnTo>
                      <a:lnTo>
                        <a:pt x="749" y="8021"/>
                      </a:lnTo>
                      <a:lnTo>
                        <a:pt x="726" y="7925"/>
                      </a:lnTo>
                      <a:lnTo>
                        <a:pt x="704" y="7827"/>
                      </a:lnTo>
                      <a:lnTo>
                        <a:pt x="683" y="7729"/>
                      </a:lnTo>
                      <a:lnTo>
                        <a:pt x="663" y="7629"/>
                      </a:lnTo>
                      <a:lnTo>
                        <a:pt x="642" y="7528"/>
                      </a:lnTo>
                      <a:lnTo>
                        <a:pt x="621" y="7426"/>
                      </a:lnTo>
                      <a:lnTo>
                        <a:pt x="602" y="7322"/>
                      </a:lnTo>
                      <a:lnTo>
                        <a:pt x="582" y="7219"/>
                      </a:lnTo>
                      <a:lnTo>
                        <a:pt x="546" y="7008"/>
                      </a:lnTo>
                      <a:lnTo>
                        <a:pt x="510" y="6792"/>
                      </a:lnTo>
                      <a:lnTo>
                        <a:pt x="476" y="6573"/>
                      </a:lnTo>
                      <a:lnTo>
                        <a:pt x="445" y="6349"/>
                      </a:lnTo>
                      <a:lnTo>
                        <a:pt x="414" y="6123"/>
                      </a:lnTo>
                      <a:lnTo>
                        <a:pt x="386" y="5891"/>
                      </a:lnTo>
                      <a:lnTo>
                        <a:pt x="359" y="5657"/>
                      </a:lnTo>
                      <a:lnTo>
                        <a:pt x="333" y="5419"/>
                      </a:lnTo>
                      <a:lnTo>
                        <a:pt x="308" y="5177"/>
                      </a:lnTo>
                      <a:lnTo>
                        <a:pt x="286" y="4931"/>
                      </a:lnTo>
                      <a:lnTo>
                        <a:pt x="264" y="4683"/>
                      </a:lnTo>
                      <a:lnTo>
                        <a:pt x="243" y="4430"/>
                      </a:lnTo>
                      <a:lnTo>
                        <a:pt x="224" y="4174"/>
                      </a:lnTo>
                      <a:lnTo>
                        <a:pt x="206" y="3917"/>
                      </a:lnTo>
                      <a:lnTo>
                        <a:pt x="189" y="3654"/>
                      </a:lnTo>
                      <a:lnTo>
                        <a:pt x="174" y="3390"/>
                      </a:lnTo>
                      <a:lnTo>
                        <a:pt x="158" y="3122"/>
                      </a:lnTo>
                      <a:lnTo>
                        <a:pt x="145" y="2850"/>
                      </a:lnTo>
                      <a:lnTo>
                        <a:pt x="132" y="2577"/>
                      </a:lnTo>
                      <a:lnTo>
                        <a:pt x="119" y="2301"/>
                      </a:lnTo>
                      <a:lnTo>
                        <a:pt x="109" y="2022"/>
                      </a:lnTo>
                      <a:lnTo>
                        <a:pt x="97" y="1740"/>
                      </a:lnTo>
                      <a:lnTo>
                        <a:pt x="88" y="1456"/>
                      </a:lnTo>
                      <a:lnTo>
                        <a:pt x="79" y="1170"/>
                      </a:lnTo>
                      <a:lnTo>
                        <a:pt x="62" y="589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14" y="590"/>
                      </a:lnTo>
                      <a:lnTo>
                        <a:pt x="31" y="1171"/>
                      </a:lnTo>
                      <a:lnTo>
                        <a:pt x="40" y="1458"/>
                      </a:lnTo>
                      <a:lnTo>
                        <a:pt x="49" y="1742"/>
                      </a:lnTo>
                      <a:lnTo>
                        <a:pt x="61" y="2024"/>
                      </a:lnTo>
                      <a:lnTo>
                        <a:pt x="71" y="2303"/>
                      </a:lnTo>
                      <a:lnTo>
                        <a:pt x="84" y="2580"/>
                      </a:lnTo>
                      <a:lnTo>
                        <a:pt x="97" y="2853"/>
                      </a:lnTo>
                      <a:lnTo>
                        <a:pt x="110" y="3125"/>
                      </a:lnTo>
                      <a:lnTo>
                        <a:pt x="126" y="3393"/>
                      </a:lnTo>
                      <a:lnTo>
                        <a:pt x="141" y="3657"/>
                      </a:lnTo>
                      <a:lnTo>
                        <a:pt x="158" y="3919"/>
                      </a:lnTo>
                      <a:lnTo>
                        <a:pt x="176" y="4178"/>
                      </a:lnTo>
                      <a:lnTo>
                        <a:pt x="196" y="4434"/>
                      </a:lnTo>
                      <a:lnTo>
                        <a:pt x="216" y="4687"/>
                      </a:lnTo>
                      <a:lnTo>
                        <a:pt x="238" y="4935"/>
                      </a:lnTo>
                      <a:lnTo>
                        <a:pt x="262" y="5181"/>
                      </a:lnTo>
                      <a:lnTo>
                        <a:pt x="285" y="5423"/>
                      </a:lnTo>
                      <a:lnTo>
                        <a:pt x="311" y="5662"/>
                      </a:lnTo>
                      <a:lnTo>
                        <a:pt x="338" y="5896"/>
                      </a:lnTo>
                      <a:lnTo>
                        <a:pt x="368" y="6128"/>
                      </a:lnTo>
                      <a:lnTo>
                        <a:pt x="397" y="6356"/>
                      </a:lnTo>
                      <a:lnTo>
                        <a:pt x="430" y="6580"/>
                      </a:lnTo>
                      <a:lnTo>
                        <a:pt x="463" y="6800"/>
                      </a:lnTo>
                      <a:lnTo>
                        <a:pt x="498" y="7016"/>
                      </a:lnTo>
                      <a:lnTo>
                        <a:pt x="536" y="7227"/>
                      </a:lnTo>
                      <a:lnTo>
                        <a:pt x="555" y="7331"/>
                      </a:lnTo>
                      <a:lnTo>
                        <a:pt x="575" y="7435"/>
                      </a:lnTo>
                      <a:lnTo>
                        <a:pt x="594" y="7537"/>
                      </a:lnTo>
                      <a:lnTo>
                        <a:pt x="615" y="7638"/>
                      </a:lnTo>
                      <a:lnTo>
                        <a:pt x="637" y="7739"/>
                      </a:lnTo>
                      <a:lnTo>
                        <a:pt x="657" y="7837"/>
                      </a:lnTo>
                      <a:lnTo>
                        <a:pt x="679" y="7936"/>
                      </a:lnTo>
                      <a:lnTo>
                        <a:pt x="703" y="8033"/>
                      </a:lnTo>
                      <a:lnTo>
                        <a:pt x="726" y="8128"/>
                      </a:lnTo>
                      <a:lnTo>
                        <a:pt x="749" y="8223"/>
                      </a:lnTo>
                      <a:lnTo>
                        <a:pt x="774" y="8316"/>
                      </a:lnTo>
                      <a:lnTo>
                        <a:pt x="799" y="8409"/>
                      </a:lnTo>
                      <a:lnTo>
                        <a:pt x="823" y="8500"/>
                      </a:lnTo>
                      <a:lnTo>
                        <a:pt x="849" y="8590"/>
                      </a:lnTo>
                      <a:lnTo>
                        <a:pt x="875" y="8680"/>
                      </a:lnTo>
                      <a:lnTo>
                        <a:pt x="902" y="8768"/>
                      </a:lnTo>
                      <a:lnTo>
                        <a:pt x="929" y="8854"/>
                      </a:lnTo>
                      <a:lnTo>
                        <a:pt x="958" y="8940"/>
                      </a:lnTo>
                      <a:lnTo>
                        <a:pt x="985" y="9024"/>
                      </a:lnTo>
                      <a:lnTo>
                        <a:pt x="1015" y="9107"/>
                      </a:lnTo>
                      <a:lnTo>
                        <a:pt x="1044" y="9188"/>
                      </a:lnTo>
                      <a:lnTo>
                        <a:pt x="1074" y="9270"/>
                      </a:lnTo>
                      <a:lnTo>
                        <a:pt x="1105" y="9349"/>
                      </a:lnTo>
                      <a:lnTo>
                        <a:pt x="1136" y="9428"/>
                      </a:lnTo>
                      <a:lnTo>
                        <a:pt x="1169" y="9504"/>
                      </a:lnTo>
                      <a:lnTo>
                        <a:pt x="1201" y="9580"/>
                      </a:lnTo>
                      <a:lnTo>
                        <a:pt x="1235" y="9654"/>
                      </a:lnTo>
                      <a:lnTo>
                        <a:pt x="1268" y="9728"/>
                      </a:lnTo>
                      <a:lnTo>
                        <a:pt x="1303" y="9799"/>
                      </a:lnTo>
                      <a:lnTo>
                        <a:pt x="1338" y="9870"/>
                      </a:lnTo>
                      <a:lnTo>
                        <a:pt x="1373" y="9939"/>
                      </a:lnTo>
                      <a:lnTo>
                        <a:pt x="1410" y="10007"/>
                      </a:lnTo>
                      <a:lnTo>
                        <a:pt x="1447" y="10073"/>
                      </a:lnTo>
                      <a:lnTo>
                        <a:pt x="1484" y="10139"/>
                      </a:lnTo>
                      <a:lnTo>
                        <a:pt x="1523" y="10203"/>
                      </a:lnTo>
                      <a:lnTo>
                        <a:pt x="1562" y="10266"/>
                      </a:lnTo>
                      <a:lnTo>
                        <a:pt x="1602" y="10327"/>
                      </a:lnTo>
                      <a:lnTo>
                        <a:pt x="1642" y="10386"/>
                      </a:lnTo>
                      <a:lnTo>
                        <a:pt x="1683" y="10446"/>
                      </a:lnTo>
                      <a:lnTo>
                        <a:pt x="1726" y="10503"/>
                      </a:lnTo>
                      <a:lnTo>
                        <a:pt x="1769" y="10558"/>
                      </a:lnTo>
                      <a:lnTo>
                        <a:pt x="1812" y="10613"/>
                      </a:lnTo>
                      <a:lnTo>
                        <a:pt x="1856" y="10666"/>
                      </a:lnTo>
                      <a:lnTo>
                        <a:pt x="1901" y="10718"/>
                      </a:lnTo>
                      <a:lnTo>
                        <a:pt x="1946" y="10768"/>
                      </a:lnTo>
                      <a:lnTo>
                        <a:pt x="1993" y="10816"/>
                      </a:lnTo>
                      <a:lnTo>
                        <a:pt x="2039" y="10864"/>
                      </a:lnTo>
                      <a:lnTo>
                        <a:pt x="2087" y="10909"/>
                      </a:lnTo>
                      <a:lnTo>
                        <a:pt x="2136" y="10953"/>
                      </a:lnTo>
                      <a:lnTo>
                        <a:pt x="2185" y="10996"/>
                      </a:lnTo>
                      <a:lnTo>
                        <a:pt x="2235" y="11037"/>
                      </a:lnTo>
                      <a:lnTo>
                        <a:pt x="2286" y="11077"/>
                      </a:lnTo>
                      <a:lnTo>
                        <a:pt x="2338" y="11116"/>
                      </a:lnTo>
                      <a:lnTo>
                        <a:pt x="2390" y="11152"/>
                      </a:lnTo>
                      <a:lnTo>
                        <a:pt x="2443" y="11187"/>
                      </a:lnTo>
                      <a:lnTo>
                        <a:pt x="2497" y="11221"/>
                      </a:lnTo>
                      <a:lnTo>
                        <a:pt x="2553" y="11253"/>
                      </a:lnTo>
                      <a:lnTo>
                        <a:pt x="2608" y="11284"/>
                      </a:lnTo>
                      <a:lnTo>
                        <a:pt x="2664" y="11313"/>
                      </a:lnTo>
                      <a:lnTo>
                        <a:pt x="2722" y="11340"/>
                      </a:lnTo>
                      <a:lnTo>
                        <a:pt x="2781" y="11366"/>
                      </a:lnTo>
                      <a:lnTo>
                        <a:pt x="2839" y="11390"/>
                      </a:lnTo>
                      <a:lnTo>
                        <a:pt x="2900" y="11414"/>
                      </a:lnTo>
                      <a:lnTo>
                        <a:pt x="2960" y="11434"/>
                      </a:lnTo>
                      <a:lnTo>
                        <a:pt x="3021" y="11454"/>
                      </a:lnTo>
                      <a:lnTo>
                        <a:pt x="3085" y="11472"/>
                      </a:lnTo>
                      <a:lnTo>
                        <a:pt x="3147" y="11487"/>
                      </a:lnTo>
                      <a:lnTo>
                        <a:pt x="3211" y="11502"/>
                      </a:lnTo>
                      <a:lnTo>
                        <a:pt x="3276" y="11515"/>
                      </a:lnTo>
                      <a:lnTo>
                        <a:pt x="3342" y="11525"/>
                      </a:lnTo>
                      <a:lnTo>
                        <a:pt x="3409" y="11535"/>
                      </a:lnTo>
                      <a:lnTo>
                        <a:pt x="3477" y="11543"/>
                      </a:lnTo>
                      <a:lnTo>
                        <a:pt x="3482" y="11495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1" name="Rectangle 84">
                  <a:extLst>
                    <a:ext uri="{FF2B5EF4-FFF2-40B4-BE49-F238E27FC236}">
                      <a16:creationId xmlns:a16="http://schemas.microsoft.com/office/drawing/2014/main" id="{298C3254-BB41-4BF4-A745-E0474ABF7E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3" y="183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2" name="Rectangle 85">
                  <a:extLst>
                    <a:ext uri="{FF2B5EF4-FFF2-40B4-BE49-F238E27FC236}">
                      <a16:creationId xmlns:a16="http://schemas.microsoft.com/office/drawing/2014/main" id="{C630E374-A4A1-4354-B60E-1F926CF5D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0" y="1793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3" name="Rectangle 86">
                  <a:extLst>
                    <a:ext uri="{FF2B5EF4-FFF2-40B4-BE49-F238E27FC236}">
                      <a16:creationId xmlns:a16="http://schemas.microsoft.com/office/drawing/2014/main" id="{DB90A78E-63FD-46E5-A35D-9B538FA2A4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5" y="175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4" name="Rectangle 87">
                  <a:extLst>
                    <a:ext uri="{FF2B5EF4-FFF2-40B4-BE49-F238E27FC236}">
                      <a16:creationId xmlns:a16="http://schemas.microsoft.com/office/drawing/2014/main" id="{3E4255A6-BBF9-4678-9579-8F077CDA0F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2" y="173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5" name="Rectangle 88">
                  <a:extLst>
                    <a:ext uri="{FF2B5EF4-FFF2-40B4-BE49-F238E27FC236}">
                      <a16:creationId xmlns:a16="http://schemas.microsoft.com/office/drawing/2014/main" id="{B2A3927C-D2B1-4405-A822-52A3E453D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9" y="171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6" name="Rectangle 89">
                  <a:extLst>
                    <a:ext uri="{FF2B5EF4-FFF2-40B4-BE49-F238E27FC236}">
                      <a16:creationId xmlns:a16="http://schemas.microsoft.com/office/drawing/2014/main" id="{00CA8699-29F2-4BAA-A016-684A089B8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4" y="1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7" name="Rectangle 90">
                  <a:extLst>
                    <a:ext uri="{FF2B5EF4-FFF2-40B4-BE49-F238E27FC236}">
                      <a16:creationId xmlns:a16="http://schemas.microsoft.com/office/drawing/2014/main" id="{9F47C82D-93AD-467B-B5A2-F92C699FCB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3" y="1651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8" name="Rectangle 91">
                  <a:extLst>
                    <a:ext uri="{FF2B5EF4-FFF2-40B4-BE49-F238E27FC236}">
                      <a16:creationId xmlns:a16="http://schemas.microsoft.com/office/drawing/2014/main" id="{C9E31EAE-FD78-4A7D-A817-FCE30FC60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91" y="161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9" name="Rectangle 92">
                  <a:extLst>
                    <a:ext uri="{FF2B5EF4-FFF2-40B4-BE49-F238E27FC236}">
                      <a16:creationId xmlns:a16="http://schemas.microsoft.com/office/drawing/2014/main" id="{4884A376-CFF7-4923-A8C0-0415D53D5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87" y="1568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0" name="Rectangle 93">
                  <a:extLst>
                    <a:ext uri="{FF2B5EF4-FFF2-40B4-BE49-F238E27FC236}">
                      <a16:creationId xmlns:a16="http://schemas.microsoft.com/office/drawing/2014/main" id="{58824544-31B8-4C23-8C34-FBBE910B1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0" y="152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1" name="Rectangle 94">
                  <a:extLst>
                    <a:ext uri="{FF2B5EF4-FFF2-40B4-BE49-F238E27FC236}">
                      <a16:creationId xmlns:a16="http://schemas.microsoft.com/office/drawing/2014/main" id="{0AFEB2D1-3F19-48DC-B60D-4DB0AC3B4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2" y="1490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2" name="Rectangle 95">
                  <a:extLst>
                    <a:ext uri="{FF2B5EF4-FFF2-40B4-BE49-F238E27FC236}">
                      <a16:creationId xmlns:a16="http://schemas.microsoft.com/office/drawing/2014/main" id="{B92DC0E3-80CA-484F-8B25-3078AD46B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5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3" name="Rectangle 96">
                  <a:extLst>
                    <a:ext uri="{FF2B5EF4-FFF2-40B4-BE49-F238E27FC236}">
                      <a16:creationId xmlns:a16="http://schemas.microsoft.com/office/drawing/2014/main" id="{0D7695FE-16B6-48C7-B627-373CED4D61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1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4" name="Rectangle 97">
                  <a:extLst>
                    <a:ext uri="{FF2B5EF4-FFF2-40B4-BE49-F238E27FC236}">
                      <a16:creationId xmlns:a16="http://schemas.microsoft.com/office/drawing/2014/main" id="{F26F53E9-BEF1-4496-BCE4-3B7DE269A8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71" y="13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5" name="Rectangle 98">
                  <a:extLst>
                    <a:ext uri="{FF2B5EF4-FFF2-40B4-BE49-F238E27FC236}">
                      <a16:creationId xmlns:a16="http://schemas.microsoft.com/office/drawing/2014/main" id="{8C5588F3-28BA-497B-8CD8-89380BA9F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66" y="133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6" name="Rectangle 99">
                  <a:extLst>
                    <a:ext uri="{FF2B5EF4-FFF2-40B4-BE49-F238E27FC236}">
                      <a16:creationId xmlns:a16="http://schemas.microsoft.com/office/drawing/2014/main" id="{B24944AF-4CE9-4D38-84F6-703802F78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01" y="1220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7" name="Rectangle 100">
                  <a:extLst>
                    <a:ext uri="{FF2B5EF4-FFF2-40B4-BE49-F238E27FC236}">
                      <a16:creationId xmlns:a16="http://schemas.microsoft.com/office/drawing/2014/main" id="{4B1D93F3-2565-4D68-BEB9-93114E1F0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21" y="1299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8" name="Rectangle 101">
                  <a:extLst>
                    <a:ext uri="{FF2B5EF4-FFF2-40B4-BE49-F238E27FC236}">
                      <a16:creationId xmlns:a16="http://schemas.microsoft.com/office/drawing/2014/main" id="{6B32FEAC-753A-48FC-9705-5FAB18E62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74" y="305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9" name="Rectangle 102">
                  <a:extLst>
                    <a:ext uri="{FF2B5EF4-FFF2-40B4-BE49-F238E27FC236}">
                      <a16:creationId xmlns:a16="http://schemas.microsoft.com/office/drawing/2014/main" id="{A6A59FDE-2837-4922-B462-608758690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90" y="302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0" name="Rectangle 103">
                  <a:extLst>
                    <a:ext uri="{FF2B5EF4-FFF2-40B4-BE49-F238E27FC236}">
                      <a16:creationId xmlns:a16="http://schemas.microsoft.com/office/drawing/2014/main" id="{AF6B5902-5FF0-4408-B6EB-3A8396418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01" y="299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1" name="Rectangle 104">
                  <a:extLst>
                    <a:ext uri="{FF2B5EF4-FFF2-40B4-BE49-F238E27FC236}">
                      <a16:creationId xmlns:a16="http://schemas.microsoft.com/office/drawing/2014/main" id="{5782D0CF-DCF1-44CC-82E3-B815227D2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0" y="29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2" name="Rectangle 105">
                  <a:extLst>
                    <a:ext uri="{FF2B5EF4-FFF2-40B4-BE49-F238E27FC236}">
                      <a16:creationId xmlns:a16="http://schemas.microsoft.com/office/drawing/2014/main" id="{2EEEEF7A-8D0D-40F2-861A-EC00F33836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9" y="292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3" name="Rectangle 106">
                  <a:extLst>
                    <a:ext uri="{FF2B5EF4-FFF2-40B4-BE49-F238E27FC236}">
                      <a16:creationId xmlns:a16="http://schemas.microsoft.com/office/drawing/2014/main" id="{297059AE-C68F-4E60-8D1C-C100B2298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94" y="289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4" name="Rectangle 107">
                  <a:extLst>
                    <a:ext uri="{FF2B5EF4-FFF2-40B4-BE49-F238E27FC236}">
                      <a16:creationId xmlns:a16="http://schemas.microsoft.com/office/drawing/2014/main" id="{ABBDFA15-90E0-4653-B4F7-A131C4271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506" y="2861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5" name="Rectangle 108">
                  <a:extLst>
                    <a:ext uri="{FF2B5EF4-FFF2-40B4-BE49-F238E27FC236}">
                      <a16:creationId xmlns:a16="http://schemas.microsoft.com/office/drawing/2014/main" id="{84718F56-8BB5-452A-AFAF-B4F229630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18" y="286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6" name="Rectangle 109">
                  <a:extLst>
                    <a:ext uri="{FF2B5EF4-FFF2-40B4-BE49-F238E27FC236}">
                      <a16:creationId xmlns:a16="http://schemas.microsoft.com/office/drawing/2014/main" id="{0D3A7035-A6DA-4BD0-AA5B-A68324F02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2" y="283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7" name="Rectangle 110">
                  <a:extLst>
                    <a:ext uri="{FF2B5EF4-FFF2-40B4-BE49-F238E27FC236}">
                      <a16:creationId xmlns:a16="http://schemas.microsoft.com/office/drawing/2014/main" id="{F97FFF9E-766F-4638-9235-80C5A2838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9" y="280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8" name="Rectangle 111">
                  <a:extLst>
                    <a:ext uri="{FF2B5EF4-FFF2-40B4-BE49-F238E27FC236}">
                      <a16:creationId xmlns:a16="http://schemas.microsoft.com/office/drawing/2014/main" id="{E009D44D-87C5-4B3C-8F1D-7D9DDDC37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4" y="276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9" name="Rectangle 112">
                  <a:extLst>
                    <a:ext uri="{FF2B5EF4-FFF2-40B4-BE49-F238E27FC236}">
                      <a16:creationId xmlns:a16="http://schemas.microsoft.com/office/drawing/2014/main" id="{364BAA6E-50CE-4517-AB05-D03C3A00B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8" y="2727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0" name="Rectangle 113">
                  <a:extLst>
                    <a:ext uri="{FF2B5EF4-FFF2-40B4-BE49-F238E27FC236}">
                      <a16:creationId xmlns:a16="http://schemas.microsoft.com/office/drawing/2014/main" id="{9970D599-D2ED-4E6D-863F-C3AAFE86A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35" y="2626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1" name="Rectangle 114">
                  <a:extLst>
                    <a:ext uri="{FF2B5EF4-FFF2-40B4-BE49-F238E27FC236}">
                      <a16:creationId xmlns:a16="http://schemas.microsoft.com/office/drawing/2014/main" id="{010024E4-6307-4E24-88A4-0FF94D5EBE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41" y="2703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2" name="Rectangle 115">
                  <a:extLst>
                    <a:ext uri="{FF2B5EF4-FFF2-40B4-BE49-F238E27FC236}">
                      <a16:creationId xmlns:a16="http://schemas.microsoft.com/office/drawing/2014/main" id="{1224D237-79BF-47A2-94D4-98BF03118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35" y="1593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3" name="Rectangle 116">
                  <a:extLst>
                    <a:ext uri="{FF2B5EF4-FFF2-40B4-BE49-F238E27FC236}">
                      <a16:creationId xmlns:a16="http://schemas.microsoft.com/office/drawing/2014/main" id="{E33436F1-21BB-40CB-BF96-8AD148B7F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72" y="153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4" name="Rectangle 117">
                  <a:extLst>
                    <a:ext uri="{FF2B5EF4-FFF2-40B4-BE49-F238E27FC236}">
                      <a16:creationId xmlns:a16="http://schemas.microsoft.com/office/drawing/2014/main" id="{B2C005DE-4BE3-4BEE-BD5A-377489984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5" y="149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5" name="Rectangle 118">
                  <a:extLst>
                    <a:ext uri="{FF2B5EF4-FFF2-40B4-BE49-F238E27FC236}">
                      <a16:creationId xmlns:a16="http://schemas.microsoft.com/office/drawing/2014/main" id="{056F6E79-9711-4582-9B30-DF13D49F44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4" y="145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6" name="Rectangle 119">
                  <a:extLst>
                    <a:ext uri="{FF2B5EF4-FFF2-40B4-BE49-F238E27FC236}">
                      <a16:creationId xmlns:a16="http://schemas.microsoft.com/office/drawing/2014/main" id="{54E66A68-7803-4F35-A9C9-5312166EA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21" y="14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7" name="Rectangle 120">
                  <a:extLst>
                    <a:ext uri="{FF2B5EF4-FFF2-40B4-BE49-F238E27FC236}">
                      <a16:creationId xmlns:a16="http://schemas.microsoft.com/office/drawing/2014/main" id="{85957940-6911-4FDA-A0E2-7C15EA46F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4" y="1371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8" name="Rectangle 121">
                  <a:extLst>
                    <a:ext uri="{FF2B5EF4-FFF2-40B4-BE49-F238E27FC236}">
                      <a16:creationId xmlns:a16="http://schemas.microsoft.com/office/drawing/2014/main" id="{B7CE6E41-0093-47A2-AFD9-0C2039A94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7" y="131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9" name="Rectangle 122">
                  <a:extLst>
                    <a:ext uri="{FF2B5EF4-FFF2-40B4-BE49-F238E27FC236}">
                      <a16:creationId xmlns:a16="http://schemas.microsoft.com/office/drawing/2014/main" id="{5D704309-C852-4DD8-9FDA-59B6FFCED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299" y="2910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0" name="Rectangle 123">
                  <a:extLst>
                    <a:ext uri="{FF2B5EF4-FFF2-40B4-BE49-F238E27FC236}">
                      <a16:creationId xmlns:a16="http://schemas.microsoft.com/office/drawing/2014/main" id="{AEFAB9BF-FF94-42B6-A238-BB1276614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52" y="285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1" name="Rectangle 124">
                  <a:extLst>
                    <a:ext uri="{FF2B5EF4-FFF2-40B4-BE49-F238E27FC236}">
                      <a16:creationId xmlns:a16="http://schemas.microsoft.com/office/drawing/2014/main" id="{99C80E03-39E9-4C36-8081-E7D83C899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83" y="282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2" name="Rectangle 125">
                  <a:extLst>
                    <a:ext uri="{FF2B5EF4-FFF2-40B4-BE49-F238E27FC236}">
                      <a16:creationId xmlns:a16="http://schemas.microsoft.com/office/drawing/2014/main" id="{9A89A979-2CA1-4DC3-A487-F5007C1A8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93" y="279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3" name="Rectangle 126">
                  <a:extLst>
                    <a:ext uri="{FF2B5EF4-FFF2-40B4-BE49-F238E27FC236}">
                      <a16:creationId xmlns:a16="http://schemas.microsoft.com/office/drawing/2014/main" id="{B74F56D5-9DEF-4905-A992-DD8431215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1" y="275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4" name="Rectangle 127">
                  <a:extLst>
                    <a:ext uri="{FF2B5EF4-FFF2-40B4-BE49-F238E27FC236}">
                      <a16:creationId xmlns:a16="http://schemas.microsoft.com/office/drawing/2014/main" id="{7E81E1A7-614C-4B81-943C-5C9ADAC5F0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6" y="2717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5" name="Rectangle 128">
                  <a:extLst>
                    <a:ext uri="{FF2B5EF4-FFF2-40B4-BE49-F238E27FC236}">
                      <a16:creationId xmlns:a16="http://schemas.microsoft.com/office/drawing/2014/main" id="{BA97E6B1-A497-403B-9A74-4FED8BDC7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85" y="266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6" name="Rectangle 129">
                  <a:extLst>
                    <a:ext uri="{FF2B5EF4-FFF2-40B4-BE49-F238E27FC236}">
                      <a16:creationId xmlns:a16="http://schemas.microsoft.com/office/drawing/2014/main" id="{0D8DFBC4-DCD2-45BD-BD7C-E00FB50FE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274" y="3132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7" name="Rectangle 130">
                  <a:extLst>
                    <a:ext uri="{FF2B5EF4-FFF2-40B4-BE49-F238E27FC236}">
                      <a16:creationId xmlns:a16="http://schemas.microsoft.com/office/drawing/2014/main" id="{563C83EF-E1F1-4728-8EC7-9478420D19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18" y="308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8" name="Rectangle 131">
                  <a:extLst>
                    <a:ext uri="{FF2B5EF4-FFF2-40B4-BE49-F238E27FC236}">
                      <a16:creationId xmlns:a16="http://schemas.microsoft.com/office/drawing/2014/main" id="{D42B36C5-E7C9-49C2-9C9D-5FCFFBB36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53" y="304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9" name="Rectangle 132">
                  <a:extLst>
                    <a:ext uri="{FF2B5EF4-FFF2-40B4-BE49-F238E27FC236}">
                      <a16:creationId xmlns:a16="http://schemas.microsoft.com/office/drawing/2014/main" id="{EBF4A38C-51A1-4BFC-9DE8-21A6275E08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34" y="1691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0" name="Rectangle 133">
                  <a:extLst>
                    <a:ext uri="{FF2B5EF4-FFF2-40B4-BE49-F238E27FC236}">
                      <a16:creationId xmlns:a16="http://schemas.microsoft.com/office/drawing/2014/main" id="{EC67E1ED-3A94-49AC-A483-7FD027AD4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53" y="1758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1" name="Rectangle 134">
                  <a:extLst>
                    <a:ext uri="{FF2B5EF4-FFF2-40B4-BE49-F238E27FC236}">
                      <a16:creationId xmlns:a16="http://schemas.microsoft.com/office/drawing/2014/main" id="{8BAB330A-8755-417E-AFBF-CB65435AB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1" y="1795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2" name="Rectangle 135">
                  <a:extLst>
                    <a:ext uri="{FF2B5EF4-FFF2-40B4-BE49-F238E27FC236}">
                      <a16:creationId xmlns:a16="http://schemas.microsoft.com/office/drawing/2014/main" id="{BE6007E5-78AA-4BD4-83D4-731870470E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0" y="18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3" name="Freeform 136">
                  <a:extLst>
                    <a:ext uri="{FF2B5EF4-FFF2-40B4-BE49-F238E27FC236}">
                      <a16:creationId xmlns:a16="http://schemas.microsoft.com/office/drawing/2014/main" id="{2A2BBB78-EFE6-47D9-A106-B6F741A4A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0" y="1009"/>
                  <a:ext cx="2052" cy="1069"/>
                </a:xfrm>
                <a:custGeom>
                  <a:avLst/>
                  <a:gdLst>
                    <a:gd name="T0" fmla="*/ 7945 w 8208"/>
                    <a:gd name="T1" fmla="*/ 62 h 4275"/>
                    <a:gd name="T2" fmla="*/ 7592 w 8208"/>
                    <a:gd name="T3" fmla="*/ 165 h 4275"/>
                    <a:gd name="T4" fmla="*/ 7233 w 8208"/>
                    <a:gd name="T5" fmla="*/ 280 h 4275"/>
                    <a:gd name="T6" fmla="*/ 6870 w 8208"/>
                    <a:gd name="T7" fmla="*/ 406 h 4275"/>
                    <a:gd name="T8" fmla="*/ 6501 w 8208"/>
                    <a:gd name="T9" fmla="*/ 544 h 4275"/>
                    <a:gd name="T10" fmla="*/ 6127 w 8208"/>
                    <a:gd name="T11" fmla="*/ 691 h 4275"/>
                    <a:gd name="T12" fmla="*/ 5749 w 8208"/>
                    <a:gd name="T13" fmla="*/ 849 h 4275"/>
                    <a:gd name="T14" fmla="*/ 5369 w 8208"/>
                    <a:gd name="T15" fmla="*/ 1019 h 4275"/>
                    <a:gd name="T16" fmla="*/ 4983 w 8208"/>
                    <a:gd name="T17" fmla="*/ 1197 h 4275"/>
                    <a:gd name="T18" fmla="*/ 4597 w 8208"/>
                    <a:gd name="T19" fmla="*/ 1385 h 4275"/>
                    <a:gd name="T20" fmla="*/ 4206 w 8208"/>
                    <a:gd name="T21" fmla="*/ 1581 h 4275"/>
                    <a:gd name="T22" fmla="*/ 3814 w 8208"/>
                    <a:gd name="T23" fmla="*/ 1787 h 4275"/>
                    <a:gd name="T24" fmla="*/ 3421 w 8208"/>
                    <a:gd name="T25" fmla="*/ 2002 h 4275"/>
                    <a:gd name="T26" fmla="*/ 3025 w 8208"/>
                    <a:gd name="T27" fmla="*/ 2224 h 4275"/>
                    <a:gd name="T28" fmla="*/ 2629 w 8208"/>
                    <a:gd name="T29" fmla="*/ 2455 h 4275"/>
                    <a:gd name="T30" fmla="*/ 2233 w 8208"/>
                    <a:gd name="T31" fmla="*/ 2693 h 4275"/>
                    <a:gd name="T32" fmla="*/ 1837 w 8208"/>
                    <a:gd name="T33" fmla="*/ 2939 h 4275"/>
                    <a:gd name="T34" fmla="*/ 1441 w 8208"/>
                    <a:gd name="T35" fmla="*/ 3191 h 4275"/>
                    <a:gd name="T36" fmla="*/ 1045 w 8208"/>
                    <a:gd name="T37" fmla="*/ 3450 h 4275"/>
                    <a:gd name="T38" fmla="*/ 652 w 8208"/>
                    <a:gd name="T39" fmla="*/ 3716 h 4275"/>
                    <a:gd name="T40" fmla="*/ 260 w 8208"/>
                    <a:gd name="T41" fmla="*/ 3987 h 4275"/>
                    <a:gd name="T42" fmla="*/ 74 w 8208"/>
                    <a:gd name="T43" fmla="*/ 4275 h 4275"/>
                    <a:gd name="T44" fmla="*/ 463 w 8208"/>
                    <a:gd name="T45" fmla="*/ 4001 h 4275"/>
                    <a:gd name="T46" fmla="*/ 854 w 8208"/>
                    <a:gd name="T47" fmla="*/ 3732 h 4275"/>
                    <a:gd name="T48" fmla="*/ 1247 w 8208"/>
                    <a:gd name="T49" fmla="*/ 3469 h 4275"/>
                    <a:gd name="T50" fmla="*/ 1642 w 8208"/>
                    <a:gd name="T51" fmla="*/ 3214 h 4275"/>
                    <a:gd name="T52" fmla="*/ 2036 w 8208"/>
                    <a:gd name="T53" fmla="*/ 2965 h 4275"/>
                    <a:gd name="T54" fmla="*/ 2431 w 8208"/>
                    <a:gd name="T55" fmla="*/ 2723 h 4275"/>
                    <a:gd name="T56" fmla="*/ 2826 w 8208"/>
                    <a:gd name="T57" fmla="*/ 2487 h 4275"/>
                    <a:gd name="T58" fmla="*/ 3220 w 8208"/>
                    <a:gd name="T59" fmla="*/ 2261 h 4275"/>
                    <a:gd name="T60" fmla="*/ 3613 w 8208"/>
                    <a:gd name="T61" fmla="*/ 2042 h 4275"/>
                    <a:gd name="T62" fmla="*/ 4004 w 8208"/>
                    <a:gd name="T63" fmla="*/ 1831 h 4275"/>
                    <a:gd name="T64" fmla="*/ 4395 w 8208"/>
                    <a:gd name="T65" fmla="*/ 1629 h 4275"/>
                    <a:gd name="T66" fmla="*/ 4782 w 8208"/>
                    <a:gd name="T67" fmla="*/ 1435 h 4275"/>
                    <a:gd name="T68" fmla="*/ 5166 w 8208"/>
                    <a:gd name="T69" fmla="*/ 1251 h 4275"/>
                    <a:gd name="T70" fmla="*/ 5548 w 8208"/>
                    <a:gd name="T71" fmla="*/ 1077 h 4275"/>
                    <a:gd name="T72" fmla="*/ 5925 w 8208"/>
                    <a:gd name="T73" fmla="*/ 914 h 4275"/>
                    <a:gd name="T74" fmla="*/ 6299 w 8208"/>
                    <a:gd name="T75" fmla="*/ 760 h 4275"/>
                    <a:gd name="T76" fmla="*/ 6669 w 8208"/>
                    <a:gd name="T77" fmla="*/ 616 h 4275"/>
                    <a:gd name="T78" fmla="*/ 7034 w 8208"/>
                    <a:gd name="T79" fmla="*/ 483 h 4275"/>
                    <a:gd name="T80" fmla="*/ 7392 w 8208"/>
                    <a:gd name="T81" fmla="*/ 361 h 4275"/>
                    <a:gd name="T82" fmla="*/ 7746 w 8208"/>
                    <a:gd name="T83" fmla="*/ 253 h 4275"/>
                    <a:gd name="T84" fmla="*/ 8094 w 8208"/>
                    <a:gd name="T85" fmla="*/ 154 h 4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208" h="4275">
                      <a:moveTo>
                        <a:pt x="8176" y="0"/>
                      </a:moveTo>
                      <a:lnTo>
                        <a:pt x="8060" y="30"/>
                      </a:lnTo>
                      <a:lnTo>
                        <a:pt x="7945" y="62"/>
                      </a:lnTo>
                      <a:lnTo>
                        <a:pt x="7827" y="95"/>
                      </a:lnTo>
                      <a:lnTo>
                        <a:pt x="7711" y="130"/>
                      </a:lnTo>
                      <a:lnTo>
                        <a:pt x="7592" y="165"/>
                      </a:lnTo>
                      <a:lnTo>
                        <a:pt x="7473" y="202"/>
                      </a:lnTo>
                      <a:lnTo>
                        <a:pt x="7354" y="241"/>
                      </a:lnTo>
                      <a:lnTo>
                        <a:pt x="7233" y="280"/>
                      </a:lnTo>
                      <a:lnTo>
                        <a:pt x="7113" y="321"/>
                      </a:lnTo>
                      <a:lnTo>
                        <a:pt x="6991" y="363"/>
                      </a:lnTo>
                      <a:lnTo>
                        <a:pt x="6870" y="406"/>
                      </a:lnTo>
                      <a:lnTo>
                        <a:pt x="6747" y="450"/>
                      </a:lnTo>
                      <a:lnTo>
                        <a:pt x="6624" y="496"/>
                      </a:lnTo>
                      <a:lnTo>
                        <a:pt x="6501" y="544"/>
                      </a:lnTo>
                      <a:lnTo>
                        <a:pt x="6377" y="592"/>
                      </a:lnTo>
                      <a:lnTo>
                        <a:pt x="6253" y="641"/>
                      </a:lnTo>
                      <a:lnTo>
                        <a:pt x="6127" y="691"/>
                      </a:lnTo>
                      <a:lnTo>
                        <a:pt x="6002" y="743"/>
                      </a:lnTo>
                      <a:lnTo>
                        <a:pt x="5876" y="796"/>
                      </a:lnTo>
                      <a:lnTo>
                        <a:pt x="5749" y="849"/>
                      </a:lnTo>
                      <a:lnTo>
                        <a:pt x="5624" y="905"/>
                      </a:lnTo>
                      <a:lnTo>
                        <a:pt x="5496" y="960"/>
                      </a:lnTo>
                      <a:lnTo>
                        <a:pt x="5369" y="1019"/>
                      </a:lnTo>
                      <a:lnTo>
                        <a:pt x="5241" y="1077"/>
                      </a:lnTo>
                      <a:lnTo>
                        <a:pt x="5113" y="1136"/>
                      </a:lnTo>
                      <a:lnTo>
                        <a:pt x="4983" y="1197"/>
                      </a:lnTo>
                      <a:lnTo>
                        <a:pt x="4855" y="1258"/>
                      </a:lnTo>
                      <a:lnTo>
                        <a:pt x="4726" y="1320"/>
                      </a:lnTo>
                      <a:lnTo>
                        <a:pt x="4597" y="1385"/>
                      </a:lnTo>
                      <a:lnTo>
                        <a:pt x="4467" y="1449"/>
                      </a:lnTo>
                      <a:lnTo>
                        <a:pt x="4337" y="1514"/>
                      </a:lnTo>
                      <a:lnTo>
                        <a:pt x="4206" y="1581"/>
                      </a:lnTo>
                      <a:lnTo>
                        <a:pt x="4075" y="1649"/>
                      </a:lnTo>
                      <a:lnTo>
                        <a:pt x="3945" y="1717"/>
                      </a:lnTo>
                      <a:lnTo>
                        <a:pt x="3814" y="1787"/>
                      </a:lnTo>
                      <a:lnTo>
                        <a:pt x="3683" y="1858"/>
                      </a:lnTo>
                      <a:lnTo>
                        <a:pt x="3551" y="1929"/>
                      </a:lnTo>
                      <a:lnTo>
                        <a:pt x="3421" y="2002"/>
                      </a:lnTo>
                      <a:lnTo>
                        <a:pt x="3289" y="2076"/>
                      </a:lnTo>
                      <a:lnTo>
                        <a:pt x="3157" y="2149"/>
                      </a:lnTo>
                      <a:lnTo>
                        <a:pt x="3025" y="2224"/>
                      </a:lnTo>
                      <a:lnTo>
                        <a:pt x="2893" y="2301"/>
                      </a:lnTo>
                      <a:lnTo>
                        <a:pt x="2761" y="2377"/>
                      </a:lnTo>
                      <a:lnTo>
                        <a:pt x="2629" y="2455"/>
                      </a:lnTo>
                      <a:lnTo>
                        <a:pt x="2497" y="2534"/>
                      </a:lnTo>
                      <a:lnTo>
                        <a:pt x="2365" y="2613"/>
                      </a:lnTo>
                      <a:lnTo>
                        <a:pt x="2233" y="2693"/>
                      </a:lnTo>
                      <a:lnTo>
                        <a:pt x="2101" y="2774"/>
                      </a:lnTo>
                      <a:lnTo>
                        <a:pt x="1969" y="2856"/>
                      </a:lnTo>
                      <a:lnTo>
                        <a:pt x="1837" y="2939"/>
                      </a:lnTo>
                      <a:lnTo>
                        <a:pt x="1705" y="3022"/>
                      </a:lnTo>
                      <a:lnTo>
                        <a:pt x="1573" y="3107"/>
                      </a:lnTo>
                      <a:lnTo>
                        <a:pt x="1441" y="3191"/>
                      </a:lnTo>
                      <a:lnTo>
                        <a:pt x="1309" y="3276"/>
                      </a:lnTo>
                      <a:lnTo>
                        <a:pt x="1177" y="3363"/>
                      </a:lnTo>
                      <a:lnTo>
                        <a:pt x="1045" y="3450"/>
                      </a:lnTo>
                      <a:lnTo>
                        <a:pt x="915" y="3538"/>
                      </a:lnTo>
                      <a:lnTo>
                        <a:pt x="783" y="3627"/>
                      </a:lnTo>
                      <a:lnTo>
                        <a:pt x="652" y="3716"/>
                      </a:lnTo>
                      <a:lnTo>
                        <a:pt x="521" y="3806"/>
                      </a:lnTo>
                      <a:lnTo>
                        <a:pt x="391" y="3896"/>
                      </a:lnTo>
                      <a:lnTo>
                        <a:pt x="260" y="3987"/>
                      </a:lnTo>
                      <a:lnTo>
                        <a:pt x="129" y="4079"/>
                      </a:lnTo>
                      <a:lnTo>
                        <a:pt x="0" y="4172"/>
                      </a:lnTo>
                      <a:lnTo>
                        <a:pt x="74" y="4275"/>
                      </a:lnTo>
                      <a:lnTo>
                        <a:pt x="203" y="4183"/>
                      </a:lnTo>
                      <a:lnTo>
                        <a:pt x="332" y="4092"/>
                      </a:lnTo>
                      <a:lnTo>
                        <a:pt x="463" y="4001"/>
                      </a:lnTo>
                      <a:lnTo>
                        <a:pt x="594" y="3910"/>
                      </a:lnTo>
                      <a:lnTo>
                        <a:pt x="724" y="3821"/>
                      </a:lnTo>
                      <a:lnTo>
                        <a:pt x="854" y="3732"/>
                      </a:lnTo>
                      <a:lnTo>
                        <a:pt x="986" y="3644"/>
                      </a:lnTo>
                      <a:lnTo>
                        <a:pt x="1116" y="3557"/>
                      </a:lnTo>
                      <a:lnTo>
                        <a:pt x="1247" y="3469"/>
                      </a:lnTo>
                      <a:lnTo>
                        <a:pt x="1379" y="3384"/>
                      </a:lnTo>
                      <a:lnTo>
                        <a:pt x="1510" y="3298"/>
                      </a:lnTo>
                      <a:lnTo>
                        <a:pt x="1642" y="3214"/>
                      </a:lnTo>
                      <a:lnTo>
                        <a:pt x="1772" y="3130"/>
                      </a:lnTo>
                      <a:lnTo>
                        <a:pt x="1904" y="3047"/>
                      </a:lnTo>
                      <a:lnTo>
                        <a:pt x="2036" y="2965"/>
                      </a:lnTo>
                      <a:lnTo>
                        <a:pt x="2168" y="2883"/>
                      </a:lnTo>
                      <a:lnTo>
                        <a:pt x="2299" y="2803"/>
                      </a:lnTo>
                      <a:lnTo>
                        <a:pt x="2431" y="2723"/>
                      </a:lnTo>
                      <a:lnTo>
                        <a:pt x="2563" y="2644"/>
                      </a:lnTo>
                      <a:lnTo>
                        <a:pt x="2695" y="2565"/>
                      </a:lnTo>
                      <a:lnTo>
                        <a:pt x="2826" y="2487"/>
                      </a:lnTo>
                      <a:lnTo>
                        <a:pt x="2957" y="2411"/>
                      </a:lnTo>
                      <a:lnTo>
                        <a:pt x="3088" y="2336"/>
                      </a:lnTo>
                      <a:lnTo>
                        <a:pt x="3220" y="2261"/>
                      </a:lnTo>
                      <a:lnTo>
                        <a:pt x="3351" y="2187"/>
                      </a:lnTo>
                      <a:lnTo>
                        <a:pt x="3483" y="2113"/>
                      </a:lnTo>
                      <a:lnTo>
                        <a:pt x="3613" y="2042"/>
                      </a:lnTo>
                      <a:lnTo>
                        <a:pt x="3744" y="1971"/>
                      </a:lnTo>
                      <a:lnTo>
                        <a:pt x="3875" y="1900"/>
                      </a:lnTo>
                      <a:lnTo>
                        <a:pt x="4004" y="1831"/>
                      </a:lnTo>
                      <a:lnTo>
                        <a:pt x="4135" y="1763"/>
                      </a:lnTo>
                      <a:lnTo>
                        <a:pt x="4264" y="1695"/>
                      </a:lnTo>
                      <a:lnTo>
                        <a:pt x="4395" y="1629"/>
                      </a:lnTo>
                      <a:lnTo>
                        <a:pt x="4524" y="1563"/>
                      </a:lnTo>
                      <a:lnTo>
                        <a:pt x="4652" y="1499"/>
                      </a:lnTo>
                      <a:lnTo>
                        <a:pt x="4782" y="1435"/>
                      </a:lnTo>
                      <a:lnTo>
                        <a:pt x="4911" y="1373"/>
                      </a:lnTo>
                      <a:lnTo>
                        <a:pt x="5039" y="1312"/>
                      </a:lnTo>
                      <a:lnTo>
                        <a:pt x="5166" y="1251"/>
                      </a:lnTo>
                      <a:lnTo>
                        <a:pt x="5294" y="1192"/>
                      </a:lnTo>
                      <a:lnTo>
                        <a:pt x="5421" y="1135"/>
                      </a:lnTo>
                      <a:lnTo>
                        <a:pt x="5548" y="1077"/>
                      </a:lnTo>
                      <a:lnTo>
                        <a:pt x="5674" y="1021"/>
                      </a:lnTo>
                      <a:lnTo>
                        <a:pt x="5800" y="967"/>
                      </a:lnTo>
                      <a:lnTo>
                        <a:pt x="5925" y="914"/>
                      </a:lnTo>
                      <a:lnTo>
                        <a:pt x="6051" y="861"/>
                      </a:lnTo>
                      <a:lnTo>
                        <a:pt x="6175" y="809"/>
                      </a:lnTo>
                      <a:lnTo>
                        <a:pt x="6299" y="760"/>
                      </a:lnTo>
                      <a:lnTo>
                        <a:pt x="6423" y="711"/>
                      </a:lnTo>
                      <a:lnTo>
                        <a:pt x="6546" y="663"/>
                      </a:lnTo>
                      <a:lnTo>
                        <a:pt x="6669" y="616"/>
                      </a:lnTo>
                      <a:lnTo>
                        <a:pt x="6791" y="571"/>
                      </a:lnTo>
                      <a:lnTo>
                        <a:pt x="6912" y="526"/>
                      </a:lnTo>
                      <a:lnTo>
                        <a:pt x="7034" y="483"/>
                      </a:lnTo>
                      <a:lnTo>
                        <a:pt x="7154" y="441"/>
                      </a:lnTo>
                      <a:lnTo>
                        <a:pt x="7273" y="401"/>
                      </a:lnTo>
                      <a:lnTo>
                        <a:pt x="7392" y="361"/>
                      </a:lnTo>
                      <a:lnTo>
                        <a:pt x="7511" y="324"/>
                      </a:lnTo>
                      <a:lnTo>
                        <a:pt x="7629" y="287"/>
                      </a:lnTo>
                      <a:lnTo>
                        <a:pt x="7746" y="253"/>
                      </a:lnTo>
                      <a:lnTo>
                        <a:pt x="7862" y="218"/>
                      </a:lnTo>
                      <a:lnTo>
                        <a:pt x="7979" y="185"/>
                      </a:lnTo>
                      <a:lnTo>
                        <a:pt x="8094" y="154"/>
                      </a:lnTo>
                      <a:lnTo>
                        <a:pt x="8208" y="123"/>
                      </a:lnTo>
                      <a:lnTo>
                        <a:pt x="81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4" name="Freeform 137">
                  <a:extLst>
                    <a:ext uri="{FF2B5EF4-FFF2-40B4-BE49-F238E27FC236}">
                      <a16:creationId xmlns:a16="http://schemas.microsoft.com/office/drawing/2014/main" id="{AE1716FA-0768-4DA4-826A-D60298A9EC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4" y="933"/>
                  <a:ext cx="213" cy="189"/>
                </a:xfrm>
                <a:custGeom>
                  <a:avLst/>
                  <a:gdLst>
                    <a:gd name="T0" fmla="*/ 852 w 852"/>
                    <a:gd name="T1" fmla="*/ 182 h 755"/>
                    <a:gd name="T2" fmla="*/ 0 w 852"/>
                    <a:gd name="T3" fmla="*/ 0 h 755"/>
                    <a:gd name="T4" fmla="*/ 195 w 852"/>
                    <a:gd name="T5" fmla="*/ 755 h 755"/>
                    <a:gd name="T6" fmla="*/ 852 w 852"/>
                    <a:gd name="T7" fmla="*/ 182 h 755"/>
                    <a:gd name="T8" fmla="*/ 852 w 852"/>
                    <a:gd name="T9" fmla="*/ 182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2" h="755">
                      <a:moveTo>
                        <a:pt x="852" y="182"/>
                      </a:moveTo>
                      <a:lnTo>
                        <a:pt x="0" y="0"/>
                      </a:lnTo>
                      <a:lnTo>
                        <a:pt x="195" y="755"/>
                      </a:lnTo>
                      <a:lnTo>
                        <a:pt x="852" y="182"/>
                      </a:lnTo>
                      <a:lnTo>
                        <a:pt x="852" y="182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5" name="Freeform 138">
                  <a:extLst>
                    <a:ext uri="{FF2B5EF4-FFF2-40B4-BE49-F238E27FC236}">
                      <a16:creationId xmlns:a16="http://schemas.microsoft.com/office/drawing/2014/main" id="{D254A7FA-5DB2-4240-9381-8C25DF6A35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" y="3169"/>
                  <a:ext cx="140" cy="131"/>
                </a:xfrm>
                <a:custGeom>
                  <a:avLst/>
                  <a:gdLst>
                    <a:gd name="T0" fmla="*/ 471 w 558"/>
                    <a:gd name="T1" fmla="*/ 0 h 527"/>
                    <a:gd name="T2" fmla="*/ 350 w 558"/>
                    <a:gd name="T3" fmla="*/ 112 h 527"/>
                    <a:gd name="T4" fmla="*/ 0 w 558"/>
                    <a:gd name="T5" fmla="*/ 434 h 527"/>
                    <a:gd name="T6" fmla="*/ 87 w 558"/>
                    <a:gd name="T7" fmla="*/ 527 h 527"/>
                    <a:gd name="T8" fmla="*/ 435 w 558"/>
                    <a:gd name="T9" fmla="*/ 206 h 527"/>
                    <a:gd name="T10" fmla="*/ 558 w 558"/>
                    <a:gd name="T11" fmla="*/ 95 h 527"/>
                    <a:gd name="T12" fmla="*/ 471 w 558"/>
                    <a:gd name="T13" fmla="*/ 0 h 5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58" h="527">
                      <a:moveTo>
                        <a:pt x="471" y="0"/>
                      </a:moveTo>
                      <a:lnTo>
                        <a:pt x="350" y="112"/>
                      </a:lnTo>
                      <a:lnTo>
                        <a:pt x="0" y="434"/>
                      </a:lnTo>
                      <a:lnTo>
                        <a:pt x="87" y="527"/>
                      </a:lnTo>
                      <a:lnTo>
                        <a:pt x="435" y="206"/>
                      </a:lnTo>
                      <a:lnTo>
                        <a:pt x="558" y="95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6" name="Freeform 139">
                  <a:extLst>
                    <a:ext uri="{FF2B5EF4-FFF2-40B4-BE49-F238E27FC236}">
                      <a16:creationId xmlns:a16="http://schemas.microsoft.com/office/drawing/2014/main" id="{04B75503-18A5-4282-8F7D-45BADF321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" y="2997"/>
                  <a:ext cx="141" cy="131"/>
                </a:xfrm>
                <a:custGeom>
                  <a:avLst/>
                  <a:gdLst>
                    <a:gd name="T0" fmla="*/ 476 w 561"/>
                    <a:gd name="T1" fmla="*/ 0 h 522"/>
                    <a:gd name="T2" fmla="*/ 287 w 561"/>
                    <a:gd name="T3" fmla="*/ 168 h 522"/>
                    <a:gd name="T4" fmla="*/ 0 w 561"/>
                    <a:gd name="T5" fmla="*/ 428 h 522"/>
                    <a:gd name="T6" fmla="*/ 85 w 561"/>
                    <a:gd name="T7" fmla="*/ 522 h 522"/>
                    <a:gd name="T8" fmla="*/ 373 w 561"/>
                    <a:gd name="T9" fmla="*/ 262 h 522"/>
                    <a:gd name="T10" fmla="*/ 561 w 561"/>
                    <a:gd name="T11" fmla="*/ 94 h 522"/>
                    <a:gd name="T12" fmla="*/ 476 w 561"/>
                    <a:gd name="T13" fmla="*/ 0 h 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1" h="522">
                      <a:moveTo>
                        <a:pt x="476" y="0"/>
                      </a:moveTo>
                      <a:lnTo>
                        <a:pt x="287" y="168"/>
                      </a:lnTo>
                      <a:lnTo>
                        <a:pt x="0" y="428"/>
                      </a:lnTo>
                      <a:lnTo>
                        <a:pt x="85" y="522"/>
                      </a:lnTo>
                      <a:lnTo>
                        <a:pt x="373" y="262"/>
                      </a:lnTo>
                      <a:lnTo>
                        <a:pt x="561" y="94"/>
                      </a:ln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7" name="Freeform 140">
                  <a:extLst>
                    <a:ext uri="{FF2B5EF4-FFF2-40B4-BE49-F238E27FC236}">
                      <a16:creationId xmlns:a16="http://schemas.microsoft.com/office/drawing/2014/main" id="{8B5F9AD2-46DE-4A26-864E-67B5FB334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03" y="2828"/>
                  <a:ext cx="141" cy="129"/>
                </a:xfrm>
                <a:custGeom>
                  <a:avLst/>
                  <a:gdLst>
                    <a:gd name="T0" fmla="*/ 482 w 566"/>
                    <a:gd name="T1" fmla="*/ 0 h 517"/>
                    <a:gd name="T2" fmla="*/ 392 w 566"/>
                    <a:gd name="T3" fmla="*/ 77 h 517"/>
                    <a:gd name="T4" fmla="*/ 219 w 566"/>
                    <a:gd name="T5" fmla="*/ 230 h 517"/>
                    <a:gd name="T6" fmla="*/ 44 w 566"/>
                    <a:gd name="T7" fmla="*/ 383 h 517"/>
                    <a:gd name="T8" fmla="*/ 0 w 566"/>
                    <a:gd name="T9" fmla="*/ 421 h 517"/>
                    <a:gd name="T10" fmla="*/ 84 w 566"/>
                    <a:gd name="T11" fmla="*/ 517 h 517"/>
                    <a:gd name="T12" fmla="*/ 128 w 566"/>
                    <a:gd name="T13" fmla="*/ 478 h 517"/>
                    <a:gd name="T14" fmla="*/ 303 w 566"/>
                    <a:gd name="T15" fmla="*/ 326 h 517"/>
                    <a:gd name="T16" fmla="*/ 476 w 566"/>
                    <a:gd name="T17" fmla="*/ 174 h 517"/>
                    <a:gd name="T18" fmla="*/ 566 w 566"/>
                    <a:gd name="T19" fmla="*/ 97 h 517"/>
                    <a:gd name="T20" fmla="*/ 482 w 566"/>
                    <a:gd name="T21" fmla="*/ 0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66" h="517">
                      <a:moveTo>
                        <a:pt x="482" y="0"/>
                      </a:moveTo>
                      <a:lnTo>
                        <a:pt x="392" y="77"/>
                      </a:lnTo>
                      <a:lnTo>
                        <a:pt x="219" y="230"/>
                      </a:lnTo>
                      <a:lnTo>
                        <a:pt x="44" y="383"/>
                      </a:lnTo>
                      <a:lnTo>
                        <a:pt x="0" y="421"/>
                      </a:lnTo>
                      <a:lnTo>
                        <a:pt x="84" y="517"/>
                      </a:lnTo>
                      <a:lnTo>
                        <a:pt x="128" y="478"/>
                      </a:lnTo>
                      <a:lnTo>
                        <a:pt x="303" y="326"/>
                      </a:lnTo>
                      <a:lnTo>
                        <a:pt x="476" y="174"/>
                      </a:lnTo>
                      <a:lnTo>
                        <a:pt x="566" y="97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8" name="Freeform 141">
                  <a:extLst>
                    <a:ext uri="{FF2B5EF4-FFF2-40B4-BE49-F238E27FC236}">
                      <a16:creationId xmlns:a16="http://schemas.microsoft.com/office/drawing/2014/main" id="{4CD10244-FC32-430D-9DE3-4809643B3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6" y="2662"/>
                  <a:ext cx="143" cy="127"/>
                </a:xfrm>
                <a:custGeom>
                  <a:avLst/>
                  <a:gdLst>
                    <a:gd name="T0" fmla="*/ 488 w 570"/>
                    <a:gd name="T1" fmla="*/ 0 h 511"/>
                    <a:gd name="T2" fmla="*/ 323 w 570"/>
                    <a:gd name="T3" fmla="*/ 138 h 511"/>
                    <a:gd name="T4" fmla="*/ 146 w 570"/>
                    <a:gd name="T5" fmla="*/ 288 h 511"/>
                    <a:gd name="T6" fmla="*/ 0 w 570"/>
                    <a:gd name="T7" fmla="*/ 414 h 511"/>
                    <a:gd name="T8" fmla="*/ 83 w 570"/>
                    <a:gd name="T9" fmla="*/ 511 h 511"/>
                    <a:gd name="T10" fmla="*/ 229 w 570"/>
                    <a:gd name="T11" fmla="*/ 385 h 511"/>
                    <a:gd name="T12" fmla="*/ 406 w 570"/>
                    <a:gd name="T13" fmla="*/ 235 h 511"/>
                    <a:gd name="T14" fmla="*/ 570 w 570"/>
                    <a:gd name="T15" fmla="*/ 97 h 511"/>
                    <a:gd name="T16" fmla="*/ 488 w 570"/>
                    <a:gd name="T17" fmla="*/ 0 h 5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0" h="511">
                      <a:moveTo>
                        <a:pt x="488" y="0"/>
                      </a:moveTo>
                      <a:lnTo>
                        <a:pt x="323" y="138"/>
                      </a:lnTo>
                      <a:lnTo>
                        <a:pt x="146" y="288"/>
                      </a:lnTo>
                      <a:lnTo>
                        <a:pt x="0" y="414"/>
                      </a:lnTo>
                      <a:lnTo>
                        <a:pt x="83" y="511"/>
                      </a:lnTo>
                      <a:lnTo>
                        <a:pt x="229" y="385"/>
                      </a:lnTo>
                      <a:lnTo>
                        <a:pt x="406" y="235"/>
                      </a:lnTo>
                      <a:lnTo>
                        <a:pt x="570" y="97"/>
                      </a:lnTo>
                      <a:lnTo>
                        <a:pt x="488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9" name="Freeform 142">
                  <a:extLst>
                    <a:ext uri="{FF2B5EF4-FFF2-40B4-BE49-F238E27FC236}">
                      <a16:creationId xmlns:a16="http://schemas.microsoft.com/office/drawing/2014/main" id="{622AFC2D-0656-4D9E-BAFE-78AF2E71E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2" y="2499"/>
                  <a:ext cx="144" cy="126"/>
                </a:xfrm>
                <a:custGeom>
                  <a:avLst/>
                  <a:gdLst>
                    <a:gd name="T0" fmla="*/ 495 w 576"/>
                    <a:gd name="T1" fmla="*/ 0 h 503"/>
                    <a:gd name="T2" fmla="*/ 446 w 576"/>
                    <a:gd name="T3" fmla="*/ 40 h 503"/>
                    <a:gd name="T4" fmla="*/ 263 w 576"/>
                    <a:gd name="T5" fmla="*/ 190 h 503"/>
                    <a:gd name="T6" fmla="*/ 79 w 576"/>
                    <a:gd name="T7" fmla="*/ 340 h 503"/>
                    <a:gd name="T8" fmla="*/ 0 w 576"/>
                    <a:gd name="T9" fmla="*/ 406 h 503"/>
                    <a:gd name="T10" fmla="*/ 81 w 576"/>
                    <a:gd name="T11" fmla="*/ 503 h 503"/>
                    <a:gd name="T12" fmla="*/ 160 w 576"/>
                    <a:gd name="T13" fmla="*/ 438 h 503"/>
                    <a:gd name="T14" fmla="*/ 343 w 576"/>
                    <a:gd name="T15" fmla="*/ 288 h 503"/>
                    <a:gd name="T16" fmla="*/ 526 w 576"/>
                    <a:gd name="T17" fmla="*/ 139 h 503"/>
                    <a:gd name="T18" fmla="*/ 576 w 576"/>
                    <a:gd name="T19" fmla="*/ 99 h 503"/>
                    <a:gd name="T20" fmla="*/ 495 w 576"/>
                    <a:gd name="T21" fmla="*/ 0 h 5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76" h="503">
                      <a:moveTo>
                        <a:pt x="495" y="0"/>
                      </a:moveTo>
                      <a:lnTo>
                        <a:pt x="446" y="40"/>
                      </a:lnTo>
                      <a:lnTo>
                        <a:pt x="263" y="190"/>
                      </a:lnTo>
                      <a:lnTo>
                        <a:pt x="79" y="340"/>
                      </a:lnTo>
                      <a:lnTo>
                        <a:pt x="0" y="406"/>
                      </a:lnTo>
                      <a:lnTo>
                        <a:pt x="81" y="503"/>
                      </a:lnTo>
                      <a:lnTo>
                        <a:pt x="160" y="438"/>
                      </a:lnTo>
                      <a:lnTo>
                        <a:pt x="343" y="288"/>
                      </a:lnTo>
                      <a:lnTo>
                        <a:pt x="526" y="139"/>
                      </a:lnTo>
                      <a:lnTo>
                        <a:pt x="576" y="99"/>
                      </a:ln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0" name="Freeform 143">
                  <a:extLst>
                    <a:ext uri="{FF2B5EF4-FFF2-40B4-BE49-F238E27FC236}">
                      <a16:creationId xmlns:a16="http://schemas.microsoft.com/office/drawing/2014/main" id="{B7C60052-9674-4082-9D89-27CFA8BD6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1" y="2340"/>
                  <a:ext cx="146" cy="123"/>
                </a:xfrm>
                <a:custGeom>
                  <a:avLst/>
                  <a:gdLst>
                    <a:gd name="T0" fmla="*/ 503 w 582"/>
                    <a:gd name="T1" fmla="*/ 0 h 496"/>
                    <a:gd name="T2" fmla="*/ 407 w 582"/>
                    <a:gd name="T3" fmla="*/ 75 h 496"/>
                    <a:gd name="T4" fmla="*/ 214 w 582"/>
                    <a:gd name="T5" fmla="*/ 227 h 496"/>
                    <a:gd name="T6" fmla="*/ 24 w 582"/>
                    <a:gd name="T7" fmla="*/ 377 h 496"/>
                    <a:gd name="T8" fmla="*/ 0 w 582"/>
                    <a:gd name="T9" fmla="*/ 397 h 496"/>
                    <a:gd name="T10" fmla="*/ 79 w 582"/>
                    <a:gd name="T11" fmla="*/ 496 h 496"/>
                    <a:gd name="T12" fmla="*/ 104 w 582"/>
                    <a:gd name="T13" fmla="*/ 476 h 496"/>
                    <a:gd name="T14" fmla="*/ 293 w 582"/>
                    <a:gd name="T15" fmla="*/ 326 h 496"/>
                    <a:gd name="T16" fmla="*/ 485 w 582"/>
                    <a:gd name="T17" fmla="*/ 176 h 496"/>
                    <a:gd name="T18" fmla="*/ 582 w 582"/>
                    <a:gd name="T19" fmla="*/ 101 h 496"/>
                    <a:gd name="T20" fmla="*/ 503 w 582"/>
                    <a:gd name="T21" fmla="*/ 0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82" h="496">
                      <a:moveTo>
                        <a:pt x="503" y="0"/>
                      </a:moveTo>
                      <a:lnTo>
                        <a:pt x="407" y="75"/>
                      </a:lnTo>
                      <a:lnTo>
                        <a:pt x="214" y="227"/>
                      </a:lnTo>
                      <a:lnTo>
                        <a:pt x="24" y="377"/>
                      </a:lnTo>
                      <a:lnTo>
                        <a:pt x="0" y="397"/>
                      </a:lnTo>
                      <a:lnTo>
                        <a:pt x="79" y="496"/>
                      </a:lnTo>
                      <a:lnTo>
                        <a:pt x="104" y="476"/>
                      </a:lnTo>
                      <a:lnTo>
                        <a:pt x="293" y="326"/>
                      </a:lnTo>
                      <a:lnTo>
                        <a:pt x="485" y="176"/>
                      </a:lnTo>
                      <a:lnTo>
                        <a:pt x="582" y="101"/>
                      </a:lnTo>
                      <a:lnTo>
                        <a:pt x="503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1" name="Freeform 144">
                  <a:extLst>
                    <a:ext uri="{FF2B5EF4-FFF2-40B4-BE49-F238E27FC236}">
                      <a16:creationId xmlns:a16="http://schemas.microsoft.com/office/drawing/2014/main" id="{8083E260-6C7A-41C6-9952-A0693E63C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3" y="2184"/>
                  <a:ext cx="147" cy="122"/>
                </a:xfrm>
                <a:custGeom>
                  <a:avLst/>
                  <a:gdLst>
                    <a:gd name="T0" fmla="*/ 511 w 587"/>
                    <a:gd name="T1" fmla="*/ 0 h 488"/>
                    <a:gd name="T2" fmla="*/ 392 w 587"/>
                    <a:gd name="T3" fmla="*/ 89 h 488"/>
                    <a:gd name="T4" fmla="*/ 190 w 587"/>
                    <a:gd name="T5" fmla="*/ 242 h 488"/>
                    <a:gd name="T6" fmla="*/ 0 w 587"/>
                    <a:gd name="T7" fmla="*/ 387 h 488"/>
                    <a:gd name="T8" fmla="*/ 78 w 587"/>
                    <a:gd name="T9" fmla="*/ 488 h 488"/>
                    <a:gd name="T10" fmla="*/ 266 w 587"/>
                    <a:gd name="T11" fmla="*/ 343 h 488"/>
                    <a:gd name="T12" fmla="*/ 468 w 587"/>
                    <a:gd name="T13" fmla="*/ 190 h 488"/>
                    <a:gd name="T14" fmla="*/ 587 w 587"/>
                    <a:gd name="T15" fmla="*/ 102 h 488"/>
                    <a:gd name="T16" fmla="*/ 511 w 587"/>
                    <a:gd name="T17" fmla="*/ 0 h 4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7" h="488">
                      <a:moveTo>
                        <a:pt x="511" y="0"/>
                      </a:moveTo>
                      <a:lnTo>
                        <a:pt x="392" y="89"/>
                      </a:lnTo>
                      <a:lnTo>
                        <a:pt x="190" y="242"/>
                      </a:lnTo>
                      <a:lnTo>
                        <a:pt x="0" y="387"/>
                      </a:lnTo>
                      <a:lnTo>
                        <a:pt x="78" y="488"/>
                      </a:lnTo>
                      <a:lnTo>
                        <a:pt x="266" y="343"/>
                      </a:lnTo>
                      <a:lnTo>
                        <a:pt x="468" y="190"/>
                      </a:lnTo>
                      <a:lnTo>
                        <a:pt x="587" y="102"/>
                      </a:lnTo>
                      <a:lnTo>
                        <a:pt x="51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2" name="Freeform 145">
                  <a:extLst>
                    <a:ext uri="{FF2B5EF4-FFF2-40B4-BE49-F238E27FC236}">
                      <a16:creationId xmlns:a16="http://schemas.microsoft.com/office/drawing/2014/main" id="{11729757-1CD8-47CB-81AF-C55C32B7B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2052"/>
                  <a:ext cx="121" cy="101"/>
                </a:xfrm>
                <a:custGeom>
                  <a:avLst/>
                  <a:gdLst>
                    <a:gd name="T0" fmla="*/ 409 w 484"/>
                    <a:gd name="T1" fmla="*/ 0 h 402"/>
                    <a:gd name="T2" fmla="*/ 195 w 484"/>
                    <a:gd name="T3" fmla="*/ 155 h 402"/>
                    <a:gd name="T4" fmla="*/ 0 w 484"/>
                    <a:gd name="T5" fmla="*/ 300 h 402"/>
                    <a:gd name="T6" fmla="*/ 76 w 484"/>
                    <a:gd name="T7" fmla="*/ 402 h 402"/>
                    <a:gd name="T8" fmla="*/ 270 w 484"/>
                    <a:gd name="T9" fmla="*/ 259 h 402"/>
                    <a:gd name="T10" fmla="*/ 484 w 484"/>
                    <a:gd name="T11" fmla="*/ 103 h 402"/>
                    <a:gd name="T12" fmla="*/ 409 w 484"/>
                    <a:gd name="T13" fmla="*/ 0 h 4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84" h="402">
                      <a:moveTo>
                        <a:pt x="409" y="0"/>
                      </a:moveTo>
                      <a:lnTo>
                        <a:pt x="195" y="155"/>
                      </a:lnTo>
                      <a:lnTo>
                        <a:pt x="0" y="300"/>
                      </a:lnTo>
                      <a:lnTo>
                        <a:pt x="76" y="402"/>
                      </a:lnTo>
                      <a:lnTo>
                        <a:pt x="270" y="259"/>
                      </a:lnTo>
                      <a:lnTo>
                        <a:pt x="484" y="103"/>
                      </a:lnTo>
                      <a:lnTo>
                        <a:pt x="409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5" name="Freeform 148">
                  <a:extLst>
                    <a:ext uri="{FF2B5EF4-FFF2-40B4-BE49-F238E27FC236}">
                      <a16:creationId xmlns:a16="http://schemas.microsoft.com/office/drawing/2014/main" id="{675A7D71-6BF5-43AD-91A8-2F0A024D7A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7" y="1628"/>
                  <a:ext cx="330" cy="190"/>
                </a:xfrm>
                <a:custGeom>
                  <a:avLst/>
                  <a:gdLst>
                    <a:gd name="T0" fmla="*/ 1319 w 1319"/>
                    <a:gd name="T1" fmla="*/ 721 h 762"/>
                    <a:gd name="T2" fmla="*/ 23 w 1319"/>
                    <a:gd name="T3" fmla="*/ 0 h 762"/>
                    <a:gd name="T4" fmla="*/ 0 w 1319"/>
                    <a:gd name="T5" fmla="*/ 43 h 762"/>
                    <a:gd name="T6" fmla="*/ 1296 w 1319"/>
                    <a:gd name="T7" fmla="*/ 762 h 762"/>
                    <a:gd name="T8" fmla="*/ 1319 w 1319"/>
                    <a:gd name="T9" fmla="*/ 721 h 7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19" h="762">
                      <a:moveTo>
                        <a:pt x="1319" y="721"/>
                      </a:moveTo>
                      <a:lnTo>
                        <a:pt x="23" y="0"/>
                      </a:lnTo>
                      <a:lnTo>
                        <a:pt x="0" y="43"/>
                      </a:lnTo>
                      <a:lnTo>
                        <a:pt x="1296" y="762"/>
                      </a:lnTo>
                      <a:lnTo>
                        <a:pt x="1319" y="721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6" name="Rectangle 149">
                  <a:extLst>
                    <a:ext uri="{FF2B5EF4-FFF2-40B4-BE49-F238E27FC236}">
                      <a16:creationId xmlns:a16="http://schemas.microsoft.com/office/drawing/2014/main" id="{06B99D9D-CC15-4CC8-9088-747F9F744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7" name="Rectangle 150">
                  <a:extLst>
                    <a:ext uri="{FF2B5EF4-FFF2-40B4-BE49-F238E27FC236}">
                      <a16:creationId xmlns:a16="http://schemas.microsoft.com/office/drawing/2014/main" id="{2A6EF1F8-BA37-49AD-A0EC-4E6D1F779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8" name="Rectangle 151">
                  <a:extLst>
                    <a:ext uri="{FF2B5EF4-FFF2-40B4-BE49-F238E27FC236}">
                      <a16:creationId xmlns:a16="http://schemas.microsoft.com/office/drawing/2014/main" id="{EB48C9DF-17A8-496D-9D50-BF39F208B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9" name="Rectangle 152">
                  <a:extLst>
                    <a:ext uri="{FF2B5EF4-FFF2-40B4-BE49-F238E27FC236}">
                      <a16:creationId xmlns:a16="http://schemas.microsoft.com/office/drawing/2014/main" id="{73BB7CC2-ED3C-43CF-86E2-F2A4D6EAA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 dirty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0" name="Rectangle 153">
                  <a:extLst>
                    <a:ext uri="{FF2B5EF4-FFF2-40B4-BE49-F238E27FC236}">
                      <a16:creationId xmlns:a16="http://schemas.microsoft.com/office/drawing/2014/main" id="{B87B61DF-6B33-4DBE-9E51-B3D8A5512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1" name="Rectangle 154">
                  <a:extLst>
                    <a:ext uri="{FF2B5EF4-FFF2-40B4-BE49-F238E27FC236}">
                      <a16:creationId xmlns:a16="http://schemas.microsoft.com/office/drawing/2014/main" id="{94DC74ED-8B78-4EC9-A80A-1AA1E3813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2" name="Rectangle 155">
                  <a:extLst>
                    <a:ext uri="{FF2B5EF4-FFF2-40B4-BE49-F238E27FC236}">
                      <a16:creationId xmlns:a16="http://schemas.microsoft.com/office/drawing/2014/main" id="{0A717FAB-FB68-45DD-AE5F-A200F3ADB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3" name="Freeform 156">
                  <a:extLst>
                    <a:ext uri="{FF2B5EF4-FFF2-40B4-BE49-F238E27FC236}">
                      <a16:creationId xmlns:a16="http://schemas.microsoft.com/office/drawing/2014/main" id="{1143E366-8ACD-4E79-977F-F93804B752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2" y="407"/>
                  <a:ext cx="250" cy="1875"/>
                </a:xfrm>
                <a:custGeom>
                  <a:avLst/>
                  <a:gdLst>
                    <a:gd name="T0" fmla="*/ 105 w 1001"/>
                    <a:gd name="T1" fmla="*/ 309 h 7501"/>
                    <a:gd name="T2" fmla="*/ 250 w 1001"/>
                    <a:gd name="T3" fmla="*/ 738 h 7501"/>
                    <a:gd name="T4" fmla="*/ 379 w 1001"/>
                    <a:gd name="T5" fmla="*/ 1152 h 7501"/>
                    <a:gd name="T6" fmla="*/ 494 w 1001"/>
                    <a:gd name="T7" fmla="*/ 1553 h 7501"/>
                    <a:gd name="T8" fmla="*/ 596 w 1001"/>
                    <a:gd name="T9" fmla="*/ 1942 h 7501"/>
                    <a:gd name="T10" fmla="*/ 684 w 1001"/>
                    <a:gd name="T11" fmla="*/ 2320 h 7501"/>
                    <a:gd name="T12" fmla="*/ 759 w 1001"/>
                    <a:gd name="T13" fmla="*/ 2689 h 7501"/>
                    <a:gd name="T14" fmla="*/ 821 w 1001"/>
                    <a:gd name="T15" fmla="*/ 3047 h 7501"/>
                    <a:gd name="T16" fmla="*/ 872 w 1001"/>
                    <a:gd name="T17" fmla="*/ 3398 h 7501"/>
                    <a:gd name="T18" fmla="*/ 909 w 1001"/>
                    <a:gd name="T19" fmla="*/ 3741 h 7501"/>
                    <a:gd name="T20" fmla="*/ 935 w 1001"/>
                    <a:gd name="T21" fmla="*/ 4077 h 7501"/>
                    <a:gd name="T22" fmla="*/ 950 w 1001"/>
                    <a:gd name="T23" fmla="*/ 4407 h 7501"/>
                    <a:gd name="T24" fmla="*/ 953 w 1001"/>
                    <a:gd name="T25" fmla="*/ 4733 h 7501"/>
                    <a:gd name="T26" fmla="*/ 946 w 1001"/>
                    <a:gd name="T27" fmla="*/ 5056 h 7501"/>
                    <a:gd name="T28" fmla="*/ 929 w 1001"/>
                    <a:gd name="T29" fmla="*/ 5374 h 7501"/>
                    <a:gd name="T30" fmla="*/ 902 w 1001"/>
                    <a:gd name="T31" fmla="*/ 5691 h 7501"/>
                    <a:gd name="T32" fmla="*/ 864 w 1001"/>
                    <a:gd name="T33" fmla="*/ 6007 h 7501"/>
                    <a:gd name="T34" fmla="*/ 818 w 1001"/>
                    <a:gd name="T35" fmla="*/ 6322 h 7501"/>
                    <a:gd name="T36" fmla="*/ 763 w 1001"/>
                    <a:gd name="T37" fmla="*/ 6638 h 7501"/>
                    <a:gd name="T38" fmla="*/ 700 w 1001"/>
                    <a:gd name="T39" fmla="*/ 6955 h 7501"/>
                    <a:gd name="T40" fmla="*/ 627 w 1001"/>
                    <a:gd name="T41" fmla="*/ 7275 h 7501"/>
                    <a:gd name="T42" fmla="*/ 622 w 1001"/>
                    <a:gd name="T43" fmla="*/ 7501 h 7501"/>
                    <a:gd name="T44" fmla="*/ 700 w 1001"/>
                    <a:gd name="T45" fmla="*/ 7178 h 7501"/>
                    <a:gd name="T46" fmla="*/ 768 w 1001"/>
                    <a:gd name="T47" fmla="*/ 6858 h 7501"/>
                    <a:gd name="T48" fmla="*/ 829 w 1001"/>
                    <a:gd name="T49" fmla="*/ 6541 h 7501"/>
                    <a:gd name="T50" fmla="*/ 882 w 1001"/>
                    <a:gd name="T51" fmla="*/ 6224 h 7501"/>
                    <a:gd name="T52" fmla="*/ 925 w 1001"/>
                    <a:gd name="T53" fmla="*/ 5907 h 7501"/>
                    <a:gd name="T54" fmla="*/ 959 w 1001"/>
                    <a:gd name="T55" fmla="*/ 5590 h 7501"/>
                    <a:gd name="T56" fmla="*/ 983 w 1001"/>
                    <a:gd name="T57" fmla="*/ 5270 h 7501"/>
                    <a:gd name="T58" fmla="*/ 997 w 1001"/>
                    <a:gd name="T59" fmla="*/ 4949 h 7501"/>
                    <a:gd name="T60" fmla="*/ 1001 w 1001"/>
                    <a:gd name="T61" fmla="*/ 4625 h 7501"/>
                    <a:gd name="T62" fmla="*/ 994 w 1001"/>
                    <a:gd name="T63" fmla="*/ 4296 h 7501"/>
                    <a:gd name="T64" fmla="*/ 975 w 1001"/>
                    <a:gd name="T65" fmla="*/ 3962 h 7501"/>
                    <a:gd name="T66" fmla="*/ 946 w 1001"/>
                    <a:gd name="T67" fmla="*/ 3622 h 7501"/>
                    <a:gd name="T68" fmla="*/ 903 w 1001"/>
                    <a:gd name="T69" fmla="*/ 3275 h 7501"/>
                    <a:gd name="T70" fmla="*/ 850 w 1001"/>
                    <a:gd name="T71" fmla="*/ 2921 h 7501"/>
                    <a:gd name="T72" fmla="*/ 783 w 1001"/>
                    <a:gd name="T73" fmla="*/ 2558 h 7501"/>
                    <a:gd name="T74" fmla="*/ 704 w 1001"/>
                    <a:gd name="T75" fmla="*/ 2186 h 7501"/>
                    <a:gd name="T76" fmla="*/ 611 w 1001"/>
                    <a:gd name="T77" fmla="*/ 1801 h 7501"/>
                    <a:gd name="T78" fmla="*/ 503 w 1001"/>
                    <a:gd name="T79" fmla="*/ 1408 h 7501"/>
                    <a:gd name="T80" fmla="*/ 383 w 1001"/>
                    <a:gd name="T81" fmla="*/ 1000 h 7501"/>
                    <a:gd name="T82" fmla="*/ 248 w 1001"/>
                    <a:gd name="T83" fmla="*/ 581 h 7501"/>
                    <a:gd name="T84" fmla="*/ 98 w 1001"/>
                    <a:gd name="T85" fmla="*/ 148 h 7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001" h="7501">
                      <a:moveTo>
                        <a:pt x="0" y="16"/>
                      </a:moveTo>
                      <a:lnTo>
                        <a:pt x="53" y="163"/>
                      </a:lnTo>
                      <a:lnTo>
                        <a:pt x="105" y="309"/>
                      </a:lnTo>
                      <a:lnTo>
                        <a:pt x="155" y="454"/>
                      </a:lnTo>
                      <a:lnTo>
                        <a:pt x="203" y="597"/>
                      </a:lnTo>
                      <a:lnTo>
                        <a:pt x="250" y="738"/>
                      </a:lnTo>
                      <a:lnTo>
                        <a:pt x="294" y="877"/>
                      </a:lnTo>
                      <a:lnTo>
                        <a:pt x="338" y="1015"/>
                      </a:lnTo>
                      <a:lnTo>
                        <a:pt x="379" y="1152"/>
                      </a:lnTo>
                      <a:lnTo>
                        <a:pt x="419" y="1286"/>
                      </a:lnTo>
                      <a:lnTo>
                        <a:pt x="458" y="1421"/>
                      </a:lnTo>
                      <a:lnTo>
                        <a:pt x="494" y="1553"/>
                      </a:lnTo>
                      <a:lnTo>
                        <a:pt x="530" y="1684"/>
                      </a:lnTo>
                      <a:lnTo>
                        <a:pt x="564" y="1814"/>
                      </a:lnTo>
                      <a:lnTo>
                        <a:pt x="596" y="1942"/>
                      </a:lnTo>
                      <a:lnTo>
                        <a:pt x="627" y="2069"/>
                      </a:lnTo>
                      <a:lnTo>
                        <a:pt x="656" y="2196"/>
                      </a:lnTo>
                      <a:lnTo>
                        <a:pt x="684" y="2320"/>
                      </a:lnTo>
                      <a:lnTo>
                        <a:pt x="710" y="2444"/>
                      </a:lnTo>
                      <a:lnTo>
                        <a:pt x="736" y="2567"/>
                      </a:lnTo>
                      <a:lnTo>
                        <a:pt x="759" y="2689"/>
                      </a:lnTo>
                      <a:lnTo>
                        <a:pt x="781" y="2809"/>
                      </a:lnTo>
                      <a:lnTo>
                        <a:pt x="802" y="2928"/>
                      </a:lnTo>
                      <a:lnTo>
                        <a:pt x="821" y="3047"/>
                      </a:lnTo>
                      <a:lnTo>
                        <a:pt x="840" y="3165"/>
                      </a:lnTo>
                      <a:lnTo>
                        <a:pt x="856" y="3282"/>
                      </a:lnTo>
                      <a:lnTo>
                        <a:pt x="872" y="3398"/>
                      </a:lnTo>
                      <a:lnTo>
                        <a:pt x="885" y="3513"/>
                      </a:lnTo>
                      <a:lnTo>
                        <a:pt x="898" y="3627"/>
                      </a:lnTo>
                      <a:lnTo>
                        <a:pt x="909" y="3741"/>
                      </a:lnTo>
                      <a:lnTo>
                        <a:pt x="919" y="3854"/>
                      </a:lnTo>
                      <a:lnTo>
                        <a:pt x="928" y="3966"/>
                      </a:lnTo>
                      <a:lnTo>
                        <a:pt x="935" y="4077"/>
                      </a:lnTo>
                      <a:lnTo>
                        <a:pt x="941" y="4187"/>
                      </a:lnTo>
                      <a:lnTo>
                        <a:pt x="946" y="4297"/>
                      </a:lnTo>
                      <a:lnTo>
                        <a:pt x="950" y="4407"/>
                      </a:lnTo>
                      <a:lnTo>
                        <a:pt x="952" y="4517"/>
                      </a:lnTo>
                      <a:lnTo>
                        <a:pt x="953" y="4625"/>
                      </a:lnTo>
                      <a:lnTo>
                        <a:pt x="953" y="4733"/>
                      </a:lnTo>
                      <a:lnTo>
                        <a:pt x="952" y="4841"/>
                      </a:lnTo>
                      <a:lnTo>
                        <a:pt x="950" y="4948"/>
                      </a:lnTo>
                      <a:lnTo>
                        <a:pt x="946" y="5056"/>
                      </a:lnTo>
                      <a:lnTo>
                        <a:pt x="942" y="5162"/>
                      </a:lnTo>
                      <a:lnTo>
                        <a:pt x="935" y="5268"/>
                      </a:lnTo>
                      <a:lnTo>
                        <a:pt x="929" y="5374"/>
                      </a:lnTo>
                      <a:lnTo>
                        <a:pt x="921" y="5480"/>
                      </a:lnTo>
                      <a:lnTo>
                        <a:pt x="912" y="5586"/>
                      </a:lnTo>
                      <a:lnTo>
                        <a:pt x="902" y="5691"/>
                      </a:lnTo>
                      <a:lnTo>
                        <a:pt x="890" y="5796"/>
                      </a:lnTo>
                      <a:lnTo>
                        <a:pt x="877" y="5902"/>
                      </a:lnTo>
                      <a:lnTo>
                        <a:pt x="864" y="6007"/>
                      </a:lnTo>
                      <a:lnTo>
                        <a:pt x="850" y="6111"/>
                      </a:lnTo>
                      <a:lnTo>
                        <a:pt x="834" y="6216"/>
                      </a:lnTo>
                      <a:lnTo>
                        <a:pt x="818" y="6322"/>
                      </a:lnTo>
                      <a:lnTo>
                        <a:pt x="801" y="6427"/>
                      </a:lnTo>
                      <a:lnTo>
                        <a:pt x="783" y="6532"/>
                      </a:lnTo>
                      <a:lnTo>
                        <a:pt x="763" y="6638"/>
                      </a:lnTo>
                      <a:lnTo>
                        <a:pt x="743" y="6743"/>
                      </a:lnTo>
                      <a:lnTo>
                        <a:pt x="722" y="6849"/>
                      </a:lnTo>
                      <a:lnTo>
                        <a:pt x="700" y="6955"/>
                      </a:lnTo>
                      <a:lnTo>
                        <a:pt x="677" y="7061"/>
                      </a:lnTo>
                      <a:lnTo>
                        <a:pt x="652" y="7167"/>
                      </a:lnTo>
                      <a:lnTo>
                        <a:pt x="627" y="7275"/>
                      </a:lnTo>
                      <a:lnTo>
                        <a:pt x="603" y="7382"/>
                      </a:lnTo>
                      <a:lnTo>
                        <a:pt x="576" y="7489"/>
                      </a:lnTo>
                      <a:lnTo>
                        <a:pt x="622" y="7501"/>
                      </a:lnTo>
                      <a:lnTo>
                        <a:pt x="648" y="7392"/>
                      </a:lnTo>
                      <a:lnTo>
                        <a:pt x="674" y="7285"/>
                      </a:lnTo>
                      <a:lnTo>
                        <a:pt x="700" y="7178"/>
                      </a:lnTo>
                      <a:lnTo>
                        <a:pt x="723" y="7072"/>
                      </a:lnTo>
                      <a:lnTo>
                        <a:pt x="746" y="6965"/>
                      </a:lnTo>
                      <a:lnTo>
                        <a:pt x="768" y="6858"/>
                      </a:lnTo>
                      <a:lnTo>
                        <a:pt x="790" y="6752"/>
                      </a:lnTo>
                      <a:lnTo>
                        <a:pt x="810" y="6646"/>
                      </a:lnTo>
                      <a:lnTo>
                        <a:pt x="829" y="6541"/>
                      </a:lnTo>
                      <a:lnTo>
                        <a:pt x="849" y="6435"/>
                      </a:lnTo>
                      <a:lnTo>
                        <a:pt x="865" y="6329"/>
                      </a:lnTo>
                      <a:lnTo>
                        <a:pt x="882" y="6224"/>
                      </a:lnTo>
                      <a:lnTo>
                        <a:pt x="898" y="6118"/>
                      </a:lnTo>
                      <a:lnTo>
                        <a:pt x="912" y="6013"/>
                      </a:lnTo>
                      <a:lnTo>
                        <a:pt x="925" y="5907"/>
                      </a:lnTo>
                      <a:lnTo>
                        <a:pt x="938" y="5801"/>
                      </a:lnTo>
                      <a:lnTo>
                        <a:pt x="948" y="5696"/>
                      </a:lnTo>
                      <a:lnTo>
                        <a:pt x="959" y="5590"/>
                      </a:lnTo>
                      <a:lnTo>
                        <a:pt x="968" y="5484"/>
                      </a:lnTo>
                      <a:lnTo>
                        <a:pt x="977" y="5378"/>
                      </a:lnTo>
                      <a:lnTo>
                        <a:pt x="983" y="5270"/>
                      </a:lnTo>
                      <a:lnTo>
                        <a:pt x="990" y="5164"/>
                      </a:lnTo>
                      <a:lnTo>
                        <a:pt x="994" y="5057"/>
                      </a:lnTo>
                      <a:lnTo>
                        <a:pt x="997" y="4949"/>
                      </a:lnTo>
                      <a:lnTo>
                        <a:pt x="1000" y="4842"/>
                      </a:lnTo>
                      <a:lnTo>
                        <a:pt x="1001" y="4733"/>
                      </a:lnTo>
                      <a:lnTo>
                        <a:pt x="1001" y="4625"/>
                      </a:lnTo>
                      <a:lnTo>
                        <a:pt x="1000" y="4516"/>
                      </a:lnTo>
                      <a:lnTo>
                        <a:pt x="997" y="4406"/>
                      </a:lnTo>
                      <a:lnTo>
                        <a:pt x="994" y="4296"/>
                      </a:lnTo>
                      <a:lnTo>
                        <a:pt x="988" y="4186"/>
                      </a:lnTo>
                      <a:lnTo>
                        <a:pt x="983" y="4075"/>
                      </a:lnTo>
                      <a:lnTo>
                        <a:pt x="975" y="3962"/>
                      </a:lnTo>
                      <a:lnTo>
                        <a:pt x="966" y="3850"/>
                      </a:lnTo>
                      <a:lnTo>
                        <a:pt x="956" y="3736"/>
                      </a:lnTo>
                      <a:lnTo>
                        <a:pt x="946" y="3622"/>
                      </a:lnTo>
                      <a:lnTo>
                        <a:pt x="933" y="3508"/>
                      </a:lnTo>
                      <a:lnTo>
                        <a:pt x="919" y="3392"/>
                      </a:lnTo>
                      <a:lnTo>
                        <a:pt x="903" y="3275"/>
                      </a:lnTo>
                      <a:lnTo>
                        <a:pt x="887" y="3159"/>
                      </a:lnTo>
                      <a:lnTo>
                        <a:pt x="869" y="3040"/>
                      </a:lnTo>
                      <a:lnTo>
                        <a:pt x="850" y="2921"/>
                      </a:lnTo>
                      <a:lnTo>
                        <a:pt x="829" y="2800"/>
                      </a:lnTo>
                      <a:lnTo>
                        <a:pt x="806" y="2680"/>
                      </a:lnTo>
                      <a:lnTo>
                        <a:pt x="783" y="2558"/>
                      </a:lnTo>
                      <a:lnTo>
                        <a:pt x="758" y="2434"/>
                      </a:lnTo>
                      <a:lnTo>
                        <a:pt x="731" y="2310"/>
                      </a:lnTo>
                      <a:lnTo>
                        <a:pt x="704" y="2186"/>
                      </a:lnTo>
                      <a:lnTo>
                        <a:pt x="674" y="2059"/>
                      </a:lnTo>
                      <a:lnTo>
                        <a:pt x="643" y="1931"/>
                      </a:lnTo>
                      <a:lnTo>
                        <a:pt x="611" y="1801"/>
                      </a:lnTo>
                      <a:lnTo>
                        <a:pt x="577" y="1672"/>
                      </a:lnTo>
                      <a:lnTo>
                        <a:pt x="541" y="1540"/>
                      </a:lnTo>
                      <a:lnTo>
                        <a:pt x="503" y="1408"/>
                      </a:lnTo>
                      <a:lnTo>
                        <a:pt x="466" y="1273"/>
                      </a:lnTo>
                      <a:lnTo>
                        <a:pt x="426" y="1138"/>
                      </a:lnTo>
                      <a:lnTo>
                        <a:pt x="383" y="1000"/>
                      </a:lnTo>
                      <a:lnTo>
                        <a:pt x="340" y="862"/>
                      </a:lnTo>
                      <a:lnTo>
                        <a:pt x="295" y="722"/>
                      </a:lnTo>
                      <a:lnTo>
                        <a:pt x="248" y="581"/>
                      </a:lnTo>
                      <a:lnTo>
                        <a:pt x="200" y="439"/>
                      </a:lnTo>
                      <a:lnTo>
                        <a:pt x="150" y="294"/>
                      </a:lnTo>
                      <a:lnTo>
                        <a:pt x="98" y="148"/>
                      </a:lnTo>
                      <a:lnTo>
                        <a:pt x="45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4" name="Freeform 157">
                  <a:extLst>
                    <a:ext uri="{FF2B5EF4-FFF2-40B4-BE49-F238E27FC236}">
                      <a16:creationId xmlns:a16="http://schemas.microsoft.com/office/drawing/2014/main" id="{15D92DC4-3C5A-49C2-9A7C-753216C98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2" y="408"/>
                  <a:ext cx="131" cy="1730"/>
                </a:xfrm>
                <a:custGeom>
                  <a:avLst/>
                  <a:gdLst>
                    <a:gd name="T0" fmla="*/ 313 w 524"/>
                    <a:gd name="T1" fmla="*/ 222 h 6920"/>
                    <a:gd name="T2" fmla="*/ 360 w 524"/>
                    <a:gd name="T3" fmla="*/ 654 h 6920"/>
                    <a:gd name="T4" fmla="*/ 400 w 524"/>
                    <a:gd name="T5" fmla="*/ 1085 h 6920"/>
                    <a:gd name="T6" fmla="*/ 431 w 524"/>
                    <a:gd name="T7" fmla="*/ 1517 h 6920"/>
                    <a:gd name="T8" fmla="*/ 455 w 524"/>
                    <a:gd name="T9" fmla="*/ 1948 h 6920"/>
                    <a:gd name="T10" fmla="*/ 470 w 524"/>
                    <a:gd name="T11" fmla="*/ 2380 h 6920"/>
                    <a:gd name="T12" fmla="*/ 476 w 524"/>
                    <a:gd name="T13" fmla="*/ 2811 h 6920"/>
                    <a:gd name="T14" fmla="*/ 472 w 524"/>
                    <a:gd name="T15" fmla="*/ 3242 h 6920"/>
                    <a:gd name="T16" fmla="*/ 459 w 524"/>
                    <a:gd name="T17" fmla="*/ 3674 h 6920"/>
                    <a:gd name="T18" fmla="*/ 441 w 524"/>
                    <a:gd name="T19" fmla="*/ 3997 h 6920"/>
                    <a:gd name="T20" fmla="*/ 427 w 524"/>
                    <a:gd name="T21" fmla="*/ 4213 h 6920"/>
                    <a:gd name="T22" fmla="*/ 410 w 524"/>
                    <a:gd name="T23" fmla="*/ 4428 h 6920"/>
                    <a:gd name="T24" fmla="*/ 389 w 524"/>
                    <a:gd name="T25" fmla="*/ 4644 h 6920"/>
                    <a:gd name="T26" fmla="*/ 367 w 524"/>
                    <a:gd name="T27" fmla="*/ 4860 h 6920"/>
                    <a:gd name="T28" fmla="*/ 341 w 524"/>
                    <a:gd name="T29" fmla="*/ 5075 h 6920"/>
                    <a:gd name="T30" fmla="*/ 313 w 524"/>
                    <a:gd name="T31" fmla="*/ 5291 h 6920"/>
                    <a:gd name="T32" fmla="*/ 281 w 524"/>
                    <a:gd name="T33" fmla="*/ 5507 h 6920"/>
                    <a:gd name="T34" fmla="*/ 246 w 524"/>
                    <a:gd name="T35" fmla="*/ 5722 h 6920"/>
                    <a:gd name="T36" fmla="*/ 208 w 524"/>
                    <a:gd name="T37" fmla="*/ 5938 h 6920"/>
                    <a:gd name="T38" fmla="*/ 168 w 524"/>
                    <a:gd name="T39" fmla="*/ 6154 h 6920"/>
                    <a:gd name="T40" fmla="*/ 124 w 524"/>
                    <a:gd name="T41" fmla="*/ 6369 h 6920"/>
                    <a:gd name="T42" fmla="*/ 76 w 524"/>
                    <a:gd name="T43" fmla="*/ 6585 h 6920"/>
                    <a:gd name="T44" fmla="*/ 26 w 524"/>
                    <a:gd name="T45" fmla="*/ 6801 h 6920"/>
                    <a:gd name="T46" fmla="*/ 46 w 524"/>
                    <a:gd name="T47" fmla="*/ 6920 h 6920"/>
                    <a:gd name="T48" fmla="*/ 98 w 524"/>
                    <a:gd name="T49" fmla="*/ 6704 h 6920"/>
                    <a:gd name="T50" fmla="*/ 147 w 524"/>
                    <a:gd name="T51" fmla="*/ 6487 h 6920"/>
                    <a:gd name="T52" fmla="*/ 193 w 524"/>
                    <a:gd name="T53" fmla="*/ 6271 h 6920"/>
                    <a:gd name="T54" fmla="*/ 235 w 524"/>
                    <a:gd name="T55" fmla="*/ 6055 h 6920"/>
                    <a:gd name="T56" fmla="*/ 275 w 524"/>
                    <a:gd name="T57" fmla="*/ 5839 h 6920"/>
                    <a:gd name="T58" fmla="*/ 312 w 524"/>
                    <a:gd name="T59" fmla="*/ 5622 h 6920"/>
                    <a:gd name="T60" fmla="*/ 344 w 524"/>
                    <a:gd name="T61" fmla="*/ 5406 h 6920"/>
                    <a:gd name="T62" fmla="*/ 375 w 524"/>
                    <a:gd name="T63" fmla="*/ 5189 h 6920"/>
                    <a:gd name="T64" fmla="*/ 402 w 524"/>
                    <a:gd name="T65" fmla="*/ 4973 h 6920"/>
                    <a:gd name="T66" fmla="*/ 427 w 524"/>
                    <a:gd name="T67" fmla="*/ 4757 h 6920"/>
                    <a:gd name="T68" fmla="*/ 448 w 524"/>
                    <a:gd name="T69" fmla="*/ 4541 h 6920"/>
                    <a:gd name="T70" fmla="*/ 467 w 524"/>
                    <a:gd name="T71" fmla="*/ 4325 h 6920"/>
                    <a:gd name="T72" fmla="*/ 482 w 524"/>
                    <a:gd name="T73" fmla="*/ 4109 h 6920"/>
                    <a:gd name="T74" fmla="*/ 495 w 524"/>
                    <a:gd name="T75" fmla="*/ 3891 h 6920"/>
                    <a:gd name="T76" fmla="*/ 515 w 524"/>
                    <a:gd name="T77" fmla="*/ 3459 h 6920"/>
                    <a:gd name="T78" fmla="*/ 523 w 524"/>
                    <a:gd name="T79" fmla="*/ 3027 h 6920"/>
                    <a:gd name="T80" fmla="*/ 521 w 524"/>
                    <a:gd name="T81" fmla="*/ 2595 h 6920"/>
                    <a:gd name="T82" fmla="*/ 511 w 524"/>
                    <a:gd name="T83" fmla="*/ 2163 h 6920"/>
                    <a:gd name="T84" fmla="*/ 492 w 524"/>
                    <a:gd name="T85" fmla="*/ 1729 h 6920"/>
                    <a:gd name="T86" fmla="*/ 464 w 524"/>
                    <a:gd name="T87" fmla="*/ 1297 h 6920"/>
                    <a:gd name="T88" fmla="*/ 428 w 524"/>
                    <a:gd name="T89" fmla="*/ 865 h 6920"/>
                    <a:gd name="T90" fmla="*/ 385 w 524"/>
                    <a:gd name="T91" fmla="*/ 433 h 6920"/>
                    <a:gd name="T92" fmla="*/ 335 w 524"/>
                    <a:gd name="T93" fmla="*/ 0 h 69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524" h="6920">
                      <a:moveTo>
                        <a:pt x="287" y="6"/>
                      </a:moveTo>
                      <a:lnTo>
                        <a:pt x="313" y="222"/>
                      </a:lnTo>
                      <a:lnTo>
                        <a:pt x="338" y="438"/>
                      </a:lnTo>
                      <a:lnTo>
                        <a:pt x="360" y="654"/>
                      </a:lnTo>
                      <a:lnTo>
                        <a:pt x="380" y="869"/>
                      </a:lnTo>
                      <a:lnTo>
                        <a:pt x="400" y="1085"/>
                      </a:lnTo>
                      <a:lnTo>
                        <a:pt x="416" y="1301"/>
                      </a:lnTo>
                      <a:lnTo>
                        <a:pt x="431" y="1517"/>
                      </a:lnTo>
                      <a:lnTo>
                        <a:pt x="444" y="1732"/>
                      </a:lnTo>
                      <a:lnTo>
                        <a:pt x="455" y="1948"/>
                      </a:lnTo>
                      <a:lnTo>
                        <a:pt x="463" y="2164"/>
                      </a:lnTo>
                      <a:lnTo>
                        <a:pt x="470" y="2380"/>
                      </a:lnTo>
                      <a:lnTo>
                        <a:pt x="473" y="2595"/>
                      </a:lnTo>
                      <a:lnTo>
                        <a:pt x="476" y="2811"/>
                      </a:lnTo>
                      <a:lnTo>
                        <a:pt x="475" y="3027"/>
                      </a:lnTo>
                      <a:lnTo>
                        <a:pt x="472" y="3242"/>
                      </a:lnTo>
                      <a:lnTo>
                        <a:pt x="467" y="3458"/>
                      </a:lnTo>
                      <a:lnTo>
                        <a:pt x="459" y="3674"/>
                      </a:lnTo>
                      <a:lnTo>
                        <a:pt x="448" y="3890"/>
                      </a:lnTo>
                      <a:lnTo>
                        <a:pt x="441" y="3997"/>
                      </a:lnTo>
                      <a:lnTo>
                        <a:pt x="435" y="4105"/>
                      </a:lnTo>
                      <a:lnTo>
                        <a:pt x="427" y="4213"/>
                      </a:lnTo>
                      <a:lnTo>
                        <a:pt x="419" y="4321"/>
                      </a:lnTo>
                      <a:lnTo>
                        <a:pt x="410" y="4428"/>
                      </a:lnTo>
                      <a:lnTo>
                        <a:pt x="400" y="4537"/>
                      </a:lnTo>
                      <a:lnTo>
                        <a:pt x="389" y="4644"/>
                      </a:lnTo>
                      <a:lnTo>
                        <a:pt x="379" y="4752"/>
                      </a:lnTo>
                      <a:lnTo>
                        <a:pt x="367" y="4860"/>
                      </a:lnTo>
                      <a:lnTo>
                        <a:pt x="354" y="4968"/>
                      </a:lnTo>
                      <a:lnTo>
                        <a:pt x="341" y="5075"/>
                      </a:lnTo>
                      <a:lnTo>
                        <a:pt x="327" y="5184"/>
                      </a:lnTo>
                      <a:lnTo>
                        <a:pt x="313" y="5291"/>
                      </a:lnTo>
                      <a:lnTo>
                        <a:pt x="297" y="5399"/>
                      </a:lnTo>
                      <a:lnTo>
                        <a:pt x="281" y="5507"/>
                      </a:lnTo>
                      <a:lnTo>
                        <a:pt x="264" y="5615"/>
                      </a:lnTo>
                      <a:lnTo>
                        <a:pt x="246" y="5722"/>
                      </a:lnTo>
                      <a:lnTo>
                        <a:pt x="228" y="5831"/>
                      </a:lnTo>
                      <a:lnTo>
                        <a:pt x="208" y="5938"/>
                      </a:lnTo>
                      <a:lnTo>
                        <a:pt x="189" y="6046"/>
                      </a:lnTo>
                      <a:lnTo>
                        <a:pt x="168" y="6154"/>
                      </a:lnTo>
                      <a:lnTo>
                        <a:pt x="146" y="6262"/>
                      </a:lnTo>
                      <a:lnTo>
                        <a:pt x="124" y="6369"/>
                      </a:lnTo>
                      <a:lnTo>
                        <a:pt x="101" y="6478"/>
                      </a:lnTo>
                      <a:lnTo>
                        <a:pt x="76" y="6585"/>
                      </a:lnTo>
                      <a:lnTo>
                        <a:pt x="52" y="6693"/>
                      </a:lnTo>
                      <a:lnTo>
                        <a:pt x="26" y="6801"/>
                      </a:lnTo>
                      <a:lnTo>
                        <a:pt x="0" y="6909"/>
                      </a:lnTo>
                      <a:lnTo>
                        <a:pt x="46" y="6920"/>
                      </a:lnTo>
                      <a:lnTo>
                        <a:pt x="72" y="6812"/>
                      </a:lnTo>
                      <a:lnTo>
                        <a:pt x="98" y="6704"/>
                      </a:lnTo>
                      <a:lnTo>
                        <a:pt x="123" y="6596"/>
                      </a:lnTo>
                      <a:lnTo>
                        <a:pt x="147" y="6487"/>
                      </a:lnTo>
                      <a:lnTo>
                        <a:pt x="171" y="6379"/>
                      </a:lnTo>
                      <a:lnTo>
                        <a:pt x="193" y="6271"/>
                      </a:lnTo>
                      <a:lnTo>
                        <a:pt x="215" y="6163"/>
                      </a:lnTo>
                      <a:lnTo>
                        <a:pt x="235" y="6055"/>
                      </a:lnTo>
                      <a:lnTo>
                        <a:pt x="256" y="5946"/>
                      </a:lnTo>
                      <a:lnTo>
                        <a:pt x="275" y="5839"/>
                      </a:lnTo>
                      <a:lnTo>
                        <a:pt x="294" y="5730"/>
                      </a:lnTo>
                      <a:lnTo>
                        <a:pt x="312" y="5622"/>
                      </a:lnTo>
                      <a:lnTo>
                        <a:pt x="329" y="5514"/>
                      </a:lnTo>
                      <a:lnTo>
                        <a:pt x="344" y="5406"/>
                      </a:lnTo>
                      <a:lnTo>
                        <a:pt x="360" y="5298"/>
                      </a:lnTo>
                      <a:lnTo>
                        <a:pt x="375" y="5189"/>
                      </a:lnTo>
                      <a:lnTo>
                        <a:pt x="389" y="5082"/>
                      </a:lnTo>
                      <a:lnTo>
                        <a:pt x="402" y="4973"/>
                      </a:lnTo>
                      <a:lnTo>
                        <a:pt x="415" y="4866"/>
                      </a:lnTo>
                      <a:lnTo>
                        <a:pt x="427" y="4757"/>
                      </a:lnTo>
                      <a:lnTo>
                        <a:pt x="437" y="4649"/>
                      </a:lnTo>
                      <a:lnTo>
                        <a:pt x="448" y="4541"/>
                      </a:lnTo>
                      <a:lnTo>
                        <a:pt x="458" y="4432"/>
                      </a:lnTo>
                      <a:lnTo>
                        <a:pt x="467" y="4325"/>
                      </a:lnTo>
                      <a:lnTo>
                        <a:pt x="475" y="4216"/>
                      </a:lnTo>
                      <a:lnTo>
                        <a:pt x="482" y="4109"/>
                      </a:lnTo>
                      <a:lnTo>
                        <a:pt x="489" y="4000"/>
                      </a:lnTo>
                      <a:lnTo>
                        <a:pt x="495" y="3891"/>
                      </a:lnTo>
                      <a:lnTo>
                        <a:pt x="506" y="3675"/>
                      </a:lnTo>
                      <a:lnTo>
                        <a:pt x="515" y="3459"/>
                      </a:lnTo>
                      <a:lnTo>
                        <a:pt x="520" y="3243"/>
                      </a:lnTo>
                      <a:lnTo>
                        <a:pt x="523" y="3027"/>
                      </a:lnTo>
                      <a:lnTo>
                        <a:pt x="524" y="2811"/>
                      </a:lnTo>
                      <a:lnTo>
                        <a:pt x="521" y="2595"/>
                      </a:lnTo>
                      <a:lnTo>
                        <a:pt x="517" y="2379"/>
                      </a:lnTo>
                      <a:lnTo>
                        <a:pt x="511" y="2163"/>
                      </a:lnTo>
                      <a:lnTo>
                        <a:pt x="503" y="1945"/>
                      </a:lnTo>
                      <a:lnTo>
                        <a:pt x="492" y="1729"/>
                      </a:lnTo>
                      <a:lnTo>
                        <a:pt x="479" y="1513"/>
                      </a:lnTo>
                      <a:lnTo>
                        <a:pt x="464" y="1297"/>
                      </a:lnTo>
                      <a:lnTo>
                        <a:pt x="448" y="1081"/>
                      </a:lnTo>
                      <a:lnTo>
                        <a:pt x="428" y="865"/>
                      </a:lnTo>
                      <a:lnTo>
                        <a:pt x="407" y="649"/>
                      </a:lnTo>
                      <a:lnTo>
                        <a:pt x="385" y="433"/>
                      </a:lnTo>
                      <a:lnTo>
                        <a:pt x="361" y="216"/>
                      </a:lnTo>
                      <a:lnTo>
                        <a:pt x="335" y="0"/>
                      </a:lnTo>
                      <a:lnTo>
                        <a:pt x="287" y="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5" name="Freeform 158">
                  <a:extLst>
                    <a:ext uri="{FF2B5EF4-FFF2-40B4-BE49-F238E27FC236}">
                      <a16:creationId xmlns:a16="http://schemas.microsoft.com/office/drawing/2014/main" id="{DD965920-4496-4B2B-90D7-343B1619B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8" y="408"/>
                  <a:ext cx="60" cy="1334"/>
                </a:xfrm>
                <a:custGeom>
                  <a:avLst/>
                  <a:gdLst>
                    <a:gd name="T0" fmla="*/ 24 w 239"/>
                    <a:gd name="T1" fmla="*/ 183 h 5335"/>
                    <a:gd name="T2" fmla="*/ 67 w 239"/>
                    <a:gd name="T3" fmla="*/ 531 h 5335"/>
                    <a:gd name="T4" fmla="*/ 104 w 239"/>
                    <a:gd name="T5" fmla="*/ 876 h 5335"/>
                    <a:gd name="T6" fmla="*/ 134 w 239"/>
                    <a:gd name="T7" fmla="*/ 1218 h 5335"/>
                    <a:gd name="T8" fmla="*/ 158 w 239"/>
                    <a:gd name="T9" fmla="*/ 1555 h 5335"/>
                    <a:gd name="T10" fmla="*/ 176 w 239"/>
                    <a:gd name="T11" fmla="*/ 1892 h 5335"/>
                    <a:gd name="T12" fmla="*/ 186 w 239"/>
                    <a:gd name="T13" fmla="*/ 2224 h 5335"/>
                    <a:gd name="T14" fmla="*/ 191 w 239"/>
                    <a:gd name="T15" fmla="*/ 2557 h 5335"/>
                    <a:gd name="T16" fmla="*/ 190 w 239"/>
                    <a:gd name="T17" fmla="*/ 2886 h 5335"/>
                    <a:gd name="T18" fmla="*/ 182 w 239"/>
                    <a:gd name="T19" fmla="*/ 3214 h 5335"/>
                    <a:gd name="T20" fmla="*/ 169 w 239"/>
                    <a:gd name="T21" fmla="*/ 3540 h 5335"/>
                    <a:gd name="T22" fmla="*/ 151 w 239"/>
                    <a:gd name="T23" fmla="*/ 3866 h 5335"/>
                    <a:gd name="T24" fmla="*/ 126 w 239"/>
                    <a:gd name="T25" fmla="*/ 4191 h 5335"/>
                    <a:gd name="T26" fmla="*/ 97 w 239"/>
                    <a:gd name="T27" fmla="*/ 4516 h 5335"/>
                    <a:gd name="T28" fmla="*/ 62 w 239"/>
                    <a:gd name="T29" fmla="*/ 4841 h 5335"/>
                    <a:gd name="T30" fmla="*/ 22 w 239"/>
                    <a:gd name="T31" fmla="*/ 5165 h 5335"/>
                    <a:gd name="T32" fmla="*/ 46 w 239"/>
                    <a:gd name="T33" fmla="*/ 5335 h 5335"/>
                    <a:gd name="T34" fmla="*/ 90 w 239"/>
                    <a:gd name="T35" fmla="*/ 5009 h 5335"/>
                    <a:gd name="T36" fmla="*/ 128 w 239"/>
                    <a:gd name="T37" fmla="*/ 4684 h 5335"/>
                    <a:gd name="T38" fmla="*/ 160 w 239"/>
                    <a:gd name="T39" fmla="*/ 4358 h 5335"/>
                    <a:gd name="T40" fmla="*/ 187 w 239"/>
                    <a:gd name="T41" fmla="*/ 4033 h 5335"/>
                    <a:gd name="T42" fmla="*/ 208 w 239"/>
                    <a:gd name="T43" fmla="*/ 3706 h 5335"/>
                    <a:gd name="T44" fmla="*/ 225 w 239"/>
                    <a:gd name="T45" fmla="*/ 3380 h 5335"/>
                    <a:gd name="T46" fmla="*/ 235 w 239"/>
                    <a:gd name="T47" fmla="*/ 3051 h 5335"/>
                    <a:gd name="T48" fmla="*/ 239 w 239"/>
                    <a:gd name="T49" fmla="*/ 2721 h 5335"/>
                    <a:gd name="T50" fmla="*/ 238 w 239"/>
                    <a:gd name="T51" fmla="*/ 2390 h 5335"/>
                    <a:gd name="T52" fmla="*/ 230 w 239"/>
                    <a:gd name="T53" fmla="*/ 2057 h 5335"/>
                    <a:gd name="T54" fmla="*/ 216 w 239"/>
                    <a:gd name="T55" fmla="*/ 1721 h 5335"/>
                    <a:gd name="T56" fmla="*/ 195 w 239"/>
                    <a:gd name="T57" fmla="*/ 1383 h 5335"/>
                    <a:gd name="T58" fmla="*/ 168 w 239"/>
                    <a:gd name="T59" fmla="*/ 1043 h 5335"/>
                    <a:gd name="T60" fmla="*/ 134 w 239"/>
                    <a:gd name="T61" fmla="*/ 699 h 5335"/>
                    <a:gd name="T62" fmla="*/ 94 w 239"/>
                    <a:gd name="T63" fmla="*/ 352 h 5335"/>
                    <a:gd name="T64" fmla="*/ 46 w 239"/>
                    <a:gd name="T65" fmla="*/ 0 h 5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39" h="5335">
                      <a:moveTo>
                        <a:pt x="0" y="8"/>
                      </a:moveTo>
                      <a:lnTo>
                        <a:pt x="24" y="183"/>
                      </a:lnTo>
                      <a:lnTo>
                        <a:pt x="46" y="357"/>
                      </a:lnTo>
                      <a:lnTo>
                        <a:pt x="67" y="531"/>
                      </a:lnTo>
                      <a:lnTo>
                        <a:pt x="86" y="704"/>
                      </a:lnTo>
                      <a:lnTo>
                        <a:pt x="104" y="876"/>
                      </a:lnTo>
                      <a:lnTo>
                        <a:pt x="120" y="1047"/>
                      </a:lnTo>
                      <a:lnTo>
                        <a:pt x="134" y="1218"/>
                      </a:lnTo>
                      <a:lnTo>
                        <a:pt x="147" y="1387"/>
                      </a:lnTo>
                      <a:lnTo>
                        <a:pt x="158" y="1555"/>
                      </a:lnTo>
                      <a:lnTo>
                        <a:pt x="168" y="1724"/>
                      </a:lnTo>
                      <a:lnTo>
                        <a:pt x="176" y="1892"/>
                      </a:lnTo>
                      <a:lnTo>
                        <a:pt x="182" y="2059"/>
                      </a:lnTo>
                      <a:lnTo>
                        <a:pt x="186" y="2224"/>
                      </a:lnTo>
                      <a:lnTo>
                        <a:pt x="190" y="2391"/>
                      </a:lnTo>
                      <a:lnTo>
                        <a:pt x="191" y="2557"/>
                      </a:lnTo>
                      <a:lnTo>
                        <a:pt x="191" y="2721"/>
                      </a:lnTo>
                      <a:lnTo>
                        <a:pt x="190" y="2886"/>
                      </a:lnTo>
                      <a:lnTo>
                        <a:pt x="187" y="3050"/>
                      </a:lnTo>
                      <a:lnTo>
                        <a:pt x="182" y="3214"/>
                      </a:lnTo>
                      <a:lnTo>
                        <a:pt x="177" y="3377"/>
                      </a:lnTo>
                      <a:lnTo>
                        <a:pt x="169" y="3540"/>
                      </a:lnTo>
                      <a:lnTo>
                        <a:pt x="160" y="3703"/>
                      </a:lnTo>
                      <a:lnTo>
                        <a:pt x="151" y="3866"/>
                      </a:lnTo>
                      <a:lnTo>
                        <a:pt x="139" y="4029"/>
                      </a:lnTo>
                      <a:lnTo>
                        <a:pt x="126" y="4191"/>
                      </a:lnTo>
                      <a:lnTo>
                        <a:pt x="112" y="4354"/>
                      </a:lnTo>
                      <a:lnTo>
                        <a:pt x="97" y="4516"/>
                      </a:lnTo>
                      <a:lnTo>
                        <a:pt x="80" y="4679"/>
                      </a:lnTo>
                      <a:lnTo>
                        <a:pt x="62" y="4841"/>
                      </a:lnTo>
                      <a:lnTo>
                        <a:pt x="42" y="5004"/>
                      </a:lnTo>
                      <a:lnTo>
                        <a:pt x="22" y="5165"/>
                      </a:lnTo>
                      <a:lnTo>
                        <a:pt x="0" y="5328"/>
                      </a:lnTo>
                      <a:lnTo>
                        <a:pt x="46" y="5335"/>
                      </a:lnTo>
                      <a:lnTo>
                        <a:pt x="68" y="5172"/>
                      </a:lnTo>
                      <a:lnTo>
                        <a:pt x="90" y="5009"/>
                      </a:lnTo>
                      <a:lnTo>
                        <a:pt x="110" y="4846"/>
                      </a:lnTo>
                      <a:lnTo>
                        <a:pt x="128" y="4684"/>
                      </a:lnTo>
                      <a:lnTo>
                        <a:pt x="145" y="4521"/>
                      </a:lnTo>
                      <a:lnTo>
                        <a:pt x="160" y="4358"/>
                      </a:lnTo>
                      <a:lnTo>
                        <a:pt x="174" y="4195"/>
                      </a:lnTo>
                      <a:lnTo>
                        <a:pt x="187" y="4033"/>
                      </a:lnTo>
                      <a:lnTo>
                        <a:pt x="199" y="3870"/>
                      </a:lnTo>
                      <a:lnTo>
                        <a:pt x="208" y="3706"/>
                      </a:lnTo>
                      <a:lnTo>
                        <a:pt x="217" y="3543"/>
                      </a:lnTo>
                      <a:lnTo>
                        <a:pt x="225" y="3380"/>
                      </a:lnTo>
                      <a:lnTo>
                        <a:pt x="230" y="3215"/>
                      </a:lnTo>
                      <a:lnTo>
                        <a:pt x="235" y="3051"/>
                      </a:lnTo>
                      <a:lnTo>
                        <a:pt x="238" y="2887"/>
                      </a:lnTo>
                      <a:lnTo>
                        <a:pt x="239" y="2721"/>
                      </a:lnTo>
                      <a:lnTo>
                        <a:pt x="239" y="2556"/>
                      </a:lnTo>
                      <a:lnTo>
                        <a:pt x="238" y="2390"/>
                      </a:lnTo>
                      <a:lnTo>
                        <a:pt x="234" y="2224"/>
                      </a:lnTo>
                      <a:lnTo>
                        <a:pt x="230" y="2057"/>
                      </a:lnTo>
                      <a:lnTo>
                        <a:pt x="224" y="1889"/>
                      </a:lnTo>
                      <a:lnTo>
                        <a:pt x="216" y="1721"/>
                      </a:lnTo>
                      <a:lnTo>
                        <a:pt x="205" y="1553"/>
                      </a:lnTo>
                      <a:lnTo>
                        <a:pt x="195" y="1383"/>
                      </a:lnTo>
                      <a:lnTo>
                        <a:pt x="182" y="1214"/>
                      </a:lnTo>
                      <a:lnTo>
                        <a:pt x="168" y="1043"/>
                      </a:lnTo>
                      <a:lnTo>
                        <a:pt x="152" y="871"/>
                      </a:lnTo>
                      <a:lnTo>
                        <a:pt x="134" y="699"/>
                      </a:lnTo>
                      <a:lnTo>
                        <a:pt x="115" y="525"/>
                      </a:lnTo>
                      <a:lnTo>
                        <a:pt x="94" y="352"/>
                      </a:lnTo>
                      <a:lnTo>
                        <a:pt x="71" y="176"/>
                      </a:lnTo>
                      <a:lnTo>
                        <a:pt x="46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6" name="Rectangle 159">
                  <a:extLst>
                    <a:ext uri="{FF2B5EF4-FFF2-40B4-BE49-F238E27FC236}">
                      <a16:creationId xmlns:a16="http://schemas.microsoft.com/office/drawing/2014/main" id="{7479E4E6-37F7-4228-8B1E-39329B77E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52" y="588"/>
                  <a:ext cx="10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7" name="Rectangle 160">
                  <a:extLst>
                    <a:ext uri="{FF2B5EF4-FFF2-40B4-BE49-F238E27FC236}">
                      <a16:creationId xmlns:a16="http://schemas.microsoft.com/office/drawing/2014/main" id="{DA00EBDF-8C50-4503-BA7F-581EF0CE9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70" y="64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8" name="Rectangle 161">
                  <a:extLst>
                    <a:ext uri="{FF2B5EF4-FFF2-40B4-BE49-F238E27FC236}">
                      <a16:creationId xmlns:a16="http://schemas.microsoft.com/office/drawing/2014/main" id="{000D4A9B-2B97-4E66-A5B4-D934A1B57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91" y="684"/>
                  <a:ext cx="7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-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9" name="Rectangle 162">
                  <a:extLst>
                    <a:ext uri="{FF2B5EF4-FFF2-40B4-BE49-F238E27FC236}">
                      <a16:creationId xmlns:a16="http://schemas.microsoft.com/office/drawing/2014/main" id="{1C84FDE0-BA59-4B50-892B-CC7EAFD0A5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86" y="732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0" name="Rectangle 163">
                  <a:extLst>
                    <a:ext uri="{FF2B5EF4-FFF2-40B4-BE49-F238E27FC236}">
                      <a16:creationId xmlns:a16="http://schemas.microsoft.com/office/drawing/2014/main" id="{4B08C3E7-BD5E-4266-A739-67FFE61F2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10" y="791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1" name="Rectangle 164">
                  <a:extLst>
                    <a:ext uri="{FF2B5EF4-FFF2-40B4-BE49-F238E27FC236}">
                      <a16:creationId xmlns:a16="http://schemas.microsoft.com/office/drawing/2014/main" id="{85279B60-AA38-4B01-9302-7418171F9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28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2" name="Rectangle 165">
                  <a:extLst>
                    <a:ext uri="{FF2B5EF4-FFF2-40B4-BE49-F238E27FC236}">
                      <a16:creationId xmlns:a16="http://schemas.microsoft.com/office/drawing/2014/main" id="{0B988019-17C4-41E3-BE86-3CE24ACCB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9" y="85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3" name="Rectangle 166">
                  <a:extLst>
                    <a:ext uri="{FF2B5EF4-FFF2-40B4-BE49-F238E27FC236}">
                      <a16:creationId xmlns:a16="http://schemas.microsoft.com/office/drawing/2014/main" id="{4DE0CE08-BC22-45E8-8EDF-6E2C5BEB6F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9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4" name="Rectangle 167">
                  <a:extLst>
                    <a:ext uri="{FF2B5EF4-FFF2-40B4-BE49-F238E27FC236}">
                      <a16:creationId xmlns:a16="http://schemas.microsoft.com/office/drawing/2014/main" id="{D2E890D3-84B1-4135-9435-9E26166CDA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60" y="93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5" name="Rectangle 168">
                  <a:extLst>
                    <a:ext uri="{FF2B5EF4-FFF2-40B4-BE49-F238E27FC236}">
                      <a16:creationId xmlns:a16="http://schemas.microsoft.com/office/drawing/2014/main" id="{08182556-78F9-4714-B6A3-41385DBB1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48" y="982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6" name="Rectangle 169">
                  <a:extLst>
                    <a:ext uri="{FF2B5EF4-FFF2-40B4-BE49-F238E27FC236}">
                      <a16:creationId xmlns:a16="http://schemas.microsoft.com/office/drawing/2014/main" id="{BAC88868-260B-42B9-9B84-A6CDF92AC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80" y="1045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7" name="Rectangle 170">
                  <a:extLst>
                    <a:ext uri="{FF2B5EF4-FFF2-40B4-BE49-F238E27FC236}">
                      <a16:creationId xmlns:a16="http://schemas.microsoft.com/office/drawing/2014/main" id="{FE8FEAA1-C6F5-4AAE-9279-47F0760263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35" y="4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8" name="Rectangle 171">
                  <a:extLst>
                    <a:ext uri="{FF2B5EF4-FFF2-40B4-BE49-F238E27FC236}">
                      <a16:creationId xmlns:a16="http://schemas.microsoft.com/office/drawing/2014/main" id="{7EE0A2FB-1A12-4BED-8510-98BA669EA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7" y="4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9" name="Rectangle 172">
                  <a:extLst>
                    <a:ext uri="{FF2B5EF4-FFF2-40B4-BE49-F238E27FC236}">
                      <a16:creationId xmlns:a16="http://schemas.microsoft.com/office/drawing/2014/main" id="{EF43C918-D844-41E9-B114-AC7A4872B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9" y="490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0" name="Rectangle 173">
                  <a:extLst>
                    <a:ext uri="{FF2B5EF4-FFF2-40B4-BE49-F238E27FC236}">
                      <a16:creationId xmlns:a16="http://schemas.microsoft.com/office/drawing/2014/main" id="{56EA75AF-22F4-4C69-9731-FEB2BB15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0" y="53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1" name="Rectangle 174">
                  <a:extLst>
                    <a:ext uri="{FF2B5EF4-FFF2-40B4-BE49-F238E27FC236}">
                      <a16:creationId xmlns:a16="http://schemas.microsoft.com/office/drawing/2014/main" id="{E678D915-3C46-4000-84A4-B2CDF729A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6" y="57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2" name="Rectangle 175">
                  <a:extLst>
                    <a:ext uri="{FF2B5EF4-FFF2-40B4-BE49-F238E27FC236}">
                      <a16:creationId xmlns:a16="http://schemas.microsoft.com/office/drawing/2014/main" id="{5F21E8A7-B454-4658-8807-834395718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3" y="6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3" name="Rectangle 176">
                  <a:extLst>
                    <a:ext uri="{FF2B5EF4-FFF2-40B4-BE49-F238E27FC236}">
                      <a16:creationId xmlns:a16="http://schemas.microsoft.com/office/drawing/2014/main" id="{4A6419BD-2EB0-41AF-A7A9-DC8DB9013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5" y="66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4" name="Rectangle 177">
                  <a:extLst>
                    <a:ext uri="{FF2B5EF4-FFF2-40B4-BE49-F238E27FC236}">
                      <a16:creationId xmlns:a16="http://schemas.microsoft.com/office/drawing/2014/main" id="{7DD10115-EA23-4A6B-A3BB-448E4E3866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7" y="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5" name="Rectangle 178">
                  <a:extLst>
                    <a:ext uri="{FF2B5EF4-FFF2-40B4-BE49-F238E27FC236}">
                      <a16:creationId xmlns:a16="http://schemas.microsoft.com/office/drawing/2014/main" id="{19CAE939-64D6-4AF7-8F24-A8746BF41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7" y="72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6" name="Rectangle 179">
                  <a:extLst>
                    <a:ext uri="{FF2B5EF4-FFF2-40B4-BE49-F238E27FC236}">
                      <a16:creationId xmlns:a16="http://schemas.microsoft.com/office/drawing/2014/main" id="{093C5B48-C5C2-499F-9B42-D7EE26CFC0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490" y="53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7" name="Rectangle 180">
                  <a:extLst>
                    <a:ext uri="{FF2B5EF4-FFF2-40B4-BE49-F238E27FC236}">
                      <a16:creationId xmlns:a16="http://schemas.microsoft.com/office/drawing/2014/main" id="{34A82AF7-194E-48FC-983A-FF41575A1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2" y="5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8" name="Rectangle 181">
                  <a:extLst>
                    <a:ext uri="{FF2B5EF4-FFF2-40B4-BE49-F238E27FC236}">
                      <a16:creationId xmlns:a16="http://schemas.microsoft.com/office/drawing/2014/main" id="{C022B4A9-59BC-4558-ABF1-661607C29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4" y="6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9" name="Rectangle 182">
                  <a:extLst>
                    <a:ext uri="{FF2B5EF4-FFF2-40B4-BE49-F238E27FC236}">
                      <a16:creationId xmlns:a16="http://schemas.microsoft.com/office/drawing/2014/main" id="{C22F624B-8303-4BBB-A816-8063505D7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4" y="643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0" name="Rectangle 183">
                  <a:extLst>
                    <a:ext uri="{FF2B5EF4-FFF2-40B4-BE49-F238E27FC236}">
                      <a16:creationId xmlns:a16="http://schemas.microsoft.com/office/drawing/2014/main" id="{DC23CFF4-F970-4101-BFCE-911001CA29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1" y="68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1" name="Rectangle 184">
                  <a:extLst>
                    <a:ext uri="{FF2B5EF4-FFF2-40B4-BE49-F238E27FC236}">
                      <a16:creationId xmlns:a16="http://schemas.microsoft.com/office/drawing/2014/main" id="{FC872153-4C28-4C85-A6D0-335B37634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8" y="729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2" name="Rectangle 185">
                  <a:extLst>
                    <a:ext uri="{FF2B5EF4-FFF2-40B4-BE49-F238E27FC236}">
                      <a16:creationId xmlns:a16="http://schemas.microsoft.com/office/drawing/2014/main" id="{0B12FC1D-1984-4F2B-B529-0432B3899E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9" y="77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3" name="Rectangle 186">
                  <a:extLst>
                    <a:ext uri="{FF2B5EF4-FFF2-40B4-BE49-F238E27FC236}">
                      <a16:creationId xmlns:a16="http://schemas.microsoft.com/office/drawing/2014/main" id="{0A825D57-BBD5-4490-8655-26CF6BB5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32" y="8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4" name="Rectangle 187">
                  <a:extLst>
                    <a:ext uri="{FF2B5EF4-FFF2-40B4-BE49-F238E27FC236}">
                      <a16:creationId xmlns:a16="http://schemas.microsoft.com/office/drawing/2014/main" id="{D9470D47-B242-4A76-8F8B-F59E6BC61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2" y="84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5" name="Rectangle 188">
                  <a:extLst>
                    <a:ext uri="{FF2B5EF4-FFF2-40B4-BE49-F238E27FC236}">
                      <a16:creationId xmlns:a16="http://schemas.microsoft.com/office/drawing/2014/main" id="{40E20785-348A-4899-9A56-D7C9005C44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14" y="50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6" name="Rectangle 189">
                  <a:extLst>
                    <a:ext uri="{FF2B5EF4-FFF2-40B4-BE49-F238E27FC236}">
                      <a16:creationId xmlns:a16="http://schemas.microsoft.com/office/drawing/2014/main" id="{16A32EC1-4D82-4EDA-A826-BD52B7163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3" y="55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7" name="Rectangle 190">
                  <a:extLst>
                    <a:ext uri="{FF2B5EF4-FFF2-40B4-BE49-F238E27FC236}">
                      <a16:creationId xmlns:a16="http://schemas.microsoft.com/office/drawing/2014/main" id="{A57B3896-D22B-4890-A1EA-9A42095CD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5" y="58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8" name="Rectangle 191">
                  <a:extLst>
                    <a:ext uri="{FF2B5EF4-FFF2-40B4-BE49-F238E27FC236}">
                      <a16:creationId xmlns:a16="http://schemas.microsoft.com/office/drawing/2014/main" id="{3AC7032C-0E89-4C00-9C7C-7C93D5C4E8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5" y="62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9" name="Rectangle 192">
                  <a:extLst>
                    <a:ext uri="{FF2B5EF4-FFF2-40B4-BE49-F238E27FC236}">
                      <a16:creationId xmlns:a16="http://schemas.microsoft.com/office/drawing/2014/main" id="{065F0919-A6CC-4C8D-A404-409DFEA69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2" y="66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0" name="Rectangle 193">
                  <a:extLst>
                    <a:ext uri="{FF2B5EF4-FFF2-40B4-BE49-F238E27FC236}">
                      <a16:creationId xmlns:a16="http://schemas.microsoft.com/office/drawing/2014/main" id="{3FA1C983-64D1-4DF3-9CB5-5494F81529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6" y="71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1" name="Rectangle 194">
                  <a:extLst>
                    <a:ext uri="{FF2B5EF4-FFF2-40B4-BE49-F238E27FC236}">
                      <a16:creationId xmlns:a16="http://schemas.microsoft.com/office/drawing/2014/main" id="{5C6652DC-2ABE-4D4D-87F3-D71AE6C89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0" y="77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2" name="Rectangle 195">
                  <a:extLst>
                    <a:ext uri="{FF2B5EF4-FFF2-40B4-BE49-F238E27FC236}">
                      <a16:creationId xmlns:a16="http://schemas.microsoft.com/office/drawing/2014/main" id="{F36EA08A-07AD-4B2F-8C1B-3E226D771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68" y="809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3" name="Rectangle 196">
                  <a:extLst>
                    <a:ext uri="{FF2B5EF4-FFF2-40B4-BE49-F238E27FC236}">
                      <a16:creationId xmlns:a16="http://schemas.microsoft.com/office/drawing/2014/main" id="{557487D9-F87E-46F0-85E0-B40DB57A4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2972" y="58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4" name="Rectangle 197">
                  <a:extLst>
                    <a:ext uri="{FF2B5EF4-FFF2-40B4-BE49-F238E27FC236}">
                      <a16:creationId xmlns:a16="http://schemas.microsoft.com/office/drawing/2014/main" id="{B2369D69-38A8-4FE0-A0A8-5D649A0B0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1" y="63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5" name="Rectangle 198">
                  <a:extLst>
                    <a:ext uri="{FF2B5EF4-FFF2-40B4-BE49-F238E27FC236}">
                      <a16:creationId xmlns:a16="http://schemas.microsoft.com/office/drawing/2014/main" id="{3C14519E-BE91-4651-A0D4-6C7A849C83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9" y="65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6" name="Rectangle 199">
                  <a:extLst>
                    <a:ext uri="{FF2B5EF4-FFF2-40B4-BE49-F238E27FC236}">
                      <a16:creationId xmlns:a16="http://schemas.microsoft.com/office/drawing/2014/main" id="{A6AD819E-ABB0-46BA-8417-F5FDEB7CC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7" y="697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7" name="Rectangle 200">
                  <a:extLst>
                    <a:ext uri="{FF2B5EF4-FFF2-40B4-BE49-F238E27FC236}">
                      <a16:creationId xmlns:a16="http://schemas.microsoft.com/office/drawing/2014/main" id="{2C2A27C7-8CFF-4EE9-9AEB-4CA741FE0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43" y="73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8" name="Rectangle 201">
                  <a:extLst>
                    <a:ext uri="{FF2B5EF4-FFF2-40B4-BE49-F238E27FC236}">
                      <a16:creationId xmlns:a16="http://schemas.microsoft.com/office/drawing/2014/main" id="{CD1DC564-A29F-469C-83FE-9F6178EE6E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38" y="78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9" name="Rectangle 202">
                  <a:extLst>
                    <a:ext uri="{FF2B5EF4-FFF2-40B4-BE49-F238E27FC236}">
                      <a16:creationId xmlns:a16="http://schemas.microsoft.com/office/drawing/2014/main" id="{1CD1653A-8D20-4B14-A96B-F4802DEE1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70" y="82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0" name="Rectangle 203">
                  <a:extLst>
                    <a:ext uri="{FF2B5EF4-FFF2-40B4-BE49-F238E27FC236}">
                      <a16:creationId xmlns:a16="http://schemas.microsoft.com/office/drawing/2014/main" id="{78D532E9-E0A2-4B90-88D2-39D1BE7518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20" y="54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1" name="Rectangle 204">
                  <a:extLst>
                    <a:ext uri="{FF2B5EF4-FFF2-40B4-BE49-F238E27FC236}">
                      <a16:creationId xmlns:a16="http://schemas.microsoft.com/office/drawing/2014/main" id="{AB9C88A2-F029-4157-8249-06B42F9605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30" y="59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206">
                <a:extLst>
                  <a:ext uri="{FF2B5EF4-FFF2-40B4-BE49-F238E27FC236}">
                    <a16:creationId xmlns:a16="http://schemas.microsoft.com/office/drawing/2014/main" id="{E748DEA1-1AE5-48EF-AEBD-F9BA28238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44" y="63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" name="Rectangle 207">
                <a:extLst>
                  <a:ext uri="{FF2B5EF4-FFF2-40B4-BE49-F238E27FC236}">
                    <a16:creationId xmlns:a16="http://schemas.microsoft.com/office/drawing/2014/main" id="{88B28DA4-B8ED-4174-B9D8-3EB97ECB4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4" y="674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" name="Rectangle 208">
                <a:extLst>
                  <a:ext uri="{FF2B5EF4-FFF2-40B4-BE49-F238E27FC236}">
                    <a16:creationId xmlns:a16="http://schemas.microsoft.com/office/drawing/2014/main" id="{DF5C24A8-6C94-492C-B3AD-A9F49D1C9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0" y="71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" name="Rectangle 209">
                <a:extLst>
                  <a:ext uri="{FF2B5EF4-FFF2-40B4-BE49-F238E27FC236}">
                    <a16:creationId xmlns:a16="http://schemas.microsoft.com/office/drawing/2014/main" id="{6EBA4C2F-6F09-48A7-8913-241B5B5D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5" y="760"/>
                <a:ext cx="10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210">
                <a:extLst>
                  <a:ext uri="{FF2B5EF4-FFF2-40B4-BE49-F238E27FC236}">
                    <a16:creationId xmlns:a16="http://schemas.microsoft.com/office/drawing/2014/main" id="{A3791B4E-01F4-4AE4-A5FD-D1B744323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6" y="807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11">
                <a:extLst>
                  <a:ext uri="{FF2B5EF4-FFF2-40B4-BE49-F238E27FC236}">
                    <a16:creationId xmlns:a16="http://schemas.microsoft.com/office/drawing/2014/main" id="{3D6168BA-A719-40CA-A036-184789812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1" y="76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" name="Rectangle 212">
                <a:extLst>
                  <a:ext uri="{FF2B5EF4-FFF2-40B4-BE49-F238E27FC236}">
                    <a16:creationId xmlns:a16="http://schemas.microsoft.com/office/drawing/2014/main" id="{CEAC4077-7830-4DC3-B2B7-2446180D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814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" name="Rectangle 213">
                <a:extLst>
                  <a:ext uri="{FF2B5EF4-FFF2-40B4-BE49-F238E27FC236}">
                    <a16:creationId xmlns:a16="http://schemas.microsoft.com/office/drawing/2014/main" id="{9788A7F2-502A-4F7F-98E5-3EE6D1357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2" y="876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214">
                <a:extLst>
                  <a:ext uri="{FF2B5EF4-FFF2-40B4-BE49-F238E27FC236}">
                    <a16:creationId xmlns:a16="http://schemas.microsoft.com/office/drawing/2014/main" id="{A74DBB88-1127-4C91-9AE4-4ACC5466E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4" y="9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215">
                <a:extLst>
                  <a:ext uri="{FF2B5EF4-FFF2-40B4-BE49-F238E27FC236}">
                    <a16:creationId xmlns:a16="http://schemas.microsoft.com/office/drawing/2014/main" id="{06139411-1A42-4F24-A5CA-3936E0910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0" y="9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216">
                <a:extLst>
                  <a:ext uri="{FF2B5EF4-FFF2-40B4-BE49-F238E27FC236}">
                    <a16:creationId xmlns:a16="http://schemas.microsoft.com/office/drawing/2014/main" id="{E2D65FBF-F001-42B2-B11A-62DF28170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5" y="99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Rectangle 217">
                <a:extLst>
                  <a:ext uri="{FF2B5EF4-FFF2-40B4-BE49-F238E27FC236}">
                    <a16:creationId xmlns:a16="http://schemas.microsoft.com/office/drawing/2014/main" id="{CE42C871-5B7E-4577-AFE4-BD06D45F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5" y="10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218">
                <a:extLst>
                  <a:ext uri="{FF2B5EF4-FFF2-40B4-BE49-F238E27FC236}">
                    <a16:creationId xmlns:a16="http://schemas.microsoft.com/office/drawing/2014/main" id="{36A7C698-86D2-4EEA-8555-788ED5D52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4" y="11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" name="Rectangle 219">
                <a:extLst>
                  <a:ext uri="{FF2B5EF4-FFF2-40B4-BE49-F238E27FC236}">
                    <a16:creationId xmlns:a16="http://schemas.microsoft.com/office/drawing/2014/main" id="{185A57B8-3806-46AF-9424-B295188BF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1108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220">
                <a:extLst>
                  <a:ext uri="{FF2B5EF4-FFF2-40B4-BE49-F238E27FC236}">
                    <a16:creationId xmlns:a16="http://schemas.microsoft.com/office/drawing/2014/main" id="{43E54132-332F-44CA-8E0D-F8F417696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88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221">
                <a:extLst>
                  <a:ext uri="{FF2B5EF4-FFF2-40B4-BE49-F238E27FC236}">
                    <a16:creationId xmlns:a16="http://schemas.microsoft.com/office/drawing/2014/main" id="{42ECE788-72A3-4931-AC67-4FF234E7E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6" y="938"/>
                <a:ext cx="1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222">
                <a:extLst>
                  <a:ext uri="{FF2B5EF4-FFF2-40B4-BE49-F238E27FC236}">
                    <a16:creationId xmlns:a16="http://schemas.microsoft.com/office/drawing/2014/main" id="{27CE00EC-6F2A-4734-9D24-C73EC6142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003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223">
                <a:extLst>
                  <a:ext uri="{FF2B5EF4-FFF2-40B4-BE49-F238E27FC236}">
                    <a16:creationId xmlns:a16="http://schemas.microsoft.com/office/drawing/2014/main" id="{7879314A-868F-4278-9EF9-7BB2816E3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0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24">
                <a:extLst>
                  <a:ext uri="{FF2B5EF4-FFF2-40B4-BE49-F238E27FC236}">
                    <a16:creationId xmlns:a16="http://schemas.microsoft.com/office/drawing/2014/main" id="{10A4F41F-156A-43B3-9145-CAEFD284F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17" y="1080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225">
                <a:extLst>
                  <a:ext uri="{FF2B5EF4-FFF2-40B4-BE49-F238E27FC236}">
                    <a16:creationId xmlns:a16="http://schemas.microsoft.com/office/drawing/2014/main" id="{6601B47D-A1BB-4BD1-A419-55BE7D8E8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12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226">
                <a:extLst>
                  <a:ext uri="{FF2B5EF4-FFF2-40B4-BE49-F238E27FC236}">
                    <a16:creationId xmlns:a16="http://schemas.microsoft.com/office/drawing/2014/main" id="{58A2929D-9344-4141-B060-A4AE563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8" y="1173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227">
                <a:extLst>
                  <a:ext uri="{FF2B5EF4-FFF2-40B4-BE49-F238E27FC236}">
                    <a16:creationId xmlns:a16="http://schemas.microsoft.com/office/drawing/2014/main" id="{AE3596C8-298E-42F9-8169-115D526E1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235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28">
                <a:extLst>
                  <a:ext uri="{FF2B5EF4-FFF2-40B4-BE49-F238E27FC236}">
                    <a16:creationId xmlns:a16="http://schemas.microsoft.com/office/drawing/2014/main" id="{6486738F-15A5-4A4E-83B0-616B1BEAB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6" y="859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9">
                <a:extLst>
                  <a:ext uri="{FF2B5EF4-FFF2-40B4-BE49-F238E27FC236}">
                    <a16:creationId xmlns:a16="http://schemas.microsoft.com/office/drawing/2014/main" id="{1DBF349D-5B7A-484C-8547-A82C0A4CA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2" y="899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230">
                <a:extLst>
                  <a:ext uri="{FF2B5EF4-FFF2-40B4-BE49-F238E27FC236}">
                    <a16:creationId xmlns:a16="http://schemas.microsoft.com/office/drawing/2014/main" id="{820C559F-6C35-4565-873A-4E5E2AB17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94" y="9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231">
                <a:extLst>
                  <a:ext uri="{FF2B5EF4-FFF2-40B4-BE49-F238E27FC236}">
                    <a16:creationId xmlns:a16="http://schemas.microsoft.com/office/drawing/2014/main" id="{279AE83D-C29F-44B1-9006-F40AE5D2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3" y="987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Rectangle 232">
                <a:extLst>
                  <a:ext uri="{FF2B5EF4-FFF2-40B4-BE49-F238E27FC236}">
                    <a16:creationId xmlns:a16="http://schemas.microsoft.com/office/drawing/2014/main" id="{5CCC5FBC-31AE-47EC-A4F3-AC68AF2C1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105" y="110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28" name="Rectangle 233">
                <a:extLst>
                  <a:ext uri="{FF2B5EF4-FFF2-40B4-BE49-F238E27FC236}">
                    <a16:creationId xmlns:a16="http://schemas.microsoft.com/office/drawing/2014/main" id="{40494FC4-5C8C-4CED-9A9E-E26783277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8" y="1055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0" name="Rectangle 234">
                <a:extLst>
                  <a:ext uri="{FF2B5EF4-FFF2-40B4-BE49-F238E27FC236}">
                    <a16:creationId xmlns:a16="http://schemas.microsoft.com/office/drawing/2014/main" id="{1A15B467-AA78-455E-AC3E-81B315865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57" y="8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1" name="Rectangle 235">
                <a:extLst>
                  <a:ext uri="{FF2B5EF4-FFF2-40B4-BE49-F238E27FC236}">
                    <a16:creationId xmlns:a16="http://schemas.microsoft.com/office/drawing/2014/main" id="{7ABB386D-CE79-4598-ABE8-E290D5358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5" y="8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2" name="Rectangle 236">
                <a:extLst>
                  <a:ext uri="{FF2B5EF4-FFF2-40B4-BE49-F238E27FC236}">
                    <a16:creationId xmlns:a16="http://schemas.microsoft.com/office/drawing/2014/main" id="{7B286692-1926-4179-9392-88317FE0C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60" y="89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3" name="Rectangle 237">
                <a:extLst>
                  <a:ext uri="{FF2B5EF4-FFF2-40B4-BE49-F238E27FC236}">
                    <a16:creationId xmlns:a16="http://schemas.microsoft.com/office/drawing/2014/main" id="{60C31583-D805-4A01-AA52-F9CBBDACE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1" y="9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4" name="Rectangle 238">
                <a:extLst>
                  <a:ext uri="{FF2B5EF4-FFF2-40B4-BE49-F238E27FC236}">
                    <a16:creationId xmlns:a16="http://schemas.microsoft.com/office/drawing/2014/main" id="{E8044A0D-3740-479F-8154-B9E80F3F1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3" y="10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5" name="Rectangle 239">
                <a:extLst>
                  <a:ext uri="{FF2B5EF4-FFF2-40B4-BE49-F238E27FC236}">
                    <a16:creationId xmlns:a16="http://schemas.microsoft.com/office/drawing/2014/main" id="{929E0623-F0BF-4DB5-AC42-1414813C7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36" y="1009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6" name="Freeform 240">
                <a:extLst>
                  <a:ext uri="{FF2B5EF4-FFF2-40B4-BE49-F238E27FC236}">
                    <a16:creationId xmlns:a16="http://schemas.microsoft.com/office/drawing/2014/main" id="{C61C1CF3-7AF9-4755-B468-0CA392FD4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894"/>
                <a:ext cx="46" cy="45"/>
              </a:xfrm>
              <a:custGeom>
                <a:avLst/>
                <a:gdLst>
                  <a:gd name="T0" fmla="*/ 0 w 181"/>
                  <a:gd name="T1" fmla="*/ 76 h 181"/>
                  <a:gd name="T2" fmla="*/ 75 w 181"/>
                  <a:gd name="T3" fmla="*/ 75 h 181"/>
                  <a:gd name="T4" fmla="*/ 74 w 181"/>
                  <a:gd name="T5" fmla="*/ 1 h 181"/>
                  <a:gd name="T6" fmla="*/ 105 w 181"/>
                  <a:gd name="T7" fmla="*/ 0 h 181"/>
                  <a:gd name="T8" fmla="*/ 106 w 181"/>
                  <a:gd name="T9" fmla="*/ 75 h 181"/>
                  <a:gd name="T10" fmla="*/ 181 w 181"/>
                  <a:gd name="T11" fmla="*/ 73 h 181"/>
                  <a:gd name="T12" fmla="*/ 181 w 181"/>
                  <a:gd name="T13" fmla="*/ 104 h 181"/>
                  <a:gd name="T14" fmla="*/ 107 w 181"/>
                  <a:gd name="T15" fmla="*/ 106 h 181"/>
                  <a:gd name="T16" fmla="*/ 108 w 181"/>
                  <a:gd name="T17" fmla="*/ 181 h 181"/>
                  <a:gd name="T18" fmla="*/ 76 w 181"/>
                  <a:gd name="T19" fmla="*/ 181 h 181"/>
                  <a:gd name="T20" fmla="*/ 75 w 181"/>
                  <a:gd name="T21" fmla="*/ 107 h 181"/>
                  <a:gd name="T22" fmla="*/ 0 w 181"/>
                  <a:gd name="T23" fmla="*/ 108 h 181"/>
                  <a:gd name="T24" fmla="*/ 0 w 181"/>
                  <a:gd name="T25" fmla="*/ 76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1" h="181">
                    <a:moveTo>
                      <a:pt x="0" y="76"/>
                    </a:moveTo>
                    <a:lnTo>
                      <a:pt x="75" y="75"/>
                    </a:lnTo>
                    <a:lnTo>
                      <a:pt x="74" y="1"/>
                    </a:lnTo>
                    <a:lnTo>
                      <a:pt x="105" y="0"/>
                    </a:lnTo>
                    <a:lnTo>
                      <a:pt x="106" y="75"/>
                    </a:lnTo>
                    <a:lnTo>
                      <a:pt x="181" y="73"/>
                    </a:lnTo>
                    <a:lnTo>
                      <a:pt x="181" y="104"/>
                    </a:lnTo>
                    <a:lnTo>
                      <a:pt x="107" y="106"/>
                    </a:lnTo>
                    <a:lnTo>
                      <a:pt x="108" y="181"/>
                    </a:lnTo>
                    <a:lnTo>
                      <a:pt x="76" y="181"/>
                    </a:lnTo>
                    <a:lnTo>
                      <a:pt x="75" y="107"/>
                    </a:lnTo>
                    <a:lnTo>
                      <a:pt x="0" y="10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7" name="Freeform 241">
                <a:extLst>
                  <a:ext uri="{FF2B5EF4-FFF2-40B4-BE49-F238E27FC236}">
                    <a16:creationId xmlns:a16="http://schemas.microsoft.com/office/drawing/2014/main" id="{8D19CB03-722F-4138-AC18-31B37486E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978"/>
                <a:ext cx="70" cy="66"/>
              </a:xfrm>
              <a:custGeom>
                <a:avLst/>
                <a:gdLst>
                  <a:gd name="T0" fmla="*/ 0 w 279"/>
                  <a:gd name="T1" fmla="*/ 4 h 265"/>
                  <a:gd name="T2" fmla="*/ 274 w 279"/>
                  <a:gd name="T3" fmla="*/ 0 h 265"/>
                  <a:gd name="T4" fmla="*/ 275 w 279"/>
                  <a:gd name="T5" fmla="*/ 54 h 265"/>
                  <a:gd name="T6" fmla="*/ 81 w 279"/>
                  <a:gd name="T7" fmla="*/ 121 h 265"/>
                  <a:gd name="T8" fmla="*/ 70 w 279"/>
                  <a:gd name="T9" fmla="*/ 126 h 265"/>
                  <a:gd name="T10" fmla="*/ 58 w 279"/>
                  <a:gd name="T11" fmla="*/ 130 h 265"/>
                  <a:gd name="T12" fmla="*/ 49 w 279"/>
                  <a:gd name="T13" fmla="*/ 133 h 265"/>
                  <a:gd name="T14" fmla="*/ 41 w 279"/>
                  <a:gd name="T15" fmla="*/ 136 h 265"/>
                  <a:gd name="T16" fmla="*/ 50 w 279"/>
                  <a:gd name="T17" fmla="*/ 138 h 265"/>
                  <a:gd name="T18" fmla="*/ 60 w 279"/>
                  <a:gd name="T19" fmla="*/ 141 h 265"/>
                  <a:gd name="T20" fmla="*/ 72 w 279"/>
                  <a:gd name="T21" fmla="*/ 145 h 265"/>
                  <a:gd name="T22" fmla="*/ 85 w 279"/>
                  <a:gd name="T23" fmla="*/ 150 h 265"/>
                  <a:gd name="T24" fmla="*/ 278 w 279"/>
                  <a:gd name="T25" fmla="*/ 212 h 265"/>
                  <a:gd name="T26" fmla="*/ 279 w 279"/>
                  <a:gd name="T27" fmla="*/ 260 h 265"/>
                  <a:gd name="T28" fmla="*/ 4 w 279"/>
                  <a:gd name="T29" fmla="*/ 265 h 265"/>
                  <a:gd name="T30" fmla="*/ 4 w 279"/>
                  <a:gd name="T31" fmla="*/ 230 h 265"/>
                  <a:gd name="T32" fmla="*/ 234 w 279"/>
                  <a:gd name="T33" fmla="*/ 226 h 265"/>
                  <a:gd name="T34" fmla="*/ 2 w 279"/>
                  <a:gd name="T35" fmla="*/ 151 h 265"/>
                  <a:gd name="T36" fmla="*/ 1 w 279"/>
                  <a:gd name="T37" fmla="*/ 117 h 265"/>
                  <a:gd name="T38" fmla="*/ 234 w 279"/>
                  <a:gd name="T39" fmla="*/ 35 h 265"/>
                  <a:gd name="T40" fmla="*/ 0 w 279"/>
                  <a:gd name="T41" fmla="*/ 39 h 265"/>
                  <a:gd name="T42" fmla="*/ 0 w 279"/>
                  <a:gd name="T43" fmla="*/ 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9" h="265">
                    <a:moveTo>
                      <a:pt x="0" y="4"/>
                    </a:moveTo>
                    <a:lnTo>
                      <a:pt x="274" y="0"/>
                    </a:lnTo>
                    <a:lnTo>
                      <a:pt x="275" y="54"/>
                    </a:lnTo>
                    <a:lnTo>
                      <a:pt x="81" y="121"/>
                    </a:lnTo>
                    <a:lnTo>
                      <a:pt x="70" y="126"/>
                    </a:lnTo>
                    <a:lnTo>
                      <a:pt x="58" y="130"/>
                    </a:lnTo>
                    <a:lnTo>
                      <a:pt x="49" y="133"/>
                    </a:lnTo>
                    <a:lnTo>
                      <a:pt x="41" y="136"/>
                    </a:lnTo>
                    <a:lnTo>
                      <a:pt x="50" y="138"/>
                    </a:lnTo>
                    <a:lnTo>
                      <a:pt x="60" y="141"/>
                    </a:lnTo>
                    <a:lnTo>
                      <a:pt x="72" y="145"/>
                    </a:lnTo>
                    <a:lnTo>
                      <a:pt x="85" y="150"/>
                    </a:lnTo>
                    <a:lnTo>
                      <a:pt x="278" y="212"/>
                    </a:lnTo>
                    <a:lnTo>
                      <a:pt x="279" y="260"/>
                    </a:lnTo>
                    <a:lnTo>
                      <a:pt x="4" y="265"/>
                    </a:lnTo>
                    <a:lnTo>
                      <a:pt x="4" y="230"/>
                    </a:lnTo>
                    <a:lnTo>
                      <a:pt x="234" y="226"/>
                    </a:lnTo>
                    <a:lnTo>
                      <a:pt x="2" y="151"/>
                    </a:lnTo>
                    <a:lnTo>
                      <a:pt x="1" y="117"/>
                    </a:lnTo>
                    <a:lnTo>
                      <a:pt x="234" y="35"/>
                    </a:lnTo>
                    <a:lnTo>
                      <a:pt x="0" y="39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8" name="Freeform 242">
                <a:extLst>
                  <a:ext uri="{FF2B5EF4-FFF2-40B4-BE49-F238E27FC236}">
                    <a16:creationId xmlns:a16="http://schemas.microsoft.com/office/drawing/2014/main" id="{1464AC50-A993-45D8-850E-C40A993A2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1054"/>
                <a:ext cx="52" cy="41"/>
              </a:xfrm>
              <a:custGeom>
                <a:avLst/>
                <a:gdLst>
                  <a:gd name="T0" fmla="*/ 68 w 207"/>
                  <a:gd name="T1" fmla="*/ 32 h 164"/>
                  <a:gd name="T2" fmla="*/ 51 w 207"/>
                  <a:gd name="T3" fmla="*/ 38 h 164"/>
                  <a:gd name="T4" fmla="*/ 38 w 207"/>
                  <a:gd name="T5" fmla="*/ 49 h 164"/>
                  <a:gd name="T6" fmla="*/ 30 w 207"/>
                  <a:gd name="T7" fmla="*/ 63 h 164"/>
                  <a:gd name="T8" fmla="*/ 27 w 207"/>
                  <a:gd name="T9" fmla="*/ 84 h 164"/>
                  <a:gd name="T10" fmla="*/ 30 w 207"/>
                  <a:gd name="T11" fmla="*/ 105 h 164"/>
                  <a:gd name="T12" fmla="*/ 38 w 207"/>
                  <a:gd name="T13" fmla="*/ 119 h 164"/>
                  <a:gd name="T14" fmla="*/ 48 w 207"/>
                  <a:gd name="T15" fmla="*/ 127 h 164"/>
                  <a:gd name="T16" fmla="*/ 60 w 207"/>
                  <a:gd name="T17" fmla="*/ 129 h 164"/>
                  <a:gd name="T18" fmla="*/ 70 w 207"/>
                  <a:gd name="T19" fmla="*/ 127 h 164"/>
                  <a:gd name="T20" fmla="*/ 78 w 207"/>
                  <a:gd name="T21" fmla="*/ 119 h 164"/>
                  <a:gd name="T22" fmla="*/ 88 w 207"/>
                  <a:gd name="T23" fmla="*/ 84 h 164"/>
                  <a:gd name="T24" fmla="*/ 97 w 207"/>
                  <a:gd name="T25" fmla="*/ 53 h 164"/>
                  <a:gd name="T26" fmla="*/ 104 w 207"/>
                  <a:gd name="T27" fmla="*/ 34 h 164"/>
                  <a:gd name="T28" fmla="*/ 112 w 207"/>
                  <a:gd name="T29" fmla="*/ 21 h 164"/>
                  <a:gd name="T30" fmla="*/ 122 w 207"/>
                  <a:gd name="T31" fmla="*/ 12 h 164"/>
                  <a:gd name="T32" fmla="*/ 135 w 207"/>
                  <a:gd name="T33" fmla="*/ 5 h 164"/>
                  <a:gd name="T34" fmla="*/ 149 w 207"/>
                  <a:gd name="T35" fmla="*/ 4 h 164"/>
                  <a:gd name="T36" fmla="*/ 162 w 207"/>
                  <a:gd name="T37" fmla="*/ 5 h 164"/>
                  <a:gd name="T38" fmla="*/ 174 w 207"/>
                  <a:gd name="T39" fmla="*/ 9 h 164"/>
                  <a:gd name="T40" fmla="*/ 184 w 207"/>
                  <a:gd name="T41" fmla="*/ 16 h 164"/>
                  <a:gd name="T42" fmla="*/ 193 w 207"/>
                  <a:gd name="T43" fmla="*/ 26 h 164"/>
                  <a:gd name="T44" fmla="*/ 203 w 207"/>
                  <a:gd name="T45" fmla="*/ 47 h 164"/>
                  <a:gd name="T46" fmla="*/ 207 w 207"/>
                  <a:gd name="T47" fmla="*/ 75 h 164"/>
                  <a:gd name="T48" fmla="*/ 206 w 207"/>
                  <a:gd name="T49" fmla="*/ 97 h 164"/>
                  <a:gd name="T50" fmla="*/ 202 w 207"/>
                  <a:gd name="T51" fmla="*/ 117 h 164"/>
                  <a:gd name="T52" fmla="*/ 194 w 207"/>
                  <a:gd name="T53" fmla="*/ 132 h 164"/>
                  <a:gd name="T54" fmla="*/ 184 w 207"/>
                  <a:gd name="T55" fmla="*/ 142 h 164"/>
                  <a:gd name="T56" fmla="*/ 170 w 207"/>
                  <a:gd name="T57" fmla="*/ 150 h 164"/>
                  <a:gd name="T58" fmla="*/ 153 w 207"/>
                  <a:gd name="T59" fmla="*/ 155 h 164"/>
                  <a:gd name="T60" fmla="*/ 156 w 207"/>
                  <a:gd name="T61" fmla="*/ 120 h 164"/>
                  <a:gd name="T62" fmla="*/ 167 w 207"/>
                  <a:gd name="T63" fmla="*/ 114 h 164"/>
                  <a:gd name="T64" fmla="*/ 175 w 207"/>
                  <a:gd name="T65" fmla="*/ 102 h 164"/>
                  <a:gd name="T66" fmla="*/ 180 w 207"/>
                  <a:gd name="T67" fmla="*/ 88 h 164"/>
                  <a:gd name="T68" fmla="*/ 179 w 207"/>
                  <a:gd name="T69" fmla="*/ 67 h 164"/>
                  <a:gd name="T70" fmla="*/ 175 w 207"/>
                  <a:gd name="T71" fmla="*/ 52 h 164"/>
                  <a:gd name="T72" fmla="*/ 167 w 207"/>
                  <a:gd name="T73" fmla="*/ 41 h 164"/>
                  <a:gd name="T74" fmla="*/ 158 w 207"/>
                  <a:gd name="T75" fmla="*/ 36 h 164"/>
                  <a:gd name="T76" fmla="*/ 148 w 207"/>
                  <a:gd name="T77" fmla="*/ 38 h 164"/>
                  <a:gd name="T78" fmla="*/ 137 w 207"/>
                  <a:gd name="T79" fmla="*/ 45 h 164"/>
                  <a:gd name="T80" fmla="*/ 130 w 207"/>
                  <a:gd name="T81" fmla="*/ 63 h 164"/>
                  <a:gd name="T82" fmla="*/ 121 w 207"/>
                  <a:gd name="T83" fmla="*/ 100 h 164"/>
                  <a:gd name="T84" fmla="*/ 113 w 207"/>
                  <a:gd name="T85" fmla="*/ 124 h 164"/>
                  <a:gd name="T86" fmla="*/ 106 w 207"/>
                  <a:gd name="T87" fmla="*/ 140 h 164"/>
                  <a:gd name="T88" fmla="*/ 99 w 207"/>
                  <a:gd name="T89" fmla="*/ 151 h 164"/>
                  <a:gd name="T90" fmla="*/ 87 w 207"/>
                  <a:gd name="T91" fmla="*/ 159 h 164"/>
                  <a:gd name="T92" fmla="*/ 73 w 207"/>
                  <a:gd name="T93" fmla="*/ 163 h 164"/>
                  <a:gd name="T94" fmla="*/ 56 w 207"/>
                  <a:gd name="T95" fmla="*/ 163 h 164"/>
                  <a:gd name="T96" fmla="*/ 39 w 207"/>
                  <a:gd name="T97" fmla="*/ 159 h 164"/>
                  <a:gd name="T98" fmla="*/ 25 w 207"/>
                  <a:gd name="T99" fmla="*/ 149 h 164"/>
                  <a:gd name="T100" fmla="*/ 13 w 207"/>
                  <a:gd name="T101" fmla="*/ 136 h 164"/>
                  <a:gd name="T102" fmla="*/ 4 w 207"/>
                  <a:gd name="T103" fmla="*/ 118 h 164"/>
                  <a:gd name="T104" fmla="*/ 0 w 207"/>
                  <a:gd name="T105" fmla="*/ 97 h 164"/>
                  <a:gd name="T106" fmla="*/ 0 w 207"/>
                  <a:gd name="T107" fmla="*/ 67 h 164"/>
                  <a:gd name="T108" fmla="*/ 5 w 207"/>
                  <a:gd name="T109" fmla="*/ 44 h 164"/>
                  <a:gd name="T110" fmla="*/ 11 w 207"/>
                  <a:gd name="T111" fmla="*/ 31 h 164"/>
                  <a:gd name="T112" fmla="*/ 18 w 207"/>
                  <a:gd name="T113" fmla="*/ 21 h 164"/>
                  <a:gd name="T114" fmla="*/ 29 w 207"/>
                  <a:gd name="T115" fmla="*/ 13 h 164"/>
                  <a:gd name="T116" fmla="*/ 47 w 207"/>
                  <a:gd name="T117" fmla="*/ 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7" h="164">
                    <a:moveTo>
                      <a:pt x="62" y="0"/>
                    </a:moveTo>
                    <a:lnTo>
                      <a:pt x="68" y="32"/>
                    </a:lnTo>
                    <a:lnTo>
                      <a:pt x="58" y="35"/>
                    </a:lnTo>
                    <a:lnTo>
                      <a:pt x="51" y="38"/>
                    </a:lnTo>
                    <a:lnTo>
                      <a:pt x="43" y="43"/>
                    </a:lnTo>
                    <a:lnTo>
                      <a:pt x="38" y="49"/>
                    </a:lnTo>
                    <a:lnTo>
                      <a:pt x="33" y="56"/>
                    </a:lnTo>
                    <a:lnTo>
                      <a:pt x="30" y="63"/>
                    </a:lnTo>
                    <a:lnTo>
                      <a:pt x="27" y="74"/>
                    </a:lnTo>
                    <a:lnTo>
                      <a:pt x="27" y="84"/>
                    </a:lnTo>
                    <a:lnTo>
                      <a:pt x="29" y="96"/>
                    </a:lnTo>
                    <a:lnTo>
                      <a:pt x="30" y="105"/>
                    </a:lnTo>
                    <a:lnTo>
                      <a:pt x="33" y="113"/>
                    </a:lnTo>
                    <a:lnTo>
                      <a:pt x="38" y="119"/>
                    </a:lnTo>
                    <a:lnTo>
                      <a:pt x="43" y="123"/>
                    </a:lnTo>
                    <a:lnTo>
                      <a:pt x="48" y="127"/>
                    </a:lnTo>
                    <a:lnTo>
                      <a:pt x="53" y="129"/>
                    </a:lnTo>
                    <a:lnTo>
                      <a:pt x="60" y="129"/>
                    </a:lnTo>
                    <a:lnTo>
                      <a:pt x="65" y="128"/>
                    </a:lnTo>
                    <a:lnTo>
                      <a:pt x="70" y="127"/>
                    </a:lnTo>
                    <a:lnTo>
                      <a:pt x="74" y="124"/>
                    </a:lnTo>
                    <a:lnTo>
                      <a:pt x="78" y="119"/>
                    </a:lnTo>
                    <a:lnTo>
                      <a:pt x="83" y="107"/>
                    </a:lnTo>
                    <a:lnTo>
                      <a:pt x="88" y="84"/>
                    </a:lnTo>
                    <a:lnTo>
                      <a:pt x="92" y="67"/>
                    </a:lnTo>
                    <a:lnTo>
                      <a:pt x="97" y="53"/>
                    </a:lnTo>
                    <a:lnTo>
                      <a:pt x="100" y="41"/>
                    </a:lnTo>
                    <a:lnTo>
                      <a:pt x="104" y="34"/>
                    </a:lnTo>
                    <a:lnTo>
                      <a:pt x="108" y="26"/>
                    </a:lnTo>
                    <a:lnTo>
                      <a:pt x="112" y="21"/>
                    </a:lnTo>
                    <a:lnTo>
                      <a:pt x="117" y="16"/>
                    </a:lnTo>
                    <a:lnTo>
                      <a:pt x="122" y="12"/>
                    </a:lnTo>
                    <a:lnTo>
                      <a:pt x="128" y="8"/>
                    </a:lnTo>
                    <a:lnTo>
                      <a:pt x="135" y="5"/>
                    </a:lnTo>
                    <a:lnTo>
                      <a:pt x="141" y="4"/>
                    </a:lnTo>
                    <a:lnTo>
                      <a:pt x="149" y="4"/>
                    </a:lnTo>
                    <a:lnTo>
                      <a:pt x="156" y="4"/>
                    </a:lnTo>
                    <a:lnTo>
                      <a:pt x="162" y="5"/>
                    </a:lnTo>
                    <a:lnTo>
                      <a:pt x="168" y="7"/>
                    </a:lnTo>
                    <a:lnTo>
                      <a:pt x="174" y="9"/>
                    </a:lnTo>
                    <a:lnTo>
                      <a:pt x="179" y="13"/>
                    </a:lnTo>
                    <a:lnTo>
                      <a:pt x="184" y="16"/>
                    </a:lnTo>
                    <a:lnTo>
                      <a:pt x="189" y="21"/>
                    </a:lnTo>
                    <a:lnTo>
                      <a:pt x="193" y="26"/>
                    </a:lnTo>
                    <a:lnTo>
                      <a:pt x="198" y="35"/>
                    </a:lnTo>
                    <a:lnTo>
                      <a:pt x="203" y="47"/>
                    </a:lnTo>
                    <a:lnTo>
                      <a:pt x="206" y="61"/>
                    </a:lnTo>
                    <a:lnTo>
                      <a:pt x="207" y="75"/>
                    </a:lnTo>
                    <a:lnTo>
                      <a:pt x="207" y="87"/>
                    </a:lnTo>
                    <a:lnTo>
                      <a:pt x="206" y="97"/>
                    </a:lnTo>
                    <a:lnTo>
                      <a:pt x="205" y="107"/>
                    </a:lnTo>
                    <a:lnTo>
                      <a:pt x="202" y="117"/>
                    </a:lnTo>
                    <a:lnTo>
                      <a:pt x="198" y="124"/>
                    </a:lnTo>
                    <a:lnTo>
                      <a:pt x="194" y="132"/>
                    </a:lnTo>
                    <a:lnTo>
                      <a:pt x="189" y="139"/>
                    </a:lnTo>
                    <a:lnTo>
                      <a:pt x="184" y="142"/>
                    </a:lnTo>
                    <a:lnTo>
                      <a:pt x="178" y="146"/>
                    </a:lnTo>
                    <a:lnTo>
                      <a:pt x="170" y="150"/>
                    </a:lnTo>
                    <a:lnTo>
                      <a:pt x="162" y="153"/>
                    </a:lnTo>
                    <a:lnTo>
                      <a:pt x="153" y="155"/>
                    </a:lnTo>
                    <a:lnTo>
                      <a:pt x="148" y="122"/>
                    </a:lnTo>
                    <a:lnTo>
                      <a:pt x="156" y="120"/>
                    </a:lnTo>
                    <a:lnTo>
                      <a:pt x="162" y="118"/>
                    </a:lnTo>
                    <a:lnTo>
                      <a:pt x="167" y="114"/>
                    </a:lnTo>
                    <a:lnTo>
                      <a:pt x="172" y="109"/>
                    </a:lnTo>
                    <a:lnTo>
                      <a:pt x="175" y="102"/>
                    </a:lnTo>
                    <a:lnTo>
                      <a:pt x="178" y="96"/>
                    </a:lnTo>
                    <a:lnTo>
                      <a:pt x="180" y="88"/>
                    </a:lnTo>
                    <a:lnTo>
                      <a:pt x="180" y="78"/>
                    </a:lnTo>
                    <a:lnTo>
                      <a:pt x="179" y="67"/>
                    </a:lnTo>
                    <a:lnTo>
                      <a:pt x="178" y="58"/>
                    </a:lnTo>
                    <a:lnTo>
                      <a:pt x="175" y="52"/>
                    </a:lnTo>
                    <a:lnTo>
                      <a:pt x="171" y="45"/>
                    </a:lnTo>
                    <a:lnTo>
                      <a:pt x="167" y="41"/>
                    </a:lnTo>
                    <a:lnTo>
                      <a:pt x="163" y="38"/>
                    </a:lnTo>
                    <a:lnTo>
                      <a:pt x="158" y="36"/>
                    </a:lnTo>
                    <a:lnTo>
                      <a:pt x="153" y="36"/>
                    </a:lnTo>
                    <a:lnTo>
                      <a:pt x="148" y="38"/>
                    </a:lnTo>
                    <a:lnTo>
                      <a:pt x="141" y="40"/>
                    </a:lnTo>
                    <a:lnTo>
                      <a:pt x="137" y="45"/>
                    </a:lnTo>
                    <a:lnTo>
                      <a:pt x="134" y="53"/>
                    </a:lnTo>
                    <a:lnTo>
                      <a:pt x="130" y="63"/>
                    </a:lnTo>
                    <a:lnTo>
                      <a:pt x="124" y="83"/>
                    </a:lnTo>
                    <a:lnTo>
                      <a:pt x="121" y="100"/>
                    </a:lnTo>
                    <a:lnTo>
                      <a:pt x="117" y="114"/>
                    </a:lnTo>
                    <a:lnTo>
                      <a:pt x="113" y="124"/>
                    </a:lnTo>
                    <a:lnTo>
                      <a:pt x="110" y="133"/>
                    </a:lnTo>
                    <a:lnTo>
                      <a:pt x="106" y="140"/>
                    </a:lnTo>
                    <a:lnTo>
                      <a:pt x="102" y="146"/>
                    </a:lnTo>
                    <a:lnTo>
                      <a:pt x="99" y="151"/>
                    </a:lnTo>
                    <a:lnTo>
                      <a:pt x="92" y="155"/>
                    </a:lnTo>
                    <a:lnTo>
                      <a:pt x="87" y="159"/>
                    </a:lnTo>
                    <a:lnTo>
                      <a:pt x="79" y="162"/>
                    </a:lnTo>
                    <a:lnTo>
                      <a:pt x="73" y="163"/>
                    </a:lnTo>
                    <a:lnTo>
                      <a:pt x="64" y="164"/>
                    </a:lnTo>
                    <a:lnTo>
                      <a:pt x="56" y="163"/>
                    </a:lnTo>
                    <a:lnTo>
                      <a:pt x="48" y="162"/>
                    </a:lnTo>
                    <a:lnTo>
                      <a:pt x="39" y="159"/>
                    </a:lnTo>
                    <a:lnTo>
                      <a:pt x="33" y="154"/>
                    </a:lnTo>
                    <a:lnTo>
                      <a:pt x="25" y="149"/>
                    </a:lnTo>
                    <a:lnTo>
                      <a:pt x="18" y="142"/>
                    </a:lnTo>
                    <a:lnTo>
                      <a:pt x="13" y="136"/>
                    </a:lnTo>
                    <a:lnTo>
                      <a:pt x="8" y="127"/>
                    </a:lnTo>
                    <a:lnTo>
                      <a:pt x="4" y="118"/>
                    </a:lnTo>
                    <a:lnTo>
                      <a:pt x="2" y="107"/>
                    </a:lnTo>
                    <a:lnTo>
                      <a:pt x="0" y="97"/>
                    </a:lnTo>
                    <a:lnTo>
                      <a:pt x="0" y="85"/>
                    </a:lnTo>
                    <a:lnTo>
                      <a:pt x="0" y="67"/>
                    </a:lnTo>
                    <a:lnTo>
                      <a:pt x="3" y="51"/>
                    </a:lnTo>
                    <a:lnTo>
                      <a:pt x="5" y="44"/>
                    </a:lnTo>
                    <a:lnTo>
                      <a:pt x="8" y="38"/>
                    </a:lnTo>
                    <a:lnTo>
                      <a:pt x="11" y="31"/>
                    </a:lnTo>
                    <a:lnTo>
                      <a:pt x="15" y="26"/>
                    </a:lnTo>
                    <a:lnTo>
                      <a:pt x="18" y="21"/>
                    </a:lnTo>
                    <a:lnTo>
                      <a:pt x="24" y="17"/>
                    </a:lnTo>
                    <a:lnTo>
                      <a:pt x="29" y="13"/>
                    </a:lnTo>
                    <a:lnTo>
                      <a:pt x="34" y="9"/>
                    </a:lnTo>
                    <a:lnTo>
                      <a:pt x="47" y="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9" name="Freeform 243">
                <a:extLst>
                  <a:ext uri="{FF2B5EF4-FFF2-40B4-BE49-F238E27FC236}">
                    <a16:creationId xmlns:a16="http://schemas.microsoft.com/office/drawing/2014/main" id="{FD1A49C5-F261-483A-AA10-2F077152F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145"/>
                <a:ext cx="46" cy="46"/>
              </a:xfrm>
              <a:custGeom>
                <a:avLst/>
                <a:gdLst>
                  <a:gd name="T0" fmla="*/ 0 w 184"/>
                  <a:gd name="T1" fmla="*/ 92 h 182"/>
                  <a:gd name="T2" fmla="*/ 74 w 184"/>
                  <a:gd name="T3" fmla="*/ 79 h 182"/>
                  <a:gd name="T4" fmla="*/ 61 w 184"/>
                  <a:gd name="T5" fmla="*/ 5 h 182"/>
                  <a:gd name="T6" fmla="*/ 92 w 184"/>
                  <a:gd name="T7" fmla="*/ 0 h 182"/>
                  <a:gd name="T8" fmla="*/ 105 w 184"/>
                  <a:gd name="T9" fmla="*/ 72 h 182"/>
                  <a:gd name="T10" fmla="*/ 179 w 184"/>
                  <a:gd name="T11" fmla="*/ 59 h 182"/>
                  <a:gd name="T12" fmla="*/ 184 w 184"/>
                  <a:gd name="T13" fmla="*/ 90 h 182"/>
                  <a:gd name="T14" fmla="*/ 111 w 184"/>
                  <a:gd name="T15" fmla="*/ 103 h 182"/>
                  <a:gd name="T16" fmla="*/ 124 w 184"/>
                  <a:gd name="T17" fmla="*/ 177 h 182"/>
                  <a:gd name="T18" fmla="*/ 93 w 184"/>
                  <a:gd name="T19" fmla="*/ 182 h 182"/>
                  <a:gd name="T20" fmla="*/ 80 w 184"/>
                  <a:gd name="T21" fmla="*/ 110 h 182"/>
                  <a:gd name="T22" fmla="*/ 5 w 184"/>
                  <a:gd name="T23" fmla="*/ 123 h 182"/>
                  <a:gd name="T24" fmla="*/ 0 w 184"/>
                  <a:gd name="T25" fmla="*/ 9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4" h="182">
                    <a:moveTo>
                      <a:pt x="0" y="92"/>
                    </a:moveTo>
                    <a:lnTo>
                      <a:pt x="74" y="79"/>
                    </a:lnTo>
                    <a:lnTo>
                      <a:pt x="61" y="5"/>
                    </a:lnTo>
                    <a:lnTo>
                      <a:pt x="92" y="0"/>
                    </a:lnTo>
                    <a:lnTo>
                      <a:pt x="105" y="72"/>
                    </a:lnTo>
                    <a:lnTo>
                      <a:pt x="179" y="59"/>
                    </a:lnTo>
                    <a:lnTo>
                      <a:pt x="184" y="90"/>
                    </a:lnTo>
                    <a:lnTo>
                      <a:pt x="111" y="103"/>
                    </a:lnTo>
                    <a:lnTo>
                      <a:pt x="124" y="177"/>
                    </a:lnTo>
                    <a:lnTo>
                      <a:pt x="93" y="182"/>
                    </a:lnTo>
                    <a:lnTo>
                      <a:pt x="80" y="110"/>
                    </a:lnTo>
                    <a:lnTo>
                      <a:pt x="5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0" name="Freeform 244">
                <a:extLst>
                  <a:ext uri="{FF2B5EF4-FFF2-40B4-BE49-F238E27FC236}">
                    <a16:creationId xmlns:a16="http://schemas.microsoft.com/office/drawing/2014/main" id="{09B1E16B-2D1C-4184-9ADA-900CDEF9BA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05" y="1224"/>
                <a:ext cx="71" cy="73"/>
              </a:xfrm>
              <a:custGeom>
                <a:avLst/>
                <a:gdLst>
                  <a:gd name="T0" fmla="*/ 45 w 284"/>
                  <a:gd name="T1" fmla="*/ 252 h 289"/>
                  <a:gd name="T2" fmla="*/ 37 w 284"/>
                  <a:gd name="T3" fmla="*/ 277 h 289"/>
                  <a:gd name="T4" fmla="*/ 7 w 284"/>
                  <a:gd name="T5" fmla="*/ 282 h 289"/>
                  <a:gd name="T6" fmla="*/ 15 w 284"/>
                  <a:gd name="T7" fmla="*/ 251 h 289"/>
                  <a:gd name="T8" fmla="*/ 31 w 284"/>
                  <a:gd name="T9" fmla="*/ 219 h 289"/>
                  <a:gd name="T10" fmla="*/ 13 w 284"/>
                  <a:gd name="T11" fmla="*/ 190 h 289"/>
                  <a:gd name="T12" fmla="*/ 2 w 284"/>
                  <a:gd name="T13" fmla="*/ 155 h 289"/>
                  <a:gd name="T14" fmla="*/ 0 w 284"/>
                  <a:gd name="T15" fmla="*/ 120 h 289"/>
                  <a:gd name="T16" fmla="*/ 7 w 284"/>
                  <a:gd name="T17" fmla="*/ 87 h 289"/>
                  <a:gd name="T18" fmla="*/ 24 w 284"/>
                  <a:gd name="T19" fmla="*/ 57 h 289"/>
                  <a:gd name="T20" fmla="*/ 50 w 284"/>
                  <a:gd name="T21" fmla="*/ 32 h 289"/>
                  <a:gd name="T22" fmla="*/ 81 w 284"/>
                  <a:gd name="T23" fmla="*/ 14 h 289"/>
                  <a:gd name="T24" fmla="*/ 119 w 284"/>
                  <a:gd name="T25" fmla="*/ 3 h 289"/>
                  <a:gd name="T26" fmla="*/ 158 w 284"/>
                  <a:gd name="T27" fmla="*/ 0 h 289"/>
                  <a:gd name="T28" fmla="*/ 195 w 284"/>
                  <a:gd name="T29" fmla="*/ 6 h 289"/>
                  <a:gd name="T30" fmla="*/ 227 w 284"/>
                  <a:gd name="T31" fmla="*/ 21 h 289"/>
                  <a:gd name="T32" fmla="*/ 240 w 284"/>
                  <a:gd name="T33" fmla="*/ 31 h 289"/>
                  <a:gd name="T34" fmla="*/ 253 w 284"/>
                  <a:gd name="T35" fmla="*/ 44 h 289"/>
                  <a:gd name="T36" fmla="*/ 271 w 284"/>
                  <a:gd name="T37" fmla="*/ 72 h 289"/>
                  <a:gd name="T38" fmla="*/ 282 w 284"/>
                  <a:gd name="T39" fmla="*/ 107 h 289"/>
                  <a:gd name="T40" fmla="*/ 284 w 284"/>
                  <a:gd name="T41" fmla="*/ 144 h 289"/>
                  <a:gd name="T42" fmla="*/ 277 w 284"/>
                  <a:gd name="T43" fmla="*/ 177 h 289"/>
                  <a:gd name="T44" fmla="*/ 260 w 284"/>
                  <a:gd name="T45" fmla="*/ 208 h 289"/>
                  <a:gd name="T46" fmla="*/ 234 w 284"/>
                  <a:gd name="T47" fmla="*/ 232 h 289"/>
                  <a:gd name="T48" fmla="*/ 203 w 284"/>
                  <a:gd name="T49" fmla="*/ 250 h 289"/>
                  <a:gd name="T50" fmla="*/ 165 w 284"/>
                  <a:gd name="T51" fmla="*/ 260 h 289"/>
                  <a:gd name="T52" fmla="*/ 133 w 284"/>
                  <a:gd name="T53" fmla="*/ 264 h 289"/>
                  <a:gd name="T54" fmla="*/ 103 w 284"/>
                  <a:gd name="T55" fmla="*/ 261 h 289"/>
                  <a:gd name="T56" fmla="*/ 76 w 284"/>
                  <a:gd name="T57" fmla="*/ 252 h 289"/>
                  <a:gd name="T58" fmla="*/ 51 w 284"/>
                  <a:gd name="T59" fmla="*/ 238 h 289"/>
                  <a:gd name="T60" fmla="*/ 81 w 284"/>
                  <a:gd name="T61" fmla="*/ 168 h 289"/>
                  <a:gd name="T62" fmla="*/ 72 w 284"/>
                  <a:gd name="T63" fmla="*/ 195 h 289"/>
                  <a:gd name="T64" fmla="*/ 75 w 284"/>
                  <a:gd name="T65" fmla="*/ 213 h 289"/>
                  <a:gd name="T66" fmla="*/ 95 w 284"/>
                  <a:gd name="T67" fmla="*/ 223 h 289"/>
                  <a:gd name="T68" fmla="*/ 119 w 284"/>
                  <a:gd name="T69" fmla="*/ 226 h 289"/>
                  <a:gd name="T70" fmla="*/ 145 w 284"/>
                  <a:gd name="T71" fmla="*/ 225 h 289"/>
                  <a:gd name="T72" fmla="*/ 174 w 284"/>
                  <a:gd name="T73" fmla="*/ 220 h 289"/>
                  <a:gd name="T74" fmla="*/ 202 w 284"/>
                  <a:gd name="T75" fmla="*/ 210 h 289"/>
                  <a:gd name="T76" fmla="*/ 225 w 284"/>
                  <a:gd name="T77" fmla="*/ 194 h 289"/>
                  <a:gd name="T78" fmla="*/ 240 w 284"/>
                  <a:gd name="T79" fmla="*/ 175 h 289"/>
                  <a:gd name="T80" fmla="*/ 251 w 284"/>
                  <a:gd name="T81" fmla="*/ 151 h 289"/>
                  <a:gd name="T82" fmla="*/ 252 w 284"/>
                  <a:gd name="T83" fmla="*/ 125 h 289"/>
                  <a:gd name="T84" fmla="*/ 249 w 284"/>
                  <a:gd name="T85" fmla="*/ 103 h 289"/>
                  <a:gd name="T86" fmla="*/ 243 w 284"/>
                  <a:gd name="T87" fmla="*/ 85 h 289"/>
                  <a:gd name="T88" fmla="*/ 233 w 284"/>
                  <a:gd name="T89" fmla="*/ 70 h 289"/>
                  <a:gd name="T90" fmla="*/ 220 w 284"/>
                  <a:gd name="T91" fmla="*/ 57 h 289"/>
                  <a:gd name="T92" fmla="*/ 204 w 284"/>
                  <a:gd name="T93" fmla="*/ 47 h 289"/>
                  <a:gd name="T94" fmla="*/ 185 w 284"/>
                  <a:gd name="T95" fmla="*/ 40 h 289"/>
                  <a:gd name="T96" fmla="*/ 163 w 284"/>
                  <a:gd name="T97" fmla="*/ 37 h 289"/>
                  <a:gd name="T98" fmla="*/ 139 w 284"/>
                  <a:gd name="T99" fmla="*/ 37 h 289"/>
                  <a:gd name="T100" fmla="*/ 112 w 284"/>
                  <a:gd name="T101" fmla="*/ 43 h 289"/>
                  <a:gd name="T102" fmla="*/ 90 w 284"/>
                  <a:gd name="T103" fmla="*/ 49 h 289"/>
                  <a:gd name="T104" fmla="*/ 71 w 284"/>
                  <a:gd name="T105" fmla="*/ 59 h 289"/>
                  <a:gd name="T106" fmla="*/ 55 w 284"/>
                  <a:gd name="T107" fmla="*/ 72 h 289"/>
                  <a:gd name="T108" fmla="*/ 44 w 284"/>
                  <a:gd name="T109" fmla="*/ 88 h 289"/>
                  <a:gd name="T110" fmla="*/ 36 w 284"/>
                  <a:gd name="T111" fmla="*/ 105 h 289"/>
                  <a:gd name="T112" fmla="*/ 32 w 284"/>
                  <a:gd name="T113" fmla="*/ 123 h 289"/>
                  <a:gd name="T114" fmla="*/ 31 w 284"/>
                  <a:gd name="T115" fmla="*/ 141 h 289"/>
                  <a:gd name="T116" fmla="*/ 35 w 284"/>
                  <a:gd name="T117" fmla="*/ 160 h 289"/>
                  <a:gd name="T118" fmla="*/ 41 w 284"/>
                  <a:gd name="T119" fmla="*/ 179 h 289"/>
                  <a:gd name="T120" fmla="*/ 50 w 284"/>
                  <a:gd name="T121" fmla="*/ 177 h 289"/>
                  <a:gd name="T122" fmla="*/ 54 w 284"/>
                  <a:gd name="T123" fmla="*/ 158 h 289"/>
                  <a:gd name="T124" fmla="*/ 82 w 284"/>
                  <a:gd name="T125" fmla="*/ 15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4" h="289">
                    <a:moveTo>
                      <a:pt x="51" y="238"/>
                    </a:moveTo>
                    <a:lnTo>
                      <a:pt x="45" y="252"/>
                    </a:lnTo>
                    <a:lnTo>
                      <a:pt x="40" y="265"/>
                    </a:lnTo>
                    <a:lnTo>
                      <a:pt x="37" y="277"/>
                    </a:lnTo>
                    <a:lnTo>
                      <a:pt x="35" y="289"/>
                    </a:lnTo>
                    <a:lnTo>
                      <a:pt x="7" y="282"/>
                    </a:lnTo>
                    <a:lnTo>
                      <a:pt x="10" y="267"/>
                    </a:lnTo>
                    <a:lnTo>
                      <a:pt x="15" y="251"/>
                    </a:lnTo>
                    <a:lnTo>
                      <a:pt x="22" y="235"/>
                    </a:lnTo>
                    <a:lnTo>
                      <a:pt x="31" y="219"/>
                    </a:lnTo>
                    <a:lnTo>
                      <a:pt x="20" y="204"/>
                    </a:lnTo>
                    <a:lnTo>
                      <a:pt x="13" y="190"/>
                    </a:lnTo>
                    <a:lnTo>
                      <a:pt x="6" y="173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20"/>
                    </a:lnTo>
                    <a:lnTo>
                      <a:pt x="2" y="103"/>
                    </a:lnTo>
                    <a:lnTo>
                      <a:pt x="7" y="87"/>
                    </a:lnTo>
                    <a:lnTo>
                      <a:pt x="15" y="71"/>
                    </a:lnTo>
                    <a:lnTo>
                      <a:pt x="24" y="57"/>
                    </a:lnTo>
                    <a:lnTo>
                      <a:pt x="36" y="44"/>
                    </a:lnTo>
                    <a:lnTo>
                      <a:pt x="50" y="32"/>
                    </a:lnTo>
                    <a:lnTo>
                      <a:pt x="64" y="22"/>
                    </a:lnTo>
                    <a:lnTo>
                      <a:pt x="81" y="14"/>
                    </a:lnTo>
                    <a:lnTo>
                      <a:pt x="99" y="8"/>
                    </a:lnTo>
                    <a:lnTo>
                      <a:pt x="119" y="3"/>
                    </a:lnTo>
                    <a:lnTo>
                      <a:pt x="139" y="0"/>
                    </a:lnTo>
                    <a:lnTo>
                      <a:pt x="158" y="0"/>
                    </a:lnTo>
                    <a:lnTo>
                      <a:pt x="177" y="3"/>
                    </a:lnTo>
                    <a:lnTo>
                      <a:pt x="195" y="6"/>
                    </a:lnTo>
                    <a:lnTo>
                      <a:pt x="212" y="13"/>
                    </a:lnTo>
                    <a:lnTo>
                      <a:pt x="227" y="21"/>
                    </a:lnTo>
                    <a:lnTo>
                      <a:pt x="234" y="26"/>
                    </a:lnTo>
                    <a:lnTo>
                      <a:pt x="240" y="31"/>
                    </a:lnTo>
                    <a:lnTo>
                      <a:pt x="247" y="37"/>
                    </a:lnTo>
                    <a:lnTo>
                      <a:pt x="253" y="44"/>
                    </a:lnTo>
                    <a:lnTo>
                      <a:pt x="264" y="57"/>
                    </a:lnTo>
                    <a:lnTo>
                      <a:pt x="271" y="72"/>
                    </a:lnTo>
                    <a:lnTo>
                      <a:pt x="278" y="89"/>
                    </a:lnTo>
                    <a:lnTo>
                      <a:pt x="282" y="107"/>
                    </a:lnTo>
                    <a:lnTo>
                      <a:pt x="284" y="125"/>
                    </a:lnTo>
                    <a:lnTo>
                      <a:pt x="284" y="144"/>
                    </a:lnTo>
                    <a:lnTo>
                      <a:pt x="280" y="160"/>
                    </a:lnTo>
                    <a:lnTo>
                      <a:pt x="277" y="177"/>
                    </a:lnTo>
                    <a:lnTo>
                      <a:pt x="269" y="193"/>
                    </a:lnTo>
                    <a:lnTo>
                      <a:pt x="260" y="208"/>
                    </a:lnTo>
                    <a:lnTo>
                      <a:pt x="248" y="220"/>
                    </a:lnTo>
                    <a:lnTo>
                      <a:pt x="234" y="232"/>
                    </a:lnTo>
                    <a:lnTo>
                      <a:pt x="218" y="242"/>
                    </a:lnTo>
                    <a:lnTo>
                      <a:pt x="203" y="250"/>
                    </a:lnTo>
                    <a:lnTo>
                      <a:pt x="185" y="256"/>
                    </a:lnTo>
                    <a:lnTo>
                      <a:pt x="165" y="260"/>
                    </a:lnTo>
                    <a:lnTo>
                      <a:pt x="148" y="263"/>
                    </a:lnTo>
                    <a:lnTo>
                      <a:pt x="133" y="264"/>
                    </a:lnTo>
                    <a:lnTo>
                      <a:pt x="117" y="263"/>
                    </a:lnTo>
                    <a:lnTo>
                      <a:pt x="103" y="261"/>
                    </a:lnTo>
                    <a:lnTo>
                      <a:pt x="89" y="257"/>
                    </a:lnTo>
                    <a:lnTo>
                      <a:pt x="76" y="252"/>
                    </a:lnTo>
                    <a:lnTo>
                      <a:pt x="63" y="246"/>
                    </a:lnTo>
                    <a:lnTo>
                      <a:pt x="51" y="238"/>
                    </a:lnTo>
                    <a:close/>
                    <a:moveTo>
                      <a:pt x="82" y="153"/>
                    </a:moveTo>
                    <a:lnTo>
                      <a:pt x="81" y="168"/>
                    </a:lnTo>
                    <a:lnTo>
                      <a:pt x="77" y="182"/>
                    </a:lnTo>
                    <a:lnTo>
                      <a:pt x="72" y="195"/>
                    </a:lnTo>
                    <a:lnTo>
                      <a:pt x="66" y="207"/>
                    </a:lnTo>
                    <a:lnTo>
                      <a:pt x="75" y="213"/>
                    </a:lnTo>
                    <a:lnTo>
                      <a:pt x="85" y="219"/>
                    </a:lnTo>
                    <a:lnTo>
                      <a:pt x="95" y="223"/>
                    </a:lnTo>
                    <a:lnTo>
                      <a:pt x="106" y="225"/>
                    </a:lnTo>
                    <a:lnTo>
                      <a:pt x="119" y="226"/>
                    </a:lnTo>
                    <a:lnTo>
                      <a:pt x="130" y="226"/>
                    </a:lnTo>
                    <a:lnTo>
                      <a:pt x="145" y="225"/>
                    </a:lnTo>
                    <a:lnTo>
                      <a:pt x="159" y="224"/>
                    </a:lnTo>
                    <a:lnTo>
                      <a:pt x="174" y="220"/>
                    </a:lnTo>
                    <a:lnTo>
                      <a:pt x="189" y="216"/>
                    </a:lnTo>
                    <a:lnTo>
                      <a:pt x="202" y="210"/>
                    </a:lnTo>
                    <a:lnTo>
                      <a:pt x="213" y="202"/>
                    </a:lnTo>
                    <a:lnTo>
                      <a:pt x="225" y="194"/>
                    </a:lnTo>
                    <a:lnTo>
                      <a:pt x="233" y="185"/>
                    </a:lnTo>
                    <a:lnTo>
                      <a:pt x="240" y="175"/>
                    </a:lnTo>
                    <a:lnTo>
                      <a:pt x="245" y="163"/>
                    </a:lnTo>
                    <a:lnTo>
                      <a:pt x="251" y="151"/>
                    </a:lnTo>
                    <a:lnTo>
                      <a:pt x="252" y="138"/>
                    </a:lnTo>
                    <a:lnTo>
                      <a:pt x="252" y="125"/>
                    </a:lnTo>
                    <a:lnTo>
                      <a:pt x="251" y="113"/>
                    </a:lnTo>
                    <a:lnTo>
                      <a:pt x="249" y="103"/>
                    </a:lnTo>
                    <a:lnTo>
                      <a:pt x="245" y="94"/>
                    </a:lnTo>
                    <a:lnTo>
                      <a:pt x="243" y="85"/>
                    </a:lnTo>
                    <a:lnTo>
                      <a:pt x="238" y="78"/>
                    </a:lnTo>
                    <a:lnTo>
                      <a:pt x="233" y="70"/>
                    </a:lnTo>
                    <a:lnTo>
                      <a:pt x="226" y="63"/>
                    </a:lnTo>
                    <a:lnTo>
                      <a:pt x="220" y="57"/>
                    </a:lnTo>
                    <a:lnTo>
                      <a:pt x="212" y="52"/>
                    </a:lnTo>
                    <a:lnTo>
                      <a:pt x="204" y="47"/>
                    </a:lnTo>
                    <a:lnTo>
                      <a:pt x="195" y="43"/>
                    </a:lnTo>
                    <a:lnTo>
                      <a:pt x="185" y="40"/>
                    </a:lnTo>
                    <a:lnTo>
                      <a:pt x="174" y="37"/>
                    </a:lnTo>
                    <a:lnTo>
                      <a:pt x="163" y="37"/>
                    </a:lnTo>
                    <a:lnTo>
                      <a:pt x="151" y="37"/>
                    </a:lnTo>
                    <a:lnTo>
                      <a:pt x="139" y="37"/>
                    </a:lnTo>
                    <a:lnTo>
                      <a:pt x="125" y="40"/>
                    </a:lnTo>
                    <a:lnTo>
                      <a:pt x="112" y="43"/>
                    </a:lnTo>
                    <a:lnTo>
                      <a:pt x="101" y="45"/>
                    </a:lnTo>
                    <a:lnTo>
                      <a:pt x="90" y="49"/>
                    </a:lnTo>
                    <a:lnTo>
                      <a:pt x="80" y="54"/>
                    </a:lnTo>
                    <a:lnTo>
                      <a:pt x="71" y="59"/>
                    </a:lnTo>
                    <a:lnTo>
                      <a:pt x="63" y="66"/>
                    </a:lnTo>
                    <a:lnTo>
                      <a:pt x="55" y="72"/>
                    </a:lnTo>
                    <a:lnTo>
                      <a:pt x="49" y="80"/>
                    </a:lnTo>
                    <a:lnTo>
                      <a:pt x="44" y="88"/>
                    </a:lnTo>
                    <a:lnTo>
                      <a:pt x="40" y="96"/>
                    </a:lnTo>
                    <a:lnTo>
                      <a:pt x="36" y="105"/>
                    </a:lnTo>
                    <a:lnTo>
                      <a:pt x="33" y="114"/>
                    </a:lnTo>
                    <a:lnTo>
                      <a:pt x="32" y="123"/>
                    </a:lnTo>
                    <a:lnTo>
                      <a:pt x="31" y="132"/>
                    </a:lnTo>
                    <a:lnTo>
                      <a:pt x="31" y="141"/>
                    </a:lnTo>
                    <a:lnTo>
                      <a:pt x="32" y="151"/>
                    </a:lnTo>
                    <a:lnTo>
                      <a:pt x="35" y="160"/>
                    </a:lnTo>
                    <a:lnTo>
                      <a:pt x="37" y="169"/>
                    </a:lnTo>
                    <a:lnTo>
                      <a:pt x="41" y="179"/>
                    </a:lnTo>
                    <a:lnTo>
                      <a:pt x="46" y="186"/>
                    </a:lnTo>
                    <a:lnTo>
                      <a:pt x="50" y="177"/>
                    </a:lnTo>
                    <a:lnTo>
                      <a:pt x="53" y="167"/>
                    </a:lnTo>
                    <a:lnTo>
                      <a:pt x="54" y="158"/>
                    </a:lnTo>
                    <a:lnTo>
                      <a:pt x="55" y="147"/>
                    </a:lnTo>
                    <a:lnTo>
                      <a:pt x="82" y="153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1" name="Freeform 245">
                <a:extLst>
                  <a:ext uri="{FF2B5EF4-FFF2-40B4-BE49-F238E27FC236}">
                    <a16:creationId xmlns:a16="http://schemas.microsoft.com/office/drawing/2014/main" id="{444CCDA9-A6D8-41EA-A6E4-973F7FB51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295"/>
                <a:ext cx="57" cy="50"/>
              </a:xfrm>
              <a:custGeom>
                <a:avLst/>
                <a:gdLst>
                  <a:gd name="T0" fmla="*/ 0 w 227"/>
                  <a:gd name="T1" fmla="*/ 27 h 200"/>
                  <a:gd name="T2" fmla="*/ 27 w 227"/>
                  <a:gd name="T3" fmla="*/ 22 h 200"/>
                  <a:gd name="T4" fmla="*/ 193 w 227"/>
                  <a:gd name="T5" fmla="*/ 122 h 200"/>
                  <a:gd name="T6" fmla="*/ 189 w 227"/>
                  <a:gd name="T7" fmla="*/ 103 h 200"/>
                  <a:gd name="T8" fmla="*/ 185 w 227"/>
                  <a:gd name="T9" fmla="*/ 84 h 200"/>
                  <a:gd name="T10" fmla="*/ 171 w 227"/>
                  <a:gd name="T11" fmla="*/ 6 h 200"/>
                  <a:gd name="T12" fmla="*/ 198 w 227"/>
                  <a:gd name="T13" fmla="*/ 0 h 200"/>
                  <a:gd name="T14" fmla="*/ 227 w 227"/>
                  <a:gd name="T15" fmla="*/ 159 h 200"/>
                  <a:gd name="T16" fmla="*/ 205 w 227"/>
                  <a:gd name="T17" fmla="*/ 163 h 200"/>
                  <a:gd name="T18" fmla="*/ 61 w 227"/>
                  <a:gd name="T19" fmla="*/ 81 h 200"/>
                  <a:gd name="T20" fmla="*/ 35 w 227"/>
                  <a:gd name="T21" fmla="*/ 64 h 200"/>
                  <a:gd name="T22" fmla="*/ 38 w 227"/>
                  <a:gd name="T23" fmla="*/ 74 h 200"/>
                  <a:gd name="T24" fmla="*/ 40 w 227"/>
                  <a:gd name="T25" fmla="*/ 84 h 200"/>
                  <a:gd name="T26" fmla="*/ 42 w 227"/>
                  <a:gd name="T27" fmla="*/ 95 h 200"/>
                  <a:gd name="T28" fmla="*/ 44 w 227"/>
                  <a:gd name="T29" fmla="*/ 105 h 200"/>
                  <a:gd name="T30" fmla="*/ 60 w 227"/>
                  <a:gd name="T31" fmla="*/ 196 h 200"/>
                  <a:gd name="T32" fmla="*/ 31 w 227"/>
                  <a:gd name="T33" fmla="*/ 200 h 200"/>
                  <a:gd name="T34" fmla="*/ 0 w 227"/>
                  <a:gd name="T35" fmla="*/ 2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7" h="200">
                    <a:moveTo>
                      <a:pt x="0" y="27"/>
                    </a:moveTo>
                    <a:lnTo>
                      <a:pt x="27" y="22"/>
                    </a:lnTo>
                    <a:lnTo>
                      <a:pt x="193" y="122"/>
                    </a:lnTo>
                    <a:lnTo>
                      <a:pt x="189" y="103"/>
                    </a:lnTo>
                    <a:lnTo>
                      <a:pt x="185" y="84"/>
                    </a:lnTo>
                    <a:lnTo>
                      <a:pt x="171" y="6"/>
                    </a:lnTo>
                    <a:lnTo>
                      <a:pt x="198" y="0"/>
                    </a:lnTo>
                    <a:lnTo>
                      <a:pt x="227" y="159"/>
                    </a:lnTo>
                    <a:lnTo>
                      <a:pt x="205" y="163"/>
                    </a:lnTo>
                    <a:lnTo>
                      <a:pt x="61" y="81"/>
                    </a:lnTo>
                    <a:lnTo>
                      <a:pt x="35" y="64"/>
                    </a:lnTo>
                    <a:lnTo>
                      <a:pt x="38" y="74"/>
                    </a:lnTo>
                    <a:lnTo>
                      <a:pt x="40" y="84"/>
                    </a:lnTo>
                    <a:lnTo>
                      <a:pt x="42" y="95"/>
                    </a:lnTo>
                    <a:lnTo>
                      <a:pt x="44" y="105"/>
                    </a:lnTo>
                    <a:lnTo>
                      <a:pt x="60" y="196"/>
                    </a:lnTo>
                    <a:lnTo>
                      <a:pt x="31" y="20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2186BAC4-5B72-4F87-B193-1C95AEDECBF0}"/>
                </a:ext>
              </a:extLst>
            </p:cNvPr>
            <p:cNvSpPr txBox="1"/>
            <p:nvPr/>
          </p:nvSpPr>
          <p:spPr>
            <a:xfrm>
              <a:off x="1912315" y="2523867"/>
              <a:ext cx="2940475" cy="464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en-GB" dirty="0">
                <a:solidFill>
                  <a:srgbClr val="FF0000"/>
                </a:solidFill>
              </a:endParaRPr>
            </a:p>
          </p:txBody>
        </p:sp>
      </p:grpSp>
      <p:sp>
        <p:nvSpPr>
          <p:cNvPr id="24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247" name="Freeform 246"/>
          <p:cNvSpPr>
            <a:spLocks/>
          </p:cNvSpPr>
          <p:nvPr/>
        </p:nvSpPr>
        <p:spPr bwMode="auto">
          <a:xfrm>
            <a:off x="2051720" y="3212976"/>
            <a:ext cx="1825625" cy="1435100"/>
          </a:xfrm>
          <a:custGeom>
            <a:avLst/>
            <a:gdLst>
              <a:gd name="T0" fmla="*/ 0 w 1825919"/>
              <a:gd name="T1" fmla="*/ 1106488 h 1435194"/>
              <a:gd name="T2" fmla="*/ 239059 w 1825919"/>
              <a:gd name="T3" fmla="*/ 568605 h 1435194"/>
              <a:gd name="T4" fmla="*/ 642471 w 1825919"/>
              <a:gd name="T5" fmla="*/ 105429 h 1435194"/>
              <a:gd name="T6" fmla="*/ 1150471 w 1825919"/>
              <a:gd name="T7" fmla="*/ 841 h 1435194"/>
              <a:gd name="T8" fmla="*/ 1628589 w 1825919"/>
              <a:gd name="T9" fmla="*/ 135311 h 1435194"/>
              <a:gd name="T10" fmla="*/ 1822824 w 1825919"/>
              <a:gd name="T11" fmla="*/ 344488 h 1435194"/>
              <a:gd name="T12" fmla="*/ 1718236 w 1825919"/>
              <a:gd name="T13" fmla="*/ 867429 h 1435194"/>
              <a:gd name="T14" fmla="*/ 1344706 w 1825919"/>
              <a:gd name="T15" fmla="*/ 1181194 h 1435194"/>
              <a:gd name="T16" fmla="*/ 971177 w 1825919"/>
              <a:gd name="T17" fmla="*/ 1435194 h 1435194"/>
              <a:gd name="T18" fmla="*/ 971177 w 1825919"/>
              <a:gd name="T19" fmla="*/ 1435194 h 14351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25919" h="1435194">
                <a:moveTo>
                  <a:pt x="0" y="1106488"/>
                </a:moveTo>
                <a:cubicBezTo>
                  <a:pt x="65990" y="920968"/>
                  <a:pt x="131980" y="735448"/>
                  <a:pt x="239059" y="568605"/>
                </a:cubicBezTo>
                <a:cubicBezTo>
                  <a:pt x="346138" y="401762"/>
                  <a:pt x="490569" y="200056"/>
                  <a:pt x="642471" y="105429"/>
                </a:cubicBezTo>
                <a:cubicBezTo>
                  <a:pt x="794373" y="10802"/>
                  <a:pt x="986118" y="-4139"/>
                  <a:pt x="1150471" y="841"/>
                </a:cubicBezTo>
                <a:cubicBezTo>
                  <a:pt x="1314824" y="5821"/>
                  <a:pt x="1516530" y="78037"/>
                  <a:pt x="1628589" y="135311"/>
                </a:cubicBezTo>
                <a:cubicBezTo>
                  <a:pt x="1740648" y="192585"/>
                  <a:pt x="1807883" y="222468"/>
                  <a:pt x="1822824" y="344488"/>
                </a:cubicBezTo>
                <a:cubicBezTo>
                  <a:pt x="1837765" y="466508"/>
                  <a:pt x="1797922" y="727978"/>
                  <a:pt x="1718236" y="867429"/>
                </a:cubicBezTo>
                <a:cubicBezTo>
                  <a:pt x="1638550" y="1006880"/>
                  <a:pt x="1469216" y="1086567"/>
                  <a:pt x="1344706" y="1181194"/>
                </a:cubicBezTo>
                <a:cubicBezTo>
                  <a:pt x="1220196" y="1275821"/>
                  <a:pt x="971177" y="1435194"/>
                  <a:pt x="971177" y="1435194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48" name="Freeform 247"/>
          <p:cNvSpPr>
            <a:spLocks/>
          </p:cNvSpPr>
          <p:nvPr/>
        </p:nvSpPr>
        <p:spPr bwMode="auto">
          <a:xfrm>
            <a:off x="2239724" y="1772816"/>
            <a:ext cx="3300413" cy="2411413"/>
          </a:xfrm>
          <a:custGeom>
            <a:avLst/>
            <a:gdLst>
              <a:gd name="T0" fmla="*/ 0 w 3299546"/>
              <a:gd name="T1" fmla="*/ 1544024 h 2410613"/>
              <a:gd name="T2" fmla="*/ 657411 w 3299546"/>
              <a:gd name="T3" fmla="*/ 348730 h 2410613"/>
              <a:gd name="T4" fmla="*/ 1090705 w 3299546"/>
              <a:gd name="T5" fmla="*/ 64848 h 2410613"/>
              <a:gd name="T6" fmla="*/ 1419411 w 3299546"/>
              <a:gd name="T7" fmla="*/ 5083 h 2410613"/>
              <a:gd name="T8" fmla="*/ 2420470 w 3299546"/>
              <a:gd name="T9" fmla="*/ 154495 h 2410613"/>
              <a:gd name="T10" fmla="*/ 2958352 w 3299546"/>
              <a:gd name="T11" fmla="*/ 393554 h 2410613"/>
              <a:gd name="T12" fmla="*/ 3287058 w 3299546"/>
              <a:gd name="T13" fmla="*/ 692377 h 2410613"/>
              <a:gd name="T14" fmla="*/ 3182470 w 3299546"/>
              <a:gd name="T15" fmla="*/ 1349789 h 2410613"/>
              <a:gd name="T16" fmla="*/ 2734235 w 3299546"/>
              <a:gd name="T17" fmla="*/ 1902613 h 2410613"/>
              <a:gd name="T18" fmla="*/ 2002117 w 3299546"/>
              <a:gd name="T19" fmla="*/ 2410613 h 2410613"/>
              <a:gd name="T20" fmla="*/ 2002117 w 3299546"/>
              <a:gd name="T21" fmla="*/ 2410613 h 241061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299546" h="2410613">
                <a:moveTo>
                  <a:pt x="0" y="1544024"/>
                </a:moveTo>
                <a:cubicBezTo>
                  <a:pt x="237813" y="1069641"/>
                  <a:pt x="475627" y="595259"/>
                  <a:pt x="657411" y="348730"/>
                </a:cubicBezTo>
                <a:cubicBezTo>
                  <a:pt x="839195" y="102201"/>
                  <a:pt x="963705" y="122122"/>
                  <a:pt x="1090705" y="64848"/>
                </a:cubicBezTo>
                <a:cubicBezTo>
                  <a:pt x="1217705" y="7574"/>
                  <a:pt x="1197784" y="-9858"/>
                  <a:pt x="1419411" y="5083"/>
                </a:cubicBezTo>
                <a:cubicBezTo>
                  <a:pt x="1641039" y="20024"/>
                  <a:pt x="2163980" y="89750"/>
                  <a:pt x="2420470" y="154495"/>
                </a:cubicBezTo>
                <a:cubicBezTo>
                  <a:pt x="2676960" y="219240"/>
                  <a:pt x="2813921" y="303907"/>
                  <a:pt x="2958352" y="393554"/>
                </a:cubicBezTo>
                <a:cubicBezTo>
                  <a:pt x="3102783" y="483201"/>
                  <a:pt x="3249705" y="533004"/>
                  <a:pt x="3287058" y="692377"/>
                </a:cubicBezTo>
                <a:cubicBezTo>
                  <a:pt x="3324411" y="851750"/>
                  <a:pt x="3274607" y="1148083"/>
                  <a:pt x="3182470" y="1349789"/>
                </a:cubicBezTo>
                <a:cubicBezTo>
                  <a:pt x="3090333" y="1551495"/>
                  <a:pt x="2930960" y="1725809"/>
                  <a:pt x="2734235" y="1902613"/>
                </a:cubicBezTo>
                <a:cubicBezTo>
                  <a:pt x="2537510" y="2079417"/>
                  <a:pt x="2002117" y="2410613"/>
                  <a:pt x="2002117" y="2410613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49" name="Freeform 248"/>
          <p:cNvSpPr>
            <a:spLocks/>
          </p:cNvSpPr>
          <p:nvPr/>
        </p:nvSpPr>
        <p:spPr bwMode="auto">
          <a:xfrm>
            <a:off x="2255599" y="1124744"/>
            <a:ext cx="4116388" cy="3170238"/>
          </a:xfrm>
          <a:custGeom>
            <a:avLst/>
            <a:gdLst>
              <a:gd name="T0" fmla="*/ 0 w 4116587"/>
              <a:gd name="T1" fmla="*/ 1959586 h 3169822"/>
              <a:gd name="T2" fmla="*/ 343647 w 4116587"/>
              <a:gd name="T3" fmla="*/ 1063116 h 3169822"/>
              <a:gd name="T4" fmla="*/ 911411 w 4116587"/>
              <a:gd name="T5" fmla="*/ 286175 h 3169822"/>
              <a:gd name="T6" fmla="*/ 1568823 w 4116587"/>
              <a:gd name="T7" fmla="*/ 2292 h 3169822"/>
              <a:gd name="T8" fmla="*/ 2644588 w 4116587"/>
              <a:gd name="T9" fmla="*/ 166645 h 3169822"/>
              <a:gd name="T10" fmla="*/ 3541059 w 4116587"/>
              <a:gd name="T11" fmla="*/ 420645 h 3169822"/>
              <a:gd name="T12" fmla="*/ 3974353 w 4116587"/>
              <a:gd name="T13" fmla="*/ 764292 h 3169822"/>
              <a:gd name="T14" fmla="*/ 4108823 w 4116587"/>
              <a:gd name="T15" fmla="*/ 1167704 h 3169822"/>
              <a:gd name="T16" fmla="*/ 4064000 w 4116587"/>
              <a:gd name="T17" fmla="*/ 1660763 h 3169822"/>
              <a:gd name="T18" fmla="*/ 3765176 w 4116587"/>
              <a:gd name="T19" fmla="*/ 2392880 h 3169822"/>
              <a:gd name="T20" fmla="*/ 2689411 w 4116587"/>
              <a:gd name="T21" fmla="*/ 3169822 h 316982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116587" h="3169822">
                <a:moveTo>
                  <a:pt x="0" y="1959586"/>
                </a:moveTo>
                <a:cubicBezTo>
                  <a:pt x="95872" y="1650802"/>
                  <a:pt x="191745" y="1342018"/>
                  <a:pt x="343647" y="1063116"/>
                </a:cubicBezTo>
                <a:cubicBezTo>
                  <a:pt x="495549" y="784214"/>
                  <a:pt x="707215" y="462979"/>
                  <a:pt x="911411" y="286175"/>
                </a:cubicBezTo>
                <a:cubicBezTo>
                  <a:pt x="1115607" y="109371"/>
                  <a:pt x="1279960" y="22214"/>
                  <a:pt x="1568823" y="2292"/>
                </a:cubicBezTo>
                <a:cubicBezTo>
                  <a:pt x="1857686" y="-17630"/>
                  <a:pt x="2315882" y="96920"/>
                  <a:pt x="2644588" y="166645"/>
                </a:cubicBezTo>
                <a:cubicBezTo>
                  <a:pt x="2973294" y="236370"/>
                  <a:pt x="3319431" y="321037"/>
                  <a:pt x="3541059" y="420645"/>
                </a:cubicBezTo>
                <a:cubicBezTo>
                  <a:pt x="3762687" y="520253"/>
                  <a:pt x="3879726" y="639782"/>
                  <a:pt x="3974353" y="764292"/>
                </a:cubicBezTo>
                <a:cubicBezTo>
                  <a:pt x="4068980" y="888802"/>
                  <a:pt x="4093882" y="1018292"/>
                  <a:pt x="4108823" y="1167704"/>
                </a:cubicBezTo>
                <a:cubicBezTo>
                  <a:pt x="4123764" y="1317116"/>
                  <a:pt x="4121275" y="1456567"/>
                  <a:pt x="4064000" y="1660763"/>
                </a:cubicBezTo>
                <a:cubicBezTo>
                  <a:pt x="4006725" y="1864959"/>
                  <a:pt x="3994274" y="2141370"/>
                  <a:pt x="3765176" y="2392880"/>
                </a:cubicBezTo>
                <a:cubicBezTo>
                  <a:pt x="3536078" y="2644390"/>
                  <a:pt x="2689411" y="3169822"/>
                  <a:pt x="2689411" y="3169822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50" name="TextBox 7"/>
          <p:cNvSpPr txBox="1">
            <a:spLocks noChangeArrowheads="1"/>
          </p:cNvSpPr>
          <p:nvPr/>
        </p:nvSpPr>
        <p:spPr bwMode="auto">
          <a:xfrm>
            <a:off x="6518549" y="2591847"/>
            <a:ext cx="1439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FF"/>
                </a:solidFill>
              </a:rPr>
              <a:t>Individual 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</a:rPr>
              <a:t>P-T paths</a:t>
            </a:r>
          </a:p>
        </p:txBody>
      </p:sp>
      <p:sp>
        <p:nvSpPr>
          <p:cNvPr id="251" name="Content Placeholder 2">
            <a:extLst>
              <a:ext uri="{FF2B5EF4-FFF2-40B4-BE49-F238E27FC236}">
                <a16:creationId xmlns:a16="http://schemas.microsoft.com/office/drawing/2014/main" id="{1AF6FF6E-DA46-4173-BF6E-C994FF1B2310}"/>
              </a:ext>
            </a:extLst>
          </p:cNvPr>
          <p:cNvSpPr txBox="1">
            <a:spLocks/>
          </p:cNvSpPr>
          <p:nvPr/>
        </p:nvSpPr>
        <p:spPr>
          <a:xfrm>
            <a:off x="289345" y="5946185"/>
            <a:ext cx="8496944" cy="78883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As burial ceases, the relatively cold rock can continue to warm.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Resulting in an arcing P-T profile.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75421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223"/>
          <p:cNvGrpSpPr/>
          <p:nvPr/>
        </p:nvGrpSpPr>
        <p:grpSpPr>
          <a:xfrm>
            <a:off x="1115616" y="1052736"/>
            <a:ext cx="6768752" cy="4786988"/>
            <a:chOff x="337343" y="1306308"/>
            <a:chExt cx="7979073" cy="5551700"/>
          </a:xfrm>
        </p:grpSpPr>
        <p:grpSp>
          <p:nvGrpSpPr>
            <p:cNvPr id="2" name="Group 4">
              <a:extLst>
                <a:ext uri="{FF2B5EF4-FFF2-40B4-BE49-F238E27FC236}">
                  <a16:creationId xmlns:a16="http://schemas.microsoft.com/office/drawing/2014/main" id="{F50A7899-0A2A-4B63-95C6-E7A46D545E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7343" y="1306308"/>
              <a:ext cx="7979073" cy="5551700"/>
              <a:chOff x="226" y="307"/>
              <a:chExt cx="5335" cy="3712"/>
            </a:xfrm>
          </p:grpSpPr>
          <p:sp>
            <p:nvSpPr>
              <p:cNvPr id="3" name="AutoShape 3">
                <a:extLst>
                  <a:ext uri="{FF2B5EF4-FFF2-40B4-BE49-F238E27FC236}">
                    <a16:creationId xmlns:a16="http://schemas.microsoft.com/office/drawing/2014/main" id="{F4643FF1-C524-4D98-9107-4C5E684AC89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92" y="343"/>
                <a:ext cx="5175" cy="3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4" name="Group 205">
                <a:extLst>
                  <a:ext uri="{FF2B5EF4-FFF2-40B4-BE49-F238E27FC236}">
                    <a16:creationId xmlns:a16="http://schemas.microsoft.com/office/drawing/2014/main" id="{7B64A6EF-04B4-464B-8D74-0A5757145C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" y="307"/>
                <a:ext cx="5335" cy="3712"/>
                <a:chOff x="226" y="307"/>
                <a:chExt cx="5335" cy="3712"/>
              </a:xfrm>
            </p:grpSpPr>
            <p:sp>
              <p:nvSpPr>
                <p:cNvPr id="22542" name="Rectangle 5">
                  <a:extLst>
                    <a:ext uri="{FF2B5EF4-FFF2-40B4-BE49-F238E27FC236}">
                      <a16:creationId xmlns:a16="http://schemas.microsoft.com/office/drawing/2014/main" id="{7EEFE25C-017F-4E50-9E1B-56173BEC27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" y="409"/>
                  <a:ext cx="4326" cy="2880"/>
                </a:xfrm>
                <a:prstGeom prst="rect">
                  <a:avLst/>
                </a:prstGeom>
                <a:solidFill>
                  <a:srgbClr val="FBFA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43" name="Rectangle 6">
                  <a:extLst>
                    <a:ext uri="{FF2B5EF4-FFF2-40B4-BE49-F238E27FC236}">
                      <a16:creationId xmlns:a16="http://schemas.microsoft.com/office/drawing/2014/main" id="{A8E327D8-1D44-44C4-9312-C2F12CABB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6" y="3763"/>
                  <a:ext cx="170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Temperature  (°C)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4" name="Rectangle 7">
                  <a:extLst>
                    <a:ext uri="{FF2B5EF4-FFF2-40B4-BE49-F238E27FC236}">
                      <a16:creationId xmlns:a16="http://schemas.microsoft.com/office/drawing/2014/main" id="{D37CA4E8-860A-4A3F-BA14-635714D2E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4" y="2272"/>
                  <a:ext cx="220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P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5" name="Rectangle 8">
                  <a:extLst>
                    <a:ext uri="{FF2B5EF4-FFF2-40B4-BE49-F238E27FC236}">
                      <a16:creationId xmlns:a16="http://schemas.microsoft.com/office/drawing/2014/main" id="{A758C81B-D0F5-436F-9919-2E898C913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2170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6" name="Rectangle 9">
                  <a:extLst>
                    <a:ext uri="{FF2B5EF4-FFF2-40B4-BE49-F238E27FC236}">
                      <a16:creationId xmlns:a16="http://schemas.microsoft.com/office/drawing/2014/main" id="{156F82A1-BF19-4DE4-8F7F-E3902A80D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208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7" name="Rectangle 10">
                  <a:extLst>
                    <a:ext uri="{FF2B5EF4-FFF2-40B4-BE49-F238E27FC236}">
                      <a16:creationId xmlns:a16="http://schemas.microsoft.com/office/drawing/2014/main" id="{B7EB8497-5F53-4220-934E-69163B851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973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8" name="Rectangle 11">
                  <a:extLst>
                    <a:ext uri="{FF2B5EF4-FFF2-40B4-BE49-F238E27FC236}">
                      <a16:creationId xmlns:a16="http://schemas.microsoft.com/office/drawing/2014/main" id="{4D523D4B-84F0-41F9-8ACE-9D2F062F0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8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49" name="Rectangle 12">
                  <a:extLst>
                    <a:ext uri="{FF2B5EF4-FFF2-40B4-BE49-F238E27FC236}">
                      <a16:creationId xmlns:a16="http://schemas.microsoft.com/office/drawing/2014/main" id="{365D24DB-0F40-440B-B0D9-644F762AE4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754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u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0" name="Rectangle 13">
                  <a:extLst>
                    <a:ext uri="{FF2B5EF4-FFF2-40B4-BE49-F238E27FC236}">
                      <a16:creationId xmlns:a16="http://schemas.microsoft.com/office/drawing/2014/main" id="{C15FC2AA-15ED-4FBD-AAA7-2FB270552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1658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1" name="Rectangle 14">
                  <a:extLst>
                    <a:ext uri="{FF2B5EF4-FFF2-40B4-BE49-F238E27FC236}">
                      <a16:creationId xmlns:a16="http://schemas.microsoft.com/office/drawing/2014/main" id="{9C0E622B-E6C2-4D7D-BACC-A920BDB72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567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2" name="Rectangle 15">
                  <a:extLst>
                    <a:ext uri="{FF2B5EF4-FFF2-40B4-BE49-F238E27FC236}">
                      <a16:creationId xmlns:a16="http://schemas.microsoft.com/office/drawing/2014/main" id="{B244C72B-2C4C-4C51-BA28-95403C46F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88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3" name="Rectangle 16">
                  <a:extLst>
                    <a:ext uri="{FF2B5EF4-FFF2-40B4-BE49-F238E27FC236}">
                      <a16:creationId xmlns:a16="http://schemas.microsoft.com/office/drawing/2014/main" id="{5A82527F-8BC4-4E8E-82B6-41E470490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81" y="1434"/>
                  <a:ext cx="14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4" name="Rectangle 17">
                  <a:extLst>
                    <a:ext uri="{FF2B5EF4-FFF2-40B4-BE49-F238E27FC236}">
                      <a16:creationId xmlns:a16="http://schemas.microsoft.com/office/drawing/2014/main" id="{44B9A364-381C-4870-BEE6-A7C1B8CE5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1376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(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5" name="Rectangle 18">
                  <a:extLst>
                    <a:ext uri="{FF2B5EF4-FFF2-40B4-BE49-F238E27FC236}">
                      <a16:creationId xmlns:a16="http://schemas.microsoft.com/office/drawing/2014/main" id="{7AA07DBC-16FB-49FD-B5F0-AF53BA343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290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6" name="Rectangle 19">
                  <a:extLst>
                    <a:ext uri="{FF2B5EF4-FFF2-40B4-BE49-F238E27FC236}">
                      <a16:creationId xmlns:a16="http://schemas.microsoft.com/office/drawing/2014/main" id="{AF7CBE01-1DED-48A1-A9AA-4AE5604B1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49" y="1178"/>
                  <a:ext cx="20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7" name="Rectangle 20">
                  <a:extLst>
                    <a:ext uri="{FF2B5EF4-FFF2-40B4-BE49-F238E27FC236}">
                      <a16:creationId xmlns:a16="http://schemas.microsoft.com/office/drawing/2014/main" id="{EF80A776-DB3F-4927-A3DE-F72017CCE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54" y="1066"/>
                  <a:ext cx="199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8" name="Rectangle 21">
                  <a:extLst>
                    <a:ext uri="{FF2B5EF4-FFF2-40B4-BE49-F238E27FC236}">
                      <a16:creationId xmlns:a16="http://schemas.microsoft.com/office/drawing/2014/main" id="{ECCBFB03-1183-421A-989E-5BF2F2F64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0" y="975"/>
                  <a:ext cx="167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r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59" name="Rectangle 22">
                  <a:extLst>
                    <a:ext uri="{FF2B5EF4-FFF2-40B4-BE49-F238E27FC236}">
                      <a16:creationId xmlns:a16="http://schemas.microsoft.com/office/drawing/2014/main" id="{B0FBC8C9-FEE8-4A40-95FC-95BC249331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276" y="907"/>
                  <a:ext cx="156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1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)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60" name="Rectangle 23">
                  <a:extLst>
                    <a:ext uri="{FF2B5EF4-FFF2-40B4-BE49-F238E27FC236}">
                      <a16:creationId xmlns:a16="http://schemas.microsoft.com/office/drawing/2014/main" id="{19B109F1-029D-4DF2-9EBE-8650C0B00C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3" y="3283"/>
                  <a:ext cx="6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1" name="Freeform 24">
                  <a:extLst>
                    <a:ext uri="{FF2B5EF4-FFF2-40B4-BE49-F238E27FC236}">
                      <a16:creationId xmlns:a16="http://schemas.microsoft.com/office/drawing/2014/main" id="{CF42FA94-1B86-4F1C-A32E-712E56224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283"/>
                  <a:ext cx="4325" cy="12"/>
                </a:xfrm>
                <a:custGeom>
                  <a:avLst/>
                  <a:gdLst>
                    <a:gd name="T0" fmla="*/ 0 w 17299"/>
                    <a:gd name="T1" fmla="*/ 24 h 48"/>
                    <a:gd name="T2" fmla="*/ 23 w 17299"/>
                    <a:gd name="T3" fmla="*/ 48 h 48"/>
                    <a:gd name="T4" fmla="*/ 17299 w 17299"/>
                    <a:gd name="T5" fmla="*/ 48 h 48"/>
                    <a:gd name="T6" fmla="*/ 17299 w 17299"/>
                    <a:gd name="T7" fmla="*/ 0 h 48"/>
                    <a:gd name="T8" fmla="*/ 23 w 17299"/>
                    <a:gd name="T9" fmla="*/ 0 h 48"/>
                    <a:gd name="T10" fmla="*/ 0 w 17299"/>
                    <a:gd name="T11" fmla="*/ 24 h 48"/>
                    <a:gd name="T12" fmla="*/ 0 w 17299"/>
                    <a:gd name="T13" fmla="*/ 24 h 48"/>
                    <a:gd name="T14" fmla="*/ 0 w 17299"/>
                    <a:gd name="T15" fmla="*/ 48 h 48"/>
                    <a:gd name="T16" fmla="*/ 23 w 17299"/>
                    <a:gd name="T17" fmla="*/ 48 h 48"/>
                    <a:gd name="T18" fmla="*/ 0 w 17299"/>
                    <a:gd name="T19" fmla="*/ 24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299" h="48">
                      <a:moveTo>
                        <a:pt x="0" y="24"/>
                      </a:moveTo>
                      <a:lnTo>
                        <a:pt x="23" y="48"/>
                      </a:lnTo>
                      <a:lnTo>
                        <a:pt x="17299" y="48"/>
                      </a:lnTo>
                      <a:lnTo>
                        <a:pt x="17299" y="0"/>
                      </a:lnTo>
                      <a:lnTo>
                        <a:pt x="23" y="0"/>
                      </a:lnTo>
                      <a:lnTo>
                        <a:pt x="0" y="24"/>
                      </a:lnTo>
                      <a:lnTo>
                        <a:pt x="0" y="24"/>
                      </a:lnTo>
                      <a:lnTo>
                        <a:pt x="0" y="48"/>
                      </a:lnTo>
                      <a:lnTo>
                        <a:pt x="23" y="4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2" name="Rectangle 25">
                  <a:extLst>
                    <a:ext uri="{FF2B5EF4-FFF2-40B4-BE49-F238E27FC236}">
                      <a16:creationId xmlns:a16="http://schemas.microsoft.com/office/drawing/2014/main" id="{7C40D448-A795-4435-96BD-21560381E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9"/>
                  <a:ext cx="12" cy="2880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3" name="Rectangle 26">
                  <a:extLst>
                    <a:ext uri="{FF2B5EF4-FFF2-40B4-BE49-F238E27FC236}">
                      <a16:creationId xmlns:a16="http://schemas.microsoft.com/office/drawing/2014/main" id="{247AFE1A-1F02-40E7-8CD9-624F48568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403"/>
                  <a:ext cx="12" cy="6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4" name="Rectangle 27">
                  <a:extLst>
                    <a:ext uri="{FF2B5EF4-FFF2-40B4-BE49-F238E27FC236}">
                      <a16:creationId xmlns:a16="http://schemas.microsoft.com/office/drawing/2014/main" id="{E64FF46E-D909-4D87-BD33-A7ED67CA7D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28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5" name="Rectangle 28">
                  <a:extLst>
                    <a:ext uri="{FF2B5EF4-FFF2-40B4-BE49-F238E27FC236}">
                      <a16:creationId xmlns:a16="http://schemas.microsoft.com/office/drawing/2014/main" id="{6518E213-1484-43F8-A085-4ABCD21146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8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6" name="Rectangle 29">
                  <a:extLst>
                    <a:ext uri="{FF2B5EF4-FFF2-40B4-BE49-F238E27FC236}">
                      <a16:creationId xmlns:a16="http://schemas.microsoft.com/office/drawing/2014/main" id="{AD949FB5-BC50-4B61-8E8A-59BB2D2D6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0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7" name="Rectangle 30">
                  <a:extLst>
                    <a:ext uri="{FF2B5EF4-FFF2-40B4-BE49-F238E27FC236}">
                      <a16:creationId xmlns:a16="http://schemas.microsoft.com/office/drawing/2014/main" id="{3FF8C8FD-940C-49B8-B807-F1373BF5C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2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8" name="Rectangle 31">
                  <a:extLst>
                    <a:ext uri="{FF2B5EF4-FFF2-40B4-BE49-F238E27FC236}">
                      <a16:creationId xmlns:a16="http://schemas.microsoft.com/office/drawing/2014/main" id="{F0D7D1AC-40B0-40EC-A15B-259D0A099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4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69" name="Rectangle 32">
                  <a:extLst>
                    <a:ext uri="{FF2B5EF4-FFF2-40B4-BE49-F238E27FC236}">
                      <a16:creationId xmlns:a16="http://schemas.microsoft.com/office/drawing/2014/main" id="{345B3EBE-19A1-4FF6-B9EF-3056B73A3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6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0" name="Rectangle 33">
                  <a:extLst>
                    <a:ext uri="{FF2B5EF4-FFF2-40B4-BE49-F238E27FC236}">
                      <a16:creationId xmlns:a16="http://schemas.microsoft.com/office/drawing/2014/main" id="{F8D69F18-54DA-4A97-879E-CEB25915F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1" name="Rectangle 34">
                  <a:extLst>
                    <a:ext uri="{FF2B5EF4-FFF2-40B4-BE49-F238E27FC236}">
                      <a16:creationId xmlns:a16="http://schemas.microsoft.com/office/drawing/2014/main" id="{7D773C4C-8882-4C2C-9D89-8025F6E19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9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2" name="Rectangle 35">
                  <a:extLst>
                    <a:ext uri="{FF2B5EF4-FFF2-40B4-BE49-F238E27FC236}">
                      <a16:creationId xmlns:a16="http://schemas.microsoft.com/office/drawing/2014/main" id="{FACC4179-9353-40EF-944F-D5E15B05E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51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3" name="Rectangle 36">
                  <a:extLst>
                    <a:ext uri="{FF2B5EF4-FFF2-40B4-BE49-F238E27FC236}">
                      <a16:creationId xmlns:a16="http://schemas.microsoft.com/office/drawing/2014/main" id="{2B5A90AA-4E7B-4DAD-B675-7F6DD58D5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83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4" name="Rectangle 37">
                  <a:extLst>
                    <a:ext uri="{FF2B5EF4-FFF2-40B4-BE49-F238E27FC236}">
                      <a16:creationId xmlns:a16="http://schemas.microsoft.com/office/drawing/2014/main" id="{996F19A2-FAFD-43D4-A222-72F7EB1D5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5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5" name="Rectangle 38">
                  <a:extLst>
                    <a:ext uri="{FF2B5EF4-FFF2-40B4-BE49-F238E27FC236}">
                      <a16:creationId xmlns:a16="http://schemas.microsoft.com/office/drawing/2014/main" id="{A9AC59BC-89BA-4E36-B186-D607B3ADB5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7" y="3289"/>
                  <a:ext cx="12" cy="7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6" name="Rectangle 39">
                  <a:extLst>
                    <a:ext uri="{FF2B5EF4-FFF2-40B4-BE49-F238E27FC236}">
                      <a16:creationId xmlns:a16="http://schemas.microsoft.com/office/drawing/2014/main" id="{6A2F8807-9C4A-4C78-97B7-0BFB50A59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99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7" name="Rectangle 40">
                  <a:extLst>
                    <a:ext uri="{FF2B5EF4-FFF2-40B4-BE49-F238E27FC236}">
                      <a16:creationId xmlns:a16="http://schemas.microsoft.com/office/drawing/2014/main" id="{02C2A4FD-7763-4092-8DA6-B63D419D6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70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8" name="Rectangle 41">
                  <a:extLst>
                    <a:ext uri="{FF2B5EF4-FFF2-40B4-BE49-F238E27FC236}">
                      <a16:creationId xmlns:a16="http://schemas.microsoft.com/office/drawing/2014/main" id="{DA43024B-A527-46A7-9DE1-C38CCAD16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41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79" name="Rectangle 42">
                  <a:extLst>
                    <a:ext uri="{FF2B5EF4-FFF2-40B4-BE49-F238E27FC236}">
                      <a16:creationId xmlns:a16="http://schemas.microsoft.com/office/drawing/2014/main" id="{EE1F53F5-EAC8-4BCD-9B8F-BE32A7C4B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13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0" name="Rectangle 43">
                  <a:extLst>
                    <a:ext uri="{FF2B5EF4-FFF2-40B4-BE49-F238E27FC236}">
                      <a16:creationId xmlns:a16="http://schemas.microsoft.com/office/drawing/2014/main" id="{282A4028-2420-4B3B-BD38-F5842177D5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84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1" name="Rectangle 44">
                  <a:extLst>
                    <a:ext uri="{FF2B5EF4-FFF2-40B4-BE49-F238E27FC236}">
                      <a16:creationId xmlns:a16="http://schemas.microsoft.com/office/drawing/2014/main" id="{0CDD8D5F-F2A2-40BD-B100-25B0B6E87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555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2" name="Rectangle 45">
                  <a:extLst>
                    <a:ext uri="{FF2B5EF4-FFF2-40B4-BE49-F238E27FC236}">
                      <a16:creationId xmlns:a16="http://schemas.microsoft.com/office/drawing/2014/main" id="{49254DAE-7C4D-4CA6-BCF5-27A17A1E6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267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3" name="Rectangle 46">
                  <a:extLst>
                    <a:ext uri="{FF2B5EF4-FFF2-40B4-BE49-F238E27FC236}">
                      <a16:creationId xmlns:a16="http://schemas.microsoft.com/office/drawing/2014/main" id="{19D5025B-72C3-47DC-886A-560E5CC59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979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4" name="Rectangle 47">
                  <a:extLst>
                    <a:ext uri="{FF2B5EF4-FFF2-40B4-BE49-F238E27FC236}">
                      <a16:creationId xmlns:a16="http://schemas.microsoft.com/office/drawing/2014/main" id="{7F5952EE-0F24-4B13-9104-7D759ACDE2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691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5" name="Rectangle 48">
                  <a:extLst>
                    <a:ext uri="{FF2B5EF4-FFF2-40B4-BE49-F238E27FC236}">
                      <a16:creationId xmlns:a16="http://schemas.microsoft.com/office/drawing/2014/main" id="{83B403DF-AF6C-41B1-A4A5-841FF4631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403"/>
                  <a:ext cx="72" cy="12"/>
                </a:xfrm>
                <a:prstGeom prst="rect">
                  <a:avLst/>
                </a:pr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86" name="Rectangle 49">
                  <a:extLst>
                    <a:ext uri="{FF2B5EF4-FFF2-40B4-BE49-F238E27FC236}">
                      <a16:creationId xmlns:a16="http://schemas.microsoft.com/office/drawing/2014/main" id="{0B21845C-3BA2-4F8E-8569-4381D12F0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318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7" name="Rectangle 50">
                  <a:extLst>
                    <a:ext uri="{FF2B5EF4-FFF2-40B4-BE49-F238E27FC236}">
                      <a16:creationId xmlns:a16="http://schemas.microsoft.com/office/drawing/2014/main" id="{F9692779-C521-44DE-A44F-E9B0BE907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611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8" name="Rectangle 51">
                  <a:extLst>
                    <a:ext uri="{FF2B5EF4-FFF2-40B4-BE49-F238E27FC236}">
                      <a16:creationId xmlns:a16="http://schemas.microsoft.com/office/drawing/2014/main" id="{032B8416-69B9-44FA-9855-22ED2558F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2035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89" name="Rectangle 52">
                  <a:extLst>
                    <a:ext uri="{FF2B5EF4-FFF2-40B4-BE49-F238E27FC236}">
                      <a16:creationId xmlns:a16="http://schemas.microsoft.com/office/drawing/2014/main" id="{736C4E91-63D6-4BA3-8D58-266A9A124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1459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0" name="Rectangle 53">
                  <a:extLst>
                    <a:ext uri="{FF2B5EF4-FFF2-40B4-BE49-F238E27FC236}">
                      <a16:creationId xmlns:a16="http://schemas.microsoft.com/office/drawing/2014/main" id="{C205B9E9-1483-4AAE-AC57-E531D3714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9" y="883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1" name="Rectangle 54">
                  <a:extLst>
                    <a:ext uri="{FF2B5EF4-FFF2-40B4-BE49-F238E27FC236}">
                      <a16:creationId xmlns:a16="http://schemas.microsoft.com/office/drawing/2014/main" id="{C902DA6B-7B7B-496C-BCC0-6E05DA3F08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3" y="307"/>
                  <a:ext cx="298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2" name="Rectangle 55">
                  <a:extLst>
                    <a:ext uri="{FF2B5EF4-FFF2-40B4-BE49-F238E27FC236}">
                      <a16:creationId xmlns:a16="http://schemas.microsoft.com/office/drawing/2014/main" id="{BF0E3311-A67A-48CA-970A-D017E258C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" y="3407"/>
                  <a:ext cx="191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3" name="Rectangle 56">
                  <a:extLst>
                    <a:ext uri="{FF2B5EF4-FFF2-40B4-BE49-F238E27FC236}">
                      <a16:creationId xmlns:a16="http://schemas.microsoft.com/office/drawing/2014/main" id="{88AAFA0B-AF7F-40A7-9CEF-565EEC9EB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6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4" name="Rectangle 57">
                  <a:extLst>
                    <a:ext uri="{FF2B5EF4-FFF2-40B4-BE49-F238E27FC236}">
                      <a16:creationId xmlns:a16="http://schemas.microsoft.com/office/drawing/2014/main" id="{75288ECC-1C80-4F9F-A6FB-83E56BB60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0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400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5" name="Rectangle 58">
                  <a:extLst>
                    <a:ext uri="{FF2B5EF4-FFF2-40B4-BE49-F238E27FC236}">
                      <a16:creationId xmlns:a16="http://schemas.microsoft.com/office/drawing/2014/main" id="{EE463492-0179-4B1F-8716-8F6DF5F69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3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600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6" name="Rectangle 59">
                  <a:extLst>
                    <a:ext uri="{FF2B5EF4-FFF2-40B4-BE49-F238E27FC236}">
                      <a16:creationId xmlns:a16="http://schemas.microsoft.com/office/drawing/2014/main" id="{CADFCD6C-D6AF-4A37-836A-4563B2567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7" y="3407"/>
                  <a:ext cx="405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800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7" name="Rectangle 60">
                  <a:extLst>
                    <a:ext uri="{FF2B5EF4-FFF2-40B4-BE49-F238E27FC236}">
                      <a16:creationId xmlns:a16="http://schemas.microsoft.com/office/drawing/2014/main" id="{CFDC73D1-FA97-4EFC-BA9E-1AF609B81D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9" y="3407"/>
                  <a:ext cx="512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24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1000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598" name="Freeform 61">
                  <a:extLst>
                    <a:ext uri="{FF2B5EF4-FFF2-40B4-BE49-F238E27FC236}">
                      <a16:creationId xmlns:a16="http://schemas.microsoft.com/office/drawing/2014/main" id="{1E7FFBB4-A092-42A4-BA0D-9843D4F69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4" y="405"/>
                  <a:ext cx="1090" cy="1519"/>
                </a:xfrm>
                <a:custGeom>
                  <a:avLst/>
                  <a:gdLst>
                    <a:gd name="T0" fmla="*/ 4319 w 4357"/>
                    <a:gd name="T1" fmla="*/ 0 h 6075"/>
                    <a:gd name="T2" fmla="*/ 0 w 4357"/>
                    <a:gd name="T3" fmla="*/ 6048 h 6075"/>
                    <a:gd name="T4" fmla="*/ 39 w 4357"/>
                    <a:gd name="T5" fmla="*/ 6075 h 6075"/>
                    <a:gd name="T6" fmla="*/ 4357 w 4357"/>
                    <a:gd name="T7" fmla="*/ 28 h 6075"/>
                    <a:gd name="T8" fmla="*/ 4319 w 4357"/>
                    <a:gd name="T9" fmla="*/ 0 h 60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57" h="6075">
                      <a:moveTo>
                        <a:pt x="4319" y="0"/>
                      </a:moveTo>
                      <a:lnTo>
                        <a:pt x="0" y="6048"/>
                      </a:lnTo>
                      <a:lnTo>
                        <a:pt x="39" y="6075"/>
                      </a:lnTo>
                      <a:lnTo>
                        <a:pt x="4357" y="28"/>
                      </a:lnTo>
                      <a:lnTo>
                        <a:pt x="4319" y="0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599" name="Freeform 62">
                  <a:extLst>
                    <a:ext uri="{FF2B5EF4-FFF2-40B4-BE49-F238E27FC236}">
                      <a16:creationId xmlns:a16="http://schemas.microsoft.com/office/drawing/2014/main" id="{68047B9C-86AE-419D-9AAA-391F3F8DA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5" y="1913"/>
                  <a:ext cx="1232" cy="1380"/>
                </a:xfrm>
                <a:custGeom>
                  <a:avLst/>
                  <a:gdLst>
                    <a:gd name="T0" fmla="*/ 5 w 4931"/>
                    <a:gd name="T1" fmla="*/ 12 h 5519"/>
                    <a:gd name="T2" fmla="*/ 0 w 4931"/>
                    <a:gd name="T3" fmla="*/ 48 h 5519"/>
                    <a:gd name="T4" fmla="*/ 4896 w 4931"/>
                    <a:gd name="T5" fmla="*/ 5519 h 5519"/>
                    <a:gd name="T6" fmla="*/ 4931 w 4931"/>
                    <a:gd name="T7" fmla="*/ 5488 h 5519"/>
                    <a:gd name="T8" fmla="*/ 37 w 4931"/>
                    <a:gd name="T9" fmla="*/ 16 h 5519"/>
                    <a:gd name="T10" fmla="*/ 5 w 4931"/>
                    <a:gd name="T11" fmla="*/ 12 h 5519"/>
                    <a:gd name="T12" fmla="*/ 37 w 4931"/>
                    <a:gd name="T13" fmla="*/ 16 h 5519"/>
                    <a:gd name="T14" fmla="*/ 22 w 4931"/>
                    <a:gd name="T15" fmla="*/ 0 h 5519"/>
                    <a:gd name="T16" fmla="*/ 5 w 4931"/>
                    <a:gd name="T17" fmla="*/ 12 h 55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31" h="5519">
                      <a:moveTo>
                        <a:pt x="5" y="12"/>
                      </a:moveTo>
                      <a:lnTo>
                        <a:pt x="0" y="48"/>
                      </a:lnTo>
                      <a:lnTo>
                        <a:pt x="4896" y="5519"/>
                      </a:lnTo>
                      <a:lnTo>
                        <a:pt x="4931" y="5488"/>
                      </a:lnTo>
                      <a:lnTo>
                        <a:pt x="37" y="16"/>
                      </a:lnTo>
                      <a:lnTo>
                        <a:pt x="5" y="12"/>
                      </a:lnTo>
                      <a:lnTo>
                        <a:pt x="37" y="16"/>
                      </a:lnTo>
                      <a:lnTo>
                        <a:pt x="22" y="0"/>
                      </a:ln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0" name="Freeform 63">
                  <a:extLst>
                    <a:ext uri="{FF2B5EF4-FFF2-40B4-BE49-F238E27FC236}">
                      <a16:creationId xmlns:a16="http://schemas.microsoft.com/office/drawing/2014/main" id="{907BBBB4-9333-4BB4-ADC5-127DF81CD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19" y="1916"/>
                  <a:ext cx="2094" cy="1378"/>
                </a:xfrm>
                <a:custGeom>
                  <a:avLst/>
                  <a:gdLst>
                    <a:gd name="T0" fmla="*/ 25 w 8375"/>
                    <a:gd name="T1" fmla="*/ 5512 h 5512"/>
                    <a:gd name="T2" fmla="*/ 8375 w 8375"/>
                    <a:gd name="T3" fmla="*/ 40 h 5512"/>
                    <a:gd name="T4" fmla="*/ 8349 w 8375"/>
                    <a:gd name="T5" fmla="*/ 0 h 5512"/>
                    <a:gd name="T6" fmla="*/ 0 w 8375"/>
                    <a:gd name="T7" fmla="*/ 5472 h 5512"/>
                    <a:gd name="T8" fmla="*/ 25 w 8375"/>
                    <a:gd name="T9" fmla="*/ 5512 h 5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375" h="5512">
                      <a:moveTo>
                        <a:pt x="25" y="5512"/>
                      </a:moveTo>
                      <a:lnTo>
                        <a:pt x="8375" y="40"/>
                      </a:lnTo>
                      <a:lnTo>
                        <a:pt x="8349" y="0"/>
                      </a:lnTo>
                      <a:lnTo>
                        <a:pt x="0" y="5472"/>
                      </a:lnTo>
                      <a:lnTo>
                        <a:pt x="25" y="5512"/>
                      </a:lnTo>
                      <a:close/>
                    </a:path>
                  </a:pathLst>
                </a:custGeom>
                <a:solidFill>
                  <a:srgbClr val="007CC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01" name="Rectangle 64">
                  <a:extLst>
                    <a:ext uri="{FF2B5EF4-FFF2-40B4-BE49-F238E27FC236}">
                      <a16:creationId xmlns:a16="http://schemas.microsoft.com/office/drawing/2014/main" id="{DAD01070-0781-420E-A0C9-5D120DD14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71" y="2480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2" name="Rectangle 65">
                  <a:extLst>
                    <a:ext uri="{FF2B5EF4-FFF2-40B4-BE49-F238E27FC236}">
                      <a16:creationId xmlns:a16="http://schemas.microsoft.com/office/drawing/2014/main" id="{0B7F63B0-8975-4F8A-955D-E82CE83BA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452" y="2431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3" name="Rectangle 66">
                  <a:extLst>
                    <a:ext uri="{FF2B5EF4-FFF2-40B4-BE49-F238E27FC236}">
                      <a16:creationId xmlns:a16="http://schemas.microsoft.com/office/drawing/2014/main" id="{E6CC235C-FBFA-4438-8827-ED4F0843D6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518" y="238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4" name="Rectangle 67">
                  <a:extLst>
                    <a:ext uri="{FF2B5EF4-FFF2-40B4-BE49-F238E27FC236}">
                      <a16:creationId xmlns:a16="http://schemas.microsoft.com/office/drawing/2014/main" id="{FA3FD212-5632-475E-A450-D00C9CE7F1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18" y="2292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5" name="Rectangle 68">
                  <a:extLst>
                    <a:ext uri="{FF2B5EF4-FFF2-40B4-BE49-F238E27FC236}">
                      <a16:creationId xmlns:a16="http://schemas.microsoft.com/office/drawing/2014/main" id="{F4620D29-B950-49AC-BD45-447CCFEA69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9560000">
                  <a:off x="2399" y="2245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6" name="Rectangle 69">
                  <a:extLst>
                    <a:ext uri="{FF2B5EF4-FFF2-40B4-BE49-F238E27FC236}">
                      <a16:creationId xmlns:a16="http://schemas.microsoft.com/office/drawing/2014/main" id="{73232789-C5DA-401D-A690-C1C08E13C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32" y="79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7" name="Rectangle 70">
                  <a:extLst>
                    <a:ext uri="{FF2B5EF4-FFF2-40B4-BE49-F238E27FC236}">
                      <a16:creationId xmlns:a16="http://schemas.microsoft.com/office/drawing/2014/main" id="{B73FFE44-2FFF-4586-8BAC-9EF71D63A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892" y="728"/>
                  <a:ext cx="136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8" name="Rectangle 71">
                  <a:extLst>
                    <a:ext uri="{FF2B5EF4-FFF2-40B4-BE49-F238E27FC236}">
                      <a16:creationId xmlns:a16="http://schemas.microsoft.com/office/drawing/2014/main" id="{B979DD8E-5603-453A-91D8-20CB943122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968" y="926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09" name="Rectangle 72">
                  <a:extLst>
                    <a:ext uri="{FF2B5EF4-FFF2-40B4-BE49-F238E27FC236}">
                      <a16:creationId xmlns:a16="http://schemas.microsoft.com/office/drawing/2014/main" id="{3608B9C0-F1F8-42E1-B8C6-B7D69CA83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36" y="873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0" name="Rectangle 73">
                  <a:extLst>
                    <a:ext uri="{FF2B5EF4-FFF2-40B4-BE49-F238E27FC236}">
                      <a16:creationId xmlns:a16="http://schemas.microsoft.com/office/drawing/2014/main" id="{F9F23A27-B525-414E-B938-433EFEC938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55" y="847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1" name="Rectangle 74">
                  <a:extLst>
                    <a:ext uri="{FF2B5EF4-FFF2-40B4-BE49-F238E27FC236}">
                      <a16:creationId xmlns:a16="http://schemas.microsoft.com/office/drawing/2014/main" id="{49AA35B0-8259-4764-9033-79AE715111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4073" y="821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2" name="Rectangle 75">
                  <a:extLst>
                    <a:ext uri="{FF2B5EF4-FFF2-40B4-BE49-F238E27FC236}">
                      <a16:creationId xmlns:a16="http://schemas.microsoft.com/office/drawing/2014/main" id="{FC93B9F8-005B-45E0-BC59-54CAF9820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3" name="Rectangle 76">
                  <a:extLst>
                    <a:ext uri="{FF2B5EF4-FFF2-40B4-BE49-F238E27FC236}">
                      <a16:creationId xmlns:a16="http://schemas.microsoft.com/office/drawing/2014/main" id="{5E073E4C-3204-4BC7-AEE5-9BC1EE6D5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4" name="Rectangle 77">
                  <a:extLst>
                    <a:ext uri="{FF2B5EF4-FFF2-40B4-BE49-F238E27FC236}">
                      <a16:creationId xmlns:a16="http://schemas.microsoft.com/office/drawing/2014/main" id="{B1446899-7983-431A-A9A3-5AB412467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5" name="Rectangle 78">
                  <a:extLst>
                    <a:ext uri="{FF2B5EF4-FFF2-40B4-BE49-F238E27FC236}">
                      <a16:creationId xmlns:a16="http://schemas.microsoft.com/office/drawing/2014/main" id="{98FB4EFE-7B2E-432D-9D55-91E6BADBB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6" name="Rectangle 79">
                  <a:extLst>
                    <a:ext uri="{FF2B5EF4-FFF2-40B4-BE49-F238E27FC236}">
                      <a16:creationId xmlns:a16="http://schemas.microsoft.com/office/drawing/2014/main" id="{636039C6-BEEE-43A8-A36C-02E2A4B11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7" name="Rectangle 80">
                  <a:extLst>
                    <a:ext uri="{FF2B5EF4-FFF2-40B4-BE49-F238E27FC236}">
                      <a16:creationId xmlns:a16="http://schemas.microsoft.com/office/drawing/2014/main" id="{AC2CFC41-648B-4B07-A24E-79222F50E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8" name="Rectangle 81">
                  <a:extLst>
                    <a:ext uri="{FF2B5EF4-FFF2-40B4-BE49-F238E27FC236}">
                      <a16:creationId xmlns:a16="http://schemas.microsoft.com/office/drawing/2014/main" id="{A363ED62-E31C-413C-B2BA-FE4EE53814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19" name="Freeform 82">
                  <a:extLst>
                    <a:ext uri="{FF2B5EF4-FFF2-40B4-BE49-F238E27FC236}">
                      <a16:creationId xmlns:a16="http://schemas.microsoft.com/office/drawing/2014/main" id="{1DBFA626-DA3A-454D-8A52-1AA6F1FA6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1" y="407"/>
                  <a:ext cx="1376" cy="2887"/>
                </a:xfrm>
                <a:custGeom>
                  <a:avLst/>
                  <a:gdLst>
                    <a:gd name="T0" fmla="*/ 5295 w 5504"/>
                    <a:gd name="T1" fmla="*/ 563 h 11548"/>
                    <a:gd name="T2" fmla="*/ 5051 w 5504"/>
                    <a:gd name="T3" fmla="*/ 1391 h 11548"/>
                    <a:gd name="T4" fmla="*/ 4805 w 5504"/>
                    <a:gd name="T5" fmla="*/ 2198 h 11548"/>
                    <a:gd name="T6" fmla="*/ 4558 w 5504"/>
                    <a:gd name="T7" fmla="*/ 2982 h 11548"/>
                    <a:gd name="T8" fmla="*/ 4310 w 5504"/>
                    <a:gd name="T9" fmla="*/ 3743 h 11548"/>
                    <a:gd name="T10" fmla="*/ 4060 w 5504"/>
                    <a:gd name="T11" fmla="*/ 4477 h 11548"/>
                    <a:gd name="T12" fmla="*/ 3809 w 5504"/>
                    <a:gd name="T13" fmla="*/ 5185 h 11548"/>
                    <a:gd name="T14" fmla="*/ 3557 w 5504"/>
                    <a:gd name="T15" fmla="*/ 5866 h 11548"/>
                    <a:gd name="T16" fmla="*/ 3303 w 5504"/>
                    <a:gd name="T17" fmla="*/ 6515 h 11548"/>
                    <a:gd name="T18" fmla="*/ 3049 w 5504"/>
                    <a:gd name="T19" fmla="*/ 7134 h 11548"/>
                    <a:gd name="T20" fmla="*/ 2793 w 5504"/>
                    <a:gd name="T21" fmla="*/ 7719 h 11548"/>
                    <a:gd name="T22" fmla="*/ 2536 w 5504"/>
                    <a:gd name="T23" fmla="*/ 8269 h 11548"/>
                    <a:gd name="T24" fmla="*/ 2278 w 5504"/>
                    <a:gd name="T25" fmla="*/ 8784 h 11548"/>
                    <a:gd name="T26" fmla="*/ 2018 w 5504"/>
                    <a:gd name="T27" fmla="*/ 9260 h 11548"/>
                    <a:gd name="T28" fmla="*/ 1758 w 5504"/>
                    <a:gd name="T29" fmla="*/ 9698 h 11548"/>
                    <a:gd name="T30" fmla="*/ 1541 w 5504"/>
                    <a:gd name="T31" fmla="*/ 10032 h 11548"/>
                    <a:gd name="T32" fmla="*/ 1410 w 5504"/>
                    <a:gd name="T33" fmla="*/ 10219 h 11548"/>
                    <a:gd name="T34" fmla="*/ 1278 w 5504"/>
                    <a:gd name="T35" fmla="*/ 10393 h 11548"/>
                    <a:gd name="T36" fmla="*/ 1148 w 5504"/>
                    <a:gd name="T37" fmla="*/ 10559 h 11548"/>
                    <a:gd name="T38" fmla="*/ 1016 w 5504"/>
                    <a:gd name="T39" fmla="*/ 10713 h 11548"/>
                    <a:gd name="T40" fmla="*/ 884 w 5504"/>
                    <a:gd name="T41" fmla="*/ 10855 h 11548"/>
                    <a:gd name="T42" fmla="*/ 752 w 5504"/>
                    <a:gd name="T43" fmla="*/ 10986 h 11548"/>
                    <a:gd name="T44" fmla="*/ 620 w 5504"/>
                    <a:gd name="T45" fmla="*/ 11105 h 11548"/>
                    <a:gd name="T46" fmla="*/ 487 w 5504"/>
                    <a:gd name="T47" fmla="*/ 11212 h 11548"/>
                    <a:gd name="T48" fmla="*/ 355 w 5504"/>
                    <a:gd name="T49" fmla="*/ 11308 h 11548"/>
                    <a:gd name="T50" fmla="*/ 221 w 5504"/>
                    <a:gd name="T51" fmla="*/ 11392 h 11548"/>
                    <a:gd name="T52" fmla="*/ 89 w 5504"/>
                    <a:gd name="T53" fmla="*/ 11463 h 11548"/>
                    <a:gd name="T54" fmla="*/ 20 w 5504"/>
                    <a:gd name="T55" fmla="*/ 11548 h 11548"/>
                    <a:gd name="T56" fmla="*/ 155 w 5504"/>
                    <a:gd name="T57" fmla="*/ 11483 h 11548"/>
                    <a:gd name="T58" fmla="*/ 291 w 5504"/>
                    <a:gd name="T59" fmla="*/ 11406 h 11548"/>
                    <a:gd name="T60" fmla="*/ 426 w 5504"/>
                    <a:gd name="T61" fmla="*/ 11317 h 11548"/>
                    <a:gd name="T62" fmla="*/ 560 w 5504"/>
                    <a:gd name="T63" fmla="*/ 11216 h 11548"/>
                    <a:gd name="T64" fmla="*/ 695 w 5504"/>
                    <a:gd name="T65" fmla="*/ 11102 h 11548"/>
                    <a:gd name="T66" fmla="*/ 829 w 5504"/>
                    <a:gd name="T67" fmla="*/ 10978 h 11548"/>
                    <a:gd name="T68" fmla="*/ 963 w 5504"/>
                    <a:gd name="T69" fmla="*/ 10841 h 11548"/>
                    <a:gd name="T70" fmla="*/ 1096 w 5504"/>
                    <a:gd name="T71" fmla="*/ 10694 h 11548"/>
                    <a:gd name="T72" fmla="*/ 1228 w 5504"/>
                    <a:gd name="T73" fmla="*/ 10534 h 11548"/>
                    <a:gd name="T74" fmla="*/ 1361 w 5504"/>
                    <a:gd name="T75" fmla="*/ 10365 h 11548"/>
                    <a:gd name="T76" fmla="*/ 1493 w 5504"/>
                    <a:gd name="T77" fmla="*/ 10185 h 11548"/>
                    <a:gd name="T78" fmla="*/ 1624 w 5504"/>
                    <a:gd name="T79" fmla="*/ 9994 h 11548"/>
                    <a:gd name="T80" fmla="*/ 1886 w 5504"/>
                    <a:gd name="T81" fmla="*/ 9581 h 11548"/>
                    <a:gd name="T82" fmla="*/ 2148 w 5504"/>
                    <a:gd name="T83" fmla="*/ 9129 h 11548"/>
                    <a:gd name="T84" fmla="*/ 2406 w 5504"/>
                    <a:gd name="T85" fmla="*/ 8637 h 11548"/>
                    <a:gd name="T86" fmla="*/ 2665 w 5504"/>
                    <a:gd name="T87" fmla="*/ 8110 h 11548"/>
                    <a:gd name="T88" fmla="*/ 2923 w 5504"/>
                    <a:gd name="T89" fmla="*/ 7547 h 11548"/>
                    <a:gd name="T90" fmla="*/ 3178 w 5504"/>
                    <a:gd name="T91" fmla="*/ 6949 h 11548"/>
                    <a:gd name="T92" fmla="*/ 3432 w 5504"/>
                    <a:gd name="T93" fmla="*/ 6320 h 11548"/>
                    <a:gd name="T94" fmla="*/ 3686 w 5504"/>
                    <a:gd name="T95" fmla="*/ 5659 h 11548"/>
                    <a:gd name="T96" fmla="*/ 3938 w 5504"/>
                    <a:gd name="T97" fmla="*/ 4969 h 11548"/>
                    <a:gd name="T98" fmla="*/ 4188 w 5504"/>
                    <a:gd name="T99" fmla="*/ 4251 h 11548"/>
                    <a:gd name="T100" fmla="*/ 4438 w 5504"/>
                    <a:gd name="T101" fmla="*/ 3507 h 11548"/>
                    <a:gd name="T102" fmla="*/ 4686 w 5504"/>
                    <a:gd name="T103" fmla="*/ 2737 h 11548"/>
                    <a:gd name="T104" fmla="*/ 4933 w 5504"/>
                    <a:gd name="T105" fmla="*/ 1945 h 11548"/>
                    <a:gd name="T106" fmla="*/ 5178 w 5504"/>
                    <a:gd name="T107" fmla="*/ 1131 h 11548"/>
                    <a:gd name="T108" fmla="*/ 5422 w 5504"/>
                    <a:gd name="T109" fmla="*/ 296 h 11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504" h="11548">
                      <a:moveTo>
                        <a:pt x="5457" y="0"/>
                      </a:moveTo>
                      <a:lnTo>
                        <a:pt x="5376" y="283"/>
                      </a:lnTo>
                      <a:lnTo>
                        <a:pt x="5295" y="563"/>
                      </a:lnTo>
                      <a:lnTo>
                        <a:pt x="5214" y="842"/>
                      </a:lnTo>
                      <a:lnTo>
                        <a:pt x="5132" y="1117"/>
                      </a:lnTo>
                      <a:lnTo>
                        <a:pt x="5051" y="1391"/>
                      </a:lnTo>
                      <a:lnTo>
                        <a:pt x="4969" y="1662"/>
                      </a:lnTo>
                      <a:lnTo>
                        <a:pt x="4887" y="1931"/>
                      </a:lnTo>
                      <a:lnTo>
                        <a:pt x="4805" y="2198"/>
                      </a:lnTo>
                      <a:lnTo>
                        <a:pt x="4722" y="2462"/>
                      </a:lnTo>
                      <a:lnTo>
                        <a:pt x="4641" y="2723"/>
                      </a:lnTo>
                      <a:lnTo>
                        <a:pt x="4558" y="2982"/>
                      </a:lnTo>
                      <a:lnTo>
                        <a:pt x="4475" y="3238"/>
                      </a:lnTo>
                      <a:lnTo>
                        <a:pt x="4392" y="3492"/>
                      </a:lnTo>
                      <a:lnTo>
                        <a:pt x="4310" y="3743"/>
                      </a:lnTo>
                      <a:lnTo>
                        <a:pt x="4227" y="3991"/>
                      </a:lnTo>
                      <a:lnTo>
                        <a:pt x="4143" y="4236"/>
                      </a:lnTo>
                      <a:lnTo>
                        <a:pt x="4060" y="4477"/>
                      </a:lnTo>
                      <a:lnTo>
                        <a:pt x="3976" y="4717"/>
                      </a:lnTo>
                      <a:lnTo>
                        <a:pt x="3893" y="4952"/>
                      </a:lnTo>
                      <a:lnTo>
                        <a:pt x="3809" y="5185"/>
                      </a:lnTo>
                      <a:lnTo>
                        <a:pt x="3725" y="5416"/>
                      </a:lnTo>
                      <a:lnTo>
                        <a:pt x="3641" y="5642"/>
                      </a:lnTo>
                      <a:lnTo>
                        <a:pt x="3557" y="5866"/>
                      </a:lnTo>
                      <a:lnTo>
                        <a:pt x="3473" y="6086"/>
                      </a:lnTo>
                      <a:lnTo>
                        <a:pt x="3388" y="6302"/>
                      </a:lnTo>
                      <a:lnTo>
                        <a:pt x="3303" y="6515"/>
                      </a:lnTo>
                      <a:lnTo>
                        <a:pt x="3219" y="6725"/>
                      </a:lnTo>
                      <a:lnTo>
                        <a:pt x="3134" y="6931"/>
                      </a:lnTo>
                      <a:lnTo>
                        <a:pt x="3049" y="7134"/>
                      </a:lnTo>
                      <a:lnTo>
                        <a:pt x="2964" y="7332"/>
                      </a:lnTo>
                      <a:lnTo>
                        <a:pt x="2879" y="7527"/>
                      </a:lnTo>
                      <a:lnTo>
                        <a:pt x="2793" y="7719"/>
                      </a:lnTo>
                      <a:lnTo>
                        <a:pt x="2708" y="7906"/>
                      </a:lnTo>
                      <a:lnTo>
                        <a:pt x="2623" y="8089"/>
                      </a:lnTo>
                      <a:lnTo>
                        <a:pt x="2536" y="8269"/>
                      </a:lnTo>
                      <a:lnTo>
                        <a:pt x="2450" y="8445"/>
                      </a:lnTo>
                      <a:lnTo>
                        <a:pt x="2364" y="8617"/>
                      </a:lnTo>
                      <a:lnTo>
                        <a:pt x="2278" y="8784"/>
                      </a:lnTo>
                      <a:lnTo>
                        <a:pt x="2192" y="8947"/>
                      </a:lnTo>
                      <a:lnTo>
                        <a:pt x="2105" y="9106"/>
                      </a:lnTo>
                      <a:lnTo>
                        <a:pt x="2018" y="9260"/>
                      </a:lnTo>
                      <a:lnTo>
                        <a:pt x="1932" y="9411"/>
                      </a:lnTo>
                      <a:lnTo>
                        <a:pt x="1845" y="9556"/>
                      </a:lnTo>
                      <a:lnTo>
                        <a:pt x="1758" y="9698"/>
                      </a:lnTo>
                      <a:lnTo>
                        <a:pt x="1672" y="9834"/>
                      </a:lnTo>
                      <a:lnTo>
                        <a:pt x="1584" y="9968"/>
                      </a:lnTo>
                      <a:lnTo>
                        <a:pt x="1541" y="10032"/>
                      </a:lnTo>
                      <a:lnTo>
                        <a:pt x="1497" y="10096"/>
                      </a:lnTo>
                      <a:lnTo>
                        <a:pt x="1453" y="10158"/>
                      </a:lnTo>
                      <a:lnTo>
                        <a:pt x="1410" y="10219"/>
                      </a:lnTo>
                      <a:lnTo>
                        <a:pt x="1366" y="10278"/>
                      </a:lnTo>
                      <a:lnTo>
                        <a:pt x="1322" y="10336"/>
                      </a:lnTo>
                      <a:lnTo>
                        <a:pt x="1278" y="10393"/>
                      </a:lnTo>
                      <a:lnTo>
                        <a:pt x="1234" y="10450"/>
                      </a:lnTo>
                      <a:lnTo>
                        <a:pt x="1190" y="10505"/>
                      </a:lnTo>
                      <a:lnTo>
                        <a:pt x="1148" y="10559"/>
                      </a:lnTo>
                      <a:lnTo>
                        <a:pt x="1104" y="10611"/>
                      </a:lnTo>
                      <a:lnTo>
                        <a:pt x="1060" y="10662"/>
                      </a:lnTo>
                      <a:lnTo>
                        <a:pt x="1016" y="10713"/>
                      </a:lnTo>
                      <a:lnTo>
                        <a:pt x="972" y="10761"/>
                      </a:lnTo>
                      <a:lnTo>
                        <a:pt x="928" y="10809"/>
                      </a:lnTo>
                      <a:lnTo>
                        <a:pt x="884" y="10855"/>
                      </a:lnTo>
                      <a:lnTo>
                        <a:pt x="840" y="10899"/>
                      </a:lnTo>
                      <a:lnTo>
                        <a:pt x="796" y="10943"/>
                      </a:lnTo>
                      <a:lnTo>
                        <a:pt x="752" y="10986"/>
                      </a:lnTo>
                      <a:lnTo>
                        <a:pt x="708" y="11027"/>
                      </a:lnTo>
                      <a:lnTo>
                        <a:pt x="664" y="11066"/>
                      </a:lnTo>
                      <a:lnTo>
                        <a:pt x="620" y="11105"/>
                      </a:lnTo>
                      <a:lnTo>
                        <a:pt x="575" y="11143"/>
                      </a:lnTo>
                      <a:lnTo>
                        <a:pt x="531" y="11179"/>
                      </a:lnTo>
                      <a:lnTo>
                        <a:pt x="487" y="11212"/>
                      </a:lnTo>
                      <a:lnTo>
                        <a:pt x="443" y="11246"/>
                      </a:lnTo>
                      <a:lnTo>
                        <a:pt x="399" y="11278"/>
                      </a:lnTo>
                      <a:lnTo>
                        <a:pt x="355" y="11308"/>
                      </a:lnTo>
                      <a:lnTo>
                        <a:pt x="311" y="11338"/>
                      </a:lnTo>
                      <a:lnTo>
                        <a:pt x="265" y="11365"/>
                      </a:lnTo>
                      <a:lnTo>
                        <a:pt x="221" y="11392"/>
                      </a:lnTo>
                      <a:lnTo>
                        <a:pt x="177" y="11417"/>
                      </a:lnTo>
                      <a:lnTo>
                        <a:pt x="133" y="11440"/>
                      </a:lnTo>
                      <a:lnTo>
                        <a:pt x="89" y="11463"/>
                      </a:lnTo>
                      <a:lnTo>
                        <a:pt x="44" y="11484"/>
                      </a:lnTo>
                      <a:lnTo>
                        <a:pt x="0" y="11504"/>
                      </a:lnTo>
                      <a:lnTo>
                        <a:pt x="20" y="11548"/>
                      </a:lnTo>
                      <a:lnTo>
                        <a:pt x="65" y="11528"/>
                      </a:lnTo>
                      <a:lnTo>
                        <a:pt x="110" y="11506"/>
                      </a:lnTo>
                      <a:lnTo>
                        <a:pt x="155" y="11483"/>
                      </a:lnTo>
                      <a:lnTo>
                        <a:pt x="201" y="11460"/>
                      </a:lnTo>
                      <a:lnTo>
                        <a:pt x="246" y="11434"/>
                      </a:lnTo>
                      <a:lnTo>
                        <a:pt x="291" y="11406"/>
                      </a:lnTo>
                      <a:lnTo>
                        <a:pt x="336" y="11378"/>
                      </a:lnTo>
                      <a:lnTo>
                        <a:pt x="380" y="11348"/>
                      </a:lnTo>
                      <a:lnTo>
                        <a:pt x="426" y="11317"/>
                      </a:lnTo>
                      <a:lnTo>
                        <a:pt x="471" y="11285"/>
                      </a:lnTo>
                      <a:lnTo>
                        <a:pt x="516" y="11251"/>
                      </a:lnTo>
                      <a:lnTo>
                        <a:pt x="560" y="11216"/>
                      </a:lnTo>
                      <a:lnTo>
                        <a:pt x="606" y="11179"/>
                      </a:lnTo>
                      <a:lnTo>
                        <a:pt x="651" y="11141"/>
                      </a:lnTo>
                      <a:lnTo>
                        <a:pt x="695" y="11102"/>
                      </a:lnTo>
                      <a:lnTo>
                        <a:pt x="740" y="11062"/>
                      </a:lnTo>
                      <a:lnTo>
                        <a:pt x="784" y="11021"/>
                      </a:lnTo>
                      <a:lnTo>
                        <a:pt x="829" y="10978"/>
                      </a:lnTo>
                      <a:lnTo>
                        <a:pt x="873" y="10933"/>
                      </a:lnTo>
                      <a:lnTo>
                        <a:pt x="917" y="10888"/>
                      </a:lnTo>
                      <a:lnTo>
                        <a:pt x="963" y="10841"/>
                      </a:lnTo>
                      <a:lnTo>
                        <a:pt x="1007" y="10793"/>
                      </a:lnTo>
                      <a:lnTo>
                        <a:pt x="1051" y="10744"/>
                      </a:lnTo>
                      <a:lnTo>
                        <a:pt x="1096" y="10694"/>
                      </a:lnTo>
                      <a:lnTo>
                        <a:pt x="1140" y="10642"/>
                      </a:lnTo>
                      <a:lnTo>
                        <a:pt x="1184" y="10589"/>
                      </a:lnTo>
                      <a:lnTo>
                        <a:pt x="1228" y="10534"/>
                      </a:lnTo>
                      <a:lnTo>
                        <a:pt x="1272" y="10480"/>
                      </a:lnTo>
                      <a:lnTo>
                        <a:pt x="1316" y="10423"/>
                      </a:lnTo>
                      <a:lnTo>
                        <a:pt x="1361" y="10365"/>
                      </a:lnTo>
                      <a:lnTo>
                        <a:pt x="1405" y="10307"/>
                      </a:lnTo>
                      <a:lnTo>
                        <a:pt x="1449" y="10246"/>
                      </a:lnTo>
                      <a:lnTo>
                        <a:pt x="1493" y="10185"/>
                      </a:lnTo>
                      <a:lnTo>
                        <a:pt x="1537" y="10123"/>
                      </a:lnTo>
                      <a:lnTo>
                        <a:pt x="1580" y="10058"/>
                      </a:lnTo>
                      <a:lnTo>
                        <a:pt x="1624" y="9994"/>
                      </a:lnTo>
                      <a:lnTo>
                        <a:pt x="1712" y="9862"/>
                      </a:lnTo>
                      <a:lnTo>
                        <a:pt x="1800" y="9723"/>
                      </a:lnTo>
                      <a:lnTo>
                        <a:pt x="1886" y="9581"/>
                      </a:lnTo>
                      <a:lnTo>
                        <a:pt x="1973" y="9435"/>
                      </a:lnTo>
                      <a:lnTo>
                        <a:pt x="2061" y="9284"/>
                      </a:lnTo>
                      <a:lnTo>
                        <a:pt x="2148" y="9129"/>
                      </a:lnTo>
                      <a:lnTo>
                        <a:pt x="2234" y="8969"/>
                      </a:lnTo>
                      <a:lnTo>
                        <a:pt x="2321" y="8806"/>
                      </a:lnTo>
                      <a:lnTo>
                        <a:pt x="2406" y="8637"/>
                      </a:lnTo>
                      <a:lnTo>
                        <a:pt x="2493" y="8465"/>
                      </a:lnTo>
                      <a:lnTo>
                        <a:pt x="2580" y="8289"/>
                      </a:lnTo>
                      <a:lnTo>
                        <a:pt x="2665" y="8110"/>
                      </a:lnTo>
                      <a:lnTo>
                        <a:pt x="2751" y="7926"/>
                      </a:lnTo>
                      <a:lnTo>
                        <a:pt x="2837" y="7738"/>
                      </a:lnTo>
                      <a:lnTo>
                        <a:pt x="2923" y="7547"/>
                      </a:lnTo>
                      <a:lnTo>
                        <a:pt x="3008" y="7351"/>
                      </a:lnTo>
                      <a:lnTo>
                        <a:pt x="3093" y="7152"/>
                      </a:lnTo>
                      <a:lnTo>
                        <a:pt x="3178" y="6949"/>
                      </a:lnTo>
                      <a:lnTo>
                        <a:pt x="3263" y="6743"/>
                      </a:lnTo>
                      <a:lnTo>
                        <a:pt x="3348" y="6534"/>
                      </a:lnTo>
                      <a:lnTo>
                        <a:pt x="3432" y="6320"/>
                      </a:lnTo>
                      <a:lnTo>
                        <a:pt x="3518" y="6103"/>
                      </a:lnTo>
                      <a:lnTo>
                        <a:pt x="3602" y="5883"/>
                      </a:lnTo>
                      <a:lnTo>
                        <a:pt x="3686" y="5659"/>
                      </a:lnTo>
                      <a:lnTo>
                        <a:pt x="3770" y="5432"/>
                      </a:lnTo>
                      <a:lnTo>
                        <a:pt x="3854" y="5202"/>
                      </a:lnTo>
                      <a:lnTo>
                        <a:pt x="3938" y="4969"/>
                      </a:lnTo>
                      <a:lnTo>
                        <a:pt x="4021" y="4732"/>
                      </a:lnTo>
                      <a:lnTo>
                        <a:pt x="4105" y="4493"/>
                      </a:lnTo>
                      <a:lnTo>
                        <a:pt x="4188" y="4251"/>
                      </a:lnTo>
                      <a:lnTo>
                        <a:pt x="4272" y="4005"/>
                      </a:lnTo>
                      <a:lnTo>
                        <a:pt x="4355" y="3758"/>
                      </a:lnTo>
                      <a:lnTo>
                        <a:pt x="4438" y="3507"/>
                      </a:lnTo>
                      <a:lnTo>
                        <a:pt x="4520" y="3253"/>
                      </a:lnTo>
                      <a:lnTo>
                        <a:pt x="4603" y="2997"/>
                      </a:lnTo>
                      <a:lnTo>
                        <a:pt x="4686" y="2737"/>
                      </a:lnTo>
                      <a:lnTo>
                        <a:pt x="4769" y="2476"/>
                      </a:lnTo>
                      <a:lnTo>
                        <a:pt x="4850" y="2212"/>
                      </a:lnTo>
                      <a:lnTo>
                        <a:pt x="4933" y="1945"/>
                      </a:lnTo>
                      <a:lnTo>
                        <a:pt x="5015" y="1676"/>
                      </a:lnTo>
                      <a:lnTo>
                        <a:pt x="5096" y="1404"/>
                      </a:lnTo>
                      <a:lnTo>
                        <a:pt x="5178" y="1131"/>
                      </a:lnTo>
                      <a:lnTo>
                        <a:pt x="5259" y="854"/>
                      </a:lnTo>
                      <a:lnTo>
                        <a:pt x="5341" y="576"/>
                      </a:lnTo>
                      <a:lnTo>
                        <a:pt x="5422" y="296"/>
                      </a:lnTo>
                      <a:lnTo>
                        <a:pt x="5504" y="13"/>
                      </a:lnTo>
                      <a:lnTo>
                        <a:pt x="5457" y="0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0" name="Freeform 83">
                  <a:extLst>
                    <a:ext uri="{FF2B5EF4-FFF2-40B4-BE49-F238E27FC236}">
                      <a16:creationId xmlns:a16="http://schemas.microsoft.com/office/drawing/2014/main" id="{E3121B50-0603-48EE-86AB-DE600C28C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35" y="409"/>
                  <a:ext cx="871" cy="2886"/>
                </a:xfrm>
                <a:custGeom>
                  <a:avLst/>
                  <a:gdLst>
                    <a:gd name="T0" fmla="*/ 3285 w 3482"/>
                    <a:gd name="T1" fmla="*/ 11467 h 11543"/>
                    <a:gd name="T2" fmla="*/ 3035 w 3482"/>
                    <a:gd name="T3" fmla="*/ 11407 h 11543"/>
                    <a:gd name="T4" fmla="*/ 2799 w 3482"/>
                    <a:gd name="T5" fmla="*/ 11322 h 11543"/>
                    <a:gd name="T6" fmla="*/ 2576 w 3482"/>
                    <a:gd name="T7" fmla="*/ 11212 h 11543"/>
                    <a:gd name="T8" fmla="*/ 2365 w 3482"/>
                    <a:gd name="T9" fmla="*/ 11077 h 11543"/>
                    <a:gd name="T10" fmla="*/ 2167 w 3482"/>
                    <a:gd name="T11" fmla="*/ 10918 h 11543"/>
                    <a:gd name="T12" fmla="*/ 1981 w 3482"/>
                    <a:gd name="T13" fmla="*/ 10734 h 11543"/>
                    <a:gd name="T14" fmla="*/ 1806 w 3482"/>
                    <a:gd name="T15" fmla="*/ 10529 h 11543"/>
                    <a:gd name="T16" fmla="*/ 1642 w 3482"/>
                    <a:gd name="T17" fmla="*/ 10301 h 11543"/>
                    <a:gd name="T18" fmla="*/ 1488 w 3482"/>
                    <a:gd name="T19" fmla="*/ 10050 h 11543"/>
                    <a:gd name="T20" fmla="*/ 1346 w 3482"/>
                    <a:gd name="T21" fmla="*/ 9778 h 11543"/>
                    <a:gd name="T22" fmla="*/ 1213 w 3482"/>
                    <a:gd name="T23" fmla="*/ 9486 h 11543"/>
                    <a:gd name="T24" fmla="*/ 1090 w 3482"/>
                    <a:gd name="T25" fmla="*/ 9173 h 11543"/>
                    <a:gd name="T26" fmla="*/ 974 w 3482"/>
                    <a:gd name="T27" fmla="*/ 8839 h 11543"/>
                    <a:gd name="T28" fmla="*/ 870 w 3482"/>
                    <a:gd name="T29" fmla="*/ 8487 h 11543"/>
                    <a:gd name="T30" fmla="*/ 773 w 3482"/>
                    <a:gd name="T31" fmla="*/ 8117 h 11543"/>
                    <a:gd name="T32" fmla="*/ 683 w 3482"/>
                    <a:gd name="T33" fmla="*/ 7729 h 11543"/>
                    <a:gd name="T34" fmla="*/ 602 w 3482"/>
                    <a:gd name="T35" fmla="*/ 7322 h 11543"/>
                    <a:gd name="T36" fmla="*/ 476 w 3482"/>
                    <a:gd name="T37" fmla="*/ 6573 h 11543"/>
                    <a:gd name="T38" fmla="*/ 359 w 3482"/>
                    <a:gd name="T39" fmla="*/ 5657 h 11543"/>
                    <a:gd name="T40" fmla="*/ 264 w 3482"/>
                    <a:gd name="T41" fmla="*/ 4683 h 11543"/>
                    <a:gd name="T42" fmla="*/ 189 w 3482"/>
                    <a:gd name="T43" fmla="*/ 3654 h 11543"/>
                    <a:gd name="T44" fmla="*/ 132 w 3482"/>
                    <a:gd name="T45" fmla="*/ 2577 h 11543"/>
                    <a:gd name="T46" fmla="*/ 88 w 3482"/>
                    <a:gd name="T47" fmla="*/ 1456 h 11543"/>
                    <a:gd name="T48" fmla="*/ 0 w 3482"/>
                    <a:gd name="T49" fmla="*/ 0 h 11543"/>
                    <a:gd name="T50" fmla="*/ 49 w 3482"/>
                    <a:gd name="T51" fmla="*/ 1742 h 11543"/>
                    <a:gd name="T52" fmla="*/ 97 w 3482"/>
                    <a:gd name="T53" fmla="*/ 2853 h 11543"/>
                    <a:gd name="T54" fmla="*/ 158 w 3482"/>
                    <a:gd name="T55" fmla="*/ 3919 h 11543"/>
                    <a:gd name="T56" fmla="*/ 238 w 3482"/>
                    <a:gd name="T57" fmla="*/ 4935 h 11543"/>
                    <a:gd name="T58" fmla="*/ 338 w 3482"/>
                    <a:gd name="T59" fmla="*/ 5896 h 11543"/>
                    <a:gd name="T60" fmla="*/ 463 w 3482"/>
                    <a:gd name="T61" fmla="*/ 6800 h 11543"/>
                    <a:gd name="T62" fmla="*/ 575 w 3482"/>
                    <a:gd name="T63" fmla="*/ 7435 h 11543"/>
                    <a:gd name="T64" fmla="*/ 657 w 3482"/>
                    <a:gd name="T65" fmla="*/ 7837 h 11543"/>
                    <a:gd name="T66" fmla="*/ 749 w 3482"/>
                    <a:gd name="T67" fmla="*/ 8223 h 11543"/>
                    <a:gd name="T68" fmla="*/ 849 w 3482"/>
                    <a:gd name="T69" fmla="*/ 8590 h 11543"/>
                    <a:gd name="T70" fmla="*/ 958 w 3482"/>
                    <a:gd name="T71" fmla="*/ 8940 h 11543"/>
                    <a:gd name="T72" fmla="*/ 1074 w 3482"/>
                    <a:gd name="T73" fmla="*/ 9270 h 11543"/>
                    <a:gd name="T74" fmla="*/ 1201 w 3482"/>
                    <a:gd name="T75" fmla="*/ 9580 h 11543"/>
                    <a:gd name="T76" fmla="*/ 1338 w 3482"/>
                    <a:gd name="T77" fmla="*/ 9870 h 11543"/>
                    <a:gd name="T78" fmla="*/ 1484 w 3482"/>
                    <a:gd name="T79" fmla="*/ 10139 h 11543"/>
                    <a:gd name="T80" fmla="*/ 1642 w 3482"/>
                    <a:gd name="T81" fmla="*/ 10386 h 11543"/>
                    <a:gd name="T82" fmla="*/ 1812 w 3482"/>
                    <a:gd name="T83" fmla="*/ 10613 h 11543"/>
                    <a:gd name="T84" fmla="*/ 1993 w 3482"/>
                    <a:gd name="T85" fmla="*/ 10816 h 11543"/>
                    <a:gd name="T86" fmla="*/ 2185 w 3482"/>
                    <a:gd name="T87" fmla="*/ 10996 h 11543"/>
                    <a:gd name="T88" fmla="*/ 2390 w 3482"/>
                    <a:gd name="T89" fmla="*/ 11152 h 11543"/>
                    <a:gd name="T90" fmla="*/ 2608 w 3482"/>
                    <a:gd name="T91" fmla="*/ 11284 h 11543"/>
                    <a:gd name="T92" fmla="*/ 2839 w 3482"/>
                    <a:gd name="T93" fmla="*/ 11390 h 11543"/>
                    <a:gd name="T94" fmla="*/ 3085 w 3482"/>
                    <a:gd name="T95" fmla="*/ 11472 h 11543"/>
                    <a:gd name="T96" fmla="*/ 3342 w 3482"/>
                    <a:gd name="T97" fmla="*/ 11525 h 115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482" h="11543">
                      <a:moveTo>
                        <a:pt x="3482" y="11495"/>
                      </a:moveTo>
                      <a:lnTo>
                        <a:pt x="3414" y="11487"/>
                      </a:lnTo>
                      <a:lnTo>
                        <a:pt x="3350" y="11478"/>
                      </a:lnTo>
                      <a:lnTo>
                        <a:pt x="3285" y="11467"/>
                      </a:lnTo>
                      <a:lnTo>
                        <a:pt x="3222" y="11455"/>
                      </a:lnTo>
                      <a:lnTo>
                        <a:pt x="3158" y="11441"/>
                      </a:lnTo>
                      <a:lnTo>
                        <a:pt x="3096" y="11425"/>
                      </a:lnTo>
                      <a:lnTo>
                        <a:pt x="3035" y="11407"/>
                      </a:lnTo>
                      <a:lnTo>
                        <a:pt x="2975" y="11389"/>
                      </a:lnTo>
                      <a:lnTo>
                        <a:pt x="2915" y="11368"/>
                      </a:lnTo>
                      <a:lnTo>
                        <a:pt x="2857" y="11346"/>
                      </a:lnTo>
                      <a:lnTo>
                        <a:pt x="2799" y="11322"/>
                      </a:lnTo>
                      <a:lnTo>
                        <a:pt x="2742" y="11297"/>
                      </a:lnTo>
                      <a:lnTo>
                        <a:pt x="2686" y="11270"/>
                      </a:lnTo>
                      <a:lnTo>
                        <a:pt x="2630" y="11242"/>
                      </a:lnTo>
                      <a:lnTo>
                        <a:pt x="2576" y="11212"/>
                      </a:lnTo>
                      <a:lnTo>
                        <a:pt x="2522" y="11181"/>
                      </a:lnTo>
                      <a:lnTo>
                        <a:pt x="2469" y="11147"/>
                      </a:lnTo>
                      <a:lnTo>
                        <a:pt x="2417" y="11114"/>
                      </a:lnTo>
                      <a:lnTo>
                        <a:pt x="2365" y="11077"/>
                      </a:lnTo>
                      <a:lnTo>
                        <a:pt x="2315" y="11040"/>
                      </a:lnTo>
                      <a:lnTo>
                        <a:pt x="2266" y="11000"/>
                      </a:lnTo>
                      <a:lnTo>
                        <a:pt x="2216" y="10960"/>
                      </a:lnTo>
                      <a:lnTo>
                        <a:pt x="2167" y="10918"/>
                      </a:lnTo>
                      <a:lnTo>
                        <a:pt x="2119" y="10874"/>
                      </a:lnTo>
                      <a:lnTo>
                        <a:pt x="2073" y="10829"/>
                      </a:lnTo>
                      <a:lnTo>
                        <a:pt x="2026" y="10782"/>
                      </a:lnTo>
                      <a:lnTo>
                        <a:pt x="1981" y="10734"/>
                      </a:lnTo>
                      <a:lnTo>
                        <a:pt x="1936" y="10685"/>
                      </a:lnTo>
                      <a:lnTo>
                        <a:pt x="1892" y="10635"/>
                      </a:lnTo>
                      <a:lnTo>
                        <a:pt x="1849" y="10583"/>
                      </a:lnTo>
                      <a:lnTo>
                        <a:pt x="1806" y="10529"/>
                      </a:lnTo>
                      <a:lnTo>
                        <a:pt x="1764" y="10474"/>
                      </a:lnTo>
                      <a:lnTo>
                        <a:pt x="1722" y="10417"/>
                      </a:lnTo>
                      <a:lnTo>
                        <a:pt x="1682" y="10359"/>
                      </a:lnTo>
                      <a:lnTo>
                        <a:pt x="1642" y="10301"/>
                      </a:lnTo>
                      <a:lnTo>
                        <a:pt x="1603" y="10240"/>
                      </a:lnTo>
                      <a:lnTo>
                        <a:pt x="1564" y="10178"/>
                      </a:lnTo>
                      <a:lnTo>
                        <a:pt x="1526" y="10115"/>
                      </a:lnTo>
                      <a:lnTo>
                        <a:pt x="1488" y="10050"/>
                      </a:lnTo>
                      <a:lnTo>
                        <a:pt x="1452" y="9984"/>
                      </a:lnTo>
                      <a:lnTo>
                        <a:pt x="1416" y="9917"/>
                      </a:lnTo>
                      <a:lnTo>
                        <a:pt x="1381" y="9848"/>
                      </a:lnTo>
                      <a:lnTo>
                        <a:pt x="1346" y="9778"/>
                      </a:lnTo>
                      <a:lnTo>
                        <a:pt x="1311" y="9707"/>
                      </a:lnTo>
                      <a:lnTo>
                        <a:pt x="1278" y="9635"/>
                      </a:lnTo>
                      <a:lnTo>
                        <a:pt x="1245" y="9561"/>
                      </a:lnTo>
                      <a:lnTo>
                        <a:pt x="1213" y="9486"/>
                      </a:lnTo>
                      <a:lnTo>
                        <a:pt x="1180" y="9409"/>
                      </a:lnTo>
                      <a:lnTo>
                        <a:pt x="1149" y="9332"/>
                      </a:lnTo>
                      <a:lnTo>
                        <a:pt x="1119" y="9253"/>
                      </a:lnTo>
                      <a:lnTo>
                        <a:pt x="1090" y="9173"/>
                      </a:lnTo>
                      <a:lnTo>
                        <a:pt x="1060" y="9091"/>
                      </a:lnTo>
                      <a:lnTo>
                        <a:pt x="1030" y="9008"/>
                      </a:lnTo>
                      <a:lnTo>
                        <a:pt x="1003" y="8924"/>
                      </a:lnTo>
                      <a:lnTo>
                        <a:pt x="974" y="8839"/>
                      </a:lnTo>
                      <a:lnTo>
                        <a:pt x="947" y="8753"/>
                      </a:lnTo>
                      <a:lnTo>
                        <a:pt x="921" y="8665"/>
                      </a:lnTo>
                      <a:lnTo>
                        <a:pt x="894" y="8577"/>
                      </a:lnTo>
                      <a:lnTo>
                        <a:pt x="870" y="8487"/>
                      </a:lnTo>
                      <a:lnTo>
                        <a:pt x="844" y="8396"/>
                      </a:lnTo>
                      <a:lnTo>
                        <a:pt x="819" y="8304"/>
                      </a:lnTo>
                      <a:lnTo>
                        <a:pt x="796" y="8211"/>
                      </a:lnTo>
                      <a:lnTo>
                        <a:pt x="773" y="8117"/>
                      </a:lnTo>
                      <a:lnTo>
                        <a:pt x="749" y="8021"/>
                      </a:lnTo>
                      <a:lnTo>
                        <a:pt x="726" y="7925"/>
                      </a:lnTo>
                      <a:lnTo>
                        <a:pt x="704" y="7827"/>
                      </a:lnTo>
                      <a:lnTo>
                        <a:pt x="683" y="7729"/>
                      </a:lnTo>
                      <a:lnTo>
                        <a:pt x="663" y="7629"/>
                      </a:lnTo>
                      <a:lnTo>
                        <a:pt x="642" y="7528"/>
                      </a:lnTo>
                      <a:lnTo>
                        <a:pt x="621" y="7426"/>
                      </a:lnTo>
                      <a:lnTo>
                        <a:pt x="602" y="7322"/>
                      </a:lnTo>
                      <a:lnTo>
                        <a:pt x="582" y="7219"/>
                      </a:lnTo>
                      <a:lnTo>
                        <a:pt x="546" y="7008"/>
                      </a:lnTo>
                      <a:lnTo>
                        <a:pt x="510" y="6792"/>
                      </a:lnTo>
                      <a:lnTo>
                        <a:pt x="476" y="6573"/>
                      </a:lnTo>
                      <a:lnTo>
                        <a:pt x="445" y="6349"/>
                      </a:lnTo>
                      <a:lnTo>
                        <a:pt x="414" y="6123"/>
                      </a:lnTo>
                      <a:lnTo>
                        <a:pt x="386" y="5891"/>
                      </a:lnTo>
                      <a:lnTo>
                        <a:pt x="359" y="5657"/>
                      </a:lnTo>
                      <a:lnTo>
                        <a:pt x="333" y="5419"/>
                      </a:lnTo>
                      <a:lnTo>
                        <a:pt x="308" y="5177"/>
                      </a:lnTo>
                      <a:lnTo>
                        <a:pt x="286" y="4931"/>
                      </a:lnTo>
                      <a:lnTo>
                        <a:pt x="264" y="4683"/>
                      </a:lnTo>
                      <a:lnTo>
                        <a:pt x="243" y="4430"/>
                      </a:lnTo>
                      <a:lnTo>
                        <a:pt x="224" y="4174"/>
                      </a:lnTo>
                      <a:lnTo>
                        <a:pt x="206" y="3917"/>
                      </a:lnTo>
                      <a:lnTo>
                        <a:pt x="189" y="3654"/>
                      </a:lnTo>
                      <a:lnTo>
                        <a:pt x="174" y="3390"/>
                      </a:lnTo>
                      <a:lnTo>
                        <a:pt x="158" y="3122"/>
                      </a:lnTo>
                      <a:lnTo>
                        <a:pt x="145" y="2850"/>
                      </a:lnTo>
                      <a:lnTo>
                        <a:pt x="132" y="2577"/>
                      </a:lnTo>
                      <a:lnTo>
                        <a:pt x="119" y="2301"/>
                      </a:lnTo>
                      <a:lnTo>
                        <a:pt x="109" y="2022"/>
                      </a:lnTo>
                      <a:lnTo>
                        <a:pt x="97" y="1740"/>
                      </a:lnTo>
                      <a:lnTo>
                        <a:pt x="88" y="1456"/>
                      </a:lnTo>
                      <a:lnTo>
                        <a:pt x="79" y="1170"/>
                      </a:lnTo>
                      <a:lnTo>
                        <a:pt x="62" y="589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14" y="590"/>
                      </a:lnTo>
                      <a:lnTo>
                        <a:pt x="31" y="1171"/>
                      </a:lnTo>
                      <a:lnTo>
                        <a:pt x="40" y="1458"/>
                      </a:lnTo>
                      <a:lnTo>
                        <a:pt x="49" y="1742"/>
                      </a:lnTo>
                      <a:lnTo>
                        <a:pt x="61" y="2024"/>
                      </a:lnTo>
                      <a:lnTo>
                        <a:pt x="71" y="2303"/>
                      </a:lnTo>
                      <a:lnTo>
                        <a:pt x="84" y="2580"/>
                      </a:lnTo>
                      <a:lnTo>
                        <a:pt x="97" y="2853"/>
                      </a:lnTo>
                      <a:lnTo>
                        <a:pt x="110" y="3125"/>
                      </a:lnTo>
                      <a:lnTo>
                        <a:pt x="126" y="3393"/>
                      </a:lnTo>
                      <a:lnTo>
                        <a:pt x="141" y="3657"/>
                      </a:lnTo>
                      <a:lnTo>
                        <a:pt x="158" y="3919"/>
                      </a:lnTo>
                      <a:lnTo>
                        <a:pt x="176" y="4178"/>
                      </a:lnTo>
                      <a:lnTo>
                        <a:pt x="196" y="4434"/>
                      </a:lnTo>
                      <a:lnTo>
                        <a:pt x="216" y="4687"/>
                      </a:lnTo>
                      <a:lnTo>
                        <a:pt x="238" y="4935"/>
                      </a:lnTo>
                      <a:lnTo>
                        <a:pt x="262" y="5181"/>
                      </a:lnTo>
                      <a:lnTo>
                        <a:pt x="285" y="5423"/>
                      </a:lnTo>
                      <a:lnTo>
                        <a:pt x="311" y="5662"/>
                      </a:lnTo>
                      <a:lnTo>
                        <a:pt x="338" y="5896"/>
                      </a:lnTo>
                      <a:lnTo>
                        <a:pt x="368" y="6128"/>
                      </a:lnTo>
                      <a:lnTo>
                        <a:pt x="397" y="6356"/>
                      </a:lnTo>
                      <a:lnTo>
                        <a:pt x="430" y="6580"/>
                      </a:lnTo>
                      <a:lnTo>
                        <a:pt x="463" y="6800"/>
                      </a:lnTo>
                      <a:lnTo>
                        <a:pt x="498" y="7016"/>
                      </a:lnTo>
                      <a:lnTo>
                        <a:pt x="536" y="7227"/>
                      </a:lnTo>
                      <a:lnTo>
                        <a:pt x="555" y="7331"/>
                      </a:lnTo>
                      <a:lnTo>
                        <a:pt x="575" y="7435"/>
                      </a:lnTo>
                      <a:lnTo>
                        <a:pt x="594" y="7537"/>
                      </a:lnTo>
                      <a:lnTo>
                        <a:pt x="615" y="7638"/>
                      </a:lnTo>
                      <a:lnTo>
                        <a:pt x="637" y="7739"/>
                      </a:lnTo>
                      <a:lnTo>
                        <a:pt x="657" y="7837"/>
                      </a:lnTo>
                      <a:lnTo>
                        <a:pt x="679" y="7936"/>
                      </a:lnTo>
                      <a:lnTo>
                        <a:pt x="703" y="8033"/>
                      </a:lnTo>
                      <a:lnTo>
                        <a:pt x="726" y="8128"/>
                      </a:lnTo>
                      <a:lnTo>
                        <a:pt x="749" y="8223"/>
                      </a:lnTo>
                      <a:lnTo>
                        <a:pt x="774" y="8316"/>
                      </a:lnTo>
                      <a:lnTo>
                        <a:pt x="799" y="8409"/>
                      </a:lnTo>
                      <a:lnTo>
                        <a:pt x="823" y="8500"/>
                      </a:lnTo>
                      <a:lnTo>
                        <a:pt x="849" y="8590"/>
                      </a:lnTo>
                      <a:lnTo>
                        <a:pt x="875" y="8680"/>
                      </a:lnTo>
                      <a:lnTo>
                        <a:pt x="902" y="8768"/>
                      </a:lnTo>
                      <a:lnTo>
                        <a:pt x="929" y="8854"/>
                      </a:lnTo>
                      <a:lnTo>
                        <a:pt x="958" y="8940"/>
                      </a:lnTo>
                      <a:lnTo>
                        <a:pt x="985" y="9024"/>
                      </a:lnTo>
                      <a:lnTo>
                        <a:pt x="1015" y="9107"/>
                      </a:lnTo>
                      <a:lnTo>
                        <a:pt x="1044" y="9188"/>
                      </a:lnTo>
                      <a:lnTo>
                        <a:pt x="1074" y="9270"/>
                      </a:lnTo>
                      <a:lnTo>
                        <a:pt x="1105" y="9349"/>
                      </a:lnTo>
                      <a:lnTo>
                        <a:pt x="1136" y="9428"/>
                      </a:lnTo>
                      <a:lnTo>
                        <a:pt x="1169" y="9504"/>
                      </a:lnTo>
                      <a:lnTo>
                        <a:pt x="1201" y="9580"/>
                      </a:lnTo>
                      <a:lnTo>
                        <a:pt x="1235" y="9654"/>
                      </a:lnTo>
                      <a:lnTo>
                        <a:pt x="1268" y="9728"/>
                      </a:lnTo>
                      <a:lnTo>
                        <a:pt x="1303" y="9799"/>
                      </a:lnTo>
                      <a:lnTo>
                        <a:pt x="1338" y="9870"/>
                      </a:lnTo>
                      <a:lnTo>
                        <a:pt x="1373" y="9939"/>
                      </a:lnTo>
                      <a:lnTo>
                        <a:pt x="1410" y="10007"/>
                      </a:lnTo>
                      <a:lnTo>
                        <a:pt x="1447" y="10073"/>
                      </a:lnTo>
                      <a:lnTo>
                        <a:pt x="1484" y="10139"/>
                      </a:lnTo>
                      <a:lnTo>
                        <a:pt x="1523" y="10203"/>
                      </a:lnTo>
                      <a:lnTo>
                        <a:pt x="1562" y="10266"/>
                      </a:lnTo>
                      <a:lnTo>
                        <a:pt x="1602" y="10327"/>
                      </a:lnTo>
                      <a:lnTo>
                        <a:pt x="1642" y="10386"/>
                      </a:lnTo>
                      <a:lnTo>
                        <a:pt x="1683" y="10446"/>
                      </a:lnTo>
                      <a:lnTo>
                        <a:pt x="1726" y="10503"/>
                      </a:lnTo>
                      <a:lnTo>
                        <a:pt x="1769" y="10558"/>
                      </a:lnTo>
                      <a:lnTo>
                        <a:pt x="1812" y="10613"/>
                      </a:lnTo>
                      <a:lnTo>
                        <a:pt x="1856" y="10666"/>
                      </a:lnTo>
                      <a:lnTo>
                        <a:pt x="1901" y="10718"/>
                      </a:lnTo>
                      <a:lnTo>
                        <a:pt x="1946" y="10768"/>
                      </a:lnTo>
                      <a:lnTo>
                        <a:pt x="1993" y="10816"/>
                      </a:lnTo>
                      <a:lnTo>
                        <a:pt x="2039" y="10864"/>
                      </a:lnTo>
                      <a:lnTo>
                        <a:pt x="2087" y="10909"/>
                      </a:lnTo>
                      <a:lnTo>
                        <a:pt x="2136" y="10953"/>
                      </a:lnTo>
                      <a:lnTo>
                        <a:pt x="2185" y="10996"/>
                      </a:lnTo>
                      <a:lnTo>
                        <a:pt x="2235" y="11037"/>
                      </a:lnTo>
                      <a:lnTo>
                        <a:pt x="2286" y="11077"/>
                      </a:lnTo>
                      <a:lnTo>
                        <a:pt x="2338" y="11116"/>
                      </a:lnTo>
                      <a:lnTo>
                        <a:pt x="2390" y="11152"/>
                      </a:lnTo>
                      <a:lnTo>
                        <a:pt x="2443" y="11187"/>
                      </a:lnTo>
                      <a:lnTo>
                        <a:pt x="2497" y="11221"/>
                      </a:lnTo>
                      <a:lnTo>
                        <a:pt x="2553" y="11253"/>
                      </a:lnTo>
                      <a:lnTo>
                        <a:pt x="2608" y="11284"/>
                      </a:lnTo>
                      <a:lnTo>
                        <a:pt x="2664" y="11313"/>
                      </a:lnTo>
                      <a:lnTo>
                        <a:pt x="2722" y="11340"/>
                      </a:lnTo>
                      <a:lnTo>
                        <a:pt x="2781" y="11366"/>
                      </a:lnTo>
                      <a:lnTo>
                        <a:pt x="2839" y="11390"/>
                      </a:lnTo>
                      <a:lnTo>
                        <a:pt x="2900" y="11414"/>
                      </a:lnTo>
                      <a:lnTo>
                        <a:pt x="2960" y="11434"/>
                      </a:lnTo>
                      <a:lnTo>
                        <a:pt x="3021" y="11454"/>
                      </a:lnTo>
                      <a:lnTo>
                        <a:pt x="3085" y="11472"/>
                      </a:lnTo>
                      <a:lnTo>
                        <a:pt x="3147" y="11487"/>
                      </a:lnTo>
                      <a:lnTo>
                        <a:pt x="3211" y="11502"/>
                      </a:lnTo>
                      <a:lnTo>
                        <a:pt x="3276" y="11515"/>
                      </a:lnTo>
                      <a:lnTo>
                        <a:pt x="3342" y="11525"/>
                      </a:lnTo>
                      <a:lnTo>
                        <a:pt x="3409" y="11535"/>
                      </a:lnTo>
                      <a:lnTo>
                        <a:pt x="3477" y="11543"/>
                      </a:lnTo>
                      <a:lnTo>
                        <a:pt x="3482" y="11495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21" name="Rectangle 84">
                  <a:extLst>
                    <a:ext uri="{FF2B5EF4-FFF2-40B4-BE49-F238E27FC236}">
                      <a16:creationId xmlns:a16="http://schemas.microsoft.com/office/drawing/2014/main" id="{298C3254-BB41-4BF4-A745-E0474ABF7E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3" y="183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2" name="Rectangle 85">
                  <a:extLst>
                    <a:ext uri="{FF2B5EF4-FFF2-40B4-BE49-F238E27FC236}">
                      <a16:creationId xmlns:a16="http://schemas.microsoft.com/office/drawing/2014/main" id="{C630E374-A4A1-4354-B60E-1F926CF5D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0" y="1793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3" name="Rectangle 86">
                  <a:extLst>
                    <a:ext uri="{FF2B5EF4-FFF2-40B4-BE49-F238E27FC236}">
                      <a16:creationId xmlns:a16="http://schemas.microsoft.com/office/drawing/2014/main" id="{DB90A78E-63FD-46E5-A35D-9B538FA2A4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5" y="175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4" name="Rectangle 87">
                  <a:extLst>
                    <a:ext uri="{FF2B5EF4-FFF2-40B4-BE49-F238E27FC236}">
                      <a16:creationId xmlns:a16="http://schemas.microsoft.com/office/drawing/2014/main" id="{3E4255A6-BBF9-4678-9579-8F077CDA0F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2" y="173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5" name="Rectangle 88">
                  <a:extLst>
                    <a:ext uri="{FF2B5EF4-FFF2-40B4-BE49-F238E27FC236}">
                      <a16:creationId xmlns:a16="http://schemas.microsoft.com/office/drawing/2014/main" id="{B2A3927C-D2B1-4405-A822-52A3E453D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59" y="1712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6" name="Rectangle 89">
                  <a:extLst>
                    <a:ext uri="{FF2B5EF4-FFF2-40B4-BE49-F238E27FC236}">
                      <a16:creationId xmlns:a16="http://schemas.microsoft.com/office/drawing/2014/main" id="{00CA8699-29F2-4BAA-A016-684A089B8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4" y="1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7" name="Rectangle 90">
                  <a:extLst>
                    <a:ext uri="{FF2B5EF4-FFF2-40B4-BE49-F238E27FC236}">
                      <a16:creationId xmlns:a16="http://schemas.microsoft.com/office/drawing/2014/main" id="{9F47C82D-93AD-467B-B5A2-F92C699FCB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63" y="1651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8" name="Rectangle 91">
                  <a:extLst>
                    <a:ext uri="{FF2B5EF4-FFF2-40B4-BE49-F238E27FC236}">
                      <a16:creationId xmlns:a16="http://schemas.microsoft.com/office/drawing/2014/main" id="{C9E31EAE-FD78-4A7D-A817-FCE30FC60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91" y="161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29" name="Rectangle 92">
                  <a:extLst>
                    <a:ext uri="{FF2B5EF4-FFF2-40B4-BE49-F238E27FC236}">
                      <a16:creationId xmlns:a16="http://schemas.microsoft.com/office/drawing/2014/main" id="{4884A376-CFF7-4923-A8C0-0415D53D5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87" y="1568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0" name="Rectangle 93">
                  <a:extLst>
                    <a:ext uri="{FF2B5EF4-FFF2-40B4-BE49-F238E27FC236}">
                      <a16:creationId xmlns:a16="http://schemas.microsoft.com/office/drawing/2014/main" id="{58824544-31B8-4C23-8C34-FBBE910B1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0" y="152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1" name="Rectangle 94">
                  <a:extLst>
                    <a:ext uri="{FF2B5EF4-FFF2-40B4-BE49-F238E27FC236}">
                      <a16:creationId xmlns:a16="http://schemas.microsoft.com/office/drawing/2014/main" id="{0AFEB2D1-3F19-48DC-B60D-4DB0AC3B4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22" y="1490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2" name="Rectangle 95">
                  <a:extLst>
                    <a:ext uri="{FF2B5EF4-FFF2-40B4-BE49-F238E27FC236}">
                      <a16:creationId xmlns:a16="http://schemas.microsoft.com/office/drawing/2014/main" id="{B92DC0E3-80CA-484F-8B25-3078AD46B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5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3" name="Rectangle 96">
                  <a:extLst>
                    <a:ext uri="{FF2B5EF4-FFF2-40B4-BE49-F238E27FC236}">
                      <a16:creationId xmlns:a16="http://schemas.microsoft.com/office/drawing/2014/main" id="{0D7695FE-16B6-48C7-B627-373CED4D61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44" y="141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4" name="Rectangle 97">
                  <a:extLst>
                    <a:ext uri="{FF2B5EF4-FFF2-40B4-BE49-F238E27FC236}">
                      <a16:creationId xmlns:a16="http://schemas.microsoft.com/office/drawing/2014/main" id="{F26F53E9-BEF1-4496-BCE4-3B7DE269A8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71" y="13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5" name="Rectangle 98">
                  <a:extLst>
                    <a:ext uri="{FF2B5EF4-FFF2-40B4-BE49-F238E27FC236}">
                      <a16:creationId xmlns:a16="http://schemas.microsoft.com/office/drawing/2014/main" id="{8C5588F3-28BA-497B-8CD8-89380BA9F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166" y="133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6" name="Rectangle 99">
                  <a:extLst>
                    <a:ext uri="{FF2B5EF4-FFF2-40B4-BE49-F238E27FC236}">
                      <a16:creationId xmlns:a16="http://schemas.microsoft.com/office/drawing/2014/main" id="{B24944AF-4CE9-4D38-84F6-703802F78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01" y="1220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7" name="Rectangle 100">
                  <a:extLst>
                    <a:ext uri="{FF2B5EF4-FFF2-40B4-BE49-F238E27FC236}">
                      <a16:creationId xmlns:a16="http://schemas.microsoft.com/office/drawing/2014/main" id="{4B1D93F3-2565-4D68-BEB9-93114E1F0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221" y="1299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8" name="Rectangle 101">
                  <a:extLst>
                    <a:ext uri="{FF2B5EF4-FFF2-40B4-BE49-F238E27FC236}">
                      <a16:creationId xmlns:a16="http://schemas.microsoft.com/office/drawing/2014/main" id="{6B32FEAC-753A-48FC-9705-5FAB18E62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74" y="305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39" name="Rectangle 102">
                  <a:extLst>
                    <a:ext uri="{FF2B5EF4-FFF2-40B4-BE49-F238E27FC236}">
                      <a16:creationId xmlns:a16="http://schemas.microsoft.com/office/drawing/2014/main" id="{A6A59FDE-2837-4922-B462-608758690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390" y="302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0" name="Rectangle 103">
                  <a:extLst>
                    <a:ext uri="{FF2B5EF4-FFF2-40B4-BE49-F238E27FC236}">
                      <a16:creationId xmlns:a16="http://schemas.microsoft.com/office/drawing/2014/main" id="{AF6B5902-5FF0-4408-B6EB-3A8396418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01" y="2996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1" name="Rectangle 104">
                  <a:extLst>
                    <a:ext uri="{FF2B5EF4-FFF2-40B4-BE49-F238E27FC236}">
                      <a16:creationId xmlns:a16="http://schemas.microsoft.com/office/drawing/2014/main" id="{5782D0CF-DCF1-44CC-82E3-B815227D2A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0" y="29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2" name="Rectangle 105">
                  <a:extLst>
                    <a:ext uri="{FF2B5EF4-FFF2-40B4-BE49-F238E27FC236}">
                      <a16:creationId xmlns:a16="http://schemas.microsoft.com/office/drawing/2014/main" id="{2EEEEF7A-8D0D-40F2-861A-EC00F33836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49" y="292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3" name="Rectangle 106">
                  <a:extLst>
                    <a:ext uri="{FF2B5EF4-FFF2-40B4-BE49-F238E27FC236}">
                      <a16:creationId xmlns:a16="http://schemas.microsoft.com/office/drawing/2014/main" id="{297059AE-C68F-4E60-8D1C-C100B2298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494" y="289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4" name="Rectangle 107">
                  <a:extLst>
                    <a:ext uri="{FF2B5EF4-FFF2-40B4-BE49-F238E27FC236}">
                      <a16:creationId xmlns:a16="http://schemas.microsoft.com/office/drawing/2014/main" id="{ABBDFA15-90E0-4653-B4F7-A131C4271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420000">
                  <a:off x="3506" y="2861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5" name="Rectangle 108">
                  <a:extLst>
                    <a:ext uri="{FF2B5EF4-FFF2-40B4-BE49-F238E27FC236}">
                      <a16:creationId xmlns:a16="http://schemas.microsoft.com/office/drawing/2014/main" id="{84718F56-8BB5-452A-AFAF-B4F229630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18" y="286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6" name="Rectangle 109">
                  <a:extLst>
                    <a:ext uri="{FF2B5EF4-FFF2-40B4-BE49-F238E27FC236}">
                      <a16:creationId xmlns:a16="http://schemas.microsoft.com/office/drawing/2014/main" id="{0D3A7035-A6DA-4BD0-AA5B-A68324F02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2" y="283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7" name="Rectangle 110">
                  <a:extLst>
                    <a:ext uri="{FF2B5EF4-FFF2-40B4-BE49-F238E27FC236}">
                      <a16:creationId xmlns:a16="http://schemas.microsoft.com/office/drawing/2014/main" id="{F97FFF9E-766F-4638-9235-80C5A2838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39" y="280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8" name="Rectangle 111">
                  <a:extLst>
                    <a:ext uri="{FF2B5EF4-FFF2-40B4-BE49-F238E27FC236}">
                      <a16:creationId xmlns:a16="http://schemas.microsoft.com/office/drawing/2014/main" id="{E009D44D-87C5-4B3C-8F1D-7D9DDDC37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4" y="276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49" name="Rectangle 112">
                  <a:extLst>
                    <a:ext uri="{FF2B5EF4-FFF2-40B4-BE49-F238E27FC236}">
                      <a16:creationId xmlns:a16="http://schemas.microsoft.com/office/drawing/2014/main" id="{364BAA6E-50CE-4517-AB05-D03C3A00B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578" y="2727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0" name="Rectangle 113">
                  <a:extLst>
                    <a:ext uri="{FF2B5EF4-FFF2-40B4-BE49-F238E27FC236}">
                      <a16:creationId xmlns:a16="http://schemas.microsoft.com/office/drawing/2014/main" id="{9970D599-D2ED-4E6D-863F-C3AAFE86A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35" y="2626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O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1" name="Rectangle 114">
                  <a:extLst>
                    <a:ext uri="{FF2B5EF4-FFF2-40B4-BE49-F238E27FC236}">
                      <a16:creationId xmlns:a16="http://schemas.microsoft.com/office/drawing/2014/main" id="{010024E4-6307-4E24-88A4-0FF94D5EBE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060000">
                  <a:off x="3641" y="2703"/>
                  <a:ext cx="80" cy="1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2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2" name="Rectangle 115">
                  <a:extLst>
                    <a:ext uri="{FF2B5EF4-FFF2-40B4-BE49-F238E27FC236}">
                      <a16:creationId xmlns:a16="http://schemas.microsoft.com/office/drawing/2014/main" id="{1224D237-79BF-47A2-94D4-98BF03118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35" y="1593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3" name="Rectangle 116">
                  <a:extLst>
                    <a:ext uri="{FF2B5EF4-FFF2-40B4-BE49-F238E27FC236}">
                      <a16:creationId xmlns:a16="http://schemas.microsoft.com/office/drawing/2014/main" id="{E33436F1-21BB-40CB-BF96-8AD148B7F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72" y="153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4" name="Rectangle 117">
                  <a:extLst>
                    <a:ext uri="{FF2B5EF4-FFF2-40B4-BE49-F238E27FC236}">
                      <a16:creationId xmlns:a16="http://schemas.microsoft.com/office/drawing/2014/main" id="{B2C005DE-4BE3-4BEE-BD5A-377489984D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5" y="149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5" name="Rectangle 118">
                  <a:extLst>
                    <a:ext uri="{FF2B5EF4-FFF2-40B4-BE49-F238E27FC236}">
                      <a16:creationId xmlns:a16="http://schemas.microsoft.com/office/drawing/2014/main" id="{056F6E79-9711-4582-9B30-DF13D49F44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3994" y="145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6" name="Rectangle 119">
                  <a:extLst>
                    <a:ext uri="{FF2B5EF4-FFF2-40B4-BE49-F238E27FC236}">
                      <a16:creationId xmlns:a16="http://schemas.microsoft.com/office/drawing/2014/main" id="{54E66A68-7803-4F35-A9C9-5312166EA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21" y="14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7" name="Rectangle 120">
                  <a:extLst>
                    <a:ext uri="{FF2B5EF4-FFF2-40B4-BE49-F238E27FC236}">
                      <a16:creationId xmlns:a16="http://schemas.microsoft.com/office/drawing/2014/main" id="{85957940-6911-4FDA-A0E2-7C15EA46F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14" y="1371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8" name="Rectangle 121">
                  <a:extLst>
                    <a:ext uri="{FF2B5EF4-FFF2-40B4-BE49-F238E27FC236}">
                      <a16:creationId xmlns:a16="http://schemas.microsoft.com/office/drawing/2014/main" id="{B7CE6E41-0093-47A2-AFD9-0C2039A94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7340000">
                  <a:off x="4047" y="1313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59" name="Rectangle 122">
                  <a:extLst>
                    <a:ext uri="{FF2B5EF4-FFF2-40B4-BE49-F238E27FC236}">
                      <a16:creationId xmlns:a16="http://schemas.microsoft.com/office/drawing/2014/main" id="{5D704309-C852-4DD8-9FDA-59B6FFCED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299" y="2910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0" name="Rectangle 123">
                  <a:extLst>
                    <a:ext uri="{FF2B5EF4-FFF2-40B4-BE49-F238E27FC236}">
                      <a16:creationId xmlns:a16="http://schemas.microsoft.com/office/drawing/2014/main" id="{AEFAB9BF-FF94-42B6-A238-BB1276614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52" y="285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1" name="Rectangle 124">
                  <a:extLst>
                    <a:ext uri="{FF2B5EF4-FFF2-40B4-BE49-F238E27FC236}">
                      <a16:creationId xmlns:a16="http://schemas.microsoft.com/office/drawing/2014/main" id="{99C80E03-39E9-4C36-8081-E7D83C899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83" y="282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2" name="Rectangle 125">
                  <a:extLst>
                    <a:ext uri="{FF2B5EF4-FFF2-40B4-BE49-F238E27FC236}">
                      <a16:creationId xmlns:a16="http://schemas.microsoft.com/office/drawing/2014/main" id="{9A89A979-2CA1-4DC3-A487-F5007C1A8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393" y="2794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3" name="Rectangle 126">
                  <a:extLst>
                    <a:ext uri="{FF2B5EF4-FFF2-40B4-BE49-F238E27FC236}">
                      <a16:creationId xmlns:a16="http://schemas.microsoft.com/office/drawing/2014/main" id="{B74F56D5-9DEF-4905-A992-DD8431215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1" y="275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4" name="Rectangle 127">
                  <a:extLst>
                    <a:ext uri="{FF2B5EF4-FFF2-40B4-BE49-F238E27FC236}">
                      <a16:creationId xmlns:a16="http://schemas.microsoft.com/office/drawing/2014/main" id="{7E81E1A7-614C-4B81-943C-5C9ADAC5F0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36" y="2717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Q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5" name="Rectangle 128">
                  <a:extLst>
                    <a:ext uri="{FF2B5EF4-FFF2-40B4-BE49-F238E27FC236}">
                      <a16:creationId xmlns:a16="http://schemas.microsoft.com/office/drawing/2014/main" id="{BA97E6B1-A497-403B-9A74-4FED8BDC7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300000">
                  <a:off x="3485" y="266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z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6" name="Rectangle 129">
                  <a:extLst>
                    <a:ext uri="{FF2B5EF4-FFF2-40B4-BE49-F238E27FC236}">
                      <a16:creationId xmlns:a16="http://schemas.microsoft.com/office/drawing/2014/main" id="{0D8DFBC4-DCD2-45BD-BD7C-E00FB50FE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274" y="3132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7" name="Rectangle 130">
                  <a:extLst>
                    <a:ext uri="{FF2B5EF4-FFF2-40B4-BE49-F238E27FC236}">
                      <a16:creationId xmlns:a16="http://schemas.microsoft.com/office/drawing/2014/main" id="{563C83EF-E1F1-4728-8EC7-9478420D19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18" y="308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8" name="Rectangle 131">
                  <a:extLst>
                    <a:ext uri="{FF2B5EF4-FFF2-40B4-BE49-F238E27FC236}">
                      <a16:creationId xmlns:a16="http://schemas.microsoft.com/office/drawing/2014/main" id="{D42B36C5-E7C9-49C2-9C9D-5FCFFBB36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8720000">
                  <a:off x="3353" y="3047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69" name="Rectangle 132">
                  <a:extLst>
                    <a:ext uri="{FF2B5EF4-FFF2-40B4-BE49-F238E27FC236}">
                      <a16:creationId xmlns:a16="http://schemas.microsoft.com/office/drawing/2014/main" id="{EBF4A38C-51A1-4BFC-9DE8-21A6275E08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34" y="1691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0" name="Rectangle 133">
                  <a:extLst>
                    <a:ext uri="{FF2B5EF4-FFF2-40B4-BE49-F238E27FC236}">
                      <a16:creationId xmlns:a16="http://schemas.microsoft.com/office/drawing/2014/main" id="{EC67E1ED-3A94-49AC-A483-7FD027AD4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53" y="1758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1" name="Rectangle 134">
                  <a:extLst>
                    <a:ext uri="{FF2B5EF4-FFF2-40B4-BE49-F238E27FC236}">
                      <a16:creationId xmlns:a16="http://schemas.microsoft.com/office/drawing/2014/main" id="{8BAB330A-8755-417E-AFBF-CB65435AB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1" y="1795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2" name="Rectangle 135">
                  <a:extLst>
                    <a:ext uri="{FF2B5EF4-FFF2-40B4-BE49-F238E27FC236}">
                      <a16:creationId xmlns:a16="http://schemas.microsoft.com/office/drawing/2014/main" id="{BE6007E5-78AA-4BD4-83D4-731870470E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870" y="181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DA251D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73" name="Freeform 136">
                  <a:extLst>
                    <a:ext uri="{FF2B5EF4-FFF2-40B4-BE49-F238E27FC236}">
                      <a16:creationId xmlns:a16="http://schemas.microsoft.com/office/drawing/2014/main" id="{2A2BBB78-EFE6-47D9-A106-B6F741A4A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0" y="1009"/>
                  <a:ext cx="2052" cy="1069"/>
                </a:xfrm>
                <a:custGeom>
                  <a:avLst/>
                  <a:gdLst>
                    <a:gd name="T0" fmla="*/ 7945 w 8208"/>
                    <a:gd name="T1" fmla="*/ 62 h 4275"/>
                    <a:gd name="T2" fmla="*/ 7592 w 8208"/>
                    <a:gd name="T3" fmla="*/ 165 h 4275"/>
                    <a:gd name="T4" fmla="*/ 7233 w 8208"/>
                    <a:gd name="T5" fmla="*/ 280 h 4275"/>
                    <a:gd name="T6" fmla="*/ 6870 w 8208"/>
                    <a:gd name="T7" fmla="*/ 406 h 4275"/>
                    <a:gd name="T8" fmla="*/ 6501 w 8208"/>
                    <a:gd name="T9" fmla="*/ 544 h 4275"/>
                    <a:gd name="T10" fmla="*/ 6127 w 8208"/>
                    <a:gd name="T11" fmla="*/ 691 h 4275"/>
                    <a:gd name="T12" fmla="*/ 5749 w 8208"/>
                    <a:gd name="T13" fmla="*/ 849 h 4275"/>
                    <a:gd name="T14" fmla="*/ 5369 w 8208"/>
                    <a:gd name="T15" fmla="*/ 1019 h 4275"/>
                    <a:gd name="T16" fmla="*/ 4983 w 8208"/>
                    <a:gd name="T17" fmla="*/ 1197 h 4275"/>
                    <a:gd name="T18" fmla="*/ 4597 w 8208"/>
                    <a:gd name="T19" fmla="*/ 1385 h 4275"/>
                    <a:gd name="T20" fmla="*/ 4206 w 8208"/>
                    <a:gd name="T21" fmla="*/ 1581 h 4275"/>
                    <a:gd name="T22" fmla="*/ 3814 w 8208"/>
                    <a:gd name="T23" fmla="*/ 1787 h 4275"/>
                    <a:gd name="T24" fmla="*/ 3421 w 8208"/>
                    <a:gd name="T25" fmla="*/ 2002 h 4275"/>
                    <a:gd name="T26" fmla="*/ 3025 w 8208"/>
                    <a:gd name="T27" fmla="*/ 2224 h 4275"/>
                    <a:gd name="T28" fmla="*/ 2629 w 8208"/>
                    <a:gd name="T29" fmla="*/ 2455 h 4275"/>
                    <a:gd name="T30" fmla="*/ 2233 w 8208"/>
                    <a:gd name="T31" fmla="*/ 2693 h 4275"/>
                    <a:gd name="T32" fmla="*/ 1837 w 8208"/>
                    <a:gd name="T33" fmla="*/ 2939 h 4275"/>
                    <a:gd name="T34" fmla="*/ 1441 w 8208"/>
                    <a:gd name="T35" fmla="*/ 3191 h 4275"/>
                    <a:gd name="T36" fmla="*/ 1045 w 8208"/>
                    <a:gd name="T37" fmla="*/ 3450 h 4275"/>
                    <a:gd name="T38" fmla="*/ 652 w 8208"/>
                    <a:gd name="T39" fmla="*/ 3716 h 4275"/>
                    <a:gd name="T40" fmla="*/ 260 w 8208"/>
                    <a:gd name="T41" fmla="*/ 3987 h 4275"/>
                    <a:gd name="T42" fmla="*/ 74 w 8208"/>
                    <a:gd name="T43" fmla="*/ 4275 h 4275"/>
                    <a:gd name="T44" fmla="*/ 463 w 8208"/>
                    <a:gd name="T45" fmla="*/ 4001 h 4275"/>
                    <a:gd name="T46" fmla="*/ 854 w 8208"/>
                    <a:gd name="T47" fmla="*/ 3732 h 4275"/>
                    <a:gd name="T48" fmla="*/ 1247 w 8208"/>
                    <a:gd name="T49" fmla="*/ 3469 h 4275"/>
                    <a:gd name="T50" fmla="*/ 1642 w 8208"/>
                    <a:gd name="T51" fmla="*/ 3214 h 4275"/>
                    <a:gd name="T52" fmla="*/ 2036 w 8208"/>
                    <a:gd name="T53" fmla="*/ 2965 h 4275"/>
                    <a:gd name="T54" fmla="*/ 2431 w 8208"/>
                    <a:gd name="T55" fmla="*/ 2723 h 4275"/>
                    <a:gd name="T56" fmla="*/ 2826 w 8208"/>
                    <a:gd name="T57" fmla="*/ 2487 h 4275"/>
                    <a:gd name="T58" fmla="*/ 3220 w 8208"/>
                    <a:gd name="T59" fmla="*/ 2261 h 4275"/>
                    <a:gd name="T60" fmla="*/ 3613 w 8208"/>
                    <a:gd name="T61" fmla="*/ 2042 h 4275"/>
                    <a:gd name="T62" fmla="*/ 4004 w 8208"/>
                    <a:gd name="T63" fmla="*/ 1831 h 4275"/>
                    <a:gd name="T64" fmla="*/ 4395 w 8208"/>
                    <a:gd name="T65" fmla="*/ 1629 h 4275"/>
                    <a:gd name="T66" fmla="*/ 4782 w 8208"/>
                    <a:gd name="T67" fmla="*/ 1435 h 4275"/>
                    <a:gd name="T68" fmla="*/ 5166 w 8208"/>
                    <a:gd name="T69" fmla="*/ 1251 h 4275"/>
                    <a:gd name="T70" fmla="*/ 5548 w 8208"/>
                    <a:gd name="T71" fmla="*/ 1077 h 4275"/>
                    <a:gd name="T72" fmla="*/ 5925 w 8208"/>
                    <a:gd name="T73" fmla="*/ 914 h 4275"/>
                    <a:gd name="T74" fmla="*/ 6299 w 8208"/>
                    <a:gd name="T75" fmla="*/ 760 h 4275"/>
                    <a:gd name="T76" fmla="*/ 6669 w 8208"/>
                    <a:gd name="T77" fmla="*/ 616 h 4275"/>
                    <a:gd name="T78" fmla="*/ 7034 w 8208"/>
                    <a:gd name="T79" fmla="*/ 483 h 4275"/>
                    <a:gd name="T80" fmla="*/ 7392 w 8208"/>
                    <a:gd name="T81" fmla="*/ 361 h 4275"/>
                    <a:gd name="T82" fmla="*/ 7746 w 8208"/>
                    <a:gd name="T83" fmla="*/ 253 h 4275"/>
                    <a:gd name="T84" fmla="*/ 8094 w 8208"/>
                    <a:gd name="T85" fmla="*/ 154 h 4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208" h="4275">
                      <a:moveTo>
                        <a:pt x="8176" y="0"/>
                      </a:moveTo>
                      <a:lnTo>
                        <a:pt x="8060" y="30"/>
                      </a:lnTo>
                      <a:lnTo>
                        <a:pt x="7945" y="62"/>
                      </a:lnTo>
                      <a:lnTo>
                        <a:pt x="7827" y="95"/>
                      </a:lnTo>
                      <a:lnTo>
                        <a:pt x="7711" y="130"/>
                      </a:lnTo>
                      <a:lnTo>
                        <a:pt x="7592" y="165"/>
                      </a:lnTo>
                      <a:lnTo>
                        <a:pt x="7473" y="202"/>
                      </a:lnTo>
                      <a:lnTo>
                        <a:pt x="7354" y="241"/>
                      </a:lnTo>
                      <a:lnTo>
                        <a:pt x="7233" y="280"/>
                      </a:lnTo>
                      <a:lnTo>
                        <a:pt x="7113" y="321"/>
                      </a:lnTo>
                      <a:lnTo>
                        <a:pt x="6991" y="363"/>
                      </a:lnTo>
                      <a:lnTo>
                        <a:pt x="6870" y="406"/>
                      </a:lnTo>
                      <a:lnTo>
                        <a:pt x="6747" y="450"/>
                      </a:lnTo>
                      <a:lnTo>
                        <a:pt x="6624" y="496"/>
                      </a:lnTo>
                      <a:lnTo>
                        <a:pt x="6501" y="544"/>
                      </a:lnTo>
                      <a:lnTo>
                        <a:pt x="6377" y="592"/>
                      </a:lnTo>
                      <a:lnTo>
                        <a:pt x="6253" y="641"/>
                      </a:lnTo>
                      <a:lnTo>
                        <a:pt x="6127" y="691"/>
                      </a:lnTo>
                      <a:lnTo>
                        <a:pt x="6002" y="743"/>
                      </a:lnTo>
                      <a:lnTo>
                        <a:pt x="5876" y="796"/>
                      </a:lnTo>
                      <a:lnTo>
                        <a:pt x="5749" y="849"/>
                      </a:lnTo>
                      <a:lnTo>
                        <a:pt x="5624" y="905"/>
                      </a:lnTo>
                      <a:lnTo>
                        <a:pt x="5496" y="960"/>
                      </a:lnTo>
                      <a:lnTo>
                        <a:pt x="5369" y="1019"/>
                      </a:lnTo>
                      <a:lnTo>
                        <a:pt x="5241" y="1077"/>
                      </a:lnTo>
                      <a:lnTo>
                        <a:pt x="5113" y="1136"/>
                      </a:lnTo>
                      <a:lnTo>
                        <a:pt x="4983" y="1197"/>
                      </a:lnTo>
                      <a:lnTo>
                        <a:pt x="4855" y="1258"/>
                      </a:lnTo>
                      <a:lnTo>
                        <a:pt x="4726" y="1320"/>
                      </a:lnTo>
                      <a:lnTo>
                        <a:pt x="4597" y="1385"/>
                      </a:lnTo>
                      <a:lnTo>
                        <a:pt x="4467" y="1449"/>
                      </a:lnTo>
                      <a:lnTo>
                        <a:pt x="4337" y="1514"/>
                      </a:lnTo>
                      <a:lnTo>
                        <a:pt x="4206" y="1581"/>
                      </a:lnTo>
                      <a:lnTo>
                        <a:pt x="4075" y="1649"/>
                      </a:lnTo>
                      <a:lnTo>
                        <a:pt x="3945" y="1717"/>
                      </a:lnTo>
                      <a:lnTo>
                        <a:pt x="3814" y="1787"/>
                      </a:lnTo>
                      <a:lnTo>
                        <a:pt x="3683" y="1858"/>
                      </a:lnTo>
                      <a:lnTo>
                        <a:pt x="3551" y="1929"/>
                      </a:lnTo>
                      <a:lnTo>
                        <a:pt x="3421" y="2002"/>
                      </a:lnTo>
                      <a:lnTo>
                        <a:pt x="3289" y="2076"/>
                      </a:lnTo>
                      <a:lnTo>
                        <a:pt x="3157" y="2149"/>
                      </a:lnTo>
                      <a:lnTo>
                        <a:pt x="3025" y="2224"/>
                      </a:lnTo>
                      <a:lnTo>
                        <a:pt x="2893" y="2301"/>
                      </a:lnTo>
                      <a:lnTo>
                        <a:pt x="2761" y="2377"/>
                      </a:lnTo>
                      <a:lnTo>
                        <a:pt x="2629" y="2455"/>
                      </a:lnTo>
                      <a:lnTo>
                        <a:pt x="2497" y="2534"/>
                      </a:lnTo>
                      <a:lnTo>
                        <a:pt x="2365" y="2613"/>
                      </a:lnTo>
                      <a:lnTo>
                        <a:pt x="2233" y="2693"/>
                      </a:lnTo>
                      <a:lnTo>
                        <a:pt x="2101" y="2774"/>
                      </a:lnTo>
                      <a:lnTo>
                        <a:pt x="1969" y="2856"/>
                      </a:lnTo>
                      <a:lnTo>
                        <a:pt x="1837" y="2939"/>
                      </a:lnTo>
                      <a:lnTo>
                        <a:pt x="1705" y="3022"/>
                      </a:lnTo>
                      <a:lnTo>
                        <a:pt x="1573" y="3107"/>
                      </a:lnTo>
                      <a:lnTo>
                        <a:pt x="1441" y="3191"/>
                      </a:lnTo>
                      <a:lnTo>
                        <a:pt x="1309" y="3276"/>
                      </a:lnTo>
                      <a:lnTo>
                        <a:pt x="1177" y="3363"/>
                      </a:lnTo>
                      <a:lnTo>
                        <a:pt x="1045" y="3450"/>
                      </a:lnTo>
                      <a:lnTo>
                        <a:pt x="915" y="3538"/>
                      </a:lnTo>
                      <a:lnTo>
                        <a:pt x="783" y="3627"/>
                      </a:lnTo>
                      <a:lnTo>
                        <a:pt x="652" y="3716"/>
                      </a:lnTo>
                      <a:lnTo>
                        <a:pt x="521" y="3806"/>
                      </a:lnTo>
                      <a:lnTo>
                        <a:pt x="391" y="3896"/>
                      </a:lnTo>
                      <a:lnTo>
                        <a:pt x="260" y="3987"/>
                      </a:lnTo>
                      <a:lnTo>
                        <a:pt x="129" y="4079"/>
                      </a:lnTo>
                      <a:lnTo>
                        <a:pt x="0" y="4172"/>
                      </a:lnTo>
                      <a:lnTo>
                        <a:pt x="74" y="4275"/>
                      </a:lnTo>
                      <a:lnTo>
                        <a:pt x="203" y="4183"/>
                      </a:lnTo>
                      <a:lnTo>
                        <a:pt x="332" y="4092"/>
                      </a:lnTo>
                      <a:lnTo>
                        <a:pt x="463" y="4001"/>
                      </a:lnTo>
                      <a:lnTo>
                        <a:pt x="594" y="3910"/>
                      </a:lnTo>
                      <a:lnTo>
                        <a:pt x="724" y="3821"/>
                      </a:lnTo>
                      <a:lnTo>
                        <a:pt x="854" y="3732"/>
                      </a:lnTo>
                      <a:lnTo>
                        <a:pt x="986" y="3644"/>
                      </a:lnTo>
                      <a:lnTo>
                        <a:pt x="1116" y="3557"/>
                      </a:lnTo>
                      <a:lnTo>
                        <a:pt x="1247" y="3469"/>
                      </a:lnTo>
                      <a:lnTo>
                        <a:pt x="1379" y="3384"/>
                      </a:lnTo>
                      <a:lnTo>
                        <a:pt x="1510" y="3298"/>
                      </a:lnTo>
                      <a:lnTo>
                        <a:pt x="1642" y="3214"/>
                      </a:lnTo>
                      <a:lnTo>
                        <a:pt x="1772" y="3130"/>
                      </a:lnTo>
                      <a:lnTo>
                        <a:pt x="1904" y="3047"/>
                      </a:lnTo>
                      <a:lnTo>
                        <a:pt x="2036" y="2965"/>
                      </a:lnTo>
                      <a:lnTo>
                        <a:pt x="2168" y="2883"/>
                      </a:lnTo>
                      <a:lnTo>
                        <a:pt x="2299" y="2803"/>
                      </a:lnTo>
                      <a:lnTo>
                        <a:pt x="2431" y="2723"/>
                      </a:lnTo>
                      <a:lnTo>
                        <a:pt x="2563" y="2644"/>
                      </a:lnTo>
                      <a:lnTo>
                        <a:pt x="2695" y="2565"/>
                      </a:lnTo>
                      <a:lnTo>
                        <a:pt x="2826" y="2487"/>
                      </a:lnTo>
                      <a:lnTo>
                        <a:pt x="2957" y="2411"/>
                      </a:lnTo>
                      <a:lnTo>
                        <a:pt x="3088" y="2336"/>
                      </a:lnTo>
                      <a:lnTo>
                        <a:pt x="3220" y="2261"/>
                      </a:lnTo>
                      <a:lnTo>
                        <a:pt x="3351" y="2187"/>
                      </a:lnTo>
                      <a:lnTo>
                        <a:pt x="3483" y="2113"/>
                      </a:lnTo>
                      <a:lnTo>
                        <a:pt x="3613" y="2042"/>
                      </a:lnTo>
                      <a:lnTo>
                        <a:pt x="3744" y="1971"/>
                      </a:lnTo>
                      <a:lnTo>
                        <a:pt x="3875" y="1900"/>
                      </a:lnTo>
                      <a:lnTo>
                        <a:pt x="4004" y="1831"/>
                      </a:lnTo>
                      <a:lnTo>
                        <a:pt x="4135" y="1763"/>
                      </a:lnTo>
                      <a:lnTo>
                        <a:pt x="4264" y="1695"/>
                      </a:lnTo>
                      <a:lnTo>
                        <a:pt x="4395" y="1629"/>
                      </a:lnTo>
                      <a:lnTo>
                        <a:pt x="4524" y="1563"/>
                      </a:lnTo>
                      <a:lnTo>
                        <a:pt x="4652" y="1499"/>
                      </a:lnTo>
                      <a:lnTo>
                        <a:pt x="4782" y="1435"/>
                      </a:lnTo>
                      <a:lnTo>
                        <a:pt x="4911" y="1373"/>
                      </a:lnTo>
                      <a:lnTo>
                        <a:pt x="5039" y="1312"/>
                      </a:lnTo>
                      <a:lnTo>
                        <a:pt x="5166" y="1251"/>
                      </a:lnTo>
                      <a:lnTo>
                        <a:pt x="5294" y="1192"/>
                      </a:lnTo>
                      <a:lnTo>
                        <a:pt x="5421" y="1135"/>
                      </a:lnTo>
                      <a:lnTo>
                        <a:pt x="5548" y="1077"/>
                      </a:lnTo>
                      <a:lnTo>
                        <a:pt x="5674" y="1021"/>
                      </a:lnTo>
                      <a:lnTo>
                        <a:pt x="5800" y="967"/>
                      </a:lnTo>
                      <a:lnTo>
                        <a:pt x="5925" y="914"/>
                      </a:lnTo>
                      <a:lnTo>
                        <a:pt x="6051" y="861"/>
                      </a:lnTo>
                      <a:lnTo>
                        <a:pt x="6175" y="809"/>
                      </a:lnTo>
                      <a:lnTo>
                        <a:pt x="6299" y="760"/>
                      </a:lnTo>
                      <a:lnTo>
                        <a:pt x="6423" y="711"/>
                      </a:lnTo>
                      <a:lnTo>
                        <a:pt x="6546" y="663"/>
                      </a:lnTo>
                      <a:lnTo>
                        <a:pt x="6669" y="616"/>
                      </a:lnTo>
                      <a:lnTo>
                        <a:pt x="6791" y="571"/>
                      </a:lnTo>
                      <a:lnTo>
                        <a:pt x="6912" y="526"/>
                      </a:lnTo>
                      <a:lnTo>
                        <a:pt x="7034" y="483"/>
                      </a:lnTo>
                      <a:lnTo>
                        <a:pt x="7154" y="441"/>
                      </a:lnTo>
                      <a:lnTo>
                        <a:pt x="7273" y="401"/>
                      </a:lnTo>
                      <a:lnTo>
                        <a:pt x="7392" y="361"/>
                      </a:lnTo>
                      <a:lnTo>
                        <a:pt x="7511" y="324"/>
                      </a:lnTo>
                      <a:lnTo>
                        <a:pt x="7629" y="287"/>
                      </a:lnTo>
                      <a:lnTo>
                        <a:pt x="7746" y="253"/>
                      </a:lnTo>
                      <a:lnTo>
                        <a:pt x="7862" y="218"/>
                      </a:lnTo>
                      <a:lnTo>
                        <a:pt x="7979" y="185"/>
                      </a:lnTo>
                      <a:lnTo>
                        <a:pt x="8094" y="154"/>
                      </a:lnTo>
                      <a:lnTo>
                        <a:pt x="8208" y="123"/>
                      </a:lnTo>
                      <a:lnTo>
                        <a:pt x="81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4" name="Freeform 137">
                  <a:extLst>
                    <a:ext uri="{FF2B5EF4-FFF2-40B4-BE49-F238E27FC236}">
                      <a16:creationId xmlns:a16="http://schemas.microsoft.com/office/drawing/2014/main" id="{AE1716FA-0768-4DA4-826A-D60298A9EC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4" y="933"/>
                  <a:ext cx="213" cy="189"/>
                </a:xfrm>
                <a:custGeom>
                  <a:avLst/>
                  <a:gdLst>
                    <a:gd name="T0" fmla="*/ 852 w 852"/>
                    <a:gd name="T1" fmla="*/ 182 h 755"/>
                    <a:gd name="T2" fmla="*/ 0 w 852"/>
                    <a:gd name="T3" fmla="*/ 0 h 755"/>
                    <a:gd name="T4" fmla="*/ 195 w 852"/>
                    <a:gd name="T5" fmla="*/ 755 h 755"/>
                    <a:gd name="T6" fmla="*/ 852 w 852"/>
                    <a:gd name="T7" fmla="*/ 182 h 755"/>
                    <a:gd name="T8" fmla="*/ 852 w 852"/>
                    <a:gd name="T9" fmla="*/ 182 h 7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2" h="755">
                      <a:moveTo>
                        <a:pt x="852" y="182"/>
                      </a:moveTo>
                      <a:lnTo>
                        <a:pt x="0" y="0"/>
                      </a:lnTo>
                      <a:lnTo>
                        <a:pt x="195" y="755"/>
                      </a:lnTo>
                      <a:lnTo>
                        <a:pt x="852" y="182"/>
                      </a:lnTo>
                      <a:lnTo>
                        <a:pt x="852" y="182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5" name="Freeform 138">
                  <a:extLst>
                    <a:ext uri="{FF2B5EF4-FFF2-40B4-BE49-F238E27FC236}">
                      <a16:creationId xmlns:a16="http://schemas.microsoft.com/office/drawing/2014/main" id="{D254A7FA-5DB2-4240-9381-8C25DF6A35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" y="3169"/>
                  <a:ext cx="140" cy="131"/>
                </a:xfrm>
                <a:custGeom>
                  <a:avLst/>
                  <a:gdLst>
                    <a:gd name="T0" fmla="*/ 471 w 558"/>
                    <a:gd name="T1" fmla="*/ 0 h 527"/>
                    <a:gd name="T2" fmla="*/ 350 w 558"/>
                    <a:gd name="T3" fmla="*/ 112 h 527"/>
                    <a:gd name="T4" fmla="*/ 0 w 558"/>
                    <a:gd name="T5" fmla="*/ 434 h 527"/>
                    <a:gd name="T6" fmla="*/ 87 w 558"/>
                    <a:gd name="T7" fmla="*/ 527 h 527"/>
                    <a:gd name="T8" fmla="*/ 435 w 558"/>
                    <a:gd name="T9" fmla="*/ 206 h 527"/>
                    <a:gd name="T10" fmla="*/ 558 w 558"/>
                    <a:gd name="T11" fmla="*/ 95 h 527"/>
                    <a:gd name="T12" fmla="*/ 471 w 558"/>
                    <a:gd name="T13" fmla="*/ 0 h 5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58" h="527">
                      <a:moveTo>
                        <a:pt x="471" y="0"/>
                      </a:moveTo>
                      <a:lnTo>
                        <a:pt x="350" y="112"/>
                      </a:lnTo>
                      <a:lnTo>
                        <a:pt x="0" y="434"/>
                      </a:lnTo>
                      <a:lnTo>
                        <a:pt x="87" y="527"/>
                      </a:lnTo>
                      <a:lnTo>
                        <a:pt x="435" y="206"/>
                      </a:lnTo>
                      <a:lnTo>
                        <a:pt x="558" y="95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6" name="Freeform 139">
                  <a:extLst>
                    <a:ext uri="{FF2B5EF4-FFF2-40B4-BE49-F238E27FC236}">
                      <a16:creationId xmlns:a16="http://schemas.microsoft.com/office/drawing/2014/main" id="{04B75503-18A5-4282-8F7D-45BADF321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" y="2997"/>
                  <a:ext cx="141" cy="131"/>
                </a:xfrm>
                <a:custGeom>
                  <a:avLst/>
                  <a:gdLst>
                    <a:gd name="T0" fmla="*/ 476 w 561"/>
                    <a:gd name="T1" fmla="*/ 0 h 522"/>
                    <a:gd name="T2" fmla="*/ 287 w 561"/>
                    <a:gd name="T3" fmla="*/ 168 h 522"/>
                    <a:gd name="T4" fmla="*/ 0 w 561"/>
                    <a:gd name="T5" fmla="*/ 428 h 522"/>
                    <a:gd name="T6" fmla="*/ 85 w 561"/>
                    <a:gd name="T7" fmla="*/ 522 h 522"/>
                    <a:gd name="T8" fmla="*/ 373 w 561"/>
                    <a:gd name="T9" fmla="*/ 262 h 522"/>
                    <a:gd name="T10" fmla="*/ 561 w 561"/>
                    <a:gd name="T11" fmla="*/ 94 h 522"/>
                    <a:gd name="T12" fmla="*/ 476 w 561"/>
                    <a:gd name="T13" fmla="*/ 0 h 5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61" h="522">
                      <a:moveTo>
                        <a:pt x="476" y="0"/>
                      </a:moveTo>
                      <a:lnTo>
                        <a:pt x="287" y="168"/>
                      </a:lnTo>
                      <a:lnTo>
                        <a:pt x="0" y="428"/>
                      </a:lnTo>
                      <a:lnTo>
                        <a:pt x="85" y="522"/>
                      </a:lnTo>
                      <a:lnTo>
                        <a:pt x="373" y="262"/>
                      </a:lnTo>
                      <a:lnTo>
                        <a:pt x="561" y="94"/>
                      </a:ln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7" name="Freeform 140">
                  <a:extLst>
                    <a:ext uri="{FF2B5EF4-FFF2-40B4-BE49-F238E27FC236}">
                      <a16:creationId xmlns:a16="http://schemas.microsoft.com/office/drawing/2014/main" id="{8B5F9AD2-46DE-4A26-864E-67B5FB334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03" y="2828"/>
                  <a:ext cx="141" cy="129"/>
                </a:xfrm>
                <a:custGeom>
                  <a:avLst/>
                  <a:gdLst>
                    <a:gd name="T0" fmla="*/ 482 w 566"/>
                    <a:gd name="T1" fmla="*/ 0 h 517"/>
                    <a:gd name="T2" fmla="*/ 392 w 566"/>
                    <a:gd name="T3" fmla="*/ 77 h 517"/>
                    <a:gd name="T4" fmla="*/ 219 w 566"/>
                    <a:gd name="T5" fmla="*/ 230 h 517"/>
                    <a:gd name="T6" fmla="*/ 44 w 566"/>
                    <a:gd name="T7" fmla="*/ 383 h 517"/>
                    <a:gd name="T8" fmla="*/ 0 w 566"/>
                    <a:gd name="T9" fmla="*/ 421 h 517"/>
                    <a:gd name="T10" fmla="*/ 84 w 566"/>
                    <a:gd name="T11" fmla="*/ 517 h 517"/>
                    <a:gd name="T12" fmla="*/ 128 w 566"/>
                    <a:gd name="T13" fmla="*/ 478 h 517"/>
                    <a:gd name="T14" fmla="*/ 303 w 566"/>
                    <a:gd name="T15" fmla="*/ 326 h 517"/>
                    <a:gd name="T16" fmla="*/ 476 w 566"/>
                    <a:gd name="T17" fmla="*/ 174 h 517"/>
                    <a:gd name="T18" fmla="*/ 566 w 566"/>
                    <a:gd name="T19" fmla="*/ 97 h 517"/>
                    <a:gd name="T20" fmla="*/ 482 w 566"/>
                    <a:gd name="T21" fmla="*/ 0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66" h="517">
                      <a:moveTo>
                        <a:pt x="482" y="0"/>
                      </a:moveTo>
                      <a:lnTo>
                        <a:pt x="392" y="77"/>
                      </a:lnTo>
                      <a:lnTo>
                        <a:pt x="219" y="230"/>
                      </a:lnTo>
                      <a:lnTo>
                        <a:pt x="44" y="383"/>
                      </a:lnTo>
                      <a:lnTo>
                        <a:pt x="0" y="421"/>
                      </a:lnTo>
                      <a:lnTo>
                        <a:pt x="84" y="517"/>
                      </a:lnTo>
                      <a:lnTo>
                        <a:pt x="128" y="478"/>
                      </a:lnTo>
                      <a:lnTo>
                        <a:pt x="303" y="326"/>
                      </a:lnTo>
                      <a:lnTo>
                        <a:pt x="476" y="174"/>
                      </a:lnTo>
                      <a:lnTo>
                        <a:pt x="566" y="97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8" name="Freeform 141">
                  <a:extLst>
                    <a:ext uri="{FF2B5EF4-FFF2-40B4-BE49-F238E27FC236}">
                      <a16:creationId xmlns:a16="http://schemas.microsoft.com/office/drawing/2014/main" id="{4CD10244-FC32-430D-9DE3-4809643B3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96" y="2662"/>
                  <a:ext cx="143" cy="127"/>
                </a:xfrm>
                <a:custGeom>
                  <a:avLst/>
                  <a:gdLst>
                    <a:gd name="T0" fmla="*/ 488 w 570"/>
                    <a:gd name="T1" fmla="*/ 0 h 511"/>
                    <a:gd name="T2" fmla="*/ 323 w 570"/>
                    <a:gd name="T3" fmla="*/ 138 h 511"/>
                    <a:gd name="T4" fmla="*/ 146 w 570"/>
                    <a:gd name="T5" fmla="*/ 288 h 511"/>
                    <a:gd name="T6" fmla="*/ 0 w 570"/>
                    <a:gd name="T7" fmla="*/ 414 h 511"/>
                    <a:gd name="T8" fmla="*/ 83 w 570"/>
                    <a:gd name="T9" fmla="*/ 511 h 511"/>
                    <a:gd name="T10" fmla="*/ 229 w 570"/>
                    <a:gd name="T11" fmla="*/ 385 h 511"/>
                    <a:gd name="T12" fmla="*/ 406 w 570"/>
                    <a:gd name="T13" fmla="*/ 235 h 511"/>
                    <a:gd name="T14" fmla="*/ 570 w 570"/>
                    <a:gd name="T15" fmla="*/ 97 h 511"/>
                    <a:gd name="T16" fmla="*/ 488 w 570"/>
                    <a:gd name="T17" fmla="*/ 0 h 5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0" h="511">
                      <a:moveTo>
                        <a:pt x="488" y="0"/>
                      </a:moveTo>
                      <a:lnTo>
                        <a:pt x="323" y="138"/>
                      </a:lnTo>
                      <a:lnTo>
                        <a:pt x="146" y="288"/>
                      </a:lnTo>
                      <a:lnTo>
                        <a:pt x="0" y="414"/>
                      </a:lnTo>
                      <a:lnTo>
                        <a:pt x="83" y="511"/>
                      </a:lnTo>
                      <a:lnTo>
                        <a:pt x="229" y="385"/>
                      </a:lnTo>
                      <a:lnTo>
                        <a:pt x="406" y="235"/>
                      </a:lnTo>
                      <a:lnTo>
                        <a:pt x="570" y="97"/>
                      </a:lnTo>
                      <a:lnTo>
                        <a:pt x="488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79" name="Freeform 142">
                  <a:extLst>
                    <a:ext uri="{FF2B5EF4-FFF2-40B4-BE49-F238E27FC236}">
                      <a16:creationId xmlns:a16="http://schemas.microsoft.com/office/drawing/2014/main" id="{622AFC2D-0656-4D9E-BAFE-78AF2E71E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2" y="2499"/>
                  <a:ext cx="144" cy="126"/>
                </a:xfrm>
                <a:custGeom>
                  <a:avLst/>
                  <a:gdLst>
                    <a:gd name="T0" fmla="*/ 495 w 576"/>
                    <a:gd name="T1" fmla="*/ 0 h 503"/>
                    <a:gd name="T2" fmla="*/ 446 w 576"/>
                    <a:gd name="T3" fmla="*/ 40 h 503"/>
                    <a:gd name="T4" fmla="*/ 263 w 576"/>
                    <a:gd name="T5" fmla="*/ 190 h 503"/>
                    <a:gd name="T6" fmla="*/ 79 w 576"/>
                    <a:gd name="T7" fmla="*/ 340 h 503"/>
                    <a:gd name="T8" fmla="*/ 0 w 576"/>
                    <a:gd name="T9" fmla="*/ 406 h 503"/>
                    <a:gd name="T10" fmla="*/ 81 w 576"/>
                    <a:gd name="T11" fmla="*/ 503 h 503"/>
                    <a:gd name="T12" fmla="*/ 160 w 576"/>
                    <a:gd name="T13" fmla="*/ 438 h 503"/>
                    <a:gd name="T14" fmla="*/ 343 w 576"/>
                    <a:gd name="T15" fmla="*/ 288 h 503"/>
                    <a:gd name="T16" fmla="*/ 526 w 576"/>
                    <a:gd name="T17" fmla="*/ 139 h 503"/>
                    <a:gd name="T18" fmla="*/ 576 w 576"/>
                    <a:gd name="T19" fmla="*/ 99 h 503"/>
                    <a:gd name="T20" fmla="*/ 495 w 576"/>
                    <a:gd name="T21" fmla="*/ 0 h 5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76" h="503">
                      <a:moveTo>
                        <a:pt x="495" y="0"/>
                      </a:moveTo>
                      <a:lnTo>
                        <a:pt x="446" y="40"/>
                      </a:lnTo>
                      <a:lnTo>
                        <a:pt x="263" y="190"/>
                      </a:lnTo>
                      <a:lnTo>
                        <a:pt x="79" y="340"/>
                      </a:lnTo>
                      <a:lnTo>
                        <a:pt x="0" y="406"/>
                      </a:lnTo>
                      <a:lnTo>
                        <a:pt x="81" y="503"/>
                      </a:lnTo>
                      <a:lnTo>
                        <a:pt x="160" y="438"/>
                      </a:lnTo>
                      <a:lnTo>
                        <a:pt x="343" y="288"/>
                      </a:lnTo>
                      <a:lnTo>
                        <a:pt x="526" y="139"/>
                      </a:lnTo>
                      <a:lnTo>
                        <a:pt x="576" y="99"/>
                      </a:ln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0" name="Freeform 143">
                  <a:extLst>
                    <a:ext uri="{FF2B5EF4-FFF2-40B4-BE49-F238E27FC236}">
                      <a16:creationId xmlns:a16="http://schemas.microsoft.com/office/drawing/2014/main" id="{B7C60052-9674-4082-9D89-27CFA8BD6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91" y="2340"/>
                  <a:ext cx="146" cy="123"/>
                </a:xfrm>
                <a:custGeom>
                  <a:avLst/>
                  <a:gdLst>
                    <a:gd name="T0" fmla="*/ 503 w 582"/>
                    <a:gd name="T1" fmla="*/ 0 h 496"/>
                    <a:gd name="T2" fmla="*/ 407 w 582"/>
                    <a:gd name="T3" fmla="*/ 75 h 496"/>
                    <a:gd name="T4" fmla="*/ 214 w 582"/>
                    <a:gd name="T5" fmla="*/ 227 h 496"/>
                    <a:gd name="T6" fmla="*/ 24 w 582"/>
                    <a:gd name="T7" fmla="*/ 377 h 496"/>
                    <a:gd name="T8" fmla="*/ 0 w 582"/>
                    <a:gd name="T9" fmla="*/ 397 h 496"/>
                    <a:gd name="T10" fmla="*/ 79 w 582"/>
                    <a:gd name="T11" fmla="*/ 496 h 496"/>
                    <a:gd name="T12" fmla="*/ 104 w 582"/>
                    <a:gd name="T13" fmla="*/ 476 h 496"/>
                    <a:gd name="T14" fmla="*/ 293 w 582"/>
                    <a:gd name="T15" fmla="*/ 326 h 496"/>
                    <a:gd name="T16" fmla="*/ 485 w 582"/>
                    <a:gd name="T17" fmla="*/ 176 h 496"/>
                    <a:gd name="T18" fmla="*/ 582 w 582"/>
                    <a:gd name="T19" fmla="*/ 101 h 496"/>
                    <a:gd name="T20" fmla="*/ 503 w 582"/>
                    <a:gd name="T21" fmla="*/ 0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82" h="496">
                      <a:moveTo>
                        <a:pt x="503" y="0"/>
                      </a:moveTo>
                      <a:lnTo>
                        <a:pt x="407" y="75"/>
                      </a:lnTo>
                      <a:lnTo>
                        <a:pt x="214" y="227"/>
                      </a:lnTo>
                      <a:lnTo>
                        <a:pt x="24" y="377"/>
                      </a:lnTo>
                      <a:lnTo>
                        <a:pt x="0" y="397"/>
                      </a:lnTo>
                      <a:lnTo>
                        <a:pt x="79" y="496"/>
                      </a:lnTo>
                      <a:lnTo>
                        <a:pt x="104" y="476"/>
                      </a:lnTo>
                      <a:lnTo>
                        <a:pt x="293" y="326"/>
                      </a:lnTo>
                      <a:lnTo>
                        <a:pt x="485" y="176"/>
                      </a:lnTo>
                      <a:lnTo>
                        <a:pt x="582" y="101"/>
                      </a:lnTo>
                      <a:lnTo>
                        <a:pt x="503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1" name="Freeform 144">
                  <a:extLst>
                    <a:ext uri="{FF2B5EF4-FFF2-40B4-BE49-F238E27FC236}">
                      <a16:creationId xmlns:a16="http://schemas.microsoft.com/office/drawing/2014/main" id="{8083E260-6C7A-41C6-9952-A0693E63C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3" y="2184"/>
                  <a:ext cx="147" cy="122"/>
                </a:xfrm>
                <a:custGeom>
                  <a:avLst/>
                  <a:gdLst>
                    <a:gd name="T0" fmla="*/ 511 w 587"/>
                    <a:gd name="T1" fmla="*/ 0 h 488"/>
                    <a:gd name="T2" fmla="*/ 392 w 587"/>
                    <a:gd name="T3" fmla="*/ 89 h 488"/>
                    <a:gd name="T4" fmla="*/ 190 w 587"/>
                    <a:gd name="T5" fmla="*/ 242 h 488"/>
                    <a:gd name="T6" fmla="*/ 0 w 587"/>
                    <a:gd name="T7" fmla="*/ 387 h 488"/>
                    <a:gd name="T8" fmla="*/ 78 w 587"/>
                    <a:gd name="T9" fmla="*/ 488 h 488"/>
                    <a:gd name="T10" fmla="*/ 266 w 587"/>
                    <a:gd name="T11" fmla="*/ 343 h 488"/>
                    <a:gd name="T12" fmla="*/ 468 w 587"/>
                    <a:gd name="T13" fmla="*/ 190 h 488"/>
                    <a:gd name="T14" fmla="*/ 587 w 587"/>
                    <a:gd name="T15" fmla="*/ 102 h 488"/>
                    <a:gd name="T16" fmla="*/ 511 w 587"/>
                    <a:gd name="T17" fmla="*/ 0 h 4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87" h="488">
                      <a:moveTo>
                        <a:pt x="511" y="0"/>
                      </a:moveTo>
                      <a:lnTo>
                        <a:pt x="392" y="89"/>
                      </a:lnTo>
                      <a:lnTo>
                        <a:pt x="190" y="242"/>
                      </a:lnTo>
                      <a:lnTo>
                        <a:pt x="0" y="387"/>
                      </a:lnTo>
                      <a:lnTo>
                        <a:pt x="78" y="488"/>
                      </a:lnTo>
                      <a:lnTo>
                        <a:pt x="266" y="343"/>
                      </a:lnTo>
                      <a:lnTo>
                        <a:pt x="468" y="190"/>
                      </a:lnTo>
                      <a:lnTo>
                        <a:pt x="587" y="102"/>
                      </a:lnTo>
                      <a:lnTo>
                        <a:pt x="511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2" name="Freeform 145">
                  <a:extLst>
                    <a:ext uri="{FF2B5EF4-FFF2-40B4-BE49-F238E27FC236}">
                      <a16:creationId xmlns:a16="http://schemas.microsoft.com/office/drawing/2014/main" id="{11729757-1CD8-47CB-81AF-C55C32B7BA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2052"/>
                  <a:ext cx="121" cy="101"/>
                </a:xfrm>
                <a:custGeom>
                  <a:avLst/>
                  <a:gdLst>
                    <a:gd name="T0" fmla="*/ 409 w 484"/>
                    <a:gd name="T1" fmla="*/ 0 h 402"/>
                    <a:gd name="T2" fmla="*/ 195 w 484"/>
                    <a:gd name="T3" fmla="*/ 155 h 402"/>
                    <a:gd name="T4" fmla="*/ 0 w 484"/>
                    <a:gd name="T5" fmla="*/ 300 h 402"/>
                    <a:gd name="T6" fmla="*/ 76 w 484"/>
                    <a:gd name="T7" fmla="*/ 402 h 402"/>
                    <a:gd name="T8" fmla="*/ 270 w 484"/>
                    <a:gd name="T9" fmla="*/ 259 h 402"/>
                    <a:gd name="T10" fmla="*/ 484 w 484"/>
                    <a:gd name="T11" fmla="*/ 103 h 402"/>
                    <a:gd name="T12" fmla="*/ 409 w 484"/>
                    <a:gd name="T13" fmla="*/ 0 h 4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84" h="402">
                      <a:moveTo>
                        <a:pt x="409" y="0"/>
                      </a:moveTo>
                      <a:lnTo>
                        <a:pt x="195" y="155"/>
                      </a:lnTo>
                      <a:lnTo>
                        <a:pt x="0" y="300"/>
                      </a:lnTo>
                      <a:lnTo>
                        <a:pt x="76" y="402"/>
                      </a:lnTo>
                      <a:lnTo>
                        <a:pt x="270" y="259"/>
                      </a:lnTo>
                      <a:lnTo>
                        <a:pt x="484" y="103"/>
                      </a:lnTo>
                      <a:lnTo>
                        <a:pt x="409" y="0"/>
                      </a:lnTo>
                      <a:close/>
                    </a:path>
                  </a:pathLst>
                </a:custGeom>
                <a:solidFill>
                  <a:srgbClr val="DA25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5" name="Freeform 148">
                  <a:extLst>
                    <a:ext uri="{FF2B5EF4-FFF2-40B4-BE49-F238E27FC236}">
                      <a16:creationId xmlns:a16="http://schemas.microsoft.com/office/drawing/2014/main" id="{675A7D71-6BF5-43AD-91A8-2F0A024D7A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7" y="1628"/>
                  <a:ext cx="330" cy="190"/>
                </a:xfrm>
                <a:custGeom>
                  <a:avLst/>
                  <a:gdLst>
                    <a:gd name="T0" fmla="*/ 1319 w 1319"/>
                    <a:gd name="T1" fmla="*/ 721 h 762"/>
                    <a:gd name="T2" fmla="*/ 23 w 1319"/>
                    <a:gd name="T3" fmla="*/ 0 h 762"/>
                    <a:gd name="T4" fmla="*/ 0 w 1319"/>
                    <a:gd name="T5" fmla="*/ 43 h 762"/>
                    <a:gd name="T6" fmla="*/ 1296 w 1319"/>
                    <a:gd name="T7" fmla="*/ 762 h 762"/>
                    <a:gd name="T8" fmla="*/ 1319 w 1319"/>
                    <a:gd name="T9" fmla="*/ 721 h 7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19" h="762">
                      <a:moveTo>
                        <a:pt x="1319" y="721"/>
                      </a:moveTo>
                      <a:lnTo>
                        <a:pt x="23" y="0"/>
                      </a:lnTo>
                      <a:lnTo>
                        <a:pt x="0" y="43"/>
                      </a:lnTo>
                      <a:lnTo>
                        <a:pt x="1296" y="762"/>
                      </a:lnTo>
                      <a:lnTo>
                        <a:pt x="1319" y="721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86" name="Rectangle 149">
                  <a:extLst>
                    <a:ext uri="{FF2B5EF4-FFF2-40B4-BE49-F238E27FC236}">
                      <a16:creationId xmlns:a16="http://schemas.microsoft.com/office/drawing/2014/main" id="{06B99D9D-CC15-4CC8-9088-747F9F744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375" y="2099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7" name="Rectangle 150">
                  <a:extLst>
                    <a:ext uri="{FF2B5EF4-FFF2-40B4-BE49-F238E27FC236}">
                      <a16:creationId xmlns:a16="http://schemas.microsoft.com/office/drawing/2014/main" id="{2A6EF1F8-BA37-49AD-A0EC-4E6D1F779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40" y="2166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n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8" name="Rectangle 151">
                  <a:extLst>
                    <a:ext uri="{FF2B5EF4-FFF2-40B4-BE49-F238E27FC236}">
                      <a16:creationId xmlns:a16="http://schemas.microsoft.com/office/drawing/2014/main" id="{EB48C9DF-17A8-496D-9D50-BF39F208B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492" y="2227"/>
                  <a:ext cx="14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d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89" name="Rectangle 152">
                  <a:extLst>
                    <a:ext uri="{FF2B5EF4-FFF2-40B4-BE49-F238E27FC236}">
                      <a16:creationId xmlns:a16="http://schemas.microsoft.com/office/drawing/2014/main" id="{73BB7CC2-ED3C-43CF-86E2-F2A4D6EAA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18" y="2017"/>
                  <a:ext cx="159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 dirty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0" name="Rectangle 153">
                  <a:extLst>
                    <a:ext uri="{FF2B5EF4-FFF2-40B4-BE49-F238E27FC236}">
                      <a16:creationId xmlns:a16="http://schemas.microsoft.com/office/drawing/2014/main" id="{B87B61DF-6B33-4DBE-9E51-B3D8A5512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591" y="2066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i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1" name="Rectangle 154">
                  <a:extLst>
                    <a:ext uri="{FF2B5EF4-FFF2-40B4-BE49-F238E27FC236}">
                      <a16:creationId xmlns:a16="http://schemas.microsoft.com/office/drawing/2014/main" id="{94DC74ED-8B78-4EC9-A80A-1AA1E3813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13" y="2090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2" name="Rectangle 155">
                  <a:extLst>
                    <a:ext uri="{FF2B5EF4-FFF2-40B4-BE49-F238E27FC236}">
                      <a16:creationId xmlns:a16="http://schemas.microsoft.com/office/drawing/2014/main" id="{0A717FAB-FB68-45DD-AE5F-A200F3ADB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2880000">
                  <a:off x="3634" y="2114"/>
                  <a:ext cx="95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7CC3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3" name="Freeform 156">
                  <a:extLst>
                    <a:ext uri="{FF2B5EF4-FFF2-40B4-BE49-F238E27FC236}">
                      <a16:creationId xmlns:a16="http://schemas.microsoft.com/office/drawing/2014/main" id="{1143E366-8ACD-4E79-977F-F93804B752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2" y="407"/>
                  <a:ext cx="250" cy="1875"/>
                </a:xfrm>
                <a:custGeom>
                  <a:avLst/>
                  <a:gdLst>
                    <a:gd name="T0" fmla="*/ 105 w 1001"/>
                    <a:gd name="T1" fmla="*/ 309 h 7501"/>
                    <a:gd name="T2" fmla="*/ 250 w 1001"/>
                    <a:gd name="T3" fmla="*/ 738 h 7501"/>
                    <a:gd name="T4" fmla="*/ 379 w 1001"/>
                    <a:gd name="T5" fmla="*/ 1152 h 7501"/>
                    <a:gd name="T6" fmla="*/ 494 w 1001"/>
                    <a:gd name="T7" fmla="*/ 1553 h 7501"/>
                    <a:gd name="T8" fmla="*/ 596 w 1001"/>
                    <a:gd name="T9" fmla="*/ 1942 h 7501"/>
                    <a:gd name="T10" fmla="*/ 684 w 1001"/>
                    <a:gd name="T11" fmla="*/ 2320 h 7501"/>
                    <a:gd name="T12" fmla="*/ 759 w 1001"/>
                    <a:gd name="T13" fmla="*/ 2689 h 7501"/>
                    <a:gd name="T14" fmla="*/ 821 w 1001"/>
                    <a:gd name="T15" fmla="*/ 3047 h 7501"/>
                    <a:gd name="T16" fmla="*/ 872 w 1001"/>
                    <a:gd name="T17" fmla="*/ 3398 h 7501"/>
                    <a:gd name="T18" fmla="*/ 909 w 1001"/>
                    <a:gd name="T19" fmla="*/ 3741 h 7501"/>
                    <a:gd name="T20" fmla="*/ 935 w 1001"/>
                    <a:gd name="T21" fmla="*/ 4077 h 7501"/>
                    <a:gd name="T22" fmla="*/ 950 w 1001"/>
                    <a:gd name="T23" fmla="*/ 4407 h 7501"/>
                    <a:gd name="T24" fmla="*/ 953 w 1001"/>
                    <a:gd name="T25" fmla="*/ 4733 h 7501"/>
                    <a:gd name="T26" fmla="*/ 946 w 1001"/>
                    <a:gd name="T27" fmla="*/ 5056 h 7501"/>
                    <a:gd name="T28" fmla="*/ 929 w 1001"/>
                    <a:gd name="T29" fmla="*/ 5374 h 7501"/>
                    <a:gd name="T30" fmla="*/ 902 w 1001"/>
                    <a:gd name="T31" fmla="*/ 5691 h 7501"/>
                    <a:gd name="T32" fmla="*/ 864 w 1001"/>
                    <a:gd name="T33" fmla="*/ 6007 h 7501"/>
                    <a:gd name="T34" fmla="*/ 818 w 1001"/>
                    <a:gd name="T35" fmla="*/ 6322 h 7501"/>
                    <a:gd name="T36" fmla="*/ 763 w 1001"/>
                    <a:gd name="T37" fmla="*/ 6638 h 7501"/>
                    <a:gd name="T38" fmla="*/ 700 w 1001"/>
                    <a:gd name="T39" fmla="*/ 6955 h 7501"/>
                    <a:gd name="T40" fmla="*/ 627 w 1001"/>
                    <a:gd name="T41" fmla="*/ 7275 h 7501"/>
                    <a:gd name="T42" fmla="*/ 622 w 1001"/>
                    <a:gd name="T43" fmla="*/ 7501 h 7501"/>
                    <a:gd name="T44" fmla="*/ 700 w 1001"/>
                    <a:gd name="T45" fmla="*/ 7178 h 7501"/>
                    <a:gd name="T46" fmla="*/ 768 w 1001"/>
                    <a:gd name="T47" fmla="*/ 6858 h 7501"/>
                    <a:gd name="T48" fmla="*/ 829 w 1001"/>
                    <a:gd name="T49" fmla="*/ 6541 h 7501"/>
                    <a:gd name="T50" fmla="*/ 882 w 1001"/>
                    <a:gd name="T51" fmla="*/ 6224 h 7501"/>
                    <a:gd name="T52" fmla="*/ 925 w 1001"/>
                    <a:gd name="T53" fmla="*/ 5907 h 7501"/>
                    <a:gd name="T54" fmla="*/ 959 w 1001"/>
                    <a:gd name="T55" fmla="*/ 5590 h 7501"/>
                    <a:gd name="T56" fmla="*/ 983 w 1001"/>
                    <a:gd name="T57" fmla="*/ 5270 h 7501"/>
                    <a:gd name="T58" fmla="*/ 997 w 1001"/>
                    <a:gd name="T59" fmla="*/ 4949 h 7501"/>
                    <a:gd name="T60" fmla="*/ 1001 w 1001"/>
                    <a:gd name="T61" fmla="*/ 4625 h 7501"/>
                    <a:gd name="T62" fmla="*/ 994 w 1001"/>
                    <a:gd name="T63" fmla="*/ 4296 h 7501"/>
                    <a:gd name="T64" fmla="*/ 975 w 1001"/>
                    <a:gd name="T65" fmla="*/ 3962 h 7501"/>
                    <a:gd name="T66" fmla="*/ 946 w 1001"/>
                    <a:gd name="T67" fmla="*/ 3622 h 7501"/>
                    <a:gd name="T68" fmla="*/ 903 w 1001"/>
                    <a:gd name="T69" fmla="*/ 3275 h 7501"/>
                    <a:gd name="T70" fmla="*/ 850 w 1001"/>
                    <a:gd name="T71" fmla="*/ 2921 h 7501"/>
                    <a:gd name="T72" fmla="*/ 783 w 1001"/>
                    <a:gd name="T73" fmla="*/ 2558 h 7501"/>
                    <a:gd name="T74" fmla="*/ 704 w 1001"/>
                    <a:gd name="T75" fmla="*/ 2186 h 7501"/>
                    <a:gd name="T76" fmla="*/ 611 w 1001"/>
                    <a:gd name="T77" fmla="*/ 1801 h 7501"/>
                    <a:gd name="T78" fmla="*/ 503 w 1001"/>
                    <a:gd name="T79" fmla="*/ 1408 h 7501"/>
                    <a:gd name="T80" fmla="*/ 383 w 1001"/>
                    <a:gd name="T81" fmla="*/ 1000 h 7501"/>
                    <a:gd name="T82" fmla="*/ 248 w 1001"/>
                    <a:gd name="T83" fmla="*/ 581 h 7501"/>
                    <a:gd name="T84" fmla="*/ 98 w 1001"/>
                    <a:gd name="T85" fmla="*/ 148 h 7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001" h="7501">
                      <a:moveTo>
                        <a:pt x="0" y="16"/>
                      </a:moveTo>
                      <a:lnTo>
                        <a:pt x="53" y="163"/>
                      </a:lnTo>
                      <a:lnTo>
                        <a:pt x="105" y="309"/>
                      </a:lnTo>
                      <a:lnTo>
                        <a:pt x="155" y="454"/>
                      </a:lnTo>
                      <a:lnTo>
                        <a:pt x="203" y="597"/>
                      </a:lnTo>
                      <a:lnTo>
                        <a:pt x="250" y="738"/>
                      </a:lnTo>
                      <a:lnTo>
                        <a:pt x="294" y="877"/>
                      </a:lnTo>
                      <a:lnTo>
                        <a:pt x="338" y="1015"/>
                      </a:lnTo>
                      <a:lnTo>
                        <a:pt x="379" y="1152"/>
                      </a:lnTo>
                      <a:lnTo>
                        <a:pt x="419" y="1286"/>
                      </a:lnTo>
                      <a:lnTo>
                        <a:pt x="458" y="1421"/>
                      </a:lnTo>
                      <a:lnTo>
                        <a:pt x="494" y="1553"/>
                      </a:lnTo>
                      <a:lnTo>
                        <a:pt x="530" y="1684"/>
                      </a:lnTo>
                      <a:lnTo>
                        <a:pt x="564" y="1814"/>
                      </a:lnTo>
                      <a:lnTo>
                        <a:pt x="596" y="1942"/>
                      </a:lnTo>
                      <a:lnTo>
                        <a:pt x="627" y="2069"/>
                      </a:lnTo>
                      <a:lnTo>
                        <a:pt x="656" y="2196"/>
                      </a:lnTo>
                      <a:lnTo>
                        <a:pt x="684" y="2320"/>
                      </a:lnTo>
                      <a:lnTo>
                        <a:pt x="710" y="2444"/>
                      </a:lnTo>
                      <a:lnTo>
                        <a:pt x="736" y="2567"/>
                      </a:lnTo>
                      <a:lnTo>
                        <a:pt x="759" y="2689"/>
                      </a:lnTo>
                      <a:lnTo>
                        <a:pt x="781" y="2809"/>
                      </a:lnTo>
                      <a:lnTo>
                        <a:pt x="802" y="2928"/>
                      </a:lnTo>
                      <a:lnTo>
                        <a:pt x="821" y="3047"/>
                      </a:lnTo>
                      <a:lnTo>
                        <a:pt x="840" y="3165"/>
                      </a:lnTo>
                      <a:lnTo>
                        <a:pt x="856" y="3282"/>
                      </a:lnTo>
                      <a:lnTo>
                        <a:pt x="872" y="3398"/>
                      </a:lnTo>
                      <a:lnTo>
                        <a:pt x="885" y="3513"/>
                      </a:lnTo>
                      <a:lnTo>
                        <a:pt x="898" y="3627"/>
                      </a:lnTo>
                      <a:lnTo>
                        <a:pt x="909" y="3741"/>
                      </a:lnTo>
                      <a:lnTo>
                        <a:pt x="919" y="3854"/>
                      </a:lnTo>
                      <a:lnTo>
                        <a:pt x="928" y="3966"/>
                      </a:lnTo>
                      <a:lnTo>
                        <a:pt x="935" y="4077"/>
                      </a:lnTo>
                      <a:lnTo>
                        <a:pt x="941" y="4187"/>
                      </a:lnTo>
                      <a:lnTo>
                        <a:pt x="946" y="4297"/>
                      </a:lnTo>
                      <a:lnTo>
                        <a:pt x="950" y="4407"/>
                      </a:lnTo>
                      <a:lnTo>
                        <a:pt x="952" y="4517"/>
                      </a:lnTo>
                      <a:lnTo>
                        <a:pt x="953" y="4625"/>
                      </a:lnTo>
                      <a:lnTo>
                        <a:pt x="953" y="4733"/>
                      </a:lnTo>
                      <a:lnTo>
                        <a:pt x="952" y="4841"/>
                      </a:lnTo>
                      <a:lnTo>
                        <a:pt x="950" y="4948"/>
                      </a:lnTo>
                      <a:lnTo>
                        <a:pt x="946" y="5056"/>
                      </a:lnTo>
                      <a:lnTo>
                        <a:pt x="942" y="5162"/>
                      </a:lnTo>
                      <a:lnTo>
                        <a:pt x="935" y="5268"/>
                      </a:lnTo>
                      <a:lnTo>
                        <a:pt x="929" y="5374"/>
                      </a:lnTo>
                      <a:lnTo>
                        <a:pt x="921" y="5480"/>
                      </a:lnTo>
                      <a:lnTo>
                        <a:pt x="912" y="5586"/>
                      </a:lnTo>
                      <a:lnTo>
                        <a:pt x="902" y="5691"/>
                      </a:lnTo>
                      <a:lnTo>
                        <a:pt x="890" y="5796"/>
                      </a:lnTo>
                      <a:lnTo>
                        <a:pt x="877" y="5902"/>
                      </a:lnTo>
                      <a:lnTo>
                        <a:pt x="864" y="6007"/>
                      </a:lnTo>
                      <a:lnTo>
                        <a:pt x="850" y="6111"/>
                      </a:lnTo>
                      <a:lnTo>
                        <a:pt x="834" y="6216"/>
                      </a:lnTo>
                      <a:lnTo>
                        <a:pt x="818" y="6322"/>
                      </a:lnTo>
                      <a:lnTo>
                        <a:pt x="801" y="6427"/>
                      </a:lnTo>
                      <a:lnTo>
                        <a:pt x="783" y="6532"/>
                      </a:lnTo>
                      <a:lnTo>
                        <a:pt x="763" y="6638"/>
                      </a:lnTo>
                      <a:lnTo>
                        <a:pt x="743" y="6743"/>
                      </a:lnTo>
                      <a:lnTo>
                        <a:pt x="722" y="6849"/>
                      </a:lnTo>
                      <a:lnTo>
                        <a:pt x="700" y="6955"/>
                      </a:lnTo>
                      <a:lnTo>
                        <a:pt x="677" y="7061"/>
                      </a:lnTo>
                      <a:lnTo>
                        <a:pt x="652" y="7167"/>
                      </a:lnTo>
                      <a:lnTo>
                        <a:pt x="627" y="7275"/>
                      </a:lnTo>
                      <a:lnTo>
                        <a:pt x="603" y="7382"/>
                      </a:lnTo>
                      <a:lnTo>
                        <a:pt x="576" y="7489"/>
                      </a:lnTo>
                      <a:lnTo>
                        <a:pt x="622" y="7501"/>
                      </a:lnTo>
                      <a:lnTo>
                        <a:pt x="648" y="7392"/>
                      </a:lnTo>
                      <a:lnTo>
                        <a:pt x="674" y="7285"/>
                      </a:lnTo>
                      <a:lnTo>
                        <a:pt x="700" y="7178"/>
                      </a:lnTo>
                      <a:lnTo>
                        <a:pt x="723" y="7072"/>
                      </a:lnTo>
                      <a:lnTo>
                        <a:pt x="746" y="6965"/>
                      </a:lnTo>
                      <a:lnTo>
                        <a:pt x="768" y="6858"/>
                      </a:lnTo>
                      <a:lnTo>
                        <a:pt x="790" y="6752"/>
                      </a:lnTo>
                      <a:lnTo>
                        <a:pt x="810" y="6646"/>
                      </a:lnTo>
                      <a:lnTo>
                        <a:pt x="829" y="6541"/>
                      </a:lnTo>
                      <a:lnTo>
                        <a:pt x="849" y="6435"/>
                      </a:lnTo>
                      <a:lnTo>
                        <a:pt x="865" y="6329"/>
                      </a:lnTo>
                      <a:lnTo>
                        <a:pt x="882" y="6224"/>
                      </a:lnTo>
                      <a:lnTo>
                        <a:pt x="898" y="6118"/>
                      </a:lnTo>
                      <a:lnTo>
                        <a:pt x="912" y="6013"/>
                      </a:lnTo>
                      <a:lnTo>
                        <a:pt x="925" y="5907"/>
                      </a:lnTo>
                      <a:lnTo>
                        <a:pt x="938" y="5801"/>
                      </a:lnTo>
                      <a:lnTo>
                        <a:pt x="948" y="5696"/>
                      </a:lnTo>
                      <a:lnTo>
                        <a:pt x="959" y="5590"/>
                      </a:lnTo>
                      <a:lnTo>
                        <a:pt x="968" y="5484"/>
                      </a:lnTo>
                      <a:lnTo>
                        <a:pt x="977" y="5378"/>
                      </a:lnTo>
                      <a:lnTo>
                        <a:pt x="983" y="5270"/>
                      </a:lnTo>
                      <a:lnTo>
                        <a:pt x="990" y="5164"/>
                      </a:lnTo>
                      <a:lnTo>
                        <a:pt x="994" y="5057"/>
                      </a:lnTo>
                      <a:lnTo>
                        <a:pt x="997" y="4949"/>
                      </a:lnTo>
                      <a:lnTo>
                        <a:pt x="1000" y="4842"/>
                      </a:lnTo>
                      <a:lnTo>
                        <a:pt x="1001" y="4733"/>
                      </a:lnTo>
                      <a:lnTo>
                        <a:pt x="1001" y="4625"/>
                      </a:lnTo>
                      <a:lnTo>
                        <a:pt x="1000" y="4516"/>
                      </a:lnTo>
                      <a:lnTo>
                        <a:pt x="997" y="4406"/>
                      </a:lnTo>
                      <a:lnTo>
                        <a:pt x="994" y="4296"/>
                      </a:lnTo>
                      <a:lnTo>
                        <a:pt x="988" y="4186"/>
                      </a:lnTo>
                      <a:lnTo>
                        <a:pt x="983" y="4075"/>
                      </a:lnTo>
                      <a:lnTo>
                        <a:pt x="975" y="3962"/>
                      </a:lnTo>
                      <a:lnTo>
                        <a:pt x="966" y="3850"/>
                      </a:lnTo>
                      <a:lnTo>
                        <a:pt x="956" y="3736"/>
                      </a:lnTo>
                      <a:lnTo>
                        <a:pt x="946" y="3622"/>
                      </a:lnTo>
                      <a:lnTo>
                        <a:pt x="933" y="3508"/>
                      </a:lnTo>
                      <a:lnTo>
                        <a:pt x="919" y="3392"/>
                      </a:lnTo>
                      <a:lnTo>
                        <a:pt x="903" y="3275"/>
                      </a:lnTo>
                      <a:lnTo>
                        <a:pt x="887" y="3159"/>
                      </a:lnTo>
                      <a:lnTo>
                        <a:pt x="869" y="3040"/>
                      </a:lnTo>
                      <a:lnTo>
                        <a:pt x="850" y="2921"/>
                      </a:lnTo>
                      <a:lnTo>
                        <a:pt x="829" y="2800"/>
                      </a:lnTo>
                      <a:lnTo>
                        <a:pt x="806" y="2680"/>
                      </a:lnTo>
                      <a:lnTo>
                        <a:pt x="783" y="2558"/>
                      </a:lnTo>
                      <a:lnTo>
                        <a:pt x="758" y="2434"/>
                      </a:lnTo>
                      <a:lnTo>
                        <a:pt x="731" y="2310"/>
                      </a:lnTo>
                      <a:lnTo>
                        <a:pt x="704" y="2186"/>
                      </a:lnTo>
                      <a:lnTo>
                        <a:pt x="674" y="2059"/>
                      </a:lnTo>
                      <a:lnTo>
                        <a:pt x="643" y="1931"/>
                      </a:lnTo>
                      <a:lnTo>
                        <a:pt x="611" y="1801"/>
                      </a:lnTo>
                      <a:lnTo>
                        <a:pt x="577" y="1672"/>
                      </a:lnTo>
                      <a:lnTo>
                        <a:pt x="541" y="1540"/>
                      </a:lnTo>
                      <a:lnTo>
                        <a:pt x="503" y="1408"/>
                      </a:lnTo>
                      <a:lnTo>
                        <a:pt x="466" y="1273"/>
                      </a:lnTo>
                      <a:lnTo>
                        <a:pt x="426" y="1138"/>
                      </a:lnTo>
                      <a:lnTo>
                        <a:pt x="383" y="1000"/>
                      </a:lnTo>
                      <a:lnTo>
                        <a:pt x="340" y="862"/>
                      </a:lnTo>
                      <a:lnTo>
                        <a:pt x="295" y="722"/>
                      </a:lnTo>
                      <a:lnTo>
                        <a:pt x="248" y="581"/>
                      </a:lnTo>
                      <a:lnTo>
                        <a:pt x="200" y="439"/>
                      </a:lnTo>
                      <a:lnTo>
                        <a:pt x="150" y="294"/>
                      </a:lnTo>
                      <a:lnTo>
                        <a:pt x="98" y="148"/>
                      </a:lnTo>
                      <a:lnTo>
                        <a:pt x="45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4" name="Freeform 157">
                  <a:extLst>
                    <a:ext uri="{FF2B5EF4-FFF2-40B4-BE49-F238E27FC236}">
                      <a16:creationId xmlns:a16="http://schemas.microsoft.com/office/drawing/2014/main" id="{15D92DC4-3C5A-49C2-9A7C-753216C98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2" y="408"/>
                  <a:ext cx="131" cy="1730"/>
                </a:xfrm>
                <a:custGeom>
                  <a:avLst/>
                  <a:gdLst>
                    <a:gd name="T0" fmla="*/ 313 w 524"/>
                    <a:gd name="T1" fmla="*/ 222 h 6920"/>
                    <a:gd name="T2" fmla="*/ 360 w 524"/>
                    <a:gd name="T3" fmla="*/ 654 h 6920"/>
                    <a:gd name="T4" fmla="*/ 400 w 524"/>
                    <a:gd name="T5" fmla="*/ 1085 h 6920"/>
                    <a:gd name="T6" fmla="*/ 431 w 524"/>
                    <a:gd name="T7" fmla="*/ 1517 h 6920"/>
                    <a:gd name="T8" fmla="*/ 455 w 524"/>
                    <a:gd name="T9" fmla="*/ 1948 h 6920"/>
                    <a:gd name="T10" fmla="*/ 470 w 524"/>
                    <a:gd name="T11" fmla="*/ 2380 h 6920"/>
                    <a:gd name="T12" fmla="*/ 476 w 524"/>
                    <a:gd name="T13" fmla="*/ 2811 h 6920"/>
                    <a:gd name="T14" fmla="*/ 472 w 524"/>
                    <a:gd name="T15" fmla="*/ 3242 h 6920"/>
                    <a:gd name="T16" fmla="*/ 459 w 524"/>
                    <a:gd name="T17" fmla="*/ 3674 h 6920"/>
                    <a:gd name="T18" fmla="*/ 441 w 524"/>
                    <a:gd name="T19" fmla="*/ 3997 h 6920"/>
                    <a:gd name="T20" fmla="*/ 427 w 524"/>
                    <a:gd name="T21" fmla="*/ 4213 h 6920"/>
                    <a:gd name="T22" fmla="*/ 410 w 524"/>
                    <a:gd name="T23" fmla="*/ 4428 h 6920"/>
                    <a:gd name="T24" fmla="*/ 389 w 524"/>
                    <a:gd name="T25" fmla="*/ 4644 h 6920"/>
                    <a:gd name="T26" fmla="*/ 367 w 524"/>
                    <a:gd name="T27" fmla="*/ 4860 h 6920"/>
                    <a:gd name="T28" fmla="*/ 341 w 524"/>
                    <a:gd name="T29" fmla="*/ 5075 h 6920"/>
                    <a:gd name="T30" fmla="*/ 313 w 524"/>
                    <a:gd name="T31" fmla="*/ 5291 h 6920"/>
                    <a:gd name="T32" fmla="*/ 281 w 524"/>
                    <a:gd name="T33" fmla="*/ 5507 h 6920"/>
                    <a:gd name="T34" fmla="*/ 246 w 524"/>
                    <a:gd name="T35" fmla="*/ 5722 h 6920"/>
                    <a:gd name="T36" fmla="*/ 208 w 524"/>
                    <a:gd name="T37" fmla="*/ 5938 h 6920"/>
                    <a:gd name="T38" fmla="*/ 168 w 524"/>
                    <a:gd name="T39" fmla="*/ 6154 h 6920"/>
                    <a:gd name="T40" fmla="*/ 124 w 524"/>
                    <a:gd name="T41" fmla="*/ 6369 h 6920"/>
                    <a:gd name="T42" fmla="*/ 76 w 524"/>
                    <a:gd name="T43" fmla="*/ 6585 h 6920"/>
                    <a:gd name="T44" fmla="*/ 26 w 524"/>
                    <a:gd name="T45" fmla="*/ 6801 h 6920"/>
                    <a:gd name="T46" fmla="*/ 46 w 524"/>
                    <a:gd name="T47" fmla="*/ 6920 h 6920"/>
                    <a:gd name="T48" fmla="*/ 98 w 524"/>
                    <a:gd name="T49" fmla="*/ 6704 h 6920"/>
                    <a:gd name="T50" fmla="*/ 147 w 524"/>
                    <a:gd name="T51" fmla="*/ 6487 h 6920"/>
                    <a:gd name="T52" fmla="*/ 193 w 524"/>
                    <a:gd name="T53" fmla="*/ 6271 h 6920"/>
                    <a:gd name="T54" fmla="*/ 235 w 524"/>
                    <a:gd name="T55" fmla="*/ 6055 h 6920"/>
                    <a:gd name="T56" fmla="*/ 275 w 524"/>
                    <a:gd name="T57" fmla="*/ 5839 h 6920"/>
                    <a:gd name="T58" fmla="*/ 312 w 524"/>
                    <a:gd name="T59" fmla="*/ 5622 h 6920"/>
                    <a:gd name="T60" fmla="*/ 344 w 524"/>
                    <a:gd name="T61" fmla="*/ 5406 h 6920"/>
                    <a:gd name="T62" fmla="*/ 375 w 524"/>
                    <a:gd name="T63" fmla="*/ 5189 h 6920"/>
                    <a:gd name="T64" fmla="*/ 402 w 524"/>
                    <a:gd name="T65" fmla="*/ 4973 h 6920"/>
                    <a:gd name="T66" fmla="*/ 427 w 524"/>
                    <a:gd name="T67" fmla="*/ 4757 h 6920"/>
                    <a:gd name="T68" fmla="*/ 448 w 524"/>
                    <a:gd name="T69" fmla="*/ 4541 h 6920"/>
                    <a:gd name="T70" fmla="*/ 467 w 524"/>
                    <a:gd name="T71" fmla="*/ 4325 h 6920"/>
                    <a:gd name="T72" fmla="*/ 482 w 524"/>
                    <a:gd name="T73" fmla="*/ 4109 h 6920"/>
                    <a:gd name="T74" fmla="*/ 495 w 524"/>
                    <a:gd name="T75" fmla="*/ 3891 h 6920"/>
                    <a:gd name="T76" fmla="*/ 515 w 524"/>
                    <a:gd name="T77" fmla="*/ 3459 h 6920"/>
                    <a:gd name="T78" fmla="*/ 523 w 524"/>
                    <a:gd name="T79" fmla="*/ 3027 h 6920"/>
                    <a:gd name="T80" fmla="*/ 521 w 524"/>
                    <a:gd name="T81" fmla="*/ 2595 h 6920"/>
                    <a:gd name="T82" fmla="*/ 511 w 524"/>
                    <a:gd name="T83" fmla="*/ 2163 h 6920"/>
                    <a:gd name="T84" fmla="*/ 492 w 524"/>
                    <a:gd name="T85" fmla="*/ 1729 h 6920"/>
                    <a:gd name="T86" fmla="*/ 464 w 524"/>
                    <a:gd name="T87" fmla="*/ 1297 h 6920"/>
                    <a:gd name="T88" fmla="*/ 428 w 524"/>
                    <a:gd name="T89" fmla="*/ 865 h 6920"/>
                    <a:gd name="T90" fmla="*/ 385 w 524"/>
                    <a:gd name="T91" fmla="*/ 433 h 6920"/>
                    <a:gd name="T92" fmla="*/ 335 w 524"/>
                    <a:gd name="T93" fmla="*/ 0 h 69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524" h="6920">
                      <a:moveTo>
                        <a:pt x="287" y="6"/>
                      </a:moveTo>
                      <a:lnTo>
                        <a:pt x="313" y="222"/>
                      </a:lnTo>
                      <a:lnTo>
                        <a:pt x="338" y="438"/>
                      </a:lnTo>
                      <a:lnTo>
                        <a:pt x="360" y="654"/>
                      </a:lnTo>
                      <a:lnTo>
                        <a:pt x="380" y="869"/>
                      </a:lnTo>
                      <a:lnTo>
                        <a:pt x="400" y="1085"/>
                      </a:lnTo>
                      <a:lnTo>
                        <a:pt x="416" y="1301"/>
                      </a:lnTo>
                      <a:lnTo>
                        <a:pt x="431" y="1517"/>
                      </a:lnTo>
                      <a:lnTo>
                        <a:pt x="444" y="1732"/>
                      </a:lnTo>
                      <a:lnTo>
                        <a:pt x="455" y="1948"/>
                      </a:lnTo>
                      <a:lnTo>
                        <a:pt x="463" y="2164"/>
                      </a:lnTo>
                      <a:lnTo>
                        <a:pt x="470" y="2380"/>
                      </a:lnTo>
                      <a:lnTo>
                        <a:pt x="473" y="2595"/>
                      </a:lnTo>
                      <a:lnTo>
                        <a:pt x="476" y="2811"/>
                      </a:lnTo>
                      <a:lnTo>
                        <a:pt x="475" y="3027"/>
                      </a:lnTo>
                      <a:lnTo>
                        <a:pt x="472" y="3242"/>
                      </a:lnTo>
                      <a:lnTo>
                        <a:pt x="467" y="3458"/>
                      </a:lnTo>
                      <a:lnTo>
                        <a:pt x="459" y="3674"/>
                      </a:lnTo>
                      <a:lnTo>
                        <a:pt x="448" y="3890"/>
                      </a:lnTo>
                      <a:lnTo>
                        <a:pt x="441" y="3997"/>
                      </a:lnTo>
                      <a:lnTo>
                        <a:pt x="435" y="4105"/>
                      </a:lnTo>
                      <a:lnTo>
                        <a:pt x="427" y="4213"/>
                      </a:lnTo>
                      <a:lnTo>
                        <a:pt x="419" y="4321"/>
                      </a:lnTo>
                      <a:lnTo>
                        <a:pt x="410" y="4428"/>
                      </a:lnTo>
                      <a:lnTo>
                        <a:pt x="400" y="4537"/>
                      </a:lnTo>
                      <a:lnTo>
                        <a:pt x="389" y="4644"/>
                      </a:lnTo>
                      <a:lnTo>
                        <a:pt x="379" y="4752"/>
                      </a:lnTo>
                      <a:lnTo>
                        <a:pt x="367" y="4860"/>
                      </a:lnTo>
                      <a:lnTo>
                        <a:pt x="354" y="4968"/>
                      </a:lnTo>
                      <a:lnTo>
                        <a:pt x="341" y="5075"/>
                      </a:lnTo>
                      <a:lnTo>
                        <a:pt x="327" y="5184"/>
                      </a:lnTo>
                      <a:lnTo>
                        <a:pt x="313" y="5291"/>
                      </a:lnTo>
                      <a:lnTo>
                        <a:pt x="297" y="5399"/>
                      </a:lnTo>
                      <a:lnTo>
                        <a:pt x="281" y="5507"/>
                      </a:lnTo>
                      <a:lnTo>
                        <a:pt x="264" y="5615"/>
                      </a:lnTo>
                      <a:lnTo>
                        <a:pt x="246" y="5722"/>
                      </a:lnTo>
                      <a:lnTo>
                        <a:pt x="228" y="5831"/>
                      </a:lnTo>
                      <a:lnTo>
                        <a:pt x="208" y="5938"/>
                      </a:lnTo>
                      <a:lnTo>
                        <a:pt x="189" y="6046"/>
                      </a:lnTo>
                      <a:lnTo>
                        <a:pt x="168" y="6154"/>
                      </a:lnTo>
                      <a:lnTo>
                        <a:pt x="146" y="6262"/>
                      </a:lnTo>
                      <a:lnTo>
                        <a:pt x="124" y="6369"/>
                      </a:lnTo>
                      <a:lnTo>
                        <a:pt x="101" y="6478"/>
                      </a:lnTo>
                      <a:lnTo>
                        <a:pt x="76" y="6585"/>
                      </a:lnTo>
                      <a:lnTo>
                        <a:pt x="52" y="6693"/>
                      </a:lnTo>
                      <a:lnTo>
                        <a:pt x="26" y="6801"/>
                      </a:lnTo>
                      <a:lnTo>
                        <a:pt x="0" y="6909"/>
                      </a:lnTo>
                      <a:lnTo>
                        <a:pt x="46" y="6920"/>
                      </a:lnTo>
                      <a:lnTo>
                        <a:pt x="72" y="6812"/>
                      </a:lnTo>
                      <a:lnTo>
                        <a:pt x="98" y="6704"/>
                      </a:lnTo>
                      <a:lnTo>
                        <a:pt x="123" y="6596"/>
                      </a:lnTo>
                      <a:lnTo>
                        <a:pt x="147" y="6487"/>
                      </a:lnTo>
                      <a:lnTo>
                        <a:pt x="171" y="6379"/>
                      </a:lnTo>
                      <a:lnTo>
                        <a:pt x="193" y="6271"/>
                      </a:lnTo>
                      <a:lnTo>
                        <a:pt x="215" y="6163"/>
                      </a:lnTo>
                      <a:lnTo>
                        <a:pt x="235" y="6055"/>
                      </a:lnTo>
                      <a:lnTo>
                        <a:pt x="256" y="5946"/>
                      </a:lnTo>
                      <a:lnTo>
                        <a:pt x="275" y="5839"/>
                      </a:lnTo>
                      <a:lnTo>
                        <a:pt x="294" y="5730"/>
                      </a:lnTo>
                      <a:lnTo>
                        <a:pt x="312" y="5622"/>
                      </a:lnTo>
                      <a:lnTo>
                        <a:pt x="329" y="5514"/>
                      </a:lnTo>
                      <a:lnTo>
                        <a:pt x="344" y="5406"/>
                      </a:lnTo>
                      <a:lnTo>
                        <a:pt x="360" y="5298"/>
                      </a:lnTo>
                      <a:lnTo>
                        <a:pt x="375" y="5189"/>
                      </a:lnTo>
                      <a:lnTo>
                        <a:pt x="389" y="5082"/>
                      </a:lnTo>
                      <a:lnTo>
                        <a:pt x="402" y="4973"/>
                      </a:lnTo>
                      <a:lnTo>
                        <a:pt x="415" y="4866"/>
                      </a:lnTo>
                      <a:lnTo>
                        <a:pt x="427" y="4757"/>
                      </a:lnTo>
                      <a:lnTo>
                        <a:pt x="437" y="4649"/>
                      </a:lnTo>
                      <a:lnTo>
                        <a:pt x="448" y="4541"/>
                      </a:lnTo>
                      <a:lnTo>
                        <a:pt x="458" y="4432"/>
                      </a:lnTo>
                      <a:lnTo>
                        <a:pt x="467" y="4325"/>
                      </a:lnTo>
                      <a:lnTo>
                        <a:pt x="475" y="4216"/>
                      </a:lnTo>
                      <a:lnTo>
                        <a:pt x="482" y="4109"/>
                      </a:lnTo>
                      <a:lnTo>
                        <a:pt x="489" y="4000"/>
                      </a:lnTo>
                      <a:lnTo>
                        <a:pt x="495" y="3891"/>
                      </a:lnTo>
                      <a:lnTo>
                        <a:pt x="506" y="3675"/>
                      </a:lnTo>
                      <a:lnTo>
                        <a:pt x="515" y="3459"/>
                      </a:lnTo>
                      <a:lnTo>
                        <a:pt x="520" y="3243"/>
                      </a:lnTo>
                      <a:lnTo>
                        <a:pt x="523" y="3027"/>
                      </a:lnTo>
                      <a:lnTo>
                        <a:pt x="524" y="2811"/>
                      </a:lnTo>
                      <a:lnTo>
                        <a:pt x="521" y="2595"/>
                      </a:lnTo>
                      <a:lnTo>
                        <a:pt x="517" y="2379"/>
                      </a:lnTo>
                      <a:lnTo>
                        <a:pt x="511" y="2163"/>
                      </a:lnTo>
                      <a:lnTo>
                        <a:pt x="503" y="1945"/>
                      </a:lnTo>
                      <a:lnTo>
                        <a:pt x="492" y="1729"/>
                      </a:lnTo>
                      <a:lnTo>
                        <a:pt x="479" y="1513"/>
                      </a:lnTo>
                      <a:lnTo>
                        <a:pt x="464" y="1297"/>
                      </a:lnTo>
                      <a:lnTo>
                        <a:pt x="448" y="1081"/>
                      </a:lnTo>
                      <a:lnTo>
                        <a:pt x="428" y="865"/>
                      </a:lnTo>
                      <a:lnTo>
                        <a:pt x="407" y="649"/>
                      </a:lnTo>
                      <a:lnTo>
                        <a:pt x="385" y="433"/>
                      </a:lnTo>
                      <a:lnTo>
                        <a:pt x="361" y="216"/>
                      </a:lnTo>
                      <a:lnTo>
                        <a:pt x="335" y="0"/>
                      </a:lnTo>
                      <a:lnTo>
                        <a:pt x="287" y="6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5" name="Freeform 158">
                  <a:extLst>
                    <a:ext uri="{FF2B5EF4-FFF2-40B4-BE49-F238E27FC236}">
                      <a16:creationId xmlns:a16="http://schemas.microsoft.com/office/drawing/2014/main" id="{DD965920-4496-4B2B-90D7-343B1619B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8" y="408"/>
                  <a:ext cx="60" cy="1334"/>
                </a:xfrm>
                <a:custGeom>
                  <a:avLst/>
                  <a:gdLst>
                    <a:gd name="T0" fmla="*/ 24 w 239"/>
                    <a:gd name="T1" fmla="*/ 183 h 5335"/>
                    <a:gd name="T2" fmla="*/ 67 w 239"/>
                    <a:gd name="T3" fmla="*/ 531 h 5335"/>
                    <a:gd name="T4" fmla="*/ 104 w 239"/>
                    <a:gd name="T5" fmla="*/ 876 h 5335"/>
                    <a:gd name="T6" fmla="*/ 134 w 239"/>
                    <a:gd name="T7" fmla="*/ 1218 h 5335"/>
                    <a:gd name="T8" fmla="*/ 158 w 239"/>
                    <a:gd name="T9" fmla="*/ 1555 h 5335"/>
                    <a:gd name="T10" fmla="*/ 176 w 239"/>
                    <a:gd name="T11" fmla="*/ 1892 h 5335"/>
                    <a:gd name="T12" fmla="*/ 186 w 239"/>
                    <a:gd name="T13" fmla="*/ 2224 h 5335"/>
                    <a:gd name="T14" fmla="*/ 191 w 239"/>
                    <a:gd name="T15" fmla="*/ 2557 h 5335"/>
                    <a:gd name="T16" fmla="*/ 190 w 239"/>
                    <a:gd name="T17" fmla="*/ 2886 h 5335"/>
                    <a:gd name="T18" fmla="*/ 182 w 239"/>
                    <a:gd name="T19" fmla="*/ 3214 h 5335"/>
                    <a:gd name="T20" fmla="*/ 169 w 239"/>
                    <a:gd name="T21" fmla="*/ 3540 h 5335"/>
                    <a:gd name="T22" fmla="*/ 151 w 239"/>
                    <a:gd name="T23" fmla="*/ 3866 h 5335"/>
                    <a:gd name="T24" fmla="*/ 126 w 239"/>
                    <a:gd name="T25" fmla="*/ 4191 h 5335"/>
                    <a:gd name="T26" fmla="*/ 97 w 239"/>
                    <a:gd name="T27" fmla="*/ 4516 h 5335"/>
                    <a:gd name="T28" fmla="*/ 62 w 239"/>
                    <a:gd name="T29" fmla="*/ 4841 h 5335"/>
                    <a:gd name="T30" fmla="*/ 22 w 239"/>
                    <a:gd name="T31" fmla="*/ 5165 h 5335"/>
                    <a:gd name="T32" fmla="*/ 46 w 239"/>
                    <a:gd name="T33" fmla="*/ 5335 h 5335"/>
                    <a:gd name="T34" fmla="*/ 90 w 239"/>
                    <a:gd name="T35" fmla="*/ 5009 h 5335"/>
                    <a:gd name="T36" fmla="*/ 128 w 239"/>
                    <a:gd name="T37" fmla="*/ 4684 h 5335"/>
                    <a:gd name="T38" fmla="*/ 160 w 239"/>
                    <a:gd name="T39" fmla="*/ 4358 h 5335"/>
                    <a:gd name="T40" fmla="*/ 187 w 239"/>
                    <a:gd name="T41" fmla="*/ 4033 h 5335"/>
                    <a:gd name="T42" fmla="*/ 208 w 239"/>
                    <a:gd name="T43" fmla="*/ 3706 h 5335"/>
                    <a:gd name="T44" fmla="*/ 225 w 239"/>
                    <a:gd name="T45" fmla="*/ 3380 h 5335"/>
                    <a:gd name="T46" fmla="*/ 235 w 239"/>
                    <a:gd name="T47" fmla="*/ 3051 h 5335"/>
                    <a:gd name="T48" fmla="*/ 239 w 239"/>
                    <a:gd name="T49" fmla="*/ 2721 h 5335"/>
                    <a:gd name="T50" fmla="*/ 238 w 239"/>
                    <a:gd name="T51" fmla="*/ 2390 h 5335"/>
                    <a:gd name="T52" fmla="*/ 230 w 239"/>
                    <a:gd name="T53" fmla="*/ 2057 h 5335"/>
                    <a:gd name="T54" fmla="*/ 216 w 239"/>
                    <a:gd name="T55" fmla="*/ 1721 h 5335"/>
                    <a:gd name="T56" fmla="*/ 195 w 239"/>
                    <a:gd name="T57" fmla="*/ 1383 h 5335"/>
                    <a:gd name="T58" fmla="*/ 168 w 239"/>
                    <a:gd name="T59" fmla="*/ 1043 h 5335"/>
                    <a:gd name="T60" fmla="*/ 134 w 239"/>
                    <a:gd name="T61" fmla="*/ 699 h 5335"/>
                    <a:gd name="T62" fmla="*/ 94 w 239"/>
                    <a:gd name="T63" fmla="*/ 352 h 5335"/>
                    <a:gd name="T64" fmla="*/ 46 w 239"/>
                    <a:gd name="T65" fmla="*/ 0 h 5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39" h="5335">
                      <a:moveTo>
                        <a:pt x="0" y="8"/>
                      </a:moveTo>
                      <a:lnTo>
                        <a:pt x="24" y="183"/>
                      </a:lnTo>
                      <a:lnTo>
                        <a:pt x="46" y="357"/>
                      </a:lnTo>
                      <a:lnTo>
                        <a:pt x="67" y="531"/>
                      </a:lnTo>
                      <a:lnTo>
                        <a:pt x="86" y="704"/>
                      </a:lnTo>
                      <a:lnTo>
                        <a:pt x="104" y="876"/>
                      </a:lnTo>
                      <a:lnTo>
                        <a:pt x="120" y="1047"/>
                      </a:lnTo>
                      <a:lnTo>
                        <a:pt x="134" y="1218"/>
                      </a:lnTo>
                      <a:lnTo>
                        <a:pt x="147" y="1387"/>
                      </a:lnTo>
                      <a:lnTo>
                        <a:pt x="158" y="1555"/>
                      </a:lnTo>
                      <a:lnTo>
                        <a:pt x="168" y="1724"/>
                      </a:lnTo>
                      <a:lnTo>
                        <a:pt x="176" y="1892"/>
                      </a:lnTo>
                      <a:lnTo>
                        <a:pt x="182" y="2059"/>
                      </a:lnTo>
                      <a:lnTo>
                        <a:pt x="186" y="2224"/>
                      </a:lnTo>
                      <a:lnTo>
                        <a:pt x="190" y="2391"/>
                      </a:lnTo>
                      <a:lnTo>
                        <a:pt x="191" y="2557"/>
                      </a:lnTo>
                      <a:lnTo>
                        <a:pt x="191" y="2721"/>
                      </a:lnTo>
                      <a:lnTo>
                        <a:pt x="190" y="2886"/>
                      </a:lnTo>
                      <a:lnTo>
                        <a:pt x="187" y="3050"/>
                      </a:lnTo>
                      <a:lnTo>
                        <a:pt x="182" y="3214"/>
                      </a:lnTo>
                      <a:lnTo>
                        <a:pt x="177" y="3377"/>
                      </a:lnTo>
                      <a:lnTo>
                        <a:pt x="169" y="3540"/>
                      </a:lnTo>
                      <a:lnTo>
                        <a:pt x="160" y="3703"/>
                      </a:lnTo>
                      <a:lnTo>
                        <a:pt x="151" y="3866"/>
                      </a:lnTo>
                      <a:lnTo>
                        <a:pt x="139" y="4029"/>
                      </a:lnTo>
                      <a:lnTo>
                        <a:pt x="126" y="4191"/>
                      </a:lnTo>
                      <a:lnTo>
                        <a:pt x="112" y="4354"/>
                      </a:lnTo>
                      <a:lnTo>
                        <a:pt x="97" y="4516"/>
                      </a:lnTo>
                      <a:lnTo>
                        <a:pt x="80" y="4679"/>
                      </a:lnTo>
                      <a:lnTo>
                        <a:pt x="62" y="4841"/>
                      </a:lnTo>
                      <a:lnTo>
                        <a:pt x="42" y="5004"/>
                      </a:lnTo>
                      <a:lnTo>
                        <a:pt x="22" y="5165"/>
                      </a:lnTo>
                      <a:lnTo>
                        <a:pt x="0" y="5328"/>
                      </a:lnTo>
                      <a:lnTo>
                        <a:pt x="46" y="5335"/>
                      </a:lnTo>
                      <a:lnTo>
                        <a:pt x="68" y="5172"/>
                      </a:lnTo>
                      <a:lnTo>
                        <a:pt x="90" y="5009"/>
                      </a:lnTo>
                      <a:lnTo>
                        <a:pt x="110" y="4846"/>
                      </a:lnTo>
                      <a:lnTo>
                        <a:pt x="128" y="4684"/>
                      </a:lnTo>
                      <a:lnTo>
                        <a:pt x="145" y="4521"/>
                      </a:lnTo>
                      <a:lnTo>
                        <a:pt x="160" y="4358"/>
                      </a:lnTo>
                      <a:lnTo>
                        <a:pt x="174" y="4195"/>
                      </a:lnTo>
                      <a:lnTo>
                        <a:pt x="187" y="4033"/>
                      </a:lnTo>
                      <a:lnTo>
                        <a:pt x="199" y="3870"/>
                      </a:lnTo>
                      <a:lnTo>
                        <a:pt x="208" y="3706"/>
                      </a:lnTo>
                      <a:lnTo>
                        <a:pt x="217" y="3543"/>
                      </a:lnTo>
                      <a:lnTo>
                        <a:pt x="225" y="3380"/>
                      </a:lnTo>
                      <a:lnTo>
                        <a:pt x="230" y="3215"/>
                      </a:lnTo>
                      <a:lnTo>
                        <a:pt x="235" y="3051"/>
                      </a:lnTo>
                      <a:lnTo>
                        <a:pt x="238" y="2887"/>
                      </a:lnTo>
                      <a:lnTo>
                        <a:pt x="239" y="2721"/>
                      </a:lnTo>
                      <a:lnTo>
                        <a:pt x="239" y="2556"/>
                      </a:lnTo>
                      <a:lnTo>
                        <a:pt x="238" y="2390"/>
                      </a:lnTo>
                      <a:lnTo>
                        <a:pt x="234" y="2224"/>
                      </a:lnTo>
                      <a:lnTo>
                        <a:pt x="230" y="2057"/>
                      </a:lnTo>
                      <a:lnTo>
                        <a:pt x="224" y="1889"/>
                      </a:lnTo>
                      <a:lnTo>
                        <a:pt x="216" y="1721"/>
                      </a:lnTo>
                      <a:lnTo>
                        <a:pt x="205" y="1553"/>
                      </a:lnTo>
                      <a:lnTo>
                        <a:pt x="195" y="1383"/>
                      </a:lnTo>
                      <a:lnTo>
                        <a:pt x="182" y="1214"/>
                      </a:lnTo>
                      <a:lnTo>
                        <a:pt x="168" y="1043"/>
                      </a:lnTo>
                      <a:lnTo>
                        <a:pt x="152" y="871"/>
                      </a:lnTo>
                      <a:lnTo>
                        <a:pt x="134" y="699"/>
                      </a:lnTo>
                      <a:lnTo>
                        <a:pt x="115" y="525"/>
                      </a:lnTo>
                      <a:lnTo>
                        <a:pt x="94" y="352"/>
                      </a:lnTo>
                      <a:lnTo>
                        <a:pt x="71" y="176"/>
                      </a:lnTo>
                      <a:lnTo>
                        <a:pt x="46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1F1A1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2696" name="Rectangle 159">
                  <a:extLst>
                    <a:ext uri="{FF2B5EF4-FFF2-40B4-BE49-F238E27FC236}">
                      <a16:creationId xmlns:a16="http://schemas.microsoft.com/office/drawing/2014/main" id="{7479E4E6-37F7-4228-8B1E-39329B77E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52" y="588"/>
                  <a:ext cx="10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F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7" name="Rectangle 160">
                  <a:extLst>
                    <a:ext uri="{FF2B5EF4-FFF2-40B4-BE49-F238E27FC236}">
                      <a16:creationId xmlns:a16="http://schemas.microsoft.com/office/drawing/2014/main" id="{DA00EBDF-8C50-4503-BA7F-581EF0CE9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70" y="64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e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8" name="Rectangle 161">
                  <a:extLst>
                    <a:ext uri="{FF2B5EF4-FFF2-40B4-BE49-F238E27FC236}">
                      <a16:creationId xmlns:a16="http://schemas.microsoft.com/office/drawing/2014/main" id="{000D4A9B-2B97-4E66-A5B4-D934A1B57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91" y="684"/>
                  <a:ext cx="7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-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99" name="Rectangle 162">
                  <a:extLst>
                    <a:ext uri="{FF2B5EF4-FFF2-40B4-BE49-F238E27FC236}">
                      <a16:creationId xmlns:a16="http://schemas.microsoft.com/office/drawing/2014/main" id="{1C84FDE0-BA59-4B50-892B-CC7EAFD0A5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886" y="732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0" name="Rectangle 163">
                  <a:extLst>
                    <a:ext uri="{FF2B5EF4-FFF2-40B4-BE49-F238E27FC236}">
                      <a16:creationId xmlns:a16="http://schemas.microsoft.com/office/drawing/2014/main" id="{4B08C3E7-BD5E-4266-A739-67FFE61F2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10" y="791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1" name="Rectangle 164">
                  <a:extLst>
                    <a:ext uri="{FF2B5EF4-FFF2-40B4-BE49-F238E27FC236}">
                      <a16:creationId xmlns:a16="http://schemas.microsoft.com/office/drawing/2014/main" id="{85279B60-AA38-4B01-9302-7418171F9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28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2" name="Rectangle 165">
                  <a:extLst>
                    <a:ext uri="{FF2B5EF4-FFF2-40B4-BE49-F238E27FC236}">
                      <a16:creationId xmlns:a16="http://schemas.microsoft.com/office/drawing/2014/main" id="{0B988019-17C4-41E3-BE86-3CE24ACCB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9" y="85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3" name="Rectangle 166">
                  <a:extLst>
                    <a:ext uri="{FF2B5EF4-FFF2-40B4-BE49-F238E27FC236}">
                      <a16:creationId xmlns:a16="http://schemas.microsoft.com/office/drawing/2014/main" id="{4DE0CE08-BC22-45E8-8EDF-6E2C5BEB6F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36" y="89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4" name="Rectangle 167">
                  <a:extLst>
                    <a:ext uri="{FF2B5EF4-FFF2-40B4-BE49-F238E27FC236}">
                      <a16:creationId xmlns:a16="http://schemas.microsoft.com/office/drawing/2014/main" id="{D2E890D3-84B1-4135-9435-9E26166CDA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60" y="93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5" name="Rectangle 168">
                  <a:extLst>
                    <a:ext uri="{FF2B5EF4-FFF2-40B4-BE49-F238E27FC236}">
                      <a16:creationId xmlns:a16="http://schemas.microsoft.com/office/drawing/2014/main" id="{08182556-78F9-4714-B6A3-41385DBB1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48" y="982"/>
                  <a:ext cx="12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M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6" name="Rectangle 169">
                  <a:extLst>
                    <a:ext uri="{FF2B5EF4-FFF2-40B4-BE49-F238E27FC236}">
                      <a16:creationId xmlns:a16="http://schemas.microsoft.com/office/drawing/2014/main" id="{BAC88868-260B-42B9-9B84-A6CDF92AC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440000">
                  <a:off x="2980" y="1045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7" name="Rectangle 170">
                  <a:extLst>
                    <a:ext uri="{FF2B5EF4-FFF2-40B4-BE49-F238E27FC236}">
                      <a16:creationId xmlns:a16="http://schemas.microsoft.com/office/drawing/2014/main" id="{FE8FEAA1-C6F5-4AAE-9279-47F0760263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35" y="4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8" name="Rectangle 171">
                  <a:extLst>
                    <a:ext uri="{FF2B5EF4-FFF2-40B4-BE49-F238E27FC236}">
                      <a16:creationId xmlns:a16="http://schemas.microsoft.com/office/drawing/2014/main" id="{7EE0A2FB-1A12-4BED-8510-98BA669EA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7" y="46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09" name="Rectangle 172">
                  <a:extLst>
                    <a:ext uri="{FF2B5EF4-FFF2-40B4-BE49-F238E27FC236}">
                      <a16:creationId xmlns:a16="http://schemas.microsoft.com/office/drawing/2014/main" id="{EF43C918-D844-41E9-B114-AC7A4872B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9" y="490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0" name="Rectangle 173">
                  <a:extLst>
                    <a:ext uri="{FF2B5EF4-FFF2-40B4-BE49-F238E27FC236}">
                      <a16:creationId xmlns:a16="http://schemas.microsoft.com/office/drawing/2014/main" id="{56EA75AF-22F4-4C69-9731-FEB2BB15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0" y="530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1" name="Rectangle 174">
                  <a:extLst>
                    <a:ext uri="{FF2B5EF4-FFF2-40B4-BE49-F238E27FC236}">
                      <a16:creationId xmlns:a16="http://schemas.microsoft.com/office/drawing/2014/main" id="{E678D915-3C46-4000-84A4-B2CDF729A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6" y="57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2" name="Rectangle 175">
                  <a:extLst>
                    <a:ext uri="{FF2B5EF4-FFF2-40B4-BE49-F238E27FC236}">
                      <a16:creationId xmlns:a16="http://schemas.microsoft.com/office/drawing/2014/main" id="{5F21E8A7-B454-4658-8807-834395718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53" y="617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3" name="Rectangle 176">
                  <a:extLst>
                    <a:ext uri="{FF2B5EF4-FFF2-40B4-BE49-F238E27FC236}">
                      <a16:creationId xmlns:a16="http://schemas.microsoft.com/office/drawing/2014/main" id="{4A6419BD-2EB0-41AF-A7A9-DC8DB9013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5" y="66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4" name="Rectangle 177">
                  <a:extLst>
                    <a:ext uri="{FF2B5EF4-FFF2-40B4-BE49-F238E27FC236}">
                      <a16:creationId xmlns:a16="http://schemas.microsoft.com/office/drawing/2014/main" id="{7DD10115-EA23-4A6B-A3BB-448E4E3866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77" y="689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5" name="Rectangle 178">
                  <a:extLst>
                    <a:ext uri="{FF2B5EF4-FFF2-40B4-BE49-F238E27FC236}">
                      <a16:creationId xmlns:a16="http://schemas.microsoft.com/office/drawing/2014/main" id="{19CAE939-64D6-4AF7-8F24-A8746BF41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367" y="729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6" name="Rectangle 179">
                  <a:extLst>
                    <a:ext uri="{FF2B5EF4-FFF2-40B4-BE49-F238E27FC236}">
                      <a16:creationId xmlns:a16="http://schemas.microsoft.com/office/drawing/2014/main" id="{093C5B48-C5C2-499F-9B42-D7EE26CFC0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490" y="53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S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7" name="Rectangle 180">
                  <a:extLst>
                    <a:ext uri="{FF2B5EF4-FFF2-40B4-BE49-F238E27FC236}">
                      <a16:creationId xmlns:a16="http://schemas.microsoft.com/office/drawing/2014/main" id="{34A82AF7-194E-48FC-983A-FF41575A1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2" y="576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8" name="Rectangle 181">
                  <a:extLst>
                    <a:ext uri="{FF2B5EF4-FFF2-40B4-BE49-F238E27FC236}">
                      <a16:creationId xmlns:a16="http://schemas.microsoft.com/office/drawing/2014/main" id="{C022B4A9-59BC-4558-ABF1-661607C29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14" y="6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19" name="Rectangle 182">
                  <a:extLst>
                    <a:ext uri="{FF2B5EF4-FFF2-40B4-BE49-F238E27FC236}">
                      <a16:creationId xmlns:a16="http://schemas.microsoft.com/office/drawing/2014/main" id="{C22F624B-8303-4BBB-A816-8063505D7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4" y="643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0" name="Rectangle 183">
                  <a:extLst>
                    <a:ext uri="{FF2B5EF4-FFF2-40B4-BE49-F238E27FC236}">
                      <a16:creationId xmlns:a16="http://schemas.microsoft.com/office/drawing/2014/main" id="{DC23CFF4-F970-4101-BFCE-911001CA29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1" y="68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1" name="Rectangle 184">
                  <a:extLst>
                    <a:ext uri="{FF2B5EF4-FFF2-40B4-BE49-F238E27FC236}">
                      <a16:creationId xmlns:a16="http://schemas.microsoft.com/office/drawing/2014/main" id="{FC872153-4C28-4C85-A6D0-335B37634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08" y="729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2" name="Rectangle 185">
                  <a:extLst>
                    <a:ext uri="{FF2B5EF4-FFF2-40B4-BE49-F238E27FC236}">
                      <a16:creationId xmlns:a16="http://schemas.microsoft.com/office/drawing/2014/main" id="{0B12FC1D-1984-4F2B-B529-0432B3899E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9" y="77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3" name="Rectangle 186">
                  <a:extLst>
                    <a:ext uri="{FF2B5EF4-FFF2-40B4-BE49-F238E27FC236}">
                      <a16:creationId xmlns:a16="http://schemas.microsoft.com/office/drawing/2014/main" id="{0A825D57-BBD5-4490-8655-26CF6BB51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32" y="802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4" name="Rectangle 187">
                  <a:extLst>
                    <a:ext uri="{FF2B5EF4-FFF2-40B4-BE49-F238E27FC236}">
                      <a16:creationId xmlns:a16="http://schemas.microsoft.com/office/drawing/2014/main" id="{D9470D47-B242-4A76-8F8B-F59E6BC61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522" y="84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5" name="Rectangle 188">
                  <a:extLst>
                    <a:ext uri="{FF2B5EF4-FFF2-40B4-BE49-F238E27FC236}">
                      <a16:creationId xmlns:a16="http://schemas.microsoft.com/office/drawing/2014/main" id="{40E20785-348A-4899-9A56-D7C9005C44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14" y="50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6" name="Rectangle 189">
                  <a:extLst>
                    <a:ext uri="{FF2B5EF4-FFF2-40B4-BE49-F238E27FC236}">
                      <a16:creationId xmlns:a16="http://schemas.microsoft.com/office/drawing/2014/main" id="{16A32EC1-4D82-4EDA-A826-BD52B7163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3" y="555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7" name="Rectangle 190">
                  <a:extLst>
                    <a:ext uri="{FF2B5EF4-FFF2-40B4-BE49-F238E27FC236}">
                      <a16:creationId xmlns:a16="http://schemas.microsoft.com/office/drawing/2014/main" id="{A57B3896-D22B-4890-A1EA-9A42095CD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45" y="581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8" name="Rectangle 191">
                  <a:extLst>
                    <a:ext uri="{FF2B5EF4-FFF2-40B4-BE49-F238E27FC236}">
                      <a16:creationId xmlns:a16="http://schemas.microsoft.com/office/drawing/2014/main" id="{3AC7032C-0E89-4C00-9C7C-7C93D5C4E8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5" y="622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29" name="Rectangle 192">
                  <a:extLst>
                    <a:ext uri="{FF2B5EF4-FFF2-40B4-BE49-F238E27FC236}">
                      <a16:creationId xmlns:a16="http://schemas.microsoft.com/office/drawing/2014/main" id="{065F0919-A6CC-4C8D-A404-409DFEA69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2" y="66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0" name="Rectangle 193">
                  <a:extLst>
                    <a:ext uri="{FF2B5EF4-FFF2-40B4-BE49-F238E27FC236}">
                      <a16:creationId xmlns:a16="http://schemas.microsoft.com/office/drawing/2014/main" id="{3FA1C983-64D1-4DF3-9CB5-5494F81529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36" y="711"/>
                  <a:ext cx="112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C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1" name="Rectangle 194">
                  <a:extLst>
                    <a:ext uri="{FF2B5EF4-FFF2-40B4-BE49-F238E27FC236}">
                      <a16:creationId xmlns:a16="http://schemas.microsoft.com/office/drawing/2014/main" id="{5C6652DC-2ABE-4D4D-87F3-D71AE6C89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50" y="772"/>
                  <a:ext cx="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h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2" name="Rectangle 195">
                  <a:extLst>
                    <a:ext uri="{FF2B5EF4-FFF2-40B4-BE49-F238E27FC236}">
                      <a16:creationId xmlns:a16="http://schemas.microsoft.com/office/drawing/2014/main" id="{F36EA08A-07AD-4B2F-8C1B-3E226D771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268" y="809"/>
                  <a:ext cx="6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l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3" name="Rectangle 196">
                  <a:extLst>
                    <a:ext uri="{FF2B5EF4-FFF2-40B4-BE49-F238E27FC236}">
                      <a16:creationId xmlns:a16="http://schemas.microsoft.com/office/drawing/2014/main" id="{557487D9-F87E-46F0-85E0-B40DB57A4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2972" y="584"/>
                  <a:ext cx="117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G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4" name="Rectangle 197">
                  <a:extLst>
                    <a:ext uri="{FF2B5EF4-FFF2-40B4-BE49-F238E27FC236}">
                      <a16:creationId xmlns:a16="http://schemas.microsoft.com/office/drawing/2014/main" id="{B2369D69-38A8-4FE0-A0A8-5D649A0B0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1" y="633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5" name="Rectangle 198">
                  <a:extLst>
                    <a:ext uri="{FF2B5EF4-FFF2-40B4-BE49-F238E27FC236}">
                      <a16:creationId xmlns:a16="http://schemas.microsoft.com/office/drawing/2014/main" id="{3C14519E-BE91-4651-A0D4-6C7A849C83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9" y="658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6" name="Rectangle 199">
                  <a:extLst>
                    <a:ext uri="{FF2B5EF4-FFF2-40B4-BE49-F238E27FC236}">
                      <a16:creationId xmlns:a16="http://schemas.microsoft.com/office/drawing/2014/main" id="{A6AD819E-ABB0-46BA-8417-F5FDEB7CC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17" y="697"/>
                  <a:ext cx="9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+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7" name="Rectangle 200">
                  <a:extLst>
                    <a:ext uri="{FF2B5EF4-FFF2-40B4-BE49-F238E27FC236}">
                      <a16:creationId xmlns:a16="http://schemas.microsoft.com/office/drawing/2014/main" id="{2C2A27C7-8CFF-4EE9-9AEB-4CA741FE08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43" y="737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 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8" name="Rectangle 201">
                  <a:extLst>
                    <a:ext uri="{FF2B5EF4-FFF2-40B4-BE49-F238E27FC236}">
                      <a16:creationId xmlns:a16="http://schemas.microsoft.com/office/drawing/2014/main" id="{CD1DC564-A29F-469C-83FE-9F6178EE6E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38" y="78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B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39" name="Rectangle 202">
                  <a:extLst>
                    <a:ext uri="{FF2B5EF4-FFF2-40B4-BE49-F238E27FC236}">
                      <a16:creationId xmlns:a16="http://schemas.microsoft.com/office/drawing/2014/main" id="{1CD1653A-8D20-4B14-A96B-F4802DEE1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4380000">
                  <a:off x="3070" y="824"/>
                  <a:ext cx="69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t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0" name="Rectangle 203">
                  <a:extLst>
                    <a:ext uri="{FF2B5EF4-FFF2-40B4-BE49-F238E27FC236}">
                      <a16:creationId xmlns:a16="http://schemas.microsoft.com/office/drawing/2014/main" id="{78D532E9-E0A2-4B90-88D2-39D1BE7518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20" y="540"/>
                  <a:ext cx="10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K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41" name="Rectangle 204">
                  <a:extLst>
                    <a:ext uri="{FF2B5EF4-FFF2-40B4-BE49-F238E27FC236}">
                      <a16:creationId xmlns:a16="http://schemas.microsoft.com/office/drawing/2014/main" id="{AB9C88A2-F029-4157-8249-06B42F9605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100000">
                  <a:off x="3630" y="597"/>
                  <a:ext cx="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200" b="0" i="0" u="none" strike="noStrike" cap="none" normalizeH="0" baseline="0">
                      <a:ln>
                        <a:noFill/>
                      </a:ln>
                      <a:solidFill>
                        <a:srgbClr val="1F1A17"/>
                      </a:solidFill>
                      <a:effectLst/>
                      <a:latin typeface="Arial" panose="020B0604020202020204" pitchFamily="34" charset="0"/>
                    </a:rPr>
                    <a:t>y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206">
                <a:extLst>
                  <a:ext uri="{FF2B5EF4-FFF2-40B4-BE49-F238E27FC236}">
                    <a16:creationId xmlns:a16="http://schemas.microsoft.com/office/drawing/2014/main" id="{E748DEA1-1AE5-48EF-AEBD-F9BA28238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44" y="63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" name="Rectangle 207">
                <a:extLst>
                  <a:ext uri="{FF2B5EF4-FFF2-40B4-BE49-F238E27FC236}">
                    <a16:creationId xmlns:a16="http://schemas.microsoft.com/office/drawing/2014/main" id="{88B28DA4-B8ED-4174-B9D8-3EB97ECB4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4" y="674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" name="Rectangle 208">
                <a:extLst>
                  <a:ext uri="{FF2B5EF4-FFF2-40B4-BE49-F238E27FC236}">
                    <a16:creationId xmlns:a16="http://schemas.microsoft.com/office/drawing/2014/main" id="{DF5C24A8-6C94-492C-B3AD-A9F49D1C9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0" y="71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" name="Rectangle 209">
                <a:extLst>
                  <a:ext uri="{FF2B5EF4-FFF2-40B4-BE49-F238E27FC236}">
                    <a16:creationId xmlns:a16="http://schemas.microsoft.com/office/drawing/2014/main" id="{6EBA4C2F-6F09-48A7-8913-241B5B5D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35" y="760"/>
                <a:ext cx="10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210">
                <a:extLst>
                  <a:ext uri="{FF2B5EF4-FFF2-40B4-BE49-F238E27FC236}">
                    <a16:creationId xmlns:a16="http://schemas.microsoft.com/office/drawing/2014/main" id="{A3791B4E-01F4-4AE4-A5FD-D1B744323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00000">
                <a:off x="3656" y="807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11">
                <a:extLst>
                  <a:ext uri="{FF2B5EF4-FFF2-40B4-BE49-F238E27FC236}">
                    <a16:creationId xmlns:a16="http://schemas.microsoft.com/office/drawing/2014/main" id="{3D6168BA-A719-40CA-A036-184789812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1" y="76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" name="Rectangle 212">
                <a:extLst>
                  <a:ext uri="{FF2B5EF4-FFF2-40B4-BE49-F238E27FC236}">
                    <a16:creationId xmlns:a16="http://schemas.microsoft.com/office/drawing/2014/main" id="{CEAC4077-7830-4DC3-B2B7-2446180D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814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" name="Rectangle 213">
                <a:extLst>
                  <a:ext uri="{FF2B5EF4-FFF2-40B4-BE49-F238E27FC236}">
                    <a16:creationId xmlns:a16="http://schemas.microsoft.com/office/drawing/2014/main" id="{9788A7F2-502A-4F7F-98E5-3EE6D1357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2" y="876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214">
                <a:extLst>
                  <a:ext uri="{FF2B5EF4-FFF2-40B4-BE49-F238E27FC236}">
                    <a16:creationId xmlns:a16="http://schemas.microsoft.com/office/drawing/2014/main" id="{A74DBB88-1127-4C91-9AE4-4ACC5466E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4" y="9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215">
                <a:extLst>
                  <a:ext uri="{FF2B5EF4-FFF2-40B4-BE49-F238E27FC236}">
                    <a16:creationId xmlns:a16="http://schemas.microsoft.com/office/drawing/2014/main" id="{06139411-1A42-4F24-A5CA-3936E0910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80" y="9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216">
                <a:extLst>
                  <a:ext uri="{FF2B5EF4-FFF2-40B4-BE49-F238E27FC236}">
                    <a16:creationId xmlns:a16="http://schemas.microsoft.com/office/drawing/2014/main" id="{E2D65FBF-F001-42B2-B11A-62DF28170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95" y="996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Rectangle 217">
                <a:extLst>
                  <a:ext uri="{FF2B5EF4-FFF2-40B4-BE49-F238E27FC236}">
                    <a16:creationId xmlns:a16="http://schemas.microsoft.com/office/drawing/2014/main" id="{CE42C871-5B7E-4577-AFE4-BD06D45F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5" y="10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218">
                <a:extLst>
                  <a:ext uri="{FF2B5EF4-FFF2-40B4-BE49-F238E27FC236}">
                    <a16:creationId xmlns:a16="http://schemas.microsoft.com/office/drawing/2014/main" id="{36A7C698-86D2-4EEA-8555-788ED5D52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74" y="11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" name="Rectangle 219">
                <a:extLst>
                  <a:ext uri="{FF2B5EF4-FFF2-40B4-BE49-F238E27FC236}">
                    <a16:creationId xmlns:a16="http://schemas.microsoft.com/office/drawing/2014/main" id="{185A57B8-3806-46AF-9424-B295188BF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80000">
                <a:off x="3369" y="1108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220">
                <a:extLst>
                  <a:ext uri="{FF2B5EF4-FFF2-40B4-BE49-F238E27FC236}">
                    <a16:creationId xmlns:a16="http://schemas.microsoft.com/office/drawing/2014/main" id="{43E54132-332F-44CA-8E0D-F8F417696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88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221">
                <a:extLst>
                  <a:ext uri="{FF2B5EF4-FFF2-40B4-BE49-F238E27FC236}">
                    <a16:creationId xmlns:a16="http://schemas.microsoft.com/office/drawing/2014/main" id="{42ECE788-72A3-4931-AC67-4FF234E7E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6" y="938"/>
                <a:ext cx="1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" name="Rectangle 222">
                <a:extLst>
                  <a:ext uri="{FF2B5EF4-FFF2-40B4-BE49-F238E27FC236}">
                    <a16:creationId xmlns:a16="http://schemas.microsoft.com/office/drawing/2014/main" id="{27CE00EC-6F2A-4734-9D24-C73EC6142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003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Rectangle 223">
                <a:extLst>
                  <a:ext uri="{FF2B5EF4-FFF2-40B4-BE49-F238E27FC236}">
                    <a16:creationId xmlns:a16="http://schemas.microsoft.com/office/drawing/2014/main" id="{7879314A-868F-4278-9EF9-7BB2816E3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0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" name="Rectangle 224">
                <a:extLst>
                  <a:ext uri="{FF2B5EF4-FFF2-40B4-BE49-F238E27FC236}">
                    <a16:creationId xmlns:a16="http://schemas.microsoft.com/office/drawing/2014/main" id="{10A4F41F-156A-43B3-9145-CAEFD284F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17" y="1080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" name="Rectangle 225">
                <a:extLst>
                  <a:ext uri="{FF2B5EF4-FFF2-40B4-BE49-F238E27FC236}">
                    <a16:creationId xmlns:a16="http://schemas.microsoft.com/office/drawing/2014/main" id="{6601B47D-A1BB-4BD1-A419-55BE7D8E8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31" y="112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Rectangle 226">
                <a:extLst>
                  <a:ext uri="{FF2B5EF4-FFF2-40B4-BE49-F238E27FC236}">
                    <a16:creationId xmlns:a16="http://schemas.microsoft.com/office/drawing/2014/main" id="{58A2929D-9344-4141-B060-A4AE563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08" y="1173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Q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227">
                <a:extLst>
                  <a:ext uri="{FF2B5EF4-FFF2-40B4-BE49-F238E27FC236}">
                    <a16:creationId xmlns:a16="http://schemas.microsoft.com/office/drawing/2014/main" id="{AE3596C8-298E-42F9-8169-115D526E1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340000">
                <a:off x="3520" y="1235"/>
                <a:ext cx="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z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28">
                <a:extLst>
                  <a:ext uri="{FF2B5EF4-FFF2-40B4-BE49-F238E27FC236}">
                    <a16:creationId xmlns:a16="http://schemas.microsoft.com/office/drawing/2014/main" id="{6486738F-15A5-4A4E-83B0-616B1BEAB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6" y="859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29">
                <a:extLst>
                  <a:ext uri="{FF2B5EF4-FFF2-40B4-BE49-F238E27FC236}">
                    <a16:creationId xmlns:a16="http://schemas.microsoft.com/office/drawing/2014/main" id="{1DBF349D-5B7A-484C-8547-A82C0A4CA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72" y="899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" name="Rectangle 230">
                <a:extLst>
                  <a:ext uri="{FF2B5EF4-FFF2-40B4-BE49-F238E27FC236}">
                    <a16:creationId xmlns:a16="http://schemas.microsoft.com/office/drawing/2014/main" id="{820C559F-6C35-4565-873A-4E5E2AB17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94" y="940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" name="Rectangle 231">
                <a:extLst>
                  <a:ext uri="{FF2B5EF4-FFF2-40B4-BE49-F238E27FC236}">
                    <a16:creationId xmlns:a16="http://schemas.microsoft.com/office/drawing/2014/main" id="{279AE83D-C29F-44B1-9006-F40AE5D2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3" y="987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Rectangle 232">
                <a:extLst>
                  <a:ext uri="{FF2B5EF4-FFF2-40B4-BE49-F238E27FC236}">
                    <a16:creationId xmlns:a16="http://schemas.microsoft.com/office/drawing/2014/main" id="{5CCC5FBC-31AE-47EC-A4F3-AC68AF2C1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105" y="110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28" name="Rectangle 233">
                <a:extLst>
                  <a:ext uri="{FF2B5EF4-FFF2-40B4-BE49-F238E27FC236}">
                    <a16:creationId xmlns:a16="http://schemas.microsoft.com/office/drawing/2014/main" id="{40494FC4-5C8C-4CED-9A9E-E26783277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4620000">
                <a:off x="3088" y="1055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0" name="Rectangle 234">
                <a:extLst>
                  <a:ext uri="{FF2B5EF4-FFF2-40B4-BE49-F238E27FC236}">
                    <a16:creationId xmlns:a16="http://schemas.microsoft.com/office/drawing/2014/main" id="{1A15B467-AA78-455E-AC3E-81B315865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57" y="813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1" name="Rectangle 235">
                <a:extLst>
                  <a:ext uri="{FF2B5EF4-FFF2-40B4-BE49-F238E27FC236}">
                    <a16:creationId xmlns:a16="http://schemas.microsoft.com/office/drawing/2014/main" id="{7ABB386D-CE79-4598-ABE8-E290D5358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5" y="853"/>
                <a:ext cx="9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+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2" name="Rectangle 236">
                <a:extLst>
                  <a:ext uri="{FF2B5EF4-FFF2-40B4-BE49-F238E27FC236}">
                    <a16:creationId xmlns:a16="http://schemas.microsoft.com/office/drawing/2014/main" id="{7B286692-1926-4179-9392-88317FE0C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60" y="895"/>
                <a:ext cx="6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3" name="Rectangle 237">
                <a:extLst>
                  <a:ext uri="{FF2B5EF4-FFF2-40B4-BE49-F238E27FC236}">
                    <a16:creationId xmlns:a16="http://schemas.microsoft.com/office/drawing/2014/main" id="{60C31583-D805-4A01-AA52-F9CBBDACE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1" y="943"/>
                <a:ext cx="1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4" name="Rectangle 238">
                <a:extLst>
                  <a:ext uri="{FF2B5EF4-FFF2-40B4-BE49-F238E27FC236}">
                    <a16:creationId xmlns:a16="http://schemas.microsoft.com/office/drawing/2014/main" id="{E8044A0D-3740-479F-8154-B9E80F3F1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43" y="1060"/>
                <a:ext cx="117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5" name="Rectangle 239">
                <a:extLst>
                  <a:ext uri="{FF2B5EF4-FFF2-40B4-BE49-F238E27FC236}">
                    <a16:creationId xmlns:a16="http://schemas.microsoft.com/office/drawing/2014/main" id="{929E0623-F0BF-4DB5-AC42-1414813C7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3636" y="1009"/>
                <a:ext cx="8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0" i="0" u="none" strike="noStrike" cap="none" normalizeH="0" baseline="0">
                    <a:ln>
                      <a:noFill/>
                    </a:ln>
                    <a:solidFill>
                      <a:srgbClr val="1F1A17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36" name="Freeform 240">
                <a:extLst>
                  <a:ext uri="{FF2B5EF4-FFF2-40B4-BE49-F238E27FC236}">
                    <a16:creationId xmlns:a16="http://schemas.microsoft.com/office/drawing/2014/main" id="{C61C1CF3-7AF9-4755-B468-0CA392FD4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894"/>
                <a:ext cx="46" cy="45"/>
              </a:xfrm>
              <a:custGeom>
                <a:avLst/>
                <a:gdLst>
                  <a:gd name="T0" fmla="*/ 0 w 181"/>
                  <a:gd name="T1" fmla="*/ 76 h 181"/>
                  <a:gd name="T2" fmla="*/ 75 w 181"/>
                  <a:gd name="T3" fmla="*/ 75 h 181"/>
                  <a:gd name="T4" fmla="*/ 74 w 181"/>
                  <a:gd name="T5" fmla="*/ 1 h 181"/>
                  <a:gd name="T6" fmla="*/ 105 w 181"/>
                  <a:gd name="T7" fmla="*/ 0 h 181"/>
                  <a:gd name="T8" fmla="*/ 106 w 181"/>
                  <a:gd name="T9" fmla="*/ 75 h 181"/>
                  <a:gd name="T10" fmla="*/ 181 w 181"/>
                  <a:gd name="T11" fmla="*/ 73 h 181"/>
                  <a:gd name="T12" fmla="*/ 181 w 181"/>
                  <a:gd name="T13" fmla="*/ 104 h 181"/>
                  <a:gd name="T14" fmla="*/ 107 w 181"/>
                  <a:gd name="T15" fmla="*/ 106 h 181"/>
                  <a:gd name="T16" fmla="*/ 108 w 181"/>
                  <a:gd name="T17" fmla="*/ 181 h 181"/>
                  <a:gd name="T18" fmla="*/ 76 w 181"/>
                  <a:gd name="T19" fmla="*/ 181 h 181"/>
                  <a:gd name="T20" fmla="*/ 75 w 181"/>
                  <a:gd name="T21" fmla="*/ 107 h 181"/>
                  <a:gd name="T22" fmla="*/ 0 w 181"/>
                  <a:gd name="T23" fmla="*/ 108 h 181"/>
                  <a:gd name="T24" fmla="*/ 0 w 181"/>
                  <a:gd name="T25" fmla="*/ 76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1" h="181">
                    <a:moveTo>
                      <a:pt x="0" y="76"/>
                    </a:moveTo>
                    <a:lnTo>
                      <a:pt x="75" y="75"/>
                    </a:lnTo>
                    <a:lnTo>
                      <a:pt x="74" y="1"/>
                    </a:lnTo>
                    <a:lnTo>
                      <a:pt x="105" y="0"/>
                    </a:lnTo>
                    <a:lnTo>
                      <a:pt x="106" y="75"/>
                    </a:lnTo>
                    <a:lnTo>
                      <a:pt x="181" y="73"/>
                    </a:lnTo>
                    <a:lnTo>
                      <a:pt x="181" y="104"/>
                    </a:lnTo>
                    <a:lnTo>
                      <a:pt x="107" y="106"/>
                    </a:lnTo>
                    <a:lnTo>
                      <a:pt x="108" y="181"/>
                    </a:lnTo>
                    <a:lnTo>
                      <a:pt x="76" y="181"/>
                    </a:lnTo>
                    <a:lnTo>
                      <a:pt x="75" y="107"/>
                    </a:lnTo>
                    <a:lnTo>
                      <a:pt x="0" y="108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7" name="Freeform 241">
                <a:extLst>
                  <a:ext uri="{FF2B5EF4-FFF2-40B4-BE49-F238E27FC236}">
                    <a16:creationId xmlns:a16="http://schemas.microsoft.com/office/drawing/2014/main" id="{8D19CB03-722F-4138-AC18-31B37486E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3" y="978"/>
                <a:ext cx="70" cy="66"/>
              </a:xfrm>
              <a:custGeom>
                <a:avLst/>
                <a:gdLst>
                  <a:gd name="T0" fmla="*/ 0 w 279"/>
                  <a:gd name="T1" fmla="*/ 4 h 265"/>
                  <a:gd name="T2" fmla="*/ 274 w 279"/>
                  <a:gd name="T3" fmla="*/ 0 h 265"/>
                  <a:gd name="T4" fmla="*/ 275 w 279"/>
                  <a:gd name="T5" fmla="*/ 54 h 265"/>
                  <a:gd name="T6" fmla="*/ 81 w 279"/>
                  <a:gd name="T7" fmla="*/ 121 h 265"/>
                  <a:gd name="T8" fmla="*/ 70 w 279"/>
                  <a:gd name="T9" fmla="*/ 126 h 265"/>
                  <a:gd name="T10" fmla="*/ 58 w 279"/>
                  <a:gd name="T11" fmla="*/ 130 h 265"/>
                  <a:gd name="T12" fmla="*/ 49 w 279"/>
                  <a:gd name="T13" fmla="*/ 133 h 265"/>
                  <a:gd name="T14" fmla="*/ 41 w 279"/>
                  <a:gd name="T15" fmla="*/ 136 h 265"/>
                  <a:gd name="T16" fmla="*/ 50 w 279"/>
                  <a:gd name="T17" fmla="*/ 138 h 265"/>
                  <a:gd name="T18" fmla="*/ 60 w 279"/>
                  <a:gd name="T19" fmla="*/ 141 h 265"/>
                  <a:gd name="T20" fmla="*/ 72 w 279"/>
                  <a:gd name="T21" fmla="*/ 145 h 265"/>
                  <a:gd name="T22" fmla="*/ 85 w 279"/>
                  <a:gd name="T23" fmla="*/ 150 h 265"/>
                  <a:gd name="T24" fmla="*/ 278 w 279"/>
                  <a:gd name="T25" fmla="*/ 212 h 265"/>
                  <a:gd name="T26" fmla="*/ 279 w 279"/>
                  <a:gd name="T27" fmla="*/ 260 h 265"/>
                  <a:gd name="T28" fmla="*/ 4 w 279"/>
                  <a:gd name="T29" fmla="*/ 265 h 265"/>
                  <a:gd name="T30" fmla="*/ 4 w 279"/>
                  <a:gd name="T31" fmla="*/ 230 h 265"/>
                  <a:gd name="T32" fmla="*/ 234 w 279"/>
                  <a:gd name="T33" fmla="*/ 226 h 265"/>
                  <a:gd name="T34" fmla="*/ 2 w 279"/>
                  <a:gd name="T35" fmla="*/ 151 h 265"/>
                  <a:gd name="T36" fmla="*/ 1 w 279"/>
                  <a:gd name="T37" fmla="*/ 117 h 265"/>
                  <a:gd name="T38" fmla="*/ 234 w 279"/>
                  <a:gd name="T39" fmla="*/ 35 h 265"/>
                  <a:gd name="T40" fmla="*/ 0 w 279"/>
                  <a:gd name="T41" fmla="*/ 39 h 265"/>
                  <a:gd name="T42" fmla="*/ 0 w 279"/>
                  <a:gd name="T43" fmla="*/ 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9" h="265">
                    <a:moveTo>
                      <a:pt x="0" y="4"/>
                    </a:moveTo>
                    <a:lnTo>
                      <a:pt x="274" y="0"/>
                    </a:lnTo>
                    <a:lnTo>
                      <a:pt x="275" y="54"/>
                    </a:lnTo>
                    <a:lnTo>
                      <a:pt x="81" y="121"/>
                    </a:lnTo>
                    <a:lnTo>
                      <a:pt x="70" y="126"/>
                    </a:lnTo>
                    <a:lnTo>
                      <a:pt x="58" y="130"/>
                    </a:lnTo>
                    <a:lnTo>
                      <a:pt x="49" y="133"/>
                    </a:lnTo>
                    <a:lnTo>
                      <a:pt x="41" y="136"/>
                    </a:lnTo>
                    <a:lnTo>
                      <a:pt x="50" y="138"/>
                    </a:lnTo>
                    <a:lnTo>
                      <a:pt x="60" y="141"/>
                    </a:lnTo>
                    <a:lnTo>
                      <a:pt x="72" y="145"/>
                    </a:lnTo>
                    <a:lnTo>
                      <a:pt x="85" y="150"/>
                    </a:lnTo>
                    <a:lnTo>
                      <a:pt x="278" y="212"/>
                    </a:lnTo>
                    <a:lnTo>
                      <a:pt x="279" y="260"/>
                    </a:lnTo>
                    <a:lnTo>
                      <a:pt x="4" y="265"/>
                    </a:lnTo>
                    <a:lnTo>
                      <a:pt x="4" y="230"/>
                    </a:lnTo>
                    <a:lnTo>
                      <a:pt x="234" y="226"/>
                    </a:lnTo>
                    <a:lnTo>
                      <a:pt x="2" y="151"/>
                    </a:lnTo>
                    <a:lnTo>
                      <a:pt x="1" y="117"/>
                    </a:lnTo>
                    <a:lnTo>
                      <a:pt x="234" y="35"/>
                    </a:lnTo>
                    <a:lnTo>
                      <a:pt x="0" y="39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8" name="Freeform 242">
                <a:extLst>
                  <a:ext uri="{FF2B5EF4-FFF2-40B4-BE49-F238E27FC236}">
                    <a16:creationId xmlns:a16="http://schemas.microsoft.com/office/drawing/2014/main" id="{1464AC50-A993-45D8-850E-C40A993A2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1054"/>
                <a:ext cx="52" cy="41"/>
              </a:xfrm>
              <a:custGeom>
                <a:avLst/>
                <a:gdLst>
                  <a:gd name="T0" fmla="*/ 68 w 207"/>
                  <a:gd name="T1" fmla="*/ 32 h 164"/>
                  <a:gd name="T2" fmla="*/ 51 w 207"/>
                  <a:gd name="T3" fmla="*/ 38 h 164"/>
                  <a:gd name="T4" fmla="*/ 38 w 207"/>
                  <a:gd name="T5" fmla="*/ 49 h 164"/>
                  <a:gd name="T6" fmla="*/ 30 w 207"/>
                  <a:gd name="T7" fmla="*/ 63 h 164"/>
                  <a:gd name="T8" fmla="*/ 27 w 207"/>
                  <a:gd name="T9" fmla="*/ 84 h 164"/>
                  <a:gd name="T10" fmla="*/ 30 w 207"/>
                  <a:gd name="T11" fmla="*/ 105 h 164"/>
                  <a:gd name="T12" fmla="*/ 38 w 207"/>
                  <a:gd name="T13" fmla="*/ 119 h 164"/>
                  <a:gd name="T14" fmla="*/ 48 w 207"/>
                  <a:gd name="T15" fmla="*/ 127 h 164"/>
                  <a:gd name="T16" fmla="*/ 60 w 207"/>
                  <a:gd name="T17" fmla="*/ 129 h 164"/>
                  <a:gd name="T18" fmla="*/ 70 w 207"/>
                  <a:gd name="T19" fmla="*/ 127 h 164"/>
                  <a:gd name="T20" fmla="*/ 78 w 207"/>
                  <a:gd name="T21" fmla="*/ 119 h 164"/>
                  <a:gd name="T22" fmla="*/ 88 w 207"/>
                  <a:gd name="T23" fmla="*/ 84 h 164"/>
                  <a:gd name="T24" fmla="*/ 97 w 207"/>
                  <a:gd name="T25" fmla="*/ 53 h 164"/>
                  <a:gd name="T26" fmla="*/ 104 w 207"/>
                  <a:gd name="T27" fmla="*/ 34 h 164"/>
                  <a:gd name="T28" fmla="*/ 112 w 207"/>
                  <a:gd name="T29" fmla="*/ 21 h 164"/>
                  <a:gd name="T30" fmla="*/ 122 w 207"/>
                  <a:gd name="T31" fmla="*/ 12 h 164"/>
                  <a:gd name="T32" fmla="*/ 135 w 207"/>
                  <a:gd name="T33" fmla="*/ 5 h 164"/>
                  <a:gd name="T34" fmla="*/ 149 w 207"/>
                  <a:gd name="T35" fmla="*/ 4 h 164"/>
                  <a:gd name="T36" fmla="*/ 162 w 207"/>
                  <a:gd name="T37" fmla="*/ 5 h 164"/>
                  <a:gd name="T38" fmla="*/ 174 w 207"/>
                  <a:gd name="T39" fmla="*/ 9 h 164"/>
                  <a:gd name="T40" fmla="*/ 184 w 207"/>
                  <a:gd name="T41" fmla="*/ 16 h 164"/>
                  <a:gd name="T42" fmla="*/ 193 w 207"/>
                  <a:gd name="T43" fmla="*/ 26 h 164"/>
                  <a:gd name="T44" fmla="*/ 203 w 207"/>
                  <a:gd name="T45" fmla="*/ 47 h 164"/>
                  <a:gd name="T46" fmla="*/ 207 w 207"/>
                  <a:gd name="T47" fmla="*/ 75 h 164"/>
                  <a:gd name="T48" fmla="*/ 206 w 207"/>
                  <a:gd name="T49" fmla="*/ 97 h 164"/>
                  <a:gd name="T50" fmla="*/ 202 w 207"/>
                  <a:gd name="T51" fmla="*/ 117 h 164"/>
                  <a:gd name="T52" fmla="*/ 194 w 207"/>
                  <a:gd name="T53" fmla="*/ 132 h 164"/>
                  <a:gd name="T54" fmla="*/ 184 w 207"/>
                  <a:gd name="T55" fmla="*/ 142 h 164"/>
                  <a:gd name="T56" fmla="*/ 170 w 207"/>
                  <a:gd name="T57" fmla="*/ 150 h 164"/>
                  <a:gd name="T58" fmla="*/ 153 w 207"/>
                  <a:gd name="T59" fmla="*/ 155 h 164"/>
                  <a:gd name="T60" fmla="*/ 156 w 207"/>
                  <a:gd name="T61" fmla="*/ 120 h 164"/>
                  <a:gd name="T62" fmla="*/ 167 w 207"/>
                  <a:gd name="T63" fmla="*/ 114 h 164"/>
                  <a:gd name="T64" fmla="*/ 175 w 207"/>
                  <a:gd name="T65" fmla="*/ 102 h 164"/>
                  <a:gd name="T66" fmla="*/ 180 w 207"/>
                  <a:gd name="T67" fmla="*/ 88 h 164"/>
                  <a:gd name="T68" fmla="*/ 179 w 207"/>
                  <a:gd name="T69" fmla="*/ 67 h 164"/>
                  <a:gd name="T70" fmla="*/ 175 w 207"/>
                  <a:gd name="T71" fmla="*/ 52 h 164"/>
                  <a:gd name="T72" fmla="*/ 167 w 207"/>
                  <a:gd name="T73" fmla="*/ 41 h 164"/>
                  <a:gd name="T74" fmla="*/ 158 w 207"/>
                  <a:gd name="T75" fmla="*/ 36 h 164"/>
                  <a:gd name="T76" fmla="*/ 148 w 207"/>
                  <a:gd name="T77" fmla="*/ 38 h 164"/>
                  <a:gd name="T78" fmla="*/ 137 w 207"/>
                  <a:gd name="T79" fmla="*/ 45 h 164"/>
                  <a:gd name="T80" fmla="*/ 130 w 207"/>
                  <a:gd name="T81" fmla="*/ 63 h 164"/>
                  <a:gd name="T82" fmla="*/ 121 w 207"/>
                  <a:gd name="T83" fmla="*/ 100 h 164"/>
                  <a:gd name="T84" fmla="*/ 113 w 207"/>
                  <a:gd name="T85" fmla="*/ 124 h 164"/>
                  <a:gd name="T86" fmla="*/ 106 w 207"/>
                  <a:gd name="T87" fmla="*/ 140 h 164"/>
                  <a:gd name="T88" fmla="*/ 99 w 207"/>
                  <a:gd name="T89" fmla="*/ 151 h 164"/>
                  <a:gd name="T90" fmla="*/ 87 w 207"/>
                  <a:gd name="T91" fmla="*/ 159 h 164"/>
                  <a:gd name="T92" fmla="*/ 73 w 207"/>
                  <a:gd name="T93" fmla="*/ 163 h 164"/>
                  <a:gd name="T94" fmla="*/ 56 w 207"/>
                  <a:gd name="T95" fmla="*/ 163 h 164"/>
                  <a:gd name="T96" fmla="*/ 39 w 207"/>
                  <a:gd name="T97" fmla="*/ 159 h 164"/>
                  <a:gd name="T98" fmla="*/ 25 w 207"/>
                  <a:gd name="T99" fmla="*/ 149 h 164"/>
                  <a:gd name="T100" fmla="*/ 13 w 207"/>
                  <a:gd name="T101" fmla="*/ 136 h 164"/>
                  <a:gd name="T102" fmla="*/ 4 w 207"/>
                  <a:gd name="T103" fmla="*/ 118 h 164"/>
                  <a:gd name="T104" fmla="*/ 0 w 207"/>
                  <a:gd name="T105" fmla="*/ 97 h 164"/>
                  <a:gd name="T106" fmla="*/ 0 w 207"/>
                  <a:gd name="T107" fmla="*/ 67 h 164"/>
                  <a:gd name="T108" fmla="*/ 5 w 207"/>
                  <a:gd name="T109" fmla="*/ 44 h 164"/>
                  <a:gd name="T110" fmla="*/ 11 w 207"/>
                  <a:gd name="T111" fmla="*/ 31 h 164"/>
                  <a:gd name="T112" fmla="*/ 18 w 207"/>
                  <a:gd name="T113" fmla="*/ 21 h 164"/>
                  <a:gd name="T114" fmla="*/ 29 w 207"/>
                  <a:gd name="T115" fmla="*/ 13 h 164"/>
                  <a:gd name="T116" fmla="*/ 47 w 207"/>
                  <a:gd name="T117" fmla="*/ 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7" h="164">
                    <a:moveTo>
                      <a:pt x="62" y="0"/>
                    </a:moveTo>
                    <a:lnTo>
                      <a:pt x="68" y="32"/>
                    </a:lnTo>
                    <a:lnTo>
                      <a:pt x="58" y="35"/>
                    </a:lnTo>
                    <a:lnTo>
                      <a:pt x="51" y="38"/>
                    </a:lnTo>
                    <a:lnTo>
                      <a:pt x="43" y="43"/>
                    </a:lnTo>
                    <a:lnTo>
                      <a:pt x="38" y="49"/>
                    </a:lnTo>
                    <a:lnTo>
                      <a:pt x="33" y="56"/>
                    </a:lnTo>
                    <a:lnTo>
                      <a:pt x="30" y="63"/>
                    </a:lnTo>
                    <a:lnTo>
                      <a:pt x="27" y="74"/>
                    </a:lnTo>
                    <a:lnTo>
                      <a:pt x="27" y="84"/>
                    </a:lnTo>
                    <a:lnTo>
                      <a:pt x="29" y="96"/>
                    </a:lnTo>
                    <a:lnTo>
                      <a:pt x="30" y="105"/>
                    </a:lnTo>
                    <a:lnTo>
                      <a:pt x="33" y="113"/>
                    </a:lnTo>
                    <a:lnTo>
                      <a:pt x="38" y="119"/>
                    </a:lnTo>
                    <a:lnTo>
                      <a:pt x="43" y="123"/>
                    </a:lnTo>
                    <a:lnTo>
                      <a:pt x="48" y="127"/>
                    </a:lnTo>
                    <a:lnTo>
                      <a:pt x="53" y="129"/>
                    </a:lnTo>
                    <a:lnTo>
                      <a:pt x="60" y="129"/>
                    </a:lnTo>
                    <a:lnTo>
                      <a:pt x="65" y="128"/>
                    </a:lnTo>
                    <a:lnTo>
                      <a:pt x="70" y="127"/>
                    </a:lnTo>
                    <a:lnTo>
                      <a:pt x="74" y="124"/>
                    </a:lnTo>
                    <a:lnTo>
                      <a:pt x="78" y="119"/>
                    </a:lnTo>
                    <a:lnTo>
                      <a:pt x="83" y="107"/>
                    </a:lnTo>
                    <a:lnTo>
                      <a:pt x="88" y="84"/>
                    </a:lnTo>
                    <a:lnTo>
                      <a:pt x="92" y="67"/>
                    </a:lnTo>
                    <a:lnTo>
                      <a:pt x="97" y="53"/>
                    </a:lnTo>
                    <a:lnTo>
                      <a:pt x="100" y="41"/>
                    </a:lnTo>
                    <a:lnTo>
                      <a:pt x="104" y="34"/>
                    </a:lnTo>
                    <a:lnTo>
                      <a:pt x="108" y="26"/>
                    </a:lnTo>
                    <a:lnTo>
                      <a:pt x="112" y="21"/>
                    </a:lnTo>
                    <a:lnTo>
                      <a:pt x="117" y="16"/>
                    </a:lnTo>
                    <a:lnTo>
                      <a:pt x="122" y="12"/>
                    </a:lnTo>
                    <a:lnTo>
                      <a:pt x="128" y="8"/>
                    </a:lnTo>
                    <a:lnTo>
                      <a:pt x="135" y="5"/>
                    </a:lnTo>
                    <a:lnTo>
                      <a:pt x="141" y="4"/>
                    </a:lnTo>
                    <a:lnTo>
                      <a:pt x="149" y="4"/>
                    </a:lnTo>
                    <a:lnTo>
                      <a:pt x="156" y="4"/>
                    </a:lnTo>
                    <a:lnTo>
                      <a:pt x="162" y="5"/>
                    </a:lnTo>
                    <a:lnTo>
                      <a:pt x="168" y="7"/>
                    </a:lnTo>
                    <a:lnTo>
                      <a:pt x="174" y="9"/>
                    </a:lnTo>
                    <a:lnTo>
                      <a:pt x="179" y="13"/>
                    </a:lnTo>
                    <a:lnTo>
                      <a:pt x="184" y="16"/>
                    </a:lnTo>
                    <a:lnTo>
                      <a:pt x="189" y="21"/>
                    </a:lnTo>
                    <a:lnTo>
                      <a:pt x="193" y="26"/>
                    </a:lnTo>
                    <a:lnTo>
                      <a:pt x="198" y="35"/>
                    </a:lnTo>
                    <a:lnTo>
                      <a:pt x="203" y="47"/>
                    </a:lnTo>
                    <a:lnTo>
                      <a:pt x="206" y="61"/>
                    </a:lnTo>
                    <a:lnTo>
                      <a:pt x="207" y="75"/>
                    </a:lnTo>
                    <a:lnTo>
                      <a:pt x="207" y="87"/>
                    </a:lnTo>
                    <a:lnTo>
                      <a:pt x="206" y="97"/>
                    </a:lnTo>
                    <a:lnTo>
                      <a:pt x="205" y="107"/>
                    </a:lnTo>
                    <a:lnTo>
                      <a:pt x="202" y="117"/>
                    </a:lnTo>
                    <a:lnTo>
                      <a:pt x="198" y="124"/>
                    </a:lnTo>
                    <a:lnTo>
                      <a:pt x="194" y="132"/>
                    </a:lnTo>
                    <a:lnTo>
                      <a:pt x="189" y="139"/>
                    </a:lnTo>
                    <a:lnTo>
                      <a:pt x="184" y="142"/>
                    </a:lnTo>
                    <a:lnTo>
                      <a:pt x="178" y="146"/>
                    </a:lnTo>
                    <a:lnTo>
                      <a:pt x="170" y="150"/>
                    </a:lnTo>
                    <a:lnTo>
                      <a:pt x="162" y="153"/>
                    </a:lnTo>
                    <a:lnTo>
                      <a:pt x="153" y="155"/>
                    </a:lnTo>
                    <a:lnTo>
                      <a:pt x="148" y="122"/>
                    </a:lnTo>
                    <a:lnTo>
                      <a:pt x="156" y="120"/>
                    </a:lnTo>
                    <a:lnTo>
                      <a:pt x="162" y="118"/>
                    </a:lnTo>
                    <a:lnTo>
                      <a:pt x="167" y="114"/>
                    </a:lnTo>
                    <a:lnTo>
                      <a:pt x="172" y="109"/>
                    </a:lnTo>
                    <a:lnTo>
                      <a:pt x="175" y="102"/>
                    </a:lnTo>
                    <a:lnTo>
                      <a:pt x="178" y="96"/>
                    </a:lnTo>
                    <a:lnTo>
                      <a:pt x="180" y="88"/>
                    </a:lnTo>
                    <a:lnTo>
                      <a:pt x="180" y="78"/>
                    </a:lnTo>
                    <a:lnTo>
                      <a:pt x="179" y="67"/>
                    </a:lnTo>
                    <a:lnTo>
                      <a:pt x="178" y="58"/>
                    </a:lnTo>
                    <a:lnTo>
                      <a:pt x="175" y="52"/>
                    </a:lnTo>
                    <a:lnTo>
                      <a:pt x="171" y="45"/>
                    </a:lnTo>
                    <a:lnTo>
                      <a:pt x="167" y="41"/>
                    </a:lnTo>
                    <a:lnTo>
                      <a:pt x="163" y="38"/>
                    </a:lnTo>
                    <a:lnTo>
                      <a:pt x="158" y="36"/>
                    </a:lnTo>
                    <a:lnTo>
                      <a:pt x="153" y="36"/>
                    </a:lnTo>
                    <a:lnTo>
                      <a:pt x="148" y="38"/>
                    </a:lnTo>
                    <a:lnTo>
                      <a:pt x="141" y="40"/>
                    </a:lnTo>
                    <a:lnTo>
                      <a:pt x="137" y="45"/>
                    </a:lnTo>
                    <a:lnTo>
                      <a:pt x="134" y="53"/>
                    </a:lnTo>
                    <a:lnTo>
                      <a:pt x="130" y="63"/>
                    </a:lnTo>
                    <a:lnTo>
                      <a:pt x="124" y="83"/>
                    </a:lnTo>
                    <a:lnTo>
                      <a:pt x="121" y="100"/>
                    </a:lnTo>
                    <a:lnTo>
                      <a:pt x="117" y="114"/>
                    </a:lnTo>
                    <a:lnTo>
                      <a:pt x="113" y="124"/>
                    </a:lnTo>
                    <a:lnTo>
                      <a:pt x="110" y="133"/>
                    </a:lnTo>
                    <a:lnTo>
                      <a:pt x="106" y="140"/>
                    </a:lnTo>
                    <a:lnTo>
                      <a:pt x="102" y="146"/>
                    </a:lnTo>
                    <a:lnTo>
                      <a:pt x="99" y="151"/>
                    </a:lnTo>
                    <a:lnTo>
                      <a:pt x="92" y="155"/>
                    </a:lnTo>
                    <a:lnTo>
                      <a:pt x="87" y="159"/>
                    </a:lnTo>
                    <a:lnTo>
                      <a:pt x="79" y="162"/>
                    </a:lnTo>
                    <a:lnTo>
                      <a:pt x="73" y="163"/>
                    </a:lnTo>
                    <a:lnTo>
                      <a:pt x="64" y="164"/>
                    </a:lnTo>
                    <a:lnTo>
                      <a:pt x="56" y="163"/>
                    </a:lnTo>
                    <a:lnTo>
                      <a:pt x="48" y="162"/>
                    </a:lnTo>
                    <a:lnTo>
                      <a:pt x="39" y="159"/>
                    </a:lnTo>
                    <a:lnTo>
                      <a:pt x="33" y="154"/>
                    </a:lnTo>
                    <a:lnTo>
                      <a:pt x="25" y="149"/>
                    </a:lnTo>
                    <a:lnTo>
                      <a:pt x="18" y="142"/>
                    </a:lnTo>
                    <a:lnTo>
                      <a:pt x="13" y="136"/>
                    </a:lnTo>
                    <a:lnTo>
                      <a:pt x="8" y="127"/>
                    </a:lnTo>
                    <a:lnTo>
                      <a:pt x="4" y="118"/>
                    </a:lnTo>
                    <a:lnTo>
                      <a:pt x="2" y="107"/>
                    </a:lnTo>
                    <a:lnTo>
                      <a:pt x="0" y="97"/>
                    </a:lnTo>
                    <a:lnTo>
                      <a:pt x="0" y="85"/>
                    </a:lnTo>
                    <a:lnTo>
                      <a:pt x="0" y="67"/>
                    </a:lnTo>
                    <a:lnTo>
                      <a:pt x="3" y="51"/>
                    </a:lnTo>
                    <a:lnTo>
                      <a:pt x="5" y="44"/>
                    </a:lnTo>
                    <a:lnTo>
                      <a:pt x="8" y="38"/>
                    </a:lnTo>
                    <a:lnTo>
                      <a:pt x="11" y="31"/>
                    </a:lnTo>
                    <a:lnTo>
                      <a:pt x="15" y="26"/>
                    </a:lnTo>
                    <a:lnTo>
                      <a:pt x="18" y="21"/>
                    </a:lnTo>
                    <a:lnTo>
                      <a:pt x="24" y="17"/>
                    </a:lnTo>
                    <a:lnTo>
                      <a:pt x="29" y="13"/>
                    </a:lnTo>
                    <a:lnTo>
                      <a:pt x="34" y="9"/>
                    </a:lnTo>
                    <a:lnTo>
                      <a:pt x="47" y="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39" name="Freeform 243">
                <a:extLst>
                  <a:ext uri="{FF2B5EF4-FFF2-40B4-BE49-F238E27FC236}">
                    <a16:creationId xmlns:a16="http://schemas.microsoft.com/office/drawing/2014/main" id="{FD1A49C5-F261-483A-AA10-2F077152F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1145"/>
                <a:ext cx="46" cy="46"/>
              </a:xfrm>
              <a:custGeom>
                <a:avLst/>
                <a:gdLst>
                  <a:gd name="T0" fmla="*/ 0 w 184"/>
                  <a:gd name="T1" fmla="*/ 92 h 182"/>
                  <a:gd name="T2" fmla="*/ 74 w 184"/>
                  <a:gd name="T3" fmla="*/ 79 h 182"/>
                  <a:gd name="T4" fmla="*/ 61 w 184"/>
                  <a:gd name="T5" fmla="*/ 5 h 182"/>
                  <a:gd name="T6" fmla="*/ 92 w 184"/>
                  <a:gd name="T7" fmla="*/ 0 h 182"/>
                  <a:gd name="T8" fmla="*/ 105 w 184"/>
                  <a:gd name="T9" fmla="*/ 72 h 182"/>
                  <a:gd name="T10" fmla="*/ 179 w 184"/>
                  <a:gd name="T11" fmla="*/ 59 h 182"/>
                  <a:gd name="T12" fmla="*/ 184 w 184"/>
                  <a:gd name="T13" fmla="*/ 90 h 182"/>
                  <a:gd name="T14" fmla="*/ 111 w 184"/>
                  <a:gd name="T15" fmla="*/ 103 h 182"/>
                  <a:gd name="T16" fmla="*/ 124 w 184"/>
                  <a:gd name="T17" fmla="*/ 177 h 182"/>
                  <a:gd name="T18" fmla="*/ 93 w 184"/>
                  <a:gd name="T19" fmla="*/ 182 h 182"/>
                  <a:gd name="T20" fmla="*/ 80 w 184"/>
                  <a:gd name="T21" fmla="*/ 110 h 182"/>
                  <a:gd name="T22" fmla="*/ 5 w 184"/>
                  <a:gd name="T23" fmla="*/ 123 h 182"/>
                  <a:gd name="T24" fmla="*/ 0 w 184"/>
                  <a:gd name="T25" fmla="*/ 9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4" h="182">
                    <a:moveTo>
                      <a:pt x="0" y="92"/>
                    </a:moveTo>
                    <a:lnTo>
                      <a:pt x="74" y="79"/>
                    </a:lnTo>
                    <a:lnTo>
                      <a:pt x="61" y="5"/>
                    </a:lnTo>
                    <a:lnTo>
                      <a:pt x="92" y="0"/>
                    </a:lnTo>
                    <a:lnTo>
                      <a:pt x="105" y="72"/>
                    </a:lnTo>
                    <a:lnTo>
                      <a:pt x="179" y="59"/>
                    </a:lnTo>
                    <a:lnTo>
                      <a:pt x="184" y="90"/>
                    </a:lnTo>
                    <a:lnTo>
                      <a:pt x="111" y="103"/>
                    </a:lnTo>
                    <a:lnTo>
                      <a:pt x="124" y="177"/>
                    </a:lnTo>
                    <a:lnTo>
                      <a:pt x="93" y="182"/>
                    </a:lnTo>
                    <a:lnTo>
                      <a:pt x="80" y="110"/>
                    </a:lnTo>
                    <a:lnTo>
                      <a:pt x="5" y="123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0" name="Freeform 244">
                <a:extLst>
                  <a:ext uri="{FF2B5EF4-FFF2-40B4-BE49-F238E27FC236}">
                    <a16:creationId xmlns:a16="http://schemas.microsoft.com/office/drawing/2014/main" id="{09B1E16B-2D1C-4184-9ADA-900CDEF9BA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05" y="1224"/>
                <a:ext cx="71" cy="73"/>
              </a:xfrm>
              <a:custGeom>
                <a:avLst/>
                <a:gdLst>
                  <a:gd name="T0" fmla="*/ 45 w 284"/>
                  <a:gd name="T1" fmla="*/ 252 h 289"/>
                  <a:gd name="T2" fmla="*/ 37 w 284"/>
                  <a:gd name="T3" fmla="*/ 277 h 289"/>
                  <a:gd name="T4" fmla="*/ 7 w 284"/>
                  <a:gd name="T5" fmla="*/ 282 h 289"/>
                  <a:gd name="T6" fmla="*/ 15 w 284"/>
                  <a:gd name="T7" fmla="*/ 251 h 289"/>
                  <a:gd name="T8" fmla="*/ 31 w 284"/>
                  <a:gd name="T9" fmla="*/ 219 h 289"/>
                  <a:gd name="T10" fmla="*/ 13 w 284"/>
                  <a:gd name="T11" fmla="*/ 190 h 289"/>
                  <a:gd name="T12" fmla="*/ 2 w 284"/>
                  <a:gd name="T13" fmla="*/ 155 h 289"/>
                  <a:gd name="T14" fmla="*/ 0 w 284"/>
                  <a:gd name="T15" fmla="*/ 120 h 289"/>
                  <a:gd name="T16" fmla="*/ 7 w 284"/>
                  <a:gd name="T17" fmla="*/ 87 h 289"/>
                  <a:gd name="T18" fmla="*/ 24 w 284"/>
                  <a:gd name="T19" fmla="*/ 57 h 289"/>
                  <a:gd name="T20" fmla="*/ 50 w 284"/>
                  <a:gd name="T21" fmla="*/ 32 h 289"/>
                  <a:gd name="T22" fmla="*/ 81 w 284"/>
                  <a:gd name="T23" fmla="*/ 14 h 289"/>
                  <a:gd name="T24" fmla="*/ 119 w 284"/>
                  <a:gd name="T25" fmla="*/ 3 h 289"/>
                  <a:gd name="T26" fmla="*/ 158 w 284"/>
                  <a:gd name="T27" fmla="*/ 0 h 289"/>
                  <a:gd name="T28" fmla="*/ 195 w 284"/>
                  <a:gd name="T29" fmla="*/ 6 h 289"/>
                  <a:gd name="T30" fmla="*/ 227 w 284"/>
                  <a:gd name="T31" fmla="*/ 21 h 289"/>
                  <a:gd name="T32" fmla="*/ 240 w 284"/>
                  <a:gd name="T33" fmla="*/ 31 h 289"/>
                  <a:gd name="T34" fmla="*/ 253 w 284"/>
                  <a:gd name="T35" fmla="*/ 44 h 289"/>
                  <a:gd name="T36" fmla="*/ 271 w 284"/>
                  <a:gd name="T37" fmla="*/ 72 h 289"/>
                  <a:gd name="T38" fmla="*/ 282 w 284"/>
                  <a:gd name="T39" fmla="*/ 107 h 289"/>
                  <a:gd name="T40" fmla="*/ 284 w 284"/>
                  <a:gd name="T41" fmla="*/ 144 h 289"/>
                  <a:gd name="T42" fmla="*/ 277 w 284"/>
                  <a:gd name="T43" fmla="*/ 177 h 289"/>
                  <a:gd name="T44" fmla="*/ 260 w 284"/>
                  <a:gd name="T45" fmla="*/ 208 h 289"/>
                  <a:gd name="T46" fmla="*/ 234 w 284"/>
                  <a:gd name="T47" fmla="*/ 232 h 289"/>
                  <a:gd name="T48" fmla="*/ 203 w 284"/>
                  <a:gd name="T49" fmla="*/ 250 h 289"/>
                  <a:gd name="T50" fmla="*/ 165 w 284"/>
                  <a:gd name="T51" fmla="*/ 260 h 289"/>
                  <a:gd name="T52" fmla="*/ 133 w 284"/>
                  <a:gd name="T53" fmla="*/ 264 h 289"/>
                  <a:gd name="T54" fmla="*/ 103 w 284"/>
                  <a:gd name="T55" fmla="*/ 261 h 289"/>
                  <a:gd name="T56" fmla="*/ 76 w 284"/>
                  <a:gd name="T57" fmla="*/ 252 h 289"/>
                  <a:gd name="T58" fmla="*/ 51 w 284"/>
                  <a:gd name="T59" fmla="*/ 238 h 289"/>
                  <a:gd name="T60" fmla="*/ 81 w 284"/>
                  <a:gd name="T61" fmla="*/ 168 h 289"/>
                  <a:gd name="T62" fmla="*/ 72 w 284"/>
                  <a:gd name="T63" fmla="*/ 195 h 289"/>
                  <a:gd name="T64" fmla="*/ 75 w 284"/>
                  <a:gd name="T65" fmla="*/ 213 h 289"/>
                  <a:gd name="T66" fmla="*/ 95 w 284"/>
                  <a:gd name="T67" fmla="*/ 223 h 289"/>
                  <a:gd name="T68" fmla="*/ 119 w 284"/>
                  <a:gd name="T69" fmla="*/ 226 h 289"/>
                  <a:gd name="T70" fmla="*/ 145 w 284"/>
                  <a:gd name="T71" fmla="*/ 225 h 289"/>
                  <a:gd name="T72" fmla="*/ 174 w 284"/>
                  <a:gd name="T73" fmla="*/ 220 h 289"/>
                  <a:gd name="T74" fmla="*/ 202 w 284"/>
                  <a:gd name="T75" fmla="*/ 210 h 289"/>
                  <a:gd name="T76" fmla="*/ 225 w 284"/>
                  <a:gd name="T77" fmla="*/ 194 h 289"/>
                  <a:gd name="T78" fmla="*/ 240 w 284"/>
                  <a:gd name="T79" fmla="*/ 175 h 289"/>
                  <a:gd name="T80" fmla="*/ 251 w 284"/>
                  <a:gd name="T81" fmla="*/ 151 h 289"/>
                  <a:gd name="T82" fmla="*/ 252 w 284"/>
                  <a:gd name="T83" fmla="*/ 125 h 289"/>
                  <a:gd name="T84" fmla="*/ 249 w 284"/>
                  <a:gd name="T85" fmla="*/ 103 h 289"/>
                  <a:gd name="T86" fmla="*/ 243 w 284"/>
                  <a:gd name="T87" fmla="*/ 85 h 289"/>
                  <a:gd name="T88" fmla="*/ 233 w 284"/>
                  <a:gd name="T89" fmla="*/ 70 h 289"/>
                  <a:gd name="T90" fmla="*/ 220 w 284"/>
                  <a:gd name="T91" fmla="*/ 57 h 289"/>
                  <a:gd name="T92" fmla="*/ 204 w 284"/>
                  <a:gd name="T93" fmla="*/ 47 h 289"/>
                  <a:gd name="T94" fmla="*/ 185 w 284"/>
                  <a:gd name="T95" fmla="*/ 40 h 289"/>
                  <a:gd name="T96" fmla="*/ 163 w 284"/>
                  <a:gd name="T97" fmla="*/ 37 h 289"/>
                  <a:gd name="T98" fmla="*/ 139 w 284"/>
                  <a:gd name="T99" fmla="*/ 37 h 289"/>
                  <a:gd name="T100" fmla="*/ 112 w 284"/>
                  <a:gd name="T101" fmla="*/ 43 h 289"/>
                  <a:gd name="T102" fmla="*/ 90 w 284"/>
                  <a:gd name="T103" fmla="*/ 49 h 289"/>
                  <a:gd name="T104" fmla="*/ 71 w 284"/>
                  <a:gd name="T105" fmla="*/ 59 h 289"/>
                  <a:gd name="T106" fmla="*/ 55 w 284"/>
                  <a:gd name="T107" fmla="*/ 72 h 289"/>
                  <a:gd name="T108" fmla="*/ 44 w 284"/>
                  <a:gd name="T109" fmla="*/ 88 h 289"/>
                  <a:gd name="T110" fmla="*/ 36 w 284"/>
                  <a:gd name="T111" fmla="*/ 105 h 289"/>
                  <a:gd name="T112" fmla="*/ 32 w 284"/>
                  <a:gd name="T113" fmla="*/ 123 h 289"/>
                  <a:gd name="T114" fmla="*/ 31 w 284"/>
                  <a:gd name="T115" fmla="*/ 141 h 289"/>
                  <a:gd name="T116" fmla="*/ 35 w 284"/>
                  <a:gd name="T117" fmla="*/ 160 h 289"/>
                  <a:gd name="T118" fmla="*/ 41 w 284"/>
                  <a:gd name="T119" fmla="*/ 179 h 289"/>
                  <a:gd name="T120" fmla="*/ 50 w 284"/>
                  <a:gd name="T121" fmla="*/ 177 h 289"/>
                  <a:gd name="T122" fmla="*/ 54 w 284"/>
                  <a:gd name="T123" fmla="*/ 158 h 289"/>
                  <a:gd name="T124" fmla="*/ 82 w 284"/>
                  <a:gd name="T125" fmla="*/ 15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4" h="289">
                    <a:moveTo>
                      <a:pt x="51" y="238"/>
                    </a:moveTo>
                    <a:lnTo>
                      <a:pt x="45" y="252"/>
                    </a:lnTo>
                    <a:lnTo>
                      <a:pt x="40" y="265"/>
                    </a:lnTo>
                    <a:lnTo>
                      <a:pt x="37" y="277"/>
                    </a:lnTo>
                    <a:lnTo>
                      <a:pt x="35" y="289"/>
                    </a:lnTo>
                    <a:lnTo>
                      <a:pt x="7" y="282"/>
                    </a:lnTo>
                    <a:lnTo>
                      <a:pt x="10" y="267"/>
                    </a:lnTo>
                    <a:lnTo>
                      <a:pt x="15" y="251"/>
                    </a:lnTo>
                    <a:lnTo>
                      <a:pt x="22" y="235"/>
                    </a:lnTo>
                    <a:lnTo>
                      <a:pt x="31" y="219"/>
                    </a:lnTo>
                    <a:lnTo>
                      <a:pt x="20" y="204"/>
                    </a:lnTo>
                    <a:lnTo>
                      <a:pt x="13" y="190"/>
                    </a:lnTo>
                    <a:lnTo>
                      <a:pt x="6" y="173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20"/>
                    </a:lnTo>
                    <a:lnTo>
                      <a:pt x="2" y="103"/>
                    </a:lnTo>
                    <a:lnTo>
                      <a:pt x="7" y="87"/>
                    </a:lnTo>
                    <a:lnTo>
                      <a:pt x="15" y="71"/>
                    </a:lnTo>
                    <a:lnTo>
                      <a:pt x="24" y="57"/>
                    </a:lnTo>
                    <a:lnTo>
                      <a:pt x="36" y="44"/>
                    </a:lnTo>
                    <a:lnTo>
                      <a:pt x="50" y="32"/>
                    </a:lnTo>
                    <a:lnTo>
                      <a:pt x="64" y="22"/>
                    </a:lnTo>
                    <a:lnTo>
                      <a:pt x="81" y="14"/>
                    </a:lnTo>
                    <a:lnTo>
                      <a:pt x="99" y="8"/>
                    </a:lnTo>
                    <a:lnTo>
                      <a:pt x="119" y="3"/>
                    </a:lnTo>
                    <a:lnTo>
                      <a:pt x="139" y="0"/>
                    </a:lnTo>
                    <a:lnTo>
                      <a:pt x="158" y="0"/>
                    </a:lnTo>
                    <a:lnTo>
                      <a:pt x="177" y="3"/>
                    </a:lnTo>
                    <a:lnTo>
                      <a:pt x="195" y="6"/>
                    </a:lnTo>
                    <a:lnTo>
                      <a:pt x="212" y="13"/>
                    </a:lnTo>
                    <a:lnTo>
                      <a:pt x="227" y="21"/>
                    </a:lnTo>
                    <a:lnTo>
                      <a:pt x="234" y="26"/>
                    </a:lnTo>
                    <a:lnTo>
                      <a:pt x="240" y="31"/>
                    </a:lnTo>
                    <a:lnTo>
                      <a:pt x="247" y="37"/>
                    </a:lnTo>
                    <a:lnTo>
                      <a:pt x="253" y="44"/>
                    </a:lnTo>
                    <a:lnTo>
                      <a:pt x="264" y="57"/>
                    </a:lnTo>
                    <a:lnTo>
                      <a:pt x="271" y="72"/>
                    </a:lnTo>
                    <a:lnTo>
                      <a:pt x="278" y="89"/>
                    </a:lnTo>
                    <a:lnTo>
                      <a:pt x="282" y="107"/>
                    </a:lnTo>
                    <a:lnTo>
                      <a:pt x="284" y="125"/>
                    </a:lnTo>
                    <a:lnTo>
                      <a:pt x="284" y="144"/>
                    </a:lnTo>
                    <a:lnTo>
                      <a:pt x="280" y="160"/>
                    </a:lnTo>
                    <a:lnTo>
                      <a:pt x="277" y="177"/>
                    </a:lnTo>
                    <a:lnTo>
                      <a:pt x="269" y="193"/>
                    </a:lnTo>
                    <a:lnTo>
                      <a:pt x="260" y="208"/>
                    </a:lnTo>
                    <a:lnTo>
                      <a:pt x="248" y="220"/>
                    </a:lnTo>
                    <a:lnTo>
                      <a:pt x="234" y="232"/>
                    </a:lnTo>
                    <a:lnTo>
                      <a:pt x="218" y="242"/>
                    </a:lnTo>
                    <a:lnTo>
                      <a:pt x="203" y="250"/>
                    </a:lnTo>
                    <a:lnTo>
                      <a:pt x="185" y="256"/>
                    </a:lnTo>
                    <a:lnTo>
                      <a:pt x="165" y="260"/>
                    </a:lnTo>
                    <a:lnTo>
                      <a:pt x="148" y="263"/>
                    </a:lnTo>
                    <a:lnTo>
                      <a:pt x="133" y="264"/>
                    </a:lnTo>
                    <a:lnTo>
                      <a:pt x="117" y="263"/>
                    </a:lnTo>
                    <a:lnTo>
                      <a:pt x="103" y="261"/>
                    </a:lnTo>
                    <a:lnTo>
                      <a:pt x="89" y="257"/>
                    </a:lnTo>
                    <a:lnTo>
                      <a:pt x="76" y="252"/>
                    </a:lnTo>
                    <a:lnTo>
                      <a:pt x="63" y="246"/>
                    </a:lnTo>
                    <a:lnTo>
                      <a:pt x="51" y="238"/>
                    </a:lnTo>
                    <a:close/>
                    <a:moveTo>
                      <a:pt x="82" y="153"/>
                    </a:moveTo>
                    <a:lnTo>
                      <a:pt x="81" y="168"/>
                    </a:lnTo>
                    <a:lnTo>
                      <a:pt x="77" y="182"/>
                    </a:lnTo>
                    <a:lnTo>
                      <a:pt x="72" y="195"/>
                    </a:lnTo>
                    <a:lnTo>
                      <a:pt x="66" y="207"/>
                    </a:lnTo>
                    <a:lnTo>
                      <a:pt x="75" y="213"/>
                    </a:lnTo>
                    <a:lnTo>
                      <a:pt x="85" y="219"/>
                    </a:lnTo>
                    <a:lnTo>
                      <a:pt x="95" y="223"/>
                    </a:lnTo>
                    <a:lnTo>
                      <a:pt x="106" y="225"/>
                    </a:lnTo>
                    <a:lnTo>
                      <a:pt x="119" y="226"/>
                    </a:lnTo>
                    <a:lnTo>
                      <a:pt x="130" y="226"/>
                    </a:lnTo>
                    <a:lnTo>
                      <a:pt x="145" y="225"/>
                    </a:lnTo>
                    <a:lnTo>
                      <a:pt x="159" y="224"/>
                    </a:lnTo>
                    <a:lnTo>
                      <a:pt x="174" y="220"/>
                    </a:lnTo>
                    <a:lnTo>
                      <a:pt x="189" y="216"/>
                    </a:lnTo>
                    <a:lnTo>
                      <a:pt x="202" y="210"/>
                    </a:lnTo>
                    <a:lnTo>
                      <a:pt x="213" y="202"/>
                    </a:lnTo>
                    <a:lnTo>
                      <a:pt x="225" y="194"/>
                    </a:lnTo>
                    <a:lnTo>
                      <a:pt x="233" y="185"/>
                    </a:lnTo>
                    <a:lnTo>
                      <a:pt x="240" y="175"/>
                    </a:lnTo>
                    <a:lnTo>
                      <a:pt x="245" y="163"/>
                    </a:lnTo>
                    <a:lnTo>
                      <a:pt x="251" y="151"/>
                    </a:lnTo>
                    <a:lnTo>
                      <a:pt x="252" y="138"/>
                    </a:lnTo>
                    <a:lnTo>
                      <a:pt x="252" y="125"/>
                    </a:lnTo>
                    <a:lnTo>
                      <a:pt x="251" y="113"/>
                    </a:lnTo>
                    <a:lnTo>
                      <a:pt x="249" y="103"/>
                    </a:lnTo>
                    <a:lnTo>
                      <a:pt x="245" y="94"/>
                    </a:lnTo>
                    <a:lnTo>
                      <a:pt x="243" y="85"/>
                    </a:lnTo>
                    <a:lnTo>
                      <a:pt x="238" y="78"/>
                    </a:lnTo>
                    <a:lnTo>
                      <a:pt x="233" y="70"/>
                    </a:lnTo>
                    <a:lnTo>
                      <a:pt x="226" y="63"/>
                    </a:lnTo>
                    <a:lnTo>
                      <a:pt x="220" y="57"/>
                    </a:lnTo>
                    <a:lnTo>
                      <a:pt x="212" y="52"/>
                    </a:lnTo>
                    <a:lnTo>
                      <a:pt x="204" y="47"/>
                    </a:lnTo>
                    <a:lnTo>
                      <a:pt x="195" y="43"/>
                    </a:lnTo>
                    <a:lnTo>
                      <a:pt x="185" y="40"/>
                    </a:lnTo>
                    <a:lnTo>
                      <a:pt x="174" y="37"/>
                    </a:lnTo>
                    <a:lnTo>
                      <a:pt x="163" y="37"/>
                    </a:lnTo>
                    <a:lnTo>
                      <a:pt x="151" y="37"/>
                    </a:lnTo>
                    <a:lnTo>
                      <a:pt x="139" y="37"/>
                    </a:lnTo>
                    <a:lnTo>
                      <a:pt x="125" y="40"/>
                    </a:lnTo>
                    <a:lnTo>
                      <a:pt x="112" y="43"/>
                    </a:lnTo>
                    <a:lnTo>
                      <a:pt x="101" y="45"/>
                    </a:lnTo>
                    <a:lnTo>
                      <a:pt x="90" y="49"/>
                    </a:lnTo>
                    <a:lnTo>
                      <a:pt x="80" y="54"/>
                    </a:lnTo>
                    <a:lnTo>
                      <a:pt x="71" y="59"/>
                    </a:lnTo>
                    <a:lnTo>
                      <a:pt x="63" y="66"/>
                    </a:lnTo>
                    <a:lnTo>
                      <a:pt x="55" y="72"/>
                    </a:lnTo>
                    <a:lnTo>
                      <a:pt x="49" y="80"/>
                    </a:lnTo>
                    <a:lnTo>
                      <a:pt x="44" y="88"/>
                    </a:lnTo>
                    <a:lnTo>
                      <a:pt x="40" y="96"/>
                    </a:lnTo>
                    <a:lnTo>
                      <a:pt x="36" y="105"/>
                    </a:lnTo>
                    <a:lnTo>
                      <a:pt x="33" y="114"/>
                    </a:lnTo>
                    <a:lnTo>
                      <a:pt x="32" y="123"/>
                    </a:lnTo>
                    <a:lnTo>
                      <a:pt x="31" y="132"/>
                    </a:lnTo>
                    <a:lnTo>
                      <a:pt x="31" y="141"/>
                    </a:lnTo>
                    <a:lnTo>
                      <a:pt x="32" y="151"/>
                    </a:lnTo>
                    <a:lnTo>
                      <a:pt x="35" y="160"/>
                    </a:lnTo>
                    <a:lnTo>
                      <a:pt x="37" y="169"/>
                    </a:lnTo>
                    <a:lnTo>
                      <a:pt x="41" y="179"/>
                    </a:lnTo>
                    <a:lnTo>
                      <a:pt x="46" y="186"/>
                    </a:lnTo>
                    <a:lnTo>
                      <a:pt x="50" y="177"/>
                    </a:lnTo>
                    <a:lnTo>
                      <a:pt x="53" y="167"/>
                    </a:lnTo>
                    <a:lnTo>
                      <a:pt x="54" y="158"/>
                    </a:lnTo>
                    <a:lnTo>
                      <a:pt x="55" y="147"/>
                    </a:lnTo>
                    <a:lnTo>
                      <a:pt x="82" y="153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41" name="Freeform 245">
                <a:extLst>
                  <a:ext uri="{FF2B5EF4-FFF2-40B4-BE49-F238E27FC236}">
                    <a16:creationId xmlns:a16="http://schemas.microsoft.com/office/drawing/2014/main" id="{444CCDA9-A6D8-41EA-A6E4-973F7FB51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295"/>
                <a:ext cx="57" cy="50"/>
              </a:xfrm>
              <a:custGeom>
                <a:avLst/>
                <a:gdLst>
                  <a:gd name="T0" fmla="*/ 0 w 227"/>
                  <a:gd name="T1" fmla="*/ 27 h 200"/>
                  <a:gd name="T2" fmla="*/ 27 w 227"/>
                  <a:gd name="T3" fmla="*/ 22 h 200"/>
                  <a:gd name="T4" fmla="*/ 193 w 227"/>
                  <a:gd name="T5" fmla="*/ 122 h 200"/>
                  <a:gd name="T6" fmla="*/ 189 w 227"/>
                  <a:gd name="T7" fmla="*/ 103 h 200"/>
                  <a:gd name="T8" fmla="*/ 185 w 227"/>
                  <a:gd name="T9" fmla="*/ 84 h 200"/>
                  <a:gd name="T10" fmla="*/ 171 w 227"/>
                  <a:gd name="T11" fmla="*/ 6 h 200"/>
                  <a:gd name="T12" fmla="*/ 198 w 227"/>
                  <a:gd name="T13" fmla="*/ 0 h 200"/>
                  <a:gd name="T14" fmla="*/ 227 w 227"/>
                  <a:gd name="T15" fmla="*/ 159 h 200"/>
                  <a:gd name="T16" fmla="*/ 205 w 227"/>
                  <a:gd name="T17" fmla="*/ 163 h 200"/>
                  <a:gd name="T18" fmla="*/ 61 w 227"/>
                  <a:gd name="T19" fmla="*/ 81 h 200"/>
                  <a:gd name="T20" fmla="*/ 35 w 227"/>
                  <a:gd name="T21" fmla="*/ 64 h 200"/>
                  <a:gd name="T22" fmla="*/ 38 w 227"/>
                  <a:gd name="T23" fmla="*/ 74 h 200"/>
                  <a:gd name="T24" fmla="*/ 40 w 227"/>
                  <a:gd name="T25" fmla="*/ 84 h 200"/>
                  <a:gd name="T26" fmla="*/ 42 w 227"/>
                  <a:gd name="T27" fmla="*/ 95 h 200"/>
                  <a:gd name="T28" fmla="*/ 44 w 227"/>
                  <a:gd name="T29" fmla="*/ 105 h 200"/>
                  <a:gd name="T30" fmla="*/ 60 w 227"/>
                  <a:gd name="T31" fmla="*/ 196 h 200"/>
                  <a:gd name="T32" fmla="*/ 31 w 227"/>
                  <a:gd name="T33" fmla="*/ 200 h 200"/>
                  <a:gd name="T34" fmla="*/ 0 w 227"/>
                  <a:gd name="T35" fmla="*/ 2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7" h="200">
                    <a:moveTo>
                      <a:pt x="0" y="27"/>
                    </a:moveTo>
                    <a:lnTo>
                      <a:pt x="27" y="22"/>
                    </a:lnTo>
                    <a:lnTo>
                      <a:pt x="193" y="122"/>
                    </a:lnTo>
                    <a:lnTo>
                      <a:pt x="189" y="103"/>
                    </a:lnTo>
                    <a:lnTo>
                      <a:pt x="185" y="84"/>
                    </a:lnTo>
                    <a:lnTo>
                      <a:pt x="171" y="6"/>
                    </a:lnTo>
                    <a:lnTo>
                      <a:pt x="198" y="0"/>
                    </a:lnTo>
                    <a:lnTo>
                      <a:pt x="227" y="159"/>
                    </a:lnTo>
                    <a:lnTo>
                      <a:pt x="205" y="163"/>
                    </a:lnTo>
                    <a:lnTo>
                      <a:pt x="61" y="81"/>
                    </a:lnTo>
                    <a:lnTo>
                      <a:pt x="35" y="64"/>
                    </a:lnTo>
                    <a:lnTo>
                      <a:pt x="38" y="74"/>
                    </a:lnTo>
                    <a:lnTo>
                      <a:pt x="40" y="84"/>
                    </a:lnTo>
                    <a:lnTo>
                      <a:pt x="42" y="95"/>
                    </a:lnTo>
                    <a:lnTo>
                      <a:pt x="44" y="105"/>
                    </a:lnTo>
                    <a:lnTo>
                      <a:pt x="60" y="196"/>
                    </a:lnTo>
                    <a:lnTo>
                      <a:pt x="31" y="20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1F1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2186BAC4-5B72-4F87-B193-1C95AEDECBF0}"/>
                </a:ext>
              </a:extLst>
            </p:cNvPr>
            <p:cNvSpPr txBox="1"/>
            <p:nvPr/>
          </p:nvSpPr>
          <p:spPr>
            <a:xfrm>
              <a:off x="1912315" y="2523867"/>
              <a:ext cx="2940475" cy="464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en-GB" dirty="0">
                <a:solidFill>
                  <a:srgbClr val="FF0000"/>
                </a:solidFill>
              </a:endParaRPr>
            </a:p>
          </p:txBody>
        </p:sp>
      </p:grpSp>
      <p:sp>
        <p:nvSpPr>
          <p:cNvPr id="24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247" name="Freeform 246"/>
          <p:cNvSpPr>
            <a:spLocks/>
          </p:cNvSpPr>
          <p:nvPr/>
        </p:nvSpPr>
        <p:spPr bwMode="auto">
          <a:xfrm>
            <a:off x="2051720" y="3212976"/>
            <a:ext cx="1825625" cy="1435100"/>
          </a:xfrm>
          <a:custGeom>
            <a:avLst/>
            <a:gdLst>
              <a:gd name="T0" fmla="*/ 0 w 1825919"/>
              <a:gd name="T1" fmla="*/ 1106488 h 1435194"/>
              <a:gd name="T2" fmla="*/ 239059 w 1825919"/>
              <a:gd name="T3" fmla="*/ 568605 h 1435194"/>
              <a:gd name="T4" fmla="*/ 642471 w 1825919"/>
              <a:gd name="T5" fmla="*/ 105429 h 1435194"/>
              <a:gd name="T6" fmla="*/ 1150471 w 1825919"/>
              <a:gd name="T7" fmla="*/ 841 h 1435194"/>
              <a:gd name="T8" fmla="*/ 1628589 w 1825919"/>
              <a:gd name="T9" fmla="*/ 135311 h 1435194"/>
              <a:gd name="T10" fmla="*/ 1822824 w 1825919"/>
              <a:gd name="T11" fmla="*/ 344488 h 1435194"/>
              <a:gd name="T12" fmla="*/ 1718236 w 1825919"/>
              <a:gd name="T13" fmla="*/ 867429 h 1435194"/>
              <a:gd name="T14" fmla="*/ 1344706 w 1825919"/>
              <a:gd name="T15" fmla="*/ 1181194 h 1435194"/>
              <a:gd name="T16" fmla="*/ 971177 w 1825919"/>
              <a:gd name="T17" fmla="*/ 1435194 h 1435194"/>
              <a:gd name="T18" fmla="*/ 971177 w 1825919"/>
              <a:gd name="T19" fmla="*/ 1435194 h 14351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25919" h="1435194">
                <a:moveTo>
                  <a:pt x="0" y="1106488"/>
                </a:moveTo>
                <a:cubicBezTo>
                  <a:pt x="65990" y="920968"/>
                  <a:pt x="131980" y="735448"/>
                  <a:pt x="239059" y="568605"/>
                </a:cubicBezTo>
                <a:cubicBezTo>
                  <a:pt x="346138" y="401762"/>
                  <a:pt x="490569" y="200056"/>
                  <a:pt x="642471" y="105429"/>
                </a:cubicBezTo>
                <a:cubicBezTo>
                  <a:pt x="794373" y="10802"/>
                  <a:pt x="986118" y="-4139"/>
                  <a:pt x="1150471" y="841"/>
                </a:cubicBezTo>
                <a:cubicBezTo>
                  <a:pt x="1314824" y="5821"/>
                  <a:pt x="1516530" y="78037"/>
                  <a:pt x="1628589" y="135311"/>
                </a:cubicBezTo>
                <a:cubicBezTo>
                  <a:pt x="1740648" y="192585"/>
                  <a:pt x="1807883" y="222468"/>
                  <a:pt x="1822824" y="344488"/>
                </a:cubicBezTo>
                <a:cubicBezTo>
                  <a:pt x="1837765" y="466508"/>
                  <a:pt x="1797922" y="727978"/>
                  <a:pt x="1718236" y="867429"/>
                </a:cubicBezTo>
                <a:cubicBezTo>
                  <a:pt x="1638550" y="1006880"/>
                  <a:pt x="1469216" y="1086567"/>
                  <a:pt x="1344706" y="1181194"/>
                </a:cubicBezTo>
                <a:cubicBezTo>
                  <a:pt x="1220196" y="1275821"/>
                  <a:pt x="971177" y="1435194"/>
                  <a:pt x="971177" y="1435194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48" name="Freeform 247"/>
          <p:cNvSpPr>
            <a:spLocks/>
          </p:cNvSpPr>
          <p:nvPr/>
        </p:nvSpPr>
        <p:spPr bwMode="auto">
          <a:xfrm>
            <a:off x="2239724" y="1772816"/>
            <a:ext cx="3300413" cy="2411413"/>
          </a:xfrm>
          <a:custGeom>
            <a:avLst/>
            <a:gdLst>
              <a:gd name="T0" fmla="*/ 0 w 3299546"/>
              <a:gd name="T1" fmla="*/ 1544024 h 2410613"/>
              <a:gd name="T2" fmla="*/ 657411 w 3299546"/>
              <a:gd name="T3" fmla="*/ 348730 h 2410613"/>
              <a:gd name="T4" fmla="*/ 1090705 w 3299546"/>
              <a:gd name="T5" fmla="*/ 64848 h 2410613"/>
              <a:gd name="T6" fmla="*/ 1419411 w 3299546"/>
              <a:gd name="T7" fmla="*/ 5083 h 2410613"/>
              <a:gd name="T8" fmla="*/ 2420470 w 3299546"/>
              <a:gd name="T9" fmla="*/ 154495 h 2410613"/>
              <a:gd name="T10" fmla="*/ 2958352 w 3299546"/>
              <a:gd name="T11" fmla="*/ 393554 h 2410613"/>
              <a:gd name="T12" fmla="*/ 3287058 w 3299546"/>
              <a:gd name="T13" fmla="*/ 692377 h 2410613"/>
              <a:gd name="T14" fmla="*/ 3182470 w 3299546"/>
              <a:gd name="T15" fmla="*/ 1349789 h 2410613"/>
              <a:gd name="T16" fmla="*/ 2734235 w 3299546"/>
              <a:gd name="T17" fmla="*/ 1902613 h 2410613"/>
              <a:gd name="T18" fmla="*/ 2002117 w 3299546"/>
              <a:gd name="T19" fmla="*/ 2410613 h 2410613"/>
              <a:gd name="T20" fmla="*/ 2002117 w 3299546"/>
              <a:gd name="T21" fmla="*/ 2410613 h 241061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299546" h="2410613">
                <a:moveTo>
                  <a:pt x="0" y="1544024"/>
                </a:moveTo>
                <a:cubicBezTo>
                  <a:pt x="237813" y="1069641"/>
                  <a:pt x="475627" y="595259"/>
                  <a:pt x="657411" y="348730"/>
                </a:cubicBezTo>
                <a:cubicBezTo>
                  <a:pt x="839195" y="102201"/>
                  <a:pt x="963705" y="122122"/>
                  <a:pt x="1090705" y="64848"/>
                </a:cubicBezTo>
                <a:cubicBezTo>
                  <a:pt x="1217705" y="7574"/>
                  <a:pt x="1197784" y="-9858"/>
                  <a:pt x="1419411" y="5083"/>
                </a:cubicBezTo>
                <a:cubicBezTo>
                  <a:pt x="1641039" y="20024"/>
                  <a:pt x="2163980" y="89750"/>
                  <a:pt x="2420470" y="154495"/>
                </a:cubicBezTo>
                <a:cubicBezTo>
                  <a:pt x="2676960" y="219240"/>
                  <a:pt x="2813921" y="303907"/>
                  <a:pt x="2958352" y="393554"/>
                </a:cubicBezTo>
                <a:cubicBezTo>
                  <a:pt x="3102783" y="483201"/>
                  <a:pt x="3249705" y="533004"/>
                  <a:pt x="3287058" y="692377"/>
                </a:cubicBezTo>
                <a:cubicBezTo>
                  <a:pt x="3324411" y="851750"/>
                  <a:pt x="3274607" y="1148083"/>
                  <a:pt x="3182470" y="1349789"/>
                </a:cubicBezTo>
                <a:cubicBezTo>
                  <a:pt x="3090333" y="1551495"/>
                  <a:pt x="2930960" y="1725809"/>
                  <a:pt x="2734235" y="1902613"/>
                </a:cubicBezTo>
                <a:cubicBezTo>
                  <a:pt x="2537510" y="2079417"/>
                  <a:pt x="2002117" y="2410613"/>
                  <a:pt x="2002117" y="2410613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49" name="Freeform 248"/>
          <p:cNvSpPr>
            <a:spLocks/>
          </p:cNvSpPr>
          <p:nvPr/>
        </p:nvSpPr>
        <p:spPr bwMode="auto">
          <a:xfrm>
            <a:off x="2255599" y="1124744"/>
            <a:ext cx="4116388" cy="3170238"/>
          </a:xfrm>
          <a:custGeom>
            <a:avLst/>
            <a:gdLst>
              <a:gd name="T0" fmla="*/ 0 w 4116587"/>
              <a:gd name="T1" fmla="*/ 1959586 h 3169822"/>
              <a:gd name="T2" fmla="*/ 343647 w 4116587"/>
              <a:gd name="T3" fmla="*/ 1063116 h 3169822"/>
              <a:gd name="T4" fmla="*/ 911411 w 4116587"/>
              <a:gd name="T5" fmla="*/ 286175 h 3169822"/>
              <a:gd name="T6" fmla="*/ 1568823 w 4116587"/>
              <a:gd name="T7" fmla="*/ 2292 h 3169822"/>
              <a:gd name="T8" fmla="*/ 2644588 w 4116587"/>
              <a:gd name="T9" fmla="*/ 166645 h 3169822"/>
              <a:gd name="T10" fmla="*/ 3541059 w 4116587"/>
              <a:gd name="T11" fmla="*/ 420645 h 3169822"/>
              <a:gd name="T12" fmla="*/ 3974353 w 4116587"/>
              <a:gd name="T13" fmla="*/ 764292 h 3169822"/>
              <a:gd name="T14" fmla="*/ 4108823 w 4116587"/>
              <a:gd name="T15" fmla="*/ 1167704 h 3169822"/>
              <a:gd name="T16" fmla="*/ 4064000 w 4116587"/>
              <a:gd name="T17" fmla="*/ 1660763 h 3169822"/>
              <a:gd name="T18" fmla="*/ 3765176 w 4116587"/>
              <a:gd name="T19" fmla="*/ 2392880 h 3169822"/>
              <a:gd name="T20" fmla="*/ 2689411 w 4116587"/>
              <a:gd name="T21" fmla="*/ 3169822 h 316982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116587" h="3169822">
                <a:moveTo>
                  <a:pt x="0" y="1959586"/>
                </a:moveTo>
                <a:cubicBezTo>
                  <a:pt x="95872" y="1650802"/>
                  <a:pt x="191745" y="1342018"/>
                  <a:pt x="343647" y="1063116"/>
                </a:cubicBezTo>
                <a:cubicBezTo>
                  <a:pt x="495549" y="784214"/>
                  <a:pt x="707215" y="462979"/>
                  <a:pt x="911411" y="286175"/>
                </a:cubicBezTo>
                <a:cubicBezTo>
                  <a:pt x="1115607" y="109371"/>
                  <a:pt x="1279960" y="22214"/>
                  <a:pt x="1568823" y="2292"/>
                </a:cubicBezTo>
                <a:cubicBezTo>
                  <a:pt x="1857686" y="-17630"/>
                  <a:pt x="2315882" y="96920"/>
                  <a:pt x="2644588" y="166645"/>
                </a:cubicBezTo>
                <a:cubicBezTo>
                  <a:pt x="2973294" y="236370"/>
                  <a:pt x="3319431" y="321037"/>
                  <a:pt x="3541059" y="420645"/>
                </a:cubicBezTo>
                <a:cubicBezTo>
                  <a:pt x="3762687" y="520253"/>
                  <a:pt x="3879726" y="639782"/>
                  <a:pt x="3974353" y="764292"/>
                </a:cubicBezTo>
                <a:cubicBezTo>
                  <a:pt x="4068980" y="888802"/>
                  <a:pt x="4093882" y="1018292"/>
                  <a:pt x="4108823" y="1167704"/>
                </a:cubicBezTo>
                <a:cubicBezTo>
                  <a:pt x="4123764" y="1317116"/>
                  <a:pt x="4121275" y="1456567"/>
                  <a:pt x="4064000" y="1660763"/>
                </a:cubicBezTo>
                <a:cubicBezTo>
                  <a:pt x="4006725" y="1864959"/>
                  <a:pt x="3994274" y="2141370"/>
                  <a:pt x="3765176" y="2392880"/>
                </a:cubicBezTo>
                <a:cubicBezTo>
                  <a:pt x="3536078" y="2644390"/>
                  <a:pt x="2689411" y="3169822"/>
                  <a:pt x="2689411" y="3169822"/>
                </a:cubicBezTo>
              </a:path>
            </a:pathLst>
          </a:custGeom>
          <a:noFill/>
          <a:ln w="25400" cap="flat" cmpd="sng">
            <a:solidFill>
              <a:srgbClr val="4F81BD"/>
            </a:solidFill>
            <a:prstDash val="dash"/>
            <a:round/>
            <a:headEnd type="none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GB"/>
          </a:p>
        </p:txBody>
      </p:sp>
      <p:sp>
        <p:nvSpPr>
          <p:cNvPr id="250" name="TextBox 7"/>
          <p:cNvSpPr txBox="1">
            <a:spLocks noChangeArrowheads="1"/>
          </p:cNvSpPr>
          <p:nvPr/>
        </p:nvSpPr>
        <p:spPr bwMode="auto">
          <a:xfrm>
            <a:off x="6518549" y="2591847"/>
            <a:ext cx="1439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FF"/>
                </a:solidFill>
              </a:rPr>
              <a:t>Individual 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</a:rPr>
              <a:t>P-T paths</a:t>
            </a:r>
          </a:p>
        </p:txBody>
      </p:sp>
      <p:sp>
        <p:nvSpPr>
          <p:cNvPr id="251" name="Content Placeholder 2">
            <a:extLst>
              <a:ext uri="{FF2B5EF4-FFF2-40B4-BE49-F238E27FC236}">
                <a16:creationId xmlns:a16="http://schemas.microsoft.com/office/drawing/2014/main" id="{1AF6FF6E-DA46-4173-BF6E-C994FF1B2310}"/>
              </a:ext>
            </a:extLst>
          </p:cNvPr>
          <p:cNvSpPr txBox="1">
            <a:spLocks/>
          </p:cNvSpPr>
          <p:nvPr/>
        </p:nvSpPr>
        <p:spPr>
          <a:xfrm>
            <a:off x="324767" y="6171005"/>
            <a:ext cx="8496944" cy="51026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The mineral assemblage reflects the highest T attained, not P.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30357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Regional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F6FF6E-DA46-4173-BF6E-C994FF1B2310}"/>
              </a:ext>
            </a:extLst>
          </p:cNvPr>
          <p:cNvSpPr txBox="1">
            <a:spLocks/>
          </p:cNvSpPr>
          <p:nvPr/>
        </p:nvSpPr>
        <p:spPr>
          <a:xfrm>
            <a:off x="126896" y="1225496"/>
            <a:ext cx="8496944" cy="13839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Why use mudstone and basalt as </a:t>
            </a:r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protolith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case studies?</a:t>
            </a:r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Thought experiment… what are the main possible rock types that can be metamorphosed?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1" u="sng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Other rock types dominated by textural change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6146" name="Picture 2" descr="Image result for metamorphic zones inex minerals">
            <a:extLst>
              <a:ext uri="{FF2B5EF4-FFF2-40B4-BE49-F238E27FC236}">
                <a16:creationId xmlns:a16="http://schemas.microsoft.com/office/drawing/2014/main" id="{E3EF583B-4D03-4D81-BB61-F48623DCA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38568" y="2894275"/>
            <a:ext cx="7056760" cy="372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mage result for shale">
            <a:extLst>
              <a:ext uri="{FF2B5EF4-FFF2-40B4-BE49-F238E27FC236}">
                <a16:creationId xmlns:a16="http://schemas.microsoft.com/office/drawing/2014/main" id="{8007C047-0715-460F-9924-1CB1D3DD8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896" y="3369699"/>
            <a:ext cx="1798000" cy="11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basalt">
            <a:extLst>
              <a:ext uri="{FF2B5EF4-FFF2-40B4-BE49-F238E27FC236}">
                <a16:creationId xmlns:a16="http://schemas.microsoft.com/office/drawing/2014/main" id="{F5EBA6CA-F3E2-4E4E-A067-12243F7E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8672" y="4675443"/>
            <a:ext cx="1776224" cy="118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A3CF83-37FD-483D-96EE-1B4C1ABDC4E1}"/>
              </a:ext>
            </a:extLst>
          </p:cNvPr>
          <p:cNvSpPr txBox="1">
            <a:spLocks/>
          </p:cNvSpPr>
          <p:nvPr/>
        </p:nvSpPr>
        <p:spPr>
          <a:xfrm>
            <a:off x="179512" y="3429000"/>
            <a:ext cx="936104" cy="21602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2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Mudstone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BE53CF-1944-4A53-A846-361E6C47F6FC}"/>
              </a:ext>
            </a:extLst>
          </p:cNvPr>
          <p:cNvSpPr txBox="1">
            <a:spLocks/>
          </p:cNvSpPr>
          <p:nvPr/>
        </p:nvSpPr>
        <p:spPr>
          <a:xfrm>
            <a:off x="179512" y="5589240"/>
            <a:ext cx="648072" cy="21602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2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Basalt</a:t>
            </a:r>
            <a:endParaRPr lang="en-GB" sz="12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7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Contact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4" name="Picture 2" descr="Image result for metamorphic index minerals">
            <a:extLst>
              <a:ext uri="{FF2B5EF4-FFF2-40B4-BE49-F238E27FC236}">
                <a16:creationId xmlns:a16="http://schemas.microsoft.com/office/drawing/2014/main" id="{0681E324-DB4B-4AE3-B8CF-3D21CED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0681" y="1124744"/>
            <a:ext cx="3772894" cy="304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4253771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179512" y="1166271"/>
            <a:ext cx="4824536" cy="30875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Rocks in contact with an intrusion often encounter high T, without high P (see d).</a:t>
            </a:r>
          </a:p>
          <a:p>
            <a:pPr algn="l"/>
            <a:endParaRPr lang="en-GB" sz="2000" b="1" dirty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These often happen in the same places as where igneous rocks are produced (Week 3).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Continental and ocean crust extensional settings, above mantle hotspots, hydrated </a:t>
            </a:r>
            <a:r>
              <a:rPr lang="en-GB" sz="2000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subducting</a:t>
            </a: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slabs. 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3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Contact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79511" y="1160452"/>
            <a:ext cx="5001169" cy="29166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Distinct mineral assemblages with increasing T</a:t>
            </a:r>
          </a:p>
          <a:p>
            <a:pPr algn="l"/>
            <a:endParaRPr lang="en-GB" sz="2000" b="1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Grainsize increases with increasing T.</a:t>
            </a:r>
          </a:p>
          <a:p>
            <a:pPr algn="l"/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</a:rPr>
              <a:t>Not associated with increased stress, so… </a:t>
            </a:r>
          </a:p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No foliation developed.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 descr="Image result for metamorphic index minerals">
            <a:extLst>
              <a:ext uri="{FF2B5EF4-FFF2-40B4-BE49-F238E27FC236}">
                <a16:creationId xmlns:a16="http://schemas.microsoft.com/office/drawing/2014/main" id="{0681E324-DB4B-4AE3-B8CF-3D21CED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0681" y="1124744"/>
            <a:ext cx="3772894" cy="304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geothermal gradient at different tectonic environ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4253771"/>
            <a:ext cx="8784976" cy="257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163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Contact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61585" y="1148748"/>
            <a:ext cx="5616624" cy="26642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Products of contact metamorphism are called “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Hornfels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”</a:t>
            </a:r>
          </a:p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Non-foliated 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(“granoblastic”</a:t>
            </a: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) rock, with distinct increase in crystal growth size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Often with formation of recrystalised aggregate “spots” (“</a:t>
            </a:r>
            <a:r>
              <a:rPr lang="en-GB" sz="2000" b="1" u="sng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porphyroblasts</a:t>
            </a: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”).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A clue is that the intruded igneous rock should be nearby ;-)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60" name="Picture 4" descr="spottedslate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18346" y="4077072"/>
            <a:ext cx="3924436" cy="261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Image result for shal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3850" y="4077072"/>
            <a:ext cx="4038983" cy="26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25858" y="6261316"/>
            <a:ext cx="3240360" cy="360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Protolith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(e.g. mudstone)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690354" y="4173084"/>
            <a:ext cx="2989440" cy="360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Hornfels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(spotted rock)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5" descr="Aureole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0152" y="1176087"/>
            <a:ext cx="3034124" cy="277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F6F4ED-8C91-415F-B053-61D3A08DBE46}"/>
              </a:ext>
            </a:extLst>
          </p:cNvPr>
          <p:cNvSpPr txBox="1">
            <a:spLocks/>
          </p:cNvSpPr>
          <p:nvPr/>
        </p:nvSpPr>
        <p:spPr>
          <a:xfrm>
            <a:off x="4118866" y="5085184"/>
            <a:ext cx="504056" cy="3600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</a:t>
            </a:r>
            <a:endParaRPr lang="en-GB" sz="3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967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Dynamic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79512" y="1196752"/>
            <a:ext cx="8784976" cy="525658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Dynamic metamorphism happens when stress pressure is applied, but little temperature.</a:t>
            </a:r>
          </a:p>
          <a:p>
            <a:pPr algn="l"/>
            <a:endParaRPr lang="en-GB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l"/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This stress is usually deviatoric (not burial – so we don’t plot on a Temp./Depth profile), and is common…</a:t>
            </a:r>
          </a:p>
          <a:p>
            <a:pPr algn="l"/>
            <a:endParaRPr lang="en-GB" sz="2000" b="1" dirty="0">
              <a:latin typeface="Arial" panose="020B0604020202020204" pitchFamily="34" charset="0"/>
              <a:cs typeface="Arial" pitchFamily="34" charset="0"/>
            </a:endParaRPr>
          </a:p>
          <a:p>
            <a:pPr marL="457200" indent="-457200" algn="l">
              <a:buAutoNum type="arabicPeriod"/>
            </a:pP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Along faults, in the immediate zone where stress is focussed.</a:t>
            </a:r>
          </a:p>
          <a:p>
            <a:pPr algn="l"/>
            <a:endParaRPr lang="en-GB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Usually results in </a:t>
            </a:r>
            <a:r>
              <a:rPr lang="en-GB" sz="2000" u="sng" dirty="0">
                <a:latin typeface="Arial" panose="020B0604020202020204" pitchFamily="34" charset="0"/>
                <a:cs typeface="Arial" panose="020B0604020202020204" pitchFamily="34" charset="0"/>
              </a:rPr>
              <a:t>grain size reduction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09600" indent="-609600" algn="l">
              <a:lnSpc>
                <a:spcPct val="125000"/>
              </a:lnSpc>
              <a:spcBef>
                <a:spcPct val="0"/>
              </a:spcBef>
              <a:defRPr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Brittle grain size reduction (cracking, no recrystallisation)</a:t>
            </a:r>
          </a:p>
          <a:p>
            <a:pPr marL="609600" indent="-609600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  </a:t>
            </a:r>
            <a:r>
              <a:rPr lang="en-GB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cataclastic</a:t>
            </a:r>
            <a:r>
              <a:rPr lang="en-GB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 rocks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 (breccia, etc.)</a:t>
            </a:r>
          </a:p>
          <a:p>
            <a:pPr marL="609600" indent="-609600" algn="l">
              <a:lnSpc>
                <a:spcPct val="125000"/>
              </a:lnSpc>
              <a:spcBef>
                <a:spcPct val="0"/>
              </a:spcBef>
              <a:defRPr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  <a:sym typeface="Wingdings" charset="0"/>
            </a:endParaRPr>
          </a:p>
          <a:p>
            <a:pPr lvl="1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	Ductile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grain size reduction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(dynamic recrystallisation) </a:t>
            </a:r>
          </a:p>
          <a:p>
            <a:pPr marL="609600" indent="-609600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					 </a:t>
            </a:r>
            <a:r>
              <a:rPr lang="en-GB" sz="20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 </a:t>
            </a:r>
            <a:r>
              <a:rPr lang="en-GB" sz="20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charset="0"/>
              </a:rPr>
              <a:t>m</a:t>
            </a:r>
            <a:r>
              <a:rPr lang="en-GB" sz="2000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ylonites</a:t>
            </a:r>
            <a:r>
              <a:rPr lang="en-GB" sz="2000" i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0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99B3B-A9C7-493E-8C3E-7ECEF3494196}"/>
              </a:ext>
            </a:extLst>
          </p:cNvPr>
          <p:cNvGrpSpPr/>
          <p:nvPr/>
        </p:nvGrpSpPr>
        <p:grpSpPr>
          <a:xfrm>
            <a:off x="179512" y="3825044"/>
            <a:ext cx="8581716" cy="1867145"/>
            <a:chOff x="179512" y="3645024"/>
            <a:chExt cx="8581716" cy="186714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6D6715-7DB5-49A7-B719-7743B35B09F2}"/>
                </a:ext>
              </a:extLst>
            </p:cNvPr>
            <p:cNvSpPr txBox="1"/>
            <p:nvPr/>
          </p:nvSpPr>
          <p:spPr>
            <a:xfrm>
              <a:off x="5076056" y="4005064"/>
              <a:ext cx="3600400" cy="39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GB" b="1" dirty="0">
                  <a:solidFill>
                    <a:srgbClr val="FF0000"/>
                  </a:solidFill>
                  <a:latin typeface="Arial" charset="0"/>
                </a:rPr>
                <a:t>Not really a metamorphic rock</a:t>
              </a:r>
              <a:endParaRPr lang="en-GB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00621A-2ECC-482F-9AFD-59672CB8873E}"/>
                </a:ext>
              </a:extLst>
            </p:cNvPr>
            <p:cNvSpPr/>
            <p:nvPr/>
          </p:nvSpPr>
          <p:spPr>
            <a:xfrm>
              <a:off x="179512" y="3645024"/>
              <a:ext cx="8581716" cy="1867145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6268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fault breccia">
            <a:extLst>
              <a:ext uri="{FF2B5EF4-FFF2-40B4-BE49-F238E27FC236}">
                <a16:creationId xmlns:a16="http://schemas.microsoft.com/office/drawing/2014/main" id="{D983F71A-5646-405C-8666-B43529EF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4956043" cy="37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1345D9-6307-4D53-A198-F504EFC92520}"/>
              </a:ext>
            </a:extLst>
          </p:cNvPr>
          <p:cNvSpPr txBox="1">
            <a:spLocks/>
          </p:cNvSpPr>
          <p:nvPr/>
        </p:nvSpPr>
        <p:spPr>
          <a:xfrm>
            <a:off x="251520" y="1340768"/>
            <a:ext cx="3168352" cy="3600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Cataclastic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fault breccia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BDEF0A-548C-48F0-865F-CD31D62DBF34}"/>
              </a:ext>
            </a:extLst>
          </p:cNvPr>
          <p:cNvSpPr/>
          <p:nvPr/>
        </p:nvSpPr>
        <p:spPr>
          <a:xfrm>
            <a:off x="1907704" y="3789040"/>
            <a:ext cx="1584176" cy="11967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B3A74A-565C-4824-944A-D65FDCBF28DD}"/>
              </a:ext>
            </a:extLst>
          </p:cNvPr>
          <p:cNvGrpSpPr/>
          <p:nvPr/>
        </p:nvGrpSpPr>
        <p:grpSpPr>
          <a:xfrm>
            <a:off x="3744416" y="2741460"/>
            <a:ext cx="5220072" cy="3915054"/>
            <a:chOff x="3744416" y="2741460"/>
            <a:chExt cx="5220072" cy="3915054"/>
          </a:xfrm>
        </p:grpSpPr>
        <p:pic>
          <p:nvPicPr>
            <p:cNvPr id="1028" name="Picture 4" descr="Image result for fault breccia thin section">
              <a:extLst>
                <a:ext uri="{FF2B5EF4-FFF2-40B4-BE49-F238E27FC236}">
                  <a16:creationId xmlns:a16="http://schemas.microsoft.com/office/drawing/2014/main" id="{F36E28C7-1EA8-4DA6-814A-E4767001C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416" y="2741460"/>
              <a:ext cx="5220072" cy="3915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75FFA8-C318-4BC6-A8ED-1FC8A4410751}"/>
                </a:ext>
              </a:extLst>
            </p:cNvPr>
            <p:cNvSpPr/>
            <p:nvPr/>
          </p:nvSpPr>
          <p:spPr>
            <a:xfrm>
              <a:off x="3744416" y="2754208"/>
              <a:ext cx="5220072" cy="39023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id="{65A5B558-9095-49D5-AB9F-3E881634550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Dynamic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4340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1345D9-6307-4D53-A198-F504EFC92520}"/>
              </a:ext>
            </a:extLst>
          </p:cNvPr>
          <p:cNvSpPr txBox="1">
            <a:spLocks/>
          </p:cNvSpPr>
          <p:nvPr/>
        </p:nvSpPr>
        <p:spPr>
          <a:xfrm>
            <a:off x="179512" y="1196752"/>
            <a:ext cx="8424936" cy="194421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Mylonites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typically develop a distinct foliation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Oriented parallel to orientation of shear</a:t>
            </a: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And also contain outsized crystal masses (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“</a:t>
            </a:r>
            <a:r>
              <a:rPr lang="en-GB" sz="2000" b="1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porphyroclasts</a:t>
            </a:r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”</a:t>
            </a: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) that haven’t broken down, which give a sense of the shear</a:t>
            </a: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à"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A clue is that the rock is usually obviously in a fault or fault zone ;-)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5A5B558-9095-49D5-AB9F-3E881634550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Dynamic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2052" name="Picture 4" descr="Image result for mylonite sense of shear">
            <a:extLst>
              <a:ext uri="{FF2B5EF4-FFF2-40B4-BE49-F238E27FC236}">
                <a16:creationId xmlns:a16="http://schemas.microsoft.com/office/drawing/2014/main" id="{C3D975AE-E9C6-42A0-AE9C-BCBB26895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5536" y="3247318"/>
            <a:ext cx="5184576" cy="335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mylonite augen sense of shear">
            <a:extLst>
              <a:ext uri="{FF2B5EF4-FFF2-40B4-BE49-F238E27FC236}">
                <a16:creationId xmlns:a16="http://schemas.microsoft.com/office/drawing/2014/main" id="{7796375E-A7DB-4A85-9DBA-2BE48112C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8144" y="3429000"/>
            <a:ext cx="3131840" cy="131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82BFEA2-40DA-48A7-A2DB-4701C7705A60}"/>
              </a:ext>
            </a:extLst>
          </p:cNvPr>
          <p:cNvSpPr txBox="1">
            <a:spLocks/>
          </p:cNvSpPr>
          <p:nvPr/>
        </p:nvSpPr>
        <p:spPr>
          <a:xfrm>
            <a:off x="5796136" y="5163294"/>
            <a:ext cx="3203848" cy="141995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What is the sense of shear in this photo? Top to the left or top to the right?</a:t>
            </a:r>
            <a:endParaRPr lang="en-GB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921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shock metamorphism">
            <a:extLst>
              <a:ext uri="{FF2B5EF4-FFF2-40B4-BE49-F238E27FC236}">
                <a16:creationId xmlns:a16="http://schemas.microsoft.com/office/drawing/2014/main" id="{654C31EA-943C-4544-868F-A4C59ACCF1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7504" y="2780928"/>
            <a:ext cx="4464496" cy="391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E27767-53EF-44B0-B8EC-425EB322C60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Dynamic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962DEE-33FD-4791-9623-33DA93A45C9E}"/>
              </a:ext>
            </a:extLst>
          </p:cNvPr>
          <p:cNvSpPr txBox="1">
            <a:spLocks/>
          </p:cNvSpPr>
          <p:nvPr/>
        </p:nvSpPr>
        <p:spPr>
          <a:xfrm>
            <a:off x="179512" y="1196752"/>
            <a:ext cx="8784976" cy="13681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AutoNum type="arabicPeriod" startAt="2"/>
            </a:pP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During meteor impacts (these are fun but rare). </a:t>
            </a:r>
          </a:p>
          <a:p>
            <a:pPr algn="l"/>
            <a:endParaRPr lang="en-GB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l"/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Very high pressures (10s </a:t>
            </a:r>
            <a:r>
              <a:rPr lang="en-GB" sz="2000" b="1" dirty="0" err="1">
                <a:latin typeface="Arial" panose="020B0604020202020204" pitchFamily="34" charset="0"/>
                <a:cs typeface="Arial" pitchFamily="34" charset="0"/>
              </a:rPr>
              <a:t>GPa</a:t>
            </a: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!) but modest temperatures lead to the formation of minerals that don’t normally naturally occur.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2C663D-73B3-44A0-BEB9-EF0B6E463D68}"/>
              </a:ext>
            </a:extLst>
          </p:cNvPr>
          <p:cNvSpPr txBox="1">
            <a:spLocks/>
          </p:cNvSpPr>
          <p:nvPr/>
        </p:nvSpPr>
        <p:spPr>
          <a:xfrm>
            <a:off x="4699586" y="2780928"/>
            <a:ext cx="4193315" cy="13681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Normal load pressure gradient is 3.5 </a:t>
            </a:r>
            <a:r>
              <a:rPr lang="en-GB" sz="2000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Gpa</a:t>
            </a:r>
            <a:r>
              <a:rPr lang="en-GB" sz="20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/Km  </a:t>
            </a:r>
            <a:endParaRPr lang="en-GB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4" name="Picture 4" descr="Image result for shock metamorphism">
            <a:extLst>
              <a:ext uri="{FF2B5EF4-FFF2-40B4-BE49-F238E27FC236}">
                <a16:creationId xmlns:a16="http://schemas.microsoft.com/office/drawing/2014/main" id="{A8AF3443-302A-42F0-8263-BF1A5377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50133" y="3721621"/>
            <a:ext cx="4032448" cy="272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233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mage result for quartz coesite structure">
            <a:extLst>
              <a:ext uri="{FF2B5EF4-FFF2-40B4-BE49-F238E27FC236}">
                <a16:creationId xmlns:a16="http://schemas.microsoft.com/office/drawing/2014/main" id="{3E3E2565-16F4-4636-9142-993294AD35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31026" y="3392996"/>
            <a:ext cx="1800200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E27767-53EF-44B0-B8EC-425EB322C60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Dynamic metamorphism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3078" name="Picture 6" descr="Image result for shocked quartz thin section">
            <a:extLst>
              <a:ext uri="{FF2B5EF4-FFF2-40B4-BE49-F238E27FC236}">
                <a16:creationId xmlns:a16="http://schemas.microsoft.com/office/drawing/2014/main" id="{1F024B51-F2B7-4C13-A126-7F6A96303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44208" y="4699223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">
            <a:extLst>
              <a:ext uri="{FF2B5EF4-FFF2-40B4-BE49-F238E27FC236}">
                <a16:creationId xmlns:a16="http://schemas.microsoft.com/office/drawing/2014/main" id="{A5A2E1C4-62D6-47FA-B092-C72BAB70F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1996" y="2455304"/>
            <a:ext cx="2888199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quartz coesite structure">
            <a:extLst>
              <a:ext uri="{FF2B5EF4-FFF2-40B4-BE49-F238E27FC236}">
                <a16:creationId xmlns:a16="http://schemas.microsoft.com/office/drawing/2014/main" id="{FE3F0A57-0B59-4A83-9017-8C978ADF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219" y="3474293"/>
            <a:ext cx="4176885" cy="314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 result for quartz coesite structure">
            <a:extLst>
              <a:ext uri="{FF2B5EF4-FFF2-40B4-BE49-F238E27FC236}">
                <a16:creationId xmlns:a16="http://schemas.microsoft.com/office/drawing/2014/main" id="{B1A034C0-E56D-4A54-8305-CE81B8897E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63232" y="5085184"/>
            <a:ext cx="1044722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CC44E6-7A9D-49E8-9117-8D6688995EEE}"/>
              </a:ext>
            </a:extLst>
          </p:cNvPr>
          <p:cNvSpPr txBox="1">
            <a:spLocks/>
          </p:cNvSpPr>
          <p:nvPr/>
        </p:nvSpPr>
        <p:spPr>
          <a:xfrm>
            <a:off x="179512" y="1258583"/>
            <a:ext cx="8784976" cy="13681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Key evidence for impact at the Cretaceous-Tertiary boundary 65 Ma is the widespread formation of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coesite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(high T polymorph of quartz) at the impact site…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F8A94A-5652-40D0-A9F1-F605ABDCAAF1}"/>
              </a:ext>
            </a:extLst>
          </p:cNvPr>
          <p:cNvSpPr txBox="1">
            <a:spLocks/>
          </p:cNvSpPr>
          <p:nvPr/>
        </p:nvSpPr>
        <p:spPr>
          <a:xfrm>
            <a:off x="179513" y="2265887"/>
            <a:ext cx="6022484" cy="8289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latin typeface="Arial" pitchFamily="34" charset="0"/>
                <a:cs typeface="Arial" pitchFamily="34" charset="0"/>
              </a:rPr>
              <a:t>…and the distribution of shocked quarts – where the normal crystal lattice has been disturbed – at sites 1000s km from the impact.</a:t>
            </a:r>
          </a:p>
        </p:txBody>
      </p:sp>
    </p:spTree>
    <p:extLst>
      <p:ext uri="{BB962C8B-B14F-4D97-AF65-F5344CB8AC3E}">
        <p14:creationId xmlns:p14="http://schemas.microsoft.com/office/powerpoint/2010/main" val="3019153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442212" y="1054850"/>
            <a:ext cx="8594284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GB" b="1" dirty="0"/>
              <a:t>Retrograde reactions generally fail to happen because ...</a:t>
            </a:r>
          </a:p>
          <a:p>
            <a:pPr>
              <a:spcBef>
                <a:spcPct val="20000"/>
              </a:spcBef>
              <a:defRPr/>
            </a:pPr>
            <a:endParaRPr lang="en-GB" b="1" dirty="0"/>
          </a:p>
          <a:p>
            <a:pPr>
              <a:spcBef>
                <a:spcPct val="20000"/>
              </a:spcBef>
              <a:defRPr/>
            </a:pPr>
            <a:r>
              <a:rPr lang="en-GB" b="1" dirty="0"/>
              <a:t>1.	rocks lose energy as they cool, so do not receive the necessary </a:t>
            </a:r>
            <a:r>
              <a:rPr lang="en-GB" b="1" dirty="0">
                <a:solidFill>
                  <a:schemeClr val="accent2"/>
                </a:solidFill>
              </a:rPr>
              <a:t>activation energy </a:t>
            </a:r>
            <a:r>
              <a:rPr lang="en-GB" b="1" dirty="0"/>
              <a:t>for the reaction to happen.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382870" y="2570685"/>
            <a:ext cx="8378260" cy="3914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FontTx/>
              <a:buAutoNum type="arabicPeriod" startAt="2"/>
              <a:defRPr/>
            </a:pPr>
            <a:r>
              <a:rPr lang="en-GB" dirty="0"/>
              <a:t>many </a:t>
            </a:r>
            <a:r>
              <a:rPr lang="en-GB" u="sng" dirty="0"/>
              <a:t>prograde</a:t>
            </a:r>
            <a:r>
              <a:rPr lang="en-GB" dirty="0"/>
              <a:t> reactions involve release of volatiles</a:t>
            </a:r>
          </a:p>
          <a:p>
            <a:pPr>
              <a:defRPr/>
            </a:pPr>
            <a:r>
              <a:rPr lang="en-GB" dirty="0"/>
              <a:t>	(</a:t>
            </a:r>
            <a:r>
              <a:rPr lang="en-GB" b="1" dirty="0" err="1"/>
              <a:t>devolatilisation</a:t>
            </a:r>
            <a:r>
              <a:rPr lang="en-GB" b="1" dirty="0"/>
              <a:t> reactions</a:t>
            </a:r>
            <a:r>
              <a:rPr lang="en-GB" dirty="0"/>
              <a:t>):</a:t>
            </a:r>
          </a:p>
          <a:p>
            <a:pPr>
              <a:defRPr/>
            </a:pPr>
            <a:r>
              <a:rPr lang="en-GB" dirty="0"/>
              <a:t>  </a:t>
            </a:r>
          </a:p>
          <a:p>
            <a:pPr>
              <a:defRPr/>
            </a:pPr>
            <a:r>
              <a:rPr lang="en-GB" dirty="0"/>
              <a:t>	</a:t>
            </a:r>
            <a:r>
              <a:rPr lang="en-GB" b="1" dirty="0"/>
              <a:t>dehydration reactions</a:t>
            </a:r>
            <a:r>
              <a:rPr lang="en-GB" dirty="0"/>
              <a:t>:  involve release of H</a:t>
            </a:r>
            <a:r>
              <a:rPr lang="en-GB" baseline="-20000" dirty="0"/>
              <a:t>2</a:t>
            </a:r>
            <a:r>
              <a:rPr lang="en-GB" dirty="0"/>
              <a:t>O</a:t>
            </a:r>
          </a:p>
          <a:p>
            <a:pPr>
              <a:defRPr/>
            </a:pPr>
            <a:r>
              <a:rPr lang="en-GB" dirty="0"/>
              <a:t>	</a:t>
            </a:r>
            <a:r>
              <a:rPr lang="en-GB" b="1" dirty="0" err="1"/>
              <a:t>decarbonation</a:t>
            </a:r>
            <a:r>
              <a:rPr lang="en-GB" b="1" dirty="0"/>
              <a:t> reactions</a:t>
            </a:r>
            <a:r>
              <a:rPr lang="en-GB" dirty="0"/>
              <a:t>:  involve release of CO</a:t>
            </a:r>
            <a:r>
              <a:rPr lang="en-GB" baseline="-20000" dirty="0"/>
              <a:t>2</a:t>
            </a:r>
            <a:endParaRPr lang="en-GB" dirty="0"/>
          </a:p>
          <a:p>
            <a:pPr>
              <a:spcBef>
                <a:spcPct val="20000"/>
              </a:spcBef>
              <a:defRPr/>
            </a:pPr>
            <a:r>
              <a:rPr lang="en-GB" dirty="0"/>
              <a:t>		(e.g. 	calcite + quartz </a:t>
            </a:r>
            <a:r>
              <a:rPr lang="en-GB" dirty="0">
                <a:sym typeface="Wingdings" charset="0"/>
              </a:rPr>
              <a:t> </a:t>
            </a:r>
            <a:r>
              <a:rPr lang="en-GB" dirty="0" err="1">
                <a:sym typeface="Wingdings" charset="0"/>
              </a:rPr>
              <a:t>wollastonite</a:t>
            </a:r>
            <a:r>
              <a:rPr lang="en-GB" dirty="0">
                <a:sym typeface="Wingdings" charset="0"/>
              </a:rPr>
              <a:t> + </a:t>
            </a:r>
            <a:r>
              <a:rPr lang="en-GB" dirty="0"/>
              <a:t>CO</a:t>
            </a:r>
            <a:r>
              <a:rPr lang="en-GB" baseline="-20000" dirty="0"/>
              <a:t>2</a:t>
            </a:r>
            <a:r>
              <a:rPr lang="en-GB" dirty="0"/>
              <a:t>)</a:t>
            </a:r>
          </a:p>
          <a:p>
            <a:pPr>
              <a:defRPr/>
            </a:pPr>
            <a:r>
              <a:rPr lang="en-GB" dirty="0"/>
              <a:t>	</a:t>
            </a:r>
          </a:p>
          <a:p>
            <a:pPr>
              <a:defRPr/>
            </a:pPr>
            <a:r>
              <a:rPr lang="en-GB" dirty="0"/>
              <a:t>	But once lost from the rock, the volatiles are not available for the </a:t>
            </a:r>
            <a:r>
              <a:rPr lang="en-GB" u="sng" dirty="0"/>
              <a:t>retrograde</a:t>
            </a:r>
            <a:r>
              <a:rPr lang="en-GB" dirty="0"/>
              <a:t> reaction:</a:t>
            </a:r>
          </a:p>
          <a:p>
            <a:pPr>
              <a:spcBef>
                <a:spcPct val="20000"/>
              </a:spcBef>
              <a:defRPr/>
            </a:pPr>
            <a:r>
              <a:rPr lang="en-GB" dirty="0"/>
              <a:t>			</a:t>
            </a:r>
            <a:r>
              <a:rPr lang="en-GB" dirty="0" err="1">
                <a:sym typeface="Wingdings" charset="0"/>
              </a:rPr>
              <a:t>wollastonite</a:t>
            </a:r>
            <a:r>
              <a:rPr lang="en-GB" dirty="0">
                <a:sym typeface="Wingdings" charset="0"/>
              </a:rPr>
              <a:t> + </a:t>
            </a:r>
            <a:r>
              <a:rPr lang="en-GB" dirty="0"/>
              <a:t>CO</a:t>
            </a:r>
            <a:r>
              <a:rPr lang="en-GB" baseline="-20000" dirty="0"/>
              <a:t>2</a:t>
            </a:r>
            <a:r>
              <a:rPr lang="en-GB" dirty="0"/>
              <a:t> </a:t>
            </a:r>
            <a:r>
              <a:rPr lang="en-GB" dirty="0">
                <a:sym typeface="Wingdings" charset="0"/>
              </a:rPr>
              <a:t> calcite + quartz</a:t>
            </a:r>
          </a:p>
          <a:p>
            <a:pPr>
              <a:spcBef>
                <a:spcPct val="20000"/>
              </a:spcBef>
              <a:defRPr/>
            </a:pPr>
            <a:endParaRPr lang="en-GB" dirty="0">
              <a:sym typeface="Wingdings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GB" b="1" dirty="0">
                <a:sym typeface="Wingdings" charset="0"/>
              </a:rPr>
              <a:t>This is useful, because it allows us to look at the metamorphic rocks and reconstruct the processes happening deep in the Earth’s crust.</a:t>
            </a:r>
            <a:endParaRPr lang="en-GB" b="1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7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Why don’t the minerals retrograde?</a:t>
            </a:r>
            <a:endParaRPr kumimoji="0" lang="en-GB" sz="37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7032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3" descr="Prograde &amp; retrograde 5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1357461"/>
            <a:ext cx="822960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7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Why don’t the minerals retrograde?</a:t>
            </a:r>
            <a:endParaRPr kumimoji="0" lang="en-GB" sz="37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585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40768"/>
            <a:ext cx="866307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</a:pPr>
            <a:r>
              <a:rPr lang="en-GB" sz="2000" dirty="0" err="1"/>
              <a:t>Marshak</a:t>
            </a:r>
            <a:r>
              <a:rPr lang="en-GB" sz="2000" dirty="0"/>
              <a:t>, Earth: Portrait of a Planet, Ch. 7.</a:t>
            </a:r>
          </a:p>
          <a:p>
            <a:pPr marL="285750" indent="-285750">
              <a:spcAft>
                <a:spcPts val="600"/>
              </a:spcAft>
            </a:pPr>
            <a:r>
              <a:rPr lang="en-GB" sz="2000" dirty="0" err="1"/>
              <a:t>Grotzinger</a:t>
            </a:r>
            <a:r>
              <a:rPr lang="en-GB" sz="2000" dirty="0"/>
              <a:t> and Jordan, Understanding Earth, Ch.  6 and 7.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Further reading</a:t>
            </a:r>
          </a:p>
        </p:txBody>
      </p:sp>
      <p:pic>
        <p:nvPicPr>
          <p:cNvPr id="3074" name="Picture 2" descr="Earth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3583148" cy="433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0462" y="2296731"/>
            <a:ext cx="3487922" cy="435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5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7578</TotalTime>
  <Words>3031</Words>
  <Application>Microsoft Office PowerPoint</Application>
  <PresentationFormat>On-screen Show (4:3)</PresentationFormat>
  <Paragraphs>876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ＭＳ Ｐゴシック</vt:lpstr>
      <vt:lpstr>ＭＳ Ｐゴシック</vt:lpstr>
      <vt:lpstr>Adobe Fangsong Std R</vt:lpstr>
      <vt:lpstr>Arial</vt:lpstr>
      <vt:lpstr>Bookman Old Style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Melting temperatures of mantle peridotite as a function of pressure (depth)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Metamorphosed mudstone (garnet mica schist), with folded bedding and axial-planar schistosity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Berit</dc:creator>
  <cp:lastModifiedBy>Rhodri Jerrett</cp:lastModifiedBy>
  <cp:revision>387</cp:revision>
  <cp:lastPrinted>2013-01-27T21:56:10Z</cp:lastPrinted>
  <dcterms:created xsi:type="dcterms:W3CDTF">2011-07-08T07:22:54Z</dcterms:created>
  <dcterms:modified xsi:type="dcterms:W3CDTF">2022-05-03T08:29:30Z</dcterms:modified>
</cp:coreProperties>
</file>