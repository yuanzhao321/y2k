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638" r:id="rId2"/>
    <p:sldId id="305" r:id="rId3"/>
    <p:sldId id="307" r:id="rId4"/>
    <p:sldId id="693" r:id="rId5"/>
    <p:sldId id="694" r:id="rId6"/>
    <p:sldId id="695" r:id="rId7"/>
    <p:sldId id="312" r:id="rId8"/>
    <p:sldId id="324" r:id="rId9"/>
    <p:sldId id="696" r:id="rId10"/>
    <p:sldId id="329" r:id="rId11"/>
    <p:sldId id="697" r:id="rId12"/>
    <p:sldId id="323" r:id="rId13"/>
    <p:sldId id="327" r:id="rId14"/>
    <p:sldId id="698" r:id="rId15"/>
    <p:sldId id="330" r:id="rId16"/>
    <p:sldId id="699" r:id="rId17"/>
    <p:sldId id="332" r:id="rId18"/>
    <p:sldId id="700" r:id="rId19"/>
    <p:sldId id="319" r:id="rId20"/>
    <p:sldId id="701" r:id="rId21"/>
    <p:sldId id="690" r:id="rId22"/>
    <p:sldId id="691" r:id="rId23"/>
    <p:sldId id="33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4" autoAdjust="0"/>
    <p:restoredTop sz="94660"/>
  </p:normalViewPr>
  <p:slideViewPr>
    <p:cSldViewPr>
      <p:cViewPr varScale="1">
        <p:scale>
          <a:sx n="67" d="100"/>
          <a:sy n="67" d="100"/>
        </p:scale>
        <p:origin x="123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9C47B-ABCE-4ADF-B69C-28C4E864421E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B1FFD-F99D-4A83-8643-501A1BB44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42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97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428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60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43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57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29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90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26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63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71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9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b="8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4C4CC-7DE3-472F-82D7-FFEB7ECE8F24}" type="datetimeFigureOut">
              <a:rPr lang="en-GB" smtClean="0"/>
              <a:t>26/04/2021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47638-C699-44F6-B306-2D687A9C5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97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rances Deegan on Twitter: &quot;Beautiful ooids (sedimentary grains) in thin  section… &quot;">
            <a:extLst>
              <a:ext uri="{FF2B5EF4-FFF2-40B4-BE49-F238E27FC236}">
                <a16:creationId xmlns:a16="http://schemas.microsoft.com/office/drawing/2014/main" id="{E9374885-3D07-49BF-A2F6-7A3425DC45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363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CF8900-9924-4320-AAD4-4C1B4761E732}"/>
              </a:ext>
            </a:extLst>
          </p:cNvPr>
          <p:cNvSpPr txBox="1">
            <a:spLocks noChangeArrowheads="1"/>
          </p:cNvSpPr>
          <p:nvPr/>
        </p:nvSpPr>
        <p:spPr>
          <a:xfrm>
            <a:off x="322642" y="1340768"/>
            <a:ext cx="8491057" cy="374441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Understanding the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ea typeface="Adobe Fangsong Std R" pitchFamily="18" charset="-128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Diagenesis and Metamorphism.</a:t>
            </a:r>
          </a:p>
        </p:txBody>
      </p:sp>
    </p:spTree>
    <p:extLst>
      <p:ext uri="{BB962C8B-B14F-4D97-AF65-F5344CB8AC3E}">
        <p14:creationId xmlns:p14="http://schemas.microsoft.com/office/powerpoint/2010/main" val="2667415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0488" y="3861048"/>
            <a:ext cx="8123023" cy="2416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What’s the difference?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00918" y="1268760"/>
            <a:ext cx="854754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</a:rPr>
              <a:t>Diagenesis is </a:t>
            </a:r>
            <a:r>
              <a:rPr lang="en-US" altLang="en-US" sz="2200" b="1" dirty="0">
                <a:latin typeface="+mj-lt"/>
              </a:rPr>
              <a:t>A SERIES OF PROCESSES </a:t>
            </a:r>
            <a:r>
              <a:rPr lang="en-US" altLang="en-US" sz="2200" dirty="0">
                <a:latin typeface="+mj-lt"/>
              </a:rPr>
              <a:t>leading to the lithification (from </a:t>
            </a:r>
            <a:r>
              <a:rPr lang="en-US" altLang="en-US" sz="2200" dirty="0" err="1">
                <a:latin typeface="+mj-lt"/>
              </a:rPr>
              <a:t>greek</a:t>
            </a:r>
            <a:r>
              <a:rPr lang="en-US" altLang="en-US" sz="2200" dirty="0">
                <a:latin typeface="+mj-lt"/>
              </a:rPr>
              <a:t> “</a:t>
            </a:r>
            <a:r>
              <a:rPr lang="en-US" altLang="en-US" sz="2200" dirty="0" err="1">
                <a:latin typeface="+mj-lt"/>
              </a:rPr>
              <a:t>lithos</a:t>
            </a:r>
            <a:r>
              <a:rPr lang="en-US" altLang="en-US" sz="2200" dirty="0">
                <a:latin typeface="+mj-lt"/>
              </a:rPr>
              <a:t>”: rock) of loose sediment into rock.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Metamorphism is a change in the mineralogy and texture (shape and size of minerals) that occurs in the solid state (strictly no melting) following the application of thermal and mechanical energy,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9253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825"/>
          <a:stretch/>
        </p:blipFill>
        <p:spPr bwMode="auto">
          <a:xfrm>
            <a:off x="395536" y="1124744"/>
            <a:ext cx="8352928" cy="4152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411213" y="5534561"/>
            <a:ext cx="88204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Both involve heating and addition of pressure.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Diagenesis is gradational into metamorphism, however: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4666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F15C76-A073-4C0C-AD71-E62E8E9F8A57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What’s the difference?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E0B1C60-EDEB-4BD4-A806-3754CF059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18" y="1268760"/>
            <a:ext cx="854754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200" dirty="0">
                <a:latin typeface="+mj-lt"/>
              </a:rPr>
              <a:t>Diagenesis is caused by simple burial by the addition of overburden in sedimentary basins.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200" dirty="0">
                <a:latin typeface="+mj-lt"/>
              </a:rPr>
              <a:t>Metamorphism is caused by the addition of heat or mechanical energy not possibly by simple addition of overburden by burial in basins.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Diagenesis can involve the addition of new materials (esp. cements), and a substantial change in the bulk composition of the rock.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Metamorphism is largely a closed system, with no change in the bulk composition of rock.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Sedimentary textures are still recognisable during and after diagenesis, but are not following metamorphism.</a:t>
            </a:r>
            <a:endParaRPr lang="en-US" alt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1517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rances Deegan on Twitter: &quot;Beautiful ooids (sedimentary grains) in thin  section… &quot;">
            <a:extLst>
              <a:ext uri="{FF2B5EF4-FFF2-40B4-BE49-F238E27FC236}">
                <a16:creationId xmlns:a16="http://schemas.microsoft.com/office/drawing/2014/main" id="{8A62BD89-70D8-4C0C-822E-074D8CC616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363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426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8DD26A-15C6-4942-8D77-9742AC0F90D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Summary of diagenesis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AF829C1-52E8-4D95-9BE8-06DD2A17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18" y="1268760"/>
            <a:ext cx="854754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200" dirty="0">
                <a:latin typeface="+mj-lt"/>
              </a:rPr>
              <a:t>Compaction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reorganisation/rotation</a:t>
            </a:r>
            <a:endParaRPr lang="en-US" alt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382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http://www.bbc.co.uk/bitesize/ks3/science/images/sedimentary_rock1.gif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503" t="58313" r="38893"/>
          <a:stretch/>
        </p:blipFill>
        <p:spPr bwMode="auto">
          <a:xfrm>
            <a:off x="5129187" y="3240048"/>
            <a:ext cx="3763293" cy="345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79512" y="1252434"/>
            <a:ext cx="8229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b="1" u="sng" dirty="0">
                <a:latin typeface="+mj-lt"/>
              </a:rPr>
              <a:t>Mechanical compaction</a:t>
            </a:r>
            <a:r>
              <a:rPr lang="en-US" altLang="en-US" sz="2400" b="1" dirty="0">
                <a:latin typeface="+mj-lt"/>
              </a:rPr>
              <a:t> by overburden causes grain </a:t>
            </a:r>
            <a:r>
              <a:rPr lang="en-US" altLang="en-US" sz="2400" b="1" dirty="0" err="1">
                <a:latin typeface="+mj-lt"/>
              </a:rPr>
              <a:t>reorganisation</a:t>
            </a:r>
            <a:r>
              <a:rPr lang="en-US" altLang="en-US" sz="2400" b="1" dirty="0">
                <a:latin typeface="+mj-lt"/>
              </a:rPr>
              <a:t>/rotation in order to reduce volume</a:t>
            </a:r>
          </a:p>
          <a:p>
            <a:pPr lvl="1" eaLnBrk="0" hangingPunct="0"/>
            <a:r>
              <a:rPr lang="en-US" altLang="en-US" sz="2400" dirty="0">
                <a:latin typeface="+mj-lt"/>
                <a:sym typeface="Wingdings" panose="05000000000000000000" pitchFamily="2" charset="2"/>
              </a:rPr>
              <a:t>rock volume is not reduced, but </a:t>
            </a:r>
            <a:r>
              <a:rPr lang="en-US" altLang="en-US" sz="2400" b="1" dirty="0">
                <a:latin typeface="+mj-lt"/>
                <a:sym typeface="Wingdings" panose="05000000000000000000" pitchFamily="2" charset="2"/>
              </a:rPr>
              <a:t>pore-space is reduced</a:t>
            </a:r>
          </a:p>
          <a:p>
            <a:pPr lvl="1" eaLnBrk="0" hangingPunct="0"/>
            <a:r>
              <a:rPr lang="en-US" altLang="en-US" sz="2400" dirty="0">
                <a:latin typeface="+mj-lt"/>
                <a:sym typeface="Wingdings" panose="05000000000000000000" pitchFamily="2" charset="2"/>
              </a:rPr>
              <a:t>grains are better “packed”</a:t>
            </a:r>
          </a:p>
          <a:p>
            <a:pPr lvl="1" eaLnBrk="0" hangingPunct="0"/>
            <a:r>
              <a:rPr lang="en-US" altLang="en-US" sz="2400" dirty="0">
                <a:latin typeface="+mj-lt"/>
                <a:sym typeface="Wingdings" panose="05000000000000000000" pitchFamily="2" charset="2"/>
              </a:rPr>
              <a:t>causes “dewatering” – expulsion of water that occupied the pore space.</a:t>
            </a:r>
          </a:p>
          <a:p>
            <a:pPr lvl="1" eaLnBrk="0" hangingPunct="0"/>
            <a:endParaRPr lang="en-US" altLang="en-US" sz="2400" dirty="0"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Compaction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49077" y="3666574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b="1" dirty="0"/>
              <a:t>Grains typically </a:t>
            </a:r>
            <a:r>
              <a:rPr lang="en-US" altLang="en-US" sz="2400" b="1" dirty="0" err="1"/>
              <a:t>reorganise</a:t>
            </a:r>
            <a:r>
              <a:rPr lang="en-US" altLang="en-US" sz="2400" b="1" dirty="0"/>
              <a:t> such that the long-axis moves to become perpendicular to compaction/shortening direction.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endParaRPr lang="en-US" altLang="en-US" sz="2400" b="1" dirty="0"/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400" b="1" dirty="0"/>
              <a:t>Expulsion of water.</a:t>
            </a:r>
          </a:p>
        </p:txBody>
      </p:sp>
    </p:spTree>
    <p:extLst>
      <p:ext uri="{BB962C8B-B14F-4D97-AF65-F5344CB8AC3E}">
        <p14:creationId xmlns:p14="http://schemas.microsoft.com/office/powerpoint/2010/main" val="340642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hugefloods.com/Clastic-Dike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7504" y="3158250"/>
            <a:ext cx="4968552" cy="3558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http://maps.unomaha.edu/maher/PRF09site/clasticdikes/redgreendik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98504" y="1098376"/>
            <a:ext cx="381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7504" y="1196752"/>
            <a:ext cx="496855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200" b="1" dirty="0"/>
              <a:t>Sandstone dykes, are evidence for dewatering during compaction.</a:t>
            </a:r>
          </a:p>
          <a:p>
            <a:pPr lvl="1" eaLnBrk="0" hangingPunct="0"/>
            <a:r>
              <a:rPr lang="en-US" altLang="en-US" sz="2200" dirty="0">
                <a:sym typeface="Wingdings" panose="05000000000000000000" pitchFamily="2" charset="2"/>
              </a:rPr>
              <a:t>sand grains are brought up with the water and injected through overlying sediment.</a:t>
            </a:r>
            <a:endParaRPr lang="en-US" altLang="en-US" sz="22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E5ACE34-ADC4-44BB-ADB2-C2E25B6602E9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Compaction</a:t>
            </a:r>
          </a:p>
        </p:txBody>
      </p:sp>
    </p:spTree>
    <p:extLst>
      <p:ext uri="{BB962C8B-B14F-4D97-AF65-F5344CB8AC3E}">
        <p14:creationId xmlns:p14="http://schemas.microsoft.com/office/powerpoint/2010/main" val="3740813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8DD26A-15C6-4942-8D77-9742AC0F90D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Summary of diagenesis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AF829C1-52E8-4D95-9BE8-06DD2A17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18" y="1268760"/>
            <a:ext cx="854754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200" dirty="0">
                <a:latin typeface="+mj-lt"/>
              </a:rPr>
              <a:t>Compaction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reorganisation/rotation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fracturing</a:t>
            </a:r>
            <a:endParaRPr lang="en-US" alt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727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1268760"/>
            <a:ext cx="88569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200" b="1" dirty="0"/>
              <a:t>Further compaction must be taken up by mechanical fracturing of grains</a:t>
            </a:r>
          </a:p>
        </p:txBody>
      </p:sp>
      <p:pic>
        <p:nvPicPr>
          <p:cNvPr id="15364" name="Picture 4" descr="http://www.abdn.ac.uk/injectedsands/outcrop/thn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5050" y="1772816"/>
            <a:ext cx="6987430" cy="476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3752" y="3554464"/>
            <a:ext cx="19050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chemeClr val="tx2"/>
                </a:solidFill>
              </a:rPr>
              <a:t>Abundant fractured grains in sandstone.</a:t>
            </a:r>
          </a:p>
          <a:p>
            <a:r>
              <a:rPr lang="en-US" altLang="en-US" b="1" dirty="0">
                <a:solidFill>
                  <a:schemeClr val="tx2"/>
                </a:solidFill>
              </a:rPr>
              <a:t>XPL thin section.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614CC3B-91B3-40BB-AEBB-F00548C77D79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Compaction</a:t>
            </a:r>
          </a:p>
        </p:txBody>
      </p:sp>
    </p:spTree>
    <p:extLst>
      <p:ext uri="{BB962C8B-B14F-4D97-AF65-F5344CB8AC3E}">
        <p14:creationId xmlns:p14="http://schemas.microsoft.com/office/powerpoint/2010/main" val="1504220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8DD26A-15C6-4942-8D77-9742AC0F90D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Summary of diagenesis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AF829C1-52E8-4D95-9BE8-06DD2A17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18" y="1268760"/>
            <a:ext cx="854754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200" dirty="0">
                <a:latin typeface="+mj-lt"/>
              </a:rPr>
              <a:t>Compaction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reorganisation/rotation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fracturing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Pressure solution.</a:t>
            </a:r>
            <a:endParaRPr lang="en-US" alt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129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en.academic.ru/pictures/enwiki/80/Pressure_solution_sandstone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http://en.academic.ru/pictures/enwiki/80/Pressure_solution_sandstone.sv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76156" y="3886546"/>
            <a:ext cx="2916324" cy="293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79512" y="1685943"/>
            <a:ext cx="507160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000" b="1" u="sng" dirty="0">
                <a:latin typeface="+mj-lt"/>
              </a:rPr>
              <a:t>Pressure solution </a:t>
            </a:r>
            <a:r>
              <a:rPr lang="en-US" altLang="en-US" sz="2000" b="1" dirty="0">
                <a:latin typeface="+mj-lt"/>
              </a:rPr>
              <a:t>is another manner in which compaction by overburden can reduce rock thickness.</a:t>
            </a:r>
          </a:p>
          <a:p>
            <a:pPr lvl="1" eaLnBrk="0" hangingPunct="0"/>
            <a:r>
              <a:rPr lang="en-US" altLang="en-US" sz="2000" dirty="0">
                <a:latin typeface="+mj-lt"/>
                <a:sym typeface="Wingdings" panose="05000000000000000000" pitchFamily="2" charset="2"/>
              </a:rPr>
              <a:t>Material at grain contacts perpendicular to compaction / shortening dissolve</a:t>
            </a:r>
          </a:p>
          <a:p>
            <a:pPr lvl="1" eaLnBrk="0" hangingPunct="0"/>
            <a:r>
              <a:rPr lang="en-US" altLang="en-US" sz="2000" dirty="0">
                <a:latin typeface="+mj-lt"/>
                <a:sym typeface="Wingdings" panose="05000000000000000000" pitchFamily="2" charset="2"/>
              </a:rPr>
              <a:t>The material re-precipitates as cement at grain contacts parallel to compaction / shortening.</a:t>
            </a:r>
          </a:p>
          <a:p>
            <a:pPr lvl="1" eaLnBrk="0" hangingPunct="0"/>
            <a:r>
              <a:rPr lang="en-US" altLang="en-US" sz="2000" dirty="0">
                <a:latin typeface="+mj-lt"/>
                <a:sym typeface="Wingdings" panose="05000000000000000000" pitchFamily="2" charset="2"/>
              </a:rPr>
              <a:t>Net result is also porosity loss.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endParaRPr lang="en-US" altLang="en-US" sz="2000" dirty="0">
              <a:latin typeface="+mj-lt"/>
              <a:sym typeface="Wingdings" panose="05000000000000000000" pitchFamily="2" charset="2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j-lt"/>
                <a:sym typeface="Wingdings" panose="05000000000000000000" pitchFamily="2" charset="2"/>
              </a:rPr>
              <a:t>Very common in carbonates for the ease at which those minerals will go into solution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+mj-lt"/>
                <a:sym typeface="Wingdings" panose="05000000000000000000" pitchFamily="2" charset="2"/>
              </a:rPr>
              <a:t>Requires greater depths of burial for clastic sedimentary rocks.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56176" y="1117433"/>
            <a:ext cx="2808312" cy="283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403A5DD9-D5D6-41B4-AAE7-EAD17745A462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Compaction</a:t>
            </a:r>
          </a:p>
        </p:txBody>
      </p:sp>
    </p:spTree>
    <p:extLst>
      <p:ext uri="{BB962C8B-B14F-4D97-AF65-F5344CB8AC3E}">
        <p14:creationId xmlns:p14="http://schemas.microsoft.com/office/powerpoint/2010/main" val="601942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://www.geol.umd.edu/~jmerck/geol342/images/22pressuresolu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6558150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804248" y="1772816"/>
            <a:ext cx="223224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b="1" dirty="0"/>
              <a:t>XPL thin section image of pressure solution surfaces, and locally derived cement.</a:t>
            </a:r>
          </a:p>
          <a:p>
            <a:endParaRPr lang="en-US" altLang="en-US" b="1" dirty="0"/>
          </a:p>
          <a:p>
            <a:r>
              <a:rPr lang="en-US" altLang="en-US" b="1" dirty="0"/>
              <a:t>Note flat, or indented (concave) grain contact perpendicular to compaction, and natural (convex) surfaces parallel to compaction, with cements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D4F4DD-DD31-4ABB-AF2B-10972A395AE1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Compaction</a:t>
            </a:r>
          </a:p>
        </p:txBody>
      </p:sp>
    </p:spTree>
    <p:extLst>
      <p:ext uri="{BB962C8B-B14F-4D97-AF65-F5344CB8AC3E}">
        <p14:creationId xmlns:p14="http://schemas.microsoft.com/office/powerpoint/2010/main" val="178512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8DD26A-15C6-4942-8D77-9742AC0F90D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Summary of diagenesis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AF829C1-52E8-4D95-9BE8-06DD2A17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18" y="1268760"/>
            <a:ext cx="8547546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200" dirty="0">
                <a:latin typeface="+mj-lt"/>
              </a:rPr>
              <a:t>Compaction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reorganisation/rotation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fracturing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Pressure solution</a:t>
            </a:r>
            <a:endParaRPr lang="en-US" altLang="en-US" sz="2200" dirty="0">
              <a:latin typeface="+mj-lt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  <a:sym typeface="Wingdings" panose="05000000000000000000" pitchFamily="2" charset="2"/>
              </a:rPr>
              <a:t>Dissolution</a:t>
            </a:r>
            <a:endParaRPr lang="en-GB" altLang="en-US" sz="2200" dirty="0">
              <a:latin typeface="+mj-lt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40922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107504" y="6312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Dissolution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02776" y="3933056"/>
            <a:ext cx="482453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Dissolution without </a:t>
            </a:r>
            <a:r>
              <a:rPr lang="en-US" altLang="en-US" sz="2000" b="1" dirty="0" err="1"/>
              <a:t>reprecipitation</a:t>
            </a:r>
            <a:r>
              <a:rPr lang="en-US" altLang="en-US" sz="2000" b="1" dirty="0"/>
              <a:t> occurs in systems which are subjected to prolonged pumping of exotic pore-water, with an abundant fresh supply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/>
              <a:t>Inhibits the saturation of the pore waters and re-precipitation of minerals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Common in carbonates, less common in clastic sedimentary rocks</a:t>
            </a:r>
            <a:endParaRPr lang="en-US" altLang="en-US" sz="2000" dirty="0"/>
          </a:p>
        </p:txBody>
      </p:sp>
      <p:pic>
        <p:nvPicPr>
          <p:cNvPr id="21506" name="Picture 2" descr="http://archives.datapages.com/data/specpubs/memoir77/m77ch21/images/p293cov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27312" y="4106205"/>
            <a:ext cx="3960440" cy="264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9512" y="1412226"/>
            <a:ext cx="864096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u="sng" dirty="0"/>
              <a:t>Dissolution</a:t>
            </a:r>
            <a:r>
              <a:rPr lang="en-US" altLang="en-US" sz="2000" b="1" dirty="0"/>
              <a:t> is caused by changes in T and P, and or the composition of pore-water, which results in the mineral being more stable in solution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For example, pumping fresh (“meteoric”) water through many carbonates results in dissolution of calcite and aragonite: this can happen close to the surface</a:t>
            </a:r>
            <a:endParaRPr lang="en-US" altLang="en-US" sz="2000" dirty="0"/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But quartz will go into solution with greater difficulty (needs greater burial depth).</a:t>
            </a:r>
          </a:p>
        </p:txBody>
      </p:sp>
    </p:spTree>
    <p:extLst>
      <p:ext uri="{BB962C8B-B14F-4D97-AF65-F5344CB8AC3E}">
        <p14:creationId xmlns:p14="http://schemas.microsoft.com/office/powerpoint/2010/main" val="1638900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8DD26A-15C6-4942-8D77-9742AC0F90D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Summary of diagenesis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AF829C1-52E8-4D95-9BE8-06DD2A17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18" y="1268760"/>
            <a:ext cx="854754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200" dirty="0">
                <a:latin typeface="+mj-lt"/>
              </a:rPr>
              <a:t>Compaction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reorganisation/rotation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fracturing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Pressure solution</a:t>
            </a:r>
            <a:endParaRPr lang="en-US" altLang="en-US" sz="2200" dirty="0">
              <a:latin typeface="+mj-lt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  <a:sym typeface="Wingdings" panose="05000000000000000000" pitchFamily="2" charset="2"/>
              </a:rPr>
              <a:t>Dissolution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  <a:sym typeface="Wingdings" panose="05000000000000000000" pitchFamily="2" charset="2"/>
              </a:rPr>
              <a:t>Cementation</a:t>
            </a:r>
            <a:endParaRPr lang="en-GB" altLang="en-US" sz="2200" dirty="0">
              <a:latin typeface="+mj-lt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243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107504" y="6312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Cementation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95394" y="1340768"/>
            <a:ext cx="864096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u="sng" dirty="0"/>
              <a:t>Cementation</a:t>
            </a:r>
            <a:r>
              <a:rPr lang="en-US" altLang="en-US" sz="2000" dirty="0"/>
              <a:t> is the process by which chemical precipitates (new crystals) form in the pores of a sediment or rock and bind the grains together.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Common cements are quartz, and various carbonates (calcite, aragonite, dolomite), and clays.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Cementation reduces primary porosity by filling in the pore spaces between the grains.</a:t>
            </a:r>
          </a:p>
        </p:txBody>
      </p:sp>
      <p:pic>
        <p:nvPicPr>
          <p:cNvPr id="13" name="Picture 2" descr="Frances Deegan on Twitter: &quot;Beautiful ooids (sedimentary grains) in thin  section… &quot;">
            <a:extLst>
              <a:ext uri="{FF2B5EF4-FFF2-40B4-BE49-F238E27FC236}">
                <a16:creationId xmlns:a16="http://schemas.microsoft.com/office/drawing/2014/main" id="{9C4FB15D-D176-4CBC-A775-6F2CEDFFAF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39940" y="3481761"/>
            <a:ext cx="4324048" cy="324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ardiff Curator on Twitter: &quot;Quartz grains and Crinoid fragments covered by  and cemented with carbonate. This ooidal grainstone is a picture! From  Minera Formation - Trefor Rocks, Llangollen, Wales #ThinSectionThursday  #sciart #geology #">
            <a:extLst>
              <a:ext uri="{FF2B5EF4-FFF2-40B4-BE49-F238E27FC236}">
                <a16:creationId xmlns:a16="http://schemas.microsoft.com/office/drawing/2014/main" id="{897BB155-6A87-400C-B0AC-1C7E1ABC4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81761"/>
            <a:ext cx="4313442" cy="323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152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8DD26A-15C6-4942-8D77-9742AC0F90D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Summary of diagenesis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AF829C1-52E8-4D95-9BE8-06DD2A17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18" y="1268760"/>
            <a:ext cx="854754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200" dirty="0">
                <a:latin typeface="+mj-lt"/>
              </a:rPr>
              <a:t>Compaction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reorganisation/rotation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fracturing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Pressure solution</a:t>
            </a:r>
            <a:endParaRPr lang="en-US" altLang="en-US" sz="2200" dirty="0">
              <a:latin typeface="+mj-lt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  <a:sym typeface="Wingdings" panose="05000000000000000000" pitchFamily="2" charset="2"/>
              </a:rPr>
              <a:t>Dissolution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  <a:sym typeface="Wingdings" panose="05000000000000000000" pitchFamily="2" charset="2"/>
              </a:rPr>
              <a:t>Cementation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 err="1">
                <a:latin typeface="+mj-lt"/>
                <a:sym typeface="Wingdings" panose="05000000000000000000" pitchFamily="2" charset="2"/>
              </a:rPr>
              <a:t>Recrystalisation</a:t>
            </a:r>
            <a:endParaRPr lang="en-GB" altLang="en-US" sz="2200" dirty="0">
              <a:latin typeface="+mj-lt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37845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771800" y="1135436"/>
            <a:ext cx="616702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u="sng" dirty="0" err="1"/>
              <a:t>Recrystallisation</a:t>
            </a:r>
            <a:r>
              <a:rPr lang="en-US" altLang="en-US" sz="2000" b="1" dirty="0"/>
              <a:t> refers to the reorientation of the same crystal lattices in mineral grains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/>
              <a:t>it  occurs as a result of </a:t>
            </a:r>
            <a:r>
              <a:rPr lang="en-US" altLang="en-US" sz="2000" i="1" dirty="0"/>
              <a:t>solution</a:t>
            </a:r>
            <a:r>
              <a:rPr lang="en-US" altLang="en-US" sz="2000" dirty="0"/>
              <a:t> and </a:t>
            </a:r>
            <a:r>
              <a:rPr lang="en-US" altLang="en-US" sz="2000" dirty="0" err="1"/>
              <a:t>reprecipitation</a:t>
            </a:r>
            <a:r>
              <a:rPr lang="en-US" altLang="en-US" sz="2000" dirty="0"/>
              <a:t> of the same mineral phase already present. 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does not usually involve net pore space change</a:t>
            </a:r>
            <a:endParaRPr lang="en-US" altLang="en-US" sz="2000" dirty="0"/>
          </a:p>
          <a:p>
            <a:endParaRPr lang="en-US" altLang="en-US" sz="2000" b="1" u="sng" dirty="0"/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107504" y="6312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Recrystallisation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A55299-ECA1-4263-94DD-803B6A355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180855"/>
            <a:ext cx="4294820" cy="350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hell microstructure of a right valve (thin section; collection number... |  Download Scientific Diagram">
            <a:extLst>
              <a:ext uri="{FF2B5EF4-FFF2-40B4-BE49-F238E27FC236}">
                <a16:creationId xmlns:a16="http://schemas.microsoft.com/office/drawing/2014/main" id="{3334CC9A-7BC0-4A4A-8C1D-62F966121E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0000"/>
          <a:stretch/>
        </p:blipFill>
        <p:spPr bwMode="auto">
          <a:xfrm>
            <a:off x="899592" y="3817541"/>
            <a:ext cx="3600401" cy="289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sketch of the cross- section showing the internal structure of... |  Download Scientific Diagram">
            <a:extLst>
              <a:ext uri="{FF2B5EF4-FFF2-40B4-BE49-F238E27FC236}">
                <a16:creationId xmlns:a16="http://schemas.microsoft.com/office/drawing/2014/main" id="{9CF51C64-175D-4C7F-A8B8-8EDE247D64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07"/>
          <a:stretch/>
        </p:blipFill>
        <p:spPr bwMode="auto">
          <a:xfrm>
            <a:off x="323528" y="1484784"/>
            <a:ext cx="2664296" cy="210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011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8DD26A-15C6-4942-8D77-9742AC0F90D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Summary of diagenesis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AF829C1-52E8-4D95-9BE8-06DD2A17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18" y="1268760"/>
            <a:ext cx="8547546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200" dirty="0">
                <a:latin typeface="+mj-lt"/>
              </a:rPr>
              <a:t>Compaction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reorganisation/rotation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Grain fracturing</a:t>
            </a:r>
          </a:p>
          <a:p>
            <a:pPr lvl="1"/>
            <a:r>
              <a:rPr lang="en-GB" altLang="en-US" sz="2200" dirty="0">
                <a:latin typeface="+mj-lt"/>
                <a:sym typeface="Wingdings" panose="05000000000000000000" pitchFamily="2" charset="2"/>
              </a:rPr>
              <a:t>Pressure solution</a:t>
            </a:r>
            <a:endParaRPr lang="en-US" altLang="en-US" sz="2200" dirty="0">
              <a:latin typeface="+mj-lt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  <a:sym typeface="Wingdings" panose="05000000000000000000" pitchFamily="2" charset="2"/>
              </a:rPr>
              <a:t>Dissolution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  <a:sym typeface="Wingdings" panose="05000000000000000000" pitchFamily="2" charset="2"/>
              </a:rPr>
              <a:t>Cementation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 err="1">
                <a:latin typeface="+mj-lt"/>
                <a:sym typeface="Wingdings" panose="05000000000000000000" pitchFamily="2" charset="2"/>
              </a:rPr>
              <a:t>Recrystalisation</a:t>
            </a:r>
            <a:endParaRPr lang="en-US" altLang="en-US" sz="2200" dirty="0">
              <a:latin typeface="+mj-lt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  <a:sym typeface="Wingdings" panose="05000000000000000000" pitchFamily="2" charset="2"/>
              </a:rPr>
              <a:t>Mineral Replacement.</a:t>
            </a:r>
            <a:endParaRPr lang="en-GB" altLang="en-US" sz="2200" dirty="0">
              <a:latin typeface="+mj-lt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81393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51520" y="1382286"/>
            <a:ext cx="864096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u="sng" dirty="0"/>
              <a:t>Mineral replacement</a:t>
            </a:r>
            <a:r>
              <a:rPr lang="en-US" altLang="en-US" sz="2000" b="1" dirty="0"/>
              <a:t> occurs when a newly formed mineral replaces a preexisting one </a:t>
            </a:r>
            <a:r>
              <a:rPr lang="en-US" altLang="en-US" sz="2000" b="1" i="1" dirty="0"/>
              <a:t>in situ</a:t>
            </a:r>
            <a:r>
              <a:rPr lang="en-US" altLang="en-US" sz="2000" b="1" dirty="0"/>
              <a:t>.</a:t>
            </a:r>
            <a:br>
              <a:rPr lang="en-US" altLang="en-US" sz="2000" dirty="0"/>
            </a:br>
            <a:r>
              <a:rPr lang="en-US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/>
              <a:t>the new grain may have the same composition, but is a polymorph of it (e.g. replacement of biogenic Aragonite with Calcite)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complete replacement on a mineral phase with another (e.g. Calcite to Dolomite)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b="1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>
                <a:sym typeface="Wingdings" panose="05000000000000000000" pitchFamily="2" charset="2"/>
              </a:rPr>
              <a:t>Changes in polymorph or ion exchange leading to the formation of new minerals, can lead to changes in volume, which can destroy or increase porosity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E.g. transformation of calcite to dolomite leads to an 11% decrease in mineral volume (and equal increase in pore space)</a:t>
            </a:r>
            <a:endParaRPr lang="en-US" altLang="en-US" sz="2000" dirty="0"/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107504" y="6312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Mineral replacement </a:t>
            </a:r>
          </a:p>
        </p:txBody>
      </p:sp>
    </p:spTree>
    <p:extLst>
      <p:ext uri="{BB962C8B-B14F-4D97-AF65-F5344CB8AC3E}">
        <p14:creationId xmlns:p14="http://schemas.microsoft.com/office/powerpoint/2010/main" val="3775548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) Epoxy-impregnated thin-section image of a planar-e dolomite... |  Download Scientific Diagram">
            <a:extLst>
              <a:ext uri="{FF2B5EF4-FFF2-40B4-BE49-F238E27FC236}">
                <a16:creationId xmlns:a16="http://schemas.microsoft.com/office/drawing/2014/main" id="{182656F1-CF1B-4883-BD19-2065C8DB4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850"/>
          <a:stretch/>
        </p:blipFill>
        <p:spPr bwMode="auto">
          <a:xfrm>
            <a:off x="251520" y="1946746"/>
            <a:ext cx="6336704" cy="479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8424A01B-59BF-4713-B01F-9BD62151BDD7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6312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Mineral replacement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C887C-AD42-4149-AC7B-56855EE3724E}"/>
              </a:ext>
            </a:extLst>
          </p:cNvPr>
          <p:cNvSpPr txBox="1"/>
          <p:nvPr/>
        </p:nvSpPr>
        <p:spPr>
          <a:xfrm>
            <a:off x="503548" y="1268760"/>
            <a:ext cx="813690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 CaCO</a:t>
            </a:r>
            <a:r>
              <a:rPr lang="it-IT" sz="2500" b="0" i="0" baseline="-250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3(calcite)</a:t>
            </a:r>
            <a:r>
              <a:rPr lang="it-IT" sz="25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+ Mg</a:t>
            </a:r>
            <a:r>
              <a:rPr lang="it-IT" sz="2500" b="0" i="0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2+</a:t>
            </a:r>
            <a:r>
              <a:rPr lang="it-IT" sz="25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↔ CaMg(CO</a:t>
            </a:r>
            <a:r>
              <a:rPr lang="it-IT" sz="2500" b="0" i="0" baseline="-250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it-IT" sz="25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it-IT" sz="2500" b="0" i="0" baseline="-250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2(dolomite)</a:t>
            </a:r>
            <a:r>
              <a:rPr lang="it-IT" sz="25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+ Ca</a:t>
            </a:r>
            <a:r>
              <a:rPr lang="it-IT" sz="2500" b="0" i="0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2+</a:t>
            </a:r>
            <a:endParaRPr lang="en-GB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C4BE3-8965-4D4C-8BCC-949FFA031E92}"/>
              </a:ext>
            </a:extLst>
          </p:cNvPr>
          <p:cNvSpPr txBox="1"/>
          <p:nvPr/>
        </p:nvSpPr>
        <p:spPr>
          <a:xfrm>
            <a:off x="827584" y="1732668"/>
            <a:ext cx="8136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(No need to lean)</a:t>
            </a:r>
            <a:endParaRPr lang="en-GB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2BE759D-B2F9-49F0-A6C1-8528CCA4F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449305"/>
            <a:ext cx="237626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en-US" sz="2000" dirty="0" err="1"/>
              <a:t>Dolomitisation</a:t>
            </a:r>
            <a:r>
              <a:rPr lang="en-US" altLang="en-US" sz="2000" dirty="0"/>
              <a:t> is an example of mineral replacement, which has garnered a lot of interest, because this diagenetic processes increases porosity (blue), which is good for hydrocarbon or water subsurface storage</a:t>
            </a:r>
          </a:p>
        </p:txBody>
      </p:sp>
    </p:spTree>
    <p:extLst>
      <p:ext uri="{BB962C8B-B14F-4D97-AF65-F5344CB8AC3E}">
        <p14:creationId xmlns:p14="http://schemas.microsoft.com/office/powerpoint/2010/main" val="2484321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7504" y="1484784"/>
            <a:ext cx="3658592" cy="4930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23928" y="1124744"/>
            <a:ext cx="4968552" cy="32470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Maturation in basin with geothermal gradient of about 35 </a:t>
            </a:r>
            <a:r>
              <a:rPr lang="en-GB" baseline="30000" dirty="0" err="1"/>
              <a:t>o</a:t>
            </a:r>
            <a:r>
              <a:rPr lang="en-GB" dirty="0" err="1"/>
              <a:t>C</a:t>
            </a:r>
            <a:r>
              <a:rPr lang="en-GB" dirty="0"/>
              <a:t>/km</a:t>
            </a:r>
          </a:p>
          <a:p>
            <a:endParaRPr lang="en-GB" dirty="0"/>
          </a:p>
          <a:p>
            <a:pPr marL="285750" indent="-285750">
              <a:spcBef>
                <a:spcPts val="600"/>
              </a:spcBef>
              <a:buFont typeface="Symbol"/>
              <a:buChar char="Þ"/>
            </a:pPr>
            <a:r>
              <a:rPr lang="en-GB" b="1" dirty="0"/>
              <a:t>Mature source rocks</a:t>
            </a:r>
            <a:r>
              <a:rPr lang="en-GB" dirty="0"/>
              <a:t> can generate petroleum</a:t>
            </a:r>
          </a:p>
          <a:p>
            <a:pPr marL="285750" indent="-285750">
              <a:spcBef>
                <a:spcPts val="600"/>
              </a:spcBef>
              <a:buFont typeface="Symbol"/>
              <a:buChar char="Þ"/>
            </a:pPr>
            <a:r>
              <a:rPr lang="en-GB" b="1" dirty="0"/>
              <a:t>Oil/gas windows </a:t>
            </a:r>
            <a:r>
              <a:rPr lang="en-GB" dirty="0"/>
              <a:t>– temperature ranges for oil/gas generation</a:t>
            </a:r>
          </a:p>
          <a:p>
            <a:pPr marL="285750" indent="-285750">
              <a:spcBef>
                <a:spcPts val="600"/>
              </a:spcBef>
              <a:buFont typeface="Symbol"/>
              <a:buChar char="Þ"/>
            </a:pPr>
            <a:r>
              <a:rPr lang="en-GB" b="1" dirty="0"/>
              <a:t>Oil peak</a:t>
            </a:r>
            <a:r>
              <a:rPr lang="en-GB" dirty="0"/>
              <a:t>: temperature of max oil generation</a:t>
            </a:r>
          </a:p>
          <a:p>
            <a:pPr marL="285750" indent="-285750">
              <a:spcBef>
                <a:spcPts val="600"/>
              </a:spcBef>
              <a:buFont typeface="Symbol"/>
              <a:buChar char="Þ"/>
            </a:pPr>
            <a:r>
              <a:rPr lang="en-GB" b="1" dirty="0"/>
              <a:t>Gas peak</a:t>
            </a:r>
            <a:r>
              <a:rPr lang="en-GB" dirty="0"/>
              <a:t>: temperature of max gas generation</a:t>
            </a:r>
          </a:p>
          <a:p>
            <a:pPr marL="285750" indent="-285750">
              <a:spcBef>
                <a:spcPts val="600"/>
              </a:spcBef>
              <a:buFont typeface="Symbol"/>
              <a:buChar char="Þ"/>
            </a:pPr>
            <a:r>
              <a:rPr lang="en-GB" b="1" dirty="0" err="1"/>
              <a:t>Overmature</a:t>
            </a:r>
            <a:r>
              <a:rPr lang="en-GB" dirty="0"/>
              <a:t> source rocks do not generate oil or gas anymore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825"/>
          <a:stretch/>
        </p:blipFill>
        <p:spPr bwMode="auto">
          <a:xfrm>
            <a:off x="4247964" y="4555271"/>
            <a:ext cx="4320480" cy="2147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82F22448-A79F-4F18-B1CF-C6353A61EF2A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Effects of diagenesis</a:t>
            </a:r>
          </a:p>
        </p:txBody>
      </p:sp>
    </p:spTree>
    <p:extLst>
      <p:ext uri="{BB962C8B-B14F-4D97-AF65-F5344CB8AC3E}">
        <p14:creationId xmlns:p14="http://schemas.microsoft.com/office/powerpoint/2010/main" val="2640323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</TotalTime>
  <Words>988</Words>
  <Application>Microsoft Office PowerPoint</Application>
  <PresentationFormat>On-screen Show (4:3)</PresentationFormat>
  <Paragraphs>121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Bookman Old Style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mbessrj5</dc:creator>
  <cp:lastModifiedBy>Rhodri Jerrett</cp:lastModifiedBy>
  <cp:revision>128</cp:revision>
  <dcterms:created xsi:type="dcterms:W3CDTF">2014-03-09T11:29:33Z</dcterms:created>
  <dcterms:modified xsi:type="dcterms:W3CDTF">2021-04-26T08:54:58Z</dcterms:modified>
</cp:coreProperties>
</file>