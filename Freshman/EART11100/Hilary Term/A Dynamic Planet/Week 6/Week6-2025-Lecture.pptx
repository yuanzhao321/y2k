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775" r:id="rId2"/>
  </p:sldMasterIdLst>
  <p:notesMasterIdLst>
    <p:notesMasterId r:id="rId86"/>
  </p:notesMasterIdLst>
  <p:sldIdLst>
    <p:sldId id="500" r:id="rId3"/>
    <p:sldId id="647" r:id="rId4"/>
    <p:sldId id="646" r:id="rId5"/>
    <p:sldId id="700" r:id="rId6"/>
    <p:sldId id="637" r:id="rId7"/>
    <p:sldId id="297" r:id="rId8"/>
    <p:sldId id="689" r:id="rId9"/>
    <p:sldId id="627" r:id="rId10"/>
    <p:sldId id="357" r:id="rId11"/>
    <p:sldId id="690" r:id="rId12"/>
    <p:sldId id="358" r:id="rId13"/>
    <p:sldId id="359" r:id="rId14"/>
    <p:sldId id="360" r:id="rId15"/>
    <p:sldId id="362" r:id="rId16"/>
    <p:sldId id="629" r:id="rId17"/>
    <p:sldId id="325" r:id="rId18"/>
    <p:sldId id="630" r:id="rId19"/>
    <p:sldId id="634" r:id="rId20"/>
    <p:sldId id="693" r:id="rId21"/>
    <p:sldId id="694" r:id="rId22"/>
    <p:sldId id="632" r:id="rId23"/>
    <p:sldId id="656" r:id="rId24"/>
    <p:sldId id="691" r:id="rId25"/>
    <p:sldId id="692" r:id="rId26"/>
    <p:sldId id="374" r:id="rId27"/>
    <p:sldId id="639" r:id="rId28"/>
    <p:sldId id="640" r:id="rId29"/>
    <p:sldId id="695" r:id="rId30"/>
    <p:sldId id="697" r:id="rId31"/>
    <p:sldId id="586" r:id="rId32"/>
    <p:sldId id="597" r:id="rId33"/>
    <p:sldId id="633" r:id="rId34"/>
    <p:sldId id="674" r:id="rId35"/>
    <p:sldId id="675" r:id="rId36"/>
    <p:sldId id="677" r:id="rId37"/>
    <p:sldId id="588" r:id="rId38"/>
    <p:sldId id="641" r:id="rId39"/>
    <p:sldId id="514" r:id="rId40"/>
    <p:sldId id="642" r:id="rId41"/>
    <p:sldId id="290" r:id="rId42"/>
    <p:sldId id="291" r:id="rId43"/>
    <p:sldId id="487" r:id="rId44"/>
    <p:sldId id="348" r:id="rId45"/>
    <p:sldId id="488" r:id="rId46"/>
    <p:sldId id="698" r:id="rId47"/>
    <p:sldId id="512" r:id="rId48"/>
    <p:sldId id="501" r:id="rId49"/>
    <p:sldId id="504" r:id="rId50"/>
    <p:sldId id="505" r:id="rId51"/>
    <p:sldId id="506" r:id="rId52"/>
    <p:sldId id="507" r:id="rId53"/>
    <p:sldId id="644" r:id="rId54"/>
    <p:sldId id="510" r:id="rId55"/>
    <p:sldId id="508" r:id="rId56"/>
    <p:sldId id="509" r:id="rId57"/>
    <p:sldId id="643" r:id="rId58"/>
    <p:sldId id="699" r:id="rId59"/>
    <p:sldId id="661" r:id="rId60"/>
    <p:sldId id="669" r:id="rId61"/>
    <p:sldId id="664" r:id="rId62"/>
    <p:sldId id="665" r:id="rId63"/>
    <p:sldId id="666" r:id="rId64"/>
    <p:sldId id="672" r:id="rId65"/>
    <p:sldId id="673" r:id="rId66"/>
    <p:sldId id="663" r:id="rId67"/>
    <p:sldId id="670" r:id="rId68"/>
    <p:sldId id="679" r:id="rId69"/>
    <p:sldId id="662" r:id="rId70"/>
    <p:sldId id="667" r:id="rId71"/>
    <p:sldId id="682" r:id="rId72"/>
    <p:sldId id="651" r:id="rId73"/>
    <p:sldId id="668" r:id="rId74"/>
    <p:sldId id="657" r:id="rId75"/>
    <p:sldId id="671" r:id="rId76"/>
    <p:sldId id="652" r:id="rId77"/>
    <p:sldId id="654" r:id="rId78"/>
    <p:sldId id="655" r:id="rId79"/>
    <p:sldId id="473" r:id="rId80"/>
    <p:sldId id="653" r:id="rId81"/>
    <p:sldId id="648" r:id="rId82"/>
    <p:sldId id="649" r:id="rId83"/>
    <p:sldId id="418" r:id="rId84"/>
    <p:sldId id="696" r:id="rId85"/>
  </p:sldIdLst>
  <p:sldSz cx="9144000" cy="5715000" type="screen16x10"/>
  <p:notesSz cx="6858000" cy="9144000"/>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180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2C19E"/>
    <a:srgbClr val="D3C59F"/>
    <a:srgbClr val="CFC095"/>
    <a:srgbClr val="C4B492"/>
    <a:srgbClr val="DBCBAA"/>
    <a:srgbClr val="D2C2A0"/>
    <a:srgbClr val="D1C2A0"/>
    <a:srgbClr val="E3D4B9"/>
    <a:srgbClr val="A07156"/>
    <a:srgbClr val="00FFD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114"/>
    <p:restoredTop sz="82306"/>
  </p:normalViewPr>
  <p:slideViewPr>
    <p:cSldViewPr>
      <p:cViewPr varScale="1">
        <p:scale>
          <a:sx n="146" d="100"/>
          <a:sy n="146" d="100"/>
        </p:scale>
        <p:origin x="864" y="160"/>
      </p:cViewPr>
      <p:guideLst>
        <p:guide orient="horz" pos="1800"/>
        <p:guide pos="2880"/>
      </p:guideLst>
    </p:cSldViewPr>
  </p:slideViewPr>
  <p:outlineViewPr>
    <p:cViewPr>
      <p:scale>
        <a:sx n="33" d="100"/>
        <a:sy n="33" d="100"/>
      </p:scale>
      <p:origin x="0" y="0"/>
    </p:cViewPr>
  </p:outlineViewPr>
  <p:notesTextViewPr>
    <p:cViewPr>
      <p:scale>
        <a:sx n="85" d="100"/>
        <a:sy n="8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theme" Target="theme/theme1.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tableStyles" Target="tableStyles.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presProps" Target="pres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6A0B754A-0593-D341-89C0-1DC5C3F85352}"/>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ＭＳ Ｐゴシック" charset="0"/>
                <a:cs typeface="Arial" charset="0"/>
              </a:defRPr>
            </a:lvl1pPr>
          </a:lstStyle>
          <a:p>
            <a:pPr>
              <a:defRPr/>
            </a:pPr>
            <a:endParaRPr lang="en-US"/>
          </a:p>
        </p:txBody>
      </p:sp>
      <p:sp>
        <p:nvSpPr>
          <p:cNvPr id="6147" name="Rectangle 3">
            <a:extLst>
              <a:ext uri="{FF2B5EF4-FFF2-40B4-BE49-F238E27FC236}">
                <a16:creationId xmlns:a16="http://schemas.microsoft.com/office/drawing/2014/main" id="{E7B0743B-45CA-284A-A602-17FB62F00A7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ＭＳ Ｐゴシック" charset="0"/>
                <a:cs typeface="Arial" charset="0"/>
              </a:defRPr>
            </a:lvl1pPr>
          </a:lstStyle>
          <a:p>
            <a:pPr>
              <a:defRPr/>
            </a:pPr>
            <a:endParaRPr lang="en-US"/>
          </a:p>
        </p:txBody>
      </p:sp>
      <p:sp>
        <p:nvSpPr>
          <p:cNvPr id="27652" name="Rectangle 4">
            <a:extLst>
              <a:ext uri="{FF2B5EF4-FFF2-40B4-BE49-F238E27FC236}">
                <a16:creationId xmlns:a16="http://schemas.microsoft.com/office/drawing/2014/main" id="{988D89FE-2C05-1A49-A413-C2B49854C398}"/>
              </a:ext>
            </a:extLst>
          </p:cNvPr>
          <p:cNvSpPr>
            <a:spLocks noGrp="1" noRot="1" noChangeAspect="1" noChangeArrowheads="1" noTextEdit="1"/>
          </p:cNvSpPr>
          <p:nvPr>
            <p:ph type="sldImg" idx="2"/>
          </p:nvPr>
        </p:nvSpPr>
        <p:spPr bwMode="auto">
          <a:xfrm>
            <a:off x="685800" y="685800"/>
            <a:ext cx="54864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32FA97E2-52C9-BE40-B4C0-0DD75EA467CF}"/>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CB364E7E-67BB-FB42-A666-7E00E3F611C9}"/>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ＭＳ Ｐゴシック" charset="0"/>
                <a:cs typeface="Arial" charset="0"/>
              </a:defRPr>
            </a:lvl1pPr>
          </a:lstStyle>
          <a:p>
            <a:pPr>
              <a:defRPr/>
            </a:pPr>
            <a:endParaRPr lang="en-US"/>
          </a:p>
        </p:txBody>
      </p:sp>
      <p:sp>
        <p:nvSpPr>
          <p:cNvPr id="6151" name="Rectangle 7">
            <a:extLst>
              <a:ext uri="{FF2B5EF4-FFF2-40B4-BE49-F238E27FC236}">
                <a16:creationId xmlns:a16="http://schemas.microsoft.com/office/drawing/2014/main" id="{5C39772E-C280-6646-9639-CAB1A7611337}"/>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48B5E055-83C5-1148-B1CC-2151D312576F}"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0"/>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Arial" charset="0"/>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Arial" charset="0"/>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Arial" charset="0"/>
        <a:cs typeface="Arial"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en.wikipedia.org/wiki/Reactive_oxygen_species"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en.wikipedia.org/wiki/Reactive_oxygen_species"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en.wikipedia.org/wiki/Reactive_oxygen_species"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archive.org/details/b32170129/"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archive.org/details/b32170129/"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AC200824-7854-E74E-AA04-A9A8FB3B55B3}"/>
              </a:ext>
            </a:extLst>
          </p:cNvPr>
          <p:cNvSpPr>
            <a:spLocks noGrp="1" noRot="1" noChangeAspect="1" noChangeArrowheads="1" noTextEdit="1"/>
          </p:cNvSpPr>
          <p:nvPr>
            <p:ph type="sldImg"/>
          </p:nvPr>
        </p:nvSpPr>
        <p:spPr>
          <a:ln/>
        </p:spPr>
      </p:sp>
      <p:sp>
        <p:nvSpPr>
          <p:cNvPr id="29698" name="Rectangle 3">
            <a:extLst>
              <a:ext uri="{FF2B5EF4-FFF2-40B4-BE49-F238E27FC236}">
                <a16:creationId xmlns:a16="http://schemas.microsoft.com/office/drawing/2014/main" id="{E7D76027-FC25-934C-ADD5-B00A0EF8F3F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a typeface="ＭＳ Ｐゴシック" panose="020B0600070205080204" pitchFamily="34" charset="-128"/>
              <a:cs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1F22833E-35A6-4AAA-8C27-0E2F5D7AA49F}" type="slidenum">
              <a:rPr lang="en-US" altLang="en-US" smtClean="0"/>
              <a:pPr>
                <a:spcBef>
                  <a:spcPct val="0"/>
                </a:spcBef>
              </a:pPr>
              <a:t>6</a:t>
            </a:fld>
            <a:endParaRPr lang="en-US" altLang="en-US"/>
          </a:p>
        </p:txBody>
      </p:sp>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sz="1400"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The slow reaction (in black) is the break-up and recombination of molecular oxygen (O2).</a:t>
            </a:r>
          </a:p>
          <a:p>
            <a:pPr eaLnBrk="1" hangingPunct="1"/>
            <a:r>
              <a:rPr lang="en-GB" altLang="en-US" sz="1400"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The fast reaction (in blue) is the break-up and recombination of ozone (O3).</a:t>
            </a:r>
          </a:p>
          <a:p>
            <a:pPr eaLnBrk="1" hangingPunct="1"/>
            <a:endParaRPr lang="en-GB" altLang="en-US" dirty="0">
              <a:latin typeface="Arial" panose="020B0604020202020204" pitchFamily="34" charset="0"/>
              <a:ea typeface="ＭＳ Ｐゴシック" panose="020B0600070205080204" pitchFamily="34" charset="-128"/>
              <a:cs typeface="Arial" panose="020B0604020202020204" pitchFamily="34" charset="0"/>
            </a:endParaRPr>
          </a:p>
          <a:p>
            <a:pPr eaLnBrk="1" hangingPunct="1"/>
            <a:r>
              <a:rPr lang="en-GB" altLang="en-US" dirty="0">
                <a:latin typeface="Arial" panose="020B0604020202020204" pitchFamily="34" charset="0"/>
                <a:ea typeface="ＭＳ Ｐゴシック" panose="020B0600070205080204" pitchFamily="34" charset="-128"/>
                <a:cs typeface="Arial" panose="020B0604020202020204" pitchFamily="34" charset="0"/>
              </a:rPr>
              <a:t>O radical: chemical species with an unpaired electron</a:t>
            </a:r>
          </a:p>
          <a:p>
            <a:pPr eaLnBrk="1" hangingPunct="1"/>
            <a:endParaRPr lang="en-GB" altLang="en-US" dirty="0">
              <a:latin typeface="Arial" panose="020B0604020202020204" pitchFamily="34" charset="0"/>
              <a:ea typeface="ＭＳ Ｐゴシック" panose="020B0600070205080204" pitchFamily="34" charset="-128"/>
              <a:cs typeface="Arial" panose="020B0604020202020204" pitchFamily="34" charset="0"/>
            </a:endParaRPr>
          </a:p>
          <a:p>
            <a:pPr eaLnBrk="1" hangingPunct="1"/>
            <a:r>
              <a:rPr lang="en-GB" altLang="en-US" dirty="0">
                <a:latin typeface="Arial" panose="020B0604020202020204" pitchFamily="34" charset="0"/>
                <a:ea typeface="ＭＳ Ｐゴシック" panose="020B0600070205080204" pitchFamily="34" charset="-128"/>
                <a:cs typeface="Arial" panose="020B0604020202020204" pitchFamily="34" charset="0"/>
              </a:rPr>
              <a:t>R1 initiation</a:t>
            </a:r>
          </a:p>
          <a:p>
            <a:pPr eaLnBrk="1" hangingPunct="1"/>
            <a:r>
              <a:rPr lang="en-GB" altLang="en-US" dirty="0">
                <a:latin typeface="Arial" panose="020B0604020202020204" pitchFamily="34" charset="0"/>
                <a:ea typeface="ＭＳ Ｐゴシック" panose="020B0600070205080204" pitchFamily="34" charset="-128"/>
                <a:cs typeface="Arial" panose="020B0604020202020204" pitchFamily="34" charset="0"/>
              </a:rPr>
              <a:t>R2, R3 rapid reactions R2 only known way of making O3 in </a:t>
            </a:r>
            <a:r>
              <a:rPr lang="en-GB" altLang="en-US" dirty="0" err="1">
                <a:latin typeface="Arial" panose="020B0604020202020204" pitchFamily="34" charset="0"/>
                <a:ea typeface="ＭＳ Ｐゴシック" panose="020B0600070205080204" pitchFamily="34" charset="-128"/>
                <a:cs typeface="Arial" panose="020B0604020202020204" pitchFamily="34" charset="0"/>
              </a:rPr>
              <a:t>atmos</a:t>
            </a:r>
            <a:endParaRPr lang="en-GB" altLang="en-US" dirty="0">
              <a:latin typeface="Arial" panose="020B0604020202020204" pitchFamily="34" charset="0"/>
              <a:ea typeface="ＭＳ Ｐゴシック" panose="020B0600070205080204" pitchFamily="34" charset="-128"/>
              <a:cs typeface="Arial" panose="020B0604020202020204" pitchFamily="34" charset="0"/>
            </a:endParaRPr>
          </a:p>
          <a:p>
            <a:pPr eaLnBrk="1" hangingPunct="1"/>
            <a:r>
              <a:rPr lang="en-GB" altLang="en-US" dirty="0">
                <a:latin typeface="Arial" panose="020B0604020202020204" pitchFamily="34" charset="0"/>
                <a:ea typeface="ＭＳ Ｐゴシック" panose="020B0600070205080204" pitchFamily="34" charset="-128"/>
                <a:cs typeface="Arial" panose="020B0604020202020204" pitchFamily="34" charset="0"/>
              </a:rPr>
              <a:t>R4 termination step </a:t>
            </a:r>
          </a:p>
          <a:p>
            <a:pPr eaLnBrk="1" hangingPunct="1"/>
            <a:r>
              <a:rPr lang="en-GB" altLang="en-US" dirty="0">
                <a:latin typeface="Arial" panose="020B0604020202020204" pitchFamily="34" charset="0"/>
                <a:ea typeface="ＭＳ Ｐゴシック" panose="020B0600070205080204" pitchFamily="34" charset="-128"/>
                <a:cs typeface="Arial" panose="020B0604020202020204" pitchFamily="34" charset="0"/>
              </a:rPr>
              <a:t>R5 so slow you can ignore it</a:t>
            </a:r>
          </a:p>
          <a:p>
            <a:pPr eaLnBrk="1" hangingPunct="1"/>
            <a:endParaRPr lang="en-GB" altLang="en-US" dirty="0">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altLang="en-US" sz="1200" baseline="0" dirty="0">
                <a:solidFill>
                  <a:schemeClr val="bg1"/>
                </a:solidFill>
                <a:latin typeface="Arial" panose="020B0604020202020204" pitchFamily="34" charset="0"/>
              </a:rPr>
              <a:t>Temperature </a:t>
            </a:r>
            <a:r>
              <a:rPr lang="en-GB" altLang="en-US" sz="1200" u="sng" baseline="0" dirty="0">
                <a:solidFill>
                  <a:schemeClr val="bg1"/>
                </a:solidFill>
                <a:latin typeface="Arial" panose="020B0604020202020204" pitchFamily="34" charset="0"/>
              </a:rPr>
              <a:t>increases</a:t>
            </a:r>
            <a:r>
              <a:rPr lang="en-GB" altLang="en-US" sz="1200" baseline="0" dirty="0">
                <a:solidFill>
                  <a:schemeClr val="bg1"/>
                </a:solidFill>
                <a:latin typeface="Arial" panose="020B0604020202020204" pitchFamily="34" charset="0"/>
              </a:rPr>
              <a:t> with height through the </a:t>
            </a:r>
            <a:r>
              <a:rPr lang="en-GB" altLang="en-US" sz="1200" u="sng" baseline="0" dirty="0">
                <a:solidFill>
                  <a:schemeClr val="bg1"/>
                </a:solidFill>
                <a:latin typeface="Arial" panose="020B0604020202020204" pitchFamily="34" charset="0"/>
              </a:rPr>
              <a:t>stratosphere</a:t>
            </a:r>
            <a:r>
              <a:rPr lang="en-GB" altLang="en-US" sz="1200" baseline="0" dirty="0">
                <a:solidFill>
                  <a:schemeClr val="bg1"/>
                </a:solidFill>
                <a:latin typeface="Arial" panose="020B0604020202020204" pitchFamily="34" charset="0"/>
              </a:rPr>
              <a:t> – heat is released as a result of photolysis of O</a:t>
            </a:r>
            <a:r>
              <a:rPr lang="en-GB" altLang="en-US" sz="1200" baseline="-25000" dirty="0">
                <a:solidFill>
                  <a:schemeClr val="bg1"/>
                </a:solidFill>
                <a:latin typeface="Arial" panose="020B0604020202020204" pitchFamily="34" charset="0"/>
              </a:rPr>
              <a:t>2</a:t>
            </a:r>
            <a:r>
              <a:rPr lang="en-GB" altLang="en-US" sz="1200" baseline="0" dirty="0">
                <a:solidFill>
                  <a:schemeClr val="bg1"/>
                </a:solidFill>
                <a:latin typeface="Arial" panose="020B0604020202020204" pitchFamily="34" charset="0"/>
              </a:rPr>
              <a:t> and O</a:t>
            </a:r>
            <a:r>
              <a:rPr lang="en-GB" altLang="en-US" sz="1200" baseline="-25000" dirty="0">
                <a:solidFill>
                  <a:schemeClr val="bg1"/>
                </a:solidFill>
                <a:latin typeface="Arial" panose="020B0604020202020204" pitchFamily="34" charset="0"/>
              </a:rPr>
              <a:t>3</a:t>
            </a:r>
            <a:r>
              <a:rPr lang="en-GB" altLang="en-US" sz="1200" baseline="0" dirty="0">
                <a:solidFill>
                  <a:schemeClr val="bg1"/>
                </a:solidFill>
                <a:latin typeface="Arial" panose="020B0604020202020204" pitchFamily="34" charset="0"/>
              </a:rPr>
              <a:t> by UV radiation – the Chapman cycle.</a:t>
            </a:r>
            <a:endParaRPr lang="en-GB" altLang="en-US" dirty="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403037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1F22833E-35A6-4AAA-8C27-0E2F5D7AA49F}" type="slidenum">
              <a:rPr lang="en-US" altLang="en-US" smtClean="0"/>
              <a:pPr>
                <a:spcBef>
                  <a:spcPct val="0"/>
                </a:spcBef>
              </a:pPr>
              <a:t>7</a:t>
            </a:fld>
            <a:endParaRPr lang="en-US" altLang="en-US"/>
          </a:p>
        </p:txBody>
      </p:sp>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sz="1200"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The slow reaction (in black) is the break-up and recombination of molecular oxygen (O2).</a:t>
            </a:r>
          </a:p>
          <a:p>
            <a:pPr eaLnBrk="1" hangingPunct="1"/>
            <a:r>
              <a:rPr lang="en-GB" altLang="en-US" sz="1200"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The fast reaction (in blue) is the break-up and recombination of ozone (O3).</a:t>
            </a:r>
          </a:p>
          <a:p>
            <a:pPr eaLnBrk="1" hangingPunct="1"/>
            <a:endParaRPr lang="en-GB" altLang="en-US" dirty="0">
              <a:latin typeface="Arial" panose="020B0604020202020204" pitchFamily="34" charset="0"/>
              <a:ea typeface="ＭＳ Ｐゴシック" panose="020B0600070205080204" pitchFamily="34" charset="-128"/>
              <a:cs typeface="Arial" panose="020B0604020202020204" pitchFamily="34" charset="0"/>
            </a:endParaRPr>
          </a:p>
          <a:p>
            <a:pPr eaLnBrk="1" hangingPunct="1"/>
            <a:r>
              <a:rPr lang="en-GB" altLang="en-US" dirty="0">
                <a:latin typeface="Arial" panose="020B0604020202020204" pitchFamily="34" charset="0"/>
                <a:ea typeface="ＭＳ Ｐゴシック" panose="020B0600070205080204" pitchFamily="34" charset="-128"/>
                <a:cs typeface="Arial" panose="020B0604020202020204" pitchFamily="34" charset="0"/>
              </a:rPr>
              <a:t>O radical: chemical species with an unpaired electron</a:t>
            </a:r>
          </a:p>
          <a:p>
            <a:pPr eaLnBrk="1" hangingPunct="1"/>
            <a:endParaRPr lang="en-GB" altLang="en-US" dirty="0">
              <a:latin typeface="Arial" panose="020B0604020202020204" pitchFamily="34" charset="0"/>
              <a:ea typeface="ＭＳ Ｐゴシック" panose="020B0600070205080204" pitchFamily="34" charset="-128"/>
              <a:cs typeface="Arial" panose="020B0604020202020204" pitchFamily="34" charset="0"/>
            </a:endParaRPr>
          </a:p>
          <a:p>
            <a:pPr eaLnBrk="1" hangingPunct="1"/>
            <a:r>
              <a:rPr lang="en-GB" altLang="en-US" dirty="0">
                <a:latin typeface="Arial" panose="020B0604020202020204" pitchFamily="34" charset="0"/>
                <a:ea typeface="ＭＳ Ｐゴシック" panose="020B0600070205080204" pitchFamily="34" charset="-128"/>
                <a:cs typeface="Arial" panose="020B0604020202020204" pitchFamily="34" charset="0"/>
              </a:rPr>
              <a:t>R1 initiation</a:t>
            </a:r>
          </a:p>
          <a:p>
            <a:pPr eaLnBrk="1" hangingPunct="1"/>
            <a:r>
              <a:rPr lang="en-GB" altLang="en-US" dirty="0">
                <a:latin typeface="Arial" panose="020B0604020202020204" pitchFamily="34" charset="0"/>
                <a:ea typeface="ＭＳ Ｐゴシック" panose="020B0600070205080204" pitchFamily="34" charset="-128"/>
                <a:cs typeface="Arial" panose="020B0604020202020204" pitchFamily="34" charset="0"/>
              </a:rPr>
              <a:t>R2, R3 rapid reactions R2 only known way of making O3 in </a:t>
            </a:r>
            <a:r>
              <a:rPr lang="en-GB" altLang="en-US" dirty="0" err="1">
                <a:latin typeface="Arial" panose="020B0604020202020204" pitchFamily="34" charset="0"/>
                <a:ea typeface="ＭＳ Ｐゴシック" panose="020B0600070205080204" pitchFamily="34" charset="-128"/>
                <a:cs typeface="Arial" panose="020B0604020202020204" pitchFamily="34" charset="0"/>
              </a:rPr>
              <a:t>atmos</a:t>
            </a:r>
            <a:endParaRPr lang="en-GB" altLang="en-US" dirty="0">
              <a:latin typeface="Arial" panose="020B0604020202020204" pitchFamily="34" charset="0"/>
              <a:ea typeface="ＭＳ Ｐゴシック" panose="020B0600070205080204" pitchFamily="34" charset="-128"/>
              <a:cs typeface="Arial" panose="020B0604020202020204" pitchFamily="34" charset="0"/>
            </a:endParaRPr>
          </a:p>
          <a:p>
            <a:pPr eaLnBrk="1" hangingPunct="1"/>
            <a:r>
              <a:rPr lang="en-GB" altLang="en-US" dirty="0">
                <a:latin typeface="Arial" panose="020B0604020202020204" pitchFamily="34" charset="0"/>
                <a:ea typeface="ＭＳ Ｐゴシック" panose="020B0600070205080204" pitchFamily="34" charset="-128"/>
                <a:cs typeface="Arial" panose="020B0604020202020204" pitchFamily="34" charset="0"/>
              </a:rPr>
              <a:t>R4 termination step </a:t>
            </a:r>
          </a:p>
          <a:p>
            <a:pPr eaLnBrk="1" hangingPunct="1"/>
            <a:r>
              <a:rPr lang="en-GB" altLang="en-US" dirty="0">
                <a:latin typeface="Arial" panose="020B0604020202020204" pitchFamily="34" charset="0"/>
                <a:ea typeface="ＭＳ Ｐゴシック" panose="020B0600070205080204" pitchFamily="34" charset="-128"/>
                <a:cs typeface="Arial" panose="020B0604020202020204" pitchFamily="34" charset="0"/>
              </a:rPr>
              <a:t>R5 so slow you can ignore it</a:t>
            </a:r>
          </a:p>
          <a:p>
            <a:pPr eaLnBrk="1" hangingPunct="1"/>
            <a:endParaRPr lang="en-GB" altLang="en-US" dirty="0">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altLang="en-US" sz="1200" baseline="0" dirty="0">
                <a:solidFill>
                  <a:schemeClr val="bg1"/>
                </a:solidFill>
                <a:latin typeface="Arial" panose="020B0604020202020204" pitchFamily="34" charset="0"/>
              </a:rPr>
              <a:t>Temperature </a:t>
            </a:r>
            <a:r>
              <a:rPr lang="en-GB" altLang="en-US" sz="1200" u="sng" baseline="0" dirty="0">
                <a:solidFill>
                  <a:schemeClr val="bg1"/>
                </a:solidFill>
                <a:latin typeface="Arial" panose="020B0604020202020204" pitchFamily="34" charset="0"/>
              </a:rPr>
              <a:t>increases</a:t>
            </a:r>
            <a:r>
              <a:rPr lang="en-GB" altLang="en-US" sz="1200" baseline="0" dirty="0">
                <a:solidFill>
                  <a:schemeClr val="bg1"/>
                </a:solidFill>
                <a:latin typeface="Arial" panose="020B0604020202020204" pitchFamily="34" charset="0"/>
              </a:rPr>
              <a:t> with height through the </a:t>
            </a:r>
            <a:r>
              <a:rPr lang="en-GB" altLang="en-US" sz="1200" u="sng" baseline="0" dirty="0">
                <a:solidFill>
                  <a:schemeClr val="bg1"/>
                </a:solidFill>
                <a:latin typeface="Arial" panose="020B0604020202020204" pitchFamily="34" charset="0"/>
              </a:rPr>
              <a:t>stratosphere</a:t>
            </a:r>
            <a:r>
              <a:rPr lang="en-GB" altLang="en-US" sz="1200" baseline="0" dirty="0">
                <a:solidFill>
                  <a:schemeClr val="bg1"/>
                </a:solidFill>
                <a:latin typeface="Arial" panose="020B0604020202020204" pitchFamily="34" charset="0"/>
              </a:rPr>
              <a:t> – heat is released as a result of photolysis of O</a:t>
            </a:r>
            <a:r>
              <a:rPr lang="en-GB" altLang="en-US" sz="1200" baseline="-25000" dirty="0">
                <a:solidFill>
                  <a:schemeClr val="bg1"/>
                </a:solidFill>
                <a:latin typeface="Arial" panose="020B0604020202020204" pitchFamily="34" charset="0"/>
              </a:rPr>
              <a:t>2</a:t>
            </a:r>
            <a:r>
              <a:rPr lang="en-GB" altLang="en-US" sz="1200" baseline="0" dirty="0">
                <a:solidFill>
                  <a:schemeClr val="bg1"/>
                </a:solidFill>
                <a:latin typeface="Arial" panose="020B0604020202020204" pitchFamily="34" charset="0"/>
              </a:rPr>
              <a:t> and O</a:t>
            </a:r>
            <a:r>
              <a:rPr lang="en-GB" altLang="en-US" sz="1200" baseline="-25000" dirty="0">
                <a:solidFill>
                  <a:schemeClr val="bg1"/>
                </a:solidFill>
                <a:latin typeface="Arial" panose="020B0604020202020204" pitchFamily="34" charset="0"/>
              </a:rPr>
              <a:t>3</a:t>
            </a:r>
            <a:r>
              <a:rPr lang="en-GB" altLang="en-US" sz="1200" baseline="0" dirty="0">
                <a:solidFill>
                  <a:schemeClr val="bg1"/>
                </a:solidFill>
                <a:latin typeface="Arial" panose="020B0604020202020204" pitchFamily="34" charset="0"/>
              </a:rPr>
              <a:t> by UV radiation – the Chapman cycle.</a:t>
            </a:r>
            <a:endParaRPr lang="en-GB" altLang="en-US" dirty="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4180021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6"/>
          <p:cNvSpPr>
            <a:spLocks noGrp="1" noChangeArrowheads="1"/>
          </p:cNvSpPr>
          <p:nvPr>
            <p:ph type="ftr" sz="quarter" idx="4"/>
          </p:nvPr>
        </p:nvSpPr>
        <p:spPr>
          <a:noFill/>
        </p:spPr>
        <p:txBody>
          <a:bodyPr/>
          <a:lstStyle>
            <a:lvl1pPr defTabSz="996950" eaLnBrk="0" hangingPunct="0">
              <a:spcBef>
                <a:spcPct val="30000"/>
              </a:spcBef>
              <a:defRPr sz="1200">
                <a:solidFill>
                  <a:schemeClr val="tx1"/>
                </a:solidFill>
                <a:latin typeface="Times New Roman" panose="02020603050405020304" pitchFamily="18" charset="0"/>
              </a:defRPr>
            </a:lvl1pPr>
            <a:lvl2pPr marL="742950" indent="-285750" defTabSz="996950" eaLnBrk="0" hangingPunct="0">
              <a:spcBef>
                <a:spcPct val="30000"/>
              </a:spcBef>
              <a:defRPr sz="1200">
                <a:solidFill>
                  <a:schemeClr val="tx1"/>
                </a:solidFill>
                <a:latin typeface="Times New Roman" panose="02020603050405020304" pitchFamily="18" charset="0"/>
              </a:defRPr>
            </a:lvl2pPr>
            <a:lvl3pPr marL="1143000" indent="-228600" defTabSz="996950" eaLnBrk="0" hangingPunct="0">
              <a:spcBef>
                <a:spcPct val="30000"/>
              </a:spcBef>
              <a:defRPr sz="1200">
                <a:solidFill>
                  <a:schemeClr val="tx1"/>
                </a:solidFill>
                <a:latin typeface="Times New Roman" panose="02020603050405020304" pitchFamily="18" charset="0"/>
              </a:defRPr>
            </a:lvl3pPr>
            <a:lvl4pPr marL="1600200" indent="-228600" defTabSz="996950" eaLnBrk="0" hangingPunct="0">
              <a:spcBef>
                <a:spcPct val="30000"/>
              </a:spcBef>
              <a:defRPr sz="1200">
                <a:solidFill>
                  <a:schemeClr val="tx1"/>
                </a:solidFill>
                <a:latin typeface="Times New Roman" panose="02020603050405020304" pitchFamily="18" charset="0"/>
              </a:defRPr>
            </a:lvl4pPr>
            <a:lvl5pPr marL="2057400" indent="-228600" defTabSz="996950" eaLnBrk="0" hangingPunct="0">
              <a:spcBef>
                <a:spcPct val="30000"/>
              </a:spcBef>
              <a:defRPr sz="1200">
                <a:solidFill>
                  <a:schemeClr val="tx1"/>
                </a:solidFill>
                <a:latin typeface="Times New Roman" panose="02020603050405020304" pitchFamily="18" charset="0"/>
              </a:defRPr>
            </a:lvl5pPr>
            <a:lvl6pPr marL="2514600" indent="-228600" defTabSz="99695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695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695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695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r>
              <a:rPr lang="en-GB" altLang="en-US" sz="1300"/>
              <a:t>EART 20092 Biogeochemical Cycles Lecture 3 - Grant Allen</a:t>
            </a:r>
          </a:p>
        </p:txBody>
      </p:sp>
      <p:sp>
        <p:nvSpPr>
          <p:cNvPr id="52227" name="Rectangle 7"/>
          <p:cNvSpPr>
            <a:spLocks noGrp="1" noChangeArrowheads="1"/>
          </p:cNvSpPr>
          <p:nvPr>
            <p:ph type="sldNum" sz="quarter" idx="5"/>
          </p:nvPr>
        </p:nvSpPr>
        <p:spPr>
          <a:noFill/>
        </p:spPr>
        <p:txBody>
          <a:bodyPr/>
          <a:lstStyle>
            <a:lvl1pPr defTabSz="996950" eaLnBrk="0" hangingPunct="0">
              <a:spcBef>
                <a:spcPct val="30000"/>
              </a:spcBef>
              <a:defRPr sz="1200">
                <a:solidFill>
                  <a:schemeClr val="tx1"/>
                </a:solidFill>
                <a:latin typeface="Times New Roman" panose="02020603050405020304" pitchFamily="18" charset="0"/>
              </a:defRPr>
            </a:lvl1pPr>
            <a:lvl2pPr marL="742950" indent="-285750" defTabSz="996950" eaLnBrk="0" hangingPunct="0">
              <a:spcBef>
                <a:spcPct val="30000"/>
              </a:spcBef>
              <a:defRPr sz="1200">
                <a:solidFill>
                  <a:schemeClr val="tx1"/>
                </a:solidFill>
                <a:latin typeface="Times New Roman" panose="02020603050405020304" pitchFamily="18" charset="0"/>
              </a:defRPr>
            </a:lvl2pPr>
            <a:lvl3pPr marL="1143000" indent="-228600" defTabSz="996950" eaLnBrk="0" hangingPunct="0">
              <a:spcBef>
                <a:spcPct val="30000"/>
              </a:spcBef>
              <a:defRPr sz="1200">
                <a:solidFill>
                  <a:schemeClr val="tx1"/>
                </a:solidFill>
                <a:latin typeface="Times New Roman" panose="02020603050405020304" pitchFamily="18" charset="0"/>
              </a:defRPr>
            </a:lvl3pPr>
            <a:lvl4pPr marL="1600200" indent="-228600" defTabSz="996950" eaLnBrk="0" hangingPunct="0">
              <a:spcBef>
                <a:spcPct val="30000"/>
              </a:spcBef>
              <a:defRPr sz="1200">
                <a:solidFill>
                  <a:schemeClr val="tx1"/>
                </a:solidFill>
                <a:latin typeface="Times New Roman" panose="02020603050405020304" pitchFamily="18" charset="0"/>
              </a:defRPr>
            </a:lvl4pPr>
            <a:lvl5pPr marL="2057400" indent="-228600" defTabSz="996950" eaLnBrk="0" hangingPunct="0">
              <a:spcBef>
                <a:spcPct val="30000"/>
              </a:spcBef>
              <a:defRPr sz="1200">
                <a:solidFill>
                  <a:schemeClr val="tx1"/>
                </a:solidFill>
                <a:latin typeface="Times New Roman" panose="02020603050405020304" pitchFamily="18" charset="0"/>
              </a:defRPr>
            </a:lvl5pPr>
            <a:lvl6pPr marL="2514600" indent="-228600" defTabSz="99695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695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695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695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D21246D5-710D-4274-89B7-4A38089AE51B}" type="slidenum">
              <a:rPr lang="en-GB" altLang="en-US" sz="1300"/>
              <a:pPr eaLnBrk="1" hangingPunct="1">
                <a:spcBef>
                  <a:spcPct val="0"/>
                </a:spcBef>
              </a:pPr>
              <a:t>8</a:t>
            </a:fld>
            <a:endParaRPr lang="en-GB" altLang="en-US" sz="1300"/>
          </a:p>
        </p:txBody>
      </p:sp>
      <p:sp>
        <p:nvSpPr>
          <p:cNvPr id="52228" name="Rectangle 2"/>
          <p:cNvSpPr>
            <a:spLocks noGrp="1" noRot="1" noChangeAspect="1" noChangeArrowheads="1" noTextEdit="1"/>
          </p:cNvSpPr>
          <p:nvPr>
            <p:ph type="sldImg"/>
          </p:nvPr>
        </p:nvSpPr>
        <p:spPr>
          <a:xfrm>
            <a:off x="425450" y="749300"/>
            <a:ext cx="5984875" cy="3741738"/>
          </a:xfrm>
          <a:ln/>
        </p:spPr>
      </p:sp>
      <p:sp>
        <p:nvSpPr>
          <p:cNvPr id="52229" name="Rectangle 3"/>
          <p:cNvSpPr>
            <a:spLocks noGrp="1" noChangeArrowheads="1"/>
          </p:cNvSpPr>
          <p:nvPr>
            <p:ph type="body" idx="1"/>
          </p:nvPr>
        </p:nvSpPr>
        <p:spPr>
          <a:xfrm>
            <a:off x="911225" y="4740275"/>
            <a:ext cx="5011738" cy="4489450"/>
          </a:xfrm>
          <a:noFill/>
        </p:spPr>
        <p: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lang="en-US" altLang="en-US" sz="3600" baseline="0" dirty="0">
                <a:solidFill>
                  <a:schemeClr val="bg1"/>
                </a:solidFill>
                <a:latin typeface="Arial" panose="020B0604020202020204" pitchFamily="34" charset="0"/>
              </a:rPr>
              <a:t>This perturbation can be either natural (e.g., chlorine from volcanic eruptions) or anthropogenic (e.g., chlorine from the breakdown or photolysis of chlorofluorocarbons).</a:t>
            </a:r>
          </a:p>
          <a:p>
            <a:pPr eaLnBrk="1" hangingPunct="1">
              <a:spcBef>
                <a:spcPct val="50000"/>
              </a:spcBef>
              <a:buFontTx/>
              <a:buNone/>
            </a:pPr>
            <a:endParaRPr lang="en-US" altLang="en-US" sz="3600" baseline="0" dirty="0">
              <a:solidFill>
                <a:schemeClr val="bg1"/>
              </a:solidFill>
              <a:latin typeface="Arial" panose="020B0604020202020204" pitchFamily="34" charset="0"/>
            </a:endParaRPr>
          </a:p>
          <a:p>
            <a:pPr eaLnBrk="1" hangingPunct="1">
              <a:spcBef>
                <a:spcPct val="50000"/>
              </a:spcBef>
              <a:buFontTx/>
              <a:buNone/>
            </a:pPr>
            <a:r>
              <a:rPr lang="en-US" altLang="en-US" sz="1200" baseline="0" dirty="0">
                <a:solidFill>
                  <a:schemeClr val="bg1"/>
                </a:solidFill>
                <a:latin typeface="Arial" panose="020B0604020202020204" pitchFamily="34" charset="0"/>
              </a:rPr>
              <a:t>This is a </a:t>
            </a:r>
            <a:r>
              <a:rPr lang="en-US" altLang="en-US" sz="1200" b="1" u="sng" baseline="0" dirty="0">
                <a:solidFill>
                  <a:schemeClr val="bg1"/>
                </a:solidFill>
                <a:latin typeface="Arial" panose="020B0604020202020204" pitchFamily="34" charset="0"/>
              </a:rPr>
              <a:t>catalytic</a:t>
            </a:r>
            <a:r>
              <a:rPr lang="en-US" altLang="en-US" sz="1200" baseline="0" dirty="0">
                <a:solidFill>
                  <a:schemeClr val="bg1"/>
                </a:solidFill>
                <a:latin typeface="Arial" panose="020B0604020202020204" pitchFamily="34" charset="0"/>
              </a:rPr>
              <a:t> cycle - ozone is destroyed and the reactant is recycled.</a:t>
            </a:r>
          </a:p>
          <a:p>
            <a:pPr eaLnBrk="1" hangingPunct="1">
              <a:spcBef>
                <a:spcPct val="50000"/>
              </a:spcBef>
              <a:buFontTx/>
              <a:buNone/>
            </a:pPr>
            <a:r>
              <a:rPr lang="en-US" altLang="en-US" sz="1200" baseline="0" dirty="0">
                <a:solidFill>
                  <a:schemeClr val="bg1"/>
                </a:solidFill>
                <a:latin typeface="Arial" panose="020B0604020202020204" pitchFamily="34" charset="0"/>
              </a:rPr>
              <a:t>OH is made from water </a:t>
            </a:r>
            <a:r>
              <a:rPr lang="en-US" altLang="en-US" sz="1200" baseline="0" dirty="0" err="1">
                <a:solidFill>
                  <a:schemeClr val="bg1"/>
                </a:solidFill>
                <a:latin typeface="Arial" panose="020B0604020202020204" pitchFamily="34" charset="0"/>
              </a:rPr>
              <a:t>vapour</a:t>
            </a:r>
            <a:r>
              <a:rPr lang="en-US" altLang="en-US" sz="1200" baseline="0" dirty="0">
                <a:solidFill>
                  <a:schemeClr val="bg1"/>
                </a:solidFill>
                <a:latin typeface="Arial" panose="020B0604020202020204" pitchFamily="34" charset="0"/>
              </a:rPr>
              <a:t>. Water </a:t>
            </a:r>
            <a:r>
              <a:rPr lang="en-US" altLang="en-US" sz="1200" baseline="0" dirty="0" err="1">
                <a:solidFill>
                  <a:schemeClr val="bg1"/>
                </a:solidFill>
                <a:latin typeface="Arial" panose="020B0604020202020204" pitchFamily="34" charset="0"/>
              </a:rPr>
              <a:t>vapour</a:t>
            </a:r>
            <a:r>
              <a:rPr lang="en-US" altLang="en-US" sz="1200" baseline="0" dirty="0">
                <a:solidFill>
                  <a:schemeClr val="bg1"/>
                </a:solidFill>
                <a:latin typeface="Arial" panose="020B0604020202020204" pitchFamily="34" charset="0"/>
              </a:rPr>
              <a:t> in the stratosphere is formed from the destruction of methane in the stratosphere</a:t>
            </a:r>
          </a:p>
          <a:p>
            <a:pPr eaLnBrk="1" hangingPunct="1">
              <a:spcBef>
                <a:spcPct val="50000"/>
              </a:spcBef>
              <a:buFontTx/>
              <a:buNone/>
            </a:pPr>
            <a:r>
              <a:rPr lang="en-US" altLang="en-US" sz="1200" baseline="0" dirty="0">
                <a:solidFill>
                  <a:schemeClr val="bg1"/>
                </a:solidFill>
                <a:latin typeface="Arial" panose="020B0604020202020204" pitchFamily="34" charset="0"/>
              </a:rPr>
              <a:t>NO comes from N</a:t>
            </a:r>
            <a:r>
              <a:rPr lang="en-US" altLang="en-US" sz="1200" baseline="-25000" dirty="0">
                <a:solidFill>
                  <a:schemeClr val="bg1"/>
                </a:solidFill>
                <a:latin typeface="Arial" panose="020B0604020202020204" pitchFamily="34" charset="0"/>
              </a:rPr>
              <a:t>2</a:t>
            </a:r>
            <a:r>
              <a:rPr lang="en-US" altLang="en-US" sz="1200" baseline="0" dirty="0">
                <a:solidFill>
                  <a:schemeClr val="bg1"/>
                </a:solidFill>
                <a:latin typeface="Arial" panose="020B0604020202020204" pitchFamily="34" charset="0"/>
              </a:rPr>
              <a:t>O, part of the nitrogen cycle</a:t>
            </a:r>
          </a:p>
          <a:p>
            <a:pPr eaLnBrk="1" hangingPunct="1">
              <a:spcBef>
                <a:spcPct val="50000"/>
              </a:spcBef>
              <a:buFontTx/>
              <a:buNone/>
            </a:pPr>
            <a:r>
              <a:rPr lang="en-US" altLang="en-US" sz="1200" baseline="0" dirty="0">
                <a:solidFill>
                  <a:schemeClr val="bg1"/>
                </a:solidFill>
                <a:latin typeface="Arial" panose="020B0604020202020204" pitchFamily="34" charset="0"/>
              </a:rPr>
              <a:t>Cl and Br arise from some naturally occurring organic halogens but have also increased substantially from long-lived CFCs</a:t>
            </a:r>
          </a:p>
          <a:p>
            <a:pPr eaLnBrk="1" hangingPunct="1"/>
            <a:endParaRPr lang="en-US" altLang="en-US" dirty="0"/>
          </a:p>
        </p:txBody>
      </p:sp>
    </p:spTree>
    <p:extLst>
      <p:ext uri="{BB962C8B-B14F-4D97-AF65-F5344CB8AC3E}">
        <p14:creationId xmlns:p14="http://schemas.microsoft.com/office/powerpoint/2010/main" val="31093485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6"/>
          <p:cNvSpPr>
            <a:spLocks noGrp="1" noChangeArrowheads="1"/>
          </p:cNvSpPr>
          <p:nvPr>
            <p:ph type="ftr" sz="quarter" idx="4"/>
          </p:nvPr>
        </p:nvSpPr>
        <p:spPr>
          <a:noFill/>
        </p:spPr>
        <p:txBody>
          <a:bodyPr/>
          <a:lstStyle>
            <a:lvl1pPr defTabSz="996950" eaLnBrk="0" hangingPunct="0">
              <a:spcBef>
                <a:spcPct val="30000"/>
              </a:spcBef>
              <a:defRPr sz="1200">
                <a:solidFill>
                  <a:schemeClr val="tx1"/>
                </a:solidFill>
                <a:latin typeface="Times New Roman" panose="02020603050405020304" pitchFamily="18" charset="0"/>
              </a:defRPr>
            </a:lvl1pPr>
            <a:lvl2pPr marL="742950" indent="-285750" defTabSz="996950" eaLnBrk="0" hangingPunct="0">
              <a:spcBef>
                <a:spcPct val="30000"/>
              </a:spcBef>
              <a:defRPr sz="1200">
                <a:solidFill>
                  <a:schemeClr val="tx1"/>
                </a:solidFill>
                <a:latin typeface="Times New Roman" panose="02020603050405020304" pitchFamily="18" charset="0"/>
              </a:defRPr>
            </a:lvl2pPr>
            <a:lvl3pPr marL="1143000" indent="-228600" defTabSz="996950" eaLnBrk="0" hangingPunct="0">
              <a:spcBef>
                <a:spcPct val="30000"/>
              </a:spcBef>
              <a:defRPr sz="1200">
                <a:solidFill>
                  <a:schemeClr val="tx1"/>
                </a:solidFill>
                <a:latin typeface="Times New Roman" panose="02020603050405020304" pitchFamily="18" charset="0"/>
              </a:defRPr>
            </a:lvl3pPr>
            <a:lvl4pPr marL="1600200" indent="-228600" defTabSz="996950" eaLnBrk="0" hangingPunct="0">
              <a:spcBef>
                <a:spcPct val="30000"/>
              </a:spcBef>
              <a:defRPr sz="1200">
                <a:solidFill>
                  <a:schemeClr val="tx1"/>
                </a:solidFill>
                <a:latin typeface="Times New Roman" panose="02020603050405020304" pitchFamily="18" charset="0"/>
              </a:defRPr>
            </a:lvl4pPr>
            <a:lvl5pPr marL="2057400" indent="-228600" defTabSz="996950" eaLnBrk="0" hangingPunct="0">
              <a:spcBef>
                <a:spcPct val="30000"/>
              </a:spcBef>
              <a:defRPr sz="1200">
                <a:solidFill>
                  <a:schemeClr val="tx1"/>
                </a:solidFill>
                <a:latin typeface="Times New Roman" panose="02020603050405020304" pitchFamily="18" charset="0"/>
              </a:defRPr>
            </a:lvl5pPr>
            <a:lvl6pPr marL="2514600" indent="-228600" defTabSz="99695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695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695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695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r>
              <a:rPr lang="en-GB" altLang="en-US" sz="1300"/>
              <a:t>EART 20092 Biogeochemical Cycles Lecture 3 - Grant Allen</a:t>
            </a:r>
          </a:p>
        </p:txBody>
      </p:sp>
      <p:sp>
        <p:nvSpPr>
          <p:cNvPr id="52227" name="Rectangle 7"/>
          <p:cNvSpPr>
            <a:spLocks noGrp="1" noChangeArrowheads="1"/>
          </p:cNvSpPr>
          <p:nvPr>
            <p:ph type="sldNum" sz="quarter" idx="5"/>
          </p:nvPr>
        </p:nvSpPr>
        <p:spPr>
          <a:noFill/>
        </p:spPr>
        <p:txBody>
          <a:bodyPr/>
          <a:lstStyle>
            <a:lvl1pPr defTabSz="996950" eaLnBrk="0" hangingPunct="0">
              <a:spcBef>
                <a:spcPct val="30000"/>
              </a:spcBef>
              <a:defRPr sz="1200">
                <a:solidFill>
                  <a:schemeClr val="tx1"/>
                </a:solidFill>
                <a:latin typeface="Times New Roman" panose="02020603050405020304" pitchFamily="18" charset="0"/>
              </a:defRPr>
            </a:lvl1pPr>
            <a:lvl2pPr marL="742950" indent="-285750" defTabSz="996950" eaLnBrk="0" hangingPunct="0">
              <a:spcBef>
                <a:spcPct val="30000"/>
              </a:spcBef>
              <a:defRPr sz="1200">
                <a:solidFill>
                  <a:schemeClr val="tx1"/>
                </a:solidFill>
                <a:latin typeface="Times New Roman" panose="02020603050405020304" pitchFamily="18" charset="0"/>
              </a:defRPr>
            </a:lvl2pPr>
            <a:lvl3pPr marL="1143000" indent="-228600" defTabSz="996950" eaLnBrk="0" hangingPunct="0">
              <a:spcBef>
                <a:spcPct val="30000"/>
              </a:spcBef>
              <a:defRPr sz="1200">
                <a:solidFill>
                  <a:schemeClr val="tx1"/>
                </a:solidFill>
                <a:latin typeface="Times New Roman" panose="02020603050405020304" pitchFamily="18" charset="0"/>
              </a:defRPr>
            </a:lvl3pPr>
            <a:lvl4pPr marL="1600200" indent="-228600" defTabSz="996950" eaLnBrk="0" hangingPunct="0">
              <a:spcBef>
                <a:spcPct val="30000"/>
              </a:spcBef>
              <a:defRPr sz="1200">
                <a:solidFill>
                  <a:schemeClr val="tx1"/>
                </a:solidFill>
                <a:latin typeface="Times New Roman" panose="02020603050405020304" pitchFamily="18" charset="0"/>
              </a:defRPr>
            </a:lvl4pPr>
            <a:lvl5pPr marL="2057400" indent="-228600" defTabSz="996950" eaLnBrk="0" hangingPunct="0">
              <a:spcBef>
                <a:spcPct val="30000"/>
              </a:spcBef>
              <a:defRPr sz="1200">
                <a:solidFill>
                  <a:schemeClr val="tx1"/>
                </a:solidFill>
                <a:latin typeface="Times New Roman" panose="02020603050405020304" pitchFamily="18" charset="0"/>
              </a:defRPr>
            </a:lvl5pPr>
            <a:lvl6pPr marL="2514600" indent="-228600" defTabSz="99695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695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695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695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D21246D5-710D-4274-89B7-4A38089AE51B}" type="slidenum">
              <a:rPr lang="en-GB" altLang="en-US" sz="1300"/>
              <a:pPr eaLnBrk="1" hangingPunct="1">
                <a:spcBef>
                  <a:spcPct val="0"/>
                </a:spcBef>
              </a:pPr>
              <a:t>9</a:t>
            </a:fld>
            <a:endParaRPr lang="en-GB" altLang="en-US" sz="1300"/>
          </a:p>
        </p:txBody>
      </p:sp>
      <p:sp>
        <p:nvSpPr>
          <p:cNvPr id="52228" name="Rectangle 2"/>
          <p:cNvSpPr>
            <a:spLocks noGrp="1" noRot="1" noChangeAspect="1" noChangeArrowheads="1" noTextEdit="1"/>
          </p:cNvSpPr>
          <p:nvPr>
            <p:ph type="sldImg"/>
          </p:nvPr>
        </p:nvSpPr>
        <p:spPr>
          <a:xfrm>
            <a:off x="425450" y="749300"/>
            <a:ext cx="5984875" cy="3741738"/>
          </a:xfrm>
          <a:ln/>
        </p:spPr>
      </p:sp>
      <p:sp>
        <p:nvSpPr>
          <p:cNvPr id="52229" name="Rectangle 3"/>
          <p:cNvSpPr>
            <a:spLocks noGrp="1" noChangeArrowheads="1"/>
          </p:cNvSpPr>
          <p:nvPr>
            <p:ph type="body" idx="1"/>
          </p:nvPr>
        </p:nvSpPr>
        <p:spPr>
          <a:xfrm>
            <a:off x="911225" y="4740275"/>
            <a:ext cx="5011738" cy="4489450"/>
          </a:xfrm>
          <a:noFill/>
        </p:spPr>
        <p:txBody>
          <a:bodyPr/>
          <a:lstStyle/>
          <a:p>
            <a:pPr eaLnBrk="1" hangingPunct="1">
              <a:spcBef>
                <a:spcPct val="50000"/>
              </a:spcBef>
              <a:buFontTx/>
              <a:buNone/>
            </a:pPr>
            <a:r>
              <a:rPr lang="en-US" altLang="en-US" sz="3600" baseline="0" dirty="0">
                <a:solidFill>
                  <a:schemeClr val="bg1"/>
                </a:solidFill>
                <a:latin typeface="Arial" panose="020B0604020202020204" pitchFamily="34" charset="0"/>
              </a:rPr>
              <a:t>This perturbation can be either natural (e.g., chlorine from volcanic eruptions) or anthropogenic (e.g., chlorine from the breakdown or photolysis of chlorofluorocarbons).</a:t>
            </a:r>
          </a:p>
          <a:p>
            <a:pPr eaLnBrk="1" hangingPunct="1">
              <a:spcBef>
                <a:spcPct val="50000"/>
              </a:spcBef>
              <a:buFontTx/>
              <a:buNone/>
            </a:pPr>
            <a:endParaRPr lang="en-US" altLang="en-US" sz="1200" baseline="0" dirty="0">
              <a:solidFill>
                <a:schemeClr val="bg1"/>
              </a:solidFill>
              <a:latin typeface="Arial" panose="020B0604020202020204" pitchFamily="34" charset="0"/>
            </a:endParaRPr>
          </a:p>
          <a:p>
            <a:pPr eaLnBrk="1" hangingPunct="1">
              <a:spcBef>
                <a:spcPct val="50000"/>
              </a:spcBef>
              <a:buFontTx/>
              <a:buNone/>
            </a:pPr>
            <a:endParaRPr lang="en-US" altLang="en-US" sz="1200" baseline="0" dirty="0">
              <a:solidFill>
                <a:schemeClr val="bg1"/>
              </a:solidFill>
              <a:latin typeface="Arial" panose="020B0604020202020204" pitchFamily="34" charset="0"/>
            </a:endParaRPr>
          </a:p>
          <a:p>
            <a:pPr eaLnBrk="1" hangingPunct="1">
              <a:spcBef>
                <a:spcPct val="50000"/>
              </a:spcBef>
              <a:buFontTx/>
              <a:buNone/>
            </a:pPr>
            <a:r>
              <a:rPr lang="en-US" altLang="en-US" sz="1200" baseline="0" dirty="0">
                <a:solidFill>
                  <a:schemeClr val="bg1"/>
                </a:solidFill>
                <a:latin typeface="Arial" panose="020B0604020202020204" pitchFamily="34" charset="0"/>
              </a:rPr>
              <a:t>This is a </a:t>
            </a:r>
            <a:r>
              <a:rPr lang="en-US" altLang="en-US" sz="1200" b="1" u="sng" baseline="0" dirty="0">
                <a:solidFill>
                  <a:schemeClr val="bg1"/>
                </a:solidFill>
                <a:latin typeface="Arial" panose="020B0604020202020204" pitchFamily="34" charset="0"/>
              </a:rPr>
              <a:t>catalytic</a:t>
            </a:r>
            <a:r>
              <a:rPr lang="en-US" altLang="en-US" sz="1200" baseline="0" dirty="0">
                <a:solidFill>
                  <a:schemeClr val="bg1"/>
                </a:solidFill>
                <a:latin typeface="Arial" panose="020B0604020202020204" pitchFamily="34" charset="0"/>
              </a:rPr>
              <a:t> cycle - ozone is destroyed and the reactant is recycled.</a:t>
            </a:r>
          </a:p>
          <a:p>
            <a:pPr eaLnBrk="1" hangingPunct="1">
              <a:spcBef>
                <a:spcPct val="50000"/>
              </a:spcBef>
              <a:buFontTx/>
              <a:buNone/>
            </a:pPr>
            <a:r>
              <a:rPr lang="en-US" altLang="en-US" sz="1200" baseline="0" dirty="0">
                <a:solidFill>
                  <a:schemeClr val="bg1"/>
                </a:solidFill>
                <a:latin typeface="Arial" panose="020B0604020202020204" pitchFamily="34" charset="0"/>
              </a:rPr>
              <a:t>OH is made from water </a:t>
            </a:r>
            <a:r>
              <a:rPr lang="en-US" altLang="en-US" sz="1200" baseline="0" dirty="0" err="1">
                <a:solidFill>
                  <a:schemeClr val="bg1"/>
                </a:solidFill>
                <a:latin typeface="Arial" panose="020B0604020202020204" pitchFamily="34" charset="0"/>
              </a:rPr>
              <a:t>vapour</a:t>
            </a:r>
            <a:r>
              <a:rPr lang="en-US" altLang="en-US" sz="1200" baseline="0" dirty="0">
                <a:solidFill>
                  <a:schemeClr val="bg1"/>
                </a:solidFill>
                <a:latin typeface="Arial" panose="020B0604020202020204" pitchFamily="34" charset="0"/>
              </a:rPr>
              <a:t>. Water </a:t>
            </a:r>
            <a:r>
              <a:rPr lang="en-US" altLang="en-US" sz="1200" baseline="0" dirty="0" err="1">
                <a:solidFill>
                  <a:schemeClr val="bg1"/>
                </a:solidFill>
                <a:latin typeface="Arial" panose="020B0604020202020204" pitchFamily="34" charset="0"/>
              </a:rPr>
              <a:t>vapour</a:t>
            </a:r>
            <a:r>
              <a:rPr lang="en-US" altLang="en-US" sz="1200" baseline="0" dirty="0">
                <a:solidFill>
                  <a:schemeClr val="bg1"/>
                </a:solidFill>
                <a:latin typeface="Arial" panose="020B0604020202020204" pitchFamily="34" charset="0"/>
              </a:rPr>
              <a:t> in the stratosphere is formed from the destruction of methane in the stratosphere</a:t>
            </a:r>
          </a:p>
          <a:p>
            <a:pPr eaLnBrk="1" hangingPunct="1">
              <a:spcBef>
                <a:spcPct val="50000"/>
              </a:spcBef>
              <a:buFontTx/>
              <a:buNone/>
            </a:pPr>
            <a:r>
              <a:rPr lang="en-US" altLang="en-US" sz="1200" baseline="0" dirty="0">
                <a:solidFill>
                  <a:schemeClr val="bg1"/>
                </a:solidFill>
                <a:latin typeface="Arial" panose="020B0604020202020204" pitchFamily="34" charset="0"/>
              </a:rPr>
              <a:t>NO comes from N</a:t>
            </a:r>
            <a:r>
              <a:rPr lang="en-US" altLang="en-US" sz="1200" baseline="-25000" dirty="0">
                <a:solidFill>
                  <a:schemeClr val="bg1"/>
                </a:solidFill>
                <a:latin typeface="Arial" panose="020B0604020202020204" pitchFamily="34" charset="0"/>
              </a:rPr>
              <a:t>2</a:t>
            </a:r>
            <a:r>
              <a:rPr lang="en-US" altLang="en-US" sz="1200" baseline="0" dirty="0">
                <a:solidFill>
                  <a:schemeClr val="bg1"/>
                </a:solidFill>
                <a:latin typeface="Arial" panose="020B0604020202020204" pitchFamily="34" charset="0"/>
              </a:rPr>
              <a:t>O, part of the nitrogen cycle</a:t>
            </a:r>
          </a:p>
          <a:p>
            <a:pPr eaLnBrk="1" hangingPunct="1">
              <a:spcBef>
                <a:spcPct val="50000"/>
              </a:spcBef>
              <a:buFontTx/>
              <a:buNone/>
            </a:pPr>
            <a:r>
              <a:rPr lang="en-US" altLang="en-US" sz="1200" baseline="0" dirty="0">
                <a:solidFill>
                  <a:schemeClr val="bg1"/>
                </a:solidFill>
                <a:latin typeface="Arial" panose="020B0604020202020204" pitchFamily="34" charset="0"/>
              </a:rPr>
              <a:t>Cl and Br arise from some naturally occurring organic halogens but have also increased substantially from long-lived CFCs</a:t>
            </a:r>
          </a:p>
          <a:p>
            <a:pPr eaLnBrk="1" hangingPunct="1"/>
            <a:endParaRPr lang="en-US" altLang="en-US" dirty="0"/>
          </a:p>
        </p:txBody>
      </p:sp>
    </p:spTree>
    <p:extLst>
      <p:ext uri="{BB962C8B-B14F-4D97-AF65-F5344CB8AC3E}">
        <p14:creationId xmlns:p14="http://schemas.microsoft.com/office/powerpoint/2010/main" val="11904561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6"/>
          <p:cNvSpPr>
            <a:spLocks noGrp="1" noChangeArrowheads="1"/>
          </p:cNvSpPr>
          <p:nvPr>
            <p:ph type="ftr" sz="quarter" idx="4"/>
          </p:nvPr>
        </p:nvSpPr>
        <p:spPr>
          <a:noFill/>
        </p:spPr>
        <p:txBody>
          <a:bodyPr/>
          <a:lstStyle>
            <a:lvl1pPr defTabSz="996950" eaLnBrk="0" hangingPunct="0">
              <a:spcBef>
                <a:spcPct val="30000"/>
              </a:spcBef>
              <a:defRPr sz="1200">
                <a:solidFill>
                  <a:schemeClr val="tx1"/>
                </a:solidFill>
                <a:latin typeface="Times New Roman" panose="02020603050405020304" pitchFamily="18" charset="0"/>
              </a:defRPr>
            </a:lvl1pPr>
            <a:lvl2pPr marL="742950" indent="-285750" defTabSz="996950" eaLnBrk="0" hangingPunct="0">
              <a:spcBef>
                <a:spcPct val="30000"/>
              </a:spcBef>
              <a:defRPr sz="1200">
                <a:solidFill>
                  <a:schemeClr val="tx1"/>
                </a:solidFill>
                <a:latin typeface="Times New Roman" panose="02020603050405020304" pitchFamily="18" charset="0"/>
              </a:defRPr>
            </a:lvl2pPr>
            <a:lvl3pPr marL="1143000" indent="-228600" defTabSz="996950" eaLnBrk="0" hangingPunct="0">
              <a:spcBef>
                <a:spcPct val="30000"/>
              </a:spcBef>
              <a:defRPr sz="1200">
                <a:solidFill>
                  <a:schemeClr val="tx1"/>
                </a:solidFill>
                <a:latin typeface="Times New Roman" panose="02020603050405020304" pitchFamily="18" charset="0"/>
              </a:defRPr>
            </a:lvl3pPr>
            <a:lvl4pPr marL="1600200" indent="-228600" defTabSz="996950" eaLnBrk="0" hangingPunct="0">
              <a:spcBef>
                <a:spcPct val="30000"/>
              </a:spcBef>
              <a:defRPr sz="1200">
                <a:solidFill>
                  <a:schemeClr val="tx1"/>
                </a:solidFill>
                <a:latin typeface="Times New Roman" panose="02020603050405020304" pitchFamily="18" charset="0"/>
              </a:defRPr>
            </a:lvl4pPr>
            <a:lvl5pPr marL="2057400" indent="-228600" defTabSz="996950" eaLnBrk="0" hangingPunct="0">
              <a:spcBef>
                <a:spcPct val="30000"/>
              </a:spcBef>
              <a:defRPr sz="1200">
                <a:solidFill>
                  <a:schemeClr val="tx1"/>
                </a:solidFill>
                <a:latin typeface="Times New Roman" panose="02020603050405020304" pitchFamily="18" charset="0"/>
              </a:defRPr>
            </a:lvl5pPr>
            <a:lvl6pPr marL="2514600" indent="-228600" defTabSz="99695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695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695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695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r>
              <a:rPr lang="en-GB" altLang="en-US" sz="1300"/>
              <a:t>EART 20092 Biogeochemical Cycles Lecture 3 - Grant Allen</a:t>
            </a:r>
          </a:p>
        </p:txBody>
      </p:sp>
      <p:sp>
        <p:nvSpPr>
          <p:cNvPr id="52227" name="Rectangle 7"/>
          <p:cNvSpPr>
            <a:spLocks noGrp="1" noChangeArrowheads="1"/>
          </p:cNvSpPr>
          <p:nvPr>
            <p:ph type="sldNum" sz="quarter" idx="5"/>
          </p:nvPr>
        </p:nvSpPr>
        <p:spPr>
          <a:noFill/>
        </p:spPr>
        <p:txBody>
          <a:bodyPr/>
          <a:lstStyle>
            <a:lvl1pPr defTabSz="996950" eaLnBrk="0" hangingPunct="0">
              <a:spcBef>
                <a:spcPct val="30000"/>
              </a:spcBef>
              <a:defRPr sz="1200">
                <a:solidFill>
                  <a:schemeClr val="tx1"/>
                </a:solidFill>
                <a:latin typeface="Times New Roman" panose="02020603050405020304" pitchFamily="18" charset="0"/>
              </a:defRPr>
            </a:lvl1pPr>
            <a:lvl2pPr marL="742950" indent="-285750" defTabSz="996950" eaLnBrk="0" hangingPunct="0">
              <a:spcBef>
                <a:spcPct val="30000"/>
              </a:spcBef>
              <a:defRPr sz="1200">
                <a:solidFill>
                  <a:schemeClr val="tx1"/>
                </a:solidFill>
                <a:latin typeface="Times New Roman" panose="02020603050405020304" pitchFamily="18" charset="0"/>
              </a:defRPr>
            </a:lvl2pPr>
            <a:lvl3pPr marL="1143000" indent="-228600" defTabSz="996950" eaLnBrk="0" hangingPunct="0">
              <a:spcBef>
                <a:spcPct val="30000"/>
              </a:spcBef>
              <a:defRPr sz="1200">
                <a:solidFill>
                  <a:schemeClr val="tx1"/>
                </a:solidFill>
                <a:latin typeface="Times New Roman" panose="02020603050405020304" pitchFamily="18" charset="0"/>
              </a:defRPr>
            </a:lvl3pPr>
            <a:lvl4pPr marL="1600200" indent="-228600" defTabSz="996950" eaLnBrk="0" hangingPunct="0">
              <a:spcBef>
                <a:spcPct val="30000"/>
              </a:spcBef>
              <a:defRPr sz="1200">
                <a:solidFill>
                  <a:schemeClr val="tx1"/>
                </a:solidFill>
                <a:latin typeface="Times New Roman" panose="02020603050405020304" pitchFamily="18" charset="0"/>
              </a:defRPr>
            </a:lvl4pPr>
            <a:lvl5pPr marL="2057400" indent="-228600" defTabSz="996950" eaLnBrk="0" hangingPunct="0">
              <a:spcBef>
                <a:spcPct val="30000"/>
              </a:spcBef>
              <a:defRPr sz="1200">
                <a:solidFill>
                  <a:schemeClr val="tx1"/>
                </a:solidFill>
                <a:latin typeface="Times New Roman" panose="02020603050405020304" pitchFamily="18" charset="0"/>
              </a:defRPr>
            </a:lvl5pPr>
            <a:lvl6pPr marL="2514600" indent="-228600" defTabSz="99695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695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695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695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D21246D5-710D-4274-89B7-4A38089AE51B}" type="slidenum">
              <a:rPr lang="en-GB" altLang="en-US" sz="1300"/>
              <a:pPr eaLnBrk="1" hangingPunct="1">
                <a:spcBef>
                  <a:spcPct val="0"/>
                </a:spcBef>
              </a:pPr>
              <a:t>10</a:t>
            </a:fld>
            <a:endParaRPr lang="en-GB" altLang="en-US" sz="1300"/>
          </a:p>
        </p:txBody>
      </p:sp>
      <p:sp>
        <p:nvSpPr>
          <p:cNvPr id="52228" name="Rectangle 2"/>
          <p:cNvSpPr>
            <a:spLocks noGrp="1" noRot="1" noChangeAspect="1" noChangeArrowheads="1" noTextEdit="1"/>
          </p:cNvSpPr>
          <p:nvPr>
            <p:ph type="sldImg"/>
          </p:nvPr>
        </p:nvSpPr>
        <p:spPr>
          <a:xfrm>
            <a:off x="425450" y="749300"/>
            <a:ext cx="5984875" cy="3741738"/>
          </a:xfrm>
          <a:ln/>
        </p:spPr>
      </p:sp>
      <p:sp>
        <p:nvSpPr>
          <p:cNvPr id="52229" name="Rectangle 3"/>
          <p:cNvSpPr>
            <a:spLocks noGrp="1" noChangeArrowheads="1"/>
          </p:cNvSpPr>
          <p:nvPr>
            <p:ph type="body" idx="1"/>
          </p:nvPr>
        </p:nvSpPr>
        <p:spPr>
          <a:xfrm>
            <a:off x="911225" y="4740275"/>
            <a:ext cx="5011738" cy="4489450"/>
          </a:xfrm>
          <a:noFill/>
        </p:spPr>
        <p:txBody>
          <a:bodyPr/>
          <a:lstStyle/>
          <a:p>
            <a:pPr eaLnBrk="1" hangingPunct="1">
              <a:spcBef>
                <a:spcPct val="50000"/>
              </a:spcBef>
              <a:buFontTx/>
              <a:buNone/>
            </a:pPr>
            <a:endParaRPr lang="en-US" altLang="en-US" sz="3600" baseline="0" dirty="0">
              <a:solidFill>
                <a:schemeClr val="bg1"/>
              </a:solidFill>
              <a:latin typeface="Arial" panose="020B0604020202020204" pitchFamily="34" charset="0"/>
            </a:endParaRPr>
          </a:p>
          <a:p>
            <a:pPr eaLnBrk="1" hangingPunct="1">
              <a:spcBef>
                <a:spcPct val="50000"/>
              </a:spcBef>
              <a:buFontTx/>
              <a:buNone/>
            </a:pPr>
            <a:r>
              <a:rPr lang="en-US" altLang="en-US" sz="1200" baseline="0" dirty="0">
                <a:solidFill>
                  <a:schemeClr val="bg1"/>
                </a:solidFill>
                <a:latin typeface="Arial" panose="020B0604020202020204" pitchFamily="34" charset="0"/>
              </a:rPr>
              <a:t>This is a </a:t>
            </a:r>
            <a:r>
              <a:rPr lang="en-US" altLang="en-US" sz="1200" b="1" u="sng" baseline="0" dirty="0">
                <a:solidFill>
                  <a:schemeClr val="bg1"/>
                </a:solidFill>
                <a:latin typeface="Arial" panose="020B0604020202020204" pitchFamily="34" charset="0"/>
              </a:rPr>
              <a:t>catalytic</a:t>
            </a:r>
            <a:r>
              <a:rPr lang="en-US" altLang="en-US" sz="1200" baseline="0" dirty="0">
                <a:solidFill>
                  <a:schemeClr val="bg1"/>
                </a:solidFill>
                <a:latin typeface="Arial" panose="020B0604020202020204" pitchFamily="34" charset="0"/>
              </a:rPr>
              <a:t> cycle - ozone is destroyed and the reactant is recycled.</a:t>
            </a:r>
          </a:p>
          <a:p>
            <a:pPr eaLnBrk="1" hangingPunct="1">
              <a:spcBef>
                <a:spcPct val="50000"/>
              </a:spcBef>
              <a:buFontTx/>
              <a:buNone/>
            </a:pPr>
            <a:r>
              <a:rPr lang="en-US" altLang="en-US" sz="1200" baseline="0" dirty="0">
                <a:solidFill>
                  <a:schemeClr val="bg1"/>
                </a:solidFill>
                <a:latin typeface="Arial" panose="020B0604020202020204" pitchFamily="34" charset="0"/>
              </a:rPr>
              <a:t>OH is made from water </a:t>
            </a:r>
            <a:r>
              <a:rPr lang="en-US" altLang="en-US" sz="1200" baseline="0" dirty="0" err="1">
                <a:solidFill>
                  <a:schemeClr val="bg1"/>
                </a:solidFill>
                <a:latin typeface="Arial" panose="020B0604020202020204" pitchFamily="34" charset="0"/>
              </a:rPr>
              <a:t>vapour</a:t>
            </a:r>
            <a:r>
              <a:rPr lang="en-US" altLang="en-US" sz="1200" baseline="0" dirty="0">
                <a:solidFill>
                  <a:schemeClr val="bg1"/>
                </a:solidFill>
                <a:latin typeface="Arial" panose="020B0604020202020204" pitchFamily="34" charset="0"/>
              </a:rPr>
              <a:t>. Water </a:t>
            </a:r>
            <a:r>
              <a:rPr lang="en-US" altLang="en-US" sz="1200" baseline="0" dirty="0" err="1">
                <a:solidFill>
                  <a:schemeClr val="bg1"/>
                </a:solidFill>
                <a:latin typeface="Arial" panose="020B0604020202020204" pitchFamily="34" charset="0"/>
              </a:rPr>
              <a:t>vapour</a:t>
            </a:r>
            <a:r>
              <a:rPr lang="en-US" altLang="en-US" sz="1200" baseline="0" dirty="0">
                <a:solidFill>
                  <a:schemeClr val="bg1"/>
                </a:solidFill>
                <a:latin typeface="Arial" panose="020B0604020202020204" pitchFamily="34" charset="0"/>
              </a:rPr>
              <a:t> in the stratosphere is formed from the destruction of methane in the stratosphere</a:t>
            </a:r>
          </a:p>
          <a:p>
            <a:pPr eaLnBrk="1" hangingPunct="1">
              <a:spcBef>
                <a:spcPct val="50000"/>
              </a:spcBef>
              <a:buFontTx/>
              <a:buNone/>
            </a:pPr>
            <a:r>
              <a:rPr lang="en-US" altLang="en-US" sz="1200" baseline="0" dirty="0">
                <a:solidFill>
                  <a:schemeClr val="bg1"/>
                </a:solidFill>
                <a:latin typeface="Arial" panose="020B0604020202020204" pitchFamily="34" charset="0"/>
              </a:rPr>
              <a:t>NO comes from N</a:t>
            </a:r>
            <a:r>
              <a:rPr lang="en-US" altLang="en-US" sz="1200" baseline="-25000" dirty="0">
                <a:solidFill>
                  <a:schemeClr val="bg1"/>
                </a:solidFill>
                <a:latin typeface="Arial" panose="020B0604020202020204" pitchFamily="34" charset="0"/>
              </a:rPr>
              <a:t>2</a:t>
            </a:r>
            <a:r>
              <a:rPr lang="en-US" altLang="en-US" sz="1200" baseline="0" dirty="0">
                <a:solidFill>
                  <a:schemeClr val="bg1"/>
                </a:solidFill>
                <a:latin typeface="Arial" panose="020B0604020202020204" pitchFamily="34" charset="0"/>
              </a:rPr>
              <a:t>O, part of the nitrogen cycle</a:t>
            </a:r>
          </a:p>
          <a:p>
            <a:pPr eaLnBrk="1" hangingPunct="1">
              <a:spcBef>
                <a:spcPct val="50000"/>
              </a:spcBef>
              <a:buFontTx/>
              <a:buNone/>
            </a:pPr>
            <a:r>
              <a:rPr lang="en-US" altLang="en-US" sz="1200" baseline="0" dirty="0">
                <a:solidFill>
                  <a:schemeClr val="bg1"/>
                </a:solidFill>
                <a:latin typeface="Arial" panose="020B0604020202020204" pitchFamily="34" charset="0"/>
              </a:rPr>
              <a:t>Cl and Br arise from some naturally occurring organic halogens but have also increased substantially from long-lived CFCs</a:t>
            </a:r>
          </a:p>
          <a:p>
            <a:pPr eaLnBrk="1" hangingPunct="1"/>
            <a:endParaRPr lang="en-US" altLang="en-US" dirty="0"/>
          </a:p>
        </p:txBody>
      </p:sp>
    </p:spTree>
    <p:extLst>
      <p:ext uri="{BB962C8B-B14F-4D97-AF65-F5344CB8AC3E}">
        <p14:creationId xmlns:p14="http://schemas.microsoft.com/office/powerpoint/2010/main" val="31713777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6"/>
          <p:cNvSpPr>
            <a:spLocks noGrp="1" noChangeArrowheads="1"/>
          </p:cNvSpPr>
          <p:nvPr>
            <p:ph type="ftr" sz="quarter" idx="4"/>
          </p:nvPr>
        </p:nvSpPr>
        <p:spPr>
          <a:noFill/>
        </p:spPr>
        <p:txBody>
          <a:bodyPr/>
          <a:lstStyle>
            <a:lvl1pPr defTabSz="996950" eaLnBrk="0" hangingPunct="0">
              <a:spcBef>
                <a:spcPct val="30000"/>
              </a:spcBef>
              <a:defRPr sz="1200">
                <a:solidFill>
                  <a:schemeClr val="tx1"/>
                </a:solidFill>
                <a:latin typeface="Times New Roman" panose="02020603050405020304" pitchFamily="18" charset="0"/>
              </a:defRPr>
            </a:lvl1pPr>
            <a:lvl2pPr marL="742950" indent="-285750" defTabSz="996950" eaLnBrk="0" hangingPunct="0">
              <a:spcBef>
                <a:spcPct val="30000"/>
              </a:spcBef>
              <a:defRPr sz="1200">
                <a:solidFill>
                  <a:schemeClr val="tx1"/>
                </a:solidFill>
                <a:latin typeface="Times New Roman" panose="02020603050405020304" pitchFamily="18" charset="0"/>
              </a:defRPr>
            </a:lvl2pPr>
            <a:lvl3pPr marL="1143000" indent="-228600" defTabSz="996950" eaLnBrk="0" hangingPunct="0">
              <a:spcBef>
                <a:spcPct val="30000"/>
              </a:spcBef>
              <a:defRPr sz="1200">
                <a:solidFill>
                  <a:schemeClr val="tx1"/>
                </a:solidFill>
                <a:latin typeface="Times New Roman" panose="02020603050405020304" pitchFamily="18" charset="0"/>
              </a:defRPr>
            </a:lvl3pPr>
            <a:lvl4pPr marL="1600200" indent="-228600" defTabSz="996950" eaLnBrk="0" hangingPunct="0">
              <a:spcBef>
                <a:spcPct val="30000"/>
              </a:spcBef>
              <a:defRPr sz="1200">
                <a:solidFill>
                  <a:schemeClr val="tx1"/>
                </a:solidFill>
                <a:latin typeface="Times New Roman" panose="02020603050405020304" pitchFamily="18" charset="0"/>
              </a:defRPr>
            </a:lvl4pPr>
            <a:lvl5pPr marL="2057400" indent="-228600" defTabSz="996950" eaLnBrk="0" hangingPunct="0">
              <a:spcBef>
                <a:spcPct val="30000"/>
              </a:spcBef>
              <a:defRPr sz="1200">
                <a:solidFill>
                  <a:schemeClr val="tx1"/>
                </a:solidFill>
                <a:latin typeface="Times New Roman" panose="02020603050405020304" pitchFamily="18" charset="0"/>
              </a:defRPr>
            </a:lvl5pPr>
            <a:lvl6pPr marL="2514600" indent="-228600" defTabSz="99695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695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695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695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r>
              <a:rPr lang="en-GB" altLang="en-US" sz="1300"/>
              <a:t>EART 20092 Biogeochemical Cycles Lecture 3 - Grant Allen</a:t>
            </a:r>
          </a:p>
        </p:txBody>
      </p:sp>
      <p:sp>
        <p:nvSpPr>
          <p:cNvPr id="52227" name="Rectangle 7"/>
          <p:cNvSpPr>
            <a:spLocks noGrp="1" noChangeArrowheads="1"/>
          </p:cNvSpPr>
          <p:nvPr>
            <p:ph type="sldNum" sz="quarter" idx="5"/>
          </p:nvPr>
        </p:nvSpPr>
        <p:spPr>
          <a:noFill/>
        </p:spPr>
        <p:txBody>
          <a:bodyPr/>
          <a:lstStyle>
            <a:lvl1pPr defTabSz="996950" eaLnBrk="0" hangingPunct="0">
              <a:spcBef>
                <a:spcPct val="30000"/>
              </a:spcBef>
              <a:defRPr sz="1200">
                <a:solidFill>
                  <a:schemeClr val="tx1"/>
                </a:solidFill>
                <a:latin typeface="Times New Roman" panose="02020603050405020304" pitchFamily="18" charset="0"/>
              </a:defRPr>
            </a:lvl1pPr>
            <a:lvl2pPr marL="742950" indent="-285750" defTabSz="996950" eaLnBrk="0" hangingPunct="0">
              <a:spcBef>
                <a:spcPct val="30000"/>
              </a:spcBef>
              <a:defRPr sz="1200">
                <a:solidFill>
                  <a:schemeClr val="tx1"/>
                </a:solidFill>
                <a:latin typeface="Times New Roman" panose="02020603050405020304" pitchFamily="18" charset="0"/>
              </a:defRPr>
            </a:lvl2pPr>
            <a:lvl3pPr marL="1143000" indent="-228600" defTabSz="996950" eaLnBrk="0" hangingPunct="0">
              <a:spcBef>
                <a:spcPct val="30000"/>
              </a:spcBef>
              <a:defRPr sz="1200">
                <a:solidFill>
                  <a:schemeClr val="tx1"/>
                </a:solidFill>
                <a:latin typeface="Times New Roman" panose="02020603050405020304" pitchFamily="18" charset="0"/>
              </a:defRPr>
            </a:lvl3pPr>
            <a:lvl4pPr marL="1600200" indent="-228600" defTabSz="996950" eaLnBrk="0" hangingPunct="0">
              <a:spcBef>
                <a:spcPct val="30000"/>
              </a:spcBef>
              <a:defRPr sz="1200">
                <a:solidFill>
                  <a:schemeClr val="tx1"/>
                </a:solidFill>
                <a:latin typeface="Times New Roman" panose="02020603050405020304" pitchFamily="18" charset="0"/>
              </a:defRPr>
            </a:lvl4pPr>
            <a:lvl5pPr marL="2057400" indent="-228600" defTabSz="996950" eaLnBrk="0" hangingPunct="0">
              <a:spcBef>
                <a:spcPct val="30000"/>
              </a:spcBef>
              <a:defRPr sz="1200">
                <a:solidFill>
                  <a:schemeClr val="tx1"/>
                </a:solidFill>
                <a:latin typeface="Times New Roman" panose="02020603050405020304" pitchFamily="18" charset="0"/>
              </a:defRPr>
            </a:lvl5pPr>
            <a:lvl6pPr marL="2514600" indent="-228600" defTabSz="99695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695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695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695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D21246D5-710D-4274-89B7-4A38089AE51B}" type="slidenum">
              <a:rPr lang="en-GB" altLang="en-US" sz="1300"/>
              <a:pPr eaLnBrk="1" hangingPunct="1">
                <a:spcBef>
                  <a:spcPct val="0"/>
                </a:spcBef>
              </a:pPr>
              <a:t>11</a:t>
            </a:fld>
            <a:endParaRPr lang="en-GB" altLang="en-US" sz="1300"/>
          </a:p>
        </p:txBody>
      </p:sp>
      <p:sp>
        <p:nvSpPr>
          <p:cNvPr id="52228" name="Rectangle 2"/>
          <p:cNvSpPr>
            <a:spLocks noGrp="1" noRot="1" noChangeAspect="1" noChangeArrowheads="1" noTextEdit="1"/>
          </p:cNvSpPr>
          <p:nvPr>
            <p:ph type="sldImg"/>
          </p:nvPr>
        </p:nvSpPr>
        <p:spPr>
          <a:xfrm>
            <a:off x="425450" y="749300"/>
            <a:ext cx="5984875" cy="3741738"/>
          </a:xfrm>
          <a:ln/>
        </p:spPr>
      </p:sp>
      <p:sp>
        <p:nvSpPr>
          <p:cNvPr id="52229" name="Rectangle 3"/>
          <p:cNvSpPr>
            <a:spLocks noGrp="1" noChangeArrowheads="1"/>
          </p:cNvSpPr>
          <p:nvPr>
            <p:ph type="body" idx="1"/>
          </p:nvPr>
        </p:nvSpPr>
        <p:spPr>
          <a:xfrm>
            <a:off x="911225" y="4740275"/>
            <a:ext cx="5011738" cy="4489450"/>
          </a:xfrm>
          <a:noFill/>
        </p:spPr>
        <p:txBody>
          <a:bodyPr/>
          <a:lstStyle/>
          <a:p>
            <a:pPr eaLnBrk="1" hangingPunct="1">
              <a:spcBef>
                <a:spcPct val="50000"/>
              </a:spcBef>
              <a:buFontTx/>
              <a:buNone/>
            </a:pPr>
            <a:endParaRPr lang="en-US" altLang="en-US" sz="3600" baseline="0" dirty="0">
              <a:solidFill>
                <a:schemeClr val="bg1"/>
              </a:solidFill>
              <a:latin typeface="Arial" panose="020B0604020202020204" pitchFamily="34" charset="0"/>
            </a:endParaRPr>
          </a:p>
          <a:p>
            <a:pPr eaLnBrk="1" hangingPunct="1">
              <a:spcBef>
                <a:spcPct val="50000"/>
              </a:spcBef>
              <a:buFontTx/>
              <a:buNone/>
            </a:pPr>
            <a:r>
              <a:rPr lang="en-US" altLang="en-US" sz="1200" baseline="0" dirty="0">
                <a:solidFill>
                  <a:schemeClr val="bg1"/>
                </a:solidFill>
                <a:latin typeface="Arial" panose="020B0604020202020204" pitchFamily="34" charset="0"/>
              </a:rPr>
              <a:t>This is a </a:t>
            </a:r>
            <a:r>
              <a:rPr lang="en-US" altLang="en-US" sz="1200" b="1" u="sng" baseline="0" dirty="0">
                <a:solidFill>
                  <a:schemeClr val="bg1"/>
                </a:solidFill>
                <a:latin typeface="Arial" panose="020B0604020202020204" pitchFamily="34" charset="0"/>
              </a:rPr>
              <a:t>catalytic</a:t>
            </a:r>
            <a:r>
              <a:rPr lang="en-US" altLang="en-US" sz="1200" baseline="0" dirty="0">
                <a:solidFill>
                  <a:schemeClr val="bg1"/>
                </a:solidFill>
                <a:latin typeface="Arial" panose="020B0604020202020204" pitchFamily="34" charset="0"/>
              </a:rPr>
              <a:t> cycle - ozone is destroyed and the reactant is recycled.</a:t>
            </a:r>
          </a:p>
          <a:p>
            <a:pPr eaLnBrk="1" hangingPunct="1">
              <a:spcBef>
                <a:spcPct val="50000"/>
              </a:spcBef>
              <a:buFontTx/>
              <a:buNone/>
            </a:pPr>
            <a:r>
              <a:rPr lang="en-US" altLang="en-US" sz="1200" baseline="0" dirty="0">
                <a:solidFill>
                  <a:schemeClr val="bg1"/>
                </a:solidFill>
                <a:latin typeface="Arial" panose="020B0604020202020204" pitchFamily="34" charset="0"/>
              </a:rPr>
              <a:t>OH is made from water </a:t>
            </a:r>
            <a:r>
              <a:rPr lang="en-US" altLang="en-US" sz="1200" baseline="0" dirty="0" err="1">
                <a:solidFill>
                  <a:schemeClr val="bg1"/>
                </a:solidFill>
                <a:latin typeface="Arial" panose="020B0604020202020204" pitchFamily="34" charset="0"/>
              </a:rPr>
              <a:t>vapour</a:t>
            </a:r>
            <a:r>
              <a:rPr lang="en-US" altLang="en-US" sz="1200" baseline="0" dirty="0">
                <a:solidFill>
                  <a:schemeClr val="bg1"/>
                </a:solidFill>
                <a:latin typeface="Arial" panose="020B0604020202020204" pitchFamily="34" charset="0"/>
              </a:rPr>
              <a:t>. Water </a:t>
            </a:r>
            <a:r>
              <a:rPr lang="en-US" altLang="en-US" sz="1200" baseline="0" dirty="0" err="1">
                <a:solidFill>
                  <a:schemeClr val="bg1"/>
                </a:solidFill>
                <a:latin typeface="Arial" panose="020B0604020202020204" pitchFamily="34" charset="0"/>
              </a:rPr>
              <a:t>vapour</a:t>
            </a:r>
            <a:r>
              <a:rPr lang="en-US" altLang="en-US" sz="1200" baseline="0" dirty="0">
                <a:solidFill>
                  <a:schemeClr val="bg1"/>
                </a:solidFill>
                <a:latin typeface="Arial" panose="020B0604020202020204" pitchFamily="34" charset="0"/>
              </a:rPr>
              <a:t> in the stratosphere is formed from the destruction of methane in the stratosphere</a:t>
            </a:r>
          </a:p>
          <a:p>
            <a:pPr eaLnBrk="1" hangingPunct="1">
              <a:spcBef>
                <a:spcPct val="50000"/>
              </a:spcBef>
              <a:buFontTx/>
              <a:buNone/>
            </a:pPr>
            <a:r>
              <a:rPr lang="en-US" altLang="en-US" sz="1200" baseline="0" dirty="0">
                <a:solidFill>
                  <a:schemeClr val="bg1"/>
                </a:solidFill>
                <a:latin typeface="Arial" panose="020B0604020202020204" pitchFamily="34" charset="0"/>
              </a:rPr>
              <a:t>NO comes from N</a:t>
            </a:r>
            <a:r>
              <a:rPr lang="en-US" altLang="en-US" sz="1200" baseline="-25000" dirty="0">
                <a:solidFill>
                  <a:schemeClr val="bg1"/>
                </a:solidFill>
                <a:latin typeface="Arial" panose="020B0604020202020204" pitchFamily="34" charset="0"/>
              </a:rPr>
              <a:t>2</a:t>
            </a:r>
            <a:r>
              <a:rPr lang="en-US" altLang="en-US" sz="1200" baseline="0" dirty="0">
                <a:solidFill>
                  <a:schemeClr val="bg1"/>
                </a:solidFill>
                <a:latin typeface="Arial" panose="020B0604020202020204" pitchFamily="34" charset="0"/>
              </a:rPr>
              <a:t>O, part of the nitrogen cycle</a:t>
            </a:r>
          </a:p>
          <a:p>
            <a:pPr eaLnBrk="1" hangingPunct="1">
              <a:spcBef>
                <a:spcPct val="50000"/>
              </a:spcBef>
              <a:buFontTx/>
              <a:buNone/>
            </a:pPr>
            <a:r>
              <a:rPr lang="en-US" altLang="en-US" sz="1200" baseline="0" dirty="0">
                <a:solidFill>
                  <a:schemeClr val="bg1"/>
                </a:solidFill>
                <a:latin typeface="Arial" panose="020B0604020202020204" pitchFamily="34" charset="0"/>
              </a:rPr>
              <a:t>Cl and Br arise from some naturally occurring organic halogens but have also increased substantially from long-lived CFCs</a:t>
            </a:r>
          </a:p>
          <a:p>
            <a:pPr eaLnBrk="1" hangingPunct="1"/>
            <a:endParaRPr lang="en-US" altLang="en-US" dirty="0"/>
          </a:p>
        </p:txBody>
      </p:sp>
    </p:spTree>
    <p:extLst>
      <p:ext uri="{BB962C8B-B14F-4D97-AF65-F5344CB8AC3E}">
        <p14:creationId xmlns:p14="http://schemas.microsoft.com/office/powerpoint/2010/main" val="24390776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6"/>
          <p:cNvSpPr>
            <a:spLocks noGrp="1" noChangeArrowheads="1"/>
          </p:cNvSpPr>
          <p:nvPr>
            <p:ph type="ftr" sz="quarter" idx="4"/>
          </p:nvPr>
        </p:nvSpPr>
        <p:spPr>
          <a:noFill/>
        </p:spPr>
        <p:txBody>
          <a:bodyPr/>
          <a:lstStyle>
            <a:lvl1pPr defTabSz="996950" eaLnBrk="0" hangingPunct="0">
              <a:spcBef>
                <a:spcPct val="30000"/>
              </a:spcBef>
              <a:defRPr sz="1200">
                <a:solidFill>
                  <a:schemeClr val="tx1"/>
                </a:solidFill>
                <a:latin typeface="Times New Roman" panose="02020603050405020304" pitchFamily="18" charset="0"/>
              </a:defRPr>
            </a:lvl1pPr>
            <a:lvl2pPr marL="742950" indent="-285750" defTabSz="996950" eaLnBrk="0" hangingPunct="0">
              <a:spcBef>
                <a:spcPct val="30000"/>
              </a:spcBef>
              <a:defRPr sz="1200">
                <a:solidFill>
                  <a:schemeClr val="tx1"/>
                </a:solidFill>
                <a:latin typeface="Times New Roman" panose="02020603050405020304" pitchFamily="18" charset="0"/>
              </a:defRPr>
            </a:lvl2pPr>
            <a:lvl3pPr marL="1143000" indent="-228600" defTabSz="996950" eaLnBrk="0" hangingPunct="0">
              <a:spcBef>
                <a:spcPct val="30000"/>
              </a:spcBef>
              <a:defRPr sz="1200">
                <a:solidFill>
                  <a:schemeClr val="tx1"/>
                </a:solidFill>
                <a:latin typeface="Times New Roman" panose="02020603050405020304" pitchFamily="18" charset="0"/>
              </a:defRPr>
            </a:lvl3pPr>
            <a:lvl4pPr marL="1600200" indent="-228600" defTabSz="996950" eaLnBrk="0" hangingPunct="0">
              <a:spcBef>
                <a:spcPct val="30000"/>
              </a:spcBef>
              <a:defRPr sz="1200">
                <a:solidFill>
                  <a:schemeClr val="tx1"/>
                </a:solidFill>
                <a:latin typeface="Times New Roman" panose="02020603050405020304" pitchFamily="18" charset="0"/>
              </a:defRPr>
            </a:lvl4pPr>
            <a:lvl5pPr marL="2057400" indent="-228600" defTabSz="996950" eaLnBrk="0" hangingPunct="0">
              <a:spcBef>
                <a:spcPct val="30000"/>
              </a:spcBef>
              <a:defRPr sz="1200">
                <a:solidFill>
                  <a:schemeClr val="tx1"/>
                </a:solidFill>
                <a:latin typeface="Times New Roman" panose="02020603050405020304" pitchFamily="18" charset="0"/>
              </a:defRPr>
            </a:lvl5pPr>
            <a:lvl6pPr marL="2514600" indent="-228600" defTabSz="99695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695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695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695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r>
              <a:rPr lang="en-GB" altLang="en-US" sz="1300"/>
              <a:t>EART 20092 Biogeochemical Cycles Lecture 3 - Grant Allen</a:t>
            </a:r>
          </a:p>
        </p:txBody>
      </p:sp>
      <p:sp>
        <p:nvSpPr>
          <p:cNvPr id="52227" name="Rectangle 7"/>
          <p:cNvSpPr>
            <a:spLocks noGrp="1" noChangeArrowheads="1"/>
          </p:cNvSpPr>
          <p:nvPr>
            <p:ph type="sldNum" sz="quarter" idx="5"/>
          </p:nvPr>
        </p:nvSpPr>
        <p:spPr>
          <a:noFill/>
        </p:spPr>
        <p:txBody>
          <a:bodyPr/>
          <a:lstStyle>
            <a:lvl1pPr defTabSz="996950" eaLnBrk="0" hangingPunct="0">
              <a:spcBef>
                <a:spcPct val="30000"/>
              </a:spcBef>
              <a:defRPr sz="1200">
                <a:solidFill>
                  <a:schemeClr val="tx1"/>
                </a:solidFill>
                <a:latin typeface="Times New Roman" panose="02020603050405020304" pitchFamily="18" charset="0"/>
              </a:defRPr>
            </a:lvl1pPr>
            <a:lvl2pPr marL="742950" indent="-285750" defTabSz="996950" eaLnBrk="0" hangingPunct="0">
              <a:spcBef>
                <a:spcPct val="30000"/>
              </a:spcBef>
              <a:defRPr sz="1200">
                <a:solidFill>
                  <a:schemeClr val="tx1"/>
                </a:solidFill>
                <a:latin typeface="Times New Roman" panose="02020603050405020304" pitchFamily="18" charset="0"/>
              </a:defRPr>
            </a:lvl2pPr>
            <a:lvl3pPr marL="1143000" indent="-228600" defTabSz="996950" eaLnBrk="0" hangingPunct="0">
              <a:spcBef>
                <a:spcPct val="30000"/>
              </a:spcBef>
              <a:defRPr sz="1200">
                <a:solidFill>
                  <a:schemeClr val="tx1"/>
                </a:solidFill>
                <a:latin typeface="Times New Roman" panose="02020603050405020304" pitchFamily="18" charset="0"/>
              </a:defRPr>
            </a:lvl3pPr>
            <a:lvl4pPr marL="1600200" indent="-228600" defTabSz="996950" eaLnBrk="0" hangingPunct="0">
              <a:spcBef>
                <a:spcPct val="30000"/>
              </a:spcBef>
              <a:defRPr sz="1200">
                <a:solidFill>
                  <a:schemeClr val="tx1"/>
                </a:solidFill>
                <a:latin typeface="Times New Roman" panose="02020603050405020304" pitchFamily="18" charset="0"/>
              </a:defRPr>
            </a:lvl4pPr>
            <a:lvl5pPr marL="2057400" indent="-228600" defTabSz="996950" eaLnBrk="0" hangingPunct="0">
              <a:spcBef>
                <a:spcPct val="30000"/>
              </a:spcBef>
              <a:defRPr sz="1200">
                <a:solidFill>
                  <a:schemeClr val="tx1"/>
                </a:solidFill>
                <a:latin typeface="Times New Roman" panose="02020603050405020304" pitchFamily="18" charset="0"/>
              </a:defRPr>
            </a:lvl5pPr>
            <a:lvl6pPr marL="2514600" indent="-228600" defTabSz="99695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695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695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695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D21246D5-710D-4274-89B7-4A38089AE51B}" type="slidenum">
              <a:rPr lang="en-GB" altLang="en-US" sz="1300"/>
              <a:pPr eaLnBrk="1" hangingPunct="1">
                <a:spcBef>
                  <a:spcPct val="0"/>
                </a:spcBef>
              </a:pPr>
              <a:t>12</a:t>
            </a:fld>
            <a:endParaRPr lang="en-GB" altLang="en-US" sz="1300"/>
          </a:p>
        </p:txBody>
      </p:sp>
      <p:sp>
        <p:nvSpPr>
          <p:cNvPr id="52228" name="Rectangle 2"/>
          <p:cNvSpPr>
            <a:spLocks noGrp="1" noRot="1" noChangeAspect="1" noChangeArrowheads="1" noTextEdit="1"/>
          </p:cNvSpPr>
          <p:nvPr>
            <p:ph type="sldImg"/>
          </p:nvPr>
        </p:nvSpPr>
        <p:spPr>
          <a:xfrm>
            <a:off x="425450" y="749300"/>
            <a:ext cx="5984875" cy="3741738"/>
          </a:xfrm>
          <a:ln/>
        </p:spPr>
      </p:sp>
      <p:sp>
        <p:nvSpPr>
          <p:cNvPr id="52229" name="Rectangle 3"/>
          <p:cNvSpPr>
            <a:spLocks noGrp="1" noChangeArrowheads="1"/>
          </p:cNvSpPr>
          <p:nvPr>
            <p:ph type="body" idx="1"/>
          </p:nvPr>
        </p:nvSpPr>
        <p:spPr>
          <a:xfrm>
            <a:off x="911225" y="4740275"/>
            <a:ext cx="5011738" cy="4489450"/>
          </a:xfrm>
          <a:noFill/>
        </p:spPr>
        <p:txBody>
          <a:bodyPr/>
          <a:lstStyle/>
          <a:p>
            <a:pPr eaLnBrk="1" hangingPunct="1">
              <a:spcBef>
                <a:spcPct val="50000"/>
              </a:spcBef>
              <a:buFontTx/>
              <a:buNone/>
            </a:pPr>
            <a:r>
              <a:rPr lang="en-US" altLang="en-US" sz="3600" baseline="0" dirty="0">
                <a:solidFill>
                  <a:schemeClr val="bg1"/>
                </a:solidFill>
                <a:latin typeface="Arial" panose="020B0604020202020204" pitchFamily="34" charset="0"/>
              </a:rPr>
              <a:t>Cata- ”complete” plus lysis (“loosening”)</a:t>
            </a:r>
          </a:p>
          <a:p>
            <a:pPr eaLnBrk="1" hangingPunct="1">
              <a:spcBef>
                <a:spcPct val="50000"/>
              </a:spcBef>
              <a:buFontTx/>
              <a:buNone/>
            </a:pPr>
            <a:r>
              <a:rPr lang="en-US" altLang="en-US" sz="1200" baseline="0" dirty="0">
                <a:solidFill>
                  <a:schemeClr val="bg1"/>
                </a:solidFill>
                <a:latin typeface="Arial" panose="020B0604020202020204" pitchFamily="34" charset="0"/>
              </a:rPr>
              <a:t>This is a </a:t>
            </a:r>
            <a:r>
              <a:rPr lang="en-US" altLang="en-US" sz="1200" b="1" u="sng" baseline="0" dirty="0">
                <a:solidFill>
                  <a:schemeClr val="bg1"/>
                </a:solidFill>
                <a:latin typeface="Arial" panose="020B0604020202020204" pitchFamily="34" charset="0"/>
              </a:rPr>
              <a:t>catalytic</a:t>
            </a:r>
            <a:r>
              <a:rPr lang="en-US" altLang="en-US" sz="1200" baseline="0" dirty="0">
                <a:solidFill>
                  <a:schemeClr val="bg1"/>
                </a:solidFill>
                <a:latin typeface="Arial" panose="020B0604020202020204" pitchFamily="34" charset="0"/>
              </a:rPr>
              <a:t> cycle - ozone is destroyed and the reactant is recycled.</a:t>
            </a:r>
          </a:p>
          <a:p>
            <a:pPr eaLnBrk="1" hangingPunct="1">
              <a:spcBef>
                <a:spcPct val="50000"/>
              </a:spcBef>
              <a:buFontTx/>
              <a:buNone/>
            </a:pPr>
            <a:r>
              <a:rPr lang="en-US" altLang="en-US" sz="1200" baseline="0" dirty="0">
                <a:solidFill>
                  <a:schemeClr val="bg1"/>
                </a:solidFill>
                <a:latin typeface="Arial" panose="020B0604020202020204" pitchFamily="34" charset="0"/>
              </a:rPr>
              <a:t>OH is made from water </a:t>
            </a:r>
            <a:r>
              <a:rPr lang="en-US" altLang="en-US" sz="1200" baseline="0" dirty="0" err="1">
                <a:solidFill>
                  <a:schemeClr val="bg1"/>
                </a:solidFill>
                <a:latin typeface="Arial" panose="020B0604020202020204" pitchFamily="34" charset="0"/>
              </a:rPr>
              <a:t>vapour</a:t>
            </a:r>
            <a:r>
              <a:rPr lang="en-US" altLang="en-US" sz="1200" baseline="0" dirty="0">
                <a:solidFill>
                  <a:schemeClr val="bg1"/>
                </a:solidFill>
                <a:latin typeface="Arial" panose="020B0604020202020204" pitchFamily="34" charset="0"/>
              </a:rPr>
              <a:t>. Water </a:t>
            </a:r>
            <a:r>
              <a:rPr lang="en-US" altLang="en-US" sz="1200" baseline="0" dirty="0" err="1">
                <a:solidFill>
                  <a:schemeClr val="bg1"/>
                </a:solidFill>
                <a:latin typeface="Arial" panose="020B0604020202020204" pitchFamily="34" charset="0"/>
              </a:rPr>
              <a:t>vapour</a:t>
            </a:r>
            <a:r>
              <a:rPr lang="en-US" altLang="en-US" sz="1200" baseline="0" dirty="0">
                <a:solidFill>
                  <a:schemeClr val="bg1"/>
                </a:solidFill>
                <a:latin typeface="Arial" panose="020B0604020202020204" pitchFamily="34" charset="0"/>
              </a:rPr>
              <a:t> in the stratosphere is formed from the destruction of methane in the stratosphere</a:t>
            </a:r>
          </a:p>
          <a:p>
            <a:pPr eaLnBrk="1" hangingPunct="1">
              <a:spcBef>
                <a:spcPct val="50000"/>
              </a:spcBef>
              <a:buFontTx/>
              <a:buNone/>
            </a:pPr>
            <a:r>
              <a:rPr lang="en-US" altLang="en-US" sz="1200" baseline="0" dirty="0">
                <a:solidFill>
                  <a:schemeClr val="bg1"/>
                </a:solidFill>
                <a:latin typeface="Arial" panose="020B0604020202020204" pitchFamily="34" charset="0"/>
              </a:rPr>
              <a:t>NO comes from N</a:t>
            </a:r>
            <a:r>
              <a:rPr lang="en-US" altLang="en-US" sz="1200" baseline="-25000" dirty="0">
                <a:solidFill>
                  <a:schemeClr val="bg1"/>
                </a:solidFill>
                <a:latin typeface="Arial" panose="020B0604020202020204" pitchFamily="34" charset="0"/>
              </a:rPr>
              <a:t>2</a:t>
            </a:r>
            <a:r>
              <a:rPr lang="en-US" altLang="en-US" sz="1200" baseline="0" dirty="0">
                <a:solidFill>
                  <a:schemeClr val="bg1"/>
                </a:solidFill>
                <a:latin typeface="Arial" panose="020B0604020202020204" pitchFamily="34" charset="0"/>
              </a:rPr>
              <a:t>O, part of the nitrogen cycle</a:t>
            </a:r>
          </a:p>
          <a:p>
            <a:pPr eaLnBrk="1" hangingPunct="1">
              <a:spcBef>
                <a:spcPct val="50000"/>
              </a:spcBef>
              <a:buFontTx/>
              <a:buNone/>
            </a:pPr>
            <a:r>
              <a:rPr lang="en-US" altLang="en-US" sz="1200" baseline="0" dirty="0">
                <a:solidFill>
                  <a:schemeClr val="bg1"/>
                </a:solidFill>
                <a:latin typeface="Arial" panose="020B0604020202020204" pitchFamily="34" charset="0"/>
              </a:rPr>
              <a:t>Cl and Br arise from some naturally occurring organic halogens but have also increased substantially from long-lived CFCs</a:t>
            </a:r>
          </a:p>
          <a:p>
            <a:pPr eaLnBrk="1" hangingPunct="1"/>
            <a:endParaRPr lang="en-US" altLang="en-US" dirty="0"/>
          </a:p>
        </p:txBody>
      </p:sp>
    </p:spTree>
    <p:extLst>
      <p:ext uri="{BB962C8B-B14F-4D97-AF65-F5344CB8AC3E}">
        <p14:creationId xmlns:p14="http://schemas.microsoft.com/office/powerpoint/2010/main" val="8933174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6"/>
          <p:cNvSpPr>
            <a:spLocks noGrp="1" noChangeArrowheads="1"/>
          </p:cNvSpPr>
          <p:nvPr>
            <p:ph type="ftr" sz="quarter" idx="4"/>
          </p:nvPr>
        </p:nvSpPr>
        <p:spPr>
          <a:noFill/>
        </p:spPr>
        <p:txBody>
          <a:bodyPr/>
          <a:lstStyle>
            <a:lvl1pPr defTabSz="996950" eaLnBrk="0" hangingPunct="0">
              <a:spcBef>
                <a:spcPct val="30000"/>
              </a:spcBef>
              <a:defRPr sz="1200">
                <a:solidFill>
                  <a:schemeClr val="tx1"/>
                </a:solidFill>
                <a:latin typeface="Times New Roman" panose="02020603050405020304" pitchFamily="18" charset="0"/>
              </a:defRPr>
            </a:lvl1pPr>
            <a:lvl2pPr marL="742950" indent="-285750" defTabSz="996950" eaLnBrk="0" hangingPunct="0">
              <a:spcBef>
                <a:spcPct val="30000"/>
              </a:spcBef>
              <a:defRPr sz="1200">
                <a:solidFill>
                  <a:schemeClr val="tx1"/>
                </a:solidFill>
                <a:latin typeface="Times New Roman" panose="02020603050405020304" pitchFamily="18" charset="0"/>
              </a:defRPr>
            </a:lvl2pPr>
            <a:lvl3pPr marL="1143000" indent="-228600" defTabSz="996950" eaLnBrk="0" hangingPunct="0">
              <a:spcBef>
                <a:spcPct val="30000"/>
              </a:spcBef>
              <a:defRPr sz="1200">
                <a:solidFill>
                  <a:schemeClr val="tx1"/>
                </a:solidFill>
                <a:latin typeface="Times New Roman" panose="02020603050405020304" pitchFamily="18" charset="0"/>
              </a:defRPr>
            </a:lvl3pPr>
            <a:lvl4pPr marL="1600200" indent="-228600" defTabSz="996950" eaLnBrk="0" hangingPunct="0">
              <a:spcBef>
                <a:spcPct val="30000"/>
              </a:spcBef>
              <a:defRPr sz="1200">
                <a:solidFill>
                  <a:schemeClr val="tx1"/>
                </a:solidFill>
                <a:latin typeface="Times New Roman" panose="02020603050405020304" pitchFamily="18" charset="0"/>
              </a:defRPr>
            </a:lvl4pPr>
            <a:lvl5pPr marL="2057400" indent="-228600" defTabSz="996950" eaLnBrk="0" hangingPunct="0">
              <a:spcBef>
                <a:spcPct val="30000"/>
              </a:spcBef>
              <a:defRPr sz="1200">
                <a:solidFill>
                  <a:schemeClr val="tx1"/>
                </a:solidFill>
                <a:latin typeface="Times New Roman" panose="02020603050405020304" pitchFamily="18" charset="0"/>
              </a:defRPr>
            </a:lvl5pPr>
            <a:lvl6pPr marL="2514600" indent="-228600" defTabSz="99695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695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695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695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r>
              <a:rPr lang="en-GB" altLang="en-US" sz="1300"/>
              <a:t>EART 20092 Biogeochemical Cycles Lecture 3 - Grant Allen</a:t>
            </a:r>
          </a:p>
        </p:txBody>
      </p:sp>
      <p:sp>
        <p:nvSpPr>
          <p:cNvPr id="52227" name="Rectangle 7"/>
          <p:cNvSpPr>
            <a:spLocks noGrp="1" noChangeArrowheads="1"/>
          </p:cNvSpPr>
          <p:nvPr>
            <p:ph type="sldNum" sz="quarter" idx="5"/>
          </p:nvPr>
        </p:nvSpPr>
        <p:spPr>
          <a:noFill/>
        </p:spPr>
        <p:txBody>
          <a:bodyPr/>
          <a:lstStyle>
            <a:lvl1pPr defTabSz="996950" eaLnBrk="0" hangingPunct="0">
              <a:spcBef>
                <a:spcPct val="30000"/>
              </a:spcBef>
              <a:defRPr sz="1200">
                <a:solidFill>
                  <a:schemeClr val="tx1"/>
                </a:solidFill>
                <a:latin typeface="Times New Roman" panose="02020603050405020304" pitchFamily="18" charset="0"/>
              </a:defRPr>
            </a:lvl1pPr>
            <a:lvl2pPr marL="742950" indent="-285750" defTabSz="996950" eaLnBrk="0" hangingPunct="0">
              <a:spcBef>
                <a:spcPct val="30000"/>
              </a:spcBef>
              <a:defRPr sz="1200">
                <a:solidFill>
                  <a:schemeClr val="tx1"/>
                </a:solidFill>
                <a:latin typeface="Times New Roman" panose="02020603050405020304" pitchFamily="18" charset="0"/>
              </a:defRPr>
            </a:lvl2pPr>
            <a:lvl3pPr marL="1143000" indent="-228600" defTabSz="996950" eaLnBrk="0" hangingPunct="0">
              <a:spcBef>
                <a:spcPct val="30000"/>
              </a:spcBef>
              <a:defRPr sz="1200">
                <a:solidFill>
                  <a:schemeClr val="tx1"/>
                </a:solidFill>
                <a:latin typeface="Times New Roman" panose="02020603050405020304" pitchFamily="18" charset="0"/>
              </a:defRPr>
            </a:lvl3pPr>
            <a:lvl4pPr marL="1600200" indent="-228600" defTabSz="996950" eaLnBrk="0" hangingPunct="0">
              <a:spcBef>
                <a:spcPct val="30000"/>
              </a:spcBef>
              <a:defRPr sz="1200">
                <a:solidFill>
                  <a:schemeClr val="tx1"/>
                </a:solidFill>
                <a:latin typeface="Times New Roman" panose="02020603050405020304" pitchFamily="18" charset="0"/>
              </a:defRPr>
            </a:lvl4pPr>
            <a:lvl5pPr marL="2057400" indent="-228600" defTabSz="996950" eaLnBrk="0" hangingPunct="0">
              <a:spcBef>
                <a:spcPct val="30000"/>
              </a:spcBef>
              <a:defRPr sz="1200">
                <a:solidFill>
                  <a:schemeClr val="tx1"/>
                </a:solidFill>
                <a:latin typeface="Times New Roman" panose="02020603050405020304" pitchFamily="18" charset="0"/>
              </a:defRPr>
            </a:lvl5pPr>
            <a:lvl6pPr marL="2514600" indent="-228600" defTabSz="99695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695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695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695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D21246D5-710D-4274-89B7-4A38089AE51B}" type="slidenum">
              <a:rPr lang="en-GB" altLang="en-US" sz="1300"/>
              <a:pPr eaLnBrk="1" hangingPunct="1">
                <a:spcBef>
                  <a:spcPct val="0"/>
                </a:spcBef>
              </a:pPr>
              <a:t>13</a:t>
            </a:fld>
            <a:endParaRPr lang="en-GB" altLang="en-US" sz="1300"/>
          </a:p>
        </p:txBody>
      </p:sp>
      <p:sp>
        <p:nvSpPr>
          <p:cNvPr id="52228" name="Rectangle 2"/>
          <p:cNvSpPr>
            <a:spLocks noGrp="1" noRot="1" noChangeAspect="1" noChangeArrowheads="1" noTextEdit="1"/>
          </p:cNvSpPr>
          <p:nvPr>
            <p:ph type="sldImg"/>
          </p:nvPr>
        </p:nvSpPr>
        <p:spPr>
          <a:xfrm>
            <a:off x="425450" y="749300"/>
            <a:ext cx="5984875" cy="3741738"/>
          </a:xfrm>
          <a:ln/>
        </p:spPr>
      </p:sp>
      <p:sp>
        <p:nvSpPr>
          <p:cNvPr id="52229" name="Rectangle 3"/>
          <p:cNvSpPr>
            <a:spLocks noGrp="1" noChangeArrowheads="1"/>
          </p:cNvSpPr>
          <p:nvPr>
            <p:ph type="body" idx="1"/>
          </p:nvPr>
        </p:nvSpPr>
        <p:spPr>
          <a:xfrm>
            <a:off x="911225" y="4740275"/>
            <a:ext cx="5011738" cy="4489450"/>
          </a:xfrm>
          <a:noFill/>
        </p:spPr>
        <p:txBody>
          <a:bodyPr/>
          <a:lstStyle/>
          <a:p>
            <a:pPr eaLnBrk="1" hangingPunct="1">
              <a:spcBef>
                <a:spcPct val="50000"/>
              </a:spcBef>
              <a:buFontTx/>
              <a:buNone/>
            </a:pPr>
            <a:endParaRPr lang="en-US" altLang="en-US" sz="3600" baseline="0" dirty="0">
              <a:solidFill>
                <a:schemeClr val="bg1"/>
              </a:solidFill>
              <a:latin typeface="Arial" panose="020B0604020202020204" pitchFamily="34" charset="0"/>
            </a:endParaRPr>
          </a:p>
          <a:p>
            <a:pPr eaLnBrk="1" hangingPunct="1">
              <a:spcBef>
                <a:spcPct val="50000"/>
              </a:spcBef>
              <a:buFontTx/>
              <a:buNone/>
            </a:pPr>
            <a:r>
              <a:rPr lang="en-US" altLang="en-US" sz="1200" baseline="0" dirty="0">
                <a:solidFill>
                  <a:schemeClr val="bg1"/>
                </a:solidFill>
                <a:latin typeface="Arial" panose="020B0604020202020204" pitchFamily="34" charset="0"/>
              </a:rPr>
              <a:t>This is a </a:t>
            </a:r>
            <a:r>
              <a:rPr lang="en-US" altLang="en-US" sz="1200" b="1" u="sng" baseline="0" dirty="0">
                <a:solidFill>
                  <a:schemeClr val="bg1"/>
                </a:solidFill>
                <a:latin typeface="Arial" panose="020B0604020202020204" pitchFamily="34" charset="0"/>
              </a:rPr>
              <a:t>catalytic</a:t>
            </a:r>
            <a:r>
              <a:rPr lang="en-US" altLang="en-US" sz="1200" baseline="0" dirty="0">
                <a:solidFill>
                  <a:schemeClr val="bg1"/>
                </a:solidFill>
                <a:latin typeface="Arial" panose="020B0604020202020204" pitchFamily="34" charset="0"/>
              </a:rPr>
              <a:t> cycle - ozone is destroyed and the reactant is recycled.</a:t>
            </a:r>
          </a:p>
          <a:p>
            <a:pPr eaLnBrk="1" hangingPunct="1">
              <a:spcBef>
                <a:spcPct val="50000"/>
              </a:spcBef>
              <a:buFontTx/>
              <a:buNone/>
            </a:pPr>
            <a:r>
              <a:rPr lang="en-US" altLang="en-US" sz="1200" baseline="0" dirty="0">
                <a:solidFill>
                  <a:schemeClr val="bg1"/>
                </a:solidFill>
                <a:latin typeface="Arial" panose="020B0604020202020204" pitchFamily="34" charset="0"/>
              </a:rPr>
              <a:t>OH is made from water </a:t>
            </a:r>
            <a:r>
              <a:rPr lang="en-US" altLang="en-US" sz="1200" baseline="0" dirty="0" err="1">
                <a:solidFill>
                  <a:schemeClr val="bg1"/>
                </a:solidFill>
                <a:latin typeface="Arial" panose="020B0604020202020204" pitchFamily="34" charset="0"/>
              </a:rPr>
              <a:t>vapour</a:t>
            </a:r>
            <a:r>
              <a:rPr lang="en-US" altLang="en-US" sz="1200" baseline="0" dirty="0">
                <a:solidFill>
                  <a:schemeClr val="bg1"/>
                </a:solidFill>
                <a:latin typeface="Arial" panose="020B0604020202020204" pitchFamily="34" charset="0"/>
              </a:rPr>
              <a:t>. Water </a:t>
            </a:r>
            <a:r>
              <a:rPr lang="en-US" altLang="en-US" sz="1200" baseline="0" dirty="0" err="1">
                <a:solidFill>
                  <a:schemeClr val="bg1"/>
                </a:solidFill>
                <a:latin typeface="Arial" panose="020B0604020202020204" pitchFamily="34" charset="0"/>
              </a:rPr>
              <a:t>vapour</a:t>
            </a:r>
            <a:r>
              <a:rPr lang="en-US" altLang="en-US" sz="1200" baseline="0" dirty="0">
                <a:solidFill>
                  <a:schemeClr val="bg1"/>
                </a:solidFill>
                <a:latin typeface="Arial" panose="020B0604020202020204" pitchFamily="34" charset="0"/>
              </a:rPr>
              <a:t> in the stratosphere is formed from the destruction of methane in the stratosphere</a:t>
            </a:r>
          </a:p>
          <a:p>
            <a:pPr eaLnBrk="1" hangingPunct="1">
              <a:spcBef>
                <a:spcPct val="50000"/>
              </a:spcBef>
              <a:buFontTx/>
              <a:buNone/>
            </a:pPr>
            <a:r>
              <a:rPr lang="en-US" altLang="en-US" sz="1200" baseline="0" dirty="0">
                <a:solidFill>
                  <a:schemeClr val="bg1"/>
                </a:solidFill>
                <a:latin typeface="Arial" panose="020B0604020202020204" pitchFamily="34" charset="0"/>
              </a:rPr>
              <a:t>NO comes from N</a:t>
            </a:r>
            <a:r>
              <a:rPr lang="en-US" altLang="en-US" sz="1200" baseline="-25000" dirty="0">
                <a:solidFill>
                  <a:schemeClr val="bg1"/>
                </a:solidFill>
                <a:latin typeface="Arial" panose="020B0604020202020204" pitchFamily="34" charset="0"/>
              </a:rPr>
              <a:t>2</a:t>
            </a:r>
            <a:r>
              <a:rPr lang="en-US" altLang="en-US" sz="1200" baseline="0" dirty="0">
                <a:solidFill>
                  <a:schemeClr val="bg1"/>
                </a:solidFill>
                <a:latin typeface="Arial" panose="020B0604020202020204" pitchFamily="34" charset="0"/>
              </a:rPr>
              <a:t>O, part of the nitrogen cycle</a:t>
            </a:r>
          </a:p>
          <a:p>
            <a:pPr eaLnBrk="1" hangingPunct="1">
              <a:spcBef>
                <a:spcPct val="50000"/>
              </a:spcBef>
              <a:buFontTx/>
              <a:buNone/>
            </a:pPr>
            <a:r>
              <a:rPr lang="en-US" altLang="en-US" sz="1200" baseline="0" dirty="0">
                <a:solidFill>
                  <a:schemeClr val="bg1"/>
                </a:solidFill>
                <a:latin typeface="Arial" panose="020B0604020202020204" pitchFamily="34" charset="0"/>
              </a:rPr>
              <a:t>Cl and Br arise from some naturally occurring organic halogens but have also increased substantially from long-lived CFCs</a:t>
            </a:r>
          </a:p>
          <a:p>
            <a:pPr eaLnBrk="1" hangingPunct="1"/>
            <a:endParaRPr lang="en-US" altLang="en-US" dirty="0"/>
          </a:p>
        </p:txBody>
      </p:sp>
    </p:spTree>
    <p:extLst>
      <p:ext uri="{BB962C8B-B14F-4D97-AF65-F5344CB8AC3E}">
        <p14:creationId xmlns:p14="http://schemas.microsoft.com/office/powerpoint/2010/main" val="12188187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6"/>
          <p:cNvSpPr>
            <a:spLocks noGrp="1" noChangeArrowheads="1"/>
          </p:cNvSpPr>
          <p:nvPr>
            <p:ph type="ftr" sz="quarter" idx="4"/>
          </p:nvPr>
        </p:nvSpPr>
        <p:spPr>
          <a:noFill/>
        </p:spPr>
        <p:txBody>
          <a:bodyPr/>
          <a:lstStyle>
            <a:lvl1pPr defTabSz="996950" eaLnBrk="0" hangingPunct="0">
              <a:spcBef>
                <a:spcPct val="30000"/>
              </a:spcBef>
              <a:defRPr sz="1200">
                <a:solidFill>
                  <a:schemeClr val="tx1"/>
                </a:solidFill>
                <a:latin typeface="Times New Roman" panose="02020603050405020304" pitchFamily="18" charset="0"/>
              </a:defRPr>
            </a:lvl1pPr>
            <a:lvl2pPr marL="742950" indent="-285750" defTabSz="996950" eaLnBrk="0" hangingPunct="0">
              <a:spcBef>
                <a:spcPct val="30000"/>
              </a:spcBef>
              <a:defRPr sz="1200">
                <a:solidFill>
                  <a:schemeClr val="tx1"/>
                </a:solidFill>
                <a:latin typeface="Times New Roman" panose="02020603050405020304" pitchFamily="18" charset="0"/>
              </a:defRPr>
            </a:lvl2pPr>
            <a:lvl3pPr marL="1143000" indent="-228600" defTabSz="996950" eaLnBrk="0" hangingPunct="0">
              <a:spcBef>
                <a:spcPct val="30000"/>
              </a:spcBef>
              <a:defRPr sz="1200">
                <a:solidFill>
                  <a:schemeClr val="tx1"/>
                </a:solidFill>
                <a:latin typeface="Times New Roman" panose="02020603050405020304" pitchFamily="18" charset="0"/>
              </a:defRPr>
            </a:lvl3pPr>
            <a:lvl4pPr marL="1600200" indent="-228600" defTabSz="996950" eaLnBrk="0" hangingPunct="0">
              <a:spcBef>
                <a:spcPct val="30000"/>
              </a:spcBef>
              <a:defRPr sz="1200">
                <a:solidFill>
                  <a:schemeClr val="tx1"/>
                </a:solidFill>
                <a:latin typeface="Times New Roman" panose="02020603050405020304" pitchFamily="18" charset="0"/>
              </a:defRPr>
            </a:lvl4pPr>
            <a:lvl5pPr marL="2057400" indent="-228600" defTabSz="996950" eaLnBrk="0" hangingPunct="0">
              <a:spcBef>
                <a:spcPct val="30000"/>
              </a:spcBef>
              <a:defRPr sz="1200">
                <a:solidFill>
                  <a:schemeClr val="tx1"/>
                </a:solidFill>
                <a:latin typeface="Times New Roman" panose="02020603050405020304" pitchFamily="18" charset="0"/>
              </a:defRPr>
            </a:lvl5pPr>
            <a:lvl6pPr marL="2514600" indent="-228600" defTabSz="99695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695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695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695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r>
              <a:rPr lang="en-GB" altLang="en-US" sz="1300"/>
              <a:t>EART 20092 Biogeochemical Cycles Lecture 3 - Grant Allen</a:t>
            </a:r>
          </a:p>
        </p:txBody>
      </p:sp>
      <p:sp>
        <p:nvSpPr>
          <p:cNvPr id="52227" name="Rectangle 7"/>
          <p:cNvSpPr>
            <a:spLocks noGrp="1" noChangeArrowheads="1"/>
          </p:cNvSpPr>
          <p:nvPr>
            <p:ph type="sldNum" sz="quarter" idx="5"/>
          </p:nvPr>
        </p:nvSpPr>
        <p:spPr>
          <a:noFill/>
        </p:spPr>
        <p:txBody>
          <a:bodyPr/>
          <a:lstStyle>
            <a:lvl1pPr defTabSz="996950" eaLnBrk="0" hangingPunct="0">
              <a:spcBef>
                <a:spcPct val="30000"/>
              </a:spcBef>
              <a:defRPr sz="1200">
                <a:solidFill>
                  <a:schemeClr val="tx1"/>
                </a:solidFill>
                <a:latin typeface="Times New Roman" panose="02020603050405020304" pitchFamily="18" charset="0"/>
              </a:defRPr>
            </a:lvl1pPr>
            <a:lvl2pPr marL="742950" indent="-285750" defTabSz="996950" eaLnBrk="0" hangingPunct="0">
              <a:spcBef>
                <a:spcPct val="30000"/>
              </a:spcBef>
              <a:defRPr sz="1200">
                <a:solidFill>
                  <a:schemeClr val="tx1"/>
                </a:solidFill>
                <a:latin typeface="Times New Roman" panose="02020603050405020304" pitchFamily="18" charset="0"/>
              </a:defRPr>
            </a:lvl2pPr>
            <a:lvl3pPr marL="1143000" indent="-228600" defTabSz="996950" eaLnBrk="0" hangingPunct="0">
              <a:spcBef>
                <a:spcPct val="30000"/>
              </a:spcBef>
              <a:defRPr sz="1200">
                <a:solidFill>
                  <a:schemeClr val="tx1"/>
                </a:solidFill>
                <a:latin typeface="Times New Roman" panose="02020603050405020304" pitchFamily="18" charset="0"/>
              </a:defRPr>
            </a:lvl3pPr>
            <a:lvl4pPr marL="1600200" indent="-228600" defTabSz="996950" eaLnBrk="0" hangingPunct="0">
              <a:spcBef>
                <a:spcPct val="30000"/>
              </a:spcBef>
              <a:defRPr sz="1200">
                <a:solidFill>
                  <a:schemeClr val="tx1"/>
                </a:solidFill>
                <a:latin typeface="Times New Roman" panose="02020603050405020304" pitchFamily="18" charset="0"/>
              </a:defRPr>
            </a:lvl4pPr>
            <a:lvl5pPr marL="2057400" indent="-228600" defTabSz="996950" eaLnBrk="0" hangingPunct="0">
              <a:spcBef>
                <a:spcPct val="30000"/>
              </a:spcBef>
              <a:defRPr sz="1200">
                <a:solidFill>
                  <a:schemeClr val="tx1"/>
                </a:solidFill>
                <a:latin typeface="Times New Roman" panose="02020603050405020304" pitchFamily="18" charset="0"/>
              </a:defRPr>
            </a:lvl5pPr>
            <a:lvl6pPr marL="2514600" indent="-228600" defTabSz="99695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695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695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695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D21246D5-710D-4274-89B7-4A38089AE51B}" type="slidenum">
              <a:rPr lang="en-GB" altLang="en-US" sz="1300"/>
              <a:pPr eaLnBrk="1" hangingPunct="1">
                <a:spcBef>
                  <a:spcPct val="0"/>
                </a:spcBef>
              </a:pPr>
              <a:t>14</a:t>
            </a:fld>
            <a:endParaRPr lang="en-GB" altLang="en-US" sz="1300"/>
          </a:p>
        </p:txBody>
      </p:sp>
      <p:sp>
        <p:nvSpPr>
          <p:cNvPr id="52228" name="Rectangle 2"/>
          <p:cNvSpPr>
            <a:spLocks noGrp="1" noRot="1" noChangeAspect="1" noChangeArrowheads="1" noTextEdit="1"/>
          </p:cNvSpPr>
          <p:nvPr>
            <p:ph type="sldImg"/>
          </p:nvPr>
        </p:nvSpPr>
        <p:spPr>
          <a:xfrm>
            <a:off x="425450" y="749300"/>
            <a:ext cx="5984875" cy="3741738"/>
          </a:xfrm>
          <a:ln/>
        </p:spPr>
      </p:sp>
      <p:sp>
        <p:nvSpPr>
          <p:cNvPr id="52229" name="Rectangle 3"/>
          <p:cNvSpPr>
            <a:spLocks noGrp="1" noChangeArrowheads="1"/>
          </p:cNvSpPr>
          <p:nvPr>
            <p:ph type="body" idx="1"/>
          </p:nvPr>
        </p:nvSpPr>
        <p:spPr>
          <a:xfrm>
            <a:off x="911225" y="4740275"/>
            <a:ext cx="5011738" cy="4489450"/>
          </a:xfrm>
          <a:noFill/>
        </p:spPr>
        <p:txBody>
          <a:bodyPr/>
          <a:lstStyle/>
          <a:p>
            <a:pPr eaLnBrk="1" hangingPunct="1">
              <a:spcBef>
                <a:spcPct val="50000"/>
              </a:spcBef>
              <a:buFontTx/>
              <a:buNone/>
            </a:pPr>
            <a:endParaRPr lang="en-US" altLang="en-US" sz="3600" baseline="0" dirty="0">
              <a:solidFill>
                <a:schemeClr val="bg1"/>
              </a:solidFill>
              <a:latin typeface="Arial" panose="020B0604020202020204" pitchFamily="34" charset="0"/>
            </a:endParaRPr>
          </a:p>
          <a:p>
            <a:pPr eaLnBrk="1" hangingPunct="1">
              <a:spcBef>
                <a:spcPct val="50000"/>
              </a:spcBef>
              <a:buFontTx/>
              <a:buNone/>
            </a:pPr>
            <a:r>
              <a:rPr lang="en-US" altLang="en-US" sz="1200" baseline="0" dirty="0">
                <a:solidFill>
                  <a:schemeClr val="bg1"/>
                </a:solidFill>
                <a:latin typeface="Arial" panose="020B0604020202020204" pitchFamily="34" charset="0"/>
              </a:rPr>
              <a:t>This is a </a:t>
            </a:r>
            <a:r>
              <a:rPr lang="en-US" altLang="en-US" sz="1200" b="1" u="sng" baseline="0" dirty="0">
                <a:solidFill>
                  <a:schemeClr val="bg1"/>
                </a:solidFill>
                <a:latin typeface="Arial" panose="020B0604020202020204" pitchFamily="34" charset="0"/>
              </a:rPr>
              <a:t>catalytic</a:t>
            </a:r>
            <a:r>
              <a:rPr lang="en-US" altLang="en-US" sz="1200" baseline="0" dirty="0">
                <a:solidFill>
                  <a:schemeClr val="bg1"/>
                </a:solidFill>
                <a:latin typeface="Arial" panose="020B0604020202020204" pitchFamily="34" charset="0"/>
              </a:rPr>
              <a:t> cycle - ozone is destroyed and the reactant is recycled.</a:t>
            </a:r>
          </a:p>
          <a:p>
            <a:pPr eaLnBrk="1" hangingPunct="1">
              <a:spcBef>
                <a:spcPct val="50000"/>
              </a:spcBef>
              <a:buFontTx/>
              <a:buNone/>
            </a:pPr>
            <a:r>
              <a:rPr lang="en-US" altLang="en-US" sz="1200" baseline="0" dirty="0">
                <a:solidFill>
                  <a:schemeClr val="bg1"/>
                </a:solidFill>
                <a:latin typeface="Arial" panose="020B0604020202020204" pitchFamily="34" charset="0"/>
              </a:rPr>
              <a:t>OH is made from water </a:t>
            </a:r>
            <a:r>
              <a:rPr lang="en-US" altLang="en-US" sz="1200" baseline="0" dirty="0" err="1">
                <a:solidFill>
                  <a:schemeClr val="bg1"/>
                </a:solidFill>
                <a:latin typeface="Arial" panose="020B0604020202020204" pitchFamily="34" charset="0"/>
              </a:rPr>
              <a:t>vapour</a:t>
            </a:r>
            <a:r>
              <a:rPr lang="en-US" altLang="en-US" sz="1200" baseline="0" dirty="0">
                <a:solidFill>
                  <a:schemeClr val="bg1"/>
                </a:solidFill>
                <a:latin typeface="Arial" panose="020B0604020202020204" pitchFamily="34" charset="0"/>
              </a:rPr>
              <a:t>. Water </a:t>
            </a:r>
            <a:r>
              <a:rPr lang="en-US" altLang="en-US" sz="1200" baseline="0" dirty="0" err="1">
                <a:solidFill>
                  <a:schemeClr val="bg1"/>
                </a:solidFill>
                <a:latin typeface="Arial" panose="020B0604020202020204" pitchFamily="34" charset="0"/>
              </a:rPr>
              <a:t>vapour</a:t>
            </a:r>
            <a:r>
              <a:rPr lang="en-US" altLang="en-US" sz="1200" baseline="0" dirty="0">
                <a:solidFill>
                  <a:schemeClr val="bg1"/>
                </a:solidFill>
                <a:latin typeface="Arial" panose="020B0604020202020204" pitchFamily="34" charset="0"/>
              </a:rPr>
              <a:t> in the stratosphere is formed from the destruction of methane in the stratosphere</a:t>
            </a:r>
          </a:p>
          <a:p>
            <a:pPr eaLnBrk="1" hangingPunct="1">
              <a:spcBef>
                <a:spcPct val="50000"/>
              </a:spcBef>
              <a:buFontTx/>
              <a:buNone/>
            </a:pPr>
            <a:r>
              <a:rPr lang="en-US" altLang="en-US" sz="1200" baseline="0" dirty="0">
                <a:solidFill>
                  <a:schemeClr val="bg1"/>
                </a:solidFill>
                <a:latin typeface="Arial" panose="020B0604020202020204" pitchFamily="34" charset="0"/>
              </a:rPr>
              <a:t>NO comes from N</a:t>
            </a:r>
            <a:r>
              <a:rPr lang="en-US" altLang="en-US" sz="1200" baseline="-25000" dirty="0">
                <a:solidFill>
                  <a:schemeClr val="bg1"/>
                </a:solidFill>
                <a:latin typeface="Arial" panose="020B0604020202020204" pitchFamily="34" charset="0"/>
              </a:rPr>
              <a:t>2</a:t>
            </a:r>
            <a:r>
              <a:rPr lang="en-US" altLang="en-US" sz="1200" baseline="0" dirty="0">
                <a:solidFill>
                  <a:schemeClr val="bg1"/>
                </a:solidFill>
                <a:latin typeface="Arial" panose="020B0604020202020204" pitchFamily="34" charset="0"/>
              </a:rPr>
              <a:t>O, part of the nitrogen cycle</a:t>
            </a:r>
          </a:p>
          <a:p>
            <a:pPr eaLnBrk="1" hangingPunct="1">
              <a:spcBef>
                <a:spcPct val="50000"/>
              </a:spcBef>
              <a:buFontTx/>
              <a:buNone/>
            </a:pPr>
            <a:r>
              <a:rPr lang="en-US" altLang="en-US" sz="1200" baseline="0" dirty="0">
                <a:solidFill>
                  <a:schemeClr val="bg1"/>
                </a:solidFill>
                <a:latin typeface="Arial" panose="020B0604020202020204" pitchFamily="34" charset="0"/>
              </a:rPr>
              <a:t>Cl and Br arise from some naturally occurring organic halogens but have also increased substantially from long-lived CFCs</a:t>
            </a:r>
          </a:p>
          <a:p>
            <a:pPr eaLnBrk="1" hangingPunct="1"/>
            <a:endParaRPr lang="en-US" altLang="en-US" dirty="0"/>
          </a:p>
        </p:txBody>
      </p:sp>
    </p:spTree>
    <p:extLst>
      <p:ext uri="{BB962C8B-B14F-4D97-AF65-F5344CB8AC3E}">
        <p14:creationId xmlns:p14="http://schemas.microsoft.com/office/powerpoint/2010/main" val="15424426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eaLnBrk="1" hangingPunct="1">
              <a:spcBef>
                <a:spcPct val="50000"/>
              </a:spcBef>
            </a:pPr>
            <a:r>
              <a:rPr lang="en-GB" altLang="en-US" sz="1200" dirty="0">
                <a:solidFill>
                  <a:schemeClr val="bg1"/>
                </a:solidFill>
                <a:latin typeface="Arial" panose="020B0604020202020204" pitchFamily="34" charset="0"/>
              </a:rPr>
              <a:t>1. Chlorine and nitrogen compounds in the stratosphere react to form stable compounds such as </a:t>
            </a:r>
            <a:r>
              <a:rPr lang="en-GB" altLang="en-US" sz="1200" dirty="0" err="1">
                <a:solidFill>
                  <a:schemeClr val="bg1"/>
                </a:solidFill>
                <a:latin typeface="Arial" panose="020B0604020202020204" pitchFamily="34" charset="0"/>
              </a:rPr>
              <a:t>HCl</a:t>
            </a:r>
            <a:r>
              <a:rPr lang="en-GB" altLang="en-US" sz="1200" dirty="0">
                <a:solidFill>
                  <a:schemeClr val="bg1"/>
                </a:solidFill>
                <a:latin typeface="Arial" panose="020B0604020202020204" pitchFamily="34" charset="0"/>
              </a:rPr>
              <a:t> and ClONO</a:t>
            </a:r>
            <a:r>
              <a:rPr lang="en-GB" altLang="en-US" sz="1200" baseline="-25000" dirty="0">
                <a:solidFill>
                  <a:schemeClr val="bg1"/>
                </a:solidFill>
                <a:latin typeface="Arial" panose="020B0604020202020204" pitchFamily="34" charset="0"/>
              </a:rPr>
              <a:t>2</a:t>
            </a:r>
            <a:r>
              <a:rPr lang="en-GB" altLang="en-US" sz="1200" dirty="0">
                <a:solidFill>
                  <a:schemeClr val="bg1"/>
                </a:solidFill>
                <a:latin typeface="Arial" panose="020B0604020202020204" pitchFamily="34" charset="0"/>
              </a:rPr>
              <a:t>.</a:t>
            </a:r>
          </a:p>
          <a:p>
            <a:pPr eaLnBrk="1" hangingPunct="1">
              <a:spcBef>
                <a:spcPct val="50000"/>
              </a:spcBef>
            </a:pPr>
            <a:r>
              <a:rPr lang="en-GB" altLang="en-US" sz="1200" dirty="0">
                <a:solidFill>
                  <a:schemeClr val="bg1"/>
                </a:solidFill>
                <a:latin typeface="Arial" panose="020B0604020202020204" pitchFamily="34" charset="0"/>
              </a:rPr>
              <a:t>2. These are transported towards the poles</a:t>
            </a:r>
          </a:p>
          <a:p>
            <a:pPr eaLnBrk="1" hangingPunct="1">
              <a:spcBef>
                <a:spcPct val="50000"/>
              </a:spcBef>
            </a:pPr>
            <a:r>
              <a:rPr lang="en-GB" altLang="en-US" sz="1200" dirty="0">
                <a:solidFill>
                  <a:schemeClr val="bg1"/>
                </a:solidFill>
                <a:latin typeface="Arial" panose="020B0604020202020204" pitchFamily="34" charset="0"/>
              </a:rPr>
              <a:t>3. </a:t>
            </a:r>
            <a:r>
              <a:rPr lang="en-GB" altLang="en-US" sz="1200" b="1" dirty="0">
                <a:solidFill>
                  <a:schemeClr val="bg1"/>
                </a:solidFill>
                <a:latin typeface="Arial" panose="020B0604020202020204" pitchFamily="34" charset="0"/>
              </a:rPr>
              <a:t>During the cold polar winter, </a:t>
            </a:r>
            <a:r>
              <a:rPr lang="en-GB" altLang="en-US" sz="1200" dirty="0">
                <a:solidFill>
                  <a:schemeClr val="bg1"/>
                </a:solidFill>
                <a:latin typeface="Arial" panose="020B0604020202020204" pitchFamily="34" charset="0"/>
              </a:rPr>
              <a:t>a strong descent of air occurs and the core of the vortex becomes separated from the air farther equatorward.</a:t>
            </a:r>
          </a:p>
          <a:p>
            <a:pPr eaLnBrk="1" hangingPunct="1">
              <a:spcBef>
                <a:spcPct val="50000"/>
              </a:spcBef>
            </a:pPr>
            <a:r>
              <a:rPr lang="en-GB" altLang="en-US" sz="1200" dirty="0">
                <a:solidFill>
                  <a:schemeClr val="bg1"/>
                </a:solidFill>
                <a:latin typeface="Arial" panose="020B0604020202020204" pitchFamily="34" charset="0"/>
              </a:rPr>
              <a:t>4. The vortex core becomes cold enough for polar stratospheric clouds (nitric acid and water ice crystals) to form. (1) in the figure above</a:t>
            </a:r>
          </a:p>
          <a:p>
            <a:pPr eaLnBrk="1" hangingPunct="1">
              <a:spcBef>
                <a:spcPct val="50000"/>
              </a:spcBef>
            </a:pPr>
            <a:r>
              <a:rPr lang="en-GB" altLang="en-US" sz="1200" dirty="0">
                <a:solidFill>
                  <a:schemeClr val="bg1"/>
                </a:solidFill>
                <a:latin typeface="Arial" panose="020B0604020202020204" pitchFamily="34" charset="0"/>
              </a:rPr>
              <a:t>5. These clouds provide surfaces for reactions that release the Cl into more active forms such as Cl</a:t>
            </a:r>
            <a:r>
              <a:rPr lang="en-GB" altLang="en-US" sz="1200" baseline="-25000" dirty="0">
                <a:solidFill>
                  <a:schemeClr val="bg1"/>
                </a:solidFill>
                <a:latin typeface="Arial" panose="020B0604020202020204" pitchFamily="34" charset="0"/>
              </a:rPr>
              <a:t>2</a:t>
            </a:r>
            <a:r>
              <a:rPr lang="en-GB" altLang="en-US" sz="1200" dirty="0">
                <a:solidFill>
                  <a:schemeClr val="bg1"/>
                </a:solidFill>
                <a:latin typeface="Arial" panose="020B0604020202020204" pitchFamily="34" charset="0"/>
              </a:rPr>
              <a:t> and </a:t>
            </a:r>
            <a:r>
              <a:rPr lang="en-GB" altLang="en-US" sz="1200" dirty="0" err="1">
                <a:solidFill>
                  <a:schemeClr val="bg1"/>
                </a:solidFill>
                <a:latin typeface="Arial" panose="020B0604020202020204" pitchFamily="34" charset="0"/>
              </a:rPr>
              <a:t>HOCl</a:t>
            </a:r>
            <a:r>
              <a:rPr lang="en-GB" altLang="en-US" sz="1200" dirty="0">
                <a:solidFill>
                  <a:schemeClr val="bg1"/>
                </a:solidFill>
                <a:latin typeface="Arial" panose="020B0604020202020204" pitchFamily="34" charset="0"/>
              </a:rPr>
              <a:t>. (2)</a:t>
            </a:r>
          </a:p>
          <a:p>
            <a:pPr eaLnBrk="1" hangingPunct="1">
              <a:spcBef>
                <a:spcPct val="50000"/>
              </a:spcBef>
            </a:pPr>
            <a:r>
              <a:rPr lang="en-GB" altLang="en-US" sz="1200" dirty="0">
                <a:solidFill>
                  <a:schemeClr val="bg1"/>
                </a:solidFill>
                <a:latin typeface="Arial" panose="020B0604020202020204" pitchFamily="34" charset="0"/>
              </a:rPr>
              <a:t>6. These species build up over the polar winter in the dark.  As clouds of nitric acid and water ice form, the stratosphere becomes denitrified and dehydrated.</a:t>
            </a:r>
          </a:p>
          <a:p>
            <a:pPr eaLnBrk="1" hangingPunct="1">
              <a:spcBef>
                <a:spcPct val="50000"/>
              </a:spcBef>
            </a:pPr>
            <a:endParaRPr lang="en-GB" altLang="en-US" sz="1200" dirty="0">
              <a:solidFill>
                <a:schemeClr val="bg1"/>
              </a:solidFill>
              <a:latin typeface="Arial" panose="020B0604020202020204" pitchFamily="34" charset="0"/>
            </a:endParaRPr>
          </a:p>
          <a:p>
            <a:pPr eaLnBrk="1" hangingPunct="1">
              <a:spcBef>
                <a:spcPct val="50000"/>
              </a:spcBef>
            </a:pPr>
            <a:r>
              <a:rPr lang="en-GB" altLang="en-US" sz="1200" b="1" dirty="0">
                <a:solidFill>
                  <a:schemeClr val="bg1"/>
                </a:solidFill>
                <a:latin typeface="Arial" panose="020B0604020202020204" pitchFamily="34" charset="0"/>
              </a:rPr>
              <a:t>Following sunrise in spring:</a:t>
            </a:r>
          </a:p>
          <a:p>
            <a:pPr eaLnBrk="1" hangingPunct="1">
              <a:spcBef>
                <a:spcPct val="50000"/>
              </a:spcBef>
            </a:pPr>
            <a:r>
              <a:rPr lang="en-GB" altLang="en-US" sz="1200" dirty="0">
                <a:solidFill>
                  <a:schemeClr val="bg1"/>
                </a:solidFill>
                <a:latin typeface="Arial" panose="020B0604020202020204" pitchFamily="34" charset="0"/>
              </a:rPr>
              <a:t>1. These compounds are </a:t>
            </a:r>
            <a:r>
              <a:rPr lang="en-GB" altLang="en-US" sz="1200" dirty="0" err="1">
                <a:solidFill>
                  <a:schemeClr val="bg1"/>
                </a:solidFill>
                <a:latin typeface="Arial" panose="020B0604020202020204" pitchFamily="34" charset="0"/>
              </a:rPr>
              <a:t>photolysed</a:t>
            </a:r>
            <a:r>
              <a:rPr lang="en-GB" altLang="en-US" sz="1200" dirty="0">
                <a:solidFill>
                  <a:schemeClr val="bg1"/>
                </a:solidFill>
                <a:latin typeface="Arial" panose="020B0604020202020204" pitchFamily="34" charset="0"/>
              </a:rPr>
              <a:t> to form Cl, </a:t>
            </a:r>
            <a:r>
              <a:rPr lang="en-GB" altLang="en-US" sz="1200" dirty="0" err="1">
                <a:solidFill>
                  <a:schemeClr val="bg1"/>
                </a:solidFill>
                <a:latin typeface="Arial" panose="020B0604020202020204" pitchFamily="34" charset="0"/>
              </a:rPr>
              <a:t>ClO</a:t>
            </a:r>
            <a:r>
              <a:rPr lang="en-GB" altLang="en-US" sz="1200" dirty="0">
                <a:solidFill>
                  <a:schemeClr val="bg1"/>
                </a:solidFill>
                <a:latin typeface="Arial" panose="020B0604020202020204" pitchFamily="34" charset="0"/>
              </a:rPr>
              <a:t> and other highly reactive compounds. (3)</a:t>
            </a:r>
          </a:p>
          <a:p>
            <a:pPr eaLnBrk="1" hangingPunct="1">
              <a:spcBef>
                <a:spcPct val="50000"/>
              </a:spcBef>
            </a:pPr>
            <a:r>
              <a:rPr lang="en-GB" altLang="en-US" sz="1200" dirty="0">
                <a:solidFill>
                  <a:schemeClr val="bg1"/>
                </a:solidFill>
                <a:latin typeface="Arial" panose="020B0604020202020204" pitchFamily="34" charset="0"/>
              </a:rPr>
              <a:t>2. The Cl compounds act as the X in the modification of the Chapman cycle and can catalytically destroy O</a:t>
            </a:r>
            <a:r>
              <a:rPr lang="en-GB" altLang="en-US" sz="1200" baseline="-25000" dirty="0">
                <a:solidFill>
                  <a:schemeClr val="bg1"/>
                </a:solidFill>
                <a:latin typeface="Arial" panose="020B0604020202020204" pitchFamily="34" charset="0"/>
              </a:rPr>
              <a:t>3</a:t>
            </a:r>
            <a:r>
              <a:rPr lang="en-GB" altLang="en-US" sz="1200" dirty="0">
                <a:solidFill>
                  <a:schemeClr val="bg1"/>
                </a:solidFill>
                <a:latin typeface="Arial" panose="020B0604020202020204" pitchFamily="34" charset="0"/>
              </a:rPr>
              <a:t>. (4)</a:t>
            </a:r>
          </a:p>
          <a:p>
            <a:pPr eaLnBrk="1" hangingPunct="1">
              <a:spcBef>
                <a:spcPct val="50000"/>
              </a:spcBef>
            </a:pPr>
            <a:r>
              <a:rPr lang="en-GB" altLang="en-US" sz="1200" dirty="0">
                <a:solidFill>
                  <a:schemeClr val="bg1"/>
                </a:solidFill>
                <a:latin typeface="Arial" panose="020B0604020202020204" pitchFamily="34" charset="0"/>
              </a:rPr>
              <a:t>3. The Cl compounds are regenerated and so catastrophic loss of ozone can occur.</a:t>
            </a:r>
          </a:p>
          <a:p>
            <a:pPr eaLnBrk="1" hangingPunct="1">
              <a:spcBef>
                <a:spcPct val="50000"/>
              </a:spcBef>
            </a:pPr>
            <a:r>
              <a:rPr lang="en-GB" altLang="en-US" sz="1200" dirty="0">
                <a:solidFill>
                  <a:schemeClr val="bg1"/>
                </a:solidFill>
                <a:latin typeface="Arial" panose="020B0604020202020204" pitchFamily="34" charset="0"/>
              </a:rPr>
              <a:t>4. Since there is no ozone in the polar vortex then there is no absorption of UV and so the stratosphere cannot readily warm.  This maintains the vortex and prevents ozone rich air from lower latitudes to mix into the core and extends the lifetime of the vortex and the period of low ozone.</a:t>
            </a:r>
          </a:p>
          <a:p>
            <a:pPr eaLnBrk="1" hangingPunct="1">
              <a:spcBef>
                <a:spcPct val="50000"/>
              </a:spcBef>
            </a:pPr>
            <a:endParaRPr lang="en-GB" altLang="en-US" sz="1200" dirty="0">
              <a:solidFill>
                <a:schemeClr val="bg1"/>
              </a:solidFill>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3EE8D4E6-F64F-4999-AC2A-A008E685C045}" type="slidenum">
              <a:rPr lang="en-GB" smtClean="0"/>
              <a:pPr/>
              <a:t>16</a:t>
            </a:fld>
            <a:endParaRPr lang="en-GB" dirty="0"/>
          </a:p>
        </p:txBody>
      </p:sp>
    </p:spTree>
    <p:extLst>
      <p:ext uri="{BB962C8B-B14F-4D97-AF65-F5344CB8AC3E}">
        <p14:creationId xmlns:p14="http://schemas.microsoft.com/office/powerpoint/2010/main" val="10088116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NO2 decreases because of presence of OH.</a:t>
            </a:r>
          </a:p>
          <a:p>
            <a:endParaRPr lang="en-US" dirty="0"/>
          </a:p>
          <a:p>
            <a:r>
              <a:rPr lang="en-US" dirty="0"/>
              <a:t>“Hydroxyl radicals are created in the atmosphere by two principal chemical reactions: </a:t>
            </a:r>
          </a:p>
          <a:p>
            <a:r>
              <a:rPr lang="en-US" dirty="0"/>
              <a:t>During daylight hours, a photochemical reaction occurs in the atmosphere where different wavelengths of light interact with water and terpenes (secreted from plants) in the air to produce simpler by-products known as </a:t>
            </a:r>
            <a:r>
              <a:rPr lang="en-US" dirty="0">
                <a:hlinkClick r:id="rId3" tooltip="Reactive oxygen species"/>
              </a:rPr>
              <a:t>Reactive Oxygen Species</a:t>
            </a:r>
            <a:r>
              <a:rPr lang="en-US" dirty="0"/>
              <a:t> (ROS). One of the main types of ROS is the hydroxyl radical.</a:t>
            </a:r>
          </a:p>
          <a:p>
            <a:r>
              <a:rPr lang="en-US" dirty="0"/>
              <a:t>In addition, during the entire 24-hour cycle, OH is formed through the reaction between terpenes and ozone.”</a:t>
            </a:r>
          </a:p>
          <a:p>
            <a:endParaRPr lang="en-US" dirty="0"/>
          </a:p>
          <a:p>
            <a:r>
              <a:rPr lang="en-US" dirty="0"/>
              <a:t>https://</a:t>
            </a:r>
            <a:r>
              <a:rPr lang="en-US" dirty="0" err="1"/>
              <a:t>en.wikipedia.org</a:t>
            </a:r>
            <a:r>
              <a:rPr lang="en-US" dirty="0"/>
              <a:t>/wiki/</a:t>
            </a:r>
            <a:r>
              <a:rPr lang="en-US" dirty="0" err="1"/>
              <a:t>Hydroxyl_radical</a:t>
            </a:r>
            <a:endParaRPr lang="en-US" dirty="0"/>
          </a:p>
          <a:p>
            <a:endParaRPr lang="en-US" dirty="0"/>
          </a:p>
        </p:txBody>
      </p:sp>
      <p:sp>
        <p:nvSpPr>
          <p:cNvPr id="4" name="Slide Number Placeholder 3"/>
          <p:cNvSpPr>
            <a:spLocks noGrp="1"/>
          </p:cNvSpPr>
          <p:nvPr>
            <p:ph type="sldNum" sz="quarter" idx="5"/>
          </p:nvPr>
        </p:nvSpPr>
        <p:spPr/>
        <p:txBody>
          <a:bodyPr/>
          <a:lstStyle/>
          <a:p>
            <a:pPr>
              <a:defRPr/>
            </a:pPr>
            <a:fld id="{48B5E055-83C5-1148-B1CC-2151D312576F}" type="slidenum">
              <a:rPr lang="en-US" altLang="en-US" smtClean="0"/>
              <a:pPr>
                <a:defRPr/>
              </a:pPr>
              <a:t>22</a:t>
            </a:fld>
            <a:endParaRPr lang="en-US" altLang="en-US"/>
          </a:p>
        </p:txBody>
      </p:sp>
    </p:spTree>
    <p:extLst>
      <p:ext uri="{BB962C8B-B14F-4D97-AF65-F5344CB8AC3E}">
        <p14:creationId xmlns:p14="http://schemas.microsoft.com/office/powerpoint/2010/main" val="8714649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NO2 decreases because of presence of OH.</a:t>
            </a:r>
          </a:p>
          <a:p>
            <a:endParaRPr lang="en-US" dirty="0"/>
          </a:p>
          <a:p>
            <a:r>
              <a:rPr lang="en-US" dirty="0"/>
              <a:t>“Hydroxyl radicals are created in the atmosphere by two principal chemical reactions: </a:t>
            </a:r>
          </a:p>
          <a:p>
            <a:r>
              <a:rPr lang="en-US" dirty="0"/>
              <a:t>During daylight hours, a photochemical reaction occurs in the atmosphere where different wavelengths of light interact with water and terpenes (secreted from plants) in the air to produce simpler by-products known as </a:t>
            </a:r>
            <a:r>
              <a:rPr lang="en-US" dirty="0">
                <a:hlinkClick r:id="rId3" tooltip="Reactive oxygen species"/>
              </a:rPr>
              <a:t>Reactive Oxygen Species</a:t>
            </a:r>
            <a:r>
              <a:rPr lang="en-US" dirty="0"/>
              <a:t> (ROS). One of the main types of ROS is the hydroxyl radical.</a:t>
            </a:r>
          </a:p>
          <a:p>
            <a:r>
              <a:rPr lang="en-US" dirty="0"/>
              <a:t>In addition, during the entire 24-hour cycle, OH is formed through the reaction between terpenes and ozone.”</a:t>
            </a:r>
          </a:p>
          <a:p>
            <a:endParaRPr lang="en-US" dirty="0"/>
          </a:p>
          <a:p>
            <a:r>
              <a:rPr lang="en-US" dirty="0"/>
              <a:t>https://</a:t>
            </a:r>
            <a:r>
              <a:rPr lang="en-US" dirty="0" err="1"/>
              <a:t>en.wikipedia.org</a:t>
            </a:r>
            <a:r>
              <a:rPr lang="en-US" dirty="0"/>
              <a:t>/wiki/</a:t>
            </a:r>
            <a:r>
              <a:rPr lang="en-US" dirty="0" err="1"/>
              <a:t>Hydroxyl_radical</a:t>
            </a:r>
            <a:endParaRPr lang="en-US" dirty="0"/>
          </a:p>
          <a:p>
            <a:endParaRPr lang="en-US" dirty="0"/>
          </a:p>
        </p:txBody>
      </p:sp>
      <p:sp>
        <p:nvSpPr>
          <p:cNvPr id="4" name="Slide Number Placeholder 3"/>
          <p:cNvSpPr>
            <a:spLocks noGrp="1"/>
          </p:cNvSpPr>
          <p:nvPr>
            <p:ph type="sldNum" sz="quarter" idx="5"/>
          </p:nvPr>
        </p:nvSpPr>
        <p:spPr/>
        <p:txBody>
          <a:bodyPr/>
          <a:lstStyle/>
          <a:p>
            <a:pPr>
              <a:defRPr/>
            </a:pPr>
            <a:fld id="{48B5E055-83C5-1148-B1CC-2151D312576F}" type="slidenum">
              <a:rPr lang="en-US" altLang="en-US" smtClean="0"/>
              <a:pPr>
                <a:defRPr/>
              </a:pPr>
              <a:t>23</a:t>
            </a:fld>
            <a:endParaRPr lang="en-US" altLang="en-US"/>
          </a:p>
        </p:txBody>
      </p:sp>
    </p:spTree>
    <p:extLst>
      <p:ext uri="{BB962C8B-B14F-4D97-AF65-F5344CB8AC3E}">
        <p14:creationId xmlns:p14="http://schemas.microsoft.com/office/powerpoint/2010/main" val="33019979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NO2 decreases because of presence of OH.</a:t>
            </a:r>
          </a:p>
          <a:p>
            <a:endParaRPr lang="en-US" dirty="0"/>
          </a:p>
          <a:p>
            <a:r>
              <a:rPr lang="en-US" dirty="0"/>
              <a:t>“Hydroxyl radicals are created in the atmosphere by two principal chemical reactions: </a:t>
            </a:r>
          </a:p>
          <a:p>
            <a:r>
              <a:rPr lang="en-US" dirty="0"/>
              <a:t>During daylight hours, a photochemical reaction occurs in the atmosphere where different wavelengths of light interact with water and terpenes (secreted from plants) in the air to produce simpler by-products known as </a:t>
            </a:r>
            <a:r>
              <a:rPr lang="en-US" dirty="0">
                <a:hlinkClick r:id="rId3" tooltip="Reactive oxygen species"/>
              </a:rPr>
              <a:t>Reactive Oxygen Species</a:t>
            </a:r>
            <a:r>
              <a:rPr lang="en-US" dirty="0"/>
              <a:t> (ROS). One of the main types of ROS is the hydroxyl radical.</a:t>
            </a:r>
          </a:p>
          <a:p>
            <a:r>
              <a:rPr lang="en-US" dirty="0"/>
              <a:t>In addition, during the entire 24-hour cycle, OH is formed through the reaction between terpenes and ozone.”</a:t>
            </a:r>
          </a:p>
          <a:p>
            <a:endParaRPr lang="en-US" dirty="0"/>
          </a:p>
          <a:p>
            <a:r>
              <a:rPr lang="en-US" dirty="0"/>
              <a:t>https://</a:t>
            </a:r>
            <a:r>
              <a:rPr lang="en-US" dirty="0" err="1"/>
              <a:t>en.wikipedia.org</a:t>
            </a:r>
            <a:r>
              <a:rPr lang="en-US" dirty="0"/>
              <a:t>/wiki/</a:t>
            </a:r>
            <a:r>
              <a:rPr lang="en-US" dirty="0" err="1"/>
              <a:t>Hydroxyl_radical</a:t>
            </a:r>
            <a:endParaRPr lang="en-US" dirty="0"/>
          </a:p>
          <a:p>
            <a:endParaRPr lang="en-US" dirty="0"/>
          </a:p>
        </p:txBody>
      </p:sp>
      <p:sp>
        <p:nvSpPr>
          <p:cNvPr id="4" name="Slide Number Placeholder 3"/>
          <p:cNvSpPr>
            <a:spLocks noGrp="1"/>
          </p:cNvSpPr>
          <p:nvPr>
            <p:ph type="sldNum" sz="quarter" idx="5"/>
          </p:nvPr>
        </p:nvSpPr>
        <p:spPr/>
        <p:txBody>
          <a:bodyPr/>
          <a:lstStyle/>
          <a:p>
            <a:pPr>
              <a:defRPr/>
            </a:pPr>
            <a:fld id="{48B5E055-83C5-1148-B1CC-2151D312576F}" type="slidenum">
              <a:rPr lang="en-US" altLang="en-US" smtClean="0"/>
              <a:pPr>
                <a:defRPr/>
              </a:pPr>
              <a:t>24</a:t>
            </a:fld>
            <a:endParaRPr lang="en-US" altLang="en-US"/>
          </a:p>
        </p:txBody>
      </p:sp>
    </p:spTree>
    <p:extLst>
      <p:ext uri="{BB962C8B-B14F-4D97-AF65-F5344CB8AC3E}">
        <p14:creationId xmlns:p14="http://schemas.microsoft.com/office/powerpoint/2010/main" val="12604371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1.5 km above the surface, temperature was +2°C over London.  –5°C to 0°C at the surface.</a:t>
            </a:r>
          </a:p>
        </p:txBody>
      </p:sp>
      <p:sp>
        <p:nvSpPr>
          <p:cNvPr id="4" name="Slide Number Placeholder 3"/>
          <p:cNvSpPr>
            <a:spLocks noGrp="1"/>
          </p:cNvSpPr>
          <p:nvPr>
            <p:ph type="sldNum" sz="quarter" idx="5"/>
          </p:nvPr>
        </p:nvSpPr>
        <p:spPr/>
        <p:txBody>
          <a:bodyPr/>
          <a:lstStyle/>
          <a:p>
            <a:pPr>
              <a:defRPr/>
            </a:pPr>
            <a:fld id="{48B5E055-83C5-1148-B1CC-2151D312576F}" type="slidenum">
              <a:rPr lang="en-US" altLang="en-US" smtClean="0"/>
              <a:pPr>
                <a:defRPr/>
              </a:pPr>
              <a:t>26</a:t>
            </a:fld>
            <a:endParaRPr lang="en-US" altLang="en-US"/>
          </a:p>
        </p:txBody>
      </p:sp>
    </p:spTree>
    <p:extLst>
      <p:ext uri="{BB962C8B-B14F-4D97-AF65-F5344CB8AC3E}">
        <p14:creationId xmlns:p14="http://schemas.microsoft.com/office/powerpoint/2010/main" val="32320226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1.5 km above the surface, temperature was +2°C over London.  –5°C to 0°C at the surface.</a:t>
            </a:r>
          </a:p>
        </p:txBody>
      </p:sp>
      <p:sp>
        <p:nvSpPr>
          <p:cNvPr id="4" name="Slide Number Placeholder 3"/>
          <p:cNvSpPr>
            <a:spLocks noGrp="1"/>
          </p:cNvSpPr>
          <p:nvPr>
            <p:ph type="sldNum" sz="quarter" idx="5"/>
          </p:nvPr>
        </p:nvSpPr>
        <p:spPr/>
        <p:txBody>
          <a:bodyPr/>
          <a:lstStyle/>
          <a:p>
            <a:pPr>
              <a:defRPr/>
            </a:pPr>
            <a:fld id="{48B5E055-83C5-1148-B1CC-2151D312576F}" type="slidenum">
              <a:rPr lang="en-US" altLang="en-US" smtClean="0"/>
              <a:pPr>
                <a:defRPr/>
              </a:pPr>
              <a:t>27</a:t>
            </a:fld>
            <a:endParaRPr lang="en-US" altLang="en-US"/>
          </a:p>
        </p:txBody>
      </p:sp>
    </p:spTree>
    <p:extLst>
      <p:ext uri="{BB962C8B-B14F-4D97-AF65-F5344CB8AC3E}">
        <p14:creationId xmlns:p14="http://schemas.microsoft.com/office/powerpoint/2010/main" val="21354714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a:t>
            </a:r>
            <a:r>
              <a:rPr lang="en-US" i="0" dirty="0"/>
              <a:t> Beaver, Hugh (December 1953). </a:t>
            </a:r>
            <a:r>
              <a:rPr lang="en-US" i="0" dirty="0">
                <a:hlinkClick r:id="rId3"/>
              </a:rPr>
              <a:t>"Great Britain Committee on Air Pollution: Interim Report"</a:t>
            </a:r>
            <a:r>
              <a:rPr lang="en-US" i="0" dirty="0"/>
              <a:t>. London: HMSO. pp. 17–18. Retrieved 6 April 2023.</a:t>
            </a:r>
          </a:p>
          <a:p>
            <a:endParaRPr lang="en-US" i="1" dirty="0"/>
          </a:p>
          <a:p>
            <a:r>
              <a:rPr lang="en-US" dirty="0"/>
              <a:t>https://</a:t>
            </a:r>
            <a:r>
              <a:rPr lang="en-US" dirty="0" err="1"/>
              <a:t>archive.org</a:t>
            </a:r>
            <a:r>
              <a:rPr lang="en-US" dirty="0"/>
              <a:t>/details/b32170129/</a:t>
            </a:r>
          </a:p>
          <a:p>
            <a:endParaRPr lang="en-US" dirty="0"/>
          </a:p>
          <a:p>
            <a:r>
              <a:rPr lang="en-US" sz="1200" kern="1200" dirty="0">
                <a:solidFill>
                  <a:schemeClr val="tx1"/>
                </a:solidFill>
                <a:effectLst/>
                <a:latin typeface="Arial" charset="0"/>
                <a:ea typeface="ＭＳ Ｐゴシック" charset="0"/>
                <a:cs typeface="ＭＳ Ｐゴシック" charset="0"/>
              </a:rPr>
              <a:t>Units—Sulphur Dioxide. . Concentration in parts per million parts of air* (mean of ten sites). </a:t>
            </a:r>
            <a:endParaRPr lang="en-US" dirty="0"/>
          </a:p>
          <a:p>
            <a:r>
              <a:rPr lang="en-US" sz="1200" kern="1200" dirty="0">
                <a:solidFill>
                  <a:schemeClr val="tx1"/>
                </a:solidFill>
                <a:effectLst/>
                <a:latin typeface="Arial" charset="0"/>
                <a:ea typeface="ＭＳ Ｐゴシック" charset="0"/>
                <a:cs typeface="ＭＳ Ｐゴシック" charset="0"/>
              </a:rPr>
              <a:t>Smoke ae . Concentration in milligrams per cubic </a:t>
            </a:r>
            <a:r>
              <a:rPr lang="en-US" sz="1200" kern="1200" dirty="0" err="1">
                <a:solidFill>
                  <a:schemeClr val="tx1"/>
                </a:solidFill>
                <a:effectLst/>
                <a:latin typeface="Arial" charset="0"/>
                <a:ea typeface="ＭＳ Ｐゴシック" charset="0"/>
                <a:cs typeface="ＭＳ Ｐゴシック" charset="0"/>
              </a:rPr>
              <a:t>metre</a:t>
            </a:r>
            <a:r>
              <a:rPr lang="en-US" sz="1200" kern="1200" dirty="0">
                <a:solidFill>
                  <a:schemeClr val="tx1"/>
                </a:solidFill>
                <a:effectLst/>
                <a:latin typeface="Arial" charset="0"/>
                <a:ea typeface="ＭＳ Ｐゴシック" charset="0"/>
                <a:cs typeface="ＭＳ Ｐゴシック" charset="0"/>
              </a:rPr>
              <a:t> of air </a:t>
            </a:r>
            <a:r>
              <a:rPr lang="en-US" sz="1200" kern="1200" dirty="0" err="1">
                <a:solidFill>
                  <a:schemeClr val="tx1"/>
                </a:solidFill>
                <a:effectLst/>
                <a:latin typeface="Arial" charset="0"/>
                <a:ea typeface="ＭＳ Ｐゴシック" charset="0"/>
                <a:cs typeface="ＭＳ Ｐゴシック" charset="0"/>
              </a:rPr>
              <a:t>eo</a:t>
            </a:r>
            <a:r>
              <a:rPr lang="en-US" sz="1200" kern="1200" dirty="0">
                <a:solidFill>
                  <a:schemeClr val="tx1"/>
                </a:solidFill>
                <a:effectLst/>
                <a:latin typeface="Arial" charset="0"/>
                <a:ea typeface="ＭＳ Ｐゴシック" charset="0"/>
                <a:cs typeface="ＭＳ Ｐゴシック" charset="0"/>
              </a:rPr>
              <a:t> a (mean of twelve sites). </a:t>
            </a:r>
            <a:endParaRPr lang="en-US" dirty="0"/>
          </a:p>
          <a:p>
            <a:r>
              <a:rPr lang="en-US" sz="1200" kern="1200" dirty="0">
                <a:solidFill>
                  <a:schemeClr val="tx1"/>
                </a:solidFill>
                <a:effectLst/>
                <a:latin typeface="Arial" charset="0"/>
                <a:ea typeface="ＭＳ Ｐゴシック" charset="0"/>
                <a:cs typeface="ＭＳ Ｐゴシック" charset="0"/>
              </a:rPr>
              <a:t>Temperature </a:t>
            </a:r>
            <a:r>
              <a:rPr lang="en-US" sz="1200" kern="1200" dirty="0" err="1">
                <a:solidFill>
                  <a:schemeClr val="tx1"/>
                </a:solidFill>
                <a:effectLst/>
                <a:latin typeface="Arial" charset="0"/>
                <a:ea typeface="ＭＳ Ｐゴシック" charset="0"/>
                <a:cs typeface="ＭＳ Ｐゴシック" charset="0"/>
              </a:rPr>
              <a:t>beses</a:t>
            </a:r>
            <a:r>
              <a:rPr lang="en-US" sz="1200" kern="1200" dirty="0">
                <a:solidFill>
                  <a:schemeClr val="tx1"/>
                </a:solidFill>
                <a:effectLst/>
                <a:latin typeface="Arial" charset="0"/>
                <a:ea typeface="ＭＳ Ｐゴシック" charset="0"/>
                <a:cs typeface="ＭＳ Ｐゴシック" charset="0"/>
              </a:rPr>
              <a:t> Fahrenheit(</a:t>
            </a:r>
            <a:r>
              <a:rPr lang="en-US" sz="1200" kern="1200" dirty="0" err="1">
                <a:solidFill>
                  <a:schemeClr val="tx1"/>
                </a:solidFill>
                <a:effectLst/>
                <a:latin typeface="Arial" charset="0"/>
                <a:ea typeface="ＭＳ Ｐゴシック" charset="0"/>
                <a:cs typeface="ＭＳ Ｐゴシック" charset="0"/>
              </a:rPr>
              <a:t>noonreadingsonAirMinistry</a:t>
            </a:r>
            <a:r>
              <a:rPr lang="en-US" sz="1200" kern="1200" dirty="0">
                <a:solidFill>
                  <a:schemeClr val="tx1"/>
                </a:solidFill>
                <a:effectLst/>
                <a:latin typeface="Arial" charset="0"/>
                <a:ea typeface="ＭＳ Ｐゴシック" charset="0"/>
                <a:cs typeface="ＭＳ Ｐゴシック" charset="0"/>
              </a:rPr>
              <a:t> roof). . </a:t>
            </a:r>
            <a:endParaRPr lang="en-US" dirty="0"/>
          </a:p>
          <a:p>
            <a:r>
              <a:rPr lang="en-US" sz="1200" kern="1200" dirty="0">
                <a:solidFill>
                  <a:schemeClr val="tx1"/>
                </a:solidFill>
                <a:effectLst/>
                <a:latin typeface="Arial" charset="0"/>
                <a:ea typeface="ＭＳ Ｐゴシック" charset="0"/>
                <a:cs typeface="ＭＳ Ｐゴシック" charset="0"/>
              </a:rPr>
              <a:t>Deaths </a:t>
            </a:r>
            <a:r>
              <a:rPr lang="en-US" sz="1200" kern="1200" dirty="0" err="1">
                <a:solidFill>
                  <a:schemeClr val="tx1"/>
                </a:solidFill>
                <a:effectLst/>
                <a:latin typeface="Arial" charset="0"/>
                <a:ea typeface="ＭＳ Ｐゴシック" charset="0"/>
                <a:cs typeface="ＭＳ Ｐゴシック" charset="0"/>
              </a:rPr>
              <a:t>ee</a:t>
            </a:r>
            <a:r>
              <a:rPr lang="en-US" sz="1200" kern="1200" dirty="0">
                <a:solidFill>
                  <a:schemeClr val="tx1"/>
                </a:solidFill>
                <a:effectLst/>
                <a:latin typeface="Arial" charset="0"/>
                <a:ea typeface="ＭＳ Ｐゴシック" charset="0"/>
                <a:cs typeface="ＭＳ Ｐゴシック" charset="0"/>
              </a:rPr>
              <a:t> ...» Total </a:t>
            </a:r>
            <a:r>
              <a:rPr lang="en-US" sz="1200" kern="1200" dirty="0" err="1">
                <a:solidFill>
                  <a:schemeClr val="tx1"/>
                </a:solidFill>
                <a:effectLst/>
                <a:latin typeface="Arial" charset="0"/>
                <a:ea typeface="ＭＳ Ｐゴシック" charset="0"/>
                <a:cs typeface="ＭＳ Ｐゴシック" charset="0"/>
              </a:rPr>
              <a:t>numbér</a:t>
            </a:r>
            <a:r>
              <a:rPr lang="en-US" sz="1200" kern="1200" dirty="0">
                <a:solidFill>
                  <a:schemeClr val="tx1"/>
                </a:solidFill>
                <a:effectLst/>
                <a:latin typeface="Arial" charset="0"/>
                <a:ea typeface="ＭＳ Ｐゴシック" charset="0"/>
                <a:cs typeface="ＭＳ Ｐゴシック" charset="0"/>
              </a:rPr>
              <a:t> occurring each day. </a:t>
            </a:r>
            <a:endParaRPr lang="en-US" dirty="0"/>
          </a:p>
          <a:p>
            <a:endParaRPr lang="en-US" dirty="0"/>
          </a:p>
          <a:p>
            <a:endParaRPr lang="en-US" dirty="0"/>
          </a:p>
          <a:p>
            <a:r>
              <a:rPr lang="en-US" dirty="0"/>
              <a:t>More on the Great Smog:  https://</a:t>
            </a:r>
            <a:r>
              <a:rPr lang="en-US" dirty="0" err="1"/>
              <a:t>blog.nationalarchives.gov.uk</a:t>
            </a:r>
            <a:r>
              <a:rPr lang="en-US" dirty="0"/>
              <a:t>/the-great-smog-of-1952/</a:t>
            </a:r>
          </a:p>
        </p:txBody>
      </p:sp>
      <p:sp>
        <p:nvSpPr>
          <p:cNvPr id="4" name="Slide Number Placeholder 3"/>
          <p:cNvSpPr>
            <a:spLocks noGrp="1"/>
          </p:cNvSpPr>
          <p:nvPr>
            <p:ph type="sldNum" sz="quarter" idx="5"/>
          </p:nvPr>
        </p:nvSpPr>
        <p:spPr/>
        <p:txBody>
          <a:bodyPr/>
          <a:lstStyle/>
          <a:p>
            <a:pPr>
              <a:defRPr/>
            </a:pPr>
            <a:fld id="{48B5E055-83C5-1148-B1CC-2151D312576F}" type="slidenum">
              <a:rPr lang="en-US" altLang="en-US" smtClean="0"/>
              <a:pPr>
                <a:defRPr/>
              </a:pPr>
              <a:t>28</a:t>
            </a:fld>
            <a:endParaRPr lang="en-US" altLang="en-US"/>
          </a:p>
        </p:txBody>
      </p:sp>
    </p:spTree>
    <p:extLst>
      <p:ext uri="{BB962C8B-B14F-4D97-AF65-F5344CB8AC3E}">
        <p14:creationId xmlns:p14="http://schemas.microsoft.com/office/powerpoint/2010/main" val="18629077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t>
            </a:r>
            <a:r>
              <a:rPr lang="en-US" i="0" dirty="0"/>
              <a:t>Beaver, Hugh (December 1953). </a:t>
            </a:r>
            <a:r>
              <a:rPr lang="en-US" i="0" dirty="0">
                <a:hlinkClick r:id="rId3"/>
              </a:rPr>
              <a:t>"Great Britain Committee on Air Pollution: Interim Report"</a:t>
            </a:r>
            <a:r>
              <a:rPr lang="en-US" i="0" dirty="0"/>
              <a:t>. London: HMSO. pp. 17–18. Retrieved 6 April 2023.</a:t>
            </a:r>
          </a:p>
          <a:p>
            <a:endParaRPr lang="en-US" i="1" dirty="0"/>
          </a:p>
          <a:p>
            <a:r>
              <a:rPr lang="en-US" dirty="0"/>
              <a:t>https://</a:t>
            </a:r>
            <a:r>
              <a:rPr lang="en-US" dirty="0" err="1"/>
              <a:t>archive.org</a:t>
            </a:r>
            <a:r>
              <a:rPr lang="en-US" dirty="0"/>
              <a:t>/details/b32170129/</a:t>
            </a:r>
          </a:p>
          <a:p>
            <a:endParaRPr lang="en-US" dirty="0"/>
          </a:p>
          <a:p>
            <a:r>
              <a:rPr lang="en-US" dirty="0"/>
              <a:t>More on the Great Smog:  https://</a:t>
            </a:r>
            <a:r>
              <a:rPr lang="en-US" dirty="0" err="1"/>
              <a:t>blog.nationalarchives.gov.uk</a:t>
            </a:r>
            <a:r>
              <a:rPr lang="en-US" dirty="0"/>
              <a:t>/the-great-smog-of-1952/</a:t>
            </a:r>
          </a:p>
        </p:txBody>
      </p:sp>
      <p:sp>
        <p:nvSpPr>
          <p:cNvPr id="4" name="Slide Number Placeholder 3"/>
          <p:cNvSpPr>
            <a:spLocks noGrp="1"/>
          </p:cNvSpPr>
          <p:nvPr>
            <p:ph type="sldNum" sz="quarter" idx="5"/>
          </p:nvPr>
        </p:nvSpPr>
        <p:spPr/>
        <p:txBody>
          <a:bodyPr/>
          <a:lstStyle/>
          <a:p>
            <a:pPr>
              <a:defRPr/>
            </a:pPr>
            <a:fld id="{48B5E055-83C5-1148-B1CC-2151D312576F}" type="slidenum">
              <a:rPr lang="en-US" altLang="en-US" smtClean="0"/>
              <a:pPr>
                <a:defRPr/>
              </a:pPr>
              <a:t>29</a:t>
            </a:fld>
            <a:endParaRPr lang="en-US" altLang="en-US"/>
          </a:p>
        </p:txBody>
      </p:sp>
    </p:spTree>
    <p:extLst>
      <p:ext uri="{BB962C8B-B14F-4D97-AF65-F5344CB8AC3E}">
        <p14:creationId xmlns:p14="http://schemas.microsoft.com/office/powerpoint/2010/main" val="22544966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manunicast.seaes.manchester.ac.uk</a:t>
            </a:r>
            <a:r>
              <a:rPr lang="en-US" dirty="0"/>
              <a:t>/</a:t>
            </a:r>
            <a:r>
              <a:rPr lang="en-US" dirty="0" err="1"/>
              <a:t>view.php?t</a:t>
            </a:r>
            <a:r>
              <a:rPr lang="en-US" dirty="0"/>
              <a:t>=20250302&amp;d=d03&amp;p=138&amp;l=0</a:t>
            </a:r>
          </a:p>
        </p:txBody>
      </p:sp>
      <p:sp>
        <p:nvSpPr>
          <p:cNvPr id="4" name="Slide Number Placeholder 3"/>
          <p:cNvSpPr>
            <a:spLocks noGrp="1"/>
          </p:cNvSpPr>
          <p:nvPr>
            <p:ph type="sldNum" sz="quarter" idx="5"/>
          </p:nvPr>
        </p:nvSpPr>
        <p:spPr/>
        <p:txBody>
          <a:bodyPr/>
          <a:lstStyle/>
          <a:p>
            <a:pPr>
              <a:defRPr/>
            </a:pPr>
            <a:fld id="{48B5E055-83C5-1148-B1CC-2151D312576F}" type="slidenum">
              <a:rPr lang="en-US" altLang="en-US" smtClean="0"/>
              <a:pPr>
                <a:defRPr/>
              </a:pPr>
              <a:t>33</a:t>
            </a:fld>
            <a:endParaRPr lang="en-US" altLang="en-US"/>
          </a:p>
        </p:txBody>
      </p:sp>
    </p:spTree>
    <p:extLst>
      <p:ext uri="{BB962C8B-B14F-4D97-AF65-F5344CB8AC3E}">
        <p14:creationId xmlns:p14="http://schemas.microsoft.com/office/powerpoint/2010/main" val="5273961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manunicast.seaes.manchester.ac.uk</a:t>
            </a:r>
            <a:r>
              <a:rPr lang="en-US" dirty="0"/>
              <a:t>/</a:t>
            </a:r>
            <a:r>
              <a:rPr lang="en-US" dirty="0" err="1"/>
              <a:t>view.php?t</a:t>
            </a:r>
            <a:r>
              <a:rPr lang="en-US" dirty="0"/>
              <a:t>=20250302&amp;d=d03&amp;p=185&amp;l=0</a:t>
            </a:r>
          </a:p>
        </p:txBody>
      </p:sp>
      <p:sp>
        <p:nvSpPr>
          <p:cNvPr id="4" name="Slide Number Placeholder 3"/>
          <p:cNvSpPr>
            <a:spLocks noGrp="1"/>
          </p:cNvSpPr>
          <p:nvPr>
            <p:ph type="sldNum" sz="quarter" idx="5"/>
          </p:nvPr>
        </p:nvSpPr>
        <p:spPr/>
        <p:txBody>
          <a:bodyPr/>
          <a:lstStyle/>
          <a:p>
            <a:pPr>
              <a:defRPr/>
            </a:pPr>
            <a:fld id="{48B5E055-83C5-1148-B1CC-2151D312576F}" type="slidenum">
              <a:rPr lang="en-US" altLang="en-US" smtClean="0"/>
              <a:pPr>
                <a:defRPr/>
              </a:pPr>
              <a:t>34</a:t>
            </a:fld>
            <a:endParaRPr lang="en-US" altLang="en-US"/>
          </a:p>
        </p:txBody>
      </p:sp>
    </p:spTree>
    <p:extLst>
      <p:ext uri="{BB962C8B-B14F-4D97-AF65-F5344CB8AC3E}">
        <p14:creationId xmlns:p14="http://schemas.microsoft.com/office/powerpoint/2010/main" val="22534318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uk-air.defra.gov.uk</a:t>
            </a:r>
            <a:r>
              <a:rPr lang="en-US" dirty="0"/>
              <a:t>/latest/</a:t>
            </a:r>
            <a:r>
              <a:rPr lang="en-US" dirty="0" err="1"/>
              <a:t>period_plots?POL</a:t>
            </a:r>
            <a:r>
              <a:rPr lang="en-US" dirty="0"/>
              <a:t>=O3&amp;days=7</a:t>
            </a:r>
          </a:p>
          <a:p>
            <a:r>
              <a:rPr lang="en-US" dirty="0"/>
              <a:t>https://</a:t>
            </a:r>
            <a:r>
              <a:rPr lang="en-US" dirty="0" err="1"/>
              <a:t>uk-air.defra.gov.uk</a:t>
            </a:r>
            <a:r>
              <a:rPr lang="en-US" dirty="0"/>
              <a:t>/latest/</a:t>
            </a:r>
            <a:r>
              <a:rPr lang="en-US" dirty="0" err="1"/>
              <a:t>period_plots?POL</a:t>
            </a:r>
            <a:r>
              <a:rPr lang="en-US" dirty="0"/>
              <a:t>=NO2&amp;days=7</a:t>
            </a:r>
          </a:p>
        </p:txBody>
      </p:sp>
      <p:sp>
        <p:nvSpPr>
          <p:cNvPr id="4" name="Slide Number Placeholder 3"/>
          <p:cNvSpPr>
            <a:spLocks noGrp="1"/>
          </p:cNvSpPr>
          <p:nvPr>
            <p:ph type="sldNum" sz="quarter" idx="5"/>
          </p:nvPr>
        </p:nvSpPr>
        <p:spPr/>
        <p:txBody>
          <a:bodyPr/>
          <a:lstStyle/>
          <a:p>
            <a:pPr>
              <a:defRPr/>
            </a:pPr>
            <a:fld id="{48B5E055-83C5-1148-B1CC-2151D312576F}" type="slidenum">
              <a:rPr lang="en-US" altLang="en-US" smtClean="0"/>
              <a:pPr>
                <a:defRPr/>
              </a:pPr>
              <a:t>35</a:t>
            </a:fld>
            <a:endParaRPr lang="en-US" altLang="en-US"/>
          </a:p>
        </p:txBody>
      </p:sp>
    </p:spTree>
    <p:extLst>
      <p:ext uri="{BB962C8B-B14F-4D97-AF65-F5344CB8AC3E}">
        <p14:creationId xmlns:p14="http://schemas.microsoft.com/office/powerpoint/2010/main" val="25975740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Rectangle 2">
            <a:extLst>
              <a:ext uri="{FF2B5EF4-FFF2-40B4-BE49-F238E27FC236}">
                <a16:creationId xmlns:a16="http://schemas.microsoft.com/office/drawing/2014/main" id="{9A8614C9-63D8-1740-9E7E-8C649A9F8736}"/>
              </a:ext>
            </a:extLst>
          </p:cNvPr>
          <p:cNvSpPr>
            <a:spLocks noGrp="1" noRot="1" noChangeAspect="1" noChangeArrowheads="1" noTextEdit="1"/>
          </p:cNvSpPr>
          <p:nvPr>
            <p:ph type="sldImg"/>
          </p:nvPr>
        </p:nvSpPr>
        <p:spPr>
          <a:ln/>
        </p:spPr>
      </p:sp>
      <p:sp>
        <p:nvSpPr>
          <p:cNvPr id="166914" name="Rectangle 3">
            <a:extLst>
              <a:ext uri="{FF2B5EF4-FFF2-40B4-BE49-F238E27FC236}">
                <a16:creationId xmlns:a16="http://schemas.microsoft.com/office/drawing/2014/main" id="{8C1E8735-4F32-F64E-968F-4A8DEAEA7DD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ea typeface="ＭＳ Ｐゴシック" panose="020B0600070205080204" pitchFamily="34" charset="-128"/>
              </a:rPr>
              <a:t>For a real-time example of this, see the Tropical Atmosphere Ocean observing array in the tropical North Pacific Ocean.  Here is one of those sites with temperature as a function of depth.</a:t>
            </a:r>
          </a:p>
          <a:p>
            <a:endParaRPr lang="en-US" altLang="en-US" dirty="0">
              <a:latin typeface="Arial" panose="020B0604020202020204" pitchFamily="34" charset="0"/>
              <a:ea typeface="ＭＳ Ｐゴシック" panose="020B0600070205080204" pitchFamily="34" charset="-128"/>
            </a:endParaRPr>
          </a:p>
          <a:p>
            <a:r>
              <a:rPr lang="en-US" altLang="en-US" dirty="0">
                <a:latin typeface="Arial" panose="020B0604020202020204" pitchFamily="34" charset="0"/>
                <a:ea typeface="ＭＳ Ｐゴシック" panose="020B0600070205080204" pitchFamily="34" charset="-128"/>
              </a:rPr>
              <a:t>https://</a:t>
            </a:r>
            <a:r>
              <a:rPr lang="en-US" altLang="en-US" dirty="0" err="1">
                <a:latin typeface="Arial" panose="020B0604020202020204" pitchFamily="34" charset="0"/>
                <a:ea typeface="ＭＳ Ｐゴシック" panose="020B0600070205080204" pitchFamily="34" charset="-128"/>
              </a:rPr>
              <a:t>tao.ndbc.noaa.gov</a:t>
            </a:r>
            <a:r>
              <a:rPr lang="en-US" altLang="en-US" dirty="0">
                <a:latin typeface="Arial" panose="020B0604020202020204" pitchFamily="34" charset="0"/>
                <a:ea typeface="ＭＳ Ｐゴシック" panose="020B0600070205080204" pitchFamily="34" charset="-128"/>
              </a:rPr>
              <a:t>/refreshed/</a:t>
            </a:r>
            <a:r>
              <a:rPr lang="en-US" altLang="en-US" dirty="0" err="1">
                <a:latin typeface="Arial" panose="020B0604020202020204" pitchFamily="34" charset="0"/>
                <a:ea typeface="ＭＳ Ｐゴシック" panose="020B0600070205080204" pitchFamily="34" charset="-128"/>
              </a:rPr>
              <a:t>site.php?site</a:t>
            </a:r>
            <a:r>
              <a:rPr lang="en-US" altLang="en-US" dirty="0">
                <a:latin typeface="Arial" panose="020B0604020202020204" pitchFamily="34" charset="0"/>
                <a:ea typeface="ＭＳ Ｐゴシック" panose="020B0600070205080204" pitchFamily="34" charset="-128"/>
              </a:rPr>
              <a:t>=24</a:t>
            </a:r>
          </a:p>
          <a:p>
            <a:endParaRPr lang="en-US" altLang="en-US" dirty="0">
              <a:latin typeface="Arial" panose="020B0604020202020204" pitchFamily="34" charset="0"/>
              <a:ea typeface="ＭＳ Ｐゴシック" panose="020B0600070205080204" pitchFamily="34" charset="-128"/>
            </a:endParaRPr>
          </a:p>
          <a:p>
            <a:r>
              <a:rPr lang="en-US" altLang="en-US" dirty="0">
                <a:latin typeface="Arial" panose="020B0604020202020204" pitchFamily="34" charset="0"/>
                <a:ea typeface="ＭＳ Ｐゴシック" panose="020B0600070205080204" pitchFamily="34" charset="-128"/>
              </a:rPr>
              <a:t>For a real-time look at buoys around the world, see https://</a:t>
            </a:r>
            <a:r>
              <a:rPr lang="en-US" altLang="en-US" dirty="0" err="1">
                <a:latin typeface="Arial" panose="020B0604020202020204" pitchFamily="34" charset="0"/>
                <a:ea typeface="ＭＳ Ｐゴシック" panose="020B0600070205080204" pitchFamily="34" charset="-128"/>
              </a:rPr>
              <a:t>www.ndbc.noaa.gov</a:t>
            </a:r>
            <a:r>
              <a:rPr lang="en-US" altLang="en-US" dirty="0">
                <a:latin typeface="Arial" panose="020B0604020202020204" pitchFamily="34" charset="0"/>
                <a:ea typeface="ＭＳ Ｐゴシック" panose="020B0600070205080204" pitchFamily="34" charset="-128"/>
              </a:rPr>
              <a:t>/.</a:t>
            </a:r>
          </a:p>
        </p:txBody>
      </p:sp>
    </p:spTree>
    <p:extLst>
      <p:ext uri="{BB962C8B-B14F-4D97-AF65-F5344CB8AC3E}">
        <p14:creationId xmlns:p14="http://schemas.microsoft.com/office/powerpoint/2010/main" val="20475700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7">
            <a:extLst>
              <a:ext uri="{FF2B5EF4-FFF2-40B4-BE49-F238E27FC236}">
                <a16:creationId xmlns:a16="http://schemas.microsoft.com/office/drawing/2014/main" id="{1FED25D0-1C1B-4645-AEFC-24978347FC5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3CC3825D-1CF7-5E45-A08B-4C02F31A6D74}" type="slidenum">
              <a:rPr lang="en-US" altLang="en-US" sz="1200"/>
              <a:pPr eaLnBrk="1" hangingPunct="1"/>
              <a:t>40</a:t>
            </a:fld>
            <a:endParaRPr lang="en-US" altLang="en-US" sz="1200"/>
          </a:p>
        </p:txBody>
      </p:sp>
      <p:sp>
        <p:nvSpPr>
          <p:cNvPr id="138242" name="Rectangle 2">
            <a:extLst>
              <a:ext uri="{FF2B5EF4-FFF2-40B4-BE49-F238E27FC236}">
                <a16:creationId xmlns:a16="http://schemas.microsoft.com/office/drawing/2014/main" id="{F5E1E6AD-2A90-BA4C-B173-FECB18B4CF2F}"/>
              </a:ext>
            </a:extLst>
          </p:cNvPr>
          <p:cNvSpPr>
            <a:spLocks noGrp="1" noRot="1" noChangeAspect="1" noChangeArrowheads="1" noTextEdit="1"/>
          </p:cNvSpPr>
          <p:nvPr>
            <p:ph type="sldImg"/>
          </p:nvPr>
        </p:nvSpPr>
        <p:spPr>
          <a:ln/>
        </p:spPr>
      </p:sp>
      <p:sp>
        <p:nvSpPr>
          <p:cNvPr id="138243" name="Rectangle 3">
            <a:extLst>
              <a:ext uri="{FF2B5EF4-FFF2-40B4-BE49-F238E27FC236}">
                <a16:creationId xmlns:a16="http://schemas.microsoft.com/office/drawing/2014/main" id="{04A150FC-F270-634C-AFF0-F9D1704C9FC2}"/>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2915616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7">
            <a:extLst>
              <a:ext uri="{FF2B5EF4-FFF2-40B4-BE49-F238E27FC236}">
                <a16:creationId xmlns:a16="http://schemas.microsoft.com/office/drawing/2014/main" id="{14B611CB-3837-FC40-8131-A3D0B27FB55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329F11A9-E908-594B-8B9B-41F4BD4D0946}" type="slidenum">
              <a:rPr lang="en-US" altLang="en-US" sz="1200"/>
              <a:pPr eaLnBrk="1" hangingPunct="1"/>
              <a:t>41</a:t>
            </a:fld>
            <a:endParaRPr lang="en-US" altLang="en-US" sz="1200"/>
          </a:p>
        </p:txBody>
      </p:sp>
      <p:sp>
        <p:nvSpPr>
          <p:cNvPr id="140290" name="Rectangle 2">
            <a:extLst>
              <a:ext uri="{FF2B5EF4-FFF2-40B4-BE49-F238E27FC236}">
                <a16:creationId xmlns:a16="http://schemas.microsoft.com/office/drawing/2014/main" id="{1FDA25F8-7CAD-5B46-8F92-4DB2E8931872}"/>
              </a:ext>
            </a:extLst>
          </p:cNvPr>
          <p:cNvSpPr>
            <a:spLocks noGrp="1" noRot="1" noChangeAspect="1" noChangeArrowheads="1" noTextEdit="1"/>
          </p:cNvSpPr>
          <p:nvPr>
            <p:ph type="sldImg"/>
          </p:nvPr>
        </p:nvSpPr>
        <p:spPr>
          <a:ln/>
        </p:spPr>
      </p:sp>
      <p:sp>
        <p:nvSpPr>
          <p:cNvPr id="140291" name="Rectangle 3">
            <a:extLst>
              <a:ext uri="{FF2B5EF4-FFF2-40B4-BE49-F238E27FC236}">
                <a16:creationId xmlns:a16="http://schemas.microsoft.com/office/drawing/2014/main" id="{1624F043-164C-034E-8402-5FB86FDD2FDC}"/>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err="1"/>
              <a:t>kùróshíó</a:t>
            </a:r>
            <a:endParaRPr lang="en-GB" altLang="en-US" dirty="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2947654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Rectangle 7">
            <a:extLst>
              <a:ext uri="{FF2B5EF4-FFF2-40B4-BE49-F238E27FC236}">
                <a16:creationId xmlns:a16="http://schemas.microsoft.com/office/drawing/2014/main" id="{1814F9DF-326F-7F40-AE9E-AE2B191C31FA}"/>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eaLnBrk="1" hangingPunct="1"/>
            <a:fld id="{4F71C307-D2E0-8F4C-A87A-F93B6F2AB891}" type="slidenum">
              <a:rPr lang="en-US" altLang="en-US" sz="1200"/>
              <a:pPr algn="r" eaLnBrk="1" hangingPunct="1"/>
              <a:t>42</a:t>
            </a:fld>
            <a:endParaRPr lang="en-US" altLang="en-US" sz="1200"/>
          </a:p>
        </p:txBody>
      </p:sp>
      <p:sp>
        <p:nvSpPr>
          <p:cNvPr id="144386" name="Rectangle 2">
            <a:extLst>
              <a:ext uri="{FF2B5EF4-FFF2-40B4-BE49-F238E27FC236}">
                <a16:creationId xmlns:a16="http://schemas.microsoft.com/office/drawing/2014/main" id="{FB166706-B48C-2B44-A148-63AEF042A238}"/>
              </a:ext>
            </a:extLst>
          </p:cNvPr>
          <p:cNvSpPr>
            <a:spLocks noGrp="1" noRot="1" noChangeAspect="1" noChangeArrowheads="1" noTextEdit="1"/>
          </p:cNvSpPr>
          <p:nvPr>
            <p:ph type="sldImg"/>
          </p:nvPr>
        </p:nvSpPr>
        <p:spPr>
          <a:solidFill>
            <a:srgbClr val="FFFFFF"/>
          </a:solidFill>
          <a:ln/>
        </p:spPr>
      </p:sp>
      <p:sp>
        <p:nvSpPr>
          <p:cNvPr id="144387" name="Rectangle 3">
            <a:extLst>
              <a:ext uri="{FF2B5EF4-FFF2-40B4-BE49-F238E27FC236}">
                <a16:creationId xmlns:a16="http://schemas.microsoft.com/office/drawing/2014/main" id="{599718CE-5824-C440-AA48-C551E2E655F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a:latin typeface="Arial" panose="020B0604020202020204" pitchFamily="34" charset="0"/>
                <a:ea typeface="ＭＳ Ｐゴシック" panose="020B0600070205080204" pitchFamily="34" charset="-128"/>
              </a:rPr>
              <a:t>S</a:t>
            </a:r>
          </a:p>
        </p:txBody>
      </p:sp>
    </p:spTree>
    <p:extLst>
      <p:ext uri="{BB962C8B-B14F-4D97-AF65-F5344CB8AC3E}">
        <p14:creationId xmlns:p14="http://schemas.microsoft.com/office/powerpoint/2010/main" val="29108164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Rectangle 7">
            <a:extLst>
              <a:ext uri="{FF2B5EF4-FFF2-40B4-BE49-F238E27FC236}">
                <a16:creationId xmlns:a16="http://schemas.microsoft.com/office/drawing/2014/main" id="{DEA87229-39AF-B344-99FB-6A027B3D5E7D}"/>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eaLnBrk="1" hangingPunct="1"/>
            <a:fld id="{6AE03B85-285A-E64D-BD0F-0C1C34476DDD}" type="slidenum">
              <a:rPr lang="en-US" altLang="en-US" sz="1200"/>
              <a:pPr algn="r" eaLnBrk="1" hangingPunct="1"/>
              <a:t>43</a:t>
            </a:fld>
            <a:endParaRPr lang="en-US" altLang="en-US" sz="1200"/>
          </a:p>
        </p:txBody>
      </p:sp>
      <p:sp>
        <p:nvSpPr>
          <p:cNvPr id="146434" name="Rectangle 2">
            <a:extLst>
              <a:ext uri="{FF2B5EF4-FFF2-40B4-BE49-F238E27FC236}">
                <a16:creationId xmlns:a16="http://schemas.microsoft.com/office/drawing/2014/main" id="{0D5E20AB-A183-7142-910A-EB00E20D5B0E}"/>
              </a:ext>
            </a:extLst>
          </p:cNvPr>
          <p:cNvSpPr>
            <a:spLocks noGrp="1" noRot="1" noChangeAspect="1" noChangeArrowheads="1" noTextEdit="1"/>
          </p:cNvSpPr>
          <p:nvPr>
            <p:ph type="sldImg"/>
          </p:nvPr>
        </p:nvSpPr>
        <p:spPr>
          <a:solidFill>
            <a:srgbClr val="FFFFFF"/>
          </a:solidFill>
          <a:ln/>
        </p:spPr>
      </p:sp>
      <p:sp>
        <p:nvSpPr>
          <p:cNvPr id="146435" name="Rectangle 3">
            <a:extLst>
              <a:ext uri="{FF2B5EF4-FFF2-40B4-BE49-F238E27FC236}">
                <a16:creationId xmlns:a16="http://schemas.microsoft.com/office/drawing/2014/main" id="{B5AD6F43-41C5-CB4E-9160-0E40EE9528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a:latin typeface="Arial" panose="020B0604020202020204" pitchFamily="34" charset="0"/>
                <a:ea typeface="ＭＳ Ｐゴシック" panose="020B0600070205080204" pitchFamily="34" charset="-128"/>
              </a:rPr>
              <a:t>S</a:t>
            </a:r>
          </a:p>
        </p:txBody>
      </p:sp>
    </p:spTree>
    <p:extLst>
      <p:ext uri="{BB962C8B-B14F-4D97-AF65-F5344CB8AC3E}">
        <p14:creationId xmlns:p14="http://schemas.microsoft.com/office/powerpoint/2010/main" val="20349619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Rectangle 7">
            <a:extLst>
              <a:ext uri="{FF2B5EF4-FFF2-40B4-BE49-F238E27FC236}">
                <a16:creationId xmlns:a16="http://schemas.microsoft.com/office/drawing/2014/main" id="{FB7AD191-2F7C-B14E-B22F-F255883DF6A5}"/>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eaLnBrk="1" hangingPunct="1"/>
            <a:fld id="{4E197309-F6C5-BA4A-AC48-75C000C99B92}" type="slidenum">
              <a:rPr lang="en-US" altLang="en-US" sz="1200"/>
              <a:pPr algn="r" eaLnBrk="1" hangingPunct="1"/>
              <a:t>44</a:t>
            </a:fld>
            <a:endParaRPr lang="en-US" altLang="en-US" sz="1200"/>
          </a:p>
        </p:txBody>
      </p:sp>
      <p:sp>
        <p:nvSpPr>
          <p:cNvPr id="148482" name="Rectangle 2">
            <a:extLst>
              <a:ext uri="{FF2B5EF4-FFF2-40B4-BE49-F238E27FC236}">
                <a16:creationId xmlns:a16="http://schemas.microsoft.com/office/drawing/2014/main" id="{D70CBE70-968A-874F-BF52-AE83B8515115}"/>
              </a:ext>
            </a:extLst>
          </p:cNvPr>
          <p:cNvSpPr>
            <a:spLocks noGrp="1" noRot="1" noChangeAspect="1" noChangeArrowheads="1" noTextEdit="1"/>
          </p:cNvSpPr>
          <p:nvPr>
            <p:ph type="sldImg"/>
          </p:nvPr>
        </p:nvSpPr>
        <p:spPr>
          <a:solidFill>
            <a:srgbClr val="FFFFFF"/>
          </a:solidFill>
          <a:ln/>
        </p:spPr>
      </p:sp>
      <p:sp>
        <p:nvSpPr>
          <p:cNvPr id="148483" name="Rectangle 3">
            <a:extLst>
              <a:ext uri="{FF2B5EF4-FFF2-40B4-BE49-F238E27FC236}">
                <a16:creationId xmlns:a16="http://schemas.microsoft.com/office/drawing/2014/main" id="{CA8AFE46-B2BB-7149-A899-F7D51468BD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a:latin typeface="Arial" panose="020B0604020202020204" pitchFamily="34" charset="0"/>
                <a:ea typeface="ＭＳ Ｐゴシック" panose="020B0600070205080204" pitchFamily="34" charset="-128"/>
              </a:rPr>
              <a:t>S</a:t>
            </a:r>
          </a:p>
        </p:txBody>
      </p:sp>
    </p:spTree>
    <p:extLst>
      <p:ext uri="{BB962C8B-B14F-4D97-AF65-F5344CB8AC3E}">
        <p14:creationId xmlns:p14="http://schemas.microsoft.com/office/powerpoint/2010/main" val="33302784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Rectangle 7">
            <a:extLst>
              <a:ext uri="{FF2B5EF4-FFF2-40B4-BE49-F238E27FC236}">
                <a16:creationId xmlns:a16="http://schemas.microsoft.com/office/drawing/2014/main" id="{FB7AD191-2F7C-B14E-B22F-F255883DF6A5}"/>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eaLnBrk="1" hangingPunct="1"/>
            <a:fld id="{4E197309-F6C5-BA4A-AC48-75C000C99B92}" type="slidenum">
              <a:rPr lang="en-US" altLang="en-US" sz="1200"/>
              <a:pPr algn="r" eaLnBrk="1" hangingPunct="1"/>
              <a:t>45</a:t>
            </a:fld>
            <a:endParaRPr lang="en-US" altLang="en-US" sz="1200"/>
          </a:p>
        </p:txBody>
      </p:sp>
      <p:sp>
        <p:nvSpPr>
          <p:cNvPr id="148482" name="Rectangle 2">
            <a:extLst>
              <a:ext uri="{FF2B5EF4-FFF2-40B4-BE49-F238E27FC236}">
                <a16:creationId xmlns:a16="http://schemas.microsoft.com/office/drawing/2014/main" id="{D70CBE70-968A-874F-BF52-AE83B8515115}"/>
              </a:ext>
            </a:extLst>
          </p:cNvPr>
          <p:cNvSpPr>
            <a:spLocks noGrp="1" noRot="1" noChangeAspect="1" noChangeArrowheads="1" noTextEdit="1"/>
          </p:cNvSpPr>
          <p:nvPr>
            <p:ph type="sldImg"/>
          </p:nvPr>
        </p:nvSpPr>
        <p:spPr>
          <a:solidFill>
            <a:srgbClr val="FFFFFF"/>
          </a:solidFill>
          <a:ln/>
        </p:spPr>
      </p:sp>
      <p:sp>
        <p:nvSpPr>
          <p:cNvPr id="148483" name="Rectangle 3">
            <a:extLst>
              <a:ext uri="{FF2B5EF4-FFF2-40B4-BE49-F238E27FC236}">
                <a16:creationId xmlns:a16="http://schemas.microsoft.com/office/drawing/2014/main" id="{CA8AFE46-B2BB-7149-A899-F7D51468BD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a:latin typeface="Arial" panose="020B0604020202020204" pitchFamily="34" charset="0"/>
                <a:ea typeface="ＭＳ Ｐゴシック" panose="020B0600070205080204" pitchFamily="34" charset="-128"/>
              </a:rPr>
              <a:t>S</a:t>
            </a:r>
          </a:p>
        </p:txBody>
      </p:sp>
    </p:spTree>
    <p:extLst>
      <p:ext uri="{BB962C8B-B14F-4D97-AF65-F5344CB8AC3E}">
        <p14:creationId xmlns:p14="http://schemas.microsoft.com/office/powerpoint/2010/main" val="240063761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Rectangle 7">
            <a:extLst>
              <a:ext uri="{FF2B5EF4-FFF2-40B4-BE49-F238E27FC236}">
                <a16:creationId xmlns:a16="http://schemas.microsoft.com/office/drawing/2014/main" id="{BDFFA4A9-3240-1845-ADEB-CC7A759478AE}"/>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eaLnBrk="1" hangingPunct="1"/>
            <a:fld id="{A1F94AB9-0E9C-044E-9C41-69C59D340B04}" type="slidenum">
              <a:rPr lang="en-US" altLang="en-US" sz="1200"/>
              <a:pPr algn="r" eaLnBrk="1" hangingPunct="1"/>
              <a:t>46</a:t>
            </a:fld>
            <a:endParaRPr lang="en-US" altLang="en-US" sz="1200"/>
          </a:p>
        </p:txBody>
      </p:sp>
      <p:sp>
        <p:nvSpPr>
          <p:cNvPr id="160770" name="Rectangle 2">
            <a:extLst>
              <a:ext uri="{FF2B5EF4-FFF2-40B4-BE49-F238E27FC236}">
                <a16:creationId xmlns:a16="http://schemas.microsoft.com/office/drawing/2014/main" id="{D1479EC1-0DE2-B943-AC62-194193DF7189}"/>
              </a:ext>
            </a:extLst>
          </p:cNvPr>
          <p:cNvSpPr>
            <a:spLocks noGrp="1" noRot="1" noChangeAspect="1" noChangeArrowheads="1" noTextEdit="1"/>
          </p:cNvSpPr>
          <p:nvPr>
            <p:ph type="sldImg"/>
          </p:nvPr>
        </p:nvSpPr>
        <p:spPr>
          <a:solidFill>
            <a:srgbClr val="FFFFFF"/>
          </a:solidFill>
          <a:ln/>
        </p:spPr>
      </p:sp>
      <p:sp>
        <p:nvSpPr>
          <p:cNvPr id="160771" name="Rectangle 3">
            <a:extLst>
              <a:ext uri="{FF2B5EF4-FFF2-40B4-BE49-F238E27FC236}">
                <a16:creationId xmlns:a16="http://schemas.microsoft.com/office/drawing/2014/main" id="{F813EFF8-5229-8248-9500-9F1BCE5D3C3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a:latin typeface="Arial" panose="020B0604020202020204" pitchFamily="34" charset="0"/>
                <a:ea typeface="ＭＳ Ｐゴシック" panose="020B0600070205080204" pitchFamily="34" charset="-128"/>
              </a:rPr>
              <a:t>http://</a:t>
            </a:r>
            <a:r>
              <a:rPr lang="en-GB" altLang="en-US" dirty="0" err="1">
                <a:latin typeface="Arial" panose="020B0604020202020204" pitchFamily="34" charset="0"/>
                <a:ea typeface="ＭＳ Ｐゴシック" panose="020B0600070205080204" pitchFamily="34" charset="-128"/>
              </a:rPr>
              <a:t>oceanservice.noaa.gov</a:t>
            </a:r>
            <a:r>
              <a:rPr lang="en-GB" altLang="en-US" dirty="0">
                <a:latin typeface="Arial" panose="020B0604020202020204" pitchFamily="34" charset="0"/>
                <a:ea typeface="ＭＳ Ｐゴシック" panose="020B0600070205080204" pitchFamily="34" charset="-128"/>
              </a:rPr>
              <a:t>/education/kits/currents/media/supp_cur05e.html</a:t>
            </a:r>
          </a:p>
          <a:p>
            <a:pPr eaLnBrk="1" hangingPunct="1"/>
            <a:endParaRPr lang="en-GB" altLang="en-US" dirty="0">
              <a:latin typeface="Arial" panose="020B0604020202020204" pitchFamily="34" charset="0"/>
              <a:ea typeface="ＭＳ Ｐゴシック" panose="020B0600070205080204" pitchFamily="34" charset="-128"/>
            </a:endParaRPr>
          </a:p>
          <a:p>
            <a:pPr eaLnBrk="1" hangingPunct="1"/>
            <a:r>
              <a:rPr lang="en-US" dirty="0"/>
              <a:t>The Ekman spiral, named after Swedish scientist </a:t>
            </a:r>
            <a:r>
              <a:rPr lang="en-US" dirty="0" err="1"/>
              <a:t>Vagn</a:t>
            </a:r>
            <a:r>
              <a:rPr lang="en-US" dirty="0"/>
              <a:t> </a:t>
            </a:r>
            <a:r>
              <a:rPr lang="en-US" dirty="0" err="1"/>
              <a:t>Walfrid</a:t>
            </a:r>
            <a:r>
              <a:rPr lang="en-US" dirty="0"/>
              <a:t> Ekman (1874-1954) who first theorized it in 1902, is a consequence of the Coriolis effect. When surface water molecules move by the force of the wind, they, in turn, drag deeper layers of water molecules below them. Each layer of water molecules is moved by friction from the shallower layer, and each deeper layer moves more slowly than the layer above it, until the movement ceases at a depth of about 100 meters (330 feet). Like the surface water, however, the deeper water is deflected by the Coriolis effect—to the right in the Northern Hemisphere and to the left in the Southern Hemisphere. As a result, each successively deeper layer of water moves more slowly to the right or left, creating a spiral effect. Because the deeper layers of water move more slowly than the shallower layers, they tend to “twist around” and flow opposite to the surface current.</a:t>
            </a:r>
            <a:endParaRPr lang="en-GB" altLang="en-US" dirty="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5773688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Arial" charset="0"/>
                <a:ea typeface="ＭＳ Ｐゴシック" charset="0"/>
                <a:cs typeface="ＭＳ Ｐゴシック" charset="0"/>
              </a:rPr>
              <a:t>Schultz, D. M., W. E. Bracken, L. F. </a:t>
            </a:r>
            <a:r>
              <a:rPr lang="en-US" sz="1200" kern="1200" dirty="0" err="1">
                <a:solidFill>
                  <a:schemeClr val="tx1"/>
                </a:solidFill>
                <a:effectLst/>
                <a:latin typeface="Arial" charset="0"/>
                <a:ea typeface="ＭＳ Ｐゴシック" charset="0"/>
                <a:cs typeface="ＭＳ Ｐゴシック" charset="0"/>
              </a:rPr>
              <a:t>Bosart</a:t>
            </a:r>
            <a:r>
              <a:rPr lang="en-US" sz="1200" kern="1200" dirty="0">
                <a:solidFill>
                  <a:schemeClr val="tx1"/>
                </a:solidFill>
                <a:effectLst/>
                <a:latin typeface="Arial" charset="0"/>
                <a:ea typeface="ＭＳ Ｐゴシック" charset="0"/>
                <a:cs typeface="ＭＳ Ｐゴシック" charset="0"/>
              </a:rPr>
              <a:t>, G. J. Hakim, M. A. </a:t>
            </a:r>
            <a:r>
              <a:rPr lang="en-US" sz="1200" kern="1200" dirty="0" err="1">
                <a:solidFill>
                  <a:schemeClr val="tx1"/>
                </a:solidFill>
                <a:effectLst/>
                <a:latin typeface="Arial" charset="0"/>
                <a:ea typeface="ＭＳ Ｐゴシック" charset="0"/>
                <a:cs typeface="ＭＳ Ｐゴシック" charset="0"/>
              </a:rPr>
              <a:t>Bedrick</a:t>
            </a:r>
            <a:r>
              <a:rPr lang="en-US" sz="1200" kern="1200" dirty="0">
                <a:solidFill>
                  <a:schemeClr val="tx1"/>
                </a:solidFill>
                <a:effectLst/>
                <a:latin typeface="Arial" charset="0"/>
                <a:ea typeface="ＭＳ Ｐゴシック" charset="0"/>
                <a:cs typeface="ＭＳ Ｐゴシック" charset="0"/>
              </a:rPr>
              <a:t>, M. J. Dickinson, and K. R. </a:t>
            </a:r>
            <a:r>
              <a:rPr lang="en-US" sz="1200" kern="1200" dirty="0" err="1">
                <a:solidFill>
                  <a:schemeClr val="tx1"/>
                </a:solidFill>
                <a:effectLst/>
                <a:latin typeface="Arial" charset="0"/>
                <a:ea typeface="ＭＳ Ｐゴシック" charset="0"/>
                <a:cs typeface="ＭＳ Ｐゴシック" charset="0"/>
              </a:rPr>
              <a:t>Tyle</a:t>
            </a:r>
            <a:r>
              <a:rPr lang="en-US" sz="1200" kern="1200" dirty="0">
                <a:solidFill>
                  <a:schemeClr val="tx1"/>
                </a:solidFill>
                <a:effectLst/>
                <a:latin typeface="Arial" charset="0"/>
                <a:ea typeface="ＭＳ Ｐゴシック" charset="0"/>
                <a:cs typeface="ＭＳ Ｐゴシック" charset="0"/>
              </a:rPr>
              <a:t>, 1997: The 1993 Superstorm cold surge: Frontal structure, gap flow, and tropical impact. </a:t>
            </a:r>
            <a:r>
              <a:rPr lang="en-US" sz="1200" i="1" kern="1200" dirty="0">
                <a:solidFill>
                  <a:schemeClr val="tx1"/>
                </a:solidFill>
                <a:effectLst/>
                <a:latin typeface="Arial" charset="0"/>
                <a:ea typeface="ＭＳ Ｐゴシック" charset="0"/>
                <a:cs typeface="ＭＳ Ｐゴシック" charset="0"/>
              </a:rPr>
              <a:t>Mon. </a:t>
            </a:r>
            <a:r>
              <a:rPr lang="en-US" sz="1200" i="1" kern="1200" dirty="0" err="1">
                <a:solidFill>
                  <a:schemeClr val="tx1"/>
                </a:solidFill>
                <a:effectLst/>
                <a:latin typeface="Arial" charset="0"/>
                <a:ea typeface="ＭＳ Ｐゴシック" charset="0"/>
                <a:cs typeface="ＭＳ Ｐゴシック" charset="0"/>
              </a:rPr>
              <a:t>Wea</a:t>
            </a:r>
            <a:r>
              <a:rPr lang="en-US" sz="1200" i="1" kern="1200" dirty="0">
                <a:solidFill>
                  <a:schemeClr val="tx1"/>
                </a:solidFill>
                <a:effectLst/>
                <a:latin typeface="Arial" charset="0"/>
                <a:ea typeface="ＭＳ Ｐゴシック" charset="0"/>
                <a:cs typeface="ＭＳ Ｐゴシック" charset="0"/>
              </a:rPr>
              <a:t>. Rev., </a:t>
            </a:r>
            <a:r>
              <a:rPr lang="en-US" sz="1200" b="1" kern="1200" dirty="0">
                <a:solidFill>
                  <a:schemeClr val="tx1"/>
                </a:solidFill>
                <a:effectLst/>
                <a:latin typeface="Arial" charset="0"/>
                <a:ea typeface="ＭＳ Ｐゴシック" charset="0"/>
                <a:cs typeface="ＭＳ Ｐゴシック" charset="0"/>
              </a:rPr>
              <a:t>125, </a:t>
            </a:r>
            <a:r>
              <a:rPr lang="en-US" sz="1200" kern="1200" dirty="0">
                <a:solidFill>
                  <a:schemeClr val="tx1"/>
                </a:solidFill>
                <a:effectLst/>
                <a:latin typeface="Arial" charset="0"/>
                <a:ea typeface="ＭＳ Ｐゴシック" charset="0"/>
                <a:cs typeface="ＭＳ Ｐゴシック" charset="0"/>
              </a:rPr>
              <a:t>5–39; Corrigendum, </a:t>
            </a:r>
            <a:r>
              <a:rPr lang="en-US" sz="1200" b="1" kern="1200" dirty="0">
                <a:solidFill>
                  <a:schemeClr val="tx1"/>
                </a:solidFill>
                <a:effectLst/>
                <a:latin typeface="Arial" charset="0"/>
                <a:ea typeface="ＭＳ Ｐゴシック" charset="0"/>
                <a:cs typeface="ＭＳ Ｐゴシック" charset="0"/>
              </a:rPr>
              <a:t>125, </a:t>
            </a:r>
            <a:r>
              <a:rPr lang="en-US" sz="1200" kern="1200" dirty="0">
                <a:solidFill>
                  <a:schemeClr val="tx1"/>
                </a:solidFill>
                <a:effectLst/>
                <a:latin typeface="Arial" charset="0"/>
                <a:ea typeface="ＭＳ Ｐゴシック" charset="0"/>
                <a:cs typeface="ＭＳ Ｐゴシック" charset="0"/>
              </a:rPr>
              <a:t>662. </a:t>
            </a:r>
            <a:endParaRPr lang="en-US" dirty="0"/>
          </a:p>
        </p:txBody>
      </p:sp>
      <p:sp>
        <p:nvSpPr>
          <p:cNvPr id="4" name="Slide Number Placeholder 3"/>
          <p:cNvSpPr>
            <a:spLocks noGrp="1"/>
          </p:cNvSpPr>
          <p:nvPr>
            <p:ph type="sldNum" sz="quarter" idx="5"/>
          </p:nvPr>
        </p:nvSpPr>
        <p:spPr/>
        <p:txBody>
          <a:bodyPr/>
          <a:lstStyle/>
          <a:p>
            <a:pPr>
              <a:defRPr/>
            </a:pPr>
            <a:fld id="{48B5E055-83C5-1148-B1CC-2151D312576F}" type="slidenum">
              <a:rPr lang="en-US" altLang="en-US" smtClean="0"/>
              <a:pPr>
                <a:defRPr/>
              </a:pPr>
              <a:t>51</a:t>
            </a:fld>
            <a:endParaRPr lang="en-US" altLang="en-US"/>
          </a:p>
        </p:txBody>
      </p:sp>
    </p:spTree>
    <p:extLst>
      <p:ext uri="{BB962C8B-B14F-4D97-AF65-F5344CB8AC3E}">
        <p14:creationId xmlns:p14="http://schemas.microsoft.com/office/powerpoint/2010/main" val="18447299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Arial" charset="0"/>
                <a:ea typeface="ＭＳ Ｐゴシック" charset="0"/>
                <a:cs typeface="ＭＳ Ｐゴシック" charset="0"/>
              </a:rPr>
              <a:t>Schultz, D. M., W. E. Bracken, L. F. </a:t>
            </a:r>
            <a:r>
              <a:rPr lang="en-US" sz="1200" kern="1200" dirty="0" err="1">
                <a:solidFill>
                  <a:schemeClr val="tx1"/>
                </a:solidFill>
                <a:effectLst/>
                <a:latin typeface="Arial" charset="0"/>
                <a:ea typeface="ＭＳ Ｐゴシック" charset="0"/>
                <a:cs typeface="ＭＳ Ｐゴシック" charset="0"/>
              </a:rPr>
              <a:t>Bosart</a:t>
            </a:r>
            <a:r>
              <a:rPr lang="en-US" sz="1200" kern="1200" dirty="0">
                <a:solidFill>
                  <a:schemeClr val="tx1"/>
                </a:solidFill>
                <a:effectLst/>
                <a:latin typeface="Arial" charset="0"/>
                <a:ea typeface="ＭＳ Ｐゴシック" charset="0"/>
                <a:cs typeface="ＭＳ Ｐゴシック" charset="0"/>
              </a:rPr>
              <a:t>, G. J. Hakim, M. A. </a:t>
            </a:r>
            <a:r>
              <a:rPr lang="en-US" sz="1200" kern="1200" dirty="0" err="1">
                <a:solidFill>
                  <a:schemeClr val="tx1"/>
                </a:solidFill>
                <a:effectLst/>
                <a:latin typeface="Arial" charset="0"/>
                <a:ea typeface="ＭＳ Ｐゴシック" charset="0"/>
                <a:cs typeface="ＭＳ Ｐゴシック" charset="0"/>
              </a:rPr>
              <a:t>Bedrick</a:t>
            </a:r>
            <a:r>
              <a:rPr lang="en-US" sz="1200" kern="1200" dirty="0">
                <a:solidFill>
                  <a:schemeClr val="tx1"/>
                </a:solidFill>
                <a:effectLst/>
                <a:latin typeface="Arial" charset="0"/>
                <a:ea typeface="ＭＳ Ｐゴシック" charset="0"/>
                <a:cs typeface="ＭＳ Ｐゴシック" charset="0"/>
              </a:rPr>
              <a:t>, M. J. Dickinson, and K. R. </a:t>
            </a:r>
            <a:r>
              <a:rPr lang="en-US" sz="1200" kern="1200" dirty="0" err="1">
                <a:solidFill>
                  <a:schemeClr val="tx1"/>
                </a:solidFill>
                <a:effectLst/>
                <a:latin typeface="Arial" charset="0"/>
                <a:ea typeface="ＭＳ Ｐゴシック" charset="0"/>
                <a:cs typeface="ＭＳ Ｐゴシック" charset="0"/>
              </a:rPr>
              <a:t>Tyle</a:t>
            </a:r>
            <a:r>
              <a:rPr lang="en-US" sz="1200" kern="1200" dirty="0">
                <a:solidFill>
                  <a:schemeClr val="tx1"/>
                </a:solidFill>
                <a:effectLst/>
                <a:latin typeface="Arial" charset="0"/>
                <a:ea typeface="ＭＳ Ｐゴシック" charset="0"/>
                <a:cs typeface="ＭＳ Ｐゴシック" charset="0"/>
              </a:rPr>
              <a:t>, 1997: The 1993 Superstorm cold surge: Frontal structure, gap flow, and tropical impact. </a:t>
            </a:r>
            <a:r>
              <a:rPr lang="en-US" sz="1200" i="1" kern="1200" dirty="0">
                <a:solidFill>
                  <a:schemeClr val="tx1"/>
                </a:solidFill>
                <a:effectLst/>
                <a:latin typeface="Arial" charset="0"/>
                <a:ea typeface="ＭＳ Ｐゴシック" charset="0"/>
                <a:cs typeface="ＭＳ Ｐゴシック" charset="0"/>
              </a:rPr>
              <a:t>Mon. </a:t>
            </a:r>
            <a:r>
              <a:rPr lang="en-US" sz="1200" i="1" kern="1200" dirty="0" err="1">
                <a:solidFill>
                  <a:schemeClr val="tx1"/>
                </a:solidFill>
                <a:effectLst/>
                <a:latin typeface="Arial" charset="0"/>
                <a:ea typeface="ＭＳ Ｐゴシック" charset="0"/>
                <a:cs typeface="ＭＳ Ｐゴシック" charset="0"/>
              </a:rPr>
              <a:t>Wea</a:t>
            </a:r>
            <a:r>
              <a:rPr lang="en-US" sz="1200" i="1" kern="1200" dirty="0">
                <a:solidFill>
                  <a:schemeClr val="tx1"/>
                </a:solidFill>
                <a:effectLst/>
                <a:latin typeface="Arial" charset="0"/>
                <a:ea typeface="ＭＳ Ｐゴシック" charset="0"/>
                <a:cs typeface="ＭＳ Ｐゴシック" charset="0"/>
              </a:rPr>
              <a:t>. Rev., </a:t>
            </a:r>
            <a:r>
              <a:rPr lang="en-US" sz="1200" b="1" kern="1200" dirty="0">
                <a:solidFill>
                  <a:schemeClr val="tx1"/>
                </a:solidFill>
                <a:effectLst/>
                <a:latin typeface="Arial" charset="0"/>
                <a:ea typeface="ＭＳ Ｐゴシック" charset="0"/>
                <a:cs typeface="ＭＳ Ｐゴシック" charset="0"/>
              </a:rPr>
              <a:t>125, </a:t>
            </a:r>
            <a:r>
              <a:rPr lang="en-US" sz="1200" kern="1200" dirty="0">
                <a:solidFill>
                  <a:schemeClr val="tx1"/>
                </a:solidFill>
                <a:effectLst/>
                <a:latin typeface="Arial" charset="0"/>
                <a:ea typeface="ＭＳ Ｐゴシック" charset="0"/>
                <a:cs typeface="ＭＳ Ｐゴシック" charset="0"/>
              </a:rPr>
              <a:t>5–39; Corrigendum, </a:t>
            </a:r>
            <a:r>
              <a:rPr lang="en-US" sz="1200" b="1" kern="1200" dirty="0">
                <a:solidFill>
                  <a:schemeClr val="tx1"/>
                </a:solidFill>
                <a:effectLst/>
                <a:latin typeface="Arial" charset="0"/>
                <a:ea typeface="ＭＳ Ｐゴシック" charset="0"/>
                <a:cs typeface="ＭＳ Ｐゴシック" charset="0"/>
              </a:rPr>
              <a:t>125, </a:t>
            </a:r>
            <a:r>
              <a:rPr lang="en-US" sz="1200" kern="1200" dirty="0">
                <a:solidFill>
                  <a:schemeClr val="tx1"/>
                </a:solidFill>
                <a:effectLst/>
                <a:latin typeface="Arial" charset="0"/>
                <a:ea typeface="ＭＳ Ｐゴシック" charset="0"/>
                <a:cs typeface="ＭＳ Ｐゴシック" charset="0"/>
              </a:rPr>
              <a:t>662. </a:t>
            </a:r>
            <a:endParaRPr lang="en-US" dirty="0"/>
          </a:p>
          <a:p>
            <a:endParaRPr lang="en-US" dirty="0"/>
          </a:p>
        </p:txBody>
      </p:sp>
      <p:sp>
        <p:nvSpPr>
          <p:cNvPr id="4" name="Slide Number Placeholder 3"/>
          <p:cNvSpPr>
            <a:spLocks noGrp="1"/>
          </p:cNvSpPr>
          <p:nvPr>
            <p:ph type="sldNum" sz="quarter" idx="5"/>
          </p:nvPr>
        </p:nvSpPr>
        <p:spPr/>
        <p:txBody>
          <a:bodyPr/>
          <a:lstStyle/>
          <a:p>
            <a:pPr>
              <a:defRPr/>
            </a:pPr>
            <a:fld id="{48B5E055-83C5-1148-B1CC-2151D312576F}" type="slidenum">
              <a:rPr lang="en-US" altLang="en-US" smtClean="0"/>
              <a:pPr>
                <a:defRPr/>
              </a:pPr>
              <a:t>52</a:t>
            </a:fld>
            <a:endParaRPr lang="en-US" altLang="en-US"/>
          </a:p>
        </p:txBody>
      </p:sp>
    </p:spTree>
    <p:extLst>
      <p:ext uri="{BB962C8B-B14F-4D97-AF65-F5344CB8AC3E}">
        <p14:creationId xmlns:p14="http://schemas.microsoft.com/office/powerpoint/2010/main" val="30849401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Arial" charset="0"/>
                <a:ea typeface="ＭＳ Ｐゴシック" charset="0"/>
                <a:cs typeface="ＭＳ Ｐゴシック" charset="0"/>
              </a:rPr>
              <a:t>Schultz, D. M., W. E. Bracken, L. F. </a:t>
            </a:r>
            <a:r>
              <a:rPr lang="en-US" sz="1200" kern="1200" dirty="0" err="1">
                <a:solidFill>
                  <a:schemeClr val="tx1"/>
                </a:solidFill>
                <a:effectLst/>
                <a:latin typeface="Arial" charset="0"/>
                <a:ea typeface="ＭＳ Ｐゴシック" charset="0"/>
                <a:cs typeface="ＭＳ Ｐゴシック" charset="0"/>
              </a:rPr>
              <a:t>Bosart</a:t>
            </a:r>
            <a:r>
              <a:rPr lang="en-US" sz="1200" kern="1200" dirty="0">
                <a:solidFill>
                  <a:schemeClr val="tx1"/>
                </a:solidFill>
                <a:effectLst/>
                <a:latin typeface="Arial" charset="0"/>
                <a:ea typeface="ＭＳ Ｐゴシック" charset="0"/>
                <a:cs typeface="ＭＳ Ｐゴシック" charset="0"/>
              </a:rPr>
              <a:t>, G. J. Hakim, M. A. </a:t>
            </a:r>
            <a:r>
              <a:rPr lang="en-US" sz="1200" kern="1200" dirty="0" err="1">
                <a:solidFill>
                  <a:schemeClr val="tx1"/>
                </a:solidFill>
                <a:effectLst/>
                <a:latin typeface="Arial" charset="0"/>
                <a:ea typeface="ＭＳ Ｐゴシック" charset="0"/>
                <a:cs typeface="ＭＳ Ｐゴシック" charset="0"/>
              </a:rPr>
              <a:t>Bedrick</a:t>
            </a:r>
            <a:r>
              <a:rPr lang="en-US" sz="1200" kern="1200" dirty="0">
                <a:solidFill>
                  <a:schemeClr val="tx1"/>
                </a:solidFill>
                <a:effectLst/>
                <a:latin typeface="Arial" charset="0"/>
                <a:ea typeface="ＭＳ Ｐゴシック" charset="0"/>
                <a:cs typeface="ＭＳ Ｐゴシック" charset="0"/>
              </a:rPr>
              <a:t>, M. J. Dickinson, and K. R. </a:t>
            </a:r>
            <a:r>
              <a:rPr lang="en-US" sz="1200" kern="1200" dirty="0" err="1">
                <a:solidFill>
                  <a:schemeClr val="tx1"/>
                </a:solidFill>
                <a:effectLst/>
                <a:latin typeface="Arial" charset="0"/>
                <a:ea typeface="ＭＳ Ｐゴシック" charset="0"/>
                <a:cs typeface="ＭＳ Ｐゴシック" charset="0"/>
              </a:rPr>
              <a:t>Tyle</a:t>
            </a:r>
            <a:r>
              <a:rPr lang="en-US" sz="1200" kern="1200" dirty="0">
                <a:solidFill>
                  <a:schemeClr val="tx1"/>
                </a:solidFill>
                <a:effectLst/>
                <a:latin typeface="Arial" charset="0"/>
                <a:ea typeface="ＭＳ Ｐゴシック" charset="0"/>
                <a:cs typeface="ＭＳ Ｐゴシック" charset="0"/>
              </a:rPr>
              <a:t>, 1997: The 1993 Superstorm cold surge: Frontal structure, gap flow, and tropical impact. </a:t>
            </a:r>
            <a:r>
              <a:rPr lang="en-US" sz="1200" i="1" kern="1200" dirty="0">
                <a:solidFill>
                  <a:schemeClr val="tx1"/>
                </a:solidFill>
                <a:effectLst/>
                <a:latin typeface="Arial" charset="0"/>
                <a:ea typeface="ＭＳ Ｐゴシック" charset="0"/>
                <a:cs typeface="ＭＳ Ｐゴシック" charset="0"/>
              </a:rPr>
              <a:t>Mon. </a:t>
            </a:r>
            <a:r>
              <a:rPr lang="en-US" sz="1200" i="1" kern="1200" dirty="0" err="1">
                <a:solidFill>
                  <a:schemeClr val="tx1"/>
                </a:solidFill>
                <a:effectLst/>
                <a:latin typeface="Arial" charset="0"/>
                <a:ea typeface="ＭＳ Ｐゴシック" charset="0"/>
                <a:cs typeface="ＭＳ Ｐゴシック" charset="0"/>
              </a:rPr>
              <a:t>Wea</a:t>
            </a:r>
            <a:r>
              <a:rPr lang="en-US" sz="1200" i="1" kern="1200" dirty="0">
                <a:solidFill>
                  <a:schemeClr val="tx1"/>
                </a:solidFill>
                <a:effectLst/>
                <a:latin typeface="Arial" charset="0"/>
                <a:ea typeface="ＭＳ Ｐゴシック" charset="0"/>
                <a:cs typeface="ＭＳ Ｐゴシック" charset="0"/>
              </a:rPr>
              <a:t>. Rev., </a:t>
            </a:r>
            <a:r>
              <a:rPr lang="en-US" sz="1200" b="1" kern="1200" dirty="0">
                <a:solidFill>
                  <a:schemeClr val="tx1"/>
                </a:solidFill>
                <a:effectLst/>
                <a:latin typeface="Arial" charset="0"/>
                <a:ea typeface="ＭＳ Ｐゴシック" charset="0"/>
                <a:cs typeface="ＭＳ Ｐゴシック" charset="0"/>
              </a:rPr>
              <a:t>125, </a:t>
            </a:r>
            <a:r>
              <a:rPr lang="en-US" sz="1200" kern="1200" dirty="0">
                <a:solidFill>
                  <a:schemeClr val="tx1"/>
                </a:solidFill>
                <a:effectLst/>
                <a:latin typeface="Arial" charset="0"/>
                <a:ea typeface="ＭＳ Ｐゴシック" charset="0"/>
                <a:cs typeface="ＭＳ Ｐゴシック" charset="0"/>
              </a:rPr>
              <a:t>5–39; Corrigendum, </a:t>
            </a:r>
            <a:r>
              <a:rPr lang="en-US" sz="1200" b="1" kern="1200" dirty="0">
                <a:solidFill>
                  <a:schemeClr val="tx1"/>
                </a:solidFill>
                <a:effectLst/>
                <a:latin typeface="Arial" charset="0"/>
                <a:ea typeface="ＭＳ Ｐゴシック" charset="0"/>
                <a:cs typeface="ＭＳ Ｐゴシック" charset="0"/>
              </a:rPr>
              <a:t>125, </a:t>
            </a:r>
            <a:r>
              <a:rPr lang="en-US" sz="1200" kern="1200" dirty="0">
                <a:solidFill>
                  <a:schemeClr val="tx1"/>
                </a:solidFill>
                <a:effectLst/>
                <a:latin typeface="Arial" charset="0"/>
                <a:ea typeface="ＭＳ Ｐゴシック" charset="0"/>
                <a:cs typeface="ＭＳ Ｐゴシック" charset="0"/>
              </a:rPr>
              <a:t>662. </a:t>
            </a:r>
            <a:endParaRPr lang="en-US" dirty="0"/>
          </a:p>
          <a:p>
            <a:endParaRPr lang="en-US" dirty="0"/>
          </a:p>
        </p:txBody>
      </p:sp>
      <p:sp>
        <p:nvSpPr>
          <p:cNvPr id="4" name="Slide Number Placeholder 3"/>
          <p:cNvSpPr>
            <a:spLocks noGrp="1"/>
          </p:cNvSpPr>
          <p:nvPr>
            <p:ph type="sldNum" sz="quarter" idx="5"/>
          </p:nvPr>
        </p:nvSpPr>
        <p:spPr/>
        <p:txBody>
          <a:bodyPr/>
          <a:lstStyle/>
          <a:p>
            <a:pPr>
              <a:defRPr/>
            </a:pPr>
            <a:fld id="{48B5E055-83C5-1148-B1CC-2151D312576F}" type="slidenum">
              <a:rPr lang="en-US" altLang="en-US" smtClean="0"/>
              <a:pPr>
                <a:defRPr/>
              </a:pPr>
              <a:t>53</a:t>
            </a:fld>
            <a:endParaRPr lang="en-US" altLang="en-US"/>
          </a:p>
        </p:txBody>
      </p:sp>
    </p:spTree>
    <p:extLst>
      <p:ext uri="{BB962C8B-B14F-4D97-AF65-F5344CB8AC3E}">
        <p14:creationId xmlns:p14="http://schemas.microsoft.com/office/powerpoint/2010/main" val="21414064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Arial" charset="0"/>
                <a:ea typeface="ＭＳ Ｐゴシック" charset="0"/>
                <a:cs typeface="ＭＳ Ｐゴシック" charset="0"/>
              </a:rPr>
              <a:t>Schultz, D. M., W. E. Bracken, L. F. </a:t>
            </a:r>
            <a:r>
              <a:rPr lang="en-US" sz="1200" kern="1200" dirty="0" err="1">
                <a:solidFill>
                  <a:schemeClr val="tx1"/>
                </a:solidFill>
                <a:effectLst/>
                <a:latin typeface="Arial" charset="0"/>
                <a:ea typeface="ＭＳ Ｐゴシック" charset="0"/>
                <a:cs typeface="ＭＳ Ｐゴシック" charset="0"/>
              </a:rPr>
              <a:t>Bosart</a:t>
            </a:r>
            <a:r>
              <a:rPr lang="en-US" sz="1200" kern="1200" dirty="0">
                <a:solidFill>
                  <a:schemeClr val="tx1"/>
                </a:solidFill>
                <a:effectLst/>
                <a:latin typeface="Arial" charset="0"/>
                <a:ea typeface="ＭＳ Ｐゴシック" charset="0"/>
                <a:cs typeface="ＭＳ Ｐゴシック" charset="0"/>
              </a:rPr>
              <a:t>, G. J. Hakim, M. A. </a:t>
            </a:r>
            <a:r>
              <a:rPr lang="en-US" sz="1200" kern="1200" dirty="0" err="1">
                <a:solidFill>
                  <a:schemeClr val="tx1"/>
                </a:solidFill>
                <a:effectLst/>
                <a:latin typeface="Arial" charset="0"/>
                <a:ea typeface="ＭＳ Ｐゴシック" charset="0"/>
                <a:cs typeface="ＭＳ Ｐゴシック" charset="0"/>
              </a:rPr>
              <a:t>Bedrick</a:t>
            </a:r>
            <a:r>
              <a:rPr lang="en-US" sz="1200" kern="1200" dirty="0">
                <a:solidFill>
                  <a:schemeClr val="tx1"/>
                </a:solidFill>
                <a:effectLst/>
                <a:latin typeface="Arial" charset="0"/>
                <a:ea typeface="ＭＳ Ｐゴシック" charset="0"/>
                <a:cs typeface="ＭＳ Ｐゴシック" charset="0"/>
              </a:rPr>
              <a:t>, M. J. Dickinson, and K. R. </a:t>
            </a:r>
            <a:r>
              <a:rPr lang="en-US" sz="1200" kern="1200" dirty="0" err="1">
                <a:solidFill>
                  <a:schemeClr val="tx1"/>
                </a:solidFill>
                <a:effectLst/>
                <a:latin typeface="Arial" charset="0"/>
                <a:ea typeface="ＭＳ Ｐゴシック" charset="0"/>
                <a:cs typeface="ＭＳ Ｐゴシック" charset="0"/>
              </a:rPr>
              <a:t>Tyle</a:t>
            </a:r>
            <a:r>
              <a:rPr lang="en-US" sz="1200" kern="1200" dirty="0">
                <a:solidFill>
                  <a:schemeClr val="tx1"/>
                </a:solidFill>
                <a:effectLst/>
                <a:latin typeface="Arial" charset="0"/>
                <a:ea typeface="ＭＳ Ｐゴシック" charset="0"/>
                <a:cs typeface="ＭＳ Ｐゴシック" charset="0"/>
              </a:rPr>
              <a:t>, 1997: The 1993 Superstorm cold surge: Frontal structure, gap flow, and tropical impact. </a:t>
            </a:r>
            <a:r>
              <a:rPr lang="en-US" sz="1200" i="1" kern="1200" dirty="0">
                <a:solidFill>
                  <a:schemeClr val="tx1"/>
                </a:solidFill>
                <a:effectLst/>
                <a:latin typeface="Arial" charset="0"/>
                <a:ea typeface="ＭＳ Ｐゴシック" charset="0"/>
                <a:cs typeface="ＭＳ Ｐゴシック" charset="0"/>
              </a:rPr>
              <a:t>Mon. </a:t>
            </a:r>
            <a:r>
              <a:rPr lang="en-US" sz="1200" i="1" kern="1200" dirty="0" err="1">
                <a:solidFill>
                  <a:schemeClr val="tx1"/>
                </a:solidFill>
                <a:effectLst/>
                <a:latin typeface="Arial" charset="0"/>
                <a:ea typeface="ＭＳ Ｐゴシック" charset="0"/>
                <a:cs typeface="ＭＳ Ｐゴシック" charset="0"/>
              </a:rPr>
              <a:t>Wea</a:t>
            </a:r>
            <a:r>
              <a:rPr lang="en-US" sz="1200" i="1" kern="1200" dirty="0">
                <a:solidFill>
                  <a:schemeClr val="tx1"/>
                </a:solidFill>
                <a:effectLst/>
                <a:latin typeface="Arial" charset="0"/>
                <a:ea typeface="ＭＳ Ｐゴシック" charset="0"/>
                <a:cs typeface="ＭＳ Ｐゴシック" charset="0"/>
              </a:rPr>
              <a:t>. Rev., </a:t>
            </a:r>
            <a:r>
              <a:rPr lang="en-US" sz="1200" b="1" kern="1200" dirty="0">
                <a:solidFill>
                  <a:schemeClr val="tx1"/>
                </a:solidFill>
                <a:effectLst/>
                <a:latin typeface="Arial" charset="0"/>
                <a:ea typeface="ＭＳ Ｐゴシック" charset="0"/>
                <a:cs typeface="ＭＳ Ｐゴシック" charset="0"/>
              </a:rPr>
              <a:t>125, </a:t>
            </a:r>
            <a:r>
              <a:rPr lang="en-US" sz="1200" kern="1200" dirty="0">
                <a:solidFill>
                  <a:schemeClr val="tx1"/>
                </a:solidFill>
                <a:effectLst/>
                <a:latin typeface="Arial" charset="0"/>
                <a:ea typeface="ＭＳ Ｐゴシック" charset="0"/>
                <a:cs typeface="ＭＳ Ｐゴシック" charset="0"/>
              </a:rPr>
              <a:t>5–39; Corrigendum, </a:t>
            </a:r>
            <a:r>
              <a:rPr lang="en-US" sz="1200" b="1" kern="1200" dirty="0">
                <a:solidFill>
                  <a:schemeClr val="tx1"/>
                </a:solidFill>
                <a:effectLst/>
                <a:latin typeface="Arial" charset="0"/>
                <a:ea typeface="ＭＳ Ｐゴシック" charset="0"/>
                <a:cs typeface="ＭＳ Ｐゴシック" charset="0"/>
              </a:rPr>
              <a:t>125, </a:t>
            </a:r>
            <a:r>
              <a:rPr lang="en-US" sz="1200" kern="1200" dirty="0">
                <a:solidFill>
                  <a:schemeClr val="tx1"/>
                </a:solidFill>
                <a:effectLst/>
                <a:latin typeface="Arial" charset="0"/>
                <a:ea typeface="ＭＳ Ｐゴシック" charset="0"/>
                <a:cs typeface="ＭＳ Ｐゴシック" charset="0"/>
              </a:rPr>
              <a:t>662. </a:t>
            </a:r>
            <a:endParaRPr lang="en-US" dirty="0"/>
          </a:p>
          <a:p>
            <a:endParaRPr lang="en-US" dirty="0"/>
          </a:p>
        </p:txBody>
      </p:sp>
      <p:sp>
        <p:nvSpPr>
          <p:cNvPr id="4" name="Slide Number Placeholder 3"/>
          <p:cNvSpPr>
            <a:spLocks noGrp="1"/>
          </p:cNvSpPr>
          <p:nvPr>
            <p:ph type="sldNum" sz="quarter" idx="5"/>
          </p:nvPr>
        </p:nvSpPr>
        <p:spPr/>
        <p:txBody>
          <a:bodyPr/>
          <a:lstStyle/>
          <a:p>
            <a:pPr>
              <a:defRPr/>
            </a:pPr>
            <a:fld id="{48B5E055-83C5-1148-B1CC-2151D312576F}" type="slidenum">
              <a:rPr lang="en-US" altLang="en-US" smtClean="0"/>
              <a:pPr>
                <a:defRPr/>
              </a:pPr>
              <a:t>54</a:t>
            </a:fld>
            <a:endParaRPr lang="en-US" altLang="en-US"/>
          </a:p>
        </p:txBody>
      </p:sp>
    </p:spTree>
    <p:extLst>
      <p:ext uri="{BB962C8B-B14F-4D97-AF65-F5344CB8AC3E}">
        <p14:creationId xmlns:p14="http://schemas.microsoft.com/office/powerpoint/2010/main" val="65199237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Arial" charset="0"/>
                <a:ea typeface="ＭＳ Ｐゴシック" charset="0"/>
                <a:cs typeface="ＭＳ Ｐゴシック" charset="0"/>
              </a:rPr>
              <a:t>Schultz, D. M., W. E. Bracken, L. F. </a:t>
            </a:r>
            <a:r>
              <a:rPr lang="en-US" sz="1200" kern="1200" dirty="0" err="1">
                <a:solidFill>
                  <a:schemeClr val="tx1"/>
                </a:solidFill>
                <a:effectLst/>
                <a:latin typeface="Arial" charset="0"/>
                <a:ea typeface="ＭＳ Ｐゴシック" charset="0"/>
                <a:cs typeface="ＭＳ Ｐゴシック" charset="0"/>
              </a:rPr>
              <a:t>Bosart</a:t>
            </a:r>
            <a:r>
              <a:rPr lang="en-US" sz="1200" kern="1200" dirty="0">
                <a:solidFill>
                  <a:schemeClr val="tx1"/>
                </a:solidFill>
                <a:effectLst/>
                <a:latin typeface="Arial" charset="0"/>
                <a:ea typeface="ＭＳ Ｐゴシック" charset="0"/>
                <a:cs typeface="ＭＳ Ｐゴシック" charset="0"/>
              </a:rPr>
              <a:t>, G. J. Hakim, M. A. </a:t>
            </a:r>
            <a:r>
              <a:rPr lang="en-US" sz="1200" kern="1200" dirty="0" err="1">
                <a:solidFill>
                  <a:schemeClr val="tx1"/>
                </a:solidFill>
                <a:effectLst/>
                <a:latin typeface="Arial" charset="0"/>
                <a:ea typeface="ＭＳ Ｐゴシック" charset="0"/>
                <a:cs typeface="ＭＳ Ｐゴシック" charset="0"/>
              </a:rPr>
              <a:t>Bedrick</a:t>
            </a:r>
            <a:r>
              <a:rPr lang="en-US" sz="1200" kern="1200" dirty="0">
                <a:solidFill>
                  <a:schemeClr val="tx1"/>
                </a:solidFill>
                <a:effectLst/>
                <a:latin typeface="Arial" charset="0"/>
                <a:ea typeface="ＭＳ Ｐゴシック" charset="0"/>
                <a:cs typeface="ＭＳ Ｐゴシック" charset="0"/>
              </a:rPr>
              <a:t>, M. J. Dickinson, and K. R. </a:t>
            </a:r>
            <a:r>
              <a:rPr lang="en-US" sz="1200" kern="1200" dirty="0" err="1">
                <a:solidFill>
                  <a:schemeClr val="tx1"/>
                </a:solidFill>
                <a:effectLst/>
                <a:latin typeface="Arial" charset="0"/>
                <a:ea typeface="ＭＳ Ｐゴシック" charset="0"/>
                <a:cs typeface="ＭＳ Ｐゴシック" charset="0"/>
              </a:rPr>
              <a:t>Tyle</a:t>
            </a:r>
            <a:r>
              <a:rPr lang="en-US" sz="1200" kern="1200" dirty="0">
                <a:solidFill>
                  <a:schemeClr val="tx1"/>
                </a:solidFill>
                <a:effectLst/>
                <a:latin typeface="Arial" charset="0"/>
                <a:ea typeface="ＭＳ Ｐゴシック" charset="0"/>
                <a:cs typeface="ＭＳ Ｐゴシック" charset="0"/>
              </a:rPr>
              <a:t>, 1997: The 1993 Superstorm cold surge: Frontal structure, gap flow, and tropical impact. </a:t>
            </a:r>
            <a:r>
              <a:rPr lang="en-US" sz="1200" i="1" kern="1200" dirty="0">
                <a:solidFill>
                  <a:schemeClr val="tx1"/>
                </a:solidFill>
                <a:effectLst/>
                <a:latin typeface="Arial" charset="0"/>
                <a:ea typeface="ＭＳ Ｐゴシック" charset="0"/>
                <a:cs typeface="ＭＳ Ｐゴシック" charset="0"/>
              </a:rPr>
              <a:t>Mon. </a:t>
            </a:r>
            <a:r>
              <a:rPr lang="en-US" sz="1200" i="1" kern="1200" dirty="0" err="1">
                <a:solidFill>
                  <a:schemeClr val="tx1"/>
                </a:solidFill>
                <a:effectLst/>
                <a:latin typeface="Arial" charset="0"/>
                <a:ea typeface="ＭＳ Ｐゴシック" charset="0"/>
                <a:cs typeface="ＭＳ Ｐゴシック" charset="0"/>
              </a:rPr>
              <a:t>Wea</a:t>
            </a:r>
            <a:r>
              <a:rPr lang="en-US" sz="1200" i="1" kern="1200" dirty="0">
                <a:solidFill>
                  <a:schemeClr val="tx1"/>
                </a:solidFill>
                <a:effectLst/>
                <a:latin typeface="Arial" charset="0"/>
                <a:ea typeface="ＭＳ Ｐゴシック" charset="0"/>
                <a:cs typeface="ＭＳ Ｐゴシック" charset="0"/>
              </a:rPr>
              <a:t>. Rev., </a:t>
            </a:r>
            <a:r>
              <a:rPr lang="en-US" sz="1200" b="1" kern="1200" dirty="0">
                <a:solidFill>
                  <a:schemeClr val="tx1"/>
                </a:solidFill>
                <a:effectLst/>
                <a:latin typeface="Arial" charset="0"/>
                <a:ea typeface="ＭＳ Ｐゴシック" charset="0"/>
                <a:cs typeface="ＭＳ Ｐゴシック" charset="0"/>
              </a:rPr>
              <a:t>125, </a:t>
            </a:r>
            <a:r>
              <a:rPr lang="en-US" sz="1200" kern="1200" dirty="0">
                <a:solidFill>
                  <a:schemeClr val="tx1"/>
                </a:solidFill>
                <a:effectLst/>
                <a:latin typeface="Arial" charset="0"/>
                <a:ea typeface="ＭＳ Ｐゴシック" charset="0"/>
                <a:cs typeface="ＭＳ Ｐゴシック" charset="0"/>
              </a:rPr>
              <a:t>5–39; Corrigendum, </a:t>
            </a:r>
            <a:r>
              <a:rPr lang="en-US" sz="1200" b="1" kern="1200" dirty="0">
                <a:solidFill>
                  <a:schemeClr val="tx1"/>
                </a:solidFill>
                <a:effectLst/>
                <a:latin typeface="Arial" charset="0"/>
                <a:ea typeface="ＭＳ Ｐゴシック" charset="0"/>
                <a:cs typeface="ＭＳ Ｐゴシック" charset="0"/>
              </a:rPr>
              <a:t>125, </a:t>
            </a:r>
            <a:r>
              <a:rPr lang="en-US" sz="1200" kern="1200" dirty="0">
                <a:solidFill>
                  <a:schemeClr val="tx1"/>
                </a:solidFill>
                <a:effectLst/>
                <a:latin typeface="Arial" charset="0"/>
                <a:ea typeface="ＭＳ Ｐゴシック" charset="0"/>
                <a:cs typeface="ＭＳ Ｐゴシック" charset="0"/>
              </a:rPr>
              <a:t>662. </a:t>
            </a:r>
            <a:endParaRPr lang="en-US" dirty="0"/>
          </a:p>
          <a:p>
            <a:endParaRPr lang="en-US" dirty="0"/>
          </a:p>
        </p:txBody>
      </p:sp>
      <p:sp>
        <p:nvSpPr>
          <p:cNvPr id="4" name="Slide Number Placeholder 3"/>
          <p:cNvSpPr>
            <a:spLocks noGrp="1"/>
          </p:cNvSpPr>
          <p:nvPr>
            <p:ph type="sldNum" sz="quarter" idx="5"/>
          </p:nvPr>
        </p:nvSpPr>
        <p:spPr/>
        <p:txBody>
          <a:bodyPr/>
          <a:lstStyle/>
          <a:p>
            <a:pPr>
              <a:defRPr/>
            </a:pPr>
            <a:fld id="{48B5E055-83C5-1148-B1CC-2151D312576F}" type="slidenum">
              <a:rPr lang="en-US" altLang="en-US" smtClean="0"/>
              <a:pPr>
                <a:defRPr/>
              </a:pPr>
              <a:t>55</a:t>
            </a:fld>
            <a:endParaRPr lang="en-US" altLang="en-US"/>
          </a:p>
        </p:txBody>
      </p:sp>
    </p:spTree>
    <p:extLst>
      <p:ext uri="{BB962C8B-B14F-4D97-AF65-F5344CB8AC3E}">
        <p14:creationId xmlns:p14="http://schemas.microsoft.com/office/powerpoint/2010/main" val="353205576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sealevel.colorado.edu</a:t>
            </a:r>
            <a:r>
              <a:rPr lang="en-US" dirty="0"/>
              <a:t>/</a:t>
            </a:r>
          </a:p>
        </p:txBody>
      </p:sp>
      <p:sp>
        <p:nvSpPr>
          <p:cNvPr id="4" name="Slide Number Placeholder 3"/>
          <p:cNvSpPr>
            <a:spLocks noGrp="1"/>
          </p:cNvSpPr>
          <p:nvPr>
            <p:ph type="sldNum" sz="quarter" idx="5"/>
          </p:nvPr>
        </p:nvSpPr>
        <p:spPr/>
        <p:txBody>
          <a:bodyPr/>
          <a:lstStyle/>
          <a:p>
            <a:pPr>
              <a:defRPr/>
            </a:pPr>
            <a:fld id="{48B5E055-83C5-1148-B1CC-2151D312576F}" type="slidenum">
              <a:rPr lang="en-US" altLang="en-US" smtClean="0"/>
              <a:pPr>
                <a:defRPr/>
              </a:pPr>
              <a:t>56</a:t>
            </a:fld>
            <a:endParaRPr lang="en-US" altLang="en-US"/>
          </a:p>
        </p:txBody>
      </p:sp>
    </p:spTree>
    <p:extLst>
      <p:ext uri="{BB962C8B-B14F-4D97-AF65-F5344CB8AC3E}">
        <p14:creationId xmlns:p14="http://schemas.microsoft.com/office/powerpoint/2010/main" val="14972010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sealevel.colorado.edu</a:t>
            </a:r>
            <a:r>
              <a:rPr lang="en-US" dirty="0"/>
              <a:t>/</a:t>
            </a:r>
          </a:p>
        </p:txBody>
      </p:sp>
      <p:sp>
        <p:nvSpPr>
          <p:cNvPr id="4" name="Slide Number Placeholder 3"/>
          <p:cNvSpPr>
            <a:spLocks noGrp="1"/>
          </p:cNvSpPr>
          <p:nvPr>
            <p:ph type="sldNum" sz="quarter" idx="5"/>
          </p:nvPr>
        </p:nvSpPr>
        <p:spPr/>
        <p:txBody>
          <a:bodyPr/>
          <a:lstStyle/>
          <a:p>
            <a:pPr>
              <a:defRPr/>
            </a:pPr>
            <a:fld id="{48B5E055-83C5-1148-B1CC-2151D312576F}" type="slidenum">
              <a:rPr lang="en-US" altLang="en-US" smtClean="0"/>
              <a:pPr>
                <a:defRPr/>
              </a:pPr>
              <a:t>57</a:t>
            </a:fld>
            <a:endParaRPr lang="en-US" altLang="en-US"/>
          </a:p>
        </p:txBody>
      </p:sp>
    </p:spTree>
    <p:extLst>
      <p:ext uri="{BB962C8B-B14F-4D97-AF65-F5344CB8AC3E}">
        <p14:creationId xmlns:p14="http://schemas.microsoft.com/office/powerpoint/2010/main" val="235518253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8B5E055-83C5-1148-B1CC-2151D312576F}" type="slidenum">
              <a:rPr lang="en-US" altLang="en-US" smtClean="0"/>
              <a:pPr>
                <a:defRPr/>
              </a:pPr>
              <a:t>61</a:t>
            </a:fld>
            <a:endParaRPr lang="en-US" altLang="en-US"/>
          </a:p>
        </p:txBody>
      </p:sp>
    </p:spTree>
    <p:extLst>
      <p:ext uri="{BB962C8B-B14F-4D97-AF65-F5344CB8AC3E}">
        <p14:creationId xmlns:p14="http://schemas.microsoft.com/office/powerpoint/2010/main" val="376130532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Irregular waves in the fetch area because of constructive and destructive interferences.  Outside the fetch, a regular ocean swell develops as the waves sort themselves according to the speed by dispersion.  Shorter period waves travel slower than longer period waves.</a:t>
            </a:r>
          </a:p>
        </p:txBody>
      </p:sp>
      <p:sp>
        <p:nvSpPr>
          <p:cNvPr id="4" name="Slide Number Placeholder 3"/>
          <p:cNvSpPr>
            <a:spLocks noGrp="1"/>
          </p:cNvSpPr>
          <p:nvPr>
            <p:ph type="sldNum" sz="quarter" idx="5"/>
          </p:nvPr>
        </p:nvSpPr>
        <p:spPr/>
        <p:txBody>
          <a:bodyPr/>
          <a:lstStyle/>
          <a:p>
            <a:pPr>
              <a:defRPr/>
            </a:pPr>
            <a:fld id="{48B5E055-83C5-1148-B1CC-2151D312576F}" type="slidenum">
              <a:rPr lang="en-US" altLang="en-US" smtClean="0"/>
              <a:pPr>
                <a:defRPr/>
              </a:pPr>
              <a:t>62</a:t>
            </a:fld>
            <a:endParaRPr lang="en-US" altLang="en-US"/>
          </a:p>
        </p:txBody>
      </p:sp>
    </p:spTree>
    <p:extLst>
      <p:ext uri="{BB962C8B-B14F-4D97-AF65-F5344CB8AC3E}">
        <p14:creationId xmlns:p14="http://schemas.microsoft.com/office/powerpoint/2010/main" val="408583707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“wave height decreases” in original figure should be “wave height increases” (as corrected on slide)</a:t>
            </a:r>
          </a:p>
        </p:txBody>
      </p:sp>
      <p:sp>
        <p:nvSpPr>
          <p:cNvPr id="4" name="Slide Number Placeholder 3"/>
          <p:cNvSpPr>
            <a:spLocks noGrp="1"/>
          </p:cNvSpPr>
          <p:nvPr>
            <p:ph type="sldNum" sz="quarter" idx="5"/>
          </p:nvPr>
        </p:nvSpPr>
        <p:spPr/>
        <p:txBody>
          <a:bodyPr/>
          <a:lstStyle/>
          <a:p>
            <a:pPr>
              <a:defRPr/>
            </a:pPr>
            <a:fld id="{48B5E055-83C5-1148-B1CC-2151D312576F}" type="slidenum">
              <a:rPr lang="en-US" altLang="en-US" smtClean="0"/>
              <a:pPr>
                <a:defRPr/>
              </a:pPr>
              <a:t>63</a:t>
            </a:fld>
            <a:endParaRPr lang="en-US" altLang="en-US"/>
          </a:p>
        </p:txBody>
      </p:sp>
    </p:spTree>
    <p:extLst>
      <p:ext uri="{BB962C8B-B14F-4D97-AF65-F5344CB8AC3E}">
        <p14:creationId xmlns:p14="http://schemas.microsoft.com/office/powerpoint/2010/main" val="34305785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8B5E055-83C5-1148-B1CC-2151D312576F}" type="slidenum">
              <a:rPr lang="en-US" altLang="en-US" smtClean="0"/>
              <a:pPr>
                <a:defRPr/>
              </a:pPr>
              <a:t>73</a:t>
            </a:fld>
            <a:endParaRPr lang="en-US" altLang="en-US"/>
          </a:p>
        </p:txBody>
      </p:sp>
    </p:spTree>
    <p:extLst>
      <p:ext uri="{BB962C8B-B14F-4D97-AF65-F5344CB8AC3E}">
        <p14:creationId xmlns:p14="http://schemas.microsoft.com/office/powerpoint/2010/main" val="416746025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ntslf.org</a:t>
            </a:r>
            <a:r>
              <a:rPr lang="en-US" dirty="0"/>
              <a:t>/about-tides/tides-</a:t>
            </a:r>
            <a:r>
              <a:rPr lang="en-US" dirty="0" err="1"/>
              <a:t>faq</a:t>
            </a:r>
            <a:endParaRPr lang="en-US" dirty="0"/>
          </a:p>
        </p:txBody>
      </p:sp>
      <p:sp>
        <p:nvSpPr>
          <p:cNvPr id="4" name="Slide Number Placeholder 3"/>
          <p:cNvSpPr>
            <a:spLocks noGrp="1"/>
          </p:cNvSpPr>
          <p:nvPr>
            <p:ph type="sldNum" sz="quarter" idx="5"/>
          </p:nvPr>
        </p:nvSpPr>
        <p:spPr/>
        <p:txBody>
          <a:bodyPr/>
          <a:lstStyle/>
          <a:p>
            <a:pPr>
              <a:defRPr/>
            </a:pPr>
            <a:fld id="{48B5E055-83C5-1148-B1CC-2151D312576F}" type="slidenum">
              <a:rPr lang="en-US" altLang="en-US" smtClean="0"/>
              <a:pPr>
                <a:defRPr/>
              </a:pPr>
              <a:t>75</a:t>
            </a:fld>
            <a:endParaRPr lang="en-US" altLang="en-US"/>
          </a:p>
        </p:txBody>
      </p:sp>
    </p:spTree>
    <p:extLst>
      <p:ext uri="{BB962C8B-B14F-4D97-AF65-F5344CB8AC3E}">
        <p14:creationId xmlns:p14="http://schemas.microsoft.com/office/powerpoint/2010/main" val="92643426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bg1"/>
                </a:solidFill>
              </a:rPr>
              <a:t>https://</a:t>
            </a:r>
            <a:r>
              <a:rPr lang="en-US" dirty="0" err="1">
                <a:solidFill>
                  <a:schemeClr val="bg1"/>
                </a:solidFill>
              </a:rPr>
              <a:t>www.surfline.com</a:t>
            </a:r>
            <a:endParaRPr lang="en-US" dirty="0">
              <a:solidFill>
                <a:schemeClr val="bg1"/>
              </a:solidFill>
            </a:endParaRPr>
          </a:p>
        </p:txBody>
      </p:sp>
      <p:sp>
        <p:nvSpPr>
          <p:cNvPr id="4" name="Slide Number Placeholder 3"/>
          <p:cNvSpPr>
            <a:spLocks noGrp="1"/>
          </p:cNvSpPr>
          <p:nvPr>
            <p:ph type="sldNum" sz="quarter" idx="5"/>
          </p:nvPr>
        </p:nvSpPr>
        <p:spPr/>
        <p:txBody>
          <a:bodyPr/>
          <a:lstStyle/>
          <a:p>
            <a:pPr>
              <a:defRPr/>
            </a:pPr>
            <a:fld id="{48B5E055-83C5-1148-B1CC-2151D312576F}" type="slidenum">
              <a:rPr lang="en-US" altLang="en-US" smtClean="0"/>
              <a:pPr>
                <a:defRPr/>
              </a:pPr>
              <a:t>76</a:t>
            </a:fld>
            <a:endParaRPr lang="en-US" altLang="en-US"/>
          </a:p>
        </p:txBody>
      </p:sp>
    </p:spTree>
    <p:extLst>
      <p:ext uri="{BB962C8B-B14F-4D97-AF65-F5344CB8AC3E}">
        <p14:creationId xmlns:p14="http://schemas.microsoft.com/office/powerpoint/2010/main" val="174085030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ntslf.org</a:t>
            </a:r>
            <a:r>
              <a:rPr lang="en-US" dirty="0"/>
              <a:t>/about-tides/tides-</a:t>
            </a:r>
            <a:r>
              <a:rPr lang="en-US" dirty="0" err="1"/>
              <a:t>faq</a:t>
            </a:r>
            <a:endParaRPr lang="en-US" dirty="0"/>
          </a:p>
        </p:txBody>
      </p:sp>
      <p:sp>
        <p:nvSpPr>
          <p:cNvPr id="4" name="Slide Number Placeholder 3"/>
          <p:cNvSpPr>
            <a:spLocks noGrp="1"/>
          </p:cNvSpPr>
          <p:nvPr>
            <p:ph type="sldNum" sz="quarter" idx="5"/>
          </p:nvPr>
        </p:nvSpPr>
        <p:spPr/>
        <p:txBody>
          <a:bodyPr/>
          <a:lstStyle/>
          <a:p>
            <a:pPr>
              <a:defRPr/>
            </a:pPr>
            <a:fld id="{48B5E055-83C5-1148-B1CC-2151D312576F}" type="slidenum">
              <a:rPr lang="en-US" altLang="en-US" smtClean="0"/>
              <a:pPr>
                <a:defRPr/>
              </a:pPr>
              <a:t>77</a:t>
            </a:fld>
            <a:endParaRPr lang="en-US" altLang="en-US"/>
          </a:p>
        </p:txBody>
      </p:sp>
    </p:spTree>
    <p:extLst>
      <p:ext uri="{BB962C8B-B14F-4D97-AF65-F5344CB8AC3E}">
        <p14:creationId xmlns:p14="http://schemas.microsoft.com/office/powerpoint/2010/main" val="9168116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8C335441-CA63-4998-BE24-64C4C85D464F}" type="slidenum">
              <a:rPr lang="en-US" smtClean="0"/>
              <a:pPr/>
              <a:t>78</a:t>
            </a:fld>
            <a:endParaRPr lang="en-US"/>
          </a:p>
        </p:txBody>
      </p:sp>
    </p:spTree>
    <p:extLst>
      <p:ext uri="{BB962C8B-B14F-4D97-AF65-F5344CB8AC3E}">
        <p14:creationId xmlns:p14="http://schemas.microsoft.com/office/powerpoint/2010/main" val="96657209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8C335441-CA63-4998-BE24-64C4C85D464F}" type="slidenum">
              <a:rPr lang="en-US" smtClean="0"/>
              <a:pPr/>
              <a:t>79</a:t>
            </a:fld>
            <a:endParaRPr lang="en-US"/>
          </a:p>
        </p:txBody>
      </p:sp>
    </p:spTree>
    <p:extLst>
      <p:ext uri="{BB962C8B-B14F-4D97-AF65-F5344CB8AC3E}">
        <p14:creationId xmlns:p14="http://schemas.microsoft.com/office/powerpoint/2010/main" val="98774641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DFFAF084-747A-0A4A-8ECA-A37E6EB6A5B7}"/>
              </a:ext>
            </a:extLst>
          </p:cNvPr>
          <p:cNvSpPr>
            <a:spLocks noGrp="1" noRot="1" noChangeAspect="1" noChangeArrowheads="1" noTextEdit="1"/>
          </p:cNvSpPr>
          <p:nvPr>
            <p:ph type="sldImg"/>
          </p:nvPr>
        </p:nvSpPr>
        <p:spPr>
          <a:ln/>
        </p:spPr>
      </p:sp>
      <p:sp>
        <p:nvSpPr>
          <p:cNvPr id="38914" name="Rectangle 3">
            <a:extLst>
              <a:ext uri="{FF2B5EF4-FFF2-40B4-BE49-F238E27FC236}">
                <a16:creationId xmlns:a16="http://schemas.microsoft.com/office/drawing/2014/main" id="{B9D98FFB-13F0-834E-A633-3F9B3503997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Calibri" panose="020F0502020204030204" pitchFamily="34" charset="0"/>
              <a:ea typeface="ＭＳ Ｐゴシック" panose="020B0600070205080204" pitchFamily="34" charset="-128"/>
              <a:cs typeface="ＭＳ Ｐゴシック" panose="020B0600070205080204" pitchFamily="34" charset="-128"/>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DFFAF084-747A-0A4A-8ECA-A37E6EB6A5B7}"/>
              </a:ext>
            </a:extLst>
          </p:cNvPr>
          <p:cNvSpPr>
            <a:spLocks noGrp="1" noRot="1" noChangeAspect="1" noChangeArrowheads="1" noTextEdit="1"/>
          </p:cNvSpPr>
          <p:nvPr>
            <p:ph type="sldImg"/>
          </p:nvPr>
        </p:nvSpPr>
        <p:spPr>
          <a:ln/>
        </p:spPr>
      </p:sp>
      <p:sp>
        <p:nvSpPr>
          <p:cNvPr id="38914" name="Rectangle 3">
            <a:extLst>
              <a:ext uri="{FF2B5EF4-FFF2-40B4-BE49-F238E27FC236}">
                <a16:creationId xmlns:a16="http://schemas.microsoft.com/office/drawing/2014/main" id="{B9D98FFB-13F0-834E-A633-3F9B3503997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Calibri" panose="020F0502020204030204" pitchFamily="34" charset="0"/>
              <a:ea typeface="ＭＳ Ｐゴシック" panose="020B0600070205080204" pitchFamily="34" charset="-128"/>
              <a:cs typeface="ＭＳ Ｐゴシック" panose="020B0600070205080204" pitchFamily="34" charset="-128"/>
            </a:endParaRPr>
          </a:p>
        </p:txBody>
      </p:sp>
    </p:spTree>
    <p:extLst>
      <p:ext uri="{BB962C8B-B14F-4D97-AF65-F5344CB8AC3E}">
        <p14:creationId xmlns:p14="http://schemas.microsoft.com/office/powerpoint/2010/main" val="30056833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75357"/>
            <a:ext cx="7772400" cy="1225021"/>
          </a:xfrm>
        </p:spPr>
        <p:txBody>
          <a:bodyPr/>
          <a:lstStyle/>
          <a:p>
            <a:r>
              <a:rPr lang="en-US"/>
              <a:t>Click to edit Master title style</a:t>
            </a:r>
          </a:p>
        </p:txBody>
      </p:sp>
      <p:sp>
        <p:nvSpPr>
          <p:cNvPr id="3" name="Subtitle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2EF653A1-A430-CD4D-82C4-3A1C5405EAF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9D991A1-71D2-434F-816F-F5968C3161A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2C3880A0-DC5B-F249-AEEE-28BB62A7CDEC}"/>
              </a:ext>
            </a:extLst>
          </p:cNvPr>
          <p:cNvSpPr>
            <a:spLocks noGrp="1" noChangeArrowheads="1"/>
          </p:cNvSpPr>
          <p:nvPr>
            <p:ph type="sldNum" sz="quarter" idx="12"/>
          </p:nvPr>
        </p:nvSpPr>
        <p:spPr>
          <a:ln/>
        </p:spPr>
        <p:txBody>
          <a:bodyPr/>
          <a:lstStyle>
            <a:lvl1pPr>
              <a:defRPr/>
            </a:lvl1pPr>
          </a:lstStyle>
          <a:p>
            <a:pPr>
              <a:defRPr/>
            </a:pPr>
            <a:fld id="{5D348F8B-3C5B-724F-9D20-64B7209705ED}" type="slidenum">
              <a:rPr lang="en-US" altLang="en-US"/>
              <a:pPr>
                <a:defRPr/>
              </a:pPr>
              <a:t>‹#›</a:t>
            </a:fld>
            <a:endParaRPr lang="en-US" altLang="en-US"/>
          </a:p>
        </p:txBody>
      </p:sp>
    </p:spTree>
    <p:extLst>
      <p:ext uri="{BB962C8B-B14F-4D97-AF65-F5344CB8AC3E}">
        <p14:creationId xmlns:p14="http://schemas.microsoft.com/office/powerpoint/2010/main" val="33924505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C38B49EA-168E-914E-9A51-C26C05CE608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F035A5C2-7B6B-A74F-8457-BC488C9ABE7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B6EB6572-82A5-A644-94C2-82766598C656}"/>
              </a:ext>
            </a:extLst>
          </p:cNvPr>
          <p:cNvSpPr>
            <a:spLocks noGrp="1" noChangeArrowheads="1"/>
          </p:cNvSpPr>
          <p:nvPr>
            <p:ph type="sldNum" sz="quarter" idx="12"/>
          </p:nvPr>
        </p:nvSpPr>
        <p:spPr>
          <a:ln/>
        </p:spPr>
        <p:txBody>
          <a:bodyPr/>
          <a:lstStyle>
            <a:lvl1pPr>
              <a:defRPr/>
            </a:lvl1pPr>
          </a:lstStyle>
          <a:p>
            <a:pPr>
              <a:defRPr/>
            </a:pPr>
            <a:fld id="{F8534E9F-B3CB-174C-923D-22F6DCFFC032}" type="slidenum">
              <a:rPr lang="en-US" altLang="en-US"/>
              <a:pPr>
                <a:defRPr/>
              </a:pPr>
              <a:t>‹#›</a:t>
            </a:fld>
            <a:endParaRPr lang="en-US" altLang="en-US"/>
          </a:p>
        </p:txBody>
      </p:sp>
    </p:spTree>
    <p:extLst>
      <p:ext uri="{BB962C8B-B14F-4D97-AF65-F5344CB8AC3E}">
        <p14:creationId xmlns:p14="http://schemas.microsoft.com/office/powerpoint/2010/main" val="2040096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672418"/>
            <a:ext cx="7772400" cy="1135063"/>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422261"/>
            <a:ext cx="7772400" cy="1250156"/>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AB56D4CA-DA10-5B47-92CD-BCA696E6EC6B}"/>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B3A925FE-0FF8-3D4F-A124-9AB7EB5C250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08F5CF00-7324-D042-BE6C-4D55A3961829}"/>
              </a:ext>
            </a:extLst>
          </p:cNvPr>
          <p:cNvSpPr>
            <a:spLocks noGrp="1" noChangeArrowheads="1"/>
          </p:cNvSpPr>
          <p:nvPr>
            <p:ph type="sldNum" sz="quarter" idx="12"/>
          </p:nvPr>
        </p:nvSpPr>
        <p:spPr>
          <a:ln/>
        </p:spPr>
        <p:txBody>
          <a:bodyPr/>
          <a:lstStyle>
            <a:lvl1pPr>
              <a:defRPr/>
            </a:lvl1pPr>
          </a:lstStyle>
          <a:p>
            <a:pPr>
              <a:defRPr/>
            </a:pPr>
            <a:fld id="{1BEB4D20-6157-8342-AFA8-273BD1973373}" type="slidenum">
              <a:rPr lang="en-US" altLang="en-US"/>
              <a:pPr>
                <a:defRPr/>
              </a:pPr>
              <a:t>‹#›</a:t>
            </a:fld>
            <a:endParaRPr lang="en-US" altLang="en-US"/>
          </a:p>
        </p:txBody>
      </p:sp>
    </p:spTree>
    <p:extLst>
      <p:ext uri="{BB962C8B-B14F-4D97-AF65-F5344CB8AC3E}">
        <p14:creationId xmlns:p14="http://schemas.microsoft.com/office/powerpoint/2010/main" val="22001528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33501"/>
            <a:ext cx="4038600" cy="377163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33501"/>
            <a:ext cx="4038600" cy="377163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321537A1-FE4D-BF40-9BC8-9D7CB55CCE20}"/>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FAE23ACF-C20C-5049-8515-CE5F9721DF6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AF77CB4C-D142-FF45-AAB1-EF9E4490B577}"/>
              </a:ext>
            </a:extLst>
          </p:cNvPr>
          <p:cNvSpPr>
            <a:spLocks noGrp="1" noChangeArrowheads="1"/>
          </p:cNvSpPr>
          <p:nvPr>
            <p:ph type="sldNum" sz="quarter" idx="12"/>
          </p:nvPr>
        </p:nvSpPr>
        <p:spPr>
          <a:ln/>
        </p:spPr>
        <p:txBody>
          <a:bodyPr/>
          <a:lstStyle>
            <a:lvl1pPr>
              <a:defRPr/>
            </a:lvl1pPr>
          </a:lstStyle>
          <a:p>
            <a:pPr>
              <a:defRPr/>
            </a:pPr>
            <a:fld id="{E1D51086-1561-894E-B8C6-425551F0ADAF}" type="slidenum">
              <a:rPr lang="en-US" altLang="en-US"/>
              <a:pPr>
                <a:defRPr/>
              </a:pPr>
              <a:t>‹#›</a:t>
            </a:fld>
            <a:endParaRPr lang="en-US" altLang="en-US"/>
          </a:p>
        </p:txBody>
      </p:sp>
    </p:spTree>
    <p:extLst>
      <p:ext uri="{BB962C8B-B14F-4D97-AF65-F5344CB8AC3E}">
        <p14:creationId xmlns:p14="http://schemas.microsoft.com/office/powerpoint/2010/main" val="3976875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279261"/>
            <a:ext cx="4040188" cy="53313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812396"/>
            <a:ext cx="4040188"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0" y="1279261"/>
            <a:ext cx="4041775" cy="53313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0" y="1812396"/>
            <a:ext cx="4041775"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6893726B-FD5A-6944-B884-DF8C36D89788}"/>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B0B78092-B154-DB42-B869-4E22C4B411C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13EE18BA-D480-0B47-9ED2-C849DB1094E3}"/>
              </a:ext>
            </a:extLst>
          </p:cNvPr>
          <p:cNvSpPr>
            <a:spLocks noGrp="1" noChangeArrowheads="1"/>
          </p:cNvSpPr>
          <p:nvPr>
            <p:ph type="sldNum" sz="quarter" idx="12"/>
          </p:nvPr>
        </p:nvSpPr>
        <p:spPr>
          <a:ln/>
        </p:spPr>
        <p:txBody>
          <a:bodyPr/>
          <a:lstStyle>
            <a:lvl1pPr>
              <a:defRPr/>
            </a:lvl1pPr>
          </a:lstStyle>
          <a:p>
            <a:pPr>
              <a:defRPr/>
            </a:pPr>
            <a:fld id="{5F42DB14-D3F9-1049-ABC4-643571610C32}" type="slidenum">
              <a:rPr lang="en-US" altLang="en-US"/>
              <a:pPr>
                <a:defRPr/>
              </a:pPr>
              <a:t>‹#›</a:t>
            </a:fld>
            <a:endParaRPr lang="en-US" altLang="en-US"/>
          </a:p>
        </p:txBody>
      </p:sp>
    </p:spTree>
    <p:extLst>
      <p:ext uri="{BB962C8B-B14F-4D97-AF65-F5344CB8AC3E}">
        <p14:creationId xmlns:p14="http://schemas.microsoft.com/office/powerpoint/2010/main" val="20859809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86F04B10-BCF9-204F-B2ED-4906A965A72D}"/>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CAEDA519-3BCB-8349-B9C4-D5B77DE7674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9CA3791D-4BF2-944B-837C-10968BFCF736}"/>
              </a:ext>
            </a:extLst>
          </p:cNvPr>
          <p:cNvSpPr>
            <a:spLocks noGrp="1" noChangeArrowheads="1"/>
          </p:cNvSpPr>
          <p:nvPr>
            <p:ph type="sldNum" sz="quarter" idx="12"/>
          </p:nvPr>
        </p:nvSpPr>
        <p:spPr>
          <a:ln/>
        </p:spPr>
        <p:txBody>
          <a:bodyPr/>
          <a:lstStyle>
            <a:lvl1pPr>
              <a:defRPr/>
            </a:lvl1pPr>
          </a:lstStyle>
          <a:p>
            <a:pPr>
              <a:defRPr/>
            </a:pPr>
            <a:fld id="{CD7C73A3-0D5E-C842-ACA0-DC2E64C8D714}" type="slidenum">
              <a:rPr lang="en-US" altLang="en-US"/>
              <a:pPr>
                <a:defRPr/>
              </a:pPr>
              <a:t>‹#›</a:t>
            </a:fld>
            <a:endParaRPr lang="en-US" altLang="en-US"/>
          </a:p>
        </p:txBody>
      </p:sp>
    </p:spTree>
    <p:extLst>
      <p:ext uri="{BB962C8B-B14F-4D97-AF65-F5344CB8AC3E}">
        <p14:creationId xmlns:p14="http://schemas.microsoft.com/office/powerpoint/2010/main" val="37346215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560A5FAE-9F8B-784F-AE86-E225C5DD888A}"/>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E9D4C662-40D1-7547-A0EE-ACC93EB8F48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4D654BF0-E3FE-BC4B-9052-3C9FB0E9D4E3}"/>
              </a:ext>
            </a:extLst>
          </p:cNvPr>
          <p:cNvSpPr>
            <a:spLocks noGrp="1" noChangeArrowheads="1"/>
          </p:cNvSpPr>
          <p:nvPr>
            <p:ph type="sldNum" sz="quarter" idx="12"/>
          </p:nvPr>
        </p:nvSpPr>
        <p:spPr>
          <a:ln/>
        </p:spPr>
        <p:txBody>
          <a:bodyPr/>
          <a:lstStyle>
            <a:lvl1pPr>
              <a:defRPr/>
            </a:lvl1pPr>
          </a:lstStyle>
          <a:p>
            <a:pPr>
              <a:defRPr/>
            </a:pPr>
            <a:fld id="{A29E130D-E2DA-304E-8ADE-04A80189E330}" type="slidenum">
              <a:rPr lang="en-US" altLang="en-US"/>
              <a:pPr>
                <a:defRPr/>
              </a:pPr>
              <a:t>‹#›</a:t>
            </a:fld>
            <a:endParaRPr lang="en-US" altLang="en-US"/>
          </a:p>
        </p:txBody>
      </p:sp>
    </p:spTree>
    <p:extLst>
      <p:ext uri="{BB962C8B-B14F-4D97-AF65-F5344CB8AC3E}">
        <p14:creationId xmlns:p14="http://schemas.microsoft.com/office/powerpoint/2010/main" val="38750876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5" y="227541"/>
            <a:ext cx="3008313" cy="968376"/>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27545"/>
            <a:ext cx="5111750" cy="487759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5" y="1195920"/>
            <a:ext cx="3008313" cy="39092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E016DE28-7E64-4442-BE6B-A77EBCD1901C}"/>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567991BA-446F-AB4E-B0F2-1DC9AB7CB6A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9A8A0A6A-CA9C-4441-8AF7-729FA3241215}"/>
              </a:ext>
            </a:extLst>
          </p:cNvPr>
          <p:cNvSpPr>
            <a:spLocks noGrp="1" noChangeArrowheads="1"/>
          </p:cNvSpPr>
          <p:nvPr>
            <p:ph type="sldNum" sz="quarter" idx="12"/>
          </p:nvPr>
        </p:nvSpPr>
        <p:spPr>
          <a:ln/>
        </p:spPr>
        <p:txBody>
          <a:bodyPr/>
          <a:lstStyle>
            <a:lvl1pPr>
              <a:defRPr/>
            </a:lvl1pPr>
          </a:lstStyle>
          <a:p>
            <a:pPr>
              <a:defRPr/>
            </a:pPr>
            <a:fld id="{8CA8F428-4606-3F49-BC9A-745777631AE3}" type="slidenum">
              <a:rPr lang="en-US" altLang="en-US"/>
              <a:pPr>
                <a:defRPr/>
              </a:pPr>
              <a:t>‹#›</a:t>
            </a:fld>
            <a:endParaRPr lang="en-US" altLang="en-US"/>
          </a:p>
        </p:txBody>
      </p:sp>
    </p:spTree>
    <p:extLst>
      <p:ext uri="{BB962C8B-B14F-4D97-AF65-F5344CB8AC3E}">
        <p14:creationId xmlns:p14="http://schemas.microsoft.com/office/powerpoint/2010/main" val="17757130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000500"/>
            <a:ext cx="5486400" cy="472283"/>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510646"/>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472783"/>
            <a:ext cx="5486400" cy="6707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FAE7C218-87B9-9F4B-ACFE-BBA9CE7E8E8C}"/>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D25B083D-E289-A440-84F1-F5B8588B47B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BAAFA8EE-6505-CD49-8C3B-0ECA34C7CB20}"/>
              </a:ext>
            </a:extLst>
          </p:cNvPr>
          <p:cNvSpPr>
            <a:spLocks noGrp="1" noChangeArrowheads="1"/>
          </p:cNvSpPr>
          <p:nvPr>
            <p:ph type="sldNum" sz="quarter" idx="12"/>
          </p:nvPr>
        </p:nvSpPr>
        <p:spPr>
          <a:ln/>
        </p:spPr>
        <p:txBody>
          <a:bodyPr/>
          <a:lstStyle>
            <a:lvl1pPr>
              <a:defRPr/>
            </a:lvl1pPr>
          </a:lstStyle>
          <a:p>
            <a:pPr>
              <a:defRPr/>
            </a:pPr>
            <a:fld id="{774EE5A3-882D-B945-AA17-D1169D93661E}" type="slidenum">
              <a:rPr lang="en-US" altLang="en-US"/>
              <a:pPr>
                <a:defRPr/>
              </a:pPr>
              <a:t>‹#›</a:t>
            </a:fld>
            <a:endParaRPr lang="en-US" altLang="en-US"/>
          </a:p>
        </p:txBody>
      </p:sp>
    </p:spTree>
    <p:extLst>
      <p:ext uri="{BB962C8B-B14F-4D97-AF65-F5344CB8AC3E}">
        <p14:creationId xmlns:p14="http://schemas.microsoft.com/office/powerpoint/2010/main" val="9551333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42840F8A-FA15-A24C-8F78-041474DA735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99D422F5-24BB-A04D-9905-BF20AFD4795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9096A588-A476-984D-A1FA-4C5A9FA13D43}"/>
              </a:ext>
            </a:extLst>
          </p:cNvPr>
          <p:cNvSpPr>
            <a:spLocks noGrp="1" noChangeArrowheads="1"/>
          </p:cNvSpPr>
          <p:nvPr>
            <p:ph type="sldNum" sz="quarter" idx="12"/>
          </p:nvPr>
        </p:nvSpPr>
        <p:spPr>
          <a:ln/>
        </p:spPr>
        <p:txBody>
          <a:bodyPr/>
          <a:lstStyle>
            <a:lvl1pPr>
              <a:defRPr/>
            </a:lvl1pPr>
          </a:lstStyle>
          <a:p>
            <a:pPr>
              <a:defRPr/>
            </a:pPr>
            <a:fld id="{B3097047-0AF0-DF48-8830-B2E61AE8FFAD}" type="slidenum">
              <a:rPr lang="en-US" altLang="en-US"/>
              <a:pPr>
                <a:defRPr/>
              </a:pPr>
              <a:t>‹#›</a:t>
            </a:fld>
            <a:endParaRPr lang="en-US" altLang="en-US"/>
          </a:p>
        </p:txBody>
      </p:sp>
    </p:spTree>
    <p:extLst>
      <p:ext uri="{BB962C8B-B14F-4D97-AF65-F5344CB8AC3E}">
        <p14:creationId xmlns:p14="http://schemas.microsoft.com/office/powerpoint/2010/main" val="11588173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28867"/>
            <a:ext cx="2057400" cy="487627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28867"/>
            <a:ext cx="6019800" cy="48762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6E5AC0C3-57EE-C94C-9DC7-4B104A43A7A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7931C6A0-DEED-0B42-BBC5-210ABDED611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F6A7A5C0-EA44-4C4C-B7C5-5A8068F4DF94}"/>
              </a:ext>
            </a:extLst>
          </p:cNvPr>
          <p:cNvSpPr>
            <a:spLocks noGrp="1" noChangeArrowheads="1"/>
          </p:cNvSpPr>
          <p:nvPr>
            <p:ph type="sldNum" sz="quarter" idx="12"/>
          </p:nvPr>
        </p:nvSpPr>
        <p:spPr>
          <a:ln/>
        </p:spPr>
        <p:txBody>
          <a:bodyPr/>
          <a:lstStyle>
            <a:lvl1pPr>
              <a:defRPr/>
            </a:lvl1pPr>
          </a:lstStyle>
          <a:p>
            <a:pPr>
              <a:defRPr/>
            </a:pPr>
            <a:fld id="{AEA36104-D8E7-4347-88E3-BDFEB3384F21}" type="slidenum">
              <a:rPr lang="en-US" altLang="en-US"/>
              <a:pPr>
                <a:defRPr/>
              </a:pPr>
              <a:t>‹#›</a:t>
            </a:fld>
            <a:endParaRPr lang="en-US" altLang="en-US"/>
          </a:p>
        </p:txBody>
      </p:sp>
    </p:spTree>
    <p:extLst>
      <p:ext uri="{BB962C8B-B14F-4D97-AF65-F5344CB8AC3E}">
        <p14:creationId xmlns:p14="http://schemas.microsoft.com/office/powerpoint/2010/main" val="11157589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AndTx">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866"/>
            <a:ext cx="8229600" cy="952500"/>
          </a:xfrm>
        </p:spPr>
        <p:txBody>
          <a:bodyPr/>
          <a:lstStyle/>
          <a:p>
            <a:r>
              <a:rPr lang="en-US"/>
              <a:t>Click to edit Master title style</a:t>
            </a:r>
          </a:p>
        </p:txBody>
      </p:sp>
      <p:sp>
        <p:nvSpPr>
          <p:cNvPr id="3" name="Content Placeholder 2"/>
          <p:cNvSpPr>
            <a:spLocks noGrp="1"/>
          </p:cNvSpPr>
          <p:nvPr>
            <p:ph sz="quarter" idx="1"/>
          </p:nvPr>
        </p:nvSpPr>
        <p:spPr>
          <a:xfrm>
            <a:off x="457200" y="1333502"/>
            <a:ext cx="4038600" cy="18216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57200" y="3282160"/>
            <a:ext cx="4038600" cy="18229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half" idx="3"/>
          </p:nvPr>
        </p:nvSpPr>
        <p:spPr>
          <a:xfrm>
            <a:off x="4648200" y="1333501"/>
            <a:ext cx="4038600" cy="37716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a:extLst>
              <a:ext uri="{FF2B5EF4-FFF2-40B4-BE49-F238E27FC236}">
                <a16:creationId xmlns:a16="http://schemas.microsoft.com/office/drawing/2014/main" id="{FF4AD767-D9BE-F74B-B9FB-5E551878D71F}"/>
              </a:ext>
            </a:extLst>
          </p:cNvPr>
          <p:cNvSpPr>
            <a:spLocks noGrp="1" noChangeArrowheads="1"/>
          </p:cNvSpPr>
          <p:nvPr>
            <p:ph type="dt" sz="half" idx="10"/>
          </p:nvPr>
        </p:nvSpPr>
        <p:spPr>
          <a:ln/>
        </p:spPr>
        <p:txBody>
          <a:bodyPr/>
          <a:lstStyle>
            <a:lvl1pPr>
              <a:defRPr/>
            </a:lvl1pPr>
          </a:lstStyle>
          <a:p>
            <a:pPr>
              <a:defRPr/>
            </a:pPr>
            <a:endParaRPr lang="en-US"/>
          </a:p>
        </p:txBody>
      </p:sp>
      <p:sp>
        <p:nvSpPr>
          <p:cNvPr id="7" name="Rectangle 5">
            <a:extLst>
              <a:ext uri="{FF2B5EF4-FFF2-40B4-BE49-F238E27FC236}">
                <a16:creationId xmlns:a16="http://schemas.microsoft.com/office/drawing/2014/main" id="{85DDE08D-F7CC-8C40-8763-919189F3E2B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43827FC9-D8CD-7F4A-8A43-4946C51A1083}"/>
              </a:ext>
            </a:extLst>
          </p:cNvPr>
          <p:cNvSpPr>
            <a:spLocks noGrp="1" noChangeArrowheads="1"/>
          </p:cNvSpPr>
          <p:nvPr>
            <p:ph type="sldNum" sz="quarter" idx="12"/>
          </p:nvPr>
        </p:nvSpPr>
        <p:spPr>
          <a:ln/>
        </p:spPr>
        <p:txBody>
          <a:bodyPr/>
          <a:lstStyle>
            <a:lvl1pPr>
              <a:defRPr/>
            </a:lvl1pPr>
          </a:lstStyle>
          <a:p>
            <a:pPr>
              <a:defRPr/>
            </a:pPr>
            <a:fld id="{2C79A723-B210-DE4E-9935-8EA7587D0944}" type="slidenum">
              <a:rPr lang="en-US" altLang="en-US"/>
              <a:pPr>
                <a:defRPr/>
              </a:pPr>
              <a:t>‹#›</a:t>
            </a:fld>
            <a:endParaRPr lang="en-US" altLang="en-US"/>
          </a:p>
        </p:txBody>
      </p:sp>
    </p:spTree>
    <p:extLst>
      <p:ext uri="{BB962C8B-B14F-4D97-AF65-F5344CB8AC3E}">
        <p14:creationId xmlns:p14="http://schemas.microsoft.com/office/powerpoint/2010/main" val="2309790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75357"/>
            <a:ext cx="7772400" cy="1225021"/>
          </a:xfrm>
        </p:spPr>
        <p:txBody>
          <a:bodyPr/>
          <a:lstStyle/>
          <a:p>
            <a:r>
              <a:rPr lang="en-US"/>
              <a:t>Click to edit Master title style</a:t>
            </a:r>
          </a:p>
        </p:txBody>
      </p:sp>
      <p:sp>
        <p:nvSpPr>
          <p:cNvPr id="3" name="Subtitle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78F47513-1D0C-9040-B14E-2EBC46BCDDA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462DDB36-7C27-3B43-996F-E463CC263C8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C1B342AF-81CE-414C-BD1A-1E2F945F48FF}"/>
              </a:ext>
            </a:extLst>
          </p:cNvPr>
          <p:cNvSpPr>
            <a:spLocks noGrp="1" noChangeArrowheads="1"/>
          </p:cNvSpPr>
          <p:nvPr>
            <p:ph type="sldNum" sz="quarter" idx="12"/>
          </p:nvPr>
        </p:nvSpPr>
        <p:spPr>
          <a:ln/>
        </p:spPr>
        <p:txBody>
          <a:bodyPr/>
          <a:lstStyle>
            <a:lvl1pPr>
              <a:defRPr/>
            </a:lvl1pPr>
          </a:lstStyle>
          <a:p>
            <a:pPr>
              <a:defRPr/>
            </a:pPr>
            <a:fld id="{EAAE8796-62F7-EC45-8073-D7C2AE1D68F3}" type="slidenum">
              <a:rPr lang="en-US" altLang="en-US"/>
              <a:pPr>
                <a:defRPr/>
              </a:pPr>
              <a:t>‹#›</a:t>
            </a:fld>
            <a:endParaRPr lang="en-US" altLang="en-US"/>
          </a:p>
        </p:txBody>
      </p:sp>
    </p:spTree>
    <p:extLst>
      <p:ext uri="{BB962C8B-B14F-4D97-AF65-F5344CB8AC3E}">
        <p14:creationId xmlns:p14="http://schemas.microsoft.com/office/powerpoint/2010/main" val="25427466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9CCB9FDB-C5D0-9248-8A1E-ECB88395C01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64207D44-EA3F-6846-95EF-90C1B18231D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F282EBE0-18EC-1A46-93FE-CF18CDE176DD}"/>
              </a:ext>
            </a:extLst>
          </p:cNvPr>
          <p:cNvSpPr>
            <a:spLocks noGrp="1" noChangeArrowheads="1"/>
          </p:cNvSpPr>
          <p:nvPr>
            <p:ph type="sldNum" sz="quarter" idx="12"/>
          </p:nvPr>
        </p:nvSpPr>
        <p:spPr>
          <a:ln/>
        </p:spPr>
        <p:txBody>
          <a:bodyPr/>
          <a:lstStyle>
            <a:lvl1pPr>
              <a:defRPr/>
            </a:lvl1pPr>
          </a:lstStyle>
          <a:p>
            <a:pPr>
              <a:defRPr/>
            </a:pPr>
            <a:fld id="{42976CC4-D81F-BA4F-8627-83DFAAB46F7B}" type="slidenum">
              <a:rPr lang="en-US" altLang="en-US"/>
              <a:pPr>
                <a:defRPr/>
              </a:pPr>
              <a:t>‹#›</a:t>
            </a:fld>
            <a:endParaRPr lang="en-US" altLang="en-US"/>
          </a:p>
        </p:txBody>
      </p:sp>
    </p:spTree>
    <p:extLst>
      <p:ext uri="{BB962C8B-B14F-4D97-AF65-F5344CB8AC3E}">
        <p14:creationId xmlns:p14="http://schemas.microsoft.com/office/powerpoint/2010/main" val="33656508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672418"/>
            <a:ext cx="7772400" cy="1135063"/>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422261"/>
            <a:ext cx="7772400" cy="1250156"/>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FF0D6B5C-B958-3A40-9B7F-9F7A2B780BA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511C11B6-8DFD-764E-BDF7-934E554D134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392A04FC-5F46-5A43-941F-49EF4650267F}"/>
              </a:ext>
            </a:extLst>
          </p:cNvPr>
          <p:cNvSpPr>
            <a:spLocks noGrp="1" noChangeArrowheads="1"/>
          </p:cNvSpPr>
          <p:nvPr>
            <p:ph type="sldNum" sz="quarter" idx="12"/>
          </p:nvPr>
        </p:nvSpPr>
        <p:spPr>
          <a:ln/>
        </p:spPr>
        <p:txBody>
          <a:bodyPr/>
          <a:lstStyle>
            <a:lvl1pPr>
              <a:defRPr/>
            </a:lvl1pPr>
          </a:lstStyle>
          <a:p>
            <a:pPr>
              <a:defRPr/>
            </a:pPr>
            <a:fld id="{76EDFA7A-EFD1-9A45-8F9F-F113023E0DC4}" type="slidenum">
              <a:rPr lang="en-US" altLang="en-US"/>
              <a:pPr>
                <a:defRPr/>
              </a:pPr>
              <a:t>‹#›</a:t>
            </a:fld>
            <a:endParaRPr lang="en-US" altLang="en-US"/>
          </a:p>
        </p:txBody>
      </p:sp>
    </p:spTree>
    <p:extLst>
      <p:ext uri="{BB962C8B-B14F-4D97-AF65-F5344CB8AC3E}">
        <p14:creationId xmlns:p14="http://schemas.microsoft.com/office/powerpoint/2010/main" val="134905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33501"/>
            <a:ext cx="4038600" cy="377163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33501"/>
            <a:ext cx="4038600" cy="377163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23765C35-C8E1-714E-8BED-3A6195585FC9}"/>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B7707C7A-B8FB-4740-A224-18F3CAFBA0B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327ED565-D553-C545-8C8E-44D008EA50FF}"/>
              </a:ext>
            </a:extLst>
          </p:cNvPr>
          <p:cNvSpPr>
            <a:spLocks noGrp="1" noChangeArrowheads="1"/>
          </p:cNvSpPr>
          <p:nvPr>
            <p:ph type="sldNum" sz="quarter" idx="12"/>
          </p:nvPr>
        </p:nvSpPr>
        <p:spPr>
          <a:ln/>
        </p:spPr>
        <p:txBody>
          <a:bodyPr/>
          <a:lstStyle>
            <a:lvl1pPr>
              <a:defRPr/>
            </a:lvl1pPr>
          </a:lstStyle>
          <a:p>
            <a:pPr>
              <a:defRPr/>
            </a:pPr>
            <a:fld id="{53F63F00-994B-0F42-9F48-FE3A2594827D}" type="slidenum">
              <a:rPr lang="en-US" altLang="en-US"/>
              <a:pPr>
                <a:defRPr/>
              </a:pPr>
              <a:t>‹#›</a:t>
            </a:fld>
            <a:endParaRPr lang="en-US" altLang="en-US"/>
          </a:p>
        </p:txBody>
      </p:sp>
    </p:spTree>
    <p:extLst>
      <p:ext uri="{BB962C8B-B14F-4D97-AF65-F5344CB8AC3E}">
        <p14:creationId xmlns:p14="http://schemas.microsoft.com/office/powerpoint/2010/main" val="31122452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279261"/>
            <a:ext cx="4040188" cy="53313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812396"/>
            <a:ext cx="4040188"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0" y="1279261"/>
            <a:ext cx="4041775" cy="53313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0" y="1812396"/>
            <a:ext cx="4041775"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C5FA6B27-5424-8B47-8E11-77AA5B68FFBE}"/>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AF9AC0F2-0DC9-114B-A7BD-0C686C1E484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156BEE00-36AB-1648-A4AE-38A6B02D635A}"/>
              </a:ext>
            </a:extLst>
          </p:cNvPr>
          <p:cNvSpPr>
            <a:spLocks noGrp="1" noChangeArrowheads="1"/>
          </p:cNvSpPr>
          <p:nvPr>
            <p:ph type="sldNum" sz="quarter" idx="12"/>
          </p:nvPr>
        </p:nvSpPr>
        <p:spPr>
          <a:ln/>
        </p:spPr>
        <p:txBody>
          <a:bodyPr/>
          <a:lstStyle>
            <a:lvl1pPr>
              <a:defRPr/>
            </a:lvl1pPr>
          </a:lstStyle>
          <a:p>
            <a:pPr>
              <a:defRPr/>
            </a:pPr>
            <a:fld id="{2CBB3BB8-D0F4-044B-BFFC-49E648FC5B4F}" type="slidenum">
              <a:rPr lang="en-US" altLang="en-US"/>
              <a:pPr>
                <a:defRPr/>
              </a:pPr>
              <a:t>‹#›</a:t>
            </a:fld>
            <a:endParaRPr lang="en-US" altLang="en-US"/>
          </a:p>
        </p:txBody>
      </p:sp>
    </p:spTree>
    <p:extLst>
      <p:ext uri="{BB962C8B-B14F-4D97-AF65-F5344CB8AC3E}">
        <p14:creationId xmlns:p14="http://schemas.microsoft.com/office/powerpoint/2010/main" val="30365128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B7A172D7-2C6A-B540-B597-E4F13711AD58}"/>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A4AD9BD5-B906-8342-923B-372A3283AAB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C157083B-3AAA-ED46-A3F9-B15EA7365333}"/>
              </a:ext>
            </a:extLst>
          </p:cNvPr>
          <p:cNvSpPr>
            <a:spLocks noGrp="1" noChangeArrowheads="1"/>
          </p:cNvSpPr>
          <p:nvPr>
            <p:ph type="sldNum" sz="quarter" idx="12"/>
          </p:nvPr>
        </p:nvSpPr>
        <p:spPr>
          <a:ln/>
        </p:spPr>
        <p:txBody>
          <a:bodyPr/>
          <a:lstStyle>
            <a:lvl1pPr>
              <a:defRPr/>
            </a:lvl1pPr>
          </a:lstStyle>
          <a:p>
            <a:pPr>
              <a:defRPr/>
            </a:pPr>
            <a:fld id="{001299FA-0C91-6C4F-9DA9-FCDE285C980E}" type="slidenum">
              <a:rPr lang="en-US" altLang="en-US"/>
              <a:pPr>
                <a:defRPr/>
              </a:pPr>
              <a:t>‹#›</a:t>
            </a:fld>
            <a:endParaRPr lang="en-US" altLang="en-US"/>
          </a:p>
        </p:txBody>
      </p:sp>
    </p:spTree>
    <p:extLst>
      <p:ext uri="{BB962C8B-B14F-4D97-AF65-F5344CB8AC3E}">
        <p14:creationId xmlns:p14="http://schemas.microsoft.com/office/powerpoint/2010/main" val="16268161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736ADA0A-2703-7842-BDE8-E74544C1EAEC}"/>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0C16C3CC-4A00-B442-9886-A46BA4F02F5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A090A43B-C685-3446-AAC8-89CBD9EEAF77}"/>
              </a:ext>
            </a:extLst>
          </p:cNvPr>
          <p:cNvSpPr>
            <a:spLocks noGrp="1" noChangeArrowheads="1"/>
          </p:cNvSpPr>
          <p:nvPr>
            <p:ph type="sldNum" sz="quarter" idx="12"/>
          </p:nvPr>
        </p:nvSpPr>
        <p:spPr>
          <a:ln/>
        </p:spPr>
        <p:txBody>
          <a:bodyPr/>
          <a:lstStyle>
            <a:lvl1pPr>
              <a:defRPr/>
            </a:lvl1pPr>
          </a:lstStyle>
          <a:p>
            <a:pPr>
              <a:defRPr/>
            </a:pPr>
            <a:fld id="{96C6C2BD-54F1-3A43-86A8-0F78284360DF}" type="slidenum">
              <a:rPr lang="en-US" altLang="en-US"/>
              <a:pPr>
                <a:defRPr/>
              </a:pPr>
              <a:t>‹#›</a:t>
            </a:fld>
            <a:endParaRPr lang="en-US" altLang="en-US"/>
          </a:p>
        </p:txBody>
      </p:sp>
    </p:spTree>
    <p:extLst>
      <p:ext uri="{BB962C8B-B14F-4D97-AF65-F5344CB8AC3E}">
        <p14:creationId xmlns:p14="http://schemas.microsoft.com/office/powerpoint/2010/main" val="42054199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5" y="227541"/>
            <a:ext cx="3008313" cy="968376"/>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27545"/>
            <a:ext cx="5111750" cy="487759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5" y="1195920"/>
            <a:ext cx="3008313" cy="39092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BF9230A3-D679-E342-8718-B66031310246}"/>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7F4C7F65-D760-6A47-AE02-933EE6FAD9A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74C36EC7-1061-5745-A189-36FE963C0A2E}"/>
              </a:ext>
            </a:extLst>
          </p:cNvPr>
          <p:cNvSpPr>
            <a:spLocks noGrp="1" noChangeArrowheads="1"/>
          </p:cNvSpPr>
          <p:nvPr>
            <p:ph type="sldNum" sz="quarter" idx="12"/>
          </p:nvPr>
        </p:nvSpPr>
        <p:spPr>
          <a:ln/>
        </p:spPr>
        <p:txBody>
          <a:bodyPr/>
          <a:lstStyle>
            <a:lvl1pPr>
              <a:defRPr/>
            </a:lvl1pPr>
          </a:lstStyle>
          <a:p>
            <a:pPr>
              <a:defRPr/>
            </a:pPr>
            <a:fld id="{B12AB0C4-F189-4C48-BF06-47939DE800D1}" type="slidenum">
              <a:rPr lang="en-US" altLang="en-US"/>
              <a:pPr>
                <a:defRPr/>
              </a:pPr>
              <a:t>‹#›</a:t>
            </a:fld>
            <a:endParaRPr lang="en-US" altLang="en-US"/>
          </a:p>
        </p:txBody>
      </p:sp>
    </p:spTree>
    <p:extLst>
      <p:ext uri="{BB962C8B-B14F-4D97-AF65-F5344CB8AC3E}">
        <p14:creationId xmlns:p14="http://schemas.microsoft.com/office/powerpoint/2010/main" val="25522927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000500"/>
            <a:ext cx="5486400" cy="472283"/>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510646"/>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472783"/>
            <a:ext cx="5486400" cy="6707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6ACCAD42-D59D-AE40-ADD3-54658C79E474}"/>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999B2F09-A8F2-FB46-9A0B-C68C8C72A38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87979BC0-E9B0-0244-8501-A425CA4A375B}"/>
              </a:ext>
            </a:extLst>
          </p:cNvPr>
          <p:cNvSpPr>
            <a:spLocks noGrp="1" noChangeArrowheads="1"/>
          </p:cNvSpPr>
          <p:nvPr>
            <p:ph type="sldNum" sz="quarter" idx="12"/>
          </p:nvPr>
        </p:nvSpPr>
        <p:spPr>
          <a:ln/>
        </p:spPr>
        <p:txBody>
          <a:bodyPr/>
          <a:lstStyle>
            <a:lvl1pPr>
              <a:defRPr/>
            </a:lvl1pPr>
          </a:lstStyle>
          <a:p>
            <a:pPr>
              <a:defRPr/>
            </a:pPr>
            <a:fld id="{10F4FC6C-EE77-D746-A9D5-7F27B2AA3EE9}" type="slidenum">
              <a:rPr lang="en-US" altLang="en-US"/>
              <a:pPr>
                <a:defRPr/>
              </a:pPr>
              <a:t>‹#›</a:t>
            </a:fld>
            <a:endParaRPr lang="en-US" altLang="en-US"/>
          </a:p>
        </p:txBody>
      </p:sp>
    </p:spTree>
    <p:extLst>
      <p:ext uri="{BB962C8B-B14F-4D97-AF65-F5344CB8AC3E}">
        <p14:creationId xmlns:p14="http://schemas.microsoft.com/office/powerpoint/2010/main" val="39305843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0DFAB1D-1CB0-5048-BE77-437B6EA901F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0714121F-2C27-364B-A540-A4235D14E44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507B02FA-66B1-0F48-A624-F32E04B6057A}"/>
              </a:ext>
            </a:extLst>
          </p:cNvPr>
          <p:cNvSpPr>
            <a:spLocks noGrp="1" noChangeArrowheads="1"/>
          </p:cNvSpPr>
          <p:nvPr>
            <p:ph type="sldNum" sz="quarter" idx="12"/>
          </p:nvPr>
        </p:nvSpPr>
        <p:spPr>
          <a:ln/>
        </p:spPr>
        <p:txBody>
          <a:bodyPr/>
          <a:lstStyle>
            <a:lvl1pPr>
              <a:defRPr/>
            </a:lvl1pPr>
          </a:lstStyle>
          <a:p>
            <a:pPr>
              <a:defRPr/>
            </a:pPr>
            <a:fld id="{8A9541E3-229F-7749-9DA6-83CDA7ACB676}" type="slidenum">
              <a:rPr lang="en-US" altLang="en-US"/>
              <a:pPr>
                <a:defRPr/>
              </a:pPr>
              <a:t>‹#›</a:t>
            </a:fld>
            <a:endParaRPr lang="en-US" altLang="en-US"/>
          </a:p>
        </p:txBody>
      </p:sp>
    </p:spTree>
    <p:extLst>
      <p:ext uri="{BB962C8B-B14F-4D97-AF65-F5344CB8AC3E}">
        <p14:creationId xmlns:p14="http://schemas.microsoft.com/office/powerpoint/2010/main" val="33992920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28867"/>
            <a:ext cx="2057400" cy="487627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28867"/>
            <a:ext cx="6019800" cy="48762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66524C66-A44A-9442-B42D-E7ED37B8129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61C9A973-5519-1248-952B-E6A19877ACA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8665B063-91C1-2E41-B9F7-AB2C694AC44C}"/>
              </a:ext>
            </a:extLst>
          </p:cNvPr>
          <p:cNvSpPr>
            <a:spLocks noGrp="1" noChangeArrowheads="1"/>
          </p:cNvSpPr>
          <p:nvPr>
            <p:ph type="sldNum" sz="quarter" idx="12"/>
          </p:nvPr>
        </p:nvSpPr>
        <p:spPr>
          <a:ln/>
        </p:spPr>
        <p:txBody>
          <a:bodyPr/>
          <a:lstStyle>
            <a:lvl1pPr>
              <a:defRPr/>
            </a:lvl1pPr>
          </a:lstStyle>
          <a:p>
            <a:pPr>
              <a:defRPr/>
            </a:pPr>
            <a:fld id="{8ACEA003-E77C-8344-9996-71CBD00C97FA}" type="slidenum">
              <a:rPr lang="en-US" altLang="en-US"/>
              <a:pPr>
                <a:defRPr/>
              </a:pPr>
              <a:t>‹#›</a:t>
            </a:fld>
            <a:endParaRPr lang="en-US" altLang="en-US"/>
          </a:p>
        </p:txBody>
      </p:sp>
    </p:spTree>
    <p:extLst>
      <p:ext uri="{BB962C8B-B14F-4D97-AF65-F5344CB8AC3E}">
        <p14:creationId xmlns:p14="http://schemas.microsoft.com/office/powerpoint/2010/main" val="11436340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AndTx">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866"/>
            <a:ext cx="8229600" cy="952500"/>
          </a:xfrm>
        </p:spPr>
        <p:txBody>
          <a:bodyPr/>
          <a:lstStyle/>
          <a:p>
            <a:r>
              <a:rPr lang="en-US"/>
              <a:t>Click to edit Master title style</a:t>
            </a:r>
          </a:p>
        </p:txBody>
      </p:sp>
      <p:sp>
        <p:nvSpPr>
          <p:cNvPr id="3" name="Content Placeholder 2"/>
          <p:cNvSpPr>
            <a:spLocks noGrp="1"/>
          </p:cNvSpPr>
          <p:nvPr>
            <p:ph sz="quarter" idx="1"/>
          </p:nvPr>
        </p:nvSpPr>
        <p:spPr>
          <a:xfrm>
            <a:off x="457200" y="1333502"/>
            <a:ext cx="4038600" cy="18216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57200" y="3282160"/>
            <a:ext cx="4038600" cy="18229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half" idx="3"/>
          </p:nvPr>
        </p:nvSpPr>
        <p:spPr>
          <a:xfrm>
            <a:off x="4648200" y="1333501"/>
            <a:ext cx="4038600" cy="37716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a:extLst>
              <a:ext uri="{FF2B5EF4-FFF2-40B4-BE49-F238E27FC236}">
                <a16:creationId xmlns:a16="http://schemas.microsoft.com/office/drawing/2014/main" id="{1FDF8327-9058-4741-8474-AE9834EE57CC}"/>
              </a:ext>
            </a:extLst>
          </p:cNvPr>
          <p:cNvSpPr>
            <a:spLocks noGrp="1" noChangeArrowheads="1"/>
          </p:cNvSpPr>
          <p:nvPr>
            <p:ph type="dt" sz="half" idx="10"/>
          </p:nvPr>
        </p:nvSpPr>
        <p:spPr>
          <a:ln/>
        </p:spPr>
        <p:txBody>
          <a:bodyPr/>
          <a:lstStyle>
            <a:lvl1pPr>
              <a:defRPr/>
            </a:lvl1pPr>
          </a:lstStyle>
          <a:p>
            <a:pPr>
              <a:defRPr/>
            </a:pPr>
            <a:endParaRPr lang="en-US"/>
          </a:p>
        </p:txBody>
      </p:sp>
      <p:sp>
        <p:nvSpPr>
          <p:cNvPr id="7" name="Rectangle 5">
            <a:extLst>
              <a:ext uri="{FF2B5EF4-FFF2-40B4-BE49-F238E27FC236}">
                <a16:creationId xmlns:a16="http://schemas.microsoft.com/office/drawing/2014/main" id="{93404826-651E-CC4E-ACA5-FA5C89A0845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5842D267-EC2E-8446-B3CB-665A3676B572}"/>
              </a:ext>
            </a:extLst>
          </p:cNvPr>
          <p:cNvSpPr>
            <a:spLocks noGrp="1" noChangeArrowheads="1"/>
          </p:cNvSpPr>
          <p:nvPr>
            <p:ph type="sldNum" sz="quarter" idx="12"/>
          </p:nvPr>
        </p:nvSpPr>
        <p:spPr>
          <a:ln/>
        </p:spPr>
        <p:txBody>
          <a:bodyPr/>
          <a:lstStyle>
            <a:lvl1pPr>
              <a:defRPr/>
            </a:lvl1pPr>
          </a:lstStyle>
          <a:p>
            <a:pPr>
              <a:defRPr/>
            </a:pPr>
            <a:fld id="{FE4F400F-FABC-FA4D-9926-2C9A5CAB14DA}" type="slidenum">
              <a:rPr lang="en-US" altLang="en-US"/>
              <a:pPr>
                <a:defRPr/>
              </a:pPr>
              <a:t>‹#›</a:t>
            </a:fld>
            <a:endParaRPr lang="en-US" altLang="en-US"/>
          </a:p>
        </p:txBody>
      </p:sp>
    </p:spTree>
    <p:extLst>
      <p:ext uri="{BB962C8B-B14F-4D97-AF65-F5344CB8AC3E}">
        <p14:creationId xmlns:p14="http://schemas.microsoft.com/office/powerpoint/2010/main" val="29321952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B1A13541-BA7F-4547-B615-C8F61955BC15}"/>
              </a:ext>
            </a:extLst>
          </p:cNvPr>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1ABA90CA-D68F-2D46-A986-D1BC55722904}"/>
              </a:ext>
            </a:extLst>
          </p:cNvPr>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A4185E3A-45DF-6343-89CC-020F2860067A}"/>
              </a:ext>
            </a:extLst>
          </p:cNvPr>
          <p:cNvSpPr>
            <a:spLocks noGrp="1" noChangeArrowheads="1"/>
          </p:cNvSpPr>
          <p:nvPr>
            <p:ph type="dt" sz="half" idx="2"/>
          </p:nvPr>
        </p:nvSpPr>
        <p:spPr bwMode="auto">
          <a:xfrm>
            <a:off x="457200" y="5203825"/>
            <a:ext cx="2133600" cy="3968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ea typeface="ＭＳ Ｐゴシック" charset="0"/>
                <a:cs typeface="Arial" charset="0"/>
              </a:defRPr>
            </a:lvl1pPr>
          </a:lstStyle>
          <a:p>
            <a:pPr>
              <a:defRPr/>
            </a:pPr>
            <a:endParaRPr lang="en-US"/>
          </a:p>
        </p:txBody>
      </p:sp>
      <p:sp>
        <p:nvSpPr>
          <p:cNvPr id="1029" name="Rectangle 5">
            <a:extLst>
              <a:ext uri="{FF2B5EF4-FFF2-40B4-BE49-F238E27FC236}">
                <a16:creationId xmlns:a16="http://schemas.microsoft.com/office/drawing/2014/main" id="{4AFBF0DE-ADFA-F948-B7FE-D8ECAC549980}"/>
              </a:ext>
            </a:extLst>
          </p:cNvPr>
          <p:cNvSpPr>
            <a:spLocks noGrp="1" noChangeArrowheads="1"/>
          </p:cNvSpPr>
          <p:nvPr>
            <p:ph type="ftr" sz="quarter" idx="3"/>
          </p:nvPr>
        </p:nvSpPr>
        <p:spPr bwMode="auto">
          <a:xfrm>
            <a:off x="3124200" y="5203825"/>
            <a:ext cx="2895600" cy="3968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ea typeface="ＭＳ Ｐゴシック" charset="0"/>
                <a:cs typeface="Arial" charset="0"/>
              </a:defRPr>
            </a:lvl1pPr>
          </a:lstStyle>
          <a:p>
            <a:pPr>
              <a:defRPr/>
            </a:pPr>
            <a:endParaRPr lang="en-US"/>
          </a:p>
        </p:txBody>
      </p:sp>
      <p:sp>
        <p:nvSpPr>
          <p:cNvPr id="1030" name="Rectangle 6">
            <a:extLst>
              <a:ext uri="{FF2B5EF4-FFF2-40B4-BE49-F238E27FC236}">
                <a16:creationId xmlns:a16="http://schemas.microsoft.com/office/drawing/2014/main" id="{5281097D-6351-F948-A27B-CA0EDE2F4ADF}"/>
              </a:ext>
            </a:extLst>
          </p:cNvPr>
          <p:cNvSpPr>
            <a:spLocks noGrp="1" noChangeArrowheads="1"/>
          </p:cNvSpPr>
          <p:nvPr>
            <p:ph type="sldNum" sz="quarter" idx="4"/>
          </p:nvPr>
        </p:nvSpPr>
        <p:spPr bwMode="auto">
          <a:xfrm>
            <a:off x="6553200" y="5203825"/>
            <a:ext cx="2133600" cy="3968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088CF7C8-D8D3-C94D-B1DF-182070631352}"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 id="2147483787" r:id="rId12"/>
  </p:sldLayoutIdLst>
  <p:txStyles>
    <p:titleStyle>
      <a:lvl1pPr algn="ctr" rtl="0" eaLnBrk="0" fontAlgn="base" hangingPunct="0">
        <a:spcBef>
          <a:spcPct val="0"/>
        </a:spcBef>
        <a:spcAft>
          <a:spcPct val="0"/>
        </a:spcAft>
        <a:defRPr sz="4400">
          <a:solidFill>
            <a:schemeClr val="tx2"/>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2pPr>
      <a:lvl3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3pPr>
      <a:lvl4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4pPr>
      <a:lvl5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5pPr>
      <a:lvl6pPr marL="457200" algn="ctr" rtl="0" fontAlgn="base">
        <a:spcBef>
          <a:spcPct val="0"/>
        </a:spcBef>
        <a:spcAft>
          <a:spcPct val="0"/>
        </a:spcAft>
        <a:defRPr sz="4400">
          <a:solidFill>
            <a:schemeClr val="tx2"/>
          </a:solidFill>
          <a:latin typeface="Arial" charset="0"/>
          <a:ea typeface="Arial" charset="0"/>
          <a:cs typeface="Arial" charset="0"/>
        </a:defRPr>
      </a:lvl6pPr>
      <a:lvl7pPr marL="914400" algn="ctr" rtl="0" fontAlgn="base">
        <a:spcBef>
          <a:spcPct val="0"/>
        </a:spcBef>
        <a:spcAft>
          <a:spcPct val="0"/>
        </a:spcAft>
        <a:defRPr sz="4400">
          <a:solidFill>
            <a:schemeClr val="tx2"/>
          </a:solidFill>
          <a:latin typeface="Arial" charset="0"/>
          <a:ea typeface="Arial" charset="0"/>
          <a:cs typeface="Arial" charset="0"/>
        </a:defRPr>
      </a:lvl7pPr>
      <a:lvl8pPr marL="1371600" algn="ctr" rtl="0" fontAlgn="base">
        <a:spcBef>
          <a:spcPct val="0"/>
        </a:spcBef>
        <a:spcAft>
          <a:spcPct val="0"/>
        </a:spcAft>
        <a:defRPr sz="4400">
          <a:solidFill>
            <a:schemeClr val="tx2"/>
          </a:solidFill>
          <a:latin typeface="Arial" charset="0"/>
          <a:ea typeface="Arial" charset="0"/>
          <a:cs typeface="Arial" charset="0"/>
        </a:defRPr>
      </a:lvl8pPr>
      <a:lvl9pPr marL="1828800" algn="ctr" rtl="0" fontAlgn="base">
        <a:spcBef>
          <a:spcPct val="0"/>
        </a:spcBef>
        <a:spcAft>
          <a:spcPct val="0"/>
        </a:spcAft>
        <a:defRPr sz="4400">
          <a:solidFill>
            <a:schemeClr val="tx2"/>
          </a:solidFill>
          <a:latin typeface="Arial" charset="0"/>
          <a:ea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charset="0"/>
          <a:cs typeface="+mn-cs"/>
        </a:defRPr>
      </a:lvl2pPr>
      <a:lvl3pPr marL="1143000" indent="-228600" algn="l" rtl="0" eaLnBrk="0" fontAlgn="base" hangingPunct="0">
        <a:spcBef>
          <a:spcPct val="20000"/>
        </a:spcBef>
        <a:spcAft>
          <a:spcPct val="0"/>
        </a:spcAft>
        <a:buChar char="•"/>
        <a:defRPr sz="24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a:solidFill>
            <a:schemeClr val="tx1"/>
          </a:solidFill>
          <a:latin typeface="+mn-lt"/>
          <a:ea typeface="+mn-ea"/>
          <a:cs typeface="+mn-cs"/>
        </a:defRPr>
      </a:lvl5pPr>
      <a:lvl6pPr marL="2514600" indent="-228600" algn="l" rtl="0" fontAlgn="base">
        <a:spcBef>
          <a:spcPct val="20000"/>
        </a:spcBef>
        <a:spcAft>
          <a:spcPct val="0"/>
        </a:spcAft>
        <a:buChar char="»"/>
        <a:defRPr sz="2000">
          <a:solidFill>
            <a:schemeClr val="tx1"/>
          </a:solidFill>
          <a:latin typeface="+mn-lt"/>
          <a:ea typeface="+mn-ea"/>
          <a:cs typeface="+mn-cs"/>
        </a:defRPr>
      </a:lvl6pPr>
      <a:lvl7pPr marL="2971800" indent="-228600" algn="l" rtl="0" fontAlgn="base">
        <a:spcBef>
          <a:spcPct val="20000"/>
        </a:spcBef>
        <a:spcAft>
          <a:spcPct val="0"/>
        </a:spcAft>
        <a:buChar char="»"/>
        <a:defRPr sz="2000">
          <a:solidFill>
            <a:schemeClr val="tx1"/>
          </a:solidFill>
          <a:latin typeface="+mn-lt"/>
          <a:ea typeface="+mn-ea"/>
          <a:cs typeface="+mn-cs"/>
        </a:defRPr>
      </a:lvl7pPr>
      <a:lvl8pPr marL="3429000" indent="-228600" algn="l" rtl="0" fontAlgn="base">
        <a:spcBef>
          <a:spcPct val="20000"/>
        </a:spcBef>
        <a:spcAft>
          <a:spcPct val="0"/>
        </a:spcAft>
        <a:buChar char="»"/>
        <a:defRPr sz="2000">
          <a:solidFill>
            <a:schemeClr val="tx1"/>
          </a:solidFill>
          <a:latin typeface="+mn-lt"/>
          <a:ea typeface="+mn-ea"/>
          <a:cs typeface="+mn-cs"/>
        </a:defRPr>
      </a:lvl8pPr>
      <a:lvl9pPr marL="3886200" indent="-228600" algn="l" rtl="0" fontAlgn="base">
        <a:spcBef>
          <a:spcPct val="20000"/>
        </a:spcBef>
        <a:spcAft>
          <a:spcPct val="0"/>
        </a:spcAft>
        <a:buChar char="»"/>
        <a:defRPr sz="20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6DAD8054-FE77-204E-94EA-8316E5AFE0DC}"/>
              </a:ext>
            </a:extLst>
          </p:cNvPr>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4339" name="Rectangle 3">
            <a:extLst>
              <a:ext uri="{FF2B5EF4-FFF2-40B4-BE49-F238E27FC236}">
                <a16:creationId xmlns:a16="http://schemas.microsoft.com/office/drawing/2014/main" id="{C746EBD4-2B0C-4741-92E1-736D88F9E851}"/>
              </a:ext>
            </a:extLst>
          </p:cNvPr>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5E67B079-63E7-EB4D-AFD3-574C03A11B12}"/>
              </a:ext>
            </a:extLst>
          </p:cNvPr>
          <p:cNvSpPr>
            <a:spLocks noGrp="1" noChangeArrowheads="1"/>
          </p:cNvSpPr>
          <p:nvPr>
            <p:ph type="dt" sz="half" idx="2"/>
          </p:nvPr>
        </p:nvSpPr>
        <p:spPr bwMode="auto">
          <a:xfrm>
            <a:off x="457200" y="5203825"/>
            <a:ext cx="2133600" cy="3968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solidFill>
                  <a:srgbClr val="000000"/>
                </a:solidFill>
                <a:latin typeface="Arial" charset="0"/>
                <a:ea typeface="ＭＳ Ｐゴシック" charset="0"/>
                <a:cs typeface="Arial" charset="0"/>
              </a:defRPr>
            </a:lvl1pPr>
          </a:lstStyle>
          <a:p>
            <a:pPr>
              <a:defRPr/>
            </a:pPr>
            <a:endParaRPr lang="en-US"/>
          </a:p>
        </p:txBody>
      </p:sp>
      <p:sp>
        <p:nvSpPr>
          <p:cNvPr id="1029" name="Rectangle 5">
            <a:extLst>
              <a:ext uri="{FF2B5EF4-FFF2-40B4-BE49-F238E27FC236}">
                <a16:creationId xmlns:a16="http://schemas.microsoft.com/office/drawing/2014/main" id="{4EF9EF20-BA69-E142-995D-BEDEA1AE740D}"/>
              </a:ext>
            </a:extLst>
          </p:cNvPr>
          <p:cNvSpPr>
            <a:spLocks noGrp="1" noChangeArrowheads="1"/>
          </p:cNvSpPr>
          <p:nvPr>
            <p:ph type="ftr" sz="quarter" idx="3"/>
          </p:nvPr>
        </p:nvSpPr>
        <p:spPr bwMode="auto">
          <a:xfrm>
            <a:off x="3124200" y="5203825"/>
            <a:ext cx="2895600" cy="3968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solidFill>
                  <a:srgbClr val="000000"/>
                </a:solidFill>
                <a:latin typeface="Arial" charset="0"/>
                <a:ea typeface="ＭＳ Ｐゴシック" charset="0"/>
                <a:cs typeface="Arial" charset="0"/>
              </a:defRPr>
            </a:lvl1pPr>
          </a:lstStyle>
          <a:p>
            <a:pPr>
              <a:defRPr/>
            </a:pPr>
            <a:endParaRPr lang="en-US"/>
          </a:p>
        </p:txBody>
      </p:sp>
      <p:sp>
        <p:nvSpPr>
          <p:cNvPr id="1030" name="Rectangle 6">
            <a:extLst>
              <a:ext uri="{FF2B5EF4-FFF2-40B4-BE49-F238E27FC236}">
                <a16:creationId xmlns:a16="http://schemas.microsoft.com/office/drawing/2014/main" id="{531C4F77-7379-E340-8EAD-68D371A71DE4}"/>
              </a:ext>
            </a:extLst>
          </p:cNvPr>
          <p:cNvSpPr>
            <a:spLocks noGrp="1" noChangeArrowheads="1"/>
          </p:cNvSpPr>
          <p:nvPr>
            <p:ph type="sldNum" sz="quarter" idx="4"/>
          </p:nvPr>
        </p:nvSpPr>
        <p:spPr bwMode="auto">
          <a:xfrm>
            <a:off x="6553200" y="5203825"/>
            <a:ext cx="2133600" cy="3968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solidFill>
                  <a:srgbClr val="000000"/>
                </a:solidFill>
              </a:defRPr>
            </a:lvl1pPr>
          </a:lstStyle>
          <a:p>
            <a:pPr>
              <a:defRPr/>
            </a:pPr>
            <a:fld id="{F2E74D46-FC18-CC4B-BC83-A925451251B3}"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7" r:id="rId10"/>
    <p:sldLayoutId id="2147483798" r:id="rId11"/>
    <p:sldLayoutId id="2147483799" r:id="rId12"/>
  </p:sldLayoutIdLst>
  <p:txStyles>
    <p:titleStyle>
      <a:lvl1pPr algn="ctr" rtl="0" eaLnBrk="0" fontAlgn="base" hangingPunct="0">
        <a:spcBef>
          <a:spcPct val="0"/>
        </a:spcBef>
        <a:spcAft>
          <a:spcPct val="0"/>
        </a:spcAft>
        <a:defRPr sz="4400">
          <a:solidFill>
            <a:schemeClr val="tx2"/>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2pPr>
      <a:lvl3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3pPr>
      <a:lvl4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4pPr>
      <a:lvl5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5pPr>
      <a:lvl6pPr marL="457200" algn="ctr" rtl="0" fontAlgn="base">
        <a:spcBef>
          <a:spcPct val="0"/>
        </a:spcBef>
        <a:spcAft>
          <a:spcPct val="0"/>
        </a:spcAft>
        <a:defRPr sz="4400">
          <a:solidFill>
            <a:schemeClr val="tx2"/>
          </a:solidFill>
          <a:latin typeface="Arial" charset="0"/>
          <a:ea typeface="Arial" charset="0"/>
          <a:cs typeface="Arial" charset="0"/>
        </a:defRPr>
      </a:lvl6pPr>
      <a:lvl7pPr marL="914400" algn="ctr" rtl="0" fontAlgn="base">
        <a:spcBef>
          <a:spcPct val="0"/>
        </a:spcBef>
        <a:spcAft>
          <a:spcPct val="0"/>
        </a:spcAft>
        <a:defRPr sz="4400">
          <a:solidFill>
            <a:schemeClr val="tx2"/>
          </a:solidFill>
          <a:latin typeface="Arial" charset="0"/>
          <a:ea typeface="Arial" charset="0"/>
          <a:cs typeface="Arial" charset="0"/>
        </a:defRPr>
      </a:lvl7pPr>
      <a:lvl8pPr marL="1371600" algn="ctr" rtl="0" fontAlgn="base">
        <a:spcBef>
          <a:spcPct val="0"/>
        </a:spcBef>
        <a:spcAft>
          <a:spcPct val="0"/>
        </a:spcAft>
        <a:defRPr sz="4400">
          <a:solidFill>
            <a:schemeClr val="tx2"/>
          </a:solidFill>
          <a:latin typeface="Arial" charset="0"/>
          <a:ea typeface="Arial" charset="0"/>
          <a:cs typeface="Arial" charset="0"/>
        </a:defRPr>
      </a:lvl8pPr>
      <a:lvl9pPr marL="1828800" algn="ctr" rtl="0" fontAlgn="base">
        <a:spcBef>
          <a:spcPct val="0"/>
        </a:spcBef>
        <a:spcAft>
          <a:spcPct val="0"/>
        </a:spcAft>
        <a:defRPr sz="4400">
          <a:solidFill>
            <a:schemeClr val="tx2"/>
          </a:solidFill>
          <a:latin typeface="Arial" charset="0"/>
          <a:ea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charset="0"/>
          <a:cs typeface="+mn-cs"/>
        </a:defRPr>
      </a:lvl2pPr>
      <a:lvl3pPr marL="1143000" indent="-228600" algn="l" rtl="0" eaLnBrk="0" fontAlgn="base" hangingPunct="0">
        <a:spcBef>
          <a:spcPct val="20000"/>
        </a:spcBef>
        <a:spcAft>
          <a:spcPct val="0"/>
        </a:spcAft>
        <a:buChar char="•"/>
        <a:defRPr sz="24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a:solidFill>
            <a:schemeClr val="tx1"/>
          </a:solidFill>
          <a:latin typeface="+mn-lt"/>
          <a:ea typeface="+mn-ea"/>
          <a:cs typeface="+mn-cs"/>
        </a:defRPr>
      </a:lvl5pPr>
      <a:lvl6pPr marL="2514600" indent="-228600" algn="l" rtl="0" fontAlgn="base">
        <a:spcBef>
          <a:spcPct val="20000"/>
        </a:spcBef>
        <a:spcAft>
          <a:spcPct val="0"/>
        </a:spcAft>
        <a:buChar char="»"/>
        <a:defRPr sz="2000">
          <a:solidFill>
            <a:schemeClr val="tx1"/>
          </a:solidFill>
          <a:latin typeface="+mn-lt"/>
          <a:ea typeface="+mn-ea"/>
          <a:cs typeface="+mn-cs"/>
        </a:defRPr>
      </a:lvl6pPr>
      <a:lvl7pPr marL="2971800" indent="-228600" algn="l" rtl="0" fontAlgn="base">
        <a:spcBef>
          <a:spcPct val="20000"/>
        </a:spcBef>
        <a:spcAft>
          <a:spcPct val="0"/>
        </a:spcAft>
        <a:buChar char="»"/>
        <a:defRPr sz="2000">
          <a:solidFill>
            <a:schemeClr val="tx1"/>
          </a:solidFill>
          <a:latin typeface="+mn-lt"/>
          <a:ea typeface="+mn-ea"/>
          <a:cs typeface="+mn-cs"/>
        </a:defRPr>
      </a:lvl7pPr>
      <a:lvl8pPr marL="3429000" indent="-228600" algn="l" rtl="0" fontAlgn="base">
        <a:spcBef>
          <a:spcPct val="20000"/>
        </a:spcBef>
        <a:spcAft>
          <a:spcPct val="0"/>
        </a:spcAft>
        <a:buChar char="»"/>
        <a:defRPr sz="2000">
          <a:solidFill>
            <a:schemeClr val="tx1"/>
          </a:solidFill>
          <a:latin typeface="+mn-lt"/>
          <a:ea typeface="+mn-ea"/>
          <a:cs typeface="+mn-cs"/>
        </a:defRPr>
      </a:lvl8pPr>
      <a:lvl9pPr marL="3886200" indent="-228600" algn="l" rtl="0" fontAlgn="base">
        <a:spcBef>
          <a:spcPct val="20000"/>
        </a:spcBef>
        <a:spcAft>
          <a:spcPct val="0"/>
        </a:spcAft>
        <a:buChar char="»"/>
        <a:defRPr sz="20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00.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00.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6.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 Id="rId4" Type="http://schemas.openxmlformats.org/officeDocument/2006/relationships/image" Target="../media/image12.jpg"/></Relationships>
</file>

<file path=ppt/slides/_rels/slide2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emf"/><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4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9.jp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4.jp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55.tiff"/><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hyperlink" Target="https://www.ready.gov/tsunamis" TargetMode="Externa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8.jp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64.gif"/><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67.png"/><Relationship Id="rId4" Type="http://schemas.openxmlformats.org/officeDocument/2006/relationships/image" Target="../media/image66.png"/></Relationships>
</file>

<file path=ppt/slides/_rels/slide7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7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72.png"/></Relationships>
</file>

<file path=ppt/slides/_rels/slide7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74.jp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9.xml"/></Relationships>
</file>

<file path=ppt/slides/_rels/slide8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8674" name="Picture 1" descr="globe_west_2048.jpg">
            <a:extLst>
              <a:ext uri="{FF2B5EF4-FFF2-40B4-BE49-F238E27FC236}">
                <a16:creationId xmlns:a16="http://schemas.microsoft.com/office/drawing/2014/main" id="{BC75F72C-DAAC-BF42-B4EC-C8803340DED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254000"/>
            <a:ext cx="6477000" cy="628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6" name="TextBox 5">
            <a:extLst>
              <a:ext uri="{FF2B5EF4-FFF2-40B4-BE49-F238E27FC236}">
                <a16:creationId xmlns:a16="http://schemas.microsoft.com/office/drawing/2014/main" id="{144B5527-4F03-1545-98A1-2530A4724CA7}"/>
              </a:ext>
            </a:extLst>
          </p:cNvPr>
          <p:cNvSpPr txBox="1">
            <a:spLocks noChangeArrowheads="1"/>
          </p:cNvSpPr>
          <p:nvPr/>
        </p:nvSpPr>
        <p:spPr bwMode="auto">
          <a:xfrm>
            <a:off x="120650" y="190500"/>
            <a:ext cx="4426661" cy="170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3500" dirty="0">
                <a:solidFill>
                  <a:srgbClr val="FFFFFF"/>
                </a:solidFill>
                <a:latin typeface="Goudy Old Style" panose="02020502050305020303" pitchFamily="18" charset="77"/>
                <a:cs typeface="Arial" panose="020B0604020202020204" pitchFamily="34" charset="0"/>
              </a:rPr>
              <a:t>Week 6</a:t>
            </a:r>
          </a:p>
          <a:p>
            <a:pPr eaLnBrk="1" hangingPunct="1">
              <a:spcBef>
                <a:spcPct val="0"/>
              </a:spcBef>
              <a:buFontTx/>
              <a:buNone/>
            </a:pPr>
            <a:r>
              <a:rPr lang="en-US" altLang="en-US" sz="3500" dirty="0">
                <a:solidFill>
                  <a:srgbClr val="FFFFFF"/>
                </a:solidFill>
                <a:latin typeface="Goudy Old Style" panose="02020502050305020303" pitchFamily="18" charset="77"/>
                <a:cs typeface="Arial" panose="020B0604020202020204" pitchFamily="34" charset="0"/>
              </a:rPr>
              <a:t>Atmospheric Chemistry</a:t>
            </a:r>
          </a:p>
          <a:p>
            <a:pPr eaLnBrk="1" hangingPunct="1">
              <a:spcBef>
                <a:spcPct val="0"/>
              </a:spcBef>
              <a:buFontTx/>
              <a:buNone/>
            </a:pPr>
            <a:r>
              <a:rPr lang="en-US" altLang="en-US" sz="3500" dirty="0">
                <a:solidFill>
                  <a:srgbClr val="FFFFFF"/>
                </a:solidFill>
                <a:latin typeface="Goudy Old Style" panose="02020502050305020303" pitchFamily="18" charset="77"/>
                <a:cs typeface="Arial" panose="020B0604020202020204" pitchFamily="34" charset="0"/>
              </a:rPr>
              <a:t>Hydrosphere</a:t>
            </a:r>
          </a:p>
        </p:txBody>
      </p:sp>
      <p:sp>
        <p:nvSpPr>
          <p:cNvPr id="2" name="TextBox 1">
            <a:extLst>
              <a:ext uri="{FF2B5EF4-FFF2-40B4-BE49-F238E27FC236}">
                <a16:creationId xmlns:a16="http://schemas.microsoft.com/office/drawing/2014/main" id="{6E433B1F-3D49-DC47-94AB-E3E08EA1D71C}"/>
              </a:ext>
            </a:extLst>
          </p:cNvPr>
          <p:cNvSpPr txBox="1"/>
          <p:nvPr/>
        </p:nvSpPr>
        <p:spPr>
          <a:xfrm>
            <a:off x="3048000" y="4991100"/>
            <a:ext cx="1213794" cy="461665"/>
          </a:xfrm>
          <a:prstGeom prst="rect">
            <a:avLst/>
          </a:prstGeom>
          <a:noFill/>
        </p:spPr>
        <p:txBody>
          <a:bodyPr wrap="none" rtlCol="0">
            <a:spAutoFit/>
          </a:bodyPr>
          <a:lstStyle/>
          <a:p>
            <a:r>
              <a:rPr lang="en-US" dirty="0">
                <a:solidFill>
                  <a:schemeClr val="bg1"/>
                </a:solidFill>
              </a:rPr>
              <a:t>645284</a:t>
            </a:r>
          </a:p>
        </p:txBody>
      </p:sp>
      <p:pic>
        <p:nvPicPr>
          <p:cNvPr id="4" name="Picture 3">
            <a:extLst>
              <a:ext uri="{FF2B5EF4-FFF2-40B4-BE49-F238E27FC236}">
                <a16:creationId xmlns:a16="http://schemas.microsoft.com/office/drawing/2014/main" id="{6DF04BBE-00A7-FB41-8E57-974EC72A9CF4}"/>
              </a:ext>
            </a:extLst>
          </p:cNvPr>
          <p:cNvPicPr>
            <a:picLocks noChangeAspect="1"/>
          </p:cNvPicPr>
          <p:nvPr/>
        </p:nvPicPr>
        <p:blipFill>
          <a:blip r:embed="rId4"/>
          <a:stretch>
            <a:fillRect/>
          </a:stretch>
        </p:blipFill>
        <p:spPr>
          <a:xfrm>
            <a:off x="10236" y="2677236"/>
            <a:ext cx="3037764" cy="30377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51126E"/>
        </a:solidFill>
        <a:effectLst/>
      </p:bgPr>
    </p:bg>
    <p:spTree>
      <p:nvGrpSpPr>
        <p:cNvPr id="1" name=""/>
        <p:cNvGrpSpPr/>
        <p:nvPr/>
      </p:nvGrpSpPr>
      <p:grpSpPr>
        <a:xfrm>
          <a:off x="0" y="0"/>
          <a:ext cx="0" cy="0"/>
          <a:chOff x="0" y="0"/>
          <a:chExt cx="0" cy="0"/>
        </a:xfrm>
      </p:grpSpPr>
      <p:sp>
        <p:nvSpPr>
          <p:cNvPr id="31746" name="TextBox 4">
            <a:extLst>
              <a:ext uri="{FF2B5EF4-FFF2-40B4-BE49-F238E27FC236}">
                <a16:creationId xmlns:a16="http://schemas.microsoft.com/office/drawing/2014/main" id="{FEA2326E-379B-B644-B487-8CF6D5D53534}"/>
              </a:ext>
            </a:extLst>
          </p:cNvPr>
          <p:cNvSpPr txBox="1">
            <a:spLocks noChangeArrowheads="1"/>
          </p:cNvSpPr>
          <p:nvPr/>
        </p:nvSpPr>
        <p:spPr bwMode="auto">
          <a:xfrm>
            <a:off x="533400" y="1257300"/>
            <a:ext cx="8382000" cy="3305520"/>
          </a:xfrm>
          <a:prstGeom prst="rect">
            <a:avLst/>
          </a:prstGeom>
          <a:solidFill>
            <a:srgbClr val="4E0F6A"/>
          </a:solidFill>
          <a:ln>
            <a:noFill/>
          </a:ln>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buFontTx/>
              <a:buNone/>
              <a:defRPr/>
            </a:pPr>
            <a:r>
              <a:rPr lang="en-US" sz="2400" b="1" dirty="0">
                <a:solidFill>
                  <a:srgbClr val="FFFF00"/>
                </a:solidFill>
                <a:effectLst>
                  <a:outerShdw blurRad="50800" dist="38100" dir="2700000" algn="tl" rotWithShape="0">
                    <a:prstClr val="black">
                      <a:alpha val="40000"/>
                    </a:prstClr>
                  </a:outerShdw>
                </a:effectLst>
              </a:rPr>
              <a:t>Required Videos to Watch:</a:t>
            </a:r>
          </a:p>
          <a:p>
            <a:pPr>
              <a:buFontTx/>
              <a:buNone/>
              <a:defRPr/>
            </a:pPr>
            <a:endParaRPr lang="en-US" sz="1100" b="1" dirty="0">
              <a:solidFill>
                <a:srgbClr val="FFFF00"/>
              </a:solidFill>
              <a:effectLst>
                <a:outerShdw blurRad="50800" dist="38100" dir="2700000" algn="tl" rotWithShape="0">
                  <a:prstClr val="black">
                    <a:alpha val="40000"/>
                  </a:prstClr>
                </a:outerShdw>
              </a:effectLst>
            </a:endParaRPr>
          </a:p>
          <a:p>
            <a:pPr>
              <a:buFontTx/>
              <a:buNone/>
              <a:defRPr/>
            </a:pPr>
            <a:r>
              <a:rPr lang="en-US" sz="2400" dirty="0">
                <a:solidFill>
                  <a:schemeClr val="bg1"/>
                </a:solidFill>
                <a:effectLst>
                  <a:outerShdw blurRad="50800" dist="38100" dir="2700000" algn="tl" rotWithShape="0">
                    <a:prstClr val="black">
                      <a:alpha val="40000"/>
                    </a:prstClr>
                  </a:outerShdw>
                </a:effectLst>
              </a:rPr>
              <a:t>Stratospheric chemistry</a:t>
            </a:r>
          </a:p>
          <a:p>
            <a:pPr>
              <a:buFontTx/>
              <a:buNone/>
              <a:defRPr/>
            </a:pPr>
            <a:r>
              <a:rPr lang="en-US" sz="2400" dirty="0">
                <a:solidFill>
                  <a:schemeClr val="bg1"/>
                </a:solidFill>
                <a:effectLst>
                  <a:outerShdw blurRad="50800" dist="38100" dir="2700000" algn="tl" rotWithShape="0">
                    <a:prstClr val="black">
                      <a:alpha val="40000"/>
                    </a:prstClr>
                  </a:outerShdw>
                </a:effectLst>
              </a:rPr>
              <a:t>Tropospheric chemistry</a:t>
            </a:r>
          </a:p>
          <a:p>
            <a:pPr>
              <a:buFontTx/>
              <a:buNone/>
              <a:defRPr/>
            </a:pPr>
            <a:r>
              <a:rPr lang="en-US" sz="2400" dirty="0">
                <a:solidFill>
                  <a:schemeClr val="bg1"/>
                </a:solidFill>
                <a:effectLst>
                  <a:outerShdw blurRad="50800" dist="38100" dir="2700000" algn="tl" rotWithShape="0">
                    <a:prstClr val="black">
                      <a:alpha val="40000"/>
                    </a:prstClr>
                  </a:outerShdw>
                </a:effectLst>
              </a:rPr>
              <a:t>The hydrosphere: Where did the oceans come from?</a:t>
            </a:r>
          </a:p>
          <a:p>
            <a:pPr>
              <a:buFontTx/>
              <a:buNone/>
              <a:defRPr/>
            </a:pPr>
            <a:r>
              <a:rPr lang="en-US" sz="2400" dirty="0">
                <a:solidFill>
                  <a:schemeClr val="bg1"/>
                </a:solidFill>
                <a:effectLst>
                  <a:outerShdw blurRad="50800" dist="38100" dir="2700000" algn="tl" rotWithShape="0">
                    <a:prstClr val="black">
                      <a:alpha val="40000"/>
                    </a:prstClr>
                  </a:outerShdw>
                </a:effectLst>
              </a:rPr>
              <a:t>How do the oceans work? Parts 1 and 2</a:t>
            </a:r>
          </a:p>
          <a:p>
            <a:pPr>
              <a:buFontTx/>
              <a:buNone/>
              <a:defRPr/>
            </a:pPr>
            <a:r>
              <a:rPr lang="en-US" sz="2400" dirty="0">
                <a:solidFill>
                  <a:schemeClr val="bg1"/>
                </a:solidFill>
                <a:effectLst>
                  <a:outerShdw blurRad="50800" dist="38100" dir="2700000" algn="tl" rotWithShape="0">
                    <a:prstClr val="black">
                      <a:alpha val="40000"/>
                    </a:prstClr>
                  </a:outerShdw>
                </a:effectLst>
              </a:rPr>
              <a:t>Does the Gulf Stream make Europe temperate?</a:t>
            </a:r>
          </a:p>
          <a:p>
            <a:pPr>
              <a:buFontTx/>
              <a:buNone/>
              <a:defRPr/>
            </a:pPr>
            <a:endParaRPr lang="en-US" sz="1800" dirty="0">
              <a:solidFill>
                <a:schemeClr val="bg1"/>
              </a:solidFill>
              <a:effectLst>
                <a:outerShdw blurRad="50800" dist="38100" dir="2700000" algn="tl" rotWithShape="0">
                  <a:prstClr val="black">
                    <a:alpha val="40000"/>
                  </a:prstClr>
                </a:outerShdw>
              </a:effectLst>
            </a:endParaRPr>
          </a:p>
        </p:txBody>
      </p:sp>
      <p:sp>
        <p:nvSpPr>
          <p:cNvPr id="141315" name="Title 1">
            <a:extLst>
              <a:ext uri="{FF2B5EF4-FFF2-40B4-BE49-F238E27FC236}">
                <a16:creationId xmlns:a16="http://schemas.microsoft.com/office/drawing/2014/main" id="{0D03C8D5-CD3A-E64A-97DA-2B4168AB67D6}"/>
              </a:ext>
            </a:extLst>
          </p:cNvPr>
          <p:cNvSpPr>
            <a:spLocks noGrp="1" noChangeArrowheads="1"/>
          </p:cNvSpPr>
          <p:nvPr>
            <p:ph type="title"/>
          </p:nvPr>
        </p:nvSpPr>
        <p:spPr>
          <a:xfrm>
            <a:off x="1143000" y="228600"/>
            <a:ext cx="6858000" cy="460375"/>
          </a:xfrm>
        </p:spPr>
        <p:txBody>
          <a:bodyPr/>
          <a:lstStyle/>
          <a:p>
            <a:r>
              <a:rPr lang="en-US" altLang="en-US" dirty="0">
                <a:solidFill>
                  <a:srgbClr val="FFFF00"/>
                </a:solidFill>
                <a:ea typeface="ＭＳ Ｐゴシック" panose="020B0600070205080204" pitchFamily="34" charset="-128"/>
              </a:rPr>
              <a:t>For Week 6...</a:t>
            </a:r>
          </a:p>
        </p:txBody>
      </p:sp>
    </p:spTree>
    <p:extLst>
      <p:ext uri="{BB962C8B-B14F-4D97-AF65-F5344CB8AC3E}">
        <p14:creationId xmlns:p14="http://schemas.microsoft.com/office/powerpoint/2010/main" val="2871764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51126E"/>
        </a:solidFill>
        <a:effectLst/>
      </p:bgPr>
    </p:bg>
    <p:spTree>
      <p:nvGrpSpPr>
        <p:cNvPr id="1" name=""/>
        <p:cNvGrpSpPr/>
        <p:nvPr/>
      </p:nvGrpSpPr>
      <p:grpSpPr>
        <a:xfrm>
          <a:off x="0" y="0"/>
          <a:ext cx="0" cy="0"/>
          <a:chOff x="0" y="0"/>
          <a:chExt cx="0" cy="0"/>
        </a:xfrm>
      </p:grpSpPr>
      <p:sp>
        <p:nvSpPr>
          <p:cNvPr id="30722" name="Content Placeholder 2">
            <a:extLst>
              <a:ext uri="{FF2B5EF4-FFF2-40B4-BE49-F238E27FC236}">
                <a16:creationId xmlns:a16="http://schemas.microsoft.com/office/drawing/2014/main" id="{99B0D072-17FC-F540-8EE6-199FD232EB57}"/>
              </a:ext>
            </a:extLst>
          </p:cNvPr>
          <p:cNvSpPr>
            <a:spLocks noGrp="1" noChangeArrowheads="1"/>
          </p:cNvSpPr>
          <p:nvPr>
            <p:ph idx="1"/>
          </p:nvPr>
        </p:nvSpPr>
        <p:spPr>
          <a:xfrm>
            <a:off x="304800" y="266700"/>
            <a:ext cx="8686800" cy="4110038"/>
          </a:xfrm>
        </p:spPr>
        <p:txBody>
          <a:bodyPr/>
          <a:lstStyle/>
          <a:p>
            <a:pPr marL="0" indent="0">
              <a:buFontTx/>
              <a:buNone/>
            </a:pPr>
            <a:endParaRPr lang="en-US" altLang="en-US" sz="2800" dirty="0">
              <a:solidFill>
                <a:srgbClr val="FFFF00"/>
              </a:solidFill>
              <a:ea typeface="ＭＳ Ｐゴシック" panose="020B0600070205080204" pitchFamily="34" charset="-128"/>
              <a:cs typeface="ＭＳ Ｐゴシック" panose="020B0600070205080204" pitchFamily="34" charset="-128"/>
            </a:endParaRPr>
          </a:p>
          <a:p>
            <a:pPr marL="0" indent="0">
              <a:buNone/>
            </a:pPr>
            <a:r>
              <a:rPr lang="en-US" altLang="en-US" sz="2800" dirty="0">
                <a:solidFill>
                  <a:srgbClr val="FFFF00"/>
                </a:solidFill>
                <a:ea typeface="ＭＳ Ｐゴシック" panose="020B0600070205080204" pitchFamily="34" charset="-128"/>
                <a:cs typeface="ＭＳ Ｐゴシック" panose="020B0600070205080204" pitchFamily="34" charset="-128"/>
              </a:rPr>
              <a:t>Questions from last week or videos</a:t>
            </a:r>
          </a:p>
          <a:p>
            <a:pPr marL="0" indent="0">
              <a:buNone/>
            </a:pPr>
            <a:r>
              <a:rPr lang="en-US" altLang="en-US" sz="2800" dirty="0">
                <a:solidFill>
                  <a:srgbClr val="FFFF00"/>
                </a:solidFill>
                <a:ea typeface="ＭＳ Ｐゴシック" panose="020B0600070205080204" pitchFamily="34" charset="-128"/>
                <a:cs typeface="ＭＳ Ｐゴシック" panose="020B0600070205080204" pitchFamily="34" charset="-128"/>
              </a:rPr>
              <a:t>Brief weather update</a:t>
            </a:r>
          </a:p>
          <a:p>
            <a:pPr marL="0" indent="0">
              <a:buFontTx/>
              <a:buNone/>
            </a:pPr>
            <a:r>
              <a:rPr lang="en-US" altLang="en-US" sz="2800" dirty="0">
                <a:solidFill>
                  <a:srgbClr val="FFFF00"/>
                </a:solidFill>
                <a:ea typeface="ＭＳ Ｐゴシック" panose="020B0600070205080204" pitchFamily="34" charset="-128"/>
                <a:cs typeface="ＭＳ Ｐゴシック" panose="020B0600070205080204" pitchFamily="34" charset="-128"/>
              </a:rPr>
              <a:t>Stratospheric chemistry</a:t>
            </a:r>
          </a:p>
          <a:p>
            <a:pPr marL="0" indent="0">
              <a:buFontTx/>
              <a:buNone/>
            </a:pPr>
            <a:r>
              <a:rPr lang="en-US" altLang="en-US" sz="2800" dirty="0">
                <a:solidFill>
                  <a:srgbClr val="FFFF00"/>
                </a:solidFill>
                <a:ea typeface="ＭＳ Ｐゴシック" panose="020B0600070205080204" pitchFamily="34" charset="-128"/>
                <a:cs typeface="ＭＳ Ｐゴシック" panose="020B0600070205080204" pitchFamily="34" charset="-128"/>
              </a:rPr>
              <a:t>Tropospheric chemistry</a:t>
            </a:r>
          </a:p>
          <a:p>
            <a:pPr marL="0" indent="0">
              <a:buFontTx/>
              <a:buNone/>
            </a:pPr>
            <a:r>
              <a:rPr lang="en-US" altLang="en-US" sz="2800" dirty="0" err="1">
                <a:solidFill>
                  <a:srgbClr val="FFFF00"/>
                </a:solidFill>
                <a:ea typeface="ＭＳ Ｐゴシック" panose="020B0600070205080204" pitchFamily="34" charset="-128"/>
                <a:cs typeface="ＭＳ Ｐゴシック" panose="020B0600070205080204" pitchFamily="34" charset="-128"/>
              </a:rPr>
              <a:t>ManUniCast</a:t>
            </a:r>
            <a:r>
              <a:rPr lang="en-US" altLang="en-US" sz="2800" dirty="0">
                <a:solidFill>
                  <a:srgbClr val="FFFF00"/>
                </a:solidFill>
                <a:ea typeface="ＭＳ Ｐゴシック" panose="020B0600070205080204" pitchFamily="34" charset="-128"/>
                <a:cs typeface="ＭＳ Ｐゴシック" panose="020B0600070205080204" pitchFamily="34" charset="-128"/>
              </a:rPr>
              <a:t> air-chemistry forecasts</a:t>
            </a:r>
          </a:p>
          <a:p>
            <a:pPr marL="0" indent="0">
              <a:buFontTx/>
              <a:buNone/>
            </a:pPr>
            <a:r>
              <a:rPr lang="en-US" altLang="en-US" sz="2800" dirty="0">
                <a:solidFill>
                  <a:srgbClr val="FFFF00"/>
                </a:solidFill>
                <a:ea typeface="ＭＳ Ｐゴシック" panose="020B0600070205080204" pitchFamily="34" charset="-128"/>
                <a:cs typeface="ＭＳ Ｐゴシック" panose="020B0600070205080204" pitchFamily="34" charset="-128"/>
              </a:rPr>
              <a:t>Hydrosphere summary</a:t>
            </a:r>
          </a:p>
          <a:p>
            <a:pPr marL="0" indent="0">
              <a:buFontTx/>
              <a:buNone/>
            </a:pPr>
            <a:r>
              <a:rPr lang="en-US" altLang="en-US" sz="2800" dirty="0" err="1">
                <a:solidFill>
                  <a:srgbClr val="FFFF00"/>
                </a:solidFill>
                <a:ea typeface="ＭＳ Ｐゴシック" panose="020B0600070205080204" pitchFamily="34" charset="-128"/>
                <a:cs typeface="ＭＳ Ｐゴシック" panose="020B0600070205080204" pitchFamily="34" charset="-128"/>
              </a:rPr>
              <a:t>Kahoot</a:t>
            </a:r>
            <a:r>
              <a:rPr lang="en-US" altLang="en-US" sz="2800" dirty="0">
                <a:solidFill>
                  <a:srgbClr val="FFFF00"/>
                </a:solidFill>
                <a:ea typeface="ＭＳ Ｐゴシック" panose="020B0600070205080204" pitchFamily="34" charset="-128"/>
                <a:cs typeface="ＭＳ Ｐゴシック" panose="020B0600070205080204" pitchFamily="34" charset="-128"/>
              </a:rPr>
              <a:t>!</a:t>
            </a:r>
          </a:p>
        </p:txBody>
      </p:sp>
    </p:spTree>
    <p:extLst>
      <p:ext uri="{BB962C8B-B14F-4D97-AF65-F5344CB8AC3E}">
        <p14:creationId xmlns:p14="http://schemas.microsoft.com/office/powerpoint/2010/main" val="8343962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51126E"/>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910B299-5FA3-4145-95F4-FD50A6FD8636}"/>
              </a:ext>
            </a:extLst>
          </p:cNvPr>
          <p:cNvPicPr>
            <a:picLocks noChangeAspect="1"/>
          </p:cNvPicPr>
          <p:nvPr/>
        </p:nvPicPr>
        <p:blipFill>
          <a:blip r:embed="rId2"/>
          <a:stretch>
            <a:fillRect/>
          </a:stretch>
        </p:blipFill>
        <p:spPr>
          <a:xfrm>
            <a:off x="0" y="0"/>
            <a:ext cx="9144000" cy="5715000"/>
          </a:xfrm>
          <a:prstGeom prst="rect">
            <a:avLst/>
          </a:prstGeom>
        </p:spPr>
      </p:pic>
    </p:spTree>
    <p:extLst>
      <p:ext uri="{BB962C8B-B14F-4D97-AF65-F5344CB8AC3E}">
        <p14:creationId xmlns:p14="http://schemas.microsoft.com/office/powerpoint/2010/main" val="508698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98D44"/>
        </a:solidFill>
        <a:effectLst/>
      </p:bgPr>
    </p:bg>
    <p:spTree>
      <p:nvGrpSpPr>
        <p:cNvPr id="1" name=""/>
        <p:cNvGrpSpPr/>
        <p:nvPr/>
      </p:nvGrpSpPr>
      <p:grpSpPr>
        <a:xfrm>
          <a:off x="0" y="0"/>
          <a:ext cx="0" cy="0"/>
          <a:chOff x="0" y="0"/>
          <a:chExt cx="0" cy="0"/>
        </a:xfrm>
      </p:grpSpPr>
      <p:sp>
        <p:nvSpPr>
          <p:cNvPr id="31746" name="TextBox 4">
            <a:extLst>
              <a:ext uri="{FF2B5EF4-FFF2-40B4-BE49-F238E27FC236}">
                <a16:creationId xmlns:a16="http://schemas.microsoft.com/office/drawing/2014/main" id="{FEA2326E-379B-B644-B487-8CF6D5D53534}"/>
              </a:ext>
            </a:extLst>
          </p:cNvPr>
          <p:cNvSpPr txBox="1">
            <a:spLocks noChangeArrowheads="1"/>
          </p:cNvSpPr>
          <p:nvPr/>
        </p:nvSpPr>
        <p:spPr bwMode="auto">
          <a:xfrm>
            <a:off x="1219200" y="1409700"/>
            <a:ext cx="6760184"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dirty="0">
                <a:solidFill>
                  <a:srgbClr val="FFFF00"/>
                </a:solidFill>
                <a:cs typeface="Arial" panose="020B0604020202020204" pitchFamily="34" charset="0"/>
              </a:rPr>
              <a:t>Stratospheric Chemistry</a:t>
            </a:r>
          </a:p>
          <a:p>
            <a:pPr>
              <a:spcBef>
                <a:spcPct val="0"/>
              </a:spcBef>
              <a:buFontTx/>
              <a:buNone/>
            </a:pPr>
            <a:endParaRPr lang="en-US" altLang="en-US" sz="2400" dirty="0">
              <a:solidFill>
                <a:srgbClr val="FFFF00"/>
              </a:solidFill>
              <a:cs typeface="Arial" panose="020B0604020202020204" pitchFamily="34" charset="0"/>
            </a:endParaRPr>
          </a:p>
          <a:p>
            <a:pPr>
              <a:spcBef>
                <a:spcPct val="0"/>
              </a:spcBef>
              <a:buFontTx/>
              <a:buNone/>
            </a:pPr>
            <a:r>
              <a:rPr lang="en-US" altLang="en-US" sz="2400" dirty="0">
                <a:solidFill>
                  <a:srgbClr val="FFFF00"/>
                </a:solidFill>
                <a:cs typeface="Arial" panose="020B0604020202020204" pitchFamily="34" charset="0"/>
              </a:rPr>
              <a:t>	1. ozone loss by chlorine: general decline</a:t>
            </a:r>
          </a:p>
          <a:p>
            <a:pPr>
              <a:spcBef>
                <a:spcPct val="0"/>
              </a:spcBef>
              <a:buFontTx/>
              <a:buNone/>
            </a:pPr>
            <a:r>
              <a:rPr lang="en-US" altLang="en-US" sz="2400" dirty="0">
                <a:solidFill>
                  <a:srgbClr val="FFFF00"/>
                </a:solidFill>
                <a:cs typeface="Arial" panose="020B0604020202020204" pitchFamily="34" charset="0"/>
              </a:rPr>
              <a:t>	</a:t>
            </a:r>
          </a:p>
          <a:p>
            <a:pPr>
              <a:spcBef>
                <a:spcPct val="0"/>
              </a:spcBef>
              <a:buFontTx/>
              <a:buNone/>
            </a:pPr>
            <a:r>
              <a:rPr lang="en-US" altLang="en-US" sz="2400" dirty="0">
                <a:solidFill>
                  <a:srgbClr val="FFFF00"/>
                </a:solidFill>
                <a:cs typeface="Arial" panose="020B0604020202020204" pitchFamily="34" charset="0"/>
              </a:rPr>
              <a:t>	</a:t>
            </a:r>
          </a:p>
        </p:txBody>
      </p:sp>
    </p:spTree>
    <p:extLst>
      <p:ext uri="{BB962C8B-B14F-4D97-AF65-F5344CB8AC3E}">
        <p14:creationId xmlns:p14="http://schemas.microsoft.com/office/powerpoint/2010/main" val="36628368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3553" name="Rectangle 4"/>
          <p:cNvSpPr>
            <a:spLocks noChangeArrowheads="1"/>
          </p:cNvSpPr>
          <p:nvPr/>
        </p:nvSpPr>
        <p:spPr bwMode="auto">
          <a:xfrm>
            <a:off x="0" y="37187"/>
            <a:ext cx="9143999" cy="304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0"/>
              </a:spcBef>
              <a:buFontTx/>
              <a:buNone/>
            </a:pPr>
            <a:r>
              <a:rPr lang="en-GB" altLang="en-US" sz="3000" b="1" dirty="0">
                <a:solidFill>
                  <a:srgbClr val="FFFF00"/>
                </a:solidFill>
              </a:rPr>
              <a:t>Chapman Cycle: Natural Ozone Processes</a:t>
            </a:r>
            <a:endParaRPr lang="en-US" altLang="en-US" sz="3000" b="1" dirty="0">
              <a:solidFill>
                <a:srgbClr val="FFFF00"/>
              </a:solidFill>
            </a:endParaRPr>
          </a:p>
        </p:txBody>
      </p:sp>
      <p:pic>
        <p:nvPicPr>
          <p:cNvPr id="23554" name="Picture 7" descr="chap6_fig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6877" y="2533240"/>
            <a:ext cx="4540250" cy="3144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5" name="Text Box 8"/>
          <p:cNvSpPr txBox="1">
            <a:spLocks noChangeArrowheads="1"/>
          </p:cNvSpPr>
          <p:nvPr/>
        </p:nvSpPr>
        <p:spPr bwMode="auto">
          <a:xfrm>
            <a:off x="304800" y="437481"/>
            <a:ext cx="6299013" cy="2401235"/>
          </a:xfrm>
          <a:prstGeom prst="rect">
            <a:avLst/>
          </a:prstGeom>
          <a:solidFill>
            <a:schemeClr val="bg1"/>
          </a:solidFill>
          <a:ln w="19050">
            <a:solidFill>
              <a:schemeClr val="tx1"/>
            </a:solidFill>
          </a:ln>
        </p:spPr>
        <p:txBody>
          <a:bodyPr wrap="square">
            <a:spAutoFit/>
          </a:bodyPr>
          <a:lstStyle>
            <a:lvl1pPr defTabSz="430213">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defTabSz="430213">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30213">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30213">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30213">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30213"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30213"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30213"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30213"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667" dirty="0"/>
              <a:t>[R1]    O</a:t>
            </a:r>
            <a:r>
              <a:rPr lang="en-US" altLang="en-US" sz="1667" baseline="-25000" dirty="0"/>
              <a:t>2</a:t>
            </a:r>
            <a:r>
              <a:rPr lang="en-US" altLang="en-US" sz="1667" dirty="0"/>
              <a:t> 	+ 	</a:t>
            </a:r>
            <a:r>
              <a:rPr lang="en-US" altLang="en-US" sz="1667" i="1" dirty="0" err="1"/>
              <a:t>hν</a:t>
            </a:r>
            <a:r>
              <a:rPr lang="en-US" altLang="en-US" sz="1667" dirty="0">
                <a:sym typeface="Symbol" panose="05050102010706020507" pitchFamily="18" charset="2"/>
              </a:rPr>
              <a:t>	</a:t>
            </a:r>
            <a:r>
              <a:rPr lang="en-US" altLang="en-US" sz="1667" dirty="0"/>
              <a:t> 		</a:t>
            </a:r>
            <a:r>
              <a:rPr lang="en-US" altLang="en-US" sz="1667" dirty="0">
                <a:sym typeface="Wingdings" panose="05000000000000000000" pitchFamily="2" charset="2"/>
              </a:rPr>
              <a:t> 	2 O         	  λ &lt; 242 nm</a:t>
            </a:r>
          </a:p>
          <a:p>
            <a:pPr eaLnBrk="1" hangingPunct="1">
              <a:spcBef>
                <a:spcPct val="0"/>
              </a:spcBef>
              <a:buFontTx/>
              <a:buNone/>
            </a:pPr>
            <a:endParaRPr lang="en-US" altLang="en-US" sz="1667" dirty="0">
              <a:solidFill>
                <a:schemeClr val="accent2"/>
              </a:solidFill>
              <a:sym typeface="Wingdings" panose="05000000000000000000" pitchFamily="2" charset="2"/>
            </a:endParaRPr>
          </a:p>
          <a:p>
            <a:pPr eaLnBrk="1" hangingPunct="1">
              <a:spcBef>
                <a:spcPct val="0"/>
              </a:spcBef>
              <a:buFontTx/>
              <a:buNone/>
            </a:pPr>
            <a:r>
              <a:rPr lang="en-US" altLang="en-US" sz="1667" dirty="0">
                <a:solidFill>
                  <a:srgbClr val="3FA0FF"/>
                </a:solidFill>
                <a:sym typeface="Wingdings" panose="05000000000000000000" pitchFamily="2" charset="2"/>
              </a:rPr>
              <a:t>[R2]    O 	+ 	O</a:t>
            </a:r>
            <a:r>
              <a:rPr lang="en-US" altLang="en-US" sz="1667" baseline="-25000" dirty="0">
                <a:solidFill>
                  <a:srgbClr val="3FA0FF"/>
                </a:solidFill>
                <a:sym typeface="Wingdings" panose="05000000000000000000" pitchFamily="2" charset="2"/>
              </a:rPr>
              <a:t>2</a:t>
            </a:r>
            <a:r>
              <a:rPr lang="en-US" altLang="en-US" sz="1667" dirty="0">
                <a:solidFill>
                  <a:srgbClr val="3FA0FF"/>
                </a:solidFill>
                <a:sym typeface="Wingdings" panose="05000000000000000000" pitchFamily="2" charset="2"/>
              </a:rPr>
              <a:t> 	+ 	M 	 	O</a:t>
            </a:r>
            <a:r>
              <a:rPr lang="en-US" altLang="en-US" sz="1667" baseline="-25000" dirty="0">
                <a:solidFill>
                  <a:srgbClr val="3FA0FF"/>
                </a:solidFill>
                <a:sym typeface="Wingdings" panose="05000000000000000000" pitchFamily="2" charset="2"/>
              </a:rPr>
              <a:t>3</a:t>
            </a:r>
            <a:r>
              <a:rPr lang="en-US" altLang="en-US" sz="1667" dirty="0">
                <a:solidFill>
                  <a:srgbClr val="3FA0FF"/>
                </a:solidFill>
                <a:sym typeface="Wingdings" panose="05000000000000000000" pitchFamily="2" charset="2"/>
              </a:rPr>
              <a:t> 	+ 	M       </a:t>
            </a:r>
            <a:r>
              <a:rPr lang="en-US" altLang="en-US" sz="1333" dirty="0">
                <a:solidFill>
                  <a:srgbClr val="FF0000"/>
                </a:solidFill>
                <a:sym typeface="Wingdings" panose="05000000000000000000" pitchFamily="2" charset="2"/>
              </a:rPr>
              <a:t>energy release</a:t>
            </a:r>
            <a:endParaRPr lang="en-US" altLang="en-US" sz="1667" dirty="0">
              <a:solidFill>
                <a:srgbClr val="FF0000"/>
              </a:solidFill>
              <a:sym typeface="Wingdings" panose="05000000000000000000" pitchFamily="2" charset="2"/>
            </a:endParaRPr>
          </a:p>
          <a:p>
            <a:pPr eaLnBrk="1" hangingPunct="1">
              <a:spcBef>
                <a:spcPct val="0"/>
              </a:spcBef>
              <a:buFontTx/>
              <a:buNone/>
            </a:pPr>
            <a:endParaRPr lang="en-US" altLang="en-US" sz="1667" dirty="0">
              <a:solidFill>
                <a:srgbClr val="3FA0FF"/>
              </a:solidFill>
              <a:sym typeface="Wingdings" panose="05000000000000000000" pitchFamily="2" charset="2"/>
            </a:endParaRPr>
          </a:p>
          <a:p>
            <a:pPr eaLnBrk="1" hangingPunct="1">
              <a:spcBef>
                <a:spcPct val="0"/>
              </a:spcBef>
              <a:buFontTx/>
              <a:buNone/>
            </a:pPr>
            <a:r>
              <a:rPr lang="en-US" altLang="en-US" sz="1667" dirty="0">
                <a:solidFill>
                  <a:srgbClr val="3FA0FF"/>
                </a:solidFill>
                <a:sym typeface="Wingdings" panose="05000000000000000000" pitchFamily="2" charset="2"/>
              </a:rPr>
              <a:t>[R3]    O</a:t>
            </a:r>
            <a:r>
              <a:rPr lang="en-US" altLang="en-US" sz="1667" baseline="-25000" dirty="0">
                <a:solidFill>
                  <a:srgbClr val="3FA0FF"/>
                </a:solidFill>
                <a:sym typeface="Wingdings" panose="05000000000000000000" pitchFamily="2" charset="2"/>
              </a:rPr>
              <a:t>3</a:t>
            </a:r>
            <a:r>
              <a:rPr lang="en-US" altLang="en-US" sz="1667" dirty="0">
                <a:solidFill>
                  <a:srgbClr val="3FA0FF"/>
                </a:solidFill>
                <a:sym typeface="Wingdings" panose="05000000000000000000" pitchFamily="2" charset="2"/>
              </a:rPr>
              <a:t> 	+ 	</a:t>
            </a:r>
            <a:r>
              <a:rPr lang="en-US" altLang="en-US" sz="1667" i="1" dirty="0" err="1">
                <a:solidFill>
                  <a:srgbClr val="3FA0FF"/>
                </a:solidFill>
              </a:rPr>
              <a:t>h</a:t>
            </a:r>
            <a:r>
              <a:rPr lang="en-US" altLang="en-US" sz="1667" dirty="0" err="1">
                <a:solidFill>
                  <a:srgbClr val="3FA0FF"/>
                </a:solidFill>
                <a:sym typeface="Symbol" panose="05050102010706020507" pitchFamily="18" charset="2"/>
              </a:rPr>
              <a:t>ν</a:t>
            </a:r>
            <a:r>
              <a:rPr lang="en-US" altLang="en-US" sz="1667" dirty="0">
                <a:solidFill>
                  <a:srgbClr val="3FA0FF"/>
                </a:solidFill>
                <a:sym typeface="Wingdings" panose="05000000000000000000" pitchFamily="2" charset="2"/>
              </a:rPr>
              <a:t> 			 	O</a:t>
            </a:r>
            <a:r>
              <a:rPr lang="en-US" altLang="en-US" sz="1667" baseline="-25000" dirty="0">
                <a:solidFill>
                  <a:srgbClr val="3FA0FF"/>
                </a:solidFill>
                <a:sym typeface="Wingdings" panose="05000000000000000000" pitchFamily="2" charset="2"/>
              </a:rPr>
              <a:t>2</a:t>
            </a:r>
            <a:r>
              <a:rPr lang="en-US" altLang="en-US" sz="1667" dirty="0">
                <a:solidFill>
                  <a:srgbClr val="3FA0FF"/>
                </a:solidFill>
                <a:sym typeface="Wingdings" panose="05000000000000000000" pitchFamily="2" charset="2"/>
              </a:rPr>
              <a:t> 	+ 	O  </a:t>
            </a:r>
            <a:r>
              <a:rPr lang="en-US" altLang="en-US" sz="1667" dirty="0">
                <a:sym typeface="Wingdings" panose="05000000000000000000" pitchFamily="2" charset="2"/>
              </a:rPr>
              <a:t>       </a:t>
            </a:r>
            <a:r>
              <a:rPr lang="en-US" altLang="en-US" sz="1667" dirty="0">
                <a:sym typeface="Symbol" panose="05050102010706020507" pitchFamily="18" charset="2"/>
              </a:rPr>
              <a:t>λ</a:t>
            </a:r>
            <a:r>
              <a:rPr lang="en-US" altLang="en-US" sz="1667" dirty="0">
                <a:sym typeface="Wingdings" panose="05000000000000000000" pitchFamily="2" charset="2"/>
              </a:rPr>
              <a:t>&lt; 310 nm</a:t>
            </a:r>
          </a:p>
          <a:p>
            <a:pPr eaLnBrk="1" hangingPunct="1">
              <a:spcBef>
                <a:spcPct val="0"/>
              </a:spcBef>
              <a:buFontTx/>
              <a:buNone/>
            </a:pPr>
            <a:endParaRPr lang="en-US" altLang="en-US" sz="1667" dirty="0">
              <a:sym typeface="Wingdings" panose="05000000000000000000" pitchFamily="2" charset="2"/>
            </a:endParaRPr>
          </a:p>
          <a:p>
            <a:pPr eaLnBrk="1" hangingPunct="1">
              <a:spcBef>
                <a:spcPct val="0"/>
              </a:spcBef>
              <a:buFontTx/>
              <a:buNone/>
            </a:pPr>
            <a:r>
              <a:rPr lang="en-US" altLang="en-US" sz="1667" dirty="0">
                <a:sym typeface="Wingdings" panose="05000000000000000000" pitchFamily="2" charset="2"/>
              </a:rPr>
              <a:t>[R4]    O 	+ 	O</a:t>
            </a:r>
            <a:r>
              <a:rPr lang="en-US" altLang="en-US" sz="1667" baseline="-25000" dirty="0">
                <a:sym typeface="Wingdings" panose="05000000000000000000" pitchFamily="2" charset="2"/>
              </a:rPr>
              <a:t>3</a:t>
            </a:r>
            <a:r>
              <a:rPr lang="en-US" altLang="en-US" sz="1667" dirty="0">
                <a:sym typeface="Wingdings" panose="05000000000000000000" pitchFamily="2" charset="2"/>
              </a:rPr>
              <a:t> 			 	2O</a:t>
            </a:r>
            <a:r>
              <a:rPr lang="en-US" altLang="en-US" sz="1667" baseline="-25000" dirty="0">
                <a:sym typeface="Wingdings" panose="05000000000000000000" pitchFamily="2" charset="2"/>
              </a:rPr>
              <a:t>2</a:t>
            </a:r>
          </a:p>
          <a:p>
            <a:pPr eaLnBrk="1" hangingPunct="1">
              <a:spcBef>
                <a:spcPct val="0"/>
              </a:spcBef>
              <a:buFontTx/>
              <a:buNone/>
            </a:pPr>
            <a:endParaRPr lang="en-GB" altLang="en-US" sz="1667" dirty="0">
              <a:sym typeface="Wingdings" panose="05000000000000000000" pitchFamily="2" charset="2"/>
            </a:endParaRPr>
          </a:p>
          <a:p>
            <a:pPr eaLnBrk="1" hangingPunct="1">
              <a:spcBef>
                <a:spcPct val="0"/>
              </a:spcBef>
              <a:buFontTx/>
              <a:buNone/>
            </a:pPr>
            <a:r>
              <a:rPr lang="en-GB" altLang="en-US" sz="1667" dirty="0">
                <a:sym typeface="Wingdings" panose="05000000000000000000" pitchFamily="2" charset="2"/>
              </a:rPr>
              <a:t>[R5] 	O 	+ 	O 	+ 	M </a:t>
            </a:r>
            <a:r>
              <a:rPr lang="en-US" altLang="en-US" sz="1667" dirty="0">
                <a:sym typeface="Wingdings" panose="05000000000000000000" pitchFamily="2" charset="2"/>
              </a:rPr>
              <a:t>	 	O</a:t>
            </a:r>
            <a:r>
              <a:rPr lang="en-US" altLang="en-US" sz="1667" baseline="-25000" dirty="0">
                <a:sym typeface="Wingdings" panose="05000000000000000000" pitchFamily="2" charset="2"/>
              </a:rPr>
              <a:t>2</a:t>
            </a:r>
            <a:r>
              <a:rPr lang="en-US" altLang="en-US" sz="1667" dirty="0">
                <a:sym typeface="Wingdings" panose="05000000000000000000" pitchFamily="2" charset="2"/>
              </a:rPr>
              <a:t> 	+ 	M</a:t>
            </a:r>
          </a:p>
        </p:txBody>
      </p:sp>
      <p:sp>
        <p:nvSpPr>
          <p:cNvPr id="23556" name="Line 9"/>
          <p:cNvSpPr>
            <a:spLocks noChangeShapeType="1"/>
          </p:cNvSpPr>
          <p:nvPr/>
        </p:nvSpPr>
        <p:spPr bwMode="auto">
          <a:xfrm flipH="1">
            <a:off x="6117002" y="3313120"/>
            <a:ext cx="254000" cy="63500"/>
          </a:xfrm>
          <a:prstGeom prst="line">
            <a:avLst/>
          </a:prstGeom>
          <a:noFill/>
          <a:ln w="508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en-GB" sz="2000"/>
          </a:p>
        </p:txBody>
      </p:sp>
      <p:sp>
        <p:nvSpPr>
          <p:cNvPr id="23557" name="Rectangle 10"/>
          <p:cNvSpPr>
            <a:spLocks noChangeArrowheads="1"/>
          </p:cNvSpPr>
          <p:nvPr/>
        </p:nvSpPr>
        <p:spPr bwMode="auto">
          <a:xfrm>
            <a:off x="7650262" y="3553891"/>
            <a:ext cx="571500" cy="254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endParaRPr lang="en-US" altLang="en-US" sz="1500"/>
          </a:p>
        </p:txBody>
      </p:sp>
      <p:sp>
        <p:nvSpPr>
          <p:cNvPr id="23558" name="Text Box 11"/>
          <p:cNvSpPr txBox="1">
            <a:spLocks noChangeArrowheads="1"/>
          </p:cNvSpPr>
          <p:nvPr/>
        </p:nvSpPr>
        <p:spPr bwMode="auto">
          <a:xfrm>
            <a:off x="7142262" y="2668860"/>
            <a:ext cx="683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b="1"/>
              <a:t>[R1]</a:t>
            </a:r>
          </a:p>
        </p:txBody>
      </p:sp>
      <p:sp>
        <p:nvSpPr>
          <p:cNvPr id="23559" name="Text Box 12"/>
          <p:cNvSpPr txBox="1">
            <a:spLocks noChangeArrowheads="1"/>
          </p:cNvSpPr>
          <p:nvPr/>
        </p:nvSpPr>
        <p:spPr bwMode="auto">
          <a:xfrm>
            <a:off x="7446533" y="5175787"/>
            <a:ext cx="683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b="1"/>
              <a:t>[R4]</a:t>
            </a:r>
          </a:p>
        </p:txBody>
      </p:sp>
      <p:sp>
        <p:nvSpPr>
          <p:cNvPr id="23560" name="Text Box 13"/>
          <p:cNvSpPr txBox="1">
            <a:spLocks noChangeArrowheads="1"/>
          </p:cNvSpPr>
          <p:nvPr/>
        </p:nvSpPr>
        <p:spPr bwMode="auto">
          <a:xfrm>
            <a:off x="5287533" y="4921787"/>
            <a:ext cx="683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b="1"/>
              <a:t>[R2]</a:t>
            </a:r>
          </a:p>
        </p:txBody>
      </p:sp>
      <p:sp>
        <p:nvSpPr>
          <p:cNvPr id="23561" name="Text Box 14"/>
          <p:cNvSpPr txBox="1">
            <a:spLocks noChangeArrowheads="1"/>
          </p:cNvSpPr>
          <p:nvPr/>
        </p:nvSpPr>
        <p:spPr bwMode="auto">
          <a:xfrm>
            <a:off x="5173762" y="2762787"/>
            <a:ext cx="683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b="1"/>
              <a:t>[R3]</a:t>
            </a:r>
          </a:p>
        </p:txBody>
      </p:sp>
      <p:sp>
        <p:nvSpPr>
          <p:cNvPr id="2" name="TextBox 1">
            <a:extLst>
              <a:ext uri="{FF2B5EF4-FFF2-40B4-BE49-F238E27FC236}">
                <a16:creationId xmlns:a16="http://schemas.microsoft.com/office/drawing/2014/main" id="{68584FFD-EB70-174E-AAC5-24FF3ED0082C}"/>
              </a:ext>
            </a:extLst>
          </p:cNvPr>
          <p:cNvSpPr txBox="1"/>
          <p:nvPr/>
        </p:nvSpPr>
        <p:spPr>
          <a:xfrm>
            <a:off x="5039787" y="2455010"/>
            <a:ext cx="1542410" cy="297454"/>
          </a:xfrm>
          <a:prstGeom prst="rect">
            <a:avLst/>
          </a:prstGeom>
          <a:noFill/>
        </p:spPr>
        <p:txBody>
          <a:bodyPr wrap="none" rtlCol="0">
            <a:spAutoFit/>
          </a:bodyPr>
          <a:lstStyle/>
          <a:p>
            <a:r>
              <a:rPr lang="en-US" sz="1333" dirty="0">
                <a:solidFill>
                  <a:srgbClr val="FF0000"/>
                </a:solidFill>
              </a:rPr>
              <a:t>very slow; neglect</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5AFDBE7-2CA0-524C-B697-D457B293A053}"/>
                  </a:ext>
                </a:extLst>
              </p:cNvPr>
              <p:cNvSpPr txBox="1"/>
              <p:nvPr/>
            </p:nvSpPr>
            <p:spPr>
              <a:xfrm>
                <a:off x="152911" y="3817607"/>
                <a:ext cx="3583837" cy="1829027"/>
              </a:xfrm>
              <a:prstGeom prst="rect">
                <a:avLst/>
              </a:prstGeom>
              <a:noFill/>
            </p:spPr>
            <p:txBody>
              <a:bodyPr wrap="square" rtlCol="0">
                <a:spAutoFit/>
              </a:bodyPr>
              <a:lstStyle/>
              <a:p>
                <a:r>
                  <a:rPr lang="en-US" altLang="en-US" sz="2000" dirty="0">
                    <a:solidFill>
                      <a:schemeClr val="bg1"/>
                    </a:solidFill>
                  </a:rPr>
                  <a:t>h</a:t>
                </a:r>
                <a14:m>
                  <m:oMath xmlns:m="http://schemas.openxmlformats.org/officeDocument/2006/math">
                    <m:r>
                      <a:rPr lang="en-US" altLang="en-US" sz="2000" i="1" dirty="0">
                        <a:solidFill>
                          <a:schemeClr val="bg1"/>
                        </a:solidFill>
                        <a:latin typeface="Cambria Math" panose="02040503050406030204" pitchFamily="18" charset="0"/>
                        <a:ea typeface="Cambria Math" panose="02040503050406030204" pitchFamily="18" charset="0"/>
                      </a:rPr>
                      <m:t>𝜐</m:t>
                    </m:r>
                  </m:oMath>
                </a14:m>
                <a:r>
                  <a:rPr lang="en-US" sz="1833" dirty="0">
                    <a:solidFill>
                      <a:schemeClr val="bg1"/>
                    </a:solidFill>
                  </a:rPr>
                  <a:t> = energy from a photon</a:t>
                </a:r>
              </a:p>
              <a:p>
                <a:r>
                  <a:rPr lang="en-US" sz="1833" dirty="0">
                    <a:solidFill>
                      <a:schemeClr val="bg1"/>
                    </a:solidFill>
                  </a:rPr>
                  <a:t>h = Planck’s constant</a:t>
                </a:r>
              </a:p>
              <a:p>
                <a14:m>
                  <m:oMath xmlns:m="http://schemas.openxmlformats.org/officeDocument/2006/math">
                    <m:r>
                      <a:rPr lang="en-US" altLang="en-US" sz="2000" i="1" dirty="0">
                        <a:solidFill>
                          <a:schemeClr val="bg1"/>
                        </a:solidFill>
                        <a:latin typeface="Cambria Math" panose="02040503050406030204" pitchFamily="18" charset="0"/>
                        <a:ea typeface="Cambria Math" panose="02040503050406030204" pitchFamily="18" charset="0"/>
                      </a:rPr>
                      <m:t>𝜐</m:t>
                    </m:r>
                    <m:r>
                      <a:rPr lang="en-US" altLang="en-US" sz="2000" i="1" dirty="0">
                        <a:solidFill>
                          <a:schemeClr val="bg1"/>
                        </a:solidFill>
                        <a:latin typeface="Cambria Math" panose="02040503050406030204" pitchFamily="18" charset="0"/>
                        <a:ea typeface="Cambria Math" panose="02040503050406030204" pitchFamily="18" charset="0"/>
                      </a:rPr>
                      <m:t> </m:t>
                    </m:r>
                  </m:oMath>
                </a14:m>
                <a:r>
                  <a:rPr lang="en-US" sz="1833" dirty="0">
                    <a:solidFill>
                      <a:schemeClr val="bg1"/>
                    </a:solidFill>
                  </a:rPr>
                  <a:t>= frequency (nu, Greek)</a:t>
                </a:r>
              </a:p>
              <a:p>
                <a:endParaRPr lang="en-US" sz="1833" dirty="0">
                  <a:solidFill>
                    <a:schemeClr val="bg1"/>
                  </a:solidFill>
                </a:endParaRPr>
              </a:p>
              <a:p>
                <a:r>
                  <a:rPr lang="en-US" sz="1833" dirty="0">
                    <a:solidFill>
                      <a:schemeClr val="bg1"/>
                    </a:solidFill>
                  </a:rPr>
                  <a:t>M = another molecule to</a:t>
                </a:r>
              </a:p>
              <a:p>
                <a:r>
                  <a:rPr lang="en-US" sz="1833" dirty="0">
                    <a:solidFill>
                      <a:schemeClr val="bg1"/>
                    </a:solidFill>
                  </a:rPr>
                  <a:t>    carry away kinetic energy</a:t>
                </a:r>
              </a:p>
            </p:txBody>
          </p:sp>
        </mc:Choice>
        <mc:Fallback xmlns="">
          <p:sp>
            <p:nvSpPr>
              <p:cNvPr id="4" name="TextBox 3">
                <a:extLst>
                  <a:ext uri="{FF2B5EF4-FFF2-40B4-BE49-F238E27FC236}">
                    <a16:creationId xmlns:a16="http://schemas.microsoft.com/office/drawing/2014/main" id="{C5AFDBE7-2CA0-524C-B697-D457B293A053}"/>
                  </a:ext>
                </a:extLst>
              </p:cNvPr>
              <p:cNvSpPr txBox="1">
                <a:spLocks noRot="1" noChangeAspect="1" noMove="1" noResize="1" noEditPoints="1" noAdjustHandles="1" noChangeArrowheads="1" noChangeShapeType="1" noTextEdit="1"/>
              </p:cNvSpPr>
              <p:nvPr/>
            </p:nvSpPr>
            <p:spPr>
              <a:xfrm>
                <a:off x="152911" y="3817607"/>
                <a:ext cx="3583837" cy="1829027"/>
              </a:xfrm>
              <a:prstGeom prst="rect">
                <a:avLst/>
              </a:prstGeom>
              <a:blipFill>
                <a:blip r:embed="rId4"/>
                <a:stretch>
                  <a:fillRect l="-1773" t="-1379" b="-3448"/>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5426B51B-D4A0-F946-AFA1-98F92A42854A}"/>
              </a:ext>
            </a:extLst>
          </p:cNvPr>
          <p:cNvSpPr txBox="1"/>
          <p:nvPr/>
        </p:nvSpPr>
        <p:spPr>
          <a:xfrm>
            <a:off x="6603813" y="369238"/>
            <a:ext cx="612668" cy="461665"/>
          </a:xfrm>
          <a:prstGeom prst="rect">
            <a:avLst/>
          </a:prstGeom>
          <a:noFill/>
        </p:spPr>
        <p:txBody>
          <a:bodyPr wrap="none" rtlCol="0">
            <a:spAutoFit/>
          </a:bodyPr>
          <a:lstStyle/>
          <a:p>
            <a:r>
              <a:rPr lang="en-US" dirty="0">
                <a:solidFill>
                  <a:schemeClr val="bg1"/>
                </a:solidFill>
              </a:rPr>
              <a:t>UV</a:t>
            </a:r>
          </a:p>
        </p:txBody>
      </p:sp>
      <p:sp>
        <p:nvSpPr>
          <p:cNvPr id="14" name="TextBox 13">
            <a:extLst>
              <a:ext uri="{FF2B5EF4-FFF2-40B4-BE49-F238E27FC236}">
                <a16:creationId xmlns:a16="http://schemas.microsoft.com/office/drawing/2014/main" id="{69161DEF-83FA-4741-97ED-A4CFBFB236FC}"/>
              </a:ext>
            </a:extLst>
          </p:cNvPr>
          <p:cNvSpPr txBox="1"/>
          <p:nvPr/>
        </p:nvSpPr>
        <p:spPr>
          <a:xfrm>
            <a:off x="6594414" y="1407265"/>
            <a:ext cx="612668" cy="461665"/>
          </a:xfrm>
          <a:prstGeom prst="rect">
            <a:avLst/>
          </a:prstGeom>
          <a:noFill/>
        </p:spPr>
        <p:txBody>
          <a:bodyPr wrap="none" rtlCol="0">
            <a:spAutoFit/>
          </a:bodyPr>
          <a:lstStyle/>
          <a:p>
            <a:r>
              <a:rPr lang="en-US" dirty="0">
                <a:solidFill>
                  <a:schemeClr val="bg1"/>
                </a:solidFill>
              </a:rPr>
              <a:t>UV</a:t>
            </a:r>
          </a:p>
        </p:txBody>
      </p:sp>
    </p:spTree>
    <p:extLst>
      <p:ext uri="{BB962C8B-B14F-4D97-AF65-F5344CB8AC3E}">
        <p14:creationId xmlns:p14="http://schemas.microsoft.com/office/powerpoint/2010/main" val="11055041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pic>
        <p:nvPicPr>
          <p:cNvPr id="23554" name="Picture 7" descr="chap6_fig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6877" y="2533240"/>
            <a:ext cx="4540250" cy="3144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5" name="Text Box 8"/>
          <p:cNvSpPr txBox="1">
            <a:spLocks noChangeArrowheads="1"/>
          </p:cNvSpPr>
          <p:nvPr/>
        </p:nvSpPr>
        <p:spPr bwMode="auto">
          <a:xfrm>
            <a:off x="304800" y="437481"/>
            <a:ext cx="6299013" cy="2401235"/>
          </a:xfrm>
          <a:prstGeom prst="rect">
            <a:avLst/>
          </a:prstGeom>
          <a:solidFill>
            <a:schemeClr val="bg1"/>
          </a:solidFill>
          <a:ln w="19050">
            <a:solidFill>
              <a:schemeClr val="tx1"/>
            </a:solidFill>
          </a:ln>
        </p:spPr>
        <p:txBody>
          <a:bodyPr wrap="square">
            <a:spAutoFit/>
          </a:bodyPr>
          <a:lstStyle>
            <a:lvl1pPr defTabSz="430213">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defTabSz="430213">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30213">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30213">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30213">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30213"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30213"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30213"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30213"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667" dirty="0"/>
              <a:t>[R1]    O</a:t>
            </a:r>
            <a:r>
              <a:rPr lang="en-US" altLang="en-US" sz="1667" baseline="-25000" dirty="0"/>
              <a:t>2</a:t>
            </a:r>
            <a:r>
              <a:rPr lang="en-US" altLang="en-US" sz="1667" dirty="0"/>
              <a:t> 	+ 	</a:t>
            </a:r>
            <a:r>
              <a:rPr lang="en-US" altLang="en-US" sz="1667" i="1" dirty="0" err="1"/>
              <a:t>hν</a:t>
            </a:r>
            <a:r>
              <a:rPr lang="en-US" altLang="en-US" sz="1667" dirty="0">
                <a:sym typeface="Symbol" panose="05050102010706020507" pitchFamily="18" charset="2"/>
              </a:rPr>
              <a:t>	</a:t>
            </a:r>
            <a:r>
              <a:rPr lang="en-US" altLang="en-US" sz="1667" dirty="0"/>
              <a:t> 		</a:t>
            </a:r>
            <a:r>
              <a:rPr lang="en-US" altLang="en-US" sz="1667" dirty="0">
                <a:sym typeface="Wingdings" panose="05000000000000000000" pitchFamily="2" charset="2"/>
              </a:rPr>
              <a:t> 	2 O         	  λ &lt; 242 nm</a:t>
            </a:r>
          </a:p>
          <a:p>
            <a:pPr eaLnBrk="1" hangingPunct="1">
              <a:spcBef>
                <a:spcPct val="0"/>
              </a:spcBef>
              <a:buFontTx/>
              <a:buNone/>
            </a:pPr>
            <a:endParaRPr lang="en-US" altLang="en-US" sz="1667" dirty="0">
              <a:solidFill>
                <a:schemeClr val="accent2"/>
              </a:solidFill>
              <a:sym typeface="Wingdings" panose="05000000000000000000" pitchFamily="2" charset="2"/>
            </a:endParaRPr>
          </a:p>
          <a:p>
            <a:pPr eaLnBrk="1" hangingPunct="1">
              <a:spcBef>
                <a:spcPct val="0"/>
              </a:spcBef>
              <a:buFontTx/>
              <a:buNone/>
            </a:pPr>
            <a:r>
              <a:rPr lang="en-US" altLang="en-US" sz="1667" dirty="0">
                <a:solidFill>
                  <a:srgbClr val="3FA0FF"/>
                </a:solidFill>
                <a:sym typeface="Wingdings" panose="05000000000000000000" pitchFamily="2" charset="2"/>
              </a:rPr>
              <a:t>[R2]    O 	+ 	O</a:t>
            </a:r>
            <a:r>
              <a:rPr lang="en-US" altLang="en-US" sz="1667" baseline="-25000" dirty="0">
                <a:solidFill>
                  <a:srgbClr val="3FA0FF"/>
                </a:solidFill>
                <a:sym typeface="Wingdings" panose="05000000000000000000" pitchFamily="2" charset="2"/>
              </a:rPr>
              <a:t>2</a:t>
            </a:r>
            <a:r>
              <a:rPr lang="en-US" altLang="en-US" sz="1667" dirty="0">
                <a:solidFill>
                  <a:srgbClr val="3FA0FF"/>
                </a:solidFill>
                <a:sym typeface="Wingdings" panose="05000000000000000000" pitchFamily="2" charset="2"/>
              </a:rPr>
              <a:t> 	+ 	M 	 	O</a:t>
            </a:r>
            <a:r>
              <a:rPr lang="en-US" altLang="en-US" sz="1667" baseline="-25000" dirty="0">
                <a:solidFill>
                  <a:srgbClr val="3FA0FF"/>
                </a:solidFill>
                <a:sym typeface="Wingdings" panose="05000000000000000000" pitchFamily="2" charset="2"/>
              </a:rPr>
              <a:t>3</a:t>
            </a:r>
            <a:r>
              <a:rPr lang="en-US" altLang="en-US" sz="1667" dirty="0">
                <a:solidFill>
                  <a:srgbClr val="3FA0FF"/>
                </a:solidFill>
                <a:sym typeface="Wingdings" panose="05000000000000000000" pitchFamily="2" charset="2"/>
              </a:rPr>
              <a:t> 	+ 	M</a:t>
            </a:r>
            <a:endParaRPr lang="en-US" altLang="en-US" sz="1667" dirty="0">
              <a:solidFill>
                <a:srgbClr val="FF0000"/>
              </a:solidFill>
              <a:sym typeface="Wingdings" panose="05000000000000000000" pitchFamily="2" charset="2"/>
            </a:endParaRPr>
          </a:p>
          <a:p>
            <a:pPr eaLnBrk="1" hangingPunct="1">
              <a:spcBef>
                <a:spcPct val="0"/>
              </a:spcBef>
              <a:buFontTx/>
              <a:buNone/>
            </a:pPr>
            <a:endParaRPr lang="en-US" altLang="en-US" sz="1667" dirty="0">
              <a:solidFill>
                <a:srgbClr val="3FA0FF"/>
              </a:solidFill>
              <a:sym typeface="Wingdings" panose="05000000000000000000" pitchFamily="2" charset="2"/>
            </a:endParaRPr>
          </a:p>
          <a:p>
            <a:pPr eaLnBrk="1" hangingPunct="1">
              <a:spcBef>
                <a:spcPct val="0"/>
              </a:spcBef>
              <a:buFontTx/>
              <a:buNone/>
            </a:pPr>
            <a:r>
              <a:rPr lang="en-US" altLang="en-US" sz="1667" dirty="0">
                <a:solidFill>
                  <a:srgbClr val="3FA0FF"/>
                </a:solidFill>
                <a:sym typeface="Wingdings" panose="05000000000000000000" pitchFamily="2" charset="2"/>
              </a:rPr>
              <a:t>[R3]    O</a:t>
            </a:r>
            <a:r>
              <a:rPr lang="en-US" altLang="en-US" sz="1667" baseline="-25000" dirty="0">
                <a:solidFill>
                  <a:srgbClr val="3FA0FF"/>
                </a:solidFill>
                <a:sym typeface="Wingdings" panose="05000000000000000000" pitchFamily="2" charset="2"/>
              </a:rPr>
              <a:t>3</a:t>
            </a:r>
            <a:r>
              <a:rPr lang="en-US" altLang="en-US" sz="1667" dirty="0">
                <a:solidFill>
                  <a:srgbClr val="3FA0FF"/>
                </a:solidFill>
                <a:sym typeface="Wingdings" panose="05000000000000000000" pitchFamily="2" charset="2"/>
              </a:rPr>
              <a:t> 	+ 	</a:t>
            </a:r>
            <a:r>
              <a:rPr lang="en-US" altLang="en-US" sz="1667" i="1" dirty="0" err="1">
                <a:solidFill>
                  <a:srgbClr val="3FA0FF"/>
                </a:solidFill>
              </a:rPr>
              <a:t>h</a:t>
            </a:r>
            <a:r>
              <a:rPr lang="en-US" altLang="en-US" sz="1667" dirty="0" err="1">
                <a:solidFill>
                  <a:srgbClr val="3FA0FF"/>
                </a:solidFill>
                <a:sym typeface="Symbol" panose="05050102010706020507" pitchFamily="18" charset="2"/>
              </a:rPr>
              <a:t>ν</a:t>
            </a:r>
            <a:r>
              <a:rPr lang="en-US" altLang="en-US" sz="1667" dirty="0">
                <a:solidFill>
                  <a:srgbClr val="3FA0FF"/>
                </a:solidFill>
                <a:sym typeface="Wingdings" panose="05000000000000000000" pitchFamily="2" charset="2"/>
              </a:rPr>
              <a:t> 			 	O</a:t>
            </a:r>
            <a:r>
              <a:rPr lang="en-US" altLang="en-US" sz="1667" baseline="-25000" dirty="0">
                <a:solidFill>
                  <a:srgbClr val="3FA0FF"/>
                </a:solidFill>
                <a:sym typeface="Wingdings" panose="05000000000000000000" pitchFamily="2" charset="2"/>
              </a:rPr>
              <a:t>2</a:t>
            </a:r>
            <a:r>
              <a:rPr lang="en-US" altLang="en-US" sz="1667" dirty="0">
                <a:solidFill>
                  <a:srgbClr val="3FA0FF"/>
                </a:solidFill>
                <a:sym typeface="Wingdings" panose="05000000000000000000" pitchFamily="2" charset="2"/>
              </a:rPr>
              <a:t> 	+ 	O  </a:t>
            </a:r>
            <a:r>
              <a:rPr lang="en-US" altLang="en-US" sz="1667" dirty="0">
                <a:sym typeface="Wingdings" panose="05000000000000000000" pitchFamily="2" charset="2"/>
              </a:rPr>
              <a:t>       </a:t>
            </a:r>
            <a:r>
              <a:rPr lang="en-US" altLang="en-US" sz="1667" dirty="0">
                <a:sym typeface="Symbol" panose="05050102010706020507" pitchFamily="18" charset="2"/>
              </a:rPr>
              <a:t>λ</a:t>
            </a:r>
            <a:r>
              <a:rPr lang="en-US" altLang="en-US" sz="1667" dirty="0">
                <a:sym typeface="Wingdings" panose="05000000000000000000" pitchFamily="2" charset="2"/>
              </a:rPr>
              <a:t>&lt; 310 nm</a:t>
            </a:r>
          </a:p>
          <a:p>
            <a:pPr eaLnBrk="1" hangingPunct="1">
              <a:spcBef>
                <a:spcPct val="0"/>
              </a:spcBef>
              <a:buFontTx/>
              <a:buNone/>
            </a:pPr>
            <a:endParaRPr lang="en-US" altLang="en-US" sz="1667" dirty="0">
              <a:sym typeface="Wingdings" panose="05000000000000000000" pitchFamily="2" charset="2"/>
            </a:endParaRPr>
          </a:p>
          <a:p>
            <a:pPr eaLnBrk="1" hangingPunct="1">
              <a:spcBef>
                <a:spcPct val="0"/>
              </a:spcBef>
              <a:buFontTx/>
              <a:buNone/>
            </a:pPr>
            <a:r>
              <a:rPr lang="en-US" altLang="en-US" sz="1667" dirty="0">
                <a:sym typeface="Wingdings" panose="05000000000000000000" pitchFamily="2" charset="2"/>
              </a:rPr>
              <a:t>[R4]    O 	+ 	O</a:t>
            </a:r>
            <a:r>
              <a:rPr lang="en-US" altLang="en-US" sz="1667" baseline="-25000" dirty="0">
                <a:sym typeface="Wingdings" panose="05000000000000000000" pitchFamily="2" charset="2"/>
              </a:rPr>
              <a:t>3</a:t>
            </a:r>
            <a:r>
              <a:rPr lang="en-US" altLang="en-US" sz="1667" dirty="0">
                <a:sym typeface="Wingdings" panose="05000000000000000000" pitchFamily="2" charset="2"/>
              </a:rPr>
              <a:t> 			 	2O</a:t>
            </a:r>
            <a:r>
              <a:rPr lang="en-US" altLang="en-US" sz="1667" baseline="-25000" dirty="0">
                <a:sym typeface="Wingdings" panose="05000000000000000000" pitchFamily="2" charset="2"/>
              </a:rPr>
              <a:t>2</a:t>
            </a:r>
          </a:p>
          <a:p>
            <a:pPr eaLnBrk="1" hangingPunct="1">
              <a:spcBef>
                <a:spcPct val="0"/>
              </a:spcBef>
              <a:buFontTx/>
              <a:buNone/>
            </a:pPr>
            <a:endParaRPr lang="en-GB" altLang="en-US" sz="1667" dirty="0">
              <a:sym typeface="Wingdings" panose="05000000000000000000" pitchFamily="2" charset="2"/>
            </a:endParaRPr>
          </a:p>
          <a:p>
            <a:pPr eaLnBrk="1" hangingPunct="1">
              <a:spcBef>
                <a:spcPct val="0"/>
              </a:spcBef>
              <a:buFontTx/>
              <a:buNone/>
            </a:pPr>
            <a:r>
              <a:rPr lang="en-GB" altLang="en-US" sz="1667" dirty="0">
                <a:sym typeface="Wingdings" panose="05000000000000000000" pitchFamily="2" charset="2"/>
              </a:rPr>
              <a:t>[R5] 	O 	+ 	O 	+ 	M </a:t>
            </a:r>
            <a:r>
              <a:rPr lang="en-US" altLang="en-US" sz="1667" dirty="0">
                <a:sym typeface="Wingdings" panose="05000000000000000000" pitchFamily="2" charset="2"/>
              </a:rPr>
              <a:t>	 	O</a:t>
            </a:r>
            <a:r>
              <a:rPr lang="en-US" altLang="en-US" sz="1667" baseline="-25000" dirty="0">
                <a:sym typeface="Wingdings" panose="05000000000000000000" pitchFamily="2" charset="2"/>
              </a:rPr>
              <a:t>2</a:t>
            </a:r>
            <a:r>
              <a:rPr lang="en-US" altLang="en-US" sz="1667" dirty="0">
                <a:sym typeface="Wingdings" panose="05000000000000000000" pitchFamily="2" charset="2"/>
              </a:rPr>
              <a:t> 	+ 	M</a:t>
            </a:r>
          </a:p>
        </p:txBody>
      </p:sp>
      <p:sp>
        <p:nvSpPr>
          <p:cNvPr id="23556" name="Line 9"/>
          <p:cNvSpPr>
            <a:spLocks noChangeShapeType="1"/>
          </p:cNvSpPr>
          <p:nvPr/>
        </p:nvSpPr>
        <p:spPr bwMode="auto">
          <a:xfrm flipH="1">
            <a:off x="6117002" y="3313120"/>
            <a:ext cx="254000" cy="63500"/>
          </a:xfrm>
          <a:prstGeom prst="line">
            <a:avLst/>
          </a:prstGeom>
          <a:noFill/>
          <a:ln w="508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en-GB" sz="2000"/>
          </a:p>
        </p:txBody>
      </p:sp>
      <p:sp>
        <p:nvSpPr>
          <p:cNvPr id="23557" name="Rectangle 10"/>
          <p:cNvSpPr>
            <a:spLocks noChangeArrowheads="1"/>
          </p:cNvSpPr>
          <p:nvPr/>
        </p:nvSpPr>
        <p:spPr bwMode="auto">
          <a:xfrm>
            <a:off x="7650262" y="3553891"/>
            <a:ext cx="571500" cy="254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endParaRPr lang="en-US" altLang="en-US" sz="1500"/>
          </a:p>
        </p:txBody>
      </p:sp>
      <p:sp>
        <p:nvSpPr>
          <p:cNvPr id="23558" name="Text Box 11"/>
          <p:cNvSpPr txBox="1">
            <a:spLocks noChangeArrowheads="1"/>
          </p:cNvSpPr>
          <p:nvPr/>
        </p:nvSpPr>
        <p:spPr bwMode="auto">
          <a:xfrm>
            <a:off x="7142262" y="2668860"/>
            <a:ext cx="683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b="1"/>
              <a:t>[R1]</a:t>
            </a:r>
          </a:p>
        </p:txBody>
      </p:sp>
      <p:sp>
        <p:nvSpPr>
          <p:cNvPr id="23559" name="Text Box 12"/>
          <p:cNvSpPr txBox="1">
            <a:spLocks noChangeArrowheads="1"/>
          </p:cNvSpPr>
          <p:nvPr/>
        </p:nvSpPr>
        <p:spPr bwMode="auto">
          <a:xfrm>
            <a:off x="7446533" y="5175787"/>
            <a:ext cx="683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b="1"/>
              <a:t>[R4]</a:t>
            </a:r>
          </a:p>
        </p:txBody>
      </p:sp>
      <p:sp>
        <p:nvSpPr>
          <p:cNvPr id="23560" name="Text Box 13"/>
          <p:cNvSpPr txBox="1">
            <a:spLocks noChangeArrowheads="1"/>
          </p:cNvSpPr>
          <p:nvPr/>
        </p:nvSpPr>
        <p:spPr bwMode="auto">
          <a:xfrm>
            <a:off x="5287533" y="4921787"/>
            <a:ext cx="683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b="1"/>
              <a:t>[R2]</a:t>
            </a:r>
          </a:p>
        </p:txBody>
      </p:sp>
      <p:sp>
        <p:nvSpPr>
          <p:cNvPr id="23561" name="Text Box 14"/>
          <p:cNvSpPr txBox="1">
            <a:spLocks noChangeArrowheads="1"/>
          </p:cNvSpPr>
          <p:nvPr/>
        </p:nvSpPr>
        <p:spPr bwMode="auto">
          <a:xfrm>
            <a:off x="5173762" y="2762787"/>
            <a:ext cx="683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b="1"/>
              <a:t>[R3]</a:t>
            </a:r>
          </a:p>
        </p:txBody>
      </p:sp>
      <p:sp>
        <p:nvSpPr>
          <p:cNvPr id="2" name="TextBox 1">
            <a:extLst>
              <a:ext uri="{FF2B5EF4-FFF2-40B4-BE49-F238E27FC236}">
                <a16:creationId xmlns:a16="http://schemas.microsoft.com/office/drawing/2014/main" id="{68584FFD-EB70-174E-AAC5-24FF3ED0082C}"/>
              </a:ext>
            </a:extLst>
          </p:cNvPr>
          <p:cNvSpPr txBox="1"/>
          <p:nvPr/>
        </p:nvSpPr>
        <p:spPr>
          <a:xfrm>
            <a:off x="5039787" y="2455010"/>
            <a:ext cx="1542410" cy="297454"/>
          </a:xfrm>
          <a:prstGeom prst="rect">
            <a:avLst/>
          </a:prstGeom>
          <a:noFill/>
        </p:spPr>
        <p:txBody>
          <a:bodyPr wrap="none" rtlCol="0">
            <a:spAutoFit/>
          </a:bodyPr>
          <a:lstStyle/>
          <a:p>
            <a:r>
              <a:rPr lang="en-US" sz="1333" dirty="0">
                <a:solidFill>
                  <a:srgbClr val="FF0000"/>
                </a:solidFill>
              </a:rPr>
              <a:t>very slow; neglect</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5AFDBE7-2CA0-524C-B697-D457B293A053}"/>
                  </a:ext>
                </a:extLst>
              </p:cNvPr>
              <p:cNvSpPr txBox="1"/>
              <p:nvPr/>
            </p:nvSpPr>
            <p:spPr>
              <a:xfrm>
                <a:off x="152911" y="3817607"/>
                <a:ext cx="3583837" cy="1829027"/>
              </a:xfrm>
              <a:prstGeom prst="rect">
                <a:avLst/>
              </a:prstGeom>
              <a:noFill/>
            </p:spPr>
            <p:txBody>
              <a:bodyPr wrap="square" rtlCol="0">
                <a:spAutoFit/>
              </a:bodyPr>
              <a:lstStyle/>
              <a:p>
                <a:r>
                  <a:rPr lang="en-US" altLang="en-US" sz="2000" dirty="0">
                    <a:solidFill>
                      <a:schemeClr val="bg1"/>
                    </a:solidFill>
                  </a:rPr>
                  <a:t>h</a:t>
                </a:r>
                <a14:m>
                  <m:oMath xmlns:m="http://schemas.openxmlformats.org/officeDocument/2006/math">
                    <m:r>
                      <a:rPr lang="en-US" altLang="en-US" sz="2000" i="1" dirty="0">
                        <a:solidFill>
                          <a:schemeClr val="bg1"/>
                        </a:solidFill>
                        <a:latin typeface="Cambria Math" panose="02040503050406030204" pitchFamily="18" charset="0"/>
                        <a:ea typeface="Cambria Math" panose="02040503050406030204" pitchFamily="18" charset="0"/>
                      </a:rPr>
                      <m:t>𝜐</m:t>
                    </m:r>
                  </m:oMath>
                </a14:m>
                <a:r>
                  <a:rPr lang="en-US" sz="1833" dirty="0">
                    <a:solidFill>
                      <a:schemeClr val="bg1"/>
                    </a:solidFill>
                  </a:rPr>
                  <a:t> = energy from a photon</a:t>
                </a:r>
              </a:p>
              <a:p>
                <a:r>
                  <a:rPr lang="en-US" sz="1833" dirty="0">
                    <a:solidFill>
                      <a:schemeClr val="bg1"/>
                    </a:solidFill>
                  </a:rPr>
                  <a:t>h = Planck’s constant</a:t>
                </a:r>
              </a:p>
              <a:p>
                <a14:m>
                  <m:oMath xmlns:m="http://schemas.openxmlformats.org/officeDocument/2006/math">
                    <m:r>
                      <a:rPr lang="en-US" altLang="en-US" sz="2000" i="1" dirty="0">
                        <a:solidFill>
                          <a:schemeClr val="bg1"/>
                        </a:solidFill>
                        <a:latin typeface="Cambria Math" panose="02040503050406030204" pitchFamily="18" charset="0"/>
                        <a:ea typeface="Cambria Math" panose="02040503050406030204" pitchFamily="18" charset="0"/>
                      </a:rPr>
                      <m:t>𝜐</m:t>
                    </m:r>
                    <m:r>
                      <a:rPr lang="en-US" altLang="en-US" sz="2000" i="1" dirty="0">
                        <a:solidFill>
                          <a:schemeClr val="bg1"/>
                        </a:solidFill>
                        <a:latin typeface="Cambria Math" panose="02040503050406030204" pitchFamily="18" charset="0"/>
                        <a:ea typeface="Cambria Math" panose="02040503050406030204" pitchFamily="18" charset="0"/>
                      </a:rPr>
                      <m:t> </m:t>
                    </m:r>
                  </m:oMath>
                </a14:m>
                <a:r>
                  <a:rPr lang="en-US" sz="1833" dirty="0">
                    <a:solidFill>
                      <a:schemeClr val="bg1"/>
                    </a:solidFill>
                  </a:rPr>
                  <a:t>= frequency (nu, Greek)</a:t>
                </a:r>
              </a:p>
              <a:p>
                <a:endParaRPr lang="en-US" sz="1833" dirty="0">
                  <a:solidFill>
                    <a:schemeClr val="bg1"/>
                  </a:solidFill>
                </a:endParaRPr>
              </a:p>
              <a:p>
                <a:r>
                  <a:rPr lang="en-US" sz="1833" dirty="0">
                    <a:solidFill>
                      <a:schemeClr val="bg1"/>
                    </a:solidFill>
                  </a:rPr>
                  <a:t>M = another molecule to</a:t>
                </a:r>
              </a:p>
              <a:p>
                <a:r>
                  <a:rPr lang="en-US" sz="1833" dirty="0">
                    <a:solidFill>
                      <a:schemeClr val="bg1"/>
                    </a:solidFill>
                  </a:rPr>
                  <a:t>    carry away kinetic energy</a:t>
                </a:r>
              </a:p>
            </p:txBody>
          </p:sp>
        </mc:Choice>
        <mc:Fallback xmlns="">
          <p:sp>
            <p:nvSpPr>
              <p:cNvPr id="4" name="TextBox 3">
                <a:extLst>
                  <a:ext uri="{FF2B5EF4-FFF2-40B4-BE49-F238E27FC236}">
                    <a16:creationId xmlns:a16="http://schemas.microsoft.com/office/drawing/2014/main" id="{C5AFDBE7-2CA0-524C-B697-D457B293A053}"/>
                  </a:ext>
                </a:extLst>
              </p:cNvPr>
              <p:cNvSpPr txBox="1">
                <a:spLocks noRot="1" noChangeAspect="1" noMove="1" noResize="1" noEditPoints="1" noAdjustHandles="1" noChangeArrowheads="1" noChangeShapeType="1" noTextEdit="1"/>
              </p:cNvSpPr>
              <p:nvPr/>
            </p:nvSpPr>
            <p:spPr>
              <a:xfrm>
                <a:off x="152911" y="3817607"/>
                <a:ext cx="3583837" cy="1829027"/>
              </a:xfrm>
              <a:prstGeom prst="rect">
                <a:avLst/>
              </a:prstGeom>
              <a:blipFill>
                <a:blip r:embed="rId4"/>
                <a:stretch>
                  <a:fillRect l="-1773" t="-1379" b="-3448"/>
                </a:stretch>
              </a:blipFill>
            </p:spPr>
            <p:txBody>
              <a:bodyPr/>
              <a:lstStyle/>
              <a:p>
                <a:r>
                  <a:rPr lang="en-US">
                    <a:noFill/>
                  </a:rPr>
                  <a:t> </a:t>
                </a:r>
              </a:p>
            </p:txBody>
          </p:sp>
        </mc:Fallback>
      </mc:AlternateContent>
      <p:sp>
        <p:nvSpPr>
          <p:cNvPr id="5" name="Right Brace 4">
            <a:extLst>
              <a:ext uri="{FF2B5EF4-FFF2-40B4-BE49-F238E27FC236}">
                <a16:creationId xmlns:a16="http://schemas.microsoft.com/office/drawing/2014/main" id="{3C100ECA-C069-924D-B55B-19570A61BDE3}"/>
              </a:ext>
            </a:extLst>
          </p:cNvPr>
          <p:cNvSpPr/>
          <p:nvPr/>
        </p:nvSpPr>
        <p:spPr>
          <a:xfrm>
            <a:off x="6248400" y="1104900"/>
            <a:ext cx="609600" cy="609600"/>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 name="TextBox 5">
            <a:extLst>
              <a:ext uri="{FF2B5EF4-FFF2-40B4-BE49-F238E27FC236}">
                <a16:creationId xmlns:a16="http://schemas.microsoft.com/office/drawing/2014/main" id="{9A36D749-9A00-1640-ABC4-9C77277FC439}"/>
              </a:ext>
            </a:extLst>
          </p:cNvPr>
          <p:cNvSpPr txBox="1"/>
          <p:nvPr/>
        </p:nvSpPr>
        <p:spPr>
          <a:xfrm>
            <a:off x="6917574" y="1086534"/>
            <a:ext cx="1941557" cy="646331"/>
          </a:xfrm>
          <a:prstGeom prst="rect">
            <a:avLst/>
          </a:prstGeom>
          <a:noFill/>
        </p:spPr>
        <p:txBody>
          <a:bodyPr wrap="none" rtlCol="0">
            <a:spAutoFit/>
          </a:bodyPr>
          <a:lstStyle/>
          <a:p>
            <a:r>
              <a:rPr lang="en-US" sz="1800" dirty="0">
                <a:solidFill>
                  <a:srgbClr val="00B0F0"/>
                </a:solidFill>
              </a:rPr>
              <a:t>creates/destroys </a:t>
            </a:r>
          </a:p>
          <a:p>
            <a:r>
              <a:rPr lang="en-US" sz="1800" dirty="0">
                <a:solidFill>
                  <a:srgbClr val="00B0F0"/>
                </a:solidFill>
              </a:rPr>
              <a:t>ozone</a:t>
            </a:r>
          </a:p>
        </p:txBody>
      </p:sp>
      <p:sp>
        <p:nvSpPr>
          <p:cNvPr id="16" name="Right Brace 15">
            <a:extLst>
              <a:ext uri="{FF2B5EF4-FFF2-40B4-BE49-F238E27FC236}">
                <a16:creationId xmlns:a16="http://schemas.microsoft.com/office/drawing/2014/main" id="{F256F97A-4BD6-8C40-90CC-FE760A561BC1}"/>
              </a:ext>
            </a:extLst>
          </p:cNvPr>
          <p:cNvSpPr/>
          <p:nvPr/>
        </p:nvSpPr>
        <p:spPr>
          <a:xfrm>
            <a:off x="4160286" y="601511"/>
            <a:ext cx="609600" cy="1562965"/>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7" name="TextBox 16">
            <a:extLst>
              <a:ext uri="{FF2B5EF4-FFF2-40B4-BE49-F238E27FC236}">
                <a16:creationId xmlns:a16="http://schemas.microsoft.com/office/drawing/2014/main" id="{08C1FCCB-F187-FC42-8A3A-02AED2C1BE9C}"/>
              </a:ext>
            </a:extLst>
          </p:cNvPr>
          <p:cNvSpPr txBox="1"/>
          <p:nvPr/>
        </p:nvSpPr>
        <p:spPr>
          <a:xfrm>
            <a:off x="4465086" y="767143"/>
            <a:ext cx="1941557" cy="646331"/>
          </a:xfrm>
          <a:prstGeom prst="rect">
            <a:avLst/>
          </a:prstGeom>
          <a:noFill/>
        </p:spPr>
        <p:txBody>
          <a:bodyPr wrap="none" rtlCol="0">
            <a:spAutoFit/>
          </a:bodyPr>
          <a:lstStyle/>
          <a:p>
            <a:r>
              <a:rPr lang="en-US" sz="1800" dirty="0">
                <a:solidFill>
                  <a:srgbClr val="00B050"/>
                </a:solidFill>
              </a:rPr>
              <a:t>creates/destroys </a:t>
            </a:r>
          </a:p>
          <a:p>
            <a:r>
              <a:rPr lang="en-US" sz="1800" dirty="0">
                <a:solidFill>
                  <a:srgbClr val="00B050"/>
                </a:solidFill>
              </a:rPr>
              <a:t>odd oxygen</a:t>
            </a:r>
          </a:p>
        </p:txBody>
      </p:sp>
      <p:sp>
        <p:nvSpPr>
          <p:cNvPr id="18" name="TextBox 17">
            <a:extLst>
              <a:ext uri="{FF2B5EF4-FFF2-40B4-BE49-F238E27FC236}">
                <a16:creationId xmlns:a16="http://schemas.microsoft.com/office/drawing/2014/main" id="{5325CD83-89BE-254E-942C-989C649AAE23}"/>
              </a:ext>
            </a:extLst>
          </p:cNvPr>
          <p:cNvSpPr txBox="1"/>
          <p:nvPr/>
        </p:nvSpPr>
        <p:spPr>
          <a:xfrm>
            <a:off x="6188176" y="3573235"/>
            <a:ext cx="1941557" cy="646331"/>
          </a:xfrm>
          <a:prstGeom prst="rect">
            <a:avLst/>
          </a:prstGeom>
          <a:noFill/>
        </p:spPr>
        <p:txBody>
          <a:bodyPr wrap="none" rtlCol="0">
            <a:spAutoFit/>
          </a:bodyPr>
          <a:lstStyle/>
          <a:p>
            <a:pPr algn="ctr"/>
            <a:r>
              <a:rPr lang="en-US" sz="1800" dirty="0">
                <a:solidFill>
                  <a:srgbClr val="00B050"/>
                </a:solidFill>
              </a:rPr>
              <a:t>creates/destroys </a:t>
            </a:r>
          </a:p>
          <a:p>
            <a:pPr algn="ctr"/>
            <a:r>
              <a:rPr lang="en-US" sz="1800" dirty="0">
                <a:solidFill>
                  <a:srgbClr val="00B050"/>
                </a:solidFill>
              </a:rPr>
              <a:t>odd oxygen</a:t>
            </a:r>
          </a:p>
        </p:txBody>
      </p:sp>
      <p:sp>
        <p:nvSpPr>
          <p:cNvPr id="19" name="TextBox 18">
            <a:extLst>
              <a:ext uri="{FF2B5EF4-FFF2-40B4-BE49-F238E27FC236}">
                <a16:creationId xmlns:a16="http://schemas.microsoft.com/office/drawing/2014/main" id="{5D8B0EB1-91EF-1B4D-81F6-024B1CA36696}"/>
              </a:ext>
            </a:extLst>
          </p:cNvPr>
          <p:cNvSpPr txBox="1"/>
          <p:nvPr/>
        </p:nvSpPr>
        <p:spPr>
          <a:xfrm>
            <a:off x="3915405" y="4732120"/>
            <a:ext cx="1941557" cy="646331"/>
          </a:xfrm>
          <a:prstGeom prst="rect">
            <a:avLst/>
          </a:prstGeom>
          <a:noFill/>
        </p:spPr>
        <p:txBody>
          <a:bodyPr wrap="none" rtlCol="0">
            <a:spAutoFit/>
          </a:bodyPr>
          <a:lstStyle/>
          <a:p>
            <a:pPr algn="ctr"/>
            <a:r>
              <a:rPr lang="en-US" sz="1800" dirty="0">
                <a:solidFill>
                  <a:srgbClr val="00B0F0"/>
                </a:solidFill>
              </a:rPr>
              <a:t>creates/destroys </a:t>
            </a:r>
          </a:p>
          <a:p>
            <a:pPr algn="ctr"/>
            <a:r>
              <a:rPr lang="en-US" sz="1800" dirty="0">
                <a:solidFill>
                  <a:srgbClr val="00B0F0"/>
                </a:solidFill>
              </a:rPr>
              <a:t>ozone</a:t>
            </a:r>
          </a:p>
        </p:txBody>
      </p:sp>
      <p:sp>
        <p:nvSpPr>
          <p:cNvPr id="20" name="Rectangle 4">
            <a:extLst>
              <a:ext uri="{FF2B5EF4-FFF2-40B4-BE49-F238E27FC236}">
                <a16:creationId xmlns:a16="http://schemas.microsoft.com/office/drawing/2014/main" id="{0455FD81-C44D-D24A-B3CA-07C9DC203E5D}"/>
              </a:ext>
            </a:extLst>
          </p:cNvPr>
          <p:cNvSpPr>
            <a:spLocks noChangeArrowheads="1"/>
          </p:cNvSpPr>
          <p:nvPr/>
        </p:nvSpPr>
        <p:spPr bwMode="auto">
          <a:xfrm>
            <a:off x="0" y="37187"/>
            <a:ext cx="9143999" cy="304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0"/>
              </a:spcBef>
              <a:buFontTx/>
              <a:buNone/>
            </a:pPr>
            <a:r>
              <a:rPr lang="en-GB" altLang="en-US" sz="3000" b="1" dirty="0">
                <a:solidFill>
                  <a:srgbClr val="FFFF00"/>
                </a:solidFill>
              </a:rPr>
              <a:t>Chapman Cycle: Natural Ozone Processes</a:t>
            </a:r>
            <a:endParaRPr lang="en-US" altLang="en-US" sz="3000" b="1" dirty="0">
              <a:solidFill>
                <a:srgbClr val="FFFF00"/>
              </a:solidFill>
            </a:endParaRPr>
          </a:p>
        </p:txBody>
      </p:sp>
    </p:spTree>
    <p:extLst>
      <p:ext uri="{BB962C8B-B14F-4D97-AF65-F5344CB8AC3E}">
        <p14:creationId xmlns:p14="http://schemas.microsoft.com/office/powerpoint/2010/main" val="41938166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3555" name="Slide Number Placeholder 3"/>
          <p:cNvSpPr>
            <a:spLocks noGrp="1"/>
          </p:cNvSpPr>
          <p:nvPr>
            <p:ph type="sldNum" sz="quarter" idx="4294967295"/>
          </p:nvPr>
        </p:nvSpPr>
        <p:spPr>
          <a:xfrm>
            <a:off x="6143625" y="5296960"/>
            <a:ext cx="1714500" cy="304271"/>
          </a:xfrm>
          <a:noFill/>
        </p:spPr>
        <p:txBody>
          <a:bodyPr/>
          <a:lstStyle>
            <a:lvl1pPr eaLnBrk="0" hangingPunct="0">
              <a:spcBef>
                <a:spcPct val="20000"/>
              </a:spcBef>
              <a:buChar char="•"/>
              <a:defRPr sz="2667">
                <a:solidFill>
                  <a:schemeClr val="tx1"/>
                </a:solidFill>
                <a:latin typeface="Times New Roman" panose="02020603050405020304" pitchFamily="18" charset="0"/>
              </a:defRPr>
            </a:lvl1pPr>
            <a:lvl2pPr marL="619100" indent="-238115" eaLnBrk="0" hangingPunct="0">
              <a:spcBef>
                <a:spcPct val="20000"/>
              </a:spcBef>
              <a:buChar char="–"/>
              <a:defRPr sz="2333">
                <a:solidFill>
                  <a:schemeClr val="tx1"/>
                </a:solidFill>
                <a:latin typeface="Times New Roman" panose="02020603050405020304" pitchFamily="18" charset="0"/>
              </a:defRPr>
            </a:lvl2pPr>
            <a:lvl3pPr marL="952462" indent="-190492" eaLnBrk="0" hangingPunct="0">
              <a:spcBef>
                <a:spcPct val="20000"/>
              </a:spcBef>
              <a:buChar char="•"/>
              <a:defRPr sz="2000">
                <a:solidFill>
                  <a:schemeClr val="tx1"/>
                </a:solidFill>
                <a:latin typeface="Times New Roman" panose="02020603050405020304" pitchFamily="18" charset="0"/>
              </a:defRPr>
            </a:lvl3pPr>
            <a:lvl4pPr marL="1333447" indent="-190492" eaLnBrk="0" hangingPunct="0">
              <a:spcBef>
                <a:spcPct val="20000"/>
              </a:spcBef>
              <a:buChar char="–"/>
              <a:defRPr sz="1667">
                <a:solidFill>
                  <a:schemeClr val="tx1"/>
                </a:solidFill>
                <a:latin typeface="Times New Roman" panose="02020603050405020304" pitchFamily="18" charset="0"/>
              </a:defRPr>
            </a:lvl4pPr>
            <a:lvl5pPr marL="1714431" indent="-190492" eaLnBrk="0" hangingPunct="0">
              <a:spcBef>
                <a:spcPct val="20000"/>
              </a:spcBef>
              <a:buChar char="»"/>
              <a:defRPr sz="1667">
                <a:solidFill>
                  <a:schemeClr val="tx1"/>
                </a:solidFill>
                <a:latin typeface="Times New Roman" panose="02020603050405020304" pitchFamily="18" charset="0"/>
              </a:defRPr>
            </a:lvl5pPr>
            <a:lvl6pPr marL="2095416" indent="-190492" eaLnBrk="0" fontAlgn="base" hangingPunct="0">
              <a:spcBef>
                <a:spcPct val="20000"/>
              </a:spcBef>
              <a:spcAft>
                <a:spcPct val="0"/>
              </a:spcAft>
              <a:buChar char="»"/>
              <a:defRPr sz="1667">
                <a:solidFill>
                  <a:schemeClr val="tx1"/>
                </a:solidFill>
                <a:latin typeface="Times New Roman" panose="02020603050405020304" pitchFamily="18" charset="0"/>
              </a:defRPr>
            </a:lvl6pPr>
            <a:lvl7pPr marL="2476401" indent="-190492" eaLnBrk="0" fontAlgn="base" hangingPunct="0">
              <a:spcBef>
                <a:spcPct val="20000"/>
              </a:spcBef>
              <a:spcAft>
                <a:spcPct val="0"/>
              </a:spcAft>
              <a:buChar char="»"/>
              <a:defRPr sz="1667">
                <a:solidFill>
                  <a:schemeClr val="tx1"/>
                </a:solidFill>
                <a:latin typeface="Times New Roman" panose="02020603050405020304" pitchFamily="18" charset="0"/>
              </a:defRPr>
            </a:lvl7pPr>
            <a:lvl8pPr marL="2857386" indent="-190492" eaLnBrk="0" fontAlgn="base" hangingPunct="0">
              <a:spcBef>
                <a:spcPct val="20000"/>
              </a:spcBef>
              <a:spcAft>
                <a:spcPct val="0"/>
              </a:spcAft>
              <a:buChar char="»"/>
              <a:defRPr sz="1667">
                <a:solidFill>
                  <a:schemeClr val="tx1"/>
                </a:solidFill>
                <a:latin typeface="Times New Roman" panose="02020603050405020304" pitchFamily="18" charset="0"/>
              </a:defRPr>
            </a:lvl8pPr>
            <a:lvl9pPr marL="3238370" indent="-190492" eaLnBrk="0" fontAlgn="base" hangingPunct="0">
              <a:spcBef>
                <a:spcPct val="20000"/>
              </a:spcBef>
              <a:spcAft>
                <a:spcPct val="0"/>
              </a:spcAft>
              <a:buChar char="»"/>
              <a:defRPr sz="1667">
                <a:solidFill>
                  <a:schemeClr val="tx1"/>
                </a:solidFill>
                <a:latin typeface="Times New Roman" panose="02020603050405020304" pitchFamily="18" charset="0"/>
              </a:defRPr>
            </a:lvl9pPr>
          </a:lstStyle>
          <a:p>
            <a:pPr eaLnBrk="1" hangingPunct="1">
              <a:spcBef>
                <a:spcPct val="0"/>
              </a:spcBef>
              <a:buFontTx/>
              <a:buNone/>
            </a:pPr>
            <a:fld id="{EB2EFE3B-ED98-4683-9C07-1B0BF2EDCC02}" type="slidenum">
              <a:rPr lang="en-GB" altLang="en-US" sz="1167"/>
              <a:pPr eaLnBrk="1" hangingPunct="1">
                <a:spcBef>
                  <a:spcPct val="0"/>
                </a:spcBef>
                <a:buFontTx/>
                <a:buNone/>
              </a:pPr>
              <a:t>8</a:t>
            </a:fld>
            <a:endParaRPr lang="en-GB" altLang="en-US" sz="1167"/>
          </a:p>
        </p:txBody>
      </p:sp>
      <mc:AlternateContent xmlns:mc="http://schemas.openxmlformats.org/markup-compatibility/2006" xmlns:a14="http://schemas.microsoft.com/office/drawing/2010/main">
        <mc:Choice Requires="a14">
          <p:sp>
            <p:nvSpPr>
              <p:cNvPr id="23556" name="Text Box 3"/>
              <p:cNvSpPr txBox="1">
                <a:spLocks noChangeArrowheads="1"/>
              </p:cNvSpPr>
              <p:nvPr/>
            </p:nvSpPr>
            <p:spPr bwMode="auto">
              <a:xfrm>
                <a:off x="990600" y="38100"/>
                <a:ext cx="7197993" cy="560839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sz="3200">
                    <a:solidFill>
                      <a:schemeClr val="tx1"/>
                    </a:solidFill>
                    <a:latin typeface="Times New Roman" panose="02020603050405020304" pitchFamily="18" charset="0"/>
                  </a:defRPr>
                </a:lvl1pPr>
                <a:lvl2pPr marL="742950" indent="-285750" eaLnBrk="0" hangingPunct="0">
                  <a:spcBef>
                    <a:spcPct val="20000"/>
                  </a:spcBef>
                  <a:buChar char="–"/>
                  <a:defRPr sz="2800">
                    <a:solidFill>
                      <a:schemeClr val="tx1"/>
                    </a:solidFill>
                    <a:latin typeface="Times New Roman" panose="02020603050405020304" pitchFamily="18" charset="0"/>
                  </a:defRPr>
                </a:lvl2pPr>
                <a:lvl3pPr marL="1143000" indent="-228600" eaLnBrk="0" hangingPunct="0">
                  <a:spcBef>
                    <a:spcPct val="20000"/>
                  </a:spcBef>
                  <a:buChar char="•"/>
                  <a:defRPr sz="2400">
                    <a:solidFill>
                      <a:schemeClr val="tx1"/>
                    </a:solidFill>
                    <a:latin typeface="Times New Roman" panose="02020603050405020304" pitchFamily="18" charset="0"/>
                  </a:defRPr>
                </a:lvl3pPr>
                <a:lvl4pPr marL="1600200" indent="-228600" eaLnBrk="0" hangingPunct="0">
                  <a:spcBef>
                    <a:spcPct val="20000"/>
                  </a:spcBef>
                  <a:buChar char="–"/>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GB" altLang="en-US" sz="3000" dirty="0">
                    <a:solidFill>
                      <a:srgbClr val="FFFF00"/>
                    </a:solidFill>
                    <a:latin typeface="Arial" panose="020B0604020202020204" pitchFamily="34" charset="0"/>
                  </a:rPr>
                  <a:t>The Chapman cycle is perturbed by other chemical species X.</a:t>
                </a:r>
              </a:p>
              <a:p>
                <a:pPr eaLnBrk="1" hangingPunct="1">
                  <a:spcBef>
                    <a:spcPct val="50000"/>
                  </a:spcBef>
                  <a:buFontTx/>
                  <a:buNone/>
                </a:pPr>
                <a:endParaRPr lang="en-GB" altLang="en-US" sz="1500" dirty="0">
                  <a:solidFill>
                    <a:schemeClr val="bg1"/>
                  </a:solidFill>
                  <a:latin typeface="Arial" panose="020B0604020202020204" pitchFamily="34" charset="0"/>
                </a:endParaRPr>
              </a:p>
              <a:p>
                <a:pPr algn="ctr" eaLnBrk="1" hangingPunct="1">
                  <a:spcBef>
                    <a:spcPct val="50000"/>
                  </a:spcBef>
                  <a:buFontTx/>
                  <a:buNone/>
                </a:pPr>
                <a:r>
                  <a:rPr lang="en-GB" altLang="en-US" sz="4000" dirty="0">
                    <a:solidFill>
                      <a:schemeClr val="bg1"/>
                    </a:solidFill>
                    <a:latin typeface="Arial" panose="020B0604020202020204" pitchFamily="34" charset="0"/>
                  </a:rPr>
                  <a:t>O</a:t>
                </a:r>
                <a:r>
                  <a:rPr lang="en-US" altLang="en-US" sz="4000" baseline="-25000" dirty="0">
                    <a:solidFill>
                      <a:schemeClr val="bg1"/>
                    </a:solidFill>
                    <a:latin typeface="Arial" panose="020B0604020202020204" pitchFamily="34" charset="0"/>
                  </a:rPr>
                  <a:t>3</a:t>
                </a:r>
                <a:r>
                  <a:rPr lang="en-US" altLang="en-US" sz="4000" dirty="0">
                    <a:solidFill>
                      <a:schemeClr val="bg1"/>
                    </a:solidFill>
                    <a:latin typeface="Arial" panose="020B0604020202020204" pitchFamily="34" charset="0"/>
                  </a:rPr>
                  <a:t> + X     →   XO + O</a:t>
                </a:r>
                <a:r>
                  <a:rPr lang="en-US" altLang="en-US" sz="4000" baseline="-25000" dirty="0">
                    <a:solidFill>
                      <a:schemeClr val="bg1"/>
                    </a:solidFill>
                    <a:latin typeface="Arial" panose="020B0604020202020204" pitchFamily="34" charset="0"/>
                  </a:rPr>
                  <a:t>2</a:t>
                </a:r>
                <a:endParaRPr lang="en-US" altLang="en-US" sz="4000" dirty="0">
                  <a:solidFill>
                    <a:schemeClr val="bg1"/>
                  </a:solidFill>
                  <a:latin typeface="Arial" panose="020B0604020202020204" pitchFamily="34" charset="0"/>
                </a:endParaRPr>
              </a:p>
              <a:p>
                <a:pPr algn="ctr" eaLnBrk="1" hangingPunct="1">
                  <a:spcBef>
                    <a:spcPct val="50000"/>
                  </a:spcBef>
                  <a:buFontTx/>
                  <a:buNone/>
                </a:pPr>
                <a:r>
                  <a:rPr lang="en-US" altLang="en-US" sz="4000" dirty="0">
                    <a:solidFill>
                      <a:schemeClr val="bg1"/>
                    </a:solidFill>
                    <a:latin typeface="Arial" panose="020B0604020202020204" pitchFamily="34" charset="0"/>
                  </a:rPr>
                  <a:t>O</a:t>
                </a:r>
                <a:r>
                  <a:rPr lang="en-US" altLang="en-US" sz="4000" baseline="-25000" dirty="0">
                    <a:solidFill>
                      <a:schemeClr val="bg1"/>
                    </a:solidFill>
                    <a:latin typeface="Arial" panose="020B0604020202020204" pitchFamily="34" charset="0"/>
                  </a:rPr>
                  <a:t>3 </a:t>
                </a:r>
                <a:r>
                  <a:rPr lang="en-US" altLang="en-US" sz="4000" dirty="0">
                    <a:solidFill>
                      <a:schemeClr val="bg1"/>
                    </a:solidFill>
                    <a:latin typeface="Arial" panose="020B0604020202020204" pitchFamily="34" charset="0"/>
                  </a:rPr>
                  <a:t>+ XO  → XO</a:t>
                </a:r>
                <a:r>
                  <a:rPr lang="en-US" altLang="en-US" sz="4000" baseline="-25000" dirty="0">
                    <a:solidFill>
                      <a:schemeClr val="bg1"/>
                    </a:solidFill>
                    <a:latin typeface="Arial" panose="020B0604020202020204" pitchFamily="34" charset="0"/>
                  </a:rPr>
                  <a:t>2</a:t>
                </a:r>
                <a:r>
                  <a:rPr lang="en-US" altLang="en-US" sz="4000" dirty="0">
                    <a:solidFill>
                      <a:schemeClr val="bg1"/>
                    </a:solidFill>
                    <a:latin typeface="Arial" panose="020B0604020202020204" pitchFamily="34" charset="0"/>
                  </a:rPr>
                  <a:t> + O</a:t>
                </a:r>
                <a:r>
                  <a:rPr lang="en-US" altLang="en-US" sz="4000" baseline="-25000" dirty="0">
                    <a:solidFill>
                      <a:schemeClr val="bg1"/>
                    </a:solidFill>
                    <a:latin typeface="Arial" panose="020B0604020202020204" pitchFamily="34" charset="0"/>
                  </a:rPr>
                  <a:t>2</a:t>
                </a:r>
              </a:p>
              <a:p>
                <a:pPr algn="ctr" eaLnBrk="1" hangingPunct="1">
                  <a:spcBef>
                    <a:spcPct val="50000"/>
                  </a:spcBef>
                  <a:buFontTx/>
                  <a:buNone/>
                </a:pPr>
                <a:r>
                  <a:rPr lang="en-US" altLang="en-US" sz="4000" dirty="0">
                    <a:solidFill>
                      <a:schemeClr val="bg1"/>
                    </a:solidFill>
                    <a:latin typeface="Arial" panose="020B0604020202020204" pitchFamily="34" charset="0"/>
                  </a:rPr>
                  <a:t>XO</a:t>
                </a:r>
                <a:r>
                  <a:rPr lang="en-US" altLang="en-US" sz="4000" baseline="-25000" dirty="0">
                    <a:solidFill>
                      <a:schemeClr val="bg1"/>
                    </a:solidFill>
                    <a:latin typeface="Arial" panose="020B0604020202020204" pitchFamily="34" charset="0"/>
                  </a:rPr>
                  <a:t>2</a:t>
                </a:r>
                <a:r>
                  <a:rPr lang="en-US" altLang="en-US" sz="4000" dirty="0">
                    <a:solidFill>
                      <a:schemeClr val="bg1"/>
                    </a:solidFill>
                    <a:latin typeface="Arial" panose="020B0604020202020204" pitchFamily="34" charset="0"/>
                  </a:rPr>
                  <a:t> + </a:t>
                </a:r>
                <a:r>
                  <a:rPr lang="en-US" altLang="en-US" sz="4000" dirty="0" err="1">
                    <a:solidFill>
                      <a:schemeClr val="bg1"/>
                    </a:solidFill>
                    <a:latin typeface="Arial" panose="020B0604020202020204" pitchFamily="34" charset="0"/>
                  </a:rPr>
                  <a:t>h</a:t>
                </a:r>
                <a14:m>
                  <m:oMath xmlns:m="http://schemas.openxmlformats.org/officeDocument/2006/math">
                    <m:r>
                      <a:rPr lang="en-US" altLang="en-US" sz="4500" i="1" dirty="0">
                        <a:solidFill>
                          <a:schemeClr val="bg1"/>
                        </a:solidFill>
                        <a:latin typeface="Cambria Math" panose="02040503050406030204" pitchFamily="18" charset="0"/>
                        <a:ea typeface="Cambria Math" panose="02040503050406030204" pitchFamily="18" charset="0"/>
                      </a:rPr>
                      <m:t>𝜐</m:t>
                    </m:r>
                  </m:oMath>
                </a14:m>
                <a:r>
                  <a:rPr lang="en-US" altLang="en-US" sz="4000" dirty="0">
                    <a:solidFill>
                      <a:schemeClr val="bg1"/>
                    </a:solidFill>
                    <a:latin typeface="Arial" panose="020B0604020202020204" pitchFamily="34" charset="0"/>
                  </a:rPr>
                  <a:t> →   X + O</a:t>
                </a:r>
                <a:r>
                  <a:rPr lang="en-US" altLang="en-US" sz="4000" baseline="-25000" dirty="0">
                    <a:solidFill>
                      <a:schemeClr val="bg1"/>
                    </a:solidFill>
                    <a:latin typeface="Arial" panose="020B0604020202020204" pitchFamily="34" charset="0"/>
                  </a:rPr>
                  <a:t>2</a:t>
                </a:r>
              </a:p>
              <a:p>
                <a:pPr eaLnBrk="1" hangingPunct="1">
                  <a:spcBef>
                    <a:spcPct val="50000"/>
                  </a:spcBef>
                  <a:buFontTx/>
                  <a:buNone/>
                </a:pPr>
                <a:endParaRPr lang="en-US" altLang="en-US" sz="3000" baseline="-25000" dirty="0">
                  <a:solidFill>
                    <a:schemeClr val="bg1"/>
                  </a:solidFill>
                  <a:latin typeface="Arial" panose="020B0604020202020204" pitchFamily="34" charset="0"/>
                </a:endParaRPr>
              </a:p>
              <a:p>
                <a:pPr eaLnBrk="1" hangingPunct="1">
                  <a:spcBef>
                    <a:spcPct val="50000"/>
                  </a:spcBef>
                  <a:buFontTx/>
                  <a:buNone/>
                </a:pPr>
                <a:r>
                  <a:rPr lang="en-US" altLang="en-US" sz="4000" dirty="0">
                    <a:solidFill>
                      <a:srgbClr val="FFFF00"/>
                    </a:solidFill>
                    <a:latin typeface="Arial" panose="020B0604020202020204" pitchFamily="34" charset="0"/>
                  </a:rPr>
                  <a:t>X can be Cl, Br, NO, or OH</a:t>
                </a:r>
                <a:endParaRPr lang="en-US" altLang="en-US" sz="1500" dirty="0">
                  <a:solidFill>
                    <a:srgbClr val="FFFF00"/>
                  </a:solidFill>
                  <a:latin typeface="Arial" panose="020B0604020202020204" pitchFamily="34" charset="0"/>
                </a:endParaRPr>
              </a:p>
            </p:txBody>
          </p:sp>
        </mc:Choice>
        <mc:Fallback xmlns="">
          <p:sp>
            <p:nvSpPr>
              <p:cNvPr id="23556" name="Text Box 3"/>
              <p:cNvSpPr txBox="1">
                <a:spLocks noRot="1" noChangeAspect="1" noMove="1" noResize="1" noEditPoints="1" noAdjustHandles="1" noChangeArrowheads="1" noChangeShapeType="1" noTextEdit="1"/>
              </p:cNvSpPr>
              <p:nvPr/>
            </p:nvSpPr>
            <p:spPr bwMode="auto">
              <a:xfrm>
                <a:off x="990600" y="38100"/>
                <a:ext cx="7197993" cy="5608395"/>
              </a:xfrm>
              <a:prstGeom prst="rect">
                <a:avLst/>
              </a:prstGeom>
              <a:blipFill>
                <a:blip r:embed="rId3"/>
                <a:stretch>
                  <a:fillRect l="-2993" t="-903" r="-2817" b="-338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Tree>
    <p:extLst>
      <p:ext uri="{BB962C8B-B14F-4D97-AF65-F5344CB8AC3E}">
        <p14:creationId xmlns:p14="http://schemas.microsoft.com/office/powerpoint/2010/main" val="24928771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3555" name="Slide Number Placeholder 3"/>
          <p:cNvSpPr>
            <a:spLocks noGrp="1"/>
          </p:cNvSpPr>
          <p:nvPr>
            <p:ph type="sldNum" sz="quarter" idx="4294967295"/>
          </p:nvPr>
        </p:nvSpPr>
        <p:spPr>
          <a:xfrm>
            <a:off x="6143625" y="5296960"/>
            <a:ext cx="1714500" cy="304271"/>
          </a:xfrm>
          <a:noFill/>
        </p:spPr>
        <p:txBody>
          <a:bodyPr/>
          <a:lstStyle>
            <a:lvl1pPr eaLnBrk="0" hangingPunct="0">
              <a:spcBef>
                <a:spcPct val="20000"/>
              </a:spcBef>
              <a:buChar char="•"/>
              <a:defRPr sz="2667">
                <a:solidFill>
                  <a:schemeClr val="tx1"/>
                </a:solidFill>
                <a:latin typeface="Times New Roman" panose="02020603050405020304" pitchFamily="18" charset="0"/>
              </a:defRPr>
            </a:lvl1pPr>
            <a:lvl2pPr marL="619100" indent="-238115" eaLnBrk="0" hangingPunct="0">
              <a:spcBef>
                <a:spcPct val="20000"/>
              </a:spcBef>
              <a:buChar char="–"/>
              <a:defRPr sz="2333">
                <a:solidFill>
                  <a:schemeClr val="tx1"/>
                </a:solidFill>
                <a:latin typeface="Times New Roman" panose="02020603050405020304" pitchFamily="18" charset="0"/>
              </a:defRPr>
            </a:lvl2pPr>
            <a:lvl3pPr marL="952462" indent="-190492" eaLnBrk="0" hangingPunct="0">
              <a:spcBef>
                <a:spcPct val="20000"/>
              </a:spcBef>
              <a:buChar char="•"/>
              <a:defRPr sz="2000">
                <a:solidFill>
                  <a:schemeClr val="tx1"/>
                </a:solidFill>
                <a:latin typeface="Times New Roman" panose="02020603050405020304" pitchFamily="18" charset="0"/>
              </a:defRPr>
            </a:lvl3pPr>
            <a:lvl4pPr marL="1333447" indent="-190492" eaLnBrk="0" hangingPunct="0">
              <a:spcBef>
                <a:spcPct val="20000"/>
              </a:spcBef>
              <a:buChar char="–"/>
              <a:defRPr sz="1667">
                <a:solidFill>
                  <a:schemeClr val="tx1"/>
                </a:solidFill>
                <a:latin typeface="Times New Roman" panose="02020603050405020304" pitchFamily="18" charset="0"/>
              </a:defRPr>
            </a:lvl4pPr>
            <a:lvl5pPr marL="1714431" indent="-190492" eaLnBrk="0" hangingPunct="0">
              <a:spcBef>
                <a:spcPct val="20000"/>
              </a:spcBef>
              <a:buChar char="»"/>
              <a:defRPr sz="1667">
                <a:solidFill>
                  <a:schemeClr val="tx1"/>
                </a:solidFill>
                <a:latin typeface="Times New Roman" panose="02020603050405020304" pitchFamily="18" charset="0"/>
              </a:defRPr>
            </a:lvl5pPr>
            <a:lvl6pPr marL="2095416" indent="-190492" eaLnBrk="0" fontAlgn="base" hangingPunct="0">
              <a:spcBef>
                <a:spcPct val="20000"/>
              </a:spcBef>
              <a:spcAft>
                <a:spcPct val="0"/>
              </a:spcAft>
              <a:buChar char="»"/>
              <a:defRPr sz="1667">
                <a:solidFill>
                  <a:schemeClr val="tx1"/>
                </a:solidFill>
                <a:latin typeface="Times New Roman" panose="02020603050405020304" pitchFamily="18" charset="0"/>
              </a:defRPr>
            </a:lvl6pPr>
            <a:lvl7pPr marL="2476401" indent="-190492" eaLnBrk="0" fontAlgn="base" hangingPunct="0">
              <a:spcBef>
                <a:spcPct val="20000"/>
              </a:spcBef>
              <a:spcAft>
                <a:spcPct val="0"/>
              </a:spcAft>
              <a:buChar char="»"/>
              <a:defRPr sz="1667">
                <a:solidFill>
                  <a:schemeClr val="tx1"/>
                </a:solidFill>
                <a:latin typeface="Times New Roman" panose="02020603050405020304" pitchFamily="18" charset="0"/>
              </a:defRPr>
            </a:lvl7pPr>
            <a:lvl8pPr marL="2857386" indent="-190492" eaLnBrk="0" fontAlgn="base" hangingPunct="0">
              <a:spcBef>
                <a:spcPct val="20000"/>
              </a:spcBef>
              <a:spcAft>
                <a:spcPct val="0"/>
              </a:spcAft>
              <a:buChar char="»"/>
              <a:defRPr sz="1667">
                <a:solidFill>
                  <a:schemeClr val="tx1"/>
                </a:solidFill>
                <a:latin typeface="Times New Roman" panose="02020603050405020304" pitchFamily="18" charset="0"/>
              </a:defRPr>
            </a:lvl8pPr>
            <a:lvl9pPr marL="3238370" indent="-190492" eaLnBrk="0" fontAlgn="base" hangingPunct="0">
              <a:spcBef>
                <a:spcPct val="20000"/>
              </a:spcBef>
              <a:spcAft>
                <a:spcPct val="0"/>
              </a:spcAft>
              <a:buChar char="»"/>
              <a:defRPr sz="1667">
                <a:solidFill>
                  <a:schemeClr val="tx1"/>
                </a:solidFill>
                <a:latin typeface="Times New Roman" panose="02020603050405020304" pitchFamily="18" charset="0"/>
              </a:defRPr>
            </a:lvl9pPr>
          </a:lstStyle>
          <a:p>
            <a:pPr eaLnBrk="1" hangingPunct="1">
              <a:spcBef>
                <a:spcPct val="0"/>
              </a:spcBef>
              <a:buFontTx/>
              <a:buNone/>
            </a:pPr>
            <a:fld id="{EB2EFE3B-ED98-4683-9C07-1B0BF2EDCC02}" type="slidenum">
              <a:rPr lang="en-GB" altLang="en-US" sz="1167"/>
              <a:pPr eaLnBrk="1" hangingPunct="1">
                <a:spcBef>
                  <a:spcPct val="0"/>
                </a:spcBef>
                <a:buFontTx/>
                <a:buNone/>
              </a:pPr>
              <a:t>9</a:t>
            </a:fld>
            <a:endParaRPr lang="en-GB" altLang="en-US" sz="1167"/>
          </a:p>
        </p:txBody>
      </p:sp>
      <mc:AlternateContent xmlns:mc="http://schemas.openxmlformats.org/markup-compatibility/2006" xmlns:a14="http://schemas.microsoft.com/office/drawing/2010/main">
        <mc:Choice Requires="a14">
          <p:sp>
            <p:nvSpPr>
              <p:cNvPr id="23556" name="Text Box 3"/>
              <p:cNvSpPr txBox="1">
                <a:spLocks noChangeArrowheads="1"/>
              </p:cNvSpPr>
              <p:nvPr/>
            </p:nvSpPr>
            <p:spPr bwMode="auto">
              <a:xfrm>
                <a:off x="914400" y="19651"/>
                <a:ext cx="7350393" cy="5699894"/>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sz="3200">
                    <a:solidFill>
                      <a:schemeClr val="tx1"/>
                    </a:solidFill>
                    <a:latin typeface="Times New Roman" panose="02020603050405020304" pitchFamily="18" charset="0"/>
                  </a:defRPr>
                </a:lvl1pPr>
                <a:lvl2pPr marL="742950" indent="-285750" eaLnBrk="0" hangingPunct="0">
                  <a:spcBef>
                    <a:spcPct val="20000"/>
                  </a:spcBef>
                  <a:buChar char="–"/>
                  <a:defRPr sz="2800">
                    <a:solidFill>
                      <a:schemeClr val="tx1"/>
                    </a:solidFill>
                    <a:latin typeface="Times New Roman" panose="02020603050405020304" pitchFamily="18" charset="0"/>
                  </a:defRPr>
                </a:lvl2pPr>
                <a:lvl3pPr marL="1143000" indent="-228600" eaLnBrk="0" hangingPunct="0">
                  <a:spcBef>
                    <a:spcPct val="20000"/>
                  </a:spcBef>
                  <a:buChar char="•"/>
                  <a:defRPr sz="2400">
                    <a:solidFill>
                      <a:schemeClr val="tx1"/>
                    </a:solidFill>
                    <a:latin typeface="Times New Roman" panose="02020603050405020304" pitchFamily="18" charset="0"/>
                  </a:defRPr>
                </a:lvl3pPr>
                <a:lvl4pPr marL="1600200" indent="-228600" eaLnBrk="0" hangingPunct="0">
                  <a:spcBef>
                    <a:spcPct val="20000"/>
                  </a:spcBef>
                  <a:buChar char="–"/>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GB" altLang="en-US" sz="3000" dirty="0">
                    <a:solidFill>
                      <a:srgbClr val="FFFF00"/>
                    </a:solidFill>
                    <a:latin typeface="Arial" panose="020B0604020202020204" pitchFamily="34" charset="0"/>
                  </a:rPr>
                  <a:t>The Chapman cycle is perturbed by other chemical species X.</a:t>
                </a:r>
              </a:p>
              <a:p>
                <a:pPr eaLnBrk="1" hangingPunct="1">
                  <a:spcBef>
                    <a:spcPct val="50000"/>
                  </a:spcBef>
                  <a:buFontTx/>
                  <a:buNone/>
                </a:pPr>
                <a:endParaRPr lang="en-GB" altLang="en-US" sz="1500" dirty="0">
                  <a:solidFill>
                    <a:schemeClr val="bg1"/>
                  </a:solidFill>
                  <a:latin typeface="Arial" panose="020B0604020202020204" pitchFamily="34" charset="0"/>
                </a:endParaRPr>
              </a:p>
              <a:p>
                <a:pPr algn="ctr" eaLnBrk="1" hangingPunct="1">
                  <a:spcBef>
                    <a:spcPct val="50000"/>
                  </a:spcBef>
                  <a:buFontTx/>
                  <a:buNone/>
                </a:pPr>
                <a:r>
                  <a:rPr lang="en-GB" altLang="en-US" sz="4000" dirty="0">
                    <a:solidFill>
                      <a:srgbClr val="FFC000"/>
                    </a:solidFill>
                    <a:latin typeface="Arial" panose="020B0604020202020204" pitchFamily="34" charset="0"/>
                  </a:rPr>
                  <a:t>O</a:t>
                </a:r>
                <a:r>
                  <a:rPr lang="en-US" altLang="en-US" sz="4000" baseline="-25000" dirty="0">
                    <a:solidFill>
                      <a:srgbClr val="FFC000"/>
                    </a:solidFill>
                    <a:latin typeface="Arial" panose="020B0604020202020204" pitchFamily="34" charset="0"/>
                  </a:rPr>
                  <a:t>3</a:t>
                </a:r>
                <a:r>
                  <a:rPr lang="en-US" altLang="en-US" sz="4000" dirty="0">
                    <a:solidFill>
                      <a:schemeClr val="bg1"/>
                    </a:solidFill>
                    <a:latin typeface="Arial" panose="020B0604020202020204" pitchFamily="34" charset="0"/>
                  </a:rPr>
                  <a:t> + X     →   XO + </a:t>
                </a:r>
                <a:r>
                  <a:rPr lang="en-US" altLang="en-US" sz="4000" dirty="0">
                    <a:solidFill>
                      <a:srgbClr val="FF9233"/>
                    </a:solidFill>
                    <a:latin typeface="Arial" panose="020B0604020202020204" pitchFamily="34" charset="0"/>
                  </a:rPr>
                  <a:t>O</a:t>
                </a:r>
                <a:r>
                  <a:rPr lang="en-US" altLang="en-US" sz="4000" baseline="-25000" dirty="0">
                    <a:solidFill>
                      <a:srgbClr val="FF9233"/>
                    </a:solidFill>
                    <a:latin typeface="Arial" panose="020B0604020202020204" pitchFamily="34" charset="0"/>
                  </a:rPr>
                  <a:t>2</a:t>
                </a:r>
                <a:endParaRPr lang="en-US" altLang="en-US" sz="4000" dirty="0">
                  <a:solidFill>
                    <a:srgbClr val="FF9233"/>
                  </a:solidFill>
                  <a:latin typeface="Arial" panose="020B0604020202020204" pitchFamily="34" charset="0"/>
                </a:endParaRPr>
              </a:p>
              <a:p>
                <a:pPr algn="ctr" eaLnBrk="1" hangingPunct="1">
                  <a:spcBef>
                    <a:spcPct val="50000"/>
                  </a:spcBef>
                  <a:buFontTx/>
                  <a:buNone/>
                </a:pPr>
                <a:r>
                  <a:rPr lang="en-US" altLang="en-US" sz="4000" dirty="0">
                    <a:solidFill>
                      <a:srgbClr val="FFC000"/>
                    </a:solidFill>
                    <a:latin typeface="Arial" panose="020B0604020202020204" pitchFamily="34" charset="0"/>
                  </a:rPr>
                  <a:t>O</a:t>
                </a:r>
                <a:r>
                  <a:rPr lang="en-US" altLang="en-US" sz="4000" baseline="-25000" dirty="0">
                    <a:solidFill>
                      <a:srgbClr val="FFC000"/>
                    </a:solidFill>
                    <a:latin typeface="Arial" panose="020B0604020202020204" pitchFamily="34" charset="0"/>
                  </a:rPr>
                  <a:t>3</a:t>
                </a:r>
                <a:r>
                  <a:rPr lang="en-US" altLang="en-US" sz="4000" baseline="-25000" dirty="0">
                    <a:solidFill>
                      <a:schemeClr val="bg1"/>
                    </a:solidFill>
                    <a:latin typeface="Arial" panose="020B0604020202020204" pitchFamily="34" charset="0"/>
                  </a:rPr>
                  <a:t> </a:t>
                </a:r>
                <a:r>
                  <a:rPr lang="en-US" altLang="en-US" sz="4000" dirty="0">
                    <a:solidFill>
                      <a:schemeClr val="bg1"/>
                    </a:solidFill>
                    <a:latin typeface="Arial" panose="020B0604020202020204" pitchFamily="34" charset="0"/>
                  </a:rPr>
                  <a:t>+ XO  → XO</a:t>
                </a:r>
                <a:r>
                  <a:rPr lang="en-US" altLang="en-US" sz="4000" baseline="-25000" dirty="0">
                    <a:solidFill>
                      <a:schemeClr val="bg1"/>
                    </a:solidFill>
                    <a:latin typeface="Arial" panose="020B0604020202020204" pitchFamily="34" charset="0"/>
                  </a:rPr>
                  <a:t>2</a:t>
                </a:r>
                <a:r>
                  <a:rPr lang="en-US" altLang="en-US" sz="4000" dirty="0">
                    <a:solidFill>
                      <a:schemeClr val="bg1"/>
                    </a:solidFill>
                    <a:latin typeface="Arial" panose="020B0604020202020204" pitchFamily="34" charset="0"/>
                  </a:rPr>
                  <a:t> + </a:t>
                </a:r>
                <a:r>
                  <a:rPr lang="en-US" altLang="en-US" sz="4000" dirty="0">
                    <a:solidFill>
                      <a:srgbClr val="FF9233"/>
                    </a:solidFill>
                    <a:latin typeface="Arial" panose="020B0604020202020204" pitchFamily="34" charset="0"/>
                  </a:rPr>
                  <a:t>O</a:t>
                </a:r>
                <a:r>
                  <a:rPr lang="en-US" altLang="en-US" sz="4000" baseline="-25000" dirty="0">
                    <a:solidFill>
                      <a:srgbClr val="FF9233"/>
                    </a:solidFill>
                    <a:latin typeface="Arial" panose="020B0604020202020204" pitchFamily="34" charset="0"/>
                  </a:rPr>
                  <a:t>2</a:t>
                </a:r>
              </a:p>
              <a:p>
                <a:pPr algn="ctr" eaLnBrk="1" hangingPunct="1">
                  <a:spcBef>
                    <a:spcPct val="50000"/>
                  </a:spcBef>
                  <a:buFontTx/>
                  <a:buNone/>
                </a:pPr>
                <a:r>
                  <a:rPr lang="en-US" altLang="en-US" sz="4000" dirty="0">
                    <a:solidFill>
                      <a:schemeClr val="bg1"/>
                    </a:solidFill>
                    <a:latin typeface="Arial" panose="020B0604020202020204" pitchFamily="34" charset="0"/>
                  </a:rPr>
                  <a:t>XO</a:t>
                </a:r>
                <a:r>
                  <a:rPr lang="en-US" altLang="en-US" sz="4000" baseline="-25000" dirty="0">
                    <a:solidFill>
                      <a:schemeClr val="bg1"/>
                    </a:solidFill>
                    <a:latin typeface="Arial" panose="020B0604020202020204" pitchFamily="34" charset="0"/>
                  </a:rPr>
                  <a:t>2</a:t>
                </a:r>
                <a:r>
                  <a:rPr lang="en-US" altLang="en-US" sz="4000" dirty="0">
                    <a:solidFill>
                      <a:schemeClr val="bg1"/>
                    </a:solidFill>
                    <a:latin typeface="Arial" panose="020B0604020202020204" pitchFamily="34" charset="0"/>
                  </a:rPr>
                  <a:t> + </a:t>
                </a:r>
                <a:r>
                  <a:rPr lang="en-US" altLang="en-US" sz="4000" dirty="0" err="1">
                    <a:solidFill>
                      <a:schemeClr val="bg1"/>
                    </a:solidFill>
                    <a:latin typeface="Arial" panose="020B0604020202020204" pitchFamily="34" charset="0"/>
                  </a:rPr>
                  <a:t>h</a:t>
                </a:r>
                <a14:m>
                  <m:oMath xmlns:m="http://schemas.openxmlformats.org/officeDocument/2006/math">
                    <m:r>
                      <a:rPr lang="en-US" altLang="en-US" sz="4500" i="1" dirty="0">
                        <a:solidFill>
                          <a:schemeClr val="bg1"/>
                        </a:solidFill>
                        <a:latin typeface="Cambria Math" panose="02040503050406030204" pitchFamily="18" charset="0"/>
                        <a:ea typeface="Cambria Math" panose="02040503050406030204" pitchFamily="18" charset="0"/>
                      </a:rPr>
                      <m:t>𝜐</m:t>
                    </m:r>
                  </m:oMath>
                </a14:m>
                <a:r>
                  <a:rPr lang="en-US" altLang="en-US" sz="4000" dirty="0">
                    <a:solidFill>
                      <a:schemeClr val="bg1"/>
                    </a:solidFill>
                    <a:latin typeface="Arial" panose="020B0604020202020204" pitchFamily="34" charset="0"/>
                  </a:rPr>
                  <a:t> →   X + </a:t>
                </a:r>
                <a:r>
                  <a:rPr lang="en-US" altLang="en-US" sz="4000" dirty="0">
                    <a:solidFill>
                      <a:srgbClr val="FF9233"/>
                    </a:solidFill>
                    <a:latin typeface="Arial" panose="020B0604020202020204" pitchFamily="34" charset="0"/>
                  </a:rPr>
                  <a:t>O</a:t>
                </a:r>
                <a:r>
                  <a:rPr lang="en-US" altLang="en-US" sz="4000" baseline="-25000" dirty="0">
                    <a:solidFill>
                      <a:srgbClr val="FF9233"/>
                    </a:solidFill>
                    <a:latin typeface="Arial" panose="020B0604020202020204" pitchFamily="34" charset="0"/>
                  </a:rPr>
                  <a:t>2</a:t>
                </a:r>
              </a:p>
              <a:p>
                <a:pPr eaLnBrk="1" hangingPunct="1">
                  <a:spcBef>
                    <a:spcPct val="50000"/>
                  </a:spcBef>
                  <a:buFontTx/>
                  <a:buNone/>
                </a:pPr>
                <a:endParaRPr lang="en-US" altLang="en-US" sz="3000" baseline="-25000" dirty="0">
                  <a:solidFill>
                    <a:schemeClr val="bg1"/>
                  </a:solidFill>
                  <a:latin typeface="Arial" panose="020B0604020202020204" pitchFamily="34" charset="0"/>
                </a:endParaRPr>
              </a:p>
              <a:p>
                <a:pPr eaLnBrk="1" hangingPunct="1">
                  <a:spcBef>
                    <a:spcPct val="50000"/>
                  </a:spcBef>
                  <a:buFontTx/>
                  <a:buNone/>
                </a:pPr>
                <a:r>
                  <a:rPr lang="en-US" altLang="en-US" sz="4000" dirty="0">
                    <a:solidFill>
                      <a:srgbClr val="FFFF00"/>
                    </a:solidFill>
                    <a:latin typeface="Arial" panose="020B0604020202020204" pitchFamily="34" charset="0"/>
                  </a:rPr>
                  <a:t>	   2</a:t>
                </a:r>
                <a:r>
                  <a:rPr lang="en-US" altLang="en-US" sz="4000" dirty="0">
                    <a:solidFill>
                      <a:schemeClr val="bg1"/>
                    </a:solidFill>
                    <a:latin typeface="Arial" panose="020B0604020202020204" pitchFamily="34" charset="0"/>
                  </a:rPr>
                  <a:t> </a:t>
                </a:r>
                <a:r>
                  <a:rPr lang="en-US" altLang="en-US" sz="4000" dirty="0">
                    <a:solidFill>
                      <a:srgbClr val="FFC000"/>
                    </a:solidFill>
                    <a:latin typeface="Arial" panose="020B0604020202020204" pitchFamily="34" charset="0"/>
                  </a:rPr>
                  <a:t>O</a:t>
                </a:r>
                <a:r>
                  <a:rPr lang="en-US" altLang="en-US" sz="4000" baseline="-25000" dirty="0">
                    <a:solidFill>
                      <a:srgbClr val="FFC000"/>
                    </a:solidFill>
                    <a:latin typeface="Arial" panose="020B0604020202020204" pitchFamily="34" charset="0"/>
                  </a:rPr>
                  <a:t>3</a:t>
                </a:r>
                <a:r>
                  <a:rPr lang="en-US" altLang="en-US" sz="4000" baseline="-25000" dirty="0">
                    <a:solidFill>
                      <a:schemeClr val="accent4">
                        <a:lumMod val="60000"/>
                        <a:lumOff val="40000"/>
                      </a:schemeClr>
                    </a:solidFill>
                    <a:latin typeface="Arial" panose="020B0604020202020204" pitchFamily="34" charset="0"/>
                  </a:rPr>
                  <a:t> </a:t>
                </a:r>
                <a:r>
                  <a:rPr lang="en-US" altLang="en-US" sz="4000" dirty="0">
                    <a:solidFill>
                      <a:schemeClr val="bg1"/>
                    </a:solidFill>
                    <a:latin typeface="Arial" panose="020B0604020202020204" pitchFamily="34" charset="0"/>
                  </a:rPr>
                  <a:t>+ h</a:t>
                </a:r>
                <a14:m>
                  <m:oMath xmlns:m="http://schemas.openxmlformats.org/officeDocument/2006/math">
                    <m:r>
                      <a:rPr lang="en-US" altLang="en-US" sz="4500" i="1" dirty="0">
                        <a:solidFill>
                          <a:schemeClr val="bg1"/>
                        </a:solidFill>
                        <a:latin typeface="Cambria Math" panose="02040503050406030204" pitchFamily="18" charset="0"/>
                        <a:ea typeface="Cambria Math" panose="02040503050406030204" pitchFamily="18" charset="0"/>
                      </a:rPr>
                      <m:t>𝜐</m:t>
                    </m:r>
                  </m:oMath>
                </a14:m>
                <a:r>
                  <a:rPr lang="en-US" altLang="en-US" sz="4000" dirty="0">
                    <a:solidFill>
                      <a:schemeClr val="bg1"/>
                    </a:solidFill>
                    <a:latin typeface="Arial" panose="020B0604020202020204" pitchFamily="34" charset="0"/>
                  </a:rPr>
                  <a:t> →</a:t>
                </a:r>
                <a:r>
                  <a:rPr lang="en-US" altLang="en-US" sz="4000" dirty="0">
                    <a:solidFill>
                      <a:srgbClr val="FFFF00"/>
                    </a:solidFill>
                    <a:latin typeface="Arial" panose="020B0604020202020204" pitchFamily="34" charset="0"/>
                  </a:rPr>
                  <a:t> 3</a:t>
                </a:r>
                <a:r>
                  <a:rPr lang="en-US" altLang="en-US" sz="4000" dirty="0">
                    <a:solidFill>
                      <a:schemeClr val="accent2">
                        <a:lumMod val="60000"/>
                        <a:lumOff val="40000"/>
                      </a:schemeClr>
                    </a:solidFill>
                    <a:latin typeface="Arial" panose="020B0604020202020204" pitchFamily="34" charset="0"/>
                  </a:rPr>
                  <a:t> </a:t>
                </a:r>
                <a:r>
                  <a:rPr lang="en-US" altLang="en-US" sz="4000" dirty="0">
                    <a:solidFill>
                      <a:srgbClr val="FF9233"/>
                    </a:solidFill>
                    <a:latin typeface="Arial" panose="020B0604020202020204" pitchFamily="34" charset="0"/>
                  </a:rPr>
                  <a:t>O</a:t>
                </a:r>
                <a:r>
                  <a:rPr lang="en-US" altLang="en-US" sz="4000" baseline="-25000" dirty="0">
                    <a:solidFill>
                      <a:srgbClr val="FF9233"/>
                    </a:solidFill>
                    <a:latin typeface="Arial" panose="020B0604020202020204" pitchFamily="34" charset="0"/>
                  </a:rPr>
                  <a:t>2</a:t>
                </a:r>
                <a:r>
                  <a:rPr lang="en-US" altLang="en-US" sz="4000" baseline="-25000" dirty="0">
                    <a:solidFill>
                      <a:schemeClr val="accent2">
                        <a:lumMod val="60000"/>
                        <a:lumOff val="40000"/>
                      </a:schemeClr>
                    </a:solidFill>
                    <a:latin typeface="Arial" panose="020B0604020202020204" pitchFamily="34" charset="0"/>
                  </a:rPr>
                  <a:t>        </a:t>
                </a:r>
                <a:r>
                  <a:rPr lang="en-US" altLang="en-US" sz="4000" dirty="0">
                    <a:solidFill>
                      <a:schemeClr val="accent2">
                        <a:lumMod val="60000"/>
                        <a:lumOff val="40000"/>
                      </a:schemeClr>
                    </a:solidFill>
                    <a:latin typeface="Arial" panose="020B0604020202020204" pitchFamily="34" charset="0"/>
                  </a:rPr>
                  <a:t> </a:t>
                </a:r>
                <a:r>
                  <a:rPr lang="en-US" altLang="en-US" sz="4000" dirty="0">
                    <a:solidFill>
                      <a:srgbClr val="FFFF00"/>
                    </a:solidFill>
                    <a:latin typeface="Arial" panose="020B0604020202020204" pitchFamily="34" charset="0"/>
                  </a:rPr>
                  <a:t>Net</a:t>
                </a:r>
                <a:endParaRPr lang="en-US" altLang="en-US" sz="1500" dirty="0">
                  <a:solidFill>
                    <a:srgbClr val="FFFF00"/>
                  </a:solidFill>
                  <a:latin typeface="Arial" panose="020B0604020202020204" pitchFamily="34" charset="0"/>
                </a:endParaRPr>
              </a:p>
            </p:txBody>
          </p:sp>
        </mc:Choice>
        <mc:Fallback xmlns="">
          <p:sp>
            <p:nvSpPr>
              <p:cNvPr id="23556" name="Text Box 3"/>
              <p:cNvSpPr txBox="1">
                <a:spLocks noRot="1" noChangeAspect="1" noMove="1" noResize="1" noEditPoints="1" noAdjustHandles="1" noChangeArrowheads="1" noChangeShapeType="1" noTextEdit="1"/>
              </p:cNvSpPr>
              <p:nvPr/>
            </p:nvSpPr>
            <p:spPr bwMode="auto">
              <a:xfrm>
                <a:off x="914400" y="19651"/>
                <a:ext cx="7350393" cy="5699894"/>
              </a:xfrm>
              <a:prstGeom prst="rect">
                <a:avLst/>
              </a:prstGeom>
              <a:blipFill>
                <a:blip r:embed="rId3"/>
                <a:stretch>
                  <a:fillRect l="-2073" t="-1114" r="-691" b="-334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2" name="Left Brace 1">
            <a:extLst>
              <a:ext uri="{FF2B5EF4-FFF2-40B4-BE49-F238E27FC236}">
                <a16:creationId xmlns:a16="http://schemas.microsoft.com/office/drawing/2014/main" id="{E0364360-F273-BF48-A364-B613E6F79CB9}"/>
              </a:ext>
            </a:extLst>
          </p:cNvPr>
          <p:cNvSpPr/>
          <p:nvPr/>
        </p:nvSpPr>
        <p:spPr>
          <a:xfrm>
            <a:off x="1391647" y="1597360"/>
            <a:ext cx="840093" cy="2580287"/>
          </a:xfrm>
          <a:prstGeom prst="leftBrace">
            <a:avLst>
              <a:gd name="adj1" fmla="val 8333"/>
              <a:gd name="adj2" fmla="val 51641"/>
            </a:avLst>
          </a:prstGeom>
          <a:noFill/>
          <a:ln w="571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a:p>
        </p:txBody>
      </p:sp>
    </p:spTree>
    <p:extLst>
      <p:ext uri="{BB962C8B-B14F-4D97-AF65-F5344CB8AC3E}">
        <p14:creationId xmlns:p14="http://schemas.microsoft.com/office/powerpoint/2010/main" val="34627363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3555" name="Slide Number Placeholder 3"/>
          <p:cNvSpPr>
            <a:spLocks noGrp="1"/>
          </p:cNvSpPr>
          <p:nvPr>
            <p:ph type="sldNum" sz="quarter" idx="4294967295"/>
          </p:nvPr>
        </p:nvSpPr>
        <p:spPr>
          <a:xfrm>
            <a:off x="6143625" y="5296960"/>
            <a:ext cx="1714500" cy="304271"/>
          </a:xfrm>
          <a:noFill/>
        </p:spPr>
        <p:txBody>
          <a:bodyPr/>
          <a:lstStyle>
            <a:lvl1pPr eaLnBrk="0" hangingPunct="0">
              <a:spcBef>
                <a:spcPct val="20000"/>
              </a:spcBef>
              <a:buChar char="•"/>
              <a:defRPr sz="2667">
                <a:solidFill>
                  <a:schemeClr val="tx1"/>
                </a:solidFill>
                <a:latin typeface="Times New Roman" panose="02020603050405020304" pitchFamily="18" charset="0"/>
              </a:defRPr>
            </a:lvl1pPr>
            <a:lvl2pPr marL="619100" indent="-238115" eaLnBrk="0" hangingPunct="0">
              <a:spcBef>
                <a:spcPct val="20000"/>
              </a:spcBef>
              <a:buChar char="–"/>
              <a:defRPr sz="2333">
                <a:solidFill>
                  <a:schemeClr val="tx1"/>
                </a:solidFill>
                <a:latin typeface="Times New Roman" panose="02020603050405020304" pitchFamily="18" charset="0"/>
              </a:defRPr>
            </a:lvl2pPr>
            <a:lvl3pPr marL="952462" indent="-190492" eaLnBrk="0" hangingPunct="0">
              <a:spcBef>
                <a:spcPct val="20000"/>
              </a:spcBef>
              <a:buChar char="•"/>
              <a:defRPr sz="2000">
                <a:solidFill>
                  <a:schemeClr val="tx1"/>
                </a:solidFill>
                <a:latin typeface="Times New Roman" panose="02020603050405020304" pitchFamily="18" charset="0"/>
              </a:defRPr>
            </a:lvl3pPr>
            <a:lvl4pPr marL="1333447" indent="-190492" eaLnBrk="0" hangingPunct="0">
              <a:spcBef>
                <a:spcPct val="20000"/>
              </a:spcBef>
              <a:buChar char="–"/>
              <a:defRPr sz="1667">
                <a:solidFill>
                  <a:schemeClr val="tx1"/>
                </a:solidFill>
                <a:latin typeface="Times New Roman" panose="02020603050405020304" pitchFamily="18" charset="0"/>
              </a:defRPr>
            </a:lvl4pPr>
            <a:lvl5pPr marL="1714431" indent="-190492" eaLnBrk="0" hangingPunct="0">
              <a:spcBef>
                <a:spcPct val="20000"/>
              </a:spcBef>
              <a:buChar char="»"/>
              <a:defRPr sz="1667">
                <a:solidFill>
                  <a:schemeClr val="tx1"/>
                </a:solidFill>
                <a:latin typeface="Times New Roman" panose="02020603050405020304" pitchFamily="18" charset="0"/>
              </a:defRPr>
            </a:lvl5pPr>
            <a:lvl6pPr marL="2095416" indent="-190492" eaLnBrk="0" fontAlgn="base" hangingPunct="0">
              <a:spcBef>
                <a:spcPct val="20000"/>
              </a:spcBef>
              <a:spcAft>
                <a:spcPct val="0"/>
              </a:spcAft>
              <a:buChar char="»"/>
              <a:defRPr sz="1667">
                <a:solidFill>
                  <a:schemeClr val="tx1"/>
                </a:solidFill>
                <a:latin typeface="Times New Roman" panose="02020603050405020304" pitchFamily="18" charset="0"/>
              </a:defRPr>
            </a:lvl6pPr>
            <a:lvl7pPr marL="2476401" indent="-190492" eaLnBrk="0" fontAlgn="base" hangingPunct="0">
              <a:spcBef>
                <a:spcPct val="20000"/>
              </a:spcBef>
              <a:spcAft>
                <a:spcPct val="0"/>
              </a:spcAft>
              <a:buChar char="»"/>
              <a:defRPr sz="1667">
                <a:solidFill>
                  <a:schemeClr val="tx1"/>
                </a:solidFill>
                <a:latin typeface="Times New Roman" panose="02020603050405020304" pitchFamily="18" charset="0"/>
              </a:defRPr>
            </a:lvl7pPr>
            <a:lvl8pPr marL="2857386" indent="-190492" eaLnBrk="0" fontAlgn="base" hangingPunct="0">
              <a:spcBef>
                <a:spcPct val="20000"/>
              </a:spcBef>
              <a:spcAft>
                <a:spcPct val="0"/>
              </a:spcAft>
              <a:buChar char="»"/>
              <a:defRPr sz="1667">
                <a:solidFill>
                  <a:schemeClr val="tx1"/>
                </a:solidFill>
                <a:latin typeface="Times New Roman" panose="02020603050405020304" pitchFamily="18" charset="0"/>
              </a:defRPr>
            </a:lvl8pPr>
            <a:lvl9pPr marL="3238370" indent="-190492" eaLnBrk="0" fontAlgn="base" hangingPunct="0">
              <a:spcBef>
                <a:spcPct val="20000"/>
              </a:spcBef>
              <a:spcAft>
                <a:spcPct val="0"/>
              </a:spcAft>
              <a:buChar char="»"/>
              <a:defRPr sz="1667">
                <a:solidFill>
                  <a:schemeClr val="tx1"/>
                </a:solidFill>
                <a:latin typeface="Times New Roman" panose="02020603050405020304" pitchFamily="18" charset="0"/>
              </a:defRPr>
            </a:lvl9pPr>
          </a:lstStyle>
          <a:p>
            <a:pPr eaLnBrk="1" hangingPunct="1">
              <a:spcBef>
                <a:spcPct val="0"/>
              </a:spcBef>
              <a:buFontTx/>
              <a:buNone/>
            </a:pPr>
            <a:fld id="{EB2EFE3B-ED98-4683-9C07-1B0BF2EDCC02}" type="slidenum">
              <a:rPr lang="en-GB" altLang="en-US" sz="1167"/>
              <a:pPr eaLnBrk="1" hangingPunct="1">
                <a:spcBef>
                  <a:spcPct val="0"/>
                </a:spcBef>
                <a:buFontTx/>
                <a:buNone/>
              </a:pPr>
              <a:t>10</a:t>
            </a:fld>
            <a:endParaRPr lang="en-GB" altLang="en-US" sz="1167"/>
          </a:p>
        </p:txBody>
      </p:sp>
      <mc:AlternateContent xmlns:mc="http://schemas.openxmlformats.org/markup-compatibility/2006" xmlns:a14="http://schemas.microsoft.com/office/drawing/2010/main">
        <mc:Choice Requires="a14">
          <p:sp>
            <p:nvSpPr>
              <p:cNvPr id="23556" name="Text Box 3"/>
              <p:cNvSpPr txBox="1">
                <a:spLocks noChangeArrowheads="1"/>
              </p:cNvSpPr>
              <p:nvPr/>
            </p:nvSpPr>
            <p:spPr bwMode="auto">
              <a:xfrm>
                <a:off x="914400" y="19651"/>
                <a:ext cx="7350393" cy="5699894"/>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sz="3200">
                    <a:solidFill>
                      <a:schemeClr val="tx1"/>
                    </a:solidFill>
                    <a:latin typeface="Times New Roman" panose="02020603050405020304" pitchFamily="18" charset="0"/>
                  </a:defRPr>
                </a:lvl1pPr>
                <a:lvl2pPr marL="742950" indent="-285750" eaLnBrk="0" hangingPunct="0">
                  <a:spcBef>
                    <a:spcPct val="20000"/>
                  </a:spcBef>
                  <a:buChar char="–"/>
                  <a:defRPr sz="2800">
                    <a:solidFill>
                      <a:schemeClr val="tx1"/>
                    </a:solidFill>
                    <a:latin typeface="Times New Roman" panose="02020603050405020304" pitchFamily="18" charset="0"/>
                  </a:defRPr>
                </a:lvl2pPr>
                <a:lvl3pPr marL="1143000" indent="-228600" eaLnBrk="0" hangingPunct="0">
                  <a:spcBef>
                    <a:spcPct val="20000"/>
                  </a:spcBef>
                  <a:buChar char="•"/>
                  <a:defRPr sz="2400">
                    <a:solidFill>
                      <a:schemeClr val="tx1"/>
                    </a:solidFill>
                    <a:latin typeface="Times New Roman" panose="02020603050405020304" pitchFamily="18" charset="0"/>
                  </a:defRPr>
                </a:lvl3pPr>
                <a:lvl4pPr marL="1600200" indent="-228600" eaLnBrk="0" hangingPunct="0">
                  <a:spcBef>
                    <a:spcPct val="20000"/>
                  </a:spcBef>
                  <a:buChar char="–"/>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GB" altLang="en-US" sz="3000" dirty="0">
                    <a:solidFill>
                      <a:srgbClr val="FFFF00"/>
                    </a:solidFill>
                    <a:latin typeface="Arial" panose="020B0604020202020204" pitchFamily="34" charset="0"/>
                  </a:rPr>
                  <a:t>The Chapman cycle is perturbed by other chemical species X.</a:t>
                </a:r>
              </a:p>
              <a:p>
                <a:pPr eaLnBrk="1" hangingPunct="1">
                  <a:spcBef>
                    <a:spcPct val="50000"/>
                  </a:spcBef>
                  <a:buFontTx/>
                  <a:buNone/>
                </a:pPr>
                <a:endParaRPr lang="en-GB" altLang="en-US" sz="1500" dirty="0">
                  <a:solidFill>
                    <a:schemeClr val="bg1"/>
                  </a:solidFill>
                  <a:latin typeface="Arial" panose="020B0604020202020204" pitchFamily="34" charset="0"/>
                </a:endParaRPr>
              </a:p>
              <a:p>
                <a:pPr algn="ctr" eaLnBrk="1" hangingPunct="1">
                  <a:spcBef>
                    <a:spcPct val="50000"/>
                  </a:spcBef>
                  <a:buFontTx/>
                  <a:buNone/>
                </a:pPr>
                <a:r>
                  <a:rPr lang="en-GB" altLang="en-US" sz="4000" dirty="0">
                    <a:solidFill>
                      <a:srgbClr val="FFC000"/>
                    </a:solidFill>
                    <a:latin typeface="Arial" panose="020B0604020202020204" pitchFamily="34" charset="0"/>
                  </a:rPr>
                  <a:t>O</a:t>
                </a:r>
                <a:r>
                  <a:rPr lang="en-US" altLang="en-US" sz="4000" baseline="-25000" dirty="0">
                    <a:solidFill>
                      <a:srgbClr val="FFC000"/>
                    </a:solidFill>
                    <a:latin typeface="Arial" panose="020B0604020202020204" pitchFamily="34" charset="0"/>
                  </a:rPr>
                  <a:t>3</a:t>
                </a:r>
                <a:r>
                  <a:rPr lang="en-US" altLang="en-US" sz="4000" dirty="0">
                    <a:solidFill>
                      <a:schemeClr val="bg1"/>
                    </a:solidFill>
                    <a:latin typeface="Arial" panose="020B0604020202020204" pitchFamily="34" charset="0"/>
                  </a:rPr>
                  <a:t> + X     →   X</a:t>
                </a:r>
                <a:r>
                  <a:rPr lang="en-US" altLang="en-US" sz="4000" dirty="0">
                    <a:solidFill>
                      <a:srgbClr val="00B0F0"/>
                    </a:solidFill>
                    <a:latin typeface="Arial" panose="020B0604020202020204" pitchFamily="34" charset="0"/>
                  </a:rPr>
                  <a:t>O</a:t>
                </a:r>
                <a:r>
                  <a:rPr lang="en-US" altLang="en-US" sz="4000" dirty="0">
                    <a:solidFill>
                      <a:schemeClr val="bg1"/>
                    </a:solidFill>
                    <a:latin typeface="Arial" panose="020B0604020202020204" pitchFamily="34" charset="0"/>
                  </a:rPr>
                  <a:t> + </a:t>
                </a:r>
                <a:r>
                  <a:rPr lang="en-US" altLang="en-US" sz="4000" dirty="0">
                    <a:solidFill>
                      <a:srgbClr val="FF9233"/>
                    </a:solidFill>
                    <a:latin typeface="Arial" panose="020B0604020202020204" pitchFamily="34" charset="0"/>
                  </a:rPr>
                  <a:t>O</a:t>
                </a:r>
                <a:r>
                  <a:rPr lang="en-US" altLang="en-US" sz="4000" baseline="-25000" dirty="0">
                    <a:solidFill>
                      <a:srgbClr val="FF9233"/>
                    </a:solidFill>
                    <a:latin typeface="Arial" panose="020B0604020202020204" pitchFamily="34" charset="0"/>
                  </a:rPr>
                  <a:t>2</a:t>
                </a:r>
                <a:endParaRPr lang="en-US" altLang="en-US" sz="4000" dirty="0">
                  <a:solidFill>
                    <a:srgbClr val="FF9233"/>
                  </a:solidFill>
                  <a:latin typeface="Arial" panose="020B0604020202020204" pitchFamily="34" charset="0"/>
                </a:endParaRPr>
              </a:p>
              <a:p>
                <a:pPr algn="ctr" eaLnBrk="1" hangingPunct="1">
                  <a:spcBef>
                    <a:spcPct val="50000"/>
                  </a:spcBef>
                  <a:buFontTx/>
                  <a:buNone/>
                </a:pPr>
                <a:r>
                  <a:rPr lang="en-US" altLang="en-US" sz="4000" dirty="0">
                    <a:solidFill>
                      <a:srgbClr val="FFC000"/>
                    </a:solidFill>
                    <a:latin typeface="Arial" panose="020B0604020202020204" pitchFamily="34" charset="0"/>
                  </a:rPr>
                  <a:t>O</a:t>
                </a:r>
                <a:r>
                  <a:rPr lang="en-US" altLang="en-US" sz="4000" baseline="-25000" dirty="0">
                    <a:solidFill>
                      <a:srgbClr val="FFC000"/>
                    </a:solidFill>
                    <a:latin typeface="Arial" panose="020B0604020202020204" pitchFamily="34" charset="0"/>
                  </a:rPr>
                  <a:t>3</a:t>
                </a:r>
                <a:r>
                  <a:rPr lang="en-US" altLang="en-US" sz="4000" baseline="-25000" dirty="0">
                    <a:solidFill>
                      <a:schemeClr val="bg1"/>
                    </a:solidFill>
                    <a:latin typeface="Arial" panose="020B0604020202020204" pitchFamily="34" charset="0"/>
                  </a:rPr>
                  <a:t> </a:t>
                </a:r>
                <a:r>
                  <a:rPr lang="en-US" altLang="en-US" sz="4000" dirty="0">
                    <a:solidFill>
                      <a:schemeClr val="bg1"/>
                    </a:solidFill>
                    <a:latin typeface="Arial" panose="020B0604020202020204" pitchFamily="34" charset="0"/>
                  </a:rPr>
                  <a:t>+ X</a:t>
                </a:r>
                <a:r>
                  <a:rPr lang="en-US" altLang="en-US" sz="4000" dirty="0">
                    <a:solidFill>
                      <a:srgbClr val="00B0F0"/>
                    </a:solidFill>
                    <a:latin typeface="Arial" panose="020B0604020202020204" pitchFamily="34" charset="0"/>
                  </a:rPr>
                  <a:t>O</a:t>
                </a:r>
                <a:r>
                  <a:rPr lang="en-US" altLang="en-US" sz="4000" dirty="0">
                    <a:solidFill>
                      <a:schemeClr val="bg1"/>
                    </a:solidFill>
                    <a:latin typeface="Arial" panose="020B0604020202020204" pitchFamily="34" charset="0"/>
                  </a:rPr>
                  <a:t>  → XO</a:t>
                </a:r>
                <a:r>
                  <a:rPr lang="en-US" altLang="en-US" sz="4000" baseline="-25000" dirty="0">
                    <a:solidFill>
                      <a:schemeClr val="bg1"/>
                    </a:solidFill>
                    <a:latin typeface="Arial" panose="020B0604020202020204" pitchFamily="34" charset="0"/>
                  </a:rPr>
                  <a:t>2</a:t>
                </a:r>
                <a:r>
                  <a:rPr lang="en-US" altLang="en-US" sz="4000" dirty="0">
                    <a:solidFill>
                      <a:schemeClr val="bg1"/>
                    </a:solidFill>
                    <a:latin typeface="Arial" panose="020B0604020202020204" pitchFamily="34" charset="0"/>
                  </a:rPr>
                  <a:t> + </a:t>
                </a:r>
                <a:r>
                  <a:rPr lang="en-US" altLang="en-US" sz="4000" dirty="0">
                    <a:solidFill>
                      <a:srgbClr val="FF9233"/>
                    </a:solidFill>
                    <a:latin typeface="Arial" panose="020B0604020202020204" pitchFamily="34" charset="0"/>
                  </a:rPr>
                  <a:t>O</a:t>
                </a:r>
                <a:r>
                  <a:rPr lang="en-US" altLang="en-US" sz="4000" baseline="-25000" dirty="0">
                    <a:solidFill>
                      <a:srgbClr val="FF9233"/>
                    </a:solidFill>
                    <a:latin typeface="Arial" panose="020B0604020202020204" pitchFamily="34" charset="0"/>
                  </a:rPr>
                  <a:t>2</a:t>
                </a:r>
              </a:p>
              <a:p>
                <a:pPr algn="ctr" eaLnBrk="1" hangingPunct="1">
                  <a:spcBef>
                    <a:spcPct val="50000"/>
                  </a:spcBef>
                  <a:buFontTx/>
                  <a:buNone/>
                </a:pPr>
                <a:r>
                  <a:rPr lang="en-US" altLang="en-US" sz="4000" dirty="0">
                    <a:solidFill>
                      <a:schemeClr val="bg1"/>
                    </a:solidFill>
                    <a:latin typeface="Arial" panose="020B0604020202020204" pitchFamily="34" charset="0"/>
                  </a:rPr>
                  <a:t>XO</a:t>
                </a:r>
                <a:r>
                  <a:rPr lang="en-US" altLang="en-US" sz="4000" baseline="-25000" dirty="0">
                    <a:solidFill>
                      <a:schemeClr val="bg1"/>
                    </a:solidFill>
                    <a:latin typeface="Arial" panose="020B0604020202020204" pitchFamily="34" charset="0"/>
                  </a:rPr>
                  <a:t>2</a:t>
                </a:r>
                <a:r>
                  <a:rPr lang="en-US" altLang="en-US" sz="4000" dirty="0">
                    <a:solidFill>
                      <a:schemeClr val="bg1"/>
                    </a:solidFill>
                    <a:latin typeface="Arial" panose="020B0604020202020204" pitchFamily="34" charset="0"/>
                  </a:rPr>
                  <a:t> + </a:t>
                </a:r>
                <a:r>
                  <a:rPr lang="en-US" altLang="en-US" sz="4000" dirty="0" err="1">
                    <a:solidFill>
                      <a:schemeClr val="bg1"/>
                    </a:solidFill>
                    <a:latin typeface="Arial" panose="020B0604020202020204" pitchFamily="34" charset="0"/>
                  </a:rPr>
                  <a:t>h</a:t>
                </a:r>
                <a14:m>
                  <m:oMath xmlns:m="http://schemas.openxmlformats.org/officeDocument/2006/math">
                    <m:r>
                      <a:rPr lang="en-US" altLang="en-US" sz="4500" i="1" dirty="0">
                        <a:solidFill>
                          <a:schemeClr val="bg1"/>
                        </a:solidFill>
                        <a:latin typeface="Cambria Math" panose="02040503050406030204" pitchFamily="18" charset="0"/>
                        <a:ea typeface="Cambria Math" panose="02040503050406030204" pitchFamily="18" charset="0"/>
                      </a:rPr>
                      <m:t>𝜐</m:t>
                    </m:r>
                  </m:oMath>
                </a14:m>
                <a:r>
                  <a:rPr lang="en-US" altLang="en-US" sz="4000" dirty="0">
                    <a:solidFill>
                      <a:schemeClr val="bg1"/>
                    </a:solidFill>
                    <a:latin typeface="Arial" panose="020B0604020202020204" pitchFamily="34" charset="0"/>
                  </a:rPr>
                  <a:t> →   X + </a:t>
                </a:r>
                <a:r>
                  <a:rPr lang="en-US" altLang="en-US" sz="4000" dirty="0">
                    <a:solidFill>
                      <a:srgbClr val="FF9233"/>
                    </a:solidFill>
                    <a:latin typeface="Arial" panose="020B0604020202020204" pitchFamily="34" charset="0"/>
                  </a:rPr>
                  <a:t>O</a:t>
                </a:r>
                <a:r>
                  <a:rPr lang="en-US" altLang="en-US" sz="4000" baseline="-25000" dirty="0">
                    <a:solidFill>
                      <a:srgbClr val="FF9233"/>
                    </a:solidFill>
                    <a:latin typeface="Arial" panose="020B0604020202020204" pitchFamily="34" charset="0"/>
                  </a:rPr>
                  <a:t>2</a:t>
                </a:r>
              </a:p>
              <a:p>
                <a:pPr eaLnBrk="1" hangingPunct="1">
                  <a:spcBef>
                    <a:spcPct val="50000"/>
                  </a:spcBef>
                  <a:buFontTx/>
                  <a:buNone/>
                </a:pPr>
                <a:endParaRPr lang="en-US" altLang="en-US" sz="3000" baseline="-25000" dirty="0">
                  <a:solidFill>
                    <a:schemeClr val="bg1"/>
                  </a:solidFill>
                  <a:latin typeface="Arial" panose="020B0604020202020204" pitchFamily="34" charset="0"/>
                </a:endParaRPr>
              </a:p>
              <a:p>
                <a:pPr eaLnBrk="1" hangingPunct="1">
                  <a:spcBef>
                    <a:spcPct val="50000"/>
                  </a:spcBef>
                  <a:buFontTx/>
                  <a:buNone/>
                </a:pPr>
                <a:r>
                  <a:rPr lang="en-US" altLang="en-US" sz="4000" dirty="0">
                    <a:solidFill>
                      <a:srgbClr val="FFFF00"/>
                    </a:solidFill>
                    <a:latin typeface="Arial" panose="020B0604020202020204" pitchFamily="34" charset="0"/>
                  </a:rPr>
                  <a:t>	   2</a:t>
                </a:r>
                <a:r>
                  <a:rPr lang="en-US" altLang="en-US" sz="4000" dirty="0">
                    <a:solidFill>
                      <a:schemeClr val="bg1"/>
                    </a:solidFill>
                    <a:latin typeface="Arial" panose="020B0604020202020204" pitchFamily="34" charset="0"/>
                  </a:rPr>
                  <a:t> </a:t>
                </a:r>
                <a:r>
                  <a:rPr lang="en-US" altLang="en-US" sz="4000" dirty="0">
                    <a:solidFill>
                      <a:srgbClr val="FFC000"/>
                    </a:solidFill>
                    <a:latin typeface="Arial" panose="020B0604020202020204" pitchFamily="34" charset="0"/>
                  </a:rPr>
                  <a:t>O</a:t>
                </a:r>
                <a:r>
                  <a:rPr lang="en-US" altLang="en-US" sz="4000" baseline="-25000" dirty="0">
                    <a:solidFill>
                      <a:srgbClr val="FFC000"/>
                    </a:solidFill>
                    <a:latin typeface="Arial" panose="020B0604020202020204" pitchFamily="34" charset="0"/>
                  </a:rPr>
                  <a:t>3</a:t>
                </a:r>
                <a:r>
                  <a:rPr lang="en-US" altLang="en-US" sz="4000" baseline="-25000" dirty="0">
                    <a:solidFill>
                      <a:schemeClr val="accent4">
                        <a:lumMod val="60000"/>
                        <a:lumOff val="40000"/>
                      </a:schemeClr>
                    </a:solidFill>
                    <a:latin typeface="Arial" panose="020B0604020202020204" pitchFamily="34" charset="0"/>
                  </a:rPr>
                  <a:t> </a:t>
                </a:r>
                <a:r>
                  <a:rPr lang="en-US" altLang="en-US" sz="4000" dirty="0">
                    <a:solidFill>
                      <a:schemeClr val="bg1"/>
                    </a:solidFill>
                    <a:latin typeface="Arial" panose="020B0604020202020204" pitchFamily="34" charset="0"/>
                  </a:rPr>
                  <a:t>+ h</a:t>
                </a:r>
                <a14:m>
                  <m:oMath xmlns:m="http://schemas.openxmlformats.org/officeDocument/2006/math">
                    <m:r>
                      <a:rPr lang="en-US" altLang="en-US" sz="4500" i="1" dirty="0">
                        <a:solidFill>
                          <a:schemeClr val="bg1"/>
                        </a:solidFill>
                        <a:latin typeface="Cambria Math" panose="02040503050406030204" pitchFamily="18" charset="0"/>
                        <a:ea typeface="Cambria Math" panose="02040503050406030204" pitchFamily="18" charset="0"/>
                      </a:rPr>
                      <m:t>𝜐</m:t>
                    </m:r>
                  </m:oMath>
                </a14:m>
                <a:r>
                  <a:rPr lang="en-US" altLang="en-US" sz="4000" dirty="0">
                    <a:solidFill>
                      <a:schemeClr val="bg1"/>
                    </a:solidFill>
                    <a:latin typeface="Arial" panose="020B0604020202020204" pitchFamily="34" charset="0"/>
                  </a:rPr>
                  <a:t> →</a:t>
                </a:r>
                <a:r>
                  <a:rPr lang="en-US" altLang="en-US" sz="4000" dirty="0">
                    <a:solidFill>
                      <a:srgbClr val="FFFF00"/>
                    </a:solidFill>
                    <a:latin typeface="Arial" panose="020B0604020202020204" pitchFamily="34" charset="0"/>
                  </a:rPr>
                  <a:t> 3</a:t>
                </a:r>
                <a:r>
                  <a:rPr lang="en-US" altLang="en-US" sz="4000" dirty="0">
                    <a:solidFill>
                      <a:schemeClr val="accent2">
                        <a:lumMod val="60000"/>
                        <a:lumOff val="40000"/>
                      </a:schemeClr>
                    </a:solidFill>
                    <a:latin typeface="Arial" panose="020B0604020202020204" pitchFamily="34" charset="0"/>
                  </a:rPr>
                  <a:t> </a:t>
                </a:r>
                <a:r>
                  <a:rPr lang="en-US" altLang="en-US" sz="4000" dirty="0">
                    <a:solidFill>
                      <a:srgbClr val="FF9233"/>
                    </a:solidFill>
                    <a:latin typeface="Arial" panose="020B0604020202020204" pitchFamily="34" charset="0"/>
                  </a:rPr>
                  <a:t>O</a:t>
                </a:r>
                <a:r>
                  <a:rPr lang="en-US" altLang="en-US" sz="4000" baseline="-25000" dirty="0">
                    <a:solidFill>
                      <a:srgbClr val="FF9233"/>
                    </a:solidFill>
                    <a:latin typeface="Arial" panose="020B0604020202020204" pitchFamily="34" charset="0"/>
                  </a:rPr>
                  <a:t>2</a:t>
                </a:r>
                <a:r>
                  <a:rPr lang="en-US" altLang="en-US" sz="4000" baseline="-25000" dirty="0">
                    <a:solidFill>
                      <a:schemeClr val="accent2">
                        <a:lumMod val="60000"/>
                        <a:lumOff val="40000"/>
                      </a:schemeClr>
                    </a:solidFill>
                    <a:latin typeface="Arial" panose="020B0604020202020204" pitchFamily="34" charset="0"/>
                  </a:rPr>
                  <a:t>        </a:t>
                </a:r>
                <a:r>
                  <a:rPr lang="en-US" altLang="en-US" sz="4000" dirty="0">
                    <a:solidFill>
                      <a:schemeClr val="accent2">
                        <a:lumMod val="60000"/>
                        <a:lumOff val="40000"/>
                      </a:schemeClr>
                    </a:solidFill>
                    <a:latin typeface="Arial" panose="020B0604020202020204" pitchFamily="34" charset="0"/>
                  </a:rPr>
                  <a:t> </a:t>
                </a:r>
                <a:r>
                  <a:rPr lang="en-US" altLang="en-US" sz="4000" dirty="0">
                    <a:solidFill>
                      <a:srgbClr val="FFFF00"/>
                    </a:solidFill>
                    <a:latin typeface="Arial" panose="020B0604020202020204" pitchFamily="34" charset="0"/>
                  </a:rPr>
                  <a:t>Net</a:t>
                </a:r>
                <a:endParaRPr lang="en-US" altLang="en-US" sz="1500" dirty="0">
                  <a:solidFill>
                    <a:srgbClr val="FFFF00"/>
                  </a:solidFill>
                  <a:latin typeface="Arial" panose="020B0604020202020204" pitchFamily="34" charset="0"/>
                </a:endParaRPr>
              </a:p>
            </p:txBody>
          </p:sp>
        </mc:Choice>
        <mc:Fallback xmlns="">
          <p:sp>
            <p:nvSpPr>
              <p:cNvPr id="23556" name="Text Box 3"/>
              <p:cNvSpPr txBox="1">
                <a:spLocks noRot="1" noChangeAspect="1" noMove="1" noResize="1" noEditPoints="1" noAdjustHandles="1" noChangeArrowheads="1" noChangeShapeType="1" noTextEdit="1"/>
              </p:cNvSpPr>
              <p:nvPr/>
            </p:nvSpPr>
            <p:spPr bwMode="auto">
              <a:xfrm>
                <a:off x="914400" y="19651"/>
                <a:ext cx="7350393" cy="5699894"/>
              </a:xfrm>
              <a:prstGeom prst="rect">
                <a:avLst/>
              </a:prstGeom>
              <a:blipFill>
                <a:blip r:embed="rId3"/>
                <a:stretch>
                  <a:fillRect l="-2073" t="-1114" r="-691" b="-334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2" name="Left Brace 1">
            <a:extLst>
              <a:ext uri="{FF2B5EF4-FFF2-40B4-BE49-F238E27FC236}">
                <a16:creationId xmlns:a16="http://schemas.microsoft.com/office/drawing/2014/main" id="{E0364360-F273-BF48-A364-B613E6F79CB9}"/>
              </a:ext>
            </a:extLst>
          </p:cNvPr>
          <p:cNvSpPr/>
          <p:nvPr/>
        </p:nvSpPr>
        <p:spPr>
          <a:xfrm>
            <a:off x="1391647" y="1597360"/>
            <a:ext cx="840093" cy="2580287"/>
          </a:xfrm>
          <a:prstGeom prst="leftBrace">
            <a:avLst>
              <a:gd name="adj1" fmla="val 8333"/>
              <a:gd name="adj2" fmla="val 51641"/>
            </a:avLst>
          </a:prstGeom>
          <a:noFill/>
          <a:ln w="571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a:p>
        </p:txBody>
      </p:sp>
      <p:sp>
        <p:nvSpPr>
          <p:cNvPr id="3" name="TextBox 2">
            <a:extLst>
              <a:ext uri="{FF2B5EF4-FFF2-40B4-BE49-F238E27FC236}">
                <a16:creationId xmlns:a16="http://schemas.microsoft.com/office/drawing/2014/main" id="{6C9906E4-111F-4244-929E-BECBFE173099}"/>
              </a:ext>
            </a:extLst>
          </p:cNvPr>
          <p:cNvSpPr txBox="1"/>
          <p:nvPr/>
        </p:nvSpPr>
        <p:spPr>
          <a:xfrm>
            <a:off x="3801477" y="1028700"/>
            <a:ext cx="4838184" cy="461665"/>
          </a:xfrm>
          <a:prstGeom prst="rect">
            <a:avLst/>
          </a:prstGeom>
          <a:noFill/>
        </p:spPr>
        <p:txBody>
          <a:bodyPr wrap="none" rtlCol="0">
            <a:spAutoFit/>
          </a:bodyPr>
          <a:lstStyle/>
          <a:p>
            <a:r>
              <a:rPr lang="en-US" dirty="0">
                <a:solidFill>
                  <a:srgbClr val="00B0F0"/>
                </a:solidFill>
              </a:rPr>
              <a:t>X steals O, destroying two </a:t>
            </a:r>
            <a:r>
              <a:rPr lang="en-US" dirty="0" err="1">
                <a:solidFill>
                  <a:srgbClr val="00B0F0"/>
                </a:solidFill>
              </a:rPr>
              <a:t>ozones</a:t>
            </a:r>
            <a:endParaRPr lang="en-US" dirty="0">
              <a:solidFill>
                <a:srgbClr val="00B0F0"/>
              </a:solidFill>
            </a:endParaRPr>
          </a:p>
        </p:txBody>
      </p:sp>
    </p:spTree>
    <p:extLst>
      <p:ext uri="{BB962C8B-B14F-4D97-AF65-F5344CB8AC3E}">
        <p14:creationId xmlns:p14="http://schemas.microsoft.com/office/powerpoint/2010/main" val="29378253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3555" name="Slide Number Placeholder 3"/>
          <p:cNvSpPr>
            <a:spLocks noGrp="1"/>
          </p:cNvSpPr>
          <p:nvPr>
            <p:ph type="sldNum" sz="quarter" idx="4294967295"/>
          </p:nvPr>
        </p:nvSpPr>
        <p:spPr>
          <a:xfrm>
            <a:off x="6143625" y="5296960"/>
            <a:ext cx="1714500" cy="304271"/>
          </a:xfrm>
          <a:noFill/>
        </p:spPr>
        <p:txBody>
          <a:bodyPr/>
          <a:lstStyle>
            <a:lvl1pPr eaLnBrk="0" hangingPunct="0">
              <a:spcBef>
                <a:spcPct val="20000"/>
              </a:spcBef>
              <a:buChar char="•"/>
              <a:defRPr sz="2667">
                <a:solidFill>
                  <a:schemeClr val="tx1"/>
                </a:solidFill>
                <a:latin typeface="Times New Roman" panose="02020603050405020304" pitchFamily="18" charset="0"/>
              </a:defRPr>
            </a:lvl1pPr>
            <a:lvl2pPr marL="619100" indent="-238115" eaLnBrk="0" hangingPunct="0">
              <a:spcBef>
                <a:spcPct val="20000"/>
              </a:spcBef>
              <a:buChar char="–"/>
              <a:defRPr sz="2333">
                <a:solidFill>
                  <a:schemeClr val="tx1"/>
                </a:solidFill>
                <a:latin typeface="Times New Roman" panose="02020603050405020304" pitchFamily="18" charset="0"/>
              </a:defRPr>
            </a:lvl2pPr>
            <a:lvl3pPr marL="952462" indent="-190492" eaLnBrk="0" hangingPunct="0">
              <a:spcBef>
                <a:spcPct val="20000"/>
              </a:spcBef>
              <a:buChar char="•"/>
              <a:defRPr sz="2000">
                <a:solidFill>
                  <a:schemeClr val="tx1"/>
                </a:solidFill>
                <a:latin typeface="Times New Roman" panose="02020603050405020304" pitchFamily="18" charset="0"/>
              </a:defRPr>
            </a:lvl3pPr>
            <a:lvl4pPr marL="1333447" indent="-190492" eaLnBrk="0" hangingPunct="0">
              <a:spcBef>
                <a:spcPct val="20000"/>
              </a:spcBef>
              <a:buChar char="–"/>
              <a:defRPr sz="1667">
                <a:solidFill>
                  <a:schemeClr val="tx1"/>
                </a:solidFill>
                <a:latin typeface="Times New Roman" panose="02020603050405020304" pitchFamily="18" charset="0"/>
              </a:defRPr>
            </a:lvl4pPr>
            <a:lvl5pPr marL="1714431" indent="-190492" eaLnBrk="0" hangingPunct="0">
              <a:spcBef>
                <a:spcPct val="20000"/>
              </a:spcBef>
              <a:buChar char="»"/>
              <a:defRPr sz="1667">
                <a:solidFill>
                  <a:schemeClr val="tx1"/>
                </a:solidFill>
                <a:latin typeface="Times New Roman" panose="02020603050405020304" pitchFamily="18" charset="0"/>
              </a:defRPr>
            </a:lvl5pPr>
            <a:lvl6pPr marL="2095416" indent="-190492" eaLnBrk="0" fontAlgn="base" hangingPunct="0">
              <a:spcBef>
                <a:spcPct val="20000"/>
              </a:spcBef>
              <a:spcAft>
                <a:spcPct val="0"/>
              </a:spcAft>
              <a:buChar char="»"/>
              <a:defRPr sz="1667">
                <a:solidFill>
                  <a:schemeClr val="tx1"/>
                </a:solidFill>
                <a:latin typeface="Times New Roman" panose="02020603050405020304" pitchFamily="18" charset="0"/>
              </a:defRPr>
            </a:lvl6pPr>
            <a:lvl7pPr marL="2476401" indent="-190492" eaLnBrk="0" fontAlgn="base" hangingPunct="0">
              <a:spcBef>
                <a:spcPct val="20000"/>
              </a:spcBef>
              <a:spcAft>
                <a:spcPct val="0"/>
              </a:spcAft>
              <a:buChar char="»"/>
              <a:defRPr sz="1667">
                <a:solidFill>
                  <a:schemeClr val="tx1"/>
                </a:solidFill>
                <a:latin typeface="Times New Roman" panose="02020603050405020304" pitchFamily="18" charset="0"/>
              </a:defRPr>
            </a:lvl7pPr>
            <a:lvl8pPr marL="2857386" indent="-190492" eaLnBrk="0" fontAlgn="base" hangingPunct="0">
              <a:spcBef>
                <a:spcPct val="20000"/>
              </a:spcBef>
              <a:spcAft>
                <a:spcPct val="0"/>
              </a:spcAft>
              <a:buChar char="»"/>
              <a:defRPr sz="1667">
                <a:solidFill>
                  <a:schemeClr val="tx1"/>
                </a:solidFill>
                <a:latin typeface="Times New Roman" panose="02020603050405020304" pitchFamily="18" charset="0"/>
              </a:defRPr>
            </a:lvl8pPr>
            <a:lvl9pPr marL="3238370" indent="-190492" eaLnBrk="0" fontAlgn="base" hangingPunct="0">
              <a:spcBef>
                <a:spcPct val="20000"/>
              </a:spcBef>
              <a:spcAft>
                <a:spcPct val="0"/>
              </a:spcAft>
              <a:buChar char="»"/>
              <a:defRPr sz="1667">
                <a:solidFill>
                  <a:schemeClr val="tx1"/>
                </a:solidFill>
                <a:latin typeface="Times New Roman" panose="02020603050405020304" pitchFamily="18" charset="0"/>
              </a:defRPr>
            </a:lvl9pPr>
          </a:lstStyle>
          <a:p>
            <a:pPr eaLnBrk="1" hangingPunct="1">
              <a:spcBef>
                <a:spcPct val="0"/>
              </a:spcBef>
              <a:buFontTx/>
              <a:buNone/>
            </a:pPr>
            <a:fld id="{EB2EFE3B-ED98-4683-9C07-1B0BF2EDCC02}" type="slidenum">
              <a:rPr lang="en-GB" altLang="en-US" sz="1167"/>
              <a:pPr eaLnBrk="1" hangingPunct="1">
                <a:spcBef>
                  <a:spcPct val="0"/>
                </a:spcBef>
                <a:buFontTx/>
                <a:buNone/>
              </a:pPr>
              <a:t>11</a:t>
            </a:fld>
            <a:endParaRPr lang="en-GB" altLang="en-US" sz="1167"/>
          </a:p>
        </p:txBody>
      </p:sp>
      <mc:AlternateContent xmlns:mc="http://schemas.openxmlformats.org/markup-compatibility/2006" xmlns:a14="http://schemas.microsoft.com/office/drawing/2010/main">
        <mc:Choice Requires="a14">
          <p:sp>
            <p:nvSpPr>
              <p:cNvPr id="23556" name="Text Box 3"/>
              <p:cNvSpPr txBox="1">
                <a:spLocks noChangeArrowheads="1"/>
              </p:cNvSpPr>
              <p:nvPr/>
            </p:nvSpPr>
            <p:spPr bwMode="auto">
              <a:xfrm>
                <a:off x="1031607" y="19651"/>
                <a:ext cx="7197993" cy="560839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sz="3200">
                    <a:solidFill>
                      <a:schemeClr val="tx1"/>
                    </a:solidFill>
                    <a:latin typeface="Times New Roman" panose="02020603050405020304" pitchFamily="18" charset="0"/>
                  </a:defRPr>
                </a:lvl1pPr>
                <a:lvl2pPr marL="742950" indent="-285750" eaLnBrk="0" hangingPunct="0">
                  <a:spcBef>
                    <a:spcPct val="20000"/>
                  </a:spcBef>
                  <a:buChar char="–"/>
                  <a:defRPr sz="2800">
                    <a:solidFill>
                      <a:schemeClr val="tx1"/>
                    </a:solidFill>
                    <a:latin typeface="Times New Roman" panose="02020603050405020304" pitchFamily="18" charset="0"/>
                  </a:defRPr>
                </a:lvl2pPr>
                <a:lvl3pPr marL="1143000" indent="-228600" eaLnBrk="0" hangingPunct="0">
                  <a:spcBef>
                    <a:spcPct val="20000"/>
                  </a:spcBef>
                  <a:buChar char="•"/>
                  <a:defRPr sz="2400">
                    <a:solidFill>
                      <a:schemeClr val="tx1"/>
                    </a:solidFill>
                    <a:latin typeface="Times New Roman" panose="02020603050405020304" pitchFamily="18" charset="0"/>
                  </a:defRPr>
                </a:lvl3pPr>
                <a:lvl4pPr marL="1600200" indent="-228600" eaLnBrk="0" hangingPunct="0">
                  <a:spcBef>
                    <a:spcPct val="20000"/>
                  </a:spcBef>
                  <a:buChar char="–"/>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GB" altLang="en-US" sz="3000" dirty="0">
                    <a:solidFill>
                      <a:srgbClr val="FFFF00"/>
                    </a:solidFill>
                    <a:latin typeface="Arial" panose="020B0604020202020204" pitchFamily="34" charset="0"/>
                  </a:rPr>
                  <a:t>The Chapman cycle is perturbed by other chemical species X.</a:t>
                </a:r>
              </a:p>
              <a:p>
                <a:pPr eaLnBrk="1" hangingPunct="1">
                  <a:spcBef>
                    <a:spcPct val="50000"/>
                  </a:spcBef>
                  <a:buFontTx/>
                  <a:buNone/>
                </a:pPr>
                <a:endParaRPr lang="en-GB" altLang="en-US" sz="1500" dirty="0">
                  <a:solidFill>
                    <a:schemeClr val="bg1"/>
                  </a:solidFill>
                  <a:latin typeface="Arial" panose="020B0604020202020204" pitchFamily="34" charset="0"/>
                </a:endParaRPr>
              </a:p>
              <a:p>
                <a:pPr algn="ctr" eaLnBrk="1" hangingPunct="1">
                  <a:spcBef>
                    <a:spcPct val="50000"/>
                  </a:spcBef>
                  <a:buFontTx/>
                  <a:buNone/>
                </a:pPr>
                <a:r>
                  <a:rPr lang="en-GB" altLang="en-US" sz="4000" dirty="0">
                    <a:solidFill>
                      <a:schemeClr val="bg1"/>
                    </a:solidFill>
                    <a:latin typeface="Arial" panose="020B0604020202020204" pitchFamily="34" charset="0"/>
                  </a:rPr>
                  <a:t>O</a:t>
                </a:r>
                <a:r>
                  <a:rPr lang="en-US" altLang="en-US" sz="4000" baseline="-25000" dirty="0">
                    <a:solidFill>
                      <a:schemeClr val="bg1"/>
                    </a:solidFill>
                    <a:latin typeface="Arial" panose="020B0604020202020204" pitchFamily="34" charset="0"/>
                  </a:rPr>
                  <a:t>3</a:t>
                </a:r>
                <a:r>
                  <a:rPr lang="en-US" altLang="en-US" sz="4000" dirty="0">
                    <a:solidFill>
                      <a:schemeClr val="bg1"/>
                    </a:solidFill>
                    <a:latin typeface="Arial" panose="020B0604020202020204" pitchFamily="34" charset="0"/>
                  </a:rPr>
                  <a:t> + </a:t>
                </a:r>
                <a:r>
                  <a:rPr lang="en-US" altLang="en-US" sz="4000" dirty="0">
                    <a:solidFill>
                      <a:srgbClr val="92D050"/>
                    </a:solidFill>
                    <a:latin typeface="Arial" panose="020B0604020202020204" pitchFamily="34" charset="0"/>
                  </a:rPr>
                  <a:t>X</a:t>
                </a:r>
                <a:r>
                  <a:rPr lang="en-US" altLang="en-US" sz="4000" dirty="0">
                    <a:solidFill>
                      <a:schemeClr val="bg1"/>
                    </a:solidFill>
                    <a:latin typeface="Arial" panose="020B0604020202020204" pitchFamily="34" charset="0"/>
                  </a:rPr>
                  <a:t>     →   XO + O</a:t>
                </a:r>
                <a:r>
                  <a:rPr lang="en-US" altLang="en-US" sz="4000" baseline="-25000" dirty="0">
                    <a:solidFill>
                      <a:schemeClr val="bg1"/>
                    </a:solidFill>
                    <a:latin typeface="Arial" panose="020B0604020202020204" pitchFamily="34" charset="0"/>
                  </a:rPr>
                  <a:t>2</a:t>
                </a:r>
                <a:endParaRPr lang="en-US" altLang="en-US" sz="4000" dirty="0">
                  <a:solidFill>
                    <a:schemeClr val="bg1"/>
                  </a:solidFill>
                  <a:latin typeface="Arial" panose="020B0604020202020204" pitchFamily="34" charset="0"/>
                </a:endParaRPr>
              </a:p>
              <a:p>
                <a:pPr algn="ctr" eaLnBrk="1" hangingPunct="1">
                  <a:spcBef>
                    <a:spcPct val="50000"/>
                  </a:spcBef>
                  <a:buFontTx/>
                  <a:buNone/>
                </a:pPr>
                <a:r>
                  <a:rPr lang="en-US" altLang="en-US" sz="4000" dirty="0">
                    <a:solidFill>
                      <a:schemeClr val="bg1"/>
                    </a:solidFill>
                    <a:latin typeface="Arial" panose="020B0604020202020204" pitchFamily="34" charset="0"/>
                  </a:rPr>
                  <a:t>O</a:t>
                </a:r>
                <a:r>
                  <a:rPr lang="en-US" altLang="en-US" sz="4000" baseline="-25000" dirty="0">
                    <a:solidFill>
                      <a:schemeClr val="bg1"/>
                    </a:solidFill>
                    <a:latin typeface="Arial" panose="020B0604020202020204" pitchFamily="34" charset="0"/>
                  </a:rPr>
                  <a:t>3 </a:t>
                </a:r>
                <a:r>
                  <a:rPr lang="en-US" altLang="en-US" sz="4000" dirty="0">
                    <a:solidFill>
                      <a:schemeClr val="bg1"/>
                    </a:solidFill>
                    <a:latin typeface="Arial" panose="020B0604020202020204" pitchFamily="34" charset="0"/>
                  </a:rPr>
                  <a:t>+ XO  → XO</a:t>
                </a:r>
                <a:r>
                  <a:rPr lang="en-US" altLang="en-US" sz="4000" baseline="-25000" dirty="0">
                    <a:solidFill>
                      <a:schemeClr val="bg1"/>
                    </a:solidFill>
                    <a:latin typeface="Arial" panose="020B0604020202020204" pitchFamily="34" charset="0"/>
                  </a:rPr>
                  <a:t>2</a:t>
                </a:r>
                <a:r>
                  <a:rPr lang="en-US" altLang="en-US" sz="4000" dirty="0">
                    <a:solidFill>
                      <a:schemeClr val="bg1"/>
                    </a:solidFill>
                    <a:latin typeface="Arial" panose="020B0604020202020204" pitchFamily="34" charset="0"/>
                  </a:rPr>
                  <a:t> + O</a:t>
                </a:r>
                <a:r>
                  <a:rPr lang="en-US" altLang="en-US" sz="4000" baseline="-25000" dirty="0">
                    <a:solidFill>
                      <a:schemeClr val="bg1"/>
                    </a:solidFill>
                    <a:latin typeface="Arial" panose="020B0604020202020204" pitchFamily="34" charset="0"/>
                  </a:rPr>
                  <a:t>2</a:t>
                </a:r>
              </a:p>
              <a:p>
                <a:pPr algn="ctr" eaLnBrk="1" hangingPunct="1">
                  <a:spcBef>
                    <a:spcPct val="50000"/>
                  </a:spcBef>
                  <a:buFontTx/>
                  <a:buNone/>
                </a:pPr>
                <a:r>
                  <a:rPr lang="en-US" altLang="en-US" sz="4000" dirty="0">
                    <a:solidFill>
                      <a:schemeClr val="bg1"/>
                    </a:solidFill>
                    <a:latin typeface="Arial" panose="020B0604020202020204" pitchFamily="34" charset="0"/>
                  </a:rPr>
                  <a:t>XO</a:t>
                </a:r>
                <a:r>
                  <a:rPr lang="en-US" altLang="en-US" sz="4000" baseline="-25000" dirty="0">
                    <a:solidFill>
                      <a:schemeClr val="bg1"/>
                    </a:solidFill>
                    <a:latin typeface="Arial" panose="020B0604020202020204" pitchFamily="34" charset="0"/>
                  </a:rPr>
                  <a:t>2</a:t>
                </a:r>
                <a:r>
                  <a:rPr lang="en-US" altLang="en-US" sz="4000" dirty="0">
                    <a:solidFill>
                      <a:schemeClr val="bg1"/>
                    </a:solidFill>
                    <a:latin typeface="Arial" panose="020B0604020202020204" pitchFamily="34" charset="0"/>
                  </a:rPr>
                  <a:t> + </a:t>
                </a:r>
                <a:r>
                  <a:rPr lang="en-US" altLang="en-US" sz="4000" dirty="0" err="1">
                    <a:solidFill>
                      <a:schemeClr val="bg1"/>
                    </a:solidFill>
                    <a:latin typeface="Arial" panose="020B0604020202020204" pitchFamily="34" charset="0"/>
                  </a:rPr>
                  <a:t>h</a:t>
                </a:r>
                <a14:m>
                  <m:oMath xmlns:m="http://schemas.openxmlformats.org/officeDocument/2006/math">
                    <m:r>
                      <a:rPr lang="en-US" altLang="en-US" sz="4500" i="1" dirty="0">
                        <a:solidFill>
                          <a:schemeClr val="bg1"/>
                        </a:solidFill>
                        <a:latin typeface="Cambria Math" panose="02040503050406030204" pitchFamily="18" charset="0"/>
                        <a:ea typeface="Cambria Math" panose="02040503050406030204" pitchFamily="18" charset="0"/>
                      </a:rPr>
                      <m:t>𝜐</m:t>
                    </m:r>
                  </m:oMath>
                </a14:m>
                <a:r>
                  <a:rPr lang="en-US" altLang="en-US" sz="4000" dirty="0">
                    <a:solidFill>
                      <a:schemeClr val="bg1"/>
                    </a:solidFill>
                    <a:latin typeface="Arial" panose="020B0604020202020204" pitchFamily="34" charset="0"/>
                  </a:rPr>
                  <a:t> →   </a:t>
                </a:r>
                <a:r>
                  <a:rPr lang="en-US" altLang="en-US" sz="4000" dirty="0">
                    <a:solidFill>
                      <a:srgbClr val="92D050"/>
                    </a:solidFill>
                    <a:latin typeface="Arial" panose="020B0604020202020204" pitchFamily="34" charset="0"/>
                  </a:rPr>
                  <a:t>X</a:t>
                </a:r>
                <a:r>
                  <a:rPr lang="en-US" altLang="en-US" sz="4000" dirty="0">
                    <a:solidFill>
                      <a:schemeClr val="bg1"/>
                    </a:solidFill>
                    <a:latin typeface="Arial" panose="020B0604020202020204" pitchFamily="34" charset="0"/>
                  </a:rPr>
                  <a:t> + O</a:t>
                </a:r>
                <a:r>
                  <a:rPr lang="en-US" altLang="en-US" sz="4000" baseline="-25000" dirty="0">
                    <a:solidFill>
                      <a:schemeClr val="bg1"/>
                    </a:solidFill>
                    <a:latin typeface="Arial" panose="020B0604020202020204" pitchFamily="34" charset="0"/>
                  </a:rPr>
                  <a:t>2</a:t>
                </a:r>
              </a:p>
              <a:p>
                <a:pPr eaLnBrk="1" hangingPunct="1">
                  <a:spcBef>
                    <a:spcPct val="50000"/>
                  </a:spcBef>
                  <a:buFontTx/>
                  <a:buNone/>
                </a:pPr>
                <a:endParaRPr lang="en-US" altLang="en-US" sz="3000" baseline="-25000" dirty="0">
                  <a:solidFill>
                    <a:schemeClr val="bg1"/>
                  </a:solidFill>
                  <a:latin typeface="Arial" panose="020B0604020202020204" pitchFamily="34" charset="0"/>
                </a:endParaRPr>
              </a:p>
              <a:p>
                <a:pPr eaLnBrk="1" hangingPunct="1">
                  <a:spcBef>
                    <a:spcPct val="50000"/>
                  </a:spcBef>
                  <a:buFontTx/>
                  <a:buNone/>
                </a:pPr>
                <a:r>
                  <a:rPr lang="en-US" altLang="en-US" sz="4000" dirty="0">
                    <a:solidFill>
                      <a:srgbClr val="FFFF00"/>
                    </a:solidFill>
                    <a:latin typeface="Arial" panose="020B0604020202020204" pitchFamily="34" charset="0"/>
                  </a:rPr>
                  <a:t>Net:             </a:t>
                </a:r>
                <a:r>
                  <a:rPr lang="en-US" altLang="en-US" sz="4000" dirty="0">
                    <a:solidFill>
                      <a:srgbClr val="92D050"/>
                    </a:solidFill>
                    <a:latin typeface="Arial" panose="020B0604020202020204" pitchFamily="34" charset="0"/>
                  </a:rPr>
                  <a:t>X</a:t>
                </a:r>
                <a:r>
                  <a:rPr lang="en-US" altLang="en-US" sz="4000" baseline="-25000" dirty="0">
                    <a:solidFill>
                      <a:schemeClr val="accent4">
                        <a:lumMod val="60000"/>
                        <a:lumOff val="40000"/>
                      </a:schemeClr>
                    </a:solidFill>
                    <a:latin typeface="Arial" panose="020B0604020202020204" pitchFamily="34" charset="0"/>
                  </a:rPr>
                  <a:t>  </a:t>
                </a:r>
                <a:r>
                  <a:rPr lang="en-US" altLang="en-US" sz="4000" dirty="0">
                    <a:solidFill>
                      <a:schemeClr val="bg1"/>
                    </a:solidFill>
                    <a:latin typeface="Arial" panose="020B0604020202020204" pitchFamily="34" charset="0"/>
                  </a:rPr>
                  <a:t>→</a:t>
                </a:r>
                <a:r>
                  <a:rPr lang="en-US" altLang="en-US" sz="4000" dirty="0">
                    <a:solidFill>
                      <a:srgbClr val="FFFF00"/>
                    </a:solidFill>
                    <a:latin typeface="Arial" panose="020B0604020202020204" pitchFamily="34" charset="0"/>
                  </a:rPr>
                  <a:t> </a:t>
                </a:r>
                <a:r>
                  <a:rPr lang="en-US" altLang="en-US" sz="4000" dirty="0">
                    <a:solidFill>
                      <a:srgbClr val="92D050"/>
                    </a:solidFill>
                    <a:latin typeface="Arial" panose="020B0604020202020204" pitchFamily="34" charset="0"/>
                  </a:rPr>
                  <a:t>X</a:t>
                </a:r>
                <a:endParaRPr lang="en-US" altLang="en-US" sz="1500" dirty="0">
                  <a:solidFill>
                    <a:srgbClr val="92D050"/>
                  </a:solidFill>
                  <a:latin typeface="Arial" panose="020B0604020202020204" pitchFamily="34" charset="0"/>
                </a:endParaRPr>
              </a:p>
            </p:txBody>
          </p:sp>
        </mc:Choice>
        <mc:Fallback xmlns="">
          <p:sp>
            <p:nvSpPr>
              <p:cNvPr id="23556" name="Text Box 3"/>
              <p:cNvSpPr txBox="1">
                <a:spLocks noRot="1" noChangeAspect="1" noMove="1" noResize="1" noEditPoints="1" noAdjustHandles="1" noChangeArrowheads="1" noChangeShapeType="1" noTextEdit="1"/>
              </p:cNvSpPr>
              <p:nvPr/>
            </p:nvSpPr>
            <p:spPr bwMode="auto">
              <a:xfrm>
                <a:off x="1031607" y="19651"/>
                <a:ext cx="7197993" cy="5608395"/>
              </a:xfrm>
              <a:prstGeom prst="rect">
                <a:avLst/>
              </a:prstGeom>
              <a:blipFill>
                <a:blip r:embed="rId3"/>
                <a:stretch>
                  <a:fillRect l="-2817" t="-1131" r="-2817" b="-362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4" name="Left Brace 3">
            <a:extLst>
              <a:ext uri="{FF2B5EF4-FFF2-40B4-BE49-F238E27FC236}">
                <a16:creationId xmlns:a16="http://schemas.microsoft.com/office/drawing/2014/main" id="{FAE74AC6-4501-0046-BFCC-76DED3C539DA}"/>
              </a:ext>
            </a:extLst>
          </p:cNvPr>
          <p:cNvSpPr/>
          <p:nvPr/>
        </p:nvSpPr>
        <p:spPr>
          <a:xfrm>
            <a:off x="1391647" y="1597360"/>
            <a:ext cx="840093" cy="2580287"/>
          </a:xfrm>
          <a:prstGeom prst="leftBrace">
            <a:avLst>
              <a:gd name="adj1" fmla="val 8333"/>
              <a:gd name="adj2" fmla="val 51641"/>
            </a:avLst>
          </a:prstGeom>
          <a:noFill/>
          <a:ln w="571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a:p>
        </p:txBody>
      </p:sp>
      <p:sp>
        <p:nvSpPr>
          <p:cNvPr id="5" name="TextBox 4">
            <a:extLst>
              <a:ext uri="{FF2B5EF4-FFF2-40B4-BE49-F238E27FC236}">
                <a16:creationId xmlns:a16="http://schemas.microsoft.com/office/drawing/2014/main" id="{E1250BAF-4155-9E46-9557-199B104C5CA1}"/>
              </a:ext>
            </a:extLst>
          </p:cNvPr>
          <p:cNvSpPr txBox="1"/>
          <p:nvPr/>
        </p:nvSpPr>
        <p:spPr>
          <a:xfrm>
            <a:off x="2209800" y="4381500"/>
            <a:ext cx="4902304" cy="523220"/>
          </a:xfrm>
          <a:prstGeom prst="rect">
            <a:avLst/>
          </a:prstGeom>
          <a:noFill/>
        </p:spPr>
        <p:txBody>
          <a:bodyPr wrap="none" rtlCol="0">
            <a:spAutoFit/>
          </a:bodyPr>
          <a:lstStyle/>
          <a:p>
            <a:r>
              <a:rPr lang="en-US" sz="2800" dirty="0">
                <a:solidFill>
                  <a:srgbClr val="92D050"/>
                </a:solidFill>
              </a:rPr>
              <a:t>X is not consumed in reaction</a:t>
            </a:r>
          </a:p>
        </p:txBody>
      </p:sp>
    </p:spTree>
    <p:extLst>
      <p:ext uri="{BB962C8B-B14F-4D97-AF65-F5344CB8AC3E}">
        <p14:creationId xmlns:p14="http://schemas.microsoft.com/office/powerpoint/2010/main" val="5273357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3555" name="Slide Number Placeholder 3"/>
          <p:cNvSpPr>
            <a:spLocks noGrp="1"/>
          </p:cNvSpPr>
          <p:nvPr>
            <p:ph type="sldNum" sz="quarter" idx="4294967295"/>
          </p:nvPr>
        </p:nvSpPr>
        <p:spPr>
          <a:xfrm>
            <a:off x="6143625" y="5296960"/>
            <a:ext cx="1714500" cy="304271"/>
          </a:xfrm>
          <a:noFill/>
        </p:spPr>
        <p:txBody>
          <a:bodyPr/>
          <a:lstStyle>
            <a:lvl1pPr eaLnBrk="0" hangingPunct="0">
              <a:spcBef>
                <a:spcPct val="20000"/>
              </a:spcBef>
              <a:buChar char="•"/>
              <a:defRPr sz="2667">
                <a:solidFill>
                  <a:schemeClr val="tx1"/>
                </a:solidFill>
                <a:latin typeface="Times New Roman" panose="02020603050405020304" pitchFamily="18" charset="0"/>
              </a:defRPr>
            </a:lvl1pPr>
            <a:lvl2pPr marL="619100" indent="-238115" eaLnBrk="0" hangingPunct="0">
              <a:spcBef>
                <a:spcPct val="20000"/>
              </a:spcBef>
              <a:buChar char="–"/>
              <a:defRPr sz="2333">
                <a:solidFill>
                  <a:schemeClr val="tx1"/>
                </a:solidFill>
                <a:latin typeface="Times New Roman" panose="02020603050405020304" pitchFamily="18" charset="0"/>
              </a:defRPr>
            </a:lvl2pPr>
            <a:lvl3pPr marL="952462" indent="-190492" eaLnBrk="0" hangingPunct="0">
              <a:spcBef>
                <a:spcPct val="20000"/>
              </a:spcBef>
              <a:buChar char="•"/>
              <a:defRPr sz="2000">
                <a:solidFill>
                  <a:schemeClr val="tx1"/>
                </a:solidFill>
                <a:latin typeface="Times New Roman" panose="02020603050405020304" pitchFamily="18" charset="0"/>
              </a:defRPr>
            </a:lvl3pPr>
            <a:lvl4pPr marL="1333447" indent="-190492" eaLnBrk="0" hangingPunct="0">
              <a:spcBef>
                <a:spcPct val="20000"/>
              </a:spcBef>
              <a:buChar char="–"/>
              <a:defRPr sz="1667">
                <a:solidFill>
                  <a:schemeClr val="tx1"/>
                </a:solidFill>
                <a:latin typeface="Times New Roman" panose="02020603050405020304" pitchFamily="18" charset="0"/>
              </a:defRPr>
            </a:lvl4pPr>
            <a:lvl5pPr marL="1714431" indent="-190492" eaLnBrk="0" hangingPunct="0">
              <a:spcBef>
                <a:spcPct val="20000"/>
              </a:spcBef>
              <a:buChar char="»"/>
              <a:defRPr sz="1667">
                <a:solidFill>
                  <a:schemeClr val="tx1"/>
                </a:solidFill>
                <a:latin typeface="Times New Roman" panose="02020603050405020304" pitchFamily="18" charset="0"/>
              </a:defRPr>
            </a:lvl5pPr>
            <a:lvl6pPr marL="2095416" indent="-190492" eaLnBrk="0" fontAlgn="base" hangingPunct="0">
              <a:spcBef>
                <a:spcPct val="20000"/>
              </a:spcBef>
              <a:spcAft>
                <a:spcPct val="0"/>
              </a:spcAft>
              <a:buChar char="»"/>
              <a:defRPr sz="1667">
                <a:solidFill>
                  <a:schemeClr val="tx1"/>
                </a:solidFill>
                <a:latin typeface="Times New Roman" panose="02020603050405020304" pitchFamily="18" charset="0"/>
              </a:defRPr>
            </a:lvl6pPr>
            <a:lvl7pPr marL="2476401" indent="-190492" eaLnBrk="0" fontAlgn="base" hangingPunct="0">
              <a:spcBef>
                <a:spcPct val="20000"/>
              </a:spcBef>
              <a:spcAft>
                <a:spcPct val="0"/>
              </a:spcAft>
              <a:buChar char="»"/>
              <a:defRPr sz="1667">
                <a:solidFill>
                  <a:schemeClr val="tx1"/>
                </a:solidFill>
                <a:latin typeface="Times New Roman" panose="02020603050405020304" pitchFamily="18" charset="0"/>
              </a:defRPr>
            </a:lvl7pPr>
            <a:lvl8pPr marL="2857386" indent="-190492" eaLnBrk="0" fontAlgn="base" hangingPunct="0">
              <a:spcBef>
                <a:spcPct val="20000"/>
              </a:spcBef>
              <a:spcAft>
                <a:spcPct val="0"/>
              </a:spcAft>
              <a:buChar char="»"/>
              <a:defRPr sz="1667">
                <a:solidFill>
                  <a:schemeClr val="tx1"/>
                </a:solidFill>
                <a:latin typeface="Times New Roman" panose="02020603050405020304" pitchFamily="18" charset="0"/>
              </a:defRPr>
            </a:lvl8pPr>
            <a:lvl9pPr marL="3238370" indent="-190492" eaLnBrk="0" fontAlgn="base" hangingPunct="0">
              <a:spcBef>
                <a:spcPct val="20000"/>
              </a:spcBef>
              <a:spcAft>
                <a:spcPct val="0"/>
              </a:spcAft>
              <a:buChar char="»"/>
              <a:defRPr sz="1667">
                <a:solidFill>
                  <a:schemeClr val="tx1"/>
                </a:solidFill>
                <a:latin typeface="Times New Roman" panose="02020603050405020304" pitchFamily="18" charset="0"/>
              </a:defRPr>
            </a:lvl9pPr>
          </a:lstStyle>
          <a:p>
            <a:pPr eaLnBrk="1" hangingPunct="1">
              <a:spcBef>
                <a:spcPct val="0"/>
              </a:spcBef>
              <a:buFontTx/>
              <a:buNone/>
            </a:pPr>
            <a:fld id="{EB2EFE3B-ED98-4683-9C07-1B0BF2EDCC02}" type="slidenum">
              <a:rPr lang="en-GB" altLang="en-US" sz="1167"/>
              <a:pPr eaLnBrk="1" hangingPunct="1">
                <a:spcBef>
                  <a:spcPct val="0"/>
                </a:spcBef>
                <a:buFontTx/>
                <a:buNone/>
              </a:pPr>
              <a:t>12</a:t>
            </a:fld>
            <a:endParaRPr lang="en-GB" altLang="en-US" sz="1167"/>
          </a:p>
        </p:txBody>
      </p:sp>
      <mc:AlternateContent xmlns:mc="http://schemas.openxmlformats.org/markup-compatibility/2006" xmlns:a14="http://schemas.microsoft.com/office/drawing/2010/main">
        <mc:Choice Requires="a14">
          <p:sp>
            <p:nvSpPr>
              <p:cNvPr id="23556" name="Text Box 3"/>
              <p:cNvSpPr txBox="1">
                <a:spLocks noChangeArrowheads="1"/>
              </p:cNvSpPr>
              <p:nvPr/>
            </p:nvSpPr>
            <p:spPr bwMode="auto">
              <a:xfrm>
                <a:off x="1031607" y="19651"/>
                <a:ext cx="7080787" cy="560839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sz="3200">
                    <a:solidFill>
                      <a:schemeClr val="tx1"/>
                    </a:solidFill>
                    <a:latin typeface="Times New Roman" panose="02020603050405020304" pitchFamily="18" charset="0"/>
                  </a:defRPr>
                </a:lvl1pPr>
                <a:lvl2pPr marL="742950" indent="-285750" eaLnBrk="0" hangingPunct="0">
                  <a:spcBef>
                    <a:spcPct val="20000"/>
                  </a:spcBef>
                  <a:buChar char="–"/>
                  <a:defRPr sz="2800">
                    <a:solidFill>
                      <a:schemeClr val="tx1"/>
                    </a:solidFill>
                    <a:latin typeface="Times New Roman" panose="02020603050405020304" pitchFamily="18" charset="0"/>
                  </a:defRPr>
                </a:lvl2pPr>
                <a:lvl3pPr marL="1143000" indent="-228600" eaLnBrk="0" hangingPunct="0">
                  <a:spcBef>
                    <a:spcPct val="20000"/>
                  </a:spcBef>
                  <a:buChar char="•"/>
                  <a:defRPr sz="2400">
                    <a:solidFill>
                      <a:schemeClr val="tx1"/>
                    </a:solidFill>
                    <a:latin typeface="Times New Roman" panose="02020603050405020304" pitchFamily="18" charset="0"/>
                  </a:defRPr>
                </a:lvl3pPr>
                <a:lvl4pPr marL="1600200" indent="-228600" eaLnBrk="0" hangingPunct="0">
                  <a:spcBef>
                    <a:spcPct val="20000"/>
                  </a:spcBef>
                  <a:buChar char="–"/>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endParaRPr lang="en-GB" altLang="en-US" sz="1500" dirty="0">
                  <a:solidFill>
                    <a:schemeClr val="bg1"/>
                  </a:solidFill>
                  <a:latin typeface="Arial" panose="020B0604020202020204" pitchFamily="34" charset="0"/>
                </a:endParaRPr>
              </a:p>
              <a:p>
                <a:pPr eaLnBrk="1" hangingPunct="1">
                  <a:spcBef>
                    <a:spcPct val="50000"/>
                  </a:spcBef>
                  <a:buFontTx/>
                  <a:buNone/>
                </a:pPr>
                <a:endParaRPr lang="en-GB" altLang="en-US" sz="1500" dirty="0">
                  <a:solidFill>
                    <a:schemeClr val="bg1"/>
                  </a:solidFill>
                  <a:latin typeface="Arial" panose="020B0604020202020204" pitchFamily="34" charset="0"/>
                </a:endParaRPr>
              </a:p>
              <a:p>
                <a:pPr eaLnBrk="1" hangingPunct="1">
                  <a:spcBef>
                    <a:spcPct val="50000"/>
                  </a:spcBef>
                  <a:buFontTx/>
                  <a:buNone/>
                </a:pPr>
                <a:endParaRPr lang="en-GB" altLang="en-US" sz="1500" dirty="0">
                  <a:solidFill>
                    <a:schemeClr val="bg1"/>
                  </a:solidFill>
                  <a:latin typeface="Arial" panose="020B0604020202020204" pitchFamily="34" charset="0"/>
                </a:endParaRPr>
              </a:p>
              <a:p>
                <a:pPr eaLnBrk="1" hangingPunct="1">
                  <a:spcBef>
                    <a:spcPct val="50000"/>
                  </a:spcBef>
                  <a:buFontTx/>
                  <a:buNone/>
                </a:pPr>
                <a:endParaRPr lang="en-GB" altLang="en-US" sz="1500" dirty="0">
                  <a:solidFill>
                    <a:schemeClr val="bg1"/>
                  </a:solidFill>
                  <a:latin typeface="Arial" panose="020B0604020202020204" pitchFamily="34" charset="0"/>
                </a:endParaRPr>
              </a:p>
              <a:p>
                <a:pPr algn="ctr" eaLnBrk="1" hangingPunct="1">
                  <a:spcBef>
                    <a:spcPct val="50000"/>
                  </a:spcBef>
                  <a:buFontTx/>
                  <a:buNone/>
                </a:pPr>
                <a:r>
                  <a:rPr lang="en-GB" altLang="en-US" sz="4000" dirty="0">
                    <a:solidFill>
                      <a:schemeClr val="bg1"/>
                    </a:solidFill>
                    <a:latin typeface="Arial" panose="020B0604020202020204" pitchFamily="34" charset="0"/>
                  </a:rPr>
                  <a:t>O</a:t>
                </a:r>
                <a:r>
                  <a:rPr lang="en-US" altLang="en-US" sz="4000" baseline="-25000" dirty="0">
                    <a:solidFill>
                      <a:schemeClr val="bg1"/>
                    </a:solidFill>
                    <a:latin typeface="Arial" panose="020B0604020202020204" pitchFamily="34" charset="0"/>
                  </a:rPr>
                  <a:t>3</a:t>
                </a:r>
                <a:r>
                  <a:rPr lang="en-US" altLang="en-US" sz="4000" dirty="0">
                    <a:solidFill>
                      <a:schemeClr val="bg1"/>
                    </a:solidFill>
                    <a:latin typeface="Arial" panose="020B0604020202020204" pitchFamily="34" charset="0"/>
                  </a:rPr>
                  <a:t> + </a:t>
                </a:r>
                <a:r>
                  <a:rPr lang="en-US" altLang="en-US" sz="4000" dirty="0">
                    <a:solidFill>
                      <a:srgbClr val="92D050"/>
                    </a:solidFill>
                    <a:latin typeface="Arial" panose="020B0604020202020204" pitchFamily="34" charset="0"/>
                  </a:rPr>
                  <a:t>X</a:t>
                </a:r>
                <a:r>
                  <a:rPr lang="en-US" altLang="en-US" sz="4000" dirty="0">
                    <a:solidFill>
                      <a:schemeClr val="bg1"/>
                    </a:solidFill>
                    <a:latin typeface="Arial" panose="020B0604020202020204" pitchFamily="34" charset="0"/>
                  </a:rPr>
                  <a:t>     →   XO + O</a:t>
                </a:r>
                <a:r>
                  <a:rPr lang="en-US" altLang="en-US" sz="4000" baseline="-25000" dirty="0">
                    <a:solidFill>
                      <a:schemeClr val="bg1"/>
                    </a:solidFill>
                    <a:latin typeface="Arial" panose="020B0604020202020204" pitchFamily="34" charset="0"/>
                  </a:rPr>
                  <a:t>2</a:t>
                </a:r>
                <a:endParaRPr lang="en-US" altLang="en-US" sz="4000" dirty="0">
                  <a:solidFill>
                    <a:schemeClr val="bg1"/>
                  </a:solidFill>
                  <a:latin typeface="Arial" panose="020B0604020202020204" pitchFamily="34" charset="0"/>
                </a:endParaRPr>
              </a:p>
              <a:p>
                <a:pPr algn="ctr" eaLnBrk="1" hangingPunct="1">
                  <a:spcBef>
                    <a:spcPct val="50000"/>
                  </a:spcBef>
                  <a:buFontTx/>
                  <a:buNone/>
                </a:pPr>
                <a:r>
                  <a:rPr lang="en-US" altLang="en-US" sz="4000" dirty="0">
                    <a:solidFill>
                      <a:schemeClr val="bg1"/>
                    </a:solidFill>
                    <a:latin typeface="Arial" panose="020B0604020202020204" pitchFamily="34" charset="0"/>
                  </a:rPr>
                  <a:t>O</a:t>
                </a:r>
                <a:r>
                  <a:rPr lang="en-US" altLang="en-US" sz="4000" baseline="-25000" dirty="0">
                    <a:solidFill>
                      <a:schemeClr val="bg1"/>
                    </a:solidFill>
                    <a:latin typeface="Arial" panose="020B0604020202020204" pitchFamily="34" charset="0"/>
                  </a:rPr>
                  <a:t>3 </a:t>
                </a:r>
                <a:r>
                  <a:rPr lang="en-US" altLang="en-US" sz="4000" dirty="0">
                    <a:solidFill>
                      <a:schemeClr val="bg1"/>
                    </a:solidFill>
                    <a:latin typeface="Arial" panose="020B0604020202020204" pitchFamily="34" charset="0"/>
                  </a:rPr>
                  <a:t>+ XO  → XO</a:t>
                </a:r>
                <a:r>
                  <a:rPr lang="en-US" altLang="en-US" sz="4000" baseline="-25000" dirty="0">
                    <a:solidFill>
                      <a:schemeClr val="bg1"/>
                    </a:solidFill>
                    <a:latin typeface="Arial" panose="020B0604020202020204" pitchFamily="34" charset="0"/>
                  </a:rPr>
                  <a:t>2</a:t>
                </a:r>
                <a:r>
                  <a:rPr lang="en-US" altLang="en-US" sz="4000" dirty="0">
                    <a:solidFill>
                      <a:schemeClr val="bg1"/>
                    </a:solidFill>
                    <a:latin typeface="Arial" panose="020B0604020202020204" pitchFamily="34" charset="0"/>
                  </a:rPr>
                  <a:t> + O</a:t>
                </a:r>
                <a:r>
                  <a:rPr lang="en-US" altLang="en-US" sz="4000" baseline="-25000" dirty="0">
                    <a:solidFill>
                      <a:schemeClr val="bg1"/>
                    </a:solidFill>
                    <a:latin typeface="Arial" panose="020B0604020202020204" pitchFamily="34" charset="0"/>
                  </a:rPr>
                  <a:t>2</a:t>
                </a:r>
              </a:p>
              <a:p>
                <a:pPr algn="ctr" eaLnBrk="1" hangingPunct="1">
                  <a:spcBef>
                    <a:spcPct val="50000"/>
                  </a:spcBef>
                  <a:buFontTx/>
                  <a:buNone/>
                </a:pPr>
                <a:r>
                  <a:rPr lang="en-US" altLang="en-US" sz="4000" dirty="0">
                    <a:solidFill>
                      <a:schemeClr val="bg1"/>
                    </a:solidFill>
                    <a:latin typeface="Arial" panose="020B0604020202020204" pitchFamily="34" charset="0"/>
                  </a:rPr>
                  <a:t>XO</a:t>
                </a:r>
                <a:r>
                  <a:rPr lang="en-US" altLang="en-US" sz="4000" baseline="-25000" dirty="0">
                    <a:solidFill>
                      <a:schemeClr val="bg1"/>
                    </a:solidFill>
                    <a:latin typeface="Arial" panose="020B0604020202020204" pitchFamily="34" charset="0"/>
                  </a:rPr>
                  <a:t>2</a:t>
                </a:r>
                <a:r>
                  <a:rPr lang="en-US" altLang="en-US" sz="4000" dirty="0">
                    <a:solidFill>
                      <a:schemeClr val="bg1"/>
                    </a:solidFill>
                    <a:latin typeface="Arial" panose="020B0604020202020204" pitchFamily="34" charset="0"/>
                  </a:rPr>
                  <a:t> + </a:t>
                </a:r>
                <a:r>
                  <a:rPr lang="en-US" altLang="en-US" sz="4000" dirty="0" err="1">
                    <a:solidFill>
                      <a:schemeClr val="bg1"/>
                    </a:solidFill>
                    <a:latin typeface="Arial" panose="020B0604020202020204" pitchFamily="34" charset="0"/>
                  </a:rPr>
                  <a:t>h</a:t>
                </a:r>
                <a14:m>
                  <m:oMath xmlns:m="http://schemas.openxmlformats.org/officeDocument/2006/math">
                    <m:r>
                      <a:rPr lang="en-US" altLang="en-US" sz="4500" i="1" dirty="0">
                        <a:solidFill>
                          <a:schemeClr val="bg1"/>
                        </a:solidFill>
                        <a:latin typeface="Cambria Math" panose="02040503050406030204" pitchFamily="18" charset="0"/>
                        <a:ea typeface="Cambria Math" panose="02040503050406030204" pitchFamily="18" charset="0"/>
                      </a:rPr>
                      <m:t>𝜐</m:t>
                    </m:r>
                  </m:oMath>
                </a14:m>
                <a:r>
                  <a:rPr lang="en-US" altLang="en-US" sz="4000" dirty="0">
                    <a:solidFill>
                      <a:schemeClr val="bg1"/>
                    </a:solidFill>
                    <a:latin typeface="Arial" panose="020B0604020202020204" pitchFamily="34" charset="0"/>
                  </a:rPr>
                  <a:t> →   </a:t>
                </a:r>
                <a:r>
                  <a:rPr lang="en-US" altLang="en-US" sz="4000" dirty="0">
                    <a:solidFill>
                      <a:srgbClr val="92D050"/>
                    </a:solidFill>
                    <a:latin typeface="Arial" panose="020B0604020202020204" pitchFamily="34" charset="0"/>
                  </a:rPr>
                  <a:t>X</a:t>
                </a:r>
                <a:r>
                  <a:rPr lang="en-US" altLang="en-US" sz="4000" dirty="0">
                    <a:solidFill>
                      <a:schemeClr val="bg1"/>
                    </a:solidFill>
                    <a:latin typeface="Arial" panose="020B0604020202020204" pitchFamily="34" charset="0"/>
                  </a:rPr>
                  <a:t> + O</a:t>
                </a:r>
                <a:r>
                  <a:rPr lang="en-US" altLang="en-US" sz="4000" baseline="-25000" dirty="0">
                    <a:solidFill>
                      <a:schemeClr val="bg1"/>
                    </a:solidFill>
                    <a:latin typeface="Arial" panose="020B0604020202020204" pitchFamily="34" charset="0"/>
                  </a:rPr>
                  <a:t>2</a:t>
                </a:r>
              </a:p>
              <a:p>
                <a:pPr eaLnBrk="1" hangingPunct="1">
                  <a:spcBef>
                    <a:spcPct val="50000"/>
                  </a:spcBef>
                  <a:buFontTx/>
                  <a:buNone/>
                </a:pPr>
                <a:endParaRPr lang="en-US" altLang="en-US" sz="3000" baseline="-25000" dirty="0">
                  <a:solidFill>
                    <a:schemeClr val="bg1"/>
                  </a:solidFill>
                  <a:latin typeface="Arial" panose="020B0604020202020204" pitchFamily="34" charset="0"/>
                </a:endParaRPr>
              </a:p>
              <a:p>
                <a:pPr eaLnBrk="1" hangingPunct="1">
                  <a:spcBef>
                    <a:spcPct val="50000"/>
                  </a:spcBef>
                  <a:buFontTx/>
                  <a:buNone/>
                </a:pPr>
                <a:r>
                  <a:rPr lang="en-US" altLang="en-US" sz="4000" dirty="0">
                    <a:solidFill>
                      <a:srgbClr val="FFFF00"/>
                    </a:solidFill>
                    <a:latin typeface="Arial" panose="020B0604020202020204" pitchFamily="34" charset="0"/>
                  </a:rPr>
                  <a:t>Net:             </a:t>
                </a:r>
                <a:r>
                  <a:rPr lang="en-US" altLang="en-US" sz="4000" dirty="0">
                    <a:solidFill>
                      <a:srgbClr val="92D050"/>
                    </a:solidFill>
                    <a:latin typeface="Arial" panose="020B0604020202020204" pitchFamily="34" charset="0"/>
                  </a:rPr>
                  <a:t>X</a:t>
                </a:r>
                <a:r>
                  <a:rPr lang="en-US" altLang="en-US" sz="4000" baseline="-25000" dirty="0">
                    <a:solidFill>
                      <a:schemeClr val="accent4">
                        <a:lumMod val="60000"/>
                        <a:lumOff val="40000"/>
                      </a:schemeClr>
                    </a:solidFill>
                    <a:latin typeface="Arial" panose="020B0604020202020204" pitchFamily="34" charset="0"/>
                  </a:rPr>
                  <a:t>  </a:t>
                </a:r>
                <a:r>
                  <a:rPr lang="en-US" altLang="en-US" sz="4000" dirty="0">
                    <a:solidFill>
                      <a:schemeClr val="bg1"/>
                    </a:solidFill>
                    <a:latin typeface="Arial" panose="020B0604020202020204" pitchFamily="34" charset="0"/>
                  </a:rPr>
                  <a:t>→</a:t>
                </a:r>
                <a:r>
                  <a:rPr lang="en-US" altLang="en-US" sz="4000" dirty="0">
                    <a:solidFill>
                      <a:srgbClr val="FFFF00"/>
                    </a:solidFill>
                    <a:latin typeface="Arial" panose="020B0604020202020204" pitchFamily="34" charset="0"/>
                  </a:rPr>
                  <a:t> </a:t>
                </a:r>
                <a:r>
                  <a:rPr lang="en-US" altLang="en-US" sz="4000" dirty="0">
                    <a:solidFill>
                      <a:srgbClr val="92D050"/>
                    </a:solidFill>
                    <a:latin typeface="Arial" panose="020B0604020202020204" pitchFamily="34" charset="0"/>
                  </a:rPr>
                  <a:t>X</a:t>
                </a:r>
                <a:endParaRPr lang="en-US" altLang="en-US" sz="1500" dirty="0">
                  <a:solidFill>
                    <a:srgbClr val="92D050"/>
                  </a:solidFill>
                  <a:latin typeface="Arial" panose="020B0604020202020204" pitchFamily="34" charset="0"/>
                </a:endParaRPr>
              </a:p>
            </p:txBody>
          </p:sp>
        </mc:Choice>
        <mc:Fallback xmlns="">
          <p:sp>
            <p:nvSpPr>
              <p:cNvPr id="23556" name="Text Box 3"/>
              <p:cNvSpPr txBox="1">
                <a:spLocks noRot="1" noChangeAspect="1" noMove="1" noResize="1" noEditPoints="1" noAdjustHandles="1" noChangeArrowheads="1" noChangeShapeType="1" noTextEdit="1"/>
              </p:cNvSpPr>
              <p:nvPr/>
            </p:nvSpPr>
            <p:spPr bwMode="auto">
              <a:xfrm>
                <a:off x="1031607" y="19651"/>
                <a:ext cx="7080787" cy="5608395"/>
              </a:xfrm>
              <a:prstGeom prst="rect">
                <a:avLst/>
              </a:prstGeom>
              <a:blipFill>
                <a:blip r:embed="rId3"/>
                <a:stretch>
                  <a:fillRect l="-2862" b="-362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2" name="TextBox 1">
            <a:extLst>
              <a:ext uri="{FF2B5EF4-FFF2-40B4-BE49-F238E27FC236}">
                <a16:creationId xmlns:a16="http://schemas.microsoft.com/office/drawing/2014/main" id="{84D8374D-8B77-7B4D-A467-DA6C3DA7DF17}"/>
              </a:ext>
            </a:extLst>
          </p:cNvPr>
          <p:cNvSpPr txBox="1"/>
          <p:nvPr/>
        </p:nvSpPr>
        <p:spPr>
          <a:xfrm>
            <a:off x="2700333" y="-22820"/>
            <a:ext cx="3743333" cy="1477328"/>
          </a:xfrm>
          <a:prstGeom prst="rect">
            <a:avLst/>
          </a:prstGeom>
          <a:noFill/>
        </p:spPr>
        <p:txBody>
          <a:bodyPr wrap="none" rtlCol="0">
            <a:spAutoFit/>
          </a:bodyPr>
          <a:lstStyle/>
          <a:p>
            <a:pPr algn="ctr"/>
            <a:r>
              <a:rPr lang="en-US" sz="4500" dirty="0">
                <a:solidFill>
                  <a:srgbClr val="92D050"/>
                </a:solidFill>
              </a:rPr>
              <a:t>catalytic cycle</a:t>
            </a:r>
          </a:p>
          <a:p>
            <a:pPr algn="ctr"/>
            <a:r>
              <a:rPr lang="en-US" sz="4500" dirty="0">
                <a:solidFill>
                  <a:srgbClr val="92D050"/>
                </a:solidFill>
              </a:rPr>
              <a:t>catalysis</a:t>
            </a:r>
          </a:p>
        </p:txBody>
      </p:sp>
      <p:sp>
        <p:nvSpPr>
          <p:cNvPr id="5" name="Left Brace 4">
            <a:extLst>
              <a:ext uri="{FF2B5EF4-FFF2-40B4-BE49-F238E27FC236}">
                <a16:creationId xmlns:a16="http://schemas.microsoft.com/office/drawing/2014/main" id="{C5E2ADE0-CDCC-E94C-997F-2E57C286E52D}"/>
              </a:ext>
            </a:extLst>
          </p:cNvPr>
          <p:cNvSpPr/>
          <p:nvPr/>
        </p:nvSpPr>
        <p:spPr>
          <a:xfrm>
            <a:off x="1391647" y="1597360"/>
            <a:ext cx="840093" cy="2580287"/>
          </a:xfrm>
          <a:prstGeom prst="leftBrace">
            <a:avLst>
              <a:gd name="adj1" fmla="val 8333"/>
              <a:gd name="adj2" fmla="val 51641"/>
            </a:avLst>
          </a:prstGeom>
          <a:noFill/>
          <a:ln w="571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a:p>
        </p:txBody>
      </p:sp>
      <p:sp>
        <p:nvSpPr>
          <p:cNvPr id="6" name="TextBox 5">
            <a:extLst>
              <a:ext uri="{FF2B5EF4-FFF2-40B4-BE49-F238E27FC236}">
                <a16:creationId xmlns:a16="http://schemas.microsoft.com/office/drawing/2014/main" id="{B8A92CCE-4F1C-4145-B671-BC190FF3B99F}"/>
              </a:ext>
            </a:extLst>
          </p:cNvPr>
          <p:cNvSpPr txBox="1"/>
          <p:nvPr/>
        </p:nvSpPr>
        <p:spPr>
          <a:xfrm>
            <a:off x="2209800" y="4381500"/>
            <a:ext cx="4902304" cy="523220"/>
          </a:xfrm>
          <a:prstGeom prst="rect">
            <a:avLst/>
          </a:prstGeom>
          <a:noFill/>
        </p:spPr>
        <p:txBody>
          <a:bodyPr wrap="none" rtlCol="0">
            <a:spAutoFit/>
          </a:bodyPr>
          <a:lstStyle/>
          <a:p>
            <a:r>
              <a:rPr lang="en-US" sz="2800" dirty="0">
                <a:solidFill>
                  <a:srgbClr val="92D050"/>
                </a:solidFill>
              </a:rPr>
              <a:t>X is not consumed in reaction</a:t>
            </a:r>
          </a:p>
        </p:txBody>
      </p:sp>
    </p:spTree>
    <p:extLst>
      <p:ext uri="{BB962C8B-B14F-4D97-AF65-F5344CB8AC3E}">
        <p14:creationId xmlns:p14="http://schemas.microsoft.com/office/powerpoint/2010/main" val="19210109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3555" name="Slide Number Placeholder 3"/>
          <p:cNvSpPr>
            <a:spLocks noGrp="1"/>
          </p:cNvSpPr>
          <p:nvPr>
            <p:ph type="sldNum" sz="quarter" idx="4294967295"/>
          </p:nvPr>
        </p:nvSpPr>
        <p:spPr>
          <a:xfrm>
            <a:off x="6143625" y="5296960"/>
            <a:ext cx="1714500" cy="304271"/>
          </a:xfrm>
          <a:noFill/>
        </p:spPr>
        <p:txBody>
          <a:bodyPr/>
          <a:lstStyle>
            <a:lvl1pPr eaLnBrk="0" hangingPunct="0">
              <a:spcBef>
                <a:spcPct val="20000"/>
              </a:spcBef>
              <a:buChar char="•"/>
              <a:defRPr sz="2667">
                <a:solidFill>
                  <a:schemeClr val="tx1"/>
                </a:solidFill>
                <a:latin typeface="Times New Roman" panose="02020603050405020304" pitchFamily="18" charset="0"/>
              </a:defRPr>
            </a:lvl1pPr>
            <a:lvl2pPr marL="619100" indent="-238115" eaLnBrk="0" hangingPunct="0">
              <a:spcBef>
                <a:spcPct val="20000"/>
              </a:spcBef>
              <a:buChar char="–"/>
              <a:defRPr sz="2333">
                <a:solidFill>
                  <a:schemeClr val="tx1"/>
                </a:solidFill>
                <a:latin typeface="Times New Roman" panose="02020603050405020304" pitchFamily="18" charset="0"/>
              </a:defRPr>
            </a:lvl2pPr>
            <a:lvl3pPr marL="952462" indent="-190492" eaLnBrk="0" hangingPunct="0">
              <a:spcBef>
                <a:spcPct val="20000"/>
              </a:spcBef>
              <a:buChar char="•"/>
              <a:defRPr sz="2000">
                <a:solidFill>
                  <a:schemeClr val="tx1"/>
                </a:solidFill>
                <a:latin typeface="Times New Roman" panose="02020603050405020304" pitchFamily="18" charset="0"/>
              </a:defRPr>
            </a:lvl3pPr>
            <a:lvl4pPr marL="1333447" indent="-190492" eaLnBrk="0" hangingPunct="0">
              <a:spcBef>
                <a:spcPct val="20000"/>
              </a:spcBef>
              <a:buChar char="–"/>
              <a:defRPr sz="1667">
                <a:solidFill>
                  <a:schemeClr val="tx1"/>
                </a:solidFill>
                <a:latin typeface="Times New Roman" panose="02020603050405020304" pitchFamily="18" charset="0"/>
              </a:defRPr>
            </a:lvl4pPr>
            <a:lvl5pPr marL="1714431" indent="-190492" eaLnBrk="0" hangingPunct="0">
              <a:spcBef>
                <a:spcPct val="20000"/>
              </a:spcBef>
              <a:buChar char="»"/>
              <a:defRPr sz="1667">
                <a:solidFill>
                  <a:schemeClr val="tx1"/>
                </a:solidFill>
                <a:latin typeface="Times New Roman" panose="02020603050405020304" pitchFamily="18" charset="0"/>
              </a:defRPr>
            </a:lvl5pPr>
            <a:lvl6pPr marL="2095416" indent="-190492" eaLnBrk="0" fontAlgn="base" hangingPunct="0">
              <a:spcBef>
                <a:spcPct val="20000"/>
              </a:spcBef>
              <a:spcAft>
                <a:spcPct val="0"/>
              </a:spcAft>
              <a:buChar char="»"/>
              <a:defRPr sz="1667">
                <a:solidFill>
                  <a:schemeClr val="tx1"/>
                </a:solidFill>
                <a:latin typeface="Times New Roman" panose="02020603050405020304" pitchFamily="18" charset="0"/>
              </a:defRPr>
            </a:lvl6pPr>
            <a:lvl7pPr marL="2476401" indent="-190492" eaLnBrk="0" fontAlgn="base" hangingPunct="0">
              <a:spcBef>
                <a:spcPct val="20000"/>
              </a:spcBef>
              <a:spcAft>
                <a:spcPct val="0"/>
              </a:spcAft>
              <a:buChar char="»"/>
              <a:defRPr sz="1667">
                <a:solidFill>
                  <a:schemeClr val="tx1"/>
                </a:solidFill>
                <a:latin typeface="Times New Roman" panose="02020603050405020304" pitchFamily="18" charset="0"/>
              </a:defRPr>
            </a:lvl7pPr>
            <a:lvl8pPr marL="2857386" indent="-190492" eaLnBrk="0" fontAlgn="base" hangingPunct="0">
              <a:spcBef>
                <a:spcPct val="20000"/>
              </a:spcBef>
              <a:spcAft>
                <a:spcPct val="0"/>
              </a:spcAft>
              <a:buChar char="»"/>
              <a:defRPr sz="1667">
                <a:solidFill>
                  <a:schemeClr val="tx1"/>
                </a:solidFill>
                <a:latin typeface="Times New Roman" panose="02020603050405020304" pitchFamily="18" charset="0"/>
              </a:defRPr>
            </a:lvl8pPr>
            <a:lvl9pPr marL="3238370" indent="-190492" eaLnBrk="0" fontAlgn="base" hangingPunct="0">
              <a:spcBef>
                <a:spcPct val="20000"/>
              </a:spcBef>
              <a:spcAft>
                <a:spcPct val="0"/>
              </a:spcAft>
              <a:buChar char="»"/>
              <a:defRPr sz="1667">
                <a:solidFill>
                  <a:schemeClr val="tx1"/>
                </a:solidFill>
                <a:latin typeface="Times New Roman" panose="02020603050405020304" pitchFamily="18" charset="0"/>
              </a:defRPr>
            </a:lvl9pPr>
          </a:lstStyle>
          <a:p>
            <a:pPr eaLnBrk="1" hangingPunct="1">
              <a:spcBef>
                <a:spcPct val="0"/>
              </a:spcBef>
              <a:buFontTx/>
              <a:buNone/>
            </a:pPr>
            <a:fld id="{EB2EFE3B-ED98-4683-9C07-1B0BF2EDCC02}" type="slidenum">
              <a:rPr lang="en-GB" altLang="en-US" sz="1167"/>
              <a:pPr eaLnBrk="1" hangingPunct="1">
                <a:spcBef>
                  <a:spcPct val="0"/>
                </a:spcBef>
                <a:buFontTx/>
                <a:buNone/>
              </a:pPr>
              <a:t>13</a:t>
            </a:fld>
            <a:endParaRPr lang="en-GB" altLang="en-US" sz="1167"/>
          </a:p>
        </p:txBody>
      </p:sp>
      <mc:AlternateContent xmlns:mc="http://schemas.openxmlformats.org/markup-compatibility/2006" xmlns:a14="http://schemas.microsoft.com/office/drawing/2010/main">
        <mc:Choice Requires="a14">
          <p:sp>
            <p:nvSpPr>
              <p:cNvPr id="23556" name="Text Box 3"/>
              <p:cNvSpPr txBox="1">
                <a:spLocks noChangeArrowheads="1"/>
              </p:cNvSpPr>
              <p:nvPr/>
            </p:nvSpPr>
            <p:spPr bwMode="auto">
              <a:xfrm>
                <a:off x="1031607" y="19651"/>
                <a:ext cx="7080787" cy="560839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sz="3200">
                    <a:solidFill>
                      <a:schemeClr val="tx1"/>
                    </a:solidFill>
                    <a:latin typeface="Times New Roman" panose="02020603050405020304" pitchFamily="18" charset="0"/>
                  </a:defRPr>
                </a:lvl1pPr>
                <a:lvl2pPr marL="742950" indent="-285750" eaLnBrk="0" hangingPunct="0">
                  <a:spcBef>
                    <a:spcPct val="20000"/>
                  </a:spcBef>
                  <a:buChar char="–"/>
                  <a:defRPr sz="2800">
                    <a:solidFill>
                      <a:schemeClr val="tx1"/>
                    </a:solidFill>
                    <a:latin typeface="Times New Roman" panose="02020603050405020304" pitchFamily="18" charset="0"/>
                  </a:defRPr>
                </a:lvl2pPr>
                <a:lvl3pPr marL="1143000" indent="-228600" eaLnBrk="0" hangingPunct="0">
                  <a:spcBef>
                    <a:spcPct val="20000"/>
                  </a:spcBef>
                  <a:buChar char="•"/>
                  <a:defRPr sz="2400">
                    <a:solidFill>
                      <a:schemeClr val="tx1"/>
                    </a:solidFill>
                    <a:latin typeface="Times New Roman" panose="02020603050405020304" pitchFamily="18" charset="0"/>
                  </a:defRPr>
                </a:lvl3pPr>
                <a:lvl4pPr marL="1600200" indent="-228600" eaLnBrk="0" hangingPunct="0">
                  <a:spcBef>
                    <a:spcPct val="20000"/>
                  </a:spcBef>
                  <a:buChar char="–"/>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endParaRPr lang="en-GB" altLang="en-US" sz="1500" dirty="0">
                  <a:solidFill>
                    <a:schemeClr val="bg1"/>
                  </a:solidFill>
                  <a:latin typeface="Arial" panose="020B0604020202020204" pitchFamily="34" charset="0"/>
                </a:endParaRPr>
              </a:p>
              <a:p>
                <a:pPr eaLnBrk="1" hangingPunct="1">
                  <a:spcBef>
                    <a:spcPct val="50000"/>
                  </a:spcBef>
                  <a:buFontTx/>
                  <a:buNone/>
                </a:pPr>
                <a:endParaRPr lang="en-GB" altLang="en-US" sz="1500" dirty="0">
                  <a:solidFill>
                    <a:schemeClr val="bg1"/>
                  </a:solidFill>
                  <a:latin typeface="Arial" panose="020B0604020202020204" pitchFamily="34" charset="0"/>
                </a:endParaRPr>
              </a:p>
              <a:p>
                <a:pPr eaLnBrk="1" hangingPunct="1">
                  <a:spcBef>
                    <a:spcPct val="50000"/>
                  </a:spcBef>
                  <a:buFontTx/>
                  <a:buNone/>
                </a:pPr>
                <a:endParaRPr lang="en-GB" altLang="en-US" sz="1500" dirty="0">
                  <a:solidFill>
                    <a:schemeClr val="bg1"/>
                  </a:solidFill>
                  <a:latin typeface="Arial" panose="020B0604020202020204" pitchFamily="34" charset="0"/>
                </a:endParaRPr>
              </a:p>
              <a:p>
                <a:pPr eaLnBrk="1" hangingPunct="1">
                  <a:spcBef>
                    <a:spcPct val="50000"/>
                  </a:spcBef>
                  <a:buFontTx/>
                  <a:buNone/>
                </a:pPr>
                <a:endParaRPr lang="en-GB" altLang="en-US" sz="1500" dirty="0">
                  <a:solidFill>
                    <a:schemeClr val="bg1"/>
                  </a:solidFill>
                  <a:latin typeface="Arial" panose="020B0604020202020204" pitchFamily="34" charset="0"/>
                </a:endParaRPr>
              </a:p>
              <a:p>
                <a:pPr algn="ctr" eaLnBrk="1" hangingPunct="1">
                  <a:spcBef>
                    <a:spcPct val="50000"/>
                  </a:spcBef>
                  <a:buFontTx/>
                  <a:buNone/>
                </a:pPr>
                <a:r>
                  <a:rPr lang="en-GB" altLang="en-US" sz="4000" dirty="0">
                    <a:solidFill>
                      <a:schemeClr val="bg1"/>
                    </a:solidFill>
                    <a:latin typeface="Arial" panose="020B0604020202020204" pitchFamily="34" charset="0"/>
                  </a:rPr>
                  <a:t>O</a:t>
                </a:r>
                <a:r>
                  <a:rPr lang="en-US" altLang="en-US" sz="4000" baseline="-25000" dirty="0">
                    <a:solidFill>
                      <a:schemeClr val="bg1"/>
                    </a:solidFill>
                    <a:latin typeface="Arial" panose="020B0604020202020204" pitchFamily="34" charset="0"/>
                  </a:rPr>
                  <a:t>3</a:t>
                </a:r>
                <a:r>
                  <a:rPr lang="en-US" altLang="en-US" sz="4000" dirty="0">
                    <a:solidFill>
                      <a:schemeClr val="bg1"/>
                    </a:solidFill>
                    <a:latin typeface="Arial" panose="020B0604020202020204" pitchFamily="34" charset="0"/>
                  </a:rPr>
                  <a:t> + </a:t>
                </a:r>
                <a:r>
                  <a:rPr lang="en-US" altLang="en-US" sz="4000" dirty="0">
                    <a:solidFill>
                      <a:schemeClr val="accent6">
                        <a:lumMod val="60000"/>
                        <a:lumOff val="40000"/>
                      </a:schemeClr>
                    </a:solidFill>
                    <a:latin typeface="Arial" panose="020B0604020202020204" pitchFamily="34" charset="0"/>
                  </a:rPr>
                  <a:t>X</a:t>
                </a:r>
                <a:r>
                  <a:rPr lang="en-US" altLang="en-US" sz="4000" dirty="0">
                    <a:solidFill>
                      <a:schemeClr val="bg1"/>
                    </a:solidFill>
                    <a:latin typeface="Arial" panose="020B0604020202020204" pitchFamily="34" charset="0"/>
                  </a:rPr>
                  <a:t>     →   XO + O</a:t>
                </a:r>
                <a:r>
                  <a:rPr lang="en-US" altLang="en-US" sz="4000" baseline="-25000" dirty="0">
                    <a:solidFill>
                      <a:schemeClr val="bg1"/>
                    </a:solidFill>
                    <a:latin typeface="Arial" panose="020B0604020202020204" pitchFamily="34" charset="0"/>
                  </a:rPr>
                  <a:t>2</a:t>
                </a:r>
                <a:endParaRPr lang="en-US" altLang="en-US" sz="4000" dirty="0">
                  <a:solidFill>
                    <a:schemeClr val="bg1"/>
                  </a:solidFill>
                  <a:latin typeface="Arial" panose="020B0604020202020204" pitchFamily="34" charset="0"/>
                </a:endParaRPr>
              </a:p>
              <a:p>
                <a:pPr algn="ctr" eaLnBrk="1" hangingPunct="1">
                  <a:spcBef>
                    <a:spcPct val="50000"/>
                  </a:spcBef>
                  <a:buFontTx/>
                  <a:buNone/>
                </a:pPr>
                <a:r>
                  <a:rPr lang="en-US" altLang="en-US" sz="4000" dirty="0">
                    <a:solidFill>
                      <a:schemeClr val="bg1"/>
                    </a:solidFill>
                    <a:latin typeface="Arial" panose="020B0604020202020204" pitchFamily="34" charset="0"/>
                  </a:rPr>
                  <a:t>O</a:t>
                </a:r>
                <a:r>
                  <a:rPr lang="en-US" altLang="en-US" sz="4000" baseline="-25000" dirty="0">
                    <a:solidFill>
                      <a:schemeClr val="bg1"/>
                    </a:solidFill>
                    <a:latin typeface="Arial" panose="020B0604020202020204" pitchFamily="34" charset="0"/>
                  </a:rPr>
                  <a:t>3 </a:t>
                </a:r>
                <a:r>
                  <a:rPr lang="en-US" altLang="en-US" sz="4000" dirty="0">
                    <a:solidFill>
                      <a:schemeClr val="bg1"/>
                    </a:solidFill>
                    <a:latin typeface="Arial" panose="020B0604020202020204" pitchFamily="34" charset="0"/>
                  </a:rPr>
                  <a:t>+ XO  → XO</a:t>
                </a:r>
                <a:r>
                  <a:rPr lang="en-US" altLang="en-US" sz="4000" baseline="-25000" dirty="0">
                    <a:solidFill>
                      <a:schemeClr val="bg1"/>
                    </a:solidFill>
                    <a:latin typeface="Arial" panose="020B0604020202020204" pitchFamily="34" charset="0"/>
                  </a:rPr>
                  <a:t>2</a:t>
                </a:r>
                <a:r>
                  <a:rPr lang="en-US" altLang="en-US" sz="4000" dirty="0">
                    <a:solidFill>
                      <a:schemeClr val="bg1"/>
                    </a:solidFill>
                    <a:latin typeface="Arial" panose="020B0604020202020204" pitchFamily="34" charset="0"/>
                  </a:rPr>
                  <a:t> + O</a:t>
                </a:r>
                <a:r>
                  <a:rPr lang="en-US" altLang="en-US" sz="4000" baseline="-25000" dirty="0">
                    <a:solidFill>
                      <a:schemeClr val="bg1"/>
                    </a:solidFill>
                    <a:latin typeface="Arial" panose="020B0604020202020204" pitchFamily="34" charset="0"/>
                  </a:rPr>
                  <a:t>2</a:t>
                </a:r>
              </a:p>
              <a:p>
                <a:pPr algn="ctr" eaLnBrk="1" hangingPunct="1">
                  <a:spcBef>
                    <a:spcPct val="50000"/>
                  </a:spcBef>
                  <a:buFontTx/>
                  <a:buNone/>
                </a:pPr>
                <a:r>
                  <a:rPr lang="en-US" altLang="en-US" sz="4000" dirty="0">
                    <a:solidFill>
                      <a:schemeClr val="bg1"/>
                    </a:solidFill>
                    <a:latin typeface="Arial" panose="020B0604020202020204" pitchFamily="34" charset="0"/>
                  </a:rPr>
                  <a:t>XO</a:t>
                </a:r>
                <a:r>
                  <a:rPr lang="en-US" altLang="en-US" sz="4000" baseline="-25000" dirty="0">
                    <a:solidFill>
                      <a:schemeClr val="bg1"/>
                    </a:solidFill>
                    <a:latin typeface="Arial" panose="020B0604020202020204" pitchFamily="34" charset="0"/>
                  </a:rPr>
                  <a:t>2</a:t>
                </a:r>
                <a:r>
                  <a:rPr lang="en-US" altLang="en-US" sz="4000" dirty="0">
                    <a:solidFill>
                      <a:schemeClr val="bg1"/>
                    </a:solidFill>
                    <a:latin typeface="Arial" panose="020B0604020202020204" pitchFamily="34" charset="0"/>
                  </a:rPr>
                  <a:t> + </a:t>
                </a:r>
                <a:r>
                  <a:rPr lang="en-US" altLang="en-US" sz="4000" dirty="0" err="1">
                    <a:solidFill>
                      <a:schemeClr val="bg1"/>
                    </a:solidFill>
                    <a:latin typeface="Arial" panose="020B0604020202020204" pitchFamily="34" charset="0"/>
                  </a:rPr>
                  <a:t>h</a:t>
                </a:r>
                <a14:m>
                  <m:oMath xmlns:m="http://schemas.openxmlformats.org/officeDocument/2006/math">
                    <m:r>
                      <a:rPr lang="en-US" altLang="en-US" sz="4500" i="1" dirty="0">
                        <a:solidFill>
                          <a:schemeClr val="bg1"/>
                        </a:solidFill>
                        <a:latin typeface="Cambria Math" panose="02040503050406030204" pitchFamily="18" charset="0"/>
                        <a:ea typeface="Cambria Math" panose="02040503050406030204" pitchFamily="18" charset="0"/>
                      </a:rPr>
                      <m:t>𝜐</m:t>
                    </m:r>
                  </m:oMath>
                </a14:m>
                <a:r>
                  <a:rPr lang="en-US" altLang="en-US" sz="4000" dirty="0">
                    <a:solidFill>
                      <a:schemeClr val="bg1"/>
                    </a:solidFill>
                    <a:latin typeface="Arial" panose="020B0604020202020204" pitchFamily="34" charset="0"/>
                  </a:rPr>
                  <a:t> →   </a:t>
                </a:r>
                <a:r>
                  <a:rPr lang="en-US" altLang="en-US" sz="4000" dirty="0">
                    <a:solidFill>
                      <a:srgbClr val="92D050"/>
                    </a:solidFill>
                    <a:latin typeface="Arial" panose="020B0604020202020204" pitchFamily="34" charset="0"/>
                  </a:rPr>
                  <a:t>X</a:t>
                </a:r>
                <a:r>
                  <a:rPr lang="en-US" altLang="en-US" sz="4000" dirty="0">
                    <a:solidFill>
                      <a:schemeClr val="bg1"/>
                    </a:solidFill>
                    <a:latin typeface="Arial" panose="020B0604020202020204" pitchFamily="34" charset="0"/>
                  </a:rPr>
                  <a:t> + O</a:t>
                </a:r>
                <a:r>
                  <a:rPr lang="en-US" altLang="en-US" sz="4000" baseline="-25000" dirty="0">
                    <a:solidFill>
                      <a:schemeClr val="bg1"/>
                    </a:solidFill>
                    <a:latin typeface="Arial" panose="020B0604020202020204" pitchFamily="34" charset="0"/>
                  </a:rPr>
                  <a:t>2</a:t>
                </a:r>
              </a:p>
              <a:p>
                <a:pPr eaLnBrk="1" hangingPunct="1">
                  <a:spcBef>
                    <a:spcPct val="50000"/>
                  </a:spcBef>
                  <a:buFontTx/>
                  <a:buNone/>
                </a:pPr>
                <a:endParaRPr lang="en-US" altLang="en-US" sz="3000" baseline="-25000" dirty="0">
                  <a:solidFill>
                    <a:schemeClr val="bg1"/>
                  </a:solidFill>
                  <a:latin typeface="Arial" panose="020B0604020202020204" pitchFamily="34" charset="0"/>
                </a:endParaRPr>
              </a:p>
              <a:p>
                <a:pPr eaLnBrk="1" hangingPunct="1">
                  <a:spcBef>
                    <a:spcPct val="50000"/>
                  </a:spcBef>
                  <a:buFontTx/>
                  <a:buNone/>
                </a:pPr>
                <a:r>
                  <a:rPr lang="en-US" altLang="en-US" sz="4000" dirty="0">
                    <a:solidFill>
                      <a:srgbClr val="FFFF00"/>
                    </a:solidFill>
                    <a:latin typeface="Arial" panose="020B0604020202020204" pitchFamily="34" charset="0"/>
                  </a:rPr>
                  <a:t>Net:             </a:t>
                </a:r>
                <a:r>
                  <a:rPr lang="en-US" altLang="en-US" sz="4000" dirty="0">
                    <a:solidFill>
                      <a:srgbClr val="92D050"/>
                    </a:solidFill>
                    <a:latin typeface="Arial" panose="020B0604020202020204" pitchFamily="34" charset="0"/>
                  </a:rPr>
                  <a:t>X</a:t>
                </a:r>
                <a:r>
                  <a:rPr lang="en-US" altLang="en-US" sz="4000" baseline="-25000" dirty="0">
                    <a:solidFill>
                      <a:schemeClr val="accent4">
                        <a:lumMod val="60000"/>
                        <a:lumOff val="40000"/>
                      </a:schemeClr>
                    </a:solidFill>
                    <a:latin typeface="Arial" panose="020B0604020202020204" pitchFamily="34" charset="0"/>
                  </a:rPr>
                  <a:t>  </a:t>
                </a:r>
                <a:r>
                  <a:rPr lang="en-US" altLang="en-US" sz="4000" dirty="0">
                    <a:solidFill>
                      <a:schemeClr val="bg1"/>
                    </a:solidFill>
                    <a:latin typeface="Arial" panose="020B0604020202020204" pitchFamily="34" charset="0"/>
                  </a:rPr>
                  <a:t>→</a:t>
                </a:r>
                <a:r>
                  <a:rPr lang="en-US" altLang="en-US" sz="4000" dirty="0">
                    <a:solidFill>
                      <a:srgbClr val="FFFF00"/>
                    </a:solidFill>
                    <a:latin typeface="Arial" panose="020B0604020202020204" pitchFamily="34" charset="0"/>
                  </a:rPr>
                  <a:t> </a:t>
                </a:r>
                <a:r>
                  <a:rPr lang="en-US" altLang="en-US" sz="4000" dirty="0">
                    <a:solidFill>
                      <a:srgbClr val="92D050"/>
                    </a:solidFill>
                    <a:latin typeface="Arial" panose="020B0604020202020204" pitchFamily="34" charset="0"/>
                  </a:rPr>
                  <a:t>X</a:t>
                </a:r>
                <a:endParaRPr lang="en-US" altLang="en-US" sz="1500" dirty="0">
                  <a:solidFill>
                    <a:srgbClr val="92D050"/>
                  </a:solidFill>
                  <a:latin typeface="Arial" panose="020B0604020202020204" pitchFamily="34" charset="0"/>
                </a:endParaRPr>
              </a:p>
            </p:txBody>
          </p:sp>
        </mc:Choice>
        <mc:Fallback xmlns="">
          <p:sp>
            <p:nvSpPr>
              <p:cNvPr id="23556" name="Text Box 3"/>
              <p:cNvSpPr txBox="1">
                <a:spLocks noRot="1" noChangeAspect="1" noMove="1" noResize="1" noEditPoints="1" noAdjustHandles="1" noChangeArrowheads="1" noChangeShapeType="1" noTextEdit="1"/>
              </p:cNvSpPr>
              <p:nvPr/>
            </p:nvSpPr>
            <p:spPr bwMode="auto">
              <a:xfrm>
                <a:off x="1031607" y="19651"/>
                <a:ext cx="7080787" cy="5608395"/>
              </a:xfrm>
              <a:prstGeom prst="rect">
                <a:avLst/>
              </a:prstGeom>
              <a:blipFill>
                <a:blip r:embed="rId3"/>
                <a:stretch>
                  <a:fillRect l="-2862" b="-362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2" name="TextBox 1">
            <a:extLst>
              <a:ext uri="{FF2B5EF4-FFF2-40B4-BE49-F238E27FC236}">
                <a16:creationId xmlns:a16="http://schemas.microsoft.com/office/drawing/2014/main" id="{84D8374D-8B77-7B4D-A467-DA6C3DA7DF17}"/>
              </a:ext>
            </a:extLst>
          </p:cNvPr>
          <p:cNvSpPr txBox="1"/>
          <p:nvPr/>
        </p:nvSpPr>
        <p:spPr>
          <a:xfrm>
            <a:off x="2700333" y="-22820"/>
            <a:ext cx="3743333" cy="1477328"/>
          </a:xfrm>
          <a:prstGeom prst="rect">
            <a:avLst/>
          </a:prstGeom>
          <a:noFill/>
        </p:spPr>
        <p:txBody>
          <a:bodyPr wrap="none" rtlCol="0">
            <a:spAutoFit/>
          </a:bodyPr>
          <a:lstStyle/>
          <a:p>
            <a:pPr algn="ctr"/>
            <a:r>
              <a:rPr lang="en-US" sz="4500" dirty="0">
                <a:solidFill>
                  <a:srgbClr val="92D050"/>
                </a:solidFill>
              </a:rPr>
              <a:t>catalytic cycle</a:t>
            </a:r>
          </a:p>
          <a:p>
            <a:pPr algn="ctr"/>
            <a:r>
              <a:rPr lang="en-US" sz="4500" dirty="0">
                <a:solidFill>
                  <a:srgbClr val="92D050"/>
                </a:solidFill>
              </a:rPr>
              <a:t>catalysis</a:t>
            </a:r>
          </a:p>
        </p:txBody>
      </p:sp>
      <p:sp>
        <p:nvSpPr>
          <p:cNvPr id="5" name="TextBox 4">
            <a:extLst>
              <a:ext uri="{FF2B5EF4-FFF2-40B4-BE49-F238E27FC236}">
                <a16:creationId xmlns:a16="http://schemas.microsoft.com/office/drawing/2014/main" id="{1F8D9B6E-64FF-1240-850E-5F814D6936B2}"/>
              </a:ext>
            </a:extLst>
          </p:cNvPr>
          <p:cNvSpPr txBox="1"/>
          <p:nvPr/>
        </p:nvSpPr>
        <p:spPr>
          <a:xfrm rot="20968657">
            <a:off x="1108874" y="1433116"/>
            <a:ext cx="6960458" cy="1785104"/>
          </a:xfrm>
          <a:prstGeom prst="rect">
            <a:avLst/>
          </a:prstGeom>
          <a:solidFill>
            <a:srgbClr val="002060"/>
          </a:solidFill>
          <a:ln w="38100">
            <a:solidFill>
              <a:srgbClr val="FFFF00"/>
            </a:solidFill>
          </a:ln>
        </p:spPr>
        <p:txBody>
          <a:bodyPr wrap="square" rtlCol="0">
            <a:spAutoFit/>
          </a:bodyPr>
          <a:lstStyle/>
          <a:p>
            <a:pPr algn="ctr"/>
            <a:r>
              <a:rPr lang="en-US" sz="5500" dirty="0">
                <a:solidFill>
                  <a:srgbClr val="92D050"/>
                </a:solidFill>
              </a:rPr>
              <a:t>Where did the atomic </a:t>
            </a:r>
          </a:p>
          <a:p>
            <a:pPr algn="ctr"/>
            <a:r>
              <a:rPr lang="en-US" sz="5500" dirty="0">
                <a:solidFill>
                  <a:srgbClr val="92D050"/>
                </a:solidFill>
              </a:rPr>
              <a:t>chlorine come from?</a:t>
            </a:r>
          </a:p>
        </p:txBody>
      </p:sp>
      <p:sp>
        <p:nvSpPr>
          <p:cNvPr id="6" name="TextBox 5">
            <a:extLst>
              <a:ext uri="{FF2B5EF4-FFF2-40B4-BE49-F238E27FC236}">
                <a16:creationId xmlns:a16="http://schemas.microsoft.com/office/drawing/2014/main" id="{136B1A67-1C1B-D94E-98B2-39DD99638699}"/>
              </a:ext>
            </a:extLst>
          </p:cNvPr>
          <p:cNvSpPr txBox="1"/>
          <p:nvPr/>
        </p:nvSpPr>
        <p:spPr>
          <a:xfrm>
            <a:off x="2209800" y="4381500"/>
            <a:ext cx="4902304" cy="523220"/>
          </a:xfrm>
          <a:prstGeom prst="rect">
            <a:avLst/>
          </a:prstGeom>
          <a:noFill/>
        </p:spPr>
        <p:txBody>
          <a:bodyPr wrap="none" rtlCol="0">
            <a:spAutoFit/>
          </a:bodyPr>
          <a:lstStyle/>
          <a:p>
            <a:r>
              <a:rPr lang="en-US" sz="2800" dirty="0">
                <a:solidFill>
                  <a:srgbClr val="92D050"/>
                </a:solidFill>
              </a:rPr>
              <a:t>X is not consumed in reaction</a:t>
            </a:r>
          </a:p>
        </p:txBody>
      </p:sp>
    </p:spTree>
    <p:extLst>
      <p:ext uri="{BB962C8B-B14F-4D97-AF65-F5344CB8AC3E}">
        <p14:creationId xmlns:p14="http://schemas.microsoft.com/office/powerpoint/2010/main" val="13463752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54F4AC1-2CF0-CC4D-ADB5-36F79E78438E}"/>
              </a:ext>
            </a:extLst>
          </p:cNvPr>
          <p:cNvSpPr txBox="1"/>
          <p:nvPr/>
        </p:nvSpPr>
        <p:spPr>
          <a:xfrm>
            <a:off x="1108874" y="175608"/>
            <a:ext cx="6960458" cy="1323439"/>
          </a:xfrm>
          <a:prstGeom prst="rect">
            <a:avLst/>
          </a:prstGeom>
          <a:solidFill>
            <a:srgbClr val="002060"/>
          </a:solidFill>
          <a:ln w="38100">
            <a:noFill/>
          </a:ln>
        </p:spPr>
        <p:txBody>
          <a:bodyPr wrap="square" rtlCol="0">
            <a:spAutoFit/>
          </a:bodyPr>
          <a:lstStyle/>
          <a:p>
            <a:pPr algn="ctr"/>
            <a:r>
              <a:rPr lang="en-US" sz="4000" dirty="0">
                <a:solidFill>
                  <a:srgbClr val="FFFF00"/>
                </a:solidFill>
              </a:rPr>
              <a:t>Where did the atomic chlorine come from?  CFC-12</a:t>
            </a:r>
          </a:p>
        </p:txBody>
      </p:sp>
      <p:pic>
        <p:nvPicPr>
          <p:cNvPr id="10" name="Picture 9">
            <a:extLst>
              <a:ext uri="{FF2B5EF4-FFF2-40B4-BE49-F238E27FC236}">
                <a16:creationId xmlns:a16="http://schemas.microsoft.com/office/drawing/2014/main" id="{85DBEB3E-81CC-7D48-A24A-757EB13F5C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9869408">
            <a:off x="905229" y="1611051"/>
            <a:ext cx="4233333" cy="3968750"/>
          </a:xfrm>
          <a:prstGeom prst="rect">
            <a:avLst/>
          </a:prstGeom>
        </p:spPr>
      </p:pic>
      <p:pic>
        <p:nvPicPr>
          <p:cNvPr id="12" name="Picture 11">
            <a:extLst>
              <a:ext uri="{FF2B5EF4-FFF2-40B4-BE49-F238E27FC236}">
                <a16:creationId xmlns:a16="http://schemas.microsoft.com/office/drawing/2014/main" id="{CDC1004D-0950-0C46-8225-DA0D3692B2E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69801" y="2316469"/>
            <a:ext cx="2138295" cy="2169741"/>
          </a:xfrm>
          <a:prstGeom prst="rect">
            <a:avLst/>
          </a:prstGeom>
          <a:solidFill>
            <a:schemeClr val="bg1">
              <a:lumMod val="75000"/>
            </a:schemeClr>
          </a:solidFill>
        </p:spPr>
      </p:pic>
      <p:sp>
        <p:nvSpPr>
          <p:cNvPr id="13" name="TextBox 12">
            <a:extLst>
              <a:ext uri="{FF2B5EF4-FFF2-40B4-BE49-F238E27FC236}">
                <a16:creationId xmlns:a16="http://schemas.microsoft.com/office/drawing/2014/main" id="{ABCDB7A9-B2DA-364D-AEC0-868035D135BC}"/>
              </a:ext>
            </a:extLst>
          </p:cNvPr>
          <p:cNvSpPr txBox="1"/>
          <p:nvPr/>
        </p:nvSpPr>
        <p:spPr>
          <a:xfrm>
            <a:off x="3871759" y="4860943"/>
            <a:ext cx="3377848" cy="451342"/>
          </a:xfrm>
          <a:prstGeom prst="rect">
            <a:avLst/>
          </a:prstGeom>
          <a:noFill/>
        </p:spPr>
        <p:txBody>
          <a:bodyPr wrap="none" rtlCol="0">
            <a:spAutoFit/>
          </a:bodyPr>
          <a:lstStyle/>
          <a:p>
            <a:r>
              <a:rPr lang="en-US" sz="2333" dirty="0">
                <a:solidFill>
                  <a:schemeClr val="bg1"/>
                </a:solidFill>
              </a:rPr>
              <a:t>dichlorodifluoromethane</a:t>
            </a:r>
          </a:p>
        </p:txBody>
      </p:sp>
      <p:sp>
        <p:nvSpPr>
          <p:cNvPr id="16" name="TextBox 15">
            <a:extLst>
              <a:ext uri="{FF2B5EF4-FFF2-40B4-BE49-F238E27FC236}">
                <a16:creationId xmlns:a16="http://schemas.microsoft.com/office/drawing/2014/main" id="{38DB66B2-E9A4-CF4B-99E7-CC92A2401C10}"/>
              </a:ext>
            </a:extLst>
          </p:cNvPr>
          <p:cNvSpPr txBox="1"/>
          <p:nvPr/>
        </p:nvSpPr>
        <p:spPr>
          <a:xfrm>
            <a:off x="4589102" y="1442126"/>
            <a:ext cx="2662908" cy="451342"/>
          </a:xfrm>
          <a:prstGeom prst="rect">
            <a:avLst/>
          </a:prstGeom>
          <a:noFill/>
        </p:spPr>
        <p:txBody>
          <a:bodyPr wrap="none" rtlCol="0">
            <a:spAutoFit/>
          </a:bodyPr>
          <a:lstStyle/>
          <a:p>
            <a:r>
              <a:rPr lang="en-US" sz="2333" dirty="0">
                <a:solidFill>
                  <a:schemeClr val="bg1"/>
                </a:solidFill>
              </a:rPr>
              <a:t>chlorofluorocarbon</a:t>
            </a:r>
          </a:p>
        </p:txBody>
      </p:sp>
      <p:sp>
        <p:nvSpPr>
          <p:cNvPr id="7" name="TextBox 6">
            <a:extLst>
              <a:ext uri="{FF2B5EF4-FFF2-40B4-BE49-F238E27FC236}">
                <a16:creationId xmlns:a16="http://schemas.microsoft.com/office/drawing/2014/main" id="{E8E8F96B-7889-C54B-96AE-8B278181B9D2}"/>
              </a:ext>
            </a:extLst>
          </p:cNvPr>
          <p:cNvSpPr txBox="1"/>
          <p:nvPr/>
        </p:nvSpPr>
        <p:spPr>
          <a:xfrm>
            <a:off x="2209800" y="4152900"/>
            <a:ext cx="572593" cy="584775"/>
          </a:xfrm>
          <a:prstGeom prst="rect">
            <a:avLst/>
          </a:prstGeom>
          <a:noFill/>
        </p:spPr>
        <p:txBody>
          <a:bodyPr wrap="none" rtlCol="0">
            <a:spAutoFit/>
          </a:bodyPr>
          <a:lstStyle/>
          <a:p>
            <a:r>
              <a:rPr lang="en-US" sz="3200" dirty="0">
                <a:solidFill>
                  <a:schemeClr val="bg1"/>
                </a:solidFill>
              </a:rPr>
              <a:t>Cl</a:t>
            </a:r>
          </a:p>
        </p:txBody>
      </p:sp>
      <p:sp>
        <p:nvSpPr>
          <p:cNvPr id="8" name="TextBox 7">
            <a:extLst>
              <a:ext uri="{FF2B5EF4-FFF2-40B4-BE49-F238E27FC236}">
                <a16:creationId xmlns:a16="http://schemas.microsoft.com/office/drawing/2014/main" id="{2B23A2AB-C5A9-9C49-9FD6-EEAD0C242363}"/>
              </a:ext>
            </a:extLst>
          </p:cNvPr>
          <p:cNvSpPr txBox="1"/>
          <p:nvPr/>
        </p:nvSpPr>
        <p:spPr>
          <a:xfrm>
            <a:off x="3810000" y="3010651"/>
            <a:ext cx="572593" cy="584775"/>
          </a:xfrm>
          <a:prstGeom prst="rect">
            <a:avLst/>
          </a:prstGeom>
          <a:noFill/>
        </p:spPr>
        <p:txBody>
          <a:bodyPr wrap="none" rtlCol="0">
            <a:spAutoFit/>
          </a:bodyPr>
          <a:lstStyle/>
          <a:p>
            <a:r>
              <a:rPr lang="en-US" sz="3200" dirty="0">
                <a:solidFill>
                  <a:schemeClr val="bg1"/>
                </a:solidFill>
              </a:rPr>
              <a:t>Cl</a:t>
            </a:r>
          </a:p>
        </p:txBody>
      </p:sp>
      <p:sp>
        <p:nvSpPr>
          <p:cNvPr id="9" name="TextBox 8">
            <a:extLst>
              <a:ext uri="{FF2B5EF4-FFF2-40B4-BE49-F238E27FC236}">
                <a16:creationId xmlns:a16="http://schemas.microsoft.com/office/drawing/2014/main" id="{FF328EBA-A19E-8042-961B-51357189B833}"/>
              </a:ext>
            </a:extLst>
          </p:cNvPr>
          <p:cNvSpPr txBox="1"/>
          <p:nvPr/>
        </p:nvSpPr>
        <p:spPr>
          <a:xfrm>
            <a:off x="2743200" y="2413486"/>
            <a:ext cx="434734" cy="584775"/>
          </a:xfrm>
          <a:prstGeom prst="rect">
            <a:avLst/>
          </a:prstGeom>
          <a:noFill/>
        </p:spPr>
        <p:txBody>
          <a:bodyPr wrap="none" rtlCol="0">
            <a:spAutoFit/>
          </a:bodyPr>
          <a:lstStyle/>
          <a:p>
            <a:r>
              <a:rPr lang="en-US" sz="3200" dirty="0">
                <a:solidFill>
                  <a:schemeClr val="bg1"/>
                </a:solidFill>
              </a:rPr>
              <a:t>F</a:t>
            </a:r>
          </a:p>
        </p:txBody>
      </p:sp>
      <p:sp>
        <p:nvSpPr>
          <p:cNvPr id="11" name="TextBox 10">
            <a:extLst>
              <a:ext uri="{FF2B5EF4-FFF2-40B4-BE49-F238E27FC236}">
                <a16:creationId xmlns:a16="http://schemas.microsoft.com/office/drawing/2014/main" id="{0043A640-3D0B-D144-9A23-9ABD70721E31}"/>
              </a:ext>
            </a:extLst>
          </p:cNvPr>
          <p:cNvSpPr txBox="1"/>
          <p:nvPr/>
        </p:nvSpPr>
        <p:spPr>
          <a:xfrm>
            <a:off x="1508454" y="2533586"/>
            <a:ext cx="434734" cy="584775"/>
          </a:xfrm>
          <a:prstGeom prst="rect">
            <a:avLst/>
          </a:prstGeom>
          <a:noFill/>
        </p:spPr>
        <p:txBody>
          <a:bodyPr wrap="none" rtlCol="0">
            <a:spAutoFit/>
          </a:bodyPr>
          <a:lstStyle/>
          <a:p>
            <a:r>
              <a:rPr lang="en-US" sz="3200" dirty="0">
                <a:solidFill>
                  <a:schemeClr val="bg1"/>
                </a:solidFill>
              </a:rPr>
              <a:t>F</a:t>
            </a:r>
          </a:p>
        </p:txBody>
      </p:sp>
      <p:sp>
        <p:nvSpPr>
          <p:cNvPr id="14" name="TextBox 13">
            <a:extLst>
              <a:ext uri="{FF2B5EF4-FFF2-40B4-BE49-F238E27FC236}">
                <a16:creationId xmlns:a16="http://schemas.microsoft.com/office/drawing/2014/main" id="{9EA550CF-B23F-E941-BFBB-BD261A583FA2}"/>
              </a:ext>
            </a:extLst>
          </p:cNvPr>
          <p:cNvSpPr txBox="1"/>
          <p:nvPr/>
        </p:nvSpPr>
        <p:spPr>
          <a:xfrm>
            <a:off x="1755022" y="2847929"/>
            <a:ext cx="481222" cy="584775"/>
          </a:xfrm>
          <a:prstGeom prst="rect">
            <a:avLst/>
          </a:prstGeom>
          <a:noFill/>
        </p:spPr>
        <p:txBody>
          <a:bodyPr wrap="none" rtlCol="0">
            <a:spAutoFit/>
          </a:bodyPr>
          <a:lstStyle/>
          <a:p>
            <a:r>
              <a:rPr lang="en-US" sz="3200" dirty="0">
                <a:solidFill>
                  <a:schemeClr val="bg1"/>
                </a:solidFill>
              </a:rPr>
              <a:t>C</a:t>
            </a:r>
          </a:p>
        </p:txBody>
      </p:sp>
    </p:spTree>
    <p:extLst>
      <p:ext uri="{BB962C8B-B14F-4D97-AF65-F5344CB8AC3E}">
        <p14:creationId xmlns:p14="http://schemas.microsoft.com/office/powerpoint/2010/main" val="22664363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98D44"/>
        </a:solidFill>
        <a:effectLst/>
      </p:bgPr>
    </p:bg>
    <p:spTree>
      <p:nvGrpSpPr>
        <p:cNvPr id="1" name=""/>
        <p:cNvGrpSpPr/>
        <p:nvPr/>
      </p:nvGrpSpPr>
      <p:grpSpPr>
        <a:xfrm>
          <a:off x="0" y="0"/>
          <a:ext cx="0" cy="0"/>
          <a:chOff x="0" y="0"/>
          <a:chExt cx="0" cy="0"/>
        </a:xfrm>
      </p:grpSpPr>
      <p:sp>
        <p:nvSpPr>
          <p:cNvPr id="31746" name="TextBox 4">
            <a:extLst>
              <a:ext uri="{FF2B5EF4-FFF2-40B4-BE49-F238E27FC236}">
                <a16:creationId xmlns:a16="http://schemas.microsoft.com/office/drawing/2014/main" id="{FEA2326E-379B-B644-B487-8CF6D5D53534}"/>
              </a:ext>
            </a:extLst>
          </p:cNvPr>
          <p:cNvSpPr txBox="1">
            <a:spLocks noChangeArrowheads="1"/>
          </p:cNvSpPr>
          <p:nvPr/>
        </p:nvSpPr>
        <p:spPr bwMode="auto">
          <a:xfrm>
            <a:off x="1295400" y="1409700"/>
            <a:ext cx="6760184" cy="2431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dirty="0">
                <a:solidFill>
                  <a:srgbClr val="FFFF00"/>
                </a:solidFill>
                <a:cs typeface="Arial" panose="020B0604020202020204" pitchFamily="34" charset="0"/>
              </a:rPr>
              <a:t>Stratospheric Chemistry</a:t>
            </a:r>
          </a:p>
          <a:p>
            <a:pPr>
              <a:spcBef>
                <a:spcPct val="0"/>
              </a:spcBef>
              <a:buFontTx/>
              <a:buNone/>
            </a:pPr>
            <a:endParaRPr lang="en-US" altLang="en-US" sz="2400" dirty="0">
              <a:solidFill>
                <a:srgbClr val="FFFF00"/>
              </a:solidFill>
              <a:cs typeface="Arial" panose="020B0604020202020204" pitchFamily="34" charset="0"/>
            </a:endParaRPr>
          </a:p>
          <a:p>
            <a:pPr>
              <a:spcBef>
                <a:spcPct val="0"/>
              </a:spcBef>
              <a:buFontTx/>
              <a:buNone/>
            </a:pPr>
            <a:r>
              <a:rPr lang="en-US" altLang="en-US" sz="2400" dirty="0">
                <a:solidFill>
                  <a:srgbClr val="FFFF00"/>
                </a:solidFill>
                <a:cs typeface="Arial" panose="020B0604020202020204" pitchFamily="34" charset="0"/>
              </a:rPr>
              <a:t>	1. ozone loss by chlorine: general decline</a:t>
            </a:r>
          </a:p>
          <a:p>
            <a:pPr>
              <a:spcBef>
                <a:spcPct val="0"/>
              </a:spcBef>
              <a:buFontTx/>
              <a:buNone/>
            </a:pPr>
            <a:r>
              <a:rPr lang="en-US" altLang="en-US" sz="2400" dirty="0">
                <a:solidFill>
                  <a:srgbClr val="FFFF00"/>
                </a:solidFill>
                <a:cs typeface="Arial" panose="020B0604020202020204" pitchFamily="34" charset="0"/>
              </a:rPr>
              <a:t>	</a:t>
            </a:r>
          </a:p>
          <a:p>
            <a:pPr>
              <a:spcBef>
                <a:spcPct val="0"/>
              </a:spcBef>
              <a:buFontTx/>
              <a:buNone/>
            </a:pPr>
            <a:r>
              <a:rPr lang="en-US" altLang="en-US" sz="2400" dirty="0">
                <a:solidFill>
                  <a:srgbClr val="FFFF00"/>
                </a:solidFill>
                <a:cs typeface="Arial" panose="020B0604020202020204" pitchFamily="34" charset="0"/>
              </a:rPr>
              <a:t>	2. ozone hole: focused (space and time) </a:t>
            </a:r>
          </a:p>
          <a:p>
            <a:pPr>
              <a:spcBef>
                <a:spcPct val="0"/>
              </a:spcBef>
              <a:buFontTx/>
              <a:buNone/>
            </a:pPr>
            <a:r>
              <a:rPr lang="en-US" altLang="en-US" sz="2400" dirty="0">
                <a:solidFill>
                  <a:srgbClr val="FFFF00"/>
                </a:solidFill>
                <a:cs typeface="Arial" panose="020B0604020202020204" pitchFamily="34" charset="0"/>
              </a:rPr>
              <a:t>			and huge ozone loss</a:t>
            </a:r>
          </a:p>
        </p:txBody>
      </p:sp>
    </p:spTree>
    <p:extLst>
      <p:ext uri="{BB962C8B-B14F-4D97-AF65-F5344CB8AC3E}">
        <p14:creationId xmlns:p14="http://schemas.microsoft.com/office/powerpoint/2010/main" val="35396475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3">
            <a:extLst>
              <a:ext uri="{FF2B5EF4-FFF2-40B4-BE49-F238E27FC236}">
                <a16:creationId xmlns:a16="http://schemas.microsoft.com/office/drawing/2014/main" id="{36065C5A-2DB1-A641-995A-D04C3D27B673}"/>
              </a:ext>
            </a:extLst>
          </p:cNvPr>
          <p:cNvSpPr>
            <a:spLocks noChangeArrowheads="1"/>
          </p:cNvSpPr>
          <p:nvPr/>
        </p:nvSpPr>
        <p:spPr bwMode="auto">
          <a:xfrm>
            <a:off x="1333500" y="317500"/>
            <a:ext cx="6477000" cy="635000"/>
          </a:xfrm>
          <a:prstGeom prst="rect">
            <a:avLst/>
          </a:prstGeom>
          <a:noFill/>
          <a:ln>
            <a:noFill/>
          </a:ln>
          <a:effectLst/>
          <a:extLst>
            <a:ext uri="{909E8E84-426E-40dd-AFC4-6F175D3DCCD1}"/>
            <a:ext uri="{91240B29-F687-4f45-9708-019B960494DF}"/>
            <a:ext uri="{AF507438-7753-43e0-B8FC-AC1667EBCBE1}"/>
          </a:extLst>
        </p:spPr>
        <p:txBody>
          <a:bodyPr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defRPr/>
            </a:pPr>
            <a:r>
              <a:rPr lang="en-US" altLang="en-US" sz="2000" b="1" dirty="0">
                <a:solidFill>
                  <a:schemeClr val="bg1"/>
                </a:solidFill>
                <a:latin typeface="Arial Narrow" charset="0"/>
                <a:ea typeface="+mj-ea"/>
                <a:cs typeface="+mj-cs"/>
              </a:rPr>
              <a:t>O</a:t>
            </a:r>
            <a:r>
              <a:rPr lang="en-US" altLang="en-US" sz="2000" b="1" baseline="-25000" dirty="0">
                <a:solidFill>
                  <a:schemeClr val="bg1"/>
                </a:solidFill>
                <a:latin typeface="Arial Narrow" charset="0"/>
                <a:ea typeface="+mj-ea"/>
                <a:cs typeface="+mj-cs"/>
              </a:rPr>
              <a:t>3</a:t>
            </a:r>
            <a:r>
              <a:rPr lang="en-US" altLang="en-US" sz="2000" b="1" dirty="0">
                <a:solidFill>
                  <a:schemeClr val="bg1"/>
                </a:solidFill>
                <a:latin typeface="Arial Narrow" charset="0"/>
                <a:ea typeface="+mj-ea"/>
                <a:cs typeface="+mj-cs"/>
              </a:rPr>
              <a:t> hole time line, 1</a:t>
            </a:r>
          </a:p>
        </p:txBody>
      </p:sp>
      <p:pic>
        <p:nvPicPr>
          <p:cNvPr id="86018" name="Picture 4" descr="chap6_fig1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190500"/>
            <a:ext cx="9130335" cy="5370786"/>
          </a:xfrm>
          <a:prstGeom prst="rect">
            <a:avLst/>
          </a:prstGeom>
          <a:solidFill>
            <a:schemeClr val="bg1"/>
          </a:solidFill>
          <a:ln>
            <a:noFill/>
          </a:ln>
          <a:extLst/>
        </p:spPr>
      </p:pic>
      <p:sp>
        <p:nvSpPr>
          <p:cNvPr id="2" name="TextBox 1">
            <a:extLst>
              <a:ext uri="{FF2B5EF4-FFF2-40B4-BE49-F238E27FC236}">
                <a16:creationId xmlns:a16="http://schemas.microsoft.com/office/drawing/2014/main" id="{A454F4AF-C8A4-4A4F-B7D8-F7DBCCA12BE3}"/>
              </a:ext>
            </a:extLst>
          </p:cNvPr>
          <p:cNvSpPr txBox="1"/>
          <p:nvPr/>
        </p:nvSpPr>
        <p:spPr>
          <a:xfrm>
            <a:off x="253255" y="53945"/>
            <a:ext cx="8893781" cy="400110"/>
          </a:xfrm>
          <a:prstGeom prst="rect">
            <a:avLst/>
          </a:prstGeom>
          <a:noFill/>
        </p:spPr>
        <p:txBody>
          <a:bodyPr wrap="none" rtlCol="0">
            <a:spAutoFit/>
          </a:bodyPr>
          <a:lstStyle/>
          <a:p>
            <a:r>
              <a:rPr lang="en-US" sz="2000" dirty="0"/>
              <a:t>Think of the polar vortex as an extension of the jet stream in the stratosphere</a:t>
            </a:r>
          </a:p>
        </p:txBody>
      </p:sp>
    </p:spTree>
    <p:extLst>
      <p:ext uri="{BB962C8B-B14F-4D97-AF65-F5344CB8AC3E}">
        <p14:creationId xmlns:p14="http://schemas.microsoft.com/office/powerpoint/2010/main" val="40568845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98D44"/>
        </a:solidFill>
        <a:effectLst/>
      </p:bgPr>
    </p:bg>
    <p:spTree>
      <p:nvGrpSpPr>
        <p:cNvPr id="1" name=""/>
        <p:cNvGrpSpPr/>
        <p:nvPr/>
      </p:nvGrpSpPr>
      <p:grpSpPr>
        <a:xfrm>
          <a:off x="0" y="0"/>
          <a:ext cx="0" cy="0"/>
          <a:chOff x="0" y="0"/>
          <a:chExt cx="0" cy="0"/>
        </a:xfrm>
      </p:grpSpPr>
      <p:sp>
        <p:nvSpPr>
          <p:cNvPr id="31746" name="TextBox 4">
            <a:extLst>
              <a:ext uri="{FF2B5EF4-FFF2-40B4-BE49-F238E27FC236}">
                <a16:creationId xmlns:a16="http://schemas.microsoft.com/office/drawing/2014/main" id="{FEA2326E-379B-B644-B487-8CF6D5D53534}"/>
              </a:ext>
            </a:extLst>
          </p:cNvPr>
          <p:cNvSpPr txBox="1">
            <a:spLocks noChangeArrowheads="1"/>
          </p:cNvSpPr>
          <p:nvPr/>
        </p:nvSpPr>
        <p:spPr bwMode="auto">
          <a:xfrm>
            <a:off x="1524000" y="1638300"/>
            <a:ext cx="4518353"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dirty="0">
                <a:solidFill>
                  <a:srgbClr val="FFFF00"/>
                </a:solidFill>
                <a:cs typeface="Arial" panose="020B0604020202020204" pitchFamily="34" charset="0"/>
              </a:rPr>
              <a:t>Tropospheric Chemistry</a:t>
            </a:r>
          </a:p>
          <a:p>
            <a:pPr>
              <a:spcBef>
                <a:spcPct val="0"/>
              </a:spcBef>
              <a:buFontTx/>
              <a:buNone/>
            </a:pPr>
            <a:endParaRPr lang="en-US" altLang="en-US" sz="2400" dirty="0">
              <a:solidFill>
                <a:srgbClr val="FFFF00"/>
              </a:solidFill>
              <a:cs typeface="Arial" panose="020B0604020202020204" pitchFamily="34" charset="0"/>
            </a:endParaRPr>
          </a:p>
          <a:p>
            <a:pPr>
              <a:spcBef>
                <a:spcPct val="0"/>
              </a:spcBef>
              <a:buFontTx/>
              <a:buNone/>
            </a:pPr>
            <a:r>
              <a:rPr lang="en-US" altLang="en-US" sz="2400" dirty="0">
                <a:solidFill>
                  <a:srgbClr val="FFFF00"/>
                </a:solidFill>
                <a:cs typeface="Arial" panose="020B0604020202020204" pitchFamily="34" charset="0"/>
              </a:rPr>
              <a:t>	</a:t>
            </a:r>
          </a:p>
        </p:txBody>
      </p:sp>
    </p:spTree>
    <p:extLst>
      <p:ext uri="{BB962C8B-B14F-4D97-AF65-F5344CB8AC3E}">
        <p14:creationId xmlns:p14="http://schemas.microsoft.com/office/powerpoint/2010/main" val="8070724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https://www.environment.gov.scot/media/1556/sources-of-air-pollution.jpg">
            <a:extLst>
              <a:ext uri="{FF2B5EF4-FFF2-40B4-BE49-F238E27FC236}">
                <a16:creationId xmlns:a16="http://schemas.microsoft.com/office/drawing/2014/main" id="{20188562-1CC4-434A-A77B-FA7FC72BEE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633" y="-191782"/>
            <a:ext cx="9190399" cy="5936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28389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https://www.environment.gov.scot/media/1556/sources-of-air-pollution.jpg">
            <a:extLst>
              <a:ext uri="{FF2B5EF4-FFF2-40B4-BE49-F238E27FC236}">
                <a16:creationId xmlns:a16="http://schemas.microsoft.com/office/drawing/2014/main" id="{20188562-1CC4-434A-A77B-FA7FC72BEE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633" y="-191782"/>
            <a:ext cx="9190399" cy="5936999"/>
          </a:xfrm>
          <a:prstGeom prst="rect">
            <a:avLst/>
          </a:prstGeom>
          <a:noFill/>
          <a:extLst>
            <a:ext uri="{909E8E84-426E-40DD-AFC4-6F175D3DCCD1}">
              <a14:hiddenFill xmlns:a14="http://schemas.microsoft.com/office/drawing/2010/main">
                <a:solidFill>
                  <a:srgbClr val="FFFFFF"/>
                </a:solidFill>
              </a14:hiddenFill>
            </a:ext>
          </a:extLst>
        </p:spPr>
      </p:pic>
      <p:sp>
        <p:nvSpPr>
          <p:cNvPr id="2" name="Right Arrow 1">
            <a:extLst>
              <a:ext uri="{FF2B5EF4-FFF2-40B4-BE49-F238E27FC236}">
                <a16:creationId xmlns:a16="http://schemas.microsoft.com/office/drawing/2014/main" id="{E6F5B07A-64B5-7B4B-B04D-C462A386FC4E}"/>
              </a:ext>
            </a:extLst>
          </p:cNvPr>
          <p:cNvSpPr/>
          <p:nvPr/>
        </p:nvSpPr>
        <p:spPr>
          <a:xfrm rot="398008">
            <a:off x="3818422" y="1795724"/>
            <a:ext cx="2743200" cy="304800"/>
          </a:xfrm>
          <a:prstGeom prst="rightArrow">
            <a:avLst>
              <a:gd name="adj1" fmla="val 52348"/>
              <a:gd name="adj2" fmla="val 50000"/>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483139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https://www.environment.gov.scot/media/1556/sources-of-air-pollution.jpg">
            <a:extLst>
              <a:ext uri="{FF2B5EF4-FFF2-40B4-BE49-F238E27FC236}">
                <a16:creationId xmlns:a16="http://schemas.microsoft.com/office/drawing/2014/main" id="{20188562-1CC4-434A-A77B-FA7FC72BEE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633" y="-191782"/>
            <a:ext cx="9190399" cy="5936999"/>
          </a:xfrm>
          <a:prstGeom prst="rect">
            <a:avLst/>
          </a:prstGeom>
          <a:noFill/>
          <a:extLst>
            <a:ext uri="{909E8E84-426E-40DD-AFC4-6F175D3DCCD1}">
              <a14:hiddenFill xmlns:a14="http://schemas.microsoft.com/office/drawing/2010/main">
                <a:solidFill>
                  <a:srgbClr val="FFFFFF"/>
                </a:solidFill>
              </a14:hiddenFill>
            </a:ext>
          </a:extLst>
        </p:spPr>
      </p:pic>
      <p:sp>
        <p:nvSpPr>
          <p:cNvPr id="2" name="Right Arrow 1">
            <a:extLst>
              <a:ext uri="{FF2B5EF4-FFF2-40B4-BE49-F238E27FC236}">
                <a16:creationId xmlns:a16="http://schemas.microsoft.com/office/drawing/2014/main" id="{E6F5B07A-64B5-7B4B-B04D-C462A386FC4E}"/>
              </a:ext>
            </a:extLst>
          </p:cNvPr>
          <p:cNvSpPr/>
          <p:nvPr/>
        </p:nvSpPr>
        <p:spPr>
          <a:xfrm rot="21301389">
            <a:off x="4591480" y="2600372"/>
            <a:ext cx="2743200" cy="304800"/>
          </a:xfrm>
          <a:prstGeom prst="rightArrow">
            <a:avLst>
              <a:gd name="adj1" fmla="val 52348"/>
              <a:gd name="adj2" fmla="val 50000"/>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 name="Right Arrow 3">
            <a:extLst>
              <a:ext uri="{FF2B5EF4-FFF2-40B4-BE49-F238E27FC236}">
                <a16:creationId xmlns:a16="http://schemas.microsoft.com/office/drawing/2014/main" id="{BAF36FC7-A10D-374D-83D0-ED33C4F945AF}"/>
              </a:ext>
            </a:extLst>
          </p:cNvPr>
          <p:cNvSpPr/>
          <p:nvPr/>
        </p:nvSpPr>
        <p:spPr>
          <a:xfrm rot="663406">
            <a:off x="4595764" y="1974719"/>
            <a:ext cx="2743200" cy="304800"/>
          </a:xfrm>
          <a:prstGeom prst="rightArrow">
            <a:avLst>
              <a:gd name="adj1" fmla="val 52348"/>
              <a:gd name="adj2" fmla="val 50000"/>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867931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sp>
        <p:nvSpPr>
          <p:cNvPr id="31746" name="TextBox 4">
            <a:extLst>
              <a:ext uri="{FF2B5EF4-FFF2-40B4-BE49-F238E27FC236}">
                <a16:creationId xmlns:a16="http://schemas.microsoft.com/office/drawing/2014/main" id="{FEA2326E-379B-B644-B487-8CF6D5D53534}"/>
              </a:ext>
            </a:extLst>
          </p:cNvPr>
          <p:cNvSpPr txBox="1">
            <a:spLocks noChangeArrowheads="1"/>
          </p:cNvSpPr>
          <p:nvPr/>
        </p:nvSpPr>
        <p:spPr bwMode="auto">
          <a:xfrm>
            <a:off x="193140" y="1485900"/>
            <a:ext cx="8722260" cy="3231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4400" dirty="0">
                <a:solidFill>
                  <a:srgbClr val="FFFF00"/>
                </a:solidFill>
                <a:cs typeface="Arial" panose="020B0604020202020204" pitchFamily="34" charset="0"/>
              </a:rPr>
              <a:t>Ozone in the stratosphere: GOOD</a:t>
            </a:r>
          </a:p>
          <a:p>
            <a:pPr>
              <a:spcBef>
                <a:spcPct val="0"/>
              </a:spcBef>
              <a:buFontTx/>
              <a:buNone/>
            </a:pPr>
            <a:endParaRPr lang="en-US" altLang="en-US" sz="4400" dirty="0">
              <a:solidFill>
                <a:srgbClr val="FFFF00"/>
              </a:solidFill>
              <a:cs typeface="Arial" panose="020B0604020202020204" pitchFamily="34" charset="0"/>
            </a:endParaRPr>
          </a:p>
          <a:p>
            <a:pPr>
              <a:spcBef>
                <a:spcPct val="0"/>
              </a:spcBef>
              <a:buFontTx/>
              <a:buNone/>
            </a:pPr>
            <a:r>
              <a:rPr lang="en-US" altLang="en-US" sz="4400" dirty="0">
                <a:solidFill>
                  <a:srgbClr val="FFFF00"/>
                </a:solidFill>
                <a:cs typeface="Arial" panose="020B0604020202020204" pitchFamily="34" charset="0"/>
              </a:rPr>
              <a:t>Ozone in the troposphere: BAD</a:t>
            </a:r>
          </a:p>
          <a:p>
            <a:pPr>
              <a:spcBef>
                <a:spcPct val="0"/>
              </a:spcBef>
              <a:buFontTx/>
              <a:buNone/>
            </a:pPr>
            <a:endParaRPr lang="en-US" altLang="en-US" sz="3600" dirty="0">
              <a:solidFill>
                <a:srgbClr val="FFFF00"/>
              </a:solidFill>
              <a:cs typeface="Arial" panose="020B0604020202020204" pitchFamily="34" charset="0"/>
            </a:endParaRPr>
          </a:p>
          <a:p>
            <a:pPr>
              <a:spcBef>
                <a:spcPct val="0"/>
              </a:spcBef>
              <a:buFontTx/>
              <a:buNone/>
            </a:pPr>
            <a:r>
              <a:rPr lang="en-US" altLang="en-US" sz="3600" dirty="0">
                <a:solidFill>
                  <a:srgbClr val="FFFF00"/>
                </a:solidFill>
                <a:cs typeface="Arial" panose="020B0604020202020204" pitchFamily="34" charset="0"/>
              </a:rPr>
              <a:t>	</a:t>
            </a:r>
          </a:p>
        </p:txBody>
      </p:sp>
    </p:spTree>
    <p:extLst>
      <p:ext uri="{BB962C8B-B14F-4D97-AF65-F5344CB8AC3E}">
        <p14:creationId xmlns:p14="http://schemas.microsoft.com/office/powerpoint/2010/main" val="1309280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21BA136-F822-2043-B786-0034CBBC6A9B}"/>
              </a:ext>
            </a:extLst>
          </p:cNvPr>
          <p:cNvSpPr txBox="1"/>
          <p:nvPr/>
        </p:nvSpPr>
        <p:spPr>
          <a:xfrm>
            <a:off x="287016" y="1257300"/>
            <a:ext cx="8856984" cy="3170099"/>
          </a:xfrm>
          <a:prstGeom prst="rect">
            <a:avLst/>
          </a:prstGeom>
          <a:solidFill>
            <a:srgbClr val="002060"/>
          </a:solidFill>
        </p:spPr>
        <p:txBody>
          <a:bodyPr wrap="square" rtlCol="0">
            <a:spAutoFit/>
          </a:bodyPr>
          <a:lstStyle/>
          <a:p>
            <a:r>
              <a:rPr lang="en-GB" sz="2000" dirty="0">
                <a:solidFill>
                  <a:srgbClr val="00FFDA"/>
                </a:solidFill>
              </a:rPr>
              <a:t>OH </a:t>
            </a:r>
            <a:r>
              <a:rPr lang="en-GB" sz="2000" dirty="0">
                <a:solidFill>
                  <a:schemeClr val="bg1"/>
                </a:solidFill>
              </a:rPr>
              <a:t>has a short lifetime in the atmosphere (1 s) and nearly constant concentrations (reformed as quickly as it is destroyed).</a:t>
            </a:r>
          </a:p>
          <a:p>
            <a:endParaRPr lang="en-GB" sz="2000" dirty="0">
              <a:solidFill>
                <a:srgbClr val="00FFDA"/>
              </a:solidFill>
            </a:endParaRPr>
          </a:p>
          <a:p>
            <a:r>
              <a:rPr lang="en-GB" sz="2000" dirty="0">
                <a:solidFill>
                  <a:schemeClr val="bg1"/>
                </a:solidFill>
              </a:rPr>
              <a:t>Presence of </a:t>
            </a:r>
            <a:r>
              <a:rPr lang="en-GB" sz="2000" dirty="0">
                <a:solidFill>
                  <a:srgbClr val="00FFDA"/>
                </a:solidFill>
              </a:rPr>
              <a:t>OH</a:t>
            </a:r>
            <a:r>
              <a:rPr lang="en-GB" sz="2000" dirty="0">
                <a:solidFill>
                  <a:schemeClr val="bg1"/>
                </a:solidFill>
              </a:rPr>
              <a:t> in troposphere helps convert </a:t>
            </a:r>
            <a:r>
              <a:rPr lang="en-GB" sz="2000" dirty="0">
                <a:solidFill>
                  <a:schemeClr val="accent1">
                    <a:lumMod val="90000"/>
                  </a:schemeClr>
                </a:solidFill>
              </a:rPr>
              <a:t>NO</a:t>
            </a:r>
            <a:r>
              <a:rPr lang="en-GB" sz="2000" baseline="-25000" dirty="0">
                <a:solidFill>
                  <a:schemeClr val="accent1">
                    <a:lumMod val="90000"/>
                  </a:schemeClr>
                </a:solidFill>
              </a:rPr>
              <a:t>2</a:t>
            </a:r>
            <a:r>
              <a:rPr lang="en-GB" sz="2000" dirty="0">
                <a:solidFill>
                  <a:schemeClr val="bg1"/>
                </a:solidFill>
              </a:rPr>
              <a:t> (primary pollutant) to </a:t>
            </a:r>
            <a:r>
              <a:rPr lang="en-GB" sz="2000" dirty="0">
                <a:solidFill>
                  <a:srgbClr val="92D050"/>
                </a:solidFill>
              </a:rPr>
              <a:t>HNO</a:t>
            </a:r>
            <a:r>
              <a:rPr lang="en-GB" sz="2000" baseline="-25000" dirty="0">
                <a:solidFill>
                  <a:srgbClr val="92D050"/>
                </a:solidFill>
              </a:rPr>
              <a:t>3</a:t>
            </a:r>
            <a:r>
              <a:rPr lang="en-GB" sz="2000" dirty="0">
                <a:solidFill>
                  <a:schemeClr val="bg1"/>
                </a:solidFill>
              </a:rPr>
              <a:t> (secondary pollutant), and remove it from the gas phase.	</a:t>
            </a:r>
          </a:p>
          <a:p>
            <a:endParaRPr lang="en-GB" sz="2000" dirty="0">
              <a:solidFill>
                <a:schemeClr val="bg1"/>
              </a:solidFill>
            </a:endParaRPr>
          </a:p>
          <a:p>
            <a:r>
              <a:rPr lang="en-GB" sz="2000" dirty="0">
                <a:solidFill>
                  <a:schemeClr val="bg1"/>
                </a:solidFill>
              </a:rPr>
              <a:t>Other pollutants (e.g., methane, carbon monoxide, VOCs) have similar reactions with </a:t>
            </a:r>
            <a:r>
              <a:rPr lang="en-GB" sz="2000" dirty="0">
                <a:solidFill>
                  <a:srgbClr val="00FFDA"/>
                </a:solidFill>
              </a:rPr>
              <a:t>OH</a:t>
            </a:r>
            <a:r>
              <a:rPr lang="en-GB" sz="2000" dirty="0">
                <a:solidFill>
                  <a:schemeClr val="bg1"/>
                </a:solidFill>
              </a:rPr>
              <a:t>, thus cleansing the atmosphere of them.		</a:t>
            </a:r>
          </a:p>
          <a:p>
            <a:r>
              <a:rPr lang="en-GB" sz="2000" dirty="0">
                <a:solidFill>
                  <a:schemeClr val="bg1"/>
                </a:solidFill>
              </a:rPr>
              <a:t>			</a:t>
            </a:r>
          </a:p>
          <a:p>
            <a:r>
              <a:rPr lang="en-GB" sz="2000" dirty="0">
                <a:solidFill>
                  <a:schemeClr val="bg1"/>
                </a:solidFill>
              </a:rPr>
              <a:t>		</a:t>
            </a:r>
          </a:p>
        </p:txBody>
      </p:sp>
      <p:sp>
        <p:nvSpPr>
          <p:cNvPr id="5" name="Title 1">
            <a:extLst>
              <a:ext uri="{FF2B5EF4-FFF2-40B4-BE49-F238E27FC236}">
                <a16:creationId xmlns:a16="http://schemas.microsoft.com/office/drawing/2014/main" id="{7CFE293D-17C7-F148-AB0E-6FBE69A5EEDB}"/>
              </a:ext>
            </a:extLst>
          </p:cNvPr>
          <p:cNvSpPr txBox="1">
            <a:spLocks/>
          </p:cNvSpPr>
          <p:nvPr/>
        </p:nvSpPr>
        <p:spPr bwMode="auto">
          <a:xfrm>
            <a:off x="457200" y="190500"/>
            <a:ext cx="8686800" cy="620197"/>
          </a:xfrm>
          <a:prstGeom prst="rect">
            <a:avLst/>
          </a:prstGeom>
          <a:solidFill>
            <a:srgbClr val="002060"/>
          </a:solidFill>
          <a:ln>
            <a:noFill/>
          </a:ln>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2pPr>
            <a:lvl3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3pPr>
            <a:lvl4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4pPr>
            <a:lvl5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5pPr>
            <a:lvl6pPr marL="457200" algn="ctr" rtl="0" fontAlgn="base">
              <a:spcBef>
                <a:spcPct val="0"/>
              </a:spcBef>
              <a:spcAft>
                <a:spcPct val="0"/>
              </a:spcAft>
              <a:defRPr sz="4400">
                <a:solidFill>
                  <a:schemeClr val="tx2"/>
                </a:solidFill>
                <a:latin typeface="Arial" charset="0"/>
                <a:ea typeface="Arial" charset="0"/>
                <a:cs typeface="Arial" charset="0"/>
              </a:defRPr>
            </a:lvl6pPr>
            <a:lvl7pPr marL="914400" algn="ctr" rtl="0" fontAlgn="base">
              <a:spcBef>
                <a:spcPct val="0"/>
              </a:spcBef>
              <a:spcAft>
                <a:spcPct val="0"/>
              </a:spcAft>
              <a:defRPr sz="4400">
                <a:solidFill>
                  <a:schemeClr val="tx2"/>
                </a:solidFill>
                <a:latin typeface="Arial" charset="0"/>
                <a:ea typeface="Arial" charset="0"/>
                <a:cs typeface="Arial" charset="0"/>
              </a:defRPr>
            </a:lvl7pPr>
            <a:lvl8pPr marL="1371600" algn="ctr" rtl="0" fontAlgn="base">
              <a:spcBef>
                <a:spcPct val="0"/>
              </a:spcBef>
              <a:spcAft>
                <a:spcPct val="0"/>
              </a:spcAft>
              <a:defRPr sz="4400">
                <a:solidFill>
                  <a:schemeClr val="tx2"/>
                </a:solidFill>
                <a:latin typeface="Arial" charset="0"/>
                <a:ea typeface="Arial" charset="0"/>
                <a:cs typeface="Arial" charset="0"/>
              </a:defRPr>
            </a:lvl8pPr>
            <a:lvl9pPr marL="1828800" algn="ctr" rtl="0" fontAlgn="base">
              <a:spcBef>
                <a:spcPct val="0"/>
              </a:spcBef>
              <a:spcAft>
                <a:spcPct val="0"/>
              </a:spcAft>
              <a:defRPr sz="4400">
                <a:solidFill>
                  <a:schemeClr val="tx2"/>
                </a:solidFill>
                <a:latin typeface="Arial" charset="0"/>
                <a:ea typeface="Arial" charset="0"/>
                <a:cs typeface="Arial" charset="0"/>
              </a:defRPr>
            </a:lvl9pPr>
          </a:lstStyle>
          <a:p>
            <a:pPr algn="l"/>
            <a:r>
              <a:rPr lang="en-GB" sz="3000" kern="0" dirty="0">
                <a:solidFill>
                  <a:srgbClr val="FFFF00"/>
                </a:solidFill>
              </a:rPr>
              <a:t>OH is an important oxidant in the atmosphere.</a:t>
            </a:r>
            <a:endParaRPr lang="en-GB" sz="3000" kern="0" baseline="-25000" dirty="0">
              <a:solidFill>
                <a:srgbClr val="FFFF00"/>
              </a:solidFill>
            </a:endParaRPr>
          </a:p>
        </p:txBody>
      </p:sp>
    </p:spTree>
    <p:extLst>
      <p:ext uri="{BB962C8B-B14F-4D97-AF65-F5344CB8AC3E}">
        <p14:creationId xmlns:p14="http://schemas.microsoft.com/office/powerpoint/2010/main" val="11126838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21BA136-F822-2043-B786-0034CBBC6A9B}"/>
              </a:ext>
            </a:extLst>
          </p:cNvPr>
          <p:cNvSpPr txBox="1"/>
          <p:nvPr/>
        </p:nvSpPr>
        <p:spPr>
          <a:xfrm>
            <a:off x="282841" y="1562100"/>
            <a:ext cx="8856984" cy="2862322"/>
          </a:xfrm>
          <a:prstGeom prst="rect">
            <a:avLst/>
          </a:prstGeom>
          <a:solidFill>
            <a:srgbClr val="002060"/>
          </a:solidFill>
        </p:spPr>
        <p:txBody>
          <a:bodyPr wrap="square" rtlCol="0">
            <a:spAutoFit/>
          </a:bodyPr>
          <a:lstStyle/>
          <a:p>
            <a:r>
              <a:rPr lang="en-GB" sz="2000" dirty="0">
                <a:solidFill>
                  <a:schemeClr val="bg1"/>
                </a:solidFill>
              </a:rPr>
              <a:t>SO</a:t>
            </a:r>
            <a:r>
              <a:rPr lang="en-GB" sz="2000" baseline="-25000" dirty="0">
                <a:solidFill>
                  <a:schemeClr val="bg1"/>
                </a:solidFill>
              </a:rPr>
              <a:t>2</a:t>
            </a:r>
            <a:r>
              <a:rPr lang="en-GB" sz="2000" dirty="0">
                <a:solidFill>
                  <a:schemeClr val="bg1"/>
                </a:solidFill>
              </a:rPr>
              <a:t> (</a:t>
            </a:r>
            <a:r>
              <a:rPr lang="en-GB" sz="2000" dirty="0" err="1">
                <a:solidFill>
                  <a:schemeClr val="bg1"/>
                </a:solidFill>
              </a:rPr>
              <a:t>sulfur</a:t>
            </a:r>
            <a:r>
              <a:rPr lang="en-GB" sz="2000" dirty="0">
                <a:solidFill>
                  <a:schemeClr val="bg1"/>
                </a:solidFill>
              </a:rPr>
              <a:t> dioxide gas) and NO</a:t>
            </a:r>
            <a:r>
              <a:rPr lang="en-GB" sz="2000" baseline="-25000" dirty="0">
                <a:solidFill>
                  <a:schemeClr val="bg1"/>
                </a:solidFill>
              </a:rPr>
              <a:t>2</a:t>
            </a:r>
            <a:r>
              <a:rPr lang="en-GB" sz="2000" dirty="0">
                <a:solidFill>
                  <a:schemeClr val="bg1"/>
                </a:solidFill>
              </a:rPr>
              <a:t> (nitrogen dioxide)</a:t>
            </a:r>
          </a:p>
          <a:p>
            <a:endParaRPr lang="en-GB" sz="2000" dirty="0">
              <a:solidFill>
                <a:schemeClr val="bg1"/>
              </a:solidFill>
            </a:endParaRPr>
          </a:p>
          <a:p>
            <a:r>
              <a:rPr lang="en-GB" sz="2000" dirty="0">
                <a:solidFill>
                  <a:schemeClr val="bg1"/>
                </a:solidFill>
              </a:rPr>
              <a:t>Sulphuric acid aerosol particles are formed from OH oxidation of SO</a:t>
            </a:r>
            <a:r>
              <a:rPr lang="en-GB" sz="2000" baseline="-25000" dirty="0">
                <a:solidFill>
                  <a:schemeClr val="bg1"/>
                </a:solidFill>
              </a:rPr>
              <a:t>2</a:t>
            </a:r>
            <a:r>
              <a:rPr lang="en-GB" sz="2000" dirty="0">
                <a:solidFill>
                  <a:schemeClr val="bg1"/>
                </a:solidFill>
              </a:rPr>
              <a:t>.  </a:t>
            </a:r>
          </a:p>
          <a:p>
            <a:r>
              <a:rPr lang="en-GB" sz="2000" dirty="0">
                <a:solidFill>
                  <a:schemeClr val="bg1"/>
                </a:solidFill>
              </a:rPr>
              <a:t> </a:t>
            </a:r>
          </a:p>
          <a:p>
            <a:r>
              <a:rPr lang="en-GB" sz="2000" dirty="0">
                <a:solidFill>
                  <a:schemeClr val="bg1"/>
                </a:solidFill>
              </a:rPr>
              <a:t>Nitric acid aerosol particles are formed from OH oxidation of NO</a:t>
            </a:r>
            <a:r>
              <a:rPr lang="en-GB" sz="2000" baseline="-25000" dirty="0">
                <a:solidFill>
                  <a:schemeClr val="bg1"/>
                </a:solidFill>
              </a:rPr>
              <a:t>2</a:t>
            </a:r>
            <a:r>
              <a:rPr lang="en-GB" sz="2000" dirty="0">
                <a:solidFill>
                  <a:schemeClr val="bg1"/>
                </a:solidFill>
              </a:rPr>
              <a:t>. </a:t>
            </a:r>
          </a:p>
          <a:p>
            <a:endParaRPr lang="en-GB" sz="2000" dirty="0">
              <a:solidFill>
                <a:schemeClr val="bg1"/>
              </a:solidFill>
            </a:endParaRPr>
          </a:p>
          <a:p>
            <a:r>
              <a:rPr lang="en-GB" sz="2000" dirty="0">
                <a:solidFill>
                  <a:schemeClr val="bg1"/>
                </a:solidFill>
              </a:rPr>
              <a:t>Dry deposition (settling on ground) or wet deposition (in precipitation) </a:t>
            </a:r>
          </a:p>
          <a:p>
            <a:r>
              <a:rPr lang="en-GB" sz="2000" dirty="0">
                <a:solidFill>
                  <a:schemeClr val="bg1"/>
                </a:solidFill>
              </a:rPr>
              <a:t> </a:t>
            </a:r>
          </a:p>
          <a:p>
            <a:endParaRPr lang="en-GB" sz="2000" dirty="0">
              <a:solidFill>
                <a:schemeClr val="bg1"/>
              </a:solidFill>
            </a:endParaRPr>
          </a:p>
        </p:txBody>
      </p:sp>
      <p:sp>
        <p:nvSpPr>
          <p:cNvPr id="5" name="Title 1">
            <a:extLst>
              <a:ext uri="{FF2B5EF4-FFF2-40B4-BE49-F238E27FC236}">
                <a16:creationId xmlns:a16="http://schemas.microsoft.com/office/drawing/2014/main" id="{7CFE293D-17C7-F148-AB0E-6FBE69A5EEDB}"/>
              </a:ext>
            </a:extLst>
          </p:cNvPr>
          <p:cNvSpPr txBox="1">
            <a:spLocks/>
          </p:cNvSpPr>
          <p:nvPr/>
        </p:nvSpPr>
        <p:spPr bwMode="auto">
          <a:xfrm>
            <a:off x="282841" y="266700"/>
            <a:ext cx="8686800" cy="620197"/>
          </a:xfrm>
          <a:prstGeom prst="rect">
            <a:avLst/>
          </a:prstGeom>
          <a:solidFill>
            <a:srgbClr val="002060"/>
          </a:solidFill>
          <a:ln>
            <a:noFill/>
          </a:ln>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2pPr>
            <a:lvl3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3pPr>
            <a:lvl4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4pPr>
            <a:lvl5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5pPr>
            <a:lvl6pPr marL="457200" algn="ctr" rtl="0" fontAlgn="base">
              <a:spcBef>
                <a:spcPct val="0"/>
              </a:spcBef>
              <a:spcAft>
                <a:spcPct val="0"/>
              </a:spcAft>
              <a:defRPr sz="4400">
                <a:solidFill>
                  <a:schemeClr val="tx2"/>
                </a:solidFill>
                <a:latin typeface="Arial" charset="0"/>
                <a:ea typeface="Arial" charset="0"/>
                <a:cs typeface="Arial" charset="0"/>
              </a:defRPr>
            </a:lvl6pPr>
            <a:lvl7pPr marL="914400" algn="ctr" rtl="0" fontAlgn="base">
              <a:spcBef>
                <a:spcPct val="0"/>
              </a:spcBef>
              <a:spcAft>
                <a:spcPct val="0"/>
              </a:spcAft>
              <a:defRPr sz="4400">
                <a:solidFill>
                  <a:schemeClr val="tx2"/>
                </a:solidFill>
                <a:latin typeface="Arial" charset="0"/>
                <a:ea typeface="Arial" charset="0"/>
                <a:cs typeface="Arial" charset="0"/>
              </a:defRPr>
            </a:lvl7pPr>
            <a:lvl8pPr marL="1371600" algn="ctr" rtl="0" fontAlgn="base">
              <a:spcBef>
                <a:spcPct val="0"/>
              </a:spcBef>
              <a:spcAft>
                <a:spcPct val="0"/>
              </a:spcAft>
              <a:defRPr sz="4400">
                <a:solidFill>
                  <a:schemeClr val="tx2"/>
                </a:solidFill>
                <a:latin typeface="Arial" charset="0"/>
                <a:ea typeface="Arial" charset="0"/>
                <a:cs typeface="Arial" charset="0"/>
              </a:defRPr>
            </a:lvl8pPr>
            <a:lvl9pPr marL="1828800" algn="ctr" rtl="0" fontAlgn="base">
              <a:spcBef>
                <a:spcPct val="0"/>
              </a:spcBef>
              <a:spcAft>
                <a:spcPct val="0"/>
              </a:spcAft>
              <a:defRPr sz="4400">
                <a:solidFill>
                  <a:schemeClr val="tx2"/>
                </a:solidFill>
                <a:latin typeface="Arial" charset="0"/>
                <a:ea typeface="Arial" charset="0"/>
                <a:cs typeface="Arial" charset="0"/>
              </a:defRPr>
            </a:lvl9pPr>
          </a:lstStyle>
          <a:p>
            <a:pPr algn="l"/>
            <a:r>
              <a:rPr lang="en-GB" sz="3000" kern="0" dirty="0">
                <a:solidFill>
                  <a:srgbClr val="FFFF00"/>
                </a:solidFill>
              </a:rPr>
              <a:t>Other pollutants besides NO</a:t>
            </a:r>
            <a:r>
              <a:rPr lang="en-GB" sz="3000" kern="0" baseline="-25000" dirty="0">
                <a:solidFill>
                  <a:srgbClr val="FFFF00"/>
                </a:solidFill>
              </a:rPr>
              <a:t>x</a:t>
            </a:r>
            <a:r>
              <a:rPr lang="en-GB" sz="3000" kern="0" dirty="0">
                <a:solidFill>
                  <a:srgbClr val="FFFF00"/>
                </a:solidFill>
              </a:rPr>
              <a:t> and O</a:t>
            </a:r>
            <a:r>
              <a:rPr lang="en-GB" sz="3000" kern="0" baseline="-25000" dirty="0">
                <a:solidFill>
                  <a:srgbClr val="FFFF00"/>
                </a:solidFill>
              </a:rPr>
              <a:t>3</a:t>
            </a:r>
            <a:r>
              <a:rPr lang="en-GB" sz="3000" kern="0" dirty="0">
                <a:solidFill>
                  <a:srgbClr val="FFFF00"/>
                </a:solidFill>
              </a:rPr>
              <a:t> can cause air-quality and health concerns.</a:t>
            </a:r>
            <a:endParaRPr lang="en-GB" sz="3000" kern="0" baseline="-25000" dirty="0">
              <a:solidFill>
                <a:srgbClr val="FFFF00"/>
              </a:solidFill>
            </a:endParaRPr>
          </a:p>
        </p:txBody>
      </p:sp>
    </p:spTree>
    <p:extLst>
      <p:ext uri="{BB962C8B-B14F-4D97-AF65-F5344CB8AC3E}">
        <p14:creationId xmlns:p14="http://schemas.microsoft.com/office/powerpoint/2010/main" val="6644962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21BA136-F822-2043-B786-0034CBBC6A9B}"/>
              </a:ext>
            </a:extLst>
          </p:cNvPr>
          <p:cNvSpPr txBox="1"/>
          <p:nvPr/>
        </p:nvSpPr>
        <p:spPr>
          <a:xfrm>
            <a:off x="0" y="1257300"/>
            <a:ext cx="9144000" cy="2246769"/>
          </a:xfrm>
          <a:prstGeom prst="rect">
            <a:avLst/>
          </a:prstGeom>
          <a:solidFill>
            <a:srgbClr val="002060"/>
          </a:solidFill>
        </p:spPr>
        <p:txBody>
          <a:bodyPr wrap="square" rtlCol="0">
            <a:spAutoFit/>
          </a:bodyPr>
          <a:lstStyle/>
          <a:p>
            <a:endParaRPr lang="en-GB" sz="2000" dirty="0">
              <a:solidFill>
                <a:schemeClr val="bg1"/>
              </a:solidFill>
            </a:endParaRPr>
          </a:p>
          <a:p>
            <a:r>
              <a:rPr lang="en-GB" sz="2000" dirty="0">
                <a:solidFill>
                  <a:schemeClr val="bg1"/>
                </a:solidFill>
              </a:rPr>
              <a:t>Particulate Matter (PM)</a:t>
            </a:r>
          </a:p>
          <a:p>
            <a:r>
              <a:rPr lang="en-GB" sz="2000" dirty="0">
                <a:solidFill>
                  <a:schemeClr val="bg1"/>
                </a:solidFill>
              </a:rPr>
              <a:t>	PM2.5	– particulates with diameters 2.5 microns or less</a:t>
            </a:r>
          </a:p>
          <a:p>
            <a:r>
              <a:rPr lang="en-GB" sz="2000" dirty="0">
                <a:solidFill>
                  <a:schemeClr val="bg1"/>
                </a:solidFill>
              </a:rPr>
              <a:t>		reactions of gases produced by combustion produce solid 		aerosol particles</a:t>
            </a:r>
          </a:p>
          <a:p>
            <a:r>
              <a:rPr lang="en-GB" sz="2000" dirty="0">
                <a:solidFill>
                  <a:schemeClr val="bg1"/>
                </a:solidFill>
              </a:rPr>
              <a:t>	PM10	– particulates with diameters 10 microns or less</a:t>
            </a:r>
          </a:p>
          <a:p>
            <a:r>
              <a:rPr lang="en-GB" sz="2000" dirty="0">
                <a:solidFill>
                  <a:schemeClr val="bg1"/>
                </a:solidFill>
              </a:rPr>
              <a:t>		dusts, pollen, bacteria, products of burning, soot, tire fragments</a:t>
            </a:r>
          </a:p>
        </p:txBody>
      </p:sp>
      <p:sp>
        <p:nvSpPr>
          <p:cNvPr id="5" name="Title 1">
            <a:extLst>
              <a:ext uri="{FF2B5EF4-FFF2-40B4-BE49-F238E27FC236}">
                <a16:creationId xmlns:a16="http://schemas.microsoft.com/office/drawing/2014/main" id="{7CFE293D-17C7-F148-AB0E-6FBE69A5EEDB}"/>
              </a:ext>
            </a:extLst>
          </p:cNvPr>
          <p:cNvSpPr txBox="1">
            <a:spLocks/>
          </p:cNvSpPr>
          <p:nvPr/>
        </p:nvSpPr>
        <p:spPr bwMode="auto">
          <a:xfrm>
            <a:off x="282841" y="266700"/>
            <a:ext cx="8686800" cy="620197"/>
          </a:xfrm>
          <a:prstGeom prst="rect">
            <a:avLst/>
          </a:prstGeom>
          <a:solidFill>
            <a:srgbClr val="002060"/>
          </a:solidFill>
          <a:ln>
            <a:noFill/>
          </a:ln>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2pPr>
            <a:lvl3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3pPr>
            <a:lvl4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4pPr>
            <a:lvl5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5pPr>
            <a:lvl6pPr marL="457200" algn="ctr" rtl="0" fontAlgn="base">
              <a:spcBef>
                <a:spcPct val="0"/>
              </a:spcBef>
              <a:spcAft>
                <a:spcPct val="0"/>
              </a:spcAft>
              <a:defRPr sz="4400">
                <a:solidFill>
                  <a:schemeClr val="tx2"/>
                </a:solidFill>
                <a:latin typeface="Arial" charset="0"/>
                <a:ea typeface="Arial" charset="0"/>
                <a:cs typeface="Arial" charset="0"/>
              </a:defRPr>
            </a:lvl6pPr>
            <a:lvl7pPr marL="914400" algn="ctr" rtl="0" fontAlgn="base">
              <a:spcBef>
                <a:spcPct val="0"/>
              </a:spcBef>
              <a:spcAft>
                <a:spcPct val="0"/>
              </a:spcAft>
              <a:defRPr sz="4400">
                <a:solidFill>
                  <a:schemeClr val="tx2"/>
                </a:solidFill>
                <a:latin typeface="Arial" charset="0"/>
                <a:ea typeface="Arial" charset="0"/>
                <a:cs typeface="Arial" charset="0"/>
              </a:defRPr>
            </a:lvl7pPr>
            <a:lvl8pPr marL="1371600" algn="ctr" rtl="0" fontAlgn="base">
              <a:spcBef>
                <a:spcPct val="0"/>
              </a:spcBef>
              <a:spcAft>
                <a:spcPct val="0"/>
              </a:spcAft>
              <a:defRPr sz="4400">
                <a:solidFill>
                  <a:schemeClr val="tx2"/>
                </a:solidFill>
                <a:latin typeface="Arial" charset="0"/>
                <a:ea typeface="Arial" charset="0"/>
                <a:cs typeface="Arial" charset="0"/>
              </a:defRPr>
            </a:lvl8pPr>
            <a:lvl9pPr marL="1828800" algn="ctr" rtl="0" fontAlgn="base">
              <a:spcBef>
                <a:spcPct val="0"/>
              </a:spcBef>
              <a:spcAft>
                <a:spcPct val="0"/>
              </a:spcAft>
              <a:defRPr sz="4400">
                <a:solidFill>
                  <a:schemeClr val="tx2"/>
                </a:solidFill>
                <a:latin typeface="Arial" charset="0"/>
                <a:ea typeface="Arial" charset="0"/>
                <a:cs typeface="Arial" charset="0"/>
              </a:defRPr>
            </a:lvl9pPr>
          </a:lstStyle>
          <a:p>
            <a:pPr algn="l"/>
            <a:r>
              <a:rPr lang="en-GB" sz="3000" kern="0" dirty="0">
                <a:solidFill>
                  <a:srgbClr val="FFFF00"/>
                </a:solidFill>
              </a:rPr>
              <a:t>Other pollutants besides NO</a:t>
            </a:r>
            <a:r>
              <a:rPr lang="en-GB" sz="3000" kern="0" baseline="-25000" dirty="0">
                <a:solidFill>
                  <a:srgbClr val="FFFF00"/>
                </a:solidFill>
              </a:rPr>
              <a:t>x</a:t>
            </a:r>
            <a:r>
              <a:rPr lang="en-GB" sz="3000" kern="0" dirty="0">
                <a:solidFill>
                  <a:srgbClr val="FFFF00"/>
                </a:solidFill>
              </a:rPr>
              <a:t> and O</a:t>
            </a:r>
            <a:r>
              <a:rPr lang="en-GB" sz="3000" kern="0" baseline="-25000" dirty="0">
                <a:solidFill>
                  <a:srgbClr val="FFFF00"/>
                </a:solidFill>
              </a:rPr>
              <a:t>3</a:t>
            </a:r>
            <a:r>
              <a:rPr lang="en-GB" sz="3000" kern="0" dirty="0">
                <a:solidFill>
                  <a:srgbClr val="FFFF00"/>
                </a:solidFill>
              </a:rPr>
              <a:t> can cause air-quality and health concerns.</a:t>
            </a:r>
            <a:endParaRPr lang="en-GB" sz="3000" kern="0" baseline="-25000" dirty="0">
              <a:solidFill>
                <a:srgbClr val="FFFF00"/>
              </a:solidFill>
            </a:endParaRPr>
          </a:p>
        </p:txBody>
      </p:sp>
      <p:pic>
        <p:nvPicPr>
          <p:cNvPr id="3" name="Picture 2">
            <a:extLst>
              <a:ext uri="{FF2B5EF4-FFF2-40B4-BE49-F238E27FC236}">
                <a16:creationId xmlns:a16="http://schemas.microsoft.com/office/drawing/2014/main" id="{2D0D21D8-2B57-9545-A74E-FC59037693E1}"/>
              </a:ext>
            </a:extLst>
          </p:cNvPr>
          <p:cNvPicPr>
            <a:picLocks noChangeAspect="1"/>
          </p:cNvPicPr>
          <p:nvPr/>
        </p:nvPicPr>
        <p:blipFill>
          <a:blip r:embed="rId3"/>
          <a:stretch>
            <a:fillRect/>
          </a:stretch>
        </p:blipFill>
        <p:spPr>
          <a:xfrm>
            <a:off x="6645792" y="3771900"/>
            <a:ext cx="2498208" cy="1873656"/>
          </a:xfrm>
          <a:prstGeom prst="rect">
            <a:avLst/>
          </a:prstGeom>
        </p:spPr>
      </p:pic>
    </p:spTree>
    <p:extLst>
      <p:ext uri="{BB962C8B-B14F-4D97-AF65-F5344CB8AC3E}">
        <p14:creationId xmlns:p14="http://schemas.microsoft.com/office/powerpoint/2010/main" val="39486025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F40D7CF4-B6B6-7345-AAEB-3F5B8EFB13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87141" y="635778"/>
            <a:ext cx="3994859" cy="2521755"/>
          </a:xfrm>
          <a:prstGeom prst="rect">
            <a:avLst/>
          </a:prstGeom>
        </p:spPr>
      </p:pic>
      <p:sp>
        <p:nvSpPr>
          <p:cNvPr id="7" name="Rectangle 6">
            <a:extLst>
              <a:ext uri="{FF2B5EF4-FFF2-40B4-BE49-F238E27FC236}">
                <a16:creationId xmlns:a16="http://schemas.microsoft.com/office/drawing/2014/main" id="{62DD6274-0DE4-2D4F-9EAE-887E1646F65F}"/>
              </a:ext>
            </a:extLst>
          </p:cNvPr>
          <p:cNvSpPr/>
          <p:nvPr/>
        </p:nvSpPr>
        <p:spPr>
          <a:xfrm>
            <a:off x="4648200" y="3276697"/>
            <a:ext cx="3843542" cy="1631601"/>
          </a:xfrm>
          <a:prstGeom prst="rect">
            <a:avLst/>
          </a:prstGeom>
        </p:spPr>
        <p:txBody>
          <a:bodyPr wrap="square">
            <a:spAutoFit/>
          </a:bodyPr>
          <a:lstStyle/>
          <a:p>
            <a:r>
              <a:rPr lang="en-GB" sz="1667" dirty="0">
                <a:solidFill>
                  <a:srgbClr val="FFFF00"/>
                </a:solidFill>
              </a:rPr>
              <a:t>If </a:t>
            </a:r>
            <a:r>
              <a:rPr lang="en-GB" sz="1667" b="1" i="1" dirty="0">
                <a:solidFill>
                  <a:schemeClr val="bg1"/>
                </a:solidFill>
              </a:rPr>
              <a:t>high emissions</a:t>
            </a:r>
            <a:r>
              <a:rPr lang="en-GB" sz="1667" dirty="0">
                <a:solidFill>
                  <a:srgbClr val="FFFF00"/>
                </a:solidFill>
              </a:rPr>
              <a:t> are combined with a </a:t>
            </a:r>
            <a:r>
              <a:rPr lang="en-GB" sz="1667" b="1" i="1" dirty="0">
                <a:solidFill>
                  <a:schemeClr val="bg1"/>
                </a:solidFill>
              </a:rPr>
              <a:t>high-pressure system</a:t>
            </a:r>
            <a:r>
              <a:rPr lang="en-GB" sz="1667" dirty="0">
                <a:solidFill>
                  <a:srgbClr val="FFFF00"/>
                </a:solidFill>
              </a:rPr>
              <a:t> (sunny, weak winds, stable lower troposphere → inversion, hence poor vertical mixing), then a severe pollution episode can occur.</a:t>
            </a:r>
          </a:p>
        </p:txBody>
      </p:sp>
      <p:sp>
        <p:nvSpPr>
          <p:cNvPr id="12" name="Rectangle 11">
            <a:extLst>
              <a:ext uri="{FF2B5EF4-FFF2-40B4-BE49-F238E27FC236}">
                <a16:creationId xmlns:a16="http://schemas.microsoft.com/office/drawing/2014/main" id="{7DC9AC60-EBEA-AD4B-B708-85C0E51D9A41}"/>
              </a:ext>
            </a:extLst>
          </p:cNvPr>
          <p:cNvSpPr/>
          <p:nvPr/>
        </p:nvSpPr>
        <p:spPr>
          <a:xfrm>
            <a:off x="962067" y="70814"/>
            <a:ext cx="7267533" cy="523220"/>
          </a:xfrm>
          <a:prstGeom prst="rect">
            <a:avLst/>
          </a:prstGeom>
        </p:spPr>
        <p:txBody>
          <a:bodyPr wrap="square">
            <a:spAutoFit/>
          </a:bodyPr>
          <a:lstStyle/>
          <a:p>
            <a:r>
              <a:rPr lang="en-GB" sz="2800" dirty="0">
                <a:solidFill>
                  <a:srgbClr val="FFFF00"/>
                </a:solidFill>
              </a:rPr>
              <a:t>Great Smog of London: 5–9 December 1952</a:t>
            </a:r>
          </a:p>
        </p:txBody>
      </p:sp>
      <p:pic>
        <p:nvPicPr>
          <p:cNvPr id="14" name="Picture 13">
            <a:extLst>
              <a:ext uri="{FF2B5EF4-FFF2-40B4-BE49-F238E27FC236}">
                <a16:creationId xmlns:a16="http://schemas.microsoft.com/office/drawing/2014/main" id="{4A33DA3D-8E9F-6C47-8F50-C2EAA46C27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1340" y="632788"/>
            <a:ext cx="3787118" cy="2524745"/>
          </a:xfrm>
          <a:prstGeom prst="rect">
            <a:avLst/>
          </a:prstGeom>
        </p:spPr>
      </p:pic>
      <p:pic>
        <p:nvPicPr>
          <p:cNvPr id="16" name="Picture 15">
            <a:extLst>
              <a:ext uri="{FF2B5EF4-FFF2-40B4-BE49-F238E27FC236}">
                <a16:creationId xmlns:a16="http://schemas.microsoft.com/office/drawing/2014/main" id="{54DC94F6-5890-E94E-82D2-7ED63588B9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1340" y="3157533"/>
            <a:ext cx="3787119" cy="2557468"/>
          </a:xfrm>
          <a:prstGeom prst="rect">
            <a:avLst/>
          </a:prstGeom>
        </p:spPr>
      </p:pic>
      <p:sp>
        <p:nvSpPr>
          <p:cNvPr id="17" name="Rectangle 16">
            <a:extLst>
              <a:ext uri="{FF2B5EF4-FFF2-40B4-BE49-F238E27FC236}">
                <a16:creationId xmlns:a16="http://schemas.microsoft.com/office/drawing/2014/main" id="{D64CCD3C-F17F-DD44-8228-86C6B590E30D}"/>
              </a:ext>
            </a:extLst>
          </p:cNvPr>
          <p:cNvSpPr/>
          <p:nvPr/>
        </p:nvSpPr>
        <p:spPr>
          <a:xfrm>
            <a:off x="3414496" y="5261877"/>
            <a:ext cx="1097498" cy="451342"/>
          </a:xfrm>
          <a:prstGeom prst="rect">
            <a:avLst/>
          </a:prstGeom>
        </p:spPr>
        <p:txBody>
          <a:bodyPr wrap="square">
            <a:spAutoFit/>
          </a:bodyPr>
          <a:lstStyle/>
          <a:p>
            <a:pPr algn="r"/>
            <a:r>
              <a:rPr lang="en-GB" sz="2333" dirty="0">
                <a:solidFill>
                  <a:schemeClr val="bg1"/>
                </a:solidFill>
              </a:rPr>
              <a:t>2 p.m.</a:t>
            </a:r>
          </a:p>
        </p:txBody>
      </p:sp>
      <p:sp>
        <p:nvSpPr>
          <p:cNvPr id="2" name="TextBox 1">
            <a:extLst>
              <a:ext uri="{FF2B5EF4-FFF2-40B4-BE49-F238E27FC236}">
                <a16:creationId xmlns:a16="http://schemas.microsoft.com/office/drawing/2014/main" id="{5BB6C506-63F6-4F4A-927B-AEE5F7DEEFA0}"/>
              </a:ext>
            </a:extLst>
          </p:cNvPr>
          <p:cNvSpPr txBox="1"/>
          <p:nvPr/>
        </p:nvSpPr>
        <p:spPr>
          <a:xfrm>
            <a:off x="5715000" y="5063509"/>
            <a:ext cx="3302507" cy="461665"/>
          </a:xfrm>
          <a:prstGeom prst="rect">
            <a:avLst/>
          </a:prstGeom>
          <a:noFill/>
        </p:spPr>
        <p:txBody>
          <a:bodyPr wrap="none" rtlCol="0">
            <a:spAutoFit/>
          </a:bodyPr>
          <a:lstStyle/>
          <a:p>
            <a:r>
              <a:rPr lang="en-US" dirty="0">
                <a:solidFill>
                  <a:srgbClr val="92D050"/>
                </a:solidFill>
              </a:rPr>
              <a:t>burning sulfur-rich coal</a:t>
            </a:r>
          </a:p>
        </p:txBody>
      </p:sp>
    </p:spTree>
    <p:extLst>
      <p:ext uri="{BB962C8B-B14F-4D97-AF65-F5344CB8AC3E}">
        <p14:creationId xmlns:p14="http://schemas.microsoft.com/office/powerpoint/2010/main" val="42905220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0DCE255-0B48-5548-9C44-9A41799100F6}"/>
              </a:ext>
            </a:extLst>
          </p:cNvPr>
          <p:cNvPicPr>
            <a:picLocks noChangeAspect="1"/>
          </p:cNvPicPr>
          <p:nvPr/>
        </p:nvPicPr>
        <p:blipFill>
          <a:blip r:embed="rId3"/>
          <a:stretch>
            <a:fillRect/>
          </a:stretch>
        </p:blipFill>
        <p:spPr>
          <a:xfrm>
            <a:off x="0" y="29837"/>
            <a:ext cx="9144000" cy="5715000"/>
          </a:xfrm>
          <a:prstGeom prst="rect">
            <a:avLst/>
          </a:prstGeom>
        </p:spPr>
      </p:pic>
      <p:sp>
        <p:nvSpPr>
          <p:cNvPr id="2" name="TextBox 1">
            <a:extLst>
              <a:ext uri="{FF2B5EF4-FFF2-40B4-BE49-F238E27FC236}">
                <a16:creationId xmlns:a16="http://schemas.microsoft.com/office/drawing/2014/main" id="{C019782C-97C1-1841-ACD2-2481E373845C}"/>
              </a:ext>
            </a:extLst>
          </p:cNvPr>
          <p:cNvSpPr txBox="1"/>
          <p:nvPr/>
        </p:nvSpPr>
        <p:spPr>
          <a:xfrm>
            <a:off x="1752600" y="1638300"/>
            <a:ext cx="873957" cy="461665"/>
          </a:xfrm>
          <a:prstGeom prst="rect">
            <a:avLst/>
          </a:prstGeom>
          <a:noFill/>
        </p:spPr>
        <p:txBody>
          <a:bodyPr wrap="none" rtlCol="0">
            <a:spAutoFit/>
          </a:bodyPr>
          <a:lstStyle/>
          <a:p>
            <a:r>
              <a:rPr lang="en-US" dirty="0">
                <a:solidFill>
                  <a:srgbClr val="FF0000"/>
                </a:solidFill>
              </a:rPr>
              <a:t>–5</a:t>
            </a:r>
            <a:r>
              <a:rPr lang="en-US" dirty="0">
                <a:solidFill>
                  <a:srgbClr val="FF0000"/>
                </a:solidFill>
                <a:latin typeface="Arial Unicode MS" panose="020B0604020202020204" pitchFamily="34" charset="-128"/>
                <a:ea typeface="Arial Unicode MS" panose="020B0604020202020204" pitchFamily="34" charset="-128"/>
                <a:cs typeface="Arial Unicode MS" panose="020B0604020202020204" pitchFamily="34" charset="-128"/>
              </a:rPr>
              <a:t>°</a:t>
            </a:r>
            <a:r>
              <a:rPr lang="en-US" dirty="0">
                <a:solidFill>
                  <a:srgbClr val="FF0000"/>
                </a:solidFill>
              </a:rPr>
              <a:t>C</a:t>
            </a:r>
          </a:p>
        </p:txBody>
      </p:sp>
      <p:sp>
        <p:nvSpPr>
          <p:cNvPr id="6" name="Rectangle 5">
            <a:extLst>
              <a:ext uri="{FF2B5EF4-FFF2-40B4-BE49-F238E27FC236}">
                <a16:creationId xmlns:a16="http://schemas.microsoft.com/office/drawing/2014/main" id="{D4565833-5248-1640-9DF8-7FF799328A96}"/>
              </a:ext>
            </a:extLst>
          </p:cNvPr>
          <p:cNvSpPr/>
          <p:nvPr/>
        </p:nvSpPr>
        <p:spPr>
          <a:xfrm>
            <a:off x="152400" y="2552700"/>
            <a:ext cx="1524000" cy="914400"/>
          </a:xfrm>
          <a:prstGeom prst="rect">
            <a:avLst/>
          </a:prstGeom>
          <a:ln w="5715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51E71B9A-4C97-1C47-9E49-21B966392C76}"/>
              </a:ext>
            </a:extLst>
          </p:cNvPr>
          <p:cNvPicPr>
            <a:picLocks noChangeAspect="1"/>
          </p:cNvPicPr>
          <p:nvPr/>
        </p:nvPicPr>
        <p:blipFill>
          <a:blip r:embed="rId4"/>
          <a:stretch>
            <a:fillRect/>
          </a:stretch>
        </p:blipFill>
        <p:spPr>
          <a:xfrm>
            <a:off x="621963" y="2867521"/>
            <a:ext cx="589236" cy="292100"/>
          </a:xfrm>
          <a:prstGeom prst="rect">
            <a:avLst/>
          </a:prstGeom>
        </p:spPr>
      </p:pic>
      <p:sp>
        <p:nvSpPr>
          <p:cNvPr id="7" name="TextBox 6">
            <a:extLst>
              <a:ext uri="{FF2B5EF4-FFF2-40B4-BE49-F238E27FC236}">
                <a16:creationId xmlns:a16="http://schemas.microsoft.com/office/drawing/2014/main" id="{FEB45CB8-E7BC-B745-972B-175776F88559}"/>
              </a:ext>
            </a:extLst>
          </p:cNvPr>
          <p:cNvSpPr txBox="1"/>
          <p:nvPr/>
        </p:nvSpPr>
        <p:spPr>
          <a:xfrm>
            <a:off x="180833" y="2627478"/>
            <a:ext cx="797013" cy="276999"/>
          </a:xfrm>
          <a:prstGeom prst="rect">
            <a:avLst/>
          </a:prstGeom>
          <a:noFill/>
        </p:spPr>
        <p:txBody>
          <a:bodyPr wrap="none" rtlCol="0">
            <a:spAutoFit/>
          </a:bodyPr>
          <a:lstStyle/>
          <a:p>
            <a:r>
              <a:rPr lang="en-US" sz="1200" i="1" dirty="0"/>
              <a:t>T</a:t>
            </a:r>
            <a:r>
              <a:rPr lang="en-US" sz="1200" dirty="0"/>
              <a:t> = –8</a:t>
            </a:r>
            <a:r>
              <a:rPr lang="en-US" sz="1200" dirty="0">
                <a:latin typeface="Arial Unicode MS" panose="020B0604020202020204" pitchFamily="34" charset="-128"/>
                <a:ea typeface="Arial Unicode MS" panose="020B0604020202020204" pitchFamily="34" charset="-128"/>
                <a:cs typeface="Arial Unicode MS" panose="020B0604020202020204" pitchFamily="34" charset="-128"/>
              </a:rPr>
              <a:t>°</a:t>
            </a:r>
            <a:r>
              <a:rPr lang="en-US" sz="1200" dirty="0"/>
              <a:t>C</a:t>
            </a:r>
          </a:p>
        </p:txBody>
      </p:sp>
      <p:sp>
        <p:nvSpPr>
          <p:cNvPr id="8" name="TextBox 7">
            <a:extLst>
              <a:ext uri="{FF2B5EF4-FFF2-40B4-BE49-F238E27FC236}">
                <a16:creationId xmlns:a16="http://schemas.microsoft.com/office/drawing/2014/main" id="{9BB62F69-A72F-7846-ABFD-B4D063D3557B}"/>
              </a:ext>
            </a:extLst>
          </p:cNvPr>
          <p:cNvSpPr txBox="1"/>
          <p:nvPr/>
        </p:nvSpPr>
        <p:spPr>
          <a:xfrm>
            <a:off x="175617" y="3142333"/>
            <a:ext cx="854721" cy="276999"/>
          </a:xfrm>
          <a:prstGeom prst="rect">
            <a:avLst/>
          </a:prstGeom>
          <a:noFill/>
        </p:spPr>
        <p:txBody>
          <a:bodyPr wrap="none" rtlCol="0">
            <a:spAutoFit/>
          </a:bodyPr>
          <a:lstStyle/>
          <a:p>
            <a:r>
              <a:rPr lang="en-US" sz="1200" i="1" dirty="0"/>
              <a:t>T</a:t>
            </a:r>
            <a:r>
              <a:rPr lang="en-US" sz="1200" i="1" baseline="-25000" dirty="0"/>
              <a:t>d</a:t>
            </a:r>
            <a:r>
              <a:rPr lang="en-US" sz="1200" dirty="0"/>
              <a:t> = –9</a:t>
            </a:r>
            <a:r>
              <a:rPr lang="en-US" sz="1200" dirty="0">
                <a:latin typeface="Arial Unicode MS" panose="020B0604020202020204" pitchFamily="34" charset="-128"/>
                <a:ea typeface="Arial Unicode MS" panose="020B0604020202020204" pitchFamily="34" charset="-128"/>
                <a:cs typeface="Arial Unicode MS" panose="020B0604020202020204" pitchFamily="34" charset="-128"/>
              </a:rPr>
              <a:t>°</a:t>
            </a:r>
            <a:r>
              <a:rPr lang="en-US" sz="1200" dirty="0"/>
              <a:t>C</a:t>
            </a:r>
          </a:p>
        </p:txBody>
      </p:sp>
      <p:sp>
        <p:nvSpPr>
          <p:cNvPr id="9" name="TextBox 8">
            <a:extLst>
              <a:ext uri="{FF2B5EF4-FFF2-40B4-BE49-F238E27FC236}">
                <a16:creationId xmlns:a16="http://schemas.microsoft.com/office/drawing/2014/main" id="{4839218D-DF68-3D4C-AC9F-E8D0724B64EA}"/>
              </a:ext>
            </a:extLst>
          </p:cNvPr>
          <p:cNvSpPr txBox="1"/>
          <p:nvPr/>
        </p:nvSpPr>
        <p:spPr>
          <a:xfrm>
            <a:off x="842267" y="2655053"/>
            <a:ext cx="853118" cy="430887"/>
          </a:xfrm>
          <a:prstGeom prst="rect">
            <a:avLst/>
          </a:prstGeom>
          <a:noFill/>
        </p:spPr>
        <p:txBody>
          <a:bodyPr wrap="none" rtlCol="0">
            <a:spAutoFit/>
          </a:bodyPr>
          <a:lstStyle/>
          <a:p>
            <a:pPr algn="r"/>
            <a:r>
              <a:rPr lang="en-US" sz="1050" i="1" dirty="0"/>
              <a:t>p</a:t>
            </a:r>
            <a:r>
              <a:rPr lang="en-US" sz="1050" dirty="0"/>
              <a:t> = 1035.5</a:t>
            </a:r>
          </a:p>
          <a:p>
            <a:pPr algn="r"/>
            <a:r>
              <a:rPr lang="en-US" sz="1050" dirty="0" err="1"/>
              <a:t>hPa</a:t>
            </a:r>
            <a:endParaRPr lang="en-US" sz="1050" dirty="0"/>
          </a:p>
        </p:txBody>
      </p:sp>
    </p:spTree>
    <p:extLst>
      <p:ext uri="{BB962C8B-B14F-4D97-AF65-F5344CB8AC3E}">
        <p14:creationId xmlns:p14="http://schemas.microsoft.com/office/powerpoint/2010/main" val="42077691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0DCE255-0B48-5548-9C44-9A41799100F6}"/>
              </a:ext>
            </a:extLst>
          </p:cNvPr>
          <p:cNvPicPr>
            <a:picLocks noChangeAspect="1"/>
          </p:cNvPicPr>
          <p:nvPr/>
        </p:nvPicPr>
        <p:blipFill>
          <a:blip r:embed="rId3"/>
          <a:stretch>
            <a:fillRect/>
          </a:stretch>
        </p:blipFill>
        <p:spPr>
          <a:xfrm>
            <a:off x="0" y="0"/>
            <a:ext cx="9144000" cy="5715000"/>
          </a:xfrm>
          <a:prstGeom prst="rect">
            <a:avLst/>
          </a:prstGeom>
        </p:spPr>
      </p:pic>
      <p:sp>
        <p:nvSpPr>
          <p:cNvPr id="2" name="TextBox 1">
            <a:extLst>
              <a:ext uri="{FF2B5EF4-FFF2-40B4-BE49-F238E27FC236}">
                <a16:creationId xmlns:a16="http://schemas.microsoft.com/office/drawing/2014/main" id="{23228DF2-4347-D841-B07B-CC00BE0C92D5}"/>
              </a:ext>
            </a:extLst>
          </p:cNvPr>
          <p:cNvSpPr txBox="1"/>
          <p:nvPr/>
        </p:nvSpPr>
        <p:spPr>
          <a:xfrm>
            <a:off x="304800" y="2879834"/>
            <a:ext cx="8278228" cy="1938992"/>
          </a:xfrm>
          <a:prstGeom prst="rect">
            <a:avLst/>
          </a:prstGeom>
          <a:solidFill>
            <a:schemeClr val="bg1"/>
          </a:solidFill>
          <a:ln>
            <a:solidFill>
              <a:srgbClr val="FF0000"/>
            </a:solidFill>
          </a:ln>
        </p:spPr>
        <p:txBody>
          <a:bodyPr wrap="none" rtlCol="0">
            <a:spAutoFit/>
          </a:bodyPr>
          <a:lstStyle/>
          <a:p>
            <a:r>
              <a:rPr lang="en-US" sz="2000" dirty="0"/>
              <a:t>At about 1.5 km above the surface, temperature was </a:t>
            </a:r>
            <a:r>
              <a:rPr lang="en-US" sz="2000" b="1" dirty="0"/>
              <a:t>+2</a:t>
            </a:r>
            <a:r>
              <a:rPr lang="en-US" sz="2000" b="1" dirty="0">
                <a:latin typeface="Arial Unicode MS" panose="020B0604020202020204" pitchFamily="34" charset="-128"/>
                <a:ea typeface="Arial Unicode MS" panose="020B0604020202020204" pitchFamily="34" charset="-128"/>
                <a:cs typeface="Arial Unicode MS" panose="020B0604020202020204" pitchFamily="34" charset="-128"/>
              </a:rPr>
              <a:t>°</a:t>
            </a:r>
            <a:r>
              <a:rPr lang="en-US" sz="2000" b="1" dirty="0"/>
              <a:t>C</a:t>
            </a:r>
            <a:r>
              <a:rPr lang="en-US" sz="2000" dirty="0"/>
              <a:t> over London</a:t>
            </a:r>
          </a:p>
          <a:p>
            <a:r>
              <a:rPr lang="en-US" sz="2000" dirty="0"/>
              <a:t>versus </a:t>
            </a:r>
            <a:r>
              <a:rPr lang="en-US" sz="2000" b="1" dirty="0"/>
              <a:t>–5</a:t>
            </a:r>
            <a:r>
              <a:rPr lang="en-US" sz="2000" b="1" dirty="0">
                <a:latin typeface="Arial Unicode MS" panose="020B0604020202020204" pitchFamily="34" charset="-128"/>
                <a:ea typeface="Arial Unicode MS" panose="020B0604020202020204" pitchFamily="34" charset="-128"/>
                <a:cs typeface="Arial Unicode MS" panose="020B0604020202020204" pitchFamily="34" charset="-128"/>
              </a:rPr>
              <a:t>°</a:t>
            </a:r>
            <a:r>
              <a:rPr lang="en-US" sz="2000" b="1" dirty="0"/>
              <a:t>C to 0</a:t>
            </a:r>
            <a:r>
              <a:rPr lang="en-US" sz="2000" b="1" dirty="0">
                <a:latin typeface="Arial Unicode MS" panose="020B0604020202020204" pitchFamily="34" charset="-128"/>
                <a:ea typeface="Arial Unicode MS" panose="020B0604020202020204" pitchFamily="34" charset="-128"/>
                <a:cs typeface="Arial Unicode MS" panose="020B0604020202020204" pitchFamily="34" charset="-128"/>
              </a:rPr>
              <a:t>°</a:t>
            </a:r>
            <a:r>
              <a:rPr lang="en-US" sz="2000" b="1" dirty="0"/>
              <a:t>C</a:t>
            </a:r>
            <a:r>
              <a:rPr lang="en-US" sz="2000" dirty="0"/>
              <a:t> at the surface.</a:t>
            </a:r>
          </a:p>
          <a:p>
            <a:endParaRPr lang="en-US" sz="2000" dirty="0"/>
          </a:p>
          <a:p>
            <a:r>
              <a:rPr lang="en-US" sz="2000" dirty="0"/>
              <a:t>When temperature increases with height, we call it an</a:t>
            </a:r>
            <a:r>
              <a:rPr lang="en-US" sz="2000" dirty="0">
                <a:solidFill>
                  <a:srgbClr val="FF0000"/>
                </a:solidFill>
              </a:rPr>
              <a:t> </a:t>
            </a:r>
            <a:r>
              <a:rPr lang="en-US" sz="2000" i="1" dirty="0">
                <a:solidFill>
                  <a:srgbClr val="FF0000"/>
                </a:solidFill>
              </a:rPr>
              <a:t>inversion</a:t>
            </a:r>
            <a:r>
              <a:rPr lang="en-US" sz="2000" dirty="0">
                <a:solidFill>
                  <a:srgbClr val="FF0000"/>
                </a:solidFill>
              </a:rPr>
              <a:t>.</a:t>
            </a:r>
          </a:p>
          <a:p>
            <a:r>
              <a:rPr lang="en-US" sz="2000" dirty="0"/>
              <a:t>Inversions inhibit vertical mixing, trapping pollutants, and causing</a:t>
            </a:r>
          </a:p>
          <a:p>
            <a:r>
              <a:rPr lang="en-US" sz="2000" dirty="0"/>
              <a:t>poor air quality.</a:t>
            </a:r>
          </a:p>
        </p:txBody>
      </p:sp>
    </p:spTree>
    <p:extLst>
      <p:ext uri="{BB962C8B-B14F-4D97-AF65-F5344CB8AC3E}">
        <p14:creationId xmlns:p14="http://schemas.microsoft.com/office/powerpoint/2010/main" val="39051034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D2C19E"/>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D8A18D3-0FAF-8A47-BD6C-1216CE8F335A}"/>
              </a:ext>
            </a:extLst>
          </p:cNvPr>
          <p:cNvPicPr>
            <a:picLocks noChangeAspect="1"/>
          </p:cNvPicPr>
          <p:nvPr/>
        </p:nvPicPr>
        <p:blipFill>
          <a:blip r:embed="rId3"/>
          <a:stretch>
            <a:fillRect/>
          </a:stretch>
        </p:blipFill>
        <p:spPr>
          <a:xfrm>
            <a:off x="5562600" y="158923"/>
            <a:ext cx="2699468" cy="4457902"/>
          </a:xfrm>
          <a:prstGeom prst="rect">
            <a:avLst/>
          </a:prstGeom>
        </p:spPr>
      </p:pic>
      <p:sp>
        <p:nvSpPr>
          <p:cNvPr id="4" name="Rectangle 3">
            <a:extLst>
              <a:ext uri="{FF2B5EF4-FFF2-40B4-BE49-F238E27FC236}">
                <a16:creationId xmlns:a16="http://schemas.microsoft.com/office/drawing/2014/main" id="{828751BB-FC94-124A-B1DC-CA039EE63344}"/>
              </a:ext>
            </a:extLst>
          </p:cNvPr>
          <p:cNvSpPr/>
          <p:nvPr/>
        </p:nvSpPr>
        <p:spPr>
          <a:xfrm>
            <a:off x="-31376" y="12102"/>
            <a:ext cx="1398494" cy="5690795"/>
          </a:xfrm>
          <a:prstGeom prst="rect">
            <a:avLst/>
          </a:prstGeom>
          <a:solidFill>
            <a:srgbClr val="DBCB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0D20E9F-C712-4347-86E8-9FA806D842A5}"/>
              </a:ext>
            </a:extLst>
          </p:cNvPr>
          <p:cNvPicPr>
            <a:picLocks noChangeAspect="1"/>
          </p:cNvPicPr>
          <p:nvPr/>
        </p:nvPicPr>
        <p:blipFill>
          <a:blip r:embed="rId4"/>
          <a:stretch>
            <a:fillRect/>
          </a:stretch>
        </p:blipFill>
        <p:spPr>
          <a:xfrm>
            <a:off x="457200" y="12102"/>
            <a:ext cx="4217394" cy="5715000"/>
          </a:xfrm>
          <a:prstGeom prst="rect">
            <a:avLst/>
          </a:prstGeom>
        </p:spPr>
      </p:pic>
      <p:sp>
        <p:nvSpPr>
          <p:cNvPr id="6" name="TextBox 5">
            <a:extLst>
              <a:ext uri="{FF2B5EF4-FFF2-40B4-BE49-F238E27FC236}">
                <a16:creationId xmlns:a16="http://schemas.microsoft.com/office/drawing/2014/main" id="{05EFCE51-D35E-544B-83CF-BDBB5A1C1156}"/>
              </a:ext>
            </a:extLst>
          </p:cNvPr>
          <p:cNvSpPr txBox="1"/>
          <p:nvPr/>
        </p:nvSpPr>
        <p:spPr>
          <a:xfrm>
            <a:off x="5410200" y="4616825"/>
            <a:ext cx="3167855" cy="307777"/>
          </a:xfrm>
          <a:prstGeom prst="rect">
            <a:avLst/>
          </a:prstGeom>
          <a:noFill/>
        </p:spPr>
        <p:txBody>
          <a:bodyPr wrap="none" rtlCol="0">
            <a:spAutoFit/>
          </a:bodyPr>
          <a:lstStyle/>
          <a:p>
            <a:r>
              <a:rPr lang="en-US" sz="1400" dirty="0"/>
              <a:t>https://</a:t>
            </a:r>
            <a:r>
              <a:rPr lang="en-US" sz="1400" dirty="0" err="1"/>
              <a:t>archive.org</a:t>
            </a:r>
            <a:r>
              <a:rPr lang="en-US" sz="1400" dirty="0"/>
              <a:t>/details/b32170129/</a:t>
            </a:r>
          </a:p>
        </p:txBody>
      </p:sp>
      <p:pic>
        <p:nvPicPr>
          <p:cNvPr id="9" name="Picture 8">
            <a:extLst>
              <a:ext uri="{FF2B5EF4-FFF2-40B4-BE49-F238E27FC236}">
                <a16:creationId xmlns:a16="http://schemas.microsoft.com/office/drawing/2014/main" id="{A8F7382F-CAA7-5F46-A64C-59944555F8E6}"/>
              </a:ext>
            </a:extLst>
          </p:cNvPr>
          <p:cNvPicPr>
            <a:picLocks noChangeAspect="1"/>
          </p:cNvPicPr>
          <p:nvPr/>
        </p:nvPicPr>
        <p:blipFill>
          <a:blip r:embed="rId5"/>
          <a:stretch>
            <a:fillRect/>
          </a:stretch>
        </p:blipFill>
        <p:spPr>
          <a:xfrm>
            <a:off x="5207554" y="4927580"/>
            <a:ext cx="3409560" cy="660410"/>
          </a:xfrm>
          <a:prstGeom prst="rect">
            <a:avLst/>
          </a:prstGeom>
          <a:ln>
            <a:solidFill>
              <a:schemeClr val="tx1"/>
            </a:solidFill>
          </a:ln>
        </p:spPr>
      </p:pic>
    </p:spTree>
    <p:extLst>
      <p:ext uri="{BB962C8B-B14F-4D97-AF65-F5344CB8AC3E}">
        <p14:creationId xmlns:p14="http://schemas.microsoft.com/office/powerpoint/2010/main" val="30768802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3D4B9"/>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8D04B8-DC71-7B4D-9A54-16E7CE5E1C6F}"/>
              </a:ext>
            </a:extLst>
          </p:cNvPr>
          <p:cNvPicPr>
            <a:picLocks noChangeAspect="1"/>
          </p:cNvPicPr>
          <p:nvPr/>
        </p:nvPicPr>
        <p:blipFill>
          <a:blip r:embed="rId3"/>
          <a:stretch>
            <a:fillRect/>
          </a:stretch>
        </p:blipFill>
        <p:spPr>
          <a:xfrm>
            <a:off x="0" y="0"/>
            <a:ext cx="9201150" cy="5600700"/>
          </a:xfrm>
          <a:prstGeom prst="rect">
            <a:avLst/>
          </a:prstGeom>
        </p:spPr>
      </p:pic>
      <p:sp>
        <p:nvSpPr>
          <p:cNvPr id="4" name="TextBox 3">
            <a:extLst>
              <a:ext uri="{FF2B5EF4-FFF2-40B4-BE49-F238E27FC236}">
                <a16:creationId xmlns:a16="http://schemas.microsoft.com/office/drawing/2014/main" id="{8AFBFBF0-B569-734C-827B-56D927D6240E}"/>
              </a:ext>
            </a:extLst>
          </p:cNvPr>
          <p:cNvSpPr txBox="1"/>
          <p:nvPr/>
        </p:nvSpPr>
        <p:spPr>
          <a:xfrm>
            <a:off x="5410200" y="419100"/>
            <a:ext cx="3347391" cy="707886"/>
          </a:xfrm>
          <a:prstGeom prst="rect">
            <a:avLst/>
          </a:prstGeom>
          <a:solidFill>
            <a:srgbClr val="D2C19E"/>
          </a:solidFill>
          <a:ln>
            <a:solidFill>
              <a:schemeClr val="tx1"/>
            </a:solidFill>
          </a:ln>
        </p:spPr>
        <p:txBody>
          <a:bodyPr wrap="none" rtlCol="0">
            <a:spAutoFit/>
          </a:bodyPr>
          <a:lstStyle/>
          <a:p>
            <a:r>
              <a:rPr lang="en-US" sz="2000" i="1" dirty="0"/>
              <a:t>Excess deaths</a:t>
            </a:r>
            <a:r>
              <a:rPr lang="en-US" sz="2000" dirty="0"/>
              <a:t> is commonly</a:t>
            </a:r>
          </a:p>
          <a:p>
            <a:r>
              <a:rPr lang="en-US" sz="2000" dirty="0"/>
              <a:t>used in epidemiology.</a:t>
            </a:r>
          </a:p>
        </p:txBody>
      </p:sp>
    </p:spTree>
    <p:extLst>
      <p:ext uri="{BB962C8B-B14F-4D97-AF65-F5344CB8AC3E}">
        <p14:creationId xmlns:p14="http://schemas.microsoft.com/office/powerpoint/2010/main" val="39202014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98D44"/>
        </a:solidFill>
        <a:effectLst/>
      </p:bgPr>
    </p:bg>
    <p:spTree>
      <p:nvGrpSpPr>
        <p:cNvPr id="1" name=""/>
        <p:cNvGrpSpPr/>
        <p:nvPr/>
      </p:nvGrpSpPr>
      <p:grpSpPr>
        <a:xfrm>
          <a:off x="0" y="0"/>
          <a:ext cx="0" cy="0"/>
          <a:chOff x="0" y="0"/>
          <a:chExt cx="0" cy="0"/>
        </a:xfrm>
      </p:grpSpPr>
      <p:sp>
        <p:nvSpPr>
          <p:cNvPr id="32770" name="TextBox 4">
            <a:extLst>
              <a:ext uri="{FF2B5EF4-FFF2-40B4-BE49-F238E27FC236}">
                <a16:creationId xmlns:a16="http://schemas.microsoft.com/office/drawing/2014/main" id="{1EDDCE51-E107-9441-ACE6-0CD470519982}"/>
              </a:ext>
            </a:extLst>
          </p:cNvPr>
          <p:cNvSpPr txBox="1">
            <a:spLocks noChangeArrowheads="1"/>
          </p:cNvSpPr>
          <p:nvPr/>
        </p:nvSpPr>
        <p:spPr bwMode="auto">
          <a:xfrm>
            <a:off x="990600" y="1485900"/>
            <a:ext cx="6494085" cy="2357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buFontTx/>
              <a:buNone/>
            </a:pPr>
            <a:r>
              <a:rPr lang="en-US" altLang="en-US" dirty="0">
                <a:solidFill>
                  <a:srgbClr val="FFFF00"/>
                </a:solidFill>
              </a:rPr>
              <a:t>How to use </a:t>
            </a:r>
            <a:r>
              <a:rPr lang="en-US" altLang="en-US" dirty="0" err="1">
                <a:solidFill>
                  <a:srgbClr val="FFFF00"/>
                </a:solidFill>
              </a:rPr>
              <a:t>ManUniCast</a:t>
            </a:r>
            <a:r>
              <a:rPr lang="en-US" altLang="en-US" dirty="0">
                <a:solidFill>
                  <a:srgbClr val="FFFF00"/>
                </a:solidFill>
              </a:rPr>
              <a:t> to look at </a:t>
            </a:r>
          </a:p>
          <a:p>
            <a:pPr>
              <a:buFontTx/>
              <a:buNone/>
            </a:pPr>
            <a:r>
              <a:rPr lang="en-US" altLang="en-US" dirty="0">
                <a:solidFill>
                  <a:srgbClr val="FFFF00"/>
                </a:solidFill>
              </a:rPr>
              <a:t>tropospheric chemistry</a:t>
            </a:r>
          </a:p>
          <a:p>
            <a:pPr>
              <a:buFontTx/>
              <a:buNone/>
            </a:pPr>
            <a:endParaRPr lang="en-US" altLang="en-US" dirty="0">
              <a:solidFill>
                <a:srgbClr val="FFFF00"/>
              </a:solidFill>
            </a:endParaRPr>
          </a:p>
          <a:p>
            <a:pPr>
              <a:buFontTx/>
              <a:buNone/>
            </a:pPr>
            <a:r>
              <a:rPr lang="en-US" altLang="en-US" dirty="0">
                <a:solidFill>
                  <a:srgbClr val="FFFF00"/>
                </a:solidFill>
              </a:rPr>
              <a:t>http://</a:t>
            </a:r>
            <a:r>
              <a:rPr lang="en-US" altLang="en-US" dirty="0" err="1">
                <a:solidFill>
                  <a:srgbClr val="FFFF00"/>
                </a:solidFill>
              </a:rPr>
              <a:t>www.manunicast.com</a:t>
            </a:r>
            <a:endParaRPr lang="en-US" altLang="en-US" dirty="0">
              <a:solidFill>
                <a:srgbClr val="FFFF0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6D9C4F6-5CB8-1B4B-A81B-4994F94B34B1}"/>
              </a:ext>
            </a:extLst>
          </p:cNvPr>
          <p:cNvSpPr txBox="1">
            <a:spLocks noChangeArrowheads="1"/>
          </p:cNvSpPr>
          <p:nvPr/>
        </p:nvSpPr>
        <p:spPr bwMode="auto">
          <a:xfrm>
            <a:off x="5715000" y="-8284"/>
            <a:ext cx="332815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dirty="0" err="1">
                <a:solidFill>
                  <a:srgbClr val="FFFF00"/>
                </a:solidFill>
                <a:cs typeface="Arial" panose="020B0604020202020204" pitchFamily="34" charset="0"/>
              </a:rPr>
              <a:t>ManUniCast.com</a:t>
            </a:r>
            <a:endParaRPr lang="en-US" altLang="en-US" dirty="0">
              <a:solidFill>
                <a:srgbClr val="FFFF00"/>
              </a:solidFill>
              <a:cs typeface="Arial" panose="020B0604020202020204" pitchFamily="34" charset="0"/>
            </a:endParaRPr>
          </a:p>
        </p:txBody>
      </p:sp>
      <p:pic>
        <p:nvPicPr>
          <p:cNvPr id="2" name="Picture 1">
            <a:extLst>
              <a:ext uri="{FF2B5EF4-FFF2-40B4-BE49-F238E27FC236}">
                <a16:creationId xmlns:a16="http://schemas.microsoft.com/office/drawing/2014/main" id="{C52F28A5-F82E-1E49-B412-0938505A6EDB}"/>
              </a:ext>
            </a:extLst>
          </p:cNvPr>
          <p:cNvPicPr>
            <a:picLocks noChangeAspect="1"/>
          </p:cNvPicPr>
          <p:nvPr/>
        </p:nvPicPr>
        <p:blipFill>
          <a:blip r:embed="rId2"/>
          <a:stretch>
            <a:fillRect/>
          </a:stretch>
        </p:blipFill>
        <p:spPr>
          <a:xfrm>
            <a:off x="0" y="0"/>
            <a:ext cx="9144000" cy="5715000"/>
          </a:xfrm>
          <a:prstGeom prst="rect">
            <a:avLst/>
          </a:prstGeom>
        </p:spPr>
      </p:pic>
      <p:pic>
        <p:nvPicPr>
          <p:cNvPr id="6" name="Picture 5">
            <a:extLst>
              <a:ext uri="{FF2B5EF4-FFF2-40B4-BE49-F238E27FC236}">
                <a16:creationId xmlns:a16="http://schemas.microsoft.com/office/drawing/2014/main" id="{FF3556A5-BC91-2948-A3E3-AC38FAD1BF4E}"/>
              </a:ext>
            </a:extLst>
          </p:cNvPr>
          <p:cNvPicPr>
            <a:picLocks noChangeAspect="1"/>
          </p:cNvPicPr>
          <p:nvPr/>
        </p:nvPicPr>
        <p:blipFill>
          <a:blip r:embed="rId3"/>
          <a:stretch>
            <a:fillRect/>
          </a:stretch>
        </p:blipFill>
        <p:spPr>
          <a:xfrm>
            <a:off x="0" y="2075695"/>
            <a:ext cx="9144000" cy="3604791"/>
          </a:xfrm>
          <a:prstGeom prst="rect">
            <a:avLst/>
          </a:prstGeom>
        </p:spPr>
      </p:pic>
      <p:pic>
        <p:nvPicPr>
          <p:cNvPr id="4" name="Picture 3">
            <a:extLst>
              <a:ext uri="{FF2B5EF4-FFF2-40B4-BE49-F238E27FC236}">
                <a16:creationId xmlns:a16="http://schemas.microsoft.com/office/drawing/2014/main" id="{A217C5F3-468A-184A-AF7B-17AEA6731710}"/>
              </a:ext>
            </a:extLst>
          </p:cNvPr>
          <p:cNvPicPr>
            <a:picLocks noChangeAspect="1"/>
          </p:cNvPicPr>
          <p:nvPr/>
        </p:nvPicPr>
        <p:blipFill>
          <a:blip r:embed="rId4"/>
          <a:stretch>
            <a:fillRect/>
          </a:stretch>
        </p:blipFill>
        <p:spPr>
          <a:xfrm>
            <a:off x="76200" y="108317"/>
            <a:ext cx="1987078" cy="1974850"/>
          </a:xfrm>
          <a:prstGeom prst="rect">
            <a:avLst/>
          </a:prstGeom>
        </p:spPr>
      </p:pic>
    </p:spTree>
    <p:extLst>
      <p:ext uri="{BB962C8B-B14F-4D97-AF65-F5344CB8AC3E}">
        <p14:creationId xmlns:p14="http://schemas.microsoft.com/office/powerpoint/2010/main" val="42569921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0DC2432-F711-F74C-9057-B47184A3EC97}"/>
              </a:ext>
            </a:extLst>
          </p:cNvPr>
          <p:cNvPicPr>
            <a:picLocks noChangeAspect="1"/>
          </p:cNvPicPr>
          <p:nvPr/>
        </p:nvPicPr>
        <p:blipFill>
          <a:blip r:embed="rId2"/>
          <a:stretch>
            <a:fillRect/>
          </a:stretch>
        </p:blipFill>
        <p:spPr>
          <a:xfrm>
            <a:off x="0" y="0"/>
            <a:ext cx="6100536" cy="5715000"/>
          </a:xfrm>
          <a:prstGeom prst="rect">
            <a:avLst/>
          </a:prstGeom>
        </p:spPr>
      </p:pic>
      <p:sp>
        <p:nvSpPr>
          <p:cNvPr id="6" name="TextBox 5">
            <a:extLst>
              <a:ext uri="{FF2B5EF4-FFF2-40B4-BE49-F238E27FC236}">
                <a16:creationId xmlns:a16="http://schemas.microsoft.com/office/drawing/2014/main" id="{B06A70F0-0BEB-5343-A355-C2617C502D02}"/>
              </a:ext>
            </a:extLst>
          </p:cNvPr>
          <p:cNvSpPr txBox="1">
            <a:spLocks noChangeArrowheads="1"/>
          </p:cNvSpPr>
          <p:nvPr/>
        </p:nvSpPr>
        <p:spPr bwMode="auto">
          <a:xfrm>
            <a:off x="5715000" y="-8284"/>
            <a:ext cx="332815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dirty="0" err="1">
                <a:solidFill>
                  <a:srgbClr val="FFFF00"/>
                </a:solidFill>
                <a:cs typeface="Arial" panose="020B0604020202020204" pitchFamily="34" charset="0"/>
              </a:rPr>
              <a:t>ManUniCast.com</a:t>
            </a:r>
            <a:endParaRPr lang="en-US" altLang="en-US" dirty="0">
              <a:solidFill>
                <a:srgbClr val="FFFF00"/>
              </a:solidFill>
              <a:cs typeface="Arial" panose="020B0604020202020204" pitchFamily="34" charset="0"/>
            </a:endParaRPr>
          </a:p>
        </p:txBody>
      </p:sp>
      <p:pic>
        <p:nvPicPr>
          <p:cNvPr id="3" name="Picture 2">
            <a:extLst>
              <a:ext uri="{FF2B5EF4-FFF2-40B4-BE49-F238E27FC236}">
                <a16:creationId xmlns:a16="http://schemas.microsoft.com/office/drawing/2014/main" id="{C5C0B2EC-74E5-E54C-BFC8-E4BF8CD5A57D}"/>
              </a:ext>
            </a:extLst>
          </p:cNvPr>
          <p:cNvPicPr>
            <a:picLocks noChangeAspect="1"/>
          </p:cNvPicPr>
          <p:nvPr/>
        </p:nvPicPr>
        <p:blipFill>
          <a:blip r:embed="rId3"/>
          <a:stretch>
            <a:fillRect/>
          </a:stretch>
        </p:blipFill>
        <p:spPr>
          <a:xfrm>
            <a:off x="6248400" y="576490"/>
            <a:ext cx="2599037" cy="2583043"/>
          </a:xfrm>
          <a:prstGeom prst="rect">
            <a:avLst/>
          </a:prstGeom>
        </p:spPr>
      </p:pic>
    </p:spTree>
    <p:extLst>
      <p:ext uri="{BB962C8B-B14F-4D97-AF65-F5344CB8AC3E}">
        <p14:creationId xmlns:p14="http://schemas.microsoft.com/office/powerpoint/2010/main" val="17645736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2CE6AC2-B98D-4446-9BF6-F84F3D8B3563}"/>
              </a:ext>
            </a:extLst>
          </p:cNvPr>
          <p:cNvPicPr>
            <a:picLocks noChangeAspect="1"/>
          </p:cNvPicPr>
          <p:nvPr/>
        </p:nvPicPr>
        <p:blipFill>
          <a:blip r:embed="rId3"/>
          <a:stretch>
            <a:fillRect/>
          </a:stretch>
        </p:blipFill>
        <p:spPr>
          <a:xfrm>
            <a:off x="0" y="0"/>
            <a:ext cx="4073457" cy="5715000"/>
          </a:xfrm>
          <a:prstGeom prst="rect">
            <a:avLst/>
          </a:prstGeom>
        </p:spPr>
      </p:pic>
      <p:pic>
        <p:nvPicPr>
          <p:cNvPr id="11" name="Picture 10">
            <a:extLst>
              <a:ext uri="{FF2B5EF4-FFF2-40B4-BE49-F238E27FC236}">
                <a16:creationId xmlns:a16="http://schemas.microsoft.com/office/drawing/2014/main" id="{FC563D30-6DD0-AA4A-B7CE-51E2FF8FFC58}"/>
              </a:ext>
            </a:extLst>
          </p:cNvPr>
          <p:cNvPicPr>
            <a:picLocks noChangeAspect="1"/>
          </p:cNvPicPr>
          <p:nvPr/>
        </p:nvPicPr>
        <p:blipFill>
          <a:blip r:embed="rId4"/>
          <a:stretch>
            <a:fillRect/>
          </a:stretch>
        </p:blipFill>
        <p:spPr>
          <a:xfrm>
            <a:off x="5070543" y="0"/>
            <a:ext cx="4073457" cy="5715000"/>
          </a:xfrm>
          <a:prstGeom prst="rect">
            <a:avLst/>
          </a:prstGeom>
        </p:spPr>
      </p:pic>
      <p:sp>
        <p:nvSpPr>
          <p:cNvPr id="8" name="TextBox 7">
            <a:extLst>
              <a:ext uri="{FF2B5EF4-FFF2-40B4-BE49-F238E27FC236}">
                <a16:creationId xmlns:a16="http://schemas.microsoft.com/office/drawing/2014/main" id="{F6145620-C1F0-1240-9053-5AD0A8B507C9}"/>
              </a:ext>
            </a:extLst>
          </p:cNvPr>
          <p:cNvSpPr txBox="1"/>
          <p:nvPr/>
        </p:nvSpPr>
        <p:spPr>
          <a:xfrm>
            <a:off x="3283343" y="495300"/>
            <a:ext cx="1039067" cy="461665"/>
          </a:xfrm>
          <a:prstGeom prst="rect">
            <a:avLst/>
          </a:prstGeom>
          <a:noFill/>
        </p:spPr>
        <p:txBody>
          <a:bodyPr wrap="none" rtlCol="0">
            <a:spAutoFit/>
          </a:bodyPr>
          <a:lstStyle/>
          <a:p>
            <a:r>
              <a:rPr lang="en-US" dirty="0"/>
              <a:t>5 a.m.</a:t>
            </a:r>
          </a:p>
        </p:txBody>
      </p:sp>
      <p:sp>
        <p:nvSpPr>
          <p:cNvPr id="9" name="TextBox 8">
            <a:extLst>
              <a:ext uri="{FF2B5EF4-FFF2-40B4-BE49-F238E27FC236}">
                <a16:creationId xmlns:a16="http://schemas.microsoft.com/office/drawing/2014/main" id="{1243A6D8-0F79-D149-A44E-005FA667BED1}"/>
              </a:ext>
            </a:extLst>
          </p:cNvPr>
          <p:cNvSpPr txBox="1"/>
          <p:nvPr/>
        </p:nvSpPr>
        <p:spPr>
          <a:xfrm>
            <a:off x="7807257" y="495299"/>
            <a:ext cx="1039067" cy="461665"/>
          </a:xfrm>
          <a:prstGeom prst="rect">
            <a:avLst/>
          </a:prstGeom>
          <a:noFill/>
        </p:spPr>
        <p:txBody>
          <a:bodyPr wrap="none" rtlCol="0">
            <a:spAutoFit/>
          </a:bodyPr>
          <a:lstStyle/>
          <a:p>
            <a:r>
              <a:rPr lang="en-US" dirty="0"/>
              <a:t>5 p.m.</a:t>
            </a:r>
          </a:p>
        </p:txBody>
      </p:sp>
      <p:sp>
        <p:nvSpPr>
          <p:cNvPr id="10" name="TextBox 9">
            <a:extLst>
              <a:ext uri="{FF2B5EF4-FFF2-40B4-BE49-F238E27FC236}">
                <a16:creationId xmlns:a16="http://schemas.microsoft.com/office/drawing/2014/main" id="{1ADB9B84-4AA7-5542-9329-7B64F8742DB7}"/>
              </a:ext>
            </a:extLst>
          </p:cNvPr>
          <p:cNvSpPr txBox="1"/>
          <p:nvPr/>
        </p:nvSpPr>
        <p:spPr>
          <a:xfrm>
            <a:off x="4281066" y="1790700"/>
            <a:ext cx="1024639" cy="461665"/>
          </a:xfrm>
          <a:prstGeom prst="rect">
            <a:avLst/>
          </a:prstGeom>
          <a:noFill/>
        </p:spPr>
        <p:txBody>
          <a:bodyPr wrap="none" rtlCol="0">
            <a:spAutoFit/>
          </a:bodyPr>
          <a:lstStyle/>
          <a:p>
            <a:r>
              <a:rPr lang="en-US" dirty="0"/>
              <a:t>ozone</a:t>
            </a:r>
          </a:p>
        </p:txBody>
      </p:sp>
    </p:spTree>
    <p:extLst>
      <p:ext uri="{BB962C8B-B14F-4D97-AF65-F5344CB8AC3E}">
        <p14:creationId xmlns:p14="http://schemas.microsoft.com/office/powerpoint/2010/main" val="10566590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A9E9018-07C6-E74A-ACFF-DA0B85E267DB}"/>
              </a:ext>
            </a:extLst>
          </p:cNvPr>
          <p:cNvPicPr>
            <a:picLocks noChangeAspect="1"/>
          </p:cNvPicPr>
          <p:nvPr/>
        </p:nvPicPr>
        <p:blipFill>
          <a:blip r:embed="rId3"/>
          <a:stretch>
            <a:fillRect/>
          </a:stretch>
        </p:blipFill>
        <p:spPr>
          <a:xfrm>
            <a:off x="228600" y="4233"/>
            <a:ext cx="8756855" cy="5715000"/>
          </a:xfrm>
          <a:prstGeom prst="rect">
            <a:avLst/>
          </a:prstGeom>
        </p:spPr>
      </p:pic>
      <p:sp>
        <p:nvSpPr>
          <p:cNvPr id="5" name="TextBox 4">
            <a:extLst>
              <a:ext uri="{FF2B5EF4-FFF2-40B4-BE49-F238E27FC236}">
                <a16:creationId xmlns:a16="http://schemas.microsoft.com/office/drawing/2014/main" id="{0988AA1B-C4F4-A945-A8E8-2475524477B8}"/>
              </a:ext>
            </a:extLst>
          </p:cNvPr>
          <p:cNvSpPr txBox="1"/>
          <p:nvPr/>
        </p:nvSpPr>
        <p:spPr>
          <a:xfrm>
            <a:off x="421305" y="3009900"/>
            <a:ext cx="1024639" cy="461665"/>
          </a:xfrm>
          <a:prstGeom prst="rect">
            <a:avLst/>
          </a:prstGeom>
          <a:noFill/>
        </p:spPr>
        <p:txBody>
          <a:bodyPr wrap="none" rtlCol="0">
            <a:spAutoFit/>
          </a:bodyPr>
          <a:lstStyle/>
          <a:p>
            <a:r>
              <a:rPr lang="en-US" dirty="0">
                <a:solidFill>
                  <a:srgbClr val="7030A0"/>
                </a:solidFill>
              </a:rPr>
              <a:t>ozone</a:t>
            </a:r>
          </a:p>
        </p:txBody>
      </p:sp>
      <p:sp>
        <p:nvSpPr>
          <p:cNvPr id="6" name="TextBox 5">
            <a:extLst>
              <a:ext uri="{FF2B5EF4-FFF2-40B4-BE49-F238E27FC236}">
                <a16:creationId xmlns:a16="http://schemas.microsoft.com/office/drawing/2014/main" id="{FAF5ED6E-74CC-704A-8EF5-00C59B902C58}"/>
              </a:ext>
            </a:extLst>
          </p:cNvPr>
          <p:cNvSpPr txBox="1"/>
          <p:nvPr/>
        </p:nvSpPr>
        <p:spPr>
          <a:xfrm>
            <a:off x="685800" y="887230"/>
            <a:ext cx="760144" cy="461665"/>
          </a:xfrm>
          <a:prstGeom prst="rect">
            <a:avLst/>
          </a:prstGeom>
          <a:noFill/>
        </p:spPr>
        <p:txBody>
          <a:bodyPr wrap="none" rtlCol="0">
            <a:spAutoFit/>
          </a:bodyPr>
          <a:lstStyle/>
          <a:p>
            <a:r>
              <a:rPr lang="en-US" dirty="0">
                <a:solidFill>
                  <a:srgbClr val="A07156"/>
                </a:solidFill>
              </a:rPr>
              <a:t>NO</a:t>
            </a:r>
            <a:r>
              <a:rPr lang="en-US" baseline="-25000" dirty="0">
                <a:solidFill>
                  <a:srgbClr val="A07156"/>
                </a:solidFill>
              </a:rPr>
              <a:t>2</a:t>
            </a:r>
          </a:p>
        </p:txBody>
      </p:sp>
    </p:spTree>
    <p:extLst>
      <p:ext uri="{BB962C8B-B14F-4D97-AF65-F5344CB8AC3E}">
        <p14:creationId xmlns:p14="http://schemas.microsoft.com/office/powerpoint/2010/main" val="30499040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5C699F4-47C3-214B-9A65-E99D8AA5F9D6}"/>
              </a:ext>
            </a:extLst>
          </p:cNvPr>
          <p:cNvPicPr>
            <a:picLocks noChangeAspect="1"/>
          </p:cNvPicPr>
          <p:nvPr/>
        </p:nvPicPr>
        <p:blipFill>
          <a:blip r:embed="rId3"/>
          <a:stretch>
            <a:fillRect/>
          </a:stretch>
        </p:blipFill>
        <p:spPr>
          <a:xfrm>
            <a:off x="0" y="-114300"/>
            <a:ext cx="9144000" cy="3124200"/>
          </a:xfrm>
          <a:prstGeom prst="rect">
            <a:avLst/>
          </a:prstGeom>
        </p:spPr>
      </p:pic>
      <p:pic>
        <p:nvPicPr>
          <p:cNvPr id="6" name="Picture 5">
            <a:extLst>
              <a:ext uri="{FF2B5EF4-FFF2-40B4-BE49-F238E27FC236}">
                <a16:creationId xmlns:a16="http://schemas.microsoft.com/office/drawing/2014/main" id="{2EAC2A00-B7D0-1A4F-9C45-E8A6F04669D5}"/>
              </a:ext>
            </a:extLst>
          </p:cNvPr>
          <p:cNvPicPr>
            <a:picLocks noChangeAspect="1"/>
          </p:cNvPicPr>
          <p:nvPr/>
        </p:nvPicPr>
        <p:blipFill>
          <a:blip r:embed="rId4"/>
          <a:stretch>
            <a:fillRect/>
          </a:stretch>
        </p:blipFill>
        <p:spPr>
          <a:xfrm>
            <a:off x="0" y="2781300"/>
            <a:ext cx="9144000" cy="3219014"/>
          </a:xfrm>
          <a:prstGeom prst="rect">
            <a:avLst/>
          </a:prstGeom>
        </p:spPr>
      </p:pic>
      <p:sp>
        <p:nvSpPr>
          <p:cNvPr id="15" name="TextBox 14">
            <a:extLst>
              <a:ext uri="{FF2B5EF4-FFF2-40B4-BE49-F238E27FC236}">
                <a16:creationId xmlns:a16="http://schemas.microsoft.com/office/drawing/2014/main" id="{40B55600-7491-824F-9280-82200AA058AD}"/>
              </a:ext>
            </a:extLst>
          </p:cNvPr>
          <p:cNvSpPr txBox="1"/>
          <p:nvPr/>
        </p:nvSpPr>
        <p:spPr>
          <a:xfrm>
            <a:off x="3428072" y="1102668"/>
            <a:ext cx="1024639" cy="461665"/>
          </a:xfrm>
          <a:prstGeom prst="rect">
            <a:avLst/>
          </a:prstGeom>
          <a:noFill/>
        </p:spPr>
        <p:txBody>
          <a:bodyPr wrap="none" rtlCol="0">
            <a:spAutoFit/>
          </a:bodyPr>
          <a:lstStyle/>
          <a:p>
            <a:r>
              <a:rPr lang="en-US" dirty="0">
                <a:solidFill>
                  <a:srgbClr val="7030A0"/>
                </a:solidFill>
              </a:rPr>
              <a:t>ozone</a:t>
            </a:r>
          </a:p>
        </p:txBody>
      </p:sp>
      <p:sp>
        <p:nvSpPr>
          <p:cNvPr id="16" name="TextBox 15">
            <a:extLst>
              <a:ext uri="{FF2B5EF4-FFF2-40B4-BE49-F238E27FC236}">
                <a16:creationId xmlns:a16="http://schemas.microsoft.com/office/drawing/2014/main" id="{9E9C4EC7-D2BF-D94C-B8D8-8403B93904A7}"/>
              </a:ext>
            </a:extLst>
          </p:cNvPr>
          <p:cNvSpPr txBox="1"/>
          <p:nvPr/>
        </p:nvSpPr>
        <p:spPr>
          <a:xfrm>
            <a:off x="3560319" y="4686300"/>
            <a:ext cx="760144" cy="461665"/>
          </a:xfrm>
          <a:prstGeom prst="rect">
            <a:avLst/>
          </a:prstGeom>
          <a:noFill/>
        </p:spPr>
        <p:txBody>
          <a:bodyPr wrap="none" rtlCol="0">
            <a:spAutoFit/>
          </a:bodyPr>
          <a:lstStyle/>
          <a:p>
            <a:r>
              <a:rPr lang="en-US" dirty="0">
                <a:solidFill>
                  <a:srgbClr val="A07156"/>
                </a:solidFill>
              </a:rPr>
              <a:t>NO</a:t>
            </a:r>
            <a:r>
              <a:rPr lang="en-US" baseline="-25000" dirty="0">
                <a:solidFill>
                  <a:srgbClr val="A07156"/>
                </a:solidFill>
              </a:rPr>
              <a:t>2</a:t>
            </a:r>
          </a:p>
        </p:txBody>
      </p:sp>
      <p:sp>
        <p:nvSpPr>
          <p:cNvPr id="17" name="TextBox 16">
            <a:extLst>
              <a:ext uri="{FF2B5EF4-FFF2-40B4-BE49-F238E27FC236}">
                <a16:creationId xmlns:a16="http://schemas.microsoft.com/office/drawing/2014/main" id="{38B4471F-4C93-2940-95E3-FFAC380AE7B3}"/>
              </a:ext>
            </a:extLst>
          </p:cNvPr>
          <p:cNvSpPr txBox="1"/>
          <p:nvPr/>
        </p:nvSpPr>
        <p:spPr>
          <a:xfrm>
            <a:off x="6477000" y="0"/>
            <a:ext cx="1931939" cy="461665"/>
          </a:xfrm>
          <a:prstGeom prst="rect">
            <a:avLst/>
          </a:prstGeom>
          <a:noFill/>
        </p:spPr>
        <p:txBody>
          <a:bodyPr wrap="none" rtlCol="0">
            <a:spAutoFit/>
          </a:bodyPr>
          <a:lstStyle/>
          <a:p>
            <a:r>
              <a:rPr lang="en-US" dirty="0">
                <a:solidFill>
                  <a:srgbClr val="FF0000"/>
                </a:solidFill>
              </a:rPr>
              <a:t>observations</a:t>
            </a:r>
          </a:p>
        </p:txBody>
      </p:sp>
      <p:sp>
        <p:nvSpPr>
          <p:cNvPr id="11" name="TextBox 10">
            <a:extLst>
              <a:ext uri="{FF2B5EF4-FFF2-40B4-BE49-F238E27FC236}">
                <a16:creationId xmlns:a16="http://schemas.microsoft.com/office/drawing/2014/main" id="{574A4FAD-8C1F-6B4A-8821-327E5EA06F42}"/>
              </a:ext>
            </a:extLst>
          </p:cNvPr>
          <p:cNvSpPr txBox="1"/>
          <p:nvPr/>
        </p:nvSpPr>
        <p:spPr>
          <a:xfrm>
            <a:off x="7848600" y="5484167"/>
            <a:ext cx="732893" cy="461665"/>
          </a:xfrm>
          <a:prstGeom prst="rect">
            <a:avLst/>
          </a:prstGeom>
          <a:noFill/>
        </p:spPr>
        <p:txBody>
          <a:bodyPr wrap="none" rtlCol="0">
            <a:spAutoFit/>
          </a:bodyPr>
          <a:lstStyle/>
          <a:p>
            <a:r>
              <a:rPr lang="en-US" dirty="0"/>
              <a:t>Sun</a:t>
            </a:r>
            <a:endParaRPr lang="en-US" baseline="-25000" dirty="0"/>
          </a:p>
        </p:txBody>
      </p:sp>
      <p:sp>
        <p:nvSpPr>
          <p:cNvPr id="12" name="TextBox 11">
            <a:extLst>
              <a:ext uri="{FF2B5EF4-FFF2-40B4-BE49-F238E27FC236}">
                <a16:creationId xmlns:a16="http://schemas.microsoft.com/office/drawing/2014/main" id="{B6FBCCAF-8081-154F-9843-9FACD9D90DCF}"/>
              </a:ext>
            </a:extLst>
          </p:cNvPr>
          <p:cNvSpPr txBox="1"/>
          <p:nvPr/>
        </p:nvSpPr>
        <p:spPr>
          <a:xfrm>
            <a:off x="6858000" y="5484167"/>
            <a:ext cx="732893" cy="461665"/>
          </a:xfrm>
          <a:prstGeom prst="rect">
            <a:avLst/>
          </a:prstGeom>
          <a:noFill/>
        </p:spPr>
        <p:txBody>
          <a:bodyPr wrap="none" rtlCol="0">
            <a:spAutoFit/>
          </a:bodyPr>
          <a:lstStyle/>
          <a:p>
            <a:r>
              <a:rPr lang="en-US" dirty="0"/>
              <a:t>Sun</a:t>
            </a:r>
            <a:endParaRPr lang="en-US" baseline="-25000" dirty="0"/>
          </a:p>
        </p:txBody>
      </p:sp>
      <p:sp>
        <p:nvSpPr>
          <p:cNvPr id="13" name="TextBox 12">
            <a:extLst>
              <a:ext uri="{FF2B5EF4-FFF2-40B4-BE49-F238E27FC236}">
                <a16:creationId xmlns:a16="http://schemas.microsoft.com/office/drawing/2014/main" id="{E52D8CB6-9C43-4440-BA4F-EE998EDE5C65}"/>
              </a:ext>
            </a:extLst>
          </p:cNvPr>
          <p:cNvSpPr txBox="1"/>
          <p:nvPr/>
        </p:nvSpPr>
        <p:spPr>
          <a:xfrm>
            <a:off x="5933261" y="5484167"/>
            <a:ext cx="543739" cy="461665"/>
          </a:xfrm>
          <a:prstGeom prst="rect">
            <a:avLst/>
          </a:prstGeom>
          <a:noFill/>
        </p:spPr>
        <p:txBody>
          <a:bodyPr wrap="none" rtlCol="0">
            <a:spAutoFit/>
          </a:bodyPr>
          <a:lstStyle/>
          <a:p>
            <a:r>
              <a:rPr lang="en-US" dirty="0"/>
              <a:t>Fri</a:t>
            </a:r>
            <a:endParaRPr lang="en-US" baseline="-25000" dirty="0"/>
          </a:p>
        </p:txBody>
      </p:sp>
      <p:sp>
        <p:nvSpPr>
          <p:cNvPr id="14" name="TextBox 13">
            <a:extLst>
              <a:ext uri="{FF2B5EF4-FFF2-40B4-BE49-F238E27FC236}">
                <a16:creationId xmlns:a16="http://schemas.microsoft.com/office/drawing/2014/main" id="{0B1F55C3-B6B6-4941-91F7-FA6D6EDC260B}"/>
              </a:ext>
            </a:extLst>
          </p:cNvPr>
          <p:cNvSpPr txBox="1"/>
          <p:nvPr/>
        </p:nvSpPr>
        <p:spPr>
          <a:xfrm>
            <a:off x="4764237" y="5484166"/>
            <a:ext cx="971741" cy="461665"/>
          </a:xfrm>
          <a:prstGeom prst="rect">
            <a:avLst/>
          </a:prstGeom>
          <a:noFill/>
        </p:spPr>
        <p:txBody>
          <a:bodyPr wrap="none" rtlCol="0">
            <a:spAutoFit/>
          </a:bodyPr>
          <a:lstStyle/>
          <a:p>
            <a:r>
              <a:rPr lang="en-US" dirty="0"/>
              <a:t>Thurs</a:t>
            </a:r>
            <a:endParaRPr lang="en-US" baseline="-25000" dirty="0"/>
          </a:p>
        </p:txBody>
      </p:sp>
    </p:spTree>
    <p:extLst>
      <p:ext uri="{BB962C8B-B14F-4D97-AF65-F5344CB8AC3E}">
        <p14:creationId xmlns:p14="http://schemas.microsoft.com/office/powerpoint/2010/main" val="2154156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98D44"/>
        </a:solidFill>
        <a:effectLst/>
      </p:bgPr>
    </p:bg>
    <p:spTree>
      <p:nvGrpSpPr>
        <p:cNvPr id="1" name=""/>
        <p:cNvGrpSpPr/>
        <p:nvPr/>
      </p:nvGrpSpPr>
      <p:grpSpPr>
        <a:xfrm>
          <a:off x="0" y="0"/>
          <a:ext cx="0" cy="0"/>
          <a:chOff x="0" y="0"/>
          <a:chExt cx="0" cy="0"/>
        </a:xfrm>
      </p:grpSpPr>
      <p:sp>
        <p:nvSpPr>
          <p:cNvPr id="34818" name="TextBox 4">
            <a:extLst>
              <a:ext uri="{FF2B5EF4-FFF2-40B4-BE49-F238E27FC236}">
                <a16:creationId xmlns:a16="http://schemas.microsoft.com/office/drawing/2014/main" id="{E4EDDA61-BC47-D745-8818-BACD06F1B30B}"/>
              </a:ext>
            </a:extLst>
          </p:cNvPr>
          <p:cNvSpPr txBox="1">
            <a:spLocks noChangeArrowheads="1"/>
          </p:cNvSpPr>
          <p:nvPr/>
        </p:nvSpPr>
        <p:spPr bwMode="auto">
          <a:xfrm>
            <a:off x="1981200" y="1790700"/>
            <a:ext cx="252986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dirty="0">
                <a:solidFill>
                  <a:srgbClr val="FFFF00"/>
                </a:solidFill>
                <a:cs typeface="Arial" panose="020B0604020202020204" pitchFamily="34" charset="0"/>
              </a:rPr>
              <a:t>Hydrosphere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DD564D9-C6B6-6B41-B3B5-F08FC7D11F79}"/>
              </a:ext>
            </a:extLst>
          </p:cNvPr>
          <p:cNvPicPr>
            <a:picLocks noChangeAspect="1"/>
          </p:cNvPicPr>
          <p:nvPr/>
        </p:nvPicPr>
        <p:blipFill>
          <a:blip r:embed="rId2"/>
          <a:stretch>
            <a:fillRect/>
          </a:stretch>
        </p:blipFill>
        <p:spPr>
          <a:xfrm>
            <a:off x="0" y="0"/>
            <a:ext cx="5568119" cy="5715000"/>
          </a:xfrm>
          <a:prstGeom prst="rect">
            <a:avLst/>
          </a:prstGeom>
          <a:solidFill>
            <a:schemeClr val="bg1"/>
          </a:solidFill>
        </p:spPr>
      </p:pic>
      <p:sp>
        <p:nvSpPr>
          <p:cNvPr id="6" name="TextBox 5">
            <a:extLst>
              <a:ext uri="{FF2B5EF4-FFF2-40B4-BE49-F238E27FC236}">
                <a16:creationId xmlns:a16="http://schemas.microsoft.com/office/drawing/2014/main" id="{257D7CDF-21C9-EB41-B470-B0B67C4232E2}"/>
              </a:ext>
            </a:extLst>
          </p:cNvPr>
          <p:cNvSpPr txBox="1"/>
          <p:nvPr/>
        </p:nvSpPr>
        <p:spPr>
          <a:xfrm>
            <a:off x="5568119" y="952500"/>
            <a:ext cx="2924968" cy="1569660"/>
          </a:xfrm>
          <a:prstGeom prst="rect">
            <a:avLst/>
          </a:prstGeom>
          <a:noFill/>
        </p:spPr>
        <p:txBody>
          <a:bodyPr wrap="none" rtlCol="0">
            <a:spAutoFit/>
          </a:bodyPr>
          <a:lstStyle/>
          <a:p>
            <a:r>
              <a:rPr lang="en-US" sz="3200" dirty="0"/>
              <a:t>Water on Earth</a:t>
            </a:r>
          </a:p>
          <a:p>
            <a:r>
              <a:rPr lang="en-US" sz="3200" dirty="0"/>
              <a:t>is mostly in the</a:t>
            </a:r>
          </a:p>
          <a:p>
            <a:r>
              <a:rPr lang="en-US" sz="3200" dirty="0"/>
              <a:t>oceans.</a:t>
            </a:r>
          </a:p>
        </p:txBody>
      </p:sp>
      <p:sp>
        <p:nvSpPr>
          <p:cNvPr id="2" name="&quot;No&quot; Symbol 1">
            <a:extLst>
              <a:ext uri="{FF2B5EF4-FFF2-40B4-BE49-F238E27FC236}">
                <a16:creationId xmlns:a16="http://schemas.microsoft.com/office/drawing/2014/main" id="{DE9D87EB-34A0-B34C-92C3-E032807FB252}"/>
              </a:ext>
            </a:extLst>
          </p:cNvPr>
          <p:cNvSpPr/>
          <p:nvPr/>
        </p:nvSpPr>
        <p:spPr>
          <a:xfrm>
            <a:off x="3505200" y="4457700"/>
            <a:ext cx="533400" cy="533400"/>
          </a:xfrm>
          <a:prstGeom prst="noSmoking">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3" name="TextBox 2">
            <a:extLst>
              <a:ext uri="{FF2B5EF4-FFF2-40B4-BE49-F238E27FC236}">
                <a16:creationId xmlns:a16="http://schemas.microsoft.com/office/drawing/2014/main" id="{99A0886F-9179-6A42-8883-D97AE821F367}"/>
              </a:ext>
            </a:extLst>
          </p:cNvPr>
          <p:cNvSpPr txBox="1"/>
          <p:nvPr/>
        </p:nvSpPr>
        <p:spPr>
          <a:xfrm>
            <a:off x="6668642" y="4750676"/>
            <a:ext cx="2475358" cy="830997"/>
          </a:xfrm>
          <a:prstGeom prst="rect">
            <a:avLst/>
          </a:prstGeom>
          <a:noFill/>
        </p:spPr>
        <p:txBody>
          <a:bodyPr wrap="none" rtlCol="0">
            <a:spAutoFit/>
          </a:bodyPr>
          <a:lstStyle/>
          <a:p>
            <a:r>
              <a:rPr lang="en-US" sz="1600" dirty="0">
                <a:solidFill>
                  <a:srgbClr val="FF0000"/>
                </a:solidFill>
              </a:rPr>
              <a:t>Atmospheric water is</a:t>
            </a:r>
          </a:p>
          <a:p>
            <a:r>
              <a:rPr lang="en-US" sz="1600" dirty="0">
                <a:solidFill>
                  <a:srgbClr val="FF0000"/>
                </a:solidFill>
              </a:rPr>
              <a:t>generally not considered </a:t>
            </a:r>
          </a:p>
          <a:p>
            <a:r>
              <a:rPr lang="en-US" sz="1600" dirty="0">
                <a:solidFill>
                  <a:srgbClr val="FF0000"/>
                </a:solidFill>
              </a:rPr>
              <a:t>part of the hydrosphere.</a:t>
            </a:r>
          </a:p>
        </p:txBody>
      </p:sp>
    </p:spTree>
    <p:extLst>
      <p:ext uri="{BB962C8B-B14F-4D97-AF65-F5344CB8AC3E}">
        <p14:creationId xmlns:p14="http://schemas.microsoft.com/office/powerpoint/2010/main" val="33340434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Rectangle 1026">
            <a:extLst>
              <a:ext uri="{FF2B5EF4-FFF2-40B4-BE49-F238E27FC236}">
                <a16:creationId xmlns:a16="http://schemas.microsoft.com/office/drawing/2014/main" id="{C7CC165C-7EDB-B946-849D-E30A7B5DD296}"/>
              </a:ext>
            </a:extLst>
          </p:cNvPr>
          <p:cNvSpPr>
            <a:spLocks noGrp="1" noChangeArrowheads="1"/>
          </p:cNvSpPr>
          <p:nvPr>
            <p:ph type="title" idx="4294967295"/>
          </p:nvPr>
        </p:nvSpPr>
        <p:spPr>
          <a:xfrm>
            <a:off x="825500" y="228865"/>
            <a:ext cx="7493000" cy="660135"/>
          </a:xfrm>
        </p:spPr>
        <p:txBody>
          <a:bodyPr/>
          <a:lstStyle/>
          <a:p>
            <a:pPr algn="l"/>
            <a:r>
              <a:rPr lang="en-US" altLang="en-US" sz="2667">
                <a:solidFill>
                  <a:srgbClr val="003264"/>
                </a:solidFill>
                <a:ea typeface="ＭＳ Ｐゴシック" panose="020B0600070205080204" pitchFamily="34" charset="-128"/>
              </a:rPr>
              <a:t>Today’</a:t>
            </a:r>
            <a:r>
              <a:rPr lang="en-US" altLang="ja-JP" sz="2667">
                <a:solidFill>
                  <a:srgbClr val="003264"/>
                </a:solidFill>
                <a:ea typeface="ＭＳ Ｐゴシック" panose="020B0600070205080204" pitchFamily="34" charset="-128"/>
              </a:rPr>
              <a:t>s oceans are deeply stratified (has not always been the case).</a:t>
            </a:r>
            <a:endParaRPr lang="en-US" altLang="en-US" sz="2667">
              <a:ea typeface="ＭＳ Ｐゴシック" panose="020B0600070205080204" pitchFamily="34" charset="-128"/>
            </a:endParaRPr>
          </a:p>
        </p:txBody>
      </p:sp>
      <p:sp>
        <p:nvSpPr>
          <p:cNvPr id="165890" name="Rectangle 1027">
            <a:extLst>
              <a:ext uri="{FF2B5EF4-FFF2-40B4-BE49-F238E27FC236}">
                <a16:creationId xmlns:a16="http://schemas.microsoft.com/office/drawing/2014/main" id="{63579637-7FAD-8A43-B24E-8797C2009F80}"/>
              </a:ext>
            </a:extLst>
          </p:cNvPr>
          <p:cNvSpPr>
            <a:spLocks noGrp="1" noChangeArrowheads="1"/>
          </p:cNvSpPr>
          <p:nvPr>
            <p:ph type="body" idx="4294967295"/>
          </p:nvPr>
        </p:nvSpPr>
        <p:spPr>
          <a:xfrm>
            <a:off x="952500" y="1308365"/>
            <a:ext cx="7239000" cy="3771635"/>
          </a:xfrm>
        </p:spPr>
        <p:txBody>
          <a:bodyPr/>
          <a:lstStyle/>
          <a:p>
            <a:pPr>
              <a:buFontTx/>
              <a:buNone/>
            </a:pPr>
            <a:r>
              <a:rPr lang="en-US" altLang="en-US" sz="2000">
                <a:ea typeface="ＭＳ Ｐゴシック" panose="020B0600070205080204" pitchFamily="34" charset="-128"/>
              </a:rPr>
              <a:t>	The thermocline inhibits mixing and is strongest in summer.</a:t>
            </a:r>
          </a:p>
        </p:txBody>
      </p:sp>
      <p:sp>
        <p:nvSpPr>
          <p:cNvPr id="175109" name="Rectangle 5">
            <a:extLst>
              <a:ext uri="{FF2B5EF4-FFF2-40B4-BE49-F238E27FC236}">
                <a16:creationId xmlns:a16="http://schemas.microsoft.com/office/drawing/2014/main" id="{371C03D5-7C77-4148-85D5-ED71D5578A76}"/>
              </a:ext>
            </a:extLst>
          </p:cNvPr>
          <p:cNvSpPr>
            <a:spLocks noChangeArrowheads="1"/>
          </p:cNvSpPr>
          <p:nvPr/>
        </p:nvSpPr>
        <p:spPr bwMode="auto">
          <a:xfrm>
            <a:off x="7239001" y="5270501"/>
            <a:ext cx="1021433" cy="3231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sz="1500" dirty="0">
                <a:latin typeface="Arial" charset="0"/>
                <a:ea typeface="ＭＳ Ｐゴシック" charset="0"/>
                <a:cs typeface="ＭＳ Ｐゴシック" charset="0"/>
              </a:rPr>
              <a:t>Wikipedia</a:t>
            </a:r>
          </a:p>
        </p:txBody>
      </p:sp>
      <p:sp>
        <p:nvSpPr>
          <p:cNvPr id="175110" name="Rectangle 6">
            <a:extLst>
              <a:ext uri="{FF2B5EF4-FFF2-40B4-BE49-F238E27FC236}">
                <a16:creationId xmlns:a16="http://schemas.microsoft.com/office/drawing/2014/main" id="{F32FEB95-117C-6140-84C6-2756907C7CB0}"/>
              </a:ext>
            </a:extLst>
          </p:cNvPr>
          <p:cNvSpPr>
            <a:spLocks noChangeArrowheads="1"/>
          </p:cNvSpPr>
          <p:nvPr/>
        </p:nvSpPr>
        <p:spPr bwMode="auto">
          <a:xfrm>
            <a:off x="4889501" y="2540000"/>
            <a:ext cx="3119765" cy="10156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sz="2000" dirty="0">
                <a:latin typeface="Arial" charset="0"/>
                <a:ea typeface="ＭＳ Ｐゴシック" charset="0"/>
                <a:cs typeface="ＭＳ Ｐゴシック" charset="0"/>
              </a:rPr>
              <a:t>Schematic tropical ocean </a:t>
            </a:r>
          </a:p>
          <a:p>
            <a:pPr>
              <a:defRPr/>
            </a:pPr>
            <a:r>
              <a:rPr lang="en-US" sz="2000" dirty="0">
                <a:latin typeface="Arial" charset="0"/>
                <a:ea typeface="ＭＳ Ｐゴシック" charset="0"/>
                <a:cs typeface="ＭＳ Ｐゴシック" charset="0"/>
              </a:rPr>
              <a:t>thermocline</a:t>
            </a:r>
          </a:p>
          <a:p>
            <a:pPr>
              <a:defRPr/>
            </a:pPr>
            <a:r>
              <a:rPr lang="en-US" sz="2000" dirty="0">
                <a:latin typeface="Arial" charset="0"/>
                <a:ea typeface="ＭＳ Ｐゴシック" charset="0"/>
                <a:cs typeface="ＭＳ Ｐゴシック" charset="0"/>
              </a:rPr>
              <a:t>(depth vs. temperature). </a:t>
            </a:r>
          </a:p>
        </p:txBody>
      </p:sp>
      <p:pic>
        <p:nvPicPr>
          <p:cNvPr id="165893" name="Picture 1" descr="THERMOCLINE.png">
            <a:extLst>
              <a:ext uri="{FF2B5EF4-FFF2-40B4-BE49-F238E27FC236}">
                <a16:creationId xmlns:a16="http://schemas.microsoft.com/office/drawing/2014/main" id="{784C8133-D49E-4040-8A02-94CF882D17A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70000" y="1803136"/>
            <a:ext cx="3238500" cy="3886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59389144"/>
      </p:ext>
    </p:extLst>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CEBB6-A7CD-0044-9DC7-C614A8C98AE3}"/>
              </a:ext>
            </a:extLst>
          </p:cNvPr>
          <p:cNvSpPr>
            <a:spLocks noGrp="1"/>
          </p:cNvSpPr>
          <p:nvPr>
            <p:ph type="title"/>
          </p:nvPr>
        </p:nvSpPr>
        <p:spPr>
          <a:xfrm>
            <a:off x="0" y="0"/>
            <a:ext cx="9144000" cy="969771"/>
          </a:xfrm>
        </p:spPr>
        <p:txBody>
          <a:bodyPr/>
          <a:lstStyle/>
          <a:p>
            <a:pPr eaLnBrk="1" hangingPunct="1">
              <a:spcBef>
                <a:spcPct val="50000"/>
              </a:spcBef>
              <a:buFontTx/>
              <a:buNone/>
            </a:pPr>
            <a:r>
              <a:rPr lang="en-GB" altLang="en-US" sz="2000" dirty="0">
                <a:solidFill>
                  <a:srgbClr val="FFFF00"/>
                </a:solidFill>
              </a:rPr>
              <a:t>Vertical meridional section of potential temperature in the Atlantic Ocean</a:t>
            </a:r>
            <a:br>
              <a:rPr lang="en-GB" altLang="en-US" sz="2000" dirty="0">
                <a:solidFill>
                  <a:srgbClr val="FFFF00"/>
                </a:solidFill>
              </a:rPr>
            </a:br>
            <a:r>
              <a:rPr lang="en-GB" altLang="en-US" sz="2000" dirty="0">
                <a:solidFill>
                  <a:srgbClr val="FFFF00"/>
                </a:solidFill>
              </a:rPr>
              <a:t>The </a:t>
            </a:r>
            <a:r>
              <a:rPr lang="en-GB" altLang="en-US" sz="2000" i="1" dirty="0">
                <a:solidFill>
                  <a:schemeClr val="bg1"/>
                </a:solidFill>
              </a:rPr>
              <a:t>thermocline</a:t>
            </a:r>
            <a:r>
              <a:rPr lang="en-GB" altLang="en-US" sz="2000" dirty="0">
                <a:solidFill>
                  <a:srgbClr val="FFFF00"/>
                </a:solidFill>
              </a:rPr>
              <a:t> is the region of large dT/</a:t>
            </a:r>
            <a:r>
              <a:rPr lang="en-GB" altLang="en-US" sz="2000" dirty="0" err="1">
                <a:solidFill>
                  <a:srgbClr val="FFFF00"/>
                </a:solidFill>
              </a:rPr>
              <a:t>dz</a:t>
            </a:r>
            <a:r>
              <a:rPr lang="en-GB" altLang="en-US" sz="2000" dirty="0">
                <a:solidFill>
                  <a:srgbClr val="FFFF00"/>
                </a:solidFill>
              </a:rPr>
              <a:t> close to the surface.</a:t>
            </a:r>
            <a:endParaRPr lang="en-US" sz="2000" dirty="0">
              <a:solidFill>
                <a:srgbClr val="FFFF00"/>
              </a:solidFill>
            </a:endParaRPr>
          </a:p>
        </p:txBody>
      </p:sp>
      <p:sp>
        <p:nvSpPr>
          <p:cNvPr id="3" name="Rectangle 2">
            <a:extLst>
              <a:ext uri="{FF2B5EF4-FFF2-40B4-BE49-F238E27FC236}">
                <a16:creationId xmlns:a16="http://schemas.microsoft.com/office/drawing/2014/main" id="{626A4316-F193-4142-B17F-5D32A2C300C6}"/>
              </a:ext>
            </a:extLst>
          </p:cNvPr>
          <p:cNvSpPr/>
          <p:nvPr/>
        </p:nvSpPr>
        <p:spPr>
          <a:xfrm>
            <a:off x="107505" y="6237312"/>
            <a:ext cx="9036496" cy="830997"/>
          </a:xfrm>
          <a:prstGeom prst="rect">
            <a:avLst/>
          </a:prstGeom>
        </p:spPr>
        <p:txBody>
          <a:bodyPr wrap="square">
            <a:spAutoFit/>
          </a:bodyPr>
          <a:lstStyle/>
          <a:p>
            <a:pPr eaLnBrk="1" hangingPunct="1">
              <a:spcBef>
                <a:spcPct val="50000"/>
              </a:spcBef>
              <a:buFontTx/>
              <a:buNone/>
            </a:pPr>
            <a:r>
              <a:rPr lang="en-GB" altLang="en-US" dirty="0">
                <a:solidFill>
                  <a:srgbClr val="FFFF00"/>
                </a:solidFill>
              </a:rPr>
              <a:t>The Ocean is heated from above and so becomes stably stratified, inhibiting heat transfer to lower levels</a:t>
            </a:r>
          </a:p>
        </p:txBody>
      </p:sp>
      <p:pic>
        <p:nvPicPr>
          <p:cNvPr id="4" name="Picture 2" descr="A16con_Tpot">
            <a:extLst>
              <a:ext uri="{FF2B5EF4-FFF2-40B4-BE49-F238E27FC236}">
                <a16:creationId xmlns:a16="http://schemas.microsoft.com/office/drawing/2014/main" id="{DC459861-8DEF-944B-815E-E0D1C533F5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403" y="800100"/>
            <a:ext cx="8478597" cy="491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DA82D9DF-D057-AA43-BA60-17AACA78740B}"/>
              </a:ext>
            </a:extLst>
          </p:cNvPr>
          <p:cNvSpPr txBox="1"/>
          <p:nvPr/>
        </p:nvSpPr>
        <p:spPr>
          <a:xfrm>
            <a:off x="1219200" y="2403212"/>
            <a:ext cx="6096000" cy="830997"/>
          </a:xfrm>
          <a:prstGeom prst="rect">
            <a:avLst/>
          </a:prstGeom>
          <a:noFill/>
        </p:spPr>
        <p:txBody>
          <a:bodyPr wrap="square" rtlCol="0">
            <a:spAutoFit/>
          </a:bodyPr>
          <a:lstStyle/>
          <a:p>
            <a:r>
              <a:rPr lang="en-US" dirty="0">
                <a:solidFill>
                  <a:srgbClr val="FFFF00"/>
                </a:solidFill>
              </a:rPr>
              <a:t>Only a tiny fraction of the ocean interacts with the atmosphere directly.</a:t>
            </a:r>
          </a:p>
        </p:txBody>
      </p:sp>
    </p:spTree>
    <p:extLst>
      <p:ext uri="{BB962C8B-B14F-4D97-AF65-F5344CB8AC3E}">
        <p14:creationId xmlns:p14="http://schemas.microsoft.com/office/powerpoint/2010/main" val="18462194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a:extLst>
              <a:ext uri="{FF2B5EF4-FFF2-40B4-BE49-F238E27FC236}">
                <a16:creationId xmlns:a16="http://schemas.microsoft.com/office/drawing/2014/main" id="{91042E63-F0D3-414F-A6F9-461B9EB8ED35}"/>
              </a:ext>
            </a:extLst>
          </p:cNvPr>
          <p:cNvSpPr>
            <a:spLocks noChangeArrowheads="1"/>
          </p:cNvSpPr>
          <p:nvPr/>
        </p:nvSpPr>
        <p:spPr bwMode="auto">
          <a:xfrm>
            <a:off x="1079500" y="254000"/>
            <a:ext cx="7048500" cy="553998"/>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3000">
                <a:effectLst>
                  <a:outerShdw blurRad="38100" dist="38100" dir="2700000" algn="tl">
                    <a:srgbClr val="FFFFFF"/>
                  </a:outerShdw>
                </a:effectLst>
                <a:cs typeface="Arial" panose="020B0604020202020204" pitchFamily="34" charset="0"/>
              </a:rPr>
              <a:t>Surface Ocean Currents</a:t>
            </a:r>
          </a:p>
        </p:txBody>
      </p:sp>
      <p:pic>
        <p:nvPicPr>
          <p:cNvPr id="137218" name="Picture 4" descr="figure_15_03a">
            <a:extLst>
              <a:ext uri="{FF2B5EF4-FFF2-40B4-BE49-F238E27FC236}">
                <a16:creationId xmlns:a16="http://schemas.microsoft.com/office/drawing/2014/main" id="{B73A4E4C-E15A-2F42-BF37-8C7538297B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6000" y="1270000"/>
            <a:ext cx="7112000" cy="4359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461603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9265" name="Picture 4" descr="figure_15_03a">
            <a:extLst>
              <a:ext uri="{FF2B5EF4-FFF2-40B4-BE49-F238E27FC236}">
                <a16:creationId xmlns:a16="http://schemas.microsoft.com/office/drawing/2014/main" id="{8262E67B-0602-F142-8421-7FDB5919C2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6000" y="1270000"/>
            <a:ext cx="7112000" cy="4359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2578" name="TextBox 3">
            <a:extLst>
              <a:ext uri="{FF2B5EF4-FFF2-40B4-BE49-F238E27FC236}">
                <a16:creationId xmlns:a16="http://schemas.microsoft.com/office/drawing/2014/main" id="{5CB5F99A-A02E-5F48-9A3F-CF5DC2C5D83A}"/>
              </a:ext>
            </a:extLst>
          </p:cNvPr>
          <p:cNvSpPr txBox="1">
            <a:spLocks noChangeArrowheads="1"/>
          </p:cNvSpPr>
          <p:nvPr/>
        </p:nvSpPr>
        <p:spPr bwMode="auto">
          <a:xfrm>
            <a:off x="1587500" y="2286001"/>
            <a:ext cx="1210588" cy="323165"/>
          </a:xfrm>
          <a:prstGeom prst="rect">
            <a:avLst/>
          </a:prstGeom>
          <a:solidFill>
            <a:schemeClr val="accent5">
              <a:lumMod val="75000"/>
            </a:schemeClr>
          </a:solidFill>
          <a:ln>
            <a:solidFill>
              <a:schemeClr val="tx1"/>
            </a:solidFill>
          </a:ln>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defRPr/>
            </a:pPr>
            <a:r>
              <a:rPr lang="en-US" sz="1500" dirty="0">
                <a:solidFill>
                  <a:srgbClr val="FF0000"/>
                </a:solidFill>
              </a:rPr>
              <a:t>Gulf Stream</a:t>
            </a:r>
          </a:p>
        </p:txBody>
      </p:sp>
      <p:sp>
        <p:nvSpPr>
          <p:cNvPr id="139267" name="TextBox 5">
            <a:extLst>
              <a:ext uri="{FF2B5EF4-FFF2-40B4-BE49-F238E27FC236}">
                <a16:creationId xmlns:a16="http://schemas.microsoft.com/office/drawing/2014/main" id="{89D01D34-7DDC-804A-8945-B8B9A28C33F1}"/>
              </a:ext>
            </a:extLst>
          </p:cNvPr>
          <p:cNvSpPr txBox="1">
            <a:spLocks noChangeArrowheads="1"/>
          </p:cNvSpPr>
          <p:nvPr/>
        </p:nvSpPr>
        <p:spPr bwMode="auto">
          <a:xfrm>
            <a:off x="2032000" y="3873500"/>
            <a:ext cx="1899879" cy="1015663"/>
          </a:xfrm>
          <a:prstGeom prst="rect">
            <a:avLst/>
          </a:prstGeom>
          <a:solidFill>
            <a:srgbClr val="F3DE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500">
                <a:solidFill>
                  <a:srgbClr val="FF0000"/>
                </a:solidFill>
              </a:rPr>
              <a:t>counterclockwise</a:t>
            </a:r>
          </a:p>
          <a:p>
            <a:pPr eaLnBrk="1" hangingPunct="1"/>
            <a:r>
              <a:rPr lang="en-US" altLang="en-US" sz="1500">
                <a:solidFill>
                  <a:srgbClr val="FF0000"/>
                </a:solidFill>
              </a:rPr>
              <a:t>gyres in Southern</a:t>
            </a:r>
          </a:p>
          <a:p>
            <a:pPr eaLnBrk="1" hangingPunct="1"/>
            <a:r>
              <a:rPr lang="en-US" altLang="en-US" sz="1500">
                <a:solidFill>
                  <a:srgbClr val="FF0000"/>
                </a:solidFill>
              </a:rPr>
              <a:t>Hemisphere in each</a:t>
            </a:r>
          </a:p>
          <a:p>
            <a:pPr eaLnBrk="1" hangingPunct="1"/>
            <a:r>
              <a:rPr lang="en-US" altLang="en-US" sz="1500">
                <a:solidFill>
                  <a:srgbClr val="FF0000"/>
                </a:solidFill>
              </a:rPr>
              <a:t>ocean basin</a:t>
            </a:r>
          </a:p>
        </p:txBody>
      </p:sp>
      <p:sp>
        <p:nvSpPr>
          <p:cNvPr id="139268" name="TextBox 6">
            <a:extLst>
              <a:ext uri="{FF2B5EF4-FFF2-40B4-BE49-F238E27FC236}">
                <a16:creationId xmlns:a16="http://schemas.microsoft.com/office/drawing/2014/main" id="{CBA99E6F-B075-534A-BB53-17BD205E3208}"/>
              </a:ext>
            </a:extLst>
          </p:cNvPr>
          <p:cNvSpPr txBox="1">
            <a:spLocks noChangeArrowheads="1"/>
          </p:cNvSpPr>
          <p:nvPr/>
        </p:nvSpPr>
        <p:spPr bwMode="auto">
          <a:xfrm>
            <a:off x="6159500" y="2476500"/>
            <a:ext cx="1899879" cy="1015663"/>
          </a:xfrm>
          <a:prstGeom prst="rect">
            <a:avLst/>
          </a:prstGeom>
          <a:solidFill>
            <a:srgbClr val="F3DE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500">
                <a:solidFill>
                  <a:srgbClr val="FF0000"/>
                </a:solidFill>
              </a:rPr>
              <a:t>clockwise</a:t>
            </a:r>
          </a:p>
          <a:p>
            <a:pPr eaLnBrk="1" hangingPunct="1"/>
            <a:r>
              <a:rPr lang="en-US" altLang="en-US" sz="1500">
                <a:solidFill>
                  <a:srgbClr val="FF0000"/>
                </a:solidFill>
              </a:rPr>
              <a:t>gyres in Northern</a:t>
            </a:r>
          </a:p>
          <a:p>
            <a:pPr eaLnBrk="1" hangingPunct="1"/>
            <a:r>
              <a:rPr lang="en-US" altLang="en-US" sz="1500">
                <a:solidFill>
                  <a:srgbClr val="FF0000"/>
                </a:solidFill>
              </a:rPr>
              <a:t>Hemisphere in each</a:t>
            </a:r>
          </a:p>
          <a:p>
            <a:pPr eaLnBrk="1" hangingPunct="1"/>
            <a:r>
              <a:rPr lang="en-US" altLang="en-US" sz="1500">
                <a:solidFill>
                  <a:srgbClr val="FF0000"/>
                </a:solidFill>
              </a:rPr>
              <a:t>ocean basin</a:t>
            </a:r>
          </a:p>
        </p:txBody>
      </p:sp>
      <p:sp>
        <p:nvSpPr>
          <p:cNvPr id="139269" name="TextBox 7">
            <a:extLst>
              <a:ext uri="{FF2B5EF4-FFF2-40B4-BE49-F238E27FC236}">
                <a16:creationId xmlns:a16="http://schemas.microsoft.com/office/drawing/2014/main" id="{9F6AF8A3-4DED-254C-A8C5-CECF8E404EB7}"/>
              </a:ext>
            </a:extLst>
          </p:cNvPr>
          <p:cNvSpPr txBox="1">
            <a:spLocks noChangeArrowheads="1"/>
          </p:cNvSpPr>
          <p:nvPr/>
        </p:nvSpPr>
        <p:spPr bwMode="auto">
          <a:xfrm>
            <a:off x="4572000" y="3683000"/>
            <a:ext cx="2327881" cy="1015663"/>
          </a:xfrm>
          <a:prstGeom prst="rect">
            <a:avLst/>
          </a:prstGeom>
          <a:solidFill>
            <a:srgbClr val="F3DE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500">
                <a:solidFill>
                  <a:srgbClr val="FF0000"/>
                </a:solidFill>
              </a:rPr>
              <a:t>Ocean currents</a:t>
            </a:r>
          </a:p>
          <a:p>
            <a:pPr eaLnBrk="1" hangingPunct="1"/>
            <a:r>
              <a:rPr lang="en-US" altLang="en-US" sz="1500">
                <a:solidFill>
                  <a:srgbClr val="FF0000"/>
                </a:solidFill>
              </a:rPr>
              <a:t>transport warm water</a:t>
            </a:r>
          </a:p>
          <a:p>
            <a:pPr eaLnBrk="1" hangingPunct="1"/>
            <a:r>
              <a:rPr lang="en-US" altLang="en-US" sz="1500">
                <a:solidFill>
                  <a:srgbClr val="FF0000"/>
                </a:solidFill>
              </a:rPr>
              <a:t>poleward and cold water </a:t>
            </a:r>
          </a:p>
          <a:p>
            <a:pPr eaLnBrk="1" hangingPunct="1"/>
            <a:r>
              <a:rPr lang="en-US" altLang="en-US" sz="1500">
                <a:solidFill>
                  <a:srgbClr val="FF0000"/>
                </a:solidFill>
              </a:rPr>
              <a:t>equatorward.</a:t>
            </a:r>
          </a:p>
        </p:txBody>
      </p:sp>
      <p:sp>
        <p:nvSpPr>
          <p:cNvPr id="9" name="Rectangle 3">
            <a:extLst>
              <a:ext uri="{FF2B5EF4-FFF2-40B4-BE49-F238E27FC236}">
                <a16:creationId xmlns:a16="http://schemas.microsoft.com/office/drawing/2014/main" id="{488ED8BE-36CD-5847-B969-0352995873A9}"/>
              </a:ext>
            </a:extLst>
          </p:cNvPr>
          <p:cNvSpPr>
            <a:spLocks noChangeArrowheads="1"/>
          </p:cNvSpPr>
          <p:nvPr/>
        </p:nvSpPr>
        <p:spPr bwMode="auto">
          <a:xfrm>
            <a:off x="1079500" y="254000"/>
            <a:ext cx="7048500" cy="553998"/>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3000">
                <a:effectLst>
                  <a:outerShdw blurRad="38100" dist="38100" dir="2700000" algn="tl">
                    <a:srgbClr val="FFFFFF"/>
                  </a:outerShdw>
                </a:effectLst>
                <a:cs typeface="Arial" panose="020B0604020202020204" pitchFamily="34" charset="0"/>
              </a:rPr>
              <a:t>Surface Ocean Currents</a:t>
            </a:r>
          </a:p>
        </p:txBody>
      </p:sp>
      <p:sp>
        <p:nvSpPr>
          <p:cNvPr id="152579" name="TextBox 4">
            <a:extLst>
              <a:ext uri="{FF2B5EF4-FFF2-40B4-BE49-F238E27FC236}">
                <a16:creationId xmlns:a16="http://schemas.microsoft.com/office/drawing/2014/main" id="{5759B24D-CED7-174A-B0DD-FAADF06E1CB3}"/>
              </a:ext>
            </a:extLst>
          </p:cNvPr>
          <p:cNvSpPr txBox="1">
            <a:spLocks noChangeArrowheads="1"/>
          </p:cNvSpPr>
          <p:nvPr/>
        </p:nvSpPr>
        <p:spPr bwMode="auto">
          <a:xfrm>
            <a:off x="5651500" y="2222501"/>
            <a:ext cx="1641796" cy="323165"/>
          </a:xfrm>
          <a:prstGeom prst="rect">
            <a:avLst/>
          </a:prstGeom>
          <a:solidFill>
            <a:schemeClr val="accent5">
              <a:lumMod val="75000"/>
            </a:schemeClr>
          </a:solidFill>
          <a:ln>
            <a:solidFill>
              <a:schemeClr val="tx1"/>
            </a:solidFill>
          </a:ln>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defRPr/>
            </a:pPr>
            <a:r>
              <a:rPr lang="en-US" sz="1500">
                <a:solidFill>
                  <a:srgbClr val="FF0000"/>
                </a:solidFill>
              </a:rPr>
              <a:t>Kuroshio Current</a:t>
            </a:r>
          </a:p>
        </p:txBody>
      </p:sp>
      <p:sp>
        <p:nvSpPr>
          <p:cNvPr id="10" name="TextBox 3">
            <a:extLst>
              <a:ext uri="{FF2B5EF4-FFF2-40B4-BE49-F238E27FC236}">
                <a16:creationId xmlns:a16="http://schemas.microsoft.com/office/drawing/2014/main" id="{B7E14DEE-0458-E043-95C3-A39EC7B53B5B}"/>
              </a:ext>
            </a:extLst>
          </p:cNvPr>
          <p:cNvSpPr txBox="1">
            <a:spLocks noChangeArrowheads="1"/>
          </p:cNvSpPr>
          <p:nvPr/>
        </p:nvSpPr>
        <p:spPr bwMode="auto">
          <a:xfrm>
            <a:off x="1143000" y="825501"/>
            <a:ext cx="2369559" cy="323165"/>
          </a:xfrm>
          <a:prstGeom prst="rect">
            <a:avLst/>
          </a:prstGeom>
          <a:solidFill>
            <a:schemeClr val="accent5">
              <a:lumMod val="75000"/>
            </a:schemeClr>
          </a:solidFill>
          <a:ln>
            <a:solidFill>
              <a:schemeClr val="tx1"/>
            </a:solidFill>
          </a:ln>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defRPr/>
            </a:pPr>
            <a:r>
              <a:rPr lang="en-US" sz="1500" dirty="0">
                <a:solidFill>
                  <a:srgbClr val="FF0000"/>
                </a:solidFill>
              </a:rPr>
              <a:t>western boundary current</a:t>
            </a:r>
          </a:p>
        </p:txBody>
      </p:sp>
      <p:sp>
        <p:nvSpPr>
          <p:cNvPr id="139273" name="TextBox 3">
            <a:extLst>
              <a:ext uri="{FF2B5EF4-FFF2-40B4-BE49-F238E27FC236}">
                <a16:creationId xmlns:a16="http://schemas.microsoft.com/office/drawing/2014/main" id="{2DADBC6F-5FC1-514F-B920-F993B64BBBD7}"/>
              </a:ext>
            </a:extLst>
          </p:cNvPr>
          <p:cNvSpPr txBox="1">
            <a:spLocks noChangeArrowheads="1"/>
          </p:cNvSpPr>
          <p:nvPr/>
        </p:nvSpPr>
        <p:spPr bwMode="auto">
          <a:xfrm>
            <a:off x="3111500" y="2984501"/>
            <a:ext cx="1781257" cy="323165"/>
          </a:xfrm>
          <a:prstGeom prst="rect">
            <a:avLst/>
          </a:prstGeom>
          <a:solidFill>
            <a:srgbClr val="FFFF00"/>
          </a:solidFill>
          <a:ln w="9525">
            <a:solidFill>
              <a:schemeClr val="tx1"/>
            </a:solidFill>
            <a:miter lim="800000"/>
            <a:headEnd/>
            <a:tailEnd/>
          </a:ln>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500">
                <a:solidFill>
                  <a:srgbClr val="FF0000"/>
                </a:solidFill>
              </a:rPr>
              <a:t>equatorial currents</a:t>
            </a:r>
          </a:p>
        </p:txBody>
      </p:sp>
      <p:sp>
        <p:nvSpPr>
          <p:cNvPr id="139274" name="TextBox 3">
            <a:extLst>
              <a:ext uri="{FF2B5EF4-FFF2-40B4-BE49-F238E27FC236}">
                <a16:creationId xmlns:a16="http://schemas.microsoft.com/office/drawing/2014/main" id="{B5F219A4-0D89-A146-884D-E76F4A84E800}"/>
              </a:ext>
            </a:extLst>
          </p:cNvPr>
          <p:cNvSpPr txBox="1">
            <a:spLocks noChangeArrowheads="1"/>
          </p:cNvSpPr>
          <p:nvPr/>
        </p:nvSpPr>
        <p:spPr bwMode="auto">
          <a:xfrm>
            <a:off x="4064000" y="825501"/>
            <a:ext cx="1781257" cy="323165"/>
          </a:xfrm>
          <a:prstGeom prst="rect">
            <a:avLst/>
          </a:prstGeom>
          <a:solidFill>
            <a:srgbClr val="FFFF00"/>
          </a:solidFill>
          <a:ln w="9525">
            <a:solidFill>
              <a:schemeClr val="tx1"/>
            </a:solidFill>
            <a:miter lim="800000"/>
            <a:headEnd/>
            <a:tailEnd/>
          </a:ln>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500">
                <a:solidFill>
                  <a:srgbClr val="FF0000"/>
                </a:solidFill>
              </a:rPr>
              <a:t>equatorial currents</a:t>
            </a:r>
          </a:p>
        </p:txBody>
      </p:sp>
    </p:spTree>
    <p:extLst>
      <p:ext uri="{BB962C8B-B14F-4D97-AF65-F5344CB8AC3E}">
        <p14:creationId xmlns:p14="http://schemas.microsoft.com/office/powerpoint/2010/main" val="40939252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Rectangle 3">
            <a:extLst>
              <a:ext uri="{FF2B5EF4-FFF2-40B4-BE49-F238E27FC236}">
                <a16:creationId xmlns:a16="http://schemas.microsoft.com/office/drawing/2014/main" id="{ED7160D3-8148-3843-9D4B-84B3C0515689}"/>
              </a:ext>
            </a:extLst>
          </p:cNvPr>
          <p:cNvSpPr>
            <a:spLocks noGrp="1" noChangeArrowheads="1"/>
          </p:cNvSpPr>
          <p:nvPr>
            <p:ph type="body" idx="4294967295"/>
          </p:nvPr>
        </p:nvSpPr>
        <p:spPr>
          <a:xfrm>
            <a:off x="1143000" y="889000"/>
            <a:ext cx="6858000" cy="4216136"/>
          </a:xfrm>
        </p:spPr>
        <p:txBody>
          <a:bodyPr/>
          <a:lstStyle/>
          <a:p>
            <a:pPr eaLnBrk="1" hangingPunct="1">
              <a:buFontTx/>
              <a:buNone/>
            </a:pPr>
            <a:endParaRPr lang="en-GB" altLang="en-US" sz="1667">
              <a:ea typeface="ＭＳ Ｐゴシック" panose="020B0600070205080204" pitchFamily="34" charset="-128"/>
            </a:endParaRPr>
          </a:p>
          <a:p>
            <a:pPr eaLnBrk="1" hangingPunct="1">
              <a:buFontTx/>
              <a:buNone/>
            </a:pPr>
            <a:endParaRPr lang="en-GB" altLang="en-US" sz="1667">
              <a:ea typeface="ＭＳ Ｐゴシック" panose="020B0600070205080204" pitchFamily="34" charset="-128"/>
            </a:endParaRPr>
          </a:p>
          <a:p>
            <a:pPr eaLnBrk="1" hangingPunct="1">
              <a:buFontTx/>
              <a:buNone/>
            </a:pPr>
            <a:endParaRPr lang="en-GB" altLang="en-US" sz="1667">
              <a:ea typeface="ＭＳ Ｐゴシック" panose="020B0600070205080204" pitchFamily="34" charset="-128"/>
            </a:endParaRPr>
          </a:p>
          <a:p>
            <a:pPr eaLnBrk="1" hangingPunct="1">
              <a:buFontTx/>
              <a:buNone/>
            </a:pPr>
            <a:endParaRPr lang="en-GB" altLang="en-US" sz="1667">
              <a:ea typeface="ＭＳ Ｐゴシック" panose="020B0600070205080204" pitchFamily="34" charset="-128"/>
            </a:endParaRPr>
          </a:p>
          <a:p>
            <a:pPr eaLnBrk="1" hangingPunct="1">
              <a:buFontTx/>
              <a:buNone/>
            </a:pPr>
            <a:endParaRPr lang="en-GB" altLang="en-US" sz="1667">
              <a:ea typeface="ＭＳ Ｐゴシック" panose="020B0600070205080204" pitchFamily="34" charset="-128"/>
            </a:endParaRPr>
          </a:p>
          <a:p>
            <a:pPr eaLnBrk="1" hangingPunct="1">
              <a:buFontTx/>
              <a:buNone/>
            </a:pPr>
            <a:endParaRPr lang="en-GB" altLang="en-US" sz="1667">
              <a:ea typeface="ＭＳ Ｐゴシック" panose="020B0600070205080204" pitchFamily="34" charset="-128"/>
            </a:endParaRPr>
          </a:p>
          <a:p>
            <a:pPr eaLnBrk="1" hangingPunct="1">
              <a:buFontTx/>
              <a:buNone/>
            </a:pPr>
            <a:endParaRPr lang="en-GB" altLang="en-US" sz="1667">
              <a:ea typeface="ＭＳ Ｐゴシック" panose="020B0600070205080204" pitchFamily="34" charset="-128"/>
            </a:endParaRPr>
          </a:p>
          <a:p>
            <a:pPr eaLnBrk="1" hangingPunct="1">
              <a:buFontTx/>
              <a:buNone/>
            </a:pPr>
            <a:endParaRPr lang="en-GB" altLang="en-US" sz="1667">
              <a:ea typeface="ＭＳ Ｐゴシック" panose="020B0600070205080204" pitchFamily="34" charset="-128"/>
            </a:endParaRPr>
          </a:p>
        </p:txBody>
      </p:sp>
      <p:sp>
        <p:nvSpPr>
          <p:cNvPr id="173061" name="Rectangle 5">
            <a:extLst>
              <a:ext uri="{FF2B5EF4-FFF2-40B4-BE49-F238E27FC236}">
                <a16:creationId xmlns:a16="http://schemas.microsoft.com/office/drawing/2014/main" id="{582286F3-5046-4040-A868-903A9918175D}"/>
              </a:ext>
            </a:extLst>
          </p:cNvPr>
          <p:cNvSpPr>
            <a:spLocks noChangeArrowheads="1"/>
          </p:cNvSpPr>
          <p:nvPr/>
        </p:nvSpPr>
        <p:spPr bwMode="auto">
          <a:xfrm>
            <a:off x="3770313" y="5461001"/>
            <a:ext cx="4674678" cy="20774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sz="750">
                <a:latin typeface="Helvetica" charset="0"/>
                <a:ea typeface="ＭＳ Ｐゴシック" charset="0"/>
                <a:cs typeface="ＭＳ Ｐゴシック" charset="0"/>
              </a:rPr>
              <a:t>Figure source: Skinner and Murck: </a:t>
            </a:r>
            <a:r>
              <a:rPr lang="en-US" sz="750" i="1">
                <a:latin typeface="Helvetica" charset="0"/>
                <a:ea typeface="ＭＳ Ｐゴシック" charset="0"/>
                <a:cs typeface="ＭＳ Ｐゴシック" charset="0"/>
              </a:rPr>
              <a:t>The Blue Planet: An Introduction to Earth System Science, 3rd Edition.</a:t>
            </a:r>
          </a:p>
        </p:txBody>
      </p:sp>
      <p:pic>
        <p:nvPicPr>
          <p:cNvPr id="143363" name="Picture 6" descr="Picture 2">
            <a:extLst>
              <a:ext uri="{FF2B5EF4-FFF2-40B4-BE49-F238E27FC236}">
                <a16:creationId xmlns:a16="http://schemas.microsoft.com/office/drawing/2014/main" id="{A0180FA7-D6F3-854B-AE26-DBFB47D112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5500" y="508000"/>
            <a:ext cx="7429500" cy="4716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Up Arrow 1">
            <a:extLst>
              <a:ext uri="{FF2B5EF4-FFF2-40B4-BE49-F238E27FC236}">
                <a16:creationId xmlns:a16="http://schemas.microsoft.com/office/drawing/2014/main" id="{EB3EF866-0528-AF46-9838-B04ECF7EF5BD}"/>
              </a:ext>
            </a:extLst>
          </p:cNvPr>
          <p:cNvSpPr>
            <a:spLocks noChangeArrowheads="1"/>
          </p:cNvSpPr>
          <p:nvPr/>
        </p:nvSpPr>
        <p:spPr bwMode="auto">
          <a:xfrm rot="2305658">
            <a:off x="3100917" y="2222500"/>
            <a:ext cx="381000" cy="508000"/>
          </a:xfrm>
          <a:prstGeom prst="upArrow">
            <a:avLst>
              <a:gd name="adj1" fmla="val 50000"/>
              <a:gd name="adj2" fmla="val 50000"/>
            </a:avLst>
          </a:prstGeom>
          <a:solidFill>
            <a:srgbClr val="FF0000"/>
          </a:solid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en-US" sz="2000">
              <a:solidFill>
                <a:schemeClr val="lt1"/>
              </a:solidFill>
              <a:latin typeface="+mn-lt"/>
              <a:ea typeface="+mn-ea"/>
            </a:endParaRPr>
          </a:p>
        </p:txBody>
      </p:sp>
      <p:sp>
        <p:nvSpPr>
          <p:cNvPr id="6" name="Up Arrow 5">
            <a:extLst>
              <a:ext uri="{FF2B5EF4-FFF2-40B4-BE49-F238E27FC236}">
                <a16:creationId xmlns:a16="http://schemas.microsoft.com/office/drawing/2014/main" id="{AE102B0D-A54D-0B46-8634-C877D326EF46}"/>
              </a:ext>
            </a:extLst>
          </p:cNvPr>
          <p:cNvSpPr>
            <a:spLocks noChangeArrowheads="1"/>
          </p:cNvSpPr>
          <p:nvPr/>
        </p:nvSpPr>
        <p:spPr bwMode="auto">
          <a:xfrm rot="2305658">
            <a:off x="6847417" y="2095500"/>
            <a:ext cx="381000" cy="508000"/>
          </a:xfrm>
          <a:prstGeom prst="upArrow">
            <a:avLst>
              <a:gd name="adj1" fmla="val 50000"/>
              <a:gd name="adj2" fmla="val 50000"/>
            </a:avLst>
          </a:prstGeom>
          <a:solidFill>
            <a:srgbClr val="FF0000"/>
          </a:solid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en-US" sz="2000">
              <a:solidFill>
                <a:schemeClr val="lt1"/>
              </a:solidFill>
              <a:latin typeface="+mn-lt"/>
              <a:ea typeface="+mn-ea"/>
            </a:endParaRPr>
          </a:p>
        </p:txBody>
      </p:sp>
      <p:sp>
        <p:nvSpPr>
          <p:cNvPr id="7" name="Up Arrow 6">
            <a:extLst>
              <a:ext uri="{FF2B5EF4-FFF2-40B4-BE49-F238E27FC236}">
                <a16:creationId xmlns:a16="http://schemas.microsoft.com/office/drawing/2014/main" id="{C5C92E7F-871A-094C-BF7D-E31F7D0CB513}"/>
              </a:ext>
            </a:extLst>
          </p:cNvPr>
          <p:cNvSpPr>
            <a:spLocks noChangeArrowheads="1"/>
          </p:cNvSpPr>
          <p:nvPr/>
        </p:nvSpPr>
        <p:spPr bwMode="auto">
          <a:xfrm rot="12642069">
            <a:off x="1944688" y="2030678"/>
            <a:ext cx="381000" cy="508000"/>
          </a:xfrm>
          <a:prstGeom prst="upArrow">
            <a:avLst>
              <a:gd name="adj1" fmla="val 50000"/>
              <a:gd name="adj2" fmla="val 50000"/>
            </a:avLst>
          </a:prstGeom>
          <a:solidFill>
            <a:srgbClr val="000090"/>
          </a:solid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en-US" sz="2000">
              <a:solidFill>
                <a:schemeClr val="lt1"/>
              </a:solidFill>
              <a:latin typeface="+mn-lt"/>
              <a:ea typeface="+mn-ea"/>
            </a:endParaRPr>
          </a:p>
        </p:txBody>
      </p:sp>
      <p:sp>
        <p:nvSpPr>
          <p:cNvPr id="8" name="Up Arrow 7">
            <a:extLst>
              <a:ext uri="{FF2B5EF4-FFF2-40B4-BE49-F238E27FC236}">
                <a16:creationId xmlns:a16="http://schemas.microsoft.com/office/drawing/2014/main" id="{9D46DD48-D05B-7644-A103-68D5B8B23B3F}"/>
              </a:ext>
            </a:extLst>
          </p:cNvPr>
          <p:cNvSpPr>
            <a:spLocks noChangeArrowheads="1"/>
          </p:cNvSpPr>
          <p:nvPr/>
        </p:nvSpPr>
        <p:spPr bwMode="auto">
          <a:xfrm rot="12642069">
            <a:off x="4040188" y="2157678"/>
            <a:ext cx="381000" cy="508000"/>
          </a:xfrm>
          <a:prstGeom prst="upArrow">
            <a:avLst>
              <a:gd name="adj1" fmla="val 50000"/>
              <a:gd name="adj2" fmla="val 50000"/>
            </a:avLst>
          </a:prstGeom>
          <a:solidFill>
            <a:srgbClr val="000090"/>
          </a:solid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en-US" sz="2000">
              <a:solidFill>
                <a:schemeClr val="lt1"/>
              </a:solidFill>
              <a:latin typeface="+mn-lt"/>
              <a:ea typeface="+mn-ea"/>
            </a:endParaRPr>
          </a:p>
        </p:txBody>
      </p:sp>
      <p:sp>
        <p:nvSpPr>
          <p:cNvPr id="9" name="Up Arrow 8">
            <a:extLst>
              <a:ext uri="{FF2B5EF4-FFF2-40B4-BE49-F238E27FC236}">
                <a16:creationId xmlns:a16="http://schemas.microsoft.com/office/drawing/2014/main" id="{435114F5-022E-4840-A0CB-23D19CF261A9}"/>
              </a:ext>
            </a:extLst>
          </p:cNvPr>
          <p:cNvSpPr>
            <a:spLocks noChangeArrowheads="1"/>
          </p:cNvSpPr>
          <p:nvPr/>
        </p:nvSpPr>
        <p:spPr bwMode="auto">
          <a:xfrm rot="409260">
            <a:off x="4294188" y="3554678"/>
            <a:ext cx="381000" cy="508000"/>
          </a:xfrm>
          <a:prstGeom prst="upArrow">
            <a:avLst>
              <a:gd name="adj1" fmla="val 50000"/>
              <a:gd name="adj2" fmla="val 50000"/>
            </a:avLst>
          </a:prstGeom>
          <a:solidFill>
            <a:srgbClr val="000090"/>
          </a:solid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en-US" sz="2000">
              <a:solidFill>
                <a:schemeClr val="lt1"/>
              </a:solidFill>
              <a:latin typeface="+mn-lt"/>
              <a:ea typeface="+mn-ea"/>
            </a:endParaRPr>
          </a:p>
        </p:txBody>
      </p:sp>
      <p:sp>
        <p:nvSpPr>
          <p:cNvPr id="11" name="Up Arrow 10">
            <a:extLst>
              <a:ext uri="{FF2B5EF4-FFF2-40B4-BE49-F238E27FC236}">
                <a16:creationId xmlns:a16="http://schemas.microsoft.com/office/drawing/2014/main" id="{21B724F6-E735-6B4C-922E-CDA8403E44EB}"/>
              </a:ext>
            </a:extLst>
          </p:cNvPr>
          <p:cNvSpPr>
            <a:spLocks noChangeArrowheads="1"/>
          </p:cNvSpPr>
          <p:nvPr/>
        </p:nvSpPr>
        <p:spPr bwMode="auto">
          <a:xfrm rot="409260">
            <a:off x="2759604" y="3640667"/>
            <a:ext cx="381000" cy="508000"/>
          </a:xfrm>
          <a:prstGeom prst="upArrow">
            <a:avLst>
              <a:gd name="adj1" fmla="val 50000"/>
              <a:gd name="adj2" fmla="val 50000"/>
            </a:avLst>
          </a:prstGeom>
          <a:solidFill>
            <a:srgbClr val="000090"/>
          </a:solid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en-US" sz="2000">
              <a:solidFill>
                <a:schemeClr val="lt1"/>
              </a:solidFill>
              <a:latin typeface="+mn-lt"/>
              <a:ea typeface="+mn-ea"/>
            </a:endParaRPr>
          </a:p>
        </p:txBody>
      </p:sp>
      <p:sp>
        <p:nvSpPr>
          <p:cNvPr id="12" name="Up Arrow 11">
            <a:extLst>
              <a:ext uri="{FF2B5EF4-FFF2-40B4-BE49-F238E27FC236}">
                <a16:creationId xmlns:a16="http://schemas.microsoft.com/office/drawing/2014/main" id="{C8B3933E-1119-B349-9A4B-B9C75E9E9B90}"/>
              </a:ext>
            </a:extLst>
          </p:cNvPr>
          <p:cNvSpPr>
            <a:spLocks noChangeArrowheads="1"/>
          </p:cNvSpPr>
          <p:nvPr/>
        </p:nvSpPr>
        <p:spPr bwMode="auto">
          <a:xfrm rot="12574855">
            <a:off x="3593042" y="3553354"/>
            <a:ext cx="381000" cy="508000"/>
          </a:xfrm>
          <a:prstGeom prst="upArrow">
            <a:avLst>
              <a:gd name="adj1" fmla="val 50000"/>
              <a:gd name="adj2" fmla="val 50000"/>
            </a:avLst>
          </a:prstGeom>
          <a:solidFill>
            <a:srgbClr val="FF0000"/>
          </a:solid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en-US" sz="2000">
              <a:solidFill>
                <a:schemeClr val="lt1"/>
              </a:solidFill>
              <a:latin typeface="+mn-lt"/>
              <a:ea typeface="+mn-ea"/>
            </a:endParaRPr>
          </a:p>
        </p:txBody>
      </p:sp>
    </p:spTree>
    <p:extLst>
      <p:ext uri="{BB962C8B-B14F-4D97-AF65-F5344CB8AC3E}">
        <p14:creationId xmlns:p14="http://schemas.microsoft.com/office/powerpoint/2010/main" val="37508468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Rectangle 3">
            <a:extLst>
              <a:ext uri="{FF2B5EF4-FFF2-40B4-BE49-F238E27FC236}">
                <a16:creationId xmlns:a16="http://schemas.microsoft.com/office/drawing/2014/main" id="{C7AFB91E-98BF-664A-B756-63C61105DEBF}"/>
              </a:ext>
            </a:extLst>
          </p:cNvPr>
          <p:cNvSpPr>
            <a:spLocks noGrp="1" noChangeArrowheads="1"/>
          </p:cNvSpPr>
          <p:nvPr>
            <p:ph type="body" idx="4294967295"/>
          </p:nvPr>
        </p:nvSpPr>
        <p:spPr>
          <a:xfrm>
            <a:off x="1143000" y="889000"/>
            <a:ext cx="6858000" cy="4216136"/>
          </a:xfrm>
        </p:spPr>
        <p:txBody>
          <a:bodyPr/>
          <a:lstStyle/>
          <a:p>
            <a:pPr eaLnBrk="1" hangingPunct="1">
              <a:buFontTx/>
              <a:buNone/>
            </a:pPr>
            <a:endParaRPr lang="en-GB" altLang="en-US" sz="1667">
              <a:ea typeface="ＭＳ Ｐゴシック" panose="020B0600070205080204" pitchFamily="34" charset="-128"/>
            </a:endParaRPr>
          </a:p>
          <a:p>
            <a:pPr eaLnBrk="1" hangingPunct="1">
              <a:buFontTx/>
              <a:buNone/>
            </a:pPr>
            <a:endParaRPr lang="en-GB" altLang="en-US" sz="1667">
              <a:ea typeface="ＭＳ Ｐゴシック" panose="020B0600070205080204" pitchFamily="34" charset="-128"/>
            </a:endParaRPr>
          </a:p>
          <a:p>
            <a:pPr eaLnBrk="1" hangingPunct="1">
              <a:buFontTx/>
              <a:buNone/>
            </a:pPr>
            <a:endParaRPr lang="en-GB" altLang="en-US" sz="1667">
              <a:ea typeface="ＭＳ Ｐゴシック" panose="020B0600070205080204" pitchFamily="34" charset="-128"/>
            </a:endParaRPr>
          </a:p>
          <a:p>
            <a:pPr eaLnBrk="1" hangingPunct="1">
              <a:buFontTx/>
              <a:buNone/>
            </a:pPr>
            <a:endParaRPr lang="en-GB" altLang="en-US" sz="1667">
              <a:ea typeface="ＭＳ Ｐゴシック" panose="020B0600070205080204" pitchFamily="34" charset="-128"/>
            </a:endParaRPr>
          </a:p>
          <a:p>
            <a:pPr eaLnBrk="1" hangingPunct="1">
              <a:buFontTx/>
              <a:buNone/>
            </a:pPr>
            <a:endParaRPr lang="en-GB" altLang="en-US" sz="1667">
              <a:ea typeface="ＭＳ Ｐゴシック" panose="020B0600070205080204" pitchFamily="34" charset="-128"/>
            </a:endParaRPr>
          </a:p>
          <a:p>
            <a:pPr eaLnBrk="1" hangingPunct="1">
              <a:buFontTx/>
              <a:buNone/>
            </a:pPr>
            <a:endParaRPr lang="en-GB" altLang="en-US" sz="1667">
              <a:ea typeface="ＭＳ Ｐゴシック" panose="020B0600070205080204" pitchFamily="34" charset="-128"/>
            </a:endParaRPr>
          </a:p>
          <a:p>
            <a:pPr eaLnBrk="1" hangingPunct="1">
              <a:buFontTx/>
              <a:buNone/>
            </a:pPr>
            <a:endParaRPr lang="en-GB" altLang="en-US" sz="1667">
              <a:ea typeface="ＭＳ Ｐゴシック" panose="020B0600070205080204" pitchFamily="34" charset="-128"/>
            </a:endParaRPr>
          </a:p>
          <a:p>
            <a:pPr eaLnBrk="1" hangingPunct="1">
              <a:buFontTx/>
              <a:buNone/>
            </a:pPr>
            <a:endParaRPr lang="en-GB" altLang="en-US" sz="1667">
              <a:ea typeface="ＭＳ Ｐゴシック" panose="020B0600070205080204" pitchFamily="34" charset="-128"/>
            </a:endParaRPr>
          </a:p>
        </p:txBody>
      </p:sp>
      <p:sp>
        <p:nvSpPr>
          <p:cNvPr id="171013" name="Rectangle 5">
            <a:extLst>
              <a:ext uri="{FF2B5EF4-FFF2-40B4-BE49-F238E27FC236}">
                <a16:creationId xmlns:a16="http://schemas.microsoft.com/office/drawing/2014/main" id="{C6163D81-63D8-954E-89C5-030C782E4A2A}"/>
              </a:ext>
            </a:extLst>
          </p:cNvPr>
          <p:cNvSpPr>
            <a:spLocks noChangeArrowheads="1"/>
          </p:cNvSpPr>
          <p:nvPr/>
        </p:nvSpPr>
        <p:spPr bwMode="auto">
          <a:xfrm>
            <a:off x="3770313" y="5461001"/>
            <a:ext cx="4674678" cy="20774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sz="750">
                <a:latin typeface="Helvetica" charset="0"/>
                <a:ea typeface="ＭＳ Ｐゴシック" charset="0"/>
                <a:cs typeface="ＭＳ Ｐゴシック" charset="0"/>
              </a:rPr>
              <a:t>Figure source: Skinner and Murck: </a:t>
            </a:r>
            <a:r>
              <a:rPr lang="en-US" sz="750" i="1">
                <a:latin typeface="Helvetica" charset="0"/>
                <a:ea typeface="ＭＳ Ｐゴシック" charset="0"/>
                <a:cs typeface="ＭＳ Ｐゴシック" charset="0"/>
              </a:rPr>
              <a:t>The Blue Planet: An Introduction to Earth System Science, 3rd Edition.</a:t>
            </a:r>
          </a:p>
        </p:txBody>
      </p:sp>
      <p:pic>
        <p:nvPicPr>
          <p:cNvPr id="145411" name="Picture 6" descr="Picture 1">
            <a:extLst>
              <a:ext uri="{FF2B5EF4-FFF2-40B4-BE49-F238E27FC236}">
                <a16:creationId xmlns:a16="http://schemas.microsoft.com/office/drawing/2014/main" id="{13B43CE3-97EC-B940-B2E5-25F559E622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500" y="444500"/>
            <a:ext cx="7302500" cy="4434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445232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Rectangle 3">
            <a:extLst>
              <a:ext uri="{FF2B5EF4-FFF2-40B4-BE49-F238E27FC236}">
                <a16:creationId xmlns:a16="http://schemas.microsoft.com/office/drawing/2014/main" id="{6CD66BDC-6D3E-2A40-8C0D-1811345B0294}"/>
              </a:ext>
            </a:extLst>
          </p:cNvPr>
          <p:cNvSpPr>
            <a:spLocks noGrp="1" noChangeArrowheads="1"/>
          </p:cNvSpPr>
          <p:nvPr>
            <p:ph type="body" idx="4294967295"/>
          </p:nvPr>
        </p:nvSpPr>
        <p:spPr>
          <a:xfrm>
            <a:off x="1143000" y="889000"/>
            <a:ext cx="6858000" cy="4216136"/>
          </a:xfrm>
        </p:spPr>
        <p:txBody>
          <a:bodyPr/>
          <a:lstStyle/>
          <a:p>
            <a:pPr eaLnBrk="1" hangingPunct="1">
              <a:buFontTx/>
              <a:buNone/>
            </a:pPr>
            <a:endParaRPr lang="en-GB" altLang="en-US" sz="1667">
              <a:ea typeface="ＭＳ Ｐゴシック" panose="020B0600070205080204" pitchFamily="34" charset="-128"/>
            </a:endParaRPr>
          </a:p>
          <a:p>
            <a:pPr eaLnBrk="1" hangingPunct="1">
              <a:buFontTx/>
              <a:buNone/>
            </a:pPr>
            <a:endParaRPr lang="en-GB" altLang="en-US" sz="1667">
              <a:ea typeface="ＭＳ Ｐゴシック" panose="020B0600070205080204" pitchFamily="34" charset="-128"/>
            </a:endParaRPr>
          </a:p>
          <a:p>
            <a:pPr eaLnBrk="1" hangingPunct="1">
              <a:buFontTx/>
              <a:buNone/>
            </a:pPr>
            <a:endParaRPr lang="en-GB" altLang="en-US" sz="1667">
              <a:ea typeface="ＭＳ Ｐゴシック" panose="020B0600070205080204" pitchFamily="34" charset="-128"/>
            </a:endParaRPr>
          </a:p>
          <a:p>
            <a:pPr eaLnBrk="1" hangingPunct="1">
              <a:buFontTx/>
              <a:buNone/>
            </a:pPr>
            <a:endParaRPr lang="en-GB" altLang="en-US" sz="1667">
              <a:ea typeface="ＭＳ Ｐゴシック" panose="020B0600070205080204" pitchFamily="34" charset="-128"/>
            </a:endParaRPr>
          </a:p>
          <a:p>
            <a:pPr eaLnBrk="1" hangingPunct="1">
              <a:buFontTx/>
              <a:buNone/>
            </a:pPr>
            <a:endParaRPr lang="en-GB" altLang="en-US" sz="1667">
              <a:ea typeface="ＭＳ Ｐゴシック" panose="020B0600070205080204" pitchFamily="34" charset="-128"/>
            </a:endParaRPr>
          </a:p>
          <a:p>
            <a:pPr eaLnBrk="1" hangingPunct="1">
              <a:buFontTx/>
              <a:buNone/>
            </a:pPr>
            <a:endParaRPr lang="en-GB" altLang="en-US" sz="1667">
              <a:ea typeface="ＭＳ Ｐゴシック" panose="020B0600070205080204" pitchFamily="34" charset="-128"/>
            </a:endParaRPr>
          </a:p>
          <a:p>
            <a:pPr eaLnBrk="1" hangingPunct="1">
              <a:buFontTx/>
              <a:buNone/>
            </a:pPr>
            <a:endParaRPr lang="en-GB" altLang="en-US" sz="1667">
              <a:ea typeface="ＭＳ Ｐゴシック" panose="020B0600070205080204" pitchFamily="34" charset="-128"/>
            </a:endParaRPr>
          </a:p>
          <a:p>
            <a:pPr eaLnBrk="1" hangingPunct="1">
              <a:buFontTx/>
              <a:buNone/>
            </a:pPr>
            <a:endParaRPr lang="en-GB" altLang="en-US" sz="1667">
              <a:ea typeface="ＭＳ Ｐゴシック" panose="020B0600070205080204" pitchFamily="34" charset="-128"/>
            </a:endParaRPr>
          </a:p>
        </p:txBody>
      </p:sp>
      <p:sp>
        <p:nvSpPr>
          <p:cNvPr id="171013" name="Rectangle 5">
            <a:extLst>
              <a:ext uri="{FF2B5EF4-FFF2-40B4-BE49-F238E27FC236}">
                <a16:creationId xmlns:a16="http://schemas.microsoft.com/office/drawing/2014/main" id="{3D2E67FA-7B8E-E849-A124-16A231C1551C}"/>
              </a:ext>
            </a:extLst>
          </p:cNvPr>
          <p:cNvSpPr>
            <a:spLocks noChangeArrowheads="1"/>
          </p:cNvSpPr>
          <p:nvPr/>
        </p:nvSpPr>
        <p:spPr bwMode="auto">
          <a:xfrm>
            <a:off x="3770313" y="5461001"/>
            <a:ext cx="4674678" cy="20774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sz="750">
                <a:latin typeface="Helvetica" charset="0"/>
                <a:ea typeface="ＭＳ Ｐゴシック" charset="0"/>
                <a:cs typeface="ＭＳ Ｐゴシック" charset="0"/>
              </a:rPr>
              <a:t>Figure source: Skinner and Murck: </a:t>
            </a:r>
            <a:r>
              <a:rPr lang="en-US" sz="750" i="1">
                <a:latin typeface="Helvetica" charset="0"/>
                <a:ea typeface="ＭＳ Ｐゴシック" charset="0"/>
                <a:cs typeface="ＭＳ Ｐゴシック" charset="0"/>
              </a:rPr>
              <a:t>The Blue Planet: An Introduction to Earth System Science, 3rd Edition.</a:t>
            </a:r>
          </a:p>
        </p:txBody>
      </p:sp>
      <p:pic>
        <p:nvPicPr>
          <p:cNvPr id="147459" name="Picture 6" descr="Picture 1">
            <a:extLst>
              <a:ext uri="{FF2B5EF4-FFF2-40B4-BE49-F238E27FC236}">
                <a16:creationId xmlns:a16="http://schemas.microsoft.com/office/drawing/2014/main" id="{4FA1C70A-A234-7142-A514-AAF8211C97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500" y="444500"/>
            <a:ext cx="7302500" cy="4434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7460" name="TextBox 3">
            <a:extLst>
              <a:ext uri="{FF2B5EF4-FFF2-40B4-BE49-F238E27FC236}">
                <a16:creationId xmlns:a16="http://schemas.microsoft.com/office/drawing/2014/main" id="{9AF5FB8F-DD6D-E94D-83F0-EF868F041886}"/>
              </a:ext>
            </a:extLst>
          </p:cNvPr>
          <p:cNvSpPr txBox="1">
            <a:spLocks noChangeArrowheads="1"/>
          </p:cNvSpPr>
          <p:nvPr/>
        </p:nvSpPr>
        <p:spPr bwMode="auto">
          <a:xfrm>
            <a:off x="3238500" y="2295261"/>
            <a:ext cx="553357" cy="323165"/>
          </a:xfrm>
          <a:prstGeom prst="rect">
            <a:avLst/>
          </a:prstGeom>
          <a:solidFill>
            <a:srgbClr val="FFFF00"/>
          </a:solidFill>
          <a:ln w="9525">
            <a:solidFill>
              <a:schemeClr val="tx1"/>
            </a:solidFill>
            <a:miter lim="800000"/>
            <a:headEnd/>
            <a:tailEnd/>
          </a:ln>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500">
                <a:solidFill>
                  <a:srgbClr val="FF0000"/>
                </a:solidFill>
              </a:rPr>
              <a:t>E&gt;P</a:t>
            </a:r>
          </a:p>
        </p:txBody>
      </p:sp>
      <p:sp>
        <p:nvSpPr>
          <p:cNvPr id="147461" name="TextBox 3">
            <a:extLst>
              <a:ext uri="{FF2B5EF4-FFF2-40B4-BE49-F238E27FC236}">
                <a16:creationId xmlns:a16="http://schemas.microsoft.com/office/drawing/2014/main" id="{24E930E4-CBE7-D74C-BFF0-21D92E15376B}"/>
              </a:ext>
            </a:extLst>
          </p:cNvPr>
          <p:cNvSpPr txBox="1">
            <a:spLocks noChangeArrowheads="1"/>
          </p:cNvSpPr>
          <p:nvPr/>
        </p:nvSpPr>
        <p:spPr bwMode="auto">
          <a:xfrm>
            <a:off x="2603500" y="63501"/>
            <a:ext cx="4180440" cy="323165"/>
          </a:xfrm>
          <a:prstGeom prst="rect">
            <a:avLst/>
          </a:prstGeom>
          <a:solidFill>
            <a:srgbClr val="FFFF00"/>
          </a:solidFill>
          <a:ln w="9525">
            <a:solidFill>
              <a:schemeClr val="tx1"/>
            </a:solidFill>
            <a:miter lim="800000"/>
            <a:headEnd/>
            <a:tailEnd/>
          </a:ln>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500">
                <a:solidFill>
                  <a:srgbClr val="FF0000"/>
                </a:solidFill>
              </a:rPr>
              <a:t>E is evaporation;  P is precipitation (and runoff)</a:t>
            </a:r>
          </a:p>
        </p:txBody>
      </p:sp>
      <p:sp>
        <p:nvSpPr>
          <p:cNvPr id="147462" name="TextBox 3">
            <a:extLst>
              <a:ext uri="{FF2B5EF4-FFF2-40B4-BE49-F238E27FC236}">
                <a16:creationId xmlns:a16="http://schemas.microsoft.com/office/drawing/2014/main" id="{0B55CAA1-6FB1-604C-9E70-1CE6C0859C3C}"/>
              </a:ext>
            </a:extLst>
          </p:cNvPr>
          <p:cNvSpPr txBox="1">
            <a:spLocks noChangeArrowheads="1"/>
          </p:cNvSpPr>
          <p:nvPr/>
        </p:nvSpPr>
        <p:spPr bwMode="auto">
          <a:xfrm>
            <a:off x="3746500" y="2667001"/>
            <a:ext cx="553357" cy="323165"/>
          </a:xfrm>
          <a:prstGeom prst="rect">
            <a:avLst/>
          </a:prstGeom>
          <a:solidFill>
            <a:srgbClr val="FFFF00"/>
          </a:solidFill>
          <a:ln w="9525">
            <a:solidFill>
              <a:schemeClr val="tx1"/>
            </a:solidFill>
            <a:miter lim="800000"/>
            <a:headEnd/>
            <a:tailEnd/>
          </a:ln>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500">
                <a:solidFill>
                  <a:srgbClr val="FF0000"/>
                </a:solidFill>
              </a:rPr>
              <a:t>P&gt;E</a:t>
            </a:r>
          </a:p>
        </p:txBody>
      </p:sp>
      <p:sp>
        <p:nvSpPr>
          <p:cNvPr id="147463" name="TextBox 3">
            <a:extLst>
              <a:ext uri="{FF2B5EF4-FFF2-40B4-BE49-F238E27FC236}">
                <a16:creationId xmlns:a16="http://schemas.microsoft.com/office/drawing/2014/main" id="{A70AD891-B1C0-B548-ACA6-580C600F82DC}"/>
              </a:ext>
            </a:extLst>
          </p:cNvPr>
          <p:cNvSpPr txBox="1">
            <a:spLocks noChangeArrowheads="1"/>
          </p:cNvSpPr>
          <p:nvPr/>
        </p:nvSpPr>
        <p:spPr bwMode="auto">
          <a:xfrm>
            <a:off x="1651000" y="1905001"/>
            <a:ext cx="553357" cy="323165"/>
          </a:xfrm>
          <a:prstGeom prst="rect">
            <a:avLst/>
          </a:prstGeom>
          <a:solidFill>
            <a:srgbClr val="FFFF00"/>
          </a:solidFill>
          <a:ln w="9525">
            <a:solidFill>
              <a:schemeClr val="tx1"/>
            </a:solidFill>
            <a:miter lim="800000"/>
            <a:headEnd/>
            <a:tailEnd/>
          </a:ln>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500">
                <a:solidFill>
                  <a:srgbClr val="FF0000"/>
                </a:solidFill>
              </a:rPr>
              <a:t>P&gt;E</a:t>
            </a:r>
          </a:p>
        </p:txBody>
      </p:sp>
      <p:sp>
        <p:nvSpPr>
          <p:cNvPr id="147464" name="TextBox 3">
            <a:extLst>
              <a:ext uri="{FF2B5EF4-FFF2-40B4-BE49-F238E27FC236}">
                <a16:creationId xmlns:a16="http://schemas.microsoft.com/office/drawing/2014/main" id="{21CE6A48-354F-784D-8A36-2FC8ADDE4628}"/>
              </a:ext>
            </a:extLst>
          </p:cNvPr>
          <p:cNvSpPr txBox="1">
            <a:spLocks noChangeArrowheads="1"/>
          </p:cNvSpPr>
          <p:nvPr/>
        </p:nvSpPr>
        <p:spPr bwMode="auto">
          <a:xfrm>
            <a:off x="2413000" y="4254501"/>
            <a:ext cx="553357" cy="323165"/>
          </a:xfrm>
          <a:prstGeom prst="rect">
            <a:avLst/>
          </a:prstGeom>
          <a:solidFill>
            <a:srgbClr val="FFFF00"/>
          </a:solidFill>
          <a:ln w="9525">
            <a:solidFill>
              <a:schemeClr val="tx1"/>
            </a:solidFill>
            <a:miter lim="800000"/>
            <a:headEnd/>
            <a:tailEnd/>
          </a:ln>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500">
                <a:solidFill>
                  <a:srgbClr val="FF0000"/>
                </a:solidFill>
              </a:rPr>
              <a:t>P&gt;E</a:t>
            </a:r>
          </a:p>
        </p:txBody>
      </p:sp>
      <p:sp>
        <p:nvSpPr>
          <p:cNvPr id="147465" name="TextBox 3">
            <a:extLst>
              <a:ext uri="{FF2B5EF4-FFF2-40B4-BE49-F238E27FC236}">
                <a16:creationId xmlns:a16="http://schemas.microsoft.com/office/drawing/2014/main" id="{45BD7C13-C4C7-7744-9461-68BBC5D39801}"/>
              </a:ext>
            </a:extLst>
          </p:cNvPr>
          <p:cNvSpPr txBox="1">
            <a:spLocks noChangeArrowheads="1"/>
          </p:cNvSpPr>
          <p:nvPr/>
        </p:nvSpPr>
        <p:spPr bwMode="auto">
          <a:xfrm>
            <a:off x="6985000" y="1905001"/>
            <a:ext cx="553357" cy="323165"/>
          </a:xfrm>
          <a:prstGeom prst="rect">
            <a:avLst/>
          </a:prstGeom>
          <a:solidFill>
            <a:srgbClr val="FFFF00"/>
          </a:solidFill>
          <a:ln w="9525">
            <a:solidFill>
              <a:schemeClr val="tx1"/>
            </a:solidFill>
            <a:miter lim="800000"/>
            <a:headEnd/>
            <a:tailEnd/>
          </a:ln>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500">
                <a:solidFill>
                  <a:srgbClr val="FF0000"/>
                </a:solidFill>
              </a:rPr>
              <a:t>P&gt;E</a:t>
            </a:r>
          </a:p>
        </p:txBody>
      </p:sp>
      <p:sp>
        <p:nvSpPr>
          <p:cNvPr id="147466" name="TextBox 3">
            <a:extLst>
              <a:ext uri="{FF2B5EF4-FFF2-40B4-BE49-F238E27FC236}">
                <a16:creationId xmlns:a16="http://schemas.microsoft.com/office/drawing/2014/main" id="{783EFE10-1F65-B948-A3BC-C6B92457182C}"/>
              </a:ext>
            </a:extLst>
          </p:cNvPr>
          <p:cNvSpPr txBox="1">
            <a:spLocks noChangeArrowheads="1"/>
          </p:cNvSpPr>
          <p:nvPr/>
        </p:nvSpPr>
        <p:spPr bwMode="auto">
          <a:xfrm>
            <a:off x="3937000" y="3238501"/>
            <a:ext cx="553357" cy="323165"/>
          </a:xfrm>
          <a:prstGeom prst="rect">
            <a:avLst/>
          </a:prstGeom>
          <a:solidFill>
            <a:srgbClr val="FFFF00"/>
          </a:solidFill>
          <a:ln w="9525">
            <a:solidFill>
              <a:schemeClr val="tx1"/>
            </a:solidFill>
            <a:miter lim="800000"/>
            <a:headEnd/>
            <a:tailEnd/>
          </a:ln>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500">
                <a:solidFill>
                  <a:srgbClr val="FF0000"/>
                </a:solidFill>
              </a:rPr>
              <a:t>E&gt;P</a:t>
            </a:r>
          </a:p>
        </p:txBody>
      </p:sp>
    </p:spTree>
    <p:extLst>
      <p:ext uri="{BB962C8B-B14F-4D97-AF65-F5344CB8AC3E}">
        <p14:creationId xmlns:p14="http://schemas.microsoft.com/office/powerpoint/2010/main" val="10782005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Rectangle 3">
            <a:extLst>
              <a:ext uri="{FF2B5EF4-FFF2-40B4-BE49-F238E27FC236}">
                <a16:creationId xmlns:a16="http://schemas.microsoft.com/office/drawing/2014/main" id="{6CD66BDC-6D3E-2A40-8C0D-1811345B0294}"/>
              </a:ext>
            </a:extLst>
          </p:cNvPr>
          <p:cNvSpPr>
            <a:spLocks noGrp="1" noChangeArrowheads="1"/>
          </p:cNvSpPr>
          <p:nvPr>
            <p:ph type="body" idx="4294967295"/>
          </p:nvPr>
        </p:nvSpPr>
        <p:spPr>
          <a:xfrm>
            <a:off x="1143000" y="889000"/>
            <a:ext cx="6858000" cy="4216136"/>
          </a:xfrm>
        </p:spPr>
        <p:txBody>
          <a:bodyPr/>
          <a:lstStyle/>
          <a:p>
            <a:pPr eaLnBrk="1" hangingPunct="1">
              <a:buFontTx/>
              <a:buNone/>
            </a:pPr>
            <a:endParaRPr lang="en-GB" altLang="en-US" sz="1667">
              <a:ea typeface="ＭＳ Ｐゴシック" panose="020B0600070205080204" pitchFamily="34" charset="-128"/>
            </a:endParaRPr>
          </a:p>
          <a:p>
            <a:pPr eaLnBrk="1" hangingPunct="1">
              <a:buFontTx/>
              <a:buNone/>
            </a:pPr>
            <a:endParaRPr lang="en-GB" altLang="en-US" sz="1667">
              <a:ea typeface="ＭＳ Ｐゴシック" panose="020B0600070205080204" pitchFamily="34" charset="-128"/>
            </a:endParaRPr>
          </a:p>
          <a:p>
            <a:pPr eaLnBrk="1" hangingPunct="1">
              <a:buFontTx/>
              <a:buNone/>
            </a:pPr>
            <a:endParaRPr lang="en-GB" altLang="en-US" sz="1667">
              <a:ea typeface="ＭＳ Ｐゴシック" panose="020B0600070205080204" pitchFamily="34" charset="-128"/>
            </a:endParaRPr>
          </a:p>
          <a:p>
            <a:pPr eaLnBrk="1" hangingPunct="1">
              <a:buFontTx/>
              <a:buNone/>
            </a:pPr>
            <a:endParaRPr lang="en-GB" altLang="en-US" sz="1667">
              <a:ea typeface="ＭＳ Ｐゴシック" panose="020B0600070205080204" pitchFamily="34" charset="-128"/>
            </a:endParaRPr>
          </a:p>
          <a:p>
            <a:pPr eaLnBrk="1" hangingPunct="1">
              <a:buFontTx/>
              <a:buNone/>
            </a:pPr>
            <a:endParaRPr lang="en-GB" altLang="en-US" sz="1667">
              <a:ea typeface="ＭＳ Ｐゴシック" panose="020B0600070205080204" pitchFamily="34" charset="-128"/>
            </a:endParaRPr>
          </a:p>
          <a:p>
            <a:pPr eaLnBrk="1" hangingPunct="1">
              <a:buFontTx/>
              <a:buNone/>
            </a:pPr>
            <a:endParaRPr lang="en-GB" altLang="en-US" sz="1667">
              <a:ea typeface="ＭＳ Ｐゴシック" panose="020B0600070205080204" pitchFamily="34" charset="-128"/>
            </a:endParaRPr>
          </a:p>
          <a:p>
            <a:pPr eaLnBrk="1" hangingPunct="1">
              <a:buFontTx/>
              <a:buNone/>
            </a:pPr>
            <a:endParaRPr lang="en-GB" altLang="en-US" sz="1667">
              <a:ea typeface="ＭＳ Ｐゴシック" panose="020B0600070205080204" pitchFamily="34" charset="-128"/>
            </a:endParaRPr>
          </a:p>
          <a:p>
            <a:pPr eaLnBrk="1" hangingPunct="1">
              <a:buFontTx/>
              <a:buNone/>
            </a:pPr>
            <a:endParaRPr lang="en-GB" altLang="en-US" sz="1667">
              <a:ea typeface="ＭＳ Ｐゴシック" panose="020B0600070205080204" pitchFamily="34" charset="-128"/>
            </a:endParaRPr>
          </a:p>
        </p:txBody>
      </p:sp>
      <p:sp>
        <p:nvSpPr>
          <p:cNvPr id="171013" name="Rectangle 5">
            <a:extLst>
              <a:ext uri="{FF2B5EF4-FFF2-40B4-BE49-F238E27FC236}">
                <a16:creationId xmlns:a16="http://schemas.microsoft.com/office/drawing/2014/main" id="{3D2E67FA-7B8E-E849-A124-16A231C1551C}"/>
              </a:ext>
            </a:extLst>
          </p:cNvPr>
          <p:cNvSpPr>
            <a:spLocks noChangeArrowheads="1"/>
          </p:cNvSpPr>
          <p:nvPr/>
        </p:nvSpPr>
        <p:spPr bwMode="auto">
          <a:xfrm>
            <a:off x="3770313" y="5461001"/>
            <a:ext cx="4674678" cy="20774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sz="750">
                <a:latin typeface="Helvetica" charset="0"/>
                <a:ea typeface="ＭＳ Ｐゴシック" charset="0"/>
                <a:cs typeface="ＭＳ Ｐゴシック" charset="0"/>
              </a:rPr>
              <a:t>Figure source: Skinner and Murck: </a:t>
            </a:r>
            <a:r>
              <a:rPr lang="en-US" sz="750" i="1">
                <a:latin typeface="Helvetica" charset="0"/>
                <a:ea typeface="ＭＳ Ｐゴシック" charset="0"/>
                <a:cs typeface="ＭＳ Ｐゴシック" charset="0"/>
              </a:rPr>
              <a:t>The Blue Planet: An Introduction to Earth System Science, 3rd Edition.</a:t>
            </a:r>
          </a:p>
        </p:txBody>
      </p:sp>
      <p:pic>
        <p:nvPicPr>
          <p:cNvPr id="147459" name="Picture 6" descr="Picture 1">
            <a:extLst>
              <a:ext uri="{FF2B5EF4-FFF2-40B4-BE49-F238E27FC236}">
                <a16:creationId xmlns:a16="http://schemas.microsoft.com/office/drawing/2014/main" id="{4FA1C70A-A234-7142-A514-AAF8211C97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500" y="444500"/>
            <a:ext cx="7302500" cy="4434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7460" name="TextBox 3">
            <a:extLst>
              <a:ext uri="{FF2B5EF4-FFF2-40B4-BE49-F238E27FC236}">
                <a16:creationId xmlns:a16="http://schemas.microsoft.com/office/drawing/2014/main" id="{9AF5FB8F-DD6D-E94D-83F0-EF868F041886}"/>
              </a:ext>
            </a:extLst>
          </p:cNvPr>
          <p:cNvSpPr txBox="1">
            <a:spLocks noChangeArrowheads="1"/>
          </p:cNvSpPr>
          <p:nvPr/>
        </p:nvSpPr>
        <p:spPr bwMode="auto">
          <a:xfrm>
            <a:off x="3238500" y="2295261"/>
            <a:ext cx="553357" cy="323165"/>
          </a:xfrm>
          <a:prstGeom prst="rect">
            <a:avLst/>
          </a:prstGeom>
          <a:solidFill>
            <a:srgbClr val="FFFF00"/>
          </a:solidFill>
          <a:ln w="9525">
            <a:solidFill>
              <a:schemeClr val="tx1"/>
            </a:solidFill>
            <a:miter lim="800000"/>
            <a:headEnd/>
            <a:tailEnd/>
          </a:ln>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500">
                <a:solidFill>
                  <a:srgbClr val="FF0000"/>
                </a:solidFill>
              </a:rPr>
              <a:t>E&gt;P</a:t>
            </a:r>
          </a:p>
        </p:txBody>
      </p:sp>
      <p:sp>
        <p:nvSpPr>
          <p:cNvPr id="147461" name="TextBox 3">
            <a:extLst>
              <a:ext uri="{FF2B5EF4-FFF2-40B4-BE49-F238E27FC236}">
                <a16:creationId xmlns:a16="http://schemas.microsoft.com/office/drawing/2014/main" id="{24E930E4-CBE7-D74C-BFF0-21D92E15376B}"/>
              </a:ext>
            </a:extLst>
          </p:cNvPr>
          <p:cNvSpPr txBox="1">
            <a:spLocks noChangeArrowheads="1"/>
          </p:cNvSpPr>
          <p:nvPr/>
        </p:nvSpPr>
        <p:spPr bwMode="auto">
          <a:xfrm>
            <a:off x="2603500" y="63501"/>
            <a:ext cx="4180440" cy="323165"/>
          </a:xfrm>
          <a:prstGeom prst="rect">
            <a:avLst/>
          </a:prstGeom>
          <a:solidFill>
            <a:srgbClr val="FFFF00"/>
          </a:solidFill>
          <a:ln w="9525">
            <a:solidFill>
              <a:schemeClr val="tx1"/>
            </a:solidFill>
            <a:miter lim="800000"/>
            <a:headEnd/>
            <a:tailEnd/>
          </a:ln>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500">
                <a:solidFill>
                  <a:srgbClr val="FF0000"/>
                </a:solidFill>
              </a:rPr>
              <a:t>E is evaporation;  P is precipitation (and runoff)</a:t>
            </a:r>
          </a:p>
        </p:txBody>
      </p:sp>
      <p:sp>
        <p:nvSpPr>
          <p:cNvPr id="147462" name="TextBox 3">
            <a:extLst>
              <a:ext uri="{FF2B5EF4-FFF2-40B4-BE49-F238E27FC236}">
                <a16:creationId xmlns:a16="http://schemas.microsoft.com/office/drawing/2014/main" id="{0B55CAA1-6FB1-604C-9E70-1CE6C0859C3C}"/>
              </a:ext>
            </a:extLst>
          </p:cNvPr>
          <p:cNvSpPr txBox="1">
            <a:spLocks noChangeArrowheads="1"/>
          </p:cNvSpPr>
          <p:nvPr/>
        </p:nvSpPr>
        <p:spPr bwMode="auto">
          <a:xfrm>
            <a:off x="3746500" y="2667001"/>
            <a:ext cx="553357" cy="323165"/>
          </a:xfrm>
          <a:prstGeom prst="rect">
            <a:avLst/>
          </a:prstGeom>
          <a:solidFill>
            <a:srgbClr val="FFFF00"/>
          </a:solidFill>
          <a:ln w="9525">
            <a:solidFill>
              <a:schemeClr val="tx1"/>
            </a:solidFill>
            <a:miter lim="800000"/>
            <a:headEnd/>
            <a:tailEnd/>
          </a:ln>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500">
                <a:solidFill>
                  <a:srgbClr val="FF0000"/>
                </a:solidFill>
              </a:rPr>
              <a:t>P&gt;E</a:t>
            </a:r>
          </a:p>
        </p:txBody>
      </p:sp>
      <p:sp>
        <p:nvSpPr>
          <p:cNvPr id="147463" name="TextBox 3">
            <a:extLst>
              <a:ext uri="{FF2B5EF4-FFF2-40B4-BE49-F238E27FC236}">
                <a16:creationId xmlns:a16="http://schemas.microsoft.com/office/drawing/2014/main" id="{A70AD891-B1C0-B548-ACA6-580C600F82DC}"/>
              </a:ext>
            </a:extLst>
          </p:cNvPr>
          <p:cNvSpPr txBox="1">
            <a:spLocks noChangeArrowheads="1"/>
          </p:cNvSpPr>
          <p:nvPr/>
        </p:nvSpPr>
        <p:spPr bwMode="auto">
          <a:xfrm>
            <a:off x="1651000" y="1905001"/>
            <a:ext cx="553357" cy="323165"/>
          </a:xfrm>
          <a:prstGeom prst="rect">
            <a:avLst/>
          </a:prstGeom>
          <a:solidFill>
            <a:srgbClr val="FFFF00"/>
          </a:solidFill>
          <a:ln w="9525">
            <a:solidFill>
              <a:schemeClr val="tx1"/>
            </a:solidFill>
            <a:miter lim="800000"/>
            <a:headEnd/>
            <a:tailEnd/>
          </a:ln>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500">
                <a:solidFill>
                  <a:srgbClr val="FF0000"/>
                </a:solidFill>
              </a:rPr>
              <a:t>P&gt;E</a:t>
            </a:r>
          </a:p>
        </p:txBody>
      </p:sp>
      <p:sp>
        <p:nvSpPr>
          <p:cNvPr id="147464" name="TextBox 3">
            <a:extLst>
              <a:ext uri="{FF2B5EF4-FFF2-40B4-BE49-F238E27FC236}">
                <a16:creationId xmlns:a16="http://schemas.microsoft.com/office/drawing/2014/main" id="{21CE6A48-354F-784D-8A36-2FC8ADDE4628}"/>
              </a:ext>
            </a:extLst>
          </p:cNvPr>
          <p:cNvSpPr txBox="1">
            <a:spLocks noChangeArrowheads="1"/>
          </p:cNvSpPr>
          <p:nvPr/>
        </p:nvSpPr>
        <p:spPr bwMode="auto">
          <a:xfrm>
            <a:off x="2413000" y="4254501"/>
            <a:ext cx="553357" cy="323165"/>
          </a:xfrm>
          <a:prstGeom prst="rect">
            <a:avLst/>
          </a:prstGeom>
          <a:solidFill>
            <a:srgbClr val="FFFF00"/>
          </a:solidFill>
          <a:ln w="9525">
            <a:solidFill>
              <a:schemeClr val="tx1"/>
            </a:solidFill>
            <a:miter lim="800000"/>
            <a:headEnd/>
            <a:tailEnd/>
          </a:ln>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500">
                <a:solidFill>
                  <a:srgbClr val="FF0000"/>
                </a:solidFill>
              </a:rPr>
              <a:t>P&gt;E</a:t>
            </a:r>
          </a:p>
        </p:txBody>
      </p:sp>
      <p:sp>
        <p:nvSpPr>
          <p:cNvPr id="147465" name="TextBox 3">
            <a:extLst>
              <a:ext uri="{FF2B5EF4-FFF2-40B4-BE49-F238E27FC236}">
                <a16:creationId xmlns:a16="http://schemas.microsoft.com/office/drawing/2014/main" id="{45BD7C13-C4C7-7744-9461-68BBC5D39801}"/>
              </a:ext>
            </a:extLst>
          </p:cNvPr>
          <p:cNvSpPr txBox="1">
            <a:spLocks noChangeArrowheads="1"/>
          </p:cNvSpPr>
          <p:nvPr/>
        </p:nvSpPr>
        <p:spPr bwMode="auto">
          <a:xfrm>
            <a:off x="6985000" y="1905001"/>
            <a:ext cx="553357" cy="323165"/>
          </a:xfrm>
          <a:prstGeom prst="rect">
            <a:avLst/>
          </a:prstGeom>
          <a:solidFill>
            <a:srgbClr val="FFFF00"/>
          </a:solidFill>
          <a:ln w="9525">
            <a:solidFill>
              <a:schemeClr val="tx1"/>
            </a:solidFill>
            <a:miter lim="800000"/>
            <a:headEnd/>
            <a:tailEnd/>
          </a:ln>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500">
                <a:solidFill>
                  <a:srgbClr val="FF0000"/>
                </a:solidFill>
              </a:rPr>
              <a:t>P&gt;E</a:t>
            </a:r>
          </a:p>
        </p:txBody>
      </p:sp>
      <p:sp>
        <p:nvSpPr>
          <p:cNvPr id="147466" name="TextBox 3">
            <a:extLst>
              <a:ext uri="{FF2B5EF4-FFF2-40B4-BE49-F238E27FC236}">
                <a16:creationId xmlns:a16="http://schemas.microsoft.com/office/drawing/2014/main" id="{783EFE10-1F65-B948-A3BC-C6B92457182C}"/>
              </a:ext>
            </a:extLst>
          </p:cNvPr>
          <p:cNvSpPr txBox="1">
            <a:spLocks noChangeArrowheads="1"/>
          </p:cNvSpPr>
          <p:nvPr/>
        </p:nvSpPr>
        <p:spPr bwMode="auto">
          <a:xfrm>
            <a:off x="3937000" y="3238501"/>
            <a:ext cx="553357" cy="323165"/>
          </a:xfrm>
          <a:prstGeom prst="rect">
            <a:avLst/>
          </a:prstGeom>
          <a:solidFill>
            <a:srgbClr val="FFFF00"/>
          </a:solidFill>
          <a:ln w="9525">
            <a:solidFill>
              <a:schemeClr val="tx1"/>
            </a:solidFill>
            <a:miter lim="800000"/>
            <a:headEnd/>
            <a:tailEnd/>
          </a:ln>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500">
                <a:solidFill>
                  <a:srgbClr val="FF0000"/>
                </a:solidFill>
              </a:rPr>
              <a:t>E&gt;P</a:t>
            </a:r>
          </a:p>
        </p:txBody>
      </p:sp>
      <p:pic>
        <p:nvPicPr>
          <p:cNvPr id="12" name="Picture 3">
            <a:extLst>
              <a:ext uri="{FF2B5EF4-FFF2-40B4-BE49-F238E27FC236}">
                <a16:creationId xmlns:a16="http://schemas.microsoft.com/office/drawing/2014/main" id="{E4B339A1-4701-F24A-9027-B528E9258BB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693408" y="1001258"/>
            <a:ext cx="4495800" cy="3957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ight Arrow 12">
            <a:extLst>
              <a:ext uri="{FF2B5EF4-FFF2-40B4-BE49-F238E27FC236}">
                <a16:creationId xmlns:a16="http://schemas.microsoft.com/office/drawing/2014/main" id="{0E29A186-C16D-2A46-8845-2AE1652058EC}"/>
              </a:ext>
            </a:extLst>
          </p:cNvPr>
          <p:cNvSpPr/>
          <p:nvPr/>
        </p:nvSpPr>
        <p:spPr>
          <a:xfrm>
            <a:off x="5515858" y="1628644"/>
            <a:ext cx="1285462" cy="437939"/>
          </a:xfrm>
          <a:prstGeom prst="rightArrow">
            <a:avLst/>
          </a:prstGeom>
          <a:solidFill>
            <a:srgbClr val="FFFF00"/>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r>
              <a:rPr lang="en-US" sz="1000" dirty="0">
                <a:solidFill>
                  <a:schemeClr val="tx1"/>
                </a:solidFill>
              </a:rPr>
              <a:t>Polar Jet Stream</a:t>
            </a:r>
          </a:p>
        </p:txBody>
      </p:sp>
      <p:sp>
        <p:nvSpPr>
          <p:cNvPr id="14" name="Right Arrow 13">
            <a:extLst>
              <a:ext uri="{FF2B5EF4-FFF2-40B4-BE49-F238E27FC236}">
                <a16:creationId xmlns:a16="http://schemas.microsoft.com/office/drawing/2014/main" id="{C9AEBBCB-1700-2646-A8E4-F6893336A392}"/>
              </a:ext>
            </a:extLst>
          </p:cNvPr>
          <p:cNvSpPr/>
          <p:nvPr/>
        </p:nvSpPr>
        <p:spPr>
          <a:xfrm>
            <a:off x="5266265" y="4035531"/>
            <a:ext cx="1285462" cy="437939"/>
          </a:xfrm>
          <a:prstGeom prst="rightArrow">
            <a:avLst/>
          </a:prstGeom>
          <a:solidFill>
            <a:srgbClr val="FFFF00"/>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r>
              <a:rPr lang="en-US" sz="1000" dirty="0">
                <a:solidFill>
                  <a:schemeClr val="tx1"/>
                </a:solidFill>
              </a:rPr>
              <a:t>Polar Jet Stream</a:t>
            </a:r>
          </a:p>
        </p:txBody>
      </p:sp>
    </p:spTree>
    <p:extLst>
      <p:ext uri="{BB962C8B-B14F-4D97-AF65-F5344CB8AC3E}">
        <p14:creationId xmlns:p14="http://schemas.microsoft.com/office/powerpoint/2010/main" val="6772298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5" name="Rectangle 3">
            <a:extLst>
              <a:ext uri="{FF2B5EF4-FFF2-40B4-BE49-F238E27FC236}">
                <a16:creationId xmlns:a16="http://schemas.microsoft.com/office/drawing/2014/main" id="{AF934991-FFFD-9C4A-9C68-0D9527AD2C94}"/>
              </a:ext>
            </a:extLst>
          </p:cNvPr>
          <p:cNvSpPr>
            <a:spLocks noGrp="1" noChangeArrowheads="1"/>
          </p:cNvSpPr>
          <p:nvPr>
            <p:ph type="body" idx="4294967295"/>
          </p:nvPr>
        </p:nvSpPr>
        <p:spPr>
          <a:xfrm>
            <a:off x="1143000" y="889000"/>
            <a:ext cx="6858000" cy="4216136"/>
          </a:xfrm>
        </p:spPr>
        <p:txBody>
          <a:bodyPr/>
          <a:lstStyle/>
          <a:p>
            <a:pPr eaLnBrk="1" hangingPunct="1">
              <a:buFontTx/>
              <a:buNone/>
            </a:pPr>
            <a:endParaRPr lang="en-GB" altLang="en-US" sz="1667">
              <a:ea typeface="ＭＳ Ｐゴシック" panose="020B0600070205080204" pitchFamily="34" charset="-128"/>
            </a:endParaRPr>
          </a:p>
          <a:p>
            <a:pPr eaLnBrk="1" hangingPunct="1">
              <a:buFontTx/>
              <a:buNone/>
            </a:pPr>
            <a:endParaRPr lang="en-GB" altLang="en-US" sz="1667">
              <a:ea typeface="ＭＳ Ｐゴシック" panose="020B0600070205080204" pitchFamily="34" charset="-128"/>
            </a:endParaRPr>
          </a:p>
          <a:p>
            <a:pPr eaLnBrk="1" hangingPunct="1">
              <a:buFontTx/>
              <a:buNone/>
            </a:pPr>
            <a:endParaRPr lang="en-GB" altLang="en-US" sz="1667">
              <a:ea typeface="ＭＳ Ｐゴシック" panose="020B0600070205080204" pitchFamily="34" charset="-128"/>
            </a:endParaRPr>
          </a:p>
          <a:p>
            <a:pPr eaLnBrk="1" hangingPunct="1">
              <a:buFontTx/>
              <a:buNone/>
            </a:pPr>
            <a:endParaRPr lang="en-GB" altLang="en-US" sz="1667">
              <a:ea typeface="ＭＳ Ｐゴシック" panose="020B0600070205080204" pitchFamily="34" charset="-128"/>
            </a:endParaRPr>
          </a:p>
          <a:p>
            <a:pPr eaLnBrk="1" hangingPunct="1">
              <a:buFontTx/>
              <a:buNone/>
            </a:pPr>
            <a:endParaRPr lang="en-GB" altLang="en-US" sz="1667">
              <a:ea typeface="ＭＳ Ｐゴシック" panose="020B0600070205080204" pitchFamily="34" charset="-128"/>
            </a:endParaRPr>
          </a:p>
          <a:p>
            <a:pPr eaLnBrk="1" hangingPunct="1">
              <a:buFontTx/>
              <a:buNone/>
            </a:pPr>
            <a:endParaRPr lang="en-GB" altLang="en-US" sz="1667">
              <a:ea typeface="ＭＳ Ｐゴシック" panose="020B0600070205080204" pitchFamily="34" charset="-128"/>
            </a:endParaRPr>
          </a:p>
          <a:p>
            <a:pPr eaLnBrk="1" hangingPunct="1">
              <a:buFontTx/>
              <a:buNone/>
            </a:pPr>
            <a:endParaRPr lang="en-GB" altLang="en-US" sz="1667">
              <a:ea typeface="ＭＳ Ｐゴシック" panose="020B0600070205080204" pitchFamily="34" charset="-128"/>
            </a:endParaRPr>
          </a:p>
          <a:p>
            <a:pPr eaLnBrk="1" hangingPunct="1">
              <a:buFontTx/>
              <a:buNone/>
            </a:pPr>
            <a:endParaRPr lang="en-GB" altLang="en-US" sz="1667">
              <a:ea typeface="ＭＳ Ｐゴシック" panose="020B0600070205080204" pitchFamily="34" charset="-128"/>
            </a:endParaRPr>
          </a:p>
        </p:txBody>
      </p:sp>
      <p:sp>
        <p:nvSpPr>
          <p:cNvPr id="171013" name="Rectangle 5">
            <a:extLst>
              <a:ext uri="{FF2B5EF4-FFF2-40B4-BE49-F238E27FC236}">
                <a16:creationId xmlns:a16="http://schemas.microsoft.com/office/drawing/2014/main" id="{62D1EAC4-902F-184B-86EA-F5848E44ACDA}"/>
              </a:ext>
            </a:extLst>
          </p:cNvPr>
          <p:cNvSpPr>
            <a:spLocks noChangeArrowheads="1"/>
          </p:cNvSpPr>
          <p:nvPr/>
        </p:nvSpPr>
        <p:spPr bwMode="auto">
          <a:xfrm>
            <a:off x="6667501" y="5334000"/>
            <a:ext cx="1633781" cy="27193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sz="1167" dirty="0">
                <a:latin typeface="Helvetica" charset="0"/>
                <a:ea typeface="ＭＳ Ｐゴシック" charset="0"/>
                <a:cs typeface="ＭＳ Ｐゴシック" charset="0"/>
              </a:rPr>
              <a:t>NOAA Ocean Service</a:t>
            </a:r>
            <a:endParaRPr lang="en-US" sz="1167" i="1" dirty="0">
              <a:latin typeface="Helvetica" charset="0"/>
              <a:ea typeface="ＭＳ Ｐゴシック" charset="0"/>
              <a:cs typeface="ＭＳ Ｐゴシック" charset="0"/>
            </a:endParaRPr>
          </a:p>
        </p:txBody>
      </p:sp>
      <p:sp>
        <p:nvSpPr>
          <p:cNvPr id="159747" name="TextBox 4">
            <a:extLst>
              <a:ext uri="{FF2B5EF4-FFF2-40B4-BE49-F238E27FC236}">
                <a16:creationId xmlns:a16="http://schemas.microsoft.com/office/drawing/2014/main" id="{307C35E3-C084-7844-B3A0-C94721235C20}"/>
              </a:ext>
            </a:extLst>
          </p:cNvPr>
          <p:cNvSpPr txBox="1">
            <a:spLocks noChangeArrowheads="1"/>
          </p:cNvSpPr>
          <p:nvPr/>
        </p:nvSpPr>
        <p:spPr bwMode="auto">
          <a:xfrm>
            <a:off x="1016000" y="5207000"/>
            <a:ext cx="324800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2000" dirty="0"/>
              <a:t>Northern Hemisphere (NH)</a:t>
            </a:r>
          </a:p>
        </p:txBody>
      </p:sp>
      <p:pic>
        <p:nvPicPr>
          <p:cNvPr id="159748" name="Picture 1" descr="ekman_spiral.gif">
            <a:extLst>
              <a:ext uri="{FF2B5EF4-FFF2-40B4-BE49-F238E27FC236}">
                <a16:creationId xmlns:a16="http://schemas.microsoft.com/office/drawing/2014/main" id="{796CA49E-9E8A-DE47-B26F-B09597FFA87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903" y="318814"/>
            <a:ext cx="6350000" cy="4755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4">
            <a:extLst>
              <a:ext uri="{FF2B5EF4-FFF2-40B4-BE49-F238E27FC236}">
                <a16:creationId xmlns:a16="http://schemas.microsoft.com/office/drawing/2014/main" id="{5EA2BA4F-ED76-154D-8FB2-71A3BE552BC3}"/>
              </a:ext>
            </a:extLst>
          </p:cNvPr>
          <p:cNvSpPr txBox="1">
            <a:spLocks noChangeArrowheads="1"/>
          </p:cNvSpPr>
          <p:nvPr/>
        </p:nvSpPr>
        <p:spPr bwMode="auto">
          <a:xfrm>
            <a:off x="6080418" y="4238905"/>
            <a:ext cx="285206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3600" dirty="0"/>
              <a:t>Ekman spiral</a:t>
            </a:r>
          </a:p>
        </p:txBody>
      </p:sp>
      <p:sp>
        <p:nvSpPr>
          <p:cNvPr id="7" name="TextBox 4">
            <a:extLst>
              <a:ext uri="{FF2B5EF4-FFF2-40B4-BE49-F238E27FC236}">
                <a16:creationId xmlns:a16="http://schemas.microsoft.com/office/drawing/2014/main" id="{559A652A-F123-A54E-8445-A3DC0C31646A}"/>
              </a:ext>
            </a:extLst>
          </p:cNvPr>
          <p:cNvSpPr txBox="1">
            <a:spLocks noChangeArrowheads="1"/>
          </p:cNvSpPr>
          <p:nvPr/>
        </p:nvSpPr>
        <p:spPr bwMode="auto">
          <a:xfrm>
            <a:off x="4561490" y="186514"/>
            <a:ext cx="4393325"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2000" dirty="0"/>
              <a:t>Friction and the Coriolis force both lead to the current being at a right angle to the wind.</a:t>
            </a:r>
          </a:p>
          <a:p>
            <a:pPr eaLnBrk="1" hangingPunct="1"/>
            <a:endParaRPr lang="en-US" altLang="en-US" sz="2000" dirty="0"/>
          </a:p>
          <a:p>
            <a:pPr eaLnBrk="1" hangingPunct="1"/>
            <a:r>
              <a:rPr lang="en-US" altLang="en-US" sz="2000" dirty="0"/>
              <a:t>To the right of the wind in the NH; left of the wind in the SH.</a:t>
            </a:r>
          </a:p>
        </p:txBody>
      </p:sp>
    </p:spTree>
    <p:extLst>
      <p:ext uri="{BB962C8B-B14F-4D97-AF65-F5344CB8AC3E}">
        <p14:creationId xmlns:p14="http://schemas.microsoft.com/office/powerpoint/2010/main" val="32939853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41" name="Picture 2" descr="1280px-Upwelling-labels-en.svg.png">
            <a:extLst>
              <a:ext uri="{FF2B5EF4-FFF2-40B4-BE49-F238E27FC236}">
                <a16:creationId xmlns:a16="http://schemas.microsoft.com/office/drawing/2014/main" id="{E6E84904-EBDC-2C4F-BD06-1CE1520CCF8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0" y="508000"/>
            <a:ext cx="7620000" cy="5054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42" name="Rectangle 1026">
            <a:extLst>
              <a:ext uri="{FF2B5EF4-FFF2-40B4-BE49-F238E27FC236}">
                <a16:creationId xmlns:a16="http://schemas.microsoft.com/office/drawing/2014/main" id="{CDEA457C-664C-D548-AD56-2AC76D96C2E1}"/>
              </a:ext>
            </a:extLst>
          </p:cNvPr>
          <p:cNvSpPr>
            <a:spLocks noGrp="1" noChangeArrowheads="1"/>
          </p:cNvSpPr>
          <p:nvPr>
            <p:ph type="title"/>
          </p:nvPr>
        </p:nvSpPr>
        <p:spPr>
          <a:xfrm>
            <a:off x="825500" y="63500"/>
            <a:ext cx="7493000" cy="660136"/>
          </a:xfrm>
        </p:spPr>
        <p:txBody>
          <a:bodyPr/>
          <a:lstStyle/>
          <a:p>
            <a:pPr algn="l"/>
            <a:r>
              <a:rPr lang="en-US" altLang="en-US" sz="3333">
                <a:ea typeface="ＭＳ Ｐゴシック" panose="020B0600070205080204" pitchFamily="34" charset="-128"/>
              </a:rPr>
              <a:t>Upwelling</a:t>
            </a:r>
          </a:p>
        </p:txBody>
      </p:sp>
      <p:sp>
        <p:nvSpPr>
          <p:cNvPr id="74758" name="Text Box 6">
            <a:extLst>
              <a:ext uri="{FF2B5EF4-FFF2-40B4-BE49-F238E27FC236}">
                <a16:creationId xmlns:a16="http://schemas.microsoft.com/office/drawing/2014/main" id="{79B82946-D9EC-084B-86DC-2113BD1B2068}"/>
              </a:ext>
            </a:extLst>
          </p:cNvPr>
          <p:cNvSpPr txBox="1">
            <a:spLocks noChangeArrowheads="1"/>
          </p:cNvSpPr>
          <p:nvPr/>
        </p:nvSpPr>
        <p:spPr bwMode="auto">
          <a:xfrm>
            <a:off x="6794500" y="5303573"/>
            <a:ext cx="1557073"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r">
              <a:spcBef>
                <a:spcPct val="50000"/>
              </a:spcBef>
              <a:defRPr/>
            </a:pPr>
            <a:r>
              <a:rPr lang="en-US" sz="2000" dirty="0">
                <a:latin typeface="Helvetica"/>
                <a:ea typeface="ＭＳ Ｐゴシック" charset="0"/>
                <a:cs typeface="Helvetica"/>
              </a:rPr>
              <a:t>(</a:t>
            </a:r>
            <a:r>
              <a:rPr lang="en-US" sz="2000" dirty="0" err="1">
                <a:latin typeface="Helvetica"/>
                <a:ea typeface="ＭＳ Ｐゴシック" charset="0"/>
                <a:cs typeface="Helvetica"/>
              </a:rPr>
              <a:t>Lichtspiel</a:t>
            </a:r>
            <a:r>
              <a:rPr lang="en-GB" sz="2000" dirty="0">
                <a:latin typeface="Helvetica"/>
                <a:ea typeface="ＭＳ Ｐゴシック" charset="0"/>
                <a:cs typeface="Helvetica"/>
              </a:rPr>
              <a:t>)</a:t>
            </a:r>
          </a:p>
        </p:txBody>
      </p:sp>
      <p:sp>
        <p:nvSpPr>
          <p:cNvPr id="5" name="TextBox 2">
            <a:extLst>
              <a:ext uri="{FF2B5EF4-FFF2-40B4-BE49-F238E27FC236}">
                <a16:creationId xmlns:a16="http://schemas.microsoft.com/office/drawing/2014/main" id="{3CFB6B16-8899-B84F-9ADD-3606EA422129}"/>
              </a:ext>
            </a:extLst>
          </p:cNvPr>
          <p:cNvSpPr txBox="1">
            <a:spLocks noChangeArrowheads="1"/>
          </p:cNvSpPr>
          <p:nvPr/>
        </p:nvSpPr>
        <p:spPr bwMode="auto">
          <a:xfrm>
            <a:off x="889000" y="5270500"/>
            <a:ext cx="263565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2000" dirty="0"/>
              <a:t>Northern Hemisphere</a:t>
            </a:r>
          </a:p>
        </p:txBody>
      </p:sp>
    </p:spTree>
    <p:extLst>
      <p:ext uri="{BB962C8B-B14F-4D97-AF65-F5344CB8AC3E}">
        <p14:creationId xmlns:p14="http://schemas.microsoft.com/office/powerpoint/2010/main" val="27691816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4865" name="Picture 2" descr="1280px-Upwelling-labels-en.svg.png">
            <a:extLst>
              <a:ext uri="{FF2B5EF4-FFF2-40B4-BE49-F238E27FC236}">
                <a16:creationId xmlns:a16="http://schemas.microsoft.com/office/drawing/2014/main" id="{B43A6151-7AB8-A94F-A6E1-805E2D1628E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0" y="508000"/>
            <a:ext cx="7620000" cy="5054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866" name="Rectangle 1026">
            <a:extLst>
              <a:ext uri="{FF2B5EF4-FFF2-40B4-BE49-F238E27FC236}">
                <a16:creationId xmlns:a16="http://schemas.microsoft.com/office/drawing/2014/main" id="{77F763C4-1169-AA40-9781-CC98EE76DB2E}"/>
              </a:ext>
            </a:extLst>
          </p:cNvPr>
          <p:cNvSpPr>
            <a:spLocks noGrp="1" noChangeArrowheads="1"/>
          </p:cNvSpPr>
          <p:nvPr>
            <p:ph type="title"/>
          </p:nvPr>
        </p:nvSpPr>
        <p:spPr>
          <a:xfrm>
            <a:off x="825500" y="63500"/>
            <a:ext cx="7493000" cy="660136"/>
          </a:xfrm>
        </p:spPr>
        <p:txBody>
          <a:bodyPr/>
          <a:lstStyle/>
          <a:p>
            <a:pPr algn="l"/>
            <a:r>
              <a:rPr lang="en-US" altLang="en-US" sz="3333">
                <a:ea typeface="ＭＳ Ｐゴシック" panose="020B0600070205080204" pitchFamily="34" charset="-128"/>
              </a:rPr>
              <a:t>Upwelling</a:t>
            </a:r>
          </a:p>
        </p:txBody>
      </p:sp>
      <p:sp>
        <p:nvSpPr>
          <p:cNvPr id="74758" name="Text Box 6">
            <a:extLst>
              <a:ext uri="{FF2B5EF4-FFF2-40B4-BE49-F238E27FC236}">
                <a16:creationId xmlns:a16="http://schemas.microsoft.com/office/drawing/2014/main" id="{7FF09329-CBBD-A346-BC65-1739489DB726}"/>
              </a:ext>
            </a:extLst>
          </p:cNvPr>
          <p:cNvSpPr txBox="1">
            <a:spLocks noChangeArrowheads="1"/>
          </p:cNvSpPr>
          <p:nvPr/>
        </p:nvSpPr>
        <p:spPr bwMode="auto">
          <a:xfrm>
            <a:off x="6794500" y="5303573"/>
            <a:ext cx="1557073"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r">
              <a:spcBef>
                <a:spcPct val="50000"/>
              </a:spcBef>
              <a:defRPr/>
            </a:pPr>
            <a:r>
              <a:rPr lang="en-US" sz="2000" dirty="0">
                <a:latin typeface="Helvetica"/>
                <a:ea typeface="ＭＳ Ｐゴシック" charset="0"/>
                <a:cs typeface="Helvetica"/>
              </a:rPr>
              <a:t>(</a:t>
            </a:r>
            <a:r>
              <a:rPr lang="en-US" sz="2000" dirty="0" err="1">
                <a:latin typeface="Helvetica"/>
                <a:ea typeface="ＭＳ Ｐゴシック" charset="0"/>
                <a:cs typeface="Helvetica"/>
              </a:rPr>
              <a:t>Lichtspiel</a:t>
            </a:r>
            <a:r>
              <a:rPr lang="en-GB" sz="2000" dirty="0">
                <a:latin typeface="Helvetica"/>
                <a:ea typeface="ＭＳ Ｐゴシック" charset="0"/>
                <a:cs typeface="Helvetica"/>
              </a:rPr>
              <a:t>)</a:t>
            </a:r>
          </a:p>
        </p:txBody>
      </p:sp>
      <p:sp>
        <p:nvSpPr>
          <p:cNvPr id="2" name="Rectangle 1">
            <a:extLst>
              <a:ext uri="{FF2B5EF4-FFF2-40B4-BE49-F238E27FC236}">
                <a16:creationId xmlns:a16="http://schemas.microsoft.com/office/drawing/2014/main" id="{BE28EFCC-BBB4-024F-8576-0A30040495DC}"/>
              </a:ext>
            </a:extLst>
          </p:cNvPr>
          <p:cNvSpPr/>
          <p:nvPr/>
        </p:nvSpPr>
        <p:spPr>
          <a:xfrm>
            <a:off x="5461000" y="2730500"/>
            <a:ext cx="2063385" cy="400110"/>
          </a:xfrm>
          <a:prstGeom prst="rect">
            <a:avLst/>
          </a:prstGeom>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2000">
                <a:solidFill>
                  <a:srgbClr val="FFFF00"/>
                </a:solidFill>
                <a:effectLst>
                  <a:outerShdw blurRad="38100" dist="38100" dir="2700000" algn="tl">
                    <a:srgbClr val="000000"/>
                  </a:outerShdw>
                </a:effectLst>
              </a:rPr>
              <a:t>Ekman transport</a:t>
            </a:r>
          </a:p>
        </p:txBody>
      </p:sp>
      <p:sp>
        <p:nvSpPr>
          <p:cNvPr id="6" name="Rectangle 5">
            <a:extLst>
              <a:ext uri="{FF2B5EF4-FFF2-40B4-BE49-F238E27FC236}">
                <a16:creationId xmlns:a16="http://schemas.microsoft.com/office/drawing/2014/main" id="{7B534FD9-D61D-2945-A8C5-D4C0E08F90C8}"/>
              </a:ext>
            </a:extLst>
          </p:cNvPr>
          <p:cNvSpPr/>
          <p:nvPr/>
        </p:nvSpPr>
        <p:spPr>
          <a:xfrm>
            <a:off x="4689636" y="3937000"/>
            <a:ext cx="2149948" cy="707886"/>
          </a:xfrm>
          <a:prstGeom prst="rect">
            <a:avLst/>
          </a:prstGeom>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2000">
                <a:solidFill>
                  <a:srgbClr val="FFFF00"/>
                </a:solidFill>
                <a:effectLst>
                  <a:outerShdw blurRad="38100" dist="38100" dir="2700000" algn="tl">
                    <a:srgbClr val="000000"/>
                  </a:outerShdw>
                </a:effectLst>
              </a:rPr>
              <a:t>cool, nutrient-rich</a:t>
            </a:r>
          </a:p>
          <a:p>
            <a:pPr algn="ctr" eaLnBrk="1" hangingPunct="1"/>
            <a:r>
              <a:rPr lang="en-US" altLang="en-US" sz="2000">
                <a:solidFill>
                  <a:srgbClr val="FFFF00"/>
                </a:solidFill>
                <a:effectLst>
                  <a:outerShdw blurRad="38100" dist="38100" dir="2700000" algn="tl">
                    <a:srgbClr val="000000"/>
                  </a:outerShdw>
                </a:effectLst>
              </a:rPr>
              <a:t>water</a:t>
            </a:r>
          </a:p>
        </p:txBody>
      </p:sp>
    </p:spTree>
    <p:extLst>
      <p:ext uri="{BB962C8B-B14F-4D97-AF65-F5344CB8AC3E}">
        <p14:creationId xmlns:p14="http://schemas.microsoft.com/office/powerpoint/2010/main" val="4659516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Rectangle 1026">
            <a:extLst>
              <a:ext uri="{FF2B5EF4-FFF2-40B4-BE49-F238E27FC236}">
                <a16:creationId xmlns:a16="http://schemas.microsoft.com/office/drawing/2014/main" id="{24722AD2-3EE1-CA4B-8944-EB327F471A50}"/>
              </a:ext>
            </a:extLst>
          </p:cNvPr>
          <p:cNvSpPr>
            <a:spLocks noGrp="1" noChangeArrowheads="1"/>
          </p:cNvSpPr>
          <p:nvPr>
            <p:ph type="title"/>
          </p:nvPr>
        </p:nvSpPr>
        <p:spPr>
          <a:xfrm>
            <a:off x="825500" y="63500"/>
            <a:ext cx="7493000" cy="660136"/>
          </a:xfrm>
        </p:spPr>
        <p:txBody>
          <a:bodyPr/>
          <a:lstStyle/>
          <a:p>
            <a:r>
              <a:rPr lang="en-US" altLang="en-US" sz="2667">
                <a:ea typeface="ＭＳ Ｐゴシック" panose="020B0600070205080204" pitchFamily="34" charset="-128"/>
              </a:rPr>
              <a:t>Life is not uniformly distributed in the oceans.</a:t>
            </a:r>
          </a:p>
        </p:txBody>
      </p:sp>
      <p:sp>
        <p:nvSpPr>
          <p:cNvPr id="74758" name="Text Box 6">
            <a:extLst>
              <a:ext uri="{FF2B5EF4-FFF2-40B4-BE49-F238E27FC236}">
                <a16:creationId xmlns:a16="http://schemas.microsoft.com/office/drawing/2014/main" id="{B524153B-36F9-0C40-983A-958632FFAD22}"/>
              </a:ext>
            </a:extLst>
          </p:cNvPr>
          <p:cNvSpPr txBox="1">
            <a:spLocks noChangeArrowheads="1"/>
          </p:cNvSpPr>
          <p:nvPr/>
        </p:nvSpPr>
        <p:spPr bwMode="auto">
          <a:xfrm>
            <a:off x="6507428" y="5397500"/>
            <a:ext cx="1874573" cy="29745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r">
              <a:spcBef>
                <a:spcPct val="50000"/>
              </a:spcBef>
              <a:defRPr/>
            </a:pPr>
            <a:r>
              <a:rPr lang="en-US" sz="1333" dirty="0">
                <a:latin typeface="Helvetica"/>
                <a:ea typeface="ＭＳ Ｐゴシック" charset="0"/>
                <a:cs typeface="Helvetica"/>
              </a:rPr>
              <a:t>(</a:t>
            </a:r>
            <a:r>
              <a:rPr lang="en-US" sz="1333" dirty="0" err="1">
                <a:latin typeface="Helvetica"/>
                <a:ea typeface="ＭＳ Ｐゴシック" charset="0"/>
                <a:cs typeface="Helvetica"/>
              </a:rPr>
              <a:t>nordpil.com</a:t>
            </a:r>
            <a:r>
              <a:rPr lang="en-GB" sz="1333" dirty="0">
                <a:latin typeface="Helvetica"/>
                <a:ea typeface="ＭＳ Ｐゴシック" charset="0"/>
                <a:cs typeface="Helvetica"/>
              </a:rPr>
              <a:t>)</a:t>
            </a:r>
          </a:p>
        </p:txBody>
      </p:sp>
      <p:sp>
        <p:nvSpPr>
          <p:cNvPr id="2" name="Rectangle 1">
            <a:extLst>
              <a:ext uri="{FF2B5EF4-FFF2-40B4-BE49-F238E27FC236}">
                <a16:creationId xmlns:a16="http://schemas.microsoft.com/office/drawing/2014/main" id="{56D10E03-76D9-594E-8CD3-77B8E2398E6D}"/>
              </a:ext>
            </a:extLst>
          </p:cNvPr>
          <p:cNvSpPr/>
          <p:nvPr/>
        </p:nvSpPr>
        <p:spPr>
          <a:xfrm>
            <a:off x="5461000" y="2730500"/>
            <a:ext cx="2063385" cy="400110"/>
          </a:xfrm>
          <a:prstGeom prst="rect">
            <a:avLst/>
          </a:prstGeom>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2000">
                <a:solidFill>
                  <a:srgbClr val="FFFF00"/>
                </a:solidFill>
                <a:effectLst>
                  <a:outerShdw blurRad="38100" dist="38100" dir="2700000" algn="tl">
                    <a:srgbClr val="000000"/>
                  </a:outerShdw>
                </a:effectLst>
              </a:rPr>
              <a:t>Ekman transport</a:t>
            </a:r>
          </a:p>
        </p:txBody>
      </p:sp>
      <p:sp>
        <p:nvSpPr>
          <p:cNvPr id="6" name="Rectangle 5">
            <a:extLst>
              <a:ext uri="{FF2B5EF4-FFF2-40B4-BE49-F238E27FC236}">
                <a16:creationId xmlns:a16="http://schemas.microsoft.com/office/drawing/2014/main" id="{72B369CA-F967-9E44-A987-256FCDA6712F}"/>
              </a:ext>
            </a:extLst>
          </p:cNvPr>
          <p:cNvSpPr/>
          <p:nvPr/>
        </p:nvSpPr>
        <p:spPr>
          <a:xfrm>
            <a:off x="4689636" y="3937000"/>
            <a:ext cx="2149948" cy="707886"/>
          </a:xfrm>
          <a:prstGeom prst="rect">
            <a:avLst/>
          </a:prstGeom>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2000">
                <a:solidFill>
                  <a:srgbClr val="FFFF00"/>
                </a:solidFill>
                <a:effectLst>
                  <a:outerShdw blurRad="38100" dist="38100" dir="2700000" algn="tl">
                    <a:srgbClr val="000000"/>
                  </a:outerShdw>
                </a:effectLst>
              </a:rPr>
              <a:t>cool, nutrient-rich</a:t>
            </a:r>
          </a:p>
          <a:p>
            <a:pPr algn="ctr" eaLnBrk="1" hangingPunct="1"/>
            <a:r>
              <a:rPr lang="en-US" altLang="en-US" sz="2000">
                <a:solidFill>
                  <a:srgbClr val="FFFF00"/>
                </a:solidFill>
                <a:effectLst>
                  <a:outerShdw blurRad="38100" dist="38100" dir="2700000" algn="tl">
                    <a:srgbClr val="000000"/>
                  </a:outerShdw>
                </a:effectLst>
              </a:rPr>
              <a:t>water</a:t>
            </a:r>
          </a:p>
        </p:txBody>
      </p:sp>
      <p:pic>
        <p:nvPicPr>
          <p:cNvPr id="167941" name="Picture 3" descr="ocean_productivity_full.png">
            <a:extLst>
              <a:ext uri="{FF2B5EF4-FFF2-40B4-BE49-F238E27FC236}">
                <a16:creationId xmlns:a16="http://schemas.microsoft.com/office/drawing/2014/main" id="{F9C171E1-B273-104C-8318-88A8F8A6714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0" y="952500"/>
            <a:ext cx="7620000" cy="3697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7942" name="TextBox 2">
            <a:extLst>
              <a:ext uri="{FF2B5EF4-FFF2-40B4-BE49-F238E27FC236}">
                <a16:creationId xmlns:a16="http://schemas.microsoft.com/office/drawing/2014/main" id="{9804FE4C-57BC-5245-8B6C-E4CC49904A0F}"/>
              </a:ext>
            </a:extLst>
          </p:cNvPr>
          <p:cNvSpPr txBox="1">
            <a:spLocks noChangeArrowheads="1"/>
          </p:cNvSpPr>
          <p:nvPr/>
        </p:nvSpPr>
        <p:spPr bwMode="auto">
          <a:xfrm>
            <a:off x="457200" y="4889500"/>
            <a:ext cx="7924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2000" dirty="0"/>
              <a:t>rate at which plants produce net useful chemical energy (g of C m</a:t>
            </a:r>
            <a:r>
              <a:rPr lang="en-US" altLang="en-US" sz="2000" baseline="30000" dirty="0"/>
              <a:t>–2</a:t>
            </a:r>
            <a:r>
              <a:rPr lang="en-US" altLang="en-US" sz="2000" dirty="0"/>
              <a:t>)</a:t>
            </a:r>
          </a:p>
        </p:txBody>
      </p:sp>
    </p:spTree>
    <p:extLst>
      <p:ext uri="{BB962C8B-B14F-4D97-AF65-F5344CB8AC3E}">
        <p14:creationId xmlns:p14="http://schemas.microsoft.com/office/powerpoint/2010/main" val="5658133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Rectangle 1026">
            <a:extLst>
              <a:ext uri="{FF2B5EF4-FFF2-40B4-BE49-F238E27FC236}">
                <a16:creationId xmlns:a16="http://schemas.microsoft.com/office/drawing/2014/main" id="{A6137815-C4BE-0044-BFCC-6BD221651BCA}"/>
              </a:ext>
            </a:extLst>
          </p:cNvPr>
          <p:cNvSpPr>
            <a:spLocks noGrp="1" noChangeArrowheads="1"/>
          </p:cNvSpPr>
          <p:nvPr>
            <p:ph type="title"/>
          </p:nvPr>
        </p:nvSpPr>
        <p:spPr>
          <a:xfrm>
            <a:off x="825500" y="63500"/>
            <a:ext cx="7493000" cy="660136"/>
          </a:xfrm>
        </p:spPr>
        <p:txBody>
          <a:bodyPr/>
          <a:lstStyle/>
          <a:p>
            <a:r>
              <a:rPr lang="en-US" altLang="en-US" sz="3333">
                <a:ea typeface="ＭＳ Ｐゴシック" panose="020B0600070205080204" pitchFamily="34" charset="-128"/>
              </a:rPr>
              <a:t>Annual Net Primary Production</a:t>
            </a:r>
          </a:p>
        </p:txBody>
      </p:sp>
      <p:sp>
        <p:nvSpPr>
          <p:cNvPr id="74758" name="Text Box 6">
            <a:extLst>
              <a:ext uri="{FF2B5EF4-FFF2-40B4-BE49-F238E27FC236}">
                <a16:creationId xmlns:a16="http://schemas.microsoft.com/office/drawing/2014/main" id="{184AA326-7B8A-E744-86F2-7FC8B095270B}"/>
              </a:ext>
            </a:extLst>
          </p:cNvPr>
          <p:cNvSpPr txBox="1">
            <a:spLocks noChangeArrowheads="1"/>
          </p:cNvSpPr>
          <p:nvPr/>
        </p:nvSpPr>
        <p:spPr bwMode="auto">
          <a:xfrm>
            <a:off x="6477000" y="5303573"/>
            <a:ext cx="1874573"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r">
              <a:spcBef>
                <a:spcPct val="50000"/>
              </a:spcBef>
              <a:defRPr/>
            </a:pPr>
            <a:r>
              <a:rPr lang="en-US" sz="2000" dirty="0">
                <a:latin typeface="Helvetica"/>
                <a:ea typeface="ＭＳ Ｐゴシック" charset="0"/>
                <a:cs typeface="Helvetica"/>
              </a:rPr>
              <a:t>(</a:t>
            </a:r>
            <a:r>
              <a:rPr lang="en-US" sz="2000" dirty="0" err="1">
                <a:latin typeface="Helvetica"/>
                <a:ea typeface="ＭＳ Ｐゴシック" charset="0"/>
                <a:cs typeface="Helvetica"/>
              </a:rPr>
              <a:t>nordpil.com</a:t>
            </a:r>
            <a:r>
              <a:rPr lang="en-GB" sz="2000" dirty="0">
                <a:latin typeface="Helvetica"/>
                <a:ea typeface="ＭＳ Ｐゴシック" charset="0"/>
                <a:cs typeface="Helvetica"/>
              </a:rPr>
              <a:t>)</a:t>
            </a:r>
          </a:p>
        </p:txBody>
      </p:sp>
      <p:sp>
        <p:nvSpPr>
          <p:cNvPr id="2" name="Rectangle 1">
            <a:extLst>
              <a:ext uri="{FF2B5EF4-FFF2-40B4-BE49-F238E27FC236}">
                <a16:creationId xmlns:a16="http://schemas.microsoft.com/office/drawing/2014/main" id="{06DD995E-1066-3A46-A39D-2B5DC7BB9863}"/>
              </a:ext>
            </a:extLst>
          </p:cNvPr>
          <p:cNvSpPr/>
          <p:nvPr/>
        </p:nvSpPr>
        <p:spPr>
          <a:xfrm>
            <a:off x="5461000" y="2730500"/>
            <a:ext cx="2063385" cy="400110"/>
          </a:xfrm>
          <a:prstGeom prst="rect">
            <a:avLst/>
          </a:prstGeom>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2000">
                <a:solidFill>
                  <a:srgbClr val="FFFF00"/>
                </a:solidFill>
                <a:effectLst>
                  <a:outerShdw blurRad="38100" dist="38100" dir="2700000" algn="tl">
                    <a:srgbClr val="000000"/>
                  </a:outerShdw>
                </a:effectLst>
              </a:rPr>
              <a:t>Ekman transport</a:t>
            </a:r>
          </a:p>
        </p:txBody>
      </p:sp>
      <p:sp>
        <p:nvSpPr>
          <p:cNvPr id="6" name="Rectangle 5">
            <a:extLst>
              <a:ext uri="{FF2B5EF4-FFF2-40B4-BE49-F238E27FC236}">
                <a16:creationId xmlns:a16="http://schemas.microsoft.com/office/drawing/2014/main" id="{483E9CC1-C896-1C4E-87A8-B5FD9F73C7BB}"/>
              </a:ext>
            </a:extLst>
          </p:cNvPr>
          <p:cNvSpPr/>
          <p:nvPr/>
        </p:nvSpPr>
        <p:spPr>
          <a:xfrm>
            <a:off x="4689636" y="3937000"/>
            <a:ext cx="2149948" cy="707886"/>
          </a:xfrm>
          <a:prstGeom prst="rect">
            <a:avLst/>
          </a:prstGeom>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2000">
                <a:solidFill>
                  <a:srgbClr val="FFFF00"/>
                </a:solidFill>
                <a:effectLst>
                  <a:outerShdw blurRad="38100" dist="38100" dir="2700000" algn="tl">
                    <a:srgbClr val="000000"/>
                  </a:outerShdw>
                </a:effectLst>
              </a:rPr>
              <a:t>cool, nutrient-rich</a:t>
            </a:r>
          </a:p>
          <a:p>
            <a:pPr algn="ctr" eaLnBrk="1" hangingPunct="1"/>
            <a:r>
              <a:rPr lang="en-US" altLang="en-US" sz="2000">
                <a:solidFill>
                  <a:srgbClr val="FFFF00"/>
                </a:solidFill>
                <a:effectLst>
                  <a:outerShdw blurRad="38100" dist="38100" dir="2700000" algn="tl">
                    <a:srgbClr val="000000"/>
                  </a:outerShdw>
                </a:effectLst>
              </a:rPr>
              <a:t>water</a:t>
            </a:r>
          </a:p>
        </p:txBody>
      </p:sp>
      <p:pic>
        <p:nvPicPr>
          <p:cNvPr id="168965" name="Picture 3" descr="ocean_productivity_full.png">
            <a:extLst>
              <a:ext uri="{FF2B5EF4-FFF2-40B4-BE49-F238E27FC236}">
                <a16:creationId xmlns:a16="http://schemas.microsoft.com/office/drawing/2014/main" id="{0504951C-20C7-0A4A-A4A1-F351271786F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143000"/>
            <a:ext cx="7620000" cy="3697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8966" name="Picture 2" descr="Screen Shot 2016-11-06 at 10.31.10 AM.png">
            <a:extLst>
              <a:ext uri="{FF2B5EF4-FFF2-40B4-BE49-F238E27FC236}">
                <a16:creationId xmlns:a16="http://schemas.microsoft.com/office/drawing/2014/main" id="{35E3E12B-DE08-0847-8BD2-F456BDDD93D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82333" y="317500"/>
            <a:ext cx="5799667" cy="5027083"/>
          </a:xfrm>
          <a:prstGeom prst="rect">
            <a:avLst/>
          </a:prstGeom>
          <a:noFill/>
          <a:ln w="38100">
            <a:solidFill>
              <a:srgbClr val="003264"/>
            </a:solidFill>
            <a:miter lim="800000"/>
            <a:headEnd/>
            <a:tailEnd/>
          </a:ln>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564BA9FC-B501-1946-AB7F-A8EAD3269799}"/>
              </a:ext>
            </a:extLst>
          </p:cNvPr>
          <p:cNvSpPr>
            <a:spLocks noChangeArrowheads="1"/>
          </p:cNvSpPr>
          <p:nvPr/>
        </p:nvSpPr>
        <p:spPr bwMode="auto">
          <a:xfrm>
            <a:off x="1651000" y="2159000"/>
            <a:ext cx="825500" cy="635000"/>
          </a:xfrm>
          <a:prstGeom prst="rect">
            <a:avLst/>
          </a:prstGeom>
          <a:noFill/>
          <a:ln w="38100">
            <a:solidFill>
              <a:srgbClr val="003264"/>
            </a:solidFill>
            <a:miter lim="800000"/>
            <a:headEnd/>
            <a:tailEnd/>
          </a:ln>
          <a:effectLst>
            <a:outerShdw blurRad="40000" dist="23000" dir="5400000" rotWithShape="0">
              <a:srgbClr val="808080">
                <a:alpha val="34999"/>
              </a:srgbClr>
            </a:outerShdw>
          </a:effectLst>
          <a:extLst>
            <a:ext uri="{909E8E84-426E-40DD-AFC4-6F175D3DCCD1}">
              <a14:hiddenFill xmlns:a14="http://schemas.microsoft.com/office/drawing/2010/main">
                <a:solidFill>
                  <a:srgbClr val="FFFFFF"/>
                </a:solidFill>
              </a14:hiddenFill>
            </a:ext>
          </a:extLst>
        </p:spPr>
        <p:txBody>
          <a:bodyPr anchor="ctr"/>
          <a:lstStyle/>
          <a:p>
            <a:pPr algn="ctr">
              <a:defRPr/>
            </a:pPr>
            <a:endParaRPr lang="en-US" sz="2000">
              <a:solidFill>
                <a:schemeClr val="lt1"/>
              </a:solidFill>
              <a:latin typeface="+mn-lt"/>
              <a:ea typeface="+mn-ea"/>
            </a:endParaRPr>
          </a:p>
        </p:txBody>
      </p:sp>
      <p:cxnSp>
        <p:nvCxnSpPr>
          <p:cNvPr id="8" name="Straight Connector 7">
            <a:extLst>
              <a:ext uri="{FF2B5EF4-FFF2-40B4-BE49-F238E27FC236}">
                <a16:creationId xmlns:a16="http://schemas.microsoft.com/office/drawing/2014/main" id="{4B5D25D4-EA89-614D-929C-CC6DAF7CCA91}"/>
              </a:ext>
            </a:extLst>
          </p:cNvPr>
          <p:cNvCxnSpPr>
            <a:cxnSpLocks noChangeShapeType="1"/>
          </p:cNvCxnSpPr>
          <p:nvPr/>
        </p:nvCxnSpPr>
        <p:spPr bwMode="auto">
          <a:xfrm flipV="1">
            <a:off x="1651000" y="317500"/>
            <a:ext cx="952500" cy="1841500"/>
          </a:xfrm>
          <a:prstGeom prst="line">
            <a:avLst/>
          </a:prstGeom>
          <a:noFill/>
          <a:ln w="25400">
            <a:solidFill>
              <a:srgbClr val="003264"/>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0" name="Straight Connector 9">
            <a:extLst>
              <a:ext uri="{FF2B5EF4-FFF2-40B4-BE49-F238E27FC236}">
                <a16:creationId xmlns:a16="http://schemas.microsoft.com/office/drawing/2014/main" id="{160A2216-E19B-D545-90AC-3DAACC2CC97E}"/>
              </a:ext>
            </a:extLst>
          </p:cNvPr>
          <p:cNvCxnSpPr>
            <a:cxnSpLocks noChangeShapeType="1"/>
          </p:cNvCxnSpPr>
          <p:nvPr/>
        </p:nvCxnSpPr>
        <p:spPr bwMode="auto">
          <a:xfrm>
            <a:off x="1651000" y="2794000"/>
            <a:ext cx="952500" cy="2540000"/>
          </a:xfrm>
          <a:prstGeom prst="line">
            <a:avLst/>
          </a:prstGeom>
          <a:noFill/>
          <a:ln w="25400">
            <a:solidFill>
              <a:srgbClr val="003264"/>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815754961"/>
      </p:ext>
    </p:extLst>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9985" name="Picture 4" descr="Screen Shot 2016-11-06 at 10.41.27 AM.png">
            <a:extLst>
              <a:ext uri="{FF2B5EF4-FFF2-40B4-BE49-F238E27FC236}">
                <a16:creationId xmlns:a16="http://schemas.microsoft.com/office/drawing/2014/main" id="{011D4273-5323-C14C-84C4-46E2E7B8A6E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50093" y="0"/>
            <a:ext cx="7631907"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9986" name="TextBox 5">
            <a:extLst>
              <a:ext uri="{FF2B5EF4-FFF2-40B4-BE49-F238E27FC236}">
                <a16:creationId xmlns:a16="http://schemas.microsoft.com/office/drawing/2014/main" id="{D15FD4C2-E25A-9A47-BEBF-A07494DE8F71}"/>
              </a:ext>
            </a:extLst>
          </p:cNvPr>
          <p:cNvSpPr txBox="1">
            <a:spLocks noChangeArrowheads="1"/>
          </p:cNvSpPr>
          <p:nvPr/>
        </p:nvSpPr>
        <p:spPr bwMode="auto">
          <a:xfrm>
            <a:off x="776553" y="0"/>
            <a:ext cx="3714030" cy="348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667">
                <a:solidFill>
                  <a:srgbClr val="FFFF00"/>
                </a:solidFill>
              </a:rPr>
              <a:t>(Schultz et al. 1997, </a:t>
            </a:r>
            <a:r>
              <a:rPr lang="en-US" altLang="en-US" sz="1667" i="1">
                <a:solidFill>
                  <a:srgbClr val="FFFF00"/>
                </a:solidFill>
              </a:rPr>
              <a:t>Mon. Wea. Rev.</a:t>
            </a:r>
            <a:r>
              <a:rPr lang="en-US" altLang="en-US" sz="1667">
                <a:solidFill>
                  <a:srgbClr val="FFFF00"/>
                </a:solidFill>
              </a:rPr>
              <a:t>)</a:t>
            </a:r>
          </a:p>
        </p:txBody>
      </p:sp>
      <p:sp>
        <p:nvSpPr>
          <p:cNvPr id="2" name="TextBox 1">
            <a:extLst>
              <a:ext uri="{FF2B5EF4-FFF2-40B4-BE49-F238E27FC236}">
                <a16:creationId xmlns:a16="http://schemas.microsoft.com/office/drawing/2014/main" id="{ED75210B-63DB-7046-AF7B-9E2A15B06921}"/>
              </a:ext>
            </a:extLst>
          </p:cNvPr>
          <p:cNvSpPr txBox="1"/>
          <p:nvPr/>
        </p:nvSpPr>
        <p:spPr>
          <a:xfrm>
            <a:off x="1066800" y="3848100"/>
            <a:ext cx="4790094" cy="1569660"/>
          </a:xfrm>
          <a:prstGeom prst="rect">
            <a:avLst/>
          </a:prstGeom>
          <a:solidFill>
            <a:schemeClr val="bg1"/>
          </a:solidFill>
        </p:spPr>
        <p:txBody>
          <a:bodyPr wrap="none" rtlCol="0">
            <a:spAutoFit/>
          </a:bodyPr>
          <a:lstStyle/>
          <a:p>
            <a:r>
              <a:rPr lang="en-US" dirty="0"/>
              <a:t>Visible satellite imagery of:</a:t>
            </a:r>
          </a:p>
          <a:p>
            <a:r>
              <a:rPr lang="en-US" dirty="0"/>
              <a:t>Tropical or extratropical cyclone?</a:t>
            </a:r>
          </a:p>
          <a:p>
            <a:endParaRPr lang="en-US" dirty="0"/>
          </a:p>
          <a:p>
            <a:r>
              <a:rPr lang="en-US" dirty="0"/>
              <a:t>Where’s the low center?</a:t>
            </a:r>
          </a:p>
        </p:txBody>
      </p:sp>
    </p:spTree>
    <p:extLst>
      <p:ext uri="{BB962C8B-B14F-4D97-AF65-F5344CB8AC3E}">
        <p14:creationId xmlns:p14="http://schemas.microsoft.com/office/powerpoint/2010/main" val="3051478546"/>
      </p:ext>
    </p:extLst>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9985" name="Picture 4" descr="Screen Shot 2016-11-06 at 10.41.27 AM.png">
            <a:extLst>
              <a:ext uri="{FF2B5EF4-FFF2-40B4-BE49-F238E27FC236}">
                <a16:creationId xmlns:a16="http://schemas.microsoft.com/office/drawing/2014/main" id="{011D4273-5323-C14C-84C4-46E2E7B8A6E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50093" y="0"/>
            <a:ext cx="7631907"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9986" name="TextBox 5">
            <a:extLst>
              <a:ext uri="{FF2B5EF4-FFF2-40B4-BE49-F238E27FC236}">
                <a16:creationId xmlns:a16="http://schemas.microsoft.com/office/drawing/2014/main" id="{D15FD4C2-E25A-9A47-BEBF-A07494DE8F71}"/>
              </a:ext>
            </a:extLst>
          </p:cNvPr>
          <p:cNvSpPr txBox="1">
            <a:spLocks noChangeArrowheads="1"/>
          </p:cNvSpPr>
          <p:nvPr/>
        </p:nvSpPr>
        <p:spPr bwMode="auto">
          <a:xfrm>
            <a:off x="776553" y="0"/>
            <a:ext cx="3714030" cy="348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667">
                <a:solidFill>
                  <a:srgbClr val="FFFF00"/>
                </a:solidFill>
              </a:rPr>
              <a:t>(Schultz et al. 1997, </a:t>
            </a:r>
            <a:r>
              <a:rPr lang="en-US" altLang="en-US" sz="1667" i="1">
                <a:solidFill>
                  <a:srgbClr val="FFFF00"/>
                </a:solidFill>
              </a:rPr>
              <a:t>Mon. Wea. Rev.</a:t>
            </a:r>
            <a:r>
              <a:rPr lang="en-US" altLang="en-US" sz="1667">
                <a:solidFill>
                  <a:srgbClr val="FFFF00"/>
                </a:solidFill>
              </a:rPr>
              <a:t>)</a:t>
            </a:r>
          </a:p>
        </p:txBody>
      </p:sp>
      <p:sp>
        <p:nvSpPr>
          <p:cNvPr id="2" name="TextBox 1">
            <a:extLst>
              <a:ext uri="{FF2B5EF4-FFF2-40B4-BE49-F238E27FC236}">
                <a16:creationId xmlns:a16="http://schemas.microsoft.com/office/drawing/2014/main" id="{C2C2AD3A-D732-E943-B3DE-399979C95704}"/>
              </a:ext>
            </a:extLst>
          </p:cNvPr>
          <p:cNvSpPr txBox="1"/>
          <p:nvPr/>
        </p:nvSpPr>
        <p:spPr>
          <a:xfrm>
            <a:off x="5105400" y="723900"/>
            <a:ext cx="498855" cy="769441"/>
          </a:xfrm>
          <a:prstGeom prst="rect">
            <a:avLst/>
          </a:prstGeom>
          <a:noFill/>
        </p:spPr>
        <p:txBody>
          <a:bodyPr wrap="none" rtlCol="0">
            <a:spAutoFit/>
          </a:bodyPr>
          <a:lstStyle/>
          <a:p>
            <a:r>
              <a:rPr lang="en-US" sz="4400" dirty="0"/>
              <a:t>L</a:t>
            </a:r>
          </a:p>
        </p:txBody>
      </p:sp>
    </p:spTree>
    <p:extLst>
      <p:ext uri="{BB962C8B-B14F-4D97-AF65-F5344CB8AC3E}">
        <p14:creationId xmlns:p14="http://schemas.microsoft.com/office/powerpoint/2010/main" val="3263711730"/>
      </p:ext>
    </p:extLst>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TextBox 5">
            <a:extLst>
              <a:ext uri="{FF2B5EF4-FFF2-40B4-BE49-F238E27FC236}">
                <a16:creationId xmlns:a16="http://schemas.microsoft.com/office/drawing/2014/main" id="{1EA5E550-FEF3-5045-B7F3-294C8A539207}"/>
              </a:ext>
            </a:extLst>
          </p:cNvPr>
          <p:cNvSpPr txBox="1">
            <a:spLocks noChangeArrowheads="1"/>
          </p:cNvSpPr>
          <p:nvPr/>
        </p:nvSpPr>
        <p:spPr bwMode="auto">
          <a:xfrm>
            <a:off x="776553" y="0"/>
            <a:ext cx="3714030" cy="348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667">
                <a:solidFill>
                  <a:srgbClr val="FFFF00"/>
                </a:solidFill>
              </a:rPr>
              <a:t>(Schultz et al. 1997, </a:t>
            </a:r>
            <a:r>
              <a:rPr lang="en-US" altLang="en-US" sz="1667" i="1">
                <a:solidFill>
                  <a:srgbClr val="FFFF00"/>
                </a:solidFill>
              </a:rPr>
              <a:t>Mon. Wea. Rev.</a:t>
            </a:r>
            <a:r>
              <a:rPr lang="en-US" altLang="en-US" sz="1667">
                <a:solidFill>
                  <a:srgbClr val="FFFF00"/>
                </a:solidFill>
              </a:rPr>
              <a:t>)</a:t>
            </a:r>
          </a:p>
        </p:txBody>
      </p:sp>
      <p:pic>
        <p:nvPicPr>
          <p:cNvPr id="171010" name="Picture 1" descr="Screen Shot 2016-11-06 at 10.53.29 AM.png">
            <a:extLst>
              <a:ext uri="{FF2B5EF4-FFF2-40B4-BE49-F238E27FC236}">
                <a16:creationId xmlns:a16="http://schemas.microsoft.com/office/drawing/2014/main" id="{34ACEB70-8865-7B4A-8AF1-FB2F997609A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000" y="0"/>
            <a:ext cx="762000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1011" name="TextBox 6">
            <a:extLst>
              <a:ext uri="{FF2B5EF4-FFF2-40B4-BE49-F238E27FC236}">
                <a16:creationId xmlns:a16="http://schemas.microsoft.com/office/drawing/2014/main" id="{E4357AD7-4179-3F40-B750-5AC426E841D0}"/>
              </a:ext>
            </a:extLst>
          </p:cNvPr>
          <p:cNvSpPr txBox="1">
            <a:spLocks noChangeArrowheads="1"/>
          </p:cNvSpPr>
          <p:nvPr/>
        </p:nvSpPr>
        <p:spPr bwMode="auto">
          <a:xfrm>
            <a:off x="762000" y="0"/>
            <a:ext cx="3714030" cy="34887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667"/>
              <a:t>(Schultz et al. 1997, </a:t>
            </a:r>
            <a:r>
              <a:rPr lang="en-US" altLang="en-US" sz="1667" i="1"/>
              <a:t>Mon. Wea. Rev.</a:t>
            </a:r>
            <a:r>
              <a:rPr lang="en-US" altLang="en-US" sz="1667"/>
              <a:t>)</a:t>
            </a:r>
          </a:p>
        </p:txBody>
      </p:sp>
      <p:sp>
        <p:nvSpPr>
          <p:cNvPr id="171012" name="TextBox 7">
            <a:extLst>
              <a:ext uri="{FF2B5EF4-FFF2-40B4-BE49-F238E27FC236}">
                <a16:creationId xmlns:a16="http://schemas.microsoft.com/office/drawing/2014/main" id="{9CD00914-CDB3-164A-8056-A964394BE3A9}"/>
              </a:ext>
            </a:extLst>
          </p:cNvPr>
          <p:cNvSpPr txBox="1">
            <a:spLocks noChangeArrowheads="1"/>
          </p:cNvSpPr>
          <p:nvPr/>
        </p:nvSpPr>
        <p:spPr bwMode="auto">
          <a:xfrm>
            <a:off x="889001" y="5207000"/>
            <a:ext cx="2986715" cy="34887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667"/>
              <a:t>Sea-level pressure and winds</a:t>
            </a:r>
          </a:p>
        </p:txBody>
      </p:sp>
      <p:sp>
        <p:nvSpPr>
          <p:cNvPr id="10" name="Right Arrow 9">
            <a:extLst>
              <a:ext uri="{FF2B5EF4-FFF2-40B4-BE49-F238E27FC236}">
                <a16:creationId xmlns:a16="http://schemas.microsoft.com/office/drawing/2014/main" id="{7A4E50EE-CF1D-2643-8BEA-D398C646A001}"/>
              </a:ext>
            </a:extLst>
          </p:cNvPr>
          <p:cNvSpPr>
            <a:spLocks noChangeArrowheads="1"/>
          </p:cNvSpPr>
          <p:nvPr/>
        </p:nvSpPr>
        <p:spPr bwMode="auto">
          <a:xfrm rot="5400000">
            <a:off x="3601641" y="4208860"/>
            <a:ext cx="736865" cy="320146"/>
          </a:xfrm>
          <a:prstGeom prst="rightArrow">
            <a:avLst>
              <a:gd name="adj1" fmla="val 50000"/>
              <a:gd name="adj2" fmla="val 49997"/>
            </a:avLst>
          </a:prstGeom>
          <a:solidFill>
            <a:srgbClr val="FF0000"/>
          </a:solid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en-US" sz="2000">
              <a:solidFill>
                <a:schemeClr val="lt1"/>
              </a:solidFill>
              <a:latin typeface="+mn-lt"/>
              <a:ea typeface="+mn-ea"/>
            </a:endParaRPr>
          </a:p>
        </p:txBody>
      </p:sp>
      <p:sp>
        <p:nvSpPr>
          <p:cNvPr id="11" name="Right Arrow 10">
            <a:extLst>
              <a:ext uri="{FF2B5EF4-FFF2-40B4-BE49-F238E27FC236}">
                <a16:creationId xmlns:a16="http://schemas.microsoft.com/office/drawing/2014/main" id="{042CA8FA-A479-7642-863F-28A4CB6B7CAE}"/>
              </a:ext>
            </a:extLst>
          </p:cNvPr>
          <p:cNvSpPr>
            <a:spLocks noChangeArrowheads="1"/>
          </p:cNvSpPr>
          <p:nvPr/>
        </p:nvSpPr>
        <p:spPr bwMode="auto">
          <a:xfrm rot="10300541">
            <a:off x="3092979" y="4019021"/>
            <a:ext cx="736865" cy="318823"/>
          </a:xfrm>
          <a:prstGeom prst="rightArrow">
            <a:avLst>
              <a:gd name="adj1" fmla="val 50000"/>
              <a:gd name="adj2" fmla="val 50001"/>
            </a:avLst>
          </a:prstGeom>
          <a:solidFill>
            <a:srgbClr val="FF0000"/>
          </a:solid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en-US" sz="2000">
              <a:solidFill>
                <a:schemeClr val="lt1"/>
              </a:solidFill>
              <a:latin typeface="+mn-lt"/>
              <a:ea typeface="+mn-ea"/>
            </a:endParaRPr>
          </a:p>
        </p:txBody>
      </p:sp>
      <p:sp>
        <p:nvSpPr>
          <p:cNvPr id="12" name="Right Arrow 11">
            <a:extLst>
              <a:ext uri="{FF2B5EF4-FFF2-40B4-BE49-F238E27FC236}">
                <a16:creationId xmlns:a16="http://schemas.microsoft.com/office/drawing/2014/main" id="{683BA814-5FE2-9E4F-A4E2-D6D82199553D}"/>
              </a:ext>
            </a:extLst>
          </p:cNvPr>
          <p:cNvSpPr>
            <a:spLocks noChangeArrowheads="1"/>
          </p:cNvSpPr>
          <p:nvPr/>
        </p:nvSpPr>
        <p:spPr bwMode="auto">
          <a:xfrm rot="3157344">
            <a:off x="3855641" y="991526"/>
            <a:ext cx="736865" cy="320146"/>
          </a:xfrm>
          <a:prstGeom prst="rightArrow">
            <a:avLst>
              <a:gd name="adj1" fmla="val 50000"/>
              <a:gd name="adj2" fmla="val 49997"/>
            </a:avLst>
          </a:prstGeom>
          <a:solidFill>
            <a:srgbClr val="FF0000"/>
          </a:solid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en-US" sz="2000">
              <a:solidFill>
                <a:schemeClr val="lt1"/>
              </a:solidFill>
              <a:latin typeface="+mn-lt"/>
              <a:ea typeface="+mn-ea"/>
            </a:endParaRPr>
          </a:p>
        </p:txBody>
      </p:sp>
      <p:sp>
        <p:nvSpPr>
          <p:cNvPr id="13" name="Right Arrow 12">
            <a:extLst>
              <a:ext uri="{FF2B5EF4-FFF2-40B4-BE49-F238E27FC236}">
                <a16:creationId xmlns:a16="http://schemas.microsoft.com/office/drawing/2014/main" id="{5014F96F-8381-3043-BA00-18A41EF47CE5}"/>
              </a:ext>
            </a:extLst>
          </p:cNvPr>
          <p:cNvSpPr>
            <a:spLocks noChangeArrowheads="1"/>
          </p:cNvSpPr>
          <p:nvPr/>
        </p:nvSpPr>
        <p:spPr bwMode="auto">
          <a:xfrm rot="3391067">
            <a:off x="4363641" y="2833026"/>
            <a:ext cx="736865" cy="320146"/>
          </a:xfrm>
          <a:prstGeom prst="rightArrow">
            <a:avLst>
              <a:gd name="adj1" fmla="val 50000"/>
              <a:gd name="adj2" fmla="val 49997"/>
            </a:avLst>
          </a:prstGeom>
          <a:solidFill>
            <a:srgbClr val="FF0000"/>
          </a:solid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en-US" sz="2000">
              <a:solidFill>
                <a:schemeClr val="lt1"/>
              </a:solidFill>
              <a:latin typeface="+mn-lt"/>
              <a:ea typeface="+mn-ea"/>
            </a:endParaRPr>
          </a:p>
        </p:txBody>
      </p:sp>
    </p:spTree>
    <p:extLst>
      <p:ext uri="{BB962C8B-B14F-4D97-AF65-F5344CB8AC3E}">
        <p14:creationId xmlns:p14="http://schemas.microsoft.com/office/powerpoint/2010/main" val="1631891918"/>
      </p:ext>
    </p:extLst>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2033" name="Picture 1" descr="Screen Shot 2016-11-06 at 10.43.14 AM.png">
            <a:extLst>
              <a:ext uri="{FF2B5EF4-FFF2-40B4-BE49-F238E27FC236}">
                <a16:creationId xmlns:a16="http://schemas.microsoft.com/office/drawing/2014/main" id="{44F88DAF-42E4-474C-AABB-3CE5DA304C4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000" y="0"/>
            <a:ext cx="762000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2034" name="TextBox 4">
            <a:extLst>
              <a:ext uri="{FF2B5EF4-FFF2-40B4-BE49-F238E27FC236}">
                <a16:creationId xmlns:a16="http://schemas.microsoft.com/office/drawing/2014/main" id="{C723270D-1461-2E48-8CBA-F825BB48A46C}"/>
              </a:ext>
            </a:extLst>
          </p:cNvPr>
          <p:cNvSpPr txBox="1">
            <a:spLocks noChangeArrowheads="1"/>
          </p:cNvSpPr>
          <p:nvPr/>
        </p:nvSpPr>
        <p:spPr bwMode="auto">
          <a:xfrm>
            <a:off x="825500" y="63500"/>
            <a:ext cx="3714030" cy="34887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667"/>
              <a:t>(Schultz et al. 1997, </a:t>
            </a:r>
            <a:r>
              <a:rPr lang="en-US" altLang="en-US" sz="1667" i="1"/>
              <a:t>Mon. Wea. Rev.</a:t>
            </a:r>
            <a:r>
              <a:rPr lang="en-US" altLang="en-US" sz="1667"/>
              <a:t>)</a:t>
            </a:r>
          </a:p>
        </p:txBody>
      </p:sp>
      <p:sp>
        <p:nvSpPr>
          <p:cNvPr id="172035" name="TextBox 6">
            <a:extLst>
              <a:ext uri="{FF2B5EF4-FFF2-40B4-BE49-F238E27FC236}">
                <a16:creationId xmlns:a16="http://schemas.microsoft.com/office/drawing/2014/main" id="{E6896F04-F3A6-B746-8A2E-975BEDBA6D74}"/>
              </a:ext>
            </a:extLst>
          </p:cNvPr>
          <p:cNvSpPr txBox="1">
            <a:spLocks noChangeArrowheads="1"/>
          </p:cNvSpPr>
          <p:nvPr/>
        </p:nvSpPr>
        <p:spPr bwMode="auto">
          <a:xfrm>
            <a:off x="2385219" y="5318125"/>
            <a:ext cx="4496424" cy="34887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667" dirty="0"/>
              <a:t>Sea-Surface Temperature from Satellite (</a:t>
            </a:r>
            <a:r>
              <a:rPr lang="en-US" altLang="en-US" sz="1667" dirty="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1667" dirty="0"/>
              <a:t>C)</a:t>
            </a:r>
          </a:p>
        </p:txBody>
      </p:sp>
    </p:spTree>
    <p:extLst>
      <p:ext uri="{BB962C8B-B14F-4D97-AF65-F5344CB8AC3E}">
        <p14:creationId xmlns:p14="http://schemas.microsoft.com/office/powerpoint/2010/main" val="2719542344"/>
      </p:ext>
    </p:extLst>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3057" name="Picture 2" descr="Screen Shot 2016-11-06 at 10.43.27 AM.png">
            <a:extLst>
              <a:ext uri="{FF2B5EF4-FFF2-40B4-BE49-F238E27FC236}">
                <a16:creationId xmlns:a16="http://schemas.microsoft.com/office/drawing/2014/main" id="{51336F82-9388-DF46-8E0A-ABFFDDEA3AC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000" y="0"/>
            <a:ext cx="762000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3058" name="TextBox 3">
            <a:extLst>
              <a:ext uri="{FF2B5EF4-FFF2-40B4-BE49-F238E27FC236}">
                <a16:creationId xmlns:a16="http://schemas.microsoft.com/office/drawing/2014/main" id="{D9EE55C9-8ADD-6647-905F-FF8753DB336A}"/>
              </a:ext>
            </a:extLst>
          </p:cNvPr>
          <p:cNvSpPr txBox="1">
            <a:spLocks noChangeArrowheads="1"/>
          </p:cNvSpPr>
          <p:nvPr/>
        </p:nvSpPr>
        <p:spPr bwMode="auto">
          <a:xfrm>
            <a:off x="825500" y="63500"/>
            <a:ext cx="3714030" cy="34887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667"/>
              <a:t>(Schultz et al. 1997, </a:t>
            </a:r>
            <a:r>
              <a:rPr lang="en-US" altLang="en-US" sz="1667" i="1"/>
              <a:t>Mon. Wea. Rev.</a:t>
            </a:r>
            <a:r>
              <a:rPr lang="en-US" altLang="en-US" sz="1667"/>
              <a:t>)</a:t>
            </a:r>
          </a:p>
        </p:txBody>
      </p:sp>
      <p:sp>
        <p:nvSpPr>
          <p:cNvPr id="173059" name="TextBox 4">
            <a:extLst>
              <a:ext uri="{FF2B5EF4-FFF2-40B4-BE49-F238E27FC236}">
                <a16:creationId xmlns:a16="http://schemas.microsoft.com/office/drawing/2014/main" id="{37870DFB-AEF6-0E4E-8BCF-D3B3947BDAA0}"/>
              </a:ext>
            </a:extLst>
          </p:cNvPr>
          <p:cNvSpPr txBox="1">
            <a:spLocks noChangeArrowheads="1"/>
          </p:cNvSpPr>
          <p:nvPr/>
        </p:nvSpPr>
        <p:spPr bwMode="auto">
          <a:xfrm>
            <a:off x="2385219" y="5318125"/>
            <a:ext cx="4496424" cy="34887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667" dirty="0"/>
              <a:t>Sea-Surface Temperature from Satellite (</a:t>
            </a:r>
            <a:r>
              <a:rPr lang="en-US" altLang="en-US" sz="1667" dirty="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1667" dirty="0"/>
              <a:t>C)</a:t>
            </a:r>
          </a:p>
        </p:txBody>
      </p:sp>
    </p:spTree>
    <p:extLst>
      <p:ext uri="{BB962C8B-B14F-4D97-AF65-F5344CB8AC3E}">
        <p14:creationId xmlns:p14="http://schemas.microsoft.com/office/powerpoint/2010/main" val="2637465156"/>
      </p:ext>
    </p:extLst>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37A838E-96AC-4C41-8E09-F81DCEF326E8}"/>
              </a:ext>
            </a:extLst>
          </p:cNvPr>
          <p:cNvPicPr>
            <a:picLocks noChangeAspect="1"/>
          </p:cNvPicPr>
          <p:nvPr/>
        </p:nvPicPr>
        <p:blipFill>
          <a:blip r:embed="rId3"/>
          <a:stretch>
            <a:fillRect/>
          </a:stretch>
        </p:blipFill>
        <p:spPr>
          <a:xfrm>
            <a:off x="685800" y="342900"/>
            <a:ext cx="7772400" cy="5029200"/>
          </a:xfrm>
          <a:prstGeom prst="rect">
            <a:avLst/>
          </a:prstGeom>
        </p:spPr>
      </p:pic>
      <p:sp>
        <p:nvSpPr>
          <p:cNvPr id="4" name="Title 1">
            <a:extLst>
              <a:ext uri="{FF2B5EF4-FFF2-40B4-BE49-F238E27FC236}">
                <a16:creationId xmlns:a16="http://schemas.microsoft.com/office/drawing/2014/main" id="{6C77EE95-BA0D-3E46-A051-CC0CAD8232C7}"/>
              </a:ext>
            </a:extLst>
          </p:cNvPr>
          <p:cNvSpPr>
            <a:spLocks noGrp="1"/>
          </p:cNvSpPr>
          <p:nvPr>
            <p:ph type="title"/>
          </p:nvPr>
        </p:nvSpPr>
        <p:spPr>
          <a:xfrm>
            <a:off x="0" y="190500"/>
            <a:ext cx="9144000" cy="647700"/>
          </a:xfrm>
        </p:spPr>
        <p:txBody>
          <a:bodyPr/>
          <a:lstStyle/>
          <a:p>
            <a:pPr eaLnBrk="1" hangingPunct="1">
              <a:spcBef>
                <a:spcPct val="50000"/>
              </a:spcBef>
              <a:buFontTx/>
              <a:buNone/>
            </a:pPr>
            <a:r>
              <a:rPr lang="en-GB" altLang="en-US" sz="2000" dirty="0">
                <a:solidFill>
                  <a:srgbClr val="FF0000"/>
                </a:solidFill>
              </a:rPr>
              <a:t>Mean sea level is rising as the oceans warm </a:t>
            </a:r>
            <a:br>
              <a:rPr lang="en-GB" altLang="en-US" sz="2000" dirty="0">
                <a:solidFill>
                  <a:srgbClr val="FF0000"/>
                </a:solidFill>
              </a:rPr>
            </a:br>
            <a:r>
              <a:rPr lang="en-GB" altLang="en-US" sz="2000" dirty="0">
                <a:solidFill>
                  <a:srgbClr val="FF0000"/>
                </a:solidFill>
              </a:rPr>
              <a:t>(expand and occupy more volume).</a:t>
            </a:r>
            <a:endParaRPr lang="en-US" sz="2000" dirty="0">
              <a:solidFill>
                <a:srgbClr val="FF0000"/>
              </a:solidFill>
            </a:endParaRPr>
          </a:p>
        </p:txBody>
      </p:sp>
      <p:sp>
        <p:nvSpPr>
          <p:cNvPr id="6" name="TextBox 5">
            <a:extLst>
              <a:ext uri="{FF2B5EF4-FFF2-40B4-BE49-F238E27FC236}">
                <a16:creationId xmlns:a16="http://schemas.microsoft.com/office/drawing/2014/main" id="{245584E0-D98B-0E48-985E-EB60C864D2C1}"/>
              </a:ext>
            </a:extLst>
          </p:cNvPr>
          <p:cNvSpPr txBox="1"/>
          <p:nvPr/>
        </p:nvSpPr>
        <p:spPr>
          <a:xfrm>
            <a:off x="5958513" y="5295900"/>
            <a:ext cx="3185487" cy="369332"/>
          </a:xfrm>
          <a:prstGeom prst="rect">
            <a:avLst/>
          </a:prstGeom>
          <a:noFill/>
        </p:spPr>
        <p:txBody>
          <a:bodyPr wrap="none" rtlCol="0">
            <a:spAutoFit/>
          </a:bodyPr>
          <a:lstStyle/>
          <a:p>
            <a:r>
              <a:rPr lang="en-US" sz="1800" dirty="0"/>
              <a:t>https://</a:t>
            </a:r>
            <a:r>
              <a:rPr lang="en-US" sz="1800" dirty="0" err="1"/>
              <a:t>sealevel.colorado.edu</a:t>
            </a:r>
            <a:r>
              <a:rPr lang="en-US" sz="1800" dirty="0"/>
              <a:t>/</a:t>
            </a:r>
          </a:p>
        </p:txBody>
      </p:sp>
    </p:spTree>
    <p:extLst>
      <p:ext uri="{BB962C8B-B14F-4D97-AF65-F5344CB8AC3E}">
        <p14:creationId xmlns:p14="http://schemas.microsoft.com/office/powerpoint/2010/main" val="219662162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C77EE95-BA0D-3E46-A051-CC0CAD8232C7}"/>
              </a:ext>
            </a:extLst>
          </p:cNvPr>
          <p:cNvSpPr>
            <a:spLocks noGrp="1"/>
          </p:cNvSpPr>
          <p:nvPr>
            <p:ph type="title"/>
          </p:nvPr>
        </p:nvSpPr>
        <p:spPr>
          <a:xfrm>
            <a:off x="0" y="190500"/>
            <a:ext cx="9144000" cy="647700"/>
          </a:xfrm>
        </p:spPr>
        <p:txBody>
          <a:bodyPr/>
          <a:lstStyle/>
          <a:p>
            <a:pPr eaLnBrk="1" hangingPunct="1">
              <a:spcBef>
                <a:spcPct val="50000"/>
              </a:spcBef>
              <a:buFontTx/>
              <a:buNone/>
            </a:pPr>
            <a:r>
              <a:rPr lang="en-GB" altLang="en-US" sz="2000" dirty="0">
                <a:solidFill>
                  <a:srgbClr val="FF0000"/>
                </a:solidFill>
              </a:rPr>
              <a:t>Mean sea level is rising as the oceans warm </a:t>
            </a:r>
            <a:br>
              <a:rPr lang="en-GB" altLang="en-US" sz="2000" dirty="0">
                <a:solidFill>
                  <a:srgbClr val="FF0000"/>
                </a:solidFill>
              </a:rPr>
            </a:br>
            <a:r>
              <a:rPr lang="en-GB" altLang="en-US" sz="2000" dirty="0">
                <a:solidFill>
                  <a:srgbClr val="FF0000"/>
                </a:solidFill>
              </a:rPr>
              <a:t>(expand and occupy more volume).</a:t>
            </a:r>
            <a:endParaRPr lang="en-US" sz="2000" dirty="0">
              <a:solidFill>
                <a:srgbClr val="FF0000"/>
              </a:solidFill>
            </a:endParaRPr>
          </a:p>
        </p:txBody>
      </p:sp>
      <p:sp>
        <p:nvSpPr>
          <p:cNvPr id="6" name="TextBox 5">
            <a:extLst>
              <a:ext uri="{FF2B5EF4-FFF2-40B4-BE49-F238E27FC236}">
                <a16:creationId xmlns:a16="http://schemas.microsoft.com/office/drawing/2014/main" id="{245584E0-D98B-0E48-985E-EB60C864D2C1}"/>
              </a:ext>
            </a:extLst>
          </p:cNvPr>
          <p:cNvSpPr txBox="1"/>
          <p:nvPr/>
        </p:nvSpPr>
        <p:spPr>
          <a:xfrm>
            <a:off x="4906943" y="5265868"/>
            <a:ext cx="4237057" cy="369332"/>
          </a:xfrm>
          <a:prstGeom prst="rect">
            <a:avLst/>
          </a:prstGeom>
          <a:noFill/>
        </p:spPr>
        <p:txBody>
          <a:bodyPr wrap="none" rtlCol="0">
            <a:spAutoFit/>
          </a:bodyPr>
          <a:lstStyle/>
          <a:p>
            <a:r>
              <a:rPr lang="en-US" sz="1800" dirty="0"/>
              <a:t>https://</a:t>
            </a:r>
            <a:r>
              <a:rPr lang="en-US" sz="1800" dirty="0" err="1"/>
              <a:t>sealevel.colorado.edu</a:t>
            </a:r>
            <a:r>
              <a:rPr lang="en-US" sz="1800" dirty="0"/>
              <a:t>/trend-map</a:t>
            </a:r>
          </a:p>
        </p:txBody>
      </p:sp>
      <p:pic>
        <p:nvPicPr>
          <p:cNvPr id="3" name="Picture 2">
            <a:extLst>
              <a:ext uri="{FF2B5EF4-FFF2-40B4-BE49-F238E27FC236}">
                <a16:creationId xmlns:a16="http://schemas.microsoft.com/office/drawing/2014/main" id="{A663F3FB-8C7A-1A4A-8678-694A6976A79C}"/>
              </a:ext>
            </a:extLst>
          </p:cNvPr>
          <p:cNvPicPr>
            <a:picLocks noChangeAspect="1"/>
          </p:cNvPicPr>
          <p:nvPr/>
        </p:nvPicPr>
        <p:blipFill>
          <a:blip r:embed="rId3"/>
          <a:stretch>
            <a:fillRect/>
          </a:stretch>
        </p:blipFill>
        <p:spPr>
          <a:xfrm>
            <a:off x="1143000" y="955808"/>
            <a:ext cx="6623050" cy="4310060"/>
          </a:xfrm>
          <a:prstGeom prst="rect">
            <a:avLst/>
          </a:prstGeom>
        </p:spPr>
      </p:pic>
    </p:spTree>
    <p:extLst>
      <p:ext uri="{BB962C8B-B14F-4D97-AF65-F5344CB8AC3E}">
        <p14:creationId xmlns:p14="http://schemas.microsoft.com/office/powerpoint/2010/main" val="28591444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098D44"/>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79C0E09-FC82-CE4C-9833-21EEA8A3E66C}"/>
              </a:ext>
            </a:extLst>
          </p:cNvPr>
          <p:cNvPicPr>
            <a:picLocks noChangeAspect="1"/>
          </p:cNvPicPr>
          <p:nvPr/>
        </p:nvPicPr>
        <p:blipFill>
          <a:blip r:embed="rId2"/>
          <a:stretch>
            <a:fillRect/>
          </a:stretch>
        </p:blipFill>
        <p:spPr>
          <a:xfrm>
            <a:off x="0" y="0"/>
            <a:ext cx="12966808" cy="5715000"/>
          </a:xfrm>
          <a:prstGeom prst="rect">
            <a:avLst/>
          </a:prstGeom>
        </p:spPr>
      </p:pic>
      <p:sp>
        <p:nvSpPr>
          <p:cNvPr id="34818" name="TextBox 4">
            <a:extLst>
              <a:ext uri="{FF2B5EF4-FFF2-40B4-BE49-F238E27FC236}">
                <a16:creationId xmlns:a16="http://schemas.microsoft.com/office/drawing/2014/main" id="{E4EDDA61-BC47-D745-8818-BACD06F1B30B}"/>
              </a:ext>
            </a:extLst>
          </p:cNvPr>
          <p:cNvSpPr txBox="1">
            <a:spLocks noChangeArrowheads="1"/>
          </p:cNvSpPr>
          <p:nvPr/>
        </p:nvSpPr>
        <p:spPr bwMode="auto">
          <a:xfrm>
            <a:off x="5867400" y="3543300"/>
            <a:ext cx="142295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dirty="0">
                <a:solidFill>
                  <a:srgbClr val="FFFF00"/>
                </a:solidFill>
                <a:cs typeface="Arial" panose="020B0604020202020204" pitchFamily="34" charset="0"/>
              </a:rPr>
              <a:t>Waves</a:t>
            </a:r>
          </a:p>
        </p:txBody>
      </p:sp>
    </p:spTree>
    <p:extLst>
      <p:ext uri="{BB962C8B-B14F-4D97-AF65-F5344CB8AC3E}">
        <p14:creationId xmlns:p14="http://schemas.microsoft.com/office/powerpoint/2010/main" val="290159188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4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CFA89EF-1F59-6444-B855-05B9CDECD69C}"/>
              </a:ext>
            </a:extLst>
          </p:cNvPr>
          <p:cNvPicPr>
            <a:picLocks noChangeAspect="1"/>
          </p:cNvPicPr>
          <p:nvPr/>
        </p:nvPicPr>
        <p:blipFill>
          <a:blip r:embed="rId2"/>
          <a:stretch>
            <a:fillRect/>
          </a:stretch>
        </p:blipFill>
        <p:spPr>
          <a:xfrm rot="10800000">
            <a:off x="228600" y="114300"/>
            <a:ext cx="5029200" cy="5535386"/>
          </a:xfrm>
          <a:prstGeom prst="rect">
            <a:avLst/>
          </a:prstGeom>
        </p:spPr>
      </p:pic>
      <p:sp>
        <p:nvSpPr>
          <p:cNvPr id="4" name="TextBox 3">
            <a:extLst>
              <a:ext uri="{FF2B5EF4-FFF2-40B4-BE49-F238E27FC236}">
                <a16:creationId xmlns:a16="http://schemas.microsoft.com/office/drawing/2014/main" id="{92261E28-B352-7A4A-9ACA-6CA4257194E9}"/>
              </a:ext>
            </a:extLst>
          </p:cNvPr>
          <p:cNvSpPr txBox="1"/>
          <p:nvPr/>
        </p:nvSpPr>
        <p:spPr>
          <a:xfrm>
            <a:off x="5181600" y="5338346"/>
            <a:ext cx="3869970" cy="338554"/>
          </a:xfrm>
          <a:prstGeom prst="rect">
            <a:avLst/>
          </a:prstGeom>
          <a:noFill/>
        </p:spPr>
        <p:txBody>
          <a:bodyPr wrap="none" rtlCol="0">
            <a:spAutoFit/>
          </a:bodyPr>
          <a:lstStyle/>
          <a:p>
            <a:r>
              <a:rPr lang="en-US" sz="1600" dirty="0"/>
              <a:t>(</a:t>
            </a:r>
            <a:r>
              <a:rPr lang="en-US" sz="1600" dirty="0" err="1"/>
              <a:t>Pinet</a:t>
            </a:r>
            <a:r>
              <a:rPr lang="en-US" sz="1600" dirty="0"/>
              <a:t> 2016, </a:t>
            </a:r>
            <a:r>
              <a:rPr lang="en-US" sz="1600" i="1" dirty="0"/>
              <a:t>Invitation to Oceanography</a:t>
            </a:r>
            <a:r>
              <a:rPr lang="en-US" sz="1600" dirty="0"/>
              <a:t>)</a:t>
            </a:r>
          </a:p>
        </p:txBody>
      </p:sp>
      <p:sp>
        <p:nvSpPr>
          <p:cNvPr id="5" name="TextBox 4">
            <a:extLst>
              <a:ext uri="{FF2B5EF4-FFF2-40B4-BE49-F238E27FC236}">
                <a16:creationId xmlns:a16="http://schemas.microsoft.com/office/drawing/2014/main" id="{920C4B15-1C26-554B-B51B-C02A5FEA80DB}"/>
              </a:ext>
            </a:extLst>
          </p:cNvPr>
          <p:cNvSpPr txBox="1"/>
          <p:nvPr/>
        </p:nvSpPr>
        <p:spPr>
          <a:xfrm>
            <a:off x="5723489" y="495300"/>
            <a:ext cx="1572866" cy="461665"/>
          </a:xfrm>
          <a:prstGeom prst="rect">
            <a:avLst/>
          </a:prstGeom>
          <a:noFill/>
        </p:spPr>
        <p:txBody>
          <a:bodyPr wrap="none" rtlCol="0">
            <a:spAutoFit/>
          </a:bodyPr>
          <a:lstStyle/>
          <a:p>
            <a:r>
              <a:rPr lang="en-US" dirty="0"/>
              <a:t>definitions</a:t>
            </a:r>
          </a:p>
        </p:txBody>
      </p:sp>
      <p:sp>
        <p:nvSpPr>
          <p:cNvPr id="6" name="TextBox 5">
            <a:extLst>
              <a:ext uri="{FF2B5EF4-FFF2-40B4-BE49-F238E27FC236}">
                <a16:creationId xmlns:a16="http://schemas.microsoft.com/office/drawing/2014/main" id="{302E0E2B-0CF9-9844-A728-64E0E1A01C5E}"/>
              </a:ext>
            </a:extLst>
          </p:cNvPr>
          <p:cNvSpPr txBox="1"/>
          <p:nvPr/>
        </p:nvSpPr>
        <p:spPr>
          <a:xfrm>
            <a:off x="5718234" y="2247900"/>
            <a:ext cx="2872902" cy="2308324"/>
          </a:xfrm>
          <a:prstGeom prst="rect">
            <a:avLst/>
          </a:prstGeom>
          <a:noFill/>
        </p:spPr>
        <p:txBody>
          <a:bodyPr wrap="none" rtlCol="0">
            <a:spAutoFit/>
          </a:bodyPr>
          <a:lstStyle/>
          <a:p>
            <a:r>
              <a:rPr lang="en-US" dirty="0"/>
              <a:t>causes of waves</a:t>
            </a:r>
          </a:p>
          <a:p>
            <a:endParaRPr lang="en-US" dirty="0"/>
          </a:p>
          <a:p>
            <a:r>
              <a:rPr lang="en-US" dirty="0"/>
              <a:t>definitions of waves</a:t>
            </a:r>
          </a:p>
          <a:p>
            <a:endParaRPr lang="en-US" dirty="0"/>
          </a:p>
          <a:p>
            <a:r>
              <a:rPr lang="en-US" dirty="0"/>
              <a:t>wave period vs</a:t>
            </a:r>
          </a:p>
          <a:p>
            <a:r>
              <a:rPr lang="en-US" dirty="0"/>
              <a:t>log(wave height)</a:t>
            </a:r>
          </a:p>
        </p:txBody>
      </p:sp>
    </p:spTree>
    <p:extLst>
      <p:ext uri="{BB962C8B-B14F-4D97-AF65-F5344CB8AC3E}">
        <p14:creationId xmlns:p14="http://schemas.microsoft.com/office/powerpoint/2010/main" val="214748129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4FEFE"/>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E888769-4357-854D-BA57-B036FA6BD909}"/>
              </a:ext>
            </a:extLst>
          </p:cNvPr>
          <p:cNvPicPr>
            <a:picLocks noChangeAspect="1"/>
          </p:cNvPicPr>
          <p:nvPr/>
        </p:nvPicPr>
        <p:blipFill>
          <a:blip r:embed="rId2"/>
          <a:stretch>
            <a:fillRect/>
          </a:stretch>
        </p:blipFill>
        <p:spPr>
          <a:xfrm>
            <a:off x="228600" y="495300"/>
            <a:ext cx="8734995" cy="4267200"/>
          </a:xfrm>
          <a:prstGeom prst="rect">
            <a:avLst/>
          </a:prstGeom>
        </p:spPr>
      </p:pic>
      <p:sp>
        <p:nvSpPr>
          <p:cNvPr id="4" name="TextBox 3">
            <a:extLst>
              <a:ext uri="{FF2B5EF4-FFF2-40B4-BE49-F238E27FC236}">
                <a16:creationId xmlns:a16="http://schemas.microsoft.com/office/drawing/2014/main" id="{50D51342-FC8E-0546-B3C6-2973EF99A850}"/>
              </a:ext>
            </a:extLst>
          </p:cNvPr>
          <p:cNvSpPr txBox="1"/>
          <p:nvPr/>
        </p:nvSpPr>
        <p:spPr>
          <a:xfrm>
            <a:off x="5181600" y="5338346"/>
            <a:ext cx="3869970" cy="338554"/>
          </a:xfrm>
          <a:prstGeom prst="rect">
            <a:avLst/>
          </a:prstGeom>
          <a:noFill/>
        </p:spPr>
        <p:txBody>
          <a:bodyPr wrap="none" rtlCol="0">
            <a:spAutoFit/>
          </a:bodyPr>
          <a:lstStyle/>
          <a:p>
            <a:r>
              <a:rPr lang="en-US" sz="1600" dirty="0"/>
              <a:t>(</a:t>
            </a:r>
            <a:r>
              <a:rPr lang="en-US" sz="1600" dirty="0" err="1"/>
              <a:t>Pinet</a:t>
            </a:r>
            <a:r>
              <a:rPr lang="en-US" sz="1600" dirty="0"/>
              <a:t> 2016, </a:t>
            </a:r>
            <a:r>
              <a:rPr lang="en-US" sz="1600" i="1" dirty="0"/>
              <a:t>Invitation to Oceanography</a:t>
            </a:r>
            <a:r>
              <a:rPr lang="en-US" sz="1600" dirty="0"/>
              <a:t>)</a:t>
            </a:r>
          </a:p>
        </p:txBody>
      </p:sp>
    </p:spTree>
    <p:extLst>
      <p:ext uri="{BB962C8B-B14F-4D97-AF65-F5344CB8AC3E}">
        <p14:creationId xmlns:p14="http://schemas.microsoft.com/office/powerpoint/2010/main" val="5723137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4FEFE"/>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8CE1BC-F8D4-B14A-8832-F0CEADD522FE}"/>
              </a:ext>
            </a:extLst>
          </p:cNvPr>
          <p:cNvPicPr>
            <a:picLocks noChangeAspect="1"/>
          </p:cNvPicPr>
          <p:nvPr/>
        </p:nvPicPr>
        <p:blipFill>
          <a:blip r:embed="rId3"/>
          <a:stretch>
            <a:fillRect/>
          </a:stretch>
        </p:blipFill>
        <p:spPr>
          <a:xfrm rot="10800000">
            <a:off x="-1" y="5660"/>
            <a:ext cx="4753039" cy="5671240"/>
          </a:xfrm>
          <a:prstGeom prst="rect">
            <a:avLst/>
          </a:prstGeom>
        </p:spPr>
      </p:pic>
      <p:sp>
        <p:nvSpPr>
          <p:cNvPr id="4" name="TextBox 3">
            <a:extLst>
              <a:ext uri="{FF2B5EF4-FFF2-40B4-BE49-F238E27FC236}">
                <a16:creationId xmlns:a16="http://schemas.microsoft.com/office/drawing/2014/main" id="{864F5E8E-4435-F84B-BEB6-EBE87477CB2F}"/>
              </a:ext>
            </a:extLst>
          </p:cNvPr>
          <p:cNvSpPr txBox="1"/>
          <p:nvPr/>
        </p:nvSpPr>
        <p:spPr>
          <a:xfrm>
            <a:off x="5181600" y="5338346"/>
            <a:ext cx="3869970" cy="338554"/>
          </a:xfrm>
          <a:prstGeom prst="rect">
            <a:avLst/>
          </a:prstGeom>
          <a:noFill/>
        </p:spPr>
        <p:txBody>
          <a:bodyPr wrap="none" rtlCol="0">
            <a:spAutoFit/>
          </a:bodyPr>
          <a:lstStyle/>
          <a:p>
            <a:r>
              <a:rPr lang="en-US" sz="1600" dirty="0"/>
              <a:t>(</a:t>
            </a:r>
            <a:r>
              <a:rPr lang="en-US" sz="1600" dirty="0" err="1"/>
              <a:t>Pinet</a:t>
            </a:r>
            <a:r>
              <a:rPr lang="en-US" sz="1600" dirty="0"/>
              <a:t> 2016, </a:t>
            </a:r>
            <a:r>
              <a:rPr lang="en-US" sz="1600" i="1" dirty="0"/>
              <a:t>Invitation to Oceanography</a:t>
            </a:r>
            <a:r>
              <a:rPr lang="en-US" sz="1600" dirty="0"/>
              <a:t>)</a:t>
            </a:r>
          </a:p>
        </p:txBody>
      </p:sp>
      <p:sp>
        <p:nvSpPr>
          <p:cNvPr id="5" name="TextBox 4">
            <a:extLst>
              <a:ext uri="{FF2B5EF4-FFF2-40B4-BE49-F238E27FC236}">
                <a16:creationId xmlns:a16="http://schemas.microsoft.com/office/drawing/2014/main" id="{7957D4C8-3E76-E54D-8F34-06EB085FB53C}"/>
              </a:ext>
            </a:extLst>
          </p:cNvPr>
          <p:cNvSpPr txBox="1"/>
          <p:nvPr/>
        </p:nvSpPr>
        <p:spPr>
          <a:xfrm>
            <a:off x="4742528" y="571500"/>
            <a:ext cx="4325223" cy="4524315"/>
          </a:xfrm>
          <a:prstGeom prst="rect">
            <a:avLst/>
          </a:prstGeom>
          <a:noFill/>
        </p:spPr>
        <p:txBody>
          <a:bodyPr wrap="none" rtlCol="0">
            <a:spAutoFit/>
          </a:bodyPr>
          <a:lstStyle/>
          <a:p>
            <a:r>
              <a:rPr lang="en-US" dirty="0"/>
              <a:t>Surface waves mostly* do not </a:t>
            </a:r>
          </a:p>
          <a:p>
            <a:r>
              <a:rPr lang="en-US" dirty="0"/>
              <a:t>transport water molecules </a:t>
            </a:r>
          </a:p>
          <a:p>
            <a:r>
              <a:rPr lang="en-US" dirty="0"/>
              <a:t>forward.</a:t>
            </a:r>
          </a:p>
          <a:p>
            <a:endParaRPr lang="en-US" dirty="0"/>
          </a:p>
          <a:p>
            <a:r>
              <a:rPr lang="en-US" dirty="0"/>
              <a:t>definitions of wave base</a:t>
            </a:r>
          </a:p>
          <a:p>
            <a:endParaRPr lang="en-US" dirty="0"/>
          </a:p>
          <a:p>
            <a:endParaRPr lang="en-US" dirty="0"/>
          </a:p>
          <a:p>
            <a:endParaRPr lang="en-US" dirty="0"/>
          </a:p>
          <a:p>
            <a:endParaRPr lang="en-US" dirty="0"/>
          </a:p>
          <a:p>
            <a:endParaRPr lang="en-US" dirty="0"/>
          </a:p>
          <a:p>
            <a:r>
              <a:rPr lang="en-US" dirty="0"/>
              <a:t>*except for Stokes drift</a:t>
            </a:r>
          </a:p>
          <a:p>
            <a:endParaRPr lang="en-US" dirty="0"/>
          </a:p>
        </p:txBody>
      </p:sp>
    </p:spTree>
    <p:extLst>
      <p:ext uri="{BB962C8B-B14F-4D97-AF65-F5344CB8AC3E}">
        <p14:creationId xmlns:p14="http://schemas.microsoft.com/office/powerpoint/2010/main" val="52850520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4FEFE"/>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9A58BF6-37DD-8B45-B333-9D82BAF6A657}"/>
              </a:ext>
            </a:extLst>
          </p:cNvPr>
          <p:cNvPicPr>
            <a:picLocks noChangeAspect="1"/>
          </p:cNvPicPr>
          <p:nvPr/>
        </p:nvPicPr>
        <p:blipFill rotWithShape="1">
          <a:blip r:embed="rId3"/>
          <a:srcRect b="54730"/>
          <a:stretch/>
        </p:blipFill>
        <p:spPr>
          <a:xfrm>
            <a:off x="0" y="647700"/>
            <a:ext cx="9224636" cy="3962400"/>
          </a:xfrm>
          <a:prstGeom prst="rect">
            <a:avLst/>
          </a:prstGeom>
        </p:spPr>
      </p:pic>
      <p:sp>
        <p:nvSpPr>
          <p:cNvPr id="4" name="TextBox 3">
            <a:extLst>
              <a:ext uri="{FF2B5EF4-FFF2-40B4-BE49-F238E27FC236}">
                <a16:creationId xmlns:a16="http://schemas.microsoft.com/office/drawing/2014/main" id="{EB7C3528-F1F7-D74B-8CDC-F1AB0BE9C496}"/>
              </a:ext>
            </a:extLst>
          </p:cNvPr>
          <p:cNvSpPr txBox="1"/>
          <p:nvPr/>
        </p:nvSpPr>
        <p:spPr>
          <a:xfrm>
            <a:off x="5181600" y="5338346"/>
            <a:ext cx="3869970" cy="338554"/>
          </a:xfrm>
          <a:prstGeom prst="rect">
            <a:avLst/>
          </a:prstGeom>
          <a:noFill/>
        </p:spPr>
        <p:txBody>
          <a:bodyPr wrap="none" rtlCol="0">
            <a:spAutoFit/>
          </a:bodyPr>
          <a:lstStyle/>
          <a:p>
            <a:r>
              <a:rPr lang="en-US" sz="1600" dirty="0"/>
              <a:t>(</a:t>
            </a:r>
            <a:r>
              <a:rPr lang="en-US" sz="1600" dirty="0" err="1"/>
              <a:t>Pinet</a:t>
            </a:r>
            <a:r>
              <a:rPr lang="en-US" sz="1600" dirty="0"/>
              <a:t> 2016, </a:t>
            </a:r>
            <a:r>
              <a:rPr lang="en-US" sz="1600" i="1" dirty="0"/>
              <a:t>Invitation to Oceanography</a:t>
            </a:r>
            <a:r>
              <a:rPr lang="en-US" sz="1600" dirty="0"/>
              <a:t>)</a:t>
            </a:r>
          </a:p>
        </p:txBody>
      </p:sp>
    </p:spTree>
    <p:extLst>
      <p:ext uri="{BB962C8B-B14F-4D97-AF65-F5344CB8AC3E}">
        <p14:creationId xmlns:p14="http://schemas.microsoft.com/office/powerpoint/2010/main" val="96050868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4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9A58BF6-37DD-8B45-B333-9D82BAF6A657}"/>
              </a:ext>
            </a:extLst>
          </p:cNvPr>
          <p:cNvPicPr>
            <a:picLocks noChangeAspect="1"/>
          </p:cNvPicPr>
          <p:nvPr/>
        </p:nvPicPr>
        <p:blipFill rotWithShape="1">
          <a:blip r:embed="rId3"/>
          <a:srcRect t="53363" b="5682"/>
          <a:stretch/>
        </p:blipFill>
        <p:spPr>
          <a:xfrm>
            <a:off x="-672647" y="800100"/>
            <a:ext cx="9803509" cy="3810000"/>
          </a:xfrm>
          <a:prstGeom prst="rect">
            <a:avLst/>
          </a:prstGeom>
        </p:spPr>
      </p:pic>
      <p:sp>
        <p:nvSpPr>
          <p:cNvPr id="4" name="TextBox 3">
            <a:extLst>
              <a:ext uri="{FF2B5EF4-FFF2-40B4-BE49-F238E27FC236}">
                <a16:creationId xmlns:a16="http://schemas.microsoft.com/office/drawing/2014/main" id="{EB7C3528-F1F7-D74B-8CDC-F1AB0BE9C496}"/>
              </a:ext>
            </a:extLst>
          </p:cNvPr>
          <p:cNvSpPr txBox="1"/>
          <p:nvPr/>
        </p:nvSpPr>
        <p:spPr>
          <a:xfrm>
            <a:off x="5181600" y="5338346"/>
            <a:ext cx="3869970" cy="338554"/>
          </a:xfrm>
          <a:prstGeom prst="rect">
            <a:avLst/>
          </a:prstGeom>
          <a:noFill/>
        </p:spPr>
        <p:txBody>
          <a:bodyPr wrap="none" rtlCol="0">
            <a:spAutoFit/>
          </a:bodyPr>
          <a:lstStyle/>
          <a:p>
            <a:r>
              <a:rPr lang="en-US" sz="1600" dirty="0"/>
              <a:t>(</a:t>
            </a:r>
            <a:r>
              <a:rPr lang="en-US" sz="1600" dirty="0" err="1"/>
              <a:t>Pinet</a:t>
            </a:r>
            <a:r>
              <a:rPr lang="en-US" sz="1600" dirty="0"/>
              <a:t> 2016, </a:t>
            </a:r>
            <a:r>
              <a:rPr lang="en-US" sz="1600" i="1" dirty="0"/>
              <a:t>Invitation to Oceanography</a:t>
            </a:r>
            <a:r>
              <a:rPr lang="en-US" sz="1600" dirty="0"/>
              <a:t>)</a:t>
            </a:r>
          </a:p>
        </p:txBody>
      </p:sp>
      <p:sp>
        <p:nvSpPr>
          <p:cNvPr id="2" name="TextBox 1">
            <a:extLst>
              <a:ext uri="{FF2B5EF4-FFF2-40B4-BE49-F238E27FC236}">
                <a16:creationId xmlns:a16="http://schemas.microsoft.com/office/drawing/2014/main" id="{294AF791-F119-3741-99CD-64178A3ECBB6}"/>
              </a:ext>
            </a:extLst>
          </p:cNvPr>
          <p:cNvSpPr txBox="1"/>
          <p:nvPr/>
        </p:nvSpPr>
        <p:spPr>
          <a:xfrm>
            <a:off x="5334000" y="4076700"/>
            <a:ext cx="1219200" cy="369332"/>
          </a:xfrm>
          <a:prstGeom prst="rect">
            <a:avLst/>
          </a:prstGeom>
          <a:solidFill>
            <a:srgbClr val="F4FFFF"/>
          </a:solidFill>
        </p:spPr>
        <p:txBody>
          <a:bodyPr wrap="square" rtlCol="0">
            <a:spAutoFit/>
          </a:bodyPr>
          <a:lstStyle/>
          <a:p>
            <a:r>
              <a:rPr lang="en-US" sz="1800" dirty="0"/>
              <a:t>increases</a:t>
            </a:r>
          </a:p>
        </p:txBody>
      </p:sp>
      <p:sp>
        <p:nvSpPr>
          <p:cNvPr id="5" name="TextBox 4">
            <a:extLst>
              <a:ext uri="{FF2B5EF4-FFF2-40B4-BE49-F238E27FC236}">
                <a16:creationId xmlns:a16="http://schemas.microsoft.com/office/drawing/2014/main" id="{0D16A354-411A-144A-8368-D22F1A7359FB}"/>
              </a:ext>
            </a:extLst>
          </p:cNvPr>
          <p:cNvSpPr txBox="1"/>
          <p:nvPr/>
        </p:nvSpPr>
        <p:spPr>
          <a:xfrm>
            <a:off x="1661955" y="270302"/>
            <a:ext cx="2284679" cy="369332"/>
          </a:xfrm>
          <a:prstGeom prst="rect">
            <a:avLst/>
          </a:prstGeom>
          <a:solidFill>
            <a:srgbClr val="F4FFFF"/>
          </a:solidFill>
        </p:spPr>
        <p:txBody>
          <a:bodyPr wrap="square" rtlCol="0">
            <a:spAutoFit/>
          </a:bodyPr>
          <a:lstStyle/>
          <a:p>
            <a:r>
              <a:rPr lang="en-US" sz="1800" dirty="0"/>
              <a:t>deep-water waves</a:t>
            </a:r>
          </a:p>
        </p:txBody>
      </p:sp>
      <p:sp>
        <p:nvSpPr>
          <p:cNvPr id="6" name="Left Arrow 5">
            <a:extLst>
              <a:ext uri="{FF2B5EF4-FFF2-40B4-BE49-F238E27FC236}">
                <a16:creationId xmlns:a16="http://schemas.microsoft.com/office/drawing/2014/main" id="{FEB978D7-CA20-B94E-AC08-E48148839751}"/>
              </a:ext>
            </a:extLst>
          </p:cNvPr>
          <p:cNvSpPr/>
          <p:nvPr/>
        </p:nvSpPr>
        <p:spPr>
          <a:xfrm>
            <a:off x="229921" y="302568"/>
            <a:ext cx="1447800" cy="304800"/>
          </a:xfrm>
          <a:prstGeom prst="lef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5796743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1366051-76DE-0042-9BF0-CA99D8189760}"/>
              </a:ext>
            </a:extLst>
          </p:cNvPr>
          <p:cNvPicPr>
            <a:picLocks noChangeAspect="1"/>
          </p:cNvPicPr>
          <p:nvPr/>
        </p:nvPicPr>
        <p:blipFill>
          <a:blip r:embed="rId2"/>
          <a:stretch>
            <a:fillRect/>
          </a:stretch>
        </p:blipFill>
        <p:spPr>
          <a:xfrm>
            <a:off x="5254" y="6568"/>
            <a:ext cx="9191297" cy="6127531"/>
          </a:xfrm>
          <a:prstGeom prst="rect">
            <a:avLst/>
          </a:prstGeom>
        </p:spPr>
      </p:pic>
      <p:sp>
        <p:nvSpPr>
          <p:cNvPr id="4" name="TextBox 3">
            <a:extLst>
              <a:ext uri="{FF2B5EF4-FFF2-40B4-BE49-F238E27FC236}">
                <a16:creationId xmlns:a16="http://schemas.microsoft.com/office/drawing/2014/main" id="{DFFFDA50-8D19-5F41-89B0-AFACCE86ED6B}"/>
              </a:ext>
            </a:extLst>
          </p:cNvPr>
          <p:cNvSpPr txBox="1"/>
          <p:nvPr/>
        </p:nvSpPr>
        <p:spPr>
          <a:xfrm>
            <a:off x="228600" y="114300"/>
            <a:ext cx="7391400" cy="830997"/>
          </a:xfrm>
          <a:prstGeom prst="rect">
            <a:avLst/>
          </a:prstGeom>
          <a:noFill/>
        </p:spPr>
        <p:txBody>
          <a:bodyPr wrap="square" rtlCol="0">
            <a:spAutoFit/>
          </a:bodyPr>
          <a:lstStyle/>
          <a:p>
            <a:r>
              <a:rPr lang="en-US" dirty="0">
                <a:solidFill>
                  <a:srgbClr val="FFFF00"/>
                </a:solidFill>
              </a:rPr>
              <a:t>Waves entering shallow water refract, approaching the shoreline in a more parallel orientation.</a:t>
            </a:r>
          </a:p>
        </p:txBody>
      </p:sp>
    </p:spTree>
    <p:extLst>
      <p:ext uri="{BB962C8B-B14F-4D97-AF65-F5344CB8AC3E}">
        <p14:creationId xmlns:p14="http://schemas.microsoft.com/office/powerpoint/2010/main" val="171665141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4FFFF"/>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3E27725-8B79-F14F-9B0A-BED47A8479F8}"/>
              </a:ext>
            </a:extLst>
          </p:cNvPr>
          <p:cNvPicPr>
            <a:picLocks noChangeAspect="1"/>
          </p:cNvPicPr>
          <p:nvPr/>
        </p:nvPicPr>
        <p:blipFill>
          <a:blip r:embed="rId2"/>
          <a:stretch>
            <a:fillRect/>
          </a:stretch>
        </p:blipFill>
        <p:spPr>
          <a:xfrm>
            <a:off x="838200" y="0"/>
            <a:ext cx="7315200" cy="5676900"/>
          </a:xfrm>
          <a:prstGeom prst="rect">
            <a:avLst/>
          </a:prstGeom>
        </p:spPr>
      </p:pic>
    </p:spTree>
    <p:extLst>
      <p:ext uri="{BB962C8B-B14F-4D97-AF65-F5344CB8AC3E}">
        <p14:creationId xmlns:p14="http://schemas.microsoft.com/office/powerpoint/2010/main" val="231407493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4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85C88BB-7FDE-2141-A3B2-007BA19CA67B}"/>
              </a:ext>
            </a:extLst>
          </p:cNvPr>
          <p:cNvPicPr>
            <a:picLocks noChangeAspect="1"/>
          </p:cNvPicPr>
          <p:nvPr/>
        </p:nvPicPr>
        <p:blipFill>
          <a:blip r:embed="rId2"/>
          <a:stretch>
            <a:fillRect/>
          </a:stretch>
        </p:blipFill>
        <p:spPr>
          <a:xfrm>
            <a:off x="-152400" y="9197"/>
            <a:ext cx="9786969" cy="5338346"/>
          </a:xfrm>
          <a:prstGeom prst="rect">
            <a:avLst/>
          </a:prstGeom>
        </p:spPr>
      </p:pic>
      <p:sp>
        <p:nvSpPr>
          <p:cNvPr id="4" name="TextBox 3">
            <a:extLst>
              <a:ext uri="{FF2B5EF4-FFF2-40B4-BE49-F238E27FC236}">
                <a16:creationId xmlns:a16="http://schemas.microsoft.com/office/drawing/2014/main" id="{B177BF2D-A137-B142-BCE6-64F645B8E0CA}"/>
              </a:ext>
            </a:extLst>
          </p:cNvPr>
          <p:cNvSpPr txBox="1"/>
          <p:nvPr/>
        </p:nvSpPr>
        <p:spPr>
          <a:xfrm>
            <a:off x="5181600" y="5338346"/>
            <a:ext cx="3869970" cy="338554"/>
          </a:xfrm>
          <a:prstGeom prst="rect">
            <a:avLst/>
          </a:prstGeom>
          <a:noFill/>
        </p:spPr>
        <p:txBody>
          <a:bodyPr wrap="none" rtlCol="0">
            <a:spAutoFit/>
          </a:bodyPr>
          <a:lstStyle/>
          <a:p>
            <a:r>
              <a:rPr lang="en-US" sz="1600" dirty="0"/>
              <a:t>(</a:t>
            </a:r>
            <a:r>
              <a:rPr lang="en-US" sz="1600" dirty="0" err="1"/>
              <a:t>Pinet</a:t>
            </a:r>
            <a:r>
              <a:rPr lang="en-US" sz="1600" dirty="0"/>
              <a:t> 2016, </a:t>
            </a:r>
            <a:r>
              <a:rPr lang="en-US" sz="1600" i="1" dirty="0"/>
              <a:t>Invitation to Oceanography</a:t>
            </a:r>
            <a:r>
              <a:rPr lang="en-US" sz="1600" dirty="0"/>
              <a:t>)</a:t>
            </a:r>
          </a:p>
        </p:txBody>
      </p:sp>
    </p:spTree>
    <p:extLst>
      <p:ext uri="{BB962C8B-B14F-4D97-AF65-F5344CB8AC3E}">
        <p14:creationId xmlns:p14="http://schemas.microsoft.com/office/powerpoint/2010/main" val="252472007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4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AF437D-9115-1148-AB25-D834E8AF9CE5}"/>
              </a:ext>
            </a:extLst>
          </p:cNvPr>
          <p:cNvSpPr txBox="1"/>
          <p:nvPr/>
        </p:nvSpPr>
        <p:spPr>
          <a:xfrm>
            <a:off x="533400" y="4914900"/>
            <a:ext cx="5909438" cy="584775"/>
          </a:xfrm>
          <a:prstGeom prst="rect">
            <a:avLst/>
          </a:prstGeom>
          <a:noFill/>
        </p:spPr>
        <p:txBody>
          <a:bodyPr wrap="none" rtlCol="0">
            <a:spAutoFit/>
          </a:bodyPr>
          <a:lstStyle/>
          <a:p>
            <a:r>
              <a:rPr lang="en-US" sz="1600" dirty="0">
                <a:hlinkClick r:id="rId2"/>
              </a:rPr>
              <a:t>https://www.ready.gov/tsunamis</a:t>
            </a:r>
            <a:endParaRPr lang="en-US" sz="1600" dirty="0"/>
          </a:p>
          <a:p>
            <a:r>
              <a:rPr lang="en-US" sz="1600" dirty="0"/>
              <a:t>https://</a:t>
            </a:r>
            <a:r>
              <a:rPr lang="en-US" sz="1600" dirty="0" err="1"/>
              <a:t>community.fema.gov</a:t>
            </a:r>
            <a:r>
              <a:rPr lang="en-US" sz="1600" dirty="0"/>
              <a:t>/</a:t>
            </a:r>
            <a:r>
              <a:rPr lang="en-US" sz="1600" dirty="0" err="1"/>
              <a:t>ProtectiveActions</a:t>
            </a:r>
            <a:r>
              <a:rPr lang="en-US" sz="1600" dirty="0"/>
              <a:t>/s/article/Tsunami</a:t>
            </a:r>
          </a:p>
        </p:txBody>
      </p:sp>
      <p:pic>
        <p:nvPicPr>
          <p:cNvPr id="5" name="Picture 4">
            <a:extLst>
              <a:ext uri="{FF2B5EF4-FFF2-40B4-BE49-F238E27FC236}">
                <a16:creationId xmlns:a16="http://schemas.microsoft.com/office/drawing/2014/main" id="{0F80055D-8A67-C942-8D54-3ED9E611213B}"/>
              </a:ext>
            </a:extLst>
          </p:cNvPr>
          <p:cNvPicPr>
            <a:picLocks noChangeAspect="1"/>
          </p:cNvPicPr>
          <p:nvPr/>
        </p:nvPicPr>
        <p:blipFill>
          <a:blip r:embed="rId3"/>
          <a:stretch>
            <a:fillRect/>
          </a:stretch>
        </p:blipFill>
        <p:spPr>
          <a:xfrm>
            <a:off x="762000" y="571500"/>
            <a:ext cx="7727473" cy="3886200"/>
          </a:xfrm>
          <a:prstGeom prst="rect">
            <a:avLst/>
          </a:prstGeom>
          <a:ln>
            <a:solidFill>
              <a:schemeClr val="tx1"/>
            </a:solidFill>
          </a:ln>
        </p:spPr>
      </p:pic>
    </p:spTree>
    <p:extLst>
      <p:ext uri="{BB962C8B-B14F-4D97-AF65-F5344CB8AC3E}">
        <p14:creationId xmlns:p14="http://schemas.microsoft.com/office/powerpoint/2010/main" val="395402523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098D44"/>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546CCC6-3D56-EF47-8F54-03B61A981309}"/>
              </a:ext>
            </a:extLst>
          </p:cNvPr>
          <p:cNvPicPr>
            <a:picLocks noChangeAspect="1"/>
          </p:cNvPicPr>
          <p:nvPr/>
        </p:nvPicPr>
        <p:blipFill>
          <a:blip r:embed="rId2"/>
          <a:stretch>
            <a:fillRect/>
          </a:stretch>
        </p:blipFill>
        <p:spPr>
          <a:xfrm>
            <a:off x="0" y="0"/>
            <a:ext cx="9144000" cy="6858000"/>
          </a:xfrm>
          <a:prstGeom prst="rect">
            <a:avLst/>
          </a:prstGeom>
        </p:spPr>
      </p:pic>
      <p:sp>
        <p:nvSpPr>
          <p:cNvPr id="34818" name="TextBox 4">
            <a:extLst>
              <a:ext uri="{FF2B5EF4-FFF2-40B4-BE49-F238E27FC236}">
                <a16:creationId xmlns:a16="http://schemas.microsoft.com/office/drawing/2014/main" id="{E4EDDA61-BC47-D745-8818-BACD06F1B30B}"/>
              </a:ext>
            </a:extLst>
          </p:cNvPr>
          <p:cNvSpPr txBox="1">
            <a:spLocks noChangeArrowheads="1"/>
          </p:cNvSpPr>
          <p:nvPr/>
        </p:nvSpPr>
        <p:spPr bwMode="auto">
          <a:xfrm>
            <a:off x="1600200" y="1028700"/>
            <a:ext cx="117128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dirty="0">
                <a:solidFill>
                  <a:srgbClr val="FFFF00"/>
                </a:solidFill>
                <a:cs typeface="Arial" panose="020B0604020202020204" pitchFamily="34" charset="0"/>
              </a:rPr>
              <a:t>Tides</a:t>
            </a:r>
          </a:p>
        </p:txBody>
      </p:sp>
    </p:spTree>
    <p:extLst>
      <p:ext uri="{BB962C8B-B14F-4D97-AF65-F5344CB8AC3E}">
        <p14:creationId xmlns:p14="http://schemas.microsoft.com/office/powerpoint/2010/main" val="94166724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4FFFF"/>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732CDD0-6D74-B942-B31C-A548CFCB204A}"/>
              </a:ext>
            </a:extLst>
          </p:cNvPr>
          <p:cNvPicPr>
            <a:picLocks noChangeAspect="1"/>
          </p:cNvPicPr>
          <p:nvPr/>
        </p:nvPicPr>
        <p:blipFill>
          <a:blip r:embed="rId2"/>
          <a:stretch>
            <a:fillRect/>
          </a:stretch>
        </p:blipFill>
        <p:spPr>
          <a:xfrm rot="10800000">
            <a:off x="1828800" y="114300"/>
            <a:ext cx="4419600" cy="5397985"/>
          </a:xfrm>
          <a:prstGeom prst="rect">
            <a:avLst/>
          </a:prstGeom>
        </p:spPr>
      </p:pic>
      <p:sp>
        <p:nvSpPr>
          <p:cNvPr id="5" name="TextBox 4">
            <a:extLst>
              <a:ext uri="{FF2B5EF4-FFF2-40B4-BE49-F238E27FC236}">
                <a16:creationId xmlns:a16="http://schemas.microsoft.com/office/drawing/2014/main" id="{6C5A5956-E450-524C-82DB-43A055575BB6}"/>
              </a:ext>
            </a:extLst>
          </p:cNvPr>
          <p:cNvSpPr txBox="1"/>
          <p:nvPr/>
        </p:nvSpPr>
        <p:spPr>
          <a:xfrm>
            <a:off x="5181600" y="5338346"/>
            <a:ext cx="3869970" cy="338554"/>
          </a:xfrm>
          <a:prstGeom prst="rect">
            <a:avLst/>
          </a:prstGeom>
          <a:noFill/>
        </p:spPr>
        <p:txBody>
          <a:bodyPr wrap="none" rtlCol="0">
            <a:spAutoFit/>
          </a:bodyPr>
          <a:lstStyle/>
          <a:p>
            <a:r>
              <a:rPr lang="en-US" sz="1600" dirty="0"/>
              <a:t>(</a:t>
            </a:r>
            <a:r>
              <a:rPr lang="en-US" sz="1600" dirty="0" err="1"/>
              <a:t>Pinet</a:t>
            </a:r>
            <a:r>
              <a:rPr lang="en-US" sz="1600" dirty="0"/>
              <a:t> 2016, </a:t>
            </a:r>
            <a:r>
              <a:rPr lang="en-US" sz="1600" i="1" dirty="0"/>
              <a:t>Invitation to Oceanography</a:t>
            </a:r>
            <a:r>
              <a:rPr lang="en-US" sz="1600" dirty="0"/>
              <a:t>)</a:t>
            </a:r>
          </a:p>
        </p:txBody>
      </p:sp>
    </p:spTree>
    <p:extLst>
      <p:ext uri="{BB962C8B-B14F-4D97-AF65-F5344CB8AC3E}">
        <p14:creationId xmlns:p14="http://schemas.microsoft.com/office/powerpoint/2010/main" val="14952497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9" name="Picture 1" descr="Diagram of the Moon's orbit with respect to the Earth">
            <a:extLst>
              <a:ext uri="{FF2B5EF4-FFF2-40B4-BE49-F238E27FC236}">
                <a16:creationId xmlns:a16="http://schemas.microsoft.com/office/drawing/2014/main" id="{3507D452-40B3-FA4C-8B63-7ABCC1F2ED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571500"/>
            <a:ext cx="8758052" cy="4495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329095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BFFFD"/>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6CF896B-297F-0A45-BB93-55B97534E670}"/>
              </a:ext>
            </a:extLst>
          </p:cNvPr>
          <p:cNvPicPr>
            <a:picLocks noChangeAspect="1"/>
          </p:cNvPicPr>
          <p:nvPr/>
        </p:nvPicPr>
        <p:blipFill>
          <a:blip r:embed="rId2"/>
          <a:stretch>
            <a:fillRect/>
          </a:stretch>
        </p:blipFill>
        <p:spPr>
          <a:xfrm>
            <a:off x="380999" y="-38101"/>
            <a:ext cx="8115537" cy="5257235"/>
          </a:xfrm>
          <a:prstGeom prst="rect">
            <a:avLst/>
          </a:prstGeom>
        </p:spPr>
      </p:pic>
      <p:sp>
        <p:nvSpPr>
          <p:cNvPr id="7" name="TextBox 6">
            <a:extLst>
              <a:ext uri="{FF2B5EF4-FFF2-40B4-BE49-F238E27FC236}">
                <a16:creationId xmlns:a16="http://schemas.microsoft.com/office/drawing/2014/main" id="{15A45B41-751E-824E-8AE8-F47C43ED5479}"/>
              </a:ext>
            </a:extLst>
          </p:cNvPr>
          <p:cNvSpPr txBox="1"/>
          <p:nvPr/>
        </p:nvSpPr>
        <p:spPr>
          <a:xfrm>
            <a:off x="5181600" y="5338346"/>
            <a:ext cx="3869970" cy="338554"/>
          </a:xfrm>
          <a:prstGeom prst="rect">
            <a:avLst/>
          </a:prstGeom>
          <a:noFill/>
        </p:spPr>
        <p:txBody>
          <a:bodyPr wrap="none" rtlCol="0">
            <a:spAutoFit/>
          </a:bodyPr>
          <a:lstStyle/>
          <a:p>
            <a:r>
              <a:rPr lang="en-US" sz="1600" dirty="0"/>
              <a:t>(</a:t>
            </a:r>
            <a:r>
              <a:rPr lang="en-US" sz="1600" dirty="0" err="1"/>
              <a:t>Pinet</a:t>
            </a:r>
            <a:r>
              <a:rPr lang="en-US" sz="1600" dirty="0"/>
              <a:t> 2016, </a:t>
            </a:r>
            <a:r>
              <a:rPr lang="en-US" sz="1600" i="1" dirty="0"/>
              <a:t>Invitation to Oceanography</a:t>
            </a:r>
            <a:r>
              <a:rPr lang="en-US" sz="1600" dirty="0"/>
              <a:t>)</a:t>
            </a:r>
          </a:p>
        </p:txBody>
      </p:sp>
    </p:spTree>
    <p:extLst>
      <p:ext uri="{BB962C8B-B14F-4D97-AF65-F5344CB8AC3E}">
        <p14:creationId xmlns:p14="http://schemas.microsoft.com/office/powerpoint/2010/main" val="144126052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4FEFE"/>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79BCC85-F47B-634A-ABBB-964340107247}"/>
              </a:ext>
            </a:extLst>
          </p:cNvPr>
          <p:cNvPicPr>
            <a:picLocks noChangeAspect="1"/>
          </p:cNvPicPr>
          <p:nvPr/>
        </p:nvPicPr>
        <p:blipFill>
          <a:blip r:embed="rId2"/>
          <a:stretch>
            <a:fillRect/>
          </a:stretch>
        </p:blipFill>
        <p:spPr>
          <a:xfrm>
            <a:off x="492973" y="86928"/>
            <a:ext cx="4432300" cy="5359400"/>
          </a:xfrm>
          <a:prstGeom prst="rect">
            <a:avLst/>
          </a:prstGeom>
        </p:spPr>
      </p:pic>
      <p:sp>
        <p:nvSpPr>
          <p:cNvPr id="5" name="TextBox 4">
            <a:extLst>
              <a:ext uri="{FF2B5EF4-FFF2-40B4-BE49-F238E27FC236}">
                <a16:creationId xmlns:a16="http://schemas.microsoft.com/office/drawing/2014/main" id="{C1DD120F-EEE7-3849-A40F-6D424E04CB6F}"/>
              </a:ext>
            </a:extLst>
          </p:cNvPr>
          <p:cNvSpPr txBox="1"/>
          <p:nvPr/>
        </p:nvSpPr>
        <p:spPr>
          <a:xfrm>
            <a:off x="5181600" y="5338346"/>
            <a:ext cx="3869970" cy="338554"/>
          </a:xfrm>
          <a:prstGeom prst="rect">
            <a:avLst/>
          </a:prstGeom>
          <a:noFill/>
        </p:spPr>
        <p:txBody>
          <a:bodyPr wrap="none" rtlCol="0">
            <a:spAutoFit/>
          </a:bodyPr>
          <a:lstStyle/>
          <a:p>
            <a:r>
              <a:rPr lang="en-US" sz="1600" dirty="0"/>
              <a:t>(</a:t>
            </a:r>
            <a:r>
              <a:rPr lang="en-US" sz="1600" dirty="0" err="1"/>
              <a:t>Pinet</a:t>
            </a:r>
            <a:r>
              <a:rPr lang="en-US" sz="1600" dirty="0"/>
              <a:t> 2016, </a:t>
            </a:r>
            <a:r>
              <a:rPr lang="en-US" sz="1600" i="1" dirty="0"/>
              <a:t>Invitation to Oceanography</a:t>
            </a:r>
            <a:r>
              <a:rPr lang="en-US" sz="1600" dirty="0"/>
              <a:t>)</a:t>
            </a:r>
          </a:p>
        </p:txBody>
      </p:sp>
    </p:spTree>
    <p:extLst>
      <p:ext uri="{BB962C8B-B14F-4D97-AF65-F5344CB8AC3E}">
        <p14:creationId xmlns:p14="http://schemas.microsoft.com/office/powerpoint/2010/main" val="24596161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3A4A097-39B7-EB42-81BF-17A24DB58FAE}"/>
              </a:ext>
            </a:extLst>
          </p:cNvPr>
          <p:cNvPicPr>
            <a:picLocks noChangeAspect="1"/>
          </p:cNvPicPr>
          <p:nvPr/>
        </p:nvPicPr>
        <p:blipFill>
          <a:blip r:embed="rId3"/>
          <a:stretch>
            <a:fillRect/>
          </a:stretch>
        </p:blipFill>
        <p:spPr>
          <a:xfrm rot="533037">
            <a:off x="0" y="66775"/>
            <a:ext cx="7391400" cy="5305325"/>
          </a:xfrm>
          <a:prstGeom prst="rect">
            <a:avLst/>
          </a:prstGeom>
          <a:scene3d>
            <a:camera prst="orthographicFront">
              <a:rot lat="0" lon="0" rev="600000"/>
            </a:camera>
            <a:lightRig rig="threePt" dir="t"/>
          </a:scene3d>
        </p:spPr>
      </p:pic>
      <p:sp>
        <p:nvSpPr>
          <p:cNvPr id="6" name="TextBox 5">
            <a:extLst>
              <a:ext uri="{FF2B5EF4-FFF2-40B4-BE49-F238E27FC236}">
                <a16:creationId xmlns:a16="http://schemas.microsoft.com/office/drawing/2014/main" id="{AED0E482-51D6-594A-ABD9-C93717C40292}"/>
              </a:ext>
            </a:extLst>
          </p:cNvPr>
          <p:cNvSpPr txBox="1"/>
          <p:nvPr/>
        </p:nvSpPr>
        <p:spPr>
          <a:xfrm>
            <a:off x="3695700" y="5340736"/>
            <a:ext cx="5317481" cy="307777"/>
          </a:xfrm>
          <a:prstGeom prst="rect">
            <a:avLst/>
          </a:prstGeom>
          <a:noFill/>
        </p:spPr>
        <p:txBody>
          <a:bodyPr wrap="none" rtlCol="0">
            <a:spAutoFit/>
          </a:bodyPr>
          <a:lstStyle/>
          <a:p>
            <a:r>
              <a:rPr lang="en-US" sz="1400" dirty="0"/>
              <a:t>(Pond and Pickard 1983, </a:t>
            </a:r>
            <a:r>
              <a:rPr lang="en-US" sz="1400" i="1" dirty="0"/>
              <a:t>Introductory Dynamical Oceanography</a:t>
            </a:r>
            <a:r>
              <a:rPr lang="en-US" sz="1400" dirty="0"/>
              <a:t>)</a:t>
            </a:r>
          </a:p>
        </p:txBody>
      </p:sp>
      <p:sp>
        <p:nvSpPr>
          <p:cNvPr id="7" name="TextBox 6">
            <a:extLst>
              <a:ext uri="{FF2B5EF4-FFF2-40B4-BE49-F238E27FC236}">
                <a16:creationId xmlns:a16="http://schemas.microsoft.com/office/drawing/2014/main" id="{7595B66F-393B-C943-999A-84406DB17A04}"/>
              </a:ext>
            </a:extLst>
          </p:cNvPr>
          <p:cNvSpPr txBox="1"/>
          <p:nvPr/>
        </p:nvSpPr>
        <p:spPr>
          <a:xfrm>
            <a:off x="5334000" y="4305300"/>
            <a:ext cx="1079142" cy="307777"/>
          </a:xfrm>
          <a:prstGeom prst="rect">
            <a:avLst/>
          </a:prstGeom>
          <a:noFill/>
        </p:spPr>
        <p:txBody>
          <a:bodyPr wrap="none" rtlCol="0">
            <a:spAutoFit/>
          </a:bodyPr>
          <a:lstStyle/>
          <a:p>
            <a:r>
              <a:rPr lang="en-US" sz="1400" dirty="0"/>
              <a:t>(13.6 days)</a:t>
            </a:r>
          </a:p>
        </p:txBody>
      </p:sp>
      <p:sp>
        <p:nvSpPr>
          <p:cNvPr id="10" name="TextBox 9">
            <a:extLst>
              <a:ext uri="{FF2B5EF4-FFF2-40B4-BE49-F238E27FC236}">
                <a16:creationId xmlns:a16="http://schemas.microsoft.com/office/drawing/2014/main" id="{CC111C60-DDAE-F64D-BAB3-6D91DDE965A9}"/>
              </a:ext>
            </a:extLst>
          </p:cNvPr>
          <p:cNvSpPr txBox="1"/>
          <p:nvPr/>
        </p:nvSpPr>
        <p:spPr>
          <a:xfrm>
            <a:off x="5344630" y="4519514"/>
            <a:ext cx="1079142" cy="307777"/>
          </a:xfrm>
          <a:prstGeom prst="rect">
            <a:avLst/>
          </a:prstGeom>
          <a:noFill/>
        </p:spPr>
        <p:txBody>
          <a:bodyPr wrap="none" rtlCol="0">
            <a:spAutoFit/>
          </a:bodyPr>
          <a:lstStyle/>
          <a:p>
            <a:r>
              <a:rPr lang="en-US" sz="1400" dirty="0"/>
              <a:t>(27.4 days)</a:t>
            </a:r>
          </a:p>
        </p:txBody>
      </p:sp>
      <p:sp>
        <p:nvSpPr>
          <p:cNvPr id="11" name="TextBox 10">
            <a:extLst>
              <a:ext uri="{FF2B5EF4-FFF2-40B4-BE49-F238E27FC236}">
                <a16:creationId xmlns:a16="http://schemas.microsoft.com/office/drawing/2014/main" id="{4963D670-EB08-DC41-86E9-645250760D00}"/>
              </a:ext>
            </a:extLst>
          </p:cNvPr>
          <p:cNvSpPr txBox="1"/>
          <p:nvPr/>
        </p:nvSpPr>
        <p:spPr>
          <a:xfrm>
            <a:off x="5321778" y="4733728"/>
            <a:ext cx="1178528" cy="307777"/>
          </a:xfrm>
          <a:prstGeom prst="rect">
            <a:avLst/>
          </a:prstGeom>
          <a:noFill/>
        </p:spPr>
        <p:txBody>
          <a:bodyPr wrap="none" rtlCol="0">
            <a:spAutoFit/>
          </a:bodyPr>
          <a:lstStyle/>
          <a:p>
            <a:r>
              <a:rPr lang="en-US" sz="1400" dirty="0"/>
              <a:t>(182.6 days)</a:t>
            </a:r>
          </a:p>
        </p:txBody>
      </p:sp>
      <p:sp>
        <p:nvSpPr>
          <p:cNvPr id="12" name="TextBox 11">
            <a:extLst>
              <a:ext uri="{FF2B5EF4-FFF2-40B4-BE49-F238E27FC236}">
                <a16:creationId xmlns:a16="http://schemas.microsoft.com/office/drawing/2014/main" id="{C05AC26E-FE99-4942-B29A-C97F23A05EAD}"/>
              </a:ext>
            </a:extLst>
          </p:cNvPr>
          <p:cNvSpPr txBox="1"/>
          <p:nvPr/>
        </p:nvSpPr>
        <p:spPr>
          <a:xfrm>
            <a:off x="5424947" y="3390900"/>
            <a:ext cx="740908" cy="307777"/>
          </a:xfrm>
          <a:prstGeom prst="rect">
            <a:avLst/>
          </a:prstGeom>
          <a:noFill/>
        </p:spPr>
        <p:txBody>
          <a:bodyPr wrap="none" rtlCol="0">
            <a:spAutoFit/>
          </a:bodyPr>
          <a:lstStyle/>
          <a:p>
            <a:r>
              <a:rPr lang="en-US" sz="1400" dirty="0"/>
              <a:t>(1 day)</a:t>
            </a:r>
          </a:p>
        </p:txBody>
      </p:sp>
      <p:sp>
        <p:nvSpPr>
          <p:cNvPr id="13" name="TextBox 12">
            <a:extLst>
              <a:ext uri="{FF2B5EF4-FFF2-40B4-BE49-F238E27FC236}">
                <a16:creationId xmlns:a16="http://schemas.microsoft.com/office/drawing/2014/main" id="{27B5AF1C-8FD0-0741-A870-CFF21FF4B358}"/>
              </a:ext>
            </a:extLst>
          </p:cNvPr>
          <p:cNvSpPr txBox="1"/>
          <p:nvPr/>
        </p:nvSpPr>
        <p:spPr>
          <a:xfrm>
            <a:off x="5424947" y="1998886"/>
            <a:ext cx="790601" cy="307777"/>
          </a:xfrm>
          <a:prstGeom prst="rect">
            <a:avLst/>
          </a:prstGeom>
          <a:noFill/>
        </p:spPr>
        <p:txBody>
          <a:bodyPr wrap="none" rtlCol="0">
            <a:spAutoFit/>
          </a:bodyPr>
          <a:lstStyle/>
          <a:p>
            <a:r>
              <a:rPr lang="en-US" sz="1400" dirty="0"/>
              <a:t>(½ day)</a:t>
            </a:r>
          </a:p>
        </p:txBody>
      </p:sp>
      <p:sp>
        <p:nvSpPr>
          <p:cNvPr id="8" name="Left Arrow 7">
            <a:extLst>
              <a:ext uri="{FF2B5EF4-FFF2-40B4-BE49-F238E27FC236}">
                <a16:creationId xmlns:a16="http://schemas.microsoft.com/office/drawing/2014/main" id="{988B7042-7AAD-D140-B019-B98977FBBCAF}"/>
              </a:ext>
            </a:extLst>
          </p:cNvPr>
          <p:cNvSpPr/>
          <p:nvPr/>
        </p:nvSpPr>
        <p:spPr>
          <a:xfrm>
            <a:off x="6858000" y="1762691"/>
            <a:ext cx="457200" cy="214214"/>
          </a:xfrm>
          <a:prstGeom prst="leftArrow">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4947964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FEE2AE-A42F-524E-81CF-66813F015970}"/>
              </a:ext>
            </a:extLst>
          </p:cNvPr>
          <p:cNvPicPr>
            <a:picLocks noChangeAspect="1"/>
          </p:cNvPicPr>
          <p:nvPr/>
        </p:nvPicPr>
        <p:blipFill>
          <a:blip r:embed="rId2"/>
          <a:stretch>
            <a:fillRect/>
          </a:stretch>
        </p:blipFill>
        <p:spPr>
          <a:xfrm>
            <a:off x="2032000" y="952500"/>
            <a:ext cx="5080000" cy="3810000"/>
          </a:xfrm>
          <a:prstGeom prst="rect">
            <a:avLst/>
          </a:prstGeom>
        </p:spPr>
      </p:pic>
      <p:sp>
        <p:nvSpPr>
          <p:cNvPr id="4" name="Rectangle 3">
            <a:extLst>
              <a:ext uri="{FF2B5EF4-FFF2-40B4-BE49-F238E27FC236}">
                <a16:creationId xmlns:a16="http://schemas.microsoft.com/office/drawing/2014/main" id="{8C89214C-E434-6640-B623-4653063AC5E8}"/>
              </a:ext>
            </a:extLst>
          </p:cNvPr>
          <p:cNvSpPr/>
          <p:nvPr/>
        </p:nvSpPr>
        <p:spPr>
          <a:xfrm>
            <a:off x="4572000" y="5377760"/>
            <a:ext cx="4572000" cy="338554"/>
          </a:xfrm>
          <a:prstGeom prst="rect">
            <a:avLst/>
          </a:prstGeom>
        </p:spPr>
        <p:txBody>
          <a:bodyPr>
            <a:spAutoFit/>
          </a:bodyPr>
          <a:lstStyle/>
          <a:p>
            <a:pPr algn="r"/>
            <a:r>
              <a:rPr lang="en-US" sz="1600" dirty="0">
                <a:solidFill>
                  <a:schemeClr val="bg1"/>
                </a:solidFill>
              </a:rPr>
              <a:t>https://</a:t>
            </a:r>
            <a:r>
              <a:rPr lang="en-US" sz="1600" dirty="0" err="1">
                <a:solidFill>
                  <a:schemeClr val="bg1"/>
                </a:solidFill>
              </a:rPr>
              <a:t>moon.nasa.gov</a:t>
            </a:r>
            <a:r>
              <a:rPr lang="en-US" sz="1600" dirty="0">
                <a:solidFill>
                  <a:schemeClr val="bg1"/>
                </a:solidFill>
              </a:rPr>
              <a:t>/moon-in-motion/tides/</a:t>
            </a:r>
          </a:p>
        </p:txBody>
      </p:sp>
    </p:spTree>
    <p:extLst>
      <p:ext uri="{BB962C8B-B14F-4D97-AF65-F5344CB8AC3E}">
        <p14:creationId xmlns:p14="http://schemas.microsoft.com/office/powerpoint/2010/main" val="362882942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75849C-EE2C-704B-A15B-B2ACF485F213}"/>
              </a:ext>
            </a:extLst>
          </p:cNvPr>
          <p:cNvSpPr txBox="1"/>
          <p:nvPr/>
        </p:nvSpPr>
        <p:spPr>
          <a:xfrm>
            <a:off x="228600" y="4991100"/>
            <a:ext cx="4512774" cy="461665"/>
          </a:xfrm>
          <a:prstGeom prst="rect">
            <a:avLst/>
          </a:prstGeom>
          <a:noFill/>
        </p:spPr>
        <p:txBody>
          <a:bodyPr wrap="none" rtlCol="0">
            <a:spAutoFit/>
          </a:bodyPr>
          <a:lstStyle/>
          <a:p>
            <a:r>
              <a:rPr lang="en-US" dirty="0">
                <a:solidFill>
                  <a:schemeClr val="bg1"/>
                </a:solidFill>
              </a:rPr>
              <a:t>https://</a:t>
            </a:r>
            <a:r>
              <a:rPr lang="en-US" dirty="0" err="1">
                <a:solidFill>
                  <a:schemeClr val="bg1"/>
                </a:solidFill>
              </a:rPr>
              <a:t>ntslf.org</a:t>
            </a:r>
            <a:r>
              <a:rPr lang="en-US" dirty="0">
                <a:solidFill>
                  <a:schemeClr val="bg1"/>
                </a:solidFill>
              </a:rPr>
              <a:t>/tides/predictions</a:t>
            </a:r>
          </a:p>
        </p:txBody>
      </p:sp>
      <p:pic>
        <p:nvPicPr>
          <p:cNvPr id="7" name="Picture 6">
            <a:extLst>
              <a:ext uri="{FF2B5EF4-FFF2-40B4-BE49-F238E27FC236}">
                <a16:creationId xmlns:a16="http://schemas.microsoft.com/office/drawing/2014/main" id="{04B2B162-FA29-9543-B547-CC3E7B38DBAB}"/>
              </a:ext>
            </a:extLst>
          </p:cNvPr>
          <p:cNvPicPr>
            <a:picLocks noChangeAspect="1"/>
          </p:cNvPicPr>
          <p:nvPr/>
        </p:nvPicPr>
        <p:blipFill>
          <a:blip r:embed="rId3"/>
          <a:stretch>
            <a:fillRect/>
          </a:stretch>
        </p:blipFill>
        <p:spPr>
          <a:xfrm>
            <a:off x="0" y="0"/>
            <a:ext cx="3634634" cy="4838700"/>
          </a:xfrm>
          <a:prstGeom prst="rect">
            <a:avLst/>
          </a:prstGeom>
        </p:spPr>
      </p:pic>
      <p:pic>
        <p:nvPicPr>
          <p:cNvPr id="10" name="Picture 9">
            <a:extLst>
              <a:ext uri="{FF2B5EF4-FFF2-40B4-BE49-F238E27FC236}">
                <a16:creationId xmlns:a16="http://schemas.microsoft.com/office/drawing/2014/main" id="{4F1452FB-0AC3-A546-8230-3A28EB8750A3}"/>
              </a:ext>
            </a:extLst>
          </p:cNvPr>
          <p:cNvPicPr>
            <a:picLocks noChangeAspect="1"/>
          </p:cNvPicPr>
          <p:nvPr/>
        </p:nvPicPr>
        <p:blipFill>
          <a:blip r:embed="rId4"/>
          <a:stretch>
            <a:fillRect/>
          </a:stretch>
        </p:blipFill>
        <p:spPr>
          <a:xfrm>
            <a:off x="3634634" y="0"/>
            <a:ext cx="4034674" cy="2273300"/>
          </a:xfrm>
          <a:prstGeom prst="rect">
            <a:avLst/>
          </a:prstGeom>
        </p:spPr>
      </p:pic>
      <p:pic>
        <p:nvPicPr>
          <p:cNvPr id="12" name="Picture 11">
            <a:extLst>
              <a:ext uri="{FF2B5EF4-FFF2-40B4-BE49-F238E27FC236}">
                <a16:creationId xmlns:a16="http://schemas.microsoft.com/office/drawing/2014/main" id="{5687D3D5-129D-7446-84F1-C9FD9DE43BE3}"/>
              </a:ext>
            </a:extLst>
          </p:cNvPr>
          <p:cNvPicPr>
            <a:picLocks noChangeAspect="1"/>
          </p:cNvPicPr>
          <p:nvPr/>
        </p:nvPicPr>
        <p:blipFill>
          <a:blip r:embed="rId5"/>
          <a:stretch>
            <a:fillRect/>
          </a:stretch>
        </p:blipFill>
        <p:spPr>
          <a:xfrm>
            <a:off x="6643366" y="1333500"/>
            <a:ext cx="2500634" cy="4381500"/>
          </a:xfrm>
          <a:prstGeom prst="rect">
            <a:avLst/>
          </a:prstGeom>
        </p:spPr>
      </p:pic>
    </p:spTree>
    <p:extLst>
      <p:ext uri="{BB962C8B-B14F-4D97-AF65-F5344CB8AC3E}">
        <p14:creationId xmlns:p14="http://schemas.microsoft.com/office/powerpoint/2010/main" val="239910945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75849C-EE2C-704B-A15B-B2ACF485F213}"/>
              </a:ext>
            </a:extLst>
          </p:cNvPr>
          <p:cNvSpPr txBox="1"/>
          <p:nvPr/>
        </p:nvSpPr>
        <p:spPr>
          <a:xfrm>
            <a:off x="228600" y="4457700"/>
            <a:ext cx="3503523" cy="461665"/>
          </a:xfrm>
          <a:prstGeom prst="rect">
            <a:avLst/>
          </a:prstGeom>
          <a:noFill/>
        </p:spPr>
        <p:txBody>
          <a:bodyPr wrap="none" rtlCol="0">
            <a:spAutoFit/>
          </a:bodyPr>
          <a:lstStyle/>
          <a:p>
            <a:r>
              <a:rPr lang="en-US" dirty="0">
                <a:solidFill>
                  <a:schemeClr val="bg1"/>
                </a:solidFill>
              </a:rPr>
              <a:t>https://</a:t>
            </a:r>
            <a:r>
              <a:rPr lang="en-US" dirty="0" err="1">
                <a:solidFill>
                  <a:schemeClr val="bg1"/>
                </a:solidFill>
              </a:rPr>
              <a:t>www.surfline.com</a:t>
            </a:r>
            <a:endParaRPr lang="en-US" dirty="0">
              <a:solidFill>
                <a:schemeClr val="bg1"/>
              </a:solidFill>
            </a:endParaRPr>
          </a:p>
        </p:txBody>
      </p:sp>
      <p:pic>
        <p:nvPicPr>
          <p:cNvPr id="8" name="Picture 7">
            <a:extLst>
              <a:ext uri="{FF2B5EF4-FFF2-40B4-BE49-F238E27FC236}">
                <a16:creationId xmlns:a16="http://schemas.microsoft.com/office/drawing/2014/main" id="{48365992-EBF0-CF49-A668-C6DC0A1D00D1}"/>
              </a:ext>
            </a:extLst>
          </p:cNvPr>
          <p:cNvPicPr>
            <a:picLocks noChangeAspect="1"/>
          </p:cNvPicPr>
          <p:nvPr/>
        </p:nvPicPr>
        <p:blipFill>
          <a:blip r:embed="rId3"/>
          <a:stretch>
            <a:fillRect/>
          </a:stretch>
        </p:blipFill>
        <p:spPr>
          <a:xfrm>
            <a:off x="0" y="0"/>
            <a:ext cx="5791200" cy="3899602"/>
          </a:xfrm>
          <a:prstGeom prst="rect">
            <a:avLst/>
          </a:prstGeom>
        </p:spPr>
      </p:pic>
      <p:pic>
        <p:nvPicPr>
          <p:cNvPr id="4" name="Picture 3">
            <a:extLst>
              <a:ext uri="{FF2B5EF4-FFF2-40B4-BE49-F238E27FC236}">
                <a16:creationId xmlns:a16="http://schemas.microsoft.com/office/drawing/2014/main" id="{A8F82116-1533-3243-BF1C-41ABBC501C6D}"/>
              </a:ext>
            </a:extLst>
          </p:cNvPr>
          <p:cNvPicPr>
            <a:picLocks noChangeAspect="1"/>
          </p:cNvPicPr>
          <p:nvPr/>
        </p:nvPicPr>
        <p:blipFill>
          <a:blip r:embed="rId4"/>
          <a:stretch>
            <a:fillRect/>
          </a:stretch>
        </p:blipFill>
        <p:spPr>
          <a:xfrm>
            <a:off x="3810000" y="2027604"/>
            <a:ext cx="5369859" cy="3687396"/>
          </a:xfrm>
          <a:prstGeom prst="rect">
            <a:avLst/>
          </a:prstGeom>
        </p:spPr>
      </p:pic>
    </p:spTree>
    <p:extLst>
      <p:ext uri="{BB962C8B-B14F-4D97-AF65-F5344CB8AC3E}">
        <p14:creationId xmlns:p14="http://schemas.microsoft.com/office/powerpoint/2010/main" val="215829488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75849C-EE2C-704B-A15B-B2ACF485F213}"/>
              </a:ext>
            </a:extLst>
          </p:cNvPr>
          <p:cNvSpPr txBox="1"/>
          <p:nvPr/>
        </p:nvSpPr>
        <p:spPr>
          <a:xfrm>
            <a:off x="152400" y="5143500"/>
            <a:ext cx="9058955" cy="369332"/>
          </a:xfrm>
          <a:prstGeom prst="rect">
            <a:avLst/>
          </a:prstGeom>
          <a:noFill/>
        </p:spPr>
        <p:txBody>
          <a:bodyPr wrap="none" rtlCol="0">
            <a:spAutoFit/>
          </a:bodyPr>
          <a:lstStyle/>
          <a:p>
            <a:r>
              <a:rPr lang="en-US" sz="1800" dirty="0">
                <a:solidFill>
                  <a:schemeClr val="bg1"/>
                </a:solidFill>
              </a:rPr>
              <a:t>https://</a:t>
            </a:r>
            <a:r>
              <a:rPr lang="en-US" sz="1800" dirty="0" err="1">
                <a:solidFill>
                  <a:schemeClr val="bg1"/>
                </a:solidFill>
              </a:rPr>
              <a:t>www.surf-forecast.com</a:t>
            </a:r>
            <a:r>
              <a:rPr lang="en-US" sz="1800" dirty="0">
                <a:solidFill>
                  <a:schemeClr val="bg1"/>
                </a:solidFill>
              </a:rPr>
              <a:t>/</a:t>
            </a:r>
            <a:r>
              <a:rPr lang="en-US" sz="1800" dirty="0" err="1">
                <a:solidFill>
                  <a:schemeClr val="bg1"/>
                </a:solidFill>
              </a:rPr>
              <a:t>weather_maps</a:t>
            </a:r>
            <a:r>
              <a:rPr lang="en-US" sz="1800" dirty="0">
                <a:solidFill>
                  <a:schemeClr val="bg1"/>
                </a:solidFill>
              </a:rPr>
              <a:t>/</a:t>
            </a:r>
            <a:r>
              <a:rPr lang="en-US" sz="1800" dirty="0" err="1">
                <a:solidFill>
                  <a:schemeClr val="bg1"/>
                </a:solidFill>
              </a:rPr>
              <a:t>United-Kingdom?over</a:t>
            </a:r>
            <a:r>
              <a:rPr lang="en-US" sz="1800" dirty="0">
                <a:solidFill>
                  <a:schemeClr val="bg1"/>
                </a:solidFill>
              </a:rPr>
              <a:t>=</a:t>
            </a:r>
            <a:r>
              <a:rPr lang="en-US" sz="1800" dirty="0" err="1">
                <a:solidFill>
                  <a:schemeClr val="bg1"/>
                </a:solidFill>
              </a:rPr>
              <a:t>none&amp;type</a:t>
            </a:r>
            <a:r>
              <a:rPr lang="en-US" sz="1800" dirty="0">
                <a:solidFill>
                  <a:schemeClr val="bg1"/>
                </a:solidFill>
              </a:rPr>
              <a:t>=</a:t>
            </a:r>
            <a:r>
              <a:rPr lang="en-US" sz="1800" dirty="0" err="1">
                <a:solidFill>
                  <a:schemeClr val="bg1"/>
                </a:solidFill>
              </a:rPr>
              <a:t>htsgw</a:t>
            </a:r>
            <a:endParaRPr lang="en-US" sz="1800" dirty="0">
              <a:solidFill>
                <a:schemeClr val="bg1"/>
              </a:solidFill>
            </a:endParaRPr>
          </a:p>
        </p:txBody>
      </p:sp>
      <p:pic>
        <p:nvPicPr>
          <p:cNvPr id="4" name="Picture 3">
            <a:extLst>
              <a:ext uri="{FF2B5EF4-FFF2-40B4-BE49-F238E27FC236}">
                <a16:creationId xmlns:a16="http://schemas.microsoft.com/office/drawing/2014/main" id="{C13E510D-E017-A248-8052-0AA6BD67CAF1}"/>
              </a:ext>
            </a:extLst>
          </p:cNvPr>
          <p:cNvPicPr>
            <a:picLocks noChangeAspect="1"/>
          </p:cNvPicPr>
          <p:nvPr/>
        </p:nvPicPr>
        <p:blipFill>
          <a:blip r:embed="rId3"/>
          <a:stretch>
            <a:fillRect/>
          </a:stretch>
        </p:blipFill>
        <p:spPr>
          <a:xfrm>
            <a:off x="2286000" y="37204"/>
            <a:ext cx="4477155" cy="5067300"/>
          </a:xfrm>
          <a:prstGeom prst="rect">
            <a:avLst/>
          </a:prstGeom>
        </p:spPr>
      </p:pic>
    </p:spTree>
    <p:extLst>
      <p:ext uri="{BB962C8B-B14F-4D97-AF65-F5344CB8AC3E}">
        <p14:creationId xmlns:p14="http://schemas.microsoft.com/office/powerpoint/2010/main" val="363527521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4800" y="101528"/>
            <a:ext cx="8534400" cy="707886"/>
          </a:xfrm>
          <a:prstGeom prst="rect">
            <a:avLst/>
          </a:prstGeom>
          <a:noFill/>
        </p:spPr>
        <p:txBody>
          <a:bodyPr wrap="square" rtlCol="0">
            <a:spAutoFit/>
          </a:bodyPr>
          <a:lstStyle/>
          <a:p>
            <a:r>
              <a:rPr lang="en-GB" sz="2000" dirty="0">
                <a:solidFill>
                  <a:srgbClr val="FF0000"/>
                </a:solidFill>
              </a:rPr>
              <a:t>The atmosphere has tides, too although relatively small and generated by heating rather than gravitational tidal forces.</a:t>
            </a:r>
          </a:p>
        </p:txBody>
      </p:sp>
      <p:pic>
        <p:nvPicPr>
          <p:cNvPr id="143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2349500"/>
            <a:ext cx="3302000" cy="32354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33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0722" y="889000"/>
            <a:ext cx="5008102" cy="146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1460500" y="848668"/>
            <a:ext cx="4889500" cy="400110"/>
          </a:xfrm>
          <a:prstGeom prst="rect">
            <a:avLst/>
          </a:prstGeom>
          <a:noFill/>
        </p:spPr>
        <p:txBody>
          <a:bodyPr wrap="square" rtlCol="0">
            <a:spAutoFit/>
          </a:bodyPr>
          <a:lstStyle/>
          <a:p>
            <a:r>
              <a:rPr lang="en-GB" sz="1000" dirty="0"/>
              <a:t>Day               0.5                      1                    1.5                    2                     2.5                    3            </a:t>
            </a:r>
          </a:p>
        </p:txBody>
      </p:sp>
      <p:sp>
        <p:nvSpPr>
          <p:cNvPr id="7" name="TextBox 6"/>
          <p:cNvSpPr txBox="1"/>
          <p:nvPr/>
        </p:nvSpPr>
        <p:spPr>
          <a:xfrm>
            <a:off x="5905500" y="1143000"/>
            <a:ext cx="2933700" cy="502573"/>
          </a:xfrm>
          <a:prstGeom prst="rect">
            <a:avLst/>
          </a:prstGeom>
          <a:noFill/>
        </p:spPr>
        <p:txBody>
          <a:bodyPr wrap="square" rtlCol="0">
            <a:spAutoFit/>
          </a:bodyPr>
          <a:lstStyle/>
          <a:p>
            <a:r>
              <a:rPr lang="en-GB" sz="1333" dirty="0"/>
              <a:t>Atmospheric pressure at Ascension Island (8</a:t>
            </a:r>
            <a:r>
              <a:rPr lang="en-GB" sz="1333" dirty="0">
                <a:latin typeface="Arial Unicode MS" panose="020B0604020202020204" pitchFamily="34" charset="-128"/>
                <a:ea typeface="Arial Unicode MS" panose="020B0604020202020204" pitchFamily="34" charset="-128"/>
                <a:cs typeface="Arial Unicode MS" panose="020B0604020202020204" pitchFamily="34" charset="-128"/>
              </a:rPr>
              <a:t>°</a:t>
            </a:r>
            <a:r>
              <a:rPr lang="en-GB" sz="1333" dirty="0"/>
              <a:t>S in the Atlantic)</a:t>
            </a:r>
          </a:p>
        </p:txBody>
      </p:sp>
      <p:sp>
        <p:nvSpPr>
          <p:cNvPr id="10" name="TextBox 9"/>
          <p:cNvSpPr txBox="1"/>
          <p:nvPr/>
        </p:nvSpPr>
        <p:spPr>
          <a:xfrm>
            <a:off x="4521200" y="2819778"/>
            <a:ext cx="4089400" cy="502573"/>
          </a:xfrm>
          <a:prstGeom prst="rect">
            <a:avLst/>
          </a:prstGeom>
          <a:noFill/>
        </p:spPr>
        <p:txBody>
          <a:bodyPr wrap="square" rtlCol="0">
            <a:spAutoFit/>
          </a:bodyPr>
          <a:lstStyle/>
          <a:p>
            <a:r>
              <a:rPr lang="en-GB" sz="1333" dirty="0"/>
              <a:t>Amplitude of the S</a:t>
            </a:r>
            <a:r>
              <a:rPr lang="en-GB" sz="1333" baseline="-25000" dirty="0"/>
              <a:t>2</a:t>
            </a:r>
            <a:r>
              <a:rPr lang="en-GB" sz="1333" dirty="0"/>
              <a:t> (principal solar semidiurnal) atmospheric tide at the surface. 1000 = 1 mbar</a:t>
            </a:r>
          </a:p>
        </p:txBody>
      </p:sp>
      <p:sp>
        <p:nvSpPr>
          <p:cNvPr id="11" name="TextBox 10"/>
          <p:cNvSpPr txBox="1"/>
          <p:nvPr/>
        </p:nvSpPr>
        <p:spPr>
          <a:xfrm>
            <a:off x="4495800" y="4402188"/>
            <a:ext cx="3886200" cy="502573"/>
          </a:xfrm>
          <a:prstGeom prst="rect">
            <a:avLst/>
          </a:prstGeom>
          <a:noFill/>
        </p:spPr>
        <p:txBody>
          <a:bodyPr wrap="square" rtlCol="0">
            <a:spAutoFit/>
          </a:bodyPr>
          <a:lstStyle/>
          <a:p>
            <a:r>
              <a:rPr lang="en-GB" sz="1333" dirty="0"/>
              <a:t>Phase of the S</a:t>
            </a:r>
            <a:r>
              <a:rPr lang="en-GB" sz="1333" baseline="-25000" dirty="0"/>
              <a:t>2</a:t>
            </a:r>
            <a:r>
              <a:rPr lang="en-GB" sz="1333" dirty="0"/>
              <a:t> atmospheric tide at the surface. Propagation is to the west</a:t>
            </a:r>
          </a:p>
        </p:txBody>
      </p:sp>
      <p:sp>
        <p:nvSpPr>
          <p:cNvPr id="8" name="Left Arrow 7"/>
          <p:cNvSpPr/>
          <p:nvPr/>
        </p:nvSpPr>
        <p:spPr>
          <a:xfrm>
            <a:off x="3111500" y="4402188"/>
            <a:ext cx="825500" cy="169813"/>
          </a:xfrm>
          <a:prstGeom prst="leftArrow">
            <a:avLst/>
          </a:prstGeom>
          <a:solidFill>
            <a:schemeClr val="accent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2" name="TextBox 1">
            <a:extLst>
              <a:ext uri="{FF2B5EF4-FFF2-40B4-BE49-F238E27FC236}">
                <a16:creationId xmlns:a16="http://schemas.microsoft.com/office/drawing/2014/main" id="{87302674-0454-8A48-B712-4EA72FBA25C8}"/>
              </a:ext>
            </a:extLst>
          </p:cNvPr>
          <p:cNvSpPr txBox="1"/>
          <p:nvPr/>
        </p:nvSpPr>
        <p:spPr>
          <a:xfrm>
            <a:off x="5360972" y="5407223"/>
            <a:ext cx="3786614" cy="307777"/>
          </a:xfrm>
          <a:prstGeom prst="rect">
            <a:avLst/>
          </a:prstGeom>
          <a:noFill/>
        </p:spPr>
        <p:txBody>
          <a:bodyPr wrap="none" rtlCol="0">
            <a:spAutoFit/>
          </a:bodyPr>
          <a:lstStyle/>
          <a:p>
            <a:r>
              <a:rPr lang="en-US" sz="1400" dirty="0"/>
              <a:t>(Courtesy of Chris Hughes, </a:t>
            </a:r>
            <a:r>
              <a:rPr lang="en-US" sz="1400" dirty="0" err="1"/>
              <a:t>Univ</a:t>
            </a:r>
            <a:r>
              <a:rPr lang="en-US" sz="1400" dirty="0"/>
              <a:t> of Liverpool)</a:t>
            </a:r>
          </a:p>
        </p:txBody>
      </p:sp>
    </p:spTree>
    <p:extLst>
      <p:ext uri="{BB962C8B-B14F-4D97-AF65-F5344CB8AC3E}">
        <p14:creationId xmlns:p14="http://schemas.microsoft.com/office/powerpoint/2010/main" val="239970279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4800" y="169232"/>
            <a:ext cx="8534400" cy="400110"/>
          </a:xfrm>
          <a:prstGeom prst="rect">
            <a:avLst/>
          </a:prstGeom>
          <a:noFill/>
        </p:spPr>
        <p:txBody>
          <a:bodyPr wrap="square" rtlCol="0">
            <a:spAutoFit/>
          </a:bodyPr>
          <a:lstStyle/>
          <a:p>
            <a:r>
              <a:rPr lang="en-GB" sz="2000" dirty="0">
                <a:solidFill>
                  <a:srgbClr val="FF0000"/>
                </a:solidFill>
              </a:rPr>
              <a:t>The atmospheric tide varies across the globe.</a:t>
            </a:r>
          </a:p>
        </p:txBody>
      </p:sp>
      <p:sp>
        <p:nvSpPr>
          <p:cNvPr id="2" name="TextBox 1">
            <a:extLst>
              <a:ext uri="{FF2B5EF4-FFF2-40B4-BE49-F238E27FC236}">
                <a16:creationId xmlns:a16="http://schemas.microsoft.com/office/drawing/2014/main" id="{87302674-0454-8A48-B712-4EA72FBA25C8}"/>
              </a:ext>
            </a:extLst>
          </p:cNvPr>
          <p:cNvSpPr txBox="1"/>
          <p:nvPr/>
        </p:nvSpPr>
        <p:spPr>
          <a:xfrm>
            <a:off x="3849048" y="5407223"/>
            <a:ext cx="5325432" cy="307777"/>
          </a:xfrm>
          <a:prstGeom prst="rect">
            <a:avLst/>
          </a:prstGeom>
          <a:noFill/>
        </p:spPr>
        <p:txBody>
          <a:bodyPr wrap="none" rtlCol="0">
            <a:spAutoFit/>
          </a:bodyPr>
          <a:lstStyle/>
          <a:p>
            <a:r>
              <a:rPr lang="en-US" sz="1400" dirty="0"/>
              <a:t>(Mass, </a:t>
            </a:r>
            <a:r>
              <a:rPr lang="en-US" sz="1400" dirty="0" err="1"/>
              <a:t>Steenburgh</a:t>
            </a:r>
            <a:r>
              <a:rPr lang="en-US" sz="1400" dirty="0"/>
              <a:t>, and Schultz 1991, </a:t>
            </a:r>
            <a:r>
              <a:rPr lang="en-US" sz="1400" i="1" dirty="0"/>
              <a:t>Monthly Weather Review</a:t>
            </a:r>
            <a:r>
              <a:rPr lang="en-US" sz="1400" dirty="0"/>
              <a:t>)</a:t>
            </a:r>
          </a:p>
        </p:txBody>
      </p:sp>
      <p:pic>
        <p:nvPicPr>
          <p:cNvPr id="5" name="Picture 4">
            <a:extLst>
              <a:ext uri="{FF2B5EF4-FFF2-40B4-BE49-F238E27FC236}">
                <a16:creationId xmlns:a16="http://schemas.microsoft.com/office/drawing/2014/main" id="{39CBBEC3-AC1B-0246-9A77-1D43F5561C86}"/>
              </a:ext>
            </a:extLst>
          </p:cNvPr>
          <p:cNvPicPr>
            <a:picLocks noChangeAspect="1"/>
          </p:cNvPicPr>
          <p:nvPr/>
        </p:nvPicPr>
        <p:blipFill>
          <a:blip r:embed="rId3"/>
          <a:stretch>
            <a:fillRect/>
          </a:stretch>
        </p:blipFill>
        <p:spPr>
          <a:xfrm>
            <a:off x="228600" y="800099"/>
            <a:ext cx="6230586" cy="4607123"/>
          </a:xfrm>
          <a:prstGeom prst="rect">
            <a:avLst/>
          </a:prstGeom>
        </p:spPr>
      </p:pic>
      <p:sp>
        <p:nvSpPr>
          <p:cNvPr id="9" name="TextBox 8">
            <a:extLst>
              <a:ext uri="{FF2B5EF4-FFF2-40B4-BE49-F238E27FC236}">
                <a16:creationId xmlns:a16="http://schemas.microsoft.com/office/drawing/2014/main" id="{8013CA66-636D-6D4D-8E36-7277C8D389C5}"/>
              </a:ext>
            </a:extLst>
          </p:cNvPr>
          <p:cNvSpPr txBox="1"/>
          <p:nvPr/>
        </p:nvSpPr>
        <p:spPr>
          <a:xfrm>
            <a:off x="7356757" y="4145414"/>
            <a:ext cx="1482443" cy="830997"/>
          </a:xfrm>
          <a:prstGeom prst="rect">
            <a:avLst/>
          </a:prstGeom>
          <a:noFill/>
        </p:spPr>
        <p:txBody>
          <a:bodyPr wrap="square" rtlCol="0">
            <a:spAutoFit/>
          </a:bodyPr>
          <a:lstStyle/>
          <a:p>
            <a:r>
              <a:rPr lang="en-US" dirty="0"/>
              <a:t>average tides</a:t>
            </a:r>
          </a:p>
        </p:txBody>
      </p:sp>
      <p:pic>
        <p:nvPicPr>
          <p:cNvPr id="14" name="Picture 13">
            <a:extLst>
              <a:ext uri="{FF2B5EF4-FFF2-40B4-BE49-F238E27FC236}">
                <a16:creationId xmlns:a16="http://schemas.microsoft.com/office/drawing/2014/main" id="{02652E42-5F97-9442-988A-2AECB4BCEAE5}"/>
              </a:ext>
            </a:extLst>
          </p:cNvPr>
          <p:cNvPicPr>
            <a:picLocks noChangeAspect="1"/>
          </p:cNvPicPr>
          <p:nvPr/>
        </p:nvPicPr>
        <p:blipFill>
          <a:blip r:embed="rId4"/>
          <a:stretch>
            <a:fillRect/>
          </a:stretch>
        </p:blipFill>
        <p:spPr>
          <a:xfrm>
            <a:off x="6438004" y="240726"/>
            <a:ext cx="2705100" cy="2082800"/>
          </a:xfrm>
          <a:prstGeom prst="rect">
            <a:avLst/>
          </a:prstGeom>
        </p:spPr>
      </p:pic>
    </p:spTree>
    <p:extLst>
      <p:ext uri="{BB962C8B-B14F-4D97-AF65-F5344CB8AC3E}">
        <p14:creationId xmlns:p14="http://schemas.microsoft.com/office/powerpoint/2010/main" val="369416108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sp>
        <p:nvSpPr>
          <p:cNvPr id="140290" name="Title 1">
            <a:extLst>
              <a:ext uri="{FF2B5EF4-FFF2-40B4-BE49-F238E27FC236}">
                <a16:creationId xmlns:a16="http://schemas.microsoft.com/office/drawing/2014/main" id="{8C4BF5D5-6013-7643-BB6E-23B662AA551B}"/>
              </a:ext>
            </a:extLst>
          </p:cNvPr>
          <p:cNvSpPr>
            <a:spLocks noGrp="1" noChangeArrowheads="1"/>
          </p:cNvSpPr>
          <p:nvPr>
            <p:ph type="title"/>
          </p:nvPr>
        </p:nvSpPr>
        <p:spPr>
          <a:xfrm>
            <a:off x="447207" y="0"/>
            <a:ext cx="8229600" cy="952500"/>
          </a:xfrm>
        </p:spPr>
        <p:txBody>
          <a:bodyPr/>
          <a:lstStyle/>
          <a:p>
            <a:r>
              <a:rPr lang="en-US" altLang="en-US" dirty="0">
                <a:solidFill>
                  <a:srgbClr val="FFFF00"/>
                </a:solidFill>
                <a:ea typeface="ＭＳ Ｐゴシック" panose="020B0600070205080204" pitchFamily="34" charset="-128"/>
              </a:rPr>
              <a:t>For Week </a:t>
            </a:r>
            <a:r>
              <a:rPr lang="en-US" altLang="en-US">
                <a:solidFill>
                  <a:srgbClr val="FFFF00"/>
                </a:solidFill>
                <a:ea typeface="ＭＳ Ｐゴシック" panose="020B0600070205080204" pitchFamily="34" charset="-128"/>
              </a:rPr>
              <a:t>8 (17 March ☘️)...</a:t>
            </a:r>
            <a:endParaRPr lang="en-US" altLang="en-US" dirty="0">
              <a:solidFill>
                <a:srgbClr val="FFFF00"/>
              </a:solidFill>
              <a:ea typeface="ＭＳ Ｐゴシック" panose="020B0600070205080204" pitchFamily="34" charset="-128"/>
            </a:endParaRPr>
          </a:p>
        </p:txBody>
      </p:sp>
      <p:sp>
        <p:nvSpPr>
          <p:cNvPr id="30722" name="Content Placeholder 2">
            <a:extLst>
              <a:ext uri="{FF2B5EF4-FFF2-40B4-BE49-F238E27FC236}">
                <a16:creationId xmlns:a16="http://schemas.microsoft.com/office/drawing/2014/main" id="{99B0D072-17FC-F540-8EE6-199FD232EB57}"/>
              </a:ext>
            </a:extLst>
          </p:cNvPr>
          <p:cNvSpPr>
            <a:spLocks noGrp="1" noChangeArrowheads="1"/>
          </p:cNvSpPr>
          <p:nvPr>
            <p:ph idx="1"/>
          </p:nvPr>
        </p:nvSpPr>
        <p:spPr>
          <a:xfrm>
            <a:off x="447207" y="1028700"/>
            <a:ext cx="8229600" cy="3771900"/>
          </a:xfrm>
        </p:spPr>
        <p:txBody>
          <a:bodyPr/>
          <a:lstStyle/>
          <a:p>
            <a:pPr>
              <a:buFontTx/>
              <a:buNone/>
              <a:defRPr/>
            </a:pPr>
            <a:r>
              <a:rPr lang="en-US" sz="2000" b="1" dirty="0">
                <a:solidFill>
                  <a:srgbClr val="FFFF00"/>
                </a:solidFill>
                <a:effectLst>
                  <a:outerShdw blurRad="50800" dist="38100" dir="2700000" algn="tl" rotWithShape="0">
                    <a:prstClr val="black">
                      <a:alpha val="40000"/>
                    </a:prstClr>
                  </a:outerShdw>
                </a:effectLst>
              </a:rPr>
              <a:t>Required Videos to Watch:</a:t>
            </a:r>
          </a:p>
          <a:p>
            <a:pPr>
              <a:buFontTx/>
              <a:buNone/>
              <a:defRPr/>
            </a:pPr>
            <a:r>
              <a:rPr lang="en-US" sz="2000" dirty="0">
                <a:solidFill>
                  <a:schemeClr val="bg1"/>
                </a:solidFill>
                <a:effectLst>
                  <a:outerShdw blurRad="50800" dist="38100" dir="2700000" algn="tl" rotWithShape="0">
                    <a:prstClr val="black">
                      <a:alpha val="40000"/>
                    </a:prstClr>
                  </a:outerShdw>
                </a:effectLst>
              </a:rPr>
              <a:t>The Cryosphere: The Rise and Fall of Ice on Earth</a:t>
            </a:r>
          </a:p>
          <a:p>
            <a:pPr>
              <a:buFontTx/>
              <a:buNone/>
              <a:defRPr/>
            </a:pPr>
            <a:r>
              <a:rPr lang="en-US" sz="2000" dirty="0">
                <a:solidFill>
                  <a:schemeClr val="bg1"/>
                </a:solidFill>
                <a:effectLst>
                  <a:outerShdw blurRad="50800" dist="38100" dir="2700000" algn="tl" rotWithShape="0">
                    <a:prstClr val="black">
                      <a:alpha val="40000"/>
                    </a:prstClr>
                  </a:outerShdw>
                </a:effectLst>
              </a:rPr>
              <a:t>Arctic Climate Change</a:t>
            </a:r>
          </a:p>
          <a:p>
            <a:pPr>
              <a:buFontTx/>
              <a:buNone/>
              <a:defRPr/>
            </a:pPr>
            <a:r>
              <a:rPr lang="en-US" sz="2000" dirty="0">
                <a:solidFill>
                  <a:schemeClr val="bg1"/>
                </a:solidFill>
                <a:effectLst>
                  <a:outerShdw blurRad="50800" dist="38100" dir="2700000" algn="tl" rotWithShape="0">
                    <a:prstClr val="black">
                      <a:alpha val="40000"/>
                    </a:prstClr>
                  </a:outerShdw>
                </a:effectLst>
              </a:rPr>
              <a:t>BYOE Video 1: Introduction</a:t>
            </a:r>
          </a:p>
          <a:p>
            <a:pPr>
              <a:buNone/>
              <a:defRPr/>
            </a:pPr>
            <a:r>
              <a:rPr lang="en-US" sz="2000" dirty="0">
                <a:solidFill>
                  <a:schemeClr val="bg1"/>
                </a:solidFill>
                <a:effectLst>
                  <a:outerShdw blurRad="50800" dist="38100" dir="2700000" algn="tl" rotWithShape="0">
                    <a:prstClr val="black">
                      <a:alpha val="40000"/>
                    </a:prstClr>
                  </a:outerShdw>
                </a:effectLst>
              </a:rPr>
              <a:t>BYOE Video 2: Walkthrough 1</a:t>
            </a:r>
          </a:p>
          <a:p>
            <a:pPr>
              <a:buNone/>
              <a:defRPr/>
            </a:pPr>
            <a:r>
              <a:rPr lang="en-US" sz="2000" dirty="0">
                <a:solidFill>
                  <a:schemeClr val="bg1"/>
                </a:solidFill>
                <a:effectLst>
                  <a:outerShdw blurRad="50800" dist="38100" dir="2700000" algn="tl" rotWithShape="0">
                    <a:prstClr val="black">
                      <a:alpha val="40000"/>
                    </a:prstClr>
                  </a:outerShdw>
                </a:effectLst>
              </a:rPr>
              <a:t>BYOE Video 1: Walkthrough 2</a:t>
            </a:r>
          </a:p>
          <a:p>
            <a:pPr>
              <a:buNone/>
              <a:defRPr/>
            </a:pPr>
            <a:r>
              <a:rPr lang="en-US" sz="2000" dirty="0">
                <a:solidFill>
                  <a:schemeClr val="bg1"/>
                </a:solidFill>
                <a:effectLst>
                  <a:outerShdw blurRad="50800" dist="38100" dir="2700000" algn="tl" rotWithShape="0">
                    <a:prstClr val="black">
                      <a:alpha val="40000"/>
                    </a:prstClr>
                  </a:outerShdw>
                </a:effectLst>
              </a:rPr>
              <a:t>BYOE Video 1: Earth’s Past Climates</a:t>
            </a:r>
          </a:p>
          <a:p>
            <a:pPr>
              <a:buNone/>
              <a:defRPr/>
            </a:pPr>
            <a:endParaRPr lang="en-US" sz="2000" dirty="0">
              <a:solidFill>
                <a:schemeClr val="bg1"/>
              </a:solidFill>
              <a:effectLst>
                <a:outerShdw blurRad="50800" dist="38100" dir="2700000" algn="tl" rotWithShape="0">
                  <a:prstClr val="black">
                    <a:alpha val="40000"/>
                  </a:prstClr>
                </a:outerShdw>
              </a:effectLst>
            </a:endParaRPr>
          </a:p>
          <a:p>
            <a:pPr>
              <a:buNone/>
              <a:defRPr/>
            </a:pPr>
            <a:r>
              <a:rPr lang="en-US" sz="2000" b="1" dirty="0">
                <a:solidFill>
                  <a:srgbClr val="FFFF00"/>
                </a:solidFill>
                <a:effectLst>
                  <a:outerShdw blurRad="50800" dist="38100" dir="2700000" algn="tl" rotWithShape="0">
                    <a:prstClr val="black">
                      <a:alpha val="40000"/>
                    </a:prstClr>
                  </a:outerShdw>
                </a:effectLst>
              </a:rPr>
              <a:t>Required Reading:</a:t>
            </a:r>
          </a:p>
          <a:p>
            <a:pPr>
              <a:buNone/>
              <a:defRPr/>
            </a:pPr>
            <a:r>
              <a:rPr lang="en-US" sz="2000" dirty="0">
                <a:solidFill>
                  <a:schemeClr val="bg1"/>
                </a:solidFill>
                <a:effectLst>
                  <a:outerShdw blurRad="50800" dist="38100" dir="2700000" algn="tl" rotWithShape="0">
                    <a:prstClr val="black">
                      <a:alpha val="40000"/>
                    </a:prstClr>
                  </a:outerShdw>
                </a:effectLst>
              </a:rPr>
              <a:t>Lear et al. (2020): “What the geological record tells us about our present and future </a:t>
            </a:r>
            <a:r>
              <a:rPr lang="en-US" sz="2000">
                <a:solidFill>
                  <a:schemeClr val="bg1"/>
                </a:solidFill>
                <a:effectLst>
                  <a:outerShdw blurRad="50800" dist="38100" dir="2700000" algn="tl" rotWithShape="0">
                    <a:prstClr val="black">
                      <a:alpha val="40000"/>
                    </a:prstClr>
                  </a:outerShdw>
                </a:effectLst>
              </a:rPr>
              <a:t>climate”</a:t>
            </a:r>
            <a:endParaRPr lang="en-US" sz="2000" dirty="0">
              <a:solidFill>
                <a:schemeClr val="bg1"/>
              </a:solidFill>
              <a:effectLst>
                <a:outerShdw blurRad="50800" dist="38100" dir="2700000" algn="tl" rotWithShape="0">
                  <a:prstClr val="black">
                    <a:alpha val="40000"/>
                  </a:prstClr>
                </a:outerShdw>
              </a:effectLst>
            </a:endParaRPr>
          </a:p>
        </p:txBody>
      </p:sp>
    </p:spTree>
    <p:extLst>
      <p:ext uri="{BB962C8B-B14F-4D97-AF65-F5344CB8AC3E}">
        <p14:creationId xmlns:p14="http://schemas.microsoft.com/office/powerpoint/2010/main" val="849761967"/>
      </p:ext>
    </p:extLst>
  </p:cSld>
  <p:clrMapOvr>
    <a:masterClrMapping/>
  </p:clrMapOvr>
  <p:transition spd="slow"/>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51126E"/>
        </a:solidFill>
        <a:effectLst/>
      </p:bgPr>
    </p:bg>
    <p:spTree>
      <p:nvGrpSpPr>
        <p:cNvPr id="1" name=""/>
        <p:cNvGrpSpPr/>
        <p:nvPr/>
      </p:nvGrpSpPr>
      <p:grpSpPr>
        <a:xfrm>
          <a:off x="0" y="0"/>
          <a:ext cx="0" cy="0"/>
          <a:chOff x="0" y="0"/>
          <a:chExt cx="0" cy="0"/>
        </a:xfrm>
      </p:grpSpPr>
      <p:sp>
        <p:nvSpPr>
          <p:cNvPr id="140290" name="Title 1">
            <a:extLst>
              <a:ext uri="{FF2B5EF4-FFF2-40B4-BE49-F238E27FC236}">
                <a16:creationId xmlns:a16="http://schemas.microsoft.com/office/drawing/2014/main" id="{8C4BF5D5-6013-7643-BB6E-23B662AA551B}"/>
              </a:ext>
            </a:extLst>
          </p:cNvPr>
          <p:cNvSpPr>
            <a:spLocks noGrp="1" noChangeArrowheads="1"/>
          </p:cNvSpPr>
          <p:nvPr>
            <p:ph type="title"/>
          </p:nvPr>
        </p:nvSpPr>
        <p:spPr/>
        <p:txBody>
          <a:bodyPr/>
          <a:lstStyle/>
          <a:p>
            <a:r>
              <a:rPr lang="en-US" altLang="en-US">
                <a:solidFill>
                  <a:srgbClr val="FFFF00"/>
                </a:solidFill>
                <a:ea typeface="ＭＳ Ｐゴシック" panose="020B0600070205080204" pitchFamily="34" charset="-128"/>
              </a:rPr>
              <a:t>Reading Around the Topic</a:t>
            </a:r>
          </a:p>
        </p:txBody>
      </p:sp>
      <p:sp>
        <p:nvSpPr>
          <p:cNvPr id="30722" name="Content Placeholder 2">
            <a:extLst>
              <a:ext uri="{FF2B5EF4-FFF2-40B4-BE49-F238E27FC236}">
                <a16:creationId xmlns:a16="http://schemas.microsoft.com/office/drawing/2014/main" id="{99B0D072-17FC-F540-8EE6-199FD232EB57}"/>
              </a:ext>
            </a:extLst>
          </p:cNvPr>
          <p:cNvSpPr>
            <a:spLocks noGrp="1" noChangeArrowheads="1"/>
          </p:cNvSpPr>
          <p:nvPr>
            <p:ph idx="1"/>
          </p:nvPr>
        </p:nvSpPr>
        <p:spPr/>
        <p:txBody>
          <a:bodyPr/>
          <a:lstStyle/>
          <a:p>
            <a:pPr marL="0" indent="0">
              <a:buFontTx/>
              <a:buNone/>
              <a:defRPr/>
            </a:pPr>
            <a:endParaRPr lang="en-US" altLang="en-US" sz="2333" dirty="0">
              <a:solidFill>
                <a:schemeClr val="bg1"/>
              </a:solidFill>
              <a:ea typeface="ＭＳ Ｐゴシック" panose="020B0600070205080204" pitchFamily="34" charset="-128"/>
              <a:cs typeface="ＭＳ Ｐゴシック" panose="020B0600070205080204" pitchFamily="34" charset="-128"/>
            </a:endParaRPr>
          </a:p>
          <a:p>
            <a:pPr marL="0" indent="0">
              <a:buFontTx/>
              <a:buNone/>
              <a:defRPr/>
            </a:pPr>
            <a:r>
              <a:rPr lang="en-US" altLang="en-US" sz="2333" dirty="0">
                <a:solidFill>
                  <a:schemeClr val="bg1"/>
                </a:solidFill>
                <a:ea typeface="ＭＳ Ｐゴシック" panose="020B0600070205080204" pitchFamily="34" charset="-128"/>
                <a:cs typeface="ＭＳ Ｐゴシック" panose="020B0600070205080204" pitchFamily="34" charset="-128"/>
              </a:rPr>
              <a:t>How Do Climate Models Work? (</a:t>
            </a:r>
            <a:r>
              <a:rPr lang="en-US" altLang="en-US" sz="2333" dirty="0" err="1">
                <a:solidFill>
                  <a:schemeClr val="bg1"/>
                </a:solidFill>
                <a:ea typeface="ＭＳ Ｐゴシック" panose="020B0600070205080204" pitchFamily="34" charset="-128"/>
                <a:cs typeface="ＭＳ Ｐゴシック" panose="020B0600070205080204" pitchFamily="34" charset="-128"/>
              </a:rPr>
              <a:t>CarbonBrief.org</a:t>
            </a:r>
            <a:r>
              <a:rPr lang="en-US" altLang="en-US" sz="2333" dirty="0">
                <a:solidFill>
                  <a:schemeClr val="bg1"/>
                </a:solidFill>
                <a:ea typeface="ＭＳ Ｐゴシック" panose="020B0600070205080204" pitchFamily="34" charset="-128"/>
                <a:cs typeface="ＭＳ Ｐゴシック" panose="020B0600070205080204" pitchFamily="34" charset="-128"/>
              </a:rPr>
              <a:t>)</a:t>
            </a:r>
          </a:p>
          <a:p>
            <a:pPr marL="0" indent="0">
              <a:buFontTx/>
              <a:buNone/>
              <a:defRPr/>
            </a:pPr>
            <a:endParaRPr lang="en-US" altLang="en-US" sz="2333" dirty="0">
              <a:solidFill>
                <a:schemeClr val="bg1"/>
              </a:solidFill>
              <a:ea typeface="ＭＳ Ｐゴシック" panose="020B0600070205080204" pitchFamily="34" charset="-128"/>
              <a:cs typeface="ＭＳ Ｐゴシック" panose="020B0600070205080204" pitchFamily="34" charset="-128"/>
            </a:endParaRPr>
          </a:p>
        </p:txBody>
      </p:sp>
    </p:spTree>
    <p:extLst>
      <p:ext uri="{BB962C8B-B14F-4D97-AF65-F5344CB8AC3E}">
        <p14:creationId xmlns:p14="http://schemas.microsoft.com/office/powerpoint/2010/main" val="2278089612"/>
      </p:ext>
    </p:extLst>
  </p:cSld>
  <p:clrMapOvr>
    <a:masterClrMapping/>
  </p:clrMapOvr>
  <p:transition spd="slow"/>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C35A118-1044-B747-A624-85CF617BADB9}"/>
              </a:ext>
            </a:extLst>
          </p:cNvPr>
          <p:cNvSpPr>
            <a:spLocks noChangeArrowheads="1"/>
          </p:cNvSpPr>
          <p:nvPr/>
        </p:nvSpPr>
        <p:spPr bwMode="auto">
          <a:xfrm>
            <a:off x="1079500" y="825500"/>
            <a:ext cx="6794500" cy="2413000"/>
          </a:xfrm>
          <a:prstGeom prst="rect">
            <a:avLst/>
          </a:prstGeom>
          <a:noFill/>
          <a:ln>
            <a:noFill/>
          </a:ln>
          <a:effectLst>
            <a:outerShdw blurRad="40000" dist="23000" dir="5400000" rotWithShape="0">
              <a:srgbClr val="808080">
                <a:alpha val="34999"/>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defRPr/>
            </a:pPr>
            <a:r>
              <a:rPr lang="en-US" altLang="en-US" sz="3667" b="1">
                <a:solidFill>
                  <a:srgbClr val="FFFFFF"/>
                </a:solidFill>
                <a:effectLst>
                  <a:outerShdw blurRad="38100" dist="38100" dir="2700000" algn="tl">
                    <a:srgbClr val="000000"/>
                  </a:outerShdw>
                </a:effectLst>
                <a:latin typeface="Goudy Old Style" panose="02020502050305020303" pitchFamily="18" charset="77"/>
                <a:ea typeface="Arial" panose="020B0604020202020204" pitchFamily="34" charset="0"/>
              </a:rPr>
              <a:t>On your computer’s or phone’s web browser, go to </a:t>
            </a:r>
          </a:p>
          <a:p>
            <a:pPr algn="ctr" eaLnBrk="1" hangingPunct="1">
              <a:defRPr/>
            </a:pPr>
            <a:endParaRPr lang="en-US" altLang="en-US" sz="3667" b="1">
              <a:solidFill>
                <a:srgbClr val="FFFFFF"/>
              </a:solidFill>
              <a:effectLst>
                <a:outerShdw blurRad="38100" dist="38100" dir="2700000" algn="tl">
                  <a:srgbClr val="000000"/>
                </a:outerShdw>
              </a:effectLst>
              <a:latin typeface="Goudy Old Style" panose="02020502050305020303" pitchFamily="18" charset="77"/>
              <a:ea typeface="Arial" panose="020B0604020202020204" pitchFamily="34" charset="0"/>
            </a:endParaRPr>
          </a:p>
          <a:p>
            <a:pPr algn="ctr" eaLnBrk="1" hangingPunct="1">
              <a:defRPr/>
            </a:pPr>
            <a:r>
              <a:rPr lang="en-US" altLang="en-US" sz="6000" b="1">
                <a:solidFill>
                  <a:srgbClr val="E9FE00"/>
                </a:solidFill>
                <a:effectLst>
                  <a:outerShdw blurRad="38100" dist="38100" dir="2700000" algn="tl">
                    <a:srgbClr val="000000"/>
                  </a:outerShdw>
                </a:effectLst>
                <a:latin typeface="Goudy Old Style" panose="02020502050305020303" pitchFamily="18" charset="77"/>
                <a:ea typeface="Arial" panose="020B0604020202020204" pitchFamily="34" charset="0"/>
              </a:rPr>
              <a:t>kahoot.it</a:t>
            </a:r>
          </a:p>
        </p:txBody>
      </p:sp>
      <p:sp>
        <p:nvSpPr>
          <p:cNvPr id="37891" name="TextBox 1">
            <a:extLst>
              <a:ext uri="{FF2B5EF4-FFF2-40B4-BE49-F238E27FC236}">
                <a16:creationId xmlns:a16="http://schemas.microsoft.com/office/drawing/2014/main" id="{3E2A5460-C734-7547-B4F9-7E73EDB5A7CB}"/>
              </a:ext>
            </a:extLst>
          </p:cNvPr>
          <p:cNvSpPr txBox="1">
            <a:spLocks noChangeArrowheads="1"/>
          </p:cNvSpPr>
          <p:nvPr/>
        </p:nvSpPr>
        <p:spPr bwMode="auto">
          <a:xfrm>
            <a:off x="1479550" y="4197350"/>
            <a:ext cx="184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0413">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defTabSz="760413">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defTabSz="760413">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760413">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760413">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760413"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760413"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760413"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760413"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endParaRPr lang="en-US" altLang="en-US" sz="2000">
              <a:solidFill>
                <a:srgbClr val="000000"/>
              </a:solidFill>
              <a:cs typeface="Arial" panose="020B0604020202020204" pitchFamily="34" charset="0"/>
            </a:endParaRPr>
          </a:p>
        </p:txBody>
      </p:sp>
      <p:sp>
        <p:nvSpPr>
          <p:cNvPr id="118788" name="Rectangle 4">
            <a:extLst>
              <a:ext uri="{FF2B5EF4-FFF2-40B4-BE49-F238E27FC236}">
                <a16:creationId xmlns:a16="http://schemas.microsoft.com/office/drawing/2014/main" id="{08045F53-1F48-9F40-9B81-6C5AE465975D}"/>
              </a:ext>
            </a:extLst>
          </p:cNvPr>
          <p:cNvSpPr>
            <a:spLocks noChangeArrowheads="1"/>
          </p:cNvSpPr>
          <p:nvPr/>
        </p:nvSpPr>
        <p:spPr bwMode="auto">
          <a:xfrm>
            <a:off x="1397000" y="4318000"/>
            <a:ext cx="6540500" cy="1477963"/>
          </a:xfrm>
          <a:prstGeom prst="rect">
            <a:avLst/>
          </a:prstGeom>
          <a:noFill/>
          <a:ln>
            <a:noFill/>
          </a:ln>
          <a:extLst>
            <a:ext uri="{909E8E84-426E-40dd-AFC4-6F175D3DCCD1}"/>
            <a:ext uri="{91240B29-F687-4f45-9708-019B960494DF}"/>
          </a:extLst>
        </p:spPr>
        <p:txBody>
          <a:bodyPr>
            <a:spAutoFit/>
          </a:bodyPr>
          <a:lstStyle/>
          <a:p>
            <a:pPr algn="ctr">
              <a:defRPr/>
            </a:pPr>
            <a:r>
              <a:rPr lang="en-US" sz="3000" b="1" dirty="0">
                <a:solidFill>
                  <a:srgbClr val="FFFFFF"/>
                </a:solidFill>
                <a:effectLst>
                  <a:outerShdw blurRad="50800" dist="38100" dir="2700000" algn="tl" rotWithShape="0">
                    <a:prstClr val="black">
                      <a:alpha val="40000"/>
                    </a:prstClr>
                  </a:outerShdw>
                </a:effectLst>
                <a:latin typeface="Goudy Old Style" charset="0"/>
                <a:ea typeface="ＭＳ Ｐゴシック" charset="0"/>
                <a:cs typeface="Goudy Old Style" charset="0"/>
              </a:rPr>
              <a:t>You can download the </a:t>
            </a:r>
            <a:r>
              <a:rPr lang="en-US" sz="3000" b="1" dirty="0" err="1">
                <a:solidFill>
                  <a:srgbClr val="FFFF00"/>
                </a:solidFill>
                <a:effectLst>
                  <a:outerShdw blurRad="50800" dist="38100" dir="2700000" algn="tl" rotWithShape="0">
                    <a:prstClr val="black">
                      <a:alpha val="40000"/>
                    </a:prstClr>
                  </a:outerShdw>
                </a:effectLst>
                <a:latin typeface="Goudy Old Style" charset="0"/>
                <a:ea typeface="ＭＳ Ｐゴシック" charset="0"/>
                <a:cs typeface="Goudy Old Style" charset="0"/>
              </a:rPr>
              <a:t>kahoot</a:t>
            </a:r>
            <a:r>
              <a:rPr lang="en-US" sz="3000" b="1" dirty="0">
                <a:solidFill>
                  <a:srgbClr val="FFFF00"/>
                </a:solidFill>
                <a:effectLst>
                  <a:outerShdw blurRad="50800" dist="38100" dir="2700000" algn="tl" rotWithShape="0">
                    <a:prstClr val="black">
                      <a:alpha val="40000"/>
                    </a:prstClr>
                  </a:outerShdw>
                </a:effectLst>
                <a:latin typeface="Goudy Old Style" charset="0"/>
                <a:ea typeface="ＭＳ Ｐゴシック" charset="0"/>
                <a:cs typeface="Goudy Old Style" charset="0"/>
              </a:rPr>
              <a:t> app</a:t>
            </a:r>
            <a:r>
              <a:rPr lang="en-US" sz="3000" b="1" dirty="0">
                <a:solidFill>
                  <a:srgbClr val="FFFFFF"/>
                </a:solidFill>
                <a:effectLst>
                  <a:outerShdw blurRad="50800" dist="38100" dir="2700000" algn="tl" rotWithShape="0">
                    <a:prstClr val="black">
                      <a:alpha val="40000"/>
                    </a:prstClr>
                  </a:outerShdw>
                </a:effectLst>
                <a:latin typeface="Goudy Old Style" charset="0"/>
                <a:ea typeface="ＭＳ Ｐゴシック" charset="0"/>
                <a:cs typeface="Goudy Old Style" charset="0"/>
              </a:rPr>
              <a:t> or </a:t>
            </a:r>
            <a:r>
              <a:rPr lang="en-US" sz="3000" b="1" dirty="0">
                <a:solidFill>
                  <a:srgbClr val="FFFF00"/>
                </a:solidFill>
                <a:effectLst>
                  <a:outerShdw blurRad="50800" dist="38100" dir="2700000" algn="tl" rotWithShape="0">
                    <a:prstClr val="black">
                      <a:alpha val="40000"/>
                    </a:prstClr>
                  </a:outerShdw>
                </a:effectLst>
                <a:latin typeface="Goudy Old Style" charset="0"/>
                <a:ea typeface="ＭＳ Ｐゴシック" charset="0"/>
                <a:cs typeface="Goudy Old Style" charset="0"/>
              </a:rPr>
              <a:t>bookmark </a:t>
            </a:r>
            <a:r>
              <a:rPr lang="en-US" sz="3000" b="1" dirty="0">
                <a:solidFill>
                  <a:srgbClr val="FFFFFF"/>
                </a:solidFill>
                <a:effectLst>
                  <a:outerShdw blurRad="50800" dist="38100" dir="2700000" algn="tl" rotWithShape="0">
                    <a:prstClr val="black">
                      <a:alpha val="40000"/>
                    </a:prstClr>
                  </a:outerShdw>
                </a:effectLst>
                <a:latin typeface="Goudy Old Style" charset="0"/>
                <a:ea typeface="ＭＳ Ｐゴシック" charset="0"/>
                <a:cs typeface="Goudy Old Style" charset="0"/>
              </a:rPr>
              <a:t>the website for future lectures.</a:t>
            </a:r>
            <a:endParaRPr lang="en-US" sz="5000" b="1" dirty="0">
              <a:solidFill>
                <a:srgbClr val="FFFFFF"/>
              </a:solidFill>
              <a:effectLst>
                <a:outerShdw blurRad="50800" dist="38100" dir="2700000" algn="tl" rotWithShape="0">
                  <a:prstClr val="black">
                    <a:alpha val="40000"/>
                  </a:prstClr>
                </a:outerShdw>
              </a:effectLst>
              <a:latin typeface="Goudy Old Style" charset="0"/>
              <a:ea typeface="ＭＳ Ｐゴシック" charset="0"/>
              <a:cs typeface="Goudy Old Style"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132CD8C-2959-6F40-A194-3F8687D81F97}"/>
              </a:ext>
            </a:extLst>
          </p:cNvPr>
          <p:cNvSpPr txBox="1"/>
          <p:nvPr/>
        </p:nvSpPr>
        <p:spPr>
          <a:xfrm>
            <a:off x="6858000" y="4802452"/>
            <a:ext cx="1723549" cy="646331"/>
          </a:xfrm>
          <a:prstGeom prst="rect">
            <a:avLst/>
          </a:prstGeom>
          <a:noFill/>
        </p:spPr>
        <p:txBody>
          <a:bodyPr wrap="none" rtlCol="0">
            <a:spAutoFit/>
          </a:bodyPr>
          <a:lstStyle/>
          <a:p>
            <a:r>
              <a:rPr lang="en-US" sz="3600" dirty="0">
                <a:solidFill>
                  <a:srgbClr val="FFFF00"/>
                </a:solidFill>
              </a:rPr>
              <a:t>645284</a:t>
            </a:r>
          </a:p>
        </p:txBody>
      </p:sp>
      <p:pic>
        <p:nvPicPr>
          <p:cNvPr id="6" name="Picture 5">
            <a:extLst>
              <a:ext uri="{FF2B5EF4-FFF2-40B4-BE49-F238E27FC236}">
                <a16:creationId xmlns:a16="http://schemas.microsoft.com/office/drawing/2014/main" id="{C29709FA-E887-184E-8FA9-46EA2CC18B28}"/>
              </a:ext>
            </a:extLst>
          </p:cNvPr>
          <p:cNvPicPr>
            <a:picLocks noChangeAspect="1"/>
          </p:cNvPicPr>
          <p:nvPr/>
        </p:nvPicPr>
        <p:blipFill>
          <a:blip r:embed="rId3"/>
          <a:stretch>
            <a:fillRect/>
          </a:stretch>
        </p:blipFill>
        <p:spPr>
          <a:xfrm>
            <a:off x="1295399" y="419099"/>
            <a:ext cx="5033665" cy="5033665"/>
          </a:xfrm>
          <a:prstGeom prst="rect">
            <a:avLst/>
          </a:prstGeom>
        </p:spPr>
      </p:pic>
      <p:sp>
        <p:nvSpPr>
          <p:cNvPr id="7" name="TextBox 6">
            <a:extLst>
              <a:ext uri="{FF2B5EF4-FFF2-40B4-BE49-F238E27FC236}">
                <a16:creationId xmlns:a16="http://schemas.microsoft.com/office/drawing/2014/main" id="{AD4A0468-44C5-3D48-B6D7-8AC7BB9A744D}"/>
              </a:ext>
            </a:extLst>
          </p:cNvPr>
          <p:cNvSpPr txBox="1"/>
          <p:nvPr/>
        </p:nvSpPr>
        <p:spPr>
          <a:xfrm>
            <a:off x="6406092" y="419099"/>
            <a:ext cx="2518638" cy="646331"/>
          </a:xfrm>
          <a:prstGeom prst="rect">
            <a:avLst/>
          </a:prstGeom>
          <a:noFill/>
        </p:spPr>
        <p:txBody>
          <a:bodyPr wrap="none" rtlCol="0">
            <a:spAutoFit/>
          </a:bodyPr>
          <a:lstStyle/>
          <a:p>
            <a:r>
              <a:rPr lang="en-US" sz="3600" dirty="0">
                <a:solidFill>
                  <a:schemeClr val="bg1"/>
                </a:solidFill>
              </a:rPr>
              <a:t>Attendance</a:t>
            </a:r>
          </a:p>
        </p:txBody>
      </p:sp>
    </p:spTree>
    <p:extLst>
      <p:ext uri="{BB962C8B-B14F-4D97-AF65-F5344CB8AC3E}">
        <p14:creationId xmlns:p14="http://schemas.microsoft.com/office/powerpoint/2010/main" val="611713243"/>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21622</TotalTime>
  <Words>4758</Words>
  <Application>Microsoft Macintosh PowerPoint</Application>
  <PresentationFormat>On-screen Show (16:10)</PresentationFormat>
  <Paragraphs>614</Paragraphs>
  <Slides>83</Slides>
  <Notes>47</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83</vt:i4>
      </vt:variant>
    </vt:vector>
  </HeadingPairs>
  <TitlesOfParts>
    <vt:vector size="96" baseType="lpstr">
      <vt:lpstr>Arial Unicode MS</vt:lpstr>
      <vt:lpstr>ＭＳ Ｐゴシック</vt:lpstr>
      <vt:lpstr>Arial</vt:lpstr>
      <vt:lpstr>Arial Narrow</vt:lpstr>
      <vt:lpstr>Calibri</vt:lpstr>
      <vt:lpstr>Cambria Math</vt:lpstr>
      <vt:lpstr>Goudy Old Style</vt:lpstr>
      <vt:lpstr>Helvetica</vt:lpstr>
      <vt:lpstr>Symbol</vt:lpstr>
      <vt:lpstr>Times New Roman</vt:lpstr>
      <vt:lpstr>Wingdings</vt:lpstr>
      <vt:lpstr>Default Design</vt:lpstr>
      <vt:lpstr>1_Default Design</vt:lpstr>
      <vt:lpstr>PowerPoint Presentation</vt:lpstr>
      <vt:lpstr>For Week 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Today’s oceans are deeply stratified (has not always been the case).</vt:lpstr>
      <vt:lpstr>Vertical meridional section of potential temperature in the Atlantic Ocean The thermocline is the region of large dT/dz close to the surface.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Upwelling</vt:lpstr>
      <vt:lpstr>Upwelling</vt:lpstr>
      <vt:lpstr>Life is not uniformly distributed in the oceans.</vt:lpstr>
      <vt:lpstr>Annual Net Primary Production</vt:lpstr>
      <vt:lpstr>PowerPoint Presentation</vt:lpstr>
      <vt:lpstr>PowerPoint Presentation</vt:lpstr>
      <vt:lpstr>PowerPoint Presentation</vt:lpstr>
      <vt:lpstr>PowerPoint Presentation</vt:lpstr>
      <vt:lpstr>PowerPoint Presentation</vt:lpstr>
      <vt:lpstr>Mean sea level is rising as the oceans warm  (expand and occupy more volume).</vt:lpstr>
      <vt:lpstr>Mean sea level is rising as the oceans warm  (expand and occupy more volume).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For Week 8 (17 March ☘️)...</vt:lpstr>
      <vt:lpstr>Reading Around the Topic</vt:lpstr>
      <vt:lpstr>PowerPoint Presentation</vt:lpstr>
      <vt:lpstr>PowerPoint Presentation</vt:lpstr>
    </vt:vector>
  </TitlesOfParts>
  <Company>Auburn University</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Geology and Geography</dc:creator>
  <cp:lastModifiedBy>David Schultz</cp:lastModifiedBy>
  <cp:revision>793</cp:revision>
  <dcterms:created xsi:type="dcterms:W3CDTF">2012-10-31T08:06:21Z</dcterms:created>
  <dcterms:modified xsi:type="dcterms:W3CDTF">2025-03-03T12:02:22Z</dcterms:modified>
</cp:coreProperties>
</file>