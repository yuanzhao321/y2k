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99" r:id="rId2"/>
    <p:sldId id="323" r:id="rId3"/>
    <p:sldId id="321" r:id="rId4"/>
    <p:sldId id="691" r:id="rId5"/>
    <p:sldId id="692" r:id="rId6"/>
    <p:sldId id="690" r:id="rId7"/>
    <p:sldId id="404" r:id="rId8"/>
    <p:sldId id="405" r:id="rId9"/>
    <p:sldId id="407" r:id="rId10"/>
    <p:sldId id="408" r:id="rId11"/>
    <p:sldId id="403" r:id="rId12"/>
    <p:sldId id="700" r:id="rId13"/>
    <p:sldId id="701" r:id="rId14"/>
    <p:sldId id="702" r:id="rId15"/>
    <p:sldId id="412" r:id="rId16"/>
    <p:sldId id="693" r:id="rId17"/>
    <p:sldId id="694" r:id="rId18"/>
    <p:sldId id="695" r:id="rId19"/>
    <p:sldId id="696" r:id="rId20"/>
    <p:sldId id="697" r:id="rId21"/>
    <p:sldId id="424" r:id="rId22"/>
    <p:sldId id="347" r:id="rId23"/>
    <p:sldId id="427" r:id="rId24"/>
    <p:sldId id="429" r:id="rId25"/>
    <p:sldId id="431" r:id="rId26"/>
    <p:sldId id="274" r:id="rId27"/>
    <p:sldId id="699" r:id="rId28"/>
    <p:sldId id="345" r:id="rId29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44" autoAdjust="0"/>
    <p:restoredTop sz="94660"/>
  </p:normalViewPr>
  <p:slideViewPr>
    <p:cSldViewPr>
      <p:cViewPr varScale="1">
        <p:scale>
          <a:sx n="67" d="100"/>
          <a:sy n="67" d="100"/>
        </p:scale>
        <p:origin x="101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581BD5B3-2227-4F74-88EB-EDE42B6DC404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E8DA976-7593-4481-8276-5261B387B5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504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B5AEA2-27CE-4AC9-9C28-8B48E89FA2C7}" type="slidenum">
              <a:rPr lang="en-US"/>
              <a:pPr/>
              <a:t>22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B5AEA2-27CE-4AC9-9C28-8B48E89FA2C7}" type="slidenum">
              <a:rPr lang="en-US"/>
              <a:pPr/>
              <a:t>23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7101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B5AEA2-27CE-4AC9-9C28-8B48E89FA2C7}" type="slidenum">
              <a:rPr lang="en-US"/>
              <a:pPr/>
              <a:t>24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1048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b="8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7EA29-A8EC-4B9E-A8E0-AB41BD475EE3}" type="datetimeFigureOut">
              <a:rPr lang="en-GB" smtClean="0"/>
              <a:pPr/>
              <a:t>18/04/2021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4D153-523A-4459-9282-AD6F6927CDD8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bZniPhc_7N8&amp;list=PLC87618DCCC0912DE&amp;index=3" TargetMode="Externa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D3446A0-6EAF-4046-BC92-3E9459CC33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4DCA2C-CF85-457A-9C8C-C1FD5119A2A0}"/>
              </a:ext>
            </a:extLst>
          </p:cNvPr>
          <p:cNvSpPr txBox="1">
            <a:spLocks noChangeArrowheads="1"/>
          </p:cNvSpPr>
          <p:nvPr/>
        </p:nvSpPr>
        <p:spPr>
          <a:xfrm>
            <a:off x="132656" y="1693144"/>
            <a:ext cx="8928992" cy="338437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S</a:t>
            </a:r>
            <a:r>
              <a:rPr kumimoji="0" lang="en-GB" sz="4800" b="1" i="0" u="none" strike="noStrike" kern="1200" cap="none" spc="0" normalizeH="0" baseline="0" noProof="0" dirty="0" err="1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edimentary</a:t>
            </a: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(or “depositional”) environments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1797CD-4B92-4C47-9084-D06E1254C1E8}"/>
              </a:ext>
            </a:extLst>
          </p:cNvPr>
          <p:cNvSpPr txBox="1"/>
          <p:nvPr/>
        </p:nvSpPr>
        <p:spPr>
          <a:xfrm>
            <a:off x="107504" y="5805264"/>
            <a:ext cx="3674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The Mississippi Delta, USA, is where sediment eroded from the Rocky Mountains by the river is deposited.</a:t>
            </a:r>
          </a:p>
        </p:txBody>
      </p:sp>
    </p:spTree>
    <p:extLst>
      <p:ext uri="{BB962C8B-B14F-4D97-AF65-F5344CB8AC3E}">
        <p14:creationId xmlns:p14="http://schemas.microsoft.com/office/powerpoint/2010/main" val="2755950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18969C2-5665-4A25-838C-54DF7D94ABA7}"/>
              </a:ext>
            </a:extLst>
          </p:cNvPr>
          <p:cNvGrpSpPr/>
          <p:nvPr/>
        </p:nvGrpSpPr>
        <p:grpSpPr>
          <a:xfrm>
            <a:off x="683568" y="3651901"/>
            <a:ext cx="8096250" cy="3171825"/>
            <a:chOff x="683568" y="3651901"/>
            <a:chExt cx="8096250" cy="3171825"/>
          </a:xfrm>
        </p:grpSpPr>
        <p:pic>
          <p:nvPicPr>
            <p:cNvPr id="15" name="Picture 2" descr="Image result for source to sink">
              <a:extLst>
                <a:ext uri="{FF2B5EF4-FFF2-40B4-BE49-F238E27FC236}">
                  <a16:creationId xmlns:a16="http://schemas.microsoft.com/office/drawing/2014/main" id="{EEA05386-4F68-46BF-A82A-8DCFFC3AA0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3651901"/>
              <a:ext cx="8096250" cy="3171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98E414C-DF44-4BE9-85AA-1C90BB913DDC}"/>
                </a:ext>
              </a:extLst>
            </p:cNvPr>
            <p:cNvSpPr/>
            <p:nvPr/>
          </p:nvSpPr>
          <p:spPr>
            <a:xfrm rot="449741">
              <a:off x="3481011" y="5047335"/>
              <a:ext cx="1876951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79512" y="1340768"/>
            <a:ext cx="849694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In W5 we looked at how </a:t>
            </a:r>
            <a:r>
              <a:rPr lang="en-GB" sz="2000" b="1" dirty="0">
                <a:sym typeface="Wingdings" panose="05000000000000000000" pitchFamily="2" charset="2"/>
              </a:rPr>
              <a:t>vertical uplift forms high areas on the Earth’s surface </a:t>
            </a:r>
            <a:r>
              <a:rPr lang="en-GB" sz="2000" b="1" dirty="0"/>
              <a:t>(</a:t>
            </a:r>
            <a:r>
              <a:rPr lang="en-GB" sz="2000" b="1" u="sng" dirty="0"/>
              <a:t>mountains</a:t>
            </a:r>
            <a:r>
              <a:rPr lang="en-GB" sz="2000" b="1" dirty="0"/>
              <a:t> or </a:t>
            </a:r>
            <a:r>
              <a:rPr lang="en-GB" sz="2000" b="1" u="sng" dirty="0"/>
              <a:t>hinterlands</a:t>
            </a:r>
            <a:r>
              <a:rPr lang="en-GB" sz="2000" b="1" dirty="0"/>
              <a:t>), and subsidence forms </a:t>
            </a:r>
            <a:r>
              <a:rPr lang="en-GB" sz="2000" b="1" u="sng" dirty="0"/>
              <a:t>Sedimentary Basins</a:t>
            </a:r>
            <a:r>
              <a:rPr lang="en-GB" sz="2000" b="1" dirty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In W7 we looked at the processes of weathering and erosion, and how these sculpt uplifted areas (and the kinds of landscapes these form).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7A7B94-10ED-4104-987F-2B865629F5C1}"/>
              </a:ext>
            </a:extLst>
          </p:cNvPr>
          <p:cNvSpPr/>
          <p:nvPr/>
        </p:nvSpPr>
        <p:spPr>
          <a:xfrm>
            <a:off x="1475656" y="5929738"/>
            <a:ext cx="1152128" cy="3075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15CB9-E08E-47C8-85A1-746DA2B7F901}"/>
              </a:ext>
            </a:extLst>
          </p:cNvPr>
          <p:cNvSpPr/>
          <p:nvPr/>
        </p:nvSpPr>
        <p:spPr>
          <a:xfrm>
            <a:off x="6300192" y="6435580"/>
            <a:ext cx="1152128" cy="3075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4756C1-A246-4E21-A8F1-42A189FDAFDA}"/>
              </a:ext>
            </a:extLst>
          </p:cNvPr>
          <p:cNvSpPr/>
          <p:nvPr/>
        </p:nvSpPr>
        <p:spPr>
          <a:xfrm>
            <a:off x="1475656" y="3933056"/>
            <a:ext cx="1152128" cy="30757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0A21BD8-A3EA-48C9-BC7B-15605374AB1E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This week</a:t>
            </a: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82507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51A28C3-9700-4D6A-8795-294F16D075E9}"/>
              </a:ext>
            </a:extLst>
          </p:cNvPr>
          <p:cNvGrpSpPr/>
          <p:nvPr/>
        </p:nvGrpSpPr>
        <p:grpSpPr>
          <a:xfrm>
            <a:off x="2987824" y="3899302"/>
            <a:ext cx="5821453" cy="2712878"/>
            <a:chOff x="963888" y="3148893"/>
            <a:chExt cx="7712566" cy="3592475"/>
          </a:xfrm>
        </p:grpSpPr>
        <p:pic>
          <p:nvPicPr>
            <p:cNvPr id="10" name="Picture 2" descr="Products of Geomorphic Processes&#10;Process&#10;Erosion&#10;Transportation&#10;Deposition&#10;Erosional landform features&#10;Transportation&#10;Depo...">
              <a:extLst>
                <a:ext uri="{FF2B5EF4-FFF2-40B4-BE49-F238E27FC236}">
                  <a16:creationId xmlns:a16="http://schemas.microsoft.com/office/drawing/2014/main" id="{85E153D8-D575-4980-8280-DFE9A21515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63888" y="3148893"/>
              <a:ext cx="7144216" cy="3592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07E8C6-8F78-49D0-8EA9-53B7E5B45882}"/>
                </a:ext>
              </a:extLst>
            </p:cNvPr>
            <p:cNvSpPr/>
            <p:nvPr/>
          </p:nvSpPr>
          <p:spPr>
            <a:xfrm>
              <a:off x="4716016" y="4221088"/>
              <a:ext cx="3960438" cy="2016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79511" y="1177916"/>
            <a:ext cx="8496943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In this week’s lecture we will look at 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GB" sz="2000" dirty="0"/>
              <a:t>How eroded rock (called </a:t>
            </a:r>
            <a:r>
              <a:rPr lang="en-GB" sz="2000" b="1" u="sng" dirty="0"/>
              <a:t>clastic sediment</a:t>
            </a:r>
            <a:r>
              <a:rPr lang="en-GB" sz="2000" dirty="0"/>
              <a:t>) is transported to and deposited in sedimentary basins across the globe.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GB" sz="2000" dirty="0"/>
              <a:t>The </a:t>
            </a:r>
            <a:r>
              <a:rPr lang="en-GB" sz="2000" b="1" u="sng" dirty="0"/>
              <a:t>depositional</a:t>
            </a:r>
            <a:r>
              <a:rPr lang="en-GB" sz="2000" dirty="0"/>
              <a:t> landforms and seascapes that this generates.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GB" sz="2000" dirty="0"/>
              <a:t>There are other types of sediment which are not derived from eroded rock (called </a:t>
            </a:r>
            <a:r>
              <a:rPr lang="en-GB" sz="2000" b="1" u="sng" dirty="0"/>
              <a:t>organic sediments </a:t>
            </a:r>
            <a:r>
              <a:rPr lang="en-GB" sz="2000" dirty="0"/>
              <a:t>and </a:t>
            </a:r>
            <a:r>
              <a:rPr lang="en-GB" sz="2000" b="1" u="sng" dirty="0"/>
              <a:t>chemical sediments</a:t>
            </a:r>
            <a:r>
              <a:rPr lang="en-GB" sz="2000" dirty="0"/>
              <a:t>). We will also look at these.</a:t>
            </a:r>
          </a:p>
        </p:txBody>
      </p:sp>
      <p:sp>
        <p:nvSpPr>
          <p:cNvPr id="2" name="Rectangle 1"/>
          <p:cNvSpPr/>
          <p:nvPr/>
        </p:nvSpPr>
        <p:spPr>
          <a:xfrm>
            <a:off x="2619395" y="5993720"/>
            <a:ext cx="6057059" cy="6246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7AE93C9-2AEE-48AF-905F-73B49B13BCC1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This week</a:t>
            </a: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77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0C7F003-7E2D-4C75-A23A-58D7EB4152B6}"/>
              </a:ext>
            </a:extLst>
          </p:cNvPr>
          <p:cNvGrpSpPr/>
          <p:nvPr/>
        </p:nvGrpSpPr>
        <p:grpSpPr>
          <a:xfrm>
            <a:off x="683568" y="3651901"/>
            <a:ext cx="8096250" cy="3171825"/>
            <a:chOff x="683568" y="3651901"/>
            <a:chExt cx="8096250" cy="3171825"/>
          </a:xfrm>
        </p:grpSpPr>
        <p:pic>
          <p:nvPicPr>
            <p:cNvPr id="11" name="Picture 2" descr="Image result for source to sink">
              <a:extLst>
                <a:ext uri="{FF2B5EF4-FFF2-40B4-BE49-F238E27FC236}">
                  <a16:creationId xmlns:a16="http://schemas.microsoft.com/office/drawing/2014/main" id="{44E4B173-DE83-47AD-BD4A-8665E78526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3651901"/>
              <a:ext cx="8096250" cy="3171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38739C5-8E6B-40F9-9B53-D51B266F1BA4}"/>
                </a:ext>
              </a:extLst>
            </p:cNvPr>
            <p:cNvSpPr/>
            <p:nvPr/>
          </p:nvSpPr>
          <p:spPr>
            <a:xfrm rot="449741">
              <a:off x="3481011" y="5047335"/>
              <a:ext cx="1876951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79512" y="1340768"/>
            <a:ext cx="849694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Landscapes fall into two categories.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GB" sz="2000" dirty="0"/>
              <a:t>“Erosional Landscapes” – generated by uplift, weathering and erosion.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GB" sz="2000" b="1" dirty="0"/>
              <a:t>“Depositional Landscapes” generated by subsidence and deposition of sediment. </a:t>
            </a:r>
            <a:r>
              <a:rPr lang="en-GB" sz="2000" dirty="0"/>
              <a:t>These are also called “sedimentary” environments.</a:t>
            </a:r>
          </a:p>
          <a:p>
            <a:pPr>
              <a:spcAft>
                <a:spcPts val="600"/>
              </a:spcAft>
            </a:pPr>
            <a:r>
              <a:rPr lang="en-GB" sz="2000" b="1" dirty="0"/>
              <a:t>	This week we focus exclusively on Depositional Landscapes, and how 	they form.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3E309B-A960-4483-9D54-8F1923B0FAAE}"/>
              </a:ext>
            </a:extLst>
          </p:cNvPr>
          <p:cNvSpPr/>
          <p:nvPr/>
        </p:nvSpPr>
        <p:spPr>
          <a:xfrm>
            <a:off x="6228184" y="4293096"/>
            <a:ext cx="1296144" cy="4223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4EC23F-2EF6-4F20-A44F-F3958B28C993}"/>
              </a:ext>
            </a:extLst>
          </p:cNvPr>
          <p:cNvSpPr/>
          <p:nvPr/>
        </p:nvSpPr>
        <p:spPr>
          <a:xfrm>
            <a:off x="1475656" y="3870734"/>
            <a:ext cx="1152128" cy="4223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3A5525D4-ACD3-4C5C-A2F6-EBC9D6A3452E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This week</a:t>
            </a: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2929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C0EFD6F8-4D55-4A8B-B381-F75F5249CE72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The difference between an erosional and depositional landscape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18B09-2E44-4669-9125-587FA6951598}"/>
              </a:ext>
            </a:extLst>
          </p:cNvPr>
          <p:cNvSpPr txBox="1"/>
          <p:nvPr/>
        </p:nvSpPr>
        <p:spPr>
          <a:xfrm>
            <a:off x="205458" y="1340768"/>
            <a:ext cx="8496943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b="1" dirty="0"/>
              <a:t>Because erosional landscapes are dominated by UPLIFT, and WEATHERING AND EROSION, they</a:t>
            </a:r>
          </a:p>
          <a:p>
            <a:pPr lvl="1">
              <a:spcAft>
                <a:spcPts val="600"/>
              </a:spcAft>
            </a:pPr>
            <a:r>
              <a:rPr lang="en-GB" sz="2200" dirty="0">
                <a:sym typeface="Wingdings" panose="05000000000000000000" pitchFamily="2" charset="2"/>
              </a:rPr>
              <a:t></a:t>
            </a:r>
            <a:r>
              <a:rPr lang="en-GB" sz="2200" dirty="0"/>
              <a:t> tend to have topographic relief, and</a:t>
            </a:r>
          </a:p>
          <a:p>
            <a:pPr lvl="1">
              <a:spcAft>
                <a:spcPts val="600"/>
              </a:spcAft>
            </a:pPr>
            <a:r>
              <a:rPr lang="en-GB" sz="2200" dirty="0">
                <a:sym typeface="Wingdings" panose="05000000000000000000" pitchFamily="2" charset="2"/>
              </a:rPr>
              <a:t> are dominated surfaces covered in weathering products (“</a:t>
            </a:r>
            <a:r>
              <a:rPr lang="en-GB" sz="2200" dirty="0" err="1">
                <a:sym typeface="Wingdings" panose="05000000000000000000" pitchFamily="2" charset="2"/>
              </a:rPr>
              <a:t>regloith</a:t>
            </a:r>
            <a:r>
              <a:rPr lang="en-GB" sz="2200" dirty="0">
                <a:sym typeface="Wingdings" panose="05000000000000000000" pitchFamily="2" charset="2"/>
              </a:rPr>
              <a:t>”), or</a:t>
            </a:r>
          </a:p>
          <a:p>
            <a:pPr lvl="1">
              <a:spcAft>
                <a:spcPts val="600"/>
              </a:spcAft>
            </a:pPr>
            <a:r>
              <a:rPr lang="en-GB" sz="2200" dirty="0">
                <a:sym typeface="Wingdings" panose="05000000000000000000" pitchFamily="2" charset="2"/>
              </a:rPr>
              <a:t> or dominated by bare eroding bedrock.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200" b="1" dirty="0">
              <a:sym typeface="Wingdings" panose="05000000000000000000" pitchFamily="2" charset="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b="1" dirty="0">
                <a:sym typeface="Wingdings" panose="05000000000000000000" pitchFamily="2" charset="2"/>
              </a:rPr>
              <a:t>By contrast, depositional landscapes are dominated by SUBSIDENCE and DEPOSITION of sediment, are</a:t>
            </a:r>
          </a:p>
          <a:p>
            <a:pPr lvl="1">
              <a:spcAft>
                <a:spcPts val="600"/>
              </a:spcAft>
            </a:pPr>
            <a:r>
              <a:rPr lang="en-GB" sz="2200" dirty="0">
                <a:sym typeface="Wingdings" panose="05000000000000000000" pitchFamily="2" charset="2"/>
              </a:rPr>
              <a:t> low areas, either flooded by the lakes or sea, if they haven’t been filled with sediment, or</a:t>
            </a:r>
          </a:p>
          <a:p>
            <a:pPr lvl="1">
              <a:spcAft>
                <a:spcPts val="600"/>
              </a:spcAft>
            </a:pPr>
            <a:r>
              <a:rPr lang="en-GB" sz="2200" dirty="0">
                <a:sym typeface="Wingdings" panose="05000000000000000000" pitchFamily="2" charset="2"/>
              </a:rPr>
              <a:t> very flat (little relief) if they have been filled up with sediment.</a:t>
            </a:r>
          </a:p>
          <a:p>
            <a:pPr lvl="1">
              <a:spcAft>
                <a:spcPts val="600"/>
              </a:spcAft>
            </a:pPr>
            <a:r>
              <a:rPr lang="en-GB" sz="2200" dirty="0">
                <a:sym typeface="Wingdings" panose="05000000000000000000" pitchFamily="2" charset="2"/>
              </a:rPr>
              <a:t> characterised by bedrock buried under 10 to 100s m of sediment.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8A5430-4236-4EA5-8E8A-D83F975E0DA6}"/>
              </a:ext>
            </a:extLst>
          </p:cNvPr>
          <p:cNvGrpSpPr/>
          <p:nvPr/>
        </p:nvGrpSpPr>
        <p:grpSpPr>
          <a:xfrm>
            <a:off x="205458" y="4077072"/>
            <a:ext cx="9308428" cy="2520280"/>
            <a:chOff x="217290" y="1340768"/>
            <a:chExt cx="8509264" cy="25202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0721E3-2840-40DB-A8F1-26EC3B8FB015}"/>
                </a:ext>
              </a:extLst>
            </p:cNvPr>
            <p:cNvSpPr/>
            <p:nvPr/>
          </p:nvSpPr>
          <p:spPr>
            <a:xfrm>
              <a:off x="217290" y="1340768"/>
              <a:ext cx="7920880" cy="252028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676001-A5F6-4A7B-90E3-F5551FBFB694}"/>
                </a:ext>
              </a:extLst>
            </p:cNvPr>
            <p:cNvSpPr txBox="1"/>
            <p:nvPr/>
          </p:nvSpPr>
          <p:spPr>
            <a:xfrm>
              <a:off x="6710330" y="2420888"/>
              <a:ext cx="201622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2500" b="1" dirty="0">
                  <a:solidFill>
                    <a:srgbClr val="FF0000"/>
                  </a:solidFill>
                </a:rPr>
                <a:t>This week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685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eath Valley National Park: Badwater Alluvial Fan - YouTube">
            <a:extLst>
              <a:ext uri="{FF2B5EF4-FFF2-40B4-BE49-F238E27FC236}">
                <a16:creationId xmlns:a16="http://schemas.microsoft.com/office/drawing/2014/main" id="{4E2BE97E-8B8C-4044-99B7-4F46B538B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6644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A46B12-99D1-4E76-8270-BC0341085124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The difference between an erosional and depositional landscape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098B41B-C464-4BFF-97AE-2D7864AC68E7}"/>
              </a:ext>
            </a:extLst>
          </p:cNvPr>
          <p:cNvSpPr/>
          <p:nvPr/>
        </p:nvSpPr>
        <p:spPr>
          <a:xfrm>
            <a:off x="-36512" y="1835621"/>
            <a:ext cx="8705850" cy="4219575"/>
          </a:xfrm>
          <a:custGeom>
            <a:avLst/>
            <a:gdLst>
              <a:gd name="connsiteX0" fmla="*/ 0 w 8705850"/>
              <a:gd name="connsiteY0" fmla="*/ 0 h 4219575"/>
              <a:gd name="connsiteX1" fmla="*/ 28575 w 8705850"/>
              <a:gd name="connsiteY1" fmla="*/ 47625 h 4219575"/>
              <a:gd name="connsiteX2" fmla="*/ 38100 w 8705850"/>
              <a:gd name="connsiteY2" fmla="*/ 76200 h 4219575"/>
              <a:gd name="connsiteX3" fmla="*/ 95250 w 8705850"/>
              <a:gd name="connsiteY3" fmla="*/ 133350 h 4219575"/>
              <a:gd name="connsiteX4" fmla="*/ 152400 w 8705850"/>
              <a:gd name="connsiteY4" fmla="*/ 171450 h 4219575"/>
              <a:gd name="connsiteX5" fmla="*/ 200025 w 8705850"/>
              <a:gd name="connsiteY5" fmla="*/ 209550 h 4219575"/>
              <a:gd name="connsiteX6" fmla="*/ 285750 w 8705850"/>
              <a:gd name="connsiteY6" fmla="*/ 257175 h 4219575"/>
              <a:gd name="connsiteX7" fmla="*/ 352425 w 8705850"/>
              <a:gd name="connsiteY7" fmla="*/ 276225 h 4219575"/>
              <a:gd name="connsiteX8" fmla="*/ 409575 w 8705850"/>
              <a:gd name="connsiteY8" fmla="*/ 314325 h 4219575"/>
              <a:gd name="connsiteX9" fmla="*/ 438150 w 8705850"/>
              <a:gd name="connsiteY9" fmla="*/ 333375 h 4219575"/>
              <a:gd name="connsiteX10" fmla="*/ 504825 w 8705850"/>
              <a:gd name="connsiteY10" fmla="*/ 361950 h 4219575"/>
              <a:gd name="connsiteX11" fmla="*/ 581025 w 8705850"/>
              <a:gd name="connsiteY11" fmla="*/ 390525 h 4219575"/>
              <a:gd name="connsiteX12" fmla="*/ 676275 w 8705850"/>
              <a:gd name="connsiteY12" fmla="*/ 447675 h 4219575"/>
              <a:gd name="connsiteX13" fmla="*/ 762000 w 8705850"/>
              <a:gd name="connsiteY13" fmla="*/ 485775 h 4219575"/>
              <a:gd name="connsiteX14" fmla="*/ 809625 w 8705850"/>
              <a:gd name="connsiteY14" fmla="*/ 523875 h 4219575"/>
              <a:gd name="connsiteX15" fmla="*/ 838200 w 8705850"/>
              <a:gd name="connsiteY15" fmla="*/ 552450 h 4219575"/>
              <a:gd name="connsiteX16" fmla="*/ 866775 w 8705850"/>
              <a:gd name="connsiteY16" fmla="*/ 561975 h 4219575"/>
              <a:gd name="connsiteX17" fmla="*/ 923925 w 8705850"/>
              <a:gd name="connsiteY17" fmla="*/ 600075 h 4219575"/>
              <a:gd name="connsiteX18" fmla="*/ 952500 w 8705850"/>
              <a:gd name="connsiteY18" fmla="*/ 619125 h 4219575"/>
              <a:gd name="connsiteX19" fmla="*/ 1000125 w 8705850"/>
              <a:gd name="connsiteY19" fmla="*/ 657225 h 4219575"/>
              <a:gd name="connsiteX20" fmla="*/ 1057275 w 8705850"/>
              <a:gd name="connsiteY20" fmla="*/ 714375 h 4219575"/>
              <a:gd name="connsiteX21" fmla="*/ 1152525 w 8705850"/>
              <a:gd name="connsiteY21" fmla="*/ 742950 h 4219575"/>
              <a:gd name="connsiteX22" fmla="*/ 1181100 w 8705850"/>
              <a:gd name="connsiteY22" fmla="*/ 762000 h 4219575"/>
              <a:gd name="connsiteX23" fmla="*/ 1200150 w 8705850"/>
              <a:gd name="connsiteY23" fmla="*/ 790575 h 4219575"/>
              <a:gd name="connsiteX24" fmla="*/ 1238250 w 8705850"/>
              <a:gd name="connsiteY24" fmla="*/ 800100 h 4219575"/>
              <a:gd name="connsiteX25" fmla="*/ 1266825 w 8705850"/>
              <a:gd name="connsiteY25" fmla="*/ 819150 h 4219575"/>
              <a:gd name="connsiteX26" fmla="*/ 1295400 w 8705850"/>
              <a:gd name="connsiteY26" fmla="*/ 847725 h 4219575"/>
              <a:gd name="connsiteX27" fmla="*/ 1314450 w 8705850"/>
              <a:gd name="connsiteY27" fmla="*/ 876300 h 4219575"/>
              <a:gd name="connsiteX28" fmla="*/ 1343025 w 8705850"/>
              <a:gd name="connsiteY28" fmla="*/ 885825 h 4219575"/>
              <a:gd name="connsiteX29" fmla="*/ 1371600 w 8705850"/>
              <a:gd name="connsiteY29" fmla="*/ 914400 h 4219575"/>
              <a:gd name="connsiteX30" fmla="*/ 1381125 w 8705850"/>
              <a:gd name="connsiteY30" fmla="*/ 942975 h 4219575"/>
              <a:gd name="connsiteX31" fmla="*/ 1409700 w 8705850"/>
              <a:gd name="connsiteY31" fmla="*/ 962025 h 4219575"/>
              <a:gd name="connsiteX32" fmla="*/ 1438275 w 8705850"/>
              <a:gd name="connsiteY32" fmla="*/ 990600 h 4219575"/>
              <a:gd name="connsiteX33" fmla="*/ 1447800 w 8705850"/>
              <a:gd name="connsiteY33" fmla="*/ 1019175 h 4219575"/>
              <a:gd name="connsiteX34" fmla="*/ 1485900 w 8705850"/>
              <a:gd name="connsiteY34" fmla="*/ 1076325 h 4219575"/>
              <a:gd name="connsiteX35" fmla="*/ 1524000 w 8705850"/>
              <a:gd name="connsiteY35" fmla="*/ 1190625 h 4219575"/>
              <a:gd name="connsiteX36" fmla="*/ 1533525 w 8705850"/>
              <a:gd name="connsiteY36" fmla="*/ 1219200 h 4219575"/>
              <a:gd name="connsiteX37" fmla="*/ 1552575 w 8705850"/>
              <a:gd name="connsiteY37" fmla="*/ 1247775 h 4219575"/>
              <a:gd name="connsiteX38" fmla="*/ 1562100 w 8705850"/>
              <a:gd name="connsiteY38" fmla="*/ 1276350 h 4219575"/>
              <a:gd name="connsiteX39" fmla="*/ 1609725 w 8705850"/>
              <a:gd name="connsiteY39" fmla="*/ 1343025 h 4219575"/>
              <a:gd name="connsiteX40" fmla="*/ 1647825 w 8705850"/>
              <a:gd name="connsiteY40" fmla="*/ 1400175 h 4219575"/>
              <a:gd name="connsiteX41" fmla="*/ 1666875 w 8705850"/>
              <a:gd name="connsiteY41" fmla="*/ 1428750 h 4219575"/>
              <a:gd name="connsiteX42" fmla="*/ 1676400 w 8705850"/>
              <a:gd name="connsiteY42" fmla="*/ 1485900 h 4219575"/>
              <a:gd name="connsiteX43" fmla="*/ 1685925 w 8705850"/>
              <a:gd name="connsiteY43" fmla="*/ 1514475 h 4219575"/>
              <a:gd name="connsiteX44" fmla="*/ 1695450 w 8705850"/>
              <a:gd name="connsiteY44" fmla="*/ 1552575 h 4219575"/>
              <a:gd name="connsiteX45" fmla="*/ 1714500 w 8705850"/>
              <a:gd name="connsiteY45" fmla="*/ 1609725 h 4219575"/>
              <a:gd name="connsiteX46" fmla="*/ 1724025 w 8705850"/>
              <a:gd name="connsiteY46" fmla="*/ 1647825 h 4219575"/>
              <a:gd name="connsiteX47" fmla="*/ 1743075 w 8705850"/>
              <a:gd name="connsiteY47" fmla="*/ 1704975 h 4219575"/>
              <a:gd name="connsiteX48" fmla="*/ 1752600 w 8705850"/>
              <a:gd name="connsiteY48" fmla="*/ 1733550 h 4219575"/>
              <a:gd name="connsiteX49" fmla="*/ 1781175 w 8705850"/>
              <a:gd name="connsiteY49" fmla="*/ 1762125 h 4219575"/>
              <a:gd name="connsiteX50" fmla="*/ 1800225 w 8705850"/>
              <a:gd name="connsiteY50" fmla="*/ 1790700 h 4219575"/>
              <a:gd name="connsiteX51" fmla="*/ 1857375 w 8705850"/>
              <a:gd name="connsiteY51" fmla="*/ 1828800 h 4219575"/>
              <a:gd name="connsiteX52" fmla="*/ 1885950 w 8705850"/>
              <a:gd name="connsiteY52" fmla="*/ 1857375 h 4219575"/>
              <a:gd name="connsiteX53" fmla="*/ 1905000 w 8705850"/>
              <a:gd name="connsiteY53" fmla="*/ 1885950 h 4219575"/>
              <a:gd name="connsiteX54" fmla="*/ 1933575 w 8705850"/>
              <a:gd name="connsiteY54" fmla="*/ 1905000 h 4219575"/>
              <a:gd name="connsiteX55" fmla="*/ 2000250 w 8705850"/>
              <a:gd name="connsiteY55" fmla="*/ 1943100 h 4219575"/>
              <a:gd name="connsiteX56" fmla="*/ 2057400 w 8705850"/>
              <a:gd name="connsiteY56" fmla="*/ 2000250 h 4219575"/>
              <a:gd name="connsiteX57" fmla="*/ 2085975 w 8705850"/>
              <a:gd name="connsiteY57" fmla="*/ 2009775 h 4219575"/>
              <a:gd name="connsiteX58" fmla="*/ 2143125 w 8705850"/>
              <a:gd name="connsiteY58" fmla="*/ 2047875 h 4219575"/>
              <a:gd name="connsiteX59" fmla="*/ 2171700 w 8705850"/>
              <a:gd name="connsiteY59" fmla="*/ 2066925 h 4219575"/>
              <a:gd name="connsiteX60" fmla="*/ 2209800 w 8705850"/>
              <a:gd name="connsiteY60" fmla="*/ 2085975 h 4219575"/>
              <a:gd name="connsiteX61" fmla="*/ 2266950 w 8705850"/>
              <a:gd name="connsiteY61" fmla="*/ 2105025 h 4219575"/>
              <a:gd name="connsiteX62" fmla="*/ 2324100 w 8705850"/>
              <a:gd name="connsiteY62" fmla="*/ 2133600 h 4219575"/>
              <a:gd name="connsiteX63" fmla="*/ 2381250 w 8705850"/>
              <a:gd name="connsiteY63" fmla="*/ 2162175 h 4219575"/>
              <a:gd name="connsiteX64" fmla="*/ 2419350 w 8705850"/>
              <a:gd name="connsiteY64" fmla="*/ 2190750 h 4219575"/>
              <a:gd name="connsiteX65" fmla="*/ 2447925 w 8705850"/>
              <a:gd name="connsiteY65" fmla="*/ 2209800 h 4219575"/>
              <a:gd name="connsiteX66" fmla="*/ 2476500 w 8705850"/>
              <a:gd name="connsiteY66" fmla="*/ 2238375 h 4219575"/>
              <a:gd name="connsiteX67" fmla="*/ 2533650 w 8705850"/>
              <a:gd name="connsiteY67" fmla="*/ 2276475 h 4219575"/>
              <a:gd name="connsiteX68" fmla="*/ 2562225 w 8705850"/>
              <a:gd name="connsiteY68" fmla="*/ 2305050 h 4219575"/>
              <a:gd name="connsiteX69" fmla="*/ 2657475 w 8705850"/>
              <a:gd name="connsiteY69" fmla="*/ 2343150 h 4219575"/>
              <a:gd name="connsiteX70" fmla="*/ 2686050 w 8705850"/>
              <a:gd name="connsiteY70" fmla="*/ 2352675 h 4219575"/>
              <a:gd name="connsiteX71" fmla="*/ 2714625 w 8705850"/>
              <a:gd name="connsiteY71" fmla="*/ 2362200 h 4219575"/>
              <a:gd name="connsiteX72" fmla="*/ 2762250 w 8705850"/>
              <a:gd name="connsiteY72" fmla="*/ 2381250 h 4219575"/>
              <a:gd name="connsiteX73" fmla="*/ 2933700 w 8705850"/>
              <a:gd name="connsiteY73" fmla="*/ 2409825 h 4219575"/>
              <a:gd name="connsiteX74" fmla="*/ 3028950 w 8705850"/>
              <a:gd name="connsiteY74" fmla="*/ 2428875 h 4219575"/>
              <a:gd name="connsiteX75" fmla="*/ 3086100 w 8705850"/>
              <a:gd name="connsiteY75" fmla="*/ 2438400 h 4219575"/>
              <a:gd name="connsiteX76" fmla="*/ 3152775 w 8705850"/>
              <a:gd name="connsiteY76" fmla="*/ 2457450 h 4219575"/>
              <a:gd name="connsiteX77" fmla="*/ 3276600 w 8705850"/>
              <a:gd name="connsiteY77" fmla="*/ 2466975 h 4219575"/>
              <a:gd name="connsiteX78" fmla="*/ 3314700 w 8705850"/>
              <a:gd name="connsiteY78" fmla="*/ 2476500 h 4219575"/>
              <a:gd name="connsiteX79" fmla="*/ 3400425 w 8705850"/>
              <a:gd name="connsiteY79" fmla="*/ 2505075 h 4219575"/>
              <a:gd name="connsiteX80" fmla="*/ 3495675 w 8705850"/>
              <a:gd name="connsiteY80" fmla="*/ 2514600 h 4219575"/>
              <a:gd name="connsiteX81" fmla="*/ 3609975 w 8705850"/>
              <a:gd name="connsiteY81" fmla="*/ 2533650 h 4219575"/>
              <a:gd name="connsiteX82" fmla="*/ 3638550 w 8705850"/>
              <a:gd name="connsiteY82" fmla="*/ 2543175 h 4219575"/>
              <a:gd name="connsiteX83" fmla="*/ 3714750 w 8705850"/>
              <a:gd name="connsiteY83" fmla="*/ 2552700 h 4219575"/>
              <a:gd name="connsiteX84" fmla="*/ 3819525 w 8705850"/>
              <a:gd name="connsiteY84" fmla="*/ 2581275 h 4219575"/>
              <a:gd name="connsiteX85" fmla="*/ 3886200 w 8705850"/>
              <a:gd name="connsiteY85" fmla="*/ 2590800 h 4219575"/>
              <a:gd name="connsiteX86" fmla="*/ 3990975 w 8705850"/>
              <a:gd name="connsiteY86" fmla="*/ 2619375 h 4219575"/>
              <a:gd name="connsiteX87" fmla="*/ 4086225 w 8705850"/>
              <a:gd name="connsiteY87" fmla="*/ 2628900 h 4219575"/>
              <a:gd name="connsiteX88" fmla="*/ 4133850 w 8705850"/>
              <a:gd name="connsiteY88" fmla="*/ 2638425 h 4219575"/>
              <a:gd name="connsiteX89" fmla="*/ 4210050 w 8705850"/>
              <a:gd name="connsiteY89" fmla="*/ 2647950 h 4219575"/>
              <a:gd name="connsiteX90" fmla="*/ 4248150 w 8705850"/>
              <a:gd name="connsiteY90" fmla="*/ 2657475 h 4219575"/>
              <a:gd name="connsiteX91" fmla="*/ 4295775 w 8705850"/>
              <a:gd name="connsiteY91" fmla="*/ 2667000 h 4219575"/>
              <a:gd name="connsiteX92" fmla="*/ 4324350 w 8705850"/>
              <a:gd name="connsiteY92" fmla="*/ 2676525 h 4219575"/>
              <a:gd name="connsiteX93" fmla="*/ 4362450 w 8705850"/>
              <a:gd name="connsiteY93" fmla="*/ 2686050 h 4219575"/>
              <a:gd name="connsiteX94" fmla="*/ 4457700 w 8705850"/>
              <a:gd name="connsiteY94" fmla="*/ 2724150 h 4219575"/>
              <a:gd name="connsiteX95" fmla="*/ 4543425 w 8705850"/>
              <a:gd name="connsiteY95" fmla="*/ 2762250 h 4219575"/>
              <a:gd name="connsiteX96" fmla="*/ 4600575 w 8705850"/>
              <a:gd name="connsiteY96" fmla="*/ 2771775 h 4219575"/>
              <a:gd name="connsiteX97" fmla="*/ 4657725 w 8705850"/>
              <a:gd name="connsiteY97" fmla="*/ 2790825 h 4219575"/>
              <a:gd name="connsiteX98" fmla="*/ 4714875 w 8705850"/>
              <a:gd name="connsiteY98" fmla="*/ 2809875 h 4219575"/>
              <a:gd name="connsiteX99" fmla="*/ 4743450 w 8705850"/>
              <a:gd name="connsiteY99" fmla="*/ 2819400 h 4219575"/>
              <a:gd name="connsiteX100" fmla="*/ 4781550 w 8705850"/>
              <a:gd name="connsiteY100" fmla="*/ 2828925 h 4219575"/>
              <a:gd name="connsiteX101" fmla="*/ 4819650 w 8705850"/>
              <a:gd name="connsiteY101" fmla="*/ 2847975 h 4219575"/>
              <a:gd name="connsiteX102" fmla="*/ 4848225 w 8705850"/>
              <a:gd name="connsiteY102" fmla="*/ 2857500 h 4219575"/>
              <a:gd name="connsiteX103" fmla="*/ 4876800 w 8705850"/>
              <a:gd name="connsiteY103" fmla="*/ 2876550 h 4219575"/>
              <a:gd name="connsiteX104" fmla="*/ 4905375 w 8705850"/>
              <a:gd name="connsiteY104" fmla="*/ 2886075 h 4219575"/>
              <a:gd name="connsiteX105" fmla="*/ 5010150 w 8705850"/>
              <a:gd name="connsiteY105" fmla="*/ 2933700 h 4219575"/>
              <a:gd name="connsiteX106" fmla="*/ 5048250 w 8705850"/>
              <a:gd name="connsiteY106" fmla="*/ 2943225 h 4219575"/>
              <a:gd name="connsiteX107" fmla="*/ 5076825 w 8705850"/>
              <a:gd name="connsiteY107" fmla="*/ 2952750 h 4219575"/>
              <a:gd name="connsiteX108" fmla="*/ 5114925 w 8705850"/>
              <a:gd name="connsiteY108" fmla="*/ 2962275 h 4219575"/>
              <a:gd name="connsiteX109" fmla="*/ 5172075 w 8705850"/>
              <a:gd name="connsiteY109" fmla="*/ 2981325 h 4219575"/>
              <a:gd name="connsiteX110" fmla="*/ 5210175 w 8705850"/>
              <a:gd name="connsiteY110" fmla="*/ 2990850 h 4219575"/>
              <a:gd name="connsiteX111" fmla="*/ 5257800 w 8705850"/>
              <a:gd name="connsiteY111" fmla="*/ 3000375 h 4219575"/>
              <a:gd name="connsiteX112" fmla="*/ 5286375 w 8705850"/>
              <a:gd name="connsiteY112" fmla="*/ 3009900 h 4219575"/>
              <a:gd name="connsiteX113" fmla="*/ 5324475 w 8705850"/>
              <a:gd name="connsiteY113" fmla="*/ 3019425 h 4219575"/>
              <a:gd name="connsiteX114" fmla="*/ 5372100 w 8705850"/>
              <a:gd name="connsiteY114" fmla="*/ 3028950 h 4219575"/>
              <a:gd name="connsiteX115" fmla="*/ 5438775 w 8705850"/>
              <a:gd name="connsiteY115" fmla="*/ 3057525 h 4219575"/>
              <a:gd name="connsiteX116" fmla="*/ 5476875 w 8705850"/>
              <a:gd name="connsiteY116" fmla="*/ 3067050 h 4219575"/>
              <a:gd name="connsiteX117" fmla="*/ 5524500 w 8705850"/>
              <a:gd name="connsiteY117" fmla="*/ 3076575 h 4219575"/>
              <a:gd name="connsiteX118" fmla="*/ 5562600 w 8705850"/>
              <a:gd name="connsiteY118" fmla="*/ 3086100 h 4219575"/>
              <a:gd name="connsiteX119" fmla="*/ 5610225 w 8705850"/>
              <a:gd name="connsiteY119" fmla="*/ 3095625 h 4219575"/>
              <a:gd name="connsiteX120" fmla="*/ 5648325 w 8705850"/>
              <a:gd name="connsiteY120" fmla="*/ 3105150 h 4219575"/>
              <a:gd name="connsiteX121" fmla="*/ 5724525 w 8705850"/>
              <a:gd name="connsiteY121" fmla="*/ 3114675 h 4219575"/>
              <a:gd name="connsiteX122" fmla="*/ 5810250 w 8705850"/>
              <a:gd name="connsiteY122" fmla="*/ 3133725 h 4219575"/>
              <a:gd name="connsiteX123" fmla="*/ 5838825 w 8705850"/>
              <a:gd name="connsiteY123" fmla="*/ 3143250 h 4219575"/>
              <a:gd name="connsiteX124" fmla="*/ 5876925 w 8705850"/>
              <a:gd name="connsiteY124" fmla="*/ 3162300 h 4219575"/>
              <a:gd name="connsiteX125" fmla="*/ 5924550 w 8705850"/>
              <a:gd name="connsiteY125" fmla="*/ 3171825 h 4219575"/>
              <a:gd name="connsiteX126" fmla="*/ 6000750 w 8705850"/>
              <a:gd name="connsiteY126" fmla="*/ 3200400 h 4219575"/>
              <a:gd name="connsiteX127" fmla="*/ 6057900 w 8705850"/>
              <a:gd name="connsiteY127" fmla="*/ 3238500 h 4219575"/>
              <a:gd name="connsiteX128" fmla="*/ 6086475 w 8705850"/>
              <a:gd name="connsiteY128" fmla="*/ 3257550 h 4219575"/>
              <a:gd name="connsiteX129" fmla="*/ 6153150 w 8705850"/>
              <a:gd name="connsiteY129" fmla="*/ 3276600 h 4219575"/>
              <a:gd name="connsiteX130" fmla="*/ 6210300 w 8705850"/>
              <a:gd name="connsiteY130" fmla="*/ 3295650 h 4219575"/>
              <a:gd name="connsiteX131" fmla="*/ 6267450 w 8705850"/>
              <a:gd name="connsiteY131" fmla="*/ 3305175 h 4219575"/>
              <a:gd name="connsiteX132" fmla="*/ 6296025 w 8705850"/>
              <a:gd name="connsiteY132" fmla="*/ 3314700 h 4219575"/>
              <a:gd name="connsiteX133" fmla="*/ 6334125 w 8705850"/>
              <a:gd name="connsiteY133" fmla="*/ 3324225 h 4219575"/>
              <a:gd name="connsiteX134" fmla="*/ 6457950 w 8705850"/>
              <a:gd name="connsiteY134" fmla="*/ 3343275 h 4219575"/>
              <a:gd name="connsiteX135" fmla="*/ 6562725 w 8705850"/>
              <a:gd name="connsiteY135" fmla="*/ 3362325 h 4219575"/>
              <a:gd name="connsiteX136" fmla="*/ 6619875 w 8705850"/>
              <a:gd name="connsiteY136" fmla="*/ 3371850 h 4219575"/>
              <a:gd name="connsiteX137" fmla="*/ 6715125 w 8705850"/>
              <a:gd name="connsiteY137" fmla="*/ 3419475 h 4219575"/>
              <a:gd name="connsiteX138" fmla="*/ 6829425 w 8705850"/>
              <a:gd name="connsiteY138" fmla="*/ 3467100 h 4219575"/>
              <a:gd name="connsiteX139" fmla="*/ 6858000 w 8705850"/>
              <a:gd name="connsiteY139" fmla="*/ 3486150 h 4219575"/>
              <a:gd name="connsiteX140" fmla="*/ 6886575 w 8705850"/>
              <a:gd name="connsiteY140" fmla="*/ 3495675 h 4219575"/>
              <a:gd name="connsiteX141" fmla="*/ 6924675 w 8705850"/>
              <a:gd name="connsiteY141" fmla="*/ 3514725 h 4219575"/>
              <a:gd name="connsiteX142" fmla="*/ 6953250 w 8705850"/>
              <a:gd name="connsiteY142" fmla="*/ 3524250 h 4219575"/>
              <a:gd name="connsiteX143" fmla="*/ 7029450 w 8705850"/>
              <a:gd name="connsiteY143" fmla="*/ 3552825 h 4219575"/>
              <a:gd name="connsiteX144" fmla="*/ 7115175 w 8705850"/>
              <a:gd name="connsiteY144" fmla="*/ 3590925 h 4219575"/>
              <a:gd name="connsiteX145" fmla="*/ 7153275 w 8705850"/>
              <a:gd name="connsiteY145" fmla="*/ 3609975 h 4219575"/>
              <a:gd name="connsiteX146" fmla="*/ 7181850 w 8705850"/>
              <a:gd name="connsiteY146" fmla="*/ 3629025 h 4219575"/>
              <a:gd name="connsiteX147" fmla="*/ 7229475 w 8705850"/>
              <a:gd name="connsiteY147" fmla="*/ 3638550 h 4219575"/>
              <a:gd name="connsiteX148" fmla="*/ 7286625 w 8705850"/>
              <a:gd name="connsiteY148" fmla="*/ 3676650 h 4219575"/>
              <a:gd name="connsiteX149" fmla="*/ 7315200 w 8705850"/>
              <a:gd name="connsiteY149" fmla="*/ 3686175 h 4219575"/>
              <a:gd name="connsiteX150" fmla="*/ 7362825 w 8705850"/>
              <a:gd name="connsiteY150" fmla="*/ 3705225 h 4219575"/>
              <a:gd name="connsiteX151" fmla="*/ 7410450 w 8705850"/>
              <a:gd name="connsiteY151" fmla="*/ 3714750 h 4219575"/>
              <a:gd name="connsiteX152" fmla="*/ 7467600 w 8705850"/>
              <a:gd name="connsiteY152" fmla="*/ 3733800 h 4219575"/>
              <a:gd name="connsiteX153" fmla="*/ 7553325 w 8705850"/>
              <a:gd name="connsiteY153" fmla="*/ 3743325 h 4219575"/>
              <a:gd name="connsiteX154" fmla="*/ 7658100 w 8705850"/>
              <a:gd name="connsiteY154" fmla="*/ 3771900 h 4219575"/>
              <a:gd name="connsiteX155" fmla="*/ 7715250 w 8705850"/>
              <a:gd name="connsiteY155" fmla="*/ 3790950 h 4219575"/>
              <a:gd name="connsiteX156" fmla="*/ 7753350 w 8705850"/>
              <a:gd name="connsiteY156" fmla="*/ 3800475 h 4219575"/>
              <a:gd name="connsiteX157" fmla="*/ 7829550 w 8705850"/>
              <a:gd name="connsiteY157" fmla="*/ 3838575 h 4219575"/>
              <a:gd name="connsiteX158" fmla="*/ 7905750 w 8705850"/>
              <a:gd name="connsiteY158" fmla="*/ 3886200 h 4219575"/>
              <a:gd name="connsiteX159" fmla="*/ 7943850 w 8705850"/>
              <a:gd name="connsiteY159" fmla="*/ 3895725 h 4219575"/>
              <a:gd name="connsiteX160" fmla="*/ 7981950 w 8705850"/>
              <a:gd name="connsiteY160" fmla="*/ 3914775 h 4219575"/>
              <a:gd name="connsiteX161" fmla="*/ 8020050 w 8705850"/>
              <a:gd name="connsiteY161" fmla="*/ 3924300 h 4219575"/>
              <a:gd name="connsiteX162" fmla="*/ 8048625 w 8705850"/>
              <a:gd name="connsiteY162" fmla="*/ 3933825 h 4219575"/>
              <a:gd name="connsiteX163" fmla="*/ 8077200 w 8705850"/>
              <a:gd name="connsiteY163" fmla="*/ 3962400 h 4219575"/>
              <a:gd name="connsiteX164" fmla="*/ 8115300 w 8705850"/>
              <a:gd name="connsiteY164" fmla="*/ 3971925 h 4219575"/>
              <a:gd name="connsiteX165" fmla="*/ 8143875 w 8705850"/>
              <a:gd name="connsiteY165" fmla="*/ 3990975 h 4219575"/>
              <a:gd name="connsiteX166" fmla="*/ 8201025 w 8705850"/>
              <a:gd name="connsiteY166" fmla="*/ 4010025 h 4219575"/>
              <a:gd name="connsiteX167" fmla="*/ 8239125 w 8705850"/>
              <a:gd name="connsiteY167" fmla="*/ 4029075 h 4219575"/>
              <a:gd name="connsiteX168" fmla="*/ 8296275 w 8705850"/>
              <a:gd name="connsiteY168" fmla="*/ 4048125 h 4219575"/>
              <a:gd name="connsiteX169" fmla="*/ 8362950 w 8705850"/>
              <a:gd name="connsiteY169" fmla="*/ 4076700 h 4219575"/>
              <a:gd name="connsiteX170" fmla="*/ 8401050 w 8705850"/>
              <a:gd name="connsiteY170" fmla="*/ 4095750 h 4219575"/>
              <a:gd name="connsiteX171" fmla="*/ 8505825 w 8705850"/>
              <a:gd name="connsiteY171" fmla="*/ 4124325 h 4219575"/>
              <a:gd name="connsiteX172" fmla="*/ 8572500 w 8705850"/>
              <a:gd name="connsiteY172" fmla="*/ 4162425 h 4219575"/>
              <a:gd name="connsiteX173" fmla="*/ 8629650 w 8705850"/>
              <a:gd name="connsiteY173" fmla="*/ 4171950 h 4219575"/>
              <a:gd name="connsiteX174" fmla="*/ 8658225 w 8705850"/>
              <a:gd name="connsiteY174" fmla="*/ 4181475 h 4219575"/>
              <a:gd name="connsiteX175" fmla="*/ 8696325 w 8705850"/>
              <a:gd name="connsiteY175" fmla="*/ 4191000 h 4219575"/>
              <a:gd name="connsiteX176" fmla="*/ 8705850 w 8705850"/>
              <a:gd name="connsiteY176" fmla="*/ 4219575 h 421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</a:cxnLst>
            <a:rect l="l" t="t" r="r" b="b"/>
            <a:pathLst>
              <a:path w="8705850" h="4219575">
                <a:moveTo>
                  <a:pt x="0" y="0"/>
                </a:moveTo>
                <a:cubicBezTo>
                  <a:pt x="9525" y="15875"/>
                  <a:pt x="20296" y="31066"/>
                  <a:pt x="28575" y="47625"/>
                </a:cubicBezTo>
                <a:cubicBezTo>
                  <a:pt x="33065" y="56605"/>
                  <a:pt x="31936" y="68275"/>
                  <a:pt x="38100" y="76200"/>
                </a:cubicBezTo>
                <a:cubicBezTo>
                  <a:pt x="54640" y="97466"/>
                  <a:pt x="76200" y="114300"/>
                  <a:pt x="95250" y="133350"/>
                </a:cubicBezTo>
                <a:cubicBezTo>
                  <a:pt x="130925" y="169025"/>
                  <a:pt x="111046" y="157665"/>
                  <a:pt x="152400" y="171450"/>
                </a:cubicBezTo>
                <a:cubicBezTo>
                  <a:pt x="187599" y="224248"/>
                  <a:pt x="151311" y="182487"/>
                  <a:pt x="200025" y="209550"/>
                </a:cubicBezTo>
                <a:cubicBezTo>
                  <a:pt x="272262" y="249681"/>
                  <a:pt x="232502" y="241961"/>
                  <a:pt x="285750" y="257175"/>
                </a:cubicBezTo>
                <a:cubicBezTo>
                  <a:pt x="295905" y="260076"/>
                  <a:pt x="340334" y="269508"/>
                  <a:pt x="352425" y="276225"/>
                </a:cubicBezTo>
                <a:cubicBezTo>
                  <a:pt x="372439" y="287344"/>
                  <a:pt x="390525" y="301625"/>
                  <a:pt x="409575" y="314325"/>
                </a:cubicBezTo>
                <a:cubicBezTo>
                  <a:pt x="419100" y="320675"/>
                  <a:pt x="427911" y="328255"/>
                  <a:pt x="438150" y="333375"/>
                </a:cubicBezTo>
                <a:cubicBezTo>
                  <a:pt x="564512" y="396556"/>
                  <a:pt x="406719" y="319905"/>
                  <a:pt x="504825" y="361950"/>
                </a:cubicBezTo>
                <a:cubicBezTo>
                  <a:pt x="574557" y="391835"/>
                  <a:pt x="510781" y="372964"/>
                  <a:pt x="581025" y="390525"/>
                </a:cubicBezTo>
                <a:cubicBezTo>
                  <a:pt x="614569" y="412888"/>
                  <a:pt x="639664" y="433030"/>
                  <a:pt x="676275" y="447675"/>
                </a:cubicBezTo>
                <a:cubicBezTo>
                  <a:pt x="761288" y="481680"/>
                  <a:pt x="707024" y="449124"/>
                  <a:pt x="762000" y="485775"/>
                </a:cubicBezTo>
                <a:cubicBezTo>
                  <a:pt x="804605" y="549682"/>
                  <a:pt x="754416" y="487069"/>
                  <a:pt x="809625" y="523875"/>
                </a:cubicBezTo>
                <a:cubicBezTo>
                  <a:pt x="820833" y="531347"/>
                  <a:pt x="826992" y="544978"/>
                  <a:pt x="838200" y="552450"/>
                </a:cubicBezTo>
                <a:cubicBezTo>
                  <a:pt x="846554" y="558019"/>
                  <a:pt x="857998" y="557099"/>
                  <a:pt x="866775" y="561975"/>
                </a:cubicBezTo>
                <a:cubicBezTo>
                  <a:pt x="886789" y="573094"/>
                  <a:pt x="904875" y="587375"/>
                  <a:pt x="923925" y="600075"/>
                </a:cubicBezTo>
                <a:lnTo>
                  <a:pt x="952500" y="619125"/>
                </a:lnTo>
                <a:cubicBezTo>
                  <a:pt x="1004789" y="697558"/>
                  <a:pt x="936422" y="607678"/>
                  <a:pt x="1000125" y="657225"/>
                </a:cubicBezTo>
                <a:cubicBezTo>
                  <a:pt x="1021391" y="673765"/>
                  <a:pt x="1031139" y="707841"/>
                  <a:pt x="1057275" y="714375"/>
                </a:cubicBezTo>
                <a:cubicBezTo>
                  <a:pt x="1088940" y="722291"/>
                  <a:pt x="1122710" y="729699"/>
                  <a:pt x="1152525" y="742950"/>
                </a:cubicBezTo>
                <a:cubicBezTo>
                  <a:pt x="1162986" y="747599"/>
                  <a:pt x="1171575" y="755650"/>
                  <a:pt x="1181100" y="762000"/>
                </a:cubicBezTo>
                <a:cubicBezTo>
                  <a:pt x="1187450" y="771525"/>
                  <a:pt x="1190625" y="784225"/>
                  <a:pt x="1200150" y="790575"/>
                </a:cubicBezTo>
                <a:cubicBezTo>
                  <a:pt x="1211042" y="797837"/>
                  <a:pt x="1226218" y="794943"/>
                  <a:pt x="1238250" y="800100"/>
                </a:cubicBezTo>
                <a:cubicBezTo>
                  <a:pt x="1248772" y="804609"/>
                  <a:pt x="1258031" y="811821"/>
                  <a:pt x="1266825" y="819150"/>
                </a:cubicBezTo>
                <a:cubicBezTo>
                  <a:pt x="1277173" y="827774"/>
                  <a:pt x="1286776" y="837377"/>
                  <a:pt x="1295400" y="847725"/>
                </a:cubicBezTo>
                <a:cubicBezTo>
                  <a:pt x="1302729" y="856519"/>
                  <a:pt x="1305511" y="869149"/>
                  <a:pt x="1314450" y="876300"/>
                </a:cubicBezTo>
                <a:cubicBezTo>
                  <a:pt x="1322290" y="882572"/>
                  <a:pt x="1333500" y="882650"/>
                  <a:pt x="1343025" y="885825"/>
                </a:cubicBezTo>
                <a:cubicBezTo>
                  <a:pt x="1352550" y="895350"/>
                  <a:pt x="1364128" y="903192"/>
                  <a:pt x="1371600" y="914400"/>
                </a:cubicBezTo>
                <a:cubicBezTo>
                  <a:pt x="1377169" y="922754"/>
                  <a:pt x="1374853" y="935135"/>
                  <a:pt x="1381125" y="942975"/>
                </a:cubicBezTo>
                <a:cubicBezTo>
                  <a:pt x="1388276" y="951914"/>
                  <a:pt x="1400906" y="954696"/>
                  <a:pt x="1409700" y="962025"/>
                </a:cubicBezTo>
                <a:cubicBezTo>
                  <a:pt x="1420048" y="970649"/>
                  <a:pt x="1428750" y="981075"/>
                  <a:pt x="1438275" y="990600"/>
                </a:cubicBezTo>
                <a:cubicBezTo>
                  <a:pt x="1441450" y="1000125"/>
                  <a:pt x="1442924" y="1010398"/>
                  <a:pt x="1447800" y="1019175"/>
                </a:cubicBezTo>
                <a:cubicBezTo>
                  <a:pt x="1458919" y="1039189"/>
                  <a:pt x="1478660" y="1054605"/>
                  <a:pt x="1485900" y="1076325"/>
                </a:cubicBezTo>
                <a:lnTo>
                  <a:pt x="1524000" y="1190625"/>
                </a:lnTo>
                <a:cubicBezTo>
                  <a:pt x="1527175" y="1200150"/>
                  <a:pt x="1527956" y="1210846"/>
                  <a:pt x="1533525" y="1219200"/>
                </a:cubicBezTo>
                <a:cubicBezTo>
                  <a:pt x="1539875" y="1228725"/>
                  <a:pt x="1547455" y="1237536"/>
                  <a:pt x="1552575" y="1247775"/>
                </a:cubicBezTo>
                <a:cubicBezTo>
                  <a:pt x="1557065" y="1256755"/>
                  <a:pt x="1557610" y="1267370"/>
                  <a:pt x="1562100" y="1276350"/>
                </a:cubicBezTo>
                <a:cubicBezTo>
                  <a:pt x="1569842" y="1291834"/>
                  <a:pt x="1602175" y="1332239"/>
                  <a:pt x="1609725" y="1343025"/>
                </a:cubicBezTo>
                <a:cubicBezTo>
                  <a:pt x="1622855" y="1361782"/>
                  <a:pt x="1635125" y="1381125"/>
                  <a:pt x="1647825" y="1400175"/>
                </a:cubicBezTo>
                <a:lnTo>
                  <a:pt x="1666875" y="1428750"/>
                </a:lnTo>
                <a:cubicBezTo>
                  <a:pt x="1670050" y="1447800"/>
                  <a:pt x="1672210" y="1467047"/>
                  <a:pt x="1676400" y="1485900"/>
                </a:cubicBezTo>
                <a:cubicBezTo>
                  <a:pt x="1678578" y="1495701"/>
                  <a:pt x="1683167" y="1504821"/>
                  <a:pt x="1685925" y="1514475"/>
                </a:cubicBezTo>
                <a:cubicBezTo>
                  <a:pt x="1689521" y="1527062"/>
                  <a:pt x="1691688" y="1540036"/>
                  <a:pt x="1695450" y="1552575"/>
                </a:cubicBezTo>
                <a:cubicBezTo>
                  <a:pt x="1701220" y="1571809"/>
                  <a:pt x="1709630" y="1590244"/>
                  <a:pt x="1714500" y="1609725"/>
                </a:cubicBezTo>
                <a:cubicBezTo>
                  <a:pt x="1717675" y="1622425"/>
                  <a:pt x="1720263" y="1635286"/>
                  <a:pt x="1724025" y="1647825"/>
                </a:cubicBezTo>
                <a:cubicBezTo>
                  <a:pt x="1729795" y="1667059"/>
                  <a:pt x="1736725" y="1685925"/>
                  <a:pt x="1743075" y="1704975"/>
                </a:cubicBezTo>
                <a:cubicBezTo>
                  <a:pt x="1746250" y="1714500"/>
                  <a:pt x="1745500" y="1726450"/>
                  <a:pt x="1752600" y="1733550"/>
                </a:cubicBezTo>
                <a:cubicBezTo>
                  <a:pt x="1762125" y="1743075"/>
                  <a:pt x="1772551" y="1751777"/>
                  <a:pt x="1781175" y="1762125"/>
                </a:cubicBezTo>
                <a:cubicBezTo>
                  <a:pt x="1788504" y="1770919"/>
                  <a:pt x="1791610" y="1783162"/>
                  <a:pt x="1800225" y="1790700"/>
                </a:cubicBezTo>
                <a:cubicBezTo>
                  <a:pt x="1817455" y="1805777"/>
                  <a:pt x="1841186" y="1812611"/>
                  <a:pt x="1857375" y="1828800"/>
                </a:cubicBezTo>
                <a:cubicBezTo>
                  <a:pt x="1866900" y="1838325"/>
                  <a:pt x="1877326" y="1847027"/>
                  <a:pt x="1885950" y="1857375"/>
                </a:cubicBezTo>
                <a:cubicBezTo>
                  <a:pt x="1893279" y="1866169"/>
                  <a:pt x="1896905" y="1877855"/>
                  <a:pt x="1905000" y="1885950"/>
                </a:cubicBezTo>
                <a:cubicBezTo>
                  <a:pt x="1913095" y="1894045"/>
                  <a:pt x="1924260" y="1898346"/>
                  <a:pt x="1933575" y="1905000"/>
                </a:cubicBezTo>
                <a:cubicBezTo>
                  <a:pt x="1984032" y="1941041"/>
                  <a:pt x="1953879" y="1927643"/>
                  <a:pt x="2000250" y="1943100"/>
                </a:cubicBezTo>
                <a:cubicBezTo>
                  <a:pt x="2019300" y="1962150"/>
                  <a:pt x="2031842" y="1991731"/>
                  <a:pt x="2057400" y="2000250"/>
                </a:cubicBezTo>
                <a:cubicBezTo>
                  <a:pt x="2066925" y="2003425"/>
                  <a:pt x="2077198" y="2004899"/>
                  <a:pt x="2085975" y="2009775"/>
                </a:cubicBezTo>
                <a:cubicBezTo>
                  <a:pt x="2105989" y="2020894"/>
                  <a:pt x="2124075" y="2035175"/>
                  <a:pt x="2143125" y="2047875"/>
                </a:cubicBezTo>
                <a:cubicBezTo>
                  <a:pt x="2152650" y="2054225"/>
                  <a:pt x="2161461" y="2061805"/>
                  <a:pt x="2171700" y="2066925"/>
                </a:cubicBezTo>
                <a:cubicBezTo>
                  <a:pt x="2184400" y="2073275"/>
                  <a:pt x="2196617" y="2080702"/>
                  <a:pt x="2209800" y="2085975"/>
                </a:cubicBezTo>
                <a:cubicBezTo>
                  <a:pt x="2228444" y="2093433"/>
                  <a:pt x="2250242" y="2093886"/>
                  <a:pt x="2266950" y="2105025"/>
                </a:cubicBezTo>
                <a:cubicBezTo>
                  <a:pt x="2348842" y="2159620"/>
                  <a:pt x="2245230" y="2094165"/>
                  <a:pt x="2324100" y="2133600"/>
                </a:cubicBezTo>
                <a:cubicBezTo>
                  <a:pt x="2397958" y="2170529"/>
                  <a:pt x="2309426" y="2138234"/>
                  <a:pt x="2381250" y="2162175"/>
                </a:cubicBezTo>
                <a:cubicBezTo>
                  <a:pt x="2393950" y="2171700"/>
                  <a:pt x="2406432" y="2181523"/>
                  <a:pt x="2419350" y="2190750"/>
                </a:cubicBezTo>
                <a:cubicBezTo>
                  <a:pt x="2428665" y="2197404"/>
                  <a:pt x="2439131" y="2202471"/>
                  <a:pt x="2447925" y="2209800"/>
                </a:cubicBezTo>
                <a:cubicBezTo>
                  <a:pt x="2458273" y="2218424"/>
                  <a:pt x="2465867" y="2230105"/>
                  <a:pt x="2476500" y="2238375"/>
                </a:cubicBezTo>
                <a:cubicBezTo>
                  <a:pt x="2494572" y="2252431"/>
                  <a:pt x="2517461" y="2260286"/>
                  <a:pt x="2533650" y="2276475"/>
                </a:cubicBezTo>
                <a:cubicBezTo>
                  <a:pt x="2543175" y="2286000"/>
                  <a:pt x="2551264" y="2297220"/>
                  <a:pt x="2562225" y="2305050"/>
                </a:cubicBezTo>
                <a:cubicBezTo>
                  <a:pt x="2586751" y="2322569"/>
                  <a:pt x="2631450" y="2334475"/>
                  <a:pt x="2657475" y="2343150"/>
                </a:cubicBezTo>
                <a:lnTo>
                  <a:pt x="2686050" y="2352675"/>
                </a:lnTo>
                <a:cubicBezTo>
                  <a:pt x="2695575" y="2355850"/>
                  <a:pt x="2705303" y="2358471"/>
                  <a:pt x="2714625" y="2362200"/>
                </a:cubicBezTo>
                <a:cubicBezTo>
                  <a:pt x="2730500" y="2368550"/>
                  <a:pt x="2745729" y="2376845"/>
                  <a:pt x="2762250" y="2381250"/>
                </a:cubicBezTo>
                <a:cubicBezTo>
                  <a:pt x="2859461" y="2407173"/>
                  <a:pt x="2843665" y="2394819"/>
                  <a:pt x="2933700" y="2409825"/>
                </a:cubicBezTo>
                <a:cubicBezTo>
                  <a:pt x="2965638" y="2415148"/>
                  <a:pt x="2997012" y="2423552"/>
                  <a:pt x="3028950" y="2428875"/>
                </a:cubicBezTo>
                <a:cubicBezTo>
                  <a:pt x="3048000" y="2432050"/>
                  <a:pt x="3067247" y="2434210"/>
                  <a:pt x="3086100" y="2438400"/>
                </a:cubicBezTo>
                <a:cubicBezTo>
                  <a:pt x="3124212" y="2446869"/>
                  <a:pt x="3108692" y="2452264"/>
                  <a:pt x="3152775" y="2457450"/>
                </a:cubicBezTo>
                <a:cubicBezTo>
                  <a:pt x="3193888" y="2462287"/>
                  <a:pt x="3235325" y="2463800"/>
                  <a:pt x="3276600" y="2466975"/>
                </a:cubicBezTo>
                <a:cubicBezTo>
                  <a:pt x="3289300" y="2470150"/>
                  <a:pt x="3302281" y="2472360"/>
                  <a:pt x="3314700" y="2476500"/>
                </a:cubicBezTo>
                <a:cubicBezTo>
                  <a:pt x="3355225" y="2490008"/>
                  <a:pt x="3360480" y="2499369"/>
                  <a:pt x="3400425" y="2505075"/>
                </a:cubicBezTo>
                <a:cubicBezTo>
                  <a:pt x="3432013" y="2509588"/>
                  <a:pt x="3464059" y="2510289"/>
                  <a:pt x="3495675" y="2514600"/>
                </a:cubicBezTo>
                <a:cubicBezTo>
                  <a:pt x="3533946" y="2519819"/>
                  <a:pt x="3573332" y="2521436"/>
                  <a:pt x="3609975" y="2533650"/>
                </a:cubicBezTo>
                <a:cubicBezTo>
                  <a:pt x="3619500" y="2536825"/>
                  <a:pt x="3628672" y="2541379"/>
                  <a:pt x="3638550" y="2543175"/>
                </a:cubicBezTo>
                <a:cubicBezTo>
                  <a:pt x="3663735" y="2547754"/>
                  <a:pt x="3689450" y="2548808"/>
                  <a:pt x="3714750" y="2552700"/>
                </a:cubicBezTo>
                <a:cubicBezTo>
                  <a:pt x="3819621" y="2568834"/>
                  <a:pt x="3700435" y="2553793"/>
                  <a:pt x="3819525" y="2581275"/>
                </a:cubicBezTo>
                <a:cubicBezTo>
                  <a:pt x="3841401" y="2586323"/>
                  <a:pt x="3863975" y="2587625"/>
                  <a:pt x="3886200" y="2590800"/>
                </a:cubicBezTo>
                <a:cubicBezTo>
                  <a:pt x="3918427" y="2601542"/>
                  <a:pt x="3960282" y="2616306"/>
                  <a:pt x="3990975" y="2619375"/>
                </a:cubicBezTo>
                <a:cubicBezTo>
                  <a:pt x="4022725" y="2622550"/>
                  <a:pt x="4054597" y="2624683"/>
                  <a:pt x="4086225" y="2628900"/>
                </a:cubicBezTo>
                <a:cubicBezTo>
                  <a:pt x="4102272" y="2631040"/>
                  <a:pt x="4117849" y="2635963"/>
                  <a:pt x="4133850" y="2638425"/>
                </a:cubicBezTo>
                <a:cubicBezTo>
                  <a:pt x="4159150" y="2642317"/>
                  <a:pt x="4184801" y="2643742"/>
                  <a:pt x="4210050" y="2647950"/>
                </a:cubicBezTo>
                <a:cubicBezTo>
                  <a:pt x="4222963" y="2650102"/>
                  <a:pt x="4235371" y="2654635"/>
                  <a:pt x="4248150" y="2657475"/>
                </a:cubicBezTo>
                <a:cubicBezTo>
                  <a:pt x="4263954" y="2660987"/>
                  <a:pt x="4280069" y="2663073"/>
                  <a:pt x="4295775" y="2667000"/>
                </a:cubicBezTo>
                <a:cubicBezTo>
                  <a:pt x="4305515" y="2669435"/>
                  <a:pt x="4314696" y="2673767"/>
                  <a:pt x="4324350" y="2676525"/>
                </a:cubicBezTo>
                <a:cubicBezTo>
                  <a:pt x="4336937" y="2680121"/>
                  <a:pt x="4349911" y="2682288"/>
                  <a:pt x="4362450" y="2686050"/>
                </a:cubicBezTo>
                <a:cubicBezTo>
                  <a:pt x="4403534" y="2698375"/>
                  <a:pt x="4422525" y="2704050"/>
                  <a:pt x="4457700" y="2724150"/>
                </a:cubicBezTo>
                <a:cubicBezTo>
                  <a:pt x="4497673" y="2746992"/>
                  <a:pt x="4484729" y="2752467"/>
                  <a:pt x="4543425" y="2762250"/>
                </a:cubicBezTo>
                <a:cubicBezTo>
                  <a:pt x="4562475" y="2765425"/>
                  <a:pt x="4581839" y="2767091"/>
                  <a:pt x="4600575" y="2771775"/>
                </a:cubicBezTo>
                <a:cubicBezTo>
                  <a:pt x="4620056" y="2776645"/>
                  <a:pt x="4638675" y="2784475"/>
                  <a:pt x="4657725" y="2790825"/>
                </a:cubicBezTo>
                <a:lnTo>
                  <a:pt x="4714875" y="2809875"/>
                </a:lnTo>
                <a:cubicBezTo>
                  <a:pt x="4724400" y="2813050"/>
                  <a:pt x="4733710" y="2816965"/>
                  <a:pt x="4743450" y="2819400"/>
                </a:cubicBezTo>
                <a:cubicBezTo>
                  <a:pt x="4756150" y="2822575"/>
                  <a:pt x="4769293" y="2824328"/>
                  <a:pt x="4781550" y="2828925"/>
                </a:cubicBezTo>
                <a:cubicBezTo>
                  <a:pt x="4794845" y="2833911"/>
                  <a:pt x="4806599" y="2842382"/>
                  <a:pt x="4819650" y="2847975"/>
                </a:cubicBezTo>
                <a:cubicBezTo>
                  <a:pt x="4828878" y="2851930"/>
                  <a:pt x="4839245" y="2853010"/>
                  <a:pt x="4848225" y="2857500"/>
                </a:cubicBezTo>
                <a:cubicBezTo>
                  <a:pt x="4858464" y="2862620"/>
                  <a:pt x="4866561" y="2871430"/>
                  <a:pt x="4876800" y="2876550"/>
                </a:cubicBezTo>
                <a:cubicBezTo>
                  <a:pt x="4885780" y="2881040"/>
                  <a:pt x="4896235" y="2881920"/>
                  <a:pt x="4905375" y="2886075"/>
                </a:cubicBezTo>
                <a:cubicBezTo>
                  <a:pt x="4969200" y="2915086"/>
                  <a:pt x="4962184" y="2919996"/>
                  <a:pt x="5010150" y="2933700"/>
                </a:cubicBezTo>
                <a:cubicBezTo>
                  <a:pt x="5022737" y="2937296"/>
                  <a:pt x="5035663" y="2939629"/>
                  <a:pt x="5048250" y="2943225"/>
                </a:cubicBezTo>
                <a:cubicBezTo>
                  <a:pt x="5057904" y="2945983"/>
                  <a:pt x="5067171" y="2949992"/>
                  <a:pt x="5076825" y="2952750"/>
                </a:cubicBezTo>
                <a:cubicBezTo>
                  <a:pt x="5089412" y="2956346"/>
                  <a:pt x="5102386" y="2958513"/>
                  <a:pt x="5114925" y="2962275"/>
                </a:cubicBezTo>
                <a:cubicBezTo>
                  <a:pt x="5134159" y="2968045"/>
                  <a:pt x="5152594" y="2976455"/>
                  <a:pt x="5172075" y="2981325"/>
                </a:cubicBezTo>
                <a:cubicBezTo>
                  <a:pt x="5184775" y="2984500"/>
                  <a:pt x="5197396" y="2988010"/>
                  <a:pt x="5210175" y="2990850"/>
                </a:cubicBezTo>
                <a:cubicBezTo>
                  <a:pt x="5225979" y="2994362"/>
                  <a:pt x="5242094" y="2996448"/>
                  <a:pt x="5257800" y="3000375"/>
                </a:cubicBezTo>
                <a:cubicBezTo>
                  <a:pt x="5267540" y="3002810"/>
                  <a:pt x="5276721" y="3007142"/>
                  <a:pt x="5286375" y="3009900"/>
                </a:cubicBezTo>
                <a:cubicBezTo>
                  <a:pt x="5298962" y="3013496"/>
                  <a:pt x="5311696" y="3016585"/>
                  <a:pt x="5324475" y="3019425"/>
                </a:cubicBezTo>
                <a:cubicBezTo>
                  <a:pt x="5340279" y="3022937"/>
                  <a:pt x="5356394" y="3025023"/>
                  <a:pt x="5372100" y="3028950"/>
                </a:cubicBezTo>
                <a:cubicBezTo>
                  <a:pt x="5419406" y="3040776"/>
                  <a:pt x="5384255" y="3037080"/>
                  <a:pt x="5438775" y="3057525"/>
                </a:cubicBezTo>
                <a:cubicBezTo>
                  <a:pt x="5451032" y="3062122"/>
                  <a:pt x="5464096" y="3064210"/>
                  <a:pt x="5476875" y="3067050"/>
                </a:cubicBezTo>
                <a:cubicBezTo>
                  <a:pt x="5492679" y="3070562"/>
                  <a:pt x="5508696" y="3073063"/>
                  <a:pt x="5524500" y="3076575"/>
                </a:cubicBezTo>
                <a:cubicBezTo>
                  <a:pt x="5537279" y="3079415"/>
                  <a:pt x="5549821" y="3083260"/>
                  <a:pt x="5562600" y="3086100"/>
                </a:cubicBezTo>
                <a:cubicBezTo>
                  <a:pt x="5578404" y="3089612"/>
                  <a:pt x="5594421" y="3092113"/>
                  <a:pt x="5610225" y="3095625"/>
                </a:cubicBezTo>
                <a:cubicBezTo>
                  <a:pt x="5623004" y="3098465"/>
                  <a:pt x="5635412" y="3102998"/>
                  <a:pt x="5648325" y="3105150"/>
                </a:cubicBezTo>
                <a:cubicBezTo>
                  <a:pt x="5673574" y="3109358"/>
                  <a:pt x="5699225" y="3110783"/>
                  <a:pt x="5724525" y="3114675"/>
                </a:cubicBezTo>
                <a:cubicBezTo>
                  <a:pt x="5745803" y="3117949"/>
                  <a:pt x="5788128" y="3127404"/>
                  <a:pt x="5810250" y="3133725"/>
                </a:cubicBezTo>
                <a:cubicBezTo>
                  <a:pt x="5819904" y="3136483"/>
                  <a:pt x="5829597" y="3139295"/>
                  <a:pt x="5838825" y="3143250"/>
                </a:cubicBezTo>
                <a:cubicBezTo>
                  <a:pt x="5851876" y="3148843"/>
                  <a:pt x="5863455" y="3157810"/>
                  <a:pt x="5876925" y="3162300"/>
                </a:cubicBezTo>
                <a:cubicBezTo>
                  <a:pt x="5892284" y="3167420"/>
                  <a:pt x="5908746" y="3168313"/>
                  <a:pt x="5924550" y="3171825"/>
                </a:cubicBezTo>
                <a:cubicBezTo>
                  <a:pt x="5960455" y="3179804"/>
                  <a:pt x="5968263" y="3180908"/>
                  <a:pt x="6000750" y="3200400"/>
                </a:cubicBezTo>
                <a:cubicBezTo>
                  <a:pt x="6020383" y="3212180"/>
                  <a:pt x="6038850" y="3225800"/>
                  <a:pt x="6057900" y="3238500"/>
                </a:cubicBezTo>
                <a:cubicBezTo>
                  <a:pt x="6067425" y="3244850"/>
                  <a:pt x="6075615" y="3253930"/>
                  <a:pt x="6086475" y="3257550"/>
                </a:cubicBezTo>
                <a:cubicBezTo>
                  <a:pt x="6182507" y="3289561"/>
                  <a:pt x="6033549" y="3240720"/>
                  <a:pt x="6153150" y="3276600"/>
                </a:cubicBezTo>
                <a:cubicBezTo>
                  <a:pt x="6172384" y="3282370"/>
                  <a:pt x="6190819" y="3290780"/>
                  <a:pt x="6210300" y="3295650"/>
                </a:cubicBezTo>
                <a:cubicBezTo>
                  <a:pt x="6229036" y="3300334"/>
                  <a:pt x="6248597" y="3300985"/>
                  <a:pt x="6267450" y="3305175"/>
                </a:cubicBezTo>
                <a:cubicBezTo>
                  <a:pt x="6277251" y="3307353"/>
                  <a:pt x="6286371" y="3311942"/>
                  <a:pt x="6296025" y="3314700"/>
                </a:cubicBezTo>
                <a:cubicBezTo>
                  <a:pt x="6308612" y="3318296"/>
                  <a:pt x="6321346" y="3321385"/>
                  <a:pt x="6334125" y="3324225"/>
                </a:cubicBezTo>
                <a:cubicBezTo>
                  <a:pt x="6390228" y="3336692"/>
                  <a:pt x="6391969" y="3335027"/>
                  <a:pt x="6457950" y="3343275"/>
                </a:cubicBezTo>
                <a:cubicBezTo>
                  <a:pt x="6513977" y="3361951"/>
                  <a:pt x="6468485" y="3348862"/>
                  <a:pt x="6562725" y="3362325"/>
                </a:cubicBezTo>
                <a:cubicBezTo>
                  <a:pt x="6581844" y="3365056"/>
                  <a:pt x="6600825" y="3368675"/>
                  <a:pt x="6619875" y="3371850"/>
                </a:cubicBezTo>
                <a:cubicBezTo>
                  <a:pt x="6758239" y="3464092"/>
                  <a:pt x="6614606" y="3377592"/>
                  <a:pt x="6715125" y="3419475"/>
                </a:cubicBezTo>
                <a:cubicBezTo>
                  <a:pt x="6846988" y="3474418"/>
                  <a:pt x="6743513" y="3445622"/>
                  <a:pt x="6829425" y="3467100"/>
                </a:cubicBezTo>
                <a:cubicBezTo>
                  <a:pt x="6838950" y="3473450"/>
                  <a:pt x="6847761" y="3481030"/>
                  <a:pt x="6858000" y="3486150"/>
                </a:cubicBezTo>
                <a:cubicBezTo>
                  <a:pt x="6866980" y="3490640"/>
                  <a:pt x="6877347" y="3491720"/>
                  <a:pt x="6886575" y="3495675"/>
                </a:cubicBezTo>
                <a:cubicBezTo>
                  <a:pt x="6899626" y="3501268"/>
                  <a:pt x="6911624" y="3509132"/>
                  <a:pt x="6924675" y="3514725"/>
                </a:cubicBezTo>
                <a:cubicBezTo>
                  <a:pt x="6933903" y="3518680"/>
                  <a:pt x="6944022" y="3520295"/>
                  <a:pt x="6953250" y="3524250"/>
                </a:cubicBezTo>
                <a:cubicBezTo>
                  <a:pt x="7022982" y="3554135"/>
                  <a:pt x="6959206" y="3535264"/>
                  <a:pt x="7029450" y="3552825"/>
                </a:cubicBezTo>
                <a:cubicBezTo>
                  <a:pt x="7100330" y="3605985"/>
                  <a:pt x="7031762" y="3563121"/>
                  <a:pt x="7115175" y="3590925"/>
                </a:cubicBezTo>
                <a:cubicBezTo>
                  <a:pt x="7128645" y="3595415"/>
                  <a:pt x="7140947" y="3602930"/>
                  <a:pt x="7153275" y="3609975"/>
                </a:cubicBezTo>
                <a:cubicBezTo>
                  <a:pt x="7163214" y="3615655"/>
                  <a:pt x="7171131" y="3625005"/>
                  <a:pt x="7181850" y="3629025"/>
                </a:cubicBezTo>
                <a:cubicBezTo>
                  <a:pt x="7197009" y="3634709"/>
                  <a:pt x="7213600" y="3635375"/>
                  <a:pt x="7229475" y="3638550"/>
                </a:cubicBezTo>
                <a:cubicBezTo>
                  <a:pt x="7248525" y="3651250"/>
                  <a:pt x="7264905" y="3669410"/>
                  <a:pt x="7286625" y="3676650"/>
                </a:cubicBezTo>
                <a:cubicBezTo>
                  <a:pt x="7296150" y="3679825"/>
                  <a:pt x="7305799" y="3682650"/>
                  <a:pt x="7315200" y="3686175"/>
                </a:cubicBezTo>
                <a:cubicBezTo>
                  <a:pt x="7331209" y="3692178"/>
                  <a:pt x="7346448" y="3700312"/>
                  <a:pt x="7362825" y="3705225"/>
                </a:cubicBezTo>
                <a:cubicBezTo>
                  <a:pt x="7378332" y="3709877"/>
                  <a:pt x="7394831" y="3710490"/>
                  <a:pt x="7410450" y="3714750"/>
                </a:cubicBezTo>
                <a:cubicBezTo>
                  <a:pt x="7429823" y="3720034"/>
                  <a:pt x="7447642" y="3731582"/>
                  <a:pt x="7467600" y="3733800"/>
                </a:cubicBezTo>
                <a:lnTo>
                  <a:pt x="7553325" y="3743325"/>
                </a:lnTo>
                <a:cubicBezTo>
                  <a:pt x="7726027" y="3800892"/>
                  <a:pt x="7510006" y="3731511"/>
                  <a:pt x="7658100" y="3771900"/>
                </a:cubicBezTo>
                <a:cubicBezTo>
                  <a:pt x="7677473" y="3777184"/>
                  <a:pt x="7696016" y="3785180"/>
                  <a:pt x="7715250" y="3790950"/>
                </a:cubicBezTo>
                <a:cubicBezTo>
                  <a:pt x="7727789" y="3794712"/>
                  <a:pt x="7740650" y="3797300"/>
                  <a:pt x="7753350" y="3800475"/>
                </a:cubicBezTo>
                <a:cubicBezTo>
                  <a:pt x="7803496" y="3850621"/>
                  <a:pt x="7756549" y="3814241"/>
                  <a:pt x="7829550" y="3838575"/>
                </a:cubicBezTo>
                <a:cubicBezTo>
                  <a:pt x="7895907" y="3860694"/>
                  <a:pt x="7840574" y="3853612"/>
                  <a:pt x="7905750" y="3886200"/>
                </a:cubicBezTo>
                <a:cubicBezTo>
                  <a:pt x="7917459" y="3892054"/>
                  <a:pt x="7931593" y="3891128"/>
                  <a:pt x="7943850" y="3895725"/>
                </a:cubicBezTo>
                <a:cubicBezTo>
                  <a:pt x="7957145" y="3900711"/>
                  <a:pt x="7968655" y="3909789"/>
                  <a:pt x="7981950" y="3914775"/>
                </a:cubicBezTo>
                <a:cubicBezTo>
                  <a:pt x="7994207" y="3919372"/>
                  <a:pt x="8007463" y="3920704"/>
                  <a:pt x="8020050" y="3924300"/>
                </a:cubicBezTo>
                <a:cubicBezTo>
                  <a:pt x="8029704" y="3927058"/>
                  <a:pt x="8039100" y="3930650"/>
                  <a:pt x="8048625" y="3933825"/>
                </a:cubicBezTo>
                <a:cubicBezTo>
                  <a:pt x="8058150" y="3943350"/>
                  <a:pt x="8065504" y="3955717"/>
                  <a:pt x="8077200" y="3962400"/>
                </a:cubicBezTo>
                <a:cubicBezTo>
                  <a:pt x="8088566" y="3968895"/>
                  <a:pt x="8103268" y="3966768"/>
                  <a:pt x="8115300" y="3971925"/>
                </a:cubicBezTo>
                <a:cubicBezTo>
                  <a:pt x="8125822" y="3976434"/>
                  <a:pt x="8133414" y="3986326"/>
                  <a:pt x="8143875" y="3990975"/>
                </a:cubicBezTo>
                <a:cubicBezTo>
                  <a:pt x="8162225" y="3999130"/>
                  <a:pt x="8183064" y="4001045"/>
                  <a:pt x="8201025" y="4010025"/>
                </a:cubicBezTo>
                <a:cubicBezTo>
                  <a:pt x="8213725" y="4016375"/>
                  <a:pt x="8225942" y="4023802"/>
                  <a:pt x="8239125" y="4029075"/>
                </a:cubicBezTo>
                <a:cubicBezTo>
                  <a:pt x="8257769" y="4036533"/>
                  <a:pt x="8278314" y="4039145"/>
                  <a:pt x="8296275" y="4048125"/>
                </a:cubicBezTo>
                <a:cubicBezTo>
                  <a:pt x="8422637" y="4111306"/>
                  <a:pt x="8264844" y="4034655"/>
                  <a:pt x="8362950" y="4076700"/>
                </a:cubicBezTo>
                <a:cubicBezTo>
                  <a:pt x="8376001" y="4082293"/>
                  <a:pt x="8387999" y="4090157"/>
                  <a:pt x="8401050" y="4095750"/>
                </a:cubicBezTo>
                <a:cubicBezTo>
                  <a:pt x="8425976" y="4106433"/>
                  <a:pt x="8494170" y="4121411"/>
                  <a:pt x="8505825" y="4124325"/>
                </a:cubicBezTo>
                <a:cubicBezTo>
                  <a:pt x="8528050" y="4137025"/>
                  <a:pt x="8548609" y="4153236"/>
                  <a:pt x="8572500" y="4162425"/>
                </a:cubicBezTo>
                <a:cubicBezTo>
                  <a:pt x="8590525" y="4169358"/>
                  <a:pt x="8610797" y="4167760"/>
                  <a:pt x="8629650" y="4171950"/>
                </a:cubicBezTo>
                <a:cubicBezTo>
                  <a:pt x="8639451" y="4174128"/>
                  <a:pt x="8648571" y="4178717"/>
                  <a:pt x="8658225" y="4181475"/>
                </a:cubicBezTo>
                <a:cubicBezTo>
                  <a:pt x="8670812" y="4185071"/>
                  <a:pt x="8683625" y="4187825"/>
                  <a:pt x="8696325" y="4191000"/>
                </a:cubicBezTo>
                <a:lnTo>
                  <a:pt x="8705850" y="4219575"/>
                </a:ln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8EDA7F-974E-4C80-AAEF-53EB19D7E4B3}"/>
              </a:ext>
            </a:extLst>
          </p:cNvPr>
          <p:cNvCxnSpPr/>
          <p:nvPr/>
        </p:nvCxnSpPr>
        <p:spPr>
          <a:xfrm flipV="1">
            <a:off x="7380312" y="3822948"/>
            <a:ext cx="0" cy="10801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20AE6A-C9E0-4FF7-A475-90883F17F5FB}"/>
              </a:ext>
            </a:extLst>
          </p:cNvPr>
          <p:cNvCxnSpPr>
            <a:cxnSpLocks/>
          </p:cNvCxnSpPr>
          <p:nvPr/>
        </p:nvCxnSpPr>
        <p:spPr>
          <a:xfrm>
            <a:off x="467544" y="3822948"/>
            <a:ext cx="0" cy="122413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515226-442D-43F2-A3DE-39B61D5FEDE6}"/>
              </a:ext>
            </a:extLst>
          </p:cNvPr>
          <p:cNvSpPr txBox="1"/>
          <p:nvPr/>
        </p:nvSpPr>
        <p:spPr>
          <a:xfrm>
            <a:off x="67941" y="6303312"/>
            <a:ext cx="84969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200" b="1" dirty="0"/>
              <a:t>Death Valley, California</a:t>
            </a:r>
            <a:endParaRPr lang="en-GB" sz="2200" dirty="0">
              <a:sym typeface="Wingdings" panose="05000000000000000000" pitchFamily="2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84579-E6E7-499E-BB32-C76F23A6845C}"/>
              </a:ext>
            </a:extLst>
          </p:cNvPr>
          <p:cNvSpPr txBox="1"/>
          <p:nvPr/>
        </p:nvSpPr>
        <p:spPr>
          <a:xfrm>
            <a:off x="0" y="5120252"/>
            <a:ext cx="201622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500" b="1" dirty="0">
                <a:solidFill>
                  <a:schemeClr val="bg1"/>
                </a:solidFill>
              </a:rPr>
              <a:t>Subsidence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F2661E-5D2B-4925-B417-914A1B03D0FD}"/>
              </a:ext>
            </a:extLst>
          </p:cNvPr>
          <p:cNvSpPr txBox="1"/>
          <p:nvPr/>
        </p:nvSpPr>
        <p:spPr>
          <a:xfrm>
            <a:off x="6876256" y="3345894"/>
            <a:ext cx="118479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500" b="1" dirty="0">
                <a:solidFill>
                  <a:schemeClr val="bg1"/>
                </a:solidFill>
              </a:rPr>
              <a:t>Uplift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D18D2-DDE3-4F20-82E7-A3B699F867CC}"/>
              </a:ext>
            </a:extLst>
          </p:cNvPr>
          <p:cNvSpPr txBox="1"/>
          <p:nvPr/>
        </p:nvSpPr>
        <p:spPr>
          <a:xfrm>
            <a:off x="5209753" y="1342268"/>
            <a:ext cx="3312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500" b="1" dirty="0">
                <a:solidFill>
                  <a:schemeClr val="bg1"/>
                </a:solidFill>
              </a:rPr>
              <a:t>High relief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500" b="1" dirty="0">
                <a:solidFill>
                  <a:schemeClr val="bg1"/>
                </a:solidFill>
              </a:rPr>
              <a:t>Bedrock and </a:t>
            </a:r>
            <a:r>
              <a:rPr lang="en-GB" sz="2500" b="1" dirty="0" err="1">
                <a:solidFill>
                  <a:schemeClr val="bg1"/>
                </a:solidFill>
              </a:rPr>
              <a:t>regolith</a:t>
            </a:r>
            <a:r>
              <a:rPr lang="en-GB" sz="2500" b="1" dirty="0">
                <a:solidFill>
                  <a:schemeClr val="bg1"/>
                </a:solidFill>
              </a:rPr>
              <a:t> at surface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8093DC-F8E5-4D09-B972-9F485B0746A4}"/>
              </a:ext>
            </a:extLst>
          </p:cNvPr>
          <p:cNvSpPr txBox="1"/>
          <p:nvPr/>
        </p:nvSpPr>
        <p:spPr>
          <a:xfrm>
            <a:off x="1639686" y="4819231"/>
            <a:ext cx="41830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500" b="1" dirty="0">
                <a:solidFill>
                  <a:schemeClr val="bg1"/>
                </a:solidFill>
              </a:rPr>
              <a:t>Low relief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500" b="1" dirty="0">
                <a:solidFill>
                  <a:schemeClr val="bg1"/>
                </a:solidFill>
              </a:rPr>
              <a:t>Bedrock  buried under thick sediment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A110F7-D3E4-4F75-B39C-80E21CE55C04}"/>
              </a:ext>
            </a:extLst>
          </p:cNvPr>
          <p:cNvSpPr txBox="1"/>
          <p:nvPr/>
        </p:nvSpPr>
        <p:spPr>
          <a:xfrm rot="1089839">
            <a:off x="4477967" y="5239540"/>
            <a:ext cx="4087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solidFill>
                  <a:schemeClr val="bg1"/>
                </a:solidFill>
              </a:rPr>
              <a:t>Releasing double bed (Normal) fault</a:t>
            </a:r>
          </a:p>
        </p:txBody>
      </p:sp>
    </p:spTree>
    <p:extLst>
      <p:ext uri="{BB962C8B-B14F-4D97-AF65-F5344CB8AC3E}">
        <p14:creationId xmlns:p14="http://schemas.microsoft.com/office/powerpoint/2010/main" val="8574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D744415-6028-4171-A9E2-045A0521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052736"/>
            <a:ext cx="9144000" cy="580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60318A7-FDA6-4A49-BA69-60F3FC399CFD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Where does deposition happen?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9110B4-6C77-4532-ACC5-53D23CCCE20A}"/>
              </a:ext>
            </a:extLst>
          </p:cNvPr>
          <p:cNvSpPr txBox="1"/>
          <p:nvPr/>
        </p:nvSpPr>
        <p:spPr>
          <a:xfrm>
            <a:off x="107504" y="1134269"/>
            <a:ext cx="8928992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When weathering and erosion generate clastic sediment (W7), it is transported, and then ultimately deposited somewhere else.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Deposition happens because the capacity of the transporting medium (usually water, but also wind) to carry the sediment decreases.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This can happen locally for short periods of time, anywhere.</a:t>
            </a:r>
          </a:p>
        </p:txBody>
      </p:sp>
    </p:spTree>
    <p:extLst>
      <p:ext uri="{BB962C8B-B14F-4D97-AF65-F5344CB8AC3E}">
        <p14:creationId xmlns:p14="http://schemas.microsoft.com/office/powerpoint/2010/main" val="1243911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1DCA9264-1343-4A0D-9C63-CB83757CEADD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Where does deposition happen?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E28EF-182D-43F7-AB01-66D1996B215F}"/>
              </a:ext>
            </a:extLst>
          </p:cNvPr>
          <p:cNvSpPr txBox="1"/>
          <p:nvPr/>
        </p:nvSpPr>
        <p:spPr>
          <a:xfrm>
            <a:off x="323528" y="1628800"/>
            <a:ext cx="79928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However, for the </a:t>
            </a:r>
            <a:r>
              <a:rPr lang="en-GB" sz="2000" b="1" u="sng" dirty="0"/>
              <a:t>long-term storage </a:t>
            </a:r>
            <a:r>
              <a:rPr lang="en-GB" sz="2000" b="1" dirty="0"/>
              <a:t>of sediment, we need to generate space for that sediment to be deposited in.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This “space” is often referred to as “</a:t>
            </a:r>
            <a:r>
              <a:rPr lang="en-GB" sz="2000" b="1" u="sng" dirty="0"/>
              <a:t>accommodation</a:t>
            </a:r>
            <a:r>
              <a:rPr lang="en-GB" sz="2000" b="1" dirty="0"/>
              <a:t>”, and is </a:t>
            </a:r>
            <a:r>
              <a:rPr lang="en-GB" sz="2000" b="1" u="sng" dirty="0"/>
              <a:t>generated by subsidence</a:t>
            </a:r>
            <a:r>
              <a:rPr lang="en-GB" sz="2000" b="1" dirty="0"/>
              <a:t> of the Earth’s crust (W5).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Long term storage of sediment occurs in sedimentary basins</a:t>
            </a:r>
          </a:p>
          <a:p>
            <a:pPr lvl="1">
              <a:spcAft>
                <a:spcPts val="600"/>
              </a:spcAft>
            </a:pPr>
            <a:r>
              <a:rPr lang="en-GB" sz="2000" dirty="0">
                <a:sym typeface="Wingdings" panose="05000000000000000000" pitchFamily="2" charset="2"/>
              </a:rPr>
              <a:t> the subsidence of the sedimentary basin also ensures burial of the sediment with later sediment</a:t>
            </a:r>
          </a:p>
          <a:p>
            <a:pPr lvl="1">
              <a:spcAft>
                <a:spcPts val="600"/>
              </a:spcAft>
            </a:pPr>
            <a:r>
              <a:rPr lang="en-GB" sz="2000" dirty="0">
                <a:sym typeface="Wingdings" panose="05000000000000000000" pitchFamily="2" charset="2"/>
              </a:rPr>
              <a:t> this burial takes the sediment to higher pressures and temperatures, where it can also be converted from sediment into a sedimentary rock.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9315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625942F5-7A86-452B-A82D-ECF799F36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5392688" cy="388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27E924-D40E-4454-AC67-F7D8BB1C7E47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Where does deposition happen?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F86F4F-6291-42AF-AD0D-A907D5FEB59C}"/>
              </a:ext>
            </a:extLst>
          </p:cNvPr>
          <p:cNvSpPr txBox="1"/>
          <p:nvPr/>
        </p:nvSpPr>
        <p:spPr>
          <a:xfrm>
            <a:off x="5572200" y="1268760"/>
            <a:ext cx="344351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The modern global distribution of subsiding areas (sedimentary basins) is shown in green.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These are areas where there is potential to accumulate sediment long-term (at the moment).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Other areas are actively uplifting, or are still “high”, and sources of clastic sediment.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C8D25-FB87-4164-92E2-9A1169E9AB0D}"/>
              </a:ext>
            </a:extLst>
          </p:cNvPr>
          <p:cNvSpPr txBox="1"/>
          <p:nvPr/>
        </p:nvSpPr>
        <p:spPr>
          <a:xfrm>
            <a:off x="107504" y="5229200"/>
            <a:ext cx="8712968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These include areas on land, and in the sea, close to continents.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The “deep” ocean (floored by ocean crust) is not considered basin, because 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GB" sz="2000" dirty="0">
                <a:sym typeface="Wingdings" panose="05000000000000000000" pitchFamily="2" charset="2"/>
              </a:rPr>
              <a:t>t</a:t>
            </a:r>
            <a:r>
              <a:rPr lang="en-GB" sz="2000" dirty="0"/>
              <a:t>here are few mechanisms for getting much sediment that far out.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GB" sz="2000" dirty="0"/>
              <a:t>oceanic crust with any sediment on will subduct into the mantle anyway.</a:t>
            </a:r>
          </a:p>
        </p:txBody>
      </p:sp>
    </p:spTree>
    <p:extLst>
      <p:ext uri="{BB962C8B-B14F-4D97-AF65-F5344CB8AC3E}">
        <p14:creationId xmlns:p14="http://schemas.microsoft.com/office/powerpoint/2010/main" val="1089210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D55AD3AB-B8E8-4ACC-9892-C1615338EF24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Where does deposition happen?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9E44B-43E6-4D5A-9C40-A6F374549D9A}"/>
              </a:ext>
            </a:extLst>
          </p:cNvPr>
          <p:cNvSpPr txBox="1"/>
          <p:nvPr/>
        </p:nvSpPr>
        <p:spPr>
          <a:xfrm>
            <a:off x="215516" y="1196752"/>
            <a:ext cx="8712968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As with the whole Earth System, deposition is governed by a dynamic equilibrium </a:t>
            </a:r>
          </a:p>
          <a:p>
            <a:pPr lvl="1">
              <a:spcAft>
                <a:spcPts val="600"/>
              </a:spcAft>
            </a:pPr>
            <a:r>
              <a:rPr lang="en-GB" sz="2000" dirty="0">
                <a:sym typeface="Wingdings" panose="05000000000000000000" pitchFamily="2" charset="2"/>
              </a:rPr>
              <a:t></a:t>
            </a:r>
            <a:r>
              <a:rPr lang="en-GB" sz="2000" dirty="0"/>
              <a:t>between the amount of sediment delivered, and the amount of space made available to deposit the sediment by subsidence.</a:t>
            </a:r>
          </a:p>
          <a:p>
            <a:pPr lvl="1">
              <a:spcAft>
                <a:spcPts val="600"/>
              </a:spcAft>
            </a:pPr>
            <a:endParaRPr lang="en-GB" sz="2000" b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Erosion is primarily driven by fluvial (but also glacial and wind) processes in high areas (W7).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As transporting river systems enter a sedimentary basin, it will begin to deposit its sediment load to “fill” the available space.</a:t>
            </a:r>
          </a:p>
          <a:p>
            <a:pPr lvl="1">
              <a:spcAft>
                <a:spcPts val="600"/>
              </a:spcAft>
            </a:pPr>
            <a:r>
              <a:rPr lang="en-GB" sz="2000" dirty="0">
                <a:sym typeface="Wingdings" panose="05000000000000000000" pitchFamily="2" charset="2"/>
              </a:rPr>
              <a:t>i</a:t>
            </a:r>
            <a:r>
              <a:rPr lang="en-GB" sz="2000" dirty="0"/>
              <a:t>f the volume of space being generated ≥ volume of sediment being delivered, then all the sediment will be deposited.</a:t>
            </a:r>
          </a:p>
          <a:p>
            <a:pPr lvl="1">
              <a:spcAft>
                <a:spcPts val="600"/>
              </a:spcAft>
            </a:pPr>
            <a:r>
              <a:rPr lang="en-GB" sz="2000" dirty="0">
                <a:sym typeface="Wingdings" panose="05000000000000000000" pitchFamily="2" charset="2"/>
              </a:rPr>
              <a:t> i</a:t>
            </a:r>
            <a:r>
              <a:rPr lang="en-GB" sz="2000" dirty="0"/>
              <a:t>f the volume of space being generated &lt; volume of sediment being delivered, then the excess sediment will continue its journey down system to a place where there is sufficient space.</a:t>
            </a:r>
          </a:p>
        </p:txBody>
      </p:sp>
    </p:spTree>
    <p:extLst>
      <p:ext uri="{BB962C8B-B14F-4D97-AF65-F5344CB8AC3E}">
        <p14:creationId xmlns:p14="http://schemas.microsoft.com/office/powerpoint/2010/main" val="415215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92" y="1881311"/>
            <a:ext cx="8163332" cy="48287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799219">
            <a:off x="1143319" y="2170763"/>
            <a:ext cx="1803335" cy="11927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01824" y="1799717"/>
            <a:ext cx="1728192" cy="748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2000" dirty="0">
                <a:solidFill>
                  <a:srgbClr val="FF0000"/>
                </a:solidFill>
              </a:rPr>
              <a:t>Weathering</a:t>
            </a:r>
          </a:p>
          <a:p>
            <a:r>
              <a:rPr lang="en-GB" sz="2000" dirty="0">
                <a:solidFill>
                  <a:srgbClr val="FF0000"/>
                </a:solidFill>
              </a:rPr>
              <a:t>&amp; erosion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76D2670-E066-4B6D-A65F-22799F0B682C}"/>
              </a:ext>
            </a:extLst>
          </p:cNvPr>
          <p:cNvGrpSpPr/>
          <p:nvPr/>
        </p:nvGrpSpPr>
        <p:grpSpPr>
          <a:xfrm>
            <a:off x="4451270" y="3509297"/>
            <a:ext cx="4548714" cy="2384577"/>
            <a:chOff x="4451270" y="3509297"/>
            <a:chExt cx="4548714" cy="2384577"/>
          </a:xfrm>
        </p:grpSpPr>
        <p:sp>
          <p:nvSpPr>
            <p:cNvPr id="10" name="Rectangle 9"/>
            <p:cNvSpPr/>
            <p:nvPr/>
          </p:nvSpPr>
          <p:spPr>
            <a:xfrm rot="20669215">
              <a:off x="4451270" y="3509297"/>
              <a:ext cx="2617715" cy="715967"/>
            </a:xfrm>
            <a:prstGeom prst="rect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00B0F0"/>
                </a:solidFill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5940152" y="5372402"/>
              <a:ext cx="3059832" cy="521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r"/>
              <a:r>
                <a:rPr lang="en-GB" sz="2000" b="1" dirty="0">
                  <a:solidFill>
                    <a:srgbClr val="00B0F0"/>
                  </a:solidFill>
                </a:rPr>
                <a:t>3. “Shallow” water</a:t>
              </a:r>
              <a:endParaRPr lang="en-GB" sz="20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CEAEDF-EB4B-4A3C-9043-DD5ACBA52610}"/>
              </a:ext>
            </a:extLst>
          </p:cNvPr>
          <p:cNvGrpSpPr/>
          <p:nvPr/>
        </p:nvGrpSpPr>
        <p:grpSpPr>
          <a:xfrm>
            <a:off x="1255031" y="4661192"/>
            <a:ext cx="3398449" cy="1927032"/>
            <a:chOff x="1255031" y="4661192"/>
            <a:chExt cx="3398449" cy="1927032"/>
          </a:xfrm>
        </p:grpSpPr>
        <p:sp>
          <p:nvSpPr>
            <p:cNvPr id="12" name="Rectangle 11"/>
            <p:cNvSpPr/>
            <p:nvPr/>
          </p:nvSpPr>
          <p:spPr>
            <a:xfrm rot="20613325">
              <a:off x="2908240" y="4661192"/>
              <a:ext cx="1745240" cy="969323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1255031" y="5445224"/>
              <a:ext cx="1728192" cy="114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GB" sz="2000" b="1" dirty="0"/>
                <a:t>4. “Deep” </a:t>
              </a:r>
            </a:p>
            <a:p>
              <a:r>
                <a:rPr lang="en-GB" sz="2000" b="1" dirty="0"/>
                <a:t>water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66B2B37-8C3F-4DF1-A2F4-0879E58777E2}"/>
              </a:ext>
            </a:extLst>
          </p:cNvPr>
          <p:cNvGrpSpPr/>
          <p:nvPr/>
        </p:nvGrpSpPr>
        <p:grpSpPr>
          <a:xfrm>
            <a:off x="323528" y="4180130"/>
            <a:ext cx="2392828" cy="763138"/>
            <a:chOff x="323528" y="4180130"/>
            <a:chExt cx="2392828" cy="763138"/>
          </a:xfrm>
        </p:grpSpPr>
        <p:sp>
          <p:nvSpPr>
            <p:cNvPr id="14" name="Rectangle 13"/>
            <p:cNvSpPr/>
            <p:nvPr/>
          </p:nvSpPr>
          <p:spPr>
            <a:xfrm rot="19799219">
              <a:off x="2214518" y="4180130"/>
              <a:ext cx="501838" cy="515940"/>
            </a:xfrm>
            <a:prstGeom prst="rect">
              <a:avLst/>
            </a:prstGeom>
            <a:noFill/>
            <a:ln w="762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323528" y="4300121"/>
              <a:ext cx="1912036" cy="643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GB" sz="2000" b="1" dirty="0">
                  <a:solidFill>
                    <a:srgbClr val="FFC000"/>
                  </a:solidFill>
                </a:rPr>
                <a:t>2. Aeolian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F71D045-BE2F-47A9-BF30-9DC82626B239}"/>
              </a:ext>
            </a:extLst>
          </p:cNvPr>
          <p:cNvGrpSpPr/>
          <p:nvPr/>
        </p:nvGrpSpPr>
        <p:grpSpPr>
          <a:xfrm>
            <a:off x="4486007" y="1772816"/>
            <a:ext cx="2984061" cy="1802093"/>
            <a:chOff x="4486007" y="1772816"/>
            <a:chExt cx="2984061" cy="1802093"/>
          </a:xfrm>
        </p:grpSpPr>
        <p:sp>
          <p:nvSpPr>
            <p:cNvPr id="16" name="Rectangle 15"/>
            <p:cNvSpPr/>
            <p:nvPr/>
          </p:nvSpPr>
          <p:spPr>
            <a:xfrm rot="20687156">
              <a:off x="4486007" y="2799850"/>
              <a:ext cx="1083401" cy="775059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4940353" y="1772816"/>
              <a:ext cx="2529715" cy="114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r"/>
              <a:r>
                <a:rPr lang="en-GB" sz="2000" b="1" dirty="0">
                  <a:solidFill>
                    <a:srgbClr val="00B050"/>
                  </a:solidFill>
                </a:rPr>
                <a:t>1. Fluvial</a:t>
              </a:r>
              <a:endParaRPr lang="en-GB" sz="2000" dirty="0">
                <a:solidFill>
                  <a:srgbClr val="00B050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CF80F82-17A3-46BC-A3F8-F5FDEA6A23D5}"/>
              </a:ext>
            </a:extLst>
          </p:cNvPr>
          <p:cNvSpPr txBox="1"/>
          <p:nvPr/>
        </p:nvSpPr>
        <p:spPr>
          <a:xfrm>
            <a:off x="215516" y="1196752"/>
            <a:ext cx="8712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/>
              <a:t>Consequently, clastic sediment can be deposited,</a:t>
            </a:r>
            <a:endParaRPr lang="en-GB" sz="2000" dirty="0"/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E4DC894A-7492-4F55-9C9A-31D71F9011EF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Where does deposition happen?</a:t>
            </a:r>
          </a:p>
        </p:txBody>
      </p:sp>
    </p:spTree>
    <p:extLst>
      <p:ext uri="{BB962C8B-B14F-4D97-AF65-F5344CB8AC3E}">
        <p14:creationId xmlns:p14="http://schemas.microsoft.com/office/powerpoint/2010/main" val="223375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C6E9C-62DD-4502-8FD9-22768B513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UK weather: Thousands of homes at risk from flood as heavy rain on the way  again | Daily Mail Online">
            <a:extLst>
              <a:ext uri="{FF2B5EF4-FFF2-40B4-BE49-F238E27FC236}">
                <a16:creationId xmlns:a16="http://schemas.microsoft.com/office/drawing/2014/main" id="{C43BDC44-1C82-49B0-966C-5D41CFBFA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91" y="1268760"/>
            <a:ext cx="8388424" cy="5395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A60C2B-5079-480A-8D2B-14CC08F960C9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Fluvial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9B3591-88C5-4774-AA4D-FD910CB3739D}"/>
              </a:ext>
            </a:extLst>
          </p:cNvPr>
          <p:cNvSpPr txBox="1"/>
          <p:nvPr/>
        </p:nvSpPr>
        <p:spPr>
          <a:xfrm>
            <a:off x="4788024" y="5589240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Channel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4A6FA-2719-4F30-87AA-9C661734839B}"/>
              </a:ext>
            </a:extLst>
          </p:cNvPr>
          <p:cNvSpPr txBox="1"/>
          <p:nvPr/>
        </p:nvSpPr>
        <p:spPr>
          <a:xfrm>
            <a:off x="5148064" y="403136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Levee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8596E2-D96A-4FB8-94AE-AB35F892597E}"/>
              </a:ext>
            </a:extLst>
          </p:cNvPr>
          <p:cNvCxnSpPr/>
          <p:nvPr/>
        </p:nvCxnSpPr>
        <p:spPr>
          <a:xfrm flipH="1" flipV="1">
            <a:off x="5004048" y="3863181"/>
            <a:ext cx="432048" cy="285899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BD1330-3631-4E7E-91DE-998902FCBE3B}"/>
              </a:ext>
            </a:extLst>
          </p:cNvPr>
          <p:cNvCxnSpPr>
            <a:cxnSpLocks/>
          </p:cNvCxnSpPr>
          <p:nvPr/>
        </p:nvCxnSpPr>
        <p:spPr>
          <a:xfrm flipH="1">
            <a:off x="4583038" y="4337570"/>
            <a:ext cx="637034" cy="1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426A3C-C982-4F0A-8A77-402FE0859F05}"/>
              </a:ext>
            </a:extLst>
          </p:cNvPr>
          <p:cNvSpPr txBox="1"/>
          <p:nvPr/>
        </p:nvSpPr>
        <p:spPr>
          <a:xfrm>
            <a:off x="6421524" y="4878711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Flood plain</a:t>
            </a:r>
          </a:p>
        </p:txBody>
      </p:sp>
    </p:spTree>
    <p:extLst>
      <p:ext uri="{BB962C8B-B14F-4D97-AF65-F5344CB8AC3E}">
        <p14:creationId xmlns:p14="http://schemas.microsoft.com/office/powerpoint/2010/main" val="2707607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anada pictures, Geology, River life">
            <a:extLst>
              <a:ext uri="{FF2B5EF4-FFF2-40B4-BE49-F238E27FC236}">
                <a16:creationId xmlns:a16="http://schemas.microsoft.com/office/drawing/2014/main" id="{9530A04C-201C-47A5-8175-4767EF9E4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8"/>
            <a:ext cx="8496944" cy="524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0FAF48-EA8A-4F16-8533-04CD84E4D328}"/>
              </a:ext>
            </a:extLst>
          </p:cNvPr>
          <p:cNvSpPr txBox="1"/>
          <p:nvPr/>
        </p:nvSpPr>
        <p:spPr>
          <a:xfrm>
            <a:off x="3995936" y="5317177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Channel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619BB-83A0-49FD-BB83-7784AA88A0F4}"/>
              </a:ext>
            </a:extLst>
          </p:cNvPr>
          <p:cNvSpPr txBox="1"/>
          <p:nvPr/>
        </p:nvSpPr>
        <p:spPr>
          <a:xfrm>
            <a:off x="4283968" y="4365104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Levee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8A0B7-F883-4855-BF5B-E68DE45A93AB}"/>
              </a:ext>
            </a:extLst>
          </p:cNvPr>
          <p:cNvSpPr txBox="1"/>
          <p:nvPr/>
        </p:nvSpPr>
        <p:spPr>
          <a:xfrm>
            <a:off x="3154524" y="3105255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+mj-lt"/>
              </a:rPr>
              <a:t>Crevasse splay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6A14A15-8BF1-48C8-9821-C2A3E43A4D7C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1296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Fluvial systems</a:t>
            </a:r>
          </a:p>
        </p:txBody>
      </p:sp>
    </p:spTree>
    <p:extLst>
      <p:ext uri="{BB962C8B-B14F-4D97-AF65-F5344CB8AC3E}">
        <p14:creationId xmlns:p14="http://schemas.microsoft.com/office/powerpoint/2010/main" val="2016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4527C3-02EF-4F52-9677-BE1DEDD0F6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01" t="16401" r="12988"/>
          <a:stretch/>
        </p:blipFill>
        <p:spPr>
          <a:xfrm>
            <a:off x="251519" y="1279028"/>
            <a:ext cx="8575455" cy="539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6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>
            <a:extLst>
              <a:ext uri="{FF2B5EF4-FFF2-40B4-BE49-F238E27FC236}">
                <a16:creationId xmlns:a16="http://schemas.microsoft.com/office/drawing/2014/main" id="{D8B34D1F-6B00-4921-9C25-CB12D50F3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7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500" b="1" dirty="0">
                <a:solidFill>
                  <a:srgbClr val="FFFF00"/>
                </a:solidFill>
                <a:latin typeface="Bookman Old Style" panose="02050604050505020204" pitchFamily="18" charset="0"/>
              </a:rPr>
              <a:t>Shallow marine systems?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EA4BE8A-BB91-4FD9-A5E7-5B5133A88993}"/>
              </a:ext>
            </a:extLst>
          </p:cNvPr>
          <p:cNvGrpSpPr/>
          <p:nvPr/>
        </p:nvGrpSpPr>
        <p:grpSpPr>
          <a:xfrm>
            <a:off x="39642" y="1082328"/>
            <a:ext cx="9179491" cy="5775672"/>
            <a:chOff x="80957" y="1098822"/>
            <a:chExt cx="9179491" cy="5775672"/>
          </a:xfrm>
        </p:grpSpPr>
        <p:pic>
          <p:nvPicPr>
            <p:cNvPr id="2050" name="Picture 2" descr="Sedimentological parameterization of shallow-marine reservoirs | Petroleum  Geoscience">
              <a:extLst>
                <a:ext uri="{FF2B5EF4-FFF2-40B4-BE49-F238E27FC236}">
                  <a16:creationId xmlns:a16="http://schemas.microsoft.com/office/drawing/2014/main" id="{D1E966A1-A8C4-4C8E-9094-171B4C6A47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0957" y="4869098"/>
              <a:ext cx="2376264" cy="20053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Sedimentological parameterization of shallow-marine reservoirs | Petroleum  Geoscience">
              <a:extLst>
                <a:ext uri="{FF2B5EF4-FFF2-40B4-BE49-F238E27FC236}">
                  <a16:creationId xmlns:a16="http://schemas.microsoft.com/office/drawing/2014/main" id="{12039563-DAF4-4D45-86A8-A9030E705A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5664816" y="1098822"/>
              <a:ext cx="1998222" cy="22646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Sedimentological parameterization of shallow-marine reservoirs | Petroleum  Geoscience">
              <a:extLst>
                <a:ext uri="{FF2B5EF4-FFF2-40B4-BE49-F238E27FC236}">
                  <a16:creationId xmlns:a16="http://schemas.microsoft.com/office/drawing/2014/main" id="{7CBECB73-1EDE-4CE4-8793-B471E41F53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244224" y="5039636"/>
              <a:ext cx="2016224" cy="17609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2176E1-6A18-4C38-8C3F-D4057DF6F391}"/>
                </a:ext>
              </a:extLst>
            </p:cNvPr>
            <p:cNvSpPr/>
            <p:nvPr/>
          </p:nvSpPr>
          <p:spPr>
            <a:xfrm>
              <a:off x="7120979" y="2484839"/>
              <a:ext cx="648072" cy="997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4BF802-6128-49A4-90ED-3F4CF307C99A}"/>
                </a:ext>
              </a:extLst>
            </p:cNvPr>
            <p:cNvSpPr/>
            <p:nvPr/>
          </p:nvSpPr>
          <p:spPr>
            <a:xfrm>
              <a:off x="1377100" y="4370446"/>
              <a:ext cx="1260143" cy="997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0CB0AE-2F83-4F05-9A77-4C6332096870}"/>
                </a:ext>
              </a:extLst>
            </p:cNvPr>
            <p:cNvSpPr/>
            <p:nvPr/>
          </p:nvSpPr>
          <p:spPr>
            <a:xfrm>
              <a:off x="4670238" y="2872041"/>
              <a:ext cx="1260143" cy="997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6E71390-7981-4545-89AC-36C5F29B1865}"/>
                </a:ext>
              </a:extLst>
            </p:cNvPr>
            <p:cNvSpPr/>
            <p:nvPr/>
          </p:nvSpPr>
          <p:spPr>
            <a:xfrm>
              <a:off x="4543763" y="1519669"/>
              <a:ext cx="1260143" cy="997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A0196E0B-C948-4A32-A863-AAD5864646C0}"/>
                </a:ext>
              </a:extLst>
            </p:cNvPr>
            <p:cNvSpPr/>
            <p:nvPr/>
          </p:nvSpPr>
          <p:spPr>
            <a:xfrm>
              <a:off x="3386870" y="3130352"/>
              <a:ext cx="2798780" cy="2448272"/>
            </a:xfrm>
            <a:prstGeom prst="triangl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" name="Rectangle 9">
            <a:extLst>
              <a:ext uri="{FF2B5EF4-FFF2-40B4-BE49-F238E27FC236}">
                <a16:creationId xmlns:a16="http://schemas.microsoft.com/office/drawing/2014/main" id="{CEB24B0E-5B51-4B77-9B29-17B55E7F8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775" y="1596171"/>
            <a:ext cx="227034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2800" b="1" dirty="0"/>
              <a:t>Rivers</a:t>
            </a:r>
            <a:endParaRPr lang="en-GB" sz="2800" dirty="0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8967EC54-5ABF-4EDE-AED1-731E063E8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65" y="4666830"/>
            <a:ext cx="227034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2800" b="1" dirty="0"/>
              <a:t>Waves</a:t>
            </a:r>
            <a:endParaRPr lang="en-GB" sz="2800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C292A412-CAA6-4ABA-B9A1-971F8F70F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722" y="4617033"/>
            <a:ext cx="2270340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2800" b="1" dirty="0"/>
              <a:t>Tides</a:t>
            </a:r>
            <a:endParaRPr lang="en-GB" sz="2800" dirty="0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E75ABB77-DC88-4F30-9241-31CD26B9E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214" y="777691"/>
            <a:ext cx="3708221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Lobate coastlines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Deltas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5B824BA3-4E39-470B-A7B7-285B5D2BF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38" y="3225963"/>
            <a:ext cx="3708221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Linear coastlines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err="1"/>
              <a:t>Strandplains</a:t>
            </a:r>
            <a:r>
              <a:rPr lang="en-GB" sz="2800" dirty="0"/>
              <a:t>, spits, beaches and lagoons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4591B9C9-6759-4F41-BB47-7FAB6C8CA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323" y="3328799"/>
            <a:ext cx="3708221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Embayed coastlines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Estuaries and tidal flats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sp>
        <p:nvSpPr>
          <p:cNvPr id="2" name="AutoShape 2" descr="NASA launches new program to study impact of rising sea levels on the  Mississippi River Delta | Daily Mail Online">
            <a:extLst>
              <a:ext uri="{FF2B5EF4-FFF2-40B4-BE49-F238E27FC236}">
                <a16:creationId xmlns:a16="http://schemas.microsoft.com/office/drawing/2014/main" id="{DEEB3E61-F162-47EB-88CD-82FA1B8757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ASA launches new program to study impact of rising sea levels on the  Mississippi River Delta | Daily Mail Online">
            <a:extLst>
              <a:ext uri="{FF2B5EF4-FFF2-40B4-BE49-F238E27FC236}">
                <a16:creationId xmlns:a16="http://schemas.microsoft.com/office/drawing/2014/main" id="{3AA34E78-FE40-4C06-B377-2271057DE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144000" cy="549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3142F2-AB98-4113-A146-94FF7332DBF6}"/>
              </a:ext>
            </a:extLst>
          </p:cNvPr>
          <p:cNvSpPr txBox="1">
            <a:spLocks noChangeArrowheads="1"/>
          </p:cNvSpPr>
          <p:nvPr/>
        </p:nvSpPr>
        <p:spPr>
          <a:xfrm>
            <a:off x="47800" y="5939"/>
            <a:ext cx="907300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River-dominated systems: deltas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A950C-EC4D-4A4C-8DCE-7EAC28B7154B}"/>
              </a:ext>
            </a:extLst>
          </p:cNvPr>
          <p:cNvSpPr txBox="1"/>
          <p:nvPr/>
        </p:nvSpPr>
        <p:spPr>
          <a:xfrm>
            <a:off x="5004048" y="2924944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Mouth bar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C4F101-1BF9-4C60-B3F0-B046E386E175}"/>
              </a:ext>
            </a:extLst>
          </p:cNvPr>
          <p:cNvSpPr txBox="1"/>
          <p:nvPr/>
        </p:nvSpPr>
        <p:spPr>
          <a:xfrm>
            <a:off x="2627784" y="322894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Mouth bar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E0D516-F0F9-4CA9-8910-D50E3177A25C}"/>
              </a:ext>
            </a:extLst>
          </p:cNvPr>
          <p:cNvSpPr txBox="1"/>
          <p:nvPr/>
        </p:nvSpPr>
        <p:spPr>
          <a:xfrm>
            <a:off x="4070995" y="3767132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Mouth bar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0B692-F27E-4052-902C-92A3EE79423B}"/>
              </a:ext>
            </a:extLst>
          </p:cNvPr>
          <p:cNvSpPr txBox="1"/>
          <p:nvPr/>
        </p:nvSpPr>
        <p:spPr>
          <a:xfrm>
            <a:off x="3453991" y="492519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Channel</a:t>
            </a:r>
          </a:p>
        </p:txBody>
      </p:sp>
    </p:spTree>
    <p:extLst>
      <p:ext uri="{BB962C8B-B14F-4D97-AF65-F5344CB8AC3E}">
        <p14:creationId xmlns:p14="http://schemas.microsoft.com/office/powerpoint/2010/main" val="1247048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6DDD58D0-077B-4DD3-AD40-2C7FF6BF1B2A}"/>
              </a:ext>
            </a:extLst>
          </p:cNvPr>
          <p:cNvSpPr txBox="1">
            <a:spLocks noChangeArrowheads="1"/>
          </p:cNvSpPr>
          <p:nvPr/>
        </p:nvSpPr>
        <p:spPr>
          <a:xfrm>
            <a:off x="47800" y="5939"/>
            <a:ext cx="907300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Wave-dominated systems: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linear “shorefaces”</a:t>
            </a:r>
          </a:p>
        </p:txBody>
      </p:sp>
      <p:pic>
        <p:nvPicPr>
          <p:cNvPr id="3074" name="Picture 2" descr="3: Subrecent strand plains near Flamingo Bay, Mayaguana (photo P. Kindler).  | Download Scientific Diagram">
            <a:extLst>
              <a:ext uri="{FF2B5EF4-FFF2-40B4-BE49-F238E27FC236}">
                <a16:creationId xmlns:a16="http://schemas.microsoft.com/office/drawing/2014/main" id="{B71695BC-91B8-448B-A785-3F96D3326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24744"/>
            <a:ext cx="809625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FB4122-79A4-41F8-BDEC-9F57ADE95671}"/>
              </a:ext>
            </a:extLst>
          </p:cNvPr>
          <p:cNvSpPr txBox="1"/>
          <p:nvPr/>
        </p:nvSpPr>
        <p:spPr>
          <a:xfrm>
            <a:off x="3471553" y="393461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err="1">
                <a:solidFill>
                  <a:schemeClr val="bg1"/>
                </a:solidFill>
                <a:latin typeface="+mj-lt"/>
              </a:rPr>
              <a:t>Standplain</a:t>
            </a:r>
            <a:endParaRPr lang="en-GB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436678-2019-4844-8EDC-9B21D3FA15C0}"/>
              </a:ext>
            </a:extLst>
          </p:cNvPr>
          <p:cNvSpPr txBox="1"/>
          <p:nvPr/>
        </p:nvSpPr>
        <p:spPr>
          <a:xfrm>
            <a:off x="5909661" y="4134674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Beach</a:t>
            </a:r>
          </a:p>
        </p:txBody>
      </p:sp>
    </p:spTree>
    <p:extLst>
      <p:ext uri="{BB962C8B-B14F-4D97-AF65-F5344CB8AC3E}">
        <p14:creationId xmlns:p14="http://schemas.microsoft.com/office/powerpoint/2010/main" val="3991423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e beach on the Cunnigar, a sand spit in Dungarvan bay, Co Waterford,  Ireland. stock photo ddeadb0d-5032-41f2-b9d5-63216861d99d">
            <a:extLst>
              <a:ext uri="{FF2B5EF4-FFF2-40B4-BE49-F238E27FC236}">
                <a16:creationId xmlns:a16="http://schemas.microsoft.com/office/drawing/2014/main" id="{DCF8C385-D79D-4277-A918-9A86E32FD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56792"/>
            <a:ext cx="8960996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A6E106-5983-47A3-803D-21D047AD2CA2}"/>
              </a:ext>
            </a:extLst>
          </p:cNvPr>
          <p:cNvSpPr txBox="1"/>
          <p:nvPr/>
        </p:nvSpPr>
        <p:spPr>
          <a:xfrm>
            <a:off x="3203848" y="3028890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Spit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7CCE5-0851-4363-8DEE-62ED1039D27C}"/>
              </a:ext>
            </a:extLst>
          </p:cNvPr>
          <p:cNvSpPr txBox="1"/>
          <p:nvPr/>
        </p:nvSpPr>
        <p:spPr>
          <a:xfrm>
            <a:off x="3203848" y="4077072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Beach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A6D854D-9184-455C-A58C-138602428079}"/>
              </a:ext>
            </a:extLst>
          </p:cNvPr>
          <p:cNvSpPr txBox="1">
            <a:spLocks noChangeArrowheads="1"/>
          </p:cNvSpPr>
          <p:nvPr/>
        </p:nvSpPr>
        <p:spPr>
          <a:xfrm>
            <a:off x="47800" y="5939"/>
            <a:ext cx="907300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Wave-dominated systems: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linear “shorefaces”</a:t>
            </a:r>
          </a:p>
        </p:txBody>
      </p:sp>
    </p:spTree>
    <p:extLst>
      <p:ext uri="{BB962C8B-B14F-4D97-AF65-F5344CB8AC3E}">
        <p14:creationId xmlns:p14="http://schemas.microsoft.com/office/powerpoint/2010/main" val="3709827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ragile BarriersRSVPA">
            <a:extLst>
              <a:ext uri="{FF2B5EF4-FFF2-40B4-BE49-F238E27FC236}">
                <a16:creationId xmlns:a16="http://schemas.microsoft.com/office/drawing/2014/main" id="{B366DA04-55D9-413A-8C98-3E5FFFAAD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1" y="1556792"/>
            <a:ext cx="8970278" cy="4837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7DDB39-8FEB-4331-8AFA-92617BB44827}"/>
              </a:ext>
            </a:extLst>
          </p:cNvPr>
          <p:cNvSpPr txBox="1"/>
          <p:nvPr/>
        </p:nvSpPr>
        <p:spPr>
          <a:xfrm>
            <a:off x="2339752" y="3068960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Lagoon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E0E0E-5900-4B02-AB0E-57B9B9398D06}"/>
              </a:ext>
            </a:extLst>
          </p:cNvPr>
          <p:cNvSpPr txBox="1"/>
          <p:nvPr/>
        </p:nvSpPr>
        <p:spPr>
          <a:xfrm>
            <a:off x="3993257" y="377530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+mj-lt"/>
              </a:rPr>
              <a:t>Beach barrier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CFDFA6A-CE01-48CB-B34A-33DDD60CD989}"/>
              </a:ext>
            </a:extLst>
          </p:cNvPr>
          <p:cNvSpPr txBox="1">
            <a:spLocks noChangeArrowheads="1"/>
          </p:cNvSpPr>
          <p:nvPr/>
        </p:nvSpPr>
        <p:spPr>
          <a:xfrm>
            <a:off x="47800" y="5939"/>
            <a:ext cx="907300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Wave-dominated systems: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linear “shorefaces”</a:t>
            </a:r>
          </a:p>
        </p:txBody>
      </p:sp>
    </p:spTree>
    <p:extLst>
      <p:ext uri="{BB962C8B-B14F-4D97-AF65-F5344CB8AC3E}">
        <p14:creationId xmlns:p14="http://schemas.microsoft.com/office/powerpoint/2010/main" val="2866163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09B925D0-E15B-4747-A197-94EA8E53CF9E}"/>
              </a:ext>
            </a:extLst>
          </p:cNvPr>
          <p:cNvSpPr txBox="1">
            <a:spLocks noChangeArrowheads="1"/>
          </p:cNvSpPr>
          <p:nvPr/>
        </p:nvSpPr>
        <p:spPr>
          <a:xfrm>
            <a:off x="47800" y="5939"/>
            <a:ext cx="907300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Tide dominated systems: estuaries</a:t>
            </a:r>
          </a:p>
        </p:txBody>
      </p:sp>
      <p:pic>
        <p:nvPicPr>
          <p:cNvPr id="6146" name="Picture 2" descr="The Meandering Estuaries of Guinea–Bissau">
            <a:extLst>
              <a:ext uri="{FF2B5EF4-FFF2-40B4-BE49-F238E27FC236}">
                <a16:creationId xmlns:a16="http://schemas.microsoft.com/office/drawing/2014/main" id="{BF598DCF-C920-4A92-B642-44CFAAE45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42999"/>
            <a:ext cx="8784976" cy="556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27EA04-ADBB-4CCB-9A9B-D17690B26C6A}"/>
              </a:ext>
            </a:extLst>
          </p:cNvPr>
          <p:cNvSpPr txBox="1"/>
          <p:nvPr/>
        </p:nvSpPr>
        <p:spPr>
          <a:xfrm>
            <a:off x="3419872" y="2852936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+mj-lt"/>
              </a:rPr>
              <a:t>Estuary</a:t>
            </a:r>
          </a:p>
        </p:txBody>
      </p:sp>
    </p:spTree>
    <p:extLst>
      <p:ext uri="{BB962C8B-B14F-4D97-AF65-F5344CB8AC3E}">
        <p14:creationId xmlns:p14="http://schemas.microsoft.com/office/powerpoint/2010/main" val="3354334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2FFE5CA8-C16B-4135-89B0-EED7A5F963BB}"/>
              </a:ext>
            </a:extLst>
          </p:cNvPr>
          <p:cNvSpPr txBox="1">
            <a:spLocks noChangeArrowheads="1"/>
          </p:cNvSpPr>
          <p:nvPr/>
        </p:nvSpPr>
        <p:spPr>
          <a:xfrm>
            <a:off x="35496" y="73161"/>
            <a:ext cx="907300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Summary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D7403FD5-7E61-40E0-B3F2-EB69B2859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322" y="1131236"/>
            <a:ext cx="8943174" cy="565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E8A3AF-E717-4EBC-9F56-7494B57820B5}"/>
              </a:ext>
            </a:extLst>
          </p:cNvPr>
          <p:cNvSpPr txBox="1"/>
          <p:nvPr/>
        </p:nvSpPr>
        <p:spPr>
          <a:xfrm>
            <a:off x="179512" y="1196752"/>
            <a:ext cx="3528392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j-lt"/>
              </a:rPr>
              <a:t>In many settings it is possible to see the influence of all of these processes on the routing and deposition of sediment.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1D7C-AFBF-4435-ABBB-35C124B945E1}"/>
              </a:ext>
            </a:extLst>
          </p:cNvPr>
          <p:cNvSpPr txBox="1"/>
          <p:nvPr/>
        </p:nvSpPr>
        <p:spPr>
          <a:xfrm>
            <a:off x="6588224" y="1196752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+mj-lt"/>
              </a:rPr>
              <a:t>Zambezi Delta, Mozambique.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0412D84-D33D-43B3-9AF2-693B82DEB3E7}"/>
              </a:ext>
            </a:extLst>
          </p:cNvPr>
          <p:cNvGrpSpPr/>
          <p:nvPr/>
        </p:nvGrpSpPr>
        <p:grpSpPr>
          <a:xfrm>
            <a:off x="1689696" y="3160410"/>
            <a:ext cx="7128283" cy="3478223"/>
            <a:chOff x="1689696" y="3160410"/>
            <a:chExt cx="7128283" cy="3478223"/>
          </a:xfrm>
        </p:grpSpPr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57F7C1CF-626B-4469-A122-8BA28EBDC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069012">
              <a:off x="1689696" y="5999214"/>
              <a:ext cx="20039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 Black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600" b="1" dirty="0">
                  <a:latin typeface="+mj-lt"/>
                </a:rPr>
                <a:t>Spit: Longshore drift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B2F6B42-B438-42A2-9321-DE140E8C8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23728" y="6385399"/>
              <a:ext cx="1584176" cy="25323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41EBCF0-3C59-4287-B823-480FF050D3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8384" y="3532616"/>
              <a:ext cx="432048" cy="133654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908E740C-7555-4C1A-AB22-31BE9E928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411821">
              <a:off x="7677940" y="3961895"/>
              <a:ext cx="194152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 Black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600" b="1" dirty="0">
                  <a:latin typeface="+mj-lt"/>
                </a:rPr>
                <a:t>Spit: longshore drift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727E8B2-C7DF-4262-B650-523C2AFCFE18}"/>
              </a:ext>
            </a:extLst>
          </p:cNvPr>
          <p:cNvGrpSpPr/>
          <p:nvPr/>
        </p:nvGrpSpPr>
        <p:grpSpPr>
          <a:xfrm>
            <a:off x="6444208" y="5100685"/>
            <a:ext cx="2080686" cy="1560584"/>
            <a:chOff x="6444208" y="5100685"/>
            <a:chExt cx="2080686" cy="1560584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802CA19-ED8A-467A-B51B-C4E7615481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44208" y="5157193"/>
              <a:ext cx="504056" cy="929529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86CE957-2DF6-4377-AD34-C475369C1118}"/>
                </a:ext>
              </a:extLst>
            </p:cNvPr>
            <p:cNvCxnSpPr>
              <a:cxnSpLocks/>
            </p:cNvCxnSpPr>
            <p:nvPr/>
          </p:nvCxnSpPr>
          <p:spPr>
            <a:xfrm>
              <a:off x="6588223" y="5100685"/>
              <a:ext cx="563908" cy="986037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Box 11">
              <a:extLst>
                <a:ext uri="{FF2B5EF4-FFF2-40B4-BE49-F238E27FC236}">
                  <a16:creationId xmlns:a16="http://schemas.microsoft.com/office/drawing/2014/main" id="{D174028B-5DB9-4EF7-9E87-A0F5DFF4B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1733" y="6076494"/>
              <a:ext cx="1623161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 Black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600" b="1" dirty="0">
                  <a:solidFill>
                    <a:schemeClr val="tx2"/>
                  </a:solidFill>
                  <a:latin typeface="+mj-lt"/>
                </a:rPr>
                <a:t>Funnel shape: tidal excavation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1CC44CC-D561-4DCD-BED0-FD75310A62BA}"/>
              </a:ext>
            </a:extLst>
          </p:cNvPr>
          <p:cNvGrpSpPr/>
          <p:nvPr/>
        </p:nvGrpSpPr>
        <p:grpSpPr>
          <a:xfrm>
            <a:off x="1699603" y="4576772"/>
            <a:ext cx="2614911" cy="1457786"/>
            <a:chOff x="1699603" y="4576772"/>
            <a:chExt cx="2614911" cy="1457786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DD9B7F9-E39A-4235-B22E-F1168A823FDB}"/>
                </a:ext>
              </a:extLst>
            </p:cNvPr>
            <p:cNvCxnSpPr>
              <a:cxnSpLocks/>
            </p:cNvCxnSpPr>
            <p:nvPr/>
          </p:nvCxnSpPr>
          <p:spPr>
            <a:xfrm>
              <a:off x="4221900" y="5100685"/>
              <a:ext cx="92614" cy="93387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 Box 11">
              <a:extLst>
                <a:ext uri="{FF2B5EF4-FFF2-40B4-BE49-F238E27FC236}">
                  <a16:creationId xmlns:a16="http://schemas.microsoft.com/office/drawing/2014/main" id="{BDEB0646-FDD2-453A-92C2-15967F824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603" y="4576772"/>
              <a:ext cx="2288300" cy="5847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 Black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 Black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Black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GB" sz="1600" b="1" dirty="0" err="1">
                  <a:solidFill>
                    <a:srgbClr val="FF0000"/>
                  </a:solidFill>
                  <a:latin typeface="+mj-lt"/>
                </a:rPr>
                <a:t>Mouthbar</a:t>
              </a:r>
              <a:r>
                <a:rPr lang="en-GB" sz="1600" b="1" dirty="0">
                  <a:solidFill>
                    <a:srgbClr val="FF0000"/>
                  </a:solidFill>
                  <a:latin typeface="+mj-lt"/>
                </a:rPr>
                <a:t>: Decelerating fluvial currents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667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G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7" y="1123591"/>
            <a:ext cx="8919936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251520" y="6321365"/>
            <a:ext cx="3600400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Bathymetry of the North Gulf of Mexico</a:t>
            </a: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9904B0-A0F1-445D-9162-6CF63A2F5AFD}" type="slidenum">
              <a:rPr lang="en-US"/>
              <a:pPr/>
              <a:t>22</a:t>
            </a:fld>
            <a:endParaRPr 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FF2D0509-E215-48CE-AA61-E44BAEFFF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7791" y="5268680"/>
            <a:ext cx="4608513" cy="147732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If you look at Bathymetry data from around the world you will see that the continents are surrounded by marine shelves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Sometimes the shelf is narrow, sometimes it’s wide.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0CDE0550-CDEF-438E-AFDC-C1D54E16B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7034" y="1560783"/>
            <a:ext cx="191911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Mississippi Delta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55678C-66DF-4480-9F6F-13950A6972D5}"/>
              </a:ext>
            </a:extLst>
          </p:cNvPr>
          <p:cNvCxnSpPr>
            <a:cxnSpLocks/>
          </p:cNvCxnSpPr>
          <p:nvPr/>
        </p:nvCxnSpPr>
        <p:spPr>
          <a:xfrm>
            <a:off x="2411760" y="1772816"/>
            <a:ext cx="360040" cy="172819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008F90-6FF9-4468-A6F0-65FB8DA67104}"/>
              </a:ext>
            </a:extLst>
          </p:cNvPr>
          <p:cNvCxnSpPr>
            <a:cxnSpLocks/>
          </p:cNvCxnSpPr>
          <p:nvPr/>
        </p:nvCxnSpPr>
        <p:spPr>
          <a:xfrm>
            <a:off x="7092280" y="2276872"/>
            <a:ext cx="216024" cy="360040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375218-EBB9-4F40-BE8B-00C090677779}"/>
              </a:ext>
            </a:extLst>
          </p:cNvPr>
          <p:cNvSpPr txBox="1"/>
          <p:nvPr/>
        </p:nvSpPr>
        <p:spPr>
          <a:xfrm>
            <a:off x="2682934" y="2452246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220 km wide shelf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99D916-F52B-45B8-815D-DC62F0700030}"/>
              </a:ext>
            </a:extLst>
          </p:cNvPr>
          <p:cNvSpPr txBox="1"/>
          <p:nvPr/>
        </p:nvSpPr>
        <p:spPr>
          <a:xfrm>
            <a:off x="5466514" y="2336528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Nearly no shelf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4887BBD-9D62-4D58-B7E4-3CB715CD3ABD}"/>
              </a:ext>
            </a:extLst>
          </p:cNvPr>
          <p:cNvSpPr txBox="1">
            <a:spLocks noChangeArrowheads="1"/>
          </p:cNvSpPr>
          <p:nvPr/>
        </p:nvSpPr>
        <p:spPr>
          <a:xfrm>
            <a:off x="35496" y="73161"/>
            <a:ext cx="907300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D</a:t>
            </a:r>
            <a:r>
              <a:rPr kumimoji="0" lang="en-GB" sz="5000" b="1" i="0" u="non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eep</a:t>
            </a:r>
            <a:r>
              <a:rPr kumimoji="0" lang="en-GB" sz="5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water</a:t>
            </a:r>
          </a:p>
        </p:txBody>
      </p:sp>
    </p:spTree>
    <p:extLst>
      <p:ext uri="{BB962C8B-B14F-4D97-AF65-F5344CB8AC3E}">
        <p14:creationId xmlns:p14="http://schemas.microsoft.com/office/powerpoint/2010/main" val="3114527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G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7" y="1123591"/>
            <a:ext cx="8919936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79512" y="1218238"/>
            <a:ext cx="3600400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Bathymetry of the North Gulf of Mexico</a:t>
            </a: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9904B0-A0F1-445D-9162-6CF63A2F5AFD}" type="slidenum">
              <a:rPr lang="en-US"/>
              <a:pPr/>
              <a:t>23</a:t>
            </a:fld>
            <a:endParaRPr 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FF2D0509-E215-48CE-AA61-E44BAEFFF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945" y="5496910"/>
            <a:ext cx="4829492" cy="120032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Continental shelves are flat areas of continental crust that are flooded by the sea.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They are separated from low-lying Oceanic Crust by steeper slopes.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0CDE0550-CDEF-438E-AFDC-C1D54E16B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7034" y="1560783"/>
            <a:ext cx="191911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Mississippi Delta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55678C-66DF-4480-9F6F-13950A6972D5}"/>
              </a:ext>
            </a:extLst>
          </p:cNvPr>
          <p:cNvCxnSpPr>
            <a:cxnSpLocks/>
          </p:cNvCxnSpPr>
          <p:nvPr/>
        </p:nvCxnSpPr>
        <p:spPr>
          <a:xfrm>
            <a:off x="2411760" y="1772816"/>
            <a:ext cx="360040" cy="172819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375218-EBB9-4F40-BE8B-00C090677779}"/>
              </a:ext>
            </a:extLst>
          </p:cNvPr>
          <p:cNvSpPr txBox="1"/>
          <p:nvPr/>
        </p:nvSpPr>
        <p:spPr>
          <a:xfrm>
            <a:off x="4139952" y="3880547"/>
            <a:ext cx="193553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Continental slope</a:t>
            </a:r>
          </a:p>
          <a:p>
            <a:r>
              <a:rPr lang="en-GB" b="1" dirty="0">
                <a:solidFill>
                  <a:srgbClr val="FF0000"/>
                </a:solidFill>
              </a:rPr>
              <a:t>(gradient 0.1 – 2</a:t>
            </a:r>
            <a:r>
              <a:rPr lang="en-GB" b="1" baseline="30000" dirty="0">
                <a:solidFill>
                  <a:srgbClr val="FF0000"/>
                </a:solidFill>
              </a:rPr>
              <a:t>o</a:t>
            </a:r>
            <a:r>
              <a:rPr lang="en-GB" b="1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8E601B-52DA-47D3-BAAA-B5ADD2F9246F}"/>
              </a:ext>
            </a:extLst>
          </p:cNvPr>
          <p:cNvCxnSpPr>
            <a:cxnSpLocks/>
          </p:cNvCxnSpPr>
          <p:nvPr/>
        </p:nvCxnSpPr>
        <p:spPr>
          <a:xfrm>
            <a:off x="3779912" y="3573016"/>
            <a:ext cx="360040" cy="172819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90CE18B-78FF-4825-9AA7-3C8B81F61001}"/>
              </a:ext>
            </a:extLst>
          </p:cNvPr>
          <p:cNvSpPr txBox="1"/>
          <p:nvPr/>
        </p:nvSpPr>
        <p:spPr>
          <a:xfrm>
            <a:off x="2765670" y="2241738"/>
            <a:ext cx="1844159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Continental shelf</a:t>
            </a:r>
          </a:p>
          <a:p>
            <a:r>
              <a:rPr lang="en-GB" b="1" dirty="0">
                <a:solidFill>
                  <a:srgbClr val="FF0000"/>
                </a:solidFill>
              </a:rPr>
              <a:t>(gradient ~0.05</a:t>
            </a:r>
            <a:r>
              <a:rPr lang="en-GB" b="1" baseline="30000" dirty="0">
                <a:solidFill>
                  <a:srgbClr val="FF0000"/>
                </a:solidFill>
              </a:rPr>
              <a:t>o</a:t>
            </a:r>
            <a:r>
              <a:rPr lang="en-GB" b="1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31A635-A98A-4919-AD21-E567424797A0}"/>
              </a:ext>
            </a:extLst>
          </p:cNvPr>
          <p:cNvCxnSpPr>
            <a:cxnSpLocks/>
          </p:cNvCxnSpPr>
          <p:nvPr/>
        </p:nvCxnSpPr>
        <p:spPr>
          <a:xfrm>
            <a:off x="2798070" y="5217150"/>
            <a:ext cx="54495" cy="1555639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35EA0C0-DC81-4C32-AE03-F23940CA72CF}"/>
              </a:ext>
            </a:extLst>
          </p:cNvPr>
          <p:cNvSpPr txBox="1"/>
          <p:nvPr/>
        </p:nvSpPr>
        <p:spPr>
          <a:xfrm>
            <a:off x="1078942" y="5773908"/>
            <a:ext cx="167263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Ocean floor</a:t>
            </a:r>
          </a:p>
          <a:p>
            <a:r>
              <a:rPr lang="en-GB" b="1" dirty="0">
                <a:solidFill>
                  <a:srgbClr val="FF0000"/>
                </a:solidFill>
              </a:rPr>
              <a:t>(gradient &lt;0.1</a:t>
            </a:r>
            <a:r>
              <a:rPr lang="en-GB" b="1" baseline="30000" dirty="0">
                <a:solidFill>
                  <a:srgbClr val="FF0000"/>
                </a:solidFill>
              </a:rPr>
              <a:t>o</a:t>
            </a:r>
            <a:r>
              <a:rPr lang="en-GB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2CECAA12-D69B-4FFC-B4FB-41675237AC01}"/>
              </a:ext>
            </a:extLst>
          </p:cNvPr>
          <p:cNvSpPr txBox="1">
            <a:spLocks noChangeArrowheads="1"/>
          </p:cNvSpPr>
          <p:nvPr/>
        </p:nvSpPr>
        <p:spPr>
          <a:xfrm>
            <a:off x="35496" y="73161"/>
            <a:ext cx="907300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D</a:t>
            </a:r>
            <a:r>
              <a:rPr kumimoji="0" lang="en-GB" sz="5000" b="1" i="0" u="non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eep</a:t>
            </a:r>
            <a:r>
              <a:rPr kumimoji="0" lang="en-GB" sz="5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water</a:t>
            </a:r>
          </a:p>
        </p:txBody>
      </p:sp>
    </p:spTree>
    <p:extLst>
      <p:ext uri="{BB962C8B-B14F-4D97-AF65-F5344CB8AC3E}">
        <p14:creationId xmlns:p14="http://schemas.microsoft.com/office/powerpoint/2010/main" val="3588953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G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7" y="1123591"/>
            <a:ext cx="8919936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259017" y="1230134"/>
            <a:ext cx="3600400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Bathymetry of the North Gulf of Mexico</a:t>
            </a: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9904B0-A0F1-445D-9162-6CF63A2F5AFD}" type="slidenum">
              <a:rPr lang="en-US"/>
              <a:pPr/>
              <a:t>24</a:t>
            </a:fld>
            <a:endParaRPr 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FF2D0509-E215-48CE-AA61-E44BAEFFF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5521146"/>
            <a:ext cx="7584664" cy="120032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 rivers, deltas, or shorefaces are able to cross the shelf and deliver sediment to the continental slope (e.g. the Mississippi Delta)…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…A COMPLETELY DIFFERENT SET OF PROCESSES START TO HAPPEN!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are </a:t>
            </a:r>
            <a:r>
              <a:rPr lang="en-US" b="1" u="sng" dirty="0"/>
              <a:t>mass wasting and transport processes</a:t>
            </a:r>
            <a:r>
              <a:rPr lang="en-US" dirty="0"/>
              <a:t>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0CDE0550-CDEF-438E-AFDC-C1D54E16B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7034" y="1560783"/>
            <a:ext cx="191911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Mississippi Delta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55678C-66DF-4480-9F6F-13950A6972D5}"/>
              </a:ext>
            </a:extLst>
          </p:cNvPr>
          <p:cNvCxnSpPr>
            <a:cxnSpLocks/>
          </p:cNvCxnSpPr>
          <p:nvPr/>
        </p:nvCxnSpPr>
        <p:spPr>
          <a:xfrm>
            <a:off x="2411760" y="1772816"/>
            <a:ext cx="360040" cy="1728192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375218-EBB9-4F40-BE8B-00C090677779}"/>
              </a:ext>
            </a:extLst>
          </p:cNvPr>
          <p:cNvSpPr txBox="1"/>
          <p:nvPr/>
        </p:nvSpPr>
        <p:spPr>
          <a:xfrm>
            <a:off x="2682934" y="2452246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220 km wide shelf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9018CE-9BE0-48DA-A007-387ADD8E8F52}"/>
              </a:ext>
            </a:extLst>
          </p:cNvPr>
          <p:cNvSpPr/>
          <p:nvPr/>
        </p:nvSpPr>
        <p:spPr>
          <a:xfrm>
            <a:off x="6553200" y="1969040"/>
            <a:ext cx="1043136" cy="7655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96A163FD-8697-4E77-8297-664D6E76A18A}"/>
              </a:ext>
            </a:extLst>
          </p:cNvPr>
          <p:cNvSpPr txBox="1">
            <a:spLocks noChangeArrowheads="1"/>
          </p:cNvSpPr>
          <p:nvPr/>
        </p:nvSpPr>
        <p:spPr>
          <a:xfrm>
            <a:off x="35496" y="73161"/>
            <a:ext cx="907300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D</a:t>
            </a:r>
            <a:r>
              <a:rPr kumimoji="0" lang="en-GB" sz="5000" b="1" i="0" u="non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eep</a:t>
            </a:r>
            <a:r>
              <a:rPr kumimoji="0" lang="en-GB" sz="5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water</a:t>
            </a:r>
          </a:p>
        </p:txBody>
      </p:sp>
    </p:spTree>
    <p:extLst>
      <p:ext uri="{BB962C8B-B14F-4D97-AF65-F5344CB8AC3E}">
        <p14:creationId xmlns:p14="http://schemas.microsoft.com/office/powerpoint/2010/main" val="37915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79512" y="1126638"/>
            <a:ext cx="8784976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Commonly, canyons cut back from the Ocean floor through the shelf and can “tap” sediment directly from </a:t>
            </a:r>
            <a:r>
              <a:rPr lang="en-US" sz="2000" dirty="0"/>
              <a:t>deltas or shorefaces.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Earthquakes, or oversteepening of the sediment deposited there causes landslides.</a:t>
            </a:r>
            <a:endParaRPr lang="en-GB" sz="2000" dirty="0"/>
          </a:p>
        </p:txBody>
      </p:sp>
      <p:pic>
        <p:nvPicPr>
          <p:cNvPr id="11" name="Picture 4" descr="The image “http://visibleearth.nasa.gov/images/1511/la_persp.gif” cannot be displayed, because it contains errors.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616" y="2899859"/>
            <a:ext cx="7354241" cy="379458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4499992" y="2852936"/>
            <a:ext cx="371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1"/>
                </a:solidFill>
              </a:rPr>
              <a:t>Bathymetry of Southern California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rot="16200000" flipH="1">
            <a:off x="2852876" y="4196557"/>
            <a:ext cx="530104" cy="291134"/>
          </a:xfrm>
          <a:prstGeom prst="straightConnector1">
            <a:avLst/>
          </a:prstGeom>
          <a:ln w="5715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6200000" flipH="1">
            <a:off x="5342619" y="4530588"/>
            <a:ext cx="546994" cy="360041"/>
          </a:xfrm>
          <a:prstGeom prst="straightConnector1">
            <a:avLst/>
          </a:prstGeom>
          <a:ln w="5715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85362" y="384265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Canyon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64" y="4077072"/>
            <a:ext cx="263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Edge of continental shelf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5303322" y="5162273"/>
            <a:ext cx="576065" cy="455816"/>
          </a:xfrm>
          <a:prstGeom prst="straightConnector1">
            <a:avLst/>
          </a:prstGeom>
          <a:ln w="5715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79387" y="5433423"/>
            <a:ext cx="263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Slope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6545A5-E264-4EB3-8294-086EE7D61E7F}"/>
              </a:ext>
            </a:extLst>
          </p:cNvPr>
          <p:cNvSpPr txBox="1"/>
          <p:nvPr/>
        </p:nvSpPr>
        <p:spPr>
          <a:xfrm>
            <a:off x="3298497" y="5327857"/>
            <a:ext cx="263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Ocean Floor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524E731-7513-40F6-89A6-A8348B894341}"/>
              </a:ext>
            </a:extLst>
          </p:cNvPr>
          <p:cNvSpPr txBox="1">
            <a:spLocks noChangeArrowheads="1"/>
          </p:cNvSpPr>
          <p:nvPr/>
        </p:nvSpPr>
        <p:spPr>
          <a:xfrm>
            <a:off x="35496" y="73161"/>
            <a:ext cx="907300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D</a:t>
            </a:r>
            <a:r>
              <a:rPr kumimoji="0" lang="en-GB" sz="5000" b="1" i="0" u="non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eep</a:t>
            </a:r>
            <a:r>
              <a:rPr kumimoji="0" lang="en-GB" sz="50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water</a:t>
            </a:r>
          </a:p>
        </p:txBody>
      </p:sp>
    </p:spTree>
    <p:extLst>
      <p:ext uri="{BB962C8B-B14F-4D97-AF65-F5344CB8AC3E}">
        <p14:creationId xmlns:p14="http://schemas.microsoft.com/office/powerpoint/2010/main" val="2500204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763688" y="2176643"/>
            <a:ext cx="5400600" cy="302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176282" y="3504364"/>
            <a:ext cx="791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VIDEO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EADCE68E-82A6-4C0C-9A61-FAAB27F5B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26638"/>
            <a:ext cx="8784976" cy="96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Debris flows and turbidity currents occur because the mix of sediment and water is denser than the ambient medium (seawater).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So they flow because of their gravitational potential.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62FE52CF-FCB1-4FD7-9571-44CA30991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1619" y="5240019"/>
            <a:ext cx="684076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>
                <a:hlinkClick r:id="rId3"/>
              </a:rPr>
              <a:t>http://www.youtube.com/watch?v=bZniPhc_7N8&amp;list=PLC87618DCCC0912DE&amp;index=3</a:t>
            </a:r>
            <a:endParaRPr lang="en-GB" sz="1400" dirty="0"/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76290CBF-622C-4A6A-AB1F-0A517E0D2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5622964"/>
            <a:ext cx="8856984" cy="126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Both processes happen on land and underwater, if the gradient is great enough, and the concentration of the flow is high enough.</a:t>
            </a:r>
          </a:p>
          <a:p>
            <a:pPr lvl="1"/>
            <a:r>
              <a:rPr lang="en-GB" sz="1900" dirty="0">
                <a:sym typeface="Wingdings" panose="05000000000000000000" pitchFamily="2" charset="2"/>
              </a:rPr>
              <a:t></a:t>
            </a:r>
            <a:r>
              <a:rPr lang="en-GB" sz="1900" dirty="0"/>
              <a:t>Turbidity currents on land are usually Volcanic, and are called Pyroclastic Flows (W3).</a:t>
            </a:r>
          </a:p>
        </p:txBody>
      </p:sp>
    </p:spTree>
    <p:extLst>
      <p:ext uri="{BB962C8B-B14F-4D97-AF65-F5344CB8AC3E}">
        <p14:creationId xmlns:p14="http://schemas.microsoft.com/office/powerpoint/2010/main" val="694524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Monterey Submarine Canyon - continued - Through The Sandglass">
            <a:extLst>
              <a:ext uri="{FF2B5EF4-FFF2-40B4-BE49-F238E27FC236}">
                <a16:creationId xmlns:a16="http://schemas.microsoft.com/office/drawing/2014/main" id="{566DD651-28AF-4921-B755-A863FA188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75" y="1340768"/>
            <a:ext cx="8856249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811EC2-4ABB-44BC-82DD-F8DA01572411}"/>
              </a:ext>
            </a:extLst>
          </p:cNvPr>
          <p:cNvSpPr txBox="1"/>
          <p:nvPr/>
        </p:nvSpPr>
        <p:spPr>
          <a:xfrm>
            <a:off x="323528" y="1484784"/>
            <a:ext cx="371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Monterey Canyon, California</a:t>
            </a:r>
          </a:p>
        </p:txBody>
      </p:sp>
    </p:spTree>
    <p:extLst>
      <p:ext uri="{BB962C8B-B14F-4D97-AF65-F5344CB8AC3E}">
        <p14:creationId xmlns:p14="http://schemas.microsoft.com/office/powerpoint/2010/main" val="3886392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://www.mbari.org/news/homepage/2006/cable-rath3-350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93368" y="1143000"/>
            <a:ext cx="2175398" cy="1653303"/>
          </a:xfrm>
          <a:prstGeom prst="rect">
            <a:avLst/>
          </a:prstGeom>
          <a:noFill/>
        </p:spPr>
      </p:pic>
      <p:grpSp>
        <p:nvGrpSpPr>
          <p:cNvPr id="10" name="Group 9"/>
          <p:cNvGrpSpPr/>
          <p:nvPr/>
        </p:nvGrpSpPr>
        <p:grpSpPr>
          <a:xfrm>
            <a:off x="5135595" y="2996952"/>
            <a:ext cx="3816424" cy="3600400"/>
            <a:chOff x="539552" y="3140968"/>
            <a:chExt cx="3294633" cy="3294633"/>
          </a:xfrm>
        </p:grpSpPr>
        <p:pic>
          <p:nvPicPr>
            <p:cNvPr id="6" name="Picture 5" descr="Spacer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3140968"/>
              <a:ext cx="3294633" cy="3294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5" descr="uk-map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041" y="5842567"/>
              <a:ext cx="391363" cy="498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16E70B9-E02D-40FB-8AC3-86557D4AC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7462" y="1143000"/>
            <a:ext cx="4684762" cy="248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DD772408-0756-4633-B190-733CB1DB8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58" y="3668339"/>
            <a:ext cx="4860478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Submarine (“deep water”) fans are the largest sedimentary deposits on Earth.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They are the final resting place for any particle that has been eroded from a “high area”.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processes occurring in these deep water conditions were a mystery until very recently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They pose a major risk to submarine infrastructure.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4E9F4F40-8FAC-44B3-AACB-6A9547EEC0D1}"/>
              </a:ext>
            </a:extLst>
          </p:cNvPr>
          <p:cNvSpPr txBox="1">
            <a:spLocks noChangeArrowheads="1"/>
          </p:cNvSpPr>
          <p:nvPr/>
        </p:nvSpPr>
        <p:spPr>
          <a:xfrm>
            <a:off x="35496" y="73161"/>
            <a:ext cx="9073008" cy="980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Clastic depositional environments: deep water</a:t>
            </a:r>
          </a:p>
        </p:txBody>
      </p:sp>
    </p:spTree>
    <p:extLst>
      <p:ext uri="{BB962C8B-B14F-4D97-AF65-F5344CB8AC3E}">
        <p14:creationId xmlns:p14="http://schemas.microsoft.com/office/powerpoint/2010/main" val="1691991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2343</TotalTime>
  <Words>1340</Words>
  <Application>Microsoft Office PowerPoint</Application>
  <PresentationFormat>On-screen Show (4:3)</PresentationFormat>
  <Paragraphs>172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Bookman Old Style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Rhodri Jerrett</dc:creator>
  <cp:lastModifiedBy>Rhodri Jerrett</cp:lastModifiedBy>
  <cp:revision>196</cp:revision>
  <dcterms:created xsi:type="dcterms:W3CDTF">2014-02-06T10:47:42Z</dcterms:created>
  <dcterms:modified xsi:type="dcterms:W3CDTF">2021-04-18T14:08:00Z</dcterms:modified>
</cp:coreProperties>
</file>