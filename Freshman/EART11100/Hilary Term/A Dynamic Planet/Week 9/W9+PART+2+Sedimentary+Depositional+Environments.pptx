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3"/>
  </p:notesMasterIdLst>
  <p:handoutMasterIdLst>
    <p:handoutMasterId r:id="rId34"/>
  </p:handoutMasterIdLst>
  <p:sldIdLst>
    <p:sldId id="691" r:id="rId2"/>
    <p:sldId id="581" r:id="rId3"/>
    <p:sldId id="596" r:id="rId4"/>
    <p:sldId id="597" r:id="rId5"/>
    <p:sldId id="598" r:id="rId6"/>
    <p:sldId id="599" r:id="rId7"/>
    <p:sldId id="600" r:id="rId8"/>
    <p:sldId id="601" r:id="rId9"/>
    <p:sldId id="602" r:id="rId10"/>
    <p:sldId id="603" r:id="rId11"/>
    <p:sldId id="408" r:id="rId12"/>
    <p:sldId id="474" r:id="rId13"/>
    <p:sldId id="604" r:id="rId14"/>
    <p:sldId id="477" r:id="rId15"/>
    <p:sldId id="464" r:id="rId16"/>
    <p:sldId id="463" r:id="rId17"/>
    <p:sldId id="462" r:id="rId18"/>
    <p:sldId id="499" r:id="rId19"/>
    <p:sldId id="607" r:id="rId20"/>
    <p:sldId id="573" r:id="rId21"/>
    <p:sldId id="605" r:id="rId22"/>
    <p:sldId id="609" r:id="rId23"/>
    <p:sldId id="608" r:id="rId24"/>
    <p:sldId id="610" r:id="rId25"/>
    <p:sldId id="571" r:id="rId26"/>
    <p:sldId id="570" r:id="rId27"/>
    <p:sldId id="612" r:id="rId28"/>
    <p:sldId id="616" r:id="rId29"/>
    <p:sldId id="614" r:id="rId30"/>
    <p:sldId id="617" r:id="rId31"/>
    <p:sldId id="615" r:id="rId32"/>
  </p:sldIdLst>
  <p:sldSz cx="9144000" cy="6858000" type="screen4x3"/>
  <p:notesSz cx="6858000" cy="9144000"/>
  <p:defaultTextStyle>
    <a:defPPr>
      <a:defRPr lang="en-US"/>
    </a:defPPr>
    <a:lvl1pPr algn="l" rtl="0" eaLnBrk="0" fontAlgn="base" hangingPunct="0">
      <a:spcBef>
        <a:spcPct val="0"/>
      </a:spcBef>
      <a:spcAft>
        <a:spcPct val="0"/>
      </a:spcAft>
      <a:defRPr sz="4400" kern="1200">
        <a:solidFill>
          <a:schemeClr val="tx1"/>
        </a:solidFill>
        <a:latin typeface="Arial" panose="020B0604020202020204" pitchFamily="34" charset="0"/>
        <a:ea typeface="ヒラギノ角ゴ Pro W3" pitchFamily="57" charset="-128"/>
        <a:cs typeface="+mn-cs"/>
      </a:defRPr>
    </a:lvl1pPr>
    <a:lvl2pPr marL="457200" algn="l" rtl="0" eaLnBrk="0" fontAlgn="base" hangingPunct="0">
      <a:spcBef>
        <a:spcPct val="0"/>
      </a:spcBef>
      <a:spcAft>
        <a:spcPct val="0"/>
      </a:spcAft>
      <a:defRPr sz="4400" kern="1200">
        <a:solidFill>
          <a:schemeClr val="tx1"/>
        </a:solidFill>
        <a:latin typeface="Arial" panose="020B0604020202020204" pitchFamily="34" charset="0"/>
        <a:ea typeface="ヒラギノ角ゴ Pro W3" pitchFamily="57" charset="-128"/>
        <a:cs typeface="+mn-cs"/>
      </a:defRPr>
    </a:lvl2pPr>
    <a:lvl3pPr marL="914400" algn="l" rtl="0" eaLnBrk="0" fontAlgn="base" hangingPunct="0">
      <a:spcBef>
        <a:spcPct val="0"/>
      </a:spcBef>
      <a:spcAft>
        <a:spcPct val="0"/>
      </a:spcAft>
      <a:defRPr sz="4400" kern="1200">
        <a:solidFill>
          <a:schemeClr val="tx1"/>
        </a:solidFill>
        <a:latin typeface="Arial" panose="020B0604020202020204" pitchFamily="34" charset="0"/>
        <a:ea typeface="ヒラギノ角ゴ Pro W3" pitchFamily="57" charset="-128"/>
        <a:cs typeface="+mn-cs"/>
      </a:defRPr>
    </a:lvl3pPr>
    <a:lvl4pPr marL="1371600" algn="l" rtl="0" eaLnBrk="0" fontAlgn="base" hangingPunct="0">
      <a:spcBef>
        <a:spcPct val="0"/>
      </a:spcBef>
      <a:spcAft>
        <a:spcPct val="0"/>
      </a:spcAft>
      <a:defRPr sz="4400" kern="1200">
        <a:solidFill>
          <a:schemeClr val="tx1"/>
        </a:solidFill>
        <a:latin typeface="Arial" panose="020B0604020202020204" pitchFamily="34" charset="0"/>
        <a:ea typeface="ヒラギノ角ゴ Pro W3" pitchFamily="57" charset="-128"/>
        <a:cs typeface="+mn-cs"/>
      </a:defRPr>
    </a:lvl4pPr>
    <a:lvl5pPr marL="1828800" algn="l" rtl="0" eaLnBrk="0" fontAlgn="base" hangingPunct="0">
      <a:spcBef>
        <a:spcPct val="0"/>
      </a:spcBef>
      <a:spcAft>
        <a:spcPct val="0"/>
      </a:spcAft>
      <a:defRPr sz="4400" kern="1200">
        <a:solidFill>
          <a:schemeClr val="tx1"/>
        </a:solidFill>
        <a:latin typeface="Arial" panose="020B0604020202020204" pitchFamily="34" charset="0"/>
        <a:ea typeface="ヒラギノ角ゴ Pro W3" pitchFamily="57" charset="-128"/>
        <a:cs typeface="+mn-cs"/>
      </a:defRPr>
    </a:lvl5pPr>
    <a:lvl6pPr marL="2286000" algn="l" defTabSz="914400" rtl="0" eaLnBrk="1" latinLnBrk="0" hangingPunct="1">
      <a:defRPr sz="4400" kern="1200">
        <a:solidFill>
          <a:schemeClr val="tx1"/>
        </a:solidFill>
        <a:latin typeface="Arial" panose="020B0604020202020204" pitchFamily="34" charset="0"/>
        <a:ea typeface="ヒラギノ角ゴ Pro W3" pitchFamily="57" charset="-128"/>
        <a:cs typeface="+mn-cs"/>
      </a:defRPr>
    </a:lvl6pPr>
    <a:lvl7pPr marL="2743200" algn="l" defTabSz="914400" rtl="0" eaLnBrk="1" latinLnBrk="0" hangingPunct="1">
      <a:defRPr sz="4400" kern="1200">
        <a:solidFill>
          <a:schemeClr val="tx1"/>
        </a:solidFill>
        <a:latin typeface="Arial" panose="020B0604020202020204" pitchFamily="34" charset="0"/>
        <a:ea typeface="ヒラギノ角ゴ Pro W3" pitchFamily="57" charset="-128"/>
        <a:cs typeface="+mn-cs"/>
      </a:defRPr>
    </a:lvl7pPr>
    <a:lvl8pPr marL="3200400" algn="l" defTabSz="914400" rtl="0" eaLnBrk="1" latinLnBrk="0" hangingPunct="1">
      <a:defRPr sz="4400" kern="1200">
        <a:solidFill>
          <a:schemeClr val="tx1"/>
        </a:solidFill>
        <a:latin typeface="Arial" panose="020B0604020202020204" pitchFamily="34" charset="0"/>
        <a:ea typeface="ヒラギノ角ゴ Pro W3" pitchFamily="57" charset="-128"/>
        <a:cs typeface="+mn-cs"/>
      </a:defRPr>
    </a:lvl8pPr>
    <a:lvl9pPr marL="3657600" algn="l" defTabSz="914400" rtl="0" eaLnBrk="1" latinLnBrk="0" hangingPunct="1">
      <a:defRPr sz="4400" kern="1200">
        <a:solidFill>
          <a:schemeClr val="tx1"/>
        </a:solidFill>
        <a:latin typeface="Arial" panose="020B0604020202020204" pitchFamily="34" charset="0"/>
        <a:ea typeface="ヒラギノ角ゴ Pro W3" pitchFamily="57" charset="-128"/>
        <a:cs typeface="+mn-cs"/>
      </a:defRPr>
    </a:lvl9pPr>
  </p:defaultTextStyle>
  <p:extLst>
    <p:ext uri="{EFAFB233-063F-42B5-8137-9DF3F51BA10A}">
      <p15:sldGuideLst xmlns:p15="http://schemas.microsoft.com/office/powerpoint/2012/main">
        <p15:guide id="1" orient="horz" pos="1680">
          <p15:clr>
            <a:srgbClr val="A4A3A4"/>
          </p15:clr>
        </p15:guide>
        <p15:guide id="2" pos="42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66FF"/>
    <a:srgbClr val="000000"/>
    <a:srgbClr val="996633"/>
    <a:srgbClr val="FFCC00"/>
    <a:srgbClr val="CCCC00"/>
    <a:srgbClr val="0066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0929"/>
  </p:normalViewPr>
  <p:slideViewPr>
    <p:cSldViewPr snapToGrid="0">
      <p:cViewPr varScale="1">
        <p:scale>
          <a:sx n="67" d="100"/>
          <a:sy n="67" d="100"/>
        </p:scale>
        <p:origin x="1208" y="44"/>
      </p:cViewPr>
      <p:guideLst>
        <p:guide orient="horz" pos="1680"/>
        <p:guide pos="428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AB83B98-9BF4-4412-9250-CF9F5752DBE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110595" name="Rectangle 3">
            <a:extLst>
              <a:ext uri="{FF2B5EF4-FFF2-40B4-BE49-F238E27FC236}">
                <a16:creationId xmlns:a16="http://schemas.microsoft.com/office/drawing/2014/main" id="{FD549B33-B38D-421C-AA9F-D2D9606DCBE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110596" name="Rectangle 4">
            <a:extLst>
              <a:ext uri="{FF2B5EF4-FFF2-40B4-BE49-F238E27FC236}">
                <a16:creationId xmlns:a16="http://schemas.microsoft.com/office/drawing/2014/main" id="{398F04A1-7BBE-4B00-AAF4-4E93C9ABE37E}"/>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110597" name="Rectangle 5">
            <a:extLst>
              <a:ext uri="{FF2B5EF4-FFF2-40B4-BE49-F238E27FC236}">
                <a16:creationId xmlns:a16="http://schemas.microsoft.com/office/drawing/2014/main" id="{5BC1A6E2-E985-4C5C-B502-090DB7D53153}"/>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222FE7A-E1B8-4921-8968-A3F750F854C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13BE967-2C79-43BB-B48B-46FFD5F0CFA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59395" name="Rectangle 3">
            <a:extLst>
              <a:ext uri="{FF2B5EF4-FFF2-40B4-BE49-F238E27FC236}">
                <a16:creationId xmlns:a16="http://schemas.microsoft.com/office/drawing/2014/main" id="{24A8969F-9887-4E4B-A705-C91171C00CEB}"/>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54276" name="Rectangle 4">
            <a:extLst>
              <a:ext uri="{FF2B5EF4-FFF2-40B4-BE49-F238E27FC236}">
                <a16:creationId xmlns:a16="http://schemas.microsoft.com/office/drawing/2014/main" id="{1B149F27-BC45-48B5-A535-3201B36514C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F4F4E47E-2121-4DD4-BE61-BA1812007BCF}"/>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9BA54F88-DADE-4BCB-81CB-0ADE5122F56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59399" name="Rectangle 7">
            <a:extLst>
              <a:ext uri="{FF2B5EF4-FFF2-40B4-BE49-F238E27FC236}">
                <a16:creationId xmlns:a16="http://schemas.microsoft.com/office/drawing/2014/main" id="{9578C301-8492-41C9-AC66-92767256D33E}"/>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B41D6AEE-9A24-44C9-A462-7883803202F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ヒラギノ角ゴ Pro W3" pitchFamily="57"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ヒラギノ角ゴ Pro W3" pitchFamily="57"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ヒラギノ角ゴ Pro W3" pitchFamily="57"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ヒラギノ角ゴ Pro W3" pitchFamily="57"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ヒラギノ角ゴ Pro W3" pitchFamily="57"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859589EF-A12E-41BA-BE6C-94661DE9D1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a:solidFill>
                  <a:schemeClr val="tx1"/>
                </a:solidFill>
                <a:latin typeface="Arial" panose="020B0604020202020204" pitchFamily="34" charset="0"/>
                <a:ea typeface="ヒラギノ角ゴ Pro W3" pitchFamily="57" charset="-128"/>
              </a:defRPr>
            </a:lvl1pPr>
            <a:lvl2pPr marL="742950" indent="-285750">
              <a:defRPr sz="4400">
                <a:solidFill>
                  <a:schemeClr val="tx1"/>
                </a:solidFill>
                <a:latin typeface="Arial" panose="020B0604020202020204" pitchFamily="34" charset="0"/>
                <a:ea typeface="ヒラギノ角ゴ Pro W3" pitchFamily="57" charset="-128"/>
              </a:defRPr>
            </a:lvl2pPr>
            <a:lvl3pPr marL="1143000" indent="-228600">
              <a:defRPr sz="4400">
                <a:solidFill>
                  <a:schemeClr val="tx1"/>
                </a:solidFill>
                <a:latin typeface="Arial" panose="020B0604020202020204" pitchFamily="34" charset="0"/>
                <a:ea typeface="ヒラギノ角ゴ Pro W3" pitchFamily="57" charset="-128"/>
              </a:defRPr>
            </a:lvl3pPr>
            <a:lvl4pPr marL="1600200" indent="-228600">
              <a:defRPr sz="4400">
                <a:solidFill>
                  <a:schemeClr val="tx1"/>
                </a:solidFill>
                <a:latin typeface="Arial" panose="020B0604020202020204" pitchFamily="34" charset="0"/>
                <a:ea typeface="ヒラギノ角ゴ Pro W3" pitchFamily="57" charset="-128"/>
              </a:defRPr>
            </a:lvl4pPr>
            <a:lvl5pPr marL="2057400" indent="-228600">
              <a:defRPr sz="4400">
                <a:solidFill>
                  <a:schemeClr val="tx1"/>
                </a:solidFill>
                <a:latin typeface="Arial" panose="020B0604020202020204" pitchFamily="34" charset="0"/>
                <a:ea typeface="ヒラギノ角ゴ Pro W3" pitchFamily="57" charset="-128"/>
              </a:defRPr>
            </a:lvl5pPr>
            <a:lvl6pPr marL="2514600" indent="-228600" eaLnBrk="0" fontAlgn="base" hangingPunct="0">
              <a:spcBef>
                <a:spcPct val="0"/>
              </a:spcBef>
              <a:spcAft>
                <a:spcPct val="0"/>
              </a:spcAft>
              <a:defRPr sz="4400">
                <a:solidFill>
                  <a:schemeClr val="tx1"/>
                </a:solidFill>
                <a:latin typeface="Arial" panose="020B0604020202020204" pitchFamily="34" charset="0"/>
                <a:ea typeface="ヒラギノ角ゴ Pro W3" pitchFamily="57" charset="-128"/>
              </a:defRPr>
            </a:lvl6pPr>
            <a:lvl7pPr marL="2971800" indent="-228600" eaLnBrk="0" fontAlgn="base" hangingPunct="0">
              <a:spcBef>
                <a:spcPct val="0"/>
              </a:spcBef>
              <a:spcAft>
                <a:spcPct val="0"/>
              </a:spcAft>
              <a:defRPr sz="4400">
                <a:solidFill>
                  <a:schemeClr val="tx1"/>
                </a:solidFill>
                <a:latin typeface="Arial" panose="020B0604020202020204" pitchFamily="34" charset="0"/>
                <a:ea typeface="ヒラギノ角ゴ Pro W3" pitchFamily="57" charset="-128"/>
              </a:defRPr>
            </a:lvl7pPr>
            <a:lvl8pPr marL="3429000" indent="-228600" eaLnBrk="0" fontAlgn="base" hangingPunct="0">
              <a:spcBef>
                <a:spcPct val="0"/>
              </a:spcBef>
              <a:spcAft>
                <a:spcPct val="0"/>
              </a:spcAft>
              <a:defRPr sz="4400">
                <a:solidFill>
                  <a:schemeClr val="tx1"/>
                </a:solidFill>
                <a:latin typeface="Arial" panose="020B0604020202020204" pitchFamily="34" charset="0"/>
                <a:ea typeface="ヒラギノ角ゴ Pro W3" pitchFamily="57" charset="-128"/>
              </a:defRPr>
            </a:lvl8pPr>
            <a:lvl9pPr marL="3886200" indent="-228600" eaLnBrk="0" fontAlgn="base" hangingPunct="0">
              <a:spcBef>
                <a:spcPct val="0"/>
              </a:spcBef>
              <a:spcAft>
                <a:spcPct val="0"/>
              </a:spcAft>
              <a:defRPr sz="4400">
                <a:solidFill>
                  <a:schemeClr val="tx1"/>
                </a:solidFill>
                <a:latin typeface="Arial" panose="020B0604020202020204" pitchFamily="34" charset="0"/>
                <a:ea typeface="ヒラギノ角ゴ Pro W3" pitchFamily="57" charset="-128"/>
              </a:defRPr>
            </a:lvl9pPr>
          </a:lstStyle>
          <a:p>
            <a:pPr eaLnBrk="1" hangingPunct="1"/>
            <a:fld id="{27CE23B8-5EA3-49D6-9E69-D48E87501900}" type="slidenum">
              <a:rPr lang="en-US" altLang="en-US" sz="1200"/>
              <a:pPr eaLnBrk="1" hangingPunct="1"/>
              <a:t>26</a:t>
            </a:fld>
            <a:endParaRPr lang="en-US" altLang="en-US" sz="1200"/>
          </a:p>
        </p:txBody>
      </p:sp>
      <p:sp>
        <p:nvSpPr>
          <p:cNvPr id="57347" name="Rectangle 2">
            <a:extLst>
              <a:ext uri="{FF2B5EF4-FFF2-40B4-BE49-F238E27FC236}">
                <a16:creationId xmlns:a16="http://schemas.microsoft.com/office/drawing/2014/main" id="{5B3A6F2F-E902-4C25-94B9-B71E4075501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C89E51BF-68DD-4903-8201-49A19E8EF3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965221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a:extLst>
              <a:ext uri="{FF2B5EF4-FFF2-40B4-BE49-F238E27FC236}">
                <a16:creationId xmlns:a16="http://schemas.microsoft.com/office/drawing/2014/main" id="{75057838-A70C-4197-9CBF-8ECC2B19964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222D34E-E3F2-4347-BB1E-3D2B91147E7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DC2E1C3-7615-447A-8199-66608DE840E1}"/>
              </a:ext>
            </a:extLst>
          </p:cNvPr>
          <p:cNvSpPr>
            <a:spLocks noGrp="1" noChangeArrowheads="1"/>
          </p:cNvSpPr>
          <p:nvPr>
            <p:ph type="sldNum" sz="quarter" idx="12"/>
          </p:nvPr>
        </p:nvSpPr>
        <p:spPr>
          <a:ln/>
        </p:spPr>
        <p:txBody>
          <a:bodyPr/>
          <a:lstStyle>
            <a:lvl1pPr>
              <a:defRPr/>
            </a:lvl1pPr>
          </a:lstStyle>
          <a:p>
            <a:fld id="{10DC8AAC-59C0-421B-9220-01BC1DE35211}" type="slidenum">
              <a:rPr lang="en-US" altLang="en-US"/>
              <a:pPr/>
              <a:t>‹#›</a:t>
            </a:fld>
            <a:endParaRPr lang="en-US" altLang="en-US"/>
          </a:p>
        </p:txBody>
      </p:sp>
    </p:spTree>
    <p:extLst>
      <p:ext uri="{BB962C8B-B14F-4D97-AF65-F5344CB8AC3E}">
        <p14:creationId xmlns:p14="http://schemas.microsoft.com/office/powerpoint/2010/main" val="1480534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ADE1DC00-DDB3-41DE-9199-E41BCD40ADA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FC38495-3DA7-48BD-BC0A-FF79D36CF9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B08EC9D-930A-48F5-861A-FF6FC0F5B7CC}"/>
              </a:ext>
            </a:extLst>
          </p:cNvPr>
          <p:cNvSpPr>
            <a:spLocks noGrp="1" noChangeArrowheads="1"/>
          </p:cNvSpPr>
          <p:nvPr>
            <p:ph type="sldNum" sz="quarter" idx="12"/>
          </p:nvPr>
        </p:nvSpPr>
        <p:spPr>
          <a:ln/>
        </p:spPr>
        <p:txBody>
          <a:bodyPr/>
          <a:lstStyle>
            <a:lvl1pPr>
              <a:defRPr/>
            </a:lvl1pPr>
          </a:lstStyle>
          <a:p>
            <a:fld id="{81B7ADFF-40F6-41A4-8A78-F2986E594DFA}" type="slidenum">
              <a:rPr lang="en-US" altLang="en-US"/>
              <a:pPr/>
              <a:t>‹#›</a:t>
            </a:fld>
            <a:endParaRPr lang="en-US" altLang="en-US"/>
          </a:p>
        </p:txBody>
      </p:sp>
    </p:spTree>
    <p:extLst>
      <p:ext uri="{BB962C8B-B14F-4D97-AF65-F5344CB8AC3E}">
        <p14:creationId xmlns:p14="http://schemas.microsoft.com/office/powerpoint/2010/main" val="3908101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CC5DD66-F982-4A5A-BD99-198EAC3575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3F60FB2-91BF-481F-9FCB-7DB04ED920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1FA2A73-E172-4CA1-95E1-17E50E835FD7}"/>
              </a:ext>
            </a:extLst>
          </p:cNvPr>
          <p:cNvSpPr>
            <a:spLocks noGrp="1" noChangeArrowheads="1"/>
          </p:cNvSpPr>
          <p:nvPr>
            <p:ph type="sldNum" sz="quarter" idx="12"/>
          </p:nvPr>
        </p:nvSpPr>
        <p:spPr>
          <a:ln/>
        </p:spPr>
        <p:txBody>
          <a:bodyPr/>
          <a:lstStyle>
            <a:lvl1pPr>
              <a:defRPr/>
            </a:lvl1pPr>
          </a:lstStyle>
          <a:p>
            <a:fld id="{E0E9A0EA-654C-4B92-8DB6-5FDA1D743444}" type="slidenum">
              <a:rPr lang="en-US" altLang="en-US"/>
              <a:pPr/>
              <a:t>‹#›</a:t>
            </a:fld>
            <a:endParaRPr lang="en-US" altLang="en-US"/>
          </a:p>
        </p:txBody>
      </p:sp>
    </p:spTree>
    <p:extLst>
      <p:ext uri="{BB962C8B-B14F-4D97-AF65-F5344CB8AC3E}">
        <p14:creationId xmlns:p14="http://schemas.microsoft.com/office/powerpoint/2010/main" val="3171681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752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752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13E86E97-A17F-4505-A149-3B0FE1DBB4E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43E7AE-EBD0-4580-B530-706A84693A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6AC11EB-117B-4F00-9103-94463B894748}"/>
              </a:ext>
            </a:extLst>
          </p:cNvPr>
          <p:cNvSpPr>
            <a:spLocks noGrp="1" noChangeArrowheads="1"/>
          </p:cNvSpPr>
          <p:nvPr>
            <p:ph type="sldNum" sz="quarter" idx="12"/>
          </p:nvPr>
        </p:nvSpPr>
        <p:spPr>
          <a:ln/>
        </p:spPr>
        <p:txBody>
          <a:bodyPr/>
          <a:lstStyle>
            <a:lvl1pPr>
              <a:defRPr/>
            </a:lvl1pPr>
          </a:lstStyle>
          <a:p>
            <a:fld id="{EDDCF556-B0C1-4EB7-8CB8-B663C32207BF}" type="slidenum">
              <a:rPr lang="en-US" altLang="en-US"/>
              <a:pPr/>
              <a:t>‹#›</a:t>
            </a:fld>
            <a:endParaRPr lang="en-US" altLang="en-US"/>
          </a:p>
        </p:txBody>
      </p:sp>
    </p:spTree>
    <p:extLst>
      <p:ext uri="{BB962C8B-B14F-4D97-AF65-F5344CB8AC3E}">
        <p14:creationId xmlns:p14="http://schemas.microsoft.com/office/powerpoint/2010/main" val="2518139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D4F65CE0-C81D-460A-BA26-CF4534E38A5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A43E231-1BB0-49C2-8CFC-C66DD085DD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7B63789A-E36A-4004-8089-EEA74181919E}"/>
              </a:ext>
            </a:extLst>
          </p:cNvPr>
          <p:cNvSpPr>
            <a:spLocks noGrp="1" noChangeArrowheads="1"/>
          </p:cNvSpPr>
          <p:nvPr>
            <p:ph type="sldNum" sz="quarter" idx="12"/>
          </p:nvPr>
        </p:nvSpPr>
        <p:spPr>
          <a:ln/>
        </p:spPr>
        <p:txBody>
          <a:bodyPr/>
          <a:lstStyle>
            <a:lvl1pPr>
              <a:defRPr/>
            </a:lvl1pPr>
          </a:lstStyle>
          <a:p>
            <a:fld id="{E0448162-1225-453F-85AD-9E96BBA324EE}" type="slidenum">
              <a:rPr lang="en-US" altLang="en-US"/>
              <a:pPr/>
              <a:t>‹#›</a:t>
            </a:fld>
            <a:endParaRPr lang="en-US" altLang="en-US"/>
          </a:p>
        </p:txBody>
      </p:sp>
    </p:spTree>
    <p:extLst>
      <p:ext uri="{BB962C8B-B14F-4D97-AF65-F5344CB8AC3E}">
        <p14:creationId xmlns:p14="http://schemas.microsoft.com/office/powerpoint/2010/main" val="583414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BF907BD1-E478-415C-8ABA-E7CD1BC7B6E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6FEF854-11B4-448B-89F6-98C2145661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20141F4-CEE2-4429-A432-2E88B0318691}"/>
              </a:ext>
            </a:extLst>
          </p:cNvPr>
          <p:cNvSpPr>
            <a:spLocks noGrp="1" noChangeArrowheads="1"/>
          </p:cNvSpPr>
          <p:nvPr>
            <p:ph type="sldNum" sz="quarter" idx="12"/>
          </p:nvPr>
        </p:nvSpPr>
        <p:spPr>
          <a:ln/>
        </p:spPr>
        <p:txBody>
          <a:bodyPr/>
          <a:lstStyle>
            <a:lvl1pPr>
              <a:defRPr/>
            </a:lvl1pPr>
          </a:lstStyle>
          <a:p>
            <a:fld id="{8ED56378-BB0B-47A1-8546-05B5D57A4328}" type="slidenum">
              <a:rPr lang="en-US" altLang="en-US"/>
              <a:pPr/>
              <a:t>‹#›</a:t>
            </a:fld>
            <a:endParaRPr lang="en-US" altLang="en-US"/>
          </a:p>
        </p:txBody>
      </p:sp>
    </p:spTree>
    <p:extLst>
      <p:ext uri="{BB962C8B-B14F-4D97-AF65-F5344CB8AC3E}">
        <p14:creationId xmlns:p14="http://schemas.microsoft.com/office/powerpoint/2010/main" val="1685244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E99650B-0B79-48D9-B154-9D41F7A9F0C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5BD9AA0-BC9D-4B55-B689-4CD51C64C54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58913509-CEBB-49C4-BD6A-3F977767FF42}"/>
              </a:ext>
            </a:extLst>
          </p:cNvPr>
          <p:cNvSpPr>
            <a:spLocks noGrp="1" noChangeArrowheads="1"/>
          </p:cNvSpPr>
          <p:nvPr>
            <p:ph type="sldNum" sz="quarter" idx="12"/>
          </p:nvPr>
        </p:nvSpPr>
        <p:spPr>
          <a:ln/>
        </p:spPr>
        <p:txBody>
          <a:bodyPr/>
          <a:lstStyle>
            <a:lvl1pPr>
              <a:defRPr/>
            </a:lvl1pPr>
          </a:lstStyle>
          <a:p>
            <a:fld id="{B1C2DAFA-16C0-48B3-A644-64DB7C878F8C}" type="slidenum">
              <a:rPr lang="en-US" altLang="en-US"/>
              <a:pPr/>
              <a:t>‹#›</a:t>
            </a:fld>
            <a:endParaRPr lang="en-US" altLang="en-US"/>
          </a:p>
        </p:txBody>
      </p:sp>
    </p:spTree>
    <p:extLst>
      <p:ext uri="{BB962C8B-B14F-4D97-AF65-F5344CB8AC3E}">
        <p14:creationId xmlns:p14="http://schemas.microsoft.com/office/powerpoint/2010/main" val="769603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7BE3760-8F27-46E9-9AEE-60E1FA04202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ECF1306-3C61-48D4-AF17-AD693210E0C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A755821-CF53-4992-A00D-F6920907EF87}"/>
              </a:ext>
            </a:extLst>
          </p:cNvPr>
          <p:cNvSpPr>
            <a:spLocks noGrp="1" noChangeArrowheads="1"/>
          </p:cNvSpPr>
          <p:nvPr>
            <p:ph type="sldNum" sz="quarter" idx="12"/>
          </p:nvPr>
        </p:nvSpPr>
        <p:spPr>
          <a:ln/>
        </p:spPr>
        <p:txBody>
          <a:bodyPr/>
          <a:lstStyle>
            <a:lvl1pPr>
              <a:defRPr/>
            </a:lvl1pPr>
          </a:lstStyle>
          <a:p>
            <a:fld id="{7D774A19-0FAC-4628-8A67-08A0F33529C5}" type="slidenum">
              <a:rPr lang="en-US" altLang="en-US"/>
              <a:pPr/>
              <a:t>‹#›</a:t>
            </a:fld>
            <a:endParaRPr lang="en-US" altLang="en-US"/>
          </a:p>
        </p:txBody>
      </p:sp>
    </p:spTree>
    <p:extLst>
      <p:ext uri="{BB962C8B-B14F-4D97-AF65-F5344CB8AC3E}">
        <p14:creationId xmlns:p14="http://schemas.microsoft.com/office/powerpoint/2010/main" val="907962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4110C88-4329-438F-9A7F-C8AE6362B71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2394BF4-C993-4B9A-A6DF-173A5B5ABD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000B79D-E4C3-4FF8-8F8F-73C68A3BE5A9}"/>
              </a:ext>
            </a:extLst>
          </p:cNvPr>
          <p:cNvSpPr>
            <a:spLocks noGrp="1" noChangeArrowheads="1"/>
          </p:cNvSpPr>
          <p:nvPr>
            <p:ph type="sldNum" sz="quarter" idx="12"/>
          </p:nvPr>
        </p:nvSpPr>
        <p:spPr>
          <a:ln/>
        </p:spPr>
        <p:txBody>
          <a:bodyPr/>
          <a:lstStyle>
            <a:lvl1pPr>
              <a:defRPr/>
            </a:lvl1pPr>
          </a:lstStyle>
          <a:p>
            <a:fld id="{6FBE8DB9-0735-44BB-B9D2-BB34B2FD9C03}" type="slidenum">
              <a:rPr lang="en-US" altLang="en-US"/>
              <a:pPr/>
              <a:t>‹#›</a:t>
            </a:fld>
            <a:endParaRPr lang="en-US" altLang="en-US"/>
          </a:p>
        </p:txBody>
      </p:sp>
    </p:spTree>
    <p:extLst>
      <p:ext uri="{BB962C8B-B14F-4D97-AF65-F5344CB8AC3E}">
        <p14:creationId xmlns:p14="http://schemas.microsoft.com/office/powerpoint/2010/main" val="3944015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44670975-3B2D-40C4-AFA8-BC7A740DA4A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11A70F3-4F37-419D-B7F2-2876CAB803B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FC67A6D-AE33-46C0-8EDB-B74C4816A0A8}"/>
              </a:ext>
            </a:extLst>
          </p:cNvPr>
          <p:cNvSpPr>
            <a:spLocks noGrp="1" noChangeArrowheads="1"/>
          </p:cNvSpPr>
          <p:nvPr>
            <p:ph type="sldNum" sz="quarter" idx="12"/>
          </p:nvPr>
        </p:nvSpPr>
        <p:spPr>
          <a:ln/>
        </p:spPr>
        <p:txBody>
          <a:bodyPr/>
          <a:lstStyle>
            <a:lvl1pPr>
              <a:defRPr/>
            </a:lvl1pPr>
          </a:lstStyle>
          <a:p>
            <a:fld id="{EA2E04B4-1A1E-434A-8EE5-50CC1E617B36}" type="slidenum">
              <a:rPr lang="en-US" altLang="en-US"/>
              <a:pPr/>
              <a:t>‹#›</a:t>
            </a:fld>
            <a:endParaRPr lang="en-US" altLang="en-US"/>
          </a:p>
        </p:txBody>
      </p:sp>
    </p:spTree>
    <p:extLst>
      <p:ext uri="{BB962C8B-B14F-4D97-AF65-F5344CB8AC3E}">
        <p14:creationId xmlns:p14="http://schemas.microsoft.com/office/powerpoint/2010/main" val="2747699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5626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304800"/>
            <a:ext cx="5676900"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44B89C2A-4B01-44C3-841B-A0A7E3240BE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35A131B-A185-4361-A4AC-9474121FD72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183FD27-E766-4223-BD56-5FD09321A640}"/>
              </a:ext>
            </a:extLst>
          </p:cNvPr>
          <p:cNvSpPr>
            <a:spLocks noGrp="1" noChangeArrowheads="1"/>
          </p:cNvSpPr>
          <p:nvPr>
            <p:ph type="sldNum" sz="quarter" idx="12"/>
          </p:nvPr>
        </p:nvSpPr>
        <p:spPr>
          <a:ln/>
        </p:spPr>
        <p:txBody>
          <a:bodyPr/>
          <a:lstStyle>
            <a:lvl1pPr>
              <a:defRPr/>
            </a:lvl1pPr>
          </a:lstStyle>
          <a:p>
            <a:fld id="{5341728C-5964-427A-A7FF-9CF3842443CB}" type="slidenum">
              <a:rPr lang="en-US" altLang="en-US"/>
              <a:pPr/>
              <a:t>‹#›</a:t>
            </a:fld>
            <a:endParaRPr lang="en-US" altLang="en-US"/>
          </a:p>
        </p:txBody>
      </p:sp>
    </p:spTree>
    <p:extLst>
      <p:ext uri="{BB962C8B-B14F-4D97-AF65-F5344CB8AC3E}">
        <p14:creationId xmlns:p14="http://schemas.microsoft.com/office/powerpoint/2010/main" val="2300213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4">
            <a:extLst>
              <a:ext uri="{FF2B5EF4-FFF2-40B4-BE49-F238E27FC236}">
                <a16:creationId xmlns:a16="http://schemas.microsoft.com/office/drawing/2014/main" id="{C69C50DF-53AE-46F5-9F4F-96E810B6FA94}"/>
              </a:ext>
            </a:extLst>
          </p:cNvPr>
          <p:cNvSpPr>
            <a:spLocks noGrp="1" noChangeArrowheads="1"/>
          </p:cNvSpPr>
          <p:nvPr>
            <p:ph type="dt" sz="half" idx="10"/>
          </p:nvPr>
        </p:nvSpPr>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12DA409-3057-4BAD-AA92-B309DB739182}"/>
              </a:ext>
            </a:extLst>
          </p:cNvPr>
          <p:cNvSpPr>
            <a:spLocks noGrp="1" noChangeArrowheads="1"/>
          </p:cNvSpPr>
          <p:nvPr>
            <p:ph type="ftr" sz="quarter" idx="11"/>
          </p:nvPr>
        </p:nvSpPr>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F36762F3-59DB-409E-A132-AEC7AF58B59F}"/>
              </a:ext>
            </a:extLst>
          </p:cNvPr>
          <p:cNvSpPr>
            <a:spLocks noGrp="1" noChangeArrowheads="1"/>
          </p:cNvSpPr>
          <p:nvPr>
            <p:ph type="sldNum" sz="quarter" idx="12"/>
          </p:nvPr>
        </p:nvSpPr>
        <p:spPr/>
        <p:txBody>
          <a:bodyPr/>
          <a:lstStyle>
            <a:lvl1pPr>
              <a:defRPr/>
            </a:lvl1pPr>
          </a:lstStyle>
          <a:p>
            <a:fld id="{6F3A45CB-B3C4-44DD-A160-5EC91D936108}" type="slidenum">
              <a:rPr lang="en-GB" altLang="en-US"/>
              <a:pPr/>
              <a:t>‹#›</a:t>
            </a:fld>
            <a:endParaRPr lang="en-GB" altLang="en-US"/>
          </a:p>
        </p:txBody>
      </p:sp>
    </p:spTree>
    <p:extLst>
      <p:ext uri="{BB962C8B-B14F-4D97-AF65-F5344CB8AC3E}">
        <p14:creationId xmlns:p14="http://schemas.microsoft.com/office/powerpoint/2010/main" val="2339757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8150584-B1D9-49D4-871B-EDD82FD96633}"/>
              </a:ext>
            </a:extLst>
          </p:cNvPr>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9057709-7617-442B-9CF8-5C8452A83C60}"/>
              </a:ext>
            </a:extLst>
          </p:cNvPr>
          <p:cNvSpPr>
            <a:spLocks noGrp="1" noChangeArrowheads="1"/>
          </p:cNvSpPr>
          <p:nvPr>
            <p:ph type="body" idx="1"/>
          </p:nvPr>
        </p:nvSpPr>
        <p:spPr bwMode="auto">
          <a:xfrm>
            <a:off x="685800" y="17526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1A01C62-8169-448C-867A-EB66AA620BD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solidFill>
                  <a:schemeClr val="accent2"/>
                </a:solidFill>
                <a:latin typeface="Arial" charset="0"/>
              </a:defRPr>
            </a:lvl1pPr>
          </a:lstStyle>
          <a:p>
            <a:pPr>
              <a:defRPr/>
            </a:pPr>
            <a:endParaRPr lang="en-US"/>
          </a:p>
        </p:txBody>
      </p:sp>
      <p:sp>
        <p:nvSpPr>
          <p:cNvPr id="1029" name="Rectangle 5">
            <a:extLst>
              <a:ext uri="{FF2B5EF4-FFF2-40B4-BE49-F238E27FC236}">
                <a16:creationId xmlns:a16="http://schemas.microsoft.com/office/drawing/2014/main" id="{C05FB3BE-081E-4358-AA63-C4B234D05BB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solidFill>
                  <a:schemeClr val="accent2"/>
                </a:solidFill>
                <a:latin typeface="Arial" charset="0"/>
              </a:defRPr>
            </a:lvl1pPr>
          </a:lstStyle>
          <a:p>
            <a:pPr>
              <a:defRPr/>
            </a:pPr>
            <a:endParaRPr lang="en-US"/>
          </a:p>
        </p:txBody>
      </p:sp>
      <p:sp>
        <p:nvSpPr>
          <p:cNvPr id="1030" name="Rectangle 6">
            <a:extLst>
              <a:ext uri="{FF2B5EF4-FFF2-40B4-BE49-F238E27FC236}">
                <a16:creationId xmlns:a16="http://schemas.microsoft.com/office/drawing/2014/main" id="{4CD85713-3C00-4A71-B4B1-0967E3E683F1}"/>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accent2"/>
                </a:solidFill>
              </a:defRPr>
            </a:lvl1pPr>
          </a:lstStyle>
          <a:p>
            <a:fld id="{609C6968-958F-4AA7-BEF8-C100E9F7B70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Lst>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Arial" charset="0"/>
          <a:ea typeface="ヒラギノ角ゴ Pro W3" pitchFamily="57" charset="-128"/>
        </a:defRPr>
      </a:lvl2pPr>
      <a:lvl3pPr algn="ctr" rtl="0" eaLnBrk="0" fontAlgn="base" hangingPunct="0">
        <a:spcBef>
          <a:spcPct val="0"/>
        </a:spcBef>
        <a:spcAft>
          <a:spcPct val="0"/>
        </a:spcAft>
        <a:defRPr sz="4400">
          <a:solidFill>
            <a:schemeClr val="accent2"/>
          </a:solidFill>
          <a:latin typeface="Arial" charset="0"/>
          <a:ea typeface="ヒラギノ角ゴ Pro W3" pitchFamily="57" charset="-128"/>
        </a:defRPr>
      </a:lvl3pPr>
      <a:lvl4pPr algn="ctr" rtl="0" eaLnBrk="0" fontAlgn="base" hangingPunct="0">
        <a:spcBef>
          <a:spcPct val="0"/>
        </a:spcBef>
        <a:spcAft>
          <a:spcPct val="0"/>
        </a:spcAft>
        <a:defRPr sz="4400">
          <a:solidFill>
            <a:schemeClr val="accent2"/>
          </a:solidFill>
          <a:latin typeface="Arial" charset="0"/>
          <a:ea typeface="ヒラギノ角ゴ Pro W3" pitchFamily="57" charset="-128"/>
        </a:defRPr>
      </a:lvl4pPr>
      <a:lvl5pPr algn="ctr" rtl="0" eaLnBrk="0" fontAlgn="base" hangingPunct="0">
        <a:spcBef>
          <a:spcPct val="0"/>
        </a:spcBef>
        <a:spcAft>
          <a:spcPct val="0"/>
        </a:spcAft>
        <a:defRPr sz="4400">
          <a:solidFill>
            <a:schemeClr val="accent2"/>
          </a:solidFill>
          <a:latin typeface="Arial" charset="0"/>
          <a:ea typeface="ヒラギノ角ゴ Pro W3" pitchFamily="57" charset="-128"/>
        </a:defRPr>
      </a:lvl5pPr>
      <a:lvl6pPr marL="457200" algn="ctr" rtl="0" fontAlgn="base">
        <a:spcBef>
          <a:spcPct val="0"/>
        </a:spcBef>
        <a:spcAft>
          <a:spcPct val="0"/>
        </a:spcAft>
        <a:defRPr sz="4400">
          <a:solidFill>
            <a:schemeClr val="accent2"/>
          </a:solidFill>
          <a:latin typeface="Arial" charset="0"/>
          <a:ea typeface="ヒラギノ角ゴ Pro W3" pitchFamily="57" charset="-128"/>
        </a:defRPr>
      </a:lvl6pPr>
      <a:lvl7pPr marL="914400" algn="ctr" rtl="0" fontAlgn="base">
        <a:spcBef>
          <a:spcPct val="0"/>
        </a:spcBef>
        <a:spcAft>
          <a:spcPct val="0"/>
        </a:spcAft>
        <a:defRPr sz="4400">
          <a:solidFill>
            <a:schemeClr val="accent2"/>
          </a:solidFill>
          <a:latin typeface="Arial" charset="0"/>
          <a:ea typeface="ヒラギノ角ゴ Pro W3" pitchFamily="57" charset="-128"/>
        </a:defRPr>
      </a:lvl7pPr>
      <a:lvl8pPr marL="1371600" algn="ctr" rtl="0" fontAlgn="base">
        <a:spcBef>
          <a:spcPct val="0"/>
        </a:spcBef>
        <a:spcAft>
          <a:spcPct val="0"/>
        </a:spcAft>
        <a:defRPr sz="4400">
          <a:solidFill>
            <a:schemeClr val="accent2"/>
          </a:solidFill>
          <a:latin typeface="Arial" charset="0"/>
          <a:ea typeface="ヒラギノ角ゴ Pro W3" pitchFamily="57" charset="-128"/>
        </a:defRPr>
      </a:lvl8pPr>
      <a:lvl9pPr marL="1828800" algn="ctr" rtl="0" fontAlgn="base">
        <a:spcBef>
          <a:spcPct val="0"/>
        </a:spcBef>
        <a:spcAft>
          <a:spcPct val="0"/>
        </a:spcAft>
        <a:defRPr sz="4400">
          <a:solidFill>
            <a:schemeClr val="accent2"/>
          </a:solidFill>
          <a:latin typeface="Arial" charset="0"/>
          <a:ea typeface="ヒラギノ角ゴ Pro W3" pitchFamily="57" charset="-128"/>
        </a:defRPr>
      </a:lvl9pPr>
    </p:titleStyle>
    <p:bodyStyle>
      <a:lvl1pPr marL="342900" indent="-342900" algn="l" rtl="0" eaLnBrk="0" fontAlgn="base" hangingPunct="0">
        <a:spcBef>
          <a:spcPct val="20000"/>
        </a:spcBef>
        <a:spcAft>
          <a:spcPct val="0"/>
        </a:spcAft>
        <a:buChar char="•"/>
        <a:defRPr sz="3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a:solidFill>
            <a:schemeClr val="accent2"/>
          </a:solidFill>
          <a:latin typeface="+mn-lt"/>
          <a:ea typeface="+mn-ea"/>
        </a:defRPr>
      </a:lvl2pPr>
      <a:lvl3pPr marL="1143000" indent="-228600" algn="l" rtl="0" eaLnBrk="0" fontAlgn="base" hangingPunct="0">
        <a:spcBef>
          <a:spcPct val="20000"/>
        </a:spcBef>
        <a:spcAft>
          <a:spcPct val="0"/>
        </a:spcAft>
        <a:buChar char="•"/>
        <a:defRPr sz="2400">
          <a:solidFill>
            <a:schemeClr val="accent2"/>
          </a:solidFill>
          <a:latin typeface="+mn-lt"/>
          <a:ea typeface="+mn-ea"/>
        </a:defRPr>
      </a:lvl3pPr>
      <a:lvl4pPr marL="1600200" indent="-228600" algn="l" rtl="0" eaLnBrk="0" fontAlgn="base" hangingPunct="0">
        <a:spcBef>
          <a:spcPct val="20000"/>
        </a:spcBef>
        <a:spcAft>
          <a:spcPct val="0"/>
        </a:spcAft>
        <a:buChar char="–"/>
        <a:defRPr sz="2000">
          <a:solidFill>
            <a:schemeClr val="accent2"/>
          </a:solidFill>
          <a:latin typeface="+mn-lt"/>
          <a:ea typeface="+mn-ea"/>
        </a:defRPr>
      </a:lvl4pPr>
      <a:lvl5pPr marL="2057400" indent="-228600" algn="l" rtl="0" eaLnBrk="0" fontAlgn="base" hangingPunct="0">
        <a:spcBef>
          <a:spcPct val="20000"/>
        </a:spcBef>
        <a:spcAft>
          <a:spcPct val="0"/>
        </a:spcAft>
        <a:buChar char="»"/>
        <a:defRPr sz="2000">
          <a:solidFill>
            <a:schemeClr val="accent2"/>
          </a:solidFill>
          <a:latin typeface="+mn-lt"/>
          <a:ea typeface="+mn-ea"/>
        </a:defRPr>
      </a:lvl5pPr>
      <a:lvl6pPr marL="2514600" indent="-228600" algn="l" rtl="0" fontAlgn="base">
        <a:spcBef>
          <a:spcPct val="20000"/>
        </a:spcBef>
        <a:spcAft>
          <a:spcPct val="0"/>
        </a:spcAft>
        <a:buChar char="»"/>
        <a:defRPr sz="2000">
          <a:solidFill>
            <a:schemeClr val="accent2"/>
          </a:solidFill>
          <a:latin typeface="+mn-lt"/>
          <a:ea typeface="+mn-ea"/>
        </a:defRPr>
      </a:lvl6pPr>
      <a:lvl7pPr marL="2971800" indent="-228600" algn="l" rtl="0" fontAlgn="base">
        <a:spcBef>
          <a:spcPct val="20000"/>
        </a:spcBef>
        <a:spcAft>
          <a:spcPct val="0"/>
        </a:spcAft>
        <a:buChar char="»"/>
        <a:defRPr sz="2000">
          <a:solidFill>
            <a:schemeClr val="accent2"/>
          </a:solidFill>
          <a:latin typeface="+mn-lt"/>
          <a:ea typeface="+mn-ea"/>
        </a:defRPr>
      </a:lvl7pPr>
      <a:lvl8pPr marL="3429000" indent="-228600" algn="l" rtl="0" fontAlgn="base">
        <a:spcBef>
          <a:spcPct val="20000"/>
        </a:spcBef>
        <a:spcAft>
          <a:spcPct val="0"/>
        </a:spcAft>
        <a:buChar char="»"/>
        <a:defRPr sz="2000">
          <a:solidFill>
            <a:schemeClr val="accent2"/>
          </a:solidFill>
          <a:latin typeface="+mn-lt"/>
          <a:ea typeface="+mn-ea"/>
        </a:defRPr>
      </a:lvl8pPr>
      <a:lvl9pPr marL="3886200" indent="-228600" algn="l" rtl="0" fontAlgn="base">
        <a:spcBef>
          <a:spcPct val="20000"/>
        </a:spcBef>
        <a:spcAft>
          <a:spcPct val="0"/>
        </a:spcAft>
        <a:buChar char="»"/>
        <a:defRPr sz="2000">
          <a:solidFill>
            <a:schemeClr val="accent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jpeg"/><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18.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E79B2-91DF-4E15-B43F-4741E88483A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10C34FC-7B09-4621-8A90-7B32AA53982C}"/>
              </a:ext>
            </a:extLst>
          </p:cNvPr>
          <p:cNvSpPr>
            <a:spLocks noGrp="1"/>
          </p:cNvSpPr>
          <p:nvPr>
            <p:ph idx="1"/>
          </p:nvPr>
        </p:nvSpPr>
        <p:spPr/>
        <p:txBody>
          <a:bodyPr/>
          <a:lstStyle/>
          <a:p>
            <a:endParaRPr lang="en-GB"/>
          </a:p>
        </p:txBody>
      </p:sp>
      <p:pic>
        <p:nvPicPr>
          <p:cNvPr id="4" name="Picture 4" descr="http://p.im9.eu/aerial-view-of-the-great-barrier-reef-australia.jpg">
            <a:extLst>
              <a:ext uri="{FF2B5EF4-FFF2-40B4-BE49-F238E27FC236}">
                <a16:creationId xmlns:a16="http://schemas.microsoft.com/office/drawing/2014/main" id="{F2A728D8-64FB-48E7-A446-8A0599BDA2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B486C9C4-18E8-4AD9-9206-A7B29B3AAE88}"/>
              </a:ext>
            </a:extLst>
          </p:cNvPr>
          <p:cNvSpPr txBox="1">
            <a:spLocks noChangeArrowheads="1"/>
          </p:cNvSpPr>
          <p:nvPr/>
        </p:nvSpPr>
        <p:spPr>
          <a:xfrm>
            <a:off x="107504" y="1916832"/>
            <a:ext cx="8928992" cy="2520280"/>
          </a:xfrm>
          <a:prstGeom prst="rect">
            <a:avLst/>
          </a:prstGeom>
          <a:noFill/>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EART11100: </a:t>
            </a:r>
            <a:r>
              <a:rPr lang="en-GB" sz="2800" b="1" dirty="0">
                <a:solidFill>
                  <a:srgbClr val="FFFF00"/>
                </a:solidFill>
                <a:effectLst>
                  <a:outerShdw blurRad="38100" dist="38100" dir="2700000" algn="tl">
                    <a:srgbClr val="000000">
                      <a:alpha val="43137"/>
                    </a:srgbClr>
                  </a:outerShdw>
                </a:effectLst>
                <a:latin typeface="Bookman Old Style" pitchFamily="18" charset="0"/>
                <a:ea typeface="Adobe Fangsong Std R" pitchFamily="18" charset="-128"/>
                <a:cs typeface="+mj-cs"/>
              </a:rPr>
              <a:t>Understanding t</a:t>
            </a:r>
            <a:r>
              <a:rPr kumimoji="0" lang="en-GB" sz="2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he Earth</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rgbClr val="FFFF00"/>
                </a:solidFill>
                <a:effectLst>
                  <a:outerShdw blurRad="38100" dist="38100" dir="2700000" algn="tl">
                    <a:srgbClr val="000000">
                      <a:alpha val="43137"/>
                    </a:srgbClr>
                  </a:outerShdw>
                </a:effectLst>
                <a:latin typeface="Bookman Old Style" pitchFamily="18" charset="0"/>
                <a:ea typeface="Adobe Fangsong Std R" pitchFamily="18" charset="-128"/>
                <a:cs typeface="+mj-cs"/>
              </a:rPr>
              <a:t>A dynamic Planet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Biogenic and chemical sediments</a:t>
            </a:r>
            <a:endParaRPr kumimoji="0" lang="en-GB" sz="4800" b="1" i="0" u="none" strike="noStrike" kern="1200" cap="none" spc="0" normalizeH="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74204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3E420F9-3D26-4E62-9A9B-FADC40E4ECD8}"/>
              </a:ext>
            </a:extLst>
          </p:cNvPr>
          <p:cNvGrpSpPr/>
          <p:nvPr/>
        </p:nvGrpSpPr>
        <p:grpSpPr>
          <a:xfrm>
            <a:off x="125834" y="1753299"/>
            <a:ext cx="6442745" cy="4253218"/>
            <a:chOff x="125834" y="1753299"/>
            <a:chExt cx="6442745" cy="4253218"/>
          </a:xfrm>
        </p:grpSpPr>
        <p:pic>
          <p:nvPicPr>
            <p:cNvPr id="71682" name="Picture 2">
              <a:extLst>
                <a:ext uri="{FF2B5EF4-FFF2-40B4-BE49-F238E27FC236}">
                  <a16:creationId xmlns:a16="http://schemas.microsoft.com/office/drawing/2014/main" id="{790AAB96-AA4A-44E8-B5C4-FB3CBA47DA6B}"/>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18781" y="1753299"/>
              <a:ext cx="3984771" cy="425321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63E1FA52-24C5-41D6-A295-162734185B90}"/>
                </a:ext>
              </a:extLst>
            </p:cNvPr>
            <p:cNvSpPr/>
            <p:nvPr/>
          </p:nvSpPr>
          <p:spPr bwMode="auto">
            <a:xfrm>
              <a:off x="218113" y="3450872"/>
              <a:ext cx="6350466" cy="542287"/>
            </a:xfrm>
            <a:custGeom>
              <a:avLst/>
              <a:gdLst>
                <a:gd name="connsiteX0" fmla="*/ 67112 w 6350466"/>
                <a:gd name="connsiteY0" fmla="*/ 131226 h 542287"/>
                <a:gd name="connsiteX1" fmla="*/ 402672 w 6350466"/>
                <a:gd name="connsiteY1" fmla="*/ 131226 h 542287"/>
                <a:gd name="connsiteX2" fmla="*/ 444617 w 6350466"/>
                <a:gd name="connsiteY2" fmla="*/ 122837 h 542287"/>
                <a:gd name="connsiteX3" fmla="*/ 562062 w 6350466"/>
                <a:gd name="connsiteY3" fmla="*/ 114448 h 542287"/>
                <a:gd name="connsiteX4" fmla="*/ 973123 w 6350466"/>
                <a:gd name="connsiteY4" fmla="*/ 106059 h 542287"/>
                <a:gd name="connsiteX5" fmla="*/ 1082180 w 6350466"/>
                <a:gd name="connsiteY5" fmla="*/ 97670 h 542287"/>
                <a:gd name="connsiteX6" fmla="*/ 1182848 w 6350466"/>
                <a:gd name="connsiteY6" fmla="*/ 80892 h 542287"/>
                <a:gd name="connsiteX7" fmla="*/ 1233182 w 6350466"/>
                <a:gd name="connsiteY7" fmla="*/ 72503 h 542287"/>
                <a:gd name="connsiteX8" fmla="*/ 1333850 w 6350466"/>
                <a:gd name="connsiteY8" fmla="*/ 64114 h 542287"/>
                <a:gd name="connsiteX9" fmla="*/ 1384184 w 6350466"/>
                <a:gd name="connsiteY9" fmla="*/ 55725 h 542287"/>
                <a:gd name="connsiteX10" fmla="*/ 1719743 w 6350466"/>
                <a:gd name="connsiteY10" fmla="*/ 38947 h 542287"/>
                <a:gd name="connsiteX11" fmla="*/ 1853967 w 6350466"/>
                <a:gd name="connsiteY11" fmla="*/ 13780 h 542287"/>
                <a:gd name="connsiteX12" fmla="*/ 1937857 w 6350466"/>
                <a:gd name="connsiteY12" fmla="*/ 22169 h 542287"/>
                <a:gd name="connsiteX13" fmla="*/ 1996580 w 6350466"/>
                <a:gd name="connsiteY13" fmla="*/ 30558 h 542287"/>
                <a:gd name="connsiteX14" fmla="*/ 2097248 w 6350466"/>
                <a:gd name="connsiteY14" fmla="*/ 22169 h 542287"/>
                <a:gd name="connsiteX15" fmla="*/ 2441196 w 6350466"/>
                <a:gd name="connsiteY15" fmla="*/ 22169 h 542287"/>
                <a:gd name="connsiteX16" fmla="*/ 2474752 w 6350466"/>
                <a:gd name="connsiteY16" fmla="*/ 30558 h 542287"/>
                <a:gd name="connsiteX17" fmla="*/ 2617365 w 6350466"/>
                <a:gd name="connsiteY17" fmla="*/ 47336 h 542287"/>
                <a:gd name="connsiteX18" fmla="*/ 2818701 w 6350466"/>
                <a:gd name="connsiteY18" fmla="*/ 55725 h 542287"/>
                <a:gd name="connsiteX19" fmla="*/ 2860646 w 6350466"/>
                <a:gd name="connsiteY19" fmla="*/ 64114 h 542287"/>
                <a:gd name="connsiteX20" fmla="*/ 3431097 w 6350466"/>
                <a:gd name="connsiteY20" fmla="*/ 80892 h 542287"/>
                <a:gd name="connsiteX21" fmla="*/ 3556932 w 6350466"/>
                <a:gd name="connsiteY21" fmla="*/ 97670 h 542287"/>
                <a:gd name="connsiteX22" fmla="*/ 3875714 w 6350466"/>
                <a:gd name="connsiteY22" fmla="*/ 114448 h 542287"/>
                <a:gd name="connsiteX23" fmla="*/ 4043494 w 6350466"/>
                <a:gd name="connsiteY23" fmla="*/ 131226 h 542287"/>
                <a:gd name="connsiteX24" fmla="*/ 4093828 w 6350466"/>
                <a:gd name="connsiteY24" fmla="*/ 139615 h 542287"/>
                <a:gd name="connsiteX25" fmla="*/ 4169329 w 6350466"/>
                <a:gd name="connsiteY25" fmla="*/ 148004 h 542287"/>
                <a:gd name="connsiteX26" fmla="*/ 4580389 w 6350466"/>
                <a:gd name="connsiteY26" fmla="*/ 139615 h 542287"/>
                <a:gd name="connsiteX27" fmla="*/ 5016617 w 6350466"/>
                <a:gd name="connsiteY27" fmla="*/ 148004 h 542287"/>
                <a:gd name="connsiteX28" fmla="*/ 5301842 w 6350466"/>
                <a:gd name="connsiteY28" fmla="*/ 131226 h 542287"/>
                <a:gd name="connsiteX29" fmla="*/ 5696125 w 6350466"/>
                <a:gd name="connsiteY29" fmla="*/ 131226 h 542287"/>
                <a:gd name="connsiteX30" fmla="*/ 5746459 w 6350466"/>
                <a:gd name="connsiteY30" fmla="*/ 139615 h 542287"/>
                <a:gd name="connsiteX31" fmla="*/ 5847127 w 6350466"/>
                <a:gd name="connsiteY31" fmla="*/ 156393 h 542287"/>
                <a:gd name="connsiteX32" fmla="*/ 5922628 w 6350466"/>
                <a:gd name="connsiteY32" fmla="*/ 181560 h 542287"/>
                <a:gd name="connsiteX33" fmla="*/ 5947795 w 6350466"/>
                <a:gd name="connsiteY33" fmla="*/ 189949 h 542287"/>
                <a:gd name="connsiteX34" fmla="*/ 5998129 w 6350466"/>
                <a:gd name="connsiteY34" fmla="*/ 198338 h 542287"/>
                <a:gd name="connsiteX35" fmla="*/ 6048462 w 6350466"/>
                <a:gd name="connsiteY35" fmla="*/ 215116 h 542287"/>
                <a:gd name="connsiteX36" fmla="*/ 6082018 w 6350466"/>
                <a:gd name="connsiteY36" fmla="*/ 223505 h 542287"/>
                <a:gd name="connsiteX37" fmla="*/ 6107185 w 6350466"/>
                <a:gd name="connsiteY37" fmla="*/ 231894 h 542287"/>
                <a:gd name="connsiteX38" fmla="*/ 6149130 w 6350466"/>
                <a:gd name="connsiteY38" fmla="*/ 240283 h 542287"/>
                <a:gd name="connsiteX39" fmla="*/ 6182686 w 6350466"/>
                <a:gd name="connsiteY39" fmla="*/ 248672 h 542287"/>
                <a:gd name="connsiteX40" fmla="*/ 6258187 w 6350466"/>
                <a:gd name="connsiteY40" fmla="*/ 282228 h 542287"/>
                <a:gd name="connsiteX41" fmla="*/ 6283354 w 6350466"/>
                <a:gd name="connsiteY41" fmla="*/ 290617 h 542287"/>
                <a:gd name="connsiteX42" fmla="*/ 6308521 w 6350466"/>
                <a:gd name="connsiteY42" fmla="*/ 299006 h 542287"/>
                <a:gd name="connsiteX43" fmla="*/ 6325299 w 6350466"/>
                <a:gd name="connsiteY43" fmla="*/ 324173 h 542287"/>
                <a:gd name="connsiteX44" fmla="*/ 6350466 w 6350466"/>
                <a:gd name="connsiteY44" fmla="*/ 408063 h 542287"/>
                <a:gd name="connsiteX45" fmla="*/ 6325299 w 6350466"/>
                <a:gd name="connsiteY45" fmla="*/ 517120 h 542287"/>
                <a:gd name="connsiteX46" fmla="*/ 6274965 w 6350466"/>
                <a:gd name="connsiteY46" fmla="*/ 533898 h 542287"/>
                <a:gd name="connsiteX47" fmla="*/ 6249798 w 6350466"/>
                <a:gd name="connsiteY47" fmla="*/ 542287 h 542287"/>
                <a:gd name="connsiteX48" fmla="*/ 6224631 w 6350466"/>
                <a:gd name="connsiteY48" fmla="*/ 533898 h 542287"/>
                <a:gd name="connsiteX49" fmla="*/ 6174297 w 6350466"/>
                <a:gd name="connsiteY49" fmla="*/ 500342 h 542287"/>
                <a:gd name="connsiteX50" fmla="*/ 6123963 w 6350466"/>
                <a:gd name="connsiteY50" fmla="*/ 466786 h 542287"/>
                <a:gd name="connsiteX51" fmla="*/ 6048462 w 6350466"/>
                <a:gd name="connsiteY51" fmla="*/ 433230 h 542287"/>
                <a:gd name="connsiteX52" fmla="*/ 5998129 w 6350466"/>
                <a:gd name="connsiteY52" fmla="*/ 424841 h 542287"/>
                <a:gd name="connsiteX53" fmla="*/ 5922628 w 6350466"/>
                <a:gd name="connsiteY53" fmla="*/ 408063 h 542287"/>
                <a:gd name="connsiteX54" fmla="*/ 5847127 w 6350466"/>
                <a:gd name="connsiteY54" fmla="*/ 399674 h 542287"/>
                <a:gd name="connsiteX55" fmla="*/ 5805182 w 6350466"/>
                <a:gd name="connsiteY55" fmla="*/ 391285 h 542287"/>
                <a:gd name="connsiteX56" fmla="*/ 5729681 w 6350466"/>
                <a:gd name="connsiteY56" fmla="*/ 382896 h 542287"/>
                <a:gd name="connsiteX57" fmla="*/ 5528345 w 6350466"/>
                <a:gd name="connsiteY57" fmla="*/ 357729 h 542287"/>
                <a:gd name="connsiteX58" fmla="*/ 5377343 w 6350466"/>
                <a:gd name="connsiteY58" fmla="*/ 349340 h 542287"/>
                <a:gd name="connsiteX59" fmla="*/ 5243119 w 6350466"/>
                <a:gd name="connsiteY59" fmla="*/ 340951 h 542287"/>
                <a:gd name="connsiteX60" fmla="*/ 4756558 w 6350466"/>
                <a:gd name="connsiteY60" fmla="*/ 324173 h 542287"/>
                <a:gd name="connsiteX61" fmla="*/ 4613945 w 6350466"/>
                <a:gd name="connsiteY61" fmla="*/ 307395 h 542287"/>
                <a:gd name="connsiteX62" fmla="*/ 4504888 w 6350466"/>
                <a:gd name="connsiteY62" fmla="*/ 290617 h 542287"/>
                <a:gd name="connsiteX63" fmla="*/ 3187817 w 6350466"/>
                <a:gd name="connsiteY63" fmla="*/ 299006 h 542287"/>
                <a:gd name="connsiteX64" fmla="*/ 1493240 w 6350466"/>
                <a:gd name="connsiteY64" fmla="*/ 315784 h 542287"/>
                <a:gd name="connsiteX65" fmla="*/ 1417740 w 6350466"/>
                <a:gd name="connsiteY65" fmla="*/ 324173 h 542287"/>
                <a:gd name="connsiteX66" fmla="*/ 1375795 w 6350466"/>
                <a:gd name="connsiteY66" fmla="*/ 332562 h 542287"/>
                <a:gd name="connsiteX67" fmla="*/ 746620 w 6350466"/>
                <a:gd name="connsiteY67" fmla="*/ 340951 h 542287"/>
                <a:gd name="connsiteX68" fmla="*/ 595618 w 6350466"/>
                <a:gd name="connsiteY68" fmla="*/ 349340 h 542287"/>
                <a:gd name="connsiteX69" fmla="*/ 352338 w 6350466"/>
                <a:gd name="connsiteY69" fmla="*/ 357729 h 542287"/>
                <a:gd name="connsiteX70" fmla="*/ 234892 w 6350466"/>
                <a:gd name="connsiteY70" fmla="*/ 366118 h 542287"/>
                <a:gd name="connsiteX71" fmla="*/ 100668 w 6350466"/>
                <a:gd name="connsiteY71" fmla="*/ 391285 h 542287"/>
                <a:gd name="connsiteX72" fmla="*/ 8389 w 6350466"/>
                <a:gd name="connsiteY72" fmla="*/ 357729 h 542287"/>
                <a:gd name="connsiteX73" fmla="*/ 0 w 6350466"/>
                <a:gd name="connsiteY73" fmla="*/ 332562 h 542287"/>
                <a:gd name="connsiteX74" fmla="*/ 16778 w 6350466"/>
                <a:gd name="connsiteY74" fmla="*/ 206727 h 542287"/>
                <a:gd name="connsiteX75" fmla="*/ 33556 w 6350466"/>
                <a:gd name="connsiteY75" fmla="*/ 181560 h 542287"/>
                <a:gd name="connsiteX76" fmla="*/ 58723 w 6350466"/>
                <a:gd name="connsiteY76" fmla="*/ 164782 h 542287"/>
                <a:gd name="connsiteX77" fmla="*/ 67112 w 6350466"/>
                <a:gd name="connsiteY77" fmla="*/ 131226 h 542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350466" h="542287">
                  <a:moveTo>
                    <a:pt x="67112" y="131226"/>
                  </a:moveTo>
                  <a:cubicBezTo>
                    <a:pt x="124437" y="125633"/>
                    <a:pt x="180569" y="144687"/>
                    <a:pt x="402672" y="131226"/>
                  </a:cubicBezTo>
                  <a:cubicBezTo>
                    <a:pt x="416904" y="130363"/>
                    <a:pt x="430437" y="124330"/>
                    <a:pt x="444617" y="122837"/>
                  </a:cubicBezTo>
                  <a:cubicBezTo>
                    <a:pt x="483649" y="118728"/>
                    <a:pt x="522834" y="115693"/>
                    <a:pt x="562062" y="114448"/>
                  </a:cubicBezTo>
                  <a:cubicBezTo>
                    <a:pt x="699042" y="110099"/>
                    <a:pt x="836103" y="108855"/>
                    <a:pt x="973123" y="106059"/>
                  </a:cubicBezTo>
                  <a:cubicBezTo>
                    <a:pt x="1009475" y="103263"/>
                    <a:pt x="1045980" y="102014"/>
                    <a:pt x="1082180" y="97670"/>
                  </a:cubicBezTo>
                  <a:cubicBezTo>
                    <a:pt x="1115957" y="93617"/>
                    <a:pt x="1149292" y="86485"/>
                    <a:pt x="1182848" y="80892"/>
                  </a:cubicBezTo>
                  <a:cubicBezTo>
                    <a:pt x="1199626" y="78096"/>
                    <a:pt x="1216231" y="73916"/>
                    <a:pt x="1233182" y="72503"/>
                  </a:cubicBezTo>
                  <a:cubicBezTo>
                    <a:pt x="1266738" y="69707"/>
                    <a:pt x="1300384" y="67832"/>
                    <a:pt x="1333850" y="64114"/>
                  </a:cubicBezTo>
                  <a:cubicBezTo>
                    <a:pt x="1350755" y="62236"/>
                    <a:pt x="1367239" y="57199"/>
                    <a:pt x="1384184" y="55725"/>
                  </a:cubicBezTo>
                  <a:cubicBezTo>
                    <a:pt x="1457201" y="49376"/>
                    <a:pt x="1660187" y="41536"/>
                    <a:pt x="1719743" y="38947"/>
                  </a:cubicBezTo>
                  <a:cubicBezTo>
                    <a:pt x="1796738" y="13282"/>
                    <a:pt x="1752479" y="23929"/>
                    <a:pt x="1853967" y="13780"/>
                  </a:cubicBezTo>
                  <a:lnTo>
                    <a:pt x="1937857" y="22169"/>
                  </a:lnTo>
                  <a:cubicBezTo>
                    <a:pt x="1957495" y="24479"/>
                    <a:pt x="1976807" y="30558"/>
                    <a:pt x="1996580" y="30558"/>
                  </a:cubicBezTo>
                  <a:cubicBezTo>
                    <a:pt x="2030252" y="30558"/>
                    <a:pt x="2063692" y="24965"/>
                    <a:pt x="2097248" y="22169"/>
                  </a:cubicBezTo>
                  <a:cubicBezTo>
                    <a:pt x="2221733" y="-19326"/>
                    <a:pt x="2131896" y="7440"/>
                    <a:pt x="2441196" y="22169"/>
                  </a:cubicBezTo>
                  <a:cubicBezTo>
                    <a:pt x="2452713" y="22717"/>
                    <a:pt x="2463408" y="28496"/>
                    <a:pt x="2474752" y="30558"/>
                  </a:cubicBezTo>
                  <a:cubicBezTo>
                    <a:pt x="2509486" y="36873"/>
                    <a:pt x="2587435" y="45575"/>
                    <a:pt x="2617365" y="47336"/>
                  </a:cubicBezTo>
                  <a:cubicBezTo>
                    <a:pt x="2684419" y="51280"/>
                    <a:pt x="2751589" y="52929"/>
                    <a:pt x="2818701" y="55725"/>
                  </a:cubicBezTo>
                  <a:cubicBezTo>
                    <a:pt x="2832683" y="58521"/>
                    <a:pt x="2846581" y="61770"/>
                    <a:pt x="2860646" y="64114"/>
                  </a:cubicBezTo>
                  <a:cubicBezTo>
                    <a:pt x="3052191" y="96038"/>
                    <a:pt x="3210740" y="77280"/>
                    <a:pt x="3431097" y="80892"/>
                  </a:cubicBezTo>
                  <a:cubicBezTo>
                    <a:pt x="3477869" y="88687"/>
                    <a:pt x="3507011" y="94484"/>
                    <a:pt x="3556932" y="97670"/>
                  </a:cubicBezTo>
                  <a:cubicBezTo>
                    <a:pt x="3663124" y="104448"/>
                    <a:pt x="3875714" y="114448"/>
                    <a:pt x="3875714" y="114448"/>
                  </a:cubicBezTo>
                  <a:cubicBezTo>
                    <a:pt x="3971837" y="133673"/>
                    <a:pt x="3865233" y="114249"/>
                    <a:pt x="4043494" y="131226"/>
                  </a:cubicBezTo>
                  <a:cubicBezTo>
                    <a:pt x="4060427" y="132839"/>
                    <a:pt x="4076968" y="137367"/>
                    <a:pt x="4093828" y="139615"/>
                  </a:cubicBezTo>
                  <a:cubicBezTo>
                    <a:pt x="4118928" y="142962"/>
                    <a:pt x="4144162" y="145208"/>
                    <a:pt x="4169329" y="148004"/>
                  </a:cubicBezTo>
                  <a:cubicBezTo>
                    <a:pt x="4306349" y="145208"/>
                    <a:pt x="4443340" y="139615"/>
                    <a:pt x="4580389" y="139615"/>
                  </a:cubicBezTo>
                  <a:cubicBezTo>
                    <a:pt x="4725825" y="139615"/>
                    <a:pt x="4871181" y="148004"/>
                    <a:pt x="5016617" y="148004"/>
                  </a:cubicBezTo>
                  <a:cubicBezTo>
                    <a:pt x="5097602" y="148004"/>
                    <a:pt x="5215785" y="137846"/>
                    <a:pt x="5301842" y="131226"/>
                  </a:cubicBezTo>
                  <a:cubicBezTo>
                    <a:pt x="5449927" y="94205"/>
                    <a:pt x="5346350" y="116949"/>
                    <a:pt x="5696125" y="131226"/>
                  </a:cubicBezTo>
                  <a:cubicBezTo>
                    <a:pt x="5713120" y="131920"/>
                    <a:pt x="5729621" y="137210"/>
                    <a:pt x="5746459" y="139615"/>
                  </a:cubicBezTo>
                  <a:cubicBezTo>
                    <a:pt x="5799453" y="147186"/>
                    <a:pt x="5804770" y="143686"/>
                    <a:pt x="5847127" y="156393"/>
                  </a:cubicBezTo>
                  <a:cubicBezTo>
                    <a:pt x="5872537" y="164016"/>
                    <a:pt x="5897461" y="173171"/>
                    <a:pt x="5922628" y="181560"/>
                  </a:cubicBezTo>
                  <a:cubicBezTo>
                    <a:pt x="5931017" y="184356"/>
                    <a:pt x="5939073" y="188495"/>
                    <a:pt x="5947795" y="189949"/>
                  </a:cubicBezTo>
                  <a:cubicBezTo>
                    <a:pt x="5964573" y="192745"/>
                    <a:pt x="5981627" y="194213"/>
                    <a:pt x="5998129" y="198338"/>
                  </a:cubicBezTo>
                  <a:cubicBezTo>
                    <a:pt x="6015286" y="202627"/>
                    <a:pt x="6031305" y="210827"/>
                    <a:pt x="6048462" y="215116"/>
                  </a:cubicBezTo>
                  <a:cubicBezTo>
                    <a:pt x="6059647" y="217912"/>
                    <a:pt x="6070932" y="220338"/>
                    <a:pt x="6082018" y="223505"/>
                  </a:cubicBezTo>
                  <a:cubicBezTo>
                    <a:pt x="6090521" y="225934"/>
                    <a:pt x="6098606" y="229749"/>
                    <a:pt x="6107185" y="231894"/>
                  </a:cubicBezTo>
                  <a:cubicBezTo>
                    <a:pt x="6121018" y="235352"/>
                    <a:pt x="6135211" y="237190"/>
                    <a:pt x="6149130" y="240283"/>
                  </a:cubicBezTo>
                  <a:cubicBezTo>
                    <a:pt x="6160385" y="242784"/>
                    <a:pt x="6171501" y="245876"/>
                    <a:pt x="6182686" y="248672"/>
                  </a:cubicBezTo>
                  <a:cubicBezTo>
                    <a:pt x="6222568" y="275260"/>
                    <a:pt x="6198288" y="262262"/>
                    <a:pt x="6258187" y="282228"/>
                  </a:cubicBezTo>
                  <a:lnTo>
                    <a:pt x="6283354" y="290617"/>
                  </a:lnTo>
                  <a:lnTo>
                    <a:pt x="6308521" y="299006"/>
                  </a:lnTo>
                  <a:cubicBezTo>
                    <a:pt x="6314114" y="307395"/>
                    <a:pt x="6321204" y="314960"/>
                    <a:pt x="6325299" y="324173"/>
                  </a:cubicBezTo>
                  <a:cubicBezTo>
                    <a:pt x="6336970" y="350432"/>
                    <a:pt x="6343494" y="380175"/>
                    <a:pt x="6350466" y="408063"/>
                  </a:cubicBezTo>
                  <a:cubicBezTo>
                    <a:pt x="6349494" y="417783"/>
                    <a:pt x="6354645" y="498779"/>
                    <a:pt x="6325299" y="517120"/>
                  </a:cubicBezTo>
                  <a:cubicBezTo>
                    <a:pt x="6310302" y="526493"/>
                    <a:pt x="6291743" y="528305"/>
                    <a:pt x="6274965" y="533898"/>
                  </a:cubicBezTo>
                  <a:lnTo>
                    <a:pt x="6249798" y="542287"/>
                  </a:lnTo>
                  <a:cubicBezTo>
                    <a:pt x="6241409" y="539491"/>
                    <a:pt x="6232361" y="538192"/>
                    <a:pt x="6224631" y="533898"/>
                  </a:cubicBezTo>
                  <a:cubicBezTo>
                    <a:pt x="6207004" y="524105"/>
                    <a:pt x="6191075" y="511527"/>
                    <a:pt x="6174297" y="500342"/>
                  </a:cubicBezTo>
                  <a:lnTo>
                    <a:pt x="6123963" y="466786"/>
                  </a:lnTo>
                  <a:cubicBezTo>
                    <a:pt x="6095463" y="447786"/>
                    <a:pt x="6088395" y="439886"/>
                    <a:pt x="6048462" y="433230"/>
                  </a:cubicBezTo>
                  <a:cubicBezTo>
                    <a:pt x="6031684" y="430434"/>
                    <a:pt x="6014733" y="428531"/>
                    <a:pt x="5998129" y="424841"/>
                  </a:cubicBezTo>
                  <a:cubicBezTo>
                    <a:pt x="5916712" y="406748"/>
                    <a:pt x="6058844" y="426225"/>
                    <a:pt x="5922628" y="408063"/>
                  </a:cubicBezTo>
                  <a:cubicBezTo>
                    <a:pt x="5897528" y="404716"/>
                    <a:pt x="5872194" y="403255"/>
                    <a:pt x="5847127" y="399674"/>
                  </a:cubicBezTo>
                  <a:cubicBezTo>
                    <a:pt x="5833012" y="397658"/>
                    <a:pt x="5819297" y="393301"/>
                    <a:pt x="5805182" y="391285"/>
                  </a:cubicBezTo>
                  <a:cubicBezTo>
                    <a:pt x="5780115" y="387704"/>
                    <a:pt x="5754748" y="386477"/>
                    <a:pt x="5729681" y="382896"/>
                  </a:cubicBezTo>
                  <a:cubicBezTo>
                    <a:pt x="5599982" y="364368"/>
                    <a:pt x="5834431" y="374734"/>
                    <a:pt x="5528345" y="357729"/>
                  </a:cubicBezTo>
                  <a:lnTo>
                    <a:pt x="5377343" y="349340"/>
                  </a:lnTo>
                  <a:lnTo>
                    <a:pt x="5243119" y="340951"/>
                  </a:lnTo>
                  <a:cubicBezTo>
                    <a:pt x="5066707" y="332130"/>
                    <a:pt x="4939059" y="329541"/>
                    <a:pt x="4756558" y="324173"/>
                  </a:cubicBezTo>
                  <a:cubicBezTo>
                    <a:pt x="4619007" y="304523"/>
                    <a:pt x="4790005" y="328108"/>
                    <a:pt x="4613945" y="307395"/>
                  </a:cubicBezTo>
                  <a:cubicBezTo>
                    <a:pt x="4577244" y="303077"/>
                    <a:pt x="4541297" y="296685"/>
                    <a:pt x="4504888" y="290617"/>
                  </a:cubicBezTo>
                  <a:lnTo>
                    <a:pt x="3187817" y="299006"/>
                  </a:lnTo>
                  <a:lnTo>
                    <a:pt x="1493240" y="315784"/>
                  </a:lnTo>
                  <a:cubicBezTo>
                    <a:pt x="1468073" y="318580"/>
                    <a:pt x="1442807" y="320592"/>
                    <a:pt x="1417740" y="324173"/>
                  </a:cubicBezTo>
                  <a:cubicBezTo>
                    <a:pt x="1403625" y="326189"/>
                    <a:pt x="1390049" y="332206"/>
                    <a:pt x="1375795" y="332562"/>
                  </a:cubicBezTo>
                  <a:cubicBezTo>
                    <a:pt x="1166117" y="337804"/>
                    <a:pt x="956345" y="338155"/>
                    <a:pt x="746620" y="340951"/>
                  </a:cubicBezTo>
                  <a:lnTo>
                    <a:pt x="595618" y="349340"/>
                  </a:lnTo>
                  <a:lnTo>
                    <a:pt x="352338" y="357729"/>
                  </a:lnTo>
                  <a:cubicBezTo>
                    <a:pt x="313132" y="359553"/>
                    <a:pt x="274041" y="363322"/>
                    <a:pt x="234892" y="366118"/>
                  </a:cubicBezTo>
                  <a:cubicBezTo>
                    <a:pt x="134323" y="386232"/>
                    <a:pt x="179131" y="378208"/>
                    <a:pt x="100668" y="391285"/>
                  </a:cubicBezTo>
                  <a:cubicBezTo>
                    <a:pt x="50190" y="384975"/>
                    <a:pt x="34549" y="396969"/>
                    <a:pt x="8389" y="357729"/>
                  </a:cubicBezTo>
                  <a:cubicBezTo>
                    <a:pt x="3484" y="350371"/>
                    <a:pt x="2796" y="340951"/>
                    <a:pt x="0" y="332562"/>
                  </a:cubicBezTo>
                  <a:cubicBezTo>
                    <a:pt x="1874" y="310071"/>
                    <a:pt x="-355" y="240994"/>
                    <a:pt x="16778" y="206727"/>
                  </a:cubicBezTo>
                  <a:cubicBezTo>
                    <a:pt x="21287" y="197709"/>
                    <a:pt x="26427" y="188689"/>
                    <a:pt x="33556" y="181560"/>
                  </a:cubicBezTo>
                  <a:cubicBezTo>
                    <a:pt x="40685" y="174431"/>
                    <a:pt x="50850" y="171080"/>
                    <a:pt x="58723" y="164782"/>
                  </a:cubicBezTo>
                  <a:cubicBezTo>
                    <a:pt x="64899" y="159841"/>
                    <a:pt x="9787" y="136819"/>
                    <a:pt x="67112" y="131226"/>
                  </a:cubicBezTo>
                  <a:close/>
                </a:path>
              </a:pathLst>
            </a:cu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sp>
          <p:nvSpPr>
            <p:cNvPr id="6" name="Freeform: Shape 5">
              <a:extLst>
                <a:ext uri="{FF2B5EF4-FFF2-40B4-BE49-F238E27FC236}">
                  <a16:creationId xmlns:a16="http://schemas.microsoft.com/office/drawing/2014/main" id="{8A968659-69BA-4069-B30C-9BB6CC6BAE60}"/>
                </a:ext>
              </a:extLst>
            </p:cNvPr>
            <p:cNvSpPr/>
            <p:nvPr/>
          </p:nvSpPr>
          <p:spPr bwMode="auto">
            <a:xfrm>
              <a:off x="125834" y="4681056"/>
              <a:ext cx="6316910" cy="511625"/>
            </a:xfrm>
            <a:custGeom>
              <a:avLst/>
              <a:gdLst>
                <a:gd name="connsiteX0" fmla="*/ 134224 w 6316910"/>
                <a:gd name="connsiteY0" fmla="*/ 0 h 511625"/>
                <a:gd name="connsiteX1" fmla="*/ 176169 w 6316910"/>
                <a:gd name="connsiteY1" fmla="*/ 25167 h 511625"/>
                <a:gd name="connsiteX2" fmla="*/ 201336 w 6316910"/>
                <a:gd name="connsiteY2" fmla="*/ 41945 h 511625"/>
                <a:gd name="connsiteX3" fmla="*/ 260059 w 6316910"/>
                <a:gd name="connsiteY3" fmla="*/ 58723 h 511625"/>
                <a:gd name="connsiteX4" fmla="*/ 310393 w 6316910"/>
                <a:gd name="connsiteY4" fmla="*/ 92279 h 511625"/>
                <a:gd name="connsiteX5" fmla="*/ 360727 w 6316910"/>
                <a:gd name="connsiteY5" fmla="*/ 109057 h 511625"/>
                <a:gd name="connsiteX6" fmla="*/ 436228 w 6316910"/>
                <a:gd name="connsiteY6" fmla="*/ 151002 h 511625"/>
                <a:gd name="connsiteX7" fmla="*/ 520118 w 6316910"/>
                <a:gd name="connsiteY7" fmla="*/ 159391 h 511625"/>
                <a:gd name="connsiteX8" fmla="*/ 553674 w 6316910"/>
                <a:gd name="connsiteY8" fmla="*/ 167780 h 511625"/>
                <a:gd name="connsiteX9" fmla="*/ 721453 w 6316910"/>
                <a:gd name="connsiteY9" fmla="*/ 184558 h 511625"/>
                <a:gd name="connsiteX10" fmla="*/ 780176 w 6316910"/>
                <a:gd name="connsiteY10" fmla="*/ 192947 h 511625"/>
                <a:gd name="connsiteX11" fmla="*/ 2382474 w 6316910"/>
                <a:gd name="connsiteY11" fmla="*/ 201336 h 511625"/>
                <a:gd name="connsiteX12" fmla="*/ 2474752 w 6316910"/>
                <a:gd name="connsiteY12" fmla="*/ 209725 h 511625"/>
                <a:gd name="connsiteX13" fmla="*/ 2617365 w 6316910"/>
                <a:gd name="connsiteY13" fmla="*/ 226503 h 511625"/>
                <a:gd name="connsiteX14" fmla="*/ 2726422 w 6316910"/>
                <a:gd name="connsiteY14" fmla="*/ 218114 h 511625"/>
                <a:gd name="connsiteX15" fmla="*/ 2768367 w 6316910"/>
                <a:gd name="connsiteY15" fmla="*/ 209725 h 511625"/>
                <a:gd name="connsiteX16" fmla="*/ 2818701 w 6316910"/>
                <a:gd name="connsiteY16" fmla="*/ 201336 h 511625"/>
                <a:gd name="connsiteX17" fmla="*/ 2843868 w 6316910"/>
                <a:gd name="connsiteY17" fmla="*/ 192947 h 511625"/>
                <a:gd name="connsiteX18" fmla="*/ 2885813 w 6316910"/>
                <a:gd name="connsiteY18" fmla="*/ 184558 h 511625"/>
                <a:gd name="connsiteX19" fmla="*/ 3330430 w 6316910"/>
                <a:gd name="connsiteY19" fmla="*/ 201336 h 511625"/>
                <a:gd name="connsiteX20" fmla="*/ 3498209 w 6316910"/>
                <a:gd name="connsiteY20" fmla="*/ 209725 h 511625"/>
                <a:gd name="connsiteX21" fmla="*/ 3556932 w 6316910"/>
                <a:gd name="connsiteY21" fmla="*/ 218114 h 511625"/>
                <a:gd name="connsiteX22" fmla="*/ 3598877 w 6316910"/>
                <a:gd name="connsiteY22" fmla="*/ 226503 h 511625"/>
                <a:gd name="connsiteX23" fmla="*/ 3691156 w 6316910"/>
                <a:gd name="connsiteY23" fmla="*/ 234892 h 511625"/>
                <a:gd name="connsiteX24" fmla="*/ 3741490 w 6316910"/>
                <a:gd name="connsiteY24" fmla="*/ 243281 h 511625"/>
                <a:gd name="connsiteX25" fmla="*/ 3850547 w 6316910"/>
                <a:gd name="connsiteY25" fmla="*/ 251670 h 511625"/>
                <a:gd name="connsiteX26" fmla="*/ 4379053 w 6316910"/>
                <a:gd name="connsiteY26" fmla="*/ 251670 h 511625"/>
                <a:gd name="connsiteX27" fmla="*/ 5595457 w 6316910"/>
                <a:gd name="connsiteY27" fmla="*/ 243281 h 511625"/>
                <a:gd name="connsiteX28" fmla="*/ 6082019 w 6316910"/>
                <a:gd name="connsiteY28" fmla="*/ 234892 h 511625"/>
                <a:gd name="connsiteX29" fmla="*/ 6157519 w 6316910"/>
                <a:gd name="connsiteY29" fmla="*/ 226503 h 511625"/>
                <a:gd name="connsiteX30" fmla="*/ 6182686 w 6316910"/>
                <a:gd name="connsiteY30" fmla="*/ 218114 h 511625"/>
                <a:gd name="connsiteX31" fmla="*/ 6233020 w 6316910"/>
                <a:gd name="connsiteY31" fmla="*/ 209725 h 511625"/>
                <a:gd name="connsiteX32" fmla="*/ 6191075 w 6316910"/>
                <a:gd name="connsiteY32" fmla="*/ 251670 h 511625"/>
                <a:gd name="connsiteX33" fmla="*/ 6182686 w 6316910"/>
                <a:gd name="connsiteY33" fmla="*/ 226503 h 511625"/>
                <a:gd name="connsiteX34" fmla="*/ 6191075 w 6316910"/>
                <a:gd name="connsiteY34" fmla="*/ 201336 h 511625"/>
                <a:gd name="connsiteX35" fmla="*/ 6283354 w 6316910"/>
                <a:gd name="connsiteY35" fmla="*/ 192947 h 511625"/>
                <a:gd name="connsiteX36" fmla="*/ 6308521 w 6316910"/>
                <a:gd name="connsiteY36" fmla="*/ 209725 h 511625"/>
                <a:gd name="connsiteX37" fmla="*/ 6316910 w 6316910"/>
                <a:gd name="connsiteY37" fmla="*/ 234892 h 511625"/>
                <a:gd name="connsiteX38" fmla="*/ 6300132 w 6316910"/>
                <a:gd name="connsiteY38" fmla="*/ 360727 h 511625"/>
                <a:gd name="connsiteX39" fmla="*/ 6266576 w 6316910"/>
                <a:gd name="connsiteY39" fmla="*/ 411061 h 511625"/>
                <a:gd name="connsiteX40" fmla="*/ 6241409 w 6316910"/>
                <a:gd name="connsiteY40" fmla="*/ 427839 h 511625"/>
                <a:gd name="connsiteX41" fmla="*/ 6216242 w 6316910"/>
                <a:gd name="connsiteY41" fmla="*/ 453006 h 511625"/>
                <a:gd name="connsiteX42" fmla="*/ 6107186 w 6316910"/>
                <a:gd name="connsiteY42" fmla="*/ 469784 h 511625"/>
                <a:gd name="connsiteX43" fmla="*/ 5729681 w 6316910"/>
                <a:gd name="connsiteY43" fmla="*/ 453006 h 511625"/>
                <a:gd name="connsiteX44" fmla="*/ 5696125 w 6316910"/>
                <a:gd name="connsiteY44" fmla="*/ 444617 h 511625"/>
                <a:gd name="connsiteX45" fmla="*/ 5637402 w 6316910"/>
                <a:gd name="connsiteY45" fmla="*/ 436228 h 511625"/>
                <a:gd name="connsiteX46" fmla="*/ 5478011 w 6316910"/>
                <a:gd name="connsiteY46" fmla="*/ 419450 h 511625"/>
                <a:gd name="connsiteX47" fmla="*/ 5377343 w 6316910"/>
                <a:gd name="connsiteY47" fmla="*/ 427839 h 511625"/>
                <a:gd name="connsiteX48" fmla="*/ 5352176 w 6316910"/>
                <a:gd name="connsiteY48" fmla="*/ 436228 h 511625"/>
                <a:gd name="connsiteX49" fmla="*/ 5167619 w 6316910"/>
                <a:gd name="connsiteY49" fmla="*/ 453006 h 511625"/>
                <a:gd name="connsiteX50" fmla="*/ 5041784 w 6316910"/>
                <a:gd name="connsiteY50" fmla="*/ 469784 h 511625"/>
                <a:gd name="connsiteX51" fmla="*/ 4957894 w 6316910"/>
                <a:gd name="connsiteY51" fmla="*/ 478173 h 511625"/>
                <a:gd name="connsiteX52" fmla="*/ 4194496 w 6316910"/>
                <a:gd name="connsiteY52" fmla="*/ 478173 h 511625"/>
                <a:gd name="connsiteX53" fmla="*/ 4127384 w 6316910"/>
                <a:gd name="connsiteY53" fmla="*/ 469784 h 511625"/>
                <a:gd name="connsiteX54" fmla="*/ 4051883 w 6316910"/>
                <a:gd name="connsiteY54" fmla="*/ 461395 h 511625"/>
                <a:gd name="connsiteX55" fmla="*/ 3984771 w 6316910"/>
                <a:gd name="connsiteY55" fmla="*/ 453006 h 511625"/>
                <a:gd name="connsiteX56" fmla="*/ 3112316 w 6316910"/>
                <a:gd name="connsiteY56" fmla="*/ 444617 h 511625"/>
                <a:gd name="connsiteX57" fmla="*/ 3053593 w 6316910"/>
                <a:gd name="connsiteY57" fmla="*/ 436228 h 511625"/>
                <a:gd name="connsiteX58" fmla="*/ 3003259 w 6316910"/>
                <a:gd name="connsiteY58" fmla="*/ 427839 h 511625"/>
                <a:gd name="connsiteX59" fmla="*/ 2567031 w 6316910"/>
                <a:gd name="connsiteY59" fmla="*/ 436228 h 511625"/>
                <a:gd name="connsiteX60" fmla="*/ 1770077 w 6316910"/>
                <a:gd name="connsiteY60" fmla="*/ 436228 h 511625"/>
                <a:gd name="connsiteX61" fmla="*/ 1669409 w 6316910"/>
                <a:gd name="connsiteY61" fmla="*/ 444617 h 511625"/>
                <a:gd name="connsiteX62" fmla="*/ 1543575 w 6316910"/>
                <a:gd name="connsiteY62" fmla="*/ 461395 h 511625"/>
                <a:gd name="connsiteX63" fmla="*/ 1468074 w 6316910"/>
                <a:gd name="connsiteY63" fmla="*/ 469784 h 511625"/>
                <a:gd name="connsiteX64" fmla="*/ 973123 w 6316910"/>
                <a:gd name="connsiteY64" fmla="*/ 461395 h 511625"/>
                <a:gd name="connsiteX65" fmla="*/ 796954 w 6316910"/>
                <a:gd name="connsiteY65" fmla="*/ 444617 h 511625"/>
                <a:gd name="connsiteX66" fmla="*/ 671119 w 6316910"/>
                <a:gd name="connsiteY66" fmla="*/ 436228 h 511625"/>
                <a:gd name="connsiteX67" fmla="*/ 629175 w 6316910"/>
                <a:gd name="connsiteY67" fmla="*/ 427839 h 511625"/>
                <a:gd name="connsiteX68" fmla="*/ 595619 w 6316910"/>
                <a:gd name="connsiteY68" fmla="*/ 419450 h 511625"/>
                <a:gd name="connsiteX69" fmla="*/ 520118 w 6316910"/>
                <a:gd name="connsiteY69" fmla="*/ 411061 h 511625"/>
                <a:gd name="connsiteX70" fmla="*/ 402672 w 6316910"/>
                <a:gd name="connsiteY70" fmla="*/ 394283 h 511625"/>
                <a:gd name="connsiteX71" fmla="*/ 285226 w 6316910"/>
                <a:gd name="connsiteY71" fmla="*/ 385894 h 511625"/>
                <a:gd name="connsiteX72" fmla="*/ 251670 w 6316910"/>
                <a:gd name="connsiteY72" fmla="*/ 377505 h 511625"/>
                <a:gd name="connsiteX73" fmla="*/ 151002 w 6316910"/>
                <a:gd name="connsiteY73" fmla="*/ 369116 h 511625"/>
                <a:gd name="connsiteX74" fmla="*/ 100668 w 6316910"/>
                <a:gd name="connsiteY74" fmla="*/ 352338 h 511625"/>
                <a:gd name="connsiteX75" fmla="*/ 50334 w 6316910"/>
                <a:gd name="connsiteY75" fmla="*/ 318782 h 511625"/>
                <a:gd name="connsiteX76" fmla="*/ 41945 w 6316910"/>
                <a:gd name="connsiteY76" fmla="*/ 293615 h 511625"/>
                <a:gd name="connsiteX77" fmla="*/ 25167 w 6316910"/>
                <a:gd name="connsiteY77" fmla="*/ 268448 h 511625"/>
                <a:gd name="connsiteX78" fmla="*/ 16778 w 6316910"/>
                <a:gd name="connsiteY78" fmla="*/ 209725 h 511625"/>
                <a:gd name="connsiteX79" fmla="*/ 0 w 6316910"/>
                <a:gd name="connsiteY79" fmla="*/ 151002 h 511625"/>
                <a:gd name="connsiteX80" fmla="*/ 8389 w 6316910"/>
                <a:gd name="connsiteY80" fmla="*/ 92279 h 511625"/>
                <a:gd name="connsiteX81" fmla="*/ 75501 w 6316910"/>
                <a:gd name="connsiteY81" fmla="*/ 33556 h 511625"/>
                <a:gd name="connsiteX82" fmla="*/ 100668 w 6316910"/>
                <a:gd name="connsiteY82" fmla="*/ 16778 h 511625"/>
                <a:gd name="connsiteX83" fmla="*/ 134224 w 6316910"/>
                <a:gd name="connsiteY83" fmla="*/ 0 h 51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316910" h="511625">
                  <a:moveTo>
                    <a:pt x="134224" y="0"/>
                  </a:moveTo>
                  <a:cubicBezTo>
                    <a:pt x="148206" y="8389"/>
                    <a:pt x="162342" y="16525"/>
                    <a:pt x="176169" y="25167"/>
                  </a:cubicBezTo>
                  <a:cubicBezTo>
                    <a:pt x="184719" y="30511"/>
                    <a:pt x="192318" y="37436"/>
                    <a:pt x="201336" y="41945"/>
                  </a:cubicBezTo>
                  <a:cubicBezTo>
                    <a:pt x="213371" y="47962"/>
                    <a:pt x="249308" y="56035"/>
                    <a:pt x="260059" y="58723"/>
                  </a:cubicBezTo>
                  <a:cubicBezTo>
                    <a:pt x="276837" y="69908"/>
                    <a:pt x="291263" y="85902"/>
                    <a:pt x="310393" y="92279"/>
                  </a:cubicBezTo>
                  <a:cubicBezTo>
                    <a:pt x="327171" y="97872"/>
                    <a:pt x="346012" y="99247"/>
                    <a:pt x="360727" y="109057"/>
                  </a:cubicBezTo>
                  <a:cubicBezTo>
                    <a:pt x="383064" y="123949"/>
                    <a:pt x="407435" y="146572"/>
                    <a:pt x="436228" y="151002"/>
                  </a:cubicBezTo>
                  <a:cubicBezTo>
                    <a:pt x="464004" y="155275"/>
                    <a:pt x="492155" y="156595"/>
                    <a:pt x="520118" y="159391"/>
                  </a:cubicBezTo>
                  <a:cubicBezTo>
                    <a:pt x="531303" y="162187"/>
                    <a:pt x="542278" y="166027"/>
                    <a:pt x="553674" y="167780"/>
                  </a:cubicBezTo>
                  <a:cubicBezTo>
                    <a:pt x="599209" y="174785"/>
                    <a:pt x="677950" y="179724"/>
                    <a:pt x="721453" y="184558"/>
                  </a:cubicBezTo>
                  <a:cubicBezTo>
                    <a:pt x="741105" y="186742"/>
                    <a:pt x="760404" y="192747"/>
                    <a:pt x="780176" y="192947"/>
                  </a:cubicBezTo>
                  <a:lnTo>
                    <a:pt x="2382474" y="201336"/>
                  </a:lnTo>
                  <a:lnTo>
                    <a:pt x="2474752" y="209725"/>
                  </a:lnTo>
                  <a:cubicBezTo>
                    <a:pt x="2605291" y="220168"/>
                    <a:pt x="2554001" y="205382"/>
                    <a:pt x="2617365" y="226503"/>
                  </a:cubicBezTo>
                  <a:cubicBezTo>
                    <a:pt x="2653717" y="223707"/>
                    <a:pt x="2690185" y="222140"/>
                    <a:pt x="2726422" y="218114"/>
                  </a:cubicBezTo>
                  <a:cubicBezTo>
                    <a:pt x="2740593" y="216539"/>
                    <a:pt x="2754338" y="212276"/>
                    <a:pt x="2768367" y="209725"/>
                  </a:cubicBezTo>
                  <a:cubicBezTo>
                    <a:pt x="2785102" y="206682"/>
                    <a:pt x="2802097" y="205026"/>
                    <a:pt x="2818701" y="201336"/>
                  </a:cubicBezTo>
                  <a:cubicBezTo>
                    <a:pt x="2827333" y="199418"/>
                    <a:pt x="2835289" y="195092"/>
                    <a:pt x="2843868" y="192947"/>
                  </a:cubicBezTo>
                  <a:cubicBezTo>
                    <a:pt x="2857701" y="189489"/>
                    <a:pt x="2871831" y="187354"/>
                    <a:pt x="2885813" y="184558"/>
                  </a:cubicBezTo>
                  <a:cubicBezTo>
                    <a:pt x="3268141" y="203674"/>
                    <a:pt x="2795917" y="181166"/>
                    <a:pt x="3330430" y="201336"/>
                  </a:cubicBezTo>
                  <a:cubicBezTo>
                    <a:pt x="3386386" y="203448"/>
                    <a:pt x="3442283" y="206929"/>
                    <a:pt x="3498209" y="209725"/>
                  </a:cubicBezTo>
                  <a:cubicBezTo>
                    <a:pt x="3517783" y="212521"/>
                    <a:pt x="3537428" y="214863"/>
                    <a:pt x="3556932" y="218114"/>
                  </a:cubicBezTo>
                  <a:cubicBezTo>
                    <a:pt x="3570997" y="220458"/>
                    <a:pt x="3584729" y="224734"/>
                    <a:pt x="3598877" y="226503"/>
                  </a:cubicBezTo>
                  <a:cubicBezTo>
                    <a:pt x="3629525" y="230334"/>
                    <a:pt x="3660481" y="231283"/>
                    <a:pt x="3691156" y="234892"/>
                  </a:cubicBezTo>
                  <a:cubicBezTo>
                    <a:pt x="3708049" y="236879"/>
                    <a:pt x="3724574" y="241500"/>
                    <a:pt x="3741490" y="243281"/>
                  </a:cubicBezTo>
                  <a:cubicBezTo>
                    <a:pt x="3777749" y="247098"/>
                    <a:pt x="3814195" y="248874"/>
                    <a:pt x="3850547" y="251670"/>
                  </a:cubicBezTo>
                  <a:cubicBezTo>
                    <a:pt x="4053103" y="292181"/>
                    <a:pt x="3860601" y="256778"/>
                    <a:pt x="4379053" y="251670"/>
                  </a:cubicBezTo>
                  <a:lnTo>
                    <a:pt x="5595457" y="243281"/>
                  </a:lnTo>
                  <a:lnTo>
                    <a:pt x="6082019" y="234892"/>
                  </a:lnTo>
                  <a:cubicBezTo>
                    <a:pt x="6107329" y="234136"/>
                    <a:pt x="6132542" y="230666"/>
                    <a:pt x="6157519" y="226503"/>
                  </a:cubicBezTo>
                  <a:cubicBezTo>
                    <a:pt x="6166241" y="225049"/>
                    <a:pt x="6174054" y="220032"/>
                    <a:pt x="6182686" y="218114"/>
                  </a:cubicBezTo>
                  <a:cubicBezTo>
                    <a:pt x="6199290" y="214424"/>
                    <a:pt x="6216242" y="212521"/>
                    <a:pt x="6233020" y="209725"/>
                  </a:cubicBezTo>
                  <a:cubicBezTo>
                    <a:pt x="6228226" y="216916"/>
                    <a:pt x="6207054" y="255665"/>
                    <a:pt x="6191075" y="251670"/>
                  </a:cubicBezTo>
                  <a:cubicBezTo>
                    <a:pt x="6182496" y="249525"/>
                    <a:pt x="6185482" y="234892"/>
                    <a:pt x="6182686" y="226503"/>
                  </a:cubicBezTo>
                  <a:cubicBezTo>
                    <a:pt x="6185482" y="218114"/>
                    <a:pt x="6185551" y="208241"/>
                    <a:pt x="6191075" y="201336"/>
                  </a:cubicBezTo>
                  <a:cubicBezTo>
                    <a:pt x="6216365" y="169723"/>
                    <a:pt x="6247907" y="188516"/>
                    <a:pt x="6283354" y="192947"/>
                  </a:cubicBezTo>
                  <a:cubicBezTo>
                    <a:pt x="6291743" y="198540"/>
                    <a:pt x="6302223" y="201852"/>
                    <a:pt x="6308521" y="209725"/>
                  </a:cubicBezTo>
                  <a:cubicBezTo>
                    <a:pt x="6314045" y="216630"/>
                    <a:pt x="6316910" y="226049"/>
                    <a:pt x="6316910" y="234892"/>
                  </a:cubicBezTo>
                  <a:cubicBezTo>
                    <a:pt x="6316910" y="240961"/>
                    <a:pt x="6316773" y="330773"/>
                    <a:pt x="6300132" y="360727"/>
                  </a:cubicBezTo>
                  <a:cubicBezTo>
                    <a:pt x="6290339" y="378354"/>
                    <a:pt x="6283354" y="399876"/>
                    <a:pt x="6266576" y="411061"/>
                  </a:cubicBezTo>
                  <a:cubicBezTo>
                    <a:pt x="6258187" y="416654"/>
                    <a:pt x="6249154" y="421384"/>
                    <a:pt x="6241409" y="427839"/>
                  </a:cubicBezTo>
                  <a:cubicBezTo>
                    <a:pt x="6232295" y="435434"/>
                    <a:pt x="6226853" y="447700"/>
                    <a:pt x="6216242" y="453006"/>
                  </a:cubicBezTo>
                  <a:cubicBezTo>
                    <a:pt x="6203432" y="459411"/>
                    <a:pt x="6107427" y="469754"/>
                    <a:pt x="6107186" y="469784"/>
                  </a:cubicBezTo>
                  <a:cubicBezTo>
                    <a:pt x="6046968" y="467633"/>
                    <a:pt x="5815413" y="461171"/>
                    <a:pt x="5729681" y="453006"/>
                  </a:cubicBezTo>
                  <a:cubicBezTo>
                    <a:pt x="5718203" y="451913"/>
                    <a:pt x="5707469" y="446679"/>
                    <a:pt x="5696125" y="444617"/>
                  </a:cubicBezTo>
                  <a:cubicBezTo>
                    <a:pt x="5676671" y="441080"/>
                    <a:pt x="5657054" y="438412"/>
                    <a:pt x="5637402" y="436228"/>
                  </a:cubicBezTo>
                  <a:cubicBezTo>
                    <a:pt x="5355789" y="404938"/>
                    <a:pt x="5697582" y="446896"/>
                    <a:pt x="5478011" y="419450"/>
                  </a:cubicBezTo>
                  <a:cubicBezTo>
                    <a:pt x="5444455" y="422246"/>
                    <a:pt x="5410720" y="423389"/>
                    <a:pt x="5377343" y="427839"/>
                  </a:cubicBezTo>
                  <a:cubicBezTo>
                    <a:pt x="5368578" y="429008"/>
                    <a:pt x="5360898" y="434774"/>
                    <a:pt x="5352176" y="436228"/>
                  </a:cubicBezTo>
                  <a:cubicBezTo>
                    <a:pt x="5303429" y="444352"/>
                    <a:pt x="5211226" y="448853"/>
                    <a:pt x="5167619" y="453006"/>
                  </a:cubicBezTo>
                  <a:cubicBezTo>
                    <a:pt x="5092125" y="460196"/>
                    <a:pt x="5112969" y="461409"/>
                    <a:pt x="5041784" y="469784"/>
                  </a:cubicBezTo>
                  <a:cubicBezTo>
                    <a:pt x="5013874" y="473068"/>
                    <a:pt x="4985857" y="475377"/>
                    <a:pt x="4957894" y="478173"/>
                  </a:cubicBezTo>
                  <a:cubicBezTo>
                    <a:pt x="4689544" y="545260"/>
                    <a:pt x="4909723" y="493230"/>
                    <a:pt x="4194496" y="478173"/>
                  </a:cubicBezTo>
                  <a:cubicBezTo>
                    <a:pt x="4171956" y="477698"/>
                    <a:pt x="4149774" y="472418"/>
                    <a:pt x="4127384" y="469784"/>
                  </a:cubicBezTo>
                  <a:lnTo>
                    <a:pt x="4051883" y="461395"/>
                  </a:lnTo>
                  <a:cubicBezTo>
                    <a:pt x="4029493" y="458761"/>
                    <a:pt x="4007312" y="453409"/>
                    <a:pt x="3984771" y="453006"/>
                  </a:cubicBezTo>
                  <a:lnTo>
                    <a:pt x="3112316" y="444617"/>
                  </a:lnTo>
                  <a:lnTo>
                    <a:pt x="3053593" y="436228"/>
                  </a:lnTo>
                  <a:cubicBezTo>
                    <a:pt x="3036781" y="433642"/>
                    <a:pt x="3020268" y="427839"/>
                    <a:pt x="3003259" y="427839"/>
                  </a:cubicBezTo>
                  <a:cubicBezTo>
                    <a:pt x="2857823" y="427839"/>
                    <a:pt x="2712440" y="433432"/>
                    <a:pt x="2567031" y="436228"/>
                  </a:cubicBezTo>
                  <a:cubicBezTo>
                    <a:pt x="2167918" y="425994"/>
                    <a:pt x="2227444" y="422776"/>
                    <a:pt x="1770077" y="436228"/>
                  </a:cubicBezTo>
                  <a:cubicBezTo>
                    <a:pt x="1736419" y="437218"/>
                    <a:pt x="1702965" y="441821"/>
                    <a:pt x="1669409" y="444617"/>
                  </a:cubicBezTo>
                  <a:cubicBezTo>
                    <a:pt x="1603542" y="461084"/>
                    <a:pt x="1653623" y="450390"/>
                    <a:pt x="1543575" y="461395"/>
                  </a:cubicBezTo>
                  <a:cubicBezTo>
                    <a:pt x="1518379" y="463915"/>
                    <a:pt x="1493241" y="466988"/>
                    <a:pt x="1468074" y="469784"/>
                  </a:cubicBezTo>
                  <a:lnTo>
                    <a:pt x="973123" y="461395"/>
                  </a:lnTo>
                  <a:cubicBezTo>
                    <a:pt x="675724" y="453357"/>
                    <a:pt x="951305" y="459317"/>
                    <a:pt x="796954" y="444617"/>
                  </a:cubicBezTo>
                  <a:cubicBezTo>
                    <a:pt x="755105" y="440631"/>
                    <a:pt x="713064" y="439024"/>
                    <a:pt x="671119" y="436228"/>
                  </a:cubicBezTo>
                  <a:cubicBezTo>
                    <a:pt x="657138" y="433432"/>
                    <a:pt x="643094" y="430932"/>
                    <a:pt x="629175" y="427839"/>
                  </a:cubicBezTo>
                  <a:cubicBezTo>
                    <a:pt x="617920" y="425338"/>
                    <a:pt x="607015" y="421203"/>
                    <a:pt x="595619" y="419450"/>
                  </a:cubicBezTo>
                  <a:cubicBezTo>
                    <a:pt x="570592" y="415600"/>
                    <a:pt x="545285" y="413857"/>
                    <a:pt x="520118" y="411061"/>
                  </a:cubicBezTo>
                  <a:cubicBezTo>
                    <a:pt x="466896" y="393320"/>
                    <a:pt x="499405" y="402022"/>
                    <a:pt x="402672" y="394283"/>
                  </a:cubicBezTo>
                  <a:lnTo>
                    <a:pt x="285226" y="385894"/>
                  </a:lnTo>
                  <a:cubicBezTo>
                    <a:pt x="274041" y="383098"/>
                    <a:pt x="263111" y="378935"/>
                    <a:pt x="251670" y="377505"/>
                  </a:cubicBezTo>
                  <a:cubicBezTo>
                    <a:pt x="218258" y="373328"/>
                    <a:pt x="184216" y="374652"/>
                    <a:pt x="151002" y="369116"/>
                  </a:cubicBezTo>
                  <a:cubicBezTo>
                    <a:pt x="133557" y="366209"/>
                    <a:pt x="115383" y="362148"/>
                    <a:pt x="100668" y="352338"/>
                  </a:cubicBezTo>
                  <a:lnTo>
                    <a:pt x="50334" y="318782"/>
                  </a:lnTo>
                  <a:cubicBezTo>
                    <a:pt x="47538" y="310393"/>
                    <a:pt x="45900" y="301524"/>
                    <a:pt x="41945" y="293615"/>
                  </a:cubicBezTo>
                  <a:cubicBezTo>
                    <a:pt x="37436" y="284597"/>
                    <a:pt x="28064" y="278105"/>
                    <a:pt x="25167" y="268448"/>
                  </a:cubicBezTo>
                  <a:cubicBezTo>
                    <a:pt x="19485" y="249509"/>
                    <a:pt x="20315" y="229179"/>
                    <a:pt x="16778" y="209725"/>
                  </a:cubicBezTo>
                  <a:cubicBezTo>
                    <a:pt x="12565" y="186551"/>
                    <a:pt x="7188" y="172565"/>
                    <a:pt x="0" y="151002"/>
                  </a:cubicBezTo>
                  <a:cubicBezTo>
                    <a:pt x="2796" y="131428"/>
                    <a:pt x="2707" y="111218"/>
                    <a:pt x="8389" y="92279"/>
                  </a:cubicBezTo>
                  <a:cubicBezTo>
                    <a:pt x="17128" y="63151"/>
                    <a:pt x="55228" y="47072"/>
                    <a:pt x="75501" y="33556"/>
                  </a:cubicBezTo>
                  <a:cubicBezTo>
                    <a:pt x="83890" y="27963"/>
                    <a:pt x="91103" y="19966"/>
                    <a:pt x="100668" y="16778"/>
                  </a:cubicBezTo>
                  <a:lnTo>
                    <a:pt x="134224" y="0"/>
                  </a:lnTo>
                  <a:close/>
                </a:path>
              </a:pathLst>
            </a:cu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grpSp>
      <p:sp>
        <p:nvSpPr>
          <p:cNvPr id="10" name="TextBox 9">
            <a:extLst>
              <a:ext uri="{FF2B5EF4-FFF2-40B4-BE49-F238E27FC236}">
                <a16:creationId xmlns:a16="http://schemas.microsoft.com/office/drawing/2014/main" id="{8ED2DC63-E9C9-4F85-87BC-89CDE1AE8441}"/>
              </a:ext>
            </a:extLst>
          </p:cNvPr>
          <p:cNvSpPr txBox="1"/>
          <p:nvPr/>
        </p:nvSpPr>
        <p:spPr>
          <a:xfrm>
            <a:off x="4609752" y="1510028"/>
            <a:ext cx="4408414" cy="4555093"/>
          </a:xfrm>
          <a:prstGeom prst="rect">
            <a:avLst/>
          </a:prstGeom>
          <a:noFill/>
        </p:spPr>
        <p:txBody>
          <a:bodyPr wrap="square" rtlCol="0">
            <a:spAutoFit/>
          </a:bodyPr>
          <a:lstStyle/>
          <a:p>
            <a:pPr>
              <a:spcAft>
                <a:spcPts val="600"/>
              </a:spcAft>
            </a:pPr>
            <a:r>
              <a:rPr lang="en-GB" sz="2000" dirty="0"/>
              <a:t>Clastic sediment is derived from the erosion of pre-existing rock. </a:t>
            </a:r>
          </a:p>
          <a:p>
            <a:pPr marL="342900" indent="-342900">
              <a:spcAft>
                <a:spcPts val="600"/>
              </a:spcAft>
              <a:buFont typeface="Arial" panose="020B0604020202020204" pitchFamily="34" charset="0"/>
              <a:buChar char="•"/>
            </a:pPr>
            <a:endParaRPr lang="en-GB" sz="2000" dirty="0"/>
          </a:p>
          <a:p>
            <a:pPr>
              <a:spcAft>
                <a:spcPts val="600"/>
              </a:spcAft>
            </a:pPr>
            <a:r>
              <a:rPr lang="en-GB" sz="2000" dirty="0"/>
              <a:t>Other sediments include:</a:t>
            </a:r>
          </a:p>
          <a:p>
            <a:pPr marL="342900" indent="-342900">
              <a:spcAft>
                <a:spcPts val="600"/>
              </a:spcAft>
              <a:buFont typeface="Arial" panose="020B0604020202020204" pitchFamily="34" charset="0"/>
              <a:buChar char="•"/>
            </a:pPr>
            <a:endParaRPr lang="en-GB" sz="2000" dirty="0"/>
          </a:p>
          <a:p>
            <a:pPr marL="342900" indent="-342900">
              <a:spcAft>
                <a:spcPts val="600"/>
              </a:spcAft>
              <a:buFont typeface="Arial" panose="020B0604020202020204" pitchFamily="34" charset="0"/>
              <a:buChar char="•"/>
            </a:pPr>
            <a:r>
              <a:rPr lang="en-GB" sz="2000" b="1" dirty="0"/>
              <a:t>Biogenic sediments – those derived from the soft parts (“organic”) and hard parts (“skeletal”) of living organisms.</a:t>
            </a:r>
          </a:p>
          <a:p>
            <a:pPr>
              <a:spcAft>
                <a:spcPts val="600"/>
              </a:spcAft>
            </a:pPr>
            <a:endParaRPr lang="en-GB" sz="2000" b="1" dirty="0"/>
          </a:p>
          <a:p>
            <a:pPr marL="285750" indent="-285750">
              <a:spcAft>
                <a:spcPts val="600"/>
              </a:spcAft>
              <a:buFont typeface="Arial" panose="020B0604020202020204" pitchFamily="34" charset="0"/>
              <a:buChar char="•"/>
            </a:pPr>
            <a:r>
              <a:rPr lang="en-GB" sz="2000" b="1" dirty="0"/>
              <a:t>Chemical sediments – those precipitated directly out of water without the aid of organisms.</a:t>
            </a:r>
          </a:p>
        </p:txBody>
      </p:sp>
      <p:sp>
        <p:nvSpPr>
          <p:cNvPr id="11" name="Rectangle 4">
            <a:extLst>
              <a:ext uri="{FF2B5EF4-FFF2-40B4-BE49-F238E27FC236}">
                <a16:creationId xmlns:a16="http://schemas.microsoft.com/office/drawing/2014/main" id="{66F99BA0-33B8-4275-8FD4-3A9682AA57BB}"/>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In this lecture…</a:t>
            </a:r>
          </a:p>
        </p:txBody>
      </p:sp>
      <p:sp>
        <p:nvSpPr>
          <p:cNvPr id="2" name="Rectangle 1">
            <a:extLst>
              <a:ext uri="{FF2B5EF4-FFF2-40B4-BE49-F238E27FC236}">
                <a16:creationId xmlns:a16="http://schemas.microsoft.com/office/drawing/2014/main" id="{B2A515A7-6E6F-4B39-A644-9678FCC14CD0}"/>
              </a:ext>
            </a:extLst>
          </p:cNvPr>
          <p:cNvSpPr/>
          <p:nvPr/>
        </p:nvSpPr>
        <p:spPr bwMode="auto">
          <a:xfrm>
            <a:off x="218113" y="3716323"/>
            <a:ext cx="4353887" cy="2519377"/>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pic>
        <p:nvPicPr>
          <p:cNvPr id="5" name="Audio 4">
            <a:hlinkClick r:id="" action="ppaction://media"/>
            <a:extLst>
              <a:ext uri="{FF2B5EF4-FFF2-40B4-BE49-F238E27FC236}">
                <a16:creationId xmlns:a16="http://schemas.microsoft.com/office/drawing/2014/main" id="{575B8EE2-E7B8-4CE5-BD21-1A1F4870CBC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21700" y="6235700"/>
            <a:ext cx="406400" cy="406400"/>
          </a:xfrm>
          <a:prstGeom prst="rect">
            <a:avLst/>
          </a:prstGeom>
        </p:spPr>
      </p:pic>
    </p:spTree>
    <p:extLst>
      <p:ext uri="{BB962C8B-B14F-4D97-AF65-F5344CB8AC3E}">
        <p14:creationId xmlns:p14="http://schemas.microsoft.com/office/powerpoint/2010/main" val="1120133194"/>
      </p:ext>
    </p:extLst>
  </p:cSld>
  <p:clrMapOvr>
    <a:masterClrMapping/>
  </p:clrMapOvr>
  <mc:AlternateContent xmlns:mc="http://schemas.openxmlformats.org/markup-compatibility/2006" xmlns:p14="http://schemas.microsoft.com/office/powerpoint/2010/main">
    <mc:Choice Requires="p14">
      <p:transition spd="slow" p14:dur="2000" advTm="282"/>
    </mc:Choice>
    <mc:Fallback xmlns="">
      <p:transition spd="slow" advTm="2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1" fill="hold" display="0">
                  <p:stCondLst>
                    <p:cond delay="indefinite"/>
                  </p:stCondLst>
                  <p:endCondLst>
                    <p:cond evt="onStopAudio" delay="0">
                      <p:tgtEl>
                        <p:sldTgt/>
                      </p:tgtEl>
                    </p:cond>
                  </p:endCondLst>
                </p:cTn>
                <p:tgtEl>
                  <p:spTgt spid="5"/>
                </p:tgtEl>
              </p:cMediaNode>
            </p:audio>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E2B8BFDF-2695-4EC9-8E57-7561CC7F7D82}"/>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
        <p:nvSpPr>
          <p:cNvPr id="5" name="TextBox 4">
            <a:extLst>
              <a:ext uri="{FF2B5EF4-FFF2-40B4-BE49-F238E27FC236}">
                <a16:creationId xmlns:a16="http://schemas.microsoft.com/office/drawing/2014/main" id="{AD281130-4D5B-4EB3-9061-08842DCA672E}"/>
              </a:ext>
            </a:extLst>
          </p:cNvPr>
          <p:cNvSpPr txBox="1"/>
          <p:nvPr/>
        </p:nvSpPr>
        <p:spPr>
          <a:xfrm>
            <a:off x="251520" y="1268760"/>
            <a:ext cx="8640960" cy="4401205"/>
          </a:xfrm>
          <a:prstGeom prst="rect">
            <a:avLst/>
          </a:prstGeom>
          <a:noFill/>
        </p:spPr>
        <p:txBody>
          <a:bodyPr wrap="square" rtlCol="0">
            <a:spAutoFit/>
          </a:bodyPr>
          <a:lstStyle/>
          <a:p>
            <a:pPr marL="285750" indent="-285750">
              <a:buFont typeface="Arial" pitchFamily="34" charset="0"/>
              <a:buChar char="•"/>
            </a:pPr>
            <a:r>
              <a:rPr lang="en-GB" sz="2000" b="1" dirty="0">
                <a:solidFill>
                  <a:schemeClr val="tx2"/>
                </a:solidFill>
                <a:latin typeface="Calibri" panose="020F0502020204030204" pitchFamily="34" charset="0"/>
                <a:cs typeface="Calibri" panose="020F0502020204030204" pitchFamily="34" charset="0"/>
              </a:rPr>
              <a:t>Marine organic matter is largely the biomass of planktonic fauna and flora that live in the water column lakes and oceans.</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Diverse chemical composition because derived from complex organisms</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Proteins: animal tissue and enzymes</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Carbohydrates: animal tissue</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Lipids: algae, pollen, spores</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Lignin: plant tissue (plant material can be washed into lakes and seas from land)</a:t>
            </a:r>
          </a:p>
          <a:p>
            <a:pPr lvl="1"/>
            <a:endParaRPr lang="en-GB"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dirty="0">
                <a:solidFill>
                  <a:schemeClr val="tx2"/>
                </a:solidFill>
                <a:latin typeface="Calibri" panose="020F0502020204030204" pitchFamily="34" charset="0"/>
                <a:cs typeface="Calibri" panose="020F0502020204030204" pitchFamily="34" charset="0"/>
              </a:rPr>
              <a:t>But these are typically dilute in most rocks:</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Mudstones: 0.99 </a:t>
            </a:r>
            <a:r>
              <a:rPr lang="en-GB" sz="2000" dirty="0" err="1">
                <a:solidFill>
                  <a:schemeClr val="tx2"/>
                </a:solidFill>
                <a:latin typeface="Calibri" panose="020F0502020204030204" pitchFamily="34" charset="0"/>
                <a:cs typeface="Calibri" panose="020F0502020204030204" pitchFamily="34" charset="0"/>
              </a:rPr>
              <a:t>wt</a:t>
            </a:r>
            <a:r>
              <a:rPr lang="en-GB" sz="2000" dirty="0">
                <a:solidFill>
                  <a:schemeClr val="tx2"/>
                </a:solidFill>
                <a:latin typeface="Calibri" panose="020F0502020204030204" pitchFamily="34" charset="0"/>
                <a:cs typeface="Calibri" panose="020F0502020204030204" pitchFamily="34" charset="0"/>
              </a:rPr>
              <a:t>%</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Carbonates: 0.33 </a:t>
            </a:r>
            <a:r>
              <a:rPr lang="en-GB" sz="2000" dirty="0" err="1">
                <a:solidFill>
                  <a:schemeClr val="tx2"/>
                </a:solidFill>
                <a:latin typeface="Calibri" panose="020F0502020204030204" pitchFamily="34" charset="0"/>
                <a:cs typeface="Calibri" panose="020F0502020204030204" pitchFamily="34" charset="0"/>
              </a:rPr>
              <a:t>wt</a:t>
            </a:r>
            <a:r>
              <a:rPr lang="en-GB" sz="2000" dirty="0">
                <a:solidFill>
                  <a:schemeClr val="tx2"/>
                </a:solidFill>
                <a:latin typeface="Calibri" panose="020F0502020204030204" pitchFamily="34" charset="0"/>
                <a:cs typeface="Calibri" panose="020F0502020204030204" pitchFamily="34" charset="0"/>
              </a:rPr>
              <a:t>%</a:t>
            </a:r>
          </a:p>
          <a:p>
            <a:pPr lvl="1"/>
            <a:r>
              <a:rPr lang="en-GB" sz="2000" dirty="0">
                <a:solidFill>
                  <a:schemeClr val="tx2"/>
                </a:solidFill>
                <a:latin typeface="Calibri" panose="020F0502020204030204" pitchFamily="34" charset="0"/>
                <a:cs typeface="Calibri" panose="020F0502020204030204" pitchFamily="34" charset="0"/>
                <a:sym typeface="Wingdings" panose="05000000000000000000" pitchFamily="2" charset="2"/>
              </a:rPr>
              <a:t></a:t>
            </a:r>
            <a:r>
              <a:rPr lang="en-GB" sz="2000" dirty="0">
                <a:solidFill>
                  <a:schemeClr val="tx2"/>
                </a:solidFill>
                <a:latin typeface="Calibri" panose="020F0502020204030204" pitchFamily="34" charset="0"/>
                <a:cs typeface="Calibri" panose="020F0502020204030204" pitchFamily="34" charset="0"/>
              </a:rPr>
              <a:t>Sandstones: 0.28 </a:t>
            </a:r>
            <a:r>
              <a:rPr lang="en-GB" sz="2000" dirty="0" err="1">
                <a:solidFill>
                  <a:schemeClr val="tx2"/>
                </a:solidFill>
                <a:latin typeface="Calibri" panose="020F0502020204030204" pitchFamily="34" charset="0"/>
                <a:cs typeface="Calibri" panose="020F0502020204030204" pitchFamily="34" charset="0"/>
              </a:rPr>
              <a:t>wt</a:t>
            </a:r>
            <a:r>
              <a:rPr lang="en-GB" sz="2000" dirty="0">
                <a:solidFill>
                  <a:schemeClr val="tx2"/>
                </a:solidFill>
                <a:latin typeface="Calibri" panose="020F0502020204030204" pitchFamily="34" charset="0"/>
                <a:cs typeface="Calibri" panose="020F0502020204030204" pitchFamily="34" charset="0"/>
              </a:rPr>
              <a:t>%</a:t>
            </a:r>
          </a:p>
          <a:p>
            <a:pPr marL="342900" indent="-342900">
              <a:buFont typeface="Arial" panose="020B0604020202020204" pitchFamily="34" charset="0"/>
              <a:buChar char="•"/>
            </a:pPr>
            <a:endParaRPr lang="en-GB"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7761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86FC77-0757-47F8-93D2-991717F71576}"/>
              </a:ext>
            </a:extLst>
          </p:cNvPr>
          <p:cNvSpPr txBox="1"/>
          <p:nvPr/>
        </p:nvSpPr>
        <p:spPr>
          <a:xfrm>
            <a:off x="395536" y="1196752"/>
            <a:ext cx="8208912" cy="56323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2000" dirty="0">
                <a:latin typeface="Calibri"/>
                <a:ea typeface="+mn-ea"/>
              </a:rPr>
              <a:t>T</a:t>
            </a:r>
            <a:r>
              <a:rPr kumimoji="0" lang="en-GB" sz="2000" b="0" i="0" u="none" strike="noStrike" kern="1200" cap="none" spc="0" normalizeH="0" baseline="0" noProof="0" dirty="0">
                <a:ln>
                  <a:noFill/>
                </a:ln>
                <a:effectLst/>
                <a:uLnTx/>
                <a:uFillTx/>
                <a:latin typeface="Calibri"/>
                <a:ea typeface="+mn-ea"/>
                <a:cs typeface="+mn-cs"/>
              </a:rPr>
              <a:t>wo fundamental factors control the occurrence of sedimentary organic matter:</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GB" sz="2000" b="0" i="0" u="none" strike="noStrike" kern="1200" cap="none" spc="0" normalizeH="0" baseline="0" noProof="0" dirty="0">
              <a:ln>
                <a:noFill/>
              </a:ln>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lphaLcParenR"/>
              <a:tabLst/>
              <a:defRPr/>
            </a:pPr>
            <a:r>
              <a:rPr kumimoji="0" lang="en-GB" sz="2000" b="0" i="0" u="none" strike="noStrike" kern="1200" cap="none" spc="0" normalizeH="0" baseline="0" noProof="0" dirty="0">
                <a:ln>
                  <a:noFill/>
                </a:ln>
                <a:effectLst/>
                <a:uLnTx/>
                <a:uFillTx/>
                <a:latin typeface="Calibri"/>
                <a:ea typeface="+mn-ea"/>
                <a:cs typeface="+mn-cs"/>
              </a:rPr>
              <a:t>The rate of organic productivity in the first place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effectLst/>
                <a:uLnTx/>
                <a:uFillTx/>
                <a:latin typeface="Calibri"/>
                <a:ea typeface="+mn-ea"/>
                <a:cs typeface="+mn-cs"/>
                <a:sym typeface="Wingdings" panose="05000000000000000000" pitchFamily="2" charset="2"/>
              </a:rPr>
              <a:t>Fundamentally relies on photosynthetic rate</a:t>
            </a:r>
            <a:endParaRPr kumimoji="0" lang="en-GB" sz="2000" b="0" i="0" u="none" strike="noStrike" kern="1200" cap="none" spc="0" normalizeH="0" baseline="0" noProof="0" dirty="0">
              <a:ln>
                <a:noFill/>
              </a:ln>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effectLst/>
                <a:uLnTx/>
                <a:uFillTx/>
                <a:latin typeface="Calibri"/>
                <a:ea typeface="+mn-ea"/>
                <a:cs typeface="+mn-cs"/>
              </a:rPr>
              <a:t>	</a:t>
            </a:r>
            <a:r>
              <a:rPr kumimoji="0" lang="en-GB" sz="2000" b="0" i="0" u="none" strike="noStrike" kern="1200" cap="none" spc="0" normalizeH="0" baseline="0" noProof="0" dirty="0">
                <a:ln>
                  <a:noFill/>
                </a:ln>
                <a:effectLst/>
                <a:uLnTx/>
                <a:uFillTx/>
                <a:latin typeface="Calibri"/>
                <a:ea typeface="+mn-ea"/>
                <a:cs typeface="+mn-cs"/>
                <a:sym typeface="Wingdings" pitchFamily="2" charset="2"/>
              </a:rPr>
              <a:t> Without photosynthesis, there never will be organic matter.</a:t>
            </a: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effectLst/>
                <a:uLnTx/>
                <a:uFillTx/>
                <a:latin typeface="Calibri"/>
                <a:ea typeface="+mn-ea"/>
                <a:cs typeface="+mn-cs"/>
                <a:sym typeface="Wingdings" pitchFamily="2" charset="2"/>
              </a:rPr>
              <a:t>b) The rate at which the organic matter decays after death</a:t>
            </a:r>
          </a:p>
          <a:p>
            <a:pPr marL="457200" marR="0" lvl="0" indent="-45720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effectLst/>
                <a:uLnTx/>
                <a:uFillTx/>
                <a:latin typeface="Calibri"/>
                <a:ea typeface="+mn-ea"/>
                <a:cs typeface="+mn-cs"/>
                <a:sym typeface="Wingdings" pitchFamily="2" charset="2"/>
              </a:rPr>
              <a:t>	If this rate is greater than the rate at which organic material is produced, you will never preserve the organic material.</a:t>
            </a:r>
          </a:p>
          <a:p>
            <a:pPr marL="457200" marR="0" lvl="0" indent="-45720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effectLst/>
              <a:uLnTx/>
              <a:uFillTx/>
              <a:latin typeface="Calibri"/>
              <a:ea typeface="+mn-ea"/>
              <a:cs typeface="+mn-cs"/>
              <a:sym typeface="Wingdings" pitchFamily="2" charset="2"/>
            </a:endParaRPr>
          </a:p>
          <a:p>
            <a:pPr marL="457200" marR="0" lvl="0" indent="-457200" algn="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effectLst/>
                <a:uLnTx/>
                <a:uFillTx/>
                <a:latin typeface="Calibri"/>
                <a:ea typeface="+mn-ea"/>
                <a:cs typeface="+mn-cs"/>
                <a:sym typeface="Wingdings" pitchFamily="2" charset="2"/>
              </a:rPr>
              <a:t>(</a:t>
            </a:r>
            <a:r>
              <a:rPr kumimoji="0" lang="en-GB" sz="2000" b="0" i="0" u="none" strike="noStrike" kern="1200" cap="none" spc="0" normalizeH="0" baseline="0" noProof="0" dirty="0">
                <a:ln>
                  <a:noFill/>
                </a:ln>
                <a:effectLst/>
                <a:uLnTx/>
                <a:uFillTx/>
                <a:latin typeface="Calibri"/>
                <a:ea typeface="+mn-ea"/>
                <a:cs typeface="+mn-cs"/>
              </a:rPr>
              <a:t>Grossly simplified equilibrium reaction)</a:t>
            </a:r>
          </a:p>
        </p:txBody>
      </p:sp>
      <p:sp>
        <p:nvSpPr>
          <p:cNvPr id="5" name="TextBox 4">
            <a:extLst>
              <a:ext uri="{FF2B5EF4-FFF2-40B4-BE49-F238E27FC236}">
                <a16:creationId xmlns:a16="http://schemas.microsoft.com/office/drawing/2014/main" id="{47D0E18C-7720-465B-B9DE-04168EFE7AFE}"/>
              </a:ext>
            </a:extLst>
          </p:cNvPr>
          <p:cNvSpPr txBox="1"/>
          <p:nvPr/>
        </p:nvSpPr>
        <p:spPr>
          <a:xfrm>
            <a:off x="1259632" y="3316922"/>
            <a:ext cx="6552728"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6CO</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2</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   6H</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2</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0       </a:t>
            </a:r>
            <a:r>
              <a:rPr kumimoji="0" lang="en-GB" sz="2000" b="0" i="0" u="none" strike="noStrike" kern="1200" cap="none" spc="0" normalizeH="0" baseline="0" noProof="0" dirty="0">
                <a:ln>
                  <a:noFill/>
                </a:ln>
                <a:solidFill>
                  <a:prstClr val="black"/>
                </a:solidFill>
                <a:effectLst/>
                <a:uLnTx/>
                <a:uFillTx/>
                <a:latin typeface="Calibri"/>
                <a:ea typeface="+mn-ea"/>
                <a:cs typeface="+mn-cs"/>
              </a:rPr>
              <a:t>↔</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C</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6</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H</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12</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O</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6</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     6O</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Carbon dioxide   Water              Carbohydrate   Oxygen</a:t>
            </a:r>
            <a:endParaRPr kumimoji="0" lang="en-GB" sz="2000" b="0" i="0" u="none" strike="noStrike" kern="1200" cap="none" spc="0" normalizeH="0" baseline="0" noProof="0" dirty="0">
              <a:ln>
                <a:noFill/>
              </a:ln>
              <a:solidFill>
                <a:prstClr val="black"/>
              </a:solidFill>
              <a:effectLst/>
              <a:uLnTx/>
              <a:uFillTx/>
              <a:latin typeface="Book Antiqua"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Book Antiqua" pitchFamily="18" charset="0"/>
              <a:ea typeface="+mn-ea"/>
              <a:cs typeface="+mn-cs"/>
            </a:endParaRPr>
          </a:p>
        </p:txBody>
      </p:sp>
      <p:sp>
        <p:nvSpPr>
          <p:cNvPr id="6" name="TextBox 5">
            <a:extLst>
              <a:ext uri="{FF2B5EF4-FFF2-40B4-BE49-F238E27FC236}">
                <a16:creationId xmlns:a16="http://schemas.microsoft.com/office/drawing/2014/main" id="{30D36734-A705-4C4D-8120-3C81952C37A0}"/>
              </a:ext>
            </a:extLst>
          </p:cNvPr>
          <p:cNvSpPr txBox="1"/>
          <p:nvPr/>
        </p:nvSpPr>
        <p:spPr>
          <a:xfrm>
            <a:off x="2195736" y="4181018"/>
            <a:ext cx="21967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FF0000"/>
                </a:solidFill>
                <a:effectLst/>
                <a:uLnTx/>
                <a:uFillTx/>
                <a:latin typeface="Calibri"/>
                <a:ea typeface="+mn-ea"/>
                <a:cs typeface="+mn-cs"/>
              </a:rPr>
              <a:t>Photosynthesis</a:t>
            </a:r>
          </a:p>
        </p:txBody>
      </p:sp>
      <p:cxnSp>
        <p:nvCxnSpPr>
          <p:cNvPr id="7" name="Straight Arrow Connector 6">
            <a:extLst>
              <a:ext uri="{FF2B5EF4-FFF2-40B4-BE49-F238E27FC236}">
                <a16:creationId xmlns:a16="http://schemas.microsoft.com/office/drawing/2014/main" id="{520031A1-45BC-43B5-810A-97C44A625191}"/>
              </a:ext>
            </a:extLst>
          </p:cNvPr>
          <p:cNvCxnSpPr/>
          <p:nvPr/>
        </p:nvCxnSpPr>
        <p:spPr bwMode="auto">
          <a:xfrm>
            <a:off x="4283968" y="4397042"/>
            <a:ext cx="2736304" cy="0"/>
          </a:xfrm>
          <a:prstGeom prst="straightConnector1">
            <a:avLst/>
          </a:prstGeom>
          <a:solidFill>
            <a:schemeClr val="accent1"/>
          </a:solidFill>
          <a:ln w="57150" cap="flat" cmpd="sng" algn="ctr">
            <a:solidFill>
              <a:srgbClr val="FF0000"/>
            </a:solidFill>
            <a:prstDash val="solid"/>
            <a:round/>
            <a:headEnd type="none" w="med" len="med"/>
            <a:tailEnd type="arrow"/>
          </a:ln>
          <a:effectLst/>
        </p:spPr>
      </p:cxnSp>
      <p:sp>
        <p:nvSpPr>
          <p:cNvPr id="8" name="TextBox 7">
            <a:extLst>
              <a:ext uri="{FF2B5EF4-FFF2-40B4-BE49-F238E27FC236}">
                <a16:creationId xmlns:a16="http://schemas.microsoft.com/office/drawing/2014/main" id="{1872C614-B607-4CA3-AAA7-C86DEDE5DF9A}"/>
              </a:ext>
            </a:extLst>
          </p:cNvPr>
          <p:cNvSpPr txBox="1"/>
          <p:nvPr/>
        </p:nvSpPr>
        <p:spPr>
          <a:xfrm>
            <a:off x="5220072" y="4541058"/>
            <a:ext cx="309634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FF0000"/>
                </a:solidFill>
                <a:effectLst/>
                <a:uLnTx/>
                <a:uFillTx/>
                <a:latin typeface="Calibri"/>
                <a:ea typeface="+mn-ea"/>
                <a:cs typeface="+mn-cs"/>
              </a:rPr>
              <a:t>Respiration/combustion</a:t>
            </a:r>
          </a:p>
        </p:txBody>
      </p:sp>
      <p:cxnSp>
        <p:nvCxnSpPr>
          <p:cNvPr id="9" name="Straight Arrow Connector 8">
            <a:extLst>
              <a:ext uri="{FF2B5EF4-FFF2-40B4-BE49-F238E27FC236}">
                <a16:creationId xmlns:a16="http://schemas.microsoft.com/office/drawing/2014/main" id="{97C7AA75-A71A-47B6-8A91-614689F27D1D}"/>
              </a:ext>
            </a:extLst>
          </p:cNvPr>
          <p:cNvCxnSpPr/>
          <p:nvPr/>
        </p:nvCxnSpPr>
        <p:spPr bwMode="auto">
          <a:xfrm flipH="1">
            <a:off x="2555776" y="4757082"/>
            <a:ext cx="2664296" cy="0"/>
          </a:xfrm>
          <a:prstGeom prst="straightConnector1">
            <a:avLst/>
          </a:prstGeom>
          <a:solidFill>
            <a:schemeClr val="accent1"/>
          </a:solidFill>
          <a:ln w="57150" cap="flat" cmpd="sng" algn="ctr">
            <a:solidFill>
              <a:srgbClr val="FF0000"/>
            </a:solidFill>
            <a:prstDash val="solid"/>
            <a:round/>
            <a:headEnd type="none" w="med" len="med"/>
            <a:tailEnd type="arrow"/>
          </a:ln>
          <a:effectLst/>
        </p:spPr>
      </p:cxnSp>
      <p:sp>
        <p:nvSpPr>
          <p:cNvPr id="11" name="Rectangle 4">
            <a:extLst>
              <a:ext uri="{FF2B5EF4-FFF2-40B4-BE49-F238E27FC236}">
                <a16:creationId xmlns:a16="http://schemas.microsoft.com/office/drawing/2014/main" id="{0DC52CAD-A5FE-40BA-A74B-A0ABE7C73C5D}"/>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813688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2B19A1-7810-4FA0-BE08-DFDAFAE0D6F8}"/>
              </a:ext>
            </a:extLst>
          </p:cNvPr>
          <p:cNvSpPr txBox="1"/>
          <p:nvPr/>
        </p:nvSpPr>
        <p:spPr>
          <a:xfrm>
            <a:off x="395536" y="1196752"/>
            <a:ext cx="820891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GB" sz="2000" i="0" u="none" strike="noStrike" kern="1200" cap="none" spc="0" normalizeH="0" baseline="0" noProof="0" dirty="0">
                <a:ln>
                  <a:noFill/>
                </a:ln>
                <a:effectLst/>
                <a:uLnTx/>
                <a:uFillTx/>
                <a:latin typeface="Calibri"/>
                <a:ea typeface="+mn-ea"/>
                <a:cs typeface="+mn-cs"/>
              </a:rPr>
              <a:t>Therefore high primary productivity largely occurs on land, and in the upper 200 m (the “photic zone”) of the ocean/lake</a:t>
            </a:r>
          </a:p>
        </p:txBody>
      </p:sp>
      <p:pic>
        <p:nvPicPr>
          <p:cNvPr id="5" name="Picture 2" descr="http://bio1903.nicerweb.com/Locked/media/ch50/SAVE/50_16AquaticZonation.jpg">
            <a:extLst>
              <a:ext uri="{FF2B5EF4-FFF2-40B4-BE49-F238E27FC236}">
                <a16:creationId xmlns:a16="http://schemas.microsoft.com/office/drawing/2014/main" id="{AACADA38-CEDC-428B-9118-3A880547E48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341229" y="1806766"/>
            <a:ext cx="2677433" cy="2342314"/>
          </a:xfrm>
          <a:prstGeom prst="rect">
            <a:avLst/>
          </a:prstGeom>
          <a:noFill/>
        </p:spPr>
      </p:pic>
      <p:pic>
        <p:nvPicPr>
          <p:cNvPr id="6" name="Picture 5">
            <a:extLst>
              <a:ext uri="{FF2B5EF4-FFF2-40B4-BE49-F238E27FC236}">
                <a16:creationId xmlns:a16="http://schemas.microsoft.com/office/drawing/2014/main" id="{82CBA637-253D-42DE-BB4C-D2AC2061984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a:ext>
            </a:extLst>
          </a:blip>
          <a:stretch>
            <a:fillRect/>
          </a:stretch>
        </p:blipFill>
        <p:spPr>
          <a:xfrm>
            <a:off x="98619" y="2638148"/>
            <a:ext cx="5739438" cy="4120917"/>
          </a:xfrm>
          <a:prstGeom prst="rect">
            <a:avLst/>
          </a:prstGeom>
        </p:spPr>
      </p:pic>
      <p:sp>
        <p:nvSpPr>
          <p:cNvPr id="7" name="TextBox 6">
            <a:extLst>
              <a:ext uri="{FF2B5EF4-FFF2-40B4-BE49-F238E27FC236}">
                <a16:creationId xmlns:a16="http://schemas.microsoft.com/office/drawing/2014/main" id="{F45DD596-FDE9-4616-8DFC-EC966AD4A310}"/>
              </a:ext>
            </a:extLst>
          </p:cNvPr>
          <p:cNvSpPr txBox="1"/>
          <p:nvPr/>
        </p:nvSpPr>
        <p:spPr>
          <a:xfrm>
            <a:off x="4797834" y="5148139"/>
            <a:ext cx="1214307" cy="338554"/>
          </a:xfrm>
          <a:prstGeom prst="rect">
            <a:avLst/>
          </a:prstGeom>
          <a:solidFill>
            <a:srgbClr val="FFFF99"/>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a:ea typeface="+mn-ea"/>
                <a:cs typeface="+mn-cs"/>
              </a:rPr>
              <a:t>zooplankton</a:t>
            </a:r>
          </a:p>
        </p:txBody>
      </p:sp>
      <p:sp>
        <p:nvSpPr>
          <p:cNvPr id="8" name="TextBox 7">
            <a:extLst>
              <a:ext uri="{FF2B5EF4-FFF2-40B4-BE49-F238E27FC236}">
                <a16:creationId xmlns:a16="http://schemas.microsoft.com/office/drawing/2014/main" id="{B7E4AB48-ABC1-425E-9898-0C2828FA5187}"/>
              </a:ext>
            </a:extLst>
          </p:cNvPr>
          <p:cNvSpPr txBox="1"/>
          <p:nvPr/>
        </p:nvSpPr>
        <p:spPr>
          <a:xfrm>
            <a:off x="3199506" y="6044235"/>
            <a:ext cx="1399999" cy="338554"/>
          </a:xfrm>
          <a:prstGeom prst="rect">
            <a:avLst/>
          </a:prstGeom>
          <a:solidFill>
            <a:srgbClr val="FFFF99"/>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a:ea typeface="+mn-ea"/>
                <a:cs typeface="+mn-cs"/>
              </a:rPr>
              <a:t>phytoplankton</a:t>
            </a:r>
          </a:p>
        </p:txBody>
      </p:sp>
      <p:sp>
        <p:nvSpPr>
          <p:cNvPr id="9" name="TextBox 8">
            <a:extLst>
              <a:ext uri="{FF2B5EF4-FFF2-40B4-BE49-F238E27FC236}">
                <a16:creationId xmlns:a16="http://schemas.microsoft.com/office/drawing/2014/main" id="{E620317E-35C8-40F9-8302-56DA917C0B5D}"/>
              </a:ext>
            </a:extLst>
          </p:cNvPr>
          <p:cNvSpPr txBox="1"/>
          <p:nvPr/>
        </p:nvSpPr>
        <p:spPr>
          <a:xfrm rot="19878971">
            <a:off x="1992266" y="5701525"/>
            <a:ext cx="2192781" cy="338554"/>
          </a:xfrm>
          <a:prstGeom prst="rect">
            <a:avLst/>
          </a:prstGeom>
          <a:solidFill>
            <a:schemeClr val="tx2">
              <a:lumMod val="40000"/>
              <a:lumOff val="60000"/>
            </a:scheme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a:ea typeface="+mn-ea"/>
                <a:cs typeface="+mn-cs"/>
              </a:rPr>
              <a:t>cold nutrient  rich water</a:t>
            </a:r>
          </a:p>
        </p:txBody>
      </p:sp>
      <p:sp>
        <p:nvSpPr>
          <p:cNvPr id="10" name="TextBox 9">
            <a:extLst>
              <a:ext uri="{FF2B5EF4-FFF2-40B4-BE49-F238E27FC236}">
                <a16:creationId xmlns:a16="http://schemas.microsoft.com/office/drawing/2014/main" id="{9A341BC4-77C9-4D74-A2C0-DC6536890E95}"/>
              </a:ext>
            </a:extLst>
          </p:cNvPr>
          <p:cNvSpPr txBox="1"/>
          <p:nvPr/>
        </p:nvSpPr>
        <p:spPr>
          <a:xfrm rot="20259850">
            <a:off x="2031190" y="4529329"/>
            <a:ext cx="1874296" cy="338554"/>
          </a:xfrm>
          <a:prstGeom prst="rect">
            <a:avLst/>
          </a:prstGeom>
          <a:solidFill>
            <a:schemeClr val="accent6">
              <a:lumMod val="60000"/>
              <a:lumOff val="4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a:ea typeface="+mn-ea"/>
                <a:cs typeface="+mn-cs"/>
              </a:rPr>
              <a:t>warm surface water</a:t>
            </a:r>
          </a:p>
        </p:txBody>
      </p:sp>
      <p:sp>
        <p:nvSpPr>
          <p:cNvPr id="11" name="TextBox 10">
            <a:extLst>
              <a:ext uri="{FF2B5EF4-FFF2-40B4-BE49-F238E27FC236}">
                <a16:creationId xmlns:a16="http://schemas.microsoft.com/office/drawing/2014/main" id="{3116BC07-96F4-41B8-A360-ADCA0F6141CA}"/>
              </a:ext>
            </a:extLst>
          </p:cNvPr>
          <p:cNvSpPr txBox="1"/>
          <p:nvPr/>
        </p:nvSpPr>
        <p:spPr>
          <a:xfrm>
            <a:off x="6228184" y="4565763"/>
            <a:ext cx="2539483"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GB" sz="2000" b="0" i="0" u="none" strike="noStrike" kern="1200" cap="none" spc="0" normalizeH="0" baseline="0" noProof="0" dirty="0">
                <a:ln>
                  <a:noFill/>
                </a:ln>
                <a:effectLst/>
                <a:uLnTx/>
                <a:uFillTx/>
                <a:latin typeface="Calibri"/>
                <a:ea typeface="+mn-ea"/>
                <a:cs typeface="+mn-cs"/>
              </a:rPr>
              <a:t>Primary productivity is also promoted by upwelling of cold, nutrient-rich ocean currents at continental margins</a:t>
            </a:r>
          </a:p>
        </p:txBody>
      </p:sp>
      <p:sp>
        <p:nvSpPr>
          <p:cNvPr id="13" name="Rectangle 4">
            <a:extLst>
              <a:ext uri="{FF2B5EF4-FFF2-40B4-BE49-F238E27FC236}">
                <a16:creationId xmlns:a16="http://schemas.microsoft.com/office/drawing/2014/main" id="{663EB599-6DC2-4401-B06A-742EC232BE91}"/>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3443337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www.pfeg.noaa.gov/~cwilson/fishsat/images/sherman.jpg">
            <a:extLst>
              <a:ext uri="{FF2B5EF4-FFF2-40B4-BE49-F238E27FC236}">
                <a16:creationId xmlns:a16="http://schemas.microsoft.com/office/drawing/2014/main" id="{7F8ECA6C-5C00-4D0D-8207-0D7023A8C7C1}"/>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979712" y="3143179"/>
            <a:ext cx="6984776" cy="358128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www.indiana.edu/~geol105/images/gaia_chapter_4/oceancirculation.jpg">
            <a:extLst>
              <a:ext uri="{FF2B5EF4-FFF2-40B4-BE49-F238E27FC236}">
                <a16:creationId xmlns:a16="http://schemas.microsoft.com/office/drawing/2014/main" id="{39B09DE2-BAF8-46AF-80C8-F3393F242C2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4699" y="1124745"/>
            <a:ext cx="4310453" cy="22223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A33AC42-516B-4910-BE7D-6FB628EC1FED}"/>
              </a:ext>
            </a:extLst>
          </p:cNvPr>
          <p:cNvSpPr txBox="1"/>
          <p:nvPr/>
        </p:nvSpPr>
        <p:spPr>
          <a:xfrm>
            <a:off x="4506107" y="1340768"/>
            <a:ext cx="4464496"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GB" sz="2000" b="0" i="0" u="none" strike="noStrike" kern="1200" cap="none" spc="0" normalizeH="0" baseline="0" noProof="0" dirty="0">
                <a:ln>
                  <a:noFill/>
                </a:ln>
                <a:effectLst/>
                <a:uLnTx/>
                <a:uFillTx/>
                <a:latin typeface="Calibri"/>
                <a:ea typeface="+mn-ea"/>
                <a:cs typeface="+mn-cs"/>
              </a:rPr>
              <a:t>Concentrated along the west coasts of continents in the present day.</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GB" sz="2000" b="0" i="0" u="none" strike="noStrike" kern="1200" cap="none" spc="0" normalizeH="0" baseline="0" noProof="0" dirty="0">
                <a:ln>
                  <a:noFill/>
                </a:ln>
                <a:effectLst/>
                <a:uLnTx/>
                <a:uFillTx/>
                <a:latin typeface="Calibri"/>
                <a:ea typeface="+mn-ea"/>
                <a:cs typeface="+mn-cs"/>
              </a:rPr>
              <a:t>Increased </a:t>
            </a:r>
            <a:r>
              <a:rPr kumimoji="0" lang="en-GB" sz="2000" b="0" i="0" u="none" strike="noStrike" kern="1200" cap="none" spc="0" normalizeH="0" baseline="0" noProof="0" dirty="0" err="1">
                <a:ln>
                  <a:noFill/>
                </a:ln>
                <a:effectLst/>
                <a:uLnTx/>
                <a:uFillTx/>
                <a:latin typeface="Calibri"/>
                <a:ea typeface="+mn-ea"/>
                <a:cs typeface="+mn-cs"/>
              </a:rPr>
              <a:t>phyto</a:t>
            </a:r>
            <a:r>
              <a:rPr kumimoji="0" lang="en-GB" sz="2000" b="0" i="0" u="none" strike="noStrike" kern="1200" cap="none" spc="0" normalizeH="0" baseline="0" noProof="0" dirty="0">
                <a:ln>
                  <a:noFill/>
                </a:ln>
                <a:effectLst/>
                <a:uLnTx/>
                <a:uFillTx/>
                <a:latin typeface="Calibri"/>
                <a:ea typeface="+mn-ea"/>
                <a:cs typeface="+mn-cs"/>
              </a:rPr>
              <a:t>-/zooplankton productivity</a:t>
            </a:r>
          </a:p>
        </p:txBody>
      </p:sp>
      <p:sp>
        <p:nvSpPr>
          <p:cNvPr id="7" name="Oval 6">
            <a:extLst>
              <a:ext uri="{FF2B5EF4-FFF2-40B4-BE49-F238E27FC236}">
                <a16:creationId xmlns:a16="http://schemas.microsoft.com/office/drawing/2014/main" id="{54F23AB8-B7BB-4EEC-89F7-4A3535FE504E}"/>
              </a:ext>
            </a:extLst>
          </p:cNvPr>
          <p:cNvSpPr/>
          <p:nvPr/>
        </p:nvSpPr>
        <p:spPr>
          <a:xfrm rot="14806046">
            <a:off x="4259958" y="4158154"/>
            <a:ext cx="2391752" cy="1106478"/>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4">
            <a:extLst>
              <a:ext uri="{FF2B5EF4-FFF2-40B4-BE49-F238E27FC236}">
                <a16:creationId xmlns:a16="http://schemas.microsoft.com/office/drawing/2014/main" id="{8892BB8A-EC01-4C59-A7DB-8F935B29B235}"/>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219956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FBAB6F-E01B-4600-9D0F-795275A9ED7E}"/>
              </a:ext>
            </a:extLst>
          </p:cNvPr>
          <p:cNvSpPr txBox="1"/>
          <p:nvPr/>
        </p:nvSpPr>
        <p:spPr>
          <a:xfrm>
            <a:off x="162711" y="1158131"/>
            <a:ext cx="8496944" cy="284693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0" i="0" u="none" strike="noStrike" kern="1200" cap="none" spc="0" normalizeH="0" baseline="0" noProof="0" dirty="0">
                <a:ln>
                  <a:noFill/>
                </a:ln>
                <a:effectLst/>
                <a:uLnTx/>
                <a:uFillTx/>
                <a:latin typeface="Calibri"/>
                <a:ea typeface="+mn-ea"/>
                <a:cs typeface="+mn-cs"/>
              </a:rPr>
              <a:t>Dead microorganisms settle on the seafloor, and decay according to</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endParaRPr kumimoji="0" lang="en-GB" sz="1800" b="0" i="0" u="none" strike="noStrike" kern="1200" cap="none" spc="0" normalizeH="0" baseline="0" noProof="0" dirty="0">
              <a:ln>
                <a:noFill/>
              </a:ln>
              <a:effectLst/>
              <a:uLnTx/>
              <a:uFillTx/>
              <a:latin typeface="Calibri"/>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endParaRPr kumimoji="0" lang="en-GB" sz="1800" b="0" i="0" u="none" strike="noStrike" kern="1200" cap="none" spc="0" normalizeH="0" baseline="0" noProof="0" dirty="0">
              <a:ln>
                <a:noFill/>
              </a:ln>
              <a:effectLst/>
              <a:uLnTx/>
              <a:uFillTx/>
              <a:latin typeface="Calibri"/>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endParaRPr kumimoji="0" lang="en-GB" sz="1800" b="0" i="0" u="none" strike="noStrike" kern="1200" cap="none" spc="0" normalizeH="0" baseline="0" noProof="0" dirty="0">
              <a:ln>
                <a:noFill/>
              </a:ln>
              <a:effectLst/>
              <a:uLnTx/>
              <a:uFillTx/>
              <a:latin typeface="Calibri"/>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endParaRPr kumimoji="0" lang="en-GB" sz="1800" b="0" i="0" u="none" strike="noStrike" kern="1200" cap="none" spc="0" normalizeH="0" baseline="0" noProof="0" dirty="0">
              <a:ln>
                <a:noFill/>
              </a:ln>
              <a:effectLst/>
              <a:uLnTx/>
              <a:uFillTx/>
              <a:latin typeface="Calibri"/>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0" i="0" u="none" strike="noStrike" kern="1200" cap="none" spc="0" normalizeH="0" baseline="0" noProof="0" dirty="0">
                <a:ln>
                  <a:noFill/>
                </a:ln>
                <a:effectLst/>
                <a:uLnTx/>
                <a:uFillTx/>
                <a:latin typeface="Calibri"/>
                <a:ea typeface="+mn-ea"/>
                <a:cs typeface="+mn-cs"/>
              </a:rPr>
              <a:t>High supply of dead organisms to seafloor leads to O</a:t>
            </a:r>
            <a:r>
              <a:rPr kumimoji="0" lang="en-GB" sz="1800" b="0" i="0" u="none" strike="noStrike" kern="1200" cap="none" spc="0" normalizeH="0" baseline="-25000" noProof="0" dirty="0">
                <a:ln>
                  <a:noFill/>
                </a:ln>
                <a:effectLst/>
                <a:uLnTx/>
                <a:uFillTx/>
                <a:latin typeface="Calibri"/>
                <a:ea typeface="+mn-ea"/>
                <a:cs typeface="+mn-cs"/>
              </a:rPr>
              <a:t>2 </a:t>
            </a:r>
            <a:r>
              <a:rPr kumimoji="0" lang="en-GB" sz="1800" b="0" i="0" u="none" strike="noStrike" kern="1200" cap="none" spc="0" normalizeH="0" baseline="0" noProof="0" dirty="0">
                <a:ln>
                  <a:noFill/>
                </a:ln>
                <a:effectLst/>
                <a:uLnTx/>
                <a:uFillTx/>
                <a:latin typeface="Calibri"/>
                <a:ea typeface="+mn-ea"/>
                <a:cs typeface="+mn-cs"/>
              </a:rPr>
              <a:t>demand &gt; O</a:t>
            </a:r>
            <a:r>
              <a:rPr kumimoji="0" lang="en-GB" sz="1800" b="0" i="0" u="none" strike="noStrike" kern="1200" cap="none" spc="0" normalizeH="0" baseline="-25000" noProof="0" dirty="0">
                <a:ln>
                  <a:noFill/>
                </a:ln>
                <a:effectLst/>
                <a:uLnTx/>
                <a:uFillTx/>
                <a:latin typeface="Calibri"/>
                <a:ea typeface="+mn-ea"/>
                <a:cs typeface="+mn-cs"/>
              </a:rPr>
              <a:t>2 </a:t>
            </a:r>
            <a:r>
              <a:rPr kumimoji="0" lang="en-GB" sz="1800" b="0" i="0" u="none" strike="noStrike" kern="1200" cap="none" spc="0" normalizeH="0" baseline="0" noProof="0" dirty="0">
                <a:ln>
                  <a:noFill/>
                </a:ln>
                <a:effectLst/>
                <a:uLnTx/>
                <a:uFillTx/>
                <a:latin typeface="Calibri"/>
                <a:ea typeface="+mn-ea"/>
                <a:cs typeface="+mn-cs"/>
              </a:rPr>
              <a:t>supply</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0" i="0" u="none" strike="noStrike" kern="1200" cap="none" spc="0" normalizeH="0" baseline="0" noProof="0" dirty="0">
                <a:ln>
                  <a:noFill/>
                </a:ln>
                <a:effectLst/>
                <a:uLnTx/>
                <a:uFillTx/>
                <a:latin typeface="Calibri"/>
                <a:ea typeface="+mn-ea"/>
                <a:cs typeface="+mn-cs"/>
              </a:rPr>
              <a:t>Anaerobic layer forms in lower ocean and preservation of organic matter is possible.</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1" i="0" u="sng" strike="noStrike" kern="1200" cap="none" spc="0" normalizeH="0" baseline="0" noProof="0" dirty="0">
                <a:ln>
                  <a:noFill/>
                </a:ln>
                <a:effectLst/>
                <a:uLnTx/>
                <a:uFillTx/>
                <a:latin typeface="Calibri"/>
                <a:ea typeface="+mn-ea"/>
                <a:cs typeface="+mn-cs"/>
              </a:rPr>
              <a:t>Ocean stratification and organic preservation promoted by high productivity rates.</a:t>
            </a:r>
          </a:p>
        </p:txBody>
      </p:sp>
      <p:pic>
        <p:nvPicPr>
          <p:cNvPr id="5" name="Picture 2" descr="http://worldoceanreview.com/en/files/2010/10/k2_wk_sauerstoffmangel_e_en.jpg">
            <a:extLst>
              <a:ext uri="{FF2B5EF4-FFF2-40B4-BE49-F238E27FC236}">
                <a16:creationId xmlns:a16="http://schemas.microsoft.com/office/drawing/2014/main" id="{D74776D4-3B6D-4C66-9B47-648AE815EA1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1499" y="4005064"/>
            <a:ext cx="6043853" cy="27992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9D1D13-339E-4719-A890-FF1848E63E3C}"/>
              </a:ext>
            </a:extLst>
          </p:cNvPr>
          <p:cNvSpPr txBox="1"/>
          <p:nvPr/>
        </p:nvSpPr>
        <p:spPr>
          <a:xfrm>
            <a:off x="883692" y="1772816"/>
            <a:ext cx="6552728"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6CO</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2</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   6H</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2</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0       </a:t>
            </a:r>
            <a:r>
              <a:rPr kumimoji="0" lang="en-GB" sz="2000" b="0" i="0" u="none" strike="noStrike" kern="1200" cap="none" spc="0" normalizeH="0" baseline="0" noProof="0" dirty="0">
                <a:ln>
                  <a:noFill/>
                </a:ln>
                <a:solidFill>
                  <a:prstClr val="black"/>
                </a:solidFill>
                <a:effectLst/>
                <a:uLnTx/>
                <a:uFillTx/>
                <a:latin typeface="Calibri"/>
                <a:ea typeface="+mn-ea"/>
                <a:cs typeface="+mn-cs"/>
              </a:rPr>
              <a:t>↔</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C</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6</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H</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12</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O</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6</a:t>
            </a: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     6O</a:t>
            </a:r>
            <a:r>
              <a:rPr kumimoji="0" lang="en-GB" sz="2000" b="0" i="1" u="none" strike="noStrike" kern="1200" cap="none" spc="0" normalizeH="0" baseline="-25000" noProof="0" dirty="0">
                <a:ln>
                  <a:noFill/>
                </a:ln>
                <a:solidFill>
                  <a:prstClr val="black"/>
                </a:solidFill>
                <a:effectLst/>
                <a:uLnTx/>
                <a:uFillTx/>
                <a:latin typeface="Book Antiqua" pitchFamily="18" charset="0"/>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prstClr val="black"/>
                </a:solidFill>
                <a:effectLst/>
                <a:uLnTx/>
                <a:uFillTx/>
                <a:latin typeface="Book Antiqua" pitchFamily="18" charset="0"/>
                <a:ea typeface="+mn-ea"/>
                <a:cs typeface="+mn-cs"/>
              </a:rPr>
              <a:t>   Carbon dioxide   Water              Carbohydrate   Oxygen</a:t>
            </a:r>
            <a:endParaRPr kumimoji="0" lang="en-GB" sz="2000" b="0" i="0" u="none" strike="noStrike" kern="1200" cap="none" spc="0" normalizeH="0" baseline="0" noProof="0" dirty="0">
              <a:ln>
                <a:noFill/>
              </a:ln>
              <a:solidFill>
                <a:prstClr val="black"/>
              </a:solidFill>
              <a:effectLst/>
              <a:uLnTx/>
              <a:uFillTx/>
              <a:latin typeface="Book Antiqua"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Book Antiqua" pitchFamily="18" charset="0"/>
              <a:ea typeface="+mn-ea"/>
              <a:cs typeface="+mn-cs"/>
            </a:endParaRPr>
          </a:p>
        </p:txBody>
      </p:sp>
      <p:cxnSp>
        <p:nvCxnSpPr>
          <p:cNvPr id="7" name="Straight Arrow Connector 6">
            <a:extLst>
              <a:ext uri="{FF2B5EF4-FFF2-40B4-BE49-F238E27FC236}">
                <a16:creationId xmlns:a16="http://schemas.microsoft.com/office/drawing/2014/main" id="{427E0457-A841-4264-A4B1-39DF0C25CF8B}"/>
              </a:ext>
            </a:extLst>
          </p:cNvPr>
          <p:cNvCxnSpPr/>
          <p:nvPr/>
        </p:nvCxnSpPr>
        <p:spPr bwMode="auto">
          <a:xfrm flipH="1">
            <a:off x="3079936" y="2636912"/>
            <a:ext cx="2664296" cy="0"/>
          </a:xfrm>
          <a:prstGeom prst="straightConnector1">
            <a:avLst/>
          </a:prstGeom>
          <a:solidFill>
            <a:schemeClr val="accent1"/>
          </a:solidFill>
          <a:ln w="57150" cap="flat" cmpd="sng" algn="ctr">
            <a:solidFill>
              <a:srgbClr val="FF0000"/>
            </a:solidFill>
            <a:prstDash val="solid"/>
            <a:round/>
            <a:headEnd type="none" w="med" len="med"/>
            <a:tailEnd type="arrow"/>
          </a:ln>
          <a:effectLst/>
        </p:spPr>
      </p:cxnSp>
      <p:pic>
        <p:nvPicPr>
          <p:cNvPr id="8" name="Picture 4" descr="http://www.pfeg.noaa.gov/~cwilson/fishsat/images/sherman.jpg">
            <a:extLst>
              <a:ext uri="{FF2B5EF4-FFF2-40B4-BE49-F238E27FC236}">
                <a16:creationId xmlns:a16="http://schemas.microsoft.com/office/drawing/2014/main" id="{DDC465C9-E14E-470F-85D8-A2AF79FAC47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012160" y="4513780"/>
            <a:ext cx="3056733" cy="156727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
            <a:extLst>
              <a:ext uri="{FF2B5EF4-FFF2-40B4-BE49-F238E27FC236}">
                <a16:creationId xmlns:a16="http://schemas.microsoft.com/office/drawing/2014/main" id="{8B6958C6-5FA0-4DFA-B125-9E246AEE85FA}"/>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318844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B741EE9-68A2-4D85-A499-DE88BC025233}"/>
              </a:ext>
            </a:extLst>
          </p:cNvPr>
          <p:cNvGrpSpPr/>
          <p:nvPr/>
        </p:nvGrpSpPr>
        <p:grpSpPr>
          <a:xfrm>
            <a:off x="479340" y="3332908"/>
            <a:ext cx="8288327" cy="3408457"/>
            <a:chOff x="129661" y="908720"/>
            <a:chExt cx="8834827" cy="3960440"/>
          </a:xfrm>
        </p:grpSpPr>
        <p:pic>
          <p:nvPicPr>
            <p:cNvPr id="5" name="Picture 2">
              <a:extLst>
                <a:ext uri="{FF2B5EF4-FFF2-40B4-BE49-F238E27FC236}">
                  <a16:creationId xmlns:a16="http://schemas.microsoft.com/office/drawing/2014/main" id="{C0229021-562F-4CC7-B028-1223A36AC5B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129661" y="908720"/>
              <a:ext cx="8834827"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F50444D4-459F-4498-B82E-ED70F5B3DBCA}"/>
                </a:ext>
              </a:extLst>
            </p:cNvPr>
            <p:cNvSpPr/>
            <p:nvPr/>
          </p:nvSpPr>
          <p:spPr>
            <a:xfrm>
              <a:off x="4940490" y="3862316"/>
              <a:ext cx="1624083" cy="286603"/>
            </a:xfrm>
            <a:prstGeom prst="rect">
              <a:avLst/>
            </a:prstGeom>
            <a:noFill/>
            <a:ln w="3810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D746C542-E3F8-438D-8391-738B05AD8D80}"/>
                </a:ext>
              </a:extLst>
            </p:cNvPr>
            <p:cNvSpPr/>
            <p:nvPr/>
          </p:nvSpPr>
          <p:spPr>
            <a:xfrm>
              <a:off x="4938667" y="1048968"/>
              <a:ext cx="1624083" cy="286603"/>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8" name="TextBox 7">
            <a:extLst>
              <a:ext uri="{FF2B5EF4-FFF2-40B4-BE49-F238E27FC236}">
                <a16:creationId xmlns:a16="http://schemas.microsoft.com/office/drawing/2014/main" id="{E75D8095-4615-46C6-92C2-8E5D25EC3BB2}"/>
              </a:ext>
            </a:extLst>
          </p:cNvPr>
          <p:cNvSpPr txBox="1"/>
          <p:nvPr/>
        </p:nvSpPr>
        <p:spPr>
          <a:xfrm>
            <a:off x="163612" y="1268760"/>
            <a:ext cx="8496944" cy="233910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0" i="0" u="none" strike="noStrike" kern="1200" cap="none" spc="0" normalizeH="0" baseline="0" noProof="0" dirty="0">
                <a:ln>
                  <a:noFill/>
                </a:ln>
                <a:effectLst/>
                <a:uLnTx/>
                <a:uFillTx/>
                <a:latin typeface="Calibri"/>
                <a:ea typeface="+mn-ea"/>
                <a:cs typeface="+mn-cs"/>
              </a:rPr>
              <a:t>Development of anoxic bottom waters are also promoted in restricted, poorly connected seaways and lakes</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0" i="0" u="none" strike="noStrike" kern="1200" cap="none" spc="0" normalizeH="0" baseline="0" noProof="0" dirty="0">
                <a:ln>
                  <a:noFill/>
                </a:ln>
                <a:effectLst/>
                <a:uLnTx/>
                <a:uFillTx/>
                <a:latin typeface="Calibri"/>
                <a:ea typeface="+mn-ea"/>
                <a:cs typeface="+mn-cs"/>
              </a:rPr>
              <a:t>Dead organisms settle on sea/lake floor, and consume oxygen during decomposition.</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0" i="0" u="none" strike="noStrike" kern="1200" cap="none" spc="0" normalizeH="0" baseline="0" noProof="0" dirty="0">
                <a:ln>
                  <a:noFill/>
                </a:ln>
                <a:effectLst/>
                <a:uLnTx/>
                <a:uFillTx/>
                <a:latin typeface="Calibri"/>
                <a:ea typeface="+mn-ea"/>
                <a:cs typeface="+mn-cs"/>
              </a:rPr>
              <a:t>Absence of major currents inhibit mixing of oxygen downwards, and an O2 concentration gradient quickly develops.</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1800" b="1" i="0" u="sng" strike="noStrike" kern="1200" cap="none" spc="0" normalizeH="0" baseline="0" noProof="0" dirty="0">
                <a:ln>
                  <a:noFill/>
                </a:ln>
                <a:effectLst/>
                <a:uLnTx/>
                <a:uFillTx/>
                <a:latin typeface="Calibri"/>
                <a:ea typeface="+mn-ea"/>
                <a:cs typeface="+mn-cs"/>
              </a:rPr>
              <a:t>Stratification and organic preservation promoted by poor mixing.</a:t>
            </a:r>
          </a:p>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endParaRPr kumimoji="0" lang="en-GB" sz="1800" b="0" i="0" u="none" strike="noStrike" kern="1200" cap="none" spc="0" normalizeH="0" baseline="0" noProof="0" dirty="0">
              <a:ln>
                <a:noFill/>
              </a:ln>
              <a:effectLst/>
              <a:uLnTx/>
              <a:uFillTx/>
              <a:latin typeface="Calibri"/>
              <a:ea typeface="+mn-ea"/>
              <a:cs typeface="+mn-cs"/>
            </a:endParaRPr>
          </a:p>
        </p:txBody>
      </p:sp>
      <p:sp>
        <p:nvSpPr>
          <p:cNvPr id="10" name="Rectangle 4">
            <a:extLst>
              <a:ext uri="{FF2B5EF4-FFF2-40B4-BE49-F238E27FC236}">
                <a16:creationId xmlns:a16="http://schemas.microsoft.com/office/drawing/2014/main" id="{C8F57271-81E1-4602-8574-68C71F35FF52}"/>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1287677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orldoceanreview.com/en/files/2010/10/k2_wk_sauerstoffmangel_e_en.jpg">
            <a:extLst>
              <a:ext uri="{FF2B5EF4-FFF2-40B4-BE49-F238E27FC236}">
                <a16:creationId xmlns:a16="http://schemas.microsoft.com/office/drawing/2014/main" id="{66DA0129-C80C-4FAD-8F85-3C9CE887EC6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555" y="1412776"/>
            <a:ext cx="8997817" cy="4167411"/>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2BD12C7E-C23C-4C60-866E-07E4EEEC697B}"/>
              </a:ext>
            </a:extLst>
          </p:cNvPr>
          <p:cNvSpPr/>
          <p:nvPr/>
        </p:nvSpPr>
        <p:spPr>
          <a:xfrm rot="14806046">
            <a:off x="1961183" y="2027779"/>
            <a:ext cx="839405" cy="669538"/>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0EC07943-1ADA-4078-B37E-E6E87B02799A}"/>
              </a:ext>
            </a:extLst>
          </p:cNvPr>
          <p:cNvSpPr txBox="1"/>
          <p:nvPr/>
        </p:nvSpPr>
        <p:spPr>
          <a:xfrm>
            <a:off x="106633" y="5948119"/>
            <a:ext cx="8496944" cy="43088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itchFamily="34" charset="0"/>
              <a:buChar char="•"/>
              <a:tabLst/>
              <a:defRPr/>
            </a:pPr>
            <a:r>
              <a:rPr kumimoji="0" lang="en-GB" sz="2200" b="0" i="0" u="none" strike="noStrike" kern="1200" cap="none" spc="0" normalizeH="0" baseline="0" noProof="0" dirty="0">
                <a:ln>
                  <a:noFill/>
                </a:ln>
                <a:effectLst/>
                <a:uLnTx/>
                <a:uFillTx/>
                <a:latin typeface="Calibri"/>
                <a:ea typeface="+mn-ea"/>
                <a:cs typeface="+mn-cs"/>
              </a:rPr>
              <a:t>E.g. the Black and Baltic seas in the present day.</a:t>
            </a:r>
          </a:p>
        </p:txBody>
      </p:sp>
      <p:sp>
        <p:nvSpPr>
          <p:cNvPr id="8" name="Rectangle 4">
            <a:extLst>
              <a:ext uri="{FF2B5EF4-FFF2-40B4-BE49-F238E27FC236}">
                <a16:creationId xmlns:a16="http://schemas.microsoft.com/office/drawing/2014/main" id="{89F55F1D-1976-4CFB-8164-040FE5361255}"/>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1768048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dorsetgeologistsassociation.com/RWG/index/Rope_Lake_Head_docu.jpg">
            <a:extLst>
              <a:ext uri="{FF2B5EF4-FFF2-40B4-BE49-F238E27FC236}">
                <a16:creationId xmlns:a16="http://schemas.microsoft.com/office/drawing/2014/main" id="{FD410358-4440-4AFF-A652-538B2640C142}"/>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0" y="1052736"/>
            <a:ext cx="9147654" cy="58052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6BCBCE8-3966-4CF2-B756-3ED98C2E6274}"/>
              </a:ext>
            </a:extLst>
          </p:cNvPr>
          <p:cNvSpPr txBox="1"/>
          <p:nvPr/>
        </p:nvSpPr>
        <p:spPr>
          <a:xfrm>
            <a:off x="71477" y="1117758"/>
            <a:ext cx="8784826" cy="1323439"/>
          </a:xfrm>
          <a:prstGeom prst="rect">
            <a:avLst/>
          </a:prstGeom>
          <a:solidFill>
            <a:schemeClr val="bg1"/>
          </a:solidFill>
        </p:spPr>
        <p:txBody>
          <a:bodyPr wrap="square" rtlCol="0">
            <a:spAutoFit/>
          </a:bodyPr>
          <a:lstStyle/>
          <a:p>
            <a:pPr marL="342900" indent="-342900" eaLnBrk="1" fontAlgn="auto" hangingPunct="1">
              <a:spcBef>
                <a:spcPts val="0"/>
              </a:spcBef>
              <a:spcAft>
                <a:spcPts val="0"/>
              </a:spcAft>
              <a:buFont typeface="Arial" panose="020B0604020202020204" pitchFamily="34" charset="0"/>
              <a:buChar char="•"/>
              <a:defRPr/>
            </a:pPr>
            <a:r>
              <a:rPr lang="en-GB" sz="2000" dirty="0">
                <a:latin typeface="Calibri"/>
              </a:rPr>
              <a:t>To make rocks that are enriched in organic matter, an absence of clastic or carbonate sedimentation is preferable, since these “dilute” the organic matter.</a:t>
            </a:r>
          </a:p>
          <a:p>
            <a:pPr marL="342900" lvl="0" indent="-342900" eaLnBrk="1" fontAlgn="auto" hangingPunct="1">
              <a:spcBef>
                <a:spcPts val="0"/>
              </a:spcBef>
              <a:spcAft>
                <a:spcPts val="0"/>
              </a:spcAft>
              <a:buFont typeface="Arial" panose="020B0604020202020204" pitchFamily="34" charset="0"/>
              <a:buChar char="•"/>
              <a:defRPr/>
            </a:pPr>
            <a:r>
              <a:rPr lang="en-GB" sz="2000" dirty="0">
                <a:latin typeface="Calibri"/>
                <a:ea typeface="+mn-ea"/>
                <a:sym typeface="Wingdings" pitchFamily="2" charset="2"/>
              </a:rPr>
              <a:t>R</a:t>
            </a:r>
            <a:r>
              <a:rPr kumimoji="0" lang="en-GB" sz="2000" i="0" u="none" strike="noStrike" kern="1200" cap="none" spc="0" normalizeH="0" baseline="0" noProof="0" dirty="0" err="1">
                <a:ln>
                  <a:noFill/>
                </a:ln>
                <a:effectLst/>
                <a:uLnTx/>
                <a:uFillTx/>
                <a:latin typeface="Calibri"/>
                <a:ea typeface="+mn-ea"/>
                <a:cs typeface="+mn-cs"/>
                <a:sym typeface="Wingdings" pitchFamily="2" charset="2"/>
              </a:rPr>
              <a:t>eferred</a:t>
            </a:r>
            <a:r>
              <a:rPr kumimoji="0" lang="en-GB" sz="2000" i="0" u="none" strike="noStrike" kern="1200" cap="none" spc="0" normalizeH="0" baseline="0" noProof="0" dirty="0">
                <a:ln>
                  <a:noFill/>
                </a:ln>
                <a:effectLst/>
                <a:uLnTx/>
                <a:uFillTx/>
                <a:latin typeface="Calibri"/>
                <a:ea typeface="+mn-ea"/>
                <a:cs typeface="+mn-cs"/>
                <a:sym typeface="Wingdings" pitchFamily="2" charset="2"/>
              </a:rPr>
              <a:t> to as “</a:t>
            </a:r>
            <a:r>
              <a:rPr kumimoji="0" lang="en-GB" sz="2000" i="0" u="sng" strike="noStrike" kern="1200" cap="none" spc="0" normalizeH="0" baseline="0" noProof="0" dirty="0">
                <a:ln>
                  <a:noFill/>
                </a:ln>
                <a:effectLst/>
                <a:uLnTx/>
                <a:uFillTx/>
                <a:latin typeface="Calibri"/>
                <a:ea typeface="+mn-ea"/>
                <a:cs typeface="+mn-cs"/>
                <a:sym typeface="Wingdings" pitchFamily="2" charset="2"/>
              </a:rPr>
              <a:t>source rocks</a:t>
            </a:r>
            <a:r>
              <a:rPr kumimoji="0" lang="en-GB" sz="2000" i="0" u="none" strike="noStrike" kern="1200" cap="none" spc="0" normalizeH="0" baseline="0" noProof="0" dirty="0">
                <a:ln>
                  <a:noFill/>
                </a:ln>
                <a:effectLst/>
                <a:uLnTx/>
                <a:uFillTx/>
                <a:latin typeface="Calibri"/>
                <a:ea typeface="+mn-ea"/>
                <a:cs typeface="+mn-cs"/>
                <a:sym typeface="Wingdings" pitchFamily="2" charset="2"/>
              </a:rPr>
              <a:t>”, because the organic matter degrades to </a:t>
            </a:r>
            <a:r>
              <a:rPr lang="en-GB" sz="2000" u="sng" dirty="0">
                <a:latin typeface="Calibri"/>
                <a:ea typeface="+mn-ea"/>
                <a:sym typeface="Wingdings" pitchFamily="2" charset="2"/>
              </a:rPr>
              <a:t>k</a:t>
            </a:r>
            <a:r>
              <a:rPr kumimoji="0" lang="en-GB" sz="2000" i="0" u="sng" strike="noStrike" kern="1200" cap="none" spc="0" normalizeH="0" baseline="0" noProof="0" dirty="0" err="1">
                <a:ln>
                  <a:noFill/>
                </a:ln>
                <a:effectLst/>
                <a:uLnTx/>
                <a:uFillTx/>
                <a:latin typeface="Calibri"/>
                <a:ea typeface="+mn-ea"/>
                <a:cs typeface="+mn-cs"/>
                <a:sym typeface="Wingdings" pitchFamily="2" charset="2"/>
              </a:rPr>
              <a:t>erogens</a:t>
            </a:r>
            <a:r>
              <a:rPr kumimoji="0" lang="en-GB" sz="2000" i="0" u="none" strike="noStrike" kern="1200" cap="none" spc="0" normalizeH="0" baseline="0" noProof="0" dirty="0">
                <a:ln>
                  <a:noFill/>
                </a:ln>
                <a:effectLst/>
                <a:uLnTx/>
                <a:uFillTx/>
                <a:latin typeface="Calibri"/>
                <a:ea typeface="+mn-ea"/>
                <a:cs typeface="+mn-cs"/>
                <a:sym typeface="Wingdings" pitchFamily="2" charset="2"/>
              </a:rPr>
              <a:t>, which are the source of oil and gas </a:t>
            </a:r>
            <a:r>
              <a:rPr lang="en-GB" sz="2000" dirty="0">
                <a:latin typeface="Calibri"/>
                <a:sym typeface="Wingdings" pitchFamily="2" charset="2"/>
              </a:rPr>
              <a:t>(Vicky’s lectures)</a:t>
            </a:r>
            <a:r>
              <a:rPr kumimoji="0" lang="en-GB" sz="2000" i="0" u="none" strike="noStrike" kern="1200" cap="none" spc="0" normalizeH="0" baseline="0" noProof="0" dirty="0">
                <a:ln>
                  <a:noFill/>
                </a:ln>
                <a:effectLst/>
                <a:uLnTx/>
                <a:uFillTx/>
                <a:latin typeface="Calibri"/>
                <a:ea typeface="+mn-ea"/>
                <a:cs typeface="+mn-cs"/>
                <a:sym typeface="Wingdings" pitchFamily="2" charset="2"/>
              </a:rPr>
              <a:t>.</a:t>
            </a:r>
          </a:p>
        </p:txBody>
      </p:sp>
      <p:sp>
        <p:nvSpPr>
          <p:cNvPr id="6" name="TextBox 5">
            <a:extLst>
              <a:ext uri="{FF2B5EF4-FFF2-40B4-BE49-F238E27FC236}">
                <a16:creationId xmlns:a16="http://schemas.microsoft.com/office/drawing/2014/main" id="{DEDF16D6-1EF4-47D6-9ED6-C663A67C0C16}"/>
              </a:ext>
            </a:extLst>
          </p:cNvPr>
          <p:cNvSpPr txBox="1"/>
          <p:nvPr/>
        </p:nvSpPr>
        <p:spPr>
          <a:xfrm>
            <a:off x="151002" y="6001548"/>
            <a:ext cx="8850385" cy="707886"/>
          </a:xfrm>
          <a:prstGeom prst="rect">
            <a:avLst/>
          </a:prstGeom>
          <a:solidFill>
            <a:schemeClr val="bg1"/>
          </a:solid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i="0" u="none" strike="noStrike" kern="1200" cap="none" spc="0" normalizeH="0" baseline="0" noProof="0" dirty="0">
                <a:ln>
                  <a:noFill/>
                </a:ln>
                <a:effectLst/>
                <a:uLnTx/>
                <a:uFillTx/>
                <a:latin typeface="Calibri"/>
                <a:ea typeface="+mn-ea"/>
                <a:cs typeface="+mn-cs"/>
                <a:sym typeface="Wingdings" pitchFamily="2" charset="2"/>
              </a:rPr>
              <a:t>E.g. the Kimmeridge Clay (Middle Jurassic, c.155 Ma), here exposed in SW England, is </a:t>
            </a:r>
            <a:r>
              <a:rPr lang="en-GB" sz="2000" dirty="0">
                <a:latin typeface="Calibri"/>
                <a:ea typeface="+mn-ea"/>
                <a:sym typeface="Wingdings" pitchFamily="2" charset="2"/>
              </a:rPr>
              <a:t>a</a:t>
            </a:r>
            <a:r>
              <a:rPr kumimoji="0" lang="en-GB" sz="2000" i="0" u="none" strike="noStrike" kern="1200" cap="none" spc="0" normalizeH="0" baseline="0" noProof="0" dirty="0">
                <a:ln>
                  <a:noFill/>
                </a:ln>
                <a:effectLst/>
                <a:uLnTx/>
                <a:uFillTx/>
                <a:latin typeface="Calibri"/>
                <a:ea typeface="+mn-ea"/>
                <a:cs typeface="+mn-cs"/>
                <a:sym typeface="Wingdings" pitchFamily="2" charset="2"/>
              </a:rPr>
              <a:t> major source rock in the North Sea oil and gas fields.</a:t>
            </a:r>
          </a:p>
        </p:txBody>
      </p:sp>
      <p:sp>
        <p:nvSpPr>
          <p:cNvPr id="8" name="Rectangle 4">
            <a:extLst>
              <a:ext uri="{FF2B5EF4-FFF2-40B4-BE49-F238E27FC236}">
                <a16:creationId xmlns:a16="http://schemas.microsoft.com/office/drawing/2014/main" id="{B74DFB15-0DA4-4932-80EA-A8342F1BD892}"/>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5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Organic muds (the sediment) and black shales (the rock)</a:t>
            </a:r>
          </a:p>
        </p:txBody>
      </p:sp>
    </p:spTree>
    <p:extLst>
      <p:ext uri="{BB962C8B-B14F-4D97-AF65-F5344CB8AC3E}">
        <p14:creationId xmlns:p14="http://schemas.microsoft.com/office/powerpoint/2010/main" val="435306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900C6758-488A-49C3-A0E9-EEF3CFD19B32}"/>
              </a:ext>
            </a:extLst>
          </p:cNvPr>
          <p:cNvSpPr>
            <a:spLocks noGrp="1" noChangeArrowheads="1"/>
          </p:cNvSpPr>
          <p:nvPr>
            <p:ph type="body" idx="1"/>
          </p:nvPr>
        </p:nvSpPr>
        <p:spPr>
          <a:xfrm>
            <a:off x="163513" y="1104900"/>
            <a:ext cx="4530725" cy="5567363"/>
          </a:xfrm>
        </p:spPr>
        <p:txBody>
          <a:bodyPr/>
          <a:lstStyle/>
          <a:p>
            <a:pPr eaLnBrk="1" hangingPunct="1">
              <a:lnSpc>
                <a:spcPct val="90000"/>
              </a:lnSpc>
            </a:pPr>
            <a:r>
              <a:rPr lang="en-GB" altLang="en-US" sz="2000" b="1" dirty="0">
                <a:solidFill>
                  <a:schemeClr val="tx1"/>
                </a:solidFill>
                <a:latin typeface="Calibri" panose="020F0502020204030204" pitchFamily="34" charset="0"/>
              </a:rPr>
              <a:t>The major biological sediment, and sedimentary rock type generated in marine (and lake) settings are carbonates.</a:t>
            </a:r>
          </a:p>
          <a:p>
            <a:pPr eaLnBrk="1" hangingPunct="1">
              <a:lnSpc>
                <a:spcPct val="90000"/>
              </a:lnSpc>
            </a:pPr>
            <a:endParaRPr lang="en-GB" altLang="en-US" sz="2000" b="1" dirty="0">
              <a:solidFill>
                <a:schemeClr val="tx1"/>
              </a:solidFill>
              <a:latin typeface="Calibri" panose="020F0502020204030204" pitchFamily="34" charset="0"/>
            </a:endParaRPr>
          </a:p>
          <a:p>
            <a:pPr eaLnBrk="1" hangingPunct="1">
              <a:lnSpc>
                <a:spcPct val="90000"/>
              </a:lnSpc>
            </a:pPr>
            <a:r>
              <a:rPr lang="en-GB" altLang="en-US" sz="2000" b="1" dirty="0">
                <a:solidFill>
                  <a:schemeClr val="tx1"/>
                </a:solidFill>
                <a:latin typeface="Calibri" panose="020F0502020204030204" pitchFamily="34" charset="0"/>
              </a:rPr>
              <a:t>Carbonates are mainly limestone (CaCO</a:t>
            </a:r>
            <a:r>
              <a:rPr lang="en-GB" altLang="en-US" sz="2000" b="1" baseline="-25000" dirty="0">
                <a:solidFill>
                  <a:schemeClr val="tx1"/>
                </a:solidFill>
                <a:latin typeface="Calibri" panose="020F0502020204030204" pitchFamily="34" charset="0"/>
              </a:rPr>
              <a:t>3</a:t>
            </a:r>
            <a:r>
              <a:rPr lang="en-GB" altLang="en-US" sz="2000" b="1" dirty="0">
                <a:solidFill>
                  <a:schemeClr val="tx1"/>
                </a:solidFill>
                <a:latin typeface="Calibri" panose="020F0502020204030204" pitchFamily="34" charset="0"/>
              </a:rPr>
              <a:t>) and dolomite (</a:t>
            </a:r>
            <a:r>
              <a:rPr lang="en-GB" altLang="en-US" sz="2000" b="1" dirty="0" err="1">
                <a:solidFill>
                  <a:schemeClr val="tx1"/>
                </a:solidFill>
                <a:latin typeface="Calibri" panose="020F0502020204030204" pitchFamily="34" charset="0"/>
              </a:rPr>
              <a:t>CaMg</a:t>
            </a:r>
            <a:r>
              <a:rPr lang="en-GB" altLang="en-US" sz="2000" b="1" dirty="0">
                <a:solidFill>
                  <a:schemeClr val="tx1"/>
                </a:solidFill>
                <a:latin typeface="Calibri" panose="020F0502020204030204" pitchFamily="34" charset="0"/>
              </a:rPr>
              <a:t>(CO</a:t>
            </a:r>
            <a:r>
              <a:rPr lang="en-GB" altLang="en-US" sz="2000" b="1" baseline="-25000" dirty="0">
                <a:solidFill>
                  <a:schemeClr val="tx1"/>
                </a:solidFill>
                <a:latin typeface="Calibri" panose="020F0502020204030204" pitchFamily="34" charset="0"/>
              </a:rPr>
              <a:t>3</a:t>
            </a:r>
            <a:r>
              <a:rPr lang="en-GB" altLang="en-US" sz="2000" b="1" dirty="0">
                <a:solidFill>
                  <a:schemeClr val="tx1"/>
                </a:solidFill>
                <a:latin typeface="Calibri" panose="020F0502020204030204" pitchFamily="34" charset="0"/>
              </a:rPr>
              <a:t>)</a:t>
            </a:r>
            <a:r>
              <a:rPr lang="en-GB" altLang="en-US" sz="2000" b="1" baseline="-25000" dirty="0">
                <a:solidFill>
                  <a:schemeClr val="tx1"/>
                </a:solidFill>
                <a:latin typeface="Calibri" panose="020F0502020204030204" pitchFamily="34" charset="0"/>
              </a:rPr>
              <a:t>2</a:t>
            </a:r>
            <a:r>
              <a:rPr lang="en-GB" altLang="en-US" sz="2000" b="1" dirty="0">
                <a:solidFill>
                  <a:schemeClr val="tx1"/>
                </a:solidFill>
                <a:latin typeface="Calibri" panose="020F0502020204030204" pitchFamily="34" charset="0"/>
              </a:rPr>
              <a:t>) (others exist).</a:t>
            </a:r>
          </a:p>
          <a:p>
            <a:pPr marL="457200" lvl="1" indent="0" eaLnBrk="1" hangingPunct="1">
              <a:lnSpc>
                <a:spcPct val="90000"/>
              </a:lnSpc>
              <a:buFontTx/>
              <a:buNone/>
            </a:pPr>
            <a:r>
              <a:rPr lang="en-GB" altLang="en-US" sz="2000" dirty="0">
                <a:solidFill>
                  <a:schemeClr val="tx1"/>
                </a:solidFill>
                <a:latin typeface="Calibri" panose="020F0502020204030204" pitchFamily="34" charset="0"/>
                <a:sym typeface="Wingdings" panose="05000000000000000000" pitchFamily="2" charset="2"/>
              </a:rPr>
              <a:t>precipitation largely mediated biologically, by the extraction of Ca, Mg, C and O dissolved in water.</a:t>
            </a:r>
          </a:p>
          <a:p>
            <a:pPr marL="457200" lvl="1" indent="0" eaLnBrk="1" hangingPunct="1">
              <a:lnSpc>
                <a:spcPct val="90000"/>
              </a:lnSpc>
              <a:buFontTx/>
              <a:buNone/>
            </a:pPr>
            <a:endParaRPr lang="en-GB" altLang="en-US" sz="2000" dirty="0">
              <a:solidFill>
                <a:schemeClr val="tx1"/>
              </a:solidFill>
              <a:latin typeface="Calibri" panose="020F0502020204030204" pitchFamily="34" charset="0"/>
              <a:sym typeface="Wingdings" panose="05000000000000000000" pitchFamily="2" charset="2"/>
            </a:endParaRPr>
          </a:p>
          <a:p>
            <a:pPr eaLnBrk="1" hangingPunct="1">
              <a:lnSpc>
                <a:spcPct val="90000"/>
              </a:lnSpc>
            </a:pPr>
            <a:r>
              <a:rPr lang="en-GB" altLang="en-US" sz="2000" b="1" dirty="0">
                <a:solidFill>
                  <a:schemeClr val="tx1"/>
                </a:solidFill>
                <a:latin typeface="Calibri" panose="020F0502020204030204" pitchFamily="34" charset="0"/>
                <a:sym typeface="Wingdings" panose="05000000000000000000" pitchFamily="2" charset="2"/>
              </a:rPr>
              <a:t>Much less commonly, some organisms form shells from silica (SiO</a:t>
            </a:r>
            <a:r>
              <a:rPr lang="en-GB" altLang="en-US" sz="2000" b="1" baseline="-25000" dirty="0">
                <a:solidFill>
                  <a:schemeClr val="tx1"/>
                </a:solidFill>
                <a:latin typeface="Calibri" panose="020F0502020204030204" pitchFamily="34" charset="0"/>
                <a:sym typeface="Wingdings" panose="05000000000000000000" pitchFamily="2" charset="2"/>
              </a:rPr>
              <a:t>2</a:t>
            </a:r>
            <a:r>
              <a:rPr lang="en-GB" altLang="en-US" sz="2000" b="1" dirty="0">
                <a:solidFill>
                  <a:schemeClr val="tx1"/>
                </a:solidFill>
                <a:latin typeface="Calibri" panose="020F0502020204030204" pitchFamily="34" charset="0"/>
                <a:sym typeface="Wingdings" panose="05000000000000000000" pitchFamily="2" charset="2"/>
              </a:rPr>
              <a:t>), e.g. </a:t>
            </a:r>
            <a:r>
              <a:rPr lang="en-GB" altLang="en-US" sz="2000" b="1" dirty="0" err="1">
                <a:solidFill>
                  <a:schemeClr val="tx1"/>
                </a:solidFill>
                <a:latin typeface="Calibri" panose="020F0502020204030204" pitchFamily="34" charset="0"/>
                <a:sym typeface="Wingdings" panose="05000000000000000000" pitchFamily="2" charset="2"/>
              </a:rPr>
              <a:t>radiolaria</a:t>
            </a:r>
            <a:r>
              <a:rPr lang="en-GB" altLang="en-US" sz="2000" b="1" dirty="0">
                <a:solidFill>
                  <a:schemeClr val="tx1"/>
                </a:solidFill>
                <a:latin typeface="Calibri" panose="020F0502020204030204" pitchFamily="34" charset="0"/>
                <a:sym typeface="Wingdings" panose="05000000000000000000" pitchFamily="2" charset="2"/>
              </a:rPr>
              <a:t>.</a:t>
            </a:r>
          </a:p>
          <a:p>
            <a:pPr marL="457200" lvl="1" indent="0" eaLnBrk="1" hangingPunct="1">
              <a:lnSpc>
                <a:spcPct val="90000"/>
              </a:lnSpc>
              <a:buFontTx/>
              <a:buNone/>
            </a:pPr>
            <a:endParaRPr lang="en-GB" altLang="en-US" sz="2000" b="1" dirty="0">
              <a:solidFill>
                <a:schemeClr val="tx1"/>
              </a:solidFill>
              <a:latin typeface="Calibri" panose="020F0502020204030204" pitchFamily="34" charset="0"/>
              <a:sym typeface="Wingdings" panose="05000000000000000000" pitchFamily="2" charset="2"/>
            </a:endParaRPr>
          </a:p>
          <a:p>
            <a:pPr eaLnBrk="1" hangingPunct="1">
              <a:lnSpc>
                <a:spcPct val="90000"/>
              </a:lnSpc>
            </a:pPr>
            <a:r>
              <a:rPr lang="en-US" altLang="en-US" sz="2000" b="1" dirty="0">
                <a:solidFill>
                  <a:schemeClr val="tx1"/>
                </a:solidFill>
                <a:latin typeface="Calibri" panose="020F0502020204030204" pitchFamily="34" charset="0"/>
              </a:rPr>
              <a:t>The skeletons are grown to provide the organism with a rigid structure, or to protect it (a home).</a:t>
            </a:r>
          </a:p>
        </p:txBody>
      </p:sp>
      <p:pic>
        <p:nvPicPr>
          <p:cNvPr id="5123" name="Picture 8">
            <a:extLst>
              <a:ext uri="{FF2B5EF4-FFF2-40B4-BE49-F238E27FC236}">
                <a16:creationId xmlns:a16="http://schemas.microsoft.com/office/drawing/2014/main" id="{79C49794-AD1A-43EB-A0E8-91B17AB2F77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241924" y="1136359"/>
            <a:ext cx="3738563"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id="{99322082-EFB4-4672-92C7-94AC847A8B40}"/>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pic>
        <p:nvPicPr>
          <p:cNvPr id="6146" name="Picture 2">
            <a:extLst>
              <a:ext uri="{FF2B5EF4-FFF2-40B4-BE49-F238E27FC236}">
                <a16:creationId xmlns:a16="http://schemas.microsoft.com/office/drawing/2014/main" id="{C207ACA9-75C4-40EC-A852-FD1F910C83A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58013" y="4160940"/>
            <a:ext cx="3773275" cy="25113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Group 5">
            <a:extLst>
              <a:ext uri="{FF2B5EF4-FFF2-40B4-BE49-F238E27FC236}">
                <a16:creationId xmlns:a16="http://schemas.microsoft.com/office/drawing/2014/main" id="{EF89949D-7DC1-4947-947B-252E4C348658}"/>
              </a:ext>
            </a:extLst>
          </p:cNvPr>
          <p:cNvGrpSpPr>
            <a:grpSpLocks/>
          </p:cNvGrpSpPr>
          <p:nvPr/>
        </p:nvGrpSpPr>
        <p:grpSpPr bwMode="auto">
          <a:xfrm>
            <a:off x="122238" y="1355725"/>
            <a:ext cx="4835525" cy="5265738"/>
            <a:chOff x="122465" y="1355271"/>
            <a:chExt cx="4835910" cy="5265964"/>
          </a:xfrm>
        </p:grpSpPr>
        <p:pic>
          <p:nvPicPr>
            <p:cNvPr id="10248" name="Picture 2" descr="http://www.world-builders.org/lessons/less/les5/les5gifs/sealight.jpg">
              <a:extLst>
                <a:ext uri="{FF2B5EF4-FFF2-40B4-BE49-F238E27FC236}">
                  <a16:creationId xmlns:a16="http://schemas.microsoft.com/office/drawing/2014/main" id="{55DE5F9C-871A-4790-80F9-1A2C3AAF559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2465" y="1355271"/>
              <a:ext cx="4835910" cy="526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9" name="Rectangle 4">
              <a:extLst>
                <a:ext uri="{FF2B5EF4-FFF2-40B4-BE49-F238E27FC236}">
                  <a16:creationId xmlns:a16="http://schemas.microsoft.com/office/drawing/2014/main" id="{E0AF5445-0CF4-4B4B-B1CB-3AF58F0A7A65}"/>
                </a:ext>
              </a:extLst>
            </p:cNvPr>
            <p:cNvSpPr>
              <a:spLocks noChangeArrowheads="1"/>
            </p:cNvSpPr>
            <p:nvPr/>
          </p:nvSpPr>
          <p:spPr bwMode="auto">
            <a:xfrm>
              <a:off x="122465" y="3224893"/>
              <a:ext cx="555171" cy="19594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endParaRPr lang="en-GB" altLang="en-US" sz="4400">
                <a:solidFill>
                  <a:schemeClr val="tx1"/>
                </a:solidFill>
              </a:endParaRPr>
            </a:p>
          </p:txBody>
        </p:sp>
        <p:sp>
          <p:nvSpPr>
            <p:cNvPr id="10250" name="Rectangle 6">
              <a:extLst>
                <a:ext uri="{FF2B5EF4-FFF2-40B4-BE49-F238E27FC236}">
                  <a16:creationId xmlns:a16="http://schemas.microsoft.com/office/drawing/2014/main" id="{AF27F604-B15E-471C-8F20-6685934217BB}"/>
                </a:ext>
              </a:extLst>
            </p:cNvPr>
            <p:cNvSpPr>
              <a:spLocks noChangeArrowheads="1"/>
            </p:cNvSpPr>
            <p:nvPr/>
          </p:nvSpPr>
          <p:spPr bwMode="auto">
            <a:xfrm>
              <a:off x="171451" y="3712029"/>
              <a:ext cx="555171" cy="19594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endParaRPr lang="en-GB" altLang="en-US" sz="4400">
                <a:solidFill>
                  <a:schemeClr val="tx1"/>
                </a:solidFill>
              </a:endParaRPr>
            </a:p>
          </p:txBody>
        </p:sp>
        <p:sp>
          <p:nvSpPr>
            <p:cNvPr id="10251" name="Rectangle 7">
              <a:extLst>
                <a:ext uri="{FF2B5EF4-FFF2-40B4-BE49-F238E27FC236}">
                  <a16:creationId xmlns:a16="http://schemas.microsoft.com/office/drawing/2014/main" id="{F1D83C50-43A4-4F22-9C36-4AE6860A6E53}"/>
                </a:ext>
              </a:extLst>
            </p:cNvPr>
            <p:cNvSpPr>
              <a:spLocks noChangeArrowheads="1"/>
            </p:cNvSpPr>
            <p:nvPr/>
          </p:nvSpPr>
          <p:spPr bwMode="auto">
            <a:xfrm>
              <a:off x="171451" y="4533901"/>
              <a:ext cx="555171" cy="19594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endParaRPr lang="en-GB" altLang="en-US" sz="4400">
                <a:solidFill>
                  <a:schemeClr val="tx1"/>
                </a:solidFill>
              </a:endParaRPr>
            </a:p>
          </p:txBody>
        </p:sp>
        <p:sp>
          <p:nvSpPr>
            <p:cNvPr id="10252" name="Rectangle 8">
              <a:extLst>
                <a:ext uri="{FF2B5EF4-FFF2-40B4-BE49-F238E27FC236}">
                  <a16:creationId xmlns:a16="http://schemas.microsoft.com/office/drawing/2014/main" id="{249022F8-8988-4D90-A414-31BBE0B81C55}"/>
                </a:ext>
              </a:extLst>
            </p:cNvPr>
            <p:cNvSpPr>
              <a:spLocks noChangeArrowheads="1"/>
            </p:cNvSpPr>
            <p:nvPr/>
          </p:nvSpPr>
          <p:spPr bwMode="auto">
            <a:xfrm>
              <a:off x="171450" y="5241472"/>
              <a:ext cx="555171" cy="19594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endParaRPr lang="en-GB" altLang="en-US" sz="4400">
                <a:solidFill>
                  <a:schemeClr val="tx1"/>
                </a:solidFill>
              </a:endParaRPr>
            </a:p>
          </p:txBody>
        </p:sp>
        <p:sp>
          <p:nvSpPr>
            <p:cNvPr id="10253" name="Rectangle 9">
              <a:extLst>
                <a:ext uri="{FF2B5EF4-FFF2-40B4-BE49-F238E27FC236}">
                  <a16:creationId xmlns:a16="http://schemas.microsoft.com/office/drawing/2014/main" id="{AE86A1F8-990C-4C1F-83D4-70A29E96ABF7}"/>
                </a:ext>
              </a:extLst>
            </p:cNvPr>
            <p:cNvSpPr>
              <a:spLocks noChangeArrowheads="1"/>
            </p:cNvSpPr>
            <p:nvPr/>
          </p:nvSpPr>
          <p:spPr bwMode="auto">
            <a:xfrm>
              <a:off x="171451" y="5989865"/>
              <a:ext cx="555171" cy="19594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endParaRPr lang="en-GB" altLang="en-US" sz="4400">
                <a:solidFill>
                  <a:schemeClr val="tx1"/>
                </a:solidFill>
              </a:endParaRPr>
            </a:p>
          </p:txBody>
        </p:sp>
      </p:grpSp>
      <p:sp>
        <p:nvSpPr>
          <p:cNvPr id="12" name="Rectangle 3">
            <a:extLst>
              <a:ext uri="{FF2B5EF4-FFF2-40B4-BE49-F238E27FC236}">
                <a16:creationId xmlns:a16="http://schemas.microsoft.com/office/drawing/2014/main" id="{D07BC0FA-E819-43A4-B56D-75F3C8590B3F}"/>
              </a:ext>
            </a:extLst>
          </p:cNvPr>
          <p:cNvSpPr txBox="1">
            <a:spLocks noChangeArrowheads="1"/>
          </p:cNvSpPr>
          <p:nvPr/>
        </p:nvSpPr>
        <p:spPr bwMode="auto">
          <a:xfrm>
            <a:off x="5230813" y="5330825"/>
            <a:ext cx="36988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a:solidFill>
                  <a:schemeClr val="accent2"/>
                </a:solidFill>
                <a:latin typeface="+mn-lt"/>
                <a:ea typeface="+mn-ea"/>
              </a:defRPr>
            </a:lvl2pPr>
            <a:lvl3pPr marL="1143000" indent="-228600" algn="l" rtl="0" eaLnBrk="0" fontAlgn="base" hangingPunct="0">
              <a:spcBef>
                <a:spcPct val="20000"/>
              </a:spcBef>
              <a:spcAft>
                <a:spcPct val="0"/>
              </a:spcAft>
              <a:buChar char="•"/>
              <a:defRPr sz="2400">
                <a:solidFill>
                  <a:schemeClr val="accent2"/>
                </a:solidFill>
                <a:latin typeface="+mn-lt"/>
                <a:ea typeface="+mn-ea"/>
              </a:defRPr>
            </a:lvl3pPr>
            <a:lvl4pPr marL="1600200" indent="-228600" algn="l" rtl="0" eaLnBrk="0" fontAlgn="base" hangingPunct="0">
              <a:spcBef>
                <a:spcPct val="20000"/>
              </a:spcBef>
              <a:spcAft>
                <a:spcPct val="0"/>
              </a:spcAft>
              <a:buChar char="–"/>
              <a:defRPr sz="2000">
                <a:solidFill>
                  <a:schemeClr val="accent2"/>
                </a:solidFill>
                <a:latin typeface="+mn-lt"/>
                <a:ea typeface="+mn-ea"/>
              </a:defRPr>
            </a:lvl4pPr>
            <a:lvl5pPr marL="2057400" indent="-228600" algn="l" rtl="0" eaLnBrk="0" fontAlgn="base" hangingPunct="0">
              <a:spcBef>
                <a:spcPct val="20000"/>
              </a:spcBef>
              <a:spcAft>
                <a:spcPct val="0"/>
              </a:spcAft>
              <a:buChar char="»"/>
              <a:defRPr sz="2000">
                <a:solidFill>
                  <a:schemeClr val="accent2"/>
                </a:solidFill>
                <a:latin typeface="+mn-lt"/>
                <a:ea typeface="+mn-ea"/>
              </a:defRPr>
            </a:lvl5pPr>
            <a:lvl6pPr marL="2514600" indent="-228600" algn="l" rtl="0" fontAlgn="base">
              <a:spcBef>
                <a:spcPct val="20000"/>
              </a:spcBef>
              <a:spcAft>
                <a:spcPct val="0"/>
              </a:spcAft>
              <a:buChar char="»"/>
              <a:defRPr sz="2000">
                <a:solidFill>
                  <a:schemeClr val="accent2"/>
                </a:solidFill>
                <a:latin typeface="+mn-lt"/>
                <a:ea typeface="+mn-ea"/>
              </a:defRPr>
            </a:lvl6pPr>
            <a:lvl7pPr marL="2971800" indent="-228600" algn="l" rtl="0" fontAlgn="base">
              <a:spcBef>
                <a:spcPct val="20000"/>
              </a:spcBef>
              <a:spcAft>
                <a:spcPct val="0"/>
              </a:spcAft>
              <a:buChar char="»"/>
              <a:defRPr sz="2000">
                <a:solidFill>
                  <a:schemeClr val="accent2"/>
                </a:solidFill>
                <a:latin typeface="+mn-lt"/>
                <a:ea typeface="+mn-ea"/>
              </a:defRPr>
            </a:lvl7pPr>
            <a:lvl8pPr marL="3429000" indent="-228600" algn="l" rtl="0" fontAlgn="base">
              <a:spcBef>
                <a:spcPct val="20000"/>
              </a:spcBef>
              <a:spcAft>
                <a:spcPct val="0"/>
              </a:spcAft>
              <a:buChar char="»"/>
              <a:defRPr sz="2000">
                <a:solidFill>
                  <a:schemeClr val="accent2"/>
                </a:solidFill>
                <a:latin typeface="+mn-lt"/>
                <a:ea typeface="+mn-ea"/>
              </a:defRPr>
            </a:lvl8pPr>
            <a:lvl9pPr marL="3886200" indent="-228600" algn="l" rtl="0" fontAlgn="base">
              <a:spcBef>
                <a:spcPct val="20000"/>
              </a:spcBef>
              <a:spcAft>
                <a:spcPct val="0"/>
              </a:spcAft>
              <a:buChar char="»"/>
              <a:defRPr sz="2000">
                <a:solidFill>
                  <a:schemeClr val="accent2"/>
                </a:solidFill>
                <a:latin typeface="+mn-lt"/>
                <a:ea typeface="+mn-ea"/>
              </a:defRPr>
            </a:lvl9pPr>
          </a:lstStyle>
          <a:p>
            <a:pPr eaLnBrk="1" hangingPunct="1">
              <a:lnSpc>
                <a:spcPct val="90000"/>
              </a:lnSpc>
              <a:defRPr/>
            </a:pPr>
            <a:r>
              <a:rPr lang="en-US" altLang="en-US" sz="2200" b="1" kern="0" dirty="0">
                <a:solidFill>
                  <a:schemeClr val="tx1"/>
                </a:solidFill>
                <a:latin typeface="Calibri" panose="020F0502020204030204" pitchFamily="34" charset="0"/>
              </a:rPr>
              <a:t>Thus, carbonate is produced (primarily) in shallow marine environments</a:t>
            </a:r>
          </a:p>
        </p:txBody>
      </p:sp>
      <p:sp>
        <p:nvSpPr>
          <p:cNvPr id="11" name="Rectangle 10">
            <a:extLst>
              <a:ext uri="{FF2B5EF4-FFF2-40B4-BE49-F238E27FC236}">
                <a16:creationId xmlns:a16="http://schemas.microsoft.com/office/drawing/2014/main" id="{0F674B23-7BCC-4752-88DF-74A7880B07D9}"/>
              </a:ext>
            </a:extLst>
          </p:cNvPr>
          <p:cNvSpPr/>
          <p:nvPr/>
        </p:nvSpPr>
        <p:spPr>
          <a:xfrm>
            <a:off x="3527425" y="1174750"/>
            <a:ext cx="5468938" cy="1615827"/>
          </a:xfrm>
          <a:prstGeom prst="rect">
            <a:avLst/>
          </a:prstGeom>
        </p:spPr>
        <p:txBody>
          <a:bodyPr>
            <a:spAutoFit/>
          </a:bodyPr>
          <a:lstStyle/>
          <a:p>
            <a:pPr marL="342900" indent="-342900" eaLnBrk="1" hangingPunct="1">
              <a:lnSpc>
                <a:spcPct val="90000"/>
              </a:lnSpc>
              <a:buFont typeface="Arial" panose="020B0604020202020204" pitchFamily="34" charset="0"/>
              <a:buChar char="•"/>
              <a:defRPr/>
            </a:pPr>
            <a:r>
              <a:rPr lang="en-US" altLang="en-US" sz="2200" b="1" kern="0" dirty="0">
                <a:latin typeface="Calibri" panose="020F0502020204030204" pitchFamily="34" charset="0"/>
              </a:rPr>
              <a:t>Because production is largely biologically mediated, production needs:</a:t>
            </a:r>
          </a:p>
          <a:p>
            <a:pPr lvl="1" eaLnBrk="1" hangingPunct="1">
              <a:lnSpc>
                <a:spcPct val="90000"/>
              </a:lnSpc>
              <a:defRPr/>
            </a:pPr>
            <a:r>
              <a:rPr lang="en-US" altLang="en-US" sz="2200" b="1" kern="0" dirty="0">
                <a:latin typeface="Calibri" panose="020F0502020204030204" pitchFamily="34" charset="0"/>
                <a:sym typeface="Wingdings" panose="05000000000000000000" pitchFamily="2" charset="2"/>
              </a:rPr>
              <a:t>	</a:t>
            </a:r>
            <a:r>
              <a:rPr lang="en-US" altLang="en-US" sz="2200" kern="0" dirty="0">
                <a:latin typeface="Calibri" panose="020F0502020204030204" pitchFamily="34" charset="0"/>
                <a:sym typeface="Wingdings" panose="05000000000000000000" pitchFamily="2" charset="2"/>
              </a:rPr>
              <a:t>Light (the photic zone, absence of 	suspended mud)</a:t>
            </a:r>
          </a:p>
          <a:p>
            <a:pPr lvl="1" eaLnBrk="1" hangingPunct="1">
              <a:lnSpc>
                <a:spcPct val="90000"/>
              </a:lnSpc>
              <a:defRPr/>
            </a:pPr>
            <a:r>
              <a:rPr lang="en-US" altLang="en-US" sz="2200" kern="0" dirty="0">
                <a:latin typeface="Calibri" panose="020F0502020204030204" pitchFamily="34" charset="0"/>
                <a:sym typeface="Wingdings" panose="05000000000000000000" pitchFamily="2" charset="2"/>
              </a:rPr>
              <a:t>	Nutrients (usually land derived)</a:t>
            </a:r>
            <a:endParaRPr lang="en-US" altLang="en-US" sz="2200" kern="0" dirty="0">
              <a:latin typeface="Calibri" panose="020F0502020204030204" pitchFamily="34" charset="0"/>
            </a:endParaRPr>
          </a:p>
        </p:txBody>
      </p:sp>
      <p:sp>
        <p:nvSpPr>
          <p:cNvPr id="15" name="Rectangle 14">
            <a:extLst>
              <a:ext uri="{FF2B5EF4-FFF2-40B4-BE49-F238E27FC236}">
                <a16:creationId xmlns:a16="http://schemas.microsoft.com/office/drawing/2014/main" id="{7902798B-23E9-4516-AC81-ADBFFB305791}"/>
              </a:ext>
            </a:extLst>
          </p:cNvPr>
          <p:cNvSpPr/>
          <p:nvPr/>
        </p:nvSpPr>
        <p:spPr>
          <a:xfrm>
            <a:off x="5230813" y="2980087"/>
            <a:ext cx="3765550" cy="1006429"/>
          </a:xfrm>
          <a:prstGeom prst="rect">
            <a:avLst/>
          </a:prstGeom>
        </p:spPr>
        <p:txBody>
          <a:bodyPr>
            <a:spAutoFit/>
          </a:bodyPr>
          <a:lstStyle/>
          <a:p>
            <a:pPr marL="342900" indent="-342900" eaLnBrk="1" hangingPunct="1">
              <a:lnSpc>
                <a:spcPct val="90000"/>
              </a:lnSpc>
              <a:buFont typeface="Arial" panose="020B0604020202020204" pitchFamily="34" charset="0"/>
              <a:buChar char="•"/>
              <a:defRPr/>
            </a:pPr>
            <a:r>
              <a:rPr lang="en-US" altLang="en-US" sz="2200" b="1" kern="0" dirty="0">
                <a:latin typeface="Calibri" panose="020F0502020204030204" pitchFamily="34" charset="0"/>
              </a:rPr>
              <a:t>Additionally, organic growth is promoted by:</a:t>
            </a:r>
          </a:p>
          <a:p>
            <a:pPr lvl="1" eaLnBrk="1" hangingPunct="1">
              <a:lnSpc>
                <a:spcPct val="90000"/>
              </a:lnSpc>
              <a:defRPr/>
            </a:pPr>
            <a:r>
              <a:rPr lang="en-US" altLang="en-US" sz="2200" kern="0" dirty="0">
                <a:latin typeface="Calibri" panose="020F0502020204030204" pitchFamily="34" charset="0"/>
                <a:sym typeface="Wingdings" panose="05000000000000000000" pitchFamily="2" charset="2"/>
              </a:rPr>
              <a:t>Warm water</a:t>
            </a:r>
            <a:endParaRPr lang="en-US" altLang="en-US" sz="2200" kern="0" dirty="0">
              <a:latin typeface="Calibri" panose="020F0502020204030204" pitchFamily="34" charset="0"/>
            </a:endParaRPr>
          </a:p>
        </p:txBody>
      </p:sp>
      <p:sp>
        <p:nvSpPr>
          <p:cNvPr id="16" name="Rectangle 15">
            <a:extLst>
              <a:ext uri="{FF2B5EF4-FFF2-40B4-BE49-F238E27FC236}">
                <a16:creationId xmlns:a16="http://schemas.microsoft.com/office/drawing/2014/main" id="{1AA0EAD4-5D08-4DB0-9FCF-030F17B0337D}"/>
              </a:ext>
            </a:extLst>
          </p:cNvPr>
          <p:cNvSpPr/>
          <p:nvPr/>
        </p:nvSpPr>
        <p:spPr>
          <a:xfrm>
            <a:off x="5230813" y="4104679"/>
            <a:ext cx="3765550" cy="1006429"/>
          </a:xfrm>
          <a:prstGeom prst="rect">
            <a:avLst/>
          </a:prstGeom>
        </p:spPr>
        <p:txBody>
          <a:bodyPr>
            <a:spAutoFit/>
          </a:bodyPr>
          <a:lstStyle/>
          <a:p>
            <a:pPr marL="342900" indent="-342900" eaLnBrk="1" hangingPunct="1">
              <a:lnSpc>
                <a:spcPct val="90000"/>
              </a:lnSpc>
              <a:buFont typeface="Arial" panose="020B0604020202020204" pitchFamily="34" charset="0"/>
              <a:buChar char="•"/>
              <a:defRPr/>
            </a:pPr>
            <a:r>
              <a:rPr lang="en-US" altLang="en-US" sz="2200" b="1" kern="0" dirty="0">
                <a:latin typeface="Calibri" panose="020F0502020204030204" pitchFamily="34" charset="0"/>
              </a:rPr>
              <a:t>and is inhibited by </a:t>
            </a:r>
          </a:p>
          <a:p>
            <a:pPr lvl="1" eaLnBrk="1" hangingPunct="1">
              <a:lnSpc>
                <a:spcPct val="90000"/>
              </a:lnSpc>
              <a:defRPr/>
            </a:pPr>
            <a:r>
              <a:rPr lang="en-US" altLang="en-US" sz="2200" kern="0" dirty="0">
                <a:latin typeface="Calibri" panose="020F0502020204030204" pitchFamily="34" charset="0"/>
                <a:sym typeface="Wingdings" panose="05000000000000000000" pitchFamily="2" charset="2"/>
              </a:rPr>
              <a:t>unusual (low) pH</a:t>
            </a:r>
          </a:p>
          <a:p>
            <a:pPr lvl="1" eaLnBrk="1" hangingPunct="1">
              <a:lnSpc>
                <a:spcPct val="90000"/>
              </a:lnSpc>
              <a:defRPr/>
            </a:pPr>
            <a:r>
              <a:rPr lang="en-US" altLang="en-US" sz="2200" kern="0" dirty="0">
                <a:latin typeface="Calibri" panose="020F0502020204030204" pitchFamily="34" charset="0"/>
                <a:sym typeface="Wingdings" panose="05000000000000000000" pitchFamily="2" charset="2"/>
              </a:rPr>
              <a:t>unusual salinities</a:t>
            </a:r>
            <a:endParaRPr lang="en-US" altLang="en-US" sz="2200" kern="0" dirty="0">
              <a:latin typeface="Calibri" panose="020F0502020204030204" pitchFamily="34" charset="0"/>
            </a:endParaRPr>
          </a:p>
        </p:txBody>
      </p:sp>
      <p:sp>
        <p:nvSpPr>
          <p:cNvPr id="14" name="Rectangle 4">
            <a:extLst>
              <a:ext uri="{FF2B5EF4-FFF2-40B4-BE49-F238E27FC236}">
                <a16:creationId xmlns:a16="http://schemas.microsoft.com/office/drawing/2014/main" id="{35CC32BE-2974-489B-B407-6FFDA1C12186}"/>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BB5DE9D-DF5E-4120-9187-BAF51D726679}"/>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79695" y="1778466"/>
            <a:ext cx="8984610" cy="500822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11">
            <a:extLst>
              <a:ext uri="{FF2B5EF4-FFF2-40B4-BE49-F238E27FC236}">
                <a16:creationId xmlns:a16="http://schemas.microsoft.com/office/drawing/2014/main" id="{18ADD2E8-EDEB-40A7-B8E7-EB0E835A65C8}"/>
              </a:ext>
            </a:extLst>
          </p:cNvPr>
          <p:cNvSpPr txBox="1">
            <a:spLocks noChangeArrowheads="1"/>
          </p:cNvSpPr>
          <p:nvPr/>
        </p:nvSpPr>
        <p:spPr bwMode="auto">
          <a:xfrm>
            <a:off x="79695" y="1070580"/>
            <a:ext cx="89846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pPr>
            <a:r>
              <a:rPr lang="en-GB" altLang="en-US" sz="1900" b="1" dirty="0">
                <a:solidFill>
                  <a:schemeClr val="tx1"/>
                </a:solidFill>
                <a:latin typeface="Calibri" panose="020F0502020204030204" pitchFamily="34" charset="0"/>
              </a:rPr>
              <a:t>So carbonate “platforms” and “ramps”, form in shallow water shelves, where water is warm, has normal salinity, and </a:t>
            </a:r>
            <a:r>
              <a:rPr lang="en-GB" altLang="en-US" sz="1900" b="1" dirty="0" err="1">
                <a:solidFill>
                  <a:schemeClr val="tx1"/>
                </a:solidFill>
                <a:latin typeface="Calibri" panose="020F0502020204030204" pitchFamily="34" charset="0"/>
              </a:rPr>
              <a:t>and</a:t>
            </a:r>
            <a:r>
              <a:rPr lang="en-GB" altLang="en-US" sz="1900" b="1" dirty="0">
                <a:solidFill>
                  <a:schemeClr val="tx1"/>
                </a:solidFill>
                <a:latin typeface="Calibri" panose="020F0502020204030204" pitchFamily="34" charset="0"/>
              </a:rPr>
              <a:t> away from sources of clastic sediment input.</a:t>
            </a:r>
          </a:p>
        </p:txBody>
      </p:sp>
      <p:sp>
        <p:nvSpPr>
          <p:cNvPr id="8" name="TextBox 7">
            <a:extLst>
              <a:ext uri="{FF2B5EF4-FFF2-40B4-BE49-F238E27FC236}">
                <a16:creationId xmlns:a16="http://schemas.microsoft.com/office/drawing/2014/main" id="{6E6B73AF-D6C1-41BA-B83D-C461C4871966}"/>
              </a:ext>
            </a:extLst>
          </p:cNvPr>
          <p:cNvSpPr txBox="1"/>
          <p:nvPr/>
        </p:nvSpPr>
        <p:spPr>
          <a:xfrm>
            <a:off x="197141" y="5079535"/>
            <a:ext cx="2084665" cy="1600438"/>
          </a:xfrm>
          <a:prstGeom prst="rect">
            <a:avLst/>
          </a:prstGeom>
          <a:solidFill>
            <a:schemeClr val="bg1"/>
          </a:solidFill>
          <a:ln w="12700">
            <a:solidFill>
              <a:schemeClr val="tx1"/>
            </a:solidFill>
          </a:ln>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en-GB" sz="1400" b="1" i="0" u="none" strike="noStrike" kern="1200" cap="none" spc="0" normalizeH="0" baseline="0" noProof="0" dirty="0">
                <a:ln>
                  <a:noFill/>
                </a:ln>
                <a:effectLst/>
                <a:uLnTx/>
                <a:uFillTx/>
                <a:latin typeface="Calibri"/>
                <a:ea typeface="+mn-ea"/>
                <a:cs typeface="+mn-cs"/>
                <a:sym typeface="Wingdings" pitchFamily="2" charset="2"/>
              </a:rPr>
              <a:t>Global distribution of major sites of carbonate production. Areas in red “warm-water carbonates” are where carbonate production rates are highest.</a:t>
            </a:r>
          </a:p>
        </p:txBody>
      </p:sp>
      <p:sp>
        <p:nvSpPr>
          <p:cNvPr id="9" name="Rectangle 4">
            <a:extLst>
              <a:ext uri="{FF2B5EF4-FFF2-40B4-BE49-F238E27FC236}">
                <a16:creationId xmlns:a16="http://schemas.microsoft.com/office/drawing/2014/main" id="{9724FB44-A347-495E-B65D-E1F5ADACE6B2}"/>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extLst>
      <p:ext uri="{BB962C8B-B14F-4D97-AF65-F5344CB8AC3E}">
        <p14:creationId xmlns:p14="http://schemas.microsoft.com/office/powerpoint/2010/main" val="3630964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6">
            <a:extLst>
              <a:ext uri="{FF2B5EF4-FFF2-40B4-BE49-F238E27FC236}">
                <a16:creationId xmlns:a16="http://schemas.microsoft.com/office/drawing/2014/main" id="{BD0B8269-2BEC-47F4-A190-801B8EDB6666}"/>
              </a:ext>
            </a:extLst>
          </p:cNvPr>
          <p:cNvSpPr txBox="1">
            <a:spLocks noChangeArrowheads="1"/>
          </p:cNvSpPr>
          <p:nvPr/>
        </p:nvSpPr>
        <p:spPr bwMode="auto">
          <a:xfrm>
            <a:off x="6370638" y="3675063"/>
            <a:ext cx="2251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50000"/>
              </a:spcBef>
              <a:buFontTx/>
              <a:buNone/>
            </a:pPr>
            <a:r>
              <a:rPr lang="en-GB" altLang="en-US" sz="1400" b="1">
                <a:solidFill>
                  <a:schemeClr val="tx1"/>
                </a:solidFill>
              </a:rPr>
              <a:t>e.g. Bahamas Bank</a:t>
            </a:r>
          </a:p>
        </p:txBody>
      </p:sp>
      <p:sp>
        <p:nvSpPr>
          <p:cNvPr id="11267" name="TextBox 11">
            <a:extLst>
              <a:ext uri="{FF2B5EF4-FFF2-40B4-BE49-F238E27FC236}">
                <a16:creationId xmlns:a16="http://schemas.microsoft.com/office/drawing/2014/main" id="{7DD230A0-1014-4501-AB95-43B4737CBA6A}"/>
              </a:ext>
            </a:extLst>
          </p:cNvPr>
          <p:cNvSpPr txBox="1">
            <a:spLocks noChangeArrowheads="1"/>
          </p:cNvSpPr>
          <p:nvPr/>
        </p:nvSpPr>
        <p:spPr bwMode="auto">
          <a:xfrm>
            <a:off x="152400" y="1372706"/>
            <a:ext cx="35925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marL="342900" indent="-342900">
              <a:spcBef>
                <a:spcPct val="0"/>
              </a:spcBef>
            </a:pPr>
            <a:r>
              <a:rPr lang="en-GB" altLang="en-US" sz="2000" b="1" dirty="0">
                <a:solidFill>
                  <a:schemeClr val="tx1"/>
                </a:solidFill>
                <a:latin typeface="Calibri" panose="020F0502020204030204" pitchFamily="34" charset="0"/>
              </a:rPr>
              <a:t>The carbonate material is formed by different organisms with different modes of life.</a:t>
            </a:r>
          </a:p>
        </p:txBody>
      </p:sp>
      <p:pic>
        <p:nvPicPr>
          <p:cNvPr id="11268" name="Picture 2" descr="http://classconnection.s3.amazonaws.com/586/flashcards/381586/jpg/carbonate_platforms1316540306294.jpg">
            <a:extLst>
              <a:ext uri="{FF2B5EF4-FFF2-40B4-BE49-F238E27FC236}">
                <a16:creationId xmlns:a16="http://schemas.microsoft.com/office/drawing/2014/main" id="{3BAAF274-5D2C-462B-924B-C3B3ED5AD64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863975" y="1101725"/>
            <a:ext cx="5280025"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Box 12">
            <a:extLst>
              <a:ext uri="{FF2B5EF4-FFF2-40B4-BE49-F238E27FC236}">
                <a16:creationId xmlns:a16="http://schemas.microsoft.com/office/drawing/2014/main" id="{011B472C-1C78-4E1C-A75D-3BB2B9F8105E}"/>
              </a:ext>
            </a:extLst>
          </p:cNvPr>
          <p:cNvSpPr txBox="1">
            <a:spLocks noChangeArrowheads="1"/>
          </p:cNvSpPr>
          <p:nvPr/>
        </p:nvSpPr>
        <p:spPr bwMode="auto">
          <a:xfrm>
            <a:off x="146050" y="3287713"/>
            <a:ext cx="2317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GB" altLang="en-US" sz="2000" b="1" u="sng" dirty="0">
                <a:solidFill>
                  <a:schemeClr val="tx1"/>
                </a:solidFill>
                <a:latin typeface="Calibri" panose="020F0502020204030204" pitchFamily="34" charset="0"/>
                <a:sym typeface="Wingdings" panose="05000000000000000000" pitchFamily="2" charset="2"/>
              </a:rPr>
              <a:t>(I) IN SITU GROWTH</a:t>
            </a:r>
          </a:p>
        </p:txBody>
      </p:sp>
      <p:sp>
        <p:nvSpPr>
          <p:cNvPr id="11270" name="TextBox 15">
            <a:extLst>
              <a:ext uri="{FF2B5EF4-FFF2-40B4-BE49-F238E27FC236}">
                <a16:creationId xmlns:a16="http://schemas.microsoft.com/office/drawing/2014/main" id="{0048BA95-8738-4DE3-AAB6-9C343C1C22D6}"/>
              </a:ext>
            </a:extLst>
          </p:cNvPr>
          <p:cNvSpPr txBox="1">
            <a:spLocks noChangeArrowheads="1"/>
          </p:cNvSpPr>
          <p:nvPr/>
        </p:nvSpPr>
        <p:spPr bwMode="auto">
          <a:xfrm>
            <a:off x="152400" y="3897313"/>
            <a:ext cx="462121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lvl="1">
              <a:spcBef>
                <a:spcPct val="0"/>
              </a:spcBef>
              <a:buFontTx/>
              <a:buNone/>
            </a:pPr>
            <a:r>
              <a:rPr lang="en-GB" altLang="en-US" sz="2000" dirty="0">
                <a:solidFill>
                  <a:schemeClr val="tx1"/>
                </a:solidFill>
                <a:latin typeface="Calibri" panose="020F0502020204030204" pitchFamily="34" charset="0"/>
                <a:sym typeface="Wingdings" panose="05000000000000000000" pitchFamily="2" charset="2"/>
              </a:rPr>
              <a:t>This refers to carbonate that is precipitated by organisms which are fixed to the sediment substrate.</a:t>
            </a:r>
          </a:p>
          <a:p>
            <a:pPr lvl="1">
              <a:spcBef>
                <a:spcPct val="0"/>
              </a:spcBef>
              <a:buFontTx/>
              <a:buNone/>
            </a:pPr>
            <a:endParaRPr lang="en-GB" altLang="en-US" sz="2000" dirty="0">
              <a:solidFill>
                <a:schemeClr val="tx1"/>
              </a:solidFill>
              <a:latin typeface="Calibri" panose="020F0502020204030204" pitchFamily="34" charset="0"/>
              <a:sym typeface="Wingdings" panose="05000000000000000000" pitchFamily="2" charset="2"/>
            </a:endParaRPr>
          </a:p>
          <a:p>
            <a:pPr lvl="1">
              <a:spcBef>
                <a:spcPct val="0"/>
              </a:spcBef>
              <a:buFontTx/>
              <a:buNone/>
            </a:pPr>
            <a:r>
              <a:rPr lang="en-GB" altLang="en-US" sz="2000" dirty="0">
                <a:solidFill>
                  <a:schemeClr val="tx1"/>
                </a:solidFill>
                <a:latin typeface="Calibri" panose="020F0502020204030204" pitchFamily="34" charset="0"/>
                <a:sym typeface="Wingdings" panose="05000000000000000000" pitchFamily="2" charset="2"/>
              </a:rPr>
              <a:t>In the shallow, photic zone, these organisms constitute a “reef”, and when the organism dies, it may not move very far from the site in which it lived.</a:t>
            </a:r>
            <a:endParaRPr lang="en-GB" altLang="en-US" sz="2000" dirty="0">
              <a:solidFill>
                <a:schemeClr val="tx1"/>
              </a:solidFill>
              <a:latin typeface="Calibri" panose="020F0502020204030204" pitchFamily="34" charset="0"/>
            </a:endParaRPr>
          </a:p>
        </p:txBody>
      </p:sp>
      <p:pic>
        <p:nvPicPr>
          <p:cNvPr id="11272" name="Picture 2" descr="http://upload.wikimedia.org/wikipedia/commons/d/de/Coral_Reef.jpg">
            <a:extLst>
              <a:ext uri="{FF2B5EF4-FFF2-40B4-BE49-F238E27FC236}">
                <a16:creationId xmlns:a16="http://schemas.microsoft.com/office/drawing/2014/main" id="{151DF7A9-04F1-4825-B2BA-E03112AFFCD8}"/>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929188" y="4138613"/>
            <a:ext cx="3898900"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4">
            <a:extLst>
              <a:ext uri="{FF2B5EF4-FFF2-40B4-BE49-F238E27FC236}">
                <a16:creationId xmlns:a16="http://schemas.microsoft.com/office/drawing/2014/main" id="{5D2D5ABC-849D-4F53-9168-BC68D577F484}"/>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0E157D0B-0427-4333-9C06-AC228CE83F46}"/>
              </a:ext>
            </a:extLst>
          </p:cNvPr>
          <p:cNvSpPr>
            <a:spLocks noGrp="1" noChangeArrowheads="1"/>
          </p:cNvSpPr>
          <p:nvPr>
            <p:ph type="body" idx="1"/>
          </p:nvPr>
        </p:nvSpPr>
        <p:spPr>
          <a:xfrm>
            <a:off x="5578475" y="1149350"/>
            <a:ext cx="3230563" cy="709613"/>
          </a:xfrm>
        </p:spPr>
        <p:txBody>
          <a:bodyPr/>
          <a:lstStyle/>
          <a:p>
            <a:pPr eaLnBrk="1" hangingPunct="1">
              <a:lnSpc>
                <a:spcPct val="80000"/>
              </a:lnSpc>
            </a:pPr>
            <a:r>
              <a:rPr lang="en-US" altLang="en-US" sz="2200" b="1" dirty="0">
                <a:solidFill>
                  <a:schemeClr val="tx1"/>
                </a:solidFill>
                <a:latin typeface="Calibri" panose="020F0502020204030204" pitchFamily="34" charset="0"/>
              </a:rPr>
              <a:t>Common in-situ reef-builders</a:t>
            </a:r>
          </a:p>
          <a:p>
            <a:pPr marL="457200" lvl="1" indent="0" eaLnBrk="1" hangingPunct="1">
              <a:lnSpc>
                <a:spcPct val="80000"/>
              </a:lnSpc>
              <a:buFontTx/>
              <a:buNone/>
            </a:pPr>
            <a:r>
              <a:rPr lang="en-US" altLang="en-US" sz="2200" dirty="0">
                <a:solidFill>
                  <a:schemeClr val="tx1"/>
                </a:solidFill>
                <a:latin typeface="Calibri" panose="020F0502020204030204" pitchFamily="34" charset="0"/>
                <a:sym typeface="Wingdings" panose="05000000000000000000" pitchFamily="2" charset="2"/>
              </a:rPr>
              <a:t>Varied through geological time</a:t>
            </a:r>
            <a:endParaRPr lang="en-US" altLang="en-US" sz="2200" dirty="0">
              <a:solidFill>
                <a:schemeClr val="tx1"/>
              </a:solidFill>
              <a:latin typeface="Calibri" panose="020F0502020204030204" pitchFamily="34" charset="0"/>
            </a:endParaRPr>
          </a:p>
        </p:txBody>
      </p:sp>
      <p:pic>
        <p:nvPicPr>
          <p:cNvPr id="12291" name="Picture 7" descr="http://upload.wikimedia.org/wikipedia/commons/5/51/Colpophyllia_natans_(Boulder_Brain_Coral)_entire_colony.jpg">
            <a:extLst>
              <a:ext uri="{FF2B5EF4-FFF2-40B4-BE49-F238E27FC236}">
                <a16:creationId xmlns:a16="http://schemas.microsoft.com/office/drawing/2014/main" id="{9E64A53A-DBC1-4645-8309-0C7BBB9985C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6838" y="1079500"/>
            <a:ext cx="2443162"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11" descr="http://www.beg.utexas.edu/lmod/_IOL-CM02/old_work/graphics/st05_cynobacteria.jpg">
            <a:extLst>
              <a:ext uri="{FF2B5EF4-FFF2-40B4-BE49-F238E27FC236}">
                <a16:creationId xmlns:a16="http://schemas.microsoft.com/office/drawing/2014/main" id="{4A22D04E-37B0-4550-B9AE-8D6097F51F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670175" y="1079500"/>
            <a:ext cx="24733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13" descr="http://i.dailymail.co.uk/i/pix/2009/02/05/article-1136104-034E7388000005DC-627_468x311.jpg">
            <a:extLst>
              <a:ext uri="{FF2B5EF4-FFF2-40B4-BE49-F238E27FC236}">
                <a16:creationId xmlns:a16="http://schemas.microsoft.com/office/drawing/2014/main" id="{124E9D61-82A4-41A1-BD6F-AB02281D00B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670175" y="2990850"/>
            <a:ext cx="2473325"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15" descr="http://www.starfish.ch/Fotos/bryozoans-Moostierchen/Bryozoa-sp1-1.jpg">
            <a:extLst>
              <a:ext uri="{FF2B5EF4-FFF2-40B4-BE49-F238E27FC236}">
                <a16:creationId xmlns:a16="http://schemas.microsoft.com/office/drawing/2014/main" id="{5F1899D9-5F5D-4D5F-A6ED-2565E8B63C4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7950" y="4903788"/>
            <a:ext cx="2455863"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19" descr="http://images.nationalgeographic.com/wpf/media-live/photos/000/009/cache/crinoid-fossil_908_990x742.jpg">
            <a:extLst>
              <a:ext uri="{FF2B5EF4-FFF2-40B4-BE49-F238E27FC236}">
                <a16:creationId xmlns:a16="http://schemas.microsoft.com/office/drawing/2014/main" id="{9A9F76B2-F352-4ADF-BECA-97A793C97266}"/>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670175" y="4903788"/>
            <a:ext cx="24733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14" descr="http://www.sepmstrata.org/CMS_Images/Orgnsims%20thru%20time.jpg">
            <a:extLst>
              <a:ext uri="{FF2B5EF4-FFF2-40B4-BE49-F238E27FC236}">
                <a16:creationId xmlns:a16="http://schemas.microsoft.com/office/drawing/2014/main" id="{A978795E-FD0C-4C2C-A904-18941E2EA55B}"/>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208588" y="2590800"/>
            <a:ext cx="3854450" cy="418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Picture 12" descr="http://upload.wikimedia.org/wikipedia/commons/2/2e/Stromatolites_in_Shark_Bay.jpg">
            <a:extLst>
              <a:ext uri="{FF2B5EF4-FFF2-40B4-BE49-F238E27FC236}">
                <a16:creationId xmlns:a16="http://schemas.microsoft.com/office/drawing/2014/main" id="{B401A903-118E-4559-BE3D-187FE9AD37A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07950" y="2990850"/>
            <a:ext cx="2455863"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8" name="Rectangle 2">
            <a:extLst>
              <a:ext uri="{FF2B5EF4-FFF2-40B4-BE49-F238E27FC236}">
                <a16:creationId xmlns:a16="http://schemas.microsoft.com/office/drawing/2014/main" id="{02CBFB09-6049-4638-8922-F95524AC07D7}"/>
              </a:ext>
            </a:extLst>
          </p:cNvPr>
          <p:cNvSpPr>
            <a:spLocks noChangeArrowheads="1"/>
          </p:cNvSpPr>
          <p:nvPr/>
        </p:nvSpPr>
        <p:spPr bwMode="auto">
          <a:xfrm>
            <a:off x="1720850" y="1144588"/>
            <a:ext cx="695325" cy="2936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lnSpc>
                <a:spcPct val="80000"/>
              </a:lnSpc>
              <a:spcBef>
                <a:spcPct val="0"/>
              </a:spcBef>
              <a:buFontTx/>
              <a:buNone/>
            </a:pPr>
            <a:r>
              <a:rPr lang="en-GB" altLang="en-US" sz="1600">
                <a:solidFill>
                  <a:schemeClr val="tx1"/>
                </a:solidFill>
                <a:latin typeface="Calibri" panose="020F0502020204030204" pitchFamily="34" charset="0"/>
              </a:rPr>
              <a:t>Corals</a:t>
            </a:r>
          </a:p>
        </p:txBody>
      </p:sp>
      <p:sp>
        <p:nvSpPr>
          <p:cNvPr id="12299" name="Rectangle 17">
            <a:extLst>
              <a:ext uri="{FF2B5EF4-FFF2-40B4-BE49-F238E27FC236}">
                <a16:creationId xmlns:a16="http://schemas.microsoft.com/office/drawing/2014/main" id="{8BED47AD-EEC4-44CA-9273-E5EBF5024C41}"/>
              </a:ext>
            </a:extLst>
          </p:cNvPr>
          <p:cNvSpPr>
            <a:spLocks noChangeArrowheads="1"/>
          </p:cNvSpPr>
          <p:nvPr/>
        </p:nvSpPr>
        <p:spPr bwMode="auto">
          <a:xfrm>
            <a:off x="2740025" y="1149350"/>
            <a:ext cx="1052513"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lnSpc>
                <a:spcPct val="80000"/>
              </a:lnSpc>
              <a:spcBef>
                <a:spcPct val="0"/>
              </a:spcBef>
              <a:buFontTx/>
              <a:buNone/>
            </a:pPr>
            <a:r>
              <a:rPr lang="en-GB" altLang="en-US" sz="1600">
                <a:solidFill>
                  <a:schemeClr val="tx1"/>
                </a:solidFill>
                <a:latin typeface="Calibri" panose="020F0502020204030204" pitchFamily="34" charset="0"/>
              </a:rPr>
              <a:t>Algal Mats</a:t>
            </a:r>
          </a:p>
        </p:txBody>
      </p:sp>
      <p:sp>
        <p:nvSpPr>
          <p:cNvPr id="12300" name="Rectangle 18">
            <a:extLst>
              <a:ext uri="{FF2B5EF4-FFF2-40B4-BE49-F238E27FC236}">
                <a16:creationId xmlns:a16="http://schemas.microsoft.com/office/drawing/2014/main" id="{D1703C85-98FD-4336-A075-88B9E66F79F8}"/>
              </a:ext>
            </a:extLst>
          </p:cNvPr>
          <p:cNvSpPr>
            <a:spLocks noChangeArrowheads="1"/>
          </p:cNvSpPr>
          <p:nvPr/>
        </p:nvSpPr>
        <p:spPr bwMode="auto">
          <a:xfrm>
            <a:off x="196850" y="3051175"/>
            <a:ext cx="1590675" cy="2936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lnSpc>
                <a:spcPct val="80000"/>
              </a:lnSpc>
              <a:spcBef>
                <a:spcPct val="0"/>
              </a:spcBef>
              <a:buFontTx/>
              <a:buNone/>
            </a:pPr>
            <a:r>
              <a:rPr lang="en-GB" altLang="en-US" sz="1600">
                <a:solidFill>
                  <a:schemeClr val="tx1"/>
                </a:solidFill>
                <a:latin typeface="Calibri" panose="020F0502020204030204" pitchFamily="34" charset="0"/>
              </a:rPr>
              <a:t>Stromatoporoids</a:t>
            </a:r>
          </a:p>
        </p:txBody>
      </p:sp>
      <p:sp>
        <p:nvSpPr>
          <p:cNvPr id="12301" name="Rectangle 19">
            <a:extLst>
              <a:ext uri="{FF2B5EF4-FFF2-40B4-BE49-F238E27FC236}">
                <a16:creationId xmlns:a16="http://schemas.microsoft.com/office/drawing/2014/main" id="{5F8BD083-6280-4747-8BED-2210B2A716A5}"/>
              </a:ext>
            </a:extLst>
          </p:cNvPr>
          <p:cNvSpPr>
            <a:spLocks noChangeArrowheads="1"/>
          </p:cNvSpPr>
          <p:nvPr/>
        </p:nvSpPr>
        <p:spPr bwMode="auto">
          <a:xfrm>
            <a:off x="2740025" y="3055938"/>
            <a:ext cx="879475" cy="2936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lnSpc>
                <a:spcPct val="80000"/>
              </a:lnSpc>
              <a:spcBef>
                <a:spcPct val="0"/>
              </a:spcBef>
              <a:buFontTx/>
              <a:buNone/>
            </a:pPr>
            <a:r>
              <a:rPr lang="en-GB" altLang="en-US" sz="1600">
                <a:solidFill>
                  <a:schemeClr val="tx1"/>
                </a:solidFill>
                <a:latin typeface="Calibri" panose="020F0502020204030204" pitchFamily="34" charset="0"/>
              </a:rPr>
              <a:t>Sponges</a:t>
            </a:r>
          </a:p>
        </p:txBody>
      </p:sp>
      <p:sp>
        <p:nvSpPr>
          <p:cNvPr id="12302" name="Rectangle 20">
            <a:extLst>
              <a:ext uri="{FF2B5EF4-FFF2-40B4-BE49-F238E27FC236}">
                <a16:creationId xmlns:a16="http://schemas.microsoft.com/office/drawing/2014/main" id="{D1DC7500-39AB-4DFC-9EC4-F93756D33334}"/>
              </a:ext>
            </a:extLst>
          </p:cNvPr>
          <p:cNvSpPr>
            <a:spLocks noChangeArrowheads="1"/>
          </p:cNvSpPr>
          <p:nvPr/>
        </p:nvSpPr>
        <p:spPr bwMode="auto">
          <a:xfrm>
            <a:off x="1643063" y="4970463"/>
            <a:ext cx="850900" cy="2936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lnSpc>
                <a:spcPct val="80000"/>
              </a:lnSpc>
              <a:spcBef>
                <a:spcPct val="0"/>
              </a:spcBef>
              <a:buFontTx/>
              <a:buNone/>
            </a:pPr>
            <a:r>
              <a:rPr lang="en-GB" altLang="en-US" sz="1600">
                <a:solidFill>
                  <a:schemeClr val="tx1"/>
                </a:solidFill>
                <a:latin typeface="Calibri" panose="020F0502020204030204" pitchFamily="34" charset="0"/>
              </a:rPr>
              <a:t>Bryozoa</a:t>
            </a:r>
          </a:p>
        </p:txBody>
      </p:sp>
      <p:sp>
        <p:nvSpPr>
          <p:cNvPr id="12303" name="Rectangle 21">
            <a:extLst>
              <a:ext uri="{FF2B5EF4-FFF2-40B4-BE49-F238E27FC236}">
                <a16:creationId xmlns:a16="http://schemas.microsoft.com/office/drawing/2014/main" id="{FE5E6AC3-E9B4-4365-AAFC-46AF2171E6AE}"/>
              </a:ext>
            </a:extLst>
          </p:cNvPr>
          <p:cNvSpPr>
            <a:spLocks noChangeArrowheads="1"/>
          </p:cNvSpPr>
          <p:nvPr/>
        </p:nvSpPr>
        <p:spPr bwMode="auto">
          <a:xfrm>
            <a:off x="2747963" y="6264275"/>
            <a:ext cx="863600" cy="2936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lnSpc>
                <a:spcPct val="80000"/>
              </a:lnSpc>
              <a:spcBef>
                <a:spcPct val="0"/>
              </a:spcBef>
              <a:buFontTx/>
              <a:buNone/>
            </a:pPr>
            <a:r>
              <a:rPr lang="en-GB" altLang="en-US" sz="1600">
                <a:solidFill>
                  <a:schemeClr val="tx1"/>
                </a:solidFill>
                <a:latin typeface="Calibri" panose="020F0502020204030204" pitchFamily="34" charset="0"/>
              </a:rPr>
              <a:t>Crinoids</a:t>
            </a:r>
          </a:p>
        </p:txBody>
      </p:sp>
      <p:sp>
        <p:nvSpPr>
          <p:cNvPr id="17" name="Rectangle 4">
            <a:extLst>
              <a:ext uri="{FF2B5EF4-FFF2-40B4-BE49-F238E27FC236}">
                <a16:creationId xmlns:a16="http://schemas.microsoft.com/office/drawing/2014/main" id="{9AD13E8D-E631-497C-9988-F3A5B696902C}"/>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027E9BB8-0799-4C66-AE22-584BE299749F}"/>
              </a:ext>
            </a:extLst>
          </p:cNvPr>
          <p:cNvSpPr>
            <a:spLocks noGrp="1" noChangeArrowheads="1"/>
          </p:cNvSpPr>
          <p:nvPr>
            <p:ph type="body" idx="1"/>
          </p:nvPr>
        </p:nvSpPr>
        <p:spPr>
          <a:xfrm>
            <a:off x="193675" y="1270000"/>
            <a:ext cx="5994400" cy="5141913"/>
          </a:xfrm>
        </p:spPr>
        <p:txBody>
          <a:bodyPr/>
          <a:lstStyle/>
          <a:p>
            <a:pPr marL="0" indent="0" eaLnBrk="1" hangingPunct="1">
              <a:lnSpc>
                <a:spcPct val="80000"/>
              </a:lnSpc>
              <a:buFontTx/>
              <a:buNone/>
              <a:defRPr/>
            </a:pPr>
            <a:r>
              <a:rPr lang="en-US" altLang="en-US" sz="2000" b="1" u="sng" dirty="0">
                <a:solidFill>
                  <a:schemeClr val="tx1"/>
                </a:solidFill>
                <a:latin typeface="Calibri" panose="020F0502020204030204" pitchFamily="34" charset="0"/>
              </a:rPr>
              <a:t>(II) PLANKTON, NEKTON AND BENTHOS</a:t>
            </a:r>
          </a:p>
          <a:p>
            <a:pPr marL="0" indent="0" eaLnBrk="1" hangingPunct="1">
              <a:lnSpc>
                <a:spcPct val="80000"/>
              </a:lnSpc>
              <a:buFontTx/>
              <a:buNone/>
              <a:defRPr/>
            </a:pPr>
            <a:endParaRPr lang="en-US" altLang="en-US" sz="2000" b="1" dirty="0">
              <a:solidFill>
                <a:schemeClr val="tx1"/>
              </a:solidFill>
              <a:latin typeface="Calibri" panose="020F0502020204030204" pitchFamily="34" charset="0"/>
            </a:endParaRPr>
          </a:p>
          <a:p>
            <a:pPr eaLnBrk="1" hangingPunct="1">
              <a:lnSpc>
                <a:spcPct val="80000"/>
              </a:lnSpc>
              <a:defRPr/>
            </a:pPr>
            <a:r>
              <a:rPr lang="en-US" altLang="en-US" sz="2000" b="1" dirty="0">
                <a:solidFill>
                  <a:schemeClr val="tx1"/>
                </a:solidFill>
                <a:latin typeface="Calibri" panose="020F0502020204030204" pitchFamily="34" charset="0"/>
              </a:rPr>
              <a:t>This refers to free moving organisms that could potentially contribute carbonate skeletal material to sediment</a:t>
            </a:r>
          </a:p>
          <a:p>
            <a:pPr marL="457200" lvl="1" indent="0">
              <a:buFontTx/>
              <a:buNone/>
              <a:defRPr/>
            </a:pPr>
            <a:endParaRPr lang="en-GB" sz="2000" dirty="0">
              <a:solidFill>
                <a:schemeClr val="tx1"/>
              </a:solidFill>
              <a:latin typeface="Calibri" panose="020F0502020204030204" pitchFamily="34" charset="0"/>
              <a:sym typeface="Wingdings" pitchFamily="2" charset="2"/>
            </a:endParaRPr>
          </a:p>
          <a:p>
            <a:pPr marL="457200" lvl="1" indent="0">
              <a:buFontTx/>
              <a:buNone/>
              <a:defRPr/>
            </a:pPr>
            <a:r>
              <a:rPr lang="en-GB" sz="2000" dirty="0">
                <a:solidFill>
                  <a:schemeClr val="tx1"/>
                </a:solidFill>
                <a:latin typeface="Calibri" panose="020F0502020204030204" pitchFamily="34" charset="0"/>
                <a:sym typeface="Wingdings" pitchFamily="2" charset="2"/>
              </a:rPr>
              <a:t></a:t>
            </a:r>
            <a:r>
              <a:rPr lang="en-GB" sz="2000" u="sng" dirty="0">
                <a:solidFill>
                  <a:schemeClr val="tx1"/>
                </a:solidFill>
                <a:latin typeface="Calibri" panose="020F0502020204030204" pitchFamily="34" charset="0"/>
                <a:sym typeface="Wingdings" pitchFamily="2" charset="2"/>
              </a:rPr>
              <a:t>Plankton</a:t>
            </a:r>
            <a:r>
              <a:rPr lang="en-GB" sz="2000" dirty="0">
                <a:solidFill>
                  <a:schemeClr val="tx1"/>
                </a:solidFill>
                <a:latin typeface="Calibri" panose="020F0502020204030204" pitchFamily="34" charset="0"/>
                <a:sym typeface="Wingdings" pitchFamily="2" charset="2"/>
              </a:rPr>
              <a:t> are those that drift (microorganisms are common: e.g. Algae, some foraminifera).</a:t>
            </a:r>
          </a:p>
          <a:p>
            <a:pPr marL="457200" lvl="1" indent="0">
              <a:buFontTx/>
              <a:buNone/>
              <a:defRPr/>
            </a:pPr>
            <a:endParaRPr lang="en-GB" sz="2000" dirty="0">
              <a:solidFill>
                <a:schemeClr val="tx1"/>
              </a:solidFill>
              <a:latin typeface="Calibri" panose="020F0502020204030204" pitchFamily="34" charset="0"/>
              <a:sym typeface="Wingdings" pitchFamily="2" charset="2"/>
            </a:endParaRPr>
          </a:p>
          <a:p>
            <a:pPr marL="457200" lvl="1" indent="0">
              <a:buFontTx/>
              <a:buNone/>
              <a:defRPr/>
            </a:pPr>
            <a:r>
              <a:rPr lang="en-GB" sz="2000" dirty="0">
                <a:solidFill>
                  <a:schemeClr val="tx1"/>
                </a:solidFill>
                <a:latin typeface="Calibri" panose="020F0502020204030204" pitchFamily="34" charset="0"/>
                <a:sym typeface="Wingdings" pitchFamily="2" charset="2"/>
              </a:rPr>
              <a:t></a:t>
            </a:r>
            <a:r>
              <a:rPr lang="en-GB" sz="2000" u="sng" dirty="0">
                <a:solidFill>
                  <a:schemeClr val="tx1"/>
                </a:solidFill>
                <a:latin typeface="Calibri" panose="020F0502020204030204" pitchFamily="34" charset="0"/>
                <a:sym typeface="Wingdings" pitchFamily="2" charset="2"/>
              </a:rPr>
              <a:t>Nekton</a:t>
            </a:r>
            <a:r>
              <a:rPr lang="en-GB" sz="2000" dirty="0">
                <a:solidFill>
                  <a:schemeClr val="tx1"/>
                </a:solidFill>
                <a:latin typeface="Calibri" panose="020F0502020204030204" pitchFamily="34" charset="0"/>
                <a:sym typeface="Wingdings" pitchFamily="2" charset="2"/>
              </a:rPr>
              <a:t> are those that swim (</a:t>
            </a:r>
            <a:r>
              <a:rPr lang="en-GB" sz="2000" dirty="0" err="1">
                <a:solidFill>
                  <a:schemeClr val="tx1"/>
                </a:solidFill>
                <a:latin typeface="Calibri" panose="020F0502020204030204" pitchFamily="34" charset="0"/>
                <a:sym typeface="Wingdings" pitchFamily="2" charset="2"/>
              </a:rPr>
              <a:t>macroorganisms</a:t>
            </a:r>
            <a:r>
              <a:rPr lang="en-GB" sz="2000" dirty="0">
                <a:solidFill>
                  <a:schemeClr val="tx1"/>
                </a:solidFill>
                <a:latin typeface="Calibri" panose="020F0502020204030204" pitchFamily="34" charset="0"/>
                <a:sym typeface="Wingdings" pitchFamily="2" charset="2"/>
              </a:rPr>
              <a:t> are common: e.g. Cuttlefish in the modern day).</a:t>
            </a:r>
          </a:p>
          <a:p>
            <a:pPr marL="457200" lvl="1" indent="0">
              <a:buFontTx/>
              <a:buNone/>
              <a:defRPr/>
            </a:pPr>
            <a:endParaRPr lang="en-GB" sz="2000" dirty="0">
              <a:solidFill>
                <a:schemeClr val="tx1"/>
              </a:solidFill>
              <a:latin typeface="Calibri" panose="020F0502020204030204" pitchFamily="34" charset="0"/>
              <a:sym typeface="Wingdings" pitchFamily="2" charset="2"/>
            </a:endParaRPr>
          </a:p>
          <a:p>
            <a:pPr marL="457200" lvl="1" indent="0">
              <a:buFontTx/>
              <a:buNone/>
              <a:defRPr/>
            </a:pPr>
            <a:r>
              <a:rPr lang="en-GB" sz="2000" dirty="0">
                <a:solidFill>
                  <a:schemeClr val="tx1"/>
                </a:solidFill>
                <a:latin typeface="Calibri" panose="020F0502020204030204" pitchFamily="34" charset="0"/>
                <a:sym typeface="Wingdings" pitchFamily="2" charset="2"/>
              </a:rPr>
              <a:t></a:t>
            </a:r>
            <a:r>
              <a:rPr lang="en-GB" sz="2000" u="sng" dirty="0">
                <a:solidFill>
                  <a:schemeClr val="tx1"/>
                </a:solidFill>
                <a:latin typeface="Calibri" panose="020F0502020204030204" pitchFamily="34" charset="0"/>
                <a:sym typeface="Wingdings" panose="05000000000000000000" pitchFamily="2" charset="2"/>
              </a:rPr>
              <a:t>Benthos</a:t>
            </a:r>
            <a:r>
              <a:rPr lang="en-GB" sz="2000" dirty="0">
                <a:solidFill>
                  <a:schemeClr val="tx1"/>
                </a:solidFill>
                <a:latin typeface="Calibri" panose="020F0502020204030204" pitchFamily="34" charset="0"/>
                <a:sym typeface="Wingdings" panose="05000000000000000000" pitchFamily="2" charset="2"/>
              </a:rPr>
              <a:t> are those that live on or in the sediment (many micro-types, e.g. some </a:t>
            </a:r>
            <a:r>
              <a:rPr lang="en-GB" sz="2000" dirty="0" err="1">
                <a:solidFill>
                  <a:schemeClr val="tx1"/>
                </a:solidFill>
                <a:latin typeface="Calibri" panose="020F0502020204030204" pitchFamily="34" charset="0"/>
                <a:sym typeface="Wingdings" panose="05000000000000000000" pitchFamily="2" charset="2"/>
              </a:rPr>
              <a:t>foramenifera</a:t>
            </a:r>
            <a:r>
              <a:rPr lang="en-GB" sz="2000" dirty="0">
                <a:solidFill>
                  <a:schemeClr val="tx1"/>
                </a:solidFill>
                <a:latin typeface="Calibri" panose="020F0502020204030204" pitchFamily="34" charset="0"/>
                <a:sym typeface="Wingdings" panose="05000000000000000000" pitchFamily="2" charset="2"/>
              </a:rPr>
              <a:t>, and macro-types, e.g. Gastropods, Bivalves)</a:t>
            </a:r>
          </a:p>
          <a:p>
            <a:pPr marL="457200" lvl="1" indent="0">
              <a:buFontTx/>
              <a:buNone/>
              <a:defRPr/>
            </a:pPr>
            <a:endParaRPr lang="en-GB" sz="2000" dirty="0">
              <a:solidFill>
                <a:schemeClr val="tx1"/>
              </a:solidFill>
              <a:latin typeface="Calibri" panose="020F0502020204030204" pitchFamily="34" charset="0"/>
              <a:sym typeface="Wingdings" panose="05000000000000000000" pitchFamily="2" charset="2"/>
            </a:endParaRPr>
          </a:p>
          <a:p>
            <a:pPr eaLnBrk="1" hangingPunct="1">
              <a:lnSpc>
                <a:spcPct val="80000"/>
              </a:lnSpc>
              <a:defRPr/>
            </a:pPr>
            <a:endParaRPr lang="en-US" altLang="en-US" sz="2000" b="1" dirty="0">
              <a:solidFill>
                <a:schemeClr val="tx1"/>
              </a:solidFill>
              <a:latin typeface="Calibri" panose="020F0502020204030204" pitchFamily="34" charset="0"/>
            </a:endParaRPr>
          </a:p>
          <a:p>
            <a:pPr marL="0" indent="0" eaLnBrk="1" hangingPunct="1">
              <a:lnSpc>
                <a:spcPct val="80000"/>
              </a:lnSpc>
              <a:buFontTx/>
              <a:buNone/>
              <a:defRPr/>
            </a:pPr>
            <a:endParaRPr lang="en-US" altLang="en-US" sz="2000" b="1" dirty="0">
              <a:solidFill>
                <a:schemeClr val="tx1"/>
              </a:solidFill>
              <a:latin typeface="Calibri" panose="020F0502020204030204" pitchFamily="34" charset="0"/>
            </a:endParaRPr>
          </a:p>
        </p:txBody>
      </p:sp>
      <p:pic>
        <p:nvPicPr>
          <p:cNvPr id="13316" name="Picture 4">
            <a:extLst>
              <a:ext uri="{FF2B5EF4-FFF2-40B4-BE49-F238E27FC236}">
                <a16:creationId xmlns:a16="http://schemas.microsoft.com/office/drawing/2014/main" id="{64C34159-7365-4A6F-B024-F1B7980CD45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342063" y="1095375"/>
            <a:ext cx="273685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5">
            <a:extLst>
              <a:ext uri="{FF2B5EF4-FFF2-40B4-BE49-F238E27FC236}">
                <a16:creationId xmlns:a16="http://schemas.microsoft.com/office/drawing/2014/main" id="{C12FE008-DD9B-48E4-9BCC-2B92F09DFFD3}"/>
              </a:ext>
            </a:extLst>
          </p:cNvPr>
          <p:cNvSpPr>
            <a:spLocks noChangeArrowheads="1"/>
          </p:cNvSpPr>
          <p:nvPr/>
        </p:nvSpPr>
        <p:spPr bwMode="auto">
          <a:xfrm>
            <a:off x="8067675" y="2525713"/>
            <a:ext cx="1011238"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lgn="r" eaLnBrk="1" hangingPunct="1">
              <a:spcBef>
                <a:spcPct val="0"/>
              </a:spcBef>
              <a:buFontTx/>
              <a:buNone/>
            </a:pPr>
            <a:r>
              <a:rPr lang="it-IT" altLang="en-US" sz="1200"/>
              <a:t>L. A.= 3 mm</a:t>
            </a:r>
            <a:endParaRPr lang="en-US" altLang="en-US" sz="1200"/>
          </a:p>
        </p:txBody>
      </p:sp>
      <p:sp>
        <p:nvSpPr>
          <p:cNvPr id="13318" name="Text Box 6">
            <a:extLst>
              <a:ext uri="{FF2B5EF4-FFF2-40B4-BE49-F238E27FC236}">
                <a16:creationId xmlns:a16="http://schemas.microsoft.com/office/drawing/2014/main" id="{0C84E0BF-4D3D-4CED-975C-64E5A7DB467B}"/>
              </a:ext>
            </a:extLst>
          </p:cNvPr>
          <p:cNvSpPr txBox="1">
            <a:spLocks noChangeArrowheads="1"/>
          </p:cNvSpPr>
          <p:nvPr/>
        </p:nvSpPr>
        <p:spPr bwMode="auto">
          <a:xfrm>
            <a:off x="6411913" y="1147763"/>
            <a:ext cx="1508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buFontTx/>
              <a:buNone/>
            </a:pPr>
            <a:r>
              <a:rPr lang="en-GB" altLang="en-US" sz="1600" b="1">
                <a:solidFill>
                  <a:srgbClr val="FFFF00"/>
                </a:solidFill>
              </a:rPr>
              <a:t>Globigerinids</a:t>
            </a:r>
            <a:endParaRPr lang="en-US" altLang="en-US" sz="1600" b="1">
              <a:solidFill>
                <a:srgbClr val="FFFF00"/>
              </a:solidFill>
            </a:endParaRPr>
          </a:p>
        </p:txBody>
      </p:sp>
      <p:pic>
        <p:nvPicPr>
          <p:cNvPr id="13319" name="Picture 7">
            <a:extLst>
              <a:ext uri="{FF2B5EF4-FFF2-40B4-BE49-F238E27FC236}">
                <a16:creationId xmlns:a16="http://schemas.microsoft.com/office/drawing/2014/main" id="{C3F4D4A8-2783-4B66-965E-327EFA5D720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318250" y="4986338"/>
            <a:ext cx="2760663"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Text Box 8">
            <a:extLst>
              <a:ext uri="{FF2B5EF4-FFF2-40B4-BE49-F238E27FC236}">
                <a16:creationId xmlns:a16="http://schemas.microsoft.com/office/drawing/2014/main" id="{021DD81F-9110-4F10-891E-02F9C4765030}"/>
              </a:ext>
            </a:extLst>
          </p:cNvPr>
          <p:cNvSpPr txBox="1">
            <a:spLocks noChangeArrowheads="1"/>
          </p:cNvSpPr>
          <p:nvPr/>
        </p:nvSpPr>
        <p:spPr bwMode="auto">
          <a:xfrm>
            <a:off x="6342063" y="5010150"/>
            <a:ext cx="21510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buFontTx/>
              <a:buNone/>
            </a:pPr>
            <a:r>
              <a:rPr lang="en-GB" altLang="en-US" sz="1400" b="1" i="1">
                <a:solidFill>
                  <a:srgbClr val="FFFF00"/>
                </a:solidFill>
              </a:rPr>
              <a:t>Amphestegina</a:t>
            </a:r>
            <a:r>
              <a:rPr lang="en-GB" altLang="en-US" sz="1400" b="1">
                <a:solidFill>
                  <a:srgbClr val="FFFF00"/>
                </a:solidFill>
              </a:rPr>
              <a:t> benthic </a:t>
            </a:r>
          </a:p>
          <a:p>
            <a:pPr eaLnBrk="1" hangingPunct="1">
              <a:spcBef>
                <a:spcPct val="0"/>
              </a:spcBef>
              <a:buFontTx/>
              <a:buNone/>
            </a:pPr>
            <a:r>
              <a:rPr lang="en-GB" altLang="en-US" sz="1400" b="1">
                <a:solidFill>
                  <a:srgbClr val="FFFF00"/>
                </a:solidFill>
              </a:rPr>
              <a:t>foraminifera</a:t>
            </a:r>
            <a:endParaRPr lang="en-US" altLang="en-US" sz="1400" b="1">
              <a:solidFill>
                <a:srgbClr val="FFFF00"/>
              </a:solidFill>
            </a:endParaRPr>
          </a:p>
        </p:txBody>
      </p:sp>
      <p:sp>
        <p:nvSpPr>
          <p:cNvPr id="13321" name="Rectangle 5">
            <a:extLst>
              <a:ext uri="{FF2B5EF4-FFF2-40B4-BE49-F238E27FC236}">
                <a16:creationId xmlns:a16="http://schemas.microsoft.com/office/drawing/2014/main" id="{2B24C642-1025-45A8-8EF1-957BD0E22636}"/>
              </a:ext>
            </a:extLst>
          </p:cNvPr>
          <p:cNvSpPr>
            <a:spLocks noChangeArrowheads="1"/>
          </p:cNvSpPr>
          <p:nvPr/>
        </p:nvSpPr>
        <p:spPr bwMode="auto">
          <a:xfrm>
            <a:off x="7986713" y="6359525"/>
            <a:ext cx="1011237"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lgn="r" eaLnBrk="1" hangingPunct="1">
              <a:spcBef>
                <a:spcPct val="0"/>
              </a:spcBef>
              <a:buFontTx/>
              <a:buNone/>
            </a:pPr>
            <a:r>
              <a:rPr lang="it-IT" altLang="en-US" sz="1200"/>
              <a:t>L. A.= 3 mm</a:t>
            </a:r>
            <a:endParaRPr lang="en-US" altLang="en-US" sz="1200"/>
          </a:p>
        </p:txBody>
      </p:sp>
      <p:pic>
        <p:nvPicPr>
          <p:cNvPr id="13322" name="Picture 10" descr="http://www.tnaqua.org/media/wallpaper/cuttlefish_800x600.jpg">
            <a:extLst>
              <a:ext uri="{FF2B5EF4-FFF2-40B4-BE49-F238E27FC236}">
                <a16:creationId xmlns:a16="http://schemas.microsoft.com/office/drawing/2014/main" id="{00A46C9F-0D48-46C7-A444-6F2F19C4352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342063" y="2947988"/>
            <a:ext cx="2655887"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3" name="Text Box 6">
            <a:extLst>
              <a:ext uri="{FF2B5EF4-FFF2-40B4-BE49-F238E27FC236}">
                <a16:creationId xmlns:a16="http://schemas.microsoft.com/office/drawing/2014/main" id="{5A4C529A-6BD2-4124-828D-80F13C523A22}"/>
              </a:ext>
            </a:extLst>
          </p:cNvPr>
          <p:cNvSpPr txBox="1">
            <a:spLocks noChangeArrowheads="1"/>
          </p:cNvSpPr>
          <p:nvPr/>
        </p:nvSpPr>
        <p:spPr bwMode="auto">
          <a:xfrm>
            <a:off x="7775575" y="3030538"/>
            <a:ext cx="11334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buFontTx/>
              <a:buNone/>
            </a:pPr>
            <a:r>
              <a:rPr lang="en-GB" altLang="en-US" sz="1600" b="1">
                <a:solidFill>
                  <a:srgbClr val="FFFF00"/>
                </a:solidFill>
              </a:rPr>
              <a:t>Cuttlefish</a:t>
            </a:r>
            <a:endParaRPr lang="en-US" altLang="en-US" sz="1600" b="1">
              <a:solidFill>
                <a:srgbClr val="FFFF00"/>
              </a:solidFill>
            </a:endParaRPr>
          </a:p>
        </p:txBody>
      </p:sp>
      <p:sp>
        <p:nvSpPr>
          <p:cNvPr id="12" name="Rectangle 4">
            <a:extLst>
              <a:ext uri="{FF2B5EF4-FFF2-40B4-BE49-F238E27FC236}">
                <a16:creationId xmlns:a16="http://schemas.microsoft.com/office/drawing/2014/main" id="{000FFE62-E072-42A2-966A-4C71014B3920}"/>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3C2B9515-CEB3-42C9-A5A0-BFD9EF4E8079}"/>
              </a:ext>
            </a:extLst>
          </p:cNvPr>
          <p:cNvSpPr>
            <a:spLocks noGrp="1" noChangeArrowheads="1"/>
          </p:cNvSpPr>
          <p:nvPr>
            <p:ph type="body" idx="1"/>
          </p:nvPr>
        </p:nvSpPr>
        <p:spPr>
          <a:xfrm>
            <a:off x="107121" y="1441872"/>
            <a:ext cx="3317875" cy="4891815"/>
          </a:xfrm>
        </p:spPr>
        <p:txBody>
          <a:bodyPr/>
          <a:lstStyle/>
          <a:p>
            <a:pPr eaLnBrk="1" hangingPunct="1">
              <a:lnSpc>
                <a:spcPct val="80000"/>
              </a:lnSpc>
            </a:pPr>
            <a:r>
              <a:rPr lang="en-GB" altLang="en-US" sz="2200" b="1" dirty="0">
                <a:solidFill>
                  <a:schemeClr val="tx1"/>
                </a:solidFill>
                <a:latin typeface="Calibri" panose="020F0502020204030204" pitchFamily="34" charset="0"/>
              </a:rPr>
              <a:t>Inorganic precipitation of carbonate in the water column can sometimes happen</a:t>
            </a:r>
          </a:p>
          <a:p>
            <a:pPr marL="457200" lvl="1" indent="0" eaLnBrk="1" hangingPunct="1">
              <a:lnSpc>
                <a:spcPct val="80000"/>
              </a:lnSpc>
              <a:buFontTx/>
              <a:buNone/>
            </a:pPr>
            <a:r>
              <a:rPr lang="en-GB" altLang="en-US" sz="2200" dirty="0">
                <a:solidFill>
                  <a:schemeClr val="tx1"/>
                </a:solidFill>
                <a:latin typeface="Calibri" panose="020F0502020204030204" pitchFamily="34" charset="0"/>
                <a:sym typeface="Wingdings" panose="05000000000000000000" pitchFamily="2" charset="2"/>
              </a:rPr>
              <a:t>Called “</a:t>
            </a:r>
            <a:r>
              <a:rPr lang="en-GB" altLang="en-US" sz="2200" dirty="0" err="1">
                <a:solidFill>
                  <a:schemeClr val="tx1"/>
                </a:solidFill>
                <a:latin typeface="Calibri" panose="020F0502020204030204" pitchFamily="34" charset="0"/>
                <a:sym typeface="Wingdings" panose="05000000000000000000" pitchFamily="2" charset="2"/>
              </a:rPr>
              <a:t>whitings</a:t>
            </a:r>
            <a:r>
              <a:rPr lang="en-GB" altLang="en-US" sz="2200" dirty="0">
                <a:solidFill>
                  <a:schemeClr val="tx1"/>
                </a:solidFill>
                <a:latin typeface="Calibri" panose="020F0502020204030204" pitchFamily="34" charset="0"/>
                <a:sym typeface="Wingdings" panose="05000000000000000000" pitchFamily="2" charset="2"/>
              </a:rPr>
              <a:t>”</a:t>
            </a:r>
          </a:p>
          <a:p>
            <a:pPr marL="457200" lvl="1" indent="0" eaLnBrk="1" hangingPunct="1">
              <a:lnSpc>
                <a:spcPct val="80000"/>
              </a:lnSpc>
              <a:buFontTx/>
              <a:buNone/>
            </a:pPr>
            <a:r>
              <a:rPr lang="en-GB" altLang="en-US" sz="2200" dirty="0">
                <a:solidFill>
                  <a:schemeClr val="tx1"/>
                </a:solidFill>
                <a:latin typeface="Calibri" panose="020F0502020204030204" pitchFamily="34" charset="0"/>
                <a:sym typeface="Wingdings" panose="05000000000000000000" pitchFamily="2" charset="2"/>
              </a:rPr>
              <a:t>Not an overall major contributor of carbonate material</a:t>
            </a:r>
            <a:endParaRPr lang="en-GB" altLang="en-US" sz="2200" dirty="0">
              <a:solidFill>
                <a:schemeClr val="tx1"/>
              </a:solidFill>
              <a:latin typeface="Calibri" panose="020F0502020204030204" pitchFamily="34" charset="0"/>
            </a:endParaRPr>
          </a:p>
          <a:p>
            <a:pPr eaLnBrk="1" hangingPunct="1">
              <a:lnSpc>
                <a:spcPct val="80000"/>
              </a:lnSpc>
            </a:pPr>
            <a:endParaRPr lang="en-GB" altLang="en-US" sz="2200" dirty="0">
              <a:solidFill>
                <a:schemeClr val="tx1"/>
              </a:solidFill>
              <a:latin typeface="Calibri" panose="020F0502020204030204" pitchFamily="34" charset="0"/>
            </a:endParaRPr>
          </a:p>
          <a:p>
            <a:pPr eaLnBrk="1" hangingPunct="1">
              <a:lnSpc>
                <a:spcPct val="80000"/>
              </a:lnSpc>
            </a:pPr>
            <a:endParaRPr lang="en-GB" altLang="en-US" sz="2200" dirty="0">
              <a:solidFill>
                <a:schemeClr val="tx1"/>
              </a:solidFill>
              <a:latin typeface="Calibri" panose="020F0502020204030204" pitchFamily="34" charset="0"/>
            </a:endParaRPr>
          </a:p>
          <a:p>
            <a:pPr eaLnBrk="1" hangingPunct="1">
              <a:lnSpc>
                <a:spcPct val="80000"/>
              </a:lnSpc>
            </a:pPr>
            <a:r>
              <a:rPr lang="en-GB" altLang="en-US" sz="2200" b="1" dirty="0">
                <a:solidFill>
                  <a:schemeClr val="tx1"/>
                </a:solidFill>
                <a:latin typeface="Calibri" panose="020F0502020204030204" pitchFamily="34" charset="0"/>
              </a:rPr>
              <a:t>Carbonate can sometimes precipitate directly on to </a:t>
            </a:r>
            <a:r>
              <a:rPr lang="en-GB" altLang="en-US" sz="2200" b="1" dirty="0" err="1">
                <a:solidFill>
                  <a:schemeClr val="tx1"/>
                </a:solidFill>
                <a:latin typeface="Calibri" panose="020F0502020204030204" pitchFamily="34" charset="0"/>
              </a:rPr>
              <a:t>prexisting</a:t>
            </a:r>
            <a:r>
              <a:rPr lang="en-GB" altLang="en-US" sz="2200" b="1" dirty="0">
                <a:solidFill>
                  <a:schemeClr val="tx1"/>
                </a:solidFill>
                <a:latin typeface="Calibri" panose="020F0502020204030204" pitchFamily="34" charset="0"/>
              </a:rPr>
              <a:t> grain surfaces.</a:t>
            </a:r>
          </a:p>
          <a:p>
            <a:pPr marL="457200" lvl="1" indent="0" eaLnBrk="1" hangingPunct="1">
              <a:lnSpc>
                <a:spcPct val="80000"/>
              </a:lnSpc>
              <a:buNone/>
            </a:pPr>
            <a:r>
              <a:rPr lang="en-GB" altLang="en-US" sz="1800" dirty="0">
                <a:solidFill>
                  <a:schemeClr val="tx1"/>
                </a:solidFill>
                <a:latin typeface="Calibri" panose="020F0502020204030204" pitchFamily="34" charset="0"/>
                <a:sym typeface="Wingdings" panose="05000000000000000000" pitchFamily="2" charset="2"/>
              </a:rPr>
              <a:t></a:t>
            </a:r>
            <a:r>
              <a:rPr lang="en-GB" altLang="en-US" sz="2200" dirty="0">
                <a:solidFill>
                  <a:schemeClr val="tx1"/>
                </a:solidFill>
                <a:latin typeface="Calibri" panose="020F0502020204030204" pitchFamily="34" charset="0"/>
              </a:rPr>
              <a:t>These are called “coated grains”</a:t>
            </a:r>
            <a:endParaRPr lang="en-US" altLang="en-US" sz="2200" dirty="0">
              <a:solidFill>
                <a:schemeClr val="tx1"/>
              </a:solidFill>
              <a:latin typeface="Calibri" panose="020F0502020204030204" pitchFamily="34" charset="0"/>
            </a:endParaRPr>
          </a:p>
        </p:txBody>
      </p:sp>
      <p:pic>
        <p:nvPicPr>
          <p:cNvPr id="14339" name="Picture 4">
            <a:extLst>
              <a:ext uri="{FF2B5EF4-FFF2-40B4-BE49-F238E27FC236}">
                <a16:creationId xmlns:a16="http://schemas.microsoft.com/office/drawing/2014/main" id="{BB278A67-45DD-48C4-A18E-1E3220B7E74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467100" y="1289050"/>
            <a:ext cx="5495925"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5">
            <a:extLst>
              <a:ext uri="{FF2B5EF4-FFF2-40B4-BE49-F238E27FC236}">
                <a16:creationId xmlns:a16="http://schemas.microsoft.com/office/drawing/2014/main" id="{8E9EFE0F-B9A8-4B18-992B-0FA88A975A70}"/>
              </a:ext>
            </a:extLst>
          </p:cNvPr>
          <p:cNvSpPr>
            <a:spLocks noChangeArrowheads="1"/>
          </p:cNvSpPr>
          <p:nvPr/>
        </p:nvSpPr>
        <p:spPr bwMode="auto">
          <a:xfrm>
            <a:off x="3548543" y="1359693"/>
            <a:ext cx="5310405" cy="738664"/>
          </a:xfrm>
          <a:prstGeom prst="rect">
            <a:avLst/>
          </a:prstGeom>
          <a:solidFill>
            <a:schemeClr val="bg1"/>
          </a:solidFill>
          <a:ln>
            <a:noFill/>
          </a:ln>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buFontTx/>
              <a:buNone/>
            </a:pPr>
            <a:r>
              <a:rPr lang="en-GB" altLang="en-US" sz="1400" dirty="0"/>
              <a:t>"</a:t>
            </a:r>
            <a:r>
              <a:rPr lang="en-GB" altLang="en-US" sz="1400" dirty="0" err="1"/>
              <a:t>Whitings</a:t>
            </a:r>
            <a:r>
              <a:rPr lang="en-GB" altLang="en-US" sz="1400" dirty="0"/>
              <a:t>" in the northern Belize shelf lagoon, elongated in a general east to west direction.  The uppermost "whiting" is on the order of 300 m long.</a:t>
            </a:r>
          </a:p>
        </p:txBody>
      </p:sp>
      <p:sp>
        <p:nvSpPr>
          <p:cNvPr id="14342" name="Line 7">
            <a:extLst>
              <a:ext uri="{FF2B5EF4-FFF2-40B4-BE49-F238E27FC236}">
                <a16:creationId xmlns:a16="http://schemas.microsoft.com/office/drawing/2014/main" id="{5D3095F6-75EA-4B18-A1E0-FB8ACFE4003C}"/>
              </a:ext>
            </a:extLst>
          </p:cNvPr>
          <p:cNvSpPr>
            <a:spLocks noChangeShapeType="1"/>
          </p:cNvSpPr>
          <p:nvPr/>
        </p:nvSpPr>
        <p:spPr bwMode="auto">
          <a:xfrm flipH="1">
            <a:off x="6521450" y="2773363"/>
            <a:ext cx="479425" cy="314325"/>
          </a:xfrm>
          <a:prstGeom prst="line">
            <a:avLst/>
          </a:prstGeom>
          <a:noFill/>
          <a:ln w="571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4343" name="Line 8">
            <a:extLst>
              <a:ext uri="{FF2B5EF4-FFF2-40B4-BE49-F238E27FC236}">
                <a16:creationId xmlns:a16="http://schemas.microsoft.com/office/drawing/2014/main" id="{EE9CD082-DADE-47FB-B1D3-C6E57BFB17F6}"/>
              </a:ext>
            </a:extLst>
          </p:cNvPr>
          <p:cNvSpPr>
            <a:spLocks noChangeShapeType="1"/>
          </p:cNvSpPr>
          <p:nvPr/>
        </p:nvSpPr>
        <p:spPr bwMode="auto">
          <a:xfrm flipH="1">
            <a:off x="7502525" y="3429000"/>
            <a:ext cx="479425" cy="314325"/>
          </a:xfrm>
          <a:prstGeom prst="line">
            <a:avLst/>
          </a:prstGeom>
          <a:noFill/>
          <a:ln w="571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4344" name="Line 9">
            <a:extLst>
              <a:ext uri="{FF2B5EF4-FFF2-40B4-BE49-F238E27FC236}">
                <a16:creationId xmlns:a16="http://schemas.microsoft.com/office/drawing/2014/main" id="{2BB6BCB8-4C1C-49D6-A8F2-D8CDF3E8FF83}"/>
              </a:ext>
            </a:extLst>
          </p:cNvPr>
          <p:cNvSpPr>
            <a:spLocks noChangeShapeType="1"/>
          </p:cNvSpPr>
          <p:nvPr/>
        </p:nvSpPr>
        <p:spPr bwMode="auto">
          <a:xfrm flipH="1">
            <a:off x="5283200" y="4022725"/>
            <a:ext cx="479425" cy="314325"/>
          </a:xfrm>
          <a:prstGeom prst="line">
            <a:avLst/>
          </a:prstGeom>
          <a:noFill/>
          <a:ln w="571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10" name="Picture 2" descr="http://upload.wikimedia.org/wikipedia/commons/1/10/JoultersCayOoids.jpg">
            <a:extLst>
              <a:ext uri="{FF2B5EF4-FFF2-40B4-BE49-F238E27FC236}">
                <a16:creationId xmlns:a16="http://schemas.microsoft.com/office/drawing/2014/main" id="{F4C99464-A2AE-4B5D-ADF2-0CE439D0807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728209" y="4947442"/>
            <a:ext cx="2472122" cy="185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http://kurdistan-geology.com/wp-content/uploads/2011/12/oncolite-Fig6.jpg">
            <a:extLst>
              <a:ext uri="{FF2B5EF4-FFF2-40B4-BE49-F238E27FC236}">
                <a16:creationId xmlns:a16="http://schemas.microsoft.com/office/drawing/2014/main" id="{B0E36A8F-3200-421E-93AD-9828D422946B}"/>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476222" y="4947443"/>
            <a:ext cx="2382725" cy="18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0">
            <a:extLst>
              <a:ext uri="{FF2B5EF4-FFF2-40B4-BE49-F238E27FC236}">
                <a16:creationId xmlns:a16="http://schemas.microsoft.com/office/drawing/2014/main" id="{18E2681E-CA1C-42E1-8EDF-6D36417AB203}"/>
              </a:ext>
            </a:extLst>
          </p:cNvPr>
          <p:cNvSpPr txBox="1">
            <a:spLocks noChangeArrowheads="1"/>
          </p:cNvSpPr>
          <p:nvPr/>
        </p:nvSpPr>
        <p:spPr bwMode="auto">
          <a:xfrm>
            <a:off x="3892454" y="5029359"/>
            <a:ext cx="1598613"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800" b="1" dirty="0">
                <a:solidFill>
                  <a:schemeClr val="tx1"/>
                </a:solidFill>
              </a:rPr>
              <a:t>Ooid/</a:t>
            </a:r>
            <a:r>
              <a:rPr lang="en-US" altLang="en-US" sz="1800" b="1" dirty="0" err="1">
                <a:solidFill>
                  <a:schemeClr val="tx1"/>
                </a:solidFill>
              </a:rPr>
              <a:t>pesoid</a:t>
            </a:r>
            <a:endParaRPr lang="en-US" altLang="en-US" sz="1800" b="1" dirty="0">
              <a:solidFill>
                <a:schemeClr val="tx1"/>
              </a:solidFill>
            </a:endParaRPr>
          </a:p>
        </p:txBody>
      </p:sp>
      <p:sp>
        <p:nvSpPr>
          <p:cNvPr id="13" name="Text Box 30">
            <a:extLst>
              <a:ext uri="{FF2B5EF4-FFF2-40B4-BE49-F238E27FC236}">
                <a16:creationId xmlns:a16="http://schemas.microsoft.com/office/drawing/2014/main" id="{5B40BE3E-E1A4-47E1-B15F-F44AC1B7CA4D}"/>
              </a:ext>
            </a:extLst>
          </p:cNvPr>
          <p:cNvSpPr txBox="1">
            <a:spLocks noChangeArrowheads="1"/>
          </p:cNvSpPr>
          <p:nvPr/>
        </p:nvSpPr>
        <p:spPr bwMode="auto">
          <a:xfrm>
            <a:off x="6521450" y="5018331"/>
            <a:ext cx="1039812"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800" b="1" dirty="0" err="1">
                <a:solidFill>
                  <a:schemeClr val="tx1"/>
                </a:solidFill>
              </a:rPr>
              <a:t>Oncoid</a:t>
            </a:r>
            <a:endParaRPr lang="en-US" altLang="en-US" sz="1800" b="1" dirty="0">
              <a:solidFill>
                <a:schemeClr val="tx1"/>
              </a:solidFill>
            </a:endParaRPr>
          </a:p>
        </p:txBody>
      </p:sp>
      <p:sp>
        <p:nvSpPr>
          <p:cNvPr id="14" name="Rectangle 4">
            <a:extLst>
              <a:ext uri="{FF2B5EF4-FFF2-40B4-BE49-F238E27FC236}">
                <a16:creationId xmlns:a16="http://schemas.microsoft.com/office/drawing/2014/main" id="{C12D6B1A-B61C-43C1-A519-1B72D0DFF7BB}"/>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9EBF298E-13FF-4475-8931-93D2D61AFB6D}"/>
              </a:ext>
            </a:extLst>
          </p:cNvPr>
          <p:cNvSpPr>
            <a:spLocks noGrp="1" noChangeArrowheads="1"/>
          </p:cNvSpPr>
          <p:nvPr>
            <p:ph type="body" idx="1"/>
          </p:nvPr>
        </p:nvSpPr>
        <p:spPr>
          <a:xfrm>
            <a:off x="158750" y="1270000"/>
            <a:ext cx="4357687" cy="4251325"/>
          </a:xfrm>
        </p:spPr>
        <p:txBody>
          <a:bodyPr/>
          <a:lstStyle/>
          <a:p>
            <a:pPr eaLnBrk="1" hangingPunct="1">
              <a:buFontTx/>
              <a:buNone/>
            </a:pPr>
            <a:r>
              <a:rPr lang="en-GB" altLang="en-US" sz="2400" dirty="0">
                <a:solidFill>
                  <a:schemeClr val="tx1"/>
                </a:solidFill>
                <a:latin typeface="Calibri" panose="020F0502020204030204" pitchFamily="34" charset="0"/>
              </a:rPr>
              <a:t>The environment of carbonate production and deposition are known as carbonate platforms.</a:t>
            </a:r>
          </a:p>
          <a:p>
            <a:pPr eaLnBrk="1" hangingPunct="1">
              <a:buFontTx/>
              <a:buNone/>
            </a:pPr>
            <a:endParaRPr lang="en-GB" altLang="en-US" sz="2400" dirty="0">
              <a:solidFill>
                <a:schemeClr val="tx1"/>
              </a:solidFill>
              <a:latin typeface="Calibri" panose="020F0502020204030204" pitchFamily="34" charset="0"/>
            </a:endParaRPr>
          </a:p>
          <a:p>
            <a:pPr eaLnBrk="1" hangingPunct="1">
              <a:buFontTx/>
              <a:buNone/>
            </a:pPr>
            <a:r>
              <a:rPr lang="en-GB" altLang="en-US" sz="2400" dirty="0">
                <a:solidFill>
                  <a:schemeClr val="tx1"/>
                </a:solidFill>
                <a:latin typeface="Calibri" panose="020F0502020204030204" pitchFamily="34" charset="0"/>
              </a:rPr>
              <a:t>They fall into three main classes:</a:t>
            </a:r>
          </a:p>
          <a:p>
            <a:pPr eaLnBrk="1" hangingPunct="1"/>
            <a:r>
              <a:rPr lang="en-GB" altLang="en-US" sz="2400" dirty="0">
                <a:solidFill>
                  <a:schemeClr val="tx1"/>
                </a:solidFill>
                <a:latin typeface="Calibri" panose="020F0502020204030204" pitchFamily="34" charset="0"/>
              </a:rPr>
              <a:t>Rimmed shelves</a:t>
            </a:r>
          </a:p>
          <a:p>
            <a:pPr eaLnBrk="1" hangingPunct="1"/>
            <a:r>
              <a:rPr lang="en-GB" altLang="en-US" sz="2400" dirty="0">
                <a:solidFill>
                  <a:schemeClr val="tx1"/>
                </a:solidFill>
                <a:latin typeface="Calibri" panose="020F0502020204030204" pitchFamily="34" charset="0"/>
              </a:rPr>
              <a:t>Isolated/unattached platforms (aka “atolls”).</a:t>
            </a:r>
          </a:p>
          <a:p>
            <a:pPr eaLnBrk="1" hangingPunct="1"/>
            <a:r>
              <a:rPr lang="en-GB" altLang="en-US" sz="2400" dirty="0">
                <a:solidFill>
                  <a:schemeClr val="tx1"/>
                </a:solidFill>
                <a:latin typeface="Calibri" panose="020F0502020204030204" pitchFamily="34" charset="0"/>
              </a:rPr>
              <a:t>Ramps</a:t>
            </a:r>
          </a:p>
        </p:txBody>
      </p:sp>
      <p:pic>
        <p:nvPicPr>
          <p:cNvPr id="36867" name="Picture 4">
            <a:extLst>
              <a:ext uri="{FF2B5EF4-FFF2-40B4-BE49-F238E27FC236}">
                <a16:creationId xmlns:a16="http://schemas.microsoft.com/office/drawing/2014/main" id="{7E1B16D7-2C69-41A1-80EC-9A9B640B28F2}"/>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6080" r="11105" b="67288"/>
          <a:stretch/>
        </p:blipFill>
        <p:spPr bwMode="auto">
          <a:xfrm>
            <a:off x="4572000" y="1270001"/>
            <a:ext cx="4413250" cy="159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 Box 5">
            <a:extLst>
              <a:ext uri="{FF2B5EF4-FFF2-40B4-BE49-F238E27FC236}">
                <a16:creationId xmlns:a16="http://schemas.microsoft.com/office/drawing/2014/main" id="{1174E821-34CF-4FB3-9ED8-4029358F98A9}"/>
              </a:ext>
            </a:extLst>
          </p:cNvPr>
          <p:cNvSpPr txBox="1">
            <a:spLocks noChangeArrowheads="1"/>
          </p:cNvSpPr>
          <p:nvPr/>
        </p:nvSpPr>
        <p:spPr bwMode="auto">
          <a:xfrm>
            <a:off x="7454900" y="6394064"/>
            <a:ext cx="14001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lgn="r" eaLnBrk="1" hangingPunct="1">
              <a:spcBef>
                <a:spcPct val="0"/>
              </a:spcBef>
              <a:buFontTx/>
              <a:buNone/>
            </a:pPr>
            <a:r>
              <a:rPr lang="en-GB" altLang="en-US" sz="1600" b="1" dirty="0" err="1">
                <a:latin typeface="Calibri" panose="020F0502020204030204" pitchFamily="34" charset="0"/>
              </a:rPr>
              <a:t>Bosence</a:t>
            </a:r>
            <a:r>
              <a:rPr lang="en-GB" altLang="en-US" sz="1600" b="1" dirty="0">
                <a:latin typeface="Calibri" panose="020F0502020204030204" pitchFamily="34" charset="0"/>
              </a:rPr>
              <a:t>, 2005</a:t>
            </a:r>
            <a:endParaRPr lang="en-US" altLang="en-US" sz="1600" b="1" dirty="0">
              <a:latin typeface="Calibri" panose="020F0502020204030204" pitchFamily="34" charset="0"/>
            </a:endParaRPr>
          </a:p>
        </p:txBody>
      </p:sp>
      <p:pic>
        <p:nvPicPr>
          <p:cNvPr id="6" name="Picture 4">
            <a:extLst>
              <a:ext uri="{FF2B5EF4-FFF2-40B4-BE49-F238E27FC236}">
                <a16:creationId xmlns:a16="http://schemas.microsoft.com/office/drawing/2014/main" id="{5F294F1A-A850-4057-81C9-F5BC5BDD9AD8}"/>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6080" t="34236" r="11105" b="34710"/>
          <a:stretch/>
        </p:blipFill>
        <p:spPr bwMode="auto">
          <a:xfrm>
            <a:off x="4516437" y="4897927"/>
            <a:ext cx="4413250" cy="1510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7AE033D7-D8A1-4EA2-AED4-ABEC59F6411F}"/>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6080" t="64399" r="11105"/>
          <a:stretch/>
        </p:blipFill>
        <p:spPr bwMode="auto">
          <a:xfrm>
            <a:off x="4572000" y="3011648"/>
            <a:ext cx="4413250" cy="1731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a:extLst>
              <a:ext uri="{FF2B5EF4-FFF2-40B4-BE49-F238E27FC236}">
                <a16:creationId xmlns:a16="http://schemas.microsoft.com/office/drawing/2014/main" id="{EC525FF4-2945-4B56-A6A8-3D51E81BCF96}"/>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Carbonates</a:t>
            </a:r>
          </a:p>
        </p:txBody>
      </p:sp>
    </p:spTree>
    <p:extLst>
      <p:ext uri="{BB962C8B-B14F-4D97-AF65-F5344CB8AC3E}">
        <p14:creationId xmlns:p14="http://schemas.microsoft.com/office/powerpoint/2010/main" val="1896397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0AA3C6-A4A7-4A1E-AE96-75CEC9A94B98}"/>
              </a:ext>
            </a:extLst>
          </p:cNvPr>
          <p:cNvSpPr>
            <a:spLocks noChangeArrowheads="1"/>
          </p:cNvSpPr>
          <p:nvPr/>
        </p:nvSpPr>
        <p:spPr bwMode="auto">
          <a:xfrm>
            <a:off x="117475" y="1135063"/>
            <a:ext cx="863224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marL="342900" indent="-342900">
              <a:spcBef>
                <a:spcPct val="0"/>
              </a:spcBef>
            </a:pPr>
            <a:r>
              <a:rPr lang="en-GB" altLang="en-US" sz="2000" b="1" dirty="0">
                <a:solidFill>
                  <a:schemeClr val="tx1"/>
                </a:solidFill>
                <a:latin typeface="Calibri" panose="020F0502020204030204" pitchFamily="34" charset="0"/>
              </a:rPr>
              <a:t>Rimmed shelves happen when</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Carbonate production is HIGH</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Water is warm, water is clear, water has a normal marine salinity.</a:t>
            </a:r>
            <a:endParaRPr lang="en-GB" altLang="en-US" sz="2000" dirty="0">
              <a:solidFill>
                <a:schemeClr val="tx1"/>
              </a:solidFill>
              <a:latin typeface="Calibri" panose="020F0502020204030204" pitchFamily="34" charset="0"/>
            </a:endParaRPr>
          </a:p>
          <a:p>
            <a:pPr marL="342900" indent="-342900">
              <a:spcBef>
                <a:spcPct val="0"/>
              </a:spcBef>
            </a:pPr>
            <a:endParaRPr lang="en-GB" altLang="en-US" sz="2000" b="1" dirty="0">
              <a:solidFill>
                <a:schemeClr val="tx1"/>
              </a:solidFill>
              <a:latin typeface="Calibri" panose="020F0502020204030204" pitchFamily="34" charset="0"/>
            </a:endParaRPr>
          </a:p>
          <a:p>
            <a:pPr marL="342900" indent="-342900">
              <a:spcBef>
                <a:spcPct val="0"/>
              </a:spcBef>
            </a:pPr>
            <a:r>
              <a:rPr lang="en-GB" altLang="en-US" sz="2000" b="1" dirty="0">
                <a:solidFill>
                  <a:schemeClr val="tx1"/>
                </a:solidFill>
                <a:latin typeface="Calibri" panose="020F0502020204030204" pitchFamily="34" charset="0"/>
              </a:rPr>
              <a:t>Morphologically, they </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are attached to land, and have</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 flat top, with a distinct barrier reef, </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 lagoon, behind, protected from waves by the reef</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 steep slope in front of the reef into true “deep water”.</a:t>
            </a:r>
            <a:endParaRPr lang="en-GB" altLang="en-US" sz="2000" dirty="0">
              <a:solidFill>
                <a:schemeClr val="tx1"/>
              </a:solidFill>
              <a:latin typeface="Calibri" panose="020F0502020204030204" pitchFamily="34" charset="0"/>
            </a:endParaRPr>
          </a:p>
        </p:txBody>
      </p:sp>
      <p:pic>
        <p:nvPicPr>
          <p:cNvPr id="5" name="Picture 4">
            <a:extLst>
              <a:ext uri="{FF2B5EF4-FFF2-40B4-BE49-F238E27FC236}">
                <a16:creationId xmlns:a16="http://schemas.microsoft.com/office/drawing/2014/main" id="{BA40B25A-2D77-4085-97F8-95FD0790F6AA}"/>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6080" r="11105" b="66080"/>
          <a:stretch/>
        </p:blipFill>
        <p:spPr bwMode="auto">
          <a:xfrm>
            <a:off x="859551" y="3997385"/>
            <a:ext cx="7424898" cy="2774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id="{3E5EC284-3BBC-4863-BA26-4B51F6D24048}"/>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Rimmed shelves</a:t>
            </a:r>
          </a:p>
        </p:txBody>
      </p:sp>
    </p:spTree>
    <p:extLst>
      <p:ext uri="{BB962C8B-B14F-4D97-AF65-F5344CB8AC3E}">
        <p14:creationId xmlns:p14="http://schemas.microsoft.com/office/powerpoint/2010/main" val="472525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a:extLst>
              <a:ext uri="{FF2B5EF4-FFF2-40B4-BE49-F238E27FC236}">
                <a16:creationId xmlns:a16="http://schemas.microsoft.com/office/drawing/2014/main" id="{49C945C6-AC8D-4CD3-9ECD-3B43EE5D7FD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996950"/>
            <a:ext cx="9144000" cy="588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0" name="Text Box 5">
            <a:extLst>
              <a:ext uri="{FF2B5EF4-FFF2-40B4-BE49-F238E27FC236}">
                <a16:creationId xmlns:a16="http://schemas.microsoft.com/office/drawing/2014/main" id="{62E820F1-C7F6-41DC-AF5A-1314B7FD1EB0}"/>
              </a:ext>
            </a:extLst>
          </p:cNvPr>
          <p:cNvSpPr txBox="1">
            <a:spLocks noChangeArrowheads="1"/>
          </p:cNvSpPr>
          <p:nvPr/>
        </p:nvSpPr>
        <p:spPr bwMode="auto">
          <a:xfrm>
            <a:off x="7353300" y="2451100"/>
            <a:ext cx="15779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000" b="1">
                <a:solidFill>
                  <a:srgbClr val="FFFF00"/>
                </a:solidFill>
                <a:latin typeface="Calibri" panose="020F0502020204030204" pitchFamily="34" charset="0"/>
              </a:rPr>
              <a:t>Open marine</a:t>
            </a:r>
          </a:p>
          <a:p>
            <a:pPr>
              <a:spcBef>
                <a:spcPct val="0"/>
              </a:spcBef>
              <a:buFontTx/>
              <a:buNone/>
            </a:pPr>
            <a:r>
              <a:rPr lang="en-US" altLang="en-US" sz="2000" b="1">
                <a:solidFill>
                  <a:srgbClr val="FFFF00"/>
                </a:solidFill>
                <a:latin typeface="Calibri" panose="020F0502020204030204" pitchFamily="34" charset="0"/>
              </a:rPr>
              <a:t>conditions</a:t>
            </a:r>
          </a:p>
        </p:txBody>
      </p:sp>
      <p:sp>
        <p:nvSpPr>
          <p:cNvPr id="39941" name="Text Box 5">
            <a:extLst>
              <a:ext uri="{FF2B5EF4-FFF2-40B4-BE49-F238E27FC236}">
                <a16:creationId xmlns:a16="http://schemas.microsoft.com/office/drawing/2014/main" id="{44EB9482-D85F-428E-B3C7-87D73AC647A4}"/>
              </a:ext>
            </a:extLst>
          </p:cNvPr>
          <p:cNvSpPr txBox="1">
            <a:spLocks noChangeArrowheads="1"/>
          </p:cNvSpPr>
          <p:nvPr/>
        </p:nvSpPr>
        <p:spPr bwMode="auto">
          <a:xfrm>
            <a:off x="149225" y="6373813"/>
            <a:ext cx="4227513"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400" b="1">
                <a:solidFill>
                  <a:schemeClr val="tx1"/>
                </a:solidFill>
                <a:latin typeface="Calibri" panose="020F0502020204030204" pitchFamily="34" charset="0"/>
              </a:rPr>
              <a:t>The great barrier reef, Australia</a:t>
            </a:r>
          </a:p>
        </p:txBody>
      </p:sp>
      <p:sp>
        <p:nvSpPr>
          <p:cNvPr id="39942" name="Text Box 3">
            <a:extLst>
              <a:ext uri="{FF2B5EF4-FFF2-40B4-BE49-F238E27FC236}">
                <a16:creationId xmlns:a16="http://schemas.microsoft.com/office/drawing/2014/main" id="{B5F8EFD0-34D8-409E-A398-BDA866B57155}"/>
              </a:ext>
            </a:extLst>
          </p:cNvPr>
          <p:cNvSpPr txBox="1">
            <a:spLocks noChangeArrowheads="1"/>
          </p:cNvSpPr>
          <p:nvPr/>
        </p:nvSpPr>
        <p:spPr bwMode="auto">
          <a:xfrm>
            <a:off x="5572125" y="2405063"/>
            <a:ext cx="1408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000" b="1">
                <a:solidFill>
                  <a:srgbClr val="FFFF00"/>
                </a:solidFill>
                <a:latin typeface="Calibri" panose="020F0502020204030204" pitchFamily="34" charset="0"/>
              </a:rPr>
              <a:t>Barrier reef</a:t>
            </a:r>
          </a:p>
        </p:txBody>
      </p:sp>
      <p:sp>
        <p:nvSpPr>
          <p:cNvPr id="39943" name="Line 4">
            <a:extLst>
              <a:ext uri="{FF2B5EF4-FFF2-40B4-BE49-F238E27FC236}">
                <a16:creationId xmlns:a16="http://schemas.microsoft.com/office/drawing/2014/main" id="{0D3F6F5B-C2C3-44C6-B81D-226B943106D4}"/>
              </a:ext>
            </a:extLst>
          </p:cNvPr>
          <p:cNvSpPr>
            <a:spLocks noChangeShapeType="1"/>
          </p:cNvSpPr>
          <p:nvPr/>
        </p:nvSpPr>
        <p:spPr bwMode="auto">
          <a:xfrm flipH="1">
            <a:off x="4376738" y="1422400"/>
            <a:ext cx="865187" cy="0"/>
          </a:xfrm>
          <a:prstGeom prst="line">
            <a:avLst/>
          </a:prstGeom>
          <a:noFill/>
          <a:ln w="19050">
            <a:solidFill>
              <a:srgbClr val="FFFF00"/>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9944" name="Text Box 3">
            <a:extLst>
              <a:ext uri="{FF2B5EF4-FFF2-40B4-BE49-F238E27FC236}">
                <a16:creationId xmlns:a16="http://schemas.microsoft.com/office/drawing/2014/main" id="{2A45FAFB-87B3-4EFE-B54C-7C57B5D68BEE}"/>
              </a:ext>
            </a:extLst>
          </p:cNvPr>
          <p:cNvSpPr txBox="1">
            <a:spLocks noChangeArrowheads="1"/>
          </p:cNvSpPr>
          <p:nvPr/>
        </p:nvSpPr>
        <p:spPr bwMode="auto">
          <a:xfrm>
            <a:off x="5241925" y="1222375"/>
            <a:ext cx="1700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000" b="1">
                <a:solidFill>
                  <a:srgbClr val="FFFF00"/>
                </a:solidFill>
                <a:latin typeface="Calibri" panose="020F0502020204030204" pitchFamily="34" charset="0"/>
              </a:rPr>
              <a:t>Tidal channels</a:t>
            </a:r>
          </a:p>
        </p:txBody>
      </p:sp>
      <p:sp>
        <p:nvSpPr>
          <p:cNvPr id="39945" name="Line 4">
            <a:extLst>
              <a:ext uri="{FF2B5EF4-FFF2-40B4-BE49-F238E27FC236}">
                <a16:creationId xmlns:a16="http://schemas.microsoft.com/office/drawing/2014/main" id="{DEF06FA0-CE7F-4E32-AF29-BBF645D2D324}"/>
              </a:ext>
            </a:extLst>
          </p:cNvPr>
          <p:cNvSpPr>
            <a:spLocks noChangeShapeType="1"/>
          </p:cNvSpPr>
          <p:nvPr/>
        </p:nvSpPr>
        <p:spPr bwMode="auto">
          <a:xfrm>
            <a:off x="2546350" y="2089150"/>
            <a:ext cx="385763" cy="1274763"/>
          </a:xfrm>
          <a:prstGeom prst="line">
            <a:avLst/>
          </a:prstGeom>
          <a:noFill/>
          <a:ln w="19050">
            <a:solidFill>
              <a:srgbClr val="FFFF00"/>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9946" name="Text Box 3">
            <a:extLst>
              <a:ext uri="{FF2B5EF4-FFF2-40B4-BE49-F238E27FC236}">
                <a16:creationId xmlns:a16="http://schemas.microsoft.com/office/drawing/2014/main" id="{FF4B156A-7F1F-441D-AB87-B85B6A3B9997}"/>
              </a:ext>
            </a:extLst>
          </p:cNvPr>
          <p:cNvSpPr txBox="1">
            <a:spLocks noChangeArrowheads="1"/>
          </p:cNvSpPr>
          <p:nvPr/>
        </p:nvSpPr>
        <p:spPr bwMode="auto">
          <a:xfrm rot="2429004">
            <a:off x="3184525" y="2982913"/>
            <a:ext cx="2611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000" b="1">
                <a:solidFill>
                  <a:srgbClr val="FFFF00"/>
                </a:solidFill>
                <a:latin typeface="Calibri" panose="020F0502020204030204" pitchFamily="34" charset="0"/>
              </a:rPr>
              <a:t>Tidal grainstone shoals</a:t>
            </a:r>
          </a:p>
        </p:txBody>
      </p:sp>
      <p:sp>
        <p:nvSpPr>
          <p:cNvPr id="39947" name="Line 4">
            <a:extLst>
              <a:ext uri="{FF2B5EF4-FFF2-40B4-BE49-F238E27FC236}">
                <a16:creationId xmlns:a16="http://schemas.microsoft.com/office/drawing/2014/main" id="{F31C8CFF-4FA4-4971-865E-68A3126D3418}"/>
              </a:ext>
            </a:extLst>
          </p:cNvPr>
          <p:cNvSpPr>
            <a:spLocks noChangeShapeType="1"/>
          </p:cNvSpPr>
          <p:nvPr/>
        </p:nvSpPr>
        <p:spPr bwMode="auto">
          <a:xfrm flipH="1">
            <a:off x="2546350" y="2089150"/>
            <a:ext cx="0" cy="776288"/>
          </a:xfrm>
          <a:prstGeom prst="line">
            <a:avLst/>
          </a:prstGeom>
          <a:noFill/>
          <a:ln w="19050">
            <a:solidFill>
              <a:srgbClr val="FFFF00"/>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9948" name="Text Box 3">
            <a:extLst>
              <a:ext uri="{FF2B5EF4-FFF2-40B4-BE49-F238E27FC236}">
                <a16:creationId xmlns:a16="http://schemas.microsoft.com/office/drawing/2014/main" id="{43D1C848-60BD-4FD1-9B72-178B68C6BDE5}"/>
              </a:ext>
            </a:extLst>
          </p:cNvPr>
          <p:cNvSpPr txBox="1">
            <a:spLocks noChangeArrowheads="1"/>
          </p:cNvSpPr>
          <p:nvPr/>
        </p:nvSpPr>
        <p:spPr bwMode="auto">
          <a:xfrm>
            <a:off x="2303463" y="1701800"/>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000" b="1">
                <a:solidFill>
                  <a:srgbClr val="FFFF00"/>
                </a:solidFill>
                <a:latin typeface="Calibri" panose="020F0502020204030204" pitchFamily="34" charset="0"/>
              </a:rPr>
              <a:t>Patch reef</a:t>
            </a:r>
          </a:p>
        </p:txBody>
      </p:sp>
      <p:sp>
        <p:nvSpPr>
          <p:cNvPr id="39949" name="Text Box 3">
            <a:extLst>
              <a:ext uri="{FF2B5EF4-FFF2-40B4-BE49-F238E27FC236}">
                <a16:creationId xmlns:a16="http://schemas.microsoft.com/office/drawing/2014/main" id="{D0EB0D0F-E2DC-44E4-8A80-23357B81B2EF}"/>
              </a:ext>
            </a:extLst>
          </p:cNvPr>
          <p:cNvSpPr txBox="1">
            <a:spLocks noChangeArrowheads="1"/>
          </p:cNvSpPr>
          <p:nvPr/>
        </p:nvSpPr>
        <p:spPr bwMode="auto">
          <a:xfrm>
            <a:off x="3070225" y="4983163"/>
            <a:ext cx="2274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000" b="1">
                <a:solidFill>
                  <a:srgbClr val="FFFF00"/>
                </a:solidFill>
                <a:latin typeface="Calibri" panose="020F0502020204030204" pitchFamily="34" charset="0"/>
              </a:rPr>
              <a:t>Lagoonal mudstone</a:t>
            </a:r>
          </a:p>
        </p:txBody>
      </p:sp>
      <p:sp>
        <p:nvSpPr>
          <p:cNvPr id="15" name="Rectangle 4">
            <a:extLst>
              <a:ext uri="{FF2B5EF4-FFF2-40B4-BE49-F238E27FC236}">
                <a16:creationId xmlns:a16="http://schemas.microsoft.com/office/drawing/2014/main" id="{A2BE16AB-EA01-4A24-AD86-A6AD95FAC980}"/>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Rimmed shelves</a:t>
            </a:r>
          </a:p>
        </p:txBody>
      </p:sp>
    </p:spTree>
    <p:extLst>
      <p:ext uri="{BB962C8B-B14F-4D97-AF65-F5344CB8AC3E}">
        <p14:creationId xmlns:p14="http://schemas.microsoft.com/office/powerpoint/2010/main" val="1825374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0AA3C6-A4A7-4A1E-AE96-75CEC9A94B98}"/>
              </a:ext>
            </a:extLst>
          </p:cNvPr>
          <p:cNvSpPr>
            <a:spLocks noChangeArrowheads="1"/>
          </p:cNvSpPr>
          <p:nvPr/>
        </p:nvSpPr>
        <p:spPr bwMode="auto">
          <a:xfrm>
            <a:off x="117475" y="1135063"/>
            <a:ext cx="863224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marL="342900" indent="-342900">
              <a:spcBef>
                <a:spcPct val="0"/>
              </a:spcBef>
            </a:pPr>
            <a:r>
              <a:rPr lang="en-GB" altLang="en-US" sz="2000" b="1" dirty="0">
                <a:solidFill>
                  <a:schemeClr val="tx1"/>
                </a:solidFill>
                <a:latin typeface="Calibri" panose="020F0502020204030204" pitchFamily="34" charset="0"/>
              </a:rPr>
              <a:t>Isolated/unattached platform (or atolls) also happen when</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Carbonate production is HIGH</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Water is warm, water is clear, water has a normal marine salinity.</a:t>
            </a:r>
            <a:endParaRPr lang="en-GB" altLang="en-US" sz="2000" dirty="0">
              <a:solidFill>
                <a:schemeClr val="tx1"/>
              </a:solidFill>
              <a:latin typeface="Calibri" panose="020F0502020204030204" pitchFamily="34" charset="0"/>
            </a:endParaRPr>
          </a:p>
          <a:p>
            <a:pPr marL="342900" indent="-342900">
              <a:spcBef>
                <a:spcPct val="0"/>
              </a:spcBef>
            </a:pPr>
            <a:endParaRPr lang="en-GB" altLang="en-US" sz="2000" b="1" dirty="0">
              <a:solidFill>
                <a:schemeClr val="tx1"/>
              </a:solidFill>
              <a:latin typeface="Calibri" panose="020F0502020204030204" pitchFamily="34" charset="0"/>
            </a:endParaRPr>
          </a:p>
          <a:p>
            <a:pPr marL="342900" indent="-342900">
              <a:spcBef>
                <a:spcPct val="0"/>
              </a:spcBef>
            </a:pPr>
            <a:r>
              <a:rPr lang="en-GB" altLang="en-US" sz="2000" b="1" dirty="0">
                <a:solidFill>
                  <a:schemeClr val="tx1"/>
                </a:solidFill>
                <a:latin typeface="Calibri" panose="020F0502020204030204" pitchFamily="34" charset="0"/>
              </a:rPr>
              <a:t>Morphologically, they </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are not attached to land, (they are an island), and also have</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 flat top, with a distinct barrier reef, </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 lagoon, behind, protected from waves by the reef</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a steep slope in front of the reef into true “deep water”.</a:t>
            </a:r>
            <a:endParaRPr lang="en-GB" altLang="en-US" sz="2000" dirty="0">
              <a:solidFill>
                <a:schemeClr val="tx1"/>
              </a:solidFill>
              <a:latin typeface="Calibri" panose="020F0502020204030204" pitchFamily="34" charset="0"/>
            </a:endParaRPr>
          </a:p>
        </p:txBody>
      </p:sp>
      <p:pic>
        <p:nvPicPr>
          <p:cNvPr id="6" name="Picture 4">
            <a:extLst>
              <a:ext uri="{FF2B5EF4-FFF2-40B4-BE49-F238E27FC236}">
                <a16:creationId xmlns:a16="http://schemas.microsoft.com/office/drawing/2014/main" id="{C89C6305-3220-4616-9427-5FED2CB0464E}"/>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6080" t="63249" r="11105"/>
          <a:stretch/>
        </p:blipFill>
        <p:spPr bwMode="auto">
          <a:xfrm>
            <a:off x="1065401" y="4093750"/>
            <a:ext cx="6526636" cy="2642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6C7B4364-CC98-4255-851A-F3D2FB0CCB7A}"/>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rgbClr val="FFFF00"/>
                </a:solidFill>
                <a:effectLst>
                  <a:outerShdw blurRad="38100" dist="38100" dir="2700000" algn="tl">
                    <a:srgbClr val="000000">
                      <a:alpha val="43137"/>
                    </a:srgbClr>
                  </a:outerShdw>
                </a:effectLst>
                <a:latin typeface="Bookman Old Style" pitchFamily="18" charset="0"/>
                <a:ea typeface="Adobe Fangsong Std R" pitchFamily="18" charset="-128"/>
                <a:cs typeface="+mj-cs"/>
              </a:rPr>
              <a:t>Isolated platforms (“atolls”)</a:t>
            </a:r>
            <a:endPar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4114064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Box 4">
            <a:extLst>
              <a:ext uri="{FF2B5EF4-FFF2-40B4-BE49-F238E27FC236}">
                <a16:creationId xmlns:a16="http://schemas.microsoft.com/office/drawing/2014/main" id="{CDA7A757-3784-4BA8-8950-EFDBFEB3D3C5}"/>
              </a:ext>
            </a:extLst>
          </p:cNvPr>
          <p:cNvSpPr txBox="1">
            <a:spLocks noChangeArrowheads="1"/>
          </p:cNvSpPr>
          <p:nvPr/>
        </p:nvSpPr>
        <p:spPr bwMode="auto">
          <a:xfrm>
            <a:off x="87314" y="1122363"/>
            <a:ext cx="866240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marL="342900" indent="-342900">
              <a:spcBef>
                <a:spcPct val="0"/>
              </a:spcBef>
            </a:pPr>
            <a:r>
              <a:rPr lang="en-GB" altLang="en-US" sz="2000" b="1" dirty="0">
                <a:solidFill>
                  <a:schemeClr val="tx1"/>
                </a:solidFill>
                <a:latin typeface="Calibri" panose="020F0502020204030204" pitchFamily="34" charset="0"/>
              </a:rPr>
              <a:t>Often, they form in the shallow water around a marine volcanic island</a:t>
            </a:r>
          </a:p>
          <a:p>
            <a:pPr marL="342900" indent="-342900">
              <a:spcBef>
                <a:spcPct val="0"/>
              </a:spcBef>
            </a:pPr>
            <a:r>
              <a:rPr lang="en-GB" altLang="en-US" sz="2000" b="1" dirty="0">
                <a:solidFill>
                  <a:schemeClr val="tx1"/>
                </a:solidFill>
                <a:latin typeface="Calibri" panose="020F0502020204030204" pitchFamily="34" charset="0"/>
              </a:rPr>
              <a:t>The land mass is not big enough to produce much clastic sediment, so they are good sites for carbonate productivity.</a:t>
            </a:r>
          </a:p>
        </p:txBody>
      </p:sp>
      <p:pic>
        <p:nvPicPr>
          <p:cNvPr id="2050" name="Picture 2">
            <a:extLst>
              <a:ext uri="{FF2B5EF4-FFF2-40B4-BE49-F238E27FC236}">
                <a16:creationId xmlns:a16="http://schemas.microsoft.com/office/drawing/2014/main" id="{EFFD3B34-AE2C-4DFE-830F-05BD16C6971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2290035"/>
            <a:ext cx="9144000" cy="4491037"/>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5">
            <a:extLst>
              <a:ext uri="{FF2B5EF4-FFF2-40B4-BE49-F238E27FC236}">
                <a16:creationId xmlns:a16="http://schemas.microsoft.com/office/drawing/2014/main" id="{77CAD23F-56A8-4DC4-87E1-5DED9856EEFD}"/>
              </a:ext>
            </a:extLst>
          </p:cNvPr>
          <p:cNvSpPr txBox="1">
            <a:spLocks noChangeArrowheads="1"/>
          </p:cNvSpPr>
          <p:nvPr/>
        </p:nvSpPr>
        <p:spPr bwMode="auto">
          <a:xfrm>
            <a:off x="87314" y="6189255"/>
            <a:ext cx="37129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400" b="1" dirty="0">
                <a:solidFill>
                  <a:schemeClr val="tx1"/>
                </a:solidFill>
                <a:latin typeface="Calibri" panose="020F0502020204030204" pitchFamily="34" charset="0"/>
              </a:rPr>
              <a:t>Bora Bora, French Polynesia</a:t>
            </a:r>
          </a:p>
        </p:txBody>
      </p:sp>
      <p:sp>
        <p:nvSpPr>
          <p:cNvPr id="8" name="Rectangle 4">
            <a:extLst>
              <a:ext uri="{FF2B5EF4-FFF2-40B4-BE49-F238E27FC236}">
                <a16:creationId xmlns:a16="http://schemas.microsoft.com/office/drawing/2014/main" id="{75A9F8E9-5BE5-4E0F-98BE-FCC9B2255C72}"/>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rgbClr val="FFFF00"/>
                </a:solidFill>
                <a:effectLst>
                  <a:outerShdw blurRad="38100" dist="38100" dir="2700000" algn="tl">
                    <a:srgbClr val="000000">
                      <a:alpha val="43137"/>
                    </a:srgbClr>
                  </a:outerShdw>
                </a:effectLst>
                <a:latin typeface="Bookman Old Style" pitchFamily="18" charset="0"/>
                <a:ea typeface="Adobe Fangsong Std R" pitchFamily="18" charset="-128"/>
                <a:cs typeface="+mj-cs"/>
              </a:rPr>
              <a:t>Isolated platforms (“atolls”)</a:t>
            </a:r>
            <a:endPar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312436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261A321-BA0A-4C12-BEF0-4AE2BDDB99E1}"/>
              </a:ext>
            </a:extLst>
          </p:cNvPr>
          <p:cNvGrpSpPr/>
          <p:nvPr/>
        </p:nvGrpSpPr>
        <p:grpSpPr>
          <a:xfrm>
            <a:off x="813732" y="2021747"/>
            <a:ext cx="7449425" cy="4769140"/>
            <a:chOff x="0" y="996950"/>
            <a:chExt cx="9144000" cy="5861050"/>
          </a:xfrm>
        </p:grpSpPr>
        <p:pic>
          <p:nvPicPr>
            <p:cNvPr id="48131" name="Picture 9" descr="Eleuthera_Island_1_Bahamas_(NASA)">
              <a:extLst>
                <a:ext uri="{FF2B5EF4-FFF2-40B4-BE49-F238E27FC236}">
                  <a16:creationId xmlns:a16="http://schemas.microsoft.com/office/drawing/2014/main" id="{D727C9B5-6DD0-45DA-BBB3-34B0D227F82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996950"/>
              <a:ext cx="9144000"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9">
              <a:extLst>
                <a:ext uri="{FF2B5EF4-FFF2-40B4-BE49-F238E27FC236}">
                  <a16:creationId xmlns:a16="http://schemas.microsoft.com/office/drawing/2014/main" id="{0450A34C-D230-48CF-9C16-64FFD9D9E8E5}"/>
                </a:ext>
              </a:extLst>
            </p:cNvPr>
            <p:cNvSpPr txBox="1">
              <a:spLocks noChangeArrowheads="1"/>
            </p:cNvSpPr>
            <p:nvPr/>
          </p:nvSpPr>
          <p:spPr bwMode="auto">
            <a:xfrm>
              <a:off x="2779713" y="2022475"/>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GB" altLang="en-US" sz="2000">
                  <a:solidFill>
                    <a:schemeClr val="bg1"/>
                  </a:solidFill>
                </a:rPr>
                <a:t>fringing reef</a:t>
              </a:r>
              <a:endParaRPr lang="en-US" altLang="en-US" sz="2000">
                <a:solidFill>
                  <a:schemeClr val="bg1"/>
                </a:solidFill>
              </a:endParaRPr>
            </a:p>
          </p:txBody>
        </p:sp>
        <p:sp>
          <p:nvSpPr>
            <p:cNvPr id="48133" name="Line 10">
              <a:extLst>
                <a:ext uri="{FF2B5EF4-FFF2-40B4-BE49-F238E27FC236}">
                  <a16:creationId xmlns:a16="http://schemas.microsoft.com/office/drawing/2014/main" id="{67037801-3918-4CA7-B543-BCEDA68A3789}"/>
                </a:ext>
              </a:extLst>
            </p:cNvPr>
            <p:cNvSpPr>
              <a:spLocks noChangeShapeType="1"/>
            </p:cNvSpPr>
            <p:nvPr/>
          </p:nvSpPr>
          <p:spPr bwMode="auto">
            <a:xfrm flipH="1">
              <a:off x="2490788" y="2328863"/>
              <a:ext cx="288925" cy="3492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48134" name="Text Box 8">
              <a:extLst>
                <a:ext uri="{FF2B5EF4-FFF2-40B4-BE49-F238E27FC236}">
                  <a16:creationId xmlns:a16="http://schemas.microsoft.com/office/drawing/2014/main" id="{D3FBBB15-21F7-4333-86AA-24B25788F31D}"/>
                </a:ext>
              </a:extLst>
            </p:cNvPr>
            <p:cNvSpPr txBox="1">
              <a:spLocks noChangeArrowheads="1"/>
            </p:cNvSpPr>
            <p:nvPr/>
          </p:nvSpPr>
          <p:spPr bwMode="auto">
            <a:xfrm>
              <a:off x="814388" y="2328863"/>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GB" altLang="en-US" sz="2000">
                  <a:solidFill>
                    <a:schemeClr val="bg1"/>
                  </a:solidFill>
                </a:rPr>
                <a:t>land</a:t>
              </a:r>
              <a:endParaRPr lang="en-US" altLang="en-US" sz="2000">
                <a:solidFill>
                  <a:schemeClr val="bg1"/>
                </a:solidFill>
              </a:endParaRPr>
            </a:p>
          </p:txBody>
        </p:sp>
        <p:sp>
          <p:nvSpPr>
            <p:cNvPr id="48135" name="Text Box 5">
              <a:extLst>
                <a:ext uri="{FF2B5EF4-FFF2-40B4-BE49-F238E27FC236}">
                  <a16:creationId xmlns:a16="http://schemas.microsoft.com/office/drawing/2014/main" id="{487635BD-A436-4ED6-8A6E-445D383446F1}"/>
                </a:ext>
              </a:extLst>
            </p:cNvPr>
            <p:cNvSpPr txBox="1">
              <a:spLocks noChangeArrowheads="1"/>
            </p:cNvSpPr>
            <p:nvPr/>
          </p:nvSpPr>
          <p:spPr bwMode="auto">
            <a:xfrm>
              <a:off x="6061075" y="3132138"/>
              <a:ext cx="947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GB" altLang="en-US" sz="2000">
                  <a:solidFill>
                    <a:schemeClr val="bg1"/>
                  </a:solidFill>
                </a:rPr>
                <a:t>lagoon</a:t>
              </a:r>
              <a:endParaRPr lang="en-US" altLang="en-US" sz="2000">
                <a:solidFill>
                  <a:schemeClr val="bg1"/>
                </a:solidFill>
              </a:endParaRPr>
            </a:p>
          </p:txBody>
        </p:sp>
        <p:sp>
          <p:nvSpPr>
            <p:cNvPr id="48136" name="Text Box 6">
              <a:extLst>
                <a:ext uri="{FF2B5EF4-FFF2-40B4-BE49-F238E27FC236}">
                  <a16:creationId xmlns:a16="http://schemas.microsoft.com/office/drawing/2014/main" id="{3A41FFF6-7EB8-463B-9A21-CDD752130244}"/>
                </a:ext>
              </a:extLst>
            </p:cNvPr>
            <p:cNvSpPr txBox="1">
              <a:spLocks noChangeArrowheads="1"/>
            </p:cNvSpPr>
            <p:nvPr/>
          </p:nvSpPr>
          <p:spPr bwMode="auto">
            <a:xfrm>
              <a:off x="6694488" y="3940175"/>
              <a:ext cx="1412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GB" altLang="en-US" sz="2000">
                  <a:solidFill>
                    <a:schemeClr val="bg1"/>
                  </a:solidFill>
                </a:rPr>
                <a:t>sand shoal</a:t>
              </a:r>
              <a:endParaRPr lang="en-US" altLang="en-US" sz="2000">
                <a:solidFill>
                  <a:schemeClr val="bg1"/>
                </a:solidFill>
              </a:endParaRPr>
            </a:p>
          </p:txBody>
        </p:sp>
        <p:sp>
          <p:nvSpPr>
            <p:cNvPr id="48137" name="Line 7">
              <a:extLst>
                <a:ext uri="{FF2B5EF4-FFF2-40B4-BE49-F238E27FC236}">
                  <a16:creationId xmlns:a16="http://schemas.microsoft.com/office/drawing/2014/main" id="{3DB6F51C-3A02-456A-81DA-6597F5D40FB4}"/>
                </a:ext>
              </a:extLst>
            </p:cNvPr>
            <p:cNvSpPr>
              <a:spLocks noChangeShapeType="1"/>
            </p:cNvSpPr>
            <p:nvPr/>
          </p:nvSpPr>
          <p:spPr bwMode="auto">
            <a:xfrm flipH="1">
              <a:off x="6432550" y="4138613"/>
              <a:ext cx="261938" cy="19843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48138" name="Text Box 11">
              <a:extLst>
                <a:ext uri="{FF2B5EF4-FFF2-40B4-BE49-F238E27FC236}">
                  <a16:creationId xmlns:a16="http://schemas.microsoft.com/office/drawing/2014/main" id="{BB3460C2-69D8-495C-8A13-956D6C522B12}"/>
                </a:ext>
              </a:extLst>
            </p:cNvPr>
            <p:cNvSpPr txBox="1">
              <a:spLocks noChangeArrowheads="1"/>
            </p:cNvSpPr>
            <p:nvPr/>
          </p:nvSpPr>
          <p:spPr bwMode="auto">
            <a:xfrm>
              <a:off x="4325938" y="2871788"/>
              <a:ext cx="11096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GB" altLang="en-US" sz="1600">
                  <a:solidFill>
                    <a:schemeClr val="bg1"/>
                  </a:solidFill>
                </a:rPr>
                <a:t>Ebb-flood </a:t>
              </a:r>
            </a:p>
            <a:p>
              <a:pPr>
                <a:spcBef>
                  <a:spcPct val="0"/>
                </a:spcBef>
                <a:buFontTx/>
                <a:buNone/>
              </a:pPr>
              <a:r>
                <a:rPr lang="en-GB" altLang="en-US" sz="1600">
                  <a:solidFill>
                    <a:schemeClr val="bg1"/>
                  </a:solidFill>
                </a:rPr>
                <a:t>delta</a:t>
              </a:r>
              <a:endParaRPr lang="en-US" altLang="en-US" sz="1600">
                <a:solidFill>
                  <a:schemeClr val="bg1"/>
                </a:solidFill>
              </a:endParaRPr>
            </a:p>
          </p:txBody>
        </p:sp>
        <p:sp>
          <p:nvSpPr>
            <p:cNvPr id="48139" name="Line 13">
              <a:extLst>
                <a:ext uri="{FF2B5EF4-FFF2-40B4-BE49-F238E27FC236}">
                  <a16:creationId xmlns:a16="http://schemas.microsoft.com/office/drawing/2014/main" id="{E6553AB1-F909-45EA-BCF9-3C3108FFAC93}"/>
                </a:ext>
              </a:extLst>
            </p:cNvPr>
            <p:cNvSpPr>
              <a:spLocks noChangeShapeType="1"/>
            </p:cNvSpPr>
            <p:nvPr/>
          </p:nvSpPr>
          <p:spPr bwMode="auto">
            <a:xfrm flipV="1">
              <a:off x="4757738" y="2678113"/>
              <a:ext cx="360362" cy="28733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13" name="TextBox 4">
            <a:extLst>
              <a:ext uri="{FF2B5EF4-FFF2-40B4-BE49-F238E27FC236}">
                <a16:creationId xmlns:a16="http://schemas.microsoft.com/office/drawing/2014/main" id="{90EC668F-69DE-49FB-A1B7-16AF5E1B2BE1}"/>
              </a:ext>
            </a:extLst>
          </p:cNvPr>
          <p:cNvSpPr txBox="1">
            <a:spLocks noChangeArrowheads="1"/>
          </p:cNvSpPr>
          <p:nvPr/>
        </p:nvSpPr>
        <p:spPr bwMode="auto">
          <a:xfrm>
            <a:off x="87314" y="1027441"/>
            <a:ext cx="866240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marL="342900" indent="-342900">
              <a:spcBef>
                <a:spcPct val="0"/>
              </a:spcBef>
            </a:pPr>
            <a:r>
              <a:rPr lang="en-GB" altLang="en-US" sz="2000" b="1" dirty="0">
                <a:solidFill>
                  <a:schemeClr val="tx1"/>
                </a:solidFill>
                <a:latin typeface="Calibri" panose="020F0502020204030204" pitchFamily="34" charset="0"/>
              </a:rPr>
              <a:t>High carbonate productivity means that the reefs can keep up with sea-level, if the volcano subsides, or sea-levels rise.</a:t>
            </a:r>
          </a:p>
          <a:p>
            <a:pPr marL="342900" indent="-342900">
              <a:spcBef>
                <a:spcPct val="0"/>
              </a:spcBef>
            </a:pPr>
            <a:r>
              <a:rPr lang="en-GB" altLang="en-US" sz="2000" b="1" dirty="0">
                <a:solidFill>
                  <a:schemeClr val="tx1"/>
                </a:solidFill>
                <a:latin typeface="Calibri" panose="020F0502020204030204" pitchFamily="34" charset="0"/>
              </a:rPr>
              <a:t>The lagoon is maintained, because the reef inhibits mixing of sea-water.</a:t>
            </a:r>
          </a:p>
        </p:txBody>
      </p:sp>
      <p:sp>
        <p:nvSpPr>
          <p:cNvPr id="14" name="Rectangle 4">
            <a:extLst>
              <a:ext uri="{FF2B5EF4-FFF2-40B4-BE49-F238E27FC236}">
                <a16:creationId xmlns:a16="http://schemas.microsoft.com/office/drawing/2014/main" id="{D0217F52-A807-48CC-BA3E-8A937915D56F}"/>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rgbClr val="FFFF00"/>
                </a:solidFill>
                <a:effectLst>
                  <a:outerShdw blurRad="38100" dist="38100" dir="2700000" algn="tl">
                    <a:srgbClr val="000000">
                      <a:alpha val="43137"/>
                    </a:srgbClr>
                  </a:outerShdw>
                </a:effectLst>
                <a:latin typeface="Bookman Old Style" pitchFamily="18" charset="0"/>
                <a:ea typeface="Adobe Fangsong Std R" pitchFamily="18" charset="-128"/>
                <a:cs typeface="+mj-cs"/>
              </a:rPr>
              <a:t>Isolated platforms (“atolls”)</a:t>
            </a:r>
            <a:endPar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3704983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0AA3C6-A4A7-4A1E-AE96-75CEC9A94B98}"/>
              </a:ext>
            </a:extLst>
          </p:cNvPr>
          <p:cNvSpPr>
            <a:spLocks noChangeArrowheads="1"/>
          </p:cNvSpPr>
          <p:nvPr/>
        </p:nvSpPr>
        <p:spPr bwMode="auto">
          <a:xfrm>
            <a:off x="117475" y="1135063"/>
            <a:ext cx="8632242"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marL="342900" indent="-342900">
              <a:spcBef>
                <a:spcPct val="0"/>
              </a:spcBef>
            </a:pPr>
            <a:r>
              <a:rPr lang="en-GB" altLang="en-US" sz="2000" b="1" dirty="0">
                <a:solidFill>
                  <a:schemeClr val="tx1"/>
                </a:solidFill>
                <a:latin typeface="Calibri" panose="020F0502020204030204" pitchFamily="34" charset="0"/>
              </a:rPr>
              <a:t>Carbonate ramps happen when</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Carbonate production is LOWER</a:t>
            </a:r>
          </a:p>
          <a:p>
            <a:pPr lvl="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Water is cooler, water is contaminated by </a:t>
            </a:r>
            <a:r>
              <a:rPr lang="en-GB" altLang="en-US" sz="2000" dirty="0" err="1">
                <a:solidFill>
                  <a:schemeClr val="tx1"/>
                </a:solidFill>
                <a:latin typeface="Calibri" panose="020F0502020204030204" pitchFamily="34" charset="0"/>
                <a:sym typeface="Wingdings" panose="05000000000000000000" pitchFamily="2" charset="2"/>
              </a:rPr>
              <a:t>clastics</a:t>
            </a:r>
            <a:r>
              <a:rPr lang="en-GB" altLang="en-US" sz="2000" dirty="0">
                <a:solidFill>
                  <a:schemeClr val="tx1"/>
                </a:solidFill>
                <a:latin typeface="Calibri" panose="020F0502020204030204" pitchFamily="34" charset="0"/>
                <a:sym typeface="Wingdings" panose="05000000000000000000" pitchFamily="2" charset="2"/>
              </a:rPr>
              <a:t>, or the water is brackish 	or hypersaline (the carbonate platform is less “happy”).</a:t>
            </a:r>
            <a:endParaRPr lang="en-GB" altLang="en-US" sz="2000" dirty="0">
              <a:solidFill>
                <a:schemeClr val="tx1"/>
              </a:solidFill>
              <a:latin typeface="Calibri" panose="020F0502020204030204" pitchFamily="34" charset="0"/>
            </a:endParaRPr>
          </a:p>
          <a:p>
            <a:pPr marL="342900" indent="-342900">
              <a:spcBef>
                <a:spcPct val="0"/>
              </a:spcBef>
            </a:pPr>
            <a:endParaRPr lang="en-GB" altLang="en-US" sz="2000" b="1" dirty="0">
              <a:solidFill>
                <a:schemeClr val="tx1"/>
              </a:solidFill>
              <a:latin typeface="Calibri" panose="020F0502020204030204" pitchFamily="34" charset="0"/>
            </a:endParaRPr>
          </a:p>
          <a:p>
            <a:pPr marL="342900" indent="-342900">
              <a:spcBef>
                <a:spcPct val="0"/>
              </a:spcBef>
            </a:pPr>
            <a:r>
              <a:rPr lang="en-GB" altLang="en-US" sz="2000" b="1" dirty="0">
                <a:solidFill>
                  <a:schemeClr val="tx1"/>
                </a:solidFill>
                <a:latin typeface="Calibri" panose="020F0502020204030204" pitchFamily="34" charset="0"/>
              </a:rPr>
              <a:t>Morphologically, they are characterised by</a:t>
            </a:r>
          </a:p>
          <a:p>
            <a:pPr marL="800100" lvl="1" indent="-342900">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sym typeface="Wingdings" panose="05000000000000000000" pitchFamily="2" charset="2"/>
              </a:rPr>
              <a:t>A ramp that dips uniformly towards much deeper water</a:t>
            </a:r>
          </a:p>
          <a:p>
            <a:pPr marL="800100" lvl="1" indent="-342900">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sym typeface="Wingdings" panose="05000000000000000000" pitchFamily="2" charset="2"/>
              </a:rPr>
              <a:t>No barrier reef, just local patches of reef in places</a:t>
            </a:r>
          </a:p>
          <a:p>
            <a:pPr marL="800100" lvl="1" indent="-342900">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sym typeface="Wingdings" panose="05000000000000000000" pitchFamily="2" charset="2"/>
              </a:rPr>
              <a:t>Lower carbonate productivity means that the sediment is more readily reworked and moved away from shallow water by wave and tidal processes.</a:t>
            </a:r>
            <a:endParaRPr lang="en-GB" altLang="en-US" sz="2000" dirty="0">
              <a:solidFill>
                <a:schemeClr val="tx1"/>
              </a:solidFill>
              <a:latin typeface="Calibri" panose="020F0502020204030204" pitchFamily="34" charset="0"/>
            </a:endParaRPr>
          </a:p>
        </p:txBody>
      </p:sp>
      <p:pic>
        <p:nvPicPr>
          <p:cNvPr id="5" name="Picture 4">
            <a:extLst>
              <a:ext uri="{FF2B5EF4-FFF2-40B4-BE49-F238E27FC236}">
                <a16:creationId xmlns:a16="http://schemas.microsoft.com/office/drawing/2014/main" id="{EC370D5E-C60D-4C4A-8036-A6430FFD3EAC}"/>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6080" t="34236" r="11105" b="34710"/>
          <a:stretch/>
        </p:blipFill>
        <p:spPr bwMode="auto">
          <a:xfrm>
            <a:off x="1686187" y="4602709"/>
            <a:ext cx="6060652" cy="207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DA51DE95-E1B8-4C1F-BBA0-D13D69C8DB06}"/>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 Ramps</a:t>
            </a:r>
          </a:p>
        </p:txBody>
      </p:sp>
    </p:spTree>
    <p:extLst>
      <p:ext uri="{BB962C8B-B14F-4D97-AF65-F5344CB8AC3E}">
        <p14:creationId xmlns:p14="http://schemas.microsoft.com/office/powerpoint/2010/main" val="3472958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2" descr="http://www.sepmstrata.org/CMS_Images/UAE%20Facies.jpg">
            <a:extLst>
              <a:ext uri="{FF2B5EF4-FFF2-40B4-BE49-F238E27FC236}">
                <a16:creationId xmlns:a16="http://schemas.microsoft.com/office/drawing/2014/main" id="{9F772933-5499-4165-BE69-2DD4DFED58A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7000" y="1136650"/>
            <a:ext cx="8910638" cy="566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5">
            <a:extLst>
              <a:ext uri="{FF2B5EF4-FFF2-40B4-BE49-F238E27FC236}">
                <a16:creationId xmlns:a16="http://schemas.microsoft.com/office/drawing/2014/main" id="{7DA2875A-BEF5-423E-BD4B-F5F579AD427C}"/>
              </a:ext>
            </a:extLst>
          </p:cNvPr>
          <p:cNvSpPr txBox="1">
            <a:spLocks noChangeArrowheads="1"/>
          </p:cNvSpPr>
          <p:nvPr/>
        </p:nvSpPr>
        <p:spPr bwMode="auto">
          <a:xfrm>
            <a:off x="691321" y="5721350"/>
            <a:ext cx="5550088"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400" b="1" dirty="0">
                <a:solidFill>
                  <a:schemeClr val="tx1"/>
                </a:solidFill>
                <a:latin typeface="Calibri" panose="020F0502020204030204" pitchFamily="34" charset="0"/>
              </a:rPr>
              <a:t>Trucial coast of the southern Arabian Gulf.</a:t>
            </a:r>
          </a:p>
        </p:txBody>
      </p:sp>
      <p:sp>
        <p:nvSpPr>
          <p:cNvPr id="6" name="Rectangle 4">
            <a:extLst>
              <a:ext uri="{FF2B5EF4-FFF2-40B4-BE49-F238E27FC236}">
                <a16:creationId xmlns:a16="http://schemas.microsoft.com/office/drawing/2014/main" id="{E6C082DC-801D-486F-93E5-E9C737F7A013}"/>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 Ramps</a:t>
            </a:r>
          </a:p>
        </p:txBody>
      </p:sp>
    </p:spTree>
    <p:extLst>
      <p:ext uri="{BB962C8B-B14F-4D97-AF65-F5344CB8AC3E}">
        <p14:creationId xmlns:p14="http://schemas.microsoft.com/office/powerpoint/2010/main" val="928385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11" descr="P02793_02_019">
            <a:extLst>
              <a:ext uri="{FF2B5EF4-FFF2-40B4-BE49-F238E27FC236}">
                <a16:creationId xmlns:a16="http://schemas.microsoft.com/office/drawing/2014/main" id="{03B20DFA-F030-468F-8EE7-7BDF779A81C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572000" y="1109663"/>
            <a:ext cx="44196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Text Box 13">
            <a:extLst>
              <a:ext uri="{FF2B5EF4-FFF2-40B4-BE49-F238E27FC236}">
                <a16:creationId xmlns:a16="http://schemas.microsoft.com/office/drawing/2014/main" id="{9815B6C9-8F53-4CCB-85A3-A42B25DD052D}"/>
              </a:ext>
            </a:extLst>
          </p:cNvPr>
          <p:cNvSpPr txBox="1">
            <a:spLocks noChangeArrowheads="1"/>
          </p:cNvSpPr>
          <p:nvPr/>
        </p:nvSpPr>
        <p:spPr bwMode="auto">
          <a:xfrm>
            <a:off x="6629400" y="5218113"/>
            <a:ext cx="1166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400">
                <a:solidFill>
                  <a:srgbClr val="FFFF00"/>
                </a:solidFill>
              </a:rPr>
              <a:t>sabkha</a:t>
            </a:r>
          </a:p>
        </p:txBody>
      </p:sp>
      <p:sp>
        <p:nvSpPr>
          <p:cNvPr id="44036" name="Text Box 14">
            <a:extLst>
              <a:ext uri="{FF2B5EF4-FFF2-40B4-BE49-F238E27FC236}">
                <a16:creationId xmlns:a16="http://schemas.microsoft.com/office/drawing/2014/main" id="{20645C02-0A04-4685-90B2-A3DE9DBA3291}"/>
              </a:ext>
            </a:extLst>
          </p:cNvPr>
          <p:cNvSpPr txBox="1">
            <a:spLocks noChangeArrowheads="1"/>
          </p:cNvSpPr>
          <p:nvPr/>
        </p:nvSpPr>
        <p:spPr bwMode="auto">
          <a:xfrm>
            <a:off x="6629400" y="6208713"/>
            <a:ext cx="116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2400">
                <a:solidFill>
                  <a:srgbClr val="FFFF00"/>
                </a:solidFill>
              </a:rPr>
              <a:t>aeolian</a:t>
            </a:r>
          </a:p>
        </p:txBody>
      </p:sp>
      <p:sp>
        <p:nvSpPr>
          <p:cNvPr id="44037" name="Line 16">
            <a:extLst>
              <a:ext uri="{FF2B5EF4-FFF2-40B4-BE49-F238E27FC236}">
                <a16:creationId xmlns:a16="http://schemas.microsoft.com/office/drawing/2014/main" id="{E17F00FF-D750-4394-8099-82EFD37D2404}"/>
              </a:ext>
            </a:extLst>
          </p:cNvPr>
          <p:cNvSpPr>
            <a:spLocks noChangeShapeType="1"/>
          </p:cNvSpPr>
          <p:nvPr/>
        </p:nvSpPr>
        <p:spPr bwMode="auto">
          <a:xfrm flipH="1">
            <a:off x="6858000" y="4303713"/>
            <a:ext cx="609600" cy="381000"/>
          </a:xfrm>
          <a:prstGeom prst="line">
            <a:avLst/>
          </a:prstGeom>
          <a:noFill/>
          <a:ln w="19050">
            <a:solidFill>
              <a:srgbClr val="FFFF00"/>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en-GB"/>
          </a:p>
        </p:txBody>
      </p:sp>
      <p:sp>
        <p:nvSpPr>
          <p:cNvPr id="44038" name="Text Box 22">
            <a:extLst>
              <a:ext uri="{FF2B5EF4-FFF2-40B4-BE49-F238E27FC236}">
                <a16:creationId xmlns:a16="http://schemas.microsoft.com/office/drawing/2014/main" id="{1892DC79-84F8-4BF4-96D7-F51E6B94CCA9}"/>
              </a:ext>
            </a:extLst>
          </p:cNvPr>
          <p:cNvSpPr txBox="1">
            <a:spLocks noChangeArrowheads="1"/>
          </p:cNvSpPr>
          <p:nvPr/>
        </p:nvSpPr>
        <p:spPr bwMode="auto">
          <a:xfrm>
            <a:off x="198438" y="1157288"/>
            <a:ext cx="4176712"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4638" indent="-274638">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pPr>
            <a:r>
              <a:rPr lang="en-GB" altLang="en-US" sz="2000" b="1" dirty="0">
                <a:solidFill>
                  <a:schemeClr val="tx1"/>
                </a:solidFill>
                <a:latin typeface="Calibri" panose="020F0502020204030204" pitchFamily="34" charset="0"/>
              </a:rPr>
              <a:t>Here, carbonate productivity is limited by poor circulation and high temperatures, in the Arabian Gulf</a:t>
            </a:r>
          </a:p>
          <a:p>
            <a:pPr lvl="1" eaLnBrk="1" hangingPunct="1">
              <a:spcBef>
                <a:spcPct val="0"/>
              </a:spcBef>
              <a:buNone/>
            </a:pPr>
            <a:r>
              <a:rPr lang="en-GB" altLang="en-US" sz="2000" dirty="0">
                <a:solidFill>
                  <a:schemeClr val="tx1"/>
                </a:solidFill>
                <a:latin typeface="Calibri" panose="020F0502020204030204" pitchFamily="34" charset="0"/>
                <a:sym typeface="Wingdings" panose="05000000000000000000" pitchFamily="2" charset="2"/>
              </a:rPr>
              <a:t>Promote </a:t>
            </a:r>
            <a:r>
              <a:rPr lang="en-GB" altLang="en-US" sz="2000" dirty="0" err="1">
                <a:solidFill>
                  <a:schemeClr val="tx1"/>
                </a:solidFill>
                <a:latin typeface="Calibri" panose="020F0502020204030204" pitchFamily="34" charset="0"/>
                <a:sym typeface="Wingdings" panose="05000000000000000000" pitchFamily="2" charset="2"/>
              </a:rPr>
              <a:t>hypersalinity</a:t>
            </a:r>
            <a:r>
              <a:rPr lang="en-GB" altLang="en-US" sz="2000" dirty="0">
                <a:solidFill>
                  <a:schemeClr val="tx1"/>
                </a:solidFill>
                <a:latin typeface="Calibri" panose="020F0502020204030204" pitchFamily="34" charset="0"/>
                <a:sym typeface="Wingdings" panose="05000000000000000000" pitchFamily="2" charset="2"/>
              </a:rPr>
              <a:t> in the water.</a:t>
            </a:r>
            <a:endParaRPr lang="en-GB" altLang="en-US" sz="2000" dirty="0">
              <a:solidFill>
                <a:schemeClr val="tx1"/>
              </a:solidFill>
              <a:latin typeface="Calibri" panose="020F0502020204030204" pitchFamily="34" charset="0"/>
            </a:endParaRPr>
          </a:p>
          <a:p>
            <a:pPr eaLnBrk="1" hangingPunct="1">
              <a:spcBef>
                <a:spcPct val="0"/>
              </a:spcBef>
            </a:pPr>
            <a:endParaRPr lang="en-GB" altLang="en-US" sz="2200" dirty="0">
              <a:solidFill>
                <a:schemeClr val="tx1"/>
              </a:solidFill>
              <a:latin typeface="Calibri" panose="020F0502020204030204" pitchFamily="34" charset="0"/>
            </a:endParaRPr>
          </a:p>
          <a:p>
            <a:pPr eaLnBrk="1" hangingPunct="1">
              <a:spcBef>
                <a:spcPct val="0"/>
              </a:spcBef>
            </a:pPr>
            <a:r>
              <a:rPr lang="en-GB" altLang="en-US" sz="2200" b="1" dirty="0">
                <a:solidFill>
                  <a:schemeClr val="tx1"/>
                </a:solidFill>
                <a:latin typeface="Calibri" panose="020F0502020204030204" pitchFamily="34" charset="0"/>
              </a:rPr>
              <a:t>Carbonate production is limited to a few reefs, and bacterial and algal mats forming in intertidal areas.</a:t>
            </a:r>
          </a:p>
          <a:p>
            <a:pPr eaLnBrk="1" hangingPunct="1">
              <a:spcBef>
                <a:spcPct val="0"/>
              </a:spcBef>
            </a:pPr>
            <a:endParaRPr lang="en-GB" altLang="en-US" sz="2200" b="1" dirty="0">
              <a:solidFill>
                <a:schemeClr val="tx1"/>
              </a:solidFill>
              <a:latin typeface="Calibri" panose="020F0502020204030204" pitchFamily="34" charset="0"/>
            </a:endParaRPr>
          </a:p>
          <a:p>
            <a:pPr eaLnBrk="1" hangingPunct="1">
              <a:spcBef>
                <a:spcPct val="0"/>
              </a:spcBef>
            </a:pPr>
            <a:r>
              <a:rPr lang="en-GB" altLang="en-US" sz="2200" b="1" dirty="0">
                <a:solidFill>
                  <a:schemeClr val="tx1"/>
                </a:solidFill>
                <a:latin typeface="Calibri" panose="020F0502020204030204" pitchFamily="34" charset="0"/>
              </a:rPr>
              <a:t>Lack of good barrier means that waves and tidal processes break up material and transport it away to deeper water.</a:t>
            </a:r>
            <a:endParaRPr lang="en-US" altLang="en-US" sz="2200" dirty="0">
              <a:solidFill>
                <a:schemeClr val="tx1"/>
              </a:solidFill>
              <a:latin typeface="Calibri" panose="020F0502020204030204" pitchFamily="34" charset="0"/>
            </a:endParaRPr>
          </a:p>
        </p:txBody>
      </p:sp>
      <p:sp>
        <p:nvSpPr>
          <p:cNvPr id="9" name="Rectangle 4">
            <a:extLst>
              <a:ext uri="{FF2B5EF4-FFF2-40B4-BE49-F238E27FC236}">
                <a16:creationId xmlns:a16="http://schemas.microsoft.com/office/drawing/2014/main" id="{734585F8-E4A7-4BBB-900A-D4AEEBEE5AE9}"/>
              </a:ext>
            </a:extLst>
          </p:cNvPr>
          <p:cNvSpPr txBox="1">
            <a:spLocks noChangeArrowheads="1"/>
          </p:cNvSpPr>
          <p:nvPr/>
        </p:nvSpPr>
        <p:spPr>
          <a:xfrm>
            <a:off x="92279" y="0"/>
            <a:ext cx="8959442"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Carbonate Ramps</a:t>
            </a:r>
          </a:p>
        </p:txBody>
      </p:sp>
    </p:spTree>
    <p:extLst>
      <p:ext uri="{BB962C8B-B14F-4D97-AF65-F5344CB8AC3E}">
        <p14:creationId xmlns:p14="http://schemas.microsoft.com/office/powerpoint/2010/main" val="1367490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3EF8EA36-0619-4559-8E70-6F6BB6FAB7DA}"/>
              </a:ext>
            </a:extLst>
          </p:cNvPr>
          <p:cNvSpPr txBox="1">
            <a:spLocks noChangeArrowheads="1"/>
          </p:cNvSpPr>
          <p:nvPr/>
        </p:nvSpPr>
        <p:spPr>
          <a:xfrm>
            <a:off x="0" y="0"/>
            <a:ext cx="9144000"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Evaporites</a:t>
            </a:r>
          </a:p>
        </p:txBody>
      </p:sp>
      <p:pic>
        <p:nvPicPr>
          <p:cNvPr id="7170" name="Picture 2">
            <a:extLst>
              <a:ext uri="{FF2B5EF4-FFF2-40B4-BE49-F238E27FC236}">
                <a16:creationId xmlns:a16="http://schemas.microsoft.com/office/drawing/2014/main" id="{6FAEDC66-4F1C-4DD8-BE92-8B5261B3BA7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48116" y="1317071"/>
            <a:ext cx="3824874" cy="5364759"/>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22">
            <a:extLst>
              <a:ext uri="{FF2B5EF4-FFF2-40B4-BE49-F238E27FC236}">
                <a16:creationId xmlns:a16="http://schemas.microsoft.com/office/drawing/2014/main" id="{620B6773-B8E0-4A4E-A2E7-F8D90568E49C}"/>
              </a:ext>
            </a:extLst>
          </p:cNvPr>
          <p:cNvSpPr txBox="1">
            <a:spLocks noChangeArrowheads="1"/>
          </p:cNvSpPr>
          <p:nvPr/>
        </p:nvSpPr>
        <p:spPr bwMode="auto">
          <a:xfrm>
            <a:off x="4292266" y="1317071"/>
            <a:ext cx="417671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4638" indent="-274638">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pPr>
            <a:r>
              <a:rPr lang="en-GB" altLang="en-US" sz="2000" b="1" dirty="0">
                <a:solidFill>
                  <a:schemeClr val="tx1"/>
                </a:solidFill>
                <a:latin typeface="Calibri" panose="020F0502020204030204" pitchFamily="34" charset="0"/>
              </a:rPr>
              <a:t>Chemical sediments are precipitated directly from sea and lake water</a:t>
            </a:r>
          </a:p>
          <a:p>
            <a:pPr lvl="1" eaLnBrk="1" hangingPunct="1">
              <a:spcBef>
                <a:spcPct val="0"/>
              </a:spcBef>
              <a:buNone/>
            </a:pPr>
            <a:r>
              <a:rPr lang="en-GB" altLang="en-US" sz="2000" dirty="0">
                <a:solidFill>
                  <a:schemeClr val="tx1"/>
                </a:solidFill>
                <a:latin typeface="Calibri" panose="020F0502020204030204" pitchFamily="34" charset="0"/>
                <a:sym typeface="Wingdings" panose="05000000000000000000" pitchFamily="2" charset="2"/>
              </a:rPr>
              <a:t> without being mediated by biogenic activity</a:t>
            </a:r>
          </a:p>
          <a:p>
            <a:pPr lvl="1" eaLnBrk="1" hangingPunct="1">
              <a:spcBef>
                <a:spcPct val="0"/>
              </a:spcBef>
              <a:buNone/>
            </a:pPr>
            <a:r>
              <a:rPr lang="en-GB" altLang="en-US" sz="2000" dirty="0">
                <a:solidFill>
                  <a:schemeClr val="tx1"/>
                </a:solidFill>
                <a:latin typeface="Calibri" panose="020F0502020204030204" pitchFamily="34" charset="0"/>
                <a:sym typeface="Wingdings" panose="05000000000000000000" pitchFamily="2" charset="2"/>
              </a:rPr>
              <a:t>it is wholly inorganic.</a:t>
            </a:r>
          </a:p>
          <a:p>
            <a:pPr lvl="1" eaLnBrk="1" hangingPunct="1">
              <a:spcBef>
                <a:spcPct val="0"/>
              </a:spcBef>
              <a:buNone/>
            </a:pPr>
            <a:endParaRPr lang="en-GB" altLang="en-US" sz="2000" dirty="0">
              <a:solidFill>
                <a:schemeClr val="tx1"/>
              </a:solidFill>
              <a:latin typeface="Calibri" panose="020F0502020204030204" pitchFamily="34" charset="0"/>
              <a:sym typeface="Wingdings" panose="05000000000000000000" pitchFamily="2" charset="2"/>
            </a:endParaRPr>
          </a:p>
          <a:p>
            <a:pPr marL="617538" indent="-342900" eaLnBrk="1" hangingPunct="1">
              <a:spcBef>
                <a:spcPct val="0"/>
              </a:spcBef>
            </a:pPr>
            <a:r>
              <a:rPr lang="en-US" altLang="en-US" sz="2000" b="1" dirty="0">
                <a:solidFill>
                  <a:schemeClr val="tx1"/>
                </a:solidFill>
                <a:latin typeface="Calibri" panose="020F0502020204030204" pitchFamily="34" charset="0"/>
              </a:rPr>
              <a:t>Direct precipitation of dissolved minerals from seas and lakes occurs because the water becomes supersaturated with respect to that mineral.</a:t>
            </a:r>
          </a:p>
          <a:p>
            <a:pPr marL="617538" indent="-342900" eaLnBrk="1" hangingPunct="1">
              <a:spcBef>
                <a:spcPct val="0"/>
              </a:spcBef>
            </a:pPr>
            <a:endParaRPr lang="en-US" altLang="en-US" sz="2000" b="1" dirty="0">
              <a:solidFill>
                <a:schemeClr val="tx1"/>
              </a:solidFill>
              <a:latin typeface="Calibri" panose="020F0502020204030204" pitchFamily="34" charset="0"/>
            </a:endParaRPr>
          </a:p>
          <a:p>
            <a:pPr marL="617538" indent="-342900" eaLnBrk="1" hangingPunct="1">
              <a:spcBef>
                <a:spcPct val="0"/>
              </a:spcBef>
            </a:pPr>
            <a:r>
              <a:rPr lang="en-US" altLang="en-US" sz="2000" b="1" dirty="0">
                <a:solidFill>
                  <a:schemeClr val="tx1"/>
                </a:solidFill>
                <a:latin typeface="Calibri" panose="020F0502020204030204" pitchFamily="34" charset="0"/>
              </a:rPr>
              <a:t>How does this supersaturation happen?</a:t>
            </a:r>
          </a:p>
        </p:txBody>
      </p:sp>
    </p:spTree>
    <p:extLst>
      <p:ext uri="{BB962C8B-B14F-4D97-AF65-F5344CB8AC3E}">
        <p14:creationId xmlns:p14="http://schemas.microsoft.com/office/powerpoint/2010/main" val="2571723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2">
            <a:extLst>
              <a:ext uri="{FF2B5EF4-FFF2-40B4-BE49-F238E27FC236}">
                <a16:creationId xmlns:a16="http://schemas.microsoft.com/office/drawing/2014/main" id="{7C6D7CCA-D716-4066-AEAC-8C6D741AA835}"/>
              </a:ext>
            </a:extLst>
          </p:cNvPr>
          <p:cNvSpPr txBox="1">
            <a:spLocks noChangeArrowheads="1"/>
          </p:cNvSpPr>
          <p:nvPr/>
        </p:nvSpPr>
        <p:spPr bwMode="auto">
          <a:xfrm>
            <a:off x="223604" y="1118443"/>
            <a:ext cx="892039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pPr>
            <a:r>
              <a:rPr lang="en-GB" altLang="en-US" sz="2000" b="1" dirty="0">
                <a:solidFill>
                  <a:schemeClr val="tx1"/>
                </a:solidFill>
                <a:latin typeface="Calibri" panose="020F0502020204030204" pitchFamily="34" charset="0"/>
                <a:cs typeface="Calibri" panose="020F0502020204030204" pitchFamily="34" charset="0"/>
              </a:rPr>
              <a:t>In areas of excess evaporation, versus inflow of fresh (rain) water from rivers, dissolved minerals become </a:t>
            </a:r>
            <a:r>
              <a:rPr lang="en-GB" altLang="en-US" sz="2000" b="1" dirty="0" err="1">
                <a:solidFill>
                  <a:schemeClr val="tx1"/>
                </a:solidFill>
                <a:latin typeface="Calibri" panose="020F0502020204030204" pitchFamily="34" charset="0"/>
                <a:cs typeface="Calibri" panose="020F0502020204030204" pitchFamily="34" charset="0"/>
              </a:rPr>
              <a:t>hyperconcentrated</a:t>
            </a:r>
            <a:r>
              <a:rPr lang="en-GB" altLang="en-US" sz="2000" b="1" dirty="0">
                <a:solidFill>
                  <a:schemeClr val="tx1"/>
                </a:solidFill>
                <a:latin typeface="Calibri" panose="020F0502020204030204" pitchFamily="34" charset="0"/>
                <a:cs typeface="Calibri" panose="020F0502020204030204" pitchFamily="34" charset="0"/>
              </a:rPr>
              <a:t>.</a:t>
            </a:r>
          </a:p>
          <a:p>
            <a:pPr eaLnBrk="1" hangingPunct="1">
              <a:spcBef>
                <a:spcPct val="0"/>
              </a:spcBef>
            </a:pPr>
            <a:r>
              <a:rPr lang="en-GB" altLang="en-US" sz="2000" b="1" dirty="0">
                <a:solidFill>
                  <a:schemeClr val="tx1"/>
                </a:solidFill>
                <a:latin typeface="Calibri" panose="020F0502020204030204" pitchFamily="34" charset="0"/>
                <a:cs typeface="Calibri" panose="020F0502020204030204" pitchFamily="34" charset="0"/>
              </a:rPr>
              <a:t>These minerals are predominantly minerals of common Earth surface metals</a:t>
            </a:r>
          </a:p>
          <a:p>
            <a:pPr marL="742950" lvl="1" indent="-285750" eaLnBrk="1" hangingPunct="1">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Calcite and polymorphs</a:t>
            </a:r>
            <a:r>
              <a:rPr lang="en-GB" altLang="en-US" sz="2000" dirty="0">
                <a:solidFill>
                  <a:schemeClr val="tx1"/>
                </a:solidFill>
                <a:latin typeface="Calibri" panose="020F0502020204030204" pitchFamily="34" charset="0"/>
                <a:cs typeface="Calibri" panose="020F0502020204030204" pitchFamily="34" charset="0"/>
              </a:rPr>
              <a:t> (CaCO</a:t>
            </a:r>
            <a:r>
              <a:rPr lang="en-GB" altLang="en-US" sz="2000" baseline="-25000" dirty="0">
                <a:solidFill>
                  <a:schemeClr val="tx1"/>
                </a:solidFill>
                <a:latin typeface="Calibri" panose="020F0502020204030204" pitchFamily="34" charset="0"/>
                <a:cs typeface="Calibri" panose="020F0502020204030204" pitchFamily="34" charset="0"/>
              </a:rPr>
              <a:t>3</a:t>
            </a:r>
            <a:r>
              <a:rPr lang="en-GB" altLang="en-US" sz="2000" dirty="0">
                <a:solidFill>
                  <a:schemeClr val="tx1"/>
                </a:solidFill>
                <a:latin typeface="Calibri" panose="020F0502020204030204" pitchFamily="34" charset="0"/>
                <a:cs typeface="Calibri" panose="020F0502020204030204" pitchFamily="34" charset="0"/>
              </a:rPr>
              <a:t>) and dolomite (</a:t>
            </a:r>
            <a:r>
              <a:rPr lang="en-GB" altLang="en-US" sz="2000" dirty="0" err="1">
                <a:solidFill>
                  <a:schemeClr val="tx1"/>
                </a:solidFill>
                <a:latin typeface="Calibri" panose="020F0502020204030204" pitchFamily="34" charset="0"/>
                <a:cs typeface="Calibri" panose="020F0502020204030204" pitchFamily="34" charset="0"/>
              </a:rPr>
              <a:t>CaMg</a:t>
            </a:r>
            <a:r>
              <a:rPr lang="en-GB" altLang="en-US" sz="2000" dirty="0">
                <a:solidFill>
                  <a:schemeClr val="tx1"/>
                </a:solidFill>
                <a:latin typeface="Calibri" panose="020F0502020204030204" pitchFamily="34" charset="0"/>
                <a:cs typeface="Calibri" panose="020F0502020204030204" pitchFamily="34" charset="0"/>
              </a:rPr>
              <a:t>(CO</a:t>
            </a:r>
            <a:r>
              <a:rPr lang="en-GB" altLang="en-US" sz="2000" baseline="-25000" dirty="0">
                <a:solidFill>
                  <a:schemeClr val="tx1"/>
                </a:solidFill>
                <a:latin typeface="Calibri" panose="020F0502020204030204" pitchFamily="34" charset="0"/>
                <a:cs typeface="Calibri" panose="020F0502020204030204" pitchFamily="34" charset="0"/>
              </a:rPr>
              <a:t>3</a:t>
            </a:r>
            <a:r>
              <a:rPr lang="en-GB" altLang="en-US" sz="2000" dirty="0">
                <a:solidFill>
                  <a:schemeClr val="tx1"/>
                </a:solidFill>
                <a:latin typeface="Calibri" panose="020F0502020204030204" pitchFamily="34" charset="0"/>
                <a:cs typeface="Calibri" panose="020F0502020204030204" pitchFamily="34" charset="0"/>
              </a:rPr>
              <a:t>)</a:t>
            </a:r>
            <a:r>
              <a:rPr lang="en-GB" altLang="en-US" sz="2000" baseline="-25000" dirty="0">
                <a:solidFill>
                  <a:schemeClr val="tx1"/>
                </a:solidFill>
                <a:latin typeface="Calibri" panose="020F0502020204030204" pitchFamily="34" charset="0"/>
                <a:cs typeface="Calibri" panose="020F0502020204030204" pitchFamily="34" charset="0"/>
              </a:rPr>
              <a:t>2</a:t>
            </a:r>
            <a:r>
              <a:rPr lang="en-GB" altLang="en-US" sz="2000" dirty="0">
                <a:solidFill>
                  <a:schemeClr val="tx1"/>
                </a:solidFill>
                <a:latin typeface="Calibri" panose="020F0502020204030204" pitchFamily="34" charset="0"/>
                <a:cs typeface="Calibri" panose="020F0502020204030204" pitchFamily="34" charset="0"/>
              </a:rPr>
              <a:t>) </a:t>
            </a:r>
            <a:endPar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endParaRPr>
          </a:p>
          <a:p>
            <a:pPr marL="742950" lvl="1" indent="-285750" eaLnBrk="1" hangingPunct="1">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The salt group (Halogens) – NaCl (halite), </a:t>
            </a:r>
            <a:r>
              <a:rPr lang="en-GB" altLang="en-US" sz="2000" dirty="0" err="1">
                <a:solidFill>
                  <a:schemeClr val="tx1"/>
                </a:solidFill>
                <a:latin typeface="Calibri" panose="020F0502020204030204" pitchFamily="34" charset="0"/>
                <a:cs typeface="Calibri" panose="020F0502020204030204" pitchFamily="34" charset="0"/>
                <a:sym typeface="Wingdings" panose="05000000000000000000" pitchFamily="2" charset="2"/>
              </a:rPr>
              <a:t>KCl</a:t>
            </a: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 (sylvite), </a:t>
            </a:r>
            <a:r>
              <a:rPr lang="en-GB" altLang="en-US" sz="2000" dirty="0" err="1">
                <a:solidFill>
                  <a:schemeClr val="tx1"/>
                </a:solidFill>
                <a:latin typeface="Calibri" panose="020F0502020204030204" pitchFamily="34" charset="0"/>
                <a:cs typeface="Calibri" panose="020F0502020204030204" pitchFamily="34" charset="0"/>
                <a:sym typeface="Wingdings" panose="05000000000000000000" pitchFamily="2" charset="2"/>
              </a:rPr>
              <a:t>MgCl</a:t>
            </a: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 etc.</a:t>
            </a:r>
          </a:p>
          <a:p>
            <a:pPr marL="742950" lvl="1" indent="-285750" eaLnBrk="1" hangingPunct="1">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Gypsum (</a:t>
            </a:r>
            <a:r>
              <a:rPr lang="en-GB" sz="2000" dirty="0">
                <a:solidFill>
                  <a:schemeClr val="tx1"/>
                </a:solidFill>
                <a:latin typeface="Calibri" panose="020F0502020204030204" pitchFamily="34" charset="0"/>
                <a:cs typeface="Calibri" panose="020F0502020204030204" pitchFamily="34" charset="0"/>
              </a:rPr>
              <a:t>CaSO</a:t>
            </a:r>
            <a:r>
              <a:rPr lang="en-GB" sz="2000" baseline="-25000" dirty="0">
                <a:solidFill>
                  <a:schemeClr val="tx1"/>
                </a:solidFill>
                <a:latin typeface="Calibri" panose="020F0502020204030204" pitchFamily="34" charset="0"/>
                <a:cs typeface="Calibri" panose="020F0502020204030204" pitchFamily="34" charset="0"/>
              </a:rPr>
              <a:t>4</a:t>
            </a:r>
            <a:r>
              <a:rPr lang="en-GB" sz="2000" dirty="0">
                <a:solidFill>
                  <a:schemeClr val="tx1"/>
                </a:solidFill>
                <a:latin typeface="Calibri" panose="020F0502020204030204" pitchFamily="34" charset="0"/>
                <a:cs typeface="Calibri" panose="020F0502020204030204" pitchFamily="34" charset="0"/>
              </a:rPr>
              <a:t>·2H</a:t>
            </a:r>
            <a:r>
              <a:rPr lang="en-GB" sz="2000" baseline="-25000" dirty="0">
                <a:solidFill>
                  <a:schemeClr val="tx1"/>
                </a:solidFill>
                <a:latin typeface="Calibri" panose="020F0502020204030204" pitchFamily="34" charset="0"/>
                <a:cs typeface="Calibri" panose="020F0502020204030204" pitchFamily="34" charset="0"/>
              </a:rPr>
              <a:t>2</a:t>
            </a:r>
            <a:r>
              <a:rPr lang="en-GB" sz="2000" dirty="0">
                <a:solidFill>
                  <a:schemeClr val="tx1"/>
                </a:solidFill>
                <a:latin typeface="Calibri" panose="020F0502020204030204" pitchFamily="34" charset="0"/>
                <a:cs typeface="Calibri" panose="020F0502020204030204" pitchFamily="34" charset="0"/>
              </a:rPr>
              <a:t>O) </a:t>
            </a: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and anhydrite</a:t>
            </a:r>
            <a:r>
              <a:rPr lang="en-GB" altLang="en-US" sz="2000" dirty="0">
                <a:solidFill>
                  <a:schemeClr val="tx1"/>
                </a:solidFill>
                <a:latin typeface="Calibri" panose="020F0502020204030204" pitchFamily="34" charset="0"/>
                <a:cs typeface="Calibri" panose="020F0502020204030204" pitchFamily="34" charset="0"/>
              </a:rPr>
              <a:t> (</a:t>
            </a:r>
            <a:r>
              <a:rPr lang="en-GB" sz="2000" dirty="0">
                <a:solidFill>
                  <a:schemeClr val="tx1"/>
                </a:solidFill>
                <a:latin typeface="Calibri" panose="020F0502020204030204" pitchFamily="34" charset="0"/>
                <a:cs typeface="Calibri" panose="020F0502020204030204" pitchFamily="34" charset="0"/>
              </a:rPr>
              <a:t>CaSO</a:t>
            </a:r>
            <a:r>
              <a:rPr lang="en-GB" sz="2000" baseline="-25000" dirty="0">
                <a:solidFill>
                  <a:schemeClr val="tx1"/>
                </a:solidFill>
                <a:latin typeface="Calibri" panose="020F0502020204030204" pitchFamily="34" charset="0"/>
                <a:cs typeface="Calibri" panose="020F0502020204030204" pitchFamily="34" charset="0"/>
              </a:rPr>
              <a:t>4</a:t>
            </a:r>
            <a:r>
              <a:rPr lang="en-GB" sz="2000" dirty="0">
                <a:solidFill>
                  <a:schemeClr val="tx1"/>
                </a:solidFill>
                <a:latin typeface="Calibri" panose="020F0502020204030204" pitchFamily="34" charset="0"/>
                <a:cs typeface="Calibri" panose="020F0502020204030204" pitchFamily="34" charset="0"/>
              </a:rPr>
              <a:t>).</a:t>
            </a:r>
            <a:endParaRPr lang="en-US" altLang="en-US" sz="2000" dirty="0">
              <a:solidFill>
                <a:schemeClr val="tx1"/>
              </a:solidFill>
              <a:latin typeface="Calibri" panose="020F0502020204030204" pitchFamily="34" charset="0"/>
              <a:cs typeface="Calibri" panose="020F0502020204030204" pitchFamily="34" charset="0"/>
            </a:endParaRPr>
          </a:p>
        </p:txBody>
      </p:sp>
      <p:pic>
        <p:nvPicPr>
          <p:cNvPr id="7" name="Picture 2">
            <a:extLst>
              <a:ext uri="{FF2B5EF4-FFF2-40B4-BE49-F238E27FC236}">
                <a16:creationId xmlns:a16="http://schemas.microsoft.com/office/drawing/2014/main" id="{AE00B6D3-5A06-421E-8CF0-709711F4A8A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078760" y="3169426"/>
            <a:ext cx="5673069" cy="3545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399B3BA4-449C-428D-9333-16BBB8D7D65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7494" y="3262561"/>
            <a:ext cx="2461528" cy="3452533"/>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5">
            <a:extLst>
              <a:ext uri="{FF2B5EF4-FFF2-40B4-BE49-F238E27FC236}">
                <a16:creationId xmlns:a16="http://schemas.microsoft.com/office/drawing/2014/main" id="{00524D28-27C8-402A-A891-17883E063D60}"/>
              </a:ext>
            </a:extLst>
          </p:cNvPr>
          <p:cNvSpPr txBox="1">
            <a:spLocks noChangeArrowheads="1"/>
          </p:cNvSpPr>
          <p:nvPr/>
        </p:nvSpPr>
        <p:spPr bwMode="auto">
          <a:xfrm>
            <a:off x="3157027" y="3262561"/>
            <a:ext cx="5517190"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600" b="1" dirty="0">
                <a:solidFill>
                  <a:schemeClr val="tx1"/>
                </a:solidFill>
                <a:latin typeface="Calibri" panose="020F0502020204030204" pitchFamily="34" charset="0"/>
              </a:rPr>
              <a:t>The Dead Sea has is </a:t>
            </a:r>
            <a:r>
              <a:rPr lang="en-US" altLang="en-US" sz="1600" b="1" dirty="0" err="1">
                <a:solidFill>
                  <a:schemeClr val="tx1"/>
                </a:solidFill>
                <a:latin typeface="Calibri" panose="020F0502020204030204" pitchFamily="34" charset="0"/>
              </a:rPr>
              <a:t>hyperconcentrated</a:t>
            </a:r>
            <a:r>
              <a:rPr lang="en-US" altLang="en-US" sz="1600" b="1" dirty="0">
                <a:solidFill>
                  <a:schemeClr val="tx1"/>
                </a:solidFill>
                <a:latin typeface="Calibri" panose="020F0502020204030204" pitchFamily="34" charset="0"/>
              </a:rPr>
              <a:t> in halite (table salt), at 40ppm (5ppm more than normal oceans). This is enough to promote inorganic precipitation of salt.</a:t>
            </a:r>
          </a:p>
        </p:txBody>
      </p:sp>
      <p:sp>
        <p:nvSpPr>
          <p:cNvPr id="10" name="Rectangle 4">
            <a:extLst>
              <a:ext uri="{FF2B5EF4-FFF2-40B4-BE49-F238E27FC236}">
                <a16:creationId xmlns:a16="http://schemas.microsoft.com/office/drawing/2014/main" id="{11059919-ED5A-4F8A-8490-674434369836}"/>
              </a:ext>
            </a:extLst>
          </p:cNvPr>
          <p:cNvSpPr txBox="1">
            <a:spLocks noChangeArrowheads="1"/>
          </p:cNvSpPr>
          <p:nvPr/>
        </p:nvSpPr>
        <p:spPr>
          <a:xfrm>
            <a:off x="0" y="0"/>
            <a:ext cx="9144000"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Evaporites</a:t>
            </a:r>
          </a:p>
        </p:txBody>
      </p:sp>
    </p:spTree>
    <p:extLst>
      <p:ext uri="{BB962C8B-B14F-4D97-AF65-F5344CB8AC3E}">
        <p14:creationId xmlns:p14="http://schemas.microsoft.com/office/powerpoint/2010/main" val="1480943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2">
            <a:extLst>
              <a:ext uri="{FF2B5EF4-FFF2-40B4-BE49-F238E27FC236}">
                <a16:creationId xmlns:a16="http://schemas.microsoft.com/office/drawing/2014/main" id="{BAA648FF-C396-4EBF-B077-1B432E059D40}"/>
              </a:ext>
            </a:extLst>
          </p:cNvPr>
          <p:cNvSpPr txBox="1">
            <a:spLocks noChangeArrowheads="1"/>
          </p:cNvSpPr>
          <p:nvPr/>
        </p:nvSpPr>
        <p:spPr bwMode="auto">
          <a:xfrm>
            <a:off x="223604" y="1118443"/>
            <a:ext cx="892039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pPr>
            <a:r>
              <a:rPr lang="en-GB" altLang="en-US" sz="2000" b="1" dirty="0">
                <a:solidFill>
                  <a:schemeClr val="tx1"/>
                </a:solidFill>
                <a:latin typeface="Calibri" panose="020F0502020204030204" pitchFamily="34" charset="0"/>
                <a:cs typeface="Calibri" panose="020F0502020204030204" pitchFamily="34" charset="0"/>
              </a:rPr>
              <a:t>If Oceans were perfectly mixed, these pools of </a:t>
            </a:r>
            <a:r>
              <a:rPr lang="en-GB" altLang="en-US" sz="2000" b="1" dirty="0" err="1">
                <a:solidFill>
                  <a:schemeClr val="tx1"/>
                </a:solidFill>
                <a:latin typeface="Calibri" panose="020F0502020204030204" pitchFamily="34" charset="0"/>
                <a:cs typeface="Calibri" panose="020F0502020204030204" pitchFamily="34" charset="0"/>
              </a:rPr>
              <a:t>hyperconcentrated</a:t>
            </a:r>
            <a:r>
              <a:rPr lang="en-GB" altLang="en-US" sz="2000" b="1" dirty="0">
                <a:solidFill>
                  <a:schemeClr val="tx1"/>
                </a:solidFill>
                <a:latin typeface="Calibri" panose="020F0502020204030204" pitchFamily="34" charset="0"/>
                <a:cs typeface="Calibri" panose="020F0502020204030204" pitchFamily="34" charset="0"/>
              </a:rPr>
              <a:t> water would be mixed around</a:t>
            </a:r>
            <a:r>
              <a:rPr lang="en-US" altLang="en-US" sz="2000" b="1" dirty="0">
                <a:solidFill>
                  <a:schemeClr val="tx1"/>
                </a:solidFill>
                <a:latin typeface="Calibri" panose="020F0502020204030204" pitchFamily="34" charset="0"/>
                <a:cs typeface="Calibri" panose="020F0502020204030204" pitchFamily="34" charset="0"/>
              </a:rPr>
              <a:t>.</a:t>
            </a:r>
          </a:p>
          <a:p>
            <a:pPr eaLnBrk="1" hangingPunct="1">
              <a:spcBef>
                <a:spcPct val="0"/>
              </a:spcBef>
            </a:pPr>
            <a:r>
              <a:rPr lang="en-US" altLang="en-US" sz="2000" b="1" dirty="0">
                <a:solidFill>
                  <a:schemeClr val="tx1"/>
                </a:solidFill>
                <a:latin typeface="Calibri" panose="020F0502020204030204" pitchFamily="34" charset="0"/>
                <a:cs typeface="Calibri" panose="020F0502020204030204" pitchFamily="34" charset="0"/>
              </a:rPr>
              <a:t>However, </a:t>
            </a:r>
            <a:r>
              <a:rPr lang="en-US" altLang="en-US" sz="2000" b="1" dirty="0" err="1">
                <a:solidFill>
                  <a:schemeClr val="tx1"/>
                </a:solidFill>
                <a:latin typeface="Calibri" panose="020F0502020204030204" pitchFamily="34" charset="0"/>
                <a:cs typeface="Calibri" panose="020F0502020204030204" pitchFamily="34" charset="0"/>
              </a:rPr>
              <a:t>hypersalinity</a:t>
            </a:r>
            <a:r>
              <a:rPr lang="en-US" altLang="en-US" sz="2000" b="1" dirty="0">
                <a:solidFill>
                  <a:schemeClr val="tx1"/>
                </a:solidFill>
                <a:latin typeface="Calibri" panose="020F0502020204030204" pitchFamily="34" charset="0"/>
                <a:cs typeface="Calibri" panose="020F0502020204030204" pitchFamily="34" charset="0"/>
              </a:rPr>
              <a:t> develops readily in</a:t>
            </a:r>
          </a:p>
          <a:p>
            <a:pPr marL="800100" lvl="1" indent="-342900" eaLnBrk="1" hangingPunct="1">
              <a:spcBef>
                <a:spcPct val="0"/>
              </a:spcBef>
              <a:buFont typeface="Wingdings" panose="05000000000000000000" pitchFamily="2" charset="2"/>
              <a:buChar char="à"/>
            </a:pPr>
            <a:r>
              <a:rPr lang="en-US" altLang="en-US" sz="2000" dirty="0">
                <a:solidFill>
                  <a:schemeClr val="tx1"/>
                </a:solidFill>
                <a:latin typeface="Calibri" panose="020F0502020204030204" pitchFamily="34" charset="0"/>
                <a:cs typeface="Calibri" panose="020F0502020204030204" pitchFamily="34" charset="0"/>
              </a:rPr>
              <a:t>seaways (and especially lakes) that have poor/no connection to the open ocean,</a:t>
            </a:r>
          </a:p>
          <a:p>
            <a:pPr marL="800100" lvl="1" indent="-342900" eaLnBrk="1" hangingPunct="1">
              <a:spcBef>
                <a:spcPct val="0"/>
              </a:spcBef>
              <a:buFont typeface="Wingdings" panose="05000000000000000000" pitchFamily="2" charset="2"/>
              <a:buChar char="à"/>
            </a:pPr>
            <a:r>
              <a:rPr lang="en-GB" altLang="en-US" sz="2000" dirty="0">
                <a:solidFill>
                  <a:schemeClr val="tx1"/>
                </a:solidFill>
                <a:latin typeface="Calibri" panose="020F0502020204030204" pitchFamily="34" charset="0"/>
                <a:cs typeface="Calibri" panose="020F0502020204030204" pitchFamily="34" charset="0"/>
              </a:rPr>
              <a:t>and experience an excess of evaporation versus inflow of fresh water. </a:t>
            </a:r>
          </a:p>
        </p:txBody>
      </p:sp>
      <p:pic>
        <p:nvPicPr>
          <p:cNvPr id="19" name="Picture 2">
            <a:extLst>
              <a:ext uri="{FF2B5EF4-FFF2-40B4-BE49-F238E27FC236}">
                <a16:creationId xmlns:a16="http://schemas.microsoft.com/office/drawing/2014/main" id="{52255DC7-E76A-4413-A9F5-41D33AF9E7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95"/>
          <a:stretch/>
        </p:blipFill>
        <p:spPr bwMode="auto">
          <a:xfrm>
            <a:off x="1579876" y="3124547"/>
            <a:ext cx="5525600" cy="36633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59F9BDA-111C-47E0-A4D3-7F6B1669D83A}"/>
              </a:ext>
            </a:extLst>
          </p:cNvPr>
          <p:cNvSpPr txBox="1">
            <a:spLocks noChangeArrowheads="1"/>
          </p:cNvSpPr>
          <p:nvPr/>
        </p:nvSpPr>
        <p:spPr>
          <a:xfrm>
            <a:off x="0" y="0"/>
            <a:ext cx="9144000"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Evaporites</a:t>
            </a:r>
          </a:p>
        </p:txBody>
      </p:sp>
    </p:spTree>
    <p:extLst>
      <p:ext uri="{BB962C8B-B14F-4D97-AF65-F5344CB8AC3E}">
        <p14:creationId xmlns:p14="http://schemas.microsoft.com/office/powerpoint/2010/main" val="174963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5">
            <a:extLst>
              <a:ext uri="{FF2B5EF4-FFF2-40B4-BE49-F238E27FC236}">
                <a16:creationId xmlns:a16="http://schemas.microsoft.com/office/drawing/2014/main" id="{45F8B99A-D935-4F20-87B1-3FD4BC746062}"/>
              </a:ext>
            </a:extLst>
          </p:cNvPr>
          <p:cNvSpPr txBox="1">
            <a:spLocks noChangeArrowheads="1"/>
          </p:cNvSpPr>
          <p:nvPr/>
        </p:nvSpPr>
        <p:spPr bwMode="auto">
          <a:xfrm>
            <a:off x="4300830" y="6150118"/>
            <a:ext cx="4890182"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600" b="1" dirty="0">
                <a:solidFill>
                  <a:schemeClr val="tx1"/>
                </a:solidFill>
                <a:latin typeface="Calibri" panose="020F0502020204030204" pitchFamily="34" charset="0"/>
              </a:rPr>
              <a:t>The Bay of Bengal is very fresh because of the high freshwater discharge of the Ganges.</a:t>
            </a:r>
          </a:p>
        </p:txBody>
      </p:sp>
      <p:sp>
        <p:nvSpPr>
          <p:cNvPr id="20" name="Text Box 5">
            <a:extLst>
              <a:ext uri="{FF2B5EF4-FFF2-40B4-BE49-F238E27FC236}">
                <a16:creationId xmlns:a16="http://schemas.microsoft.com/office/drawing/2014/main" id="{0122D180-812E-494E-A9BD-14BF6AFFD5A3}"/>
              </a:ext>
            </a:extLst>
          </p:cNvPr>
          <p:cNvSpPr txBox="1">
            <a:spLocks noChangeArrowheads="1"/>
          </p:cNvSpPr>
          <p:nvPr/>
        </p:nvSpPr>
        <p:spPr bwMode="auto">
          <a:xfrm>
            <a:off x="5086668" y="1106199"/>
            <a:ext cx="39478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600" b="1" dirty="0">
                <a:solidFill>
                  <a:schemeClr val="tx1"/>
                </a:solidFill>
                <a:latin typeface="Calibri" panose="020F0502020204030204" pitchFamily="34" charset="0"/>
              </a:rPr>
              <a:t>The Mediterranean has elevated salinity because evaporation&gt;rainfall and it is poorly connected to the Atlantic</a:t>
            </a:r>
          </a:p>
        </p:txBody>
      </p:sp>
      <p:sp>
        <p:nvSpPr>
          <p:cNvPr id="27" name="Text Box 5">
            <a:extLst>
              <a:ext uri="{FF2B5EF4-FFF2-40B4-BE49-F238E27FC236}">
                <a16:creationId xmlns:a16="http://schemas.microsoft.com/office/drawing/2014/main" id="{E0AB6346-9BA1-4D7E-A9F5-201D2AF91888}"/>
              </a:ext>
            </a:extLst>
          </p:cNvPr>
          <p:cNvSpPr txBox="1">
            <a:spLocks noChangeArrowheads="1"/>
          </p:cNvSpPr>
          <p:nvPr/>
        </p:nvSpPr>
        <p:spPr bwMode="auto">
          <a:xfrm>
            <a:off x="109451" y="1175045"/>
            <a:ext cx="3791430"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600" b="1" dirty="0">
                <a:solidFill>
                  <a:schemeClr val="tx1"/>
                </a:solidFill>
                <a:latin typeface="Calibri" panose="020F0502020204030204" pitchFamily="34" charset="0"/>
              </a:rPr>
              <a:t>Two subtropical belts of elevated salinity tell you that the Atlantic is not fully mixed.</a:t>
            </a:r>
          </a:p>
        </p:txBody>
      </p:sp>
      <p:grpSp>
        <p:nvGrpSpPr>
          <p:cNvPr id="2" name="Group 1">
            <a:extLst>
              <a:ext uri="{FF2B5EF4-FFF2-40B4-BE49-F238E27FC236}">
                <a16:creationId xmlns:a16="http://schemas.microsoft.com/office/drawing/2014/main" id="{691EE785-5F77-4162-80E9-0C5A36165B80}"/>
              </a:ext>
            </a:extLst>
          </p:cNvPr>
          <p:cNvGrpSpPr/>
          <p:nvPr/>
        </p:nvGrpSpPr>
        <p:grpSpPr>
          <a:xfrm>
            <a:off x="713459" y="2025884"/>
            <a:ext cx="7390306" cy="4035546"/>
            <a:chOff x="1476056" y="2408471"/>
            <a:chExt cx="5358035" cy="3270372"/>
          </a:xfrm>
        </p:grpSpPr>
        <p:pic>
          <p:nvPicPr>
            <p:cNvPr id="5" name="Picture 2">
              <a:extLst>
                <a:ext uri="{FF2B5EF4-FFF2-40B4-BE49-F238E27FC236}">
                  <a16:creationId xmlns:a16="http://schemas.microsoft.com/office/drawing/2014/main" id="{82259E2E-68E5-41E2-8A70-00A3C62E963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76056" y="2408471"/>
              <a:ext cx="5358035" cy="327037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4CDA8A0-A550-4318-89EF-F284798BEB2A}"/>
                </a:ext>
              </a:extLst>
            </p:cNvPr>
            <p:cNvSpPr/>
            <p:nvPr/>
          </p:nvSpPr>
          <p:spPr bwMode="auto">
            <a:xfrm>
              <a:off x="4300830" y="3107508"/>
              <a:ext cx="541206" cy="42783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sp>
          <p:nvSpPr>
            <p:cNvPr id="9" name="Rectangle 8">
              <a:extLst>
                <a:ext uri="{FF2B5EF4-FFF2-40B4-BE49-F238E27FC236}">
                  <a16:creationId xmlns:a16="http://schemas.microsoft.com/office/drawing/2014/main" id="{CF089056-2D15-4060-A754-EFD81042E09B}"/>
                </a:ext>
              </a:extLst>
            </p:cNvPr>
            <p:cNvSpPr/>
            <p:nvPr/>
          </p:nvSpPr>
          <p:spPr bwMode="auto">
            <a:xfrm>
              <a:off x="3512480" y="3325400"/>
              <a:ext cx="655634" cy="42783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sp>
          <p:nvSpPr>
            <p:cNvPr id="10" name="Rectangle 9">
              <a:extLst>
                <a:ext uri="{FF2B5EF4-FFF2-40B4-BE49-F238E27FC236}">
                  <a16:creationId xmlns:a16="http://schemas.microsoft.com/office/drawing/2014/main" id="{082D5381-358C-4675-9BFC-ABE9A941AD19}"/>
                </a:ext>
              </a:extLst>
            </p:cNvPr>
            <p:cNvSpPr/>
            <p:nvPr/>
          </p:nvSpPr>
          <p:spPr bwMode="auto">
            <a:xfrm>
              <a:off x="3734685" y="4052794"/>
              <a:ext cx="729843" cy="42783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sp>
          <p:nvSpPr>
            <p:cNvPr id="11" name="Rectangle 10">
              <a:extLst>
                <a:ext uri="{FF2B5EF4-FFF2-40B4-BE49-F238E27FC236}">
                  <a16:creationId xmlns:a16="http://schemas.microsoft.com/office/drawing/2014/main" id="{72F76FB7-7607-4DDB-8274-566ADD8471EC}"/>
                </a:ext>
              </a:extLst>
            </p:cNvPr>
            <p:cNvSpPr/>
            <p:nvPr/>
          </p:nvSpPr>
          <p:spPr bwMode="auto">
            <a:xfrm>
              <a:off x="5295038" y="3535346"/>
              <a:ext cx="417891" cy="46272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4400" b="0" i="0" u="none" strike="noStrike" cap="none" normalizeH="0" baseline="0">
                <a:ln>
                  <a:noFill/>
                </a:ln>
                <a:solidFill>
                  <a:schemeClr val="tx1"/>
                </a:solidFill>
                <a:effectLst/>
                <a:latin typeface="Arial" charset="0"/>
                <a:ea typeface="ヒラギノ角ゴ Pro W3" pitchFamily="57" charset="-128"/>
              </a:endParaRPr>
            </a:p>
          </p:txBody>
        </p:sp>
      </p:grpSp>
      <p:cxnSp>
        <p:nvCxnSpPr>
          <p:cNvPr id="12" name="Straight Connector 11">
            <a:extLst>
              <a:ext uri="{FF2B5EF4-FFF2-40B4-BE49-F238E27FC236}">
                <a16:creationId xmlns:a16="http://schemas.microsoft.com/office/drawing/2014/main" id="{B4EBAF9A-4D1C-4820-8F95-8C93BF87C375}"/>
              </a:ext>
            </a:extLst>
          </p:cNvPr>
          <p:cNvCxnSpPr>
            <a:cxnSpLocks/>
            <a:stCxn id="4" idx="3"/>
          </p:cNvCxnSpPr>
          <p:nvPr/>
        </p:nvCxnSpPr>
        <p:spPr bwMode="auto">
          <a:xfrm flipV="1">
            <a:off x="5356135" y="1937196"/>
            <a:ext cx="1389786" cy="121525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4" name="Straight Connector 13">
            <a:extLst>
              <a:ext uri="{FF2B5EF4-FFF2-40B4-BE49-F238E27FC236}">
                <a16:creationId xmlns:a16="http://schemas.microsoft.com/office/drawing/2014/main" id="{820E43F2-016F-42DF-9EA4-FFE64C169A19}"/>
              </a:ext>
            </a:extLst>
          </p:cNvPr>
          <p:cNvCxnSpPr>
            <a:cxnSpLocks/>
          </p:cNvCxnSpPr>
          <p:nvPr/>
        </p:nvCxnSpPr>
        <p:spPr bwMode="auto">
          <a:xfrm flipH="1">
            <a:off x="5460264" y="3978969"/>
            <a:ext cx="569944" cy="2171149"/>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CD16965B-3521-466C-BBAE-9DE16DF3618E}"/>
              </a:ext>
            </a:extLst>
          </p:cNvPr>
          <p:cNvCxnSpPr>
            <a:cxnSpLocks/>
          </p:cNvCxnSpPr>
          <p:nvPr/>
        </p:nvCxnSpPr>
        <p:spPr bwMode="auto">
          <a:xfrm>
            <a:off x="1300294" y="1848508"/>
            <a:ext cx="2233739" cy="1582957"/>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B7083913-83CA-4B18-9BBD-E30770243B86}"/>
              </a:ext>
            </a:extLst>
          </p:cNvPr>
          <p:cNvCxnSpPr>
            <a:cxnSpLocks/>
            <a:endCxn id="10" idx="1"/>
          </p:cNvCxnSpPr>
          <p:nvPr/>
        </p:nvCxnSpPr>
        <p:spPr bwMode="auto">
          <a:xfrm>
            <a:off x="1300294" y="1848508"/>
            <a:ext cx="2528479" cy="2470394"/>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17" name="Rectangle 4">
            <a:extLst>
              <a:ext uri="{FF2B5EF4-FFF2-40B4-BE49-F238E27FC236}">
                <a16:creationId xmlns:a16="http://schemas.microsoft.com/office/drawing/2014/main" id="{4C0D66E1-9E5D-4199-9F5B-510B20813D75}"/>
              </a:ext>
            </a:extLst>
          </p:cNvPr>
          <p:cNvSpPr txBox="1">
            <a:spLocks noChangeArrowheads="1"/>
          </p:cNvSpPr>
          <p:nvPr/>
        </p:nvSpPr>
        <p:spPr>
          <a:xfrm>
            <a:off x="0" y="0"/>
            <a:ext cx="9144000"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Evaporites</a:t>
            </a:r>
          </a:p>
        </p:txBody>
      </p:sp>
    </p:spTree>
    <p:extLst>
      <p:ext uri="{BB962C8B-B14F-4D97-AF65-F5344CB8AC3E}">
        <p14:creationId xmlns:p14="http://schemas.microsoft.com/office/powerpoint/2010/main" val="3662097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2">
            <a:extLst>
              <a:ext uri="{FF2B5EF4-FFF2-40B4-BE49-F238E27FC236}">
                <a16:creationId xmlns:a16="http://schemas.microsoft.com/office/drawing/2014/main" id="{92A420D0-7C8B-4BB1-8C35-DFF9AA0ECF97}"/>
              </a:ext>
            </a:extLst>
          </p:cNvPr>
          <p:cNvSpPr txBox="1">
            <a:spLocks noChangeArrowheads="1"/>
          </p:cNvSpPr>
          <p:nvPr/>
        </p:nvSpPr>
        <p:spPr bwMode="auto">
          <a:xfrm>
            <a:off x="223604" y="1118443"/>
            <a:ext cx="892039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4638" indent="-274638">
              <a:spcBef>
                <a:spcPct val="20000"/>
              </a:spcBef>
              <a:buChar char="•"/>
              <a:defRPr sz="3200">
                <a:solidFill>
                  <a:schemeClr val="accent2"/>
                </a:solidFill>
                <a:latin typeface="Arial" panose="020B0604020202020204" pitchFamily="34" charset="0"/>
                <a:ea typeface="ヒラギノ角ゴ Pro W3" pitchFamily="57" charset="-128"/>
              </a:defRPr>
            </a:lvl1pPr>
            <a:lvl2pPr>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eaLnBrk="1" hangingPunct="1">
              <a:spcBef>
                <a:spcPct val="0"/>
              </a:spcBef>
            </a:pPr>
            <a:r>
              <a:rPr lang="en-GB" altLang="en-US" sz="2000" b="1" dirty="0">
                <a:solidFill>
                  <a:schemeClr val="tx1"/>
                </a:solidFill>
                <a:latin typeface="Calibri" panose="020F0502020204030204" pitchFamily="34" charset="0"/>
                <a:cs typeface="Calibri" panose="020F0502020204030204" pitchFamily="34" charset="0"/>
              </a:rPr>
              <a:t>Therefore, evaporite deposits are good </a:t>
            </a:r>
            <a:r>
              <a:rPr lang="en-GB" altLang="en-US" sz="2000" b="1" dirty="0" err="1">
                <a:solidFill>
                  <a:schemeClr val="tx1"/>
                </a:solidFill>
                <a:latin typeface="Calibri" panose="020F0502020204030204" pitchFamily="34" charset="0"/>
                <a:cs typeface="Calibri" panose="020F0502020204030204" pitchFamily="34" charset="0"/>
              </a:rPr>
              <a:t>palaeoclimate</a:t>
            </a:r>
            <a:r>
              <a:rPr lang="en-GB" altLang="en-US" sz="2000" b="1" dirty="0">
                <a:solidFill>
                  <a:schemeClr val="tx1"/>
                </a:solidFill>
                <a:latin typeface="Calibri" panose="020F0502020204030204" pitchFamily="34" charset="0"/>
                <a:cs typeface="Calibri" panose="020F0502020204030204" pitchFamily="34" charset="0"/>
              </a:rPr>
              <a:t> and </a:t>
            </a:r>
            <a:r>
              <a:rPr lang="en-GB" altLang="en-US" sz="2000" b="1" dirty="0" err="1">
                <a:solidFill>
                  <a:schemeClr val="tx1"/>
                </a:solidFill>
                <a:latin typeface="Calibri" panose="020F0502020204030204" pitchFamily="34" charset="0"/>
                <a:cs typeface="Calibri" panose="020F0502020204030204" pitchFamily="34" charset="0"/>
              </a:rPr>
              <a:t>palaeogeographic</a:t>
            </a:r>
            <a:r>
              <a:rPr lang="en-GB" altLang="en-US" sz="2000" b="1" dirty="0">
                <a:solidFill>
                  <a:schemeClr val="tx1"/>
                </a:solidFill>
                <a:latin typeface="Calibri" panose="020F0502020204030204" pitchFamily="34" charset="0"/>
                <a:cs typeface="Calibri" panose="020F0502020204030204" pitchFamily="34" charset="0"/>
              </a:rPr>
              <a:t> indicators</a:t>
            </a:r>
          </a:p>
          <a:p>
            <a:pPr lvl="1" eaLnBrk="1" hangingPunct="1">
              <a:spcBef>
                <a:spcPct val="0"/>
              </a:spcBef>
              <a:buNone/>
            </a:pPr>
            <a:r>
              <a:rPr lang="en-GB" altLang="en-US" sz="2000" dirty="0">
                <a:solidFill>
                  <a:schemeClr val="tx1"/>
                </a:solidFill>
                <a:latin typeface="Calibri" panose="020F0502020204030204" pitchFamily="34" charset="0"/>
                <a:cs typeface="Calibri" panose="020F0502020204030204" pitchFamily="34" charset="0"/>
                <a:sym typeface="Wingdings" panose="05000000000000000000" pitchFamily="2" charset="2"/>
              </a:rPr>
              <a:t>If they are preserved in the sedimentary record, they tell you that conditions were arid, and that the body of water was closed off or had restricted connection to the open ocean.</a:t>
            </a:r>
          </a:p>
          <a:p>
            <a:pPr eaLnBrk="1" hangingPunct="1">
              <a:spcBef>
                <a:spcPct val="0"/>
              </a:spcBef>
            </a:pPr>
            <a:endParaRPr lang="en-GB" altLang="en-US" sz="2000" dirty="0">
              <a:solidFill>
                <a:schemeClr val="tx1"/>
              </a:solidFill>
              <a:latin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09B2462C-092D-4EB7-BF4B-09EB0463F2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9369" y="2475173"/>
            <a:ext cx="4252699" cy="283661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76BABEA-481E-46FA-84D0-98EEE53E2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603" y="2955711"/>
            <a:ext cx="3962289" cy="3104994"/>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5">
            <a:extLst>
              <a:ext uri="{FF2B5EF4-FFF2-40B4-BE49-F238E27FC236}">
                <a16:creationId xmlns:a16="http://schemas.microsoft.com/office/drawing/2014/main" id="{9E0F0395-B442-4537-B0C3-174B489CB47E}"/>
              </a:ext>
            </a:extLst>
          </p:cNvPr>
          <p:cNvSpPr txBox="1">
            <a:spLocks noChangeArrowheads="1"/>
          </p:cNvSpPr>
          <p:nvPr/>
        </p:nvSpPr>
        <p:spPr bwMode="auto">
          <a:xfrm>
            <a:off x="223603" y="6060705"/>
            <a:ext cx="3962289"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600" b="1" dirty="0">
                <a:solidFill>
                  <a:schemeClr val="tx1"/>
                </a:solidFill>
                <a:latin typeface="Calibri" panose="020F0502020204030204" pitchFamily="34" charset="0"/>
              </a:rPr>
              <a:t>Great Salt Lake, Utah, is currently precipitating salt.</a:t>
            </a:r>
          </a:p>
        </p:txBody>
      </p:sp>
      <p:sp>
        <p:nvSpPr>
          <p:cNvPr id="9" name="Text Box 5">
            <a:extLst>
              <a:ext uri="{FF2B5EF4-FFF2-40B4-BE49-F238E27FC236}">
                <a16:creationId xmlns:a16="http://schemas.microsoft.com/office/drawing/2014/main" id="{E627634C-AD9C-4D15-8E6F-5431CC77C6B9}"/>
              </a:ext>
            </a:extLst>
          </p:cNvPr>
          <p:cNvSpPr txBox="1">
            <a:spLocks noChangeArrowheads="1"/>
          </p:cNvSpPr>
          <p:nvPr/>
        </p:nvSpPr>
        <p:spPr bwMode="auto">
          <a:xfrm>
            <a:off x="4449369" y="5345074"/>
            <a:ext cx="4655066" cy="132343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ヒラギノ角ゴ Pro W3" pitchFamily="57" charset="-128"/>
              </a:defRPr>
            </a:lvl1pPr>
            <a:lvl2pPr marL="742950" indent="-285750">
              <a:spcBef>
                <a:spcPct val="20000"/>
              </a:spcBef>
              <a:buChar char="–"/>
              <a:defRPr sz="2800">
                <a:solidFill>
                  <a:schemeClr val="accent2"/>
                </a:solidFill>
                <a:latin typeface="Arial" panose="020B0604020202020204" pitchFamily="34" charset="0"/>
                <a:ea typeface="ヒラギノ角ゴ Pro W3" pitchFamily="57" charset="-128"/>
              </a:defRPr>
            </a:lvl2pPr>
            <a:lvl3pPr marL="1143000" indent="-228600">
              <a:spcBef>
                <a:spcPct val="20000"/>
              </a:spcBef>
              <a:buChar char="•"/>
              <a:defRPr sz="2400">
                <a:solidFill>
                  <a:schemeClr val="accent2"/>
                </a:solidFill>
                <a:latin typeface="Arial" panose="020B0604020202020204" pitchFamily="34" charset="0"/>
                <a:ea typeface="ヒラギノ角ゴ Pro W3" pitchFamily="57" charset="-128"/>
              </a:defRPr>
            </a:lvl3pPr>
            <a:lvl4pPr marL="1600200" indent="-228600">
              <a:spcBef>
                <a:spcPct val="20000"/>
              </a:spcBef>
              <a:buChar char="–"/>
              <a:defRPr sz="2000">
                <a:solidFill>
                  <a:schemeClr val="accent2"/>
                </a:solidFill>
                <a:latin typeface="Arial" panose="020B0604020202020204" pitchFamily="34" charset="0"/>
                <a:ea typeface="ヒラギノ角ゴ Pro W3" pitchFamily="57" charset="-128"/>
              </a:defRPr>
            </a:lvl4pPr>
            <a:lvl5pPr marL="2057400" indent="-228600">
              <a:spcBef>
                <a:spcPct val="20000"/>
              </a:spcBef>
              <a:buChar char="»"/>
              <a:defRPr sz="2000">
                <a:solidFill>
                  <a:schemeClr val="accent2"/>
                </a:solidFill>
                <a:latin typeface="Arial" panose="020B0604020202020204" pitchFamily="34" charset="0"/>
                <a:ea typeface="ヒラギノ角ゴ Pro W3" pitchFamily="57" charset="-128"/>
              </a:defRPr>
            </a:lvl5pPr>
            <a:lvl6pPr marL="25146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6pPr>
            <a:lvl7pPr marL="29718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7pPr>
            <a:lvl8pPr marL="34290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8pPr>
            <a:lvl9pPr marL="3886200" indent="-228600" eaLnBrk="0" fontAlgn="base" hangingPunct="0">
              <a:spcBef>
                <a:spcPct val="20000"/>
              </a:spcBef>
              <a:spcAft>
                <a:spcPct val="0"/>
              </a:spcAft>
              <a:buChar char="»"/>
              <a:defRPr sz="2000">
                <a:solidFill>
                  <a:schemeClr val="accent2"/>
                </a:solidFill>
                <a:latin typeface="Arial" panose="020B0604020202020204" pitchFamily="34" charset="0"/>
                <a:ea typeface="ヒラギノ角ゴ Pro W3" pitchFamily="57" charset="-128"/>
              </a:defRPr>
            </a:lvl9pPr>
          </a:lstStyle>
          <a:p>
            <a:pPr>
              <a:spcBef>
                <a:spcPct val="0"/>
              </a:spcBef>
              <a:buFontTx/>
              <a:buNone/>
            </a:pPr>
            <a:r>
              <a:rPr lang="en-US" altLang="en-US" sz="1600" b="1" dirty="0">
                <a:solidFill>
                  <a:schemeClr val="tx1"/>
                </a:solidFill>
                <a:latin typeface="Calibri" panose="020F0502020204030204" pitchFamily="34" charset="0"/>
              </a:rPr>
              <a:t>Evaporite deposits, Death Valley. These are mainly Gypsum, </a:t>
            </a:r>
            <a:r>
              <a:rPr lang="en-US" altLang="en-US" sz="1600" b="1" dirty="0" err="1">
                <a:solidFill>
                  <a:schemeClr val="tx1"/>
                </a:solidFill>
                <a:latin typeface="Calibri" panose="020F0502020204030204" pitchFamily="34" charset="0"/>
              </a:rPr>
              <a:t>intestratified</a:t>
            </a:r>
            <a:r>
              <a:rPr lang="en-US" altLang="en-US" sz="1600" b="1" dirty="0">
                <a:solidFill>
                  <a:schemeClr val="tx1"/>
                </a:solidFill>
                <a:latin typeface="Calibri" panose="020F0502020204030204" pitchFamily="34" charset="0"/>
              </a:rPr>
              <a:t> with clastic clay which also entered the lake/sea. Halite (salt) and anhydrite rarely ever outcrop because they are so soluble in rainwater.</a:t>
            </a:r>
          </a:p>
        </p:txBody>
      </p:sp>
      <p:sp>
        <p:nvSpPr>
          <p:cNvPr id="10" name="Rectangle 4">
            <a:extLst>
              <a:ext uri="{FF2B5EF4-FFF2-40B4-BE49-F238E27FC236}">
                <a16:creationId xmlns:a16="http://schemas.microsoft.com/office/drawing/2014/main" id="{E0D6BB0A-6B0E-47C3-9A6A-118421534E1B}"/>
              </a:ext>
            </a:extLst>
          </p:cNvPr>
          <p:cNvSpPr txBox="1">
            <a:spLocks noChangeArrowheads="1"/>
          </p:cNvSpPr>
          <p:nvPr/>
        </p:nvSpPr>
        <p:spPr>
          <a:xfrm>
            <a:off x="0" y="0"/>
            <a:ext cx="9144000"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rgbClr val="FFFF00"/>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Evaporites</a:t>
            </a:r>
          </a:p>
        </p:txBody>
      </p:sp>
    </p:spTree>
    <p:extLst>
      <p:ext uri="{BB962C8B-B14F-4D97-AF65-F5344CB8AC3E}">
        <p14:creationId xmlns:p14="http://schemas.microsoft.com/office/powerpoint/2010/main" val="2716386002"/>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ヒラギノ角ゴ Pro W3"/>
        <a:cs typeface=""/>
      </a:majorFont>
      <a:minorFont>
        <a:latin typeface="Arial"/>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400" b="0" i="0" u="none" strike="noStrike" cap="none" normalizeH="0" baseline="0" smtClean="0">
            <a:ln>
              <a:noFill/>
            </a:ln>
            <a:solidFill>
              <a:schemeClr val="tx1"/>
            </a:solidFill>
            <a:effectLst/>
            <a:latin typeface="Arial" charset="0"/>
            <a:ea typeface="ヒラギノ角ゴ Pro W3" pitchFamily="57"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400" b="0" i="0" u="none" strike="noStrike" cap="none" normalizeH="0" baseline="0" smtClean="0">
            <a:ln>
              <a:noFill/>
            </a:ln>
            <a:solidFill>
              <a:schemeClr val="tx1"/>
            </a:solidFill>
            <a:effectLst/>
            <a:latin typeface="Arial" charset="0"/>
            <a:ea typeface="ヒラギノ角ゴ Pro W3" pitchFamily="57"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7600</TotalTime>
  <Words>2029</Words>
  <Application>Microsoft Office PowerPoint</Application>
  <PresentationFormat>On-screen Show (4:3)</PresentationFormat>
  <Paragraphs>242</Paragraphs>
  <Slides>31</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Book Antiqua</vt:lpstr>
      <vt:lpstr>Bookman Old Style</vt:lpstr>
      <vt:lpstr>Calibri</vt:lpstr>
      <vt:lpstr>Wingdings</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Alan Hill</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petrophysics and reservoir characterisation</dc:title>
  <dc:creator>Alan Hill</dc:creator>
  <cp:lastModifiedBy>Rhodri Jerrett</cp:lastModifiedBy>
  <cp:revision>423</cp:revision>
  <dcterms:created xsi:type="dcterms:W3CDTF">2007-10-09T10:59:29Z</dcterms:created>
  <dcterms:modified xsi:type="dcterms:W3CDTF">2021-04-18T13:46:54Z</dcterms:modified>
</cp:coreProperties>
</file>