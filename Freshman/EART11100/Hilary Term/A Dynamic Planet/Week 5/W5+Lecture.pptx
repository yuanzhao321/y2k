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382" r:id="rId2"/>
    <p:sldId id="385" r:id="rId3"/>
    <p:sldId id="514" r:id="rId4"/>
    <p:sldId id="358" r:id="rId5"/>
    <p:sldId id="545" r:id="rId6"/>
    <p:sldId id="546" r:id="rId7"/>
    <p:sldId id="303" r:id="rId8"/>
    <p:sldId id="345" r:id="rId9"/>
    <p:sldId id="553" r:id="rId10"/>
    <p:sldId id="346" r:id="rId11"/>
    <p:sldId id="551" r:id="rId12"/>
    <p:sldId id="554" r:id="rId13"/>
    <p:sldId id="347" r:id="rId14"/>
    <p:sldId id="348" r:id="rId15"/>
    <p:sldId id="552" r:id="rId16"/>
    <p:sldId id="555" r:id="rId17"/>
    <p:sldId id="351" r:id="rId18"/>
    <p:sldId id="352" r:id="rId19"/>
    <p:sldId id="356" r:id="rId20"/>
    <p:sldId id="556" r:id="rId21"/>
    <p:sldId id="386" r:id="rId22"/>
    <p:sldId id="257" r:id="rId23"/>
    <p:sldId id="314" r:id="rId24"/>
    <p:sldId id="317" r:id="rId25"/>
    <p:sldId id="318" r:id="rId26"/>
    <p:sldId id="315" r:id="rId27"/>
    <p:sldId id="262" r:id="rId28"/>
    <p:sldId id="264" r:id="rId29"/>
    <p:sldId id="265" r:id="rId30"/>
    <p:sldId id="319" r:id="rId31"/>
    <p:sldId id="266" r:id="rId32"/>
    <p:sldId id="270" r:id="rId33"/>
    <p:sldId id="321" r:id="rId34"/>
    <p:sldId id="320" r:id="rId35"/>
    <p:sldId id="557" r:id="rId36"/>
    <p:sldId id="558" r:id="rId37"/>
    <p:sldId id="342" r:id="rId38"/>
    <p:sldId id="272" r:id="rId39"/>
    <p:sldId id="344" r:id="rId40"/>
    <p:sldId id="267" r:id="rId41"/>
    <p:sldId id="271" r:id="rId42"/>
    <p:sldId id="305" r:id="rId43"/>
    <p:sldId id="306" r:id="rId44"/>
    <p:sldId id="559" r:id="rId45"/>
    <p:sldId id="560" r:id="rId46"/>
    <p:sldId id="561" r:id="rId47"/>
    <p:sldId id="308" r:id="rId48"/>
    <p:sldId id="387" r:id="rId49"/>
    <p:sldId id="562" r:id="rId50"/>
    <p:sldId id="309" r:id="rId51"/>
    <p:sldId id="388" r:id="rId52"/>
    <p:sldId id="312" r:id="rId53"/>
    <p:sldId id="310" r:id="rId54"/>
    <p:sldId id="313" r:id="rId55"/>
    <p:sldId id="563" r:id="rId56"/>
  </p:sldIdLst>
  <p:sldSz cx="9144000" cy="6858000" type="screen4x3"/>
  <p:notesSz cx="6797675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>
          <p15:clr>
            <a:srgbClr val="A4A3A4"/>
          </p15:clr>
        </p15:guide>
        <p15:guide id="2" pos="451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66"/>
    <a:srgbClr val="FF9933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howGuides="1">
      <p:cViewPr varScale="1">
        <p:scale>
          <a:sx n="109" d="100"/>
          <a:sy n="109" d="100"/>
        </p:scale>
        <p:origin x="1674" y="102"/>
      </p:cViewPr>
      <p:guideLst>
        <p:guide orient="horz" pos="346"/>
        <p:guide pos="45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47956-B2B7-4F61-89C8-CAD0C80FF734}" type="datetimeFigureOut">
              <a:rPr lang="en-GB" smtClean="0"/>
              <a:pPr/>
              <a:t>08/03/2022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2A6F2-4AE1-4385-ABD6-10FCC3249DA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2171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477AEF-140D-4FA3-922C-23971698F6C7}" type="datetimeFigureOut">
              <a:rPr lang="en-GB" smtClean="0"/>
              <a:t>08/03/2022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1235075"/>
            <a:ext cx="4441825" cy="3332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51388"/>
            <a:ext cx="5438775" cy="38893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8B6D5C-ED8B-455E-A0AE-9877C1E929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197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Strike slip basins</a:t>
            </a:r>
          </a:p>
        </p:txBody>
      </p:sp>
      <p:sp>
        <p:nvSpPr>
          <p:cNvPr id="501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B7A6E4C-1F88-4984-BD54-CBB64BE8252F}" type="slidenum">
              <a:rPr lang="en-US" altLang="en-US" smtClean="0"/>
              <a:pPr eaLnBrk="1" hangingPunct="1"/>
              <a:t>54</a:t>
            </a:fld>
            <a:endParaRPr lang="en-US" altLang="en-US"/>
          </a:p>
        </p:txBody>
      </p:sp>
      <p:sp>
        <p:nvSpPr>
          <p:cNvPr id="50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194" y="4861562"/>
            <a:ext cx="5206914" cy="460581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Strike slip basins</a:t>
            </a:r>
          </a:p>
        </p:txBody>
      </p:sp>
      <p:sp>
        <p:nvSpPr>
          <p:cNvPr id="522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7BDC1B0-9EC1-49E7-8C4B-0EB9E1C872CE}" type="slidenum">
              <a:rPr lang="en-US" altLang="en-US" smtClean="0"/>
              <a:pPr eaLnBrk="1" hangingPunct="1"/>
              <a:t>55</a:t>
            </a:fld>
            <a:endParaRPr lang="en-US" altLang="en-US"/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194" y="4861562"/>
            <a:ext cx="5206914" cy="460581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08/03/2022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64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08/03/2022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74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08/03/2022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107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08/03/2022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587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08/03/2022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8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08/03/2022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8891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08/03/2022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099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476672"/>
          </a:xfrm>
          <a:prstGeom prst="rect">
            <a:avLst/>
          </a:prstGeom>
          <a:solidFill>
            <a:srgbClr val="6699FF"/>
          </a:solidFill>
          <a:ln>
            <a:solidFill>
              <a:srgbClr val="66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504056"/>
          </a:xfrm>
        </p:spPr>
        <p:txBody>
          <a:bodyPr>
            <a:noAutofit/>
          </a:bodyPr>
          <a:lstStyle>
            <a:lvl1pPr>
              <a:defRPr sz="2800" b="1" u="sng" spc="3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669360"/>
            <a:ext cx="9144000" cy="0"/>
          </a:xfrm>
          <a:prstGeom prst="line">
            <a:avLst/>
          </a:prstGeom>
          <a:ln w="19050">
            <a:solidFill>
              <a:srgbClr val="66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-33070" y="6642815"/>
            <a:ext cx="39946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cap="all" dirty="0">
                <a:solidFill>
                  <a:srgbClr val="6699FF"/>
                </a:solidFill>
              </a:rPr>
              <a:t>Introduction  To Petroleum Geology – B.</a:t>
            </a:r>
            <a:r>
              <a:rPr lang="en-GB" sz="1200" cap="all" baseline="0" dirty="0">
                <a:solidFill>
                  <a:srgbClr val="6699FF"/>
                </a:solidFill>
              </a:rPr>
              <a:t> Legler 2013</a:t>
            </a:r>
            <a:endParaRPr lang="en-GB" sz="1200" cap="all" dirty="0">
              <a:solidFill>
                <a:srgbClr val="669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13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08/03/2022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991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08/03/2022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905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08/03/2022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242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08/03/2022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213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b="8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84413-C829-4961-8E50-198007333F2B}" type="datetimeFigureOut">
              <a:rPr lang="en-GB" smtClean="0"/>
              <a:pPr/>
              <a:t>08/03/2022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08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jpeg"/><Relationship Id="rId4" Type="http://schemas.openxmlformats.org/officeDocument/2006/relationships/image" Target="../media/image28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0D5125-9564-49E8-8284-64D44971FD58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3636"/>
            <a:ext cx="9144000" cy="68616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D93D8BE-F171-4E6B-8F31-8B49834A91B0}"/>
              </a:ext>
            </a:extLst>
          </p:cNvPr>
          <p:cNvSpPr txBox="1">
            <a:spLocks noChangeArrowheads="1"/>
          </p:cNvSpPr>
          <p:nvPr/>
        </p:nvSpPr>
        <p:spPr>
          <a:xfrm>
            <a:off x="143508" y="2239049"/>
            <a:ext cx="8856984" cy="2376264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EART11100: </a:t>
            </a: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Understanding t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he Earth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A dynamic Planet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An introduction to structural geology</a:t>
            </a:r>
            <a:endParaRPr kumimoji="0" lang="en-GB" sz="4800" b="1" i="0" u="none" strike="noStrike" kern="1200" cap="none" spc="0" normalizeH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E044A0-2020-4631-B8F6-B6FB53B02F62}"/>
              </a:ext>
            </a:extLst>
          </p:cNvPr>
          <p:cNvSpPr txBox="1">
            <a:spLocks/>
          </p:cNvSpPr>
          <p:nvPr/>
        </p:nvSpPr>
        <p:spPr>
          <a:xfrm>
            <a:off x="6174680" y="6165304"/>
            <a:ext cx="2952328" cy="296780"/>
          </a:xfrm>
          <a:prstGeom prst="rect">
            <a:avLst/>
          </a:prstGeom>
          <a:noFill/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500" b="1" dirty="0">
                <a:latin typeface="Arial" pitchFamily="34" charset="0"/>
                <a:cs typeface="Arial" pitchFamily="34" charset="0"/>
              </a:rPr>
              <a:t>Pyrenees </a:t>
            </a:r>
          </a:p>
          <a:p>
            <a:pPr algn="r"/>
            <a:r>
              <a:rPr lang="en-GB" sz="1500" b="1" dirty="0">
                <a:latin typeface="Arial" pitchFamily="34" charset="0"/>
                <a:cs typeface="Arial" pitchFamily="34" charset="0"/>
              </a:rPr>
              <a:t>of France and Spain</a:t>
            </a:r>
            <a:endParaRPr lang="en-GB" sz="1800" dirty="0">
              <a:latin typeface="Arial" pitchFamily="34" charset="0"/>
              <a:cs typeface="Arial" pitchFamily="34" charset="0"/>
            </a:endParaRPr>
          </a:p>
          <a:p>
            <a:pPr algn="r"/>
            <a:endParaRPr lang="en-GB" sz="15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99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9672" y="1178750"/>
            <a:ext cx="5832648" cy="3586094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79511" y="5229200"/>
            <a:ext cx="8964489" cy="1440160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itchFamily="34" charset="0"/>
              </a:rPr>
              <a:t>… you should be able to…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Describe the main rock structural features made in contractional, extensional and conservative tectonic regimes. 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7664" y="2636912"/>
            <a:ext cx="2808312" cy="64807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15699D5-9C24-44CF-BEED-22B237E1D07C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+mj-lt"/>
                <a:ea typeface="Adobe Fangsong Std R" pitchFamily="18" charset="-128"/>
                <a:cs typeface="+mj-cs"/>
              </a:rPr>
              <a:t>Intended learning outcomes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8707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F5887C2D-8AF8-42C2-A80D-CC0D42D92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052736"/>
            <a:ext cx="9144000" cy="5805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E7E9B847-416C-44AA-9C1B-F1BEF7B07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08" y="1052736"/>
            <a:ext cx="885698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Structural geology is the study of the deformation in the lithosphere generated by stresses.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It’s a whole subject of its own, and deals with some of the most spectacular rocks!</a:t>
            </a:r>
            <a:endParaRPr lang="en-US" altLang="en-US" sz="2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382666-25C0-4F63-954A-A8BFC9123C5F}"/>
              </a:ext>
            </a:extLst>
          </p:cNvPr>
          <p:cNvSpPr txBox="1">
            <a:spLocks/>
          </p:cNvSpPr>
          <p:nvPr/>
        </p:nvSpPr>
        <p:spPr>
          <a:xfrm>
            <a:off x="5774851" y="6497960"/>
            <a:ext cx="3258864" cy="360040"/>
          </a:xfrm>
          <a:prstGeom prst="rect">
            <a:avLst/>
          </a:prstGeom>
          <a:noFill/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5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Mount Head, Canadian Rockies</a:t>
            </a:r>
            <a:endParaRPr lang="en-GB" sz="18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algn="r"/>
            <a:endParaRPr lang="en-GB" sz="15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3090CF2-1A83-42DC-9FFC-3F9CBAF32216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+mj-lt"/>
                <a:ea typeface="Adobe Fangsong Std R" pitchFamily="18" charset="-128"/>
                <a:cs typeface="+mj-cs"/>
              </a:rPr>
              <a:t>What is structural geology?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9281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igure 20-12.jpg                                               0000D7E6Macintosh HD                   ABA78158:">
            <a:extLst>
              <a:ext uri="{FF2B5EF4-FFF2-40B4-BE49-F238E27FC236}">
                <a16:creationId xmlns:a16="http://schemas.microsoft.com/office/drawing/2014/main" id="{34BE600C-A42D-4E46-9E4E-C9EBBF84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87624" y="2996952"/>
            <a:ext cx="6472026" cy="3626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F3583C6A-14CE-4B00-95E8-68726BA0B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64096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If we look again at Earth’s current tectonic framework</a:t>
            </a:r>
            <a:r>
              <a:rPr lang="en-US" altLang="en-US" sz="2000" b="1" dirty="0">
                <a:sym typeface="Wingdings" panose="05000000000000000000" pitchFamily="2" charset="2"/>
              </a:rPr>
              <a:t>…</a:t>
            </a:r>
          </a:p>
          <a:p>
            <a:pPr lvl="1"/>
            <a:r>
              <a:rPr lang="en-US" altLang="en-US" sz="2000" dirty="0">
                <a:sym typeface="Wingdings" panose="05000000000000000000" pitchFamily="2" charset="2"/>
              </a:rPr>
              <a:t> We can see that some parts of the Earths crust are being stretched (orange), compressed (blue), and are moving past one another (green).</a:t>
            </a:r>
          </a:p>
          <a:p>
            <a:pPr lvl="1"/>
            <a:r>
              <a:rPr lang="en-US" altLang="en-US" sz="2000" dirty="0">
                <a:sym typeface="Wingdings" panose="05000000000000000000" pitchFamily="2" charset="2"/>
              </a:rPr>
              <a:t> These horizontal movements impart stresses of the rocks at the surface, as well as at depth.</a:t>
            </a:r>
            <a:endParaRPr lang="en-US" altLang="en-US" sz="20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6B0F62-589E-4CBE-B1A0-F6235C7D0AD8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+mj-lt"/>
                <a:ea typeface="Adobe Fangsong Std R" pitchFamily="18" charset="-128"/>
                <a:cs typeface="+mj-cs"/>
              </a:rPr>
              <a:t>Why are rocks stressed?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33170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40996" y="1212950"/>
            <a:ext cx="4608512" cy="412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GB" sz="2000" b="1" u="sng" dirty="0"/>
              <a:t>1. Load pressure</a:t>
            </a:r>
            <a:r>
              <a:rPr lang="en-GB" sz="2000" b="1" dirty="0"/>
              <a:t>: (= </a:t>
            </a:r>
            <a:r>
              <a:rPr lang="en-GB" altLang="ja-JP" sz="2000" b="1" dirty="0"/>
              <a:t>‘</a:t>
            </a:r>
            <a:r>
              <a:rPr lang="en-GB" altLang="ja-JP" sz="2000" b="1" dirty="0" err="1"/>
              <a:t>lithostatic</a:t>
            </a:r>
            <a:r>
              <a:rPr lang="en-GB" altLang="ja-JP" sz="2000" b="1" dirty="0"/>
              <a:t> stress or confining stress):</a:t>
            </a:r>
          </a:p>
          <a:p>
            <a:pPr marL="457200" indent="-457200" eaLnBrk="1" hangingPunct="1">
              <a:lnSpc>
                <a:spcPct val="120000"/>
              </a:lnSpc>
              <a:buFont typeface="Arial"/>
              <a:buChar char="•"/>
            </a:pPr>
            <a:endParaRPr lang="en-GB" sz="2000" dirty="0"/>
          </a:p>
          <a:p>
            <a:pPr marL="457200" indent="-457200" eaLnBrk="1" hangingPunct="1">
              <a:lnSpc>
                <a:spcPct val="120000"/>
              </a:lnSpc>
              <a:buFont typeface="Arial"/>
              <a:buChar char="•"/>
            </a:pPr>
            <a:r>
              <a:rPr lang="en-GB" sz="2000" dirty="0"/>
              <a:t>Results from the weight of overlying rock.</a:t>
            </a:r>
          </a:p>
          <a:p>
            <a:pPr marL="457200" indent="-457200" eaLnBrk="1" hangingPunct="1">
              <a:lnSpc>
                <a:spcPct val="120000"/>
              </a:lnSpc>
              <a:buFont typeface="Arial"/>
              <a:buChar char="•"/>
            </a:pPr>
            <a:endParaRPr lang="en-GB" sz="2000" dirty="0"/>
          </a:p>
          <a:p>
            <a:pPr marL="457200" indent="-457200" eaLnBrk="1" hangingPunct="1">
              <a:lnSpc>
                <a:spcPct val="120000"/>
              </a:lnSpc>
              <a:buFont typeface="Arial"/>
              <a:buChar char="•"/>
            </a:pPr>
            <a:r>
              <a:rPr lang="en-GB" sz="2000" dirty="0"/>
              <a:t>Stress acts </a:t>
            </a:r>
            <a:r>
              <a:rPr lang="en-GB" sz="2000" u="sng" dirty="0"/>
              <a:t>uniformly in every direction</a:t>
            </a:r>
            <a:endParaRPr lang="en-GB" sz="2000" dirty="0"/>
          </a:p>
          <a:p>
            <a:pPr marL="457200" indent="-457200" eaLnBrk="1" hangingPunct="1">
              <a:lnSpc>
                <a:spcPct val="120000"/>
              </a:lnSpc>
              <a:buFont typeface="Arial"/>
              <a:buChar char="•"/>
            </a:pPr>
            <a:endParaRPr lang="en-GB" sz="2000" dirty="0"/>
          </a:p>
          <a:p>
            <a:pPr marL="457200" indent="-457200" eaLnBrk="1" hangingPunct="1">
              <a:lnSpc>
                <a:spcPct val="120000"/>
              </a:lnSpc>
              <a:buFont typeface="Arial"/>
              <a:buChar char="•"/>
            </a:pPr>
            <a:r>
              <a:rPr lang="en-GB" sz="2000" dirty="0"/>
              <a:t>(Analogous to the hydrostatic pressure beneath a head of water)</a:t>
            </a:r>
          </a:p>
        </p:txBody>
      </p:sp>
      <p:pic>
        <p:nvPicPr>
          <p:cNvPr id="6146" name="Picture 2" descr="Image result for deep sea di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76056" y="1379213"/>
            <a:ext cx="3772768" cy="532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4">
            <a:extLst>
              <a:ext uri="{FF2B5EF4-FFF2-40B4-BE49-F238E27FC236}">
                <a16:creationId xmlns:a16="http://schemas.microsoft.com/office/drawing/2014/main" id="{64A6C054-EC8C-4D7F-92E5-CAEE4A41F7CD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+mj-lt"/>
                <a:ea typeface="Adobe Fangsong Std R" pitchFamily="18" charset="-128"/>
                <a:cs typeface="+mj-cs"/>
              </a:rPr>
              <a:t>Why are rocks stressed?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84886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ext Box 3"/>
          <p:cNvSpPr txBox="1">
            <a:spLocks noChangeArrowheads="1"/>
          </p:cNvSpPr>
          <p:nvPr/>
        </p:nvSpPr>
        <p:spPr bwMode="auto">
          <a:xfrm>
            <a:off x="323528" y="1196752"/>
            <a:ext cx="871296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2000" b="1" dirty="0"/>
              <a:t>2. </a:t>
            </a:r>
            <a:r>
              <a:rPr lang="en-GB" sz="2000" b="1" u="sng" dirty="0" err="1"/>
              <a:t>Deviatoric</a:t>
            </a:r>
            <a:r>
              <a:rPr lang="en-GB" sz="2000" b="1" u="sng" dirty="0"/>
              <a:t> </a:t>
            </a:r>
            <a:r>
              <a:rPr lang="en-GB" sz="2000" b="1" dirty="0"/>
              <a:t>(differential, or </a:t>
            </a:r>
            <a:r>
              <a:rPr lang="en-GB" sz="2000" b="1" dirty="0" err="1"/>
              <a:t>triaxial</a:t>
            </a:r>
            <a:r>
              <a:rPr lang="en-GB" sz="2000" b="1" dirty="0"/>
              <a:t>) </a:t>
            </a:r>
            <a:r>
              <a:rPr lang="en-GB" sz="2000" b="1" u="sng" dirty="0"/>
              <a:t>stress</a:t>
            </a:r>
            <a:endParaRPr lang="en-GB" sz="2000" u="sng" dirty="0"/>
          </a:p>
          <a:p>
            <a:pPr eaLnBrk="1" hangingPunct="1"/>
            <a:r>
              <a:rPr lang="en-GB" sz="2000" dirty="0"/>
              <a:t>	</a:t>
            </a:r>
          </a:p>
          <a:p>
            <a:pPr marL="342900" indent="-342900" eaLnBrk="1" hangingPunct="1">
              <a:buFont typeface="Arial"/>
              <a:buChar char="•"/>
            </a:pPr>
            <a:r>
              <a:rPr lang="en-GB" sz="2000" dirty="0"/>
              <a:t>In some settings, stresses do not act uniformly on the rock (not simple </a:t>
            </a:r>
            <a:r>
              <a:rPr lang="en-GB" sz="2000" dirty="0" err="1"/>
              <a:t>lithostatic</a:t>
            </a:r>
            <a:r>
              <a:rPr lang="en-GB" sz="2000" dirty="0"/>
              <a:t> stress). </a:t>
            </a:r>
          </a:p>
          <a:p>
            <a:pPr marL="342900" indent="-342900" eaLnBrk="1" hangingPunct="1">
              <a:buFont typeface="Arial"/>
              <a:buChar char="•"/>
            </a:pPr>
            <a:endParaRPr lang="en-GB" sz="2000" dirty="0"/>
          </a:p>
          <a:p>
            <a:pPr marL="342900" indent="-342900" eaLnBrk="1" hangingPunct="1">
              <a:buFont typeface="Arial"/>
              <a:buChar char="•"/>
            </a:pPr>
            <a:r>
              <a:rPr lang="en-GB" sz="2000" dirty="0"/>
              <a:t>What could be the cause of non </a:t>
            </a:r>
            <a:r>
              <a:rPr lang="en-GB" sz="2000" dirty="0" err="1"/>
              <a:t>lithostatic</a:t>
            </a:r>
            <a:r>
              <a:rPr lang="en-GB" sz="2000" dirty="0"/>
              <a:t> stress?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323528" y="2708920"/>
            <a:ext cx="8712968" cy="3773898"/>
            <a:chOff x="323528" y="2708920"/>
            <a:chExt cx="8712968" cy="3773898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323528" y="2708920"/>
              <a:ext cx="5143437" cy="16312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342900" indent="-342900" eaLnBrk="1" hangingPunct="1">
                <a:buFont typeface="Arial"/>
                <a:buChar char="•"/>
              </a:pPr>
              <a:r>
                <a:rPr lang="en-GB" sz="2000" dirty="0"/>
                <a:t>Caused by lateral transmission of horizontal tectonic forces through the solid Earth’</a:t>
              </a:r>
              <a:r>
                <a:rPr lang="en-GB" altLang="ja-JP" sz="2000" dirty="0"/>
                <a:t>s crust (contraction or extension).  </a:t>
              </a:r>
            </a:p>
            <a:p>
              <a:pPr marL="342900" indent="-342900" eaLnBrk="1" hangingPunct="1">
                <a:buFont typeface="Arial"/>
                <a:buChar char="•"/>
              </a:pPr>
              <a:endParaRPr lang="en-GB" altLang="ja-JP" sz="2000" dirty="0"/>
            </a:p>
          </p:txBody>
        </p:sp>
        <p:pic>
          <p:nvPicPr>
            <p:cNvPr id="7" name="Picture 2" descr="http://www.nptel.ac.in/courses/Webcourse-contents/IIT-ROORKEE/strength%20of%20materials/lects%20&amp;%20picts/image/lect1/fig%205.jpg"/>
            <p:cNvPicPr>
              <a:picLocks noChangeAspect="1" noChangeArrowheads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466965" y="2813005"/>
              <a:ext cx="3569531" cy="36698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Straight Arrow Connector 7"/>
            <p:cNvCxnSpPr/>
            <p:nvPr/>
          </p:nvCxnSpPr>
          <p:spPr>
            <a:xfrm>
              <a:off x="7157333" y="2995403"/>
              <a:ext cx="0" cy="98749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6907125" y="5474447"/>
              <a:ext cx="0" cy="59668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V="1">
              <a:off x="5610981" y="4888229"/>
              <a:ext cx="1224136" cy="73861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8244409" y="3622857"/>
              <a:ext cx="678940" cy="45936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 flipV="1">
              <a:off x="7884368" y="4509120"/>
              <a:ext cx="1020876" cy="1290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V="1">
              <a:off x="5466965" y="4722131"/>
              <a:ext cx="778027" cy="29866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66989" y="4236049"/>
              <a:ext cx="5369731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2000" b="1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In the real 3D world (which always includes gravity), there will always be three principal, perpendicular stresses acting on an object</a:t>
              </a:r>
            </a:p>
            <a:p>
              <a:pPr lvl="1"/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az-Cyrl-AZ" sz="2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б</a:t>
              </a:r>
              <a:r>
                <a:rPr lang="en-GB" sz="2000" baseline="-25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1</a:t>
              </a:r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the maximum principal stress</a:t>
              </a:r>
            </a:p>
            <a:p>
              <a:pPr marL="800100" lvl="1" indent="-342900">
                <a:buFont typeface="Wingdings"/>
                <a:buChar char="à"/>
              </a:pPr>
              <a:r>
                <a:rPr lang="az-Cyrl-AZ" sz="2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б</a:t>
              </a:r>
              <a:r>
                <a:rPr lang="en-GB" sz="2000" baseline="-25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2</a:t>
              </a:r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the intermediate principal stress</a:t>
              </a:r>
            </a:p>
            <a:p>
              <a:pPr marL="800100" lvl="1" indent="-342900">
                <a:buFont typeface="Wingdings"/>
                <a:buChar char="à"/>
              </a:pPr>
              <a:r>
                <a:rPr lang="az-Cyrl-AZ" sz="2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б</a:t>
              </a:r>
              <a:r>
                <a:rPr lang="en-GB" sz="2000" baseline="-25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3</a:t>
              </a:r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the minimum principal stress</a:t>
              </a:r>
            </a:p>
          </p:txBody>
        </p:sp>
      </p:grpSp>
      <p:sp>
        <p:nvSpPr>
          <p:cNvPr id="14" name="Rectangle 4">
            <a:extLst>
              <a:ext uri="{FF2B5EF4-FFF2-40B4-BE49-F238E27FC236}">
                <a16:creationId xmlns:a16="http://schemas.microsoft.com/office/drawing/2014/main" id="{FABDC138-E5A2-4F41-A9DD-E267BB3082B1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+mj-lt"/>
                <a:ea typeface="Adobe Fangsong Std R" pitchFamily="18" charset="-128"/>
                <a:cs typeface="+mj-cs"/>
              </a:rPr>
              <a:t>Why are rocks stressed?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216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7504" y="1196752"/>
            <a:ext cx="4608608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Fault are fracture surfaces, along which displacement has taken place.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Faults fall into three main categories….</a:t>
            </a:r>
          </a:p>
          <a:p>
            <a:pPr lvl="1"/>
            <a:r>
              <a:rPr lang="en-GB" sz="2400" dirty="0">
                <a:sym typeface="Wingdings" panose="05000000000000000000" pitchFamily="2" charset="2"/>
              </a:rPr>
              <a:t>Normal</a:t>
            </a:r>
          </a:p>
          <a:p>
            <a:pPr lvl="1"/>
            <a:r>
              <a:rPr lang="en-GB" sz="2400" dirty="0">
                <a:sym typeface="Wingdings" panose="05000000000000000000" pitchFamily="2" charset="2"/>
              </a:rPr>
              <a:t>Reverse, or “thrust”</a:t>
            </a:r>
          </a:p>
          <a:p>
            <a:pPr lvl="1"/>
            <a:r>
              <a:rPr lang="en-GB" sz="2400" dirty="0">
                <a:sym typeface="Wingdings" panose="05000000000000000000" pitchFamily="2" charset="2"/>
              </a:rPr>
              <a:t>Strike-slip…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According to the orientation of principal stresses in the </a:t>
            </a:r>
            <a:r>
              <a:rPr lang="en-GB" sz="2400" b="1" dirty="0" err="1"/>
              <a:t>triaxial</a:t>
            </a:r>
            <a:r>
              <a:rPr lang="en-GB" sz="2400" b="1" dirty="0"/>
              <a:t> state.</a:t>
            </a:r>
          </a:p>
          <a:p>
            <a:pPr lvl="1"/>
            <a:endParaRPr lang="en-GB" sz="2400" b="1" baseline="30000" dirty="0">
              <a:sym typeface="Wingdings" panose="05000000000000000000" pitchFamily="2" charset="2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1789695-2AE7-4FCA-9C83-7D78DA364615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+mj-lt"/>
                <a:ea typeface="Adobe Fangsong Std R" pitchFamily="18" charset="-128"/>
                <a:cs typeface="+mj-cs"/>
              </a:rPr>
              <a:t>Faults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Adobe Fangsong Std R" pitchFamily="18" charset="-128"/>
              <a:cs typeface="+mj-cs"/>
            </a:endParaRPr>
          </a:p>
        </p:txBody>
      </p:sp>
      <p:pic>
        <p:nvPicPr>
          <p:cNvPr id="5" name="Picture 2" descr="Fault classification, fault growth and displacement - ScienceDirect">
            <a:extLst>
              <a:ext uri="{FF2B5EF4-FFF2-40B4-BE49-F238E27FC236}">
                <a16:creationId xmlns:a16="http://schemas.microsoft.com/office/drawing/2014/main" id="{C4D2FCBC-07A0-4B8B-A7E3-D6828F1E8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35996" y="2177321"/>
            <a:ext cx="4546502" cy="415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F9F70E-5755-4D11-92E9-A435621C9F72}"/>
              </a:ext>
            </a:extLst>
          </p:cNvPr>
          <p:cNvSpPr txBox="1"/>
          <p:nvPr/>
        </p:nvSpPr>
        <p:spPr>
          <a:xfrm>
            <a:off x="5364088" y="1346324"/>
            <a:ext cx="3305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Anderson’s classification of tectonic stress</a:t>
            </a:r>
            <a:endParaRPr lang="en-GB" sz="2400" baseline="300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64045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73249" y="1113274"/>
            <a:ext cx="8280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ym typeface="Wingdings" panose="05000000000000000000" pitchFamily="2" charset="2"/>
              </a:rPr>
              <a:t>Dip-slip faults are those where movement has occurred along a dipping surface, and the two blocks have moved with a vertical component relative to the surface of the earth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524" y="3140968"/>
            <a:ext cx="42484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u="sng" dirty="0">
                <a:sym typeface="Wingdings" panose="05000000000000000000" pitchFamily="2" charset="2"/>
              </a:rPr>
              <a:t>Normal Fault</a:t>
            </a:r>
          </a:p>
          <a:p>
            <a:endParaRPr lang="en-GB" sz="2000" dirty="0">
              <a:sym typeface="Wingdings" panose="05000000000000000000" pitchFamily="2" charset="2"/>
            </a:endParaRPr>
          </a:p>
          <a:p>
            <a:r>
              <a:rPr lang="en-GB" sz="2000" dirty="0">
                <a:sym typeface="Wingdings" panose="05000000000000000000" pitchFamily="2" charset="2"/>
              </a:rPr>
              <a:t></a:t>
            </a:r>
            <a:r>
              <a:rPr lang="en-GB" sz="2000" b="1" dirty="0" err="1">
                <a:sym typeface="Wingdings" panose="05000000000000000000" pitchFamily="2" charset="2"/>
              </a:rPr>
              <a:t>Hangingwall</a:t>
            </a:r>
            <a:r>
              <a:rPr lang="en-GB" sz="2000" b="1" dirty="0">
                <a:sym typeface="Wingdings" panose="05000000000000000000" pitchFamily="2" charset="2"/>
              </a:rPr>
              <a:t> is </a:t>
            </a:r>
            <a:r>
              <a:rPr lang="en-GB" sz="2000" b="1" dirty="0" err="1">
                <a:sym typeface="Wingdings" panose="05000000000000000000" pitchFamily="2" charset="2"/>
              </a:rPr>
              <a:t>dowthrown</a:t>
            </a:r>
            <a:endParaRPr lang="en-GB" sz="2000" b="1" dirty="0">
              <a:sym typeface="Wingdings" panose="05000000000000000000" pitchFamily="2" charset="2"/>
            </a:endParaRPr>
          </a:p>
          <a:p>
            <a:r>
              <a:rPr lang="en-GB" sz="2000" dirty="0">
                <a:sym typeface="Wingdings" panose="05000000000000000000" pitchFamily="2" charset="2"/>
              </a:rPr>
              <a:t></a:t>
            </a:r>
            <a:r>
              <a:rPr lang="en-GB" sz="2000" b="1" dirty="0">
                <a:sym typeface="Wingdings" panose="05000000000000000000" pitchFamily="2" charset="2"/>
              </a:rPr>
              <a:t>Steep </a:t>
            </a:r>
            <a:r>
              <a:rPr lang="en-GB" sz="2000" dirty="0">
                <a:sym typeface="Wingdings" panose="05000000000000000000" pitchFamily="2" charset="2"/>
              </a:rPr>
              <a:t>(~60</a:t>
            </a:r>
            <a:r>
              <a:rPr lang="en-GB" sz="2000" baseline="30000" dirty="0">
                <a:sym typeface="Wingdings" panose="05000000000000000000" pitchFamily="2" charset="2"/>
              </a:rPr>
              <a:t>o</a:t>
            </a:r>
            <a:r>
              <a:rPr lang="en-GB" sz="2000" dirty="0">
                <a:sym typeface="Wingdings" panose="05000000000000000000" pitchFamily="2" charset="2"/>
              </a:rPr>
              <a:t> from horizontal)</a:t>
            </a:r>
          </a:p>
          <a:p>
            <a:r>
              <a:rPr lang="en-GB" sz="2000" dirty="0">
                <a:sym typeface="Wingdings" panose="05000000000000000000" pitchFamily="2" charset="2"/>
              </a:rPr>
              <a:t>when </a:t>
            </a:r>
            <a:r>
              <a:rPr lang="az-Cyrl-AZ" sz="2000" dirty="0">
                <a:sym typeface="Wingdings" panose="05000000000000000000" pitchFamily="2" charset="2"/>
              </a:rPr>
              <a:t>б</a:t>
            </a:r>
            <a:r>
              <a:rPr lang="en-GB" sz="2000" baseline="-25000" dirty="0">
                <a:sym typeface="Wingdings" panose="05000000000000000000" pitchFamily="2" charset="2"/>
              </a:rPr>
              <a:t>1</a:t>
            </a:r>
            <a:r>
              <a:rPr lang="en-GB" sz="2000" dirty="0">
                <a:sym typeface="Wingdings" panose="05000000000000000000" pitchFamily="2" charset="2"/>
              </a:rPr>
              <a:t> is vertical, </a:t>
            </a:r>
            <a:r>
              <a:rPr lang="az-Cyrl-AZ" sz="2000" dirty="0">
                <a:sym typeface="Wingdings" panose="05000000000000000000" pitchFamily="2" charset="2"/>
              </a:rPr>
              <a:t>б</a:t>
            </a:r>
            <a:r>
              <a:rPr lang="en-GB" sz="2000" baseline="-25000" dirty="0">
                <a:sym typeface="Wingdings" panose="05000000000000000000" pitchFamily="2" charset="2"/>
              </a:rPr>
              <a:t>2</a:t>
            </a:r>
            <a:r>
              <a:rPr lang="en-GB" sz="2000" dirty="0">
                <a:sym typeface="Wingdings" panose="05000000000000000000" pitchFamily="2" charset="2"/>
              </a:rPr>
              <a:t> and </a:t>
            </a:r>
            <a:r>
              <a:rPr lang="az-Cyrl-AZ" sz="2000" dirty="0">
                <a:sym typeface="Wingdings" panose="05000000000000000000" pitchFamily="2" charset="2"/>
              </a:rPr>
              <a:t>б</a:t>
            </a:r>
            <a:r>
              <a:rPr lang="en-GB" sz="2000" baseline="-25000" dirty="0">
                <a:sym typeface="Wingdings" panose="05000000000000000000" pitchFamily="2" charset="2"/>
              </a:rPr>
              <a:t>3</a:t>
            </a:r>
            <a:r>
              <a:rPr lang="en-GB" sz="2000" dirty="0">
                <a:sym typeface="Wingdings" panose="05000000000000000000" pitchFamily="2" charset="2"/>
              </a:rPr>
              <a:t> are horizontal (extension)</a:t>
            </a:r>
          </a:p>
          <a:p>
            <a:r>
              <a:rPr lang="en-GB" sz="2000" dirty="0">
                <a:sym typeface="Wingdings" panose="05000000000000000000" pitchFamily="2" charset="2"/>
              </a:rPr>
              <a:t>fault surface dips </a:t>
            </a:r>
            <a:r>
              <a:rPr lang="en-GB" sz="2000" dirty="0" err="1">
                <a:sym typeface="Wingdings" panose="05000000000000000000" pitchFamily="2" charset="2"/>
              </a:rPr>
              <a:t>parallell</a:t>
            </a:r>
            <a:r>
              <a:rPr lang="en-GB" sz="2000" dirty="0">
                <a:sym typeface="Wingdings" panose="05000000000000000000" pitchFamily="2" charset="2"/>
              </a:rPr>
              <a:t> to </a:t>
            </a:r>
            <a:r>
              <a:rPr lang="az-Cyrl-AZ" sz="2000" dirty="0">
                <a:sym typeface="Wingdings" panose="05000000000000000000" pitchFamily="2" charset="2"/>
              </a:rPr>
              <a:t>б</a:t>
            </a:r>
            <a:r>
              <a:rPr lang="en-GB" sz="2000" baseline="-25000" dirty="0">
                <a:sym typeface="Wingdings" panose="05000000000000000000" pitchFamily="2" charset="2"/>
              </a:rPr>
              <a:t>3</a:t>
            </a:r>
            <a:endParaRPr lang="en-GB" sz="2000" dirty="0">
              <a:sym typeface="Wingdings" panose="05000000000000000000" pitchFamily="2" charset="2"/>
            </a:endParaRPr>
          </a:p>
          <a:p>
            <a:r>
              <a:rPr lang="en-GB" sz="2000" dirty="0">
                <a:sym typeface="Wingdings" panose="05000000000000000000" pitchFamily="2" charset="2"/>
              </a:rPr>
              <a:t>Thins the crust</a:t>
            </a:r>
          </a:p>
          <a:p>
            <a:endParaRPr lang="en-GB" sz="2000" b="1" dirty="0">
              <a:sym typeface="Wingdings" panose="05000000000000000000" pitchFamily="2" charset="2"/>
            </a:endParaRPr>
          </a:p>
        </p:txBody>
      </p:sp>
      <p:pic>
        <p:nvPicPr>
          <p:cNvPr id="14" name="Picture 2" descr="Fault classification, fault growth and displacement - ScienceDirect">
            <a:extLst>
              <a:ext uri="{FF2B5EF4-FFF2-40B4-BE49-F238E27FC236}">
                <a16:creationId xmlns:a16="http://schemas.microsoft.com/office/drawing/2014/main" id="{FCAD09C1-7B70-44B7-AE43-CAF16C7C6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35996" y="2446150"/>
            <a:ext cx="4546502" cy="415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4BDFFFF-C2F4-46FE-8A9E-C1E14A649A84}"/>
              </a:ext>
            </a:extLst>
          </p:cNvPr>
          <p:cNvSpPr/>
          <p:nvPr/>
        </p:nvSpPr>
        <p:spPr>
          <a:xfrm>
            <a:off x="4319876" y="2446150"/>
            <a:ext cx="2052324" cy="25670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8D282547-F5C9-4896-9F01-44462C0362F8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+mj-lt"/>
                <a:ea typeface="Adobe Fangsong Std R" pitchFamily="18" charset="-128"/>
                <a:cs typeface="+mj-cs"/>
              </a:rPr>
              <a:t>Faults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87900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4EF6E-0720-4D72-8AEC-EFC14432B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6601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Extension video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C266906-25B8-4C35-B884-174182352DFE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+mj-lt"/>
                <a:ea typeface="Adobe Fangsong Std R" pitchFamily="18" charset="-128"/>
                <a:cs typeface="+mj-cs"/>
              </a:rPr>
              <a:t>Faults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Adobe Fangsong Std R" pitchFamily="18" charset="-128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3E3BC-89E8-4661-A38D-EF23F6EF82F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1844824"/>
            <a:ext cx="82296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44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http://upload.wikimedia.org/wikipedia/commons/4/4c/Moab_fault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980727"/>
            <a:ext cx="9144000" cy="5877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79416" y="1268760"/>
            <a:ext cx="828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ym typeface="Wingdings" panose="05000000000000000000" pitchFamily="2" charset="2"/>
              </a:rPr>
              <a:t>Normal faults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0A58DA-6108-4669-902E-8FA67158B0EB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+mj-lt"/>
                <a:ea typeface="Adobe Fangsong Std R" pitchFamily="18" charset="-128"/>
                <a:cs typeface="+mj-cs"/>
              </a:rPr>
              <a:t>Faults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95992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9416" y="1268760"/>
            <a:ext cx="8280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ym typeface="Wingdings" panose="05000000000000000000" pitchFamily="2" charset="2"/>
              </a:rPr>
              <a:t>Dip-slip faults are those where movement has occurred along a dipping surface, and the two blocks have moved with a vertical component relative to the surface of the earth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416" y="3342471"/>
            <a:ext cx="396053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ym typeface="Wingdings" panose="05000000000000000000" pitchFamily="2" charset="2"/>
              </a:rPr>
              <a:t>Thrust or “reverse” fault</a:t>
            </a:r>
          </a:p>
          <a:p>
            <a:endParaRPr lang="en-GB" sz="2000" dirty="0">
              <a:sym typeface="Wingdings" panose="05000000000000000000" pitchFamily="2" charset="2"/>
            </a:endParaRPr>
          </a:p>
          <a:p>
            <a:r>
              <a:rPr lang="en-GB" sz="2000" dirty="0">
                <a:sym typeface="Wingdings" panose="05000000000000000000" pitchFamily="2" charset="2"/>
              </a:rPr>
              <a:t></a:t>
            </a:r>
            <a:r>
              <a:rPr lang="en-GB" sz="2000" b="1" dirty="0" err="1">
                <a:sym typeface="Wingdings" panose="05000000000000000000" pitchFamily="2" charset="2"/>
              </a:rPr>
              <a:t>Hangingwall</a:t>
            </a:r>
            <a:r>
              <a:rPr lang="en-GB" sz="2000" b="1" dirty="0">
                <a:sym typeface="Wingdings" panose="05000000000000000000" pitchFamily="2" charset="2"/>
              </a:rPr>
              <a:t> is upthrown</a:t>
            </a:r>
          </a:p>
          <a:p>
            <a:r>
              <a:rPr lang="en-GB" sz="2000" dirty="0">
                <a:sym typeface="Wingdings" panose="05000000000000000000" pitchFamily="2" charset="2"/>
              </a:rPr>
              <a:t></a:t>
            </a:r>
            <a:r>
              <a:rPr lang="en-GB" sz="2000" b="1" dirty="0">
                <a:sym typeface="Wingdings" panose="05000000000000000000" pitchFamily="2" charset="2"/>
              </a:rPr>
              <a:t>Low angle </a:t>
            </a:r>
            <a:r>
              <a:rPr lang="en-GB" sz="2000" dirty="0">
                <a:sym typeface="Wingdings" panose="05000000000000000000" pitchFamily="2" charset="2"/>
              </a:rPr>
              <a:t>(~30</a:t>
            </a:r>
            <a:r>
              <a:rPr lang="en-GB" sz="2000" baseline="30000" dirty="0">
                <a:sym typeface="Wingdings" panose="05000000000000000000" pitchFamily="2" charset="2"/>
              </a:rPr>
              <a:t>o</a:t>
            </a:r>
            <a:r>
              <a:rPr lang="en-GB" sz="2000" dirty="0">
                <a:sym typeface="Wingdings" panose="05000000000000000000" pitchFamily="2" charset="2"/>
              </a:rPr>
              <a:t> from horizontal_</a:t>
            </a:r>
          </a:p>
          <a:p>
            <a:r>
              <a:rPr lang="en-GB" sz="2000" dirty="0">
                <a:sym typeface="Wingdings" panose="05000000000000000000" pitchFamily="2" charset="2"/>
              </a:rPr>
              <a:t>when </a:t>
            </a:r>
            <a:r>
              <a:rPr lang="az-Cyrl-AZ" sz="2000" dirty="0">
                <a:sym typeface="Wingdings" panose="05000000000000000000" pitchFamily="2" charset="2"/>
              </a:rPr>
              <a:t>б</a:t>
            </a:r>
            <a:r>
              <a:rPr lang="en-GB" sz="2000" baseline="-25000" dirty="0">
                <a:sym typeface="Wingdings" panose="05000000000000000000" pitchFamily="2" charset="2"/>
              </a:rPr>
              <a:t>3</a:t>
            </a:r>
            <a:r>
              <a:rPr lang="en-GB" sz="2000" dirty="0">
                <a:sym typeface="Wingdings" panose="05000000000000000000" pitchFamily="2" charset="2"/>
              </a:rPr>
              <a:t> is vertical, </a:t>
            </a:r>
            <a:r>
              <a:rPr lang="az-Cyrl-AZ" sz="2000" dirty="0">
                <a:sym typeface="Wingdings" panose="05000000000000000000" pitchFamily="2" charset="2"/>
              </a:rPr>
              <a:t>б</a:t>
            </a:r>
            <a:r>
              <a:rPr lang="en-GB" sz="2000" baseline="-25000" dirty="0">
                <a:sym typeface="Wingdings" panose="05000000000000000000" pitchFamily="2" charset="2"/>
              </a:rPr>
              <a:t>2</a:t>
            </a:r>
            <a:r>
              <a:rPr lang="en-GB" sz="2000" dirty="0">
                <a:sym typeface="Wingdings" panose="05000000000000000000" pitchFamily="2" charset="2"/>
              </a:rPr>
              <a:t> and </a:t>
            </a:r>
            <a:r>
              <a:rPr lang="az-Cyrl-AZ" sz="2000" dirty="0">
                <a:sym typeface="Wingdings" panose="05000000000000000000" pitchFamily="2" charset="2"/>
              </a:rPr>
              <a:t>б</a:t>
            </a:r>
            <a:r>
              <a:rPr lang="en-GB" sz="2000" baseline="-25000" dirty="0">
                <a:sym typeface="Wingdings" panose="05000000000000000000" pitchFamily="2" charset="2"/>
              </a:rPr>
              <a:t>1</a:t>
            </a:r>
            <a:r>
              <a:rPr lang="en-GB" sz="2000" dirty="0">
                <a:sym typeface="Wingdings" panose="05000000000000000000" pitchFamily="2" charset="2"/>
              </a:rPr>
              <a:t> are horizontal (</a:t>
            </a:r>
            <a:r>
              <a:rPr lang="en-GB" sz="2000" b="1" dirty="0">
                <a:sym typeface="Wingdings" panose="05000000000000000000" pitchFamily="2" charset="2"/>
              </a:rPr>
              <a:t>compression</a:t>
            </a:r>
            <a:r>
              <a:rPr lang="en-GB" sz="2000" dirty="0">
                <a:sym typeface="Wingdings" panose="05000000000000000000" pitchFamily="2" charset="2"/>
              </a:rPr>
              <a:t>)</a:t>
            </a:r>
          </a:p>
          <a:p>
            <a:r>
              <a:rPr lang="en-GB" sz="2000" dirty="0">
                <a:sym typeface="Wingdings" panose="05000000000000000000" pitchFamily="2" charset="2"/>
              </a:rPr>
              <a:t>fault surface dips parallel to</a:t>
            </a:r>
            <a:r>
              <a:rPr lang="az-Cyrl-AZ" sz="2000" dirty="0">
                <a:sym typeface="Wingdings" panose="05000000000000000000" pitchFamily="2" charset="2"/>
              </a:rPr>
              <a:t> б</a:t>
            </a:r>
            <a:r>
              <a:rPr lang="en-GB" sz="2000" baseline="-25000" dirty="0">
                <a:sym typeface="Wingdings" panose="05000000000000000000" pitchFamily="2" charset="2"/>
              </a:rPr>
              <a:t>1</a:t>
            </a:r>
            <a:endParaRPr lang="en-GB" sz="2000" dirty="0">
              <a:sym typeface="Wingdings" panose="05000000000000000000" pitchFamily="2" charset="2"/>
            </a:endParaRPr>
          </a:p>
          <a:p>
            <a:r>
              <a:rPr lang="en-GB" sz="2000" dirty="0">
                <a:sym typeface="Wingdings" panose="05000000000000000000" pitchFamily="2" charset="2"/>
              </a:rPr>
              <a:t></a:t>
            </a:r>
            <a:r>
              <a:rPr lang="en-GB" sz="2000" b="1" dirty="0">
                <a:sym typeface="Wingdings" panose="05000000000000000000" pitchFamily="2" charset="2"/>
              </a:rPr>
              <a:t>Thickens crust</a:t>
            </a:r>
          </a:p>
        </p:txBody>
      </p:sp>
      <p:pic>
        <p:nvPicPr>
          <p:cNvPr id="14" name="Picture 2" descr="Fault classification, fault growth and displacement - ScienceDirect">
            <a:extLst>
              <a:ext uri="{FF2B5EF4-FFF2-40B4-BE49-F238E27FC236}">
                <a16:creationId xmlns:a16="http://schemas.microsoft.com/office/drawing/2014/main" id="{03DB4598-1CDA-4188-BBAD-1D015DDFA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19876" y="2469089"/>
            <a:ext cx="4546502" cy="415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92FA944-389B-47FB-AE88-72AFA6F50694}"/>
              </a:ext>
            </a:extLst>
          </p:cNvPr>
          <p:cNvSpPr/>
          <p:nvPr/>
        </p:nvSpPr>
        <p:spPr>
          <a:xfrm>
            <a:off x="6228088" y="2673937"/>
            <a:ext cx="2736496" cy="21952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D1496233-3568-4CAA-8D93-C89302536E78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+mj-lt"/>
                <a:ea typeface="Adobe Fangsong Std R" pitchFamily="18" charset="-128"/>
                <a:cs typeface="+mj-cs"/>
              </a:rPr>
              <a:t>Faults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0571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4EF6E-0720-4D72-8AEC-EFC14432B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6601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Compression video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C266906-25B8-4C35-B884-174182352DFE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+mj-lt"/>
                <a:ea typeface="Adobe Fangsong Std R" pitchFamily="18" charset="-128"/>
                <a:cs typeface="+mj-cs"/>
              </a:rPr>
              <a:t>Faults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Adobe Fangsong Std R" pitchFamily="18" charset="-128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1D4E5F-4305-4DC2-8A6F-E9438BB5EA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2997" y="1916832"/>
            <a:ext cx="8285830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48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http://www.see.leeds.ac.uk/structure/basic_structure/deformation/thrust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01420" y="1124745"/>
            <a:ext cx="5445048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4" name="Picture 4" descr="http://earthquake.usgs.gov/learn/glossary/images/blindthrust.gif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512" y="3356992"/>
            <a:ext cx="3381636" cy="1840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79512" y="1268760"/>
            <a:ext cx="2880320" cy="2010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/>
              <a:t>Thrusts, occurring in </a:t>
            </a:r>
            <a:r>
              <a:rPr lang="en-GB" sz="2200" b="1" dirty="0" err="1"/>
              <a:t>contractional</a:t>
            </a:r>
            <a:r>
              <a:rPr lang="en-GB" sz="2200" b="1" dirty="0"/>
              <a:t> zones, often occur with folds (“fold-thrust belts”).</a:t>
            </a:r>
          </a:p>
          <a:p>
            <a:pPr lvl="1"/>
            <a:endParaRPr lang="en-GB" sz="2200" b="1" baseline="30000" dirty="0">
              <a:sym typeface="Wingdings" panose="05000000000000000000" pitchFamily="2" charset="2"/>
            </a:endParaRPr>
          </a:p>
        </p:txBody>
      </p:sp>
      <p:pic>
        <p:nvPicPr>
          <p:cNvPr id="32770" name="Picture 2" descr="http://gsabulletin.gsapubs.org/content/122/1-2/24/F4.large.jpg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7364" y="5291775"/>
            <a:ext cx="8497264" cy="156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207244" y="5074584"/>
            <a:ext cx="460202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400" b="1" dirty="0"/>
              <a:t>Cross section through the Rocky Mountain fold-thrust belt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EB536AB-EAD8-47F7-9081-DACB21E20BCE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+mj-lt"/>
                <a:ea typeface="Adobe Fangsong Std R" pitchFamily="18" charset="-128"/>
                <a:cs typeface="+mj-cs"/>
              </a:rPr>
              <a:t>Faults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3233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416" y="1268760"/>
            <a:ext cx="87851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ym typeface="Wingdings" panose="05000000000000000000" pitchFamily="2" charset="2"/>
              </a:rPr>
              <a:t>Strike-slip faults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ym typeface="Wingdings" panose="05000000000000000000" pitchFamily="2" charset="2"/>
              </a:rPr>
              <a:t>Movement has occurred along a largely vertical  surface, and the two blocks have moved with a horizontal component relative to the surface of the earth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520" y="3645024"/>
            <a:ext cx="38164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ym typeface="Wingdings" panose="05000000000000000000" pitchFamily="2" charset="2"/>
              </a:rPr>
              <a:t>No </a:t>
            </a:r>
            <a:r>
              <a:rPr lang="en-GB" sz="2000" dirty="0" err="1">
                <a:sym typeface="Wingdings" panose="05000000000000000000" pitchFamily="2" charset="2"/>
              </a:rPr>
              <a:t>hangingwall</a:t>
            </a:r>
            <a:r>
              <a:rPr lang="en-GB" sz="2000" dirty="0">
                <a:sym typeface="Wingdings" panose="05000000000000000000" pitchFamily="2" charset="2"/>
              </a:rPr>
              <a:t>-footwall</a:t>
            </a:r>
            <a:endParaRPr lang="en-GB" sz="2000" b="1" dirty="0">
              <a:sym typeface="Wingdings" panose="05000000000000000000" pitchFamily="2" charset="2"/>
            </a:endParaRPr>
          </a:p>
          <a:p>
            <a:r>
              <a:rPr lang="en-GB" sz="2000" dirty="0">
                <a:sym typeface="Wingdings" panose="05000000000000000000" pitchFamily="2" charset="2"/>
              </a:rPr>
              <a:t>Vertical fault</a:t>
            </a:r>
          </a:p>
          <a:p>
            <a:r>
              <a:rPr lang="en-GB" sz="2000" dirty="0">
                <a:sym typeface="Wingdings" panose="05000000000000000000" pitchFamily="2" charset="2"/>
              </a:rPr>
              <a:t>when </a:t>
            </a:r>
            <a:r>
              <a:rPr lang="az-Cyrl-AZ" sz="2000" dirty="0">
                <a:sym typeface="Wingdings" panose="05000000000000000000" pitchFamily="2" charset="2"/>
              </a:rPr>
              <a:t>б</a:t>
            </a:r>
            <a:r>
              <a:rPr lang="en-GB" sz="2000" baseline="-25000" dirty="0">
                <a:sym typeface="Wingdings" panose="05000000000000000000" pitchFamily="2" charset="2"/>
              </a:rPr>
              <a:t>2</a:t>
            </a:r>
            <a:r>
              <a:rPr lang="en-GB" sz="2000" dirty="0">
                <a:sym typeface="Wingdings" panose="05000000000000000000" pitchFamily="2" charset="2"/>
              </a:rPr>
              <a:t> is vertical, </a:t>
            </a:r>
            <a:r>
              <a:rPr lang="az-Cyrl-AZ" sz="2000" dirty="0">
                <a:sym typeface="Wingdings" panose="05000000000000000000" pitchFamily="2" charset="2"/>
              </a:rPr>
              <a:t>б</a:t>
            </a:r>
            <a:r>
              <a:rPr lang="en-GB" sz="2000" baseline="-25000" dirty="0">
                <a:sym typeface="Wingdings" panose="05000000000000000000" pitchFamily="2" charset="2"/>
              </a:rPr>
              <a:t>1</a:t>
            </a:r>
            <a:r>
              <a:rPr lang="en-GB" sz="2000" dirty="0">
                <a:sym typeface="Wingdings" panose="05000000000000000000" pitchFamily="2" charset="2"/>
              </a:rPr>
              <a:t> and </a:t>
            </a:r>
            <a:r>
              <a:rPr lang="az-Cyrl-AZ" sz="2000" dirty="0">
                <a:sym typeface="Wingdings" panose="05000000000000000000" pitchFamily="2" charset="2"/>
              </a:rPr>
              <a:t>б</a:t>
            </a:r>
            <a:r>
              <a:rPr lang="en-GB" sz="2000" baseline="-25000" dirty="0">
                <a:sym typeface="Wingdings" panose="05000000000000000000" pitchFamily="2" charset="2"/>
              </a:rPr>
              <a:t>3</a:t>
            </a:r>
            <a:r>
              <a:rPr lang="en-GB" sz="2000" dirty="0">
                <a:sym typeface="Wingdings" panose="05000000000000000000" pitchFamily="2" charset="2"/>
              </a:rPr>
              <a:t> are horizontal (shearing)</a:t>
            </a:r>
          </a:p>
          <a:p>
            <a:r>
              <a:rPr lang="en-GB" sz="2000" dirty="0">
                <a:sym typeface="Wingdings" panose="05000000000000000000" pitchFamily="2" charset="2"/>
              </a:rPr>
              <a:t>No net change in crustal thickness</a:t>
            </a:r>
          </a:p>
          <a:p>
            <a:endParaRPr lang="en-GB" sz="2000" b="1" dirty="0">
              <a:sym typeface="Wingdings" panose="05000000000000000000" pitchFamily="2" charset="2"/>
            </a:endParaRPr>
          </a:p>
        </p:txBody>
      </p:sp>
      <p:pic>
        <p:nvPicPr>
          <p:cNvPr id="8" name="Picture 2" descr="Fault classification, fault growth and displacement - ScienceDirect">
            <a:extLst>
              <a:ext uri="{FF2B5EF4-FFF2-40B4-BE49-F238E27FC236}">
                <a16:creationId xmlns:a16="http://schemas.microsoft.com/office/drawing/2014/main" id="{254466C1-2A1C-415B-B1AC-10DB306C5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19876" y="2469089"/>
            <a:ext cx="4546502" cy="415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01C8ED9-7028-4E86-850C-3A52A4332BA8}"/>
              </a:ext>
            </a:extLst>
          </p:cNvPr>
          <p:cNvSpPr/>
          <p:nvPr/>
        </p:nvSpPr>
        <p:spPr>
          <a:xfrm>
            <a:off x="4595660" y="4869160"/>
            <a:ext cx="2928668" cy="187480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31C6263-4CF9-4495-8403-09A7FDE6FFF5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+mj-lt"/>
                <a:ea typeface="Adobe Fangsong Std R" pitchFamily="18" charset="-128"/>
                <a:cs typeface="+mj-cs"/>
              </a:rPr>
              <a:t>Faults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40493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Lateral displacement along a strike-slip fault in field near Mashiki,  Japan. (2016 Kumamoto earthquake) : RedditDayOf">
            <a:extLst>
              <a:ext uri="{FF2B5EF4-FFF2-40B4-BE49-F238E27FC236}">
                <a16:creationId xmlns:a16="http://schemas.microsoft.com/office/drawing/2014/main" id="{1FF4CEF7-8655-4D20-B8A7-6A40795E4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504" y="1109151"/>
            <a:ext cx="5493399" cy="412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Image">
            <a:extLst>
              <a:ext uri="{FF2B5EF4-FFF2-40B4-BE49-F238E27FC236}">
                <a16:creationId xmlns:a16="http://schemas.microsoft.com/office/drawing/2014/main" id="{48BA8970-8AAE-46D4-867F-3C73B5BA72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283968" y="3429000"/>
            <a:ext cx="4680520" cy="336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1759A8-B485-41CC-8942-41FD96F4A386}"/>
              </a:ext>
            </a:extLst>
          </p:cNvPr>
          <p:cNvSpPr txBox="1"/>
          <p:nvPr/>
        </p:nvSpPr>
        <p:spPr>
          <a:xfrm>
            <a:off x="195793" y="5610909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ym typeface="Wingdings" panose="05000000000000000000" pitchFamily="2" charset="2"/>
              </a:rPr>
              <a:t>Strike slip </a:t>
            </a:r>
            <a:r>
              <a:rPr lang="en-GB" sz="2000" b="1" dirty="0" err="1">
                <a:sym typeface="Wingdings" panose="05000000000000000000" pitchFamily="2" charset="2"/>
              </a:rPr>
              <a:t>Piqiang</a:t>
            </a:r>
            <a:r>
              <a:rPr lang="en-GB" sz="2000" b="1" dirty="0">
                <a:sym typeface="Wingdings" panose="05000000000000000000" pitchFamily="2" charset="2"/>
              </a:rPr>
              <a:t> Fault, China 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A5888E-F6F0-4EE9-9BCF-93D7BAC99C1F}"/>
              </a:ext>
            </a:extLst>
          </p:cNvPr>
          <p:cNvSpPr txBox="1"/>
          <p:nvPr/>
        </p:nvSpPr>
        <p:spPr>
          <a:xfrm>
            <a:off x="5868144" y="1556792"/>
            <a:ext cx="2952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ym typeface="Wingdings" panose="05000000000000000000" pitchFamily="2" charset="2"/>
              </a:rPr>
              <a:t> Strike slip Fault, Japan 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B51BA50-B42A-4C63-993D-74F885103D88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+mj-lt"/>
                <a:ea typeface="Adobe Fangsong Std R" pitchFamily="18" charset="-128"/>
                <a:cs typeface="+mj-cs"/>
              </a:rPr>
              <a:t>Faults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25000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4EF6E-0720-4D72-8AEC-EFC14432B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6601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Compression video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C266906-25B8-4C35-B884-174182352DFE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+mj-lt"/>
                <a:ea typeface="Adobe Fangsong Std R" pitchFamily="18" charset="-128"/>
                <a:cs typeface="+mj-cs"/>
              </a:rPr>
              <a:t>Folds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Adobe Fangsong Std R" pitchFamily="18" charset="-128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1D4E5F-4305-4DC2-8A6F-E9438BB5EA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2997" y="1916832"/>
            <a:ext cx="8285830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50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9537" y="1238184"/>
            <a:ext cx="87329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The majority of folding is caused by buckling: compression resulting in plastic deformation and shortening.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Compression zones include continental-continental collisions (orogens).</a:t>
            </a:r>
            <a:endParaRPr lang="en-GB" sz="2000" dirty="0"/>
          </a:p>
        </p:txBody>
      </p:sp>
      <p:pic>
        <p:nvPicPr>
          <p:cNvPr id="30724" name="Picture 4" descr="http://homepage.usask.ca/~mjr347/prog/geoe118/images/tigh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47186" y="3303239"/>
            <a:ext cx="3810000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98679" y="5589240"/>
            <a:ext cx="77618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Folds are typically classified according to the </a:t>
            </a:r>
            <a:r>
              <a:rPr lang="en-GB" sz="2000" b="1" dirty="0" err="1"/>
              <a:t>orienation</a:t>
            </a:r>
            <a:r>
              <a:rPr lang="en-GB" sz="2000" b="1" dirty="0"/>
              <a:t> of the axial plane</a:t>
            </a:r>
            <a:r>
              <a:rPr lang="en-GB" sz="2000" dirty="0"/>
              <a:t> (=the plane the exactly bisects the </a:t>
            </a:r>
            <a:r>
              <a:rPr lang="en-GB" sz="2000" dirty="0" err="1"/>
              <a:t>interlimb</a:t>
            </a:r>
            <a:r>
              <a:rPr lang="en-GB" sz="2000" dirty="0"/>
              <a:t> angle)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And the “tightness” of the fold </a:t>
            </a:r>
            <a:r>
              <a:rPr lang="en-GB" sz="2000" dirty="0"/>
              <a:t>(=the </a:t>
            </a:r>
            <a:r>
              <a:rPr lang="en-GB" sz="2000" dirty="0" err="1"/>
              <a:t>interlimb</a:t>
            </a:r>
            <a:r>
              <a:rPr lang="en-GB" sz="2000" dirty="0"/>
              <a:t> angle)</a:t>
            </a:r>
            <a:endParaRPr lang="en-GB" sz="2000" b="1" dirty="0"/>
          </a:p>
        </p:txBody>
      </p:sp>
      <p:pic>
        <p:nvPicPr>
          <p:cNvPr id="30726" name="Picture 6" descr="http://homepage.usask.ca/~mjr347/prog/geoe118/images/orap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9537" y="3068960"/>
            <a:ext cx="4762500" cy="217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95536" y="2933907"/>
            <a:ext cx="1716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Increasing strain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111968" y="3118573"/>
            <a:ext cx="2067648" cy="0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789538" y="3074846"/>
            <a:ext cx="2067648" cy="0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47186" y="2915652"/>
            <a:ext cx="1716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Increasing strain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850A91D5-C28B-4881-8162-345A951CE7A1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+mj-lt"/>
                <a:ea typeface="Adobe Fangsong Std R" pitchFamily="18" charset="-128"/>
                <a:cs typeface="+mj-cs"/>
              </a:rPr>
              <a:t>Folds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4385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http://www.see.leeds.ac.uk/structure/folds/describing/3d/fold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504" y="1196752"/>
            <a:ext cx="4762500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8" name="Picture 4" descr="http://marlimillerphoto.com/images/SrD-17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88024" y="4025298"/>
            <a:ext cx="4178846" cy="2780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004049" y="1234278"/>
            <a:ext cx="37444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The classification works at all scales.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Fold axial plane and </a:t>
            </a:r>
            <a:r>
              <a:rPr lang="en-GB" sz="2000" b="1" dirty="0" err="1"/>
              <a:t>interlimb</a:t>
            </a:r>
            <a:r>
              <a:rPr lang="en-GB" sz="2000" b="1" dirty="0"/>
              <a:t> angle is a function of the stress-strain regime of the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512" y="1253535"/>
            <a:ext cx="149900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400" b="1" dirty="0"/>
              <a:t>Vertical open 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0004" y="6429622"/>
            <a:ext cx="201151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400" b="1" dirty="0"/>
              <a:t>Recumbent isoclinal fold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47159EB-BE5B-4D8D-AC79-32185F6C7FEF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+mj-lt"/>
                <a:ea typeface="Adobe Fangsong Std R" pitchFamily="18" charset="-128"/>
                <a:cs typeface="+mj-cs"/>
              </a:rPr>
              <a:t>Folds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87520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E467CF0-B640-4824-A9F6-168F0B3EF7F2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+mj-lt"/>
                <a:ea typeface="Adobe Fangsong Std R" pitchFamily="18" charset="-128"/>
                <a:cs typeface="+mj-cs"/>
              </a:rPr>
              <a:t>Summary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Adobe Fangsong Std R" pitchFamily="18" charset="-128"/>
              <a:cs typeface="+mj-cs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0388AC1-ED9D-43CE-8CD4-79C821715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412776"/>
            <a:ext cx="871296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The Earth’s crust can be resolved into one of three end-member  “</a:t>
            </a:r>
            <a:r>
              <a:rPr lang="en-US" altLang="en-US" sz="2000" b="1" dirty="0" err="1"/>
              <a:t>Andersonian</a:t>
            </a:r>
            <a:r>
              <a:rPr lang="en-US" altLang="en-US" sz="2000" b="1" dirty="0"/>
              <a:t>” tectonic states: Extension, Compression or Shearing.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Where stresses are sufficient to strain the crust,</a:t>
            </a:r>
          </a:p>
          <a:p>
            <a:pPr lvl="1"/>
            <a:r>
              <a:rPr lang="en-US" altLang="en-US" sz="2000" dirty="0">
                <a:sym typeface="Wingdings" panose="05000000000000000000" pitchFamily="2" charset="2"/>
              </a:rPr>
              <a:t>Extension leads to normal faulting or stretching (thinning)</a:t>
            </a:r>
          </a:p>
          <a:p>
            <a:pPr lvl="1"/>
            <a:r>
              <a:rPr lang="en-US" altLang="en-US" sz="2000" dirty="0">
                <a:sym typeface="Wingdings" panose="05000000000000000000" pitchFamily="2" charset="2"/>
              </a:rPr>
              <a:t>Compression leads to thrust faulting or folding (thickening)</a:t>
            </a:r>
          </a:p>
          <a:p>
            <a:pPr lvl="1"/>
            <a:r>
              <a:rPr lang="en-US" altLang="en-US" sz="2000" dirty="0">
                <a:sym typeface="Wingdings" panose="05000000000000000000" pitchFamily="2" charset="2"/>
              </a:rPr>
              <a:t>Shearing leads to strike-slip faulting and fault-bending (no thickness change).</a:t>
            </a:r>
          </a:p>
        </p:txBody>
      </p:sp>
      <p:pic>
        <p:nvPicPr>
          <p:cNvPr id="27652" name="Picture 4">
            <a:extLst>
              <a:ext uri="{FF2B5EF4-FFF2-40B4-BE49-F238E27FC236}">
                <a16:creationId xmlns:a16="http://schemas.microsoft.com/office/drawing/2014/main" id="{23D62BA2-955F-430D-9BA5-618102BA73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403648" y="3861048"/>
            <a:ext cx="6336704" cy="2672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691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0D5125-9564-49E8-8284-64D44971FD58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3636"/>
            <a:ext cx="9144000" cy="686163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E044A0-2020-4631-B8F6-B6FB53B02F62}"/>
              </a:ext>
            </a:extLst>
          </p:cNvPr>
          <p:cNvSpPr txBox="1">
            <a:spLocks/>
          </p:cNvSpPr>
          <p:nvPr/>
        </p:nvSpPr>
        <p:spPr>
          <a:xfrm>
            <a:off x="6174680" y="6165304"/>
            <a:ext cx="2952328" cy="296780"/>
          </a:xfrm>
          <a:prstGeom prst="rect">
            <a:avLst/>
          </a:prstGeom>
          <a:noFill/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500" b="1" dirty="0">
                <a:latin typeface="Arial" pitchFamily="34" charset="0"/>
                <a:cs typeface="Arial" pitchFamily="34" charset="0"/>
              </a:rPr>
              <a:t>Pyrenees </a:t>
            </a:r>
          </a:p>
          <a:p>
            <a:pPr algn="r"/>
            <a:r>
              <a:rPr lang="en-GB" sz="1500" b="1" dirty="0">
                <a:latin typeface="Arial" pitchFamily="34" charset="0"/>
                <a:cs typeface="Arial" pitchFamily="34" charset="0"/>
              </a:rPr>
              <a:t>of France and Spain</a:t>
            </a:r>
            <a:endParaRPr lang="en-GB" sz="1800" dirty="0">
              <a:latin typeface="Arial" pitchFamily="34" charset="0"/>
              <a:cs typeface="Arial" pitchFamily="34" charset="0"/>
            </a:endParaRPr>
          </a:p>
          <a:p>
            <a:pPr algn="r"/>
            <a:endParaRPr lang="en-GB" sz="15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D55A0DF-C3D4-4CA3-B59D-FA8666EFFF79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1916832"/>
            <a:ext cx="8928992" cy="2520280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EART11100: </a:t>
            </a: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Understanding t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he Earth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A dynamic Planet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Mechanisms for vertical crustal movement</a:t>
            </a:r>
            <a:endParaRPr kumimoji="0" lang="en-GB" sz="4800" b="1" i="0" u="none" strike="noStrike" kern="1200" cap="none" spc="0" normalizeH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4562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9672" y="1178750"/>
            <a:ext cx="5832648" cy="3586094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9755" y="5011344"/>
            <a:ext cx="8964489" cy="1440160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itchFamily="34" charset="0"/>
              </a:rPr>
              <a:t>… you should be able to…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itchFamily="34" charset="0"/>
              </a:rPr>
              <a:t>explain why topography (and bathymetry) reflect an Earth's surface that is out-of-equilibrium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describe the three main mechanisms for vertical crustal movement.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7664" y="2636912"/>
            <a:ext cx="2808312" cy="64807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15699D5-9C24-44CF-BEED-22B237E1D07C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Intended learning outcomes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ookman Old Style" panose="02050604050505020204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2400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In this lecture…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788" y="1339035"/>
            <a:ext cx="4392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b="1" dirty="0"/>
              <a:t>Have you wondered why some areas of the Earth are high, and others low?</a:t>
            </a:r>
          </a:p>
        </p:txBody>
      </p:sp>
      <p:pic>
        <p:nvPicPr>
          <p:cNvPr id="19458" name="Picture 2" descr="Image result for mount everest">
            <a:extLst>
              <a:ext uri="{FF2B5EF4-FFF2-40B4-BE49-F238E27FC236}">
                <a16:creationId xmlns:a16="http://schemas.microsoft.com/office/drawing/2014/main" id="{D6CC7CE8-FF96-4C52-809C-C94DBA0B9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255554"/>
            <a:ext cx="3635896" cy="2526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A412D2-7D6F-4776-8C7B-63745A3F3A3B}"/>
              </a:ext>
            </a:extLst>
          </p:cNvPr>
          <p:cNvSpPr txBox="1"/>
          <p:nvPr/>
        </p:nvSpPr>
        <p:spPr>
          <a:xfrm>
            <a:off x="33527" y="3941288"/>
            <a:ext cx="24792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Mount Everest: 8848 m ASL</a:t>
            </a:r>
          </a:p>
          <a:p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38D6F9-85B9-4268-B257-D3CA05BC6306}"/>
              </a:ext>
            </a:extLst>
          </p:cNvPr>
          <p:cNvSpPr txBox="1"/>
          <p:nvPr/>
        </p:nvSpPr>
        <p:spPr>
          <a:xfrm>
            <a:off x="4004558" y="5403269"/>
            <a:ext cx="22081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Dead Sea shore: -413 m</a:t>
            </a:r>
          </a:p>
        </p:txBody>
      </p:sp>
      <p:pic>
        <p:nvPicPr>
          <p:cNvPr id="19462" name="Picture 6" descr="Image result for mariana trench">
            <a:extLst>
              <a:ext uri="{FF2B5EF4-FFF2-40B4-BE49-F238E27FC236}">
                <a16:creationId xmlns:a16="http://schemas.microsoft.com/office/drawing/2014/main" id="{A67A2CA2-5AF9-4CF6-B2D7-EE5007589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032" y="1116177"/>
            <a:ext cx="4167137" cy="262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Image result for dead sea">
            <a:extLst>
              <a:ext uri="{FF2B5EF4-FFF2-40B4-BE49-F238E27FC236}">
                <a16:creationId xmlns:a16="http://schemas.microsoft.com/office/drawing/2014/main" id="{661989F3-FE41-4BBF-92CD-CF465F494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682" y="2537690"/>
            <a:ext cx="3888432" cy="2807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256368-AED3-48AB-B7BB-798C09AB2C5A}"/>
              </a:ext>
            </a:extLst>
          </p:cNvPr>
          <p:cNvSpPr txBox="1"/>
          <p:nvPr/>
        </p:nvSpPr>
        <p:spPr>
          <a:xfrm>
            <a:off x="6631386" y="3772011"/>
            <a:ext cx="2477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Mariana Trench: -10,994 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4C1763F-3B57-46FE-9889-D9EF96E81D94}"/>
              </a:ext>
            </a:extLst>
          </p:cNvPr>
          <p:cNvGrpSpPr/>
          <p:nvPr/>
        </p:nvGrpSpPr>
        <p:grpSpPr>
          <a:xfrm>
            <a:off x="683568" y="3651901"/>
            <a:ext cx="8096250" cy="3171825"/>
            <a:chOff x="683568" y="3651901"/>
            <a:chExt cx="8096250" cy="3171825"/>
          </a:xfrm>
        </p:grpSpPr>
        <p:pic>
          <p:nvPicPr>
            <p:cNvPr id="6" name="Picture 2" descr="Image result for source to sink">
              <a:extLst>
                <a:ext uri="{FF2B5EF4-FFF2-40B4-BE49-F238E27FC236}">
                  <a16:creationId xmlns:a16="http://schemas.microsoft.com/office/drawing/2014/main" id="{F486F37C-333A-4BBA-BF04-65BDE401A1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568" y="3651901"/>
              <a:ext cx="8096250" cy="3171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CD23F5-C287-451E-8C2F-209DFCBFCAB8}"/>
                </a:ext>
              </a:extLst>
            </p:cNvPr>
            <p:cNvSpPr/>
            <p:nvPr/>
          </p:nvSpPr>
          <p:spPr>
            <a:xfrm rot="449741">
              <a:off x="3481011" y="5047335"/>
              <a:ext cx="1876951" cy="360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In this lecture…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512" y="1340768"/>
            <a:ext cx="8496943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The formation of these features on Earth’s Surface are primarily driven by tectonics….</a:t>
            </a:r>
          </a:p>
          <a:p>
            <a:pPr>
              <a:spcAft>
                <a:spcPts val="600"/>
              </a:spcAft>
            </a:pPr>
            <a:r>
              <a:rPr lang="en-GB" sz="2000" dirty="0"/>
              <a:t>	…. but tectonics involves the horizontal movement of plates.</a:t>
            </a:r>
          </a:p>
          <a:p>
            <a:pPr>
              <a:spcAft>
                <a:spcPts val="600"/>
              </a:spcAft>
            </a:pPr>
            <a:endParaRPr lang="en-GB" sz="2000" b="1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u="sng" dirty="0"/>
              <a:t>Vertical uplift </a:t>
            </a:r>
            <a:r>
              <a:rPr lang="en-GB" sz="2000" b="1" dirty="0"/>
              <a:t>forms high areas (</a:t>
            </a:r>
            <a:r>
              <a:rPr lang="en-GB" sz="2000" b="1" u="sng" dirty="0"/>
              <a:t>mountains</a:t>
            </a:r>
            <a:r>
              <a:rPr lang="en-GB" sz="2000" b="1" dirty="0"/>
              <a:t> or </a:t>
            </a:r>
            <a:r>
              <a:rPr lang="en-GB" sz="2000" b="1" u="sng" dirty="0"/>
              <a:t>hinterlands</a:t>
            </a:r>
            <a:r>
              <a:rPr lang="en-GB" sz="2000" b="1" dirty="0"/>
              <a:t>), and subsidence forms </a:t>
            </a:r>
            <a:r>
              <a:rPr lang="en-GB" sz="2000" b="1" u="sng" dirty="0"/>
              <a:t>Sedimentary Basins</a:t>
            </a:r>
            <a:r>
              <a:rPr lang="en-GB" sz="2000" b="1" dirty="0"/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7A7B94-10ED-4104-987F-2B865629F5C1}"/>
              </a:ext>
            </a:extLst>
          </p:cNvPr>
          <p:cNvSpPr/>
          <p:nvPr/>
        </p:nvSpPr>
        <p:spPr>
          <a:xfrm>
            <a:off x="1475656" y="5929738"/>
            <a:ext cx="1152128" cy="30757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15CB9-E08E-47C8-85A1-746DA2B7F901}"/>
              </a:ext>
            </a:extLst>
          </p:cNvPr>
          <p:cNvSpPr/>
          <p:nvPr/>
        </p:nvSpPr>
        <p:spPr>
          <a:xfrm>
            <a:off x="6300192" y="6435580"/>
            <a:ext cx="1152128" cy="30757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82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0C7F003-7E2D-4C75-A23A-58D7EB4152B6}"/>
              </a:ext>
            </a:extLst>
          </p:cNvPr>
          <p:cNvGrpSpPr/>
          <p:nvPr/>
        </p:nvGrpSpPr>
        <p:grpSpPr>
          <a:xfrm>
            <a:off x="683568" y="3651901"/>
            <a:ext cx="8096250" cy="3171825"/>
            <a:chOff x="683568" y="3651901"/>
            <a:chExt cx="8096250" cy="3171825"/>
          </a:xfrm>
        </p:grpSpPr>
        <p:pic>
          <p:nvPicPr>
            <p:cNvPr id="11" name="Picture 2" descr="Image result for source to sink">
              <a:extLst>
                <a:ext uri="{FF2B5EF4-FFF2-40B4-BE49-F238E27FC236}">
                  <a16:creationId xmlns:a16="http://schemas.microsoft.com/office/drawing/2014/main" id="{44E4B173-DE83-47AD-BD4A-8665E78526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568" y="3651901"/>
              <a:ext cx="8096250" cy="3171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38739C5-8E6B-40F9-9B53-D51B266F1BA4}"/>
                </a:ext>
              </a:extLst>
            </p:cNvPr>
            <p:cNvSpPr/>
            <p:nvPr/>
          </p:nvSpPr>
          <p:spPr>
            <a:xfrm rot="449741">
              <a:off x="3481011" y="5047335"/>
              <a:ext cx="1876951" cy="360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In this lecture…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512" y="1124744"/>
            <a:ext cx="8496943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Uplift and subsidence can be thought of as in dynamic equilibrium:</a:t>
            </a:r>
          </a:p>
          <a:p>
            <a:pPr>
              <a:spcAft>
                <a:spcPts val="600"/>
              </a:spcAft>
            </a:pPr>
            <a:r>
              <a:rPr lang="en-GB" sz="2000" b="1" dirty="0">
                <a:sym typeface="Wingdings" panose="05000000000000000000" pitchFamily="2" charset="2"/>
              </a:rPr>
              <a:t>	</a:t>
            </a:r>
            <a:r>
              <a:rPr lang="en-GB" sz="2000" dirty="0">
                <a:sym typeface="Wingdings" panose="05000000000000000000" pitchFamily="2" charset="2"/>
              </a:rPr>
              <a:t> as areas uplift they erode, forming clastic sediment</a:t>
            </a:r>
          </a:p>
          <a:p>
            <a:pPr lvl="1">
              <a:spcAft>
                <a:spcPts val="600"/>
              </a:spcAft>
            </a:pPr>
            <a:r>
              <a:rPr lang="en-GB" sz="2000" dirty="0"/>
              <a:t>	</a:t>
            </a:r>
            <a:r>
              <a:rPr lang="en-GB" sz="2000" dirty="0">
                <a:sym typeface="Wingdings" panose="05000000000000000000" pitchFamily="2" charset="2"/>
              </a:rPr>
              <a:t> as areas subside they are filled-in with sediment</a:t>
            </a:r>
          </a:p>
          <a:p>
            <a:pPr lvl="1">
              <a:spcAft>
                <a:spcPts val="600"/>
              </a:spcAft>
            </a:pPr>
            <a:r>
              <a:rPr lang="en-GB" sz="2000" dirty="0">
                <a:sym typeface="Wingdings" panose="05000000000000000000" pitchFamily="2" charset="2"/>
              </a:rPr>
              <a:t>	ALL SEDIMENTARY ROCKS WERE DEPOSITED IN A SEDIMENTARY BASIN</a:t>
            </a:r>
          </a:p>
          <a:p>
            <a:pPr>
              <a:spcAft>
                <a:spcPts val="600"/>
              </a:spcAft>
            </a:pPr>
            <a:r>
              <a:rPr lang="en-GB" sz="2000" b="1" dirty="0"/>
              <a:t>	</a:t>
            </a:r>
            <a:r>
              <a:rPr lang="en-GB" sz="2000" dirty="0"/>
              <a:t>(the entire sedimentary and fossil record of planet earth is contained 	here)!</a:t>
            </a:r>
            <a:endParaRPr lang="en-GB" sz="2000" b="1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“High” areas and “low” areas represent an out-of-equilibrium system.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3E309B-A960-4483-9D54-8F1923B0FAAE}"/>
              </a:ext>
            </a:extLst>
          </p:cNvPr>
          <p:cNvSpPr/>
          <p:nvPr/>
        </p:nvSpPr>
        <p:spPr>
          <a:xfrm>
            <a:off x="6228184" y="4293096"/>
            <a:ext cx="1296144" cy="4223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4EC23F-2EF6-4F20-A44F-F3958B28C993}"/>
              </a:ext>
            </a:extLst>
          </p:cNvPr>
          <p:cNvSpPr/>
          <p:nvPr/>
        </p:nvSpPr>
        <p:spPr>
          <a:xfrm>
            <a:off x="1475656" y="3870734"/>
            <a:ext cx="1152128" cy="4223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69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In this lecture…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642" y="1985472"/>
            <a:ext cx="4392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b="1" dirty="0"/>
              <a:t>What is the (long term) equilibrium balance in these examples?</a:t>
            </a:r>
          </a:p>
        </p:txBody>
      </p:sp>
      <p:pic>
        <p:nvPicPr>
          <p:cNvPr id="19458" name="Picture 2" descr="Image result for mount everest">
            <a:extLst>
              <a:ext uri="{FF2B5EF4-FFF2-40B4-BE49-F238E27FC236}">
                <a16:creationId xmlns:a16="http://schemas.microsoft.com/office/drawing/2014/main" id="{D6CC7CE8-FF96-4C52-809C-C94DBA0B9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679706"/>
            <a:ext cx="4464496" cy="310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A412D2-7D6F-4776-8C7B-63745A3F3A3B}"/>
              </a:ext>
            </a:extLst>
          </p:cNvPr>
          <p:cNvSpPr txBox="1"/>
          <p:nvPr/>
        </p:nvSpPr>
        <p:spPr>
          <a:xfrm>
            <a:off x="126235" y="3711520"/>
            <a:ext cx="1427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Mount Everest</a:t>
            </a:r>
          </a:p>
        </p:txBody>
      </p:sp>
      <p:pic>
        <p:nvPicPr>
          <p:cNvPr id="19462" name="Picture 6" descr="Image result for mariana trench">
            <a:extLst>
              <a:ext uri="{FF2B5EF4-FFF2-40B4-BE49-F238E27FC236}">
                <a16:creationId xmlns:a16="http://schemas.microsoft.com/office/drawing/2014/main" id="{A67A2CA2-5AF9-4CF6-B2D7-EE5007589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032" y="1116177"/>
            <a:ext cx="4167137" cy="262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256368-AED3-48AB-B7BB-798C09AB2C5A}"/>
              </a:ext>
            </a:extLst>
          </p:cNvPr>
          <p:cNvSpPr txBox="1"/>
          <p:nvPr/>
        </p:nvSpPr>
        <p:spPr>
          <a:xfrm>
            <a:off x="4836838" y="1116177"/>
            <a:ext cx="15199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Mariana Trench</a:t>
            </a:r>
          </a:p>
        </p:txBody>
      </p:sp>
      <p:pic>
        <p:nvPicPr>
          <p:cNvPr id="21506" name="Picture 2" descr="Image result for very flat landscape">
            <a:extLst>
              <a:ext uri="{FF2B5EF4-FFF2-40B4-BE49-F238E27FC236}">
                <a16:creationId xmlns:a16="http://schemas.microsoft.com/office/drawing/2014/main" id="{65516448-AE6C-4E85-92D4-239E9D0DB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032" y="3974091"/>
            <a:ext cx="4167136" cy="2807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79DFFA-8503-4918-B10D-03532A7FA5B6}"/>
              </a:ext>
            </a:extLst>
          </p:cNvPr>
          <p:cNvSpPr txBox="1"/>
          <p:nvPr/>
        </p:nvSpPr>
        <p:spPr>
          <a:xfrm>
            <a:off x="4897047" y="4019477"/>
            <a:ext cx="1529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Canadian shield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983382-EF25-463E-B778-524E6A436B5F}"/>
              </a:ext>
            </a:extLst>
          </p:cNvPr>
          <p:cNvSpPr txBox="1"/>
          <p:nvPr/>
        </p:nvSpPr>
        <p:spPr>
          <a:xfrm>
            <a:off x="4863473" y="1420903"/>
            <a:ext cx="2249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Subsidence &gt; deposition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3CBC90-E15B-4382-B0F1-77D6491E728E}"/>
              </a:ext>
            </a:extLst>
          </p:cNvPr>
          <p:cNvSpPr txBox="1"/>
          <p:nvPr/>
        </p:nvSpPr>
        <p:spPr>
          <a:xfrm>
            <a:off x="134104" y="3993199"/>
            <a:ext cx="14982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Uplift &gt; erosion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6DF223-5F94-4FDC-BF78-3FB022BABF59}"/>
              </a:ext>
            </a:extLst>
          </p:cNvPr>
          <p:cNvSpPr txBox="1"/>
          <p:nvPr/>
        </p:nvSpPr>
        <p:spPr>
          <a:xfrm>
            <a:off x="4897047" y="4266261"/>
            <a:ext cx="22499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Uplift = erosion</a:t>
            </a:r>
          </a:p>
          <a:p>
            <a:r>
              <a:rPr lang="en-GB" sz="1600" b="1" dirty="0"/>
              <a:t>Subsidence = deposition</a:t>
            </a:r>
          </a:p>
        </p:txBody>
      </p:sp>
    </p:spTree>
    <p:extLst>
      <p:ext uri="{BB962C8B-B14F-4D97-AF65-F5344CB8AC3E}">
        <p14:creationId xmlns:p14="http://schemas.microsoft.com/office/powerpoint/2010/main" val="77270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In this lecture…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512" y="1340768"/>
            <a:ext cx="849694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In order to understand why vertical crustal movements occur, we will look at the relationship between the lithosphere and the underlying mantle.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endParaRPr lang="en-GB" sz="2000" b="1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In the </a:t>
            </a:r>
            <a:r>
              <a:rPr lang="en-GB" sz="2000" b="1" dirty="0" smtClean="0"/>
              <a:t>next part of the </a:t>
            </a:r>
            <a:r>
              <a:rPr lang="en-GB" sz="2000" b="1" dirty="0"/>
              <a:t>lecture we will use these underlying principles to understand vertical crustal movements in different Tectonic settings.</a:t>
            </a:r>
          </a:p>
        </p:txBody>
      </p:sp>
    </p:spTree>
    <p:extLst>
      <p:ext uri="{BB962C8B-B14F-4D97-AF65-F5344CB8AC3E}">
        <p14:creationId xmlns:p14="http://schemas.microsoft.com/office/powerpoint/2010/main" val="281018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179512" y="1340768"/>
            <a:ext cx="4953000" cy="2265363"/>
            <a:chOff x="144" y="576"/>
            <a:chExt cx="3120" cy="1427"/>
          </a:xfrm>
        </p:grpSpPr>
        <p:graphicFrame>
          <p:nvGraphicFramePr>
            <p:cNvPr id="6" name="Object 26"/>
            <p:cNvGraphicFramePr>
              <a:graphicFrameLocks noChangeAspect="1"/>
            </p:cNvGraphicFramePr>
            <p:nvPr/>
          </p:nvGraphicFramePr>
          <p:xfrm>
            <a:off x="658" y="588"/>
            <a:ext cx="1187" cy="1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" name="CorelDRAW" r:id="rId3" imgW="1989720" imgH="2327760" progId="CorelDraw.Graphic.13">
                    <p:embed/>
                  </p:oleObj>
                </mc:Choice>
                <mc:Fallback>
                  <p:oleObj name="CorelDRAW" r:id="rId3" imgW="1989720" imgH="2327760" progId="CorelDraw.Graphic.13">
                    <p:embed/>
                    <p:pic>
                      <p:nvPicPr>
                        <p:cNvPr id="6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8" y="588"/>
                          <a:ext cx="1187" cy="1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27"/>
            <p:cNvSpPr txBox="1">
              <a:spLocks noChangeArrowheads="1"/>
            </p:cNvSpPr>
            <p:nvPr/>
          </p:nvSpPr>
          <p:spPr bwMode="auto">
            <a:xfrm>
              <a:off x="1803" y="839"/>
              <a:ext cx="1461" cy="8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u="sng" dirty="0">
                  <a:solidFill>
                    <a:srgbClr val="000000"/>
                  </a:solidFill>
                </a:rPr>
                <a:t>Continental</a:t>
              </a:r>
              <a:r>
                <a:rPr lang="en-US" dirty="0">
                  <a:solidFill>
                    <a:srgbClr val="000000"/>
                  </a:solidFill>
                </a:rPr>
                <a:t> - granitic 2.7g/cm</a:t>
              </a:r>
              <a:r>
                <a:rPr lang="en-US" baseline="30000" dirty="0">
                  <a:solidFill>
                    <a:srgbClr val="000000"/>
                  </a:solidFill>
                </a:rPr>
                <a:t>3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u="sng" dirty="0">
                  <a:solidFill>
                    <a:srgbClr val="000000"/>
                  </a:solidFill>
                </a:rPr>
                <a:t>Oceanic </a:t>
              </a:r>
              <a:r>
                <a:rPr lang="en-US" dirty="0">
                  <a:solidFill>
                    <a:srgbClr val="000000"/>
                  </a:solidFill>
                </a:rPr>
                <a:t>– basaltic 2.9g/cm</a:t>
              </a:r>
              <a:r>
                <a:rPr lang="en-US" baseline="300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8" name="Line 28"/>
            <p:cNvSpPr>
              <a:spLocks noChangeShapeType="1"/>
            </p:cNvSpPr>
            <p:nvPr/>
          </p:nvSpPr>
          <p:spPr bwMode="auto">
            <a:xfrm flipH="1">
              <a:off x="672" y="1176"/>
              <a:ext cx="221" cy="421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" name="Rectangle 29"/>
            <p:cNvSpPr>
              <a:spLocks noChangeArrowheads="1"/>
            </p:cNvSpPr>
            <p:nvPr/>
          </p:nvSpPr>
          <p:spPr bwMode="auto">
            <a:xfrm>
              <a:off x="144" y="1596"/>
              <a:ext cx="785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 err="1"/>
                <a:t>Peridotite</a:t>
              </a:r>
              <a:r>
                <a:rPr lang="en-US" dirty="0"/>
                <a:t> </a:t>
              </a:r>
            </a:p>
            <a:p>
              <a:r>
                <a:rPr lang="en-US" dirty="0"/>
                <a:t>&gt;3.1 g/cm</a:t>
              </a:r>
              <a:r>
                <a:rPr lang="en-US" baseline="30000" dirty="0"/>
                <a:t>3</a:t>
              </a:r>
              <a:endParaRPr lang="en-GB" baseline="30000" dirty="0"/>
            </a:p>
          </p:txBody>
        </p:sp>
        <p:sp>
          <p:nvSpPr>
            <p:cNvPr id="10" name="Line 30"/>
            <p:cNvSpPr>
              <a:spLocks noChangeShapeType="1"/>
            </p:cNvSpPr>
            <p:nvPr/>
          </p:nvSpPr>
          <p:spPr bwMode="auto">
            <a:xfrm>
              <a:off x="1773" y="713"/>
              <a:ext cx="309" cy="168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" name="Text Box 31"/>
            <p:cNvSpPr txBox="1">
              <a:spLocks noChangeArrowheads="1"/>
            </p:cNvSpPr>
            <p:nvPr/>
          </p:nvSpPr>
          <p:spPr bwMode="auto">
            <a:xfrm>
              <a:off x="889" y="1015"/>
              <a:ext cx="752" cy="7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600" b="1" dirty="0"/>
                <a:t>MANTLE</a:t>
              </a:r>
            </a:p>
            <a:p>
              <a:pPr algn="ctr" eaLnBrk="0" hangingPunct="0">
                <a:spcBef>
                  <a:spcPct val="50000"/>
                </a:spcBef>
              </a:pPr>
              <a:r>
                <a:rPr lang="en-US" sz="1600" dirty="0">
                  <a:latin typeface="Comic Sans MS" pitchFamily="66" charset="0"/>
                </a:rPr>
                <a:t>down to 2900 km depth</a:t>
              </a:r>
            </a:p>
          </p:txBody>
        </p:sp>
        <p:sp>
          <p:nvSpPr>
            <p:cNvPr id="12" name="Text Box 32"/>
            <p:cNvSpPr txBox="1">
              <a:spLocks noChangeArrowheads="1"/>
            </p:cNvSpPr>
            <p:nvPr/>
          </p:nvSpPr>
          <p:spPr bwMode="auto">
            <a:xfrm>
              <a:off x="676" y="576"/>
              <a:ext cx="1145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</a:rPr>
                <a:t>Lithosphere </a:t>
              </a:r>
            </a:p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mic Sans MS" pitchFamily="66" charset="0"/>
                </a:rPr>
                <a:t>30-70 km thick</a:t>
              </a:r>
              <a:endParaRPr lang="en-GB" sz="1600" dirty="0">
                <a:solidFill>
                  <a:srgbClr val="000000"/>
                </a:solidFill>
                <a:latin typeface="Comic Sans MS" pitchFamily="66" charset="0"/>
              </a:endParaRPr>
            </a:p>
          </p:txBody>
        </p:sp>
      </p:grp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251520" y="4221088"/>
            <a:ext cx="2952328" cy="2160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15875">
              <a:lnSpc>
                <a:spcPct val="8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sz="2000" u="sng" dirty="0">
                <a:latin typeface="Arial" pitchFamily="34" charset="0"/>
                <a:cs typeface="Arial" pitchFamily="34" charset="0"/>
              </a:rPr>
              <a:t>asthenosphere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is weak, and undergoes low rates of ductile deformation as a result of thermal gradients (convection).</a:t>
            </a:r>
            <a:endParaRPr lang="en-US" sz="2000" baseline="0" dirty="0">
              <a:latin typeface="Arial" pitchFamily="34" charset="0"/>
              <a:cs typeface="Arial" pitchFamily="34" charset="0"/>
            </a:endParaRPr>
          </a:p>
          <a:p>
            <a:pPr marL="0" marR="0" lvl="0" indent="15875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00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14" name="Picture 4" descr="figure 20-12.jpg                                               0000D7E6Macintosh HD                   ABA78158: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555619"/>
            <a:ext cx="5758826" cy="322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4"/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Behaviour of the lithosphere</a:t>
            </a: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5130654" y="1483024"/>
            <a:ext cx="3672408" cy="1746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15875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The</a:t>
            </a:r>
            <a:r>
              <a:rPr kumimoji="0" lang="en-US" sz="2000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2000" u="sng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l</a:t>
            </a:r>
            <a:r>
              <a:rPr kumimoji="0" lang="en-US" sz="200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ithosphere</a:t>
            </a:r>
            <a:r>
              <a:rPr kumimoji="0" lang="en-US" sz="200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is rigid enough to comprise a number of relatively coherent plates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, that move relative to each other as a result of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asthenospheric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deformation.</a:t>
            </a:r>
            <a:endParaRPr kumimoji="0" lang="en-US" sz="2000" strike="noStrike" kern="1200" cap="none" spc="0" normalizeH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15875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2000" baseline="0" dirty="0">
              <a:latin typeface="Arial" pitchFamily="34" charset="0"/>
              <a:cs typeface="Arial" pitchFamily="34" charset="0"/>
            </a:endParaRPr>
          </a:p>
          <a:p>
            <a:pPr marL="0" marR="0" lvl="0" indent="15875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00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179512" y="1340768"/>
            <a:ext cx="8640960" cy="2160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15875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150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>
          <a:xfrm>
            <a:off x="179512" y="1340768"/>
            <a:ext cx="8712968" cy="46085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There are three main mechanisms for uplift and subsidence (basin formation)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But often all three mechanisms operate simultaneously</a:t>
            </a:r>
            <a:endParaRPr lang="en-US" sz="2000" baseline="0" dirty="0">
              <a:latin typeface="Arial" pitchFamily="34" charset="0"/>
              <a:cs typeface="Arial" pitchFamily="34" charset="0"/>
            </a:endParaRPr>
          </a:p>
          <a:p>
            <a:pPr marL="0" marR="0" lvl="0" indent="15875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0" marR="0" lvl="0" indent="15875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u="sng" dirty="0">
                <a:latin typeface="Arial" pitchFamily="34" charset="0"/>
                <a:cs typeface="Arial" pitchFamily="34" charset="0"/>
              </a:rPr>
              <a:t>Isostasy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– the consequences of changes in lithospheric thickness</a:t>
            </a:r>
          </a:p>
          <a:p>
            <a:pPr marL="0" marR="0" lvl="0" indent="15875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endParaRPr lang="en-US" sz="2000" b="1" baseline="0" dirty="0">
              <a:latin typeface="Arial" pitchFamily="34" charset="0"/>
              <a:cs typeface="Arial" pitchFamily="34" charset="0"/>
            </a:endParaRPr>
          </a:p>
          <a:p>
            <a:pPr marL="0" marR="0" lvl="0" indent="15875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marL="0" marR="0" lvl="0" indent="15875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u="sng" dirty="0">
                <a:latin typeface="Arial" pitchFamily="34" charset="0"/>
                <a:cs typeface="Arial" pitchFamily="34" charset="0"/>
              </a:rPr>
              <a:t>Flexural loading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(and unloading) of the lithosphere</a:t>
            </a:r>
          </a:p>
          <a:p>
            <a:pPr marL="0" marR="0" lvl="0" indent="15875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marL="0" marR="0" lvl="0" indent="15875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marL="0" marR="0" lvl="0" indent="15875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u="sng" dirty="0">
                <a:latin typeface="Arial" pitchFamily="34" charset="0"/>
                <a:cs typeface="Arial" pitchFamily="34" charset="0"/>
              </a:rPr>
              <a:t>Dynamic effects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– effects of flow in the mantle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Behaviour of the lithosphere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3647" y="1124744"/>
            <a:ext cx="8712968" cy="72008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 1. </a:t>
            </a:r>
            <a:r>
              <a:rPr lang="en-US" sz="2000" b="1" u="sng" dirty="0">
                <a:latin typeface="Arial" pitchFamily="34" charset="0"/>
                <a:cs typeface="Arial" pitchFamily="34" charset="0"/>
              </a:rPr>
              <a:t>Isostasy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– the consequences of changes in lithospheric thickness</a:t>
            </a:r>
          </a:p>
          <a:p>
            <a:endParaRPr lang="en-GB" sz="2000" dirty="0"/>
          </a:p>
          <a:p>
            <a:r>
              <a:rPr lang="en-GB" sz="2000" dirty="0"/>
              <a:t>The lithosphere can be modelled as a less dense, rigid “blocks”  of continent and ocean floating in a “fluid” mantle. </a:t>
            </a:r>
            <a:r>
              <a:rPr lang="en-GB" sz="2000" dirty="0" err="1"/>
              <a:t>I.e</a:t>
            </a:r>
            <a:r>
              <a:rPr lang="en-GB" sz="2000" dirty="0"/>
              <a:t> the mantle behaves as a Newtonian Fluid.</a:t>
            </a: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 cstate="print"/>
          <a:srcRect l="21696" t="27143" r="23661" b="12857"/>
          <a:stretch>
            <a:fillRect/>
          </a:stretch>
        </p:blipFill>
        <p:spPr bwMode="auto">
          <a:xfrm>
            <a:off x="1835696" y="3068960"/>
            <a:ext cx="5472608" cy="338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0" y="2486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Rectangle 4"/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Behaviour of the lithosphere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51598" y="1484784"/>
            <a:ext cx="8615059" cy="22322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GB" sz="2000" dirty="0"/>
              <a:t>Because   “a body immersed in a fluid is buoyed up by a force equal to the weight [volume] of the displaced fluid”…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	…changes in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thickness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of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the floating blocks will result in changes in buoyant force acting upward upon it.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3065520"/>
            <a:ext cx="4176464" cy="3682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82388" y="4368656"/>
            <a:ext cx="1893929" cy="1045096"/>
          </a:xfrm>
          <a:prstGeom prst="rect">
            <a:avLst/>
          </a:prstGeom>
          <a:noFill/>
        </p:spPr>
      </p:pic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0" y="24860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8924" y="3875816"/>
            <a:ext cx="241346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Where</a:t>
            </a:r>
          </a:p>
          <a:p>
            <a:r>
              <a:rPr lang="en-GB" sz="1600" i="1" dirty="0"/>
              <a:t>b</a:t>
            </a:r>
            <a:r>
              <a:rPr lang="en-GB" sz="1600" dirty="0"/>
              <a:t>=thickness of the “root” of the mountain belt</a:t>
            </a:r>
          </a:p>
          <a:p>
            <a:r>
              <a:rPr lang="en-GB" sz="1600" i="1" dirty="0"/>
              <a:t>h</a:t>
            </a:r>
            <a:r>
              <a:rPr lang="en-GB" sz="1600" dirty="0"/>
              <a:t>=the height (</a:t>
            </a:r>
            <a:r>
              <a:rPr lang="en-GB" sz="1600" dirty="0" err="1"/>
              <a:t>asl</a:t>
            </a:r>
            <a:r>
              <a:rPr lang="en-GB" sz="1600" dirty="0"/>
              <a:t>) of the mountain belt</a:t>
            </a:r>
          </a:p>
          <a:p>
            <a:r>
              <a:rPr lang="en-GB" sz="1600" i="1" dirty="0" err="1"/>
              <a:t>ρ</a:t>
            </a:r>
            <a:r>
              <a:rPr lang="en-GB" sz="1600" i="1" baseline="-25000" dirty="0" err="1"/>
              <a:t>m</a:t>
            </a:r>
            <a:r>
              <a:rPr lang="en-GB" sz="1600" dirty="0"/>
              <a:t> and </a:t>
            </a:r>
            <a:r>
              <a:rPr lang="en-GB" sz="1600" i="1" dirty="0" err="1"/>
              <a:t>ρ</a:t>
            </a:r>
            <a:r>
              <a:rPr lang="en-GB" sz="1600" i="1" baseline="-25000" dirty="0" err="1"/>
              <a:t>c</a:t>
            </a:r>
            <a:r>
              <a:rPr lang="en-GB" sz="1600" dirty="0"/>
              <a:t> are the mantle and crustal densities</a:t>
            </a:r>
          </a:p>
          <a:p>
            <a:endParaRPr lang="en-GB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1475656" y="6210686"/>
            <a:ext cx="3269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000" b="1" dirty="0"/>
              <a:t>(“Airy” </a:t>
            </a:r>
            <a:r>
              <a:rPr lang="en-GB" sz="2000" b="1" dirty="0" err="1"/>
              <a:t>isostacy</a:t>
            </a:r>
            <a:r>
              <a:rPr lang="en-GB" sz="2000" b="1" dirty="0"/>
              <a:t> model)</a:t>
            </a:r>
          </a:p>
        </p:txBody>
      </p:sp>
      <p:sp>
        <p:nvSpPr>
          <p:cNvPr id="15" name="Rectangle 4"/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Behaviour of the lithosphere</a:t>
            </a:r>
          </a:p>
        </p:txBody>
      </p:sp>
    </p:spTree>
    <p:extLst>
      <p:ext uri="{BB962C8B-B14F-4D97-AF65-F5344CB8AC3E}">
        <p14:creationId xmlns:p14="http://schemas.microsoft.com/office/powerpoint/2010/main" val="237297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Behaviour of the lithosphere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79512" y="1268760"/>
            <a:ext cx="4896544" cy="1872208"/>
            <a:chOff x="251520" y="1268760"/>
            <a:chExt cx="6365504" cy="2448272"/>
          </a:xfrm>
        </p:grpSpPr>
        <p:pic>
          <p:nvPicPr>
            <p:cNvPr id="23556" name="Picture 4" descr="http://www.backcountrysafaris.com/images/icebergs/bergsizes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51520" y="1268760"/>
              <a:ext cx="6365504" cy="2448272"/>
            </a:xfrm>
            <a:prstGeom prst="rect">
              <a:avLst/>
            </a:prstGeom>
            <a:noFill/>
          </p:spPr>
        </p:pic>
        <p:pic>
          <p:nvPicPr>
            <p:cNvPr id="8" name="Picture 4" descr="http://www.backcountrysafaris.com/images/icebergs/bergsizes.jpg"/>
            <p:cNvPicPr>
              <a:picLocks noChangeAspect="1" noChangeArrowheads="1"/>
            </p:cNvPicPr>
            <p:nvPr/>
          </p:nvPicPr>
          <p:blipFill>
            <a:blip r:embed="rId2" cstate="print"/>
            <a:srcRect r="87557" b="76471"/>
            <a:stretch>
              <a:fillRect/>
            </a:stretch>
          </p:blipFill>
          <p:spPr bwMode="auto">
            <a:xfrm>
              <a:off x="971600" y="1340768"/>
              <a:ext cx="792088" cy="432048"/>
            </a:xfrm>
            <a:prstGeom prst="rect">
              <a:avLst/>
            </a:prstGeom>
            <a:noFill/>
          </p:spPr>
        </p:pic>
        <p:pic>
          <p:nvPicPr>
            <p:cNvPr id="9" name="Picture 4" descr="http://www.backcountrysafaris.com/images/icebergs/bergsizes.jpg"/>
            <p:cNvPicPr>
              <a:picLocks noChangeAspect="1" noChangeArrowheads="1"/>
            </p:cNvPicPr>
            <p:nvPr/>
          </p:nvPicPr>
          <p:blipFill>
            <a:blip r:embed="rId2" cstate="print"/>
            <a:srcRect r="87557" b="76471"/>
            <a:stretch>
              <a:fillRect/>
            </a:stretch>
          </p:blipFill>
          <p:spPr bwMode="auto">
            <a:xfrm>
              <a:off x="2843808" y="1412776"/>
              <a:ext cx="936104" cy="432048"/>
            </a:xfrm>
            <a:prstGeom prst="rect">
              <a:avLst/>
            </a:prstGeom>
            <a:noFill/>
          </p:spPr>
        </p:pic>
        <p:pic>
          <p:nvPicPr>
            <p:cNvPr id="10" name="Picture 4" descr="http://www.backcountrysafaris.com/images/icebergs/bergsizes.jpg"/>
            <p:cNvPicPr>
              <a:picLocks noChangeAspect="1" noChangeArrowheads="1"/>
            </p:cNvPicPr>
            <p:nvPr/>
          </p:nvPicPr>
          <p:blipFill>
            <a:blip r:embed="rId2" cstate="print"/>
            <a:srcRect r="87557" b="76471"/>
            <a:stretch>
              <a:fillRect/>
            </a:stretch>
          </p:blipFill>
          <p:spPr bwMode="auto">
            <a:xfrm>
              <a:off x="4499992" y="1412776"/>
              <a:ext cx="936104" cy="440432"/>
            </a:xfrm>
            <a:prstGeom prst="rect">
              <a:avLst/>
            </a:prstGeom>
            <a:noFill/>
          </p:spPr>
        </p:pic>
        <p:pic>
          <p:nvPicPr>
            <p:cNvPr id="11" name="Picture 4" descr="http://www.backcountrysafaris.com/images/icebergs/bergsizes.jpg"/>
            <p:cNvPicPr>
              <a:picLocks noChangeAspect="1" noChangeArrowheads="1"/>
            </p:cNvPicPr>
            <p:nvPr/>
          </p:nvPicPr>
          <p:blipFill>
            <a:blip r:embed="rId2" cstate="print"/>
            <a:srcRect r="87557" b="76471"/>
            <a:stretch>
              <a:fillRect/>
            </a:stretch>
          </p:blipFill>
          <p:spPr bwMode="auto">
            <a:xfrm>
              <a:off x="5436095" y="1484784"/>
              <a:ext cx="1019776" cy="440431"/>
            </a:xfrm>
            <a:prstGeom prst="rect">
              <a:avLst/>
            </a:prstGeom>
            <a:noFill/>
          </p:spPr>
        </p:pic>
      </p:grp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5148064" y="1700808"/>
            <a:ext cx="3744416" cy="72008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GB" sz="2000" dirty="0"/>
              <a:t>	What are the consequences for surface topography when changes in thickness occur to continental crust?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179512" y="3501008"/>
            <a:ext cx="3816424" cy="3168352"/>
            <a:chOff x="179512" y="3789040"/>
            <a:chExt cx="3384376" cy="2880320"/>
          </a:xfrm>
        </p:grpSpPr>
        <p:pic>
          <p:nvPicPr>
            <p:cNvPr id="17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12167" t="19227" r="41870" b="11077"/>
            <a:stretch>
              <a:fillRect/>
            </a:stretch>
          </p:blipFill>
          <p:spPr bwMode="auto">
            <a:xfrm>
              <a:off x="323528" y="3905524"/>
              <a:ext cx="3240360" cy="27638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" name="Rectangle 17"/>
            <p:cNvSpPr/>
            <p:nvPr/>
          </p:nvSpPr>
          <p:spPr>
            <a:xfrm>
              <a:off x="179512" y="3789040"/>
              <a:ext cx="360040" cy="216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0" name="Rectangle 19"/>
          <p:cNvSpPr/>
          <p:nvPr/>
        </p:nvSpPr>
        <p:spPr>
          <a:xfrm>
            <a:off x="5508104" y="1628800"/>
            <a:ext cx="3312368" cy="15121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4067944" y="3412316"/>
            <a:ext cx="48245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…changes in </a:t>
            </a:r>
            <a:r>
              <a:rPr lang="en-GB" sz="2000" u="sng" dirty="0"/>
              <a:t>density</a:t>
            </a:r>
            <a:r>
              <a:rPr lang="en-GB" sz="2000" dirty="0"/>
              <a:t> of the floating blocks will result in changes in buoyant force acting upward upon it.</a:t>
            </a:r>
          </a:p>
        </p:txBody>
      </p:sp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0" y="23145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2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56176" y="4365104"/>
            <a:ext cx="2450486" cy="864096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/>
        </p:nvSpPr>
        <p:spPr>
          <a:xfrm>
            <a:off x="4175024" y="5136494"/>
            <a:ext cx="46528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Where</a:t>
            </a:r>
          </a:p>
          <a:p>
            <a:r>
              <a:rPr lang="en-GB" sz="1600" i="1" dirty="0" err="1"/>
              <a:t>ρ</a:t>
            </a:r>
            <a:r>
              <a:rPr lang="en-GB" sz="1600" i="1" baseline="-25000" dirty="0" err="1"/>
              <a:t>p</a:t>
            </a:r>
            <a:r>
              <a:rPr lang="en-GB" sz="1600" dirty="0"/>
              <a:t>=density of </a:t>
            </a:r>
            <a:r>
              <a:rPr lang="en-GB" sz="1600" dirty="0" err="1"/>
              <a:t>lithospheric</a:t>
            </a:r>
            <a:r>
              <a:rPr lang="en-GB" sz="1600" dirty="0"/>
              <a:t> column, at a height, </a:t>
            </a:r>
            <a:r>
              <a:rPr lang="en-GB" sz="1600" i="1" dirty="0"/>
              <a:t>h</a:t>
            </a:r>
            <a:r>
              <a:rPr lang="en-GB" sz="1600" dirty="0"/>
              <a:t>, ASL</a:t>
            </a:r>
            <a:endParaRPr lang="en-GB" sz="1600" i="1" dirty="0"/>
          </a:p>
          <a:p>
            <a:r>
              <a:rPr lang="en-GB" sz="1600" i="1" dirty="0"/>
              <a:t>ρ</a:t>
            </a:r>
            <a:r>
              <a:rPr lang="en-GB" sz="1600" i="1" baseline="-25000" dirty="0"/>
              <a:t>0</a:t>
            </a:r>
            <a:r>
              <a:rPr lang="en-GB" sz="1600" dirty="0"/>
              <a:t>=reference density for the lithosphere</a:t>
            </a:r>
          </a:p>
          <a:p>
            <a:r>
              <a:rPr lang="en-GB" sz="1600" i="1" dirty="0"/>
              <a:t>W</a:t>
            </a:r>
            <a:r>
              <a:rPr lang="en-GB" sz="1600" dirty="0"/>
              <a:t>=</a:t>
            </a:r>
            <a:r>
              <a:rPr lang="en-GB" sz="1600" dirty="0" err="1"/>
              <a:t>compenation</a:t>
            </a:r>
            <a:r>
              <a:rPr lang="en-GB" sz="1600" dirty="0"/>
              <a:t> depth</a:t>
            </a:r>
          </a:p>
          <a:p>
            <a:endParaRPr lang="en-GB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4260403" y="6329441"/>
            <a:ext cx="3431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(“Pratt” </a:t>
            </a:r>
            <a:r>
              <a:rPr lang="en-GB" sz="2000" b="1" dirty="0" err="1"/>
              <a:t>isostacy</a:t>
            </a:r>
            <a:r>
              <a:rPr lang="en-GB" sz="2000" b="1" dirty="0"/>
              <a:t> model)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Behaviour of the lithosphere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138383" y="3500570"/>
            <a:ext cx="4752528" cy="30963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GB" sz="16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01330" y="1731994"/>
            <a:ext cx="8719142" cy="30963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In reality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the </a:t>
            </a:r>
            <a:r>
              <a:rPr kumimoji="0" lang="en-GB" sz="20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lithospheric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plates are not made up of discrete blocks that behave independently of </a:t>
            </a:r>
            <a:r>
              <a:rPr kumimoji="0" lang="en-GB" sz="20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eachother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GB" sz="2000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sz="2000" noProof="0" dirty="0"/>
              <a:t>The lithosphere is rigid enough to resist changes in the load caused by thickening </a:t>
            </a:r>
            <a:r>
              <a:rPr lang="en-GB" sz="2000" dirty="0"/>
              <a:t>/</a:t>
            </a:r>
            <a:r>
              <a:rPr lang="en-GB" sz="2000" noProof="0" dirty="0"/>
              <a:t>thinning or density contrasts over wavelengths of &lt; 100 km.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GB" sz="2000" dirty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GB" sz="2000" dirty="0"/>
              <a:t>But changes in load over wavelengths of &gt; 100 km are fully compensated for by elastic flexure of the lithosphere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GB" sz="2000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000" b="0" i="0" u="none" strike="noStrike" kern="120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2" cstate="print"/>
          <a:srcRect l="19207" t="39024" r="42378" b="19512"/>
          <a:stretch>
            <a:fillRect/>
          </a:stretch>
        </p:blipFill>
        <p:spPr bwMode="auto">
          <a:xfrm>
            <a:off x="1547664" y="4743103"/>
            <a:ext cx="3179430" cy="1930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 cstate="print"/>
          <a:srcRect l="19191" t="46060" r="44345" b="16410"/>
          <a:stretch>
            <a:fillRect/>
          </a:stretch>
        </p:blipFill>
        <p:spPr bwMode="auto">
          <a:xfrm>
            <a:off x="5580112" y="4828338"/>
            <a:ext cx="2952328" cy="1709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/>
          <p:cNvSpPr txBox="1"/>
          <p:nvPr/>
        </p:nvSpPr>
        <p:spPr>
          <a:xfrm>
            <a:off x="210391" y="5285559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“Local” </a:t>
            </a:r>
            <a:r>
              <a:rPr lang="en-GB" sz="2000" b="1" dirty="0" err="1"/>
              <a:t>isostacy</a:t>
            </a:r>
            <a:endParaRPr lang="en-GB" sz="20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7884368" y="5308177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Flexure</a:t>
            </a:r>
          </a:p>
        </p:txBody>
      </p:sp>
      <p:sp>
        <p:nvSpPr>
          <p:cNvPr id="2" name="Rectangle 1"/>
          <p:cNvSpPr/>
          <p:nvPr/>
        </p:nvSpPr>
        <p:spPr>
          <a:xfrm>
            <a:off x="288032" y="1274771"/>
            <a:ext cx="7164288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2.  </a:t>
            </a:r>
            <a:r>
              <a:rPr lang="en-US" b="1" u="sng" dirty="0">
                <a:latin typeface="Arial" pitchFamily="34" charset="0"/>
                <a:cs typeface="Arial" pitchFamily="34" charset="0"/>
              </a:rPr>
              <a:t>Flexural loading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(and unloading) of the lithosphere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Behaviour of the lithosphere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215516" y="1295336"/>
            <a:ext cx="4752528" cy="30963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GB" sz="2000" dirty="0"/>
              <a:t>Up to 10,000 years ago, Scotland was loaded with a major Ice Cap.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GB" sz="2000" dirty="0"/>
              <a:t>Now that it has melted, the “Airy Isostacy” model would have Scotland “rebounding” upwards”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GB" sz="2000" dirty="0"/>
              <a:t>But… southern England is also sinking downward in response to Scotland uplifting.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GB" sz="2000" dirty="0"/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GB" sz="2000" dirty="0"/>
              <a:t>This is because the crust does not behave as individual blocks.</a:t>
            </a:r>
          </a:p>
        </p:txBody>
      </p:sp>
      <p:pic>
        <p:nvPicPr>
          <p:cNvPr id="18" name="Picture 2" descr="http://www.climatenortheast.com/contentControl/documentControl/Rates%20of%20Isostatic%20Rebound.gi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64"/>
          <a:stretch/>
        </p:blipFill>
        <p:spPr bwMode="auto">
          <a:xfrm>
            <a:off x="4991680" y="1196752"/>
            <a:ext cx="3900800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3" cstate="print"/>
          <a:srcRect l="19207" t="39024" r="42378" b="19512"/>
          <a:stretch>
            <a:fillRect/>
          </a:stretch>
        </p:blipFill>
        <p:spPr bwMode="auto">
          <a:xfrm>
            <a:off x="2987824" y="5242237"/>
            <a:ext cx="2176228" cy="1321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4" cstate="print"/>
          <a:srcRect l="19191" t="46060" r="44345" b="16410"/>
          <a:stretch>
            <a:fillRect/>
          </a:stretch>
        </p:blipFill>
        <p:spPr bwMode="auto">
          <a:xfrm>
            <a:off x="5436096" y="5271165"/>
            <a:ext cx="2232248" cy="1292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/>
          <p:cNvSpPr txBox="1"/>
          <p:nvPr/>
        </p:nvSpPr>
        <p:spPr>
          <a:xfrm>
            <a:off x="1771682" y="5541677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“Local” </a:t>
            </a:r>
            <a:r>
              <a:rPr lang="en-GB" sz="2000" b="1" dirty="0" err="1"/>
              <a:t>isostacy</a:t>
            </a:r>
            <a:endParaRPr lang="en-GB" sz="20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6931099" y="5610322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Flexure</a:t>
            </a:r>
          </a:p>
        </p:txBody>
      </p:sp>
    </p:spTree>
    <p:extLst>
      <p:ext uri="{BB962C8B-B14F-4D97-AF65-F5344CB8AC3E}">
        <p14:creationId xmlns:p14="http://schemas.microsoft.com/office/powerpoint/2010/main" val="152645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Image result for dynamic topograph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08"/>
          <a:stretch/>
        </p:blipFill>
        <p:spPr bwMode="auto">
          <a:xfrm>
            <a:off x="323528" y="3877104"/>
            <a:ext cx="5265909" cy="275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Behaviour of the lithosphere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3647" y="1124744"/>
            <a:ext cx="8712968" cy="72008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 3. </a:t>
            </a:r>
            <a:r>
              <a:rPr lang="en-US" sz="2000" b="1" u="sng" dirty="0">
                <a:latin typeface="Arial" pitchFamily="34" charset="0"/>
                <a:cs typeface="Arial" pitchFamily="34" charset="0"/>
              </a:rPr>
              <a:t>Dynamic effects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– effects of flow in the mantle</a:t>
            </a:r>
            <a:endParaRPr lang="en-GB" sz="2000" dirty="0"/>
          </a:p>
        </p:txBody>
      </p:sp>
      <p:sp>
        <p:nvSpPr>
          <p:cNvPr id="7" name="Rectangle 6"/>
          <p:cNvSpPr/>
          <p:nvPr/>
        </p:nvSpPr>
        <p:spPr>
          <a:xfrm>
            <a:off x="137334" y="1914329"/>
            <a:ext cx="838893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This is the easiest to understand….</a:t>
            </a:r>
          </a:p>
          <a:p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Upwelling of hotter, less dense (and more voluminous) material in the mantle results in upward flexure of the overlying lithosphere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Sinking of cooler, more dense (and less voluminous) material results in </a:t>
            </a:r>
            <a:r>
              <a:rPr lang="en-GB" sz="2000" dirty="0" smtClean="0"/>
              <a:t>downward </a:t>
            </a:r>
            <a:r>
              <a:rPr lang="en-GB" sz="2000" dirty="0"/>
              <a:t>withdrawal of the lithosphere.  </a:t>
            </a:r>
          </a:p>
        </p:txBody>
      </p:sp>
      <p:pic>
        <p:nvPicPr>
          <p:cNvPr id="19460" name="Picture 4" descr="Image result for mantle convection mantle topography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08"/>
          <a:stretch/>
        </p:blipFill>
        <p:spPr bwMode="auto">
          <a:xfrm>
            <a:off x="5724127" y="4149080"/>
            <a:ext cx="3297831" cy="1906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415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0D5125-9564-49E8-8284-64D44971FD58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3636"/>
            <a:ext cx="9144000" cy="686163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E044A0-2020-4631-B8F6-B6FB53B02F62}"/>
              </a:ext>
            </a:extLst>
          </p:cNvPr>
          <p:cNvSpPr txBox="1">
            <a:spLocks/>
          </p:cNvSpPr>
          <p:nvPr/>
        </p:nvSpPr>
        <p:spPr>
          <a:xfrm>
            <a:off x="6174680" y="6165304"/>
            <a:ext cx="2952328" cy="296780"/>
          </a:xfrm>
          <a:prstGeom prst="rect">
            <a:avLst/>
          </a:prstGeom>
          <a:noFill/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500" b="1" dirty="0">
                <a:latin typeface="Arial" pitchFamily="34" charset="0"/>
                <a:cs typeface="Arial" pitchFamily="34" charset="0"/>
              </a:rPr>
              <a:t>Pyrenees </a:t>
            </a:r>
          </a:p>
          <a:p>
            <a:pPr algn="r"/>
            <a:r>
              <a:rPr lang="en-GB" sz="1500" b="1" dirty="0">
                <a:latin typeface="Arial" pitchFamily="34" charset="0"/>
                <a:cs typeface="Arial" pitchFamily="34" charset="0"/>
              </a:rPr>
              <a:t>of France and Spain</a:t>
            </a:r>
            <a:endParaRPr lang="en-GB" sz="1800" dirty="0">
              <a:latin typeface="Arial" pitchFamily="34" charset="0"/>
              <a:cs typeface="Arial" pitchFamily="34" charset="0"/>
            </a:endParaRPr>
          </a:p>
          <a:p>
            <a:pPr algn="r"/>
            <a:endParaRPr lang="en-GB" sz="15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D55A0DF-C3D4-4CA3-B59D-FA8666EFFF79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1916832"/>
            <a:ext cx="8928992" cy="3528392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EART11100: </a:t>
            </a: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Understanding t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he Earth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A dynamic Planet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Vertical crustal movement in </a:t>
            </a:r>
            <a:r>
              <a:rPr lang="en-GB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different </a:t>
            </a: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tectonic </a:t>
            </a:r>
            <a:r>
              <a:rPr lang="en-GB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settings</a:t>
            </a:r>
            <a:endParaRPr kumimoji="0" lang="en-GB" sz="4800" b="1" i="0" u="none" strike="noStrike" kern="1200" cap="none" spc="0" normalizeH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1044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9672" y="1178750"/>
            <a:ext cx="5832648" cy="3586094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9755" y="5011344"/>
            <a:ext cx="8964489" cy="1440160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itchFamily="34" charset="0"/>
              </a:rPr>
              <a:t>… you should be able to…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describe where isostacy, flexural loading, and dynamic effects happen in different plate tectonic settings, and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predict where topography and vertical crustal movement might be expected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7664" y="2636912"/>
            <a:ext cx="2808312" cy="64807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15699D5-9C24-44CF-BEED-22B237E1D07C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chemeClr val="bg1"/>
                </a:solidFill>
                <a:latin typeface="Bookman Old Style" panose="02050604050505020204" pitchFamily="18" charset="0"/>
                <a:ea typeface="Adobe Fangsong Std R" pitchFamily="18" charset="-128"/>
                <a:cs typeface="+mj-cs"/>
              </a:rPr>
              <a:t>Intended learning outcomes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ookman Old Style" panose="02050604050505020204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27180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figure 20-12.jpg                                               0000D7E6Macintosh HD                   ABA78158: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111364"/>
            <a:ext cx="6472026" cy="3626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5558" y="1124744"/>
            <a:ext cx="856895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The transmission of horizontal tectonic forces (stress) through the 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lithopshere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results in its mechanical deformation (strain). </a:t>
            </a:r>
          </a:p>
          <a:p>
            <a:pPr marL="342900" indent="-342900">
              <a:buFont typeface="Arial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Broadly…</a:t>
            </a:r>
          </a:p>
          <a:p>
            <a:r>
              <a:rPr lang="en-GB" sz="2000" b="1" dirty="0">
                <a:solidFill>
                  <a:srgbClr val="E1AA1F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GB" sz="2000" b="1" u="sng" dirty="0">
                <a:solidFill>
                  <a:srgbClr val="E1AA1F"/>
                </a:solidFill>
                <a:latin typeface="Arial" pitchFamily="34" charset="0"/>
                <a:cs typeface="Arial" pitchFamily="34" charset="0"/>
              </a:rPr>
              <a:t>Divergence: leads to thinning </a:t>
            </a:r>
          </a:p>
          <a:p>
            <a:r>
              <a:rPr lang="en-GB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GB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Convergence leads to thickening </a:t>
            </a:r>
          </a:p>
          <a:p>
            <a:r>
              <a:rPr lang="en-GB" sz="2000" b="1" dirty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GB" sz="2000" b="1" u="sng" dirty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Conservatism leads to little change </a:t>
            </a:r>
          </a:p>
          <a:p>
            <a:pPr marL="342900" indent="-342900">
              <a:buFont typeface="Arial"/>
              <a:buChar char="•"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423B15-9F8D-47C8-B8DA-9B6B01F3795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7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Global tectonics</a:t>
            </a:r>
          </a:p>
        </p:txBody>
      </p:sp>
    </p:spTree>
    <p:extLst>
      <p:ext uri="{BB962C8B-B14F-4D97-AF65-F5344CB8AC3E}">
        <p14:creationId xmlns:p14="http://schemas.microsoft.com/office/powerpoint/2010/main" val="196184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860032" y="2450163"/>
            <a:ext cx="4392488" cy="3571125"/>
          </a:xfrm>
        </p:spPr>
        <p:txBody>
          <a:bodyPr>
            <a:noAutofit/>
          </a:bodyPr>
          <a:lstStyle/>
          <a:p>
            <a:endParaRPr lang="en-GB" sz="2000" dirty="0"/>
          </a:p>
          <a:p>
            <a:r>
              <a:rPr lang="en-GB" sz="2000" dirty="0"/>
              <a:t>Thinned crust leads to:</a:t>
            </a:r>
          </a:p>
          <a:p>
            <a:pPr>
              <a:buNone/>
            </a:pPr>
            <a:r>
              <a:rPr lang="en-GB" sz="2000" dirty="0"/>
              <a:t>	</a:t>
            </a:r>
            <a:r>
              <a:rPr lang="en-GB" sz="2000" dirty="0">
                <a:sym typeface="Wingdings" pitchFamily="2" charset="2"/>
              </a:rPr>
              <a:t>basin formation (topographic low) - </a:t>
            </a:r>
            <a:r>
              <a:rPr lang="en-GB" sz="2000" dirty="0"/>
              <a:t>the </a:t>
            </a:r>
            <a:r>
              <a:rPr lang="en-GB" sz="2000" dirty="0" err="1"/>
              <a:t>isostatic</a:t>
            </a:r>
            <a:r>
              <a:rPr lang="en-GB" sz="2000" dirty="0"/>
              <a:t> response to thinning at the Earth’s surface (Airy </a:t>
            </a:r>
            <a:r>
              <a:rPr lang="en-GB" sz="2000" dirty="0" err="1"/>
              <a:t>isostacy</a:t>
            </a:r>
            <a:r>
              <a:rPr lang="en-GB" sz="2000" dirty="0"/>
              <a:t>).</a:t>
            </a:r>
          </a:p>
          <a:p>
            <a:pPr>
              <a:buNone/>
            </a:pPr>
            <a:r>
              <a:rPr lang="en-GB" sz="2000" dirty="0"/>
              <a:t>	</a:t>
            </a:r>
            <a:r>
              <a:rPr lang="en-GB" sz="2000" dirty="0">
                <a:sym typeface="Wingdings" pitchFamily="2" charset="2"/>
              </a:rPr>
              <a:t>high heat flow</a:t>
            </a:r>
          </a:p>
          <a:p>
            <a:pPr>
              <a:buNone/>
            </a:pPr>
            <a:r>
              <a:rPr lang="en-GB" sz="2000" dirty="0">
                <a:sym typeface="Wingdings" pitchFamily="2" charset="2"/>
              </a:rPr>
              <a:t>	volcanic activity</a:t>
            </a:r>
          </a:p>
          <a:p>
            <a:pPr>
              <a:buNone/>
            </a:pPr>
            <a:endParaRPr lang="en-GB" sz="2000" dirty="0">
              <a:sym typeface="Wingdings" pitchFamily="2" charset="2"/>
            </a:endParaRPr>
          </a:p>
          <a:p>
            <a:r>
              <a:rPr lang="en-GB" sz="2000" dirty="0">
                <a:sym typeface="Wingdings" pitchFamily="2" charset="2"/>
              </a:rPr>
              <a:t>Two types of extension: “passive” and “active”.</a:t>
            </a:r>
          </a:p>
          <a:p>
            <a:endParaRPr lang="en-GB" sz="2000" dirty="0">
              <a:sym typeface="Wingdings" pitchFamily="2" charset="2"/>
            </a:endParaRPr>
          </a:p>
          <a:p>
            <a:r>
              <a:rPr lang="en-GB" sz="2000" dirty="0">
                <a:sym typeface="Wingdings" pitchFamily="2" charset="2"/>
              </a:rPr>
              <a:t>Flanks uplift through </a:t>
            </a:r>
            <a:r>
              <a:rPr lang="en-GB" sz="2000" dirty="0" err="1">
                <a:sym typeface="Wingdings" pitchFamily="2" charset="2"/>
              </a:rPr>
              <a:t>isostatically</a:t>
            </a:r>
            <a:endParaRPr lang="en-GB" sz="2000" dirty="0"/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 cstate="print"/>
          <a:srcRect l="26802" t="23243" r="25476" b="11676"/>
          <a:stretch>
            <a:fillRect/>
          </a:stretch>
        </p:blipFill>
        <p:spPr bwMode="auto">
          <a:xfrm>
            <a:off x="107504" y="2636912"/>
            <a:ext cx="4536504" cy="4040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6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Vertical</a:t>
            </a:r>
            <a:r>
              <a:rPr kumimoji="0" lang="en-GB" sz="37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movement during extension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07504" y="1124744"/>
            <a:ext cx="9145016" cy="48965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u="sng" dirty="0"/>
              <a:t>Extensional strain (stretching) of the lithosphere results in thinning of the lithosphere</a:t>
            </a:r>
            <a:r>
              <a:rPr lang="en-GB" sz="2000" dirty="0"/>
              <a:t>.</a:t>
            </a:r>
          </a:p>
          <a:p>
            <a:pPr>
              <a:buFont typeface="Arial" pitchFamily="34" charset="0"/>
              <a:buNone/>
            </a:pPr>
            <a:r>
              <a:rPr lang="en-GB" sz="2000" dirty="0"/>
              <a:t>	</a:t>
            </a:r>
            <a:r>
              <a:rPr lang="en-GB" sz="2000" dirty="0">
                <a:sym typeface="Wingdings" pitchFamily="2" charset="2"/>
              </a:rPr>
              <a:t>Brittle normal faulting near surface</a:t>
            </a:r>
          </a:p>
          <a:p>
            <a:pPr>
              <a:buFont typeface="Arial" pitchFamily="34" charset="0"/>
              <a:buNone/>
            </a:pPr>
            <a:r>
              <a:rPr lang="en-GB" sz="2000" dirty="0">
                <a:sym typeface="Wingdings" pitchFamily="2" charset="2"/>
              </a:rPr>
              <a:t>	ductile stretch of the lower lithosphere</a:t>
            </a:r>
            <a:endParaRPr 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07504" y="5686182"/>
            <a:ext cx="8578924" cy="1080120"/>
          </a:xfrm>
        </p:spPr>
        <p:txBody>
          <a:bodyPr>
            <a:noAutofit/>
          </a:bodyPr>
          <a:lstStyle/>
          <a:p>
            <a:r>
              <a:rPr lang="en-GB" sz="2000" dirty="0"/>
              <a:t>Regional extension causes rifting (thinning) of the lithosphere</a:t>
            </a:r>
          </a:p>
          <a:p>
            <a:r>
              <a:rPr lang="en-GB" sz="2000" dirty="0"/>
              <a:t>Thinning causes decompression melting, and upwelling of the asthenosphere follows. E.g. Basin-and-range, USA.</a:t>
            </a: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15856" t="10424" r="49992" b="51629"/>
          <a:stretch/>
        </p:blipFill>
        <p:spPr bwMode="auto">
          <a:xfrm>
            <a:off x="107504" y="1124744"/>
            <a:ext cx="4032448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Image result for basin and range de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094811"/>
            <a:ext cx="3754388" cy="418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2" name="Picture 2" descr="Image result for basin and range cross sec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813115"/>
            <a:ext cx="2676525" cy="170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E6CFFA07-783E-4FF6-B448-751AB980C99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6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Vertical</a:t>
            </a:r>
            <a:r>
              <a:rPr kumimoji="0" lang="en-GB" sz="37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movement during extension</a:t>
            </a:r>
          </a:p>
        </p:txBody>
      </p:sp>
    </p:spTree>
    <p:extLst>
      <p:ext uri="{BB962C8B-B14F-4D97-AF65-F5344CB8AC3E}">
        <p14:creationId xmlns:p14="http://schemas.microsoft.com/office/powerpoint/2010/main" val="2628243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15298" y="4509120"/>
            <a:ext cx="3952646" cy="1304764"/>
          </a:xfrm>
        </p:spPr>
        <p:txBody>
          <a:bodyPr>
            <a:noAutofit/>
          </a:bodyPr>
          <a:lstStyle/>
          <a:p>
            <a:r>
              <a:rPr lang="en-GB" sz="2000" dirty="0"/>
              <a:t>Hot mantle plume causes uplift of the lithosphere</a:t>
            </a:r>
          </a:p>
          <a:p>
            <a:r>
              <a:rPr lang="en-GB" sz="2000" dirty="0"/>
              <a:t>Regional extension is caused by collapse under gravitational potential.</a:t>
            </a:r>
          </a:p>
          <a:p>
            <a:r>
              <a:rPr lang="en-GB" sz="2000" dirty="0"/>
              <a:t>E.g. East African Rift</a:t>
            </a: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15856" t="50540" r="49992" b="5008"/>
          <a:stretch/>
        </p:blipFill>
        <p:spPr bwMode="auto">
          <a:xfrm>
            <a:off x="115298" y="1195065"/>
            <a:ext cx="4032448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4" name="Picture 6" descr="Image result for east african rift de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195065"/>
            <a:ext cx="4403730" cy="53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84128CDA-46F1-4743-A668-C4E2D7559A2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6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Vertical</a:t>
            </a:r>
            <a:r>
              <a:rPr kumimoji="0" lang="en-GB" sz="37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movement during extension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http://elearning.stkc.go.th/lms/html%20/earth_science/LOcanada4/403/images/1_2.jpg"/>
          <p:cNvPicPr>
            <a:picLocks noChangeAspect="1" noChangeArrowheads="1"/>
          </p:cNvPicPr>
          <p:nvPr/>
        </p:nvPicPr>
        <p:blipFill>
          <a:blip r:embed="rId2" cstate="print"/>
          <a:srcRect b="9281"/>
          <a:stretch>
            <a:fillRect/>
          </a:stretch>
        </p:blipFill>
        <p:spPr bwMode="auto">
          <a:xfrm>
            <a:off x="395536" y="2708920"/>
            <a:ext cx="4392488" cy="3996228"/>
          </a:xfrm>
          <a:prstGeom prst="rect">
            <a:avLst/>
          </a:prstGeom>
          <a:noFill/>
        </p:spPr>
      </p:pic>
      <p:pic>
        <p:nvPicPr>
          <p:cNvPr id="8" name="Picture 4" descr="fig8"/>
          <p:cNvPicPr>
            <a:picLocks noChangeAspect="1" noChangeArrowheads="1"/>
          </p:cNvPicPr>
          <p:nvPr/>
        </p:nvPicPr>
        <p:blipFill>
          <a:blip r:embed="rId3" cstate="print"/>
          <a:srcRect l="7764" t="6907" r="4895"/>
          <a:stretch>
            <a:fillRect/>
          </a:stretch>
        </p:blipFill>
        <p:spPr bwMode="auto">
          <a:xfrm>
            <a:off x="5652120" y="2975669"/>
            <a:ext cx="3240360" cy="3882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9512" y="1412776"/>
            <a:ext cx="8640960" cy="4068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80975" marR="0" lvl="0" indent="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600" baseline="0" dirty="0">
              <a:latin typeface="Arial" pitchFamily="34" charset="0"/>
              <a:cs typeface="Arial" pitchFamily="34" charset="0"/>
            </a:endParaRPr>
          </a:p>
          <a:p>
            <a:pPr marL="180975" marR="0" lvl="0" indent="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180975" marR="0" lvl="0" indent="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180975" marR="0" lvl="0" indent="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19518" y="1161059"/>
            <a:ext cx="8916978" cy="4320480"/>
          </a:xfrm>
        </p:spPr>
        <p:txBody>
          <a:bodyPr>
            <a:noAutofit/>
          </a:bodyPr>
          <a:lstStyle/>
          <a:p>
            <a:pPr lvl="0"/>
            <a:r>
              <a:rPr lang="en-GB" sz="2000" dirty="0">
                <a:latin typeface="Arial" pitchFamily="34" charset="0"/>
                <a:cs typeface="Arial" pitchFamily="34" charset="0"/>
              </a:rPr>
              <a:t>If strain rates are maintained, mantle upwelling leads to the formation of oceanic crust, and continental rifts evolve into Ocean basins.</a:t>
            </a:r>
          </a:p>
          <a:p>
            <a:pPr lvl="0"/>
            <a:r>
              <a:rPr lang="en-GB" sz="2000" dirty="0">
                <a:latin typeface="Arial" pitchFamily="34" charset="0"/>
                <a:cs typeface="Arial" pitchFamily="34" charset="0"/>
              </a:rPr>
              <a:t>Oceanic crust (basic) is denser (2.9) compared to continental crust (granitic, 2.7), so the crust sits lower in the asthenosphere (Pratt </a:t>
            </a:r>
            <a:r>
              <a:rPr lang="en-GB" sz="2000" dirty="0" err="1">
                <a:latin typeface="Arial" pitchFamily="34" charset="0"/>
                <a:cs typeface="Arial" pitchFamily="34" charset="0"/>
              </a:rPr>
              <a:t>Isostacy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2" name="Oval 1"/>
          <p:cNvSpPr/>
          <p:nvPr/>
        </p:nvSpPr>
        <p:spPr>
          <a:xfrm>
            <a:off x="6300192" y="3861048"/>
            <a:ext cx="1224136" cy="43204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C4B153A4-2A80-473E-9A84-D25DC52DB0D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6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Vertical</a:t>
            </a:r>
            <a:r>
              <a:rPr kumimoji="0" lang="en-GB" sz="37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movement during extension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40" t="26538" r="32424" b="21347"/>
          <a:stretch/>
        </p:blipFill>
        <p:spPr bwMode="auto">
          <a:xfrm>
            <a:off x="467544" y="2111389"/>
            <a:ext cx="4886762" cy="441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649841" y="5998465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Jurassic (~150 Ma) of the North Sea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5248" y="5037621"/>
            <a:ext cx="2312856" cy="646331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Rifting in North Sea (failed rift)</a:t>
            </a:r>
          </a:p>
        </p:txBody>
      </p:sp>
      <p:cxnSp>
        <p:nvCxnSpPr>
          <p:cNvPr id="14" name="Straight Arrow Connector 13"/>
          <p:cNvCxnSpPr>
            <a:stCxn id="12" idx="1"/>
          </p:cNvCxnSpPr>
          <p:nvPr/>
        </p:nvCxnSpPr>
        <p:spPr>
          <a:xfrm flipH="1">
            <a:off x="2251930" y="5360787"/>
            <a:ext cx="943318" cy="2172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96919" y="2994724"/>
            <a:ext cx="1611185" cy="646331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Rifting in North Atlantic</a:t>
            </a:r>
          </a:p>
        </p:txBody>
      </p:sp>
      <p:cxnSp>
        <p:nvCxnSpPr>
          <p:cNvPr id="17" name="Straight Arrow Connector 16"/>
          <p:cNvCxnSpPr>
            <a:stCxn id="16" idx="1"/>
          </p:cNvCxnSpPr>
          <p:nvPr/>
        </p:nvCxnSpPr>
        <p:spPr>
          <a:xfrm flipH="1">
            <a:off x="2833619" y="3317890"/>
            <a:ext cx="1063300" cy="2172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46596" y="2362848"/>
            <a:ext cx="1128833" cy="646331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Greenland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110" y="5304143"/>
            <a:ext cx="437386" cy="646331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UK</a:t>
            </a:r>
          </a:p>
        </p:txBody>
      </p:sp>
      <p:sp>
        <p:nvSpPr>
          <p:cNvPr id="23" name="TextBox 22"/>
          <p:cNvSpPr txBox="1"/>
          <p:nvPr/>
        </p:nvSpPr>
        <p:spPr>
          <a:xfrm rot="19754386">
            <a:off x="2932892" y="4200571"/>
            <a:ext cx="879855" cy="646331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Norway</a:t>
            </a:r>
          </a:p>
        </p:txBody>
      </p:sp>
      <p:pic>
        <p:nvPicPr>
          <p:cNvPr id="13" name="Picture 4" descr="fig8"/>
          <p:cNvPicPr>
            <a:picLocks noChangeAspect="1" noChangeArrowheads="1"/>
          </p:cNvPicPr>
          <p:nvPr/>
        </p:nvPicPr>
        <p:blipFill>
          <a:blip r:embed="rId3" cstate="print"/>
          <a:srcRect l="7764" t="6907" r="4895"/>
          <a:stretch>
            <a:fillRect/>
          </a:stretch>
        </p:blipFill>
        <p:spPr bwMode="auto">
          <a:xfrm>
            <a:off x="6027890" y="2060848"/>
            <a:ext cx="2936598" cy="3518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Oval 18"/>
          <p:cNvSpPr/>
          <p:nvPr/>
        </p:nvSpPr>
        <p:spPr>
          <a:xfrm>
            <a:off x="7308304" y="3590166"/>
            <a:ext cx="1224136" cy="43204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-7661" y="1010912"/>
            <a:ext cx="8784976" cy="432048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latin typeface="Arial" pitchFamily="34" charset="0"/>
                <a:cs typeface="Arial" pitchFamily="34" charset="0"/>
              </a:rPr>
              <a:t>Failed rifts (“</a:t>
            </a:r>
            <a:r>
              <a:rPr lang="en-GB" sz="2000" dirty="0" err="1">
                <a:latin typeface="Arial" pitchFamily="34" charset="0"/>
                <a:cs typeface="Arial" pitchFamily="34" charset="0"/>
              </a:rPr>
              <a:t>aulacogens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”) are basins floored by oceanic crust, but where extensional strain has not been maintained, and the geothermal gradient has returned to (near) normal.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CCD8F8E8-A1A9-46ED-9725-385C641ACA1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6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Vertical</a:t>
            </a:r>
            <a:r>
              <a:rPr kumimoji="0" lang="en-GB" sz="37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movement during extension</a:t>
            </a:r>
          </a:p>
        </p:txBody>
      </p:sp>
    </p:spTree>
    <p:extLst>
      <p:ext uri="{BB962C8B-B14F-4D97-AF65-F5344CB8AC3E}">
        <p14:creationId xmlns:p14="http://schemas.microsoft.com/office/powerpoint/2010/main" val="357921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 descr="fig8"/>
          <p:cNvPicPr>
            <a:picLocks noChangeAspect="1" noChangeArrowheads="1"/>
          </p:cNvPicPr>
          <p:nvPr/>
        </p:nvPicPr>
        <p:blipFill>
          <a:blip r:embed="rId2" cstate="print"/>
          <a:srcRect l="7764" t="6907" r="4895"/>
          <a:stretch>
            <a:fillRect/>
          </a:stretch>
        </p:blipFill>
        <p:spPr bwMode="auto">
          <a:xfrm>
            <a:off x="6027890" y="2060848"/>
            <a:ext cx="2936598" cy="3518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Oval 18"/>
          <p:cNvSpPr/>
          <p:nvPr/>
        </p:nvSpPr>
        <p:spPr>
          <a:xfrm>
            <a:off x="6948264" y="4437112"/>
            <a:ext cx="1224136" cy="43204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196720" y="1268760"/>
            <a:ext cx="8407728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Continued extension leads to the formation of ocean crust proper.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E.g. all the World’s major Oceans.</a:t>
            </a:r>
          </a:p>
        </p:txBody>
      </p:sp>
      <p:pic>
        <p:nvPicPr>
          <p:cNvPr id="62466" name="Picture 2" descr="http://upload.wikimedia.org/wikipedia/commons/c/ce/Atlantic_bathymetry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2444519"/>
            <a:ext cx="4392488" cy="4222531"/>
          </a:xfrm>
          <a:prstGeom prst="rect">
            <a:avLst/>
          </a:prstGeom>
          <a:noFill/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1863BD81-4335-4669-9D7C-9318365F2A2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6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Vertical</a:t>
            </a:r>
            <a:r>
              <a:rPr kumimoji="0" lang="en-GB" sz="37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movement during extension</a:t>
            </a:r>
          </a:p>
        </p:txBody>
      </p:sp>
    </p:spTree>
    <p:extLst>
      <p:ext uri="{BB962C8B-B14F-4D97-AF65-F5344CB8AC3E}">
        <p14:creationId xmlns:p14="http://schemas.microsoft.com/office/powerpoint/2010/main" val="1084308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 descr="Fig18"/>
          <p:cNvPicPr>
            <a:picLocks noChangeAspect="1" noChangeArrowheads="1"/>
          </p:cNvPicPr>
          <p:nvPr/>
        </p:nvPicPr>
        <p:blipFill>
          <a:blip r:embed="rId2" cstate="print"/>
          <a:srcRect t="-204" b="68519"/>
          <a:stretch>
            <a:fillRect/>
          </a:stretch>
        </p:blipFill>
        <p:spPr bwMode="auto">
          <a:xfrm>
            <a:off x="179511" y="3933056"/>
            <a:ext cx="8774229" cy="279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79511" y="1196752"/>
            <a:ext cx="82809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During oceanic-oceanic and continental-oceanic collision, partial melting of the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subducting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slab, intrusion of melts into the overlying crust results in thickening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Accretionary prism of “scraped” sediment from the upper part of the ocean crust contributes too.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Results in thickened overlying slab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Surface uplift due to Airy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Isostacy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5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Vertical movement during contraction</a:t>
            </a:r>
          </a:p>
        </p:txBody>
      </p:sp>
    </p:spTree>
    <p:extLst>
      <p:ext uri="{BB962C8B-B14F-4D97-AF65-F5344CB8AC3E}">
        <p14:creationId xmlns:p14="http://schemas.microsoft.com/office/powerpoint/2010/main" val="4099743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ttps://upload.wikimedia.org/wikipedia/commons/b/b1/Japan_separa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692" y="1199383"/>
            <a:ext cx="6416616" cy="451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79512" y="5805264"/>
            <a:ext cx="84918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The Japanese Archipelago is an example of this.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	…but why is there extension behind the Arc (South China Sea), when 	this is a collisional setting?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AF8FAF-D986-4036-831E-3F5617FD81A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5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Vertical movement during contraction</a:t>
            </a:r>
          </a:p>
        </p:txBody>
      </p:sp>
    </p:spTree>
    <p:extLst>
      <p:ext uri="{BB962C8B-B14F-4D97-AF65-F5344CB8AC3E}">
        <p14:creationId xmlns:p14="http://schemas.microsoft.com/office/powerpoint/2010/main" val="3741847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9512" y="1268760"/>
            <a:ext cx="43204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Typically, the angle of subduction of the underlying crust typically steepens with time.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Leading to extension behind the Arc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Back Arc Basins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 Another mechanism for 	Passive Rifting.</a:t>
            </a:r>
          </a:p>
          <a:p>
            <a:pPr marL="742950" lvl="1" indent="-285750">
              <a:buFont typeface="Wingdings" panose="05000000000000000000" pitchFamily="2" charset="2"/>
              <a:buChar char="à"/>
            </a:pPr>
            <a:endParaRPr lang="en-GB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So, counterintuitively, collision in Ocean-Ocean, and Ocean-Continental settings leads to Uplift, (Island, and Oceanic Arcs) and subsidence (Back Arc Basins)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004048" y="1214672"/>
            <a:ext cx="3788694" cy="5301209"/>
            <a:chOff x="3984986" y="421439"/>
            <a:chExt cx="4735748" cy="6436562"/>
          </a:xfrm>
        </p:grpSpPr>
        <p:pic>
          <p:nvPicPr>
            <p:cNvPr id="24578" name="Picture 2" descr="https://www.researchgate.net/profile/Yaoling_Niu/publication/265162711/figure/fig6/AS:295911126257687@1447562118565/Cartoon-illustrating-back-arc-basin-formation-and-growth-The-drifting-overriding_W640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4986" y="2060849"/>
              <a:ext cx="4735748" cy="4797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580" name="Picture 4" descr="https://www.researchgate.net/profile/Yaoling_Niu/publication/265162711/figure/fig4/AS:295911126257679@1447562118479/Cartoon-illustrating-the-cause-of-slab-rollback-Figures-4e-and-5a-show-that-F-B-is-the_W640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793"/>
            <a:stretch/>
          </p:blipFill>
          <p:spPr bwMode="auto">
            <a:xfrm>
              <a:off x="3984986" y="421439"/>
              <a:ext cx="4735748" cy="1639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Rectangle 4">
            <a:extLst>
              <a:ext uri="{FF2B5EF4-FFF2-40B4-BE49-F238E27FC236}">
                <a16:creationId xmlns:a16="http://schemas.microsoft.com/office/drawing/2014/main" id="{BC5FF926-D5FE-4826-A2BF-28B090356F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5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Vertical movement during contraction</a:t>
            </a:r>
          </a:p>
        </p:txBody>
      </p:sp>
    </p:spTree>
    <p:extLst>
      <p:ext uri="{BB962C8B-B14F-4D97-AF65-F5344CB8AC3E}">
        <p14:creationId xmlns:p14="http://schemas.microsoft.com/office/powerpoint/2010/main" val="178992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7" descr="Fig18"/>
          <p:cNvPicPr>
            <a:picLocks noChangeAspect="1" noChangeArrowheads="1"/>
          </p:cNvPicPr>
          <p:nvPr/>
        </p:nvPicPr>
        <p:blipFill>
          <a:blip r:embed="rId2" cstate="print"/>
          <a:srcRect t="39628" b="34345"/>
          <a:stretch>
            <a:fillRect/>
          </a:stretch>
        </p:blipFill>
        <p:spPr bwMode="auto">
          <a:xfrm>
            <a:off x="179512" y="4365104"/>
            <a:ext cx="8864991" cy="231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179512" y="1268760"/>
            <a:ext cx="8784976" cy="2554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Eventual Closure of the ocean leads to continental-continental collision</a:t>
            </a:r>
          </a:p>
          <a:p>
            <a:pPr marL="285750" indent="-285750">
              <a:buFont typeface="Arial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One plate is “forced” under the other</a:t>
            </a:r>
          </a:p>
          <a:p>
            <a:pPr marL="285750" indent="-285750">
              <a:buFont typeface="Arial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Enormous deformation (faulting/folding/metamorphism and partial melting)</a:t>
            </a:r>
          </a:p>
          <a:p>
            <a:pPr marL="285750" indent="-285750">
              <a:buFont typeface="Arial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Results in thickening of the crust.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8DED9B-1050-4722-B056-1BC62A4010D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5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Vertical movement during contraction</a:t>
            </a:r>
          </a:p>
        </p:txBody>
      </p:sp>
    </p:spTree>
    <p:extLst>
      <p:ext uri="{BB962C8B-B14F-4D97-AF65-F5344CB8AC3E}">
        <p14:creationId xmlns:p14="http://schemas.microsoft.com/office/powerpoint/2010/main" val="39042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3F3E2B-E514-4370-A44E-3879AFCE2996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3636"/>
            <a:ext cx="9144000" cy="686163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4F4C92-6BB1-4BF1-B23E-9D75D4343828}"/>
              </a:ext>
            </a:extLst>
          </p:cNvPr>
          <p:cNvCxnSpPr/>
          <p:nvPr/>
        </p:nvCxnSpPr>
        <p:spPr>
          <a:xfrm flipH="1">
            <a:off x="5148064" y="1268760"/>
            <a:ext cx="792088" cy="4752528"/>
          </a:xfrm>
          <a:prstGeom prst="line">
            <a:avLst/>
          </a:prstGeom>
          <a:ln w="76200">
            <a:solidFill>
              <a:srgbClr val="FFFF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4">
            <a:extLst>
              <a:ext uri="{FF2B5EF4-FFF2-40B4-BE49-F238E27FC236}">
                <a16:creationId xmlns:a16="http://schemas.microsoft.com/office/drawing/2014/main" id="{1ABA4143-0DF9-429B-8114-976D4EAAAF3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5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Vertical movement during contraction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231944-1868-467A-934A-24A992F8840F}"/>
              </a:ext>
            </a:extLst>
          </p:cNvPr>
          <p:cNvSpPr txBox="1"/>
          <p:nvPr/>
        </p:nvSpPr>
        <p:spPr>
          <a:xfrm>
            <a:off x="4086112" y="836712"/>
            <a:ext cx="1854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France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FD839B-9307-45E6-A02B-0AD61C68FC8C}"/>
              </a:ext>
            </a:extLst>
          </p:cNvPr>
          <p:cNvSpPr txBox="1"/>
          <p:nvPr/>
        </p:nvSpPr>
        <p:spPr>
          <a:xfrm>
            <a:off x="2875432" y="5229200"/>
            <a:ext cx="1552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Spain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801F87-563F-4335-BD5A-3A6500894534}"/>
              </a:ext>
            </a:extLst>
          </p:cNvPr>
          <p:cNvSpPr txBox="1"/>
          <p:nvPr/>
        </p:nvSpPr>
        <p:spPr>
          <a:xfrm>
            <a:off x="197679" y="1082539"/>
            <a:ext cx="3528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The Pyrenees</a:t>
            </a:r>
          </a:p>
        </p:txBody>
      </p:sp>
    </p:spTree>
    <p:extLst>
      <p:ext uri="{BB962C8B-B14F-4D97-AF65-F5344CB8AC3E}">
        <p14:creationId xmlns:p14="http://schemas.microsoft.com/office/powerpoint/2010/main" val="407729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FD40C8-3C3D-449C-81A5-4AC0CA7014CF}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3752" y="1196752"/>
            <a:ext cx="9036496" cy="5400600"/>
          </a:xfrm>
          <a:prstGeom prst="rect">
            <a:avLst/>
          </a:prstGeom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B35EC99A-0C45-4C99-AA99-93927FF30BB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5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Vertical movement during contraction</a:t>
            </a:r>
          </a:p>
        </p:txBody>
      </p:sp>
    </p:spTree>
    <p:extLst>
      <p:ext uri="{BB962C8B-B14F-4D97-AF65-F5344CB8AC3E}">
        <p14:creationId xmlns:p14="http://schemas.microsoft.com/office/powerpoint/2010/main" val="54591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0" y="1571625"/>
            <a:ext cx="4762500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0" y="4929188"/>
            <a:ext cx="4786313" cy="157162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6372200" y="2420888"/>
            <a:ext cx="2448272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3995936" y="2420888"/>
            <a:ext cx="2376264" cy="25202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820472" y="2420888"/>
            <a:ext cx="0" cy="25202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504" y="1179281"/>
            <a:ext cx="374441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Increase in load on lithosphere through thickening/density increase leads to long wavelength flexure of the lithosphere (regional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isostacy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	Leads to the formation of “foreland basins”.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	Most Mountain Belts have two foreland basis on either side of them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	Again, counterintuitively, continental-continental collision leads to uplift (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Orogens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and subsidence (Foreland Basins)</a:t>
            </a:r>
          </a:p>
          <a:p>
            <a:pPr marL="285750" indent="-285750"/>
            <a:endParaRPr lang="en-GB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Foreland basins receive sediment eroded from the uplifting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Orogen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35C6F5E3-43F4-4D1E-9EC1-1D44AF13B08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5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Vertical movement during contraction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FD40C8-3C3D-449C-81A5-4AC0CA7014CF}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3752" y="1196752"/>
            <a:ext cx="9036496" cy="5400600"/>
          </a:xfrm>
          <a:prstGeom prst="rect">
            <a:avLst/>
          </a:prstGeom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B35EC99A-0C45-4C99-AA99-93927FF30BB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5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Vertical movement during contraction</a:t>
            </a:r>
          </a:p>
        </p:txBody>
      </p:sp>
    </p:spTree>
    <p:extLst>
      <p:ext uri="{BB962C8B-B14F-4D97-AF65-F5344CB8AC3E}">
        <p14:creationId xmlns:p14="http://schemas.microsoft.com/office/powerpoint/2010/main" val="2829908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 cstate="print"/>
          <a:srcRect l="31891" t="7731" b="11093"/>
          <a:stretch>
            <a:fillRect/>
          </a:stretch>
        </p:blipFill>
        <p:spPr bwMode="auto">
          <a:xfrm>
            <a:off x="107504" y="1601276"/>
            <a:ext cx="7344816" cy="4924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5556512" y="1198318"/>
            <a:ext cx="3600400" cy="24006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Modern example: Gulf of Arabia Foreland Basin (continental-continental)</a:t>
            </a:r>
          </a:p>
          <a:p>
            <a:pPr marL="285750" indent="-285750">
              <a:buFont typeface="Arial" pitchFamily="34" charset="0"/>
              <a:buChar char="•"/>
            </a:pP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Thickening of the crust in the Zagros of Iran leads to the formation of a basin</a:t>
            </a:r>
          </a:p>
          <a:p>
            <a:pPr marL="285750" indent="-285750">
              <a:buFont typeface="Arial" pitchFamily="34" charset="0"/>
              <a:buChar char="•"/>
            </a:pP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Insufficient sediment supply to overfill the basin with sediment.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395536" y="4173473"/>
            <a:ext cx="720080" cy="55167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775937" y="5301208"/>
            <a:ext cx="720080" cy="55167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804410" y="5852879"/>
            <a:ext cx="720080" cy="55167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3779912" y="1601276"/>
            <a:ext cx="648072" cy="53158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4247964" y="2132857"/>
            <a:ext cx="648072" cy="53158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4701770" y="2813857"/>
            <a:ext cx="648072" cy="53158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96848" y="5972696"/>
            <a:ext cx="879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Arabia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2609" y="2945328"/>
            <a:ext cx="951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Eurasia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6EF1A61A-C071-44BB-9F7A-A500A8603DF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5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Vertical movement during contraction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9512" y="1196752"/>
            <a:ext cx="1928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GB" b="1" u="sng" dirty="0"/>
              <a:t>FORELAND BAINS: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8566" y="1233689"/>
            <a:ext cx="302433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Modern example: The Himalayan Foreland Basin (continental-continental)</a:t>
            </a:r>
          </a:p>
          <a:p>
            <a:pPr marL="285750" indent="-285750">
              <a:buFont typeface="Arial" pitchFamily="34" charset="0"/>
              <a:buChar char="•"/>
            </a:pP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Extensive topography developed through crustal thickening</a:t>
            </a:r>
          </a:p>
          <a:p>
            <a:pPr marL="285750" indent="-285750">
              <a:buFont typeface="Arial" pitchFamily="34" charset="0"/>
              <a:buChar char="•"/>
            </a:pP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Basin is mature, and “overfilled” </a:t>
            </a:r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 cstate="print"/>
          <a:srcRect l="13603" t="9958" r="36786" b="8957"/>
          <a:stretch>
            <a:fillRect/>
          </a:stretch>
        </p:blipFill>
        <p:spPr bwMode="auto">
          <a:xfrm>
            <a:off x="179512" y="1916831"/>
            <a:ext cx="5165625" cy="4749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43" name="Picture 3"/>
          <p:cNvPicPr>
            <a:picLocks noChangeAspect="1" noChangeArrowheads="1"/>
          </p:cNvPicPr>
          <p:nvPr/>
        </p:nvPicPr>
        <p:blipFill>
          <a:blip r:embed="rId3" cstate="print"/>
          <a:srcRect l="24246" t="8621" r="11746" b="12069"/>
          <a:stretch>
            <a:fillRect/>
          </a:stretch>
        </p:blipFill>
        <p:spPr bwMode="auto">
          <a:xfrm>
            <a:off x="5580112" y="3861048"/>
            <a:ext cx="3202790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6DDA2B3D-B4EC-49B7-8D44-55D98911A82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5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Vertical movement during contraction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4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0" b="55219"/>
          <a:stretch>
            <a:fillRect/>
          </a:stretch>
        </p:blipFill>
        <p:spPr bwMode="auto">
          <a:xfrm>
            <a:off x="1115616" y="4149080"/>
            <a:ext cx="3300412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5508104" y="5805264"/>
            <a:ext cx="3530228" cy="798512"/>
          </a:xfrm>
        </p:spPr>
        <p:txBody>
          <a:bodyPr>
            <a:normAutofit lnSpcReduction="10000"/>
          </a:bodyPr>
          <a:lstStyle/>
          <a:p>
            <a:pPr algn="r" eaLnBrk="1" hangingPunct="1">
              <a:buFont typeface="Arial" charset="0"/>
              <a:buNone/>
            </a:pPr>
            <a:r>
              <a:rPr lang="en-GB" altLang="en-US" sz="1200" b="1" dirty="0">
                <a:latin typeface="Arial" pitchFamily="34" charset="0"/>
                <a:cs typeface="Arial" pitchFamily="34" charset="0"/>
              </a:rPr>
              <a:t>Death Valley, California, is a basin formed through extension (</a:t>
            </a:r>
            <a:r>
              <a:rPr lang="en-GB" altLang="en-US" sz="1200" b="1" dirty="0" err="1">
                <a:latin typeface="Arial" pitchFamily="34" charset="0"/>
                <a:cs typeface="Arial" pitchFamily="34" charset="0"/>
              </a:rPr>
              <a:t>transtension</a:t>
            </a:r>
            <a:r>
              <a:rPr lang="en-GB" altLang="en-US" sz="1200" b="1" dirty="0">
                <a:latin typeface="Arial" pitchFamily="34" charset="0"/>
                <a:cs typeface="Arial" pitchFamily="34" charset="0"/>
              </a:rPr>
              <a:t>) at a strike-slip fault.</a:t>
            </a:r>
          </a:p>
          <a:p>
            <a:pPr algn="r" eaLnBrk="1" hangingPunct="1">
              <a:buFont typeface="Arial" charset="0"/>
              <a:buNone/>
            </a:pPr>
            <a:r>
              <a:rPr lang="en-GB" altLang="en-US" sz="1200" b="1" dirty="0">
                <a:latin typeface="Arial" pitchFamily="34" charset="0"/>
                <a:cs typeface="Arial" pitchFamily="34" charset="0"/>
              </a:rPr>
              <a:t>It’s lowest point is 86m below ASL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796136" y="1556792"/>
            <a:ext cx="2870200" cy="3960813"/>
            <a:chOff x="3379" y="709"/>
            <a:chExt cx="1500" cy="2070"/>
          </a:xfrm>
        </p:grpSpPr>
        <p:pic>
          <p:nvPicPr>
            <p:cNvPr id="37901" name="Picture 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9" y="709"/>
              <a:ext cx="1500" cy="2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02" name="Oval 9"/>
            <p:cNvSpPr>
              <a:spLocks noChangeArrowheads="1"/>
            </p:cNvSpPr>
            <p:nvPr/>
          </p:nvSpPr>
          <p:spPr bwMode="auto">
            <a:xfrm rot="1705453">
              <a:off x="3969" y="2115"/>
              <a:ext cx="771" cy="363"/>
            </a:xfrm>
            <a:prstGeom prst="ellips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</p:grpSp>
      <p:cxnSp>
        <p:nvCxnSpPr>
          <p:cNvPr id="12" name="Straight Connector 11"/>
          <p:cNvCxnSpPr/>
          <p:nvPr/>
        </p:nvCxnSpPr>
        <p:spPr>
          <a:xfrm>
            <a:off x="1285478" y="3506143"/>
            <a:ext cx="3000375" cy="15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2433241" y="3374380"/>
            <a:ext cx="582612" cy="77788"/>
          </a:xfrm>
          <a:custGeom>
            <a:avLst/>
            <a:gdLst>
              <a:gd name="connsiteX0" fmla="*/ 892097 w 3635297"/>
              <a:gd name="connsiteY0" fmla="*/ 315951 h 315951"/>
              <a:gd name="connsiteX1" fmla="*/ 3635297 w 3635297"/>
              <a:gd name="connsiteY1" fmla="*/ 315951 h 315951"/>
              <a:gd name="connsiteX2" fmla="*/ 2081561 w 3635297"/>
              <a:gd name="connsiteY2" fmla="*/ 0 h 315951"/>
              <a:gd name="connsiteX3" fmla="*/ 2226526 w 3635297"/>
              <a:gd name="connsiteY3" fmla="*/ 271346 h 315951"/>
              <a:gd name="connsiteX4" fmla="*/ 0 w 3635297"/>
              <a:gd name="connsiteY4" fmla="*/ 267629 h 315951"/>
              <a:gd name="connsiteX5" fmla="*/ 892097 w 3635297"/>
              <a:gd name="connsiteY5" fmla="*/ 315951 h 315951"/>
              <a:gd name="connsiteX0" fmla="*/ 320625 w 3063825"/>
              <a:gd name="connsiteY0" fmla="*/ 315951 h 315951"/>
              <a:gd name="connsiteX1" fmla="*/ 3063825 w 3063825"/>
              <a:gd name="connsiteY1" fmla="*/ 315951 h 315951"/>
              <a:gd name="connsiteX2" fmla="*/ 1510089 w 3063825"/>
              <a:gd name="connsiteY2" fmla="*/ 0 h 315951"/>
              <a:gd name="connsiteX3" fmla="*/ 1655054 w 3063825"/>
              <a:gd name="connsiteY3" fmla="*/ 271346 h 315951"/>
              <a:gd name="connsiteX4" fmla="*/ 0 w 3063825"/>
              <a:gd name="connsiteY4" fmla="*/ 267629 h 315951"/>
              <a:gd name="connsiteX5" fmla="*/ 320625 w 3063825"/>
              <a:gd name="connsiteY5" fmla="*/ 315951 h 315951"/>
              <a:gd name="connsiteX0" fmla="*/ 0 w 2743200"/>
              <a:gd name="connsiteY0" fmla="*/ 315951 h 315951"/>
              <a:gd name="connsiteX1" fmla="*/ 2743200 w 2743200"/>
              <a:gd name="connsiteY1" fmla="*/ 315951 h 315951"/>
              <a:gd name="connsiteX2" fmla="*/ 1189464 w 2743200"/>
              <a:gd name="connsiteY2" fmla="*/ 0 h 315951"/>
              <a:gd name="connsiteX3" fmla="*/ 1334429 w 2743200"/>
              <a:gd name="connsiteY3" fmla="*/ 271346 h 315951"/>
              <a:gd name="connsiteX4" fmla="*/ 36533 w 2743200"/>
              <a:gd name="connsiteY4" fmla="*/ 267629 h 315951"/>
              <a:gd name="connsiteX5" fmla="*/ 0 w 2743200"/>
              <a:gd name="connsiteY5" fmla="*/ 315951 h 315951"/>
              <a:gd name="connsiteX0" fmla="*/ 106375 w 2849575"/>
              <a:gd name="connsiteY0" fmla="*/ 315951 h 315951"/>
              <a:gd name="connsiteX1" fmla="*/ 2849575 w 2849575"/>
              <a:gd name="connsiteY1" fmla="*/ 315951 h 315951"/>
              <a:gd name="connsiteX2" fmla="*/ 1295839 w 2849575"/>
              <a:gd name="connsiteY2" fmla="*/ 0 h 315951"/>
              <a:gd name="connsiteX3" fmla="*/ 1440804 w 2849575"/>
              <a:gd name="connsiteY3" fmla="*/ 271346 h 315951"/>
              <a:gd name="connsiteX4" fmla="*/ 0 w 2849575"/>
              <a:gd name="connsiteY4" fmla="*/ 267629 h 315951"/>
              <a:gd name="connsiteX5" fmla="*/ 106375 w 2849575"/>
              <a:gd name="connsiteY5" fmla="*/ 315951 h 315951"/>
              <a:gd name="connsiteX0" fmla="*/ 0 w 2743200"/>
              <a:gd name="connsiteY0" fmla="*/ 315951 h 315951"/>
              <a:gd name="connsiteX1" fmla="*/ 2743200 w 2743200"/>
              <a:gd name="connsiteY1" fmla="*/ 315951 h 315951"/>
              <a:gd name="connsiteX2" fmla="*/ 1189464 w 2743200"/>
              <a:gd name="connsiteY2" fmla="*/ 0 h 315951"/>
              <a:gd name="connsiteX3" fmla="*/ 1334429 w 2743200"/>
              <a:gd name="connsiteY3" fmla="*/ 271346 h 315951"/>
              <a:gd name="connsiteX4" fmla="*/ 4466 w 2743200"/>
              <a:gd name="connsiteY4" fmla="*/ 265383 h 315951"/>
              <a:gd name="connsiteX5" fmla="*/ 0 w 2743200"/>
              <a:gd name="connsiteY5" fmla="*/ 315951 h 315951"/>
              <a:gd name="connsiteX0" fmla="*/ 600 w 2743800"/>
              <a:gd name="connsiteY0" fmla="*/ 315951 h 315951"/>
              <a:gd name="connsiteX1" fmla="*/ 2743800 w 2743800"/>
              <a:gd name="connsiteY1" fmla="*/ 315951 h 315951"/>
              <a:gd name="connsiteX2" fmla="*/ 1190064 w 2743800"/>
              <a:gd name="connsiteY2" fmla="*/ 0 h 315951"/>
              <a:gd name="connsiteX3" fmla="*/ 1335029 w 2743800"/>
              <a:gd name="connsiteY3" fmla="*/ 271346 h 315951"/>
              <a:gd name="connsiteX4" fmla="*/ 0 w 2743800"/>
              <a:gd name="connsiteY4" fmla="*/ 265383 h 315951"/>
              <a:gd name="connsiteX5" fmla="*/ 600 w 2743800"/>
              <a:gd name="connsiteY5" fmla="*/ 315951 h 315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43800" h="315951">
                <a:moveTo>
                  <a:pt x="600" y="315951"/>
                </a:moveTo>
                <a:lnTo>
                  <a:pt x="2743800" y="315951"/>
                </a:lnTo>
                <a:lnTo>
                  <a:pt x="1190064" y="0"/>
                </a:lnTo>
                <a:lnTo>
                  <a:pt x="1335029" y="271346"/>
                </a:lnTo>
                <a:lnTo>
                  <a:pt x="0" y="265383"/>
                </a:lnTo>
                <a:lnTo>
                  <a:pt x="600" y="315951"/>
                </a:lnTo>
                <a:close/>
              </a:path>
            </a:pathLst>
          </a:cu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2" name="Freeform 21"/>
          <p:cNvSpPr/>
          <p:nvPr/>
        </p:nvSpPr>
        <p:spPr>
          <a:xfrm rot="10800000">
            <a:off x="2430066" y="3549005"/>
            <a:ext cx="584200" cy="76200"/>
          </a:xfrm>
          <a:custGeom>
            <a:avLst/>
            <a:gdLst>
              <a:gd name="connsiteX0" fmla="*/ 892097 w 3635297"/>
              <a:gd name="connsiteY0" fmla="*/ 315951 h 315951"/>
              <a:gd name="connsiteX1" fmla="*/ 3635297 w 3635297"/>
              <a:gd name="connsiteY1" fmla="*/ 315951 h 315951"/>
              <a:gd name="connsiteX2" fmla="*/ 2081561 w 3635297"/>
              <a:gd name="connsiteY2" fmla="*/ 0 h 315951"/>
              <a:gd name="connsiteX3" fmla="*/ 2226526 w 3635297"/>
              <a:gd name="connsiteY3" fmla="*/ 271346 h 315951"/>
              <a:gd name="connsiteX4" fmla="*/ 0 w 3635297"/>
              <a:gd name="connsiteY4" fmla="*/ 267629 h 315951"/>
              <a:gd name="connsiteX5" fmla="*/ 892097 w 3635297"/>
              <a:gd name="connsiteY5" fmla="*/ 315951 h 315951"/>
              <a:gd name="connsiteX0" fmla="*/ 320625 w 3063825"/>
              <a:gd name="connsiteY0" fmla="*/ 315951 h 315951"/>
              <a:gd name="connsiteX1" fmla="*/ 3063825 w 3063825"/>
              <a:gd name="connsiteY1" fmla="*/ 315951 h 315951"/>
              <a:gd name="connsiteX2" fmla="*/ 1510089 w 3063825"/>
              <a:gd name="connsiteY2" fmla="*/ 0 h 315951"/>
              <a:gd name="connsiteX3" fmla="*/ 1655054 w 3063825"/>
              <a:gd name="connsiteY3" fmla="*/ 271346 h 315951"/>
              <a:gd name="connsiteX4" fmla="*/ 0 w 3063825"/>
              <a:gd name="connsiteY4" fmla="*/ 267629 h 315951"/>
              <a:gd name="connsiteX5" fmla="*/ 320625 w 3063825"/>
              <a:gd name="connsiteY5" fmla="*/ 315951 h 315951"/>
              <a:gd name="connsiteX0" fmla="*/ 0 w 2743200"/>
              <a:gd name="connsiteY0" fmla="*/ 315951 h 315951"/>
              <a:gd name="connsiteX1" fmla="*/ 2743200 w 2743200"/>
              <a:gd name="connsiteY1" fmla="*/ 315951 h 315951"/>
              <a:gd name="connsiteX2" fmla="*/ 1189464 w 2743200"/>
              <a:gd name="connsiteY2" fmla="*/ 0 h 315951"/>
              <a:gd name="connsiteX3" fmla="*/ 1334429 w 2743200"/>
              <a:gd name="connsiteY3" fmla="*/ 271346 h 315951"/>
              <a:gd name="connsiteX4" fmla="*/ 36533 w 2743200"/>
              <a:gd name="connsiteY4" fmla="*/ 267629 h 315951"/>
              <a:gd name="connsiteX5" fmla="*/ 0 w 2743200"/>
              <a:gd name="connsiteY5" fmla="*/ 315951 h 315951"/>
              <a:gd name="connsiteX0" fmla="*/ 106375 w 2849575"/>
              <a:gd name="connsiteY0" fmla="*/ 315951 h 315951"/>
              <a:gd name="connsiteX1" fmla="*/ 2849575 w 2849575"/>
              <a:gd name="connsiteY1" fmla="*/ 315951 h 315951"/>
              <a:gd name="connsiteX2" fmla="*/ 1295839 w 2849575"/>
              <a:gd name="connsiteY2" fmla="*/ 0 h 315951"/>
              <a:gd name="connsiteX3" fmla="*/ 1440804 w 2849575"/>
              <a:gd name="connsiteY3" fmla="*/ 271346 h 315951"/>
              <a:gd name="connsiteX4" fmla="*/ 0 w 2849575"/>
              <a:gd name="connsiteY4" fmla="*/ 267629 h 315951"/>
              <a:gd name="connsiteX5" fmla="*/ 106375 w 2849575"/>
              <a:gd name="connsiteY5" fmla="*/ 315951 h 315951"/>
              <a:gd name="connsiteX0" fmla="*/ 0 w 2743200"/>
              <a:gd name="connsiteY0" fmla="*/ 315951 h 315951"/>
              <a:gd name="connsiteX1" fmla="*/ 2743200 w 2743200"/>
              <a:gd name="connsiteY1" fmla="*/ 315951 h 315951"/>
              <a:gd name="connsiteX2" fmla="*/ 1189464 w 2743200"/>
              <a:gd name="connsiteY2" fmla="*/ 0 h 315951"/>
              <a:gd name="connsiteX3" fmla="*/ 1334429 w 2743200"/>
              <a:gd name="connsiteY3" fmla="*/ 271346 h 315951"/>
              <a:gd name="connsiteX4" fmla="*/ 4466 w 2743200"/>
              <a:gd name="connsiteY4" fmla="*/ 265383 h 315951"/>
              <a:gd name="connsiteX5" fmla="*/ 0 w 2743200"/>
              <a:gd name="connsiteY5" fmla="*/ 315951 h 315951"/>
              <a:gd name="connsiteX0" fmla="*/ 600 w 2743800"/>
              <a:gd name="connsiteY0" fmla="*/ 315951 h 315951"/>
              <a:gd name="connsiteX1" fmla="*/ 2743800 w 2743800"/>
              <a:gd name="connsiteY1" fmla="*/ 315951 h 315951"/>
              <a:gd name="connsiteX2" fmla="*/ 1190064 w 2743800"/>
              <a:gd name="connsiteY2" fmla="*/ 0 h 315951"/>
              <a:gd name="connsiteX3" fmla="*/ 1335029 w 2743800"/>
              <a:gd name="connsiteY3" fmla="*/ 271346 h 315951"/>
              <a:gd name="connsiteX4" fmla="*/ 0 w 2743800"/>
              <a:gd name="connsiteY4" fmla="*/ 265383 h 315951"/>
              <a:gd name="connsiteX5" fmla="*/ 600 w 2743800"/>
              <a:gd name="connsiteY5" fmla="*/ 315951 h 315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43800" h="315951">
                <a:moveTo>
                  <a:pt x="600" y="315951"/>
                </a:moveTo>
                <a:lnTo>
                  <a:pt x="2743800" y="315951"/>
                </a:lnTo>
                <a:lnTo>
                  <a:pt x="1190064" y="0"/>
                </a:lnTo>
                <a:lnTo>
                  <a:pt x="1335029" y="271346"/>
                </a:lnTo>
                <a:lnTo>
                  <a:pt x="0" y="265383"/>
                </a:lnTo>
                <a:lnTo>
                  <a:pt x="600" y="315951"/>
                </a:lnTo>
                <a:close/>
              </a:path>
            </a:pathLst>
          </a:cu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7898" name="TextBox 22"/>
          <p:cNvSpPr txBox="1">
            <a:spLocks noChangeArrowheads="1"/>
          </p:cNvSpPr>
          <p:nvPr/>
        </p:nvSpPr>
        <p:spPr bwMode="auto">
          <a:xfrm>
            <a:off x="1214041" y="3148955"/>
            <a:ext cx="16430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200" b="1" i="1"/>
              <a:t>Pure shear</a:t>
            </a:r>
          </a:p>
        </p:txBody>
      </p:sp>
      <p:sp>
        <p:nvSpPr>
          <p:cNvPr id="37899" name="TextBox 12"/>
          <p:cNvSpPr txBox="1">
            <a:spLocks noChangeArrowheads="1"/>
          </p:cNvSpPr>
          <p:nvPr/>
        </p:nvSpPr>
        <p:spPr bwMode="auto">
          <a:xfrm>
            <a:off x="6572250" y="4643438"/>
            <a:ext cx="466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dirty="0">
                <a:solidFill>
                  <a:schemeClr val="bg1"/>
                </a:solidFill>
              </a:rPr>
              <a:t>LA</a:t>
            </a:r>
          </a:p>
        </p:txBody>
      </p:sp>
      <p:sp>
        <p:nvSpPr>
          <p:cNvPr id="37900" name="TextBox 13"/>
          <p:cNvSpPr txBox="1">
            <a:spLocks noChangeArrowheads="1"/>
          </p:cNvSpPr>
          <p:nvPr/>
        </p:nvSpPr>
        <p:spPr bwMode="auto">
          <a:xfrm>
            <a:off x="5643563" y="2714625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dirty="0">
                <a:solidFill>
                  <a:schemeClr val="bg1"/>
                </a:solidFill>
              </a:rPr>
              <a:t>SF</a:t>
            </a:r>
          </a:p>
        </p:txBody>
      </p:sp>
      <p:sp>
        <p:nvSpPr>
          <p:cNvPr id="16" name="Rectangle 4"/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1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Vertical movement </a:t>
            </a:r>
            <a:r>
              <a:rPr kumimoji="0" lang="en-GB" sz="3100" b="1" i="0" u="non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inconservative</a:t>
            </a:r>
            <a:r>
              <a:rPr kumimoji="0" lang="en-GB" sz="31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</a:t>
            </a:r>
            <a:r>
              <a:rPr kumimoji="0" lang="en-GB" sz="3100" b="1" i="0" u="non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settings</a:t>
            </a:r>
            <a:endParaRPr kumimoji="0" lang="en-GB" sz="3100" b="1" i="0" u="non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1520" y="1268760"/>
            <a:ext cx="4392488" cy="1708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Along strike-slip faults in conservative regimes, subsidence is typically caused by localised extension </a:t>
            </a:r>
          </a:p>
          <a:p>
            <a:pPr marL="285750" indent="-285750"/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through </a:t>
            </a:r>
            <a:r>
              <a:rPr lang="en-GB" sz="15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transtension</a:t>
            </a: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– a component of extension in a dominantly </a:t>
            </a:r>
            <a:r>
              <a:rPr lang="en-GB" sz="15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stike</a:t>
            </a: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-slip setting</a:t>
            </a:r>
          </a:p>
          <a:p>
            <a:pPr marL="285750" indent="-285750"/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	along “double bends” – relays in faults.	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068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Fig1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40" r="81996" b="5597"/>
          <a:stretch>
            <a:fillRect/>
          </a:stretch>
        </p:blipFill>
        <p:spPr bwMode="auto">
          <a:xfrm>
            <a:off x="179512" y="1988840"/>
            <a:ext cx="2520280" cy="3523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5580112" y="2636912"/>
            <a:ext cx="3456384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altLang="en-US" sz="1600" dirty="0">
                <a:ea typeface="ＭＳ Ｐゴシック" pitchFamily="1" charset="-128"/>
              </a:rPr>
              <a:t>Basin formation is most commonly associated with </a:t>
            </a:r>
            <a:r>
              <a:rPr lang="en-US" altLang="en-US" sz="1600" dirty="0" err="1">
                <a:ea typeface="ＭＳ Ｐゴシック" pitchFamily="1" charset="-128"/>
              </a:rPr>
              <a:t>transtensional</a:t>
            </a:r>
            <a:r>
              <a:rPr lang="en-US" altLang="en-US" sz="1600" dirty="0">
                <a:ea typeface="ＭＳ Ｐゴシック" pitchFamily="1" charset="-128"/>
              </a:rPr>
              <a:t> structures</a:t>
            </a:r>
          </a:p>
          <a:p>
            <a:pPr>
              <a:buFont typeface="Arial" pitchFamily="34" charset="0"/>
              <a:buChar char="•"/>
            </a:pPr>
            <a:endParaRPr lang="en-US" altLang="en-US" sz="1600" dirty="0">
              <a:ea typeface="ＭＳ Ｐゴシック" pitchFamily="1" charset="-128"/>
            </a:endParaRPr>
          </a:p>
          <a:p>
            <a:pPr>
              <a:buFont typeface="Arial" pitchFamily="34" charset="0"/>
              <a:buChar char="•"/>
            </a:pPr>
            <a:r>
              <a:rPr lang="en-US" altLang="en-US" sz="1600" dirty="0">
                <a:ea typeface="ＭＳ Ｐゴシック" pitchFamily="1" charset="-128"/>
              </a:rPr>
              <a:t>Sigmoidal in plan view, with steep margins, reflecting the vertical nature of strike-slip faults.</a:t>
            </a:r>
          </a:p>
          <a:p>
            <a:pPr>
              <a:buFont typeface="Arial" pitchFamily="34" charset="0"/>
              <a:buChar char="•"/>
            </a:pPr>
            <a:endParaRPr lang="en-US" altLang="en-US" sz="1600" dirty="0">
              <a:ea typeface="ＭＳ Ｐゴシック" pitchFamily="1" charset="-128"/>
            </a:endParaRPr>
          </a:p>
          <a:p>
            <a:pPr>
              <a:buFont typeface="Arial" pitchFamily="34" charset="0"/>
              <a:buChar char="•"/>
            </a:pPr>
            <a:r>
              <a:rPr lang="en-US" altLang="en-US" sz="1600" dirty="0">
                <a:ea typeface="ＭＳ Ｐゴシック" pitchFamily="1" charset="-128"/>
              </a:rPr>
              <a:t>They usually subside very rapidly</a:t>
            </a:r>
          </a:p>
          <a:p>
            <a:endParaRPr lang="en-US" altLang="en-US" sz="1600" dirty="0">
              <a:ea typeface="ＭＳ Ｐゴシック" pitchFamily="1" charset="-128"/>
            </a:endParaRPr>
          </a:p>
          <a:p>
            <a:pPr>
              <a:buFont typeface="Arial" pitchFamily="34" charset="0"/>
              <a:buChar char="•"/>
            </a:pPr>
            <a:r>
              <a:rPr lang="en-US" altLang="en-US" sz="1600" dirty="0">
                <a:ea typeface="ＭＳ Ｐゴシック" pitchFamily="1" charset="-128"/>
              </a:rPr>
              <a:t>But are volumetrically a minor component of global basins</a:t>
            </a: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395536" y="1412776"/>
            <a:ext cx="1944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 b="1" i="1" dirty="0" err="1">
                <a:solidFill>
                  <a:schemeClr val="accent2"/>
                </a:solidFill>
              </a:rPr>
              <a:t>Transpression</a:t>
            </a:r>
            <a:endParaRPr lang="en-GB" altLang="en-US" sz="2000" b="1" i="1" dirty="0">
              <a:solidFill>
                <a:schemeClr val="accent2"/>
              </a:solidFill>
            </a:endParaRPr>
          </a:p>
        </p:txBody>
      </p:sp>
      <p:sp>
        <p:nvSpPr>
          <p:cNvPr id="40966" name="Text Box 6"/>
          <p:cNvSpPr txBox="1">
            <a:spLocks noChangeArrowheads="1"/>
          </p:cNvSpPr>
          <p:nvPr/>
        </p:nvSpPr>
        <p:spPr bwMode="auto">
          <a:xfrm>
            <a:off x="2915816" y="1412776"/>
            <a:ext cx="2016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 b="1" i="1" dirty="0" err="1">
                <a:solidFill>
                  <a:schemeClr val="accent2"/>
                </a:solidFill>
              </a:rPr>
              <a:t>Transtensional</a:t>
            </a:r>
            <a:endParaRPr lang="en-GB" altLang="en-US" sz="2000" b="1" i="1" dirty="0">
              <a:solidFill>
                <a:schemeClr val="accent2"/>
              </a:solidFill>
            </a:endParaRPr>
          </a:p>
        </p:txBody>
      </p:sp>
      <p:pic>
        <p:nvPicPr>
          <p:cNvPr id="7" name="Picture 2" descr="Fig1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61" t="66474" r="52221" b="5597"/>
          <a:stretch>
            <a:fillRect/>
          </a:stretch>
        </p:blipFill>
        <p:spPr bwMode="auto">
          <a:xfrm>
            <a:off x="2843808" y="2132856"/>
            <a:ext cx="2592288" cy="3532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D79D321C-02CE-4223-B603-184BE4C5BFA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31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Vertical movement </a:t>
            </a:r>
            <a:r>
              <a:rPr kumimoji="0" lang="en-GB" sz="3100" b="1" i="0" u="non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inconservative</a:t>
            </a:r>
            <a:r>
              <a:rPr kumimoji="0" lang="en-GB" sz="3100" b="1" i="0" u="non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</a:t>
            </a:r>
            <a:r>
              <a:rPr kumimoji="0" lang="en-GB" sz="3100" b="1" i="0" u="non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settings</a:t>
            </a:r>
            <a:endParaRPr kumimoji="0" lang="en-GB" sz="3100" b="1" i="0" u="non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9109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5057</TotalTime>
  <Words>2515</Words>
  <Application>Microsoft Office PowerPoint</Application>
  <PresentationFormat>On-screen Show (4:3)</PresentationFormat>
  <Paragraphs>340</Paragraphs>
  <Slides>55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ＭＳ Ｐゴシック</vt:lpstr>
      <vt:lpstr>Adobe Fangsong Std R</vt:lpstr>
      <vt:lpstr>Arial</vt:lpstr>
      <vt:lpstr>Bookman Old Style</vt:lpstr>
      <vt:lpstr>Calibri</vt:lpstr>
      <vt:lpstr>Comic Sans MS</vt:lpstr>
      <vt:lpstr>Wingdings</vt:lpstr>
      <vt:lpstr>Office Theme</vt:lpstr>
      <vt:lpstr>CorelDRAW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Berit</dc:creator>
  <cp:lastModifiedBy>Rhodri Jerrett</cp:lastModifiedBy>
  <cp:revision>210</cp:revision>
  <cp:lastPrinted>2013-01-27T21:56:10Z</cp:lastPrinted>
  <dcterms:created xsi:type="dcterms:W3CDTF">2011-07-08T07:22:54Z</dcterms:created>
  <dcterms:modified xsi:type="dcterms:W3CDTF">2022-03-08T09:42:14Z</dcterms:modified>
</cp:coreProperties>
</file>