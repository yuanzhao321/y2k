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handoutMasterIdLst>
    <p:handoutMasterId r:id="rId79"/>
  </p:handoutMasterIdLst>
  <p:sldIdLst>
    <p:sldId id="257" r:id="rId2"/>
    <p:sldId id="332" r:id="rId3"/>
    <p:sldId id="455" r:id="rId4"/>
    <p:sldId id="458" r:id="rId5"/>
    <p:sldId id="320" r:id="rId6"/>
    <p:sldId id="295" r:id="rId7"/>
    <p:sldId id="300" r:id="rId8"/>
    <p:sldId id="304" r:id="rId9"/>
    <p:sldId id="309" r:id="rId10"/>
    <p:sldId id="306" r:id="rId11"/>
    <p:sldId id="313" r:id="rId12"/>
    <p:sldId id="284" r:id="rId13"/>
    <p:sldId id="292" r:id="rId14"/>
    <p:sldId id="454" r:id="rId15"/>
    <p:sldId id="337" r:id="rId16"/>
    <p:sldId id="315" r:id="rId17"/>
    <p:sldId id="326" r:id="rId18"/>
    <p:sldId id="325" r:id="rId19"/>
    <p:sldId id="327" r:id="rId20"/>
    <p:sldId id="328" r:id="rId21"/>
    <p:sldId id="329" r:id="rId22"/>
    <p:sldId id="330" r:id="rId23"/>
    <p:sldId id="314" r:id="rId24"/>
    <p:sldId id="456" r:id="rId25"/>
    <p:sldId id="453" r:id="rId26"/>
    <p:sldId id="331" r:id="rId27"/>
    <p:sldId id="422" r:id="rId28"/>
    <p:sldId id="379" r:id="rId29"/>
    <p:sldId id="417" r:id="rId30"/>
    <p:sldId id="430" r:id="rId31"/>
    <p:sldId id="405" r:id="rId32"/>
    <p:sldId id="451" r:id="rId33"/>
    <p:sldId id="380" r:id="rId34"/>
    <p:sldId id="381" r:id="rId35"/>
    <p:sldId id="431" r:id="rId36"/>
    <p:sldId id="432" r:id="rId37"/>
    <p:sldId id="433" r:id="rId38"/>
    <p:sldId id="384" r:id="rId39"/>
    <p:sldId id="385" r:id="rId40"/>
    <p:sldId id="386" r:id="rId41"/>
    <p:sldId id="465" r:id="rId42"/>
    <p:sldId id="434" r:id="rId43"/>
    <p:sldId id="457" r:id="rId44"/>
    <p:sldId id="344" r:id="rId45"/>
    <p:sldId id="435" r:id="rId46"/>
    <p:sldId id="346" r:id="rId47"/>
    <p:sldId id="347" r:id="rId48"/>
    <p:sldId id="436" r:id="rId49"/>
    <p:sldId id="459" r:id="rId50"/>
    <p:sldId id="357" r:id="rId51"/>
    <p:sldId id="358" r:id="rId52"/>
    <p:sldId id="359" r:id="rId53"/>
    <p:sldId id="361" r:id="rId54"/>
    <p:sldId id="362" r:id="rId55"/>
    <p:sldId id="363" r:id="rId56"/>
    <p:sldId id="452" r:id="rId57"/>
    <p:sldId id="364" r:id="rId58"/>
    <p:sldId id="437" r:id="rId59"/>
    <p:sldId id="411" r:id="rId60"/>
    <p:sldId id="412" r:id="rId61"/>
    <p:sldId id="413" r:id="rId62"/>
    <p:sldId id="414" r:id="rId63"/>
    <p:sldId id="407" r:id="rId64"/>
    <p:sldId id="404" r:id="rId65"/>
    <p:sldId id="406" r:id="rId66"/>
    <p:sldId id="410" r:id="rId67"/>
    <p:sldId id="409" r:id="rId68"/>
    <p:sldId id="423" r:id="rId69"/>
    <p:sldId id="466" r:id="rId70"/>
    <p:sldId id="461" r:id="rId71"/>
    <p:sldId id="450" r:id="rId72"/>
    <p:sldId id="463" r:id="rId73"/>
    <p:sldId id="258" r:id="rId74"/>
    <p:sldId id="464" r:id="rId75"/>
    <p:sldId id="259" r:id="rId76"/>
    <p:sldId id="462" r:id="rId77"/>
  </p:sldIdLst>
  <p:sldSz cx="9144000" cy="6858000" type="screen4x3"/>
  <p:notesSz cx="9874250"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74E96E-C2F8-4BF3-AB53-0BAF3E4AE774}" v="7" dt="2025-02-25T13:17:45.5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499" autoAdjust="0"/>
  </p:normalViewPr>
  <p:slideViewPr>
    <p:cSldViewPr snapToGrid="0">
      <p:cViewPr varScale="1">
        <p:scale>
          <a:sx n="98" d="100"/>
          <a:sy n="98" d="100"/>
        </p:scale>
        <p:origin x="1974"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ia Coker" userId="d72aa273-31db-4826-9280-c88045117e4b" providerId="ADAL" clId="{7374E96E-C2F8-4BF3-AB53-0BAF3E4AE774}"/>
    <pc:docChg chg="addSld delSld modSld">
      <pc:chgData name="Victoria Coker" userId="d72aa273-31db-4826-9280-c88045117e4b" providerId="ADAL" clId="{7374E96E-C2F8-4BF3-AB53-0BAF3E4AE774}" dt="2025-02-25T13:18:05.218" v="130" actId="1076"/>
      <pc:docMkLst>
        <pc:docMk/>
      </pc:docMkLst>
      <pc:sldChg chg="add del">
        <pc:chgData name="Victoria Coker" userId="d72aa273-31db-4826-9280-c88045117e4b" providerId="ADAL" clId="{7374E96E-C2F8-4BF3-AB53-0BAF3E4AE774}" dt="2025-02-25T13:17:23.892" v="107"/>
        <pc:sldMkLst>
          <pc:docMk/>
          <pc:sldMk cId="0" sldId="258"/>
        </pc:sldMkLst>
      </pc:sldChg>
      <pc:sldChg chg="add del">
        <pc:chgData name="Victoria Coker" userId="d72aa273-31db-4826-9280-c88045117e4b" providerId="ADAL" clId="{7374E96E-C2F8-4BF3-AB53-0BAF3E4AE774}" dt="2025-02-25T13:17:23.892" v="107"/>
        <pc:sldMkLst>
          <pc:docMk/>
          <pc:sldMk cId="0" sldId="259"/>
        </pc:sldMkLst>
      </pc:sldChg>
      <pc:sldChg chg="del">
        <pc:chgData name="Victoria Coker" userId="d72aa273-31db-4826-9280-c88045117e4b" providerId="ADAL" clId="{7374E96E-C2F8-4BF3-AB53-0BAF3E4AE774}" dt="2025-02-20T16:47:11.295" v="0" actId="47"/>
        <pc:sldMkLst>
          <pc:docMk/>
          <pc:sldMk cId="4155909382" sldId="283"/>
        </pc:sldMkLst>
      </pc:sldChg>
      <pc:sldChg chg="del">
        <pc:chgData name="Victoria Coker" userId="d72aa273-31db-4826-9280-c88045117e4b" providerId="ADAL" clId="{7374E96E-C2F8-4BF3-AB53-0BAF3E4AE774}" dt="2025-02-20T16:47:11.295" v="0" actId="47"/>
        <pc:sldMkLst>
          <pc:docMk/>
          <pc:sldMk cId="1276832711" sldId="285"/>
        </pc:sldMkLst>
      </pc:sldChg>
      <pc:sldChg chg="modNotesTx">
        <pc:chgData name="Victoria Coker" userId="d72aa273-31db-4826-9280-c88045117e4b" providerId="ADAL" clId="{7374E96E-C2F8-4BF3-AB53-0BAF3E4AE774}" dt="2025-02-20T16:50:56.690" v="79" actId="6549"/>
        <pc:sldMkLst>
          <pc:docMk/>
          <pc:sldMk cId="1540691269" sldId="313"/>
        </pc:sldMkLst>
      </pc:sldChg>
      <pc:sldChg chg="modNotesTx">
        <pc:chgData name="Victoria Coker" userId="d72aa273-31db-4826-9280-c88045117e4b" providerId="ADAL" clId="{7374E96E-C2F8-4BF3-AB53-0BAF3E4AE774}" dt="2025-02-20T16:50:47.822" v="78" actId="6549"/>
        <pc:sldMkLst>
          <pc:docMk/>
          <pc:sldMk cId="3076011557" sldId="320"/>
        </pc:sldMkLst>
      </pc:sldChg>
      <pc:sldChg chg="del">
        <pc:chgData name="Victoria Coker" userId="d72aa273-31db-4826-9280-c88045117e4b" providerId="ADAL" clId="{7374E96E-C2F8-4BF3-AB53-0BAF3E4AE774}" dt="2025-02-20T16:47:27.291" v="1" actId="47"/>
        <pc:sldMkLst>
          <pc:docMk/>
          <pc:sldMk cId="2194148827" sldId="322"/>
        </pc:sldMkLst>
      </pc:sldChg>
      <pc:sldChg chg="del">
        <pc:chgData name="Victoria Coker" userId="d72aa273-31db-4826-9280-c88045117e4b" providerId="ADAL" clId="{7374E96E-C2F8-4BF3-AB53-0BAF3E4AE774}" dt="2025-02-20T16:47:28.293" v="2" actId="47"/>
        <pc:sldMkLst>
          <pc:docMk/>
          <pc:sldMk cId="2977286667" sldId="323"/>
        </pc:sldMkLst>
      </pc:sldChg>
      <pc:sldChg chg="del">
        <pc:chgData name="Victoria Coker" userId="d72aa273-31db-4826-9280-c88045117e4b" providerId="ADAL" clId="{7374E96E-C2F8-4BF3-AB53-0BAF3E4AE774}" dt="2025-02-20T16:47:29.394" v="3" actId="47"/>
        <pc:sldMkLst>
          <pc:docMk/>
          <pc:sldMk cId="2977286667" sldId="324"/>
        </pc:sldMkLst>
      </pc:sldChg>
      <pc:sldChg chg="modNotesTx">
        <pc:chgData name="Victoria Coker" userId="d72aa273-31db-4826-9280-c88045117e4b" providerId="ADAL" clId="{7374E96E-C2F8-4BF3-AB53-0BAF3E4AE774}" dt="2025-02-20T16:51:09.896" v="80" actId="6549"/>
        <pc:sldMkLst>
          <pc:docMk/>
          <pc:sldMk cId="485728337" sldId="329"/>
        </pc:sldMkLst>
      </pc:sldChg>
      <pc:sldChg chg="modNotesTx">
        <pc:chgData name="Victoria Coker" userId="d72aa273-31db-4826-9280-c88045117e4b" providerId="ADAL" clId="{7374E96E-C2F8-4BF3-AB53-0BAF3E4AE774}" dt="2025-02-20T16:52:08.745" v="91" actId="6549"/>
        <pc:sldMkLst>
          <pc:docMk/>
          <pc:sldMk cId="2950526097" sldId="344"/>
        </pc:sldMkLst>
      </pc:sldChg>
      <pc:sldChg chg="modNotesTx">
        <pc:chgData name="Victoria Coker" userId="d72aa273-31db-4826-9280-c88045117e4b" providerId="ADAL" clId="{7374E96E-C2F8-4BF3-AB53-0BAF3E4AE774}" dt="2025-02-20T16:52:16.257" v="93" actId="6549"/>
        <pc:sldMkLst>
          <pc:docMk/>
          <pc:sldMk cId="3428484840" sldId="347"/>
        </pc:sldMkLst>
      </pc:sldChg>
      <pc:sldChg chg="add del">
        <pc:chgData name="Victoria Coker" userId="d72aa273-31db-4826-9280-c88045117e4b" providerId="ADAL" clId="{7374E96E-C2F8-4BF3-AB53-0BAF3E4AE774}" dt="2025-02-25T13:17:11.896" v="106"/>
        <pc:sldMkLst>
          <pc:docMk/>
          <pc:sldMk cId="1253926051" sldId="356"/>
        </pc:sldMkLst>
      </pc:sldChg>
      <pc:sldChg chg="modNotesTx">
        <pc:chgData name="Victoria Coker" userId="d72aa273-31db-4826-9280-c88045117e4b" providerId="ADAL" clId="{7374E96E-C2F8-4BF3-AB53-0BAF3E4AE774}" dt="2025-02-20T16:52:26.612" v="95" actId="6549"/>
        <pc:sldMkLst>
          <pc:docMk/>
          <pc:sldMk cId="1538441195" sldId="358"/>
        </pc:sldMkLst>
      </pc:sldChg>
      <pc:sldChg chg="modNotesTx">
        <pc:chgData name="Victoria Coker" userId="d72aa273-31db-4826-9280-c88045117e4b" providerId="ADAL" clId="{7374E96E-C2F8-4BF3-AB53-0BAF3E4AE774}" dt="2025-02-20T16:52:34.021" v="97" actId="6549"/>
        <pc:sldMkLst>
          <pc:docMk/>
          <pc:sldMk cId="4113075458" sldId="359"/>
        </pc:sldMkLst>
      </pc:sldChg>
      <pc:sldChg chg="add del">
        <pc:chgData name="Victoria Coker" userId="d72aa273-31db-4826-9280-c88045117e4b" providerId="ADAL" clId="{7374E96E-C2F8-4BF3-AB53-0BAF3E4AE774}" dt="2025-02-25T13:17:11.896" v="106"/>
        <pc:sldMkLst>
          <pc:docMk/>
          <pc:sldMk cId="3029420936" sldId="360"/>
        </pc:sldMkLst>
      </pc:sldChg>
      <pc:sldChg chg="modNotesTx">
        <pc:chgData name="Victoria Coker" userId="d72aa273-31db-4826-9280-c88045117e4b" providerId="ADAL" clId="{7374E96E-C2F8-4BF3-AB53-0BAF3E4AE774}" dt="2025-02-20T16:51:31.828" v="83" actId="6549"/>
        <pc:sldMkLst>
          <pc:docMk/>
          <pc:sldMk cId="824307837" sldId="380"/>
        </pc:sldMkLst>
      </pc:sldChg>
      <pc:sldChg chg="modNotesTx">
        <pc:chgData name="Victoria Coker" userId="d72aa273-31db-4826-9280-c88045117e4b" providerId="ADAL" clId="{7374E96E-C2F8-4BF3-AB53-0BAF3E4AE774}" dt="2025-02-20T16:51:35.260" v="84" actId="6549"/>
        <pc:sldMkLst>
          <pc:docMk/>
          <pc:sldMk cId="3695274803" sldId="381"/>
        </pc:sldMkLst>
      </pc:sldChg>
      <pc:sldChg chg="modNotesTx">
        <pc:chgData name="Victoria Coker" userId="d72aa273-31db-4826-9280-c88045117e4b" providerId="ADAL" clId="{7374E96E-C2F8-4BF3-AB53-0BAF3E4AE774}" dt="2025-02-20T16:51:49.582" v="87" actId="6549"/>
        <pc:sldMkLst>
          <pc:docMk/>
          <pc:sldMk cId="693380247" sldId="384"/>
        </pc:sldMkLst>
      </pc:sldChg>
      <pc:sldChg chg="modNotesTx">
        <pc:chgData name="Victoria Coker" userId="d72aa273-31db-4826-9280-c88045117e4b" providerId="ADAL" clId="{7374E96E-C2F8-4BF3-AB53-0BAF3E4AE774}" dt="2025-02-20T16:51:56.437" v="88" actId="6549"/>
        <pc:sldMkLst>
          <pc:docMk/>
          <pc:sldMk cId="2793712927" sldId="385"/>
        </pc:sldMkLst>
      </pc:sldChg>
      <pc:sldChg chg="modNotesTx">
        <pc:chgData name="Victoria Coker" userId="d72aa273-31db-4826-9280-c88045117e4b" providerId="ADAL" clId="{7374E96E-C2F8-4BF3-AB53-0BAF3E4AE774}" dt="2025-02-20T16:52:00.177" v="89" actId="6549"/>
        <pc:sldMkLst>
          <pc:docMk/>
          <pc:sldMk cId="2558224171" sldId="386"/>
        </pc:sldMkLst>
      </pc:sldChg>
      <pc:sldChg chg="modNotesTx">
        <pc:chgData name="Victoria Coker" userId="d72aa273-31db-4826-9280-c88045117e4b" providerId="ADAL" clId="{7374E96E-C2F8-4BF3-AB53-0BAF3E4AE774}" dt="2025-02-20T16:52:56.893" v="99" actId="6549"/>
        <pc:sldMkLst>
          <pc:docMk/>
          <pc:sldMk cId="1336658483" sldId="404"/>
        </pc:sldMkLst>
      </pc:sldChg>
      <pc:sldChg chg="modNotesTx">
        <pc:chgData name="Victoria Coker" userId="d72aa273-31db-4826-9280-c88045117e4b" providerId="ADAL" clId="{7374E96E-C2F8-4BF3-AB53-0BAF3E4AE774}" dt="2025-02-20T16:53:01.348" v="100" actId="6549"/>
        <pc:sldMkLst>
          <pc:docMk/>
          <pc:sldMk cId="3665733891" sldId="406"/>
        </pc:sldMkLst>
      </pc:sldChg>
      <pc:sldChg chg="modNotesTx">
        <pc:chgData name="Victoria Coker" userId="d72aa273-31db-4826-9280-c88045117e4b" providerId="ADAL" clId="{7374E96E-C2F8-4BF3-AB53-0BAF3E4AE774}" dt="2025-02-20T16:52:51.007" v="98" actId="6549"/>
        <pc:sldMkLst>
          <pc:docMk/>
          <pc:sldMk cId="2819181976" sldId="412"/>
        </pc:sldMkLst>
      </pc:sldChg>
      <pc:sldChg chg="modNotesTx">
        <pc:chgData name="Victoria Coker" userId="d72aa273-31db-4826-9280-c88045117e4b" providerId="ADAL" clId="{7374E96E-C2F8-4BF3-AB53-0BAF3E4AE774}" dt="2025-02-20T16:51:20.642" v="81" actId="6549"/>
        <pc:sldMkLst>
          <pc:docMk/>
          <pc:sldMk cId="3297129267" sldId="417"/>
        </pc:sldMkLst>
      </pc:sldChg>
      <pc:sldChg chg="add del">
        <pc:chgData name="Victoria Coker" userId="d72aa273-31db-4826-9280-c88045117e4b" providerId="ADAL" clId="{7374E96E-C2F8-4BF3-AB53-0BAF3E4AE774}" dt="2025-02-25T13:17:11.896" v="106"/>
        <pc:sldMkLst>
          <pc:docMk/>
          <pc:sldMk cId="2963388228" sldId="421"/>
        </pc:sldMkLst>
      </pc:sldChg>
      <pc:sldChg chg="modSp mod">
        <pc:chgData name="Victoria Coker" userId="d72aa273-31db-4826-9280-c88045117e4b" providerId="ADAL" clId="{7374E96E-C2F8-4BF3-AB53-0BAF3E4AE774}" dt="2025-02-20T16:50:08.472" v="77" actId="20577"/>
        <pc:sldMkLst>
          <pc:docMk/>
          <pc:sldMk cId="2741676771" sldId="423"/>
        </pc:sldMkLst>
        <pc:spChg chg="mod">
          <ac:chgData name="Victoria Coker" userId="d72aa273-31db-4826-9280-c88045117e4b" providerId="ADAL" clId="{7374E96E-C2F8-4BF3-AB53-0BAF3E4AE774}" dt="2025-02-20T16:50:08.472" v="77" actId="20577"/>
          <ac:spMkLst>
            <pc:docMk/>
            <pc:sldMk cId="2741676771" sldId="423"/>
            <ac:spMk id="3" creationId="{73150EA4-32E8-917A-021A-E558E5DFD3AD}"/>
          </ac:spMkLst>
        </pc:spChg>
      </pc:sldChg>
      <pc:sldChg chg="modNotesTx">
        <pc:chgData name="Victoria Coker" userId="d72aa273-31db-4826-9280-c88045117e4b" providerId="ADAL" clId="{7374E96E-C2F8-4BF3-AB53-0BAF3E4AE774}" dt="2025-02-20T16:51:25.960" v="82" actId="6549"/>
        <pc:sldMkLst>
          <pc:docMk/>
          <pc:sldMk cId="3496281285" sldId="430"/>
        </pc:sldMkLst>
      </pc:sldChg>
      <pc:sldChg chg="modNotesTx">
        <pc:chgData name="Victoria Coker" userId="d72aa273-31db-4826-9280-c88045117e4b" providerId="ADAL" clId="{7374E96E-C2F8-4BF3-AB53-0BAF3E4AE774}" dt="2025-02-20T16:51:39.048" v="85" actId="6549"/>
        <pc:sldMkLst>
          <pc:docMk/>
          <pc:sldMk cId="2327979504" sldId="431"/>
        </pc:sldMkLst>
      </pc:sldChg>
      <pc:sldChg chg="modNotesTx">
        <pc:chgData name="Victoria Coker" userId="d72aa273-31db-4826-9280-c88045117e4b" providerId="ADAL" clId="{7374E96E-C2F8-4BF3-AB53-0BAF3E4AE774}" dt="2025-02-20T16:51:44.486" v="86" actId="6549"/>
        <pc:sldMkLst>
          <pc:docMk/>
          <pc:sldMk cId="2310102343" sldId="432"/>
        </pc:sldMkLst>
      </pc:sldChg>
      <pc:sldChg chg="modNotesTx">
        <pc:chgData name="Victoria Coker" userId="d72aa273-31db-4826-9280-c88045117e4b" providerId="ADAL" clId="{7374E96E-C2F8-4BF3-AB53-0BAF3E4AE774}" dt="2025-02-20T16:52:04.557" v="90" actId="6549"/>
        <pc:sldMkLst>
          <pc:docMk/>
          <pc:sldMk cId="3221649461" sldId="434"/>
        </pc:sldMkLst>
      </pc:sldChg>
      <pc:sldChg chg="modNotesTx">
        <pc:chgData name="Victoria Coker" userId="d72aa273-31db-4826-9280-c88045117e4b" providerId="ADAL" clId="{7374E96E-C2F8-4BF3-AB53-0BAF3E4AE774}" dt="2025-02-20T16:52:12.553" v="92" actId="6549"/>
        <pc:sldMkLst>
          <pc:docMk/>
          <pc:sldMk cId="4282379696" sldId="435"/>
        </pc:sldMkLst>
      </pc:sldChg>
      <pc:sldChg chg="add del">
        <pc:chgData name="Victoria Coker" userId="d72aa273-31db-4826-9280-c88045117e4b" providerId="ADAL" clId="{7374E96E-C2F8-4BF3-AB53-0BAF3E4AE774}" dt="2025-02-25T13:17:23.892" v="107"/>
        <pc:sldMkLst>
          <pc:docMk/>
          <pc:sldMk cId="0" sldId="450"/>
        </pc:sldMkLst>
      </pc:sldChg>
      <pc:sldChg chg="modNotesTx">
        <pc:chgData name="Victoria Coker" userId="d72aa273-31db-4826-9280-c88045117e4b" providerId="ADAL" clId="{7374E96E-C2F8-4BF3-AB53-0BAF3E4AE774}" dt="2025-02-20T16:52:22.393" v="94" actId="6549"/>
        <pc:sldMkLst>
          <pc:docMk/>
          <pc:sldMk cId="3777866971" sldId="459"/>
        </pc:sldMkLst>
      </pc:sldChg>
      <pc:sldChg chg="add del">
        <pc:chgData name="Victoria Coker" userId="d72aa273-31db-4826-9280-c88045117e4b" providerId="ADAL" clId="{7374E96E-C2F8-4BF3-AB53-0BAF3E4AE774}" dt="2025-02-25T13:17:11.896" v="106"/>
        <pc:sldMkLst>
          <pc:docMk/>
          <pc:sldMk cId="1805618344" sldId="460"/>
        </pc:sldMkLst>
      </pc:sldChg>
      <pc:sldChg chg="addSp modSp add del mod">
        <pc:chgData name="Victoria Coker" userId="d72aa273-31db-4826-9280-c88045117e4b" providerId="ADAL" clId="{7374E96E-C2F8-4BF3-AB53-0BAF3E4AE774}" dt="2025-02-25T13:18:05.218" v="130" actId="1076"/>
        <pc:sldMkLst>
          <pc:docMk/>
          <pc:sldMk cId="938310109" sldId="461"/>
        </pc:sldMkLst>
        <pc:spChg chg="add mod">
          <ac:chgData name="Victoria Coker" userId="d72aa273-31db-4826-9280-c88045117e4b" providerId="ADAL" clId="{7374E96E-C2F8-4BF3-AB53-0BAF3E4AE774}" dt="2025-02-25T13:18:05.218" v="130" actId="1076"/>
          <ac:spMkLst>
            <pc:docMk/>
            <pc:sldMk cId="938310109" sldId="461"/>
            <ac:spMk id="2" creationId="{9B1DD6B6-3AEB-9E7C-274C-2B35A4BA490F}"/>
          </ac:spMkLst>
        </pc:spChg>
      </pc:sldChg>
      <pc:sldChg chg="add del">
        <pc:chgData name="Victoria Coker" userId="d72aa273-31db-4826-9280-c88045117e4b" providerId="ADAL" clId="{7374E96E-C2F8-4BF3-AB53-0BAF3E4AE774}" dt="2025-02-25T13:17:23.892" v="107"/>
        <pc:sldMkLst>
          <pc:docMk/>
          <pc:sldMk cId="1980971575" sldId="462"/>
        </pc:sldMkLst>
      </pc:sldChg>
      <pc:sldChg chg="add del">
        <pc:chgData name="Victoria Coker" userId="d72aa273-31db-4826-9280-c88045117e4b" providerId="ADAL" clId="{7374E96E-C2F8-4BF3-AB53-0BAF3E4AE774}" dt="2025-02-25T13:17:23.892" v="107"/>
        <pc:sldMkLst>
          <pc:docMk/>
          <pc:sldMk cId="4131391337" sldId="463"/>
        </pc:sldMkLst>
      </pc:sldChg>
      <pc:sldChg chg="add del">
        <pc:chgData name="Victoria Coker" userId="d72aa273-31db-4826-9280-c88045117e4b" providerId="ADAL" clId="{7374E96E-C2F8-4BF3-AB53-0BAF3E4AE774}" dt="2025-02-25T13:17:23.892" v="107"/>
        <pc:sldMkLst>
          <pc:docMk/>
          <pc:sldMk cId="1584591766" sldId="464"/>
        </pc:sldMkLst>
      </pc:sldChg>
      <pc:sldChg chg="add">
        <pc:chgData name="Victoria Coker" userId="d72aa273-31db-4826-9280-c88045117e4b" providerId="ADAL" clId="{7374E96E-C2F8-4BF3-AB53-0BAF3E4AE774}" dt="2025-02-25T13:16:48.966" v="103"/>
        <pc:sldMkLst>
          <pc:docMk/>
          <pc:sldMk cId="3327283817" sldId="465"/>
        </pc:sldMkLst>
      </pc:sldChg>
      <pc:sldChg chg="add del">
        <pc:chgData name="Victoria Coker" userId="d72aa273-31db-4826-9280-c88045117e4b" providerId="ADAL" clId="{7374E96E-C2F8-4BF3-AB53-0BAF3E4AE774}" dt="2025-02-25T13:17:11.896" v="106"/>
        <pc:sldMkLst>
          <pc:docMk/>
          <pc:sldMk cId="182596681" sldId="466"/>
        </pc:sldMkLst>
      </pc:sldChg>
      <pc:sldChg chg="add del">
        <pc:chgData name="Victoria Coker" userId="d72aa273-31db-4826-9280-c88045117e4b" providerId="ADAL" clId="{7374E96E-C2F8-4BF3-AB53-0BAF3E4AE774}" dt="2025-02-25T13:16:42.575" v="102"/>
        <pc:sldMkLst>
          <pc:docMk/>
          <pc:sldMk cId="3206968330" sldId="466"/>
        </pc:sldMkLst>
      </pc:sldChg>
      <pc:sldChg chg="new">
        <pc:chgData name="Victoria Coker" userId="d72aa273-31db-4826-9280-c88045117e4b" providerId="ADAL" clId="{7374E96E-C2F8-4BF3-AB53-0BAF3E4AE774}" dt="2025-02-25T13:17:36.339" v="108" actId="680"/>
        <pc:sldMkLst>
          <pc:docMk/>
          <pc:sldMk cId="4114154411" sldId="466"/>
        </pc:sldMkLst>
      </pc:sldChg>
      <pc:sldChg chg="add del">
        <pc:chgData name="Victoria Coker" userId="d72aa273-31db-4826-9280-c88045117e4b" providerId="ADAL" clId="{7374E96E-C2F8-4BF3-AB53-0BAF3E4AE774}" dt="2025-02-25T13:17:11.896" v="106"/>
        <pc:sldMkLst>
          <pc:docMk/>
          <pc:sldMk cId="3668359552" sldId="467"/>
        </pc:sldMkLst>
      </pc:sldChg>
      <pc:sldChg chg="add del setBg">
        <pc:chgData name="Victoria Coker" userId="d72aa273-31db-4826-9280-c88045117e4b" providerId="ADAL" clId="{7374E96E-C2F8-4BF3-AB53-0BAF3E4AE774}" dt="2025-02-25T13:17:11.896" v="106"/>
        <pc:sldMkLst>
          <pc:docMk/>
          <pc:sldMk cId="1976202314" sldId="468"/>
        </pc:sldMkLst>
      </pc:sldChg>
      <pc:sldChg chg="add del">
        <pc:chgData name="Victoria Coker" userId="d72aa273-31db-4826-9280-c88045117e4b" providerId="ADAL" clId="{7374E96E-C2F8-4BF3-AB53-0BAF3E4AE774}" dt="2025-02-25T13:17:11.896" v="106"/>
        <pc:sldMkLst>
          <pc:docMk/>
          <pc:sldMk cId="3206968330" sldId="469"/>
        </pc:sldMkLst>
      </pc:sldChg>
      <pc:sldChg chg="add del">
        <pc:chgData name="Victoria Coker" userId="d72aa273-31db-4826-9280-c88045117e4b" providerId="ADAL" clId="{7374E96E-C2F8-4BF3-AB53-0BAF3E4AE774}" dt="2025-02-25T13:17:11.896" v="106"/>
        <pc:sldMkLst>
          <pc:docMk/>
          <pc:sldMk cId="1676593029" sldId="470"/>
        </pc:sldMkLst>
      </pc:sldChg>
      <pc:sldChg chg="add del">
        <pc:chgData name="Victoria Coker" userId="d72aa273-31db-4826-9280-c88045117e4b" providerId="ADAL" clId="{7374E96E-C2F8-4BF3-AB53-0BAF3E4AE774}" dt="2025-02-25T13:17:11.896" v="106"/>
        <pc:sldMkLst>
          <pc:docMk/>
          <pc:sldMk cId="3300356004" sldId="471"/>
        </pc:sldMkLst>
      </pc:sldChg>
      <pc:sldChg chg="add del">
        <pc:chgData name="Victoria Coker" userId="d72aa273-31db-4826-9280-c88045117e4b" providerId="ADAL" clId="{7374E96E-C2F8-4BF3-AB53-0BAF3E4AE774}" dt="2025-02-25T13:17:11.896" v="106"/>
        <pc:sldMkLst>
          <pc:docMk/>
          <pc:sldMk cId="1530169196" sldId="472"/>
        </pc:sldMkLst>
      </pc:sldChg>
      <pc:sldChg chg="add del">
        <pc:chgData name="Victoria Coker" userId="d72aa273-31db-4826-9280-c88045117e4b" providerId="ADAL" clId="{7374E96E-C2F8-4BF3-AB53-0BAF3E4AE774}" dt="2025-02-25T13:17:11.896" v="106"/>
        <pc:sldMkLst>
          <pc:docMk/>
          <pc:sldMk cId="1714167649" sldId="473"/>
        </pc:sldMkLst>
      </pc:sldChg>
      <pc:sldChg chg="add del">
        <pc:chgData name="Victoria Coker" userId="d72aa273-31db-4826-9280-c88045117e4b" providerId="ADAL" clId="{7374E96E-C2F8-4BF3-AB53-0BAF3E4AE774}" dt="2025-02-25T13:17:11.896" v="106"/>
        <pc:sldMkLst>
          <pc:docMk/>
          <pc:sldMk cId="880019567" sldId="474"/>
        </pc:sldMkLst>
      </pc:sldChg>
      <pc:sldChg chg="add del">
        <pc:chgData name="Victoria Coker" userId="d72aa273-31db-4826-9280-c88045117e4b" providerId="ADAL" clId="{7374E96E-C2F8-4BF3-AB53-0BAF3E4AE774}" dt="2025-02-25T13:17:11.896" v="106"/>
        <pc:sldMkLst>
          <pc:docMk/>
          <pc:sldMk cId="1508131115" sldId="475"/>
        </pc:sldMkLst>
      </pc:sldChg>
      <pc:sldChg chg="add del">
        <pc:chgData name="Victoria Coker" userId="d72aa273-31db-4826-9280-c88045117e4b" providerId="ADAL" clId="{7374E96E-C2F8-4BF3-AB53-0BAF3E4AE774}" dt="2025-02-25T13:17:11.896" v="106"/>
        <pc:sldMkLst>
          <pc:docMk/>
          <pc:sldMk cId="1942293839" sldId="476"/>
        </pc:sldMkLst>
      </pc:sldChg>
      <pc:sldChg chg="add del">
        <pc:chgData name="Victoria Coker" userId="d72aa273-31db-4826-9280-c88045117e4b" providerId="ADAL" clId="{7374E96E-C2F8-4BF3-AB53-0BAF3E4AE774}" dt="2025-02-25T13:17:11.896" v="106"/>
        <pc:sldMkLst>
          <pc:docMk/>
          <pc:sldMk cId="2902257060" sldId="477"/>
        </pc:sldMkLst>
      </pc:sldChg>
      <pc:sldChg chg="add del">
        <pc:chgData name="Victoria Coker" userId="d72aa273-31db-4826-9280-c88045117e4b" providerId="ADAL" clId="{7374E96E-C2F8-4BF3-AB53-0BAF3E4AE774}" dt="2025-02-25T13:17:11.896" v="106"/>
        <pc:sldMkLst>
          <pc:docMk/>
          <pc:sldMk cId="2929943854" sldId="478"/>
        </pc:sldMkLst>
      </pc:sldChg>
      <pc:sldChg chg="add del">
        <pc:chgData name="Victoria Coker" userId="d72aa273-31db-4826-9280-c88045117e4b" providerId="ADAL" clId="{7374E96E-C2F8-4BF3-AB53-0BAF3E4AE774}" dt="2025-02-25T13:17:11.896" v="106"/>
        <pc:sldMkLst>
          <pc:docMk/>
          <pc:sldMk cId="2366930329" sldId="479"/>
        </pc:sldMkLst>
      </pc:sldChg>
      <pc:sldChg chg="add del">
        <pc:chgData name="Victoria Coker" userId="d72aa273-31db-4826-9280-c88045117e4b" providerId="ADAL" clId="{7374E96E-C2F8-4BF3-AB53-0BAF3E4AE774}" dt="2025-02-25T13:17:11.896" v="106"/>
        <pc:sldMkLst>
          <pc:docMk/>
          <pc:sldMk cId="2735596503" sldId="480"/>
        </pc:sldMkLst>
      </pc:sldChg>
      <pc:sldChg chg="add del">
        <pc:chgData name="Victoria Coker" userId="d72aa273-31db-4826-9280-c88045117e4b" providerId="ADAL" clId="{7374E96E-C2F8-4BF3-AB53-0BAF3E4AE774}" dt="2025-02-25T13:17:11.896" v="106"/>
        <pc:sldMkLst>
          <pc:docMk/>
          <pc:sldMk cId="454299236" sldId="481"/>
        </pc:sldMkLst>
      </pc:sldChg>
      <pc:sldChg chg="add del">
        <pc:chgData name="Victoria Coker" userId="d72aa273-31db-4826-9280-c88045117e4b" providerId="ADAL" clId="{7374E96E-C2F8-4BF3-AB53-0BAF3E4AE774}" dt="2025-02-25T13:17:11.896" v="106"/>
        <pc:sldMkLst>
          <pc:docMk/>
          <pc:sldMk cId="1665286135" sldId="482"/>
        </pc:sldMkLst>
      </pc:sldChg>
      <pc:sldChg chg="add del">
        <pc:chgData name="Victoria Coker" userId="d72aa273-31db-4826-9280-c88045117e4b" providerId="ADAL" clId="{7374E96E-C2F8-4BF3-AB53-0BAF3E4AE774}" dt="2025-02-25T13:17:11.896" v="106"/>
        <pc:sldMkLst>
          <pc:docMk/>
          <pc:sldMk cId="2619296086" sldId="483"/>
        </pc:sldMkLst>
      </pc:sldChg>
      <pc:sldChg chg="add del">
        <pc:chgData name="Victoria Coker" userId="d72aa273-31db-4826-9280-c88045117e4b" providerId="ADAL" clId="{7374E96E-C2F8-4BF3-AB53-0BAF3E4AE774}" dt="2025-02-25T13:17:11.896" v="106"/>
        <pc:sldMkLst>
          <pc:docMk/>
          <pc:sldMk cId="1047709155" sldId="484"/>
        </pc:sldMkLst>
      </pc:sldChg>
      <pc:sldChg chg="add del">
        <pc:chgData name="Victoria Coker" userId="d72aa273-31db-4826-9280-c88045117e4b" providerId="ADAL" clId="{7374E96E-C2F8-4BF3-AB53-0BAF3E4AE774}" dt="2025-02-25T13:17:11.896" v="106"/>
        <pc:sldMkLst>
          <pc:docMk/>
          <pc:sldMk cId="4042837668" sldId="485"/>
        </pc:sldMkLst>
      </pc:sldChg>
      <pc:sldChg chg="add del">
        <pc:chgData name="Victoria Coker" userId="d72aa273-31db-4826-9280-c88045117e4b" providerId="ADAL" clId="{7374E96E-C2F8-4BF3-AB53-0BAF3E4AE774}" dt="2025-02-25T13:17:11.896" v="106"/>
        <pc:sldMkLst>
          <pc:docMk/>
          <pc:sldMk cId="4018946119" sldId="486"/>
        </pc:sldMkLst>
      </pc:sldChg>
      <pc:sldChg chg="add del">
        <pc:chgData name="Victoria Coker" userId="d72aa273-31db-4826-9280-c88045117e4b" providerId="ADAL" clId="{7374E96E-C2F8-4BF3-AB53-0BAF3E4AE774}" dt="2025-02-25T13:17:11.896" v="106"/>
        <pc:sldMkLst>
          <pc:docMk/>
          <pc:sldMk cId="3581160614" sldId="487"/>
        </pc:sldMkLst>
      </pc:sldChg>
      <pc:sldChg chg="add del">
        <pc:chgData name="Victoria Coker" userId="d72aa273-31db-4826-9280-c88045117e4b" providerId="ADAL" clId="{7374E96E-C2F8-4BF3-AB53-0BAF3E4AE774}" dt="2025-02-25T13:17:11.896" v="106"/>
        <pc:sldMkLst>
          <pc:docMk/>
          <pc:sldMk cId="2246607868" sldId="488"/>
        </pc:sldMkLst>
      </pc:sldChg>
      <pc:sldChg chg="add del">
        <pc:chgData name="Victoria Coker" userId="d72aa273-31db-4826-9280-c88045117e4b" providerId="ADAL" clId="{7374E96E-C2F8-4BF3-AB53-0BAF3E4AE774}" dt="2025-02-25T13:17:11.896" v="106"/>
        <pc:sldMkLst>
          <pc:docMk/>
          <pc:sldMk cId="1915333459" sldId="489"/>
        </pc:sldMkLst>
      </pc:sldChg>
      <pc:sldChg chg="add del">
        <pc:chgData name="Victoria Coker" userId="d72aa273-31db-4826-9280-c88045117e4b" providerId="ADAL" clId="{7374E96E-C2F8-4BF3-AB53-0BAF3E4AE774}" dt="2025-02-25T13:17:11.896" v="106"/>
        <pc:sldMkLst>
          <pc:docMk/>
          <pc:sldMk cId="767098756" sldId="490"/>
        </pc:sldMkLst>
      </pc:sldChg>
      <pc:sldChg chg="add del">
        <pc:chgData name="Victoria Coker" userId="d72aa273-31db-4826-9280-c88045117e4b" providerId="ADAL" clId="{7374E96E-C2F8-4BF3-AB53-0BAF3E4AE774}" dt="2025-02-25T13:17:11.896" v="106"/>
        <pc:sldMkLst>
          <pc:docMk/>
          <pc:sldMk cId="3794305948" sldId="491"/>
        </pc:sldMkLst>
      </pc:sldChg>
      <pc:sldChg chg="add del">
        <pc:chgData name="Victoria Coker" userId="d72aa273-31db-4826-9280-c88045117e4b" providerId="ADAL" clId="{7374E96E-C2F8-4BF3-AB53-0BAF3E4AE774}" dt="2025-02-25T13:17:11.896" v="106"/>
        <pc:sldMkLst>
          <pc:docMk/>
          <pc:sldMk cId="3321412005" sldId="492"/>
        </pc:sldMkLst>
      </pc:sldChg>
      <pc:sldChg chg="addSp delSp add del setBg delDesignElem">
        <pc:chgData name="Victoria Coker" userId="d72aa273-31db-4826-9280-c88045117e4b" providerId="ADAL" clId="{7374E96E-C2F8-4BF3-AB53-0BAF3E4AE774}" dt="2025-02-25T13:17:11.896" v="106"/>
        <pc:sldMkLst>
          <pc:docMk/>
          <pc:sldMk cId="4123177342" sldId="493"/>
        </pc:sldMkLst>
        <pc:spChg chg="add del">
          <ac:chgData name="Victoria Coker" userId="d72aa273-31db-4826-9280-c88045117e4b" providerId="ADAL" clId="{7374E96E-C2F8-4BF3-AB53-0BAF3E4AE774}" dt="2025-02-25T13:17:11.896" v="106"/>
          <ac:spMkLst>
            <pc:docMk/>
            <pc:sldMk cId="4123177342" sldId="493"/>
            <ac:spMk id="13" creationId="{2B97F24A-32CE-4C1C-A50D-3016B394DCFB}"/>
          </ac:spMkLst>
        </pc:spChg>
        <pc:spChg chg="add del">
          <ac:chgData name="Victoria Coker" userId="d72aa273-31db-4826-9280-c88045117e4b" providerId="ADAL" clId="{7374E96E-C2F8-4BF3-AB53-0BAF3E4AE774}" dt="2025-02-25T13:17:11.896" v="106"/>
          <ac:spMkLst>
            <pc:docMk/>
            <pc:sldMk cId="4123177342" sldId="493"/>
            <ac:spMk id="15" creationId="{CD8B4F24-440B-49E9-B85D-733523DC064B}"/>
          </ac:spMkLst>
        </pc:spChg>
      </pc:sldChg>
      <pc:sldChg chg="add del">
        <pc:chgData name="Victoria Coker" userId="d72aa273-31db-4826-9280-c88045117e4b" providerId="ADAL" clId="{7374E96E-C2F8-4BF3-AB53-0BAF3E4AE774}" dt="2025-02-25T13:17:11.896" v="106"/>
        <pc:sldMkLst>
          <pc:docMk/>
          <pc:sldMk cId="198967828" sldId="49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3"/>
            <a:ext cx="4278842" cy="339884"/>
          </a:xfrm>
          <a:prstGeom prst="rect">
            <a:avLst/>
          </a:prstGeom>
        </p:spPr>
        <p:txBody>
          <a:bodyPr vert="horz" lIns="94014" tIns="47007" rIns="94014" bIns="47007" rtlCol="0"/>
          <a:lstStyle>
            <a:lvl1pPr algn="l">
              <a:defRPr sz="1200"/>
            </a:lvl1pPr>
          </a:lstStyle>
          <a:p>
            <a:endParaRPr lang="en-GB"/>
          </a:p>
        </p:txBody>
      </p:sp>
      <p:sp>
        <p:nvSpPr>
          <p:cNvPr id="3" name="Date Placeholder 2"/>
          <p:cNvSpPr>
            <a:spLocks noGrp="1"/>
          </p:cNvSpPr>
          <p:nvPr>
            <p:ph type="dt" sz="quarter" idx="1"/>
          </p:nvPr>
        </p:nvSpPr>
        <p:spPr>
          <a:xfrm>
            <a:off x="5593126" y="3"/>
            <a:ext cx="4278842" cy="339884"/>
          </a:xfrm>
          <a:prstGeom prst="rect">
            <a:avLst/>
          </a:prstGeom>
        </p:spPr>
        <p:txBody>
          <a:bodyPr vert="horz" lIns="94014" tIns="47007" rIns="94014" bIns="47007" rtlCol="0"/>
          <a:lstStyle>
            <a:lvl1pPr algn="r">
              <a:defRPr sz="1200"/>
            </a:lvl1pPr>
          </a:lstStyle>
          <a:p>
            <a:fld id="{9707BEDF-FD3B-4B57-967C-302A0F3A6C4C}" type="datetimeFigureOut">
              <a:rPr lang="en-GB" smtClean="0"/>
              <a:t>25/02/2025</a:t>
            </a:fld>
            <a:endParaRPr lang="en-GB"/>
          </a:p>
        </p:txBody>
      </p:sp>
      <p:sp>
        <p:nvSpPr>
          <p:cNvPr id="4" name="Footer Placeholder 3"/>
          <p:cNvSpPr>
            <a:spLocks noGrp="1"/>
          </p:cNvSpPr>
          <p:nvPr>
            <p:ph type="ftr" sz="quarter" idx="2"/>
          </p:nvPr>
        </p:nvSpPr>
        <p:spPr>
          <a:xfrm>
            <a:off x="4" y="6456611"/>
            <a:ext cx="4278842" cy="339884"/>
          </a:xfrm>
          <a:prstGeom prst="rect">
            <a:avLst/>
          </a:prstGeom>
        </p:spPr>
        <p:txBody>
          <a:bodyPr vert="horz" lIns="94014" tIns="47007" rIns="94014" bIns="47007" rtlCol="0" anchor="b"/>
          <a:lstStyle>
            <a:lvl1pPr algn="l">
              <a:defRPr sz="1200"/>
            </a:lvl1pPr>
          </a:lstStyle>
          <a:p>
            <a:endParaRPr lang="en-GB"/>
          </a:p>
        </p:txBody>
      </p:sp>
      <p:sp>
        <p:nvSpPr>
          <p:cNvPr id="5" name="Slide Number Placeholder 4"/>
          <p:cNvSpPr>
            <a:spLocks noGrp="1"/>
          </p:cNvSpPr>
          <p:nvPr>
            <p:ph type="sldNum" sz="quarter" idx="3"/>
          </p:nvPr>
        </p:nvSpPr>
        <p:spPr>
          <a:xfrm>
            <a:off x="5593126" y="6456611"/>
            <a:ext cx="4278842" cy="339884"/>
          </a:xfrm>
          <a:prstGeom prst="rect">
            <a:avLst/>
          </a:prstGeom>
        </p:spPr>
        <p:txBody>
          <a:bodyPr vert="horz" lIns="94014" tIns="47007" rIns="94014" bIns="47007" rtlCol="0" anchor="b"/>
          <a:lstStyle>
            <a:lvl1pPr algn="r">
              <a:defRPr sz="1200"/>
            </a:lvl1pPr>
          </a:lstStyle>
          <a:p>
            <a:fld id="{6F606128-D91F-401F-ACC6-5DD0934A6672}" type="slidenum">
              <a:rPr lang="en-GB" smtClean="0"/>
              <a:t>‹#›</a:t>
            </a:fld>
            <a:endParaRPr lang="en-GB"/>
          </a:p>
        </p:txBody>
      </p:sp>
    </p:spTree>
    <p:extLst>
      <p:ext uri="{BB962C8B-B14F-4D97-AF65-F5344CB8AC3E}">
        <p14:creationId xmlns:p14="http://schemas.microsoft.com/office/powerpoint/2010/main" val="34000741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3"/>
            <a:ext cx="4278842" cy="339884"/>
          </a:xfrm>
          <a:prstGeom prst="rect">
            <a:avLst/>
          </a:prstGeom>
        </p:spPr>
        <p:txBody>
          <a:bodyPr vert="horz" lIns="94014" tIns="47007" rIns="94014" bIns="47007" rtlCol="0"/>
          <a:lstStyle>
            <a:lvl1pPr algn="l">
              <a:defRPr sz="1200"/>
            </a:lvl1pPr>
          </a:lstStyle>
          <a:p>
            <a:endParaRPr lang="en-GB"/>
          </a:p>
        </p:txBody>
      </p:sp>
      <p:sp>
        <p:nvSpPr>
          <p:cNvPr id="3" name="Date Placeholder 2"/>
          <p:cNvSpPr>
            <a:spLocks noGrp="1"/>
          </p:cNvSpPr>
          <p:nvPr>
            <p:ph type="dt" idx="1"/>
          </p:nvPr>
        </p:nvSpPr>
        <p:spPr>
          <a:xfrm>
            <a:off x="5593126" y="3"/>
            <a:ext cx="4278842" cy="339884"/>
          </a:xfrm>
          <a:prstGeom prst="rect">
            <a:avLst/>
          </a:prstGeom>
        </p:spPr>
        <p:txBody>
          <a:bodyPr vert="horz" lIns="94014" tIns="47007" rIns="94014" bIns="47007" rtlCol="0"/>
          <a:lstStyle>
            <a:lvl1pPr algn="r">
              <a:defRPr sz="1200"/>
            </a:lvl1pPr>
          </a:lstStyle>
          <a:p>
            <a:fld id="{0F3B30EB-BB50-4B88-B2B6-DB8BAC0DD713}" type="datetimeFigureOut">
              <a:rPr lang="en-GB" smtClean="0"/>
              <a:t>25/02/2025</a:t>
            </a:fld>
            <a:endParaRPr lang="en-GB"/>
          </a:p>
        </p:txBody>
      </p:sp>
      <p:sp>
        <p:nvSpPr>
          <p:cNvPr id="4" name="Slide Image Placeholder 3"/>
          <p:cNvSpPr>
            <a:spLocks noGrp="1" noRot="1" noChangeAspect="1"/>
          </p:cNvSpPr>
          <p:nvPr>
            <p:ph type="sldImg" idx="2"/>
          </p:nvPr>
        </p:nvSpPr>
        <p:spPr>
          <a:xfrm>
            <a:off x="3238500" y="509588"/>
            <a:ext cx="3397250" cy="2547937"/>
          </a:xfrm>
          <a:prstGeom prst="rect">
            <a:avLst/>
          </a:prstGeom>
          <a:noFill/>
          <a:ln w="12700">
            <a:solidFill>
              <a:prstClr val="black"/>
            </a:solidFill>
          </a:ln>
        </p:spPr>
        <p:txBody>
          <a:bodyPr vert="horz" lIns="94014" tIns="47007" rIns="94014" bIns="47007" rtlCol="0" anchor="ctr"/>
          <a:lstStyle/>
          <a:p>
            <a:endParaRPr lang="en-GB"/>
          </a:p>
        </p:txBody>
      </p:sp>
      <p:sp>
        <p:nvSpPr>
          <p:cNvPr id="5" name="Notes Placeholder 4"/>
          <p:cNvSpPr>
            <a:spLocks noGrp="1"/>
          </p:cNvSpPr>
          <p:nvPr>
            <p:ph type="body" sz="quarter" idx="3"/>
          </p:nvPr>
        </p:nvSpPr>
        <p:spPr>
          <a:xfrm>
            <a:off x="987427" y="3228897"/>
            <a:ext cx="7899400" cy="3058954"/>
          </a:xfrm>
          <a:prstGeom prst="rect">
            <a:avLst/>
          </a:prstGeom>
        </p:spPr>
        <p:txBody>
          <a:bodyPr vert="horz" lIns="94014" tIns="47007" rIns="94014" bIns="4700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4" y="6456611"/>
            <a:ext cx="4278842" cy="339884"/>
          </a:xfrm>
          <a:prstGeom prst="rect">
            <a:avLst/>
          </a:prstGeom>
        </p:spPr>
        <p:txBody>
          <a:bodyPr vert="horz" lIns="94014" tIns="47007" rIns="94014" bIns="47007" rtlCol="0" anchor="b"/>
          <a:lstStyle>
            <a:lvl1pPr algn="l">
              <a:defRPr sz="1200"/>
            </a:lvl1pPr>
          </a:lstStyle>
          <a:p>
            <a:endParaRPr lang="en-GB"/>
          </a:p>
        </p:txBody>
      </p:sp>
      <p:sp>
        <p:nvSpPr>
          <p:cNvPr id="7" name="Slide Number Placeholder 6"/>
          <p:cNvSpPr>
            <a:spLocks noGrp="1"/>
          </p:cNvSpPr>
          <p:nvPr>
            <p:ph type="sldNum" sz="quarter" idx="5"/>
          </p:nvPr>
        </p:nvSpPr>
        <p:spPr>
          <a:xfrm>
            <a:off x="5593126" y="6456611"/>
            <a:ext cx="4278842" cy="339884"/>
          </a:xfrm>
          <a:prstGeom prst="rect">
            <a:avLst/>
          </a:prstGeom>
        </p:spPr>
        <p:txBody>
          <a:bodyPr vert="horz" lIns="94014" tIns="47007" rIns="94014" bIns="47007" rtlCol="0" anchor="b"/>
          <a:lstStyle>
            <a:lvl1pPr algn="r">
              <a:defRPr sz="1200"/>
            </a:lvl1pPr>
          </a:lstStyle>
          <a:p>
            <a:fld id="{970FA88C-524C-42C0-8773-76F368B52736}" type="slidenum">
              <a:rPr lang="en-GB" smtClean="0"/>
              <a:t>‹#›</a:t>
            </a:fld>
            <a:endParaRPr lang="en-GB"/>
          </a:p>
        </p:txBody>
      </p:sp>
    </p:spTree>
    <p:extLst>
      <p:ext uri="{BB962C8B-B14F-4D97-AF65-F5344CB8AC3E}">
        <p14:creationId xmlns:p14="http://schemas.microsoft.com/office/powerpoint/2010/main" val="3167128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ukcmic.org/downloads/reports/ukcmic-2024-criticality-assessment.pdf"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www.sedimentaryores.net/Manganese/data/Black%20Sea/Russian%20ores%20averages.xlsx"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2</a:t>
            </a:fld>
            <a:endParaRPr lang="en-GB"/>
          </a:p>
        </p:txBody>
      </p:sp>
    </p:spTree>
    <p:extLst>
      <p:ext uri="{BB962C8B-B14F-4D97-AF65-F5344CB8AC3E}">
        <p14:creationId xmlns:p14="http://schemas.microsoft.com/office/powerpoint/2010/main" val="2677010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fld id="{378D1A4E-3528-4458-94AA-031F14B733C3}" type="slidenum">
              <a:rPr lang="en-GB" smtClean="0"/>
              <a:t>5</a:t>
            </a:fld>
            <a:endParaRPr lang="en-GB"/>
          </a:p>
        </p:txBody>
      </p:sp>
    </p:spTree>
    <p:extLst>
      <p:ext uri="{BB962C8B-B14F-4D97-AF65-F5344CB8AC3E}">
        <p14:creationId xmlns:p14="http://schemas.microsoft.com/office/powerpoint/2010/main" val="1767095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6</a:t>
            </a:fld>
            <a:endParaRPr lang="en-GB"/>
          </a:p>
        </p:txBody>
      </p:sp>
    </p:spTree>
    <p:extLst>
      <p:ext uri="{BB962C8B-B14F-4D97-AF65-F5344CB8AC3E}">
        <p14:creationId xmlns:p14="http://schemas.microsoft.com/office/powerpoint/2010/main" val="2543428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7</a:t>
            </a:fld>
            <a:endParaRPr lang="en-GB"/>
          </a:p>
        </p:txBody>
      </p:sp>
    </p:spTree>
    <p:extLst>
      <p:ext uri="{BB962C8B-B14F-4D97-AF65-F5344CB8AC3E}">
        <p14:creationId xmlns:p14="http://schemas.microsoft.com/office/powerpoint/2010/main" val="175517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8</a:t>
            </a:fld>
            <a:endParaRPr lang="en-GB"/>
          </a:p>
        </p:txBody>
      </p:sp>
    </p:spTree>
    <p:extLst>
      <p:ext uri="{BB962C8B-B14F-4D97-AF65-F5344CB8AC3E}">
        <p14:creationId xmlns:p14="http://schemas.microsoft.com/office/powerpoint/2010/main" val="3391035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9</a:t>
            </a:fld>
            <a:endParaRPr lang="en-GB"/>
          </a:p>
        </p:txBody>
      </p:sp>
    </p:spTree>
    <p:extLst>
      <p:ext uri="{BB962C8B-B14F-4D97-AF65-F5344CB8AC3E}">
        <p14:creationId xmlns:p14="http://schemas.microsoft.com/office/powerpoint/2010/main" val="2922928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10</a:t>
            </a:fld>
            <a:endParaRPr lang="en-GB"/>
          </a:p>
        </p:txBody>
      </p:sp>
    </p:spTree>
    <p:extLst>
      <p:ext uri="{BB962C8B-B14F-4D97-AF65-F5344CB8AC3E}">
        <p14:creationId xmlns:p14="http://schemas.microsoft.com/office/powerpoint/2010/main" val="2421806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11</a:t>
            </a:fld>
            <a:endParaRPr lang="en-GB"/>
          </a:p>
        </p:txBody>
      </p:sp>
    </p:spTree>
    <p:extLst>
      <p:ext uri="{BB962C8B-B14F-4D97-AF65-F5344CB8AC3E}">
        <p14:creationId xmlns:p14="http://schemas.microsoft.com/office/powerpoint/2010/main" val="604436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FEF3700-1EAA-AD40-B8C3-81278236E4FE}" type="slidenum">
              <a:rPr lang="en-US" smtClean="0"/>
              <a:t>12</a:t>
            </a:fld>
            <a:endParaRPr lang="en-US"/>
          </a:p>
        </p:txBody>
      </p:sp>
    </p:spTree>
    <p:extLst>
      <p:ext uri="{BB962C8B-B14F-4D97-AF65-F5344CB8AC3E}">
        <p14:creationId xmlns:p14="http://schemas.microsoft.com/office/powerpoint/2010/main" val="2050144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UK 2024 criticality assessment</a:t>
            </a:r>
            <a:endParaRPr lang="en-US"/>
          </a:p>
        </p:txBody>
      </p:sp>
      <p:sp>
        <p:nvSpPr>
          <p:cNvPr id="4" name="Slide Number Placeholder 3"/>
          <p:cNvSpPr>
            <a:spLocks noGrp="1"/>
          </p:cNvSpPr>
          <p:nvPr>
            <p:ph type="sldNum" sz="quarter" idx="5"/>
          </p:nvPr>
        </p:nvSpPr>
        <p:spPr/>
        <p:txBody>
          <a:bodyPr/>
          <a:lstStyle/>
          <a:p>
            <a:fld id="{970FA88C-524C-42C0-8773-76F368B52736}" type="slidenum">
              <a:rPr lang="en-GB" smtClean="0"/>
              <a:t>13</a:t>
            </a:fld>
            <a:endParaRPr lang="en-GB"/>
          </a:p>
        </p:txBody>
      </p:sp>
    </p:spTree>
    <p:extLst>
      <p:ext uri="{BB962C8B-B14F-4D97-AF65-F5344CB8AC3E}">
        <p14:creationId xmlns:p14="http://schemas.microsoft.com/office/powerpoint/2010/main" val="21172994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16</a:t>
            </a:fld>
            <a:endParaRPr lang="en-GB"/>
          </a:p>
        </p:txBody>
      </p:sp>
    </p:spTree>
    <p:extLst>
      <p:ext uri="{BB962C8B-B14F-4D97-AF65-F5344CB8AC3E}">
        <p14:creationId xmlns:p14="http://schemas.microsoft.com/office/powerpoint/2010/main" val="4039399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17</a:t>
            </a:fld>
            <a:endParaRPr lang="en-GB"/>
          </a:p>
        </p:txBody>
      </p:sp>
    </p:spTree>
    <p:extLst>
      <p:ext uri="{BB962C8B-B14F-4D97-AF65-F5344CB8AC3E}">
        <p14:creationId xmlns:p14="http://schemas.microsoft.com/office/powerpoint/2010/main" val="28489416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18</a:t>
            </a:fld>
            <a:endParaRPr lang="en-GB"/>
          </a:p>
        </p:txBody>
      </p:sp>
    </p:spTree>
    <p:extLst>
      <p:ext uri="{BB962C8B-B14F-4D97-AF65-F5344CB8AC3E}">
        <p14:creationId xmlns:p14="http://schemas.microsoft.com/office/powerpoint/2010/main" val="3611160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19</a:t>
            </a:fld>
            <a:endParaRPr lang="en-GB"/>
          </a:p>
        </p:txBody>
      </p:sp>
    </p:spTree>
    <p:extLst>
      <p:ext uri="{BB962C8B-B14F-4D97-AF65-F5344CB8AC3E}">
        <p14:creationId xmlns:p14="http://schemas.microsoft.com/office/powerpoint/2010/main" val="16707369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20</a:t>
            </a:fld>
            <a:endParaRPr lang="en-GB"/>
          </a:p>
        </p:txBody>
      </p:sp>
    </p:spTree>
    <p:extLst>
      <p:ext uri="{BB962C8B-B14F-4D97-AF65-F5344CB8AC3E}">
        <p14:creationId xmlns:p14="http://schemas.microsoft.com/office/powerpoint/2010/main" val="33671680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21</a:t>
            </a:fld>
            <a:endParaRPr lang="en-GB"/>
          </a:p>
        </p:txBody>
      </p:sp>
    </p:spTree>
    <p:extLst>
      <p:ext uri="{BB962C8B-B14F-4D97-AF65-F5344CB8AC3E}">
        <p14:creationId xmlns:p14="http://schemas.microsoft.com/office/powerpoint/2010/main" val="3725253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22</a:t>
            </a:fld>
            <a:endParaRPr lang="en-GB"/>
          </a:p>
        </p:txBody>
      </p:sp>
    </p:spTree>
    <p:extLst>
      <p:ext uri="{BB962C8B-B14F-4D97-AF65-F5344CB8AC3E}">
        <p14:creationId xmlns:p14="http://schemas.microsoft.com/office/powerpoint/2010/main" val="7185128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23</a:t>
            </a:fld>
            <a:endParaRPr lang="en-GB"/>
          </a:p>
        </p:txBody>
      </p:sp>
    </p:spTree>
    <p:extLst>
      <p:ext uri="{BB962C8B-B14F-4D97-AF65-F5344CB8AC3E}">
        <p14:creationId xmlns:p14="http://schemas.microsoft.com/office/powerpoint/2010/main" val="23515223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26</a:t>
            </a:fld>
            <a:endParaRPr lang="en-GB"/>
          </a:p>
        </p:txBody>
      </p:sp>
    </p:spTree>
    <p:extLst>
      <p:ext uri="{BB962C8B-B14F-4D97-AF65-F5344CB8AC3E}">
        <p14:creationId xmlns:p14="http://schemas.microsoft.com/office/powerpoint/2010/main" val="4089582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28</a:t>
            </a:fld>
            <a:endParaRPr lang="en-GB"/>
          </a:p>
        </p:txBody>
      </p:sp>
    </p:spTree>
    <p:extLst>
      <p:ext uri="{BB962C8B-B14F-4D97-AF65-F5344CB8AC3E}">
        <p14:creationId xmlns:p14="http://schemas.microsoft.com/office/powerpoint/2010/main" val="1274745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29</a:t>
            </a:fld>
            <a:endParaRPr lang="en-GB"/>
          </a:p>
        </p:txBody>
      </p:sp>
    </p:spTree>
    <p:extLst>
      <p:ext uri="{BB962C8B-B14F-4D97-AF65-F5344CB8AC3E}">
        <p14:creationId xmlns:p14="http://schemas.microsoft.com/office/powerpoint/2010/main" val="24098274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30</a:t>
            </a:fld>
            <a:endParaRPr lang="en-GB"/>
          </a:p>
        </p:txBody>
      </p:sp>
    </p:spTree>
    <p:extLst>
      <p:ext uri="{BB962C8B-B14F-4D97-AF65-F5344CB8AC3E}">
        <p14:creationId xmlns:p14="http://schemas.microsoft.com/office/powerpoint/2010/main" val="39250419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33</a:t>
            </a:fld>
            <a:endParaRPr lang="en-GB"/>
          </a:p>
        </p:txBody>
      </p:sp>
    </p:spTree>
    <p:extLst>
      <p:ext uri="{BB962C8B-B14F-4D97-AF65-F5344CB8AC3E}">
        <p14:creationId xmlns:p14="http://schemas.microsoft.com/office/powerpoint/2010/main" val="2830316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34</a:t>
            </a:fld>
            <a:endParaRPr lang="en-GB"/>
          </a:p>
        </p:txBody>
      </p:sp>
    </p:spTree>
    <p:extLst>
      <p:ext uri="{BB962C8B-B14F-4D97-AF65-F5344CB8AC3E}">
        <p14:creationId xmlns:p14="http://schemas.microsoft.com/office/powerpoint/2010/main" val="33481422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a:p>
          <a:p>
            <a:endParaRPr lang="en-GB" dirty="0"/>
          </a:p>
          <a:p>
            <a:endParaRPr lang="en-GB" dirty="0"/>
          </a:p>
          <a:p>
            <a:r>
              <a:rPr lang="en-GB" dirty="0"/>
              <a:t>Manganese ore deposits, all dating from the Oligocene, form an arc around the north side of the Black Sea, stretching from Turkey through Bulgaria, the Ukraine, Russia and Georgia and finally in Kazakhstan. They constitute the third great episode of Mn deposition, in the Early Oligocene.</a:t>
            </a:r>
          </a:p>
          <a:p>
            <a:r>
              <a:rPr lang="en-GB" i="1" dirty="0"/>
              <a:t>Black Sea deposits (click for larger image)</a:t>
            </a:r>
            <a:r>
              <a:rPr lang="en-GB" dirty="0"/>
              <a:t>.</a:t>
            </a:r>
            <a:r>
              <a:rPr lang="en-GB" i="1" dirty="0"/>
              <a:t> Not shown is </a:t>
            </a:r>
            <a:r>
              <a:rPr lang="en-GB" i="1" dirty="0" err="1"/>
              <a:t>Mangyshlak</a:t>
            </a:r>
            <a:r>
              <a:rPr lang="en-GB" i="1" dirty="0"/>
              <a:t> in Kazakhstan.</a:t>
            </a:r>
            <a:endParaRPr lang="en-GB" dirty="0"/>
          </a:p>
          <a:p>
            <a:r>
              <a:rPr lang="en-GB" i="1" dirty="0">
                <a:hlinkClick r:id="rId3"/>
              </a:rPr>
              <a:t>Table of average ore compositions</a:t>
            </a:r>
            <a:endParaRPr lang="en-GB" dirty="0"/>
          </a:p>
          <a:p>
            <a:r>
              <a:rPr lang="en-GB" dirty="0"/>
              <a:t> </a:t>
            </a:r>
          </a:p>
          <a:p>
            <a:r>
              <a:rPr lang="en-GB" dirty="0"/>
              <a:t> </a:t>
            </a:r>
          </a:p>
          <a:p>
            <a:r>
              <a:rPr lang="en-GB" dirty="0"/>
              <a:t>These and most other large Mn deposits likely formed around the margins of euxinic basins (those with free H</a:t>
            </a:r>
            <a:r>
              <a:rPr lang="en-GB" baseline="-25000" dirty="0"/>
              <a:t>2</a:t>
            </a:r>
            <a:r>
              <a:rPr lang="en-GB" dirty="0"/>
              <a:t>S in deep water). Such basins -- exemplified by the modern Black Sea -- have a thin zone of oxygen-containing water overlying a large reservoir of oxygen-free, sulfidic water. Elements like Mn that are soluble under reducing, sulfidic conditions but insoluble under oxidizing conditions precipitate along the interface between these water masses. Generally the Mn solids simply sink back into the sulfidic water and redissolve, but along basin margins, where the transition impinges on the bottom, Mn oxide accumulates in the bottom sediment where it reacts with organic matter to form Mn carbonate (Force and Cannon,1988; Okita, 1987; Okita et al. 1988; Maynard et al., 1990; Okita 1992, and Okita and Shanks, 1992).</a:t>
            </a:r>
          </a:p>
          <a:p>
            <a:br>
              <a:rPr lang="en-GB" dirty="0"/>
            </a:br>
            <a:endParaRPr lang="en-GB" dirty="0"/>
          </a:p>
          <a:p>
            <a:r>
              <a:rPr lang="en-GB" dirty="0"/>
              <a:t>The overall process can be represented schematically by the reaction</a:t>
            </a:r>
          </a:p>
          <a:p>
            <a:r>
              <a:rPr lang="en-GB" dirty="0"/>
              <a:t>2MnO</a:t>
            </a:r>
            <a:r>
              <a:rPr lang="en-GB" baseline="-25000" dirty="0"/>
              <a:t>2</a:t>
            </a:r>
            <a:r>
              <a:rPr lang="en-GB" dirty="0"/>
              <a:t> + CH</a:t>
            </a:r>
            <a:r>
              <a:rPr lang="en-GB" baseline="-25000" dirty="0"/>
              <a:t>2</a:t>
            </a:r>
            <a:r>
              <a:rPr lang="en-GB" dirty="0"/>
              <a:t>O + HCO</a:t>
            </a:r>
            <a:r>
              <a:rPr lang="en-GB" baseline="-25000" dirty="0"/>
              <a:t>3</a:t>
            </a:r>
            <a:r>
              <a:rPr lang="en-GB" dirty="0"/>
              <a:t>-  → 2MnCO</a:t>
            </a:r>
            <a:r>
              <a:rPr lang="en-GB" baseline="-25000" dirty="0"/>
              <a:t>3</a:t>
            </a:r>
            <a:r>
              <a:rPr lang="en-GB" dirty="0"/>
              <a:t> + H</a:t>
            </a:r>
            <a:r>
              <a:rPr lang="en-GB" baseline="-25000" dirty="0"/>
              <a:t>2</a:t>
            </a:r>
            <a:r>
              <a:rPr lang="en-GB" dirty="0"/>
              <a:t>O + OH- .</a:t>
            </a:r>
          </a:p>
          <a:p>
            <a:r>
              <a:rPr lang="en-GB" dirty="0"/>
              <a:t>1/2 the C incorporated in the MnCO</a:t>
            </a:r>
            <a:r>
              <a:rPr lang="en-GB" baseline="-25000" dirty="0"/>
              <a:t>3</a:t>
            </a:r>
            <a:r>
              <a:rPr lang="en-GB" dirty="0"/>
              <a:t> comes from organic matter, which has an isotopic composition of ~ -27 </a:t>
            </a:r>
            <a:r>
              <a:rPr lang="en-GB" dirty="0" err="1"/>
              <a:t>permil</a:t>
            </a:r>
            <a:r>
              <a:rPr lang="en-GB" dirty="0"/>
              <a:t>, while the remaining 1/2 comes from oceanic HCO</a:t>
            </a:r>
            <a:r>
              <a:rPr lang="en-GB" baseline="-25000" dirty="0"/>
              <a:t>3</a:t>
            </a:r>
            <a:r>
              <a:rPr lang="en-GB" dirty="0"/>
              <a:t> with an isotopic composition close to 0 </a:t>
            </a:r>
            <a:r>
              <a:rPr lang="en-GB" dirty="0" err="1"/>
              <a:t>permil</a:t>
            </a:r>
            <a:r>
              <a:rPr lang="en-GB" dirty="0"/>
              <a:t>.</a:t>
            </a:r>
          </a:p>
          <a:p>
            <a:r>
              <a:rPr lang="en-GB" dirty="0"/>
              <a:t>The resulting Mn deposit will have a good correlation between Mn grade and d</a:t>
            </a:r>
            <a:r>
              <a:rPr lang="en-GB" baseline="30000" dirty="0"/>
              <a:t>13</a:t>
            </a:r>
            <a:r>
              <a:rPr lang="en-GB" dirty="0"/>
              <a:t>C with high grade samples approaching -15 </a:t>
            </a:r>
            <a:r>
              <a:rPr lang="en-GB" dirty="0" err="1"/>
              <a:t>permil</a:t>
            </a:r>
            <a:r>
              <a:rPr lang="en-GB" dirty="0"/>
              <a:t>.</a:t>
            </a:r>
          </a:p>
          <a:p>
            <a:r>
              <a:rPr lang="en-GB" dirty="0"/>
              <a:t>http://www.sedimentaryores.net/Manganese/Black%20Sea%20index.html</a:t>
            </a:r>
          </a:p>
          <a:p>
            <a:endParaRPr lang="en-GB" dirty="0"/>
          </a:p>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35</a:t>
            </a:fld>
            <a:endParaRPr lang="en-GB"/>
          </a:p>
        </p:txBody>
      </p:sp>
    </p:spTree>
    <p:extLst>
      <p:ext uri="{BB962C8B-B14F-4D97-AF65-F5344CB8AC3E}">
        <p14:creationId xmlns:p14="http://schemas.microsoft.com/office/powerpoint/2010/main" val="15858373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70FA88C-524C-42C0-8773-76F368B52736}" type="slidenum">
              <a:rPr lang="en-GB" smtClean="0"/>
              <a:t>36</a:t>
            </a:fld>
            <a:endParaRPr lang="en-GB"/>
          </a:p>
        </p:txBody>
      </p:sp>
    </p:spTree>
    <p:extLst>
      <p:ext uri="{BB962C8B-B14F-4D97-AF65-F5344CB8AC3E}">
        <p14:creationId xmlns:p14="http://schemas.microsoft.com/office/powerpoint/2010/main" val="40383136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38</a:t>
            </a:fld>
            <a:endParaRPr lang="en-GB"/>
          </a:p>
        </p:txBody>
      </p:sp>
    </p:spTree>
    <p:extLst>
      <p:ext uri="{BB962C8B-B14F-4D97-AF65-F5344CB8AC3E}">
        <p14:creationId xmlns:p14="http://schemas.microsoft.com/office/powerpoint/2010/main" val="40590744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39</a:t>
            </a:fld>
            <a:endParaRPr lang="en-GB"/>
          </a:p>
        </p:txBody>
      </p:sp>
    </p:spTree>
    <p:extLst>
      <p:ext uri="{BB962C8B-B14F-4D97-AF65-F5344CB8AC3E}">
        <p14:creationId xmlns:p14="http://schemas.microsoft.com/office/powerpoint/2010/main" val="31281149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40</a:t>
            </a:fld>
            <a:endParaRPr lang="en-GB"/>
          </a:p>
        </p:txBody>
      </p:sp>
    </p:spTree>
    <p:extLst>
      <p:ext uri="{BB962C8B-B14F-4D97-AF65-F5344CB8AC3E}">
        <p14:creationId xmlns:p14="http://schemas.microsoft.com/office/powerpoint/2010/main" val="23129044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ctr">
              <a:spcBef>
                <a:spcPts val="750"/>
              </a:spcBef>
              <a:spcAft>
                <a:spcPts val="600"/>
              </a:spcAft>
              <a:buFont typeface="+mj-lt"/>
              <a:buAutoNum type="arabicPeriod"/>
            </a:pPr>
            <a:r>
              <a:rPr lang="en-US" b="1" i="0" dirty="0">
                <a:solidFill>
                  <a:srgbClr val="001D35"/>
                </a:solidFill>
                <a:effectLst/>
                <a:latin typeface="Google Sans"/>
              </a:rPr>
              <a:t>Crushing</a:t>
            </a:r>
            <a:r>
              <a:rPr lang="en-US" b="0" i="0" dirty="0">
                <a:solidFill>
                  <a:srgbClr val="001D35"/>
                </a:solidFill>
                <a:effectLst/>
                <a:latin typeface="Google Sans"/>
              </a:rPr>
              <a:t>: Bauxite ore is crushed, washed, and dried. </a:t>
            </a:r>
          </a:p>
          <a:p>
            <a:pPr algn="l" fontAlgn="ctr">
              <a:spcBef>
                <a:spcPts val="750"/>
              </a:spcBef>
              <a:spcAft>
                <a:spcPts val="600"/>
              </a:spcAft>
              <a:buFont typeface="+mj-lt"/>
              <a:buAutoNum type="arabicPeriod" startAt="2"/>
            </a:pPr>
            <a:r>
              <a:rPr lang="en-US" b="1" i="0" dirty="0">
                <a:solidFill>
                  <a:srgbClr val="001D35"/>
                </a:solidFill>
                <a:effectLst/>
                <a:latin typeface="Google Sans"/>
              </a:rPr>
              <a:t>Digestion</a:t>
            </a:r>
            <a:r>
              <a:rPr lang="en-US" b="0" i="0" dirty="0">
                <a:solidFill>
                  <a:srgbClr val="001D35"/>
                </a:solidFill>
                <a:effectLst/>
                <a:latin typeface="Google Sans"/>
              </a:rPr>
              <a:t>: The bauxite is heated in a caustic solution, usually sodium hydroxide, at high temperatures and pressures. </a:t>
            </a:r>
          </a:p>
          <a:p>
            <a:pPr algn="l" fontAlgn="ctr">
              <a:spcBef>
                <a:spcPts val="750"/>
              </a:spcBef>
              <a:spcAft>
                <a:spcPts val="600"/>
              </a:spcAft>
              <a:buFont typeface="+mj-lt"/>
              <a:buAutoNum type="arabicPeriod" startAt="3"/>
            </a:pPr>
            <a:r>
              <a:rPr lang="en-US" b="1" i="0" dirty="0">
                <a:solidFill>
                  <a:srgbClr val="001D35"/>
                </a:solidFill>
                <a:effectLst/>
                <a:latin typeface="Google Sans"/>
              </a:rPr>
              <a:t>Separation</a:t>
            </a:r>
            <a:r>
              <a:rPr lang="en-US" b="0" i="0" dirty="0">
                <a:solidFill>
                  <a:srgbClr val="001D35"/>
                </a:solidFill>
                <a:effectLst/>
                <a:latin typeface="Google Sans"/>
              </a:rPr>
              <a:t>: The hot sodium aluminate slurry is separated from the undissolved residue, called "red mud". </a:t>
            </a:r>
          </a:p>
          <a:p>
            <a:pPr algn="l" fontAlgn="ctr">
              <a:spcBef>
                <a:spcPts val="750"/>
              </a:spcBef>
              <a:spcAft>
                <a:spcPts val="1500"/>
              </a:spcAft>
            </a:pPr>
            <a:r>
              <a:rPr lang="en-US" b="1" i="0" dirty="0">
                <a:solidFill>
                  <a:srgbClr val="001D35"/>
                </a:solidFill>
                <a:effectLst/>
                <a:latin typeface="Google Sans"/>
              </a:rPr>
              <a:t>Precipitation</a:t>
            </a:r>
            <a:r>
              <a:rPr lang="en-US" b="0" i="0" dirty="0">
                <a:solidFill>
                  <a:srgbClr val="001D35"/>
                </a:solidFill>
                <a:effectLst/>
                <a:latin typeface="Google Sans"/>
              </a:rPr>
              <a:t>: Aluminum hydroxide is precipitated from the hot solution by adding aluminum hydroxide seeds. </a:t>
            </a:r>
          </a:p>
          <a:p>
            <a:pPr algn="l" fontAlgn="ctr">
              <a:spcBef>
                <a:spcPts val="750"/>
              </a:spcBef>
              <a:spcAft>
                <a:spcPts val="1500"/>
              </a:spcAft>
            </a:pPr>
            <a:r>
              <a:rPr lang="en-US" b="1" i="0" dirty="0">
                <a:solidFill>
                  <a:srgbClr val="001D35"/>
                </a:solidFill>
                <a:effectLst/>
                <a:latin typeface="Google Sans"/>
              </a:rPr>
              <a:t>Separation again</a:t>
            </a:r>
            <a:r>
              <a:rPr lang="en-US" b="0" i="0" dirty="0">
                <a:solidFill>
                  <a:srgbClr val="001D35"/>
                </a:solidFill>
                <a:effectLst/>
                <a:latin typeface="Google Sans"/>
              </a:rPr>
              <a:t>: The aluminum hydroxide is separated from the spent caustic liquor. </a:t>
            </a:r>
          </a:p>
          <a:p>
            <a:pPr algn="l" fontAlgn="ctr">
              <a:spcBef>
                <a:spcPts val="750"/>
              </a:spcBef>
              <a:spcAft>
                <a:spcPts val="1500"/>
              </a:spcAft>
            </a:pPr>
            <a:r>
              <a:rPr lang="en-US" b="1" i="0" dirty="0">
                <a:solidFill>
                  <a:srgbClr val="001D35"/>
                </a:solidFill>
                <a:effectLst/>
                <a:latin typeface="Google Sans"/>
              </a:rPr>
              <a:t>Washing and drying</a:t>
            </a:r>
            <a:r>
              <a:rPr lang="en-US" b="0" i="0" dirty="0">
                <a:solidFill>
                  <a:srgbClr val="001D35"/>
                </a:solidFill>
                <a:effectLst/>
                <a:latin typeface="Google Sans"/>
              </a:rPr>
              <a:t>: The aluminum hydroxide is washed and heated to remove excess water. </a:t>
            </a:r>
          </a:p>
          <a:p>
            <a:pPr algn="l">
              <a:spcBef>
                <a:spcPts val="750"/>
              </a:spcBef>
              <a:spcAft>
                <a:spcPts val="1500"/>
              </a:spcAft>
            </a:pPr>
            <a:r>
              <a:rPr lang="en-US" b="1" i="0" dirty="0">
                <a:solidFill>
                  <a:srgbClr val="001D35"/>
                </a:solidFill>
                <a:effectLst/>
                <a:latin typeface="Google Sans"/>
              </a:rPr>
              <a:t>Calcination</a:t>
            </a:r>
            <a:r>
              <a:rPr lang="en-US" b="0" i="0" dirty="0">
                <a:solidFill>
                  <a:srgbClr val="001D35"/>
                </a:solidFill>
                <a:effectLst/>
                <a:latin typeface="Google Sans"/>
              </a:rPr>
              <a:t>: The aluminum hydroxide is heated to form alumina. </a:t>
            </a:r>
          </a:p>
          <a:p>
            <a:endParaRPr lang="en-GB" dirty="0"/>
          </a:p>
        </p:txBody>
      </p:sp>
      <p:sp>
        <p:nvSpPr>
          <p:cNvPr id="4" name="Slide Number Placeholder 3"/>
          <p:cNvSpPr>
            <a:spLocks noGrp="1"/>
          </p:cNvSpPr>
          <p:nvPr>
            <p:ph type="sldNum" sz="quarter" idx="5"/>
          </p:nvPr>
        </p:nvSpPr>
        <p:spPr/>
        <p:txBody>
          <a:bodyPr/>
          <a:lstStyle/>
          <a:p>
            <a:fld id="{970FA88C-524C-42C0-8773-76F368B52736}" type="slidenum">
              <a:rPr lang="en-GB" smtClean="0"/>
              <a:t>41</a:t>
            </a:fld>
            <a:endParaRPr lang="en-GB"/>
          </a:p>
        </p:txBody>
      </p:sp>
    </p:spTree>
    <p:extLst>
      <p:ext uri="{BB962C8B-B14F-4D97-AF65-F5344CB8AC3E}">
        <p14:creationId xmlns:p14="http://schemas.microsoft.com/office/powerpoint/2010/main" val="25347652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42</a:t>
            </a:fld>
            <a:endParaRPr lang="en-GB"/>
          </a:p>
        </p:txBody>
      </p:sp>
    </p:spTree>
    <p:extLst>
      <p:ext uri="{BB962C8B-B14F-4D97-AF65-F5344CB8AC3E}">
        <p14:creationId xmlns:p14="http://schemas.microsoft.com/office/powerpoint/2010/main" val="18076140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44</a:t>
            </a:fld>
            <a:endParaRPr lang="en-GB"/>
          </a:p>
        </p:txBody>
      </p:sp>
    </p:spTree>
    <p:extLst>
      <p:ext uri="{BB962C8B-B14F-4D97-AF65-F5344CB8AC3E}">
        <p14:creationId xmlns:p14="http://schemas.microsoft.com/office/powerpoint/2010/main" val="27798817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9729">
              <a:defRPr/>
            </a:pPr>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45</a:t>
            </a:fld>
            <a:endParaRPr lang="en-GB"/>
          </a:p>
        </p:txBody>
      </p:sp>
    </p:spTree>
    <p:extLst>
      <p:ext uri="{BB962C8B-B14F-4D97-AF65-F5344CB8AC3E}">
        <p14:creationId xmlns:p14="http://schemas.microsoft.com/office/powerpoint/2010/main" val="23883095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47</a:t>
            </a:fld>
            <a:endParaRPr lang="en-GB"/>
          </a:p>
        </p:txBody>
      </p:sp>
    </p:spTree>
    <p:extLst>
      <p:ext uri="{BB962C8B-B14F-4D97-AF65-F5344CB8AC3E}">
        <p14:creationId xmlns:p14="http://schemas.microsoft.com/office/powerpoint/2010/main" val="33208484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70FA88C-524C-42C0-8773-76F368B52736}" type="slidenum">
              <a:rPr lang="en-GB" smtClean="0"/>
              <a:t>49</a:t>
            </a:fld>
            <a:endParaRPr lang="en-GB"/>
          </a:p>
        </p:txBody>
      </p:sp>
    </p:spTree>
    <p:extLst>
      <p:ext uri="{BB962C8B-B14F-4D97-AF65-F5344CB8AC3E}">
        <p14:creationId xmlns:p14="http://schemas.microsoft.com/office/powerpoint/2010/main" val="41496082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50</a:t>
            </a:fld>
            <a:endParaRPr lang="en-GB"/>
          </a:p>
        </p:txBody>
      </p:sp>
    </p:spTree>
    <p:extLst>
      <p:ext uri="{BB962C8B-B14F-4D97-AF65-F5344CB8AC3E}">
        <p14:creationId xmlns:p14="http://schemas.microsoft.com/office/powerpoint/2010/main" val="42622044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51</a:t>
            </a:fld>
            <a:endParaRPr lang="en-GB"/>
          </a:p>
        </p:txBody>
      </p:sp>
    </p:spTree>
    <p:extLst>
      <p:ext uri="{BB962C8B-B14F-4D97-AF65-F5344CB8AC3E}">
        <p14:creationId xmlns:p14="http://schemas.microsoft.com/office/powerpoint/2010/main" val="38673307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52</a:t>
            </a:fld>
            <a:endParaRPr lang="en-GB"/>
          </a:p>
        </p:txBody>
      </p:sp>
    </p:spTree>
    <p:extLst>
      <p:ext uri="{BB962C8B-B14F-4D97-AF65-F5344CB8AC3E}">
        <p14:creationId xmlns:p14="http://schemas.microsoft.com/office/powerpoint/2010/main" val="23132161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59</a:t>
            </a:fld>
            <a:endParaRPr lang="en-GB"/>
          </a:p>
        </p:txBody>
      </p:sp>
    </p:spTree>
    <p:extLst>
      <p:ext uri="{BB962C8B-B14F-4D97-AF65-F5344CB8AC3E}">
        <p14:creationId xmlns:p14="http://schemas.microsoft.com/office/powerpoint/2010/main" val="19181030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60</a:t>
            </a:fld>
            <a:endParaRPr lang="en-GB"/>
          </a:p>
        </p:txBody>
      </p:sp>
    </p:spTree>
    <p:extLst>
      <p:ext uri="{BB962C8B-B14F-4D97-AF65-F5344CB8AC3E}">
        <p14:creationId xmlns:p14="http://schemas.microsoft.com/office/powerpoint/2010/main" val="37529998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64</a:t>
            </a:fld>
            <a:endParaRPr lang="en-GB"/>
          </a:p>
        </p:txBody>
      </p:sp>
    </p:spTree>
    <p:extLst>
      <p:ext uri="{BB962C8B-B14F-4D97-AF65-F5344CB8AC3E}">
        <p14:creationId xmlns:p14="http://schemas.microsoft.com/office/powerpoint/2010/main" val="23410181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65</a:t>
            </a:fld>
            <a:endParaRPr lang="en-GB"/>
          </a:p>
        </p:txBody>
      </p:sp>
    </p:spTree>
    <p:extLst>
      <p:ext uri="{BB962C8B-B14F-4D97-AF65-F5344CB8AC3E}">
        <p14:creationId xmlns:p14="http://schemas.microsoft.com/office/powerpoint/2010/main" val="9924441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Recycling and reprocessing of waste are essential but insufficient.</a:t>
            </a:r>
          </a:p>
          <a:p>
            <a:endParaRPr lang="en-GB" dirty="0"/>
          </a:p>
        </p:txBody>
      </p:sp>
      <p:sp>
        <p:nvSpPr>
          <p:cNvPr id="4" name="Slide Number Placeholder 3"/>
          <p:cNvSpPr>
            <a:spLocks noGrp="1"/>
          </p:cNvSpPr>
          <p:nvPr>
            <p:ph type="sldNum" sz="quarter" idx="5"/>
          </p:nvPr>
        </p:nvSpPr>
        <p:spPr/>
        <p:txBody>
          <a:bodyPr/>
          <a:lstStyle/>
          <a:p>
            <a:fld id="{970FA88C-524C-42C0-8773-76F368B52736}" type="slidenum">
              <a:rPr lang="en-GB" smtClean="0"/>
              <a:t>72</a:t>
            </a:fld>
            <a:endParaRPr lang="en-GB"/>
          </a:p>
        </p:txBody>
      </p:sp>
    </p:spTree>
    <p:extLst>
      <p:ext uri="{BB962C8B-B14F-4D97-AF65-F5344CB8AC3E}">
        <p14:creationId xmlns:p14="http://schemas.microsoft.com/office/powerpoint/2010/main" val="4237686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55A8DAE-7786-43C8-AD3B-8384EDC0EA63}" type="datetimeFigureOut">
              <a:rPr lang="en-GB" smtClean="0"/>
              <a:t>25/02/2025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771428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55A8DAE-7786-43C8-AD3B-8384EDC0EA63}" type="datetimeFigureOut">
              <a:rPr lang="en-GB" smtClean="0"/>
              <a:t>25/02/2025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1750179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5A8DAE-7786-43C8-AD3B-8384EDC0EA63}" type="datetimeFigureOut">
              <a:rPr lang="en-GB" smtClean="0"/>
              <a:t>25/02/2025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1566904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55A8DAE-7786-43C8-AD3B-8384EDC0EA63}" type="datetimeFigureOut">
              <a:rPr lang="en-GB" smtClean="0"/>
              <a:t>25/02/2025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3034122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E55A8DAE-7786-43C8-AD3B-8384EDC0EA63}" type="datetimeFigureOut">
              <a:rPr lang="en-GB" smtClean="0"/>
              <a:t>25/02/2025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2554584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55A8DAE-7786-43C8-AD3B-8384EDC0EA63}" type="datetimeFigureOut">
              <a:rPr lang="en-GB" smtClean="0"/>
              <a:t>25/02/2025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2628503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5A8DAE-7786-43C8-AD3B-8384EDC0EA63}" type="datetimeFigureOut">
              <a:rPr lang="en-GB" smtClean="0"/>
              <a:t>25/02/2025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3980909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5A8DAE-7786-43C8-AD3B-8384EDC0EA63}" type="datetimeFigureOut">
              <a:rPr lang="en-GB" smtClean="0"/>
              <a:t>25/02/2025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785691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5A8DAE-7786-43C8-AD3B-8384EDC0EA63}" type="datetimeFigureOut">
              <a:rPr lang="en-GB" smtClean="0"/>
              <a:t>25/02/2025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415154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55A8DAE-7786-43C8-AD3B-8384EDC0EA63}" type="datetimeFigureOut">
              <a:rPr lang="en-GB" smtClean="0"/>
              <a:t>25/02/2025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2734989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55A8DAE-7786-43C8-AD3B-8384EDC0EA63}" type="datetimeFigureOut">
              <a:rPr lang="en-GB" smtClean="0"/>
              <a:t>25/02/2025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CA28C2F-A4B2-4774-B742-862132A7474F}" type="slidenum">
              <a:rPr lang="en-GB" smtClean="0"/>
              <a:t>‹#›</a:t>
            </a:fld>
            <a:endParaRPr lang="en-GB"/>
          </a:p>
        </p:txBody>
      </p:sp>
    </p:spTree>
    <p:extLst>
      <p:ext uri="{BB962C8B-B14F-4D97-AF65-F5344CB8AC3E}">
        <p14:creationId xmlns:p14="http://schemas.microsoft.com/office/powerpoint/2010/main" val="2244649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5A8DAE-7786-43C8-AD3B-8384EDC0EA63}" type="datetimeFigureOut">
              <a:rPr lang="en-GB" smtClean="0"/>
              <a:t>25/02/2025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A28C2F-A4B2-4774-B742-862132A7474F}" type="slidenum">
              <a:rPr lang="en-GB" smtClean="0"/>
              <a:t>‹#›</a:t>
            </a:fld>
            <a:endParaRPr lang="en-GB"/>
          </a:p>
        </p:txBody>
      </p:sp>
    </p:spTree>
    <p:extLst>
      <p:ext uri="{BB962C8B-B14F-4D97-AF65-F5344CB8AC3E}">
        <p14:creationId xmlns:p14="http://schemas.microsoft.com/office/powerpoint/2010/main" val="4260596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Vicky.coker@manchester.ac.uk" TargetMode="External"/><Relationship Id="rId2" Type="http://schemas.openxmlformats.org/officeDocument/2006/relationships/image" Target="../media/image1.tif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data.europa.eu/doi/10.2760/026725" TargetMode="External"/><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ukcmic.org/downloads/reports/ukcmic-2024-criticality-assessment.pdf"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4.jpeg"/></Relationships>
</file>

<file path=ppt/slides/_rels/slide20.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2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www.sciencedirect.com/topics/engineering/blast-furnace-process" TargetMode="Externa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hyperlink" Target="https://worldsteel.org/data/annual-production-steel-data/?ind=P1_crude_steel_total_pub/CHN/IND"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assets.publishing.service.gov.uk/media/679382182de28ea2d392f37f/phasing-out-the-sale-of-new-petrol-and-diesel-cars-from-2030-and-support-for-the-zero-emission-transition.pdf"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3.pn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47.jpeg"/></Relationships>
</file>

<file path=ppt/slides/_rels/slide3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49.jpeg"/></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54.gif"/></Relationships>
</file>

<file path=ppt/slides/_rels/slide37.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60.jpeg"/><Relationship Id="rId5" Type="http://schemas.openxmlformats.org/officeDocument/2006/relationships/image" Target="../media/image59.jpeg"/><Relationship Id="rId4" Type="http://schemas.openxmlformats.org/officeDocument/2006/relationships/image" Target="../media/image58.jpeg"/></Relationships>
</file>

<file path=ppt/slides/_rels/slide39.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62.jpeg"/></Relationships>
</file>

<file path=ppt/slides/_rels/slide4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68.gif"/><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69.jpeg"/><Relationship Id="rId4" Type="http://schemas.openxmlformats.org/officeDocument/2006/relationships/hyperlink" Target="http://www.smenet.org/opaque-ore/plate12.htm"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74.png"/><Relationship Id="rId4" Type="http://schemas.openxmlformats.org/officeDocument/2006/relationships/image" Target="../media/image73.jpeg"/></Relationships>
</file>

<file path=ppt/slides/_rels/slide4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5.xml"/><Relationship Id="rId1" Type="http://schemas.openxmlformats.org/officeDocument/2006/relationships/slideLayout" Target="../slideLayouts/slideLayout6.xml"/><Relationship Id="rId5" Type="http://schemas.openxmlformats.org/officeDocument/2006/relationships/image" Target="../media/image78.png"/><Relationship Id="rId4" Type="http://schemas.openxmlformats.org/officeDocument/2006/relationships/image" Target="../media/image77.png"/></Relationships>
</file>

<file path=ppt/slides/_rels/slide5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81.jpeg"/><Relationship Id="rId4" Type="http://schemas.openxmlformats.org/officeDocument/2006/relationships/image" Target="../media/image80.jpeg"/></Relationships>
</file>

<file path=ppt/slides/_rels/slide51.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83.jpeg"/></Relationships>
</file>

<file path=ppt/slides/_rels/slide5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image" Target="../media/image85.jpeg"/><Relationship Id="rId1" Type="http://schemas.openxmlformats.org/officeDocument/2006/relationships/slideLayout" Target="../slideLayouts/slideLayout2.xml"/><Relationship Id="rId4" Type="http://schemas.openxmlformats.org/officeDocument/2006/relationships/image" Target="../media/image87.jpeg"/></Relationships>
</file>

<file path=ppt/slides/_rels/slide54.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1.jpeg"/><Relationship Id="rId7" Type="http://schemas.openxmlformats.org/officeDocument/2006/relationships/image" Target="../media/image95.jpeg"/><Relationship Id="rId2" Type="http://schemas.openxmlformats.org/officeDocument/2006/relationships/image" Target="../media/image90.jpeg"/><Relationship Id="rId1" Type="http://schemas.openxmlformats.org/officeDocument/2006/relationships/slideLayout" Target="../slideLayouts/slideLayout2.xml"/><Relationship Id="rId6" Type="http://schemas.openxmlformats.org/officeDocument/2006/relationships/image" Target="../media/image94.jpeg"/><Relationship Id="rId5" Type="http://schemas.openxmlformats.org/officeDocument/2006/relationships/image" Target="../media/image93.jpeg"/><Relationship Id="rId4" Type="http://schemas.openxmlformats.org/officeDocument/2006/relationships/image" Target="../media/image92.jpeg"/></Relationships>
</file>

<file path=ppt/slides/_rels/slide5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102.png"/><Relationship Id="rId4" Type="http://schemas.openxmlformats.org/officeDocument/2006/relationships/image" Target="../media/image101.jpeg"/></Relationships>
</file>

<file path=ppt/slides/_rels/slide6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104.png"/></Relationships>
</file>

<file path=ppt/slides/_rels/slide61.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1.xml"/><Relationship Id="rId1" Type="http://schemas.openxmlformats.org/officeDocument/2006/relationships/slideLayout" Target="../slideLayouts/slideLayout4.xml"/><Relationship Id="rId5" Type="http://schemas.openxmlformats.org/officeDocument/2006/relationships/image" Target="../media/image110.png"/><Relationship Id="rId4" Type="http://schemas.openxmlformats.org/officeDocument/2006/relationships/image" Target="../media/image109.png"/></Relationships>
</file>

<file path=ppt/slides/_rels/slide6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5BBE0-DEF1-6E44-97B3-618D56C291DC}"/>
              </a:ext>
            </a:extLst>
          </p:cNvPr>
          <p:cNvSpPr>
            <a:spLocks noGrp="1"/>
          </p:cNvSpPr>
          <p:nvPr>
            <p:ph type="ctrTitle"/>
          </p:nvPr>
        </p:nvSpPr>
        <p:spPr>
          <a:xfrm>
            <a:off x="480060" y="325369"/>
            <a:ext cx="3276451" cy="1956841"/>
          </a:xfrm>
        </p:spPr>
        <p:txBody>
          <a:bodyPr vert="horz" lIns="91440" tIns="45720" rIns="91440" bIns="45720" rtlCol="0" anchor="b">
            <a:normAutofit/>
          </a:bodyPr>
          <a:lstStyle/>
          <a:p>
            <a:pPr algn="l">
              <a:lnSpc>
                <a:spcPct val="90000"/>
              </a:lnSpc>
            </a:pPr>
            <a:r>
              <a:rPr lang="en-US" sz="4300"/>
              <a:t>A Sustainable Planet</a:t>
            </a:r>
          </a:p>
        </p:txBody>
      </p:sp>
      <p:sp>
        <p:nvSpPr>
          <p:cNvPr id="3" name="Subtitle 2">
            <a:extLst>
              <a:ext uri="{FF2B5EF4-FFF2-40B4-BE49-F238E27FC236}">
                <a16:creationId xmlns:a16="http://schemas.microsoft.com/office/drawing/2014/main" id="{E53C71B0-E228-5748-A274-244EA0104F01}"/>
              </a:ext>
            </a:extLst>
          </p:cNvPr>
          <p:cNvSpPr>
            <a:spLocks noGrp="1"/>
          </p:cNvSpPr>
          <p:nvPr>
            <p:ph type="subTitle" idx="1"/>
          </p:nvPr>
        </p:nvSpPr>
        <p:spPr>
          <a:xfrm>
            <a:off x="480060" y="2872899"/>
            <a:ext cx="3182691" cy="3320668"/>
          </a:xfrm>
        </p:spPr>
        <p:txBody>
          <a:bodyPr vert="horz" lIns="91440" tIns="45720" rIns="91440" bIns="45720" rtlCol="0">
            <a:normAutofit/>
          </a:bodyPr>
          <a:lstStyle/>
          <a:p>
            <a:pPr algn="l">
              <a:lnSpc>
                <a:spcPct val="90000"/>
              </a:lnSpc>
            </a:pPr>
            <a:r>
              <a:rPr lang="en-US" sz="1900" b="1">
                <a:solidFill>
                  <a:schemeClr val="tx1"/>
                </a:solidFill>
              </a:rPr>
              <a:t>Week 5</a:t>
            </a:r>
          </a:p>
          <a:p>
            <a:pPr algn="l">
              <a:lnSpc>
                <a:spcPct val="90000"/>
              </a:lnSpc>
            </a:pPr>
            <a:r>
              <a:rPr lang="en-US" sz="1900" b="1">
                <a:solidFill>
                  <a:schemeClr val="tx1"/>
                </a:solidFill>
              </a:rPr>
              <a:t>Formation of mineral resources</a:t>
            </a:r>
          </a:p>
          <a:p>
            <a:pPr algn="l">
              <a:lnSpc>
                <a:spcPct val="90000"/>
              </a:lnSpc>
            </a:pPr>
            <a:endParaRPr lang="en-US" sz="1900">
              <a:solidFill>
                <a:schemeClr val="tx1"/>
              </a:solidFill>
            </a:endParaRPr>
          </a:p>
          <a:p>
            <a:pPr algn="l">
              <a:lnSpc>
                <a:spcPct val="90000"/>
              </a:lnSpc>
            </a:pPr>
            <a:r>
              <a:rPr lang="en-US" sz="1900">
                <a:solidFill>
                  <a:schemeClr val="tx1"/>
                </a:solidFill>
              </a:rPr>
              <a:t>Dr Vicky Coker</a:t>
            </a:r>
          </a:p>
          <a:p>
            <a:pPr algn="l">
              <a:lnSpc>
                <a:spcPct val="90000"/>
              </a:lnSpc>
            </a:pPr>
            <a:r>
              <a:rPr lang="en-US" sz="1900">
                <a:solidFill>
                  <a:schemeClr val="tx1"/>
                </a:solidFill>
              </a:rPr>
              <a:t>Department of Earth and Environmental Sciences </a:t>
            </a:r>
          </a:p>
        </p:txBody>
      </p:sp>
      <p:pic>
        <p:nvPicPr>
          <p:cNvPr id="4" name="Picture 3">
            <a:extLst>
              <a:ext uri="{FF2B5EF4-FFF2-40B4-BE49-F238E27FC236}">
                <a16:creationId xmlns:a16="http://schemas.microsoft.com/office/drawing/2014/main" id="{77A2C842-1D72-2245-B860-AD5AC1DEEBBB}"/>
              </a:ext>
            </a:extLst>
          </p:cNvPr>
          <p:cNvPicPr>
            <a:picLocks noChangeAspect="1"/>
          </p:cNvPicPr>
          <p:nvPr/>
        </p:nvPicPr>
        <p:blipFill rotWithShape="1">
          <a:blip r:embed="rId2"/>
          <a:srcRect l="22364" r="20274"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TextBox 4">
            <a:extLst>
              <a:ext uri="{FF2B5EF4-FFF2-40B4-BE49-F238E27FC236}">
                <a16:creationId xmlns:a16="http://schemas.microsoft.com/office/drawing/2014/main" id="{A0327388-0E8D-2244-BDBE-8994FF988B69}"/>
              </a:ext>
            </a:extLst>
          </p:cNvPr>
          <p:cNvSpPr txBox="1"/>
          <p:nvPr/>
        </p:nvSpPr>
        <p:spPr>
          <a:xfrm>
            <a:off x="3983776" y="6172201"/>
            <a:ext cx="5159081" cy="685799"/>
          </a:xfrm>
          <a:prstGeom prst="rect">
            <a:avLst/>
          </a:prstGeom>
          <a:solidFill>
            <a:srgbClr val="000000">
              <a:alpha val="50000"/>
            </a:srgbClr>
          </a:solidFill>
          <a:ln>
            <a:noFill/>
          </a:ln>
        </p:spPr>
        <p:txBody>
          <a:bodyPr wrap="square" rtlCol="0">
            <a:noAutofit/>
          </a:bodyPr>
          <a:lstStyle/>
          <a:p>
            <a:pPr algn="ctr">
              <a:spcAft>
                <a:spcPts val="600"/>
              </a:spcAft>
            </a:pPr>
            <a:r>
              <a:rPr lang="en-GB" sz="1300">
                <a:solidFill>
                  <a:srgbClr val="FFFFFF"/>
                </a:solidFill>
                <a:hlinkClick r:id="rId3">
                  <a:extLst>
                    <a:ext uri="{A12FA001-AC4F-418D-AE19-62706E023703}">
                      <ahyp:hlinkClr xmlns:ahyp="http://schemas.microsoft.com/office/drawing/2018/hyperlinkcolor" val="tx"/>
                    </a:ext>
                  </a:extLst>
                </a:hlinkClick>
              </a:rPr>
              <a:t>vicky.coker@manchester.ac.uk</a:t>
            </a:r>
            <a:r>
              <a:rPr lang="en-GB" sz="1300">
                <a:solidFill>
                  <a:srgbClr val="FFFFFF"/>
                </a:solidFill>
              </a:rPr>
              <a:t>; Williamson Building</a:t>
            </a:r>
          </a:p>
        </p:txBody>
      </p:sp>
    </p:spTree>
    <p:extLst>
      <p:ext uri="{BB962C8B-B14F-4D97-AF65-F5344CB8AC3E}">
        <p14:creationId xmlns:p14="http://schemas.microsoft.com/office/powerpoint/2010/main" val="2631400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a:t>Learning outcomes</a:t>
            </a:r>
          </a:p>
        </p:txBody>
      </p:sp>
      <p:sp>
        <p:nvSpPr>
          <p:cNvPr id="3" name="Content Placeholder 2"/>
          <p:cNvSpPr>
            <a:spLocks noGrp="1"/>
          </p:cNvSpPr>
          <p:nvPr>
            <p:ph idx="1"/>
          </p:nvPr>
        </p:nvSpPr>
        <p:spPr>
          <a:xfrm>
            <a:off x="457199" y="1600200"/>
            <a:ext cx="7373007" cy="3076903"/>
          </a:xfrm>
        </p:spPr>
        <p:txBody>
          <a:bodyPr>
            <a:normAutofit fontScale="77500" lnSpcReduction="20000"/>
          </a:bodyPr>
          <a:lstStyle/>
          <a:p>
            <a:r>
              <a:rPr lang="en-US" dirty="0"/>
              <a:t>Understand the necessity of mining metals </a:t>
            </a:r>
          </a:p>
          <a:p>
            <a:r>
              <a:rPr lang="en-US" dirty="0"/>
              <a:t>Explain how geological processes lead to ore deposit formation </a:t>
            </a:r>
          </a:p>
          <a:p>
            <a:r>
              <a:rPr lang="en-US" dirty="0"/>
              <a:t>Identify some key geological settings for ore deposits </a:t>
            </a:r>
          </a:p>
          <a:p>
            <a:r>
              <a:rPr lang="en-US" dirty="0"/>
              <a:t>Explain the mineralogy of some key ore deposits </a:t>
            </a:r>
          </a:p>
          <a:p>
            <a:r>
              <a:rPr lang="en-US" dirty="0"/>
              <a:t>Explain how some key metals are refined</a:t>
            </a:r>
          </a:p>
          <a:p>
            <a:r>
              <a:rPr lang="en-US" dirty="0"/>
              <a:t>Explain critical minerals and their supply risks</a:t>
            </a:r>
            <a:endParaRPr lang="en-GB" dirty="0"/>
          </a:p>
        </p:txBody>
      </p:sp>
      <p:pic>
        <p:nvPicPr>
          <p:cNvPr id="4" name="Picture 3">
            <a:extLst>
              <a:ext uri="{FF2B5EF4-FFF2-40B4-BE49-F238E27FC236}">
                <a16:creationId xmlns:a16="http://schemas.microsoft.com/office/drawing/2014/main" id="{5F1FFD68-6E8F-464A-81CC-E2FDD269B797}"/>
              </a:ext>
            </a:extLst>
          </p:cNvPr>
          <p:cNvPicPr>
            <a:picLocks noChangeAspect="1"/>
          </p:cNvPicPr>
          <p:nvPr/>
        </p:nvPicPr>
        <p:blipFill>
          <a:blip r:embed="rId3"/>
          <a:stretch>
            <a:fillRect/>
          </a:stretch>
        </p:blipFill>
        <p:spPr>
          <a:xfrm>
            <a:off x="1603234" y="4507575"/>
            <a:ext cx="1813638" cy="1750371"/>
          </a:xfrm>
          <a:prstGeom prst="rect">
            <a:avLst/>
          </a:prstGeom>
        </p:spPr>
      </p:pic>
      <p:pic>
        <p:nvPicPr>
          <p:cNvPr id="5" name="Picture 4">
            <a:extLst>
              <a:ext uri="{FF2B5EF4-FFF2-40B4-BE49-F238E27FC236}">
                <a16:creationId xmlns:a16="http://schemas.microsoft.com/office/drawing/2014/main" id="{80160B35-336A-4FEB-96B5-556FD1E138ED}"/>
              </a:ext>
            </a:extLst>
          </p:cNvPr>
          <p:cNvPicPr>
            <a:picLocks noChangeAspect="1"/>
          </p:cNvPicPr>
          <p:nvPr/>
        </p:nvPicPr>
        <p:blipFill>
          <a:blip r:embed="rId4"/>
          <a:stretch>
            <a:fillRect/>
          </a:stretch>
        </p:blipFill>
        <p:spPr>
          <a:xfrm>
            <a:off x="5816369" y="4507575"/>
            <a:ext cx="1813637" cy="1845454"/>
          </a:xfrm>
          <a:prstGeom prst="rect">
            <a:avLst/>
          </a:prstGeom>
        </p:spPr>
      </p:pic>
      <p:sp>
        <p:nvSpPr>
          <p:cNvPr id="7" name="TextBox 6">
            <a:extLst>
              <a:ext uri="{FF2B5EF4-FFF2-40B4-BE49-F238E27FC236}">
                <a16:creationId xmlns:a16="http://schemas.microsoft.com/office/drawing/2014/main" id="{4B18E2AF-721E-1681-D7FD-07F61C5905D1}"/>
              </a:ext>
            </a:extLst>
          </p:cNvPr>
          <p:cNvSpPr txBox="1"/>
          <p:nvPr/>
        </p:nvSpPr>
        <p:spPr>
          <a:xfrm>
            <a:off x="5134180" y="6335482"/>
            <a:ext cx="317801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dirty="0"/>
              <a:t>2024 status: </a:t>
            </a:r>
            <a:r>
              <a:rPr lang="en-GB" sz="1600" b="1" dirty="0">
                <a:solidFill>
                  <a:srgbClr val="F8A496"/>
                </a:solidFill>
              </a:rPr>
              <a:t>Stagnation</a:t>
            </a:r>
          </a:p>
        </p:txBody>
      </p:sp>
      <p:sp>
        <p:nvSpPr>
          <p:cNvPr id="8" name="TextBox 7">
            <a:extLst>
              <a:ext uri="{FF2B5EF4-FFF2-40B4-BE49-F238E27FC236}">
                <a16:creationId xmlns:a16="http://schemas.microsoft.com/office/drawing/2014/main" id="{0CB8A9C5-E97A-7912-B02A-6D22528DD5B9}"/>
              </a:ext>
            </a:extLst>
          </p:cNvPr>
          <p:cNvSpPr txBox="1"/>
          <p:nvPr/>
        </p:nvSpPr>
        <p:spPr>
          <a:xfrm>
            <a:off x="884358" y="6257946"/>
            <a:ext cx="317801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dirty="0"/>
              <a:t>2024 status: </a:t>
            </a:r>
            <a:r>
              <a:rPr lang="en-GB" sz="1600" b="1" dirty="0">
                <a:solidFill>
                  <a:srgbClr val="F8A496"/>
                </a:solidFill>
              </a:rPr>
              <a:t>Stagnation</a:t>
            </a:r>
          </a:p>
        </p:txBody>
      </p:sp>
    </p:spTree>
    <p:extLst>
      <p:ext uri="{BB962C8B-B14F-4D97-AF65-F5344CB8AC3E}">
        <p14:creationId xmlns:p14="http://schemas.microsoft.com/office/powerpoint/2010/main" val="3470233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6733C9-2A1A-84A2-BF08-7245448CCD55}"/>
              </a:ext>
            </a:extLst>
          </p:cNvPr>
          <p:cNvPicPr>
            <a:picLocks noChangeAspect="1"/>
          </p:cNvPicPr>
          <p:nvPr/>
        </p:nvPicPr>
        <p:blipFill>
          <a:blip r:embed="rId2"/>
          <a:stretch>
            <a:fillRect/>
          </a:stretch>
        </p:blipFill>
        <p:spPr>
          <a:xfrm>
            <a:off x="1085548" y="312150"/>
            <a:ext cx="6972904" cy="6233700"/>
          </a:xfrm>
          <a:prstGeom prst="rect">
            <a:avLst/>
          </a:prstGeom>
        </p:spPr>
      </p:pic>
    </p:spTree>
    <p:extLst>
      <p:ext uri="{BB962C8B-B14F-4D97-AF65-F5344CB8AC3E}">
        <p14:creationId xmlns:p14="http://schemas.microsoft.com/office/powerpoint/2010/main" val="1459850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A6AA1F-2DAE-5C82-5CA8-8292186540F9}"/>
              </a:ext>
            </a:extLst>
          </p:cNvPr>
          <p:cNvPicPr>
            <a:picLocks noChangeAspect="1"/>
          </p:cNvPicPr>
          <p:nvPr/>
        </p:nvPicPr>
        <p:blipFill>
          <a:blip r:embed="rId2"/>
          <a:stretch>
            <a:fillRect/>
          </a:stretch>
        </p:blipFill>
        <p:spPr>
          <a:xfrm>
            <a:off x="630621" y="804216"/>
            <a:ext cx="7580702" cy="5407453"/>
          </a:xfrm>
          <a:prstGeom prst="rect">
            <a:avLst/>
          </a:prstGeom>
        </p:spPr>
      </p:pic>
      <p:sp>
        <p:nvSpPr>
          <p:cNvPr id="5" name="TextBox 4">
            <a:extLst>
              <a:ext uri="{FF2B5EF4-FFF2-40B4-BE49-F238E27FC236}">
                <a16:creationId xmlns:a16="http://schemas.microsoft.com/office/drawing/2014/main" id="{B22701EE-C282-99CF-43CA-27827BC7803B}"/>
              </a:ext>
            </a:extLst>
          </p:cNvPr>
          <p:cNvSpPr txBox="1"/>
          <p:nvPr/>
        </p:nvSpPr>
        <p:spPr>
          <a:xfrm>
            <a:off x="0" y="6211669"/>
            <a:ext cx="9217572" cy="646331"/>
          </a:xfrm>
          <a:prstGeom prst="rect">
            <a:avLst/>
          </a:prstGeom>
          <a:noFill/>
        </p:spPr>
        <p:txBody>
          <a:bodyPr wrap="square">
            <a:spAutoFit/>
          </a:bodyPr>
          <a:lstStyle/>
          <a:p>
            <a:r>
              <a:rPr lang="en-US" sz="1200" b="0" i="0" dirty="0">
                <a:solidFill>
                  <a:srgbClr val="666666"/>
                </a:solidFill>
                <a:effectLst/>
                <a:latin typeface="Arial" panose="020B0604020202020204" pitchFamily="34" charset="0"/>
              </a:rPr>
              <a:t>European Commission: Joint Research Centre, Grassi, G., Mancini, L., </a:t>
            </a:r>
            <a:r>
              <a:rPr lang="en-US" sz="1200" b="0" i="0" dirty="0" err="1">
                <a:solidFill>
                  <a:srgbClr val="666666"/>
                </a:solidFill>
                <a:effectLst/>
                <a:latin typeface="Arial" panose="020B0604020202020204" pitchFamily="34" charset="0"/>
              </a:rPr>
              <a:t>Vizzarri</a:t>
            </a:r>
            <a:r>
              <a:rPr lang="en-US" sz="1200" b="0" i="0" dirty="0">
                <a:solidFill>
                  <a:srgbClr val="666666"/>
                </a:solidFill>
                <a:effectLst/>
                <a:latin typeface="Arial" panose="020B0604020202020204" pitchFamily="34" charset="0"/>
              </a:rPr>
              <a:t>, M., Wittmer, D. et al., </a:t>
            </a:r>
            <a:r>
              <a:rPr lang="en-US" sz="1200" b="0" i="1" dirty="0">
                <a:solidFill>
                  <a:srgbClr val="666666"/>
                </a:solidFill>
                <a:effectLst/>
                <a:latin typeface="Arial" panose="020B0604020202020204" pitchFamily="34" charset="0"/>
              </a:rPr>
              <a:t>Mapping the role of raw materials in sustainable development goals – A preliminary analysis of links, monitoring indicators and related policy initiatives</a:t>
            </a:r>
            <a:r>
              <a:rPr lang="en-US" sz="1200" b="0" i="0" dirty="0">
                <a:solidFill>
                  <a:srgbClr val="666666"/>
                </a:solidFill>
                <a:effectLst/>
                <a:latin typeface="Arial" panose="020B0604020202020204" pitchFamily="34" charset="0"/>
              </a:rPr>
              <a:t>, Publications Office, 2019, </a:t>
            </a:r>
            <a:r>
              <a:rPr lang="en-US" sz="1200" b="1" i="0" u="none" strike="noStrike" dirty="0">
                <a:solidFill>
                  <a:srgbClr val="0E47CB"/>
                </a:solidFill>
                <a:effectLst/>
                <a:latin typeface="Arial" panose="020B0604020202020204" pitchFamily="34" charset="0"/>
                <a:hlinkClick r:id="rId3"/>
              </a:rPr>
              <a:t>https://data.europa.eu/doi/10.2760/026725</a:t>
            </a:r>
            <a:endParaRPr lang="en-GB" sz="1200" dirty="0"/>
          </a:p>
        </p:txBody>
      </p:sp>
      <p:sp>
        <p:nvSpPr>
          <p:cNvPr id="6" name="Title 5">
            <a:extLst>
              <a:ext uri="{FF2B5EF4-FFF2-40B4-BE49-F238E27FC236}">
                <a16:creationId xmlns:a16="http://schemas.microsoft.com/office/drawing/2014/main" id="{0F865717-B767-6273-91D4-3AB5A0A0ED61}"/>
              </a:ext>
            </a:extLst>
          </p:cNvPr>
          <p:cNvSpPr>
            <a:spLocks noGrp="1"/>
          </p:cNvSpPr>
          <p:nvPr>
            <p:ph type="title"/>
          </p:nvPr>
        </p:nvSpPr>
        <p:spPr>
          <a:xfrm>
            <a:off x="306172" y="-124755"/>
            <a:ext cx="8229600" cy="1143000"/>
          </a:xfrm>
        </p:spPr>
        <p:txBody>
          <a:bodyPr>
            <a:normAutofit fontScale="90000"/>
          </a:bodyPr>
          <a:lstStyle/>
          <a:p>
            <a:r>
              <a:rPr lang="en-GB" dirty="0"/>
              <a:t>Contributions of raw materials to SDGs</a:t>
            </a:r>
          </a:p>
        </p:txBody>
      </p:sp>
    </p:spTree>
    <p:extLst>
      <p:ext uri="{BB962C8B-B14F-4D97-AF65-F5344CB8AC3E}">
        <p14:creationId xmlns:p14="http://schemas.microsoft.com/office/powerpoint/2010/main" val="3040675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Plate tectonics and resources</a:t>
            </a:r>
          </a:p>
        </p:txBody>
      </p:sp>
      <p:sp>
        <p:nvSpPr>
          <p:cNvPr id="3" name="Content Placeholder 2"/>
          <p:cNvSpPr>
            <a:spLocks noGrp="1"/>
          </p:cNvSpPr>
          <p:nvPr>
            <p:ph idx="1"/>
          </p:nvPr>
        </p:nvSpPr>
        <p:spPr>
          <a:xfrm>
            <a:off x="457200" y="1600200"/>
            <a:ext cx="3538736" cy="4525963"/>
          </a:xfrm>
        </p:spPr>
        <p:txBody>
          <a:bodyPr>
            <a:normAutofit fontScale="92500" lnSpcReduction="20000"/>
          </a:bodyPr>
          <a:lstStyle/>
          <a:p>
            <a:r>
              <a:rPr lang="en-GB"/>
              <a:t>Lithospheric plates move due to mantle convection</a:t>
            </a:r>
          </a:p>
          <a:p>
            <a:r>
              <a:rPr lang="en-GB"/>
              <a:t>Convergent and divergent plate boundaries lead to differing deposits of earths resources</a:t>
            </a:r>
          </a:p>
          <a:p>
            <a:r>
              <a:rPr lang="en-GB"/>
              <a:t>Particularly: </a:t>
            </a:r>
          </a:p>
          <a:p>
            <a:pPr lvl="1"/>
            <a:r>
              <a:rPr lang="en-GB"/>
              <a:t>Mid-Ocean-Ridges</a:t>
            </a:r>
          </a:p>
          <a:p>
            <a:pPr lvl="1"/>
            <a:r>
              <a:rPr lang="en-GB"/>
              <a:t>Subduction Zones</a:t>
            </a:r>
          </a:p>
        </p:txBody>
      </p:sp>
      <p:pic>
        <p:nvPicPr>
          <p:cNvPr id="6" name="Picture 4" descr="http://itsyourexperiment08.files.wordpress.com/2008/10/plate-tectonics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4274" y="4293096"/>
            <a:ext cx="4797550" cy="23987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astro.virginia.edu/class/oconnell/astr121/im/mantle-convection-3FD8.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5433" y="1268284"/>
            <a:ext cx="4896544" cy="2895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601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pPr eaLnBrk="1" hangingPunct="1"/>
            <a:r>
              <a:rPr lang="en-US" altLang="en-US">
                <a:ea typeface="ＭＳ Ｐゴシック" pitchFamily="34" charset="-128"/>
              </a:rPr>
              <a:t>Tectonic Environments</a:t>
            </a:r>
          </a:p>
        </p:txBody>
      </p:sp>
      <p:pic>
        <p:nvPicPr>
          <p:cNvPr id="3" name="Picture 2">
            <a:extLst>
              <a:ext uri="{FF2B5EF4-FFF2-40B4-BE49-F238E27FC236}">
                <a16:creationId xmlns:a16="http://schemas.microsoft.com/office/drawing/2014/main" id="{FFB74C50-3346-D29B-658B-37291740E4CA}"/>
              </a:ext>
            </a:extLst>
          </p:cNvPr>
          <p:cNvPicPr>
            <a:picLocks noChangeAspect="1"/>
          </p:cNvPicPr>
          <p:nvPr/>
        </p:nvPicPr>
        <p:blipFill>
          <a:blip r:embed="rId3"/>
          <a:stretch>
            <a:fillRect/>
          </a:stretch>
        </p:blipFill>
        <p:spPr>
          <a:xfrm>
            <a:off x="457199" y="1444769"/>
            <a:ext cx="7880577" cy="4940633"/>
          </a:xfrm>
          <a:prstGeom prst="rect">
            <a:avLst/>
          </a:prstGeom>
        </p:spPr>
      </p:pic>
    </p:spTree>
    <p:extLst>
      <p:ext uri="{BB962C8B-B14F-4D97-AF65-F5344CB8AC3E}">
        <p14:creationId xmlns:p14="http://schemas.microsoft.com/office/powerpoint/2010/main" val="2048059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p:txBody>
          <a:bodyPr/>
          <a:lstStyle/>
          <a:p>
            <a:pPr eaLnBrk="1" hangingPunct="1"/>
            <a:r>
              <a:rPr lang="en-US" altLang="en-US">
                <a:ea typeface="ＭＳ Ｐゴシック" pitchFamily="34" charset="-128"/>
              </a:rPr>
              <a:t>Processes of Ore Formation</a:t>
            </a:r>
          </a:p>
        </p:txBody>
      </p:sp>
      <p:sp>
        <p:nvSpPr>
          <p:cNvPr id="32770" name="Rectangle 3"/>
          <p:cNvSpPr>
            <a:spLocks noGrp="1" noChangeArrowheads="1"/>
          </p:cNvSpPr>
          <p:nvPr>
            <p:ph type="body" idx="1"/>
          </p:nvPr>
        </p:nvSpPr>
        <p:spPr>
          <a:xfrm>
            <a:off x="179388" y="1600200"/>
            <a:ext cx="8507412" cy="4525963"/>
          </a:xfrm>
        </p:spPr>
        <p:txBody>
          <a:bodyPr/>
          <a:lstStyle/>
          <a:p>
            <a:pPr eaLnBrk="1" hangingPunct="1"/>
            <a:r>
              <a:rPr lang="en-US" altLang="en-US" sz="2800" b="1" dirty="0">
                <a:solidFill>
                  <a:srgbClr val="7030A0"/>
                </a:solidFill>
                <a:ea typeface="ＭＳ Ｐゴシック" pitchFamily="34" charset="-128"/>
              </a:rPr>
              <a:t>Enrichment</a:t>
            </a:r>
            <a:r>
              <a:rPr lang="en-US" altLang="en-US" sz="2800" dirty="0">
                <a:ea typeface="ＭＳ Ｐゴシック" pitchFamily="34" charset="-128"/>
              </a:rPr>
              <a:t>  of OFEs (ore forming elements) above background concentrations</a:t>
            </a:r>
          </a:p>
        </p:txBody>
      </p:sp>
      <p:pic>
        <p:nvPicPr>
          <p:cNvPr id="3" name="Picture 2">
            <a:extLst>
              <a:ext uri="{FF2B5EF4-FFF2-40B4-BE49-F238E27FC236}">
                <a16:creationId xmlns:a16="http://schemas.microsoft.com/office/drawing/2014/main" id="{6F0001C7-550A-AF4D-F15C-B6C1A2AD7B03}"/>
              </a:ext>
            </a:extLst>
          </p:cNvPr>
          <p:cNvPicPr>
            <a:picLocks noChangeAspect="1"/>
          </p:cNvPicPr>
          <p:nvPr/>
        </p:nvPicPr>
        <p:blipFill>
          <a:blip r:embed="rId3"/>
          <a:stretch>
            <a:fillRect/>
          </a:stretch>
        </p:blipFill>
        <p:spPr>
          <a:xfrm>
            <a:off x="999986" y="2763900"/>
            <a:ext cx="6866215" cy="3673158"/>
          </a:xfrm>
          <a:prstGeom prst="rect">
            <a:avLst/>
          </a:prstGeom>
        </p:spPr>
      </p:pic>
      <p:sp>
        <p:nvSpPr>
          <p:cNvPr id="4" name="TextBox 3">
            <a:extLst>
              <a:ext uri="{FF2B5EF4-FFF2-40B4-BE49-F238E27FC236}">
                <a16:creationId xmlns:a16="http://schemas.microsoft.com/office/drawing/2014/main" id="{66AE19D7-B476-EA9B-38BF-E70C64A7E9E9}"/>
              </a:ext>
            </a:extLst>
          </p:cNvPr>
          <p:cNvSpPr txBox="1"/>
          <p:nvPr/>
        </p:nvSpPr>
        <p:spPr>
          <a:xfrm>
            <a:off x="6599796" y="6581001"/>
            <a:ext cx="2532809" cy="276999"/>
          </a:xfrm>
          <a:prstGeom prst="rect">
            <a:avLst/>
          </a:prstGeom>
          <a:noFill/>
        </p:spPr>
        <p:txBody>
          <a:bodyPr wrap="none" rtlCol="0">
            <a:spAutoFit/>
          </a:bodyPr>
          <a:lstStyle/>
          <a:p>
            <a:r>
              <a:rPr lang="en-GB" sz="1200" dirty="0"/>
              <a:t>Geochemical Perspectives, vol. 6, p18</a:t>
            </a:r>
          </a:p>
        </p:txBody>
      </p:sp>
    </p:spTree>
    <p:extLst>
      <p:ext uri="{BB962C8B-B14F-4D97-AF65-F5344CB8AC3E}">
        <p14:creationId xmlns:p14="http://schemas.microsoft.com/office/powerpoint/2010/main" val="2152712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a:xfrm>
            <a:off x="107950" y="274638"/>
            <a:ext cx="8785225" cy="1143000"/>
          </a:xfrm>
        </p:spPr>
        <p:txBody>
          <a:bodyPr>
            <a:normAutofit fontScale="90000"/>
          </a:bodyPr>
          <a:lstStyle/>
          <a:p>
            <a:pPr eaLnBrk="1" hangingPunct="1"/>
            <a:r>
              <a:rPr lang="en-GB" altLang="en-US">
                <a:ea typeface="ＭＳ Ｐゴシック" pitchFamily="34" charset="-128"/>
              </a:rPr>
              <a:t>Ore Formation </a:t>
            </a:r>
            <a:br>
              <a:rPr lang="en-GB" altLang="en-US">
                <a:ea typeface="ＭＳ Ｐゴシック" pitchFamily="34" charset="-128"/>
              </a:rPr>
            </a:br>
            <a:r>
              <a:rPr lang="en-GB" altLang="en-US">
                <a:ea typeface="ＭＳ Ｐゴシック" pitchFamily="34" charset="-128"/>
              </a:rPr>
              <a:t>– Precipitation from Mobile Fluids</a:t>
            </a:r>
          </a:p>
        </p:txBody>
      </p:sp>
      <p:sp>
        <p:nvSpPr>
          <p:cNvPr id="36866" name="Content Placeholder 2"/>
          <p:cNvSpPr>
            <a:spLocks noGrp="1"/>
          </p:cNvSpPr>
          <p:nvPr>
            <p:ph idx="1"/>
          </p:nvPr>
        </p:nvSpPr>
        <p:spPr/>
        <p:txBody>
          <a:bodyPr/>
          <a:lstStyle/>
          <a:p>
            <a:pPr eaLnBrk="1" hangingPunct="1"/>
            <a:r>
              <a:rPr lang="en-GB" altLang="en-US" b="1">
                <a:solidFill>
                  <a:srgbClr val="7030A0"/>
                </a:solidFill>
                <a:ea typeface="ＭＳ Ｐゴシック" pitchFamily="34" charset="-128"/>
              </a:rPr>
              <a:t>Source</a:t>
            </a:r>
          </a:p>
          <a:p>
            <a:pPr lvl="1" eaLnBrk="1" hangingPunct="1"/>
            <a:r>
              <a:rPr lang="en-GB" altLang="en-US">
                <a:ea typeface="ＭＳ Ｐゴシック" pitchFamily="34" charset="-128"/>
              </a:rPr>
              <a:t>Selective extraction from source rock into a mobile phase</a:t>
            </a:r>
          </a:p>
          <a:p>
            <a:pPr eaLnBrk="1" hangingPunct="1"/>
            <a:r>
              <a:rPr lang="en-GB" altLang="en-US" b="1">
                <a:solidFill>
                  <a:srgbClr val="7030A0"/>
                </a:solidFill>
                <a:ea typeface="ＭＳ Ｐゴシック" pitchFamily="34" charset="-128"/>
              </a:rPr>
              <a:t>Transport</a:t>
            </a:r>
          </a:p>
          <a:p>
            <a:pPr lvl="1" eaLnBrk="1" hangingPunct="1"/>
            <a:r>
              <a:rPr lang="en-GB" altLang="en-US">
                <a:ea typeface="ＭＳ Ｐゴシック" pitchFamily="34" charset="-128"/>
              </a:rPr>
              <a:t>Transport to the site of deposition</a:t>
            </a:r>
          </a:p>
          <a:p>
            <a:pPr eaLnBrk="1" hangingPunct="1"/>
            <a:r>
              <a:rPr lang="en-GB" altLang="en-US" b="1">
                <a:solidFill>
                  <a:srgbClr val="7030A0"/>
                </a:solidFill>
                <a:ea typeface="ＭＳ Ｐゴシック" pitchFamily="34" charset="-128"/>
              </a:rPr>
              <a:t>Deposition/precipitation</a:t>
            </a:r>
          </a:p>
          <a:p>
            <a:pPr lvl="1" eaLnBrk="1" hangingPunct="1"/>
            <a:r>
              <a:rPr lang="en-GB" altLang="en-US">
                <a:ea typeface="ＭＳ Ｐゴシック" pitchFamily="34" charset="-128"/>
              </a:rPr>
              <a:t>Ore minerals precipitated into a comparatively small volume of rock</a:t>
            </a:r>
          </a:p>
        </p:txBody>
      </p:sp>
    </p:spTree>
    <p:extLst>
      <p:ext uri="{BB962C8B-B14F-4D97-AF65-F5344CB8AC3E}">
        <p14:creationId xmlns:p14="http://schemas.microsoft.com/office/powerpoint/2010/main" val="3253503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p:txBody>
          <a:bodyPr/>
          <a:lstStyle/>
          <a:p>
            <a:pPr eaLnBrk="1" hangingPunct="1"/>
            <a:r>
              <a:rPr lang="en-GB" altLang="en-US">
                <a:ea typeface="ＭＳ Ｐゴシック" pitchFamily="34" charset="-128"/>
              </a:rPr>
              <a:t>Aqueous Fluids</a:t>
            </a:r>
          </a:p>
        </p:txBody>
      </p:sp>
      <p:sp>
        <p:nvSpPr>
          <p:cNvPr id="41986" name="Content Placeholder 2"/>
          <p:cNvSpPr>
            <a:spLocks noGrp="1"/>
          </p:cNvSpPr>
          <p:nvPr>
            <p:ph idx="1"/>
          </p:nvPr>
        </p:nvSpPr>
        <p:spPr/>
        <p:txBody>
          <a:bodyPr>
            <a:normAutofit lnSpcReduction="10000"/>
          </a:bodyPr>
          <a:lstStyle/>
          <a:p>
            <a:pPr eaLnBrk="1" hangingPunct="1"/>
            <a:r>
              <a:rPr lang="en-GB" altLang="en-US">
                <a:ea typeface="ＭＳ Ｐゴシック" pitchFamily="34" charset="-128"/>
              </a:rPr>
              <a:t>Most important ore-forming fluid</a:t>
            </a:r>
          </a:p>
          <a:p>
            <a:pPr lvl="1" eaLnBrk="1" hangingPunct="1"/>
            <a:r>
              <a:rPr lang="en-GB" altLang="en-US">
                <a:ea typeface="ＭＳ Ｐゴシック" pitchFamily="34" charset="-128"/>
              </a:rPr>
              <a:t>Capacity for </a:t>
            </a:r>
            <a:r>
              <a:rPr lang="en-GB" altLang="en-US" b="1">
                <a:solidFill>
                  <a:srgbClr val="7030A0"/>
                </a:solidFill>
                <a:ea typeface="ＭＳ Ｐゴシック" pitchFamily="34" charset="-128"/>
              </a:rPr>
              <a:t>solubilising</a:t>
            </a:r>
            <a:r>
              <a:rPr lang="en-GB" altLang="en-US">
                <a:solidFill>
                  <a:srgbClr val="7030A0"/>
                </a:solidFill>
                <a:ea typeface="ＭＳ Ｐゴシック" pitchFamily="34" charset="-128"/>
              </a:rPr>
              <a:t> </a:t>
            </a:r>
            <a:r>
              <a:rPr lang="en-GB" altLang="en-US">
                <a:ea typeface="ＭＳ Ｐゴシック" pitchFamily="34" charset="-128"/>
              </a:rPr>
              <a:t>metals</a:t>
            </a:r>
          </a:p>
          <a:p>
            <a:pPr lvl="1" eaLnBrk="1" hangingPunct="1"/>
            <a:r>
              <a:rPr lang="en-GB" altLang="en-US">
                <a:ea typeface="ＭＳ Ｐゴシック" pitchFamily="34" charset="-128"/>
              </a:rPr>
              <a:t>Capacity for </a:t>
            </a:r>
            <a:r>
              <a:rPr lang="en-GB" altLang="en-US" b="1">
                <a:solidFill>
                  <a:srgbClr val="7030A0"/>
                </a:solidFill>
                <a:ea typeface="ＭＳ Ｐゴシック" pitchFamily="34" charset="-128"/>
              </a:rPr>
              <a:t>transporting </a:t>
            </a:r>
            <a:r>
              <a:rPr lang="en-GB" altLang="en-US">
                <a:ea typeface="ＭＳ Ｐゴシック" pitchFamily="34" charset="-128"/>
              </a:rPr>
              <a:t>Ore Forming Elements &amp; heat</a:t>
            </a:r>
          </a:p>
          <a:p>
            <a:pPr lvl="1" eaLnBrk="1" hangingPunct="1"/>
            <a:r>
              <a:rPr lang="en-GB" altLang="en-US" b="1">
                <a:solidFill>
                  <a:srgbClr val="7030A0"/>
                </a:solidFill>
                <a:ea typeface="ＭＳ Ｐゴシック" pitchFamily="34" charset="-128"/>
              </a:rPr>
              <a:t>Precipitate</a:t>
            </a:r>
            <a:r>
              <a:rPr lang="en-GB" altLang="en-US">
                <a:ea typeface="ＭＳ Ｐゴシック" pitchFamily="34" charset="-128"/>
              </a:rPr>
              <a:t> metals in response to chemical gradients</a:t>
            </a:r>
          </a:p>
          <a:p>
            <a:pPr lvl="2" eaLnBrk="1" hangingPunct="1"/>
            <a:r>
              <a:rPr lang="en-GB" altLang="en-US">
                <a:ea typeface="ＭＳ Ｐゴシック" pitchFamily="34" charset="-128"/>
              </a:rPr>
              <a:t>T (temperature)</a:t>
            </a:r>
          </a:p>
          <a:p>
            <a:pPr lvl="2" eaLnBrk="1" hangingPunct="1"/>
            <a:r>
              <a:rPr lang="en-GB" altLang="en-US">
                <a:ea typeface="ＭＳ Ｐゴシック" pitchFamily="34" charset="-128"/>
              </a:rPr>
              <a:t>P (pressure)</a:t>
            </a:r>
          </a:p>
          <a:p>
            <a:pPr lvl="2" eaLnBrk="1" hangingPunct="1"/>
            <a:r>
              <a:rPr lang="en-GB" altLang="en-US">
                <a:ea typeface="ＭＳ Ｐゴシック" pitchFamily="34" charset="-128"/>
              </a:rPr>
              <a:t>X (fluid composition)</a:t>
            </a:r>
          </a:p>
          <a:p>
            <a:pPr lvl="1" eaLnBrk="1" hangingPunct="1"/>
            <a:r>
              <a:rPr lang="en-GB" altLang="en-US">
                <a:ea typeface="ＭＳ Ｐゴシック" pitchFamily="34" charset="-128"/>
              </a:rPr>
              <a:t>Often through acid/base or redox reactions</a:t>
            </a:r>
          </a:p>
          <a:p>
            <a:pPr lvl="1" eaLnBrk="1" hangingPunct="1"/>
            <a:endParaRPr lang="en-GB" altLang="en-US">
              <a:ea typeface="ＭＳ Ｐゴシック" pitchFamily="34" charset="-128"/>
            </a:endParaRPr>
          </a:p>
          <a:p>
            <a:pPr lvl="1" eaLnBrk="1" hangingPunct="1">
              <a:buFontTx/>
              <a:buNone/>
            </a:pPr>
            <a:endParaRPr lang="en-GB" altLang="en-US">
              <a:ea typeface="ＭＳ Ｐゴシック" pitchFamily="34" charset="-128"/>
            </a:endParaRPr>
          </a:p>
        </p:txBody>
      </p:sp>
    </p:spTree>
    <p:extLst>
      <p:ext uri="{BB962C8B-B14F-4D97-AF65-F5344CB8AC3E}">
        <p14:creationId xmlns:p14="http://schemas.microsoft.com/office/powerpoint/2010/main" val="2177443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a:xfrm>
            <a:off x="107950" y="274638"/>
            <a:ext cx="8785225" cy="922337"/>
          </a:xfrm>
        </p:spPr>
        <p:txBody>
          <a:bodyPr/>
          <a:lstStyle/>
          <a:p>
            <a:pPr eaLnBrk="1" hangingPunct="1"/>
            <a:r>
              <a:rPr lang="en-GB" altLang="en-US">
                <a:ea typeface="ＭＳ Ｐゴシック" pitchFamily="34" charset="-128"/>
              </a:rPr>
              <a:t>Ore Forming Fluids</a:t>
            </a:r>
          </a:p>
        </p:txBody>
      </p:sp>
      <p:sp>
        <p:nvSpPr>
          <p:cNvPr id="38914" name="Content Placeholder 2"/>
          <p:cNvSpPr>
            <a:spLocks noGrp="1"/>
          </p:cNvSpPr>
          <p:nvPr>
            <p:ph idx="1"/>
          </p:nvPr>
        </p:nvSpPr>
        <p:spPr>
          <a:xfrm>
            <a:off x="528638" y="1341438"/>
            <a:ext cx="8229600" cy="4525962"/>
          </a:xfrm>
        </p:spPr>
        <p:txBody>
          <a:bodyPr>
            <a:normAutofit lnSpcReduction="10000"/>
          </a:bodyPr>
          <a:lstStyle/>
          <a:p>
            <a:pPr eaLnBrk="1" hangingPunct="1"/>
            <a:r>
              <a:rPr lang="en-GB" altLang="en-US">
                <a:ea typeface="ＭＳ Ｐゴシック" pitchFamily="34" charset="-128"/>
              </a:rPr>
              <a:t>Rock melts</a:t>
            </a:r>
          </a:p>
          <a:p>
            <a:pPr eaLnBrk="1" hangingPunct="1"/>
            <a:r>
              <a:rPr lang="en-GB" altLang="en-US">
                <a:ea typeface="ＭＳ Ｐゴシック" pitchFamily="34" charset="-128"/>
              </a:rPr>
              <a:t>Aqueous fluids </a:t>
            </a:r>
          </a:p>
          <a:p>
            <a:pPr lvl="1" eaLnBrk="1" hangingPunct="1"/>
            <a:r>
              <a:rPr lang="en-GB" altLang="en-US">
                <a:ea typeface="ＭＳ Ｐゴシック" pitchFamily="34" charset="-128"/>
              </a:rPr>
              <a:t>Magmatic exhalations</a:t>
            </a:r>
          </a:p>
          <a:p>
            <a:pPr lvl="1" eaLnBrk="1" hangingPunct="1"/>
            <a:endParaRPr lang="en-GB" altLang="en-US">
              <a:ea typeface="ＭＳ Ｐゴシック" pitchFamily="34" charset="-128"/>
            </a:endParaRPr>
          </a:p>
          <a:p>
            <a:pPr lvl="1" eaLnBrk="1" hangingPunct="1"/>
            <a:r>
              <a:rPr lang="en-GB" altLang="en-US">
                <a:ea typeface="ＭＳ Ｐゴシック" pitchFamily="34" charset="-128"/>
              </a:rPr>
              <a:t>Regional metamorphic fluids</a:t>
            </a:r>
          </a:p>
          <a:p>
            <a:pPr lvl="1" eaLnBrk="1" hangingPunct="1"/>
            <a:endParaRPr lang="en-GB" altLang="en-US">
              <a:ea typeface="ＭＳ Ｐゴシック" pitchFamily="34" charset="-128"/>
            </a:endParaRPr>
          </a:p>
          <a:p>
            <a:pPr lvl="1" eaLnBrk="1" hangingPunct="1"/>
            <a:r>
              <a:rPr lang="en-GB" altLang="en-US">
                <a:ea typeface="ＭＳ Ｐゴシック" pitchFamily="34" charset="-128"/>
              </a:rPr>
              <a:t>Meteoric hydrothermal fluids</a:t>
            </a:r>
          </a:p>
          <a:p>
            <a:pPr lvl="1" eaLnBrk="1" hangingPunct="1"/>
            <a:endParaRPr lang="en-GB" altLang="en-US">
              <a:ea typeface="ＭＳ Ｐゴシック" pitchFamily="34" charset="-128"/>
            </a:endParaRPr>
          </a:p>
          <a:p>
            <a:pPr lvl="1" eaLnBrk="1" hangingPunct="1"/>
            <a:r>
              <a:rPr lang="en-GB" altLang="en-US">
                <a:ea typeface="ＭＳ Ｐゴシック" pitchFamily="34" charset="-128"/>
              </a:rPr>
              <a:t>Surface/near surface waters</a:t>
            </a:r>
          </a:p>
          <a:p>
            <a:pPr lvl="1" eaLnBrk="1" hangingPunct="1"/>
            <a:endParaRPr lang="en-GB" altLang="en-US">
              <a:ea typeface="ＭＳ Ｐゴシック" pitchFamily="34" charset="-128"/>
            </a:endParaRPr>
          </a:p>
        </p:txBody>
      </p:sp>
      <p:sp>
        <p:nvSpPr>
          <p:cNvPr id="38915" name="TextBox 3"/>
          <p:cNvSpPr txBox="1">
            <a:spLocks noChangeArrowheads="1"/>
          </p:cNvSpPr>
          <p:nvPr/>
        </p:nvSpPr>
        <p:spPr bwMode="auto">
          <a:xfrm>
            <a:off x="2923791" y="1381418"/>
            <a:ext cx="1511300" cy="36933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GB" altLang="en-US" sz="1800" b="1"/>
              <a:t>Mafic Fe-Ti</a:t>
            </a:r>
          </a:p>
        </p:txBody>
      </p:sp>
      <p:sp>
        <p:nvSpPr>
          <p:cNvPr id="38916" name="TextBox 6"/>
          <p:cNvSpPr txBox="1">
            <a:spLocks noChangeArrowheads="1"/>
          </p:cNvSpPr>
          <p:nvPr/>
        </p:nvSpPr>
        <p:spPr bwMode="auto">
          <a:xfrm>
            <a:off x="4659511" y="1207331"/>
            <a:ext cx="1511300" cy="646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GB" altLang="en-US" sz="1800" b="1"/>
              <a:t>Ni-Cu </a:t>
            </a:r>
            <a:r>
              <a:rPr lang="en-GB" altLang="en-US" sz="1800" b="1" err="1"/>
              <a:t>Sulfides</a:t>
            </a:r>
            <a:endParaRPr lang="en-GB" altLang="en-US" sz="1800" b="1"/>
          </a:p>
        </p:txBody>
      </p:sp>
      <p:sp>
        <p:nvSpPr>
          <p:cNvPr id="38917" name="TextBox 7"/>
          <p:cNvSpPr txBox="1">
            <a:spLocks noChangeArrowheads="1"/>
          </p:cNvSpPr>
          <p:nvPr/>
        </p:nvSpPr>
        <p:spPr bwMode="auto">
          <a:xfrm>
            <a:off x="4829175" y="2492375"/>
            <a:ext cx="1512888" cy="646113"/>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GB" altLang="en-US" sz="1800" b="1"/>
              <a:t>Porphyry Coppers</a:t>
            </a:r>
          </a:p>
        </p:txBody>
      </p:sp>
      <p:sp>
        <p:nvSpPr>
          <p:cNvPr id="38918" name="TextBox 8"/>
          <p:cNvSpPr txBox="1">
            <a:spLocks noChangeArrowheads="1"/>
          </p:cNvSpPr>
          <p:nvPr/>
        </p:nvSpPr>
        <p:spPr bwMode="auto">
          <a:xfrm>
            <a:off x="6538913" y="2525713"/>
            <a:ext cx="1057423" cy="646331"/>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GB" altLang="en-US" sz="1800" b="1" err="1"/>
              <a:t>Skarns</a:t>
            </a:r>
            <a:endParaRPr lang="en-GB" altLang="en-US" sz="1800" b="1"/>
          </a:p>
          <a:p>
            <a:pPr eaLnBrk="1" hangingPunct="1"/>
            <a:endParaRPr lang="en-GB" altLang="en-US" sz="1800" b="1"/>
          </a:p>
        </p:txBody>
      </p:sp>
      <p:sp>
        <p:nvSpPr>
          <p:cNvPr id="38919" name="TextBox 9"/>
          <p:cNvSpPr txBox="1">
            <a:spLocks noChangeArrowheads="1"/>
          </p:cNvSpPr>
          <p:nvPr/>
        </p:nvSpPr>
        <p:spPr bwMode="auto">
          <a:xfrm>
            <a:off x="6005513" y="3502025"/>
            <a:ext cx="1827212" cy="6477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GB" altLang="en-US" sz="1800" b="1" err="1"/>
              <a:t>Archean</a:t>
            </a:r>
            <a:r>
              <a:rPr lang="en-GB" altLang="en-US" sz="1800" b="1"/>
              <a:t> Gold Lode Deposits</a:t>
            </a:r>
          </a:p>
        </p:txBody>
      </p:sp>
      <p:sp>
        <p:nvSpPr>
          <p:cNvPr id="38920" name="TextBox 10"/>
          <p:cNvSpPr txBox="1">
            <a:spLocks noChangeArrowheads="1"/>
          </p:cNvSpPr>
          <p:nvPr/>
        </p:nvSpPr>
        <p:spPr bwMode="auto">
          <a:xfrm>
            <a:off x="6007100" y="4508500"/>
            <a:ext cx="1152525" cy="1200329"/>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GB" altLang="en-US" sz="1800" b="1"/>
              <a:t>Volcanic Massive </a:t>
            </a:r>
            <a:r>
              <a:rPr lang="en-GB" altLang="en-US" sz="1800" b="1" err="1"/>
              <a:t>Sulfides</a:t>
            </a:r>
            <a:r>
              <a:rPr lang="en-GB" altLang="en-US" sz="1800" b="1"/>
              <a:t> </a:t>
            </a:r>
          </a:p>
          <a:p>
            <a:pPr eaLnBrk="1" hangingPunct="1"/>
            <a:r>
              <a:rPr lang="en-GB" altLang="en-US" sz="1800" b="1"/>
              <a:t>Deposits</a:t>
            </a:r>
          </a:p>
        </p:txBody>
      </p:sp>
      <p:sp>
        <p:nvSpPr>
          <p:cNvPr id="38921" name="TextBox 12"/>
          <p:cNvSpPr txBox="1">
            <a:spLocks noChangeArrowheads="1"/>
          </p:cNvSpPr>
          <p:nvPr/>
        </p:nvSpPr>
        <p:spPr bwMode="auto">
          <a:xfrm>
            <a:off x="7256463" y="4508500"/>
            <a:ext cx="1419993" cy="923330"/>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GB" altLang="en-US" sz="1800" b="1"/>
              <a:t>Mississippi Valley Type </a:t>
            </a:r>
          </a:p>
          <a:p>
            <a:pPr eaLnBrk="1" hangingPunct="1"/>
            <a:r>
              <a:rPr lang="en-GB" altLang="en-US" sz="1800" b="1"/>
              <a:t>Deposits</a:t>
            </a:r>
          </a:p>
        </p:txBody>
      </p:sp>
      <p:sp>
        <p:nvSpPr>
          <p:cNvPr id="38922" name="TextBox 13"/>
          <p:cNvSpPr txBox="1">
            <a:spLocks noChangeArrowheads="1"/>
          </p:cNvSpPr>
          <p:nvPr/>
        </p:nvSpPr>
        <p:spPr bwMode="auto">
          <a:xfrm>
            <a:off x="1835150" y="6092825"/>
            <a:ext cx="1728788" cy="646113"/>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GB" altLang="en-US" sz="1800" b="1"/>
              <a:t>Precambrian BIF Deposits</a:t>
            </a:r>
          </a:p>
        </p:txBody>
      </p:sp>
      <p:sp>
        <p:nvSpPr>
          <p:cNvPr id="38924" name="TextBox 15"/>
          <p:cNvSpPr txBox="1">
            <a:spLocks noChangeArrowheads="1"/>
          </p:cNvSpPr>
          <p:nvPr/>
        </p:nvSpPr>
        <p:spPr bwMode="auto">
          <a:xfrm>
            <a:off x="3995936" y="6069971"/>
            <a:ext cx="2174875" cy="646113"/>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GB" altLang="en-US" sz="1800" b="1"/>
              <a:t>Sandstone-hosted uranium</a:t>
            </a:r>
          </a:p>
        </p:txBody>
      </p:sp>
    </p:spTree>
    <p:extLst>
      <p:ext uri="{BB962C8B-B14F-4D97-AF65-F5344CB8AC3E}">
        <p14:creationId xmlns:p14="http://schemas.microsoft.com/office/powerpoint/2010/main" val="1194242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9" name="Text Box 11"/>
          <p:cNvSpPr txBox="1">
            <a:spLocks noChangeArrowheads="1"/>
          </p:cNvSpPr>
          <p:nvPr/>
        </p:nvSpPr>
        <p:spPr bwMode="auto">
          <a:xfrm>
            <a:off x="197055" y="116632"/>
            <a:ext cx="8080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2200">
                <a:latin typeface="+mj-lt"/>
              </a:rPr>
              <a:t>Many common rocks contain significant amounts of “abundant metals” </a:t>
            </a:r>
            <a:r>
              <a:rPr lang="en-US" altLang="en-US" sz="2200" u="sng">
                <a:latin typeface="+mj-lt"/>
              </a:rPr>
              <a:t>but </a:t>
            </a:r>
            <a:r>
              <a:rPr lang="en-US" altLang="en-US" sz="2200">
                <a:latin typeface="+mj-lt"/>
              </a:rPr>
              <a:t>only a few are rich enough to be mined as “ores” </a:t>
            </a:r>
            <a:endParaRPr lang="en-US" altLang="en-US" sz="2200" baseline="30000">
              <a:latin typeface="+mj-lt"/>
            </a:endParaRPr>
          </a:p>
        </p:txBody>
      </p:sp>
      <p:sp>
        <p:nvSpPr>
          <p:cNvPr id="32780" name="Rectangle 12"/>
          <p:cNvSpPr>
            <a:spLocks noChangeArrowheads="1"/>
          </p:cNvSpPr>
          <p:nvPr/>
        </p:nvSpPr>
        <p:spPr bwMode="auto">
          <a:xfrm>
            <a:off x="274340" y="1772816"/>
            <a:ext cx="7466012"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buFont typeface="Wingdings" charset="0"/>
              <a:buNone/>
              <a:defRPr/>
            </a:pPr>
            <a:r>
              <a:rPr lang="fr-BE" sz="2400" b="1" i="1" u="sng">
                <a:solidFill>
                  <a:schemeClr val="tx2"/>
                </a:solidFill>
                <a:latin typeface="+mj-lt"/>
                <a:ea typeface="ＭＳ Ｐゴシック" charset="0"/>
              </a:rPr>
              <a:t>Note:</a:t>
            </a:r>
            <a:r>
              <a:rPr lang="fr-BE" sz="2400">
                <a:solidFill>
                  <a:schemeClr val="tx2"/>
                </a:solidFill>
                <a:latin typeface="+mj-lt"/>
                <a:ea typeface="ＭＳ Ｐゴシック" charset="0"/>
              </a:rPr>
              <a:t>  </a:t>
            </a:r>
            <a:r>
              <a:rPr lang="fr-BE" sz="2400" err="1">
                <a:solidFill>
                  <a:schemeClr val="tx2"/>
                </a:solidFill>
                <a:latin typeface="+mj-lt"/>
                <a:ea typeface="ＭＳ Ｐゴシック" charset="0"/>
              </a:rPr>
              <a:t>Factors</a:t>
            </a:r>
            <a:r>
              <a:rPr lang="fr-BE" sz="2400">
                <a:solidFill>
                  <a:schemeClr val="tx2"/>
                </a:solidFill>
                <a:latin typeface="+mj-lt"/>
                <a:ea typeface="ＭＳ Ｐゴシック" charset="0"/>
              </a:rPr>
              <a:t> important are: </a:t>
            </a:r>
          </a:p>
          <a:p>
            <a:pPr marL="285750" indent="-285750">
              <a:buFont typeface="Arial" panose="020B0604020202020204" pitchFamily="34" charset="0"/>
              <a:buChar char="•"/>
              <a:defRPr/>
            </a:pPr>
            <a:r>
              <a:rPr lang="fr-BE" sz="2400" err="1">
                <a:solidFill>
                  <a:schemeClr val="tx2"/>
                </a:solidFill>
                <a:latin typeface="+mj-lt"/>
                <a:ea typeface="ＭＳ Ｐゴシック" charset="0"/>
              </a:rPr>
              <a:t>mineralogy</a:t>
            </a:r>
            <a:r>
              <a:rPr lang="fr-BE" sz="2400">
                <a:solidFill>
                  <a:schemeClr val="tx2"/>
                </a:solidFill>
                <a:latin typeface="+mj-lt"/>
                <a:ea typeface="ＭＳ Ｐゴシック" charset="0"/>
              </a:rPr>
              <a:t> </a:t>
            </a:r>
          </a:p>
          <a:p>
            <a:pPr marL="285750" indent="-285750">
              <a:buFont typeface="Arial" panose="020B0604020202020204" pitchFamily="34" charset="0"/>
              <a:buChar char="•"/>
              <a:defRPr/>
            </a:pPr>
            <a:r>
              <a:rPr lang="fr-BE" sz="2400">
                <a:solidFill>
                  <a:schemeClr val="tx2"/>
                </a:solidFill>
                <a:latin typeface="+mj-lt"/>
                <a:ea typeface="ＭＳ Ｐゴシック" charset="0"/>
              </a:rPr>
              <a:t>grade</a:t>
            </a:r>
          </a:p>
          <a:p>
            <a:pPr marL="285750" indent="-285750">
              <a:buFont typeface="Arial" panose="020B0604020202020204" pitchFamily="34" charset="0"/>
              <a:buChar char="•"/>
              <a:defRPr/>
            </a:pPr>
            <a:r>
              <a:rPr lang="fr-BE" sz="2400">
                <a:solidFill>
                  <a:schemeClr val="tx2"/>
                </a:solidFill>
                <a:latin typeface="+mj-lt"/>
                <a:ea typeface="ＭＳ Ｐゴシック" charset="0"/>
              </a:rPr>
              <a:t>grain size/texture</a:t>
            </a:r>
          </a:p>
          <a:p>
            <a:pPr marL="285750" indent="-285750">
              <a:buFont typeface="Arial" panose="020B0604020202020204" pitchFamily="34" charset="0"/>
              <a:buChar char="•"/>
              <a:defRPr/>
            </a:pPr>
            <a:r>
              <a:rPr lang="fr-BE" sz="2400">
                <a:solidFill>
                  <a:schemeClr val="tx2"/>
                </a:solidFill>
                <a:latin typeface="+mj-lt"/>
                <a:ea typeface="ＭＳ Ｐゴシック" charset="0"/>
              </a:rPr>
              <a:t>size and </a:t>
            </a:r>
            <a:r>
              <a:rPr lang="fr-BE" sz="2400" err="1">
                <a:solidFill>
                  <a:schemeClr val="tx2"/>
                </a:solidFill>
                <a:latin typeface="+mj-lt"/>
                <a:ea typeface="ＭＳ Ｐゴシック" charset="0"/>
              </a:rPr>
              <a:t>depth</a:t>
            </a:r>
            <a:r>
              <a:rPr lang="fr-BE" sz="2400">
                <a:solidFill>
                  <a:schemeClr val="tx2"/>
                </a:solidFill>
                <a:latin typeface="+mj-lt"/>
                <a:ea typeface="ＭＳ Ｐゴシック" charset="0"/>
              </a:rPr>
              <a:t> of </a:t>
            </a:r>
            <a:r>
              <a:rPr lang="fr-BE" sz="2400" err="1">
                <a:solidFill>
                  <a:schemeClr val="tx2"/>
                </a:solidFill>
                <a:latin typeface="+mj-lt"/>
                <a:ea typeface="ＭＳ Ｐゴシック" charset="0"/>
              </a:rPr>
              <a:t>deposit</a:t>
            </a:r>
            <a:r>
              <a:rPr lang="fr-BE" sz="2400">
                <a:solidFill>
                  <a:schemeClr val="tx2"/>
                </a:solidFill>
                <a:latin typeface="+mj-lt"/>
                <a:ea typeface="ＭＳ Ｐゴシック" charset="0"/>
              </a:rPr>
              <a:t> </a:t>
            </a:r>
          </a:p>
          <a:p>
            <a:pPr marL="285750" indent="-285750">
              <a:buFont typeface="Arial" panose="020B0604020202020204" pitchFamily="34" charset="0"/>
              <a:buChar char="•"/>
              <a:defRPr/>
            </a:pPr>
            <a:r>
              <a:rPr lang="fr-BE" sz="2400" err="1">
                <a:solidFill>
                  <a:schemeClr val="tx2"/>
                </a:solidFill>
                <a:latin typeface="+mj-lt"/>
                <a:ea typeface="ＭＳ Ｐゴシック" charset="0"/>
              </a:rPr>
              <a:t>geographic</a:t>
            </a:r>
            <a:r>
              <a:rPr lang="fr-BE" sz="2400">
                <a:solidFill>
                  <a:schemeClr val="tx2"/>
                </a:solidFill>
                <a:latin typeface="+mj-lt"/>
                <a:ea typeface="ＭＳ Ｐゴシック" charset="0"/>
              </a:rPr>
              <a:t> location</a:t>
            </a:r>
          </a:p>
          <a:p>
            <a:pPr marL="285750" indent="-285750">
              <a:buFont typeface="Arial" panose="020B0604020202020204" pitchFamily="34" charset="0"/>
              <a:buChar char="•"/>
              <a:defRPr/>
            </a:pPr>
            <a:r>
              <a:rPr lang="fr-BE" sz="2400">
                <a:solidFill>
                  <a:schemeClr val="tx2"/>
                </a:solidFill>
                <a:latin typeface="+mj-lt"/>
                <a:ea typeface="ＭＳ Ｐゴシック" charset="0"/>
              </a:rPr>
              <a:t>possible by-</a:t>
            </a:r>
            <a:r>
              <a:rPr lang="fr-BE" sz="2400" err="1">
                <a:solidFill>
                  <a:schemeClr val="tx2"/>
                </a:solidFill>
                <a:latin typeface="+mj-lt"/>
                <a:ea typeface="ＭＳ Ｐゴシック" charset="0"/>
              </a:rPr>
              <a:t>products</a:t>
            </a:r>
            <a:endParaRPr lang="en-US" sz="2400">
              <a:solidFill>
                <a:schemeClr val="tx2"/>
              </a:solidFill>
              <a:latin typeface="+mj-lt"/>
              <a:ea typeface="ＭＳ Ｐゴシック" charset="0"/>
              <a:cs typeface="Arial" charset="0"/>
            </a:endParaRPr>
          </a:p>
        </p:txBody>
      </p:sp>
      <p:sp>
        <p:nvSpPr>
          <p:cNvPr id="32782" name="Text Box 14"/>
          <p:cNvSpPr txBox="1">
            <a:spLocks noChangeArrowheads="1"/>
          </p:cNvSpPr>
          <p:nvPr/>
        </p:nvSpPr>
        <p:spPr bwMode="auto">
          <a:xfrm>
            <a:off x="217766" y="3693269"/>
            <a:ext cx="70818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marL="342900" indent="-342900" eaLnBrk="1" hangingPunct="1">
              <a:buFont typeface="Arial" panose="020B0604020202020204" pitchFamily="34" charset="0"/>
              <a:buChar char="•"/>
            </a:pPr>
            <a:r>
              <a:rPr lang="en-US" altLang="en-US" sz="2000">
                <a:latin typeface="+mj-lt"/>
              </a:rPr>
              <a:t>Mineralogy and grade are particularly important: only some minerals are rich enough in the metal to be “ore minerals”</a:t>
            </a:r>
            <a:endParaRPr lang="en-US" altLang="en-US" sz="2000" baseline="30000">
              <a:latin typeface="+mj-lt"/>
            </a:endParaRPr>
          </a:p>
        </p:txBody>
      </p:sp>
      <p:sp>
        <p:nvSpPr>
          <p:cNvPr id="32786" name="Text Box 18"/>
          <p:cNvSpPr txBox="1">
            <a:spLocks noChangeArrowheads="1"/>
          </p:cNvSpPr>
          <p:nvPr/>
        </p:nvSpPr>
        <p:spPr bwMode="auto">
          <a:xfrm>
            <a:off x="539552" y="4869160"/>
            <a:ext cx="7315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en-US">
                <a:latin typeface="+mj-lt"/>
                <a:ea typeface="ＭＳ Ｐゴシック" charset="0"/>
              </a:rPr>
              <a:t>e.g.: Iron easier to remove from Fe</a:t>
            </a:r>
            <a:r>
              <a:rPr lang="en-US" baseline="-25000">
                <a:latin typeface="+mj-lt"/>
                <a:ea typeface="ＭＳ Ｐゴシック" charset="0"/>
              </a:rPr>
              <a:t>2</a:t>
            </a:r>
            <a:r>
              <a:rPr lang="en-US">
                <a:latin typeface="+mj-lt"/>
                <a:ea typeface="ＭＳ Ｐゴシック" charset="0"/>
              </a:rPr>
              <a:t>O</a:t>
            </a:r>
            <a:r>
              <a:rPr lang="en-US" baseline="-25000">
                <a:latin typeface="+mj-lt"/>
                <a:ea typeface="ＭＳ Ｐゴシック" charset="0"/>
              </a:rPr>
              <a:t>3</a:t>
            </a:r>
            <a:r>
              <a:rPr lang="en-US">
                <a:latin typeface="+mj-lt"/>
                <a:ea typeface="ＭＳ Ｐゴシック" charset="0"/>
              </a:rPr>
              <a:t> than from Fe</a:t>
            </a:r>
            <a:r>
              <a:rPr lang="en-US" baseline="-25000">
                <a:latin typeface="+mj-lt"/>
                <a:ea typeface="ＭＳ Ｐゴシック" charset="0"/>
              </a:rPr>
              <a:t>2</a:t>
            </a:r>
            <a:r>
              <a:rPr lang="en-US">
                <a:latin typeface="+mj-lt"/>
                <a:ea typeface="ＭＳ Ｐゴシック" charset="0"/>
              </a:rPr>
              <a:t>SiO</a:t>
            </a:r>
            <a:r>
              <a:rPr lang="en-US" baseline="-25000">
                <a:latin typeface="+mj-lt"/>
                <a:ea typeface="ＭＳ Ｐゴシック" charset="0"/>
              </a:rPr>
              <a:t>4</a:t>
            </a:r>
          </a:p>
        </p:txBody>
      </p:sp>
      <p:sp>
        <p:nvSpPr>
          <p:cNvPr id="32789" name="Text Box 21"/>
          <p:cNvSpPr txBox="1">
            <a:spLocks noChangeArrowheads="1"/>
          </p:cNvSpPr>
          <p:nvPr/>
        </p:nvSpPr>
        <p:spPr bwMode="auto">
          <a:xfrm>
            <a:off x="200223" y="5266556"/>
            <a:ext cx="808037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342900" indent="-342900">
              <a:buFont typeface="Arial" panose="020B0604020202020204" pitchFamily="34" charset="0"/>
              <a:buChar char="•"/>
              <a:defRPr/>
            </a:pPr>
            <a:r>
              <a:rPr lang="en-US" sz="2200">
                <a:latin typeface="+mj-lt"/>
                <a:ea typeface="ＭＳ Ｐゴシック" charset="0"/>
              </a:rPr>
              <a:t>Size/depth/geographic location influence mining and transport costs</a:t>
            </a:r>
            <a:endParaRPr lang="en-US" sz="2200" baseline="30000">
              <a:latin typeface="+mj-lt"/>
              <a:ea typeface="ＭＳ Ｐゴシック" charset="0"/>
            </a:endParaRPr>
          </a:p>
        </p:txBody>
      </p:sp>
      <p:sp>
        <p:nvSpPr>
          <p:cNvPr id="32790" name="Text Box 22"/>
          <p:cNvSpPr txBox="1">
            <a:spLocks noChangeArrowheads="1"/>
          </p:cNvSpPr>
          <p:nvPr/>
        </p:nvSpPr>
        <p:spPr bwMode="auto">
          <a:xfrm>
            <a:off x="200223" y="4466952"/>
            <a:ext cx="8404225"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342900" indent="-342900">
              <a:buFont typeface="Arial" panose="020B0604020202020204" pitchFamily="34" charset="0"/>
              <a:buChar char="•"/>
              <a:defRPr/>
            </a:pPr>
            <a:r>
              <a:rPr lang="en-US" sz="2200">
                <a:latin typeface="+mj-lt"/>
                <a:ea typeface="ＭＳ Ｐゴシック" charset="0"/>
              </a:rPr>
              <a:t>Mineralogy, grain size, texture influence process methods/costs</a:t>
            </a:r>
            <a:endParaRPr lang="en-US" sz="2200" baseline="30000">
              <a:latin typeface="+mj-lt"/>
              <a:ea typeface="ＭＳ Ｐゴシック" charset="0"/>
            </a:endParaRPr>
          </a:p>
        </p:txBody>
      </p:sp>
      <p:sp>
        <p:nvSpPr>
          <p:cNvPr id="32792" name="Text Box 24"/>
          <p:cNvSpPr txBox="1">
            <a:spLocks noChangeArrowheads="1"/>
          </p:cNvSpPr>
          <p:nvPr/>
        </p:nvSpPr>
        <p:spPr bwMode="auto">
          <a:xfrm>
            <a:off x="197054" y="6012690"/>
            <a:ext cx="8080375"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342900" indent="-342900">
              <a:buFont typeface="Arial" panose="020B0604020202020204" pitchFamily="34" charset="0"/>
              <a:buChar char="•"/>
              <a:defRPr/>
            </a:pPr>
            <a:r>
              <a:rPr lang="en-US" sz="2200">
                <a:latin typeface="+mj-lt"/>
                <a:ea typeface="ＭＳ Ｐゴシック" charset="0"/>
              </a:rPr>
              <a:t>By-products can add to value</a:t>
            </a:r>
            <a:endParaRPr lang="en-US" sz="2200" baseline="30000">
              <a:latin typeface="+mj-lt"/>
              <a:ea typeface="ＭＳ Ｐゴシック" charset="0"/>
            </a:endParaRPr>
          </a:p>
        </p:txBody>
      </p:sp>
      <p:pic>
        <p:nvPicPr>
          <p:cNvPr id="10246" name="Picture 6" descr="http://lifeinplanelight.files.wordpress.com/2011/02/64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94" y="1052736"/>
            <a:ext cx="3634754" cy="2533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0691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076" y="148514"/>
            <a:ext cx="8229600" cy="1143000"/>
          </a:xfrm>
        </p:spPr>
        <p:txBody>
          <a:bodyPr>
            <a:normAutofit/>
          </a:bodyPr>
          <a:lstStyle/>
          <a:p>
            <a:pPr algn="l"/>
            <a:r>
              <a:rPr lang="en-GB" dirty="0"/>
              <a:t>Critical materials</a:t>
            </a:r>
            <a:endParaRPr lang="en-US" dirty="0"/>
          </a:p>
        </p:txBody>
      </p:sp>
      <p:sp>
        <p:nvSpPr>
          <p:cNvPr id="3" name="Content Placeholder 2"/>
          <p:cNvSpPr>
            <a:spLocks noGrp="1"/>
          </p:cNvSpPr>
          <p:nvPr>
            <p:ph idx="1"/>
          </p:nvPr>
        </p:nvSpPr>
        <p:spPr>
          <a:xfrm>
            <a:off x="228612" y="2262352"/>
            <a:ext cx="3221421" cy="4938623"/>
          </a:xfrm>
        </p:spPr>
        <p:txBody>
          <a:bodyPr>
            <a:normAutofit/>
          </a:bodyPr>
          <a:lstStyle/>
          <a:p>
            <a:r>
              <a:rPr lang="en-GB" sz="2400" dirty="0"/>
              <a:t>Availability</a:t>
            </a:r>
          </a:p>
          <a:p>
            <a:r>
              <a:rPr lang="en-GB" sz="2400" dirty="0"/>
              <a:t>Production as a by-product</a:t>
            </a:r>
          </a:p>
          <a:p>
            <a:r>
              <a:rPr lang="en-GB" sz="2400" dirty="0"/>
              <a:t>Demand </a:t>
            </a:r>
          </a:p>
          <a:p>
            <a:r>
              <a:rPr lang="en-GB" sz="2400" dirty="0"/>
              <a:t>Low substitutability</a:t>
            </a:r>
          </a:p>
          <a:p>
            <a:r>
              <a:rPr lang="en-GB" sz="2400" dirty="0"/>
              <a:t>Virtually no recycling</a:t>
            </a:r>
          </a:p>
          <a:p>
            <a:r>
              <a:rPr lang="en-GB" sz="2400" dirty="0"/>
              <a:t>High supply risk </a:t>
            </a:r>
          </a:p>
          <a:p>
            <a:endParaRPr lang="en-GB" sz="2400" dirty="0"/>
          </a:p>
        </p:txBody>
      </p:sp>
      <p:pic>
        <p:nvPicPr>
          <p:cNvPr id="5" name="Picture 4">
            <a:extLst>
              <a:ext uri="{FF2B5EF4-FFF2-40B4-BE49-F238E27FC236}">
                <a16:creationId xmlns:a16="http://schemas.microsoft.com/office/drawing/2014/main" id="{3820A32D-7EB1-DC00-D6F9-599ED12B0B6B}"/>
              </a:ext>
            </a:extLst>
          </p:cNvPr>
          <p:cNvPicPr>
            <a:picLocks noChangeAspect="1"/>
          </p:cNvPicPr>
          <p:nvPr/>
        </p:nvPicPr>
        <p:blipFill>
          <a:blip r:embed="rId3"/>
          <a:stretch>
            <a:fillRect/>
          </a:stretch>
        </p:blipFill>
        <p:spPr>
          <a:xfrm>
            <a:off x="3772956" y="1093076"/>
            <a:ext cx="5142432" cy="5365136"/>
          </a:xfrm>
          <a:prstGeom prst="rect">
            <a:avLst/>
          </a:prstGeom>
        </p:spPr>
      </p:pic>
    </p:spTree>
    <p:extLst>
      <p:ext uri="{BB962C8B-B14F-4D97-AF65-F5344CB8AC3E}">
        <p14:creationId xmlns:p14="http://schemas.microsoft.com/office/powerpoint/2010/main" val="2646549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1967266"/>
            <a:ext cx="1971675" cy="2547257"/>
          </a:xfrm>
          <a:noFill/>
        </p:spPr>
        <p:txBody>
          <a:bodyPr vert="horz" lIns="91440" tIns="45720" rIns="91440" bIns="45720" rtlCol="0" anchor="ctr">
            <a:normAutofit/>
          </a:bodyPr>
          <a:lstStyle/>
          <a:p>
            <a:pPr>
              <a:lnSpc>
                <a:spcPct val="90000"/>
              </a:lnSpc>
            </a:pPr>
            <a:r>
              <a:rPr lang="en-US" sz="3100">
                <a:solidFill>
                  <a:srgbClr val="FFFFFF"/>
                </a:solidFill>
              </a:rPr>
              <a:t>UK</a:t>
            </a:r>
            <a:r>
              <a:rPr lang="en-US" sz="3100" kern="1200">
                <a:solidFill>
                  <a:srgbClr val="FFFFFF"/>
                </a:solidFill>
                <a:latin typeface="+mj-lt"/>
                <a:ea typeface="+mj-ea"/>
                <a:cs typeface="+mj-cs"/>
              </a:rPr>
              <a:t> critical </a:t>
            </a:r>
            <a:r>
              <a:rPr lang="en-US" sz="3100">
                <a:solidFill>
                  <a:srgbClr val="FFFFFF"/>
                </a:solidFill>
              </a:rPr>
              <a:t>minerals 2024 </a:t>
            </a:r>
            <a:endParaRPr lang="en-US" sz="3100" kern="1200">
              <a:solidFill>
                <a:srgbClr val="FFFFFF"/>
              </a:solidFill>
              <a:latin typeface="+mj-lt"/>
              <a:ea typeface="+mj-ea"/>
              <a:cs typeface="+mj-cs"/>
            </a:endParaRPr>
          </a:p>
        </p:txBody>
      </p:sp>
      <p:sp>
        <p:nvSpPr>
          <p:cNvPr id="9" name="TextBox 8">
            <a:extLst>
              <a:ext uri="{FF2B5EF4-FFF2-40B4-BE49-F238E27FC236}">
                <a16:creationId xmlns:a16="http://schemas.microsoft.com/office/drawing/2014/main" id="{F9493B5A-4409-90FA-97FE-2C7716EED8F0}"/>
              </a:ext>
            </a:extLst>
          </p:cNvPr>
          <p:cNvSpPr txBox="1"/>
          <p:nvPr/>
        </p:nvSpPr>
        <p:spPr>
          <a:xfrm>
            <a:off x="7013448" y="6453336"/>
            <a:ext cx="4572000" cy="261610"/>
          </a:xfrm>
          <a:prstGeom prst="rect">
            <a:avLst/>
          </a:prstGeom>
          <a:noFill/>
        </p:spPr>
        <p:txBody>
          <a:bodyPr wrap="square" lIns="91440" tIns="45720" rIns="91440" bIns="45720" anchor="t">
            <a:spAutoFit/>
          </a:bodyPr>
          <a:lstStyle/>
          <a:p>
            <a:r>
              <a:rPr lang="en-GB" sz="1100">
                <a:ea typeface="+mn-lt"/>
                <a:cs typeface="+mn-lt"/>
                <a:hlinkClick r:id="rId3"/>
              </a:rPr>
              <a:t>UK 2024 criticality assessment</a:t>
            </a:r>
            <a:endParaRPr lang="en-US"/>
          </a:p>
        </p:txBody>
      </p:sp>
      <p:pic>
        <p:nvPicPr>
          <p:cNvPr id="3" name="Picture 2">
            <a:extLst>
              <a:ext uri="{FF2B5EF4-FFF2-40B4-BE49-F238E27FC236}">
                <a16:creationId xmlns:a16="http://schemas.microsoft.com/office/drawing/2014/main" id="{71D3F00B-8303-9AB3-42C9-634FAF38AE2C}"/>
              </a:ext>
            </a:extLst>
          </p:cNvPr>
          <p:cNvPicPr>
            <a:picLocks noChangeAspect="1"/>
          </p:cNvPicPr>
          <p:nvPr/>
        </p:nvPicPr>
        <p:blipFill>
          <a:blip r:embed="rId4"/>
          <a:stretch>
            <a:fillRect/>
          </a:stretch>
        </p:blipFill>
        <p:spPr>
          <a:xfrm>
            <a:off x="469772" y="140221"/>
            <a:ext cx="7979283" cy="5547891"/>
          </a:xfrm>
          <a:prstGeom prst="rect">
            <a:avLst/>
          </a:prstGeom>
        </p:spPr>
      </p:pic>
    </p:spTree>
    <p:extLst>
      <p:ext uri="{BB962C8B-B14F-4D97-AF65-F5344CB8AC3E}">
        <p14:creationId xmlns:p14="http://schemas.microsoft.com/office/powerpoint/2010/main" val="3040132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18DC4-C051-744A-8590-AADED523AD9D}"/>
              </a:ext>
            </a:extLst>
          </p:cNvPr>
          <p:cNvPicPr>
            <a:picLocks noChangeAspect="1"/>
          </p:cNvPicPr>
          <p:nvPr/>
        </p:nvPicPr>
        <p:blipFill>
          <a:blip r:embed="rId2"/>
          <a:stretch>
            <a:fillRect/>
          </a:stretch>
        </p:blipFill>
        <p:spPr>
          <a:xfrm>
            <a:off x="0" y="778690"/>
            <a:ext cx="9144000" cy="4576833"/>
          </a:xfrm>
          <a:prstGeom prst="rect">
            <a:avLst/>
          </a:prstGeom>
        </p:spPr>
      </p:pic>
      <p:pic>
        <p:nvPicPr>
          <p:cNvPr id="5" name="Picture 4">
            <a:extLst>
              <a:ext uri="{FF2B5EF4-FFF2-40B4-BE49-F238E27FC236}">
                <a16:creationId xmlns:a16="http://schemas.microsoft.com/office/drawing/2014/main" id="{62ED1635-AECB-A8C7-4154-82FF7D413B7B}"/>
              </a:ext>
            </a:extLst>
          </p:cNvPr>
          <p:cNvPicPr>
            <a:picLocks noChangeAspect="1"/>
          </p:cNvPicPr>
          <p:nvPr/>
        </p:nvPicPr>
        <p:blipFill>
          <a:blip r:embed="rId3"/>
          <a:stretch>
            <a:fillRect/>
          </a:stretch>
        </p:blipFill>
        <p:spPr>
          <a:xfrm>
            <a:off x="0" y="5346379"/>
            <a:ext cx="9144000" cy="444634"/>
          </a:xfrm>
          <a:prstGeom prst="rect">
            <a:avLst/>
          </a:prstGeom>
        </p:spPr>
      </p:pic>
    </p:spTree>
    <p:extLst>
      <p:ext uri="{BB962C8B-B14F-4D97-AF65-F5344CB8AC3E}">
        <p14:creationId xmlns:p14="http://schemas.microsoft.com/office/powerpoint/2010/main" val="1160502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25BBE0-DEF1-6E44-97B3-618D56C291DC}"/>
              </a:ext>
            </a:extLst>
          </p:cNvPr>
          <p:cNvSpPr>
            <a:spLocks noGrp="1"/>
          </p:cNvSpPr>
          <p:nvPr>
            <p:ph type="title"/>
          </p:nvPr>
        </p:nvSpPr>
        <p:spPr>
          <a:xfrm>
            <a:off x="479161" y="639193"/>
            <a:ext cx="2678858" cy="3573516"/>
          </a:xfrm>
        </p:spPr>
        <p:txBody>
          <a:bodyPr vert="horz" lIns="91440" tIns="45720" rIns="91440" bIns="45720" rtlCol="0" anchor="b">
            <a:normAutofit/>
          </a:bodyPr>
          <a:lstStyle/>
          <a:p>
            <a:pPr>
              <a:lnSpc>
                <a:spcPct val="90000"/>
              </a:lnSpc>
            </a:pPr>
            <a:r>
              <a:rPr lang="en-US" sz="5700" b="1" kern="1200">
                <a:solidFill>
                  <a:schemeClr val="tx1"/>
                </a:solidFill>
                <a:latin typeface="+mj-lt"/>
                <a:ea typeface="+mj-ea"/>
                <a:cs typeface="+mj-cs"/>
              </a:rPr>
              <a:t>Iron</a:t>
            </a:r>
            <a:br>
              <a:rPr lang="en-US" sz="5700" b="1" kern="1200">
                <a:solidFill>
                  <a:schemeClr val="tx1"/>
                </a:solidFill>
                <a:latin typeface="+mj-lt"/>
                <a:ea typeface="+mj-ea"/>
                <a:cs typeface="+mj-cs"/>
              </a:rPr>
            </a:br>
            <a:endParaRPr lang="en-US" sz="5700" kern="1200">
              <a:solidFill>
                <a:schemeClr val="tx1"/>
              </a:solidFill>
              <a:latin typeface="+mj-lt"/>
              <a:ea typeface="+mj-ea"/>
              <a:cs typeface="+mj-cs"/>
            </a:endParaRPr>
          </a:p>
        </p:txBody>
      </p:sp>
      <p:sp>
        <p:nvSpPr>
          <p:cNvPr id="103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4409267"/>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 name="connsiteX0" fmla="*/ 0 w 2441321"/>
              <a:gd name="connsiteY0" fmla="*/ 0 h 18288"/>
              <a:gd name="connsiteX1" fmla="*/ 585917 w 2441321"/>
              <a:gd name="connsiteY1" fmla="*/ 0 h 18288"/>
              <a:gd name="connsiteX2" fmla="*/ 1123008 w 2441321"/>
              <a:gd name="connsiteY2" fmla="*/ 0 h 18288"/>
              <a:gd name="connsiteX3" fmla="*/ 1782164 w 2441321"/>
              <a:gd name="connsiteY3" fmla="*/ 0 h 18288"/>
              <a:gd name="connsiteX4" fmla="*/ 2441321 w 2441321"/>
              <a:gd name="connsiteY4" fmla="*/ 0 h 18288"/>
              <a:gd name="connsiteX5" fmla="*/ 2441321 w 2441321"/>
              <a:gd name="connsiteY5" fmla="*/ 18288 h 18288"/>
              <a:gd name="connsiteX6" fmla="*/ 1879817 w 2441321"/>
              <a:gd name="connsiteY6" fmla="*/ 18288 h 18288"/>
              <a:gd name="connsiteX7" fmla="*/ 1318313 w 2441321"/>
              <a:gd name="connsiteY7" fmla="*/ 18288 h 18288"/>
              <a:gd name="connsiteX8" fmla="*/ 659157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1188" y="8366"/>
                  <a:pt x="2440365" y="10017"/>
                  <a:pt x="2441321" y="18288"/>
                </a:cubicBezTo>
                <a:cubicBezTo>
                  <a:pt x="2159375" y="49009"/>
                  <a:pt x="2054495" y="45666"/>
                  <a:pt x="1830991" y="18288"/>
                </a:cubicBezTo>
                <a:cubicBezTo>
                  <a:pt x="1615846" y="7509"/>
                  <a:pt x="1521674" y="-5422"/>
                  <a:pt x="1269487" y="18288"/>
                </a:cubicBezTo>
                <a:cubicBezTo>
                  <a:pt x="1019660" y="53960"/>
                  <a:pt x="886911" y="42351"/>
                  <a:pt x="707983" y="18288"/>
                </a:cubicBezTo>
                <a:cubicBezTo>
                  <a:pt x="523434" y="27321"/>
                  <a:pt x="307885" y="34316"/>
                  <a:pt x="0" y="18288"/>
                </a:cubicBezTo>
                <a:cubicBezTo>
                  <a:pt x="-595" y="11182"/>
                  <a:pt x="-5" y="6307"/>
                  <a:pt x="0" y="0"/>
                </a:cubicBezTo>
                <a:close/>
              </a:path>
              <a:path w="2441321" h="18288" stroke="0" extrusionOk="0">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666" y="6144"/>
                  <a:pt x="2441358" y="10525"/>
                  <a:pt x="2441321" y="18288"/>
                </a:cubicBezTo>
                <a:cubicBezTo>
                  <a:pt x="2180658" y="18322"/>
                  <a:pt x="2084222" y="5934"/>
                  <a:pt x="1879817" y="18288"/>
                </a:cubicBezTo>
                <a:cubicBezTo>
                  <a:pt x="1668182" y="16222"/>
                  <a:pt x="1551159" y="-6477"/>
                  <a:pt x="1318313" y="18288"/>
                </a:cubicBezTo>
                <a:cubicBezTo>
                  <a:pt x="1059871" y="56395"/>
                  <a:pt x="901959" y="23831"/>
                  <a:pt x="659157" y="18288"/>
                </a:cubicBezTo>
                <a:cubicBezTo>
                  <a:pt x="444692" y="28483"/>
                  <a:pt x="245032" y="39882"/>
                  <a:pt x="0" y="18288"/>
                </a:cubicBezTo>
                <a:cubicBezTo>
                  <a:pt x="-11" y="10485"/>
                  <a:pt x="-221" y="3288"/>
                  <a:pt x="0" y="0"/>
                </a:cubicBezTo>
                <a:close/>
              </a:path>
              <a:path w="2441321" h="18288" fill="none" stroke="0" extrusionOk="0">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1440" y="8687"/>
                  <a:pt x="2440452" y="9944"/>
                  <a:pt x="2441321" y="18288"/>
                </a:cubicBezTo>
                <a:cubicBezTo>
                  <a:pt x="2149099" y="27348"/>
                  <a:pt x="2027305" y="56470"/>
                  <a:pt x="1830991" y="18288"/>
                </a:cubicBezTo>
                <a:cubicBezTo>
                  <a:pt x="1614571" y="-18764"/>
                  <a:pt x="1500998" y="10727"/>
                  <a:pt x="1269487" y="18288"/>
                </a:cubicBezTo>
                <a:cubicBezTo>
                  <a:pt x="1042399" y="37834"/>
                  <a:pt x="927922" y="45822"/>
                  <a:pt x="707983" y="18288"/>
                </a:cubicBezTo>
                <a:cubicBezTo>
                  <a:pt x="502575" y="-5380"/>
                  <a:pt x="350393" y="34499"/>
                  <a:pt x="0" y="18288"/>
                </a:cubicBezTo>
                <a:cubicBezTo>
                  <a:pt x="-394" y="12154"/>
                  <a:pt x="907" y="6688"/>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ron Ore">
            <a:extLst>
              <a:ext uri="{FF2B5EF4-FFF2-40B4-BE49-F238E27FC236}">
                <a16:creationId xmlns:a16="http://schemas.microsoft.com/office/drawing/2014/main" id="{0D23D0E9-037D-3066-EC5D-0C95CB01A33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90722" y="1386173"/>
            <a:ext cx="5410962" cy="4058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5858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452686" y="166687"/>
            <a:ext cx="7729537"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en-US" sz="2200">
                <a:latin typeface="+mj-lt"/>
                <a:ea typeface="ＭＳ Ｐゴシック" charset="0"/>
              </a:rPr>
              <a:t>Mineralogy dominated by iron in two oxidation states </a:t>
            </a:r>
            <a:endParaRPr lang="en-US" sz="2200" baseline="30000">
              <a:latin typeface="+mj-lt"/>
              <a:ea typeface="ＭＳ Ｐゴシック" charset="0"/>
            </a:endParaRPr>
          </a:p>
        </p:txBody>
      </p:sp>
      <p:sp>
        <p:nvSpPr>
          <p:cNvPr id="34820" name="Text Box 4"/>
          <p:cNvSpPr txBox="1">
            <a:spLocks noChangeArrowheads="1"/>
          </p:cNvSpPr>
          <p:nvPr/>
        </p:nvSpPr>
        <p:spPr bwMode="auto">
          <a:xfrm>
            <a:off x="515936" y="1353949"/>
            <a:ext cx="657701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fr-BE" b="1">
                <a:solidFill>
                  <a:srgbClr val="FF0000"/>
                </a:solidFill>
                <a:latin typeface="+mj-lt"/>
                <a:ea typeface="ＭＳ Ｐゴシック" charset="0"/>
              </a:rPr>
              <a:t>FERROUS (Fe</a:t>
            </a:r>
            <a:r>
              <a:rPr lang="fr-BE" b="1" baseline="30000">
                <a:solidFill>
                  <a:srgbClr val="FF0000"/>
                </a:solidFill>
                <a:latin typeface="+mj-lt"/>
                <a:ea typeface="ＭＳ Ｐゴシック" charset="0"/>
              </a:rPr>
              <a:t>2+)</a:t>
            </a:r>
            <a:r>
              <a:rPr lang="fr-BE" b="1">
                <a:solidFill>
                  <a:srgbClr val="FF0000"/>
                </a:solidFill>
                <a:latin typeface="+mj-lt"/>
                <a:ea typeface="ＭＳ Ｐゴシック" charset="0"/>
              </a:rPr>
              <a:t>:</a:t>
            </a:r>
            <a:r>
              <a:rPr lang="fr-BE">
                <a:solidFill>
                  <a:srgbClr val="FF0000"/>
                </a:solidFill>
                <a:latin typeface="+mj-lt"/>
                <a:ea typeface="ＭＳ Ｐゴシック" charset="0"/>
              </a:rPr>
              <a:t>  </a:t>
            </a:r>
          </a:p>
          <a:p>
            <a:pPr>
              <a:defRPr/>
            </a:pPr>
            <a:r>
              <a:rPr lang="fr-BE" err="1">
                <a:latin typeface="+mj-lt"/>
                <a:ea typeface="ＭＳ Ｐゴシック" charset="0"/>
              </a:rPr>
              <a:t>relatively</a:t>
            </a:r>
            <a:r>
              <a:rPr lang="fr-BE">
                <a:latin typeface="+mj-lt"/>
                <a:ea typeface="ＭＳ Ｐゴシック" charset="0"/>
              </a:rPr>
              <a:t> </a:t>
            </a:r>
            <a:r>
              <a:rPr lang="fr-BE" b="1">
                <a:latin typeface="+mj-lt"/>
                <a:ea typeface="ＭＳ Ｐゴシック" charset="0"/>
              </a:rPr>
              <a:t>soluble </a:t>
            </a:r>
          </a:p>
          <a:p>
            <a:pPr>
              <a:defRPr/>
            </a:pPr>
            <a:endParaRPr lang="fr-BE">
              <a:latin typeface="+mj-lt"/>
              <a:ea typeface="ＭＳ Ｐゴシック" charset="0"/>
            </a:endParaRPr>
          </a:p>
          <a:p>
            <a:pPr>
              <a:defRPr/>
            </a:pPr>
            <a:r>
              <a:rPr lang="fr-BE" err="1">
                <a:latin typeface="+mj-lt"/>
                <a:ea typeface="ＭＳ Ｐゴシック" charset="0"/>
              </a:rPr>
              <a:t>forms</a:t>
            </a:r>
            <a:r>
              <a:rPr lang="fr-BE">
                <a:latin typeface="+mj-lt"/>
                <a:ea typeface="ＭＳ Ｐゴシック" charset="0"/>
              </a:rPr>
              <a:t> </a:t>
            </a:r>
            <a:r>
              <a:rPr lang="fr-BE" err="1">
                <a:latin typeface="+mj-lt"/>
                <a:ea typeface="ＭＳ Ｐゴシック" charset="0"/>
              </a:rPr>
              <a:t>minerals</a:t>
            </a:r>
            <a:r>
              <a:rPr lang="fr-BE">
                <a:latin typeface="+mj-lt"/>
                <a:ea typeface="ＭＳ Ｐゴシック" charset="0"/>
              </a:rPr>
              <a:t> </a:t>
            </a:r>
            <a:r>
              <a:rPr lang="fr-BE" err="1">
                <a:latin typeface="+mj-lt"/>
                <a:ea typeface="ＭＳ Ｐゴシック" charset="0"/>
              </a:rPr>
              <a:t>such</a:t>
            </a:r>
            <a:r>
              <a:rPr lang="fr-BE">
                <a:latin typeface="+mj-lt"/>
                <a:ea typeface="ＭＳ Ｐゴシック" charset="0"/>
              </a:rPr>
              <a:t> as:             </a:t>
            </a:r>
          </a:p>
          <a:p>
            <a:pPr marL="285750" indent="-285750">
              <a:buFont typeface="Arial" panose="020B0604020202020204" pitchFamily="34" charset="0"/>
              <a:buChar char="•"/>
              <a:defRPr/>
            </a:pPr>
            <a:r>
              <a:rPr lang="fr-BE" err="1">
                <a:latin typeface="+mj-lt"/>
                <a:ea typeface="ＭＳ Ｐゴシック" charset="0"/>
              </a:rPr>
              <a:t>Siderite</a:t>
            </a:r>
            <a:r>
              <a:rPr lang="fr-BE">
                <a:latin typeface="+mj-lt"/>
                <a:ea typeface="ＭＳ Ｐゴシック" charset="0"/>
              </a:rPr>
              <a:t> (FeCO</a:t>
            </a:r>
            <a:r>
              <a:rPr lang="fr-BE" baseline="-25000">
                <a:latin typeface="+mj-lt"/>
                <a:ea typeface="ＭＳ Ｐゴシック" charset="0"/>
              </a:rPr>
              <a:t>3</a:t>
            </a:r>
            <a:r>
              <a:rPr lang="fr-BE">
                <a:latin typeface="+mj-lt"/>
                <a:ea typeface="ＭＳ Ｐゴシック" charset="0"/>
              </a:rPr>
              <a:t>)</a:t>
            </a:r>
          </a:p>
          <a:p>
            <a:pPr marL="285750" indent="-285750">
              <a:buFont typeface="Arial" panose="020B0604020202020204" pitchFamily="34" charset="0"/>
              <a:buChar char="•"/>
              <a:defRPr/>
            </a:pPr>
            <a:r>
              <a:rPr lang="fr-BE" err="1">
                <a:latin typeface="+mj-lt"/>
                <a:ea typeface="ＭＳ Ｐゴシック" charset="0"/>
              </a:rPr>
              <a:t>Chamosite</a:t>
            </a:r>
            <a:r>
              <a:rPr lang="fr-BE">
                <a:latin typeface="+mj-lt"/>
                <a:ea typeface="ＭＳ Ｐゴシック" charset="0"/>
              </a:rPr>
              <a:t> (Fe(</a:t>
            </a:r>
            <a:r>
              <a:rPr lang="fr-BE" err="1">
                <a:latin typeface="+mj-lt"/>
                <a:ea typeface="ＭＳ Ｐゴシック" charset="0"/>
              </a:rPr>
              <a:t>Si,Al</a:t>
            </a:r>
            <a:r>
              <a:rPr lang="fr-BE">
                <a:latin typeface="+mj-lt"/>
                <a:ea typeface="ＭＳ Ｐゴシック" charset="0"/>
              </a:rPr>
              <a:t>)</a:t>
            </a:r>
            <a:r>
              <a:rPr lang="fr-BE" baseline="-25000">
                <a:latin typeface="+mj-lt"/>
                <a:ea typeface="ＭＳ Ｐゴシック" charset="0"/>
              </a:rPr>
              <a:t>2</a:t>
            </a:r>
            <a:r>
              <a:rPr lang="fr-BE">
                <a:latin typeface="+mj-lt"/>
                <a:ea typeface="ＭＳ Ｐゴシック" charset="0"/>
              </a:rPr>
              <a:t>O</a:t>
            </a:r>
            <a:r>
              <a:rPr lang="fr-BE" baseline="-25000">
                <a:latin typeface="+mj-lt"/>
                <a:ea typeface="ＭＳ Ｐゴシック" charset="0"/>
              </a:rPr>
              <a:t>5</a:t>
            </a:r>
            <a:r>
              <a:rPr lang="fr-BE">
                <a:latin typeface="+mj-lt"/>
                <a:ea typeface="ＭＳ Ｐゴシック" charset="0"/>
              </a:rPr>
              <a:t>(OH)</a:t>
            </a:r>
            <a:r>
              <a:rPr lang="fr-BE" baseline="-25000">
                <a:latin typeface="+mj-lt"/>
                <a:ea typeface="ＭＳ Ｐゴシック" charset="0"/>
              </a:rPr>
              <a:t>4</a:t>
            </a:r>
            <a:r>
              <a:rPr lang="fr-BE">
                <a:latin typeface="+mj-lt"/>
                <a:ea typeface="ＭＳ Ｐゴシック" charset="0"/>
              </a:rPr>
              <a:t>)</a:t>
            </a:r>
            <a:endParaRPr lang="en-US" baseline="30000">
              <a:latin typeface="+mj-lt"/>
              <a:ea typeface="ＭＳ Ｐゴシック" charset="0"/>
              <a:cs typeface="Arial" charset="0"/>
            </a:endParaRPr>
          </a:p>
        </p:txBody>
      </p:sp>
      <p:sp>
        <p:nvSpPr>
          <p:cNvPr id="34823" name="Text Box 7"/>
          <p:cNvSpPr txBox="1">
            <a:spLocks noChangeArrowheads="1"/>
          </p:cNvSpPr>
          <p:nvPr/>
        </p:nvSpPr>
        <p:spPr bwMode="auto">
          <a:xfrm>
            <a:off x="515937" y="3861048"/>
            <a:ext cx="657701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fr-BE" b="1">
                <a:solidFill>
                  <a:srgbClr val="FF0000"/>
                </a:solidFill>
                <a:latin typeface="+mj-lt"/>
                <a:ea typeface="ＭＳ Ｐゴシック" charset="0"/>
              </a:rPr>
              <a:t>FERRIC (Fe</a:t>
            </a:r>
            <a:r>
              <a:rPr lang="fr-BE" b="1" baseline="30000">
                <a:solidFill>
                  <a:srgbClr val="FF0000"/>
                </a:solidFill>
                <a:latin typeface="+mj-lt"/>
                <a:ea typeface="ＭＳ Ｐゴシック" charset="0"/>
              </a:rPr>
              <a:t>3+)</a:t>
            </a:r>
            <a:r>
              <a:rPr lang="fr-BE" b="1">
                <a:solidFill>
                  <a:srgbClr val="FF0000"/>
                </a:solidFill>
                <a:latin typeface="+mj-lt"/>
                <a:ea typeface="ＭＳ Ｐゴシック" charset="0"/>
              </a:rPr>
              <a:t>:</a:t>
            </a:r>
            <a:r>
              <a:rPr lang="fr-BE">
                <a:solidFill>
                  <a:srgbClr val="FF0000"/>
                </a:solidFill>
                <a:latin typeface="+mj-lt"/>
                <a:ea typeface="ＭＳ Ｐゴシック" charset="0"/>
              </a:rPr>
              <a:t>       </a:t>
            </a:r>
          </a:p>
          <a:p>
            <a:pPr>
              <a:defRPr/>
            </a:pPr>
            <a:r>
              <a:rPr lang="fr-BE" err="1">
                <a:latin typeface="+mj-lt"/>
                <a:ea typeface="ＭＳ Ｐゴシック" charset="0"/>
              </a:rPr>
              <a:t>relatively</a:t>
            </a:r>
            <a:r>
              <a:rPr lang="fr-BE">
                <a:latin typeface="+mj-lt"/>
                <a:ea typeface="ＭＳ Ｐゴシック" charset="0"/>
              </a:rPr>
              <a:t> </a:t>
            </a:r>
            <a:r>
              <a:rPr lang="fr-BE" b="1">
                <a:latin typeface="+mj-lt"/>
                <a:ea typeface="ＭＳ Ｐゴシック" charset="0"/>
              </a:rPr>
              <a:t>insoluble </a:t>
            </a:r>
          </a:p>
          <a:p>
            <a:pPr>
              <a:defRPr/>
            </a:pPr>
            <a:endParaRPr lang="fr-BE">
              <a:latin typeface="+mj-lt"/>
              <a:ea typeface="ＭＳ Ｐゴシック" charset="0"/>
            </a:endParaRPr>
          </a:p>
          <a:p>
            <a:pPr>
              <a:defRPr/>
            </a:pPr>
            <a:r>
              <a:rPr lang="fr-BE" err="1">
                <a:latin typeface="+mj-lt"/>
                <a:ea typeface="ＭＳ Ｐゴシック" charset="0"/>
              </a:rPr>
              <a:t>forms</a:t>
            </a:r>
            <a:r>
              <a:rPr lang="fr-BE">
                <a:latin typeface="+mj-lt"/>
                <a:ea typeface="ＭＳ Ｐゴシック" charset="0"/>
              </a:rPr>
              <a:t> </a:t>
            </a:r>
            <a:r>
              <a:rPr lang="fr-BE" err="1">
                <a:latin typeface="+mj-lt"/>
                <a:ea typeface="ＭＳ Ｐゴシック" charset="0"/>
              </a:rPr>
              <a:t>minerals</a:t>
            </a:r>
            <a:r>
              <a:rPr lang="fr-BE">
                <a:latin typeface="+mj-lt"/>
                <a:ea typeface="ＭＳ Ｐゴシック" charset="0"/>
              </a:rPr>
              <a:t> </a:t>
            </a:r>
            <a:r>
              <a:rPr lang="fr-BE" err="1">
                <a:latin typeface="+mj-lt"/>
                <a:ea typeface="ＭＳ Ｐゴシック" charset="0"/>
              </a:rPr>
              <a:t>such</a:t>
            </a:r>
            <a:r>
              <a:rPr lang="fr-BE">
                <a:latin typeface="+mj-lt"/>
                <a:ea typeface="ＭＳ Ｐゴシック" charset="0"/>
              </a:rPr>
              <a:t> as:             </a:t>
            </a:r>
          </a:p>
          <a:p>
            <a:pPr marL="285750" indent="-285750">
              <a:buFont typeface="Arial" panose="020B0604020202020204" pitchFamily="34" charset="0"/>
              <a:buChar char="•"/>
              <a:defRPr/>
            </a:pPr>
            <a:r>
              <a:rPr lang="fr-BE" err="1">
                <a:latin typeface="+mj-lt"/>
                <a:ea typeface="ＭＳ Ｐゴシック" charset="0"/>
              </a:rPr>
              <a:t>Hematite</a:t>
            </a:r>
            <a:r>
              <a:rPr lang="fr-BE">
                <a:latin typeface="+mj-lt"/>
                <a:ea typeface="ＭＳ Ｐゴシック" charset="0"/>
              </a:rPr>
              <a:t> (Fe</a:t>
            </a:r>
            <a:r>
              <a:rPr lang="fr-BE" baseline="-25000">
                <a:latin typeface="+mj-lt"/>
                <a:ea typeface="ＭＳ Ｐゴシック" charset="0"/>
              </a:rPr>
              <a:t>2</a:t>
            </a:r>
            <a:r>
              <a:rPr lang="fr-BE">
                <a:latin typeface="+mj-lt"/>
                <a:ea typeface="ＭＳ Ｐゴシック" charset="0"/>
              </a:rPr>
              <a:t>O</a:t>
            </a:r>
            <a:r>
              <a:rPr lang="fr-BE" baseline="-25000">
                <a:latin typeface="+mj-lt"/>
                <a:ea typeface="ＭＳ Ｐゴシック" charset="0"/>
              </a:rPr>
              <a:t>3</a:t>
            </a:r>
            <a:r>
              <a:rPr lang="fr-BE">
                <a:latin typeface="+mj-lt"/>
                <a:ea typeface="ＭＳ Ｐゴシック" charset="0"/>
              </a:rPr>
              <a:t>)</a:t>
            </a:r>
          </a:p>
          <a:p>
            <a:pPr marL="285750" indent="-285750">
              <a:buFont typeface="Arial" panose="020B0604020202020204" pitchFamily="34" charset="0"/>
              <a:buChar char="•"/>
              <a:defRPr/>
            </a:pPr>
            <a:r>
              <a:rPr lang="fr-BE">
                <a:latin typeface="+mj-lt"/>
                <a:ea typeface="ＭＳ Ｐゴシック" charset="0"/>
              </a:rPr>
              <a:t>Goethite (</a:t>
            </a:r>
            <a:r>
              <a:rPr lang="fr-BE" err="1">
                <a:latin typeface="+mj-lt"/>
                <a:ea typeface="ＭＳ Ｐゴシック" charset="0"/>
              </a:rPr>
              <a:t>FeOOH</a:t>
            </a:r>
            <a:r>
              <a:rPr lang="fr-BE">
                <a:latin typeface="+mj-lt"/>
                <a:ea typeface="ＭＳ Ｐゴシック" charset="0"/>
              </a:rPr>
              <a:t>)</a:t>
            </a:r>
            <a:endParaRPr lang="en-US" baseline="30000">
              <a:latin typeface="+mj-lt"/>
              <a:ea typeface="ＭＳ Ｐゴシック" charset="0"/>
              <a:cs typeface="Arial" charset="0"/>
            </a:endParaRPr>
          </a:p>
        </p:txBody>
      </p:sp>
      <p:sp>
        <p:nvSpPr>
          <p:cNvPr id="34825" name="Text Box 9"/>
          <p:cNvSpPr txBox="1">
            <a:spLocks noChangeArrowheads="1"/>
          </p:cNvSpPr>
          <p:nvPr/>
        </p:nvSpPr>
        <p:spPr bwMode="auto">
          <a:xfrm>
            <a:off x="294836" y="6096000"/>
            <a:ext cx="85232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defRPr/>
            </a:pPr>
            <a:r>
              <a:rPr lang="en-US" sz="2200">
                <a:latin typeface="+mj-lt"/>
                <a:ea typeface="ＭＳ Ｐゴシック" charset="0"/>
              </a:rPr>
              <a:t>Iron Deposits can form through igneous, metamorphic or sedimentary processes</a:t>
            </a:r>
            <a:endParaRPr lang="en-US" sz="2200" baseline="30000">
              <a:latin typeface="+mj-lt"/>
              <a:ea typeface="ＭＳ Ｐゴシック" charset="0"/>
            </a:endParaRPr>
          </a:p>
        </p:txBody>
      </p:sp>
      <p:pic>
        <p:nvPicPr>
          <p:cNvPr id="9238" name="Picture 16" descr="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6538" y="786612"/>
            <a:ext cx="2737936" cy="1847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37" name="Text Box 21"/>
          <p:cNvSpPr txBox="1">
            <a:spLocks noChangeArrowheads="1"/>
          </p:cNvSpPr>
          <p:nvPr/>
        </p:nvSpPr>
        <p:spPr bwMode="auto">
          <a:xfrm>
            <a:off x="7084764" y="2764082"/>
            <a:ext cx="1747838" cy="33855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defRPr/>
            </a:pPr>
            <a:r>
              <a:rPr lang="en-GB" sz="1600" err="1">
                <a:latin typeface="+mj-lt"/>
                <a:ea typeface="ＭＳ Ｐゴシック" charset="0"/>
              </a:rPr>
              <a:t>Chamosite</a:t>
            </a:r>
            <a:endParaRPr lang="en-GB" sz="1600">
              <a:latin typeface="+mj-lt"/>
              <a:ea typeface="ＭＳ Ｐゴシック" charset="0"/>
            </a:endParaRPr>
          </a:p>
        </p:txBody>
      </p:sp>
      <p:pic>
        <p:nvPicPr>
          <p:cNvPr id="8194" name="Picture 2" descr="Large Siderite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04442" y="757240"/>
            <a:ext cx="1800200" cy="240026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4818777" y="3157507"/>
            <a:ext cx="903517" cy="369332"/>
          </a:xfrm>
          <a:prstGeom prst="rect">
            <a:avLst/>
          </a:prstGeom>
          <a:noFill/>
        </p:spPr>
        <p:txBody>
          <a:bodyPr wrap="none" rtlCol="0">
            <a:spAutoFit/>
          </a:bodyPr>
          <a:lstStyle/>
          <a:p>
            <a:r>
              <a:rPr lang="en-GB"/>
              <a:t>Siderite</a:t>
            </a:r>
          </a:p>
        </p:txBody>
      </p:sp>
      <p:pic>
        <p:nvPicPr>
          <p:cNvPr id="8196" name="Picture 4" descr="Large Hematite Ima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855" y="3618314"/>
            <a:ext cx="3119908" cy="17543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653777" y="5662806"/>
            <a:ext cx="1056892" cy="369332"/>
          </a:xfrm>
          <a:prstGeom prst="rect">
            <a:avLst/>
          </a:prstGeom>
          <a:noFill/>
        </p:spPr>
        <p:txBody>
          <a:bodyPr wrap="none" rtlCol="0">
            <a:spAutoFit/>
          </a:bodyPr>
          <a:lstStyle/>
          <a:p>
            <a:r>
              <a:rPr lang="en-GB"/>
              <a:t>Hematite</a:t>
            </a:r>
          </a:p>
        </p:txBody>
      </p:sp>
      <p:pic>
        <p:nvPicPr>
          <p:cNvPr id="8198" name="Picture 6" descr="http://www.minerals.net/MineralImages/goethite-ishpeming-michigan.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1840" y="3643669"/>
            <a:ext cx="2391129" cy="21021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644024" y="5726668"/>
            <a:ext cx="1008096" cy="369332"/>
          </a:xfrm>
          <a:prstGeom prst="rect">
            <a:avLst/>
          </a:prstGeom>
          <a:noFill/>
        </p:spPr>
        <p:txBody>
          <a:bodyPr wrap="none" rtlCol="0">
            <a:spAutoFit/>
          </a:bodyPr>
          <a:lstStyle/>
          <a:p>
            <a:r>
              <a:rPr lang="en-GB"/>
              <a:t>Goethite</a:t>
            </a:r>
          </a:p>
        </p:txBody>
      </p:sp>
    </p:spTree>
    <p:extLst>
      <p:ext uri="{BB962C8B-B14F-4D97-AF65-F5344CB8AC3E}">
        <p14:creationId xmlns:p14="http://schemas.microsoft.com/office/powerpoint/2010/main" val="3800648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Residual Deposits-Laterite formation</a:t>
            </a:r>
          </a:p>
        </p:txBody>
      </p:sp>
      <p:sp>
        <p:nvSpPr>
          <p:cNvPr id="3" name="Content Placeholder 2"/>
          <p:cNvSpPr>
            <a:spLocks noGrp="1"/>
          </p:cNvSpPr>
          <p:nvPr>
            <p:ph sz="half" idx="1"/>
          </p:nvPr>
        </p:nvSpPr>
        <p:spPr>
          <a:xfrm>
            <a:off x="81537" y="1278080"/>
            <a:ext cx="3804663" cy="4525963"/>
          </a:xfrm>
        </p:spPr>
        <p:txBody>
          <a:bodyPr>
            <a:normAutofit fontScale="85000" lnSpcReduction="20000"/>
          </a:bodyPr>
          <a:lstStyle/>
          <a:p>
            <a:r>
              <a:rPr lang="en-GB" dirty="0"/>
              <a:t>Soils rich in Fe that form in hot, wet subtropical and tropical environments</a:t>
            </a:r>
          </a:p>
          <a:p>
            <a:r>
              <a:rPr lang="en-GB" b="1" dirty="0"/>
              <a:t>Laterite</a:t>
            </a:r>
            <a:r>
              <a:rPr lang="en-GB" dirty="0"/>
              <a:t> –source of iron and nickel</a:t>
            </a:r>
          </a:p>
          <a:p>
            <a:r>
              <a:rPr lang="en-GB" dirty="0"/>
              <a:t>Created through weathering a soil under strong oxidising and leaching conditions</a:t>
            </a:r>
          </a:p>
          <a:p>
            <a:r>
              <a:rPr lang="en-GB" dirty="0"/>
              <a:t>Chemical weathering removes the more soluble material and leaves Fe hydroxides -Fe(OH)</a:t>
            </a:r>
            <a:r>
              <a:rPr lang="en-GB" baseline="-25000" dirty="0"/>
              <a:t>3</a:t>
            </a:r>
          </a:p>
        </p:txBody>
      </p:sp>
      <p:pic>
        <p:nvPicPr>
          <p:cNvPr id="8196" name="Picture 4" descr="http://sreemeenakshiminerals.com/images/laterit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5192" y="1200628"/>
            <a:ext cx="2990847" cy="199285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454264" y="3171729"/>
            <a:ext cx="4151265" cy="369332"/>
          </a:xfrm>
          <a:prstGeom prst="rect">
            <a:avLst/>
          </a:prstGeom>
          <a:noFill/>
        </p:spPr>
        <p:txBody>
          <a:bodyPr wrap="none" rtlCol="0">
            <a:spAutoFit/>
          </a:bodyPr>
          <a:lstStyle/>
          <a:p>
            <a:r>
              <a:rPr lang="en-GB" dirty="0"/>
              <a:t>Laterite-can be used as a building material</a:t>
            </a:r>
          </a:p>
        </p:txBody>
      </p:sp>
      <p:pic>
        <p:nvPicPr>
          <p:cNvPr id="4" name="Picture 3">
            <a:extLst>
              <a:ext uri="{FF2B5EF4-FFF2-40B4-BE49-F238E27FC236}">
                <a16:creationId xmlns:a16="http://schemas.microsoft.com/office/drawing/2014/main" id="{3EE8D20C-AC95-A483-C9E4-4B4416A5D9C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87984" y="3549620"/>
            <a:ext cx="4808544" cy="264115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TextBox 4">
            <a:extLst>
              <a:ext uri="{FF2B5EF4-FFF2-40B4-BE49-F238E27FC236}">
                <a16:creationId xmlns:a16="http://schemas.microsoft.com/office/drawing/2014/main" id="{575215D6-FFEF-1CFD-6A1C-D12FB44134A6}"/>
              </a:ext>
            </a:extLst>
          </p:cNvPr>
          <p:cNvSpPr txBox="1"/>
          <p:nvPr/>
        </p:nvSpPr>
        <p:spPr>
          <a:xfrm>
            <a:off x="5869301" y="6104406"/>
            <a:ext cx="1890582" cy="369332"/>
          </a:xfrm>
          <a:prstGeom prst="rect">
            <a:avLst/>
          </a:prstGeom>
          <a:noFill/>
        </p:spPr>
        <p:txBody>
          <a:bodyPr wrap="none" rtlCol="0">
            <a:spAutoFit/>
          </a:bodyPr>
          <a:lstStyle/>
          <a:p>
            <a:r>
              <a:rPr lang="en-GB" i="1"/>
              <a:t>Laterite formation</a:t>
            </a:r>
          </a:p>
        </p:txBody>
      </p:sp>
    </p:spTree>
    <p:extLst>
      <p:ext uri="{BB962C8B-B14F-4D97-AF65-F5344CB8AC3E}">
        <p14:creationId xmlns:p14="http://schemas.microsoft.com/office/powerpoint/2010/main" val="1498616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Sedimentary Deposits</a:t>
            </a:r>
          </a:p>
        </p:txBody>
      </p:sp>
      <p:sp>
        <p:nvSpPr>
          <p:cNvPr id="3" name="Content Placeholder 2"/>
          <p:cNvSpPr>
            <a:spLocks noGrp="1"/>
          </p:cNvSpPr>
          <p:nvPr>
            <p:ph sz="half" idx="1"/>
          </p:nvPr>
        </p:nvSpPr>
        <p:spPr/>
        <p:txBody>
          <a:bodyPr>
            <a:normAutofit fontScale="85000" lnSpcReduction="20000"/>
          </a:bodyPr>
          <a:lstStyle/>
          <a:p>
            <a:pPr marL="0" indent="0">
              <a:buNone/>
            </a:pPr>
            <a:r>
              <a:rPr lang="en-GB" dirty="0"/>
              <a:t>Three types:</a:t>
            </a:r>
          </a:p>
          <a:p>
            <a:pPr marL="0" indent="0">
              <a:buNone/>
            </a:pPr>
            <a:r>
              <a:rPr lang="en-GB" dirty="0">
                <a:solidFill>
                  <a:srgbClr val="FF0000"/>
                </a:solidFill>
              </a:rPr>
              <a:t>1) Bog Iron Deposits</a:t>
            </a:r>
          </a:p>
          <a:p>
            <a:r>
              <a:rPr lang="en-GB" dirty="0"/>
              <a:t>Small, no longer mined but historically important</a:t>
            </a:r>
          </a:p>
          <a:p>
            <a:r>
              <a:rPr lang="en-US" altLang="en-US" dirty="0">
                <a:cs typeface="Arial" pitchFamily="34" charset="0"/>
              </a:rPr>
              <a:t>Fe </a:t>
            </a:r>
            <a:r>
              <a:rPr lang="en-US" altLang="en-US" dirty="0" err="1">
                <a:cs typeface="Arial" pitchFamily="34" charset="0"/>
              </a:rPr>
              <a:t>mobilised</a:t>
            </a:r>
            <a:r>
              <a:rPr lang="en-US" altLang="en-US" dirty="0">
                <a:cs typeface="Arial" pitchFamily="34" charset="0"/>
              </a:rPr>
              <a:t> as Fe</a:t>
            </a:r>
            <a:r>
              <a:rPr lang="en-US" altLang="en-US" baseline="30000" dirty="0">
                <a:cs typeface="Arial" pitchFamily="34" charset="0"/>
              </a:rPr>
              <a:t>2+</a:t>
            </a:r>
            <a:r>
              <a:rPr lang="en-US" altLang="en-US" dirty="0">
                <a:cs typeface="Arial" pitchFamily="34" charset="0"/>
              </a:rPr>
              <a:t> in swamps (“bogs”)</a:t>
            </a:r>
          </a:p>
          <a:p>
            <a:r>
              <a:rPr lang="en-US" altLang="en-US" dirty="0">
                <a:cs typeface="Arial" pitchFamily="34" charset="0"/>
              </a:rPr>
              <a:t>Transported in organic–rich near–surface waters      </a:t>
            </a:r>
          </a:p>
          <a:p>
            <a:r>
              <a:rPr lang="en-US" altLang="en-US" dirty="0">
                <a:cs typeface="Arial" pitchFamily="34" charset="0"/>
              </a:rPr>
              <a:t>Enter oxygen–rich lake (or coastal waters) oxidize to Fe</a:t>
            </a:r>
            <a:r>
              <a:rPr lang="en-US" altLang="en-US" baseline="30000" dirty="0">
                <a:cs typeface="Arial" pitchFamily="34" charset="0"/>
              </a:rPr>
              <a:t>3+</a:t>
            </a:r>
            <a:r>
              <a:rPr lang="en-US" altLang="en-US" dirty="0">
                <a:cs typeface="Arial" pitchFamily="34" charset="0"/>
              </a:rPr>
              <a:t> and precipitate</a:t>
            </a:r>
          </a:p>
          <a:p>
            <a:r>
              <a:rPr lang="en-US" altLang="en-US" i="1" dirty="0">
                <a:cs typeface="Arial" pitchFamily="34" charset="0"/>
              </a:rPr>
              <a:t>Ore: </a:t>
            </a:r>
            <a:r>
              <a:rPr lang="en-US" altLang="en-US" dirty="0">
                <a:cs typeface="Arial" pitchFamily="34" charset="0"/>
              </a:rPr>
              <a:t>Goethite (</a:t>
            </a:r>
            <a:r>
              <a:rPr lang="en-US" altLang="en-US" dirty="0" err="1">
                <a:cs typeface="Arial" pitchFamily="34" charset="0"/>
              </a:rPr>
              <a:t>FeOOH</a:t>
            </a:r>
            <a:r>
              <a:rPr lang="en-US" altLang="en-US" dirty="0">
                <a:cs typeface="Arial" pitchFamily="34" charset="0"/>
              </a:rPr>
              <a:t>) and magnetite (Fe</a:t>
            </a:r>
            <a:r>
              <a:rPr lang="en-US" altLang="en-US" baseline="-25000" dirty="0">
                <a:cs typeface="Arial" pitchFamily="34" charset="0"/>
              </a:rPr>
              <a:t>3</a:t>
            </a:r>
            <a:r>
              <a:rPr lang="en-US" altLang="en-US" dirty="0">
                <a:cs typeface="Arial" pitchFamily="34" charset="0"/>
              </a:rPr>
              <a:t>O</a:t>
            </a:r>
            <a:r>
              <a:rPr lang="en-US" altLang="en-US" baseline="-25000" dirty="0">
                <a:cs typeface="Arial" pitchFamily="34" charset="0"/>
              </a:rPr>
              <a:t>4</a:t>
            </a:r>
            <a:r>
              <a:rPr lang="en-US" altLang="en-US" dirty="0">
                <a:cs typeface="Arial" pitchFamily="34" charset="0"/>
              </a:rPr>
              <a:t>)</a:t>
            </a:r>
          </a:p>
          <a:p>
            <a:endParaRPr lang="en-GB" dirty="0"/>
          </a:p>
        </p:txBody>
      </p:sp>
      <p:pic>
        <p:nvPicPr>
          <p:cNvPr id="35842" name="Picture 2" descr="http://www.geoarch.co.uk/geology/Fe-bo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1652" y="1804481"/>
            <a:ext cx="4732348" cy="3549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407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67544" y="433396"/>
            <a:ext cx="4038600" cy="6235963"/>
          </a:xfrm>
        </p:spPr>
        <p:txBody>
          <a:bodyPr>
            <a:normAutofit fontScale="92500" lnSpcReduction="10000"/>
          </a:bodyPr>
          <a:lstStyle/>
          <a:p>
            <a:pPr marL="0" indent="0">
              <a:buNone/>
            </a:pPr>
            <a:r>
              <a:rPr lang="en-GB" dirty="0">
                <a:solidFill>
                  <a:srgbClr val="FF0000"/>
                </a:solidFill>
              </a:rPr>
              <a:t>2)  Ironstones</a:t>
            </a:r>
          </a:p>
          <a:p>
            <a:r>
              <a:rPr lang="en-GB" dirty="0"/>
              <a:t>Continuous sedimentary beds – extend 100’s km</a:t>
            </a:r>
          </a:p>
          <a:p>
            <a:r>
              <a:rPr lang="en-GB" dirty="0"/>
              <a:t>Mostly shallow near-shore marine sediments</a:t>
            </a:r>
          </a:p>
          <a:p>
            <a:pPr lvl="1"/>
            <a:r>
              <a:rPr lang="en-GB" dirty="0"/>
              <a:t>Shallow-oxidising </a:t>
            </a:r>
            <a:r>
              <a:rPr lang="en-GB" dirty="0" err="1"/>
              <a:t>Ores:Goethite</a:t>
            </a:r>
            <a:r>
              <a:rPr lang="en-GB" dirty="0"/>
              <a:t>, hematite</a:t>
            </a:r>
          </a:p>
          <a:p>
            <a:pPr lvl="1"/>
            <a:r>
              <a:rPr lang="en-GB" dirty="0"/>
              <a:t>Deeper-more reducing- Ores: siderite and chamosite</a:t>
            </a:r>
          </a:p>
          <a:p>
            <a:r>
              <a:rPr lang="en-GB" dirty="0"/>
              <a:t>Iron transported in fluids and replaced calcium carbonate, fossils or oolites</a:t>
            </a:r>
          </a:p>
          <a:p>
            <a:r>
              <a:rPr lang="en-GB" dirty="0"/>
              <a:t>Phanerozoic-type deposits</a:t>
            </a:r>
          </a:p>
          <a:p>
            <a:endParaRPr lang="en-GB" dirty="0"/>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404664"/>
            <a:ext cx="3114675" cy="2371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6089291" y="2776389"/>
            <a:ext cx="2029432" cy="923330"/>
          </a:xfrm>
          <a:prstGeom prst="rect">
            <a:avLst/>
          </a:prstGeom>
          <a:noFill/>
        </p:spPr>
        <p:txBody>
          <a:bodyPr wrap="square" rtlCol="0">
            <a:spAutoFit/>
          </a:bodyPr>
          <a:lstStyle/>
          <a:p>
            <a:r>
              <a:rPr lang="en-GB" i="1"/>
              <a:t>Goethite </a:t>
            </a:r>
            <a:r>
              <a:rPr lang="en-GB" i="1" err="1"/>
              <a:t>ooids</a:t>
            </a:r>
            <a:r>
              <a:rPr lang="en-GB" i="1"/>
              <a:t> in an </a:t>
            </a:r>
            <a:r>
              <a:rPr lang="en-GB" i="1" err="1"/>
              <a:t>ooidal</a:t>
            </a:r>
            <a:r>
              <a:rPr lang="en-GB" i="1"/>
              <a:t> ironstone (</a:t>
            </a:r>
            <a:r>
              <a:rPr lang="en-GB" i="1" err="1"/>
              <a:t>Lr</a:t>
            </a:r>
            <a:r>
              <a:rPr lang="en-GB" i="1"/>
              <a:t> Jurassic)</a:t>
            </a:r>
          </a:p>
        </p:txBody>
      </p:sp>
      <p:pic>
        <p:nvPicPr>
          <p:cNvPr id="36868" name="Picture 4" descr="GLAHM R3539: siderite mudstone; with abundant non-marine bivalves ('musselband ironstone'), cut and polished slab - click to view larger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04048" y="3699719"/>
            <a:ext cx="2529408" cy="251591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753540" y="6211669"/>
            <a:ext cx="3559832" cy="646331"/>
          </a:xfrm>
          <a:prstGeom prst="rect">
            <a:avLst/>
          </a:prstGeom>
          <a:noFill/>
        </p:spPr>
        <p:txBody>
          <a:bodyPr wrap="square" rtlCol="0">
            <a:spAutoFit/>
          </a:bodyPr>
          <a:lstStyle/>
          <a:p>
            <a:r>
              <a:rPr lang="en-GB" i="1" err="1"/>
              <a:t>Musselband</a:t>
            </a:r>
            <a:r>
              <a:rPr lang="en-GB" i="1"/>
              <a:t> Ironstone-non-marine bivalve, Scotland</a:t>
            </a:r>
          </a:p>
        </p:txBody>
      </p:sp>
    </p:spTree>
    <p:extLst>
      <p:ext uri="{BB962C8B-B14F-4D97-AF65-F5344CB8AC3E}">
        <p14:creationId xmlns:p14="http://schemas.microsoft.com/office/powerpoint/2010/main" val="1505013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solidFill>
                  <a:srgbClr val="FF0000"/>
                </a:solidFill>
              </a:rPr>
              <a:t>3) Banded Iron formations (BIFs)</a:t>
            </a:r>
          </a:p>
        </p:txBody>
      </p:sp>
      <p:sp>
        <p:nvSpPr>
          <p:cNvPr id="3" name="Content Placeholder 2"/>
          <p:cNvSpPr>
            <a:spLocks noGrp="1"/>
          </p:cNvSpPr>
          <p:nvPr>
            <p:ph sz="half" idx="1"/>
          </p:nvPr>
        </p:nvSpPr>
        <p:spPr>
          <a:xfrm>
            <a:off x="155575" y="1177672"/>
            <a:ext cx="4038600" cy="3672408"/>
          </a:xfrm>
        </p:spPr>
        <p:txBody>
          <a:bodyPr>
            <a:normAutofit fontScale="92500"/>
          </a:bodyPr>
          <a:lstStyle/>
          <a:p>
            <a:r>
              <a:rPr lang="en-GB" dirty="0"/>
              <a:t>Bulk of the worlds iron ore reserves</a:t>
            </a:r>
          </a:p>
          <a:p>
            <a:r>
              <a:rPr lang="en-GB" dirty="0"/>
              <a:t>Grade 30-50% Fe</a:t>
            </a:r>
          </a:p>
          <a:p>
            <a:r>
              <a:rPr lang="en-GB" dirty="0"/>
              <a:t>Occur only in Precambrian rocks 1.8-3.8 billion years ago</a:t>
            </a:r>
          </a:p>
          <a:p>
            <a:r>
              <a:rPr lang="en-GB" dirty="0"/>
              <a:t>Large: 30-700m thick and can be 1000’s km extent</a:t>
            </a:r>
          </a:p>
          <a:p>
            <a:endParaRPr lang="en-GB" dirty="0"/>
          </a:p>
          <a:p>
            <a:endParaRPr lang="en-GB" dirty="0"/>
          </a:p>
        </p:txBody>
      </p:sp>
      <p:pic>
        <p:nvPicPr>
          <p:cNvPr id="37890" name="Picture 2" descr="http://paleo.cortland.edu/tutorial/Timescale/Timescale3.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91452" y="1176817"/>
            <a:ext cx="2193886" cy="3341787"/>
          </a:xfrm>
          <a:prstGeom prst="rect">
            <a:avLst/>
          </a:prstGeom>
          <a:noFill/>
          <a:extLst>
            <a:ext uri="{909E8E84-426E-40DD-AFC4-6F175D3DCCD1}">
              <a14:hiddenFill xmlns:a14="http://schemas.microsoft.com/office/drawing/2010/main">
                <a:solidFill>
                  <a:srgbClr val="FFFFFF"/>
                </a:solidFill>
              </a14:hiddenFill>
            </a:ext>
          </a:extLst>
        </p:spPr>
      </p:pic>
      <p:sp>
        <p:nvSpPr>
          <p:cNvPr id="5" name="5-Point Star 4"/>
          <p:cNvSpPr/>
          <p:nvPr/>
        </p:nvSpPr>
        <p:spPr>
          <a:xfrm>
            <a:off x="8172400" y="4036381"/>
            <a:ext cx="457200" cy="457200"/>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7892" name="Picture 4" descr="http://www.nordcee.dk/uploads/images/Full_size/AustraliaBIF.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6553"/>
          <a:stretch/>
        </p:blipFill>
        <p:spPr bwMode="auto">
          <a:xfrm>
            <a:off x="4170504" y="1902058"/>
            <a:ext cx="2578560" cy="3616951"/>
          </a:xfrm>
          <a:prstGeom prst="rect">
            <a:avLst/>
          </a:prstGeom>
          <a:noFill/>
          <a:extLst>
            <a:ext uri="{909E8E84-426E-40DD-AFC4-6F175D3DCCD1}">
              <a14:hiddenFill xmlns:a14="http://schemas.microsoft.com/office/drawing/2010/main">
                <a:solidFill>
                  <a:srgbClr val="FFFFFF"/>
                </a:solidFill>
              </a14:hiddenFill>
            </a:ext>
          </a:extLst>
        </p:spPr>
      </p:pic>
      <p:pic>
        <p:nvPicPr>
          <p:cNvPr id="37894" name="Picture 6" descr="http://geofrikphotos.files.wordpress.com/2013/06/bif-7.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07704" y="4691349"/>
            <a:ext cx="2794776" cy="1878258"/>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8" descr="data:image/jpeg;base64,/9j/4AAQSkZJRgABAQAAAQABAAD/2wCEAAkGBhQSEBQUEhQWFBQWFBQWFRQYFxcWGBUUFRcXFRcXFRgYHyYeFxkjGRQUHy8iIycpLCwsFR4xNTAqNSYrLCkBCQoKDgwOGg8PGi4kHyQsLCwsLCwsKS8sLCwsLCwsLCwsLDIsLCwsLCwsLCwsLCwsLCwsLCksLCwsLCwsKSwsLP/AABEIAMQBAQMBIgACEQEDEQH/xAAcAAABBQEBAQAAAAAAAAAAAAAAAQIDBAUHBgj/xABEEAABAwIEAgcFBgMGBQUAAAABAAIRAyEEEjFBUWEFEyJxgZGhBjKxwfAHFEJS0eFigvEVIzNUcpMWU5Ky0hckc4Oi/8QAGQEAAwEBAQAAAAAAAAAAAAAAAAECAwQF/8QAMREAAgEDAgUCBAUFAQAAAAAAAAECAxESITEEE0FRoWGRFEKx8CIyUnHRYoGiweGC/9oADAMBAAIRAxEAPwD2f3IJPuYWn1STqkjmsZ33MI+6LR6pHVIHYzxgwlGEC0OqR1SAsUBhEv3VX+qSikgdiiMKl+7K91SOqQFiiMMl+7K91SOrQFil93S/d1d6tHVoCxT+7o6hXOrS9Wgdil1CXqFc6pHVoCxT6hHUK51aixVdlMTUcGDmYnu4oCxB1COoVPEe0+HaJDi/k0H1LoAVL/i0mSKNhxf8sqWSKUGzZ6hMqhrRLiGjiSB8Vi1vaWo5vYDGc7uI+A8ws3C1XmoXVJc8j3pmw4E+6L6BLLsUod2ehqdIUwLS7uEfGElPpBpIBBbO5iPRUJSFs8UXK5aN7qEnUKl0TjDn6txkH3eR4dxv6La6tVe5k4tPUpdQjqFc6tHVoFYpdSjqFc6tJ1aAsVOoQrfVoQBNlRlT4RCYDMqMifCWEgGZEZE+EsIAZlS5U+EQgBmVGVPhLCBkeVUOkem6NE5XuOaJytBcY4nYeJVvH4xtKmXu2sANXOOjRzK5rjsSHue93+I5xLryBygcLC/JROVtjWlDJ6no8f7ZEtPUNg6TUB9Gg/E+Co0/abEHWoNDYMZE23I71j0ac05NrQdj5a2U/XBpBEg8r8vkbLPK5ty0unvYt1+mqrpmq4HUdogd3ZTHYl+X/GfJ261/fuVSBbBF5vrqY1g+GyjpPpnYjS+l+XOyC7dl5RPmdYh9TM3fM74zK0P7dxEQKrhbcNdPiQSVVp1GklonjeyQuHkPrVK48b9Llip0rWe0zWfP+rJbgQ2NVmVMMXElxtFpMnS9+Ct16TiOyN7SYB31gqB2FeN4/htPmSBon+4rW2RGz3byeAgkWT21JJ8okiBEWBtyTQ0ydRfewOvdKa9hEyY1ie/mmToWcPWsROk6xf1gdykdiC06gRz24clWoYhsWtzA+YSGqLxfcExbh8N07olRZpDHmJDfXXusrjXSAY18LFY9Gq51p2jQEDX63V+hiIGoEASfTwTUhOFi1UH19br0XRGPFRkH32gZhx2DvH4rzeed/wB1XbjzTq9YLlsafimxaeUfVkZWFy8tD3eVJlVbovpRldmZkji02c3v5cwrkLRO5g007MZlSZVJCSECGQhPhCABCEIECVIlQAJYSJwQMUBLlTmhOypjI8qXKpMqwvafpPI0UmuyueCXH8tMaxzOnn3pMErnlvbr2mgGmwuBNmua0OyskhzwTYOcWwOQne/icGT1jc3WuaZBa6AIM7N75mylq1atWq54FS5MQYAboAZdGips6OfmBIgtcDbJa/8AC+QsXrudMbR2RO/oqHGMzADd5fDQPG5Wpha7SAG1RUdGrSDGsF06X5bLGxL6c5nvgnUQ51+QAHqUf2fTgEucM2ksI2ze7JMwjpqUpWeh6WgyTAqB08C1w2uR5KGtLXkFzpDoP5TFuyCbDvWAegrh9Oo8OmxLXD4aKycVVkGoxriABnDXAkfxaDxjwOqFG43Vlf0Ntzg1o7QE3F4nnPHRIKrWPa57shuZL7EC5JEwYt6LNxWN7bQwRFiBGvOO8XExewUFXoupUJcXMOwGU2HAktg3Coy9bmoz2haT7s/xTY3sTuFfweMDgZtYgDWVj9GdFuY8B2QhwOjZAgdwj91sUsAyZygHWRafkk7dil+/0G1KZcIytPjccxax8VGaeUAEZwbaAxfedRHirFSi46ZeW3moRU7WQuaHCTlm8De2ynQpXvp5GNDGzDQJ4CJ9IG6VkkkARruLJzqDZ4HbcRqoKgc1zg4EyZsNGkGZtxi3NVow1jvbUt4apItBjTTz9Qo69WCQ4DSJ00+UqHCGm4OLWvibwAOUwbgRyvKe+gwXa1xvcFusiNYtrKXuNf29y3Tx0MkkEwY/f62Rh6M9o5SDuDb6lU3YZkAgO+gZnjYnzUuHY8AQZMiDEEzxumlcmTx7e5p9HdIGlUDpNhcbZdSPL1HJe9HJc2NdzRmcA4Emx15xbnxXufZ/GirQbH4ex4ADL/8Akgd4KuOhjPXUvpE4ppVGQISJUAIUkoKRAhUSkSoAVPYEwKamExkjQnQgBOQMbC4/9oPTJGNq0nG8RM2yASBxmItpcldihcS+0Oqz+2HMgFxNKT/qpsERF/3WdW9jo4dJyszy76xBMOjhlMX4+pGylw+HrVD2MxJN7wBPP9br0rOgqX/LbxNvQLYwlTqmFrWtAdA924F/d4arm5nY9B0YroYnRnQIYAapzPHuycwbeTA71bxXQjKpl5kyDpEnmbk+asurAalKcSOKzc2zRUUtkVsP0Y9jvebl/wBLs3heOGyttoMEyNZkzMzqk663HkpWuTyZPKjfVDMPhadMkgSCTmgX9NU9tUkmGgN/CbEkcxoN9041gOSo1qrnG1h8VSqPqQ+HT20LGGaTWk2AaYJgQ4wR6KB+OmqQ0WbYkRc+G37qrgKgZVLHzDjmnmAJB8BZOr9IS5wEgTAvB71fNstjP4O7tcuUiS4mLxra0co0uoqtQyJg6Tpr5yE2lXPgpTWa4WgnbiDy4JOr6C+Et83j/oOJzsBdrYDbTTlt5W1T3YkGNtpsPTdUMY0kjMbgdm8aaaXUAe9x94ZXAGHC8xciLAmXFU5J9SVRnFaK7Nam7tiwkjWIPdKkqYsAuBdcd1542WU3o8OAIcJ73xPEXT6tBwAObMRI3Ebzcyd9Adld49zN06nYvvrZRFyJEkCbkSduEJKNfM1w7bTqAbTGwMenNUMPWqZjDmWMkAHgP0WhTqgCC4TrHa7xERwHNPOPcnkVOqLrWjK3MMwbYTGo2v5r0Xsc+1VvNrgO+Qfg1eRDHQSHHj3+Bleq9jpz1Nxkbc6jtGB3anwCcZpuyJlSlGN2ejcFGVO8KArU5hJQhCAApE4pqQgQhKEAK0KzTChptVloTGhwSoCo9L9Lsw7MzruPut3cf0G5Q3bVlJNuyI+menWYdskF74lrG6naSdGjn8VyHpbo77xjji3tILnscQ09luUNaNRP4QtPp32gzFxJDnu52Hfy2hedc4kXc48sxjymy45V7npU+CmtbmpV6VLZL2uaOeXy1VPEe0IDRxMkwQYFgAAdN7clXoUhOgHgFcdgqTzBptJNy6IJ8eKzTj2OtwqLqioOnm7g+MT5K1R6Ra6L5RzGXynVLT6IogwGQL3DnfMqY9DUSSIcLnR7jMd8oeHqClVWlky0w7gz3QmYrpMDst14QXTbaNL78lAOimMEipUA0gOEeUXUbKd5DhHC49QnZd0LOV7uDHMxlY2dYE2EaRzVvr4sdfo3ULAYJtMGLm7iIGhm0z4BVn45smC4Ak3BBttY6b+SMF3QOs9sH7DekQQQ5uovr8lDQxWZxJGXfX5aqyzpFhF3PHgDbw8VBiyMoNNmfU3BzDmBlieVk8L9Rc9J7P2JxjQbAi3HQnw+rp4xwJ0v+aLDw/VZlE5oIMGYAOvfa08rKdtMkWg7WIMRxNhqk6ci1XpSe5cbqS65jy71RxbXSCLt1GsQfeEHTjCke0taQPfMwDvYmBzgHyVD+0zlAEjY8CNLEahTi7GqnG+jNLDVIF/0V2nVGs/vyWOa86J1Go6Igwo1NMUzSo4kZjMbctNd1PUrHVtvrkshlSDcjXcjRSvxEaH1+pVXIcVc1KGL42n4r1nsDiHOq1BqwUxc6zmt6T5LnjsfEwREQd9o27/gulfZjiWvwrwBdtQAnj2RHhr6rWinkcXFyioNI9Y8Ku8K24KCoF3HjkMIToQkIQhJCcQkhIQ2EoCWE5rUASU2qcBMYFU6Y6UbQplxPaIIYOLo+AtKbdtWWk27Ih9oOnm4ZguDUdZjT/3EC+Ueq5h0p07UqPLnlzvTuuNByFlPj6udxL3OJOpMknlqqJo02bSfHXzXHUkpdT06FNw+XUyTTJMkeiG0TrdX6j2bNPOXH5oa9otlvuZA+KyxXfwdvMmvl8or0BCuU5Gnw4p7KwH4R4AXTjDv4NIj6+rosl1FnN/L5RC5x008+9DamvIm/fe6V7GtvmJnxHhHgo6kQC1wvEjU6d4iLpWT2Y8mt4srVbnWAFLtZMqdned+Bvuq9Wt4jv8AE68kYSLVaFt/DFq0CTJOgtfZVnU4vbdXacOHZM8rT5awkdhs2gPlfyFx5J4y7C50HtIo9UNSpsHjC02HGAlfhSNfgfmE2mQCY1gwiw8/UuVcR+LK0bAkTJO/kFDXAjtC54aX48dVCWnUnQGND9FMbckndJXWxWKe6HNwrSSQS0zMg72ix10TMY4AGKTMxM5iBvvYfCNFLSw8nWBF+XNQValwAcwBsYjv/qrVWS6mb4anL5fYTB0SGTrxF7ETcGe7bhrChbVLnXgDWw3/AJiVLUc7icv5Z+Kz6sOI1EI5kmNcLTXTyzRZVHhGkNGmmyuU6jS3sjfeLeI1WNSpTYfR+CuUXlogD65pOUu4cimto/U1MPcEG4scpJIseBPNe4+zmsKdVzGjs1RPIOZMehcPJc/wWI7V+Y31Nl7T2BipimmxLQ5xAOlj6T8VVNvJHPxEI4OyOmlRvClTXBd54pBlQnwlSEQlNTkiQhIUtNqYApmBMCQLnPtN0szEVrVey2WtaDaOJI3JHoOC9p7Q44UqDr3f2G/zAyfBsnyXOG4VuvH64FYVZ20R28NSy/E1oV8oBsZ8Sojh2gy468o/qrVfDtaJJN5VEuY24AniSVzqSidzpymrL6jpYT2Wz8vL9Eyo4Wtry/UKNmMvNhPwTXY8E6WO5+dkOr+/gFwtukfLLFVwy5S0gSNj8NFVeGbGdbWHz705uMEXzDxiVHX6SZ+WZ0MwqdRPqxLhmvlXu0V6zBwcPAR5x3KN7gdGNnTcecEJ76zHfhjh/QplSnTc6L2i4seOoUqf9Xg0dH+j/Ir1qTgZDo4tsfrzTCKkGA0x4Eeqs18oMC4vfX13/dQQ3nyuR6Krr09icJ9Lr/0gotduGA8bzzFlYIcbRw3/AHVdjbXceW6laNs08bD4oyXT/YsJ9b/4sd1T9r8Wy4keAGnNOpkgduJjSQfGE4U22LjmA2lzSD3gJtYlx/EWjRpd9Tqq/D9shOqt0/b+CAuawyHNOaCREAc53T3VhyNuJ+ERKjDWiwa4ayHDck8NEw0aY3y+JHxQ/vQcW79Pf+SQ1cjZvfa/wtx9FVFUkybclJWkRBDx39/DVNudWnlBBWTjqdcKiUbWf36ocCNJI5R+ip4tuXS/13KYOueyZ7khk/g8SbJ4PsHNhfdkGGrHn3Qfiro0sL/H1TXh0WACKWflbgELTsKTUn19iWlM8OGkrov2Us/vaxI7XVt7X81wecgLnjw6JmBOwt52jRew+yvphtLEupOcSawyjk8XaO49r0WlP8yOPiL4PR/3Z1xNITki7DyhsITkIAqIQhSSOaFNIAk2AuSbQAo2BeK+0n2n6pgoUyJJHWEmIbGYN+BPgN0N2KjFydkZftV7U9dXIZ/h05aCQRmBjM4HnA8AFVbXbGbNsdieeoF15Sj7QNBM09ScxJu7WNQYvyTaPScudmqOaIhouQZ1aRP1C55Qu73OynWxWNj0fS/aIIdItCya1ZgsXCe/9FSxLy8SbiYtbw8htwStoGBGGBkamPmsnTTerO2NaaisY/X+Cf7/AE+Mm+xJ8gFD96tDWVCf9JHzUopV3WbSbTH5nEW4wGpw6PrQP71m5iHAefknhTXUnnV3tHx/JV++RrTfMcNu86KBlbM/stM8CRYrXIqOlr8rwRqxxJbcXuI2Pmnso02fjbI/MWn5yrwpmfO4jt4M77pUsAwCdp/ZKcPUpky2e4zfxhWXVCbCoyCRN8s90TG+hUpqjKGk5nk6AgANH4sxub/QQowegpVOIirt+DLpVJzZmkX4WGnNI5hBjI7vEQe4jVaQwj2iWOANrQC4eIFxqkOLq2a5mYg2cIjuNhIT5cWxfE1UtfoZlVp/I4Hc5Sn0mtA1gnjY+R7loU8Q/Mc4eJIyty6bQHA3md+STEYR1TtdWQNpIB8L8Nyh00OPETb2uUKTQ1zgdSZF/BOGYmOCYMA0OAqNLZ0Nr8pMifFXKeCaA7LLSAL3kud2QACb6zZQ6XqaLjO68kIe4kS4kpDixJ7+Ciq03A9l4dYEgi4776aX0SsDg2YDpuMpvF737jofgpdKS2N48XTlq/KHPYCJNjxH1zVWo0yIftwBCmDyTDmuHd2p3AMeKKtUCWlrm23aR4aItNdP9jzoy1TS8DRTcDcjySOJ5eqiOIA3A046JpxbfzBFpdvA1Kn+rySuqO4BPLnESYCgGIaTc/H9Ew4oHew5JYy7eCs6a3l5RNiKJgEuJFzyI7vNaHQQLcQHCGluXLb8Ugg/BQU3B9NpbByyHSYPvTp4rV9kcKKuKw4eczTUYDFhZ1gY8vqVajJrU5J1Ka/Lr99zu6RLKRdp5IIQhAFNK1NBVfpLpRmHpGpUMAaDdx4BSSZftR7UDDtLKZAqRdxuGTpbd3w5rleMfULXOLnS46nVxNySDeP2TMf0u+qSSRmc4mTzOYkE+ChrY4WaJytvJ0cePiTouaak3c9GhKnFWK+G6KLmjNaNSec/on4jo+4JOYWBiU/+0LEDXzsmnEn4LNuR1KnBruTGsGNEC97246CdLbrNrdMVC+QS3g0ANEcDxVhz5bGwzOA8gfgqBbuFSs90TjKKtB2RI7pF8QCTN4uY8Tr5J46QeBcO9SPUKs1nFOyJvHsEVU/UWT0wY0Mcz9BH3sOBiZbtmsRyjcKENjfwSgkGW2PEJfh7eSrVf1eERPr30vxN58YUjMQWtvadpPzEKem/8xJM+H1qkqVgeY4fJGS2sHLqJXy8IZS6bc3e3C0Kd3TLi0cNNRbvgKuGE6ADuVik0gbXMafUoyj2DCo/m8Ezeki2ASL7teDbTS06eiB0pG7ifriVE/D5BPdHIkobjSde7+qTnF9Co06i2fj/AKTDHZrF0A7EzPhlhSnFUwAHCaYg98mbaQTZVTjT3iPT5qvXeHEDXmZ37/qyalHaxEqVTfJMss6eH5WDgRciJ10+KjodNQ8uc1pBEau9b3uFAOjQBMtkbSZKeWt4AHuVZJE8uUt0vYsDpRlQiWObs6O0DtvtofAXVp/VOF6jiQL5u1I4X8FmVmggWbrrCRmXQgT3XRmg5Le9vJeik8w2qQdYLZkcWkx5KnVwDBcPBEbiBPgbKBlNom0cEFggkWHjdPMXI62XkgrMBIuBGoEu+Oilp0WEe+B36/IIZSbAgQo3Ur6CJ4J5kqg07tLyXMDSeDNKXjQw2xG4uvffZ5gJxjRFmA1CZHZywGggE3lw8jyXO6LQNvIwu0fZd0QaWGfUdc1Hw079Wz9XF3/SE08mkZ1YunFvTtoe1SIQug4AQhCAKGaLnQXK4r7Q9O1MRUL3GziYG7Wg2HIRGnDvXZ6+H6xj2EkBzXNkagOBFvNcQ6Z6Ofh67qVUXabHi06EciLrOQRM5+gn08lCOGqtVHg6NAHG5Ol+XooXDuSua2IouhpPEiPlyT21Boe/j/RAqAg2ASY1boQue7jeR6KM1TrZSlonX91FmvcWRZF5T6MczEcR5IOIG8+SA3iY5pj6cnsnzsk4xNI1aiW5KMW3ilbimzqqrqJn9wkLUuWiviai6Fx9YEWI80tJw8e9Ugy90py8I8UuUilxUuqNM1AP0lRdd2pN/VU2ZZ498j5pHBp2I8f2S5SK+Kb6L3LdbEE93AaD6lV3VCmnkSmHvKap2E+KbJmvJN1K4+P1xVQSBbXgkZTJ1dHfKHTHHivQtueY3TRVUDmRYHvOvghrAfx+n6lTyi/intYuVnAtEX48AonHzULDcjNaLEjVNqzl9+8+g1+SMOgviFvb6FgVLx596mxFgB4nvVEUgBO/NKDOuyrlmb4t9izTPFPdqIVIxtZNDuZ/RHKBcX0aL9IdoA8RZfQvsuP/AGWHtH903+vjr4r50w1Nz6jQ0lxLgBxJJFvkvpPorCGlQpUzcsptaf8AUAJ9ZVwjZ3MK9bNJWLaEkolbHILKE2UIArsCxPa72WbjKVgBWaOw42kbsceBv3HxW60JyVrgcC6U6KqUHGnVYabhfTUcW7Ecws9lQj52mQvobGYKnVblqsa9vBwBHrovJdKfZhQfeg91E/lPbYeV+0PMqMWjTNPdHI320EDwUWf6/ovUdP8AsjicO7tMzM/5jQS3jE/h/mAWA6myYdmad7W81N+6NVZ/ll7lX0QXfWinOHn3XCBxhVnU3DUc7X+CE0PGS6DXEolMcTpdJmP1qqI0QpKJ5pOsSGp3IAnD/qVG/wAPRMlDilYpydrXFA7kOZOyIShosmJajTzCUVI/D+qf93vo624EhMNAfxeRty0S3Ks1sNLp2juSSOBQGjifrgkIPFMnXcUEc/RSEsIgE+mnmoTpxTmv8EDWn2xHMi9+C08PhqT2k5gDHZBIBkbEcOfPZZ1/kFOKeXvulYS0GYh0O0skbUH5RHFNdTzSb8SUxtI3ABTH+xJU7k0HkE19IgA7fPdXcFhb5jaBbv8Ar5IDW/3/AAbfsJ0a6pjsPDfdqtcf5e0THAZSfBd+leM+zjoHqqHXH3qjQG8RTBN5/iIB7g3ivYqo7GMndiyiUkolUQKhJKEAMCEiVAAhIhACrI6Q9lMLWu+i2TqW9knvy2PitaUiAPBdIfZDQcZpVX0xwID/ACMtj1VCp9jRA7GK7XOmQPMPJ4rpiJSsCbRx3F/ZFjQexUpPHJzm+jh80f8ApDjIkuok8A93xLAuxSiUsUVmzib/ALKMdIAZTI49YyPGTPopKX2Q40zPUt4f3kz/ANLSu0SiUWDJnF6f2P40m5oD/wCw/JqH/ZLjQNKLuQqR8QAu0ZkZkWDJ3ufPvSnsjiqBPWYeoP4gM7bbhzZHqsUiLDyX03nVetg6bzL6bHHi5jXHzISxKz9D5tykbnuTXTsTPqvoQ+yeCJn7rQn/AONvwiFOPZ3C/wCWof7VP/xRZg5nzoQ8WM9xUZYRqV9GD2Wwf+Vof7TP0Uh9ncL/AJah/s0//FNITnc+bsu6kYOWy+iz7L4Q64Wh/tM/RV6nsRgXGThaXg0tHk0gIsxqVjgmHoEkb8J+uSmFB1R0NBJJAAAJ8oC73hPZTB0jmZhqTTxyA+WaYWnRpNaIYA0aw0BonuCWIZnBv+CMa8BrcNVOaDJbkAHMugK5h/snx5gljG99Rlh4EruEolPEWTOR0/shxQj+8oafmfYnc9i5/Veo6C+zGjSh2Id1zxHZFmTz3de+w5Fe0lEoxQsmOCWUyUsqiR0olNlEoAWUqbKEAIhCECBIUIQMRCEIAEiEIECEIQAISIQMQlIShCAGkolCEAEpZSoSELKdKRCYxyEIQAJUIQAiVIhAAhCEAKEIQgAQhCABCEI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AutoShape 10" descr="data:image/jpeg;base64,/9j/4AAQSkZJRgABAQAAAQABAAD/2wCEAAkGBhQSEBQUEhQWFBQWFBQWFRQYFxcWGBUUFRcXFRcXFRgYHyYeFxkjGRQUHy8iIycpLCwsFR4xNTAqNSYrLCkBCQoKDgwOGg8PGi4kHyQsLCwsLCwsKS8sLCwsLCwsLCwsLDIsLCwsLCwsLCwsLCwsLCwsLCksLCwsLCwsKSwsLP/AABEIAMQBAQMBIgACEQEDEQH/xAAcAAABBQEBAQAAAAAAAAAAAAAAAQIDBAUHBgj/xABEEAABAwIEAgcFBgMGBQUAAAABAAIRAyEEEjFBUWEFEyJxgZGhBjKxwfAHFEJS0eFigvEVIzNUcpMWU5Ky0hckc4Oi/8QAGQEAAwEBAQAAAAAAAAAAAAAAAAECAwQF/8QAMREAAgEDAgUCBAUFAQAAAAAAAAECAxESITEEE0FRoWGRFEKx8CIyUnHRYoGiweGC/9oADAMBAAIRAxEAPwD2f3IJPuYWn1STqkjmsZ33MI+6LR6pHVIHYzxgwlGEC0OqR1SAsUBhEv3VX+qSikgdiiMKl+7K91SOqQFiiMMl+7K91SOrQFil93S/d1d6tHVoCxT+7o6hXOrS9Wgdil1CXqFc6pHVoCxT6hHUK51aixVdlMTUcGDmYnu4oCxB1COoVPEe0+HaJDi/k0H1LoAVL/i0mSKNhxf8sqWSKUGzZ6hMqhrRLiGjiSB8Vi1vaWo5vYDGc7uI+A8ws3C1XmoXVJc8j3pmw4E+6L6BLLsUod2ehqdIUwLS7uEfGElPpBpIBBbO5iPRUJSFs8UXK5aN7qEnUKl0TjDn6txkH3eR4dxv6La6tVe5k4tPUpdQjqFc6tHVoFYpdSjqFc6tJ1aAsVOoQrfVoQBNlRlT4RCYDMqMifCWEgGZEZE+EsIAZlS5U+EQgBmVGVPhLCBkeVUOkem6NE5XuOaJytBcY4nYeJVvH4xtKmXu2sANXOOjRzK5rjsSHue93+I5xLryBygcLC/JROVtjWlDJ6no8f7ZEtPUNg6TUB9Gg/E+Co0/abEHWoNDYMZE23I71j0ac05NrQdj5a2U/XBpBEg8r8vkbLPK5ty0unvYt1+mqrpmq4HUdogd3ZTHYl+X/GfJ261/fuVSBbBF5vrqY1g+GyjpPpnYjS+l+XOyC7dl5RPmdYh9TM3fM74zK0P7dxEQKrhbcNdPiQSVVp1GklonjeyQuHkPrVK48b9Llip0rWe0zWfP+rJbgQ2NVmVMMXElxtFpMnS9+Ct16TiOyN7SYB31gqB2FeN4/htPmSBon+4rW2RGz3byeAgkWT21JJ8okiBEWBtyTQ0ydRfewOvdKa9hEyY1ie/mmToWcPWsROk6xf1gdykdiC06gRz24clWoYhsWtzA+YSGqLxfcExbh8N07olRZpDHmJDfXXusrjXSAY18LFY9Gq51p2jQEDX63V+hiIGoEASfTwTUhOFi1UH19br0XRGPFRkH32gZhx2DvH4rzeed/wB1XbjzTq9YLlsafimxaeUfVkZWFy8tD3eVJlVbovpRldmZkji02c3v5cwrkLRO5g007MZlSZVJCSECGQhPhCABCEIECVIlQAJYSJwQMUBLlTmhOypjI8qXKpMqwvafpPI0UmuyueCXH8tMaxzOnn3pMErnlvbr2mgGmwuBNmua0OyskhzwTYOcWwOQne/icGT1jc3WuaZBa6AIM7N75mylq1atWq54FS5MQYAboAZdGips6OfmBIgtcDbJa/8AC+QsXrudMbR2RO/oqHGMzADd5fDQPG5Wpha7SAG1RUdGrSDGsF06X5bLGxL6c5nvgnUQ51+QAHqUf2fTgEucM2ksI2ze7JMwjpqUpWeh6WgyTAqB08C1w2uR5KGtLXkFzpDoP5TFuyCbDvWAegrh9Oo8OmxLXD4aKycVVkGoxriABnDXAkfxaDxjwOqFG43Vlf0Ntzg1o7QE3F4nnPHRIKrWPa57shuZL7EC5JEwYt6LNxWN7bQwRFiBGvOO8XExewUFXoupUJcXMOwGU2HAktg3Coy9bmoz2haT7s/xTY3sTuFfweMDgZtYgDWVj9GdFuY8B2QhwOjZAgdwj91sUsAyZygHWRafkk7dil+/0G1KZcIytPjccxax8VGaeUAEZwbaAxfedRHirFSi46ZeW3moRU7WQuaHCTlm8De2ynQpXvp5GNDGzDQJ4CJ9IG6VkkkARruLJzqDZ4HbcRqoKgc1zg4EyZsNGkGZtxi3NVow1jvbUt4apItBjTTz9Qo69WCQ4DSJ00+UqHCGm4OLWvibwAOUwbgRyvKe+gwXa1xvcFusiNYtrKXuNf29y3Tx0MkkEwY/f62Rh6M9o5SDuDb6lU3YZkAgO+gZnjYnzUuHY8AQZMiDEEzxumlcmTx7e5p9HdIGlUDpNhcbZdSPL1HJe9HJc2NdzRmcA4Emx15xbnxXufZ/GirQbH4ex4ADL/8Akgd4KuOhjPXUvpE4ppVGQISJUAIUkoKRAhUSkSoAVPYEwKamExkjQnQgBOQMbC4/9oPTJGNq0nG8RM2yASBxmItpcldihcS+0Oqz+2HMgFxNKT/qpsERF/3WdW9jo4dJyszy76xBMOjhlMX4+pGylw+HrVD2MxJN7wBPP9br0rOgqX/LbxNvQLYwlTqmFrWtAdA924F/d4arm5nY9B0YroYnRnQIYAapzPHuycwbeTA71bxXQjKpl5kyDpEnmbk+asurAalKcSOKzc2zRUUtkVsP0Y9jvebl/wBLs3heOGyttoMEyNZkzMzqk663HkpWuTyZPKjfVDMPhadMkgSCTmgX9NU9tUkmGgN/CbEkcxoN9041gOSo1qrnG1h8VSqPqQ+HT20LGGaTWk2AaYJgQ4wR6KB+OmqQ0WbYkRc+G37qrgKgZVLHzDjmnmAJB8BZOr9IS5wEgTAvB71fNstjP4O7tcuUiS4mLxra0co0uoqtQyJg6Tpr5yE2lXPgpTWa4WgnbiDy4JOr6C+Et83j/oOJzsBdrYDbTTlt5W1T3YkGNtpsPTdUMY0kjMbgdm8aaaXUAe9x94ZXAGHC8xciLAmXFU5J9SVRnFaK7Nam7tiwkjWIPdKkqYsAuBdcd1542WU3o8OAIcJ73xPEXT6tBwAObMRI3Ebzcyd9Adld49zN06nYvvrZRFyJEkCbkSduEJKNfM1w7bTqAbTGwMenNUMPWqZjDmWMkAHgP0WhTqgCC4TrHa7xERwHNPOPcnkVOqLrWjK3MMwbYTGo2v5r0Xsc+1VvNrgO+Qfg1eRDHQSHHj3+Bleq9jpz1Nxkbc6jtGB3anwCcZpuyJlSlGN2ejcFGVO8KArU5hJQhCAApE4pqQgQhKEAK0KzTChptVloTGhwSoCo9L9Lsw7MzruPut3cf0G5Q3bVlJNuyI+menWYdskF74lrG6naSdGjn8VyHpbo77xjji3tILnscQ09luUNaNRP4QtPp32gzFxJDnu52Hfy2hedc4kXc48sxjymy45V7npU+CmtbmpV6VLZL2uaOeXy1VPEe0IDRxMkwQYFgAAdN7clXoUhOgHgFcdgqTzBptJNy6IJ8eKzTj2OtwqLqioOnm7g+MT5K1R6Ra6L5RzGXynVLT6IogwGQL3DnfMqY9DUSSIcLnR7jMd8oeHqClVWlky0w7gz3QmYrpMDst14QXTbaNL78lAOimMEipUA0gOEeUXUbKd5DhHC49QnZd0LOV7uDHMxlY2dYE2EaRzVvr4sdfo3ULAYJtMGLm7iIGhm0z4BVn45smC4Ak3BBttY6b+SMF3QOs9sH7DekQQQ5uovr8lDQxWZxJGXfX5aqyzpFhF3PHgDbw8VBiyMoNNmfU3BzDmBlieVk8L9Rc9J7P2JxjQbAi3HQnw+rp4xwJ0v+aLDw/VZlE5oIMGYAOvfa08rKdtMkWg7WIMRxNhqk6ci1XpSe5cbqS65jy71RxbXSCLt1GsQfeEHTjCke0taQPfMwDvYmBzgHyVD+0zlAEjY8CNLEahTi7GqnG+jNLDVIF/0V2nVGs/vyWOa86J1Go6Igwo1NMUzSo4kZjMbctNd1PUrHVtvrkshlSDcjXcjRSvxEaH1+pVXIcVc1KGL42n4r1nsDiHOq1BqwUxc6zmt6T5LnjsfEwREQd9o27/gulfZjiWvwrwBdtQAnj2RHhr6rWinkcXFyioNI9Y8Ku8K24KCoF3HjkMIToQkIQhJCcQkhIQ2EoCWE5rUASU2qcBMYFU6Y6UbQplxPaIIYOLo+AtKbdtWWk27Ih9oOnm4ZguDUdZjT/3EC+Ueq5h0p07UqPLnlzvTuuNByFlPj6udxL3OJOpMknlqqJo02bSfHXzXHUkpdT06FNw+XUyTTJMkeiG0TrdX6j2bNPOXH5oa9otlvuZA+KyxXfwdvMmvl8or0BCuU5Gnw4p7KwH4R4AXTjDv4NIj6+rosl1FnN/L5RC5x008+9DamvIm/fe6V7GtvmJnxHhHgo6kQC1wvEjU6d4iLpWT2Y8mt4srVbnWAFLtZMqdned+Bvuq9Wt4jv8AE68kYSLVaFt/DFq0CTJOgtfZVnU4vbdXacOHZM8rT5awkdhs2gPlfyFx5J4y7C50HtIo9UNSpsHjC02HGAlfhSNfgfmE2mQCY1gwiw8/UuVcR+LK0bAkTJO/kFDXAjtC54aX48dVCWnUnQGND9FMbckndJXWxWKe6HNwrSSQS0zMg72ix10TMY4AGKTMxM5iBvvYfCNFLSw8nWBF+XNQValwAcwBsYjv/qrVWS6mb4anL5fYTB0SGTrxF7ETcGe7bhrChbVLnXgDWw3/AJiVLUc7icv5Z+Kz6sOI1EI5kmNcLTXTyzRZVHhGkNGmmyuU6jS3sjfeLeI1WNSpTYfR+CuUXlogD65pOUu4cimto/U1MPcEG4scpJIseBPNe4+zmsKdVzGjs1RPIOZMehcPJc/wWI7V+Y31Nl7T2BipimmxLQ5xAOlj6T8VVNvJHPxEI4OyOmlRvClTXBd54pBlQnwlSEQlNTkiQhIUtNqYApmBMCQLnPtN0szEVrVey2WtaDaOJI3JHoOC9p7Q44UqDr3f2G/zAyfBsnyXOG4VuvH64FYVZ20R28NSy/E1oV8oBsZ8Sojh2gy468o/qrVfDtaJJN5VEuY24AniSVzqSidzpymrL6jpYT2Wz8vL9Eyo4Wtry/UKNmMvNhPwTXY8E6WO5+dkOr+/gFwtukfLLFVwy5S0gSNj8NFVeGbGdbWHz705uMEXzDxiVHX6SZ+WZ0MwqdRPqxLhmvlXu0V6zBwcPAR5x3KN7gdGNnTcecEJ76zHfhjh/QplSnTc6L2i4seOoUqf9Xg0dH+j/Ir1qTgZDo4tsfrzTCKkGA0x4Eeqs18oMC4vfX13/dQQ3nyuR6Krr09icJ9Lr/0gotduGA8bzzFlYIcbRw3/AHVdjbXceW6laNs08bD4oyXT/YsJ9b/4sd1T9r8Wy4keAGnNOpkgduJjSQfGE4U22LjmA2lzSD3gJtYlx/EWjRpd9Tqq/D9shOqt0/b+CAuawyHNOaCREAc53T3VhyNuJ+ERKjDWiwa4ayHDck8NEw0aY3y+JHxQ/vQcW79Pf+SQ1cjZvfa/wtx9FVFUkybclJWkRBDx39/DVNudWnlBBWTjqdcKiUbWf36ocCNJI5R+ip4tuXS/13KYOueyZ7khk/g8SbJ4PsHNhfdkGGrHn3Qfiro0sL/H1TXh0WACKWflbgELTsKTUn19iWlM8OGkrov2Us/vaxI7XVt7X81wecgLnjw6JmBOwt52jRew+yvphtLEupOcSawyjk8XaO49r0WlP8yOPiL4PR/3Z1xNITki7DyhsITkIAqIQhSSOaFNIAk2AuSbQAo2BeK+0n2n6pgoUyJJHWEmIbGYN+BPgN0N2KjFydkZftV7U9dXIZ/h05aCQRmBjM4HnA8AFVbXbGbNsdieeoF15Sj7QNBM09ScxJu7WNQYvyTaPScudmqOaIhouQZ1aRP1C55Qu73OynWxWNj0fS/aIIdItCya1ZgsXCe/9FSxLy8SbiYtbw8htwStoGBGGBkamPmsnTTerO2NaaisY/X+Cf7/AE+Mm+xJ8gFD96tDWVCf9JHzUopV3WbSbTH5nEW4wGpw6PrQP71m5iHAefknhTXUnnV3tHx/JV++RrTfMcNu86KBlbM/stM8CRYrXIqOlr8rwRqxxJbcXuI2Pmnso02fjbI/MWn5yrwpmfO4jt4M77pUsAwCdp/ZKcPUpky2e4zfxhWXVCbCoyCRN8s90TG+hUpqjKGk5nk6AgANH4sxub/QQowegpVOIirt+DLpVJzZmkX4WGnNI5hBjI7vEQe4jVaQwj2iWOANrQC4eIFxqkOLq2a5mYg2cIjuNhIT5cWxfE1UtfoZlVp/I4Hc5Sn0mtA1gnjY+R7loU8Q/Mc4eJIyty6bQHA3md+STEYR1TtdWQNpIB8L8Nyh00OPETb2uUKTQ1zgdSZF/BOGYmOCYMA0OAqNLZ0Nr8pMifFXKeCaA7LLSAL3kud2QACb6zZQ6XqaLjO68kIe4kS4kpDixJ7+Ciq03A9l4dYEgi4776aX0SsDg2YDpuMpvF737jofgpdKS2N48XTlq/KHPYCJNjxH1zVWo0yIftwBCmDyTDmuHd2p3AMeKKtUCWlrm23aR4aItNdP9jzoy1TS8DRTcDcjySOJ5eqiOIA3A046JpxbfzBFpdvA1Kn+rySuqO4BPLnESYCgGIaTc/H9Ew4oHew5JYy7eCs6a3l5RNiKJgEuJFzyI7vNaHQQLcQHCGluXLb8Ugg/BQU3B9NpbByyHSYPvTp4rV9kcKKuKw4eczTUYDFhZ1gY8vqVajJrU5J1Ka/Lr99zu6RLKRdp5IIQhAFNK1NBVfpLpRmHpGpUMAaDdx4BSSZftR7UDDtLKZAqRdxuGTpbd3w5rleMfULXOLnS46nVxNySDeP2TMf0u+qSSRmc4mTzOYkE+ChrY4WaJytvJ0cePiTouaak3c9GhKnFWK+G6KLmjNaNSec/on4jo+4JOYWBiU/+0LEDXzsmnEn4LNuR1KnBruTGsGNEC97246CdLbrNrdMVC+QS3g0ANEcDxVhz5bGwzOA8gfgqBbuFSs90TjKKtB2RI7pF8QCTN4uY8Tr5J46QeBcO9SPUKs1nFOyJvHsEVU/UWT0wY0Mcz9BH3sOBiZbtmsRyjcKENjfwSgkGW2PEJfh7eSrVf1eERPr30vxN58YUjMQWtvadpPzEKem/8xJM+H1qkqVgeY4fJGS2sHLqJXy8IZS6bc3e3C0Kd3TLi0cNNRbvgKuGE6ADuVik0gbXMafUoyj2DCo/m8Ezeki2ASL7teDbTS06eiB0pG7ifriVE/D5BPdHIkobjSde7+qTnF9Co06i2fj/AKTDHZrF0A7EzPhlhSnFUwAHCaYg98mbaQTZVTjT3iPT5qvXeHEDXmZ37/qyalHaxEqVTfJMss6eH5WDgRciJ10+KjodNQ8uc1pBEau9b3uFAOjQBMtkbSZKeWt4AHuVZJE8uUt0vYsDpRlQiWObs6O0DtvtofAXVp/VOF6jiQL5u1I4X8FmVmggWbrrCRmXQgT3XRmg5Le9vJeik8w2qQdYLZkcWkx5KnVwDBcPBEbiBPgbKBlNom0cEFggkWHjdPMXI62XkgrMBIuBGoEu+Oilp0WEe+B36/IIZSbAgQo3Ur6CJ4J5kqg07tLyXMDSeDNKXjQw2xG4uvffZ5gJxjRFmA1CZHZywGggE3lw8jyXO6LQNvIwu0fZd0QaWGfUdc1Hw079Wz9XF3/SE08mkZ1YunFvTtoe1SIQug4AQhCAKGaLnQXK4r7Q9O1MRUL3GziYG7Wg2HIRGnDvXZ6+H6xj2EkBzXNkagOBFvNcQ6Z6Ofh67qVUXabHi06EciLrOQRM5+gn08lCOGqtVHg6NAHG5Ol+XooXDuSua2IouhpPEiPlyT21Boe/j/RAqAg2ASY1boQue7jeR6KM1TrZSlonX91FmvcWRZF5T6MczEcR5IOIG8+SA3iY5pj6cnsnzsk4xNI1aiW5KMW3ilbimzqqrqJn9wkLUuWiviai6Fx9YEWI80tJw8e9Ugy90py8I8UuUilxUuqNM1AP0lRdd2pN/VU2ZZ498j5pHBp2I8f2S5SK+Kb6L3LdbEE93AaD6lV3VCmnkSmHvKap2E+KbJmvJN1K4+P1xVQSBbXgkZTJ1dHfKHTHHivQtueY3TRVUDmRYHvOvghrAfx+n6lTyi/intYuVnAtEX48AonHzULDcjNaLEjVNqzl9+8+g1+SMOgviFvb6FgVLx596mxFgB4nvVEUgBO/NKDOuyrlmb4t9izTPFPdqIVIxtZNDuZ/RHKBcX0aL9IdoA8RZfQvsuP/AGWHtH903+vjr4r50w1Nz6jQ0lxLgBxJJFvkvpPorCGlQpUzcsptaf8AUAJ9ZVwjZ3MK9bNJWLaEkolbHILKE2UIArsCxPa72WbjKVgBWaOw42kbsceBv3HxW60JyVrgcC6U6KqUHGnVYabhfTUcW7Ecws9lQj52mQvobGYKnVblqsa9vBwBHrovJdKfZhQfeg91E/lPbYeV+0PMqMWjTNPdHI320EDwUWf6/ovUdP8AsjicO7tMzM/5jQS3jE/h/mAWA6myYdmad7W81N+6NVZ/ll7lX0QXfWinOHn3XCBxhVnU3DUc7X+CE0PGS6DXEolMcTpdJmP1qqI0QpKJ5pOsSGp3IAnD/qVG/wAPRMlDilYpydrXFA7kOZOyIShosmJajTzCUVI/D+qf93vo624EhMNAfxeRty0S3Ks1sNLp2juSSOBQGjifrgkIPFMnXcUEc/RSEsIgE+mnmoTpxTmv8EDWn2xHMi9+C08PhqT2k5gDHZBIBkbEcOfPZZ1/kFOKeXvulYS0GYh0O0skbUH5RHFNdTzSb8SUxtI3ABTH+xJU7k0HkE19IgA7fPdXcFhb5jaBbv8Ar5IDW/3/AAbfsJ0a6pjsPDfdqtcf5e0THAZSfBd+leM+zjoHqqHXH3qjQG8RTBN5/iIB7g3ivYqo7GMndiyiUkolUQKhJKEAMCEiVAAhIhACrI6Q9lMLWu+i2TqW9knvy2PitaUiAPBdIfZDQcZpVX0xwID/ACMtj1VCp9jRA7GK7XOmQPMPJ4rpiJSsCbRx3F/ZFjQexUpPHJzm+jh80f8ApDjIkuok8A93xLAuxSiUsUVmzib/ALKMdIAZTI49YyPGTPopKX2Q40zPUt4f3kz/ANLSu0SiUWDJnF6f2P40m5oD/wCw/JqH/ZLjQNKLuQqR8QAu0ZkZkWDJ3ufPvSnsjiqBPWYeoP4gM7bbhzZHqsUiLDyX03nVetg6bzL6bHHi5jXHzISxKz9D5tykbnuTXTsTPqvoQ+yeCJn7rQn/AONvwiFOPZ3C/wCWof7VP/xRZg5nzoQ8WM9xUZYRqV9GD2Wwf+Vof7TP0Uh9ncL/AJah/s0//FNITnc+bsu6kYOWy+iz7L4Q64Wh/tM/RV6nsRgXGThaXg0tHk0gIsxqVjgmHoEkb8J+uSmFB1R0NBJJAAAJ8oC73hPZTB0jmZhqTTxyA+WaYWnRpNaIYA0aw0BonuCWIZnBv+CMa8BrcNVOaDJbkAHMugK5h/snx5gljG99Rlh4EruEolPEWTOR0/shxQj+8oafmfYnc9i5/Veo6C+zGjSh2Id1zxHZFmTz3de+w5Fe0lEoxQsmOCWUyUsqiR0olNlEoAWUqbKEAIhCECBIUIQMRCEIAEiEIECEIQAISIQMQlIShCAGkolCEAEpZSoSELKdKRCYxyEIQAJUIQAiVIhAAhCEAKEIQgAQhCABCEIA/9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AutoShape 12" descr="data:image/jpeg;base64,/9j/4AAQSkZJRgABAQAAAQABAAD/2wCEAAkGBxQTEhQUExQVFRUXGBoUGBcYGBcaGBgdFxgWGhgcGBcZHCggGyAlHBgYIjEhJSkrLi4uGB8zODMsNygtLisBCgoKDg0OGhAQGzIkHyY0LDQsNCwsLywsLCwsLCwsLCwsLCwsLCwsLCwsLCwsLCwsLCwsLCwsLCwsLCwsLCwsLP/AABEIALoBDwMBIgACEQEDEQH/xAAcAAABBQEBAQAAAAAAAAAAAAAAAQIDBAUHBgj/xAA+EAABAwIEAwYFAgQFAwUAAAABAAIRAyEEEjFBUWFxBQYigZGhEzKxwfBC0QdS4fEUFWKCkiRDUxYzcsLS/8QAGQEAAwEBAQAAAAAAAAAAAAAAAAECAwQF/8QALBEAAgIBAwQBAgUFAAAAAAAAAAECEQMSITEEE0FRIhShQlJhgZEjMmJx8f/aAAwDAQACEQMRAD8A7eEIQshghCEACEIVACVCqdp44UWZiC64aANST+E+SOALaF4TFd5DnLDVeH65GAS2TAngIBN1l1e2q8tcalUMJhrpkHawETr/AGU9wKOnoXN2dvYql4jUlomzxr+cipKf8QnjLmawyCdCNDGso7nsKOiIXk8F32Y75mQOLXB3qFpt7zUDu70Va0FM2ULEf3pw41Lv+KRvezDH9Z/4u+wRrj7CmbiFnYft7Dv+WqzzOU+hV6nVa67SCORBTUkwoehCVMQiEqEwBCEIAEIQgAQhCABCEIARCVIgAQhBSARCELMYIQhMASpEqYFXtDGtosL3m2w3J4ALxnaXbTqjmki2wB+UbnS5AWr3vqCQNw0uAn1t6LnNWo4mC50e2s3G+yxnNXTNseGU1aND4zKdQuLgxrzo4amwIJA0N/daeFq0wILpblkcNYEOMACQNf5tbryeMcXG5LupJ+qi7NqFj8odla4ibEgRcHKDxuYhZ9w2+klVml21jxUb8pc6zGuGYi4EeG3rA1VCjSzMgtgnwniL2jh05rSPY9Qlxz5QGgiJhwObTKPEYa4ga2sLQpafZLqYGZzQIIhkunw3M72bsJWikjmca2MPFUXS0NJES4gSNL6axv0lI7FE7yDeJO029BZb2N7LDSRlGVvhzQM0uI2zaGTcD9Jnn56oxzQ55yzYXsIOlgRP1S2HRZb22QAKhIB6kT7laNCtRqfLUbO94G380ey8tTLnEF7AALauvFiYKlrZALGBpG5nQyEJop45LlHqq3Z0GQ4k7gAkHpbqtPCkMAdTe5rhqBMjoDqvG9gV87XNaXAg6jZo135n1C1W1numXnWA5wBJDQcxJ1IkbShkHuKHeOrTLQXCs03NocB/8tCvV9n49lZuZhniNx1C4/hu0JJDwBlEg+K4223Wr2b2q5kOpVAOIMXHMKoyaBo6qheLwvfsAD4tMjm02Pkf3W9ge8OHq/LUAOsOsfey1WSJFM1kKA4unBOdsDU5hHqjC4ynUvTex4GuVwP0Val7FROhCEwBCEIAEIQgAQhCAEQEqRIBEIQsxghCFQCoQsvvD2sMPSzRLj4Wjnz5JNpK2NJt0jI72EZxrmDLjUETw+vLovB1cIWGDMG4PGQNeBvotOpXqVyHucXeKDxEEOgaRMEW0lee71Y0trOAOUG4udzPtItsuR/Js7MMnjdDsdVZTjNr9OZWd2XWLnlzyIBhrb62vO4gnXiFm4d2ZxmHNHvuPzktfCYcSC0EOn+YiD+nlCSidcs6S2JcbVex7nNdmaYa8D/QZMHbXkdIlaOAxWcB4pjN8lpD4yiILjqctzvKxjjA1wMgwdALaaSefBQ0K/jlzQZ4Wvfl9Zsr07bHC7bbZv1+0RkbIJeRIa4vy7EGQAQAXZdxYG8Ccp+IzNIIOUZmiMtt7DkSB6dFWxnzyXG4HWYIt0BCip2gAFw1iQbyeI48o14qktjNumRjDlrAHGYOw431MfgUOKgM4XWk6qIEkSSbeuu28eSy+1aeZseGJv8A2CzcHex3Y88dG/Id3GVDVzMzECxDRcg6xzgnXgvSuw4yg0zo6x6hpAg7i35ZY3Z9M0xDLRvMTr6j91qfFOU5RlzZS4NJiziZEzBJv6Kqb4MJKMfkmmN+BWEnK4iZJIta1yqmJxkkBwByx8oiLyeAup6mKLWhrQ4RveNZsOnHiqOPcHOkWsJ6nX3Khto2hCOTwl/ov4btKgJLg+Z8t9tVepdtUJsHXOwK81ATgjuM1XQw9nqm4ujUs10z+k6npxKXBdp0mE5S9rgbFs2PMAyvLtG8xzUzi1zg9wOb9UGM3AzFjx4pdy+RS6JLjc6Izv8AVGZc7Q6diMro4kz9lPT/AIlMm9Egcc39Fy3GtqNGYOL2G0nUcnDb6KvTxs2Niq1z8MhdNiez5O/9kd5aGIjK7K42DXanodCtkLgXYXahoV6VQiWtcCQOtz1/Zd2wOMZVYH03BzToQujDl1bPk4s+Dt7rgsIQhbnOCEIQAIQhADUIQs0MEIQmApK5p3l7YOIrZWmKbJDecalbnfTvJ8IGgz5i3xO/lB26wueGpJMXA8lz5W5OlwdfT6YLU934Nbs58T4rTc+W52uAvN9s5HVnPgGQ0tG0ETrvclaRqD4bmNEA2kXWXXLS4gg5WtGthebD11WDTVo6cTjq1vlkWDcJcBa0i2h0W8CPgh4AzZbngQSAb8l54UHZvCQxs/MTJNpEaQJtJW3g8pa4OmpYE5RIMEW5Ak6wp02dGTNFIxnVLskEFxiOZOuissp+EmxYCQXm0lupAjT9imYmm5wBmHWloy3Dfl8IA2A8wtDDUSaZZ88O5CAdoMaCPQp3FLY5tc5S32RQxOHzS5gAPON4E6+fqqzXkAAX1njtpaFrYtwaBu71y2Egj1WdP5CHI6scFLfx+pGxgA3+6UUWzJ9/7KQOT2ulRbOjTHwRhnomuEfn5xTw8EBNJvqegQpSslwg1dDH5hq60wN5TS58626BNqnxN1EXM8CCp2hX3JIzXTYn4IZdwaeoCRzzM5R7x9VOQhrUu6/I/pYLi1+5HT5t9CpyxnEg8x7JEPeBqjXfgl4NKtSa/cloUzeBMiCNr39o91nYnAuzS0COdjNogqw2uBmImwGkXk++8qClWquzkZQAJgkSRIFv5trC/kuiCpHmZpuUnbv9SkyQ4iCOX7Qunfwr7aLS6g/5HOln+k7jzXOg6Q4EB2hnSItYazO26sYTEFjpbmadZB4bqn7XJlqk1pb2PoxC8N3U7/0KjGsxFQMqixLrNdwM6SvbU6gcAQQQbgjQreM1IxaoehCFYgQhCAGoQhZoYJmIqhrXOOjQXHyEp6xu9+NFLC1Cf1DIP92vtKG6Q1ych7S7Qe973iXOcbz/AKirGFw5IuI6dFWq4nXLBy7a8biNv6KscQ9xAklvKwO8nqsNUUdGjJLhGhWrtb4WkZi0m5i+wi+qr0sBnaQ5+V5P6tBOWGiJ0ho3111UNSlJno4325dFXxXxHNDx+kZzeC4DTXhGyFKMlsDxZIbtDqjCHEuAkawcwA2MzaYTsG4scYJAfDraCAMvUSBbim4atWFP4hDsjpJv4dYJLRppqdUPeSQ4MJaeYE5dbkf11Wdb7FavZK7Ew/ObjTS2+m+qmpdovzEtOtiTEbRYDrdVaDc2YNNxGUEEkk8hESY/CqOLrmIaAJmfWAADJ/vyU9vcfdVGhicTmjKPTfjI9PVZn+KcCfELagge3umuc8MJJAiwBN4sSbdfyU0UtCSCSJNwANoifzgtFBInvS8Mtiu4gkWiJEabJjK5J+YbCcp4HX9kgpEi7mwYkAm9zF/f9kylSDXAEtmx0PSSOv5dGhFPPLw2SNe6SBGu8/UDqkLHZmglv8x120GvLXgrL5aR4nGALACBvBBsdBskwzvCJzeIw7STfe9wI04p6V6J72SqsR1RxqOzRmhoMacANfqlzP0AEAgEza/NR16paQBM2tO+k+dr/unNFiSDM3N/K+us7KXCPopdTkSpMH03DKSQJE3gcefLVI11wTUAG4BBjpxNxPDql+HfTkdDAEXEed7e6ZVbe3ODYa/0JRpiillzS4bI2vJ1dwFrkz52T3UoMQSbxJjzN1EKRJ1N4/uSrWUc4vNoE/nLZNJLgznLI9pWVcc0t4xZpI3ETxPL0Vim6m1riDmOXieUAcNPokLWmx4G99dvK6BStANuHv8AdGtDj0+SXgrOf4QBOxnqL6KTDVSGydJuTx29lIMPcG/29lDVxFNlpE8Bqk8no2XSP8TojxeYPGgBuLWK6j/DLvNMYao4H/x8uLfuvAV6/wAVk5SIAjqB7cFe7juzYqkRqHt66qtdKzHscpnekIQus4wQhCAEQhChDGveACTYASfJci7x9svxT35nQy7WNGw4xxIhdO7wz/hq0WOR30XGq9ZwMZTMea5uocuEdvRrHeqXJHg8OCXMNswgmdLbKvhQRY6glp8rJ2Acb5rWmSlc6C7YWM9QB9RK5HZ66cefBZotkkAmYMdY4eSw8WDL802Gs8pWoX3sCQR7bqtVZZzRAOo3OsGT6W5rWEJHLkz4k+bL+E7ZqU6bBDC1rQIOsw7ab35bqzhsSzENiG0zctAtG0gRE30WViABLDJIvIvsBJJ9I5IwWIAnLM6A6mbE8gPfRapVvZy5NEltF2WsdDWA1DTzcJDnHwwLXAudz5rzgw5dmOaGg8ecbH2Wji2GpfMCCeQ4zG56lZNCHPYwHK4yDGm23lPnstU0+DlljlGrRf8A8HLA4crkGJdJABiJ8JUmHwYLXus5zZtPDlvupDWe0ENcANcsgk2iYA1hP7OiSIygt3/mGsAXA19lnJutjbFjV/PgsYNoNP4vhkT4SLSOhvNtVmhjnPBgTrxt524LQwD3Uy9gEnWI5HY34KLDNLHzwMkRYCeZ6WUrXZrL6fwR5XgZQQOgvbr0HopMPQc6o1odYmduB20H9U2lL3OGhvrI0g+Vr+SnNOB8259NBbjCTjkKUunrgq1KXi4kSOUTMj3UzBxN+E3T6tDK0PzNIMjW4gwZA0nmoKDAAXak6mdYtrw80aJMpZsMeF9icMEKJ/RPIbcSZixiw47cPdSNYIEHabqXiZrHq8ZC0ck49FJ8IX8VrcDrpbyPsmVWlrw0/lku3Ia6rE/JC+lw1T6lMMAgkm8iLDhB6X805mtp58vPpKkoU8zS4k2Mna7hG/AxPkqWN+SZdXC00UK1HObkgbQpMH2cxuwB3J18zqVO94DOYsJgyYjbaVUaSIkm++5vxT7brkldXG7otPrj4optHhcDE62BPuVe7v0vhY1n6Zbm6FoafcELHxGFLyx4Jhu4tHBeoweG+OylUiDTsTxERH0PkEKDS3M8uaMuOTs9N0gHiJTlmd265fh6ZOoGU+Vlprtg7imeY1ToEIQmIRCEJDMvvPihTw1VxEgty/8AK33XJsUcrMwIA0IuYm35/RdN79sJwbwOLfquTVa5bDdQ45T03hcuXI1Ojt6fAsmO/NkNCo20iRJMHcWgGOiTEPYGhzgNbC0TMecJcP2aZMHwzbjCMThZcAdhLQSPMwdfK6mMnKVM3nhjjjqXP6jSAabjGl9NBI2VWrUa0gxfQ8QTA/8Ar7rZ7Jw4e5jHEQ7wO84J9is/H0gyo8CDkNzaDEC1p1JNuBWZ0xWyXmiBjf1P+Z7Q4kaN4fUeqrMxbabSZ+acsb7O1i0gX5JK+JzAZzlE/MdBPER+WTcNSaGOLsoAdvrlgkgcpy+qK9l7i0MQ40PC0WJdJNjHAAcvZaPY/ZIqxVeWsflMiXAMIJAM7WB9VFh3NM8A1pjhMfNzPDgtLsvtM0Q8CCDcy0G97AbyYsqjKnRh1GNuKlHlFKtRMnMDmnXQESROnRQuYAtHtOo2eOkQ4mxgwWm4gugRa6xa3aTRV+GGuJtMbeUJSjvsaYM1wtmph3loLrGIcZ1LWxpx0uCmNqB81M0DMRlMkyBqZ01sOQVPAF3xHOcP0w0G4v110uqXaFP4FTO0H4b/AJrWF7gRt6arRSbjSe5xzxRjktr4s1fjBumsfNeZ49VHE7kk2j+6axzXAFpt9VNTpW8RWTySOxdPjW9DKNHK3KND77/VTMaAAAI485Mpnw1JTpbj1uoeR+zZYIeh0H85qMkqQ055+fD3THNMm6Wortx9CARwQRvZEpzfslqYPFD0hpG9vZWMHMPbMEtt1EHTew+qrhPouvvG8e6pTdkTwx0vZEApxzO87prqh+2qkePqkLPNGpjeOPhA3novXHENpU/htFw0HrO5815JrdOvmtrCVC+rWDtJjaRHhAVRZzdVBUqOh91MfB+E4i4zN+69SuY9i4kh9N5PyET5WK6YHLswvajyssd7HITZRK2syoVCEIApds4b4lCozi0kdRcLjGMwwLxE2h3Oy7lUNjPAri2Pk1D/ACkk6/U+fosMsU2dGDLLHwPpQdxx1UNVg8TwQRYcY845SoqjswgAjodt7RzS06cNqNj57AAzrbX38lg4PwdceqTfyWw7D4huYECKgcHSB8wAygEG2oF15NuNdUrOJ/7jpmNzeIXrgwtbAExJkHgD56/ZeN7SBzxTBnNIJ1BBF0RxyNH1ELuzaq4AZLkxMwLA9QNVHVw7SNBBsRbXYjkrPxC5oIidxPuOWqhzwJItzB2UrHk9Gr6rDzZLW8LGtAifEY9P6+iqvhW2081yTztytr9E19ENdB+YQRMHnb29U1hkS+txolfXFKiHPa2GEBwdIc1riGlwvzbbLNra2XE4ZjDLA2HXsZP+7cHkbiIsrgpMcQXCSHSZAmQ4RDTzAKzsRXMhwblpkuiRIJJkT/qt5LR47VM4ln0T1R4JqY0VXHlhaWVD4TfaeAI4JKlY03Bw1A66iN+vBVjhznaIEuAhxMjnflxWUcbW52T6jHNU3szPwjnUiAbsddp/mGkjn+y2PihVq+HzNPiB1DddenQfRS4Wg9tN0EHdx1Np47C+nBVkhe4sHURXwb28MtUyOBPmrDZ4ABVqVM6Zhw1Uj3kWkLmaPRUttiafzT+6je5RCsXRaNr7Qm1HxqlQ9QsozJjn2SNqC109LE5xXLJZTDEIDhxUgE6ESeaaRMppoZmUjwLHSfzVQZvmE6GJ2MKc4lrgJiQAOutz+bKnFkLIttyzhmiLgdPupO7Yms8G8nz1Ovqo8FVYDtppEydrFM7DxzGYiXEBsEX5RH0VRMc9NM2hixRqlhvmLnR6Lq+AqZqTDxaD7Linaviqtrt0Ejy20XVO5WLD8K3U5Zb9/uunHszyMjtG8hCF0GI5CEIEI4SCuNY+A10i4dv19dl2Zcj7z4cNrvDdC5xPk920rLK6o0xxcuDIYHGHcLzpbr5+6eHaR+dPT2S0w5sidRHpxE6Shr76D1g269fdQpItwkt6E7SzhoPhAIjNm4m9vM66rNbgpvubwdbxafOFc7YqBtCoCJGonbjoY1IN+CyB2qXNa3SLwOMAzIF777KkySwyaYk2BzGBptr1spq2LzgtEw0gCeliY4nfZVMr6pA8VvERcNkkTryA/Lq7hMNkJIA1Pj0A4gcbwhyGosZghEMJNiLyAJE63vb8mEuPzslwDTuBedOHlqY2lTVmDP4SBO5tAE2JVXtPFzYEGQLt4wRrzshSsbiWKFRztHmDpYDe/Hf7Kt2qS0tYHGbHkJMyZGt9VD/jcrGgCXAXItHrvYctVP2VhwJe+CS0xYGB0NpMROyNSH25tcEX+HzXGm87JrqQOm09NdeH91PUIkknWZjTnE8bJgqBwIO1xuDJ9vJFr2Cxze1A2k4ta6NTMAQbGPPYqxRxAbLcubQjzHiPqBCg+LPGOE29EVKvy3MAekx6paovyU8U1yiWu0Bty6Gj/dfNlM+mvNUaeZzcx/vH7/dTVH5onTNmki+keex5JtSpZ0dB57x+ahS9LGu5HZWhzKZyyX7E78pulaCWiSDFt5Ak/sf3uoC4QBG8yfpCdQqAGDmDdbfaQePLdHxD+o/f3EbaBr13/OCh+OXVNhA2BAEf3ViiGvsZlx6kXAHryStwzWn+YAkWI15+QB9FSZDRNUqshzZkQJdGWfl26yoC5rC2+Y5gBA3nedI+idVa4ktg+IW58LcuaSlh3DKcus9Lg677H0S2Bj6dICzoBEwLxb6zZI8AGdRFjAI2jfWdjpKVtV8OpkkgOzCCYtYwAd+PJIymTd1xcFwgQTOu+vBAEYr2+UmDMTfQSJBkobTGaQ3gQ07TrEngpC2Q4y3NABvE21EctfJZ9XGFtSwMWjcNECw9JlOhM9E2pPht8s9V0H+GdYuoP4SI9F4DAYMOb8WTGUWtuATPqulfw/w5ZhQS3LnJd5bKU/khtfFs9PKJTULezGiVCJSSqEKuV96iRiameJmG8gbzpz9yuqSvAd/aGWuxw/W25I3FrHpCxyxtGuGelnjq1dpNjeFJIywQZFyZ2jn1CnzDwyQfIe9vyE34AiQBaDbS5HPisO16Z2rq/aKtanLXE3GkC5uD66fRZvdrDNBrBwuCIn5v1Bb1OgIJMXB/c+3NefrVQ2oSJbmtveJ8ydE1jdUJ9TB70bzGwdI8lW7RrsY0uIk7AWJMjhwWLV7UIECpBHCDtz1VTE1vi3qGY0zEjmbBLtBLqE1wbWDxbYHE8pkqlii2SZ3tbQxOypYRzQ7w3HQDTzur/wARrmnMLG9rX2gQYCNFPkI59uCCph4aw6l0a6XE22PDyU1DEQ0zyETpcTZFOu5jQDD2tbDCAM17GREGJVjDsDpIAyk8JiI89I2gyU+3+o31T9Dagm0+86xb2VOtULIA3IB6EiVo4inNwcroiIAFjuI5RxuqOMw4NwQCBPCNLGDsZCFiY/q4+iQngjzsbetiinQ4kA5gInYxeVIzDRfSLEE6Ztj6JdqRb6vG/DGQmOZ+Sp6lFwixvfbTSVTw9Q/EqNkgC49APqk8cil1GMeafT1TXMTm5hM6kyOin+F8ubMAdYFxrsSJ09wlokW+oxLyQ4NwpukjMNxMe6sGpTedPh2i5JEneRBB8ioa7WtBH6oDgCZtedPL1TGQGNkAkibn8vN1pol5ZyTy4pPaO5aNGiD4iSbOzXAO8EAqF7XEnI4EW2GUeFoIuN4313U2JxEB0Q7MwNgkEA67aQCUtSnDGkC7abSA0S2HAbfpvHiNyT5K0c75tGd8QyTABPAR1ERtOydnnVPxDYM6jXpKkwlVoILgCPIlYzUk9j0MMsWlXVkT2kWNj+6b21hv+npvBJJqXPABsAcUj6/jda0yCTeEuMrf9PB0LwZ6C4HnCqOuzPI8Om48nrO4hD/gMcARmLXc4kieOoXWmiBAsOC5D/C7Al1XMRAZ4p57LrjXK47M4sjTdokBSpqFojIlQhC0JBZvb3ZDMTTyOMEXa4agrSSFJ7qmNOnaOJ9q9n1sNVcyqDl/Q4aEcZ/NUxlci87DTcc11Xt3s5lcZagkC45HiF4zH9zHD/2qkXkZhPlaFzSi0zthni1vX8Hl64dUzgE5baGDaDf8vKyKOFaAS9smY9jP0heiq90cS0EfFYb5vkdr/wA1Qrd3MWNKlIjgWO//AEptFa0/+IiwzKbW5i0DYQBPJQVsR09kzEdgY42BogTNs33lUavYXaMxbqCz9kKMX5K+oa4T+xdz8PZTU3OIn85LLHYHaHEerP2UTOyu0QbNf18H1R24+GhLqmuU/sbmUkXaI6pAS2YsOsx5hZbewe0juR1cxOHdjtCPnF/9Q/ZLRFeUP6lvw/saT6zt5Mee+6rjEkl03ad5vrJ15yq7O7XaA0qD/l+7U5ndzHjemep/oqW34iHOL5iWm1joCOkdfpJSmvUn0/TOiq/5Bj9vhjof6KGp3Vx5mXi/B5H0Cdr8xOteIF//ABT9fLT91HTc4EkC5Mm2p+yz/wD072i3Rzz0qfuUyp3Zx7vmLj1q/wBVXx/MJ5L/AAGsXVB+iIH8ugJH3SB7xbNHIfnNZ1HupjgZzkdajj+8qWr3Xx3/AJA7o8j7BLVH8wKX+BOaZJPjBPDkECkd7eqx3dzsVN6cnjmafeVcw3czGDRwZ/vP2Q1D2VHNKL/tLLgrmOc6GiILWBrrRa0SNlU/9NdoaZmnnLfuJU9Xunja7i6tWAJjSdgALNgbJLSvJcs7fj+aM7G4ycskWtwtqkwuMbIc8ggagESNIIV+p/Diu7/uh3UEfurOB/hhWmS4DpKtONcnNNu7qin8ekR4WmeMi37rQ7OwdOq5jXaTO1uMR0W92f8AwxAMvqOJ5WXquze5tGno0nqVLfoSNnsmmxrGimAGgAW+/FabAoMFhQwQBAV5oVQiTKQwBPDU5C10mdghCExAkcU5RVBZAFdwlMcxSpEAVKmFBVd/ZzeC0ShJxQ02ZLuywmHslvBbJTVLxxKUmZA7KbwSjstvBaxQEu2g1Myf8tbwR/lo4LWQEtCKtmQezRwSf5YOC2kQloQWzEPZY4JP8p5LdhOAR20NSZ5//KEo7GXoYQn2oic2YDexAnjsMLdQn24hrZjN7EapG9jsWolT0RFqZnDspnBSN7OYNleSI0oLZXGDaNk8URwU6E6QrGCmlypyE6AQBSsUYUjU0JioQgqiT//Z"/>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14" descr="data:image/jpeg;base64,/9j/4AAQSkZJRgABAQAAAQABAAD/2wCEAAkGBxQTEhQUExQVFRUXGBoUGBcYGBcaGBgdFxgWGhgcGBcZHCggGyAlHBgYIjEhJSkrLi4uGB8zODMsNygtLisBCgoKDg0OGhAQGzIkHyY0LDQsNCwsLywsLCwsLCwsLCwsLCwsLCwsLCwsLCwsLCwsLCwsLCwsLCwsLCwsLCwsLP/AABEIALoBDwMBIgACEQEDEQH/xAAcAAABBQEBAQAAAAAAAAAAAAAAAQIDBAUHBgj/xAA+EAABAwIEAwYFAgQFAwUAAAABAAIRAyEEEjFBUWFxBQYigZGhEzKxwfBC0QdS4fEUFWKCkiRDUxYzcsLS/8QAGQEAAwEBAQAAAAAAAAAAAAAAAAECAwQF/8QALBEAAgIBAwQBAgUFAAAAAAAAAAECEQMSITEEE0FRIhShQlJhgZEjMmJx8f/aAAwDAQACEQMRAD8A7eEIQshghCEACEIVACVCqdp44UWZiC64aANST+E+SOALaF4TFd5DnLDVeH65GAS2TAngIBN1l1e2q8tcalUMJhrpkHawETr/AGU9wKOnoXN2dvYql4jUlomzxr+cipKf8QnjLmawyCdCNDGso7nsKOiIXk8F32Y75mQOLXB3qFpt7zUDu70Va0FM2ULEf3pw41Lv+KRvezDH9Z/4u+wRrj7CmbiFnYft7Dv+WqzzOU+hV6nVa67SCORBTUkwoehCVMQiEqEwBCEIAEIQgAQhCABCEIARCVIgAQhBSARCELMYIQhMASpEqYFXtDGtosL3m2w3J4ALxnaXbTqjmki2wB+UbnS5AWr3vqCQNw0uAn1t6LnNWo4mC50e2s3G+yxnNXTNseGU1aND4zKdQuLgxrzo4amwIJA0N/daeFq0wILpblkcNYEOMACQNf5tbryeMcXG5LupJ+qi7NqFj8odla4ibEgRcHKDxuYhZ9w2+klVml21jxUb8pc6zGuGYi4EeG3rA1VCjSzMgtgnwniL2jh05rSPY9Qlxz5QGgiJhwObTKPEYa4ga2sLQpafZLqYGZzQIIhkunw3M72bsJWikjmca2MPFUXS0NJES4gSNL6axv0lI7FE7yDeJO029BZb2N7LDSRlGVvhzQM0uI2zaGTcD9Jnn56oxzQ55yzYXsIOlgRP1S2HRZb22QAKhIB6kT7laNCtRqfLUbO94G380ey8tTLnEF7AALauvFiYKlrZALGBpG5nQyEJop45LlHqq3Z0GQ4k7gAkHpbqtPCkMAdTe5rhqBMjoDqvG9gV87XNaXAg6jZo135n1C1W1numXnWA5wBJDQcxJ1IkbShkHuKHeOrTLQXCs03NocB/8tCvV9n49lZuZhniNx1C4/hu0JJDwBlEg+K4223Wr2b2q5kOpVAOIMXHMKoyaBo6qheLwvfsAD4tMjm02Pkf3W9ge8OHq/LUAOsOsfey1WSJFM1kKA4unBOdsDU5hHqjC4ynUvTex4GuVwP0Val7FROhCEwBCEIAEIQgAQhCAEQEqRIBEIQsxghCFQCoQsvvD2sMPSzRLj4Wjnz5JNpK2NJt0jI72EZxrmDLjUETw+vLovB1cIWGDMG4PGQNeBvotOpXqVyHucXeKDxEEOgaRMEW0lee71Y0trOAOUG4udzPtItsuR/Js7MMnjdDsdVZTjNr9OZWd2XWLnlzyIBhrb62vO4gnXiFm4d2ZxmHNHvuPzktfCYcSC0EOn+YiD+nlCSidcs6S2JcbVex7nNdmaYa8D/QZMHbXkdIlaOAxWcB4pjN8lpD4yiILjqctzvKxjjA1wMgwdALaaSefBQ0K/jlzQZ4Wvfl9Zsr07bHC7bbZv1+0RkbIJeRIa4vy7EGQAQAXZdxYG8Ccp+IzNIIOUZmiMtt7DkSB6dFWxnzyXG4HWYIt0BCip2gAFw1iQbyeI48o14qktjNumRjDlrAHGYOw431MfgUOKgM4XWk6qIEkSSbeuu28eSy+1aeZseGJv8A2CzcHex3Y88dG/Id3GVDVzMzECxDRcg6xzgnXgvSuw4yg0zo6x6hpAg7i35ZY3Z9M0xDLRvMTr6j91qfFOU5RlzZS4NJiziZEzBJv6Kqb4MJKMfkmmN+BWEnK4iZJIta1yqmJxkkBwByx8oiLyeAup6mKLWhrQ4RveNZsOnHiqOPcHOkWsJ6nX3Khto2hCOTwl/ov4btKgJLg+Z8t9tVepdtUJsHXOwK81ATgjuM1XQw9nqm4ujUs10z+k6npxKXBdp0mE5S9rgbFs2PMAyvLtG8xzUzi1zg9wOb9UGM3AzFjx4pdy+RS6JLjc6Izv8AVGZc7Q6diMro4kz9lPT/AIlMm9Egcc39Fy3GtqNGYOL2G0nUcnDb6KvTxs2Niq1z8MhdNiez5O/9kd5aGIjK7K42DXanodCtkLgXYXahoV6VQiWtcCQOtz1/Zd2wOMZVYH03BzToQujDl1bPk4s+Dt7rgsIQhbnOCEIQAIQhADUIQs0MEIQmApK5p3l7YOIrZWmKbJDecalbnfTvJ8IGgz5i3xO/lB26wueGpJMXA8lz5W5OlwdfT6YLU934Nbs58T4rTc+W52uAvN9s5HVnPgGQ0tG0ETrvclaRqD4bmNEA2kXWXXLS4gg5WtGthebD11WDTVo6cTjq1vlkWDcJcBa0i2h0W8CPgh4AzZbngQSAb8l54UHZvCQxs/MTJNpEaQJtJW3g8pa4OmpYE5RIMEW5Ak6wp02dGTNFIxnVLskEFxiOZOuissp+EmxYCQXm0lupAjT9imYmm5wBmHWloy3Dfl8IA2A8wtDDUSaZZ88O5CAdoMaCPQp3FLY5tc5S32RQxOHzS5gAPON4E6+fqqzXkAAX1njtpaFrYtwaBu71y2Egj1WdP5CHI6scFLfx+pGxgA3+6UUWzJ9/7KQOT2ulRbOjTHwRhnomuEfn5xTw8EBNJvqegQpSslwg1dDH5hq60wN5TS58626BNqnxN1EXM8CCp2hX3JIzXTYn4IZdwaeoCRzzM5R7x9VOQhrUu6/I/pYLi1+5HT5t9CpyxnEg8x7JEPeBqjXfgl4NKtSa/cloUzeBMiCNr39o91nYnAuzS0COdjNogqw2uBmImwGkXk++8qClWquzkZQAJgkSRIFv5trC/kuiCpHmZpuUnbv9SkyQ4iCOX7Qunfwr7aLS6g/5HOln+k7jzXOg6Q4EB2hnSItYazO26sYTEFjpbmadZB4bqn7XJlqk1pb2PoxC8N3U7/0KjGsxFQMqixLrNdwM6SvbU6gcAQQQbgjQreM1IxaoehCFYgQhCAGoQhZoYJmIqhrXOOjQXHyEp6xu9+NFLC1Cf1DIP92vtKG6Q1ych7S7Qe973iXOcbz/AKirGFw5IuI6dFWq4nXLBy7a8biNv6KscQ9xAklvKwO8nqsNUUdGjJLhGhWrtb4WkZi0m5i+wi+qr0sBnaQ5+V5P6tBOWGiJ0ho3111UNSlJno4325dFXxXxHNDx+kZzeC4DTXhGyFKMlsDxZIbtDqjCHEuAkawcwA2MzaYTsG4scYJAfDraCAMvUSBbim4atWFP4hDsjpJv4dYJLRppqdUPeSQ4MJaeYE5dbkf11Wdb7FavZK7Ew/ObjTS2+m+qmpdovzEtOtiTEbRYDrdVaDc2YNNxGUEEkk8hESY/CqOLrmIaAJmfWAADJ/vyU9vcfdVGhicTmjKPTfjI9PVZn+KcCfELagge3umuc8MJJAiwBN4sSbdfyU0UtCSCSJNwANoifzgtFBInvS8Mtiu4gkWiJEabJjK5J+YbCcp4HX9kgpEi7mwYkAm9zF/f9kylSDXAEtmx0PSSOv5dGhFPPLw2SNe6SBGu8/UDqkLHZmglv8x120GvLXgrL5aR4nGALACBvBBsdBskwzvCJzeIw7STfe9wI04p6V6J72SqsR1RxqOzRmhoMacANfqlzP0AEAgEza/NR16paQBM2tO+k+dr/unNFiSDM3N/K+us7KXCPopdTkSpMH03DKSQJE3gcefLVI11wTUAG4BBjpxNxPDql+HfTkdDAEXEed7e6ZVbe3ODYa/0JRpiillzS4bI2vJ1dwFrkz52T3UoMQSbxJjzN1EKRJ1N4/uSrWUc4vNoE/nLZNJLgznLI9pWVcc0t4xZpI3ETxPL0Vim6m1riDmOXieUAcNPokLWmx4G99dvK6BStANuHv8AdGtDj0+SXgrOf4QBOxnqL6KTDVSGydJuTx29lIMPcG/29lDVxFNlpE8Bqk8no2XSP8TojxeYPGgBuLWK6j/DLvNMYao4H/x8uLfuvAV6/wAVk5SIAjqB7cFe7juzYqkRqHt66qtdKzHscpnekIQus4wQhCAEQhChDGveACTYASfJci7x9svxT35nQy7WNGw4xxIhdO7wz/hq0WOR30XGq9ZwMZTMea5uocuEdvRrHeqXJHg8OCXMNswgmdLbKvhQRY6glp8rJ2Acb5rWmSlc6C7YWM9QB9RK5HZ66cefBZotkkAmYMdY4eSw8WDL802Gs8pWoX3sCQR7bqtVZZzRAOo3OsGT6W5rWEJHLkz4k+bL+E7ZqU6bBDC1rQIOsw7ab35bqzhsSzENiG0zctAtG0gRE30WViABLDJIvIvsBJJ9I5IwWIAnLM6A6mbE8gPfRapVvZy5NEltF2WsdDWA1DTzcJDnHwwLXAudz5rzgw5dmOaGg8ecbH2Wji2GpfMCCeQ4zG56lZNCHPYwHK4yDGm23lPnstU0+DlljlGrRf8A8HLA4crkGJdJABiJ8JUmHwYLXus5zZtPDlvupDWe0ENcANcsgk2iYA1hP7OiSIygt3/mGsAXA19lnJutjbFjV/PgsYNoNP4vhkT4SLSOhvNtVmhjnPBgTrxt524LQwD3Uy9gEnWI5HY34KLDNLHzwMkRYCeZ6WUrXZrL6fwR5XgZQQOgvbr0HopMPQc6o1odYmduB20H9U2lL3OGhvrI0g+Vr+SnNOB8259NBbjCTjkKUunrgq1KXi4kSOUTMj3UzBxN+E3T6tDK0PzNIMjW4gwZA0nmoKDAAXak6mdYtrw80aJMpZsMeF9icMEKJ/RPIbcSZixiw47cPdSNYIEHabqXiZrHq8ZC0ck49FJ8IX8VrcDrpbyPsmVWlrw0/lku3Ia6rE/JC+lw1T6lMMAgkm8iLDhB6X805mtp58vPpKkoU8zS4k2Mna7hG/AxPkqWN+SZdXC00UK1HObkgbQpMH2cxuwB3J18zqVO94DOYsJgyYjbaVUaSIkm++5vxT7brkldXG7otPrj4optHhcDE62BPuVe7v0vhY1n6Zbm6FoafcELHxGFLyx4Jhu4tHBeoweG+OylUiDTsTxERH0PkEKDS3M8uaMuOTs9N0gHiJTlmd265fh6ZOoGU+Vlprtg7imeY1ToEIQmIRCEJDMvvPihTw1VxEgty/8AK33XJsUcrMwIA0IuYm35/RdN79sJwbwOLfquTVa5bDdQ45T03hcuXI1Ojt6fAsmO/NkNCo20iRJMHcWgGOiTEPYGhzgNbC0TMecJcP2aZMHwzbjCMThZcAdhLQSPMwdfK6mMnKVM3nhjjjqXP6jSAabjGl9NBI2VWrUa0gxfQ8QTA/8Ar7rZ7Jw4e5jHEQ7wO84J9is/H0gyo8CDkNzaDEC1p1JNuBWZ0xWyXmiBjf1P+Z7Q4kaN4fUeqrMxbabSZ+acsb7O1i0gX5JK+JzAZzlE/MdBPER+WTcNSaGOLsoAdvrlgkgcpy+qK9l7i0MQ40PC0WJdJNjHAAcvZaPY/ZIqxVeWsflMiXAMIJAM7WB9VFh3NM8A1pjhMfNzPDgtLsvtM0Q8CCDcy0G97AbyYsqjKnRh1GNuKlHlFKtRMnMDmnXQESROnRQuYAtHtOo2eOkQ4mxgwWm4gugRa6xa3aTRV+GGuJtMbeUJSjvsaYM1wtmph3loLrGIcZ1LWxpx0uCmNqB81M0DMRlMkyBqZ01sOQVPAF3xHOcP0w0G4v110uqXaFP4FTO0H4b/AJrWF7gRt6arRSbjSe5xzxRjktr4s1fjBumsfNeZ49VHE7kk2j+6axzXAFpt9VNTpW8RWTySOxdPjW9DKNHK3KND77/VTMaAAAI485Mpnw1JTpbj1uoeR+zZYIeh0H85qMkqQ055+fD3THNMm6Wortx9CARwQRvZEpzfslqYPFD0hpG9vZWMHMPbMEtt1EHTew+qrhPouvvG8e6pTdkTwx0vZEApxzO87prqh+2qkePqkLPNGpjeOPhA3novXHENpU/htFw0HrO5815JrdOvmtrCVC+rWDtJjaRHhAVRZzdVBUqOh91MfB+E4i4zN+69SuY9i4kh9N5PyET5WK6YHLswvajyssd7HITZRK2syoVCEIApds4b4lCozi0kdRcLjGMwwLxE2h3Oy7lUNjPAri2Pk1D/ACkk6/U+fosMsU2dGDLLHwPpQdxx1UNVg8TwQRYcY845SoqjswgAjodt7RzS06cNqNj57AAzrbX38lg4PwdceqTfyWw7D4huYECKgcHSB8wAygEG2oF15NuNdUrOJ/7jpmNzeIXrgwtbAExJkHgD56/ZeN7SBzxTBnNIJ1BBF0RxyNH1ELuzaq4AZLkxMwLA9QNVHVw7SNBBsRbXYjkrPxC5oIidxPuOWqhzwJItzB2UrHk9Gr6rDzZLW8LGtAifEY9P6+iqvhW2081yTztytr9E19ENdB+YQRMHnb29U1hkS+txolfXFKiHPa2GEBwdIc1riGlwvzbbLNra2XE4ZjDLA2HXsZP+7cHkbiIsrgpMcQXCSHSZAmQ4RDTzAKzsRXMhwblpkuiRIJJkT/qt5LR47VM4ln0T1R4JqY0VXHlhaWVD4TfaeAI4JKlY03Bw1A66iN+vBVjhznaIEuAhxMjnflxWUcbW52T6jHNU3szPwjnUiAbsddp/mGkjn+y2PihVq+HzNPiB1DddenQfRS4Wg9tN0EHdx1Np47C+nBVkhe4sHURXwb28MtUyOBPmrDZ4ABVqVM6Zhw1Uj3kWkLmaPRUttiafzT+6je5RCsXRaNr7Qm1HxqlQ9QsozJjn2SNqC109LE5xXLJZTDEIDhxUgE6ESeaaRMppoZmUjwLHSfzVQZvmE6GJ2MKc4lrgJiQAOutz+bKnFkLIttyzhmiLgdPupO7Yms8G8nz1Ovqo8FVYDtppEydrFM7DxzGYiXEBsEX5RH0VRMc9NM2hixRqlhvmLnR6Lq+AqZqTDxaD7Linaviqtrt0Ejy20XVO5WLD8K3U5Zb9/uunHszyMjtG8hCF0GI5CEIEI4SCuNY+A10i4dv19dl2Zcj7z4cNrvDdC5xPk920rLK6o0xxcuDIYHGHcLzpbr5+6eHaR+dPT2S0w5sidRHpxE6Shr76D1g269fdQpItwkt6E7SzhoPhAIjNm4m9vM66rNbgpvubwdbxafOFc7YqBtCoCJGonbjoY1IN+CyB2qXNa3SLwOMAzIF777KkySwyaYk2BzGBptr1spq2LzgtEw0gCeliY4nfZVMr6pA8VvERcNkkTryA/Lq7hMNkJIA1Pj0A4gcbwhyGosZghEMJNiLyAJE63vb8mEuPzslwDTuBedOHlqY2lTVmDP4SBO5tAE2JVXtPFzYEGQLt4wRrzshSsbiWKFRztHmDpYDe/Hf7Kt2qS0tYHGbHkJMyZGt9VD/jcrGgCXAXItHrvYctVP2VhwJe+CS0xYGB0NpMROyNSH25tcEX+HzXGm87JrqQOm09NdeH91PUIkknWZjTnE8bJgqBwIO1xuDJ9vJFr2Cxze1A2k4ta6NTMAQbGPPYqxRxAbLcubQjzHiPqBCg+LPGOE29EVKvy3MAekx6paovyU8U1yiWu0Bty6Gj/dfNlM+mvNUaeZzcx/vH7/dTVH5onTNmki+keex5JtSpZ0dB57x+ahS9LGu5HZWhzKZyyX7E78pulaCWiSDFt5Ak/sf3uoC4QBG8yfpCdQqAGDmDdbfaQePLdHxD+o/f3EbaBr13/OCh+OXVNhA2BAEf3ViiGvsZlx6kXAHryStwzWn+YAkWI15+QB9FSZDRNUqshzZkQJdGWfl26yoC5rC2+Y5gBA3nedI+idVa4ktg+IW58LcuaSlh3DKcus9Lg677H0S2Bj6dICzoBEwLxb6zZI8AGdRFjAI2jfWdjpKVtV8OpkkgOzCCYtYwAd+PJIymTd1xcFwgQTOu+vBAEYr2+UmDMTfQSJBkobTGaQ3gQ07TrEngpC2Q4y3NABvE21EctfJZ9XGFtSwMWjcNECw9JlOhM9E2pPht8s9V0H+GdYuoP4SI9F4DAYMOb8WTGUWtuATPqulfw/w5ZhQS3LnJd5bKU/khtfFs9PKJTULezGiVCJSSqEKuV96iRiameJmG8gbzpz9yuqSvAd/aGWuxw/W25I3FrHpCxyxtGuGelnjq1dpNjeFJIywQZFyZ2jn1CnzDwyQfIe9vyE34AiQBaDbS5HPisO16Z2rq/aKtanLXE3GkC5uD66fRZvdrDNBrBwuCIn5v1Bb1OgIJMXB/c+3NefrVQ2oSJbmtveJ8ydE1jdUJ9TB70bzGwdI8lW7RrsY0uIk7AWJMjhwWLV7UIECpBHCDtz1VTE1vi3qGY0zEjmbBLtBLqE1wbWDxbYHE8pkqlii2SZ3tbQxOypYRzQ7w3HQDTzur/wARrmnMLG9rX2gQYCNFPkI59uCCph4aw6l0a6XE22PDyU1DEQ0zyETpcTZFOu5jQDD2tbDCAM17GREGJVjDsDpIAyk8JiI89I2gyU+3+o31T9Dagm0+86xb2VOtULIA3IB6EiVo4inNwcroiIAFjuI5RxuqOMw4NwQCBPCNLGDsZCFiY/q4+iQngjzsbetiinQ4kA5gInYxeVIzDRfSLEE6Ztj6JdqRb6vG/DGQmOZ+Sp6lFwixvfbTSVTw9Q/EqNkgC49APqk8cil1GMeafT1TXMTm5hM6kyOin+F8ubMAdYFxrsSJ09wlokW+oxLyQ4NwpukjMNxMe6sGpTedPh2i5JEneRBB8ioa7WtBH6oDgCZtedPL1TGQGNkAkibn8vN1pol5ZyTy4pPaO5aNGiD4iSbOzXAO8EAqF7XEnI4EW2GUeFoIuN4313U2JxEB0Q7MwNgkEA67aQCUtSnDGkC7abSA0S2HAbfpvHiNyT5K0c75tGd8QyTABPAR1ERtOydnnVPxDYM6jXpKkwlVoILgCPIlYzUk9j0MMsWlXVkT2kWNj+6b21hv+npvBJJqXPABsAcUj6/jda0yCTeEuMrf9PB0LwZ6C4HnCqOuzPI8Om48nrO4hD/gMcARmLXc4kieOoXWmiBAsOC5D/C7Al1XMRAZ4p57LrjXK47M4sjTdokBSpqFojIlQhC0JBZvb3ZDMTTyOMEXa4agrSSFJ7qmNOnaOJ9q9n1sNVcyqDl/Q4aEcZ/NUxlci87DTcc11Xt3s5lcZagkC45HiF4zH9zHD/2qkXkZhPlaFzSi0zthni1vX8Hl64dUzgE5baGDaDf8vKyKOFaAS9smY9jP0heiq90cS0EfFYb5vkdr/wA1Qrd3MWNKlIjgWO//AEptFa0/+IiwzKbW5i0DYQBPJQVsR09kzEdgY42BogTNs33lUavYXaMxbqCz9kKMX5K+oa4T+xdz8PZTU3OIn85LLHYHaHEerP2UTOyu0QbNf18H1R24+GhLqmuU/sbmUkXaI6pAS2YsOsx5hZbewe0juR1cxOHdjtCPnF/9Q/ZLRFeUP6lvw/saT6zt5Mee+6rjEkl03ad5vrJ15yq7O7XaA0qD/l+7U5ndzHjemep/oqW34iHOL5iWm1joCOkdfpJSmvUn0/TOiq/5Bj9vhjof6KGp3Vx5mXi/B5H0Cdr8xOteIF//ABT9fLT91HTc4EkC5Mm2p+yz/wD072i3Rzz0qfuUyp3Zx7vmLj1q/wBVXx/MJ5L/AAGsXVB+iIH8ugJH3SB7xbNHIfnNZ1HupjgZzkdajj+8qWr3Xx3/AJA7o8j7BLVH8wKX+BOaZJPjBPDkECkd7eqx3dzsVN6cnjmafeVcw3czGDRwZ/vP2Q1D2VHNKL/tLLgrmOc6GiILWBrrRa0SNlU/9NdoaZmnnLfuJU9Xunja7i6tWAJjSdgALNgbJLSvJcs7fj+aM7G4ycskWtwtqkwuMbIc8ggagESNIIV+p/Diu7/uh3UEfurOB/hhWmS4DpKtONcnNNu7qin8ekR4WmeMi37rQ7OwdOq5jXaTO1uMR0W92f8AwxAMvqOJ5WXquze5tGno0nqVLfoSNnsmmxrGimAGgAW+/FabAoMFhQwQBAV5oVQiTKQwBPDU5C10mdghCExAkcU5RVBZAFdwlMcxSpEAVKmFBVd/ZzeC0ShJxQ02ZLuywmHslvBbJTVLxxKUmZA7KbwSjstvBaxQEu2g1Myf8tbwR/lo4LWQEtCKtmQezRwSf5YOC2kQloQWzEPZY4JP8p5LdhOAR20NSZ5//KEo7GXoYQn2oic2YDexAnjsMLdQn24hrZjN7EapG9jsWolT0RFqZnDspnBSN7OYNleSI0oLZXGDaNk8URwU6E6QrGCmlypyE6AQBSsUYUjU0JioQgqiT//Z"/>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37904" name="Picture 16" descr="banded-iron formation: banded-iron formation rock"/>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22143" y="4691349"/>
            <a:ext cx="2414923" cy="1655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5813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BIFs: mineralogy and origin</a:t>
            </a:r>
          </a:p>
        </p:txBody>
      </p:sp>
      <p:sp>
        <p:nvSpPr>
          <p:cNvPr id="3" name="Content Placeholder 2"/>
          <p:cNvSpPr>
            <a:spLocks noGrp="1"/>
          </p:cNvSpPr>
          <p:nvPr>
            <p:ph sz="half" idx="1"/>
          </p:nvPr>
        </p:nvSpPr>
        <p:spPr>
          <a:xfrm>
            <a:off x="179512" y="1268760"/>
            <a:ext cx="4474840" cy="5589240"/>
          </a:xfrm>
        </p:spPr>
        <p:txBody>
          <a:bodyPr>
            <a:normAutofit fontScale="70000" lnSpcReduction="20000"/>
          </a:bodyPr>
          <a:lstStyle/>
          <a:p>
            <a:r>
              <a:rPr lang="en-GB" dirty="0"/>
              <a:t>Origin is somewhat enigmatic</a:t>
            </a:r>
          </a:p>
          <a:p>
            <a:r>
              <a:rPr lang="en-GB" dirty="0"/>
              <a:t>Marine basin setting</a:t>
            </a:r>
          </a:p>
          <a:p>
            <a:r>
              <a:rPr lang="en-GB" dirty="0"/>
              <a:t>Runoff from continents of Fe</a:t>
            </a:r>
            <a:r>
              <a:rPr lang="en-GB" baseline="30000" dirty="0"/>
              <a:t>2+</a:t>
            </a:r>
            <a:r>
              <a:rPr lang="en-GB" dirty="0"/>
              <a:t> rich weathering and erosion material also from submarine hydrothermal fluids</a:t>
            </a:r>
          </a:p>
          <a:p>
            <a:r>
              <a:rPr lang="en-GB" dirty="0"/>
              <a:t>Free oxygen was rare or absent on the Precambrian Earth</a:t>
            </a:r>
          </a:p>
          <a:p>
            <a:r>
              <a:rPr lang="en-GB" dirty="0"/>
              <a:t>Oxygen (produced by cyanobacteria or </a:t>
            </a:r>
            <a:r>
              <a:rPr lang="en-GB" dirty="0" err="1"/>
              <a:t>photoferrotrophs</a:t>
            </a:r>
            <a:r>
              <a:rPr lang="en-GB" dirty="0"/>
              <a:t>) was combining with abundant iron in oceans of the early Earth to form BIFs</a:t>
            </a:r>
          </a:p>
          <a:p>
            <a:r>
              <a:rPr lang="en-GB" dirty="0"/>
              <a:t>Formation of abundant BIFs stopped once the atmosphere contained more oxygen from bacterial photosynthesis</a:t>
            </a:r>
          </a:p>
          <a:p>
            <a:r>
              <a:rPr lang="en-GB" dirty="0"/>
              <a:t>Fine-grained magnetite/ hematite with quartz, Fe silicate and Fe carbonate minerals</a:t>
            </a:r>
          </a:p>
          <a:p>
            <a:r>
              <a:rPr lang="en-GB" dirty="0"/>
              <a:t>Later metamorphosis of most due to age</a:t>
            </a:r>
          </a:p>
          <a:p>
            <a:endParaRPr lang="en-GB" dirty="0"/>
          </a:p>
        </p:txBody>
      </p:sp>
      <p:pic>
        <p:nvPicPr>
          <p:cNvPr id="38914" name="Picture 2" descr="http://m9.i.pbase.com/o6/43/815143/1/109919369.zv7Jw0mU.BandedironformationIsphemingM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3645024"/>
            <a:ext cx="4104456" cy="272262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589980" y="3139047"/>
            <a:ext cx="3304238" cy="369332"/>
          </a:xfrm>
          <a:prstGeom prst="rect">
            <a:avLst/>
          </a:prstGeom>
          <a:noFill/>
        </p:spPr>
        <p:txBody>
          <a:bodyPr wrap="none" rtlCol="0">
            <a:spAutoFit/>
          </a:bodyPr>
          <a:lstStyle/>
          <a:p>
            <a:r>
              <a:rPr lang="en-GB" i="1"/>
              <a:t>Possible model for BIF deposition</a:t>
            </a:r>
          </a:p>
        </p:txBody>
      </p:sp>
      <p:sp>
        <p:nvSpPr>
          <p:cNvPr id="6" name="TextBox 5"/>
          <p:cNvSpPr txBox="1"/>
          <p:nvPr/>
        </p:nvSpPr>
        <p:spPr>
          <a:xfrm>
            <a:off x="7389321" y="6359792"/>
            <a:ext cx="1524263" cy="369332"/>
          </a:xfrm>
          <a:prstGeom prst="rect">
            <a:avLst/>
          </a:prstGeom>
          <a:noFill/>
        </p:spPr>
        <p:txBody>
          <a:bodyPr wrap="none" rtlCol="0">
            <a:spAutoFit/>
          </a:bodyPr>
          <a:lstStyle/>
          <a:p>
            <a:r>
              <a:rPr lang="en-GB" i="1"/>
              <a:t>Deformed BIF </a:t>
            </a:r>
          </a:p>
        </p:txBody>
      </p:sp>
      <p:sp>
        <p:nvSpPr>
          <p:cNvPr id="4" name="AutoShape 2" descr="data:image/jpeg;base64,/9j/4AAQSkZJRgABAQAAAQABAAD/2wCEAAkGBxMSEhUUExQVFhIWGBcWFxUYFR4YGBcWGhobGR0fFRYbJiggGholHhwaIzEiJSkrLi4uFx8zOjYtNygtLiwBCgoKBQUFDgUFDisZExkrKysrKysrKysrKysrKysrKysrKysrKysrKysrKysrKysrKysrKysrKysrKysrKysrK//AABEIAJIBWQMBIgACEQEDEQH/xAAcAAEAAwEAAwEAAAAAAAAAAAAAAwUGBAECBwj/xABJEAACAQIDAwcJBAgEBAcAAAABAgMAEQQSIQUTMQYUIkFRU3EVMlJhkpOU0dMHI4GRM0JDYnKhsbMWNGNzJWSC8CQ1dKK0wdL/xAAUAQEAAAAAAAAAAAAAAAAAAAAA/8QAFBEBAAAAAAAAAAAAAAAAAAAAAP/aAAwDAQACEQMRAD8A+40rIbT5fxQYmWFoJ3SIorzRKJFV2UPZkBz6Bl1UNx9Rq32NyoweL0gxEbsOKXyyL/FG1mU+IoLilKUClK58YkhA3TqhvqWQuLeAZbeN6DorPctXtHDqoviIQcxsuXN0s1v1bca7ub4vv4fhm+rTm+L7+H4Zvq0GRwfKCWBVXMLb+XVgWjeHfQi8EjHMY1SVhax1Q2IRdenH7beRSws8keIQc2VSkiMkxUKzsbdNLEXAvckaHTS83xffw/DN9WnN8X38PwzfVoKOXlOwkiQSw5ZFgZXYZAwdnEl1ZgVKhVAXU3Nj6oYuUWJ5vHIxj3r4YYhV3ZUSy2F4EGYkN+Z+8XTokG2k2HM0hkM0eY2uN1KEbLwzRibISPWOodldnN8X38PwzfVoM9Pypm81TFnG9DXQnKyYuOEZhmFiY2LW8Dw0rj2nt2WSIxyMqFZCA2UjfbrGmKyC+hEaK54/pQeAN9bzfF9/D8M31ac3xffw/DN9WgpeXLMpV1ZWyRyZsM7FDKhy3OHkHm4hbWXjfMRpe45MXjSS7ZUBXygAuU5Wsqkbxb9Inr1F9eFaXm+L7+H4Zvq05vi+/h+Gb6tBSz8onQv0kj3cQkWPdNIZY9xnzx5WByrJ0bfuEHVlIh2jtR5tk45iw3iJiUVkOt1B3ZUqfOtlIK8TYjqrQc3xffw/DN9WnN8X38PwzfVoKPDriMPIoWRMmJkZ1j6UgjRIAcsbEi2dlJOlhn07TzYTlVM8SO8kEYkYLvAjsIJDGW3cynLlbeDLYkHXKbMVJ0vN8X38PwzfVpzfF9/D8M31aDP4jbciaK8MWabEKWaI8ViEi3UsDmJ0I4n1Go4dtz50JCwhsascqiMm6nAiWzm+rb2yXHEqo46G9m2ZiGdHaaHNHmyncOLZhlNwJbHTtqfm+L7+H4Zvq0GWwfKWaYJmkiC7wqehpIrYTeqGGbTp5hYH9W17g37cNt6bLEFCKcuFtFl8+OVVzuhvosd206hE1+IIvOb4vv4fhm+rTm+L7+H4Zvq0HByS2vNOPvihYw4aboIUs0qtmWxJ4FfHpVoqrOb4vv4fhm+rTm+L7+H4Zvq0FnSqzm+L7+H4Zvq05vi+/h+Gb6tBZ0qs5vi+/h+Gb6tOb4vv4fhm+rQWdKrOb4vv4fhm+rTm+L7+H4Zvq0FnSqzm+L7+H4Zvq05vi+/h+Gb6tBZ0qs5vi+/h+Gb6tOb4vv4fhm+rQWdKrOb4vv4fhm+rTm+L7+H4Zvq0FnSqzm+L7+H4Zvq05vi+/h+Gb6tBZ0qs5vi+/h+Gb6tOb4vv4fhm+rQWdK5sFHKL710fsyxlLeN2a/8AKumg+bYrkltCB5XiaDFJJK8xVrwSgu1yATmR7CwF8ugA4cM7tdoDpj8M8DC9nnjsAf3MSmZQeBFmvp1kWk+116ugIIIBB4g6g+IoPlGz5cTCM2ExrmPqSYjExW7AxOcDwkI16xYm6wvLzERaYrBlwOMuFfOLa6tC+VxoCbAt5reibWu0Ps/wMhLRo2GkOufDOYTftKL0GP8AEpqjxfI/aEOsE8OJQcFmBhk6iLSxgqToP1V4LrdVIC9f7QcBuZZFnXNEju0DXjm6AuRuns1+rh11cbB21DjIVmha6nQqdGRhxWReKsOsV8vxIDSpBi8I8cpzPGJEV1IS12jkS66XUdVtNAMoXzNjuZSnFQyRpLpvY3kCJiEAOj381xrlfjprcXzB9gpVRyV5RwbQw64jDsSjaFSLMjDirjqI/LrFxVvQKUpQKwP2kYuSPFbMCSSIGxChgjsocGfDLZwDZhlZhY341vq+d/ah/m9lf+pT/wCThKD6JSlKBSlKBSlKBSlKBSlKBSlKBSlKBSlKBSlKBSlKBSlKBSlKBSlKBSlKBSlKBSlKDKY/lDMmN3C5CDJAioyEZldXaT72+UMqqWC2u2Ui2txYpt5FJD5v0k6BiqqM0QL5eOpKhiO0KeFq6MXsKCQyF1JMpQsc7A5ozdChB6DKdQVsa9/I0OXKVuN6J9WJ+9BBve/aOHDj20FfJysiBYbuY5SFuEBXPvEiK5r2DB3A1Ivla17V27P2wksjxBWWSMKXVit1LAEAhWJ69D5pytYm1Rvydw5Z2Kv94yyMu9cJnVlfMqXyqSyqSQBexvxN+qPZsaymaxMhDKGLE5VYqWC34AlVNh2UFdt3kjhMZKkuIRnaNSq/eOgAJudEIvfTj2CsxyvwWy9lxRSDA4fO0gAsoVhGoLytn4krGrEC+pyjrr6JWG+1/wDycf8AvD+1L6j/AN9nGg1EGzYGUMlyrAFSJHsQRcEa9lSeSouxveP867aUHF5Ki10bW/7R+sW7a8eSouxveP8AOu6lBw+SYuxveP8AOsD9pODRMVswAGzYhAbux05xhRxJ0/CvplfMvtU3px2zgtrZ1aPo3vKMVhb5jcaWym3YGoPoB2VF2N1ftH6vxp5Ki7G94/zrtpQcQ2VF2N7x/nXjyTFa1m94/V+Nd1KDJbIx0c+PxuE3TKMIILSb5zn3yZ9V0y24cTV/5Ji7G94/zrIckv8AzzbPhgf7Jrb4yYpG7gXKqzWva9he19bflQQeSouxveP86eSotdG1v+0fr/Gq7ZvKaN4hNIYkjKqwKy7wglN4wcBRlKpZjxABvoBXXtHajJJAkaK5mz2JkygZUL8QrXBAoJvJUXY3vH+dePJMXY3vH+dcmC5SQut3O6cSPE6NrldGCm5GmS7LZjYdNeBNqni2/hmzWlU5ePHUh90QvpHedCwucxA4kUEnkmLsbT/Ufw7a8nZUXY3V+0fq/GoX25DlJWRScrkXuACuYESEAlNUcG4vdG0uCK9F25GXEalc2aNWvmC/eIXAjbLZzYXtppfstQdHkmLsb3j/ADrz5Ki7G94/zqJtvYccZV4qBx6WclVyadMMwIBW4JFq7cLiFkRXQhkYXBHWKDm8lRdjdR/SP1fjQ7Ki7G7P0j/Ou6lBw+SYuxveP868+SouxveP867aUHD5Ki10bW/7R+v8aeSouxveP867qUHCNlRdje8f508kxdje8f513UoOI7Ki7G94/wA6eSouxveP867aUHD5Ji7G94/zrz5Ki7G94/zrtpQcPkmLsb3j/OvI2VF2N7x/nXbSg4hsqLsb3j+PbVNysxUGAw7TujMA0aW3rjz5FUm9zawJb/prTVgvtiZlwaNYNErSGRSxUsObzADTqubnUcKDb4bDqgst7cdWLfzJNTVy7KRxDEJCDII0DkagsFFyL20veuqgUpSgUpSgVkvtH2Nh8VBEJ3CZZRZshfosCsigAGxaMtY9TBT1VraUFDFyowSKFEllUAAbt7AAWH6vC1Dyz2eBc4uFR2s+UfiWsBV9Xgigp8NyrwEmiYzCsewToT+V6sI9oRN5ssZ6tHB/+69psHG/nxo38Sg/1rhm5NYJ75sJhmvxvAhv/KgtAaqNtbATEzYWVjY4WUygWvmujLa/VqVa+vmVCORuBHmYdI/9q8X9srUY5IousWJxsfhi5JB7Mxdf5UGipWe8kY5BaPaBY/8AMYaOT+1ujXjPtROKYKf1h5MOfyKyj+dBoqVQeXp0/TYHEKBxeIpOv4BWEh9ivaHlhgiQrTCJjoEnVsOxPYFmCk0Ga5HYlG27tkBgSRg7D+CLK35MQK3uKhzoyXtmUrfsuLVRbC5PJFjcZjFKtzrc2sb23aZTbxOtaKgoZ+TKtFh0D2bDgAMURs65N2Q6sLEkAai1io6rg9eN2TneB1kKmDNl6IN8yZOkPDstVnSgzi8kY1ZHV2z3kMjOqOZTIwdicwsrXGhWwA0tYC3PgOTDMgMzFZUkmaK1vuw+K5wL2vnvljuOwEcda1dKDOy8lFZg+8If7wllUKxMmbMLj9mcw6BuOgp43JnTk8A4beNYNC9rDVokKcewi35Vd0oM9h+SqqIhvGIgCJFoLrEjq4VjxYnIgzdi9pJNvszBCGJYwSwW+p4m5J6vGuqlApSlApSlApSlApSlApSlApSlApSlArCfbMP+HN4v/Ym9R/p+XGt3WE+2Yf8ADm8X/szeo/0/LjQbiHzR4D+le9ekPmjwH9K96BSlKBSlKBSlKBSlZfbvKhsPNMmRGEUMUwBJDSGR5EyKeCnoaE6dLWwF6DUUrMY/lJJHM0eWMKMRHBmN+DwGbMQOsebb8fVXbjdqyJFA6hGM0kaX6WXLIdGANjwsbHtoLqlZ5eVMcbTR4m0ckLAHLdldWQyBk0v5oa6ngVIF7i/SOU+GzEZ2Fs/SMbhSUAYhWtZmysCANSL2vY0FxSqtdvwFxHdt4WKmPI2dSMl8y2uBaSM37GB4XNcMfKdCqjMc26w8xk3L7srNJkFk85SSDofN0J4Gg0VeksSsLMAwPURcfkarMVyiw8ebMzALvOkEYgmM2cKQDmZTxA10b0TbtwGOSZSyXsGZCGUqQymxBU2P/YoKybkjgzcpFuWJuWw7th2J7SYStz43qHyRjYv0GNzrf9HiohJp2LLHkceLZ/xrRUoM75dxMX+ZwUmUcZcM3OEt60ssv4BGqx2Vt3D4m4hlR2XzkvZ1/jjNmU+ogVY1W7V2DhsTYzQo7L5r2s6fwSCzKfAigsqVnDsjFwa4XEmRR+wxRMg8ExA+8XxbeeFTYXlKoYR4qNsLMTYCQgxuf9KcdBr9SmzfuigvaVAcZH6ae0Kc8j7xPaFBPSoOeR94ntCnPI/TT2hQT0qDncfpp7Q66c8j7xPaFBPSoOeR94ntCgxkfeJ7QoJ6VAcZH3ie0Kc8j9NPaFBPSoOeR94ntCnPI/TT2hQT0qA4yP009oU55H3ie0KCelQc8j7xPaFOdx+mntCgnpUHPI+8T2hTncfpp7QoJ6wX2yZmwaRgKBI8il2aypbDztdvVofkeFbYYyP009oVn+XOzEx2EaBZo1YvG2YvYZQ4Di411TOv/VagvdlTmSGJ2XIzRoxW98pKgkX0vbhXVUMWIjNlV1J6gGBP5eFTUClKUClKUClKUCqbafJyOdpWd5AJ4lglRWAVohn6PC4vne5BB6XhVzSgpjyci3m8DSA71JgAVyhkj3S20vbJpa9dm09mrOEBZlyOsilbXzLw84EWrtpQUknJqInOrypNvN6Z1YbxmK7shrgqVyWXLlsLAixANc8PJhXM2/LMrySNGobzQyKmYNbMJLA6km1/XWjpQUsvJqNyGd5GbeLKzHLdpFCBTovRICAdDLoWve5r0HJaIKFDyACKKHiuqxOZEJ6PEEkacQfCr2lBST8mIXDqS+RmlcKCLI8tzIyaXuxLcb2zta16ssDgliz5STndpDf0m42t1V00oFKUoFKUoFRYrDJKjJIivGwsyMoZWHYVOhFS0oMs2wZMGL4NVlhHHCSkGy/8tM2qEdSOSvUCnGrTZGLw2JQtEqnKcroyZXjcWusiEXRhpofUeFqtaotu7NdW53hl/wDFIAGQaDExA3Mb8BmtfIx81j6JYEJ9q7RwWGyjESYeHP5okZEzW7AeNZ3GfaPsWPU4iJtbdCJn18VU1a7f2Bg9r4RRIM0bqHilXSRA1iChI06rg9mor89bf+zbHYXFJhsm93t1hkXRZgq3y66RvZSdT1cTxoP09hY4nRXVFysAwumU2IuLgi4Nuo1JzSP0E9kV+YF25tvZRAd8VEi2AEql4ushFzgrr2qa1+xft3lU2xeGRlBszxFlK8bBla4LadRA8KD7hzWP0F9kU5pH6CeyKx2xPtV2ZidDMYXsCVnUpl8X1Tj+9Wzw+ISRQyMrqeDKQwPgRpQevNI/QT2RTmkfoJ7IqalBDzWP0F9kU5pH6CeyKmpQQnCR+gnsinNI/QT2RU1KCHmkfoJ7IoMLH6C+yKmpQQ80j9BPZFOap6C+yKmpQQ80j9BPZFOaR+gnsipqUESYZAbhFB7QoBqWlKBSlKBSlKBSlKBSlKBSlKBSlKBSlKBSlKBSlKBSlKBSlKBSlKCg5Gm0c8ZOsWKxK27FaQyqPDJItvURV/as5tQ8ynbF682lCrigBfdsosk+n6oXov2AI2gU30MbhgGUgqQCCDcEHgQesUHiWNWBVgGU8QRcHxBrH7b+y7ZeJuTh1ifXpw2jOvXltkJ8VNbOlB8K239g0i3OExKvbzUmUKb3HF1BDaX0KiqLkzyH2tg8dh4yk8MbTJmkie6ZQVLF3TQqQrWVrfz1/SVKCj2jMy4/CjMyxtFibjMQjOphy3HAsFMhH49mlc225YdFyOvSl6bsXdTiDGFjP8JXLxHAW1uL/GYmEyJBIuZ5FZ1UoWUhMoY3tlBGZePpVBgEgxDLikueiY1zLYDKxuQrDMDe4vQVcXKeTe7loxnzyRaXsJVbMqnW92w/31uoA+q/FheUD4k4RzlRXmUgJLqVfDYhikqqTqrKONtRwUrWtjxSNK8Y89AjtppZ8wUg9Z6DD8K9mjjUEkIovmJsB0jpc+s9tBi9j7fdIYrWd+bbLJeSVzm5xK8JLDUZhYtcatexOgrtTlY5KJli3jMFtnsHIxL4dyuvRChM9je98o1BrRYKWKUMUUWV2jN1t0o2INr9QPA1BitixyPmJbKQFaMWyMASdQQSOJvlIv13oKvam8fHCNSxUwBioneLL96FLqF0LBSdDa9hXTyc242KL3VAljazgupDMjLIoJIIsNTbXMLdG5vN2L3sL9ttfzrlOIiWYRWtJKryaLowQorFm4X6a8dfyoMDs3bMiQyvJIxBwU0iI8zEYh0ZiWSW+aIooCkLr94D1Vc8oNvMYMaquibqGYWzss2YYcTK6EcF1tf929+qr9cbAX3QW5DFP0ZKCTJnK5rWBy6/jbjpUuKmiR41ZRmmJiU5b3yq0mUnqFlY69lBDsTHtLvlfLmhl3RK3segkgNjqDZwPwv12qzqMlV7BmNh1XNv5mw/lSCXMoaxFwDZhZhftHUaCSlKUClKUClKUClKUClKUCufFY+KMgSSIhIJAZwtwOJF+rh+ddFZ2LCtHi8W0kZkTELEI2ChhkRChif0RmLNr0TvTroaDRV6TSqilmICqCSSbAAakk9QrIbaGOyz7neiYc4C2tuzFuW3O6voJN7uxrrfPfo2r0xeGxe8YqcQQvOxEc2t3hiMZYdYz70C404cLUG0BvXmshOmO3haMy3zWUNbd5Tgzqw7OcBdeI16ia4JY8e0JKNiwxixDKrBFZZwkW7Xi1xnDnVrG7DzbUG+qOLEIwJVlIUlSQQbMuhB7COsVitsR4xY8TuFxG9aWaSNgbj9CDGACfNLaWPRBFiDoDd4LCncYtXiYiSSc7vzWdGHAG+lxpe9BaQ7ShewWWNixyrZwbnLmsLHU5Rfw1qbETqis7sFRQWZmNgoGpJJ0ArErszE3jQtM8ccpKT5BHPk5tMlpSLZirMihwATm9RJ9cVDjpUnWQTEth2CIFXI+bChSGOawff5uq+o1y3sG1ONjDiPOu8YXVMwzEDsHXU9UmxcIyz4l2DgM0RXN5ptEqnKOoggirugUpSgUpSgEVnJtnT4Ql8Gokg4tgyQuXW5OFc6ITr921kJ4FNb6OlBW7I23DicwQkSJ58LqUlj/jjbUDsPA9RNWVVu2NhwYnLvVOdNUlRiksZ/05Fsy+sXseu9VwTH4bgRjYR1MVixI8GAEUv47vxNBo6VS4HlRh5GEbM0Mx0EM6mJyePQDaSeKFh66uqCl2pslpcXBLpuo450a0jI+aQxFbZeI6Bvc9Yqn2TsB42ijJUMEYTWzOCqytLAQ7AdIMTcdYv2CtlSgxWC5Ky5k3seHygYYSWctvTEJw7sCmpbeKdSb63Pb5xnJWV1IIiJBkNyT9+GnSaMSCxtkVcoOtj5tgSK2lKDFYvktiC7vGYkZhigbOwz7yWGSNXsvm5Y5FPHLvDYG5rzLyTdo5gI4lZ8O8cYMjPu5XaQ6OV6K9P9UC2oAtx2lKDITcmZVaVoUgUtzkKCWAyyxIFVsqghTIGYgHrvqSam2BsKaGWNnyZEGLFg9zaaSJ1sAiqLZGBAsOFvVqaUGWx3J+Z8Q8sTDDs+dZJI3JEqGJkQvCRl3qNkIcG9ktextUKcm5jJG9oo0BUvErEqGGHnhZ16IuzGVBrboxA8dK19KDG4Xk5PmgaVIWMTYc23ha5jhliZgSnG7qR2heqmE5MzqkSMYyVhwqBw7Xhkhcs7RkjpZwQOq+WzXB02VKDFLyUlCMoEYzRwg5H4yRyStch0KuMrqLMNQCNLA1N5Cxvbgvdy/wD6rX0oFKUoFKUoFKUoFKUoFKUoFKUoFKUoFKUoFKUoFKUoFKUoFKUoFKUoFKUoIcXhI5UKSoroeKuoZT4g6VR/4UWP/KTz4XsRGEkPgIZQyqvqTLWipQZ4TbRh8+ODFL6UTGCX3UhZCfXvF8K9/wDFkCf5hZsMbXO/jKoPGZc0X/vq+pQc+Cx8UyhopI5FOoZHDgjxUkV0VT4zktgpWzvhot53irkk/CRLMPzrnHJgp+gxeLit1GUTr4WxAkNvAig0FKoeb7RThNhZh1B4Xib8XRmH5JXgbSxyj7zBI3+xila/gJVi/rQX9KoP8TZReXB42Pt+5339hpL0PLLBAXeYRf7yPDbx3qragv6VUYXlTgZNI8ZhnPYs6E/kDVjDikfzXVvBgf6UE1KUoFKUoFKUoFKUoFKUoFKUoFKUoFKUoFKUoFKUoFKUoFKUoFKUoFKUoFKUoFKUoFKUoFKUoFKUoFKUoFKUoOfEYGKTz40b+JA39azu0OSmAzX5lhbk8ebx3/PLSlBitqYSOK27RE1I6ChdOzTqrHybTnBYCaUAE6CRgOPjXmlBa8kdpztjcMDNKQZVBBkYgi/WL195pSg//9k="/>
          <p:cNvSpPr>
            <a:spLocks noChangeAspect="1" noChangeArrowheads="1"/>
          </p:cNvSpPr>
          <p:nvPr/>
        </p:nvSpPr>
        <p:spPr bwMode="auto">
          <a:xfrm>
            <a:off x="155575" y="-2332038"/>
            <a:ext cx="11458575" cy="48672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AutoShape 4" descr="data:image/jpeg;base64,/9j/4AAQSkZJRgABAQAAAQABAAD/2wCEAAkGBxMSEhUUExQVFhIWGBcWFxUYFR4YGBcWGhobGR0fFRYbJiggGholHhwaIzEiJSkrLi4uFx8zOjYtNygtLiwBCgoKBQUFDgUFDisZExkrKysrKysrKysrKysrKysrKysrKysrKysrKysrKysrKysrKysrKysrKysrKysrKysrK//AABEIAJIBWQMBIgACEQEDEQH/xAAcAAEAAwEAAwEAAAAAAAAAAAAAAwUGBAECBwj/xABJEAACAQIDAwcJBAgEBAcAAAABAgMAEQQSIQUTMQYUIkFRU3EVMlJhkpOU0dMHI4GRM0JDYnKhsbMWNGNzJWSC8CQ1dKK0wdL/xAAUAQEAAAAAAAAAAAAAAAAAAAAA/8QAFBEBAAAAAAAAAAAAAAAAAAAAAP/aAAwDAQACEQMRAD8A+40rIbT5fxQYmWFoJ3SIorzRKJFV2UPZkBz6Bl1UNx9Rq32NyoweL0gxEbsOKXyyL/FG1mU+IoLilKUClK58YkhA3TqhvqWQuLeAZbeN6DorPctXtHDqoviIQcxsuXN0s1v1bca7ub4vv4fhm+rTm+L7+H4Zvq0GRwfKCWBVXMLb+XVgWjeHfQi8EjHMY1SVhax1Q2IRdenH7beRSws8keIQc2VSkiMkxUKzsbdNLEXAvckaHTS83xffw/DN9WnN8X38PwzfVoKOXlOwkiQSw5ZFgZXYZAwdnEl1ZgVKhVAXU3Nj6oYuUWJ5vHIxj3r4YYhV3ZUSy2F4EGYkN+Z+8XTokG2k2HM0hkM0eY2uN1KEbLwzRibISPWOodldnN8X38PwzfVoM9Pypm81TFnG9DXQnKyYuOEZhmFiY2LW8Dw0rj2nt2WSIxyMqFZCA2UjfbrGmKyC+hEaK54/pQeAN9bzfF9/D8M31ac3xffw/DN9WgpeXLMpV1ZWyRyZsM7FDKhy3OHkHm4hbWXjfMRpe45MXjSS7ZUBXygAuU5Wsqkbxb9Inr1F9eFaXm+L7+H4Zvq05vi+/h+Gb6tBSz8onQv0kj3cQkWPdNIZY9xnzx5WByrJ0bfuEHVlIh2jtR5tk45iw3iJiUVkOt1B3ZUqfOtlIK8TYjqrQc3xffw/DN9WnN8X38PwzfVoKPDriMPIoWRMmJkZ1j6UgjRIAcsbEi2dlJOlhn07TzYTlVM8SO8kEYkYLvAjsIJDGW3cynLlbeDLYkHXKbMVJ0vN8X38PwzfVpzfF9/D8M31aDP4jbciaK8MWabEKWaI8ViEi3UsDmJ0I4n1Go4dtz50JCwhsascqiMm6nAiWzm+rb2yXHEqo46G9m2ZiGdHaaHNHmyncOLZhlNwJbHTtqfm+L7+H4Zvq0GWwfKWaYJmkiC7wqehpIrYTeqGGbTp5hYH9W17g37cNt6bLEFCKcuFtFl8+OVVzuhvosd206hE1+IIvOb4vv4fhm+rTm+L7+H4Zvq0HByS2vNOPvihYw4aboIUs0qtmWxJ4FfHpVoqrOb4vv4fhm+rTm+L7+H4Zvq0FnSqzm+L7+H4Zvq05vi+/h+Gb6tBZ0qs5vi+/h+Gb6tOb4vv4fhm+rQWdKrOb4vv4fhm+rTm+L7+H4Zvq0FnSqzm+L7+H4Zvq05vi+/h+Gb6tBZ0qs5vi+/h+Gb6tOb4vv4fhm+rQWdKrOb4vv4fhm+rTm+L7+H4Zvq0FnSqzm+L7+H4Zvq05vi+/h+Gb6tBZ0qs5vi+/h+Gb6tOb4vv4fhm+rQWdK5sFHKL710fsyxlLeN2a/8AKumg+bYrkltCB5XiaDFJJK8xVrwSgu1yATmR7CwF8ugA4cM7tdoDpj8M8DC9nnjsAf3MSmZQeBFmvp1kWk+116ugIIIBB4g6g+IoPlGz5cTCM2ExrmPqSYjExW7AxOcDwkI16xYm6wvLzERaYrBlwOMuFfOLa6tC+VxoCbAt5reibWu0Ps/wMhLRo2GkOufDOYTftKL0GP8AEpqjxfI/aEOsE8OJQcFmBhk6iLSxgqToP1V4LrdVIC9f7QcBuZZFnXNEju0DXjm6AuRuns1+rh11cbB21DjIVmha6nQqdGRhxWReKsOsV8vxIDSpBi8I8cpzPGJEV1IS12jkS66XUdVtNAMoXzNjuZSnFQyRpLpvY3kCJiEAOj381xrlfjprcXzB9gpVRyV5RwbQw64jDsSjaFSLMjDirjqI/LrFxVvQKUpQKwP2kYuSPFbMCSSIGxChgjsocGfDLZwDZhlZhY341vq+d/ah/m9lf+pT/wCThKD6JSlKBSlKBSlKBSlKBSlKBSlKBSlKBSlKBSlKBSlKBSlKBSlKBSlKBSlKBSlKBSlKDKY/lDMmN3C5CDJAioyEZldXaT72+UMqqWC2u2Ui2txYpt5FJD5v0k6BiqqM0QL5eOpKhiO0KeFq6MXsKCQyF1JMpQsc7A5ozdChB6DKdQVsa9/I0OXKVuN6J9WJ+9BBve/aOHDj20FfJysiBYbuY5SFuEBXPvEiK5r2DB3A1Ivla17V27P2wksjxBWWSMKXVit1LAEAhWJ69D5pytYm1Rvydw5Z2Kv94yyMu9cJnVlfMqXyqSyqSQBexvxN+qPZsaymaxMhDKGLE5VYqWC34AlVNh2UFdt3kjhMZKkuIRnaNSq/eOgAJudEIvfTj2CsxyvwWy9lxRSDA4fO0gAsoVhGoLytn4krGrEC+pyjrr6JWG+1/wDycf8AvD+1L6j/AN9nGg1EGzYGUMlyrAFSJHsQRcEa9lSeSouxveP867aUHF5Ki10bW/7R+sW7a8eSouxveP8AOu6lBw+SYuxveP8AOsD9pODRMVswAGzYhAbux05xhRxJ0/CvplfMvtU3px2zgtrZ1aPo3vKMVhb5jcaWym3YGoPoB2VF2N1ftH6vxp5Ki7G94/zrtpQcQ2VF2N7x/nXjyTFa1m94/V+Nd1KDJbIx0c+PxuE3TKMIILSb5zn3yZ9V0y24cTV/5Ji7G94/zrIckv8AzzbPhgf7Jrb4yYpG7gXKqzWva9he19bflQQeSouxveP86eSotdG1v+0fr/Gq7ZvKaN4hNIYkjKqwKy7wglN4wcBRlKpZjxABvoBXXtHajJJAkaK5mz2JkygZUL8QrXBAoJvJUXY3vH+dePJMXY3vH+dcmC5SQut3O6cSPE6NrldGCm5GmS7LZjYdNeBNqni2/hmzWlU5ePHUh90QvpHedCwucxA4kUEnkmLsbT/Ufw7a8nZUXY3V+0fq/GoX25DlJWRScrkXuACuYESEAlNUcG4vdG0uCK9F25GXEalc2aNWvmC/eIXAjbLZzYXtppfstQdHkmLsb3j/ADrz5Ki7G94/zqJtvYccZV4qBx6WclVyadMMwIBW4JFq7cLiFkRXQhkYXBHWKDm8lRdjdR/SP1fjQ7Ki7G7P0j/Ou6lBw+SYuxveP868+SouxveP867aUHD5Ki10bW/7R+v8aeSouxveP867qUHCNlRdje8f508kxdje8f513UoOI7Ki7G94/wA6eSouxveP867aUHD5Ji7G94/zrz5Ki7G94/zrtpQcPkmLsb3j/OvI2VF2N7x/nXbSg4hsqLsb3j+PbVNysxUGAw7TujMA0aW3rjz5FUm9zawJb/prTVgvtiZlwaNYNErSGRSxUsObzADTqubnUcKDb4bDqgst7cdWLfzJNTVy7KRxDEJCDII0DkagsFFyL20veuqgUpSgUpSgVkvtH2Nh8VBEJ3CZZRZshfosCsigAGxaMtY9TBT1VraUFDFyowSKFEllUAAbt7AAWH6vC1Dyz2eBc4uFR2s+UfiWsBV9Xgigp8NyrwEmiYzCsewToT+V6sI9oRN5ssZ6tHB/+69psHG/nxo38Sg/1rhm5NYJ75sJhmvxvAhv/KgtAaqNtbATEzYWVjY4WUygWvmujLa/VqVa+vmVCORuBHmYdI/9q8X9srUY5IousWJxsfhi5JB7Mxdf5UGipWe8kY5BaPaBY/8AMYaOT+1ujXjPtROKYKf1h5MOfyKyj+dBoqVQeXp0/TYHEKBxeIpOv4BWEh9ivaHlhgiQrTCJjoEnVsOxPYFmCk0Ga5HYlG27tkBgSRg7D+CLK35MQK3uKhzoyXtmUrfsuLVRbC5PJFjcZjFKtzrc2sb23aZTbxOtaKgoZ+TKtFh0D2bDgAMURs65N2Q6sLEkAai1io6rg9eN2TneB1kKmDNl6IN8yZOkPDstVnSgzi8kY1ZHV2z3kMjOqOZTIwdicwsrXGhWwA0tYC3PgOTDMgMzFZUkmaK1vuw+K5wL2vnvljuOwEcda1dKDOy8lFZg+8If7wllUKxMmbMLj9mcw6BuOgp43JnTk8A4beNYNC9rDVokKcewi35Vd0oM9h+SqqIhvGIgCJFoLrEjq4VjxYnIgzdi9pJNvszBCGJYwSwW+p4m5J6vGuqlApSlApSlApSlApSlApSlApSlApSlArCfbMP+HN4v/Ym9R/p+XGt3WE+2Yf8ADm8X/szeo/0/LjQbiHzR4D+le9ekPmjwH9K96BSlKBSlKBSlKBSlZfbvKhsPNMmRGEUMUwBJDSGR5EyKeCnoaE6dLWwF6DUUrMY/lJJHM0eWMKMRHBmN+DwGbMQOsebb8fVXbjdqyJFA6hGM0kaX6WXLIdGANjwsbHtoLqlZ5eVMcbTR4m0ckLAHLdldWQyBk0v5oa6ngVIF7i/SOU+GzEZ2Fs/SMbhSUAYhWtZmysCANSL2vY0FxSqtdvwFxHdt4WKmPI2dSMl8y2uBaSM37GB4XNcMfKdCqjMc26w8xk3L7srNJkFk85SSDofN0J4Gg0VeksSsLMAwPURcfkarMVyiw8ebMzALvOkEYgmM2cKQDmZTxA10b0TbtwGOSZSyXsGZCGUqQymxBU2P/YoKybkjgzcpFuWJuWw7th2J7SYStz43qHyRjYv0GNzrf9HiohJp2LLHkceLZ/xrRUoM75dxMX+ZwUmUcZcM3OEt60ssv4BGqx2Vt3D4m4hlR2XzkvZ1/jjNmU+ogVY1W7V2DhsTYzQo7L5r2s6fwSCzKfAigsqVnDsjFwa4XEmRR+wxRMg8ExA+8XxbeeFTYXlKoYR4qNsLMTYCQgxuf9KcdBr9SmzfuigvaVAcZH6ae0Kc8j7xPaFBPSoOeR94ntCnPI/TT2hQT0qDncfpp7Q66c8j7xPaFBPSoOeR94ntCgxkfeJ7QoJ6VAcZH3ie0Kc8j9NPaFBPSoOeR94ntCnPI/TT2hQT0qA4yP009oU55H3ie0KCelQc8j7xPaFOdx+mntCgnpUHPI+8T2hTncfpp7QoJ6wX2yZmwaRgKBI8il2aypbDztdvVofkeFbYYyP009oVn+XOzEx2EaBZo1YvG2YvYZQ4Di411TOv/VagvdlTmSGJ2XIzRoxW98pKgkX0vbhXVUMWIjNlV1J6gGBP5eFTUClKUClKUClKUCqbafJyOdpWd5AJ4lglRWAVohn6PC4vne5BB6XhVzSgpjyci3m8DSA71JgAVyhkj3S20vbJpa9dm09mrOEBZlyOsilbXzLw84EWrtpQUknJqInOrypNvN6Z1YbxmK7shrgqVyWXLlsLAixANc8PJhXM2/LMrySNGobzQyKmYNbMJLA6km1/XWjpQUsvJqNyGd5GbeLKzHLdpFCBTovRICAdDLoWve5r0HJaIKFDyACKKHiuqxOZEJ6PEEkacQfCr2lBST8mIXDqS+RmlcKCLI8tzIyaXuxLcb2zta16ssDgliz5STndpDf0m42t1V00oFKUoFKUoFRYrDJKjJIivGwsyMoZWHYVOhFS0oMs2wZMGL4NVlhHHCSkGy/8tM2qEdSOSvUCnGrTZGLw2JQtEqnKcroyZXjcWusiEXRhpofUeFqtaotu7NdW53hl/wDFIAGQaDExA3Mb8BmtfIx81j6JYEJ9q7RwWGyjESYeHP5okZEzW7AeNZ3GfaPsWPU4iJtbdCJn18VU1a7f2Bg9r4RRIM0bqHilXSRA1iChI06rg9mor89bf+zbHYXFJhsm93t1hkXRZgq3y66RvZSdT1cTxoP09hY4nRXVFysAwumU2IuLgi4Nuo1JzSP0E9kV+YF25tvZRAd8VEi2AEql4ushFzgrr2qa1+xft3lU2xeGRlBszxFlK8bBla4LadRA8KD7hzWP0F9kU5pH6CeyKx2xPtV2ZidDMYXsCVnUpl8X1Tj+9Wzw+ISRQyMrqeDKQwPgRpQevNI/QT2RTmkfoJ7IqalBDzWP0F9kU5pH6CeyKmpQQnCR+gnsinNI/QT2RU1KCHmkfoJ7IoMLH6C+yKmpQQ80j9BPZFOap6C+yKmpQQ80j9BPZFOaR+gnsipqUESYZAbhFB7QoBqWlKBSlKBSlKBSlKBSlKBSlKBSlKBSlKBSlKBSlKBSlKBSlKBSlKCg5Gm0c8ZOsWKxK27FaQyqPDJItvURV/as5tQ8ynbF682lCrigBfdsosk+n6oXov2AI2gU30MbhgGUgqQCCDcEHgQesUHiWNWBVgGU8QRcHxBrH7b+y7ZeJuTh1ifXpw2jOvXltkJ8VNbOlB8K239g0i3OExKvbzUmUKb3HF1BDaX0KiqLkzyH2tg8dh4yk8MbTJmkie6ZQVLF3TQqQrWVrfz1/SVKCj2jMy4/CjMyxtFibjMQjOphy3HAsFMhH49mlc225YdFyOvSl6bsXdTiDGFjP8JXLxHAW1uL/GYmEyJBIuZ5FZ1UoWUhMoY3tlBGZePpVBgEgxDLikueiY1zLYDKxuQrDMDe4vQVcXKeTe7loxnzyRaXsJVbMqnW92w/31uoA+q/FheUD4k4RzlRXmUgJLqVfDYhikqqTqrKONtRwUrWtjxSNK8Y89AjtppZ8wUg9Z6DD8K9mjjUEkIovmJsB0jpc+s9tBi9j7fdIYrWd+bbLJeSVzm5xK8JLDUZhYtcatexOgrtTlY5KJli3jMFtnsHIxL4dyuvRChM9je98o1BrRYKWKUMUUWV2jN1t0o2INr9QPA1BitixyPmJbKQFaMWyMASdQQSOJvlIv13oKvam8fHCNSxUwBioneLL96FLqF0LBSdDa9hXTyc242KL3VAljazgupDMjLIoJIIsNTbXMLdG5vN2L3sL9ttfzrlOIiWYRWtJKryaLowQorFm4X6a8dfyoMDs3bMiQyvJIxBwU0iI8zEYh0ZiWSW+aIooCkLr94D1Vc8oNvMYMaquibqGYWzss2YYcTK6EcF1tf929+qr9cbAX3QW5DFP0ZKCTJnK5rWBy6/jbjpUuKmiR41ZRmmJiU5b3yq0mUnqFlY69lBDsTHtLvlfLmhl3RK3segkgNjqDZwPwv12qzqMlV7BmNh1XNv5mw/lSCXMoaxFwDZhZhftHUaCSlKUClKUClKUClKUClKUCufFY+KMgSSIhIJAZwtwOJF+rh+ddFZ2LCtHi8W0kZkTELEI2ChhkRChif0RmLNr0TvTroaDRV6TSqilmICqCSSbAAakk9QrIbaGOyz7neiYc4C2tuzFuW3O6voJN7uxrrfPfo2r0xeGxe8YqcQQvOxEc2t3hiMZYdYz70C404cLUG0BvXmshOmO3haMy3zWUNbd5Tgzqw7OcBdeI16ia4JY8e0JKNiwxixDKrBFZZwkW7Xi1xnDnVrG7DzbUG+qOLEIwJVlIUlSQQbMuhB7COsVitsR4xY8TuFxG9aWaSNgbj9CDGACfNLaWPRBFiDoDd4LCncYtXiYiSSc7vzWdGHAG+lxpe9BaQ7ShewWWNixyrZwbnLmsLHU5Rfw1qbETqis7sFRQWZmNgoGpJJ0ArErszE3jQtM8ccpKT5BHPk5tMlpSLZirMihwATm9RJ9cVDjpUnWQTEth2CIFXI+bChSGOawff5uq+o1y3sG1ONjDiPOu8YXVMwzEDsHXU9UmxcIyz4l2DgM0RXN5ptEqnKOoggirugUpSgUpSgEVnJtnT4Ql8Gokg4tgyQuXW5OFc6ITr921kJ4FNb6OlBW7I23DicwQkSJ58LqUlj/jjbUDsPA9RNWVVu2NhwYnLvVOdNUlRiksZ/05Fsy+sXseu9VwTH4bgRjYR1MVixI8GAEUv47vxNBo6VS4HlRh5GEbM0Mx0EM6mJyePQDaSeKFh66uqCl2pslpcXBLpuo450a0jI+aQxFbZeI6Bvc9Yqn2TsB42ijJUMEYTWzOCqytLAQ7AdIMTcdYv2CtlSgxWC5Ky5k3seHygYYSWctvTEJw7sCmpbeKdSb63Pb5xnJWV1IIiJBkNyT9+GnSaMSCxtkVcoOtj5tgSK2lKDFYvktiC7vGYkZhigbOwz7yWGSNXsvm5Y5FPHLvDYG5rzLyTdo5gI4lZ8O8cYMjPu5XaQ6OV6K9P9UC2oAtx2lKDITcmZVaVoUgUtzkKCWAyyxIFVsqghTIGYgHrvqSam2BsKaGWNnyZEGLFg9zaaSJ1sAiqLZGBAsOFvVqaUGWx3J+Z8Q8sTDDs+dZJI3JEqGJkQvCRl3qNkIcG9ktextUKcm5jJG9oo0BUvErEqGGHnhZ16IuzGVBrboxA8dK19KDG4Xk5PmgaVIWMTYc23ha5jhliZgSnG7qR2heqmE5MzqkSMYyVhwqBw7Xhkhcs7RkjpZwQOq+WzXB02VKDFLyUlCMoEYzRwg5H4yRyStch0KuMrqLMNQCNLA1N5Cxvbgvdy/wD6rX0oFKUoFKUoFKUoFKUoFKUoFKUoFKUoFKUoFKUoFKUoFKUoFKUoFKUoFKUoIcXhI5UKSoroeKuoZT4g6VR/4UWP/KTz4XsRGEkPgIZQyqvqTLWipQZ4TbRh8+ODFL6UTGCX3UhZCfXvF8K9/wDFkCf5hZsMbXO/jKoPGZc0X/vq+pQc+Cx8UyhopI5FOoZHDgjxUkV0VT4zktgpWzvhot53irkk/CRLMPzrnHJgp+gxeLit1GUTr4WxAkNvAig0FKoeb7RThNhZh1B4Xib8XRmH5JXgbSxyj7zBI3+xila/gJVi/rQX9KoP8TZReXB42Pt+5339hpL0PLLBAXeYRf7yPDbx3qragv6VUYXlTgZNI8ZhnPYs6E/kDVjDikfzXVvBgf6UE1KUoFKUoFKUoFKUoFKUoFKUoFKUoFKUoFKUoFKUoFKUoFKUoFKUoFKUoFKUoFKUoFKUoFKUoFKUoFKUoFKUoOfEYGKTz40b+JA39azu0OSmAzX5lhbk8ebx3/PLSlBitqYSOK27RE1I6ChdOzTqrHybTnBYCaUAE6CRgOPjXmlBa8kdpztjcMDNKQZVBBkYgi/WL195pSg//9k="/>
          <p:cNvSpPr>
            <a:spLocks noChangeAspect="1" noChangeArrowheads="1"/>
          </p:cNvSpPr>
          <p:nvPr/>
        </p:nvSpPr>
        <p:spPr bwMode="auto">
          <a:xfrm>
            <a:off x="307975" y="-2179638"/>
            <a:ext cx="11458575" cy="48672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2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1791" y="1196752"/>
            <a:ext cx="4222427" cy="18046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85728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74" y="44624"/>
            <a:ext cx="5882317" cy="3744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93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3861048"/>
            <a:ext cx="6937251" cy="2900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227597" y="3856686"/>
            <a:ext cx="1807636" cy="2862322"/>
          </a:xfrm>
          <a:prstGeom prst="rect">
            <a:avLst/>
          </a:prstGeom>
        </p:spPr>
        <p:txBody>
          <a:bodyPr wrap="square">
            <a:spAutoFit/>
          </a:bodyPr>
          <a:lstStyle/>
          <a:p>
            <a:r>
              <a:rPr lang="en-GB" i="1"/>
              <a:t>Schematic diagram showing the relative abundance of Precambrian BIFs vs. time, with several of the major BIFs or major BIF regions identified. </a:t>
            </a:r>
          </a:p>
        </p:txBody>
      </p:sp>
      <p:sp>
        <p:nvSpPr>
          <p:cNvPr id="6" name="Rectangle 5"/>
          <p:cNvSpPr/>
          <p:nvPr/>
        </p:nvSpPr>
        <p:spPr>
          <a:xfrm>
            <a:off x="5953691" y="58730"/>
            <a:ext cx="2843808" cy="2031325"/>
          </a:xfrm>
          <a:prstGeom prst="rect">
            <a:avLst/>
          </a:prstGeom>
        </p:spPr>
        <p:txBody>
          <a:bodyPr wrap="square">
            <a:spAutoFit/>
          </a:bodyPr>
          <a:lstStyle/>
          <a:p>
            <a:r>
              <a:rPr lang="en-GB" i="1"/>
              <a:t>Global occurrence of Precambrian BIFs. The map emphasizes the wide distribution of BIF and shows only a selection of well-known occurrences of different ages and kinds. </a:t>
            </a:r>
          </a:p>
        </p:txBody>
      </p:sp>
    </p:spTree>
    <p:extLst>
      <p:ext uri="{BB962C8B-B14F-4D97-AF65-F5344CB8AC3E}">
        <p14:creationId xmlns:p14="http://schemas.microsoft.com/office/powerpoint/2010/main" val="1434554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9" name="Rectangle 7"/>
          <p:cNvSpPr>
            <a:spLocks noChangeArrowheads="1"/>
          </p:cNvSpPr>
          <p:nvPr/>
        </p:nvSpPr>
        <p:spPr bwMode="auto">
          <a:xfrm>
            <a:off x="-11113" y="4606925"/>
            <a:ext cx="9144001" cy="79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marL="457200" indent="-457200">
              <a:buFont typeface="Arial" panose="020B0604020202020204" pitchFamily="34" charset="0"/>
              <a:buChar char="•"/>
              <a:defRPr/>
            </a:pPr>
            <a:endParaRPr lang="en-US" sz="2800" u="sng">
              <a:latin typeface="+mj-lt"/>
              <a:ea typeface="ＭＳ Ｐゴシック" charset="0"/>
            </a:endParaRPr>
          </a:p>
        </p:txBody>
      </p:sp>
      <p:sp>
        <p:nvSpPr>
          <p:cNvPr id="33804" name="Text Box 12"/>
          <p:cNvSpPr txBox="1">
            <a:spLocks noChangeArrowheads="1"/>
          </p:cNvSpPr>
          <p:nvPr/>
        </p:nvSpPr>
        <p:spPr bwMode="auto">
          <a:xfrm>
            <a:off x="7535863" y="4640263"/>
            <a:ext cx="14509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285750" indent="-285750">
              <a:buFont typeface="Arial" panose="020B0604020202020204" pitchFamily="34" charset="0"/>
              <a:buChar char="•"/>
              <a:defRPr/>
            </a:pPr>
            <a:endParaRPr lang="en-US">
              <a:latin typeface="+mj-lt"/>
              <a:ea typeface="ＭＳ Ｐゴシック" charset="0"/>
            </a:endParaRPr>
          </a:p>
        </p:txBody>
      </p:sp>
      <p:sp>
        <p:nvSpPr>
          <p:cNvPr id="33809" name="Text Box 17"/>
          <p:cNvSpPr txBox="1">
            <a:spLocks noChangeArrowheads="1"/>
          </p:cNvSpPr>
          <p:nvPr/>
        </p:nvSpPr>
        <p:spPr bwMode="auto">
          <a:xfrm>
            <a:off x="5111750" y="6153150"/>
            <a:ext cx="14509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285750" indent="-285750">
              <a:buFont typeface="Arial" panose="020B0604020202020204" pitchFamily="34" charset="0"/>
              <a:buChar char="•"/>
              <a:defRPr/>
            </a:pPr>
            <a:endParaRPr lang="en-US">
              <a:latin typeface="+mj-lt"/>
              <a:ea typeface="ＭＳ Ｐゴシック" charset="0"/>
            </a:endParaRPr>
          </a:p>
        </p:txBody>
      </p:sp>
      <p:pic>
        <p:nvPicPr>
          <p:cNvPr id="6" name="Picture 5">
            <a:extLst>
              <a:ext uri="{FF2B5EF4-FFF2-40B4-BE49-F238E27FC236}">
                <a16:creationId xmlns:a16="http://schemas.microsoft.com/office/drawing/2014/main" id="{1798FFCC-5FC3-4523-451A-8B8A35CC1613}"/>
              </a:ext>
            </a:extLst>
          </p:cNvPr>
          <p:cNvPicPr>
            <a:picLocks noChangeAspect="1"/>
          </p:cNvPicPr>
          <p:nvPr/>
        </p:nvPicPr>
        <p:blipFill>
          <a:blip r:embed="rId3"/>
          <a:stretch>
            <a:fillRect/>
          </a:stretch>
        </p:blipFill>
        <p:spPr>
          <a:xfrm>
            <a:off x="1852372" y="260978"/>
            <a:ext cx="5993179" cy="6258886"/>
          </a:xfrm>
          <a:prstGeom prst="rect">
            <a:avLst/>
          </a:prstGeom>
        </p:spPr>
      </p:pic>
    </p:spTree>
    <p:extLst>
      <p:ext uri="{BB962C8B-B14F-4D97-AF65-F5344CB8AC3E}">
        <p14:creationId xmlns:p14="http://schemas.microsoft.com/office/powerpoint/2010/main" val="26059138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895E4-8619-B4E1-1E27-17210C4875CC}"/>
              </a:ext>
            </a:extLst>
          </p:cNvPr>
          <p:cNvSpPr>
            <a:spLocks noGrp="1"/>
          </p:cNvSpPr>
          <p:nvPr>
            <p:ph type="title"/>
          </p:nvPr>
        </p:nvSpPr>
        <p:spPr/>
        <p:txBody>
          <a:bodyPr/>
          <a:lstStyle/>
          <a:p>
            <a:pPr algn="l"/>
            <a:r>
              <a:rPr lang="en-GB" dirty="0"/>
              <a:t>Steel making</a:t>
            </a:r>
          </a:p>
        </p:txBody>
      </p:sp>
      <p:sp>
        <p:nvSpPr>
          <p:cNvPr id="7" name="TextBox 6">
            <a:extLst>
              <a:ext uri="{FF2B5EF4-FFF2-40B4-BE49-F238E27FC236}">
                <a16:creationId xmlns:a16="http://schemas.microsoft.com/office/drawing/2014/main" id="{D90A98C0-FC29-326E-3526-6D49CA2FDA0F}"/>
              </a:ext>
            </a:extLst>
          </p:cNvPr>
          <p:cNvSpPr txBox="1"/>
          <p:nvPr/>
        </p:nvSpPr>
        <p:spPr>
          <a:xfrm>
            <a:off x="6764694" y="6398696"/>
            <a:ext cx="2379306" cy="369332"/>
          </a:xfrm>
          <a:prstGeom prst="rect">
            <a:avLst/>
          </a:prstGeom>
          <a:noFill/>
        </p:spPr>
        <p:txBody>
          <a:bodyPr wrap="none" rtlCol="0">
            <a:spAutoFit/>
          </a:bodyPr>
          <a:lstStyle/>
          <a:p>
            <a:r>
              <a:rPr lang="en-GB" dirty="0">
                <a:hlinkClick r:id="rId2"/>
              </a:rPr>
              <a:t>Blast furnace processes</a:t>
            </a:r>
            <a:endParaRPr lang="en-GB" dirty="0"/>
          </a:p>
        </p:txBody>
      </p:sp>
      <p:pic>
        <p:nvPicPr>
          <p:cNvPr id="9" name="Picture 8">
            <a:extLst>
              <a:ext uri="{FF2B5EF4-FFF2-40B4-BE49-F238E27FC236}">
                <a16:creationId xmlns:a16="http://schemas.microsoft.com/office/drawing/2014/main" id="{3EB02078-4309-AED9-AD9D-2D558D429B18}"/>
              </a:ext>
            </a:extLst>
          </p:cNvPr>
          <p:cNvPicPr>
            <a:picLocks noChangeAspect="1"/>
          </p:cNvPicPr>
          <p:nvPr/>
        </p:nvPicPr>
        <p:blipFill>
          <a:blip r:embed="rId3"/>
          <a:stretch>
            <a:fillRect/>
          </a:stretch>
        </p:blipFill>
        <p:spPr>
          <a:xfrm>
            <a:off x="651752" y="1532299"/>
            <a:ext cx="7484850" cy="4430755"/>
          </a:xfrm>
          <a:prstGeom prst="rect">
            <a:avLst/>
          </a:prstGeom>
        </p:spPr>
      </p:pic>
    </p:spTree>
    <p:extLst>
      <p:ext uri="{BB962C8B-B14F-4D97-AF65-F5344CB8AC3E}">
        <p14:creationId xmlns:p14="http://schemas.microsoft.com/office/powerpoint/2010/main" val="7949243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64AF36-B581-A655-1587-0A3D2EEC4CF7}"/>
              </a:ext>
            </a:extLst>
          </p:cNvPr>
          <p:cNvPicPr>
            <a:picLocks noChangeAspect="1"/>
          </p:cNvPicPr>
          <p:nvPr/>
        </p:nvPicPr>
        <p:blipFill>
          <a:blip r:embed="rId2"/>
          <a:stretch>
            <a:fillRect/>
          </a:stretch>
        </p:blipFill>
        <p:spPr>
          <a:xfrm>
            <a:off x="482600" y="747412"/>
            <a:ext cx="3968749" cy="5363175"/>
          </a:xfrm>
          <a:prstGeom prst="rect">
            <a:avLst/>
          </a:prstGeom>
        </p:spPr>
      </p:pic>
      <p:pic>
        <p:nvPicPr>
          <p:cNvPr id="7" name="Picture 6">
            <a:extLst>
              <a:ext uri="{FF2B5EF4-FFF2-40B4-BE49-F238E27FC236}">
                <a16:creationId xmlns:a16="http://schemas.microsoft.com/office/drawing/2014/main" id="{B3C7FA67-CA20-9F25-C353-44AE8ECFC6C1}"/>
              </a:ext>
            </a:extLst>
          </p:cNvPr>
          <p:cNvPicPr>
            <a:picLocks noChangeAspect="1"/>
          </p:cNvPicPr>
          <p:nvPr/>
        </p:nvPicPr>
        <p:blipFill>
          <a:blip r:embed="rId3"/>
          <a:stretch>
            <a:fillRect/>
          </a:stretch>
        </p:blipFill>
        <p:spPr>
          <a:xfrm>
            <a:off x="4692648" y="1613296"/>
            <a:ext cx="3968751" cy="3631407"/>
          </a:xfrm>
          <a:prstGeom prst="rect">
            <a:avLst/>
          </a:prstGeom>
        </p:spPr>
      </p:pic>
      <p:sp>
        <p:nvSpPr>
          <p:cNvPr id="8" name="TextBox 7">
            <a:extLst>
              <a:ext uri="{FF2B5EF4-FFF2-40B4-BE49-F238E27FC236}">
                <a16:creationId xmlns:a16="http://schemas.microsoft.com/office/drawing/2014/main" id="{6F23364E-B9D2-9960-C7FE-5F42CE5CF49A}"/>
              </a:ext>
            </a:extLst>
          </p:cNvPr>
          <p:cNvSpPr txBox="1"/>
          <p:nvPr/>
        </p:nvSpPr>
        <p:spPr>
          <a:xfrm>
            <a:off x="7237644" y="6419088"/>
            <a:ext cx="1906356" cy="307777"/>
          </a:xfrm>
          <a:prstGeom prst="rect">
            <a:avLst/>
          </a:prstGeom>
          <a:noFill/>
        </p:spPr>
        <p:txBody>
          <a:bodyPr wrap="none" rtlCol="0">
            <a:spAutoFit/>
          </a:bodyPr>
          <a:lstStyle/>
          <a:p>
            <a:r>
              <a:rPr lang="en-GB" sz="1400" dirty="0">
                <a:hlinkClick r:id="rId4"/>
              </a:rPr>
              <a:t>World Steel Association</a:t>
            </a:r>
            <a:endParaRPr lang="en-GB" sz="1400" dirty="0"/>
          </a:p>
        </p:txBody>
      </p:sp>
    </p:spTree>
    <p:extLst>
      <p:ext uri="{BB962C8B-B14F-4D97-AF65-F5344CB8AC3E}">
        <p14:creationId xmlns:p14="http://schemas.microsoft.com/office/powerpoint/2010/main" val="3695229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Summary -Fe</a:t>
            </a:r>
          </a:p>
        </p:txBody>
      </p:sp>
      <p:sp>
        <p:nvSpPr>
          <p:cNvPr id="3" name="Content Placeholder 2"/>
          <p:cNvSpPr>
            <a:spLocks noGrp="1"/>
          </p:cNvSpPr>
          <p:nvPr>
            <p:ph idx="1"/>
          </p:nvPr>
        </p:nvSpPr>
        <p:spPr/>
        <p:txBody>
          <a:bodyPr>
            <a:normAutofit fontScale="92500" lnSpcReduction="20000"/>
          </a:bodyPr>
          <a:lstStyle/>
          <a:p>
            <a:r>
              <a:rPr lang="en-GB" dirty="0"/>
              <a:t>Worlds reserves are widespread and critical to the steel industry</a:t>
            </a:r>
          </a:p>
          <a:p>
            <a:r>
              <a:rPr lang="en-GB" dirty="0"/>
              <a:t>2.3+ million metric tons of iron ore produced per year</a:t>
            </a:r>
          </a:p>
          <a:p>
            <a:r>
              <a:rPr lang="en-GB" dirty="0"/>
              <a:t>3</a:t>
            </a:r>
            <a:r>
              <a:rPr lang="en-GB" baseline="30000" dirty="0"/>
              <a:t>rd</a:t>
            </a:r>
            <a:r>
              <a:rPr lang="en-GB" dirty="0"/>
              <a:t> most abundant element</a:t>
            </a:r>
          </a:p>
          <a:p>
            <a:r>
              <a:rPr lang="en-GB" dirty="0"/>
              <a:t>Deposits formed through igneous, sedimentary and metamorphic activity</a:t>
            </a:r>
          </a:p>
          <a:p>
            <a:r>
              <a:rPr lang="en-GB" dirty="0"/>
              <a:t>Main ore minerals are magnetite and hematite</a:t>
            </a:r>
          </a:p>
          <a:p>
            <a:r>
              <a:rPr lang="en-GB" dirty="0"/>
              <a:t>Main ore deposit are Banded Iron Formations (BIFs) which are Precambrian in age</a:t>
            </a:r>
          </a:p>
        </p:txBody>
      </p:sp>
    </p:spTree>
    <p:extLst>
      <p:ext uri="{BB962C8B-B14F-4D97-AF65-F5344CB8AC3E}">
        <p14:creationId xmlns:p14="http://schemas.microsoft.com/office/powerpoint/2010/main" val="333091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A2C842-1D72-2245-B860-AD5AC1DEEBBB}"/>
              </a:ext>
            </a:extLst>
          </p:cNvPr>
          <p:cNvPicPr>
            <a:picLocks noChangeAspect="1"/>
          </p:cNvPicPr>
          <p:nvPr/>
        </p:nvPicPr>
        <p:blipFill rotWithShape="1">
          <a:blip r:embed="rId2"/>
          <a:srcRect l="12367" r="10277" b="-1"/>
          <a:stretch/>
        </p:blipFill>
        <p:spPr>
          <a:xfrm>
            <a:off x="2186591" y="10"/>
            <a:ext cx="6957409" cy="6857990"/>
          </a:xfrm>
          <a:custGeom>
            <a:avLst/>
            <a:gdLst/>
            <a:ahLst/>
            <a:cxnLst/>
            <a:rect l="l" t="t" r="r" b="b"/>
            <a:pathLst>
              <a:path w="9276545" h="6871647">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p:spPr>
      </p:pic>
      <p:sp>
        <p:nvSpPr>
          <p:cNvPr id="2" name="Title 1">
            <a:extLst>
              <a:ext uri="{FF2B5EF4-FFF2-40B4-BE49-F238E27FC236}">
                <a16:creationId xmlns:a16="http://schemas.microsoft.com/office/drawing/2014/main" id="{B525BBE0-DEF1-6E44-97B3-618D56C291DC}"/>
              </a:ext>
            </a:extLst>
          </p:cNvPr>
          <p:cNvSpPr>
            <a:spLocks noGrp="1"/>
          </p:cNvSpPr>
          <p:nvPr>
            <p:ph type="title"/>
          </p:nvPr>
        </p:nvSpPr>
        <p:spPr>
          <a:xfrm>
            <a:off x="496437" y="2852381"/>
            <a:ext cx="2371455" cy="2640247"/>
          </a:xfrm>
        </p:spPr>
        <p:txBody>
          <a:bodyPr vert="horz" lIns="91440" tIns="45720" rIns="91440" bIns="45720" rtlCol="0" anchor="b">
            <a:normAutofit/>
          </a:bodyPr>
          <a:lstStyle/>
          <a:p>
            <a:pPr>
              <a:lnSpc>
                <a:spcPct val="90000"/>
              </a:lnSpc>
            </a:pPr>
            <a:r>
              <a:rPr lang="en-US" sz="3100" b="1">
                <a:solidFill>
                  <a:schemeClr val="tx1">
                    <a:lumMod val="85000"/>
                    <a:lumOff val="15000"/>
                  </a:schemeClr>
                </a:solidFill>
              </a:rPr>
              <a:t>BATTERY ELEMENTS</a:t>
            </a:r>
            <a:br>
              <a:rPr lang="en-US" sz="3100" b="1">
                <a:solidFill>
                  <a:schemeClr val="tx1">
                    <a:lumMod val="85000"/>
                    <a:lumOff val="15000"/>
                  </a:schemeClr>
                </a:solidFill>
              </a:rPr>
            </a:br>
            <a:endParaRPr lang="en-US" sz="3100">
              <a:solidFill>
                <a:schemeClr val="tx1">
                  <a:lumMod val="85000"/>
                  <a:lumOff val="15000"/>
                </a:schemeClr>
              </a:solidFill>
            </a:endParaRPr>
          </a:p>
        </p:txBody>
      </p:sp>
      <p:sp>
        <p:nvSpPr>
          <p:cNvPr id="7" name="Text Placeholder 6">
            <a:extLst>
              <a:ext uri="{FF2B5EF4-FFF2-40B4-BE49-F238E27FC236}">
                <a16:creationId xmlns:a16="http://schemas.microsoft.com/office/drawing/2014/main" id="{B71C08D7-F5FA-E10F-49C2-D8CA92BAC8E4}"/>
              </a:ext>
            </a:extLst>
          </p:cNvPr>
          <p:cNvSpPr>
            <a:spLocks noGrp="1"/>
          </p:cNvSpPr>
          <p:nvPr>
            <p:ph type="body" idx="1"/>
          </p:nvPr>
        </p:nvSpPr>
        <p:spPr>
          <a:xfrm>
            <a:off x="496436" y="5676901"/>
            <a:ext cx="2479567" cy="665802"/>
          </a:xfrm>
        </p:spPr>
        <p:txBody>
          <a:bodyPr vert="horz" lIns="91440" tIns="45720" rIns="91440" bIns="45720" rtlCol="0">
            <a:normAutofit/>
          </a:bodyPr>
          <a:lstStyle/>
          <a:p>
            <a:pPr>
              <a:lnSpc>
                <a:spcPct val="90000"/>
              </a:lnSpc>
              <a:spcBef>
                <a:spcPts val="1000"/>
              </a:spcBef>
            </a:pPr>
            <a:endParaRPr lang="en-US" sz="1400">
              <a:solidFill>
                <a:schemeClr val="tx1">
                  <a:lumMod val="85000"/>
                  <a:lumOff val="15000"/>
                </a:schemeClr>
              </a:solidFill>
            </a:endParaRPr>
          </a:p>
        </p:txBody>
      </p:sp>
    </p:spTree>
    <p:extLst>
      <p:ext uri="{BB962C8B-B14F-4D97-AF65-F5344CB8AC3E}">
        <p14:creationId xmlns:p14="http://schemas.microsoft.com/office/powerpoint/2010/main" val="10348627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a:t>Learning outcomes</a:t>
            </a:r>
          </a:p>
        </p:txBody>
      </p:sp>
      <p:sp>
        <p:nvSpPr>
          <p:cNvPr id="3" name="Content Placeholder 2"/>
          <p:cNvSpPr>
            <a:spLocks noGrp="1"/>
          </p:cNvSpPr>
          <p:nvPr>
            <p:ph idx="1"/>
          </p:nvPr>
        </p:nvSpPr>
        <p:spPr/>
        <p:txBody>
          <a:bodyPr>
            <a:normAutofit fontScale="85000" lnSpcReduction="20000"/>
          </a:bodyPr>
          <a:lstStyle/>
          <a:p>
            <a:r>
              <a:rPr lang="en-GB" dirty="0"/>
              <a:t>Explain Li-ion battery technology</a:t>
            </a:r>
          </a:p>
          <a:p>
            <a:r>
              <a:rPr lang="en-GB" dirty="0"/>
              <a:t>Discuss key battery elements:</a:t>
            </a:r>
          </a:p>
          <a:p>
            <a:pPr lvl="1"/>
            <a:r>
              <a:rPr lang="en-GB" dirty="0"/>
              <a:t>Manganese</a:t>
            </a:r>
          </a:p>
          <a:p>
            <a:pPr lvl="1"/>
            <a:r>
              <a:rPr lang="en-GB" dirty="0"/>
              <a:t>Aluminium</a:t>
            </a:r>
          </a:p>
          <a:p>
            <a:pPr lvl="1"/>
            <a:r>
              <a:rPr lang="en-GB" dirty="0"/>
              <a:t>Nickel</a:t>
            </a:r>
          </a:p>
          <a:p>
            <a:pPr lvl="1"/>
            <a:r>
              <a:rPr lang="en-GB" dirty="0"/>
              <a:t>Copper</a:t>
            </a:r>
          </a:p>
          <a:p>
            <a:pPr lvl="1"/>
            <a:r>
              <a:rPr lang="en-GB" dirty="0"/>
              <a:t>Cobalt</a:t>
            </a:r>
          </a:p>
          <a:p>
            <a:pPr lvl="1"/>
            <a:r>
              <a:rPr lang="en-GB" dirty="0"/>
              <a:t>Lithium</a:t>
            </a:r>
          </a:p>
          <a:p>
            <a:r>
              <a:rPr lang="en-GB" dirty="0"/>
              <a:t>Geological settings of ore deposits</a:t>
            </a:r>
          </a:p>
          <a:p>
            <a:r>
              <a:rPr lang="en-GB" dirty="0"/>
              <a:t>Mineralogy of ore deposits</a:t>
            </a:r>
          </a:p>
          <a:p>
            <a:r>
              <a:rPr lang="en-GB" dirty="0"/>
              <a:t>Production of the pure material</a:t>
            </a:r>
          </a:p>
          <a:p>
            <a:endParaRPr lang="en-GB" dirty="0"/>
          </a:p>
        </p:txBody>
      </p:sp>
      <p:pic>
        <p:nvPicPr>
          <p:cNvPr id="4" name="Picture 3">
            <a:extLst>
              <a:ext uri="{FF2B5EF4-FFF2-40B4-BE49-F238E27FC236}">
                <a16:creationId xmlns:a16="http://schemas.microsoft.com/office/drawing/2014/main" id="{6BB698A3-3AF2-4687-9CD6-5A78F9977BDA}"/>
              </a:ext>
            </a:extLst>
          </p:cNvPr>
          <p:cNvPicPr>
            <a:picLocks noChangeAspect="1"/>
          </p:cNvPicPr>
          <p:nvPr/>
        </p:nvPicPr>
        <p:blipFill>
          <a:blip r:embed="rId3"/>
          <a:stretch>
            <a:fillRect/>
          </a:stretch>
        </p:blipFill>
        <p:spPr>
          <a:xfrm>
            <a:off x="5846698" y="675315"/>
            <a:ext cx="2685742" cy="2654146"/>
          </a:xfrm>
          <a:prstGeom prst="rect">
            <a:avLst/>
          </a:prstGeom>
        </p:spPr>
      </p:pic>
      <p:pic>
        <p:nvPicPr>
          <p:cNvPr id="5" name="Picture 4">
            <a:extLst>
              <a:ext uri="{FF2B5EF4-FFF2-40B4-BE49-F238E27FC236}">
                <a16:creationId xmlns:a16="http://schemas.microsoft.com/office/drawing/2014/main" id="{D389577E-8ACB-4AA5-9051-808F66D4C6F5}"/>
              </a:ext>
            </a:extLst>
          </p:cNvPr>
          <p:cNvPicPr>
            <a:picLocks noChangeAspect="1"/>
          </p:cNvPicPr>
          <p:nvPr/>
        </p:nvPicPr>
        <p:blipFill>
          <a:blip r:embed="rId4"/>
          <a:stretch>
            <a:fillRect/>
          </a:stretch>
        </p:blipFill>
        <p:spPr>
          <a:xfrm>
            <a:off x="5846698" y="3528540"/>
            <a:ext cx="2685742" cy="2732857"/>
          </a:xfrm>
          <a:prstGeom prst="rect">
            <a:avLst/>
          </a:prstGeom>
        </p:spPr>
      </p:pic>
    </p:spTree>
    <p:extLst>
      <p:ext uri="{BB962C8B-B14F-4D97-AF65-F5344CB8AC3E}">
        <p14:creationId xmlns:p14="http://schemas.microsoft.com/office/powerpoint/2010/main" val="3444585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022554" y="405686"/>
            <a:ext cx="6701089" cy="4576097"/>
          </a:xfrm>
          <a:prstGeom prst="rect">
            <a:avLst/>
          </a:prstGeom>
        </p:spPr>
      </p:pic>
      <p:sp>
        <p:nvSpPr>
          <p:cNvPr id="5" name="TextBox 4"/>
          <p:cNvSpPr txBox="1"/>
          <p:nvPr/>
        </p:nvSpPr>
        <p:spPr>
          <a:xfrm>
            <a:off x="616525" y="5295166"/>
            <a:ext cx="8148933" cy="830997"/>
          </a:xfrm>
          <a:prstGeom prst="rect">
            <a:avLst/>
          </a:prstGeom>
          <a:noFill/>
        </p:spPr>
        <p:txBody>
          <a:bodyPr wrap="square" rtlCol="0">
            <a:spAutoFit/>
          </a:bodyPr>
          <a:lstStyle/>
          <a:p>
            <a:r>
              <a:rPr lang="en-US" sz="2400" dirty="0"/>
              <a:t>UK: </a:t>
            </a:r>
            <a:r>
              <a:rPr lang="en-US" sz="2400" i="1" dirty="0"/>
              <a:t>All new cars and vans will need to be 100% zero emission by 2035. And no new petrol or diesel cars will be sold after 2030</a:t>
            </a:r>
            <a:endParaRPr lang="en-GB" sz="2400" i="1" dirty="0"/>
          </a:p>
        </p:txBody>
      </p:sp>
      <p:sp>
        <p:nvSpPr>
          <p:cNvPr id="8" name="TextBox 7">
            <a:extLst>
              <a:ext uri="{FF2B5EF4-FFF2-40B4-BE49-F238E27FC236}">
                <a16:creationId xmlns:a16="http://schemas.microsoft.com/office/drawing/2014/main" id="{B00F986C-1258-BCD7-61DA-936EECF6D648}"/>
              </a:ext>
            </a:extLst>
          </p:cNvPr>
          <p:cNvSpPr txBox="1"/>
          <p:nvPr/>
        </p:nvSpPr>
        <p:spPr>
          <a:xfrm>
            <a:off x="5390024" y="6398696"/>
            <a:ext cx="3753976" cy="369332"/>
          </a:xfrm>
          <a:prstGeom prst="rect">
            <a:avLst/>
          </a:prstGeom>
          <a:noFill/>
        </p:spPr>
        <p:txBody>
          <a:bodyPr wrap="none" rtlCol="0">
            <a:spAutoFit/>
          </a:bodyPr>
          <a:lstStyle/>
          <a:p>
            <a:r>
              <a:rPr lang="en-GB" dirty="0">
                <a:hlinkClick r:id="rId4"/>
              </a:rPr>
              <a:t>UK Government (DfT) December 2024</a:t>
            </a:r>
            <a:endParaRPr lang="en-GB" dirty="0"/>
          </a:p>
        </p:txBody>
      </p:sp>
    </p:spTree>
    <p:extLst>
      <p:ext uri="{BB962C8B-B14F-4D97-AF65-F5344CB8AC3E}">
        <p14:creationId xmlns:p14="http://schemas.microsoft.com/office/powerpoint/2010/main" val="32971292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78190" y="5785505"/>
            <a:ext cx="5587620" cy="523220"/>
          </a:xfrm>
          <a:prstGeom prst="rect">
            <a:avLst/>
          </a:prstGeom>
          <a:noFill/>
        </p:spPr>
        <p:txBody>
          <a:bodyPr wrap="none" rtlCol="0">
            <a:spAutoFit/>
          </a:bodyPr>
          <a:lstStyle/>
          <a:p>
            <a:r>
              <a:rPr lang="en-GB" sz="2800" dirty="0"/>
              <a:t>But what is in an electric car battery?</a:t>
            </a:r>
          </a:p>
        </p:txBody>
      </p:sp>
      <p:pic>
        <p:nvPicPr>
          <p:cNvPr id="7" name="Picture 6">
            <a:extLst>
              <a:ext uri="{FF2B5EF4-FFF2-40B4-BE49-F238E27FC236}">
                <a16:creationId xmlns:a16="http://schemas.microsoft.com/office/drawing/2014/main" id="{38D3B148-1FBC-D351-1B25-6EB6355B680C}"/>
              </a:ext>
            </a:extLst>
          </p:cNvPr>
          <p:cNvPicPr>
            <a:picLocks noChangeAspect="1"/>
          </p:cNvPicPr>
          <p:nvPr/>
        </p:nvPicPr>
        <p:blipFill>
          <a:blip r:embed="rId3"/>
          <a:stretch>
            <a:fillRect/>
          </a:stretch>
        </p:blipFill>
        <p:spPr>
          <a:xfrm>
            <a:off x="1255295" y="307686"/>
            <a:ext cx="6394475" cy="5562259"/>
          </a:xfrm>
          <a:prstGeom prst="rect">
            <a:avLst/>
          </a:prstGeom>
        </p:spPr>
      </p:pic>
      <p:sp>
        <p:nvSpPr>
          <p:cNvPr id="9" name="TextBox 8">
            <a:extLst>
              <a:ext uri="{FF2B5EF4-FFF2-40B4-BE49-F238E27FC236}">
                <a16:creationId xmlns:a16="http://schemas.microsoft.com/office/drawing/2014/main" id="{580AA3D7-8917-83B8-A30D-65C6603C3C46}"/>
              </a:ext>
            </a:extLst>
          </p:cNvPr>
          <p:cNvSpPr txBox="1"/>
          <p:nvPr/>
        </p:nvSpPr>
        <p:spPr>
          <a:xfrm>
            <a:off x="5590138" y="6540737"/>
            <a:ext cx="4572000" cy="261610"/>
          </a:xfrm>
          <a:prstGeom prst="rect">
            <a:avLst/>
          </a:prstGeom>
          <a:noFill/>
        </p:spPr>
        <p:txBody>
          <a:bodyPr wrap="square">
            <a:spAutoFit/>
          </a:bodyPr>
          <a:lstStyle/>
          <a:p>
            <a:r>
              <a:rPr lang="en-GB" sz="1100"/>
              <a:t>https://www.nature.com/articles/d41586-021-02222-1</a:t>
            </a:r>
          </a:p>
        </p:txBody>
      </p:sp>
    </p:spTree>
    <p:extLst>
      <p:ext uri="{BB962C8B-B14F-4D97-AF65-F5344CB8AC3E}">
        <p14:creationId xmlns:p14="http://schemas.microsoft.com/office/powerpoint/2010/main" val="3496281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a:t>Batteries</a:t>
            </a:r>
          </a:p>
        </p:txBody>
      </p:sp>
      <p:sp>
        <p:nvSpPr>
          <p:cNvPr id="3" name="Content Placeholder 2"/>
          <p:cNvSpPr>
            <a:spLocks noGrp="1"/>
          </p:cNvSpPr>
          <p:nvPr>
            <p:ph idx="1"/>
          </p:nvPr>
        </p:nvSpPr>
        <p:spPr>
          <a:xfrm>
            <a:off x="457200" y="1600200"/>
            <a:ext cx="3250704" cy="5213176"/>
          </a:xfrm>
        </p:spPr>
        <p:txBody>
          <a:bodyPr>
            <a:normAutofit fontScale="70000" lnSpcReduction="20000"/>
          </a:bodyPr>
          <a:lstStyle/>
          <a:p>
            <a:r>
              <a:rPr lang="en-GB"/>
              <a:t>Layered lithium cathode material is key</a:t>
            </a:r>
          </a:p>
          <a:p>
            <a:r>
              <a:rPr lang="en-GB"/>
              <a:t>Added:</a:t>
            </a:r>
          </a:p>
          <a:p>
            <a:pPr lvl="1"/>
            <a:r>
              <a:rPr lang="en-GB"/>
              <a:t>Nickel increases energy density but decreases stability</a:t>
            </a:r>
          </a:p>
          <a:p>
            <a:pPr lvl="1"/>
            <a:r>
              <a:rPr lang="en-GB"/>
              <a:t>Cobalt helps stabilise the Ni</a:t>
            </a:r>
          </a:p>
          <a:p>
            <a:pPr lvl="1"/>
            <a:r>
              <a:rPr lang="en-GB"/>
              <a:t>Manganese and Aluminium can also help stabilise Ni but not as effectively</a:t>
            </a:r>
          </a:p>
          <a:p>
            <a:endParaRPr lang="en-GB"/>
          </a:p>
          <a:p>
            <a:r>
              <a:rPr lang="en-GB"/>
              <a:t>Use copper and aluminium collectors to cycle charge</a:t>
            </a:r>
          </a:p>
          <a:p>
            <a:pPr marL="0" indent="0">
              <a:buNone/>
            </a:pPr>
            <a:endParaRPr lang="en-GB"/>
          </a:p>
        </p:txBody>
      </p:sp>
      <p:pic>
        <p:nvPicPr>
          <p:cNvPr id="9" name="Picture 8"/>
          <p:cNvPicPr>
            <a:picLocks noChangeAspect="1"/>
          </p:cNvPicPr>
          <p:nvPr/>
        </p:nvPicPr>
        <p:blipFill>
          <a:blip r:embed="rId2"/>
          <a:stretch>
            <a:fillRect/>
          </a:stretch>
        </p:blipFill>
        <p:spPr>
          <a:xfrm>
            <a:off x="3635896" y="2924944"/>
            <a:ext cx="5427603" cy="3672408"/>
          </a:xfrm>
          <a:prstGeom prst="rect">
            <a:avLst/>
          </a:prstGeom>
        </p:spPr>
      </p:pic>
      <p:pic>
        <p:nvPicPr>
          <p:cNvPr id="10" name="Picture 9"/>
          <p:cNvPicPr>
            <a:picLocks noChangeAspect="1"/>
          </p:cNvPicPr>
          <p:nvPr/>
        </p:nvPicPr>
        <p:blipFill>
          <a:blip r:embed="rId3"/>
          <a:stretch>
            <a:fillRect/>
          </a:stretch>
        </p:blipFill>
        <p:spPr>
          <a:xfrm>
            <a:off x="7236296" y="201950"/>
            <a:ext cx="1439864" cy="1398250"/>
          </a:xfrm>
          <a:prstGeom prst="rect">
            <a:avLst/>
          </a:prstGeom>
        </p:spPr>
      </p:pic>
      <p:pic>
        <p:nvPicPr>
          <p:cNvPr id="11" name="Picture 10"/>
          <p:cNvPicPr>
            <a:picLocks noChangeAspect="1"/>
          </p:cNvPicPr>
          <p:nvPr/>
        </p:nvPicPr>
        <p:blipFill rotWithShape="1">
          <a:blip r:embed="rId4"/>
          <a:srcRect b="27054"/>
          <a:stretch/>
        </p:blipFill>
        <p:spPr>
          <a:xfrm>
            <a:off x="2836407" y="322858"/>
            <a:ext cx="2601511" cy="1047378"/>
          </a:xfrm>
          <a:prstGeom prst="rect">
            <a:avLst/>
          </a:prstGeom>
        </p:spPr>
      </p:pic>
      <p:pic>
        <p:nvPicPr>
          <p:cNvPr id="12" name="Picture 11"/>
          <p:cNvPicPr>
            <a:picLocks noChangeAspect="1"/>
          </p:cNvPicPr>
          <p:nvPr/>
        </p:nvPicPr>
        <p:blipFill>
          <a:blip r:embed="rId5"/>
          <a:stretch>
            <a:fillRect/>
          </a:stretch>
        </p:blipFill>
        <p:spPr>
          <a:xfrm>
            <a:off x="5709465" y="183923"/>
            <a:ext cx="1391860" cy="1416277"/>
          </a:xfrm>
          <a:prstGeom prst="rect">
            <a:avLst/>
          </a:prstGeom>
        </p:spPr>
      </p:pic>
      <p:pic>
        <p:nvPicPr>
          <p:cNvPr id="13" name="Picture 12"/>
          <p:cNvPicPr>
            <a:picLocks noChangeAspect="1"/>
          </p:cNvPicPr>
          <p:nvPr/>
        </p:nvPicPr>
        <p:blipFill>
          <a:blip r:embed="rId6"/>
          <a:stretch>
            <a:fillRect/>
          </a:stretch>
        </p:blipFill>
        <p:spPr>
          <a:xfrm>
            <a:off x="3560922" y="1648420"/>
            <a:ext cx="2295525" cy="1209675"/>
          </a:xfrm>
          <a:prstGeom prst="rect">
            <a:avLst/>
          </a:prstGeom>
        </p:spPr>
      </p:pic>
    </p:spTree>
    <p:extLst>
      <p:ext uri="{BB962C8B-B14F-4D97-AF65-F5344CB8AC3E}">
        <p14:creationId xmlns:p14="http://schemas.microsoft.com/office/powerpoint/2010/main" val="2758952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74A419-9D9B-85B0-7C93-728B6B29AE26}"/>
              </a:ext>
            </a:extLst>
          </p:cNvPr>
          <p:cNvPicPr>
            <a:picLocks noChangeAspect="1"/>
          </p:cNvPicPr>
          <p:nvPr/>
        </p:nvPicPr>
        <p:blipFill>
          <a:blip r:embed="rId2"/>
          <a:stretch>
            <a:fillRect/>
          </a:stretch>
        </p:blipFill>
        <p:spPr>
          <a:xfrm>
            <a:off x="482600" y="860230"/>
            <a:ext cx="3968749" cy="5137539"/>
          </a:xfrm>
          <a:prstGeom prst="rect">
            <a:avLst/>
          </a:prstGeom>
        </p:spPr>
      </p:pic>
      <p:pic>
        <p:nvPicPr>
          <p:cNvPr id="7" name="Picture 6">
            <a:extLst>
              <a:ext uri="{FF2B5EF4-FFF2-40B4-BE49-F238E27FC236}">
                <a16:creationId xmlns:a16="http://schemas.microsoft.com/office/drawing/2014/main" id="{66357ED3-D102-0EFA-9288-BC7C381B5BCE}"/>
              </a:ext>
            </a:extLst>
          </p:cNvPr>
          <p:cNvPicPr>
            <a:picLocks noChangeAspect="1"/>
          </p:cNvPicPr>
          <p:nvPr/>
        </p:nvPicPr>
        <p:blipFill>
          <a:blip r:embed="rId3"/>
          <a:stretch>
            <a:fillRect/>
          </a:stretch>
        </p:blipFill>
        <p:spPr>
          <a:xfrm>
            <a:off x="4692648" y="1094441"/>
            <a:ext cx="3968751" cy="4669117"/>
          </a:xfrm>
          <a:prstGeom prst="rect">
            <a:avLst/>
          </a:prstGeom>
        </p:spPr>
      </p:pic>
      <p:sp>
        <p:nvSpPr>
          <p:cNvPr id="9" name="TextBox 8">
            <a:extLst>
              <a:ext uri="{FF2B5EF4-FFF2-40B4-BE49-F238E27FC236}">
                <a16:creationId xmlns:a16="http://schemas.microsoft.com/office/drawing/2014/main" id="{D141EED6-50C4-B4B6-4E26-87944BD685CA}"/>
              </a:ext>
            </a:extLst>
          </p:cNvPr>
          <p:cNvSpPr txBox="1"/>
          <p:nvPr/>
        </p:nvSpPr>
        <p:spPr>
          <a:xfrm>
            <a:off x="5275007" y="6488668"/>
            <a:ext cx="4572000" cy="369332"/>
          </a:xfrm>
          <a:prstGeom prst="rect">
            <a:avLst/>
          </a:prstGeom>
          <a:noFill/>
        </p:spPr>
        <p:txBody>
          <a:bodyPr wrap="square">
            <a:spAutoFit/>
          </a:bodyPr>
          <a:lstStyle/>
          <a:p>
            <a:r>
              <a:rPr lang="en-GB" dirty="0"/>
              <a:t>https://www.benchmarkminerals.com/</a:t>
            </a:r>
          </a:p>
        </p:txBody>
      </p:sp>
    </p:spTree>
    <p:extLst>
      <p:ext uri="{BB962C8B-B14F-4D97-AF65-F5344CB8AC3E}">
        <p14:creationId xmlns:p14="http://schemas.microsoft.com/office/powerpoint/2010/main" val="2552994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Manganese</a:t>
            </a:r>
          </a:p>
        </p:txBody>
      </p:sp>
      <p:sp>
        <p:nvSpPr>
          <p:cNvPr id="3" name="Content Placeholder 2"/>
          <p:cNvSpPr>
            <a:spLocks noGrp="1"/>
          </p:cNvSpPr>
          <p:nvPr>
            <p:ph sz="half" idx="1"/>
          </p:nvPr>
        </p:nvSpPr>
        <p:spPr>
          <a:xfrm>
            <a:off x="457200" y="1600200"/>
            <a:ext cx="4038600" cy="5062712"/>
          </a:xfrm>
        </p:spPr>
        <p:txBody>
          <a:bodyPr>
            <a:normAutofit fontScale="92500" lnSpcReduction="10000"/>
          </a:bodyPr>
          <a:lstStyle/>
          <a:p>
            <a:r>
              <a:rPr lang="en-GB" dirty="0"/>
              <a:t>Crustal abundance 0.095%</a:t>
            </a:r>
          </a:p>
          <a:p>
            <a:r>
              <a:rPr lang="en-GB" dirty="0"/>
              <a:t>90% of mined manganese used in the iron and steel industry</a:t>
            </a:r>
          </a:p>
          <a:p>
            <a:r>
              <a:rPr lang="en-GB" dirty="0"/>
              <a:t>Mn added to smelting as ferromanganese</a:t>
            </a:r>
          </a:p>
          <a:p>
            <a:pPr lvl="1"/>
            <a:r>
              <a:rPr lang="en-GB" dirty="0"/>
              <a:t>Scavenger of impurities e.g. </a:t>
            </a:r>
            <a:r>
              <a:rPr lang="en-GB" dirty="0" err="1"/>
              <a:t>sulfur</a:t>
            </a:r>
            <a:r>
              <a:rPr lang="en-GB" dirty="0"/>
              <a:t> and oxygen</a:t>
            </a:r>
          </a:p>
          <a:p>
            <a:r>
              <a:rPr lang="en-GB" dirty="0"/>
              <a:t>Water treatment and purification </a:t>
            </a:r>
          </a:p>
          <a:p>
            <a:r>
              <a:rPr lang="en-GB" dirty="0"/>
              <a:t>Key component of a lithium cathode battery</a:t>
            </a:r>
          </a:p>
          <a:p>
            <a:endParaRPr lang="en-GB" dirty="0"/>
          </a:p>
        </p:txBody>
      </p:sp>
      <p:sp>
        <p:nvSpPr>
          <p:cNvPr id="8" name="AutoShape 2" descr="data:image/jpeg;base64,/9j/4AAQSkZJRgABAQAAAQABAAD/2wCEAAkGBhMSEBQUEhQVFRUWFxgYGBcUFBQVFhgXFxgXFBQXFBUXHCYeFxokGhcXHy8gJCcpLCwsFx4xNTAqNSYrLCkBCQoKDgwOGg8PGiwlHyQsLCwsKiwsLCwsKSwsLCwsLCwsLCwsLCwsLCwsLCwsLCwsLCwpLCwsLCwsLCwsLCwsLP/AABEIAJwBQwMBIgACEQEDEQH/xAAbAAACAwEBAQAAAAAAAAAAAAADBQECBAYAB//EAD8QAAEDAgMFBQUGBQQCAwAAAAEAAhEDIQQxQQUSUWFxIoGRobEGE8HR8BQyQlJy4SNikqLxBxWCskPSY8Li/8QAGgEAAgMBAQAAAAAAAAAAAAAAAQIAAwQFBv/EACsRAAICAgICAQMDBAMAAAAAAAABAhEDIRIxBEETUWFxgbHwIqHh8RQzUv/aAAwDAQACEQMRAD8A+NryleSlhbRSGqrtF5qgS+4V4qAVJKgTys0qArtyKAUeCLScgFE+7F9EGPF0zUPqFIg5gFZxW+slc1sviko1LJEN9kByJHmEP3cHRSzFcj3GfI/NeJnI+NkN+x3we49mujkttErFgXRnyTRlEHJUZNHW8WLkk0HYxFFNVpMRw1ZJM6qx62UfTS7EGCmb6llixABhGDM3kQ1oDSKjaTP4Z5R6wrtZCHtSqAzd1J8s1YtyVGR6xuxfhGj3jJv2h6pnWxHaIAmCRyS/Bt/iM/UPVNH4e5LiGiTnmb6NFz1y5qzJV7MMJOKdGYl34jHII9LEECJ8Y7l47oybPN9/BosPNeZVcDme63oq3siySTtMG5797O3X4fWSswHeBvnHWfvZ8BfuWirU3xBMnTiOELBXfAbmJBz4bxGXOEVsseZ8d9h8bjG7gbT4XJHefNLMW0CIO8LHKLxcRyJI5wpeVU5QVdGPExS/qYN5BChj4sVUNvdFrMkAjn6z8U/2K9vZSqyIP19fNChMajSKDBxlx5SQGT3NKwwjF2VzjsopCtuqYTWVUUUhWXlLBRC8pUKAIheUrygRWoUleVxWWcFVqsTBURdQJLVLl5jVZzuQUCQFdmRVWBEaLHuQGigbkZz4johFFqNy6IMaN7oneFrKHDJeGas4ZdEB+yoCP7qADOYQgFqeOyzp80rZdiimmEwxNrHMd6b4f6iyXYBktMfmHpyTahSWbKzveFB0mHYEV8wr0qUItamCsLls69C5zJWSth3TY+Nk5bhZCwY+pu2Ebx8uZVsJ26RkzwVWxc+sW219FjqCTJ71pdTzKCWrVHRx8t+zRsdk128pPgFoLxmczdZsG7dY9wzPZHfnC24DYrn9p/ZbxP1c8gq51dso9GY1ybNBKKzZTzd53R9aJ1TotZam2TqdfkArU8AXE5uOcDIdSch4Kvn9CKKXYifTDBAAyzjPqVipS6QfvDL5LqK2DAH3h0aJ8Tl6rndo0N128Jt39E+OV6FmvZjdY3VHLU9m+JGayFaE7M8j0T1XmPix4qpMSUanRlpOov5H9kWL+AjMU7cLS4hriCRodyWs8JPihmjzUwpHJL10BoAV4K7qfBTSJaQ5pIIuCDBB5HRPZVR51QxuwP6QD4xKHKLWe5zpcS4nMuJJ8SqbiiBKyIUEK+6vFo4qWLQOF5X3RzXkbDQnXgF5SM1eUhfdyodTRmMspcAlss4mcN0Xizp4oobN0V+H4ZqWRRbAMCu0WK8GwV4C3eoMkUC0v+7HCI75B+uSBuc0WockGPDSZDG3W7/bnGn7wAloIaTziQI0ssbXW7x6J3sz2h9zQqUjTZUFQtcC5xBaWtIkAZ568FVkckrirNWBY98xLurVUHZZ0+azrW8dlnIfEosswx0/57N+xadj1+CfYemPNJtk2a4nQ/BPcCLDiuf5D2z0/iKsMTVTwiu/CrXQC208CXLmSy12SWSuxcMN2SVzmOwBBJNyTmvodLZciOCV4zY8gu0Ex8Shh8pJlKywnpnzzE2McFlqZLRXMkniVSlR3nchmu2tdnMyu2zZgSGvYC0ODcwbbxzIkZJtia+8Z00i1uAGiUjDGZab5wdTwVcJtQOdukQDkZy7lW05bRjeh/hXt3b5j8ItPMnQefREfiSRGQ0aLDw1PM3Sj7XuoTsc5xholBISxs+q0DtEBKcZjKbuy0Fx4ASj0Ng1Kl3kgeXfy8Eww2w6TIzcfBs/Hw71NIO2cxhdnVZmIbzIy7lTHYIjtR1+a6+vRt2Q0dBPrKXF7ZO+MgSTYCACSCOPrKZZJXYHBVVnKaGenmr0qsW0PiEJ+q0UcKXUi/g9rT0cHGf7VqfRmXZZ9Ii6gLQ94DI+s0AJEx5KmeK8Wq8KSoJQFzVQhGK8xkkAZkgDrojYrQBQVbioKYWisqFK8iLQoKu13wVSpaLrQUh5OUomHgyHGPihg6qaaRlkXs1Poi0GTnbgoFQIQXnBJRocvoj1TVVaLKYsobkmK/ZRrVuhu6LXWIErRuz9d/xQkWYdWE9yN7UD4/siHCjdDgb6hQ2S0KzQ4CI8/BJbNsYx+nYANW9lMENkx2eE/WazCktzKcgXAsM/H4JZMuwQ29DHZlAFkC988rJ7hqV0u2NS7JFrLoMFgiSOeS5PkTps9BFqGNfgZYDDE6J5hsNZFwGz90Bbm0Vwsk3JnDz+RyegFKjYxwt1QX4IboHIeib4Kn2x4rPtKo1rXuyABPgJKf4WsayX7qjJHK+dI+EY3Clj3NObXEeBhVwbc10m0fZ+rWY7EMbvDeO80Z9QNYy7lyOIzXpMU1kjV/k6GaPFs3urgagd6wmHV5bYEk/2y7zlZ91bcDhSZdkAInrb9lfSgjFJci1Gm6o4Bo+uq6HZmHbTaJBLuBt38QOWfRY8KN0Q0R6nmflp1utDa0WFz9ZqhyvoXjQzfWkSTYdwCGK85ZGbnX9PHI8FmpOuCe1cGNAMyQMoyF9SEengi65gRa+RvAAteZJnmBF0yRVJgKdcOcb6gHS8DnGZjuWXaFEOBkWjhHNNfs9NjSQN5zQRYT2pNmgg6ytlemKjS3dgGYnMi09MxClC8qPmgAkgX6cuSPs3EhgqMcJbUAAjR7TLD4yO9MNtbMdRN4YwQLZuJ1HzJWA4Ugb26d2LB34tBA6rRdoqBmmZ5r0QjnZ9SoGuAvu9qXNBkEjImTIgrLTe8SYMayCfHgoQK1ykqjK4i4vxB+CICOI9FCFd1RTdDgeBB8DKvCq8KEAuNyqlWdmVUoilV5WheRBQnhWpC6iFeiLrSzMuwkK4Kh4uvAJSzp0XBVoVFcJWWxIczNVI7KI4WPRUDez3qJhkt6BtC2UqeazMbdMKTfvdfgEs2WYI7LMbGSIGypAV2tVNnVgvQN1M62WmnSyVXNkd4WylTiARBjWySUtGvFjXKh57OYBz5DWl3QTawXbbJ9nqjXFxtw4jih/6Xsh1X9A/7LvSFil4jzx5cq/Qx+f50seR4YrSFdHDboRdxaajVmr1WtHacGza5Ak8pWCfjLHo5Sm5MtQMBx5R4pftLDb9J7PzNI8RZaziWBn32XP5m6d6X43a1Fn36rGzcS4fBU5b4wivS/d/6LsUZcrSFGxXOZRdReCxwdAPEPcASDxBPoh7W9iMNiHFzmFroAljt2YsJER3r2K2jRqWbVYS7LdeJkXtzW3ZG1veO926zgLnSBckxlZU3ki+cbTOhkjNp5Evuz5ttDYFGlUc1pLy0kOO8CAR+GABJQ2UC6wFhkBkPmeaZ7SriviahbYOeTYaZA9SAEzpbKLQIEA8cyuv8rjFcns08FSvRz5oaDxUMoxknWMwW6IjuWF9KFZCdlGSC9FKQAz7R4ZgfP06o7qxcbkZiLTzJvqI0yWWYRMNSLnANkk6DWPq55lao7ObkVFzR+42d7MZQBORJbrl1kppsnBvzdYGCXOPZgCAdMxpHBbRSo4Wnv4kjeg7reN5j+Zcp7S/6kOqFraTA1rTNz2jlIkfdHS6uUDM5N9dDrFGgXMbXiRcE9qJyJ085AXH4kb1VxDi5rXOLZ1mQ0xyb/2WTbFc06j2uO88OIk31zRdmvJp3NxY+e75KNexo0GhQ7IjQ5jQ9RqrwvbqUsF2PYA1oAAucgB4nVYkx2k3st6/BLk6EZLXQpLivAKQ1EBVw1nNRC0tp9nnPDTr4eK82khZOIAMUrc3CHgpQsPE5eESgL9yHC0YRt+5a30ZIK5ImsO0V5oRXslx6orcEeCr5JGn4pOTozQiBWdQIUNCF2FRaPOHZP1qqbvYB5orx2D3eqtUH8JnfPWflClhat/oApC46plSHZP6isWGZLm9Qm+Ewsz+o+qryyo04IMFTYiQmNPZ8A9ErxVfdduxlmqIy5PRv/61bNWEEvAkAniQPMrtPa11EUcOGhpq6uaRZo0tnJPkuLpUGbrKj7yYgm2sjJN8Vs7/AMjB2YktyLR01HMd6WTQuHjPyFkuq/v6O5/0yriasmOy3/suyxW1mMtdxAkgaAcSbBcH/pxTO9V/S3PqutOG43+uGQXPy+bkwrhBfqUedjhLyZOX2/YSba2lXqjsuNNsyGskO5bztfRc9iaNd5G8974y3nTHSTZdriqADXOAkgExxgZLkGY6sXHfYQ2ey5rSGkaGTeFhhmyTtv8AubvEkuNQS0YH4B+sDvWWpgOJ8kxxWJJyWI1StUHI6UbrYmxpIcQNNeiZezmN91SxRntupBrejngVI5wUs2gJe760UNllMk6wMxP8xC28eUaMeWW6Z1PsVgW1HPe78EQOs3juXR48Ado278gM7bw3tRkDI5L51sfarqFVlQTuOHag5tyMjSDf/K+gYXEtrPF5YAHcnE/cBGoG6T1AXP8AJhKOTk+jLKTlLmuhfVwjnDfcIBFgdB8ylWJprtcQzeF1yu2wGOjXgmwT5OgxnyWxTQwZqPDW5n6gc+ARcd7Q0sEN1jd+rw0HEuPHl6LHjdpimCGEb+p0b/8Apcpi64cbAucTcm5JN+9djGqOZmam/sMdvYypU/i7xqB9w7MgHNsZNjIpMKG7BcJccmmf7vktFN3um9l01DnB7LRz0JWcvmYJv95xzM5gfXgrkZ2jSccHEb1NrnciRHeZlMaOHDZgRMTeb9UlbVI7IiDunITxzT9K9DI8GqdxWaEQNShFu1WdgdfgUrATna4/hj9XwKSCqOKdCthArtCHTG8YF+9MquC91T3zuudI7OYudYzUIiuCEkgfiEeP7wiUGXWBmNIdvQPhdXbjnTNpmcktBs6SnSEBeSlm1nRp4KVLJRzdXZlRv3h3yD5qaFPdz4LrmNDmjolu0tl2LmjIZKz5G+yqMUnYPYeDD3gO4r6H7Q+y+Ho4am5jgXObJuM+gyF/JfN9n4eq2HNA8QmdfFV3tgn+5ZM0XKWmdXFlior19fuL8VRANkwxns4xmHoVRUa51VpcWDNlyGg9wWE4CoeH9QR/stYN3ZsNN6107vVMr5QttoW4nDEMPUfFVr04ps5g+oK1bQw7207ie0CSLxmPUqMSwmlTPBt+OiuT0il02ZsBTl7eq7n2U2Y2o4B35j6ritnH+I3qum2XVLTZwmSdQc5yWbyk2qRs8dpHa+1uxaVBp3Tbdkr5HinbzyeJXW+0O03mg7eJOQFzxC4yo7Ia5nv08I8UPFg1b/iJmdRUZO39TU+vLGjgXEDgLAehXebOI/hMOZc9g5sNj5bviuB3d5+63MwG8506ro8LtECth3ExYBwNocDDpnLQp8sdaExU2fTvYDAgU3nWw9U72wzcpywwb55ZE+q4XZHtL7io8Bx3C7Tge0LdCmmO9q2vEBxPMg+h1XMySj8Tg4XL6/rf+B83i5Z5/kXT2Yam08VJDjYHMtaJ6WlLcRjqhNyVtxm0g7VKcRWkrPjjfaR1sUF/5SE+L2nUBdOgnIeEwl/+9PnMDrHyTfaDgWZZSkGyKRdVEgxfSy6uKMXHoo8nJKDpMYVHyze/EQTINrGByiypiKZLaTjqDaLZwT6eCYigH0WgkyGAk5RMnPmhYuiBRpAC7YnO4M36ZJ0Y5T6bZlfhogCwM84jWVt2Ptg4eoe0XU4uIvnaB1J7lP2EZ7jsz+LUcLLLUoBhIDYMTBM9NEs4WqZXikuR9GO12+695YiLczovm3tHtp0mCd50ku5cvqyNh8U+mw0yS5pJdJOTjnA4JXiMK8y8td3xMfytVfjYFBthyuMVS9lqe02Vqe7VDmvH/kbEEaF3A+vVLX1Q0QzoXkXPJo0H0Vvw5LmFooAgAz2nbxjXTJEqYTeABYwbuUPg34yt+jnsVYei1xhx3W5wBLncP8+CO3AyBfwhGGA7fZvx7QKc/YQGfWajYtCKps6IIP0BHBQdtFttwGP5j8lqxNQg6pHi/vuTR29iz/pWhoPaA/kH9R+SuPaP/wCP+79kjlaKBbF4TOKQik37NuN2wKjN3dIvxn4JaGjmPBekSiGqLW8kVroVu+wELzc1AXg6VYVWaZO6CRY5HoodWUe+JphugcTHcAqbh4Kui3kwoxIXkP3JXlKQ1sf4QmM1ueZpuGsFYqdIxZS10WJuqSWCo4VzRHpIR2075c4krLjcLJpvEW3rcSZgwOYU0KYFV54U2yReTvZeAAUqxkzaYFyAO9Wa5u9ALd7gHSdZsl9TCh1RrxDQCHOEWO6ZmeMo2GiWOjtbrrjIB2/YEWOiFIew+PwJLXAEmRnE5QR1WenRIa0HOLnnr1TAVuzcXiNbySenBDfImOmnFD0H2LaeEaKzd03+8RpGWfem+GxFNrg3dMkuyGoEnXms1DDRVDzlEanUH4Lbh6TN7ei99bDeABt3BCVPsshJoW+0G0mOp+77QIe2ZiIvMXXP42uHVHOaIaTYctF021NntPbPGSYBkbpaQBoYJ7wFyCuwpVoTNOXs14R8vA5/uujqge8pEZb49CT6SuWw74cLTpHGdE5wVN7qjHZt3jabWBDiNM5gKZYjYJ7HLK8CYmTK00trdgDd7f3gRawm/OCD4ckHEUJBiLX5wcvDI8EpxDnjd1DZAjS8n4rD8al2dxeRpHSU8YHN56cTxBvx5INWulOD2wacdnhe4NjNjxuPJb8Vt1tZ5c5sEj8JAFhwuq3iafWjVDPF9B8GzfdBvmc481OG9pMMXCm2mQXHcDyZAnsh2dxdYqlaaFY097ehrYiSd90OiBbshy5s0nD8LvAha8MNWzk+bNSyVZ3lHDObWbSF2hrWb8ZwBppotOIoDc3RE7o66kDkh02vIpPa4B260uLgXEktbMweSphtnwSXvLukyTxM/CFG0jJHHOW2F+zRccdMpOXpPel+Nw515QTyThr2AAbxnmAcsp5aKtWkwthztcoE+MpeSDwkhG/CyZjzVa2EkcLeca96c08PTuJd3qxwlPifrvViaKnCVnPPoOBkcNf2UOpyZPfw0+S6AbPYcgT3Eqp2QAYDQJ4iERWmjmRRDXSDGn+Fsp1TEJlUwYE9pts8kF+GGjp6BxPhCIKFGKwxcZhLMTsYuJMgTp/hdJ9i4z4Kv2IR94/0op10K1fZyZ2O7iFQ4B40ldezZsmwc7oEb/Zh+K3eSfBoKbkxOCOGdhH/AJSqnDP/ACrt6my2mIDjxneb0zzVTsOQYY7kd4+ko82D40cUKLh+E+CqMPK7F/soSL745Fw+I+uSEfZjdAjeJ5gER3I82D44+xBRwIA7WXC30EWlQaTZrddAnT9gPLiBmBMQJ3cgc8kM7GcDAIPc6Y52VbbZYlEyfZWflH9K8towR5ealLsbQtZtMEfdI/5eCDVrOdaIH0UvZXI+ijNxZ0Hl4K3jRnTQei8ixJjOJ14hbqTGZkkniSMvRKnVZzMa2joppsb+Y2GjhYZcOY8UHEZMeBo5LM5waZHZBudBPHnMLA2q4XD/AOoa8lpp7ScBB3DYfgInvjyS8Rkw1PatOZ3jcZQT6IlPaVM8R1CDQ2m/K0H9Ux8VR7WuMloniHuB9EGkMmOGmRLbgEyRcX+6BHQ6q9N/IlJW4ZvEgzoT6rRRAH4nHmXnn5X9EtIZMLjGFjKrotuEXzE5Ad65JoJIAzNh8E923ih7qBJ3jElxOVzaY4LBsLBGpVECYufAx5q/HqNlM9ySB1cM6nWNMXcDujqV2GzcFT90wSZAzaYOsH4965RxLcRUkdoF4vobhdPh8bSa1oNWIAFmvJEDIwInNJk3RbhdNsae4ZwcSOIvc9OKKx4abNPg31KVHH0sg95P6Y9T5qBjqYzL84+83P8ApnzWdws2LO10PG4hvAeDb+S8MS0XDWAz+Vs9RZc7X2yPwADm5lR0a3O8J8FfDbTcPvPaT+gNiOM2U+JB/wCRL6jmnWIeYFPdOe62HGMkf3+u7PcUkbtYuMh5AnR3oAqmv/NJ5z6qcaB817Y8LxwGmrRHmquqMj8I8fgEpZX4je6F3yR/tLZ7TLdXfFSvyTn+DW+qyM5GWseZVTXb/MerlRu0aIEbniPmi/7nQAsJ6AAeMoqxHJfYA3tTb1J7lpo4UnRw6tcfRqlu1m5Nhv8AU4+ikbTbOvmFNk5IOzDNjtOqd1OoB/1QzQw/4nP72Vf/AFVhtMWt5hUdtyNI/wCQ9IR2K6CtbhhkR5j1CIDRtuvpjq4n/wBVn/3v+YjoP3Qj7QkWAnrb0zTKytpDBrp+7UZ/xNP4n4rKa5P3SX53EOHjJCw1Nsudnujo0jpBKx06zWiA1oBMkARfW3xTC0hucRVH4bdD8AppVqpubdzx4ZFKftA6dP2V2Y4tNi4d5+f1CgKGwq1fyz3/AAIkoe/ULrUye9o/7QlWJ29UY2WBznSOyQe8kxOS1/748ZunnHT90QUMgyrAlkdIcfVEZRcYlzxyy9EoO3Hxn/bHHJeO3ncfLJSwUNxRpg7xYN7LednHDeOiHitptbaZ/SJHw9Uidji4mTvdZ7uiE7HHUa9Pj9QpZOJvdtEzm3wd8F5YftQ4/XioQGo4IVyrCs5QKsjIdwUt15DSy1mGy2876he33TF+llDWyBz5lXp5oBLtqFuZ81obieneflos7sl5zRNrcxb0SNJlibRsZiOIjx9UUY29myP1wfGPglr6hBz05dFNPFEgzFskOA3McHaJblTb/wAi51+F/gq/7hUINw3k2mM/VZKZkxPO2fjwuj06I+tEjpFi2ZNr1XEMBcXATE6ZImBw/YsT2r2sbSI8Ss+13HfA4D1TTDwGiABIB8RdM3UUKlc2LME0OrQciT8Tfkm1QPmzukjnml+xGTWj9XldMHU+Zz+XzSz7Dj6BsFRtoafLx4owxVu0090EeZU+5H1r1XvdCQOPTLwSFpajim8S08HQP/tCKazYEQe8ZHvyWaoO25ul/iQgvpiNczqfykqUSxjvtj6+KhtQf4ySo1XC4J46aQQoGLcDnOdj3wjxByHJq/twXhiR4XsPq6T08UeVqZOtzfP9kbZ9Uvz4Tbjf5KcaJyGf2vn5fsoOI+oPyWTdi4JVhp0S0MH+0TqfFR73KT4OCztufrRQDJvH1dSiGkVOf9ysKh4+Y8ljbSB0+pKHkbDh80QDPfMZn65KR1B9eeaxNaDP1qpAyufoIENmX+Rx6KpB+r+Kxh5+o5IYxJkjmOPzRIb5InKbfKCZXg8jMefcshdf/KqDnyjUqENYq5/Xor++OnhF++1/8LAHq+9l0UIa3VyLiZ+ghOxXP5nogNMypeYiLaTrxUIE+1i8G+kwhux44z396xY3EEdnT16qWUW3toPNGhbNv23+aP8AkF5L3AAxHqvI8QWf/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4" descr="data:image/jpeg;base64,/9j/4AAQSkZJRgABAQAAAQABAAD/2wCEAAkGBhMSEBQUEhQVFRUWFxgYGBcUFBQVFhgXFxgXFBQXFBUXHCYeFxokGhcXHy8gJCcpLCwsFx4xNTAqNSYrLCkBCQoKDgwOGg8PGiwlHyQsLCwsKiwsLCwsKSwsLCwsLCwsLCwsLCwsLCwsLCwsLCwsLCwpLCwsLCwsLCwsLCwsLP/AABEIAJwBQwMBIgACEQEDEQH/xAAbAAACAwEBAQAAAAAAAAAAAAADBQECBAYAB//EAD8QAAEDAgMFBQUGBQQCAwAAAAEAAhEDIQQxQQUSUWFxIoGRobEGE8HR8BQyQlJy4SNikqLxBxWCskPSY8Li/8QAGgEAAgMBAQAAAAAAAAAAAAAAAQIAAwQFBv/EACsRAAICAgICAQMDBAMAAAAAAAABAhEDIRIxBEETUWFxgbHwIqHh8RQzUv/aAAwDAQACEQMRAD8A+NryleSlhbRSGqrtF5qgS+4V4qAVJKgTys0qArtyKAUeCLScgFE+7F9EGPF0zUPqFIg5gFZxW+slc1sviko1LJEN9kByJHmEP3cHRSzFcj3GfI/NeJnI+NkN+x3we49mujkttErFgXRnyTRlEHJUZNHW8WLkk0HYxFFNVpMRw1ZJM6qx62UfTS7EGCmb6llixABhGDM3kQ1oDSKjaTP4Z5R6wrtZCHtSqAzd1J8s1YtyVGR6xuxfhGj3jJv2h6pnWxHaIAmCRyS/Bt/iM/UPVNH4e5LiGiTnmb6NFz1y5qzJV7MMJOKdGYl34jHII9LEECJ8Y7l47oybPN9/BosPNeZVcDme63oq3siySTtMG5797O3X4fWSswHeBvnHWfvZ8BfuWirU3xBMnTiOELBXfAbmJBz4bxGXOEVsseZ8d9h8bjG7gbT4XJHefNLMW0CIO8LHKLxcRyJI5wpeVU5QVdGPExS/qYN5BChj4sVUNvdFrMkAjn6z8U/2K9vZSqyIP19fNChMajSKDBxlx5SQGT3NKwwjF2VzjsopCtuqYTWVUUUhWXlLBRC8pUKAIheUrygRWoUleVxWWcFVqsTBURdQJLVLl5jVZzuQUCQFdmRVWBEaLHuQGigbkZz4johFFqNy6IMaN7oneFrKHDJeGas4ZdEB+yoCP7qADOYQgFqeOyzp80rZdiimmEwxNrHMd6b4f6iyXYBktMfmHpyTahSWbKzveFB0mHYEV8wr0qUItamCsLls69C5zJWSth3TY+Nk5bhZCwY+pu2Ebx8uZVsJ26RkzwVWxc+sW219FjqCTJ71pdTzKCWrVHRx8t+zRsdk128pPgFoLxmczdZsG7dY9wzPZHfnC24DYrn9p/ZbxP1c8gq51dso9GY1ybNBKKzZTzd53R9aJ1TotZam2TqdfkArU8AXE5uOcDIdSch4Kvn9CKKXYifTDBAAyzjPqVipS6QfvDL5LqK2DAH3h0aJ8Tl6rndo0N128Jt39E+OV6FmvZjdY3VHLU9m+JGayFaE7M8j0T1XmPix4qpMSUanRlpOov5H9kWL+AjMU7cLS4hriCRodyWs8JPihmjzUwpHJL10BoAV4K7qfBTSJaQ5pIIuCDBB5HRPZVR51QxuwP6QD4xKHKLWe5zpcS4nMuJJ8SqbiiBKyIUEK+6vFo4qWLQOF5X3RzXkbDQnXgF5SM1eUhfdyodTRmMspcAlss4mcN0Xizp4oobN0V+H4ZqWRRbAMCu0WK8GwV4C3eoMkUC0v+7HCI75B+uSBuc0WockGPDSZDG3W7/bnGn7wAloIaTziQI0ssbXW7x6J3sz2h9zQqUjTZUFQtcC5xBaWtIkAZ568FVkckrirNWBY98xLurVUHZZ0+azrW8dlnIfEosswx0/57N+xadj1+CfYemPNJtk2a4nQ/BPcCLDiuf5D2z0/iKsMTVTwiu/CrXQC208CXLmSy12SWSuxcMN2SVzmOwBBJNyTmvodLZciOCV4zY8gu0Ex8Shh8pJlKywnpnzzE2McFlqZLRXMkniVSlR3nchmu2tdnMyu2zZgSGvYC0ODcwbbxzIkZJtia+8Z00i1uAGiUjDGZab5wdTwVcJtQOdukQDkZy7lW05bRjeh/hXt3b5j8ItPMnQefREfiSRGQ0aLDw1PM3Sj7XuoTsc5xholBISxs+q0DtEBKcZjKbuy0Fx4ASj0Ng1Kl3kgeXfy8Eww2w6TIzcfBs/Hw71NIO2cxhdnVZmIbzIy7lTHYIjtR1+a6+vRt2Q0dBPrKXF7ZO+MgSTYCACSCOPrKZZJXYHBVVnKaGenmr0qsW0PiEJ+q0UcKXUi/g9rT0cHGf7VqfRmXZZ9Ii6gLQ94DI+s0AJEx5KmeK8Wq8KSoJQFzVQhGK8xkkAZkgDrojYrQBQVbioKYWisqFK8iLQoKu13wVSpaLrQUh5OUomHgyHGPihg6qaaRlkXs1Poi0GTnbgoFQIQXnBJRocvoj1TVVaLKYsobkmK/ZRrVuhu6LXWIErRuz9d/xQkWYdWE9yN7UD4/siHCjdDgb6hQ2S0KzQ4CI8/BJbNsYx+nYANW9lMENkx2eE/WazCktzKcgXAsM/H4JZMuwQ29DHZlAFkC988rJ7hqV0u2NS7JFrLoMFgiSOeS5PkTps9BFqGNfgZYDDE6J5hsNZFwGz90Bbm0Vwsk3JnDz+RyegFKjYxwt1QX4IboHIeib4Kn2x4rPtKo1rXuyABPgJKf4WsayX7qjJHK+dI+EY3Clj3NObXEeBhVwbc10m0fZ+rWY7EMbvDeO80Z9QNYy7lyOIzXpMU1kjV/k6GaPFs3urgagd6wmHV5bYEk/2y7zlZ91bcDhSZdkAInrb9lfSgjFJci1Gm6o4Bo+uq6HZmHbTaJBLuBt38QOWfRY8KN0Q0R6nmflp1utDa0WFz9ZqhyvoXjQzfWkSTYdwCGK85ZGbnX9PHI8FmpOuCe1cGNAMyQMoyF9SEengi65gRa+RvAAteZJnmBF0yRVJgKdcOcb6gHS8DnGZjuWXaFEOBkWjhHNNfs9NjSQN5zQRYT2pNmgg6ytlemKjS3dgGYnMi09MxClC8qPmgAkgX6cuSPs3EhgqMcJbUAAjR7TLD4yO9MNtbMdRN4YwQLZuJ1HzJWA4Ugb26d2LB34tBA6rRdoqBmmZ5r0QjnZ9SoGuAvu9qXNBkEjImTIgrLTe8SYMayCfHgoQK1ykqjK4i4vxB+CICOI9FCFd1RTdDgeBB8DKvCq8KEAuNyqlWdmVUoilV5WheRBQnhWpC6iFeiLrSzMuwkK4Kh4uvAJSzp0XBVoVFcJWWxIczNVI7KI4WPRUDez3qJhkt6BtC2UqeazMbdMKTfvdfgEs2WYI7LMbGSIGypAV2tVNnVgvQN1M62WmnSyVXNkd4WylTiARBjWySUtGvFjXKh57OYBz5DWl3QTawXbbJ9nqjXFxtw4jih/6Xsh1X9A/7LvSFil4jzx5cq/Qx+f50seR4YrSFdHDboRdxaajVmr1WtHacGza5Ak8pWCfjLHo5Sm5MtQMBx5R4pftLDb9J7PzNI8RZaziWBn32XP5m6d6X43a1Fn36rGzcS4fBU5b4wivS/d/6LsUZcrSFGxXOZRdReCxwdAPEPcASDxBPoh7W9iMNiHFzmFroAljt2YsJER3r2K2jRqWbVYS7LdeJkXtzW3ZG1veO926zgLnSBckxlZU3ki+cbTOhkjNp5Evuz5ttDYFGlUc1pLy0kOO8CAR+GABJQ2UC6wFhkBkPmeaZ7SriviahbYOeTYaZA9SAEzpbKLQIEA8cyuv8rjFcns08FSvRz5oaDxUMoxknWMwW6IjuWF9KFZCdlGSC9FKQAz7R4ZgfP06o7qxcbkZiLTzJvqI0yWWYRMNSLnANkk6DWPq55lao7ObkVFzR+42d7MZQBORJbrl1kppsnBvzdYGCXOPZgCAdMxpHBbRSo4Wnv4kjeg7reN5j+Zcp7S/6kOqFraTA1rTNz2jlIkfdHS6uUDM5N9dDrFGgXMbXiRcE9qJyJ085AXH4kb1VxDi5rXOLZ1mQ0xyb/2WTbFc06j2uO88OIk31zRdmvJp3NxY+e75KNexo0GhQ7IjQ5jQ9RqrwvbqUsF2PYA1oAAucgB4nVYkx2k3st6/BLk6EZLXQpLivAKQ1EBVw1nNRC0tp9nnPDTr4eK82khZOIAMUrc3CHgpQsPE5eESgL9yHC0YRt+5a30ZIK5ImsO0V5oRXslx6orcEeCr5JGn4pOTozQiBWdQIUNCF2FRaPOHZP1qqbvYB5orx2D3eqtUH8JnfPWflClhat/oApC46plSHZP6isWGZLm9Qm+Ewsz+o+qryyo04IMFTYiQmNPZ8A9ErxVfdduxlmqIy5PRv/61bNWEEvAkAniQPMrtPa11EUcOGhpq6uaRZo0tnJPkuLpUGbrKj7yYgm2sjJN8Vs7/AMjB2YktyLR01HMd6WTQuHjPyFkuq/v6O5/0yriasmOy3/suyxW1mMtdxAkgaAcSbBcH/pxTO9V/S3PqutOG43+uGQXPy+bkwrhBfqUedjhLyZOX2/YSba2lXqjsuNNsyGskO5bztfRc9iaNd5G8974y3nTHSTZdriqADXOAkgExxgZLkGY6sXHfYQ2ey5rSGkaGTeFhhmyTtv8AubvEkuNQS0YH4B+sDvWWpgOJ8kxxWJJyWI1StUHI6UbrYmxpIcQNNeiZezmN91SxRntupBrejngVI5wUs2gJe760UNllMk6wMxP8xC28eUaMeWW6Z1PsVgW1HPe78EQOs3juXR48Ado278gM7bw3tRkDI5L51sfarqFVlQTuOHag5tyMjSDf/K+gYXEtrPF5YAHcnE/cBGoG6T1AXP8AJhKOTk+jLKTlLmuhfVwjnDfcIBFgdB8ylWJprtcQzeF1yu2wGOjXgmwT5OgxnyWxTQwZqPDW5n6gc+ARcd7Q0sEN1jd+rw0HEuPHl6LHjdpimCGEb+p0b/8Apcpi64cbAucTcm5JN+9djGqOZmam/sMdvYypU/i7xqB9w7MgHNsZNjIpMKG7BcJccmmf7vktFN3um9l01DnB7LRz0JWcvmYJv95xzM5gfXgrkZ2jSccHEb1NrnciRHeZlMaOHDZgRMTeb9UlbVI7IiDunITxzT9K9DI8GqdxWaEQNShFu1WdgdfgUrATna4/hj9XwKSCqOKdCthArtCHTG8YF+9MquC91T3zuudI7OYudYzUIiuCEkgfiEeP7wiUGXWBmNIdvQPhdXbjnTNpmcktBs6SnSEBeSlm1nRp4KVLJRzdXZlRv3h3yD5qaFPdz4LrmNDmjolu0tl2LmjIZKz5G+yqMUnYPYeDD3gO4r6H7Q+y+Ho4am5jgXObJuM+gyF/JfN9n4eq2HNA8QmdfFV3tgn+5ZM0XKWmdXFlior19fuL8VRANkwxns4xmHoVRUa51VpcWDNlyGg9wWE4CoeH9QR/stYN3ZsNN6107vVMr5QttoW4nDEMPUfFVr04ps5g+oK1bQw7207ie0CSLxmPUqMSwmlTPBt+OiuT0il02ZsBTl7eq7n2U2Y2o4B35j6ritnH+I3qum2XVLTZwmSdQc5yWbyk2qRs8dpHa+1uxaVBp3Tbdkr5HinbzyeJXW+0O03mg7eJOQFzxC4yo7Ia5nv08I8UPFg1b/iJmdRUZO39TU+vLGjgXEDgLAehXebOI/hMOZc9g5sNj5bviuB3d5+63MwG8506ro8LtECth3ExYBwNocDDpnLQp8sdaExU2fTvYDAgU3nWw9U72wzcpywwb55ZE+q4XZHtL7io8Bx3C7Tge0LdCmmO9q2vEBxPMg+h1XMySj8Tg4XL6/rf+B83i5Z5/kXT2Yam08VJDjYHMtaJ6WlLcRjqhNyVtxm0g7VKcRWkrPjjfaR1sUF/5SE+L2nUBdOgnIeEwl/+9PnMDrHyTfaDgWZZSkGyKRdVEgxfSy6uKMXHoo8nJKDpMYVHyze/EQTINrGByiypiKZLaTjqDaLZwT6eCYigH0WgkyGAk5RMnPmhYuiBRpAC7YnO4M36ZJ0Y5T6bZlfhogCwM84jWVt2Ptg4eoe0XU4uIvnaB1J7lP2EZ7jsz+LUcLLLUoBhIDYMTBM9NEs4WqZXikuR9GO12+695YiLczovm3tHtp0mCd50ku5cvqyNh8U+mw0yS5pJdJOTjnA4JXiMK8y8td3xMfytVfjYFBthyuMVS9lqe02Vqe7VDmvH/kbEEaF3A+vVLX1Q0QzoXkXPJo0H0Vvw5LmFooAgAz2nbxjXTJEqYTeABYwbuUPg34yt+jnsVYei1xhx3W5wBLncP8+CO3AyBfwhGGA7fZvx7QKc/YQGfWajYtCKps6IIP0BHBQdtFttwGP5j8lqxNQg6pHi/vuTR29iz/pWhoPaA/kH9R+SuPaP/wCP+79kjlaKBbF4TOKQik37NuN2wKjN3dIvxn4JaGjmPBekSiGqLW8kVroVu+wELzc1AXg6VYVWaZO6CRY5HoodWUe+JphugcTHcAqbh4Kui3kwoxIXkP3JXlKQ1sf4QmM1ueZpuGsFYqdIxZS10WJuqSWCo4VzRHpIR2075c4krLjcLJpvEW3rcSZgwOYU0KYFV54U2yReTvZeAAUqxkzaYFyAO9Wa5u9ALd7gHSdZsl9TCh1RrxDQCHOEWO6ZmeMo2GiWOjtbrrjIB2/YEWOiFIew+PwJLXAEmRnE5QR1WenRIa0HOLnnr1TAVuzcXiNbySenBDfImOmnFD0H2LaeEaKzd03+8RpGWfem+GxFNrg3dMkuyGoEnXms1DDRVDzlEanUH4Lbh6TN7ei99bDeABt3BCVPsshJoW+0G0mOp+77QIe2ZiIvMXXP42uHVHOaIaTYctF021NntPbPGSYBkbpaQBoYJ7wFyCuwpVoTNOXs14R8vA5/uujqge8pEZb49CT6SuWw74cLTpHGdE5wVN7qjHZt3jabWBDiNM5gKZYjYJ7HLK8CYmTK00trdgDd7f3gRawm/OCD4ckHEUJBiLX5wcvDI8EpxDnjd1DZAjS8n4rD8al2dxeRpHSU8YHN56cTxBvx5INWulOD2wacdnhe4NjNjxuPJb8Vt1tZ5c5sEj8JAFhwuq3iafWjVDPF9B8GzfdBvmc481OG9pMMXCm2mQXHcDyZAnsh2dxdYqlaaFY097ehrYiSd90OiBbshy5s0nD8LvAha8MNWzk+bNSyVZ3lHDObWbSF2hrWb8ZwBppotOIoDc3RE7o66kDkh02vIpPa4B260uLgXEktbMweSphtnwSXvLukyTxM/CFG0jJHHOW2F+zRccdMpOXpPel+Nw515QTyThr2AAbxnmAcsp5aKtWkwthztcoE+MpeSDwkhG/CyZjzVa2EkcLeca96c08PTuJd3qxwlPifrvViaKnCVnPPoOBkcNf2UOpyZPfw0+S6AbPYcgT3Eqp2QAYDQJ4iERWmjmRRDXSDGn+Fsp1TEJlUwYE9pts8kF+GGjp6BxPhCIKFGKwxcZhLMTsYuJMgTp/hdJ9i4z4Kv2IR94/0op10K1fZyZ2O7iFQ4B40ldezZsmwc7oEb/Zh+K3eSfBoKbkxOCOGdhH/AJSqnDP/ACrt6my2mIDjxneb0zzVTsOQYY7kd4+ko82D40cUKLh+E+CqMPK7F/soSL745Fw+I+uSEfZjdAjeJ5gER3I82D44+xBRwIA7WXC30EWlQaTZrddAnT9gPLiBmBMQJ3cgc8kM7GcDAIPc6Y52VbbZYlEyfZWflH9K8towR5ealLsbQtZtMEfdI/5eCDVrOdaIH0UvZXI+ijNxZ0Hl4K3jRnTQei8ixJjOJ14hbqTGZkkniSMvRKnVZzMa2joppsb+Y2GjhYZcOY8UHEZMeBo5LM5waZHZBudBPHnMLA2q4XD/AOoa8lpp7ScBB3DYfgInvjyS8Rkw1PatOZ3jcZQT6IlPaVM8R1CDQ2m/K0H9Ux8VR7WuMloniHuB9EGkMmOGmRLbgEyRcX+6BHQ6q9N/IlJW4ZvEgzoT6rRRAH4nHmXnn5X9EtIZMLjGFjKrotuEXzE5Ad65JoJIAzNh8E923ih7qBJ3jElxOVzaY4LBsLBGpVECYufAx5q/HqNlM9ySB1cM6nWNMXcDujqV2GzcFT90wSZAzaYOsH4965RxLcRUkdoF4vobhdPh8bSa1oNWIAFmvJEDIwInNJk3RbhdNsae4ZwcSOIvc9OKKx4abNPg31KVHH0sg95P6Y9T5qBjqYzL84+83P8ApnzWdws2LO10PG4hvAeDb+S8MS0XDWAz+Vs9RZc7X2yPwADm5lR0a3O8J8FfDbTcPvPaT+gNiOM2U+JB/wCRL6jmnWIeYFPdOe62HGMkf3+u7PcUkbtYuMh5AnR3oAqmv/NJ5z6qcaB817Y8LxwGmrRHmquqMj8I8fgEpZX4je6F3yR/tLZ7TLdXfFSvyTn+DW+qyM5GWseZVTXb/MerlRu0aIEbniPmi/7nQAsJ6AAeMoqxHJfYA3tTb1J7lpo4UnRw6tcfRqlu1m5Nhv8AU4+ikbTbOvmFNk5IOzDNjtOqd1OoB/1QzQw/4nP72Vf/AFVhtMWt5hUdtyNI/wCQ9IR2K6CtbhhkR5j1CIDRtuvpjq4n/wBVn/3v+YjoP3Qj7QkWAnrb0zTKytpDBrp+7UZ/xNP4n4rKa5P3SX53EOHjJCw1Nsudnujo0jpBKx06zWiA1oBMkARfW3xTC0hucRVH4bdD8AppVqpubdzx4ZFKftA6dP2V2Y4tNi4d5+f1CgKGwq1fyz3/AAIkoe/ULrUye9o/7QlWJ29UY2WBznSOyQe8kxOS1/748ZunnHT90QUMgyrAlkdIcfVEZRcYlzxyy9EoO3Hxn/bHHJeO3ncfLJSwUNxRpg7xYN7LednHDeOiHitptbaZ/SJHw9Uidji4mTvdZ7uiE7HHUa9Pj9QpZOJvdtEzm3wd8F5YftQ4/XioQGo4IVyrCs5QKsjIdwUt15DSy1mGy2876he33TF+llDWyBz5lXp5oBLtqFuZ81obieneflos7sl5zRNrcxb0SNJlibRsZiOIjx9UUY29myP1wfGPglr6hBz05dFNPFEgzFskOA3McHaJblTb/wAi51+F/gq/7hUINw3k2mM/VZKZkxPO2fjwuj06I+tEjpFi2ZNr1XEMBcXATE6ZImBw/YsT2r2sbSI8Ss+13HfA4D1TTDwGiABIB8RdM3UUKlc2LME0OrQciT8Tfkm1QPmzukjnml+xGTWj9XldMHU+Zz+XzSz7Dj6BsFRtoafLx4owxVu0090EeZU+5H1r1XvdCQOPTLwSFpajim8S08HQP/tCKazYEQe8ZHvyWaoO25ul/iQgvpiNczqfykqUSxjvtj6+KhtQf4ySo1XC4J46aQQoGLcDnOdj3wjxByHJq/twXhiR4XsPq6T08UeVqZOtzfP9kbZ9Uvz4Tbjf5KcaJyGf2vn5fsoOI+oPyWTdi4JVhp0S0MH+0TqfFR73KT4OCztufrRQDJvH1dSiGkVOf9ysKh4+Y8ljbSB0+pKHkbDh80QDPfMZn65KR1B9eeaxNaDP1qpAyufoIENmX+Rx6KpB+r+Kxh5+o5IYxJkjmOPzRIb5InKbfKCZXg8jMefcshdf/KqDnyjUqENYq5/Xor++OnhF++1/8LAHq+9l0UIa3VyLiZ+ghOxXP5nogNMypeYiLaTrxUIE+1i8G+kwhux44z396xY3EEdnT16qWUW3toPNGhbNv23+aP8AkF5L3AAxHqvI8QWf/9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41990" name="Picture 6" descr="http://www.mining.com/wp-content/uploads/2011/01/smelting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096" y="1268760"/>
            <a:ext cx="2952328" cy="2457814"/>
          </a:xfrm>
          <a:prstGeom prst="rect">
            <a:avLst/>
          </a:prstGeom>
          <a:noFill/>
          <a:extLst>
            <a:ext uri="{909E8E84-426E-40DD-AFC4-6F175D3DCCD1}">
              <a14:hiddenFill xmlns:a14="http://schemas.microsoft.com/office/drawing/2010/main">
                <a:solidFill>
                  <a:srgbClr val="FFFFFF"/>
                </a:solidFill>
              </a14:hiddenFill>
            </a:ext>
          </a:extLst>
        </p:spPr>
      </p:pic>
      <p:pic>
        <p:nvPicPr>
          <p:cNvPr id="41992" name="Picture 8" descr="https://encrypted-tbn0.gstatic.com/images?q=tbn:ANd9GcQmDSNx-2kWc3hR5LGrX89ebUf4A4h0nhf36mNdKyqug-nzuI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3933056"/>
            <a:ext cx="3826768" cy="2546542"/>
          </a:xfrm>
          <a:prstGeom prst="rect">
            <a:avLst/>
          </a:prstGeom>
          <a:noFill/>
          <a:extLst>
            <a:ext uri="{909E8E84-426E-40DD-AFC4-6F175D3DCCD1}">
              <a14:hiddenFill xmlns:a14="http://schemas.microsoft.com/office/drawing/2010/main">
                <a:solidFill>
                  <a:srgbClr val="FFFFFF"/>
                </a:solidFill>
              </a14:hiddenFill>
            </a:ext>
          </a:extLst>
        </p:spPr>
      </p:pic>
      <p:sp>
        <p:nvSpPr>
          <p:cNvPr id="10" name="AutoShape 10" descr="data:image/jpeg;base64,/9j/4AAQSkZJRgABAQAAAQABAAD/2wCEAAkGBhQSERQUExQWFRUWFhYXGRcYGBwYFhwXFRgVFxQaFhwXGyYeGBkjGhQXHy8gIycpLCwsFh4xNTAqNSYrLCkBCQoKDgwOGg8PGiwkHCQpKSkpKSwtKSwsKSwsKiksLCwpKSwsLCktLCwsLCwsLCwsLCwsKSwsLCwsLCwpLCwpKf/AABEIAK8BIAMBIgACEQEDEQH/xAAcAAABBQEBAQAAAAAAAAAAAAAAAwQFBggCBwH/xABLEAABAwIDBAYDCwgKAgMAAAABAAIRAyEEEjEFBkFRBxMiMmFxgZGxFBUjM0JSYnKhwdEXJEOCwtLh8BY0VHODkpOisvEIJTVEU//EABkBAQEBAQEBAAAAAAAAAAAAAAABAgQDBf/EACkRAAICAQMDAgYDAAAAAAAAAAABAgMREjFRBCFBE6EiYXGR4fAUMlL/2gAMAwEAAhEDEQA/APcUIQgBCEIAQhCAEIQgBCEIAQhCAEIQgBCEIAQhCAEIQgBCEIAQhCAEIQgBCEIAQhCAEIQgBCEIAQhCAEIQgBCEIAQhCAEIQgBCa4/adKg3NVe1gmJcYumI3uwh/T0+HG99LaoCYQkcLi2VGhzHBzTxFwlkAIQhACEIQAhCEAITTau02Yek6q+crRJjW5AET4kKCo9IWHfENqXngOH63gplIuC0IUbsTbrMU1zmBwymCHROk8DopJUgIQhACEIQAhCEAITfaGObRpuqP7rdY11gR6SoulvjQcARnuQO7xMxx+iUBOIUfsrblLEZurJlsSCIN5j0WKkEAIQhACEIQAhCEAIQhAC+Er6k8R3XcLH2ICp1ukRoJikYBiS4D7rL7hN/utcGspSTwDpPsXmmM2xRMszQZsHCJ8lHbRp3kWsVlPJpprc9N3gHvjFEuFIsJLhd5vHzWCIj7VG4HcHBXa3Flz9NbT5RK8t65zAcrncNCeJ5TdNsLj3tebkzw8r+tCI0Vsag3A4bIajXNBJa7TvcDAPrTbF78hgLhSLmgxmlwH+5gXkNHbDWN7bovYXnxIGh9CjNqbxl7MzM57RkmYt4plI2oSl3SPcsJv8A0nFocxzcxF7ECeatKzHuptNz67W5jHIkrTTDIHkkXkk46Xg6QhC0YPOt5ek6pQrvpU6bewSJcdYVbqdMuJ5MH6v8VBdI1fJjax+kfaVWqTg4SOK5pSlk7YQjjYu+O6T6lZpZUJLDZzYAn1KNZvfRY7sUWQB8pt7zre+pVcDByRkHILy1Pk9dC4ReNndIZogik0ML7mLz6wnVTpdxLOR5S0fbBVKw7QBZMse5VTfhkdcfKPS9ldMOIe4B1OmRIEgEGD6V63RfmaDzAPrErMWwD2x5haawfxbPqt9gXRW29zluilsLIQhep4Hjm83TpUoYmpRpUGEMcWy8ukxbgoZ//kLixP5vh/8Af+8qxvfhme7sS/MA4YhwDYMxlJ8tb+hQuJxpp0KbAGllSiS4EAy4vcC6dcwytA5Igy2ba6bsXiKZpuZRa0kE5Wu4GQJLtFE0Ok7EMYGhlPhftTYmIv8ASPmqg43XJKEL7sjpbxVBznU20wXBoMtJs2Y1PiVIfl42hP6D/TP7683pLvjfmP58VQem0OnzHAgOZQdf5hGv6y9t3V20cXhaVZzQ1zgZA0kEgx4WWZ62HoNdQ6suOZlEnMwNkdc0Bxhx7RvI8loro8eTgKRdrL5/zu18UaKWRCEKAEIQgBCEIASWJ7jvqn2FKrit3T5H2IDMW8VJ3XOeSHZiSByaXGI9CY1t5WtAY4OcWgiRGnD1JPeLaLs7xYQSLeBiygHU54wTzXlFPOWddtkHWoR38kzT3kZxY4+pIU9tsDs2T7B6JUS+jHEHyKSC9DlLJXZmbmzcJJ/65ck6o4V2Io0stTq2ta/rALHUkujiCIH/AEq7RxTmt5jkdE6G8Dw0tAGU6gcY08YHLxXnpkj6Duqn3fb5fuxM7s1RRrsJAN4tY9paoonsjyHsWQ9j4kvxDJ5iwWu6Hdb5D2LUE0u5z9RZGcsx2FEIQtnMZw6VngY2sDoXH2lV/AuBYI0Vh6WR/wCwq/WKr2DHZXLM7q/A5XK6XzivE9x5R0UftEqQo6KN2kkdySHe7x7Q8wtN4L4tn1G+wLMW7o7Q8wtO4H4qn9RvsC66zju8C6EIXqc5mLejBh20cSOIqk3cQLy2YaNR955KLJyUKjR3WsY8sD3xFQiQDFrmPGFNb3PLdo4qMo+GN3OjSY1BtcqHaWmnlJZDmgGX3DWxAnLI4eaIFe2hSDar2jQOIHGybuCXx9TNVebXcdNNeCQKpBSinFBoNRgOhc0HyLgD7U3papanUh7TxBB8LEG/ggLNgcDTezMG02ySCMr/AJNQRB6yYtrGojmtC9H7pwFL9bn84niSs7N2oJDA6lkvF3i2cOjv2uSb8itD9HlTNgKRkG77jTvHmSjBZUIQoUEIQgBCEIAXFbunyPsXaTxHcdHI+xAZh31qU3tzta0O60glvEET96pxqEaGJVx34cC0GmymKZqGC0Q6by144KmP1UQLFh2kUWnLTE0rzmJLYdliKZDZJzG5MgXAsq00KzbLDvc5zUqgaGkhzTVhwLXSYa/K0zBuIgFVlpWgOsLALSfnD2hXPF7boOdWDmUXsY6nkjKC41LOcPLw5Km0YETpP2cVcsJVwbx+bsoCp82sCD6DcepQEFRptbtFzWABgqQANItotaYfut8h7FkjC5vfDtta13WXa3ujTTwWt6Hdb5D2IBRCEIDNfS/Xd741QGzDuEqpU9quYL0yPOR7Qrp0pVgzatRxMAPZJ5Dn46qp7arE06bX1RVcHOMjQAgQPNTQnuaVko7CX9IPofb/AAXH9Ifofb/BRrmpIhZ9KPBv1p8lgo7yH5g9ZSNbH1ajiG0iSNQATHnyUbRCsGGxXwj2db1bnsblcAYGUklpnwPkqq48GXbPk+7ExVQVWtc3KZbYi9/Nan2f8VT+o32BZcwtWcW25dGQZiIJixN1qLZh+Bp/Ub7ArhLYy5N7jlCEKkMwdKNB3vnifgm6g68Dx14yo4YA9ST7ibp3+svw4SpLpLwgqbcrUyYD6jRPKQLqFwOyyyoM7i1zaobkNpHPxCjeE2WKy0hKthyHD82Atpn80nicMZ/q4bb5ynMf35/61KaY+qcw5R6VvfBnbIbKwLi5sYSm76z7aDVO9oYSo13awuFZYWzKU3c1p+RTLpRoxUo+Tv2FEVka6k/rGfBYZvaFgRGo18FpLccH3FTzCmO98V3O8dFlzd7ZPuh72DvimXsFu05rm9m+siVp7o9YBs6gBoA4f73KAsaEIQAhCEAIQhAC5q6HyK6XNXQ+RQGY9+K7agcQGh4qkGLE2JuFSXNur5vy6WAlzHnrSA4d4w05s3633KkuaiBL4Y0uqBdVLXhndziOy14bbJc9qMsz2pVdVlw2zaZoZjSJdlnNlrRoZJLTlnTSyrgCoHmHsW+Y9queP21QmqDSovDTTyyAC7OYdqPk/cqZR4eYXoAr1cpDn4d7y4ZRwLfl8e8gKmwN98jkjL1louI7Oi1nh+63yHsWTCR75OyxHWcNOExC1nhu436o9gUAohCEBnPpYLRtV5dEZmGToPH1qo7YdVLG530nDMYyROnGOCuHS6D76PiJmnciQNNfBVLa9RppMINNxzm7G5TEXzDhdVEZCFJuCWIXDggFKIVhwleHvHWNp1HMbkc7QAG4voVAMVgwlUtqOc57A0U25jkzG5sGjn4ogfMG53upuaoKp7PbGngtSbL+JpfUb7AsvUsQ12KYQ4PgMlwEAka2C1Dsr4il9RvsCjCHSEIQpmXpMY07dqh/dL2TNhoNTy0TjFtJLA4CWVKfeu9ge2YD47TZzD0BfOkanO3qpizXU3HyAaDbjqim9zmMc2pNE1aZa0gZmmXZmk6jK4CPNZn/AFf0NV/3R3tTZxF4nyVdxrAHidSvQMfQn1KmbwYbLUbb0z9y9EzDRL7pHNlMaSm/Ss3tUT9f9hO9yxY+E/ckOlJt6P8AifsLK3Kyu7jMBxMFoJyOyTwdLbgjR2WY8VpncyfcdKde3M2PfdryKzVufTyGpUcCaZY6mcslwk0zmtoALz9FaV3MbGDpCS6M9zcntuuqRE2hCFCghCEAIQhAC5qaHyK6XNTQ+RQGZt96zXlxhoe2sWkixIhxMjzAVOeFbt+BSNRzg9rquch0TcXu6eMjXxVScEQJnCUwaTSKjw8N7rRnHYDssgN7PePFV1qnMJipp5HVmloaYpFt+Ng50D7VCU/IxZGByzh5hW/HbWoA1QaVFwYWZbAF2Yw7hwVOqPAAgmZ5Qrti2sdTpjFdSTl7ZcYfm4ZS1E8orWCtBrBtAhkZc9ssZdBpC1thO4z6rfYFkLBMptxgFIywO7JPKPELXmD+LZ9VvsCEFkIQgM7dMT42o68E9VflEFU7bdWmRaDUm7g3KCOHn5q39NH/AMppN6dh5Cyp+0alR1L4VpDg8wS2OyRpbyVRCJaV9ITcOhOWm4ninzKdBWLZz3CpJfkmkReXE3hsAi/kq2TeFPYau4kmk3NU6qGlt4JcJJnSyIjFKNdr8UC1paJaCCMpJm5I4StQ7G/q9H+7Z/xCzBSz+6KXWjK/KzMTGoOphae2Kfzej/ds/wCIUCHqEIQpmrpNH/vniSJdS0MHglK57LXNuDUYXPZ3CQYJqN+Q8aTxSPSzlbtx5cYbNIk+ECdEHaDqdRoeyGPdJrs7THsANnCO8QYKklmLRY9pdi3Yinp5BVbePBzVpnxM8yFc9g4A1qdNkhrslpm55HkQobefCmjVpB7XAh3a9NrfzdY1pG9LkxLdXCZWvtFyI00UZ0oa0P8AE/YVr2DTBYSCCDxAj1jnqq10qNE4f/F/YXojzfbsV3cpsV3uzFobTcZbfi0SW/KEEyORK0huWIwdMREF+nd7xIy+EFZy3OeBXPaDHFjgxxEgPlsZo0bAIM2utF7jEnBU8zQ10vzAaZs7pjwVIieQhChQQhNto4jJSe6QCGOIkxcAkaoBriN5MOxxa6q0Eai59iQdvhhR+k+w/gqJuhjKQdUOJM2DriZvdTlTevZrbBmbyYPvXK7Z58HV6UeGyTPSJg8+XOZ5xb1ykfyk4QlzR1sjUZLx4CVRcJvZgKT6oGErwXy3K2mQR6QI9ZTurv3hxiGVqeAqOlha7utd4S2IPrW9b5RjQuGUPehhxD3kUcjjUJDnQwup9rUE6yRz0VZdserlLsnZBieElevbZ33Fbq3M2a7Mx4PaIa7LF4LB7UtX33fVpVKbdnPlzbZ3l4zDuggCR6EU3jdBwXDPKcNsAODGik1zy24LnNeTfSSGnh6klgdx8RUa40odFnATIPIwF7Fs7b9fLTdUwB61lhao4Ng2y6xZN8NtHH9fWJwE0nGWxTqB0zxg34qSm++H7FVeN0eVbP3IxNeYa4tY6HGNCNZBVhweyG4ghjcM0uMkZmEZo1ykC5VxfW2y3rxRoNYypGQdWAW/O71zqdZTV2ztsOpMaahaW3aA2i3K71TEpqfPsNPyX3KbQ3JDcS7NnpODhDerIYOFnOtB19K9Wp76YyTQZhXF7GiLatgAObLspGhVWdgNrmp1lWsy9PI8dZSbmF4JBPko9mw8XSrNqtxlNkAgtdi6fdOoBz6X0WXq8N7cGsR4RcKe+O0nVHUW4d3WNAJDhTbYxBnPcXGiRxm3dskkNa1pacpAa08JBvzCqtbCVfdDcQdo4Zrg3KZxbSSL2Ja7+YSWIrF9VzW7QpHNTlxbWe4SxwInK3jmK85ysXJuMY+cETvvgMW97MViCHE1AwmGt7TDp2dAReVX9pNqilFQCMwgh06Ai/j+CncZSY7DVT7rD3NyvyhtQgubPEixIJEmeCq+Jw1MML2VS4kiWkG0yTddVMm44e5zWxSeUMsBs99ao2nTbmc6wHtJ5AK50ujF+UZ6t+TWyPWSl+j/AAwpUnViJe+QPqN4DzPsVq9/Y1Y70QfRquG/qJ6sQ8HrXWsZkUHaW5XUntVmgxOXKS6Bxht48Uhs/A1GglhvUb2O8HGHA5sokhtokwLq6VHUcrw4dl7jn7BBcRftOBmPSmzsJhnuzEgEgAhrnsBAAABFxEDRah1Eku+RKtFaZSf1jalQBzWkAubJbOYmAeJvoJXv+wN+sE6jTaMQ0FjGtOYFsEACCXCJ9K8wrYKlWcxzwC1jexTa8Cn6oB4IxeBdUkGq5tPjSa1mUNHBp4TzWl1fJPSPaKe8uFcSBiKRjWHtIE6SZgJ1T2hTdEVGGdIcL+S8BfsFwf8ABuDWGzWmkSGjmIMZvpHVKDZ9VnwdLq2g/L7fW+Jm1/DQehei6mJj0mRfS3VA2250ZoNEwLzEaDijaFB3VucCcp6t0gAU3Xyns/IdMHhxUtVwFTI4y11TRoLwXnhmqVHXPk2EicA9jDTZReXEiape2C7mQZhqPqIyTRqENMlJ+CT2Lts0ywNbJOUjhdwiZ9P2JrvntZ9Uk1G9sQ2R9Ajw8+KittVxhIYKmeuQC53yWjk1osmmB2l10tr1Z5AmBfVeMINRUvB7wWuzQnhlv3PrNNHszEmZ4nibDmoDpSd2qHlU9rEUtvjDUyyiQ4yTzF/FRO3dq1MZkz0wCwOjLpeJmfILvjLKOe6t1y7tP6HG5NWK7hcB1NwLgJAEtPasYaYgnxWhtxBGCYLWc8WMizjoeSzhu/thuGqEy+XNLczQCBdpmD3hbRaI6Onh2BY4ZYc+o4Ze7dx05XlaZ4os6EIUAKpb5YymKtJtUAsIMmwIMjifJW1UfpM2c97GPYxzw3WBMC9z4eKjKjzLaW9HuSpnptbU7T7Pu0gGWzGq4/LBVk/A4RvlQk/a5RG8dFuUSNc3riyqwYOSxBLfBtyZendLtf5PUDywzPvJSLulbHPENqhvDs0aQ1/V8FW8VsnJSY/Owl02Bk20jn4prSxDmzlMT4D+Qtak18I7p/EWSr0g7RBGbGVxOkZR7Aufyh48iPdeIPj1kexvgqziMQ54GYzGi7GDebGpHZm/sUy0h2exKv33xT9cTiDeL138fLgpnAiq9oLq1Yki466pH/JU/DbKl3fbYTbwurP7taIDJiBrrMX+1ddCjPOT5nX3W1JKG7H53fz3NR3pqPPtN03xO67QJNQDzP4pP3xcOaaYzabi+leIdm0nTw4rolCuMW0fNov6uyxRbOn7rsP6VsebfwStPc+kRetB8Cz+QlhvDUyglwkjTqxB1MLjEbXc6kRa8fIvEjXyXM3F+D7ChZ/t/ZHx25NHhXd6m/ilsBuoylUzCtm7JEEc/Sh23HFsBzBbhS5i/kgbdMj4uLN7kmB/0sNQawzaVieVL2/J3idiHI5rXB2cReRGt7/dyUUNy6oBaKrYmdDqpOnvQ4PM06Lg4caekTHmTKe0t4i8D83w14MFht5QbJGEI7L3EndLeXt+T5h9nvp0W0wA7KA3jFtT/PNKv2Y7SG87OIufQl8Nt9xcScDh3TEDK6IkzJB/mEYreAZi73BSJOVuUB0DhIiF5/xqePc16l/+l9hBmFd9LSdZE6RpquvewzqDPMDj5cUp77tDg52AYBBmHVB5GJgfxTk7x029r3A20Xzvi/EiYU/i1frIrL+V9mMHNeIAgxbu6Dkk3VpF2NJjgSJi1vDVO/6TCnVA9zUzmc54OdxyyIAdFiOQKhdr4ggsLTLi1xdIsJJjLHCF439NCENUdzdN9jtcJYxjI9p7RM9xwi1neCcUNpyWtHWa66j0+CrbcQYmG63vCkaYAbOVx5wZ9S4JQR3KTJj3xuJc62st89V0NoQMxc06m7YsBdRL8U2ACXtNrx6E32m14p1O1MMNo+2VlVp9i5Krj9oOq1XvJkuJP4fYkxmy5o7MxPCdU06oqTrYpvUtHVi5JgE2MQCvrP4Ukjj33G7a5TiliHxAkZhHG88lF5iFObvEvq0w64boPAXWiFiwG7jGsh2VziL8weQ5L0/oUxxOHr0DPwNUEeVQG3rYT6VXaG26Zo9S2m0O+fHal3eM+iArH0UYYMq4wj5Qw59Pw4UTK0ejIQhUgJvj8L1lJ7JjO1zZ5ZgRP2pwhAZe3nL2OfTqN+EZmY5vJ1rjwIvPiqvD/mrTG9fRXg9oVeuq9Yx8AONJwbmju5gQZI5/goen0BbOHysQfOoP3FnDL2PAAX2kacz/ABXRqH5rB6f4rQbegrZvzap83/wTih0K7MaZNJzvAu/CEwayjORr/wB2Fw7EfSYPIfwWmx0SbM/srfWfxSrOi3Zw0wzB60wTJmXZ+Lh4GYGbRHNWHCULyCAQOK9+/JxgP7O37V4hvXuxiMJiqrKdGq+nmOVwYT2eGi96paU0cXU1ubTQnVonKRa+tyoXE0hnZcjW4ulKj6471CqLcabh9yYVatSQcjxBnukfcvSUsrB411NWKRIdUyZzukcxA5FFSm2PjHX1kQSo33xcDfMNftXz3wda5j714H0CRZSEDtkTEiPO6DhhIPWXF9LBMXbVJ4o99XXM/wA8EIP4Inti3GNV9a90j4QQY4JgNrTx4zoF9dtrk23oj2KgfUi8PltSMogHnPpXZr1XXNXSbAnx1uok7XdmmAun7XLtWiygJKnWqmXmqTPCTwkc9EuMXXylvWNg8JKiRtn6DUDa/wBAaygHPWVBVALrRzspl2JyAA6uYA20mbqu0NoAvaYgCftXoezOjavtKgyrTqtpNaC0SCSS0gjhYXInwUsjqhhnnB6bW/kVhteRDgw+BEA85TigACOwIngSNYvYqfqdCGPbJbWpP8LifulRtbow2rTE9SHD6LwT6gSVxzofg7I2cipwjCBDyI8ZXGJwJNN4z5gWOEEeCY1d3No0u/hKo8QJTWricRT+Mo1m+bHLn9KcT21RZWoXT6JAki3Nc4mz5AOWZuCnbtqSI18F9ByfbCPOuqEk3J4xsMsqmd2HRiGzxkesGFDYgQZGhSmDxUOBBgi48wt7njKOl4Z6S52R9xALRfxGsq99ExzjFVROVzqbGnn1YeTHpevJa23OvYGNB6x1oF5Pgvedw9gHB4KnSd3z23Dk52oHloolgzksKEIVAIQhACEIQAhCEAIQhACEIQHLqQOoB8xK49ys+a31BKoQCBwNM6sZ/lH4JvU2Dh3XdQpGedNv4J+hARLt0sGdcLh/9Jn4JP8AoXgf7Hh/9Jn4KaQgK1U6N9nO1wlL1EewpJ3RZsw//Tp+t37ytSEBUXdE+yyP6oweTn/vJs7ob2af0H+5XdCAobuhTZn/AOTv85/BJVOg3ZpFmVB/iFegoQHm35BsBzq/5ldN3N26WCpClRnLzJkqVQmRgEIQgCFw6kDqAfMSu0IBjiNh4ep36NN082NPtCiMV0cbPqTmwtO86SNeUGFZUICgYjoR2c4GGPafB59ijKv/AI/YP5NWqPTK9SQg3Kjuz0XYLBw5tPrKgn4SoS43jRpOUaaxOt1bkIQAhCEB/9k="/>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 name="AutoShape 12" descr="data:image/jpeg;base64,/9j/4AAQSkZJRgABAQAAAQABAAD/2wCEAAkGBhQSERQUExQWFRUWFhYXGRcYGBwYFhwXFRgVFxQaFhwXGyYeGBkjGhQXHy8gIycpLCwsFh4xNTAqNSYrLCkBCQoKDgwOGg8PGiwkHCQpKSkpKSwtKSwsKSwsKiksLCwpKSwsLCktLCwsLCwsLCwsLCwsKSwsLCwsLCwpLCwpKf/AABEIAK8BIAMBIgACEQEDEQH/xAAcAAABBQEBAQAAAAAAAAAAAAAAAwQFBggCBwH/xABLEAABAwIDBAYDCwgKAgMAAAABAAIRAyEEEjEFBkFRBxMiMmFxgZGxFBUjM0JSYnKhwdEXJEOCwtLh8BY0VHODkpOisvEIJTVEU//EABkBAQEBAQEBAAAAAAAAAAAAAAABAgQDBf/EACkRAAICAQMDAgYDAAAAAAAAAAABAgMREjFRBCFBE6EiYXGR4fAUMlL/2gAMAwEAAhEDEQA/APcUIQgBCEIAQhCAEIQgBCEIAQhCAEIQgBCEIAQhCAEIQgBCEIAQhCAEIQgBCEIAQhCAEIQgBCEIAQhCAEIQgBCEIAQhCAEIQgBCa4/adKg3NVe1gmJcYumI3uwh/T0+HG99LaoCYQkcLi2VGhzHBzTxFwlkAIQhACEIQAhCEAITTau02Yek6q+crRJjW5AET4kKCo9IWHfENqXngOH63gplIuC0IUbsTbrMU1zmBwymCHROk8DopJUgIQhACEIQAhCEAITfaGObRpuqP7rdY11gR6SoulvjQcARnuQO7xMxx+iUBOIUfsrblLEZurJlsSCIN5j0WKkEAIQhACEIQAhCEAIQhAC+Er6k8R3XcLH2ICp1ukRoJikYBiS4D7rL7hN/utcGspSTwDpPsXmmM2xRMszQZsHCJ8lHbRp3kWsVlPJpprc9N3gHvjFEuFIsJLhd5vHzWCIj7VG4HcHBXa3Flz9NbT5RK8t65zAcrncNCeJ5TdNsLj3tebkzw8r+tCI0Vsag3A4bIajXNBJa7TvcDAPrTbF78hgLhSLmgxmlwH+5gXkNHbDWN7bovYXnxIGh9CjNqbxl7MzM57RkmYt4plI2oSl3SPcsJv8A0nFocxzcxF7ECeatKzHuptNz67W5jHIkrTTDIHkkXkk46Xg6QhC0YPOt5ek6pQrvpU6bewSJcdYVbqdMuJ5MH6v8VBdI1fJjax+kfaVWqTg4SOK5pSlk7YQjjYu+O6T6lZpZUJLDZzYAn1KNZvfRY7sUWQB8pt7zre+pVcDByRkHILy1Pk9dC4ReNndIZogik0ML7mLz6wnVTpdxLOR5S0fbBVKw7QBZMse5VTfhkdcfKPS9ldMOIe4B1OmRIEgEGD6V63RfmaDzAPrErMWwD2x5haawfxbPqt9gXRW29zluilsLIQhep4Hjm83TpUoYmpRpUGEMcWy8ukxbgoZ//kLixP5vh/8Af+8qxvfhme7sS/MA4YhwDYMxlJ8tb+hQuJxpp0KbAGllSiS4EAy4vcC6dcwytA5Igy2ba6bsXiKZpuZRa0kE5Wu4GQJLtFE0Ok7EMYGhlPhftTYmIv8ASPmqg43XJKEL7sjpbxVBznU20wXBoMtJs2Y1PiVIfl42hP6D/TP7683pLvjfmP58VQem0OnzHAgOZQdf5hGv6y9t3V20cXhaVZzQ1zgZA0kEgx4WWZ62HoNdQ6suOZlEnMwNkdc0Bxhx7RvI8loro8eTgKRdrL5/zu18UaKWRCEKAEIQgBCEIASWJ7jvqn2FKrit3T5H2IDMW8VJ3XOeSHZiSByaXGI9CY1t5WtAY4OcWgiRGnD1JPeLaLs7xYQSLeBiygHU54wTzXlFPOWddtkHWoR38kzT3kZxY4+pIU9tsDs2T7B6JUS+jHEHyKSC9DlLJXZmbmzcJJ/65ck6o4V2Io0stTq2ta/rALHUkujiCIH/AEq7RxTmt5jkdE6G8Dw0tAGU6gcY08YHLxXnpkj6Duqn3fb5fuxM7s1RRrsJAN4tY9paoonsjyHsWQ9j4kvxDJ5iwWu6Hdb5D2LUE0u5z9RZGcsx2FEIQtnMZw6VngY2sDoXH2lV/AuBYI0Vh6WR/wCwq/WKr2DHZXLM7q/A5XK6XzivE9x5R0UftEqQo6KN2kkdySHe7x7Q8wtN4L4tn1G+wLMW7o7Q8wtO4H4qn9RvsC66zju8C6EIXqc5mLejBh20cSOIqk3cQLy2YaNR955KLJyUKjR3WsY8sD3xFQiQDFrmPGFNb3PLdo4qMo+GN3OjSY1BtcqHaWmnlJZDmgGX3DWxAnLI4eaIFe2hSDar2jQOIHGybuCXx9TNVebXcdNNeCQKpBSinFBoNRgOhc0HyLgD7U3papanUh7TxBB8LEG/ggLNgcDTezMG02ySCMr/AJNQRB6yYtrGojmtC9H7pwFL9bn84niSs7N2oJDA6lkvF3i2cOjv2uSb8itD9HlTNgKRkG77jTvHmSjBZUIQoUEIQgBCEIAXFbunyPsXaTxHcdHI+xAZh31qU3tzta0O60glvEET96pxqEaGJVx34cC0GmymKZqGC0Q6by144KmP1UQLFh2kUWnLTE0rzmJLYdliKZDZJzG5MgXAsq00KzbLDvc5zUqgaGkhzTVhwLXSYa/K0zBuIgFVlpWgOsLALSfnD2hXPF7boOdWDmUXsY6nkjKC41LOcPLw5Km0YETpP2cVcsJVwbx+bsoCp82sCD6DcepQEFRptbtFzWABgqQANItotaYfut8h7FkjC5vfDtta13WXa3ujTTwWt6Hdb5D2IBRCEIDNfS/Xd741QGzDuEqpU9quYL0yPOR7Qrp0pVgzatRxMAPZJ5Dn46qp7arE06bX1RVcHOMjQAgQPNTQnuaVko7CX9IPofb/AAXH9Ifofb/BRrmpIhZ9KPBv1p8lgo7yH5g9ZSNbH1ajiG0iSNQATHnyUbRCsGGxXwj2db1bnsblcAYGUklpnwPkqq48GXbPk+7ExVQVWtc3KZbYi9/Nan2f8VT+o32BZcwtWcW25dGQZiIJixN1qLZh+Bp/Ub7ArhLYy5N7jlCEKkMwdKNB3vnifgm6g68Dx14yo4YA9ST7ibp3+svw4SpLpLwgqbcrUyYD6jRPKQLqFwOyyyoM7i1zaobkNpHPxCjeE2WKy0hKthyHD82Atpn80nicMZ/q4bb5ynMf35/61KaY+qcw5R6VvfBnbIbKwLi5sYSm76z7aDVO9oYSo13awuFZYWzKU3c1p+RTLpRoxUo+Tv2FEVka6k/rGfBYZvaFgRGo18FpLccH3FTzCmO98V3O8dFlzd7ZPuh72DvimXsFu05rm9m+siVp7o9YBs6gBoA4f73KAsaEIQAhCEAIQhAC5q6HyK6XNXQ+RQGY9+K7agcQGh4qkGLE2JuFSXNur5vy6WAlzHnrSA4d4w05s3633KkuaiBL4Y0uqBdVLXhndziOy14bbJc9qMsz2pVdVlw2zaZoZjSJdlnNlrRoZJLTlnTSyrgCoHmHsW+Y9queP21QmqDSovDTTyyAC7OYdqPk/cqZR4eYXoAr1cpDn4d7y4ZRwLfl8e8gKmwN98jkjL1louI7Oi1nh+63yHsWTCR75OyxHWcNOExC1nhu436o9gUAohCEBnPpYLRtV5dEZmGToPH1qo7YdVLG530nDMYyROnGOCuHS6D76PiJmnciQNNfBVLa9RppMINNxzm7G5TEXzDhdVEZCFJuCWIXDggFKIVhwleHvHWNp1HMbkc7QAG4voVAMVgwlUtqOc57A0U25jkzG5sGjn4ogfMG53upuaoKp7PbGngtSbL+JpfUb7AsvUsQ12KYQ4PgMlwEAka2C1Dsr4il9RvsCjCHSEIQpmXpMY07dqh/dL2TNhoNTy0TjFtJLA4CWVKfeu9ge2YD47TZzD0BfOkanO3qpizXU3HyAaDbjqim9zmMc2pNE1aZa0gZmmXZmk6jK4CPNZn/AFf0NV/3R3tTZxF4nyVdxrAHidSvQMfQn1KmbwYbLUbb0z9y9EzDRL7pHNlMaSm/Ss3tUT9f9hO9yxY+E/ckOlJt6P8AifsLK3Kyu7jMBxMFoJyOyTwdLbgjR2WY8VpncyfcdKde3M2PfdryKzVufTyGpUcCaZY6mcslwk0zmtoALz9FaV3MbGDpCS6M9zcntuuqRE2hCFCghCEAIQhAC5qaHyK6XNTQ+RQGZt96zXlxhoe2sWkixIhxMjzAVOeFbt+BSNRzg9rquch0TcXu6eMjXxVScEQJnCUwaTSKjw8N7rRnHYDssgN7PePFV1qnMJipp5HVmloaYpFt+Ng50D7VCU/IxZGByzh5hW/HbWoA1QaVFwYWZbAF2Yw7hwVOqPAAgmZ5Qrti2sdTpjFdSTl7ZcYfm4ZS1E8orWCtBrBtAhkZc9ssZdBpC1thO4z6rfYFkLBMptxgFIywO7JPKPELXmD+LZ9VvsCEFkIQgM7dMT42o68E9VflEFU7bdWmRaDUm7g3KCOHn5q39NH/AMppN6dh5Cyp+0alR1L4VpDg8wS2OyRpbyVRCJaV9ITcOhOWm4ninzKdBWLZz3CpJfkmkReXE3hsAi/kq2TeFPYau4kmk3NU6qGlt4JcJJnSyIjFKNdr8UC1paJaCCMpJm5I4StQ7G/q9H+7Z/xCzBSz+6KXWjK/KzMTGoOphae2Kfzej/ds/wCIUCHqEIQpmrpNH/vniSJdS0MHglK57LXNuDUYXPZ3CQYJqN+Q8aTxSPSzlbtx5cYbNIk+ECdEHaDqdRoeyGPdJrs7THsANnCO8QYKklmLRY9pdi3Yinp5BVbePBzVpnxM8yFc9g4A1qdNkhrslpm55HkQobefCmjVpB7XAh3a9NrfzdY1pG9LkxLdXCZWvtFyI00UZ0oa0P8AE/YVr2DTBYSCCDxAj1jnqq10qNE4f/F/YXojzfbsV3cpsV3uzFobTcZbfi0SW/KEEyORK0huWIwdMREF+nd7xIy+EFZy3OeBXPaDHFjgxxEgPlsZo0bAIM2utF7jEnBU8zQ10vzAaZs7pjwVIieQhChQQhNto4jJSe6QCGOIkxcAkaoBriN5MOxxa6q0Eai59iQdvhhR+k+w/gqJuhjKQdUOJM2DriZvdTlTevZrbBmbyYPvXK7Z58HV6UeGyTPSJg8+XOZ5xb1ykfyk4QlzR1sjUZLx4CVRcJvZgKT6oGErwXy3K2mQR6QI9ZTurv3hxiGVqeAqOlha7utd4S2IPrW9b5RjQuGUPehhxD3kUcjjUJDnQwup9rUE6yRz0VZdserlLsnZBieElevbZ33Fbq3M2a7Mx4PaIa7LF4LB7UtX33fVpVKbdnPlzbZ3l4zDuggCR6EU3jdBwXDPKcNsAODGik1zy24LnNeTfSSGnh6klgdx8RUa40odFnATIPIwF7Fs7b9fLTdUwB61lhao4Ng2y6xZN8NtHH9fWJwE0nGWxTqB0zxg34qSm++H7FVeN0eVbP3IxNeYa4tY6HGNCNZBVhweyG4ghjcM0uMkZmEZo1ykC5VxfW2y3rxRoNYypGQdWAW/O71zqdZTV2ztsOpMaahaW3aA2i3K71TEpqfPsNPyX3KbQ3JDcS7NnpODhDerIYOFnOtB19K9Wp76YyTQZhXF7GiLatgAObLspGhVWdgNrmp1lWsy9PI8dZSbmF4JBPko9mw8XSrNqtxlNkAgtdi6fdOoBz6X0WXq8N7cGsR4RcKe+O0nVHUW4d3WNAJDhTbYxBnPcXGiRxm3dskkNa1pacpAa08JBvzCqtbCVfdDcQdo4Zrg3KZxbSSL2Ja7+YSWIrF9VzW7QpHNTlxbWe4SxwInK3jmK85ysXJuMY+cETvvgMW97MViCHE1AwmGt7TDp2dAReVX9pNqilFQCMwgh06Ai/j+CncZSY7DVT7rD3NyvyhtQgubPEixIJEmeCq+Jw1MML2VS4kiWkG0yTddVMm44e5zWxSeUMsBs99ao2nTbmc6wHtJ5AK50ujF+UZ6t+TWyPWSl+j/AAwpUnViJe+QPqN4DzPsVq9/Y1Y70QfRquG/qJ6sQ8HrXWsZkUHaW5XUntVmgxOXKS6Bxht48Uhs/A1GglhvUb2O8HGHA5sokhtokwLq6VHUcrw4dl7jn7BBcRftOBmPSmzsJhnuzEgEgAhrnsBAAABFxEDRah1Eku+RKtFaZSf1jalQBzWkAubJbOYmAeJvoJXv+wN+sE6jTaMQ0FjGtOYFsEACCXCJ9K8wrYKlWcxzwC1jexTa8Cn6oB4IxeBdUkGq5tPjSa1mUNHBp4TzWl1fJPSPaKe8uFcSBiKRjWHtIE6SZgJ1T2hTdEVGGdIcL+S8BfsFwf8ABuDWGzWmkSGjmIMZvpHVKDZ9VnwdLq2g/L7fW+Jm1/DQehei6mJj0mRfS3VA2250ZoNEwLzEaDijaFB3VucCcp6t0gAU3Xyns/IdMHhxUtVwFTI4y11TRoLwXnhmqVHXPk2EicA9jDTZReXEiape2C7mQZhqPqIyTRqENMlJ+CT2Lts0ywNbJOUjhdwiZ9P2JrvntZ9Uk1G9sQ2R9Ajw8+KittVxhIYKmeuQC53yWjk1osmmB2l10tr1Z5AmBfVeMINRUvB7wWuzQnhlv3PrNNHszEmZ4nibDmoDpSd2qHlU9rEUtvjDUyyiQ4yTzF/FRO3dq1MZkz0wCwOjLpeJmfILvjLKOe6t1y7tP6HG5NWK7hcB1NwLgJAEtPasYaYgnxWhtxBGCYLWc8WMizjoeSzhu/thuGqEy+XNLczQCBdpmD3hbRaI6Onh2BY4ZYc+o4Ze7dx05XlaZ4os6EIUAKpb5YymKtJtUAsIMmwIMjifJW1UfpM2c97GPYxzw3WBMC9z4eKjKjzLaW9HuSpnptbU7T7Pu0gGWzGq4/LBVk/A4RvlQk/a5RG8dFuUSNc3riyqwYOSxBLfBtyZendLtf5PUDywzPvJSLulbHPENqhvDs0aQ1/V8FW8VsnJSY/Owl02Bk20jn4prSxDmzlMT4D+Qtak18I7p/EWSr0g7RBGbGVxOkZR7Aufyh48iPdeIPj1kexvgqziMQ54GYzGi7GDebGpHZm/sUy0h2exKv33xT9cTiDeL138fLgpnAiq9oLq1Yki466pH/JU/DbKl3fbYTbwurP7taIDJiBrrMX+1ddCjPOT5nX3W1JKG7H53fz3NR3pqPPtN03xO67QJNQDzP4pP3xcOaaYzabi+leIdm0nTw4rolCuMW0fNov6uyxRbOn7rsP6VsebfwStPc+kRetB8Cz+QlhvDUyglwkjTqxB1MLjEbXc6kRa8fIvEjXyXM3F+D7ChZ/t/ZHx25NHhXd6m/ilsBuoylUzCtm7JEEc/Sh23HFsBzBbhS5i/kgbdMj4uLN7kmB/0sNQawzaVieVL2/J3idiHI5rXB2cReRGt7/dyUUNy6oBaKrYmdDqpOnvQ4PM06Lg4caekTHmTKe0t4i8D83w14MFht5QbJGEI7L3EndLeXt+T5h9nvp0W0wA7KA3jFtT/PNKv2Y7SG87OIufQl8Nt9xcScDh3TEDK6IkzJB/mEYreAZi73BSJOVuUB0DhIiF5/xqePc16l/+l9hBmFd9LSdZE6RpquvewzqDPMDj5cUp77tDg52AYBBmHVB5GJgfxTk7x029r3A20Xzvi/EiYU/i1frIrL+V9mMHNeIAgxbu6Dkk3VpF2NJjgSJi1vDVO/6TCnVA9zUzmc54OdxyyIAdFiOQKhdr4ggsLTLi1xdIsJJjLHCF439NCENUdzdN9jtcJYxjI9p7RM9xwi1neCcUNpyWtHWa66j0+CrbcQYmG63vCkaYAbOVx5wZ9S4JQR3KTJj3xuJc62st89V0NoQMxc06m7YsBdRL8U2ACXtNrx6E32m14p1O1MMNo+2VlVp9i5Krj9oOq1XvJkuJP4fYkxmy5o7MxPCdU06oqTrYpvUtHVi5JgE2MQCvrP4Ukjj33G7a5TiliHxAkZhHG88lF5iFObvEvq0w64boPAXWiFiwG7jGsh2VziL8weQ5L0/oUxxOHr0DPwNUEeVQG3rYT6VXaG26Zo9S2m0O+fHal3eM+iArH0UYYMq4wj5Qw59Pw4UTK0ejIQhUgJvj8L1lJ7JjO1zZ5ZgRP2pwhAZe3nL2OfTqN+EZmY5vJ1rjwIvPiqvD/mrTG9fRXg9oVeuq9Yx8AONJwbmju5gQZI5/goen0BbOHysQfOoP3FnDL2PAAX2kacz/ABXRqH5rB6f4rQbegrZvzap83/wTih0K7MaZNJzvAu/CEwayjORr/wB2Fw7EfSYPIfwWmx0SbM/srfWfxSrOi3Zw0wzB60wTJmXZ+Lh4GYGbRHNWHCULyCAQOK9+/JxgP7O37V4hvXuxiMJiqrKdGq+nmOVwYT2eGi96paU0cXU1ubTQnVonKRa+tyoXE0hnZcjW4ulKj6471CqLcabh9yYVatSQcjxBnukfcvSUsrB411NWKRIdUyZzukcxA5FFSm2PjHX1kQSo33xcDfMNftXz3wda5j714H0CRZSEDtkTEiPO6DhhIPWXF9LBMXbVJ4o99XXM/wA8EIP4Inti3GNV9a90j4QQY4JgNrTx4zoF9dtrk23oj2KgfUi8PltSMogHnPpXZr1XXNXSbAnx1uok7XdmmAun7XLtWiygJKnWqmXmqTPCTwkc9EuMXXylvWNg8JKiRtn6DUDa/wBAaygHPWVBVALrRzspl2JyAA6uYA20mbqu0NoAvaYgCftXoezOjavtKgyrTqtpNaC0SCSS0gjhYXInwUsjqhhnnB6bW/kVhteRDgw+BEA85TigACOwIngSNYvYqfqdCGPbJbWpP8LifulRtbow2rTE9SHD6LwT6gSVxzofg7I2cipwjCBDyI8ZXGJwJNN4z5gWOEEeCY1d3No0u/hKo8QJTWricRT+Mo1m+bHLn9KcT21RZWoXT6JAki3Nc4mz5AOWZuCnbtqSI18F9ByfbCPOuqEk3J4xsMsqmd2HRiGzxkesGFDYgQZGhSmDxUOBBgi48wt7njKOl4Z6S52R9xALRfxGsq99ExzjFVROVzqbGnn1YeTHpevJa23OvYGNB6x1oF5Pgvedw9gHB4KnSd3z23Dk52oHloolgzksKEIVAIQhACEIQAhCEAIQhACEIQHLqQOoB8xK49ys+a31BKoQCBwNM6sZ/lH4JvU2Dh3XdQpGedNv4J+hARLt0sGdcLh/9Jn4JP8AoXgf7Hh/9Jn4KaQgK1U6N9nO1wlL1EewpJ3RZsw//Tp+t37ytSEBUXdE+yyP6oweTn/vJs7ob2af0H+5XdCAobuhTZn/AOTv85/BJVOg3ZpFmVB/iFegoQHm35BsBzq/5ldN3N26WCpClRnLzJkqVQmRgEIQgCFw6kDqAfMSu0IBjiNh4ep36NN082NPtCiMV0cbPqTmwtO86SNeUGFZUICgYjoR2c4GGPafB59ijKv/AI/YP5NWqPTK9SQg3Kjuz0XYLBw5tPrKgn4SoS43jRpOUaaxOt1bkIQAhCEB/9k="/>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 name="AutoShape 14" descr="data:image/jpeg;base64,/9j/4AAQSkZJRgABAQAAAQABAAD/2wCEAAkGBhQSERQUExQWFRUWFhYXGRcYGBwYFhwXFRgVFxQaFhwXGyYeGBkjGhQXHy8gIycpLCwsFh4xNTAqNSYrLCkBCQoKDgwOGg8PGiwkHCQpKSkpKSwtKSwsKSwsKiksLCwpKSwsLCktLCwsLCwsLCwsLCwsKSwsLCwsLCwpLCwpKf/AABEIAK8BIAMBIgACEQEDEQH/xAAcAAABBQEBAQAAAAAAAAAAAAAAAwQFBggCBwH/xABLEAABAwIDBAYDCwgKAgMAAAABAAIRAyEEEjEFBkFRBxMiMmFxgZGxFBUjM0JSYnKhwdEXJEOCwtLh8BY0VHODkpOisvEIJTVEU//EABkBAQEBAQEBAAAAAAAAAAAAAAABAgQDBf/EACkRAAICAQMDAgYDAAAAAAAAAAABAgMREjFRBCFBE6EiYXGR4fAUMlL/2gAMAwEAAhEDEQA/APcUIQgBCEIAQhCAEIQgBCEIAQhCAEIQgBCEIAQhCAEIQgBCEIAQhCAEIQgBCEIAQhCAEIQgBCEIAQhCAEIQgBCEIAQhCAEIQgBCa4/adKg3NVe1gmJcYumI3uwh/T0+HG99LaoCYQkcLi2VGhzHBzTxFwlkAIQhACEIQAhCEAITTau02Yek6q+crRJjW5AET4kKCo9IWHfENqXngOH63gplIuC0IUbsTbrMU1zmBwymCHROk8DopJUgIQhACEIQAhCEAITfaGObRpuqP7rdY11gR6SoulvjQcARnuQO7xMxx+iUBOIUfsrblLEZurJlsSCIN5j0WKkEAIQhACEIQAhCEAIQhAC+Er6k8R3XcLH2ICp1ukRoJikYBiS4D7rL7hN/utcGspSTwDpPsXmmM2xRMszQZsHCJ8lHbRp3kWsVlPJpprc9N3gHvjFEuFIsJLhd5vHzWCIj7VG4HcHBXa3Flz9NbT5RK8t65zAcrncNCeJ5TdNsLj3tebkzw8r+tCI0Vsag3A4bIajXNBJa7TvcDAPrTbF78hgLhSLmgxmlwH+5gXkNHbDWN7bovYXnxIGh9CjNqbxl7MzM57RkmYt4plI2oSl3SPcsJv8A0nFocxzcxF7ECeatKzHuptNz67W5jHIkrTTDIHkkXkk46Xg6QhC0YPOt5ek6pQrvpU6bewSJcdYVbqdMuJ5MH6v8VBdI1fJjax+kfaVWqTg4SOK5pSlk7YQjjYu+O6T6lZpZUJLDZzYAn1KNZvfRY7sUWQB8pt7zre+pVcDByRkHILy1Pk9dC4ReNndIZogik0ML7mLz6wnVTpdxLOR5S0fbBVKw7QBZMse5VTfhkdcfKPS9ldMOIe4B1OmRIEgEGD6V63RfmaDzAPrErMWwD2x5haawfxbPqt9gXRW29zluilsLIQhep4Hjm83TpUoYmpRpUGEMcWy8ukxbgoZ//kLixP5vh/8Af+8qxvfhme7sS/MA4YhwDYMxlJ8tb+hQuJxpp0KbAGllSiS4EAy4vcC6dcwytA5Igy2ba6bsXiKZpuZRa0kE5Wu4GQJLtFE0Ok7EMYGhlPhftTYmIv8ASPmqg43XJKEL7sjpbxVBznU20wXBoMtJs2Y1PiVIfl42hP6D/TP7683pLvjfmP58VQem0OnzHAgOZQdf5hGv6y9t3V20cXhaVZzQ1zgZA0kEgx4WWZ62HoNdQ6suOZlEnMwNkdc0Bxhx7RvI8loro8eTgKRdrL5/zu18UaKWRCEKAEIQgBCEIASWJ7jvqn2FKrit3T5H2IDMW8VJ3XOeSHZiSByaXGI9CY1t5WtAY4OcWgiRGnD1JPeLaLs7xYQSLeBiygHU54wTzXlFPOWddtkHWoR38kzT3kZxY4+pIU9tsDs2T7B6JUS+jHEHyKSC9DlLJXZmbmzcJJ/65ck6o4V2Io0stTq2ta/rALHUkujiCIH/AEq7RxTmt5jkdE6G8Dw0tAGU6gcY08YHLxXnpkj6Duqn3fb5fuxM7s1RRrsJAN4tY9paoonsjyHsWQ9j4kvxDJ5iwWu6Hdb5D2LUE0u5z9RZGcsx2FEIQtnMZw6VngY2sDoXH2lV/AuBYI0Vh6WR/wCwq/WKr2DHZXLM7q/A5XK6XzivE9x5R0UftEqQo6KN2kkdySHe7x7Q8wtN4L4tn1G+wLMW7o7Q8wtO4H4qn9RvsC66zju8C6EIXqc5mLejBh20cSOIqk3cQLy2YaNR955KLJyUKjR3WsY8sD3xFQiQDFrmPGFNb3PLdo4qMo+GN3OjSY1BtcqHaWmnlJZDmgGX3DWxAnLI4eaIFe2hSDar2jQOIHGybuCXx9TNVebXcdNNeCQKpBSinFBoNRgOhc0HyLgD7U3papanUh7TxBB8LEG/ggLNgcDTezMG02ySCMr/AJNQRB6yYtrGojmtC9H7pwFL9bn84niSs7N2oJDA6lkvF3i2cOjv2uSb8itD9HlTNgKRkG77jTvHmSjBZUIQoUEIQgBCEIAXFbunyPsXaTxHcdHI+xAZh31qU3tzta0O60glvEET96pxqEaGJVx34cC0GmymKZqGC0Q6by144KmP1UQLFh2kUWnLTE0rzmJLYdliKZDZJzG5MgXAsq00KzbLDvc5zUqgaGkhzTVhwLXSYa/K0zBuIgFVlpWgOsLALSfnD2hXPF7boOdWDmUXsY6nkjKC41LOcPLw5Km0YETpP2cVcsJVwbx+bsoCp82sCD6DcepQEFRptbtFzWABgqQANItotaYfut8h7FkjC5vfDtta13WXa3ujTTwWt6Hdb5D2IBRCEIDNfS/Xd741QGzDuEqpU9quYL0yPOR7Qrp0pVgzatRxMAPZJ5Dn46qp7arE06bX1RVcHOMjQAgQPNTQnuaVko7CX9IPofb/AAXH9Ifofb/BRrmpIhZ9KPBv1p8lgo7yH5g9ZSNbH1ajiG0iSNQATHnyUbRCsGGxXwj2db1bnsblcAYGUklpnwPkqq48GXbPk+7ExVQVWtc3KZbYi9/Nan2f8VT+o32BZcwtWcW25dGQZiIJixN1qLZh+Bp/Ub7ArhLYy5N7jlCEKkMwdKNB3vnifgm6g68Dx14yo4YA9ST7ibp3+svw4SpLpLwgqbcrUyYD6jRPKQLqFwOyyyoM7i1zaobkNpHPxCjeE2WKy0hKthyHD82Atpn80nicMZ/q4bb5ynMf35/61KaY+qcw5R6VvfBnbIbKwLi5sYSm76z7aDVO9oYSo13awuFZYWzKU3c1p+RTLpRoxUo+Tv2FEVka6k/rGfBYZvaFgRGo18FpLccH3FTzCmO98V3O8dFlzd7ZPuh72DvimXsFu05rm9m+siVp7o9YBs6gBoA4f73KAsaEIQAhCEAIQhAC5q6HyK6XNXQ+RQGY9+K7agcQGh4qkGLE2JuFSXNur5vy6WAlzHnrSA4d4w05s3633KkuaiBL4Y0uqBdVLXhndziOy14bbJc9qMsz2pVdVlw2zaZoZjSJdlnNlrRoZJLTlnTSyrgCoHmHsW+Y9queP21QmqDSovDTTyyAC7OYdqPk/cqZR4eYXoAr1cpDn4d7y4ZRwLfl8e8gKmwN98jkjL1louI7Oi1nh+63yHsWTCR75OyxHWcNOExC1nhu436o9gUAohCEBnPpYLRtV5dEZmGToPH1qo7YdVLG530nDMYyROnGOCuHS6D76PiJmnciQNNfBVLa9RppMINNxzm7G5TEXzDhdVEZCFJuCWIXDggFKIVhwleHvHWNp1HMbkc7QAG4voVAMVgwlUtqOc57A0U25jkzG5sGjn4ogfMG53upuaoKp7PbGngtSbL+JpfUb7AsvUsQ12KYQ4PgMlwEAka2C1Dsr4il9RvsCjCHSEIQpmXpMY07dqh/dL2TNhoNTy0TjFtJLA4CWVKfeu9ge2YD47TZzD0BfOkanO3qpizXU3HyAaDbjqim9zmMc2pNE1aZa0gZmmXZmk6jK4CPNZn/AFf0NV/3R3tTZxF4nyVdxrAHidSvQMfQn1KmbwYbLUbb0z9y9EzDRL7pHNlMaSm/Ss3tUT9f9hO9yxY+E/ckOlJt6P8AifsLK3Kyu7jMBxMFoJyOyTwdLbgjR2WY8VpncyfcdKde3M2PfdryKzVufTyGpUcCaZY6mcslwk0zmtoALz9FaV3MbGDpCS6M9zcntuuqRE2hCFCghCEAIQhAC5qaHyK6XNTQ+RQGZt96zXlxhoe2sWkixIhxMjzAVOeFbt+BSNRzg9rquch0TcXu6eMjXxVScEQJnCUwaTSKjw8N7rRnHYDssgN7PePFV1qnMJipp5HVmloaYpFt+Ng50D7VCU/IxZGByzh5hW/HbWoA1QaVFwYWZbAF2Yw7hwVOqPAAgmZ5Qrti2sdTpjFdSTl7ZcYfm4ZS1E8orWCtBrBtAhkZc9ssZdBpC1thO4z6rfYFkLBMptxgFIywO7JPKPELXmD+LZ9VvsCEFkIQgM7dMT42o68E9VflEFU7bdWmRaDUm7g3KCOHn5q39NH/AMppN6dh5Cyp+0alR1L4VpDg8wS2OyRpbyVRCJaV9ITcOhOWm4ninzKdBWLZz3CpJfkmkReXE3hsAi/kq2TeFPYau4kmk3NU6qGlt4JcJJnSyIjFKNdr8UC1paJaCCMpJm5I4StQ7G/q9H+7Z/xCzBSz+6KXWjK/KzMTGoOphae2Kfzej/ds/wCIUCHqEIQpmrpNH/vniSJdS0MHglK57LXNuDUYXPZ3CQYJqN+Q8aTxSPSzlbtx5cYbNIk+ECdEHaDqdRoeyGPdJrs7THsANnCO8QYKklmLRY9pdi3Yinp5BVbePBzVpnxM8yFc9g4A1qdNkhrslpm55HkQobefCmjVpB7XAh3a9NrfzdY1pG9LkxLdXCZWvtFyI00UZ0oa0P8AE/YVr2DTBYSCCDxAj1jnqq10qNE4f/F/YXojzfbsV3cpsV3uzFobTcZbfi0SW/KEEyORK0huWIwdMREF+nd7xIy+EFZy3OeBXPaDHFjgxxEgPlsZo0bAIM2utF7jEnBU8zQ10vzAaZs7pjwVIieQhChQQhNto4jJSe6QCGOIkxcAkaoBriN5MOxxa6q0Eai59iQdvhhR+k+w/gqJuhjKQdUOJM2DriZvdTlTevZrbBmbyYPvXK7Z58HV6UeGyTPSJg8+XOZ5xb1ykfyk4QlzR1sjUZLx4CVRcJvZgKT6oGErwXy3K2mQR6QI9ZTurv3hxiGVqeAqOlha7utd4S2IPrW9b5RjQuGUPehhxD3kUcjjUJDnQwup9rUE6yRz0VZdserlLsnZBieElevbZ33Fbq3M2a7Mx4PaIa7LF4LB7UtX33fVpVKbdnPlzbZ3l4zDuggCR6EU3jdBwXDPKcNsAODGik1zy24LnNeTfSSGnh6klgdx8RUa40odFnATIPIwF7Fs7b9fLTdUwB61lhao4Ng2y6xZN8NtHH9fWJwE0nGWxTqB0zxg34qSm++H7FVeN0eVbP3IxNeYa4tY6HGNCNZBVhweyG4ghjcM0uMkZmEZo1ykC5VxfW2y3rxRoNYypGQdWAW/O71zqdZTV2ztsOpMaahaW3aA2i3K71TEpqfPsNPyX3KbQ3JDcS7NnpODhDerIYOFnOtB19K9Wp76YyTQZhXF7GiLatgAObLspGhVWdgNrmp1lWsy9PI8dZSbmF4JBPko9mw8XSrNqtxlNkAgtdi6fdOoBz6X0WXq8N7cGsR4RcKe+O0nVHUW4d3WNAJDhTbYxBnPcXGiRxm3dskkNa1pacpAa08JBvzCqtbCVfdDcQdo4Zrg3KZxbSSL2Ja7+YSWIrF9VzW7QpHNTlxbWe4SxwInK3jmK85ysXJuMY+cETvvgMW97MViCHE1AwmGt7TDp2dAReVX9pNqilFQCMwgh06Ai/j+CncZSY7DVT7rD3NyvyhtQgubPEixIJEmeCq+Jw1MML2VS4kiWkG0yTddVMm44e5zWxSeUMsBs99ao2nTbmc6wHtJ5AK50ujF+UZ6t+TWyPWSl+j/AAwpUnViJe+QPqN4DzPsVq9/Y1Y70QfRquG/qJ6sQ8HrXWsZkUHaW5XUntVmgxOXKS6Bxht48Uhs/A1GglhvUb2O8HGHA5sokhtokwLq6VHUcrw4dl7jn7BBcRftOBmPSmzsJhnuzEgEgAhrnsBAAABFxEDRah1Eku+RKtFaZSf1jalQBzWkAubJbOYmAeJvoJXv+wN+sE6jTaMQ0FjGtOYFsEACCXCJ9K8wrYKlWcxzwC1jexTa8Cn6oB4IxeBdUkGq5tPjSa1mUNHBp4TzWl1fJPSPaKe8uFcSBiKRjWHtIE6SZgJ1T2hTdEVGGdIcL+S8BfsFwf8ABuDWGzWmkSGjmIMZvpHVKDZ9VnwdLq2g/L7fW+Jm1/DQehei6mJj0mRfS3VA2250ZoNEwLzEaDijaFB3VucCcp6t0gAU3Xyns/IdMHhxUtVwFTI4y11TRoLwXnhmqVHXPk2EicA9jDTZReXEiape2C7mQZhqPqIyTRqENMlJ+CT2Lts0ywNbJOUjhdwiZ9P2JrvntZ9Uk1G9sQ2R9Ajw8+KittVxhIYKmeuQC53yWjk1osmmB2l10tr1Z5AmBfVeMINRUvB7wWuzQnhlv3PrNNHszEmZ4nibDmoDpSd2qHlU9rEUtvjDUyyiQ4yTzF/FRO3dq1MZkz0wCwOjLpeJmfILvjLKOe6t1y7tP6HG5NWK7hcB1NwLgJAEtPasYaYgnxWhtxBGCYLWc8WMizjoeSzhu/thuGqEy+XNLczQCBdpmD3hbRaI6Onh2BY4ZYc+o4Ze7dx05XlaZ4os6EIUAKpb5YymKtJtUAsIMmwIMjifJW1UfpM2c97GPYxzw3WBMC9z4eKjKjzLaW9HuSpnptbU7T7Pu0gGWzGq4/LBVk/A4RvlQk/a5RG8dFuUSNc3riyqwYOSxBLfBtyZendLtf5PUDywzPvJSLulbHPENqhvDs0aQ1/V8FW8VsnJSY/Owl02Bk20jn4prSxDmzlMT4D+Qtak18I7p/EWSr0g7RBGbGVxOkZR7Aufyh48iPdeIPj1kexvgqziMQ54GYzGi7GDebGpHZm/sUy0h2exKv33xT9cTiDeL138fLgpnAiq9oLq1Yki466pH/JU/DbKl3fbYTbwurP7taIDJiBrrMX+1ddCjPOT5nX3W1JKG7H53fz3NR3pqPPtN03xO67QJNQDzP4pP3xcOaaYzabi+leIdm0nTw4rolCuMW0fNov6uyxRbOn7rsP6VsebfwStPc+kRetB8Cz+QlhvDUyglwkjTqxB1MLjEbXc6kRa8fIvEjXyXM3F+D7ChZ/t/ZHx25NHhXd6m/ilsBuoylUzCtm7JEEc/Sh23HFsBzBbhS5i/kgbdMj4uLN7kmB/0sNQawzaVieVL2/J3idiHI5rXB2cReRGt7/dyUUNy6oBaKrYmdDqpOnvQ4PM06Lg4caekTHmTKe0t4i8D83w14MFht5QbJGEI7L3EndLeXt+T5h9nvp0W0wA7KA3jFtT/PNKv2Y7SG87OIufQl8Nt9xcScDh3TEDK6IkzJB/mEYreAZi73BSJOVuUB0DhIiF5/xqePc16l/+l9hBmFd9LSdZE6RpquvewzqDPMDj5cUp77tDg52AYBBmHVB5GJgfxTk7x029r3A20Xzvi/EiYU/i1frIrL+V9mMHNeIAgxbu6Dkk3VpF2NJjgSJi1vDVO/6TCnVA9zUzmc54OdxyyIAdFiOQKhdr4ggsLTLi1xdIsJJjLHCF439NCENUdzdN9jtcJYxjI9p7RM9xwi1neCcUNpyWtHWa66j0+CrbcQYmG63vCkaYAbOVx5wZ9S4JQR3KTJj3xuJc62st89V0NoQMxc06m7YsBdRL8U2ACXtNrx6E32m14p1O1MMNo+2VlVp9i5Krj9oOq1XvJkuJP4fYkxmy5o7MxPCdU06oqTrYpvUtHVi5JgE2MQCvrP4Ukjj33G7a5TiliHxAkZhHG88lF5iFObvEvq0w64boPAXWiFiwG7jGsh2VziL8weQ5L0/oUxxOHr0DPwNUEeVQG3rYT6VXaG26Zo9S2m0O+fHal3eM+iArH0UYYMq4wj5Qw59Pw4UTK0ejIQhUgJvj8L1lJ7JjO1zZ5ZgRP2pwhAZe3nL2OfTqN+EZmY5vJ1rjwIvPiqvD/mrTG9fRXg9oVeuq9Yx8AONJwbmju5gQZI5/goen0BbOHysQfOoP3FnDL2PAAX2kacz/ABXRqH5rB6f4rQbegrZvzap83/wTih0K7MaZNJzvAu/CEwayjORr/wB2Fw7EfSYPIfwWmx0SbM/srfWfxSrOi3Zw0wzB60wTJmXZ+Lh4GYGbRHNWHCULyCAQOK9+/JxgP7O37V4hvXuxiMJiqrKdGq+nmOVwYT2eGi96paU0cXU1ubTQnVonKRa+tyoXE0hnZcjW4ulKj6471CqLcabh9yYVatSQcjxBnukfcvSUsrB411NWKRIdUyZzukcxA5FFSm2PjHX1kQSo33xcDfMNftXz3wda5j714H0CRZSEDtkTEiPO6DhhIPWXF9LBMXbVJ4o99XXM/wA8EIP4Inti3GNV9a90j4QQY4JgNrTx4zoF9dtrk23oj2KgfUi8PltSMogHnPpXZr1XXNXSbAnx1uok7XdmmAun7XLtWiygJKnWqmXmqTPCTwkc9EuMXXylvWNg8JKiRtn6DUDa/wBAaygHPWVBVALrRzspl2JyAA6uYA20mbqu0NoAvaYgCftXoezOjavtKgyrTqtpNaC0SCSS0gjhYXInwUsjqhhnnB6bW/kVhteRDgw+BEA85TigACOwIngSNYvYqfqdCGPbJbWpP8LifulRtbow2rTE9SHD6LwT6gSVxzofg7I2cipwjCBDyI8ZXGJwJNN4z5gWOEEeCY1d3No0u/hKo8QJTWricRT+Mo1m+bHLn9KcT21RZWoXT6JAki3Nc4mz5AOWZuCnbtqSI18F9ByfbCPOuqEk3J4xsMsqmd2HRiGzxkesGFDYgQZGhSmDxUOBBgi48wt7njKOl4Z6S52R9xALRfxGsq99ExzjFVROVzqbGnn1YeTHpevJa23OvYGNB6x1oF5Pgvedw9gHB4KnSd3z23Dk52oHloolgzksKEIVAIQhACEIQAhCEAIQhACEIQHLqQOoB8xK49ys+a31BKoQCBwNM6sZ/lH4JvU2Dh3XdQpGedNv4J+hARLt0sGdcLh/9Jn4JP8AoXgf7Hh/9Jn4KaQgK1U6N9nO1wlL1EewpJ3RZsw//Tp+t37ytSEBUXdE+yyP6oweTn/vJs7ob2af0H+5XdCAobuhTZn/AOTv85/BJVOg3ZpFmVB/iFegoQHm35BsBzq/5ldN3N26WCpClRnLzJkqVQmRgEIQgCFw6kDqAfMSu0IBjiNh4ep36NN082NPtCiMV0cbPqTmwtO86SNeUGFZUICgYjoR2c4GGPafB59ijKv/AI/YP5NWqPTK9SQg3Kjuz0XYLBw5tPrKgn4SoS43jRpOUaaxOt1bkIQAhCEB/9k="/>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8243078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err="1"/>
              <a:t>Mn</a:t>
            </a:r>
            <a:r>
              <a:rPr lang="en-GB"/>
              <a:t> chemistry and minerals</a:t>
            </a:r>
          </a:p>
        </p:txBody>
      </p:sp>
      <p:sp>
        <p:nvSpPr>
          <p:cNvPr id="3" name="Content Placeholder 2"/>
          <p:cNvSpPr>
            <a:spLocks noGrp="1"/>
          </p:cNvSpPr>
          <p:nvPr>
            <p:ph sz="half" idx="1"/>
          </p:nvPr>
        </p:nvSpPr>
        <p:spPr/>
        <p:txBody>
          <a:bodyPr/>
          <a:lstStyle/>
          <a:p>
            <a:r>
              <a:rPr lang="en-GB"/>
              <a:t>Exists in nature in different oxidation states</a:t>
            </a:r>
          </a:p>
        </p:txBody>
      </p:sp>
      <p:sp>
        <p:nvSpPr>
          <p:cNvPr id="4" name="Content Placeholder 3"/>
          <p:cNvSpPr>
            <a:spLocks noGrp="1"/>
          </p:cNvSpPr>
          <p:nvPr>
            <p:ph sz="half" idx="2"/>
          </p:nvPr>
        </p:nvSpPr>
        <p:spPr>
          <a:xfrm>
            <a:off x="4602439" y="1513011"/>
            <a:ext cx="4038600" cy="4525963"/>
          </a:xfrm>
        </p:spPr>
        <p:txBody>
          <a:bodyPr/>
          <a:lstStyle/>
          <a:p>
            <a:r>
              <a:rPr lang="en-GB"/>
              <a:t>Minerals</a:t>
            </a:r>
            <a:endParaRPr lang="en-GB" baseline="30000"/>
          </a:p>
        </p:txBody>
      </p:sp>
      <p:pic>
        <p:nvPicPr>
          <p:cNvPr id="40962" name="Picture 2" descr="http://2012books.lardbucket.org/books/principles-of-general-chemistry-v1.0m/section_27/355ce2892281bd83ab0834a68552d267.jpg"/>
          <p:cNvPicPr>
            <a:picLocks noChangeAspect="1" noChangeArrowheads="1"/>
          </p:cNvPicPr>
          <p:nvPr/>
        </p:nvPicPr>
        <p:blipFill rotWithShape="1">
          <a:blip r:embed="rId3">
            <a:extLst>
              <a:ext uri="{28A0092B-C50C-407E-A947-70E740481C1C}">
                <a14:useLocalDpi xmlns:a14="http://schemas.microsoft.com/office/drawing/2010/main" val="0"/>
              </a:ext>
            </a:extLst>
          </a:blip>
          <a:srcRect t="17321" r="40553"/>
          <a:stretch/>
        </p:blipFill>
        <p:spPr bwMode="auto">
          <a:xfrm>
            <a:off x="755576" y="3140968"/>
            <a:ext cx="3059831" cy="3036929"/>
          </a:xfrm>
          <a:prstGeom prst="rect">
            <a:avLst/>
          </a:prstGeom>
          <a:noFill/>
          <a:extLst>
            <a:ext uri="{909E8E84-426E-40DD-AFC4-6F175D3DCCD1}">
              <a14:hiddenFill xmlns:a14="http://schemas.microsoft.com/office/drawing/2010/main">
                <a:solidFill>
                  <a:srgbClr val="FFFFFF"/>
                </a:solidFill>
              </a14:hiddenFill>
            </a:ext>
          </a:extLst>
        </p:spPr>
      </p:pic>
      <p:pic>
        <p:nvPicPr>
          <p:cNvPr id="40964" name="Picture 4" descr="http://www.realgems.org/edelsteine_liste/pic/big%20rhodochrosite%2004.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11960" y="2302188"/>
            <a:ext cx="2304256" cy="147380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660232" y="2348880"/>
            <a:ext cx="1425583" cy="646331"/>
          </a:xfrm>
          <a:prstGeom prst="rect">
            <a:avLst/>
          </a:prstGeom>
          <a:noFill/>
        </p:spPr>
        <p:txBody>
          <a:bodyPr wrap="none" rtlCol="0">
            <a:spAutoFit/>
          </a:bodyPr>
          <a:lstStyle/>
          <a:p>
            <a:r>
              <a:rPr lang="en-GB" err="1"/>
              <a:t>Rhodocrosite</a:t>
            </a:r>
            <a:endParaRPr lang="en-GB"/>
          </a:p>
          <a:p>
            <a:r>
              <a:rPr lang="en-GB"/>
              <a:t>MnCO</a:t>
            </a:r>
            <a:r>
              <a:rPr lang="en-GB" baseline="-25000"/>
              <a:t>3</a:t>
            </a:r>
          </a:p>
        </p:txBody>
      </p:sp>
      <p:pic>
        <p:nvPicPr>
          <p:cNvPr id="40966" name="Picture 6" descr="http://www.greatrough.com/images/psilomelane_med_small.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6215" y="3545625"/>
            <a:ext cx="2152951" cy="16416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800681" y="4043272"/>
            <a:ext cx="1715534" cy="646331"/>
          </a:xfrm>
          <a:prstGeom prst="rect">
            <a:avLst/>
          </a:prstGeom>
          <a:noFill/>
        </p:spPr>
        <p:txBody>
          <a:bodyPr wrap="none" rtlCol="0">
            <a:spAutoFit/>
          </a:bodyPr>
          <a:lstStyle/>
          <a:p>
            <a:pPr algn="r"/>
            <a:r>
              <a:rPr lang="en-GB" err="1"/>
              <a:t>Psilomelane</a:t>
            </a:r>
            <a:endParaRPr lang="en-GB"/>
          </a:p>
          <a:p>
            <a:pPr algn="r"/>
            <a:r>
              <a:rPr lang="en-GB"/>
              <a:t>BaMn</a:t>
            </a:r>
            <a:r>
              <a:rPr lang="en-GB" baseline="-25000"/>
              <a:t>9</a:t>
            </a:r>
            <a:r>
              <a:rPr lang="en-GB"/>
              <a:t>O</a:t>
            </a:r>
            <a:r>
              <a:rPr lang="en-GB" baseline="-25000"/>
              <a:t>18</a:t>
            </a:r>
            <a:r>
              <a:rPr lang="en-GB"/>
              <a:t>.2H</a:t>
            </a:r>
            <a:r>
              <a:rPr lang="en-GB" baseline="-25000"/>
              <a:t>2</a:t>
            </a:r>
            <a:r>
              <a:rPr lang="en-GB"/>
              <a:t>O</a:t>
            </a:r>
          </a:p>
        </p:txBody>
      </p:sp>
      <p:pic>
        <p:nvPicPr>
          <p:cNvPr id="40968" name="Picture 8" descr="http://www.minrec.org/newpix/Pyrolusite,-NM.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9952" y="5171951"/>
            <a:ext cx="2376264" cy="153516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6654595" y="5616365"/>
            <a:ext cx="1114344" cy="646331"/>
          </a:xfrm>
          <a:prstGeom prst="rect">
            <a:avLst/>
          </a:prstGeom>
          <a:noFill/>
        </p:spPr>
        <p:txBody>
          <a:bodyPr wrap="none" rtlCol="0">
            <a:spAutoFit/>
          </a:bodyPr>
          <a:lstStyle/>
          <a:p>
            <a:r>
              <a:rPr lang="en-GB" err="1"/>
              <a:t>Pyrolusite</a:t>
            </a:r>
            <a:endParaRPr lang="en-GB"/>
          </a:p>
          <a:p>
            <a:r>
              <a:rPr lang="en-GB"/>
              <a:t>MnO</a:t>
            </a:r>
            <a:r>
              <a:rPr lang="en-GB" baseline="-25000"/>
              <a:t>2</a:t>
            </a:r>
          </a:p>
        </p:txBody>
      </p:sp>
    </p:spTree>
    <p:extLst>
      <p:ext uri="{BB962C8B-B14F-4D97-AF65-F5344CB8AC3E}">
        <p14:creationId xmlns:p14="http://schemas.microsoft.com/office/powerpoint/2010/main" val="36952748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GB" sz="4000"/>
              <a:t>Sediment-hosted Mn ore deposits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417638"/>
            <a:ext cx="7347681" cy="44596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279795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C52F5-4909-CB46-68E4-F9AFC81F8D98}"/>
              </a:ext>
            </a:extLst>
          </p:cNvPr>
          <p:cNvSpPr>
            <a:spLocks noGrp="1"/>
          </p:cNvSpPr>
          <p:nvPr>
            <p:ph type="title"/>
          </p:nvPr>
        </p:nvSpPr>
        <p:spPr>
          <a:xfrm>
            <a:off x="397900" y="160337"/>
            <a:ext cx="8229600" cy="1143000"/>
          </a:xfrm>
        </p:spPr>
        <p:txBody>
          <a:bodyPr/>
          <a:lstStyle/>
          <a:p>
            <a:pPr algn="l"/>
            <a:r>
              <a:rPr lang="en-GB"/>
              <a:t>Ferromanganese nodules</a:t>
            </a:r>
          </a:p>
        </p:txBody>
      </p:sp>
      <p:sp>
        <p:nvSpPr>
          <p:cNvPr id="3" name="Content Placeholder 2">
            <a:extLst>
              <a:ext uri="{FF2B5EF4-FFF2-40B4-BE49-F238E27FC236}">
                <a16:creationId xmlns:a16="http://schemas.microsoft.com/office/drawing/2014/main" id="{414E2019-CE38-57F0-4112-66B201C04F0F}"/>
              </a:ext>
            </a:extLst>
          </p:cNvPr>
          <p:cNvSpPr>
            <a:spLocks noGrp="1"/>
          </p:cNvSpPr>
          <p:nvPr>
            <p:ph sz="half" idx="1"/>
          </p:nvPr>
        </p:nvSpPr>
        <p:spPr>
          <a:xfrm>
            <a:off x="542636" y="5257800"/>
            <a:ext cx="8133892" cy="1337528"/>
          </a:xfrm>
        </p:spPr>
        <p:txBody>
          <a:bodyPr>
            <a:normAutofit fontScale="47500" lnSpcReduction="20000"/>
          </a:bodyPr>
          <a:lstStyle/>
          <a:p>
            <a:pPr marL="0" indent="0">
              <a:buNone/>
            </a:pPr>
            <a:r>
              <a:rPr lang="en-GB"/>
              <a:t>For Mn-nodules need:</a:t>
            </a:r>
          </a:p>
          <a:p>
            <a:r>
              <a:rPr lang="en-GB"/>
              <a:t>low sediment rates</a:t>
            </a:r>
          </a:p>
          <a:p>
            <a:r>
              <a:rPr lang="en-GB"/>
              <a:t>constant flow of water</a:t>
            </a:r>
          </a:p>
          <a:p>
            <a:r>
              <a:rPr lang="en-GB"/>
              <a:t>good O2 supply from ocean circulation</a:t>
            </a:r>
          </a:p>
          <a:p>
            <a:r>
              <a:rPr lang="en-GB"/>
              <a:t>aqueous sediments –pore waters=diagenetic nodules</a:t>
            </a:r>
          </a:p>
          <a:p>
            <a:pPr marL="0" indent="0">
              <a:buNone/>
            </a:pPr>
            <a:r>
              <a:rPr lang="en-GB"/>
              <a:t>Slow growing 1mm in 1000 years</a:t>
            </a:r>
          </a:p>
          <a:p>
            <a:endParaRPr lang="en-GB"/>
          </a:p>
        </p:txBody>
      </p:sp>
      <p:sp>
        <p:nvSpPr>
          <p:cNvPr id="4" name="Content Placeholder 3">
            <a:extLst>
              <a:ext uri="{FF2B5EF4-FFF2-40B4-BE49-F238E27FC236}">
                <a16:creationId xmlns:a16="http://schemas.microsoft.com/office/drawing/2014/main" id="{064BC0D4-5A68-3086-81D2-61CF9FBFBC7D}"/>
              </a:ext>
            </a:extLst>
          </p:cNvPr>
          <p:cNvSpPr>
            <a:spLocks noGrp="1"/>
          </p:cNvSpPr>
          <p:nvPr>
            <p:ph sz="half" idx="2"/>
          </p:nvPr>
        </p:nvSpPr>
        <p:spPr/>
        <p:txBody>
          <a:bodyPr>
            <a:normAutofit fontScale="47500" lnSpcReduction="20000"/>
          </a:bodyPr>
          <a:lstStyle/>
          <a:p>
            <a:endParaRPr lang="en-GB"/>
          </a:p>
        </p:txBody>
      </p:sp>
      <p:pic>
        <p:nvPicPr>
          <p:cNvPr id="5" name="Picture 3">
            <a:extLst>
              <a:ext uri="{FF2B5EF4-FFF2-40B4-BE49-F238E27FC236}">
                <a16:creationId xmlns:a16="http://schemas.microsoft.com/office/drawing/2014/main" id="{D8F7DCA4-5CCE-99E4-9B81-94432AE9E7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378" y="1107151"/>
            <a:ext cx="8392644" cy="42050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6" descr="http://content.answcdn.com/main/content/img/McGrawHill/Encyclopedia/images/CE403150FG0010.gif">
            <a:extLst>
              <a:ext uri="{FF2B5EF4-FFF2-40B4-BE49-F238E27FC236}">
                <a16:creationId xmlns:a16="http://schemas.microsoft.com/office/drawing/2014/main" id="{FB045BFB-D4D2-A6B1-736B-57D131B157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7085" y="5074245"/>
            <a:ext cx="1575698" cy="17590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1023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BCEAEC-06CA-45E8-A127-83954783B0ED}"/>
              </a:ext>
            </a:extLst>
          </p:cNvPr>
          <p:cNvPicPr>
            <a:picLocks noChangeAspect="1"/>
          </p:cNvPicPr>
          <p:nvPr/>
        </p:nvPicPr>
        <p:blipFill>
          <a:blip r:embed="rId2"/>
          <a:stretch>
            <a:fillRect/>
          </a:stretch>
        </p:blipFill>
        <p:spPr>
          <a:xfrm>
            <a:off x="1185862" y="457200"/>
            <a:ext cx="6772275" cy="4800600"/>
          </a:xfrm>
          <a:prstGeom prst="rect">
            <a:avLst/>
          </a:prstGeom>
        </p:spPr>
      </p:pic>
      <p:pic>
        <p:nvPicPr>
          <p:cNvPr id="6" name="Picture 4" descr="http://upload.wikimedia.org/wikipedia/commons/7/76/Manganese_nodules.gif">
            <a:extLst>
              <a:ext uri="{FF2B5EF4-FFF2-40B4-BE49-F238E27FC236}">
                <a16:creationId xmlns:a16="http://schemas.microsoft.com/office/drawing/2014/main" id="{8CF64C8A-2EA9-4943-E73D-E7E942ED6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29" y="4941168"/>
            <a:ext cx="3240360" cy="1759053"/>
          </a:xfrm>
          <a:prstGeom prst="rect">
            <a:avLst/>
          </a:prstGeom>
          <a:noFill/>
          <a:extLst>
            <a:ext uri="{909E8E84-426E-40DD-AFC4-6F175D3DCCD1}">
              <a14:hiddenFill xmlns:a14="http://schemas.microsoft.com/office/drawing/2010/main">
                <a:solidFill>
                  <a:srgbClr val="FFFFFF"/>
                </a:solidFill>
              </a14:hiddenFill>
            </a:ext>
          </a:extLst>
        </p:spPr>
      </p:pic>
      <p:sp>
        <p:nvSpPr>
          <p:cNvPr id="9" name="Arrow: Right 8">
            <a:extLst>
              <a:ext uri="{FF2B5EF4-FFF2-40B4-BE49-F238E27FC236}">
                <a16:creationId xmlns:a16="http://schemas.microsoft.com/office/drawing/2014/main" id="{C8AF411C-8178-1239-4679-467FF8346C40}"/>
              </a:ext>
            </a:extLst>
          </p:cNvPr>
          <p:cNvSpPr/>
          <p:nvPr/>
        </p:nvSpPr>
        <p:spPr>
          <a:xfrm>
            <a:off x="3993931" y="5736694"/>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F01F9CA4-91FC-57BC-D1ED-6C856204C05D}"/>
              </a:ext>
            </a:extLst>
          </p:cNvPr>
          <p:cNvSpPr txBox="1"/>
          <p:nvPr/>
        </p:nvSpPr>
        <p:spPr>
          <a:xfrm>
            <a:off x="5131509" y="5633545"/>
            <a:ext cx="2591030" cy="646331"/>
          </a:xfrm>
          <a:prstGeom prst="rect">
            <a:avLst/>
          </a:prstGeom>
          <a:noFill/>
        </p:spPr>
        <p:txBody>
          <a:bodyPr wrap="none" rtlCol="0">
            <a:spAutoFit/>
          </a:bodyPr>
          <a:lstStyle/>
          <a:p>
            <a:r>
              <a:rPr lang="en-GB" dirty="0"/>
              <a:t>A source of critical metals</a:t>
            </a:r>
          </a:p>
          <a:p>
            <a:r>
              <a:rPr lang="en-GB" dirty="0"/>
              <a:t>-Rare Earth Elements</a:t>
            </a:r>
          </a:p>
        </p:txBody>
      </p:sp>
    </p:spTree>
    <p:extLst>
      <p:ext uri="{BB962C8B-B14F-4D97-AF65-F5344CB8AC3E}">
        <p14:creationId xmlns:p14="http://schemas.microsoft.com/office/powerpoint/2010/main" val="19356453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Aluminium</a:t>
            </a:r>
          </a:p>
        </p:txBody>
      </p:sp>
      <p:sp>
        <p:nvSpPr>
          <p:cNvPr id="3" name="Content Placeholder 2"/>
          <p:cNvSpPr>
            <a:spLocks noGrp="1"/>
          </p:cNvSpPr>
          <p:nvPr>
            <p:ph sz="half" idx="1"/>
          </p:nvPr>
        </p:nvSpPr>
        <p:spPr/>
        <p:txBody>
          <a:bodyPr>
            <a:normAutofit lnSpcReduction="10000"/>
          </a:bodyPr>
          <a:lstStyle/>
          <a:p>
            <a:r>
              <a:rPr lang="en-GB" dirty="0"/>
              <a:t>2</a:t>
            </a:r>
            <a:r>
              <a:rPr lang="en-GB" baseline="30000" dirty="0"/>
              <a:t>nd</a:t>
            </a:r>
            <a:r>
              <a:rPr lang="en-GB" dirty="0"/>
              <a:t> most abundant metal -8.2% of crust</a:t>
            </a:r>
          </a:p>
          <a:p>
            <a:r>
              <a:rPr lang="en-GB" dirty="0"/>
              <a:t>Weighs only 1/3 that of iron or copper</a:t>
            </a:r>
          </a:p>
          <a:p>
            <a:r>
              <a:rPr lang="en-GB" dirty="0"/>
              <a:t>Useful properties to make it easy to machine and cast</a:t>
            </a:r>
          </a:p>
          <a:p>
            <a:pPr lvl="1"/>
            <a:r>
              <a:rPr lang="en-GB" dirty="0"/>
              <a:t>Corrosion resistant</a:t>
            </a:r>
          </a:p>
          <a:p>
            <a:pPr lvl="1"/>
            <a:r>
              <a:rPr lang="en-GB" dirty="0"/>
              <a:t>Conductor of electricity</a:t>
            </a:r>
          </a:p>
          <a:p>
            <a:r>
              <a:rPr lang="en-GB" dirty="0"/>
              <a:t>Wide number of uses</a:t>
            </a:r>
          </a:p>
        </p:txBody>
      </p:sp>
      <p:pic>
        <p:nvPicPr>
          <p:cNvPr id="44034" name="Picture 2" descr="http://edmolimited.co.uk/wp-content/uploads/2013/03/audi_a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3898" y="3123699"/>
            <a:ext cx="2526178" cy="1477814"/>
          </a:xfrm>
          <a:prstGeom prst="rect">
            <a:avLst/>
          </a:prstGeom>
          <a:noFill/>
          <a:extLst>
            <a:ext uri="{909E8E84-426E-40DD-AFC4-6F175D3DCCD1}">
              <a14:hiddenFill xmlns:a14="http://schemas.microsoft.com/office/drawing/2010/main">
                <a:solidFill>
                  <a:srgbClr val="FFFFFF"/>
                </a:solidFill>
              </a14:hiddenFill>
            </a:ext>
          </a:extLst>
        </p:spPr>
      </p:pic>
      <p:pic>
        <p:nvPicPr>
          <p:cNvPr id="44036" name="Picture 4" descr="https://wikis.glowscotland.org.uk/@api/deki/files/2723/=AluminumCa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47719" y="1268760"/>
            <a:ext cx="1336179" cy="2006060"/>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6" descr="data:image/jpeg;base64,/9j/4AAQSkZJRgABAQAAAQABAAD/2wCEAAkGBwgHBgkIBwgKCgkLDRYPDQwMDRsUFRAWIB0iIiAdHx8kKDQsJCYxJx8fLT0tMTU3Ojo6Iys/RD84QzQ5OjcBCgoKDQwNGg8PGjclHyU3Nzc3Nzc3Nzc3Nzc3Nzc3Nzc3Nzc3Nzc3Nzc3Nzc3Nzc3Nzc3Nzc3Nzc3Nzc3Nzc3N//AABEIAMcAYgMBIgACEQEDEQH/xAAbAAABBQEBAAAAAAAAAAAAAAADAAECBAUGB//EAD8QAAIBAwIDBQYDBQUJAAAAAAECAwAEERIhBTFBEyJRYZEGFDJxgaFCUrEjYsHR4RVTY/DxBxYkMzRDcpLC/8QAGQEBAQEBAQEAAAAAAAAAAAAAAAECAwQF/8QAHhEBAQEAAwACAwAAAAAAAAAAAAERAhIhAzFBYYH/2gAMAwEAAhEDEQA/AClaWmjaaWmvtuIWKWmi6aWmmgWmlpo2mlppoBpptNH00tFRANNMRgEnYCjMoUEnYDnVYgzHJz2fReRarqguDOcAERfd6MIwOgHkOQ+VFCafT0qvIzSt2cXLq2aaH7SL+8T1pUvck/N9qamjT00tNE00tNQD00+miBafTUA9NLTRdNLTUAdFRbCgltgOtHcqilmOAKr6WmfU4wPwoenmaagBQztlhhOinr5mi6VVck4GNzRm0xLknaq2hrg5caY85C+NNUFg1w2E2jHXxoyxhBhRgUYIFACjAHKmIoB6aVEwKVNFsrS00TTS00EAtLFExVXilzJZ2gkghE0rSIiRltOoswHPpzqW5NB8VGRljTUx/rVGHi+cpcWrRSggNHqyQTy2xv8AMZqre3z+8xBWaNx3jhdYQb7HGfDy+YrPeGNNY2lbtJOnJPy/1qUrJCm/M8h1NMlwhgRohqZuSr49alHAdXaTd6Q/atACwtK/aTD5J4UYrRSKiVoBEVAijEVByqDLEADqaAeKeoe8DpFKR4hKag1dNPpo2nypaamoFprM427xmxSKGSV2ug2EA6KxGfDfFWr3i3D7G5S2u7lYpnXUqFTlh5beVStpYmL3LTAswwFJwIx9fvWbZfFCk4et2n/HKrzMMZXkg8Bn+OQa5PiySQ8QKRIkpifAZYGfThd+ux8hkddq7M3CTMYoJo8/ifUOflXPX0AxcOqSaA8mXeQ6cDVjIB+Hr9SOlY+X6XjupcDuBCHQnvaySrDB5D0+R3+eK343SZBJGcg+WMGqvD4YpWmikjhcAKwU4fnncE9OVRWyjsuL25tdccc0bq0Ycle7gjA6davG2RL9rhFRIo0hVBlj/OglJJPiyieHU10QF330xrrbqOlQFvlg0x1t0HQfKrQjVBhRgUtNVQtNKn7RPzD1p6K0sU+nNT00CcqwZWYLEgzIxO3yrKMaCC14jxfistyiSRR9lAFdc/h1f/dDPBmD9pZGQW4/7YKq5H7pI3+vrVrhfCZzc3F1eTlo5JzLHGq6c7AAtjyUbVuaccq5zjLPVtxz1vPcRyLbxBmKjvCXSDHnkCCcnO/UDb5VzcwjA13ViEbS47UEfsW0k97y5Hn49DXecThhkspnuFJ7ONmDglWXAJ2I3HKuKvrJREIknkuJTC4j7YuFmwpOn8pI35AbkncZFc+csXjW3wqSWO+YOY9LRk6AuNW4Opc+O5I8+vM2bxJLy8tWsZo9MDM0hxuupTgeuNvKsOGIRXcfu1hLbNuGyi6Ym0nOkrlsHGAenhnatm2vBAinu6TgE9pkfU4wTvjoeWxrXG+ZSxeituzJZ3Z5G3JPIfIdBUyvlTrcwyR60fVn8I55oZMs3wDSp6/1rrrAcrqmx3PLA6UEpJPs2Av2q2sCJ5+HlTkUVT7D94+i/wAqerGKVVWhJqBCJ8bcvLzoAhS5/Z4Bt0O/+If5UUozuYlOHbeVx+EeAq2iKihVGANhWdQFykaFpGVEHViABQ1urQ/DdW5xzxKu33ql7VRCfhaWzjKXN1BC48VaRcj0oD+zaWIzwoAKM/sGxt/4seX19RWLyu5FXOJXEQ4fN2U0Wtl0oS+2TtzrmeI3IdjFIYuweN9cZB1wj93VzOd8DHlnYVYv3uJLSWJ5zG2tQV76EAsOQLEZHjy67jYUcy217AsMhUKjiSeaMDtvh31n5rtk4yOQrnz5a1xjTt5IIksXPEUljynZEMmQuQApAGTn59N9xvs3ECXhw1uj77M67j69PpXLQvbjhi3UOhWMQeQxS6wx57Lz1DcnI/p2lvPHOBoOfykAgMPIfw6Vrhd8rNYEnC4uH8UsJ7cyDt5THKhkJQjQ7DY+ajy8q2yu1VOPGSOO0eKJpCt1Ge703wfsTRkluZsaIOzTBy8mxznotbnlEmAGSdh4mqzS6toUMh8eQ9as+6qTmRjIf3uXpUyuBsMDwFbFDs7n/DH1pVd00qC9FEI1wN+pPiaIFqWKTssaF3ICjmTXPRhe01zFC/Co3cAtfo+4JGFV2/gKuJeLfO8Vrl0TGpuQbPgfCnNkeIXCT3ij3ePvQwkfiwRqP0J2rTjiWNAiDSi8lAwBWd9HPce4dDcrapdosrCXUpO3ZYU94HpjIP0NZVzZBryGG3RCyQyBg8YKs3cyynY5+p3z866Di4Zr2EQErPFGzRsPE+PlhDVOaWIcUt4HA7RIpFL7jsnLJzO+5wfnnzrPL1YyeGWV7NwmxlgWHUII3keKXswe6M6lwe9zGcn4fDarVqOJG1R4bRnbTsY3VWUjbDZYA4IO23hRrC3kHBrYIMSGJFY9H0jmPykBef0z4bXBypt3WMjSsh0gflIBGfPc+lJEtUODT+9y3BuLaeG8hwj9rtqXfDAeHP06itMrVSNCvtJeZ5NZwMPo8oP8K0CK3KiuVqJWjNgDJIA86rvPEp0g6m8FGa1obTSpu2P9xJ6UqdlacjLGhdzhR1oEcL3DiW4XCA9yI/qaJHC88gmnGADmOI/h8z5/pVoDauOtYYCnCipDAGTUAzSf8vZR+Mj9BU0xz/E+IW9lxS4e6R3DCKGJFcDVJzC74xkuoznHjiqxsJjxcNI1trEDM8RAOvLAFc9B0HhjrVmKFHvrpsSdizuboY1MTkpGeXIjVt5A7cjWtluUvZIbiFC0cACZY74cjGwOWyp555jfes3kuCez00sFvFGtuWi78cTax+y0u2xBxzwcbnZflm5wqRPfrouQjyoJNJj7PugkBseeR+nSqFramfh1xZhRBd3F7OmqLJC4lcnvHoApOMVa4bmW+iN0VM6s8UsZ/AwXIA2GRhc5PPINJyTDGO5uOKjiNiEntzbaE1d0FtWefhgmtFILttXvE0YGo6exU/D5k9a0CtRK1uVMUfdI85bU58XOakIwgwoAHgBVorUCKvYxX00qNimp2XFoUzOFwOZPJV51DUX2jxj855fTxosaBcnmx5k8zXDs3iKxlzmXl0Ucvr40XIXc8hzpi6p8X0A5mqfGJXj4VdOzdiDGUX8xZth8tyKdjGNwK4t4rGPiN7MUMwLhSfj3ypx5c/mzeFVJphNxi4v0t5XgWKMmMRHO5YEk48FB3xuKN/ZoRlu4ZeyjtGEcDMmondQ2c88ZwB0Kn50a0/tL+1L5m7BroRxLIhQquO+Rgb5Okgc+e1Z0xDg3ErO3mZJ2FtEk87hXQ7M0hxvyG2qrnE5LY3Nvf2txA4WRBMEcMcZwG2PgxB8iCeVU+EW05PE+1uYWtkkZe0RM6U0g8jsTud/50WCFoklt+JK8twiAOcnTKrbBtPIb5z1DfSrpjoyMGokVGzkaa0ikkGJCuHGc4YbEeoNGxV7HUEiolaM2KgRTsYDppUTFKr2OqOtVGWYCnDu/w9xfzEb/AEqkkoXB3J8TzoguRnnXDXXF2NVTlnPUk5JrO9oJ3CWtvCA0ssvdUnY4G301FM1YFx4AVmSq1/x4M+RbWcQHPnI+5H/rp+jVNTF+xsY3sRBIgEQR0XO5bVkFyfE5Pr57ZFosDXlzKbQI8rpA+mMEREIuWAGdwWI5bkjNdEJgBk7D9K5z2evobu64mzQvFHd3DGCRjnWoA3Hhn4h8x1FOxixwxI1nv7SJHUPeogXSwUgRxlvkNKnY+NbHFrN7qJJbZgl3C2uJs7NuCVPkcY8jg9KyeFzF+OcQRiNcZSSTA/GUCgjyIVvpita4voLdddxLHGvTWwGaaYBwadZDcojZTtNS5XSRkDKkdCGB26VfkbA5D1rl5uPcJtr4X0N9amOQtHOEcHvac528lA9PPNG6/wBoXBwwSO6TfO+CcYz/AC+4obI64zqObL9KS3KkYGN+tefv/tA4W0zKbzBHIhDg8v50ze3/AA4sY3uMLoDatPPl99/tWs/adnoHaD8w9aVcAvtbw1lDe+oMjOC39aVX+nZ0IvU5704vl6H7V5B/vDxeK6Fy96CZMDQpGkY8v886lYe1vELftDNdCXtDnTKT3D+7ty8qzvE7V7AL8bDUPSsPh/GTHxe9YDMczhmOdsDug+gHo1cHB7ScYALLfQSJ2mpmO+P3eWwoR49fomI5IomUbOvMEDnv8qzvFNr0T2r9oorHhxSWTs1l7rMoyQDt9/0BriOI+117GClhL2UTftRnvFQdl+WFX1xXM8VlveIaJLiUySAYyRtgcgMbY3puKOTHb9kMN2Sg6lPeONj+vrUuW+G1ry+1/G5BMF4jIGm0jWAFZtIO2QBzDfYVzXEeNX162bu4llY7Zkck1NRP7qijDY/Dvyz/AK0N7Z/+o05lXGx2yejHz3388UhtHsRHCkakactiRum+zegP61mymSJirAalOlx4EcxVi57SOWLeNgg31Srk+PM/Oh8XCLeyyRuCsoV1x1yN/vmqioZxk4zSac9M/WoHGARzqJY6aqJ9ofGlQ9QpUHWzRXduie72loWX4mRQxb1rFuopXndrhWjcnvADH2rq1d0JDBvPUuf0pyscitqIGfH+teXj8ufbf25ywmeGOWJd1bvAn6DnTKxSTB3KsG235dK1rvhYlTTbusZ8h/pWa3CLyFjhxgH8J5+tdZz431MQkYAyKG5DJB54x99qLfxLPcxRlyjJbRd4plVGgYz5nNCME8aHVF8Jyr/ej3jG4uMJG6xBIy2kdQgHLG/LFaFFbeNDo7RwEPfJjGBz5nVyq2s9m9pFbxWrCSCTV7xg6nU9CNWMczy61SuZTIcBQiatWjb/ADmgrMY1KZOMYzjFUWZuHrIzSmVlzvkrnAz1386hdQv7pFnvdkWi1Y+JfiB+W7b063hYKuOXX/Pzqd1NFJZPGMAkhgP3gefozbU9/KMpjttTKrFc1ZiEajvLqz48qaYJHgAkZGcGtAGg/lNKiZ+frSoOvE6he7q386lHcgE6HIwKVKvHjQ0cgkO6gnPXeiI0bNhiRnljpT0qzY1ElhV9RRhKAcHUuKE1siSD9mVYeBpUqzLVsU5OHWk34RrY7MuQf5VSl4CjEhJm1Y+EinpV0nycowpTcGuIMghWI8GqpNbsjKsi4PkaVKvTxts9QBk0GrEcLXKldjgbE9KVKtIh/Z0v5hTUqVNH/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8" descr="data:image/jpeg;base64,/9j/4AAQSkZJRgABAQAAAQABAAD/2wCEAAkGBwgHBgkIBwgKCgkLDRYPDQwMDRsUFRAWIB0iIiAdHx8kKDQsJCYxJx8fLT0tMTU3Ojo6Iys/RD84QzQ5OjcBCgoKDQwNGg8PGjclHyU3Nzc3Nzc3Nzc3Nzc3Nzc3Nzc3Nzc3Nzc3Nzc3Nzc3Nzc3Nzc3Nzc3Nzc3Nzc3Nzc3N//AABEIAMcAYgMBIgACEQEDEQH/xAAbAAABBQEBAAAAAAAAAAAAAAADAAECBAUGB//EAD8QAAIBAwIDBQYDBQUJAAAAAAECAwAEERIhBTFBEyJRYZEGFDJxgaFCUrEjYsHR4RVTY/DxBxYkMzRDcpLC/8QAGQEBAQEBAQEAAAAAAAAAAAAAAAECAwQF/8QAHhEBAQEAAwACAwAAAAAAAAAAAAERAhIhAzFBYYH/2gAMAwEAAhEDEQA/AClaWmjaaWmvtuIWKWmi6aWmmgWmlpo2mlppoBpptNH00tFRANNMRgEnYCjMoUEnYDnVYgzHJz2fReRarqguDOcAERfd6MIwOgHkOQ+VFCafT0qvIzSt2cXLq2aaH7SL+8T1pUvck/N9qamjT00tNE00tNQD00+miBafTUA9NLTRdNLTUAdFRbCgltgOtHcqilmOAKr6WmfU4wPwoenmaagBQztlhhOinr5mi6VVck4GNzRm0xLknaq2hrg5caY85C+NNUFg1w2E2jHXxoyxhBhRgUYIFACjAHKmIoB6aVEwKVNFsrS00TTS00EAtLFExVXilzJZ2gkghE0rSIiRltOoswHPpzqW5NB8VGRljTUx/rVGHi+cpcWrRSggNHqyQTy2xv8AMZqre3z+8xBWaNx3jhdYQb7HGfDy+YrPeGNNY2lbtJOnJPy/1qUrJCm/M8h1NMlwhgRohqZuSr49alHAdXaTd6Q/atACwtK/aTD5J4UYrRSKiVoBEVAijEVByqDLEADqaAeKeoe8DpFKR4hKag1dNPpo2nypaamoFprM427xmxSKGSV2ug2EA6KxGfDfFWr3i3D7G5S2u7lYpnXUqFTlh5beVStpYmL3LTAswwFJwIx9fvWbZfFCk4et2n/HKrzMMZXkg8Bn+OQa5PiySQ8QKRIkpifAZYGfThd+ux8hkddq7M3CTMYoJo8/ifUOflXPX0AxcOqSaA8mXeQ6cDVjIB+Hr9SOlY+X6XjupcDuBCHQnvaySrDB5D0+R3+eK343SZBJGcg+WMGqvD4YpWmikjhcAKwU4fnncE9OVRWyjsuL25tdccc0bq0Ycle7gjA6davG2RL9rhFRIo0hVBlj/OglJJPiyieHU10QF330xrrbqOlQFvlg0x1t0HQfKrQjVBhRgUtNVQtNKn7RPzD1p6K0sU+nNT00CcqwZWYLEgzIxO3yrKMaCC14jxfistyiSRR9lAFdc/h1f/dDPBmD9pZGQW4/7YKq5H7pI3+vrVrhfCZzc3F1eTlo5JzLHGq6c7AAtjyUbVuaccq5zjLPVtxz1vPcRyLbxBmKjvCXSDHnkCCcnO/UDb5VzcwjA13ViEbS47UEfsW0k97y5Hn49DXecThhkspnuFJ7ONmDglWXAJ2I3HKuKvrJREIknkuJTC4j7YuFmwpOn8pI35AbkncZFc+csXjW3wqSWO+YOY9LRk6AuNW4Opc+O5I8+vM2bxJLy8tWsZo9MDM0hxuupTgeuNvKsOGIRXcfu1hLbNuGyi6Ym0nOkrlsHGAenhnatm2vBAinu6TgE9pkfU4wTvjoeWxrXG+ZSxeituzJZ3Z5G3JPIfIdBUyvlTrcwyR60fVn8I55oZMs3wDSp6/1rrrAcrqmx3PLA6UEpJPs2Av2q2sCJ5+HlTkUVT7D94+i/wAqerGKVVWhJqBCJ8bcvLzoAhS5/Z4Bt0O/+If5UUozuYlOHbeVx+EeAq2iKihVGANhWdQFykaFpGVEHViABQ1urQ/DdW5xzxKu33ql7VRCfhaWzjKXN1BC48VaRcj0oD+zaWIzwoAKM/sGxt/4seX19RWLyu5FXOJXEQ4fN2U0Wtl0oS+2TtzrmeI3IdjFIYuweN9cZB1wj93VzOd8DHlnYVYv3uJLSWJ5zG2tQV76EAsOQLEZHjy67jYUcy217AsMhUKjiSeaMDtvh31n5rtk4yOQrnz5a1xjTt5IIksXPEUljynZEMmQuQApAGTn59N9xvs3ECXhw1uj77M67j69PpXLQvbjhi3UOhWMQeQxS6wx57Lz1DcnI/p2lvPHOBoOfykAgMPIfw6Vrhd8rNYEnC4uH8UsJ7cyDt5THKhkJQjQ7DY+ajy8q2yu1VOPGSOO0eKJpCt1Ge703wfsTRkluZsaIOzTBy8mxznotbnlEmAGSdh4mqzS6toUMh8eQ9as+6qTmRjIf3uXpUyuBsMDwFbFDs7n/DH1pVd00qC9FEI1wN+pPiaIFqWKTssaF3ICjmTXPRhe01zFC/Co3cAtfo+4JGFV2/gKuJeLfO8Vrl0TGpuQbPgfCnNkeIXCT3ij3ePvQwkfiwRqP0J2rTjiWNAiDSi8lAwBWd9HPce4dDcrapdosrCXUpO3ZYU94HpjIP0NZVzZBryGG3RCyQyBg8YKs3cyynY5+p3z866Di4Zr2EQErPFGzRsPE+PlhDVOaWIcUt4HA7RIpFL7jsnLJzO+5wfnnzrPL1YyeGWV7NwmxlgWHUII3keKXswe6M6lwe9zGcn4fDarVqOJG1R4bRnbTsY3VWUjbDZYA4IO23hRrC3kHBrYIMSGJFY9H0jmPykBef0z4bXBypt3WMjSsh0gflIBGfPc+lJEtUODT+9y3BuLaeG8hwj9rtqXfDAeHP06itMrVSNCvtJeZ5NZwMPo8oP8K0CK3KiuVqJWjNgDJIA86rvPEp0g6m8FGa1obTSpu2P9xJ6UqdlacjLGhdzhR1oEcL3DiW4XCA9yI/qaJHC88gmnGADmOI/h8z5/pVoDauOtYYCnCipDAGTUAzSf8vZR+Mj9BU0xz/E+IW9lxS4e6R3DCKGJFcDVJzC74xkuoznHjiqxsJjxcNI1trEDM8RAOvLAFc9B0HhjrVmKFHvrpsSdizuboY1MTkpGeXIjVt5A7cjWtluUvZIbiFC0cACZY74cjGwOWyp555jfes3kuCez00sFvFGtuWi78cTax+y0u2xBxzwcbnZflm5wqRPfrouQjyoJNJj7PugkBseeR+nSqFramfh1xZhRBd3F7OmqLJC4lcnvHoApOMVa4bmW+iN0VM6s8UsZ/AwXIA2GRhc5PPINJyTDGO5uOKjiNiEntzbaE1d0FtWefhgmtFILttXvE0YGo6exU/D5k9a0CtRK1uVMUfdI85bU58XOakIwgwoAHgBVorUCKvYxX00qNimp2XFoUzOFwOZPJV51DUX2jxj855fTxosaBcnmx5k8zXDs3iKxlzmXl0Ucvr40XIXc8hzpi6p8X0A5mqfGJXj4VdOzdiDGUX8xZth8tyKdjGNwK4t4rGPiN7MUMwLhSfj3ypx5c/mzeFVJphNxi4v0t5XgWKMmMRHO5YEk48FB3xuKN/ZoRlu4ZeyjtGEcDMmondQ2c88ZwB0Kn50a0/tL+1L5m7BroRxLIhQquO+Rgb5Okgc+e1Z0xDg3ErO3mZJ2FtEk87hXQ7M0hxvyG2qrnE5LY3Nvf2txA4WRBMEcMcZwG2PgxB8iCeVU+EW05PE+1uYWtkkZe0RM6U0g8jsTud/50WCFoklt+JK8twiAOcnTKrbBtPIb5z1DfSrpjoyMGokVGzkaa0ikkGJCuHGc4YbEeoNGxV7HUEiolaM2KgRTsYDppUTFKr2OqOtVGWYCnDu/w9xfzEb/AEqkkoXB3J8TzoguRnnXDXXF2NVTlnPUk5JrO9oJ3CWtvCA0ssvdUnY4G301FM1YFx4AVmSq1/x4M+RbWcQHPnI+5H/rp+jVNTF+xsY3sRBIgEQR0XO5bVkFyfE5Pr57ZFosDXlzKbQI8rpA+mMEREIuWAGdwWI5bkjNdEJgBk7D9K5z2evobu64mzQvFHd3DGCRjnWoA3Hhn4h8x1FOxixwxI1nv7SJHUPeogXSwUgRxlvkNKnY+NbHFrN7qJJbZgl3C2uJs7NuCVPkcY8jg9KyeFzF+OcQRiNcZSSTA/GUCgjyIVvpita4voLdddxLHGvTWwGaaYBwadZDcojZTtNS5XSRkDKkdCGB26VfkbA5D1rl5uPcJtr4X0N9amOQtHOEcHvac528lA9PPNG6/wBoXBwwSO6TfO+CcYz/AC+4obI64zqObL9KS3KkYGN+tefv/tA4W0zKbzBHIhDg8v50ze3/AA4sY3uMLoDatPPl99/tWs/adnoHaD8w9aVcAvtbw1lDe+oMjOC39aVX+nZ0IvU5704vl6H7V5B/vDxeK6Fy96CZMDQpGkY8v886lYe1vELftDNdCXtDnTKT3D+7ty8qzvE7V7AL8bDUPSsPh/GTHxe9YDMczhmOdsDug+gHo1cHB7ScYALLfQSJ2mpmO+P3eWwoR49fomI5IomUbOvMEDnv8qzvFNr0T2r9oorHhxSWTs1l7rMoyQDt9/0BriOI+117GClhL2UTftRnvFQdl+WFX1xXM8VlveIaJLiUySAYyRtgcgMbY3puKOTHb9kMN2Sg6lPeONj+vrUuW+G1ry+1/G5BMF4jIGm0jWAFZtIO2QBzDfYVzXEeNX162bu4llY7Zkck1NRP7qijDY/Dvyz/AK0N7Z/+o05lXGx2yejHz3388UhtHsRHCkakactiRum+zegP61mymSJirAalOlx4EcxVi57SOWLeNgg31Srk+PM/Oh8XCLeyyRuCsoV1x1yN/vmqioZxk4zSac9M/WoHGARzqJY6aqJ9ofGlQ9QpUHWzRXduie72loWX4mRQxb1rFuopXndrhWjcnvADH2rq1d0JDBvPUuf0pyscitqIGfH+teXj8ufbf25ywmeGOWJd1bvAn6DnTKxSTB3KsG235dK1rvhYlTTbusZ8h/pWa3CLyFjhxgH8J5+tdZz431MQkYAyKG5DJB54x99qLfxLPcxRlyjJbRd4plVGgYz5nNCME8aHVF8Jyr/ej3jG4uMJG6xBIy2kdQgHLG/LFaFFbeNDo7RwEPfJjGBz5nVyq2s9m9pFbxWrCSCTV7xg6nU9CNWMczy61SuZTIcBQiatWjb/ADmgrMY1KZOMYzjFUWZuHrIzSmVlzvkrnAz1386hdQv7pFnvdkWi1Y+JfiB+W7b063hYKuOXX/Pzqd1NFJZPGMAkhgP3gefozbU9/KMpjttTKrFc1ZiEajvLqz48qaYJHgAkZGcGtAGg/lNKiZ+frSoOvE6he7q386lHcgE6HIwKVKvHjQ0cgkO6gnPXeiI0bNhiRnljpT0qzY1ElhV9RRhKAcHUuKE1siSD9mVYeBpUqzLVsU5OHWk34RrY7MuQf5VSl4CjEhJm1Y+EinpV0nycowpTcGuIMghWI8GqpNbsjKsi4PkaVKvTxts9QBk0GrEcLXKldjgbE9KVKtIh/Z0v5hTUqVNH/9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AutoShape 10" descr="data:image/jpeg;base64,/9j/4AAQSkZJRgABAQAAAQABAAD/2wCEAAkGBwgHBgkIBwgKCgkLDRYPDQwMDRsUFRAWIB0iIiAdHx8kKDQsJCYxJx8fLT0tMTU3Ojo6Iys/RD84QzQ5OjcBCgoKDQwNGg8PGjclHyU3Nzc3Nzc3Nzc3Nzc3Nzc3Nzc3Nzc3Nzc3Nzc3Nzc3Nzc3Nzc3Nzc3Nzc3Nzc3Nzc3N//AABEIAMcAYgMBIgACEQEDEQH/xAAbAAABBQEBAAAAAAAAAAAAAAADAAECBAUGB//EAD8QAAIBAwIDBQYDBQUJAAAAAAECAwAEERIhBTFBEyJRYZEGFDJxgaFCUrEjYsHR4RVTY/DxBxYkMzRDcpLC/8QAGQEBAQEBAQEAAAAAAAAAAAAAAAECAwQF/8QAHhEBAQEAAwACAwAAAAAAAAAAAAERAhIhAzFBYYH/2gAMAwEAAhEDEQA/AClaWmjaaWmvtuIWKWmi6aWmmgWmlpo2mlppoBpptNH00tFRANNMRgEnYCjMoUEnYDnVYgzHJz2fReRarqguDOcAERfd6MIwOgHkOQ+VFCafT0qvIzSt2cXLq2aaH7SL+8T1pUvck/N9qamjT00tNE00tNQD00+miBafTUA9NLTRdNLTUAdFRbCgltgOtHcqilmOAKr6WmfU4wPwoenmaagBQztlhhOinr5mi6VVck4GNzRm0xLknaq2hrg5caY85C+NNUFg1w2E2jHXxoyxhBhRgUYIFACjAHKmIoB6aVEwKVNFsrS00TTS00EAtLFExVXilzJZ2gkghE0rSIiRltOoswHPpzqW5NB8VGRljTUx/rVGHi+cpcWrRSggNHqyQTy2xv8AMZqre3z+8xBWaNx3jhdYQb7HGfDy+YrPeGNNY2lbtJOnJPy/1qUrJCm/M8h1NMlwhgRohqZuSr49alHAdXaTd6Q/atACwtK/aTD5J4UYrRSKiVoBEVAijEVByqDLEADqaAeKeoe8DpFKR4hKag1dNPpo2nypaamoFprM427xmxSKGSV2ug2EA6KxGfDfFWr3i3D7G5S2u7lYpnXUqFTlh5beVStpYmL3LTAswwFJwIx9fvWbZfFCk4et2n/HKrzMMZXkg8Bn+OQa5PiySQ8QKRIkpifAZYGfThd+ux8hkddq7M3CTMYoJo8/ifUOflXPX0AxcOqSaA8mXeQ6cDVjIB+Hr9SOlY+X6XjupcDuBCHQnvaySrDB5D0+R3+eK343SZBJGcg+WMGqvD4YpWmikjhcAKwU4fnncE9OVRWyjsuL25tdccc0bq0Ycle7gjA6davG2RL9rhFRIo0hVBlj/OglJJPiyieHU10QF330xrrbqOlQFvlg0x1t0HQfKrQjVBhRgUtNVQtNKn7RPzD1p6K0sU+nNT00CcqwZWYLEgzIxO3yrKMaCC14jxfistyiSRR9lAFdc/h1f/dDPBmD9pZGQW4/7YKq5H7pI3+vrVrhfCZzc3F1eTlo5JzLHGq6c7AAtjyUbVuaccq5zjLPVtxz1vPcRyLbxBmKjvCXSDHnkCCcnO/UDb5VzcwjA13ViEbS47UEfsW0k97y5Hn49DXecThhkspnuFJ7ONmDglWXAJ2I3HKuKvrJREIknkuJTC4j7YuFmwpOn8pI35AbkncZFc+csXjW3wqSWO+YOY9LRk6AuNW4Opc+O5I8+vM2bxJLy8tWsZo9MDM0hxuupTgeuNvKsOGIRXcfu1hLbNuGyi6Ym0nOkrlsHGAenhnatm2vBAinu6TgE9pkfU4wTvjoeWxrXG+ZSxeituzJZ3Z5G3JPIfIdBUyvlTrcwyR60fVn8I55oZMs3wDSp6/1rrrAcrqmx3PLA6UEpJPs2Av2q2sCJ5+HlTkUVT7D94+i/wAqerGKVVWhJqBCJ8bcvLzoAhS5/Z4Bt0O/+If5UUozuYlOHbeVx+EeAq2iKihVGANhWdQFykaFpGVEHViABQ1urQ/DdW5xzxKu33ql7VRCfhaWzjKXN1BC48VaRcj0oD+zaWIzwoAKM/sGxt/4seX19RWLyu5FXOJXEQ4fN2U0Wtl0oS+2TtzrmeI3IdjFIYuweN9cZB1wj93VzOd8DHlnYVYv3uJLSWJ5zG2tQV76EAsOQLEZHjy67jYUcy217AsMhUKjiSeaMDtvh31n5rtk4yOQrnz5a1xjTt5IIksXPEUljynZEMmQuQApAGTn59N9xvs3ECXhw1uj77M67j69PpXLQvbjhi3UOhWMQeQxS6wx57Lz1DcnI/p2lvPHOBoOfykAgMPIfw6Vrhd8rNYEnC4uH8UsJ7cyDt5THKhkJQjQ7DY+ajy8q2yu1VOPGSOO0eKJpCt1Ge703wfsTRkluZsaIOzTBy8mxznotbnlEmAGSdh4mqzS6toUMh8eQ9as+6qTmRjIf3uXpUyuBsMDwFbFDs7n/DH1pVd00qC9FEI1wN+pPiaIFqWKTssaF3ICjmTXPRhe01zFC/Co3cAtfo+4JGFV2/gKuJeLfO8Vrl0TGpuQbPgfCnNkeIXCT3ij3ePvQwkfiwRqP0J2rTjiWNAiDSi8lAwBWd9HPce4dDcrapdosrCXUpO3ZYU94HpjIP0NZVzZBryGG3RCyQyBg8YKs3cyynY5+p3z866Di4Zr2EQErPFGzRsPE+PlhDVOaWIcUt4HA7RIpFL7jsnLJzO+5wfnnzrPL1YyeGWV7NwmxlgWHUII3keKXswe6M6lwe9zGcn4fDarVqOJG1R4bRnbTsY3VWUjbDZYA4IO23hRrC3kHBrYIMSGJFY9H0jmPykBef0z4bXBypt3WMjSsh0gflIBGfPc+lJEtUODT+9y3BuLaeG8hwj9rtqXfDAeHP06itMrVSNCvtJeZ5NZwMPo8oP8K0CK3KiuVqJWjNgDJIA86rvPEp0g6m8FGa1obTSpu2P9xJ6UqdlacjLGhdzhR1oEcL3DiW4XCA9yI/qaJHC88gmnGADmOI/h8z5/pVoDauOtYYCnCipDAGTUAzSf8vZR+Mj9BU0xz/E+IW9lxS4e6R3DCKGJFcDVJzC74xkuoznHjiqxsJjxcNI1trEDM8RAOvLAFc9B0HhjrVmKFHvrpsSdizuboY1MTkpGeXIjVt5A7cjWtluUvZIbiFC0cACZY74cjGwOWyp555jfes3kuCez00sFvFGtuWi78cTax+y0u2xBxzwcbnZflm5wqRPfrouQjyoJNJj7PugkBseeR+nSqFramfh1xZhRBd3F7OmqLJC4lcnvHoApOMVa4bmW+iN0VM6s8UsZ/AwXIA2GRhc5PPINJyTDGO5uOKjiNiEntzbaE1d0FtWefhgmtFILttXvE0YGo6exU/D5k9a0CtRK1uVMUfdI85bU58XOakIwgwoAHgBVorUCKvYxX00qNimp2XFoUzOFwOZPJV51DUX2jxj855fTxosaBcnmx5k8zXDs3iKxlzmXl0Ucvr40XIXc8hzpi6p8X0A5mqfGJXj4VdOzdiDGUX8xZth8tyKdjGNwK4t4rGPiN7MUMwLhSfj3ypx5c/mzeFVJphNxi4v0t5XgWKMmMRHO5YEk48FB3xuKN/ZoRlu4ZeyjtGEcDMmondQ2c88ZwB0Kn50a0/tL+1L5m7BroRxLIhQquO+Rgb5Okgc+e1Z0xDg3ErO3mZJ2FtEk87hXQ7M0hxvyG2qrnE5LY3Nvf2txA4WRBMEcMcZwG2PgxB8iCeVU+EW05PE+1uYWtkkZe0RM6U0g8jsTud/50WCFoklt+JK8twiAOcnTKrbBtPIb5z1DfSrpjoyMGokVGzkaa0ikkGJCuHGc4YbEeoNGxV7HUEiolaM2KgRTsYDppUTFKr2OqOtVGWYCnDu/w9xfzEb/AEqkkoXB3J8TzoguRnnXDXXF2NVTlnPUk5JrO9oJ3CWtvCA0ssvdUnY4G301FM1YFx4AVmSq1/x4M+RbWcQHPnI+5H/rp+jVNTF+xsY3sRBIgEQR0XO5bVkFyfE5Pr57ZFosDXlzKbQI8rpA+mMEREIuWAGdwWI5bkjNdEJgBk7D9K5z2evobu64mzQvFHd3DGCRjnWoA3Hhn4h8x1FOxixwxI1nv7SJHUPeogXSwUgRxlvkNKnY+NbHFrN7qJJbZgl3C2uJs7NuCVPkcY8jg9KyeFzF+OcQRiNcZSSTA/GUCgjyIVvpita4voLdddxLHGvTWwGaaYBwadZDcojZTtNS5XSRkDKkdCGB26VfkbA5D1rl5uPcJtr4X0N9amOQtHOEcHvac528lA9PPNG6/wBoXBwwSO6TfO+CcYz/AC+4obI64zqObL9KS3KkYGN+tefv/tA4W0zKbzBHIhDg8v50ze3/AA4sY3uMLoDatPPl99/tWs/adnoHaD8w9aVcAvtbw1lDe+oMjOC39aVX+nZ0IvU5704vl6H7V5B/vDxeK6Fy96CZMDQpGkY8v886lYe1vELftDNdCXtDnTKT3D+7ty8qzvE7V7AL8bDUPSsPh/GTHxe9YDMczhmOdsDug+gHo1cHB7ScYALLfQSJ2mpmO+P3eWwoR49fomI5IomUbOvMEDnv8qzvFNr0T2r9oorHhxSWTs1l7rMoyQDt9/0BriOI+117GClhL2UTftRnvFQdl+WFX1xXM8VlveIaJLiUySAYyRtgcgMbY3puKOTHb9kMN2Sg6lPeONj+vrUuW+G1ry+1/G5BMF4jIGm0jWAFZtIO2QBzDfYVzXEeNX162bu4llY7Zkck1NRP7qijDY/Dvyz/AK0N7Z/+o05lXGx2yejHz3388UhtHsRHCkakactiRum+zegP61mymSJirAalOlx4EcxVi57SOWLeNgg31Srk+PM/Oh8XCLeyyRuCsoV1x1yN/vmqioZxk4zSac9M/WoHGARzqJY6aqJ9ofGlQ9QpUHWzRXduie72loWX4mRQxb1rFuopXndrhWjcnvADH2rq1d0JDBvPUuf0pyscitqIGfH+teXj8ufbf25ywmeGOWJd1bvAn6DnTKxSTB3KsG235dK1rvhYlTTbusZ8h/pWa3CLyFjhxgH8J5+tdZz431MQkYAyKG5DJB54x99qLfxLPcxRlyjJbRd4plVGgYz5nNCME8aHVF8Jyr/ej3jG4uMJG6xBIy2kdQgHLG/LFaFFbeNDo7RwEPfJjGBz5nVyq2s9m9pFbxWrCSCTV7xg6nU9CNWMczy61SuZTIcBQiatWjb/ADmgrMY1KZOMYzjFUWZuHrIzSmVlzvkrnAz1386hdQv7pFnvdkWi1Y+JfiB+W7b063hYKuOXX/Pzqd1NFJZPGMAkhgP3gefozbU9/KMpjttTKrFc1ZiEajvLqz48qaYJHgAkZGcGtAGg/lNKiZ+frSoOvE6he7q386lHcgE6HIwKVKvHjQ0cgkO6gnPXeiI0bNhiRnljpT0qzY1ElhV9RRhKAcHUuKE1siSD9mVYeBpUqzLVsU5OHWk34RrY7MuQf5VSl4CjEhJm1Y+EinpV0nycowpTcGuIMghWI8GqpNbsjKsi4PkaVKvTxts9QBk0GrEcLXKldjgbE9KVKtIh/Z0v5hTUqVNH/9k="/>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AutoShape 12" descr="data:image/jpeg;base64,/9j/4AAQSkZJRgABAQAAAQABAAD/2wCEAAkGBxQTEhUUEhQVFhUVFBgVFRgXGBkXGBYVFhUXFxUUFhcYHCggGBwmHBYUITEiJSkrLi4xFx8zODMsNygtLisBCgoKDgwOGg8PFywcHCQsLCwsLCwsLCwsLCwsLCwsLCwsLCwsLCwsLCwsLCwsLCwsLCwsLCwsLCwsLCwsLCwsLP/AABEIAQIAwwMBIgACEQEDEQH/xAAbAAABBQEBAAAAAAAAAAAAAAADAQIEBQYAB//EAEcQAAICAAQDBQUECQMBBgcBAAECAxEABBIhBTFBEyJRYXEGMoGRoRQjQrEzUmJygpLB0fCisuEkBzRDU4OzVGNzo8LS8RX/xAAWAQEBAQAAAAAAAAAAAAAAAAAAAQL/xAAbEQEBAQEBAQEBAAAAAAAAAAAAARExQSFhAv/aAAwDAQACEQMRAD8A9UJwoOOOOAwQaPB1wBMHXBTsdhRh1YBgGHacLWFGAGy4GRiSRgTLgAEYacFYYGcEMvDg2G4UYAinDrwwYcMA4YdeGHHasFOBwpOB6qwglHTf0/vywBRhcDFnwH1/z64YXXleo+A3+YGw+OAIZB6+m+GEnwr1/sP74YZ+gAHl7xH8Kf3GGlGPO/ia+QXc/E4Aw/e/L+2OwNcv6fBVr6g4XABwuG4UYIIpwRWwEYIuCjI2CjAUGDIMA4DCHD8MbAdeGscIMcRgBtgTHBXGBsuCG1hax1j/ADn8sOF9B88AgwjtXWsJIQObV5cr/r8sCZwOQrzbu38+99MAUv4A/l+eBsTzJAH+dThp1HlfwGn5lrPyGGjLdSaP8x/me/yGAXtBzot59PgzbfI4VZyeX073+o0ow4QDws+J3P15YIBgGCInn/q73+kUo+uCCEdbPkeX8oofTBFwl4KcKGw29MIWwhOGE4AgOOxFkzBBqr+P/GOwDcOGGMcKDggq4euBrgiHAGXBlxHBwRGwUa8IcQstxOOQHsj2gBKkpuupWKsus0tgqQRdj44e+ZpdTlY13vUeg8zQH1wEisdeM7nuPQsAIy024sqD2QHIlpNo/OiTy5YsOH8TMqK0ekgi+737XUVDA2FUHSSO8dsE1PYHEd5U1adQLAWVBsgeJVd63HPxwZoyef13+gofniNBw1VOxNDko0qg/hUDVzJ3vBTw/QADy5n+Vb/phdDHx+en6Lv8ziSq1yw6sBDiyQBJvnzCgKL8bHeJ5cyeQwdYgOQAwasIwwAGGGEYKwwysA0jHDCHHasEPBwxsIWwhOClJwwnHE4ZqwQYY7CLjsBEfHI2Gk4VRgg4OCKcRhKN97rnXT18Pjih4t7SppIiIcXpL6isQa/d1r3pG/ZjBPQ1ga00s4UE7bc7NAepPLFBH7WZaSeTLGRDIh0tHJcQJIFKqOC01g/hBBvpthvA48y51S7JzUuAr3tXZQixEu3Niz79MA9p8hHG0U7IHj1djmFO5ZJCNEmo97Wr0Bvf3hXrgqHmYM522YbLhxb98RhUB7quLMhLF9LgWIwaodBUjhPs+JzreZbADbAyyAG6YSTlgAaIBVF5EbEECJJlpEkl+zSTJAIkmJBEY02VvSy7ppiO6CNqGxOxxH4dK8QadVDKzXN2I0yQyEXbRSWUOjeS5G1e8Aa70G0j9nsuPeTtKPvSkym/1VDWB8AP7XUUdb1RP0A5D/PPFHwbjcbuInZVmolV3XUoF6kRgGG2+433okb40AOLimHDawWsNOAQDDgMIMOwCEYaww84acAJhhmCucR2mHS2/dFj58vrgGvgRGGyZi+Vf7iPVUv8xgZVz4/MIPpbfXBBWYAWTQ8TthnbjoC3oNv5jt9cDWEXdi/FVs+mprP5Yi8VmESM5QtpGqmOokAjXpBvfTdcr2GAO2ZJ5V8Lc/ELsPnhlMed/Fgo+Giz8zgsEwkRXRwysAVK8iDyIwyZ1UW3gTvudhZq/IYI5YR4xfyX9S2+OxIjewD447BUXXWBzZnSDsTQuhQ+bEgL88RHMhfugFT50Olln94nc0FFbbsMTo4hte9cvAeg5DBGXPCZ5yFDIYfEgrENJK00XvzPsffKpvyONFwzgkcJD7vIBXaPRIH6qAd2NfJQBiSYATe4J5lTRPrgiwftv8/+MTAe8ReIKksbxkkh1K2vQnkynxBo7b7YemUXqWauRZiT8+eDogHIep6n1PXFV51w/izx6BmxoSzFpBYBngkKpCABdF+2bke4ANqNTjnXzbh1kiy6IaUxuHzD7G1+7JUKNR5sws3tWI//AGgqIpF1oWhzLrTAkdjmlR0R9Qtku4yGVTRVurDCZTiyaSufdyy0iBIzEJSAPuTIwDK63ezIulg5rvaQqEiSDMwRPPGVGYJRkcJJl9pEXTGWAAZxdgEdyqptOPVeA8W7ZSGGmWNiki9LBIDr10MO8L3ANHcY8zPD8qyQvLodZH1TIjjQBNFJ3ALpWAUM7GmLMvgBiqyvtHLlmUiRneMmOKSvu8wq1pSUaQSxQrZUEnUh/wDDOIPdg+Gu2K3KcT1xo+mi6K1EjYkAldrY0duXTAM7NMSNF0QeSC782kagP4dziquFbCidehv03/LFVl21DvEahzF9oVPmfdB9BicieNn947fyjbAdPmTvQF+BO9+i2fywyN3YXuPkg+uph9MSCNq5em2GgD/N8AHsuti+hA1EfxNf9MKYQeYv9439OWC6sLeACy+fy2wMoP8A+7/ngzYGRgG4Bm4tSkeR/KsSMNYYIzXC8hJFJKoLhWqVW2MYdv0kegmx3rbu1eo2cO9oIJJIHQrvXdeMk0fEp7w2sUuqwTi7Zx4/Lf8ALAu2vkL/AM8rI+WCKjKe0kBQF8wsb8nR6VkcGmUhgCNweYx2Kfjfsa087yhIe+Qe8oJsKAbN+WExNXP1rcPXAQcEQ4qDKMPvDEOKLivtVFHqEdSsuzEELGh/blPdHoLPlgWtDqwJs6gsagSOarbt/KtnFPGTm4TqBCOpUhw6KQQQSqAh3G/Nio5EDGW4ZwT7LLJlhmJUVO/B2ktxtEy3RV1aNWBWQXoYUnIE2Qme0ntVG/c7F/dYVIVjNsAFbTZdSOYtemMvns07JLK1GOhG8mkjswo1RRoXIYLqKnZbNqDyWrzPZ5+2XsxFqQdpG7J2IZ9SDaVNSTgra0i3TkUOYh+1DxtDLmZMqYxPlnjQqFbTLoYxFuzbVr1a1OpQB3R0NwwCfgMrtH2znVIyx7EzGyrEA1pUMAoBB28zTVXZ3hQ0vHHI5Yx3mkb3IJFvRqaNFQHUjKo7xbWp7oxM4hlbkSHh0uvQ4GhtOiKUBiscZbvs9K16tWkhQT0wf7WFy8kZkJTNwO5SVKdpSmzSPqL6WWvvFHOOuZolbz2PR0heF5CWhmkiNKqau+ZFegNrWROVAUKxfxxAV1PibJ+ZxnOAIIszKmpT20MU5o2e2S45ibO3dOXxpAcUPGHq2GDETM8TjRgpddR6al1ADcnTdnaz8MFWOrHYix5xTsLO3ofkd/pjsxNJXcQE31/OiV/zxwEk4RpAOZr12wJFYgajW248/UV/XHfZV62fp+VXgFeYf5y+fLDO0J5Kf8+h+eDogHIDDwuAj9m56gf54b/nhHyo6kn/ADzsj54lgYSTAQWhHh89/qcNIw3iMxjGs+6D3vGiQAR6E36XgcebRh3Tq8dILUfBqHdPrWDKQox2IjZ6jWn5tGPprx2JsawIDFRxviQjGpdbhL1hHCKp2oyv+EbNsDfkcTYGMgsggHxBAPoDRYb8zXpghyItXWta+6TyqiNO3uimPIbefI1llEjzme3buRHxDRxV+7tJN8dCnwONDwv2ahi0sbkdfdZwKT/6cYGlPgL88WH2qveVgfLvD5j+tYQ51fHma2/ucTFSWfGb9soQIxmCt/ZzrfqxhsNIV8CulXB59w1zxeGY/hQ/Hb69cCkhZgQ52OxUciPA3+WKjFcTz+p4XkEjvGkrSiPqjFEMhJ7q6VXUQ2w0sK3BxScRyExjmEc7jLdnJIuvvdpIqlpY43FKAb1WFINPRNbE49rinTLEuiRBtJ0BxJA2nS7O3JU009noxIIFGNmuIzy5eSBsxlQkMamPSGZ5hRAEbmrWu6W0iweoN4KsuM5VouxhSIuwlAjUuXUFQx0xSKqsrE1+NSSASAbwSXN6cvJBm4y3bK0+WzC9mCbXVqQa61BzehTqIkNLzxRe0GYtY1ly+6Pckyuzylak0BWKjQBTMNOoDTt4mfk8qe8ufWQM2qTLvIGUFgC0gYR33iLbuttqdgBWINfkUzCPlmhXtogCrByivAsiAuNQpXTUsXdoN3R7wNi/zsOZeuzkWPx2F/VWv4EeuA+ymY15SEkURGq7CvdFA10sUa88XAcDc7euKKdfZxn/AE2YkfxA90+qyFx8gMS4uAZde6I9V8wzEj+W9I+X9MTFlLe5sP1j/QdfjWD6ljFsQPEsQL9ScTASNAoocv6ncn547ViCOKIxYLqbTWrukAWLHeahRB53hsXEC16V5Gtzq/8AbDD/AFDFVYocOrFevaHrXoFQfXWfywX7HfvG/I23+8lf9OAO2ZQGiwv9UG2/lG+GvnQOh/ipP95B+mHJllArevC6H8q0PphyIq+6APQAYAQzDnkoHwZv92gfU4Dmu00MSapSdzVUL5IL/wBWJwOHVgM1lwmbhlVtjbQutKCNQ7ts2s7hlIYHe8TYOEoEVW1FkVU1kkt3QBfesEeW4w3Jez8aSTPRBdlC6WIpEAKgVRWmLbcuvXEl+0Tk6P8Asv3W/mQV8NHxxEckUoFAxEDkSrKa8wDXy+nLHYH/AP61bGGW/wD0/wD98dh8AQfDfCgeP0wl4eMUhyjDsNuueEEl+6P8/wA9MAtYjySDpv8A59fhiInGMu0jIJ0kdTTRxntCpFA2FBr5D1xU8b9rxA5QQMSfdYugDbAnYEsavwwRVe1MU8uaEIEZjkiS1csoZg8rIjMpu6WRgBpvRRI60XGM9JFlHy2bjPaRKOycjZ4mal1MrMqudBAF2TGDeJHEePzTSMBEFd1ipaYvUMjyRugfQb1MTYBusQuISZp4ZZXWQopIksBCDqWwVZR4Ia18gvliaHzOkIjeWNZD9oRmdOzZSpR/uk06dQ5KGrfT0weR0lgaF1ZGR1aBZJphoGomJmo6VK1o1BhVbd4i6zO8COiPVIEllkVESRXSrVj2gZ7Oldha3z6WMSYoY9Mc+YQqImZcx2hLa0VmWSKGRr933gFIJCjSBqJwVp/YLiDdl2Wq9MUDqaFsrwqo2BJsaNJ7vMeeL5M/L2ldixrme8zDwItQm+3I7dcZ72ZjWNsk6HaWBoJNINawiyxWeQIEco53bY2wOKHhXPNq+JP0XR/XDkyoBuzflS/7QD9cN7TxxDzHGoUv7xCw/CGBN+FCzgGcTjKSCWJCzoAa2+8BOkxlm5H3SDexroWxbZXOrKgdTYPjsQeoI6EHYjGdm47GwRgSSDRVRZJ95QBzvu8hdXiBBxZ0leVVqNnCyrudHJe23rkburuvLAbcPh4fFMGmLbFNG3K7qunO/HmP64kmP9Zj/T5G8BPfMqNiQD4Xv8sMbNjpZPh1+uIoVORAI8DuL9DtiQJPAf0GCniZjyX5/wBjX54INZ5kD0/t/wA4DrPl+f5Ycuo9T9BgCGG+ZJ/L5G8MKIPCvA7j5YRx44DmCdLaTTaTR6WBtflgiSsgrb8sdipy/HVK9+N1YWGFqaIJBo6hY22NCxWEwNOkmUcyOf8Ag32w2efSpZiEUcyxr88Z3juakY1lkBdNYIa9fJDcaqfA13mXmRWIGS9kMzOVbNyFQKpSQ7KByCr+jj+AY+eJqJfEvbKNdoF7UnYO9rGT4KN2l9AD64suDNPmE/6iMoOmoUHu+UF8vd/SE7/hGLLhXs9Bl94073V2Otz/ABNuPQUMWQXBWL9qvY6A1mlhDyIxaahbyxkAMwC1bqACFA7wDLzYEAycS9mPs6k6ULARyNAoGnUGVoWEbrpKEK0YrUNRG178CsYjimSbLzLEA32eaTtYipNxSxhpGy61vTjtNPP3mX3VAwoo8/lis7TZiRtUaQo6zxxsRES7MwIrU0ZIfUjXQfkSMRPa7K5mCJ3D3DNp1BjILYMqwu2tnYAju0X6R2Oi2PGJ802czCNNGkB7MqWRakqNNGpmV1Ru+PeUqNQOx04yvEOFFIZY2jncxhQhaQSRJC0m2z0ykEBCqIK1LqonTgLz2i9oy/ZLmYO4J1kkaMmaKSOMkFUJC2CGNbNqN70Nz5zPRQOHy5EUWYjFRo8bLrUHS32ddUWl1pSSVrQosYzXHc9JERDNKUXtBJ2TBjQUsoaRpVEo23Atlo0KqsT48tFDYCOZGBbUI3dHWwUkjZow8EyEIdWjQe7rO4KhecF4RM2Vy7ZeQxsCjHUS8R0PekIaKAAaRo2o78zjVZnJSSLRmZT4p3T81IOK/wBi872uSic0GOrUOVN2jWKxcPIa7os+tfXFRVj2ZjP6R5JP3yD9a1D54bmIsnDQZUZuitcjX6MTpxYvLe12eoU8vInA8jkURidI18ya+oPP/PPcKviubeNUCxqiOSAWJRgRTCgo2JGv00irxT/aZp1ZFYFY7alRXUfi2J73qarp1rGm9p8vqy7Gr0MslAXsjAvQG96dWKS20gLYlttLKUqXUb00KB7pCmxtzsUDgq79mI5REA7aqZgp1H3LsCq35mt+VYu/sykhiBY5H/DjP+yGc7RGBsGkZlKldJZSKWx3l7l6ut40gOAIgwUYBqw9TgC6sKHwM4G7YAskmAGTAi+G6h1wShT8EgkYuy7nnuRyFcgfLHYlpIK547AR3y/LRSleW23Xah6n5nBo84Bs/cPn7vwfkfofIYQHCmRRz+XP54ipS5lT+JfmMO7VOrr8xiCYQwrQAPOx9BywZMqv4iT5ajXyvBRJeIRjYNqPQLvfx5fXEDiWUfMxmMr2amiGPvqykMkiDoysAw9MWsSqvugD0FYicZ4mIIZJaLaEJCjmzclQeZah8cEeP6s4czPDqjcwyIryNZQSBNCP3SDGCqFaJoait2d2e12UzIywd+0IhbRJFTrFGjFS0QEcCqqE9kaLnbSRja8MybRzqsekyDKgykgVPIkshzCrvXefMGybFqo30msv/wBpHFFjUJlHYowTtk7rIlMHiWiCUIPNTsNSrQusQUPEMrGyGfsREFljXSihVJZx2tkkONiKBU113BJtcpxICMqsyzRQswSNpNM4jUbFVamaEoQGUDUCDzrSH8RzPb5BiSgKwK5j1OpQIwJZI6NgkNu7H9nTZuwzOcDrHPLKWEqCGYqNMSqQWjAIp2kDMQV1D3ydhzeqsvY2RdFwqojnMsii9gUmZSKUUDoaIUP/ACzjTdix95vguw+J54849l3+zmOwVAMUrEgqdDxaLc0AaLTx31Ii8MenkYsQ1IwOQrCul/8AGxHoRyw4HC3ioBmoSY3WybRh0F2pHQYy0eV3kMdGaRlZVB7PZo1OpZBfdPeJBsNq86xq5M0ouyNqvoBew3O2MTFxLQ2nt0j1RRBnA7RqUyA2oOnayAtHkOXPEqrP2UmAnZG2k7HS+oaSTDKyggWRXfJ2J5nnzOjn4pCmzTRg+Gtb+V3jL+z0sPb6VDS12tSMm5ZyjbkgU1arqtiOVDGrJoEqig15DfoNhigkOZVham/QHBEmNkaWFdTQB9N8RYZiB32UHyN/njjm0utRvnW4/OsBM7a+q7fHAnf9r5DFJodZtUanvbMHB0MveIo/hYG99+dUdsWLZtx7yaPM95f5l5D94DAMzu6kANZF7k9K3H0wmTkcqCNDbC+jA0CRyo8/LBaLUdYojpRBB8CKxATKdnKzc45FGrltIGNHlyIYC76YIntxHTsRICP2AfqCRjsOyyoyKwGzAHmeu/jjsFOAJ5n4DBoqHIYgtmKvpQvf+gwYeZwE0SjC9ofT1xGVq5YcHwEgHxN/54YzfthIZZMvlU1bv9ol0iyI4SClDx7TSdgT92aF4vw2MguejRps/KQqlnSMkUTFl2UIo8dcizEeIkGJQTjedjyohnQ9ptLCqRCmd2VSsZvUwOqJVPVdhQ5YznF+BnLZRO17PtZ87Acwa91ml7SkbmVAJBs7kE3vWLufg7zPHxCa45UmjZEpSY4S3Z0+odA+s9bXmKUKnt00vaZBWUWc9CdS3pfstbr3d2U+9a79KY9IJXtTl0aPMKVVoTE7MSAVhnkQlJFJ5A2GauRZW6scZrh3BhLk4+zkZGmhGoEBlNv2ZTo4uSjzKgE93bF5J7TRZe0pSjWChcakY+9YQNSnfukDSeWx7uP9jZs12SJCRSOAkjAUrMrKIyzbUSXYDfdvQYaLDNiRJKnRwul8nMwuRQjANCyEEOCKjYXZOrY7aca/2d46kuVR2kVmVdMhU/jjJR2rmASpYeRGM7xv2enVGlmm7RpAI2uzoq3ikG2nuOOYVaDsem+j9noYXgSVYkUyLb90X2nKQMeZIYMCT4YsDJfazLDbtN/AKxPzIAxX5r2ilc1BHJX63Zlz6jfT8xjTRRKuyqoHkAPyw5z16j/KPlhiMt986sssErK6MpaVkAXUDuE0gijR5msZ3Io9rshJ7Td6UxsrqpDayVJIoAHbaul49EWcM2+2nejtv0Pn8P64ynEY2WcrlgCxlk1KApAEidrrVjWmQnXtfnseZQOGORPoibswsqhqZWAMkfZggjmW0jkaGk3yrG1iymw1sXI8dvj6487Qokh0BQ8HZFu6Y2GmUkhgd2LWAWPhyG1elnCBBGo6D47/AJ4IprADOv6w28xhHzCirPM0KBP5DFEoNhdeI+s+B/LCknywEaaJDJpFo5UtqQ1e9Gx7rHce8DgBWVYyjqsoKsLTutRvbQxrYHnq6csN4hEwYSg3oG4A/DuGrnvTX56a64PlcyrKCxI6bmgaNWCNt/DBEDJ5yMIoeWWNgKZCGBBGxNaevO+t3jsWM0rA0ISw6NqG+2OxFZ32i4m32qOJTp5mU7gdmAxsVzPvD1IxpMkxI3FeXhXQ/CsZPNkDiBegdOXRFs7BneVmNV1WMb/tfK89neLxvExJIp33I5qmwbbxUA/PwwFwWwgbAUziuLjGoHkeh3rb++E7Nz5Yoi+03ETDlnZSFdqjjJ5B5DoVj5Leo+SnFXwrKrJ2Lup7DLhRlISK90aRmZAfxke6v4QbPeNLD9pUDZmFHTtYoWjeYG/fnLRwAfrEEHuHnqXxxr49JAK0QRYI6g7gjEEXNvJMskRQqroyarH4lIvy+F9OWMpxofasxw3tbIlkk7u42SAtIfI6zV/sAjnjbk4xOZcDiWURjQgOdck7AK8ccgN+AEhHwwFnxCOJSsJjBmlJRnAGt4we8A34XfUqjcUHLfgNVPsWTFPmsvKEMMmZeMqB3EkOpkUCvcdAyi+RjQc2xoeFZPW75mYWZgBGjD9HAL0KQR7xssb5ayPG6PI5APneIwliokEMiEUSrKoKyAsDursCPTEqtLMug6Ju/AVZAzbka6GiYnmK1AOeeqm33ap9konglzOUc3oftomPN4piTfmQwIPmT44tOG5gzRfeOVcExzJSECRdnA1Jup5jxVgeuKHjkD5abLTxlpIlfsHBanSKYqNIO2pQ6ow32quR7tRrJWC8zWB6S3kP8+f5evLB0gHQKPqfryw8x+fzxQC1HdsXzq7PrXPGX46JO20wArIZY3DnZVDx9h3qB3NCtrGk41hdV3NDz2GMX7RcYgkkqKZW1rDTodWjs5mZyCgJumArr5ViUROI5fURFIEqOKU9xe6SNDFFckkuaYnqQDyN1tJOGxPQZAwHLVbfmcY7M8SRhHCoYxhmDOEdCwZHXSQV2JI3Iqq25GtbwzNtJDGyoe9GjW1KN1B5XeEErLZKND93GiV+qoX8hiVWIqu4atK6erFt/wCWv64NR8fkMUPIwlYZPl7RhqbdSLBoixViuuI8MgCjtR3qFtvpJ6m/w+h+F4CUzL1I+eKye4xUfumxGaJ0OQTpPiho14HbqKmjPwr/AOJGP4l/vgr52F1Km2BG+lXb4gqpog7g9CMSiv4T2TQxkol6QGtVHeXutz8wcdgcka33suspFDtHinDMAKGoDLkXVDY1tyHILiaPOPax5XllVHIbRKxC9UjYoq+I9yT+fnviZw6oMoschXVmI4hr5BUdtFbkEEqxHwJNacWsORVdeacnUMoLG1HtDIXWq3JcLX/O92nA07BIpFDUyFuZAKDuUTvS0K+fU4LF1k1CrpUAAVQHIChsP864I7gAk7Abk+AxV5/PaFbQNbg8uQ5jus3QnYULO42xWcemLQiN3GuaoGI2AVhqncHpUaOb9MUJksuZclPNsJMyWzKXtWmjlLvlSRwn1Jxa8PzY7rKCIZqaMno7jUVrorXYvrY6riqynFPtbBYRpgUA6iNnAtVCr1WxtyHdHMbYk8MCiF4ZXFRSPEdwtLYki36ERvFuOvLBF+ceecXjizPGI1s6FhqXnpk0SEdkCNiCxVWvY6SvPFu3Hdcn2RGJlrvzKNX3YAJeOr+8IZRy0qSTvQBhwIBxRlSMBU4ekQRiAApmJ/Dqv8/HBWpPaJytk8CbdfT9ceRN+vLGdEyjiZbVYkyvTqVeqrnfcqueLlJZVIVmUA7KxBJPM6SzEd4Acyu9HrjLcUkZc9lZrNSB1VtKaiq13zSgEd+wKuhzs7SjROhgmWQ+7ORHL4JLyha/A/oyepMeIftHGuYZYWfStS15yLGQCAOZUupHmr+GJ3E94mSUau0BRWBOmyNmIHeSqLWLoLd4gez7CbWjkCSJEiJUizIpMhnQ73q1RPe/Ojiot/Z3iLTZaOSu8VpxyqRe66+OzA4JnYJpDQl7IVyRQxI8mbl8vDFV7Oz6Mzmcu1BiRmAo2H3ndlK/slxr/wDUrmDjQuL9RywVAy3C1j3tna7LSMXP12HwxifavLGOaRVXaaKR0NldLd0mirWSGvaiKddjvj0MSgmjsedHw8R4jFB7S6WkRCge4pBpYWo1tGA5NGqIFEb/AFwTGbzefZECMHfvo7ShHVgNhq7NlAJUG+6BXqVvW+yc4OXCjlG7pzugG2F/H6YyMuQMeWQ2jtJAta6DIWW0Kkd27JoAWdyT7xxY+xma0tOKZkcRzKR3rLBg4JHJrUCj4YejbdphRJiofiD3QglPn92B/qkGJMMzH8Nep8NugP54onmXAZu8KPiD8QbwHv3+Gq8yb9MP0Hx+QH9bwAp5tJXluwsnnyoG/UjBYsw2ryr+/wDxiNnoFpS266gGs7EPaUa6Wy/LAHTswO7rraxu9c+vvcuY38icBfrm9uY+eOxBy8oZQy0QRYIoj6YTExWfz5FOK7iLDEPMtKY2NDwDEDzJ8BiUnFBLK0WorpALKAQaN7M34aFGgb7w5bjFTxLMiN4lI1PqTSl+7obWLb9Y3zPOzQ3NsyPDBHO52keRizKP0cZbe3+ATmN62AonAXmYlSl7NQQDSn8B8kH4/wCHbY2RjI8fyMmYmIZrEaFQv4e1db0kD96Mdd2qzjZSaY0eSQ6iqksx8ALoD8I8vzO+I3DcrpgTWO87dpJ43KeXlp1L/IMBD4ZH2QGuOUDlYLMlcwCqbgDxKgYg5viejMtFk+xaSdEKkaSImUsruxHPu9ma/Z387HN8Scn7PBvMvdkf8MQrZhexcgg0dlve9las47wtYFikT9KG0lyWFK4ZmYkNqOlgHZibpW9MBapwlVhZVLvJG4laTV95JLQLmx+IragHYWBVCsQeDZlRxLMl3Q/cQIrAaVYEM4J6KSDdXvRrD4eJPCVjV+1dmYd8bllYK3eX3RdncNyO+K32XTVms8CoZS0Q0saUhFNC63VdQqh+qfUNXJH9oYqw+7Gzg7c6Ij8mOxbwGlfxNij9snZJMmzWdGZUB/FGokN4N3B68x1Aso5JIFolOyBJ1U0pjBNntDalhZPfO/617tik/wC0Nz9nALM7BkkoBAqregMaGoWWob77+BIl4NLFMEMjN7kKto/cFlyPQro8go/WxXTZfslSaaTTIQDmAGCgkgDtEQmtaeIFldXWsVXE8t2eWCElkWG1kJdqQrSLMt0FJ0kkUCENhcbDLxIo7gUA790AAg9e7tijPcWzbRzZbMWHWNxG0oRxcE9IQx06GAYxsCG6cuuNdr8LP+eeMxm8qrB8o20TgiI8tyAWiv8AYUll8iK/Rk4sPZniBly0bP8ApFBjl8pYyUk/1KT8cBayAkbBfLVuPkMZ7iaXM6BdRMMamu6q62mBdmAtdwgFbm/I1f8AaYoMzOpmmFFnYiNQNmGmJH1XfdX7w2bAuhhRX8HyKQQxS6Uld4kc9p74BRfdY2FXkPgALOHcCbTIt2G1vA6nulFJLwnQdwpAQDzbfcnHcCV44YXfTIexiZT7pGpKCou+pgBXjvtV4HJK8s040lXVI5wh2+8UFQSBdkdnCaBIpjzu8QauXb+mEUUK8MDy2YWRVkU6g6hlPTSwsED44eTjQeZKF+G+HLJe+AnfAFUoK0llHKuYHQEda5bX/XAM43KRE+2pStHoV/a8x18RXXo/L96KOjvoQg+ekEHzGI3E9UkMiIjEtG62RoAJUge9v8gcRuFQyPFEzPatDGdKkxgd2+YtjzHUDblghdcY/SIoezq97nfMV0PPHYZNkEZifs0DeZ3Jrbc6N8dgqH7QAJLlVjFFWlkHPekA5c3Yu8fM7nmcXfC8p2UYUm2952PNnO7MT/lAAchjO8VzoGcEj0UggEm3eJ7aQBdI2s3FY9Biyzc8jQnYNekFboNfNdVWR6Dfl5mB/tJmlCxxk7SPbVuTHH3mAHM2dK/xYTP555iYMv3W5TS+8sN80Wtnl8uS8z0BqIYZMzmWrupEBF2nPSFsusfMdoWoE8l0bXjV5TLpGiogCqooAfU+ZPMnrgB8M4fHBHojU1uWZj3mY7s7sdySbN+eK7iX3kbSEbMpjiFEkiQhdfq1ivAAcrOJsjiUlf8AwlJDno5HOMeKj8XTbTv3qE5Mz1yRfW6I5+TMDt1VTfNgAGf9nMjqHeJsWJDf69MzAnca+76AE3uMSvZNFkfPMP8A4xgjDmuiNQCPn6EHE/OrUgjUALIixv4ADVpAHIEqJB8B5YrvYh1SHMyMQqnNzuTyAUED5ALgNBNxHQveFyWFCD8bG9Om/wAJom+gDXyOM/7QcPMWTmIZSCoeUEaQGVgwMXgoqgh9QQb1W8O5OYlGmlIQEbxxmrv9tiFJHko6bg4lljNDLrFAxOEQ/htCNTft7/D54Cv4dm1k4a7hrZY9L/smFQAN/JQ38RPXF8+WaOzBXUmNtkJPVSP0ZvfbY77WdQwuUUrkDML0NDLDmAP1bfs5hXVNQB8Vb9kY3uUzGpEb9ZVb5gHCcA00SxlAWV1IY2Kkjkuw5Hre47rCxuDis4FmiuaniYaTJU+m9llACTKviDUbg9RIMWmay4ejurL7rrsy3zo9RsLBsGtxjOcflMMkOZkFGJwjyIO5JBJ3W1j8DKTqo2OdGzQDY68UUUtPmNNamlBPQbVEln9YNHt03Arri2VrG24PI4zQs8q3mJJ8A82pWNczekAHmT4DCheDz1DBv98IEFkDSkZjUWgJ3NU3idJ6UMSOMqEfLMFVm+8Vb3sMFkZyLu/u+d82G4wnBI0GVgDLZaNNv1iY+h328fr4Yi5pOyjcMdXZmOTVyZYUYHSBXdVQJFA+JO+8F1wGUdmVF1G7KpO9oe/G3xVl+WLAtij4T3J960zRbeUkRtlI6MQ7Mfl0xfGsXQgkw8S4EwwweXp8jRxRIMoO2KbguZ/6daUgRlot/wD5LmOx66PrixOKXho+4k8pcyP/AL8pHx5HAW0eZUCiQCOY3/thcQG4skZKOwDA8rHL8J5eFHHYi4w3AEOYOue+6yhhRqkQrGp/mO1c18Tvu85mOzjaZ+aqSi/qk7KPNiaH0HnjeDZyOOMS0+qRzar3u7qfSW6KApAF+F1sMTeLcbDSwKwYJYl0gXqq+zDA1yYAnpY59cTRNyyNlJEayUlUrKOjToC7OvgxXtOfPsgOoItpc72iaw3ZwAW0pOkuv7B5qp/XO/6vMMKjPSCZNILPIe/DGnuq6EMruWrVTVbNS77CzuzK5m2WRo9atbSA1oyzElSwSzXfDBid9mOwsYqJ0mbMpijhAWImrrbSgvetulaN+fer3TcFhGu25vazuzGyST8yT64rMjng6du5AVV59LqjQ+J8+9XMYPkpu0qRgVv3VarUXtdddgfl4YAskP3bEkB77QsdgHWipPgo0r8NsZr2HOvKq8g0xCSSXcjvuZCwJr8K7erfui7DP5gSlixH2dFLi9u0ZOTX/wCWD/MfLnSezEajJwWRqG6xgmpWGpyW23aro9KHPoGyXvEPJ3QN0Vtq/ba/xeA6evJ5zsZ21qfGjq+gvFbHmYtLMiIGFjTS6tXIXpvn44DmOImR1y+yM4LMCwJMStVKAbOofIX5YCB7B5qPsHiZl2fryKOoAO/QlWxK9kM0yRpBIb7hMLfrIh0PET+sjCvNSvgcUvA8yVzOabkI5SKG4aMu/acvAKjfw11xZJkQ3aIlJJHmpHjeuTOhmU7c1PaUR4WMSDWasU/GyZlMKmldxGxHUnd1HooYnzoeOGQcZEiAWI5N1lBI+5K7Pz5m/d8bB5YZNnkWSIJTIgPum6Z+6vIGye8PVx44tEz2czZfLpr9+O4pP34zob51fxwDhcgTLLqpQy2W6iQ76m8d6N+nLECHOaJs0AGUSRHMKGBU6lXRJQPQ6UPzwTLh1KxmwxCyX7/6NkBUAbqCQm1dDiCZ7Nyj7PEX2YQrsdgqBRuCeY5En0uqoN4jIJFMjjuJqWiPeRhTs3hXdYKa9zx5VXCtUsMRUt2SKvdANu45srC60+ANE3sK3mZ2UVTa2RwCzhgo0mgNaqRu1EA+RvwIDy2ZPYRs/v5fs9bXuaPZuvnQ7ZbPhtzNaIvv6P8A/geXzxhclJpDIwopM0cgJv7ojUSaFMoJDX5msaHJZsqsYfpSNe3eTUpc+oCHn+LAXDS1Y8Tt8Rdn5NhcvLa8/G/XmfzxV5rN6mASqPd1cxZAqvHZmPwxWcM4tI07RVaqXt/R5ApoePc6fQ4o1Re8Z3L5jSMxGSxInks0LAkVZFA5b/eADEh5T72orqYgbbEKpYEgir7p8OfpiljzBM8p2q4nk2ui0ZRB4GqX4+mAz3E+HyTyvKrGmYj3S269xqPqpx2JfBuM5pIgsXYaA8mnUCT+lfmQ3jeOxi/196NJwAf9In7n5ItYrvZs3nZydyAqg+C6A2keAvevHHY7G6L3h2XR+2LqrHt3FsATQoAWegGKXh+2WzNbf9SRttsWiBHxs/M4THYnoLGKWMDYazsNhtMqjb029MWHtKf+nk/g/wB2Fx2F4B8fFUBsOyl26d2MldvLpiL7F/8AdE8k28tv+BhMdigmVHeh8m0jyHZyGvSwNvLFnlkFsaH6dh8NKivSgPljsdiCs4Oo+35nbw/IYdwM98/uxf8AsV/QY7HYQB4T/wB/zPnGhPqJJFB+QA9BifnD/wB68o1rypGIr4747HYUQfaT3l/emHw+yXXpeDNIe0m3Oyit+X3Uh2+O+Ox2JFE9k2JysV/+Wn1jUn63h8ajVOK27eMV03WEnb1J+eOx2KjPZU3LJe+0H+zM/wBh8sJDISsQJJBcXZ5/9PFz8cLjsFXzGpYQNhb8v4RiqiUCWYjY9qfzX+w+WFx2FRc8daoDW33nTyc1jPZLaSatvuIjt46pN8djsBRcG/RD95//AHGx2Ox2MXo//9k="/>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44046" name="Picture 14" descr="http://www.savingiceland.org/img_assist/gen/64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20272" y="312737"/>
            <a:ext cx="1739988" cy="2612078"/>
          </a:xfrm>
          <a:prstGeom prst="rect">
            <a:avLst/>
          </a:prstGeom>
          <a:noFill/>
          <a:extLst>
            <a:ext uri="{909E8E84-426E-40DD-AFC4-6F175D3DCCD1}">
              <a14:hiddenFill xmlns:a14="http://schemas.microsoft.com/office/drawing/2010/main">
                <a:solidFill>
                  <a:srgbClr val="FFFFFF"/>
                </a:solidFill>
              </a14:hiddenFill>
            </a:ext>
          </a:extLst>
        </p:spPr>
      </p:pic>
      <p:pic>
        <p:nvPicPr>
          <p:cNvPr id="44048" name="Picture 16" descr="http://www.aluminium-tubes.org/img/markets.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0112" y="4635973"/>
            <a:ext cx="3333750" cy="2057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3802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Bauxite</a:t>
            </a:r>
          </a:p>
        </p:txBody>
      </p:sp>
      <p:sp>
        <p:nvSpPr>
          <p:cNvPr id="3" name="Content Placeholder 2"/>
          <p:cNvSpPr>
            <a:spLocks noGrp="1"/>
          </p:cNvSpPr>
          <p:nvPr>
            <p:ph sz="half" idx="1"/>
          </p:nvPr>
        </p:nvSpPr>
        <p:spPr>
          <a:xfrm>
            <a:off x="457200" y="1600200"/>
            <a:ext cx="4546848" cy="5141168"/>
          </a:xfrm>
        </p:spPr>
        <p:txBody>
          <a:bodyPr>
            <a:normAutofit/>
          </a:bodyPr>
          <a:lstStyle/>
          <a:p>
            <a:r>
              <a:rPr lang="en-GB" dirty="0"/>
              <a:t>Soils rich in Al that form in hot, wet subtropical and tropical environments</a:t>
            </a:r>
          </a:p>
          <a:p>
            <a:r>
              <a:rPr lang="en-GB" b="1" dirty="0"/>
              <a:t>Bauxite</a:t>
            </a:r>
            <a:r>
              <a:rPr lang="en-GB" dirty="0"/>
              <a:t> -aluminium ore</a:t>
            </a:r>
          </a:p>
          <a:p>
            <a:r>
              <a:rPr lang="en-GB" dirty="0" err="1"/>
              <a:t>Pisolitic</a:t>
            </a:r>
            <a:r>
              <a:rPr lang="en-GB" dirty="0"/>
              <a:t> texture</a:t>
            </a:r>
          </a:p>
          <a:p>
            <a:r>
              <a:rPr lang="en-GB" dirty="0"/>
              <a:t>Most deposits are younger than 60 million years</a:t>
            </a:r>
          </a:p>
          <a:p>
            <a:r>
              <a:rPr lang="en-GB" dirty="0"/>
              <a:t>Can extend laterally over large areas</a:t>
            </a:r>
          </a:p>
          <a:p>
            <a:r>
              <a:rPr lang="en-GB" dirty="0"/>
              <a:t>Enriched in Al to ~35%</a:t>
            </a:r>
          </a:p>
        </p:txBody>
      </p:sp>
      <p:pic>
        <p:nvPicPr>
          <p:cNvPr id="8194" name="Picture 2" descr="pisolitic bauxi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104" y="1134036"/>
            <a:ext cx="3168352" cy="2376264"/>
          </a:xfrm>
          <a:prstGeom prst="rect">
            <a:avLst/>
          </a:prstGeom>
          <a:noFill/>
          <a:extLst>
            <a:ext uri="{909E8E84-426E-40DD-AFC4-6F175D3DCCD1}">
              <a14:hiddenFill xmlns:a14="http://schemas.microsoft.com/office/drawing/2010/main">
                <a:solidFill>
                  <a:srgbClr val="FFFFFF"/>
                </a:solidFill>
              </a14:hiddenFill>
            </a:ext>
          </a:extLst>
        </p:spPr>
      </p:pic>
      <p:pic>
        <p:nvPicPr>
          <p:cNvPr id="49154" name="Picture 2" descr="http://www.foilvedanta.org/wp-content/uploads/awfulmining.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3861048"/>
            <a:ext cx="4019611" cy="2677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37129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4804" y="3499109"/>
            <a:ext cx="5544616" cy="304544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Rectangle 6"/>
          <p:cNvSpPr/>
          <p:nvPr/>
        </p:nvSpPr>
        <p:spPr>
          <a:xfrm>
            <a:off x="269776" y="188640"/>
            <a:ext cx="8334672" cy="3539430"/>
          </a:xfrm>
          <a:prstGeom prst="rect">
            <a:avLst/>
          </a:prstGeom>
        </p:spPr>
        <p:txBody>
          <a:bodyPr wrap="square">
            <a:spAutoFit/>
          </a:bodyPr>
          <a:lstStyle/>
          <a:p>
            <a:r>
              <a:rPr lang="en-GB" sz="2000"/>
              <a:t>Chemical weathering removes the more soluble material from aluminium-silicate rocks and leaves a residue of:</a:t>
            </a:r>
          </a:p>
          <a:p>
            <a:pPr marL="914400" lvl="1" indent="-457200">
              <a:buFont typeface="Arial" panose="020B0604020202020204" pitchFamily="34" charset="0"/>
              <a:buChar char="•"/>
            </a:pPr>
            <a:r>
              <a:rPr lang="en-GB" sz="2000"/>
              <a:t>Al hydroxides</a:t>
            </a:r>
          </a:p>
          <a:p>
            <a:pPr marL="1371600" lvl="2" indent="-457200">
              <a:buFont typeface="Arial" panose="020B0604020202020204" pitchFamily="34" charset="0"/>
              <a:buChar char="•"/>
            </a:pPr>
            <a:r>
              <a:rPr lang="en-GB" sz="2000"/>
              <a:t>Gibbsite Al(OH)</a:t>
            </a:r>
            <a:r>
              <a:rPr lang="en-GB" sz="2000" baseline="-25000"/>
              <a:t>3 </a:t>
            </a:r>
            <a:r>
              <a:rPr lang="en-GB" sz="2000"/>
              <a:t>–primary mineral in lateritic bauxite -tropics</a:t>
            </a:r>
          </a:p>
          <a:p>
            <a:pPr marL="1371600" lvl="2" indent="-457200">
              <a:buFont typeface="Arial" panose="020B0604020202020204" pitchFamily="34" charset="0"/>
              <a:buChar char="•"/>
            </a:pPr>
            <a:r>
              <a:rPr lang="en-GB" sz="2000" err="1"/>
              <a:t>Boehmite</a:t>
            </a:r>
            <a:r>
              <a:rPr lang="en-GB" sz="2000"/>
              <a:t> </a:t>
            </a:r>
            <a:r>
              <a:rPr lang="en-GB" sz="2000">
                <a:latin typeface="Symbol" panose="05050102010706020507" pitchFamily="18" charset="2"/>
              </a:rPr>
              <a:t>g</a:t>
            </a:r>
            <a:r>
              <a:rPr lang="en-GB" sz="2000"/>
              <a:t>-</a:t>
            </a:r>
            <a:r>
              <a:rPr lang="en-GB" sz="2000" err="1"/>
              <a:t>AlO</a:t>
            </a:r>
            <a:r>
              <a:rPr lang="en-GB" sz="2000"/>
              <a:t>(OH) – primary mineral in karst bauxite-Europe</a:t>
            </a:r>
          </a:p>
          <a:p>
            <a:pPr marL="1371600" lvl="2" indent="-457200">
              <a:buFont typeface="Arial" panose="020B0604020202020204" pitchFamily="34" charset="0"/>
              <a:buChar char="•"/>
            </a:pPr>
            <a:r>
              <a:rPr lang="en-GB" sz="2000" err="1"/>
              <a:t>Diaspore</a:t>
            </a:r>
            <a:r>
              <a:rPr lang="en-GB" sz="2000"/>
              <a:t> </a:t>
            </a:r>
            <a:r>
              <a:rPr lang="en-GB" sz="2000">
                <a:latin typeface="Symbol" panose="05050102010706020507" pitchFamily="18" charset="2"/>
              </a:rPr>
              <a:t>a</a:t>
            </a:r>
            <a:r>
              <a:rPr lang="en-GB" sz="2000"/>
              <a:t>-</a:t>
            </a:r>
            <a:r>
              <a:rPr lang="en-GB" sz="2000" err="1"/>
              <a:t>AlO</a:t>
            </a:r>
            <a:r>
              <a:rPr lang="en-GB" sz="2000"/>
              <a:t>(OH)</a:t>
            </a:r>
          </a:p>
          <a:p>
            <a:pPr marL="914400" lvl="1" indent="-457200">
              <a:buFont typeface="Arial" panose="020B0604020202020204" pitchFamily="34" charset="0"/>
              <a:buChar char="•"/>
            </a:pPr>
            <a:r>
              <a:rPr lang="en-GB" sz="2000"/>
              <a:t>Clays e.g. Kaolinite Al</a:t>
            </a:r>
            <a:r>
              <a:rPr lang="en-GB" sz="2000" baseline="-25000"/>
              <a:t>2</a:t>
            </a:r>
            <a:r>
              <a:rPr lang="en-GB" sz="2000"/>
              <a:t>Si</a:t>
            </a:r>
            <a:r>
              <a:rPr lang="en-GB" sz="2000" baseline="-25000"/>
              <a:t>2</a:t>
            </a:r>
            <a:r>
              <a:rPr lang="en-GB" sz="2000"/>
              <a:t>O</a:t>
            </a:r>
            <a:r>
              <a:rPr lang="en-GB" sz="2000" baseline="-25000"/>
              <a:t>5</a:t>
            </a:r>
            <a:r>
              <a:rPr lang="en-GB" sz="2000"/>
              <a:t>(OH)</a:t>
            </a:r>
            <a:r>
              <a:rPr lang="en-GB" sz="2000" baseline="-25000"/>
              <a:t>4</a:t>
            </a:r>
          </a:p>
          <a:p>
            <a:pPr marL="914400" lvl="1" indent="-457200">
              <a:buFont typeface="Arial" panose="020B0604020202020204" pitchFamily="34" charset="0"/>
              <a:buChar char="•"/>
            </a:pPr>
            <a:r>
              <a:rPr lang="en-GB" sz="2000"/>
              <a:t>Fe oxides</a:t>
            </a:r>
          </a:p>
          <a:p>
            <a:pPr lvl="1"/>
            <a:r>
              <a:rPr lang="en-GB" sz="2000"/>
              <a:t>Created through weathering a soil under strong oxidising and chemical leaching conditions-lateritic weathering</a:t>
            </a:r>
          </a:p>
          <a:p>
            <a:pPr marL="914400" lvl="1" indent="-457200">
              <a:buFont typeface="Arial" panose="020B0604020202020204" pitchFamily="34" charset="0"/>
              <a:buChar char="•"/>
            </a:pPr>
            <a:endParaRPr lang="en-GB" sz="2400"/>
          </a:p>
        </p:txBody>
      </p:sp>
      <p:sp>
        <p:nvSpPr>
          <p:cNvPr id="8" name="TextBox 7"/>
          <p:cNvSpPr txBox="1"/>
          <p:nvPr/>
        </p:nvSpPr>
        <p:spPr>
          <a:xfrm>
            <a:off x="4427984" y="5836622"/>
            <a:ext cx="1326004" cy="369332"/>
          </a:xfrm>
          <a:prstGeom prst="rect">
            <a:avLst/>
          </a:prstGeom>
          <a:noFill/>
        </p:spPr>
        <p:txBody>
          <a:bodyPr wrap="none" rtlCol="0">
            <a:spAutoFit/>
          </a:bodyPr>
          <a:lstStyle/>
          <a:p>
            <a:r>
              <a:rPr lang="en-GB"/>
              <a:t>+Aluminium</a:t>
            </a:r>
          </a:p>
        </p:txBody>
      </p:sp>
    </p:spTree>
    <p:extLst>
      <p:ext uri="{BB962C8B-B14F-4D97-AF65-F5344CB8AC3E}">
        <p14:creationId xmlns:p14="http://schemas.microsoft.com/office/powerpoint/2010/main" val="25582241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6284F2-EE2D-8ADD-2707-682DF77D6BED}"/>
              </a:ext>
            </a:extLst>
          </p:cNvPr>
          <p:cNvPicPr>
            <a:picLocks noChangeAspect="1"/>
          </p:cNvPicPr>
          <p:nvPr/>
        </p:nvPicPr>
        <p:blipFill>
          <a:blip r:embed="rId3"/>
          <a:stretch>
            <a:fillRect/>
          </a:stretch>
        </p:blipFill>
        <p:spPr>
          <a:xfrm>
            <a:off x="1416750" y="873330"/>
            <a:ext cx="5993043" cy="4669903"/>
          </a:xfrm>
          <a:prstGeom prst="rect">
            <a:avLst/>
          </a:prstGeom>
        </p:spPr>
      </p:pic>
    </p:spTree>
    <p:extLst>
      <p:ext uri="{BB962C8B-B14F-4D97-AF65-F5344CB8AC3E}">
        <p14:creationId xmlns:p14="http://schemas.microsoft.com/office/powerpoint/2010/main" val="33272838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p:cNvSpPr txBox="1">
            <a:spLocks/>
          </p:cNvSpPr>
          <p:nvPr/>
        </p:nvSpPr>
        <p:spPr>
          <a:xfrm>
            <a:off x="666750" y="5376610"/>
            <a:ext cx="7797637" cy="169010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r>
              <a:rPr lang="en-GB" dirty="0"/>
              <a:t>Requires 950°C, 150,000A and 1000V for metal reduction from the cryolite</a:t>
            </a:r>
          </a:p>
        </p:txBody>
      </p:sp>
      <p:pic>
        <p:nvPicPr>
          <p:cNvPr id="8" name="Picture 7">
            <a:extLst>
              <a:ext uri="{FF2B5EF4-FFF2-40B4-BE49-F238E27FC236}">
                <a16:creationId xmlns:a16="http://schemas.microsoft.com/office/drawing/2014/main" id="{FD613C02-0658-6880-20E9-234156E4F460}"/>
              </a:ext>
            </a:extLst>
          </p:cNvPr>
          <p:cNvPicPr>
            <a:picLocks noChangeAspect="1"/>
          </p:cNvPicPr>
          <p:nvPr/>
        </p:nvPicPr>
        <p:blipFill>
          <a:blip r:embed="rId3"/>
          <a:stretch>
            <a:fillRect/>
          </a:stretch>
        </p:blipFill>
        <p:spPr>
          <a:xfrm>
            <a:off x="666750" y="38039"/>
            <a:ext cx="7810500" cy="4953000"/>
          </a:xfrm>
          <a:prstGeom prst="rect">
            <a:avLst/>
          </a:prstGeom>
        </p:spPr>
      </p:pic>
    </p:spTree>
    <p:extLst>
      <p:ext uri="{BB962C8B-B14F-4D97-AF65-F5344CB8AC3E}">
        <p14:creationId xmlns:p14="http://schemas.microsoft.com/office/powerpoint/2010/main" val="3221649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5BC08B0-C8DB-2D32-3501-63C1D9AAD387}"/>
              </a:ext>
            </a:extLst>
          </p:cNvPr>
          <p:cNvPicPr>
            <a:picLocks noChangeAspect="1"/>
          </p:cNvPicPr>
          <p:nvPr/>
        </p:nvPicPr>
        <p:blipFill>
          <a:blip r:embed="rId2"/>
          <a:stretch>
            <a:fillRect/>
          </a:stretch>
        </p:blipFill>
        <p:spPr>
          <a:xfrm>
            <a:off x="1807780" y="0"/>
            <a:ext cx="5328744" cy="6831724"/>
          </a:xfrm>
          <a:prstGeom prst="rect">
            <a:avLst/>
          </a:prstGeom>
        </p:spPr>
      </p:pic>
    </p:spTree>
    <p:extLst>
      <p:ext uri="{BB962C8B-B14F-4D97-AF65-F5344CB8AC3E}">
        <p14:creationId xmlns:p14="http://schemas.microsoft.com/office/powerpoint/2010/main" val="503281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www.roskill.com/reports/steel-alloys/graphs/Estimated%20first%20use%20of%20nickel-%202013_001.png/image_previ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5592" y="1772816"/>
            <a:ext cx="4823362" cy="381642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GB"/>
              <a:t>Nickel</a:t>
            </a:r>
          </a:p>
        </p:txBody>
      </p:sp>
      <p:sp>
        <p:nvSpPr>
          <p:cNvPr id="3" name="Content Placeholder 2"/>
          <p:cNvSpPr>
            <a:spLocks noGrp="1"/>
          </p:cNvSpPr>
          <p:nvPr>
            <p:ph sz="half" idx="1"/>
          </p:nvPr>
        </p:nvSpPr>
        <p:spPr>
          <a:xfrm>
            <a:off x="457200" y="1196752"/>
            <a:ext cx="4038600" cy="5472608"/>
          </a:xfrm>
        </p:spPr>
        <p:txBody>
          <a:bodyPr>
            <a:normAutofit lnSpcReduction="10000"/>
          </a:bodyPr>
          <a:lstStyle/>
          <a:p>
            <a:r>
              <a:rPr lang="en-GB" dirty="0"/>
              <a:t>Nickel improves durability and corrosion resistance of steel</a:t>
            </a:r>
          </a:p>
          <a:p>
            <a:r>
              <a:rPr lang="en-GB" dirty="0"/>
              <a:t>Ni depleted in the earths crust – 0.0072% Ni</a:t>
            </a:r>
          </a:p>
          <a:p>
            <a:r>
              <a:rPr lang="en-GB" dirty="0"/>
              <a:t>Mafic and ultramafic igneous rocks transport Ni from the mantle- 0.1% Ni</a:t>
            </a:r>
          </a:p>
          <a:p>
            <a:r>
              <a:rPr lang="en-GB" dirty="0"/>
              <a:t>Present in </a:t>
            </a:r>
            <a:r>
              <a:rPr lang="en-GB" dirty="0" err="1"/>
              <a:t>olivines</a:t>
            </a:r>
            <a:r>
              <a:rPr lang="en-GB" dirty="0"/>
              <a:t> and pyroxenes-substitutes for Mg and Fe</a:t>
            </a:r>
          </a:p>
          <a:p>
            <a:endParaRPr lang="en-GB" dirty="0"/>
          </a:p>
        </p:txBody>
      </p:sp>
      <p:sp>
        <p:nvSpPr>
          <p:cNvPr id="5" name="Rectangle 4"/>
          <p:cNvSpPr/>
          <p:nvPr/>
        </p:nvSpPr>
        <p:spPr>
          <a:xfrm>
            <a:off x="6624736" y="6444044"/>
            <a:ext cx="4572000" cy="369332"/>
          </a:xfrm>
          <a:prstGeom prst="rect">
            <a:avLst/>
          </a:prstGeom>
        </p:spPr>
        <p:txBody>
          <a:bodyPr>
            <a:spAutoFit/>
          </a:bodyPr>
          <a:lstStyle/>
          <a:p>
            <a:r>
              <a:rPr lang="en-GB"/>
              <a:t>http://www.roskill.com/</a:t>
            </a:r>
          </a:p>
        </p:txBody>
      </p:sp>
    </p:spTree>
    <p:extLst>
      <p:ext uri="{BB962C8B-B14F-4D97-AF65-F5344CB8AC3E}">
        <p14:creationId xmlns:p14="http://schemas.microsoft.com/office/powerpoint/2010/main" val="2950526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Generalized model for formation of sulfide deposi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721" y="1149581"/>
            <a:ext cx="4174359" cy="570539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79512" y="110426"/>
            <a:ext cx="8229600" cy="1143000"/>
          </a:xfrm>
        </p:spPr>
        <p:txBody>
          <a:bodyPr/>
          <a:lstStyle/>
          <a:p>
            <a:pPr algn="l"/>
            <a:r>
              <a:rPr lang="en-GB" dirty="0" err="1"/>
              <a:t>Sulfide</a:t>
            </a:r>
            <a:r>
              <a:rPr lang="en-GB" dirty="0"/>
              <a:t>-Nickel Deposits</a:t>
            </a:r>
          </a:p>
        </p:txBody>
      </p:sp>
      <p:sp>
        <p:nvSpPr>
          <p:cNvPr id="3" name="Content Placeholder 2"/>
          <p:cNvSpPr>
            <a:spLocks noGrp="1"/>
          </p:cNvSpPr>
          <p:nvPr>
            <p:ph sz="half" idx="1"/>
          </p:nvPr>
        </p:nvSpPr>
        <p:spPr/>
        <p:txBody>
          <a:bodyPr>
            <a:normAutofit/>
          </a:bodyPr>
          <a:lstStyle/>
          <a:p>
            <a:endParaRPr lang="en-GB"/>
          </a:p>
          <a:p>
            <a:endParaRPr lang="en-GB"/>
          </a:p>
          <a:p>
            <a:endParaRPr lang="en-GB"/>
          </a:p>
        </p:txBody>
      </p:sp>
      <p:sp>
        <p:nvSpPr>
          <p:cNvPr id="6" name="Content Placeholder 5"/>
          <p:cNvSpPr>
            <a:spLocks noGrp="1"/>
          </p:cNvSpPr>
          <p:nvPr>
            <p:ph sz="half" idx="2"/>
          </p:nvPr>
        </p:nvSpPr>
        <p:spPr>
          <a:xfrm>
            <a:off x="341878" y="1448242"/>
            <a:ext cx="5382250" cy="3823340"/>
          </a:xfrm>
        </p:spPr>
        <p:txBody>
          <a:bodyPr>
            <a:normAutofit/>
          </a:bodyPr>
          <a:lstStyle/>
          <a:p>
            <a:endParaRPr lang="en-GB"/>
          </a:p>
          <a:p>
            <a:endParaRPr lang="en-GB"/>
          </a:p>
          <a:p>
            <a:endParaRPr lang="en-GB"/>
          </a:p>
        </p:txBody>
      </p:sp>
      <p:sp>
        <p:nvSpPr>
          <p:cNvPr id="5" name="Rectangle 4"/>
          <p:cNvSpPr/>
          <p:nvPr/>
        </p:nvSpPr>
        <p:spPr>
          <a:xfrm>
            <a:off x="5522559" y="6418206"/>
            <a:ext cx="3621441" cy="369332"/>
          </a:xfrm>
          <a:prstGeom prst="rect">
            <a:avLst/>
          </a:prstGeom>
        </p:spPr>
        <p:txBody>
          <a:bodyPr wrap="none">
            <a:spAutoFit/>
          </a:bodyPr>
          <a:lstStyle/>
          <a:p>
            <a:r>
              <a:rPr lang="en-GB"/>
              <a:t>http://pubs.usgs.gov/info/mwni_cu/</a:t>
            </a:r>
          </a:p>
        </p:txBody>
      </p:sp>
      <p:sp>
        <p:nvSpPr>
          <p:cNvPr id="7" name="TextBox 6"/>
          <p:cNvSpPr txBox="1"/>
          <p:nvPr/>
        </p:nvSpPr>
        <p:spPr>
          <a:xfrm>
            <a:off x="6067923" y="4285043"/>
            <a:ext cx="2952328" cy="1200329"/>
          </a:xfrm>
          <a:prstGeom prst="rect">
            <a:avLst/>
          </a:prstGeom>
          <a:noFill/>
        </p:spPr>
        <p:txBody>
          <a:bodyPr wrap="square" rtlCol="0">
            <a:spAutoFit/>
          </a:bodyPr>
          <a:lstStyle/>
          <a:p>
            <a:r>
              <a:rPr lang="en-GB" err="1"/>
              <a:t>Pentlandite</a:t>
            </a:r>
            <a:r>
              <a:rPr lang="en-GB"/>
              <a:t> (yellow-white) (</a:t>
            </a:r>
            <a:r>
              <a:rPr lang="en-GB" err="1"/>
              <a:t>Fe,Ni</a:t>
            </a:r>
            <a:r>
              <a:rPr lang="en-GB"/>
              <a:t>)</a:t>
            </a:r>
            <a:r>
              <a:rPr lang="en-GB" baseline="-25000"/>
              <a:t>9</a:t>
            </a:r>
            <a:r>
              <a:rPr lang="en-GB"/>
              <a:t>S</a:t>
            </a:r>
            <a:r>
              <a:rPr lang="en-GB" baseline="-25000"/>
              <a:t>8</a:t>
            </a:r>
          </a:p>
          <a:p>
            <a:r>
              <a:rPr lang="en-GB" err="1"/>
              <a:t>Pyrrhotite</a:t>
            </a:r>
            <a:r>
              <a:rPr lang="en-GB"/>
              <a:t> (pink-brown)</a:t>
            </a:r>
          </a:p>
          <a:p>
            <a:r>
              <a:rPr lang="en-GB"/>
              <a:t>Fe</a:t>
            </a:r>
            <a:r>
              <a:rPr lang="en-GB" baseline="-25000"/>
              <a:t>7</a:t>
            </a:r>
            <a:r>
              <a:rPr lang="en-GB"/>
              <a:t>S</a:t>
            </a:r>
            <a:r>
              <a:rPr lang="en-GB" baseline="-25000"/>
              <a:t>8</a:t>
            </a:r>
          </a:p>
        </p:txBody>
      </p:sp>
      <p:pic>
        <p:nvPicPr>
          <p:cNvPr id="9" name="Picture 4" descr="Click here">
            <a:hlinkClick r:id="rId4"/>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62327" y="2488659"/>
            <a:ext cx="2171713" cy="1513619"/>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p:cNvCxnSpPr>
            <a:cxnSpLocks/>
          </p:cNvCxnSpPr>
          <p:nvPr/>
        </p:nvCxnSpPr>
        <p:spPr>
          <a:xfrm flipV="1">
            <a:off x="6163812" y="2924944"/>
            <a:ext cx="856460" cy="15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2379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a:t>Sudbury, Ontario</a:t>
            </a:r>
          </a:p>
        </p:txBody>
      </p:sp>
      <p:sp>
        <p:nvSpPr>
          <p:cNvPr id="4" name="Content Placeholder 3"/>
          <p:cNvSpPr>
            <a:spLocks noGrp="1"/>
          </p:cNvSpPr>
          <p:nvPr>
            <p:ph sz="half" idx="2"/>
          </p:nvPr>
        </p:nvSpPr>
        <p:spPr>
          <a:xfrm>
            <a:off x="467544" y="1628800"/>
            <a:ext cx="3888432" cy="4525963"/>
          </a:xfrm>
        </p:spPr>
        <p:txBody>
          <a:bodyPr>
            <a:normAutofit fontScale="92500" lnSpcReduction="10000"/>
          </a:bodyPr>
          <a:lstStyle/>
          <a:p>
            <a:r>
              <a:rPr lang="en-GB"/>
              <a:t>Ni deposits formed through magmatic segregation</a:t>
            </a:r>
          </a:p>
          <a:p>
            <a:r>
              <a:rPr lang="en-GB"/>
              <a:t>56 km x 26 km elliptical deposit</a:t>
            </a:r>
          </a:p>
          <a:p>
            <a:r>
              <a:rPr lang="en-GB"/>
              <a:t>Conical shape-due to meteor impact</a:t>
            </a:r>
          </a:p>
          <a:p>
            <a:r>
              <a:rPr lang="en-GB"/>
              <a:t>Magmatic fluids used the fractures formed during the impact to form the deposit</a:t>
            </a:r>
          </a:p>
        </p:txBody>
      </p:sp>
      <p:pic>
        <p:nvPicPr>
          <p:cNvPr id="5124" name="Picture 4" descr="http://www.sciencebuzz.org/sites/default/files/images/Sudbury%20Impact%20MAP.jp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870004" y="188640"/>
            <a:ext cx="4038600" cy="2739517"/>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http://www.impactminerals.com.au/userfiles/image/figure_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960" y="3789040"/>
            <a:ext cx="4762500" cy="2657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6093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828" y="73313"/>
            <a:ext cx="8229600" cy="1143000"/>
          </a:xfrm>
        </p:spPr>
        <p:txBody>
          <a:bodyPr>
            <a:normAutofit/>
          </a:bodyPr>
          <a:lstStyle/>
          <a:p>
            <a:pPr algn="l"/>
            <a:r>
              <a:rPr lang="en-GB" sz="4000" dirty="0"/>
              <a:t>2-Residual deposits</a:t>
            </a:r>
          </a:p>
        </p:txBody>
      </p:sp>
      <p:sp>
        <p:nvSpPr>
          <p:cNvPr id="3" name="Content Placeholder 2"/>
          <p:cNvSpPr>
            <a:spLocks noGrp="1"/>
          </p:cNvSpPr>
          <p:nvPr>
            <p:ph sz="half" idx="1"/>
          </p:nvPr>
        </p:nvSpPr>
        <p:spPr>
          <a:xfrm>
            <a:off x="212262" y="1039366"/>
            <a:ext cx="3645844" cy="3574364"/>
          </a:xfrm>
        </p:spPr>
        <p:txBody>
          <a:bodyPr>
            <a:normAutofit fontScale="92500" lnSpcReduction="10000"/>
          </a:bodyPr>
          <a:lstStyle/>
          <a:p>
            <a:r>
              <a:rPr lang="en-GB" dirty="0"/>
              <a:t>Chemical weathering of mafic and ultramafic rocks</a:t>
            </a:r>
          </a:p>
          <a:p>
            <a:r>
              <a:rPr lang="en-GB" dirty="0"/>
              <a:t>Hot, humid subtropical conditions</a:t>
            </a:r>
          </a:p>
          <a:p>
            <a:r>
              <a:rPr lang="en-GB" dirty="0"/>
              <a:t>Silicates breakdown to form hydrous compounds</a:t>
            </a:r>
          </a:p>
          <a:p>
            <a:r>
              <a:rPr lang="en-GB" dirty="0"/>
              <a:t>Ni-rich laterites</a:t>
            </a:r>
          </a:p>
          <a:p>
            <a:endParaRPr lang="en-GB" dirty="0"/>
          </a:p>
        </p:txBody>
      </p:sp>
      <p:grpSp>
        <p:nvGrpSpPr>
          <p:cNvPr id="5" name="Group 27"/>
          <p:cNvGrpSpPr>
            <a:grpSpLocks/>
          </p:cNvGrpSpPr>
          <p:nvPr/>
        </p:nvGrpSpPr>
        <p:grpSpPr bwMode="auto">
          <a:xfrm>
            <a:off x="4379619" y="87135"/>
            <a:ext cx="4575762" cy="3481701"/>
            <a:chOff x="113" y="572"/>
            <a:chExt cx="2087" cy="1588"/>
          </a:xfrm>
        </p:grpSpPr>
        <p:pic>
          <p:nvPicPr>
            <p:cNvPr id="6" name="Picture 24" descr="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 y="572"/>
              <a:ext cx="2064" cy="1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25"/>
            <p:cNvSpPr txBox="1">
              <a:spLocks noChangeArrowheads="1"/>
            </p:cNvSpPr>
            <p:nvPr/>
          </p:nvSpPr>
          <p:spPr bwMode="auto">
            <a:xfrm>
              <a:off x="113" y="1979"/>
              <a:ext cx="2066" cy="16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GB" altLang="en-US" sz="1100">
                  <a:latin typeface="Book Antiqua" pitchFamily="18" charset="0"/>
                </a:rPr>
                <a:t>Representation of </a:t>
              </a:r>
              <a:r>
                <a:rPr lang="ja-JP" altLang="en-GB" sz="1100"/>
                <a:t>“</a:t>
              </a:r>
              <a:r>
                <a:rPr lang="en-GB" altLang="ja-JP" sz="1100">
                  <a:latin typeface="Book Antiqua" pitchFamily="18" charset="0"/>
                </a:rPr>
                <a:t>Residual Weathering Model</a:t>
              </a:r>
              <a:r>
                <a:rPr lang="ja-JP" altLang="en-GB" sz="1100"/>
                <a:t>”</a:t>
              </a:r>
              <a:endParaRPr lang="en-GB" altLang="en-US" sz="1100">
                <a:latin typeface="Book Antiqua" pitchFamily="18" charset="0"/>
              </a:endParaRPr>
            </a:p>
          </p:txBody>
        </p:sp>
        <p:sp>
          <p:nvSpPr>
            <p:cNvPr id="8" name="Rectangle 26"/>
            <p:cNvSpPr>
              <a:spLocks noChangeArrowheads="1"/>
            </p:cNvSpPr>
            <p:nvPr/>
          </p:nvSpPr>
          <p:spPr bwMode="auto">
            <a:xfrm>
              <a:off x="113" y="572"/>
              <a:ext cx="2087" cy="1588"/>
            </a:xfrm>
            <a:prstGeom prst="rect">
              <a:avLst/>
            </a:prstGeom>
            <a:noFill/>
            <a:ln w="317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grpSp>
        <p:nvGrpSpPr>
          <p:cNvPr id="9" name="Group 26"/>
          <p:cNvGrpSpPr>
            <a:grpSpLocks/>
          </p:cNvGrpSpPr>
          <p:nvPr/>
        </p:nvGrpSpPr>
        <p:grpSpPr bwMode="auto">
          <a:xfrm>
            <a:off x="979610" y="5062221"/>
            <a:ext cx="2088530" cy="1532356"/>
            <a:chOff x="4558" y="0"/>
            <a:chExt cx="1202" cy="890"/>
          </a:xfrm>
        </p:grpSpPr>
        <p:pic>
          <p:nvPicPr>
            <p:cNvPr id="10" name="Picture 22" descr="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8" y="0"/>
              <a:ext cx="1202" cy="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24"/>
            <p:cNvSpPr txBox="1">
              <a:spLocks noChangeArrowheads="1"/>
            </p:cNvSpPr>
            <p:nvPr/>
          </p:nvSpPr>
          <p:spPr bwMode="auto">
            <a:xfrm>
              <a:off x="4558" y="710"/>
              <a:ext cx="1202" cy="17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defRPr/>
              </a:pPr>
              <a:r>
                <a:rPr lang="en-GB" sz="1000">
                  <a:latin typeface="Book Antiqua" charset="0"/>
                  <a:ea typeface="ＭＳ Ｐゴシック" charset="0"/>
                </a:rPr>
                <a:t>Garnierite (H</a:t>
              </a:r>
              <a:r>
                <a:rPr lang="en-GB" sz="1000" baseline="-25000">
                  <a:latin typeface="Book Antiqua" charset="0"/>
                  <a:ea typeface="ＭＳ Ｐゴシック" charset="0"/>
                </a:rPr>
                <a:t>2</a:t>
              </a:r>
              <a:r>
                <a:rPr lang="en-GB" sz="1000">
                  <a:latin typeface="Book Antiqua" charset="0"/>
                  <a:ea typeface="ＭＳ Ｐゴシック" charset="0"/>
                </a:rPr>
                <a:t>(Ni,Mg)SiO</a:t>
              </a:r>
              <a:r>
                <a:rPr lang="en-GB" sz="1000" baseline="-25000">
                  <a:latin typeface="Book Antiqua" charset="0"/>
                  <a:ea typeface="ＭＳ Ｐゴシック" charset="0"/>
                </a:rPr>
                <a:t>4</a:t>
              </a:r>
            </a:p>
          </p:txBody>
        </p:sp>
        <p:sp>
          <p:nvSpPr>
            <p:cNvPr id="12" name="Rectangle 25"/>
            <p:cNvSpPr>
              <a:spLocks noChangeArrowheads="1"/>
            </p:cNvSpPr>
            <p:nvPr/>
          </p:nvSpPr>
          <p:spPr bwMode="auto">
            <a:xfrm>
              <a:off x="4558" y="0"/>
              <a:ext cx="1202" cy="890"/>
            </a:xfrm>
            <a:prstGeom prst="rect">
              <a:avLst/>
            </a:prstGeom>
            <a:noFill/>
            <a:ln w="317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pic>
        <p:nvPicPr>
          <p:cNvPr id="14" name="Picture 13">
            <a:extLst>
              <a:ext uri="{FF2B5EF4-FFF2-40B4-BE49-F238E27FC236}">
                <a16:creationId xmlns:a16="http://schemas.microsoft.com/office/drawing/2014/main" id="{5FDE713C-9124-EB79-4CDA-D9169CBBF4D5}"/>
              </a:ext>
            </a:extLst>
          </p:cNvPr>
          <p:cNvPicPr>
            <a:picLocks noChangeAspect="1"/>
          </p:cNvPicPr>
          <p:nvPr/>
        </p:nvPicPr>
        <p:blipFill>
          <a:blip r:embed="rId5"/>
          <a:stretch>
            <a:fillRect/>
          </a:stretch>
        </p:blipFill>
        <p:spPr>
          <a:xfrm>
            <a:off x="3858106" y="3429000"/>
            <a:ext cx="5234522" cy="3397765"/>
          </a:xfrm>
          <a:prstGeom prst="rect">
            <a:avLst/>
          </a:prstGeom>
        </p:spPr>
      </p:pic>
    </p:spTree>
    <p:extLst>
      <p:ext uri="{BB962C8B-B14F-4D97-AF65-F5344CB8AC3E}">
        <p14:creationId xmlns:p14="http://schemas.microsoft.com/office/powerpoint/2010/main" val="3428484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Nickel production</a:t>
            </a:r>
          </a:p>
        </p:txBody>
      </p:sp>
      <p:sp>
        <p:nvSpPr>
          <p:cNvPr id="3" name="Content Placeholder 2"/>
          <p:cNvSpPr>
            <a:spLocks noGrp="1"/>
          </p:cNvSpPr>
          <p:nvPr>
            <p:ph sz="half" idx="1"/>
          </p:nvPr>
        </p:nvSpPr>
        <p:spPr>
          <a:xfrm>
            <a:off x="32763" y="2046127"/>
            <a:ext cx="4038600" cy="4525963"/>
          </a:xfrm>
        </p:spPr>
        <p:txBody>
          <a:bodyPr/>
          <a:lstStyle/>
          <a:p>
            <a:r>
              <a:rPr lang="en-GB" i="1"/>
              <a:t>Massive </a:t>
            </a:r>
            <a:r>
              <a:rPr lang="en-GB" i="1" err="1"/>
              <a:t>sulfide</a:t>
            </a:r>
            <a:r>
              <a:rPr lang="en-GB" i="1"/>
              <a:t> deposits</a:t>
            </a:r>
            <a:r>
              <a:rPr lang="en-GB"/>
              <a:t>: Canada, Russia and Australia</a:t>
            </a:r>
          </a:p>
          <a:p>
            <a:r>
              <a:rPr lang="en-GB" i="1"/>
              <a:t>Large laterite nickel deposits</a:t>
            </a:r>
            <a:r>
              <a:rPr lang="en-GB"/>
              <a:t>: Cuba, New Caledonia, Indonesia</a:t>
            </a:r>
          </a:p>
          <a:p>
            <a:endParaRPr lang="en-GB"/>
          </a:p>
        </p:txBody>
      </p:sp>
      <p:pic>
        <p:nvPicPr>
          <p:cNvPr id="6" name="Picture 5">
            <a:extLst>
              <a:ext uri="{FF2B5EF4-FFF2-40B4-BE49-F238E27FC236}">
                <a16:creationId xmlns:a16="http://schemas.microsoft.com/office/drawing/2014/main" id="{4D44A491-5A7C-84A5-A4AB-57A0F3C7942E}"/>
              </a:ext>
            </a:extLst>
          </p:cNvPr>
          <p:cNvPicPr>
            <a:picLocks noChangeAspect="1"/>
          </p:cNvPicPr>
          <p:nvPr/>
        </p:nvPicPr>
        <p:blipFill>
          <a:blip r:embed="rId2"/>
          <a:stretch>
            <a:fillRect/>
          </a:stretch>
        </p:blipFill>
        <p:spPr>
          <a:xfrm>
            <a:off x="4195569" y="1844824"/>
            <a:ext cx="4491231" cy="3861048"/>
          </a:xfrm>
          <a:prstGeom prst="rect">
            <a:avLst/>
          </a:prstGeom>
        </p:spPr>
      </p:pic>
    </p:spTree>
    <p:extLst>
      <p:ext uri="{BB962C8B-B14F-4D97-AF65-F5344CB8AC3E}">
        <p14:creationId xmlns:p14="http://schemas.microsoft.com/office/powerpoint/2010/main" val="3328966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529DD77-2432-4B24-7B4E-DDECBFFBD46F}"/>
              </a:ext>
            </a:extLst>
          </p:cNvPr>
          <p:cNvPicPr>
            <a:picLocks noChangeAspect="1"/>
          </p:cNvPicPr>
          <p:nvPr/>
        </p:nvPicPr>
        <p:blipFill>
          <a:blip r:embed="rId3"/>
          <a:stretch>
            <a:fillRect/>
          </a:stretch>
        </p:blipFill>
        <p:spPr>
          <a:xfrm>
            <a:off x="431896" y="902631"/>
            <a:ext cx="8280207" cy="3111061"/>
          </a:xfrm>
          <a:prstGeom prst="rect">
            <a:avLst/>
          </a:prstGeom>
        </p:spPr>
      </p:pic>
      <p:sp>
        <p:nvSpPr>
          <p:cNvPr id="7" name="Title 6">
            <a:extLst>
              <a:ext uri="{FF2B5EF4-FFF2-40B4-BE49-F238E27FC236}">
                <a16:creationId xmlns:a16="http://schemas.microsoft.com/office/drawing/2014/main" id="{8C946175-EB32-A736-FC33-941A0B6036FF}"/>
              </a:ext>
            </a:extLst>
          </p:cNvPr>
          <p:cNvSpPr>
            <a:spLocks noGrp="1"/>
          </p:cNvSpPr>
          <p:nvPr>
            <p:ph type="title"/>
          </p:nvPr>
        </p:nvSpPr>
        <p:spPr>
          <a:xfrm>
            <a:off x="89338" y="-135265"/>
            <a:ext cx="8229600" cy="1143000"/>
          </a:xfrm>
        </p:spPr>
        <p:txBody>
          <a:bodyPr/>
          <a:lstStyle/>
          <a:p>
            <a:pPr algn="l"/>
            <a:r>
              <a:rPr lang="en-GB" dirty="0"/>
              <a:t>Processing</a:t>
            </a:r>
          </a:p>
        </p:txBody>
      </p:sp>
      <p:pic>
        <p:nvPicPr>
          <p:cNvPr id="9" name="Picture 8">
            <a:extLst>
              <a:ext uri="{FF2B5EF4-FFF2-40B4-BE49-F238E27FC236}">
                <a16:creationId xmlns:a16="http://schemas.microsoft.com/office/drawing/2014/main" id="{B2867AB6-470B-9D93-1649-4389195ADE4A}"/>
              </a:ext>
            </a:extLst>
          </p:cNvPr>
          <p:cNvPicPr>
            <a:picLocks noChangeAspect="1"/>
          </p:cNvPicPr>
          <p:nvPr/>
        </p:nvPicPr>
        <p:blipFill>
          <a:blip r:embed="rId4"/>
          <a:stretch>
            <a:fillRect/>
          </a:stretch>
        </p:blipFill>
        <p:spPr>
          <a:xfrm>
            <a:off x="6674070" y="3542517"/>
            <a:ext cx="2038034" cy="3033892"/>
          </a:xfrm>
          <a:prstGeom prst="rect">
            <a:avLst/>
          </a:prstGeom>
        </p:spPr>
      </p:pic>
      <p:pic>
        <p:nvPicPr>
          <p:cNvPr id="11" name="Picture 10">
            <a:extLst>
              <a:ext uri="{FF2B5EF4-FFF2-40B4-BE49-F238E27FC236}">
                <a16:creationId xmlns:a16="http://schemas.microsoft.com/office/drawing/2014/main" id="{43388B33-733F-C796-F0A9-5F550C67E3FB}"/>
              </a:ext>
            </a:extLst>
          </p:cNvPr>
          <p:cNvPicPr>
            <a:picLocks noChangeAspect="1"/>
          </p:cNvPicPr>
          <p:nvPr/>
        </p:nvPicPr>
        <p:blipFill>
          <a:blip r:embed="rId5"/>
          <a:stretch>
            <a:fillRect/>
          </a:stretch>
        </p:blipFill>
        <p:spPr>
          <a:xfrm>
            <a:off x="431896" y="4421429"/>
            <a:ext cx="6073666" cy="1836579"/>
          </a:xfrm>
          <a:prstGeom prst="rect">
            <a:avLst/>
          </a:prstGeom>
        </p:spPr>
      </p:pic>
      <p:sp>
        <p:nvSpPr>
          <p:cNvPr id="13" name="TextBox 12">
            <a:extLst>
              <a:ext uri="{FF2B5EF4-FFF2-40B4-BE49-F238E27FC236}">
                <a16:creationId xmlns:a16="http://schemas.microsoft.com/office/drawing/2014/main" id="{CA2D6A9C-109C-2D12-DA02-92C63E074D61}"/>
              </a:ext>
            </a:extLst>
          </p:cNvPr>
          <p:cNvSpPr txBox="1"/>
          <p:nvPr/>
        </p:nvSpPr>
        <p:spPr>
          <a:xfrm>
            <a:off x="338959" y="6299409"/>
            <a:ext cx="4650826" cy="276999"/>
          </a:xfrm>
          <a:prstGeom prst="rect">
            <a:avLst/>
          </a:prstGeom>
          <a:noFill/>
        </p:spPr>
        <p:txBody>
          <a:bodyPr wrap="square">
            <a:spAutoFit/>
          </a:bodyPr>
          <a:lstStyle/>
          <a:p>
            <a:r>
              <a:rPr lang="en-GB" sz="1200" dirty="0"/>
              <a:t>https://www.smm.co.jp/en/business/nonferrous/</a:t>
            </a:r>
          </a:p>
        </p:txBody>
      </p:sp>
    </p:spTree>
    <p:extLst>
      <p:ext uri="{BB962C8B-B14F-4D97-AF65-F5344CB8AC3E}">
        <p14:creationId xmlns:p14="http://schemas.microsoft.com/office/powerpoint/2010/main" val="37778669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a:t>Copper</a:t>
            </a:r>
          </a:p>
        </p:txBody>
      </p:sp>
      <p:sp>
        <p:nvSpPr>
          <p:cNvPr id="3" name="Content Placeholder 2"/>
          <p:cNvSpPr>
            <a:spLocks noGrp="1"/>
          </p:cNvSpPr>
          <p:nvPr>
            <p:ph sz="half" idx="1"/>
          </p:nvPr>
        </p:nvSpPr>
        <p:spPr/>
        <p:txBody>
          <a:bodyPr>
            <a:normAutofit/>
          </a:bodyPr>
          <a:lstStyle/>
          <a:p>
            <a:r>
              <a:rPr lang="en-GB"/>
              <a:t>High electrical conductivity</a:t>
            </a:r>
          </a:p>
          <a:p>
            <a:r>
              <a:rPr lang="en-GB"/>
              <a:t>Easily joined and soldered</a:t>
            </a:r>
          </a:p>
          <a:p>
            <a:r>
              <a:rPr lang="en-GB"/>
              <a:t>Common ore minerals include:</a:t>
            </a:r>
          </a:p>
          <a:p>
            <a:pPr lvl="1"/>
            <a:r>
              <a:rPr lang="en-GB"/>
              <a:t>Chalcopyrite CuFeS</a:t>
            </a:r>
            <a:r>
              <a:rPr lang="en-GB" baseline="-25000"/>
              <a:t>2</a:t>
            </a:r>
          </a:p>
          <a:p>
            <a:pPr lvl="1"/>
            <a:r>
              <a:rPr lang="en-GB" err="1"/>
              <a:t>Bornite</a:t>
            </a:r>
            <a:r>
              <a:rPr lang="en-GB"/>
              <a:t> Cu</a:t>
            </a:r>
            <a:r>
              <a:rPr lang="en-GB" baseline="-25000"/>
              <a:t>5</a:t>
            </a:r>
            <a:r>
              <a:rPr lang="en-GB"/>
              <a:t>FeS</a:t>
            </a:r>
            <a:r>
              <a:rPr lang="en-GB" baseline="-25000"/>
              <a:t>4</a:t>
            </a:r>
          </a:p>
          <a:p>
            <a:pPr lvl="1"/>
            <a:r>
              <a:rPr lang="en-GB" err="1"/>
              <a:t>Enargite</a:t>
            </a:r>
            <a:r>
              <a:rPr lang="en-GB"/>
              <a:t> Cu</a:t>
            </a:r>
            <a:r>
              <a:rPr lang="en-GB" baseline="-25000"/>
              <a:t>3</a:t>
            </a:r>
            <a:r>
              <a:rPr lang="en-GB"/>
              <a:t>AsS</a:t>
            </a:r>
            <a:r>
              <a:rPr lang="en-GB" baseline="-25000"/>
              <a:t>4</a:t>
            </a:r>
          </a:p>
          <a:p>
            <a:endParaRPr lang="en-GB"/>
          </a:p>
        </p:txBody>
      </p:sp>
      <p:sp>
        <p:nvSpPr>
          <p:cNvPr id="5" name="AutoShape 4" descr="data:image/jpeg;base64,/9j/4AAQSkZJRgABAQAAAQABAAD/2wCEAAkGBhQSERUUExQWFRUWFxcYGBgYGBgUGBYXFxcYFRcXFxcYHSYeGBkjGRQWIC8gIycpLCwsGB4xNTAqNSYrLCkBCQoKDgwOGg8PGiwkHyQsLCwpKSwpKSwsLCwpLCwpKSksLCwsLCwsLCkvLCwsLCwsLCwpKSwsLCwsKSksKSwsLP/AABEIANMA7wMBIgACEQEDEQH/xAAcAAACAgMBAQAAAAAAAAAAAAAFBgMEAAIHAQj/xAA9EAACAQMDAgQDBgUDBAEFAAABAhEAAyEEEjEFQQYTIlEyYXEHFCNCgZFSobHB0RVy8DNiguFDJJOisvH/xAAaAQADAQEBAQAAAAAAAAAAAAABAgMABAUG/8QALBEAAgIBAwIEBgIDAAAAAAAAAAECEQMSITFBUQQTYfAicYGRodEywRRCsf/aAAwDAQACEQMRAD8A7XUZNT7cVD5dKUTMCVtsrcYrXfmgCzVrNbIlSCvRRBZgrx+K2qHUXIFF8AXIC1nxGq5q1eEmahNupFSKKzbW+2sbFEBpsrYJQLqnjGxYba7qD7Tn9q0t+ONOeLi/uKXUg0Mfl1Np7m2lpfGNluHX9xVDX+L1UGCDTKSBR0MdYVRk0B8Q+NrdpT6gK4/1r7R3UkIf70j9U8R3bxJZjTbsW0hl8d+Om1BNtCdp5Py9qRSawmvKZCGVlZXqpNYx5WBaJ6TpBai2n6D8qxhaWwT2qe305jTda6F8qIafofypdRhPsdDJq2Oh/Kniz0X5VK/R/lQ1Go53e6TFUruiroGr6X8qCanpuaKZj6nU1leWTgVhohI7j1XYVYYVoy0rKI8S/wBqmttVbZVq0KyA+CSh3Vb8CPeiNBupvL/SmkLHkp5NaFoq0jCh2v1QWpsc8F0zVXr/AFdbFhnYwAKyx1MGh3jrppvdPdkAMEMR8gc/8+VQy5VBK+oyQj9L6bpdUs3WNu6WJluGB9icGoOq/Z1dtS9ki6vIjNQdLuMB8BgYaBuX6n2ph6dqDbANu4V9x+U/viuOUpwezMqfJzPqSOjQyMpHMgiiOn1YNuTj9a6Y+pS96dTYRwRG5Yn9jVXW/Z7pdWsaW75bD8p/xTf5MWkpKgaWuDmN6wlzIofqOmjtTl1X7MdbpzOwXFHdcH/FJ+t3hipBU+xEGuzFNS/jKyb9QZc0xFREUe0ibmCsIqz1DQWiuIkVR5UnTBVixRno/Td2aqabQEtnAp26HoBAqrYCx0/pAgYozZ6X8qu6PTACrsVOxgcnTqtWtGBU4FbrQMe27IFbtZBr1TUgrGBGs0lBrugzTZetTVO5pKIDsCCBUF1iDVheK0vJIqj4CnuYMiod1SW54rDboMK2I1E1ZUVoiRUlFAkzS80AmgGoPf3oj1vqS2bTMfbArnieM4kMN7/lRCJ94kkDip5JqO7Gihpa9FKvXNczMFUGfeqmv8Vaoz5NkMvcAnzeOyPtn9CfpVK34nt3PQ11kuYO24oWDyAwwOR79uK4cviFXwlFED6/xE1u61lW3XOD7Ifc+9PnQ9BdPTnXcblwoyEcmWGZ+Y3TXN+t+CtQWa+iebtCmbZ3E7Y5X4pj5RXUPs86gbguyNu8W7m32LLsbH+5DXneMmnCLi7/AGPG1ZzPpfUH0t0kbio3Ky9yQfYiO3f+VN+nu6bVwttSt1pwohpHMpwRQnx9pPu/UvMQiLii6AAD6sq+DjMTx3qn0brVuzetuybLgJO5DJB5IMcqQcqQOa6P5xU0T42J9bp7li7tgke4lY+TKcVLp7oZgRhvng/8/Wmbr/iWxfK3FEwGEMoywEqAymRPz+WKo6t7QXaytbkY8wDM+zrjseYqTmm6Gp0WND1rU2gfUXUflcbv58/vUly5otWCupsiy54ePST7huP3oFqmNkKN5XcYU/EnE8jn6Cs0HiqbU3re4AxKjcI43HuB+9K4dY/g19GUOufZbdLb9M6XUHYc0ka/pNyzcZbqPbjuQYNdX0estEhrF1rf0yv/AJDt/Kid7r0gDU2UvWydu9YJ/b/Bq0PFTjs1f4YssaOGrrFYBVgZo90rqItEBjg96eup/Zz07WerTv5Tnt8JB+YpY1n2L69d21kZF4zk/QV148+OXDr5iNNcjHo9QrKCDVmaXegeC9fpxLrKz70d39jyKvHJGTpMFEm6vQ1VXuVJZNVAXLdTCordSrWMbgVj2q9FbqaxjpFvivSa8tmvSKqDqezXgNala9UUDHrCtHuhRJNVuodVS0JZgKTutdduXgRb9I9/lQb7DJdyt9pnUm+7XLtogi2UDZP52C4gc5rl3SNfacbLoALZDgshYjseRPz9PzroqWmuafXaJ+fu4uqOTJG8GY7kL/w1xny0Q/xciCRAJjbI7cnv27Zrhi1lck/oM3Q8pp7q5suHU/laBPsAJ2t/4k/Otz19XZUv22DAd8Mvb0sYZePpxQ7w/aS6u2xeIu4m0+0bv9u78K4syBLKfkcGi92+6nZfs5AwNrSMgHbauRcVe/ogfpXLOCun+mMmaaCy1qG0mpIXkW787Y59F0ZT6kCputda1qIjbPKvkwG3WyjjnabjCLgPYbuTyKgToqP6rTtP5RLOvbAAhxxwNw/apdOl+2GYsrod24r8BI4Vysr/APcX6kVJwi3bp/P3uMpMBdUu3furnUO/ni6uHXZcUODICwNqQoPp5xESaD2kbeGty/qgyC0TJEfMqpOYp0bRpcRrlzTEqNtoPbQCA87YRHaywmcoVE8hTFCNV0Ftg8m4GUqPMthW3MLRPrVjgfEdyhhtkjIM114ppLTVf8EluEOldPTV3gmnuG00SUu4lRACq4yxyexPPtTBqk1WjX8a0GtDBPxDAmZEgfqBXPR0O6Gl2NuPYTtnHByQIiQDwR86ceheK9VpSLF24lz4QqsZJDwFZSY9PqXJkH3FQy430afvuFMCdY6tpLzhdrKzwCdxtW0JMAntxB+Ynviq2j1t3R3Dp7nqUMxKFd+1u5QmGEjJzBnivOq6m1avuxU3vXdYrcO5XOVLDywhTHzxQDq/iJrt03mhjcQIRA+G2FQGT+eVBnv35iujHitaUtv79BWzpnSbuh1Bi2+y5B9PwMf9oOD9MUa6D4S1KahHF38AZaQVbcMgMp9LfXke9co6D0nU64qbKqR5otk8BCw3AkDhIB4HY07XOq9V0VsaW5tYbQAUTzCFMiZI+R+Idprmy4tL0qV+nUZOy9446/ZLhbKB3P5l9OB3BHb+fNedK8UsukKNfZ7zMRyStpfYt+Y/SaVundNt3lVVvJuMgo7QRnmeNvf3pl8WJp7D220yKF2AFVH5hOR+lcslFLT1KKxL6/4r1xubN9wLPoHBj3rOlanUW7ga+xO737UX0vUUutlYM880YXo6EkkQvu3auuPiIwSSikI4t8m6LuEirNqzFWOk9MZk3IrMn8UdvcVObdehjyKatEmqIFxWytWzrUaCrALKVvFaJW01jHSVr2ltvF9u221jV1PFFluGFPZmgvQfrvVRaXmK01PiqygywpB8WeMLd1tqnA70LCti5repea01ppri7TMYB5JUfuAY/al/p/VlOKM6RZQyCC7qqntlhzkQPrg8d6lnlpgwx3YO6H1YjqzFgYfzLTKIwi2h7tj4CYz39q5R1ywbWpvWyB6LjpwB8LFZAGBgDt3p90+vFrqVskQvnIzTxtv/AIbiIgR53HGKXvtO0JtdTvdt+y5z3KgN9Tvtt/KuXw22Su6Gnuhe0RbcAGgngmYHf8smcRweabtD441KKLV1rWps7QTbuj7wq94DD1KwxwTBpR80lgzgMSIEjDdphsGTMkQAT2qxpVKggzAEg7gpw0EhiR/EOOfnEnryQjLlE06HvR63QaqAly7orkAhW3amxniGUi5bEz8RAFXesaXqGnt7lPmoQpTU2SLxBBkK1xVDNbIgEOIgxubgo9jqI8xtqzKlt29oRIkjduAiY9UT3Psbw63f0t6bbtZJCk5NpnJiCwMBsHBIcHGIqDwrp9mNYX0PjS0XNx0OkvRLPptygGSG32/MycAnDYMFTiSVvxylt1a5921DOSA9v8C6yn0xdhAsncQRcVJE9ppZ67161qypvr5b7SjXrSqkkn4b6EKlzj4gyRLAgxm2vSWazt80XJcRcy+ArIqq2TBBVdqeZAUQRG0pLDFq2g2xmH3O+VKG9pro3IAxFy2Tcj0lpI54O9ckxNKWs1983VU7dlpfKVs3Vmy7Es2wbiUZyN20wAOeTWSxdssALi2SpIcoXUJBwXVDuMz8BAmeBzUOj6ZflW2vsDoGvLC+WHXcrYYBjFsnaRnaMgtQjiUb3M2a9ctM7Jc58+35knmc2mgHMbkciY3A8dqI9Z8JrYOl72dRYDb13MAzWwWI5JKsxJjMcCaMdZ6HpzhkVFkK7hhbJUSisXny2BNuSxADLcQzuGavjnXHXpo7OmC3PJ8ywrq4/ECBSGgmRbFtAS5gSH4gS0J2kk6M0MP2LWPu2ovacurtct+Z6SSoFt9qlSQJDLeDBvbsIy66or9/uW5BN2wtwW2I9ZVmssIPyC4zPqnilXwloUF/Saq1K+XaGmvoNjBQbbBbga3iC9tSRAgMDinjo3VLFxtodWuMC4O3a21yXC/s085BnvXnZpRnNt9efmMrRxzqHhq6925btptNv4okbzxe2boGwOHVQsyEMSaV9Rr3RSr3nwYAO4pHeWDHaccbYPuO301r+i2r0bxwQRBKmRMZHIBYmOJzXI/HP2eDSWbbWla5bW3suXCZYNugM6k5UhwIyBt4EzXVhzRe0xX6HPumdXKEjiTIODI/oaZb+ua7bQW7m8Y3AYI99w5/lSL1bpOxjskjmO8Scgfw1D0/rFyw0oZHs2cf2rqyeFhP448gWRrZne/s58bT5ulFtm8v1oV4291MnBB/qa9va8MzHjJx7VyboniH8cvac2GMwvIyONxyw+tM/QWuwS5kkkz71PHB450+xm7Q4edNbJQuy5ohZautMUszWTWoraiAXPJYOSxJq9Zu0VHThcjMTQe1ZJdgOxNUTC0BvEnVdmPek3VdQBkzRPx9qShAHNJHmk80UBjn4WJvXgsmO8cnjge9dcvXbX4QUBQjo7n28tGclk5LkQJjbPzpD+y7oqqq3GyzMIElcfUcCO/zp38UWmDlGUMbqvsPfaqn0yQMH3H868nxU3KVLgrjRzzxdo1t6pliIN9F9USUc3bYzI+C5aIwf7Gb7Sm877rqh8GosucewuB1ke83jjOBU3jf1quoXO63prw4/wDkTyLhwYPrsoO/NVtXcL9C0zgH/wCkv3bLEMRtFwHafTkj8RDHGIMjBMP9JfT7mfYteCfAJ1dklrY9b7kZpKWlAKPcyDvZmwEBE7JJUAbrR+ye01/8G62pETJUWrciR8Sk7xuXJCx2ljIDl4WvnW6W0lkhNOgCOmRtIA3I5Objd9sBTuBYkegtltEso1q0V8wLuhj+ga4RkDA/QQMDC5M8km067gSXU5Za8M+frSt+0bVpLawpO0ratqrYK/EzMQd0nKtmhXjDV2tR06zqibi37P4G7O2/ZS4VA3DAuiFbkHLYiI6F4z1qrZuSx806a8kgPDbgLfpQSF/EuoZ54Fcy0PRgLC2dYbiWW8xlYkqEZwBK7hsOAplwQJOU+ISwZuG32VDuOwn6AF1JJXaAd05Mhd4C4JPABPAxkcnXT63YSU9O7Ppba0KTAZyVPBggGDPcjDD4N1dy3dfRfgbbsqXZgQSCGnzV3DZcKLbPxLkYMGtOpdJsW/NtW7Za8b4RB6t9tUBLjYzy244PIBgLP5vS1pSaa+RKtjboPi11cJdDXrTo9l4wRbdT+EGAH59hMY9PcGQZ6j4m1Vu5dL2Sb/kRfUhltgI63rOpnG2BdJjsXjAoH0fQfdr6vefajAqu0PclLnpcwu2JU4gjODtPBe09rX6uLepe2ptLazbO42rVpjdF0mAw3or7fmTGIPPl03dbV60NEW9R1l7zL96uG7E/h7xaBO2AS4IEgKoEySFX6GW11xijFQqtmEG4AI0qwG3/ALCRLMBBMz2G37SrIAxAgAgx7SQcn+tbLpQSA7Nbtsobaqli4AO0lSQG9SgZ45+VXlCDS2FUmMvQOv3HXZ5l31QRtYqCykLDOsbV2sB6MwPixFGb2g1lrfbOoRHJKLYRZbaAGR0WQxWYh2EAFpYGZT/D+svooVBcUD4PK+IMw2t6jkEjuI/SmSz4p2slq1p/JuQLd5nm4p9UK5kkyFjJn6YFceXHUnpivwMn6jENfrVVS5UBdp7KzHIYq6nIzJC+nHPuXPivUbHkLszl/TAIJjcZn6mZFDdVcsC/svaoONgc3l/EDMZ/D9gRE59xxxQ5OmaTW2i2p116162AVbcJtBIVvhYTHJnE1wrDrdNV6ldQqeJ+t6HJsW9twXDJSRbNsr8IU4WCcQI9ImcUs/6MbyNdtKSoMNtG5VJEndAlFk4LADByYpp6l9mtrcfuup+8LIj07YmZ3AmSBA9Q9/nUPhvw0GcWrq3QZxdtuqvpwCysSvLISMgEN3HMH2IZMcIfC7ruRabYj/dyCZIEZ5wY/hI701eFfGXlkW75lOA/df8Ad7j510l/sqMbW1VjUAxHm2mtXIJ24u2ySxnHrVs+1ANV9ipa686qzbAyRLXTkwCYVQBII+o47U/+Rjly0DS0GrTAgFcg5BHBq7YND+kdLXSN90OoF91UOdqkKikDb6pM7p4gcHnmjC2KMXasBulSRWItbRVAEi2YtknmKrdC00Bic0WfT7liap32XT2yBkmf3plwMct8b6Tzr7RwD/SgWh8NFmE4E5p/PT5JZhJJmtL+mgYEUbpCvcO6XTWLdu1aa5bRRBD7jHBkNHwxU2o8SoGt/iealtpWVghCfzOcLBAA9wYPtSVd9jV/oevFm8rMiuuQVZQ4g4wDgn/NeZkxd2VjIstpt+jQETCa2wBGW2bdfYwcH023H1P7UPB+l+8dO6nY9vJ1Cfmhl5PA3f8ARXsOaLWus2hccIsIuptalF5i1udNQMfw27jH5L9Jqv8AZyRp+qfd2A9du/ZafzG0RBjgCLNzj+L6UmpqEvuvpuZhnw3Y1PSmVWB1fnmCtkkxsA9RBRUBB3SZyDk4EvOhAcMyqqqzb4yHJYBt11T6gxxCnIAHERVbqWlg20/7hGSADAxzMHbcx86p3rj2hqvKb1pYYrIB9YRmT/8AIN8vVXmSz+Y6fJbTStHO/tE8WK+qYWwZtFbLboZQN28kJwG3heT+WIpa6v4+v3GUXDKj4YCo4OF3DZlSQgGSff2NZ0pUuE7/ACBcLEk3idrz3FwAwc5Lc7jkcVb6gj2bb2rmksIWX0XEChwd/mK3mDuCI9yABjmvVjjxxai42yTbfUI9KtrrDYZxvFx0X1LKKzMhvhUWIRmUDZgAM+W3Cnrxz4UV307WLSm7ZO83BtVwSVSyTCwRvEheAEMDEVzboa3WttbsW133rqW96C4jhwqG3uIaNqbWeTncJPFdr6ur2tNaBC3LoK5ZtsuEKhyY9bA5iO3AiQmS8bavZe/fyMt6OL9YsJu1d4Wy5TV3ACy3GCI1zy1xG2WMnkRA4OKE6/TravMtuHVfSk7vWuQNgPYzgfOmvxN1lUuHTpbFwm2ts/CqMU4wvxMxLs2fzAZijBOn6Wg1Wo239fcUG3ZEbLAjBMcR7/ovvTYput+vqCSAui8H6fR2V1PU1ILZt6cGGbv6wMj6du8cUuOp6hql8tF01ssVXaIVR2BJ78US6Z0TVdZu3tRecNsI9JMYmQoH5FjH/Ca38X9VsBBY0KFFA/EVhBRwSCgPc/MU6k9elO5fhArb0K/STZ0l42rtxjdDQT+RQAcY5Y4qLxRqNOpNyy7S5Bz8UjndSn96/i7TH1NET05itp2WBd3eWxIIfY207hyBOJP9Ks8OmSk2C7VB/pHUBeQj4XGJ3elx85/Nzn9/ejHT+k3hfRLDeZvaSDK7SQTLEj0kAH68VR8P9FDJ5QSbpaQROPpGAonn2rtHhHpK2NPtDFrmPMLfFvAAj6AAR8q5pSTbjENVuCbvhw6ZFVE8yz6i4UHcCR6mVV5WQPRnsRkQVfrvRRasPeTIKAb9243N1xMSCCGBUtn24FdLvdQhS0RtPqD+gQOSCcD39j7965n4k8ZWrxZNPbHlFtzsQZuXFHxKFOAJye5rjilKXwP5jb0Kdu+V3EsVwvfvIGYiTk4H65qnqNVt5b1EAMUEwpWCMQGaCMAxg57UV1NkkTB+GYiFAkrO0GORmOJiapFFEcPLEgMQPV+UKOwHfM4EfLujp7E9y90G4EJfaZbaDiJAmPn3Of2p3s6hXUECl3QaeUnBkk4/TH6RH6d+aM9KtniuvG/hQCzNeF6zVJtNV/OqhhhupFL/AFC5LZPFFNZqoU0N6fpxcJLU6CwfeNQIBOau+JNP5RXaDBFLN/qEe5NBgCOrtofSBHzjNaajo8W91s5HY8k1BpdSSATNEtPqs54jvSSSfJkLWouuGVhK3VlsGPS3pPygyf3NW+mSdXptQisWt3Ve8Adw8toS7cUcwVJLJBjJHpkKT6yq3LbFZFyVCEZT/aVAmSRhhOYx3BOz4UFqyWdgbpl0CzhVyhAALQVInJbcZ3dj5+V6G/fJVbjX4mvslpXDKSLqsfdkJ2wpHcbxB9qCdH8TLf1Cs67fMW5beeIUEhvoYalc6prTBLyyJBAO47Q6hljJDAypEkkETzNXusdTK6J2CqLiG4FclZVCCqsCD/GG44I+leesFLT68++Sto5ZaUI1xR+UkD6Cdp/cCmzwP4+1VqLZ8u8rekWnXeXOAfhBYQIPEHPJpS8Q3luP51jcu4KblsySlyBuYE8oxyPqateH9FcuP+HKFRuZyoHlofjY4mZwp+favcnGLhqkc3UZel9cbS9RXVPYazaPmEogZRD4GwPgmPpg4xijuv8AGlzqOot2lZLNpvMVfMjAKN6nYgkkxGBAmJ70K694Y80W2RibSBRFomFG3JKkkicHBjNKOt6QLLwzSTlWhjIH/cTj2rnh5eZetUO04jlb6lpunWTbthrmsIZfMb4VBPI3dpGI+uKD9Ht/fdei3lv3Ax9fljcxAHIx6VBoJcsqDvuNzxJJYH2zyKJ+FfGF3T3jcDlFK+W20AMU5ESDmY+dFYNCclu+r/RnO9uhniGze6Xq3t2ncCIDlWtm5bOSCpGYOPaQSKF37j3w90BdywWj04I9uSBFNniXxHp75W02/UXVVN15mbLkyQAeAATgDmlDX6mWbEScDtA4qmFuSvTT79xZUuoNc7sd/wDmD/mmXwp0y5qLtqzsLqCcc7RyT8gJkjvQNdOWYAQGJgGe/GT7V2f7ONNb0Q9f/UfG/kOMehe+D27x8qPicqjEEUMvgrw22htutw23MytxVIPl4i2xOYBz+tE+qana6C2YunIjIZAc7sYXOCe/FQ3uoG9d22PhUZaYliYO2R2EGYINCbeqXSrqnuTNhnYsxksCreWCTkz6AP0r5/Jkk5VF/Y6Ekt2c/wDtM1r6rWLbLAhQykIwZDDs3qXd6WAwQe4z8tenaRNkMwtShdd3/wAjHIRQYMn4d3E8TQPp957lxn9UvuOAAB3JnsAZ9X9zUms6ktuIY3H45IgciDyAQTJncR3EzXrxi4pQ7EW7LHULt1ptqht59bEmSdob1MYloeQAO+O9V3aCAAwgBUYESXmADnag2kkxMED4iaG3LhvMNpEKCCBItgDJOIxHsB+vNWen6d7l1Ijcx3Bon4ThdsgKO/uMY97aKQlj30235dpRABjMYEn5UX6a+apNYCqAOwA/apNG5rpiqSMS9Xu5qmtwV71m5CzS9Y6qCxE8UaAOGsJOKpf6n5LARM1X6n18WjB5qjd1a3RuBhjThLnU+otfMvj2A4oFbtBmzgVpqWuAz6iPkDUFo3X+EESaDMEvOI9IGD/zNbtIPq7+3+aq2NC4ktJzz9eBUl91MAySJyTA/T5CoylQUTKELoGbakyzZJjvAGZjinHR9c8+w62Bdu3UFtQBcUMRIDHfckBIEmWM5HfPP11HqHAA/wCfrV7T6zPpLblUBCuIUyGB9wdx49zOK48qvcpBWy9rdPOotrdvLbgEAPb5QMR5W5WBUHcZJYRxPeqOs0elhhudXDxtayDKwQYKOeCPrHvFUddeaRuJK9l7D5gAQO/aqtvUK922tx2VQQWYEqQoxAaCBJAU4P8Acc8Iy7l2kQpo0dmeSqIcgYLAdt+0gdufcQKNf6rpraA2rLJdYhZLlwUOX4IAziCDyPap9dpdN92OwELd2eWpNt7m5CdwcQGtQpPG4GR6vyhP6vqILCcoFKgZksYORMRzBI9qqoea6EdRVhlPFzp5gtAblYmNokD+BQMbfdYwa86FpPvYY397pv8AywMsNxExj5ClXRahratC+u4NqlgMBoAIBGDGQQaf/DvU7lvTIqqdlxzLBQJZMme/DAg47+1HNj8pfBz3FjLU9xb6z4Yt6YrdlmTecv6gPZWHY/1ihmjtTLqYYkxEj6RFdGv2w3m2bqvDq0bl5IEoxEcg96V+n6JrgUKAAIJaYAHsB+/amx+IbhvyJKFPYopoGHqZVngH82445+QnvU3UOiBNKbhX1Mw2dzEgTE95PMzTbZ6SEjfkASGJBwRIKxiI7UueNupjbsUiNoiI+LcJhj/DEfUn2pIZZSmlHuFpJbijqdObTRcG0jO1vSSJjA7/AP8Aa6Z9mVnUarT3BuHkpO0spLErBi2SIgGBumVNcx0WhN11UuqksqyctDEkv81Xkk/Kvp/wvp0FlGtlihtoqgmRtUYI9uTP0+Qq3i3aWN9eosNty5o+mJaKeWoChI+faPqecmuY/aX4mC6u9oxb8xbtlPMhtpVwd6kf+IE/UU7anxJ900jXb3/xNdRv/At5eCRO4BOPeuVfZ451Wp1et1De0uexYzC/oFAHyECuaCgouVbLf6h3boVtQpVSqi4oJz6TAXsv+0fWJ+lSdO6LcvM4UsFRSzMBtMciN2YJOIEnJiBXdugdBtsfNa0Bn0bwC/8AuacqSO3P04o2/TrbH/pqf0Fd+PVKF8Niukz5tt6pVC21Vhj1qGADMPzOZOMiEGcDg0x+DtMty4buSVlAWADbfaAYXAAjMSa7WfCelz+Dbk8+kUMu+FrAJCItvn4AF/WODVPL7iilqjXuhNGuo+E7kE2yHHt8LD+xoXYsFAZBFVAB/Et+Frnh1JDkim/xVqeRSx0Loz6q5tXjJJ9vatExnV+uy0jipOieIAbihhOe1a/6GGMHjnP+aOaToVm3bkL6jx71pSjHlh0tnX+n6Cy+nVkUcCfc/pSX127pbMgBjdJMAdp5n5VU8Pay+FZFuR7d4mql3RAXSXYsTme5zR3YCUamUK5j8s9ie/1oIzDdwcdqOdT0qL8J5470ENor9Scfr3qE13GILlqW7D5VbuW9iqQQ0kEx2zH795qxotF6zuUsNpwO8jEVXtFbbNbe2VIHq3YiRIgdyce1c+RVEpDdkupsb1KnBj6EHsf14/Whel6d+KSxG1iBwx2j4c8TGTA7sImiH3hrFwu9tLgBhYO9WQqdwO3vBOZBBE9qnt6ixD3wvmWwWJtyEdN3/TVUJi6qDDP8RjhcGue2lsW1JvcrecthdUN87gFUrMMts4iRu9TswH6ewpCuoSwmPVnnucA4kg/UfpRrq+nvW1IYK1vchFxCGQ79zIhPAbBkNtMqYBkGrtrwO63LYNxW8xRcQE7DcQxDW8tvE8gGRIMRJXsxJY05N8/0Rm9WyBNizlUUEtnAyTyO2cCf0NdD/wBCv2OnouoUKu63K7gl0b1YkAjvJiJMnEYpv8P9J0KC2+kVQL63LbNyzkqSN5Pf0NxgyaSftb8Tg2bWmttvuHbcu8egoIC8/HuDYyY/SuGeR+IkoR7hVR3NF1Oo0zX7TWzcRLYjUFTZdRnYzC5CsJ9LMIEkd+Quh6za8xtyN5RHqEhXRicss4aOSpwfeg2p8S3NSlq1LOyBQSXPwiJBLcAQO8d4q3otG7+gibajN3C7FEgkOYDAZGZOO1Xhh0p+ZSfvcVu+Bl69e8q2E09q+qcC7dVlUmYO3am0E9pJ/Wk/Vaa7fdhbtPc8tWZhbVmZVDNJeBgAg8gE+5p48Y9dYaO0PNdlGxrQdg2RG24WEls8BixBGONw5rqOuXDtLAPgt6lA3sS25nZQpuerOScqM4gN4aOr4ooEvUueF9F51+38SKzwHgEwNouMJ5KI+8j2B9q7R4W8TjSzpXZrtu2BsfaRc2kbjut5MDJmeK4v02410psUAqu1mREWVJJIeFBdiTOScQPp2Sx4baxpLV1/VsDM6MN0WYLMFJ4MAkfWo+NlJSWkaCXUSPtn6013VLaWfKCqwkyjMyxvWMHAAn5Gjv2K9GD6c3XWdrsbc8CIUvHBbG0HsBiJNLnjg6W8La6eAba7dxKoXXcSDtJ3Tkc5gfv1T7J1t/6Za2QDBDR/ECZ/czVsNZcSjVb7+/UDWl2M+lScVdRIrWzbAGKkr0oxpEmaPVTVoMGrNy7E/wBqjtkx6oE9vb5fOke5iCys/wCfb2oR1TpcEtGDyO09/wBDR5bcVvdQMpBo0Y5t1Twsj7oRWn8rSP2YZH86veEvCSadYQEbpJnJB9p70d1Gn2mKI6CxAzzRRjhmjTdkxRNLSqjPMmCBn+dD11aEDtFUOq9T9EDj2rjyQc5Jl4ukFvCuqIDEmZP96NajTeY0r8UZP9qS/D+rYAiMH/mK6J0a2hs+q6LcDLRJx7Cc10zkoR3ILcFXNI9sqSu4AzFS3ul+cH1AUIAfh4BxUOi8YBZlS5MgMQeDgGpNd17Trb22w7XGicnao5aM8kY/WoZZ6ejGQT8P6RuGdLSCGc+ku0ZVU/Yz7Un9eO3VG5IZbzGDtI2kYCzw+IJj3q/rOr3bzArbFtFUKoAEkdyx+fepmvP5YNwJ5SCQO8gH1E89/wCQrkksjdtbdh4ugEdMXu2Bcyqsd4URMAwDnge3zor/AKTG10G1oLeg5BB52jAArWxZ9G4ZJ5J71NpDOJicH+ua6scaWkWT6lJNNdW3dJtrctXB5bmGNppaQdqwNwYSskQeKXVe7ZFu2GS0LbObdy5c3BTIYAYmyfSDKwrexMU/awFUIt4lTIxBEQTBxPz5HagrXAbbQpAaRG1WHcQZBnif27gGmeNLgGotdP60od5L2LjFbofyy6JCNuiypMbmaZmIPAOK5X1UAsfUzGW3EwZkzM85mTIBzTuisAB6ZBmT6Sw4AknaACGPbkySIFbX7tu8pW4ozHqyD7DIg/vNQxLyXwNKWoSOl68K0XPgncR3YiNoJ5IGTBMUZPXrl0mH8tba7ktqJ35GGj2WTnAjEYrzXeEdvrR12gj4vSM8DcRt3f8AriqlrojFCpVvOQ7ysZNvAJBEyRz/AOXzrok8c/iFprY21n4tm226ShIlnL7QSCJ9gSGMcgVU6xYG87eAZxMDdnB9s/KobWi/71X1RB4wOTMAYnP1orpump90v3GjchXZtLR8SrtIIzIeR3Gz2NPahXvkHJ0T7KegJc0QeC1wXtu0nYu2UbJUHPlucH2IxyHj7SPEa6bp99hliuxRBIBueiWIwBBJz7Ug/Yn1kW11VsZ/6VwFp27yzIcgemZSBzg5oF4v8eay5cv6RiEti5clRbFskBt3qBG4MCAQZmfevP8AKbzSivm/0O3sR+BfCrNb+8uAQ0qpbJgYfap5Y8bjAA4mYrqng3VCw3lyQhwAeAT85we2BSj9mjG700rbtgutwoJMbuLjSYJgbu36CmYafaxa4SX4DRsVSIEIv5RiMkt7ntXLkzyjnbfR8FlFaUjodt5mtmNDemarfbDTPY/Uc1aNzIM17kZ6opo5mqMfkfL+vv8AOqWvWSG3EQIA7HuT8v8A1V66tVHTNF8ALlod5nAzUjPioGvRUF/UYk0xiHbuf9Zq8lVtOverE0UY+YRrMVAbxdhPE8VrdtkmDipOndN9eWxWSoLbY6WekodPzDDIjsfep+jaEMdplm9vn/it+hoCMcQfpijGh0otFnGJ7/4phTTqehVbcKFE5AABPYEE8jGa10fhe0wEtEgljHEDgdya8TUBrxJBI/X2zx7Ue1lpCg2YOzuZM9yfqaV7hFm90aEJttxxOaHXb5I2Nn3pksW2Ag8f3pQ6tqWtmFQlj+wE5NI4mCiXMRwKkW0D8qEaTXEKARP6cUSvAqYYFW7g/Ol0mDvp8lZEt2P15x7UK1KYiO9e275gDsO/9YrR2DD/AIKLWwSK9ZRvQRgcft7/AK/yqvc6d5LeZbkYIDQCeCD6Tg/FGZ7+1TC4ewn61aYEEccD9PkfnUWr5CLOo0ym35TqmN0NshwWk+og5gnEgwMCKuWNUbV7z10tq4DbCXFtu+n3lQYddvoUkxPYgEQSZonruni4ZWFIAH1PvQPzCGZUZkdfh2kDcZE7gcERP8s0ksaRlJi83SjfZ2um3pyWJIvMtqBl/QIAKkQMDmON1F+p9U01nSjQ6ZhdBIa/eRjbW+ZHoC3FaAMQR3HBzRJep3Y23VQggTgrP+4ZB/aqF7w/pbmQhtk/wOAM/IqR+wFZSutXHoYAdI6ibCOLabm9DC5JBsuj7pDDDqVGUaRgcRXvU3bV37jBAwdiwFtQMnloPqClskYEkn2pq6X4RtBvWzE/lHEj6j4j3xBpks6FLawiqueAI57mOfrWllSdpbmoDeFOn37OnRUu/dmV2bO5lfcQRuABA9owYA96btF1vUNaJu3Ld31EQLe0woyTBByQY9IwDVBxAqitl2O22CWjBg7RP8RkAD9a45Y/MbbW46dDJ0LrBF5gWYBvLAUAbd7uQfoQoBic0etddRvhuBvltIIpBUtac+Z6WieZBPuP55Gf51S1fUSWLAwT7Yrq8Prtp8IWR1Wxrp4M1YOp9x+1I/hHXF0IYyQf5UxrfI712ihbbu4quyy0dhVZLknmrVogd81kYtKK9cV4pqVUpzHy1rnIeataD1Ec8009U8FKzSJH0rbo/hQpcEiRWoHAU6cwVFUCO9W+oXiUCjA/f9as6jpihwR2qWzpN7AEUwCpa0qJbUgmDz8/3rR/EKEwO1FetdTsWrYskLn6E/Qe1cp8RdYLvcFnagU7cct7x+/8qUI59R8Volq4Q2QpjuZik/p/VHuND9olydo4GI5xJoV1HR7LSSx3n1GcQvzHbGf1oY3VZOcISBzBI5z78ST2kCg0Ad9f1FT/ANMjfHpM4Py/99q16h4se8qu4hlSGxHqGD/ILn3mh+n01nepmLZ2suO8EFflxRbq3Q9z27ltVAC+pZADASRj+X6UFujMt9O6kL1tSP1/watzjNBumWvKhZxJExE55+VGbjjilYUabZMVeRZqvpmmflUiDuKVIJZdgELdxJ/YUmvZUW9wk3S368GY+XFMfUtTttGe/pH60vm2Vao5U72Cito9c6z5gJUhgJztbH9Kk0OqNyAFMk8RPHzohouni7M4/wDdFtNpEtQAJM0YQfPBmRW2ZF9Q3KSZHt8we2aYOiaJ74JEbBBZmMQBkj5mO/8AOqrjfwIBxTRobQs2lRAMxz7tNO8MXyBMzSdAt9ybjfONv7D+80aGiWIKDAxgT7dhxVfT2CgjEkiY7f57Z+VW0yxX6E/5qsYqOyMB+seHle0YUjkx2+vuD86ROp+G7lld/wAVuee6+wYftnj6V2O5bxHalfXWgBctEYIkfvx/z2pqAJvhW4yXODBxTl5tUNJpVXtV6QKASW28iieg6aAJzn9f29qEkwRFHOmaiV/lRRidLeammoya9JomFHygTxW6WV9qysrBN7unXYTA4NBblwqkgwaysoinLfE+vuNfyxxx/L/Jqh0e2IuN3DQD9Tn+lZWUpkU+uXCWMmfUP6T/AFNAr64rKymQAl0e4WKgmQDgftTS2oYmSx+KOe1ZWUDBPprlis5ovfQbaysoMKPNH8M/L+9TKea8rKUwP8UcL9f7UKsMTzWVlJIKCumMAxVm02aysp0AK6P4k+opytDK/wC5f/1rKymCi31AwoI5kH+tTFiGaPYf1/8AVeVlZm6BFzCn6Cl7rXIPf/n+KysomKdripTWVlKYljFW+jGLjDtANZWUxgywrUHNZWVjH//Z"/>
          <p:cNvSpPr>
            <a:spLocks noChangeAspect="1" noChangeArrowheads="1"/>
          </p:cNvSpPr>
          <p:nvPr/>
        </p:nvSpPr>
        <p:spPr bwMode="auto">
          <a:xfrm>
            <a:off x="155575" y="-1646238"/>
            <a:ext cx="3886200" cy="34290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6" descr="data:image/jpeg;base64,/9j/4AAQSkZJRgABAQAAAQABAAD/2wCEAAkGBhQSERUUExQWFRUWFxcYGBgYGBgUGBYXFxcYFRcXFxcYHSYeGBkjGRQWIC8gIycpLCwsGB4xNTAqNSYrLCkBCQoKDgwOGg8PGiwkHyQsLCwpKSwpKSwsLCwpLCwpKSksLCwsLCwsLCkvLCwsLCwsLCwpKSwsLCwsKSksKSwsLP/AABEIANMA7wMBIgACEQEDEQH/xAAcAAACAgMBAQAAAAAAAAAAAAAFBgMEAAIHAQj/xAA9EAACAQMDAgQDBgUDBAEFAAABAhEAAyEEEjEFQQYTIlEyYXEHFCNCgZFSobHB0RVy8DNiguFDJJOisvH/xAAaAQADAQEBAQAAAAAAAAAAAAABAgMABAUG/8QALBEAAgIBAwIEBgIDAAAAAAAAAAECEQMSITFBUQQTYfAicYGRodEywRRCsf/aAAwDAQACEQMRAD8A7XUZNT7cVD5dKUTMCVtsrcYrXfmgCzVrNbIlSCvRRBZgrx+K2qHUXIFF8AXIC1nxGq5q1eEmahNupFSKKzbW+2sbFEBpsrYJQLqnjGxYba7qD7Tn9q0t+ONOeLi/uKXUg0Mfl1Np7m2lpfGNluHX9xVDX+L1UGCDTKSBR0MdYVRk0B8Q+NrdpT6gK4/1r7R3UkIf70j9U8R3bxJZjTbsW0hl8d+Om1BNtCdp5Py9qRSawmvKZCGVlZXqpNYx5WBaJ6TpBai2n6D8qxhaWwT2qe305jTda6F8qIafofypdRhPsdDJq2Oh/Kniz0X5VK/R/lQ1Go53e6TFUruiroGr6X8qCanpuaKZj6nU1leWTgVhohI7j1XYVYYVoy0rKI8S/wBqmttVbZVq0KyA+CSh3Vb8CPeiNBupvL/SmkLHkp5NaFoq0jCh2v1QWpsc8F0zVXr/AFdbFhnYwAKyx1MGh3jrppvdPdkAMEMR8gc/8+VQy5VBK+oyQj9L6bpdUs3WNu6WJluGB9icGoOq/Z1dtS9ki6vIjNQdLuMB8BgYaBuX6n2ph6dqDbANu4V9x+U/viuOUpwezMqfJzPqSOjQyMpHMgiiOn1YNuTj9a6Y+pS96dTYRwRG5Yn9jVXW/Z7pdWsaW75bD8p/xTf5MWkpKgaWuDmN6wlzIofqOmjtTl1X7MdbpzOwXFHdcH/FJ+t3hipBU+xEGuzFNS/jKyb9QZc0xFREUe0ibmCsIqz1DQWiuIkVR5UnTBVixRno/Td2aqabQEtnAp26HoBAqrYCx0/pAgYozZ6X8qu6PTACrsVOxgcnTqtWtGBU4FbrQMe27IFbtZBr1TUgrGBGs0lBrugzTZetTVO5pKIDsCCBUF1iDVheK0vJIqj4CnuYMiod1SW54rDboMK2I1E1ZUVoiRUlFAkzS80AmgGoPf3oj1vqS2bTMfbArnieM4kMN7/lRCJ94kkDip5JqO7Gihpa9FKvXNczMFUGfeqmv8Vaoz5NkMvcAnzeOyPtn9CfpVK34nt3PQ11kuYO24oWDyAwwOR79uK4cviFXwlFED6/xE1u61lW3XOD7Ifc+9PnQ9BdPTnXcblwoyEcmWGZ+Y3TXN+t+CtQWa+iebtCmbZ3E7Y5X4pj5RXUPs86gbguyNu8W7m32LLsbH+5DXneMmnCLi7/AGPG1ZzPpfUH0t0kbio3Ky9yQfYiO3f+VN+nu6bVwttSt1pwohpHMpwRQnx9pPu/UvMQiLii6AAD6sq+DjMTx3qn0brVuzetuybLgJO5DJB5IMcqQcqQOa6P5xU0T42J9bp7li7tgke4lY+TKcVLp7oZgRhvng/8/Wmbr/iWxfK3FEwGEMoywEqAymRPz+WKo6t7QXaytbkY8wDM+zrjseYqTmm6Gp0WND1rU2gfUXUflcbv58/vUly5otWCupsiy54ePST7huP3oFqmNkKN5XcYU/EnE8jn6Cs0HiqbU3re4AxKjcI43HuB+9K4dY/g19GUOufZbdLb9M6XUHYc0ka/pNyzcZbqPbjuQYNdX0estEhrF1rf0yv/AJDt/Kid7r0gDU2UvWydu9YJ/b/Bq0PFTjs1f4YssaOGrrFYBVgZo90rqItEBjg96eup/Zz07WerTv5Tnt8JB+YpY1n2L69d21kZF4zk/QV148+OXDr5iNNcjHo9QrKCDVmaXegeC9fpxLrKz70d39jyKvHJGTpMFEm6vQ1VXuVJZNVAXLdTCordSrWMbgVj2q9FbqaxjpFvivSa8tmvSKqDqezXgNala9UUDHrCtHuhRJNVuodVS0JZgKTutdduXgRb9I9/lQb7DJdyt9pnUm+7XLtogi2UDZP52C4gc5rl3SNfacbLoALZDgshYjseRPz9PzroqWmuafXaJ+fu4uqOTJG8GY7kL/w1xny0Q/xciCRAJjbI7cnv27Zrhi1lck/oM3Q8pp7q5suHU/laBPsAJ2t/4k/Otz19XZUv22DAd8Mvb0sYZePpxQ7w/aS6u2xeIu4m0+0bv9u78K4syBLKfkcGi92+6nZfs5AwNrSMgHbauRcVe/ogfpXLOCun+mMmaaCy1qG0mpIXkW787Y59F0ZT6kCputda1qIjbPKvkwG3WyjjnabjCLgPYbuTyKgToqP6rTtP5RLOvbAAhxxwNw/apdOl+2GYsrod24r8BI4Vysr/APcX6kVJwi3bp/P3uMpMBdUu3furnUO/ni6uHXZcUODICwNqQoPp5xESaD2kbeGty/qgyC0TJEfMqpOYp0bRpcRrlzTEqNtoPbQCA87YRHaywmcoVE8hTFCNV0Ftg8m4GUqPMthW3MLRPrVjgfEdyhhtkjIM114ppLTVf8EluEOldPTV3gmnuG00SUu4lRACq4yxyexPPtTBqk1WjX8a0GtDBPxDAmZEgfqBXPR0O6Gl2NuPYTtnHByQIiQDwR86ceheK9VpSLF24lz4QqsZJDwFZSY9PqXJkH3FQy430afvuFMCdY6tpLzhdrKzwCdxtW0JMAntxB+Ynviq2j1t3R3Dp7nqUMxKFd+1u5QmGEjJzBnivOq6m1avuxU3vXdYrcO5XOVLDywhTHzxQDq/iJrt03mhjcQIRA+G2FQGT+eVBnv35iujHitaUtv79BWzpnSbuh1Bi2+y5B9PwMf9oOD9MUa6D4S1KahHF38AZaQVbcMgMp9LfXke9co6D0nU64qbKqR5otk8BCw3AkDhIB4HY07XOq9V0VsaW5tYbQAUTzCFMiZI+R+Idprmy4tL0qV+nUZOy9446/ZLhbKB3P5l9OB3BHb+fNedK8UsukKNfZ7zMRyStpfYt+Y/SaVundNt3lVVvJuMgo7QRnmeNvf3pl8WJp7D220yKF2AFVH5hOR+lcslFLT1KKxL6/4r1xubN9wLPoHBj3rOlanUW7ga+xO737UX0vUUutlYM880YXo6EkkQvu3auuPiIwSSikI4t8m6LuEirNqzFWOk9MZk3IrMn8UdvcVObdehjyKatEmqIFxWytWzrUaCrALKVvFaJW01jHSVr2ltvF9u221jV1PFFluGFPZmgvQfrvVRaXmK01PiqygywpB8WeMLd1tqnA70LCti5repea01ppri7TMYB5JUfuAY/al/p/VlOKM6RZQyCC7qqntlhzkQPrg8d6lnlpgwx3YO6H1YjqzFgYfzLTKIwi2h7tj4CYz39q5R1ywbWpvWyB6LjpwB8LFZAGBgDt3p90+vFrqVskQvnIzTxtv/AIbiIgR53HGKXvtO0JtdTvdt+y5z3KgN9Tvtt/KuXw22Su6Gnuhe0RbcAGgngmYHf8smcRweabtD441KKLV1rWps7QTbuj7wq94DD1KwxwTBpR80lgzgMSIEjDdphsGTMkQAT2qxpVKggzAEg7gpw0EhiR/EOOfnEnryQjLlE06HvR63QaqAly7orkAhW3amxniGUi5bEz8RAFXesaXqGnt7lPmoQpTU2SLxBBkK1xVDNbIgEOIgxubgo9jqI8xtqzKlt29oRIkjduAiY9UT3Psbw63f0t6bbtZJCk5NpnJiCwMBsHBIcHGIqDwrp9mNYX0PjS0XNx0OkvRLPptygGSG32/MycAnDYMFTiSVvxylt1a5921DOSA9v8C6yn0xdhAsncQRcVJE9ppZ67161qypvr5b7SjXrSqkkn4b6EKlzj4gyRLAgxm2vSWazt80XJcRcy+ArIqq2TBBVdqeZAUQRG0pLDFq2g2xmH3O+VKG9pro3IAxFy2Tcj0lpI54O9ckxNKWs1983VU7dlpfKVs3Vmy7Es2wbiUZyN20wAOeTWSxdssALi2SpIcoXUJBwXVDuMz8BAmeBzUOj6ZflW2vsDoGvLC+WHXcrYYBjFsnaRnaMgtQjiUb3M2a9ctM7Jc58+35knmc2mgHMbkciY3A8dqI9Z8JrYOl72dRYDb13MAzWwWI5JKsxJjMcCaMdZ6HpzhkVFkK7hhbJUSisXny2BNuSxADLcQzuGavjnXHXpo7OmC3PJ8ywrq4/ECBSGgmRbFtAS5gSH4gS0J2kk6M0MP2LWPu2ovacurtct+Z6SSoFt9qlSQJDLeDBvbsIy66or9/uW5BN2wtwW2I9ZVmssIPyC4zPqnilXwloUF/Saq1K+XaGmvoNjBQbbBbga3iC9tSRAgMDinjo3VLFxtodWuMC4O3a21yXC/s085BnvXnZpRnNt9efmMrRxzqHhq6925btptNv4okbzxe2boGwOHVQsyEMSaV9Rr3RSr3nwYAO4pHeWDHaccbYPuO301r+i2r0bxwQRBKmRMZHIBYmOJzXI/HP2eDSWbbWla5bW3suXCZYNugM6k5UhwIyBt4EzXVhzRe0xX6HPumdXKEjiTIODI/oaZb+ua7bQW7m8Y3AYI99w5/lSL1bpOxjskjmO8Scgfw1D0/rFyw0oZHs2cf2rqyeFhP448gWRrZne/s58bT5ulFtm8v1oV4291MnBB/qa9va8MzHjJx7VyboniH8cvac2GMwvIyONxyw+tM/QWuwS5kkkz71PHB450+xm7Q4edNbJQuy5ohZautMUszWTWoraiAXPJYOSxJq9Zu0VHThcjMTQe1ZJdgOxNUTC0BvEnVdmPek3VdQBkzRPx9qShAHNJHmk80UBjn4WJvXgsmO8cnjge9dcvXbX4QUBQjo7n28tGclk5LkQJjbPzpD+y7oqqq3GyzMIElcfUcCO/zp38UWmDlGUMbqvsPfaqn0yQMH3H868nxU3KVLgrjRzzxdo1t6pliIN9F9USUc3bYzI+C5aIwf7Gb7Sm877rqh8GosucewuB1ke83jjOBU3jf1quoXO63prw4/wDkTyLhwYPrsoO/NVtXcL9C0zgH/wCkv3bLEMRtFwHafTkj8RDHGIMjBMP9JfT7mfYteCfAJ1dklrY9b7kZpKWlAKPcyDvZmwEBE7JJUAbrR+ye01/8G62pETJUWrciR8Sk7xuXJCx2ljIDl4WvnW6W0lkhNOgCOmRtIA3I5Objd9sBTuBYkegtltEso1q0V8wLuhj+ga4RkDA/QQMDC5M8km067gSXU5Za8M+frSt+0bVpLawpO0ratqrYK/EzMQd0nKtmhXjDV2tR06zqibi37P4G7O2/ZS4VA3DAuiFbkHLYiI6F4z1qrZuSx806a8kgPDbgLfpQSF/EuoZ54Fcy0PRgLC2dYbiWW8xlYkqEZwBK7hsOAplwQJOU+ISwZuG32VDuOwn6AF1JJXaAd05Mhd4C4JPABPAxkcnXT63YSU9O7Ppba0KTAZyVPBggGDPcjDD4N1dy3dfRfgbbsqXZgQSCGnzV3DZcKLbPxLkYMGtOpdJsW/NtW7Za8b4RB6t9tUBLjYzy244PIBgLP5vS1pSaa+RKtjboPi11cJdDXrTo9l4wRbdT+EGAH59hMY9PcGQZ6j4m1Vu5dL2Sb/kRfUhltgI63rOpnG2BdJjsXjAoH0fQfdr6vefajAqu0PclLnpcwu2JU4gjODtPBe09rX6uLepe2ptLazbO42rVpjdF0mAw3or7fmTGIPPl03dbV60NEW9R1l7zL96uG7E/h7xaBO2AS4IEgKoEySFX6GW11xijFQqtmEG4AI0qwG3/ALCRLMBBMz2G37SrIAxAgAgx7SQcn+tbLpQSA7Nbtsobaqli4AO0lSQG9SgZ45+VXlCDS2FUmMvQOv3HXZ5l31QRtYqCykLDOsbV2sB6MwPixFGb2g1lrfbOoRHJKLYRZbaAGR0WQxWYh2EAFpYGZT/D+svooVBcUD4PK+IMw2t6jkEjuI/SmSz4p2slq1p/JuQLd5nm4p9UK5kkyFjJn6YFceXHUnpivwMn6jENfrVVS5UBdp7KzHIYq6nIzJC+nHPuXPivUbHkLszl/TAIJjcZn6mZFDdVcsC/svaoONgc3l/EDMZ/D9gRE59xxxQ5OmaTW2i2p116162AVbcJtBIVvhYTHJnE1wrDrdNV6ldQqeJ+t6HJsW9twXDJSRbNsr8IU4WCcQI9ImcUs/6MbyNdtKSoMNtG5VJEndAlFk4LADByYpp6l9mtrcfuup+8LIj07YmZ3AmSBA9Q9/nUPhvw0GcWrq3QZxdtuqvpwCysSvLISMgEN3HMH2IZMcIfC7ruRabYj/dyCZIEZ5wY/hI701eFfGXlkW75lOA/df8Ad7j510l/sqMbW1VjUAxHm2mtXIJ24u2ySxnHrVs+1ANV9ipa686qzbAyRLXTkwCYVQBII+o47U/+Rjly0DS0GrTAgFcg5BHBq7YND+kdLXSN90OoF91UOdqkKikDb6pM7p4gcHnmjC2KMXasBulSRWItbRVAEi2YtknmKrdC00Bic0WfT7liap32XT2yBkmf3plwMct8b6Tzr7RwD/SgWh8NFmE4E5p/PT5JZhJJmtL+mgYEUbpCvcO6XTWLdu1aa5bRRBD7jHBkNHwxU2o8SoGt/iealtpWVghCfzOcLBAA9wYPtSVd9jV/oevFm8rMiuuQVZQ4g4wDgn/NeZkxd2VjIstpt+jQETCa2wBGW2bdfYwcH023H1P7UPB+l+8dO6nY9vJ1Cfmhl5PA3f8ARXsOaLWus2hccIsIuptalF5i1udNQMfw27jH5L9Jqv8AZyRp+qfd2A9du/ZafzG0RBjgCLNzj+L6UmpqEvuvpuZhnw3Y1PSmVWB1fnmCtkkxsA9RBRUBB3SZyDk4EvOhAcMyqqqzb4yHJYBt11T6gxxCnIAHERVbqWlg20/7hGSADAxzMHbcx86p3rj2hqvKb1pYYrIB9YRmT/8AIN8vVXmSz+Y6fJbTStHO/tE8WK+qYWwZtFbLboZQN28kJwG3heT+WIpa6v4+v3GUXDKj4YCo4OF3DZlSQgGSff2NZ0pUuE7/ACBcLEk3idrz3FwAwc5Lc7jkcVb6gj2bb2rmksIWX0XEChwd/mK3mDuCI9yABjmvVjjxxai42yTbfUI9KtrrDYZxvFx0X1LKKzMhvhUWIRmUDZgAM+W3Cnrxz4UV307WLSm7ZO83BtVwSVSyTCwRvEheAEMDEVzboa3WttbsW133rqW96C4jhwqG3uIaNqbWeTncJPFdr6ur2tNaBC3LoK5ZtsuEKhyY9bA5iO3AiQmS8bavZe/fyMt6OL9YsJu1d4Wy5TV3ACy3GCI1zy1xG2WMnkRA4OKE6/TravMtuHVfSk7vWuQNgPYzgfOmvxN1lUuHTpbFwm2ts/CqMU4wvxMxLs2fzAZijBOn6Wg1Wo239fcUG3ZEbLAjBMcR7/ovvTYput+vqCSAui8H6fR2V1PU1ILZt6cGGbv6wMj6du8cUuOp6hql8tF01ssVXaIVR2BJ78US6Z0TVdZu3tRecNsI9JMYmQoH5FjH/Ca38X9VsBBY0KFFA/EVhBRwSCgPc/MU6k9elO5fhArb0K/STZ0l42rtxjdDQT+RQAcY5Y4qLxRqNOpNyy7S5Bz8UjndSn96/i7TH1NET05itp2WBd3eWxIIfY207hyBOJP9Ks8OmSk2C7VB/pHUBeQj4XGJ3elx85/Nzn9/ejHT+k3hfRLDeZvaSDK7SQTLEj0kAH68VR8P9FDJ5QSbpaQROPpGAonn2rtHhHpK2NPtDFrmPMLfFvAAj6AAR8q5pSTbjENVuCbvhw6ZFVE8yz6i4UHcCR6mVV5WQPRnsRkQVfrvRRasPeTIKAb9243N1xMSCCGBUtn24FdLvdQhS0RtPqD+gQOSCcD39j7965n4k8ZWrxZNPbHlFtzsQZuXFHxKFOAJye5rjilKXwP5jb0Kdu+V3EsVwvfvIGYiTk4H65qnqNVt5b1EAMUEwpWCMQGaCMAxg57UV1NkkTB+GYiFAkrO0GORmOJiapFFEcPLEgMQPV+UKOwHfM4EfLujp7E9y90G4EJfaZbaDiJAmPn3Of2p3s6hXUECl3QaeUnBkk4/TH6RH6d+aM9KtniuvG/hQCzNeF6zVJtNV/OqhhhupFL/AFC5LZPFFNZqoU0N6fpxcJLU6CwfeNQIBOau+JNP5RXaDBFLN/qEe5NBgCOrtofSBHzjNaajo8W91s5HY8k1BpdSSATNEtPqs54jvSSSfJkLWouuGVhK3VlsGPS3pPygyf3NW+mSdXptQisWt3Ve8Adw8toS7cUcwVJLJBjJHpkKT6yq3LbFZFyVCEZT/aVAmSRhhOYx3BOz4UFqyWdgbpl0CzhVyhAALQVInJbcZ3dj5+V6G/fJVbjX4mvslpXDKSLqsfdkJ2wpHcbxB9qCdH8TLf1Cs67fMW5beeIUEhvoYalc6prTBLyyJBAO47Q6hljJDAypEkkETzNXusdTK6J2CqLiG4FclZVCCqsCD/GG44I+leesFLT68++Sto5ZaUI1xR+UkD6Cdp/cCmzwP4+1VqLZ8u8rekWnXeXOAfhBYQIPEHPJpS8Q3luP51jcu4KblsySlyBuYE8oxyPqateH9FcuP+HKFRuZyoHlofjY4mZwp+favcnGLhqkc3UZel9cbS9RXVPYazaPmEogZRD4GwPgmPpg4xijuv8AGlzqOot2lZLNpvMVfMjAKN6nYgkkxGBAmJ70K694Y80W2RibSBRFomFG3JKkkicHBjNKOt6QLLwzSTlWhjIH/cTj2rnh5eZetUO04jlb6lpunWTbthrmsIZfMb4VBPI3dpGI+uKD9Ht/fdei3lv3Ax9fljcxAHIx6VBoJcsqDvuNzxJJYH2zyKJ+FfGF3T3jcDlFK+W20AMU5ESDmY+dFYNCclu+r/RnO9uhniGze6Xq3t2ncCIDlWtm5bOSCpGYOPaQSKF37j3w90BdywWj04I9uSBFNniXxHp75W02/UXVVN15mbLkyQAeAATgDmlDX6mWbEScDtA4qmFuSvTT79xZUuoNc7sd/wDmD/mmXwp0y5qLtqzsLqCcc7RyT8gJkjvQNdOWYAQGJgGe/GT7V2f7ONNb0Q9f/UfG/kOMehe+D27x8qPicqjEEUMvgrw22htutw23MytxVIPl4i2xOYBz+tE+qana6C2YunIjIZAc7sYXOCe/FQ3uoG9d22PhUZaYliYO2R2EGYINCbeqXSrqnuTNhnYsxksCreWCTkz6AP0r5/Jkk5VF/Y6Ekt2c/wDtM1r6rWLbLAhQykIwZDDs3qXd6WAwQe4z8tenaRNkMwtShdd3/wAjHIRQYMn4d3E8TQPp957lxn9UvuOAAB3JnsAZ9X9zUms6ktuIY3H45IgciDyAQTJncR3EzXrxi4pQ7EW7LHULt1ptqht59bEmSdob1MYloeQAO+O9V3aCAAwgBUYESXmADnag2kkxMED4iaG3LhvMNpEKCCBItgDJOIxHsB+vNWen6d7l1Ijcx3Bon4ThdsgKO/uMY97aKQlj30235dpRABjMYEn5UX6a+apNYCqAOwA/apNG5rpiqSMS9Xu5qmtwV71m5CzS9Y6qCxE8UaAOGsJOKpf6n5LARM1X6n18WjB5qjd1a3RuBhjThLnU+otfMvj2A4oFbtBmzgVpqWuAz6iPkDUFo3X+EESaDMEvOI9IGD/zNbtIPq7+3+aq2NC4ktJzz9eBUl91MAySJyTA/T5CoylQUTKELoGbakyzZJjvAGZjinHR9c8+w62Bdu3UFtQBcUMRIDHfckBIEmWM5HfPP11HqHAA/wCfrV7T6zPpLblUBCuIUyGB9wdx49zOK48qvcpBWy9rdPOotrdvLbgEAPb5QMR5W5WBUHcZJYRxPeqOs0elhhudXDxtayDKwQYKOeCPrHvFUddeaRuJK9l7D5gAQO/aqtvUK922tx2VQQWYEqQoxAaCBJAU4P8Acc8Iy7l2kQpo0dmeSqIcgYLAdt+0gdufcQKNf6rpraA2rLJdYhZLlwUOX4IAziCDyPap9dpdN92OwELd2eWpNt7m5CdwcQGtQpPG4GR6vyhP6vqILCcoFKgZksYORMRzBI9qqoea6EdRVhlPFzp5gtAblYmNokD+BQMbfdYwa86FpPvYY397pv8AywMsNxExj5ClXRahratC+u4NqlgMBoAIBGDGQQaf/DvU7lvTIqqdlxzLBQJZMme/DAg47+1HNj8pfBz3FjLU9xb6z4Yt6YrdlmTecv6gPZWHY/1ihmjtTLqYYkxEj6RFdGv2w3m2bqvDq0bl5IEoxEcg96V+n6JrgUKAAIJaYAHsB+/amx+IbhvyJKFPYopoGHqZVngH82445+QnvU3UOiBNKbhX1Mw2dzEgTE95PMzTbZ6SEjfkASGJBwRIKxiI7UueNupjbsUiNoiI+LcJhj/DEfUn2pIZZSmlHuFpJbijqdObTRcG0jO1vSSJjA7/AP8Aa6Z9mVnUarT3BuHkpO0spLErBi2SIgGBumVNcx0WhN11UuqksqyctDEkv81Xkk/Kvp/wvp0FlGtlihtoqgmRtUYI9uTP0+Qq3i3aWN9eosNty5o+mJaKeWoChI+faPqecmuY/aX4mC6u9oxb8xbtlPMhtpVwd6kf+IE/UU7anxJ900jXb3/xNdRv/At5eCRO4BOPeuVfZ451Wp1et1De0uexYzC/oFAHyECuaCgouVbLf6h3boVtQpVSqi4oJz6TAXsv+0fWJ+lSdO6LcvM4UsFRSzMBtMciN2YJOIEnJiBXdugdBtsfNa0Bn0bwC/8AuacqSO3P04o2/TrbH/pqf0Fd+PVKF8Niukz5tt6pVC21Vhj1qGADMPzOZOMiEGcDg0x+DtMty4buSVlAWADbfaAYXAAjMSa7WfCelz+Dbk8+kUMu+FrAJCItvn4AF/WODVPL7iilqjXuhNGuo+E7kE2yHHt8LD+xoXYsFAZBFVAB/Et+Frnh1JDkim/xVqeRSx0Loz6q5tXjJJ9vatExnV+uy0jipOieIAbihhOe1a/6GGMHjnP+aOaToVm3bkL6jx71pSjHlh0tnX+n6Cy+nVkUcCfc/pSX127pbMgBjdJMAdp5n5VU8Pay+FZFuR7d4mql3RAXSXYsTme5zR3YCUamUK5j8s9ie/1oIzDdwcdqOdT0qL8J5470ENor9Scfr3qE13GILlqW7D5VbuW9iqQQ0kEx2zH795qxotF6zuUsNpwO8jEVXtFbbNbe2VIHq3YiRIgdyce1c+RVEpDdkupsb1KnBj6EHsf14/Whel6d+KSxG1iBwx2j4c8TGTA7sImiH3hrFwu9tLgBhYO9WQqdwO3vBOZBBE9qnt6ixD3wvmWwWJtyEdN3/TVUJi6qDDP8RjhcGue2lsW1JvcrecthdUN87gFUrMMts4iRu9TswH6ewpCuoSwmPVnnucA4kg/UfpRrq+nvW1IYK1vchFxCGQ79zIhPAbBkNtMqYBkGrtrwO63LYNxW8xRcQE7DcQxDW8tvE8gGRIMRJXsxJY05N8/0Rm9WyBNizlUUEtnAyTyO2cCf0NdD/wBCv2OnouoUKu63K7gl0b1YkAjvJiJMnEYpv8P9J0KC2+kVQL63LbNyzkqSN5Pf0NxgyaSftb8Tg2bWmttvuHbcu8egoIC8/HuDYyY/SuGeR+IkoR7hVR3NF1Oo0zX7TWzcRLYjUFTZdRnYzC5CsJ9LMIEkd+Quh6za8xtyN5RHqEhXRicss4aOSpwfeg2p8S3NSlq1LOyBQSXPwiJBLcAQO8d4q3otG7+gibajN3C7FEgkOYDAZGZOO1Xhh0p+ZSfvcVu+Bl69e8q2E09q+qcC7dVlUmYO3am0E9pJ/Wk/Vaa7fdhbtPc8tWZhbVmZVDNJeBgAg8gE+5p48Y9dYaO0PNdlGxrQdg2RG24WEls8BixBGONw5rqOuXDtLAPgt6lA3sS25nZQpuerOScqM4gN4aOr4ooEvUueF9F51+38SKzwHgEwNouMJ5KI+8j2B9q7R4W8TjSzpXZrtu2BsfaRc2kbjut5MDJmeK4v02410psUAqu1mREWVJJIeFBdiTOScQPp2Sx4baxpLV1/VsDM6MN0WYLMFJ4MAkfWo+NlJSWkaCXUSPtn6013VLaWfKCqwkyjMyxvWMHAAn5Gjv2K9GD6c3XWdrsbc8CIUvHBbG0HsBiJNLnjg6W8La6eAba7dxKoXXcSDtJ3Tkc5gfv1T7J1t/6Za2QDBDR/ECZ/czVsNZcSjVb7+/UDWl2M+lScVdRIrWzbAGKkr0oxpEmaPVTVoMGrNy7E/wBqjtkx6oE9vb5fOke5iCys/wCfb2oR1TpcEtGDyO09/wBDR5bcVvdQMpBo0Y5t1Twsj7oRWn8rSP2YZH86veEvCSadYQEbpJnJB9p70d1Gn2mKI6CxAzzRRjhmjTdkxRNLSqjPMmCBn+dD11aEDtFUOq9T9EDj2rjyQc5Jl4ukFvCuqIDEmZP96NajTeY0r8UZP9qS/D+rYAiMH/mK6J0a2hs+q6LcDLRJx7Cc10zkoR3ILcFXNI9sqSu4AzFS3ul+cH1AUIAfh4BxUOi8YBZlS5MgMQeDgGpNd17Trb22w7XGicnao5aM8kY/WoZZ6ejGQT8P6RuGdLSCGc+ku0ZVU/Yz7Un9eO3VG5IZbzGDtI2kYCzw+IJj3q/rOr3bzArbFtFUKoAEkdyx+fepmvP5YNwJ5SCQO8gH1E89/wCQrkksjdtbdh4ugEdMXu2Bcyqsd4URMAwDnge3zor/AKTG10G1oLeg5BB52jAArWxZ9G4ZJ5J71NpDOJicH+ua6scaWkWT6lJNNdW3dJtrctXB5bmGNppaQdqwNwYSskQeKXVe7ZFu2GS0LbObdy5c3BTIYAYmyfSDKwrexMU/awFUIt4lTIxBEQTBxPz5HagrXAbbQpAaRG1WHcQZBnif27gGmeNLgGotdP60od5L2LjFbofyy6JCNuiypMbmaZmIPAOK5X1UAsfUzGW3EwZkzM85mTIBzTuisAB6ZBmT6Sw4AknaACGPbkySIFbX7tu8pW4ozHqyD7DIg/vNQxLyXwNKWoSOl68K0XPgncR3YiNoJ5IGTBMUZPXrl0mH8tba7ktqJ35GGj2WTnAjEYrzXeEdvrR12gj4vSM8DcRt3f8AriqlrojFCpVvOQ7ysZNvAJBEyRz/AOXzrok8c/iFprY21n4tm226ShIlnL7QSCJ9gSGMcgVU6xYG87eAZxMDdnB9s/KobWi/71X1RB4wOTMAYnP1orpump90v3GjchXZtLR8SrtIIzIeR3Gz2NPahXvkHJ0T7KegJc0QeC1wXtu0nYu2UbJUHPlucH2IxyHj7SPEa6bp99hliuxRBIBueiWIwBBJz7Ug/Yn1kW11VsZ/6VwFp27yzIcgemZSBzg5oF4v8eay5cv6RiEti5clRbFskBt3qBG4MCAQZmfevP8AKbzSivm/0O3sR+BfCrNb+8uAQ0qpbJgYfap5Y8bjAA4mYrqng3VCw3lyQhwAeAT85we2BSj9mjG700rbtgutwoJMbuLjSYJgbu36CmYafaxa4SX4DRsVSIEIv5RiMkt7ntXLkzyjnbfR8FlFaUjodt5mtmNDemarfbDTPY/Uc1aNzIM17kZ6opo5mqMfkfL+vv8AOqWvWSG3EQIA7HuT8v8A1V66tVHTNF8ALlod5nAzUjPioGvRUF/UYk0xiHbuf9Zq8lVtOverE0UY+YRrMVAbxdhPE8VrdtkmDipOndN9eWxWSoLbY6WekodPzDDIjsfep+jaEMdplm9vn/it+hoCMcQfpijGh0otFnGJ7/4phTTqehVbcKFE5AABPYEE8jGa10fhe0wEtEgljHEDgdya8TUBrxJBI/X2zx7Ue1lpCg2YOzuZM9yfqaV7hFm90aEJttxxOaHXb5I2Nn3pksW2Ag8f3pQ6tqWtmFQlj+wE5NI4mCiXMRwKkW0D8qEaTXEKARP6cUSvAqYYFW7g/Ol0mDvp8lZEt2P15x7UK1KYiO9e275gDsO/9YrR2DD/AIKLWwSK9ZRvQRgcft7/AK/yqvc6d5LeZbkYIDQCeCD6Tg/FGZ7+1TC4ewn61aYEEccD9PkfnUWr5CLOo0ym35TqmN0NshwWk+og5gnEgwMCKuWNUbV7z10tq4DbCXFtu+n3lQYddvoUkxPYgEQSZonruni4ZWFIAH1PvQPzCGZUZkdfh2kDcZE7gcERP8s0ksaRlJi83SjfZ2um3pyWJIvMtqBl/QIAKkQMDmON1F+p9U01nSjQ6ZhdBIa/eRjbW+ZHoC3FaAMQR3HBzRJep3Y23VQggTgrP+4ZB/aqF7w/pbmQhtk/wOAM/IqR+wFZSutXHoYAdI6ibCOLabm9DC5JBsuj7pDDDqVGUaRgcRXvU3bV37jBAwdiwFtQMnloPqClskYEkn2pq6X4RtBvWzE/lHEj6j4j3xBpks6FLawiqueAI57mOfrWllSdpbmoDeFOn37OnRUu/dmV2bO5lfcQRuABA9owYA96btF1vUNaJu3Ld31EQLe0woyTBByQY9IwDVBxAqitl2O22CWjBg7RP8RkAD9a45Y/MbbW46dDJ0LrBF5gWYBvLAUAbd7uQfoQoBic0etddRvhuBvltIIpBUtac+Z6WieZBPuP55Gf51S1fUSWLAwT7Yrq8Prtp8IWR1Wxrp4M1YOp9x+1I/hHXF0IYyQf5UxrfI712ihbbu4quyy0dhVZLknmrVogd81kYtKK9cV4pqVUpzHy1rnIeataD1Ec8009U8FKzSJH0rbo/hQpcEiRWoHAU6cwVFUCO9W+oXiUCjA/f9as6jpihwR2qWzpN7AEUwCpa0qJbUgmDz8/3rR/EKEwO1FetdTsWrYskLn6E/Qe1cp8RdYLvcFnagU7cct7x+/8qUI59R8Volq4Q2QpjuZik/p/VHuND9olydo4GI5xJoV1HR7LSSx3n1GcQvzHbGf1oY3VZOcISBzBI5z78ST2kCg0Ad9f1FT/ANMjfHpM4Py/99q16h4se8qu4hlSGxHqGD/ILn3mh+n01nepmLZ2suO8EFflxRbq3Q9z27ltVAC+pZADASRj+X6UFujMt9O6kL1tSP1/watzjNBumWvKhZxJExE55+VGbjjilYUabZMVeRZqvpmmflUiDuKVIJZdgELdxJ/YUmvZUW9wk3S368GY+XFMfUtTttGe/pH60vm2Vao5U72Cito9c6z5gJUhgJztbH9Kk0OqNyAFMk8RPHzohouni7M4/wDdFtNpEtQAJM0YQfPBmRW2ZF9Q3KSZHt8we2aYOiaJ74JEbBBZmMQBkj5mO/8AOqrjfwIBxTRobQs2lRAMxz7tNO8MXyBMzSdAt9ybjfONv7D+80aGiWIKDAxgT7dhxVfT2CgjEkiY7f57Z+VW0yxX6E/5qsYqOyMB+seHle0YUjkx2+vuD86ROp+G7lld/wAVuee6+wYftnj6V2O5bxHalfXWgBctEYIkfvx/z2pqAJvhW4yXODBxTl5tUNJpVXtV6QKASW28iieg6aAJzn9f29qEkwRFHOmaiV/lRRidLeammoya9JomFHygTxW6WV9qysrBN7unXYTA4NBblwqkgwaysoinLfE+vuNfyxxx/L/Jqh0e2IuN3DQD9Tn+lZWUpkU+uXCWMmfUP6T/AFNAr64rKymQAl0e4WKgmQDgftTS2oYmSx+KOe1ZWUDBPprlis5ovfQbaysoMKPNH8M/L+9TKea8rKUwP8UcL9f7UKsMTzWVlJIKCumMAxVm02aysp0AK6P4k+opytDK/wC5f/1rKymCi31AwoI5kH+tTFiGaPYf1/8AVeVlZm6BFzCn6Cl7rXIPf/n+KysomKdripTWVlKYljFW+jGLjDtANZWUxgywrUHNZWVjH//Z"/>
          <p:cNvSpPr>
            <a:spLocks noChangeAspect="1" noChangeArrowheads="1"/>
          </p:cNvSpPr>
          <p:nvPr/>
        </p:nvSpPr>
        <p:spPr bwMode="auto">
          <a:xfrm>
            <a:off x="307975" y="-1493838"/>
            <a:ext cx="3886200" cy="34290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5368" name="Picture 8" descr="http://www.webmineral.com/specimens/photos/Chalcopyrit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9238" y="376068"/>
            <a:ext cx="2456787" cy="166917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7472773" y="409352"/>
            <a:ext cx="1358898" cy="369332"/>
          </a:xfrm>
          <a:prstGeom prst="rect">
            <a:avLst/>
          </a:prstGeom>
          <a:noFill/>
        </p:spPr>
        <p:txBody>
          <a:bodyPr wrap="none" rtlCol="0">
            <a:spAutoFit/>
          </a:bodyPr>
          <a:lstStyle/>
          <a:p>
            <a:r>
              <a:rPr lang="en-GB">
                <a:solidFill>
                  <a:schemeClr val="bg1"/>
                </a:solidFill>
              </a:rPr>
              <a:t>Chalcopyrite</a:t>
            </a:r>
          </a:p>
        </p:txBody>
      </p:sp>
      <p:sp>
        <p:nvSpPr>
          <p:cNvPr id="8" name="AutoShape 10" descr="data:image/jpeg;base64,/9j/4AAQSkZJRgABAQAAAQABAAD/2wCEAAkGBxQTEhUUEhQWFhUWGBwbGBgYGCAfHRsiIBwYHyAaHBsiHigiHRwmIB8cITMiJSkrMS4uHSAzODMuNygtLisBCgoKDg0OGxAQGzAkICYtLDQ0LDUsMCw0NSw0LDQvLDIuMC80LDQtNDcsLywsLDQsLCw3LywsLCw0LCwsLCwsLP/AABEIALkBEQMBIgACEQEDEQH/xAAcAAACAgMBAQAAAAAAAAAAAAAABQQGAgMHAQj/xABFEAACAQIEBAQDBAgCCQQDAAABAhEDIQAEEjEFIkFRBhNhcTKBkQcjQqEUM1JyscHR8DSyFRZDYnOCwuHxJHSz0hc1g//EABkBAAMBAQEAAAAAAAAAAAAAAAADBAIBBf/EADERAAICAQMCBAMIAgMAAAAAAAECABEDEiExBEETIlFhcYHwMkKRobHB0fEj4RQzUv/aAAwDAQACEQMRAD8A7jgwYMEIYMGDBCGDBgwQhgwYMEIYMGDBCGDBgwQhgwYMEIYMGDBCGDBgwQhgwYr3irxEMukKRr6nfSPUTv8A98E6BZqN6nEaSvoaqgf9ksAfpOMkz1InSKiE9gwn6Tjkf+ljUrU9Y1am2fUuosLSN7MRI3tHXHSuE5WnS5FgtAJMCTvJ9p2HTA3lNTpWo2asoMSJ7dcVzi/jGlTlaX3jAbzCD3br8sV/xTxryMwRT8tVKAEFbiZuCI0mfwzEQeuKhnaLgIEEg3C2JYEm47kW+h6jG0QnftM6lF32j7NeKajSXzFRSQdHlwBIIsACNSm97n0OFmU4/UZmc5msWEklWeEHSRYGOoi097GNlM5TknyghK6SxZdQlrlVk6uUMeTtfcTFr55l+7FVizaCjMFiBPWdWpV6C5PaMBG3wjNQPAl/4N41qBS1dGZCBpIAVr2+ExM7zHQ9Bi18C4yuZp61GmDESD6/3/ZxxTL8eqKrayUBWVKkkhiTzFTEEkTtG5vJxPyvGKlJGr0KhSnWGlizAlTL6mBAChrLBEmGwEbWdothVVOzZnP06a6qrqgmJYgCe07euJC1ARIIjvNvrjhPGeI06zKuVYLQSWU6mkswB8xyx36XuBj3K5ghFpuxJIugYEC+wve02+vQYbh6ZsgPtJ36lVI952Gv4jy61AmuSeouo9C204aqZxwXglQpURtSgDUApjSSNJgnZpIixkdLg46f4A42K1NqUEGiFHoZn4ZM6RHW4kYQ66WocbSgcWZbMGDBjkIYMGDBCGDBgwQhgwYMEIYMGDBCGDBgwQhgwYMEIYMGDBCGDBgwQhgxqr1wu/Uxis+I/FJov5YTpOqQfyEke5wAXCWDP8QSkJY36KNz8v54S/63UxU0sulADLyTBtymBue04qyUqldlNVjE3C6oY9tUAkDq0x9cafEZy1JQtJA9NCGcux0DV0Bkm2pTYEX6RYJUHTzN6dpI8QeLM1VgUV8mmxsxPxC0mRfY7CPc4qWcrpQqaBzVH1NBJYUx6tuCTe9+mIq5gUtWh9QVpVoNxJAJ6rO5BgC28Y15qkampVjWwAIMASxAA3F4Mx269Rbhwa9xtEtn8OhXzjLhup4JLm6jQSCBqsXBMhTO3SfXDyvxqoqIzVPv1LK7yBaYIAAEX3kGAN5F6lmA61QiEq+vSmpp6mxZog3v74k0s2z+Y1SgAgY67zDEGYaCDzKTBk9iIurMqY20gTbnxUVztxxJOcyTZhqrsSSxB5hMCCCQZ0kkgCb2/CJwrXh1y/mMqqROkPME8sQLAg72A7GxO6lJQBlYS8yrJYSdIYrESYGwN5uZw38JtNJlfSKaay82apqOphBiOUqRfoQNsKysEFLO41LC4oyNFRUbWzKgHOYIBOoSBc8s6YJvse05ZHJqajJSb7sgkq7XdT+Dc7ysEdRcd2WW4X+lV6hpKdC6paAQJ1AEMDzsReDtJ2nFg4P4BbX98wFNeZNBGpiYnVuFsBtvbtidiSauPUgDzSq5rL0WZWYiRpMgmZ5TJAW8XmATtbfCrxFnxTrrQRPLpAKSpJMkidTQTBkkBREWi2JeX8DZ/wA2tUqIKKUpYE1AZhpGkqWNgJm0wOuJVSvlfPVnXXVFJW5UJ0qIjtcGYtIicUnN5geTMZMa5BQ4iCkIcakNEAglmLFth0JJg2O9p6zhlxbKMglGpySGKioW1DcR1A6TIm47Yl0eGowcLUfVYkMCTfm0s2oyJMWG43O5RV30VEGomBcSTcdzPptNow5MrZPITUw2DFjW0mynXWTpTSJhVQruTYdpsFjrAwx4dxKtla9OqAbEMZJ5lJFjvAYd7AmcQEdaTJoCrUtFwwPqAT/K1u+NWcylQ+ZVVjJM3Jlp1Ald4A7fIbWHD1tMBU1UZ17hv2j0XMVKT04MEyGAtPofyxdqbggEGQbgjHzjkXzDpp0Km0sHvpNhI1WHxETG59Md58JZgPk6DLt5YHzWx6nqMSlSpq5s12jfBgwYJmGDBgwQhgwYMEIYMGDBCGDBgwQhgwYMEIYMGNObzSUlL1GCqOpMYITaTiseJfFYorFBfMc2DfgU/wDV7DCDxP4tqVQyZYEoN4iXF5iSDteO0+2KVVFV/varASBpRdgIiTFie5PcYpx4RsWPynFcWb4H6xlnvGFbyWSpD1GkGpcE7QAARA7XxBTL5iurVAzMXLSxu0AiTpja0b98a8xw2VU6BIM9SSPrbft8uuN2TyzIdSMSVI0jUQCTI0mJIEm/8L43kw2Kxzq5lXc8essVCrWydO5o1dC6VLAI6BV6xOq4FoEmDa811EFZy3m+SusEMfhUFhJ0yI5dhfffG3iTu9OquimCZvJOkr0F41TqU7yMbeC8TFOm/mqwqMh0ShaSdIIH4oiRqHcTYYiVGRSzDeNJBO0j56hQV3CMaqEC5N9tRtEAzHaNu+IL0RUcqodIHMLqsdCJBBJJHQdel8WHja5ZK1UoOSnyqAliwkEAWC6WEE9INsQMn4i8sojU0fLs9wQytygNqidIDNEX6C4mMNxdQyracgxD4dTbntEnE6QpHyyv3iW1qAXKtDK2nVGzHcycb8nmnaj5EIKZreYABPOoC3IMFbAxFyJ2x74k4yc3VpOtNVgBVUQwEkEaiVkwJHYHDPh+RNeqKNOoRzQSANMaT8KsNWn4QVboO98MZrTVkFGMc7BV3kZiystQVQVjoI0gG4JkEbdOkxvZ94cyLu0OCEG7PTuRzcoklYuTqF732GMa9PKDOjL1anl+QFNzZ2gWI0wWIIPQiBAxavGOfFChCCZGkgLqsbdLhe7WgY8zIW5lIYUFAkjhPEslUJo5YqfLWSqCAAIUTYT2n3w7mHAG3X+mOY/Z9RL52tWAVUQGmNAIVtOgDe0CJj1x1AgEg/O2BGJiciaTUzJ5pxxjx3wqnkM3UqlQ36S4NIFZCrEusWHxm3oeuOykgXNuuOa+IOI080ac2qKWJTVykEgKwJBIBUarWtF5nDQaM4ljiUzOcCq0QtQOXV5gwVcao+IT8I2se8Yxq5GpTWSWiVkCYF7f0+Zw6zbaQ1VXLMBI17RbSAJ7yevfC3JcS89ah0TyQy6VVVabXJ2ienScdTMy7+8a+MMZjmqZLQ4If4tRUGwiAyybR9O1sRA9NQ4JJK3S1ttu8yZHSx743VMzrp6AArKIOn8W3xGSCQdvc74T1qbHVEsZg3G57SJA+fQ49B31AECTY+nZDYjtMsyRs4+IlTe0y0jt8x8iMdf+zekVySk/idjHa8fyn3JxzThPAmVNVVjoYRa82tBm+wsR12GOlfZ2hGWMm3mEKJ2ACiPTExRB5hzNOMi0rcS1YMGDGZmGDBgwQhgwYMEIYMGDBCGDBgwQhjxmAEmwwn8TeIUydMMwLM06VG5gST7DHK+N+Ja2ZedRZYEIpGkHta31wxMRbftNhCRYnUM54ryySA+sgGy7T2nbFBrcRbM5iHqAl2gDoAZEKPf+E4SrTdg4RlU0qZq1JPT4QJ9ztvIGEB4l5LJpY1CACNKki5Mz+1/UexLF0o228xn6dnxlAa7XHfF6LZeorUqjKALMWGvVMC25APb/AMaqdYimoCF3LNAkAbkyTEWEd59MYVs8cw6uQECcpVUKjoQJi8m57YZZnNaNMhmlb7RqiwIm49+24xQlZH2ERnZ8SAnc/vNS0HD6mJ0qpLdzAA+Hpcge49calzaAWgs4/E0dyulvSfXGZYteWIMXB1SbkiCe4AuJ+UTFnbUhBJAi0SY39ehPpfFShV7xB15Bpf053Hb07m/2k3N1mWAoKxqe1hpEmTM8t/UTB7Yy4QtN6LPUdRVABX1ll3BEkbyQRAEk4WU8v5tLXT5iHPLBg30x63b2g9ScMFyVNEWoyINJkkk3IDhonSDcG09CIOJc2VGcJwbqVYMTLiLMb/eZ5RqDEDSwBQGQZDGCTcGxn16jG7NZamqZlmgq6gJzcxcFSDAk6V5pG1+98KlVKAGurCV9L6QbhpJJciTAEDeNt8LuI16ZkU2LiTBY3En4b+0/WRth2XSqhLoTWBaQgDve/wDv3i9aYK1C3KoG5LfFHLCqD+ybnv8AW9fZvm0Wv965BqqoQEd5gXup5fa69xFIydN3R0VEYszGS2kqAREiIHX3j0GOieBPCrOq1sxUJRG+5RSCJBI1ao+DoBvv0OPOysrA38o5yQR+ftHHjzw3ldD5pkK15UB0aCSxVQSJAMDqe2Kp4or1U4ihql3pBSKaICIVtStzkQ7hdLx/vAepuX2k1KYyTlxqJK2FzMnTHrNsL/CnjENTpUs0G/SFdqZ5eQHUygaxym0KQCbm464nUDQSRfacDEGhJHh80slkKRdiockFnkMzX2HYKCRFoX1wz4fxSkWeklQMafxc0kTB/nAjCrxv/wCtpfo+WrU0ejVmqDuNKMYAO0krzdjI2g1PwZqTPMmqkT5fluEDD4G+JpC3JnuTN74kyVd+keACtnmXjxNxk0qTMhjYF/2dRidjsGnYjbFCA+CsjqwZoUqQYADL2uogjFi8Q8CzGYqaBULU2U8vwiZkLIIkz1iwA63KL9GzGVoiaOlEEKZU6dU7x6yCQN26WizAyBTrPM3hXHfmmlqlF6bNWVBp1ShEWB/DAGq/aZt2wpq8NTRTZIFIyxCyRM6ZuOWygR7kejKqJRRXUMpAvTB2A33sSehJGNByz6FcaQrC0gksNRjlAMHczYQB85cdB/8AGb+MoHhhrMhUKgFTlY3iRGk2spIG8b6t7nrj3O1KulJaFGoLpgRqMkMReTBME9cbhVLaZ1uaamx6LK3M3YyFjqNN9gDpptrYLBImSfQdfWd+uPRYal3oV2nceRTvW/pG9DOOFCJVao1lW8Ai0zMfDJEnYKMX7wFnHVqlCrFjqksCQx3Un8UiLjYg45WFGohi2mIaDBgkbiYja2+3ysXhfiK66dEK7VGdWUk7mVI9hF/l74h8TUwKjt2/MmS5k5N3vO1Tgx5ODFMimWDBgwTsMGDBghDBgwYITXmKyopZyFVRJJ2AxQOL/aKKbNAVaY2Y3nt/4x7454vrqeUrjykEvB3a9ifTt3nHNc9xBC2lYXTzEahqP8hIt0I98Px4r5E4xUDmpYuI+IatVmdkUyCBUcGR6gbCPbCXMZ525ZYzYHltbsNziHkmJ1MBAklQBJiJNx298TsgCSYvpBOrsJ9zB9jixExpwJnXlL7ngH2oes08SYFZAF2AOpQd+szJvMdo3tjVlQbCwlCOX/e0g+3T8++Mq4K1fL0zaW6gGO5tIN77R2g435WiEmGLQN4v/YEYQMR1WfWO/wCSOQbk3L0o3CiDquQJjsT6fkB2xPyfDi660YNJYaQYYkg1AT2DEFZ9RtBOFNPNQ2p7ADTG4gggx9d+t8S+G1HJaJMsjKqnmMki0XkLP9DgzFk2GxilAyHVe0xqZUBXqQxGnX2BBnmUsZEGAZvJ9DhdUrNUqWamS0JTiZAKxcRIA69d98Ts/RdKpapUqIqklXUKCsHUNdJ+a+k2BaYJkiYq/DvEJoVFqKiamMEAgAgxIYD4TN9gBfDulzC7Y/32kvWYMroSm57SbUpVMs7cxBFPy2IbcQNUeki3t9GH+lKzeTT0UjRQyUC2bTDWJF5v1viDnXFSWpElW5R1Ki4CsN5hdt5ne+N2VzBK0zVAlCVLaQDI0m5jeLbdO5w3qMSO6sK+M30uR/DAc8DeMn4qKys3k09FONaooAs0a5ILMeeCABCzBGNdF1zFGsQ6m5iAoYcuzbQJsAeX1wnz1c1FYUVBZgULQZIMHlWI7jUDJIB6YjHJGmdBPNUB8zy4ZtLXgXE3ja9j2xIy+GCFNiXKHyYztUuXE6CpwvKV0p6HBALCOYaWUs7bwQJA77484B4orTSyqVgiSF1kKSuqQQoIEQYIm4MzIthrxJScnlkzYJakymolNWK6UMaQeUagpVT2MkSFOK5xJ6PmlqdNQSIULChYKAMb3MHeev0gBB2PvGY8WuhLFngq0Bl6xeoxdqgapdqaIZZpiT1UWuXjbCDKeBM0UXNsy0qpiro1Q0htWliIB1KNZtuIM3OGnhjhFcv+kUNVSoCtNxUIVYjVNwSyg6RvKwYBOLjxbO+TRY5xhpZVRymvclrAC43AEXN5ItjhcoPWLK+apyGrk3r1HrCroq6vv3Zgi6AEG/TdRABt0EYvPgSjQQ1BTfzKgIFV+jMApkCYA5oBAE6ROKeKNJcwGKFxqdjJIJvf8WrSB16xthjwvLEHXRdVWCmimCrlfiViWN22EkX29BP1G4554/iOQCql+FejqI1AM5vpe8gAdz2G3bEDjeY1qAKgSirTVndlEkBZm8xb+Yxz+tTch6jhmaNSk6Ta3NAMX5jEWMdoxCHGH8h6JYxO+rnIBHLvpJk9zt1wr/h5Nm1X6zWoXUYZnjClSsaSLawbEGQTpBgDfb12xll66MxDEqCAPitIEyL2PxWtue2EWUy8oUG4kMTsLkgxuDYXuMSf0UAAkHSWPNG5kbmJ/ZMx+LbvtcW+kHeOry7y35qglRXJaNGk6ptZdjb1xUMqpViwJVhDow6iwJbrtB9xhqK70lUKY1Az6ixO632JkT8uqurlpdiW0RM3kXJmL26d8OVMmNSCdpzSBxvJT09S23G7apJN4AFiq7SN/XpixeFKrNnMtUdVB1BRpFjKuNRI7etzIxWsjmFUtJKkWnrv0ESO0+m2LF4RC1M7lUBBCMSQoiGEtf8A3YCi/WfXCcLMr7zGUAqZ2nBj2MGLp58zwYMGCdhgwYMEIYr3jXink0NI+Opyj+Z/l88Os3mkpqWcwB/cD1xybxtxc5msJ5USyjqOsnG8aa2qZdgosyt1KzamIAhhyj2/p/PELJVPMLalGkWW0kTEsJ6m0+0YkcRL+Wt2VmOmVMNcRvuN+uI+Ty5RV8vmLSSOw2nsJt1tYb49M7HeRguw1cHtNn6JpGlBGq5ve/Qd+t/bDdeDVVpaqYVVABYkxuNQ7kE9LXt1Ixr4FlgW++Vm0gnSo/p2mY9ugww8ScTp1DTSmxZUXnYCJItBkAtG023wvJm8+hRGY0oa35iSjShZH4ruSOZrLyg2kEkwD/PG5qkISAZI5thae5IH/YfLGWWoyYEt1mZIiZMx9Nv6eZ1BqVSNWkEkA2EkxvvsB9Mcviu31+U5WxLDm/w/3MMlSDsdbhQiGpIG5UEhInSL9fXfbEjJcVXLuHUqtRVYLqUmJP6yZuAJ+g98Yp90GEwSNMemqQCNo3Pyxqo6MxUlWMuSGKsTExJhpgm0GxuIOJziOfJpB+J+qj8mcdNh1MKA7TX4o43UqLWpvV1loUECCtMaDAudOo/EvUx0gYp+S4V5tWxhC2nfm6Em3zG39cOMwoSpUcPOmfLBswubQRH5WPfDmjmcurKfL1IEIp0wp5WYAhtuaGJO8iBJA3vfpkTHY7ROPrGf/HR3veJTY6qZKwAR0YQxgbyW2IMk+tsdM8LeE5p0mrpT2DABmuDcBhAubTN74qPgLLJ+nUUdgCNQKFpLEK5sPhOloI7RNoGL54s8YUaAekCWqld1uqSLEtI23gX9t8eV1Tl3AUSrGmgVKh4lyjUcxWLFwLQxiGAXlNgAI25Y+s4XcC4uVrioqhzTJL6+VeaRvBMlTIYCx/NRxPi1TMU+eq0BiCrTLDmIBO9r8u1xjHJ8MeqFVPMA0qxaAFANwAI5i1iDPXDwNONVy+8euXxFKL2l44x4hWpSK5ZqYpliQJAqEw8mADykk3ME2PbFWqUwFkhS7KBFzaTJY3LBY+kbbYnN4VzC1orAJTK6i0iTY8ii0FbSPbqRiPl+HV1rvrKPp+sMxAHwxpMTB9LjE+M4UvfeW4FRyEHHrLd4Y8TU8uopqfM1HWSIkKNMg2gtBPzw08R56jmwsENT3MrK9xqv0tvNr4pNDhNGmDmGZisktTpkWmQsKBJG4iflacbssKVSmS1S1QMqfhBZWghTzFhccwMWK3uMRZ1N6RxOZenGI2JPpcHo0hVc0BUTVKKqAj4eY6jYLEGxGw6C2OTDMgqJTI0xpBUliIiXUMBEAw24m4JwvfREVMxWC3V9KnSPfo1xEyIv74U5zUvmCnXqMxCgrJhAbqSu+vSADso1LdrwvHhbKdI3i/eauP5mqTpKPqY6qqqCSstChoBALBQYPRtrjEPhlGpqtScdDqQSbAkEFd+vy98SvDvAvM1tVqV9KuAUUlTYkljqN9JkT3J7YmcSyrZbkpKarMxAQnYm5JaTHeTtaT1PrdPhUCn4HxnHXIi+Io59xMeH0NHMFEBS30v3HUH6DbEZKtVW0+XN+ZTzA7c15P09MeZihWpFfMUAgtqJYmCQT8RA1dT1FrT1aZXjAqLUVmvWXTq7sOYFix1FLG6xY9einTQPUfCafxKOoVNPEcw6KVBkIReZViDbrY32EGPnhTkmDNLC4EiTMm1iOt+kdcOjw+u1ME5dlSYssrU3GubnY77GB131LShWp06aFiVZ6gW9NWsVY/sySSB19bCJkXuYvxDUicXqDzdKKVKxYRBO5ubiRGLb9k1HXmi0fAJnoJBBteTJ3xXeM8FelUAp/fAgc0QQbggrNjb4e0Yu32M5P9dUAtyrtF9yP4YfswB+EwzBVIE6jgwYMMk1T3BgwYIQxi7AAk2Auces0CTsMUTxR4rBDCm3Ipgx1/7YyzUQJpVJizxPxVqju8gIBCSbD1jud8U7IVzUMm8m5tciRPcCcReN501W5iQbW2ge0/O+MqWaFygjQIbpMdY/L5YtRdAmdYZtxPSytOswrFgJggHYkje2+JNIIsNpCqk26+s72xCo5dXMhrA2AOx9fXDfK5YPTPLI7bT7DptjbZaGpjQkukl6HrJ+Tpt5RVPiJRiSIkt8MG0A3G0SD3kLOK0QCJVxHLInTUIsSLwVmTMzE2xfODZBFpJYAiCbwDaCDHxRte2EniJhmM0lFXAZQZBYgKNxYCzRtPTriJOoCsT6yh8HiAWeJXKLJUYAAAOwHJCx1N9lHS+8j5YZ/KVaXPoZgxkEAkLIBEkTzReOgv7JkovUreTTI0vUKhp6CzHodI5jMCSOuOiUfHdOmauh9R+GigHLGlY5tx3ggRcQccDvqNHmOKIFCgcRJVpDyEZvK0VSIXZtem8tEifmPphJlaVSrUqqtTy6SgDXAERYne3xTvA0jscRc5UeqzajANUsxlSADrZtJibmBAn5RiRw7MpTUIZlpBjcrYwFJhblm+uL+kPhqSZD1qDIwXuePr63mFaglTUEenoiyzzETpJXvdpna6xjTwDib0KgNMrKIwOscpEMGJhb8oYkiZtE7YxzjGnWOgmyhafmHUWBZQUvudMmBFyPnJyOftWoisVAaSdIEqAOQHTqBkxcxe+2Lda5MddoslkcA/XaSuALprGsi1B5Y5SA2mSt9K/i6xMx1E4Wvw6u7OQwYnpJuWgatMQJUAGQDb2xM4lxJqk0qb+XSWBCtGokmYM6j1ECRbfu1zzPVqEIlOmumdFPlgIAApa14G5a+8Cwx5+XRifyyxGOUAnY1uPeVqtwlqaMCZY7xci8KS0WG/8Ae1ly3FHorSACagAbEadQBkyCJMx6WgYz8S5B6XmCoZQKGBPwlTzKIBI0gyJEixwp1k1GfUhBsL25twoHSIF439xh5VMoGo8x2HFWWlBr8Y0474gqVKlNpKvphdK7zJBIvAuD6xfpDvg/DkNKnUZSKrIAShgwwPTY2YkyB07YqVGgz0TW1IsOyrANoIglSIKhpOmOh3m0zJ8fYKgeuDpA8yqUAHXd4BUEwoFvjAmBjz2w43GhdyDzPTxkLZBI/aSvGVSgpanVcRI1KoLMLSZgCLA7dTPTFW4bWNavSVKZCqoCliWgheUlVmR0g3Fu2EXEqxdmqLMbnaQb8xvBNvboJgHGjL5pyCnmGAGIliotJiZkk9uuFDCEUgG51uo1cy6Z7iVtVVVrSYRRLII5f1bSpLSD6TffCCilc1POem33p1GTM3JVgTstws9AD1tjTWXzPKpUwAwbUWkaSSqFRqt0n57XOHeR4E9aolF6pYryibkKo0j8QhYUX6enW7FiVQCnYfnU8p3uy1gceveWDg5UCmtFudQyNu07S0j8IiSTt/GbleJKKQJ6EI3xEE2EhdrifePQYTV8pVy7GF81QvMV5emoyJkz2gRIJnroPFB5a0xq1bNfUTEEnVqN5BMD+WEPkcHykH53+kvXIzIBR29qijjtPMHMagwanI0NFtjzEaBBjqPTfGRyqhQxuwA6Spv3nqZib2vjovhLwnRrZYVKoIqO2pWFS+jYHte5uP6YrHifh6UqjrOpRAQe8nUbyTsNuu/TErZze8n+2Zhwbiq5eYJYNoE6vgUMdYKkQ+5gGLn2w6RkcEpBSppMFbaRIjcREmLzYDpJptddJYK3tqOnt0v62n/sy4ZxPyKZVCQ0yxgQZ30/06YV1GIZEDLOJaneOOKuKWlwCgazMDsbgHfrMTbYY6b4NywTLUwBFpPubk/XHKslQfMVaK60YbkxDTflNyGaL7CwmBjteQoaEA7DHMCAEmcynygSRGDBODFcnnuDBiLxSqy0ajJ8QU6feLfnghEXjPiyrT8lW56hAMdBI399sVnPcPSlQOqiH1HbVA6yZ6AxvvfGHhnIE1SKxDaJZqh2Yje/W/X0wce4uysKKpIJAAMRzSAL7X9sLYm6XeO2AqVPi2TCKlQaQ1cllQXhenQT2jr3wrrE6DV1c2qLC3UTBNwD12uMS+N8QJzC6qYTy0CkA6lG43/DB+m98e8GqtWcUWJg/BqJIBjVt2Pb1xWbVCO8kDnI4IFgd5o4VTFJLT1Pf54tuU0+RE6aoUCxi7eh3Mwfae2Kf5lXWCoID6haZPcbXE9Bi6f6HqnLeYAx8sTDA6mANoBusAAiQDfEPWBmQCWYq1XJ3DqRFNaaisKbAgyYIBBGsMJg9Yk9LYovjFTRzTHSoRgjrvcaRCknf4Y9b4bUeNMVk1pCgzvOltMgqQOYEDoSTJuMWDIjLV9C1g1eobgPexgwL2UG1xt6HE+LJpbeOK1vFv8AqrSzOQ1ID5gl1cMSWmZCi/IZPKNj6zjnIyhDQUZSANUg6o2kR05Yvt1vjsGfr08ll2eVUC1NB3vK9o+QxyKpln8xiQWJY6tJO358u927dcUYHOupwIShkytQVGamjawPhctIg9bWI6+kR3x7VA0EsCDeDvq6kz+V7jGWSoNV8ugCHqaoAWJ09A31kkmIEdMOh4KzVSUZhTFM31EEEEgAKFO0QSJA+uPSbqEVdM804Hd9RMhUPC9eozK6OHooDJfuGKgc1/xbX6e0fJaqTTVX/ZW1qQV1CVIB25oM2nV2EYudLwu5qUmpVQKKNrSspLN8QD0iIMgjUdUkSAIm+H+YyWUqBmLUqjpTM1GhoAF9Q6DrG5BOJx1Lfe3Ed4QHG05Vl+Kv5rHRSY6PLUlFAAiA1gBrH7W9sMOCZOrXcoo1MgLESJMXtJg9N+pwvSmsljECmWaOhj15YJ6STtbFnynHaNPKpTo06llprUZbSebUxsQRNu8QIsY7m/8ASCzOpdebaLOIcY81xQLaUdYLshlLMWAWx1SBAG+od8C5W0F/uwpO4Vjpi49CNjeZ2OE+cc1My7luYqWLMApJnTJ6DbsPzxbPCWUTM66UgKoJi5aJg6S08skTEXI9sKyjIF8pNd6lvTMcanIJWuI10AgFwIKGDZZImDFz6dQb74gMpSk5FRl/AApBT4RA1SZa/wBextizUMw3D61T9Hb9I1LCggOAJDE2I1EKFubDUt+mNf8A+SSuZDJlaLKEuYC1DAO7gGLkmALzHXHUyuvmWbZmay29yiUkZ/1YNr2sFE25ptJbr+eGtLKZZvLTWjNBApkQRZTJe2rrbsNxOL7w7x1RzWWzCVqNFaouNSjy2lwqyTcESDJjGvjOWoGnoriolepp51C6XBG4BAhDtBN95sYBmI2Yd5PfmsfzKHxHL03VDQBIAGpRpmQWETe+kepEL8ROHWQzFTL0dQa5+FzBDRYnXO25Fu9zfE6umXqK1OkKhVQo3QCAwIfY8zMV5Vjb6omzZpmjSqowC6w9MkopY7dwBttYddyMN1tRBHwgfIbqXvOUlSnTepVGip2AAk9QQd9JPxWuZxWs6B96cvV2vIJUDcDrqvBFv5iM+OcDzFOn5jLl1VVXT5ezSxhgbBqhLTYtbc2E2bIZzLUMuXo0VZYT9JEBy2skOhJa51XM2id4jEyrXA5Mpy9WGFVKxw7xhmUoNly6KAIUiA41GSFbbVBO9wZ7Yjfp9arRCO0uGI1mZLEn0+Lv+W2DjPHKFWqagTywrAUqVgFFmNTlAOokzAkEETtjzJNlgGR6LOQRqrU6hOjmiFBGmBMXPNAg4a2Na3EjDnbtF7g6tBILW2v6fmYjr9cTEyxrahsAhuV36AA35ixj/m6Y3PwD7/yqVVCZhSQVLRGxaBPzvuMByTUviBOgxrXYaSCT7RYSLSvtiZHCrUY13H/2cV3zGbpIaSKKClmYDmPKUUMZuev59TjtajFN8B5b46pQIzQukQYgmSSLEkmbW2xc8Mx7i/WJynzT3BjzBhkXPcUnxF4vVX8umNQBjV0LD06gfxxYPE/EBRy7k7sCqiYuRjmHAld6oSno1EWZxIX1jqcaVQwNwupaEzipQRTZqksR1JN/kO/tiiZviQOsEkzKsxvYmY+e/wDZxb/FGVHlhi4Jp6VMDct8RPp1t64oGarorQobQpm/Ug7i21x7nBhUEkmcykgbSSculU2IVVUaSDABt8U7k+nXGjhGVbM1vLQTUguSYEQSJneOYTHXphPUzEWVjcmBHe399r4uHh3NNkkqF4JGiYIIlhsDGoG0EegxlnAQ736TYxUwNVLH4a4VUy7trJCI7eSlrarFpibjpOH9WsSTeBO2EuU4hUqVCJ0NALIwDFZE2g3MHv09cMmomoW0GAAL9ZnsREYk13HkUd5gnDKbEVCvNqLSPYifoTiRQyoRdNMKWVYQsZNhbU2+42xs80CT/d8VfjVZRmPNy+YRayoBUQmQ25AYT69O4wsMp4mgCeTI/wBo2UrOtPSF0gkEtsCQLwPWYvijZHh1So1QIATT5WMgAdOZiYKkWtOwtjoGU8SvX066ZCsGQ+WTrVwCZU2tIgG0Hc2xRM7WqIr0mJGguGhwNcwWLQoJMmbzeT6YbiU6rBnTkIXSRLPwHL5bJUqjCqPNM+Y02Gn8KCJKbCRMn6Yk1ajVKYq5UU3aSBUcdDGplIuDIAkC+Kp4b4N+kKyhXHmwVeVtpLkW+IIWtAjuegxeeCZOrl6So9NFIA/HIYn4i3LYyDeb+mw3kUAk3Zi1O094bkWpLIqkgiNIAhT+0O89Z3tteWTcHFajWBKpUzFMqxAkG0KxmJMG4/sx3YAKC0NqVTCkg6tv3Tf2F8T0qNSqUqYBdKk3tKEAmT3BiLd8ZW+8H9ZxqvlKuXr+VVVgUN95iLRNihN9jbG2s2qQuoLMAyNbSLCBAEnqTEA+xsv2gV0TNU01sraAtVh8KjVKtH4jBawjp64UZ6gGqGm5AYpEhI6mSTaTBMGbSO2PSwsxW4p8Q+0T8ojq8RoF/Lp1H0wFVi1zF7sLAG/1xKoZ80lBok64ZdQJGkDey72We23riDlPI0gVKADUyplVBBUatbVDvuVuBsfQTY6KA8gpq1V1BsQVAYggzusQJnpFsb12NAWz+07ifw2Zj9mvlK+eKV67AFydIaSoIsbGLSSRYA+vSca6ygI9FU01WIZnMllCiDTAAAuTq/sQ68QcM8mV80EOpJFxF7gpBCgkTbEXgvDoDEq4qE6UEMVll5QZIixaDf4hG+KU6XGoGoxadQepyaU2H1/c18N4WILfHdQNRtJBLAyJO28/1wwz3EaitVDP5pqwugyBrNgANQjSPcAxvaGpyoWmENFatWYKqWYi0FWedQZgpsOg9JxXOM5ImmjBIrKwVlYw512BCx/vJFzB7YlyKuuyP6lHh6BoDWR8I/4XlKaJNQuWKhoB/E3N1M9jcdPliucZy3/qVBMLDHSbRJa/zAkkGxMGLYerxGUNRlCDULqLTMmfxCTA1H07YTnNrWJeApZSohrrDtY236k+3QY6Kd+O831jqPgBJ+SorAR2ZmkCnTO030kEmwg3FtzO+H3ifNZelTXLMAa7BVlFEOVFOCWiGFz8yffFNXOVadUVaTCaV01km4kk6YgnoNU9bYyzS/pdWmrOwqXJqQIm7AD9kXi9xA9AFdSh1jagJJhQBSQbuFegtT992RQzOQv7IuZkG3UgQCLC29KtUU/Lq6vLZhIEwYjZgYY8u1xbrAxjxjg9YsqgF2QrHlKxuQtiIMDpYiZJ6xhzxXgZpUEP3gfUTUYoYC+g3gEN736EYW2QKNIjQp+9Idevqq+Yg0L/ALODdY0gEEmdQHra/bGxMnIiq/lNUQGmTuwlgVbsDp3PcEWsZ3hmhVFcZmrTZ6AjU2g6ZIu0k7iSe1hIE4053iFCtnG1BtLOdDQLAAKp1E2LEbie/XEDjn2jwT2nVPBFEpRAJm5v3xagcVTwhxKmyCkrS6rc/tRAJ3J3I374tSbYoxkFQRJX+0Zlgx5gxuZnP/tQzJ10aQMWLH6gDFY4Dn0oZgNVssaZiYkWP8p9cXD7RuDlgMwskgBSOwk3/PHNuM5Rws9xa8ztY4arDTpvcw0km64lw8T10OVFan94GqTESbSIgEREAe2KBkqlKrVPmnkEtp3nblHX69sTqNRhTZfMDJAIK7gkfD6kRGEeXzIDEMPTUotuf7nHOjbG4YHb9Z3qcOZWBXe/w+ckVaARkNNmIfaViL+uLPwOo7k0wCYCsdC3JBmY6xebTiuZ6owpDQVKAEXHNDdyfUW2x5wzi9amQ6lgQsWtIIg37neY3wjNiN3zKUDVTczo+V4SyP5k87fsiI2AGEXGfFlbLs9M0vvBIElgWAO4t1FxfGzw94z82rQpaYYmJ1giOhv+Ixif4yzlByEBV69RCAygEACSOovExfecTBdJ3nbuIafHf0rLaM3RcKrhWrITCm0En8NiL3+uK2mURqlQ5WWPIw1r8I3M76vwiI6HHmZyQ1Tl6jAudJMmBF9OqR1uAe2+G/gt2DujKE5e1ieoLRH/AJGGAKtsvPpOm63juhnWTK06roQzRCoCBJF6rSJ7EiMKM1wGv+jtWK6kkGoxHoCG6lgJ79PTE7KZem9eqNbE0qgKhjYLKErccw1SInrhhms3VKmkuaagoWoxsYcFiSBJjlUhRHbAjAGYYEjaVrwzxVi4CuoD3qMSoNiRCLMlZHcG5tbF743mteXbkpqdM6ridIJk3gEjUPmMc2fh9MKWpldeqPMJg9AB5ZMaR3EzcECMe0+IVAq0y/KWG0bTJESOu30JxSenLjxF4iDlVW0d5sqB6ICh2Y1wD5aPOlTF2OkxMEbyLm8Y6R4e42lYJUECbgMwYrcgSf2jf3xRPEfDfLSlmBTmCvmU+u0WYXMxczvGJnBeLCiGqaRBVLCAF5iqqANwZnUYPfpjBIYWsN/vRz9o3BFqaK0MAGAdkkwsHmKx0Npi2rFMy/EKZp66xZ6gtc6hCiYuR7A46Hw3xll3fyi1iDJIsL/CZj67YQ1fDPD1qM6l7kqKVNjpBkS+qJABtM6RP03jyNj3MYGUjSd5WvD3GaQzSFqEgwXkwByvAAjZj3uAtpw54Bl2dqlZ2hQAtMkcrfFqAm/KCNN7ausYtGR8M5RKoYtUMaiPMdSCCBq6AjpsZExhLmMiqPV/RHerTy2nWplgFYMdKQfvNJIkG+5kkRhydUGeyfoRRwKUKmL+NZl6g0qvmFOYgmOaGFwSYhTpiwnscKqGdrVGd6mgnzQ8g85uFEGTAAt0N+tsO0zKGkzABSw0i2nSDedP7UArY7kmO6OoyJC8ralm99TPeT8TWJ2AFpBuZxejo+Sj2i8wYA6B3A29PraN3aWaFCecuphSYghdRhmY2UlxboB3N8LOJ11zjUqSl35SrE2JMBSy2MzF73v2jGfAXmrVLqS5ADgnSGUyPKCmRd+abXmdwQwo0A9KmVlWBamoLHUoUgBdAFxBiWiZ2O+EudRpp6PT4UZ9jtIFPgYFI03LAEkiYEELBuRYXAkgiJPScV9uF1kJCJENtpYhgzGCDBGjYz1mwOJWZzTq9QUySUbSYJhiAdVpgr1PL9Igt8oVq1abVBswKvAXWQdmUm8CZAAE3OwxO2QIusCprqMSMaHA/WICihjOvWpBuCpEKxYATPxFRJiNER1w04apMPTEaYFRyjNzFYLT+JjJtA32FsSPFXCa1as9XWkKlgzcxjUYUAX3kgWETiNl8xUy66XpO8GzKQEFwTpIGmZ69O1sGLKuZhrNRTYyq6gtgfK5Pzddcvo/R6ly0kieUQSSvQgm3tPfFizPGlpZP9EqlazFVCtAK9NzHbbYnFafUfMZnCrTaNSFZ5ZiBB5el5t88LMppZ28sLInmIHcyVsek/n8t9V0oTzAybH1mLMdhUlca4nVp0DQy61QkanDHpNtYsBJ/COgE73gZTM06UF3lC11AF5UXuLAEkb9dsO/E2R1UqNdeVaiCm4JmHWYFzJOkmIFhHrhCNSKy0XgNqDgkc3qViOtgB/PEuJDVgCO8QcDk/Vy4+CM0DnKNRBBZ3XQCYCnqT7GfkMdspm2OA+ACi1adary+WBCoIDgbGNpFxNp698dy4VnkrItSmZVxI/ofUbY4Ws8VFMKk7BgwYJieVaYYFWEgiCO+OXeLfCdenU1ZdGekf2blfQjr7+mOp48bGXUNNpkKHafOOYqtRDqpViTpZSl/cA7EeuE9NRJ5Tc7CwvEE+k/wx9BeKPDFDNqdShanSoBzD37jFGzf2ZuoJSqrn9kgr9DJvjuKl559Y45muxOfrmPLqaGYugI1gGVv0HbHi51pIWNJ/Dsd/zGJvEuCtl9Wqm3NbUGgexnfCRSCpmJkwf7/nigBT5gbE62Y8HYyTmMm2sEAptzASN9wO43xLakVNUrVUtQGqw+OYBJg9JMx+WNfCyzMiA8xIME79Y/LD3MUWy1cVzThCTrCnXKtvI7gwcT5SrNtOAMBvNlLg4y2X82qfNNYfqkUnaIOq2mxuYm4jDLO5zNqtSoy+SyUxURVXUpGkwSQCCJBtHQd5xV+N8f8yvIqHyLgBlgL0so2Bgb/wAsb/EGbdqQVS7yqzAGlQJgDT+EDrY3g2wi/MAw57zZHl2i3I16jV/MKqKjaiBOlV5JsN/rvsLYm/6xVHpPSIkGIJILTYmYUWkkAdPliBwzLvRUOFYlxDlo0gASpSNgeoMzfGGSQhT12BJAEb9t4P1x6LYFreeamVjkNHab6a0lAKdRzqT9fzHT03xIrZKnU1FdCMSNFMAwbkM89rFvWcReGnVBWN4KmegvHbr9bTGN1UQpUOtMgbkj5AA7k+mOrkOwHEY3TjVY3P19CbjnKtQDz6ur4iC1pAsNAAkEC5O8XM7GGnDiRqMyTpIBsYsDcA7T9bWw3yyMxlBLaASCLqChGq1rk/Dt6YmZ3LoAWQ1AtiRzAGCLmI0zEG0kdZjFaYVAuu/4zyep6yn8MXZr5fx6xbTqr5lOkwZXHIVVYf1MxdpNhPQm0ibfnuKZdMsFQhJEB6cE8t9J3N9r/OJxS8tmAXLEoRIYA3Jg2B0xzECem574sdPgRzFBqtOtTR3IIIGkKdLq1MmTEtF/XbpiLqU2DEy/pWOsrVCuY/yfHVzKVaiDzKZYCnqABVtChgfZix3774qvFi5qh8ppVVCB3RgNT80TsGadMxvF+uFNR6mWDZFw1NFchqiSGOqwcmw0sQrAWkb4i51PJcU9epAV0EMdBABYFGAB0hmcna5NsRDCdWomeiCOJYchmVqKQUWCY1NEqIbmvMLqJ9jcxvhFScvW1gQp6QLqu+wjofTDjLu2il5iLTbUXVmU84XURpLHmaR6zI+bbwnkVqNSpoy03pVtegjmamAGiRvcmZ9JmILEGgaiJzxDdCU9szDBdOoqzMbyYMQTIgRv69b3x7w+tVUt5RYVahl3i8TuxN1PxHFw49Vp1M5VXywAZQXKEMBN5gaTpkSIBPthHSdEqNr1BdlUbCAxlYMlZANj1tO2Nay6krzK8AHeV7L0PLrjWC51AjXIEgnUDfUWMR3m24w14LnLMzIgpsdNrRME+wi1sWXIkU6VV3Aeo6qKjNyOL3CMBqM3EyJvO2E4XTpSkJZjKgCwvab2Eja9t+54HGQEOKHrGBNRs8dqkPi5DNNNVUARAMg/7wNx3FsWjNcToZjL0cqp1vTonS55ZcALoAMSzX6EG3U4q3FslXDDUAoPwkuvsRqn4pJ5Te07DDEMtCmGaiCNJp1HVgNZDiSGBkkQIMdvbDMWPxPs/Qm8+RRjF9uIozVZVTyiF874WI1cpCiFKRAJJClp/D6nErhflrTkkBgwGkabgc08wnTMX6icauIvSTloktoHK3xSTpbSDFrlhtsThVTzDM0s52mCbXnqD0t0m52xRkoAhtz2kCJq8w2v2nQvDnChWy2Zy7sHd/vE1TyM2uHiBB2uJ9e2KGKZVPLUSwc3vBmLD1Bj5E3xO4FXra18pyCSrKVELKiwIJ20giO35wsxmCatQBFSmzkgm2mfwgzEenv3xLipGontFuGXdY34LkmINUygC6bL8MQSL23JJneSIOOh/ZTxRai1kECH1wsgEsSCVX8IsLA7zjkOR4pmQipTd4Rjy2gEkGQSNyb3ub9zi+fZNlzSzRLsddRWBEWJmYNheAT12xkI5JY7zuQip2TBgx5giJljW5xmcanxwzommocaTjY2NZxmbEVcR4DSrAq0w2+Kbxb7NlCsaPOY5QTDKe4Ox+eOj4BjIUDYTWozhjeHc7Qq06tWmzeW4ltIJ0+4thzkqyMtaqQRAYHULjqCO94x1ipsfbFD4/8Aqsx+6f4DCMyyjG+raU3K8EoV2Bc6yRJZNwR0JiD9PnjLOcHNJDTo1uVwFHmESrMQQS/RLTGwjG3gf+HX3fHvF/jP7v8A9sCOwcLfeayqNzIdfJZqiB5lMvCade6NOxJIjtHtiAmaqMVRyGAUISAFsveI69SN8dBq/wCBH7o/y45ydl98WJk1uSRvtvIhiCihx6SXXohSstpACBZmB1J3sNo6b32GMEygqVAqjU7EAaja56dRe3rf2xl4h/VU/wB1/wCAwcE+Oh+8P4pigC9px/LGzcOzGWdgGViyksRewkkgGCIFrCL2ucbPEGVrUcutdoZCQg0n4QZuegB2Bm5icbfFfwN+63+ZcL+K/wD6/L/8Gr/DG8uV0xpR5nl9NgxZ+pyM67g/VxFRoefJnmUbEkAkSbASJG17EzO9rnk83lzSpZXNFtRpB3mAabF2IkRq1CZ69LGTin8A+Cv7DDfjH+Kyf/Gqf9GIGyFnK+k9vwgKjvxvwpKGWy7NUepWshYtzMoVj+Ri/ScVHhCDzlcqzlailAAbH4gSb21TAAuTuBi4/aj/AIbJ/uP/AJaWKj4f3pf/AM/82N4ydEWRxLz9ouaBekgK/CajSL9l9IJLbXiMV7wpxB0zRdaWoU0IDEWDEgbiCAbjr9BOIv2i/r0/4Q/zviV4R/H++n/xVsDmsG0egsaY9482Uq11YsoNVCGbVGgrpA1WgAzFxeBiuVeGUqToaDCpDiSzcpLJq5WAIgRYi2wg7ljm/wDD/wDJ/wBYxB4j/sv/AGx/+OtiXAdwsrwp5wJu4nnBTJCVRU1AAswM6WgBG21RMWMjrtGF2Y4utPSxRgQFmFGobEPMw2oGQT3wv4r+rX98/wAsJMn+oqfu/wBMel/1rS+n7zpOg7dv5lpy3EgT5tOmdyyVJmwB2SbMovEz8Pvix8Syq1aTLKUiGKgVAqWUBigb8LRpaLWBsSZxV81+oyH74/z0sGa+Kp/7r/obEjXzcVkyF6JkriXB1yq+XrVi+h2081QyC2kJ8On4Qb7E7gwVHkVGBp6jNS9UE7AXGrrO39cXav8ArX/dP8Mvin19qnsn+anjuN/JG4serGWPaMKXB9VEimCTThmYfj3u19PLC+vP7Yh0qNAUQaiutY1BOxEROph3sQPh+KTAGJXA/wBTX/5v4nCYbt7/AMsJwk+O6E+kR1CgCTMxmVVjoUsFJ2AHT8QBt0ttfFo+zCoxztOZhtRieoR+Yjabt639cU7hnwn5fwxefsv/AMbR/wCE38Dj2nAdC3G38Tww5RtHO/8AM7LGDHmDHn1K7n//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12" descr="data:image/jpeg;base64,/9j/4AAQSkZJRgABAQAAAQABAAD/2wCEAAkGBxQTEhUUEhQWFhUWGBwbGBgYGCAfHRsiIBwYHyAaHBsiHigiHRwmIB8cITMiJSkrMS4uHSAzODMuNygtLisBCgoKDg0OGxAQGzAkICYtLDQ0LDUsMCw0NSw0LDQvLDIuMC80LDQtNDcsLywsLDQsLCw3LywsLCw0LCwsLCwsLP/AABEIALkBEQMBIgACEQEDEQH/xAAcAAACAgMBAQAAAAAAAAAAAAAABQQGAgMHAQj/xABFEAACAQIEBAQDBAgCCQQDAAABAhEDIQAEEjEFIkFRBhNhcTKBkQcjQqEUM1JyscHR8DSyFRZDYnOCwuHxJHSz0hc1g//EABkBAAMBAQEAAAAAAAAAAAAAAAADBAIBBf/EADERAAICAQMCBAMIAgMAAAAAAAECABEDEiExBEETIlFhcYHwMkKRobHB0fEj4RQzUv/aAAwDAQACEQMRAD8A7jgwYMEIYMGDBCGDBgwQhgwYMEIYMGDBCGDBgwQhgwYMEIYMGDBCGDBgwQhgwYr3irxEMukKRr6nfSPUTv8A98E6BZqN6nEaSvoaqgf9ksAfpOMkz1InSKiE9gwn6Tjkf+ljUrU9Y1am2fUuosLSN7MRI3tHXHSuE5WnS5FgtAJMCTvJ9p2HTA3lNTpWo2asoMSJ7dcVzi/jGlTlaX3jAbzCD3br8sV/xTxryMwRT8tVKAEFbiZuCI0mfwzEQeuKhnaLgIEEg3C2JYEm47kW+h6jG0QnftM6lF32j7NeKajSXzFRSQdHlwBIIsACNSm97n0OFmU4/UZmc5msWEklWeEHSRYGOoi097GNlM5TknyghK6SxZdQlrlVk6uUMeTtfcTFr55l+7FVizaCjMFiBPWdWpV6C5PaMBG3wjNQPAl/4N41qBS1dGZCBpIAVr2+ExM7zHQ9Bi18C4yuZp61GmDESD6/3/ZxxTL8eqKrayUBWVKkkhiTzFTEEkTtG5vJxPyvGKlJGr0KhSnWGlizAlTL6mBAChrLBEmGwEbWdothVVOzZnP06a6qrqgmJYgCe07euJC1ARIIjvNvrjhPGeI06zKuVYLQSWU6mkswB8xyx36XuBj3K5ghFpuxJIugYEC+wve02+vQYbh6ZsgPtJ36lVI952Gv4jy61AmuSeouo9C204aqZxwXglQpURtSgDUApjSSNJgnZpIixkdLg46f4A42K1NqUEGiFHoZn4ZM6RHW4kYQ66WocbSgcWZbMGDBjkIYMGDBCGDBgwQhgwYMEIYMGDBCGDBgwQhgwYMEIYMGDBCGDBgwQhgxqr1wu/Uxis+I/FJov5YTpOqQfyEke5wAXCWDP8QSkJY36KNz8v54S/63UxU0sulADLyTBtymBue04qyUqldlNVjE3C6oY9tUAkDq0x9cafEZy1JQtJA9NCGcux0DV0Bkm2pTYEX6RYJUHTzN6dpI8QeLM1VgUV8mmxsxPxC0mRfY7CPc4qWcrpQqaBzVH1NBJYUx6tuCTe9+mIq5gUtWh9QVpVoNxJAJ6rO5BgC28Y15qkampVjWwAIMASxAA3F4Mx269Rbhwa9xtEtn8OhXzjLhup4JLm6jQSCBqsXBMhTO3SfXDyvxqoqIzVPv1LK7yBaYIAAEX3kGAN5F6lmA61QiEq+vSmpp6mxZog3v74k0s2z+Y1SgAgY67zDEGYaCDzKTBk9iIurMqY20gTbnxUVztxxJOcyTZhqrsSSxB5hMCCCQZ0kkgCb2/CJwrXh1y/mMqqROkPME8sQLAg72A7GxO6lJQBlYS8yrJYSdIYrESYGwN5uZw38JtNJlfSKaay82apqOphBiOUqRfoQNsKysEFLO41LC4oyNFRUbWzKgHOYIBOoSBc8s6YJvse05ZHJqajJSb7sgkq7XdT+Dc7ysEdRcd2WW4X+lV6hpKdC6paAQJ1AEMDzsReDtJ2nFg4P4BbX98wFNeZNBGpiYnVuFsBtvbtidiSauPUgDzSq5rL0WZWYiRpMgmZ5TJAW8XmATtbfCrxFnxTrrQRPLpAKSpJMkidTQTBkkBREWi2JeX8DZ/wA2tUqIKKUpYE1AZhpGkqWNgJm0wOuJVSvlfPVnXXVFJW5UJ0qIjtcGYtIicUnN5geTMZMa5BQ4iCkIcakNEAglmLFth0JJg2O9p6zhlxbKMglGpySGKioW1DcR1A6TIm47Yl0eGowcLUfVYkMCTfm0s2oyJMWG43O5RV30VEGomBcSTcdzPptNow5MrZPITUw2DFjW0mynXWTpTSJhVQruTYdpsFjrAwx4dxKtla9OqAbEMZJ5lJFjvAYd7AmcQEdaTJoCrUtFwwPqAT/K1u+NWcylQ+ZVVjJM3Jlp1Ald4A7fIbWHD1tMBU1UZ17hv2j0XMVKT04MEyGAtPofyxdqbggEGQbgjHzjkXzDpp0Km0sHvpNhI1WHxETG59Md58JZgPk6DLt5YHzWx6nqMSlSpq5s12jfBgwYJmGDBgwQhgwYMEIYMGDBCGDBgwQhgwYMEIYMGNObzSUlL1GCqOpMYITaTiseJfFYorFBfMc2DfgU/wDV7DCDxP4tqVQyZYEoN4iXF5iSDteO0+2KVVFV/varASBpRdgIiTFie5PcYpx4RsWPynFcWb4H6xlnvGFbyWSpD1GkGpcE7QAARA7XxBTL5iurVAzMXLSxu0AiTpja0b98a8xw2VU6BIM9SSPrbft8uuN2TyzIdSMSVI0jUQCTI0mJIEm/8L43kw2Kxzq5lXc8essVCrWydO5o1dC6VLAI6BV6xOq4FoEmDa811EFZy3m+SusEMfhUFhJ0yI5dhfffG3iTu9OquimCZvJOkr0F41TqU7yMbeC8TFOm/mqwqMh0ShaSdIIH4oiRqHcTYYiVGRSzDeNJBO0j56hQV3CMaqEC5N9tRtEAzHaNu+IL0RUcqodIHMLqsdCJBBJJHQdel8WHja5ZK1UoOSnyqAliwkEAWC6WEE9INsQMn4i8sojU0fLs9wQytygNqidIDNEX6C4mMNxdQyracgxD4dTbntEnE6QpHyyv3iW1qAXKtDK2nVGzHcycb8nmnaj5EIKZreYABPOoC3IMFbAxFyJ2x74k4yc3VpOtNVgBVUQwEkEaiVkwJHYHDPh+RNeqKNOoRzQSANMaT8KsNWn4QVboO98MZrTVkFGMc7BV3kZiystQVQVjoI0gG4JkEbdOkxvZ94cyLu0OCEG7PTuRzcoklYuTqF732GMa9PKDOjL1anl+QFNzZ2gWI0wWIIPQiBAxavGOfFChCCZGkgLqsbdLhe7WgY8zIW5lIYUFAkjhPEslUJo5YqfLWSqCAAIUTYT2n3w7mHAG3X+mOY/Z9RL52tWAVUQGmNAIVtOgDe0CJj1x1AgEg/O2BGJiciaTUzJ5pxxjx3wqnkM3UqlQ36S4NIFZCrEusWHxm3oeuOykgXNuuOa+IOI080ac2qKWJTVykEgKwJBIBUarWtF5nDQaM4ljiUzOcCq0QtQOXV5gwVcao+IT8I2se8Yxq5GpTWSWiVkCYF7f0+Zw6zbaQ1VXLMBI17RbSAJ7yevfC3JcS89ah0TyQy6VVVabXJ2ienScdTMy7+8a+MMZjmqZLQ4If4tRUGwiAyybR9O1sRA9NQ4JJK3S1ttu8yZHSx743VMzrp6AArKIOn8W3xGSCQdvc74T1qbHVEsZg3G57SJA+fQ49B31AECTY+nZDYjtMsyRs4+IlTe0y0jt8x8iMdf+zekVySk/idjHa8fyn3JxzThPAmVNVVjoYRa82tBm+wsR12GOlfZ2hGWMm3mEKJ2ACiPTExRB5hzNOMi0rcS1YMGDGZmGDBgwQhgwYMEIYMGDBCGDBgwQhjxmAEmwwn8TeIUydMMwLM06VG5gST7DHK+N+Ja2ZedRZYEIpGkHta31wxMRbftNhCRYnUM54ryySA+sgGy7T2nbFBrcRbM5iHqAl2gDoAZEKPf+E4SrTdg4RlU0qZq1JPT4QJ9ztvIGEB4l5LJpY1CACNKki5Mz+1/UexLF0o228xn6dnxlAa7XHfF6LZeorUqjKALMWGvVMC25APb/AMaqdYimoCF3LNAkAbkyTEWEd59MYVs8cw6uQECcpVUKjoQJi8m57YZZnNaNMhmlb7RqiwIm49+24xQlZH2ERnZ8SAnc/vNS0HD6mJ0qpLdzAA+Hpcge49calzaAWgs4/E0dyulvSfXGZYteWIMXB1SbkiCe4AuJ+UTFnbUhBJAi0SY39ehPpfFShV7xB15Bpf053Hb07m/2k3N1mWAoKxqe1hpEmTM8t/UTB7Yy4QtN6LPUdRVABX1ll3BEkbyQRAEk4WU8v5tLXT5iHPLBg30x63b2g9ScMFyVNEWoyINJkkk3IDhonSDcG09CIOJc2VGcJwbqVYMTLiLMb/eZ5RqDEDSwBQGQZDGCTcGxn16jG7NZamqZlmgq6gJzcxcFSDAk6V5pG1+98KlVKAGurCV9L6QbhpJJciTAEDeNt8LuI16ZkU2LiTBY3En4b+0/WRth2XSqhLoTWBaQgDve/wDv3i9aYK1C3KoG5LfFHLCqD+ybnv8AW9fZvm0Wv965BqqoQEd5gXup5fa69xFIydN3R0VEYszGS2kqAREiIHX3j0GOieBPCrOq1sxUJRG+5RSCJBI1ao+DoBvv0OPOysrA38o5yQR+ftHHjzw3ldD5pkK15UB0aCSxVQSJAMDqe2Kp4or1U4ihql3pBSKaICIVtStzkQ7hdLx/vAepuX2k1KYyTlxqJK2FzMnTHrNsL/CnjENTpUs0G/SFdqZ5eQHUygaxym0KQCbm464nUDQSRfacDEGhJHh80slkKRdiockFnkMzX2HYKCRFoX1wz4fxSkWeklQMafxc0kTB/nAjCrxv/wCtpfo+WrU0ejVmqDuNKMYAO0krzdjI2g1PwZqTPMmqkT5fluEDD4G+JpC3JnuTN74kyVd+keACtnmXjxNxk0qTMhjYF/2dRidjsGnYjbFCA+CsjqwZoUqQYADL2uogjFi8Q8CzGYqaBULU2U8vwiZkLIIkz1iwA63KL9GzGVoiaOlEEKZU6dU7x6yCQN26WizAyBTrPM3hXHfmmlqlF6bNWVBp1ShEWB/DAGq/aZt2wpq8NTRTZIFIyxCyRM6ZuOWygR7kejKqJRRXUMpAvTB2A33sSehJGNByz6FcaQrC0gksNRjlAMHczYQB85cdB/8AGb+MoHhhrMhUKgFTlY3iRGk2spIG8b6t7nrj3O1KulJaFGoLpgRqMkMReTBME9cbhVLaZ1uaamx6LK3M3YyFjqNN9gDpptrYLBImSfQdfWd+uPRYal3oV2nceRTvW/pG9DOOFCJVao1lW8Ai0zMfDJEnYKMX7wFnHVqlCrFjqksCQx3Un8UiLjYg45WFGohi2mIaDBgkbiYja2+3ysXhfiK66dEK7VGdWUk7mVI9hF/l74h8TUwKjt2/MmS5k5N3vO1Tgx5ODFMimWDBgwTsMGDBghDBgwYITXmKyopZyFVRJJ2AxQOL/aKKbNAVaY2Y3nt/4x7454vrqeUrjykEvB3a9ifTt3nHNc9xBC2lYXTzEahqP8hIt0I98Px4r5E4xUDmpYuI+IatVmdkUyCBUcGR6gbCPbCXMZ525ZYzYHltbsNziHkmJ1MBAklQBJiJNx298TsgCSYvpBOrsJ9zB9jixExpwJnXlL7ngH2oes08SYFZAF2AOpQd+szJvMdo3tjVlQbCwlCOX/e0g+3T8++Mq4K1fL0zaW6gGO5tIN77R2g435WiEmGLQN4v/YEYQMR1WfWO/wCSOQbk3L0o3CiDquQJjsT6fkB2xPyfDi660YNJYaQYYkg1AT2DEFZ9RtBOFNPNQ2p7ADTG4gggx9d+t8S+G1HJaJMsjKqnmMki0XkLP9DgzFk2GxilAyHVe0xqZUBXqQxGnX2BBnmUsZEGAZvJ9DhdUrNUqWamS0JTiZAKxcRIA69d98Ts/RdKpapUqIqklXUKCsHUNdJ+a+k2BaYJkiYq/DvEJoVFqKiamMEAgAgxIYD4TN9gBfDulzC7Y/32kvWYMroSm57SbUpVMs7cxBFPy2IbcQNUeki3t9GH+lKzeTT0UjRQyUC2bTDWJF5v1viDnXFSWpElW5R1Ki4CsN5hdt5ne+N2VzBK0zVAlCVLaQDI0m5jeLbdO5w3qMSO6sK+M30uR/DAc8DeMn4qKys3k09FONaooAs0a5ILMeeCABCzBGNdF1zFGsQ6m5iAoYcuzbQJsAeX1wnz1c1FYUVBZgULQZIMHlWI7jUDJIB6YjHJGmdBPNUB8zy4ZtLXgXE3ja9j2xIy+GCFNiXKHyYztUuXE6CpwvKV0p6HBALCOYaWUs7bwQJA77484B4orTSyqVgiSF1kKSuqQQoIEQYIm4MzIthrxJScnlkzYJakymolNWK6UMaQeUagpVT2MkSFOK5xJ6PmlqdNQSIULChYKAMb3MHeev0gBB2PvGY8WuhLFngq0Bl6xeoxdqgapdqaIZZpiT1UWuXjbCDKeBM0UXNsy0qpiro1Q0htWliIB1KNZtuIM3OGnhjhFcv+kUNVSoCtNxUIVYjVNwSyg6RvKwYBOLjxbO+TRY5xhpZVRymvclrAC43AEXN5ItjhcoPWLK+apyGrk3r1HrCroq6vv3Zgi6AEG/TdRABt0EYvPgSjQQ1BTfzKgIFV+jMApkCYA5oBAE6ROKeKNJcwGKFxqdjJIJvf8WrSB16xthjwvLEHXRdVWCmimCrlfiViWN22EkX29BP1G4554/iOQCql+FejqI1AM5vpe8gAdz2G3bEDjeY1qAKgSirTVndlEkBZm8xb+Yxz+tTch6jhmaNSk6Ta3NAMX5jEWMdoxCHGH8h6JYxO+rnIBHLvpJk9zt1wr/h5Nm1X6zWoXUYZnjClSsaSLawbEGQTpBgDfb12xll66MxDEqCAPitIEyL2PxWtue2EWUy8oUG4kMTsLkgxuDYXuMSf0UAAkHSWPNG5kbmJ/ZMx+LbvtcW+kHeOry7y35qglRXJaNGk6ptZdjb1xUMqpViwJVhDow6iwJbrtB9xhqK70lUKY1Az6ixO632JkT8uqurlpdiW0RM3kXJmL26d8OVMmNSCdpzSBxvJT09S23G7apJN4AFiq7SN/XpixeFKrNnMtUdVB1BRpFjKuNRI7etzIxWsjmFUtJKkWnrv0ESO0+m2LF4RC1M7lUBBCMSQoiGEtf8A3YCi/WfXCcLMr7zGUAqZ2nBj2MGLp58zwYMGCdhgwYMEIYr3jXink0NI+Opyj+Z/l88Os3mkpqWcwB/cD1xybxtxc5msJ5USyjqOsnG8aa2qZdgosyt1KzamIAhhyj2/p/PELJVPMLalGkWW0kTEsJ6m0+0YkcRL+Wt2VmOmVMNcRvuN+uI+Ty5RV8vmLSSOw2nsJt1tYb49M7HeRguw1cHtNn6JpGlBGq5ve/Qd+t/bDdeDVVpaqYVVABYkxuNQ7kE9LXt1Ixr4FlgW++Vm0gnSo/p2mY9ugww8ScTp1DTSmxZUXnYCJItBkAtG023wvJm8+hRGY0oa35iSjShZH4ruSOZrLyg2kEkwD/PG5qkISAZI5thae5IH/YfLGWWoyYEt1mZIiZMx9Nv6eZ1BqVSNWkEkA2EkxvvsB9Mcviu31+U5WxLDm/w/3MMlSDsdbhQiGpIG5UEhInSL9fXfbEjJcVXLuHUqtRVYLqUmJP6yZuAJ+g98Yp90GEwSNMemqQCNo3Pyxqo6MxUlWMuSGKsTExJhpgm0GxuIOJziOfJpB+J+qj8mcdNh1MKA7TX4o43UqLWpvV1loUECCtMaDAudOo/EvUx0gYp+S4V5tWxhC2nfm6Em3zG39cOMwoSpUcPOmfLBswubQRH5WPfDmjmcurKfL1IEIp0wp5WYAhtuaGJO8iBJA3vfpkTHY7ROPrGf/HR3veJTY6qZKwAR0YQxgbyW2IMk+tsdM8LeE5p0mrpT2DABmuDcBhAubTN74qPgLLJ+nUUdgCNQKFpLEK5sPhOloI7RNoGL54s8YUaAekCWqld1uqSLEtI23gX9t8eV1Tl3AUSrGmgVKh4lyjUcxWLFwLQxiGAXlNgAI25Y+s4XcC4uVrioqhzTJL6+VeaRvBMlTIYCx/NRxPi1TMU+eq0BiCrTLDmIBO9r8u1xjHJ8MeqFVPMA0qxaAFANwAI5i1iDPXDwNONVy+8euXxFKL2l44x4hWpSK5ZqYpliQJAqEw8mADykk3ME2PbFWqUwFkhS7KBFzaTJY3LBY+kbbYnN4VzC1orAJTK6i0iTY8ii0FbSPbqRiPl+HV1rvrKPp+sMxAHwxpMTB9LjE+M4UvfeW4FRyEHHrLd4Y8TU8uopqfM1HWSIkKNMg2gtBPzw08R56jmwsENT3MrK9xqv0tvNr4pNDhNGmDmGZisktTpkWmQsKBJG4iflacbssKVSmS1S1QMqfhBZWghTzFhccwMWK3uMRZ1N6RxOZenGI2JPpcHo0hVc0BUTVKKqAj4eY6jYLEGxGw6C2OTDMgqJTI0xpBUliIiXUMBEAw24m4JwvfREVMxWC3V9KnSPfo1xEyIv74U5zUvmCnXqMxCgrJhAbqSu+vSADso1LdrwvHhbKdI3i/eauP5mqTpKPqY6qqqCSstChoBALBQYPRtrjEPhlGpqtScdDqQSbAkEFd+vy98SvDvAvM1tVqV9KuAUUlTYkljqN9JkT3J7YmcSyrZbkpKarMxAQnYm5JaTHeTtaT1PrdPhUCn4HxnHXIi+Io59xMeH0NHMFEBS30v3HUH6DbEZKtVW0+XN+ZTzA7c15P09MeZihWpFfMUAgtqJYmCQT8RA1dT1FrT1aZXjAqLUVmvWXTq7sOYFix1FLG6xY9einTQPUfCafxKOoVNPEcw6KVBkIReZViDbrY32EGPnhTkmDNLC4EiTMm1iOt+kdcOjw+u1ME5dlSYssrU3GubnY77GB131LShWp06aFiVZ6gW9NWsVY/sySSB19bCJkXuYvxDUicXqDzdKKVKxYRBO5ubiRGLb9k1HXmi0fAJnoJBBteTJ3xXeM8FelUAp/fAgc0QQbggrNjb4e0Yu32M5P9dUAtyrtF9yP4YfswB+EwzBVIE6jgwYMMk1T3BgwYIQxi7AAk2Auces0CTsMUTxR4rBDCm3Ipgx1/7YyzUQJpVJizxPxVqju8gIBCSbD1jud8U7IVzUMm8m5tciRPcCcReN501W5iQbW2ge0/O+MqWaFygjQIbpMdY/L5YtRdAmdYZtxPSytOswrFgJggHYkje2+JNIIsNpCqk26+s72xCo5dXMhrA2AOx9fXDfK5YPTPLI7bT7DptjbZaGpjQkukl6HrJ+Tpt5RVPiJRiSIkt8MG0A3G0SD3kLOK0QCJVxHLInTUIsSLwVmTMzE2xfODZBFpJYAiCbwDaCDHxRte2EniJhmM0lFXAZQZBYgKNxYCzRtPTriJOoCsT6yh8HiAWeJXKLJUYAAAOwHJCx1N9lHS+8j5YZ/KVaXPoZgxkEAkLIBEkTzReOgv7JkovUreTTI0vUKhp6CzHodI5jMCSOuOiUfHdOmauh9R+GigHLGlY5tx3ggRcQccDvqNHmOKIFCgcRJVpDyEZvK0VSIXZtem8tEifmPphJlaVSrUqqtTy6SgDXAERYne3xTvA0jscRc5UeqzajANUsxlSADrZtJibmBAn5RiRw7MpTUIZlpBjcrYwFJhblm+uL+kPhqSZD1qDIwXuePr63mFaglTUEenoiyzzETpJXvdpna6xjTwDib0KgNMrKIwOscpEMGJhb8oYkiZtE7YxzjGnWOgmyhafmHUWBZQUvudMmBFyPnJyOftWoisVAaSdIEqAOQHTqBkxcxe+2Lda5MddoslkcA/XaSuALprGsi1B5Y5SA2mSt9K/i6xMx1E4Wvw6u7OQwYnpJuWgatMQJUAGQDb2xM4lxJqk0qb+XSWBCtGokmYM6j1ECRbfu1zzPVqEIlOmumdFPlgIAApa14G5a+8Cwx5+XRifyyxGOUAnY1uPeVqtwlqaMCZY7xci8KS0WG/8Ae1ly3FHorSACagAbEadQBkyCJMx6WgYz8S5B6XmCoZQKGBPwlTzKIBI0gyJEixwp1k1GfUhBsL25twoHSIF439xh5VMoGo8x2HFWWlBr8Y0474gqVKlNpKvphdK7zJBIvAuD6xfpDvg/DkNKnUZSKrIAShgwwPTY2YkyB07YqVGgz0TW1IsOyrANoIglSIKhpOmOh3m0zJ8fYKgeuDpA8yqUAHXd4BUEwoFvjAmBjz2w43GhdyDzPTxkLZBI/aSvGVSgpanVcRI1KoLMLSZgCLA7dTPTFW4bWNavSVKZCqoCliWgheUlVmR0g3Fu2EXEqxdmqLMbnaQb8xvBNvboJgHGjL5pyCnmGAGIliotJiZkk9uuFDCEUgG51uo1cy6Z7iVtVVVrSYRRLII5f1bSpLSD6TffCCilc1POem33p1GTM3JVgTstws9AD1tjTWXzPKpUwAwbUWkaSSqFRqt0n57XOHeR4E9aolF6pYryibkKo0j8QhYUX6enW7FiVQCnYfnU8p3uy1gceveWDg5UCmtFudQyNu07S0j8IiSTt/GbleJKKQJ6EI3xEE2EhdrifePQYTV8pVy7GF81QvMV5emoyJkz2gRIJnroPFB5a0xq1bNfUTEEnVqN5BMD+WEPkcHykH53+kvXIzIBR29qijjtPMHMagwanI0NFtjzEaBBjqPTfGRyqhQxuwA6Spv3nqZib2vjovhLwnRrZYVKoIqO2pWFS+jYHte5uP6YrHifh6UqjrOpRAQe8nUbyTsNuu/TErZze8n+2Zhwbiq5eYJYNoE6vgUMdYKkQ+5gGLn2w6RkcEpBSppMFbaRIjcREmLzYDpJptddJYK3tqOnt0v62n/sy4ZxPyKZVCQ0yxgQZ30/06YV1GIZEDLOJaneOOKuKWlwCgazMDsbgHfrMTbYY6b4NywTLUwBFpPubk/XHKslQfMVaK60YbkxDTflNyGaL7CwmBjteQoaEA7DHMCAEmcynygSRGDBODFcnnuDBiLxSqy0ajJ8QU6feLfnghEXjPiyrT8lW56hAMdBI399sVnPcPSlQOqiH1HbVA6yZ6AxvvfGHhnIE1SKxDaJZqh2Yje/W/X0wce4uysKKpIJAAMRzSAL7X9sLYm6XeO2AqVPi2TCKlQaQ1cllQXhenQT2jr3wrrE6DV1c2qLC3UTBNwD12uMS+N8QJzC6qYTy0CkA6lG43/DB+m98e8GqtWcUWJg/BqJIBjVt2Pb1xWbVCO8kDnI4IFgd5o4VTFJLT1Pf54tuU0+RE6aoUCxi7eh3Mwfae2Kf5lXWCoID6haZPcbXE9Bi6f6HqnLeYAx8sTDA6mANoBusAAiQDfEPWBmQCWYq1XJ3DqRFNaaisKbAgyYIBBGsMJg9Yk9LYovjFTRzTHSoRgjrvcaRCknf4Y9b4bUeNMVk1pCgzvOltMgqQOYEDoSTJuMWDIjLV9C1g1eobgPexgwL2UG1xt6HE+LJpbeOK1vFv8AqrSzOQ1ID5gl1cMSWmZCi/IZPKNj6zjnIyhDQUZSANUg6o2kR05Yvt1vjsGfr08ll2eVUC1NB3vK9o+QxyKpln8xiQWJY6tJO358u927dcUYHOupwIShkytQVGamjawPhctIg9bWI6+kR3x7VA0EsCDeDvq6kz+V7jGWSoNV8ugCHqaoAWJ09A31kkmIEdMOh4KzVSUZhTFM31EEEEgAKFO0QSJA+uPSbqEVdM804Hd9RMhUPC9eozK6OHooDJfuGKgc1/xbX6e0fJaqTTVX/ZW1qQV1CVIB25oM2nV2EYudLwu5qUmpVQKKNrSspLN8QD0iIMgjUdUkSAIm+H+YyWUqBmLUqjpTM1GhoAF9Q6DrG5BOJx1Lfe3Ed4QHG05Vl+Kv5rHRSY6PLUlFAAiA1gBrH7W9sMOCZOrXcoo1MgLESJMXtJg9N+pwvSmsljECmWaOhj15YJ6STtbFnynHaNPKpTo06llprUZbSebUxsQRNu8QIsY7m/8ASCzOpdebaLOIcY81xQLaUdYLshlLMWAWx1SBAG+od8C5W0F/uwpO4Vjpi49CNjeZ2OE+cc1My7luYqWLMApJnTJ6DbsPzxbPCWUTM66UgKoJi5aJg6S08skTEXI9sKyjIF8pNd6lvTMcanIJWuI10AgFwIKGDZZImDFz6dQb74gMpSk5FRl/AApBT4RA1SZa/wBextizUMw3D61T9Hb9I1LCggOAJDE2I1EKFubDUt+mNf8A+SSuZDJlaLKEuYC1DAO7gGLkmALzHXHUyuvmWbZmay29yiUkZ/1YNr2sFE25ptJbr+eGtLKZZvLTWjNBApkQRZTJe2rrbsNxOL7w7x1RzWWzCVqNFaouNSjy2lwqyTcESDJjGvjOWoGnoriolepp51C6XBG4BAhDtBN95sYBmI2Yd5PfmsfzKHxHL03VDQBIAGpRpmQWETe+kepEL8ROHWQzFTL0dQa5+FzBDRYnXO25Fu9zfE6umXqK1OkKhVQo3QCAwIfY8zMV5Vjb6omzZpmjSqowC6w9MkopY7dwBttYddyMN1tRBHwgfIbqXvOUlSnTepVGip2AAk9QQd9JPxWuZxWs6B96cvV2vIJUDcDrqvBFv5iM+OcDzFOn5jLl1VVXT5ezSxhgbBqhLTYtbc2E2bIZzLUMuXo0VZYT9JEBy2skOhJa51XM2id4jEyrXA5Mpy9WGFVKxw7xhmUoNly6KAIUiA41GSFbbVBO9wZ7Yjfp9arRCO0uGI1mZLEn0+Lv+W2DjPHKFWqagTywrAUqVgFFmNTlAOokzAkEETtjzJNlgGR6LOQRqrU6hOjmiFBGmBMXPNAg4a2Na3EjDnbtF7g6tBILW2v6fmYjr9cTEyxrahsAhuV36AA35ixj/m6Y3PwD7/yqVVCZhSQVLRGxaBPzvuMByTUviBOgxrXYaSCT7RYSLSvtiZHCrUY13H/2cV3zGbpIaSKKClmYDmPKUUMZuev59TjtajFN8B5b46pQIzQukQYgmSSLEkmbW2xc8Mx7i/WJynzT3BjzBhkXPcUnxF4vVX8umNQBjV0LD06gfxxYPE/EBRy7k7sCqiYuRjmHAld6oSno1EWZxIX1jqcaVQwNwupaEzipQRTZqksR1JN/kO/tiiZviQOsEkzKsxvYmY+e/wDZxb/FGVHlhi4Jp6VMDct8RPp1t64oGarorQobQpm/Ug7i21x7nBhUEkmcykgbSSculU2IVVUaSDABt8U7k+nXGjhGVbM1vLQTUguSYEQSJneOYTHXphPUzEWVjcmBHe399r4uHh3NNkkqF4JGiYIIlhsDGoG0EegxlnAQ736TYxUwNVLH4a4VUy7trJCI7eSlrarFpibjpOH9WsSTeBO2EuU4hUqVCJ0NALIwDFZE2g3MHv09cMmomoW0GAAL9ZnsREYk13HkUd5gnDKbEVCvNqLSPYifoTiRQyoRdNMKWVYQsZNhbU2+42xs80CT/d8VfjVZRmPNy+YRayoBUQmQ25AYT69O4wsMp4mgCeTI/wBo2UrOtPSF0gkEtsCQLwPWYvijZHh1So1QIATT5WMgAdOZiYKkWtOwtjoGU8SvX066ZCsGQ+WTrVwCZU2tIgG0Hc2xRM7WqIr0mJGguGhwNcwWLQoJMmbzeT6YbiU6rBnTkIXSRLPwHL5bJUqjCqPNM+Y02Gn8KCJKbCRMn6Yk1ajVKYq5UU3aSBUcdDGplIuDIAkC+Kp4b4N+kKyhXHmwVeVtpLkW+IIWtAjuegxeeCZOrl6So9NFIA/HIYn4i3LYyDeb+mw3kUAk3Zi1O094bkWpLIqkgiNIAhT+0O89Z3tteWTcHFajWBKpUzFMqxAkG0KxmJMG4/sx3YAKC0NqVTCkg6tv3Tf2F8T0qNSqUqYBdKk3tKEAmT3BiLd8ZW+8H9ZxqvlKuXr+VVVgUN95iLRNihN9jbG2s2qQuoLMAyNbSLCBAEnqTEA+xsv2gV0TNU01sraAtVh8KjVKtH4jBawjp64UZ6gGqGm5AYpEhI6mSTaTBMGbSO2PSwsxW4p8Q+0T8ojq8RoF/Lp1H0wFVi1zF7sLAG/1xKoZ80lBok64ZdQJGkDey72We23riDlPI0gVKADUyplVBBUatbVDvuVuBsfQTY6KA8gpq1V1BsQVAYggzusQJnpFsb12NAWz+07ifw2Zj9mvlK+eKV67AFydIaSoIsbGLSSRYA+vSca6ygI9FU01WIZnMllCiDTAAAuTq/sQ68QcM8mV80EOpJFxF7gpBCgkTbEXgvDoDEq4qE6UEMVll5QZIixaDf4hG+KU6XGoGoxadQepyaU2H1/c18N4WILfHdQNRtJBLAyJO28/1wwz3EaitVDP5pqwugyBrNgANQjSPcAxvaGpyoWmENFatWYKqWYi0FWedQZgpsOg9JxXOM5ImmjBIrKwVlYw512BCx/vJFzB7YlyKuuyP6lHh6BoDWR8I/4XlKaJNQuWKhoB/E3N1M9jcdPliucZy3/qVBMLDHSbRJa/zAkkGxMGLYerxGUNRlCDULqLTMmfxCTA1H07YTnNrWJeApZSohrrDtY236k+3QY6Kd+O831jqPgBJ+SorAR2ZmkCnTO030kEmwg3FtzO+H3ifNZelTXLMAa7BVlFEOVFOCWiGFz8yffFNXOVadUVaTCaV01km4kk6YgnoNU9bYyzS/pdWmrOwqXJqQIm7AD9kXi9xA9AFdSh1jagJJhQBSQbuFegtT992RQzOQv7IuZkG3UgQCLC29KtUU/Lq6vLZhIEwYjZgYY8u1xbrAxjxjg9YsqgF2QrHlKxuQtiIMDpYiZJ6xhzxXgZpUEP3gfUTUYoYC+g3gEN736EYW2QKNIjQp+9Idevqq+Yg0L/ALODdY0gEEmdQHra/bGxMnIiq/lNUQGmTuwlgVbsDp3PcEWsZ3hmhVFcZmrTZ6AjU2g6ZIu0k7iSe1hIE4053iFCtnG1BtLOdDQLAAKp1E2LEbie/XEDjn2jwT2nVPBFEpRAJm5v3xagcVTwhxKmyCkrS6rc/tRAJ3J3I374tSbYoxkFQRJX+0Zlgx5gxuZnP/tQzJ10aQMWLH6gDFY4Dn0oZgNVssaZiYkWP8p9cXD7RuDlgMwskgBSOwk3/PHNuM5Rws9xa8ztY4arDTpvcw0km64lw8T10OVFan94GqTESbSIgEREAe2KBkqlKrVPmnkEtp3nblHX69sTqNRhTZfMDJAIK7gkfD6kRGEeXzIDEMPTUotuf7nHOjbG4YHb9Z3qcOZWBXe/w+ckVaARkNNmIfaViL+uLPwOo7k0wCYCsdC3JBmY6xebTiuZ6owpDQVKAEXHNDdyfUW2x5wzi9amQ6lgQsWtIIg37neY3wjNiN3zKUDVTczo+V4SyP5k87fsiI2AGEXGfFlbLs9M0vvBIElgWAO4t1FxfGzw94z82rQpaYYmJ1giOhv+Ixif4yzlByEBV69RCAygEACSOovExfecTBdJ3nbuIafHf0rLaM3RcKrhWrITCm0En8NiL3+uK2mURqlQ5WWPIw1r8I3M76vwiI6HHmZyQ1Tl6jAudJMmBF9OqR1uAe2+G/gt2DujKE5e1ieoLRH/AJGGAKtsvPpOm63juhnWTK06roQzRCoCBJF6rSJ7EiMKM1wGv+jtWK6kkGoxHoCG6lgJ79PTE7KZem9eqNbE0qgKhjYLKErccw1SInrhhms3VKmkuaagoWoxsYcFiSBJjlUhRHbAjAGYYEjaVrwzxVi4CuoD3qMSoNiRCLMlZHcG5tbF743mteXbkpqdM6ridIJk3gEjUPmMc2fh9MKWpldeqPMJg9AB5ZMaR3EzcECMe0+IVAq0y/KWG0bTJESOu30JxSenLjxF4iDlVW0d5sqB6ICh2Y1wD5aPOlTF2OkxMEbyLm8Y6R4e42lYJUECbgMwYrcgSf2jf3xRPEfDfLSlmBTmCvmU+u0WYXMxczvGJnBeLCiGqaRBVLCAF5iqqANwZnUYPfpjBIYWsN/vRz9o3BFqaK0MAGAdkkwsHmKx0Npi2rFMy/EKZp66xZ6gtc6hCiYuR7A46Hw3xll3fyi1iDJIsL/CZj67YQ1fDPD1qM6l7kqKVNjpBkS+qJABtM6RP03jyNj3MYGUjSd5WvD3GaQzSFqEgwXkwByvAAjZj3uAtpw54Bl2dqlZ2hQAtMkcrfFqAm/KCNN7ausYtGR8M5RKoYtUMaiPMdSCCBq6AjpsZExhLmMiqPV/RHerTy2nWplgFYMdKQfvNJIkG+5kkRhydUGeyfoRRwKUKmL+NZl6g0qvmFOYgmOaGFwSYhTpiwnscKqGdrVGd6mgnzQ8g85uFEGTAAt0N+tsO0zKGkzABSw0i2nSDedP7UArY7kmO6OoyJC8ralm99TPeT8TWJ2AFpBuZxejo+Sj2i8wYA6B3A29PraN3aWaFCecuphSYghdRhmY2UlxboB3N8LOJ11zjUqSl35SrE2JMBSy2MzF73v2jGfAXmrVLqS5ADgnSGUyPKCmRd+abXmdwQwo0A9KmVlWBamoLHUoUgBdAFxBiWiZ2O+EudRpp6PT4UZ9jtIFPgYFI03LAEkiYEELBuRYXAkgiJPScV9uF1kJCJENtpYhgzGCDBGjYz1mwOJWZzTq9QUySUbSYJhiAdVpgr1PL9Igt8oVq1abVBswKvAXWQdmUm8CZAAE3OwxO2QIusCprqMSMaHA/WICihjOvWpBuCpEKxYATPxFRJiNER1w04apMPTEaYFRyjNzFYLT+JjJtA32FsSPFXCa1as9XWkKlgzcxjUYUAX3kgWETiNl8xUy66XpO8GzKQEFwTpIGmZ69O1sGLKuZhrNRTYyq6gtgfK5Pzddcvo/R6ly0kieUQSSvQgm3tPfFizPGlpZP9EqlazFVCtAK9NzHbbYnFafUfMZnCrTaNSFZ5ZiBB5el5t88LMppZ28sLInmIHcyVsek/n8t9V0oTzAybH1mLMdhUlca4nVp0DQy61QkanDHpNtYsBJ/COgE73gZTM06UF3lC11AF5UXuLAEkb9dsO/E2R1UqNdeVaiCm4JmHWYFzJOkmIFhHrhCNSKy0XgNqDgkc3qViOtgB/PEuJDVgCO8QcDk/Vy4+CM0DnKNRBBZ3XQCYCnqT7GfkMdspm2OA+ACi1adary+WBCoIDgbGNpFxNp698dy4VnkrItSmZVxI/ofUbY4Ws8VFMKk7BgwYJieVaYYFWEgiCO+OXeLfCdenU1ZdGekf2blfQjr7+mOp48bGXUNNpkKHafOOYqtRDqpViTpZSl/cA7EeuE9NRJ5Tc7CwvEE+k/wx9BeKPDFDNqdShanSoBzD37jFGzf2ZuoJSqrn9kgr9DJvjuKl559Y45muxOfrmPLqaGYugI1gGVv0HbHi51pIWNJ/Dsd/zGJvEuCtl9Wqm3NbUGgexnfCRSCpmJkwf7/nigBT5gbE62Y8HYyTmMm2sEAptzASN9wO43xLakVNUrVUtQGqw+OYBJg9JMx+WNfCyzMiA8xIME79Y/LD3MUWy1cVzThCTrCnXKtvI7gwcT5SrNtOAMBvNlLg4y2X82qfNNYfqkUnaIOq2mxuYm4jDLO5zNqtSoy+SyUxURVXUpGkwSQCCJBtHQd5xV+N8f8yvIqHyLgBlgL0so2Bgb/wAsb/EGbdqQVS7yqzAGlQJgDT+EDrY3g2wi/MAw57zZHl2i3I16jV/MKqKjaiBOlV5JsN/rvsLYm/6xVHpPSIkGIJILTYmYUWkkAdPliBwzLvRUOFYlxDlo0gASpSNgeoMzfGGSQhT12BJAEb9t4P1x6LYFreeamVjkNHab6a0lAKdRzqT9fzHT03xIrZKnU1FdCMSNFMAwbkM89rFvWcReGnVBWN4KmegvHbr9bTGN1UQpUOtMgbkj5AA7k+mOrkOwHEY3TjVY3P19CbjnKtQDz6ur4iC1pAsNAAkEC5O8XM7GGnDiRqMyTpIBsYsDcA7T9bWw3yyMxlBLaASCLqChGq1rk/Dt6YmZ3LoAWQ1AtiRzAGCLmI0zEG0kdZjFaYVAuu/4zyep6yn8MXZr5fx6xbTqr5lOkwZXHIVVYf1MxdpNhPQm0ibfnuKZdMsFQhJEB6cE8t9J3N9r/OJxS8tmAXLEoRIYA3Jg2B0xzECem574sdPgRzFBqtOtTR3IIIGkKdLq1MmTEtF/XbpiLqU2DEy/pWOsrVCuY/yfHVzKVaiDzKZYCnqABVtChgfZix3774qvFi5qh8ppVVCB3RgNT80TsGadMxvF+uFNR6mWDZFw1NFchqiSGOqwcmw0sQrAWkb4i51PJcU9epAV0EMdBABYFGAB0hmcna5NsRDCdWomeiCOJYchmVqKQUWCY1NEqIbmvMLqJ9jcxvhFScvW1gQp6QLqu+wjofTDjLu2il5iLTbUXVmU84XURpLHmaR6zI+bbwnkVqNSpoy03pVtegjmamAGiRvcmZ9JmILEGgaiJzxDdCU9szDBdOoqzMbyYMQTIgRv69b3x7w+tVUt5RYVahl3i8TuxN1PxHFw49Vp1M5VXywAZQXKEMBN5gaTpkSIBPthHSdEqNr1BdlUbCAxlYMlZANj1tO2Nay6krzK8AHeV7L0PLrjWC51AjXIEgnUDfUWMR3m24w14LnLMzIgpsdNrRME+wi1sWXIkU6VV3Aeo6qKjNyOL3CMBqM3EyJvO2E4XTpSkJZjKgCwvab2Eja9t+54HGQEOKHrGBNRs8dqkPi5DNNNVUARAMg/7wNx3FsWjNcToZjL0cqp1vTonS55ZcALoAMSzX6EG3U4q3FslXDDUAoPwkuvsRqn4pJ5Te07DDEMtCmGaiCNJp1HVgNZDiSGBkkQIMdvbDMWPxPs/Qm8+RRjF9uIozVZVTyiF874WI1cpCiFKRAJJClp/D6nErhflrTkkBgwGkabgc08wnTMX6icauIvSTloktoHK3xSTpbSDFrlhtsThVTzDM0s52mCbXnqD0t0m52xRkoAhtz2kCJq8w2v2nQvDnChWy2Zy7sHd/vE1TyM2uHiBB2uJ9e2KGKZVPLUSwc3vBmLD1Bj5E3xO4FXra18pyCSrKVELKiwIJ20giO35wsxmCatQBFSmzkgm2mfwgzEenv3xLipGontFuGXdY34LkmINUygC6bL8MQSL23JJneSIOOh/ZTxRai1kECH1wsgEsSCVX8IsLA7zjkOR4pmQipTd4Rjy2gEkGQSNyb3ub9zi+fZNlzSzRLsddRWBEWJmYNheAT12xkI5JY7zuQip2TBgx5giJljW5xmcanxwzommocaTjY2NZxmbEVcR4DSrAq0w2+Kbxb7NlCsaPOY5QTDKe4Ox+eOj4BjIUDYTWozhjeHc7Qq06tWmzeW4ltIJ0+4thzkqyMtaqQRAYHULjqCO94x1ipsfbFD4/8Aqsx+6f4DCMyyjG+raU3K8EoV2Bc6yRJZNwR0JiD9PnjLOcHNJDTo1uVwFHmESrMQQS/RLTGwjG3gf+HX3fHvF/jP7v8A9sCOwcLfeayqNzIdfJZqiB5lMvCade6NOxJIjtHtiAmaqMVRyGAUISAFsveI69SN8dBq/wCBH7o/y45ydl98WJk1uSRvtvIhiCihx6SXXohSstpACBZmB1J3sNo6b32GMEygqVAqjU7EAaja56dRe3rf2xl4h/VU/wB1/wCAwcE+Oh+8P4pigC9px/LGzcOzGWdgGViyksRewkkgGCIFrCL2ucbPEGVrUcutdoZCQg0n4QZuegB2Bm5icbfFfwN+63+ZcL+K/wD6/L/8Gr/DG8uV0xpR5nl9NgxZ+pyM67g/VxFRoefJnmUbEkAkSbASJG17EzO9rnk83lzSpZXNFtRpB3mAabF2IkRq1CZ69LGTin8A+Cv7DDfjH+Kyf/Gqf9GIGyFnK+k9vwgKjvxvwpKGWy7NUepWshYtzMoVj+Ri/ScVHhCDzlcqzlailAAbH4gSb21TAAuTuBi4/aj/AIbJ/uP/AJaWKj4f3pf/AM/82N4ydEWRxLz9ouaBekgK/CajSL9l9IJLbXiMV7wpxB0zRdaWoU0IDEWDEgbiCAbjr9BOIv2i/r0/4Q/zviV4R/H++n/xVsDmsG0egsaY9482Uq11YsoNVCGbVGgrpA1WgAzFxeBiuVeGUqToaDCpDiSzcpLJq5WAIgRYi2wg7ljm/wDD/wDJ/wBYxB4j/sv/AGx/+OtiXAdwsrwp5wJu4nnBTJCVRU1AAswM6WgBG21RMWMjrtGF2Y4utPSxRgQFmFGobEPMw2oGQT3wv4r+rX98/wAsJMn+oqfu/wBMel/1rS+n7zpOg7dv5lpy3EgT5tOmdyyVJmwB2SbMovEz8Pvix8Syq1aTLKUiGKgVAqWUBigb8LRpaLWBsSZxV81+oyH74/z0sGa+Kp/7r/obEjXzcVkyF6JkriXB1yq+XrVi+h2081QyC2kJ8On4Qb7E7gwVHkVGBp6jNS9UE7AXGrrO39cXav8ArX/dP8Mvin19qnsn+anjuN/JG4serGWPaMKXB9VEimCTThmYfj3u19PLC+vP7Yh0qNAUQaiutY1BOxEROph3sQPh+KTAGJXA/wBTX/5v4nCYbt7/AMsJwk+O6E+kR1CgCTMxmVVjoUsFJ2AHT8QBt0ttfFo+zCoxztOZhtRieoR+Yjabt639cU7hnwn5fwxefsv/AMbR/wCE38Dj2nAdC3G38Tww5RtHO/8AM7LGDHmDHn1K7n//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5374" name="Picture 14" descr="http://www.crystalradio.net/minerals/Chalcopyrit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8519" y="2316678"/>
            <a:ext cx="2371189" cy="1738872"/>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4208519" y="1961468"/>
            <a:ext cx="929165" cy="369332"/>
          </a:xfrm>
          <a:prstGeom prst="rect">
            <a:avLst/>
          </a:prstGeom>
        </p:spPr>
        <p:txBody>
          <a:bodyPr wrap="none">
            <a:spAutoFit/>
          </a:bodyPr>
          <a:lstStyle/>
          <a:p>
            <a:r>
              <a:rPr lang="en-GB" dirty="0"/>
              <a:t>Bornite </a:t>
            </a:r>
          </a:p>
        </p:txBody>
      </p:sp>
      <p:pic>
        <p:nvPicPr>
          <p:cNvPr id="15376" name="Picture 16" descr="http://upload.wikimedia.org/wikipedia/commons/b/bc/Enargite-Quartz-173234.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91084" y="4147453"/>
            <a:ext cx="1940587" cy="230119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5975935" y="6157765"/>
            <a:ext cx="1010982" cy="369332"/>
          </a:xfrm>
          <a:prstGeom prst="rect">
            <a:avLst/>
          </a:prstGeom>
        </p:spPr>
        <p:txBody>
          <a:bodyPr wrap="none">
            <a:spAutoFit/>
          </a:bodyPr>
          <a:lstStyle/>
          <a:p>
            <a:r>
              <a:rPr lang="en-GB" dirty="0"/>
              <a:t>Enargite </a:t>
            </a:r>
          </a:p>
        </p:txBody>
      </p:sp>
    </p:spTree>
    <p:extLst>
      <p:ext uri="{BB962C8B-B14F-4D97-AF65-F5344CB8AC3E}">
        <p14:creationId xmlns:p14="http://schemas.microsoft.com/office/powerpoint/2010/main" val="1964929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36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37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37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Tectonic setting </a:t>
            </a:r>
          </a:p>
        </p:txBody>
      </p:sp>
      <p:sp>
        <p:nvSpPr>
          <p:cNvPr id="6" name="Content Placeholder 5"/>
          <p:cNvSpPr>
            <a:spLocks noGrp="1"/>
          </p:cNvSpPr>
          <p:nvPr>
            <p:ph sz="half" idx="1"/>
          </p:nvPr>
        </p:nvSpPr>
        <p:spPr>
          <a:xfrm>
            <a:off x="223181" y="1182764"/>
            <a:ext cx="3682752" cy="2908919"/>
          </a:xfrm>
        </p:spPr>
        <p:txBody>
          <a:bodyPr>
            <a:normAutofit lnSpcReduction="10000"/>
          </a:bodyPr>
          <a:lstStyle/>
          <a:p>
            <a:r>
              <a:rPr lang="en-GB"/>
              <a:t>Three types of deposit:</a:t>
            </a:r>
          </a:p>
          <a:p>
            <a:pPr lvl="1"/>
            <a:r>
              <a:rPr lang="en-GB"/>
              <a:t>Magmatic segregation</a:t>
            </a:r>
          </a:p>
          <a:p>
            <a:pPr lvl="1"/>
            <a:r>
              <a:rPr lang="en-GB">
                <a:solidFill>
                  <a:srgbClr val="FF0000"/>
                </a:solidFill>
              </a:rPr>
              <a:t>Hydrothermal deposits</a:t>
            </a:r>
          </a:p>
          <a:p>
            <a:pPr lvl="1"/>
            <a:r>
              <a:rPr lang="en-GB"/>
              <a:t>Sediment-hosted </a:t>
            </a:r>
            <a:r>
              <a:rPr lang="en-GB" err="1"/>
              <a:t>stratiform</a:t>
            </a:r>
            <a:r>
              <a:rPr lang="en-GB"/>
              <a:t> deposits</a:t>
            </a:r>
          </a:p>
        </p:txBody>
      </p:sp>
      <p:sp>
        <p:nvSpPr>
          <p:cNvPr id="7" name="Content Placeholder 6"/>
          <p:cNvSpPr>
            <a:spLocks noGrp="1"/>
          </p:cNvSpPr>
          <p:nvPr>
            <p:ph sz="half" idx="2"/>
          </p:nvPr>
        </p:nvSpPr>
        <p:spPr/>
        <p:txBody>
          <a:bodyPr>
            <a:normAutofit lnSpcReduction="10000"/>
          </a:bodyPr>
          <a:lstStyle/>
          <a:p>
            <a:endParaRPr lang="en-GB"/>
          </a:p>
        </p:txBody>
      </p:sp>
      <p:sp>
        <p:nvSpPr>
          <p:cNvPr id="5" name="Rectangle 4"/>
          <p:cNvSpPr/>
          <p:nvPr/>
        </p:nvSpPr>
        <p:spPr>
          <a:xfrm>
            <a:off x="3203848" y="6648523"/>
            <a:ext cx="6120680" cy="215444"/>
          </a:xfrm>
          <a:prstGeom prst="rect">
            <a:avLst/>
          </a:prstGeom>
        </p:spPr>
        <p:txBody>
          <a:bodyPr wrap="square">
            <a:spAutoFit/>
          </a:bodyPr>
          <a:lstStyle/>
          <a:p>
            <a:r>
              <a:rPr lang="en-GB" sz="800"/>
              <a:t>http://www.geo.fu-berlin.de/fb/e-learning/geolearning/en/mountain_building/resources/porphyry_copper_ore_deposits/index.html</a:t>
            </a:r>
          </a:p>
        </p:txBody>
      </p:sp>
      <p:pic>
        <p:nvPicPr>
          <p:cNvPr id="19458" name="Picture 2" descr="http://geology.com/usgs/uses-of-copper/copper-deposits-map-lg.jpg"/>
          <p:cNvPicPr>
            <a:picLocks noChangeAspect="1" noChangeArrowheads="1"/>
          </p:cNvPicPr>
          <p:nvPr/>
        </p:nvPicPr>
        <p:blipFill>
          <a:blip r:embed="rId3" cstate="print"/>
          <a:srcRect/>
          <a:stretch>
            <a:fillRect/>
          </a:stretch>
        </p:blipFill>
        <p:spPr bwMode="auto">
          <a:xfrm>
            <a:off x="4211960" y="1161383"/>
            <a:ext cx="4830738" cy="2520280"/>
          </a:xfrm>
          <a:prstGeom prst="rect">
            <a:avLst/>
          </a:prstGeom>
          <a:noFill/>
        </p:spPr>
      </p:pic>
      <p:sp>
        <p:nvSpPr>
          <p:cNvPr id="11" name="Rectangle 10"/>
          <p:cNvSpPr/>
          <p:nvPr/>
        </p:nvSpPr>
        <p:spPr>
          <a:xfrm>
            <a:off x="7210457" y="1032508"/>
            <a:ext cx="1933543" cy="215444"/>
          </a:xfrm>
          <a:prstGeom prst="rect">
            <a:avLst/>
          </a:prstGeom>
        </p:spPr>
        <p:txBody>
          <a:bodyPr wrap="none">
            <a:spAutoFit/>
          </a:bodyPr>
          <a:lstStyle/>
          <a:p>
            <a:r>
              <a:rPr lang="en-GB" sz="800"/>
              <a:t>http://geology.com/usgs/uses-of-copper/</a:t>
            </a:r>
          </a:p>
        </p:txBody>
      </p:sp>
      <p:sp>
        <p:nvSpPr>
          <p:cNvPr id="3" name="Right Arrow 2"/>
          <p:cNvSpPr/>
          <p:nvPr/>
        </p:nvSpPr>
        <p:spPr>
          <a:xfrm>
            <a:off x="223181" y="5013176"/>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p:cNvSpPr txBox="1"/>
          <p:nvPr/>
        </p:nvSpPr>
        <p:spPr>
          <a:xfrm flipH="1">
            <a:off x="1201588" y="4581128"/>
            <a:ext cx="2186529" cy="1477328"/>
          </a:xfrm>
          <a:prstGeom prst="rect">
            <a:avLst/>
          </a:prstGeom>
          <a:noFill/>
        </p:spPr>
        <p:txBody>
          <a:bodyPr wrap="square" rtlCol="0">
            <a:spAutoFit/>
          </a:bodyPr>
          <a:lstStyle/>
          <a:p>
            <a:r>
              <a:rPr lang="en-GB"/>
              <a:t>Porphyry copper deposits </a:t>
            </a:r>
          </a:p>
          <a:p>
            <a:endParaRPr lang="en-GB"/>
          </a:p>
          <a:p>
            <a:r>
              <a:rPr lang="en-GB"/>
              <a:t>HYDROTHERMAL DEPOSITS</a:t>
            </a:r>
          </a:p>
        </p:txBody>
      </p:sp>
      <p:pic>
        <p:nvPicPr>
          <p:cNvPr id="8194" name="Picture 2" descr="http://www.geo.fu-berlin.de/fb/e-learning/geolearning/en/mountain_building/media/Ore_Deposits/Subduccion_magmatismore.jpg"/>
          <p:cNvPicPr>
            <a:picLocks noChangeAspect="1" noChangeArrowheads="1"/>
          </p:cNvPicPr>
          <p:nvPr/>
        </p:nvPicPr>
        <p:blipFill>
          <a:blip r:embed="rId4" cstate="print"/>
          <a:srcRect/>
          <a:stretch>
            <a:fillRect/>
          </a:stretch>
        </p:blipFill>
        <p:spPr bwMode="auto">
          <a:xfrm>
            <a:off x="3491880" y="3614048"/>
            <a:ext cx="5580112" cy="3034475"/>
          </a:xfrm>
          <a:prstGeom prst="rect">
            <a:avLst/>
          </a:prstGeom>
          <a:noFill/>
        </p:spPr>
      </p:pic>
    </p:spTree>
    <p:extLst>
      <p:ext uri="{BB962C8B-B14F-4D97-AF65-F5344CB8AC3E}">
        <p14:creationId xmlns:p14="http://schemas.microsoft.com/office/powerpoint/2010/main" val="1538441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45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t>Porphyry copper</a:t>
            </a:r>
          </a:p>
        </p:txBody>
      </p:sp>
      <p:sp>
        <p:nvSpPr>
          <p:cNvPr id="5" name="Content Placeholder 4"/>
          <p:cNvSpPr>
            <a:spLocks noGrp="1"/>
          </p:cNvSpPr>
          <p:nvPr>
            <p:ph sz="half" idx="1"/>
          </p:nvPr>
        </p:nvSpPr>
        <p:spPr>
          <a:xfrm>
            <a:off x="457200" y="1600200"/>
            <a:ext cx="4038600" cy="5069160"/>
          </a:xfrm>
        </p:spPr>
        <p:txBody>
          <a:bodyPr>
            <a:normAutofit fontScale="77500" lnSpcReduction="20000"/>
          </a:bodyPr>
          <a:lstStyle/>
          <a:p>
            <a:r>
              <a:rPr lang="en-GB"/>
              <a:t>Intrusive magma- containing ~4% water</a:t>
            </a:r>
          </a:p>
          <a:p>
            <a:r>
              <a:rPr lang="en-GB"/>
              <a:t>A crust forms around the edge of the intrusion as it cools</a:t>
            </a:r>
          </a:p>
          <a:p>
            <a:r>
              <a:rPr lang="en-GB"/>
              <a:t>As the rising magma cools the hot water is released</a:t>
            </a:r>
          </a:p>
          <a:p>
            <a:r>
              <a:rPr lang="en-GB"/>
              <a:t>Pressure increases, steam explosions shatter the overlying rock</a:t>
            </a:r>
          </a:p>
          <a:p>
            <a:r>
              <a:rPr lang="en-GB"/>
              <a:t>Escaping hydrothermal solutions carrying ore metals more along the numerous fractures and cool depositing the minerals</a:t>
            </a:r>
          </a:p>
          <a:p>
            <a:r>
              <a:rPr lang="en-GB"/>
              <a:t>Fluids then continue to circulate causing alteration of the initial ore deposit</a:t>
            </a:r>
          </a:p>
          <a:p>
            <a:endParaRPr lang="en-GB"/>
          </a:p>
          <a:p>
            <a:endParaRPr lang="en-GB"/>
          </a:p>
          <a:p>
            <a:endParaRPr lang="en-GB"/>
          </a:p>
        </p:txBody>
      </p:sp>
      <p:pic>
        <p:nvPicPr>
          <p:cNvPr id="7" name="Picture 2" descr="http://www.answersingenesis.org/assets/images/articles/aid/v4/granodiorite-stock.jpg"/>
          <p:cNvPicPr>
            <a:picLocks noGrp="1" noChangeAspect="1" noChangeArrowheads="1"/>
          </p:cNvPicPr>
          <p:nvPr>
            <p:ph idx="1"/>
          </p:nvPr>
        </p:nvPicPr>
        <p:blipFill>
          <a:blip r:embed="rId3" cstate="print"/>
          <a:srcRect/>
          <a:stretch>
            <a:fillRect/>
          </a:stretch>
        </p:blipFill>
        <p:spPr bwMode="auto">
          <a:xfrm>
            <a:off x="5004048" y="1700808"/>
            <a:ext cx="4016976" cy="3888432"/>
          </a:xfrm>
          <a:prstGeom prst="rect">
            <a:avLst/>
          </a:prstGeom>
          <a:noFill/>
        </p:spPr>
      </p:pic>
    </p:spTree>
    <p:extLst>
      <p:ext uri="{BB962C8B-B14F-4D97-AF65-F5344CB8AC3E}">
        <p14:creationId xmlns:p14="http://schemas.microsoft.com/office/powerpoint/2010/main" val="411307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Bingham Pit</a:t>
            </a:r>
          </a:p>
        </p:txBody>
      </p:sp>
      <p:sp>
        <p:nvSpPr>
          <p:cNvPr id="3" name="Content Placeholder 2"/>
          <p:cNvSpPr>
            <a:spLocks noGrp="1"/>
          </p:cNvSpPr>
          <p:nvPr>
            <p:ph idx="1"/>
          </p:nvPr>
        </p:nvSpPr>
        <p:spPr/>
        <p:txBody>
          <a:bodyPr>
            <a:normAutofit/>
          </a:bodyPr>
          <a:lstStyle/>
          <a:p>
            <a:r>
              <a:rPr lang="en-GB" sz="800"/>
              <a:t>http://www.geomineinfo.com/mining_photos.htm</a:t>
            </a:r>
          </a:p>
        </p:txBody>
      </p:sp>
      <p:grpSp>
        <p:nvGrpSpPr>
          <p:cNvPr id="12" name="Group 11"/>
          <p:cNvGrpSpPr/>
          <p:nvPr/>
        </p:nvGrpSpPr>
        <p:grpSpPr>
          <a:xfrm>
            <a:off x="467544" y="1628800"/>
            <a:ext cx="4762500" cy="3384376"/>
            <a:chOff x="755576" y="980728"/>
            <a:chExt cx="4762500" cy="3384376"/>
          </a:xfrm>
        </p:grpSpPr>
        <p:pic>
          <p:nvPicPr>
            <p:cNvPr id="18444" name="Picture 12" descr="http://farm3.staticflickr.com/2007/2292342252_035e12f90e.jpg"/>
            <p:cNvPicPr>
              <a:picLocks noChangeAspect="1" noChangeArrowheads="1"/>
            </p:cNvPicPr>
            <p:nvPr/>
          </p:nvPicPr>
          <p:blipFill>
            <a:blip r:embed="rId2" cstate="print"/>
            <a:srcRect/>
            <a:stretch>
              <a:fillRect/>
            </a:stretch>
          </p:blipFill>
          <p:spPr bwMode="auto">
            <a:xfrm>
              <a:off x="755576" y="980728"/>
              <a:ext cx="4762500" cy="3371850"/>
            </a:xfrm>
            <a:prstGeom prst="rect">
              <a:avLst/>
            </a:prstGeom>
            <a:noFill/>
          </p:spPr>
        </p:pic>
        <p:sp>
          <p:nvSpPr>
            <p:cNvPr id="11" name="Rectangle 10"/>
            <p:cNvSpPr/>
            <p:nvPr/>
          </p:nvSpPr>
          <p:spPr>
            <a:xfrm>
              <a:off x="755576" y="4149660"/>
              <a:ext cx="4572000" cy="215444"/>
            </a:xfrm>
            <a:prstGeom prst="rect">
              <a:avLst/>
            </a:prstGeom>
          </p:spPr>
          <p:txBody>
            <a:bodyPr>
              <a:spAutoFit/>
            </a:bodyPr>
            <a:lstStyle/>
            <a:p>
              <a:r>
                <a:rPr lang="en-GB" sz="800">
                  <a:solidFill>
                    <a:schemeClr val="bg1"/>
                  </a:solidFill>
                </a:rPr>
                <a:t>http://www.flickr.com/photos/johnbullas/2292342252</a:t>
              </a:r>
              <a:r>
                <a:rPr lang="en-GB" sz="800"/>
                <a:t>/</a:t>
              </a:r>
            </a:p>
          </p:txBody>
        </p:sp>
      </p:grpSp>
      <p:grpSp>
        <p:nvGrpSpPr>
          <p:cNvPr id="17" name="Group 16"/>
          <p:cNvGrpSpPr/>
          <p:nvPr/>
        </p:nvGrpSpPr>
        <p:grpSpPr>
          <a:xfrm>
            <a:off x="4139952" y="3717032"/>
            <a:ext cx="5166320" cy="2642810"/>
            <a:chOff x="3491880" y="2708920"/>
            <a:chExt cx="5382344" cy="3074858"/>
          </a:xfrm>
        </p:grpSpPr>
        <p:pic>
          <p:nvPicPr>
            <p:cNvPr id="18446" name="Picture 14" descr="http://www.geomineinfo.com/images/Bingham%20Canyon%20-%201.jpg"/>
            <p:cNvPicPr>
              <a:picLocks noChangeAspect="1" noChangeArrowheads="1"/>
            </p:cNvPicPr>
            <p:nvPr/>
          </p:nvPicPr>
          <p:blipFill>
            <a:blip r:embed="rId3" cstate="print"/>
            <a:stretch>
              <a:fillRect/>
            </a:stretch>
          </p:blipFill>
          <p:spPr bwMode="auto">
            <a:xfrm>
              <a:off x="3491880" y="2708920"/>
              <a:ext cx="4904199" cy="2952328"/>
            </a:xfrm>
            <a:prstGeom prst="rect">
              <a:avLst/>
            </a:prstGeom>
            <a:noFill/>
            <a:ln>
              <a:noFill/>
            </a:ln>
          </p:spPr>
        </p:pic>
        <p:sp>
          <p:nvSpPr>
            <p:cNvPr id="16" name="Rectangle 15"/>
            <p:cNvSpPr/>
            <p:nvPr/>
          </p:nvSpPr>
          <p:spPr>
            <a:xfrm>
              <a:off x="6660232" y="5445224"/>
              <a:ext cx="2213992" cy="338554"/>
            </a:xfrm>
            <a:prstGeom prst="rect">
              <a:avLst/>
            </a:prstGeom>
          </p:spPr>
          <p:txBody>
            <a:bodyPr wrap="square">
              <a:spAutoFit/>
            </a:bodyPr>
            <a:lstStyle/>
            <a:p>
              <a:r>
                <a:rPr lang="en-GB" sz="800">
                  <a:solidFill>
                    <a:schemeClr val="bg1"/>
                  </a:solidFill>
                </a:rPr>
                <a:t>http://www.geomineinfo.com/mining_photos.htm</a:t>
              </a:r>
            </a:p>
          </p:txBody>
        </p:sp>
      </p:grpSp>
      <p:grpSp>
        <p:nvGrpSpPr>
          <p:cNvPr id="14" name="Group 13"/>
          <p:cNvGrpSpPr/>
          <p:nvPr/>
        </p:nvGrpSpPr>
        <p:grpSpPr>
          <a:xfrm>
            <a:off x="359532" y="1357985"/>
            <a:ext cx="8424936" cy="4896544"/>
            <a:chOff x="3203848" y="1124744"/>
            <a:chExt cx="6696744" cy="4104456"/>
          </a:xfrm>
        </p:grpSpPr>
        <p:pic>
          <p:nvPicPr>
            <p:cNvPr id="18442" name="Picture 10" descr="http://eoimages.gsfc.nasa.gov/images/imagerecords/8000/8144/ISS015-E-29867_lrg.jpg"/>
            <p:cNvPicPr>
              <a:picLocks noChangeAspect="1" noChangeArrowheads="1"/>
            </p:cNvPicPr>
            <p:nvPr/>
          </p:nvPicPr>
          <p:blipFill>
            <a:blip r:embed="rId4" cstate="print"/>
            <a:srcRect/>
            <a:stretch>
              <a:fillRect/>
            </a:stretch>
          </p:blipFill>
          <p:spPr bwMode="auto">
            <a:xfrm>
              <a:off x="3203848" y="1124744"/>
              <a:ext cx="6624736" cy="4087604"/>
            </a:xfrm>
            <a:prstGeom prst="rect">
              <a:avLst/>
            </a:prstGeom>
            <a:noFill/>
          </p:spPr>
        </p:pic>
        <p:sp>
          <p:nvSpPr>
            <p:cNvPr id="13" name="Rectangle 12"/>
            <p:cNvSpPr/>
            <p:nvPr/>
          </p:nvSpPr>
          <p:spPr>
            <a:xfrm>
              <a:off x="7164288" y="5013756"/>
              <a:ext cx="2736304" cy="215444"/>
            </a:xfrm>
            <a:prstGeom prst="rect">
              <a:avLst/>
            </a:prstGeom>
          </p:spPr>
          <p:txBody>
            <a:bodyPr wrap="square">
              <a:spAutoFit/>
            </a:bodyPr>
            <a:lstStyle/>
            <a:p>
              <a:r>
                <a:rPr lang="en-GB" sz="800"/>
                <a:t>http://earthobservatory.nasa.gov/IOTD/view.php?id=8144</a:t>
              </a:r>
            </a:p>
          </p:txBody>
        </p:sp>
      </p:grpSp>
    </p:spTree>
    <p:extLst>
      <p:ext uri="{BB962C8B-B14F-4D97-AF65-F5344CB8AC3E}">
        <p14:creationId xmlns:p14="http://schemas.microsoft.com/office/powerpoint/2010/main" val="1500327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Outcrops </a:t>
            </a:r>
          </a:p>
        </p:txBody>
      </p:sp>
      <p:pic>
        <p:nvPicPr>
          <p:cNvPr id="6146" name="Picture 2" descr="http://farm6.staticflickr.com/5011/5400305708_990a8ab613_z.jpg"/>
          <p:cNvPicPr>
            <a:picLocks noChangeAspect="1" noChangeArrowheads="1"/>
          </p:cNvPicPr>
          <p:nvPr/>
        </p:nvPicPr>
        <p:blipFill>
          <a:blip r:embed="rId2" cstate="print"/>
          <a:srcRect/>
          <a:stretch>
            <a:fillRect/>
          </a:stretch>
        </p:blipFill>
        <p:spPr bwMode="auto">
          <a:xfrm>
            <a:off x="611560" y="1484784"/>
            <a:ext cx="4511824" cy="3010233"/>
          </a:xfrm>
          <a:prstGeom prst="rect">
            <a:avLst/>
          </a:prstGeom>
          <a:noFill/>
        </p:spPr>
      </p:pic>
      <p:grpSp>
        <p:nvGrpSpPr>
          <p:cNvPr id="9" name="Group 8"/>
          <p:cNvGrpSpPr/>
          <p:nvPr/>
        </p:nvGrpSpPr>
        <p:grpSpPr>
          <a:xfrm>
            <a:off x="4139952" y="3356992"/>
            <a:ext cx="4572000" cy="2914650"/>
            <a:chOff x="3419872" y="1844824"/>
            <a:chExt cx="4572000" cy="2914650"/>
          </a:xfrm>
        </p:grpSpPr>
        <p:pic>
          <p:nvPicPr>
            <p:cNvPr id="6150" name="Picture 6" descr="http://www.icmj2.com/03Mar/Gossan_2.jpg"/>
            <p:cNvPicPr>
              <a:picLocks noChangeAspect="1" noChangeArrowheads="1"/>
            </p:cNvPicPr>
            <p:nvPr/>
          </p:nvPicPr>
          <p:blipFill>
            <a:blip r:embed="rId3" cstate="print"/>
            <a:srcRect/>
            <a:stretch>
              <a:fillRect/>
            </a:stretch>
          </p:blipFill>
          <p:spPr bwMode="auto">
            <a:xfrm>
              <a:off x="3419872" y="1844824"/>
              <a:ext cx="4086225" cy="2914650"/>
            </a:xfrm>
            <a:prstGeom prst="rect">
              <a:avLst/>
            </a:prstGeom>
            <a:noFill/>
          </p:spPr>
        </p:pic>
        <p:sp>
          <p:nvSpPr>
            <p:cNvPr id="7" name="Rectangle 6"/>
            <p:cNvSpPr/>
            <p:nvPr/>
          </p:nvSpPr>
          <p:spPr>
            <a:xfrm>
              <a:off x="3419872" y="4509120"/>
              <a:ext cx="4572000" cy="215444"/>
            </a:xfrm>
            <a:prstGeom prst="rect">
              <a:avLst/>
            </a:prstGeom>
          </p:spPr>
          <p:txBody>
            <a:bodyPr>
              <a:spAutoFit/>
            </a:bodyPr>
            <a:lstStyle/>
            <a:p>
              <a:r>
                <a:rPr lang="en-GB" sz="800">
                  <a:solidFill>
                    <a:schemeClr val="bg1"/>
                  </a:solidFill>
                </a:rPr>
                <a:t>http://www.icmj2.com/03Mar/03MarFeature.htm</a:t>
              </a:r>
            </a:p>
          </p:txBody>
        </p:sp>
      </p:grpSp>
      <p:sp>
        <p:nvSpPr>
          <p:cNvPr id="10" name="TextBox 9"/>
          <p:cNvSpPr txBox="1"/>
          <p:nvPr/>
        </p:nvSpPr>
        <p:spPr>
          <a:xfrm>
            <a:off x="5796136" y="2852936"/>
            <a:ext cx="2724592" cy="369332"/>
          </a:xfrm>
          <a:prstGeom prst="rect">
            <a:avLst/>
          </a:prstGeom>
          <a:noFill/>
        </p:spPr>
        <p:txBody>
          <a:bodyPr wrap="none" rtlCol="0">
            <a:spAutoFit/>
          </a:bodyPr>
          <a:lstStyle/>
          <a:p>
            <a:r>
              <a:rPr lang="en-GB" err="1"/>
              <a:t>Gossan</a:t>
            </a:r>
            <a:r>
              <a:rPr lang="en-GB"/>
              <a:t> over depleted zone</a:t>
            </a:r>
          </a:p>
        </p:txBody>
      </p:sp>
    </p:spTree>
    <p:extLst>
      <p:ext uri="{BB962C8B-B14F-4D97-AF65-F5344CB8AC3E}">
        <p14:creationId xmlns:p14="http://schemas.microsoft.com/office/powerpoint/2010/main" val="13354051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Mining &amp; processing</a:t>
            </a:r>
          </a:p>
        </p:txBody>
      </p:sp>
      <p:grpSp>
        <p:nvGrpSpPr>
          <p:cNvPr id="8" name="Group 7"/>
          <p:cNvGrpSpPr/>
          <p:nvPr/>
        </p:nvGrpSpPr>
        <p:grpSpPr>
          <a:xfrm>
            <a:off x="3707904" y="4005064"/>
            <a:ext cx="3491880" cy="2520280"/>
            <a:chOff x="432048" y="2420888"/>
            <a:chExt cx="4572000" cy="2858636"/>
          </a:xfrm>
        </p:grpSpPr>
        <p:pic>
          <p:nvPicPr>
            <p:cNvPr id="8196" name="Picture 4" descr="http://t2.gstatic.com/images?q=tbn:ANd9GcSF6dFmTqiB6a7TpZqTaD73iO7Ivj_XuVGz14xjO0WEg8X0bIntYQ"/>
            <p:cNvPicPr>
              <a:picLocks noChangeAspect="1" noChangeArrowheads="1"/>
            </p:cNvPicPr>
            <p:nvPr/>
          </p:nvPicPr>
          <p:blipFill>
            <a:blip r:embed="rId2" cstate="print"/>
            <a:srcRect/>
            <a:stretch>
              <a:fillRect/>
            </a:stretch>
          </p:blipFill>
          <p:spPr bwMode="auto">
            <a:xfrm>
              <a:off x="467544" y="2420888"/>
              <a:ext cx="3816424" cy="2858636"/>
            </a:xfrm>
            <a:prstGeom prst="rect">
              <a:avLst/>
            </a:prstGeom>
            <a:noFill/>
          </p:spPr>
        </p:pic>
        <p:sp>
          <p:nvSpPr>
            <p:cNvPr id="7" name="Rectangle 6"/>
            <p:cNvSpPr/>
            <p:nvPr/>
          </p:nvSpPr>
          <p:spPr>
            <a:xfrm>
              <a:off x="432048" y="5085184"/>
              <a:ext cx="4572000" cy="184666"/>
            </a:xfrm>
            <a:prstGeom prst="rect">
              <a:avLst/>
            </a:prstGeom>
          </p:spPr>
          <p:txBody>
            <a:bodyPr>
              <a:spAutoFit/>
            </a:bodyPr>
            <a:lstStyle/>
            <a:p>
              <a:r>
                <a:rPr lang="en-GB" sz="600">
                  <a:solidFill>
                    <a:schemeClr val="bg1"/>
                  </a:solidFill>
                </a:rPr>
                <a:t>http://www.flickriver.com/photos/earthworks/random/</a:t>
              </a:r>
            </a:p>
          </p:txBody>
        </p:sp>
      </p:grpSp>
      <p:pic>
        <p:nvPicPr>
          <p:cNvPr id="8198" name="Picture 6" descr="http://www.mining-technology.com/projects/bingham/images/bing5.jpg"/>
          <p:cNvPicPr>
            <a:picLocks noChangeAspect="1" noChangeArrowheads="1"/>
          </p:cNvPicPr>
          <p:nvPr/>
        </p:nvPicPr>
        <p:blipFill>
          <a:blip r:embed="rId3" cstate="print"/>
          <a:srcRect/>
          <a:stretch>
            <a:fillRect/>
          </a:stretch>
        </p:blipFill>
        <p:spPr bwMode="auto">
          <a:xfrm>
            <a:off x="251520" y="4221088"/>
            <a:ext cx="2827876" cy="2273907"/>
          </a:xfrm>
          <a:prstGeom prst="rect">
            <a:avLst/>
          </a:prstGeom>
          <a:noFill/>
        </p:spPr>
      </p:pic>
      <p:pic>
        <p:nvPicPr>
          <p:cNvPr id="10" name="Picture 4" descr="http://t1.gstatic.com/images?q=tbn:ANd9GcTRE2alNqodaGN_u6qNf_RRrMyefi9dY1hrYQjhT8wgco2KD11n"/>
          <p:cNvPicPr>
            <a:picLocks noChangeAspect="1" noChangeArrowheads="1"/>
          </p:cNvPicPr>
          <p:nvPr/>
        </p:nvPicPr>
        <p:blipFill>
          <a:blip r:embed="rId4" cstate="print"/>
          <a:srcRect/>
          <a:stretch>
            <a:fillRect/>
          </a:stretch>
        </p:blipFill>
        <p:spPr bwMode="auto">
          <a:xfrm>
            <a:off x="251520" y="1340768"/>
            <a:ext cx="2703782" cy="2160240"/>
          </a:xfrm>
          <a:prstGeom prst="rect">
            <a:avLst/>
          </a:prstGeom>
          <a:noFill/>
        </p:spPr>
      </p:pic>
      <p:pic>
        <p:nvPicPr>
          <p:cNvPr id="8202" name="Picture 10" descr="http://www.mining-technology.com/projects/bingham/images/bing7s.jpg"/>
          <p:cNvPicPr>
            <a:picLocks noChangeAspect="1" noChangeArrowheads="1"/>
          </p:cNvPicPr>
          <p:nvPr/>
        </p:nvPicPr>
        <p:blipFill>
          <a:blip r:embed="rId5" cstate="print"/>
          <a:srcRect/>
          <a:stretch>
            <a:fillRect/>
          </a:stretch>
        </p:blipFill>
        <p:spPr bwMode="auto">
          <a:xfrm>
            <a:off x="3440156" y="1412776"/>
            <a:ext cx="1901620" cy="1800200"/>
          </a:xfrm>
          <a:prstGeom prst="rect">
            <a:avLst/>
          </a:prstGeom>
          <a:noFill/>
        </p:spPr>
      </p:pic>
      <p:grpSp>
        <p:nvGrpSpPr>
          <p:cNvPr id="15" name="Group 14"/>
          <p:cNvGrpSpPr/>
          <p:nvPr/>
        </p:nvGrpSpPr>
        <p:grpSpPr>
          <a:xfrm>
            <a:off x="5580112" y="1412776"/>
            <a:ext cx="2664296" cy="1800200"/>
            <a:chOff x="4067944" y="1196752"/>
            <a:chExt cx="4464496" cy="2448272"/>
          </a:xfrm>
        </p:grpSpPr>
        <p:pic>
          <p:nvPicPr>
            <p:cNvPr id="8204" name="Picture 12" descr="http://electrochem.cwru.edu/encycl/fig/m02/m02-f03b.jpg"/>
            <p:cNvPicPr>
              <a:picLocks noChangeAspect="1" noChangeArrowheads="1"/>
            </p:cNvPicPr>
            <p:nvPr/>
          </p:nvPicPr>
          <p:blipFill>
            <a:blip r:embed="rId6" cstate="print"/>
            <a:srcRect/>
            <a:stretch>
              <a:fillRect/>
            </a:stretch>
          </p:blipFill>
          <p:spPr bwMode="auto">
            <a:xfrm>
              <a:off x="4067944" y="1196752"/>
              <a:ext cx="4391025" cy="2428875"/>
            </a:xfrm>
            <a:prstGeom prst="rect">
              <a:avLst/>
            </a:prstGeom>
            <a:noFill/>
          </p:spPr>
        </p:pic>
        <p:sp>
          <p:nvSpPr>
            <p:cNvPr id="14" name="Rectangle 13"/>
            <p:cNvSpPr/>
            <p:nvPr/>
          </p:nvSpPr>
          <p:spPr>
            <a:xfrm>
              <a:off x="5940152" y="3429580"/>
              <a:ext cx="2592288" cy="215444"/>
            </a:xfrm>
            <a:prstGeom prst="rect">
              <a:avLst/>
            </a:prstGeom>
            <a:ln>
              <a:solidFill>
                <a:schemeClr val="bg1"/>
              </a:solidFill>
            </a:ln>
          </p:spPr>
          <p:txBody>
            <a:bodyPr wrap="square">
              <a:spAutoFit/>
            </a:bodyPr>
            <a:lstStyle/>
            <a:p>
              <a:r>
                <a:rPr lang="en-GB" sz="800">
                  <a:solidFill>
                    <a:schemeClr val="bg1"/>
                  </a:solidFill>
                </a:rPr>
                <a:t>http://electrochem.cwru.edu/encycl/art-m02-metals.htm</a:t>
              </a:r>
            </a:p>
          </p:txBody>
        </p:sp>
      </p:grpSp>
      <p:sp>
        <p:nvSpPr>
          <p:cNvPr id="16" name="TextBox 15"/>
          <p:cNvSpPr txBox="1"/>
          <p:nvPr/>
        </p:nvSpPr>
        <p:spPr>
          <a:xfrm>
            <a:off x="395536" y="3717032"/>
            <a:ext cx="1528432" cy="369332"/>
          </a:xfrm>
          <a:prstGeom prst="rect">
            <a:avLst/>
          </a:prstGeom>
          <a:noFill/>
        </p:spPr>
        <p:txBody>
          <a:bodyPr wrap="none" rtlCol="0">
            <a:spAutoFit/>
          </a:bodyPr>
          <a:lstStyle/>
          <a:p>
            <a:r>
              <a:rPr lang="en-GB"/>
              <a:t>240 ton trucks</a:t>
            </a:r>
          </a:p>
        </p:txBody>
      </p:sp>
      <p:sp>
        <p:nvSpPr>
          <p:cNvPr id="17" name="TextBox 16"/>
          <p:cNvSpPr txBox="1"/>
          <p:nvPr/>
        </p:nvSpPr>
        <p:spPr>
          <a:xfrm>
            <a:off x="6859992" y="4870901"/>
            <a:ext cx="1528432" cy="646331"/>
          </a:xfrm>
          <a:prstGeom prst="rect">
            <a:avLst/>
          </a:prstGeom>
          <a:noFill/>
        </p:spPr>
        <p:txBody>
          <a:bodyPr wrap="square" rtlCol="0">
            <a:spAutoFit/>
          </a:bodyPr>
          <a:lstStyle/>
          <a:p>
            <a:r>
              <a:rPr lang="en-GB"/>
              <a:t>Tailings</a:t>
            </a:r>
          </a:p>
          <a:p>
            <a:r>
              <a:rPr lang="en-GB"/>
              <a:t> ponds</a:t>
            </a:r>
          </a:p>
        </p:txBody>
      </p:sp>
      <p:sp>
        <p:nvSpPr>
          <p:cNvPr id="18" name="TextBox 17"/>
          <p:cNvSpPr txBox="1"/>
          <p:nvPr/>
        </p:nvSpPr>
        <p:spPr>
          <a:xfrm>
            <a:off x="4088442" y="3212976"/>
            <a:ext cx="2787814" cy="369332"/>
          </a:xfrm>
          <a:prstGeom prst="rect">
            <a:avLst/>
          </a:prstGeom>
          <a:noFill/>
        </p:spPr>
        <p:txBody>
          <a:bodyPr wrap="none" rtlCol="0">
            <a:spAutoFit/>
          </a:bodyPr>
          <a:lstStyle/>
          <a:p>
            <a:r>
              <a:rPr lang="en-GB"/>
              <a:t>Ball mills and flotation cells</a:t>
            </a:r>
          </a:p>
        </p:txBody>
      </p:sp>
      <p:pic>
        <p:nvPicPr>
          <p:cNvPr id="8206" name="Picture 14" descr="http://electrochem.cwru.edu/encycl/fig/m02/m02-f02b.jpg"/>
          <p:cNvPicPr>
            <a:picLocks noChangeAspect="1" noChangeArrowheads="1"/>
          </p:cNvPicPr>
          <p:nvPr/>
        </p:nvPicPr>
        <p:blipFill>
          <a:blip r:embed="rId7" cstate="print"/>
          <a:srcRect/>
          <a:stretch>
            <a:fillRect/>
          </a:stretch>
        </p:blipFill>
        <p:spPr bwMode="auto">
          <a:xfrm>
            <a:off x="6834745" y="2996952"/>
            <a:ext cx="2047800" cy="1132731"/>
          </a:xfrm>
          <a:prstGeom prst="rect">
            <a:avLst/>
          </a:prstGeom>
          <a:noFill/>
        </p:spPr>
      </p:pic>
      <p:sp>
        <p:nvSpPr>
          <p:cNvPr id="3" name="TextBox 2"/>
          <p:cNvSpPr txBox="1"/>
          <p:nvPr/>
        </p:nvSpPr>
        <p:spPr>
          <a:xfrm>
            <a:off x="7020272" y="5949280"/>
            <a:ext cx="1883914" cy="646331"/>
          </a:xfrm>
          <a:prstGeom prst="rect">
            <a:avLst/>
          </a:prstGeom>
          <a:noFill/>
        </p:spPr>
        <p:txBody>
          <a:bodyPr wrap="none" rtlCol="0">
            <a:spAutoFit/>
          </a:bodyPr>
          <a:lstStyle/>
          <a:p>
            <a:r>
              <a:rPr lang="en-GB"/>
              <a:t>Grade-0.25-2% Cu</a:t>
            </a:r>
          </a:p>
          <a:p>
            <a:r>
              <a:rPr lang="en-GB"/>
              <a:t>+Au and Mo</a:t>
            </a:r>
          </a:p>
        </p:txBody>
      </p:sp>
    </p:spTree>
    <p:extLst>
      <p:ext uri="{BB962C8B-B14F-4D97-AF65-F5344CB8AC3E}">
        <p14:creationId xmlns:p14="http://schemas.microsoft.com/office/powerpoint/2010/main" val="10628293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A23E17C-DB1E-90D1-1A4C-F4721A270753}"/>
              </a:ext>
            </a:extLst>
          </p:cNvPr>
          <p:cNvPicPr>
            <a:picLocks noChangeAspect="1"/>
          </p:cNvPicPr>
          <p:nvPr/>
        </p:nvPicPr>
        <p:blipFill>
          <a:blip r:embed="rId2"/>
          <a:stretch>
            <a:fillRect/>
          </a:stretch>
        </p:blipFill>
        <p:spPr>
          <a:xfrm>
            <a:off x="1729493" y="163547"/>
            <a:ext cx="5685013" cy="6530906"/>
          </a:xfrm>
          <a:prstGeom prst="rect">
            <a:avLst/>
          </a:prstGeom>
        </p:spPr>
      </p:pic>
    </p:spTree>
    <p:extLst>
      <p:ext uri="{BB962C8B-B14F-4D97-AF65-F5344CB8AC3E}">
        <p14:creationId xmlns:p14="http://schemas.microsoft.com/office/powerpoint/2010/main" val="32296472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Cu production</a:t>
            </a:r>
          </a:p>
        </p:txBody>
      </p:sp>
      <p:pic>
        <p:nvPicPr>
          <p:cNvPr id="5" name="Picture 4">
            <a:extLst>
              <a:ext uri="{FF2B5EF4-FFF2-40B4-BE49-F238E27FC236}">
                <a16:creationId xmlns:a16="http://schemas.microsoft.com/office/drawing/2014/main" id="{264E8D7A-3456-FEF9-3FD6-6708F3553ABD}"/>
              </a:ext>
            </a:extLst>
          </p:cNvPr>
          <p:cNvPicPr>
            <a:picLocks noChangeAspect="1"/>
          </p:cNvPicPr>
          <p:nvPr/>
        </p:nvPicPr>
        <p:blipFill>
          <a:blip r:embed="rId2"/>
          <a:stretch>
            <a:fillRect/>
          </a:stretch>
        </p:blipFill>
        <p:spPr>
          <a:xfrm>
            <a:off x="1455150" y="205460"/>
            <a:ext cx="6233700" cy="6447079"/>
          </a:xfrm>
          <a:prstGeom prst="rect">
            <a:avLst/>
          </a:prstGeom>
        </p:spPr>
      </p:pic>
    </p:spTree>
    <p:extLst>
      <p:ext uri="{BB962C8B-B14F-4D97-AF65-F5344CB8AC3E}">
        <p14:creationId xmlns:p14="http://schemas.microsoft.com/office/powerpoint/2010/main" val="17895338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5812" y="47043"/>
            <a:ext cx="8229600" cy="1143000"/>
          </a:xfrm>
        </p:spPr>
        <p:txBody>
          <a:bodyPr/>
          <a:lstStyle/>
          <a:p>
            <a:pPr algn="l"/>
            <a:r>
              <a:rPr lang="en-GB"/>
              <a:t>Lithium</a:t>
            </a:r>
          </a:p>
        </p:txBody>
      </p:sp>
      <p:sp>
        <p:nvSpPr>
          <p:cNvPr id="3" name="Content Placeholder 2"/>
          <p:cNvSpPr>
            <a:spLocks noGrp="1"/>
          </p:cNvSpPr>
          <p:nvPr>
            <p:ph sz="half" idx="1"/>
          </p:nvPr>
        </p:nvSpPr>
        <p:spPr>
          <a:xfrm>
            <a:off x="236962" y="1175055"/>
            <a:ext cx="4038600" cy="741777"/>
          </a:xfrm>
        </p:spPr>
        <p:txBody>
          <a:bodyPr>
            <a:normAutofit fontScale="92500" lnSpcReduction="20000"/>
          </a:bodyPr>
          <a:lstStyle/>
          <a:p>
            <a:r>
              <a:rPr lang="en-GB"/>
              <a:t>Extracted primarily from </a:t>
            </a:r>
            <a:r>
              <a:rPr lang="en-GB" err="1"/>
              <a:t>pegmatites</a:t>
            </a:r>
            <a:r>
              <a:rPr lang="en-GB"/>
              <a:t> and brines</a:t>
            </a:r>
          </a:p>
          <a:p>
            <a:endParaRPr lang="en-GB"/>
          </a:p>
        </p:txBody>
      </p:sp>
      <p:pic>
        <p:nvPicPr>
          <p:cNvPr id="7" name="Picture 6"/>
          <p:cNvPicPr>
            <a:picLocks noChangeAspect="1"/>
          </p:cNvPicPr>
          <p:nvPr/>
        </p:nvPicPr>
        <p:blipFill>
          <a:blip r:embed="rId2"/>
          <a:stretch>
            <a:fillRect/>
          </a:stretch>
        </p:blipFill>
        <p:spPr>
          <a:xfrm>
            <a:off x="971600" y="2060848"/>
            <a:ext cx="2987278" cy="4428778"/>
          </a:xfrm>
          <a:prstGeom prst="rect">
            <a:avLst/>
          </a:prstGeom>
        </p:spPr>
      </p:pic>
      <p:pic>
        <p:nvPicPr>
          <p:cNvPr id="6" name="Picture 5">
            <a:extLst>
              <a:ext uri="{FF2B5EF4-FFF2-40B4-BE49-F238E27FC236}">
                <a16:creationId xmlns:a16="http://schemas.microsoft.com/office/drawing/2014/main" id="{BA7BF961-62E4-97FE-BE7F-E760796A0B24}"/>
              </a:ext>
            </a:extLst>
          </p:cNvPr>
          <p:cNvPicPr>
            <a:picLocks noChangeAspect="1"/>
          </p:cNvPicPr>
          <p:nvPr/>
        </p:nvPicPr>
        <p:blipFill>
          <a:blip r:embed="rId3"/>
          <a:stretch>
            <a:fillRect/>
          </a:stretch>
        </p:blipFill>
        <p:spPr>
          <a:xfrm>
            <a:off x="4183928" y="1147920"/>
            <a:ext cx="4939528" cy="4901058"/>
          </a:xfrm>
          <a:prstGeom prst="rect">
            <a:avLst/>
          </a:prstGeom>
        </p:spPr>
      </p:pic>
    </p:spTree>
    <p:extLst>
      <p:ext uri="{BB962C8B-B14F-4D97-AF65-F5344CB8AC3E}">
        <p14:creationId xmlns:p14="http://schemas.microsoft.com/office/powerpoint/2010/main" val="1982425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err="1"/>
              <a:t>Pegmatites</a:t>
            </a:r>
            <a:endParaRPr lang="en-GB"/>
          </a:p>
        </p:txBody>
      </p:sp>
      <p:sp>
        <p:nvSpPr>
          <p:cNvPr id="3" name="Content Placeholder 2"/>
          <p:cNvSpPr>
            <a:spLocks noGrp="1"/>
          </p:cNvSpPr>
          <p:nvPr>
            <p:ph sz="half" idx="1"/>
          </p:nvPr>
        </p:nvSpPr>
        <p:spPr>
          <a:xfrm>
            <a:off x="358615" y="1901512"/>
            <a:ext cx="4038600" cy="4525963"/>
          </a:xfrm>
        </p:spPr>
        <p:txBody>
          <a:bodyPr>
            <a:normAutofit lnSpcReduction="10000"/>
          </a:bodyPr>
          <a:lstStyle/>
          <a:p>
            <a:r>
              <a:rPr lang="en-GB" dirty="0"/>
              <a:t>Plutonic intrusions</a:t>
            </a:r>
          </a:p>
          <a:p>
            <a:r>
              <a:rPr lang="en-GB" dirty="0"/>
              <a:t>Coarse grain size</a:t>
            </a:r>
          </a:p>
          <a:p>
            <a:r>
              <a:rPr lang="en-GB" dirty="0"/>
              <a:t>Extended fractional crystallisation of a fertile magma</a:t>
            </a:r>
          </a:p>
          <a:p>
            <a:r>
              <a:rPr lang="en-GB" dirty="0"/>
              <a:t>Li-bearing pegmatites are relatively rare</a:t>
            </a:r>
          </a:p>
          <a:p>
            <a:r>
              <a:rPr lang="en-GB" dirty="0"/>
              <a:t>Greenbushes Australia is the main worked pegmatite for lithium</a:t>
            </a:r>
          </a:p>
        </p:txBody>
      </p:sp>
      <p:pic>
        <p:nvPicPr>
          <p:cNvPr id="5" name="Picture 2" descr="http://solidresources.com/web_images/pegmatite6.png"/>
          <p:cNvPicPr>
            <a:picLocks noChangeAspect="1" noChangeArrowheads="1"/>
          </p:cNvPicPr>
          <p:nvPr/>
        </p:nvPicPr>
        <p:blipFill rotWithShape="1">
          <a:blip r:embed="rId3">
            <a:extLst>
              <a:ext uri="{28A0092B-C50C-407E-A947-70E740481C1C}">
                <a14:useLocalDpi xmlns:a14="http://schemas.microsoft.com/office/drawing/2010/main" val="0"/>
              </a:ext>
            </a:extLst>
          </a:blip>
          <a:srcRect t="9530" r="44739"/>
          <a:stretch/>
        </p:blipFill>
        <p:spPr bwMode="auto">
          <a:xfrm>
            <a:off x="6379800" y="260648"/>
            <a:ext cx="2736304" cy="32817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http://elements.geoscienceworld.org/content/8/4/257/F2/graphic-3.large.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79863" y="3895828"/>
            <a:ext cx="4050196" cy="269907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414503" y="3542376"/>
            <a:ext cx="1930593" cy="369332"/>
          </a:xfrm>
          <a:prstGeom prst="rect">
            <a:avLst/>
          </a:prstGeom>
          <a:noFill/>
        </p:spPr>
        <p:txBody>
          <a:bodyPr wrap="none" rtlCol="0">
            <a:spAutoFit/>
          </a:bodyPr>
          <a:lstStyle/>
          <a:p>
            <a:r>
              <a:rPr lang="en-GB" i="1"/>
              <a:t>Granitic pegmatite</a:t>
            </a:r>
          </a:p>
        </p:txBody>
      </p:sp>
      <p:pic>
        <p:nvPicPr>
          <p:cNvPr id="17" name="Picture 16"/>
          <p:cNvPicPr>
            <a:picLocks noChangeAspect="1"/>
          </p:cNvPicPr>
          <p:nvPr/>
        </p:nvPicPr>
        <p:blipFill>
          <a:blip r:embed="rId5"/>
          <a:stretch>
            <a:fillRect/>
          </a:stretch>
        </p:blipFill>
        <p:spPr>
          <a:xfrm>
            <a:off x="3851921" y="231366"/>
            <a:ext cx="2556794" cy="2477554"/>
          </a:xfrm>
          <a:prstGeom prst="rect">
            <a:avLst/>
          </a:prstGeom>
        </p:spPr>
      </p:pic>
      <p:sp>
        <p:nvSpPr>
          <p:cNvPr id="18" name="Rectangle 17"/>
          <p:cNvSpPr/>
          <p:nvPr/>
        </p:nvSpPr>
        <p:spPr>
          <a:xfrm>
            <a:off x="3683112" y="2616681"/>
            <a:ext cx="2815194" cy="369332"/>
          </a:xfrm>
          <a:prstGeom prst="rect">
            <a:avLst/>
          </a:prstGeom>
        </p:spPr>
        <p:txBody>
          <a:bodyPr wrap="none">
            <a:spAutoFit/>
          </a:bodyPr>
          <a:lstStyle/>
          <a:p>
            <a:r>
              <a:rPr lang="en-GB">
                <a:solidFill>
                  <a:srgbClr val="555555"/>
                </a:solidFill>
                <a:latin typeface="arial" panose="020B0604020202020204" pitchFamily="34" charset="0"/>
              </a:rPr>
              <a:t>K(Li,Al</a:t>
            </a:r>
            <a:r>
              <a:rPr lang="en-GB" baseline="-25000">
                <a:solidFill>
                  <a:srgbClr val="555555"/>
                </a:solidFill>
                <a:latin typeface="arial" panose="020B0604020202020204" pitchFamily="34" charset="0"/>
              </a:rPr>
              <a:t>3</a:t>
            </a:r>
            <a:r>
              <a:rPr lang="en-GB">
                <a:solidFill>
                  <a:srgbClr val="555555"/>
                </a:solidFill>
                <a:latin typeface="arial" panose="020B0604020202020204" pitchFamily="34" charset="0"/>
              </a:rPr>
              <a:t>)(AlSi</a:t>
            </a:r>
            <a:r>
              <a:rPr lang="en-GB" baseline="-25000">
                <a:solidFill>
                  <a:srgbClr val="555555"/>
                </a:solidFill>
                <a:latin typeface="arial" panose="020B0604020202020204" pitchFamily="34" charset="0"/>
              </a:rPr>
              <a:t>3</a:t>
            </a:r>
            <a:r>
              <a:rPr lang="en-GB">
                <a:solidFill>
                  <a:srgbClr val="555555"/>
                </a:solidFill>
                <a:latin typeface="arial" panose="020B0604020202020204" pitchFamily="34" charset="0"/>
              </a:rPr>
              <a:t>)O</a:t>
            </a:r>
            <a:r>
              <a:rPr lang="en-GB" baseline="-25000">
                <a:solidFill>
                  <a:srgbClr val="555555"/>
                </a:solidFill>
                <a:latin typeface="arial" panose="020B0604020202020204" pitchFamily="34" charset="0"/>
              </a:rPr>
              <a:t>10</a:t>
            </a:r>
            <a:r>
              <a:rPr lang="en-GB">
                <a:solidFill>
                  <a:srgbClr val="555555"/>
                </a:solidFill>
                <a:latin typeface="arial" panose="020B0604020202020204" pitchFamily="34" charset="0"/>
              </a:rPr>
              <a:t>(OH,F)</a:t>
            </a:r>
            <a:r>
              <a:rPr lang="en-GB" baseline="-25000">
                <a:solidFill>
                  <a:srgbClr val="555555"/>
                </a:solidFill>
                <a:latin typeface="arial" panose="020B0604020202020204" pitchFamily="34" charset="0"/>
              </a:rPr>
              <a:t>2</a:t>
            </a:r>
            <a:endParaRPr lang="en-GB"/>
          </a:p>
        </p:txBody>
      </p:sp>
    </p:spTree>
    <p:extLst>
      <p:ext uri="{BB962C8B-B14F-4D97-AF65-F5344CB8AC3E}">
        <p14:creationId xmlns:p14="http://schemas.microsoft.com/office/powerpoint/2010/main" val="2526802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a:t>Continental brines</a:t>
            </a:r>
          </a:p>
        </p:txBody>
      </p:sp>
      <p:sp>
        <p:nvSpPr>
          <p:cNvPr id="3" name="Content Placeholder 2"/>
          <p:cNvSpPr>
            <a:spLocks noGrp="1"/>
          </p:cNvSpPr>
          <p:nvPr>
            <p:ph sz="half" idx="1"/>
          </p:nvPr>
        </p:nvSpPr>
        <p:spPr>
          <a:xfrm>
            <a:off x="251520" y="1287282"/>
            <a:ext cx="3240360" cy="5526094"/>
          </a:xfrm>
        </p:spPr>
        <p:txBody>
          <a:bodyPr>
            <a:normAutofit fontScale="77500" lnSpcReduction="20000"/>
          </a:bodyPr>
          <a:lstStyle/>
          <a:p>
            <a:r>
              <a:rPr lang="en-GB"/>
              <a:t>Occur in endorheic basins in areas with high evaporation rates</a:t>
            </a:r>
          </a:p>
          <a:p>
            <a:r>
              <a:rPr lang="en-GB"/>
              <a:t>Cheaper and more efficient than mining rock</a:t>
            </a:r>
          </a:p>
          <a:p>
            <a:r>
              <a:rPr lang="en-GB"/>
              <a:t>Key area is the central Andes –salt lakes and </a:t>
            </a:r>
            <a:r>
              <a:rPr lang="en-GB" err="1"/>
              <a:t>evaporite</a:t>
            </a:r>
            <a:r>
              <a:rPr lang="en-GB"/>
              <a:t> deposits</a:t>
            </a:r>
          </a:p>
          <a:p>
            <a:r>
              <a:rPr lang="en-GB"/>
              <a:t>Source of Li thought to be the Puno-</a:t>
            </a:r>
            <a:r>
              <a:rPr lang="en-GB" err="1"/>
              <a:t>Altiplano</a:t>
            </a:r>
            <a:r>
              <a:rPr lang="en-GB"/>
              <a:t> magma body</a:t>
            </a:r>
          </a:p>
          <a:p>
            <a:r>
              <a:rPr lang="en-GB"/>
              <a:t>Pumped out</a:t>
            </a:r>
          </a:p>
          <a:p>
            <a:r>
              <a:rPr lang="en-GB"/>
              <a:t>Uses ~500,000 gallons of water per tonne of Lithium-</a:t>
            </a:r>
            <a:r>
              <a:rPr lang="en-GB" err="1"/>
              <a:t>env</a:t>
            </a:r>
            <a:r>
              <a:rPr lang="en-GB"/>
              <a:t>. Impact</a:t>
            </a:r>
          </a:p>
        </p:txBody>
      </p:sp>
      <p:sp>
        <p:nvSpPr>
          <p:cNvPr id="4" name="Content Placeholder 3"/>
          <p:cNvSpPr>
            <a:spLocks noGrp="1"/>
          </p:cNvSpPr>
          <p:nvPr>
            <p:ph sz="half" idx="2"/>
          </p:nvPr>
        </p:nvSpPr>
        <p:spPr/>
        <p:txBody>
          <a:bodyPr>
            <a:normAutofit fontScale="77500" lnSpcReduction="20000"/>
          </a:bodyPr>
          <a:lstStyle/>
          <a:p>
            <a:endParaRPr lang="en-GB"/>
          </a:p>
        </p:txBody>
      </p:sp>
      <p:pic>
        <p:nvPicPr>
          <p:cNvPr id="5" name="Picture 4"/>
          <p:cNvPicPr>
            <a:picLocks noChangeAspect="1"/>
          </p:cNvPicPr>
          <p:nvPr/>
        </p:nvPicPr>
        <p:blipFill>
          <a:blip r:embed="rId3"/>
          <a:stretch>
            <a:fillRect/>
          </a:stretch>
        </p:blipFill>
        <p:spPr>
          <a:xfrm>
            <a:off x="3651587" y="1052736"/>
            <a:ext cx="5462361" cy="3263330"/>
          </a:xfrm>
          <a:prstGeom prst="rect">
            <a:avLst/>
          </a:prstGeom>
        </p:spPr>
      </p:pic>
      <p:pic>
        <p:nvPicPr>
          <p:cNvPr id="7" name="Picture 6"/>
          <p:cNvPicPr>
            <a:picLocks noChangeAspect="1"/>
          </p:cNvPicPr>
          <p:nvPr/>
        </p:nvPicPr>
        <p:blipFill>
          <a:blip r:embed="rId4"/>
          <a:stretch>
            <a:fillRect/>
          </a:stretch>
        </p:blipFill>
        <p:spPr>
          <a:xfrm>
            <a:off x="4648200" y="4316066"/>
            <a:ext cx="3240360" cy="2444308"/>
          </a:xfrm>
          <a:prstGeom prst="rect">
            <a:avLst/>
          </a:prstGeom>
        </p:spPr>
      </p:pic>
    </p:spTree>
    <p:extLst>
      <p:ext uri="{BB962C8B-B14F-4D97-AF65-F5344CB8AC3E}">
        <p14:creationId xmlns:p14="http://schemas.microsoft.com/office/powerpoint/2010/main" val="28191819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Lithium distribution</a:t>
            </a:r>
          </a:p>
        </p:txBody>
      </p:sp>
      <p:sp>
        <p:nvSpPr>
          <p:cNvPr id="3" name="Content Placeholder 2"/>
          <p:cNvSpPr>
            <a:spLocks noGrp="1"/>
          </p:cNvSpPr>
          <p:nvPr>
            <p:ph sz="half" idx="1"/>
          </p:nvPr>
        </p:nvSpPr>
        <p:spPr/>
        <p:txBody>
          <a:bodyPr/>
          <a:lstStyle/>
          <a:p>
            <a:endParaRPr lang="en-GB"/>
          </a:p>
        </p:txBody>
      </p:sp>
      <p:sp>
        <p:nvSpPr>
          <p:cNvPr id="4" name="Content Placeholder 3"/>
          <p:cNvSpPr>
            <a:spLocks noGrp="1"/>
          </p:cNvSpPr>
          <p:nvPr>
            <p:ph sz="half" idx="2"/>
          </p:nvPr>
        </p:nvSpPr>
        <p:spPr/>
        <p:txBody>
          <a:bodyPr/>
          <a:lstStyle/>
          <a:p>
            <a:endParaRPr lang="en-GB"/>
          </a:p>
        </p:txBody>
      </p:sp>
      <p:pic>
        <p:nvPicPr>
          <p:cNvPr id="5" name="Picture 4"/>
          <p:cNvPicPr>
            <a:picLocks noChangeAspect="1"/>
          </p:cNvPicPr>
          <p:nvPr/>
        </p:nvPicPr>
        <p:blipFill>
          <a:blip r:embed="rId2"/>
          <a:stretch>
            <a:fillRect/>
          </a:stretch>
        </p:blipFill>
        <p:spPr>
          <a:xfrm rot="5400000">
            <a:off x="2055912" y="-849143"/>
            <a:ext cx="5184576" cy="9132350"/>
          </a:xfrm>
          <a:prstGeom prst="rect">
            <a:avLst/>
          </a:prstGeom>
        </p:spPr>
      </p:pic>
    </p:spTree>
    <p:extLst>
      <p:ext uri="{BB962C8B-B14F-4D97-AF65-F5344CB8AC3E}">
        <p14:creationId xmlns:p14="http://schemas.microsoft.com/office/powerpoint/2010/main" val="41477299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half" idx="1"/>
          </p:nvPr>
        </p:nvSpPr>
        <p:spPr/>
        <p:txBody>
          <a:bodyPr/>
          <a:lstStyle/>
          <a:p>
            <a:endParaRPr lang="en-GB"/>
          </a:p>
        </p:txBody>
      </p:sp>
      <p:sp>
        <p:nvSpPr>
          <p:cNvPr id="4" name="Content Placeholder 3"/>
          <p:cNvSpPr>
            <a:spLocks noGrp="1"/>
          </p:cNvSpPr>
          <p:nvPr>
            <p:ph sz="half" idx="2"/>
          </p:nvPr>
        </p:nvSpPr>
        <p:spPr/>
        <p:txBody>
          <a:bodyPr/>
          <a:lstStyle/>
          <a:p>
            <a:endParaRPr lang="en-GB"/>
          </a:p>
        </p:txBody>
      </p:sp>
      <p:pic>
        <p:nvPicPr>
          <p:cNvPr id="5" name="Picture 4"/>
          <p:cNvPicPr>
            <a:picLocks noChangeAspect="1"/>
          </p:cNvPicPr>
          <p:nvPr/>
        </p:nvPicPr>
        <p:blipFill>
          <a:blip r:embed="rId2"/>
          <a:stretch>
            <a:fillRect/>
          </a:stretch>
        </p:blipFill>
        <p:spPr>
          <a:xfrm>
            <a:off x="299007" y="1988840"/>
            <a:ext cx="8698386" cy="3236193"/>
          </a:xfrm>
          <a:prstGeom prst="rect">
            <a:avLst/>
          </a:prstGeom>
        </p:spPr>
      </p:pic>
    </p:spTree>
    <p:extLst>
      <p:ext uri="{BB962C8B-B14F-4D97-AF65-F5344CB8AC3E}">
        <p14:creationId xmlns:p14="http://schemas.microsoft.com/office/powerpoint/2010/main" val="31554315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Cobalt</a:t>
            </a:r>
          </a:p>
        </p:txBody>
      </p:sp>
      <p:sp>
        <p:nvSpPr>
          <p:cNvPr id="3" name="Content Placeholder 2"/>
          <p:cNvSpPr>
            <a:spLocks noGrp="1"/>
          </p:cNvSpPr>
          <p:nvPr>
            <p:ph sz="half" idx="1"/>
          </p:nvPr>
        </p:nvSpPr>
        <p:spPr/>
        <p:txBody>
          <a:bodyPr/>
          <a:lstStyle/>
          <a:p>
            <a:endParaRPr lang="en-GB"/>
          </a:p>
        </p:txBody>
      </p:sp>
      <p:sp>
        <p:nvSpPr>
          <p:cNvPr id="4" name="Content Placeholder 3"/>
          <p:cNvSpPr>
            <a:spLocks noGrp="1"/>
          </p:cNvSpPr>
          <p:nvPr>
            <p:ph sz="half" idx="2"/>
          </p:nvPr>
        </p:nvSpPr>
        <p:spPr/>
        <p:txBody>
          <a:bodyPr/>
          <a:lstStyle/>
          <a:p>
            <a:endParaRPr lang="en-GB"/>
          </a:p>
        </p:txBody>
      </p:sp>
      <p:pic>
        <p:nvPicPr>
          <p:cNvPr id="5" name="Picture 4"/>
          <p:cNvPicPr>
            <a:picLocks noChangeAspect="1"/>
          </p:cNvPicPr>
          <p:nvPr/>
        </p:nvPicPr>
        <p:blipFill>
          <a:blip r:embed="rId2"/>
          <a:stretch>
            <a:fillRect/>
          </a:stretch>
        </p:blipFill>
        <p:spPr>
          <a:xfrm>
            <a:off x="323528" y="1417638"/>
            <a:ext cx="8640960" cy="5297694"/>
          </a:xfrm>
          <a:prstGeom prst="rect">
            <a:avLst/>
          </a:prstGeom>
        </p:spPr>
      </p:pic>
    </p:spTree>
    <p:extLst>
      <p:ext uri="{BB962C8B-B14F-4D97-AF65-F5344CB8AC3E}">
        <p14:creationId xmlns:p14="http://schemas.microsoft.com/office/powerpoint/2010/main" val="41823725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83287"/>
            <a:ext cx="8229600" cy="1143000"/>
          </a:xfrm>
        </p:spPr>
        <p:txBody>
          <a:bodyPr/>
          <a:lstStyle/>
          <a:p>
            <a:pPr algn="l"/>
            <a:r>
              <a:rPr lang="en-GB"/>
              <a:t>Cobalt</a:t>
            </a:r>
          </a:p>
        </p:txBody>
      </p:sp>
      <p:sp>
        <p:nvSpPr>
          <p:cNvPr id="3" name="Content Placeholder 2"/>
          <p:cNvSpPr>
            <a:spLocks noGrp="1"/>
          </p:cNvSpPr>
          <p:nvPr>
            <p:ph sz="half" idx="1"/>
          </p:nvPr>
        </p:nvSpPr>
        <p:spPr>
          <a:xfrm>
            <a:off x="0" y="1030227"/>
            <a:ext cx="4317608" cy="4525963"/>
          </a:xfrm>
        </p:spPr>
        <p:txBody>
          <a:bodyPr>
            <a:normAutofit/>
          </a:bodyPr>
          <a:lstStyle/>
          <a:p>
            <a:r>
              <a:rPr lang="en-GB" sz="2400"/>
              <a:t>Ore minerals include:</a:t>
            </a:r>
          </a:p>
          <a:p>
            <a:pPr lvl="1"/>
            <a:r>
              <a:rPr lang="en-GB" sz="2000" err="1"/>
              <a:t>Cattierite</a:t>
            </a:r>
            <a:r>
              <a:rPr lang="en-GB" sz="2000"/>
              <a:t> CoS</a:t>
            </a:r>
            <a:r>
              <a:rPr lang="en-GB" sz="2000" baseline="-25000"/>
              <a:t>2</a:t>
            </a:r>
          </a:p>
          <a:p>
            <a:pPr lvl="1"/>
            <a:r>
              <a:rPr lang="en-GB" sz="2000"/>
              <a:t>Cobaltite </a:t>
            </a:r>
            <a:r>
              <a:rPr lang="en-GB" sz="2000" err="1"/>
              <a:t>CoAsS</a:t>
            </a:r>
            <a:endParaRPr lang="en-GB" sz="2000"/>
          </a:p>
          <a:p>
            <a:pPr lvl="1"/>
            <a:r>
              <a:rPr lang="en-GB" sz="2000" err="1"/>
              <a:t>Erythrite</a:t>
            </a:r>
            <a:r>
              <a:rPr lang="en-GB" sz="2000"/>
              <a:t> Co</a:t>
            </a:r>
            <a:r>
              <a:rPr lang="en-GB" sz="2000" baseline="-25000"/>
              <a:t>3</a:t>
            </a:r>
            <a:r>
              <a:rPr lang="en-GB" sz="2000"/>
              <a:t>(AsO</a:t>
            </a:r>
            <a:r>
              <a:rPr lang="en-GB" sz="2000" baseline="-25000"/>
              <a:t>4</a:t>
            </a:r>
            <a:r>
              <a:rPr lang="en-GB" sz="2000"/>
              <a:t>)</a:t>
            </a:r>
            <a:r>
              <a:rPr lang="en-GB" sz="2000" baseline="-25000"/>
              <a:t>2</a:t>
            </a:r>
            <a:r>
              <a:rPr lang="en-GB" sz="2000"/>
              <a:t>·8H</a:t>
            </a:r>
            <a:r>
              <a:rPr lang="en-GB" sz="2000" baseline="-25000"/>
              <a:t>2</a:t>
            </a:r>
            <a:r>
              <a:rPr lang="en-GB" sz="2000"/>
              <a:t>O </a:t>
            </a:r>
          </a:p>
        </p:txBody>
      </p:sp>
      <p:pic>
        <p:nvPicPr>
          <p:cNvPr id="7" name="Picture 6"/>
          <p:cNvPicPr>
            <a:picLocks noChangeAspect="1"/>
          </p:cNvPicPr>
          <p:nvPr/>
        </p:nvPicPr>
        <p:blipFill>
          <a:blip r:embed="rId3"/>
          <a:stretch>
            <a:fillRect/>
          </a:stretch>
        </p:blipFill>
        <p:spPr>
          <a:xfrm>
            <a:off x="5880431" y="4435445"/>
            <a:ext cx="3176786" cy="2241489"/>
          </a:xfrm>
          <a:prstGeom prst="rect">
            <a:avLst/>
          </a:prstGeom>
        </p:spPr>
      </p:pic>
      <p:sp>
        <p:nvSpPr>
          <p:cNvPr id="8" name="TextBox 7"/>
          <p:cNvSpPr txBox="1"/>
          <p:nvPr/>
        </p:nvSpPr>
        <p:spPr>
          <a:xfrm>
            <a:off x="5880431" y="6021288"/>
            <a:ext cx="614271" cy="369332"/>
          </a:xfrm>
          <a:prstGeom prst="rect">
            <a:avLst/>
          </a:prstGeom>
          <a:noFill/>
        </p:spPr>
        <p:txBody>
          <a:bodyPr wrap="none" rtlCol="0">
            <a:spAutoFit/>
          </a:bodyPr>
          <a:lstStyle/>
          <a:p>
            <a:r>
              <a:rPr lang="en-GB">
                <a:solidFill>
                  <a:schemeClr val="bg1"/>
                </a:solidFill>
              </a:rPr>
              <a:t>CoS</a:t>
            </a:r>
            <a:r>
              <a:rPr lang="en-GB" baseline="-25000">
                <a:solidFill>
                  <a:schemeClr val="bg1"/>
                </a:solidFill>
              </a:rPr>
              <a:t>2</a:t>
            </a:r>
          </a:p>
        </p:txBody>
      </p:sp>
      <p:pic>
        <p:nvPicPr>
          <p:cNvPr id="9" name="Picture 8"/>
          <p:cNvPicPr>
            <a:picLocks noChangeAspect="1"/>
          </p:cNvPicPr>
          <p:nvPr/>
        </p:nvPicPr>
        <p:blipFill>
          <a:blip r:embed="rId4"/>
          <a:stretch>
            <a:fillRect/>
          </a:stretch>
        </p:blipFill>
        <p:spPr>
          <a:xfrm>
            <a:off x="4453136" y="31522"/>
            <a:ext cx="4690864" cy="2849344"/>
          </a:xfrm>
          <a:prstGeom prst="rect">
            <a:avLst/>
          </a:prstGeom>
        </p:spPr>
      </p:pic>
      <p:pic>
        <p:nvPicPr>
          <p:cNvPr id="5" name="Picture 4"/>
          <p:cNvPicPr>
            <a:picLocks noChangeAspect="1"/>
          </p:cNvPicPr>
          <p:nvPr/>
        </p:nvPicPr>
        <p:blipFill>
          <a:blip r:embed="rId5"/>
          <a:stretch>
            <a:fillRect/>
          </a:stretch>
        </p:blipFill>
        <p:spPr>
          <a:xfrm>
            <a:off x="0" y="2708920"/>
            <a:ext cx="5707052" cy="4104456"/>
          </a:xfrm>
          <a:prstGeom prst="rect">
            <a:avLst/>
          </a:prstGeom>
        </p:spPr>
      </p:pic>
    </p:spTree>
    <p:extLst>
      <p:ext uri="{BB962C8B-B14F-4D97-AF65-F5344CB8AC3E}">
        <p14:creationId xmlns:p14="http://schemas.microsoft.com/office/powerpoint/2010/main" val="13366584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00" y="0"/>
            <a:ext cx="8229600" cy="1143000"/>
          </a:xfrm>
        </p:spPr>
        <p:txBody>
          <a:bodyPr>
            <a:normAutofit/>
          </a:bodyPr>
          <a:lstStyle/>
          <a:p>
            <a:r>
              <a:rPr lang="en-GB"/>
              <a:t>Sediment-hosted copper deposits</a:t>
            </a:r>
          </a:p>
        </p:txBody>
      </p:sp>
      <p:sp>
        <p:nvSpPr>
          <p:cNvPr id="3" name="Content Placeholder 2"/>
          <p:cNvSpPr>
            <a:spLocks noGrp="1"/>
          </p:cNvSpPr>
          <p:nvPr>
            <p:ph sz="half" idx="1"/>
          </p:nvPr>
        </p:nvSpPr>
        <p:spPr>
          <a:xfrm>
            <a:off x="132460" y="824638"/>
            <a:ext cx="8399980" cy="4525963"/>
          </a:xfrm>
        </p:spPr>
        <p:txBody>
          <a:bodyPr/>
          <a:lstStyle/>
          <a:p>
            <a:r>
              <a:rPr lang="en-GB" dirty="0"/>
              <a:t>Significant source of Cu</a:t>
            </a:r>
          </a:p>
          <a:p>
            <a:r>
              <a:rPr lang="en-GB" dirty="0"/>
              <a:t>Cobalt grades in CACB vary from 0.1-1% Co</a:t>
            </a:r>
          </a:p>
          <a:p>
            <a:endParaRPr lang="en-GB" dirty="0"/>
          </a:p>
          <a:p>
            <a:endParaRPr lang="en-GB" dirty="0"/>
          </a:p>
        </p:txBody>
      </p:sp>
      <p:pic>
        <p:nvPicPr>
          <p:cNvPr id="5" name="Picture 4"/>
          <p:cNvPicPr>
            <a:picLocks noChangeAspect="1"/>
          </p:cNvPicPr>
          <p:nvPr/>
        </p:nvPicPr>
        <p:blipFill>
          <a:blip r:embed="rId3"/>
          <a:stretch>
            <a:fillRect/>
          </a:stretch>
        </p:blipFill>
        <p:spPr>
          <a:xfrm>
            <a:off x="323528" y="1918644"/>
            <a:ext cx="8496944" cy="4939356"/>
          </a:xfrm>
          <a:prstGeom prst="rect">
            <a:avLst/>
          </a:prstGeom>
        </p:spPr>
      </p:pic>
    </p:spTree>
    <p:extLst>
      <p:ext uri="{BB962C8B-B14F-4D97-AF65-F5344CB8AC3E}">
        <p14:creationId xmlns:p14="http://schemas.microsoft.com/office/powerpoint/2010/main" val="36657338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Formation model for </a:t>
            </a:r>
            <a:br>
              <a:rPr lang="en-GB"/>
            </a:br>
            <a:r>
              <a:rPr lang="en-GB" err="1"/>
              <a:t>Sed</a:t>
            </a:r>
            <a:r>
              <a:rPr lang="en-GB"/>
              <a:t>-hosted Co-Cu belt deposits</a:t>
            </a:r>
          </a:p>
        </p:txBody>
      </p:sp>
      <p:sp>
        <p:nvSpPr>
          <p:cNvPr id="3" name="Content Placeholder 2"/>
          <p:cNvSpPr>
            <a:spLocks noGrp="1"/>
          </p:cNvSpPr>
          <p:nvPr>
            <p:ph sz="half" idx="1"/>
          </p:nvPr>
        </p:nvSpPr>
        <p:spPr/>
        <p:txBody>
          <a:bodyPr/>
          <a:lstStyle/>
          <a:p>
            <a:endParaRPr lang="en-GB"/>
          </a:p>
        </p:txBody>
      </p:sp>
      <p:sp>
        <p:nvSpPr>
          <p:cNvPr id="4" name="Content Placeholder 3"/>
          <p:cNvSpPr>
            <a:spLocks noGrp="1"/>
          </p:cNvSpPr>
          <p:nvPr>
            <p:ph sz="half" idx="2"/>
          </p:nvPr>
        </p:nvSpPr>
        <p:spPr/>
        <p:txBody>
          <a:bodyPr/>
          <a:lstStyle/>
          <a:p>
            <a:endParaRPr lang="en-GB"/>
          </a:p>
        </p:txBody>
      </p:sp>
      <p:pic>
        <p:nvPicPr>
          <p:cNvPr id="5" name="Picture 4"/>
          <p:cNvPicPr>
            <a:picLocks noChangeAspect="1"/>
          </p:cNvPicPr>
          <p:nvPr/>
        </p:nvPicPr>
        <p:blipFill>
          <a:blip r:embed="rId2"/>
          <a:stretch>
            <a:fillRect/>
          </a:stretch>
        </p:blipFill>
        <p:spPr>
          <a:xfrm>
            <a:off x="371651" y="1988840"/>
            <a:ext cx="8306171" cy="4525963"/>
          </a:xfrm>
          <a:prstGeom prst="rect">
            <a:avLst/>
          </a:prstGeom>
        </p:spPr>
      </p:pic>
    </p:spTree>
    <p:extLst>
      <p:ext uri="{BB962C8B-B14F-4D97-AF65-F5344CB8AC3E}">
        <p14:creationId xmlns:p14="http://schemas.microsoft.com/office/powerpoint/2010/main" val="33211208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639520"/>
            <a:ext cx="2571750" cy="1719072"/>
          </a:xfrm>
        </p:spPr>
        <p:txBody>
          <a:bodyPr vert="horz" lIns="91440" tIns="45720" rIns="91440" bIns="45720" rtlCol="0" anchor="b">
            <a:normAutofit/>
          </a:bodyPr>
          <a:lstStyle/>
          <a:p>
            <a:pPr algn="l">
              <a:lnSpc>
                <a:spcPct val="90000"/>
              </a:lnSpc>
            </a:pPr>
            <a:r>
              <a:rPr lang="en-US" sz="4700" kern="1200">
                <a:solidFill>
                  <a:schemeClr val="tx1"/>
                </a:solidFill>
                <a:latin typeface="+mj-lt"/>
                <a:ea typeface="+mj-ea"/>
                <a:cs typeface="+mj-cs"/>
              </a:rPr>
              <a:t>Cobalt</a:t>
            </a:r>
          </a:p>
        </p:txBody>
      </p:sp>
      <p:sp>
        <p:nvSpPr>
          <p:cNvPr id="1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 name="connsiteX0" fmla="*/ 0 w 2441321"/>
              <a:gd name="connsiteY0" fmla="*/ 0 h 18288"/>
              <a:gd name="connsiteX1" fmla="*/ 585917 w 2441321"/>
              <a:gd name="connsiteY1" fmla="*/ 0 h 18288"/>
              <a:gd name="connsiteX2" fmla="*/ 1123008 w 2441321"/>
              <a:gd name="connsiteY2" fmla="*/ 0 h 18288"/>
              <a:gd name="connsiteX3" fmla="*/ 1782164 w 2441321"/>
              <a:gd name="connsiteY3" fmla="*/ 0 h 18288"/>
              <a:gd name="connsiteX4" fmla="*/ 2441321 w 2441321"/>
              <a:gd name="connsiteY4" fmla="*/ 0 h 18288"/>
              <a:gd name="connsiteX5" fmla="*/ 2441321 w 2441321"/>
              <a:gd name="connsiteY5" fmla="*/ 18288 h 18288"/>
              <a:gd name="connsiteX6" fmla="*/ 1879817 w 2441321"/>
              <a:gd name="connsiteY6" fmla="*/ 18288 h 18288"/>
              <a:gd name="connsiteX7" fmla="*/ 1318313 w 2441321"/>
              <a:gd name="connsiteY7" fmla="*/ 18288 h 18288"/>
              <a:gd name="connsiteX8" fmla="*/ 659157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1188" y="8366"/>
                  <a:pt x="2440365" y="10017"/>
                  <a:pt x="2441321" y="18288"/>
                </a:cubicBezTo>
                <a:cubicBezTo>
                  <a:pt x="2159375" y="49009"/>
                  <a:pt x="2054495" y="45666"/>
                  <a:pt x="1830991" y="18288"/>
                </a:cubicBezTo>
                <a:cubicBezTo>
                  <a:pt x="1615846" y="7509"/>
                  <a:pt x="1521674" y="-5422"/>
                  <a:pt x="1269487" y="18288"/>
                </a:cubicBezTo>
                <a:cubicBezTo>
                  <a:pt x="1019660" y="53960"/>
                  <a:pt x="886911" y="42351"/>
                  <a:pt x="707983" y="18288"/>
                </a:cubicBezTo>
                <a:cubicBezTo>
                  <a:pt x="523434" y="27321"/>
                  <a:pt x="307885" y="34316"/>
                  <a:pt x="0" y="18288"/>
                </a:cubicBezTo>
                <a:cubicBezTo>
                  <a:pt x="-595" y="11182"/>
                  <a:pt x="-5" y="6307"/>
                  <a:pt x="0" y="0"/>
                </a:cubicBezTo>
                <a:close/>
              </a:path>
              <a:path w="2441321" h="18288" stroke="0" extrusionOk="0">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666" y="6144"/>
                  <a:pt x="2441358" y="10525"/>
                  <a:pt x="2441321" y="18288"/>
                </a:cubicBezTo>
                <a:cubicBezTo>
                  <a:pt x="2180658" y="18322"/>
                  <a:pt x="2084222" y="5934"/>
                  <a:pt x="1879817" y="18288"/>
                </a:cubicBezTo>
                <a:cubicBezTo>
                  <a:pt x="1668182" y="16222"/>
                  <a:pt x="1551159" y="-6477"/>
                  <a:pt x="1318313" y="18288"/>
                </a:cubicBezTo>
                <a:cubicBezTo>
                  <a:pt x="1059871" y="56395"/>
                  <a:pt x="901959" y="23831"/>
                  <a:pt x="659157" y="18288"/>
                </a:cubicBezTo>
                <a:cubicBezTo>
                  <a:pt x="444692" y="28483"/>
                  <a:pt x="245032" y="39882"/>
                  <a:pt x="0" y="18288"/>
                </a:cubicBezTo>
                <a:cubicBezTo>
                  <a:pt x="-11" y="10485"/>
                  <a:pt x="-221" y="3288"/>
                  <a:pt x="0" y="0"/>
                </a:cubicBezTo>
                <a:close/>
              </a:path>
              <a:path w="2441321" h="18288" fill="none" stroke="0" extrusionOk="0">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1440" y="8687"/>
                  <a:pt x="2440452" y="9944"/>
                  <a:pt x="2441321" y="18288"/>
                </a:cubicBezTo>
                <a:cubicBezTo>
                  <a:pt x="2149099" y="27348"/>
                  <a:pt x="2027305" y="56470"/>
                  <a:pt x="1830991" y="18288"/>
                </a:cubicBezTo>
                <a:cubicBezTo>
                  <a:pt x="1614571" y="-18764"/>
                  <a:pt x="1500998" y="10727"/>
                  <a:pt x="1269487" y="18288"/>
                </a:cubicBezTo>
                <a:cubicBezTo>
                  <a:pt x="1042399" y="37834"/>
                  <a:pt x="927922" y="45822"/>
                  <a:pt x="707983" y="18288"/>
                </a:cubicBezTo>
                <a:cubicBezTo>
                  <a:pt x="502575" y="-5380"/>
                  <a:pt x="350393" y="34499"/>
                  <a:pt x="0" y="18288"/>
                </a:cubicBezTo>
                <a:cubicBezTo>
                  <a:pt x="-394" y="12154"/>
                  <a:pt x="907" y="6688"/>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473202" y="2807208"/>
            <a:ext cx="2571750" cy="3410712"/>
          </a:xfrm>
        </p:spPr>
        <p:txBody>
          <a:bodyPr vert="horz" lIns="91440" tIns="45720" rIns="91440" bIns="45720" rtlCol="0" anchor="t">
            <a:normAutofit/>
          </a:bodyPr>
          <a:lstStyle/>
          <a:p>
            <a:pPr indent="-228600">
              <a:lnSpc>
                <a:spcPct val="90000"/>
              </a:lnSpc>
            </a:pPr>
            <a:r>
              <a:rPr lang="en-US" sz="1900"/>
              <a:t>Cobalt mined from</a:t>
            </a:r>
          </a:p>
          <a:p>
            <a:pPr lvl="1" indent="-228600">
              <a:lnSpc>
                <a:spcPct val="90000"/>
              </a:lnSpc>
              <a:buFont typeface="Arial" panose="020B0604020202020204" pitchFamily="34" charset="0"/>
              <a:buChar char="•"/>
            </a:pPr>
            <a:r>
              <a:rPr lang="en-US" sz="1900"/>
              <a:t>Ni-Laterites</a:t>
            </a:r>
          </a:p>
          <a:p>
            <a:pPr lvl="1" indent="-228600">
              <a:lnSpc>
                <a:spcPct val="90000"/>
              </a:lnSpc>
              <a:buFont typeface="Arial" panose="020B0604020202020204" pitchFamily="34" charset="0"/>
              <a:buChar char="•"/>
            </a:pPr>
            <a:r>
              <a:rPr lang="en-US" sz="1900"/>
              <a:t>Ni-sulphide deposits</a:t>
            </a:r>
          </a:p>
          <a:p>
            <a:pPr lvl="1" indent="-228600">
              <a:lnSpc>
                <a:spcPct val="90000"/>
              </a:lnSpc>
              <a:buFont typeface="Arial" panose="020B0604020202020204" pitchFamily="34" charset="0"/>
              <a:buChar char="•"/>
            </a:pPr>
            <a:r>
              <a:rPr lang="en-US" sz="1900"/>
              <a:t>Stratiform Cu-belt deposits</a:t>
            </a:r>
          </a:p>
        </p:txBody>
      </p:sp>
      <p:pic>
        <p:nvPicPr>
          <p:cNvPr id="5" name="Picture 4">
            <a:extLst>
              <a:ext uri="{FF2B5EF4-FFF2-40B4-BE49-F238E27FC236}">
                <a16:creationId xmlns:a16="http://schemas.microsoft.com/office/drawing/2014/main" id="{8AACD5A0-EB47-3995-ECFE-93567BA84C1C}"/>
              </a:ext>
            </a:extLst>
          </p:cNvPr>
          <p:cNvPicPr>
            <a:picLocks noChangeAspect="1"/>
          </p:cNvPicPr>
          <p:nvPr/>
        </p:nvPicPr>
        <p:blipFill>
          <a:blip r:embed="rId2"/>
          <a:stretch>
            <a:fillRect/>
          </a:stretch>
        </p:blipFill>
        <p:spPr>
          <a:xfrm>
            <a:off x="3044952" y="544580"/>
            <a:ext cx="6092045" cy="5768840"/>
          </a:xfrm>
          <a:prstGeom prst="rect">
            <a:avLst/>
          </a:prstGeom>
        </p:spPr>
      </p:pic>
    </p:spTree>
    <p:extLst>
      <p:ext uri="{BB962C8B-B14F-4D97-AF65-F5344CB8AC3E}">
        <p14:creationId xmlns:p14="http://schemas.microsoft.com/office/powerpoint/2010/main" val="19830553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20E08-AF58-52D4-9906-1E368A1BE78E}"/>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73150EA4-32E8-917A-021A-E558E5DFD3AD}"/>
              </a:ext>
            </a:extLst>
          </p:cNvPr>
          <p:cNvSpPr>
            <a:spLocks noGrp="1"/>
          </p:cNvSpPr>
          <p:nvPr>
            <p:ph idx="1"/>
          </p:nvPr>
        </p:nvSpPr>
        <p:spPr/>
        <p:txBody>
          <a:bodyPr>
            <a:normAutofit fontScale="85000" lnSpcReduction="20000"/>
          </a:bodyPr>
          <a:lstStyle/>
          <a:p>
            <a:r>
              <a:rPr lang="en-US" dirty="0"/>
              <a:t>Metals are essential for infrastructure, energy, and technology</a:t>
            </a:r>
          </a:p>
          <a:p>
            <a:r>
              <a:rPr lang="en-US" dirty="0"/>
              <a:t>Critical materials (e.g., lithium, cobalt, rare earth elements) are vital for the energy transition</a:t>
            </a:r>
          </a:p>
          <a:p>
            <a:r>
              <a:rPr lang="en-GB" dirty="0"/>
              <a:t>Plate Tectonics influences resource distribution (e.g., mid-ocean ridges, subduction zones)</a:t>
            </a:r>
          </a:p>
          <a:p>
            <a:r>
              <a:rPr lang="en-GB" dirty="0"/>
              <a:t>Key ore forming processes often involve precipitation from fluids</a:t>
            </a:r>
          </a:p>
          <a:p>
            <a:r>
              <a:rPr lang="en-US" dirty="0"/>
              <a:t>Growing demand for battery elements (Li, Ni, Co, Mn, Cu)</a:t>
            </a:r>
          </a:p>
          <a:p>
            <a:r>
              <a:rPr lang="en-US" dirty="0"/>
              <a:t>Wide range of ore deposit types, many host more than one economic metal</a:t>
            </a:r>
            <a:endParaRPr lang="en-GB" dirty="0"/>
          </a:p>
        </p:txBody>
      </p:sp>
    </p:spTree>
    <p:extLst>
      <p:ext uri="{BB962C8B-B14F-4D97-AF65-F5344CB8AC3E}">
        <p14:creationId xmlns:p14="http://schemas.microsoft.com/office/powerpoint/2010/main" val="27416767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63678-66B4-CA16-B0DD-CECB301ADF31}"/>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CFD724E-40C6-3635-FC32-A9707C8AE1CF}"/>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411415441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1ECDEF-D7CC-B9A7-39D6-C50D8FBCB49F}"/>
              </a:ext>
            </a:extLst>
          </p:cNvPr>
          <p:cNvPicPr>
            <a:picLocks noChangeAspect="1"/>
          </p:cNvPicPr>
          <p:nvPr/>
        </p:nvPicPr>
        <p:blipFill>
          <a:blip r:embed="rId2"/>
          <a:stretch>
            <a:fillRect/>
          </a:stretch>
        </p:blipFill>
        <p:spPr>
          <a:xfrm>
            <a:off x="1180806" y="392167"/>
            <a:ext cx="6782388" cy="6073666"/>
          </a:xfrm>
          <a:prstGeom prst="rect">
            <a:avLst/>
          </a:prstGeom>
        </p:spPr>
      </p:pic>
      <p:sp>
        <p:nvSpPr>
          <p:cNvPr id="2" name="TextBox 1">
            <a:extLst>
              <a:ext uri="{FF2B5EF4-FFF2-40B4-BE49-F238E27FC236}">
                <a16:creationId xmlns:a16="http://schemas.microsoft.com/office/drawing/2014/main" id="{9B1DD6B6-3AEB-9E7C-274C-2B35A4BA490F}"/>
              </a:ext>
            </a:extLst>
          </p:cNvPr>
          <p:cNvSpPr txBox="1"/>
          <p:nvPr/>
        </p:nvSpPr>
        <p:spPr>
          <a:xfrm rot="16200000">
            <a:off x="-525145" y="1167319"/>
            <a:ext cx="2110514" cy="369332"/>
          </a:xfrm>
          <a:prstGeom prst="rect">
            <a:avLst/>
          </a:prstGeom>
          <a:noFill/>
        </p:spPr>
        <p:txBody>
          <a:bodyPr wrap="none" rtlCol="0">
            <a:spAutoFit/>
          </a:bodyPr>
          <a:lstStyle/>
          <a:p>
            <a:r>
              <a:rPr lang="en-GB" dirty="0"/>
              <a:t>PAPER OF THE WEEK</a:t>
            </a:r>
          </a:p>
        </p:txBody>
      </p:sp>
    </p:spTree>
    <p:extLst>
      <p:ext uri="{BB962C8B-B14F-4D97-AF65-F5344CB8AC3E}">
        <p14:creationId xmlns:p14="http://schemas.microsoft.com/office/powerpoint/2010/main" val="9383101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The Raw Material Challenge of a Green Economy</a:t>
            </a:r>
          </a:p>
        </p:txBody>
      </p:sp>
      <p:sp>
        <p:nvSpPr>
          <p:cNvPr id="3" name="Content Placeholder 2"/>
          <p:cNvSpPr>
            <a:spLocks noGrp="1"/>
          </p:cNvSpPr>
          <p:nvPr>
            <p:ph idx="1"/>
          </p:nvPr>
        </p:nvSpPr>
        <p:spPr>
          <a:xfrm>
            <a:off x="457200" y="1600201"/>
            <a:ext cx="8229600" cy="1386190"/>
          </a:xfrm>
        </p:spPr>
        <p:txBody>
          <a:bodyPr>
            <a:normAutofit fontScale="70000" lnSpcReduction="20000"/>
          </a:bodyPr>
          <a:lstStyle/>
          <a:p>
            <a:r>
              <a:rPr dirty="0"/>
              <a:t>Transition to a low-carbon economy demands significant mineral resources</a:t>
            </a:r>
          </a:p>
          <a:p>
            <a:r>
              <a:rPr dirty="0"/>
              <a:t>Despite recycling efforts, new mining is necessary to meet demand.</a:t>
            </a:r>
          </a:p>
          <a:p>
            <a:r>
              <a:rPr dirty="0"/>
              <a:t>Global mineral consumption will continue rising beyond 2050.</a:t>
            </a:r>
          </a:p>
        </p:txBody>
      </p:sp>
      <p:pic>
        <p:nvPicPr>
          <p:cNvPr id="5" name="Picture 4">
            <a:extLst>
              <a:ext uri="{FF2B5EF4-FFF2-40B4-BE49-F238E27FC236}">
                <a16:creationId xmlns:a16="http://schemas.microsoft.com/office/drawing/2014/main" id="{F32F2649-FC2B-B1EB-C25E-D9F0E2B8B976}"/>
              </a:ext>
            </a:extLst>
          </p:cNvPr>
          <p:cNvPicPr>
            <a:picLocks noChangeAspect="1"/>
          </p:cNvPicPr>
          <p:nvPr/>
        </p:nvPicPr>
        <p:blipFill>
          <a:blip r:embed="rId2"/>
          <a:stretch>
            <a:fillRect/>
          </a:stretch>
        </p:blipFill>
        <p:spPr>
          <a:xfrm>
            <a:off x="572934" y="4696775"/>
            <a:ext cx="8229600" cy="1886587"/>
          </a:xfrm>
          <a:prstGeom prst="rect">
            <a:avLst/>
          </a:prstGeom>
        </p:spPr>
      </p:pic>
      <p:pic>
        <p:nvPicPr>
          <p:cNvPr id="7" name="Picture 6">
            <a:extLst>
              <a:ext uri="{FF2B5EF4-FFF2-40B4-BE49-F238E27FC236}">
                <a16:creationId xmlns:a16="http://schemas.microsoft.com/office/drawing/2014/main" id="{5A7D961D-7B40-6DAC-837A-186194F461E0}"/>
              </a:ext>
            </a:extLst>
          </p:cNvPr>
          <p:cNvPicPr>
            <a:picLocks noChangeAspect="1"/>
          </p:cNvPicPr>
          <p:nvPr/>
        </p:nvPicPr>
        <p:blipFill>
          <a:blip r:embed="rId3"/>
          <a:stretch>
            <a:fillRect/>
          </a:stretch>
        </p:blipFill>
        <p:spPr>
          <a:xfrm>
            <a:off x="389892" y="3044758"/>
            <a:ext cx="8296908" cy="138619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C5159-2E90-77DF-300C-1DFB363A996E}"/>
              </a:ext>
            </a:extLst>
          </p:cNvPr>
          <p:cNvSpPr>
            <a:spLocks noGrp="1"/>
          </p:cNvSpPr>
          <p:nvPr>
            <p:ph type="title"/>
          </p:nvPr>
        </p:nvSpPr>
        <p:spPr/>
        <p:txBody>
          <a:bodyPr/>
          <a:lstStyle/>
          <a:p>
            <a:pPr algn="l"/>
            <a:r>
              <a:rPr lang="en-US" sz="1800" b="1" i="0" u="none" strike="noStrike" baseline="0" dirty="0">
                <a:latin typeface="PalatinoLinotype,Bold"/>
              </a:rPr>
              <a:t>Can Recycling or Waste Recovery Deliver Everything We Need?</a:t>
            </a:r>
            <a:endParaRPr lang="en-GB" dirty="0"/>
          </a:p>
        </p:txBody>
      </p:sp>
      <p:pic>
        <p:nvPicPr>
          <p:cNvPr id="5" name="Picture 4">
            <a:extLst>
              <a:ext uri="{FF2B5EF4-FFF2-40B4-BE49-F238E27FC236}">
                <a16:creationId xmlns:a16="http://schemas.microsoft.com/office/drawing/2014/main" id="{1B43D38B-A05E-9E41-29A3-BA8155B0DA97}"/>
              </a:ext>
            </a:extLst>
          </p:cNvPr>
          <p:cNvPicPr>
            <a:picLocks noChangeAspect="1"/>
          </p:cNvPicPr>
          <p:nvPr/>
        </p:nvPicPr>
        <p:blipFill>
          <a:blip r:embed="rId3"/>
          <a:stretch>
            <a:fillRect/>
          </a:stretch>
        </p:blipFill>
        <p:spPr>
          <a:xfrm>
            <a:off x="1046165" y="1521236"/>
            <a:ext cx="7051669" cy="4800345"/>
          </a:xfrm>
          <a:prstGeom prst="rect">
            <a:avLst/>
          </a:prstGeom>
        </p:spPr>
      </p:pic>
    </p:spTree>
    <p:extLst>
      <p:ext uri="{BB962C8B-B14F-4D97-AF65-F5344CB8AC3E}">
        <p14:creationId xmlns:p14="http://schemas.microsoft.com/office/powerpoint/2010/main" val="41313913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Challenges and Solutions in Mineral Supply</a:t>
            </a:r>
          </a:p>
        </p:txBody>
      </p:sp>
      <p:sp>
        <p:nvSpPr>
          <p:cNvPr id="3" name="Content Placeholder 2"/>
          <p:cNvSpPr>
            <a:spLocks noGrp="1"/>
          </p:cNvSpPr>
          <p:nvPr>
            <p:ph idx="1"/>
          </p:nvPr>
        </p:nvSpPr>
        <p:spPr/>
        <p:txBody>
          <a:bodyPr>
            <a:normAutofit/>
          </a:bodyPr>
          <a:lstStyle/>
          <a:p>
            <a:r>
              <a:rPr dirty="0"/>
              <a:t>Current mining lead time (~16 years) is too long to meet demand.</a:t>
            </a:r>
          </a:p>
          <a:p>
            <a:pPr marL="0" indent="0">
              <a:buNone/>
            </a:pPr>
            <a:endParaRPr dirty="0"/>
          </a:p>
        </p:txBody>
      </p:sp>
      <p:pic>
        <p:nvPicPr>
          <p:cNvPr id="5" name="Picture 4">
            <a:extLst>
              <a:ext uri="{FF2B5EF4-FFF2-40B4-BE49-F238E27FC236}">
                <a16:creationId xmlns:a16="http://schemas.microsoft.com/office/drawing/2014/main" id="{63878813-B1B0-B5A4-732C-853AB5402407}"/>
              </a:ext>
            </a:extLst>
          </p:cNvPr>
          <p:cNvPicPr>
            <a:picLocks noChangeAspect="1"/>
          </p:cNvPicPr>
          <p:nvPr/>
        </p:nvPicPr>
        <p:blipFill>
          <a:blip r:embed="rId2"/>
          <a:stretch>
            <a:fillRect/>
          </a:stretch>
        </p:blipFill>
        <p:spPr>
          <a:xfrm>
            <a:off x="1396381" y="2567274"/>
            <a:ext cx="6195597" cy="4016088"/>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F9539-EB49-60CC-B1FA-49F40DE0DA0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E8FB328-31F1-130D-F49D-558336594C8C}"/>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B65FE5EB-8424-C839-0248-00CC13FFA78A}"/>
              </a:ext>
            </a:extLst>
          </p:cNvPr>
          <p:cNvPicPr>
            <a:picLocks noChangeAspect="1"/>
          </p:cNvPicPr>
          <p:nvPr/>
        </p:nvPicPr>
        <p:blipFill>
          <a:blip r:embed="rId2"/>
          <a:stretch>
            <a:fillRect/>
          </a:stretch>
        </p:blipFill>
        <p:spPr>
          <a:xfrm>
            <a:off x="534047" y="544749"/>
            <a:ext cx="7813982" cy="5581414"/>
          </a:xfrm>
          <a:prstGeom prst="rect">
            <a:avLst/>
          </a:prstGeom>
        </p:spPr>
      </p:pic>
    </p:spTree>
    <p:extLst>
      <p:ext uri="{BB962C8B-B14F-4D97-AF65-F5344CB8AC3E}">
        <p14:creationId xmlns:p14="http://schemas.microsoft.com/office/powerpoint/2010/main" val="15845917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Sustainable Mining Future</a:t>
            </a:r>
          </a:p>
        </p:txBody>
      </p:sp>
      <p:sp>
        <p:nvSpPr>
          <p:cNvPr id="3" name="Content Placeholder 2"/>
          <p:cNvSpPr>
            <a:spLocks noGrp="1"/>
          </p:cNvSpPr>
          <p:nvPr>
            <p:ph idx="1"/>
          </p:nvPr>
        </p:nvSpPr>
        <p:spPr/>
        <p:txBody>
          <a:bodyPr/>
          <a:lstStyle/>
          <a:p>
            <a:r>
              <a:rPr dirty="0"/>
              <a:t>Ethical and environmental concerns must be addressed.</a:t>
            </a:r>
          </a:p>
          <a:p>
            <a:r>
              <a:rPr dirty="0"/>
              <a:t>Concept of ‘cradle-to-cradle’ mining to ensure net-positive impact.</a:t>
            </a:r>
          </a:p>
          <a:p>
            <a:r>
              <a:rPr dirty="0"/>
              <a:t>Responsible mining can support the UN Sustainable Development Goals.</a:t>
            </a:r>
          </a:p>
          <a:p>
            <a:r>
              <a:rPr dirty="0"/>
              <a:t>Balance between terrestrial and ocean mining must be considered.</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08BEB-68E5-7343-010A-0BB0C4048F4A}"/>
              </a:ext>
            </a:extLst>
          </p:cNvPr>
          <p:cNvSpPr>
            <a:spLocks noGrp="1"/>
          </p:cNvSpPr>
          <p:nvPr>
            <p:ph type="title"/>
          </p:nvPr>
        </p:nvSpPr>
        <p:spPr/>
        <p:txBody>
          <a:bodyPr/>
          <a:lstStyle/>
          <a:p>
            <a:r>
              <a:rPr lang="en-GB" dirty="0"/>
              <a:t>Discussion question</a:t>
            </a:r>
          </a:p>
        </p:txBody>
      </p:sp>
      <p:sp>
        <p:nvSpPr>
          <p:cNvPr id="3" name="Content Placeholder 2">
            <a:extLst>
              <a:ext uri="{FF2B5EF4-FFF2-40B4-BE49-F238E27FC236}">
                <a16:creationId xmlns:a16="http://schemas.microsoft.com/office/drawing/2014/main" id="{63A75F03-8BCF-C288-3CCC-A8E50BEB5E52}"/>
              </a:ext>
            </a:extLst>
          </p:cNvPr>
          <p:cNvSpPr>
            <a:spLocks noGrp="1"/>
          </p:cNvSpPr>
          <p:nvPr>
            <p:ph idx="1"/>
          </p:nvPr>
        </p:nvSpPr>
        <p:spPr>
          <a:xfrm>
            <a:off x="457200" y="3019097"/>
            <a:ext cx="8229600" cy="1363717"/>
          </a:xfrm>
        </p:spPr>
        <p:txBody>
          <a:bodyPr/>
          <a:lstStyle/>
          <a:p>
            <a:r>
              <a:rPr lang="en-US" dirty="0"/>
              <a:t>What are the biggest challenges in securing a mineral supply for a low-carbon future?</a:t>
            </a:r>
          </a:p>
          <a:p>
            <a:endParaRPr lang="en-GB" dirty="0"/>
          </a:p>
        </p:txBody>
      </p:sp>
    </p:spTree>
    <p:extLst>
      <p:ext uri="{BB962C8B-B14F-4D97-AF65-F5344CB8AC3E}">
        <p14:creationId xmlns:p14="http://schemas.microsoft.com/office/powerpoint/2010/main" val="19809715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3335</TotalTime>
  <Words>2749</Words>
  <Application>Microsoft Office PowerPoint</Application>
  <PresentationFormat>On-screen Show (4:3)</PresentationFormat>
  <Paragraphs>433</Paragraphs>
  <Slides>76</Slides>
  <Notes>43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76</vt:i4>
      </vt:variant>
    </vt:vector>
  </HeadingPairs>
  <TitlesOfParts>
    <vt:vector size="86" baseType="lpstr">
      <vt:lpstr>ＭＳ Ｐゴシック</vt:lpstr>
      <vt:lpstr>Arial</vt:lpstr>
      <vt:lpstr>Arial</vt:lpstr>
      <vt:lpstr>Book Antiqua</vt:lpstr>
      <vt:lpstr>Calibri</vt:lpstr>
      <vt:lpstr>Google Sans</vt:lpstr>
      <vt:lpstr>PalatinoLinotype,Bold</vt:lpstr>
      <vt:lpstr>Symbol</vt:lpstr>
      <vt:lpstr>Wingdings</vt:lpstr>
      <vt:lpstr>Office Theme</vt:lpstr>
      <vt:lpstr>A Sustainable Planet</vt:lpstr>
      <vt:lpstr>Learning outcomes</vt:lpstr>
      <vt:lpstr>PowerPoint Presentation</vt:lpstr>
      <vt:lpstr>Contributions of raw materials to SDGs</vt:lpstr>
      <vt:lpstr>Plate tectonics and resources</vt:lpstr>
      <vt:lpstr>Tectonic Environments</vt:lpstr>
      <vt:lpstr>Processes of Ore Formation</vt:lpstr>
      <vt:lpstr>Ore Formation  – Precipitation from Mobile Fluids</vt:lpstr>
      <vt:lpstr>Aqueous Fluids</vt:lpstr>
      <vt:lpstr>Ore Forming Fluids</vt:lpstr>
      <vt:lpstr>PowerPoint Presentation</vt:lpstr>
      <vt:lpstr>Critical materials</vt:lpstr>
      <vt:lpstr>UK critical minerals 2024 </vt:lpstr>
      <vt:lpstr>PowerPoint Presentation</vt:lpstr>
      <vt:lpstr>Iron </vt:lpstr>
      <vt:lpstr>PowerPoint Presentation</vt:lpstr>
      <vt:lpstr>Residual Deposits-Laterite formation</vt:lpstr>
      <vt:lpstr>Sedimentary Deposits</vt:lpstr>
      <vt:lpstr>PowerPoint Presentation</vt:lpstr>
      <vt:lpstr>3) Banded Iron formations (BIFs)</vt:lpstr>
      <vt:lpstr>BIFs: mineralogy and origin</vt:lpstr>
      <vt:lpstr>PowerPoint Presentation</vt:lpstr>
      <vt:lpstr>PowerPoint Presentation</vt:lpstr>
      <vt:lpstr>Steel making</vt:lpstr>
      <vt:lpstr>PowerPoint Presentation</vt:lpstr>
      <vt:lpstr>Summary -Fe</vt:lpstr>
      <vt:lpstr>BATTERY ELEMENTS </vt:lpstr>
      <vt:lpstr>Learning outcomes</vt:lpstr>
      <vt:lpstr>PowerPoint Presentation</vt:lpstr>
      <vt:lpstr>PowerPoint Presentation</vt:lpstr>
      <vt:lpstr>Batteries</vt:lpstr>
      <vt:lpstr>PowerPoint Presentation</vt:lpstr>
      <vt:lpstr>Manganese</vt:lpstr>
      <vt:lpstr>Mn chemistry and minerals</vt:lpstr>
      <vt:lpstr>Sediment-hosted Mn ore deposits</vt:lpstr>
      <vt:lpstr>Ferromanganese nodules</vt:lpstr>
      <vt:lpstr>PowerPoint Presentation</vt:lpstr>
      <vt:lpstr>Aluminium</vt:lpstr>
      <vt:lpstr>Bauxite</vt:lpstr>
      <vt:lpstr>PowerPoint Presentation</vt:lpstr>
      <vt:lpstr>PowerPoint Presentation</vt:lpstr>
      <vt:lpstr>PowerPoint Presentation</vt:lpstr>
      <vt:lpstr>PowerPoint Presentation</vt:lpstr>
      <vt:lpstr>Nickel</vt:lpstr>
      <vt:lpstr>Sulfide-Nickel Deposits</vt:lpstr>
      <vt:lpstr>Sudbury, Ontario</vt:lpstr>
      <vt:lpstr>2-Residual deposits</vt:lpstr>
      <vt:lpstr>Nickel production</vt:lpstr>
      <vt:lpstr>Processing</vt:lpstr>
      <vt:lpstr>Copper</vt:lpstr>
      <vt:lpstr>Tectonic setting </vt:lpstr>
      <vt:lpstr>Porphyry copper</vt:lpstr>
      <vt:lpstr>Bingham Pit</vt:lpstr>
      <vt:lpstr>Outcrops </vt:lpstr>
      <vt:lpstr>Mining &amp; processing</vt:lpstr>
      <vt:lpstr>PowerPoint Presentation</vt:lpstr>
      <vt:lpstr>Cu production</vt:lpstr>
      <vt:lpstr>Lithium</vt:lpstr>
      <vt:lpstr>Pegmatites</vt:lpstr>
      <vt:lpstr>Continental brines</vt:lpstr>
      <vt:lpstr>Lithium distribution</vt:lpstr>
      <vt:lpstr>PowerPoint Presentation</vt:lpstr>
      <vt:lpstr>Cobalt</vt:lpstr>
      <vt:lpstr>Cobalt</vt:lpstr>
      <vt:lpstr>Sediment-hosted copper deposits</vt:lpstr>
      <vt:lpstr>Formation model for  Sed-hosted Co-Cu belt deposits</vt:lpstr>
      <vt:lpstr>Cobalt</vt:lpstr>
      <vt:lpstr>Summary</vt:lpstr>
      <vt:lpstr>PowerPoint Presentation</vt:lpstr>
      <vt:lpstr>PowerPoint Presentation</vt:lpstr>
      <vt:lpstr>The Raw Material Challenge of a Green Economy</vt:lpstr>
      <vt:lpstr>Can Recycling or Waste Recovery Deliver Everything We Need?</vt:lpstr>
      <vt:lpstr>Challenges and Solutions in Mineral Supply</vt:lpstr>
      <vt:lpstr>PowerPoint Presentation</vt:lpstr>
      <vt:lpstr>A Sustainable Mining Future</vt:lpstr>
      <vt:lpstr>Discussion question</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mbexdvsc</dc:creator>
  <cp:lastModifiedBy>Victoria Coker</cp:lastModifiedBy>
  <cp:revision>2</cp:revision>
  <cp:lastPrinted>2019-03-06T08:39:10Z</cp:lastPrinted>
  <dcterms:created xsi:type="dcterms:W3CDTF">2014-02-24T16:00:53Z</dcterms:created>
  <dcterms:modified xsi:type="dcterms:W3CDTF">2025-02-25T13:18:10Z</dcterms:modified>
</cp:coreProperties>
</file>