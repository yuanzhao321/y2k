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xml" ContentType="application/vnd.openxmlformats-officedocument.presentationml.tags+xml"/>
  <Override PartName="/ppt/notesSlides/notesSlide17.xml" ContentType="application/vnd.openxmlformats-officedocument.presentationml.notesSlide+xml"/>
  <Override PartName="/ppt/tags/tag2.xml" ContentType="application/vnd.openxmlformats-officedocument.presentationml.tags+xml"/>
  <Override PartName="/ppt/notesSlides/notesSlide18.xml" ContentType="application/vnd.openxmlformats-officedocument.presentationml.notesSlide+xml"/>
  <Override PartName="/ppt/tags/tag3.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4.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5.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29.xml" ContentType="application/vnd.openxmlformats-officedocument.presentationml.notesSlide+xml"/>
  <Override PartName="/ppt/tags/tag8.xml" ContentType="application/vnd.openxmlformats-officedocument.presentationml.tags+xml"/>
  <Override PartName="/ppt/notesSlides/notesSlide30.xml" ContentType="application/vnd.openxmlformats-officedocument.presentationml.notesSlide+xml"/>
  <Override PartName="/ppt/tags/tag9.xml" ContentType="application/vnd.openxmlformats-officedocument.presentationml.tags+xml"/>
  <Override PartName="/ppt/notesSlides/notesSlide31.xml" ContentType="application/vnd.openxmlformats-officedocument.presentationml.notesSlide+xml"/>
  <Override PartName="/ppt/tags/tag10.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4" r:id="rId1"/>
  </p:sldMasterIdLst>
  <p:notesMasterIdLst>
    <p:notesMasterId r:id="rId82"/>
  </p:notesMasterIdLst>
  <p:handoutMasterIdLst>
    <p:handoutMasterId r:id="rId83"/>
  </p:handoutMasterIdLst>
  <p:sldIdLst>
    <p:sldId id="257" r:id="rId2"/>
    <p:sldId id="377" r:id="rId3"/>
    <p:sldId id="339" r:id="rId4"/>
    <p:sldId id="378" r:id="rId5"/>
    <p:sldId id="379" r:id="rId6"/>
    <p:sldId id="357" r:id="rId7"/>
    <p:sldId id="358" r:id="rId8"/>
    <p:sldId id="380" r:id="rId9"/>
    <p:sldId id="382" r:id="rId10"/>
    <p:sldId id="359" r:id="rId11"/>
    <p:sldId id="344" r:id="rId12"/>
    <p:sldId id="345" r:id="rId13"/>
    <p:sldId id="349" r:id="rId14"/>
    <p:sldId id="354" r:id="rId15"/>
    <p:sldId id="355" r:id="rId16"/>
    <p:sldId id="366" r:id="rId17"/>
    <p:sldId id="367" r:id="rId18"/>
    <p:sldId id="368" r:id="rId19"/>
    <p:sldId id="390" r:id="rId20"/>
    <p:sldId id="391" r:id="rId21"/>
    <p:sldId id="392" r:id="rId22"/>
    <p:sldId id="403" r:id="rId23"/>
    <p:sldId id="396" r:id="rId24"/>
    <p:sldId id="398" r:id="rId25"/>
    <p:sldId id="397" r:id="rId26"/>
    <p:sldId id="400" r:id="rId27"/>
    <p:sldId id="401" r:id="rId28"/>
    <p:sldId id="399" r:id="rId29"/>
    <p:sldId id="394" r:id="rId30"/>
    <p:sldId id="289" r:id="rId31"/>
    <p:sldId id="268" r:id="rId32"/>
    <p:sldId id="266" r:id="rId33"/>
    <p:sldId id="282" r:id="rId34"/>
    <p:sldId id="281" r:id="rId35"/>
    <p:sldId id="269" r:id="rId36"/>
    <p:sldId id="270" r:id="rId37"/>
    <p:sldId id="279" r:id="rId38"/>
    <p:sldId id="273" r:id="rId39"/>
    <p:sldId id="292" r:id="rId40"/>
    <p:sldId id="299" r:id="rId41"/>
    <p:sldId id="300" r:id="rId42"/>
    <p:sldId id="301" r:id="rId43"/>
    <p:sldId id="302" r:id="rId44"/>
    <p:sldId id="303" r:id="rId45"/>
    <p:sldId id="306" r:id="rId46"/>
    <p:sldId id="307" r:id="rId47"/>
    <p:sldId id="309" r:id="rId48"/>
    <p:sldId id="310" r:id="rId49"/>
    <p:sldId id="312" r:id="rId50"/>
    <p:sldId id="313" r:id="rId51"/>
    <p:sldId id="314" r:id="rId52"/>
    <p:sldId id="317" r:id="rId53"/>
    <p:sldId id="318" r:id="rId54"/>
    <p:sldId id="321" r:id="rId55"/>
    <p:sldId id="328" r:id="rId56"/>
    <p:sldId id="294" r:id="rId57"/>
    <p:sldId id="295" r:id="rId58"/>
    <p:sldId id="296" r:id="rId59"/>
    <p:sldId id="259" r:id="rId60"/>
    <p:sldId id="264" r:id="rId61"/>
    <p:sldId id="298" r:id="rId62"/>
    <p:sldId id="330" r:id="rId63"/>
    <p:sldId id="331" r:id="rId64"/>
    <p:sldId id="332" r:id="rId65"/>
    <p:sldId id="333" r:id="rId66"/>
    <p:sldId id="334" r:id="rId67"/>
    <p:sldId id="335" r:id="rId68"/>
    <p:sldId id="336" r:id="rId69"/>
    <p:sldId id="337" r:id="rId70"/>
    <p:sldId id="276" r:id="rId71"/>
    <p:sldId id="338" r:id="rId72"/>
    <p:sldId id="304" r:id="rId73"/>
    <p:sldId id="340" r:id="rId74"/>
    <p:sldId id="341" r:id="rId75"/>
    <p:sldId id="404" r:id="rId76"/>
    <p:sldId id="371" r:id="rId77"/>
    <p:sldId id="372" r:id="rId78"/>
    <p:sldId id="373" r:id="rId79"/>
    <p:sldId id="374" r:id="rId80"/>
    <p:sldId id="375" r:id="rId81"/>
  </p:sldIdLst>
  <p:sldSz cx="9144000" cy="6858000" type="screen4x3"/>
  <p:notesSz cx="10018713" cy="68897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2443" autoAdjust="0"/>
  </p:normalViewPr>
  <p:slideViewPr>
    <p:cSldViewPr snapToGrid="0" snapToObjects="1">
      <p:cViewPr varScale="1">
        <p:scale>
          <a:sx n="76" d="100"/>
          <a:sy n="76" d="100"/>
        </p:scale>
        <p:origin x="1666"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ia Coker" userId="d72aa273-31db-4826-9280-c88045117e4b" providerId="ADAL" clId="{549D5514-5F4C-4A6A-806E-C753B1711A1F}"/>
    <pc:docChg chg="delSld modSld">
      <pc:chgData name="Victoria Coker" userId="d72aa273-31db-4826-9280-c88045117e4b" providerId="ADAL" clId="{549D5514-5F4C-4A6A-806E-C753B1711A1F}" dt="2025-03-07T16:05:37.956" v="20" actId="20577"/>
      <pc:docMkLst>
        <pc:docMk/>
      </pc:docMkLst>
      <pc:sldChg chg="del">
        <pc:chgData name="Victoria Coker" userId="d72aa273-31db-4826-9280-c88045117e4b" providerId="ADAL" clId="{549D5514-5F4C-4A6A-806E-C753B1711A1F}" dt="2025-03-07T16:05:07.900" v="19" actId="47"/>
        <pc:sldMkLst>
          <pc:docMk/>
          <pc:sldMk cId="581113648" sldId="261"/>
        </pc:sldMkLst>
      </pc:sldChg>
      <pc:sldChg chg="modNotesTx">
        <pc:chgData name="Victoria Coker" userId="d72aa273-31db-4826-9280-c88045117e4b" providerId="ADAL" clId="{549D5514-5F4C-4A6A-806E-C753B1711A1F}" dt="2025-03-07T16:04:41.495" v="17" actId="20577"/>
        <pc:sldMkLst>
          <pc:docMk/>
          <pc:sldMk cId="2598224967" sldId="270"/>
        </pc:sldMkLst>
      </pc:sldChg>
      <pc:sldChg chg="modNotesTx">
        <pc:chgData name="Victoria Coker" userId="d72aa273-31db-4826-9280-c88045117e4b" providerId="ADAL" clId="{549D5514-5F4C-4A6A-806E-C753B1711A1F}" dt="2025-03-07T16:04:33.768" v="16" actId="20577"/>
        <pc:sldMkLst>
          <pc:docMk/>
          <pc:sldMk cId="760210440" sldId="281"/>
        </pc:sldMkLst>
      </pc:sldChg>
      <pc:sldChg chg="modNotesTx">
        <pc:chgData name="Victoria Coker" userId="d72aa273-31db-4826-9280-c88045117e4b" providerId="ADAL" clId="{549D5514-5F4C-4A6A-806E-C753B1711A1F}" dt="2025-03-07T16:05:01.255" v="18" actId="20577"/>
        <pc:sldMkLst>
          <pc:docMk/>
          <pc:sldMk cId="786414199" sldId="295"/>
        </pc:sldMkLst>
      </pc:sldChg>
      <pc:sldChg chg="modNotesTx">
        <pc:chgData name="Victoria Coker" userId="d72aa273-31db-4826-9280-c88045117e4b" providerId="ADAL" clId="{549D5514-5F4C-4A6A-806E-C753B1711A1F}" dt="2025-03-07T16:02:35.645" v="0" actId="20577"/>
        <pc:sldMkLst>
          <pc:docMk/>
          <pc:sldMk cId="1719501577" sldId="339"/>
        </pc:sldMkLst>
      </pc:sldChg>
      <pc:sldChg chg="modNotesTx">
        <pc:chgData name="Victoria Coker" userId="d72aa273-31db-4826-9280-c88045117e4b" providerId="ADAL" clId="{549D5514-5F4C-4A6A-806E-C753B1711A1F}" dt="2025-03-07T16:05:37.956" v="20" actId="20577"/>
        <pc:sldMkLst>
          <pc:docMk/>
          <pc:sldMk cId="1100803353" sldId="341"/>
        </pc:sldMkLst>
      </pc:sldChg>
      <pc:sldChg chg="modNotesTx">
        <pc:chgData name="Victoria Coker" userId="d72aa273-31db-4826-9280-c88045117e4b" providerId="ADAL" clId="{549D5514-5F4C-4A6A-806E-C753B1711A1F}" dt="2025-03-07T16:03:22.451" v="11" actId="20577"/>
        <pc:sldMkLst>
          <pc:docMk/>
          <pc:sldMk cId="3322418350" sldId="344"/>
        </pc:sldMkLst>
      </pc:sldChg>
      <pc:sldChg chg="modNotesTx">
        <pc:chgData name="Victoria Coker" userId="d72aa273-31db-4826-9280-c88045117e4b" providerId="ADAL" clId="{549D5514-5F4C-4A6A-806E-C753B1711A1F}" dt="2025-03-07T16:03:47.006" v="12" actId="20577"/>
        <pc:sldMkLst>
          <pc:docMk/>
          <pc:sldMk cId="3209849137" sldId="354"/>
        </pc:sldMkLst>
      </pc:sldChg>
      <pc:sldChg chg="modNotesTx">
        <pc:chgData name="Victoria Coker" userId="d72aa273-31db-4826-9280-c88045117e4b" providerId="ADAL" clId="{549D5514-5F4C-4A6A-806E-C753B1711A1F}" dt="2025-03-07T16:03:51.855" v="13" actId="20577"/>
        <pc:sldMkLst>
          <pc:docMk/>
          <pc:sldMk cId="1777893394" sldId="355"/>
        </pc:sldMkLst>
      </pc:sldChg>
      <pc:sldChg chg="modNotesTx">
        <pc:chgData name="Victoria Coker" userId="d72aa273-31db-4826-9280-c88045117e4b" providerId="ADAL" clId="{549D5514-5F4C-4A6A-806E-C753B1711A1F}" dt="2025-03-07T16:02:58.200" v="4" actId="20577"/>
        <pc:sldMkLst>
          <pc:docMk/>
          <pc:sldMk cId="4174369849" sldId="357"/>
        </pc:sldMkLst>
      </pc:sldChg>
      <pc:sldChg chg="modNotesTx">
        <pc:chgData name="Victoria Coker" userId="d72aa273-31db-4826-9280-c88045117e4b" providerId="ADAL" clId="{549D5514-5F4C-4A6A-806E-C753B1711A1F}" dt="2025-03-07T16:03:02.069" v="5" actId="20577"/>
        <pc:sldMkLst>
          <pc:docMk/>
          <pc:sldMk cId="2877281429" sldId="358"/>
        </pc:sldMkLst>
      </pc:sldChg>
      <pc:sldChg chg="modNotesTx">
        <pc:chgData name="Victoria Coker" userId="d72aa273-31db-4826-9280-c88045117e4b" providerId="ADAL" clId="{549D5514-5F4C-4A6A-806E-C753B1711A1F}" dt="2025-03-07T16:03:16.196" v="10" actId="20577"/>
        <pc:sldMkLst>
          <pc:docMk/>
          <pc:sldMk cId="2570019048" sldId="359"/>
        </pc:sldMkLst>
      </pc:sldChg>
      <pc:sldChg chg="modNotesTx">
        <pc:chgData name="Victoria Coker" userId="d72aa273-31db-4826-9280-c88045117e4b" providerId="ADAL" clId="{549D5514-5F4C-4A6A-806E-C753B1711A1F}" dt="2025-03-07T16:02:39.939" v="1" actId="20577"/>
        <pc:sldMkLst>
          <pc:docMk/>
          <pc:sldMk cId="2405202643" sldId="378"/>
        </pc:sldMkLst>
      </pc:sldChg>
      <pc:sldChg chg="modNotesTx">
        <pc:chgData name="Victoria Coker" userId="d72aa273-31db-4826-9280-c88045117e4b" providerId="ADAL" clId="{549D5514-5F4C-4A6A-806E-C753B1711A1F}" dt="2025-03-07T16:02:45.108" v="2" actId="20577"/>
        <pc:sldMkLst>
          <pc:docMk/>
          <pc:sldMk cId="263352758" sldId="379"/>
        </pc:sldMkLst>
      </pc:sldChg>
      <pc:sldChg chg="modNotesTx">
        <pc:chgData name="Victoria Coker" userId="d72aa273-31db-4826-9280-c88045117e4b" providerId="ADAL" clId="{549D5514-5F4C-4A6A-806E-C753B1711A1F}" dt="2025-03-07T16:03:05.849" v="7" actId="20577"/>
        <pc:sldMkLst>
          <pc:docMk/>
          <pc:sldMk cId="2079782" sldId="380"/>
        </pc:sldMkLst>
      </pc:sldChg>
      <pc:sldChg chg="modNotesTx">
        <pc:chgData name="Victoria Coker" userId="d72aa273-31db-4826-9280-c88045117e4b" providerId="ADAL" clId="{549D5514-5F4C-4A6A-806E-C753B1711A1F}" dt="2025-03-07T16:03:12.189" v="9" actId="20577"/>
        <pc:sldMkLst>
          <pc:docMk/>
          <pc:sldMk cId="3724999799" sldId="382"/>
        </pc:sldMkLst>
      </pc:sldChg>
      <pc:sldChg chg="del">
        <pc:chgData name="Victoria Coker" userId="d72aa273-31db-4826-9280-c88045117e4b" providerId="ADAL" clId="{549D5514-5F4C-4A6A-806E-C753B1711A1F}" dt="2025-03-07T16:02:50.029" v="3" actId="47"/>
        <pc:sldMkLst>
          <pc:docMk/>
          <pc:sldMk cId="3822169446" sldId="395"/>
        </pc:sldMkLst>
      </pc:sldChg>
      <pc:sldChg chg="modNotesTx">
        <pc:chgData name="Victoria Coker" userId="d72aa273-31db-4826-9280-c88045117e4b" providerId="ADAL" clId="{549D5514-5F4C-4A6A-806E-C753B1711A1F}" dt="2025-03-07T16:04:14.475" v="14" actId="20577"/>
        <pc:sldMkLst>
          <pc:docMk/>
          <pc:sldMk cId="509803982" sldId="397"/>
        </pc:sldMkLst>
      </pc:sldChg>
      <pc:sldChg chg="modNotesTx">
        <pc:chgData name="Victoria Coker" userId="d72aa273-31db-4826-9280-c88045117e4b" providerId="ADAL" clId="{549D5514-5F4C-4A6A-806E-C753B1711A1F}" dt="2025-03-07T16:04:19.198" v="15" actId="20577"/>
        <pc:sldMkLst>
          <pc:docMk/>
          <pc:sldMk cId="1111713687" sldId="40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41442" cy="344487"/>
          </a:xfrm>
          <a:prstGeom prst="rect">
            <a:avLst/>
          </a:prstGeom>
        </p:spPr>
        <p:txBody>
          <a:bodyPr vert="horz" lIns="92702" tIns="46351" rIns="92702" bIns="46351" rtlCol="0"/>
          <a:lstStyle>
            <a:lvl1pPr algn="l">
              <a:defRPr sz="1200"/>
            </a:lvl1pPr>
          </a:lstStyle>
          <a:p>
            <a:endParaRPr lang="en-GB"/>
          </a:p>
        </p:txBody>
      </p:sp>
      <p:sp>
        <p:nvSpPr>
          <p:cNvPr id="3" name="Date Placeholder 2"/>
          <p:cNvSpPr>
            <a:spLocks noGrp="1"/>
          </p:cNvSpPr>
          <p:nvPr>
            <p:ph type="dt" sz="quarter" idx="1"/>
          </p:nvPr>
        </p:nvSpPr>
        <p:spPr>
          <a:xfrm>
            <a:off x="5674953" y="1"/>
            <a:ext cx="4341442" cy="344487"/>
          </a:xfrm>
          <a:prstGeom prst="rect">
            <a:avLst/>
          </a:prstGeom>
        </p:spPr>
        <p:txBody>
          <a:bodyPr vert="horz" lIns="92702" tIns="46351" rIns="92702" bIns="46351" rtlCol="0"/>
          <a:lstStyle>
            <a:lvl1pPr algn="r">
              <a:defRPr sz="1200"/>
            </a:lvl1pPr>
          </a:lstStyle>
          <a:p>
            <a:fld id="{338E9C95-AD24-4CA3-8411-A46C1461D22A}" type="datetimeFigureOut">
              <a:rPr lang="en-GB" smtClean="0"/>
              <a:t>06/03/2025</a:t>
            </a:fld>
            <a:endParaRPr lang="en-GB"/>
          </a:p>
        </p:txBody>
      </p:sp>
      <p:sp>
        <p:nvSpPr>
          <p:cNvPr id="4" name="Footer Placeholder 3"/>
          <p:cNvSpPr>
            <a:spLocks noGrp="1"/>
          </p:cNvSpPr>
          <p:nvPr>
            <p:ph type="ftr" sz="quarter" idx="2"/>
          </p:nvPr>
        </p:nvSpPr>
        <p:spPr>
          <a:xfrm>
            <a:off x="0" y="6544070"/>
            <a:ext cx="4341442" cy="344487"/>
          </a:xfrm>
          <a:prstGeom prst="rect">
            <a:avLst/>
          </a:prstGeom>
        </p:spPr>
        <p:txBody>
          <a:bodyPr vert="horz" lIns="92702" tIns="46351" rIns="92702" bIns="46351" rtlCol="0" anchor="b"/>
          <a:lstStyle>
            <a:lvl1pPr algn="l">
              <a:defRPr sz="1200"/>
            </a:lvl1pPr>
          </a:lstStyle>
          <a:p>
            <a:endParaRPr lang="en-GB"/>
          </a:p>
        </p:txBody>
      </p:sp>
      <p:sp>
        <p:nvSpPr>
          <p:cNvPr id="5" name="Slide Number Placeholder 4"/>
          <p:cNvSpPr>
            <a:spLocks noGrp="1"/>
          </p:cNvSpPr>
          <p:nvPr>
            <p:ph type="sldNum" sz="quarter" idx="3"/>
          </p:nvPr>
        </p:nvSpPr>
        <p:spPr>
          <a:xfrm>
            <a:off x="5674953" y="6544070"/>
            <a:ext cx="4341442" cy="344487"/>
          </a:xfrm>
          <a:prstGeom prst="rect">
            <a:avLst/>
          </a:prstGeom>
        </p:spPr>
        <p:txBody>
          <a:bodyPr vert="horz" lIns="92702" tIns="46351" rIns="92702" bIns="46351" rtlCol="0" anchor="b"/>
          <a:lstStyle>
            <a:lvl1pPr algn="r">
              <a:defRPr sz="1200"/>
            </a:lvl1pPr>
          </a:lstStyle>
          <a:p>
            <a:fld id="{61C29BC3-AC84-449C-885B-A910C4E9DC08}" type="slidenum">
              <a:rPr lang="en-GB" smtClean="0"/>
              <a:t>‹#›</a:t>
            </a:fld>
            <a:endParaRPr lang="en-GB"/>
          </a:p>
        </p:txBody>
      </p:sp>
    </p:spTree>
    <p:extLst>
      <p:ext uri="{BB962C8B-B14F-4D97-AF65-F5344CB8AC3E}">
        <p14:creationId xmlns:p14="http://schemas.microsoft.com/office/powerpoint/2010/main" val="24037850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41442" cy="344487"/>
          </a:xfrm>
          <a:prstGeom prst="rect">
            <a:avLst/>
          </a:prstGeom>
        </p:spPr>
        <p:txBody>
          <a:bodyPr vert="horz" lIns="92702" tIns="46351" rIns="92702" bIns="46351" rtlCol="0"/>
          <a:lstStyle>
            <a:lvl1pPr algn="l">
              <a:defRPr sz="1200"/>
            </a:lvl1pPr>
          </a:lstStyle>
          <a:p>
            <a:endParaRPr lang="en-US"/>
          </a:p>
        </p:txBody>
      </p:sp>
      <p:sp>
        <p:nvSpPr>
          <p:cNvPr id="3" name="Date Placeholder 2"/>
          <p:cNvSpPr>
            <a:spLocks noGrp="1"/>
          </p:cNvSpPr>
          <p:nvPr>
            <p:ph type="dt" idx="1"/>
          </p:nvPr>
        </p:nvSpPr>
        <p:spPr>
          <a:xfrm>
            <a:off x="5674953" y="1"/>
            <a:ext cx="4341442" cy="344487"/>
          </a:xfrm>
          <a:prstGeom prst="rect">
            <a:avLst/>
          </a:prstGeom>
        </p:spPr>
        <p:txBody>
          <a:bodyPr vert="horz" lIns="92702" tIns="46351" rIns="92702" bIns="46351" rtlCol="0"/>
          <a:lstStyle>
            <a:lvl1pPr algn="r">
              <a:defRPr sz="1200"/>
            </a:lvl1pPr>
          </a:lstStyle>
          <a:p>
            <a:fld id="{C65B7939-7500-904B-8A6C-91C9A120F39A}" type="datetimeFigureOut">
              <a:rPr lang="en-US" smtClean="0"/>
              <a:t>3/6/2025</a:t>
            </a:fld>
            <a:endParaRPr lang="en-US"/>
          </a:p>
        </p:txBody>
      </p:sp>
      <p:sp>
        <p:nvSpPr>
          <p:cNvPr id="4" name="Slide Image Placeholder 3"/>
          <p:cNvSpPr>
            <a:spLocks noGrp="1" noRot="1" noChangeAspect="1"/>
          </p:cNvSpPr>
          <p:nvPr>
            <p:ph type="sldImg" idx="2"/>
          </p:nvPr>
        </p:nvSpPr>
        <p:spPr>
          <a:xfrm>
            <a:off x="3287713" y="517525"/>
            <a:ext cx="3443287" cy="2581275"/>
          </a:xfrm>
          <a:prstGeom prst="rect">
            <a:avLst/>
          </a:prstGeom>
          <a:noFill/>
          <a:ln w="12700">
            <a:solidFill>
              <a:prstClr val="black"/>
            </a:solidFill>
          </a:ln>
        </p:spPr>
        <p:txBody>
          <a:bodyPr vert="horz" lIns="92702" tIns="46351" rIns="92702" bIns="46351" rtlCol="0" anchor="ctr"/>
          <a:lstStyle/>
          <a:p>
            <a:endParaRPr lang="en-US"/>
          </a:p>
        </p:txBody>
      </p:sp>
      <p:sp>
        <p:nvSpPr>
          <p:cNvPr id="5" name="Notes Placeholder 4"/>
          <p:cNvSpPr>
            <a:spLocks noGrp="1"/>
          </p:cNvSpPr>
          <p:nvPr>
            <p:ph type="body" sz="quarter" idx="3"/>
          </p:nvPr>
        </p:nvSpPr>
        <p:spPr>
          <a:xfrm>
            <a:off x="1001873" y="3272633"/>
            <a:ext cx="8014969" cy="3100387"/>
          </a:xfrm>
          <a:prstGeom prst="rect">
            <a:avLst/>
          </a:prstGeom>
        </p:spPr>
        <p:txBody>
          <a:bodyPr vert="horz" lIns="92702" tIns="46351" rIns="92702" bIns="46351"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44070"/>
            <a:ext cx="4341442" cy="344487"/>
          </a:xfrm>
          <a:prstGeom prst="rect">
            <a:avLst/>
          </a:prstGeom>
        </p:spPr>
        <p:txBody>
          <a:bodyPr vert="horz" lIns="92702" tIns="46351" rIns="92702" bIns="46351" rtlCol="0" anchor="b"/>
          <a:lstStyle>
            <a:lvl1pPr algn="l">
              <a:defRPr sz="1200"/>
            </a:lvl1pPr>
          </a:lstStyle>
          <a:p>
            <a:endParaRPr lang="en-US"/>
          </a:p>
        </p:txBody>
      </p:sp>
      <p:sp>
        <p:nvSpPr>
          <p:cNvPr id="7" name="Slide Number Placeholder 6"/>
          <p:cNvSpPr>
            <a:spLocks noGrp="1"/>
          </p:cNvSpPr>
          <p:nvPr>
            <p:ph type="sldNum" sz="quarter" idx="5"/>
          </p:nvPr>
        </p:nvSpPr>
        <p:spPr>
          <a:xfrm>
            <a:off x="5674953" y="6544070"/>
            <a:ext cx="4341442" cy="344487"/>
          </a:xfrm>
          <a:prstGeom prst="rect">
            <a:avLst/>
          </a:prstGeom>
        </p:spPr>
        <p:txBody>
          <a:bodyPr vert="horz" lIns="92702" tIns="46351" rIns="92702" bIns="46351" rtlCol="0" anchor="b"/>
          <a:lstStyle>
            <a:lvl1pPr algn="r">
              <a:defRPr sz="1200"/>
            </a:lvl1pPr>
          </a:lstStyle>
          <a:p>
            <a:fld id="{1FEF3700-1EAA-AD40-B8C3-81278236E4FE}" type="slidenum">
              <a:rPr lang="en-US" smtClean="0"/>
              <a:t>‹#›</a:t>
            </a:fld>
            <a:endParaRPr lang="en-US"/>
          </a:p>
        </p:txBody>
      </p:sp>
    </p:spTree>
    <p:extLst>
      <p:ext uri="{BB962C8B-B14F-4D97-AF65-F5344CB8AC3E}">
        <p14:creationId xmlns:p14="http://schemas.microsoft.com/office/powerpoint/2010/main" val="157149986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70FA88C-524C-42C0-8773-76F368B52736}" type="slidenum">
              <a:rPr lang="en-GB" smtClean="0"/>
              <a:t>2</a:t>
            </a:fld>
            <a:endParaRPr lang="en-GB"/>
          </a:p>
        </p:txBody>
      </p:sp>
    </p:spTree>
    <p:extLst>
      <p:ext uri="{BB962C8B-B14F-4D97-AF65-F5344CB8AC3E}">
        <p14:creationId xmlns:p14="http://schemas.microsoft.com/office/powerpoint/2010/main" val="2677010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3</a:t>
            </a:fld>
            <a:endParaRPr lang="en-GB"/>
          </a:p>
        </p:txBody>
      </p:sp>
    </p:spTree>
    <p:extLst>
      <p:ext uri="{BB962C8B-B14F-4D97-AF65-F5344CB8AC3E}">
        <p14:creationId xmlns:p14="http://schemas.microsoft.com/office/powerpoint/2010/main" val="898635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4</a:t>
            </a:fld>
            <a:endParaRPr lang="en-GB"/>
          </a:p>
        </p:txBody>
      </p:sp>
    </p:spTree>
    <p:extLst>
      <p:ext uri="{BB962C8B-B14F-4D97-AF65-F5344CB8AC3E}">
        <p14:creationId xmlns:p14="http://schemas.microsoft.com/office/powerpoint/2010/main" val="2132195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5</a:t>
            </a:fld>
            <a:endParaRPr lang="en-GB"/>
          </a:p>
        </p:txBody>
      </p:sp>
    </p:spTree>
    <p:extLst>
      <p:ext uri="{BB962C8B-B14F-4D97-AF65-F5344CB8AC3E}">
        <p14:creationId xmlns:p14="http://schemas.microsoft.com/office/powerpoint/2010/main" val="3710638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6</a:t>
            </a:fld>
            <a:endParaRPr lang="en-GB"/>
          </a:p>
        </p:txBody>
      </p:sp>
    </p:spTree>
    <p:extLst>
      <p:ext uri="{BB962C8B-B14F-4D97-AF65-F5344CB8AC3E}">
        <p14:creationId xmlns:p14="http://schemas.microsoft.com/office/powerpoint/2010/main" val="2661295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7</a:t>
            </a:fld>
            <a:endParaRPr lang="en-GB"/>
          </a:p>
        </p:txBody>
      </p:sp>
    </p:spTree>
    <p:extLst>
      <p:ext uri="{BB962C8B-B14F-4D97-AF65-F5344CB8AC3E}">
        <p14:creationId xmlns:p14="http://schemas.microsoft.com/office/powerpoint/2010/main" val="2165131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8</a:t>
            </a:fld>
            <a:endParaRPr lang="en-GB"/>
          </a:p>
        </p:txBody>
      </p:sp>
    </p:spTree>
    <p:extLst>
      <p:ext uri="{BB962C8B-B14F-4D97-AF65-F5344CB8AC3E}">
        <p14:creationId xmlns:p14="http://schemas.microsoft.com/office/powerpoint/2010/main" val="189165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9</a:t>
            </a:fld>
            <a:endParaRPr lang="en-GB"/>
          </a:p>
        </p:txBody>
      </p:sp>
    </p:spTree>
    <p:extLst>
      <p:ext uri="{BB962C8B-B14F-4D97-AF65-F5344CB8AC3E}">
        <p14:creationId xmlns:p14="http://schemas.microsoft.com/office/powerpoint/2010/main" val="2377445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10</a:t>
            </a:fld>
            <a:endParaRPr lang="en-GB"/>
          </a:p>
        </p:txBody>
      </p:sp>
    </p:spTree>
    <p:extLst>
      <p:ext uri="{BB962C8B-B14F-4D97-AF65-F5344CB8AC3E}">
        <p14:creationId xmlns:p14="http://schemas.microsoft.com/office/powerpoint/2010/main" val="20801380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11</a:t>
            </a:fld>
            <a:endParaRPr lang="en-GB"/>
          </a:p>
        </p:txBody>
      </p:sp>
    </p:spTree>
    <p:extLst>
      <p:ext uri="{BB962C8B-B14F-4D97-AF65-F5344CB8AC3E}">
        <p14:creationId xmlns:p14="http://schemas.microsoft.com/office/powerpoint/2010/main" val="158033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Used as</a:t>
            </a:r>
            <a:r>
              <a:rPr lang="en-GB" baseline="0" dirty="0"/>
              <a:t> abrasives, drill bits, glass cutters</a:t>
            </a:r>
          </a:p>
          <a:p>
            <a:r>
              <a:rPr lang="en-GB" baseline="0" dirty="0"/>
              <a:t>Only about 20% are gem quality</a:t>
            </a:r>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13</a:t>
            </a:fld>
            <a:endParaRPr lang="en-GB"/>
          </a:p>
        </p:txBody>
      </p:sp>
    </p:spTree>
    <p:extLst>
      <p:ext uri="{BB962C8B-B14F-4D97-AF65-F5344CB8AC3E}">
        <p14:creationId xmlns:p14="http://schemas.microsoft.com/office/powerpoint/2010/main" val="2736098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14</a:t>
            </a:fld>
            <a:endParaRPr lang="en-GB"/>
          </a:p>
        </p:txBody>
      </p:sp>
    </p:spTree>
    <p:extLst>
      <p:ext uri="{BB962C8B-B14F-4D97-AF65-F5344CB8AC3E}">
        <p14:creationId xmlns:p14="http://schemas.microsoft.com/office/powerpoint/2010/main" val="1764513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70FA88C-524C-42C0-8773-76F368B52736}" type="slidenum">
              <a:rPr lang="en-GB" smtClean="0"/>
              <a:t>15</a:t>
            </a:fld>
            <a:endParaRPr lang="en-GB"/>
          </a:p>
        </p:txBody>
      </p:sp>
    </p:spTree>
    <p:extLst>
      <p:ext uri="{BB962C8B-B14F-4D97-AF65-F5344CB8AC3E}">
        <p14:creationId xmlns:p14="http://schemas.microsoft.com/office/powerpoint/2010/main" val="2814990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EF3700-1EAA-AD40-B8C3-81278236E4FE}" type="slidenum">
              <a:rPr lang="en-US" smtClean="0"/>
              <a:t>25</a:t>
            </a:fld>
            <a:endParaRPr lang="en-US"/>
          </a:p>
        </p:txBody>
      </p:sp>
    </p:spTree>
    <p:extLst>
      <p:ext uri="{BB962C8B-B14F-4D97-AF65-F5344CB8AC3E}">
        <p14:creationId xmlns:p14="http://schemas.microsoft.com/office/powerpoint/2010/main" val="20222515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EF3700-1EAA-AD40-B8C3-81278236E4FE}" type="slidenum">
              <a:rPr lang="en-US" smtClean="0"/>
              <a:t>26</a:t>
            </a:fld>
            <a:endParaRPr lang="en-US"/>
          </a:p>
        </p:txBody>
      </p:sp>
    </p:spTree>
    <p:extLst>
      <p:ext uri="{BB962C8B-B14F-4D97-AF65-F5344CB8AC3E}">
        <p14:creationId xmlns:p14="http://schemas.microsoft.com/office/powerpoint/2010/main" val="20845830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30</a:t>
            </a:fld>
            <a:endParaRPr lang="en-US"/>
          </a:p>
        </p:txBody>
      </p:sp>
    </p:spTree>
    <p:extLst>
      <p:ext uri="{BB962C8B-B14F-4D97-AF65-F5344CB8AC3E}">
        <p14:creationId xmlns:p14="http://schemas.microsoft.com/office/powerpoint/2010/main" val="28547904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34</a:t>
            </a:fld>
            <a:endParaRPr lang="en-US"/>
          </a:p>
        </p:txBody>
      </p:sp>
    </p:spTree>
    <p:extLst>
      <p:ext uri="{BB962C8B-B14F-4D97-AF65-F5344CB8AC3E}">
        <p14:creationId xmlns:p14="http://schemas.microsoft.com/office/powerpoint/2010/main" val="258778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35</a:t>
            </a:fld>
            <a:endParaRPr lang="en-US"/>
          </a:p>
        </p:txBody>
      </p:sp>
    </p:spTree>
    <p:extLst>
      <p:ext uri="{BB962C8B-B14F-4D97-AF65-F5344CB8AC3E}">
        <p14:creationId xmlns:p14="http://schemas.microsoft.com/office/powerpoint/2010/main" val="38312650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36</a:t>
            </a:fld>
            <a:endParaRPr lang="en-US"/>
          </a:p>
        </p:txBody>
      </p:sp>
    </p:spTree>
    <p:extLst>
      <p:ext uri="{BB962C8B-B14F-4D97-AF65-F5344CB8AC3E}">
        <p14:creationId xmlns:p14="http://schemas.microsoft.com/office/powerpoint/2010/main" val="2042747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37</a:t>
            </a:fld>
            <a:endParaRPr lang="en-US"/>
          </a:p>
        </p:txBody>
      </p:sp>
    </p:spTree>
    <p:extLst>
      <p:ext uri="{BB962C8B-B14F-4D97-AF65-F5344CB8AC3E}">
        <p14:creationId xmlns:p14="http://schemas.microsoft.com/office/powerpoint/2010/main" val="14142412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38</a:t>
            </a:fld>
            <a:endParaRPr lang="en-US"/>
          </a:p>
        </p:txBody>
      </p:sp>
    </p:spTree>
    <p:extLst>
      <p:ext uri="{BB962C8B-B14F-4D97-AF65-F5344CB8AC3E}">
        <p14:creationId xmlns:p14="http://schemas.microsoft.com/office/powerpoint/2010/main" val="25059137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41</a:t>
            </a:fld>
            <a:endParaRPr lang="en-US"/>
          </a:p>
        </p:txBody>
      </p:sp>
    </p:spTree>
    <p:extLst>
      <p:ext uri="{BB962C8B-B14F-4D97-AF65-F5344CB8AC3E}">
        <p14:creationId xmlns:p14="http://schemas.microsoft.com/office/powerpoint/2010/main" val="30367389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50000"/>
              </a:spcBef>
            </a:pPr>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42</a:t>
            </a:fld>
            <a:endParaRPr lang="en-US"/>
          </a:p>
        </p:txBody>
      </p:sp>
    </p:spTree>
    <p:extLst>
      <p:ext uri="{BB962C8B-B14F-4D97-AF65-F5344CB8AC3E}">
        <p14:creationId xmlns:p14="http://schemas.microsoft.com/office/powerpoint/2010/main" val="10657734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43</a:t>
            </a:fld>
            <a:endParaRPr lang="en-US"/>
          </a:p>
        </p:txBody>
      </p:sp>
    </p:spTree>
    <p:extLst>
      <p:ext uri="{BB962C8B-B14F-4D97-AF65-F5344CB8AC3E}">
        <p14:creationId xmlns:p14="http://schemas.microsoft.com/office/powerpoint/2010/main" val="20571589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44</a:t>
            </a:fld>
            <a:endParaRPr lang="en-US"/>
          </a:p>
        </p:txBody>
      </p:sp>
    </p:spTree>
    <p:extLst>
      <p:ext uri="{BB962C8B-B14F-4D97-AF65-F5344CB8AC3E}">
        <p14:creationId xmlns:p14="http://schemas.microsoft.com/office/powerpoint/2010/main" val="25481586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70044">
              <a:defRPr/>
            </a:pPr>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45</a:t>
            </a:fld>
            <a:endParaRPr lang="en-US"/>
          </a:p>
        </p:txBody>
      </p:sp>
    </p:spTree>
    <p:extLst>
      <p:ext uri="{BB962C8B-B14F-4D97-AF65-F5344CB8AC3E}">
        <p14:creationId xmlns:p14="http://schemas.microsoft.com/office/powerpoint/2010/main" val="28564013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46</a:t>
            </a:fld>
            <a:endParaRPr lang="en-US"/>
          </a:p>
        </p:txBody>
      </p:sp>
    </p:spTree>
    <p:extLst>
      <p:ext uri="{BB962C8B-B14F-4D97-AF65-F5344CB8AC3E}">
        <p14:creationId xmlns:p14="http://schemas.microsoft.com/office/powerpoint/2010/main" val="10011589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EF3700-1EAA-AD40-B8C3-81278236E4FE}" type="slidenum">
              <a:rPr lang="en-US" smtClean="0"/>
              <a:t>47</a:t>
            </a:fld>
            <a:endParaRPr lang="en-US"/>
          </a:p>
        </p:txBody>
      </p:sp>
    </p:spTree>
    <p:extLst>
      <p:ext uri="{BB962C8B-B14F-4D97-AF65-F5344CB8AC3E}">
        <p14:creationId xmlns:p14="http://schemas.microsoft.com/office/powerpoint/2010/main" val="36741347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a:defRPr sz="2400">
                <a:solidFill>
                  <a:schemeClr val="tx1"/>
                </a:solidFill>
                <a:latin typeface="Arial" pitchFamily="34" charset="0"/>
                <a:ea typeface="ＭＳ Ｐゴシック" pitchFamily="34" charset="-128"/>
              </a:defRPr>
            </a:lvl1pPr>
            <a:lvl2pPr marL="774364" indent="-297832">
              <a:defRPr sz="2400">
                <a:solidFill>
                  <a:schemeClr val="tx1"/>
                </a:solidFill>
                <a:latin typeface="Arial" pitchFamily="34" charset="0"/>
                <a:ea typeface="ＭＳ Ｐゴシック" pitchFamily="34" charset="-128"/>
              </a:defRPr>
            </a:lvl2pPr>
            <a:lvl3pPr marL="1191328" indent="-238266">
              <a:defRPr sz="2400">
                <a:solidFill>
                  <a:schemeClr val="tx1"/>
                </a:solidFill>
                <a:latin typeface="Arial" pitchFamily="34" charset="0"/>
                <a:ea typeface="ＭＳ Ｐゴシック" pitchFamily="34" charset="-128"/>
              </a:defRPr>
            </a:lvl3pPr>
            <a:lvl4pPr marL="1667861" indent="-238266">
              <a:defRPr sz="2400">
                <a:solidFill>
                  <a:schemeClr val="tx1"/>
                </a:solidFill>
                <a:latin typeface="Arial" pitchFamily="34" charset="0"/>
                <a:ea typeface="ＭＳ Ｐゴシック" pitchFamily="34" charset="-128"/>
              </a:defRPr>
            </a:lvl4pPr>
            <a:lvl5pPr marL="2144392" indent="-238266">
              <a:defRPr sz="2400">
                <a:solidFill>
                  <a:schemeClr val="tx1"/>
                </a:solidFill>
                <a:latin typeface="Arial" pitchFamily="34" charset="0"/>
                <a:ea typeface="ＭＳ Ｐゴシック" pitchFamily="34" charset="-128"/>
              </a:defRPr>
            </a:lvl5pPr>
            <a:lvl6pPr marL="2620922" indent="-238266"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97455" indent="-238266"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573986" indent="-238266"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4050518" indent="-238266"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CDEC7C75-0787-4FD7-A770-96D21B36C525}" type="slidenum">
              <a:rPr lang="en-US" altLang="en-US" sz="1200"/>
              <a:pPr/>
              <a:t>50</a:t>
            </a:fld>
            <a:endParaRPr lang="en-US" altLang="en-US" sz="12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endParaRPr lang="en-US" altLang="en-US" dirty="0">
              <a:latin typeface="Arial" pitchFamily="34" charset="0"/>
              <a:ea typeface="ＭＳ Ｐゴシック" pitchFamily="34" charset="-128"/>
            </a:endParaRPr>
          </a:p>
        </p:txBody>
      </p:sp>
    </p:spTree>
    <p:extLst>
      <p:ext uri="{BB962C8B-B14F-4D97-AF65-F5344CB8AC3E}">
        <p14:creationId xmlns:p14="http://schemas.microsoft.com/office/powerpoint/2010/main" val="1892683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a:defRPr sz="2400">
                <a:solidFill>
                  <a:schemeClr val="tx1"/>
                </a:solidFill>
                <a:latin typeface="Arial" pitchFamily="34" charset="0"/>
                <a:ea typeface="ＭＳ Ｐゴシック" pitchFamily="34" charset="-128"/>
              </a:defRPr>
            </a:lvl1pPr>
            <a:lvl2pPr marL="774364" indent="-297832">
              <a:defRPr sz="2400">
                <a:solidFill>
                  <a:schemeClr val="tx1"/>
                </a:solidFill>
                <a:latin typeface="Arial" pitchFamily="34" charset="0"/>
                <a:ea typeface="ＭＳ Ｐゴシック" pitchFamily="34" charset="-128"/>
              </a:defRPr>
            </a:lvl2pPr>
            <a:lvl3pPr marL="1191328" indent="-238266">
              <a:defRPr sz="2400">
                <a:solidFill>
                  <a:schemeClr val="tx1"/>
                </a:solidFill>
                <a:latin typeface="Arial" pitchFamily="34" charset="0"/>
                <a:ea typeface="ＭＳ Ｐゴシック" pitchFamily="34" charset="-128"/>
              </a:defRPr>
            </a:lvl3pPr>
            <a:lvl4pPr marL="1667861" indent="-238266">
              <a:defRPr sz="2400">
                <a:solidFill>
                  <a:schemeClr val="tx1"/>
                </a:solidFill>
                <a:latin typeface="Arial" pitchFamily="34" charset="0"/>
                <a:ea typeface="ＭＳ Ｐゴシック" pitchFamily="34" charset="-128"/>
              </a:defRPr>
            </a:lvl4pPr>
            <a:lvl5pPr marL="2144392" indent="-238266">
              <a:defRPr sz="2400">
                <a:solidFill>
                  <a:schemeClr val="tx1"/>
                </a:solidFill>
                <a:latin typeface="Arial" pitchFamily="34" charset="0"/>
                <a:ea typeface="ＭＳ Ｐゴシック" pitchFamily="34" charset="-128"/>
              </a:defRPr>
            </a:lvl5pPr>
            <a:lvl6pPr marL="2620922" indent="-238266"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97455" indent="-238266"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573986" indent="-238266"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4050518" indent="-238266"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08A8FC5-05C3-404B-99E7-DEBF77A6635F}" type="slidenum">
              <a:rPr lang="en-US" altLang="en-US" sz="1200"/>
              <a:pPr/>
              <a:t>51</a:t>
            </a:fld>
            <a:endParaRPr lang="en-US" altLang="en-US" sz="120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8130282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a:defRPr sz="2400">
                <a:solidFill>
                  <a:schemeClr val="tx1"/>
                </a:solidFill>
                <a:latin typeface="Arial" pitchFamily="34" charset="0"/>
                <a:ea typeface="ＭＳ Ｐゴシック" pitchFamily="34" charset="-128"/>
              </a:defRPr>
            </a:lvl1pPr>
            <a:lvl2pPr marL="774364" indent="-297832">
              <a:defRPr sz="2400">
                <a:solidFill>
                  <a:schemeClr val="tx1"/>
                </a:solidFill>
                <a:latin typeface="Arial" pitchFamily="34" charset="0"/>
                <a:ea typeface="ＭＳ Ｐゴシック" pitchFamily="34" charset="-128"/>
              </a:defRPr>
            </a:lvl2pPr>
            <a:lvl3pPr marL="1191328" indent="-238266">
              <a:defRPr sz="2400">
                <a:solidFill>
                  <a:schemeClr val="tx1"/>
                </a:solidFill>
                <a:latin typeface="Arial" pitchFamily="34" charset="0"/>
                <a:ea typeface="ＭＳ Ｐゴシック" pitchFamily="34" charset="-128"/>
              </a:defRPr>
            </a:lvl3pPr>
            <a:lvl4pPr marL="1667861" indent="-238266">
              <a:defRPr sz="2400">
                <a:solidFill>
                  <a:schemeClr val="tx1"/>
                </a:solidFill>
                <a:latin typeface="Arial" pitchFamily="34" charset="0"/>
                <a:ea typeface="ＭＳ Ｐゴシック" pitchFamily="34" charset="-128"/>
              </a:defRPr>
            </a:lvl4pPr>
            <a:lvl5pPr marL="2144392" indent="-238266">
              <a:defRPr sz="2400">
                <a:solidFill>
                  <a:schemeClr val="tx1"/>
                </a:solidFill>
                <a:latin typeface="Arial" pitchFamily="34" charset="0"/>
                <a:ea typeface="ＭＳ Ｐゴシック" pitchFamily="34" charset="-128"/>
              </a:defRPr>
            </a:lvl5pPr>
            <a:lvl6pPr marL="2620922" indent="-238266"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97455" indent="-238266"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573986" indent="-238266"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4050518" indent="-238266"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18DC72AB-402D-4F45-A7B4-40C4E07227AE}" type="slidenum">
              <a:rPr lang="en-US" altLang="en-US" sz="1200"/>
              <a:pPr/>
              <a:t>52</a:t>
            </a:fld>
            <a:endParaRPr lang="en-US" altLang="en-US" sz="120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US" altLang="en-US" dirty="0">
                <a:latin typeface="Arial" pitchFamily="34" charset="0"/>
                <a:ea typeface="ＭＳ Ｐゴシック" pitchFamily="34" charset="-128"/>
              </a:rPr>
              <a:t>Sandstone</a:t>
            </a:r>
          </a:p>
        </p:txBody>
      </p:sp>
    </p:spTree>
    <p:extLst>
      <p:ext uri="{BB962C8B-B14F-4D97-AF65-F5344CB8AC3E}">
        <p14:creationId xmlns:p14="http://schemas.microsoft.com/office/powerpoint/2010/main" val="8101913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a:defRPr sz="2400">
                <a:solidFill>
                  <a:schemeClr val="tx1"/>
                </a:solidFill>
                <a:latin typeface="Arial" pitchFamily="34" charset="0"/>
                <a:ea typeface="ＭＳ Ｐゴシック" pitchFamily="34" charset="-128"/>
              </a:defRPr>
            </a:lvl1pPr>
            <a:lvl2pPr marL="774364" indent="-297832">
              <a:defRPr sz="2400">
                <a:solidFill>
                  <a:schemeClr val="tx1"/>
                </a:solidFill>
                <a:latin typeface="Arial" pitchFamily="34" charset="0"/>
                <a:ea typeface="ＭＳ Ｐゴシック" pitchFamily="34" charset="-128"/>
              </a:defRPr>
            </a:lvl2pPr>
            <a:lvl3pPr marL="1191328" indent="-238266">
              <a:defRPr sz="2400">
                <a:solidFill>
                  <a:schemeClr val="tx1"/>
                </a:solidFill>
                <a:latin typeface="Arial" pitchFamily="34" charset="0"/>
                <a:ea typeface="ＭＳ Ｐゴシック" pitchFamily="34" charset="-128"/>
              </a:defRPr>
            </a:lvl3pPr>
            <a:lvl4pPr marL="1667861" indent="-238266">
              <a:defRPr sz="2400">
                <a:solidFill>
                  <a:schemeClr val="tx1"/>
                </a:solidFill>
                <a:latin typeface="Arial" pitchFamily="34" charset="0"/>
                <a:ea typeface="ＭＳ Ｐゴシック" pitchFamily="34" charset="-128"/>
              </a:defRPr>
            </a:lvl4pPr>
            <a:lvl5pPr marL="2144392" indent="-238266">
              <a:defRPr sz="2400">
                <a:solidFill>
                  <a:schemeClr val="tx1"/>
                </a:solidFill>
                <a:latin typeface="Arial" pitchFamily="34" charset="0"/>
                <a:ea typeface="ＭＳ Ｐゴシック" pitchFamily="34" charset="-128"/>
              </a:defRPr>
            </a:lvl5pPr>
            <a:lvl6pPr marL="2620922" indent="-238266"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97455" indent="-238266"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573986" indent="-238266"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4050518" indent="-238266"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06D3884-4667-4A7D-A285-897A2D33B0C4}" type="slidenum">
              <a:rPr lang="en-US" altLang="en-US" sz="1200"/>
              <a:pPr/>
              <a:t>53</a:t>
            </a:fld>
            <a:endParaRPr lang="en-US" altLang="en-US" sz="120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endParaRPr lang="en-US" altLang="en-US" dirty="0">
              <a:latin typeface="Arial" pitchFamily="34" charset="0"/>
              <a:ea typeface="ＭＳ Ｐゴシック" pitchFamily="34" charset="-128"/>
            </a:endParaRPr>
          </a:p>
        </p:txBody>
      </p:sp>
    </p:spTree>
    <p:extLst>
      <p:ext uri="{BB962C8B-B14F-4D97-AF65-F5344CB8AC3E}">
        <p14:creationId xmlns:p14="http://schemas.microsoft.com/office/powerpoint/2010/main" val="37409139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74364" indent="-297832" eaLnBrk="0" hangingPunct="0">
              <a:defRPr sz="2400">
                <a:solidFill>
                  <a:schemeClr val="tx1"/>
                </a:solidFill>
                <a:latin typeface="Times New Roman" pitchFamily="18" charset="0"/>
              </a:defRPr>
            </a:lvl2pPr>
            <a:lvl3pPr marL="1191328" indent="-238266" eaLnBrk="0" hangingPunct="0">
              <a:defRPr sz="2400">
                <a:solidFill>
                  <a:schemeClr val="tx1"/>
                </a:solidFill>
                <a:latin typeface="Times New Roman" pitchFamily="18" charset="0"/>
              </a:defRPr>
            </a:lvl3pPr>
            <a:lvl4pPr marL="1667861" indent="-238266" eaLnBrk="0" hangingPunct="0">
              <a:defRPr sz="2400">
                <a:solidFill>
                  <a:schemeClr val="tx1"/>
                </a:solidFill>
                <a:latin typeface="Times New Roman" pitchFamily="18" charset="0"/>
              </a:defRPr>
            </a:lvl4pPr>
            <a:lvl5pPr marL="2144392" indent="-238266" eaLnBrk="0" hangingPunct="0">
              <a:defRPr sz="2400">
                <a:solidFill>
                  <a:schemeClr val="tx1"/>
                </a:solidFill>
                <a:latin typeface="Times New Roman" pitchFamily="18" charset="0"/>
              </a:defRPr>
            </a:lvl5pPr>
            <a:lvl6pPr marL="2620922" indent="-238266" algn="ctr" eaLnBrk="0" fontAlgn="base" hangingPunct="0">
              <a:spcBef>
                <a:spcPct val="0"/>
              </a:spcBef>
              <a:spcAft>
                <a:spcPct val="0"/>
              </a:spcAft>
              <a:defRPr sz="2400">
                <a:solidFill>
                  <a:schemeClr val="tx1"/>
                </a:solidFill>
                <a:latin typeface="Times New Roman" pitchFamily="18" charset="0"/>
              </a:defRPr>
            </a:lvl6pPr>
            <a:lvl7pPr marL="3097455" indent="-238266" algn="ctr" eaLnBrk="0" fontAlgn="base" hangingPunct="0">
              <a:spcBef>
                <a:spcPct val="0"/>
              </a:spcBef>
              <a:spcAft>
                <a:spcPct val="0"/>
              </a:spcAft>
              <a:defRPr sz="2400">
                <a:solidFill>
                  <a:schemeClr val="tx1"/>
                </a:solidFill>
                <a:latin typeface="Times New Roman" pitchFamily="18" charset="0"/>
              </a:defRPr>
            </a:lvl7pPr>
            <a:lvl8pPr marL="3573986" indent="-238266" algn="ctr" eaLnBrk="0" fontAlgn="base" hangingPunct="0">
              <a:spcBef>
                <a:spcPct val="0"/>
              </a:spcBef>
              <a:spcAft>
                <a:spcPct val="0"/>
              </a:spcAft>
              <a:defRPr sz="2400">
                <a:solidFill>
                  <a:schemeClr val="tx1"/>
                </a:solidFill>
                <a:latin typeface="Times New Roman" pitchFamily="18" charset="0"/>
              </a:defRPr>
            </a:lvl8pPr>
            <a:lvl9pPr marL="4050518" indent="-238266" algn="ctr" eaLnBrk="0" fontAlgn="base" hangingPunct="0">
              <a:spcBef>
                <a:spcPct val="0"/>
              </a:spcBef>
              <a:spcAft>
                <a:spcPct val="0"/>
              </a:spcAft>
              <a:defRPr sz="2400">
                <a:solidFill>
                  <a:schemeClr val="tx1"/>
                </a:solidFill>
                <a:latin typeface="Times New Roman" pitchFamily="18" charset="0"/>
              </a:defRPr>
            </a:lvl9pPr>
          </a:lstStyle>
          <a:p>
            <a:pPr eaLnBrk="1" hangingPunct="1"/>
            <a:fld id="{126E1FFB-E8D0-41C6-B0D5-FA7FD836F75C}" type="slidenum">
              <a:rPr lang="en-US" altLang="en-US" sz="1200"/>
              <a:pPr eaLnBrk="1" hangingPunct="1"/>
              <a:t>54</a:t>
            </a:fld>
            <a:endParaRPr lang="en-US" altLang="en-US" sz="120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2951267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8B8CF42-9C27-4D2E-95E0-FB8BD74F8E6A}" type="slidenum">
              <a:rPr lang="en-GB" smtClean="0"/>
              <a:t>55</a:t>
            </a:fld>
            <a:endParaRPr lang="en-GB"/>
          </a:p>
        </p:txBody>
      </p:sp>
    </p:spTree>
    <p:extLst>
      <p:ext uri="{BB962C8B-B14F-4D97-AF65-F5344CB8AC3E}">
        <p14:creationId xmlns:p14="http://schemas.microsoft.com/office/powerpoint/2010/main" val="35500415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8B8CF42-9C27-4D2E-95E0-FB8BD74F8E6A}" type="slidenum">
              <a:rPr lang="en-GB" smtClean="0"/>
              <a:t>56</a:t>
            </a:fld>
            <a:endParaRPr lang="en-GB"/>
          </a:p>
        </p:txBody>
      </p:sp>
    </p:spTree>
    <p:extLst>
      <p:ext uri="{BB962C8B-B14F-4D97-AF65-F5344CB8AC3E}">
        <p14:creationId xmlns:p14="http://schemas.microsoft.com/office/powerpoint/2010/main" val="38648973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GB" dirty="0"/>
          </a:p>
        </p:txBody>
      </p:sp>
      <p:sp>
        <p:nvSpPr>
          <p:cNvPr id="4" name="Slide Number Placeholder 3"/>
          <p:cNvSpPr>
            <a:spLocks noGrp="1"/>
          </p:cNvSpPr>
          <p:nvPr>
            <p:ph type="sldNum" sz="quarter" idx="10"/>
          </p:nvPr>
        </p:nvSpPr>
        <p:spPr/>
        <p:txBody>
          <a:bodyPr/>
          <a:lstStyle/>
          <a:p>
            <a:fld id="{18B8CF42-9C27-4D2E-95E0-FB8BD74F8E6A}" type="slidenum">
              <a:rPr lang="en-GB" smtClean="0"/>
              <a:t>57</a:t>
            </a:fld>
            <a:endParaRPr lang="en-GB"/>
          </a:p>
        </p:txBody>
      </p:sp>
    </p:spTree>
    <p:extLst>
      <p:ext uri="{BB962C8B-B14F-4D97-AF65-F5344CB8AC3E}">
        <p14:creationId xmlns:p14="http://schemas.microsoft.com/office/powerpoint/2010/main" val="2768176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8B8CF42-9C27-4D2E-95E0-FB8BD74F8E6A}" type="slidenum">
              <a:rPr lang="en-GB" smtClean="0"/>
              <a:t>58</a:t>
            </a:fld>
            <a:endParaRPr lang="en-GB"/>
          </a:p>
        </p:txBody>
      </p:sp>
    </p:spTree>
    <p:extLst>
      <p:ext uri="{BB962C8B-B14F-4D97-AF65-F5344CB8AC3E}">
        <p14:creationId xmlns:p14="http://schemas.microsoft.com/office/powerpoint/2010/main" val="21411080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8B8CF42-9C27-4D2E-95E0-FB8BD74F8E6A}" type="slidenum">
              <a:rPr lang="en-GB" smtClean="0"/>
              <a:t>59</a:t>
            </a:fld>
            <a:endParaRPr lang="en-GB"/>
          </a:p>
        </p:txBody>
      </p:sp>
    </p:spTree>
    <p:extLst>
      <p:ext uri="{BB962C8B-B14F-4D97-AF65-F5344CB8AC3E}">
        <p14:creationId xmlns:p14="http://schemas.microsoft.com/office/powerpoint/2010/main" val="17590083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74135" indent="-297744" eaLnBrk="0" hangingPunct="0">
              <a:defRPr sz="2400">
                <a:solidFill>
                  <a:schemeClr val="tx1"/>
                </a:solidFill>
                <a:latin typeface="Times New Roman" pitchFamily="18" charset="0"/>
              </a:defRPr>
            </a:lvl2pPr>
            <a:lvl3pPr marL="1190976" indent="-238195" eaLnBrk="0" hangingPunct="0">
              <a:defRPr sz="2400">
                <a:solidFill>
                  <a:schemeClr val="tx1"/>
                </a:solidFill>
                <a:latin typeface="Times New Roman" pitchFamily="18" charset="0"/>
              </a:defRPr>
            </a:lvl3pPr>
            <a:lvl4pPr marL="1667367" indent="-238195" eaLnBrk="0" hangingPunct="0">
              <a:defRPr sz="2400">
                <a:solidFill>
                  <a:schemeClr val="tx1"/>
                </a:solidFill>
                <a:latin typeface="Times New Roman" pitchFamily="18" charset="0"/>
              </a:defRPr>
            </a:lvl4pPr>
            <a:lvl5pPr marL="2143757" indent="-238195" eaLnBrk="0" hangingPunct="0">
              <a:defRPr sz="2400">
                <a:solidFill>
                  <a:schemeClr val="tx1"/>
                </a:solidFill>
                <a:latin typeface="Times New Roman" pitchFamily="18" charset="0"/>
              </a:defRPr>
            </a:lvl5pPr>
            <a:lvl6pPr marL="2620147" indent="-238195" algn="ctr" eaLnBrk="0" fontAlgn="base" hangingPunct="0">
              <a:spcBef>
                <a:spcPct val="0"/>
              </a:spcBef>
              <a:spcAft>
                <a:spcPct val="0"/>
              </a:spcAft>
              <a:defRPr sz="2400">
                <a:solidFill>
                  <a:schemeClr val="tx1"/>
                </a:solidFill>
                <a:latin typeface="Times New Roman" pitchFamily="18" charset="0"/>
              </a:defRPr>
            </a:lvl6pPr>
            <a:lvl7pPr marL="3096539" indent="-238195" algn="ctr" eaLnBrk="0" fontAlgn="base" hangingPunct="0">
              <a:spcBef>
                <a:spcPct val="0"/>
              </a:spcBef>
              <a:spcAft>
                <a:spcPct val="0"/>
              </a:spcAft>
              <a:defRPr sz="2400">
                <a:solidFill>
                  <a:schemeClr val="tx1"/>
                </a:solidFill>
                <a:latin typeface="Times New Roman" pitchFamily="18" charset="0"/>
              </a:defRPr>
            </a:lvl7pPr>
            <a:lvl8pPr marL="3572928" indent="-238195" algn="ctr" eaLnBrk="0" fontAlgn="base" hangingPunct="0">
              <a:spcBef>
                <a:spcPct val="0"/>
              </a:spcBef>
              <a:spcAft>
                <a:spcPct val="0"/>
              </a:spcAft>
              <a:defRPr sz="2400">
                <a:solidFill>
                  <a:schemeClr val="tx1"/>
                </a:solidFill>
                <a:latin typeface="Times New Roman" pitchFamily="18" charset="0"/>
              </a:defRPr>
            </a:lvl8pPr>
            <a:lvl9pPr marL="4049320" indent="-238195" algn="ctr" eaLnBrk="0" fontAlgn="base" hangingPunct="0">
              <a:spcBef>
                <a:spcPct val="0"/>
              </a:spcBef>
              <a:spcAft>
                <a:spcPct val="0"/>
              </a:spcAft>
              <a:defRPr sz="2400">
                <a:solidFill>
                  <a:schemeClr val="tx1"/>
                </a:solidFill>
                <a:latin typeface="Times New Roman" pitchFamily="18" charset="0"/>
              </a:defRPr>
            </a:lvl9pPr>
          </a:lstStyle>
          <a:p>
            <a:pPr eaLnBrk="1" hangingPunct="1"/>
            <a:fld id="{EE0D9241-3D39-4A3A-B698-9E8D93850C3D}" type="slidenum">
              <a:rPr lang="en-US" altLang="en-US" sz="1200"/>
              <a:pPr eaLnBrk="1" hangingPunct="1"/>
              <a:t>60</a:t>
            </a:fld>
            <a:endParaRPr lang="en-US" altLang="en-US" sz="120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8B8CF42-9C27-4D2E-95E0-FB8BD74F8E6A}" type="slidenum">
              <a:rPr lang="en-GB" smtClean="0"/>
              <a:t>61</a:t>
            </a:fld>
            <a:endParaRPr lang="en-GB"/>
          </a:p>
        </p:txBody>
      </p:sp>
    </p:spTree>
    <p:extLst>
      <p:ext uri="{BB962C8B-B14F-4D97-AF65-F5344CB8AC3E}">
        <p14:creationId xmlns:p14="http://schemas.microsoft.com/office/powerpoint/2010/main" val="13143143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74135" indent="-297744" eaLnBrk="0" hangingPunct="0">
              <a:defRPr sz="2400">
                <a:solidFill>
                  <a:schemeClr val="tx1"/>
                </a:solidFill>
                <a:latin typeface="Times New Roman" pitchFamily="18" charset="0"/>
              </a:defRPr>
            </a:lvl2pPr>
            <a:lvl3pPr marL="1190976" indent="-238195" eaLnBrk="0" hangingPunct="0">
              <a:defRPr sz="2400">
                <a:solidFill>
                  <a:schemeClr val="tx1"/>
                </a:solidFill>
                <a:latin typeface="Times New Roman" pitchFamily="18" charset="0"/>
              </a:defRPr>
            </a:lvl3pPr>
            <a:lvl4pPr marL="1667367" indent="-238195" eaLnBrk="0" hangingPunct="0">
              <a:defRPr sz="2400">
                <a:solidFill>
                  <a:schemeClr val="tx1"/>
                </a:solidFill>
                <a:latin typeface="Times New Roman" pitchFamily="18" charset="0"/>
              </a:defRPr>
            </a:lvl4pPr>
            <a:lvl5pPr marL="2143757" indent="-238195" eaLnBrk="0" hangingPunct="0">
              <a:defRPr sz="2400">
                <a:solidFill>
                  <a:schemeClr val="tx1"/>
                </a:solidFill>
                <a:latin typeface="Times New Roman" pitchFamily="18" charset="0"/>
              </a:defRPr>
            </a:lvl5pPr>
            <a:lvl6pPr marL="2620147" indent="-238195" algn="ctr" eaLnBrk="0" fontAlgn="base" hangingPunct="0">
              <a:spcBef>
                <a:spcPct val="0"/>
              </a:spcBef>
              <a:spcAft>
                <a:spcPct val="0"/>
              </a:spcAft>
              <a:defRPr sz="2400">
                <a:solidFill>
                  <a:schemeClr val="tx1"/>
                </a:solidFill>
                <a:latin typeface="Times New Roman" pitchFamily="18" charset="0"/>
              </a:defRPr>
            </a:lvl6pPr>
            <a:lvl7pPr marL="3096539" indent="-238195" algn="ctr" eaLnBrk="0" fontAlgn="base" hangingPunct="0">
              <a:spcBef>
                <a:spcPct val="0"/>
              </a:spcBef>
              <a:spcAft>
                <a:spcPct val="0"/>
              </a:spcAft>
              <a:defRPr sz="2400">
                <a:solidFill>
                  <a:schemeClr val="tx1"/>
                </a:solidFill>
                <a:latin typeface="Times New Roman" pitchFamily="18" charset="0"/>
              </a:defRPr>
            </a:lvl7pPr>
            <a:lvl8pPr marL="3572928" indent="-238195" algn="ctr" eaLnBrk="0" fontAlgn="base" hangingPunct="0">
              <a:spcBef>
                <a:spcPct val="0"/>
              </a:spcBef>
              <a:spcAft>
                <a:spcPct val="0"/>
              </a:spcAft>
              <a:defRPr sz="2400">
                <a:solidFill>
                  <a:schemeClr val="tx1"/>
                </a:solidFill>
                <a:latin typeface="Times New Roman" pitchFamily="18" charset="0"/>
              </a:defRPr>
            </a:lvl8pPr>
            <a:lvl9pPr marL="4049320" indent="-238195" algn="ctr" eaLnBrk="0" fontAlgn="base" hangingPunct="0">
              <a:spcBef>
                <a:spcPct val="0"/>
              </a:spcBef>
              <a:spcAft>
                <a:spcPct val="0"/>
              </a:spcAft>
              <a:defRPr sz="2400">
                <a:solidFill>
                  <a:schemeClr val="tx1"/>
                </a:solidFill>
                <a:latin typeface="Times New Roman" pitchFamily="18" charset="0"/>
              </a:defRPr>
            </a:lvl9pPr>
          </a:lstStyle>
          <a:p>
            <a:pPr eaLnBrk="1" hangingPunct="1"/>
            <a:fld id="{368ADC6D-42E2-4389-AC13-17B0EB10BD84}" type="slidenum">
              <a:rPr lang="en-US" altLang="en-US" sz="1200"/>
              <a:pPr eaLnBrk="1" hangingPunct="1"/>
              <a:t>62</a:t>
            </a:fld>
            <a:endParaRPr lang="en-US" altLang="en-US" sz="120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8B8CF42-9C27-4D2E-95E0-FB8BD74F8E6A}" type="slidenum">
              <a:rPr lang="en-GB" smtClean="0"/>
              <a:t>63</a:t>
            </a:fld>
            <a:endParaRPr lang="en-GB"/>
          </a:p>
        </p:txBody>
      </p:sp>
    </p:spTree>
    <p:extLst>
      <p:ext uri="{BB962C8B-B14F-4D97-AF65-F5344CB8AC3E}">
        <p14:creationId xmlns:p14="http://schemas.microsoft.com/office/powerpoint/2010/main" val="4580854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8B8CF42-9C27-4D2E-95E0-FB8BD74F8E6A}" type="slidenum">
              <a:rPr lang="en-GB" smtClean="0"/>
              <a:t>64</a:t>
            </a:fld>
            <a:endParaRPr lang="en-GB"/>
          </a:p>
        </p:txBody>
      </p:sp>
    </p:spTree>
    <p:extLst>
      <p:ext uri="{BB962C8B-B14F-4D97-AF65-F5344CB8AC3E}">
        <p14:creationId xmlns:p14="http://schemas.microsoft.com/office/powerpoint/2010/main" val="28569803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8B8CF42-9C27-4D2E-95E0-FB8BD74F8E6A}" type="slidenum">
              <a:rPr lang="en-GB" smtClean="0"/>
              <a:t>65</a:t>
            </a:fld>
            <a:endParaRPr lang="en-GB"/>
          </a:p>
        </p:txBody>
      </p:sp>
    </p:spTree>
    <p:extLst>
      <p:ext uri="{BB962C8B-B14F-4D97-AF65-F5344CB8AC3E}">
        <p14:creationId xmlns:p14="http://schemas.microsoft.com/office/powerpoint/2010/main" val="34936589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8B8CF42-9C27-4D2E-95E0-FB8BD74F8E6A}" type="slidenum">
              <a:rPr lang="en-GB" smtClean="0"/>
              <a:t>66</a:t>
            </a:fld>
            <a:endParaRPr lang="en-GB"/>
          </a:p>
        </p:txBody>
      </p:sp>
    </p:spTree>
    <p:extLst>
      <p:ext uri="{BB962C8B-B14F-4D97-AF65-F5344CB8AC3E}">
        <p14:creationId xmlns:p14="http://schemas.microsoft.com/office/powerpoint/2010/main" val="29204075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8B8CF42-9C27-4D2E-95E0-FB8BD74F8E6A}" type="slidenum">
              <a:rPr lang="en-GB" smtClean="0"/>
              <a:t>67</a:t>
            </a:fld>
            <a:endParaRPr lang="en-GB"/>
          </a:p>
        </p:txBody>
      </p:sp>
    </p:spTree>
    <p:extLst>
      <p:ext uri="{BB962C8B-B14F-4D97-AF65-F5344CB8AC3E}">
        <p14:creationId xmlns:p14="http://schemas.microsoft.com/office/powerpoint/2010/main" val="16767652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8B8CF42-9C27-4D2E-95E0-FB8BD74F8E6A}" type="slidenum">
              <a:rPr lang="en-GB" smtClean="0"/>
              <a:t>68</a:t>
            </a:fld>
            <a:endParaRPr lang="en-GB"/>
          </a:p>
        </p:txBody>
      </p:sp>
    </p:spTree>
    <p:extLst>
      <p:ext uri="{BB962C8B-B14F-4D97-AF65-F5344CB8AC3E}">
        <p14:creationId xmlns:p14="http://schemas.microsoft.com/office/powerpoint/2010/main" val="5814860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8B8CF42-9C27-4D2E-95E0-FB8BD74F8E6A}" type="slidenum">
              <a:rPr lang="en-GB" smtClean="0"/>
              <a:t>69</a:t>
            </a:fld>
            <a:endParaRPr lang="en-GB"/>
          </a:p>
        </p:txBody>
      </p:sp>
    </p:spTree>
    <p:extLst>
      <p:ext uri="{BB962C8B-B14F-4D97-AF65-F5344CB8AC3E}">
        <p14:creationId xmlns:p14="http://schemas.microsoft.com/office/powerpoint/2010/main" val="32505885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8B8CF42-9C27-4D2E-95E0-FB8BD74F8E6A}" type="slidenum">
              <a:rPr lang="en-GB" smtClean="0"/>
              <a:t>70</a:t>
            </a:fld>
            <a:endParaRPr lang="en-GB"/>
          </a:p>
        </p:txBody>
      </p:sp>
    </p:spTree>
    <p:extLst>
      <p:ext uri="{BB962C8B-B14F-4D97-AF65-F5344CB8AC3E}">
        <p14:creationId xmlns:p14="http://schemas.microsoft.com/office/powerpoint/2010/main" val="41834908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8B8CF42-9C27-4D2E-95E0-FB8BD74F8E6A}" type="slidenum">
              <a:rPr lang="en-GB" smtClean="0"/>
              <a:t>71</a:t>
            </a:fld>
            <a:endParaRPr lang="en-GB"/>
          </a:p>
        </p:txBody>
      </p:sp>
    </p:spTree>
    <p:extLst>
      <p:ext uri="{BB962C8B-B14F-4D97-AF65-F5344CB8AC3E}">
        <p14:creationId xmlns:p14="http://schemas.microsoft.com/office/powerpoint/2010/main" val="9673930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8B8CF42-9C27-4D2E-95E0-FB8BD74F8E6A}" type="slidenum">
              <a:rPr lang="en-GB" smtClean="0"/>
              <a:t>72</a:t>
            </a:fld>
            <a:endParaRPr lang="en-GB"/>
          </a:p>
        </p:txBody>
      </p:sp>
    </p:spTree>
    <p:extLst>
      <p:ext uri="{BB962C8B-B14F-4D97-AF65-F5344CB8AC3E}">
        <p14:creationId xmlns:p14="http://schemas.microsoft.com/office/powerpoint/2010/main" val="26965439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8B8CF42-9C27-4D2E-95E0-FB8BD74F8E6A}" type="slidenum">
              <a:rPr lang="en-GB" smtClean="0"/>
              <a:t>73</a:t>
            </a:fld>
            <a:endParaRPr lang="en-GB"/>
          </a:p>
        </p:txBody>
      </p:sp>
    </p:spTree>
    <p:extLst>
      <p:ext uri="{BB962C8B-B14F-4D97-AF65-F5344CB8AC3E}">
        <p14:creationId xmlns:p14="http://schemas.microsoft.com/office/powerpoint/2010/main" val="6892990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8B8CF42-9C27-4D2E-95E0-FB8BD74F8E6A}" type="slidenum">
              <a:rPr lang="en-GB" smtClean="0"/>
              <a:t>74</a:t>
            </a:fld>
            <a:endParaRPr lang="en-GB"/>
          </a:p>
        </p:txBody>
      </p:sp>
    </p:spTree>
    <p:extLst>
      <p:ext uri="{BB962C8B-B14F-4D97-AF65-F5344CB8AC3E}">
        <p14:creationId xmlns:p14="http://schemas.microsoft.com/office/powerpoint/2010/main" val="4194462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A6A9EAC2-2EBC-FF4A-B7F6-1C7C359AD909}"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a:t>
            </a:fld>
            <a:endParaRPr lang="en-US"/>
          </a:p>
        </p:txBody>
      </p:sp>
    </p:spTree>
    <p:extLst>
      <p:ext uri="{BB962C8B-B14F-4D97-AF65-F5344CB8AC3E}">
        <p14:creationId xmlns:p14="http://schemas.microsoft.com/office/powerpoint/2010/main" val="2542924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6A9EAC2-2EBC-FF4A-B7F6-1C7C359AD909}"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A2C70-F7BB-8748-A1A5-119D76E05290}" type="slidenum">
              <a:rPr lang="en-US" smtClean="0"/>
              <a:t>‹#›</a:t>
            </a:fld>
            <a:endParaRPr lang="en-US"/>
          </a:p>
        </p:txBody>
      </p:sp>
    </p:spTree>
    <p:extLst>
      <p:ext uri="{BB962C8B-B14F-4D97-AF65-F5344CB8AC3E}">
        <p14:creationId xmlns:p14="http://schemas.microsoft.com/office/powerpoint/2010/main" val="388376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6A9EAC2-2EBC-FF4A-B7F6-1C7C359AD909}"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A2C70-F7BB-8748-A1A5-119D76E05290}" type="slidenum">
              <a:rPr lang="en-US" smtClean="0"/>
              <a:t>‹#›</a:t>
            </a:fld>
            <a:endParaRPr lang="en-US"/>
          </a:p>
        </p:txBody>
      </p:sp>
    </p:spTree>
    <p:extLst>
      <p:ext uri="{BB962C8B-B14F-4D97-AF65-F5344CB8AC3E}">
        <p14:creationId xmlns:p14="http://schemas.microsoft.com/office/powerpoint/2010/main" val="2073598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A6A9EAC2-2EBC-FF4A-B7F6-1C7C359AD909}" type="datetimeFigureOut">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FA2C70-F7BB-8748-A1A5-119D76E05290}" type="slidenum">
              <a:rPr lang="en-US" smtClean="0"/>
              <a:t>‹#›</a:t>
            </a:fld>
            <a:endParaRPr lang="en-US"/>
          </a:p>
        </p:txBody>
      </p:sp>
    </p:spTree>
    <p:extLst>
      <p:ext uri="{BB962C8B-B14F-4D97-AF65-F5344CB8AC3E}">
        <p14:creationId xmlns:p14="http://schemas.microsoft.com/office/powerpoint/2010/main" val="669670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A6A9EAC2-2EBC-FF4A-B7F6-1C7C359AD909}" type="datetimeFigureOut">
              <a:rPr lang="en-US" smtClean="0"/>
              <a:t>3/6/2025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FA2C70-F7BB-8748-A1A5-119D76E05290}" type="slidenum">
              <a:rPr lang="en-US" smtClean="0"/>
              <a:t>‹#›</a:t>
            </a:fld>
            <a:endParaRPr lang="en-US"/>
          </a:p>
        </p:txBody>
      </p:sp>
    </p:spTree>
    <p:extLst>
      <p:ext uri="{BB962C8B-B14F-4D97-AF65-F5344CB8AC3E}">
        <p14:creationId xmlns:p14="http://schemas.microsoft.com/office/powerpoint/2010/main" val="410509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A6A9EAC2-2EBC-FF4A-B7F6-1C7C359AD909}" type="datetimeFigureOut">
              <a:rPr lang="en-US" smtClean="0"/>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FA2C70-F7BB-8748-A1A5-119D76E05290}" type="slidenum">
              <a:rPr lang="en-US" smtClean="0"/>
              <a:t>‹#›</a:t>
            </a:fld>
            <a:endParaRPr lang="en-US"/>
          </a:p>
        </p:txBody>
      </p:sp>
    </p:spTree>
    <p:extLst>
      <p:ext uri="{BB962C8B-B14F-4D97-AF65-F5344CB8AC3E}">
        <p14:creationId xmlns:p14="http://schemas.microsoft.com/office/powerpoint/2010/main" val="2491186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A9EAC2-2EBC-FF4A-B7F6-1C7C359AD909}" type="datetimeFigureOut">
              <a:rPr lang="en-US" smtClean="0"/>
              <a:t>3/6/2025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FA2C70-F7BB-8748-A1A5-119D76E05290}" type="slidenum">
              <a:rPr lang="en-US" smtClean="0"/>
              <a:t>‹#›</a:t>
            </a:fld>
            <a:endParaRPr lang="en-US"/>
          </a:p>
        </p:txBody>
      </p:sp>
    </p:spTree>
    <p:extLst>
      <p:ext uri="{BB962C8B-B14F-4D97-AF65-F5344CB8AC3E}">
        <p14:creationId xmlns:p14="http://schemas.microsoft.com/office/powerpoint/2010/main" val="3294587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A6A9EAC2-2EBC-FF4A-B7F6-1C7C359AD909}" type="datetimeFigureOut">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FA2C70-F7BB-8748-A1A5-119D76E05290}" type="slidenum">
              <a:rPr lang="en-US" smtClean="0"/>
              <a:t>‹#›</a:t>
            </a:fld>
            <a:endParaRPr lang="en-US"/>
          </a:p>
        </p:txBody>
      </p:sp>
    </p:spTree>
    <p:extLst>
      <p:ext uri="{BB962C8B-B14F-4D97-AF65-F5344CB8AC3E}">
        <p14:creationId xmlns:p14="http://schemas.microsoft.com/office/powerpoint/2010/main" val="1327027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A6A9EAC2-2EBC-FF4A-B7F6-1C7C359AD909}" type="datetimeFigureOut">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FA2C70-F7BB-8748-A1A5-119D76E05290}" type="slidenum">
              <a:rPr lang="en-US" smtClean="0"/>
              <a:t>‹#›</a:t>
            </a:fld>
            <a:endParaRPr lang="en-US"/>
          </a:p>
        </p:txBody>
      </p:sp>
    </p:spTree>
    <p:extLst>
      <p:ext uri="{BB962C8B-B14F-4D97-AF65-F5344CB8AC3E}">
        <p14:creationId xmlns:p14="http://schemas.microsoft.com/office/powerpoint/2010/main" val="1372514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6A9EAC2-2EBC-FF4A-B7F6-1C7C359AD909}"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A2C70-F7BB-8748-A1A5-119D76E05290}" type="slidenum">
              <a:rPr lang="en-US" smtClean="0"/>
              <a:t>‹#›</a:t>
            </a:fld>
            <a:endParaRPr lang="en-US"/>
          </a:p>
        </p:txBody>
      </p:sp>
    </p:spTree>
    <p:extLst>
      <p:ext uri="{BB962C8B-B14F-4D97-AF65-F5344CB8AC3E}">
        <p14:creationId xmlns:p14="http://schemas.microsoft.com/office/powerpoint/2010/main" val="62939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6A9EAC2-2EBC-FF4A-B7F6-1C7C359AD909}"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A2C70-F7BB-8748-A1A5-119D76E05290}" type="slidenum">
              <a:rPr lang="en-US" smtClean="0"/>
              <a:t>‹#›</a:t>
            </a:fld>
            <a:endParaRPr lang="en-US"/>
          </a:p>
        </p:txBody>
      </p:sp>
    </p:spTree>
    <p:extLst>
      <p:ext uri="{BB962C8B-B14F-4D97-AF65-F5344CB8AC3E}">
        <p14:creationId xmlns:p14="http://schemas.microsoft.com/office/powerpoint/2010/main" val="117901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A9EAC2-2EBC-FF4A-B7F6-1C7C359AD909}" type="datetimeFigureOut">
              <a:rPr lang="en-US" smtClean="0"/>
              <a:t>3/6/2025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FA2C70-F7BB-8748-A1A5-119D76E05290}" type="slidenum">
              <a:rPr lang="en-US" smtClean="0"/>
              <a:t>‹#›</a:t>
            </a:fld>
            <a:endParaRPr lang="en-US"/>
          </a:p>
        </p:txBody>
      </p:sp>
    </p:spTree>
    <p:extLst>
      <p:ext uri="{BB962C8B-B14F-4D97-AF65-F5344CB8AC3E}">
        <p14:creationId xmlns:p14="http://schemas.microsoft.com/office/powerpoint/2010/main" val="3954671392"/>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Vicky.coker@manchester.ac.uk" TargetMode="External"/><Relationship Id="rId2" Type="http://schemas.openxmlformats.org/officeDocument/2006/relationships/image" Target="../media/image1.tif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gi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22.jpeg"/><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image" Target="../media/image27.jpeg"/></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4.xml"/><Relationship Id="rId4" Type="http://schemas.openxmlformats.org/officeDocument/2006/relationships/image" Target="../media/image30.jpeg"/></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gi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gif"/><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4.xml"/><Relationship Id="rId4" Type="http://schemas.openxmlformats.org/officeDocument/2006/relationships/image" Target="../media/image37.jpeg"/></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3.xml"/><Relationship Id="rId4" Type="http://schemas.openxmlformats.org/officeDocument/2006/relationships/image" Target="../media/image54.jpeg"/></Relationships>
</file>

<file path=ppt/slides/_rels/slide3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need-media.smugmug.com/Graphics/Graphics/17024036_Bdmf8C/1295824178_2JgX3xW#!i=1295824178&amp;k=2JgX3xW" TargetMode="Externa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hyperlink" Target="http://www.uky.edu/KGS/coal/coalkinds.htm" TargetMode="External"/><Relationship Id="rId4" Type="http://schemas.openxmlformats.org/officeDocument/2006/relationships/image" Target="../media/image56.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hyperlink" Target="https://www.e-education.psu.edu/eme444/node/270" TargetMode="External"/><Relationship Id="rId4" Type="http://schemas.openxmlformats.org/officeDocument/2006/relationships/image" Target="../media/image57.jpeg"/></Relationships>
</file>

<file path=ppt/slides/_rels/slide37.xml.rels><?xml version="1.0" encoding="UTF-8" standalone="yes"?>
<Relationships xmlns="http://schemas.openxmlformats.org/package/2006/relationships"><Relationship Id="rId3" Type="http://schemas.openxmlformats.org/officeDocument/2006/relationships/image" Target="../media/image58.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firesideresearch.org/renewable-energy-technologies-for-electricity-generation-in-sub-saharan-africa-part-i/"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vle.whs.bucks.sch.uk/mod/page/view.php?id=65176"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66.gif"/></Relationships>
</file>

<file path=ppt/slides/_rels/slide4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70.png"/><Relationship Id="rId4" Type="http://schemas.openxmlformats.org/officeDocument/2006/relationships/image" Target="../media/image69.png"/></Relationships>
</file>

<file path=ppt/slides/_rels/slide4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73.jpeg"/></Relationships>
</file>

<file path=ppt/slides/_rels/slide49.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76.jpeg"/><Relationship Id="rId4" Type="http://schemas.openxmlformats.org/officeDocument/2006/relationships/image" Target="../media/image75.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78.jpeg"/><Relationship Id="rId4" Type="http://schemas.openxmlformats.org/officeDocument/2006/relationships/image" Target="../media/image77.jpeg"/></Relationships>
</file>

<file path=ppt/slides/_rels/slide54.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80.gif"/><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81.gif"/><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image" Target="../media/image86.jpeg"/><Relationship Id="rId4" Type="http://schemas.openxmlformats.org/officeDocument/2006/relationships/image" Target="../media/image85.png"/></Relationships>
</file>

<file path=ppt/slides/_rels/slide60.xml.rels><?xml version="1.0" encoding="UTF-8" standalone="yes"?>
<Relationships xmlns="http://schemas.openxmlformats.org/package/2006/relationships"><Relationship Id="rId3" Type="http://schemas.openxmlformats.org/officeDocument/2006/relationships/hyperlink" Target="http://upload.wikimedia.org/wikipedia/commons/2/21/Gulf_Coast_Platforms.jpg"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87.jpeg"/></Relationships>
</file>

<file path=ppt/slides/_rels/slide61.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91.jpeg"/></Relationships>
</file>

<file path=ppt/slides/_rels/slide64.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3.gif"/><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94.jpeg"/></Relationships>
</file>

<file path=ppt/slides/_rels/slide66.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97.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7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9.xml"/><Relationship Id="rId1" Type="http://schemas.openxmlformats.org/officeDocument/2006/relationships/slideLayout" Target="../slideLayouts/slideLayout7.xml"/><Relationship Id="rId5" Type="http://schemas.openxmlformats.org/officeDocument/2006/relationships/image" Target="../media/image104.png"/><Relationship Id="rId4" Type="http://schemas.openxmlformats.org/officeDocument/2006/relationships/image" Target="../media/image103.png"/></Relationships>
</file>

<file path=ppt/slides/_rels/slide71.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108.gif"/><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5BBE0-DEF1-6E44-97B3-618D56C291DC}"/>
              </a:ext>
            </a:extLst>
          </p:cNvPr>
          <p:cNvSpPr>
            <a:spLocks noGrp="1"/>
          </p:cNvSpPr>
          <p:nvPr>
            <p:ph type="ctrTitle"/>
          </p:nvPr>
        </p:nvSpPr>
        <p:spPr>
          <a:xfrm>
            <a:off x="480060" y="325369"/>
            <a:ext cx="3276451" cy="1956841"/>
          </a:xfrm>
        </p:spPr>
        <p:txBody>
          <a:bodyPr vert="horz" lIns="91440" tIns="45720" rIns="91440" bIns="45720" rtlCol="0" anchor="b">
            <a:normAutofit/>
          </a:bodyPr>
          <a:lstStyle/>
          <a:p>
            <a:pPr algn="l">
              <a:lnSpc>
                <a:spcPct val="90000"/>
              </a:lnSpc>
            </a:pPr>
            <a:r>
              <a:rPr lang="en-US" sz="4300"/>
              <a:t>A Sustainable Planet</a:t>
            </a:r>
          </a:p>
        </p:txBody>
      </p:sp>
      <p:sp>
        <p:nvSpPr>
          <p:cNvPr id="3" name="Subtitle 2">
            <a:extLst>
              <a:ext uri="{FF2B5EF4-FFF2-40B4-BE49-F238E27FC236}">
                <a16:creationId xmlns:a16="http://schemas.microsoft.com/office/drawing/2014/main" id="{E53C71B0-E228-5748-A274-244EA0104F01}"/>
              </a:ext>
            </a:extLst>
          </p:cNvPr>
          <p:cNvSpPr>
            <a:spLocks noGrp="1"/>
          </p:cNvSpPr>
          <p:nvPr>
            <p:ph type="subTitle" idx="1"/>
          </p:nvPr>
        </p:nvSpPr>
        <p:spPr>
          <a:xfrm>
            <a:off x="480060" y="2872899"/>
            <a:ext cx="3182691" cy="3320668"/>
          </a:xfrm>
        </p:spPr>
        <p:txBody>
          <a:bodyPr vert="horz" lIns="91440" tIns="45720" rIns="91440" bIns="45720" rtlCol="0">
            <a:normAutofit/>
          </a:bodyPr>
          <a:lstStyle/>
          <a:p>
            <a:pPr algn="l">
              <a:lnSpc>
                <a:spcPct val="90000"/>
              </a:lnSpc>
            </a:pPr>
            <a:r>
              <a:rPr lang="en-US" sz="1900" b="1" dirty="0">
                <a:solidFill>
                  <a:schemeClr val="tx1"/>
                </a:solidFill>
              </a:rPr>
              <a:t>Week 7</a:t>
            </a:r>
          </a:p>
          <a:p>
            <a:pPr algn="l">
              <a:lnSpc>
                <a:spcPct val="90000"/>
              </a:lnSpc>
            </a:pPr>
            <a:r>
              <a:rPr lang="en-US" sz="1900" b="1" dirty="0">
                <a:solidFill>
                  <a:schemeClr val="tx1"/>
                </a:solidFill>
              </a:rPr>
              <a:t>Industrial minerals</a:t>
            </a:r>
          </a:p>
          <a:p>
            <a:pPr algn="l">
              <a:lnSpc>
                <a:spcPct val="90000"/>
              </a:lnSpc>
            </a:pPr>
            <a:r>
              <a:rPr lang="en-US" sz="1900" b="1" dirty="0">
                <a:solidFill>
                  <a:schemeClr val="tx1"/>
                </a:solidFill>
              </a:rPr>
              <a:t>Fossil fuels</a:t>
            </a:r>
          </a:p>
          <a:p>
            <a:pPr algn="l">
              <a:lnSpc>
                <a:spcPct val="90000"/>
              </a:lnSpc>
            </a:pPr>
            <a:endParaRPr lang="en-US" sz="1900" dirty="0">
              <a:solidFill>
                <a:schemeClr val="tx1"/>
              </a:solidFill>
            </a:endParaRPr>
          </a:p>
          <a:p>
            <a:pPr algn="l">
              <a:lnSpc>
                <a:spcPct val="90000"/>
              </a:lnSpc>
            </a:pPr>
            <a:r>
              <a:rPr lang="en-US" sz="1900" dirty="0">
                <a:solidFill>
                  <a:schemeClr val="tx1"/>
                </a:solidFill>
              </a:rPr>
              <a:t>Dr Vicky Coker</a:t>
            </a:r>
          </a:p>
          <a:p>
            <a:pPr algn="l">
              <a:lnSpc>
                <a:spcPct val="90000"/>
              </a:lnSpc>
            </a:pPr>
            <a:r>
              <a:rPr lang="en-US" sz="1900" dirty="0">
                <a:solidFill>
                  <a:schemeClr val="tx1"/>
                </a:solidFill>
              </a:rPr>
              <a:t>Department of Earth and Environmental Sciences </a:t>
            </a:r>
          </a:p>
        </p:txBody>
      </p:sp>
      <p:pic>
        <p:nvPicPr>
          <p:cNvPr id="4" name="Picture 3">
            <a:extLst>
              <a:ext uri="{FF2B5EF4-FFF2-40B4-BE49-F238E27FC236}">
                <a16:creationId xmlns:a16="http://schemas.microsoft.com/office/drawing/2014/main" id="{77A2C842-1D72-2245-B860-AD5AC1DEEBBB}"/>
              </a:ext>
            </a:extLst>
          </p:cNvPr>
          <p:cNvPicPr>
            <a:picLocks noChangeAspect="1"/>
          </p:cNvPicPr>
          <p:nvPr/>
        </p:nvPicPr>
        <p:blipFill rotWithShape="1">
          <a:blip r:embed="rId2"/>
          <a:srcRect l="22364" r="20274"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TextBox 4">
            <a:extLst>
              <a:ext uri="{FF2B5EF4-FFF2-40B4-BE49-F238E27FC236}">
                <a16:creationId xmlns:a16="http://schemas.microsoft.com/office/drawing/2014/main" id="{A0327388-0E8D-2244-BDBE-8994FF988B69}"/>
              </a:ext>
            </a:extLst>
          </p:cNvPr>
          <p:cNvSpPr txBox="1"/>
          <p:nvPr/>
        </p:nvSpPr>
        <p:spPr>
          <a:xfrm>
            <a:off x="3983776" y="6172201"/>
            <a:ext cx="5159081" cy="685799"/>
          </a:xfrm>
          <a:prstGeom prst="rect">
            <a:avLst/>
          </a:prstGeom>
          <a:solidFill>
            <a:srgbClr val="000000">
              <a:alpha val="50000"/>
            </a:srgbClr>
          </a:solidFill>
          <a:ln>
            <a:noFill/>
          </a:ln>
        </p:spPr>
        <p:txBody>
          <a:bodyPr wrap="square" rtlCol="0">
            <a:noAutofit/>
          </a:bodyPr>
          <a:lstStyle/>
          <a:p>
            <a:pPr algn="ctr">
              <a:spcAft>
                <a:spcPts val="600"/>
              </a:spcAft>
            </a:pPr>
            <a:r>
              <a:rPr lang="en-GB" sz="1300">
                <a:solidFill>
                  <a:srgbClr val="FFFFFF"/>
                </a:solidFill>
                <a:hlinkClick r:id="rId3">
                  <a:extLst>
                    <a:ext uri="{A12FA001-AC4F-418D-AE19-62706E023703}">
                      <ahyp:hlinkClr xmlns:ahyp="http://schemas.microsoft.com/office/drawing/2018/hyperlinkcolor" val="tx"/>
                    </a:ext>
                  </a:extLst>
                </a:hlinkClick>
              </a:rPr>
              <a:t>vicky.coker@manchester.ac.uk</a:t>
            </a:r>
            <a:r>
              <a:rPr lang="en-GB" sz="1300">
                <a:solidFill>
                  <a:srgbClr val="FFFFFF"/>
                </a:solidFill>
              </a:rPr>
              <a:t>; Williamson Building</a:t>
            </a:r>
          </a:p>
        </p:txBody>
      </p:sp>
    </p:spTree>
    <p:extLst>
      <p:ext uri="{BB962C8B-B14F-4D97-AF65-F5344CB8AC3E}">
        <p14:creationId xmlns:p14="http://schemas.microsoft.com/office/powerpoint/2010/main" val="875755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2DAED628-1F77-CC83-348E-E90B4C5C8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288"/>
            <a:ext cx="9144000" cy="1721357"/>
          </a:xfrm>
          <a:prstGeom prst="rect">
            <a:avLst/>
          </a:prstGeom>
          <a:ln>
            <a:noFill/>
          </a:ln>
          <a:effectLst>
            <a:outerShdw blurRad="342900" dist="139700" dir="5460000" sx="94000" sy="94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9214" y="240241"/>
            <a:ext cx="7593141" cy="1228299"/>
          </a:xfrm>
        </p:spPr>
        <p:txBody>
          <a:bodyPr>
            <a:normAutofit/>
          </a:bodyPr>
          <a:lstStyle/>
          <a:p>
            <a:r>
              <a:rPr lang="en-GB" sz="3500"/>
              <a:t>Learning outcomes</a:t>
            </a:r>
          </a:p>
        </p:txBody>
      </p:sp>
      <p:sp>
        <p:nvSpPr>
          <p:cNvPr id="3" name="Content Placeholder 2"/>
          <p:cNvSpPr>
            <a:spLocks noGrp="1"/>
          </p:cNvSpPr>
          <p:nvPr>
            <p:ph idx="1"/>
          </p:nvPr>
        </p:nvSpPr>
        <p:spPr>
          <a:xfrm>
            <a:off x="569214" y="2281552"/>
            <a:ext cx="4293947" cy="3916915"/>
          </a:xfrm>
        </p:spPr>
        <p:txBody>
          <a:bodyPr anchor="ctr">
            <a:normAutofit/>
          </a:bodyPr>
          <a:lstStyle/>
          <a:p>
            <a:pPr marL="0" indent="0">
              <a:lnSpc>
                <a:spcPct val="90000"/>
              </a:lnSpc>
              <a:buNone/>
            </a:pPr>
            <a:r>
              <a:rPr lang="en-US" sz="1700" b="1"/>
              <a:t>Industrial Minerals</a:t>
            </a:r>
          </a:p>
          <a:p>
            <a:pPr>
              <a:lnSpc>
                <a:spcPct val="90000"/>
              </a:lnSpc>
            </a:pPr>
            <a:r>
              <a:rPr lang="en-US" sz="1700"/>
              <a:t>Identify different building materials and their sources</a:t>
            </a:r>
          </a:p>
          <a:p>
            <a:pPr>
              <a:lnSpc>
                <a:spcPct val="90000"/>
              </a:lnSpc>
            </a:pPr>
            <a:r>
              <a:rPr lang="en-US" sz="1700"/>
              <a:t>Explain cement and glass production</a:t>
            </a:r>
          </a:p>
          <a:p>
            <a:pPr>
              <a:lnSpc>
                <a:spcPct val="90000"/>
              </a:lnSpc>
            </a:pPr>
            <a:r>
              <a:rPr lang="en-US" sz="1700"/>
              <a:t>Describe the formation, mining, and uses of diamonds, gold, and rare earth elements</a:t>
            </a:r>
          </a:p>
          <a:p>
            <a:pPr>
              <a:lnSpc>
                <a:spcPct val="90000"/>
              </a:lnSpc>
            </a:pPr>
            <a:endParaRPr lang="en-US" sz="1700"/>
          </a:p>
          <a:p>
            <a:pPr marL="0" indent="0">
              <a:lnSpc>
                <a:spcPct val="90000"/>
              </a:lnSpc>
              <a:buNone/>
            </a:pPr>
            <a:r>
              <a:rPr lang="en-US" sz="1700" b="1"/>
              <a:t>Fossil Fuels</a:t>
            </a:r>
          </a:p>
          <a:p>
            <a:pPr>
              <a:lnSpc>
                <a:spcPct val="90000"/>
              </a:lnSpc>
            </a:pPr>
            <a:r>
              <a:rPr lang="en-US" sz="1700"/>
              <a:t>Explain the carbon cycle and fossil fuel formation</a:t>
            </a:r>
          </a:p>
          <a:p>
            <a:pPr>
              <a:lnSpc>
                <a:spcPct val="90000"/>
              </a:lnSpc>
            </a:pPr>
            <a:r>
              <a:rPr lang="en-US" sz="1700"/>
              <a:t>Define coal types and extraction methods</a:t>
            </a:r>
          </a:p>
          <a:p>
            <a:pPr>
              <a:lnSpc>
                <a:spcPct val="90000"/>
              </a:lnSpc>
            </a:pPr>
            <a:r>
              <a:rPr lang="en-US" sz="1700"/>
              <a:t>Describe oil and gas formation, geological settings, and extraction techniques</a:t>
            </a:r>
          </a:p>
        </p:txBody>
      </p:sp>
      <p:pic>
        <p:nvPicPr>
          <p:cNvPr id="5" name="Picture 4">
            <a:extLst>
              <a:ext uri="{FF2B5EF4-FFF2-40B4-BE49-F238E27FC236}">
                <a16:creationId xmlns:a16="http://schemas.microsoft.com/office/drawing/2014/main" id="{2F0B1688-9894-489D-9933-49CB93B79918}"/>
              </a:ext>
            </a:extLst>
          </p:cNvPr>
          <p:cNvPicPr>
            <a:picLocks noChangeAspect="1"/>
          </p:cNvPicPr>
          <p:nvPr/>
        </p:nvPicPr>
        <p:blipFill>
          <a:blip r:embed="rId3"/>
          <a:stretch>
            <a:fillRect/>
          </a:stretch>
        </p:blipFill>
        <p:spPr>
          <a:xfrm>
            <a:off x="5464833" y="2661433"/>
            <a:ext cx="1455963" cy="1481506"/>
          </a:xfrm>
          <a:prstGeom prst="rect">
            <a:avLst/>
          </a:prstGeom>
        </p:spPr>
      </p:pic>
      <p:pic>
        <p:nvPicPr>
          <p:cNvPr id="10" name="Picture 9">
            <a:extLst>
              <a:ext uri="{FF2B5EF4-FFF2-40B4-BE49-F238E27FC236}">
                <a16:creationId xmlns:a16="http://schemas.microsoft.com/office/drawing/2014/main" id="{F69BF0EE-39DA-8E18-E83C-F3A147D0A9A9}"/>
              </a:ext>
            </a:extLst>
          </p:cNvPr>
          <p:cNvPicPr>
            <a:picLocks noChangeAspect="1"/>
          </p:cNvPicPr>
          <p:nvPr/>
        </p:nvPicPr>
        <p:blipFill>
          <a:blip r:embed="rId4"/>
          <a:stretch>
            <a:fillRect/>
          </a:stretch>
        </p:blipFill>
        <p:spPr>
          <a:xfrm>
            <a:off x="7156383" y="2701043"/>
            <a:ext cx="1455964" cy="1441896"/>
          </a:xfrm>
          <a:prstGeom prst="rect">
            <a:avLst/>
          </a:prstGeom>
        </p:spPr>
      </p:pic>
      <p:pic>
        <p:nvPicPr>
          <p:cNvPr id="6" name="Picture 5">
            <a:extLst>
              <a:ext uri="{FF2B5EF4-FFF2-40B4-BE49-F238E27FC236}">
                <a16:creationId xmlns:a16="http://schemas.microsoft.com/office/drawing/2014/main" id="{B54ECC7C-28E2-4EEE-854B-9F7E052B7D56}"/>
              </a:ext>
            </a:extLst>
          </p:cNvPr>
          <p:cNvPicPr>
            <a:picLocks noChangeAspect="1"/>
          </p:cNvPicPr>
          <p:nvPr/>
        </p:nvPicPr>
        <p:blipFill>
          <a:blip r:embed="rId5"/>
          <a:stretch>
            <a:fillRect/>
          </a:stretch>
        </p:blipFill>
        <p:spPr>
          <a:xfrm>
            <a:off x="5464833" y="4464673"/>
            <a:ext cx="1455963" cy="1438834"/>
          </a:xfrm>
          <a:prstGeom prst="rect">
            <a:avLst/>
          </a:prstGeom>
        </p:spPr>
      </p:pic>
      <p:pic>
        <p:nvPicPr>
          <p:cNvPr id="4" name="Picture 3">
            <a:extLst>
              <a:ext uri="{FF2B5EF4-FFF2-40B4-BE49-F238E27FC236}">
                <a16:creationId xmlns:a16="http://schemas.microsoft.com/office/drawing/2014/main" id="{74238BAC-5E74-4011-92E8-04E06473702C}"/>
              </a:ext>
            </a:extLst>
          </p:cNvPr>
          <p:cNvPicPr>
            <a:picLocks noChangeAspect="1"/>
          </p:cNvPicPr>
          <p:nvPr/>
        </p:nvPicPr>
        <p:blipFill>
          <a:blip r:embed="rId6"/>
          <a:stretch>
            <a:fillRect/>
          </a:stretch>
        </p:blipFill>
        <p:spPr>
          <a:xfrm>
            <a:off x="7156383" y="4464673"/>
            <a:ext cx="1455963" cy="1405173"/>
          </a:xfrm>
          <a:prstGeom prst="rect">
            <a:avLst/>
          </a:prstGeom>
        </p:spPr>
      </p:pic>
    </p:spTree>
    <p:extLst>
      <p:ext uri="{BB962C8B-B14F-4D97-AF65-F5344CB8AC3E}">
        <p14:creationId xmlns:p14="http://schemas.microsoft.com/office/powerpoint/2010/main" val="269483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GB" dirty="0"/>
              <a:t>Untreated rock products</a:t>
            </a:r>
            <a:br>
              <a:rPr lang="en-GB" dirty="0"/>
            </a:br>
            <a:r>
              <a:rPr lang="en-GB" dirty="0"/>
              <a:t>-building stones and aggregates</a:t>
            </a:r>
          </a:p>
        </p:txBody>
      </p:sp>
      <p:sp>
        <p:nvSpPr>
          <p:cNvPr id="5" name="Text Placeholder 4"/>
          <p:cNvSpPr>
            <a:spLocks noGrp="1"/>
          </p:cNvSpPr>
          <p:nvPr>
            <p:ph type="body" idx="1"/>
          </p:nvPr>
        </p:nvSpPr>
        <p:spPr/>
        <p:txBody>
          <a:bodyPr/>
          <a:lstStyle/>
          <a:p>
            <a:endParaRPr lang="en-GB"/>
          </a:p>
        </p:txBody>
      </p:sp>
    </p:spTree>
    <p:extLst>
      <p:ext uri="{BB962C8B-B14F-4D97-AF65-F5344CB8AC3E}">
        <p14:creationId xmlns:p14="http://schemas.microsoft.com/office/powerpoint/2010/main" val="1719501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Building stone</a:t>
            </a:r>
          </a:p>
        </p:txBody>
      </p:sp>
      <p:sp>
        <p:nvSpPr>
          <p:cNvPr id="3" name="Content Placeholder 2"/>
          <p:cNvSpPr>
            <a:spLocks noGrp="1"/>
          </p:cNvSpPr>
          <p:nvPr>
            <p:ph idx="1"/>
          </p:nvPr>
        </p:nvSpPr>
        <p:spPr>
          <a:xfrm>
            <a:off x="323528" y="1600200"/>
            <a:ext cx="4176464" cy="5255132"/>
          </a:xfrm>
        </p:spPr>
        <p:txBody>
          <a:bodyPr>
            <a:normAutofit fontScale="92500" lnSpcReduction="20000"/>
          </a:bodyPr>
          <a:lstStyle/>
          <a:p>
            <a:r>
              <a:rPr lang="en-GB" i="1" dirty="0">
                <a:solidFill>
                  <a:srgbClr val="FF0000"/>
                </a:solidFill>
              </a:rPr>
              <a:t>Granites</a:t>
            </a:r>
            <a:r>
              <a:rPr lang="en-GB" dirty="0"/>
              <a:t>-coarse grained and hardwearing</a:t>
            </a:r>
          </a:p>
          <a:p>
            <a:r>
              <a:rPr lang="en-GB" i="1" dirty="0">
                <a:solidFill>
                  <a:srgbClr val="FF0000"/>
                </a:solidFill>
              </a:rPr>
              <a:t>Sandstone</a:t>
            </a:r>
            <a:r>
              <a:rPr lang="en-GB" dirty="0">
                <a:solidFill>
                  <a:srgbClr val="FF0000"/>
                </a:solidFill>
              </a:rPr>
              <a:t> </a:t>
            </a:r>
            <a:r>
              <a:rPr lang="en-GB" dirty="0"/>
              <a:t>-quartz and feldspar</a:t>
            </a:r>
          </a:p>
          <a:p>
            <a:r>
              <a:rPr lang="en-GB" i="1" dirty="0">
                <a:solidFill>
                  <a:srgbClr val="FF0000"/>
                </a:solidFill>
              </a:rPr>
              <a:t>Limestone/Dolomite</a:t>
            </a:r>
            <a:r>
              <a:rPr lang="en-GB" dirty="0">
                <a:solidFill>
                  <a:srgbClr val="FF0000"/>
                </a:solidFill>
              </a:rPr>
              <a:t> </a:t>
            </a:r>
            <a:r>
              <a:rPr lang="en-GB" dirty="0"/>
              <a:t>–CaCO</a:t>
            </a:r>
            <a:r>
              <a:rPr lang="en-GB" baseline="-25000" dirty="0"/>
              <a:t>3</a:t>
            </a:r>
            <a:r>
              <a:rPr lang="en-GB" dirty="0"/>
              <a:t>-MgCO</a:t>
            </a:r>
            <a:r>
              <a:rPr lang="en-GB" baseline="-25000" dirty="0"/>
              <a:t>3 </a:t>
            </a:r>
          </a:p>
          <a:p>
            <a:r>
              <a:rPr lang="en-GB" i="1" dirty="0">
                <a:solidFill>
                  <a:srgbClr val="FF0000"/>
                </a:solidFill>
              </a:rPr>
              <a:t>Marble</a:t>
            </a:r>
            <a:r>
              <a:rPr lang="en-GB" dirty="0">
                <a:solidFill>
                  <a:srgbClr val="FF0000"/>
                </a:solidFill>
              </a:rPr>
              <a:t> </a:t>
            </a:r>
            <a:r>
              <a:rPr lang="en-GB" dirty="0"/>
              <a:t>–metamorphosed limestone</a:t>
            </a:r>
          </a:p>
          <a:p>
            <a:r>
              <a:rPr lang="en-GB" i="1" dirty="0">
                <a:solidFill>
                  <a:srgbClr val="FF0000"/>
                </a:solidFill>
              </a:rPr>
              <a:t>Slate</a:t>
            </a:r>
            <a:r>
              <a:rPr lang="en-GB" dirty="0">
                <a:solidFill>
                  <a:srgbClr val="FF0000"/>
                </a:solidFill>
              </a:rPr>
              <a:t> </a:t>
            </a:r>
            <a:r>
              <a:rPr lang="en-GB" dirty="0"/>
              <a:t>–clays compressed during metamorphism</a:t>
            </a:r>
          </a:p>
          <a:p>
            <a:endParaRPr lang="en-GB" dirty="0"/>
          </a:p>
        </p:txBody>
      </p:sp>
      <p:pic>
        <p:nvPicPr>
          <p:cNvPr id="7" name="Picture 2" descr="http://www.victorianweb.org/art/architecture/mangnall/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7040" y="645590"/>
            <a:ext cx="2230388" cy="180399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6238577" y="67279"/>
            <a:ext cx="2828851" cy="369332"/>
          </a:xfrm>
          <a:prstGeom prst="rect">
            <a:avLst/>
          </a:prstGeom>
          <a:noFill/>
        </p:spPr>
        <p:txBody>
          <a:bodyPr wrap="none" rtlCol="0">
            <a:spAutoFit/>
          </a:bodyPr>
          <a:lstStyle/>
          <a:p>
            <a:r>
              <a:rPr lang="en-GB" i="1" dirty="0"/>
              <a:t>Hotel Britannia, Manchester</a:t>
            </a:r>
          </a:p>
        </p:txBody>
      </p:sp>
      <p:sp>
        <p:nvSpPr>
          <p:cNvPr id="9" name="Rectangle 8"/>
          <p:cNvSpPr/>
          <p:nvPr/>
        </p:nvSpPr>
        <p:spPr>
          <a:xfrm>
            <a:off x="5651712" y="323364"/>
            <a:ext cx="3495059" cy="369332"/>
          </a:xfrm>
          <a:prstGeom prst="rect">
            <a:avLst/>
          </a:prstGeom>
        </p:spPr>
        <p:txBody>
          <a:bodyPr wrap="none">
            <a:spAutoFit/>
          </a:bodyPr>
          <a:lstStyle/>
          <a:p>
            <a:r>
              <a:rPr lang="en-GB" dirty="0"/>
              <a:t>Sandstone ashlar, with granite base</a:t>
            </a:r>
          </a:p>
        </p:txBody>
      </p:sp>
      <p:pic>
        <p:nvPicPr>
          <p:cNvPr id="6148" name="Picture 4" descr="http://www.tuscany-villas.com/public/directory/immagini/doria-bergwerk.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1170" y="2210884"/>
            <a:ext cx="2780645" cy="208548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021815" y="2858362"/>
            <a:ext cx="2045613" cy="646331"/>
          </a:xfrm>
          <a:prstGeom prst="rect">
            <a:avLst/>
          </a:prstGeom>
          <a:noFill/>
        </p:spPr>
        <p:txBody>
          <a:bodyPr wrap="square" rtlCol="0">
            <a:spAutoFit/>
          </a:bodyPr>
          <a:lstStyle/>
          <a:p>
            <a:r>
              <a:rPr lang="en-GB" i="1" dirty="0" err="1"/>
              <a:t>Carrara</a:t>
            </a:r>
            <a:r>
              <a:rPr lang="en-GB" i="1" dirty="0"/>
              <a:t> Marble Quarry, Italy</a:t>
            </a:r>
          </a:p>
        </p:txBody>
      </p:sp>
      <p:pic>
        <p:nvPicPr>
          <p:cNvPr id="6150" name="Picture 6" descr="http://upload.wikimedia.org/wikipedia/commons/1/14/Bethesda-Mine-07367u.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31493" y="4221088"/>
            <a:ext cx="3512507" cy="2479771"/>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4065723" y="6209001"/>
            <a:ext cx="1565770" cy="646331"/>
          </a:xfrm>
          <a:prstGeom prst="rect">
            <a:avLst/>
          </a:prstGeom>
        </p:spPr>
        <p:txBody>
          <a:bodyPr wrap="square">
            <a:spAutoFit/>
          </a:bodyPr>
          <a:lstStyle/>
          <a:p>
            <a:r>
              <a:rPr lang="en-GB" i="1" dirty="0" err="1"/>
              <a:t>Penrhyn</a:t>
            </a:r>
            <a:r>
              <a:rPr lang="en-GB" i="1" dirty="0"/>
              <a:t> Slate Quarry, Wales</a:t>
            </a:r>
          </a:p>
        </p:txBody>
      </p:sp>
    </p:spTree>
    <p:extLst>
      <p:ext uri="{BB962C8B-B14F-4D97-AF65-F5344CB8AC3E}">
        <p14:creationId xmlns:p14="http://schemas.microsoft.com/office/powerpoint/2010/main" val="2405202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4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15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6"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1143000"/>
          </a:xfrm>
        </p:spPr>
        <p:txBody>
          <a:bodyPr/>
          <a:lstStyle/>
          <a:p>
            <a:r>
              <a:rPr lang="en-GB" dirty="0"/>
              <a:t>Crushed Rock = Aggregates</a:t>
            </a:r>
          </a:p>
        </p:txBody>
      </p:sp>
      <p:sp>
        <p:nvSpPr>
          <p:cNvPr id="3" name="Content Placeholder 2"/>
          <p:cNvSpPr>
            <a:spLocks noGrp="1"/>
          </p:cNvSpPr>
          <p:nvPr>
            <p:ph idx="1"/>
          </p:nvPr>
        </p:nvSpPr>
        <p:spPr>
          <a:xfrm>
            <a:off x="179512" y="1196752"/>
            <a:ext cx="4613552" cy="5976664"/>
          </a:xfrm>
        </p:spPr>
        <p:txBody>
          <a:bodyPr>
            <a:normAutofit/>
          </a:bodyPr>
          <a:lstStyle/>
          <a:p>
            <a:r>
              <a:rPr lang="en-GB" dirty="0"/>
              <a:t>Largest volume hard-rock mineral commodity </a:t>
            </a:r>
          </a:p>
          <a:p>
            <a:r>
              <a:rPr lang="en-GB" dirty="0"/>
              <a:t>Building foundations and road building</a:t>
            </a:r>
          </a:p>
          <a:p>
            <a:r>
              <a:rPr lang="en-GB" dirty="0"/>
              <a:t>Easy to mine and crush but hard and inert</a:t>
            </a:r>
          </a:p>
          <a:p>
            <a:r>
              <a:rPr lang="en-GB" dirty="0"/>
              <a:t>Most countries have a plentiful supply</a:t>
            </a:r>
          </a:p>
          <a:p>
            <a:r>
              <a:rPr lang="en-GB" dirty="0"/>
              <a:t>Mined </a:t>
            </a:r>
            <a:r>
              <a:rPr lang="en-GB" dirty="0" err="1"/>
              <a:t>openpit</a:t>
            </a:r>
            <a:r>
              <a:rPr lang="en-GB" dirty="0"/>
              <a:t> in quarries</a:t>
            </a:r>
          </a:p>
          <a:p>
            <a:endParaRPr lang="en-GB" dirty="0"/>
          </a:p>
        </p:txBody>
      </p:sp>
      <p:pic>
        <p:nvPicPr>
          <p:cNvPr id="8" name="Picture 7">
            <a:extLst>
              <a:ext uri="{FF2B5EF4-FFF2-40B4-BE49-F238E27FC236}">
                <a16:creationId xmlns:a16="http://schemas.microsoft.com/office/drawing/2014/main" id="{3CDCA8DE-0307-428D-A12F-0D29FFC8A629}"/>
              </a:ext>
            </a:extLst>
          </p:cNvPr>
          <p:cNvPicPr>
            <a:picLocks noChangeAspect="1"/>
          </p:cNvPicPr>
          <p:nvPr/>
        </p:nvPicPr>
        <p:blipFill>
          <a:blip r:embed="rId3"/>
          <a:stretch>
            <a:fillRect/>
          </a:stretch>
        </p:blipFill>
        <p:spPr>
          <a:xfrm>
            <a:off x="4917450" y="2270857"/>
            <a:ext cx="3448050" cy="2495550"/>
          </a:xfrm>
          <a:prstGeom prst="rect">
            <a:avLst/>
          </a:prstGeom>
        </p:spPr>
      </p:pic>
    </p:spTree>
    <p:extLst>
      <p:ext uri="{BB962C8B-B14F-4D97-AF65-F5344CB8AC3E}">
        <p14:creationId xmlns:p14="http://schemas.microsoft.com/office/powerpoint/2010/main" val="263352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Sand and Gravel</a:t>
            </a:r>
          </a:p>
        </p:txBody>
      </p:sp>
      <p:sp>
        <p:nvSpPr>
          <p:cNvPr id="3" name="Content Placeholder 2"/>
          <p:cNvSpPr>
            <a:spLocks noGrp="1"/>
          </p:cNvSpPr>
          <p:nvPr>
            <p:ph idx="1"/>
          </p:nvPr>
        </p:nvSpPr>
        <p:spPr>
          <a:xfrm>
            <a:off x="457200" y="1600200"/>
            <a:ext cx="5122912" cy="4525963"/>
          </a:xfrm>
        </p:spPr>
        <p:txBody>
          <a:bodyPr>
            <a:normAutofit fontScale="92500" lnSpcReduction="20000"/>
          </a:bodyPr>
          <a:lstStyle/>
          <a:p>
            <a:r>
              <a:rPr lang="en-GB" dirty="0"/>
              <a:t>Used in concrete production and road building</a:t>
            </a:r>
          </a:p>
          <a:p>
            <a:r>
              <a:rPr lang="en-GB" dirty="0"/>
              <a:t>Weathered or abraded by glaciers from parent rock and transported by water</a:t>
            </a:r>
          </a:p>
          <a:p>
            <a:r>
              <a:rPr lang="en-GB" dirty="0"/>
              <a:t>Found in river channels, their floodplains and alluvial fans and glacial deposits</a:t>
            </a:r>
          </a:p>
          <a:p>
            <a:pPr marL="0" indent="0">
              <a:buNone/>
            </a:pPr>
            <a:r>
              <a:rPr lang="en-GB" dirty="0"/>
              <a:t>    e.g. off the continental shelf</a:t>
            </a:r>
          </a:p>
          <a:p>
            <a:r>
              <a:rPr lang="en-GB" dirty="0"/>
              <a:t>Exploited through dredging</a:t>
            </a:r>
          </a:p>
        </p:txBody>
      </p:sp>
      <p:pic>
        <p:nvPicPr>
          <p:cNvPr id="9218" name="Picture 2" descr="The sand and gravel resources of the UK Continental Shelf (UKCS). ©The Crown Estate. Click to enlar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168" y="1700808"/>
            <a:ext cx="2508498" cy="37167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436096" y="6211669"/>
            <a:ext cx="4176465" cy="646331"/>
          </a:xfrm>
          <a:prstGeom prst="rect">
            <a:avLst/>
          </a:prstGeom>
          <a:noFill/>
        </p:spPr>
        <p:txBody>
          <a:bodyPr wrap="square" rtlCol="0">
            <a:spAutoFit/>
          </a:bodyPr>
          <a:lstStyle/>
          <a:p>
            <a:r>
              <a:rPr lang="en-GB" i="1" dirty="0"/>
              <a:t>Sand and gravel resources of the UK continental shelf-The Crown Estate</a:t>
            </a:r>
          </a:p>
        </p:txBody>
      </p:sp>
    </p:spTree>
    <p:extLst>
      <p:ext uri="{BB962C8B-B14F-4D97-AF65-F5344CB8AC3E}">
        <p14:creationId xmlns:p14="http://schemas.microsoft.com/office/powerpoint/2010/main" val="4174369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70" name="Picture 6" descr="http://media.tiscali.co.uk/images/feeds/hutchinson/ency/c0111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5936" y="3635151"/>
            <a:ext cx="4320480" cy="2924890"/>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Alluvial Fan Formation with Fault Scar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404664"/>
            <a:ext cx="4176464" cy="313234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44016" y="3481263"/>
            <a:ext cx="4572000" cy="307777"/>
          </a:xfrm>
          <a:prstGeom prst="rect">
            <a:avLst/>
          </a:prstGeom>
        </p:spPr>
        <p:txBody>
          <a:bodyPr>
            <a:spAutoFit/>
          </a:bodyPr>
          <a:lstStyle/>
          <a:p>
            <a:r>
              <a:rPr lang="en-GB" sz="1400" dirty="0"/>
              <a:t>edtech.mit.edu/</a:t>
            </a:r>
            <a:r>
              <a:rPr lang="en-GB" sz="1400" dirty="0" err="1"/>
              <a:t>fcgi</a:t>
            </a:r>
            <a:r>
              <a:rPr lang="en-GB" sz="1400" dirty="0"/>
              <a:t>-bin/</a:t>
            </a:r>
            <a:r>
              <a:rPr lang="en-GB" sz="1400" dirty="0" err="1"/>
              <a:t>pgt?part</a:t>
            </a:r>
            <a:r>
              <a:rPr lang="en-GB" sz="1400" dirty="0"/>
              <a:t>=1.0.4.1&amp;img=1</a:t>
            </a:r>
          </a:p>
        </p:txBody>
      </p:sp>
      <p:pic>
        <p:nvPicPr>
          <p:cNvPr id="11268" name="Picture 4" descr="https://encrypted-tbn2.gstatic.com/images?q=tbn:ANd9GcT9bdd8ZxlDjAIa7rjf2vFWCWwKsF5uY8DzBj0eb_4ge1WxM9s7a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064" y="188640"/>
            <a:ext cx="3456384" cy="240317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427984" y="2591816"/>
            <a:ext cx="2215671" cy="461665"/>
          </a:xfrm>
          <a:prstGeom prst="rect">
            <a:avLst/>
          </a:prstGeom>
          <a:noFill/>
        </p:spPr>
        <p:txBody>
          <a:bodyPr wrap="none" rtlCol="0">
            <a:spAutoFit/>
          </a:bodyPr>
          <a:lstStyle/>
          <a:p>
            <a:r>
              <a:rPr lang="en-GB" sz="2400" i="1" dirty="0"/>
              <a:t>Alluvial deposits</a:t>
            </a:r>
          </a:p>
        </p:txBody>
      </p:sp>
      <p:sp>
        <p:nvSpPr>
          <p:cNvPr id="8" name="TextBox 7"/>
          <p:cNvSpPr txBox="1"/>
          <p:nvPr/>
        </p:nvSpPr>
        <p:spPr>
          <a:xfrm>
            <a:off x="2286051" y="6371655"/>
            <a:ext cx="2141933" cy="461665"/>
          </a:xfrm>
          <a:prstGeom prst="rect">
            <a:avLst/>
          </a:prstGeom>
          <a:noFill/>
        </p:spPr>
        <p:txBody>
          <a:bodyPr wrap="none" rtlCol="0">
            <a:spAutoFit/>
          </a:bodyPr>
          <a:lstStyle/>
          <a:p>
            <a:r>
              <a:rPr lang="en-GB" sz="2400" i="1" dirty="0"/>
              <a:t>Glacial deposits</a:t>
            </a:r>
          </a:p>
        </p:txBody>
      </p:sp>
      <p:pic>
        <p:nvPicPr>
          <p:cNvPr id="11274" name="Picture 10" descr="Glaciofluvial deposi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0291" y="4229971"/>
            <a:ext cx="3219450" cy="21240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196590" y="6581001"/>
            <a:ext cx="4572000" cy="276999"/>
          </a:xfrm>
          <a:prstGeom prst="rect">
            <a:avLst/>
          </a:prstGeom>
        </p:spPr>
        <p:txBody>
          <a:bodyPr>
            <a:spAutoFit/>
          </a:bodyPr>
          <a:lstStyle/>
          <a:p>
            <a:r>
              <a:rPr lang="en-GB" sz="1200" dirty="0"/>
              <a:t>https://www.bgs.ac.uk/Planning4Minerals/Resources_3.htm</a:t>
            </a:r>
          </a:p>
        </p:txBody>
      </p:sp>
    </p:spTree>
    <p:extLst>
      <p:ext uri="{BB962C8B-B14F-4D97-AF65-F5344CB8AC3E}">
        <p14:creationId xmlns:p14="http://schemas.microsoft.com/office/powerpoint/2010/main" val="287728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7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treated rock products</a:t>
            </a:r>
          </a:p>
        </p:txBody>
      </p:sp>
      <p:sp>
        <p:nvSpPr>
          <p:cNvPr id="5" name="Text Placeholder 4"/>
          <p:cNvSpPr>
            <a:spLocks noGrp="1"/>
          </p:cNvSpPr>
          <p:nvPr>
            <p:ph type="body" idx="1"/>
          </p:nvPr>
        </p:nvSpPr>
        <p:spPr/>
        <p:txBody>
          <a:bodyPr/>
          <a:lstStyle/>
          <a:p>
            <a:endParaRPr lang="en-GB"/>
          </a:p>
        </p:txBody>
      </p:sp>
    </p:spTree>
    <p:extLst>
      <p:ext uri="{BB962C8B-B14F-4D97-AF65-F5344CB8AC3E}">
        <p14:creationId xmlns:p14="http://schemas.microsoft.com/office/powerpoint/2010/main" val="2079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844824" y="26368"/>
            <a:ext cx="8229600" cy="1143000"/>
          </a:xfrm>
        </p:spPr>
        <p:txBody>
          <a:bodyPr/>
          <a:lstStyle/>
          <a:p>
            <a:r>
              <a:rPr lang="en-GB" dirty="0"/>
              <a:t>Cement</a:t>
            </a:r>
          </a:p>
        </p:txBody>
      </p:sp>
      <p:sp>
        <p:nvSpPr>
          <p:cNvPr id="5" name="Content Placeholder 4"/>
          <p:cNvSpPr>
            <a:spLocks noGrp="1"/>
          </p:cNvSpPr>
          <p:nvPr>
            <p:ph idx="1"/>
          </p:nvPr>
        </p:nvSpPr>
        <p:spPr>
          <a:xfrm>
            <a:off x="395536" y="1169368"/>
            <a:ext cx="4618856" cy="5688632"/>
          </a:xfrm>
        </p:spPr>
        <p:txBody>
          <a:bodyPr>
            <a:normAutofit fontScale="77500" lnSpcReduction="20000"/>
          </a:bodyPr>
          <a:lstStyle/>
          <a:p>
            <a:r>
              <a:rPr lang="en-GB" dirty="0"/>
              <a:t>Chemical binder</a:t>
            </a:r>
          </a:p>
          <a:p>
            <a:r>
              <a:rPr lang="en-GB" dirty="0"/>
              <a:t>Mixed with sand to make mortar</a:t>
            </a:r>
          </a:p>
          <a:p>
            <a:r>
              <a:rPr lang="en-GB" dirty="0"/>
              <a:t>Mixed with sand and gravel to make concrete</a:t>
            </a:r>
          </a:p>
          <a:p>
            <a:r>
              <a:rPr lang="en-GB" dirty="0"/>
              <a:t>Portland cement:</a:t>
            </a:r>
          </a:p>
          <a:p>
            <a:pPr lvl="1"/>
            <a:r>
              <a:rPr lang="en-GB" dirty="0"/>
              <a:t>Lime – </a:t>
            </a:r>
            <a:r>
              <a:rPr lang="en-GB" dirty="0" err="1"/>
              <a:t>CaO</a:t>
            </a:r>
            <a:r>
              <a:rPr lang="en-GB" dirty="0"/>
              <a:t> (from limestone)</a:t>
            </a:r>
          </a:p>
          <a:p>
            <a:pPr lvl="1"/>
            <a:r>
              <a:rPr lang="en-GB" dirty="0"/>
              <a:t>Alumina - Al</a:t>
            </a:r>
            <a:r>
              <a:rPr lang="en-GB" baseline="-25000" dirty="0"/>
              <a:t>2</a:t>
            </a:r>
            <a:r>
              <a:rPr lang="en-GB" dirty="0"/>
              <a:t>O</a:t>
            </a:r>
            <a:r>
              <a:rPr lang="en-GB" baseline="-25000" dirty="0"/>
              <a:t>3 </a:t>
            </a:r>
            <a:r>
              <a:rPr lang="en-GB" dirty="0"/>
              <a:t>(from shale or clay)</a:t>
            </a:r>
          </a:p>
          <a:p>
            <a:pPr lvl="1"/>
            <a:r>
              <a:rPr lang="en-GB" dirty="0"/>
              <a:t>Silica – SiO</a:t>
            </a:r>
            <a:r>
              <a:rPr lang="en-GB" baseline="-25000" dirty="0"/>
              <a:t>2</a:t>
            </a:r>
            <a:r>
              <a:rPr lang="en-GB" dirty="0"/>
              <a:t> (from clay, shale or sand)</a:t>
            </a:r>
          </a:p>
          <a:p>
            <a:pPr lvl="1"/>
            <a:r>
              <a:rPr lang="en-GB" dirty="0"/>
              <a:t>Gypsum/Anhydrite – CaSO</a:t>
            </a:r>
            <a:r>
              <a:rPr lang="en-GB" baseline="-25000" dirty="0"/>
              <a:t>4</a:t>
            </a:r>
            <a:r>
              <a:rPr lang="en-GB" dirty="0"/>
              <a:t>(.2H</a:t>
            </a:r>
            <a:r>
              <a:rPr lang="en-GB" baseline="-25000" dirty="0"/>
              <a:t>2</a:t>
            </a:r>
            <a:r>
              <a:rPr lang="en-GB" dirty="0"/>
              <a:t>O)</a:t>
            </a:r>
          </a:p>
          <a:p>
            <a:r>
              <a:rPr lang="en-GB" dirty="0"/>
              <a:t>Cement plants are normally located near limestone quarries</a:t>
            </a:r>
          </a:p>
          <a:p>
            <a:endParaRPr lang="en-GB" dirty="0"/>
          </a:p>
        </p:txBody>
      </p:sp>
      <p:pic>
        <p:nvPicPr>
          <p:cNvPr id="12290" name="Picture 2" descr="MPA cement ma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1628800"/>
            <a:ext cx="3874468" cy="4815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4999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65021" y="5877272"/>
            <a:ext cx="1156086" cy="86409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pic>
        <p:nvPicPr>
          <p:cNvPr id="13314" name="Picture 2" descr="http://financialresults.co.za/PPC_ar2008/images/environ_0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883" y="1340768"/>
            <a:ext cx="8727928" cy="439248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5021" y="5877272"/>
            <a:ext cx="1156086" cy="1200329"/>
          </a:xfrm>
          <a:prstGeom prst="rect">
            <a:avLst/>
          </a:prstGeom>
          <a:noFill/>
        </p:spPr>
        <p:txBody>
          <a:bodyPr wrap="none" rtlCol="0">
            <a:spAutoFit/>
          </a:bodyPr>
          <a:lstStyle/>
          <a:p>
            <a:pPr algn="ctr"/>
            <a:r>
              <a:rPr lang="en-GB" dirty="0"/>
              <a:t>Limestone</a:t>
            </a:r>
          </a:p>
          <a:p>
            <a:pPr algn="ctr"/>
            <a:r>
              <a:rPr lang="en-GB" dirty="0"/>
              <a:t>Alumina</a:t>
            </a:r>
          </a:p>
          <a:p>
            <a:pPr algn="ctr"/>
            <a:r>
              <a:rPr lang="en-GB" dirty="0"/>
              <a:t>Silica</a:t>
            </a:r>
          </a:p>
          <a:p>
            <a:endParaRPr lang="en-GB" dirty="0"/>
          </a:p>
        </p:txBody>
      </p:sp>
      <p:cxnSp>
        <p:nvCxnSpPr>
          <p:cNvPr id="8" name="Straight Arrow Connector 7"/>
          <p:cNvCxnSpPr>
            <a:stCxn id="6" idx="0"/>
          </p:cNvCxnSpPr>
          <p:nvPr/>
        </p:nvCxnSpPr>
        <p:spPr>
          <a:xfrm flipH="1" flipV="1">
            <a:off x="755576" y="4941168"/>
            <a:ext cx="87488" cy="936104"/>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476294" y="5703212"/>
            <a:ext cx="3257558" cy="646331"/>
          </a:xfrm>
          <a:prstGeom prst="rect">
            <a:avLst/>
          </a:prstGeom>
          <a:noFill/>
        </p:spPr>
        <p:txBody>
          <a:bodyPr wrap="none" rtlCol="0">
            <a:spAutoFit/>
          </a:bodyPr>
          <a:lstStyle/>
          <a:p>
            <a:r>
              <a:rPr lang="en-GB" i="1" dirty="0"/>
              <a:t>Sinter at 1500°C to produce </a:t>
            </a:r>
            <a:r>
              <a:rPr lang="en-GB" i="1" dirty="0" err="1"/>
              <a:t>CaO</a:t>
            </a:r>
            <a:endParaRPr lang="en-GB" i="1" dirty="0"/>
          </a:p>
          <a:p>
            <a:r>
              <a:rPr lang="en-GB" i="1" dirty="0"/>
              <a:t>(releases /removes CO</a:t>
            </a:r>
            <a:r>
              <a:rPr lang="en-GB" i="1" baseline="-25000" dirty="0"/>
              <a:t>2</a:t>
            </a:r>
            <a:r>
              <a:rPr lang="en-GB" i="1" dirty="0"/>
              <a:t> and H</a:t>
            </a:r>
            <a:r>
              <a:rPr lang="en-GB" i="1" baseline="-25000" dirty="0"/>
              <a:t>2</a:t>
            </a:r>
            <a:r>
              <a:rPr lang="en-GB" i="1" dirty="0"/>
              <a:t>O)</a:t>
            </a:r>
          </a:p>
        </p:txBody>
      </p:sp>
      <p:sp>
        <p:nvSpPr>
          <p:cNvPr id="10" name="TextBox 9"/>
          <p:cNvSpPr txBox="1"/>
          <p:nvPr/>
        </p:nvSpPr>
        <p:spPr>
          <a:xfrm>
            <a:off x="5543600" y="5684562"/>
            <a:ext cx="3600400" cy="923330"/>
          </a:xfrm>
          <a:prstGeom prst="rect">
            <a:avLst/>
          </a:prstGeom>
          <a:noFill/>
        </p:spPr>
        <p:txBody>
          <a:bodyPr wrap="square" rtlCol="0">
            <a:spAutoFit/>
          </a:bodyPr>
          <a:lstStyle/>
          <a:p>
            <a:r>
              <a:rPr lang="en-GB" dirty="0"/>
              <a:t>Clinker milled and mixed with gypsum (controls setting time of cement)</a:t>
            </a:r>
          </a:p>
        </p:txBody>
      </p:sp>
      <p:sp>
        <p:nvSpPr>
          <p:cNvPr id="11" name="Rectangle 10"/>
          <p:cNvSpPr/>
          <p:nvPr/>
        </p:nvSpPr>
        <p:spPr>
          <a:xfrm>
            <a:off x="1547664" y="5733256"/>
            <a:ext cx="3106183" cy="5760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p:nvSpPr>
        <p:spPr>
          <a:xfrm>
            <a:off x="5543600" y="5733256"/>
            <a:ext cx="3276872" cy="87463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12"/>
          <p:cNvSpPr>
            <a:spLocks noGrp="1"/>
          </p:cNvSpPr>
          <p:nvPr>
            <p:ph type="title"/>
          </p:nvPr>
        </p:nvSpPr>
        <p:spPr>
          <a:xfrm>
            <a:off x="-684584" y="91014"/>
            <a:ext cx="8229600" cy="1143000"/>
          </a:xfrm>
        </p:spPr>
        <p:txBody>
          <a:bodyPr/>
          <a:lstStyle/>
          <a:p>
            <a:r>
              <a:rPr lang="en-GB" dirty="0"/>
              <a:t>Cement production process</a:t>
            </a:r>
          </a:p>
        </p:txBody>
      </p:sp>
    </p:spTree>
    <p:extLst>
      <p:ext uri="{BB962C8B-B14F-4D97-AF65-F5344CB8AC3E}">
        <p14:creationId xmlns:p14="http://schemas.microsoft.com/office/powerpoint/2010/main" val="2570019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10" grpId="0"/>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Glass</a:t>
            </a:r>
          </a:p>
        </p:txBody>
      </p:sp>
      <p:sp>
        <p:nvSpPr>
          <p:cNvPr id="3" name="Content Placeholder 2"/>
          <p:cNvSpPr>
            <a:spLocks noGrp="1"/>
          </p:cNvSpPr>
          <p:nvPr>
            <p:ph idx="1"/>
          </p:nvPr>
        </p:nvSpPr>
        <p:spPr>
          <a:xfrm>
            <a:off x="394699" y="1301367"/>
            <a:ext cx="4834880" cy="5257800"/>
          </a:xfrm>
        </p:spPr>
        <p:txBody>
          <a:bodyPr>
            <a:normAutofit fontScale="85000" lnSpcReduction="20000"/>
          </a:bodyPr>
          <a:lstStyle/>
          <a:p>
            <a:r>
              <a:rPr lang="en-GB" dirty="0"/>
              <a:t>Melt together minerals that can be cooled in such as way that they do not form an organised arrangement of atoms</a:t>
            </a:r>
          </a:p>
          <a:p>
            <a:r>
              <a:rPr lang="en-GB" dirty="0">
                <a:solidFill>
                  <a:srgbClr val="FF0000"/>
                </a:solidFill>
              </a:rPr>
              <a:t>Annealed </a:t>
            </a:r>
            <a:r>
              <a:rPr lang="en-GB" dirty="0"/>
              <a:t>–  slow cooling</a:t>
            </a:r>
          </a:p>
          <a:p>
            <a:r>
              <a:rPr lang="en-GB" i="1" dirty="0"/>
              <a:t>Components:</a:t>
            </a:r>
          </a:p>
          <a:p>
            <a:pPr lvl="1"/>
            <a:r>
              <a:rPr lang="en-GB" i="1" dirty="0"/>
              <a:t>Silica (SiO</a:t>
            </a:r>
            <a:r>
              <a:rPr lang="en-GB" i="1" baseline="-25000" dirty="0"/>
              <a:t>2</a:t>
            </a:r>
            <a:r>
              <a:rPr lang="en-GB" i="1" dirty="0"/>
              <a:t>) </a:t>
            </a:r>
            <a:r>
              <a:rPr lang="en-GB" dirty="0"/>
              <a:t>–high melting temp. 1713°C</a:t>
            </a:r>
          </a:p>
          <a:p>
            <a:pPr lvl="1"/>
            <a:r>
              <a:rPr lang="en-GB" i="1" dirty="0"/>
              <a:t>Soda (Na</a:t>
            </a:r>
            <a:r>
              <a:rPr lang="en-GB" i="1" baseline="-25000" dirty="0"/>
              <a:t>2</a:t>
            </a:r>
            <a:r>
              <a:rPr lang="en-GB" i="1" dirty="0"/>
              <a:t>O) </a:t>
            </a:r>
            <a:r>
              <a:rPr lang="en-GB" dirty="0"/>
              <a:t>often added to reduce melting temp to ~500°C</a:t>
            </a:r>
          </a:p>
          <a:p>
            <a:pPr lvl="1"/>
            <a:r>
              <a:rPr lang="en-GB" i="1" dirty="0"/>
              <a:t>Lime (</a:t>
            </a:r>
            <a:r>
              <a:rPr lang="en-GB" i="1" dirty="0" err="1"/>
              <a:t>CaO</a:t>
            </a:r>
            <a:r>
              <a:rPr lang="en-GB" i="1" dirty="0"/>
              <a:t>) </a:t>
            </a:r>
            <a:r>
              <a:rPr lang="en-GB" dirty="0"/>
              <a:t>added to increase durability of soda glass</a:t>
            </a:r>
          </a:p>
          <a:p>
            <a:pPr lvl="1"/>
            <a:r>
              <a:rPr lang="en-GB" i="1" dirty="0"/>
              <a:t>Alumina (Al</a:t>
            </a:r>
            <a:r>
              <a:rPr lang="en-GB" i="1" baseline="-25000" dirty="0"/>
              <a:t>2</a:t>
            </a:r>
            <a:r>
              <a:rPr lang="en-GB" i="1" dirty="0"/>
              <a:t>O</a:t>
            </a:r>
            <a:r>
              <a:rPr lang="en-GB" i="1" baseline="-25000" dirty="0"/>
              <a:t>3</a:t>
            </a:r>
            <a:r>
              <a:rPr lang="en-GB" i="1" dirty="0"/>
              <a:t>) </a:t>
            </a:r>
            <a:r>
              <a:rPr lang="en-GB" dirty="0"/>
              <a:t>added to improve chemical resistance</a:t>
            </a:r>
          </a:p>
          <a:p>
            <a:endParaRPr lang="en-GB" dirty="0"/>
          </a:p>
        </p:txBody>
      </p:sp>
      <p:pic>
        <p:nvPicPr>
          <p:cNvPr id="15364" name="Picture 4" descr="http://prlo.aps.org/files/focus/v20/st4/colloid-250.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120" y="2060848"/>
            <a:ext cx="2381250" cy="20859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229579" y="4146824"/>
            <a:ext cx="3226332" cy="369332"/>
          </a:xfrm>
          <a:prstGeom prst="rect">
            <a:avLst/>
          </a:prstGeom>
          <a:noFill/>
        </p:spPr>
        <p:txBody>
          <a:bodyPr wrap="none" rtlCol="0">
            <a:spAutoFit/>
          </a:bodyPr>
          <a:lstStyle/>
          <a:p>
            <a:r>
              <a:rPr lang="en-GB" i="1" dirty="0"/>
              <a:t>Representation of atoms in glass</a:t>
            </a:r>
          </a:p>
        </p:txBody>
      </p:sp>
      <p:pic>
        <p:nvPicPr>
          <p:cNvPr id="15362" name="Picture 2" descr="http://www.shake-it-easy.ch/bilder/glasproduktion.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8809" y="188640"/>
            <a:ext cx="142875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5366" name="Picture 6" descr="http://www.glassforeurope.com/images/cont/39_72686_image.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73840" y="4655706"/>
            <a:ext cx="3672408" cy="21728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101100" y="4869160"/>
            <a:ext cx="905294" cy="369332"/>
          </a:xfrm>
          <a:prstGeom prst="rect">
            <a:avLst/>
          </a:prstGeom>
          <a:noFill/>
        </p:spPr>
        <p:txBody>
          <a:bodyPr wrap="square" rtlCol="0">
            <a:spAutoFit/>
          </a:bodyPr>
          <a:lstStyle/>
          <a:p>
            <a:r>
              <a:rPr lang="en-GB" dirty="0"/>
              <a:t>2008</a:t>
            </a:r>
          </a:p>
        </p:txBody>
      </p:sp>
      <p:sp>
        <p:nvSpPr>
          <p:cNvPr id="6" name="Rectangle 5"/>
          <p:cNvSpPr/>
          <p:nvPr/>
        </p:nvSpPr>
        <p:spPr>
          <a:xfrm>
            <a:off x="4556745" y="6559167"/>
            <a:ext cx="4572000" cy="307777"/>
          </a:xfrm>
          <a:prstGeom prst="rect">
            <a:avLst/>
          </a:prstGeom>
        </p:spPr>
        <p:txBody>
          <a:bodyPr>
            <a:spAutoFit/>
          </a:bodyPr>
          <a:lstStyle/>
          <a:p>
            <a:r>
              <a:rPr lang="en-GB" sz="1400" dirty="0"/>
              <a:t>http://www.glassforeurope.com/en/industry/index.php</a:t>
            </a:r>
          </a:p>
        </p:txBody>
      </p:sp>
    </p:spTree>
    <p:extLst>
      <p:ext uri="{BB962C8B-B14F-4D97-AF65-F5344CB8AC3E}">
        <p14:creationId xmlns:p14="http://schemas.microsoft.com/office/powerpoint/2010/main" val="332241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36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36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Other industrial minerals</a:t>
            </a:r>
          </a:p>
        </p:txBody>
      </p:sp>
      <p:sp>
        <p:nvSpPr>
          <p:cNvPr id="2" name="Text Placeholder 1"/>
          <p:cNvSpPr>
            <a:spLocks noGrp="1"/>
          </p:cNvSpPr>
          <p:nvPr>
            <p:ph type="body" idx="1"/>
          </p:nvPr>
        </p:nvSpPr>
        <p:spPr/>
        <p:txBody>
          <a:bodyPr/>
          <a:lstStyle/>
          <a:p>
            <a:endParaRPr lang="en-GB"/>
          </a:p>
        </p:txBody>
      </p:sp>
    </p:spTree>
    <p:extLst>
      <p:ext uri="{BB962C8B-B14F-4D97-AF65-F5344CB8AC3E}">
        <p14:creationId xmlns:p14="http://schemas.microsoft.com/office/powerpoint/2010/main" val="4164995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Diamond – an abrasive</a:t>
            </a:r>
          </a:p>
        </p:txBody>
      </p:sp>
      <p:sp>
        <p:nvSpPr>
          <p:cNvPr id="4" name="Content Placeholder 3"/>
          <p:cNvSpPr>
            <a:spLocks noGrp="1"/>
          </p:cNvSpPr>
          <p:nvPr>
            <p:ph sz="half" idx="1"/>
          </p:nvPr>
        </p:nvSpPr>
        <p:spPr/>
        <p:txBody>
          <a:bodyPr>
            <a:normAutofit fontScale="92500"/>
          </a:bodyPr>
          <a:lstStyle/>
          <a:p>
            <a:r>
              <a:rPr lang="en-GB" dirty="0"/>
              <a:t>Dense form of carbon</a:t>
            </a:r>
          </a:p>
          <a:p>
            <a:r>
              <a:rPr lang="en-GB" dirty="0"/>
              <a:t>Cut, grind and polish all the modern alloys and ceramics</a:t>
            </a:r>
          </a:p>
          <a:p>
            <a:r>
              <a:rPr lang="en-GB" dirty="0"/>
              <a:t>Hardest known material</a:t>
            </a:r>
          </a:p>
          <a:p>
            <a:r>
              <a:rPr lang="en-GB" dirty="0"/>
              <a:t>80% of natural diamonds are used in industry e.g. diamond saws</a:t>
            </a:r>
          </a:p>
          <a:p>
            <a:r>
              <a:rPr lang="en-GB" dirty="0"/>
              <a:t>Other abrasives include corundum and garnet </a:t>
            </a:r>
          </a:p>
          <a:p>
            <a:endParaRPr lang="en-GB" dirty="0"/>
          </a:p>
          <a:p>
            <a:endParaRPr lang="en-GB" dirty="0"/>
          </a:p>
          <a:p>
            <a:endParaRPr lang="en-GB" dirty="0"/>
          </a:p>
        </p:txBody>
      </p:sp>
      <p:pic>
        <p:nvPicPr>
          <p:cNvPr id="1026" name="Picture 2" descr="diamond crystal stru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5776" y="1196752"/>
            <a:ext cx="2592288" cy="194421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385665" y="3120044"/>
            <a:ext cx="2607702" cy="369332"/>
          </a:xfrm>
          <a:prstGeom prst="rect">
            <a:avLst/>
          </a:prstGeom>
          <a:noFill/>
        </p:spPr>
        <p:txBody>
          <a:bodyPr wrap="none" rtlCol="0">
            <a:spAutoFit/>
          </a:bodyPr>
          <a:lstStyle/>
          <a:p>
            <a:r>
              <a:rPr lang="en-GB" i="1" dirty="0"/>
              <a:t>Diamond crystal structure</a:t>
            </a:r>
          </a:p>
        </p:txBody>
      </p:sp>
      <p:pic>
        <p:nvPicPr>
          <p:cNvPr id="1028" name="Picture 4" descr="graphite crystal structu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5776" y="3489376"/>
            <a:ext cx="2592288" cy="194421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6360550" y="5433592"/>
            <a:ext cx="2561983" cy="369332"/>
          </a:xfrm>
          <a:prstGeom prst="rect">
            <a:avLst/>
          </a:prstGeom>
          <a:noFill/>
        </p:spPr>
        <p:txBody>
          <a:bodyPr wrap="none" rtlCol="0">
            <a:spAutoFit/>
          </a:bodyPr>
          <a:lstStyle/>
          <a:p>
            <a:r>
              <a:rPr lang="en-GB" i="1" dirty="0"/>
              <a:t>Graphite crystal structure</a:t>
            </a:r>
          </a:p>
        </p:txBody>
      </p:sp>
      <p:pic>
        <p:nvPicPr>
          <p:cNvPr id="1030" name="Picture 6" descr="http://4cs.gia.edu/images/synthetic_diamonds.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36781" y="2348880"/>
            <a:ext cx="2223769" cy="1165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13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err="1"/>
              <a:t>Kimberlite</a:t>
            </a:r>
            <a:r>
              <a:rPr lang="en-GB" dirty="0"/>
              <a:t> pipes</a:t>
            </a:r>
          </a:p>
        </p:txBody>
      </p:sp>
      <p:sp>
        <p:nvSpPr>
          <p:cNvPr id="3" name="Content Placeholder 2"/>
          <p:cNvSpPr>
            <a:spLocks noGrp="1"/>
          </p:cNvSpPr>
          <p:nvPr>
            <p:ph sz="half" idx="1"/>
          </p:nvPr>
        </p:nvSpPr>
        <p:spPr>
          <a:xfrm>
            <a:off x="457200" y="1600200"/>
            <a:ext cx="4038600" cy="5069160"/>
          </a:xfrm>
        </p:spPr>
        <p:txBody>
          <a:bodyPr>
            <a:normAutofit fontScale="70000" lnSpcReduction="20000"/>
          </a:bodyPr>
          <a:lstStyle/>
          <a:p>
            <a:r>
              <a:rPr lang="en-GB" dirty="0"/>
              <a:t>Diamonds form at: </a:t>
            </a:r>
          </a:p>
          <a:p>
            <a:pPr lvl="1"/>
            <a:r>
              <a:rPr lang="en-GB" dirty="0"/>
              <a:t>high pressures (above 30 kb) at depths of 150 km </a:t>
            </a:r>
          </a:p>
          <a:p>
            <a:pPr lvl="1"/>
            <a:r>
              <a:rPr lang="en-GB" dirty="0"/>
              <a:t>high temperatures (1000°C)</a:t>
            </a:r>
          </a:p>
          <a:p>
            <a:r>
              <a:rPr lang="en-GB" dirty="0"/>
              <a:t>Kimberlites = igneous rocks </a:t>
            </a:r>
            <a:r>
              <a:rPr lang="en-US" dirty="0"/>
              <a:t>highly enriched in magnesium and volatiles (CO</a:t>
            </a:r>
            <a:r>
              <a:rPr lang="en-US" baseline="-25000" dirty="0"/>
              <a:t>2</a:t>
            </a:r>
            <a:r>
              <a:rPr lang="en-US" dirty="0"/>
              <a:t> and H</a:t>
            </a:r>
            <a:r>
              <a:rPr lang="en-US" baseline="-25000" dirty="0"/>
              <a:t>2</a:t>
            </a:r>
            <a:r>
              <a:rPr lang="en-US" dirty="0"/>
              <a:t>O)</a:t>
            </a:r>
            <a:endParaRPr lang="en-GB" dirty="0"/>
          </a:p>
          <a:p>
            <a:r>
              <a:rPr lang="en-GB" dirty="0"/>
              <a:t>Originate in the Earth’s mantle (150+ km depth)</a:t>
            </a:r>
          </a:p>
          <a:p>
            <a:r>
              <a:rPr lang="en-GB" dirty="0"/>
              <a:t>Form ‘pipes’ as magma transports diamonds to the surface</a:t>
            </a:r>
          </a:p>
          <a:p>
            <a:r>
              <a:rPr lang="en-GB" dirty="0"/>
              <a:t>Also form in </a:t>
            </a:r>
            <a:r>
              <a:rPr lang="en-GB" dirty="0" err="1"/>
              <a:t>Lamproite</a:t>
            </a:r>
            <a:r>
              <a:rPr lang="en-GB" dirty="0"/>
              <a:t> pipes (shallower deposits) and at the site of asteroid impacts (</a:t>
            </a:r>
            <a:r>
              <a:rPr lang="en-GB" dirty="0" err="1"/>
              <a:t>Popigai</a:t>
            </a:r>
            <a:r>
              <a:rPr lang="en-GB" dirty="0"/>
              <a:t>, Russia)</a:t>
            </a:r>
          </a:p>
          <a:p>
            <a:r>
              <a:rPr lang="en-GB" dirty="0"/>
              <a:t>Secondary deposits = diamond placers</a:t>
            </a:r>
          </a:p>
        </p:txBody>
      </p:sp>
      <p:pic>
        <p:nvPicPr>
          <p:cNvPr id="2050" name="Picture 2" descr="http://www.difmond.com/image/Education_clip_image00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846138"/>
            <a:ext cx="4369474" cy="5184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9849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orld Wide Diamondiferous Deposi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01" y="359400"/>
            <a:ext cx="8834654" cy="460851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0" y="5032228"/>
            <a:ext cx="8831206" cy="923330"/>
          </a:xfrm>
          <a:prstGeom prst="rect">
            <a:avLst/>
          </a:prstGeom>
        </p:spPr>
        <p:txBody>
          <a:bodyPr wrap="square">
            <a:spAutoFit/>
          </a:bodyPr>
          <a:lstStyle/>
          <a:p>
            <a:pPr marL="285750" indent="-285750">
              <a:buFont typeface="Arial" panose="020B0604020202020204" pitchFamily="34" charset="0"/>
              <a:buChar char="•"/>
            </a:pPr>
            <a:r>
              <a:rPr lang="en-US" b="0" i="0" dirty="0">
                <a:solidFill>
                  <a:srgbClr val="000000"/>
                </a:solidFill>
                <a:effectLst/>
                <a:latin typeface="Helvetica" panose="020B0604020202020204" pitchFamily="34" charset="0"/>
              </a:rPr>
              <a:t>Of the kimberlites discovered to date, only 3% are significantly diamondiferous (i.e., containing </a:t>
            </a:r>
            <a:r>
              <a:rPr lang="en-US" b="0" i="0" dirty="0" err="1">
                <a:solidFill>
                  <a:srgbClr val="000000"/>
                </a:solidFill>
                <a:effectLst/>
                <a:latin typeface="Helvetica" panose="020B0604020202020204" pitchFamily="34" charset="0"/>
              </a:rPr>
              <a:t>macrodiamonds</a:t>
            </a:r>
            <a:r>
              <a:rPr lang="en-US" b="0" i="0" dirty="0">
                <a:solidFill>
                  <a:srgbClr val="000000"/>
                </a:solidFill>
                <a:effectLst/>
                <a:latin typeface="Helvetica" panose="020B0604020202020204" pitchFamily="34" charset="0"/>
              </a:rPr>
              <a:t> at a grade &gt;1 carat per hundred tons) </a:t>
            </a:r>
          </a:p>
          <a:p>
            <a:pPr marL="285750" indent="-285750">
              <a:buFont typeface="Arial" panose="020B0604020202020204" pitchFamily="34" charset="0"/>
              <a:buChar char="•"/>
            </a:pPr>
            <a:r>
              <a:rPr lang="en-US" b="0" i="0" dirty="0">
                <a:solidFill>
                  <a:srgbClr val="000000"/>
                </a:solidFill>
                <a:effectLst/>
                <a:latin typeface="Helvetica" panose="020B0604020202020204" pitchFamily="34" charset="0"/>
              </a:rPr>
              <a:t>Less than 100 kimberlites have been commercially mined for diamonds</a:t>
            </a:r>
            <a:endParaRPr lang="en-GB" dirty="0"/>
          </a:p>
        </p:txBody>
      </p:sp>
      <p:sp>
        <p:nvSpPr>
          <p:cNvPr id="3" name="TextBox 2">
            <a:extLst>
              <a:ext uri="{FF2B5EF4-FFF2-40B4-BE49-F238E27FC236}">
                <a16:creationId xmlns:a16="http://schemas.microsoft.com/office/drawing/2014/main" id="{A4019D2E-D3CD-0941-F21F-B5A84A03287C}"/>
              </a:ext>
            </a:extLst>
          </p:cNvPr>
          <p:cNvSpPr txBox="1"/>
          <p:nvPr/>
        </p:nvSpPr>
        <p:spPr>
          <a:xfrm>
            <a:off x="3923881" y="6391870"/>
            <a:ext cx="5300505" cy="461665"/>
          </a:xfrm>
          <a:prstGeom prst="rect">
            <a:avLst/>
          </a:prstGeom>
          <a:noFill/>
        </p:spPr>
        <p:txBody>
          <a:bodyPr wrap="square">
            <a:spAutoFit/>
          </a:bodyPr>
          <a:lstStyle/>
          <a:p>
            <a:r>
              <a:rPr lang="en-GB" sz="1200" dirty="0"/>
              <a:t>https://www-elementsmagazine-org.manchester.idm.oclc.org/kimberlites-from-deep-earth-to-diamond-mines/</a:t>
            </a:r>
          </a:p>
        </p:txBody>
      </p:sp>
    </p:spTree>
    <p:extLst>
      <p:ext uri="{BB962C8B-B14F-4D97-AF65-F5344CB8AC3E}">
        <p14:creationId xmlns:p14="http://schemas.microsoft.com/office/powerpoint/2010/main" val="1777893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t>GOLD</a:t>
            </a:r>
          </a:p>
        </p:txBody>
      </p:sp>
      <p:sp>
        <p:nvSpPr>
          <p:cNvPr id="6" name="Text Placeholder 5"/>
          <p:cNvSpPr>
            <a:spLocks noGrp="1"/>
          </p:cNvSpPr>
          <p:nvPr>
            <p:ph type="body" idx="1"/>
          </p:nvPr>
        </p:nvSpPr>
        <p:spPr/>
        <p:txBody>
          <a:bodyPr/>
          <a:lstStyle/>
          <a:p>
            <a:endParaRPr lang="en-GB"/>
          </a:p>
        </p:txBody>
      </p:sp>
    </p:spTree>
    <p:extLst>
      <p:ext uri="{BB962C8B-B14F-4D97-AF65-F5344CB8AC3E}">
        <p14:creationId xmlns:p14="http://schemas.microsoft.com/office/powerpoint/2010/main" val="4019689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Gold</a:t>
            </a:r>
          </a:p>
        </p:txBody>
      </p:sp>
      <p:sp>
        <p:nvSpPr>
          <p:cNvPr id="3" name="Content Placeholder 2"/>
          <p:cNvSpPr>
            <a:spLocks noGrp="1"/>
          </p:cNvSpPr>
          <p:nvPr>
            <p:ph sz="half" idx="1"/>
          </p:nvPr>
        </p:nvSpPr>
        <p:spPr/>
        <p:txBody>
          <a:bodyPr>
            <a:normAutofit fontScale="92500" lnSpcReduction="10000"/>
          </a:bodyPr>
          <a:lstStyle/>
          <a:p>
            <a:r>
              <a:rPr lang="en-GB" dirty="0"/>
              <a:t>Corrosion and chemical resistant</a:t>
            </a:r>
          </a:p>
          <a:p>
            <a:r>
              <a:rPr lang="en-GB" dirty="0"/>
              <a:t>Most of the gold mined is still in use today-durable</a:t>
            </a:r>
          </a:p>
          <a:p>
            <a:r>
              <a:rPr lang="en-GB" dirty="0"/>
              <a:t>First used in ornamentation</a:t>
            </a:r>
          </a:p>
          <a:p>
            <a:r>
              <a:rPr lang="en-GB" dirty="0"/>
              <a:t>Rarity = value for monetary purposes</a:t>
            </a:r>
          </a:p>
          <a:p>
            <a:r>
              <a:rPr lang="en-GB" dirty="0"/>
              <a:t>Now used in aerospace, electronics, jewellery and special alloys</a:t>
            </a:r>
          </a:p>
          <a:p>
            <a:endParaRPr lang="en-GB" dirty="0"/>
          </a:p>
          <a:p>
            <a:endParaRPr lang="en-GB" dirty="0"/>
          </a:p>
          <a:p>
            <a:endParaRPr lang="en-GB" dirty="0"/>
          </a:p>
        </p:txBody>
      </p:sp>
      <p:pic>
        <p:nvPicPr>
          <p:cNvPr id="8194" name="Picture 2" descr="http://timiacono.com/wp-content/uploads/12-02-16_gold_deman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9865" y="3852061"/>
            <a:ext cx="4420043" cy="3005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4" descr="5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9688" y="1142181"/>
            <a:ext cx="1952796" cy="1364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4" descr="http://www.nist.gov/public_affairs/releases/images/04PHY011_ChipScaleClock2_HR.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8024" y="1552439"/>
            <a:ext cx="1903416" cy="1882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8455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19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Gold deposits</a:t>
            </a:r>
          </a:p>
        </p:txBody>
      </p:sp>
      <p:sp>
        <p:nvSpPr>
          <p:cNvPr id="3" name="Content Placeholder 2"/>
          <p:cNvSpPr>
            <a:spLocks noGrp="1"/>
          </p:cNvSpPr>
          <p:nvPr>
            <p:ph sz="half" idx="1"/>
          </p:nvPr>
        </p:nvSpPr>
        <p:spPr/>
        <p:txBody>
          <a:bodyPr/>
          <a:lstStyle/>
          <a:p>
            <a:r>
              <a:rPr lang="en-GB" dirty="0"/>
              <a:t>Two main types:</a:t>
            </a:r>
          </a:p>
          <a:p>
            <a:pPr lvl="1"/>
            <a:r>
              <a:rPr lang="en-GB" dirty="0"/>
              <a:t>Hydrothermal </a:t>
            </a:r>
          </a:p>
          <a:p>
            <a:pPr lvl="1"/>
            <a:r>
              <a:rPr lang="en-GB" dirty="0"/>
              <a:t>Placer</a:t>
            </a:r>
          </a:p>
          <a:p>
            <a:r>
              <a:rPr lang="en-GB" dirty="0"/>
              <a:t>Minerals</a:t>
            </a:r>
          </a:p>
          <a:p>
            <a:pPr lvl="1"/>
            <a:r>
              <a:rPr lang="en-GB" dirty="0"/>
              <a:t>Native gold –most abundant</a:t>
            </a:r>
          </a:p>
          <a:p>
            <a:pPr lvl="1"/>
            <a:r>
              <a:rPr lang="en-GB" dirty="0" err="1"/>
              <a:t>Calaverite</a:t>
            </a:r>
            <a:r>
              <a:rPr lang="en-GB" dirty="0"/>
              <a:t> AuTe</a:t>
            </a:r>
            <a:r>
              <a:rPr lang="en-GB" baseline="-25000" dirty="0"/>
              <a:t>2</a:t>
            </a:r>
          </a:p>
          <a:p>
            <a:pPr lvl="1"/>
            <a:r>
              <a:rPr lang="en-GB" dirty="0" err="1"/>
              <a:t>Sylvanite</a:t>
            </a:r>
            <a:r>
              <a:rPr lang="en-GB" dirty="0"/>
              <a:t> (</a:t>
            </a:r>
            <a:r>
              <a:rPr lang="en-GB" dirty="0" err="1"/>
              <a:t>AuAg</a:t>
            </a:r>
            <a:r>
              <a:rPr lang="en-GB" dirty="0"/>
              <a:t>)Te</a:t>
            </a:r>
            <a:r>
              <a:rPr lang="en-GB" baseline="-25000" dirty="0"/>
              <a:t>2</a:t>
            </a:r>
          </a:p>
        </p:txBody>
      </p:sp>
      <p:pic>
        <p:nvPicPr>
          <p:cNvPr id="9218" name="Picture 2" descr="http://www.zambia-mining.com/gold%20vei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3964" y="1124744"/>
            <a:ext cx="2412776" cy="1606909"/>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Calaverite-21466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2924944"/>
            <a:ext cx="2286000" cy="193357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804248" y="3089164"/>
            <a:ext cx="1171539" cy="369332"/>
          </a:xfrm>
          <a:prstGeom prst="rect">
            <a:avLst/>
          </a:prstGeom>
        </p:spPr>
        <p:txBody>
          <a:bodyPr wrap="none">
            <a:spAutoFit/>
          </a:bodyPr>
          <a:lstStyle/>
          <a:p>
            <a:r>
              <a:rPr lang="en-GB" dirty="0" err="1"/>
              <a:t>Calaverite</a:t>
            </a:r>
            <a:r>
              <a:rPr lang="en-GB" dirty="0"/>
              <a:t> </a:t>
            </a:r>
          </a:p>
        </p:txBody>
      </p:sp>
      <p:pic>
        <p:nvPicPr>
          <p:cNvPr id="9222" name="Picture 6" descr="http://www.mineral-forum.com/message-board/files/sylvanite_with_quartz_rumania_47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0992" y="4725144"/>
            <a:ext cx="2664296" cy="190497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182757" y="6299905"/>
            <a:ext cx="1073627" cy="369332"/>
          </a:xfrm>
          <a:prstGeom prst="rect">
            <a:avLst/>
          </a:prstGeom>
        </p:spPr>
        <p:txBody>
          <a:bodyPr wrap="none">
            <a:spAutoFit/>
          </a:bodyPr>
          <a:lstStyle/>
          <a:p>
            <a:r>
              <a:rPr lang="en-GB" dirty="0" err="1"/>
              <a:t>Sylvanite</a:t>
            </a:r>
            <a:r>
              <a:rPr lang="en-GB" dirty="0"/>
              <a:t> </a:t>
            </a:r>
          </a:p>
        </p:txBody>
      </p:sp>
      <p:sp>
        <p:nvSpPr>
          <p:cNvPr id="7" name="Rectangle 6"/>
          <p:cNvSpPr/>
          <p:nvPr/>
        </p:nvSpPr>
        <p:spPr>
          <a:xfrm>
            <a:off x="5872829" y="1124744"/>
            <a:ext cx="679994" cy="369332"/>
          </a:xfrm>
          <a:prstGeom prst="rect">
            <a:avLst/>
          </a:prstGeom>
        </p:spPr>
        <p:txBody>
          <a:bodyPr wrap="none">
            <a:spAutoFit/>
          </a:bodyPr>
          <a:lstStyle/>
          <a:p>
            <a:r>
              <a:rPr lang="en-GB" dirty="0"/>
              <a:t>Gold </a:t>
            </a:r>
          </a:p>
        </p:txBody>
      </p:sp>
    </p:spTree>
    <p:extLst>
      <p:ext uri="{BB962C8B-B14F-4D97-AF65-F5344CB8AC3E}">
        <p14:creationId xmlns:p14="http://schemas.microsoft.com/office/powerpoint/2010/main" val="3395216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2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2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2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Hydrothermal Au deposits</a:t>
            </a:r>
          </a:p>
        </p:txBody>
      </p:sp>
      <p:sp>
        <p:nvSpPr>
          <p:cNvPr id="3" name="Content Placeholder 2"/>
          <p:cNvSpPr>
            <a:spLocks noGrp="1"/>
          </p:cNvSpPr>
          <p:nvPr>
            <p:ph sz="half" idx="1"/>
          </p:nvPr>
        </p:nvSpPr>
        <p:spPr/>
        <p:txBody>
          <a:bodyPr>
            <a:normAutofit fontScale="77500" lnSpcReduction="20000"/>
          </a:bodyPr>
          <a:lstStyle/>
          <a:p>
            <a:r>
              <a:rPr lang="en-GB" dirty="0"/>
              <a:t>Hydrothermal veins formed often in close association with granitic intrusions</a:t>
            </a:r>
          </a:p>
          <a:p>
            <a:r>
              <a:rPr lang="en-GB" dirty="0"/>
              <a:t>Gold-bearing hydrothermal solutions move along fractures in rocks and cooling/changing pressure/mixing fluids occurs</a:t>
            </a:r>
          </a:p>
          <a:p>
            <a:r>
              <a:rPr lang="en-GB" dirty="0"/>
              <a:t>Au deposits form in veins associated often with </a:t>
            </a:r>
            <a:r>
              <a:rPr lang="en-GB" dirty="0" err="1"/>
              <a:t>quartz+sulfide</a:t>
            </a:r>
            <a:r>
              <a:rPr lang="en-GB" dirty="0"/>
              <a:t> minerals</a:t>
            </a:r>
          </a:p>
          <a:p>
            <a:r>
              <a:rPr lang="en-GB" dirty="0"/>
              <a:t>Often v. small</a:t>
            </a:r>
          </a:p>
          <a:p>
            <a:r>
              <a:rPr lang="en-GB" dirty="0"/>
              <a:t>Can be found as lower grade deposits</a:t>
            </a:r>
          </a:p>
          <a:p>
            <a:pPr lvl="1"/>
            <a:r>
              <a:rPr lang="en-GB" dirty="0"/>
              <a:t>Hot springs</a:t>
            </a:r>
          </a:p>
          <a:p>
            <a:pPr lvl="1"/>
            <a:r>
              <a:rPr lang="en-GB" dirty="0"/>
              <a:t>Cu porphyries</a:t>
            </a:r>
          </a:p>
          <a:p>
            <a:endParaRPr lang="en-GB" dirty="0"/>
          </a:p>
          <a:p>
            <a:endParaRPr lang="en-GB" dirty="0"/>
          </a:p>
        </p:txBody>
      </p:sp>
      <p:pic>
        <p:nvPicPr>
          <p:cNvPr id="10242" name="Picture 2" descr="http://web-japan.org/nipponia/nipponia45/en/images/11_0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1412776"/>
            <a:ext cx="3888432" cy="2553404"/>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ttp://imagecache6.allposters.com/LRG/64/6465/XNUH100Z.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9288" y="4293096"/>
            <a:ext cx="3089920" cy="2317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867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Gold placer deposits</a:t>
            </a:r>
          </a:p>
        </p:txBody>
      </p:sp>
      <p:sp>
        <p:nvSpPr>
          <p:cNvPr id="3" name="Content Placeholder 2"/>
          <p:cNvSpPr>
            <a:spLocks noGrp="1"/>
          </p:cNvSpPr>
          <p:nvPr>
            <p:ph sz="half" idx="1"/>
          </p:nvPr>
        </p:nvSpPr>
        <p:spPr/>
        <p:txBody>
          <a:bodyPr>
            <a:normAutofit/>
          </a:bodyPr>
          <a:lstStyle/>
          <a:p>
            <a:r>
              <a:rPr lang="en-GB" dirty="0"/>
              <a:t>Gold is weathered out from primary deposits</a:t>
            </a:r>
          </a:p>
          <a:p>
            <a:r>
              <a:rPr lang="en-GB" dirty="0"/>
              <a:t>Concentrated through density by flowing water</a:t>
            </a:r>
          </a:p>
          <a:p>
            <a:r>
              <a:rPr lang="en-GB" dirty="0"/>
              <a:t>These alluvial deposits created the California Gold rush in 1849</a:t>
            </a:r>
          </a:p>
        </p:txBody>
      </p:sp>
      <p:pic>
        <p:nvPicPr>
          <p:cNvPr id="11266" name="Picture 2" descr="http://astro.wsu.edu/worthey/earth/html/im-resources/placer-deposit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6136" y="1196752"/>
            <a:ext cx="2880320" cy="3722168"/>
          </a:xfrm>
          <a:prstGeom prst="rect">
            <a:avLst/>
          </a:prstGeom>
          <a:noFill/>
          <a:extLst>
            <a:ext uri="{909E8E84-426E-40DD-AFC4-6F175D3DCCD1}">
              <a14:hiddenFill xmlns:a14="http://schemas.microsoft.com/office/drawing/2010/main">
                <a:solidFill>
                  <a:srgbClr val="FFFFFF"/>
                </a:solidFill>
              </a14:hiddenFill>
            </a:ext>
          </a:extLst>
        </p:spPr>
      </p:pic>
      <p:pic>
        <p:nvPicPr>
          <p:cNvPr id="1127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4918920"/>
            <a:ext cx="2520280" cy="16891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47506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Witwatersrand Au deposits</a:t>
            </a:r>
          </a:p>
        </p:txBody>
      </p:sp>
      <p:sp>
        <p:nvSpPr>
          <p:cNvPr id="3" name="Content Placeholder 2"/>
          <p:cNvSpPr>
            <a:spLocks noGrp="1"/>
          </p:cNvSpPr>
          <p:nvPr>
            <p:ph sz="half" idx="1"/>
          </p:nvPr>
        </p:nvSpPr>
        <p:spPr/>
        <p:txBody>
          <a:bodyPr>
            <a:normAutofit fontScale="92500" lnSpcReduction="20000"/>
          </a:bodyPr>
          <a:lstStyle/>
          <a:p>
            <a:r>
              <a:rPr lang="en-GB" dirty="0"/>
              <a:t>South Africa 1886</a:t>
            </a:r>
          </a:p>
          <a:p>
            <a:r>
              <a:rPr lang="en-GB" dirty="0"/>
              <a:t>Ancient placers</a:t>
            </a:r>
          </a:p>
          <a:p>
            <a:r>
              <a:rPr lang="en-GB" dirty="0"/>
              <a:t>Formation</a:t>
            </a:r>
          </a:p>
          <a:p>
            <a:pPr lvl="1"/>
            <a:r>
              <a:rPr lang="en-GB" dirty="0"/>
              <a:t>Conglomerates laid down in a shallow marine basin (2.3-2.8 billion years ago)</a:t>
            </a:r>
          </a:p>
          <a:p>
            <a:pPr lvl="1"/>
            <a:r>
              <a:rPr lang="en-GB" dirty="0"/>
              <a:t>Brought in by rivers from unknown primary sources in low oxygen conditions.</a:t>
            </a:r>
          </a:p>
          <a:p>
            <a:pPr lvl="1"/>
            <a:r>
              <a:rPr lang="en-GB" dirty="0"/>
              <a:t>Associated with pyrite and uranium deposits</a:t>
            </a:r>
          </a:p>
          <a:p>
            <a:r>
              <a:rPr lang="en-GB" dirty="0"/>
              <a:t>One of the worlds deepest mine 3.5 km</a:t>
            </a:r>
          </a:p>
        </p:txBody>
      </p:sp>
      <p:grpSp>
        <p:nvGrpSpPr>
          <p:cNvPr id="9" name="Group 32"/>
          <p:cNvGrpSpPr>
            <a:grpSpLocks/>
          </p:cNvGrpSpPr>
          <p:nvPr/>
        </p:nvGrpSpPr>
        <p:grpSpPr bwMode="auto">
          <a:xfrm>
            <a:off x="6063309" y="4216208"/>
            <a:ext cx="3097212" cy="2690813"/>
            <a:chOff x="295" y="2931"/>
            <a:chExt cx="1632" cy="1389"/>
          </a:xfrm>
        </p:grpSpPr>
        <p:pic>
          <p:nvPicPr>
            <p:cNvPr id="10" name="Picture 29" descr="69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 y="2931"/>
              <a:ext cx="1632" cy="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30"/>
            <p:cNvSpPr txBox="1">
              <a:spLocks noChangeArrowheads="1"/>
            </p:cNvSpPr>
            <p:nvPr/>
          </p:nvSpPr>
          <p:spPr bwMode="auto">
            <a:xfrm>
              <a:off x="295" y="4156"/>
              <a:ext cx="1632" cy="14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en-GB" sz="1200">
                  <a:latin typeface="Book Antiqua" charset="0"/>
                  <a:ea typeface="ＭＳ Ｐゴシック" charset="0"/>
                </a:rPr>
                <a:t>Old gold mines, South Africa</a:t>
              </a:r>
            </a:p>
          </p:txBody>
        </p:sp>
        <p:sp>
          <p:nvSpPr>
            <p:cNvPr id="12" name="Rectangle 31"/>
            <p:cNvSpPr>
              <a:spLocks noChangeArrowheads="1"/>
            </p:cNvSpPr>
            <p:nvPr/>
          </p:nvSpPr>
          <p:spPr bwMode="auto">
            <a:xfrm>
              <a:off x="295" y="2931"/>
              <a:ext cx="1632" cy="1389"/>
            </a:xfrm>
            <a:prstGeom prst="rect">
              <a:avLst/>
            </a:prstGeom>
            <a:noFill/>
            <a:ln w="317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grpSp>
      <p:pic>
        <p:nvPicPr>
          <p:cNvPr id="12290" name="Picture 2" descr="https://encrypted-tbn1.gstatic.com/images?q=tbn:ANd9GcTRQpD7v2SwBjvnrPJ_WJh801GG7w2yNQMBxs-F_zobp9M6FV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1318" y="2924944"/>
            <a:ext cx="2823982" cy="2088232"/>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http://uanews.org/sites/default/files/styles/blog_image_large_600px_w/public/story-images/goldmap9_12.jpg?itok=pVAoAsA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32240" y="1268760"/>
            <a:ext cx="2304256" cy="230425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7114022" y="1312237"/>
            <a:ext cx="995785" cy="369332"/>
          </a:xfrm>
          <a:prstGeom prst="rect">
            <a:avLst/>
          </a:prstGeom>
          <a:solidFill>
            <a:schemeClr val="bg1"/>
          </a:solidFill>
        </p:spPr>
        <p:txBody>
          <a:bodyPr wrap="none" rtlCol="0">
            <a:spAutoFit/>
          </a:bodyPr>
          <a:lstStyle/>
          <a:p>
            <a:r>
              <a:rPr lang="en-GB" dirty="0"/>
              <a:t>Au fields</a:t>
            </a:r>
          </a:p>
        </p:txBody>
      </p:sp>
    </p:spTree>
    <p:extLst>
      <p:ext uri="{BB962C8B-B14F-4D97-AF65-F5344CB8AC3E}">
        <p14:creationId xmlns:p14="http://schemas.microsoft.com/office/powerpoint/2010/main" val="384393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29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163AF-4244-C615-277A-BEE695EDA44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EAD63BC-0940-A6CB-B31F-3202F783B04D}"/>
              </a:ext>
            </a:extLst>
          </p:cNvPr>
          <p:cNvSpPr>
            <a:spLocks noGrp="1"/>
          </p:cNvSpPr>
          <p:nvPr>
            <p:ph sz="half" idx="1"/>
          </p:nvPr>
        </p:nvSpPr>
        <p:spPr/>
        <p:txBody>
          <a:bodyPr/>
          <a:lstStyle/>
          <a:p>
            <a:endParaRPr lang="en-GB"/>
          </a:p>
        </p:txBody>
      </p:sp>
      <p:sp>
        <p:nvSpPr>
          <p:cNvPr id="4" name="Content Placeholder 3">
            <a:extLst>
              <a:ext uri="{FF2B5EF4-FFF2-40B4-BE49-F238E27FC236}">
                <a16:creationId xmlns:a16="http://schemas.microsoft.com/office/drawing/2014/main" id="{13831977-D414-5048-F895-70C71EFBB837}"/>
              </a:ext>
            </a:extLst>
          </p:cNvPr>
          <p:cNvSpPr>
            <a:spLocks noGrp="1"/>
          </p:cNvSpPr>
          <p:nvPr>
            <p:ph sz="half" idx="2"/>
          </p:nvPr>
        </p:nvSpPr>
        <p:spPr/>
        <p:txBody>
          <a:bodyPr/>
          <a:lstStyle/>
          <a:p>
            <a:endParaRPr lang="en-GB"/>
          </a:p>
        </p:txBody>
      </p:sp>
      <p:pic>
        <p:nvPicPr>
          <p:cNvPr id="6" name="Picture 5">
            <a:extLst>
              <a:ext uri="{FF2B5EF4-FFF2-40B4-BE49-F238E27FC236}">
                <a16:creationId xmlns:a16="http://schemas.microsoft.com/office/drawing/2014/main" id="{DE914C08-038A-0E4C-C31B-A29C0D69D120}"/>
              </a:ext>
            </a:extLst>
          </p:cNvPr>
          <p:cNvPicPr>
            <a:picLocks noChangeAspect="1"/>
          </p:cNvPicPr>
          <p:nvPr/>
        </p:nvPicPr>
        <p:blipFill>
          <a:blip r:embed="rId2"/>
          <a:stretch>
            <a:fillRect/>
          </a:stretch>
        </p:blipFill>
        <p:spPr>
          <a:xfrm>
            <a:off x="0" y="412897"/>
            <a:ext cx="9144000" cy="6032205"/>
          </a:xfrm>
          <a:prstGeom prst="rect">
            <a:avLst/>
          </a:prstGeom>
        </p:spPr>
      </p:pic>
    </p:spTree>
    <p:extLst>
      <p:ext uri="{BB962C8B-B14F-4D97-AF65-F5344CB8AC3E}">
        <p14:creationId xmlns:p14="http://schemas.microsoft.com/office/powerpoint/2010/main" val="2100618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D5E37B-1BE0-5475-40CD-189A9E90FD4B}"/>
              </a:ext>
            </a:extLst>
          </p:cNvPr>
          <p:cNvSpPr>
            <a:spLocks noGrp="1"/>
          </p:cNvSpPr>
          <p:nvPr>
            <p:ph type="title"/>
          </p:nvPr>
        </p:nvSpPr>
        <p:spPr/>
        <p:txBody>
          <a:bodyPr/>
          <a:lstStyle/>
          <a:p>
            <a:r>
              <a:rPr lang="en-GB" dirty="0"/>
              <a:t>Rare earth elements</a:t>
            </a:r>
          </a:p>
        </p:txBody>
      </p:sp>
    </p:spTree>
    <p:extLst>
      <p:ext uri="{BB962C8B-B14F-4D97-AF65-F5344CB8AC3E}">
        <p14:creationId xmlns:p14="http://schemas.microsoft.com/office/powerpoint/2010/main" val="678130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31A004-85F8-10D1-6AA3-569BA7410F7F}"/>
              </a:ext>
            </a:extLst>
          </p:cNvPr>
          <p:cNvPicPr>
            <a:picLocks noChangeAspect="1"/>
          </p:cNvPicPr>
          <p:nvPr/>
        </p:nvPicPr>
        <p:blipFill>
          <a:blip r:embed="rId2"/>
          <a:stretch>
            <a:fillRect/>
          </a:stretch>
        </p:blipFill>
        <p:spPr>
          <a:xfrm>
            <a:off x="254896" y="239753"/>
            <a:ext cx="8634208" cy="6378493"/>
          </a:xfrm>
          <a:prstGeom prst="rect">
            <a:avLst/>
          </a:prstGeom>
        </p:spPr>
      </p:pic>
      <p:sp>
        <p:nvSpPr>
          <p:cNvPr id="5" name="TextBox 4">
            <a:extLst>
              <a:ext uri="{FF2B5EF4-FFF2-40B4-BE49-F238E27FC236}">
                <a16:creationId xmlns:a16="http://schemas.microsoft.com/office/drawing/2014/main" id="{6E1BEEC1-022C-56ED-1D0D-BECD574CD365}"/>
              </a:ext>
            </a:extLst>
          </p:cNvPr>
          <p:cNvSpPr txBox="1"/>
          <p:nvPr/>
        </p:nvSpPr>
        <p:spPr>
          <a:xfrm>
            <a:off x="5250263" y="6464357"/>
            <a:ext cx="4572000" cy="307777"/>
          </a:xfrm>
          <a:prstGeom prst="rect">
            <a:avLst/>
          </a:prstGeom>
          <a:noFill/>
        </p:spPr>
        <p:txBody>
          <a:bodyPr wrap="square">
            <a:spAutoFit/>
          </a:bodyPr>
          <a:lstStyle/>
          <a:p>
            <a:r>
              <a:rPr lang="en-GB" sz="1400" dirty="0"/>
              <a:t>https://www.eurare.org/RareEarthElements.html</a:t>
            </a:r>
          </a:p>
        </p:txBody>
      </p:sp>
    </p:spTree>
    <p:extLst>
      <p:ext uri="{BB962C8B-B14F-4D97-AF65-F5344CB8AC3E}">
        <p14:creationId xmlns:p14="http://schemas.microsoft.com/office/powerpoint/2010/main" val="17565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D49B12-20DA-9C10-FAA5-55B7204EC9CF}"/>
              </a:ext>
            </a:extLst>
          </p:cNvPr>
          <p:cNvPicPr>
            <a:picLocks noChangeAspect="1"/>
          </p:cNvPicPr>
          <p:nvPr/>
        </p:nvPicPr>
        <p:blipFill>
          <a:blip r:embed="rId3"/>
          <a:stretch>
            <a:fillRect/>
          </a:stretch>
        </p:blipFill>
        <p:spPr>
          <a:xfrm>
            <a:off x="4278855" y="894303"/>
            <a:ext cx="4609889" cy="4551903"/>
          </a:xfrm>
          <a:prstGeom prst="rect">
            <a:avLst/>
          </a:prstGeom>
        </p:spPr>
      </p:pic>
      <p:sp>
        <p:nvSpPr>
          <p:cNvPr id="7" name="Content Placeholder 6">
            <a:extLst>
              <a:ext uri="{FF2B5EF4-FFF2-40B4-BE49-F238E27FC236}">
                <a16:creationId xmlns:a16="http://schemas.microsoft.com/office/drawing/2014/main" id="{F6E28F51-4360-39B4-77AC-21971B5276EC}"/>
              </a:ext>
            </a:extLst>
          </p:cNvPr>
          <p:cNvSpPr>
            <a:spLocks noGrp="1"/>
          </p:cNvSpPr>
          <p:nvPr>
            <p:ph idx="1"/>
          </p:nvPr>
        </p:nvSpPr>
        <p:spPr>
          <a:xfrm>
            <a:off x="255256" y="361671"/>
            <a:ext cx="3874617" cy="5853113"/>
          </a:xfrm>
        </p:spPr>
        <p:txBody>
          <a:bodyPr>
            <a:normAutofit/>
          </a:bodyPr>
          <a:lstStyle/>
          <a:p>
            <a:r>
              <a:rPr lang="en-GB" dirty="0"/>
              <a:t>Not rare! Similar in crustal abundance to Ni, Cr, Zn, Cu etc (</a:t>
            </a:r>
            <a:r>
              <a:rPr lang="en-US" b="0" i="0">
                <a:solidFill>
                  <a:srgbClr val="1F1F1F"/>
                </a:solidFill>
                <a:effectLst/>
                <a:latin typeface="ElsevierGulliver"/>
              </a:rPr>
              <a:t>169.1 ppm)</a:t>
            </a:r>
            <a:endParaRPr lang="en-US" b="0" i="0" dirty="0">
              <a:solidFill>
                <a:srgbClr val="1F1F1F"/>
              </a:solidFill>
              <a:effectLst/>
              <a:latin typeface="ElsevierGulliver"/>
            </a:endParaRPr>
          </a:p>
          <a:p>
            <a:r>
              <a:rPr lang="en-GB" dirty="0"/>
              <a:t>Form phosphates, silicates, carbonates, oxides and halides </a:t>
            </a:r>
          </a:p>
          <a:p>
            <a:r>
              <a:rPr lang="en-GB" dirty="0"/>
              <a:t>Rare concentrations of economically viable deposits</a:t>
            </a:r>
          </a:p>
        </p:txBody>
      </p:sp>
      <p:sp>
        <p:nvSpPr>
          <p:cNvPr id="9" name="TextBox 8">
            <a:extLst>
              <a:ext uri="{FF2B5EF4-FFF2-40B4-BE49-F238E27FC236}">
                <a16:creationId xmlns:a16="http://schemas.microsoft.com/office/drawing/2014/main" id="{32084C56-EF17-496D-A769-70EB50CD74CE}"/>
              </a:ext>
            </a:extLst>
          </p:cNvPr>
          <p:cNvSpPr txBox="1"/>
          <p:nvPr/>
        </p:nvSpPr>
        <p:spPr>
          <a:xfrm>
            <a:off x="3732282" y="5797870"/>
            <a:ext cx="5156462" cy="707886"/>
          </a:xfrm>
          <a:prstGeom prst="rect">
            <a:avLst/>
          </a:prstGeom>
          <a:noFill/>
        </p:spPr>
        <p:txBody>
          <a:bodyPr wrap="square" rtlCol="0">
            <a:spAutoFit/>
          </a:bodyPr>
          <a:lstStyle/>
          <a:p>
            <a:r>
              <a:rPr lang="en-GB" sz="2000" dirty="0"/>
              <a:t>Light Rare Earth Elements (LREEs) = La-Eu</a:t>
            </a:r>
          </a:p>
          <a:p>
            <a:r>
              <a:rPr lang="en-GB" sz="2000" dirty="0"/>
              <a:t>Heavy Rare Earth Elements (HREEs) = Y + Gd-Lu</a:t>
            </a:r>
          </a:p>
        </p:txBody>
      </p:sp>
    </p:spTree>
    <p:extLst>
      <p:ext uri="{BB962C8B-B14F-4D97-AF65-F5344CB8AC3E}">
        <p14:creationId xmlns:p14="http://schemas.microsoft.com/office/powerpoint/2010/main" val="509803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456043-BD83-413D-FBFF-A6B8742688CC}"/>
              </a:ext>
            </a:extLst>
          </p:cNvPr>
          <p:cNvPicPr>
            <a:picLocks noChangeAspect="1"/>
          </p:cNvPicPr>
          <p:nvPr/>
        </p:nvPicPr>
        <p:blipFill>
          <a:blip r:embed="rId3"/>
          <a:stretch>
            <a:fillRect/>
          </a:stretch>
        </p:blipFill>
        <p:spPr>
          <a:xfrm>
            <a:off x="0" y="490268"/>
            <a:ext cx="9144000" cy="2938732"/>
          </a:xfrm>
          <a:prstGeom prst="rect">
            <a:avLst/>
          </a:prstGeom>
        </p:spPr>
      </p:pic>
      <p:sp>
        <p:nvSpPr>
          <p:cNvPr id="5" name="Content Placeholder 4">
            <a:extLst>
              <a:ext uri="{FF2B5EF4-FFF2-40B4-BE49-F238E27FC236}">
                <a16:creationId xmlns:a16="http://schemas.microsoft.com/office/drawing/2014/main" id="{61CFAB79-AA7D-02A5-5A7C-3694D2C087A9}"/>
              </a:ext>
            </a:extLst>
          </p:cNvPr>
          <p:cNvSpPr>
            <a:spLocks noGrp="1"/>
          </p:cNvSpPr>
          <p:nvPr>
            <p:ph idx="1"/>
          </p:nvPr>
        </p:nvSpPr>
        <p:spPr>
          <a:xfrm>
            <a:off x="457200" y="3547068"/>
            <a:ext cx="8229600" cy="3225521"/>
          </a:xfrm>
        </p:spPr>
        <p:txBody>
          <a:bodyPr>
            <a:normAutofit fontScale="92500" lnSpcReduction="20000"/>
          </a:bodyPr>
          <a:lstStyle/>
          <a:p>
            <a:pPr algn="l">
              <a:buFont typeface="Arial" panose="020B0604020202020204" pitchFamily="34" charset="0"/>
              <a:buChar char="•"/>
            </a:pPr>
            <a:r>
              <a:rPr lang="en-US" b="0" i="0" dirty="0">
                <a:solidFill>
                  <a:srgbClr val="222222"/>
                </a:solidFill>
                <a:effectLst/>
                <a:latin typeface="Montserrat" panose="00000500000000000000" pitchFamily="2" charset="0"/>
              </a:rPr>
              <a:t>Primary deposits:</a:t>
            </a:r>
          </a:p>
          <a:p>
            <a:pPr lvl="1">
              <a:buFont typeface="Arial" panose="020B0604020202020204" pitchFamily="34" charset="0"/>
              <a:buChar char="•"/>
            </a:pPr>
            <a:r>
              <a:rPr lang="en-US" b="0" i="0" dirty="0">
                <a:solidFill>
                  <a:srgbClr val="222222"/>
                </a:solidFill>
                <a:effectLst/>
                <a:latin typeface="Montserrat" panose="00000500000000000000" pitchFamily="2" charset="0"/>
              </a:rPr>
              <a:t>Carbonatites e.g. Mountain Pass, USA</a:t>
            </a:r>
          </a:p>
          <a:p>
            <a:pPr lvl="1">
              <a:buFont typeface="Arial" panose="020B0604020202020204" pitchFamily="34" charset="0"/>
              <a:buChar char="•"/>
            </a:pPr>
            <a:r>
              <a:rPr lang="en-US" b="0" i="0" dirty="0">
                <a:solidFill>
                  <a:srgbClr val="222222"/>
                </a:solidFill>
                <a:effectLst/>
                <a:latin typeface="Montserrat" panose="00000500000000000000" pitchFamily="2" charset="0"/>
              </a:rPr>
              <a:t>Alkaline igneous rocks e.g. </a:t>
            </a:r>
            <a:r>
              <a:rPr lang="en-US" b="0" i="0" dirty="0" err="1">
                <a:solidFill>
                  <a:srgbClr val="222222"/>
                </a:solidFill>
                <a:effectLst/>
                <a:latin typeface="Montserrat" panose="00000500000000000000" pitchFamily="2" charset="0"/>
              </a:rPr>
              <a:t>Lovozero</a:t>
            </a:r>
            <a:r>
              <a:rPr lang="en-US" b="0" i="0" dirty="0">
                <a:solidFill>
                  <a:srgbClr val="222222"/>
                </a:solidFill>
                <a:effectLst/>
                <a:latin typeface="Montserrat" panose="00000500000000000000" pitchFamily="2" charset="0"/>
              </a:rPr>
              <a:t>, Russia</a:t>
            </a:r>
          </a:p>
          <a:p>
            <a:pPr>
              <a:buFont typeface="Arial" panose="020B0604020202020204" pitchFamily="34" charset="0"/>
              <a:buChar char="•"/>
            </a:pPr>
            <a:r>
              <a:rPr lang="en-US" dirty="0">
                <a:solidFill>
                  <a:srgbClr val="222222"/>
                </a:solidFill>
                <a:latin typeface="Montserrat" panose="00000500000000000000" pitchFamily="2" charset="0"/>
              </a:rPr>
              <a:t>Secondary deposits (erosion of primary):</a:t>
            </a:r>
          </a:p>
          <a:p>
            <a:pPr lvl="1">
              <a:buFont typeface="Arial" panose="020B0604020202020204" pitchFamily="34" charset="0"/>
              <a:buChar char="•"/>
            </a:pPr>
            <a:r>
              <a:rPr lang="en-US" dirty="0">
                <a:solidFill>
                  <a:srgbClr val="222222"/>
                </a:solidFill>
                <a:latin typeface="Montserrat" panose="00000500000000000000" pitchFamily="2" charset="0"/>
              </a:rPr>
              <a:t>Placer deposits e.g. IREL Mineral Sands India</a:t>
            </a:r>
          </a:p>
          <a:p>
            <a:pPr lvl="1">
              <a:buFont typeface="Arial" panose="020B0604020202020204" pitchFamily="34" charset="0"/>
              <a:buChar char="•"/>
            </a:pPr>
            <a:r>
              <a:rPr lang="en-US" b="0" i="0" dirty="0">
                <a:solidFill>
                  <a:srgbClr val="222222"/>
                </a:solidFill>
                <a:effectLst/>
                <a:latin typeface="Montserrat" panose="00000500000000000000" pitchFamily="2" charset="0"/>
              </a:rPr>
              <a:t>Ion adsorption clays e.g. South China Clay Deposits</a:t>
            </a:r>
          </a:p>
          <a:p>
            <a:endParaRPr lang="en-GB" dirty="0"/>
          </a:p>
        </p:txBody>
      </p:sp>
    </p:spTree>
    <p:extLst>
      <p:ext uri="{BB962C8B-B14F-4D97-AF65-F5344CB8AC3E}">
        <p14:creationId xmlns:p14="http://schemas.microsoft.com/office/powerpoint/2010/main" val="11117136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E3E72B-F2A5-BC0D-3D0A-40974CDF76BF}"/>
              </a:ext>
            </a:extLst>
          </p:cNvPr>
          <p:cNvPicPr>
            <a:picLocks noChangeAspect="1"/>
          </p:cNvPicPr>
          <p:nvPr/>
        </p:nvPicPr>
        <p:blipFill>
          <a:blip r:embed="rId2"/>
          <a:stretch>
            <a:fillRect/>
          </a:stretch>
        </p:blipFill>
        <p:spPr>
          <a:xfrm>
            <a:off x="137964" y="183176"/>
            <a:ext cx="5616596" cy="2805453"/>
          </a:xfrm>
          <a:prstGeom prst="rect">
            <a:avLst/>
          </a:prstGeom>
        </p:spPr>
      </p:pic>
      <p:sp>
        <p:nvSpPr>
          <p:cNvPr id="7" name="TextBox 6">
            <a:extLst>
              <a:ext uri="{FF2B5EF4-FFF2-40B4-BE49-F238E27FC236}">
                <a16:creationId xmlns:a16="http://schemas.microsoft.com/office/drawing/2014/main" id="{2193C2B3-8E78-B259-C9C2-5B896688FCC0}"/>
              </a:ext>
            </a:extLst>
          </p:cNvPr>
          <p:cNvSpPr txBox="1"/>
          <p:nvPr/>
        </p:nvSpPr>
        <p:spPr>
          <a:xfrm>
            <a:off x="4707653" y="6367918"/>
            <a:ext cx="4572000" cy="430887"/>
          </a:xfrm>
          <a:prstGeom prst="rect">
            <a:avLst/>
          </a:prstGeom>
          <a:noFill/>
        </p:spPr>
        <p:txBody>
          <a:bodyPr wrap="square">
            <a:spAutoFit/>
          </a:bodyPr>
          <a:lstStyle/>
          <a:p>
            <a:r>
              <a:rPr lang="en-GB" sz="1100" dirty="0"/>
              <a:t>https://www.elementsmagazine.org/diversity-of-rare-earth-deposits-the-key-example-of-china/</a:t>
            </a:r>
          </a:p>
        </p:txBody>
      </p:sp>
      <p:pic>
        <p:nvPicPr>
          <p:cNvPr id="9" name="Picture 8">
            <a:extLst>
              <a:ext uri="{FF2B5EF4-FFF2-40B4-BE49-F238E27FC236}">
                <a16:creationId xmlns:a16="http://schemas.microsoft.com/office/drawing/2014/main" id="{9007D253-057A-F0C1-58BC-5C9450077210}"/>
              </a:ext>
            </a:extLst>
          </p:cNvPr>
          <p:cNvPicPr>
            <a:picLocks noChangeAspect="1"/>
          </p:cNvPicPr>
          <p:nvPr/>
        </p:nvPicPr>
        <p:blipFill>
          <a:blip r:embed="rId3"/>
          <a:stretch>
            <a:fillRect/>
          </a:stretch>
        </p:blipFill>
        <p:spPr>
          <a:xfrm>
            <a:off x="6073796" y="183176"/>
            <a:ext cx="2689515" cy="2350538"/>
          </a:xfrm>
          <a:prstGeom prst="rect">
            <a:avLst/>
          </a:prstGeom>
        </p:spPr>
      </p:pic>
      <p:sp>
        <p:nvSpPr>
          <p:cNvPr id="11" name="TextBox 10">
            <a:extLst>
              <a:ext uri="{FF2B5EF4-FFF2-40B4-BE49-F238E27FC236}">
                <a16:creationId xmlns:a16="http://schemas.microsoft.com/office/drawing/2014/main" id="{02E9CFA6-B81B-25A8-3641-BCE6A7992BBA}"/>
              </a:ext>
            </a:extLst>
          </p:cNvPr>
          <p:cNvSpPr txBox="1"/>
          <p:nvPr/>
        </p:nvSpPr>
        <p:spPr>
          <a:xfrm>
            <a:off x="7084088" y="184404"/>
            <a:ext cx="1778558" cy="369332"/>
          </a:xfrm>
          <a:prstGeom prst="rect">
            <a:avLst/>
          </a:prstGeom>
          <a:noFill/>
        </p:spPr>
        <p:txBody>
          <a:bodyPr wrap="square">
            <a:spAutoFit/>
          </a:bodyPr>
          <a:lstStyle/>
          <a:p>
            <a:r>
              <a:rPr lang="en-GB" b="1" i="0" dirty="0">
                <a:solidFill>
                  <a:srgbClr val="000000"/>
                </a:solidFill>
                <a:effectLst/>
                <a:latin typeface="Comic Sans MS" panose="030F0702030302020204" pitchFamily="66" charset="0"/>
              </a:rPr>
              <a:t>CeCO</a:t>
            </a:r>
            <a:r>
              <a:rPr lang="en-GB" b="1" i="0" baseline="-25000" dirty="0">
                <a:solidFill>
                  <a:srgbClr val="000000"/>
                </a:solidFill>
                <a:effectLst/>
                <a:latin typeface="Comic Sans MS" panose="030F0702030302020204" pitchFamily="66" charset="0"/>
              </a:rPr>
              <a:t>3</a:t>
            </a:r>
            <a:r>
              <a:rPr lang="en-GB" b="1" i="0" dirty="0">
                <a:solidFill>
                  <a:srgbClr val="000000"/>
                </a:solidFill>
                <a:effectLst/>
                <a:latin typeface="Comic Sans MS" panose="030F0702030302020204" pitchFamily="66" charset="0"/>
              </a:rPr>
              <a:t>(OH,F)</a:t>
            </a:r>
            <a:endParaRPr lang="en-GB" dirty="0"/>
          </a:p>
        </p:txBody>
      </p:sp>
      <p:pic>
        <p:nvPicPr>
          <p:cNvPr id="13" name="Picture 12">
            <a:extLst>
              <a:ext uri="{FF2B5EF4-FFF2-40B4-BE49-F238E27FC236}">
                <a16:creationId xmlns:a16="http://schemas.microsoft.com/office/drawing/2014/main" id="{F3011169-23CA-168F-6CF2-08D8DF3D5B70}"/>
              </a:ext>
            </a:extLst>
          </p:cNvPr>
          <p:cNvPicPr>
            <a:picLocks noChangeAspect="1"/>
          </p:cNvPicPr>
          <p:nvPr/>
        </p:nvPicPr>
        <p:blipFill>
          <a:blip r:embed="rId4"/>
          <a:stretch>
            <a:fillRect/>
          </a:stretch>
        </p:blipFill>
        <p:spPr>
          <a:xfrm>
            <a:off x="322527" y="3624404"/>
            <a:ext cx="5247470" cy="2482179"/>
          </a:xfrm>
          <a:prstGeom prst="rect">
            <a:avLst/>
          </a:prstGeom>
        </p:spPr>
      </p:pic>
      <p:sp>
        <p:nvSpPr>
          <p:cNvPr id="15" name="TextBox 14">
            <a:extLst>
              <a:ext uri="{FF2B5EF4-FFF2-40B4-BE49-F238E27FC236}">
                <a16:creationId xmlns:a16="http://schemas.microsoft.com/office/drawing/2014/main" id="{7710BEFB-8463-BD61-4AB8-E7E87E514275}"/>
              </a:ext>
            </a:extLst>
          </p:cNvPr>
          <p:cNvSpPr txBox="1"/>
          <p:nvPr/>
        </p:nvSpPr>
        <p:spPr>
          <a:xfrm>
            <a:off x="322527" y="3652576"/>
            <a:ext cx="1034980" cy="369332"/>
          </a:xfrm>
          <a:prstGeom prst="rect">
            <a:avLst/>
          </a:prstGeom>
          <a:noFill/>
        </p:spPr>
        <p:txBody>
          <a:bodyPr wrap="square">
            <a:spAutoFit/>
          </a:bodyPr>
          <a:lstStyle/>
          <a:p>
            <a:r>
              <a:rPr lang="en-GB" b="0" i="0" dirty="0">
                <a:solidFill>
                  <a:srgbClr val="000000"/>
                </a:solidFill>
                <a:effectLst/>
                <a:latin typeface="Noto Sans" panose="020B0502040204020203" pitchFamily="34" charset="0"/>
              </a:rPr>
              <a:t>La(PO</a:t>
            </a:r>
            <a:r>
              <a:rPr lang="en-GB" b="0" i="0" baseline="-25000" dirty="0">
                <a:solidFill>
                  <a:srgbClr val="000000"/>
                </a:solidFill>
                <a:effectLst/>
                <a:latin typeface="Noto Sans" panose="020B0502040204020203" pitchFamily="34" charset="0"/>
              </a:rPr>
              <a:t>4</a:t>
            </a:r>
            <a:r>
              <a:rPr lang="en-GB" b="0" i="0" dirty="0">
                <a:solidFill>
                  <a:srgbClr val="000000"/>
                </a:solidFill>
                <a:effectLst/>
                <a:latin typeface="Noto Sans" panose="020B0502040204020203" pitchFamily="34" charset="0"/>
              </a:rPr>
              <a:t>)</a:t>
            </a:r>
            <a:endParaRPr lang="en-GB" dirty="0"/>
          </a:p>
        </p:txBody>
      </p:sp>
      <p:pic>
        <p:nvPicPr>
          <p:cNvPr id="17" name="Picture 16">
            <a:extLst>
              <a:ext uri="{FF2B5EF4-FFF2-40B4-BE49-F238E27FC236}">
                <a16:creationId xmlns:a16="http://schemas.microsoft.com/office/drawing/2014/main" id="{3CDD17EF-DAE4-B536-6463-E118C95B5698}"/>
              </a:ext>
            </a:extLst>
          </p:cNvPr>
          <p:cNvPicPr>
            <a:picLocks noChangeAspect="1"/>
          </p:cNvPicPr>
          <p:nvPr/>
        </p:nvPicPr>
        <p:blipFill>
          <a:blip r:embed="rId5"/>
          <a:stretch>
            <a:fillRect/>
          </a:stretch>
        </p:blipFill>
        <p:spPr>
          <a:xfrm>
            <a:off x="5754560" y="2890664"/>
            <a:ext cx="3139712" cy="3215919"/>
          </a:xfrm>
          <a:prstGeom prst="rect">
            <a:avLst/>
          </a:prstGeom>
        </p:spPr>
      </p:pic>
      <p:sp>
        <p:nvSpPr>
          <p:cNvPr id="19" name="TextBox 18">
            <a:extLst>
              <a:ext uri="{FF2B5EF4-FFF2-40B4-BE49-F238E27FC236}">
                <a16:creationId xmlns:a16="http://schemas.microsoft.com/office/drawing/2014/main" id="{57B48F8B-9A79-F196-0071-A800FEC731D7}"/>
              </a:ext>
            </a:extLst>
          </p:cNvPr>
          <p:cNvSpPr txBox="1"/>
          <p:nvPr/>
        </p:nvSpPr>
        <p:spPr>
          <a:xfrm>
            <a:off x="5754560" y="2950837"/>
            <a:ext cx="1818752" cy="369332"/>
          </a:xfrm>
          <a:prstGeom prst="rect">
            <a:avLst/>
          </a:prstGeom>
          <a:noFill/>
        </p:spPr>
        <p:txBody>
          <a:bodyPr wrap="square">
            <a:spAutoFit/>
          </a:bodyPr>
          <a:lstStyle/>
          <a:p>
            <a:r>
              <a:rPr lang="en-GB" b="0" i="0" dirty="0">
                <a:solidFill>
                  <a:srgbClr val="000000"/>
                </a:solidFill>
                <a:effectLst/>
                <a:latin typeface="Noto Sans" panose="020B0502040504020204" pitchFamily="34" charset="0"/>
              </a:rPr>
              <a:t>(</a:t>
            </a:r>
            <a:r>
              <a:rPr lang="en-GB" b="0" i="0" dirty="0" err="1">
                <a:solidFill>
                  <a:srgbClr val="000000"/>
                </a:solidFill>
                <a:effectLst/>
                <a:latin typeface="Noto Sans" panose="020B0502040504020204" pitchFamily="34" charset="0"/>
              </a:rPr>
              <a:t>Na,REE</a:t>
            </a:r>
            <a:r>
              <a:rPr lang="en-GB" b="0" i="0" dirty="0">
                <a:solidFill>
                  <a:srgbClr val="000000"/>
                </a:solidFill>
                <a:effectLst/>
                <a:latin typeface="Noto Sans" panose="020B0502040504020204" pitchFamily="34" charset="0"/>
              </a:rPr>
              <a:t>)</a:t>
            </a:r>
            <a:r>
              <a:rPr lang="en-GB" b="0" i="0" baseline="-25000" dirty="0">
                <a:solidFill>
                  <a:srgbClr val="000000"/>
                </a:solidFill>
                <a:effectLst/>
                <a:latin typeface="Noto Sans" panose="020B0502040504020204" pitchFamily="34" charset="0"/>
              </a:rPr>
              <a:t>2</a:t>
            </a:r>
            <a:r>
              <a:rPr lang="en-GB" b="0" i="0" dirty="0">
                <a:solidFill>
                  <a:srgbClr val="000000"/>
                </a:solidFill>
                <a:effectLst/>
                <a:latin typeface="Noto Sans" panose="020B0502040504020204" pitchFamily="34" charset="0"/>
              </a:rPr>
              <a:t>Ti</a:t>
            </a:r>
            <a:r>
              <a:rPr lang="en-GB" b="0" i="0" baseline="-25000" dirty="0">
                <a:solidFill>
                  <a:srgbClr val="000000"/>
                </a:solidFill>
                <a:effectLst/>
                <a:latin typeface="Noto Sans" panose="020B0502040504020204" pitchFamily="34" charset="0"/>
              </a:rPr>
              <a:t>2</a:t>
            </a:r>
            <a:r>
              <a:rPr lang="en-GB" b="0" i="0" dirty="0">
                <a:solidFill>
                  <a:srgbClr val="000000"/>
                </a:solidFill>
                <a:effectLst/>
                <a:latin typeface="Noto Sans" panose="020B0502040504020204" pitchFamily="34" charset="0"/>
              </a:rPr>
              <a:t>O</a:t>
            </a:r>
            <a:r>
              <a:rPr lang="en-GB" b="0" i="0" baseline="-25000" dirty="0">
                <a:solidFill>
                  <a:srgbClr val="000000"/>
                </a:solidFill>
                <a:effectLst/>
                <a:latin typeface="Noto Sans" panose="020B0502040504020204" pitchFamily="34" charset="0"/>
              </a:rPr>
              <a:t>6</a:t>
            </a:r>
            <a:endParaRPr lang="en-GB" dirty="0"/>
          </a:p>
        </p:txBody>
      </p:sp>
    </p:spTree>
    <p:extLst>
      <p:ext uri="{BB962C8B-B14F-4D97-AF65-F5344CB8AC3E}">
        <p14:creationId xmlns:p14="http://schemas.microsoft.com/office/powerpoint/2010/main" val="1437763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9DE09A-1A44-FDAE-A9F1-1B74EF1B8697}"/>
              </a:ext>
            </a:extLst>
          </p:cNvPr>
          <p:cNvPicPr>
            <a:picLocks noChangeAspect="1"/>
          </p:cNvPicPr>
          <p:nvPr/>
        </p:nvPicPr>
        <p:blipFill>
          <a:blip r:embed="rId2"/>
          <a:stretch>
            <a:fillRect/>
          </a:stretch>
        </p:blipFill>
        <p:spPr>
          <a:xfrm>
            <a:off x="1459176" y="0"/>
            <a:ext cx="6225648" cy="6858000"/>
          </a:xfrm>
          <a:prstGeom prst="rect">
            <a:avLst/>
          </a:prstGeom>
        </p:spPr>
      </p:pic>
    </p:spTree>
    <p:extLst>
      <p:ext uri="{BB962C8B-B14F-4D97-AF65-F5344CB8AC3E}">
        <p14:creationId xmlns:p14="http://schemas.microsoft.com/office/powerpoint/2010/main" val="1900397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60E2A1-B348-9E5D-4C6C-12C2E7087C0F}"/>
              </a:ext>
            </a:extLst>
          </p:cNvPr>
          <p:cNvSpPr>
            <a:spLocks noGrp="1"/>
          </p:cNvSpPr>
          <p:nvPr>
            <p:ph type="title"/>
          </p:nvPr>
        </p:nvSpPr>
        <p:spPr/>
        <p:txBody>
          <a:bodyPr/>
          <a:lstStyle/>
          <a:p>
            <a:r>
              <a:rPr lang="en-GB" dirty="0"/>
              <a:t>Fossil Fuels</a:t>
            </a:r>
          </a:p>
        </p:txBody>
      </p:sp>
      <p:sp>
        <p:nvSpPr>
          <p:cNvPr id="6" name="Text Placeholder 5">
            <a:extLst>
              <a:ext uri="{FF2B5EF4-FFF2-40B4-BE49-F238E27FC236}">
                <a16:creationId xmlns:a16="http://schemas.microsoft.com/office/drawing/2014/main" id="{48838742-DFDB-F97C-4ADD-05C3878909E3}"/>
              </a:ext>
            </a:extLst>
          </p:cNvPr>
          <p:cNvSpPr>
            <a:spLocks noGrp="1"/>
          </p:cNvSpPr>
          <p:nvPr>
            <p:ph type="body" idx="1"/>
          </p:nvPr>
        </p:nvSpPr>
        <p:spPr/>
        <p:txBody>
          <a:bodyPr/>
          <a:lstStyle/>
          <a:p>
            <a:endParaRPr lang="en-GB"/>
          </a:p>
        </p:txBody>
      </p:sp>
      <p:pic>
        <p:nvPicPr>
          <p:cNvPr id="8" name="Picture 7">
            <a:extLst>
              <a:ext uri="{FF2B5EF4-FFF2-40B4-BE49-F238E27FC236}">
                <a16:creationId xmlns:a16="http://schemas.microsoft.com/office/drawing/2014/main" id="{1A73BB59-09B6-9FE9-F66B-C77BC9AA25CC}"/>
              </a:ext>
            </a:extLst>
          </p:cNvPr>
          <p:cNvPicPr>
            <a:picLocks noChangeAspect="1"/>
          </p:cNvPicPr>
          <p:nvPr/>
        </p:nvPicPr>
        <p:blipFill>
          <a:blip r:embed="rId2"/>
          <a:stretch>
            <a:fillRect/>
          </a:stretch>
        </p:blipFill>
        <p:spPr>
          <a:xfrm>
            <a:off x="3688621" y="0"/>
            <a:ext cx="5279501" cy="6858000"/>
          </a:xfrm>
          <a:prstGeom prst="rect">
            <a:avLst/>
          </a:prstGeom>
        </p:spPr>
      </p:pic>
    </p:spTree>
    <p:extLst>
      <p:ext uri="{BB962C8B-B14F-4D97-AF65-F5344CB8AC3E}">
        <p14:creationId xmlns:p14="http://schemas.microsoft.com/office/powerpoint/2010/main" val="1224576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8B722-1417-BA95-ED07-386D830B7331}"/>
              </a:ext>
            </a:extLst>
          </p:cNvPr>
          <p:cNvPicPr>
            <a:picLocks noChangeAspect="1"/>
          </p:cNvPicPr>
          <p:nvPr/>
        </p:nvPicPr>
        <p:blipFill>
          <a:blip r:embed="rId3"/>
          <a:stretch>
            <a:fillRect/>
          </a:stretch>
        </p:blipFill>
        <p:spPr>
          <a:xfrm>
            <a:off x="121303" y="1398995"/>
            <a:ext cx="4140258" cy="2842741"/>
          </a:xfrm>
          <a:prstGeom prst="rect">
            <a:avLst/>
          </a:prstGeom>
        </p:spPr>
      </p:pic>
      <p:sp>
        <p:nvSpPr>
          <p:cNvPr id="5" name="TextBox 4">
            <a:extLst>
              <a:ext uri="{FF2B5EF4-FFF2-40B4-BE49-F238E27FC236}">
                <a16:creationId xmlns:a16="http://schemas.microsoft.com/office/drawing/2014/main" id="{2615B173-6CF4-F959-612C-BE776A5304EB}"/>
              </a:ext>
            </a:extLst>
          </p:cNvPr>
          <p:cNvSpPr txBox="1"/>
          <p:nvPr/>
        </p:nvSpPr>
        <p:spPr>
          <a:xfrm>
            <a:off x="5111653" y="6431078"/>
            <a:ext cx="4572000" cy="307777"/>
          </a:xfrm>
          <a:prstGeom prst="rect">
            <a:avLst/>
          </a:prstGeom>
          <a:noFill/>
        </p:spPr>
        <p:txBody>
          <a:bodyPr wrap="square">
            <a:spAutoFit/>
          </a:bodyPr>
          <a:lstStyle/>
          <a:p>
            <a:r>
              <a:rPr lang="en-GB" sz="1400" dirty="0"/>
              <a:t>https://www.energyinst.org/statistical-review/home</a:t>
            </a:r>
          </a:p>
        </p:txBody>
      </p:sp>
      <p:sp>
        <p:nvSpPr>
          <p:cNvPr id="2" name="TextBox 1">
            <a:extLst>
              <a:ext uri="{FF2B5EF4-FFF2-40B4-BE49-F238E27FC236}">
                <a16:creationId xmlns:a16="http://schemas.microsoft.com/office/drawing/2014/main" id="{A0F9DBBF-4053-61F4-ABB6-29074982BE9A}"/>
              </a:ext>
            </a:extLst>
          </p:cNvPr>
          <p:cNvSpPr txBox="1"/>
          <p:nvPr/>
        </p:nvSpPr>
        <p:spPr>
          <a:xfrm>
            <a:off x="4572000" y="1078941"/>
            <a:ext cx="4377905" cy="4847994"/>
          </a:xfrm>
          <a:prstGeom prst="rect">
            <a:avLst/>
          </a:prstGeom>
          <a:noFill/>
        </p:spPr>
        <p:txBody>
          <a:bodyPr wrap="square" lIns="91440" tIns="45720" rIns="91440" bIns="45720" anchor="t">
            <a:spAutoFit/>
          </a:bodyPr>
          <a:lstStyle/>
          <a:p>
            <a:pPr marL="213995" indent="-213995">
              <a:lnSpc>
                <a:spcPct val="150000"/>
              </a:lnSpc>
              <a:buFont typeface="Arial" panose="020B0604020202020204" pitchFamily="34" charset="0"/>
              <a:buChar char="•"/>
            </a:pPr>
            <a:r>
              <a:rPr lang="en-GB" sz="1600" dirty="0">
                <a:latin typeface="Helvetica"/>
              </a:rPr>
              <a:t>Total primary energy consumption increased by 2% over its 2022 level, 0.6% above its ten-year average and over 5% above its 2019 pre-COVID level.</a:t>
            </a:r>
          </a:p>
          <a:p>
            <a:pPr marL="213995" indent="-213995">
              <a:lnSpc>
                <a:spcPct val="150000"/>
              </a:lnSpc>
              <a:buFont typeface="Arial" panose="020B0604020202020204" pitchFamily="34" charset="0"/>
              <a:buChar char="•"/>
            </a:pPr>
            <a:endParaRPr lang="en-GB" sz="1600" dirty="0">
              <a:latin typeface="Helvetica"/>
            </a:endParaRPr>
          </a:p>
          <a:p>
            <a:pPr marL="213995" indent="-213995">
              <a:lnSpc>
                <a:spcPct val="150000"/>
              </a:lnSpc>
              <a:buFont typeface="Arial" panose="020B0604020202020204" pitchFamily="34" charset="0"/>
              <a:buChar char="•"/>
            </a:pPr>
            <a:r>
              <a:rPr lang="en-GB" sz="1600" dirty="0">
                <a:latin typeface="Helvetica"/>
              </a:rPr>
              <a:t>Renewables’ share of total primary energy consumption reached 14.6%, an increase of 0.4% over the previous year. Together with nuclear, they represented over 18% of total primary energy consumption.</a:t>
            </a:r>
          </a:p>
          <a:p>
            <a:pPr marL="213995" indent="-213995">
              <a:lnSpc>
                <a:spcPct val="150000"/>
              </a:lnSpc>
              <a:buFont typeface="Arial" panose="020B0604020202020204" pitchFamily="34" charset="0"/>
              <a:buChar char="•"/>
            </a:pPr>
            <a:endParaRPr lang="en-GB" sz="1600" dirty="0">
              <a:latin typeface="Helvetica"/>
            </a:endParaRPr>
          </a:p>
          <a:p>
            <a:pPr marL="213995" indent="-213995">
              <a:lnSpc>
                <a:spcPct val="150000"/>
              </a:lnSpc>
              <a:buFont typeface="Arial" panose="020B0604020202020204" pitchFamily="34" charset="0"/>
              <a:buChar char="•"/>
            </a:pPr>
            <a:r>
              <a:rPr lang="en-GB" sz="1600" dirty="0">
                <a:latin typeface="Helvetica"/>
              </a:rPr>
              <a:t>Fossil fuel consumption as a percentage of primary energy dropped 0.4% to 81.5%.</a:t>
            </a:r>
          </a:p>
        </p:txBody>
      </p:sp>
      <p:pic>
        <p:nvPicPr>
          <p:cNvPr id="6" name="Picture 5">
            <a:extLst>
              <a:ext uri="{FF2B5EF4-FFF2-40B4-BE49-F238E27FC236}">
                <a16:creationId xmlns:a16="http://schemas.microsoft.com/office/drawing/2014/main" id="{8AFFE913-D50B-A524-0F01-7E1194DAC701}"/>
              </a:ext>
            </a:extLst>
          </p:cNvPr>
          <p:cNvPicPr>
            <a:picLocks noChangeAspect="1"/>
          </p:cNvPicPr>
          <p:nvPr/>
        </p:nvPicPr>
        <p:blipFill>
          <a:blip r:embed="rId4"/>
          <a:stretch>
            <a:fillRect/>
          </a:stretch>
        </p:blipFill>
        <p:spPr>
          <a:xfrm>
            <a:off x="-2184747" y="1244606"/>
            <a:ext cx="6756747" cy="4045158"/>
          </a:xfrm>
          <a:prstGeom prst="rect">
            <a:avLst/>
          </a:prstGeom>
        </p:spPr>
      </p:pic>
    </p:spTree>
    <p:extLst>
      <p:ext uri="{BB962C8B-B14F-4D97-AF65-F5344CB8AC3E}">
        <p14:creationId xmlns:p14="http://schemas.microsoft.com/office/powerpoint/2010/main" val="405082097"/>
      </p:ext>
    </p:extLst>
  </p:cSld>
  <p:clrMapOvr>
    <a:masterClrMapping/>
  </p:clrMapOvr>
  <mc:AlternateContent xmlns:mc="http://schemas.openxmlformats.org/markup-compatibility/2006" xmlns:p14="http://schemas.microsoft.com/office/powerpoint/2010/main">
    <mc:Choice Requires="p14">
      <p:transition spd="slow" p14:dur="2000" advTm="35139"/>
    </mc:Choice>
    <mc:Fallback xmlns="">
      <p:transition spd="slow" advTm="35139"/>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Carbon cycle</a:t>
            </a:r>
          </a:p>
        </p:txBody>
      </p:sp>
      <p:pic>
        <p:nvPicPr>
          <p:cNvPr id="2050" name="Picture 2" descr="http://www.astraea.net/aboutimages/co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404" y="1252659"/>
            <a:ext cx="8777410" cy="515357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544280" y="6406231"/>
            <a:ext cx="4478534" cy="369332"/>
          </a:xfrm>
          <a:prstGeom prst="rect">
            <a:avLst/>
          </a:prstGeom>
        </p:spPr>
        <p:txBody>
          <a:bodyPr wrap="none">
            <a:spAutoFit/>
          </a:bodyPr>
          <a:lstStyle/>
          <a:p>
            <a:r>
              <a:rPr lang="en-GB" dirty="0"/>
              <a:t>http://www.astraea.net/aboutimages/co2.jpg</a:t>
            </a:r>
          </a:p>
        </p:txBody>
      </p:sp>
      <p:sp>
        <p:nvSpPr>
          <p:cNvPr id="5" name="TextBox 4"/>
          <p:cNvSpPr txBox="1"/>
          <p:nvPr/>
        </p:nvSpPr>
        <p:spPr>
          <a:xfrm>
            <a:off x="5158155" y="4785919"/>
            <a:ext cx="1407758" cy="369332"/>
          </a:xfrm>
          <a:prstGeom prst="rect">
            <a:avLst/>
          </a:prstGeom>
          <a:solidFill>
            <a:srgbClr val="00B0F0"/>
          </a:solidFill>
        </p:spPr>
        <p:txBody>
          <a:bodyPr wrap="none" rtlCol="0">
            <a:spAutoFit/>
          </a:bodyPr>
          <a:lstStyle/>
          <a:p>
            <a:r>
              <a:rPr lang="en-GB" dirty="0">
                <a:solidFill>
                  <a:srgbClr val="FFFF00"/>
                </a:solidFill>
              </a:rPr>
              <a:t>OIL AND GAS</a:t>
            </a:r>
          </a:p>
        </p:txBody>
      </p:sp>
      <p:sp>
        <p:nvSpPr>
          <p:cNvPr id="7" name="TextBox 6"/>
          <p:cNvSpPr txBox="1"/>
          <p:nvPr/>
        </p:nvSpPr>
        <p:spPr>
          <a:xfrm>
            <a:off x="7517823" y="4059089"/>
            <a:ext cx="686598" cy="369332"/>
          </a:xfrm>
          <a:prstGeom prst="rect">
            <a:avLst/>
          </a:prstGeom>
          <a:solidFill>
            <a:srgbClr val="00B0F0"/>
          </a:solidFill>
        </p:spPr>
        <p:txBody>
          <a:bodyPr wrap="none" rtlCol="0">
            <a:spAutoFit/>
          </a:bodyPr>
          <a:lstStyle/>
          <a:p>
            <a:r>
              <a:rPr lang="en-GB" dirty="0">
                <a:solidFill>
                  <a:srgbClr val="FFFF00"/>
                </a:solidFill>
              </a:rPr>
              <a:t>COAL</a:t>
            </a:r>
          </a:p>
        </p:txBody>
      </p:sp>
      <p:sp>
        <p:nvSpPr>
          <p:cNvPr id="8" name="TextBox 7"/>
          <p:cNvSpPr txBox="1"/>
          <p:nvPr/>
        </p:nvSpPr>
        <p:spPr>
          <a:xfrm>
            <a:off x="3927337" y="5515654"/>
            <a:ext cx="2461636" cy="369332"/>
          </a:xfrm>
          <a:prstGeom prst="rect">
            <a:avLst/>
          </a:prstGeom>
          <a:solidFill>
            <a:srgbClr val="00B0F0"/>
          </a:solidFill>
        </p:spPr>
        <p:txBody>
          <a:bodyPr wrap="none" rtlCol="0">
            <a:spAutoFit/>
          </a:bodyPr>
          <a:lstStyle/>
          <a:p>
            <a:r>
              <a:rPr lang="en-GB" dirty="0">
                <a:solidFill>
                  <a:srgbClr val="FFFF00"/>
                </a:solidFill>
              </a:rPr>
              <a:t>Limestone and dolomite</a:t>
            </a:r>
          </a:p>
        </p:txBody>
      </p:sp>
      <p:sp>
        <p:nvSpPr>
          <p:cNvPr id="9" name="TextBox 8"/>
          <p:cNvSpPr txBox="1"/>
          <p:nvPr/>
        </p:nvSpPr>
        <p:spPr>
          <a:xfrm>
            <a:off x="4993369" y="1602217"/>
            <a:ext cx="2121876" cy="646331"/>
          </a:xfrm>
          <a:prstGeom prst="rect">
            <a:avLst/>
          </a:prstGeom>
          <a:solidFill>
            <a:srgbClr val="00B0F0"/>
          </a:solidFill>
        </p:spPr>
        <p:txBody>
          <a:bodyPr wrap="square" rtlCol="0">
            <a:spAutoFit/>
          </a:bodyPr>
          <a:lstStyle/>
          <a:p>
            <a:pPr algn="ctr"/>
            <a:r>
              <a:rPr lang="en-GB" dirty="0">
                <a:solidFill>
                  <a:srgbClr val="FFFF00"/>
                </a:solidFill>
              </a:rPr>
              <a:t>Burning forests and organic debris</a:t>
            </a:r>
          </a:p>
        </p:txBody>
      </p:sp>
      <p:sp>
        <p:nvSpPr>
          <p:cNvPr id="10" name="TextBox 9"/>
          <p:cNvSpPr txBox="1"/>
          <p:nvPr/>
        </p:nvSpPr>
        <p:spPr>
          <a:xfrm>
            <a:off x="1587910" y="1278317"/>
            <a:ext cx="1407219" cy="646331"/>
          </a:xfrm>
          <a:prstGeom prst="rect">
            <a:avLst/>
          </a:prstGeom>
          <a:solidFill>
            <a:srgbClr val="00B0F0"/>
          </a:solidFill>
        </p:spPr>
        <p:txBody>
          <a:bodyPr wrap="square" rtlCol="0">
            <a:spAutoFit/>
          </a:bodyPr>
          <a:lstStyle/>
          <a:p>
            <a:r>
              <a:rPr lang="en-GB" dirty="0">
                <a:solidFill>
                  <a:srgbClr val="FFFF00"/>
                </a:solidFill>
              </a:rPr>
              <a:t>CO</a:t>
            </a:r>
            <a:r>
              <a:rPr lang="en-GB" baseline="-25000" dirty="0">
                <a:solidFill>
                  <a:srgbClr val="FFFF00"/>
                </a:solidFill>
              </a:rPr>
              <a:t>2</a:t>
            </a:r>
            <a:r>
              <a:rPr lang="en-GB" dirty="0">
                <a:solidFill>
                  <a:srgbClr val="FFFF00"/>
                </a:solidFill>
              </a:rPr>
              <a:t> in the atmosphere</a:t>
            </a:r>
          </a:p>
        </p:txBody>
      </p:sp>
      <p:sp>
        <p:nvSpPr>
          <p:cNvPr id="11" name="TextBox 10"/>
          <p:cNvSpPr txBox="1"/>
          <p:nvPr/>
        </p:nvSpPr>
        <p:spPr>
          <a:xfrm>
            <a:off x="560110" y="2131543"/>
            <a:ext cx="1608659" cy="923330"/>
          </a:xfrm>
          <a:prstGeom prst="rect">
            <a:avLst/>
          </a:prstGeom>
          <a:solidFill>
            <a:srgbClr val="00B0F0"/>
          </a:solidFill>
        </p:spPr>
        <p:txBody>
          <a:bodyPr wrap="square" rtlCol="0">
            <a:spAutoFit/>
          </a:bodyPr>
          <a:lstStyle/>
          <a:p>
            <a:pPr algn="ctr"/>
            <a:r>
              <a:rPr lang="en-GB" dirty="0">
                <a:solidFill>
                  <a:srgbClr val="FFFF00"/>
                </a:solidFill>
              </a:rPr>
              <a:t>Respiration and decomposition</a:t>
            </a:r>
          </a:p>
        </p:txBody>
      </p:sp>
      <p:sp>
        <p:nvSpPr>
          <p:cNvPr id="13" name="TextBox 12"/>
          <p:cNvSpPr txBox="1"/>
          <p:nvPr/>
        </p:nvSpPr>
        <p:spPr>
          <a:xfrm>
            <a:off x="2418266" y="1946877"/>
            <a:ext cx="1599605" cy="369332"/>
          </a:xfrm>
          <a:prstGeom prst="rect">
            <a:avLst/>
          </a:prstGeom>
          <a:solidFill>
            <a:srgbClr val="00B0F0"/>
          </a:solidFill>
        </p:spPr>
        <p:txBody>
          <a:bodyPr wrap="none" rtlCol="0">
            <a:spAutoFit/>
          </a:bodyPr>
          <a:lstStyle/>
          <a:p>
            <a:r>
              <a:rPr lang="en-GB" dirty="0">
                <a:solidFill>
                  <a:srgbClr val="FFFF00"/>
                </a:solidFill>
              </a:rPr>
              <a:t>Photosynthesis</a:t>
            </a:r>
          </a:p>
        </p:txBody>
      </p:sp>
      <p:sp>
        <p:nvSpPr>
          <p:cNvPr id="14" name="TextBox 13"/>
          <p:cNvSpPr txBox="1"/>
          <p:nvPr/>
        </p:nvSpPr>
        <p:spPr>
          <a:xfrm>
            <a:off x="479051" y="3246488"/>
            <a:ext cx="1599605" cy="646331"/>
          </a:xfrm>
          <a:prstGeom prst="rect">
            <a:avLst/>
          </a:prstGeom>
          <a:solidFill>
            <a:srgbClr val="00B0F0"/>
          </a:solidFill>
        </p:spPr>
        <p:txBody>
          <a:bodyPr wrap="none" rtlCol="0">
            <a:spAutoFit/>
          </a:bodyPr>
          <a:lstStyle/>
          <a:p>
            <a:r>
              <a:rPr lang="en-GB" dirty="0">
                <a:solidFill>
                  <a:srgbClr val="FFFF00"/>
                </a:solidFill>
              </a:rPr>
              <a:t>Photosynthesis</a:t>
            </a:r>
          </a:p>
          <a:p>
            <a:pPr algn="ctr"/>
            <a:r>
              <a:rPr lang="en-GB" dirty="0">
                <a:solidFill>
                  <a:srgbClr val="FFFF00"/>
                </a:solidFill>
              </a:rPr>
              <a:t>(aquatic)</a:t>
            </a:r>
          </a:p>
        </p:txBody>
      </p:sp>
      <p:sp>
        <p:nvSpPr>
          <p:cNvPr id="16" name="TextBox 15"/>
          <p:cNvSpPr txBox="1"/>
          <p:nvPr/>
        </p:nvSpPr>
        <p:spPr>
          <a:xfrm>
            <a:off x="7282968" y="1638492"/>
            <a:ext cx="1589410" cy="646331"/>
          </a:xfrm>
          <a:prstGeom prst="rect">
            <a:avLst/>
          </a:prstGeom>
          <a:solidFill>
            <a:srgbClr val="00B0F0"/>
          </a:solidFill>
        </p:spPr>
        <p:txBody>
          <a:bodyPr wrap="square" rtlCol="0">
            <a:spAutoFit/>
          </a:bodyPr>
          <a:lstStyle/>
          <a:p>
            <a:pPr algn="ctr"/>
            <a:r>
              <a:rPr lang="en-GB" dirty="0">
                <a:solidFill>
                  <a:srgbClr val="FFFF00"/>
                </a:solidFill>
              </a:rPr>
              <a:t>Anthropogenic carbon</a:t>
            </a:r>
          </a:p>
        </p:txBody>
      </p:sp>
      <p:sp>
        <p:nvSpPr>
          <p:cNvPr id="15" name="TextBox 14"/>
          <p:cNvSpPr txBox="1"/>
          <p:nvPr/>
        </p:nvSpPr>
        <p:spPr>
          <a:xfrm>
            <a:off x="2006555" y="4785919"/>
            <a:ext cx="1724639" cy="338554"/>
          </a:xfrm>
          <a:prstGeom prst="rect">
            <a:avLst/>
          </a:prstGeom>
          <a:solidFill>
            <a:srgbClr val="00B0F0"/>
          </a:solidFill>
        </p:spPr>
        <p:txBody>
          <a:bodyPr wrap="none" rtlCol="0">
            <a:spAutoFit/>
          </a:bodyPr>
          <a:lstStyle/>
          <a:p>
            <a:r>
              <a:rPr lang="en-GB" sz="1600" dirty="0">
                <a:solidFill>
                  <a:srgbClr val="FFFF00"/>
                </a:solidFill>
              </a:rPr>
              <a:t>Organic sediments</a:t>
            </a:r>
          </a:p>
        </p:txBody>
      </p:sp>
      <p:sp>
        <p:nvSpPr>
          <p:cNvPr id="18" name="TextBox 17"/>
          <p:cNvSpPr txBox="1"/>
          <p:nvPr/>
        </p:nvSpPr>
        <p:spPr>
          <a:xfrm>
            <a:off x="282395" y="5955326"/>
            <a:ext cx="1992918" cy="338554"/>
          </a:xfrm>
          <a:prstGeom prst="rect">
            <a:avLst/>
          </a:prstGeom>
          <a:solidFill>
            <a:srgbClr val="00B0F0"/>
          </a:solidFill>
        </p:spPr>
        <p:txBody>
          <a:bodyPr wrap="none" rtlCol="0">
            <a:spAutoFit/>
          </a:bodyPr>
          <a:lstStyle/>
          <a:p>
            <a:r>
              <a:rPr lang="en-GB" sz="1600" dirty="0">
                <a:solidFill>
                  <a:srgbClr val="FFFF00"/>
                </a:solidFill>
              </a:rPr>
              <a:t>Calcareous sediments</a:t>
            </a:r>
          </a:p>
        </p:txBody>
      </p:sp>
    </p:spTree>
    <p:extLst>
      <p:ext uri="{BB962C8B-B14F-4D97-AF65-F5344CB8AC3E}">
        <p14:creationId xmlns:p14="http://schemas.microsoft.com/office/powerpoint/2010/main" val="2879354221"/>
      </p:ext>
    </p:extLst>
  </p:cSld>
  <p:clrMapOvr>
    <a:masterClrMapping/>
  </p:clrMapOvr>
  <mc:AlternateContent xmlns:mc="http://schemas.openxmlformats.org/markup-compatibility/2006" xmlns:p14="http://schemas.microsoft.com/office/powerpoint/2010/main">
    <mc:Choice Requires="p14">
      <p:transition spd="slow" p14:dur="2000" advTm="91108"/>
    </mc:Choice>
    <mc:Fallback xmlns="">
      <p:transition spd="slow" advTm="91108"/>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Fossil fuel creation</a:t>
            </a:r>
          </a:p>
        </p:txBody>
      </p:sp>
      <p:sp>
        <p:nvSpPr>
          <p:cNvPr id="3" name="Content Placeholder 2"/>
          <p:cNvSpPr>
            <a:spLocks noGrp="1"/>
          </p:cNvSpPr>
          <p:nvPr>
            <p:ph idx="1"/>
          </p:nvPr>
        </p:nvSpPr>
        <p:spPr/>
        <p:txBody>
          <a:bodyPr/>
          <a:lstStyle/>
          <a:p>
            <a:r>
              <a:rPr lang="en-GB" dirty="0"/>
              <a:t>Fossil fuels are created as atmospheric CO</a:t>
            </a:r>
            <a:r>
              <a:rPr lang="en-GB" baseline="-25000" dirty="0"/>
              <a:t>2</a:t>
            </a:r>
            <a:r>
              <a:rPr lang="en-GB" dirty="0"/>
              <a:t> formed into organic matter (C, H, O)</a:t>
            </a:r>
          </a:p>
          <a:p>
            <a:r>
              <a:rPr lang="en-GB" dirty="0"/>
              <a:t>1% (est.) of the total organic matter is preserved through burial in sediments</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5575" y="3820886"/>
            <a:ext cx="3685669" cy="27302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755086913"/>
      </p:ext>
    </p:extLst>
  </p:cSld>
  <p:clrMapOvr>
    <a:masterClrMapping/>
  </p:clrMapOvr>
  <mc:AlternateContent xmlns:mc="http://schemas.openxmlformats.org/markup-compatibility/2006" xmlns:p14="http://schemas.microsoft.com/office/powerpoint/2010/main">
    <mc:Choice Requires="p14">
      <p:transition spd="slow" p14:dur="2000" advTm="53607"/>
    </mc:Choice>
    <mc:Fallback xmlns="">
      <p:transition spd="slow" advTm="5360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Coal</a:t>
            </a:r>
          </a:p>
        </p:txBody>
      </p:sp>
      <p:sp>
        <p:nvSpPr>
          <p:cNvPr id="5" name="Text Placeholder 4"/>
          <p:cNvSpPr>
            <a:spLocks noGrp="1"/>
          </p:cNvSpPr>
          <p:nvPr>
            <p:ph type="body" idx="1"/>
          </p:nvPr>
        </p:nvSpPr>
        <p:spPr/>
        <p:txBody>
          <a:bodyPr/>
          <a:lstStyle/>
          <a:p>
            <a:endParaRPr lang="en-GB"/>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3137" y="3653355"/>
            <a:ext cx="4372640" cy="3068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descr="http://upload.wikimedia.org/wikipedia/commons/b/b3/Strip_coal_min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69" y="213426"/>
            <a:ext cx="4384768" cy="2923179"/>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http://teeic.anl.gov/images/photos/EIA_coal_train.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0563" y="355231"/>
            <a:ext cx="3074150" cy="2781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6689430"/>
      </p:ext>
    </p:extLst>
  </p:cSld>
  <p:clrMapOvr>
    <a:masterClrMapping/>
  </p:clrMapOvr>
  <mc:AlternateContent xmlns:mc="http://schemas.openxmlformats.org/markup-compatibility/2006" xmlns:p14="http://schemas.microsoft.com/office/powerpoint/2010/main">
    <mc:Choice Requires="p14">
      <p:transition spd="slow" p14:dur="2000" advTm="57312"/>
    </mc:Choice>
    <mc:Fallback xmlns="">
      <p:transition spd="slow" advTm="57312"/>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Coal formation</a:t>
            </a:r>
          </a:p>
        </p:txBody>
      </p:sp>
      <p:sp>
        <p:nvSpPr>
          <p:cNvPr id="4" name="AutoShape 2" descr="data:image/jpeg;base64,/9j/4AAQSkZJRgABAQAAAQABAAD/2wCEAAkGBxQTEhUUEhQWFhUXGR0YGRgYFh0eFxgcGR8gGBkYFxgaHyggHRomHBgYIjEhJSkrLi4uHh8zODMtNygtLisBCgoKDg0OGxAQGy8kICQsMi00NCw0LCwxLCw0NDY0NCw0MCw0LCw0LywsLCw0LCwsLCw0LCwsNC8sLCwsLCwsLP/AABEIAMABBgMBEQACEQEDEQH/xAAcAAABBQEBAQAAAAAAAAAAAAAAAQIDBAUGBwj/xABLEAACAQIEAgYGBQkGAwkBAAABAgMAEQQSITEFBgcTIkFRYTJUcYGS0hQWI5HwF0JSU2Kho7HBJDNDk9HhFXKyJTQ1Y3OCorPxRP/EABwBAAIDAQEBAQAAAAAAAAAAAAABAgMEBQYHCP/EAEQRAAEDAgMEBggDCAICAgIDAAEAAhEDIQQSMQVBUWEGEyJxkfAUFTJSgaGx0RZCwSNUYnKSouHxM1ND0oKyByQ0RGP/2gAMAwEAAhEDEQA/APHq+iLIihCKEIoQihCKEIoQihCKEIoQu34PhcPhOHjGzwriJZnKQxvfIoW+Zmsdf57W768jjq+Mx+1DgMPUNJlNuZ7hGYk6ATp5ncr2hrWZiJlMnw2E4i+GTCouGxMpZZUGbqRYdll8L5dh4nep062P2QzEVMY41aLAC11s/MECNJ15bkENqQG2KysNynM8eIfQHDyLCU1zvIzZAqC2pvXSrbcw9OtRp3PWtLwbQGgTJ+GigKRIJ4LTxXR1iERyJcO00SdZJAsl5UW2bUW3sQf5X0vzaXS7CVHs7DxTe7K15b2SZjXv/wAwpnDuG8TwV3i3KAlj4amEjVZZ4C8jFrKbBSXYnYC52rPhdvnD1MdUxbiWUqga0ASbzAEayeKbqUhobvCzcbyI6Ksi4nDSRdYsbyJLdYixteTTRdv9K24fpNSq1DRdRqNflLw0tu8Dc3momiQJkQuyHJODTisMARWifDlzH1jEhh+cbm4Bvpr3GvKnpNtB+xKuJJLXtqhoMAdknThI3q/qWCoG7oXEcU5ImihEqSwzjrBEywvnZZG2Q2Fr3sPaRXr8J0kw9fEGg5j6Zyl4LxlBaN9/MLO6iQJ17lYxPR7OqPabDvNGmeTDpJeZQNSMoGpAO33X0vnpdLMK97Jp1G03uyteWwwk6X4HcfGFI0HcRPBS4Po5mkWA/SMOpnjEkaO5DtcZsoW1zYbkVCv0uw1F1UGlUIpOLXENkCLTMx3IGHJi4uq+N5BxCRdYjwzEOsUiRyKWidyECv3XzsFNj3+FzV1DpThKlcUnteyWlzS5pAc0CSRv9kE3HzgJGg4CRdTYvo5nRZMs2HkmiXO8Ecl5QNz2bb2INu/uvpemj0vwlR1MmnUbTqHK17mw0nTWdJ3+O9M4dwm4kLjK9YqEUIRQhFCEUIRQhFCEUIRQhFCEUIRQhFCEUIRQhFCEUIRQhFCEUIRQhdrwPiGFxOCXA4yU4cxOXhmC5l7V8yuv+47vDXye0MJjsHjztHBMFUPaGvZOU20IP18xexzXMyOMKvxzEYWEYeHh95ZYnzticlmdr3UKN8o8PZvrV+zqOOxBrV9o9hjxlFOZDRFyTpJSeWiAzdvXX8/cfXCvhGhQKZZFx0yajMeyFDfc3duAd715Xo1supj6eJbXdIY04dh1gXkjxG82tMQr6zw0iO9Y/HsRw52nxwxEkkky9jDAMjRuRYmRwdVBBNtBsNa62zKW2aLaWzjRa1lM3qEhwc0bmt3OM6mYuVW80zL513LRw3OGGiHDwXzKMI+Hmygloi4j1t3m6d3nWKv0fxtc4wtbDuvbVZOj8s2+e/epCq0Ze6FkcSxODwWBxGGw2JOKfEslyEyqiob63Ppd39BXRwtDaW0dp0cZi6HUtoh0DMHFxcI3bvN1FxYxha0zK6VOZMF/xPD4r6SuQ4UxsCpHVsNQGPicx07rVwn7G2l6mr4LqTm67MLjtAm5HCI3m8qzrGdYHTuXI8t8ejw/D3BYGVcXFKsdyCyplvrbTY616famy62L2q1wEMNF7C61idLee9UseGs5yun4hzPhvtMVHj2UyKSkEeGiEysRfJJMUa4uLX9mprzuE2NjgKeDq4QEMIl7qjy0gHUMDhfePoFa6o27g74QqcPMOGGJ4O3XLlgw4WU69hury2OnjpWt+yMacHtOn1ZmrUJZp2hOuv1SFRuZhnQKpheP4dcPxEGUhpMYksYTR2RZlctGToDlBIvWrEbKxdTF4JwZZlFzXTBAJYQARvE2MKIe0Ndff+q2+I8yYExSSSYhMVeMiONsOExYYiwviF2trqF2tvbXjYXY+1W4hlKlRNGHAucKhdSI3xTPHgTrw3WOqMgkmfhfxXj9fUViRQhFCEUIRQhFCEUIRQhFCEUIRQhFCEUIRQhFCEUIRQhFCEUIRQhFCEUIVnhuPkglWWFssiG6tYGx22YEHes+KwtLFUXUKwlrhBFxI+EFNri0yFJxfisuJlMs7l5Gtc2A2FgAFAAHsFQwWBw+Coihh25WDQXPzMnxKbnFxkqlWtRRQhFCEUIRQhFCEUIRQhFCEUIRQhFCEUIRQhFCEUIRQhFCEUIRQhd1wbo4fEQxzCdVEihrFDpfuvfyrmu2gASMuhXDr7bZSqupFhMcwrh6KJPWF+A+Nv0qXrEe6qj0gYP/ABnxHGEn5KpPWF+A/NT9Yj3VH8RU/wDrPiE49FEnrKfAfmqJ2kAJyqf4gZ7h8Qo4+i1m9HEof/YfmqmhtqjXBNKCAYsVH8Q0/wDrPiE4dFMnrCfAfb+lV52k0aj5oHSFh/8AGfEcJSnook9YX4D83lR6xHuoPSGmP/GfEKF+jJg4Q4pMx2GQ+Nv0vMVjq9IcPSrtoPHaOnDkO87lIbfYRPVmJjUKcdFEnrC/AfmrZ6yHupDpBT/6z4hNPRVJ6wvwH5vKn6xHuqJ6RU/+s+I87ko6KJPWF+A+z9Kl6xHuqQ6Q0/8ArPiEfkok9YX4D81HrEe6j8QU/wDrPiEn5KpPWF+A/NT9Yj3VH8RU4/4z4hO/JRJ6wvwH5qXrIe6pfiBn/WfEJPyUyesL8B8v2vOn6xHupHpDTmOrPiOX3QOimT1hfgPzUvWI91A6Q0z/AOM+IR+SiT1hf8s/NR6xHup/iGn/ANZ8Qk/JTJ6wvwH5vOn6xHuqP4ip/wDWfEJ35KJPWF+A/NS9ZD3VL8QM/wCs+ITW6KZPWF+A+F/0qY2iPdSd0ipgx1Z8RwXN838rNgTGGkD9Zm2W1stvM/pVpw+J66bRC6WAx7cWHENiFnDgmI6nr+pfqt8+XS17X9l9L7VD1jhev9H6wZ9Im8xMd8XhdLI6JhZ9bFFFCFNJhXVFcrZXvlPjl0b7riq21WOeWA3ETynREKGrEJ0aFiAoJJNgBuSdgKTnBoJOgQpMThHj9NGXUjUW1U5WHtB0NV061Or7DgdDbgbjxGiZBGqhq1JFCEUIRQhFCF9A8iLfA4bT/DXz8fKvMVTDnd5+q8PjW5sZUAG/v3nkVuum+mx10/atoMunsqAPn4LI9hvbQ8B727s27vhyUNvLu/08tKms0W03fblZV+MYoxqQoGc3AuBYakX20GuwrhbY2o3C0wwXc4eA4m9+S3MDWVO2LA3sOJ0tbWw3G9rLP4CwuRpsAPPbYWtb2Vw+jVQNxL2uMEjTn91HEU4MkXJuNSL6b78d/FT8ZlIVApscwO1wQF2OnjY3rpdJMW6k1jG6zPgbfPco4VrHAhwmYj4gDhf591lpGQFM9rDfXUjQncLrtXdwuIFWi2qbSJSNM1IyDUxeDuO+B57ly+Ixl53dfzSovbTRjpqLHz/lXgMdiqj8WawOjiW9w05jSe9baeHd1bRAJJcQBBJsIJ13xlBEOvGq20x7dZGAt0kG+lwVsSQcuxF9fK3fevcUMW6r1bogOHz188SraeCp+huqk3aWzoTBtExYyNJloMGbqP6UOvKk9xUDuuBm9x1rC3GD1sWF1soA11mfj3/Bcs0XdVIGgk8hceE8rFayL5bHX7+45dPbXcJTY20xoeXH+W3f/pDr5fjTvtr7KAUOZaY+nLlfu3a98VtPx4ezWpqjLbTzHddTlNL20v4C/f8AnZdf61XN48/VanM7OaLTynfvy3/VROuu3f4W/R8qmDbzzVD2EPMjf3e7y8/VYl028PLcHvt/+0nG6lSZ2ZI4ctx3x/tOZdNu7yHjv2dfbSB8+SpuaALjdyHH+G/fu07o1G2n4uPL99SKoa2CLeZHL57lMY9tN9tB5b9nWoT58laTTIDZGvIDh/Df9FQizdZKG1swC9kCwMYa2gF9SaqoOcXvBMgGy6G1qFJmHwzmMDXOa7NG8gmCQeXADjzXnPTQvaw3sk7v+Ty/d/rXc2afa+H6ro7AaRTeefD/AAPDd8VhDmWEx5isomGF+iZFyiG1ipkJve+U3yZfS1vXO9T4gVCwOb1ZrdbJnPOuXhqIzT7HZy716brBHOIXUcJ5thlM80k3VAGTKhIzyoY8sUbLsAhvbLfUkmxJY+fxuw8TQbRo0qecwyTeGOD5c4HWXDWYsABI7ItbVBkkqhxPnzDsyyQLMsqRzIrMiXHWKBHYhjZVYbAW1JAG1bcJ0ZxTWOpV3NLHOYSAXQcpl24XcN5JO4k6qLqzdRzUvEef8K+kcc0JJdusRI+sXO0bnKL2OfI4Y37/AM65FVYbotjaUGo9rwA0ZXF+UwHi9p7OYZbHTcYIZrtOghUeCc3HBRFGjlQyl5lvGnaWTL1TjMACOy+qgDXTy3Y/YTNpVhUD2uDAGGHOsWzmBgm922Jm1+cW1cghWJOc8IEZBFMn2olVRGgVSJuuUgBwATGAl8twCdWGlZmdHscajXuex3Zyky6SCwsMy0kw45ozQY0Bun1rYiPMp8HPEck62jnkJafJZQ0kfXSiVeqXNvluhGmm19qg7o1Vo4aC9jQBTzbmuyMLTmMaTDgb31jVPrgT4rnOZuZVxEEEMamNUeV2QABLySM6Zbb5Ua2wtc2rubJ2M7B4irXqEOc4MANyYa0AzPFwm2tpuqqlTMAAuZrvqpFCEUIRQhe2cmcwYZcHAjTxhlRFYEr2WN7KxPonQ7715WpWpiqWFwmTb4rxuOwOKdiKlRtMls6wOfnyF1MOKRxdGVlvupUjfxG9SF7hcmpmYcrhB5wN/nVLm9m3lUoVGYR8OSpcTwXWst8tgD4ab/foe+vNbX2XXxeIY5hhsQSfstdPEvpXYY3bh9Prr8lk3KSTOpUCFspLMLFcqvfXQHt28D+8c1ux8Tha/WUHAhh1Notv5EGLX4RaescMHU6FESTVGYQLghxboPaBi5uQNJAgpineRDiSFyZAyrcXtl33sL3+7fwF+1MDi8ZU63RkWvoPhczz+iizDhtf0Bp7WaCdLjlAOg3nWYG8uxGOMTRwq6OyvdwCBlQgJqCbf4gNr+FdDB0qmDptoucHQ6TrZthF44ytOGwLa1GtXqghrmwwmDLrkQbn8hExxEyrPHJY43wzHKq9eATYW7SSKL27rka++tlXDYakGFrGgON4FjY/JU7EZUxDcUyn2ndVpbc9p+g+11QmxmbGxONY8mVWVEtZWW7b5st2AvbcDcMTVZP/AOw0gdmCBA3fWO6OViuxQpNp7IqUpAeHAuBIsYMNiMhIiS0zYye02FFIspe9gudj1aE9rOAztdhcLt4kWFra15ats7GOrF5pnM5xNo77d3wXGYzDmk43dkALnCA3KSGiAYmDyBJMzvXWYSZioLgK3eOyba7+fjY17rD9Y6k01BDoE98LjOcxroY4EC8wBvnQ8OcjhZSF/Z/8fEVdHm6rNQHh/bxHn5aSmZvZ+7wpwq8wg/44KQv7P/j591RjzdXGoNbf2892n23JhbXu/d5VKLKouGb/AFySxvbw/d4edIifJUqbwOH9p3c/I707rN9Rr5L5/d7qMvm6l1og3F/5efmyYG9n7vEU4VYeBH+OIT8/s/d5Uo83Vmccv7eSY51O37vA0wFW9wk6fLgfPkLzDplPaw3sk/mvhXT2d+b4L1XR0yyp3jh+ihbnHB9Vh1Ecgkh2kMERKlojGSq5wpyyZXAsAbagHtHzbdg7S66q5z25H/lD3iQH5oJyk9pstJklu6R2R63rWQFSxHNsRiygvmzln/s8IE+qFS9j9myhCOyDve9yb7aWxK7a2YxliB26h6uzpAn2gS78xGkRAbETUEf4F1vYPpAwMQssUp7bsSYYvRkn61lsZDshKX9m3dxcR0X2piPaqNFgLPqatp5AZyj84DiPrvsFZg3fTis/C804d2klkhmIvhXkdII/TgZicwDKqh7qL+W1bq+xcZTaylRqNFqzQHPf7LwIIJDiSyCY56qIqNNyOCmXnbBHDrE8cxIwywEGKMpmVCoYdsHRiCL3tbQA61Ueju0m4k1ab2AGrn9pwMF0keyRcWMRO8kWT65kQeEKCbnfCsmIzwPI8oUXcKAQIljyMQ1wFcM4I1uRoKtb0cxzKtLq6jWMYTYTbtudItBLmkNcDpe5S65sGQquM5uw7z4GXq3tBfrbRoubRQAiBiPzdrga6KNb6qGw8XToYqlnH7SMsucY1mTAO/gTa7jaImq0lp4JuL5tw8kcEbI/2MsDAiKK4iSIJMovfMzSXYBgQRa9rWCpbDxdKrVqtcO2yoILnwXufLDbQNZAOWCDMTMoNVpAHdwWZzxxqDFzRyQKy2jCPmUAsysxDGzNclSo1PdXQ2Bs/FYGg+niHB0vLhBJABAtcNiCDoN/GVGq9riCFzld1VIoQihC+nOj0f8AZuE/9Jf61+fNtMLtp4iPfPH3jz8/Xq0/YCs47lbDSNmMeR9LvEzRsbG4DNGQWFzexvUKG0MZhZ6uodbzJ3xvJUKtClWEVGg96xMXwzHwA9VkxaAdkO3Vz93pN/dufcmg7716rBdL2FoGJbBi5Gn6leaxfRak8zQcW8jcfUfquR5l5unwgjbE4SVGzMD2jktqMucdlj2/MaVvp49uJqvLSNI15nUa2nx4LMNgP7YDoBECQZ1knW2nG4Pjgx8/hGnbMPtnzCxP2diF7vS7OUafo3F6sZisQM5Au4g7vDTgu7iNj4apTw0uB6ppDhftHW2mj5IB1lVJufFOFTDhjqozNZrrYrlUaja2/kfGqW9eKLqJuJtppr9dOE8lDAYRjNpvxdUQJtvmRBJ3XmdO5RcR56R2Byk5VGoLAO9suZrm+3dvvYi9D2VakTYGJ36D9Y+ZWmjR6nOGukE2to06t5G9nRHEGyOP87db1YN8iZcuRyS1vSkIzZla1rBtdTr31Ou+riGtaOzA+ccYv8FVsmnRwfWODJe+ZmwAOjRYgjiRY8IgK+3O5bJinQ2RcltyQCBnFzYHNbx1qs1qrqwDyCfpvgWPCZ+W5Jmy208BUptMFz8wEkQBaDEEiJkWnlqs3HdJMruCqKqozMp1L3YMhubgWyv4X/rs62sYvcEnx3fD4KrB7Mw1Jj21QXZ2BpEwLEG0yRcc+5bMfSvI7ZY8OSx0UAlje972Gp0vpVhxVRrXEnjrAA4buHiuSzo4ye086zaRbhv8YPcuwwXEuJyAMvDHynQF540NhbtFWYNrp3Vhb0gw9I/tHgiBAAPxveTfl9VD8LvdfrI+B/8AZdC3DMYyCxgjcgXv1jhTbUWBS/he49lYH9MmXy0jyvr8v1V9PokwHt1SRyEfUn6KWXl/EnX6Wq+S4fTv/SkNUnpXX16sR/v7LaOjWD4u8VXx3A8cF+xxGHLWOrwOCTpbVZbD7vdTZ0wqA5alPw+H3VZ6LYQnMHO8f8Tu82XmvH8bxrCN1k+ZEXTMio0JvdQSRci+4zWO2gr3Gyto7E2gGjr3teYsYFz/APEj5/FROwaFJpbknnJn6rB+u+Oz5/pDf8uVcv3Wr1f4dw5v1j/7f/VVerMLly5PmZ+qWPnnHK5fr73/ADWVSvdsABbbxqL+jtP8lRw74P0AUfVWELcuT5mfqlxHPWPf/Hy/8qKP53qA6ONPtVT8AB906ey8Iz8k95JUU3OeOYgnEEWINgqhTbxFtR5Ux0cZlvVdPcI8P8pt2ZhACMmvEmVn8xcenxbK07A5RZQosovv3k3NhuaVPZ7sGIc7MTyhacJhKOHaRSBvxMrp143gfscrKgWOyj6KCYJSgBkZiftRnBNiDqb91eS9X7S/aZgXEuuesID2ZiQ0D8hDSLiNI5rp52W+2itYrjnDGw+KjQZDLnKAw6qwsUZWAuAxVjYk5cwAsAb56WzttMxVCo8yGRm7WovIINiWyLwM2UkkkiGX08pCt4jmzh7B00XrFhEhTDKI26uUMQI2ufQB9IsBfTbXIzYW1WllTUsc/LmqHMMzCAS4QPaP5Q0wLi9pGqzT9OazeZeP4F4p1w5s0scSm0ZUM0chOY7C+QjuF7bCt+y9mbTp1qbsTcMc8iXAwHNAjefaneYB1Ki97CDCvpzpgUkRmhjlHUnOFgCDrEIMWUNcjQuDqRqD5Vjd0d2nUouY2q5hz2JeXHI4HNpA4FtgREc0+tYDMKuvH+GtFi4rBFe6Qgw3IRI1WJs4GbNnF9T+8ki47N2yK2HqzJbBf24BcXEuEaRlMCB8QBCM9OCFbxfNmAllyZIhGW7J6gKRlMJjJa2gv9Iv5WvWehsPamHp58zi4C/bJ1z5rTw6uOcxvTNRhMed3+VznSFxLDSuogKO6vJmlSPq1yFvs4wBo2UX7ffpXc6N4TG0aZdiJaC1sNc7Oc0dp0m4m3Z3RxKqrOaTZcfXp1SihCKEIoQvp3o8/wDDcJt/dL/WvgG2IO08QDHtnh7zl1afsBdCfd+DXMeBEWseV+181MJtZ7RusPHTxTSYnDpIrJIqspBBVgCrA3uCDoQdq2A5SS1wBE3BidTM7+E/BRXHcwdGPD8Tr1Iga1gYAEA1vfKBlJ9orbS23iqTj2gRM3vqdPhw3KJptK4fF9BTf4WMU+TxEd3iGPf5V16PSRjh22R8RwnfCrNFc1juiHiSOVWNJF7mWRQD7msRW9u3MGWyXR393nzCj1TlX/JTxP8AUD/NT5qkNtYImM/nzv0S6t3BaHCuhviEpPW9XCANMz5rnTQBL+O/lVdTbmFaJac3dH6338ExTcu04N0JYaNicRM84tYKF6sX8dGJ9164uI6SVXD9k0N+M7jyHBWCiN69D4TwDC4a30fDwxkALdY1DMBsGa2ZveTXMdi6tYftHzBmCZntaR+nBTygaLSPurO/LE2v3WuPrp8lJNrPaDp9rJp591azl9q2ptbfO7l8lFNP4/dWd4Afu1/9VJJlBFiAR4HUHTwqdAhoDrfLh+nySK885x6LIJwZMHlw8oucgH2T+C5R/dnzXTyPd7bYfTXG7OcG1XdZT4bx3Hu3fHjOaphmv0sV49xngs+FfJiImjawIvYgg+DC4Ox76+w7I6SbP2myaNQTwJAP+fsufUovZqFQrvqpFCFFNXMx+rVNqjrApooQihCKEIoQihCKEIoQihCKEIoQihC+nOjw/wDZuE/9Jf61+fNtVC3aeI/nO/8AiPJdWmOwF0Jb8Xrlvqz42vz7lOE29U5zHw4pp2b8Xq81hf4xfv5ce5KEhNVveS6Tx475HJOEA0NqENIP15DkiErNU61UuPa17+R5IASA1APh0njx3T3eeCIShqtbWPxtv7uX6pQm3rOX2/z3ppwar21SPG1989yUILUnVSf98xy4ohNvVOcwfvyTTs34vWg1jfjff3zuShJeqS+XSPr3ck0qmp0qpGn15dyCEZqn1zoMfG/fyShV8ZhElRo5UV0YEFW1BB0P7qrpVnscCwweR5hMheW829Euz8OIHjC7m1vFHa5v5Mff4/Stg/8A5Er4f9nju2yBcRI+Q8hY6uEBu1ed8c5bxOEYieF1AAOcC8fa2+0HZvfS1719M2X0t2VtGBRqgOO51isT6D2ahYkproY17XEZTKi1R1iUkUIRQhFCEUIRQhFCEUIRQhFCEUIRQhe7cm9IPD4MFh4pcRlkSNVYdVKbEbi4Wx91fINpdF9rVsfWq06XZc4kHM3SSZ9scd4W9lamGgErZPSfwz1r+DN8lYXdEdsmf2O/3m3vMnt/FT6+nxTfyncM9Z/gzfJWf8Hbaj/g3e8y/f20/SKfFO/Kfwz1r+DN8laj0S2z2v2R3/mZfXXt7/p8VHr6fFIek7hnrP8ABm+SqD0P21mnqP7mcR/HopekU+KB0ncM9a/gzfJUqfRDbQbHUx3OZwiPbSOIp8UHpO4X61/Bm+SnU6I7ZItRjuc3geL0CvT4oHSdwz1r+DN8lRb0Q20HT1MXH5mcdfb1Gvej0inxSjpP4X61/Bm+SrW9EtshsdTwtmbB017fjz0R19Pim/lO4Z6z/Bm+Ss56Hbaj/g/uZz/j5p+kU+KcOk7hfrX8Gb5Kub0R2yB/w/3Nvff29POqXX0+KD0n8L9a/gzfJQ7ojtkj/h/ubbT+PyOcI6+nxTfyncM9Z/gzfJVP4O21H/B/czh/On6RT4p35T+F+tfwZvkrQeiW2Yjqd+mZsb/4927vuo9fT4pD0ncM9a/gzfJVT+h+2i6epm/vM5fx8k/SKfFA6TuGetfwZvkp0+iO2gL0eH5mcOT9277IOIp8Up6T+F+s/wAGb5KmeiO2Y/4Jt7zba2Hb+v3R19PimjpO4Z6z/Bm+SqW9D9tSJof3M4j+NP0inxTvyn8L9a/gzfJV/wCEtswP2R/qbbTTtqPX0+KRuk7hnrX8Gb5Kqq9D9tOcT1M97mcP5/h3JjEU+K8v6WON4LFPA2CZWt1nWFYmQksVILZlGY6N4177odsvG4ClVbi2lskRcGwngXfosuIe1xGVcDXs1nRQhFCEUIRQhFCEUIRQhFCEUIRQhFCF0EPJWOZQy4diGAIOZNQRcfneBrH6fR4rnu2phWuLS64to77J/wBRcf6s3xJ81Hp9Hil62wnv/J32R9Rcf6s3xJ81Hp9Hij1thPf+Tvsj6i4/1ZviT5qPT6PFL1tg/f8Ak77I+ovEPVm+JPmo9Po8U/W2E9/5O+yPqLj/AFZviT5qPT6PFL1thPf+Tvsj6i8Q9Wb4k+aj0+jxT9bYT3/k77I+ouP9Wb4k+aj0+jxR62wnv/J32R9Rcf6s3xJ81Hp9Hil62wnv/J32R9Rcf6s3xJ81Hp9Hin62wnv/ACd9kfUXH+rN8SfNR6fR4petsJ7/AMnfZJ9Rsf6s3xJ81Hp1FHrfB+/8nfZKeRcf6s3xJ81Hp9Hig7XwY1f8nfZH1Fx/qzfEnzUen0eKfrbCe/8AJ32R9Rcf6s3xJ81Hp1FL1vg/f+Tvsk+o2P8AVm+JPmo9Ooo9b4P3/k77I+o2P9Wb4k+aj06jxR63wfv/ACd9k5eQ+IE2GFcnwzJf/qpHH0ReVJu1MK52UOJP8rvsh+Q+IAkHDNcGx7Sbjf8AOoGPokTKH7UwrHFrn3Bg2dqPgm/UbH+rN8SfNT9OoqPrfB+/8nfZZvF+CT4bL18ZTNfLcg3ta/ok+Iq6lXZVnLuWnD4ujiATSMxyI+sLPq5aUUIRQhFCEUIRQhFCEUIRQhFCEUIRQhfSfAz/AGaDx6tNc37C+deU+i8NiSOueD7WY3n/ADCuk76+N+1v40KgnWDe831QSPdfbN5HzoQSIndOk8jzSFhrp427R03t3+NOCkXMvbjFzbXnx4pTvvr45v8Amv8AfS3Jk9q5vxnvnx/0hjp563ObffzphJxEQNbyZ115wlLDW2g00zHx9tKDv1Uy5pkts21pPHvlAI0vqPDN5i/fRB3JBzRBdccJPEc0ike/Sxvtt5+FMqLSIjfaDOmnOLBCnz18c3d2bCkU2m9jfv3dmPBAI091+0ddr99EFIOZaBwm5vpO/wCiRiLjwvtfy9vspgFJzmyDunjy7+5JIdNddNNe7woGtkqhGQ5r247uCcSPfc65vbfvpKZLdN8m898796RTofH2/wDN/SwpnXzyUGkZDBv3/wA36QP8lXIsYgjZMm5vfN39x8dABVLqTy8OldSljsOzDvo9XMnWd+48bAAa/UqkSL+42121/wD2rrrlktm/A7+avcPxixsSwzE2AIO17eJqirSdUECwXV2fjqWEqOdUGZxgSDxjiY/0q+LxAdmYAL799t/O96spsLGgEyseLxLMRVdUa0NnnrprzmT9dFnRY9et6sqw7INybB7Zc2XW+7eHjbaodeDU6uDN4tY93dK1eqqjMGMbmaWdjMA45mzpm3DMWkgBxI4BebdNHpYb2Sd/mldzZv5vh+q6HR+erffesbASRtw6MMsAkbFiFm6qLrepKAntZcw7RPb37r1zqzKzdqvLS/KKOcDM/LnzEaTGkdnTfE3XphGT4/JaWJ5ZwT4fEvH2GQyiL+0KxYxNazKQPSUFha/fqNL8+ltjaTMTQpVBIdlznIQBmE2Mn2XQDMRwNyJmmyCR9VZxHK3DvpKqrMU+0QgTpuhjyyZiR2crtcC57NwDYis9LbO1zhS97QHQx3sOFnB0ti9wQL21gxYpmnTzJE5PwXVhgSydZCDKJ1KkSTtG62sCAEUWcgXveh+39oipkgB2V5ylhmW0w4GZIMuN2gmNJ3oFJkT51VKTgXDzho5lLAtKoK9cl1BlKNGQ1j/djNn279jWxu0tqjFvoOaIDTByOg9gEOkSPaMZdTuuLxyMyyrWJ5X4eHnUNbLEGW+JjsjWckPa5zdlNFDjUa9rTNS21tU06TnN1dB/ZvuJaJbMWu67shtMdm7NNkn7p/F+XMCZJz1i2B0dXjVVYLHkiEaABs+Zu2osO/UGjBbW2mKdIFhkxYh5JBLszsziSMsDskye4hDmMk3UOO5Z4d18QSUohlliYGVTn6sXSz27Acm2Y6Cp4fbG1vRnuqUwXZGPENcMub2hE9osiYEE6INOnIg8VHxXAYOHCtGioXkmhDEyRtJCGRXdFkIOgIIzAjfU6WNuDxGPxGMFSoSGtY+LODXkOIa4tnUiDBB0kaghODQ2ByVqXlXh/WuA9lEaMF69CyhmcO5Po3VVU5cxBvfSstPbe1jRaSy8kTkcASGtIAHtQ4kiS0EREEqXV05WPzHy5hosCk0L5pMyZvtVbNG6khso1BDZQQNr7neulsza+Mr7QdQrMhkOg5SO00gRNxBEkE6xoNFB9NoZIXGV6pUL6P4JH/ZofHq001v6A8rV5YOXz/E0j1zxvzHjP0j5q51W/lf93jp/KnmVHVG9tJ8m30SmP8a2/wCm9GZBpb93xj/6ykKb7d/j57dn+dE+fJQaeum/jz07P1jnbRTF+O/v8qMyDRIMR5vy8flyQx6ff43/AJWozJGlbx4z9I+aUx77W99v3relm8+SpGlckafGPm2fkgR7f1vb9y3ozefJQKUEE/OY+TZSLH/Txv3eVqZcotpWju4zu5R80oi/H3eVGZMUSTEebcvD580Ee23d4+W/Z/lRPnyUCnppu48tez9J5Sgpttv522/5aJSNO47+fD+WUjR2Hu8/9KAbpPpkNM8Of2TjH+Nb9+/ZtRm8+SpGlu3/ABnf/DHf8k0R6fjz8qJURSJFh5vy8jnYKE1O2/nbY/s3om3n7p9X2jwnnGh/hnut3wkKfyPj/pRKRp3+B4/ZK0X8x7f5WoDk3UiLEbx37uUJAn4+7yolIU/N+XLzv51YOHgSmTMSSBe4FgNNLhL2Hv1vvVIohtQ1JMnu8Bv+feupU2i+rg6eC6toYyDI6yZMS51y0ncTlsLNsvOOmZe1hvZJ/NK7ezj7XwXS6OtIZUPMedyxsHy7hfoyTyyuBZGZldMrZpMskKJlLCRU7VyT7K5dfauO9Ldh6LGm7gAWutDJa8mQC0utAA75XqQxuWStZ+TeH5pgMU+WEKGYHNlJQuz2SM5kvlXL2bEN2r2Fcz8Q7WyU3HDiX5iBEWDgA2S8QYkzeRHZAkqfVU5N1mz8t4UYnqU61rYcS5eujzTOyqwjjPV2W2Zib5iQpros2tjThevflbNUsnK6GNBIzOGaTMCIyiSNyiWNzQOC1DwaOTDJGcXP1edQI2mTIC0uQwZdhKF7ea9h4W1rmjaNWli31RQZmgy4MdmIDM2edcpd2csSeKnkBbE+eCeORMGJyjSzBDD1itnQBWBYOJGKXtYAjsC3faou6S7R9F61tNuYPykQ4kiARlAdEyYPbdMdkFHUszRKZgeTMJOge7xAwRsLSqQXaMsSQUvYuMtrjXY62FmI2/j8O/IAHnrHA9lwhoeBqHa5TMwbXI3lCk0ieShw3L2EnnhjfNGDgoHJiKqOsKjO0pIPvIG+psLmrKu1NoYbC1KrIcRXqCHBxOQE5Q0At5Re40kwCBjC4DkEp5R4cIet+lsxYArGHQMSSI7XZcv96sna0GW1yB2iht3a5xPU+jgAEy4h0W7UwHT7BbYAkumBPZB1VOJlWJOQ8GuIyPLMIzHfSRM2frRF6RQArldWtYeNzeqG9JNovw2dlNufNHsujLkzaBxvIImSJtEp9SzNE+ZUR5Jwhd8jTtGOo7XWxjqhK0qySSHJZlURBrC2hOvfUz0i2g2m3O1gf+0tlf2y0MLWtGaQXZ4k5rjTcl1LJ8F59iowrsqsGAYgMNmANgR7d69tSeX02ucIJAMcOSzHVRVYhfTHC+ARSYWHtTKTFGbpPICOyp0GfKPur4PiNu4+liHtbU0cbW08dFr9X4Vwk023voNfBUsTyZKHzx42dtGzRyu2ViSCCGjZclte5hqNB372dMcTkyPY2eIFxHEFxHDh8VV6pwg0YPDyVz3FMM8bfaYzG4SRdS0kXXYVgBrkMYC31HpWIANxreuphulmMaP+ClWZpaWOnnJJ8LcDaFS7Y2DLMmWPPHX5rn/+J5LhOPIwPe0T5vuIa252Ndyn0pe9k1NnQRweBPy+qz1tkYQkSPAH5wR81aXEKFK/WDe974Zr3G/aL5hby2rD+LsUSD6tb/V/iFodsbCFweQJ7oHhoqkfFQikHjoIJ/NgaRtb37TkED2HvrZV6U1akOp7OAj3nx9B4yoepcI99wJ14D7b0yLiSgMg48e1ZgXhfa40zliyHfRbjbxqJ6U4gOa5+z2kD3Xf4g95Qdk4Um4Hhb7FSLxEhcn/AB2O3mrltddHK5v31YelwLs3qw/1iPCISdsfCuIdbwj5CyWLiLZQo45FbzV83jqxXN++h3S0Zsx2Yf6x9IhL1NhS7PbwMW5afJJHizlEY47FYd5z33vrIRe3kTQemAnOdmH+ofTL+ik3Y+Gz5xE91vA2VzBqZGYnmCFTa24t7lZ0UHTdday4jppUa0Cnsw/Ek/Rs+Kbdi4TLlt556qY8IVio+sURINx2kvfb1is/47xTZPqz/wC3/qrRsjC7o8Aqj8LxpdlixuMlF8uf6NOEOU5bowzIVvfUGx3rfS6b0m05r4OmDrHWNBg8QRM/6VbtkYc2yj+lW4eTeJMTGcVilC6qxy5DbazfSA9/aulqoq9P6LXZ2YanfdmJPP8AJCsGyqMk5RJ5BVvqzxnrO1LOFUEZxICLWvoquSb+y9+6trenmzDTn0YTwkfUtEfZVjZFICA0R3BYWMk4jEuf6RISwzNH1pE6AHIGeAnOoJ0vb220ru4DpNsXF1BSdTybgXAZCYmA8dnxjkqn7Lpgew0/AT91kDmbF6f2mbTb7Q9/v13r1/oOFN+rbfkFnOEoH8g8Ag8z4zNm+ky3tb0z7dvdR6Bhojqx4JnCUD+QeASDmTF5i30ma5Fj2zsPfT9Bw0R1Y8Al6JQiMg8AheZcWAAMTNYf+Y3dqNb3oOBwxM9W3wCPRKEzkHgFR4txSafL10jSZb2zG9r2vb7hWHFYelRI6toE8FfQo06YIY0DuXR8F5SimGGBacmYgl0CdSB2s0WZiLSgJe+u/onS/jsdt2thzXgMHV2AdmzE2h0AGWmY3ae2LxtbSBjmtSDo8iOKMOeUp1keosGWKSOR8zXXukRUzWA30B0HNqdLK7cF1+Rodlfa5Be1zRAg/maS6JJjeRczFAZo8wosByPhZFwzddKOtjZ2RgA8hUKcsK2J/OOoDiw3vcVbiOkmMovrsNNpyOABBJABJu4yBu0lhk6RDiCi0xdVMXyhh1w2IkWd3aGQKGyhY3BKiwvqX1a+oII0UjWtNDb+LqYqhSfSDRUbJEkuaYJvFosIMQZu5phpiaTQ0mdFqT9H2GE4TrZkALDI+XrJ7RiTNAVX0bnKeyx9+g59PpVjHYc1Ora6wMtnKyXZYfJ1i4u0cSBBMzQbMT/lRNyBAEmcTSMI2cg2ABWIqXjNr2ksxF2K6qbKRrVg6UYnraVN1NoLw2bkwXAw7d2ZA0DrES4O7KXUNgmUwcp4VpsdCBInVTQJGxa+RJGKu5Fu0u1ifFdRuX69x7KGFrHK7PTqOcADdzQCGg7jrIg6OsYsdU0lw5hN4byth1nmRkmlU4JplhIAxMT51UIQAR1ltdtm9Gnitt4p2HpPa5rSK4YX36tzcrjmvByzz1HtIbTbJHL4qvjuSsPHhZpfpWZo2cCwul0sBE+W9pWvf0vcb3F9DpHiauMpUeohrg2b3v8AmExLW6HszfURBRotDSZXFLMwUqGIViCVucpK3ykjYkZmt7T416w02F4eQJEgHeAYkA84E8YHBZ5UdTQihC+r+Xh/ZcP/AOlH3fsDyr884xg9IqSO1nNo/SI+66zTYLQt+Lf7VkNOxgXvPZ0+Vo5abk5SFfLT2f7VIsAvFp1jfHHLPwRK5rmDkHAYsHrYFVr3EkYyP96jUd1mB399b6G0a9AnK8xeJkgi8buO+x3aC1YpNAgBed8d6DG0ODxA31WcEaa6hkU7aCxHjrXYobeIOWswzyBnnY8IM3+BuVE0uBXE4/ox4nEWH0ZnC37UZDA27xrf9166dPauFf8Amg8CDI71AscuYx/D5YGyTRvGxFwrqVJFyLgEai4Ovka3U6rKgzMII5XUSIVe9TSVzAcPnnBWCKSXLqRHGzWvoL5QbbVW57GEZiATYTvTuV1vB+ifiU51jWEFQwaViBrawsoZg2uxFYK21sPTMCXHg0T8d1tPFSFMlej8H6FMHHlaeSWYgLmW+VCdM3ojNl30v7641bb1V8dWIFpNzHyi3cfirBSG9eg4Hg2HhAEMEUYBJGSNV1O5FhXDrValRwzuJE754d3n4q0ABXSPxb/aqHshpzCLcItxsPnqmEtvxb/apmmI0vOkd82yxb5bkpSAfi3tqsMlthNuAPHla1/nro5VXHcMhm0mjRwDcZlBII1BBtcG/eKvpPdTe7ISBP6GN2/uvvSN15Vzd0SFbycPNx2mMUjG9gBZYmsSSTf0z4a19F6P9PquEDcPjBmYBYgQY+Vvhu3LJVwoddq8txMDRuUkVkdbXR1KsLi4up1GhB99fX8LjsPim5qLw7zw1XPc0t1Uda1FFCFFNXMx+rVNq6/g/JQmXD9qYNNZusEV8Oq9r7MvcHrexoNrsB514fHdIzhX1rMinbKXQ8m3aiCMnauZsATfRam0c0c/BWW5HhDTZ52QRxJiMrgLKIpFeyMuv2wkEakaCzeJArO3pLiHtpZKQcXvdTlpludpHaBt2C3OQYmW6RdPqRe/NWMf0fwwOvWzSFBHI7hVXOxiTOWivoUN7a2Nx51ThOlVfGMPU02h2ZoEkwMxiHWkOGpiR4FN1ANNyiTo7VTERMx7BkYIuZpQqCU/Rds2hyjNbWxtrYA6Wuc2pNMCHBokwGEuyftNYvc5ZtIm0k6jS/nkrGP5SgxHEMXG+IaNk6ph1rjMwkiFySQSWEjID4Bqz4bb+Kwuy8PWZRDw7OOwLDK8xAtYsDiDvI5pmk1zyJ4apMFyNhuqxRZnkaAyqCraFoo4mI21Ad3GwNTr9JcZ11ANAa2oGHtagPc8D45Wg6kTpKBRbB5T+izeO8p4dcZDHE0wikneBgVzMpjKZjHluStpBa4voSa27O27i34CpVrBpeym2oIMAh2aJmADLbwYvYqL6TcwA4wrOK6O1EWLZTNeDMULKuVgqq5XsksWsx1svdpe4FFPpaTWw9Nwb+0gGCZBJcAbgCJboC6eMQ4s0LE8E9+j6Ilnjed0iusqKitM7hY3+xANiuWYb69k6G+kR0rrNIp1WMa58FpLiGBpLh2yRIMsNhIuLo6gahLhuj1J58WkZkRYpWjjJAMYKrmAdrlidr9kAXGpOlKr0rdhcNhn1cri9gc6DBgmJAsI4XJPuxJQKGYkBRSchw9XE6STFjl6xMqlmLQHEBYAN2spWzd58tbG9J64qvY9jAL5TJgRUFOX8BJm02+S6kQI82lc/wA9cJjw2JEcKuq9XG1n9O7KCc3gb93dXZ6PY+tjsH11YgnM8dnSA4gRxEaHeq6rQ10BfRvL3/dMPp/hR/8AQK+IY3P11Xs2zu3D7rpN0Hcr/urIc0ez8h91JL7qZz5vZv3D7oRrrp+6n+0l3Z47hz5osk91Qh1+zw3DnzQg7bU3Z8g7Nr7hz5oSTRBgQygg9xAI8djVpdVbUkCD3AfqlaFBFgI1IKxRgjYhFvUm1sQTFz89/eiArA9lUtz5PZtbcOXNNHuqPaj2eO4cuaEuumn7qn25b2eG4cuaLJPdUTnzDs3ngOB5oR7qRzZT2fkPuml91SOfL7Np4DnzSSVX2svs7juHE800vftVgz9YezeTuHA80tySo9rN7O47hy5oWbxzgUGLTJiIlcdxI7S30urbg1swmPxeCeKmHJaQRpb4WO9JzWusV5JzZ0UTQ3fBFp4++NrdavsOgceWh9tfUNgf/kV0dVtFvIOA7tb81hq4TexecyKVYqwIZTYg6EEbgg99fUcJj8Pi6YqUHhwPBYnNLTBUM1UY/VqbV2fAeSPpEEbfSShcBgnVkqCzNEpvm3uhvptXhdodIvRK729TIbImYNmhxtHA2vqtTKOYaqfA9Hkkq5+vIzQwyk5CbmbMWTftMpT3kiqcR0qpUHZOruHvbEgRkgA8gc3wCYoE3lYHNPDhA8QjMhVoI2Je4ILgkrb80b9n212tlYo4llQ1A2RUcLX0MTO881W9uWI4LDEraans7a7a308Nda6uRt7a681Wh5WJuSST3k6/fSFNgGUAQiUvXt+kdydzudCfaRQaTDqAiUjSsdyTrffvO59ugoFNoEABEpwxL69ptTc6nUnQk+diaXVU7dkW5Iko+kP+k2hvud9r+21HVMiMo4abkSULiXF7M2pudTqRqCfHWg0qZABaLckSUnXt+k2hB3O40B9oFApMH5R4IkpJZSxuxJPiTc/vqTWtaIaICF9WcvD+y4fx6qPu/YHlX58xjf8A9ipbtZzaP0j5711m6BaFvxb/AG0rIW2MDjNtPlaPkmi34t/W1MtHC06xy45fkhFvx+BSLWXnS8c9f4b33/DuEW/Fvb5Uy0zdt/5e+bRu4/l+ggj8W/2pOb2bC95t37ot5KEEfd+O+1Sc1snKOza8Tv45bfqhAH4/Aoa0SMwgd0b+OW/6IQB+Lf0tUWtEaXtAju3ReR46oRb8W9nlQGmbC/dutFo38d+neIt+PwKA1to0tPLSfy2/TS6EhH4/ApOaJFrTw5cY8/FNBH4t/tSqN7BzCLcItx0+aAlt+PwKmWjheTaO+bZbR8kkgH4t7ara05bDdwnjyta/z7mlt+PwKkGtznhP6GLxv+aSS34/ApFozXG47ufdfyNyaUj8W/papPaZuLyLRHDdH+/ikEgqDRY247t1uXHfv072qmN4XBMAJoY5ALGzxqwB8e0DY+dXYavUovDqbnNs2SLEC03Ate3LS6RAOq8M6WuV8PgWw4wysokEha7FvRK2tm29I19a6GbWxm0KFT0p5dkIAn4zfw10WDEU2sIyrho8bIoAWRwBtZiLWNxbXxJNetfhqLzLmA94Cokp6cRmC5RLIFGoUO1gd72vbeonC0C4uLGyd8CUZjxTJ8bI988jte18zE3toL3PdUqeHpU/YaB3ABBJKgq5JFCEUIRQhFCEUIRQhFCEUIW9Fznj1UKuKlCqAAA2gA0A+6uM/o7st5Jdh2Em+g1VnWv4p/134h63N8VR/Deyf3Zn9IR11Tij678Q9bm+Kj8N7J/dmeAR11Tij68cQ9bm+Kj8ObJ/d2eAR1z+KPrvxD1ub4qPw3sn92Z/SEddU4o+u/EPW5vio/Deyf3dngEddU4o+u/EPW5vio/DeydfR2eAR11Tij678Q9bm+KgdG9kj/8Ars8AjrqnFH134h63N8VH4b2T+7s8AjrqnFH134h63N8VH4b2T+7M/pCOuqcUfXjiHrc3xUfhzZP7uzwCOufxR9d+IetzfFR+G9k/u7PAI66pxR9d+IetzfFR+G9k/uzP6QjrqnFH134h63N8VH4b2T+7s8AjrqnFH134h63N8VH4b2T+7M/pCOuqcUfXfiHrc3xUfhvZOvo7PAI66pxR9d+IetzfFR+G9k/uzPAI66pxR9d+IetzfFR+G9k/uzP6QjrqnFH134h63N8VH4b2T+7M/pCOuqcUfXfiHrc3xUfhvZP7uzwCOuqcVncW41iMTlOIleTLfLmN7X3t9wrdg9nYXBAjDUwydcoiVFz3O1Kz62qKKEIoQihCKEIoQihCKEIoQihCKEIoQvVeROT8HiMFHNNGWkYsD23AIDEDRWHdXIxWJqsqlrTb4Lze0NpVqFdzWusItE7ge/et5uj/AIf+pOp/WSaa93b/AJ1nGMr+99PssDttYnc4XPu6X863+KYOj/AfqT3f4knl+1UvTK3vfRVjbeL97huHJKnR/wAP/Un/ADJPD/moOMrcfomzbeLtLvkOHn9bJy9H3D/1J/zJPPT0/ZUTjK/H6fZTbtnEwJd/aOf1/wBb0p6PuH7dSe/XrJL/APXaj0yvx+n2TO2sTEZuN8vkeeKRuj/h9/7jv26yW3f4vegYyv730+yHbbxMggjXTL38bpr9H3D+6E7frJPP9ryFSGMr8foq37axY0du4Dn9kh6P8B+pP+ZJ5/tUemVve+iR23i/e+Q5qQdH/D/1H8SXy/b9tR9Mr+99PsrhtvE6yP6e763/AER+T3h2n2J1t/iSaX8O3R6bX4/T7I9c4mwz6x+UW880Do94d+pP+ZJ5ft0em1+P0+yBtnEExn/t7k0dH/D7/wBx/El8v26fplePa+n2UBtvFZvaHh3efpuTB0f4D9Sf8yTy/ap+mVuP0VY23i/e+Q5ebJ/5PuH/AKk7H/Ek+b3UvTK/H6Kz11ij+bjuHnl3c5VyDo24YULFADrZetk13sLZ71S7aGJDg0acYH2hdKhtB76Lqr6zQ68NgX1tHtd36qp+T/h/6j+JLpvt2/51b6ZX976fZc/13iQPaH9Omvm6ucK6NOGyOQ0Wguf72QE62H521U19oYhjZB+i6WysdWxNYtqPECToATeO7v3qDH9HPDlkZViJHlJJpvpfNrbxqyljsQ5gJP0WTH7Ur0cQ6nTqAj+XTW0744/5VKDknhjOUEfaG46yTxsSO1YkbHwuL71EbSeXFjX3G632Vrq+1aVBuIqtIpugB2Ub7g8pGk2O665XpL5bw2FhhbDx5GZyGOZzcWv+cx7/AAro4KvUqPIeZ8P0WnZO0KuJcRUIsOEefPJZvDuW8NLFhWEkwbETCC2VMqtdM59K+Xtm3srmYvbGKw9XENLGkUqZqamSO1A017N++y9G2m0gczCcOjvEMzdU8TRa5JMzWYhmTLbLdWBRgSwCi29QPSzBsaBUa4P3tgSLAzrBEOEBpLjPso6h25ZsXKUzQJMGj7ayMsZLdYVhbJI3o5ezvbNe2wNb3bcw7cQ6hld2S0F0DLLxLRrN+6AdSFHqjEq3ieQ8QjFc8LN28qqzXkMQBlCEoBdbi9yLna9jbNT6T4R7Q/K4DsySB2Q8wwmCT2oMQDAu6JEs0XJuF5GxEkjxI8RaKwl1e0TE2CPZNSTfVbroTewp1ekuEp0mVXNcA+7bDtiJzC+kbnQbgASQECi4mOCT6kT5EcvCA0vU6uewwYp22ClQLqba3OmlP8SYU1HMa15IZn01EA2BIcbHhYo6l0SnwclSdZPFI6q8SxsGuRGesdUBYsoIXtXvak/pDR6qlWY0lry4Rq7stLiAASJ7MROqBSMkLH4/waTCTGGUqWABut8pB2IzAG3urp7P2hSx1AVqUxJF4mR3E/VQewtMFZtblFFCEUIRQhe5dGFv+HQ3B3fu/bauDjZ650Lxe1iz0x2YcN3ILqWK66HfTTz9vhWUSuW407wDra3Pv4d/6qMEeHh3eypXVQLOHDd3JY7aXB+7y0/fSMp08lpHy5ffydE5bW2Pd3e2/wDSkZlTaWZdDu3HnP6f4SsVtsb693t/G1AmVJxp5IAM33Hn50SyFc2gNr+Ht86QzQnUNLOC0GJ4d/P9VHJbwP3e2pCVRUySYHy70EjwPf3e2ndBLeHHd3qVSt9jb2ey/f7agc0LQ00c1wY7u7n3/wCE0ZfA/cfKndQBpxcHwPLzvR2fA/cfKi6c040PgeSRSt9jbTu8hfvo7UKLTSz6W7uQ5+eSYLaezw9lSuqgW2t8u5ONtNDse7zP9LUrqZyQLHQ7jxP6ed6kut9ja57vbbv/AK1HtQrQaWeYMSdx5xv/AF8UgK66Hy09vn7KO0gGlBkHlbv5/dNOWx0N9e721K8qs9XkNr33Jmmuh+7207qvs3t8u9U48GTP1jHRVKqAp1zMDrc6WtuNT7qydQ81+tJFhA+Pfa3LX5L0A2th27LOBptdLnBzpiJbwyw45p0fOSIAJOYcb0zEdRh7fpm+n7I8/bXZ2dOd08FdsEsNR2UbuEcOZ5+dOa4PwLHMmHMU0QVCMTGCw+zLsFVnuv5zKLA3Gh2F652O2lsxtSsKzHEumk6Ae0ACSBB3AmSI1gSYC9e1j4EHmtKLA8YiVFjlQswDdUpQyIJnLB2XLp23btj0bnUCsD8VsCs5z6jCACRmOYNJY0AtBm/ZA7Ojo0JUstUaJo4bjzh0wkRhAhRmDKQXmSVzL2SVzBM0ZB9FSQAb1I4rZTMS7G1c8vcBecrHNAboDEw6R7ToJLbSjK/LlG5Rw8O4jIrMmIjInjWVibKS2IU3iRivZdhH2gpANlv3VY/FbIpOa19Fw6txaNSIpkQ4gG7Wl3ZLgSLkb0g2odDr+qbjfp8OHOKlxKiRDGphyIzjrPtFadSNJPs0YFgW2NwRRQOzMRihhKNElhDjmlwb2eyQwzdvacDlIbqIIKDnDcxKj4XguJSwRSJOmSRmkGYjrAImYu7nKW6sOSbEkXcaXarcViNkUMRUpPpnM0BpgHL2gIaLgZi3eBMDWAk0VCAQU6Hh/FAZZBIqMrpAw7It1ZRowgC5UQFkKhbXF7Ai9Qdi9iltOlkJBDqg1M5g4OJvJJGYOJmPzEEhPLUufgmy8q4vFvnxM6BzaNNOz2J/oxUBQAihiSAosfK5NSbtvA4CmWYamS0S53G9PrJvJcSIBJNuNoS6tzjc+ZhV36PJyEMckTZkQ9psuZpGdVSO981+rJBOX2C1XDpXhWucKrXDKXCwLoa0NJc6wiM4nXkSTCXUO3LNxHKU0aI7tFq0asiuDLGZRmTOnddddTW+ltvD1qhpsDtHEEghrspgwd8HzoommQJKdxLlCaKOSUNGyIWuMwEuVJGhLmP9HOhGhO4qGF29h69RlEghzgNxyyWh+XNxymdAh1IgSudruKte09G+Gxh4fGYkwxTtlc8sgdj1hBVgEKqPSIPa7tr6fP8Ab3SOjgsc6i5rjETERcT50+/Pr7AGLea2aJ791uMbuHxWxxfH4yEIRgWe+rlZMwSx2sgLG4tYhR7NL1nw/SbAVZ7RHfae7d81g/C1Xe4fCe/jb4KueNTtkaDC9el7SmOVWaMr6S5bg5hbvy38BWqh0i2W7M3EVDTMSMzTB7iJMc4VY6K1gD2geETy14fBVk5qlWRlk4fiwg2KRFmuLjUA23HcxrsMxOzKtIPp4ylJ4uDfrfxCqHRqu0C99+sabvPMJcJzXMQxfh+KAuAmWNjm3Bz3IykG21xvfbUq4jZYIDcbSnfLhbu1lT/DdYAR8bO531+Vgd6OHc1TuXV+HYoblcqNa2/aLlbH3m9QxeM2VQa14xlMgwNZ+Tc1vgITd0brGzI365h4X+pUcHN85Mmbh2Jsvo5FZje3otsBr4XI8KtdX2UA3Ljad+JA+I8jvQ/o5VMEazex+/6f5bBzfMQ/WcOxYP5mWJyDvbMTax22B79PGxz9mgjLjKXOXN+XkKup0brEjL8fa59/Hl9UQ84ydWxkwGLDi5ssLZLWuMzGxGm+lDnbPzgMxdKP5hPh/lJ/Ruvm7Jtznz9E1OccR1ZJ4biutubARPktpYlrXvptb30y7Zme2Mp5f5mz5+PwVv4dqZ7ez3Gftu+d5Uo5wmzKP+HYoLl1ujAlrCwF9LE32N7agd1Vuq7Ma0k42nM+8NPP+0Do7Vgcbe999/KOSbHzLjmQleGvmHpZmKoBve7WO1t6or7S2HRcA7GAg6ZRmPyBVrejTy7l8f8A2/UqOXm3FKzD/huItbs2VzrtqQpFtO6tNKvsiqwOGNp/EgW7iQZ71V+G6gIk/I/fl/tZ8/PmIUWOCKOp7QcsthoRZSAb2/nWgHZU/wD8tpB0gg/SyG9GjN3GO7/Kkw/SG8jqqYGV7g3C5ixNr9kAbCm+ls9jSXYtg7yI+qQ6Ovgyb9x+/nusofymsjlZsIVI7sxDjUg5gw9o27q20tk0MQ0Ow9cO7oI+SKmwSNDfmD94+XdF1EOlPb+zDfX7Q7d1tN/3Vo/D3/8Ap8kvUQv2t3PXx+keKeelJc3/AHbsWP5/aub2t5bUvw+cv/JfuUfUPZIzXvxj6zb/AHKjHSjq39n0scv2hvfW2bTz7ql+H7Dt99kjsAe/32P3RH0o2TXDgvf9M5bXvbx2oPR/tWfbuupeoQH2db4/cffmue545v8ApqRoIsgQ5rlrkki3htSbsz0TtF0yujs3Z3opJmZsr/L+D4kDhnWQJFKEgDhI5AireSMOliL3uQTqD4V5HaVfZDhWpvbmeyXkS5hJjK4gyDpYxaF3mCpY/BaXGF4qxSOEoBDDDrEVJkZQZFAcqGZ7DMYwSBvrfXBgTsNofVqz+0fUs+YaCcp7IJaG7g8gE6GCLSd1mg3AKLB4TjAJMckGZlR8oEGl1IjAQrZSVLAAAXualiK3R5zQKrXwC5s/ttxGbtTJAIEkkgQgCruj5KtwnC8VIgVJIkSdciMyxlVESO4VrIxV8pcD84baW00Y2vsNrqrqjXOdTOYgF89pwEiXAFpcGyPZOsEm6aKto3qyMFxA4eJm6vE4fqUkMcixKzExsUW+ryFFuRc302FqpOI2S3FPDc1Krnc2WmoQBmGYxZjczoBtEnUynFTLxHwWdgsBxGH6IplWNA5gUWjZojiLO6Sx2ub6Eq9+7at2IxOycR6Q4MLnZesPttDslgWu0toC3vuoAVBHh4pTg+KKoKOpXEO1nXq8xYDPlLAXQsIwQgI1AFr0dfsV1QteDmpAWOeANJg2MZjLoNjMwnFSO9STycXeMT51KqiSjKsQNiVxOiqouwIV2HgddzVNOn0fpvOGAILnFtzU1g09SbA3Y24Ejs3CCapGb7d6kxMfF0RpDLFlw4jc5ep7FszILBbAgOxynuYb6VGm7YFWqKWR2arnbfrO1OUO1OhytEjgYOpTPWgTw7lZUYvFw4SAqI+seFjKzRllCqRHIyKqtlYAlc5N7BQRfWlzsBgK2IxLSXZGvGUZgCSQXNBJc2WmM2QCJLnA7n2nAN7lyHFuN4gPNEZs6kvGxyIM6mUynYG15CW0PfbbSvSYPZuELKdYU8ps4CXWOQMGp3NAFxzibqlz3XErCrsKtfRfRAf+yoPbJ4/rGr4p0yc5u16hA92/a90bxb9V0cP/AMYXZE/jWvKOqO3zc/xXvv4/BXwuY5x5VGKUyQsYcWqhY51LBgL3KkqRdTdhY+NacFjzR7FQZmHUETJte+/mEnNnTVeMPicdEGXF4zGYZt0kbrDAdPRcqM6m+minzFeqazCuIdQpMeN47Id3ibacxyKzkEiHEqPGpxuNBIJsRJGfRkhm6xT3aFGJ9xsd6KZ2S92TK0O4OGU/MBPtgLCxPNPEFOV8TiVZdCDI4I79Re966DMBgiJbTaQeQKhmcDqoRzZjhb+2YjT/AM5/9amdnYQ26pvgEZ3aypDzjj/W5/8AMb/Woeq8H/1N8AjM7ihOcMcP/wCvEf5rfu1oOzMIf/E3wCec8U/D808RkYLHicS7HZVdyxtqbAanSk/Z+BYMzqbQOYCA93FaMHMfEYiDNjZIgTYh2zuLHU9UblSCPzsvlWZ2BwNQRTpB3dYePPlKed28q5wXnLimIbJHiJnkysQFjDW1X0gFOm+vd76rr7K2dSE1GNaLak/dMPedF33LvBcZI7mbENPMfSvJKMLDcAZbI4EjWzCwFgRcnYniVq+FAaGU8rByGd3xIJA0udQrAHcV2vLnKmGwfahiQSEWZwtjra4XwXQafeSbk8vE7Qr17OcY4X5eb/SFMMAV3iHAsNPfrsPFITuWjBJttc2vpYVClia1OOrJGvvfofO+yZaDqsXi3I0LxCKG0ca5iIWUtAWcEXKgh1IJJBjddT310sJtfE4ev6Q0kO0zNkOidJMtOkEEEW01UHUwRC8Y5l5LxeDZjJEWjubSRglLanXUsugPpeG5r7Z0f6aYLHU20678tT+IRO7XSTytPgubVwzmmRoudr2yzIpoRQhRzVz8f7LVNq7/AAM/F/osbxxIYURGVgIi5SK5TshsxtdtLXPaPjXzfEM2B6Y+nVeRUcXAg9ZEvibxlv2bzAsJFgtg63LI0+CZHPxgZI1AHXoEXK8Yv1abllcZZBHb0rGwGmlN9Lo+cz336okmQ8xmduBF2l2mWRwMIBq6cU6EcVBM0SxvZYXJUxEfZoTGFGbtdkH0b3oqu2HAoViWyajROf8AMRnkx2bke1EIHW6jkq83GuKRDDBkRe0gi7KZg2Uqqvr2CUkPZa1wxPnWins/Y1d1YtcTY5rugiZJHGHNF2zBETaFEvqCFZiTjBywCJP7OsZAvF6LI8MZDFrPdWkGhOvnWR9To8JxDnn9oXbqmoc17pES2CGm4FuSlFXTh3KfjeMxIwST9UY2jkjnZ5mjMryf3YvGgDW7N80gBI22ua8Bh8H6e/D58wcxzAGB4Y1ntHtOJbN4hhtvjQNxdln4+f8AK56HneZjCk5BiieNuwiiT7E3XK3cd/vNdqp0cwzRVfQEPe147RJb29ZHnSNFUKxtO5Q43nbFydeA5VJ2Zio/NzaEKRbuABqzD9G8BS6pxZLqbQATvjS3fdBrOM81WXmjEBpnBUPMuR2yC+XLkIB7hYVpOxsK5tNhBimZAkxMzPj9tFHrHX5p+H5vxKCMKy/Z5LHIMxEX92rHvVb6Cq6mwcFULy5p7eaRJiXe0QNxdvKYquCw5HJJJ3Jv99dhoDQAFWm00L6M6IP/AAqD2yf/AGNXxXpjm9b1IiOzrPuhdHD/APGF2R934NeUfmvprz97d50V4TapEzu+fJNYXH+CRyqesjV42v1i2swNj9opG7aAEd4t+jY6cLWqtjI6HDQ8bTlP6cD3yE4BeXcR5Yx3DAcRw2YywupbKvaU5vRYJYg6SHKLm+W9zcLXeo7Qwm0D1WMZlcONjzvruvprG6VUWOZdqocF6Q43YpxbBwzMo1kaJOs7IOhRlsWJPiu5rTX2K9gzYGqWgnSTF+YOg+KiKnvBazw8u4pA2mHOoIu8bLcXBtYqdbW7t99jlB23h5/P4Gb/AAKl+zKzuIcC5fjUH6XIxGjBGJY+dsh9m40q6jjNtPJHVAd4j9Ui2mN65vFcY4bFb6NgesLLqZ5mYKxOoCLa9tLMbX8K6lPDY2p/zVYg/lAEjvM67xdQJaNAsufmWd7LEBFsAsAyAgG4BC+lr437vAVqbgaLR2+1zdf66fCFHMVrco8kzYlxNP8AZRBgS8qMxlOpISPRpLkWNiNzvY1i2htWlh29XT7To0BAy950HKykxhNyvXuU+TEjiKRh4oiCpbMyzTDMGzFhYpqMunde24avP4nG1HvzvIedQCLN+EeTrwVrWiF3OGw6xqEjVVUaBVFgB5AVyS976uZ0E8yeAVkWTxWcTbTTnyTS1Z2oGmh48T57uaEv3Vd2827U8Y3+QkmyRhlKsAVIsQdQQbggjvFDXPEkR4nnoiy875l6JsPNmfCt9Hc65bXhPlk3X/2mw10Nev2L042ls+1Q9YwSIJMjuss9TDMfpZeVczcr4jAuVnQ5e6VQTE1yQO3awbT0TrqK+s7C6YYHarYkMfplJHy0lYKuHcxYtesVCjmrn4/2WqbV23BuL8RhjjaLCllKRohEbNcKJVQ9nx6x9fKvn2OwWyK9Z4rVwHAuJGYCJyE68Mre4HmtbXVALBTni/E3youCscP3LEwsGjaIWW9spTUBRYkXG5vnGB2NSl7sT/yby5t4eHaxqHWOY2Bg7oeaod2ijix3E4YUb6IerjWNgxjYjLGjRqSQf0ZCTVz6GxsTiHN68Z3FwjMNXOBI8WfokDUA0UPEsdxOZsOJcO7NFaYB1crJ1VgWkVmy6CwYAC2Y3tmqeGwuxsMysaNUAP7BgtBbnmA0gTc+zJOgjRJzqhiQtLi/GeJBpD9HVxGYC7okh/uiMSgYucxt1mpPdr51hwOA2OWtAqkF/WQCWj2v2boy2vlsBoba2U3OqcOH3WVx7iWOmUwy4PK+II7QiYSSdWSQm+631FrgWvXS2fhdm0CK9HESykDYuBa3MNf/AJRYzBOig9zzYjVY2O5TxUeX7JmvGJOwCQoa5AJGmawJsO652rp4fbmCrEgVAIcW3IEkQJjWJIEnfZQNJw3KGTlrFqQDh5df2CRtm1I0HZ117tdqubtfAuBIrNtzHGPje1t9tUurdwS4fljFMSOokAVwjkobKTY66X0DKdO4g99J+2ME2P2rSSMwEi4vp8QR3iEdW7greO5LxcbBRGZC2YjqwTYI5jOYEAr2hoD4+OlZcP0iwFZheX5QIHatctzW3G28cOF0zRcNy5+RCpIYEEGxBFiCNwR4122uDhIuCq02mhfRnRB/4VB7ZP8A7Gr4t0wDztio1v8ADx90cIXRw8dWF2RB/Htryr21LiNDzt2u/wC/fN1fZNFUNa6Y7uPLmmhfx91OkHmI4c9zZ8/qLIKzcVh2j7SC8W7oBcgWN8inu7yo18Lk2NppGsyTGYQAeMzE87WPilMLmOZ+RsLi+0EXbUooEhudCJLEm36J02F1FW4Ha9fDdkk/E28P1F+9J1MFeUYzoyxWcpDLFKxBbqy+SbKttWjbT84WszbivXN25h2tDqjSBxF2yd0jfa8gKjqjuXPzcn45TY4Ofe2kbHXbcDbz2re3aWEcJFVviFDI7gtjhnRhj5VDsiwpmteUkHTc5QC1vdrWSvt3B07A5j/Df/CkKTiu95W6PosL9o6xyyBhkkcSIAxFiqR5ryG+3ZG51OgHBxe2KuKPVU5E7mwT4gW538Lk2tphtyvRMFwtmIeYAjKBlJJJOnafXKPRHYUZQbm7aEcsNLAckE6ze192/fq6TG4Ka2dah+1Ha4zx5c/PFOyADeotY/rIgbuO8Dn55IkQm1QA63Mc+Xncml1qwh4API8eJH+P83SsnWO1XhlUvyQNTa+6ec27++UrIsfxekGVCHWFv5ra8/rKLJutqrIqZC7v48+f6J2UOKw6yIySKrowIZWF1IO4IOhFVtdUa4vaYI33tqnZcTxfonwUpvEHgPfkYlT/AO17ge61ew2b0021hfzh4aNHXETHes78NTduXlvPHIs3D1R5JI3R2KrlzBtBe5Uiw08zX0zY/Sk7ZljqeQtAOsz5kLHUodXvVfhfO88GXq1jusaRagm6xljrYjcOwNRxnR3DYuesc6C5zrRqQPplBHNDaxbopYee5lkjdY4wIjH1adqyrEjxIlyxJFpWNyb3qp/RnDvpPpue45w4ONpJe5ribADVoiBACfXGZSYnnqZ0KGOOxBXY/nQrhz3/AKKA+2pUujeHpVOsD3TIO7c91ThxcfgkaxIjzpCkx3P8si5epiRRFLCoXNZVnChrAsQLZBYDQeFVYfoth6Ly/rHOJex5Ji7qZJGgHG+88UzXJtHH5pj8+TGRpMkYZs3jpnhSAka/oxqfbUx0ZwwpClmdEg7tz3VPq4juR1xmfOkJcdz/AIiSWKXLGpjLMVGfI5cFGLAsbXUkaW3NGG6L4SjQfRzOOYAScstDTLYIA0N7zdBruJlSnpDnEfVRxRpGFCoFMl4yoKBlbPcnKfzr6gGqvwphzV66pUc5xJLicvaBMwRlgCfdixhPrzEAJ/EOfyWcRYeMQyG8ivnJlvH1RLkPp2b+jbx3qNDou0Na6tVcajfZIjsdrPYEXvE5p4aINfgLKCPn+cdZ9nH2ypHpkIEChVVSxXRUADEZhc6+Fx6MYYlhzu7IPu9omSSSADcuJIBymBZLripPyhS9aJTDEWHWDeQAiR+tsQHsQGLCxFiCQb1X+FMOKJoio7KcvumC1uWQS2QSALgyCJaQn15mYXITylmZja7Ek2Fhc66AbCvTsYGNDRoBCoTKkhf/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data:image/jpeg;base64,/9j/4AAQSkZJRgABAQAAAQABAAD/2wCEAAkGBxQTEhUUEhQWFhUXGR0YGRgYFh0eFxgcGR8gGBkYFxgaHyggHRomHBgYIjEhJSkrLi4uHh8zODMtNygtLisBCgoKDg0OGxAQGy8kICQsMi00NCw0LCwxLCw0NDY0NCw0MCw0LCw0LywsLCw0LCwsLCw0LCwsNC8sLCwsLCwsLP/AABEIAMABBgMBEQACEQEDEQH/xAAcAAABBQEBAQAAAAAAAAAAAAAAAQIDBAUGBwj/xABLEAACAQIEAgYGBQkGAwkBAAABAgMAEQQSITEFBgcTIkFRYTJUcYGS0hQWI5HwF0JSU2Kho7HBJDNDk9HhFXKyJTQ1Y3OCorPxRP/EABwBAAIDAQEBAQAAAAAAAAAAAAABAgMEBQYHCP/EAEQRAAEDAgMEBggDCAICAgIDAAEAAhEDIQQSMQVBUWEGEyJxkfAUFTJSgaGx0RZCwSNUYnKSouHxM1ND0oKyByQ0RGP/2gAMAwEAAhEDEQA/APHq+iLIihCKEIoQihCKEIoQihCKEIoQu34PhcPhOHjGzwriJZnKQxvfIoW+Zmsdf57W768jjq+Mx+1DgMPUNJlNuZ7hGYk6ATp5ncr2hrWZiJlMnw2E4i+GTCouGxMpZZUGbqRYdll8L5dh4nep062P2QzEVMY41aLAC11s/MECNJ15bkENqQG2KysNynM8eIfQHDyLCU1zvIzZAqC2pvXSrbcw9OtRp3PWtLwbQGgTJ+GigKRIJ4LTxXR1iERyJcO00SdZJAsl5UW2bUW3sQf5X0vzaXS7CVHs7DxTe7K15b2SZjXv/wAwpnDuG8TwV3i3KAlj4amEjVZZ4C8jFrKbBSXYnYC52rPhdvnD1MdUxbiWUqga0ASbzAEayeKbqUhobvCzcbyI6Ksi4nDSRdYsbyJLdYixteTTRdv9K24fpNSq1DRdRqNflLw0tu8Dc3momiQJkQuyHJODTisMARWifDlzH1jEhh+cbm4Bvpr3GvKnpNtB+xKuJJLXtqhoMAdknThI3q/qWCoG7oXEcU5ImihEqSwzjrBEywvnZZG2Q2Fr3sPaRXr8J0kw9fEGg5j6Zyl4LxlBaN9/MLO6iQJ17lYxPR7OqPabDvNGmeTDpJeZQNSMoGpAO33X0vnpdLMK97Jp1G03uyteWwwk6X4HcfGFI0HcRPBS4Po5mkWA/SMOpnjEkaO5DtcZsoW1zYbkVCv0uw1F1UGlUIpOLXENkCLTMx3IGHJi4uq+N5BxCRdYjwzEOsUiRyKWidyECv3XzsFNj3+FzV1DpThKlcUnteyWlzS5pAc0CSRv9kE3HzgJGg4CRdTYvo5nRZMs2HkmiXO8Ecl5QNz2bb2INu/uvpemj0vwlR1MmnUbTqHK17mw0nTWdJ3+O9M4dwm4kLjK9YqEUIRQhFCEUIRQhFCEUIRQhFCEUIRQhFCEUIRQhFCEUIRQhFCEUIRQhdrwPiGFxOCXA4yU4cxOXhmC5l7V8yuv+47vDXye0MJjsHjztHBMFUPaGvZOU20IP18xexzXMyOMKvxzEYWEYeHh95ZYnzticlmdr3UKN8o8PZvrV+zqOOxBrV9o9hjxlFOZDRFyTpJSeWiAzdvXX8/cfXCvhGhQKZZFx0yajMeyFDfc3duAd715Xo1supj6eJbXdIY04dh1gXkjxG82tMQr6zw0iO9Y/HsRw52nxwxEkkky9jDAMjRuRYmRwdVBBNtBsNa62zKW2aLaWzjRa1lM3qEhwc0bmt3OM6mYuVW80zL513LRw3OGGiHDwXzKMI+Hmygloi4j1t3m6d3nWKv0fxtc4wtbDuvbVZOj8s2+e/epCq0Ze6FkcSxODwWBxGGw2JOKfEslyEyqiob63Ppd39BXRwtDaW0dp0cZi6HUtoh0DMHFxcI3bvN1FxYxha0zK6VOZMF/xPD4r6SuQ4UxsCpHVsNQGPicx07rVwn7G2l6mr4LqTm67MLjtAm5HCI3m8qzrGdYHTuXI8t8ejw/D3BYGVcXFKsdyCyplvrbTY616famy62L2q1wEMNF7C61idLee9UseGs5yun4hzPhvtMVHj2UyKSkEeGiEysRfJJMUa4uLX9mprzuE2NjgKeDq4QEMIl7qjy0gHUMDhfePoFa6o27g74QqcPMOGGJ4O3XLlgw4WU69hury2OnjpWt+yMacHtOn1ZmrUJZp2hOuv1SFRuZhnQKpheP4dcPxEGUhpMYksYTR2RZlctGToDlBIvWrEbKxdTF4JwZZlFzXTBAJYQARvE2MKIe0Ndff+q2+I8yYExSSSYhMVeMiONsOExYYiwviF2trqF2tvbXjYXY+1W4hlKlRNGHAucKhdSI3xTPHgTrw3WOqMgkmfhfxXj9fUViRQhFCEUIRQhFCEUIRQhFCEUIRQhFCEUIRQhFCEUIRQhFCEUIRQhFCEUIVnhuPkglWWFssiG6tYGx22YEHes+KwtLFUXUKwlrhBFxI+EFNri0yFJxfisuJlMs7l5Gtc2A2FgAFAAHsFQwWBw+Coihh25WDQXPzMnxKbnFxkqlWtRRQhFCEUIRQhFCEUIRQhFCEUIRQhFCEUIRQhFCEUIRQhFCEUIRQhd1wbo4fEQxzCdVEihrFDpfuvfyrmu2gASMuhXDr7bZSqupFhMcwrh6KJPWF+A+Nv0qXrEe6qj0gYP/ABnxHGEn5KpPWF+A/NT9Yj3VH8RU/wDrPiE49FEnrKfAfmqJ2kAJyqf4gZ7h8Qo4+i1m9HEof/YfmqmhtqjXBNKCAYsVH8Q0/wDrPiE4dFMnrCfAfb+lV52k0aj5oHSFh/8AGfEcJSnook9YX4D83lR6xHuoPSGmP/GfEKF+jJg4Q4pMx2GQ+Nv0vMVjq9IcPSrtoPHaOnDkO87lIbfYRPVmJjUKcdFEnrC/AfmrZ6yHupDpBT/6z4hNPRVJ6wvwH5vKn6xHuqJ6RU/+s+I87ko6KJPWF+A+z9Kl6xHuqQ6Q0/8ArPiEfkok9YX4D81HrEe6j8QU/wDrPiEn5KpPWF+A/NT9Yj3VH8RU4/4z4hO/JRJ6wvwH5qXrIe6pfiBn/WfEJPyUyesL8B8v2vOn6xHupHpDTmOrPiOX3QOimT1hfgPzUvWI91A6Q0z/AOM+IR+SiT1hf8s/NR6xHup/iGn/ANZ8Qk/JTJ6wvwH5vOn6xHuqP4ip/wDWfEJ35KJPWF+A/NS9ZD3VL8QM/wCs+ITW6KZPWF+A+F/0qY2iPdSd0ipgx1Z8RwXN838rNgTGGkD9Zm2W1stvM/pVpw+J66bRC6WAx7cWHENiFnDgmI6nr+pfqt8+XS17X9l9L7VD1jhev9H6wZ9Im8xMd8XhdLI6JhZ9bFFFCFNJhXVFcrZXvlPjl0b7riq21WOeWA3ETynREKGrEJ0aFiAoJJNgBuSdgKTnBoJOgQpMThHj9NGXUjUW1U5WHtB0NV061Or7DgdDbgbjxGiZBGqhq1JFCEUIRQhFCF9A8iLfA4bT/DXz8fKvMVTDnd5+q8PjW5sZUAG/v3nkVuum+mx10/atoMunsqAPn4LI9hvbQ8B727s27vhyUNvLu/08tKms0W03fblZV+MYoxqQoGc3AuBYakX20GuwrhbY2o3C0wwXc4eA4m9+S3MDWVO2LA3sOJ0tbWw3G9rLP4CwuRpsAPPbYWtb2Vw+jVQNxL2uMEjTn91HEU4MkXJuNSL6b78d/FT8ZlIVApscwO1wQF2OnjY3rpdJMW6k1jG6zPgbfPco4VrHAhwmYj4gDhf591lpGQFM9rDfXUjQncLrtXdwuIFWi2qbSJSNM1IyDUxeDuO+B57ly+Ixl53dfzSovbTRjpqLHz/lXgMdiqj8WawOjiW9w05jSe9baeHd1bRAJJcQBBJsIJ13xlBEOvGq20x7dZGAt0kG+lwVsSQcuxF9fK3fevcUMW6r1bogOHz188SraeCp+huqk3aWzoTBtExYyNJloMGbqP6UOvKk9xUDuuBm9x1rC3GD1sWF1soA11mfj3/Bcs0XdVIGgk8hceE8rFayL5bHX7+45dPbXcJTY20xoeXH+W3f/pDr5fjTvtr7KAUOZaY+nLlfu3a98VtPx4ezWpqjLbTzHddTlNL20v4C/f8AnZdf61XN48/VanM7OaLTynfvy3/VROuu3f4W/R8qmDbzzVD2EPMjf3e7y8/VYl028PLcHvt/+0nG6lSZ2ZI4ctx3x/tOZdNu7yHjv2dfbSB8+SpuaALjdyHH+G/fu07o1G2n4uPL99SKoa2CLeZHL57lMY9tN9tB5b9nWoT58laTTIDZGvIDh/Df9FQizdZKG1swC9kCwMYa2gF9SaqoOcXvBMgGy6G1qFJmHwzmMDXOa7NG8gmCQeXADjzXnPTQvaw3sk7v+Ty/d/rXc2afa+H6ro7AaRTeefD/AAPDd8VhDmWEx5isomGF+iZFyiG1ipkJve+U3yZfS1vXO9T4gVCwOb1ZrdbJnPOuXhqIzT7HZy716brBHOIXUcJ5thlM80k3VAGTKhIzyoY8sUbLsAhvbLfUkmxJY+fxuw8TQbRo0qecwyTeGOD5c4HWXDWYsABI7ItbVBkkqhxPnzDsyyQLMsqRzIrMiXHWKBHYhjZVYbAW1JAG1bcJ0ZxTWOpV3NLHOYSAXQcpl24XcN5JO4k6qLqzdRzUvEef8K+kcc0JJdusRI+sXO0bnKL2OfI4Y37/AM65FVYbotjaUGo9rwA0ZXF+UwHi9p7OYZbHTcYIZrtOghUeCc3HBRFGjlQyl5lvGnaWTL1TjMACOy+qgDXTy3Y/YTNpVhUD2uDAGGHOsWzmBgm922Jm1+cW1cghWJOc8IEZBFMn2olVRGgVSJuuUgBwATGAl8twCdWGlZmdHscajXuex3Zyky6SCwsMy0kw45ozQY0Bun1rYiPMp8HPEck62jnkJafJZQ0kfXSiVeqXNvluhGmm19qg7o1Vo4aC9jQBTzbmuyMLTmMaTDgb31jVPrgT4rnOZuZVxEEEMamNUeV2QABLySM6Zbb5Ua2wtc2rubJ2M7B4irXqEOc4MANyYa0AzPFwm2tpuqqlTMAAuZrvqpFCEUIRQhe2cmcwYZcHAjTxhlRFYEr2WN7KxPonQ7715WpWpiqWFwmTb4rxuOwOKdiKlRtMls6wOfnyF1MOKRxdGVlvupUjfxG9SF7hcmpmYcrhB5wN/nVLm9m3lUoVGYR8OSpcTwXWst8tgD4ab/foe+vNbX2XXxeIY5hhsQSfstdPEvpXYY3bh9Prr8lk3KSTOpUCFspLMLFcqvfXQHt28D+8c1ux8Tha/WUHAhh1Notv5EGLX4RaescMHU6FESTVGYQLghxboPaBi5uQNJAgpineRDiSFyZAyrcXtl33sL3+7fwF+1MDi8ZU63RkWvoPhczz+iizDhtf0Bp7WaCdLjlAOg3nWYG8uxGOMTRwq6OyvdwCBlQgJqCbf4gNr+FdDB0qmDptoucHQ6TrZthF44ytOGwLa1GtXqghrmwwmDLrkQbn8hExxEyrPHJY43wzHKq9eATYW7SSKL27rka++tlXDYakGFrGgON4FjY/JU7EZUxDcUyn2ndVpbc9p+g+11QmxmbGxONY8mVWVEtZWW7b5st2AvbcDcMTVZP/AOw0gdmCBA3fWO6OViuxQpNp7IqUpAeHAuBIsYMNiMhIiS0zYye02FFIspe9gudj1aE9rOAztdhcLt4kWFra15ats7GOrF5pnM5xNo77d3wXGYzDmk43dkALnCA3KSGiAYmDyBJMzvXWYSZioLgK3eOyba7+fjY17rD9Y6k01BDoE98LjOcxroY4EC8wBvnQ8OcjhZSF/Z/8fEVdHm6rNQHh/bxHn5aSmZvZ+7wpwq8wg/44KQv7P/j591RjzdXGoNbf2892n23JhbXu/d5VKLKouGb/AFySxvbw/d4edIifJUqbwOH9p3c/I707rN9Rr5L5/d7qMvm6l1og3F/5efmyYG9n7vEU4VYeBH+OIT8/s/d5Uo83Vmccv7eSY51O37vA0wFW9wk6fLgfPkLzDplPaw3sk/mvhXT2d+b4L1XR0yyp3jh+ihbnHB9Vh1Ecgkh2kMERKlojGSq5wpyyZXAsAbagHtHzbdg7S66q5z25H/lD3iQH5oJyk9pstJklu6R2R63rWQFSxHNsRiygvmzln/s8IE+qFS9j9myhCOyDve9yb7aWxK7a2YxliB26h6uzpAn2gS78xGkRAbETUEf4F1vYPpAwMQssUp7bsSYYvRkn61lsZDshKX9m3dxcR0X2piPaqNFgLPqatp5AZyj84DiPrvsFZg3fTis/C804d2klkhmIvhXkdII/TgZicwDKqh7qL+W1bq+xcZTaylRqNFqzQHPf7LwIIJDiSyCY56qIqNNyOCmXnbBHDrE8cxIwywEGKMpmVCoYdsHRiCL3tbQA61Ueju0m4k1ab2AGrn9pwMF0keyRcWMRO8kWT65kQeEKCbnfCsmIzwPI8oUXcKAQIljyMQ1wFcM4I1uRoKtb0cxzKtLq6jWMYTYTbtudItBLmkNcDpe5S65sGQquM5uw7z4GXq3tBfrbRoubRQAiBiPzdrga6KNb6qGw8XToYqlnH7SMsucY1mTAO/gTa7jaImq0lp4JuL5tw8kcEbI/2MsDAiKK4iSIJMovfMzSXYBgQRa9rWCpbDxdKrVqtcO2yoILnwXufLDbQNZAOWCDMTMoNVpAHdwWZzxxqDFzRyQKy2jCPmUAsysxDGzNclSo1PdXQ2Bs/FYGg+niHB0vLhBJABAtcNiCDoN/GVGq9riCFzld1VIoQihC+nOj0f8AZuE/9Jf61+fNtMLtp4iPfPH3jz8/Xq0/YCs47lbDSNmMeR9LvEzRsbG4DNGQWFzexvUKG0MZhZ6uodbzJ3xvJUKtClWEVGg96xMXwzHwA9VkxaAdkO3Vz93pN/dufcmg7716rBdL2FoGJbBi5Gn6leaxfRak8zQcW8jcfUfquR5l5unwgjbE4SVGzMD2jktqMucdlj2/MaVvp49uJqvLSNI15nUa2nx4LMNgP7YDoBECQZ1knW2nG4Pjgx8/hGnbMPtnzCxP2diF7vS7OUafo3F6sZisQM5Au4g7vDTgu7iNj4apTw0uB6ppDhftHW2mj5IB1lVJufFOFTDhjqozNZrrYrlUaja2/kfGqW9eKLqJuJtppr9dOE8lDAYRjNpvxdUQJtvmRBJ3XmdO5RcR56R2Byk5VGoLAO9suZrm+3dvvYi9D2VakTYGJ36D9Y+ZWmjR6nOGukE2to06t5G9nRHEGyOP87db1YN8iZcuRyS1vSkIzZla1rBtdTr31Ou+riGtaOzA+ccYv8FVsmnRwfWODJe+ZmwAOjRYgjiRY8IgK+3O5bJinQ2RcltyQCBnFzYHNbx1qs1qrqwDyCfpvgWPCZ+W5Jmy208BUptMFz8wEkQBaDEEiJkWnlqs3HdJMruCqKqozMp1L3YMhubgWyv4X/rs62sYvcEnx3fD4KrB7Mw1Jj21QXZ2BpEwLEG0yRcc+5bMfSvI7ZY8OSx0UAlje972Gp0vpVhxVRrXEnjrAA4buHiuSzo4ye086zaRbhv8YPcuwwXEuJyAMvDHynQF540NhbtFWYNrp3Vhb0gw9I/tHgiBAAPxveTfl9VD8LvdfrI+B/8AZdC3DMYyCxgjcgXv1jhTbUWBS/he49lYH9MmXy0jyvr8v1V9PokwHt1SRyEfUn6KWXl/EnX6Wq+S4fTv/SkNUnpXX16sR/v7LaOjWD4u8VXx3A8cF+xxGHLWOrwOCTpbVZbD7vdTZ0wqA5alPw+H3VZ6LYQnMHO8f8Tu82XmvH8bxrCN1k+ZEXTMio0JvdQSRci+4zWO2gr3Gyto7E2gGjr3teYsYFz/APEj5/FROwaFJpbknnJn6rB+u+Oz5/pDf8uVcv3Wr1f4dw5v1j/7f/VVerMLly5PmZ+qWPnnHK5fr73/ADWVSvdsABbbxqL+jtP8lRw74P0AUfVWELcuT5mfqlxHPWPf/Hy/8qKP53qA6ONPtVT8AB906ey8Iz8k95JUU3OeOYgnEEWINgqhTbxFtR5Ux0cZlvVdPcI8P8pt2ZhACMmvEmVn8xcenxbK07A5RZQosovv3k3NhuaVPZ7sGIc7MTyhacJhKOHaRSBvxMrp143gfscrKgWOyj6KCYJSgBkZiftRnBNiDqb91eS9X7S/aZgXEuuesID2ZiQ0D8hDSLiNI5rp52W+2itYrjnDGw+KjQZDLnKAw6qwsUZWAuAxVjYk5cwAsAb56WzttMxVCo8yGRm7WovIINiWyLwM2UkkkiGX08pCt4jmzh7B00XrFhEhTDKI26uUMQI2ufQB9IsBfTbXIzYW1WllTUsc/LmqHMMzCAS4QPaP5Q0wLi9pGqzT9OazeZeP4F4p1w5s0scSm0ZUM0chOY7C+QjuF7bCt+y9mbTp1qbsTcMc8iXAwHNAjefaneYB1Ki97CDCvpzpgUkRmhjlHUnOFgCDrEIMWUNcjQuDqRqD5Vjd0d2nUouY2q5hz2JeXHI4HNpA4FtgREc0+tYDMKuvH+GtFi4rBFe6Qgw3IRI1WJs4GbNnF9T+8ki47N2yK2HqzJbBf24BcXEuEaRlMCB8QBCM9OCFbxfNmAllyZIhGW7J6gKRlMJjJa2gv9Iv5WvWehsPamHp58zi4C/bJ1z5rTw6uOcxvTNRhMed3+VznSFxLDSuogKO6vJmlSPq1yFvs4wBo2UX7ffpXc6N4TG0aZdiJaC1sNc7Oc0dp0m4m3Z3RxKqrOaTZcfXp1SihCKEIoQvp3o8/wDDcJt/dL/WvgG2IO08QDHtnh7zl1afsBdCfd+DXMeBEWseV+181MJtZ7RusPHTxTSYnDpIrJIqspBBVgCrA3uCDoQdq2A5SS1wBE3BidTM7+E/BRXHcwdGPD8Tr1Iga1gYAEA1vfKBlJ9orbS23iqTj2gRM3vqdPhw3KJptK4fF9BTf4WMU+TxEd3iGPf5V16PSRjh22R8RwnfCrNFc1juiHiSOVWNJF7mWRQD7msRW9u3MGWyXR393nzCj1TlX/JTxP8AUD/NT5qkNtYImM/nzv0S6t3BaHCuhviEpPW9XCANMz5rnTQBL+O/lVdTbmFaJac3dH6338ExTcu04N0JYaNicRM84tYKF6sX8dGJ9164uI6SVXD9k0N+M7jyHBWCiN69D4TwDC4a30fDwxkALdY1DMBsGa2ZveTXMdi6tYftHzBmCZntaR+nBTygaLSPurO/LE2v3WuPrp8lJNrPaDp9rJp591azl9q2ptbfO7l8lFNP4/dWd4Afu1/9VJJlBFiAR4HUHTwqdAhoDrfLh+nySK885x6LIJwZMHlw8oucgH2T+C5R/dnzXTyPd7bYfTXG7OcG1XdZT4bx3Hu3fHjOaphmv0sV49xngs+FfJiImjawIvYgg+DC4Ox76+w7I6SbP2myaNQTwJAP+fsufUovZqFQrvqpFCFFNXMx+rVNqjrApooQihCKEIoQihCKEIoQihCKEIoQihC+nOjw/wDZuE/9Jf61+fNtVC3aeI/nO/8AiPJdWmOwF0Jb8Xrlvqz42vz7lOE29U5zHw4pp2b8Xq81hf4xfv5ce5KEhNVveS6Tx475HJOEA0NqENIP15DkiErNU61UuPa17+R5IASA1APh0njx3T3eeCIShqtbWPxtv7uX6pQm3rOX2/z3ppwar21SPG1989yUILUnVSf98xy4ohNvVOcwfvyTTs34vWg1jfjff3zuShJeqS+XSPr3ck0qmp0qpGn15dyCEZqn1zoMfG/fyShV8ZhElRo5UV0YEFW1BB0P7qrpVnscCwweR5hMheW829Euz8OIHjC7m1vFHa5v5Mff4/Stg/8A5Er4f9nju2yBcRI+Q8hY6uEBu1ed8c5bxOEYieF1AAOcC8fa2+0HZvfS1719M2X0t2VtGBRqgOO51isT6D2ahYkproY17XEZTKi1R1iUkUIRQhFCEUIRQhFCEUIRQhFCEUIRQhe7cm9IPD4MFh4pcRlkSNVYdVKbEbi4Wx91fINpdF9rVsfWq06XZc4kHM3SSZ9scd4W9lamGgErZPSfwz1r+DN8lYXdEdsmf2O/3m3vMnt/FT6+nxTfyncM9Z/gzfJWf8Hbaj/g3e8y/f20/SKfFO/Kfwz1r+DN8laj0S2z2v2R3/mZfXXt7/p8VHr6fFIek7hnrP8ABm+SqD0P21mnqP7mcR/HopekU+KB0ncM9a/gzfJUqfRDbQbHUx3OZwiPbSOIp8UHpO4X61/Bm+SnU6I7ZItRjuc3geL0CvT4oHSdwz1r+DN8lRb0Q20HT1MXH5mcdfb1Gvej0inxSjpP4X61/Bm+SrW9EtshsdTwtmbB017fjz0R19Pim/lO4Z6z/Bm+Ss56Hbaj/g/uZz/j5p+kU+KcOk7hfrX8Gb5Kub0R2yB/w/3Nvff29POqXX0+KD0n8L9a/gzfJQ7ojtkj/h/ubbT+PyOcI6+nxTfyncM9Z/gzfJVP4O21H/B/czh/On6RT4p35T+F+tfwZvkrQeiW2Yjqd+mZsb/4927vuo9fT4pD0ncM9a/gzfJVT+h+2i6epm/vM5fx8k/SKfFA6TuGetfwZvkp0+iO2gL0eH5mcOT9277IOIp8Up6T+F+s/wAGb5KmeiO2Y/4Jt7zba2Hb+v3R19PimjpO4Z6z/Bm+SqW9D9tSJof3M4j+NP0inxTvyn8L9a/gzfJV/wCEtswP2R/qbbTTtqPX0+KRuk7hnrX8Gb5Kqq9D9tOcT1M97mcP5/h3JjEU+K8v6WON4LFPA2CZWt1nWFYmQksVILZlGY6N4177odsvG4ClVbi2lskRcGwngXfosuIe1xGVcDXs1nRQhFCEUIRQhFCEUIRQhFCEUIRQhFCF0EPJWOZQy4diGAIOZNQRcfneBrH6fR4rnu2phWuLS64to77J/wBRcf6s3xJ81Hp9Hil62wnv/J32R9Rcf6s3xJ81Hp9Hij1thPf+Tvsj6i4/1ZviT5qPT6PFL1tg/f8Ak77I+ovEPVm+JPmo9Po8U/W2E9/5O+yPqLj/AFZviT5qPT6PFL1thPf+Tvsj6i8Q9Wb4k+aj0+jxT9bYT3/k77I+ouP9Wb4k+aj0+jxR62wnv/J32R9Rcf6s3xJ81Hp9Hil62wnv/J32R9Rcf6s3xJ81Hp9Hin62wnv/ACd9kfUXH+rN8SfNR6fR4petsJ7/AMnfZJ9Rsf6s3xJ81Hp1FHrfB+/8nfZKeRcf6s3xJ81Hp9Hig7XwY1f8nfZH1Fx/qzfEnzUen0eKfrbCe/8AJ32R9Rcf6s3xJ81Hp1FL1vg/f+Tvsk+o2P8AVm+JPmo9Ooo9b4P3/k77I+o2P9Wb4k+aj06jxR63wfv/ACd9k5eQ+IE2GFcnwzJf/qpHH0ReVJu1MK52UOJP8rvsh+Q+IAkHDNcGx7Sbjf8AOoGPokTKH7UwrHFrn3Bg2dqPgm/UbH+rN8SfNT9OoqPrfB+/8nfZZvF+CT4bL18ZTNfLcg3ta/ok+Iq6lXZVnLuWnD4ujiATSMxyI+sLPq5aUUIRQhFCEUIRQhFCEUIRQhFCEUIRQhfSfAz/AGaDx6tNc37C+deU+i8NiSOueD7WY3n/ADCuk76+N+1v40KgnWDe831QSPdfbN5HzoQSIndOk8jzSFhrp427R03t3+NOCkXMvbjFzbXnx4pTvvr45v8Amv8AfS3Jk9q5vxnvnx/0hjp563ObffzphJxEQNbyZ115wlLDW2g00zHx9tKDv1Uy5pkts21pPHvlAI0vqPDN5i/fRB3JBzRBdccJPEc0ike/Sxvtt5+FMqLSIjfaDOmnOLBCnz18c3d2bCkU2m9jfv3dmPBAI091+0ddr99EFIOZaBwm5vpO/wCiRiLjwvtfy9vspgFJzmyDunjy7+5JIdNddNNe7woGtkqhGQ5r247uCcSPfc65vbfvpKZLdN8m898796RTofH2/wDN/SwpnXzyUGkZDBv3/wA36QP8lXIsYgjZMm5vfN39x8dABVLqTy8OldSljsOzDvo9XMnWd+48bAAa/UqkSL+42121/wD2rrrlktm/A7+avcPxixsSwzE2AIO17eJqirSdUECwXV2fjqWEqOdUGZxgSDxjiY/0q+LxAdmYAL799t/O96spsLGgEyseLxLMRVdUa0NnnrprzmT9dFnRY9et6sqw7INybB7Zc2XW+7eHjbaodeDU6uDN4tY93dK1eqqjMGMbmaWdjMA45mzpm3DMWkgBxI4BebdNHpYb2Sd/mldzZv5vh+q6HR+erffesbASRtw6MMsAkbFiFm6qLrepKAntZcw7RPb37r1zqzKzdqvLS/KKOcDM/LnzEaTGkdnTfE3XphGT4/JaWJ5ZwT4fEvH2GQyiL+0KxYxNazKQPSUFha/fqNL8+ltjaTMTQpVBIdlznIQBmE2Mn2XQDMRwNyJmmyCR9VZxHK3DvpKqrMU+0QgTpuhjyyZiR2crtcC57NwDYis9LbO1zhS97QHQx3sOFnB0ti9wQL21gxYpmnTzJE5PwXVhgSydZCDKJ1KkSTtG62sCAEUWcgXveh+39oipkgB2V5ylhmW0w4GZIMuN2gmNJ3oFJkT51VKTgXDzho5lLAtKoK9cl1BlKNGQ1j/djNn279jWxu0tqjFvoOaIDTByOg9gEOkSPaMZdTuuLxyMyyrWJ5X4eHnUNbLEGW+JjsjWckPa5zdlNFDjUa9rTNS21tU06TnN1dB/ZvuJaJbMWu67shtMdm7NNkn7p/F+XMCZJz1i2B0dXjVVYLHkiEaABs+Zu2osO/UGjBbW2mKdIFhkxYh5JBLszsziSMsDskye4hDmMk3UOO5Z4d18QSUohlliYGVTn6sXSz27Acm2Y6Cp4fbG1vRnuqUwXZGPENcMub2hE9osiYEE6INOnIg8VHxXAYOHCtGioXkmhDEyRtJCGRXdFkIOgIIzAjfU6WNuDxGPxGMFSoSGtY+LODXkOIa4tnUiDBB0kaghODQ2ByVqXlXh/WuA9lEaMF69CyhmcO5Po3VVU5cxBvfSstPbe1jRaSy8kTkcASGtIAHtQ4kiS0EREEqXV05WPzHy5hosCk0L5pMyZvtVbNG6khso1BDZQQNr7neulsza+Mr7QdQrMhkOg5SO00gRNxBEkE6xoNFB9NoZIXGV6pUL6P4JH/ZofHq001v6A8rV5YOXz/E0j1zxvzHjP0j5q51W/lf93jp/KnmVHVG9tJ8m30SmP8a2/wCm9GZBpb93xj/6ykKb7d/j57dn+dE+fJQaeum/jz07P1jnbRTF+O/v8qMyDRIMR5vy8flyQx6ff43/AJWozJGlbx4z9I+aUx77W99v3relm8+SpGlckafGPm2fkgR7f1vb9y3ozefJQKUEE/OY+TZSLH/Txv3eVqZcotpWju4zu5R80oi/H3eVGZMUSTEebcvD580Ee23d4+W/Z/lRPnyUCnppu48tez9J5Sgpttv522/5aJSNO47+fD+WUjR2Hu8/9KAbpPpkNM8Of2TjH+Nb9+/ZtRm8+SpGlu3/ABnf/DHf8k0R6fjz8qJURSJFh5vy8jnYKE1O2/nbY/s3om3n7p9X2jwnnGh/hnut3wkKfyPj/pRKRp3+B4/ZK0X8x7f5WoDk3UiLEbx37uUJAn4+7yolIU/N+XLzv51YOHgSmTMSSBe4FgNNLhL2Hv1vvVIohtQ1JMnu8Bv+feupU2i+rg6eC6toYyDI6yZMS51y0ncTlsLNsvOOmZe1hvZJ/NK7ezj7XwXS6OtIZUPMedyxsHy7hfoyTyyuBZGZldMrZpMskKJlLCRU7VyT7K5dfauO9Ldh6LGm7gAWutDJa8mQC0utAA75XqQxuWStZ+TeH5pgMU+WEKGYHNlJQuz2SM5kvlXL2bEN2r2Fcz8Q7WyU3HDiX5iBEWDgA2S8QYkzeRHZAkqfVU5N1mz8t4UYnqU61rYcS5eujzTOyqwjjPV2W2Zib5iQpros2tjThevflbNUsnK6GNBIzOGaTMCIyiSNyiWNzQOC1DwaOTDJGcXP1edQI2mTIC0uQwZdhKF7ea9h4W1rmjaNWli31RQZmgy4MdmIDM2edcpd2csSeKnkBbE+eCeORMGJyjSzBDD1itnQBWBYOJGKXtYAjsC3faou6S7R9F61tNuYPykQ4kiARlAdEyYPbdMdkFHUszRKZgeTMJOge7xAwRsLSqQXaMsSQUvYuMtrjXY62FmI2/j8O/IAHnrHA9lwhoeBqHa5TMwbXI3lCk0ieShw3L2EnnhjfNGDgoHJiKqOsKjO0pIPvIG+psLmrKu1NoYbC1KrIcRXqCHBxOQE5Q0At5Re40kwCBjC4DkEp5R4cIet+lsxYArGHQMSSI7XZcv96sna0GW1yB2iht3a5xPU+jgAEy4h0W7UwHT7BbYAkumBPZB1VOJlWJOQ8GuIyPLMIzHfSRM2frRF6RQArldWtYeNzeqG9JNovw2dlNufNHsujLkzaBxvIImSJtEp9SzNE+ZUR5Jwhd8jTtGOo7XWxjqhK0qySSHJZlURBrC2hOvfUz0i2g2m3O1gf+0tlf2y0MLWtGaQXZ4k5rjTcl1LJ8F59iowrsqsGAYgMNmANgR7d69tSeX02ucIJAMcOSzHVRVYhfTHC+ARSYWHtTKTFGbpPICOyp0GfKPur4PiNu4+liHtbU0cbW08dFr9X4Vwk023voNfBUsTyZKHzx42dtGzRyu2ViSCCGjZclte5hqNB372dMcTkyPY2eIFxHEFxHDh8VV6pwg0YPDyVz3FMM8bfaYzG4SRdS0kXXYVgBrkMYC31HpWIANxreuphulmMaP+ClWZpaWOnnJJ8LcDaFS7Y2DLMmWPPHX5rn/+J5LhOPIwPe0T5vuIa252Ndyn0pe9k1NnQRweBPy+qz1tkYQkSPAH5wR81aXEKFK/WDe974Zr3G/aL5hby2rD+LsUSD6tb/V/iFodsbCFweQJ7oHhoqkfFQikHjoIJ/NgaRtb37TkED2HvrZV6U1akOp7OAj3nx9B4yoepcI99wJ14D7b0yLiSgMg48e1ZgXhfa40zliyHfRbjbxqJ6U4gOa5+z2kD3Xf4g95Qdk4Um4Hhb7FSLxEhcn/AB2O3mrltddHK5v31YelwLs3qw/1iPCISdsfCuIdbwj5CyWLiLZQo45FbzV83jqxXN++h3S0Zsx2Yf6x9IhL1NhS7PbwMW5afJJHizlEY47FYd5z33vrIRe3kTQemAnOdmH+ofTL+ik3Y+Gz5xE91vA2VzBqZGYnmCFTa24t7lZ0UHTdday4jppUa0Cnsw/Ek/Rs+Kbdi4TLlt556qY8IVio+sURINx2kvfb1is/47xTZPqz/wC3/qrRsjC7o8Aqj8LxpdlixuMlF8uf6NOEOU5bowzIVvfUGx3rfS6b0m05r4OmDrHWNBg8QRM/6VbtkYc2yj+lW4eTeJMTGcVilC6qxy5DbazfSA9/aulqoq9P6LXZ2YanfdmJPP8AJCsGyqMk5RJ5BVvqzxnrO1LOFUEZxICLWvoquSb+y9+6trenmzDTn0YTwkfUtEfZVjZFICA0R3BYWMk4jEuf6RISwzNH1pE6AHIGeAnOoJ0vb220ru4DpNsXF1BSdTybgXAZCYmA8dnxjkqn7Lpgew0/AT91kDmbF6f2mbTb7Q9/v13r1/oOFN+rbfkFnOEoH8g8Ag8z4zNm+ky3tb0z7dvdR6Bhojqx4JnCUD+QeASDmTF5i30ma5Fj2zsPfT9Bw0R1Y8Al6JQiMg8AheZcWAAMTNYf+Y3dqNb3oOBwxM9W3wCPRKEzkHgFR4txSafL10jSZb2zG9r2vb7hWHFYelRI6toE8FfQo06YIY0DuXR8F5SimGGBacmYgl0CdSB2s0WZiLSgJe+u/onS/jsdt2thzXgMHV2AdmzE2h0AGWmY3ae2LxtbSBjmtSDo8iOKMOeUp1keosGWKSOR8zXXukRUzWA30B0HNqdLK7cF1+Rodlfa5Be1zRAg/maS6JJjeRczFAZo8wosByPhZFwzddKOtjZ2RgA8hUKcsK2J/OOoDiw3vcVbiOkmMovrsNNpyOABBJABJu4yBu0lhk6RDiCi0xdVMXyhh1w2IkWd3aGQKGyhY3BKiwvqX1a+oII0UjWtNDb+LqYqhSfSDRUbJEkuaYJvFosIMQZu5phpiaTQ0mdFqT9H2GE4TrZkALDI+XrJ7RiTNAVX0bnKeyx9+g59PpVjHYc1Ora6wMtnKyXZYfJ1i4u0cSBBMzQbMT/lRNyBAEmcTSMI2cg2ABWIqXjNr2ksxF2K6qbKRrVg6UYnraVN1NoLw2bkwXAw7d2ZA0DrES4O7KXUNgmUwcp4VpsdCBInVTQJGxa+RJGKu5Fu0u1ifFdRuX69x7KGFrHK7PTqOcADdzQCGg7jrIg6OsYsdU0lw5hN4byth1nmRkmlU4JplhIAxMT51UIQAR1ltdtm9Gnitt4p2HpPa5rSK4YX36tzcrjmvByzz1HtIbTbJHL4qvjuSsPHhZpfpWZo2cCwul0sBE+W9pWvf0vcb3F9DpHiauMpUeohrg2b3v8AmExLW6HszfURBRotDSZXFLMwUqGIViCVucpK3ykjYkZmt7T416w02F4eQJEgHeAYkA84E8YHBZ5UdTQihC+r+Xh/ZcP/AOlH3fsDyr884xg9IqSO1nNo/SI+66zTYLQt+Lf7VkNOxgXvPZ0+Vo5abk5SFfLT2f7VIsAvFp1jfHHLPwRK5rmDkHAYsHrYFVr3EkYyP96jUd1mB399b6G0a9AnK8xeJkgi8buO+x3aC1YpNAgBed8d6DG0ODxA31WcEaa6hkU7aCxHjrXYobeIOWswzyBnnY8IM3+BuVE0uBXE4/ox4nEWH0ZnC37UZDA27xrf9166dPauFf8Amg8CDI71AscuYx/D5YGyTRvGxFwrqVJFyLgEai4Ovka3U6rKgzMII5XUSIVe9TSVzAcPnnBWCKSXLqRHGzWvoL5QbbVW57GEZiATYTvTuV1vB+ifiU51jWEFQwaViBrawsoZg2uxFYK21sPTMCXHg0T8d1tPFSFMlej8H6FMHHlaeSWYgLmW+VCdM3ojNl30v7641bb1V8dWIFpNzHyi3cfirBSG9eg4Hg2HhAEMEUYBJGSNV1O5FhXDrValRwzuJE754d3n4q0ABXSPxb/aqHshpzCLcItxsPnqmEtvxb/apmmI0vOkd82yxb5bkpSAfi3tqsMlthNuAPHla1/nro5VXHcMhm0mjRwDcZlBII1BBtcG/eKvpPdTe7ISBP6GN2/uvvSN15Vzd0SFbycPNx2mMUjG9gBZYmsSSTf0z4a19F6P9PquEDcPjBmYBYgQY+Vvhu3LJVwoddq8txMDRuUkVkdbXR1KsLi4up1GhB99fX8LjsPim5qLw7zw1XPc0t1Uda1FFCFFNXMx+rVNq6/g/JQmXD9qYNNZusEV8Oq9r7MvcHrexoNrsB514fHdIzhX1rMinbKXQ8m3aiCMnauZsATfRam0c0c/BWW5HhDTZ52QRxJiMrgLKIpFeyMuv2wkEakaCzeJArO3pLiHtpZKQcXvdTlpludpHaBt2C3OQYmW6RdPqRe/NWMf0fwwOvWzSFBHI7hVXOxiTOWivoUN7a2Nx51ThOlVfGMPU02h2ZoEkwMxiHWkOGpiR4FN1ANNyiTo7VTERMx7BkYIuZpQqCU/Rds2hyjNbWxtrYA6Wuc2pNMCHBokwGEuyftNYvc5ZtIm0k6jS/nkrGP5SgxHEMXG+IaNk6ph1rjMwkiFySQSWEjID4Bqz4bb+Kwuy8PWZRDw7OOwLDK8xAtYsDiDvI5pmk1zyJ4apMFyNhuqxRZnkaAyqCraFoo4mI21Ad3GwNTr9JcZ11ANAa2oGHtagPc8D45Wg6kTpKBRbB5T+izeO8p4dcZDHE0wikneBgVzMpjKZjHluStpBa4voSa27O27i34CpVrBpeym2oIMAh2aJmADLbwYvYqL6TcwA4wrOK6O1EWLZTNeDMULKuVgqq5XsksWsx1svdpe4FFPpaTWw9Nwb+0gGCZBJcAbgCJboC6eMQ4s0LE8E9+j6Ilnjed0iusqKitM7hY3+xANiuWYb69k6G+kR0rrNIp1WMa58FpLiGBpLh2yRIMsNhIuLo6gahLhuj1J58WkZkRYpWjjJAMYKrmAdrlidr9kAXGpOlKr0rdhcNhn1cri9gc6DBgmJAsI4XJPuxJQKGYkBRSchw9XE6STFjl6xMqlmLQHEBYAN2spWzd58tbG9J64qvY9jAL5TJgRUFOX8BJm02+S6kQI82lc/wA9cJjw2JEcKuq9XG1n9O7KCc3gb93dXZ6PY+tjsH11YgnM8dnSA4gRxEaHeq6rQ10BfRvL3/dMPp/hR/8AQK+IY3P11Xs2zu3D7rpN0Hcr/urIc0ez8h91JL7qZz5vZv3D7oRrrp+6n+0l3Z47hz5osk91Qh1+zw3DnzQg7bU3Z8g7Nr7hz5oSTRBgQygg9xAI8djVpdVbUkCD3AfqlaFBFgI1IKxRgjYhFvUm1sQTFz89/eiArA9lUtz5PZtbcOXNNHuqPaj2eO4cuaEuumn7qn25b2eG4cuaLJPdUTnzDs3ngOB5oR7qRzZT2fkPuml91SOfL7Np4DnzSSVX2svs7juHE800vftVgz9YezeTuHA80tySo9rN7O47hy5oWbxzgUGLTJiIlcdxI7S30urbg1swmPxeCeKmHJaQRpb4WO9JzWusV5JzZ0UTQ3fBFp4++NrdavsOgceWh9tfUNgf/kV0dVtFvIOA7tb81hq4TexecyKVYqwIZTYg6EEbgg99fUcJj8Pi6YqUHhwPBYnNLTBUM1UY/VqbV2fAeSPpEEbfSShcBgnVkqCzNEpvm3uhvptXhdodIvRK729TIbImYNmhxtHA2vqtTKOYaqfA9Hkkq5+vIzQwyk5CbmbMWTftMpT3kiqcR0qpUHZOruHvbEgRkgA8gc3wCYoE3lYHNPDhA8QjMhVoI2Je4ILgkrb80b9n212tlYo4llQ1A2RUcLX0MTO881W9uWI4LDEraans7a7a308Nda6uRt7a681Wh5WJuSST3k6/fSFNgGUAQiUvXt+kdydzudCfaRQaTDqAiUjSsdyTrffvO59ugoFNoEABEpwxL69ptTc6nUnQk+diaXVU7dkW5Iko+kP+k2hvud9r+21HVMiMo4abkSULiXF7M2pudTqRqCfHWg0qZABaLckSUnXt+k2hB3O40B9oFApMH5R4IkpJZSxuxJPiTc/vqTWtaIaICF9WcvD+y4fx6qPu/YHlX58xjf8A9ipbtZzaP0j5711m6BaFvxb/AG0rIW2MDjNtPlaPkmi34t/W1MtHC06xy45fkhFvx+BSLWXnS8c9f4b33/DuEW/Fvb5Uy0zdt/5e+bRu4/l+ggj8W/2pOb2bC95t37ot5KEEfd+O+1Sc1snKOza8Tv45bfqhAH4/Aoa0SMwgd0b+OW/6IQB+Lf0tUWtEaXtAju3ReR46oRb8W9nlQGmbC/dutFo38d+neIt+PwKA1to0tPLSfy2/TS6EhH4/ApOaJFrTw5cY8/FNBH4t/tSqN7BzCLcItx0+aAlt+PwKmWjheTaO+bZbR8kkgH4t7ara05bDdwnjyta/z7mlt+PwKkGtznhP6GLxv+aSS34/ApFozXG47ufdfyNyaUj8W/papPaZuLyLRHDdH+/ikEgqDRY247t1uXHfv072qmN4XBMAJoY5ALGzxqwB8e0DY+dXYavUovDqbnNs2SLEC03Ate3LS6RAOq8M6WuV8PgWw4wysokEha7FvRK2tm29I19a6GbWxm0KFT0p5dkIAn4zfw10WDEU2sIyrho8bIoAWRwBtZiLWNxbXxJNetfhqLzLmA94Cokp6cRmC5RLIFGoUO1gd72vbeonC0C4uLGyd8CUZjxTJ8bI988jte18zE3toL3PdUqeHpU/YaB3ABBJKgq5JFCEUIRQhFCEUIRQhFCEUIW9Fznj1UKuKlCqAAA2gA0A+6uM/o7st5Jdh2Em+g1VnWv4p/134h63N8VR/Deyf3Zn9IR11Tij678Q9bm+Kj8N7J/dmeAR11Tij68cQ9bm+Kj8ObJ/d2eAR1z+KPrvxD1ub4qPw3sn92Z/SEddU4o+u/EPW5vio/Deyf3dngEddU4o+u/EPW5vio/DeydfR2eAR11Tij678Q9bm+KgdG9kj/8Ars8AjrqnFH134h63N8VH4b2T+7s8AjrqnFH134h63N8VH4b2T+7M/pCOuqcUfXjiHrc3xUfhzZP7uzwCOufxR9d+IetzfFR+G9k/u7PAI66pxR9d+IetzfFR+G9k/uzP6QjrqnFH134h63N8VH4b2T+7s8AjrqnFH134h63N8VH4b2T+7M/pCOuqcUfXfiHrc3xUfhvZOvo7PAI66pxR9d+IetzfFR+G9k/uzPAI66pxR9d+IetzfFR+G9k/uzP6QjrqnFH134h63N8VH4b2T+7M/pCOuqcUfXfiHrc3xUfhvZP7uzwCOuqcVncW41iMTlOIleTLfLmN7X3t9wrdg9nYXBAjDUwydcoiVFz3O1Kz62qKKEIoQihCKEIoQihCKEIoQihCKEIoQvVeROT8HiMFHNNGWkYsD23AIDEDRWHdXIxWJqsqlrTb4Lze0NpVqFdzWusItE7ge/et5uj/AIf+pOp/WSaa93b/AJ1nGMr+99PssDttYnc4XPu6X863+KYOj/AfqT3f4knl+1UvTK3vfRVjbeL97huHJKnR/wAP/Un/ADJPD/moOMrcfomzbeLtLvkOHn9bJy9H3D/1J/zJPPT0/ZUTjK/H6fZTbtnEwJd/aOf1/wBb0p6PuH7dSe/XrJL/APXaj0yvx+n2TO2sTEZuN8vkeeKRuj/h9/7jv26yW3f4vegYyv730+yHbbxMggjXTL38bpr9H3D+6E7frJPP9ryFSGMr8foq37axY0du4Dn9kh6P8B+pP+ZJ5/tUemVve+iR23i/e+Q5qQdH/D/1H8SXy/b9tR9Mr+99PsrhtvE6yP6e763/AER+T3h2n2J1t/iSaX8O3R6bX4/T7I9c4mwz6x+UW880Do94d+pP+ZJ5ft0em1+P0+yBtnEExn/t7k0dH/D7/wBx/El8v26fplePa+n2UBtvFZvaHh3efpuTB0f4D9Sf8yTy/ap+mVuP0VY23i/e+Q5ebJ/5PuH/AKk7H/Ek+b3UvTK/H6Kz11ij+bjuHnl3c5VyDo24YULFADrZetk13sLZ71S7aGJDg0acYH2hdKhtB76Lqr6zQ68NgX1tHtd36qp+T/h/6j+JLpvt2/51b6ZX976fZc/13iQPaH9Omvm6ucK6NOGyOQ0Wguf72QE62H521U19oYhjZB+i6WysdWxNYtqPECToATeO7v3qDH9HPDlkZViJHlJJpvpfNrbxqyljsQ5gJP0WTH7Ur0cQ6nTqAj+XTW0744/5VKDknhjOUEfaG46yTxsSO1YkbHwuL71EbSeXFjX3G632Vrq+1aVBuIqtIpugB2Ub7g8pGk2O665XpL5bw2FhhbDx5GZyGOZzcWv+cx7/AAro4KvUqPIeZ8P0WnZO0KuJcRUIsOEefPJZvDuW8NLFhWEkwbETCC2VMqtdM59K+Xtm3srmYvbGKw9XENLGkUqZqamSO1A017N++y9G2m0gczCcOjvEMzdU8TRa5JMzWYhmTLbLdWBRgSwCi29QPSzBsaBUa4P3tgSLAzrBEOEBpLjPso6h25ZsXKUzQJMGj7ayMsZLdYVhbJI3o5ezvbNe2wNb3bcw7cQ6hld2S0F0DLLxLRrN+6AdSFHqjEq3ieQ8QjFc8LN28qqzXkMQBlCEoBdbi9yLna9jbNT6T4R7Q/K4DsySB2Q8wwmCT2oMQDAu6JEs0XJuF5GxEkjxI8RaKwl1e0TE2CPZNSTfVbroTewp1ekuEp0mVXNcA+7bDtiJzC+kbnQbgASQECi4mOCT6kT5EcvCA0vU6uewwYp22ClQLqba3OmlP8SYU1HMa15IZn01EA2BIcbHhYo6l0SnwclSdZPFI6q8SxsGuRGesdUBYsoIXtXvak/pDR6qlWY0lry4Rq7stLiAASJ7MROqBSMkLH4/waTCTGGUqWABut8pB2IzAG3urp7P2hSx1AVqUxJF4mR3E/VQewtMFZtblFFCEUIRQhe5dGFv+HQ3B3fu/bauDjZ650Lxe1iz0x2YcN3ILqWK66HfTTz9vhWUSuW407wDra3Pv4d/6qMEeHh3eypXVQLOHDd3JY7aXB+7y0/fSMp08lpHy5ffydE5bW2Pd3e2/wDSkZlTaWZdDu3HnP6f4SsVtsb693t/G1AmVJxp5IAM33Hn50SyFc2gNr+Ht86QzQnUNLOC0GJ4d/P9VHJbwP3e2pCVRUySYHy70EjwPf3e2ndBLeHHd3qVSt9jb2ey/f7agc0LQ00c1wY7u7n3/wCE0ZfA/cfKndQBpxcHwPLzvR2fA/cfKi6c040PgeSRSt9jbTu8hfvo7UKLTSz6W7uQ5+eSYLaezw9lSuqgW2t8u5ONtNDse7zP9LUrqZyQLHQ7jxP6ed6kut9ja57vbbv/AK1HtQrQaWeYMSdx5xv/AF8UgK66Hy09vn7KO0gGlBkHlbv5/dNOWx0N9e721K8qs9XkNr33Jmmuh+7207qvs3t8u9U48GTP1jHRVKqAp1zMDrc6WtuNT7qydQ81+tJFhA+Pfa3LX5L0A2th27LOBptdLnBzpiJbwyw45p0fOSIAJOYcb0zEdRh7fpm+n7I8/bXZ2dOd08FdsEsNR2UbuEcOZ5+dOa4PwLHMmHMU0QVCMTGCw+zLsFVnuv5zKLA3Gh2F652O2lsxtSsKzHEumk6Ae0ACSBB3AmSI1gSYC9e1j4EHmtKLA8YiVFjlQswDdUpQyIJnLB2XLp23btj0bnUCsD8VsCs5z6jCACRmOYNJY0AtBm/ZA7Ojo0JUstUaJo4bjzh0wkRhAhRmDKQXmSVzL2SVzBM0ZB9FSQAb1I4rZTMS7G1c8vcBecrHNAboDEw6R7ToJLbSjK/LlG5Rw8O4jIrMmIjInjWVibKS2IU3iRivZdhH2gpANlv3VY/FbIpOa19Fw6txaNSIpkQ4gG7Wl3ZLgSLkb0g2odDr+qbjfp8OHOKlxKiRDGphyIzjrPtFadSNJPs0YFgW2NwRRQOzMRihhKNElhDjmlwb2eyQwzdvacDlIbqIIKDnDcxKj4XguJSwRSJOmSRmkGYjrAImYu7nKW6sOSbEkXcaXarcViNkUMRUpPpnM0BpgHL2gIaLgZi3eBMDWAk0VCAQU6Hh/FAZZBIqMrpAw7It1ZRowgC5UQFkKhbXF7Ai9Qdi9iltOlkJBDqg1M5g4OJvJJGYOJmPzEEhPLUufgmy8q4vFvnxM6BzaNNOz2J/oxUBQAihiSAosfK5NSbtvA4CmWYamS0S53G9PrJvJcSIBJNuNoS6tzjc+ZhV36PJyEMckTZkQ9psuZpGdVSO981+rJBOX2C1XDpXhWucKrXDKXCwLoa0NJc6wiM4nXkSTCXUO3LNxHKU0aI7tFq0asiuDLGZRmTOnddddTW+ltvD1qhpsDtHEEghrspgwd8HzoommQJKdxLlCaKOSUNGyIWuMwEuVJGhLmP9HOhGhO4qGF29h69RlEghzgNxyyWh+XNxymdAh1IgSudruKte09G+Gxh4fGYkwxTtlc8sgdj1hBVgEKqPSIPa7tr6fP8Ab3SOjgsc6i5rjETERcT50+/Pr7AGLea2aJ791uMbuHxWxxfH4yEIRgWe+rlZMwSx2sgLG4tYhR7NL1nw/SbAVZ7RHfae7d81g/C1Xe4fCe/jb4KueNTtkaDC9el7SmOVWaMr6S5bg5hbvy38BWqh0i2W7M3EVDTMSMzTB7iJMc4VY6K1gD2geETy14fBVk5qlWRlk4fiwg2KRFmuLjUA23HcxrsMxOzKtIPp4ylJ4uDfrfxCqHRqu0C99+sabvPMJcJzXMQxfh+KAuAmWNjm3Bz3IykG21xvfbUq4jZYIDcbSnfLhbu1lT/DdYAR8bO531+Vgd6OHc1TuXV+HYoblcqNa2/aLlbH3m9QxeM2VQa14xlMgwNZ+Tc1vgITd0brGzI365h4X+pUcHN85Mmbh2Jsvo5FZje3otsBr4XI8KtdX2UA3Ljad+JA+I8jvQ/o5VMEazex+/6f5bBzfMQ/WcOxYP5mWJyDvbMTax22B79PGxz9mgjLjKXOXN+XkKup0brEjL8fa59/Hl9UQ84ydWxkwGLDi5ssLZLWuMzGxGm+lDnbPzgMxdKP5hPh/lJ/Ruvm7Jtznz9E1OccR1ZJ4biutubARPktpYlrXvptb30y7Zme2Mp5f5mz5+PwVv4dqZ7ez3Gftu+d5Uo5wmzKP+HYoLl1ujAlrCwF9LE32N7agd1Vuq7Ma0k42nM+8NPP+0Do7Vgcbe999/KOSbHzLjmQleGvmHpZmKoBve7WO1t6or7S2HRcA7GAg6ZRmPyBVrejTy7l8f8A2/UqOXm3FKzD/huItbs2VzrtqQpFtO6tNKvsiqwOGNp/EgW7iQZ71V+G6gIk/I/fl/tZ8/PmIUWOCKOp7QcsthoRZSAb2/nWgHZU/wD8tpB0gg/SyG9GjN3GO7/Kkw/SG8jqqYGV7g3C5ixNr9kAbCm+ls9jSXYtg7yI+qQ6Ovgyb9x+/nusofymsjlZsIVI7sxDjUg5gw9o27q20tk0MQ0Ow9cO7oI+SKmwSNDfmD94+XdF1EOlPb+zDfX7Q7d1tN/3Vo/D3/8Ap8kvUQv2t3PXx+keKeelJc3/AHbsWP5/aub2t5bUvw+cv/JfuUfUPZIzXvxj6zb/AHKjHSjq39n0scv2hvfW2bTz7ql+H7Dt99kjsAe/32P3RH0o2TXDgvf9M5bXvbx2oPR/tWfbuupeoQH2db4/cffmue545v8ApqRoIsgQ5rlrkki3htSbsz0TtF0yujs3Z3opJmZsr/L+D4kDhnWQJFKEgDhI5AireSMOliL3uQTqD4V5HaVfZDhWpvbmeyXkS5hJjK4gyDpYxaF3mCpY/BaXGF4qxSOEoBDDDrEVJkZQZFAcqGZ7DMYwSBvrfXBgTsNofVqz+0fUs+YaCcp7IJaG7g8gE6GCLSd1mg3AKLB4TjAJMckGZlR8oEGl1IjAQrZSVLAAAXualiK3R5zQKrXwC5s/ttxGbtTJAIEkkgQgCruj5KtwnC8VIgVJIkSdciMyxlVESO4VrIxV8pcD84baW00Y2vsNrqrqjXOdTOYgF89pwEiXAFpcGyPZOsEm6aKto3qyMFxA4eJm6vE4fqUkMcixKzExsUW+ryFFuRc302FqpOI2S3FPDc1Krnc2WmoQBmGYxZjczoBtEnUynFTLxHwWdgsBxGH6IplWNA5gUWjZojiLO6Sx2ub6Eq9+7at2IxOycR6Q4MLnZesPttDslgWu0toC3vuoAVBHh4pTg+KKoKOpXEO1nXq8xYDPlLAXQsIwQgI1AFr0dfsV1QteDmpAWOeANJg2MZjLoNjMwnFSO9STycXeMT51KqiSjKsQNiVxOiqouwIV2HgddzVNOn0fpvOGAILnFtzU1g09SbA3Y24Ejs3CCapGb7d6kxMfF0RpDLFlw4jc5ep7FszILBbAgOxynuYb6VGm7YFWqKWR2arnbfrO1OUO1OhytEjgYOpTPWgTw7lZUYvFw4SAqI+seFjKzRllCqRHIyKqtlYAlc5N7BQRfWlzsBgK2IxLSXZGvGUZgCSQXNBJc2WmM2QCJLnA7n2nAN7lyHFuN4gPNEZs6kvGxyIM6mUynYG15CW0PfbbSvSYPZuELKdYU8ps4CXWOQMGp3NAFxzibqlz3XErCrsKtfRfRAf+yoPbJ4/rGr4p0yc5u16hA92/a90bxb9V0cP/AMYXZE/jWvKOqO3zc/xXvv4/BXwuY5x5VGKUyQsYcWqhY51LBgL3KkqRdTdhY+NacFjzR7FQZmHUETJte+/mEnNnTVeMPicdEGXF4zGYZt0kbrDAdPRcqM6m+minzFeqazCuIdQpMeN47Id3ibacxyKzkEiHEqPGpxuNBIJsRJGfRkhm6xT3aFGJ9xsd6KZ2S92TK0O4OGU/MBPtgLCxPNPEFOV8TiVZdCDI4I79Re966DMBgiJbTaQeQKhmcDqoRzZjhb+2YjT/AM5/9amdnYQ26pvgEZ3aypDzjj/W5/8AMb/Woeq8H/1N8AjM7ihOcMcP/wCvEf5rfu1oOzMIf/E3wCec8U/D808RkYLHicS7HZVdyxtqbAanSk/Z+BYMzqbQOYCA93FaMHMfEYiDNjZIgTYh2zuLHU9UblSCPzsvlWZ2BwNQRTpB3dYePPlKed28q5wXnLimIbJHiJnkysQFjDW1X0gFOm+vd76rr7K2dSE1GNaLak/dMPedF33LvBcZI7mbENPMfSvJKMLDcAZbI4EjWzCwFgRcnYniVq+FAaGU8rByGd3xIJA0udQrAHcV2vLnKmGwfahiQSEWZwtjra4XwXQafeSbk8vE7Qr17OcY4X5eb/SFMMAV3iHAsNPfrsPFITuWjBJttc2vpYVClia1OOrJGvvfofO+yZaDqsXi3I0LxCKG0ca5iIWUtAWcEXKgh1IJJBjddT310sJtfE4ev6Q0kO0zNkOidJMtOkEEEW01UHUwRC8Y5l5LxeDZjJEWjubSRglLanXUsugPpeG5r7Z0f6aYLHU20678tT+IRO7XSTytPgubVwzmmRoudr2yzIpoRQhRzVz8f7LVNq7/AAM/F/osbxxIYURGVgIi5SK5TshsxtdtLXPaPjXzfEM2B6Y+nVeRUcXAg9ZEvibxlv2bzAsJFgtg63LI0+CZHPxgZI1AHXoEXK8Yv1abllcZZBHb0rGwGmlN9Lo+cz336okmQ8xmduBF2l2mWRwMIBq6cU6EcVBM0SxvZYXJUxEfZoTGFGbtdkH0b3oqu2HAoViWyajROf8AMRnkx2bke1EIHW6jkq83GuKRDDBkRe0gi7KZg2Uqqvr2CUkPZa1wxPnWins/Y1d1YtcTY5rugiZJHGHNF2zBETaFEvqCFZiTjBywCJP7OsZAvF6LI8MZDFrPdWkGhOvnWR9To8JxDnn9oXbqmoc17pES2CGm4FuSlFXTh3KfjeMxIwST9UY2jkjnZ5mjMryf3YvGgDW7N80gBI22ua8Bh8H6e/D58wcxzAGB4Y1ntHtOJbN4hhtvjQNxdln4+f8AK56HneZjCk5BiieNuwiiT7E3XK3cd/vNdqp0cwzRVfQEPe147RJb29ZHnSNFUKxtO5Q43nbFydeA5VJ2Zio/NzaEKRbuABqzD9G8BS6pxZLqbQATvjS3fdBrOM81WXmjEBpnBUPMuR2yC+XLkIB7hYVpOxsK5tNhBimZAkxMzPj9tFHrHX5p+H5vxKCMKy/Z5LHIMxEX92rHvVb6Cq6mwcFULy5p7eaRJiXe0QNxdvKYquCw5HJJJ3Jv99dhoDQAFWm00L6M6IP/AAqD2yf/AGNXxXpjm9b1IiOzrPuhdHD/APGF2R934NeUfmvprz97d50V4TapEzu+fJNYXH+CRyqesjV42v1i2swNj9opG7aAEd4t+jY6cLWqtjI6HDQ8bTlP6cD3yE4BeXcR5Yx3DAcRw2YywupbKvaU5vRYJYg6SHKLm+W9zcLXeo7Qwm0D1WMZlcONjzvruvprG6VUWOZdqocF6Q43YpxbBwzMo1kaJOs7IOhRlsWJPiu5rTX2K9gzYGqWgnSTF+YOg+KiKnvBazw8u4pA2mHOoIu8bLcXBtYqdbW7t99jlB23h5/P4Gb/AAKl+zKzuIcC5fjUH6XIxGjBGJY+dsh9m40q6jjNtPJHVAd4j9Ui2mN65vFcY4bFb6NgesLLqZ5mYKxOoCLa9tLMbX8K6lPDY2p/zVYg/lAEjvM67xdQJaNAsufmWd7LEBFsAsAyAgG4BC+lr437vAVqbgaLR2+1zdf66fCFHMVrco8kzYlxNP8AZRBgS8qMxlOpISPRpLkWNiNzvY1i2htWlh29XT7To0BAy950HKykxhNyvXuU+TEjiKRh4oiCpbMyzTDMGzFhYpqMunde24avP4nG1HvzvIedQCLN+EeTrwVrWiF3OGw6xqEjVVUaBVFgB5AVyS976uZ0E8yeAVkWTxWcTbTTnyTS1Z2oGmh48T57uaEv3Vd2827U8Y3+QkmyRhlKsAVIsQdQQbggjvFDXPEkR4nnoiy875l6JsPNmfCt9Hc65bXhPlk3X/2mw10Nev2L042ls+1Q9YwSIJMjuss9TDMfpZeVczcr4jAuVnQ5e6VQTE1yQO3awbT0TrqK+s7C6YYHarYkMfplJHy0lYKuHcxYtesVCjmrn4/2WqbV23BuL8RhjjaLCllKRohEbNcKJVQ9nx6x9fKvn2OwWyK9Z4rVwHAuJGYCJyE68Mre4HmtbXVALBTni/E3youCscP3LEwsGjaIWW9spTUBRYkXG5vnGB2NSl7sT/yby5t4eHaxqHWOY2Bg7oeaod2ijix3E4YUb6IerjWNgxjYjLGjRqSQf0ZCTVz6GxsTiHN68Z3FwjMNXOBI8WfokDUA0UPEsdxOZsOJcO7NFaYB1crJ1VgWkVmy6CwYAC2Y3tmqeGwuxsMysaNUAP7BgtBbnmA0gTc+zJOgjRJzqhiQtLi/GeJBpD9HVxGYC7okh/uiMSgYucxt1mpPdr51hwOA2OWtAqkF/WQCWj2v2boy2vlsBoba2U3OqcOH3WVx7iWOmUwy4PK+II7QiYSSdWSQm+631FrgWvXS2fhdm0CK9HESykDYuBa3MNf/AJRYzBOig9zzYjVY2O5TxUeX7JmvGJOwCQoa5AJGmawJsO652rp4fbmCrEgVAIcW3IEkQJjWJIEnfZQNJw3KGTlrFqQDh5df2CRtm1I0HZ117tdqubtfAuBIrNtzHGPje1t9tUurdwS4fljFMSOokAVwjkobKTY66X0DKdO4g99J+2ME2P2rSSMwEi4vp8QR3iEdW7greO5LxcbBRGZC2YjqwTYI5jOYEAr2hoD4+OlZcP0iwFZheX5QIHatctzW3G28cOF0zRcNy5+RCpIYEEGxBFiCNwR4122uDhIuCq02mhfRnRB/4VB7ZP8A7Gr4t0wDztio1v8ADx90cIXRw8dWF2RB/Htryr21LiNDzt2u/wC/fN1fZNFUNa6Y7uPLmmhfx91OkHmI4c9zZ8/qLIKzcVh2j7SC8W7oBcgWN8inu7yo18Lk2NppGsyTGYQAeMzE87WPilMLmOZ+RsLi+0EXbUooEhudCJLEm36J02F1FW4Ha9fDdkk/E28P1F+9J1MFeUYzoyxWcpDLFKxBbqy+SbKttWjbT84WszbivXN25h2tDqjSBxF2yd0jfa8gKjqjuXPzcn45TY4Ofe2kbHXbcDbz2re3aWEcJFVviFDI7gtjhnRhj5VDsiwpmteUkHTc5QC1vdrWSvt3B07A5j/Df/CkKTiu95W6PosL9o6xyyBhkkcSIAxFiqR5ryG+3ZG51OgHBxe2KuKPVU5E7mwT4gW538Lk2tphtyvRMFwtmIeYAjKBlJJJOnafXKPRHYUZQbm7aEcsNLAckE6ze192/fq6TG4Ka2dah+1Ha4zx5c/PFOyADeotY/rIgbuO8Dn55IkQm1QA63Mc+Xncml1qwh4API8eJH+P83SsnWO1XhlUvyQNTa+6ec27++UrIsfxekGVCHWFv5ra8/rKLJutqrIqZC7v48+f6J2UOKw6yIySKrowIZWF1IO4IOhFVtdUa4vaYI33tqnZcTxfonwUpvEHgPfkYlT/AO17ge61ew2b0021hfzh4aNHXETHes78NTduXlvPHIs3D1R5JI3R2KrlzBtBe5Uiw08zX0zY/Sk7ZljqeQtAOsz5kLHUodXvVfhfO88GXq1jusaRagm6xljrYjcOwNRxnR3DYuesc6C5zrRqQPplBHNDaxbopYee5lkjdY4wIjH1adqyrEjxIlyxJFpWNyb3qp/RnDvpPpue45w4ONpJe5ribADVoiBACfXGZSYnnqZ0KGOOxBXY/nQrhz3/AKKA+2pUujeHpVOsD3TIO7c91ThxcfgkaxIjzpCkx3P8si5epiRRFLCoXNZVnChrAsQLZBYDQeFVYfoth6Ly/rHOJex5Ji7qZJGgHG+88UzXJtHH5pj8+TGRpMkYZs3jpnhSAka/oxqfbUx0ZwwpClmdEg7tz3VPq4juR1xmfOkJcdz/AIiSWKXLGpjLMVGfI5cFGLAsbXUkaW3NGG6L4SjQfRzOOYAScstDTLYIA0N7zdBruJlSnpDnEfVRxRpGFCoFMl4yoKBlbPcnKfzr6gGqvwphzV66pUc5xJLicvaBMwRlgCfdixhPrzEAJ/EOfyWcRYeMQyG8ivnJlvH1RLkPp2b+jbx3qNDou0Na6tVcajfZIjsdrPYEXvE5p4aINfgLKCPn+cdZ9nH2ypHpkIEChVVSxXRUADEZhc6+Fx6MYYlhzu7IPu9omSSSADcuJIBymBZLripPyhS9aJTDEWHWDeQAiR+tsQHsQGLCxFiCQb1X+FMOKJoio7KcvumC1uWQS2QSALgyCJaQn15mYXITylmZja7Ek2Fhc66AbCvTsYGNDRoBCoTKkhf/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1270" name="Picture 6" descr="http://need-media.smugmug.com/Graphics/Graphics/i-2JgX3xW/0/L/coalFormation-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099" y="1639075"/>
            <a:ext cx="7620000" cy="432435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654767" y="6579896"/>
            <a:ext cx="8172524" cy="253916"/>
          </a:xfrm>
          <a:prstGeom prst="rect">
            <a:avLst/>
          </a:prstGeom>
        </p:spPr>
        <p:txBody>
          <a:bodyPr wrap="square">
            <a:spAutoFit/>
          </a:bodyPr>
          <a:lstStyle/>
          <a:p>
            <a:r>
              <a:rPr lang="en-GB" sz="1050" dirty="0">
                <a:hlinkClick r:id="rId4"/>
              </a:rPr>
              <a:t>http://need-media.smugmug.com/Graphics/Graphics/17024036_Bdmf8C/1295824178_2JgX3xW#!i=1295824178&amp;k=2JgX3xW</a:t>
            </a:r>
            <a:endParaRPr lang="en-GB" sz="1050" dirty="0"/>
          </a:p>
        </p:txBody>
      </p:sp>
    </p:spTree>
    <p:extLst>
      <p:ext uri="{BB962C8B-B14F-4D97-AF65-F5344CB8AC3E}">
        <p14:creationId xmlns:p14="http://schemas.microsoft.com/office/powerpoint/2010/main" val="760210440"/>
      </p:ext>
    </p:extLst>
  </p:cSld>
  <p:clrMapOvr>
    <a:masterClrMapping/>
  </p:clrMapOvr>
  <mc:AlternateContent xmlns:mc="http://schemas.openxmlformats.org/markup-compatibility/2006" xmlns:p14="http://schemas.microsoft.com/office/powerpoint/2010/main">
    <mc:Choice Requires="p14">
      <p:transition spd="slow" p14:dur="2000" advTm="131823"/>
    </mc:Choice>
    <mc:Fallback xmlns="">
      <p:transition spd="slow" advTm="131823"/>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a diagram illustrates classification and rank of coal: Peat, Lignite, sub-bituminous, bituminous, anthracite based on burial pressure, heat and ti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611" y="2288379"/>
            <a:ext cx="8619625" cy="34109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99721" y="324648"/>
            <a:ext cx="4066498" cy="769441"/>
          </a:xfrm>
          <a:prstGeom prst="rect">
            <a:avLst/>
          </a:prstGeom>
          <a:noFill/>
        </p:spPr>
        <p:txBody>
          <a:bodyPr wrap="none" rtlCol="0">
            <a:spAutoFit/>
          </a:bodyPr>
          <a:lstStyle/>
          <a:p>
            <a:r>
              <a:rPr lang="en-GB" sz="4400" dirty="0" err="1"/>
              <a:t>Humic</a:t>
            </a:r>
            <a:r>
              <a:rPr lang="en-GB" sz="4400" dirty="0"/>
              <a:t> coal ranks</a:t>
            </a:r>
          </a:p>
        </p:txBody>
      </p:sp>
      <p:sp>
        <p:nvSpPr>
          <p:cNvPr id="7" name="Rectangle 6"/>
          <p:cNvSpPr/>
          <p:nvPr/>
        </p:nvSpPr>
        <p:spPr>
          <a:xfrm>
            <a:off x="4737794" y="6453124"/>
            <a:ext cx="4406206" cy="369332"/>
          </a:xfrm>
          <a:prstGeom prst="rect">
            <a:avLst/>
          </a:prstGeom>
        </p:spPr>
        <p:txBody>
          <a:bodyPr wrap="none">
            <a:spAutoFit/>
          </a:bodyPr>
          <a:lstStyle/>
          <a:p>
            <a:r>
              <a:rPr lang="en-GB" dirty="0">
                <a:hlinkClick r:id="rId5"/>
              </a:rPr>
              <a:t>http://www.uky.edu/KGS/coal/coalkinds.htm</a:t>
            </a:r>
            <a:endParaRPr lang="en-GB" dirty="0"/>
          </a:p>
        </p:txBody>
      </p:sp>
      <p:sp>
        <p:nvSpPr>
          <p:cNvPr id="2" name="TextBox 1"/>
          <p:cNvSpPr txBox="1"/>
          <p:nvPr/>
        </p:nvSpPr>
        <p:spPr>
          <a:xfrm>
            <a:off x="-6164" y="1088050"/>
            <a:ext cx="9278759" cy="830997"/>
          </a:xfrm>
          <a:prstGeom prst="rect">
            <a:avLst/>
          </a:prstGeom>
          <a:noFill/>
        </p:spPr>
        <p:txBody>
          <a:bodyPr wrap="none" rtlCol="0">
            <a:spAutoFit/>
          </a:bodyPr>
          <a:lstStyle/>
          <a:p>
            <a:pPr marL="285750" indent="-285750">
              <a:buFont typeface="Arial" panose="020B0604020202020204" pitchFamily="34" charset="0"/>
              <a:buChar char="•"/>
            </a:pPr>
            <a:r>
              <a:rPr lang="en-GB" sz="2400" dirty="0"/>
              <a:t>Only ~10% of organic matter preserved during peat forming conditions</a:t>
            </a:r>
          </a:p>
          <a:p>
            <a:pPr marL="285750" indent="-285750">
              <a:buFont typeface="Arial" panose="020B0604020202020204" pitchFamily="34" charset="0"/>
              <a:buChar char="•"/>
            </a:pPr>
            <a:r>
              <a:rPr lang="en-GB" sz="2400" dirty="0"/>
              <a:t>Leaves behind large hydrocarbon molecules</a:t>
            </a:r>
          </a:p>
        </p:txBody>
      </p:sp>
      <p:cxnSp>
        <p:nvCxnSpPr>
          <p:cNvPr id="4" name="Straight Arrow Connector 3"/>
          <p:cNvCxnSpPr/>
          <p:nvPr/>
        </p:nvCxnSpPr>
        <p:spPr>
          <a:xfrm flipV="1">
            <a:off x="737294" y="6207369"/>
            <a:ext cx="8001000" cy="2"/>
          </a:xfrm>
          <a:prstGeom prst="straightConnector1">
            <a:avLst/>
          </a:prstGeom>
          <a:ln w="57150">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67132" y="5732580"/>
            <a:ext cx="7531677" cy="523220"/>
          </a:xfrm>
          <a:prstGeom prst="rect">
            <a:avLst/>
          </a:prstGeom>
          <a:noFill/>
        </p:spPr>
        <p:txBody>
          <a:bodyPr wrap="none" rtlCol="0">
            <a:spAutoFit/>
          </a:bodyPr>
          <a:lstStyle/>
          <a:p>
            <a:r>
              <a:rPr lang="en-GB" sz="2800" dirty="0"/>
              <a:t>Increase in C content, decrease in H and O content</a:t>
            </a:r>
          </a:p>
        </p:txBody>
      </p:sp>
    </p:spTree>
    <p:custDataLst>
      <p:tags r:id="rId1"/>
    </p:custDataLst>
    <p:extLst>
      <p:ext uri="{BB962C8B-B14F-4D97-AF65-F5344CB8AC3E}">
        <p14:creationId xmlns:p14="http://schemas.microsoft.com/office/powerpoint/2010/main" val="4033377128"/>
      </p:ext>
    </p:extLst>
  </p:cSld>
  <p:clrMapOvr>
    <a:masterClrMapping/>
  </p:clrMapOvr>
  <mc:AlternateContent xmlns:mc="http://schemas.openxmlformats.org/markup-compatibility/2006" xmlns:p14="http://schemas.microsoft.com/office/powerpoint/2010/main">
    <mc:Choice Requires="p14">
      <p:transition spd="slow" p14:dur="2000" advTm="65888"/>
    </mc:Choice>
    <mc:Fallback xmlns="">
      <p:transition spd="slow" advTm="658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Four types of coal: lignite, anthracite, bituminous, and sub-bituminou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0333" y="1265122"/>
            <a:ext cx="4722664" cy="402642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520807" y="6211669"/>
            <a:ext cx="4572000" cy="646331"/>
          </a:xfrm>
          <a:prstGeom prst="rect">
            <a:avLst/>
          </a:prstGeom>
        </p:spPr>
        <p:txBody>
          <a:bodyPr>
            <a:spAutoFit/>
          </a:bodyPr>
          <a:lstStyle/>
          <a:p>
            <a:r>
              <a:rPr lang="en-GB" dirty="0">
                <a:hlinkClick r:id="rId5"/>
              </a:rPr>
              <a:t>https://www.e-education.psu.edu/eme444/node/270</a:t>
            </a:r>
            <a:endParaRPr lang="en-GB" dirty="0"/>
          </a:p>
        </p:txBody>
      </p:sp>
      <p:sp>
        <p:nvSpPr>
          <p:cNvPr id="2" name="TextBox 1"/>
          <p:cNvSpPr txBox="1"/>
          <p:nvPr/>
        </p:nvSpPr>
        <p:spPr>
          <a:xfrm>
            <a:off x="173588" y="1962834"/>
            <a:ext cx="1945725" cy="923330"/>
          </a:xfrm>
          <a:prstGeom prst="rect">
            <a:avLst/>
          </a:prstGeom>
          <a:noFill/>
        </p:spPr>
        <p:txBody>
          <a:bodyPr wrap="none" rtlCol="0">
            <a:spAutoFit/>
          </a:bodyPr>
          <a:lstStyle/>
          <a:p>
            <a:r>
              <a:rPr lang="en-GB" dirty="0"/>
              <a:t>LIGNITE</a:t>
            </a:r>
          </a:p>
          <a:p>
            <a:r>
              <a:rPr lang="en-GB" dirty="0"/>
              <a:t>25-35% Carbon</a:t>
            </a:r>
          </a:p>
          <a:p>
            <a:r>
              <a:rPr lang="en-GB" dirty="0"/>
              <a:t>4,000-8,300 Btu/</a:t>
            </a:r>
            <a:r>
              <a:rPr lang="en-GB" dirty="0" err="1"/>
              <a:t>lb</a:t>
            </a:r>
            <a:endParaRPr lang="en-GB" dirty="0"/>
          </a:p>
        </p:txBody>
      </p:sp>
      <p:sp>
        <p:nvSpPr>
          <p:cNvPr id="5" name="TextBox 4"/>
          <p:cNvSpPr txBox="1"/>
          <p:nvPr/>
        </p:nvSpPr>
        <p:spPr>
          <a:xfrm>
            <a:off x="70340" y="3984284"/>
            <a:ext cx="2232662" cy="923330"/>
          </a:xfrm>
          <a:prstGeom prst="rect">
            <a:avLst/>
          </a:prstGeom>
          <a:noFill/>
        </p:spPr>
        <p:txBody>
          <a:bodyPr wrap="none" rtlCol="0">
            <a:spAutoFit/>
          </a:bodyPr>
          <a:lstStyle/>
          <a:p>
            <a:r>
              <a:rPr lang="en-GB" dirty="0"/>
              <a:t>BITUMOUS</a:t>
            </a:r>
          </a:p>
          <a:p>
            <a:r>
              <a:rPr lang="en-GB" dirty="0"/>
              <a:t>45-86% Carbon</a:t>
            </a:r>
          </a:p>
          <a:p>
            <a:r>
              <a:rPr lang="en-GB" dirty="0"/>
              <a:t>10,500-14,000 Btu/</a:t>
            </a:r>
            <a:r>
              <a:rPr lang="en-GB" dirty="0" err="1"/>
              <a:t>lb</a:t>
            </a:r>
            <a:endParaRPr lang="en-GB" dirty="0"/>
          </a:p>
        </p:txBody>
      </p:sp>
      <p:sp>
        <p:nvSpPr>
          <p:cNvPr id="6" name="TextBox 5"/>
          <p:cNvSpPr txBox="1"/>
          <p:nvPr/>
        </p:nvSpPr>
        <p:spPr>
          <a:xfrm>
            <a:off x="7158507" y="1950330"/>
            <a:ext cx="1620957" cy="923330"/>
          </a:xfrm>
          <a:prstGeom prst="rect">
            <a:avLst/>
          </a:prstGeom>
          <a:noFill/>
        </p:spPr>
        <p:txBody>
          <a:bodyPr wrap="none" rtlCol="0">
            <a:spAutoFit/>
          </a:bodyPr>
          <a:lstStyle/>
          <a:p>
            <a:r>
              <a:rPr lang="en-GB" dirty="0"/>
              <a:t>ANTHRACITE</a:t>
            </a:r>
          </a:p>
          <a:p>
            <a:r>
              <a:rPr lang="en-GB" dirty="0"/>
              <a:t>86-97% Carbon</a:t>
            </a:r>
          </a:p>
          <a:p>
            <a:r>
              <a:rPr lang="en-GB" dirty="0"/>
              <a:t>~15,000 Btu/</a:t>
            </a:r>
            <a:r>
              <a:rPr lang="en-GB" dirty="0" err="1"/>
              <a:t>lb</a:t>
            </a:r>
            <a:endParaRPr lang="en-GB" dirty="0"/>
          </a:p>
        </p:txBody>
      </p:sp>
      <p:sp>
        <p:nvSpPr>
          <p:cNvPr id="7" name="TextBox 6"/>
          <p:cNvSpPr txBox="1"/>
          <p:nvPr/>
        </p:nvSpPr>
        <p:spPr>
          <a:xfrm>
            <a:off x="6982657" y="4049540"/>
            <a:ext cx="2062744" cy="923330"/>
          </a:xfrm>
          <a:prstGeom prst="rect">
            <a:avLst/>
          </a:prstGeom>
          <a:noFill/>
        </p:spPr>
        <p:txBody>
          <a:bodyPr wrap="none" rtlCol="0">
            <a:spAutoFit/>
          </a:bodyPr>
          <a:lstStyle/>
          <a:p>
            <a:r>
              <a:rPr lang="en-GB" dirty="0"/>
              <a:t>SUB-BITUMOUS</a:t>
            </a:r>
          </a:p>
          <a:p>
            <a:r>
              <a:rPr lang="en-GB" dirty="0"/>
              <a:t>35-45% Carbon</a:t>
            </a:r>
          </a:p>
          <a:p>
            <a:r>
              <a:rPr lang="en-GB" dirty="0"/>
              <a:t>8,300-11,500 Btu/</a:t>
            </a:r>
            <a:r>
              <a:rPr lang="en-GB" dirty="0" err="1"/>
              <a:t>lb</a:t>
            </a:r>
            <a:endParaRPr lang="en-GB" dirty="0"/>
          </a:p>
        </p:txBody>
      </p:sp>
      <p:sp>
        <p:nvSpPr>
          <p:cNvPr id="3" name="TextBox 2"/>
          <p:cNvSpPr txBox="1"/>
          <p:nvPr/>
        </p:nvSpPr>
        <p:spPr>
          <a:xfrm>
            <a:off x="193425" y="5785338"/>
            <a:ext cx="8805616" cy="461665"/>
          </a:xfrm>
          <a:prstGeom prst="rect">
            <a:avLst/>
          </a:prstGeom>
          <a:noFill/>
        </p:spPr>
        <p:txBody>
          <a:bodyPr wrap="none" rtlCol="0">
            <a:spAutoFit/>
          </a:bodyPr>
          <a:lstStyle/>
          <a:p>
            <a:r>
              <a:rPr lang="en-GB" sz="2400" dirty="0"/>
              <a:t>Consist of ‘</a:t>
            </a:r>
            <a:r>
              <a:rPr lang="en-GB" sz="2400" dirty="0" err="1"/>
              <a:t>macerals</a:t>
            </a:r>
            <a:r>
              <a:rPr lang="en-GB" sz="2400" dirty="0"/>
              <a:t>’ the coal equivalent of minerals in rock formation</a:t>
            </a:r>
          </a:p>
        </p:txBody>
      </p:sp>
    </p:spTree>
    <p:custDataLst>
      <p:tags r:id="rId1"/>
    </p:custDataLst>
    <p:extLst>
      <p:ext uri="{BB962C8B-B14F-4D97-AF65-F5344CB8AC3E}">
        <p14:creationId xmlns:p14="http://schemas.microsoft.com/office/powerpoint/2010/main" val="2598224967"/>
      </p:ext>
    </p:extLst>
  </p:cSld>
  <p:clrMapOvr>
    <a:masterClrMapping/>
  </p:clrMapOvr>
  <mc:AlternateContent xmlns:mc="http://schemas.openxmlformats.org/markup-compatibility/2006" xmlns:p14="http://schemas.microsoft.com/office/powerpoint/2010/main">
    <mc:Choice Requires="p14">
      <p:transition spd="slow" p14:dur="2000" advTm="85703"/>
    </mc:Choice>
    <mc:Fallback xmlns="">
      <p:transition spd="slow" advTm="8570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83356" y="1928731"/>
            <a:ext cx="3333749"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71525" y="1967266"/>
            <a:ext cx="1971675" cy="2547257"/>
          </a:xfrm>
          <a:noFill/>
        </p:spPr>
        <p:txBody>
          <a:bodyPr vert="horz" lIns="91440" tIns="45720" rIns="91440" bIns="45720" rtlCol="0" anchor="ctr">
            <a:normAutofit/>
          </a:bodyPr>
          <a:lstStyle/>
          <a:p>
            <a:pPr defTabSz="914400">
              <a:lnSpc>
                <a:spcPct val="90000"/>
              </a:lnSpc>
            </a:pPr>
            <a:r>
              <a:rPr lang="en-US" sz="3100" kern="1200">
                <a:solidFill>
                  <a:srgbClr val="FFFFFF"/>
                </a:solidFill>
                <a:latin typeface="+mj-lt"/>
                <a:ea typeface="+mj-ea"/>
                <a:cs typeface="+mj-cs"/>
              </a:rPr>
              <a:t>Age of Coal</a:t>
            </a:r>
          </a:p>
        </p:txBody>
      </p:sp>
      <p:pic>
        <p:nvPicPr>
          <p:cNvPr id="8194" name="Picture 2" descr="http://www.minerals.dmitre.sa.gov.au/__data/assets/image/0012/11334/coal_table_1.gif"/>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82987" y="1024925"/>
            <a:ext cx="5085525" cy="4805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9535742"/>
      </p:ext>
    </p:extLst>
  </p:cSld>
  <p:clrMapOvr>
    <a:masterClrMapping/>
  </p:clrMapOvr>
  <mc:AlternateContent xmlns:mc="http://schemas.openxmlformats.org/markup-compatibility/2006" xmlns:p14="http://schemas.microsoft.com/office/powerpoint/2010/main">
    <mc:Choice Requires="p14">
      <p:transition spd="slow" p14:dur="2000" advTm="71176"/>
    </mc:Choice>
    <mc:Fallback xmlns="">
      <p:transition spd="slow" advTm="71176"/>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86"/>
            <a:ext cx="8229600" cy="1143000"/>
          </a:xfrm>
        </p:spPr>
        <p:txBody>
          <a:bodyPr/>
          <a:lstStyle/>
          <a:p>
            <a:r>
              <a:rPr lang="en-GB" dirty="0"/>
              <a:t>COAL</a:t>
            </a:r>
          </a:p>
        </p:txBody>
      </p:sp>
      <p:pic>
        <p:nvPicPr>
          <p:cNvPr id="6146" name="Picture 2" descr="http://firesideresearch.org/wp-content/uploads/2011/12/coal-deposits1-1024x660.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903013"/>
            <a:ext cx="8211185" cy="52923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547462" y="6488668"/>
            <a:ext cx="7500845" cy="276999"/>
          </a:xfrm>
          <a:prstGeom prst="rect">
            <a:avLst/>
          </a:prstGeom>
        </p:spPr>
        <p:txBody>
          <a:bodyPr wrap="square">
            <a:spAutoFit/>
          </a:bodyPr>
          <a:lstStyle/>
          <a:p>
            <a:r>
              <a:rPr lang="en-GB" sz="1200" dirty="0">
                <a:hlinkClick r:id="rId4"/>
              </a:rPr>
              <a:t>http://firesideresearch.org/renewable-energy-technologies-for-electricity-generation-in-sub-saharan-africa-part-i/</a:t>
            </a:r>
            <a:endParaRPr lang="en-GB" sz="1200" dirty="0"/>
          </a:p>
        </p:txBody>
      </p:sp>
    </p:spTree>
    <p:extLst>
      <p:ext uri="{BB962C8B-B14F-4D97-AF65-F5344CB8AC3E}">
        <p14:creationId xmlns:p14="http://schemas.microsoft.com/office/powerpoint/2010/main" val="639444216"/>
      </p:ext>
    </p:extLst>
  </p:cSld>
  <p:clrMapOvr>
    <a:masterClrMapping/>
  </p:clrMapOvr>
  <mc:AlternateContent xmlns:mc="http://schemas.openxmlformats.org/markup-compatibility/2006" xmlns:p14="http://schemas.microsoft.com/office/powerpoint/2010/main">
    <mc:Choice Requires="p14">
      <p:transition spd="slow" p14:dur="2000" advTm="45798"/>
    </mc:Choice>
    <mc:Fallback xmlns="">
      <p:transition spd="slow" advTm="45798"/>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Impurities       pollution</a:t>
            </a:r>
          </a:p>
        </p:txBody>
      </p:sp>
      <p:sp>
        <p:nvSpPr>
          <p:cNvPr id="3" name="Content Placeholder 2"/>
          <p:cNvSpPr>
            <a:spLocks noGrp="1"/>
          </p:cNvSpPr>
          <p:nvPr>
            <p:ph idx="1"/>
          </p:nvPr>
        </p:nvSpPr>
        <p:spPr>
          <a:xfrm>
            <a:off x="195943" y="1600200"/>
            <a:ext cx="4747846" cy="4525963"/>
          </a:xfrm>
        </p:spPr>
        <p:txBody>
          <a:bodyPr>
            <a:normAutofit fontScale="92500" lnSpcReduction="20000"/>
          </a:bodyPr>
          <a:lstStyle/>
          <a:p>
            <a:r>
              <a:rPr lang="en-GB" dirty="0"/>
              <a:t>Clay minerals and other non-combustibles = ash</a:t>
            </a:r>
          </a:p>
          <a:p>
            <a:r>
              <a:rPr lang="en-GB" dirty="0"/>
              <a:t>Carbonate minerals e.g. Fe carbonate</a:t>
            </a:r>
          </a:p>
          <a:p>
            <a:r>
              <a:rPr lang="en-GB" dirty="0"/>
              <a:t>NH</a:t>
            </a:r>
            <a:r>
              <a:rPr lang="en-GB" baseline="-25000" dirty="0"/>
              <a:t>4</a:t>
            </a:r>
            <a:r>
              <a:rPr lang="en-GB" dirty="0"/>
              <a:t>              N</a:t>
            </a:r>
            <a:r>
              <a:rPr lang="en-GB" baseline="-25000" dirty="0"/>
              <a:t>2</a:t>
            </a:r>
            <a:r>
              <a:rPr lang="en-GB" dirty="0"/>
              <a:t>O, NO, NO</a:t>
            </a:r>
            <a:r>
              <a:rPr lang="en-GB" baseline="-25000" dirty="0"/>
              <a:t>2</a:t>
            </a:r>
          </a:p>
          <a:p>
            <a:r>
              <a:rPr lang="en-GB" dirty="0"/>
              <a:t>H</a:t>
            </a:r>
            <a:r>
              <a:rPr lang="en-GB" baseline="-25000" dirty="0"/>
              <a:t>2</a:t>
            </a:r>
            <a:r>
              <a:rPr lang="en-GB" dirty="0"/>
              <a:t>S and FeS</a:t>
            </a:r>
            <a:r>
              <a:rPr lang="en-GB" baseline="-25000" dirty="0"/>
              <a:t>2</a:t>
            </a:r>
            <a:r>
              <a:rPr lang="en-GB" dirty="0"/>
              <a:t>          SO</a:t>
            </a:r>
            <a:r>
              <a:rPr lang="en-GB" baseline="-25000" dirty="0"/>
              <a:t>2</a:t>
            </a:r>
          </a:p>
          <a:p>
            <a:r>
              <a:rPr lang="en-GB" dirty="0" err="1"/>
              <a:t>NaCl</a:t>
            </a:r>
            <a:r>
              <a:rPr lang="en-GB" dirty="0"/>
              <a:t> –causes corrosion in boiler plants</a:t>
            </a:r>
          </a:p>
          <a:p>
            <a:r>
              <a:rPr lang="en-GB" dirty="0"/>
              <a:t>Trace elements e.g. </a:t>
            </a:r>
            <a:r>
              <a:rPr lang="en-GB" dirty="0" err="1"/>
              <a:t>Ge</a:t>
            </a:r>
            <a:r>
              <a:rPr lang="en-GB" dirty="0"/>
              <a:t>, As, U</a:t>
            </a:r>
          </a:p>
          <a:p>
            <a:endParaRPr lang="en-GB" dirty="0"/>
          </a:p>
          <a:p>
            <a:endParaRPr lang="en-GB" dirty="0"/>
          </a:p>
        </p:txBody>
      </p:sp>
      <p:cxnSp>
        <p:nvCxnSpPr>
          <p:cNvPr id="5" name="Straight Arrow Connector 4"/>
          <p:cNvCxnSpPr/>
          <p:nvPr/>
        </p:nvCxnSpPr>
        <p:spPr>
          <a:xfrm>
            <a:off x="1608828" y="3440359"/>
            <a:ext cx="64604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a:off x="2688534" y="3934148"/>
            <a:ext cx="56653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a:off x="2971800" y="844826"/>
            <a:ext cx="655983"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70B2FDC5-A4EF-AC5C-7262-5BF8E6805969}"/>
              </a:ext>
            </a:extLst>
          </p:cNvPr>
          <p:cNvPicPr>
            <a:picLocks noChangeAspect="1"/>
          </p:cNvPicPr>
          <p:nvPr/>
        </p:nvPicPr>
        <p:blipFill>
          <a:blip r:embed="rId2"/>
          <a:srcRect l="33647" r="7453"/>
          <a:stretch/>
        </p:blipFill>
        <p:spPr>
          <a:xfrm>
            <a:off x="5044271" y="1053994"/>
            <a:ext cx="3999245" cy="4968671"/>
          </a:xfrm>
          <a:prstGeom prst="rect">
            <a:avLst/>
          </a:prstGeom>
        </p:spPr>
      </p:pic>
    </p:spTree>
    <p:extLst>
      <p:ext uri="{BB962C8B-B14F-4D97-AF65-F5344CB8AC3E}">
        <p14:creationId xmlns:p14="http://schemas.microsoft.com/office/powerpoint/2010/main" val="1989238781"/>
      </p:ext>
    </p:extLst>
  </p:cSld>
  <p:clrMapOvr>
    <a:masterClrMapping/>
  </p:clrMapOvr>
  <mc:AlternateContent xmlns:mc="http://schemas.openxmlformats.org/markup-compatibility/2006" xmlns:p14="http://schemas.microsoft.com/office/powerpoint/2010/main">
    <mc:Choice Requires="p14">
      <p:transition spd="slow" p14:dur="2000" advTm="131787"/>
    </mc:Choice>
    <mc:Fallback xmlns="">
      <p:transition spd="slow" advTm="131787"/>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OIL AND GAS</a:t>
            </a:r>
          </a:p>
        </p:txBody>
      </p:sp>
      <p:sp>
        <p:nvSpPr>
          <p:cNvPr id="5" name="Text Placeholder 4"/>
          <p:cNvSpPr>
            <a:spLocks noGrp="1"/>
          </p:cNvSpPr>
          <p:nvPr>
            <p:ph type="body" idx="1"/>
          </p:nvPr>
        </p:nvSpPr>
        <p:spPr/>
        <p:txBody>
          <a:bodyPr/>
          <a:lstStyle/>
          <a:p>
            <a:endParaRPr lang="en-GB"/>
          </a:p>
        </p:txBody>
      </p:sp>
      <p:pic>
        <p:nvPicPr>
          <p:cNvPr id="7" name="Picture 6" descr="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0216" y="393823"/>
            <a:ext cx="3507006" cy="230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AutoShape 2" descr="data:image/jpeg;base64,/9j/4AAQSkZJRgABAQAAAQABAAD/2wCEAAkGBxQTEhQUEhQVFhQUFBQVFBUVFRUVFRUVFBQWFhQUFRQYHCggGBwlHBQUITEhJSkrLi4uFx8zODMsNygtLisBCgoKDg0OGhAQGiwkHxwsLCwsLCwsLCwsLCwsLCwsLCwsLCwsLCwsLCwsLCwsLCwsLCwsLCwsLCwsLCwsLCwsK//AABEIAMkA+wMBIgACEQEDEQH/xAAbAAACAwEBAQAAAAAAAAAAAAACAwABBAUGB//EAD4QAAEDAwEEBwYEBQQCAwAAAAEAAhEDEiExBAVBUQYTImFxgZEyobHB0fAUQlKSFVNiguEjM6LxB/IWctL/xAAZAQADAQEBAAAAAAAAAAAAAAAAAQIDBAX/xAAlEQACAgMAAQMEAwAAAAAAAAAAAQIRAxIhMQQTUSIjQWEyQ5H/2gAMAwEAAhEDEQA/APWOchuQucgJXcco29QuSpRJ0IMpbyjCCo1UgYnilmU8BWQtbIoxVKaxPp5XXc1KNJaRnRLRzOrKNtJdAUlfVBV7otTnimUQatppJZYj3LDUxPagDVrqNWRy0i7JfCwUVyBQBVQrCJlVaiaETWqW6GJLEK19WUL6fcnsDRlKgTjSKoMVWKhcqimEIS1MQCqEZartVAhaiOFcIAXCNowrhGwYQB3HFCrRNC8g6yNanWq6bUxKx0JhQtTrVRYixUZTSQvYtVqpzVakJozQrhFYoqsQJYhITZQPcn0GJe5JL0VUk4CzvpFbRivyZtlVDKUWp9iq1arhHkSaSliaQgtVWBYpE4CcxmFl3jVcxnZDiSY7EFwlpg5740WoEkA8wsbbk0a0lFV5DQ3KQUUJkghsqjRVhya0yhtoOMyGgq6hbrEJYhZGGpkds54JLmQtzjCRUErWMmyWjNCkJhapC0IFwjYMKQjYMJiOmCmMSYTGryTsNLHJgWdpTQ9SMaCpKS6olPqooLNDnJZcshrFE1xWmlE7WOQuQhyIlCQgSqNNMbwR1WR6kH3Y+Ke1MKszFqW4JxS3FaJsmhRppb6aY56E1FqtiOAliG1MvQOKtJk2jk792R9S0Ne5uCS0OAmOOhJ8PBb9z0w2kAHl4l0OLg7EwACOEAJO3NkjAItcSTqMcMac1qo4xAHcO8A8lhr9w1v6B5RNclIhTWrRCYT2oLFZkKBySTBtEEhESUNyu9OgLtSnhMD0D3JpMTYkqoTIVQtkQBCNrcKQmsGExB9YmNrLKjaFwOCOhSNQqousWZECp0RVji9Clgq7k9BWNbTREQlCooaierFshjihc9KLkJKtQJchjq9uRGM5yMLFsO+XVXWmm1ghxBEEutsaD3arbs1MOe0HQkT4cVn2OgLHGMsfaDxgxM+g9yxyQ+4jXHJaM13K7kkFWXLfQy2BqpVqbKGFrHhmxcKQmQqhUI5+3ATxkMcdSBodSMcDngm7JGYBGmocMgWnBP8ASlbyunsj8o4wfaMkeH3hN2WsXOI7MBggAkx2nc/FYt/cNf6zQrlFCkLYyKuVQjtUAQAEKoTLVITACFIR2q2sSuh9FwoGrS1qtrFDyIrRszWFMZTMaLQAmsGFPusftnNnKtQhWAlqidi1JUAVgJqKByKVwiAVwqRNgwpCKFIQFgwpCOFIRYAFtTWi0uqDLWgXTzxPKU2ps9djSX07WOeGklpEyCREnWR5ytm6K7abzUdUp0msY4ufUwwaDJkRrzVdI+kFOrs5bQ2vZq9RtSkbGGJl8C5wcY15arhzZKypV8HZhX2/9MVGjcdfXQCMkngOZQQqrUbgAQC2e0DyAkR5wjIaDDdBhdqbUjl8oqFLUcKQqsgCFITIUtRYzz++t3PqOk1S1kN7AZrnRzgdDPok7l3Y6ltDv9V7mgHskYMnAEyQByleoNNoFxgEwLp0hwjjGvulK/DMvJaZLQ6c4EvlxjxMLkbXunVf2qKhXYo10u7OgbmNC52fcI/cnALoWS+ow0+RbaaLqkyFWVDm2XqhfVohTR2ompOTBRQLaSYKQUCIFZSbNEkRrYUtRBXCiygbQmsYIQJjDhFjo5EKQmWqWLts4QQ1WAjsRBiLGBaqtTbVdqVghYartTIUARYC7VLU2FIS2CmY9vqsDCyp7NWKfskjLhrAMDv4LDVp0KYdYG5LJLGEEQ+8A40wFo3wDNICPbETzD2Y9LlW8gBTfwzm4cCYJPdDp9Fzya2fTrjD6Ubw3VWZiA2ZOfD74qM0B5gFMa1aymqMIwaYoN4K4VVwWllw9tpcSDJEd3HUacwn0qYI1lSs1op4aFWq7FpFMLdunYadUuDzkfl5gtdrz0nyWc89KzSGFeDjbfSBpEHSJ8w7/rxXP2rZaVBz6naBOH2gm43EgBoH9WY5Be9rbqoyQ0APDCWtAkggghwBzMx6+C+bfxQVa721Q8VKXattJgWtc0uAcOLgIAJI81ySzXbOiOP8HZ3bsbadMNDQ2ZcQNLnGXe8x5Lc0LjVt4Pp0HVSOscHNBpt7Jtc5rS5pIIxcT3xhcQdNYjrKRAOlrw6e6CAcY9QtI501wmWJxfT2sqoXF3VvynXJDLpETIiJ04kcDx4LqyVonfgzfBlqstSryqFQ8k6YcHQEJaEuSoAUdALq1dnegEqEFAi4RsdhLhMaMKqFZk4q4Q2lSCtfcMfbLPihuKa2nzUNNG6HpQuSiyjLVA1S5FKJQaUYaVAiEqNmXqgOrRAKE81YUtsdIlei1zW3CYqNcADkW5nHmPPvWI0mOJLmdq60OcMOF5LRnnMceCVt2+G0gCSfJjtIPHjoUWx76pVcMeXHEANeD35cB9yvPlmds6lj8G3Y6jHMbboAAMg6CIweGnktIAXlN0bQzZw2jbWLjc50scWtdEvAcBAEtPmV2xtUsJbAMSA42junuXXCSkuMxlFpnW3hVp9VSfDha/qySCCS6nJ7JGgIZlZRsjiC+nb2YLwS4AtOBoD98l47pF0o2t5psfa2myoe2DSLDa72tJ7LLQRmS0rqbm6QPfQc11Qh1Rw9ix0hoIjAhpJgxqsPc1VM3WJy8HZLz+bHfwP0XQ6Os601QyWGKc1RbOOs7I1+3Lx9XaKkXB7iGkkw5wuAg47MR7Q1Gi5XR3fXaq0+vrbO5zg4W0+sByWuHZtLcvZmeA70ZcimtUKGNx+pn0+i1pqtH4p5J7IMmbj+X2dPoF4bppRqU96SAXA0KTS6TmG23OjOI96bWfSDGN/F7UXNc91zaLJcCGw09oGG2EiCD2iuf+JodYNodtG2VHMpFtvU0P8AVa5/sFpfE9tvL/bGZ1whjUSpScjV1DSAcFxcZmDkhskyIjHuV7J0Zo1HOqVP9R0gRgBloHZtbidSZH5lyNv6V0jb+Go1y+9rSKwptFpBPZDXk3ady9H0VbQaxwpe2619Yy8y8tye0TiZ0wurE1ZjkTN2xbvZSFtNgaMTAAJjnzWm1GHImuHFdO36MlEVYVGsKe54QdYlbHSAtVEJgI4om2qbChIBUtK1XBAXCUWOhLKa0Mp4S3VAra/GqdsKRiNMjihJIQmk48VHbO4ZlWQwi8o88QlNB5phaeaGIu5QuQhveoQjgBiojFQKB2NEJjklwfSNMkDvR75YKRLSQMOyCSRbhxJgDBI4qqbcgxMZjn3Tw8Vk/wDIezh1bZmuLgHVKjZpuDXC9zWzkGcnu8Vz5cmrVGuONiOjezjaqVW4iGljG6iQQ6wY14k8+8a8Ho0G1K9WleCw03ABjg1wcXhoALBcCwfmke0vZ7h3eKTLQ4knaGAkm64NbVDCTA1GYC+dbtN180QWhu0tcGQxzgHUhOoBcC8Rpxk8VxvxZ08uj6BsW1Opscwis8spPvqVmlgbTjAgAtf4SCBE90bvWj1Jc1xYWA3XU2gG3JIgRlo4rgU94UobSd1lWq1r3TVhjmtLDH+20tdygwQACcAQGxsp7MxzXUKlUVLD2qzCCAwMD+zRBBg6SfZPmWxKvydPpZ0Y2YbvL6QJe+q0tqNBLiKjxAAnIyMBei3LsVLZmU2ve5pbTa1xdAaSQLiJ07WVwGnrN2MptpNYz8UGNa1xJBp7QGy6+fawZJ46cE6vuSg8VG2vBY01Lw4FpglpAAtM4PuSlKhpWTpHvJjr2NrMFIgAGQS4mMYOcyMBeQ3RsbW1xMlpDmuIyQXG5pbx/JOnArdt246VEQ8CRJM8BcCw4cQMcFt6IbsFWs11WgAHgsY8ntWt/wBQhrSObcknTCz27ZrX00a990mVAGhj6Z1HVGqXjBy60CAZPH5ri7RuZtWkWsY+nULR2r6xLSC0xEREjiV9P2Tcmz5aaIxE3NnI5E66LPv/AHNTbSc6nTY2NYaBIMDMLVdMX8HzLaejv6gbickmS42gZ/aNIzK6vRfdjqIeaggudqWltwABDmm49nJxjit1VuPZjXnPhlJ3MaTn1HsfcRFN7WuBALSSHEDjlw8l041TMp9R1gRwVjxTWU2lAaQ4FdNmVEpuATmvHFZzhLIKQWazbxSqoCRPNXcEBZZoHmrZSKnWHgqLnJ9EW7Z+9GyhhLbcU1jzCfQEOqgaFKdtCyOqhAKoQok2bOuVmssnWNTGVAqoB95TaVI8VnFQJg2hIOGnuXJbUc2vFSrLG05F1rclwHAAH/K1mtKw70tIufT60NBxaHEOMQQ0n7lZzuKsuNN0XvnerW0nWVGB2IyM50C5PTXbjWfSa19OoWFz39qGB03SC1wxqYJzhcjee4qtepULAGU+yGsLWNA0Jgg5EgrxW013UXuZLm2kt7D7RI4wJ71wz2k7fDrjqo0j7TujbmGhXZUqMZUbYaZbcO20EgkkAum6O6e9cDdNSrQLD1dzXy6A2Hsc/NQuFuAezEaw1fLnbxJJJvLoiTUJIxroi2TfNZhltWoI0b1lQNzrgEAaBS4OilKN9Ptu09JDTaLmyXE2tJDSQHBpDg4Try5hK2TpeX1erFBjDD7S94h1gDjFrCef7SvEbp6RVBSe8bQ1pc0tc13V1T2AHMNtWTFxMDGp5SsW++mG1NeGCsyoxhDmjq6YaHAEQbWNDhxjTTiEl8MHHm1cPoz+kN1Dt0rBeySKhIZf1ZyDAOTpxxzhb907qZayrV2lxLhc6m00WtlwfINx0Gvovju2dNdsqlsvay0FsMpsaDdAMtiDgQJkiTnKz0+k+10i62s9jnElxFomTyAwq1ZNqj7R0i3PsjjQnaMOqg1P9Sm4gWuMmAR7QGTjXuT/AMXQpV6ApVgQ1xDiDSgAtltpaNDMeRXw4782qqHl1eq+4AGXOI1jLRjS4acVm2ze9Z4io9z8BouM2gaBpOnlyCl40xqTR9q3/wBIdomrbXYGNANO1wc4ONoaHjjknELmDapoVKfXsFPaabw5r3AG9zHAOa1unbcybowGr48/anaSYGmZ4ffqmurPc2SABzk8dPenp27BPlUe8ZuPb3UXtBqPpuYG0yamC5tQXQSdLWu4kfBdfcFQbE0ja3sp3FrW09Ti5xNzXEAf6nFfLaj38TpjU8cr2PQncb6xZU2iTRpm5tN0kVHEYMTgZHjAEQtsalfGRNxXk+nEYwdUABV1dqBGAk/iV2q6OXg4gnijFMxz7ln61S/xlIOBOfzGVReOaWXICO5VqKzSTyKk8ylNcRwKp1ROgs0tqccp9KsIGCsVOoSnNe+EqCzjAfcogPBZ3bWz9bf3D6qfjaf62fub9VpRl002qFvcFn/iFL+Yz9zfqp/EaP8AMZ+4IoLZpDUQasn8To/zWfuCv+K0f5rPVFAbLe9DYeayfxej/Mb71P4zQ/mN9/0SoDU9hII4ERx4r5p013A2jUD2k21LjBkxaG5LjqSSfcvoB33Q/mD0d9F5Lp5t1OqKVjgSL5MHAgc/D3LD1K+izf0/ZpHg3UoBWciF19o2TsXAzEAx5rl03Q6Zg5Gk6gg/ErijKztyQcfJYEjv+I+qdsuzXic2tBLiATEyGnuEwMnwlBRskXOcGzktbJHhJ8F3zRLC3qW3Ai8Xhk3OEEOzyg28D3hNSp0Tpcb+Djv2S5jnC4loDnm02saSRLj5COGvJaBumo8E9W/sgF5tIDQRgPnQ8fArobvf1QbLXmXMgU3NF8Q9rHtJ7QaRPl3mexs+/K4YbJh9zpeaJuNQy5zxZkmT8FdX+GTX7R5lmwgNdfgi50HB7AgaEwZLsHv5Y0Dcwe0BjSHCm5xuccBjHvcSOE4gcg0/mwzb2FwMjIEe0YmMDA5AYRDbiHVOqJY2oSQC625hY+QG2kfmqDX82imD7VGk4LX+SOXSoM6trpNxjs+JqCf+LPUrXtVJ/aa5oBax5Ley0AAyLQ0Q4YOQStFLZg14Aa0xaIknQgakTxGOOF6Lo+x1Uim+LAytbhxIdUZJgzp2jhT/ACdV4KcdYp35Ef8Aj7djK1Wo+qGnqwy1sYJMi4ic458+5fSQ3l9+C8P0bpO2cucG6stLcgEh0z4wV06nSR4/I0eq7fT1qcPqE9j0oQlkryzulL/0N9/1Q/8Ayip+lvofqt6MenqrEQXkD0mq/wBP7UDuklbmP2j6IoOnslAV4s9Ia36v+I+iW7pBW/WfQfRFB09wXKpXhDvyr+t3kfogO+av63/uP1RSA98ms0Xzh29Kh/O79xUbvGpHtn1KOB05kBXAQtA5n1Kk+I75WezLoMK2+XqlucMffzRSeBHuKNmFDIUKRJ4n0n6Kg4959yNhUaQVRSHuPH3whbOsR6/ROwo0FwSK72GbyJDXW8pIwfVFkf8AfxWDbXw4TxBzwxHcsPUXKDRv6aShkUmaK1ZnVkNOtuIP9X+F5et7RjmV1q1cBuhOnGNNOGdVy4JIyB4yuPHj1OvPm9yv0P2VoAvdkN0H6nz2W+HE9wXZ3ZWcaQccm5xJ5m6T8SuFXIIgaDTvM5K0bJtADbCCW5wCOOuq3h5OeT+DuUGdq46BrQ3uljS7zJ+ClFwDyzg7tt7p9puTzz/d3Lljay3v7pOMCEdPa5Ilp45Nxjngd0rWE0ooznG5M6FZwDXkkfmMeAgH3JIAcBdkdkyIwSATnvk+qy16xdcA0w4nJbiEultDg2OECR3aKW7opcv4OhSYesyZMiI46QRy4L3vRWiGhpH6R/yaP8r53sG0tuFxAHfJjxgfcr125d/URY0ugCyTn8s8hJ9FEPLLnK0kehf2DbiZx4ErBvHZpzjOqVvDe+zEyyrP9r/mELt+03CBM+C3x8Msjs5e3MAOI+/NZw4fcrdU2kOP5vT5K7cSI7iT8iFsjExmeGngUt7zwP36roljuJHkYS+qni2O9wPxHzTAwX9/oPqhvPMffmukWj9TJ5Et+KjGt/p85+YRQrObf3j77yVH1QOBPv8AmttZgg6EYEC3HL8qlJw07I78HhhFAc9tT/o590q/7R6LodRxLp44jTvDRlKFRg1cPMwfS1FAcwkfq93vlUXt/UfQpB2s8o9wRt2k8visbNKCL28C7x7X0RMcIyTyjM+KHrP6SZ5mB6zKPrGjUNk98nywmIoEHQfFE5pHA+hn4FEHiZ90keqJtb79oeCYgKbZ+8qFvIkf/UD7Kt5M8dMaNQAOJkyPP7KVhRZJH+f/AFHxXP2vPBbCyNTA8gfOUh4bzHrKiZceHNfTPJJ/CnkV1XZVBhWVGltnNbsx5FNGznkui0fcIy1IDljZj3I27OfsrogA/f0KstE6+WJToDB+H70J2bvW6rAIktE89fRMa3w7vucpBZgbsfj9+SNtED/K2yBqB5g/BA4jWI8SUUOzOAJyFqoVgPy/8oSXEfco2mOPyC0iRI6lJ86Y4YLSfgo5pmL3eBdy/tWFrm5gjzjPmCr60AiM+F3xyt0zJo6baWDif7m/REGnl4wGnHLQrnP2mcBr/CX/ABxKEhxGAR4moY9+E7QjeWOOGwPFhGPHCYWu0aWaZIn5FcPqXcXNJ4CSfmn06ENyKZHEnUe+Pciwo6P4ocXMJ0mR7rtEQ2kn89ok6OZHkVgLRHZewdwaz5pT6RJ9vxw0e4ZTsKOuKQd7TjnTtjPoiGxDmfM1P/0uZ1Do/wBwjx7Px0Supbxqme7T4osCFzY5/D1Q3Z1Hr8lHfNHS1KyLBpEcRjmcfJMAHCPf70L+Hj8006hMQtz40ZPfogNQ4BAHofil1tT5ovynwQBbW55jj9wE014Gg9APosbEp2hQM0PeSdPDPyCUQ+Ylo7onzOFqp+yslTRSx+AhTM+3nwCJlPm4k+IHuTNn9nyVtUMoBtMTMknWZJUcW+Pp8VZ0P3zStj1H3wRQB9cAREeAaSUbXdx9E6kmVNUUBnAH+NfcqJIGGnyCb+VR+gUsaFP2gjUOA74HzSqm0g/9j5FNf80waH+74hNIVmZtTuKjTJ04+fwWmor2fVUhFUtlJzr6fAlMNFoGLQcYFpPuBTToPErMzTzWkSAq1Vo/X35PwQYMAXOJOQbvjlPboPFIrav8lQgX7MQcNbHfMjzhMY1hEkeGWg+kBYKuifuv5oAfs9KlrAJ5XSfQH5ptSuBOA0RGon4FG7Q/fEKO4ffAoAyPa78uh4w34nKSKr+F3r/lP2/6fFYnaoGf/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AutoShape 4" descr="data:image/jpeg;base64,/9j/4AAQSkZJRgABAQAAAQABAAD/2wCEAAkGBxQTEhQUEhQVFhQUFBQVFBUVFRUVFRUVFBQWFhQUFRQYHCggGBwlHBQUITEhJSkrLi4uFx8zODMsNygtLisBCgoKDg0OGhAQGiwkHxwsLCwsLCwsLCwsLCwsLCwsLCwsLCwsLCwsLCwsLCwsLCwsLCwsLCwsLCwsLCwsLCwsK//AABEIAMkA+wMBIgACEQEDEQH/xAAbAAACAwEBAQAAAAAAAAAAAAACAwABBAUGB//EAD4QAAEDAwEEBwYEBQQCAwAAAAEAAhEDEiExBAVBUQYTImFxgZEyobHB0fAUQlKSFVNiguEjM6LxB/IWctL/xAAZAQADAQEBAAAAAAAAAAAAAAAAAQIDBAX/xAAlEQACAgMAAQMEAwAAAAAAAAAAAQIRAxIhMQQTUSIjQWEyQ5H/2gAMAwEAAhEDEQA/APWOchuQucgJXcco29QuSpRJ0IMpbyjCCo1UgYnilmU8BWQtbIoxVKaxPp5XXc1KNJaRnRLRzOrKNtJdAUlfVBV7otTnimUQatppJZYj3LDUxPagDVrqNWRy0i7JfCwUVyBQBVQrCJlVaiaETWqW6GJLEK19WUL6fcnsDRlKgTjSKoMVWKhcqimEIS1MQCqEZartVAhaiOFcIAXCNowrhGwYQB3HFCrRNC8g6yNanWq6bUxKx0JhQtTrVRYixUZTSQvYtVqpzVakJozQrhFYoqsQJYhITZQPcn0GJe5JL0VUk4CzvpFbRivyZtlVDKUWp9iq1arhHkSaSliaQgtVWBYpE4CcxmFl3jVcxnZDiSY7EFwlpg5740WoEkA8wsbbk0a0lFV5DQ3KQUUJkghsqjRVhya0yhtoOMyGgq6hbrEJYhZGGpkds54JLmQtzjCRUErWMmyWjNCkJhapC0IFwjYMKQjYMJiOmCmMSYTGryTsNLHJgWdpTQ9SMaCpKS6olPqooLNDnJZcshrFE1xWmlE7WOQuQhyIlCQgSqNNMbwR1WR6kH3Y+Ke1MKszFqW4JxS3FaJsmhRppb6aY56E1FqtiOAliG1MvQOKtJk2jk792R9S0Ne5uCS0OAmOOhJ8PBb9z0w2kAHl4l0OLg7EwACOEAJO3NkjAItcSTqMcMac1qo4xAHcO8A8lhr9w1v6B5RNclIhTWrRCYT2oLFZkKBySTBtEEhESUNyu9OgLtSnhMD0D3JpMTYkqoTIVQtkQBCNrcKQmsGExB9YmNrLKjaFwOCOhSNQqousWZECp0RVji9Clgq7k9BWNbTREQlCooaierFshjihc9KLkJKtQJchjq9uRGM5yMLFsO+XVXWmm1ghxBEEutsaD3arbs1MOe0HQkT4cVn2OgLHGMsfaDxgxM+g9yxyQ+4jXHJaM13K7kkFWXLfQy2BqpVqbKGFrHhmxcKQmQqhUI5+3ATxkMcdSBodSMcDngm7JGYBGmocMgWnBP8ASlbyunsj8o4wfaMkeH3hN2WsXOI7MBggAkx2nc/FYt/cNf6zQrlFCkLYyKuVQjtUAQAEKoTLVITACFIR2q2sSuh9FwoGrS1qtrFDyIrRszWFMZTMaLQAmsGFPusftnNnKtQhWAlqidi1JUAVgJqKByKVwiAVwqRNgwpCKFIQFgwpCOFIRYAFtTWi0uqDLWgXTzxPKU2ps9djSX07WOeGklpEyCREnWR5ytm6K7abzUdUp0msY4ufUwwaDJkRrzVdI+kFOrs5bQ2vZq9RtSkbGGJl8C5wcY15arhzZKypV8HZhX2/9MVGjcdfXQCMkngOZQQqrUbgAQC2e0DyAkR5wjIaDDdBhdqbUjl8oqFLUcKQqsgCFITIUtRYzz++t3PqOk1S1kN7AZrnRzgdDPok7l3Y6ltDv9V7mgHskYMnAEyQByleoNNoFxgEwLp0hwjjGvulK/DMvJaZLQ6c4EvlxjxMLkbXunVf2qKhXYo10u7OgbmNC52fcI/cnALoWS+ow0+RbaaLqkyFWVDm2XqhfVohTR2ompOTBRQLaSYKQUCIFZSbNEkRrYUtRBXCiygbQmsYIQJjDhFjo5EKQmWqWLts4QQ1WAjsRBiLGBaqtTbVdqVghYartTIUARYC7VLU2FIS2CmY9vqsDCyp7NWKfskjLhrAMDv4LDVp0KYdYG5LJLGEEQ+8A40wFo3wDNICPbETzD2Y9LlW8gBTfwzm4cCYJPdDp9Fzya2fTrjD6Ubw3VWZiA2ZOfD74qM0B5gFMa1aymqMIwaYoN4K4VVwWllw9tpcSDJEd3HUacwn0qYI1lSs1op4aFWq7FpFMLdunYadUuDzkfl5gtdrz0nyWc89KzSGFeDjbfSBpEHSJ8w7/rxXP2rZaVBz6naBOH2gm43EgBoH9WY5Be9rbqoyQ0APDCWtAkggghwBzMx6+C+bfxQVa721Q8VKXattJgWtc0uAcOLgIAJI81ySzXbOiOP8HZ3bsbadMNDQ2ZcQNLnGXe8x5Lc0LjVt4Pp0HVSOscHNBpt7Jtc5rS5pIIxcT3xhcQdNYjrKRAOlrw6e6CAcY9QtI501wmWJxfT2sqoXF3VvynXJDLpETIiJ04kcDx4LqyVonfgzfBlqstSryqFQ8k6YcHQEJaEuSoAUdALq1dnegEqEFAi4RsdhLhMaMKqFZk4q4Q2lSCtfcMfbLPihuKa2nzUNNG6HpQuSiyjLVA1S5FKJQaUYaVAiEqNmXqgOrRAKE81YUtsdIlei1zW3CYqNcADkW5nHmPPvWI0mOJLmdq60OcMOF5LRnnMceCVt2+G0gCSfJjtIPHjoUWx76pVcMeXHEANeD35cB9yvPlmds6lj8G3Y6jHMbboAAMg6CIweGnktIAXlN0bQzZw2jbWLjc50scWtdEvAcBAEtPmV2xtUsJbAMSA42junuXXCSkuMxlFpnW3hVp9VSfDha/qySCCS6nJ7JGgIZlZRsjiC+nb2YLwS4AtOBoD98l47pF0o2t5psfa2myoe2DSLDa72tJ7LLQRmS0rqbm6QPfQc11Qh1Rw9ix0hoIjAhpJgxqsPc1VM3WJy8HZLz+bHfwP0XQ6Os601QyWGKc1RbOOs7I1+3Lx9XaKkXB7iGkkw5wuAg47MR7Q1Gi5XR3fXaq0+vrbO5zg4W0+sByWuHZtLcvZmeA70ZcimtUKGNx+pn0+i1pqtH4p5J7IMmbj+X2dPoF4bppRqU96SAXA0KTS6TmG23OjOI96bWfSDGN/F7UXNc91zaLJcCGw09oGG2EiCD2iuf+JodYNodtG2VHMpFtvU0P8AVa5/sFpfE9tvL/bGZ1whjUSpScjV1DSAcFxcZmDkhskyIjHuV7J0Zo1HOqVP9R0gRgBloHZtbidSZH5lyNv6V0jb+Go1y+9rSKwptFpBPZDXk3ady9H0VbQaxwpe2619Yy8y8tye0TiZ0wurE1ZjkTN2xbvZSFtNgaMTAAJjnzWm1GHImuHFdO36MlEVYVGsKe54QdYlbHSAtVEJgI4om2qbChIBUtK1XBAXCUWOhLKa0Mp4S3VAra/GqdsKRiNMjihJIQmk48VHbO4ZlWQwi8o88QlNB5phaeaGIu5QuQhveoQjgBiojFQKB2NEJjklwfSNMkDvR75YKRLSQMOyCSRbhxJgDBI4qqbcgxMZjn3Tw8Vk/wDIezh1bZmuLgHVKjZpuDXC9zWzkGcnu8Vz5cmrVGuONiOjezjaqVW4iGljG6iQQ6wY14k8+8a8Ho0G1K9WleCw03ABjg1wcXhoALBcCwfmke0vZ7h3eKTLQ4knaGAkm64NbVDCTA1GYC+dbtN180QWhu0tcGQxzgHUhOoBcC8Rpxk8VxvxZ08uj6BsW1Opscwis8spPvqVmlgbTjAgAtf4SCBE90bvWj1Jc1xYWA3XU2gG3JIgRlo4rgU94UobSd1lWq1r3TVhjmtLDH+20tdygwQACcAQGxsp7MxzXUKlUVLD2qzCCAwMD+zRBBg6SfZPmWxKvydPpZ0Y2YbvL6QJe+q0tqNBLiKjxAAnIyMBei3LsVLZmU2ve5pbTa1xdAaSQLiJ07WVwGnrN2MptpNYz8UGNa1xJBp7QGy6+fawZJ46cE6vuSg8VG2vBY01Lw4FpglpAAtM4PuSlKhpWTpHvJjr2NrMFIgAGQS4mMYOcyMBeQ3RsbW1xMlpDmuIyQXG5pbx/JOnArdt246VEQ8CRJM8BcCw4cQMcFt6IbsFWs11WgAHgsY8ntWt/wBQhrSObcknTCz27ZrX00a990mVAGhj6Z1HVGqXjBy60CAZPH5ri7RuZtWkWsY+nULR2r6xLSC0xEREjiV9P2Tcmz5aaIxE3NnI5E66LPv/AHNTbSc6nTY2NYaBIMDMLVdMX8HzLaejv6gbickmS42gZ/aNIzK6vRfdjqIeaggudqWltwABDmm49nJxjit1VuPZjXnPhlJ3MaTn1HsfcRFN7WuBALSSHEDjlw8l041TMp9R1gRwVjxTWU2lAaQ4FdNmVEpuATmvHFZzhLIKQWazbxSqoCRPNXcEBZZoHmrZSKnWHgqLnJ9EW7Z+9GyhhLbcU1jzCfQEOqgaFKdtCyOqhAKoQok2bOuVmssnWNTGVAqoB95TaVI8VnFQJg2hIOGnuXJbUc2vFSrLG05F1rclwHAAH/K1mtKw70tIufT60NBxaHEOMQQ0n7lZzuKsuNN0XvnerW0nWVGB2IyM50C5PTXbjWfSa19OoWFz39qGB03SC1wxqYJzhcjee4qtepULAGU+yGsLWNA0Jgg5EgrxW013UXuZLm2kt7D7RI4wJ71wz2k7fDrjqo0j7TujbmGhXZUqMZUbYaZbcO20EgkkAum6O6e9cDdNSrQLD1dzXy6A2Hsc/NQuFuAezEaw1fLnbxJJJvLoiTUJIxroi2TfNZhltWoI0b1lQNzrgEAaBS4OilKN9Ptu09JDTaLmyXE2tJDSQHBpDg4Try5hK2TpeX1erFBjDD7S94h1gDjFrCef7SvEbp6RVBSe8bQ1pc0tc13V1T2AHMNtWTFxMDGp5SsW++mG1NeGCsyoxhDmjq6YaHAEQbWNDhxjTTiEl8MHHm1cPoz+kN1Dt0rBeySKhIZf1ZyDAOTpxxzhb907qZayrV2lxLhc6m00WtlwfINx0Gvovju2dNdsqlsvay0FsMpsaDdAMtiDgQJkiTnKz0+k+10i62s9jnElxFomTyAwq1ZNqj7R0i3PsjjQnaMOqg1P9Sm4gWuMmAR7QGTjXuT/AMXQpV6ApVgQ1xDiDSgAtltpaNDMeRXw4782qqHl1eq+4AGXOI1jLRjS4acVm2ze9Z4io9z8BouM2gaBpOnlyCl40xqTR9q3/wBIdomrbXYGNANO1wc4ONoaHjjknELmDapoVKfXsFPaabw5r3AG9zHAOa1unbcybowGr48/anaSYGmZ4ffqmurPc2SABzk8dPenp27BPlUe8ZuPb3UXtBqPpuYG0yamC5tQXQSdLWu4kfBdfcFQbE0ja3sp3FrW09Ti5xNzXEAf6nFfLaj38TpjU8cr2PQncb6xZU2iTRpm5tN0kVHEYMTgZHjAEQtsalfGRNxXk+nEYwdUABV1dqBGAk/iV2q6OXg4gnijFMxz7ln61S/xlIOBOfzGVReOaWXICO5VqKzSTyKk8ylNcRwKp1ROgs0tqccp9KsIGCsVOoSnNe+EqCzjAfcogPBZ3bWz9bf3D6qfjaf62fub9VpRl002qFvcFn/iFL+Yz9zfqp/EaP8AMZ+4IoLZpDUQasn8To/zWfuCv+K0f5rPVFAbLe9DYeayfxej/Mb71P4zQ/mN9/0SoDU9hII4ERx4r5p013A2jUD2k21LjBkxaG5LjqSSfcvoB33Q/mD0d9F5Lp5t1OqKVjgSL5MHAgc/D3LD1K+izf0/ZpHg3UoBWciF19o2TsXAzEAx5rl03Q6Zg5Gk6gg/ErijKztyQcfJYEjv+I+qdsuzXic2tBLiATEyGnuEwMnwlBRskXOcGzktbJHhJ8F3zRLC3qW3Ai8Xhk3OEEOzyg28D3hNSp0Tpcb+Djv2S5jnC4loDnm02saSRLj5COGvJaBumo8E9W/sgF5tIDQRgPnQ8fArobvf1QbLXmXMgU3NF8Q9rHtJ7QaRPl3mexs+/K4YbJh9zpeaJuNQy5zxZkmT8FdX+GTX7R5lmwgNdfgi50HB7AgaEwZLsHv5Y0Dcwe0BjSHCm5xuccBjHvcSOE4gcg0/mwzb2FwMjIEe0YmMDA5AYRDbiHVOqJY2oSQC625hY+QG2kfmqDX82imD7VGk4LX+SOXSoM6trpNxjs+JqCf+LPUrXtVJ/aa5oBax5Ley0AAyLQ0Q4YOQStFLZg14Aa0xaIknQgakTxGOOF6Lo+x1Uim+LAytbhxIdUZJgzp2jhT/ACdV4KcdYp35Ef8Aj7djK1Wo+qGnqwy1sYJMi4ic458+5fSQ3l9+C8P0bpO2cucG6stLcgEh0z4wV06nSR4/I0eq7fT1qcPqE9j0oQlkryzulL/0N9/1Q/8Ayip+lvofqt6MenqrEQXkD0mq/wBP7UDuklbmP2j6IoOnslAV4s9Ia36v+I+iW7pBW/WfQfRFB09wXKpXhDvyr+t3kfogO+av63/uP1RSA98ms0Xzh29Kh/O79xUbvGpHtn1KOB05kBXAQtA5n1Kk+I75WezLoMK2+XqlucMffzRSeBHuKNmFDIUKRJ4n0n6Kg4959yNhUaQVRSHuPH3whbOsR6/ROwo0FwSK72GbyJDXW8pIwfVFkf8AfxWDbXw4TxBzwxHcsPUXKDRv6aShkUmaK1ZnVkNOtuIP9X+F5et7RjmV1q1cBuhOnGNNOGdVy4JIyB4yuPHj1OvPm9yv0P2VoAvdkN0H6nz2W+HE9wXZ3ZWcaQccm5xJ5m6T8SuFXIIgaDTvM5K0bJtADbCCW5wCOOuq3h5OeT+DuUGdq46BrQ3uljS7zJ+ClFwDyzg7tt7p9puTzz/d3Lljay3v7pOMCEdPa5Ilp45Nxjngd0rWE0ooznG5M6FZwDXkkfmMeAgH3JIAcBdkdkyIwSATnvk+qy16xdcA0w4nJbiEultDg2OECR3aKW7opcv4OhSYesyZMiI46QRy4L3vRWiGhpH6R/yaP8r53sG0tuFxAHfJjxgfcr125d/URY0ugCyTn8s8hJ9FEPLLnK0kehf2DbiZx4ErBvHZpzjOqVvDe+zEyyrP9r/mELt+03CBM+C3x8Msjs5e3MAOI+/NZw4fcrdU2kOP5vT5K7cSI7iT8iFsjExmeGngUt7zwP36roljuJHkYS+qni2O9wPxHzTAwX9/oPqhvPMffmukWj9TJ5Et+KjGt/p85+YRQrObf3j77yVH1QOBPv8AmttZgg6EYEC3HL8qlJw07I78HhhFAc9tT/o590q/7R6LodRxLp44jTvDRlKFRg1cPMwfS1FAcwkfq93vlUXt/UfQpB2s8o9wRt2k8visbNKCL28C7x7X0RMcIyTyjM+KHrP6SZ5mB6zKPrGjUNk98nywmIoEHQfFE5pHA+hn4FEHiZ90keqJtb79oeCYgKbZ+8qFvIkf/UD7Kt5M8dMaNQAOJkyPP7KVhRZJH+f/AFHxXP2vPBbCyNTA8gfOUh4bzHrKiZceHNfTPJJ/CnkV1XZVBhWVGltnNbsx5FNGznkui0fcIy1IDljZj3I27OfsrogA/f0KstE6+WJToDB+H70J2bvW6rAIktE89fRMa3w7vucpBZgbsfj9+SNtED/K2yBqB5g/BA4jWI8SUUOzOAJyFqoVgPy/8oSXEfco2mOPyC0iRI6lJ86Y4YLSfgo5pmL3eBdy/tWFrm5gjzjPmCr60AiM+F3xyt0zJo6baWDif7m/REGnl4wGnHLQrnP2mcBr/CX/ABxKEhxGAR4moY9+E7QjeWOOGwPFhGPHCYWu0aWaZIn5FcPqXcXNJ4CSfmn06ENyKZHEnUe+Pciwo6P4ocXMJ0mR7rtEQ2kn89ok6OZHkVgLRHZewdwaz5pT6RJ9vxw0e4ZTsKOuKQd7TjnTtjPoiGxDmfM1P/0uZ1Do/wBwjx7Px0Supbxqme7T4osCFzY5/D1Q3Z1Hr8lHfNHS1KyLBpEcRjmcfJMAHCPf70L+Hj8006hMQtz40ZPfogNQ4BAHofil1tT5ovynwQBbW55jj9wE014Gg9APosbEp2hQM0PeSdPDPyCUQ+Ylo7onzOFqp+yslTRSx+AhTM+3nwCJlPm4k+IHuTNn9nyVtUMoBtMTMknWZJUcW+Pp8VZ0P3zStj1H3wRQB9cAREeAaSUbXdx9E6kmVNUUBnAH+NfcqJIGGnyCb+VR+gUsaFP2gjUOA74HzSqm0g/9j5FNf80waH+74hNIVmZtTuKjTJ04+fwWmor2fVUhFUtlJzr6fAlMNFoGLQcYFpPuBTToPErMzTzWkSAq1Vo/X35PwQYMAXOJOQbvjlPboPFIrav8lQgX7MQcNbHfMjzhMY1hEkeGWg+kBYKuifuv5oAfs9KlrAJ5XSfQH5ptSuBOA0RGon4FG7Q/fEKO4ffAoAyPa78uh4w34nKSKr+F3r/lP2/6fFYnaoGf/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150" name="Picture 6" descr="north sea ri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312738"/>
            <a:ext cx="4476750" cy="30861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6797" y="3266878"/>
            <a:ext cx="4939801" cy="3175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2226457"/>
      </p:ext>
    </p:extLst>
  </p:cSld>
  <p:clrMapOvr>
    <a:masterClrMapping/>
  </p:clrMapOvr>
  <mc:AlternateContent xmlns:mc="http://schemas.openxmlformats.org/markup-compatibility/2006" xmlns:p14="http://schemas.microsoft.com/office/powerpoint/2010/main">
    <mc:Choice Requires="p14">
      <p:transition spd="slow" p14:dur="2000" advTm="29654"/>
    </mc:Choice>
    <mc:Fallback xmlns="">
      <p:transition spd="slow" advTm="29654"/>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Oil and gas formation</a:t>
            </a:r>
          </a:p>
        </p:txBody>
      </p:sp>
      <p:sp>
        <p:nvSpPr>
          <p:cNvPr id="4" name="AutoShape 2" descr="data:image/jpeg;base64,/9j/4AAQSkZJRgABAQAAAQABAAD/2wCEAAkGBxQTEhUUEhQWFhUXGR0YGRgYFh0eFxgcGR8gGBkYFxgaHyggHRomHBgYIjEhJSkrLi4uHh8zODMtNygtLisBCgoKDg0OGxAQGy8kICQsMi00NCw0LCwxLCw0NDY0NCw0MCw0LCw0LywsLCw0LCwsLCw0LCwsNC8sLCwsLCwsLP/AABEIAMABBgMBEQACEQEDEQH/xAAcAAABBQEBAQAAAAAAAAAAAAAAAQIDBAUGBwj/xABLEAACAQIEAgYGBQkGAwkBAAABAgMAEQQSITEFBgcTIkFRYTJUcYGS0hQWI5HwF0JSU2Kho7HBJDNDk9HhFXKyJTQ1Y3OCorPxRP/EABwBAAIDAQEBAQAAAAAAAAAAAAABAgMEBQYHCP/EAEQRAAEDAgMEBggDCAICAgIDAAEAAhEDIQQSMQVBUWEGEyJxkfAUFTJSgaGx0RZCwSNUYnKSouHxM1ND0oKyByQ0RGP/2gAMAwEAAhEDEQA/APHq+iLIihCKEIoQihCKEIoQihCKEIoQu34PhcPhOHjGzwriJZnKQxvfIoW+Zmsdf57W768jjq+Mx+1DgMPUNJlNuZ7hGYk6ATp5ncr2hrWZiJlMnw2E4i+GTCouGxMpZZUGbqRYdll8L5dh4nep062P2QzEVMY41aLAC11s/MECNJ15bkENqQG2KysNynM8eIfQHDyLCU1zvIzZAqC2pvXSrbcw9OtRp3PWtLwbQGgTJ+GigKRIJ4LTxXR1iERyJcO00SdZJAsl5UW2bUW3sQf5X0vzaXS7CVHs7DxTe7K15b2SZjXv/wAwpnDuG8TwV3i3KAlj4amEjVZZ4C8jFrKbBSXYnYC52rPhdvnD1MdUxbiWUqga0ASbzAEayeKbqUhobvCzcbyI6Ksi4nDSRdYsbyJLdYixteTTRdv9K24fpNSq1DRdRqNflLw0tu8Dc3momiQJkQuyHJODTisMARWifDlzH1jEhh+cbm4Bvpr3GvKnpNtB+xKuJJLXtqhoMAdknThI3q/qWCoG7oXEcU5ImihEqSwzjrBEywvnZZG2Q2Fr3sPaRXr8J0kw9fEGg5j6Zyl4LxlBaN9/MLO6iQJ17lYxPR7OqPabDvNGmeTDpJeZQNSMoGpAO33X0vnpdLMK97Jp1G03uyteWwwk6X4HcfGFI0HcRPBS4Po5mkWA/SMOpnjEkaO5DtcZsoW1zYbkVCv0uw1F1UGlUIpOLXENkCLTMx3IGHJi4uq+N5BxCRdYjwzEOsUiRyKWidyECv3XzsFNj3+FzV1DpThKlcUnteyWlzS5pAc0CSRv9kE3HzgJGg4CRdTYvo5nRZMs2HkmiXO8Ecl5QNz2bb2INu/uvpemj0vwlR1MmnUbTqHK17mw0nTWdJ3+O9M4dwm4kLjK9YqEUIRQhFCEUIRQhFCEUIRQhFCEUIRQhFCEUIRQhFCEUIRQhFCEUIRQhdrwPiGFxOCXA4yU4cxOXhmC5l7V8yuv+47vDXye0MJjsHjztHBMFUPaGvZOU20IP18xexzXMyOMKvxzEYWEYeHh95ZYnzticlmdr3UKN8o8PZvrV+zqOOxBrV9o9hjxlFOZDRFyTpJSeWiAzdvXX8/cfXCvhGhQKZZFx0yajMeyFDfc3duAd715Xo1supj6eJbXdIY04dh1gXkjxG82tMQr6zw0iO9Y/HsRw52nxwxEkkky9jDAMjRuRYmRwdVBBNtBsNa62zKW2aLaWzjRa1lM3qEhwc0bmt3OM6mYuVW80zL513LRw3OGGiHDwXzKMI+Hmygloi4j1t3m6d3nWKv0fxtc4wtbDuvbVZOj8s2+e/epCq0Ze6FkcSxODwWBxGGw2JOKfEslyEyqiob63Ppd39BXRwtDaW0dp0cZi6HUtoh0DMHFxcI3bvN1FxYxha0zK6VOZMF/xPD4r6SuQ4UxsCpHVsNQGPicx07rVwn7G2l6mr4LqTm67MLjtAm5HCI3m8qzrGdYHTuXI8t8ejw/D3BYGVcXFKsdyCyplvrbTY616famy62L2q1wEMNF7C61idLee9UseGs5yun4hzPhvtMVHj2UyKSkEeGiEysRfJJMUa4uLX9mprzuE2NjgKeDq4QEMIl7qjy0gHUMDhfePoFa6o27g74QqcPMOGGJ4O3XLlgw4WU69hury2OnjpWt+yMacHtOn1ZmrUJZp2hOuv1SFRuZhnQKpheP4dcPxEGUhpMYksYTR2RZlctGToDlBIvWrEbKxdTF4JwZZlFzXTBAJYQARvE2MKIe0Ndff+q2+I8yYExSSSYhMVeMiONsOExYYiwviF2trqF2tvbXjYXY+1W4hlKlRNGHAucKhdSI3xTPHgTrw3WOqMgkmfhfxXj9fUViRQhFCEUIRQhFCEUIRQhFCEUIRQhFCEUIRQhFCEUIRQhFCEUIRQhFCEUIVnhuPkglWWFssiG6tYGx22YEHes+KwtLFUXUKwlrhBFxI+EFNri0yFJxfisuJlMs7l5Gtc2A2FgAFAAHsFQwWBw+Coihh25WDQXPzMnxKbnFxkqlWtRRQhFCEUIRQhFCEUIRQhFCEUIRQhFCEUIRQhFCEUIRQhFCEUIRQhd1wbo4fEQxzCdVEihrFDpfuvfyrmu2gASMuhXDr7bZSqupFhMcwrh6KJPWF+A+Nv0qXrEe6qj0gYP/ABnxHGEn5KpPWF+A/NT9Yj3VH8RU/wDrPiE49FEnrKfAfmqJ2kAJyqf4gZ7h8Qo4+i1m9HEof/YfmqmhtqjXBNKCAYsVH8Q0/wDrPiE4dFMnrCfAfb+lV52k0aj5oHSFh/8AGfEcJSnook9YX4D83lR6xHuoPSGmP/GfEKF+jJg4Q4pMx2GQ+Nv0vMVjq9IcPSrtoPHaOnDkO87lIbfYRPVmJjUKcdFEnrC/AfmrZ6yHupDpBT/6z4hNPRVJ6wvwH5vKn6xHuqJ6RU/+s+I87ko6KJPWF+A+z9Kl6xHuqQ6Q0/8ArPiEfkok9YX4D81HrEe6j8QU/wDrPiEn5KpPWF+A/NT9Yj3VH8RU4/4z4hO/JRJ6wvwH5qXrIe6pfiBn/WfEJPyUyesL8B8v2vOn6xHupHpDTmOrPiOX3QOimT1hfgPzUvWI91A6Q0z/AOM+IR+SiT1hf8s/NR6xHup/iGn/ANZ8Qk/JTJ6wvwH5vOn6xHuqP4ip/wDWfEJ35KJPWF+A/NS9ZD3VL8QM/wCs+ITW6KZPWF+A+F/0qY2iPdSd0ipgx1Z8RwXN838rNgTGGkD9Zm2W1stvM/pVpw+J66bRC6WAx7cWHENiFnDgmI6nr+pfqt8+XS17X9l9L7VD1jhev9H6wZ9Im8xMd8XhdLI6JhZ9bFFFCFNJhXVFcrZXvlPjl0b7riq21WOeWA3ETynREKGrEJ0aFiAoJJNgBuSdgKTnBoJOgQpMThHj9NGXUjUW1U5WHtB0NV061Or7DgdDbgbjxGiZBGqhq1JFCEUIRQhFCF9A8iLfA4bT/DXz8fKvMVTDnd5+q8PjW5sZUAG/v3nkVuum+mx10/atoMunsqAPn4LI9hvbQ8B727s27vhyUNvLu/08tKms0W03fblZV+MYoxqQoGc3AuBYakX20GuwrhbY2o3C0wwXc4eA4m9+S3MDWVO2LA3sOJ0tbWw3G9rLP4CwuRpsAPPbYWtb2Vw+jVQNxL2uMEjTn91HEU4MkXJuNSL6b78d/FT8ZlIVApscwO1wQF2OnjY3rpdJMW6k1jG6zPgbfPco4VrHAhwmYj4gDhf591lpGQFM9rDfXUjQncLrtXdwuIFWi2qbSJSNM1IyDUxeDuO+B57ly+Ixl53dfzSovbTRjpqLHz/lXgMdiqj8WawOjiW9w05jSe9baeHd1bRAJJcQBBJsIJ13xlBEOvGq20x7dZGAt0kG+lwVsSQcuxF9fK3fevcUMW6r1bogOHz188SraeCp+huqk3aWzoTBtExYyNJloMGbqP6UOvKk9xUDuuBm9x1rC3GD1sWF1soA11mfj3/Bcs0XdVIGgk8hceE8rFayL5bHX7+45dPbXcJTY20xoeXH+W3f/pDr5fjTvtr7KAUOZaY+nLlfu3a98VtPx4ezWpqjLbTzHddTlNL20v4C/f8AnZdf61XN48/VanM7OaLTynfvy3/VROuu3f4W/R8qmDbzzVD2EPMjf3e7y8/VYl028PLcHvt/+0nG6lSZ2ZI4ctx3x/tOZdNu7yHjv2dfbSB8+SpuaALjdyHH+G/fu07o1G2n4uPL99SKoa2CLeZHL57lMY9tN9tB5b9nWoT58laTTIDZGvIDh/Df9FQizdZKG1swC9kCwMYa2gF9SaqoOcXvBMgGy6G1qFJmHwzmMDXOa7NG8gmCQeXADjzXnPTQvaw3sk7v+Ty/d/rXc2afa+H6ro7AaRTeefD/AAPDd8VhDmWEx5isomGF+iZFyiG1ipkJve+U3yZfS1vXO9T4gVCwOb1ZrdbJnPOuXhqIzT7HZy716brBHOIXUcJ5thlM80k3VAGTKhIzyoY8sUbLsAhvbLfUkmxJY+fxuw8TQbRo0qecwyTeGOD5c4HWXDWYsABI7ItbVBkkqhxPnzDsyyQLMsqRzIrMiXHWKBHYhjZVYbAW1JAG1bcJ0ZxTWOpV3NLHOYSAXQcpl24XcN5JO4k6qLqzdRzUvEef8K+kcc0JJdusRI+sXO0bnKL2OfI4Y37/AM65FVYbotjaUGo9rwA0ZXF+UwHi9p7OYZbHTcYIZrtOghUeCc3HBRFGjlQyl5lvGnaWTL1TjMACOy+qgDXTy3Y/YTNpVhUD2uDAGGHOsWzmBgm922Jm1+cW1cghWJOc8IEZBFMn2olVRGgVSJuuUgBwATGAl8twCdWGlZmdHscajXuex3Zyky6SCwsMy0kw45ozQY0Bun1rYiPMp8HPEck62jnkJafJZQ0kfXSiVeqXNvluhGmm19qg7o1Vo4aC9jQBTzbmuyMLTmMaTDgb31jVPrgT4rnOZuZVxEEEMamNUeV2QABLySM6Zbb5Ua2wtc2rubJ2M7B4irXqEOc4MANyYa0AzPFwm2tpuqqlTMAAuZrvqpFCEUIRQhe2cmcwYZcHAjTxhlRFYEr2WN7KxPonQ7715WpWpiqWFwmTb4rxuOwOKdiKlRtMls6wOfnyF1MOKRxdGVlvupUjfxG9SF7hcmpmYcrhB5wN/nVLm9m3lUoVGYR8OSpcTwXWst8tgD4ab/foe+vNbX2XXxeIY5hhsQSfstdPEvpXYY3bh9Prr8lk3KSTOpUCFspLMLFcqvfXQHt28D+8c1ux8Tha/WUHAhh1Notv5EGLX4RaescMHU6FESTVGYQLghxboPaBi5uQNJAgpineRDiSFyZAyrcXtl33sL3+7fwF+1MDi8ZU63RkWvoPhczz+iizDhtf0Bp7WaCdLjlAOg3nWYG8uxGOMTRwq6OyvdwCBlQgJqCbf4gNr+FdDB0qmDptoucHQ6TrZthF44ytOGwLa1GtXqghrmwwmDLrkQbn8hExxEyrPHJY43wzHKq9eATYW7SSKL27rka++tlXDYakGFrGgON4FjY/JU7EZUxDcUyn2ndVpbc9p+g+11QmxmbGxONY8mVWVEtZWW7b5st2AvbcDcMTVZP/AOw0gdmCBA3fWO6OViuxQpNp7IqUpAeHAuBIsYMNiMhIiS0zYye02FFIspe9gudj1aE9rOAztdhcLt4kWFra15ats7GOrF5pnM5xNo77d3wXGYzDmk43dkALnCA3KSGiAYmDyBJMzvXWYSZioLgK3eOyba7+fjY17rD9Y6k01BDoE98LjOcxroY4EC8wBvnQ8OcjhZSF/Z/8fEVdHm6rNQHh/bxHn5aSmZvZ+7wpwq8wg/44KQv7P/j591RjzdXGoNbf2892n23JhbXu/d5VKLKouGb/AFySxvbw/d4edIifJUqbwOH9p3c/I707rN9Rr5L5/d7qMvm6l1og3F/5efmyYG9n7vEU4VYeBH+OIT8/s/d5Uo83Vmccv7eSY51O37vA0wFW9wk6fLgfPkLzDplPaw3sk/mvhXT2d+b4L1XR0yyp3jh+ihbnHB9Vh1Ecgkh2kMERKlojGSq5wpyyZXAsAbagHtHzbdg7S66q5z25H/lD3iQH5oJyk9pstJklu6R2R63rWQFSxHNsRiygvmzln/s8IE+qFS9j9myhCOyDve9yb7aWxK7a2YxliB26h6uzpAn2gS78xGkRAbETUEf4F1vYPpAwMQssUp7bsSYYvRkn61lsZDshKX9m3dxcR0X2piPaqNFgLPqatp5AZyj84DiPrvsFZg3fTis/C804d2klkhmIvhXkdII/TgZicwDKqh7qL+W1bq+xcZTaylRqNFqzQHPf7LwIIJDiSyCY56qIqNNyOCmXnbBHDrE8cxIwywEGKMpmVCoYdsHRiCL3tbQA61Ueju0m4k1ab2AGrn9pwMF0keyRcWMRO8kWT65kQeEKCbnfCsmIzwPI8oUXcKAQIljyMQ1wFcM4I1uRoKtb0cxzKtLq6jWMYTYTbtudItBLmkNcDpe5S65sGQquM5uw7z4GXq3tBfrbRoubRQAiBiPzdrga6KNb6qGw8XToYqlnH7SMsucY1mTAO/gTa7jaImq0lp4JuL5tw8kcEbI/2MsDAiKK4iSIJMovfMzSXYBgQRa9rWCpbDxdKrVqtcO2yoILnwXufLDbQNZAOWCDMTMoNVpAHdwWZzxxqDFzRyQKy2jCPmUAsysxDGzNclSo1PdXQ2Bs/FYGg+niHB0vLhBJABAtcNiCDoN/GVGq9riCFzld1VIoQihC+nOj0f8AZuE/9Jf61+fNtMLtp4iPfPH3jz8/Xq0/YCs47lbDSNmMeR9LvEzRsbG4DNGQWFzexvUKG0MZhZ6uodbzJ3xvJUKtClWEVGg96xMXwzHwA9VkxaAdkO3Vz93pN/dufcmg7716rBdL2FoGJbBi5Gn6leaxfRak8zQcW8jcfUfquR5l5unwgjbE4SVGzMD2jktqMucdlj2/MaVvp49uJqvLSNI15nUa2nx4LMNgP7YDoBECQZ1knW2nG4Pjgx8/hGnbMPtnzCxP2diF7vS7OUafo3F6sZisQM5Au4g7vDTgu7iNj4apTw0uB6ppDhftHW2mj5IB1lVJufFOFTDhjqozNZrrYrlUaja2/kfGqW9eKLqJuJtppr9dOE8lDAYRjNpvxdUQJtvmRBJ3XmdO5RcR56R2Byk5VGoLAO9suZrm+3dvvYi9D2VakTYGJ36D9Y+ZWmjR6nOGukE2to06t5G9nRHEGyOP87db1YN8iZcuRyS1vSkIzZla1rBtdTr31Ou+riGtaOzA+ccYv8FVsmnRwfWODJe+ZmwAOjRYgjiRY8IgK+3O5bJinQ2RcltyQCBnFzYHNbx1qs1qrqwDyCfpvgWPCZ+W5Jmy208BUptMFz8wEkQBaDEEiJkWnlqs3HdJMruCqKqozMp1L3YMhubgWyv4X/rs62sYvcEnx3fD4KrB7Mw1Jj21QXZ2BpEwLEG0yRcc+5bMfSvI7ZY8OSx0UAlje972Gp0vpVhxVRrXEnjrAA4buHiuSzo4ye086zaRbhv8YPcuwwXEuJyAMvDHynQF540NhbtFWYNrp3Vhb0gw9I/tHgiBAAPxveTfl9VD8LvdfrI+B/8AZdC3DMYyCxgjcgXv1jhTbUWBS/he49lYH9MmXy0jyvr8v1V9PokwHt1SRyEfUn6KWXl/EnX6Wq+S4fTv/SkNUnpXX16sR/v7LaOjWD4u8VXx3A8cF+xxGHLWOrwOCTpbVZbD7vdTZ0wqA5alPw+H3VZ6LYQnMHO8f8Tu82XmvH8bxrCN1k+ZEXTMio0JvdQSRci+4zWO2gr3Gyto7E2gGjr3teYsYFz/APEj5/FROwaFJpbknnJn6rB+u+Oz5/pDf8uVcv3Wr1f4dw5v1j/7f/VVerMLly5PmZ+qWPnnHK5fr73/ADWVSvdsABbbxqL+jtP8lRw74P0AUfVWELcuT5mfqlxHPWPf/Hy/8qKP53qA6ONPtVT8AB906ey8Iz8k95JUU3OeOYgnEEWINgqhTbxFtR5Ux0cZlvVdPcI8P8pt2ZhACMmvEmVn8xcenxbK07A5RZQosovv3k3NhuaVPZ7sGIc7MTyhacJhKOHaRSBvxMrp143gfscrKgWOyj6KCYJSgBkZiftRnBNiDqb91eS9X7S/aZgXEuuesID2ZiQ0D8hDSLiNI5rp52W+2itYrjnDGw+KjQZDLnKAw6qwsUZWAuAxVjYk5cwAsAb56WzttMxVCo8yGRm7WovIINiWyLwM2UkkkiGX08pCt4jmzh7B00XrFhEhTDKI26uUMQI2ufQB9IsBfTbXIzYW1WllTUsc/LmqHMMzCAS4QPaP5Q0wLi9pGqzT9OazeZeP4F4p1w5s0scSm0ZUM0chOY7C+QjuF7bCt+y9mbTp1qbsTcMc8iXAwHNAjefaneYB1Ki97CDCvpzpgUkRmhjlHUnOFgCDrEIMWUNcjQuDqRqD5Vjd0d2nUouY2q5hz2JeXHI4HNpA4FtgREc0+tYDMKuvH+GtFi4rBFe6Qgw3IRI1WJs4GbNnF9T+8ki47N2yK2HqzJbBf24BcXEuEaRlMCB8QBCM9OCFbxfNmAllyZIhGW7J6gKRlMJjJa2gv9Iv5WvWehsPamHp58zi4C/bJ1z5rTw6uOcxvTNRhMed3+VznSFxLDSuogKO6vJmlSPq1yFvs4wBo2UX7ffpXc6N4TG0aZdiJaC1sNc7Oc0dp0m4m3Z3RxKqrOaTZcfXp1SihCKEIoQvp3o8/wDDcJt/dL/WvgG2IO08QDHtnh7zl1afsBdCfd+DXMeBEWseV+181MJtZ7RusPHTxTSYnDpIrJIqspBBVgCrA3uCDoQdq2A5SS1wBE3BidTM7+E/BRXHcwdGPD8Tr1Iga1gYAEA1vfKBlJ9orbS23iqTj2gRM3vqdPhw3KJptK4fF9BTf4WMU+TxEd3iGPf5V16PSRjh22R8RwnfCrNFc1juiHiSOVWNJF7mWRQD7msRW9u3MGWyXR393nzCj1TlX/JTxP8AUD/NT5qkNtYImM/nzv0S6t3BaHCuhviEpPW9XCANMz5rnTQBL+O/lVdTbmFaJac3dH6338ExTcu04N0JYaNicRM84tYKF6sX8dGJ9164uI6SVXD9k0N+M7jyHBWCiN69D4TwDC4a30fDwxkALdY1DMBsGa2ZveTXMdi6tYftHzBmCZntaR+nBTygaLSPurO/LE2v3WuPrp8lJNrPaDp9rJp591azl9q2ptbfO7l8lFNP4/dWd4Afu1/9VJJlBFiAR4HUHTwqdAhoDrfLh+nySK885x6LIJwZMHlw8oucgH2T+C5R/dnzXTyPd7bYfTXG7OcG1XdZT4bx3Hu3fHjOaphmv0sV49xngs+FfJiImjawIvYgg+DC4Ox76+w7I6SbP2myaNQTwJAP+fsufUovZqFQrvqpFCFFNXMx+rVNqjrApooQihCKEIoQihCKEIoQihCKEIoQihC+nOjw/wDZuE/9Jf61+fNtVC3aeI/nO/8AiPJdWmOwF0Jb8Xrlvqz42vz7lOE29U5zHw4pp2b8Xq81hf4xfv5ce5KEhNVveS6Tx475HJOEA0NqENIP15DkiErNU61UuPa17+R5IASA1APh0njx3T3eeCIShqtbWPxtv7uX6pQm3rOX2/z3ppwar21SPG1989yUILUnVSf98xy4ohNvVOcwfvyTTs34vWg1jfjff3zuShJeqS+XSPr3ck0qmp0qpGn15dyCEZqn1zoMfG/fyShV8ZhElRo5UV0YEFW1BB0P7qrpVnscCwweR5hMheW829Euz8OIHjC7m1vFHa5v5Mff4/Stg/8A5Er4f9nju2yBcRI+Q8hY6uEBu1ed8c5bxOEYieF1AAOcC8fa2+0HZvfS1719M2X0t2VtGBRqgOO51isT6D2ahYkproY17XEZTKi1R1iUkUIRQhFCEUIRQhFCEUIRQhFCEUIRQhe7cm9IPD4MFh4pcRlkSNVYdVKbEbi4Wx91fINpdF9rVsfWq06XZc4kHM3SSZ9scd4W9lamGgErZPSfwz1r+DN8lYXdEdsmf2O/3m3vMnt/FT6+nxTfyncM9Z/gzfJWf8Hbaj/g3e8y/f20/SKfFO/Kfwz1r+DN8laj0S2z2v2R3/mZfXXt7/p8VHr6fFIek7hnrP8ABm+SqD0P21mnqP7mcR/HopekU+KB0ncM9a/gzfJUqfRDbQbHUx3OZwiPbSOIp8UHpO4X61/Bm+SnU6I7ZItRjuc3geL0CvT4oHSdwz1r+DN8lRb0Q20HT1MXH5mcdfb1Gvej0inxSjpP4X61/Bm+SrW9EtshsdTwtmbB017fjz0R19Pim/lO4Z6z/Bm+Ss56Hbaj/g/uZz/j5p+kU+KcOk7hfrX8Gb5Kub0R2yB/w/3Nvff29POqXX0+KD0n8L9a/gzfJQ7ojtkj/h/ubbT+PyOcI6+nxTfyncM9Z/gzfJVP4O21H/B/czh/On6RT4p35T+F+tfwZvkrQeiW2Yjqd+mZsb/4927vuo9fT4pD0ncM9a/gzfJVT+h+2i6epm/vM5fx8k/SKfFA6TuGetfwZvkp0+iO2gL0eH5mcOT9277IOIp8Up6T+F+s/wAGb5KmeiO2Y/4Jt7zba2Hb+v3R19PimjpO4Z6z/Bm+SqW9D9tSJof3M4j+NP0inxTvyn8L9a/gzfJV/wCEtswP2R/qbbTTtqPX0+KRuk7hnrX8Gb5Kqq9D9tOcT1M97mcP5/h3JjEU+K8v6WON4LFPA2CZWt1nWFYmQksVILZlGY6N4177odsvG4ClVbi2lskRcGwngXfosuIe1xGVcDXs1nRQhFCEUIRQhFCEUIRQhFCEUIRQhFCF0EPJWOZQy4diGAIOZNQRcfneBrH6fR4rnu2phWuLS64to77J/wBRcf6s3xJ81Hp9Hil62wnv/J32R9Rcf6s3xJ81Hp9Hij1thPf+Tvsj6i4/1ZviT5qPT6PFL1tg/f8Ak77I+ovEPVm+JPmo9Po8U/W2E9/5O+yPqLj/AFZviT5qPT6PFL1thPf+Tvsj6i8Q9Wb4k+aj0+jxT9bYT3/k77I+ouP9Wb4k+aj0+jxR62wnv/J32R9Rcf6s3xJ81Hp9Hil62wnv/J32R9Rcf6s3xJ81Hp9Hin62wnv/ACd9kfUXH+rN8SfNR6fR4petsJ7/AMnfZJ9Rsf6s3xJ81Hp1FHrfB+/8nfZKeRcf6s3xJ81Hp9Hig7XwY1f8nfZH1Fx/qzfEnzUen0eKfrbCe/8AJ32R9Rcf6s3xJ81Hp1FL1vg/f+Tvsk+o2P8AVm+JPmo9Ooo9b4P3/k77I+o2P9Wb4k+aj06jxR63wfv/ACd9k5eQ+IE2GFcnwzJf/qpHH0ReVJu1MK52UOJP8rvsh+Q+IAkHDNcGx7Sbjf8AOoGPokTKH7UwrHFrn3Bg2dqPgm/UbH+rN8SfNT9OoqPrfB+/8nfZZvF+CT4bL18ZTNfLcg3ta/ok+Iq6lXZVnLuWnD4ujiATSMxyI+sLPq5aUUIRQhFCEUIRQhFCEUIRQhFCEUIRQhfSfAz/AGaDx6tNc37C+deU+i8NiSOueD7WY3n/ADCuk76+N+1v40KgnWDe831QSPdfbN5HzoQSIndOk8jzSFhrp427R03t3+NOCkXMvbjFzbXnx4pTvvr45v8Amv8AfS3Jk9q5vxnvnx/0hjp563ObffzphJxEQNbyZ115wlLDW2g00zHx9tKDv1Uy5pkts21pPHvlAI0vqPDN5i/fRB3JBzRBdccJPEc0ike/Sxvtt5+FMqLSIjfaDOmnOLBCnz18c3d2bCkU2m9jfv3dmPBAI091+0ddr99EFIOZaBwm5vpO/wCiRiLjwvtfy9vspgFJzmyDunjy7+5JIdNddNNe7woGtkqhGQ5r247uCcSPfc65vbfvpKZLdN8m898796RTofH2/wDN/SwpnXzyUGkZDBv3/wA36QP8lXIsYgjZMm5vfN39x8dABVLqTy8OldSljsOzDvo9XMnWd+48bAAa/UqkSL+42121/wD2rrrlktm/A7+avcPxixsSwzE2AIO17eJqirSdUECwXV2fjqWEqOdUGZxgSDxjiY/0q+LxAdmYAL799t/O96spsLGgEyseLxLMRVdUa0NnnrprzmT9dFnRY9et6sqw7INybB7Zc2XW+7eHjbaodeDU6uDN4tY93dK1eqqjMGMbmaWdjMA45mzpm3DMWkgBxI4BebdNHpYb2Sd/mldzZv5vh+q6HR+erffesbASRtw6MMsAkbFiFm6qLrepKAntZcw7RPb37r1zqzKzdqvLS/KKOcDM/LnzEaTGkdnTfE3XphGT4/JaWJ5ZwT4fEvH2GQyiL+0KxYxNazKQPSUFha/fqNL8+ltjaTMTQpVBIdlznIQBmE2Mn2XQDMRwNyJmmyCR9VZxHK3DvpKqrMU+0QgTpuhjyyZiR2crtcC57NwDYis9LbO1zhS97QHQx3sOFnB0ti9wQL21gxYpmnTzJE5PwXVhgSydZCDKJ1KkSTtG62sCAEUWcgXveh+39oipkgB2V5ylhmW0w4GZIMuN2gmNJ3oFJkT51VKTgXDzho5lLAtKoK9cl1BlKNGQ1j/djNn279jWxu0tqjFvoOaIDTByOg9gEOkSPaMZdTuuLxyMyyrWJ5X4eHnUNbLEGW+JjsjWckPa5zdlNFDjUa9rTNS21tU06TnN1dB/ZvuJaJbMWu67shtMdm7NNkn7p/F+XMCZJz1i2B0dXjVVYLHkiEaABs+Zu2osO/UGjBbW2mKdIFhkxYh5JBLszsziSMsDskye4hDmMk3UOO5Z4d18QSUohlliYGVTn6sXSz27Acm2Y6Cp4fbG1vRnuqUwXZGPENcMub2hE9osiYEE6INOnIg8VHxXAYOHCtGioXkmhDEyRtJCGRXdFkIOgIIzAjfU6WNuDxGPxGMFSoSGtY+LODXkOIa4tnUiDBB0kaghODQ2ByVqXlXh/WuA9lEaMF69CyhmcO5Po3VVU5cxBvfSstPbe1jRaSy8kTkcASGtIAHtQ4kiS0EREEqXV05WPzHy5hosCk0L5pMyZvtVbNG6khso1BDZQQNr7neulsza+Mr7QdQrMhkOg5SO00gRNxBEkE6xoNFB9NoZIXGV6pUL6P4JH/ZofHq001v6A8rV5YOXz/E0j1zxvzHjP0j5q51W/lf93jp/KnmVHVG9tJ8m30SmP8a2/wCm9GZBpb93xj/6ykKb7d/j57dn+dE+fJQaeum/jz07P1jnbRTF+O/v8qMyDRIMR5vy8flyQx6ff43/AJWozJGlbx4z9I+aUx77W99v3relm8+SpGlckafGPm2fkgR7f1vb9y3ozefJQKUEE/OY+TZSLH/Txv3eVqZcotpWju4zu5R80oi/H3eVGZMUSTEebcvD580Ee23d4+W/Z/lRPnyUCnppu48tez9J5Sgpttv522/5aJSNO47+fD+WUjR2Hu8/9KAbpPpkNM8Of2TjH+Nb9+/ZtRm8+SpGlu3/ABnf/DHf8k0R6fjz8qJURSJFh5vy8jnYKE1O2/nbY/s3om3n7p9X2jwnnGh/hnut3wkKfyPj/pRKRp3+B4/ZK0X8x7f5WoDk3UiLEbx37uUJAn4+7yolIU/N+XLzv51YOHgSmTMSSBe4FgNNLhL2Hv1vvVIohtQ1JMnu8Bv+feupU2i+rg6eC6toYyDI6yZMS51y0ncTlsLNsvOOmZe1hvZJ/NK7ezj7XwXS6OtIZUPMedyxsHy7hfoyTyyuBZGZldMrZpMskKJlLCRU7VyT7K5dfauO9Ldh6LGm7gAWutDJa8mQC0utAA75XqQxuWStZ+TeH5pgMU+WEKGYHNlJQuz2SM5kvlXL2bEN2r2Fcz8Q7WyU3HDiX5iBEWDgA2S8QYkzeRHZAkqfVU5N1mz8t4UYnqU61rYcS5eujzTOyqwjjPV2W2Zib5iQpros2tjThevflbNUsnK6GNBIzOGaTMCIyiSNyiWNzQOC1DwaOTDJGcXP1edQI2mTIC0uQwZdhKF7ea9h4W1rmjaNWli31RQZmgy4MdmIDM2edcpd2csSeKnkBbE+eCeORMGJyjSzBDD1itnQBWBYOJGKXtYAjsC3faou6S7R9F61tNuYPykQ4kiARlAdEyYPbdMdkFHUszRKZgeTMJOge7xAwRsLSqQXaMsSQUvYuMtrjXY62FmI2/j8O/IAHnrHA9lwhoeBqHa5TMwbXI3lCk0ieShw3L2EnnhjfNGDgoHJiKqOsKjO0pIPvIG+psLmrKu1NoYbC1KrIcRXqCHBxOQE5Q0At5Re40kwCBjC4DkEp5R4cIet+lsxYArGHQMSSI7XZcv96sna0GW1yB2iht3a5xPU+jgAEy4h0W7UwHT7BbYAkumBPZB1VOJlWJOQ8GuIyPLMIzHfSRM2frRF6RQArldWtYeNzeqG9JNovw2dlNufNHsujLkzaBxvIImSJtEp9SzNE+ZUR5Jwhd8jTtGOo7XWxjqhK0qySSHJZlURBrC2hOvfUz0i2g2m3O1gf+0tlf2y0MLWtGaQXZ4k5rjTcl1LJ8F59iowrsqsGAYgMNmANgR7d69tSeX02ucIJAMcOSzHVRVYhfTHC+ARSYWHtTKTFGbpPICOyp0GfKPur4PiNu4+liHtbU0cbW08dFr9X4Vwk023voNfBUsTyZKHzx42dtGzRyu2ViSCCGjZclte5hqNB372dMcTkyPY2eIFxHEFxHDh8VV6pwg0YPDyVz3FMM8bfaYzG4SRdS0kXXYVgBrkMYC31HpWIANxreuphulmMaP+ClWZpaWOnnJJ8LcDaFS7Y2DLMmWPPHX5rn/+J5LhOPIwPe0T5vuIa252Ndyn0pe9k1NnQRweBPy+qz1tkYQkSPAH5wR81aXEKFK/WDe974Zr3G/aL5hby2rD+LsUSD6tb/V/iFodsbCFweQJ7oHhoqkfFQikHjoIJ/NgaRtb37TkED2HvrZV6U1akOp7OAj3nx9B4yoepcI99wJ14D7b0yLiSgMg48e1ZgXhfa40zliyHfRbjbxqJ6U4gOa5+z2kD3Xf4g95Qdk4Um4Hhb7FSLxEhcn/AB2O3mrltddHK5v31YelwLs3qw/1iPCISdsfCuIdbwj5CyWLiLZQo45FbzV83jqxXN++h3S0Zsx2Yf6x9IhL1NhS7PbwMW5afJJHizlEY47FYd5z33vrIRe3kTQemAnOdmH+ofTL+ik3Y+Gz5xE91vA2VzBqZGYnmCFTa24t7lZ0UHTdday4jppUa0Cnsw/Ek/Rs+Kbdi4TLlt556qY8IVio+sURINx2kvfb1is/47xTZPqz/wC3/qrRsjC7o8Aqj8LxpdlixuMlF8uf6NOEOU5bowzIVvfUGx3rfS6b0m05r4OmDrHWNBg8QRM/6VbtkYc2yj+lW4eTeJMTGcVilC6qxy5DbazfSA9/aulqoq9P6LXZ2YanfdmJPP8AJCsGyqMk5RJ5BVvqzxnrO1LOFUEZxICLWvoquSb+y9+6trenmzDTn0YTwkfUtEfZVjZFICA0R3BYWMk4jEuf6RISwzNH1pE6AHIGeAnOoJ0vb220ru4DpNsXF1BSdTybgXAZCYmA8dnxjkqn7Lpgew0/AT91kDmbF6f2mbTb7Q9/v13r1/oOFN+rbfkFnOEoH8g8Ag8z4zNm+ky3tb0z7dvdR6Bhojqx4JnCUD+QeASDmTF5i30ma5Fj2zsPfT9Bw0R1Y8Al6JQiMg8AheZcWAAMTNYf+Y3dqNb3oOBwxM9W3wCPRKEzkHgFR4txSafL10jSZb2zG9r2vb7hWHFYelRI6toE8FfQo06YIY0DuXR8F5SimGGBacmYgl0CdSB2s0WZiLSgJe+u/onS/jsdt2thzXgMHV2AdmzE2h0AGWmY3ae2LxtbSBjmtSDo8iOKMOeUp1keosGWKSOR8zXXukRUzWA30B0HNqdLK7cF1+Rodlfa5Be1zRAg/maS6JJjeRczFAZo8wosByPhZFwzddKOtjZ2RgA8hUKcsK2J/OOoDiw3vcVbiOkmMovrsNNpyOABBJABJu4yBu0lhk6RDiCi0xdVMXyhh1w2IkWd3aGQKGyhY3BKiwvqX1a+oII0UjWtNDb+LqYqhSfSDRUbJEkuaYJvFosIMQZu5phpiaTQ0mdFqT9H2GE4TrZkALDI+XrJ7RiTNAVX0bnKeyx9+g59PpVjHYc1Ora6wMtnKyXZYfJ1i4u0cSBBMzQbMT/lRNyBAEmcTSMI2cg2ABWIqXjNr2ksxF2K6qbKRrVg6UYnraVN1NoLw2bkwXAw7d2ZA0DrES4O7KXUNgmUwcp4VpsdCBInVTQJGxa+RJGKu5Fu0u1ifFdRuX69x7KGFrHK7PTqOcADdzQCGg7jrIg6OsYsdU0lw5hN4byth1nmRkmlU4JplhIAxMT51UIQAR1ltdtm9Gnitt4p2HpPa5rSK4YX36tzcrjmvByzz1HtIbTbJHL4qvjuSsPHhZpfpWZo2cCwul0sBE+W9pWvf0vcb3F9DpHiauMpUeohrg2b3v8AmExLW6HszfURBRotDSZXFLMwUqGIViCVucpK3ykjYkZmt7T416w02F4eQJEgHeAYkA84E8YHBZ5UdTQihC+r+Xh/ZcP/AOlH3fsDyr884xg9IqSO1nNo/SI+66zTYLQt+Lf7VkNOxgXvPZ0+Vo5abk5SFfLT2f7VIsAvFp1jfHHLPwRK5rmDkHAYsHrYFVr3EkYyP96jUd1mB399b6G0a9AnK8xeJkgi8buO+x3aC1YpNAgBed8d6DG0ODxA31WcEaa6hkU7aCxHjrXYobeIOWswzyBnnY8IM3+BuVE0uBXE4/ox4nEWH0ZnC37UZDA27xrf9166dPauFf8Amg8CDI71AscuYx/D5YGyTRvGxFwrqVJFyLgEai4Ovka3U6rKgzMII5XUSIVe9TSVzAcPnnBWCKSXLqRHGzWvoL5QbbVW57GEZiATYTvTuV1vB+ifiU51jWEFQwaViBrawsoZg2uxFYK21sPTMCXHg0T8d1tPFSFMlej8H6FMHHlaeSWYgLmW+VCdM3ojNl30v7641bb1V8dWIFpNzHyi3cfirBSG9eg4Hg2HhAEMEUYBJGSNV1O5FhXDrValRwzuJE754d3n4q0ABXSPxb/aqHshpzCLcItxsPnqmEtvxb/apmmI0vOkd82yxb5bkpSAfi3tqsMlthNuAPHla1/nro5VXHcMhm0mjRwDcZlBII1BBtcG/eKvpPdTe7ISBP6GN2/uvvSN15Vzd0SFbycPNx2mMUjG9gBZYmsSSTf0z4a19F6P9PquEDcPjBmYBYgQY+Vvhu3LJVwoddq8txMDRuUkVkdbXR1KsLi4up1GhB99fX8LjsPim5qLw7zw1XPc0t1Uda1FFCFFNXMx+rVNq6/g/JQmXD9qYNNZusEV8Oq9r7MvcHrexoNrsB514fHdIzhX1rMinbKXQ8m3aiCMnauZsATfRam0c0c/BWW5HhDTZ52QRxJiMrgLKIpFeyMuv2wkEakaCzeJArO3pLiHtpZKQcXvdTlpludpHaBt2C3OQYmW6RdPqRe/NWMf0fwwOvWzSFBHI7hVXOxiTOWivoUN7a2Nx51ThOlVfGMPU02h2ZoEkwMxiHWkOGpiR4FN1ANNyiTo7VTERMx7BkYIuZpQqCU/Rds2hyjNbWxtrYA6Wuc2pNMCHBokwGEuyftNYvc5ZtIm0k6jS/nkrGP5SgxHEMXG+IaNk6ph1rjMwkiFySQSWEjID4Bqz4bb+Kwuy8PWZRDw7OOwLDK8xAtYsDiDvI5pmk1zyJ4apMFyNhuqxRZnkaAyqCraFoo4mI21Ad3GwNTr9JcZ11ANAa2oGHtagPc8D45Wg6kTpKBRbB5T+izeO8p4dcZDHE0wikneBgVzMpjKZjHluStpBa4voSa27O27i34CpVrBpeym2oIMAh2aJmADLbwYvYqL6TcwA4wrOK6O1EWLZTNeDMULKuVgqq5XsksWsx1svdpe4FFPpaTWw9Nwb+0gGCZBJcAbgCJboC6eMQ4s0LE8E9+j6Ilnjed0iusqKitM7hY3+xANiuWYb69k6G+kR0rrNIp1WMa58FpLiGBpLh2yRIMsNhIuLo6gahLhuj1J58WkZkRYpWjjJAMYKrmAdrlidr9kAXGpOlKr0rdhcNhn1cri9gc6DBgmJAsI4XJPuxJQKGYkBRSchw9XE6STFjl6xMqlmLQHEBYAN2spWzd58tbG9J64qvY9jAL5TJgRUFOX8BJm02+S6kQI82lc/wA9cJjw2JEcKuq9XG1n9O7KCc3gb93dXZ6PY+tjsH11YgnM8dnSA4gRxEaHeq6rQ10BfRvL3/dMPp/hR/8AQK+IY3P11Xs2zu3D7rpN0Hcr/urIc0ez8h91JL7qZz5vZv3D7oRrrp+6n+0l3Z47hz5osk91Qh1+zw3DnzQg7bU3Z8g7Nr7hz5oSTRBgQygg9xAI8djVpdVbUkCD3AfqlaFBFgI1IKxRgjYhFvUm1sQTFz89/eiArA9lUtz5PZtbcOXNNHuqPaj2eO4cuaEuumn7qn25b2eG4cuaLJPdUTnzDs3ngOB5oR7qRzZT2fkPuml91SOfL7Np4DnzSSVX2svs7juHE800vftVgz9YezeTuHA80tySo9rN7O47hy5oWbxzgUGLTJiIlcdxI7S30urbg1swmPxeCeKmHJaQRpb4WO9JzWusV5JzZ0UTQ3fBFp4++NrdavsOgceWh9tfUNgf/kV0dVtFvIOA7tb81hq4TexecyKVYqwIZTYg6EEbgg99fUcJj8Pi6YqUHhwPBYnNLTBUM1UY/VqbV2fAeSPpEEbfSShcBgnVkqCzNEpvm3uhvptXhdodIvRK729TIbImYNmhxtHA2vqtTKOYaqfA9Hkkq5+vIzQwyk5CbmbMWTftMpT3kiqcR0qpUHZOruHvbEgRkgA8gc3wCYoE3lYHNPDhA8QjMhVoI2Je4ILgkrb80b9n212tlYo4llQ1A2RUcLX0MTO881W9uWI4LDEraans7a7a308Nda6uRt7a681Wh5WJuSST3k6/fSFNgGUAQiUvXt+kdydzudCfaRQaTDqAiUjSsdyTrffvO59ugoFNoEABEpwxL69ptTc6nUnQk+diaXVU7dkW5Iko+kP+k2hvud9r+21HVMiMo4abkSULiXF7M2pudTqRqCfHWg0qZABaLckSUnXt+k2hB3O40B9oFApMH5R4IkpJZSxuxJPiTc/vqTWtaIaICF9WcvD+y4fx6qPu/YHlX58xjf8A9ipbtZzaP0j5711m6BaFvxb/AG0rIW2MDjNtPlaPkmi34t/W1MtHC06xy45fkhFvx+BSLWXnS8c9f4b33/DuEW/Fvb5Uy0zdt/5e+bRu4/l+ggj8W/2pOb2bC95t37ot5KEEfd+O+1Sc1snKOza8Tv45bfqhAH4/Aoa0SMwgd0b+OW/6IQB+Lf0tUWtEaXtAju3ReR46oRb8W9nlQGmbC/dutFo38d+neIt+PwKA1to0tPLSfy2/TS6EhH4/ApOaJFrTw5cY8/FNBH4t/tSqN7BzCLcItx0+aAlt+PwKmWjheTaO+bZbR8kkgH4t7ara05bDdwnjyta/z7mlt+PwKkGtznhP6GLxv+aSS34/ApFozXG47ufdfyNyaUj8W/papPaZuLyLRHDdH+/ikEgqDRY247t1uXHfv072qmN4XBMAJoY5ALGzxqwB8e0DY+dXYavUovDqbnNs2SLEC03Ate3LS6RAOq8M6WuV8PgWw4wysokEha7FvRK2tm29I19a6GbWxm0KFT0p5dkIAn4zfw10WDEU2sIyrho8bIoAWRwBtZiLWNxbXxJNetfhqLzLmA94Cokp6cRmC5RLIFGoUO1gd72vbeonC0C4uLGyd8CUZjxTJ8bI988jte18zE3toL3PdUqeHpU/YaB3ABBJKgq5JFCEUIRQhFCEUIRQhFCEUIW9Fznj1UKuKlCqAAA2gA0A+6uM/o7st5Jdh2Em+g1VnWv4p/134h63N8VR/Deyf3Zn9IR11Tij678Q9bm+Kj8N7J/dmeAR11Tij68cQ9bm+Kj8ObJ/d2eAR1z+KPrvxD1ub4qPw3sn92Z/SEddU4o+u/EPW5vio/Deyf3dngEddU4o+u/EPW5vio/DeydfR2eAR11Tij678Q9bm+KgdG9kj/8Ars8AjrqnFH134h63N8VH4b2T+7s8AjrqnFH134h63N8VH4b2T+7M/pCOuqcUfXjiHrc3xUfhzZP7uzwCOufxR9d+IetzfFR+G9k/u7PAI66pxR9d+IetzfFR+G9k/uzP6QjrqnFH134h63N8VH4b2T+7s8AjrqnFH134h63N8VH4b2T+7M/pCOuqcUfXfiHrc3xUfhvZOvo7PAI66pxR9d+IetzfFR+G9k/uzPAI66pxR9d+IetzfFR+G9k/uzP6QjrqnFH134h63N8VH4b2T+7M/pCOuqcUfXfiHrc3xUfhvZP7uzwCOuqcVncW41iMTlOIleTLfLmN7X3t9wrdg9nYXBAjDUwydcoiVFz3O1Kz62qKKEIoQihCKEIoQihCKEIoQihCKEIoQvVeROT8HiMFHNNGWkYsD23AIDEDRWHdXIxWJqsqlrTb4Lze0NpVqFdzWusItE7ge/et5uj/AIf+pOp/WSaa93b/AJ1nGMr+99PssDttYnc4XPu6X863+KYOj/AfqT3f4knl+1UvTK3vfRVjbeL97huHJKnR/wAP/Un/ADJPD/moOMrcfomzbeLtLvkOHn9bJy9H3D/1J/zJPPT0/ZUTjK/H6fZTbtnEwJd/aOf1/wBb0p6PuH7dSe/XrJL/APXaj0yvx+n2TO2sTEZuN8vkeeKRuj/h9/7jv26yW3f4vegYyv730+yHbbxMggjXTL38bpr9H3D+6E7frJPP9ryFSGMr8foq37axY0du4Dn9kh6P8B+pP+ZJ5/tUemVve+iR23i/e+Q5qQdH/D/1H8SXy/b9tR9Mr+99PsrhtvE6yP6e763/AER+T3h2n2J1t/iSaX8O3R6bX4/T7I9c4mwz6x+UW880Do94d+pP+ZJ5ft0em1+P0+yBtnEExn/t7k0dH/D7/wBx/El8v26fplePa+n2UBtvFZvaHh3efpuTB0f4D9Sf8yTy/ap+mVuP0VY23i/e+Q5ebJ/5PuH/AKk7H/Ek+b3UvTK/H6Kz11ij+bjuHnl3c5VyDo24YULFADrZetk13sLZ71S7aGJDg0acYH2hdKhtB76Lqr6zQ68NgX1tHtd36qp+T/h/6j+JLpvt2/51b6ZX976fZc/13iQPaH9Omvm6ucK6NOGyOQ0Wguf72QE62H521U19oYhjZB+i6WysdWxNYtqPECToATeO7v3qDH9HPDlkZViJHlJJpvpfNrbxqyljsQ5gJP0WTH7Ur0cQ6nTqAj+XTW0744/5VKDknhjOUEfaG46yTxsSO1YkbHwuL71EbSeXFjX3G632Vrq+1aVBuIqtIpugB2Ub7g8pGk2O665XpL5bw2FhhbDx5GZyGOZzcWv+cx7/AAro4KvUqPIeZ8P0WnZO0KuJcRUIsOEefPJZvDuW8NLFhWEkwbETCC2VMqtdM59K+Xtm3srmYvbGKw9XENLGkUqZqamSO1A017N++y9G2m0gczCcOjvEMzdU8TRa5JMzWYhmTLbLdWBRgSwCi29QPSzBsaBUa4P3tgSLAzrBEOEBpLjPso6h25ZsXKUzQJMGj7ayMsZLdYVhbJI3o5ezvbNe2wNb3bcw7cQ6hld2S0F0DLLxLRrN+6AdSFHqjEq3ieQ8QjFc8LN28qqzXkMQBlCEoBdbi9yLna9jbNT6T4R7Q/K4DsySB2Q8wwmCT2oMQDAu6JEs0XJuF5GxEkjxI8RaKwl1e0TE2CPZNSTfVbroTewp1ekuEp0mVXNcA+7bDtiJzC+kbnQbgASQECi4mOCT6kT5EcvCA0vU6uewwYp22ClQLqba3OmlP8SYU1HMa15IZn01EA2BIcbHhYo6l0SnwclSdZPFI6q8SxsGuRGesdUBYsoIXtXvak/pDR6qlWY0lry4Rq7stLiAASJ7MROqBSMkLH4/waTCTGGUqWABut8pB2IzAG3urp7P2hSx1AVqUxJF4mR3E/VQewtMFZtblFFCEUIRQhe5dGFv+HQ3B3fu/bauDjZ650Lxe1iz0x2YcN3ILqWK66HfTTz9vhWUSuW407wDra3Pv4d/6qMEeHh3eypXVQLOHDd3JY7aXB+7y0/fSMp08lpHy5ffydE5bW2Pd3e2/wDSkZlTaWZdDu3HnP6f4SsVtsb693t/G1AmVJxp5IAM33Hn50SyFc2gNr+Ht86QzQnUNLOC0GJ4d/P9VHJbwP3e2pCVRUySYHy70EjwPf3e2ndBLeHHd3qVSt9jb2ey/f7agc0LQ00c1wY7u7n3/wCE0ZfA/cfKndQBpxcHwPLzvR2fA/cfKi6c040PgeSRSt9jbTu8hfvo7UKLTSz6W7uQ5+eSYLaezw9lSuqgW2t8u5ONtNDse7zP9LUrqZyQLHQ7jxP6ed6kut9ja57vbbv/AK1HtQrQaWeYMSdx5xv/AF8UgK66Hy09vn7KO0gGlBkHlbv5/dNOWx0N9e721K8qs9XkNr33Jmmuh+7207qvs3t8u9U48GTP1jHRVKqAp1zMDrc6WtuNT7qydQ81+tJFhA+Pfa3LX5L0A2th27LOBptdLnBzpiJbwyw45p0fOSIAJOYcb0zEdRh7fpm+n7I8/bXZ2dOd08FdsEsNR2UbuEcOZ5+dOa4PwLHMmHMU0QVCMTGCw+zLsFVnuv5zKLA3Gh2F652O2lsxtSsKzHEumk6Ae0ACSBB3AmSI1gSYC9e1j4EHmtKLA8YiVFjlQswDdUpQyIJnLB2XLp23btj0bnUCsD8VsCs5z6jCACRmOYNJY0AtBm/ZA7Ojo0JUstUaJo4bjzh0wkRhAhRmDKQXmSVzL2SVzBM0ZB9FSQAb1I4rZTMS7G1c8vcBecrHNAboDEw6R7ToJLbSjK/LlG5Rw8O4jIrMmIjInjWVibKS2IU3iRivZdhH2gpANlv3VY/FbIpOa19Fw6txaNSIpkQ4gG7Wl3ZLgSLkb0g2odDr+qbjfp8OHOKlxKiRDGphyIzjrPtFadSNJPs0YFgW2NwRRQOzMRihhKNElhDjmlwb2eyQwzdvacDlIbqIIKDnDcxKj4XguJSwRSJOmSRmkGYjrAImYu7nKW6sOSbEkXcaXarcViNkUMRUpPpnM0BpgHL2gIaLgZi3eBMDWAk0VCAQU6Hh/FAZZBIqMrpAw7It1ZRowgC5UQFkKhbXF7Ai9Qdi9iltOlkJBDqg1M5g4OJvJJGYOJmPzEEhPLUufgmy8q4vFvnxM6BzaNNOz2J/oxUBQAihiSAosfK5NSbtvA4CmWYamS0S53G9PrJvJcSIBJNuNoS6tzjc+ZhV36PJyEMckTZkQ9psuZpGdVSO981+rJBOX2C1XDpXhWucKrXDKXCwLoa0NJc6wiM4nXkSTCXUO3LNxHKU0aI7tFq0asiuDLGZRmTOnddddTW+ltvD1qhpsDtHEEghrspgwd8HzoommQJKdxLlCaKOSUNGyIWuMwEuVJGhLmP9HOhGhO4qGF29h69RlEghzgNxyyWh+XNxymdAh1IgSudruKte09G+Gxh4fGYkwxTtlc8sgdj1hBVgEKqPSIPa7tr6fP8Ab3SOjgsc6i5rjETERcT50+/Pr7AGLea2aJ791uMbuHxWxxfH4yEIRgWe+rlZMwSx2sgLG4tYhR7NL1nw/SbAVZ7RHfae7d81g/C1Xe4fCe/jb4KueNTtkaDC9el7SmOVWaMr6S5bg5hbvy38BWqh0i2W7M3EVDTMSMzTB7iJMc4VY6K1gD2geETy14fBVk5qlWRlk4fiwg2KRFmuLjUA23HcxrsMxOzKtIPp4ylJ4uDfrfxCqHRqu0C99+sabvPMJcJzXMQxfh+KAuAmWNjm3Bz3IykG21xvfbUq4jZYIDcbSnfLhbu1lT/DdYAR8bO531+Vgd6OHc1TuXV+HYoblcqNa2/aLlbH3m9QxeM2VQa14xlMgwNZ+Tc1vgITd0brGzI365h4X+pUcHN85Mmbh2Jsvo5FZje3otsBr4XI8KtdX2UA3Ljad+JA+I8jvQ/o5VMEazex+/6f5bBzfMQ/WcOxYP5mWJyDvbMTax22B79PGxz9mgjLjKXOXN+XkKup0brEjL8fa59/Hl9UQ84ydWxkwGLDi5ssLZLWuMzGxGm+lDnbPzgMxdKP5hPh/lJ/Ruvm7Jtznz9E1OccR1ZJ4biutubARPktpYlrXvptb30y7Zme2Mp5f5mz5+PwVv4dqZ7ez3Gftu+d5Uo5wmzKP+HYoLl1ujAlrCwF9LE32N7agd1Vuq7Ma0k42nM+8NPP+0Do7Vgcbe999/KOSbHzLjmQleGvmHpZmKoBve7WO1t6or7S2HRcA7GAg6ZRmPyBVrejTy7l8f8A2/UqOXm3FKzD/huItbs2VzrtqQpFtO6tNKvsiqwOGNp/EgW7iQZ71V+G6gIk/I/fl/tZ8/PmIUWOCKOp7QcsthoRZSAb2/nWgHZU/wD8tpB0gg/SyG9GjN3GO7/Kkw/SG8jqqYGV7g3C5ixNr9kAbCm+ls9jSXYtg7yI+qQ6Ovgyb9x+/nusofymsjlZsIVI7sxDjUg5gw9o27q20tk0MQ0Ow9cO7oI+SKmwSNDfmD94+XdF1EOlPb+zDfX7Q7d1tN/3Vo/D3/8Ap8kvUQv2t3PXx+keKeelJc3/AHbsWP5/aub2t5bUvw+cv/JfuUfUPZIzXvxj6zb/AHKjHSjq39n0scv2hvfW2bTz7ql+H7Dt99kjsAe/32P3RH0o2TXDgvf9M5bXvbx2oPR/tWfbuupeoQH2db4/cffmue545v8ApqRoIsgQ5rlrkki3htSbsz0TtF0yujs3Z3opJmZsr/L+D4kDhnWQJFKEgDhI5AireSMOliL3uQTqD4V5HaVfZDhWpvbmeyXkS5hJjK4gyDpYxaF3mCpY/BaXGF4qxSOEoBDDDrEVJkZQZFAcqGZ7DMYwSBvrfXBgTsNofVqz+0fUs+YaCcp7IJaG7g8gE6GCLSd1mg3AKLB4TjAJMckGZlR8oEGl1IjAQrZSVLAAAXualiK3R5zQKrXwC5s/ttxGbtTJAIEkkgQgCruj5KtwnC8VIgVJIkSdciMyxlVESO4VrIxV8pcD84baW00Y2vsNrqrqjXOdTOYgF89pwEiXAFpcGyPZOsEm6aKto3qyMFxA4eJm6vE4fqUkMcixKzExsUW+ryFFuRc302FqpOI2S3FPDc1Krnc2WmoQBmGYxZjczoBtEnUynFTLxHwWdgsBxGH6IplWNA5gUWjZojiLO6Sx2ub6Eq9+7at2IxOycR6Q4MLnZesPttDslgWu0toC3vuoAVBHh4pTg+KKoKOpXEO1nXq8xYDPlLAXQsIwQgI1AFr0dfsV1QteDmpAWOeANJg2MZjLoNjMwnFSO9STycXeMT51KqiSjKsQNiVxOiqouwIV2HgddzVNOn0fpvOGAILnFtzU1g09SbA3Y24Ejs3CCapGb7d6kxMfF0RpDLFlw4jc5ep7FszILBbAgOxynuYb6VGm7YFWqKWR2arnbfrO1OUO1OhytEjgYOpTPWgTw7lZUYvFw4SAqI+seFjKzRllCqRHIyKqtlYAlc5N7BQRfWlzsBgK2IxLSXZGvGUZgCSQXNBJc2WmM2QCJLnA7n2nAN7lyHFuN4gPNEZs6kvGxyIM6mUynYG15CW0PfbbSvSYPZuELKdYU8ps4CXWOQMGp3NAFxzibqlz3XErCrsKtfRfRAf+yoPbJ4/rGr4p0yc5u16hA92/a90bxb9V0cP/AMYXZE/jWvKOqO3zc/xXvv4/BXwuY5x5VGKUyQsYcWqhY51LBgL3KkqRdTdhY+NacFjzR7FQZmHUETJte+/mEnNnTVeMPicdEGXF4zGYZt0kbrDAdPRcqM6m+minzFeqazCuIdQpMeN47Id3ibacxyKzkEiHEqPGpxuNBIJsRJGfRkhm6xT3aFGJ9xsd6KZ2S92TK0O4OGU/MBPtgLCxPNPEFOV8TiVZdCDI4I79Re966DMBgiJbTaQeQKhmcDqoRzZjhb+2YjT/AM5/9amdnYQ26pvgEZ3aypDzjj/W5/8AMb/Woeq8H/1N8AjM7ihOcMcP/wCvEf5rfu1oOzMIf/E3wCec8U/D808RkYLHicS7HZVdyxtqbAanSk/Z+BYMzqbQOYCA93FaMHMfEYiDNjZIgTYh2zuLHU9UblSCPzsvlWZ2BwNQRTpB3dYePPlKed28q5wXnLimIbJHiJnkysQFjDW1X0gFOm+vd76rr7K2dSE1GNaLak/dMPedF33LvBcZI7mbENPMfSvJKMLDcAZbI4EjWzCwFgRcnYniVq+FAaGU8rByGd3xIJA0udQrAHcV2vLnKmGwfahiQSEWZwtjra4XwXQafeSbk8vE7Qr17OcY4X5eb/SFMMAV3iHAsNPfrsPFITuWjBJttc2vpYVClia1OOrJGvvfofO+yZaDqsXi3I0LxCKG0ca5iIWUtAWcEXKgh1IJJBjddT310sJtfE4ev6Q0kO0zNkOidJMtOkEEEW01UHUwRC8Y5l5LxeDZjJEWjubSRglLanXUsugPpeG5r7Z0f6aYLHU20678tT+IRO7XSTytPgubVwzmmRoudr2yzIpoRQhRzVz8f7LVNq7/AAM/F/osbxxIYURGVgIi5SK5TshsxtdtLXPaPjXzfEM2B6Y+nVeRUcXAg9ZEvibxlv2bzAsJFgtg63LI0+CZHPxgZI1AHXoEXK8Yv1abllcZZBHb0rGwGmlN9Lo+cz336okmQ8xmduBF2l2mWRwMIBq6cU6EcVBM0SxvZYXJUxEfZoTGFGbtdkH0b3oqu2HAoViWyajROf8AMRnkx2bke1EIHW6jkq83GuKRDDBkRe0gi7KZg2Uqqvr2CUkPZa1wxPnWins/Y1d1YtcTY5rugiZJHGHNF2zBETaFEvqCFZiTjBywCJP7OsZAvF6LI8MZDFrPdWkGhOvnWR9To8JxDnn9oXbqmoc17pES2CGm4FuSlFXTh3KfjeMxIwST9UY2jkjnZ5mjMryf3YvGgDW7N80gBI22ua8Bh8H6e/D58wcxzAGB4Y1ntHtOJbN4hhtvjQNxdln4+f8AK56HneZjCk5BiieNuwiiT7E3XK3cd/vNdqp0cwzRVfQEPe147RJb29ZHnSNFUKxtO5Q43nbFydeA5VJ2Zio/NzaEKRbuABqzD9G8BS6pxZLqbQATvjS3fdBrOM81WXmjEBpnBUPMuR2yC+XLkIB7hYVpOxsK5tNhBimZAkxMzPj9tFHrHX5p+H5vxKCMKy/Z5LHIMxEX92rHvVb6Cq6mwcFULy5p7eaRJiXe0QNxdvKYquCw5HJJJ3Jv99dhoDQAFWm00L6M6IP/AAqD2yf/AGNXxXpjm9b1IiOzrPuhdHD/APGF2R934NeUfmvprz97d50V4TapEzu+fJNYXH+CRyqesjV42v1i2swNj9opG7aAEd4t+jY6cLWqtjI6HDQ8bTlP6cD3yE4BeXcR5Yx3DAcRw2YywupbKvaU5vRYJYg6SHKLm+W9zcLXeo7Qwm0D1WMZlcONjzvruvprG6VUWOZdqocF6Q43YpxbBwzMo1kaJOs7IOhRlsWJPiu5rTX2K9gzYGqWgnSTF+YOg+KiKnvBazw8u4pA2mHOoIu8bLcXBtYqdbW7t99jlB23h5/P4Gb/AAKl+zKzuIcC5fjUH6XIxGjBGJY+dsh9m40q6jjNtPJHVAd4j9Ui2mN65vFcY4bFb6NgesLLqZ5mYKxOoCLa9tLMbX8K6lPDY2p/zVYg/lAEjvM67xdQJaNAsufmWd7LEBFsAsAyAgG4BC+lr437vAVqbgaLR2+1zdf66fCFHMVrco8kzYlxNP8AZRBgS8qMxlOpISPRpLkWNiNzvY1i2htWlh29XT7To0BAy950HKykxhNyvXuU+TEjiKRh4oiCpbMyzTDMGzFhYpqMunde24avP4nG1HvzvIedQCLN+EeTrwVrWiF3OGw6xqEjVVUaBVFgB5AVyS976uZ0E8yeAVkWTxWcTbTTnyTS1Z2oGmh48T57uaEv3Vd2827U8Y3+QkmyRhlKsAVIsQdQQbggjvFDXPEkR4nnoiy875l6JsPNmfCt9Hc65bXhPlk3X/2mw10Nev2L042ls+1Q9YwSIJMjuss9TDMfpZeVczcr4jAuVnQ5e6VQTE1yQO3awbT0TrqK+s7C6YYHarYkMfplJHy0lYKuHcxYtesVCjmrn4/2WqbV23BuL8RhjjaLCllKRohEbNcKJVQ9nx6x9fKvn2OwWyK9Z4rVwHAuJGYCJyE68Mre4HmtbXVALBTni/E3youCscP3LEwsGjaIWW9spTUBRYkXG5vnGB2NSl7sT/yby5t4eHaxqHWOY2Bg7oeaod2ijix3E4YUb6IerjWNgxjYjLGjRqSQf0ZCTVz6GxsTiHN68Z3FwjMNXOBI8WfokDUA0UPEsdxOZsOJcO7NFaYB1crJ1VgWkVmy6CwYAC2Y3tmqeGwuxsMysaNUAP7BgtBbnmA0gTc+zJOgjRJzqhiQtLi/GeJBpD9HVxGYC7okh/uiMSgYucxt1mpPdr51hwOA2OWtAqkF/WQCWj2v2boy2vlsBoba2U3OqcOH3WVx7iWOmUwy4PK+II7QiYSSdWSQm+631FrgWvXS2fhdm0CK9HESykDYuBa3MNf/AJRYzBOig9zzYjVY2O5TxUeX7JmvGJOwCQoa5AJGmawJsO652rp4fbmCrEgVAIcW3IEkQJjWJIEnfZQNJw3KGTlrFqQDh5df2CRtm1I0HZ117tdqubtfAuBIrNtzHGPje1t9tUurdwS4fljFMSOokAVwjkobKTY66X0DKdO4g99J+2ME2P2rSSMwEi4vp8QR3iEdW7greO5LxcbBRGZC2YjqwTYI5jOYEAr2hoD4+OlZcP0iwFZheX5QIHatctzW3G28cOF0zRcNy5+RCpIYEEGxBFiCNwR4122uDhIuCq02mhfRnRB/4VB7ZP8A7Gr4t0wDztio1v8ADx90cIXRw8dWF2RB/Htryr21LiNDzt2u/wC/fN1fZNFUNa6Y7uPLmmhfx91OkHmI4c9zZ8/qLIKzcVh2j7SC8W7oBcgWN8inu7yo18Lk2NppGsyTGYQAeMzE87WPilMLmOZ+RsLi+0EXbUooEhudCJLEm36J02F1FW4Ha9fDdkk/E28P1F+9J1MFeUYzoyxWcpDLFKxBbqy+SbKttWjbT84WszbivXN25h2tDqjSBxF2yd0jfa8gKjqjuXPzcn45TY4Ofe2kbHXbcDbz2re3aWEcJFVviFDI7gtjhnRhj5VDsiwpmteUkHTc5QC1vdrWSvt3B07A5j/Df/CkKTiu95W6PosL9o6xyyBhkkcSIAxFiqR5ryG+3ZG51OgHBxe2KuKPVU5E7mwT4gW538Lk2tphtyvRMFwtmIeYAjKBlJJJOnafXKPRHYUZQbm7aEcsNLAckE6ze192/fq6TG4Ka2dah+1Ha4zx5c/PFOyADeotY/rIgbuO8Dn55IkQm1QA63Mc+Xncml1qwh4API8eJH+P83SsnWO1XhlUvyQNTa+6ec27++UrIsfxekGVCHWFv5ra8/rKLJutqrIqZC7v48+f6J2UOKw6yIySKrowIZWF1IO4IOhFVtdUa4vaYI33tqnZcTxfonwUpvEHgPfkYlT/AO17ge61ew2b0021hfzh4aNHXETHes78NTduXlvPHIs3D1R5JI3R2KrlzBtBe5Uiw08zX0zY/Sk7ZljqeQtAOsz5kLHUodXvVfhfO88GXq1jusaRagm6xljrYjcOwNRxnR3DYuesc6C5zrRqQPplBHNDaxbopYee5lkjdY4wIjH1adqyrEjxIlyxJFpWNyb3qp/RnDvpPpue45w4ONpJe5ribADVoiBACfXGZSYnnqZ0KGOOxBXY/nQrhz3/AKKA+2pUujeHpVOsD3TIO7c91ThxcfgkaxIjzpCkx3P8si5epiRRFLCoXNZVnChrAsQLZBYDQeFVYfoth6Ly/rHOJex5Ji7qZJGgHG+88UzXJtHH5pj8+TGRpMkYZs3jpnhSAka/oxqfbUx0ZwwpClmdEg7tz3VPq4juR1xmfOkJcdz/AIiSWKXLGpjLMVGfI5cFGLAsbXUkaW3NGG6L4SjQfRzOOYAScstDTLYIA0N7zdBruJlSnpDnEfVRxRpGFCoFMl4yoKBlbPcnKfzr6gGqvwphzV66pUc5xJLicvaBMwRlgCfdixhPrzEAJ/EOfyWcRYeMQyG8ivnJlvH1RLkPp2b+jbx3qNDou0Na6tVcajfZIjsdrPYEXvE5p4aINfgLKCPn+cdZ9nH2ypHpkIEChVVSxXRUADEZhc6+Fx6MYYlhzu7IPu9omSSSADcuJIBymBZLripPyhS9aJTDEWHWDeQAiR+tsQHsQGLCxFiCQb1X+FMOKJoio7KcvumC1uWQS2QSALgyCJaQn15mYXITylmZja7Ek2Fhc66AbCvTsYGNDRoBCoTKkhf/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data:image/jpeg;base64,/9j/4AAQSkZJRgABAQAAAQABAAD/2wCEAAkGBxQTEhUUEhQWFhUXGR0YGRgYFh0eFxgcGR8gGBkYFxgaHyggHRomHBgYIjEhJSkrLi4uHh8zODMtNygtLisBCgoKDg0OGxAQGy8kICQsMi00NCw0LCwxLCw0NDY0NCw0MCw0LCw0LywsLCw0LCwsLCw0LCwsNC8sLCwsLCwsLP/AABEIAMABBgMBEQACEQEDEQH/xAAcAAABBQEBAQAAAAAAAAAAAAAAAQIDBAUGBwj/xABLEAACAQIEAgYGBQkGAwkBAAABAgMAEQQSITEFBgcTIkFRYTJUcYGS0hQWI5HwF0JSU2Kho7HBJDNDk9HhFXKyJTQ1Y3OCorPxRP/EABwBAAIDAQEBAQAAAAAAAAAAAAABAgMEBQYHCP/EAEQRAAEDAgMEBggDCAICAgIDAAEAAhEDIQQSMQVBUWEGEyJxkfAUFTJSgaGx0RZCwSNUYnKSouHxM1ND0oKyByQ0RGP/2gAMAwEAAhEDEQA/APHq+iLIihCKEIoQihCKEIoQihCKEIoQu34PhcPhOHjGzwriJZnKQxvfIoW+Zmsdf57W768jjq+Mx+1DgMPUNJlNuZ7hGYk6ATp5ncr2hrWZiJlMnw2E4i+GTCouGxMpZZUGbqRYdll8L5dh4nep062P2QzEVMY41aLAC11s/MECNJ15bkENqQG2KysNynM8eIfQHDyLCU1zvIzZAqC2pvXSrbcw9OtRp3PWtLwbQGgTJ+GigKRIJ4LTxXR1iERyJcO00SdZJAsl5UW2bUW3sQf5X0vzaXS7CVHs7DxTe7K15b2SZjXv/wAwpnDuG8TwV3i3KAlj4amEjVZZ4C8jFrKbBSXYnYC52rPhdvnD1MdUxbiWUqga0ASbzAEayeKbqUhobvCzcbyI6Ksi4nDSRdYsbyJLdYixteTTRdv9K24fpNSq1DRdRqNflLw0tu8Dc3momiQJkQuyHJODTisMARWifDlzH1jEhh+cbm4Bvpr3GvKnpNtB+xKuJJLXtqhoMAdknThI3q/qWCoG7oXEcU5ImihEqSwzjrBEywvnZZG2Q2Fr3sPaRXr8J0kw9fEGg5j6Zyl4LxlBaN9/MLO6iQJ17lYxPR7OqPabDvNGmeTDpJeZQNSMoGpAO33X0vnpdLMK97Jp1G03uyteWwwk6X4HcfGFI0HcRPBS4Po5mkWA/SMOpnjEkaO5DtcZsoW1zYbkVCv0uw1F1UGlUIpOLXENkCLTMx3IGHJi4uq+N5BxCRdYjwzEOsUiRyKWidyECv3XzsFNj3+FzV1DpThKlcUnteyWlzS5pAc0CSRv9kE3HzgJGg4CRdTYvo5nRZMs2HkmiXO8Ecl5QNz2bb2INu/uvpemj0vwlR1MmnUbTqHK17mw0nTWdJ3+O9M4dwm4kLjK9YqEUIRQhFCEUIRQhFCEUIRQhFCEUIRQhFCEUIRQhFCEUIRQhFCEUIRQhdrwPiGFxOCXA4yU4cxOXhmC5l7V8yuv+47vDXye0MJjsHjztHBMFUPaGvZOU20IP18xexzXMyOMKvxzEYWEYeHh95ZYnzticlmdr3UKN8o8PZvrV+zqOOxBrV9o9hjxlFOZDRFyTpJSeWiAzdvXX8/cfXCvhGhQKZZFx0yajMeyFDfc3duAd715Xo1supj6eJbXdIY04dh1gXkjxG82tMQr6zw0iO9Y/HsRw52nxwxEkkky9jDAMjRuRYmRwdVBBNtBsNa62zKW2aLaWzjRa1lM3qEhwc0bmt3OM6mYuVW80zL513LRw3OGGiHDwXzKMI+Hmygloi4j1t3m6d3nWKv0fxtc4wtbDuvbVZOj8s2+e/epCq0Ze6FkcSxODwWBxGGw2JOKfEslyEyqiob63Ppd39BXRwtDaW0dp0cZi6HUtoh0DMHFxcI3bvN1FxYxha0zK6VOZMF/xPD4r6SuQ4UxsCpHVsNQGPicx07rVwn7G2l6mr4LqTm67MLjtAm5HCI3m8qzrGdYHTuXI8t8ejw/D3BYGVcXFKsdyCyplvrbTY616famy62L2q1wEMNF7C61idLee9UseGs5yun4hzPhvtMVHj2UyKSkEeGiEysRfJJMUa4uLX9mprzuE2NjgKeDq4QEMIl7qjy0gHUMDhfePoFa6o27g74QqcPMOGGJ4O3XLlgw4WU69hury2OnjpWt+yMacHtOn1ZmrUJZp2hOuv1SFRuZhnQKpheP4dcPxEGUhpMYksYTR2RZlctGToDlBIvWrEbKxdTF4JwZZlFzXTBAJYQARvE2MKIe0Ndff+q2+I8yYExSSSYhMVeMiONsOExYYiwviF2trqF2tvbXjYXY+1W4hlKlRNGHAucKhdSI3xTPHgTrw3WOqMgkmfhfxXj9fUViRQhFCEUIRQhFCEUIRQhFCEUIRQhFCEUIRQhFCEUIRQhFCEUIRQhFCEUIVnhuPkglWWFssiG6tYGx22YEHes+KwtLFUXUKwlrhBFxI+EFNri0yFJxfisuJlMs7l5Gtc2A2FgAFAAHsFQwWBw+Coihh25WDQXPzMnxKbnFxkqlWtRRQhFCEUIRQhFCEUIRQhFCEUIRQhFCEUIRQhFCEUIRQhFCEUIRQhd1wbo4fEQxzCdVEihrFDpfuvfyrmu2gASMuhXDr7bZSqupFhMcwrh6KJPWF+A+Nv0qXrEe6qj0gYP/ABnxHGEn5KpPWF+A/NT9Yj3VH8RU/wDrPiE49FEnrKfAfmqJ2kAJyqf4gZ7h8Qo4+i1m9HEof/YfmqmhtqjXBNKCAYsVH8Q0/wDrPiE4dFMnrCfAfb+lV52k0aj5oHSFh/8AGfEcJSnook9YX4D83lR6xHuoPSGmP/GfEKF+jJg4Q4pMx2GQ+Nv0vMVjq9IcPSrtoPHaOnDkO87lIbfYRPVmJjUKcdFEnrC/AfmrZ6yHupDpBT/6z4hNPRVJ6wvwH5vKn6xHuqJ6RU/+s+I87ko6KJPWF+A+z9Kl6xHuqQ6Q0/8ArPiEfkok9YX4D81HrEe6j8QU/wDrPiEn5KpPWF+A/NT9Yj3VH8RU4/4z4hO/JRJ6wvwH5qXrIe6pfiBn/WfEJPyUyesL8B8v2vOn6xHupHpDTmOrPiOX3QOimT1hfgPzUvWI91A6Q0z/AOM+IR+SiT1hf8s/NR6xHup/iGn/ANZ8Qk/JTJ6wvwH5vOn6xHuqP4ip/wDWfEJ35KJPWF+A/NS9ZD3VL8QM/wCs+ITW6KZPWF+A+F/0qY2iPdSd0ipgx1Z8RwXN838rNgTGGkD9Zm2W1stvM/pVpw+J66bRC6WAx7cWHENiFnDgmI6nr+pfqt8+XS17X9l9L7VD1jhev9H6wZ9Im8xMd8XhdLI6JhZ9bFFFCFNJhXVFcrZXvlPjl0b7riq21WOeWA3ETynREKGrEJ0aFiAoJJNgBuSdgKTnBoJOgQpMThHj9NGXUjUW1U5WHtB0NV061Or7DgdDbgbjxGiZBGqhq1JFCEUIRQhFCF9A8iLfA4bT/DXz8fKvMVTDnd5+q8PjW5sZUAG/v3nkVuum+mx10/atoMunsqAPn4LI9hvbQ8B727s27vhyUNvLu/08tKms0W03fblZV+MYoxqQoGc3AuBYakX20GuwrhbY2o3C0wwXc4eA4m9+S3MDWVO2LA3sOJ0tbWw3G9rLP4CwuRpsAPPbYWtb2Vw+jVQNxL2uMEjTn91HEU4MkXJuNSL6b78d/FT8ZlIVApscwO1wQF2OnjY3rpdJMW6k1jG6zPgbfPco4VrHAhwmYj4gDhf591lpGQFM9rDfXUjQncLrtXdwuIFWi2qbSJSNM1IyDUxeDuO+B57ly+Ixl53dfzSovbTRjpqLHz/lXgMdiqj8WawOjiW9w05jSe9baeHd1bRAJJcQBBJsIJ13xlBEOvGq20x7dZGAt0kG+lwVsSQcuxF9fK3fevcUMW6r1bogOHz188SraeCp+huqk3aWzoTBtExYyNJloMGbqP6UOvKk9xUDuuBm9x1rC3GD1sWF1soA11mfj3/Bcs0XdVIGgk8hceE8rFayL5bHX7+45dPbXcJTY20xoeXH+W3f/pDr5fjTvtr7KAUOZaY+nLlfu3a98VtPx4ezWpqjLbTzHddTlNL20v4C/f8AnZdf61XN48/VanM7OaLTynfvy3/VROuu3f4W/R8qmDbzzVD2EPMjf3e7y8/VYl028PLcHvt/+0nG6lSZ2ZI4ctx3x/tOZdNu7yHjv2dfbSB8+SpuaALjdyHH+G/fu07o1G2n4uPL99SKoa2CLeZHL57lMY9tN9tB5b9nWoT58laTTIDZGvIDh/Df9FQizdZKG1swC9kCwMYa2gF9SaqoOcXvBMgGy6G1qFJmHwzmMDXOa7NG8gmCQeXADjzXnPTQvaw3sk7v+Ty/d/rXc2afa+H6ro7AaRTeefD/AAPDd8VhDmWEx5isomGF+iZFyiG1ipkJve+U3yZfS1vXO9T4gVCwOb1ZrdbJnPOuXhqIzT7HZy716brBHOIXUcJ5thlM80k3VAGTKhIzyoY8sUbLsAhvbLfUkmxJY+fxuw8TQbRo0qecwyTeGOD5c4HWXDWYsABI7ItbVBkkqhxPnzDsyyQLMsqRzIrMiXHWKBHYhjZVYbAW1JAG1bcJ0ZxTWOpV3NLHOYSAXQcpl24XcN5JO4k6qLqzdRzUvEef8K+kcc0JJdusRI+sXO0bnKL2OfI4Y37/AM65FVYbotjaUGo9rwA0ZXF+UwHi9p7OYZbHTcYIZrtOghUeCc3HBRFGjlQyl5lvGnaWTL1TjMACOy+qgDXTy3Y/YTNpVhUD2uDAGGHOsWzmBgm922Jm1+cW1cghWJOc8IEZBFMn2olVRGgVSJuuUgBwATGAl8twCdWGlZmdHscajXuex3Zyky6SCwsMy0kw45ozQY0Bun1rYiPMp8HPEck62jnkJafJZQ0kfXSiVeqXNvluhGmm19qg7o1Vo4aC9jQBTzbmuyMLTmMaTDgb31jVPrgT4rnOZuZVxEEEMamNUeV2QABLySM6Zbb5Ua2wtc2rubJ2M7B4irXqEOc4MANyYa0AzPFwm2tpuqqlTMAAuZrvqpFCEUIRQhe2cmcwYZcHAjTxhlRFYEr2WN7KxPonQ7715WpWpiqWFwmTb4rxuOwOKdiKlRtMls6wOfnyF1MOKRxdGVlvupUjfxG9SF7hcmpmYcrhB5wN/nVLm9m3lUoVGYR8OSpcTwXWst8tgD4ab/foe+vNbX2XXxeIY5hhsQSfstdPEvpXYY3bh9Prr8lk3KSTOpUCFspLMLFcqvfXQHt28D+8c1ux8Tha/WUHAhh1Notv5EGLX4RaescMHU6FESTVGYQLghxboPaBi5uQNJAgpineRDiSFyZAyrcXtl33sL3+7fwF+1MDi8ZU63RkWvoPhczz+iizDhtf0Bp7WaCdLjlAOg3nWYG8uxGOMTRwq6OyvdwCBlQgJqCbf4gNr+FdDB0qmDptoucHQ6TrZthF44ytOGwLa1GtXqghrmwwmDLrkQbn8hExxEyrPHJY43wzHKq9eATYW7SSKL27rka++tlXDYakGFrGgON4FjY/JU7EZUxDcUyn2ndVpbc9p+g+11QmxmbGxONY8mVWVEtZWW7b5st2AvbcDcMTVZP/AOw0gdmCBA3fWO6OViuxQpNp7IqUpAeHAuBIsYMNiMhIiS0zYye02FFIspe9gudj1aE9rOAztdhcLt4kWFra15ats7GOrF5pnM5xNo77d3wXGYzDmk43dkALnCA3KSGiAYmDyBJMzvXWYSZioLgK3eOyba7+fjY17rD9Y6k01BDoE98LjOcxroY4EC8wBvnQ8OcjhZSF/Z/8fEVdHm6rNQHh/bxHn5aSmZvZ+7wpwq8wg/44KQv7P/j591RjzdXGoNbf2892n23JhbXu/d5VKLKouGb/AFySxvbw/d4edIifJUqbwOH9p3c/I707rN9Rr5L5/d7qMvm6l1og3F/5efmyYG9n7vEU4VYeBH+OIT8/s/d5Uo83Vmccv7eSY51O37vA0wFW9wk6fLgfPkLzDplPaw3sk/mvhXT2d+b4L1XR0yyp3jh+ihbnHB9Vh1Ecgkh2kMERKlojGSq5wpyyZXAsAbagHtHzbdg7S66q5z25H/lD3iQH5oJyk9pstJklu6R2R63rWQFSxHNsRiygvmzln/s8IE+qFS9j9myhCOyDve9yb7aWxK7a2YxliB26h6uzpAn2gS78xGkRAbETUEf4F1vYPpAwMQssUp7bsSYYvRkn61lsZDshKX9m3dxcR0X2piPaqNFgLPqatp5AZyj84DiPrvsFZg3fTis/C804d2klkhmIvhXkdII/TgZicwDKqh7qL+W1bq+xcZTaylRqNFqzQHPf7LwIIJDiSyCY56qIqNNyOCmXnbBHDrE8cxIwywEGKMpmVCoYdsHRiCL3tbQA61Ueju0m4k1ab2AGrn9pwMF0keyRcWMRO8kWT65kQeEKCbnfCsmIzwPI8oUXcKAQIljyMQ1wFcM4I1uRoKtb0cxzKtLq6jWMYTYTbtudItBLmkNcDpe5S65sGQquM5uw7z4GXq3tBfrbRoubRQAiBiPzdrga6KNb6qGw8XToYqlnH7SMsucY1mTAO/gTa7jaImq0lp4JuL5tw8kcEbI/2MsDAiKK4iSIJMovfMzSXYBgQRa9rWCpbDxdKrVqtcO2yoILnwXufLDbQNZAOWCDMTMoNVpAHdwWZzxxqDFzRyQKy2jCPmUAsysxDGzNclSo1PdXQ2Bs/FYGg+niHB0vLhBJABAtcNiCDoN/GVGq9riCFzld1VIoQihC+nOj0f8AZuE/9Jf61+fNtMLtp4iPfPH3jz8/Xq0/YCs47lbDSNmMeR9LvEzRsbG4DNGQWFzexvUKG0MZhZ6uodbzJ3xvJUKtClWEVGg96xMXwzHwA9VkxaAdkO3Vz93pN/dufcmg7716rBdL2FoGJbBi5Gn6leaxfRak8zQcW8jcfUfquR5l5unwgjbE4SVGzMD2jktqMucdlj2/MaVvp49uJqvLSNI15nUa2nx4LMNgP7YDoBECQZ1knW2nG4Pjgx8/hGnbMPtnzCxP2diF7vS7OUafo3F6sZisQM5Au4g7vDTgu7iNj4apTw0uB6ppDhftHW2mj5IB1lVJufFOFTDhjqozNZrrYrlUaja2/kfGqW9eKLqJuJtppr9dOE8lDAYRjNpvxdUQJtvmRBJ3XmdO5RcR56R2Byk5VGoLAO9suZrm+3dvvYi9D2VakTYGJ36D9Y+ZWmjR6nOGukE2to06t5G9nRHEGyOP87db1YN8iZcuRyS1vSkIzZla1rBtdTr31Ou+riGtaOzA+ccYv8FVsmnRwfWODJe+ZmwAOjRYgjiRY8IgK+3O5bJinQ2RcltyQCBnFzYHNbx1qs1qrqwDyCfpvgWPCZ+W5Jmy208BUptMFz8wEkQBaDEEiJkWnlqs3HdJMruCqKqozMp1L3YMhubgWyv4X/rs62sYvcEnx3fD4KrB7Mw1Jj21QXZ2BpEwLEG0yRcc+5bMfSvI7ZY8OSx0UAlje972Gp0vpVhxVRrXEnjrAA4buHiuSzo4ye086zaRbhv8YPcuwwXEuJyAMvDHynQF540NhbtFWYNrp3Vhb0gw9I/tHgiBAAPxveTfl9VD8LvdfrI+B/8AZdC3DMYyCxgjcgXv1jhTbUWBS/he49lYH9MmXy0jyvr8v1V9PokwHt1SRyEfUn6KWXl/EnX6Wq+S4fTv/SkNUnpXX16sR/v7LaOjWD4u8VXx3A8cF+xxGHLWOrwOCTpbVZbD7vdTZ0wqA5alPw+H3VZ6LYQnMHO8f8Tu82XmvH8bxrCN1k+ZEXTMio0JvdQSRci+4zWO2gr3Gyto7E2gGjr3teYsYFz/APEj5/FROwaFJpbknnJn6rB+u+Oz5/pDf8uVcv3Wr1f4dw5v1j/7f/VVerMLly5PmZ+qWPnnHK5fr73/ADWVSvdsABbbxqL+jtP8lRw74P0AUfVWELcuT5mfqlxHPWPf/Hy/8qKP53qA6ONPtVT8AB906ey8Iz8k95JUU3OeOYgnEEWINgqhTbxFtR5Ux0cZlvVdPcI8P8pt2ZhACMmvEmVn8xcenxbK07A5RZQosovv3k3NhuaVPZ7sGIc7MTyhacJhKOHaRSBvxMrp143gfscrKgWOyj6KCYJSgBkZiftRnBNiDqb91eS9X7S/aZgXEuuesID2ZiQ0D8hDSLiNI5rp52W+2itYrjnDGw+KjQZDLnKAw6qwsUZWAuAxVjYk5cwAsAb56WzttMxVCo8yGRm7WovIINiWyLwM2UkkkiGX08pCt4jmzh7B00XrFhEhTDKI26uUMQI2ufQB9IsBfTbXIzYW1WllTUsc/LmqHMMzCAS4QPaP5Q0wLi9pGqzT9OazeZeP4F4p1w5s0scSm0ZUM0chOY7C+QjuF7bCt+y9mbTp1qbsTcMc8iXAwHNAjefaneYB1Ki97CDCvpzpgUkRmhjlHUnOFgCDrEIMWUNcjQuDqRqD5Vjd0d2nUouY2q5hz2JeXHI4HNpA4FtgREc0+tYDMKuvH+GtFi4rBFe6Qgw3IRI1WJs4GbNnF9T+8ki47N2yK2HqzJbBf24BcXEuEaRlMCB8QBCM9OCFbxfNmAllyZIhGW7J6gKRlMJjJa2gv9Iv5WvWehsPamHp58zi4C/bJ1z5rTw6uOcxvTNRhMed3+VznSFxLDSuogKO6vJmlSPq1yFvs4wBo2UX7ffpXc6N4TG0aZdiJaC1sNc7Oc0dp0m4m3Z3RxKqrOaTZcfXp1SihCKEIoQvp3o8/wDDcJt/dL/WvgG2IO08QDHtnh7zl1afsBdCfd+DXMeBEWseV+181MJtZ7RusPHTxTSYnDpIrJIqspBBVgCrA3uCDoQdq2A5SS1wBE3BidTM7+E/BRXHcwdGPD8Tr1Iga1gYAEA1vfKBlJ9orbS23iqTj2gRM3vqdPhw3KJptK4fF9BTf4WMU+TxEd3iGPf5V16PSRjh22R8RwnfCrNFc1juiHiSOVWNJF7mWRQD7msRW9u3MGWyXR393nzCj1TlX/JTxP8AUD/NT5qkNtYImM/nzv0S6t3BaHCuhviEpPW9XCANMz5rnTQBL+O/lVdTbmFaJac3dH6338ExTcu04N0JYaNicRM84tYKF6sX8dGJ9164uI6SVXD9k0N+M7jyHBWCiN69D4TwDC4a30fDwxkALdY1DMBsGa2ZveTXMdi6tYftHzBmCZntaR+nBTygaLSPurO/LE2v3WuPrp8lJNrPaDp9rJp591azl9q2ptbfO7l8lFNP4/dWd4Afu1/9VJJlBFiAR4HUHTwqdAhoDrfLh+nySK885x6LIJwZMHlw8oucgH2T+C5R/dnzXTyPd7bYfTXG7OcG1XdZT4bx3Hu3fHjOaphmv0sV49xngs+FfJiImjawIvYgg+DC4Ox76+w7I6SbP2myaNQTwJAP+fsufUovZqFQrvqpFCFFNXMx+rVNqjrApooQihCKEIoQihCKEIoQihCKEIoQihC+nOjw/wDZuE/9Jf61+fNtVC3aeI/nO/8AiPJdWmOwF0Jb8Xrlvqz42vz7lOE29U5zHw4pp2b8Xq81hf4xfv5ce5KEhNVveS6Tx475HJOEA0NqENIP15DkiErNU61UuPa17+R5IASA1APh0njx3T3eeCIShqtbWPxtv7uX6pQm3rOX2/z3ppwar21SPG1989yUILUnVSf98xy4ohNvVOcwfvyTTs34vWg1jfjff3zuShJeqS+XSPr3ck0qmp0qpGn15dyCEZqn1zoMfG/fyShV8ZhElRo5UV0YEFW1BB0P7qrpVnscCwweR5hMheW829Euz8OIHjC7m1vFHa5v5Mff4/Stg/8A5Er4f9nju2yBcRI+Q8hY6uEBu1ed8c5bxOEYieF1AAOcC8fa2+0HZvfS1719M2X0t2VtGBRqgOO51isT6D2ahYkproY17XEZTKi1R1iUkUIRQhFCEUIRQhFCEUIRQhFCEUIRQhe7cm9IPD4MFh4pcRlkSNVYdVKbEbi4Wx91fINpdF9rVsfWq06XZc4kHM3SSZ9scd4W9lamGgErZPSfwz1r+DN8lYXdEdsmf2O/3m3vMnt/FT6+nxTfyncM9Z/gzfJWf8Hbaj/g3e8y/f20/SKfFO/Kfwz1r+DN8laj0S2z2v2R3/mZfXXt7/p8VHr6fFIek7hnrP8ABm+SqD0P21mnqP7mcR/HopekU+KB0ncM9a/gzfJUqfRDbQbHUx3OZwiPbSOIp8UHpO4X61/Bm+SnU6I7ZItRjuc3geL0CvT4oHSdwz1r+DN8lRb0Q20HT1MXH5mcdfb1Gvej0inxSjpP4X61/Bm+SrW9EtshsdTwtmbB017fjz0R19Pim/lO4Z6z/Bm+Ss56Hbaj/g/uZz/j5p+kU+KcOk7hfrX8Gb5Kub0R2yB/w/3Nvff29POqXX0+KD0n8L9a/gzfJQ7ojtkj/h/ubbT+PyOcI6+nxTfyncM9Z/gzfJVP4O21H/B/czh/On6RT4p35T+F+tfwZvkrQeiW2Yjqd+mZsb/4927vuo9fT4pD0ncM9a/gzfJVT+h+2i6epm/vM5fx8k/SKfFA6TuGetfwZvkp0+iO2gL0eH5mcOT9277IOIp8Up6T+F+s/wAGb5KmeiO2Y/4Jt7zba2Hb+v3R19PimjpO4Z6z/Bm+SqW9D9tSJof3M4j+NP0inxTvyn8L9a/gzfJV/wCEtswP2R/qbbTTtqPX0+KRuk7hnrX8Gb5Kqq9D9tOcT1M97mcP5/h3JjEU+K8v6WON4LFPA2CZWt1nWFYmQksVILZlGY6N4177odsvG4ClVbi2lskRcGwngXfosuIe1xGVcDXs1nRQhFCEUIRQhFCEUIRQhFCEUIRQhFCF0EPJWOZQy4diGAIOZNQRcfneBrH6fR4rnu2phWuLS64to77J/wBRcf6s3xJ81Hp9Hil62wnv/J32R9Rcf6s3xJ81Hp9Hij1thPf+Tvsj6i4/1ZviT5qPT6PFL1tg/f8Ak77I+ovEPVm+JPmo9Po8U/W2E9/5O+yPqLj/AFZviT5qPT6PFL1thPf+Tvsj6i8Q9Wb4k+aj0+jxT9bYT3/k77I+ouP9Wb4k+aj0+jxR62wnv/J32R9Rcf6s3xJ81Hp9Hil62wnv/J32R9Rcf6s3xJ81Hp9Hin62wnv/ACd9kfUXH+rN8SfNR6fR4petsJ7/AMnfZJ9Rsf6s3xJ81Hp1FHrfB+/8nfZKeRcf6s3xJ81Hp9Hig7XwY1f8nfZH1Fx/qzfEnzUen0eKfrbCe/8AJ32R9Rcf6s3xJ81Hp1FL1vg/f+Tvsk+o2P8AVm+JPmo9Ooo9b4P3/k77I+o2P9Wb4k+aj06jxR63wfv/ACd9k5eQ+IE2GFcnwzJf/qpHH0ReVJu1MK52UOJP8rvsh+Q+IAkHDNcGx7Sbjf8AOoGPokTKH7UwrHFrn3Bg2dqPgm/UbH+rN8SfNT9OoqPrfB+/8nfZZvF+CT4bL18ZTNfLcg3ta/ok+Iq6lXZVnLuWnD4ujiATSMxyI+sLPq5aUUIRQhFCEUIRQhFCEUIRQhFCEUIRQhfSfAz/AGaDx6tNc37C+deU+i8NiSOueD7WY3n/ADCuk76+N+1v40KgnWDe831QSPdfbN5HzoQSIndOk8jzSFhrp427R03t3+NOCkXMvbjFzbXnx4pTvvr45v8Amv8AfS3Jk9q5vxnvnx/0hjp563ObffzphJxEQNbyZ115wlLDW2g00zHx9tKDv1Uy5pkts21pPHvlAI0vqPDN5i/fRB3JBzRBdccJPEc0ike/Sxvtt5+FMqLSIjfaDOmnOLBCnz18c3d2bCkU2m9jfv3dmPBAI091+0ddr99EFIOZaBwm5vpO/wCiRiLjwvtfy9vspgFJzmyDunjy7+5JIdNddNNe7woGtkqhGQ5r247uCcSPfc65vbfvpKZLdN8m898796RTofH2/wDN/SwpnXzyUGkZDBv3/wA36QP8lXIsYgjZMm5vfN39x8dABVLqTy8OldSljsOzDvo9XMnWd+48bAAa/UqkSL+42121/wD2rrrlktm/A7+avcPxixsSwzE2AIO17eJqirSdUECwXV2fjqWEqOdUGZxgSDxjiY/0q+LxAdmYAL799t/O96spsLGgEyseLxLMRVdUa0NnnrprzmT9dFnRY9et6sqw7INybB7Zc2XW+7eHjbaodeDU6uDN4tY93dK1eqqjMGMbmaWdjMA45mzpm3DMWkgBxI4BebdNHpYb2Sd/mldzZv5vh+q6HR+erffesbASRtw6MMsAkbFiFm6qLrepKAntZcw7RPb37r1zqzKzdqvLS/KKOcDM/LnzEaTGkdnTfE3XphGT4/JaWJ5ZwT4fEvH2GQyiL+0KxYxNazKQPSUFha/fqNL8+ltjaTMTQpVBIdlznIQBmE2Mn2XQDMRwNyJmmyCR9VZxHK3DvpKqrMU+0QgTpuhjyyZiR2crtcC57NwDYis9LbO1zhS97QHQx3sOFnB0ti9wQL21gxYpmnTzJE5PwXVhgSydZCDKJ1KkSTtG62sCAEUWcgXveh+39oipkgB2V5ylhmW0w4GZIMuN2gmNJ3oFJkT51VKTgXDzho5lLAtKoK9cl1BlKNGQ1j/djNn279jWxu0tqjFvoOaIDTByOg9gEOkSPaMZdTuuLxyMyyrWJ5X4eHnUNbLEGW+JjsjWckPa5zdlNFDjUa9rTNS21tU06TnN1dB/ZvuJaJbMWu67shtMdm7NNkn7p/F+XMCZJz1i2B0dXjVVYLHkiEaABs+Zu2osO/UGjBbW2mKdIFhkxYh5JBLszsziSMsDskye4hDmMk3UOO5Z4d18QSUohlliYGVTn6sXSz27Acm2Y6Cp4fbG1vRnuqUwXZGPENcMub2hE9osiYEE6INOnIg8VHxXAYOHCtGioXkmhDEyRtJCGRXdFkIOgIIzAjfU6WNuDxGPxGMFSoSGtY+LODXkOIa4tnUiDBB0kaghODQ2ByVqXlXh/WuA9lEaMF69CyhmcO5Po3VVU5cxBvfSstPbe1jRaSy8kTkcASGtIAHtQ4kiS0EREEqXV05WPzHy5hosCk0L5pMyZvtVbNG6khso1BDZQQNr7neulsza+Mr7QdQrMhkOg5SO00gRNxBEkE6xoNFB9NoZIXGV6pUL6P4JH/ZofHq001v6A8rV5YOXz/E0j1zxvzHjP0j5q51W/lf93jp/KnmVHVG9tJ8m30SmP8a2/wCm9GZBpb93xj/6ykKb7d/j57dn+dE+fJQaeum/jz07P1jnbRTF+O/v8qMyDRIMR5vy8flyQx6ff43/AJWozJGlbx4z9I+aUx77W99v3relm8+SpGlckafGPm2fkgR7f1vb9y3ozefJQKUEE/OY+TZSLH/Txv3eVqZcotpWju4zu5R80oi/H3eVGZMUSTEebcvD580Ee23d4+W/Z/lRPnyUCnppu48tez9J5Sgpttv522/5aJSNO47+fD+WUjR2Hu8/9KAbpPpkNM8Of2TjH+Nb9+/ZtRm8+SpGlu3/ABnf/DHf8k0R6fjz8qJURSJFh5vy8jnYKE1O2/nbY/s3om3n7p9X2jwnnGh/hnut3wkKfyPj/pRKRp3+B4/ZK0X8x7f5WoDk3UiLEbx37uUJAn4+7yolIU/N+XLzv51YOHgSmTMSSBe4FgNNLhL2Hv1vvVIohtQ1JMnu8Bv+feupU2i+rg6eC6toYyDI6yZMS51y0ncTlsLNsvOOmZe1hvZJ/NK7ezj7XwXS6OtIZUPMedyxsHy7hfoyTyyuBZGZldMrZpMskKJlLCRU7VyT7K5dfauO9Ldh6LGm7gAWutDJa8mQC0utAA75XqQxuWStZ+TeH5pgMU+WEKGYHNlJQuz2SM5kvlXL2bEN2r2Fcz8Q7WyU3HDiX5iBEWDgA2S8QYkzeRHZAkqfVU5N1mz8t4UYnqU61rYcS5eujzTOyqwjjPV2W2Zib5iQpros2tjThevflbNUsnK6GNBIzOGaTMCIyiSNyiWNzQOC1DwaOTDJGcXP1edQI2mTIC0uQwZdhKF7ea9h4W1rmjaNWli31RQZmgy4MdmIDM2edcpd2csSeKnkBbE+eCeORMGJyjSzBDD1itnQBWBYOJGKXtYAjsC3faou6S7R9F61tNuYPykQ4kiARlAdEyYPbdMdkFHUszRKZgeTMJOge7xAwRsLSqQXaMsSQUvYuMtrjXY62FmI2/j8O/IAHnrHA9lwhoeBqHa5TMwbXI3lCk0ieShw3L2EnnhjfNGDgoHJiKqOsKjO0pIPvIG+psLmrKu1NoYbC1KrIcRXqCHBxOQE5Q0At5Re40kwCBjC4DkEp5R4cIet+lsxYArGHQMSSI7XZcv96sna0GW1yB2iht3a5xPU+jgAEy4h0W7UwHT7BbYAkumBPZB1VOJlWJOQ8GuIyPLMIzHfSRM2frRF6RQArldWtYeNzeqG9JNovw2dlNufNHsujLkzaBxvIImSJtEp9SzNE+ZUR5Jwhd8jTtGOo7XWxjqhK0qySSHJZlURBrC2hOvfUz0i2g2m3O1gf+0tlf2y0MLWtGaQXZ4k5rjTcl1LJ8F59iowrsqsGAYgMNmANgR7d69tSeX02ucIJAMcOSzHVRVYhfTHC+ARSYWHtTKTFGbpPICOyp0GfKPur4PiNu4+liHtbU0cbW08dFr9X4Vwk023voNfBUsTyZKHzx42dtGzRyu2ViSCCGjZclte5hqNB372dMcTkyPY2eIFxHEFxHDh8VV6pwg0YPDyVz3FMM8bfaYzG4SRdS0kXXYVgBrkMYC31HpWIANxreuphulmMaP+ClWZpaWOnnJJ8LcDaFS7Y2DLMmWPPHX5rn/+J5LhOPIwPe0T5vuIa252Ndyn0pe9k1NnQRweBPy+qz1tkYQkSPAH5wR81aXEKFK/WDe974Zr3G/aL5hby2rD+LsUSD6tb/V/iFodsbCFweQJ7oHhoqkfFQikHjoIJ/NgaRtb37TkED2HvrZV6U1akOp7OAj3nx9B4yoepcI99wJ14D7b0yLiSgMg48e1ZgXhfa40zliyHfRbjbxqJ6U4gOa5+z2kD3Xf4g95Qdk4Um4Hhb7FSLxEhcn/AB2O3mrltddHK5v31YelwLs3qw/1iPCISdsfCuIdbwj5CyWLiLZQo45FbzV83jqxXN++h3S0Zsx2Yf6x9IhL1NhS7PbwMW5afJJHizlEY47FYd5z33vrIRe3kTQemAnOdmH+ofTL+ik3Y+Gz5xE91vA2VzBqZGYnmCFTa24t7lZ0UHTdday4jppUa0Cnsw/Ek/Rs+Kbdi4TLlt556qY8IVio+sURINx2kvfb1is/47xTZPqz/wC3/qrRsjC7o8Aqj8LxpdlixuMlF8uf6NOEOU5bowzIVvfUGx3rfS6b0m05r4OmDrHWNBg8QRM/6VbtkYc2yj+lW4eTeJMTGcVilC6qxy5DbazfSA9/aulqoq9P6LXZ2YanfdmJPP8AJCsGyqMk5RJ5BVvqzxnrO1LOFUEZxICLWvoquSb+y9+6trenmzDTn0YTwkfUtEfZVjZFICA0R3BYWMk4jEuf6RISwzNH1pE6AHIGeAnOoJ0vb220ru4DpNsXF1BSdTybgXAZCYmA8dnxjkqn7Lpgew0/AT91kDmbF6f2mbTb7Q9/v13r1/oOFN+rbfkFnOEoH8g8Ag8z4zNm+ky3tb0z7dvdR6Bhojqx4JnCUD+QeASDmTF5i30ma5Fj2zsPfT9Bw0R1Y8Al6JQiMg8AheZcWAAMTNYf+Y3dqNb3oOBwxM9W3wCPRKEzkHgFR4txSafL10jSZb2zG9r2vb7hWHFYelRI6toE8FfQo06YIY0DuXR8F5SimGGBacmYgl0CdSB2s0WZiLSgJe+u/onS/jsdt2thzXgMHV2AdmzE2h0AGWmY3ae2LxtbSBjmtSDo8iOKMOeUp1keosGWKSOR8zXXukRUzWA30B0HNqdLK7cF1+Rodlfa5Be1zRAg/maS6JJjeRczFAZo8wosByPhZFwzddKOtjZ2RgA8hUKcsK2J/OOoDiw3vcVbiOkmMovrsNNpyOABBJABJu4yBu0lhk6RDiCi0xdVMXyhh1w2IkWd3aGQKGyhY3BKiwvqX1a+oII0UjWtNDb+LqYqhSfSDRUbJEkuaYJvFosIMQZu5phpiaTQ0mdFqT9H2GE4TrZkALDI+XrJ7RiTNAVX0bnKeyx9+g59PpVjHYc1Ora6wMtnKyXZYfJ1i4u0cSBBMzQbMT/lRNyBAEmcTSMI2cg2ABWIqXjNr2ksxF2K6qbKRrVg6UYnraVN1NoLw2bkwXAw7d2ZA0DrES4O7KXUNgmUwcp4VpsdCBInVTQJGxa+RJGKu5Fu0u1ifFdRuX69x7KGFrHK7PTqOcADdzQCGg7jrIg6OsYsdU0lw5hN4byth1nmRkmlU4JplhIAxMT51UIQAR1ltdtm9Gnitt4p2HpPa5rSK4YX36tzcrjmvByzz1HtIbTbJHL4qvjuSsPHhZpfpWZo2cCwul0sBE+W9pWvf0vcb3F9DpHiauMpUeohrg2b3v8AmExLW6HszfURBRotDSZXFLMwUqGIViCVucpK3ykjYkZmt7T416w02F4eQJEgHeAYkA84E8YHBZ5UdTQihC+r+Xh/ZcP/AOlH3fsDyr884xg9IqSO1nNo/SI+66zTYLQt+Lf7VkNOxgXvPZ0+Vo5abk5SFfLT2f7VIsAvFp1jfHHLPwRK5rmDkHAYsHrYFVr3EkYyP96jUd1mB399b6G0a9AnK8xeJkgi8buO+x3aC1YpNAgBed8d6DG0ODxA31WcEaa6hkU7aCxHjrXYobeIOWswzyBnnY8IM3+BuVE0uBXE4/ox4nEWH0ZnC37UZDA27xrf9166dPauFf8Amg8CDI71AscuYx/D5YGyTRvGxFwrqVJFyLgEai4Ovka3U6rKgzMII5XUSIVe9TSVzAcPnnBWCKSXLqRHGzWvoL5QbbVW57GEZiATYTvTuV1vB+ifiU51jWEFQwaViBrawsoZg2uxFYK21sPTMCXHg0T8d1tPFSFMlej8H6FMHHlaeSWYgLmW+VCdM3ojNl30v7641bb1V8dWIFpNzHyi3cfirBSG9eg4Hg2HhAEMEUYBJGSNV1O5FhXDrValRwzuJE754d3n4q0ABXSPxb/aqHshpzCLcItxsPnqmEtvxb/apmmI0vOkd82yxb5bkpSAfi3tqsMlthNuAPHla1/nro5VXHcMhm0mjRwDcZlBII1BBtcG/eKvpPdTe7ISBP6GN2/uvvSN15Vzd0SFbycPNx2mMUjG9gBZYmsSSTf0z4a19F6P9PquEDcPjBmYBYgQY+Vvhu3LJVwoddq8txMDRuUkVkdbXR1KsLi4up1GhB99fX8LjsPim5qLw7zw1XPc0t1Uda1FFCFFNXMx+rVNq6/g/JQmXD9qYNNZusEV8Oq9r7MvcHrexoNrsB514fHdIzhX1rMinbKXQ8m3aiCMnauZsATfRam0c0c/BWW5HhDTZ52QRxJiMrgLKIpFeyMuv2wkEakaCzeJArO3pLiHtpZKQcXvdTlpludpHaBt2C3OQYmW6RdPqRe/NWMf0fwwOvWzSFBHI7hVXOxiTOWivoUN7a2Nx51ThOlVfGMPU02h2ZoEkwMxiHWkOGpiR4FN1ANNyiTo7VTERMx7BkYIuZpQqCU/Rds2hyjNbWxtrYA6Wuc2pNMCHBokwGEuyftNYvc5ZtIm0k6jS/nkrGP5SgxHEMXG+IaNk6ph1rjMwkiFySQSWEjID4Bqz4bb+Kwuy8PWZRDw7OOwLDK8xAtYsDiDvI5pmk1zyJ4apMFyNhuqxRZnkaAyqCraFoo4mI21Ad3GwNTr9JcZ11ANAa2oGHtagPc8D45Wg6kTpKBRbB5T+izeO8p4dcZDHE0wikneBgVzMpjKZjHluStpBa4voSa27O27i34CpVrBpeym2oIMAh2aJmADLbwYvYqL6TcwA4wrOK6O1EWLZTNeDMULKuVgqq5XsksWsx1svdpe4FFPpaTWw9Nwb+0gGCZBJcAbgCJboC6eMQ4s0LE8E9+j6Ilnjed0iusqKitM7hY3+xANiuWYb69k6G+kR0rrNIp1WMa58FpLiGBpLh2yRIMsNhIuLo6gahLhuj1J58WkZkRYpWjjJAMYKrmAdrlidr9kAXGpOlKr0rdhcNhn1cri9gc6DBgmJAsI4XJPuxJQKGYkBRSchw9XE6STFjl6xMqlmLQHEBYAN2spWzd58tbG9J64qvY9jAL5TJgRUFOX8BJm02+S6kQI82lc/wA9cJjw2JEcKuq9XG1n9O7KCc3gb93dXZ6PY+tjsH11YgnM8dnSA4gRxEaHeq6rQ10BfRvL3/dMPp/hR/8AQK+IY3P11Xs2zu3D7rpN0Hcr/urIc0ez8h91JL7qZz5vZv3D7oRrrp+6n+0l3Z47hz5osk91Qh1+zw3DnzQg7bU3Z8g7Nr7hz5oSTRBgQygg9xAI8djVpdVbUkCD3AfqlaFBFgI1IKxRgjYhFvUm1sQTFz89/eiArA9lUtz5PZtbcOXNNHuqPaj2eO4cuaEuumn7qn25b2eG4cuaLJPdUTnzDs3ngOB5oR7qRzZT2fkPuml91SOfL7Np4DnzSSVX2svs7juHE800vftVgz9YezeTuHA80tySo9rN7O47hy5oWbxzgUGLTJiIlcdxI7S30urbg1swmPxeCeKmHJaQRpb4WO9JzWusV5JzZ0UTQ3fBFp4++NrdavsOgceWh9tfUNgf/kV0dVtFvIOA7tb81hq4TexecyKVYqwIZTYg6EEbgg99fUcJj8Pi6YqUHhwPBYnNLTBUM1UY/VqbV2fAeSPpEEbfSShcBgnVkqCzNEpvm3uhvptXhdodIvRK729TIbImYNmhxtHA2vqtTKOYaqfA9Hkkq5+vIzQwyk5CbmbMWTftMpT3kiqcR0qpUHZOruHvbEgRkgA8gc3wCYoE3lYHNPDhA8QjMhVoI2Je4ILgkrb80b9n212tlYo4llQ1A2RUcLX0MTO881W9uWI4LDEraans7a7a308Nda6uRt7a681Wh5WJuSST3k6/fSFNgGUAQiUvXt+kdydzudCfaRQaTDqAiUjSsdyTrffvO59ugoFNoEABEpwxL69ptTc6nUnQk+diaXVU7dkW5Iko+kP+k2hvud9r+21HVMiMo4abkSULiXF7M2pudTqRqCfHWg0qZABaLckSUnXt+k2hB3O40B9oFApMH5R4IkpJZSxuxJPiTc/vqTWtaIaICF9WcvD+y4fx6qPu/YHlX58xjf8A9ipbtZzaP0j5711m6BaFvxb/AG0rIW2MDjNtPlaPkmi34t/W1MtHC06xy45fkhFvx+BSLWXnS8c9f4b33/DuEW/Fvb5Uy0zdt/5e+bRu4/l+ggj8W/2pOb2bC95t37ot5KEEfd+O+1Sc1snKOza8Tv45bfqhAH4/Aoa0SMwgd0b+OW/6IQB+Lf0tUWtEaXtAju3ReR46oRb8W9nlQGmbC/dutFo38d+neIt+PwKA1to0tPLSfy2/TS6EhH4/ApOaJFrTw5cY8/FNBH4t/tSqN7BzCLcItx0+aAlt+PwKmWjheTaO+bZbR8kkgH4t7ara05bDdwnjyta/z7mlt+PwKkGtznhP6GLxv+aSS34/ApFozXG47ufdfyNyaUj8W/papPaZuLyLRHDdH+/ikEgqDRY247t1uXHfv072qmN4XBMAJoY5ALGzxqwB8e0DY+dXYavUovDqbnNs2SLEC03Ate3LS6RAOq8M6WuV8PgWw4wysokEha7FvRK2tm29I19a6GbWxm0KFT0p5dkIAn4zfw10WDEU2sIyrho8bIoAWRwBtZiLWNxbXxJNetfhqLzLmA94Cokp6cRmC5RLIFGoUO1gd72vbeonC0C4uLGyd8CUZjxTJ8bI988jte18zE3toL3PdUqeHpU/YaB3ABBJKgq5JFCEUIRQhFCEUIRQhFCEUIW9Fznj1UKuKlCqAAA2gA0A+6uM/o7st5Jdh2Em+g1VnWv4p/134h63N8VR/Deyf3Zn9IR11Tij678Q9bm+Kj8N7J/dmeAR11Tij68cQ9bm+Kj8ObJ/d2eAR1z+KPrvxD1ub4qPw3sn92Z/SEddU4o+u/EPW5vio/Deyf3dngEddU4o+u/EPW5vio/DeydfR2eAR11Tij678Q9bm+KgdG9kj/8Ars8AjrqnFH134h63N8VH4b2T+7s8AjrqnFH134h63N8VH4b2T+7M/pCOuqcUfXjiHrc3xUfhzZP7uzwCOufxR9d+IetzfFR+G9k/u7PAI66pxR9d+IetzfFR+G9k/uzP6QjrqnFH134h63N8VH4b2T+7s8AjrqnFH134h63N8VH4b2T+7M/pCOuqcUfXfiHrc3xUfhvZOvo7PAI66pxR9d+IetzfFR+G9k/uzPAI66pxR9d+IetzfFR+G9k/uzP6QjrqnFH134h63N8VH4b2T+7M/pCOuqcUfXfiHrc3xUfhvZP7uzwCOuqcVncW41iMTlOIleTLfLmN7X3t9wrdg9nYXBAjDUwydcoiVFz3O1Kz62qKKEIoQihCKEIoQihCKEIoQihCKEIoQvVeROT8HiMFHNNGWkYsD23AIDEDRWHdXIxWJqsqlrTb4Lze0NpVqFdzWusItE7ge/et5uj/AIf+pOp/WSaa93b/AJ1nGMr+99PssDttYnc4XPu6X863+KYOj/AfqT3f4knl+1UvTK3vfRVjbeL97huHJKnR/wAP/Un/ADJPD/moOMrcfomzbeLtLvkOHn9bJy9H3D/1J/zJPPT0/ZUTjK/H6fZTbtnEwJd/aOf1/wBb0p6PuH7dSe/XrJL/APXaj0yvx+n2TO2sTEZuN8vkeeKRuj/h9/7jv26yW3f4vegYyv730+yHbbxMggjXTL38bpr9H3D+6E7frJPP9ryFSGMr8foq37axY0du4Dn9kh6P8B+pP+ZJ5/tUemVve+iR23i/e+Q5qQdH/D/1H8SXy/b9tR9Mr+99PsrhtvE6yP6e763/AER+T3h2n2J1t/iSaX8O3R6bX4/T7I9c4mwz6x+UW880Do94d+pP+ZJ5ft0em1+P0+yBtnEExn/t7k0dH/D7/wBx/El8v26fplePa+n2UBtvFZvaHh3efpuTB0f4D9Sf8yTy/ap+mVuP0VY23i/e+Q5ebJ/5PuH/AKk7H/Ek+b3UvTK/H6Kz11ij+bjuHnl3c5VyDo24YULFADrZetk13sLZ71S7aGJDg0acYH2hdKhtB76Lqr6zQ68NgX1tHtd36qp+T/h/6j+JLpvt2/51b6ZX976fZc/13iQPaH9Omvm6ucK6NOGyOQ0Wguf72QE62H521U19oYhjZB+i6WysdWxNYtqPECToATeO7v3qDH9HPDlkZViJHlJJpvpfNrbxqyljsQ5gJP0WTH7Ur0cQ6nTqAj+XTW0744/5VKDknhjOUEfaG46yTxsSO1YkbHwuL71EbSeXFjX3G632Vrq+1aVBuIqtIpugB2Ub7g8pGk2O665XpL5bw2FhhbDx5GZyGOZzcWv+cx7/AAro4KvUqPIeZ8P0WnZO0KuJcRUIsOEefPJZvDuW8NLFhWEkwbETCC2VMqtdM59K+Xtm3srmYvbGKw9XENLGkUqZqamSO1A017N++y9G2m0gczCcOjvEMzdU8TRa5JMzWYhmTLbLdWBRgSwCi29QPSzBsaBUa4P3tgSLAzrBEOEBpLjPso6h25ZsXKUzQJMGj7ayMsZLdYVhbJI3o5ezvbNe2wNb3bcw7cQ6hld2S0F0DLLxLRrN+6AdSFHqjEq3ieQ8QjFc8LN28qqzXkMQBlCEoBdbi9yLna9jbNT6T4R7Q/K4DsySB2Q8wwmCT2oMQDAu6JEs0XJuF5GxEkjxI8RaKwl1e0TE2CPZNSTfVbroTewp1ekuEp0mVXNcA+7bDtiJzC+kbnQbgASQECi4mOCT6kT5EcvCA0vU6uewwYp22ClQLqba3OmlP8SYU1HMa15IZn01EA2BIcbHhYo6l0SnwclSdZPFI6q8SxsGuRGesdUBYsoIXtXvak/pDR6qlWY0lry4Rq7stLiAASJ7MROqBSMkLH4/waTCTGGUqWABut8pB2IzAG3urp7P2hSx1AVqUxJF4mR3E/VQewtMFZtblFFCEUIRQhe5dGFv+HQ3B3fu/bauDjZ650Lxe1iz0x2YcN3ILqWK66HfTTz9vhWUSuW407wDra3Pv4d/6qMEeHh3eypXVQLOHDd3JY7aXB+7y0/fSMp08lpHy5ffydE5bW2Pd3e2/wDSkZlTaWZdDu3HnP6f4SsVtsb693t/G1AmVJxp5IAM33Hn50SyFc2gNr+Ht86QzQnUNLOC0GJ4d/P9VHJbwP3e2pCVRUySYHy70EjwPf3e2ndBLeHHd3qVSt9jb2ey/f7agc0LQ00c1wY7u7n3/wCE0ZfA/cfKndQBpxcHwPLzvR2fA/cfKi6c040PgeSRSt9jbTu8hfvo7UKLTSz6W7uQ5+eSYLaezw9lSuqgW2t8u5ONtNDse7zP9LUrqZyQLHQ7jxP6ed6kut9ja57vbbv/AK1HtQrQaWeYMSdx5xv/AF8UgK66Hy09vn7KO0gGlBkHlbv5/dNOWx0N9e721K8qs9XkNr33Jmmuh+7207qvs3t8u9U48GTP1jHRVKqAp1zMDrc6WtuNT7qydQ81+tJFhA+Pfa3LX5L0A2th27LOBptdLnBzpiJbwyw45p0fOSIAJOYcb0zEdRh7fpm+n7I8/bXZ2dOd08FdsEsNR2UbuEcOZ5+dOa4PwLHMmHMU0QVCMTGCw+zLsFVnuv5zKLA3Gh2F652O2lsxtSsKzHEumk6Ae0ACSBB3AmSI1gSYC9e1j4EHmtKLA8YiVFjlQswDdUpQyIJnLB2XLp23btj0bnUCsD8VsCs5z6jCACRmOYNJY0AtBm/ZA7Ojo0JUstUaJo4bjzh0wkRhAhRmDKQXmSVzL2SVzBM0ZB9FSQAb1I4rZTMS7G1c8vcBecrHNAboDEw6R7ToJLbSjK/LlG5Rw8O4jIrMmIjInjWVibKS2IU3iRivZdhH2gpANlv3VY/FbIpOa19Fw6txaNSIpkQ4gG7Wl3ZLgSLkb0g2odDr+qbjfp8OHOKlxKiRDGphyIzjrPtFadSNJPs0YFgW2NwRRQOzMRihhKNElhDjmlwb2eyQwzdvacDlIbqIIKDnDcxKj4XguJSwRSJOmSRmkGYjrAImYu7nKW6sOSbEkXcaXarcViNkUMRUpPpnM0BpgHL2gIaLgZi3eBMDWAk0VCAQU6Hh/FAZZBIqMrpAw7It1ZRowgC5UQFkKhbXF7Ai9Qdi9iltOlkJBDqg1M5g4OJvJJGYOJmPzEEhPLUufgmy8q4vFvnxM6BzaNNOz2J/oxUBQAihiSAosfK5NSbtvA4CmWYamS0S53G9PrJvJcSIBJNuNoS6tzjc+ZhV36PJyEMckTZkQ9psuZpGdVSO981+rJBOX2C1XDpXhWucKrXDKXCwLoa0NJc6wiM4nXkSTCXUO3LNxHKU0aI7tFq0asiuDLGZRmTOnddddTW+ltvD1qhpsDtHEEghrspgwd8HzoommQJKdxLlCaKOSUNGyIWuMwEuVJGhLmP9HOhGhO4qGF29h69RlEghzgNxyyWh+XNxymdAh1IgSudruKte09G+Gxh4fGYkwxTtlc8sgdj1hBVgEKqPSIPa7tr6fP8Ab3SOjgsc6i5rjETERcT50+/Pr7AGLea2aJ791uMbuHxWxxfH4yEIRgWe+rlZMwSx2sgLG4tYhR7NL1nw/SbAVZ7RHfae7d81g/C1Xe4fCe/jb4KueNTtkaDC9el7SmOVWaMr6S5bg5hbvy38BWqh0i2W7M3EVDTMSMzTB7iJMc4VY6K1gD2geETy14fBVk5qlWRlk4fiwg2KRFmuLjUA23HcxrsMxOzKtIPp4ylJ4uDfrfxCqHRqu0C99+sabvPMJcJzXMQxfh+KAuAmWNjm3Bz3IykG21xvfbUq4jZYIDcbSnfLhbu1lT/DdYAR8bO531+Vgd6OHc1TuXV+HYoblcqNa2/aLlbH3m9QxeM2VQa14xlMgwNZ+Tc1vgITd0brGzI365h4X+pUcHN85Mmbh2Jsvo5FZje3otsBr4XI8KtdX2UA3Ljad+JA+I8jvQ/o5VMEazex+/6f5bBzfMQ/WcOxYP5mWJyDvbMTax22B79PGxz9mgjLjKXOXN+XkKup0brEjL8fa59/Hl9UQ84ydWxkwGLDi5ssLZLWuMzGxGm+lDnbPzgMxdKP5hPh/lJ/Ruvm7Jtznz9E1OccR1ZJ4biutubARPktpYlrXvptb30y7Zme2Mp5f5mz5+PwVv4dqZ7ez3Gftu+d5Uo5wmzKP+HYoLl1ujAlrCwF9LE32N7agd1Vuq7Ma0k42nM+8NPP+0Do7Vgcbe999/KOSbHzLjmQleGvmHpZmKoBve7WO1t6or7S2HRcA7GAg6ZRmPyBVrejTy7l8f8A2/UqOXm3FKzD/huItbs2VzrtqQpFtO6tNKvsiqwOGNp/EgW7iQZ71V+G6gIk/I/fl/tZ8/PmIUWOCKOp7QcsthoRZSAb2/nWgHZU/wD8tpB0gg/SyG9GjN3GO7/Kkw/SG8jqqYGV7g3C5ixNr9kAbCm+ls9jSXYtg7yI+qQ6Ovgyb9x+/nusofymsjlZsIVI7sxDjUg5gw9o27q20tk0MQ0Ow9cO7oI+SKmwSNDfmD94+XdF1EOlPb+zDfX7Q7d1tN/3Vo/D3/8Ap8kvUQv2t3PXx+keKeelJc3/AHbsWP5/aub2t5bUvw+cv/JfuUfUPZIzXvxj6zb/AHKjHSjq39n0scv2hvfW2bTz7ql+H7Dt99kjsAe/32P3RH0o2TXDgvf9M5bXvbx2oPR/tWfbuupeoQH2db4/cffmue545v8ApqRoIsgQ5rlrkki3htSbsz0TtF0yujs3Z3opJmZsr/L+D4kDhnWQJFKEgDhI5AireSMOliL3uQTqD4V5HaVfZDhWpvbmeyXkS5hJjK4gyDpYxaF3mCpY/BaXGF4qxSOEoBDDDrEVJkZQZFAcqGZ7DMYwSBvrfXBgTsNofVqz+0fUs+YaCcp7IJaG7g8gE6GCLSd1mg3AKLB4TjAJMckGZlR8oEGl1IjAQrZSVLAAAXualiK3R5zQKrXwC5s/ttxGbtTJAIEkkgQgCruj5KtwnC8VIgVJIkSdciMyxlVESO4VrIxV8pcD84baW00Y2vsNrqrqjXOdTOYgF89pwEiXAFpcGyPZOsEm6aKto3qyMFxA4eJm6vE4fqUkMcixKzExsUW+ryFFuRc302FqpOI2S3FPDc1Krnc2WmoQBmGYxZjczoBtEnUynFTLxHwWdgsBxGH6IplWNA5gUWjZojiLO6Sx2ub6Eq9+7at2IxOycR6Q4MLnZesPttDslgWu0toC3vuoAVBHh4pTg+KKoKOpXEO1nXq8xYDPlLAXQsIwQgI1AFr0dfsV1QteDmpAWOeANJg2MZjLoNjMwnFSO9STycXeMT51KqiSjKsQNiVxOiqouwIV2HgddzVNOn0fpvOGAILnFtzU1g09SbA3Y24Ejs3CCapGb7d6kxMfF0RpDLFlw4jc5ep7FszILBbAgOxynuYb6VGm7YFWqKWR2arnbfrO1OUO1OhytEjgYOpTPWgTw7lZUYvFw4SAqI+seFjKzRllCqRHIyKqtlYAlc5N7BQRfWlzsBgK2IxLSXZGvGUZgCSQXNBJc2WmM2QCJLnA7n2nAN7lyHFuN4gPNEZs6kvGxyIM6mUynYG15CW0PfbbSvSYPZuELKdYU8ps4CXWOQMGp3NAFxzibqlz3XErCrsKtfRfRAf+yoPbJ4/rGr4p0yc5u16hA92/a90bxb9V0cP/AMYXZE/jWvKOqO3zc/xXvv4/BXwuY5x5VGKUyQsYcWqhY51LBgL3KkqRdTdhY+NacFjzR7FQZmHUETJte+/mEnNnTVeMPicdEGXF4zGYZt0kbrDAdPRcqM6m+minzFeqazCuIdQpMeN47Id3ibacxyKzkEiHEqPGpxuNBIJsRJGfRkhm6xT3aFGJ9xsd6KZ2S92TK0O4OGU/MBPtgLCxPNPEFOV8TiVZdCDI4I79Re966DMBgiJbTaQeQKhmcDqoRzZjhb+2YjT/AM5/9amdnYQ26pvgEZ3aypDzjj/W5/8AMb/Woeq8H/1N8AjM7ihOcMcP/wCvEf5rfu1oOzMIf/E3wCec8U/D808RkYLHicS7HZVdyxtqbAanSk/Z+BYMzqbQOYCA93FaMHMfEYiDNjZIgTYh2zuLHU9UblSCPzsvlWZ2BwNQRTpB3dYePPlKed28q5wXnLimIbJHiJnkysQFjDW1X0gFOm+vd76rr7K2dSE1GNaLak/dMPedF33LvBcZI7mbENPMfSvJKMLDcAZbI4EjWzCwFgRcnYniVq+FAaGU8rByGd3xIJA0udQrAHcV2vLnKmGwfahiQSEWZwtjra4XwXQafeSbk8vE7Qr17OcY4X5eb/SFMMAV3iHAsNPfrsPFITuWjBJttc2vpYVClia1OOrJGvvfofO+yZaDqsXi3I0LxCKG0ca5iIWUtAWcEXKgh1IJJBjddT310sJtfE4ev6Q0kO0zNkOidJMtOkEEEW01UHUwRC8Y5l5LxeDZjJEWjubSRglLanXUsugPpeG5r7Z0f6aYLHU20678tT+IRO7XSTytPgubVwzmmRoudr2yzIpoRQhRzVz8f7LVNq7/AAM/F/osbxxIYURGVgIi5SK5TshsxtdtLXPaPjXzfEM2B6Y+nVeRUcXAg9ZEvibxlv2bzAsJFgtg63LI0+CZHPxgZI1AHXoEXK8Yv1abllcZZBHb0rGwGmlN9Lo+cz336okmQ8xmduBF2l2mWRwMIBq6cU6EcVBM0SxvZYXJUxEfZoTGFGbtdkH0b3oqu2HAoViWyajROf8AMRnkx2bke1EIHW6jkq83GuKRDDBkRe0gi7KZg2Uqqvr2CUkPZa1wxPnWins/Y1d1YtcTY5rugiZJHGHNF2zBETaFEvqCFZiTjBywCJP7OsZAvF6LI8MZDFrPdWkGhOvnWR9To8JxDnn9oXbqmoc17pES2CGm4FuSlFXTh3KfjeMxIwST9UY2jkjnZ5mjMryf3YvGgDW7N80gBI22ua8Bh8H6e/D58wcxzAGB4Y1ntHtOJbN4hhtvjQNxdln4+f8AK56HneZjCk5BiieNuwiiT7E3XK3cd/vNdqp0cwzRVfQEPe147RJb29ZHnSNFUKxtO5Q43nbFydeA5VJ2Zio/NzaEKRbuABqzD9G8BS6pxZLqbQATvjS3fdBrOM81WXmjEBpnBUPMuR2yC+XLkIB7hYVpOxsK5tNhBimZAkxMzPj9tFHrHX5p+H5vxKCMKy/Z5LHIMxEX92rHvVb6Cq6mwcFULy5p7eaRJiXe0QNxdvKYquCw5HJJJ3Jv99dhoDQAFWm00L6M6IP/AAqD2yf/AGNXxXpjm9b1IiOzrPuhdHD/APGF2R934NeUfmvprz97d50V4TapEzu+fJNYXH+CRyqesjV42v1i2swNj9opG7aAEd4t+jY6cLWqtjI6HDQ8bTlP6cD3yE4BeXcR5Yx3DAcRw2YywupbKvaU5vRYJYg6SHKLm+W9zcLXeo7Qwm0D1WMZlcONjzvruvprG6VUWOZdqocF6Q43YpxbBwzMo1kaJOs7IOhRlsWJPiu5rTX2K9gzYGqWgnSTF+YOg+KiKnvBazw8u4pA2mHOoIu8bLcXBtYqdbW7t99jlB23h5/P4Gb/AAKl+zKzuIcC5fjUH6XIxGjBGJY+dsh9m40q6jjNtPJHVAd4j9Ui2mN65vFcY4bFb6NgesLLqZ5mYKxOoCLa9tLMbX8K6lPDY2p/zVYg/lAEjvM67xdQJaNAsufmWd7LEBFsAsAyAgG4BC+lr437vAVqbgaLR2+1zdf66fCFHMVrco8kzYlxNP8AZRBgS8qMxlOpISPRpLkWNiNzvY1i2htWlh29XT7To0BAy950HKykxhNyvXuU+TEjiKRh4oiCpbMyzTDMGzFhYpqMunde24avP4nG1HvzvIedQCLN+EeTrwVrWiF3OGw6xqEjVVUaBVFgB5AVyS976uZ0E8yeAVkWTxWcTbTTnyTS1Z2oGmh48T57uaEv3Vd2827U8Y3+QkmyRhlKsAVIsQdQQbggjvFDXPEkR4nnoiy875l6JsPNmfCt9Hc65bXhPlk3X/2mw10Nev2L042ls+1Q9YwSIJMjuss9TDMfpZeVczcr4jAuVnQ5e6VQTE1yQO3awbT0TrqK+s7C6YYHarYkMfplJHy0lYKuHcxYtesVCjmrn4/2WqbV23BuL8RhjjaLCllKRohEbNcKJVQ9nx6x9fKvn2OwWyK9Z4rVwHAuJGYCJyE68Mre4HmtbXVALBTni/E3youCscP3LEwsGjaIWW9spTUBRYkXG5vnGB2NSl7sT/yby5t4eHaxqHWOY2Bg7oeaod2ijix3E4YUb6IerjWNgxjYjLGjRqSQf0ZCTVz6GxsTiHN68Z3FwjMNXOBI8WfokDUA0UPEsdxOZsOJcO7NFaYB1crJ1VgWkVmy6CwYAC2Y3tmqeGwuxsMysaNUAP7BgtBbnmA0gTc+zJOgjRJzqhiQtLi/GeJBpD9HVxGYC7okh/uiMSgYucxt1mpPdr51hwOA2OWtAqkF/WQCWj2v2boy2vlsBoba2U3OqcOH3WVx7iWOmUwy4PK+II7QiYSSdWSQm+631FrgWvXS2fhdm0CK9HESykDYuBa3MNf/AJRYzBOig9zzYjVY2O5TxUeX7JmvGJOwCQoa5AJGmawJsO652rp4fbmCrEgVAIcW3IEkQJjWJIEnfZQNJw3KGTlrFqQDh5df2CRtm1I0HZ117tdqubtfAuBIrNtzHGPje1t9tUurdwS4fljFMSOokAVwjkobKTY66X0DKdO4g99J+2ME2P2rSSMwEi4vp8QR3iEdW7greO5LxcbBRGZC2YjqwTYI5jOYEAr2hoD4+OlZcP0iwFZheX5QIHatctzW3G28cOF0zRcNy5+RCpIYEEGxBFiCNwR4122uDhIuCq02mhfRnRB/4VB7ZP8A7Gr4t0wDztio1v8ADx90cIXRw8dWF2RB/Htryr21LiNDzt2u/wC/fN1fZNFUNa6Y7uPLmmhfx91OkHmI4c9zZ8/qLIKzcVh2j7SC8W7oBcgWN8inu7yo18Lk2NppGsyTGYQAeMzE87WPilMLmOZ+RsLi+0EXbUooEhudCJLEm36J02F1FW4Ha9fDdkk/E28P1F+9J1MFeUYzoyxWcpDLFKxBbqy+SbKttWjbT84WszbivXN25h2tDqjSBxF2yd0jfa8gKjqjuXPzcn45TY4Ofe2kbHXbcDbz2re3aWEcJFVviFDI7gtjhnRhj5VDsiwpmteUkHTc5QC1vdrWSvt3B07A5j/Df/CkKTiu95W6PosL9o6xyyBhkkcSIAxFiqR5ryG+3ZG51OgHBxe2KuKPVU5E7mwT4gW538Lk2tphtyvRMFwtmIeYAjKBlJJJOnafXKPRHYUZQbm7aEcsNLAckE6ze192/fq6TG4Ka2dah+1Ha4zx5c/PFOyADeotY/rIgbuO8Dn55IkQm1QA63Mc+Xncml1qwh4API8eJH+P83SsnWO1XhlUvyQNTa+6ec27++UrIsfxekGVCHWFv5ra8/rKLJutqrIqZC7v48+f6J2UOKw6yIySKrowIZWF1IO4IOhFVtdUa4vaYI33tqnZcTxfonwUpvEHgPfkYlT/AO17ge61ew2b0021hfzh4aNHXETHes78NTduXlvPHIs3D1R5JI3R2KrlzBtBe5Uiw08zX0zY/Sk7ZljqeQtAOsz5kLHUodXvVfhfO88GXq1jusaRagm6xljrYjcOwNRxnR3DYuesc6C5zrRqQPplBHNDaxbopYee5lkjdY4wIjH1adqyrEjxIlyxJFpWNyb3qp/RnDvpPpue45w4ONpJe5ribADVoiBACfXGZSYnnqZ0KGOOxBXY/nQrhz3/AKKA+2pUujeHpVOsD3TIO7c91ThxcfgkaxIjzpCkx3P8si5epiRRFLCoXNZVnChrAsQLZBYDQeFVYfoth6Ly/rHOJex5Ji7qZJGgHG+88UzXJtHH5pj8+TGRpMkYZs3jpnhSAka/oxqfbUx0ZwwpClmdEg7tz3VPq4juR1xmfOkJcdz/AIiSWKXLGpjLMVGfI5cFGLAsbXUkaW3NGG6L4SjQfRzOOYAScstDTLYIA0N7zdBruJlSnpDnEfVRxRpGFCoFMl4yoKBlbPcnKfzr6gGqvwphzV66pUc5xJLicvaBMwRlgCfdixhPrzEAJ/EOfyWcRYeMQyG8ivnJlvH1RLkPp2b+jbx3qNDou0Na6tVcajfZIjsdrPYEXvE5p4aINfgLKCPn+cdZ9nH2ypHpkIEChVVSxXRUADEZhc6+Fx6MYYlhzu7IPu9omSSSADcuJIBymBZLripPyhS9aJTDEWHWDeQAiR+tsQHsQGLCxFiCQb1X+FMOKJoio7KcvumC1uWQS2QSALgyCJaQn15mYXITylmZja7Ek2Fhc66AbCvTsYGNDRoBCoTKkhf/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26" name="Picture 2" descr="http://vle.whs.bucks.sch.uk/file.php/5790/images/oilNaturalGasFormation-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775" y="1212038"/>
            <a:ext cx="7620000" cy="52197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615608" y="6431738"/>
            <a:ext cx="6528391" cy="307777"/>
          </a:xfrm>
          <a:prstGeom prst="rect">
            <a:avLst/>
          </a:prstGeom>
        </p:spPr>
        <p:txBody>
          <a:bodyPr wrap="square">
            <a:spAutoFit/>
          </a:bodyPr>
          <a:lstStyle/>
          <a:p>
            <a:r>
              <a:rPr lang="en-GB" sz="1400" dirty="0">
                <a:hlinkClick r:id="rId4"/>
              </a:rPr>
              <a:t>https://vle.whs.bucks.sch.uk/mod/page/view.php?id=65176</a:t>
            </a:r>
            <a:endParaRPr lang="en-GB" sz="1400" dirty="0"/>
          </a:p>
        </p:txBody>
      </p:sp>
    </p:spTree>
    <p:extLst>
      <p:ext uri="{BB962C8B-B14F-4D97-AF65-F5344CB8AC3E}">
        <p14:creationId xmlns:p14="http://schemas.microsoft.com/office/powerpoint/2010/main" val="234300972"/>
      </p:ext>
    </p:extLst>
  </p:cSld>
  <p:clrMapOvr>
    <a:masterClrMapping/>
  </p:clrMapOvr>
  <mc:AlternateContent xmlns:mc="http://schemas.openxmlformats.org/markup-compatibility/2006" xmlns:p14="http://schemas.microsoft.com/office/powerpoint/2010/main">
    <mc:Choice Requires="p14">
      <p:transition spd="slow" p14:dur="2000" advTm="105651"/>
    </mc:Choice>
    <mc:Fallback xmlns="">
      <p:transition spd="slow" advTm="105651"/>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8088" y="1417637"/>
            <a:ext cx="5805968" cy="503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6"/>
          <p:cNvSpPr>
            <a:spLocks noGrp="1"/>
          </p:cNvSpPr>
          <p:nvPr>
            <p:ph type="title"/>
          </p:nvPr>
        </p:nvSpPr>
        <p:spPr/>
        <p:txBody>
          <a:bodyPr/>
          <a:lstStyle/>
          <a:p>
            <a:r>
              <a:rPr lang="en-GB" dirty="0"/>
              <a:t>Planktonic microorganisms</a:t>
            </a:r>
          </a:p>
        </p:txBody>
      </p:sp>
    </p:spTree>
    <p:extLst>
      <p:ext uri="{BB962C8B-B14F-4D97-AF65-F5344CB8AC3E}">
        <p14:creationId xmlns:p14="http://schemas.microsoft.com/office/powerpoint/2010/main" val="2392116010"/>
      </p:ext>
    </p:extLst>
  </p:cSld>
  <p:clrMapOvr>
    <a:masterClrMapping/>
  </p:clrMapOvr>
  <mc:AlternateContent xmlns:mc="http://schemas.openxmlformats.org/markup-compatibility/2006" xmlns:p14="http://schemas.microsoft.com/office/powerpoint/2010/main">
    <mc:Choice Requires="p14">
      <p:transition spd="slow" p14:dur="2000" advTm="33261"/>
    </mc:Choice>
    <mc:Fallback xmlns="">
      <p:transition spd="slow" advTm="33261"/>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3074" name="Picture 2" descr="Text Box:  &#10;Modified from Tissot and Welte, 1984. Petroleum formation and occurrence, Springer –Verlag, 699 pp.&#10;Summary of the oil formation process&#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9073" y="522803"/>
            <a:ext cx="5915616" cy="5947422"/>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p:cNvSpPr/>
          <p:nvPr/>
        </p:nvSpPr>
        <p:spPr>
          <a:xfrm>
            <a:off x="1676400" y="1249680"/>
            <a:ext cx="396240" cy="1188720"/>
          </a:xfrm>
          <a:prstGeom prst="ellipse">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Oval 5"/>
          <p:cNvSpPr/>
          <p:nvPr/>
        </p:nvSpPr>
        <p:spPr>
          <a:xfrm>
            <a:off x="1676400" y="3450794"/>
            <a:ext cx="396240" cy="1188720"/>
          </a:xfrm>
          <a:prstGeom prst="ellipse">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TextBox 4"/>
          <p:cNvSpPr txBox="1"/>
          <p:nvPr/>
        </p:nvSpPr>
        <p:spPr>
          <a:xfrm>
            <a:off x="146166" y="1520874"/>
            <a:ext cx="1412907" cy="646331"/>
          </a:xfrm>
          <a:prstGeom prst="rect">
            <a:avLst/>
          </a:prstGeom>
          <a:noFill/>
        </p:spPr>
        <p:txBody>
          <a:bodyPr wrap="square" rtlCol="0">
            <a:spAutoFit/>
          </a:bodyPr>
          <a:lstStyle/>
          <a:p>
            <a:r>
              <a:rPr lang="en-GB" dirty="0"/>
              <a:t>50°C/</a:t>
            </a:r>
          </a:p>
          <a:p>
            <a:r>
              <a:rPr lang="en-GB" dirty="0"/>
              <a:t>up to 300m</a:t>
            </a:r>
          </a:p>
        </p:txBody>
      </p:sp>
      <p:sp>
        <p:nvSpPr>
          <p:cNvPr id="8" name="TextBox 7"/>
          <p:cNvSpPr txBox="1"/>
          <p:nvPr/>
        </p:nvSpPr>
        <p:spPr>
          <a:xfrm>
            <a:off x="235082" y="3708035"/>
            <a:ext cx="1441318" cy="923330"/>
          </a:xfrm>
          <a:prstGeom prst="rect">
            <a:avLst/>
          </a:prstGeom>
          <a:noFill/>
        </p:spPr>
        <p:txBody>
          <a:bodyPr wrap="square" rtlCol="0">
            <a:spAutoFit/>
          </a:bodyPr>
          <a:lstStyle/>
          <a:p>
            <a:r>
              <a:rPr lang="en-GB" dirty="0"/>
              <a:t>Up to 150°C /</a:t>
            </a:r>
          </a:p>
          <a:p>
            <a:r>
              <a:rPr lang="en-GB" dirty="0"/>
              <a:t>1500 </a:t>
            </a:r>
            <a:r>
              <a:rPr lang="en-GB" dirty="0" err="1"/>
              <a:t>atm</a:t>
            </a:r>
            <a:r>
              <a:rPr lang="en-GB" dirty="0"/>
              <a:t>/</a:t>
            </a:r>
          </a:p>
          <a:p>
            <a:r>
              <a:rPr lang="en-GB" dirty="0"/>
              <a:t>3.5-5 km</a:t>
            </a:r>
          </a:p>
        </p:txBody>
      </p:sp>
      <p:sp>
        <p:nvSpPr>
          <p:cNvPr id="7" name="TextBox 6"/>
          <p:cNvSpPr txBox="1"/>
          <p:nvPr/>
        </p:nvSpPr>
        <p:spPr>
          <a:xfrm>
            <a:off x="571918" y="5347869"/>
            <a:ext cx="1372940" cy="369332"/>
          </a:xfrm>
          <a:prstGeom prst="rect">
            <a:avLst/>
          </a:prstGeom>
          <a:noFill/>
        </p:spPr>
        <p:txBody>
          <a:bodyPr wrap="none" rtlCol="0">
            <a:spAutoFit/>
          </a:bodyPr>
          <a:lstStyle/>
          <a:p>
            <a:r>
              <a:rPr lang="en-GB" dirty="0" err="1"/>
              <a:t>Metagenesis</a:t>
            </a:r>
            <a:endParaRPr lang="en-GB" dirty="0"/>
          </a:p>
        </p:txBody>
      </p:sp>
      <p:sp>
        <p:nvSpPr>
          <p:cNvPr id="12" name="Oval 11"/>
          <p:cNvSpPr/>
          <p:nvPr/>
        </p:nvSpPr>
        <p:spPr>
          <a:xfrm>
            <a:off x="571918" y="5347869"/>
            <a:ext cx="1459523" cy="378176"/>
          </a:xfrm>
          <a:prstGeom prst="ellipse">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TextBox 8"/>
          <p:cNvSpPr txBox="1"/>
          <p:nvPr/>
        </p:nvSpPr>
        <p:spPr>
          <a:xfrm>
            <a:off x="129572" y="5767747"/>
            <a:ext cx="1811137" cy="923330"/>
          </a:xfrm>
          <a:prstGeom prst="rect">
            <a:avLst/>
          </a:prstGeom>
          <a:noFill/>
        </p:spPr>
        <p:txBody>
          <a:bodyPr wrap="none" rtlCol="0">
            <a:spAutoFit/>
          </a:bodyPr>
          <a:lstStyle/>
          <a:p>
            <a:r>
              <a:rPr lang="en-GB" dirty="0"/>
              <a:t>Below 4 km/</a:t>
            </a:r>
          </a:p>
          <a:p>
            <a:r>
              <a:rPr lang="en-GB" dirty="0"/>
              <a:t>Above 1500 </a:t>
            </a:r>
            <a:r>
              <a:rPr lang="en-GB" dirty="0" err="1"/>
              <a:t>atm</a:t>
            </a:r>
            <a:r>
              <a:rPr lang="en-GB" dirty="0"/>
              <a:t>/</a:t>
            </a:r>
          </a:p>
          <a:p>
            <a:r>
              <a:rPr lang="en-GB" dirty="0"/>
              <a:t>Above 150°C</a:t>
            </a:r>
          </a:p>
        </p:txBody>
      </p:sp>
    </p:spTree>
    <p:custDataLst>
      <p:tags r:id="rId1"/>
    </p:custDataLst>
    <p:extLst>
      <p:ext uri="{BB962C8B-B14F-4D97-AF65-F5344CB8AC3E}">
        <p14:creationId xmlns:p14="http://schemas.microsoft.com/office/powerpoint/2010/main" val="468549772"/>
      </p:ext>
    </p:extLst>
  </p:cSld>
  <p:clrMapOvr>
    <a:masterClrMapping/>
  </p:clrMapOvr>
  <mc:AlternateContent xmlns:mc="http://schemas.openxmlformats.org/markup-compatibility/2006" xmlns:p14="http://schemas.microsoft.com/office/powerpoint/2010/main">
    <mc:Choice Requires="p14">
      <p:transition spd="slow" p14:dur="2000" advTm="186498"/>
    </mc:Choice>
    <mc:Fallback xmlns="">
      <p:transition spd="slow" advTm="18649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P spid="12" grpId="0" animBg="1"/>
      <p:bldP spid="12"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Van Krev 2.jpg"/>
          <p:cNvPicPr>
            <a:picLocks noChangeAspect="1"/>
          </p:cNvPicPr>
          <p:nvPr/>
        </p:nvPicPr>
        <p:blipFill>
          <a:blip r:embed="rId3">
            <a:extLst>
              <a:ext uri="{28A0092B-C50C-407E-A947-70E740481C1C}">
                <a14:useLocalDpi xmlns:a14="http://schemas.microsoft.com/office/drawing/2010/main" val="0"/>
              </a:ext>
            </a:extLst>
          </a:blip>
          <a:srcRect l="33333" r="30000"/>
          <a:stretch>
            <a:fillRect/>
          </a:stretch>
        </p:blipFill>
        <p:spPr bwMode="auto">
          <a:xfrm>
            <a:off x="3581400" y="457200"/>
            <a:ext cx="4343400" cy="601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TextBox 3"/>
          <p:cNvSpPr txBox="1">
            <a:spLocks noChangeArrowheads="1"/>
          </p:cNvSpPr>
          <p:nvPr/>
        </p:nvSpPr>
        <p:spPr bwMode="auto">
          <a:xfrm>
            <a:off x="457200" y="1219200"/>
            <a:ext cx="297656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3200" dirty="0"/>
              <a:t>Oil and</a:t>
            </a:r>
          </a:p>
          <a:p>
            <a:pPr eaLnBrk="1" hangingPunct="1"/>
            <a:r>
              <a:rPr lang="en-GB" altLang="en-US" sz="3200" dirty="0"/>
              <a:t>gas formation  </a:t>
            </a:r>
          </a:p>
          <a:p>
            <a:pPr eaLnBrk="1" hangingPunct="1"/>
            <a:r>
              <a:rPr lang="en-GB" altLang="en-US" sz="3200" dirty="0"/>
              <a:t>with temperature</a:t>
            </a:r>
          </a:p>
        </p:txBody>
      </p:sp>
    </p:spTree>
    <p:extLst>
      <p:ext uri="{BB962C8B-B14F-4D97-AF65-F5344CB8AC3E}">
        <p14:creationId xmlns:p14="http://schemas.microsoft.com/office/powerpoint/2010/main" val="2787399577"/>
      </p:ext>
    </p:extLst>
  </p:cSld>
  <p:clrMapOvr>
    <a:masterClrMapping/>
  </p:clrMapOvr>
  <mc:AlternateContent xmlns:mc="http://schemas.openxmlformats.org/markup-compatibility/2006" xmlns:p14="http://schemas.microsoft.com/office/powerpoint/2010/main">
    <mc:Choice Requires="p14">
      <p:transition spd="slow" p14:dur="2000" advTm="34649"/>
    </mc:Choice>
    <mc:Fallback xmlns="">
      <p:transition spd="slow" advTm="34649"/>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474237" y="783772"/>
            <a:ext cx="6410129" cy="5512711"/>
          </a:xfrm>
          <a:prstGeom prst="rect">
            <a:avLst/>
          </a:prstGeom>
        </p:spPr>
      </p:pic>
      <p:sp>
        <p:nvSpPr>
          <p:cNvPr id="5" name="Title 4"/>
          <p:cNvSpPr>
            <a:spLocks noGrp="1"/>
          </p:cNvSpPr>
          <p:nvPr>
            <p:ph type="title"/>
          </p:nvPr>
        </p:nvSpPr>
        <p:spPr>
          <a:xfrm>
            <a:off x="186612" y="0"/>
            <a:ext cx="8229600" cy="1143000"/>
          </a:xfrm>
        </p:spPr>
        <p:txBody>
          <a:bodyPr>
            <a:noAutofit/>
          </a:bodyPr>
          <a:lstStyle/>
          <a:p>
            <a:pPr algn="l"/>
            <a:r>
              <a:rPr lang="en-GB" sz="3200" dirty="0"/>
              <a:t>Average accumulation rates over geological time</a:t>
            </a:r>
          </a:p>
        </p:txBody>
      </p:sp>
      <p:sp>
        <p:nvSpPr>
          <p:cNvPr id="6" name="Rectangle 5"/>
          <p:cNvSpPr/>
          <p:nvPr/>
        </p:nvSpPr>
        <p:spPr>
          <a:xfrm>
            <a:off x="2472612" y="6396335"/>
            <a:ext cx="6671388" cy="461665"/>
          </a:xfrm>
          <a:prstGeom prst="rect">
            <a:avLst/>
          </a:prstGeom>
        </p:spPr>
        <p:txBody>
          <a:bodyPr wrap="square">
            <a:spAutoFit/>
          </a:bodyPr>
          <a:lstStyle/>
          <a:p>
            <a:r>
              <a:rPr lang="en-GB" sz="1200" dirty="0"/>
              <a:t>https://www.researchgate.net/publication/228663031_Exponential_growth_energetic_Hubbert_cycles_and_the_advancement_of_technology</a:t>
            </a:r>
          </a:p>
        </p:txBody>
      </p:sp>
    </p:spTree>
    <p:extLst>
      <p:ext uri="{BB962C8B-B14F-4D97-AF65-F5344CB8AC3E}">
        <p14:creationId xmlns:p14="http://schemas.microsoft.com/office/powerpoint/2010/main" val="3451421882"/>
      </p:ext>
    </p:extLst>
  </p:cSld>
  <p:clrMapOvr>
    <a:masterClrMapping/>
  </p:clrMapOvr>
  <mc:AlternateContent xmlns:mc="http://schemas.openxmlformats.org/markup-compatibility/2006" xmlns:p14="http://schemas.microsoft.com/office/powerpoint/2010/main">
    <mc:Choice Requires="p14">
      <p:transition spd="slow" p14:dur="2000" advTm="52795"/>
    </mc:Choice>
    <mc:Fallback xmlns="">
      <p:transition spd="slow" advTm="52795"/>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457200"/>
            <a:ext cx="8229600" cy="4525963"/>
          </a:xfrm>
        </p:spPr>
        <p:txBody>
          <a:bodyPr>
            <a:normAutofit/>
          </a:bodyPr>
          <a:lstStyle/>
          <a:p>
            <a:pPr>
              <a:spcBef>
                <a:spcPct val="50000"/>
              </a:spcBef>
            </a:pPr>
            <a:r>
              <a:rPr lang="en-GB" altLang="en-US" sz="2800" dirty="0">
                <a:solidFill>
                  <a:srgbClr val="FF0000"/>
                </a:solidFill>
              </a:rPr>
              <a:t>Natural gas </a:t>
            </a:r>
            <a:r>
              <a:rPr lang="en-GB" altLang="en-US" sz="2800" dirty="0"/>
              <a:t>is &gt;99% methane (CH</a:t>
            </a:r>
            <a:r>
              <a:rPr lang="en-GB" altLang="en-US" sz="2800" baseline="-25000" dirty="0"/>
              <a:t>4</a:t>
            </a:r>
            <a:r>
              <a:rPr lang="en-GB" altLang="en-US" sz="2800" dirty="0"/>
              <a:t>), with minor ethane (C</a:t>
            </a:r>
            <a:r>
              <a:rPr lang="en-GB" altLang="en-US" sz="2800" baseline="-25000" dirty="0"/>
              <a:t>2</a:t>
            </a:r>
            <a:r>
              <a:rPr lang="en-GB" altLang="en-US" sz="2800" dirty="0"/>
              <a:t>H</a:t>
            </a:r>
            <a:r>
              <a:rPr lang="en-GB" altLang="en-US" sz="2800" baseline="-25000" dirty="0"/>
              <a:t>6</a:t>
            </a:r>
            <a:r>
              <a:rPr lang="en-GB" altLang="en-US" sz="2800" dirty="0"/>
              <a:t>), propane (C</a:t>
            </a:r>
            <a:r>
              <a:rPr lang="en-GB" altLang="en-US" sz="2800" baseline="-25000" dirty="0"/>
              <a:t>3</a:t>
            </a:r>
            <a:r>
              <a:rPr lang="en-GB" altLang="en-US" sz="2800" dirty="0"/>
              <a:t>H</a:t>
            </a:r>
            <a:r>
              <a:rPr lang="en-GB" altLang="en-US" sz="2800" baseline="-25000" dirty="0"/>
              <a:t>8</a:t>
            </a:r>
            <a:r>
              <a:rPr lang="en-GB" altLang="en-US" sz="2800" dirty="0"/>
              <a:t>), butane (C</a:t>
            </a:r>
            <a:r>
              <a:rPr lang="en-GB" altLang="en-US" sz="2800" baseline="-25000" dirty="0"/>
              <a:t>4</a:t>
            </a:r>
            <a:r>
              <a:rPr lang="en-GB" altLang="en-US" sz="2800" dirty="0"/>
              <a:t>H</a:t>
            </a:r>
            <a:r>
              <a:rPr lang="en-GB" altLang="en-US" sz="2800" baseline="-25000" dirty="0"/>
              <a:t>10</a:t>
            </a:r>
            <a:r>
              <a:rPr lang="en-GB" altLang="en-US" sz="2800" dirty="0"/>
              <a:t>), plus CO</a:t>
            </a:r>
            <a:r>
              <a:rPr lang="en-GB" altLang="en-US" sz="2800" baseline="-25000" dirty="0"/>
              <a:t>2</a:t>
            </a:r>
            <a:r>
              <a:rPr lang="en-GB" altLang="en-US" sz="2800" dirty="0"/>
              <a:t>, H</a:t>
            </a:r>
            <a:r>
              <a:rPr lang="en-GB" altLang="en-US" sz="2800" baseline="-25000" dirty="0"/>
              <a:t>2</a:t>
            </a:r>
            <a:r>
              <a:rPr lang="en-GB" altLang="en-US" sz="2800" dirty="0"/>
              <a:t>S, N</a:t>
            </a:r>
            <a:r>
              <a:rPr lang="en-GB" altLang="en-US" sz="2800" baseline="-25000" dirty="0"/>
              <a:t>2</a:t>
            </a:r>
            <a:r>
              <a:rPr lang="en-GB" altLang="en-US" sz="2800" dirty="0"/>
              <a:t>, H</a:t>
            </a:r>
            <a:r>
              <a:rPr lang="en-GB" altLang="en-US" sz="2800" baseline="-25000" dirty="0"/>
              <a:t>2</a:t>
            </a:r>
            <a:r>
              <a:rPr lang="en-GB" altLang="en-US" sz="2800" dirty="0"/>
              <a:t>, NH</a:t>
            </a:r>
            <a:r>
              <a:rPr lang="en-GB" altLang="en-US" sz="2800" baseline="-25000" dirty="0"/>
              <a:t>3</a:t>
            </a:r>
          </a:p>
          <a:p>
            <a:pPr lvl="1">
              <a:spcBef>
                <a:spcPct val="50000"/>
              </a:spcBef>
            </a:pPr>
            <a:r>
              <a:rPr lang="en-GB" altLang="en-US" sz="2400" dirty="0"/>
              <a:t>Terrestrial or marine environments</a:t>
            </a:r>
            <a:endParaRPr lang="en-GB" altLang="en-US" sz="2400" baseline="-25000" dirty="0"/>
          </a:p>
          <a:p>
            <a:pPr>
              <a:spcBef>
                <a:spcPct val="50000"/>
              </a:spcBef>
            </a:pPr>
            <a:r>
              <a:rPr lang="en-GB" altLang="en-US" sz="2800" dirty="0">
                <a:solidFill>
                  <a:srgbClr val="FF0000"/>
                </a:solidFill>
              </a:rPr>
              <a:t>Petroleum</a:t>
            </a:r>
            <a:r>
              <a:rPr lang="en-GB" altLang="en-US" sz="2800" dirty="0"/>
              <a:t> is a mixture of numerous hydrocarbon compounds (basis for lubricants, plus &gt;7000 organic compounds, plus “petrol”)</a:t>
            </a:r>
          </a:p>
          <a:p>
            <a:pPr lvl="1">
              <a:spcBef>
                <a:spcPct val="50000"/>
              </a:spcBef>
            </a:pPr>
            <a:r>
              <a:rPr lang="en-GB" altLang="en-US" sz="2400" dirty="0"/>
              <a:t>Marine environments</a:t>
            </a:r>
          </a:p>
          <a:p>
            <a:endParaRPr lang="en-GB" sz="2800" dirty="0"/>
          </a:p>
          <a:p>
            <a:endParaRPr lang="en-GB" sz="2800" dirty="0"/>
          </a:p>
        </p:txBody>
      </p:sp>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35" y="4366003"/>
            <a:ext cx="4328205" cy="2491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5"/>
          <a:stretch>
            <a:fillRect/>
          </a:stretch>
        </p:blipFill>
        <p:spPr>
          <a:xfrm>
            <a:off x="4182496" y="4309296"/>
            <a:ext cx="4857069" cy="2548704"/>
          </a:xfrm>
          <a:prstGeom prst="rect">
            <a:avLst/>
          </a:prstGeom>
        </p:spPr>
      </p:pic>
    </p:spTree>
    <p:custDataLst>
      <p:tags r:id="rId1"/>
    </p:custDataLst>
    <p:extLst>
      <p:ext uri="{BB962C8B-B14F-4D97-AF65-F5344CB8AC3E}">
        <p14:creationId xmlns:p14="http://schemas.microsoft.com/office/powerpoint/2010/main" val="1550252303"/>
      </p:ext>
    </p:extLst>
  </p:cSld>
  <p:clrMapOvr>
    <a:masterClrMapping/>
  </p:clrMapOvr>
  <mc:AlternateContent xmlns:mc="http://schemas.openxmlformats.org/markup-compatibility/2006" xmlns:p14="http://schemas.microsoft.com/office/powerpoint/2010/main">
    <mc:Choice Requires="p14">
      <p:transition spd="slow" p14:dur="2000" advTm="93317"/>
    </mc:Choice>
    <mc:Fallback xmlns="">
      <p:transition spd="slow" advTm="933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600200"/>
            <a:ext cx="8153400" cy="347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normAutofit/>
          </a:bodyPr>
          <a:lstStyle/>
          <a:p>
            <a:r>
              <a:rPr lang="en-GB" dirty="0"/>
              <a:t>Simple oil and gas trap</a:t>
            </a:r>
          </a:p>
        </p:txBody>
      </p:sp>
    </p:spTree>
    <p:extLst>
      <p:ext uri="{BB962C8B-B14F-4D97-AF65-F5344CB8AC3E}">
        <p14:creationId xmlns:p14="http://schemas.microsoft.com/office/powerpoint/2010/main" val="2988535524"/>
      </p:ext>
    </p:extLst>
  </p:cSld>
  <p:clrMapOvr>
    <a:masterClrMapping/>
  </p:clrMapOvr>
  <mc:AlternateContent xmlns:mc="http://schemas.openxmlformats.org/markup-compatibility/2006" xmlns:p14="http://schemas.microsoft.com/office/powerpoint/2010/main">
    <mc:Choice Requires="p14">
      <p:transition spd="slow" p14:dur="2000" advTm="120604"/>
    </mc:Choice>
    <mc:Fallback xmlns="">
      <p:transition spd="slow" advTm="120604"/>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6" descr="Photomontage with 6, 7 and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63671"/>
            <a:ext cx="5068101"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GB" b="1" dirty="0"/>
              <a:t>Source rock </a:t>
            </a:r>
            <a:r>
              <a:rPr lang="en-GB" dirty="0"/>
              <a:t>e.g. </a:t>
            </a:r>
            <a:r>
              <a:rPr lang="en-GB" dirty="0" err="1"/>
              <a:t>Kimmeridge</a:t>
            </a:r>
            <a:r>
              <a:rPr lang="en-GB" dirty="0"/>
              <a:t> clay</a:t>
            </a:r>
          </a:p>
        </p:txBody>
      </p:sp>
      <p:sp>
        <p:nvSpPr>
          <p:cNvPr id="3" name="Content Placeholder 2"/>
          <p:cNvSpPr>
            <a:spLocks noGrp="1"/>
          </p:cNvSpPr>
          <p:nvPr>
            <p:ph sz="half" idx="1"/>
          </p:nvPr>
        </p:nvSpPr>
        <p:spPr>
          <a:xfrm>
            <a:off x="761999" y="1227667"/>
            <a:ext cx="6942667" cy="4525963"/>
          </a:xfrm>
        </p:spPr>
        <p:txBody>
          <a:bodyPr/>
          <a:lstStyle/>
          <a:p>
            <a:r>
              <a:rPr lang="en-GB" dirty="0"/>
              <a:t>Jurassic in age </a:t>
            </a:r>
          </a:p>
          <a:p>
            <a:r>
              <a:rPr lang="en-GB" dirty="0"/>
              <a:t>Major source rock for the North Sea </a:t>
            </a:r>
          </a:p>
        </p:txBody>
      </p:sp>
      <p:pic>
        <p:nvPicPr>
          <p:cNvPr id="1026" name="Picture 2" descr="http://www.southampton.ac.uk/~imw/jpg-Kimmeridge/13KM-Kimmeridge-Outcrop-After-Gallois-final-m.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2375" y="2803143"/>
            <a:ext cx="4111625" cy="405485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54198868"/>
      </p:ext>
    </p:extLst>
  </p:cSld>
  <p:clrMapOvr>
    <a:masterClrMapping/>
  </p:clrMapOvr>
  <mc:AlternateContent xmlns:mc="http://schemas.openxmlformats.org/markup-compatibility/2006" xmlns:p14="http://schemas.microsoft.com/office/powerpoint/2010/main">
    <mc:Choice Requires="p14">
      <p:transition spd="slow" p14:dur="2000" advTm="32493"/>
    </mc:Choice>
    <mc:Fallback xmlns="">
      <p:transition spd="slow" advTm="324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3" descr="Base Blackstone x4c very good.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035580"/>
            <a:ext cx="7508875" cy="489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txBox="1">
            <a:spLocks noChangeArrowheads="1"/>
          </p:cNvSpPr>
          <p:nvPr/>
        </p:nvSpPr>
        <p:spPr bwMode="auto">
          <a:xfrm>
            <a:off x="457200" y="180975"/>
            <a:ext cx="7772400" cy="533400"/>
          </a:xfrm>
          <a:prstGeom prst="rect">
            <a:avLst/>
          </a:prstGeom>
          <a:noFill/>
          <a:ln w="9525">
            <a:noFill/>
            <a:miter lim="800000"/>
            <a:headEnd/>
            <a:tailEnd/>
          </a:ln>
        </p:spPr>
        <p:txBody>
          <a:bodyPr anchor="ctr"/>
          <a:lstStyle/>
          <a:p>
            <a:pPr>
              <a:defRPr/>
            </a:pPr>
            <a:r>
              <a:rPr lang="en-US" sz="3200" kern="0" dirty="0">
                <a:solidFill>
                  <a:srgbClr val="FFC000"/>
                </a:solidFill>
                <a:latin typeface="+mj-lt"/>
                <a:ea typeface="+mj-ea"/>
                <a:cs typeface="+mj-cs"/>
              </a:rPr>
              <a:t>Typical Source Rock</a:t>
            </a:r>
          </a:p>
        </p:txBody>
      </p:sp>
    </p:spTree>
    <p:extLst>
      <p:ext uri="{BB962C8B-B14F-4D97-AF65-F5344CB8AC3E}">
        <p14:creationId xmlns:p14="http://schemas.microsoft.com/office/powerpoint/2010/main" val="3659614414"/>
      </p:ext>
    </p:extLst>
  </p:cSld>
  <p:clrMapOvr>
    <a:masterClrMapping/>
  </p:clrMapOvr>
  <mc:AlternateContent xmlns:mc="http://schemas.openxmlformats.org/markup-compatibility/2006" xmlns:p14="http://schemas.microsoft.com/office/powerpoint/2010/main">
    <mc:Choice Requires="p14">
      <p:transition spd="slow" p14:dur="2000" advTm="12234"/>
    </mc:Choice>
    <mc:Fallback xmlns="">
      <p:transition spd="slow" advTm="12234"/>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81000" y="152400"/>
            <a:ext cx="8077200" cy="1066800"/>
          </a:xfrm>
        </p:spPr>
        <p:txBody>
          <a:bodyPr/>
          <a:lstStyle/>
          <a:p>
            <a:pPr eaLnBrk="1" hangingPunct="1"/>
            <a:r>
              <a:rPr lang="en-US" altLang="en-US" dirty="0"/>
              <a:t>Reservoir rocks</a:t>
            </a:r>
          </a:p>
        </p:txBody>
      </p:sp>
      <p:sp>
        <p:nvSpPr>
          <p:cNvPr id="5123" name="Rectangle 3"/>
          <p:cNvSpPr>
            <a:spLocks noGrp="1" noChangeArrowheads="1"/>
          </p:cNvSpPr>
          <p:nvPr>
            <p:ph type="body" idx="1"/>
          </p:nvPr>
        </p:nvSpPr>
        <p:spPr>
          <a:xfrm>
            <a:off x="457200" y="1143000"/>
            <a:ext cx="8458200" cy="5715000"/>
          </a:xfrm>
        </p:spPr>
        <p:txBody>
          <a:bodyPr>
            <a:normAutofit/>
          </a:bodyPr>
          <a:lstStyle/>
          <a:p>
            <a:pPr marL="0" indent="0" eaLnBrk="1" hangingPunct="1">
              <a:buNone/>
            </a:pPr>
            <a:r>
              <a:rPr lang="en-GB" altLang="en-US" sz="3200" b="1" dirty="0"/>
              <a:t>Require the followin</a:t>
            </a:r>
            <a:r>
              <a:rPr lang="en-GB" altLang="en-US" b="1" dirty="0"/>
              <a:t>g properties:</a:t>
            </a:r>
          </a:p>
          <a:p>
            <a:pPr marL="0" indent="0" eaLnBrk="1" hangingPunct="1">
              <a:buNone/>
            </a:pPr>
            <a:endParaRPr lang="en-GB" altLang="en-US" sz="3200" b="1" dirty="0"/>
          </a:p>
          <a:p>
            <a:pPr marL="0" indent="0" eaLnBrk="1" hangingPunct="1">
              <a:buNone/>
            </a:pPr>
            <a:r>
              <a:rPr lang="en-GB" altLang="en-US" sz="3200" b="1" dirty="0"/>
              <a:t>Porosity</a:t>
            </a:r>
            <a:endParaRPr lang="en-GB" altLang="en-US" dirty="0"/>
          </a:p>
          <a:p>
            <a:pPr eaLnBrk="1" hangingPunct="1"/>
            <a:r>
              <a:rPr lang="en-GB" altLang="en-US" dirty="0"/>
              <a:t>Void space as opposed to solid phase within a rock The void space maybe </a:t>
            </a:r>
            <a:r>
              <a:rPr lang="en-GB" altLang="en-US" dirty="0" err="1"/>
              <a:t>infilled</a:t>
            </a:r>
            <a:r>
              <a:rPr lang="en-GB" altLang="en-US" dirty="0"/>
              <a:t> by either fluids (e.g. oil, brine, </a:t>
            </a:r>
            <a:r>
              <a:rPr lang="en-GB" altLang="en-US" dirty="0" err="1"/>
              <a:t>etc</a:t>
            </a:r>
            <a:r>
              <a:rPr lang="en-GB" altLang="en-US" dirty="0"/>
              <a:t>) or gasses (e.g. atmosphere, hydrocarbons or gas).</a:t>
            </a:r>
            <a:endParaRPr lang="en-GB" altLang="en-US" sz="2400" dirty="0"/>
          </a:p>
          <a:p>
            <a:pPr eaLnBrk="1" hangingPunct="1"/>
            <a:endParaRPr lang="en-GB" altLang="en-US" dirty="0"/>
          </a:p>
          <a:p>
            <a:pPr lvl="2" algn="r" eaLnBrk="1" hangingPunct="1">
              <a:buFontTx/>
              <a:buNone/>
            </a:pPr>
            <a:r>
              <a:rPr lang="en-GB" altLang="en-US" sz="2000" dirty="0" err="1">
                <a:latin typeface="Times" pitchFamily="112" charset="0"/>
              </a:rPr>
              <a:t>Pettijohn</a:t>
            </a:r>
            <a:r>
              <a:rPr lang="en-GB" altLang="en-US" sz="2000" dirty="0">
                <a:latin typeface="Times" pitchFamily="112" charset="0"/>
              </a:rPr>
              <a:t> </a:t>
            </a:r>
            <a:r>
              <a:rPr lang="en-GB" altLang="en-US" sz="2000" i="1" dirty="0">
                <a:latin typeface="Times" pitchFamily="112" charset="0"/>
              </a:rPr>
              <a:t>et al.</a:t>
            </a:r>
            <a:r>
              <a:rPr lang="en-GB" altLang="en-US" sz="2000" dirty="0">
                <a:latin typeface="Times" pitchFamily="112" charset="0"/>
              </a:rPr>
              <a:t> (1972)</a:t>
            </a:r>
          </a:p>
          <a:p>
            <a:pPr lvl="2" algn="r" eaLnBrk="1" hangingPunct="1">
              <a:buFontTx/>
              <a:buNone/>
            </a:pPr>
            <a:endParaRPr lang="en-GB" altLang="en-US" sz="2000" dirty="0">
              <a:latin typeface="Times" pitchFamily="112" charset="0"/>
            </a:endParaRPr>
          </a:p>
        </p:txBody>
      </p:sp>
    </p:spTree>
    <p:custDataLst>
      <p:tags r:id="rId1"/>
    </p:custDataLst>
    <p:extLst>
      <p:ext uri="{BB962C8B-B14F-4D97-AF65-F5344CB8AC3E}">
        <p14:creationId xmlns:p14="http://schemas.microsoft.com/office/powerpoint/2010/main" val="1090138002"/>
      </p:ext>
    </p:extLst>
  </p:cSld>
  <p:clrMapOvr>
    <a:masterClrMapping/>
  </p:clrMapOvr>
  <mc:AlternateContent xmlns:mc="http://schemas.openxmlformats.org/markup-compatibility/2006" xmlns:p14="http://schemas.microsoft.com/office/powerpoint/2010/main">
    <mc:Choice Requires="p14">
      <p:transition spd="slow" p14:dur="2000" advTm="78759"/>
    </mc:Choice>
    <mc:Fallback xmlns="">
      <p:transition spd="slow" advTm="7875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457200" y="914400"/>
            <a:ext cx="8458200" cy="5715000"/>
          </a:xfrm>
        </p:spPr>
        <p:txBody>
          <a:bodyPr>
            <a:normAutofit/>
          </a:bodyPr>
          <a:lstStyle/>
          <a:p>
            <a:pPr marL="0" indent="0" eaLnBrk="1" hangingPunct="1">
              <a:lnSpc>
                <a:spcPct val="90000"/>
              </a:lnSpc>
              <a:buNone/>
            </a:pPr>
            <a:r>
              <a:rPr lang="en-GB" altLang="en-US" sz="3600" b="1" dirty="0"/>
              <a:t>Permeability</a:t>
            </a:r>
            <a:r>
              <a:rPr lang="en-GB" altLang="en-US" dirty="0"/>
              <a:t> </a:t>
            </a:r>
          </a:p>
          <a:p>
            <a:pPr eaLnBrk="1" hangingPunct="1">
              <a:lnSpc>
                <a:spcPct val="90000"/>
              </a:lnSpc>
            </a:pPr>
            <a:r>
              <a:rPr lang="en-US" altLang="en-US" sz="3600" dirty="0"/>
              <a:t>the relative ability of a material (rock) to transmit fluids through connected pore space</a:t>
            </a:r>
          </a:p>
          <a:p>
            <a:pPr eaLnBrk="1" hangingPunct="1">
              <a:lnSpc>
                <a:spcPct val="90000"/>
              </a:lnSpc>
            </a:pPr>
            <a:endParaRPr lang="en-US" altLang="en-US" sz="3600" dirty="0">
              <a:solidFill>
                <a:srgbClr val="FB1F00"/>
              </a:solidFill>
            </a:endParaRPr>
          </a:p>
          <a:p>
            <a:pPr eaLnBrk="1" hangingPunct="1">
              <a:lnSpc>
                <a:spcPct val="90000"/>
              </a:lnSpc>
            </a:pPr>
            <a:r>
              <a:rPr lang="en-US" altLang="en-US" sz="3600" dirty="0">
                <a:solidFill>
                  <a:srgbClr val="FB1F00"/>
                </a:solidFill>
              </a:rPr>
              <a:t>Rocks with similar porosity do not necessarily have the same </a:t>
            </a:r>
            <a:r>
              <a:rPr lang="en-US" altLang="en-US" sz="3600" dirty="0">
                <a:solidFill>
                  <a:srgbClr val="D80000"/>
                </a:solidFill>
              </a:rPr>
              <a:t>permeability</a:t>
            </a:r>
            <a:endParaRPr lang="en-US" altLang="en-US" dirty="0">
              <a:solidFill>
                <a:srgbClr val="D80000"/>
              </a:solidFill>
            </a:endParaRPr>
          </a:p>
        </p:txBody>
      </p:sp>
    </p:spTree>
    <p:custDataLst>
      <p:tags r:id="rId1"/>
    </p:custDataLst>
    <p:extLst>
      <p:ext uri="{BB962C8B-B14F-4D97-AF65-F5344CB8AC3E}">
        <p14:creationId xmlns:p14="http://schemas.microsoft.com/office/powerpoint/2010/main" val="109365873"/>
      </p:ext>
    </p:extLst>
  </p:cSld>
  <p:clrMapOvr>
    <a:masterClrMapping/>
  </p:clrMapOvr>
  <mc:AlternateContent xmlns:mc="http://schemas.openxmlformats.org/markup-compatibility/2006" xmlns:p14="http://schemas.microsoft.com/office/powerpoint/2010/main">
    <mc:Choice Requires="p14">
      <p:transition spd="slow" p14:dur="2000" advTm="38041"/>
    </mc:Choice>
    <mc:Fallback xmlns="">
      <p:transition spd="slow" advTm="3804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075084" y="2347177"/>
            <a:ext cx="5173133" cy="341244"/>
          </a:xfrm>
        </p:spPr>
        <p:txBody>
          <a:bodyPr>
            <a:noAutofit/>
          </a:bodyPr>
          <a:lstStyle/>
          <a:p>
            <a:pPr eaLnBrk="1" hangingPunct="1"/>
            <a:r>
              <a:rPr lang="en-US" altLang="en-US" sz="2400" dirty="0"/>
              <a:t>Blue-dyed thin section illustrating a reservoir rock</a:t>
            </a:r>
          </a:p>
        </p:txBody>
      </p:sp>
      <p:pic>
        <p:nvPicPr>
          <p:cNvPr id="614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6332" y="2829862"/>
            <a:ext cx="4302907" cy="3239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0" y="3972330"/>
            <a:ext cx="4509466" cy="954107"/>
          </a:xfrm>
          <a:prstGeom prst="rect">
            <a:avLst/>
          </a:prstGeom>
        </p:spPr>
        <p:txBody>
          <a:bodyPr wrap="square">
            <a:spAutoFit/>
          </a:bodyPr>
          <a:lstStyle/>
          <a:p>
            <a:r>
              <a:rPr lang="en-US" altLang="en-US" sz="2800" dirty="0"/>
              <a:t> Sandstone: void space (porosity) enclosed by solids</a:t>
            </a:r>
            <a:endParaRPr lang="en-GB" sz="2800" dirty="0"/>
          </a:p>
        </p:txBody>
      </p:sp>
      <p:pic>
        <p:nvPicPr>
          <p:cNvPr id="3074" name="Picture 2" descr="http://www.southampton.ac.uk/~imw/jpg-Budleigh-Salterton/5BLS-Otter-Sandstone-Lower-Facies.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94711"/>
            <a:ext cx="4476332" cy="319498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33171060"/>
      </p:ext>
    </p:extLst>
  </p:cSld>
  <p:clrMapOvr>
    <a:masterClrMapping/>
  </p:clrMapOvr>
  <mc:AlternateContent xmlns:mc="http://schemas.openxmlformats.org/markup-compatibility/2006" xmlns:p14="http://schemas.microsoft.com/office/powerpoint/2010/main">
    <mc:Choice Requires="p14">
      <p:transition spd="slow" p14:dur="2000" advTm="31424"/>
    </mc:Choice>
    <mc:Fallback xmlns="">
      <p:transition spd="slow" advTm="314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54546"/>
            <a:ext cx="8229600" cy="1143000"/>
          </a:xfrm>
        </p:spPr>
        <p:txBody>
          <a:bodyPr/>
          <a:lstStyle/>
          <a:p>
            <a:pPr algn="l" eaLnBrk="1" hangingPunct="1"/>
            <a:r>
              <a:rPr lang="en-US" altLang="en-US" dirty="0"/>
              <a:t>Seal</a:t>
            </a:r>
          </a:p>
        </p:txBody>
      </p:sp>
      <p:sp>
        <p:nvSpPr>
          <p:cNvPr id="11267" name="Rectangle 3"/>
          <p:cNvSpPr>
            <a:spLocks noGrp="1" noChangeArrowheads="1"/>
          </p:cNvSpPr>
          <p:nvPr>
            <p:ph type="body" idx="1"/>
          </p:nvPr>
        </p:nvSpPr>
        <p:spPr>
          <a:xfrm>
            <a:off x="609600" y="1066800"/>
            <a:ext cx="4910667" cy="5638800"/>
          </a:xfrm>
        </p:spPr>
        <p:txBody>
          <a:bodyPr>
            <a:normAutofit lnSpcReduction="10000"/>
          </a:bodyPr>
          <a:lstStyle/>
          <a:p>
            <a:pPr eaLnBrk="1" hangingPunct="1">
              <a:lnSpc>
                <a:spcPct val="90000"/>
              </a:lnSpc>
            </a:pPr>
            <a:r>
              <a:rPr lang="en-US" altLang="en-US" dirty="0"/>
              <a:t>Seals are rocks that significantly reduce the onward migration of fluids in the subsurface</a:t>
            </a:r>
          </a:p>
          <a:p>
            <a:pPr eaLnBrk="1" hangingPunct="1">
              <a:lnSpc>
                <a:spcPct val="90000"/>
              </a:lnSpc>
            </a:pPr>
            <a:r>
              <a:rPr lang="en-US" altLang="en-US" dirty="0"/>
              <a:t>Best seals have the following attributes</a:t>
            </a:r>
          </a:p>
          <a:p>
            <a:pPr lvl="1" eaLnBrk="1" hangingPunct="1">
              <a:lnSpc>
                <a:spcPct val="90000"/>
              </a:lnSpc>
            </a:pPr>
            <a:r>
              <a:rPr lang="en-US" altLang="en-US" dirty="0"/>
              <a:t>Small pore sizes </a:t>
            </a:r>
          </a:p>
          <a:p>
            <a:pPr lvl="1" eaLnBrk="1" hangingPunct="1">
              <a:lnSpc>
                <a:spcPct val="90000"/>
              </a:lnSpc>
            </a:pPr>
            <a:r>
              <a:rPr lang="en-US" altLang="en-US" dirty="0"/>
              <a:t>Ductile rocks (to resist fracturing)</a:t>
            </a:r>
          </a:p>
          <a:p>
            <a:pPr lvl="1" eaLnBrk="1" hangingPunct="1">
              <a:lnSpc>
                <a:spcPct val="90000"/>
              </a:lnSpc>
            </a:pPr>
            <a:r>
              <a:rPr lang="en-US" altLang="en-US" dirty="0"/>
              <a:t>Thick rock units with wide lateral extents</a:t>
            </a:r>
          </a:p>
          <a:p>
            <a:pPr lvl="1" eaLnBrk="1" hangingPunct="1">
              <a:lnSpc>
                <a:spcPct val="90000"/>
              </a:lnSpc>
            </a:pPr>
            <a:r>
              <a:rPr lang="en-US" altLang="en-US" dirty="0"/>
              <a:t>Best seals are mudstones, </a:t>
            </a:r>
            <a:r>
              <a:rPr lang="en-US" altLang="en-US" dirty="0" err="1"/>
              <a:t>evaporites</a:t>
            </a:r>
            <a:r>
              <a:rPr lang="en-US" altLang="en-US" dirty="0"/>
              <a:t>, chalk and crystalline </a:t>
            </a:r>
            <a:r>
              <a:rPr lang="en-US" altLang="en-US" dirty="0" err="1"/>
              <a:t>lithologies</a:t>
            </a:r>
            <a:endParaRPr lang="en-US" altLang="en-US" dirty="0"/>
          </a:p>
        </p:txBody>
      </p:sp>
      <p:pic>
        <p:nvPicPr>
          <p:cNvPr id="4098" name="Picture 2" descr="taw4_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1012" y="445557"/>
            <a:ext cx="2971171" cy="222991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7254098" y="2675467"/>
            <a:ext cx="1668085" cy="369332"/>
          </a:xfrm>
          <a:prstGeom prst="rect">
            <a:avLst/>
          </a:prstGeom>
          <a:noFill/>
        </p:spPr>
        <p:txBody>
          <a:bodyPr wrap="none" rtlCol="0">
            <a:spAutoFit/>
          </a:bodyPr>
          <a:lstStyle/>
          <a:p>
            <a:r>
              <a:rPr lang="en-GB" dirty="0" err="1"/>
              <a:t>Evaporite</a:t>
            </a:r>
            <a:r>
              <a:rPr lang="en-GB" dirty="0"/>
              <a:t>-halite</a:t>
            </a:r>
          </a:p>
        </p:txBody>
      </p:sp>
      <p:pic>
        <p:nvPicPr>
          <p:cNvPr id="4100" name="Picture 4" descr="mudston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8881" y="3293262"/>
            <a:ext cx="3550613" cy="26241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553156" y="5976925"/>
            <a:ext cx="1133644" cy="369332"/>
          </a:xfrm>
          <a:prstGeom prst="rect">
            <a:avLst/>
          </a:prstGeom>
          <a:noFill/>
        </p:spPr>
        <p:txBody>
          <a:bodyPr wrap="none" rtlCol="0">
            <a:spAutoFit/>
          </a:bodyPr>
          <a:lstStyle/>
          <a:p>
            <a:r>
              <a:rPr lang="en-GB" dirty="0"/>
              <a:t>mudstone</a:t>
            </a:r>
          </a:p>
        </p:txBody>
      </p:sp>
    </p:spTree>
    <p:custDataLst>
      <p:tags r:id="rId1"/>
    </p:custDataLst>
    <p:extLst>
      <p:ext uri="{BB962C8B-B14F-4D97-AF65-F5344CB8AC3E}">
        <p14:creationId xmlns:p14="http://schemas.microsoft.com/office/powerpoint/2010/main" val="1205917965"/>
      </p:ext>
    </p:extLst>
  </p:cSld>
  <p:clrMapOvr>
    <a:masterClrMapping/>
  </p:clrMapOvr>
  <mc:AlternateContent xmlns:mc="http://schemas.openxmlformats.org/markup-compatibility/2006" xmlns:p14="http://schemas.microsoft.com/office/powerpoint/2010/main">
    <mc:Choice Requires="p14">
      <p:transition spd="slow" p14:dur="2000" advTm="53476"/>
    </mc:Choice>
    <mc:Fallback xmlns="">
      <p:transition spd="slow" advTm="534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67">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9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10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0"/>
            <a:ext cx="9144000" cy="838200"/>
          </a:xfrm>
        </p:spPr>
        <p:txBody>
          <a:bodyPr/>
          <a:lstStyle/>
          <a:p>
            <a:pPr eaLnBrk="1" hangingPunct="1"/>
            <a:r>
              <a:rPr lang="en-US" altLang="en-US" sz="3200" b="1" dirty="0"/>
              <a:t>Oil and gas formation </a:t>
            </a:r>
            <a:endParaRPr lang="en-US" altLang="en-US" sz="1700" b="1" dirty="0"/>
          </a:p>
        </p:txBody>
      </p:sp>
      <p:pic>
        <p:nvPicPr>
          <p:cNvPr id="10243" name="Picture 3" descr="plu51482_2110"/>
          <p:cNvPicPr>
            <a:picLocks noChangeAspect="1" noChangeArrowheads="1"/>
          </p:cNvPicPr>
          <p:nvPr/>
        </p:nvPicPr>
        <p:blipFill>
          <a:blip r:embed="rId3">
            <a:extLst>
              <a:ext uri="{28A0092B-C50C-407E-A947-70E740481C1C}">
                <a14:useLocalDpi xmlns:a14="http://schemas.microsoft.com/office/drawing/2010/main" val="0"/>
              </a:ext>
            </a:extLst>
          </a:blip>
          <a:srcRect t="4204"/>
          <a:stretch>
            <a:fillRect/>
          </a:stretch>
        </p:blipFill>
        <p:spPr bwMode="auto">
          <a:xfrm>
            <a:off x="533400" y="914400"/>
            <a:ext cx="7921625"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1562388"/>
      </p:ext>
    </p:extLst>
  </p:cSld>
  <p:clrMapOvr>
    <a:masterClrMapping/>
  </p:clrMapOvr>
  <mc:AlternateContent xmlns:mc="http://schemas.openxmlformats.org/markup-compatibility/2006" xmlns:p14="http://schemas.microsoft.com/office/powerpoint/2010/main">
    <mc:Choice Requires="p14">
      <p:transition spd="slow" p14:dur="2000" advTm="30287"/>
    </mc:Choice>
    <mc:Fallback xmlns="">
      <p:transition spd="slow" advTm="30287"/>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tatic.safehaven.com/authors/kirby/5377.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214934"/>
            <a:ext cx="7488832" cy="45494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83568" y="6093296"/>
            <a:ext cx="3638945" cy="369332"/>
          </a:xfrm>
          <a:prstGeom prst="rect">
            <a:avLst/>
          </a:prstGeom>
          <a:noFill/>
        </p:spPr>
        <p:txBody>
          <a:bodyPr wrap="none" rtlCol="0">
            <a:spAutoFit/>
          </a:bodyPr>
          <a:lstStyle/>
          <a:p>
            <a:r>
              <a:rPr lang="en-GB" dirty="0"/>
              <a:t>Green = onshore sedimentary basins</a:t>
            </a:r>
          </a:p>
        </p:txBody>
      </p:sp>
      <p:sp>
        <p:nvSpPr>
          <p:cNvPr id="5" name="TextBox 4"/>
          <p:cNvSpPr txBox="1"/>
          <p:nvPr/>
        </p:nvSpPr>
        <p:spPr>
          <a:xfrm>
            <a:off x="4932040" y="6093296"/>
            <a:ext cx="3662349" cy="369332"/>
          </a:xfrm>
          <a:prstGeom prst="rect">
            <a:avLst/>
          </a:prstGeom>
          <a:noFill/>
        </p:spPr>
        <p:txBody>
          <a:bodyPr wrap="none" rtlCol="0">
            <a:spAutoFit/>
          </a:bodyPr>
          <a:lstStyle/>
          <a:p>
            <a:r>
              <a:rPr lang="en-GB" dirty="0"/>
              <a:t>Purple = offshore sedimentary basins</a:t>
            </a:r>
          </a:p>
        </p:txBody>
      </p:sp>
      <p:sp>
        <p:nvSpPr>
          <p:cNvPr id="6" name="Title 5"/>
          <p:cNvSpPr>
            <a:spLocks noGrp="1"/>
          </p:cNvSpPr>
          <p:nvPr>
            <p:ph type="title"/>
          </p:nvPr>
        </p:nvSpPr>
        <p:spPr/>
        <p:txBody>
          <a:bodyPr/>
          <a:lstStyle/>
          <a:p>
            <a:r>
              <a:rPr lang="en-GB" dirty="0"/>
              <a:t>World Sedimentary Basins</a:t>
            </a:r>
          </a:p>
        </p:txBody>
      </p:sp>
    </p:spTree>
    <p:extLst>
      <p:ext uri="{BB962C8B-B14F-4D97-AF65-F5344CB8AC3E}">
        <p14:creationId xmlns:p14="http://schemas.microsoft.com/office/powerpoint/2010/main" val="4681849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peakoiltas.org/wp-content/uploads/2011/01/Discovery-peak.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124744"/>
            <a:ext cx="7134225" cy="51720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95920" y="44624"/>
            <a:ext cx="8229600" cy="1143000"/>
          </a:xfrm>
        </p:spPr>
        <p:txBody>
          <a:bodyPr/>
          <a:lstStyle/>
          <a:p>
            <a:r>
              <a:rPr lang="en-GB" dirty="0"/>
              <a:t>Oil discoveries past and future</a:t>
            </a:r>
          </a:p>
        </p:txBody>
      </p:sp>
      <p:sp>
        <p:nvSpPr>
          <p:cNvPr id="3" name="TextBox 2"/>
          <p:cNvSpPr txBox="1"/>
          <p:nvPr/>
        </p:nvSpPr>
        <p:spPr>
          <a:xfrm>
            <a:off x="5652120" y="4756502"/>
            <a:ext cx="1725152" cy="584775"/>
          </a:xfrm>
          <a:prstGeom prst="rect">
            <a:avLst/>
          </a:prstGeom>
          <a:noFill/>
        </p:spPr>
        <p:txBody>
          <a:bodyPr wrap="none" rtlCol="0">
            <a:spAutoFit/>
          </a:bodyPr>
          <a:lstStyle/>
          <a:p>
            <a:r>
              <a:rPr lang="en-GB" sz="3200" dirty="0"/>
              <a:t>Declining</a:t>
            </a:r>
          </a:p>
        </p:txBody>
      </p:sp>
    </p:spTree>
    <p:extLst>
      <p:ext uri="{BB962C8B-B14F-4D97-AF65-F5344CB8AC3E}">
        <p14:creationId xmlns:p14="http://schemas.microsoft.com/office/powerpoint/2010/main" val="277245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Peak Oil</a:t>
            </a:r>
          </a:p>
        </p:txBody>
      </p:sp>
      <p:sp>
        <p:nvSpPr>
          <p:cNvPr id="3" name="Content Placeholder 2"/>
          <p:cNvSpPr>
            <a:spLocks noGrp="1"/>
          </p:cNvSpPr>
          <p:nvPr>
            <p:ph sz="half" idx="1"/>
          </p:nvPr>
        </p:nvSpPr>
        <p:spPr>
          <a:xfrm>
            <a:off x="457200" y="1600200"/>
            <a:ext cx="3250704" cy="4525963"/>
          </a:xfrm>
        </p:spPr>
        <p:txBody>
          <a:bodyPr>
            <a:normAutofit lnSpcReduction="10000"/>
          </a:bodyPr>
          <a:lstStyle/>
          <a:p>
            <a:r>
              <a:rPr lang="en-GB" dirty="0"/>
              <a:t>Oil discovery in the world peaked in the 1960s</a:t>
            </a:r>
          </a:p>
          <a:p>
            <a:r>
              <a:rPr lang="en-GB" dirty="0"/>
              <a:t>Production is or has peaked around now</a:t>
            </a:r>
          </a:p>
          <a:p>
            <a:r>
              <a:rPr lang="en-GB" dirty="0"/>
              <a:t>Today we consume approx. 4x as much as we discover</a:t>
            </a:r>
          </a:p>
        </p:txBody>
      </p:sp>
      <p:pic>
        <p:nvPicPr>
          <p:cNvPr id="3074" name="Picture 2" descr="http://peakoil.com/wp-content/uploads/2010/04/oilandga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8392" y="1700808"/>
            <a:ext cx="5724128" cy="3500324"/>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p:cNvSpPr/>
          <p:nvPr/>
        </p:nvSpPr>
        <p:spPr>
          <a:xfrm>
            <a:off x="713272" y="602128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1979712" y="6021288"/>
            <a:ext cx="6810839" cy="369332"/>
          </a:xfrm>
          <a:prstGeom prst="rect">
            <a:avLst/>
          </a:prstGeom>
          <a:noFill/>
        </p:spPr>
        <p:txBody>
          <a:bodyPr wrap="none" rtlCol="0">
            <a:spAutoFit/>
          </a:bodyPr>
          <a:lstStyle/>
          <a:p>
            <a:r>
              <a:rPr lang="en-GB" dirty="0"/>
              <a:t>Oil will not run out soon, good quality, easy to extract oil will however..</a:t>
            </a:r>
          </a:p>
        </p:txBody>
      </p:sp>
    </p:spTree>
    <p:extLst>
      <p:ext uri="{BB962C8B-B14F-4D97-AF65-F5344CB8AC3E}">
        <p14:creationId xmlns:p14="http://schemas.microsoft.com/office/powerpoint/2010/main" val="786414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098" name="Picture 2" descr="http://static5.businessinsider.com/image/4fc79ea6ecad04531b000011/ma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256" y="260647"/>
            <a:ext cx="7778928" cy="500444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432" y="5402232"/>
            <a:ext cx="8900576" cy="1477328"/>
          </a:xfrm>
          <a:prstGeom prst="rect">
            <a:avLst/>
          </a:prstGeom>
        </p:spPr>
        <p:txBody>
          <a:bodyPr wrap="square">
            <a:spAutoFit/>
          </a:bodyPr>
          <a:lstStyle/>
          <a:p>
            <a:r>
              <a:rPr lang="en-GB" dirty="0"/>
              <a:t>The global natural gas resource base is vast and widely dispersed geographically. Conventional recoverable resources are equivalent to more than 120 years of current global consumption, while </a:t>
            </a:r>
            <a:r>
              <a:rPr lang="en-GB" b="1" dirty="0"/>
              <a:t>total recoverable resources could sustain today's production for over 250 years</a:t>
            </a:r>
            <a:br>
              <a:rPr lang="en-GB" dirty="0"/>
            </a:br>
            <a:endParaRPr lang="en-GB" dirty="0"/>
          </a:p>
          <a:p>
            <a:r>
              <a:rPr lang="en-GB" dirty="0"/>
              <a:t>International Energy Agency in 2012</a:t>
            </a:r>
          </a:p>
        </p:txBody>
      </p:sp>
    </p:spTree>
    <p:extLst>
      <p:ext uri="{BB962C8B-B14F-4D97-AF65-F5344CB8AC3E}">
        <p14:creationId xmlns:p14="http://schemas.microsoft.com/office/powerpoint/2010/main" val="17634904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1" descr="2011-sakhalin-i-russia.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750" y="533400"/>
            <a:ext cx="527685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9" name="Picture 2" descr="platform 1.bmp"/>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438400"/>
            <a:ext cx="40386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23528" y="5661248"/>
            <a:ext cx="2289986" cy="707886"/>
          </a:xfrm>
          <a:prstGeom prst="rect">
            <a:avLst/>
          </a:prstGeom>
          <a:noFill/>
        </p:spPr>
        <p:txBody>
          <a:bodyPr wrap="none" rtlCol="0">
            <a:spAutoFit/>
          </a:bodyPr>
          <a:lstStyle/>
          <a:p>
            <a:r>
              <a:rPr lang="en-GB" sz="4000" dirty="0"/>
              <a:t>Extraction</a:t>
            </a:r>
          </a:p>
        </p:txBody>
      </p:sp>
      <p:pic>
        <p:nvPicPr>
          <p:cNvPr id="9218" name="Picture 2" descr="http://image.made-in-china.com/2f0j00DBQEHvtCRGlr/Drilling-Rig-Oil-Drilling-2000HP-7000m-Onshore-Rig.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104" y="200024"/>
            <a:ext cx="2924175" cy="2238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0201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9144000" cy="533400"/>
          </a:xfrm>
        </p:spPr>
        <p:txBody>
          <a:bodyPr/>
          <a:lstStyle/>
          <a:p>
            <a:pPr eaLnBrk="1" hangingPunct="1"/>
            <a:r>
              <a:rPr lang="en-US" altLang="en-US" sz="2800" b="1">
                <a:solidFill>
                  <a:srgbClr val="FF9933"/>
                </a:solidFill>
              </a:rPr>
              <a:t>e.g. Offshore Platforms – Gulf of Mexico, USA.</a:t>
            </a:r>
          </a:p>
        </p:txBody>
      </p:sp>
      <p:sp>
        <p:nvSpPr>
          <p:cNvPr id="17411" name="Rectangle 3"/>
          <p:cNvSpPr>
            <a:spLocks noGrp="1" noChangeArrowheads="1"/>
          </p:cNvSpPr>
          <p:nvPr>
            <p:ph type="body" idx="1"/>
          </p:nvPr>
        </p:nvSpPr>
        <p:spPr>
          <a:xfrm>
            <a:off x="0" y="914400"/>
            <a:ext cx="9144000" cy="5943600"/>
          </a:xfrm>
        </p:spPr>
        <p:txBody>
          <a:bodyPr/>
          <a:lstStyle/>
          <a:p>
            <a:pPr eaLnBrk="1" hangingPunct="1">
              <a:buFontTx/>
              <a:buNone/>
            </a:pPr>
            <a:r>
              <a:rPr lang="en-US" altLang="en-US"/>
              <a:t>  </a:t>
            </a:r>
          </a:p>
        </p:txBody>
      </p:sp>
      <p:pic>
        <p:nvPicPr>
          <p:cNvPr id="17412" name="Picture 4" descr="Image:Gulf Coast Platforms.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838200"/>
            <a:ext cx="8382000" cy="557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11916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Primary oil recovery = gusher</a:t>
            </a:r>
          </a:p>
        </p:txBody>
      </p:sp>
      <p:pic>
        <p:nvPicPr>
          <p:cNvPr id="1026" name="Picture 2" descr="http://upload.wikimedia.org/wikipedia/commons/d/d8/Lucas_gush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1340768"/>
            <a:ext cx="3905250" cy="4648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57679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3" descr="plu51482_2112"/>
          <p:cNvPicPr>
            <a:picLocks noChangeAspect="1" noChangeArrowheads="1"/>
          </p:cNvPicPr>
          <p:nvPr/>
        </p:nvPicPr>
        <p:blipFill>
          <a:blip r:embed="rId3">
            <a:extLst>
              <a:ext uri="{28A0092B-C50C-407E-A947-70E740481C1C}">
                <a14:useLocalDpi xmlns:a14="http://schemas.microsoft.com/office/drawing/2010/main" val="0"/>
              </a:ext>
            </a:extLst>
          </a:blip>
          <a:srcRect t="3572"/>
          <a:stretch>
            <a:fillRect/>
          </a:stretch>
        </p:blipFill>
        <p:spPr bwMode="auto">
          <a:xfrm>
            <a:off x="2362200" y="304800"/>
            <a:ext cx="542925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Text Box 5"/>
          <p:cNvSpPr txBox="1">
            <a:spLocks noChangeArrowheads="1"/>
          </p:cNvSpPr>
          <p:nvPr/>
        </p:nvSpPr>
        <p:spPr bwMode="auto">
          <a:xfrm>
            <a:off x="223838" y="635000"/>
            <a:ext cx="17843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800" b="1" dirty="0">
                <a:latin typeface="+mj-lt"/>
              </a:rPr>
              <a:t>Secondary</a:t>
            </a:r>
          </a:p>
          <a:p>
            <a:pPr eaLnBrk="1" hangingPunct="1"/>
            <a:r>
              <a:rPr lang="en-GB" altLang="en-US" sz="2800" b="1" dirty="0">
                <a:latin typeface="+mj-lt"/>
              </a:rPr>
              <a:t>Recovery</a:t>
            </a:r>
            <a:endParaRPr lang="en-US" altLang="en-US" sz="2800" b="1" dirty="0">
              <a:latin typeface="+mj-lt"/>
            </a:endParaRPr>
          </a:p>
        </p:txBody>
      </p:sp>
    </p:spTree>
    <p:extLst>
      <p:ext uri="{BB962C8B-B14F-4D97-AF65-F5344CB8AC3E}">
        <p14:creationId xmlns:p14="http://schemas.microsoft.com/office/powerpoint/2010/main" val="31019244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434" name="Picture 3" descr="Nodding_Donkey_small.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295400"/>
            <a:ext cx="409416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4" descr="nodding donkey 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3400" y="685800"/>
            <a:ext cx="41719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2"/>
          <p:cNvSpPr>
            <a:spLocks noGrp="1" noChangeArrowheads="1"/>
          </p:cNvSpPr>
          <p:nvPr>
            <p:ph type="title"/>
          </p:nvPr>
        </p:nvSpPr>
        <p:spPr>
          <a:xfrm>
            <a:off x="0" y="0"/>
            <a:ext cx="9144000" cy="533400"/>
          </a:xfrm>
        </p:spPr>
        <p:txBody>
          <a:bodyPr/>
          <a:lstStyle/>
          <a:p>
            <a:pPr eaLnBrk="1" hangingPunct="1"/>
            <a:r>
              <a:rPr lang="en-US" altLang="en-US" sz="2800" b="1">
                <a:solidFill>
                  <a:srgbClr val="FF9933"/>
                </a:solidFill>
              </a:rPr>
              <a:t>Nodding Donkeys.</a:t>
            </a:r>
          </a:p>
        </p:txBody>
      </p:sp>
    </p:spTree>
    <p:extLst>
      <p:ext uri="{BB962C8B-B14F-4D97-AF65-F5344CB8AC3E}">
        <p14:creationId xmlns:p14="http://schemas.microsoft.com/office/powerpoint/2010/main" val="33810364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Enhanced oil recovery</a:t>
            </a:r>
          </a:p>
        </p:txBody>
      </p:sp>
      <p:pic>
        <p:nvPicPr>
          <p:cNvPr id="2050" name="Picture 2" descr="http://www.reservoirengineers.com/index.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196752"/>
            <a:ext cx="7920880" cy="533617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364088" y="6488668"/>
            <a:ext cx="3660169" cy="369332"/>
          </a:xfrm>
          <a:prstGeom prst="rect">
            <a:avLst/>
          </a:prstGeom>
        </p:spPr>
        <p:txBody>
          <a:bodyPr wrap="none">
            <a:spAutoFit/>
          </a:bodyPr>
          <a:lstStyle/>
          <a:p>
            <a:r>
              <a:rPr lang="en-GB" dirty="0"/>
              <a:t>http://www.reservoirengineers.com/</a:t>
            </a:r>
          </a:p>
        </p:txBody>
      </p:sp>
    </p:spTree>
    <p:extLst>
      <p:ext uri="{BB962C8B-B14F-4D97-AF65-F5344CB8AC3E}">
        <p14:creationId xmlns:p14="http://schemas.microsoft.com/office/powerpoint/2010/main" val="10423773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Oil Refining</a:t>
            </a:r>
          </a:p>
        </p:txBody>
      </p:sp>
      <p:sp>
        <p:nvSpPr>
          <p:cNvPr id="4" name="Content Placeholder 3"/>
          <p:cNvSpPr>
            <a:spLocks noGrp="1"/>
          </p:cNvSpPr>
          <p:nvPr>
            <p:ph sz="half" idx="1"/>
          </p:nvPr>
        </p:nvSpPr>
        <p:spPr>
          <a:xfrm>
            <a:off x="457200" y="1600201"/>
            <a:ext cx="4038600" cy="1396752"/>
          </a:xfrm>
        </p:spPr>
        <p:txBody>
          <a:bodyPr>
            <a:normAutofit fontScale="70000" lnSpcReduction="20000"/>
          </a:bodyPr>
          <a:lstStyle/>
          <a:p>
            <a:r>
              <a:rPr lang="en-GB" b="1" dirty="0"/>
              <a:t>Fractional distillation</a:t>
            </a:r>
          </a:p>
          <a:p>
            <a:r>
              <a:rPr lang="en-GB" dirty="0"/>
              <a:t>Heating of crude oil to higher temperatures to condense into liquid to form useful hydrocarbons</a:t>
            </a:r>
          </a:p>
        </p:txBody>
      </p:sp>
      <p:pic>
        <p:nvPicPr>
          <p:cNvPr id="3074" name="Picture 2" descr="distill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1628800"/>
            <a:ext cx="3888432" cy="483720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Tesoro Refine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3140968"/>
            <a:ext cx="4457700" cy="3000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9959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ext Box 2"/>
          <p:cNvSpPr txBox="1">
            <a:spLocks noChangeArrowheads="1"/>
          </p:cNvSpPr>
          <p:nvPr/>
        </p:nvSpPr>
        <p:spPr bwMode="auto">
          <a:xfrm>
            <a:off x="3492500" y="234950"/>
            <a:ext cx="2230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GB" altLang="en-US"/>
              <a:t>Natural Gas</a:t>
            </a:r>
            <a:endParaRPr lang="en-US" altLang="en-US"/>
          </a:p>
        </p:txBody>
      </p:sp>
      <p:sp>
        <p:nvSpPr>
          <p:cNvPr id="59394" name="Text Box 3"/>
          <p:cNvSpPr txBox="1">
            <a:spLocks noChangeArrowheads="1"/>
          </p:cNvSpPr>
          <p:nvPr/>
        </p:nvSpPr>
        <p:spPr bwMode="auto">
          <a:xfrm>
            <a:off x="755650" y="830263"/>
            <a:ext cx="76327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buFontTx/>
              <a:buChar char="-"/>
            </a:pPr>
            <a:r>
              <a:rPr lang="en-GB" altLang="en-US" sz="1800" dirty="0"/>
              <a:t> Gas industry began with gas distilled from coal- commercial companies (London 1812; Baltimore 1816)</a:t>
            </a:r>
          </a:p>
          <a:p>
            <a:pPr eaLnBrk="1" hangingPunct="1">
              <a:spcBef>
                <a:spcPct val="50000"/>
              </a:spcBef>
              <a:buFontTx/>
              <a:buChar char="-"/>
            </a:pPr>
            <a:r>
              <a:rPr lang="en-GB" altLang="en-US" sz="1800" dirty="0"/>
              <a:t> Modern gas industry dominated by natural gas (strong piping)</a:t>
            </a:r>
          </a:p>
          <a:p>
            <a:pPr eaLnBrk="1" hangingPunct="1">
              <a:spcBef>
                <a:spcPct val="50000"/>
              </a:spcBef>
              <a:buFontTx/>
              <a:buChar char="-"/>
            </a:pPr>
            <a:r>
              <a:rPr lang="en-GB" altLang="en-US" sz="1800" dirty="0"/>
              <a:t> Makeup of natural gas 80-99% methane</a:t>
            </a:r>
            <a:endParaRPr lang="en-US" altLang="en-US" sz="1800" dirty="0"/>
          </a:p>
        </p:txBody>
      </p:sp>
      <p:pic>
        <p:nvPicPr>
          <p:cNvPr id="5939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2420938"/>
            <a:ext cx="5445125" cy="426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0834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3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39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ext Box 3"/>
          <p:cNvSpPr txBox="1">
            <a:spLocks noChangeArrowheads="1"/>
          </p:cNvSpPr>
          <p:nvPr/>
        </p:nvSpPr>
        <p:spPr bwMode="auto">
          <a:xfrm>
            <a:off x="755650" y="830263"/>
            <a:ext cx="7632700"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GB" altLang="en-US" sz="1800" dirty="0"/>
              <a:t>Piped from wells to process plants</a:t>
            </a:r>
          </a:p>
          <a:p>
            <a:pPr lvl="1" eaLnBrk="1" hangingPunct="1">
              <a:spcBef>
                <a:spcPct val="50000"/>
              </a:spcBef>
              <a:buFontTx/>
              <a:buChar char="-"/>
            </a:pPr>
            <a:r>
              <a:rPr lang="en-GB" altLang="en-US" sz="1800" dirty="0"/>
              <a:t> remove S, H</a:t>
            </a:r>
            <a:r>
              <a:rPr lang="en-GB" altLang="en-US" sz="1800" baseline="-25000" dirty="0"/>
              <a:t>2</a:t>
            </a:r>
            <a:r>
              <a:rPr lang="en-GB" altLang="en-US" sz="1800" dirty="0"/>
              <a:t>O, add “gas” smell</a:t>
            </a:r>
          </a:p>
          <a:p>
            <a:pPr lvl="1" eaLnBrk="1" hangingPunct="1">
              <a:spcBef>
                <a:spcPct val="50000"/>
              </a:spcBef>
              <a:buFontTx/>
              <a:buChar char="-"/>
            </a:pPr>
            <a:r>
              <a:rPr lang="en-GB" altLang="en-US" sz="1800" dirty="0"/>
              <a:t> transmit via high pressure lines (24 km/h)</a:t>
            </a:r>
          </a:p>
        </p:txBody>
      </p:sp>
      <p:sp>
        <p:nvSpPr>
          <p:cNvPr id="60418" name="Text Box 7"/>
          <p:cNvSpPr txBox="1">
            <a:spLocks noChangeArrowheads="1"/>
          </p:cNvSpPr>
          <p:nvPr/>
        </p:nvSpPr>
        <p:spPr bwMode="auto">
          <a:xfrm>
            <a:off x="322263" y="2087563"/>
            <a:ext cx="80660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pitchFamily="34" charset="0"/>
                <a:ea typeface="ＭＳ Ｐゴシック" pitchFamily="34" charset="-128"/>
              </a:defRPr>
            </a:lvl1pPr>
            <a:lvl2pPr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lvl="1" eaLnBrk="1" hangingPunct="1">
              <a:spcBef>
                <a:spcPct val="50000"/>
              </a:spcBef>
            </a:pPr>
            <a:r>
              <a:rPr lang="en-GB" altLang="en-US" sz="1800" dirty="0"/>
              <a:t>Distant sources- liquefy by cooling (-162</a:t>
            </a:r>
            <a:r>
              <a:rPr lang="en-US" altLang="en-US" sz="1800" dirty="0"/>
              <a:t>°C; 1/600 volume) and transport in ships</a:t>
            </a:r>
          </a:p>
        </p:txBody>
      </p:sp>
      <p:pic>
        <p:nvPicPr>
          <p:cNvPr id="60419"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3429000"/>
            <a:ext cx="4105275" cy="267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3429000"/>
            <a:ext cx="4103687" cy="268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946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1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Unconventional Fossil Fuels</a:t>
            </a:r>
          </a:p>
        </p:txBody>
      </p:sp>
      <p:sp>
        <p:nvSpPr>
          <p:cNvPr id="4" name="Content Placeholder 3"/>
          <p:cNvSpPr>
            <a:spLocks noGrp="1"/>
          </p:cNvSpPr>
          <p:nvPr>
            <p:ph idx="1"/>
          </p:nvPr>
        </p:nvSpPr>
        <p:spPr/>
        <p:txBody>
          <a:bodyPr/>
          <a:lstStyle/>
          <a:p>
            <a:r>
              <a:rPr lang="en-GB" dirty="0"/>
              <a:t>OIL-BASED</a:t>
            </a:r>
          </a:p>
          <a:p>
            <a:pPr lvl="1"/>
            <a:r>
              <a:rPr lang="en-GB" dirty="0"/>
              <a:t>Oil (tar) sands</a:t>
            </a:r>
          </a:p>
          <a:p>
            <a:pPr lvl="1"/>
            <a:r>
              <a:rPr lang="en-GB" dirty="0"/>
              <a:t>Oil </a:t>
            </a:r>
            <a:r>
              <a:rPr lang="en-GB" dirty="0" err="1"/>
              <a:t>shales</a:t>
            </a:r>
            <a:endParaRPr lang="en-GB" dirty="0"/>
          </a:p>
          <a:p>
            <a:r>
              <a:rPr lang="en-GB" dirty="0"/>
              <a:t>GAS-BASED</a:t>
            </a:r>
          </a:p>
          <a:p>
            <a:pPr lvl="1"/>
            <a:r>
              <a:rPr lang="en-GB" dirty="0" err="1"/>
              <a:t>Coalbed</a:t>
            </a:r>
            <a:r>
              <a:rPr lang="en-GB" dirty="0"/>
              <a:t> methane</a:t>
            </a:r>
          </a:p>
          <a:p>
            <a:pPr lvl="1"/>
            <a:r>
              <a:rPr lang="en-GB" dirty="0"/>
              <a:t>Shale gas</a:t>
            </a:r>
          </a:p>
          <a:p>
            <a:endParaRPr lang="en-GB" dirty="0"/>
          </a:p>
        </p:txBody>
      </p:sp>
    </p:spTree>
    <p:extLst>
      <p:ext uri="{BB962C8B-B14F-4D97-AF65-F5344CB8AC3E}">
        <p14:creationId xmlns:p14="http://schemas.microsoft.com/office/powerpoint/2010/main" val="338184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4581525" y="3750235"/>
            <a:ext cx="4419600" cy="2784348"/>
          </a:xfrm>
          <a:prstGeom prst="rect">
            <a:avLst/>
          </a:prstGeom>
        </p:spPr>
      </p:pic>
      <p:pic>
        <p:nvPicPr>
          <p:cNvPr id="286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838200"/>
            <a:ext cx="3905250" cy="570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Text Box 3"/>
          <p:cNvSpPr txBox="1">
            <a:spLocks noChangeArrowheads="1"/>
          </p:cNvSpPr>
          <p:nvPr/>
        </p:nvSpPr>
        <p:spPr bwMode="auto">
          <a:xfrm>
            <a:off x="180975" y="177800"/>
            <a:ext cx="45697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800" b="1" dirty="0">
                <a:latin typeface="+mn-lt"/>
              </a:rPr>
              <a:t>Oil (tar) Sands, e.g. in Canada</a:t>
            </a:r>
            <a:endParaRPr lang="en-US" altLang="en-US" sz="2800" b="1" dirty="0">
              <a:latin typeface="+mn-lt"/>
            </a:endParaRPr>
          </a:p>
        </p:txBody>
      </p:sp>
      <p:pic>
        <p:nvPicPr>
          <p:cNvPr id="286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685800"/>
            <a:ext cx="428625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3657600"/>
            <a:ext cx="3962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016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3505200"/>
            <a:ext cx="3962400" cy="310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876300"/>
            <a:ext cx="40386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838200"/>
            <a:ext cx="38608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Text Box 6"/>
          <p:cNvSpPr txBox="1">
            <a:spLocks noChangeArrowheads="1"/>
          </p:cNvSpPr>
          <p:nvPr/>
        </p:nvSpPr>
        <p:spPr bwMode="auto">
          <a:xfrm>
            <a:off x="204788" y="177800"/>
            <a:ext cx="374750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800" b="1" dirty="0">
                <a:latin typeface="+mj-lt"/>
              </a:rPr>
              <a:t>Oil (Tar) sand extraction</a:t>
            </a:r>
            <a:endParaRPr lang="en-US" altLang="en-US" sz="2800" b="1" dirty="0">
              <a:latin typeface="+mj-lt"/>
            </a:endParaRPr>
          </a:p>
        </p:txBody>
      </p:sp>
    </p:spTree>
    <p:extLst>
      <p:ext uri="{BB962C8B-B14F-4D97-AF65-F5344CB8AC3E}">
        <p14:creationId xmlns:p14="http://schemas.microsoft.com/office/powerpoint/2010/main" val="13270857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1" descr="1-oil-sands-plant.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914400"/>
            <a:ext cx="6934200" cy="539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 Box 6"/>
          <p:cNvSpPr txBox="1">
            <a:spLocks noChangeArrowheads="1"/>
          </p:cNvSpPr>
          <p:nvPr/>
        </p:nvSpPr>
        <p:spPr bwMode="auto">
          <a:xfrm>
            <a:off x="204788" y="177800"/>
            <a:ext cx="3574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800" b="1" dirty="0">
                <a:latin typeface="+mj-lt"/>
              </a:rPr>
              <a:t>Oil (Tar) sand - refining</a:t>
            </a:r>
            <a:endParaRPr lang="en-US" altLang="en-US" sz="2800" b="1" dirty="0">
              <a:latin typeface="+mj-lt"/>
            </a:endParaRPr>
          </a:p>
        </p:txBody>
      </p:sp>
    </p:spTree>
    <p:extLst>
      <p:ext uri="{BB962C8B-B14F-4D97-AF65-F5344CB8AC3E}">
        <p14:creationId xmlns:p14="http://schemas.microsoft.com/office/powerpoint/2010/main" val="6424723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Oil </a:t>
            </a:r>
            <a:r>
              <a:rPr lang="en-GB" dirty="0" err="1"/>
              <a:t>Shales</a:t>
            </a:r>
            <a:r>
              <a:rPr lang="en-GB" dirty="0"/>
              <a:t>/Sands</a:t>
            </a:r>
          </a:p>
        </p:txBody>
      </p:sp>
      <p:sp>
        <p:nvSpPr>
          <p:cNvPr id="3" name="Content Placeholder 2"/>
          <p:cNvSpPr>
            <a:spLocks noGrp="1"/>
          </p:cNvSpPr>
          <p:nvPr>
            <p:ph idx="1"/>
          </p:nvPr>
        </p:nvSpPr>
        <p:spPr>
          <a:xfrm>
            <a:off x="457200" y="1600200"/>
            <a:ext cx="4258816" cy="4525963"/>
          </a:xfrm>
        </p:spPr>
        <p:txBody>
          <a:bodyPr>
            <a:normAutofit fontScale="77500" lnSpcReduction="20000"/>
          </a:bodyPr>
          <a:lstStyle/>
          <a:p>
            <a:r>
              <a:rPr lang="en-GB" dirty="0"/>
              <a:t>Fine-grained rocks containing significant quantities of </a:t>
            </a:r>
            <a:r>
              <a:rPr lang="en-GB" dirty="0" err="1"/>
              <a:t>kerogen</a:t>
            </a:r>
            <a:r>
              <a:rPr lang="en-GB" dirty="0"/>
              <a:t> </a:t>
            </a:r>
          </a:p>
          <a:p>
            <a:r>
              <a:rPr lang="en-GB" dirty="0"/>
              <a:t>Formed in swamps and shallow marine environments</a:t>
            </a:r>
          </a:p>
          <a:p>
            <a:r>
              <a:rPr lang="en-GB" i="1" dirty="0" err="1"/>
              <a:t>Kerogen</a:t>
            </a:r>
            <a:r>
              <a:rPr lang="en-GB" dirty="0"/>
              <a:t>-waxy, insoluble, contains a mixture of heavy hydrocarbons, can be converted to oil by heating above 500°C</a:t>
            </a:r>
          </a:p>
          <a:p>
            <a:r>
              <a:rPr lang="en-GB" dirty="0"/>
              <a:t>Major oil </a:t>
            </a:r>
            <a:r>
              <a:rPr lang="en-GB" dirty="0" err="1"/>
              <a:t>shales</a:t>
            </a:r>
            <a:r>
              <a:rPr lang="en-GB" dirty="0"/>
              <a:t> are in USA and Russia</a:t>
            </a:r>
          </a:p>
          <a:p>
            <a:endParaRPr lang="en-GB" dirty="0"/>
          </a:p>
        </p:txBody>
      </p:sp>
      <p:pic>
        <p:nvPicPr>
          <p:cNvPr id="4098" name="Picture 2" descr="Burning blocks of Kimmeridge oil shale or blackstone, a potential source of shale gas by fracking, seen in a small artificially started fire at Kimmeridge, Dorset, 20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16016" y="2348880"/>
            <a:ext cx="4229826" cy="3006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30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Coalbed</a:t>
            </a:r>
            <a:r>
              <a:rPr lang="en-GB" dirty="0"/>
              <a:t> methane</a:t>
            </a:r>
          </a:p>
        </p:txBody>
      </p:sp>
      <p:sp>
        <p:nvSpPr>
          <p:cNvPr id="3" name="Content Placeholder 2"/>
          <p:cNvSpPr>
            <a:spLocks noGrp="1"/>
          </p:cNvSpPr>
          <p:nvPr>
            <p:ph sz="half" idx="1"/>
          </p:nvPr>
        </p:nvSpPr>
        <p:spPr/>
        <p:txBody>
          <a:bodyPr>
            <a:normAutofit fontScale="85000" lnSpcReduction="20000"/>
          </a:bodyPr>
          <a:lstStyle/>
          <a:p>
            <a:r>
              <a:rPr lang="en-GB" dirty="0"/>
              <a:t>CBM is extracted by releasing pressure in coal seams, usually by natural gas production or by pumping water from the coal bed. As the pressure is reduced, gas is released and can be extracted.</a:t>
            </a:r>
          </a:p>
          <a:p>
            <a:r>
              <a:rPr lang="en-GB" dirty="0"/>
              <a:t>Most of the gas is adsorbed on the surface of the coal: it can contain two to three times more gas per unit of rock volume than conventional gas deposits.</a:t>
            </a:r>
          </a:p>
        </p:txBody>
      </p:sp>
      <p:pic>
        <p:nvPicPr>
          <p:cNvPr id="7170" name="Picture 2" descr="Illustration of the production of coal bed metha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4375" y="2060848"/>
            <a:ext cx="4619625" cy="3448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617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Shale gas</a:t>
            </a:r>
          </a:p>
        </p:txBody>
      </p:sp>
      <p:sp>
        <p:nvSpPr>
          <p:cNvPr id="3" name="Content Placeholder 2"/>
          <p:cNvSpPr>
            <a:spLocks noGrp="1"/>
          </p:cNvSpPr>
          <p:nvPr>
            <p:ph sz="half" idx="1"/>
          </p:nvPr>
        </p:nvSpPr>
        <p:spPr>
          <a:xfrm>
            <a:off x="323528" y="1196752"/>
            <a:ext cx="4038600" cy="5069160"/>
          </a:xfrm>
        </p:spPr>
        <p:txBody>
          <a:bodyPr>
            <a:noAutofit/>
          </a:bodyPr>
          <a:lstStyle/>
          <a:p>
            <a:r>
              <a:rPr lang="en-GB" sz="2000" b="1" dirty="0"/>
              <a:t>Shale gas</a:t>
            </a:r>
            <a:r>
              <a:rPr lang="en-GB" sz="2000" dirty="0"/>
              <a:t> is extracted from </a:t>
            </a:r>
            <a:r>
              <a:rPr lang="en-GB" sz="2000" b="1" dirty="0"/>
              <a:t>"source rock“</a:t>
            </a:r>
            <a:r>
              <a:rPr lang="en-GB" sz="2000" dirty="0"/>
              <a:t> - has </a:t>
            </a:r>
            <a:r>
              <a:rPr lang="en-GB" sz="2000" b="1" dirty="0"/>
              <a:t>naturally low permeability</a:t>
            </a:r>
            <a:r>
              <a:rPr lang="en-GB" sz="2000" dirty="0"/>
              <a:t>. </a:t>
            </a:r>
          </a:p>
          <a:p>
            <a:r>
              <a:rPr lang="en-GB" sz="2000" dirty="0"/>
              <a:t>The gas is held in fractures, pore spaces and adsorbed on to the organic material of shale.</a:t>
            </a:r>
          </a:p>
          <a:p>
            <a:r>
              <a:rPr lang="en-GB" sz="2000" dirty="0"/>
              <a:t>‘Crack’ the rock using hydraulic fracturing method 'fracking'. </a:t>
            </a:r>
          </a:p>
          <a:p>
            <a:r>
              <a:rPr lang="en-GB" sz="2000" dirty="0"/>
              <a:t>Fracturing fluid, a combination of water and sometimes chemicals, is pumped at high pressure into the rock to create narrow fractures that allow the gas to flow</a:t>
            </a:r>
          </a:p>
          <a:p>
            <a:endParaRPr lang="en-GB" sz="1600" dirty="0"/>
          </a:p>
        </p:txBody>
      </p:sp>
      <p:pic>
        <p:nvPicPr>
          <p:cNvPr id="8194" name="Picture 2" descr="http://news.bbcimg.co.uk/media/images/50833000/gif/_50833618_shale_extraction_diagram_46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5175" y="1412776"/>
            <a:ext cx="4419600" cy="3352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803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8B344-6DC8-EC2D-E53E-6B7592EFF92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261C9B6-F8D4-4CE6-9704-B2FC50ADAF0B}"/>
              </a:ext>
            </a:extLst>
          </p:cNvPr>
          <p:cNvSpPr>
            <a:spLocks noGrp="1"/>
          </p:cNvSpPr>
          <p:nvPr>
            <p:ph sz="half" idx="1"/>
          </p:nvPr>
        </p:nvSpPr>
        <p:spPr/>
        <p:txBody>
          <a:bodyPr/>
          <a:lstStyle/>
          <a:p>
            <a:endParaRPr lang="en-GB"/>
          </a:p>
        </p:txBody>
      </p:sp>
      <p:sp>
        <p:nvSpPr>
          <p:cNvPr id="4" name="Content Placeholder 3">
            <a:extLst>
              <a:ext uri="{FF2B5EF4-FFF2-40B4-BE49-F238E27FC236}">
                <a16:creationId xmlns:a16="http://schemas.microsoft.com/office/drawing/2014/main" id="{620C0917-D1FE-8526-649F-059C277083F4}"/>
              </a:ext>
            </a:extLst>
          </p:cNvPr>
          <p:cNvSpPr>
            <a:spLocks noGrp="1"/>
          </p:cNvSpPr>
          <p:nvPr>
            <p:ph sz="half" idx="2"/>
          </p:nvPr>
        </p:nvSpPr>
        <p:spPr/>
        <p:txBody>
          <a:bodyPr/>
          <a:lstStyle/>
          <a:p>
            <a:endParaRPr lang="en-GB"/>
          </a:p>
        </p:txBody>
      </p:sp>
    </p:spTree>
    <p:extLst>
      <p:ext uri="{BB962C8B-B14F-4D97-AF65-F5344CB8AC3E}">
        <p14:creationId xmlns:p14="http://schemas.microsoft.com/office/powerpoint/2010/main" val="14811697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F3D97-BDDF-4B13-8005-F9A5EF831E5E}"/>
              </a:ext>
            </a:extLst>
          </p:cNvPr>
          <p:cNvSpPr>
            <a:spLocks noGrp="1"/>
          </p:cNvSpPr>
          <p:nvPr>
            <p:ph type="title"/>
          </p:nvPr>
        </p:nvSpPr>
        <p:spPr/>
        <p:txBody>
          <a:bodyPr/>
          <a:lstStyle/>
          <a:p>
            <a:r>
              <a:rPr lang="en-GB" dirty="0"/>
              <a:t>Paper of the week</a:t>
            </a:r>
          </a:p>
        </p:txBody>
      </p:sp>
      <p:sp>
        <p:nvSpPr>
          <p:cNvPr id="3" name="Content Placeholder 2">
            <a:extLst>
              <a:ext uri="{FF2B5EF4-FFF2-40B4-BE49-F238E27FC236}">
                <a16:creationId xmlns:a16="http://schemas.microsoft.com/office/drawing/2014/main" id="{49FB96DE-19B4-4920-81C1-1A6447E7FB44}"/>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553B9DD8-38A9-4223-BD49-6616B330CB3E}"/>
              </a:ext>
            </a:extLst>
          </p:cNvPr>
          <p:cNvPicPr>
            <a:picLocks noChangeAspect="1"/>
          </p:cNvPicPr>
          <p:nvPr/>
        </p:nvPicPr>
        <p:blipFill>
          <a:blip r:embed="rId2"/>
          <a:stretch>
            <a:fillRect/>
          </a:stretch>
        </p:blipFill>
        <p:spPr>
          <a:xfrm>
            <a:off x="0" y="1772033"/>
            <a:ext cx="9144000" cy="3313933"/>
          </a:xfrm>
          <a:prstGeom prst="rect">
            <a:avLst/>
          </a:prstGeom>
        </p:spPr>
      </p:pic>
      <p:pic>
        <p:nvPicPr>
          <p:cNvPr id="6" name="Picture 5">
            <a:extLst>
              <a:ext uri="{FF2B5EF4-FFF2-40B4-BE49-F238E27FC236}">
                <a16:creationId xmlns:a16="http://schemas.microsoft.com/office/drawing/2014/main" id="{F0BE8F2D-E041-1C8D-EC0F-61FF769E11C0}"/>
              </a:ext>
            </a:extLst>
          </p:cNvPr>
          <p:cNvPicPr>
            <a:picLocks noChangeAspect="1"/>
          </p:cNvPicPr>
          <p:nvPr/>
        </p:nvPicPr>
        <p:blipFill>
          <a:blip r:embed="rId3"/>
          <a:stretch>
            <a:fillRect/>
          </a:stretch>
        </p:blipFill>
        <p:spPr>
          <a:xfrm>
            <a:off x="7376027" y="183169"/>
            <a:ext cx="1539373" cy="1539373"/>
          </a:xfrm>
          <a:prstGeom prst="rect">
            <a:avLst/>
          </a:prstGeom>
        </p:spPr>
      </p:pic>
    </p:spTree>
    <p:extLst>
      <p:ext uri="{BB962C8B-B14F-4D97-AF65-F5344CB8AC3E}">
        <p14:creationId xmlns:p14="http://schemas.microsoft.com/office/powerpoint/2010/main" val="31820729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2AA6B-BA84-473E-B028-EA2EA071E42C}"/>
              </a:ext>
            </a:extLst>
          </p:cNvPr>
          <p:cNvSpPr>
            <a:spLocks noGrp="1"/>
          </p:cNvSpPr>
          <p:nvPr>
            <p:ph type="title"/>
          </p:nvPr>
        </p:nvSpPr>
        <p:spPr/>
        <p:txBody>
          <a:bodyPr/>
          <a:lstStyle/>
          <a:p>
            <a:r>
              <a:rPr lang="en-GB" dirty="0"/>
              <a:t>Justification</a:t>
            </a:r>
          </a:p>
        </p:txBody>
      </p:sp>
      <p:sp>
        <p:nvSpPr>
          <p:cNvPr id="3" name="Content Placeholder 2">
            <a:extLst>
              <a:ext uri="{FF2B5EF4-FFF2-40B4-BE49-F238E27FC236}">
                <a16:creationId xmlns:a16="http://schemas.microsoft.com/office/drawing/2014/main" id="{8B539665-E803-4091-AB61-30652C6B6AE6}"/>
              </a:ext>
            </a:extLst>
          </p:cNvPr>
          <p:cNvSpPr>
            <a:spLocks noGrp="1"/>
          </p:cNvSpPr>
          <p:nvPr>
            <p:ph idx="1"/>
          </p:nvPr>
        </p:nvSpPr>
        <p:spPr>
          <a:xfrm>
            <a:off x="349321" y="1346977"/>
            <a:ext cx="8229600" cy="4525963"/>
          </a:xfrm>
        </p:spPr>
        <p:txBody>
          <a:bodyPr/>
          <a:lstStyle/>
          <a:p>
            <a:r>
              <a:rPr lang="en-GB" dirty="0"/>
              <a:t>In 2015 the Paris Agreement and the Intergovernmental Panel on Climate Change (IPCC) refocused the debate on warming limits of 1.5 °C  </a:t>
            </a:r>
          </a:p>
          <a:p>
            <a:r>
              <a:rPr lang="en-GB" dirty="0"/>
              <a:t>Extends the earlier 2015 work to estimate the levels of unextractable fossil fuel reserves out to 2100 under a 1.5 °C scenario</a:t>
            </a:r>
          </a:p>
          <a:p>
            <a:r>
              <a:rPr lang="en-GB" dirty="0"/>
              <a:t>Fossil fuels continue to dominate energy</a:t>
            </a:r>
          </a:p>
        </p:txBody>
      </p:sp>
      <p:sp>
        <p:nvSpPr>
          <p:cNvPr id="4" name="Arrow: Right 3">
            <a:extLst>
              <a:ext uri="{FF2B5EF4-FFF2-40B4-BE49-F238E27FC236}">
                <a16:creationId xmlns:a16="http://schemas.microsoft.com/office/drawing/2014/main" id="{98E6520E-F9A2-42C5-802E-30CE8FFF2498}"/>
              </a:ext>
            </a:extLst>
          </p:cNvPr>
          <p:cNvSpPr/>
          <p:nvPr/>
        </p:nvSpPr>
        <p:spPr>
          <a:xfrm>
            <a:off x="1130157" y="5837574"/>
            <a:ext cx="1130157" cy="66544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13081BCD-1A59-402F-85F1-23E0B3BD8BFB}"/>
              </a:ext>
            </a:extLst>
          </p:cNvPr>
          <p:cNvSpPr txBox="1"/>
          <p:nvPr/>
        </p:nvSpPr>
        <p:spPr>
          <a:xfrm>
            <a:off x="2419565" y="5856690"/>
            <a:ext cx="4572000" cy="646331"/>
          </a:xfrm>
          <a:prstGeom prst="rect">
            <a:avLst/>
          </a:prstGeom>
          <a:noFill/>
        </p:spPr>
        <p:txBody>
          <a:bodyPr wrap="square">
            <a:spAutoFit/>
          </a:bodyPr>
          <a:lstStyle/>
          <a:p>
            <a:pPr algn="l"/>
            <a:r>
              <a:rPr lang="en-GB" b="1" i="0" dirty="0">
                <a:solidFill>
                  <a:srgbClr val="24292E"/>
                </a:solidFill>
                <a:effectLst/>
                <a:latin typeface="Oswald" panose="020B0604020202020204" pitchFamily="2" charset="0"/>
              </a:rPr>
              <a:t>COP26 2021: Secure global net zero by mid-century and keep 1.5 degrees within reach</a:t>
            </a:r>
            <a:endParaRPr lang="en-GB" b="0" i="0" dirty="0">
              <a:solidFill>
                <a:srgbClr val="24292E"/>
              </a:solidFill>
              <a:effectLst/>
              <a:latin typeface="Oswald" panose="020B0604020202020204" pitchFamily="2" charset="0"/>
            </a:endParaRPr>
          </a:p>
        </p:txBody>
      </p:sp>
    </p:spTree>
    <p:extLst>
      <p:ext uri="{BB962C8B-B14F-4D97-AF65-F5344CB8AC3E}">
        <p14:creationId xmlns:p14="http://schemas.microsoft.com/office/powerpoint/2010/main" val="14913267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1CCC7E-31CD-47E3-8B73-22B05E4701A4}"/>
              </a:ext>
            </a:extLst>
          </p:cNvPr>
          <p:cNvSpPr>
            <a:spLocks noGrp="1"/>
          </p:cNvSpPr>
          <p:nvPr>
            <p:ph idx="1"/>
          </p:nvPr>
        </p:nvSpPr>
        <p:spPr>
          <a:xfrm>
            <a:off x="354459" y="130996"/>
            <a:ext cx="8229600" cy="4525963"/>
          </a:xfrm>
        </p:spPr>
        <p:txBody>
          <a:bodyPr/>
          <a:lstStyle/>
          <a:p>
            <a:pPr algn="l"/>
            <a:r>
              <a:rPr lang="en-GB" sz="1800" b="0" i="0" u="none" strike="noStrike" baseline="0" dirty="0">
                <a:latin typeface="HardingText-Regular"/>
              </a:rPr>
              <a:t>Unextractable oil, fossil methane gas and coal reserves are estimated as the percentage of the 2018 reserve base that is not extracted to achieve a 50% probability of keeping the global temperature increase to 1.5 °C.</a:t>
            </a:r>
            <a:endParaRPr lang="en-GB" dirty="0"/>
          </a:p>
        </p:txBody>
      </p:sp>
      <p:pic>
        <p:nvPicPr>
          <p:cNvPr id="5" name="Picture 4">
            <a:extLst>
              <a:ext uri="{FF2B5EF4-FFF2-40B4-BE49-F238E27FC236}">
                <a16:creationId xmlns:a16="http://schemas.microsoft.com/office/drawing/2014/main" id="{A64596AA-1D38-4101-88CF-843D75BBCCC5}"/>
              </a:ext>
            </a:extLst>
          </p:cNvPr>
          <p:cNvPicPr>
            <a:picLocks noChangeAspect="1"/>
          </p:cNvPicPr>
          <p:nvPr/>
        </p:nvPicPr>
        <p:blipFill>
          <a:blip r:embed="rId2"/>
          <a:stretch>
            <a:fillRect/>
          </a:stretch>
        </p:blipFill>
        <p:spPr>
          <a:xfrm>
            <a:off x="666750" y="1300162"/>
            <a:ext cx="7810500" cy="4257675"/>
          </a:xfrm>
          <a:prstGeom prst="rect">
            <a:avLst/>
          </a:prstGeom>
        </p:spPr>
      </p:pic>
    </p:spTree>
    <p:extLst>
      <p:ext uri="{BB962C8B-B14F-4D97-AF65-F5344CB8AC3E}">
        <p14:creationId xmlns:p14="http://schemas.microsoft.com/office/powerpoint/2010/main" val="20808001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6ACCD-C6B8-42FD-9402-93B40805F0B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65E4E06-18E5-45D2-B49F-A38F10025325}"/>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1EDB65E1-D8FF-43E9-A4A8-3D6E03111F86}"/>
              </a:ext>
            </a:extLst>
          </p:cNvPr>
          <p:cNvPicPr>
            <a:picLocks noChangeAspect="1"/>
          </p:cNvPicPr>
          <p:nvPr/>
        </p:nvPicPr>
        <p:blipFill>
          <a:blip r:embed="rId2"/>
          <a:stretch>
            <a:fillRect/>
          </a:stretch>
        </p:blipFill>
        <p:spPr>
          <a:xfrm>
            <a:off x="0" y="836550"/>
            <a:ext cx="9144000" cy="5184899"/>
          </a:xfrm>
          <a:prstGeom prst="rect">
            <a:avLst/>
          </a:prstGeom>
        </p:spPr>
      </p:pic>
      <p:sp>
        <p:nvSpPr>
          <p:cNvPr id="6" name="TextBox 5">
            <a:extLst>
              <a:ext uri="{FF2B5EF4-FFF2-40B4-BE49-F238E27FC236}">
                <a16:creationId xmlns:a16="http://schemas.microsoft.com/office/drawing/2014/main" id="{C62E14F7-6B34-4265-AB29-946CC3877A78}"/>
              </a:ext>
            </a:extLst>
          </p:cNvPr>
          <p:cNvSpPr txBox="1"/>
          <p:nvPr/>
        </p:nvSpPr>
        <p:spPr>
          <a:xfrm>
            <a:off x="173274" y="6178715"/>
            <a:ext cx="8970726" cy="646331"/>
          </a:xfrm>
          <a:prstGeom prst="rect">
            <a:avLst/>
          </a:prstGeom>
          <a:noFill/>
        </p:spPr>
        <p:txBody>
          <a:bodyPr wrap="none" rtlCol="0">
            <a:spAutoFit/>
          </a:bodyPr>
          <a:lstStyle/>
          <a:p>
            <a:pPr algn="ctr"/>
            <a:r>
              <a:rPr lang="en-GB" dirty="0"/>
              <a:t>AFR=AFRICA  CSA=CENTRAL AND SOUTH AMERICA   FSU=RUSSIA AND FORMER SOVIET STATES</a:t>
            </a:r>
          </a:p>
          <a:p>
            <a:pPr algn="ctr"/>
            <a:r>
              <a:rPr lang="en-GB" dirty="0"/>
              <a:t>MEA=MIDDLE EAST   USA=UNITED STATES OF AMERICA</a:t>
            </a:r>
          </a:p>
        </p:txBody>
      </p:sp>
    </p:spTree>
    <p:extLst>
      <p:ext uri="{BB962C8B-B14F-4D97-AF65-F5344CB8AC3E}">
        <p14:creationId xmlns:p14="http://schemas.microsoft.com/office/powerpoint/2010/main" val="31728190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AF672-5434-42FE-9A24-6E9637F513A5}"/>
              </a:ext>
            </a:extLst>
          </p:cNvPr>
          <p:cNvSpPr>
            <a:spLocks noGrp="1"/>
          </p:cNvSpPr>
          <p:nvPr>
            <p:ph type="title"/>
          </p:nvPr>
        </p:nvSpPr>
        <p:spPr/>
        <p:txBody>
          <a:bodyPr/>
          <a:lstStyle/>
          <a:p>
            <a:r>
              <a:rPr lang="en-GB" dirty="0"/>
              <a:t>Conclusions</a:t>
            </a:r>
          </a:p>
        </p:txBody>
      </p:sp>
      <p:sp>
        <p:nvSpPr>
          <p:cNvPr id="3" name="Content Placeholder 2">
            <a:extLst>
              <a:ext uri="{FF2B5EF4-FFF2-40B4-BE49-F238E27FC236}">
                <a16:creationId xmlns:a16="http://schemas.microsoft.com/office/drawing/2014/main" id="{AAF5B579-C421-4F44-A3E0-2A5BEB4EC20B}"/>
              </a:ext>
            </a:extLst>
          </p:cNvPr>
          <p:cNvSpPr>
            <a:spLocks noGrp="1"/>
          </p:cNvSpPr>
          <p:nvPr>
            <p:ph idx="1"/>
          </p:nvPr>
        </p:nvSpPr>
        <p:spPr/>
        <p:txBody>
          <a:bodyPr/>
          <a:lstStyle/>
          <a:p>
            <a:pPr algn="l"/>
            <a:r>
              <a:rPr lang="en-GB" sz="1800" b="0" i="0" u="none" strike="noStrike" baseline="0" dirty="0">
                <a:latin typeface="HardingText-Regular"/>
              </a:rPr>
              <a:t>Bleak picture painted by the scenarios for the global fossil fuel industry </a:t>
            </a:r>
          </a:p>
          <a:p>
            <a:pPr algn="l"/>
            <a:r>
              <a:rPr lang="en-GB" sz="1800" dirty="0">
                <a:latin typeface="HardingText-Regular"/>
              </a:rPr>
              <a:t>Likely an und</a:t>
            </a:r>
            <a:r>
              <a:rPr lang="en-GB" sz="1800" b="0" i="0" u="none" strike="noStrike" baseline="0" dirty="0">
                <a:latin typeface="HardingText-Regular"/>
              </a:rPr>
              <a:t>erestimate, therefore more carbon needs to stay in the ground.</a:t>
            </a:r>
          </a:p>
          <a:p>
            <a:pPr algn="l"/>
            <a:r>
              <a:rPr lang="en-GB" sz="1800" b="0" i="0" u="none" strike="noStrike" baseline="0" dirty="0">
                <a:latin typeface="HardingText-Regular"/>
              </a:rPr>
              <a:t>Relies on Carbon capture of approximately 4.4 (5.9) GtCO2 per year by 2050 (2100). </a:t>
            </a:r>
            <a:endParaRPr lang="en-GB" sz="1800" dirty="0">
              <a:latin typeface="HardingText-Regular"/>
            </a:endParaRPr>
          </a:p>
          <a:p>
            <a:pPr algn="l"/>
            <a:endParaRPr lang="en-GB" sz="1800" b="0" i="0" u="none" strike="noStrike" baseline="0" dirty="0">
              <a:latin typeface="HardingText-Regular"/>
            </a:endParaRPr>
          </a:p>
          <a:p>
            <a:pPr algn="l"/>
            <a:endParaRPr lang="en-GB" sz="1800" dirty="0">
              <a:latin typeface="HardingText-Regular"/>
            </a:endParaRPr>
          </a:p>
          <a:p>
            <a:pPr algn="l"/>
            <a:endParaRPr lang="en-GB" sz="1800" b="0" i="0" u="none" strike="noStrike" baseline="0" dirty="0">
              <a:latin typeface="HardingText-Regular"/>
            </a:endParaRPr>
          </a:p>
          <a:p>
            <a:pPr algn="l"/>
            <a:r>
              <a:rPr lang="en-GB" sz="1800" dirty="0">
                <a:latin typeface="HardingText-Regular"/>
              </a:rPr>
              <a:t>Discuss the drivers and possible solutions to reducing fossil fuel dominance</a:t>
            </a:r>
          </a:p>
          <a:p>
            <a:pPr algn="l"/>
            <a:r>
              <a:rPr lang="en-GB" sz="1800" dirty="0">
                <a:latin typeface="HardingText-Regular"/>
              </a:rPr>
              <a:t>Do you think that we will succeed with the aim of 1.5degC?</a:t>
            </a:r>
            <a:endParaRPr lang="en-GB" sz="1800" b="0" i="0" u="none" strike="noStrike" baseline="0" dirty="0">
              <a:latin typeface="HardingText-Regular"/>
            </a:endParaRPr>
          </a:p>
          <a:p>
            <a:pPr marL="0" indent="0" algn="l">
              <a:buNone/>
            </a:pPr>
            <a:endParaRPr lang="en-GB" sz="1800" dirty="0">
              <a:latin typeface="HardingText-Regular"/>
            </a:endParaRPr>
          </a:p>
          <a:p>
            <a:pPr marL="0" indent="0" algn="l">
              <a:buNone/>
            </a:pPr>
            <a:endParaRPr lang="en-GB" dirty="0"/>
          </a:p>
        </p:txBody>
      </p:sp>
      <p:sp>
        <p:nvSpPr>
          <p:cNvPr id="4" name="Title 1">
            <a:extLst>
              <a:ext uri="{FF2B5EF4-FFF2-40B4-BE49-F238E27FC236}">
                <a16:creationId xmlns:a16="http://schemas.microsoft.com/office/drawing/2014/main" id="{D0670F67-C4DD-4657-820E-FFB7E1BDD0B0}"/>
              </a:ext>
            </a:extLst>
          </p:cNvPr>
          <p:cNvSpPr txBox="1">
            <a:spLocks/>
          </p:cNvSpPr>
          <p:nvPr/>
        </p:nvSpPr>
        <p:spPr>
          <a:xfrm>
            <a:off x="457200" y="2985303"/>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dirty="0"/>
              <a:t>Discussion</a:t>
            </a:r>
          </a:p>
        </p:txBody>
      </p:sp>
    </p:spTree>
    <p:extLst>
      <p:ext uri="{BB962C8B-B14F-4D97-AF65-F5344CB8AC3E}">
        <p14:creationId xmlns:p14="http://schemas.microsoft.com/office/powerpoint/2010/main" val="12963572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5.5|11.3|6.1"/>
</p:tagLst>
</file>

<file path=ppt/tags/tag2.xml><?xml version="1.0" encoding="utf-8"?>
<p:tagLst xmlns:a="http://schemas.openxmlformats.org/drawingml/2006/main" xmlns:r="http://schemas.openxmlformats.org/officeDocument/2006/relationships" xmlns:p="http://schemas.openxmlformats.org/presentationml/2006/main">
  <p:tag name="TIMING" val="|0.7|6.9|2.3|53.4"/>
</p:tagLst>
</file>

<file path=ppt/tags/tag3.xml><?xml version="1.0" encoding="utf-8"?>
<p:tagLst xmlns:a="http://schemas.openxmlformats.org/drawingml/2006/main" xmlns:r="http://schemas.openxmlformats.org/officeDocument/2006/relationships" xmlns:p="http://schemas.openxmlformats.org/presentationml/2006/main">
  <p:tag name="TIMING" val="|14|12|7.8|8.1|21"/>
</p:tagLst>
</file>

<file path=ppt/tags/tag4.xml><?xml version="1.0" encoding="utf-8"?>
<p:tagLst xmlns:a="http://schemas.openxmlformats.org/drawingml/2006/main" xmlns:r="http://schemas.openxmlformats.org/officeDocument/2006/relationships" xmlns:p="http://schemas.openxmlformats.org/presentationml/2006/main">
  <p:tag name="TIMING" val="|153.6|30.7|0.6|0.4"/>
</p:tagLst>
</file>

<file path=ppt/tags/tag5.xml><?xml version="1.0" encoding="utf-8"?>
<p:tagLst xmlns:a="http://schemas.openxmlformats.org/drawingml/2006/main" xmlns:r="http://schemas.openxmlformats.org/officeDocument/2006/relationships" xmlns:p="http://schemas.openxmlformats.org/presentationml/2006/main">
  <p:tag name="TIMING" val="|1|35.1|5.2|18.2|0.4"/>
</p:tagLst>
</file>

<file path=ppt/tags/tag6.xml><?xml version="1.0" encoding="utf-8"?>
<p:tagLst xmlns:a="http://schemas.openxmlformats.org/drawingml/2006/main" xmlns:r="http://schemas.openxmlformats.org/officeDocument/2006/relationships" xmlns:p="http://schemas.openxmlformats.org/presentationml/2006/main">
  <p:tag name="TIMING" val="|0.6|3.7|0.4|0.7"/>
</p:tagLst>
</file>

<file path=ppt/tags/tag7.xml><?xml version="1.0" encoding="utf-8"?>
<p:tagLst xmlns:a="http://schemas.openxmlformats.org/drawingml/2006/main" xmlns:r="http://schemas.openxmlformats.org/officeDocument/2006/relationships" xmlns:p="http://schemas.openxmlformats.org/presentationml/2006/main">
  <p:tag name="TIMING" val="|5.7|53.3"/>
</p:tagLst>
</file>

<file path=ppt/tags/tag8.xml><?xml version="1.0" encoding="utf-8"?>
<p:tagLst xmlns:a="http://schemas.openxmlformats.org/drawingml/2006/main" xmlns:r="http://schemas.openxmlformats.org/officeDocument/2006/relationships" xmlns:p="http://schemas.openxmlformats.org/presentationml/2006/main">
  <p:tag name="TIMING" val="|0.6|12.7|16.6"/>
</p:tagLst>
</file>

<file path=ppt/tags/tag9.xml><?xml version="1.0" encoding="utf-8"?>
<p:tagLst xmlns:a="http://schemas.openxmlformats.org/drawingml/2006/main" xmlns:r="http://schemas.openxmlformats.org/officeDocument/2006/relationships" xmlns:p="http://schemas.openxmlformats.org/presentationml/2006/main">
  <p:tag name="TIMING" val="|0.5|16.5"/>
</p:tagLst>
</file>

<file path=ppt/tags/tag10.xml><?xml version="1.0" encoding="utf-8"?>
<p:tagLst xmlns:a="http://schemas.openxmlformats.org/drawingml/2006/main" xmlns:r="http://schemas.openxmlformats.org/officeDocument/2006/relationships" xmlns:p="http://schemas.openxmlformats.org/presentationml/2006/main">
  <p:tag name="TIMING" val="|0.5|10.4|1|0.5|0.5|0.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116786</TotalTime>
  <Words>2503</Words>
  <Application>Microsoft Office PowerPoint</Application>
  <PresentationFormat>On-screen Show (4:3)</PresentationFormat>
  <Paragraphs>391</Paragraphs>
  <Slides>80</Slides>
  <Notes>53</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80</vt:i4>
      </vt:variant>
    </vt:vector>
  </HeadingPairs>
  <TitlesOfParts>
    <vt:vector size="92" baseType="lpstr">
      <vt:lpstr>Arial</vt:lpstr>
      <vt:lpstr>Book Antiqua</vt:lpstr>
      <vt:lpstr>Calibri</vt:lpstr>
      <vt:lpstr>Comic Sans MS</vt:lpstr>
      <vt:lpstr>ElsevierGulliver</vt:lpstr>
      <vt:lpstr>HardingText-Regular</vt:lpstr>
      <vt:lpstr>Helvetica</vt:lpstr>
      <vt:lpstr>Montserrat</vt:lpstr>
      <vt:lpstr>Noto Sans</vt:lpstr>
      <vt:lpstr>Oswald</vt:lpstr>
      <vt:lpstr>Times</vt:lpstr>
      <vt:lpstr>Office Theme</vt:lpstr>
      <vt:lpstr>A Sustainable Planet</vt:lpstr>
      <vt:lpstr>Learning outcomes</vt:lpstr>
      <vt:lpstr>Untreated rock products -building stones and aggregates</vt:lpstr>
      <vt:lpstr>Building stone</vt:lpstr>
      <vt:lpstr>Crushed Rock = Aggregates</vt:lpstr>
      <vt:lpstr>Sand and Gravel</vt:lpstr>
      <vt:lpstr>PowerPoint Presentation</vt:lpstr>
      <vt:lpstr>treated rock products</vt:lpstr>
      <vt:lpstr>Cement</vt:lpstr>
      <vt:lpstr>Cement production process</vt:lpstr>
      <vt:lpstr>Glass</vt:lpstr>
      <vt:lpstr>Other industrial minerals</vt:lpstr>
      <vt:lpstr>Diamond – an abrasive</vt:lpstr>
      <vt:lpstr>Kimberlite pipes</vt:lpstr>
      <vt:lpstr>PowerPoint Presentation</vt:lpstr>
      <vt:lpstr>GOLD</vt:lpstr>
      <vt:lpstr>Gold</vt:lpstr>
      <vt:lpstr>Gold deposits</vt:lpstr>
      <vt:lpstr>Hydrothermal Au deposits</vt:lpstr>
      <vt:lpstr>Gold placer deposits</vt:lpstr>
      <vt:lpstr>Witwatersrand Au deposits</vt:lpstr>
      <vt:lpstr>PowerPoint Presentation</vt:lpstr>
      <vt:lpstr>Rare earth elements</vt:lpstr>
      <vt:lpstr>PowerPoint Presentation</vt:lpstr>
      <vt:lpstr>PowerPoint Presentation</vt:lpstr>
      <vt:lpstr>PowerPoint Presentation</vt:lpstr>
      <vt:lpstr>PowerPoint Presentation</vt:lpstr>
      <vt:lpstr>PowerPoint Presentation</vt:lpstr>
      <vt:lpstr>Fossil Fuels</vt:lpstr>
      <vt:lpstr>PowerPoint Presentation</vt:lpstr>
      <vt:lpstr>Carbon cycle</vt:lpstr>
      <vt:lpstr>Fossil fuel creation</vt:lpstr>
      <vt:lpstr>Coal</vt:lpstr>
      <vt:lpstr>Coal formation</vt:lpstr>
      <vt:lpstr>PowerPoint Presentation</vt:lpstr>
      <vt:lpstr>PowerPoint Presentation</vt:lpstr>
      <vt:lpstr>Age of Coal</vt:lpstr>
      <vt:lpstr>COAL</vt:lpstr>
      <vt:lpstr>Impurities       pollution</vt:lpstr>
      <vt:lpstr>OIL AND GAS</vt:lpstr>
      <vt:lpstr>Oil and gas formation</vt:lpstr>
      <vt:lpstr>Planktonic microorganisms</vt:lpstr>
      <vt:lpstr>PowerPoint Presentation</vt:lpstr>
      <vt:lpstr>PowerPoint Presentation</vt:lpstr>
      <vt:lpstr>Average accumulation rates over geological time</vt:lpstr>
      <vt:lpstr>PowerPoint Presentation</vt:lpstr>
      <vt:lpstr>Simple oil and gas trap</vt:lpstr>
      <vt:lpstr>Source rock e.g. Kimmeridge clay</vt:lpstr>
      <vt:lpstr>PowerPoint Presentation</vt:lpstr>
      <vt:lpstr>Reservoir rocks</vt:lpstr>
      <vt:lpstr>PowerPoint Presentation</vt:lpstr>
      <vt:lpstr>Blue-dyed thin section illustrating a reservoir rock</vt:lpstr>
      <vt:lpstr>Seal</vt:lpstr>
      <vt:lpstr>Oil and gas formation </vt:lpstr>
      <vt:lpstr>World Sedimentary Basins</vt:lpstr>
      <vt:lpstr>Oil discoveries past and future</vt:lpstr>
      <vt:lpstr>Peak Oil</vt:lpstr>
      <vt:lpstr>PowerPoint Presentation</vt:lpstr>
      <vt:lpstr>PowerPoint Presentation</vt:lpstr>
      <vt:lpstr>e.g. Offshore Platforms – Gulf of Mexico, USA.</vt:lpstr>
      <vt:lpstr>Primary oil recovery = gusher</vt:lpstr>
      <vt:lpstr>PowerPoint Presentation</vt:lpstr>
      <vt:lpstr>Nodding Donkeys.</vt:lpstr>
      <vt:lpstr>Enhanced oil recovery</vt:lpstr>
      <vt:lpstr>Oil Refining</vt:lpstr>
      <vt:lpstr>PowerPoint Presentation</vt:lpstr>
      <vt:lpstr>PowerPoint Presentation</vt:lpstr>
      <vt:lpstr>Unconventional Fossil Fuels</vt:lpstr>
      <vt:lpstr>PowerPoint Presentation</vt:lpstr>
      <vt:lpstr>PowerPoint Presentation</vt:lpstr>
      <vt:lpstr>PowerPoint Presentation</vt:lpstr>
      <vt:lpstr>Oil Shales/Sands</vt:lpstr>
      <vt:lpstr>Coalbed methane</vt:lpstr>
      <vt:lpstr>Shale gas</vt:lpstr>
      <vt:lpstr>PowerPoint Presentation</vt:lpstr>
      <vt:lpstr>Paper of the week</vt:lpstr>
      <vt:lpstr>Justification</vt:lpstr>
      <vt:lpstr>PowerPoint Presentation</vt:lpstr>
      <vt:lpstr>PowerPoint Presentation</vt:lpstr>
      <vt:lpstr>Conclusions</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Victoria Earl</dc:creator>
  <cp:lastModifiedBy>Victoria Coker</cp:lastModifiedBy>
  <cp:revision>128</cp:revision>
  <cp:lastPrinted>2019-02-05T18:31:22Z</cp:lastPrinted>
  <dcterms:created xsi:type="dcterms:W3CDTF">2013-09-03T14:12:59Z</dcterms:created>
  <dcterms:modified xsi:type="dcterms:W3CDTF">2025-03-07T16:05:46Z</dcterms:modified>
</cp:coreProperties>
</file>