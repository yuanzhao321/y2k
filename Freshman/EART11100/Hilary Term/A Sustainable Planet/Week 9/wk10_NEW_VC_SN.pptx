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6"/>
  </p:notesMasterIdLst>
  <p:sldIdLst>
    <p:sldId id="256" r:id="rId2"/>
    <p:sldId id="257" r:id="rId3"/>
    <p:sldId id="262" r:id="rId4"/>
    <p:sldId id="258" r:id="rId5"/>
    <p:sldId id="291" r:id="rId6"/>
    <p:sldId id="543" r:id="rId7"/>
    <p:sldId id="259" r:id="rId8"/>
    <p:sldId id="260" r:id="rId9"/>
    <p:sldId id="551" r:id="rId10"/>
    <p:sldId id="552" r:id="rId11"/>
    <p:sldId id="558" r:id="rId12"/>
    <p:sldId id="555" r:id="rId13"/>
    <p:sldId id="557" r:id="rId14"/>
    <p:sldId id="556" r:id="rId15"/>
    <p:sldId id="261" r:id="rId16"/>
    <p:sldId id="559" r:id="rId17"/>
    <p:sldId id="565" r:id="rId18"/>
    <p:sldId id="566" r:id="rId19"/>
    <p:sldId id="563" r:id="rId20"/>
    <p:sldId id="564" r:id="rId21"/>
    <p:sldId id="562" r:id="rId22"/>
    <p:sldId id="560" r:id="rId23"/>
    <p:sldId id="561" r:id="rId24"/>
    <p:sldId id="544" r:id="rId25"/>
    <p:sldId id="554" r:id="rId26"/>
    <p:sldId id="545" r:id="rId27"/>
    <p:sldId id="549" r:id="rId28"/>
    <p:sldId id="550" r:id="rId29"/>
    <p:sldId id="568" r:id="rId30"/>
    <p:sldId id="553" r:id="rId31"/>
    <p:sldId id="546" r:id="rId32"/>
    <p:sldId id="547" r:id="rId33"/>
    <p:sldId id="548" r:id="rId34"/>
    <p:sldId id="567" r:id="rId35"/>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664F27C-0BC6-1511-8AC2-C50C55FAC2EE}" name="Victoria Coker" initials="VC" userId="S::vicky.coker@manchester.ac.uk::d72aa273-31db-4826-9280-c88045117e4b"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445F81-020D-509A-2ABC-FD636FDD4A60}" v="87" dt="2025-04-01T08:10:02.496"/>
    <p1510:client id="{90BEFFBE-4E3E-2099-89E7-8BE83F84DDA2}" v="824" dt="2025-03-31T19:31:51.510"/>
    <p1510:client id="{99727A1D-8CF5-1D06-373B-196F61773014}" v="91" dt="2025-03-31T14:02:06.9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82B3FD-D054-47E5-8251-366C0D503321}" type="datetimeFigureOut">
              <a:t>4/1/2025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1BC0BD-7C0F-41B5-9DEC-CC9D0A01E90E}" type="slidenum">
              <a:t>‹#›</a:t>
            </a:fld>
            <a:endParaRPr lang="en-US"/>
          </a:p>
        </p:txBody>
      </p:sp>
    </p:spTree>
    <p:extLst>
      <p:ext uri="{BB962C8B-B14F-4D97-AF65-F5344CB8AC3E}">
        <p14:creationId xmlns:p14="http://schemas.microsoft.com/office/powerpoint/2010/main" val="8021337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8" Type="http://schemas.openxmlformats.org/officeDocument/2006/relationships/hyperlink" Target="http://en.wikipedia.org/wiki/Deepwater_Horizon_oil_spill#cite_note-Aspress-11" TargetMode="External"/><Relationship Id="rId3" Type="http://schemas.openxmlformats.org/officeDocument/2006/relationships/hyperlink" Target="http://en.wikipedia.org/wiki/Deepwater_Horizon_explosion" TargetMode="External"/><Relationship Id="rId7" Type="http://schemas.openxmlformats.org/officeDocument/2006/relationships/hyperlink" Target="http://en.wikipedia.org/wiki/Deepwater_Horizon_oil_spill#cite_note-report2011-3" TargetMode="External"/><Relationship Id="rId2" Type="http://schemas.openxmlformats.org/officeDocument/2006/relationships/slide" Target="../slides/slide5.xml"/><Relationship Id="rId1" Type="http://schemas.openxmlformats.org/officeDocument/2006/relationships/notesMaster" Target="../notesMasters/notesMaster1.xml"/><Relationship Id="rId6" Type="http://schemas.openxmlformats.org/officeDocument/2006/relationships/hyperlink" Target="http://en.wikipedia.org/wiki/Deepwater_Horizon_oil_spill#cite_note-Yahoo7-20100715-10" TargetMode="External"/><Relationship Id="rId5" Type="http://schemas.openxmlformats.org/officeDocument/2006/relationships/hyperlink" Target="http://en.wikipedia.org/wiki/Deepwater_Horizon_oil_spill#cite_note-nyt020810-8" TargetMode="External"/><Relationship Id="rId10" Type="http://schemas.openxmlformats.org/officeDocument/2006/relationships/hyperlink" Target="http://en.wikipedia.org/wiki/Deepwater_Horizon_oil_spill#cite_note-AutoBB-3-13" TargetMode="External"/><Relationship Id="rId4" Type="http://schemas.openxmlformats.org/officeDocument/2006/relationships/hyperlink" Target="http://en.wikipedia.org/wiki/Oil_gusher" TargetMode="External"/><Relationship Id="rId9" Type="http://schemas.openxmlformats.org/officeDocument/2006/relationships/hyperlink" Target="http://en.wikipedia.org/wiki/Deepwater_Horizon_oil_spill#cite_note-aljazeera1-12"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73350" y="509588"/>
            <a:ext cx="4527550" cy="2547937"/>
          </a:xfrm>
        </p:spPr>
      </p:sp>
      <p:sp>
        <p:nvSpPr>
          <p:cNvPr id="3" name="Notes Placeholder 2"/>
          <p:cNvSpPr>
            <a:spLocks noGrp="1"/>
          </p:cNvSpPr>
          <p:nvPr>
            <p:ph type="body" idx="1"/>
          </p:nvPr>
        </p:nvSpPr>
        <p:spPr/>
        <p:txBody>
          <a:bodyPr/>
          <a:lstStyle/>
          <a:p>
            <a:r>
              <a:rPr lang="en-GB"/>
              <a:t>Following the </a:t>
            </a:r>
            <a:r>
              <a:rPr lang="en-GB" u="sng">
                <a:hlinkClick r:id="rId3" tooltip="Deepwater Horizon explosion"/>
              </a:rPr>
              <a:t>explosion and sinking of the </a:t>
            </a:r>
            <a:r>
              <a:rPr lang="en-GB" i="1" u="sng">
                <a:hlinkClick r:id="rId3" tooltip="Deepwater Horizon explosion"/>
              </a:rPr>
              <a:t>Deepwater Horizon</a:t>
            </a:r>
            <a:r>
              <a:rPr lang="en-GB" u="sng">
                <a:hlinkClick r:id="rId3" tooltip="Deepwater Horizon explosion"/>
              </a:rPr>
              <a:t> oil rig</a:t>
            </a:r>
            <a:r>
              <a:rPr lang="en-GB"/>
              <a:t>, a sea-floor </a:t>
            </a:r>
            <a:r>
              <a:rPr lang="en-GB">
                <a:hlinkClick r:id="rId4" tooltip="Oil gusher"/>
              </a:rPr>
              <a:t>oil gusher</a:t>
            </a:r>
            <a:r>
              <a:rPr lang="en-GB"/>
              <a:t> flowed for 87 days, until it was capped on 15 July 2010.</a:t>
            </a:r>
            <a:r>
              <a:rPr lang="en-GB" baseline="30000">
                <a:hlinkClick r:id="rId5"/>
              </a:rPr>
              <a:t>[8]</a:t>
            </a:r>
            <a:r>
              <a:rPr lang="en-GB" baseline="30000">
                <a:hlinkClick r:id="rId6"/>
              </a:rPr>
              <a:t>[10]</a:t>
            </a:r>
            <a:r>
              <a:rPr lang="en-GB"/>
              <a:t> The US Government estimated the total discharge at 4.9 million barrels (210 million US gal; 780,000 m</a:t>
            </a:r>
            <a:r>
              <a:rPr lang="en-GB" baseline="30000"/>
              <a:t>3</a:t>
            </a:r>
            <a:r>
              <a:rPr lang="en-GB"/>
              <a:t>).</a:t>
            </a:r>
            <a:r>
              <a:rPr lang="en-GB" baseline="30000">
                <a:hlinkClick r:id="rId7"/>
              </a:rPr>
              <a:t>[3]</a:t>
            </a:r>
            <a:r>
              <a:rPr lang="en-GB"/>
              <a:t> After several failed efforts to contain the flow, the well was declared sealed on 19 September 2010.</a:t>
            </a:r>
            <a:r>
              <a:rPr lang="en-GB" baseline="30000">
                <a:hlinkClick r:id="rId8"/>
              </a:rPr>
              <a:t>[11]</a:t>
            </a:r>
            <a:r>
              <a:rPr lang="en-GB"/>
              <a:t> Some reports indicate the well site continues to leak.</a:t>
            </a:r>
            <a:r>
              <a:rPr lang="en-GB" baseline="30000">
                <a:hlinkClick r:id="rId9"/>
              </a:rPr>
              <a:t>[12]</a:t>
            </a:r>
            <a:r>
              <a:rPr lang="en-GB" baseline="30000">
                <a:hlinkClick r:id="rId10"/>
              </a:rPr>
              <a:t>[13]</a:t>
            </a:r>
            <a:endParaRPr lang="en-GB"/>
          </a:p>
        </p:txBody>
      </p:sp>
      <p:sp>
        <p:nvSpPr>
          <p:cNvPr id="4" name="Slide Number Placeholder 3"/>
          <p:cNvSpPr>
            <a:spLocks noGrp="1"/>
          </p:cNvSpPr>
          <p:nvPr>
            <p:ph type="sldNum" sz="quarter" idx="10"/>
          </p:nvPr>
        </p:nvSpPr>
        <p:spPr/>
        <p:txBody>
          <a:bodyPr/>
          <a:lstStyle/>
          <a:p>
            <a:fld id="{18B8CF42-9C27-4D2E-95E0-FB8BD74F8E6A}" type="slidenum">
              <a:rPr lang="en-GB" smtClean="0"/>
              <a:t>5</a:t>
            </a:fld>
            <a:endParaRPr lang="en-GB"/>
          </a:p>
        </p:txBody>
      </p:sp>
    </p:spTree>
    <p:extLst>
      <p:ext uri="{BB962C8B-B14F-4D97-AF65-F5344CB8AC3E}">
        <p14:creationId xmlns:p14="http://schemas.microsoft.com/office/powerpoint/2010/main" val="40596369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nSpc>
                <a:spcPct val="90000"/>
              </a:lnSpc>
              <a:spcBef>
                <a:spcPts val="1000"/>
              </a:spcBef>
              <a:buFont typeface="Arial"/>
              <a:buChar char="•"/>
            </a:pPr>
            <a:r>
              <a:rPr lang="en-US"/>
              <a:t>Great East Japan Earthquake </a:t>
            </a:r>
            <a:r>
              <a:rPr lang="en-US" err="1"/>
              <a:t>triggereda</a:t>
            </a:r>
            <a:r>
              <a:rPr lang="en-US"/>
              <a:t> 15m tsunami damaged a </a:t>
            </a:r>
            <a:r>
              <a:rPr lang="en-US" err="1"/>
              <a:t>nuclearpower</a:t>
            </a:r>
            <a:r>
              <a:rPr lang="en-US"/>
              <a:t> plant</a:t>
            </a:r>
          </a:p>
          <a:p>
            <a:pPr marL="285750" indent="-285750">
              <a:lnSpc>
                <a:spcPct val="90000"/>
              </a:lnSpc>
              <a:spcBef>
                <a:spcPts val="1000"/>
              </a:spcBef>
              <a:buFont typeface="Arial"/>
              <a:buChar char="•"/>
            </a:pPr>
            <a:r>
              <a:rPr lang="en-US"/>
              <a:t>No deaths (or 1 death) or cases </a:t>
            </a:r>
            <a:r>
              <a:rPr lang="en-US" err="1"/>
              <a:t>ofradiation</a:t>
            </a:r>
            <a:r>
              <a:rPr lang="en-US"/>
              <a:t> sickness from the </a:t>
            </a:r>
            <a:r>
              <a:rPr lang="en-US" err="1"/>
              <a:t>nuclearaccident</a:t>
            </a:r>
            <a:r>
              <a:rPr lang="en-US"/>
              <a:t>, but over 100,000 </a:t>
            </a:r>
            <a:r>
              <a:rPr lang="en-US" err="1"/>
              <a:t>peoplewere</a:t>
            </a:r>
            <a:r>
              <a:rPr lang="en-US"/>
              <a:t> evacuated from their homes</a:t>
            </a:r>
            <a:endParaRPr lang="en-US">
              <a:ea typeface="Calibri"/>
              <a:cs typeface="Calibri"/>
            </a:endParaRPr>
          </a:p>
          <a:p>
            <a:pPr marL="285750" indent="-285750">
              <a:lnSpc>
                <a:spcPct val="90000"/>
              </a:lnSpc>
              <a:spcBef>
                <a:spcPts val="1000"/>
              </a:spcBef>
              <a:buFont typeface="Arial"/>
              <a:buChar char="•"/>
            </a:pPr>
            <a:r>
              <a:rPr lang="en-US"/>
              <a:t>Waste disposal and clean up is </a:t>
            </a:r>
            <a:r>
              <a:rPr lang="en-US" err="1"/>
              <a:t>amassive</a:t>
            </a:r>
            <a:r>
              <a:rPr lang="en-US"/>
              <a:t> challenge (2050+)</a:t>
            </a:r>
            <a:endParaRPr lang="en-US">
              <a:ea typeface="Calibri"/>
              <a:cs typeface="Calibri"/>
            </a:endParaRPr>
          </a:p>
        </p:txBody>
      </p:sp>
      <p:sp>
        <p:nvSpPr>
          <p:cNvPr id="4" name="Slide Number Placeholder 3"/>
          <p:cNvSpPr>
            <a:spLocks noGrp="1"/>
          </p:cNvSpPr>
          <p:nvPr>
            <p:ph type="sldNum" sz="quarter" idx="5"/>
          </p:nvPr>
        </p:nvSpPr>
        <p:spPr/>
        <p:txBody>
          <a:bodyPr/>
          <a:lstStyle/>
          <a:p>
            <a:fld id="{301BC0BD-7C0F-41B5-9DEC-CC9D0A01E90E}" type="slidenum">
              <a:rPr lang="en-US"/>
              <a:t>7</a:t>
            </a:fld>
            <a:endParaRPr lang="en-US"/>
          </a:p>
        </p:txBody>
      </p:sp>
    </p:spTree>
    <p:extLst>
      <p:ext uri="{BB962C8B-B14F-4D97-AF65-F5344CB8AC3E}">
        <p14:creationId xmlns:p14="http://schemas.microsoft.com/office/powerpoint/2010/main" val="1306257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GB" dirty="0"/>
              <a:t>Logging causes huge impacts on biodiversity….with huge potential to affect ecosystem functioning Some groups of animals reach thresholds or tipping points beyond which change is irreversible. Perhaps logging can be managed to ensure the survival of some key biodiversity groups? But we need to know what these thresholds are and be able to police the logging</a:t>
            </a:r>
          </a:p>
        </p:txBody>
      </p:sp>
      <p:sp>
        <p:nvSpPr>
          <p:cNvPr id="4" name="Slide Number Placeholder 3"/>
          <p:cNvSpPr>
            <a:spLocks noGrp="1"/>
          </p:cNvSpPr>
          <p:nvPr>
            <p:ph type="sldNum" sz="quarter" idx="5"/>
          </p:nvPr>
        </p:nvSpPr>
        <p:spPr/>
        <p:txBody>
          <a:bodyPr/>
          <a:lstStyle/>
          <a:p>
            <a:fld id="{53501A4A-7565-9343-B8CA-A28287C647A0}" type="slidenum">
              <a:rPr lang="en-GB" smtClean="0"/>
              <a:t>18</a:t>
            </a:fld>
            <a:endParaRPr lang="en-GB"/>
          </a:p>
        </p:txBody>
      </p:sp>
    </p:spTree>
    <p:extLst>
      <p:ext uri="{BB962C8B-B14F-4D97-AF65-F5344CB8AC3E}">
        <p14:creationId xmlns:p14="http://schemas.microsoft.com/office/powerpoint/2010/main" val="1037763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https://link.springer.com/article/10.1007/s002549900096</a:t>
            </a:r>
          </a:p>
        </p:txBody>
      </p:sp>
      <p:sp>
        <p:nvSpPr>
          <p:cNvPr id="4" name="Slide Number Placeholder 3"/>
          <p:cNvSpPr>
            <a:spLocks noGrp="1"/>
          </p:cNvSpPr>
          <p:nvPr>
            <p:ph type="sldNum" sz="quarter" idx="5"/>
          </p:nvPr>
        </p:nvSpPr>
        <p:spPr/>
        <p:txBody>
          <a:bodyPr/>
          <a:lstStyle/>
          <a:p>
            <a:fld id="{301BC0BD-7C0F-41B5-9DEC-CC9D0A01E90E}" type="slidenum">
              <a:rPr lang="en-US"/>
              <a:t>28</a:t>
            </a:fld>
            <a:endParaRPr lang="en-US"/>
          </a:p>
        </p:txBody>
      </p:sp>
    </p:spTree>
    <p:extLst>
      <p:ext uri="{BB962C8B-B14F-4D97-AF65-F5344CB8AC3E}">
        <p14:creationId xmlns:p14="http://schemas.microsoft.com/office/powerpoint/2010/main" val="37627276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01/04/2025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01/04/2025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01/04/2025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p:cNvSpPr>
            <a:spLocks noGrp="1"/>
          </p:cNvSpPr>
          <p:nvPr>
            <p:ph type="dt" sz="half" idx="10"/>
          </p:nvPr>
        </p:nvSpPr>
        <p:spPr/>
        <p:txBody>
          <a:bodyPr/>
          <a:lstStyle/>
          <a:p>
            <a:fld id="{846CE7D5-CF57-46EF-B807-FDD0502418D4}" type="datetimeFigureOut">
              <a:rPr lang="en-GB" smtClean="0"/>
              <a:t>01/04/2025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p:cNvSpPr>
            <a:spLocks noGrp="1"/>
          </p:cNvSpPr>
          <p:nvPr>
            <p:ph type="dt" sz="half" idx="10"/>
          </p:nvPr>
        </p:nvSpPr>
        <p:spPr/>
        <p:txBody>
          <a:bodyPr/>
          <a:lstStyle/>
          <a:p>
            <a:fld id="{846CE7D5-CF57-46EF-B807-FDD0502418D4}" type="datetimeFigureOut">
              <a:rPr lang="en-GB" smtClean="0"/>
              <a:t>01/04/2025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GB" smtClean="0"/>
              <a:t>01/04/2025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01/04/2025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01/04/2025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01/04/2025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01/04/2025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01/04/2025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t>01/04/2025</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hyperlink" Target="https://www.nature.com/articles/368413a0.epdf?sharing_token=dAe19FP-_JSJq_ieYOBuAdRgN0jAjWel9jnR3ZoTv0N0C0gQePoP6ypsP5yDI4W8J2lPVNypMrSo0xu-iP99Um8myRZgjKF47dpfE-QSgc_t4HKLFIHV9C7vrtAL3AzGw30Ny0K2E-Tq04eBxNQBe6cz8HZ-jXkDPv6DoY4ntgeIGQSKM0dg5dzD2XGNvt9FGE-yv19U6GJDePHdlGJ6ow%3D%3D&amp;tracking_referrer=www.bbc.co.uk"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40.jpeg"/><Relationship Id="rId5" Type="http://schemas.openxmlformats.org/officeDocument/2006/relationships/image" Target="../media/image39.jpeg"/><Relationship Id="rId4" Type="http://schemas.openxmlformats.org/officeDocument/2006/relationships/image" Target="../media/image38.png"/></Relationships>
</file>

<file path=ppt/slides/_rels/slide1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1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5" Type="http://schemas.openxmlformats.org/officeDocument/2006/relationships/image" Target="../media/image47.jpeg"/><Relationship Id="rId4" Type="http://schemas.openxmlformats.org/officeDocument/2006/relationships/image" Target="../media/image46.png"/></Relationships>
</file>

<file path=ppt/slides/_rels/slide1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6.png"/></Relationships>
</file>

<file path=ppt/slides/_rels/slide18.xml.rels><?xml version="1.0" encoding="UTF-8" standalone="yes"?>
<Relationships xmlns="http://schemas.openxmlformats.org/package/2006/relationships"><Relationship Id="rId3" Type="http://schemas.openxmlformats.org/officeDocument/2006/relationships/image" Target="../media/image49.tiff"/><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s://doi.org/10.1016/j.cub.2014.06.065"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50.jpeg"/><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jpeg"/></Relationships>
</file>

<file path=ppt/slides/_rels/slide2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2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jpeg"/><Relationship Id="rId1" Type="http://schemas.openxmlformats.org/officeDocument/2006/relationships/slideLayout" Target="../slideLayouts/slideLayout2.xml"/><Relationship Id="rId6" Type="http://schemas.openxmlformats.org/officeDocument/2006/relationships/image" Target="../media/image62.jpeg"/><Relationship Id="rId5" Type="http://schemas.openxmlformats.org/officeDocument/2006/relationships/image" Target="../media/image61.png"/><Relationship Id="rId4" Type="http://schemas.openxmlformats.org/officeDocument/2006/relationships/image" Target="../media/image60.jpeg"/></Relationships>
</file>

<file path=ppt/slides/_rels/slide2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63.jpeg"/><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2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_rels/slide28.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s>
</file>

<file path=ppt/slides/_rels/slide29.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2.xml"/><Relationship Id="rId4" Type="http://schemas.openxmlformats.org/officeDocument/2006/relationships/image" Target="../media/image86.png"/></Relationships>
</file>

<file path=ppt/slides/_rels/slide33.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a:t>Environmental challenges and solutions</a:t>
            </a:r>
          </a:p>
        </p:txBody>
      </p:sp>
      <p:sp>
        <p:nvSpPr>
          <p:cNvPr id="3" name="Subtitle 2"/>
          <p:cNvSpPr>
            <a:spLocks noGrp="1"/>
          </p:cNvSpPr>
          <p:nvPr>
            <p:ph type="subTitle" idx="1"/>
          </p:nvPr>
        </p:nvSpPr>
        <p:spPr/>
        <p:txBody>
          <a:bodyPr vert="horz" lIns="91440" tIns="45720" rIns="91440" bIns="45720" rtlCol="0" anchor="t">
            <a:normAutofit/>
          </a:bodyPr>
          <a:lstStyle/>
          <a:p>
            <a:r>
              <a:rPr lang="en-GB" dirty="0"/>
              <a:t>Prof Sophie Nixon and Dr Vicky Coker</a:t>
            </a:r>
          </a:p>
          <a:p>
            <a:endParaRPr lang="en-GB" dirty="0"/>
          </a:p>
          <a:p>
            <a:r>
              <a:rPr lang="en-GB" dirty="0"/>
              <a:t>Week 10 Sustainable Planet 2025</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0E4E1-522F-B882-EED3-F294D7F8C480}"/>
              </a:ext>
            </a:extLst>
          </p:cNvPr>
          <p:cNvSpPr>
            <a:spLocks noGrp="1"/>
          </p:cNvSpPr>
          <p:nvPr>
            <p:ph type="title"/>
          </p:nvPr>
        </p:nvSpPr>
        <p:spPr/>
        <p:txBody>
          <a:bodyPr/>
          <a:lstStyle/>
          <a:p>
            <a:r>
              <a:rPr lang="en-US" dirty="0"/>
              <a:t>Intended Learning Outcomes</a:t>
            </a:r>
          </a:p>
        </p:txBody>
      </p:sp>
      <p:sp>
        <p:nvSpPr>
          <p:cNvPr id="3" name="Content Placeholder 2">
            <a:extLst>
              <a:ext uri="{FF2B5EF4-FFF2-40B4-BE49-F238E27FC236}">
                <a16:creationId xmlns:a16="http://schemas.microsoft.com/office/drawing/2014/main" id="{76CC3DFB-3FCE-C2BE-51CC-85722CC7A7CD}"/>
              </a:ext>
            </a:extLst>
          </p:cNvPr>
          <p:cNvSpPr>
            <a:spLocks noGrp="1"/>
          </p:cNvSpPr>
          <p:nvPr>
            <p:ph idx="1"/>
          </p:nvPr>
        </p:nvSpPr>
        <p:spPr/>
        <p:txBody>
          <a:bodyPr vert="horz" lIns="91440" tIns="45720" rIns="91440" bIns="45720" rtlCol="0" anchor="t">
            <a:normAutofit/>
          </a:bodyPr>
          <a:lstStyle/>
          <a:p>
            <a:r>
              <a:rPr lang="en-US" dirty="0">
                <a:ea typeface="+mn-lt"/>
                <a:cs typeface="+mn-lt"/>
              </a:rPr>
              <a:t>Identify the range and environmental consequences of major industrial and natural disasters</a:t>
            </a:r>
            <a:endParaRPr lang="en-US" dirty="0"/>
          </a:p>
          <a:p>
            <a:r>
              <a:rPr lang="en-US" dirty="0">
                <a:ea typeface="+mn-lt"/>
                <a:cs typeface="+mn-lt"/>
              </a:rPr>
              <a:t>Evaluate different remediation and mitigation strategies for environmental contamination and ecosystem recovery</a:t>
            </a:r>
            <a:endParaRPr lang="en-US" dirty="0"/>
          </a:p>
          <a:p>
            <a:r>
              <a:rPr lang="en-US" dirty="0">
                <a:ea typeface="+mn-lt"/>
                <a:cs typeface="+mn-lt"/>
              </a:rPr>
              <a:t>Assess the role of legislation and engineering solutions in preventing future environmental disasters</a:t>
            </a:r>
            <a:endParaRPr lang="en-US" dirty="0"/>
          </a:p>
          <a:p>
            <a:r>
              <a:rPr lang="en-US" dirty="0">
                <a:ea typeface="+mn-lt"/>
                <a:cs typeface="+mn-lt"/>
              </a:rPr>
              <a:t>Analyze case studies to identify key lessons learned and their implications for sustainable environmental management</a:t>
            </a:r>
            <a:endParaRPr lang="en-US" dirty="0"/>
          </a:p>
          <a:p>
            <a:endParaRPr lang="en-US" dirty="0"/>
          </a:p>
        </p:txBody>
      </p:sp>
    </p:spTree>
    <p:extLst>
      <p:ext uri="{BB962C8B-B14F-4D97-AF65-F5344CB8AC3E}">
        <p14:creationId xmlns:p14="http://schemas.microsoft.com/office/powerpoint/2010/main" val="481125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81C31A7-8C21-AF51-8BE6-525D20D005B3}"/>
              </a:ext>
            </a:extLst>
          </p:cNvPr>
          <p:cNvPicPr>
            <a:picLocks noChangeAspect="1"/>
          </p:cNvPicPr>
          <p:nvPr/>
        </p:nvPicPr>
        <p:blipFill>
          <a:blip r:embed="rId2"/>
          <a:srcRect t="10802" r="55549" b="-164"/>
          <a:stretch/>
        </p:blipFill>
        <p:spPr>
          <a:xfrm>
            <a:off x="7696578" y="361079"/>
            <a:ext cx="4138215" cy="6128432"/>
          </a:xfrm>
          <a:prstGeom prst="rect">
            <a:avLst/>
          </a:prstGeom>
        </p:spPr>
      </p:pic>
      <p:pic>
        <p:nvPicPr>
          <p:cNvPr id="3" name="Picture 2" descr="A collage of a construction site&#10;&#10;AI-generated content may be incorrect.">
            <a:extLst>
              <a:ext uri="{FF2B5EF4-FFF2-40B4-BE49-F238E27FC236}">
                <a16:creationId xmlns:a16="http://schemas.microsoft.com/office/drawing/2014/main" id="{786F52C0-510C-1321-DD85-56D1E77044F6}"/>
              </a:ext>
            </a:extLst>
          </p:cNvPr>
          <p:cNvPicPr>
            <a:picLocks noChangeAspect="1"/>
          </p:cNvPicPr>
          <p:nvPr/>
        </p:nvPicPr>
        <p:blipFill>
          <a:blip r:embed="rId2"/>
          <a:srcRect l="44404" t="50573" r="120" b="-164"/>
          <a:stretch/>
        </p:blipFill>
        <p:spPr>
          <a:xfrm>
            <a:off x="499290" y="1064558"/>
            <a:ext cx="4042700" cy="2702444"/>
          </a:xfrm>
          <a:prstGeom prst="rect">
            <a:avLst/>
          </a:prstGeom>
        </p:spPr>
      </p:pic>
      <p:sp>
        <p:nvSpPr>
          <p:cNvPr id="4" name="Title 3">
            <a:extLst>
              <a:ext uri="{FF2B5EF4-FFF2-40B4-BE49-F238E27FC236}">
                <a16:creationId xmlns:a16="http://schemas.microsoft.com/office/drawing/2014/main" id="{335E2888-39D6-4623-0338-89E7623DA6C9}"/>
              </a:ext>
            </a:extLst>
          </p:cNvPr>
          <p:cNvSpPr>
            <a:spLocks noGrp="1"/>
          </p:cNvSpPr>
          <p:nvPr>
            <p:ph type="title"/>
          </p:nvPr>
        </p:nvSpPr>
        <p:spPr>
          <a:xfrm>
            <a:off x="76200" y="-5292"/>
            <a:ext cx="10515600" cy="1325563"/>
          </a:xfrm>
        </p:spPr>
        <p:txBody>
          <a:bodyPr/>
          <a:lstStyle/>
          <a:p>
            <a:r>
              <a:rPr lang="en-US"/>
              <a:t>Coal: Mine Spoil Tip Collapse</a:t>
            </a:r>
          </a:p>
        </p:txBody>
      </p:sp>
      <p:sp>
        <p:nvSpPr>
          <p:cNvPr id="5" name="Content Placeholder 4">
            <a:extLst>
              <a:ext uri="{FF2B5EF4-FFF2-40B4-BE49-F238E27FC236}">
                <a16:creationId xmlns:a16="http://schemas.microsoft.com/office/drawing/2014/main" id="{63B73860-1FC0-CBFA-1242-50F8A7BE463F}"/>
              </a:ext>
            </a:extLst>
          </p:cNvPr>
          <p:cNvSpPr>
            <a:spLocks noGrp="1"/>
          </p:cNvSpPr>
          <p:nvPr>
            <p:ph sz="half" idx="1"/>
          </p:nvPr>
        </p:nvSpPr>
        <p:spPr>
          <a:xfrm>
            <a:off x="287867" y="3762375"/>
            <a:ext cx="7404099" cy="2827337"/>
          </a:xfrm>
        </p:spPr>
        <p:txBody>
          <a:bodyPr vert="horz" lIns="91440" tIns="45720" rIns="91440" bIns="45720" rtlCol="0" anchor="t">
            <a:normAutofit/>
          </a:bodyPr>
          <a:lstStyle/>
          <a:p>
            <a:r>
              <a:rPr lang="en-US"/>
              <a:t>Solutions</a:t>
            </a:r>
          </a:p>
          <a:p>
            <a:pPr lvl="1">
              <a:buFont typeface="Courier New" panose="020B0604020202020204" pitchFamily="34" charset="0"/>
              <a:buChar char="o"/>
            </a:pPr>
            <a:r>
              <a:rPr lang="en-US"/>
              <a:t>Regulation</a:t>
            </a:r>
          </a:p>
          <a:p>
            <a:pPr lvl="1">
              <a:buFont typeface="Courier New" panose="020B0604020202020204" pitchFamily="34" charset="0"/>
              <a:buChar char="o"/>
            </a:pPr>
            <a:r>
              <a:rPr lang="en-US"/>
              <a:t>Revegetation/reclamation</a:t>
            </a:r>
          </a:p>
          <a:p>
            <a:pPr lvl="1">
              <a:buFont typeface="Courier New" panose="020B0604020202020204" pitchFamily="34" charset="0"/>
              <a:buChar char="o"/>
            </a:pPr>
            <a:r>
              <a:rPr lang="en-US"/>
              <a:t>Understanding of controlling factors</a:t>
            </a:r>
          </a:p>
          <a:p>
            <a:pPr lvl="2">
              <a:buFont typeface="Wingdings" panose="020B0604020202020204" pitchFamily="34" charset="0"/>
              <a:buChar char="§"/>
            </a:pPr>
            <a:r>
              <a:rPr lang="en-US">
                <a:solidFill>
                  <a:srgbClr val="000000"/>
                </a:solidFill>
                <a:latin typeface="Aptos"/>
              </a:rPr>
              <a:t>physical, hydraulic, and mechanical characteristics</a:t>
            </a:r>
          </a:p>
          <a:p>
            <a:pPr lvl="2">
              <a:buFont typeface="Wingdings" panose="020B0604020202020204" pitchFamily="34" charset="0"/>
              <a:buChar char="§"/>
            </a:pPr>
            <a:r>
              <a:rPr lang="en-US">
                <a:solidFill>
                  <a:srgbClr val="000000"/>
                </a:solidFill>
                <a:latin typeface="Aptos"/>
              </a:rPr>
              <a:t>climatic conditions </a:t>
            </a:r>
          </a:p>
          <a:p>
            <a:pPr lvl="2">
              <a:buFont typeface="Wingdings" panose="020B0604020202020204" pitchFamily="34" charset="0"/>
              <a:buChar char="§"/>
            </a:pPr>
            <a:r>
              <a:rPr lang="en-US">
                <a:solidFill>
                  <a:srgbClr val="000000"/>
                </a:solidFill>
                <a:latin typeface="Aptos"/>
              </a:rPr>
              <a:t>slope geometry</a:t>
            </a:r>
            <a:endParaRPr lang="en-US"/>
          </a:p>
          <a:p>
            <a:pPr lvl="2">
              <a:buFont typeface="Wingdings" panose="020B0604020202020204" pitchFamily="34" charset="0"/>
              <a:buChar char="§"/>
            </a:pPr>
            <a:endParaRPr lang="en-US"/>
          </a:p>
        </p:txBody>
      </p:sp>
    </p:spTree>
    <p:extLst>
      <p:ext uri="{BB962C8B-B14F-4D97-AF65-F5344CB8AC3E}">
        <p14:creationId xmlns:p14="http://schemas.microsoft.com/office/powerpoint/2010/main" val="37351349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7E023-31FD-5323-A690-62B6613E53D0}"/>
              </a:ext>
            </a:extLst>
          </p:cNvPr>
          <p:cNvSpPr>
            <a:spLocks noGrp="1"/>
          </p:cNvSpPr>
          <p:nvPr>
            <p:ph type="title"/>
          </p:nvPr>
        </p:nvSpPr>
        <p:spPr>
          <a:xfrm>
            <a:off x="86783" y="-206375"/>
            <a:ext cx="10515600" cy="1325563"/>
          </a:xfrm>
        </p:spPr>
        <p:txBody>
          <a:bodyPr/>
          <a:lstStyle/>
          <a:p>
            <a:r>
              <a:rPr lang="en-US"/>
              <a:t>Oil: Exxon-Valdez Spillage, Alaska</a:t>
            </a:r>
          </a:p>
        </p:txBody>
      </p:sp>
      <p:sp>
        <p:nvSpPr>
          <p:cNvPr id="3" name="Content Placeholder 2">
            <a:extLst>
              <a:ext uri="{FF2B5EF4-FFF2-40B4-BE49-F238E27FC236}">
                <a16:creationId xmlns:a16="http://schemas.microsoft.com/office/drawing/2014/main" id="{655FE21A-F1A5-9643-0D79-79838FAFB4B8}"/>
              </a:ext>
            </a:extLst>
          </p:cNvPr>
          <p:cNvSpPr>
            <a:spLocks noGrp="1"/>
          </p:cNvSpPr>
          <p:nvPr>
            <p:ph idx="1"/>
          </p:nvPr>
        </p:nvSpPr>
        <p:spPr>
          <a:xfrm>
            <a:off x="266700" y="788458"/>
            <a:ext cx="8621184" cy="4351338"/>
          </a:xfrm>
        </p:spPr>
        <p:txBody>
          <a:bodyPr vert="horz" lIns="91440" tIns="45720" rIns="91440" bIns="45720" rtlCol="0" anchor="t">
            <a:normAutofit/>
          </a:bodyPr>
          <a:lstStyle/>
          <a:p>
            <a:r>
              <a:rPr lang="en-US" sz="2200">
                <a:latin typeface="Calibri"/>
                <a:ea typeface="Calibri"/>
                <a:cs typeface="Calibri"/>
              </a:rPr>
              <a:t>Prince William Sound</a:t>
            </a:r>
            <a:endParaRPr lang="en-US">
              <a:latin typeface="Aptos" panose="020B0004020202020204"/>
              <a:ea typeface="Calibri"/>
              <a:cs typeface="Calibri"/>
            </a:endParaRPr>
          </a:p>
          <a:p>
            <a:r>
              <a:rPr lang="en-US" sz="2200">
                <a:latin typeface="Calibri"/>
                <a:ea typeface="Calibri"/>
                <a:cs typeface="Calibri"/>
              </a:rPr>
              <a:t>11 million gallons (125 </a:t>
            </a:r>
            <a:r>
              <a:rPr lang="en-US" sz="2200" err="1">
                <a:latin typeface="Calibri"/>
                <a:ea typeface="Calibri"/>
                <a:cs typeface="Calibri"/>
              </a:rPr>
              <a:t>olympic</a:t>
            </a:r>
            <a:r>
              <a:rPr lang="en-US" sz="2200">
                <a:latin typeface="Calibri"/>
                <a:ea typeface="Calibri"/>
                <a:cs typeface="Calibri"/>
              </a:rPr>
              <a:t> swimming pools) over 800 km coastline </a:t>
            </a:r>
          </a:p>
          <a:p>
            <a:r>
              <a:rPr lang="en-US" sz="2200">
                <a:latin typeface="Calibri"/>
                <a:ea typeface="Calibri"/>
                <a:cs typeface="Calibri"/>
              </a:rPr>
              <a:t>400,000 sea birds</a:t>
            </a:r>
            <a:endParaRPr lang="en-US">
              <a:latin typeface="Aptos" panose="020B0004020202020204"/>
              <a:ea typeface="Calibri"/>
              <a:cs typeface="Calibri"/>
            </a:endParaRPr>
          </a:p>
          <a:p>
            <a:r>
              <a:rPr lang="en-US" sz="2200">
                <a:latin typeface="Calibri"/>
                <a:ea typeface="Calibri"/>
                <a:cs typeface="Calibri"/>
              </a:rPr>
              <a:t>4000 sea otters dead</a:t>
            </a:r>
          </a:p>
          <a:p>
            <a:r>
              <a:rPr lang="en-US" sz="2200">
                <a:latin typeface="Calibri"/>
                <a:ea typeface="Calibri"/>
                <a:cs typeface="Calibri"/>
              </a:rPr>
              <a:t>$1 billion in fines, $100 million in research costs</a:t>
            </a:r>
          </a:p>
          <a:p>
            <a:r>
              <a:rPr lang="en-US" sz="2200" b="1">
                <a:latin typeface="Calibri"/>
                <a:ea typeface="Calibri"/>
                <a:cs typeface="Calibri"/>
              </a:rPr>
              <a:t>RESULT</a:t>
            </a:r>
            <a:r>
              <a:rPr lang="en-US" sz="2200">
                <a:latin typeface="Calibri"/>
                <a:ea typeface="Calibri"/>
                <a:cs typeface="Calibri"/>
              </a:rPr>
              <a:t>: </a:t>
            </a:r>
            <a:r>
              <a:rPr lang="en-US" sz="2200">
                <a:solidFill>
                  <a:srgbClr val="000000"/>
                </a:solidFill>
                <a:latin typeface="Calibri"/>
                <a:ea typeface="Calibri"/>
                <a:cs typeface="Calibri"/>
              </a:rPr>
              <a:t>1990 Oil Pollution Act (US) e.g. Double</a:t>
            </a:r>
            <a:r>
              <a:rPr lang="en-US" sz="2200">
                <a:latin typeface="Calibri"/>
                <a:ea typeface="Calibri"/>
                <a:cs typeface="Calibri"/>
              </a:rPr>
              <a:t> hulled oil tankers</a:t>
            </a:r>
          </a:p>
        </p:txBody>
      </p:sp>
      <p:pic>
        <p:nvPicPr>
          <p:cNvPr id="5" name="Picture 4" descr="Two men digging in a river&#10;&#10;AI-generated content may be incorrect.">
            <a:extLst>
              <a:ext uri="{FF2B5EF4-FFF2-40B4-BE49-F238E27FC236}">
                <a16:creationId xmlns:a16="http://schemas.microsoft.com/office/drawing/2014/main" id="{AA1CE03F-6528-E4C3-29BC-327B2FEE63AE}"/>
              </a:ext>
            </a:extLst>
          </p:cNvPr>
          <p:cNvPicPr>
            <a:picLocks noChangeAspect="1"/>
          </p:cNvPicPr>
          <p:nvPr/>
        </p:nvPicPr>
        <p:blipFill>
          <a:blip r:embed="rId2"/>
          <a:stretch>
            <a:fillRect/>
          </a:stretch>
        </p:blipFill>
        <p:spPr>
          <a:xfrm>
            <a:off x="8892116" y="155575"/>
            <a:ext cx="3096684" cy="3371850"/>
          </a:xfrm>
          <a:prstGeom prst="rect">
            <a:avLst/>
          </a:prstGeom>
        </p:spPr>
      </p:pic>
      <p:pic>
        <p:nvPicPr>
          <p:cNvPr id="6" name="Picture 5" descr="A map of the united states of america&#10;&#10;AI-generated content may be incorrect.">
            <a:extLst>
              <a:ext uri="{FF2B5EF4-FFF2-40B4-BE49-F238E27FC236}">
                <a16:creationId xmlns:a16="http://schemas.microsoft.com/office/drawing/2014/main" id="{A2012785-434C-40A9-93F1-FDD26AA9D944}"/>
              </a:ext>
            </a:extLst>
          </p:cNvPr>
          <p:cNvPicPr>
            <a:picLocks noChangeAspect="1"/>
          </p:cNvPicPr>
          <p:nvPr/>
        </p:nvPicPr>
        <p:blipFill>
          <a:blip r:embed="rId3"/>
          <a:stretch>
            <a:fillRect/>
          </a:stretch>
        </p:blipFill>
        <p:spPr>
          <a:xfrm>
            <a:off x="269875" y="3633258"/>
            <a:ext cx="5334000" cy="3031067"/>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17821179-8D83-ADA3-DFAE-9ADF7488B6CF}"/>
              </a:ext>
            </a:extLst>
          </p:cNvPr>
          <p:cNvPicPr>
            <a:picLocks noChangeAspect="1"/>
          </p:cNvPicPr>
          <p:nvPr/>
        </p:nvPicPr>
        <p:blipFill>
          <a:blip r:embed="rId4"/>
          <a:stretch>
            <a:fillRect/>
          </a:stretch>
        </p:blipFill>
        <p:spPr>
          <a:xfrm>
            <a:off x="6876520" y="3307291"/>
            <a:ext cx="4439709" cy="3217334"/>
          </a:xfrm>
          <a:prstGeom prst="rect">
            <a:avLst/>
          </a:prstGeom>
        </p:spPr>
      </p:pic>
      <p:pic>
        <p:nvPicPr>
          <p:cNvPr id="4" name="Picture 3" descr="https://encrypted-tbn2.gstatic.com/images?q=tbn:ANd9GcSAJJRYaQ8RdTqC48U6bkwGQUi3p_JXXD-KoQo_enO3a_shnTJhdg">
            <a:extLst>
              <a:ext uri="{FF2B5EF4-FFF2-40B4-BE49-F238E27FC236}">
                <a16:creationId xmlns:a16="http://schemas.microsoft.com/office/drawing/2014/main" id="{E5EB50E5-0CA3-5C56-4A0A-9C45E562A294}"/>
              </a:ext>
            </a:extLst>
          </p:cNvPr>
          <p:cNvPicPr>
            <a:picLocks noChangeAspect="1"/>
          </p:cNvPicPr>
          <p:nvPr/>
        </p:nvPicPr>
        <p:blipFill>
          <a:blip r:embed="rId5"/>
          <a:stretch>
            <a:fillRect/>
          </a:stretch>
        </p:blipFill>
        <p:spPr>
          <a:xfrm>
            <a:off x="6562445" y="1719262"/>
            <a:ext cx="1521199" cy="1178299"/>
          </a:xfrm>
          <a:prstGeom prst="rect">
            <a:avLst/>
          </a:prstGeom>
        </p:spPr>
      </p:pic>
    </p:spTree>
    <p:extLst>
      <p:ext uri="{BB962C8B-B14F-4D97-AF65-F5344CB8AC3E}">
        <p14:creationId xmlns:p14="http://schemas.microsoft.com/office/powerpoint/2010/main" val="36797492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fire on a ship in the water with Deepwater Horizon in the background&#10;&#10;AI-generated content may be incorrect.">
            <a:extLst>
              <a:ext uri="{FF2B5EF4-FFF2-40B4-BE49-F238E27FC236}">
                <a16:creationId xmlns:a16="http://schemas.microsoft.com/office/drawing/2014/main" id="{DAACE8FE-E336-59E1-5E3A-60FCE1463D66}"/>
              </a:ext>
            </a:extLst>
          </p:cNvPr>
          <p:cNvPicPr>
            <a:picLocks noChangeAspect="1"/>
          </p:cNvPicPr>
          <p:nvPr/>
        </p:nvPicPr>
        <p:blipFill>
          <a:blip r:embed="rId3"/>
          <a:stretch>
            <a:fillRect/>
          </a:stretch>
        </p:blipFill>
        <p:spPr>
          <a:xfrm>
            <a:off x="4385421" y="4204167"/>
            <a:ext cx="3488391" cy="2483784"/>
          </a:xfrm>
          <a:prstGeom prst="rect">
            <a:avLst/>
          </a:prstGeom>
        </p:spPr>
      </p:pic>
      <p:sp>
        <p:nvSpPr>
          <p:cNvPr id="2" name="Title 1"/>
          <p:cNvSpPr>
            <a:spLocks noGrp="1"/>
          </p:cNvSpPr>
          <p:nvPr>
            <p:ph type="title"/>
          </p:nvPr>
        </p:nvSpPr>
        <p:spPr>
          <a:xfrm>
            <a:off x="49884" y="-225539"/>
            <a:ext cx="10515600" cy="1325563"/>
          </a:xfrm>
        </p:spPr>
        <p:txBody>
          <a:bodyPr/>
          <a:lstStyle/>
          <a:p>
            <a:r>
              <a:rPr lang="en-GB"/>
              <a:t>Oil: Deepwater Horizon Blow out</a:t>
            </a:r>
          </a:p>
        </p:txBody>
      </p:sp>
      <p:pic>
        <p:nvPicPr>
          <p:cNvPr id="10" name="Content Placeholder 9" descr="A screenshot of a news article&#10;&#10;AI-generated content may be incorrect.">
            <a:extLst>
              <a:ext uri="{FF2B5EF4-FFF2-40B4-BE49-F238E27FC236}">
                <a16:creationId xmlns:a16="http://schemas.microsoft.com/office/drawing/2014/main" id="{181D49A6-FFDD-6D3D-DA10-26A7B3CA3AA0}"/>
              </a:ext>
            </a:extLst>
          </p:cNvPr>
          <p:cNvPicPr>
            <a:picLocks noGrp="1" noChangeAspect="1"/>
          </p:cNvPicPr>
          <p:nvPr>
            <p:ph sz="half" idx="1"/>
          </p:nvPr>
        </p:nvPicPr>
        <p:blipFill>
          <a:blip r:embed="rId4"/>
          <a:stretch>
            <a:fillRect/>
          </a:stretch>
        </p:blipFill>
        <p:spPr>
          <a:xfrm>
            <a:off x="130308" y="3441480"/>
            <a:ext cx="5181600" cy="3238500"/>
          </a:xfrm>
        </p:spPr>
      </p:pic>
      <p:pic>
        <p:nvPicPr>
          <p:cNvPr id="11268" name="Picture 4" descr="BP oil spill"/>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3714891" y="913424"/>
            <a:ext cx="3960440" cy="237626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7013073" y="3258549"/>
            <a:ext cx="1132041" cy="369332"/>
          </a:xfrm>
          <a:prstGeom prst="rect">
            <a:avLst/>
          </a:prstGeom>
          <a:noFill/>
        </p:spPr>
        <p:txBody>
          <a:bodyPr wrap="square" rtlCol="0">
            <a:spAutoFit/>
          </a:bodyPr>
          <a:lstStyle/>
          <a:p>
            <a:r>
              <a:rPr lang="en-GB" sz="1800" i="1"/>
              <a:t>BP oil spill</a:t>
            </a:r>
          </a:p>
        </p:txBody>
      </p:sp>
      <p:pic>
        <p:nvPicPr>
          <p:cNvPr id="6" name="Picture 5" descr="A close-up of a paper&#10;&#10;AI-generated content may be incorrect.">
            <a:extLst>
              <a:ext uri="{FF2B5EF4-FFF2-40B4-BE49-F238E27FC236}">
                <a16:creationId xmlns:a16="http://schemas.microsoft.com/office/drawing/2014/main" id="{E3F8BC4A-0FA1-8367-F2F0-B0B8B28457CA}"/>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7656514" y="4200518"/>
            <a:ext cx="4535486" cy="2031644"/>
          </a:xfrm>
          <a:prstGeom prst="rect">
            <a:avLst/>
          </a:prstGeom>
        </p:spPr>
      </p:pic>
      <p:pic>
        <p:nvPicPr>
          <p:cNvPr id="9" name="Picture 8" descr="A screenshot of a news article&#10;&#10;AI-generated content may be incorrect.">
            <a:extLst>
              <a:ext uri="{FF2B5EF4-FFF2-40B4-BE49-F238E27FC236}">
                <a16:creationId xmlns:a16="http://schemas.microsoft.com/office/drawing/2014/main" id="{77639054-AA9E-BE90-508A-AC2170A9C387}"/>
              </a:ext>
            </a:extLst>
          </p:cNvPr>
          <p:cNvPicPr>
            <a:picLocks noChangeAspect="1"/>
          </p:cNvPicPr>
          <p:nvPr/>
        </p:nvPicPr>
        <p:blipFill>
          <a:blip r:embed="rId7"/>
          <a:stretch>
            <a:fillRect/>
          </a:stretch>
        </p:blipFill>
        <p:spPr>
          <a:xfrm>
            <a:off x="7881652" y="-4793"/>
            <a:ext cx="4305235" cy="3435223"/>
          </a:xfrm>
          <a:prstGeom prst="rect">
            <a:avLst/>
          </a:prstGeom>
        </p:spPr>
      </p:pic>
      <p:sp>
        <p:nvSpPr>
          <p:cNvPr id="13" name="Content Placeholder 2">
            <a:extLst>
              <a:ext uri="{FF2B5EF4-FFF2-40B4-BE49-F238E27FC236}">
                <a16:creationId xmlns:a16="http://schemas.microsoft.com/office/drawing/2014/main" id="{1094C322-A1B7-804D-620B-61FAB2A36593}"/>
              </a:ext>
            </a:extLst>
          </p:cNvPr>
          <p:cNvSpPr txBox="1">
            <a:spLocks/>
          </p:cNvSpPr>
          <p:nvPr/>
        </p:nvSpPr>
        <p:spPr>
          <a:xfrm>
            <a:off x="71052" y="912025"/>
            <a:ext cx="3451940" cy="2374257"/>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200">
                <a:latin typeface="Calibri"/>
                <a:ea typeface="Calibri"/>
                <a:cs typeface="Calibri"/>
              </a:rPr>
              <a:t>Gulf of Mexico oil rig operated by BP</a:t>
            </a:r>
            <a:endParaRPr lang="en-US">
              <a:latin typeface="Aptos" panose="020B0004020202020204"/>
              <a:ea typeface="Calibri"/>
              <a:cs typeface="Calibri"/>
            </a:endParaRPr>
          </a:p>
          <a:p>
            <a:r>
              <a:rPr lang="en-US" sz="2200">
                <a:latin typeface="Calibri"/>
                <a:ea typeface="Calibri"/>
                <a:cs typeface="Calibri"/>
              </a:rPr>
              <a:t>11 people killed</a:t>
            </a:r>
          </a:p>
          <a:p>
            <a:r>
              <a:rPr lang="en-US" sz="2200">
                <a:latin typeface="Calibri"/>
                <a:ea typeface="Calibri"/>
                <a:cs typeface="Calibri"/>
              </a:rPr>
              <a:t>780 million </a:t>
            </a:r>
            <a:r>
              <a:rPr lang="en-US" sz="2200" err="1">
                <a:latin typeface="Calibri"/>
                <a:ea typeface="Calibri"/>
                <a:cs typeface="Calibri"/>
              </a:rPr>
              <a:t>litres</a:t>
            </a:r>
            <a:r>
              <a:rPr lang="en-US" sz="2200">
                <a:latin typeface="Calibri"/>
                <a:ea typeface="Calibri"/>
                <a:cs typeface="Calibri"/>
              </a:rPr>
              <a:t> (300 </a:t>
            </a:r>
            <a:r>
              <a:rPr lang="en-US" sz="2200" err="1">
                <a:latin typeface="Calibri"/>
                <a:ea typeface="Calibri"/>
                <a:cs typeface="Calibri"/>
              </a:rPr>
              <a:t>olympic</a:t>
            </a:r>
            <a:r>
              <a:rPr lang="en-US" sz="2200">
                <a:latin typeface="Calibri"/>
                <a:ea typeface="Calibri"/>
                <a:cs typeface="Calibri"/>
              </a:rPr>
              <a:t> swimming pools) </a:t>
            </a:r>
          </a:p>
        </p:txBody>
      </p:sp>
    </p:spTree>
    <p:extLst>
      <p:ext uri="{BB962C8B-B14F-4D97-AF65-F5344CB8AC3E}">
        <p14:creationId xmlns:p14="http://schemas.microsoft.com/office/powerpoint/2010/main" val="19586989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C4A90-8B0E-20C6-A3C8-4E31DEDC508A}"/>
              </a:ext>
            </a:extLst>
          </p:cNvPr>
          <p:cNvSpPr>
            <a:spLocks noGrp="1"/>
          </p:cNvSpPr>
          <p:nvPr>
            <p:ph type="title"/>
          </p:nvPr>
        </p:nvSpPr>
        <p:spPr>
          <a:xfrm>
            <a:off x="168876" y="4720"/>
            <a:ext cx="10515600" cy="1325563"/>
          </a:xfrm>
        </p:spPr>
        <p:txBody>
          <a:bodyPr/>
          <a:lstStyle/>
          <a:p>
            <a:r>
              <a:rPr lang="en-GB"/>
              <a:t>Oil spill solutions</a:t>
            </a:r>
          </a:p>
        </p:txBody>
      </p:sp>
      <p:pic>
        <p:nvPicPr>
          <p:cNvPr id="4" name="Picture 3" descr="A pie chart with text and numbers&#10;&#10;AI-generated content may be incorrect.">
            <a:extLst>
              <a:ext uri="{FF2B5EF4-FFF2-40B4-BE49-F238E27FC236}">
                <a16:creationId xmlns:a16="http://schemas.microsoft.com/office/drawing/2014/main" id="{234B7B9A-299A-53F5-7556-20C88FC44287}"/>
              </a:ext>
            </a:extLst>
          </p:cNvPr>
          <p:cNvPicPr>
            <a:picLocks noChangeAspect="1"/>
          </p:cNvPicPr>
          <p:nvPr/>
        </p:nvPicPr>
        <p:blipFill>
          <a:blip r:embed="rId2"/>
          <a:stretch>
            <a:fillRect/>
          </a:stretch>
        </p:blipFill>
        <p:spPr>
          <a:xfrm>
            <a:off x="6334125" y="138793"/>
            <a:ext cx="5619750" cy="3162300"/>
          </a:xfrm>
          <a:prstGeom prst="rect">
            <a:avLst/>
          </a:prstGeom>
        </p:spPr>
      </p:pic>
      <p:pic>
        <p:nvPicPr>
          <p:cNvPr id="6" name="Picture 5" descr="A close-up of a sign&#10;&#10;AI-generated content may be incorrect.">
            <a:extLst>
              <a:ext uri="{FF2B5EF4-FFF2-40B4-BE49-F238E27FC236}">
                <a16:creationId xmlns:a16="http://schemas.microsoft.com/office/drawing/2014/main" id="{8EBB6C86-4A70-3D2F-A2F9-0114B3218025}"/>
              </a:ext>
            </a:extLst>
          </p:cNvPr>
          <p:cNvPicPr>
            <a:picLocks noChangeAspect="1"/>
          </p:cNvPicPr>
          <p:nvPr/>
        </p:nvPicPr>
        <p:blipFill>
          <a:blip r:embed="rId3"/>
          <a:stretch>
            <a:fillRect/>
          </a:stretch>
        </p:blipFill>
        <p:spPr>
          <a:xfrm>
            <a:off x="5329238" y="3292928"/>
            <a:ext cx="6867525" cy="3298372"/>
          </a:xfrm>
          <a:prstGeom prst="rect">
            <a:avLst/>
          </a:prstGeom>
        </p:spPr>
      </p:pic>
      <p:sp>
        <p:nvSpPr>
          <p:cNvPr id="7" name="TextBox 6">
            <a:extLst>
              <a:ext uri="{FF2B5EF4-FFF2-40B4-BE49-F238E27FC236}">
                <a16:creationId xmlns:a16="http://schemas.microsoft.com/office/drawing/2014/main" id="{E4E45CBE-7176-5E4D-C1FF-CE481A10C66B}"/>
              </a:ext>
            </a:extLst>
          </p:cNvPr>
          <p:cNvSpPr txBox="1"/>
          <p:nvPr/>
        </p:nvSpPr>
        <p:spPr>
          <a:xfrm>
            <a:off x="9802586" y="3976007"/>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hlinkClick r:id="rId4"/>
              </a:rPr>
              <a:t>Nature paper</a:t>
            </a:r>
            <a:endParaRPr lang="en-US"/>
          </a:p>
        </p:txBody>
      </p:sp>
      <p:sp>
        <p:nvSpPr>
          <p:cNvPr id="9" name="Content Placeholder 2">
            <a:extLst>
              <a:ext uri="{FF2B5EF4-FFF2-40B4-BE49-F238E27FC236}">
                <a16:creationId xmlns:a16="http://schemas.microsoft.com/office/drawing/2014/main" id="{D2BC520B-1C51-780C-2A95-A120EE78263F}"/>
              </a:ext>
            </a:extLst>
          </p:cNvPr>
          <p:cNvSpPr txBox="1">
            <a:spLocks/>
          </p:cNvSpPr>
          <p:nvPr/>
        </p:nvSpPr>
        <p:spPr>
          <a:xfrm>
            <a:off x="338782" y="1488674"/>
            <a:ext cx="4893561" cy="5206013"/>
          </a:xfrm>
          <a:prstGeom prst="rect">
            <a:avLst/>
          </a:prstGeom>
        </p:spPr>
        <p:txBody>
          <a:bodyPr vert="horz" lIns="91440" tIns="45720" rIns="91440" bIns="45720" rtlCol="0" anchor="t">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200">
                <a:latin typeface="Calibri"/>
                <a:ea typeface="Calibri"/>
                <a:cs typeface="Calibri"/>
              </a:rPr>
              <a:t>Booms to prevent onward migration</a:t>
            </a:r>
            <a:endParaRPr lang="en-US">
              <a:latin typeface="Aptos" panose="020B0004020202020204"/>
              <a:ea typeface="Calibri"/>
              <a:cs typeface="Calibri"/>
            </a:endParaRPr>
          </a:p>
          <a:p>
            <a:r>
              <a:rPr lang="en-US" sz="2200">
                <a:latin typeface="Calibri"/>
                <a:ea typeface="Calibri"/>
                <a:cs typeface="Calibri"/>
              </a:rPr>
              <a:t>Burning</a:t>
            </a:r>
          </a:p>
          <a:p>
            <a:r>
              <a:rPr lang="en-US" sz="2200">
                <a:latin typeface="Calibri"/>
                <a:ea typeface="Calibri"/>
                <a:cs typeface="Calibri"/>
              </a:rPr>
              <a:t>Soaking up using e.g.</a:t>
            </a:r>
          </a:p>
          <a:p>
            <a:pPr lvl="1">
              <a:buFont typeface="Courier New" panose="020B0604020202020204" pitchFamily="34" charset="0"/>
              <a:buChar char="o"/>
            </a:pPr>
            <a:r>
              <a:rPr lang="en-US" sz="1800">
                <a:latin typeface="Calibri"/>
                <a:ea typeface="Calibri"/>
                <a:cs typeface="Calibri"/>
              </a:rPr>
              <a:t>Textiles</a:t>
            </a:r>
          </a:p>
          <a:p>
            <a:pPr lvl="1">
              <a:buFont typeface="Courier New" panose="020B0604020202020204" pitchFamily="34" charset="0"/>
              <a:buChar char="o"/>
            </a:pPr>
            <a:r>
              <a:rPr lang="en-US" sz="1800">
                <a:latin typeface="Calibri"/>
                <a:ea typeface="Calibri"/>
                <a:cs typeface="Calibri"/>
              </a:rPr>
              <a:t>Graphene</a:t>
            </a:r>
          </a:p>
          <a:p>
            <a:pPr lvl="1">
              <a:buFont typeface="Courier New" panose="020B0604020202020204" pitchFamily="34" charset="0"/>
              <a:buChar char="o"/>
            </a:pPr>
            <a:r>
              <a:rPr lang="en-US" sz="1800">
                <a:latin typeface="Calibri"/>
                <a:ea typeface="Calibri"/>
                <a:cs typeface="Calibri"/>
              </a:rPr>
              <a:t>Magnets</a:t>
            </a:r>
          </a:p>
          <a:p>
            <a:pPr lvl="1">
              <a:buFont typeface="Courier New" panose="020B0604020202020204" pitchFamily="34" charset="0"/>
              <a:buChar char="o"/>
            </a:pPr>
            <a:r>
              <a:rPr lang="en-US" sz="1800">
                <a:latin typeface="Calibri"/>
                <a:ea typeface="Calibri"/>
                <a:cs typeface="Calibri"/>
              </a:rPr>
              <a:t>Hair/fur</a:t>
            </a:r>
          </a:p>
          <a:p>
            <a:r>
              <a:rPr lang="en-US" sz="2200">
                <a:latin typeface="Calibri"/>
                <a:ea typeface="Calibri"/>
                <a:cs typeface="Calibri"/>
              </a:rPr>
              <a:t>Skimming</a:t>
            </a:r>
          </a:p>
          <a:p>
            <a:pPr lvl="1">
              <a:buFont typeface="Courier New" panose="020B0604020202020204" pitchFamily="34" charset="0"/>
              <a:buChar char="o"/>
            </a:pPr>
            <a:r>
              <a:rPr lang="en-US" sz="1800">
                <a:latin typeface="Calibri"/>
                <a:ea typeface="Calibri"/>
                <a:cs typeface="Calibri"/>
              </a:rPr>
              <a:t>Vacuuming the surface</a:t>
            </a:r>
          </a:p>
          <a:p>
            <a:pPr lvl="1">
              <a:buFont typeface="Courier New" panose="020B0604020202020204" pitchFamily="34" charset="0"/>
              <a:buChar char="o"/>
            </a:pPr>
            <a:r>
              <a:rPr lang="en-US" sz="1800">
                <a:latin typeface="Calibri"/>
                <a:ea typeface="Calibri"/>
                <a:cs typeface="Calibri"/>
              </a:rPr>
              <a:t>Scoops/conveyor belts</a:t>
            </a:r>
          </a:p>
          <a:p>
            <a:r>
              <a:rPr lang="en-US" sz="2200">
                <a:latin typeface="Calibri"/>
                <a:ea typeface="Calibri"/>
                <a:cs typeface="Calibri"/>
              </a:rPr>
              <a:t>Dispersants</a:t>
            </a:r>
          </a:p>
          <a:p>
            <a:pPr lvl="1">
              <a:buFont typeface="Courier New" panose="020B0604020202020204" pitchFamily="34" charset="0"/>
              <a:buChar char="o"/>
            </a:pPr>
            <a:r>
              <a:rPr lang="en-US" sz="1800">
                <a:latin typeface="Calibri"/>
                <a:ea typeface="Calibri"/>
                <a:cs typeface="Calibri"/>
              </a:rPr>
              <a:t>Breaks oil into smaller droplets</a:t>
            </a:r>
          </a:p>
          <a:p>
            <a:pPr lvl="1">
              <a:buFont typeface="Courier New" panose="020B0604020202020204" pitchFamily="34" charset="0"/>
              <a:buChar char="o"/>
            </a:pPr>
            <a:r>
              <a:rPr lang="en-US" sz="1800">
                <a:latin typeface="Calibri"/>
                <a:ea typeface="Calibri"/>
                <a:cs typeface="Calibri"/>
              </a:rPr>
              <a:t>Sinks or degrades more easily</a:t>
            </a:r>
          </a:p>
          <a:p>
            <a:endParaRPr lang="en-US" sz="2200">
              <a:latin typeface="Calibri"/>
              <a:ea typeface="Calibri"/>
              <a:cs typeface="Calibri"/>
            </a:endParaRPr>
          </a:p>
          <a:p>
            <a:r>
              <a:rPr lang="en-US" sz="2200">
                <a:latin typeface="Calibri"/>
                <a:ea typeface="Calibri"/>
                <a:cs typeface="Calibri"/>
              </a:rPr>
              <a:t>Natural attenuation</a:t>
            </a:r>
          </a:p>
          <a:p>
            <a:pPr lvl="1">
              <a:buFont typeface="Courier New" panose="020B0604020202020204" pitchFamily="34" charset="0"/>
              <a:buChar char="o"/>
            </a:pPr>
            <a:r>
              <a:rPr lang="en-US" sz="1800">
                <a:latin typeface="Calibri"/>
                <a:ea typeface="Calibri"/>
                <a:cs typeface="Calibri"/>
              </a:rPr>
              <a:t>Evaporation</a:t>
            </a:r>
          </a:p>
          <a:p>
            <a:pPr lvl="1">
              <a:buFont typeface="Courier New" panose="020B0604020202020204" pitchFamily="34" charset="0"/>
              <a:buChar char="o"/>
            </a:pPr>
            <a:r>
              <a:rPr lang="en-US" sz="1800">
                <a:latin typeface="Calibri"/>
                <a:ea typeface="Calibri"/>
                <a:cs typeface="Calibri"/>
              </a:rPr>
              <a:t>Bioremediation</a:t>
            </a:r>
          </a:p>
          <a:p>
            <a:endParaRPr lang="en-US">
              <a:latin typeface="Aptos" panose="020B0004020202020204"/>
              <a:ea typeface="Calibri"/>
              <a:cs typeface="Calibri"/>
            </a:endParaRPr>
          </a:p>
        </p:txBody>
      </p:sp>
      <p:pic>
        <p:nvPicPr>
          <p:cNvPr id="3" name="Picture 2" descr="A boat in the water&#10;&#10;AI-generated content may be incorrect.">
            <a:extLst>
              <a:ext uri="{FF2B5EF4-FFF2-40B4-BE49-F238E27FC236}">
                <a16:creationId xmlns:a16="http://schemas.microsoft.com/office/drawing/2014/main" id="{3FE0A1E2-3814-9975-266A-E7003A788366}"/>
              </a:ext>
            </a:extLst>
          </p:cNvPr>
          <p:cNvPicPr>
            <a:picLocks noChangeAspect="1"/>
          </p:cNvPicPr>
          <p:nvPr/>
        </p:nvPicPr>
        <p:blipFill>
          <a:blip r:embed="rId5"/>
          <a:stretch>
            <a:fillRect/>
          </a:stretch>
        </p:blipFill>
        <p:spPr>
          <a:xfrm>
            <a:off x="4437250" y="676834"/>
            <a:ext cx="2129678" cy="2389095"/>
          </a:xfrm>
          <a:prstGeom prst="rect">
            <a:avLst/>
          </a:prstGeom>
        </p:spPr>
      </p:pic>
    </p:spTree>
    <p:extLst>
      <p:ext uri="{BB962C8B-B14F-4D97-AF65-F5344CB8AC3E}">
        <p14:creationId xmlns:p14="http://schemas.microsoft.com/office/powerpoint/2010/main" val="35647366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9F315-1057-ED29-F438-48B58DD58DDD}"/>
              </a:ext>
            </a:extLst>
          </p:cNvPr>
          <p:cNvSpPr>
            <a:spLocks noGrp="1"/>
          </p:cNvSpPr>
          <p:nvPr>
            <p:ph type="title"/>
          </p:nvPr>
        </p:nvSpPr>
        <p:spPr>
          <a:xfrm>
            <a:off x="10297" y="-231530"/>
            <a:ext cx="11988113" cy="1325563"/>
          </a:xfrm>
        </p:spPr>
        <p:txBody>
          <a:bodyPr/>
          <a:lstStyle/>
          <a:p>
            <a:r>
              <a:rPr lang="en-US"/>
              <a:t>Nuclear: </a:t>
            </a:r>
            <a:r>
              <a:rPr lang="en-US" err="1"/>
              <a:t>Fukishima</a:t>
            </a:r>
            <a:r>
              <a:rPr lang="en-US"/>
              <a:t> Daiichi Accident, Japan, 2011</a:t>
            </a:r>
          </a:p>
        </p:txBody>
      </p:sp>
      <p:sp>
        <p:nvSpPr>
          <p:cNvPr id="6" name="TextBox 5">
            <a:extLst>
              <a:ext uri="{FF2B5EF4-FFF2-40B4-BE49-F238E27FC236}">
                <a16:creationId xmlns:a16="http://schemas.microsoft.com/office/drawing/2014/main" id="{24986CF0-F2BA-556B-609D-E68038E24A84}"/>
              </a:ext>
            </a:extLst>
          </p:cNvPr>
          <p:cNvSpPr txBox="1"/>
          <p:nvPr/>
        </p:nvSpPr>
        <p:spPr>
          <a:xfrm>
            <a:off x="7528697" y="6546163"/>
            <a:ext cx="5317524"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t>https://www.sciencedirect.com/science/article/pii/S0265931X14000642</a:t>
            </a:r>
          </a:p>
        </p:txBody>
      </p:sp>
      <p:pic>
        <p:nvPicPr>
          <p:cNvPr id="7" name="Picture 6" descr="A map of japan with a large red circle&#10;&#10;AI-generated content may be incorrect.">
            <a:extLst>
              <a:ext uri="{FF2B5EF4-FFF2-40B4-BE49-F238E27FC236}">
                <a16:creationId xmlns:a16="http://schemas.microsoft.com/office/drawing/2014/main" id="{57BE63D2-7542-3E8F-630D-8919FE57260C}"/>
              </a:ext>
            </a:extLst>
          </p:cNvPr>
          <p:cNvPicPr>
            <a:picLocks noChangeAspect="1"/>
          </p:cNvPicPr>
          <p:nvPr/>
        </p:nvPicPr>
        <p:blipFill>
          <a:blip r:embed="rId3"/>
          <a:stretch>
            <a:fillRect/>
          </a:stretch>
        </p:blipFill>
        <p:spPr>
          <a:xfrm>
            <a:off x="7634983" y="693367"/>
            <a:ext cx="4095750" cy="2886075"/>
          </a:xfrm>
          <a:prstGeom prst="rect">
            <a:avLst/>
          </a:prstGeom>
        </p:spPr>
      </p:pic>
      <p:pic>
        <p:nvPicPr>
          <p:cNvPr id="8" name="Picture 7" descr="A smoke coming out of a city&#10;&#10;AI-generated content may be incorrect.">
            <a:extLst>
              <a:ext uri="{FF2B5EF4-FFF2-40B4-BE49-F238E27FC236}">
                <a16:creationId xmlns:a16="http://schemas.microsoft.com/office/drawing/2014/main" id="{5A50FBB0-D4A4-939A-D045-52206E79BB7E}"/>
              </a:ext>
            </a:extLst>
          </p:cNvPr>
          <p:cNvPicPr>
            <a:picLocks noChangeAspect="1"/>
          </p:cNvPicPr>
          <p:nvPr/>
        </p:nvPicPr>
        <p:blipFill>
          <a:blip r:embed="rId4"/>
          <a:stretch>
            <a:fillRect/>
          </a:stretch>
        </p:blipFill>
        <p:spPr>
          <a:xfrm>
            <a:off x="389996" y="3771674"/>
            <a:ext cx="5057775" cy="3019425"/>
          </a:xfrm>
          <a:prstGeom prst="rect">
            <a:avLst/>
          </a:prstGeom>
        </p:spPr>
      </p:pic>
      <p:pic>
        <p:nvPicPr>
          <p:cNvPr id="4" name="Picture 3" descr="A map of japan with different colored dots&#10;&#10;AI-generated content may be incorrect.">
            <a:extLst>
              <a:ext uri="{FF2B5EF4-FFF2-40B4-BE49-F238E27FC236}">
                <a16:creationId xmlns:a16="http://schemas.microsoft.com/office/drawing/2014/main" id="{65E8E345-AD5C-EF43-AC52-5166185F2DDC}"/>
              </a:ext>
            </a:extLst>
          </p:cNvPr>
          <p:cNvPicPr>
            <a:picLocks noChangeAspect="1"/>
          </p:cNvPicPr>
          <p:nvPr/>
        </p:nvPicPr>
        <p:blipFill>
          <a:blip r:embed="rId5"/>
          <a:stretch>
            <a:fillRect/>
          </a:stretch>
        </p:blipFill>
        <p:spPr>
          <a:xfrm>
            <a:off x="8120513" y="3771424"/>
            <a:ext cx="3968954" cy="2786025"/>
          </a:xfrm>
          <a:prstGeom prst="rect">
            <a:avLst/>
          </a:prstGeom>
        </p:spPr>
      </p:pic>
      <p:pic>
        <p:nvPicPr>
          <p:cNvPr id="5" name="Picture 4" descr="A screenshot of a text message&#10;&#10;AI-generated content may be incorrect.">
            <a:extLst>
              <a:ext uri="{FF2B5EF4-FFF2-40B4-BE49-F238E27FC236}">
                <a16:creationId xmlns:a16="http://schemas.microsoft.com/office/drawing/2014/main" id="{E4D5ECA3-BF39-4FCB-F59F-835D2158884E}"/>
              </a:ext>
            </a:extLst>
          </p:cNvPr>
          <p:cNvPicPr>
            <a:picLocks noChangeAspect="1"/>
          </p:cNvPicPr>
          <p:nvPr/>
        </p:nvPicPr>
        <p:blipFill>
          <a:blip r:embed="rId6"/>
          <a:stretch>
            <a:fillRect/>
          </a:stretch>
        </p:blipFill>
        <p:spPr>
          <a:xfrm>
            <a:off x="117381" y="694204"/>
            <a:ext cx="6791325" cy="3273239"/>
          </a:xfrm>
          <a:prstGeom prst="rect">
            <a:avLst/>
          </a:prstGeom>
        </p:spPr>
      </p:pic>
      <p:sp>
        <p:nvSpPr>
          <p:cNvPr id="9" name="TextBox 8">
            <a:extLst>
              <a:ext uri="{FF2B5EF4-FFF2-40B4-BE49-F238E27FC236}">
                <a16:creationId xmlns:a16="http://schemas.microsoft.com/office/drawing/2014/main" id="{111EE458-90A2-412B-9613-1CC52F924F50}"/>
              </a:ext>
            </a:extLst>
          </p:cNvPr>
          <p:cNvSpPr txBox="1"/>
          <p:nvPr/>
        </p:nvSpPr>
        <p:spPr>
          <a:xfrm>
            <a:off x="5441576" y="3771900"/>
            <a:ext cx="2743200" cy="5078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a:t>https://world-nuclear.org/information-library/safety-and-security/safety-of-plants/fukushima-daiichi-accident</a:t>
            </a:r>
          </a:p>
        </p:txBody>
      </p:sp>
    </p:spTree>
    <p:extLst>
      <p:ext uri="{BB962C8B-B14F-4D97-AF65-F5344CB8AC3E}">
        <p14:creationId xmlns:p14="http://schemas.microsoft.com/office/powerpoint/2010/main" val="29284746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3F121-BB2F-51AF-5FB8-0B42EB455230}"/>
              </a:ext>
            </a:extLst>
          </p:cNvPr>
          <p:cNvSpPr>
            <a:spLocks noGrp="1"/>
          </p:cNvSpPr>
          <p:nvPr>
            <p:ph type="title"/>
          </p:nvPr>
        </p:nvSpPr>
        <p:spPr>
          <a:xfrm>
            <a:off x="0" y="-4989"/>
            <a:ext cx="10515600" cy="1325563"/>
          </a:xfrm>
        </p:spPr>
        <p:txBody>
          <a:bodyPr/>
          <a:lstStyle/>
          <a:p>
            <a:r>
              <a:rPr lang="en-US"/>
              <a:t>Nuclear: Chernobyl, 1986</a:t>
            </a:r>
          </a:p>
        </p:txBody>
      </p:sp>
      <p:pic>
        <p:nvPicPr>
          <p:cNvPr id="4" name="Content Placeholder 3" descr="A large building with trees and a cloudy sky&#10;&#10;AI-generated content may be incorrect.">
            <a:extLst>
              <a:ext uri="{FF2B5EF4-FFF2-40B4-BE49-F238E27FC236}">
                <a16:creationId xmlns:a16="http://schemas.microsoft.com/office/drawing/2014/main" id="{18B068E1-C190-21E0-086F-838617FEFB6C}"/>
              </a:ext>
            </a:extLst>
          </p:cNvPr>
          <p:cNvPicPr>
            <a:picLocks noGrp="1" noChangeAspect="1"/>
          </p:cNvPicPr>
          <p:nvPr>
            <p:ph idx="1"/>
          </p:nvPr>
        </p:nvPicPr>
        <p:blipFill>
          <a:blip r:embed="rId2"/>
          <a:stretch>
            <a:fillRect/>
          </a:stretch>
        </p:blipFill>
        <p:spPr>
          <a:xfrm>
            <a:off x="5696489" y="2810553"/>
            <a:ext cx="5695950" cy="3781425"/>
          </a:xfrm>
        </p:spPr>
      </p:pic>
      <p:pic>
        <p:nvPicPr>
          <p:cNvPr id="5" name="Picture 4" descr="A map of ukraine with a red dot&#10;&#10;AI-generated content may be incorrect.">
            <a:extLst>
              <a:ext uri="{FF2B5EF4-FFF2-40B4-BE49-F238E27FC236}">
                <a16:creationId xmlns:a16="http://schemas.microsoft.com/office/drawing/2014/main" id="{6106799F-0505-0361-0325-64F4CE10E20B}"/>
              </a:ext>
            </a:extLst>
          </p:cNvPr>
          <p:cNvPicPr>
            <a:picLocks noChangeAspect="1"/>
          </p:cNvPicPr>
          <p:nvPr/>
        </p:nvPicPr>
        <p:blipFill>
          <a:blip r:embed="rId3"/>
          <a:stretch>
            <a:fillRect/>
          </a:stretch>
        </p:blipFill>
        <p:spPr>
          <a:xfrm>
            <a:off x="5740302" y="2812481"/>
            <a:ext cx="1666875" cy="1152525"/>
          </a:xfrm>
          <a:prstGeom prst="rect">
            <a:avLst/>
          </a:prstGeom>
        </p:spPr>
      </p:pic>
      <p:sp>
        <p:nvSpPr>
          <p:cNvPr id="9" name="Content Placeholder 2">
            <a:extLst>
              <a:ext uri="{FF2B5EF4-FFF2-40B4-BE49-F238E27FC236}">
                <a16:creationId xmlns:a16="http://schemas.microsoft.com/office/drawing/2014/main" id="{7F0FA806-8BE1-4618-214F-BE437749B471}"/>
              </a:ext>
            </a:extLst>
          </p:cNvPr>
          <p:cNvSpPr txBox="1">
            <a:spLocks/>
          </p:cNvSpPr>
          <p:nvPr/>
        </p:nvSpPr>
        <p:spPr>
          <a:xfrm>
            <a:off x="589" y="1085396"/>
            <a:ext cx="5243972" cy="5604078"/>
          </a:xfrm>
          <a:prstGeom prst="rect">
            <a:avLst/>
          </a:prstGeom>
        </p:spPr>
        <p:txBody>
          <a:bodyPr vert="horz" lIns="91440" tIns="45720" rIns="91440" bIns="45720" rtlCol="0" anchor="t">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solidFill>
                  <a:srgbClr val="000000"/>
                </a:solidFill>
                <a:ea typeface="+mn-lt"/>
                <a:cs typeface="+mn-lt"/>
              </a:rPr>
              <a:t>Result of a flawed reactor design and lack of safety culture</a:t>
            </a:r>
          </a:p>
          <a:p>
            <a:r>
              <a:rPr lang="en-US"/>
              <a:t>steam explosion and fires released   5% of the reactor core into the environment, with the deposition of e.g. Sr, Cs and I </a:t>
            </a:r>
          </a:p>
          <a:p>
            <a:r>
              <a:rPr lang="en-US"/>
              <a:t>only accident where radiation-related fatalities occurred</a:t>
            </a:r>
          </a:p>
          <a:p>
            <a:r>
              <a:rPr lang="en-US"/>
              <a:t>New Safe Confinement (NSC) structure was completed in 2017</a:t>
            </a:r>
          </a:p>
          <a:p>
            <a:r>
              <a:rPr lang="en-US"/>
              <a:t>sealed building allows remote dismantling of 1986 structure  and removal of the fuel-containing materials </a:t>
            </a:r>
          </a:p>
          <a:p>
            <a:endParaRPr lang="en-US"/>
          </a:p>
        </p:txBody>
      </p:sp>
      <p:pic>
        <p:nvPicPr>
          <p:cNvPr id="3" name="Picture 2">
            <a:extLst>
              <a:ext uri="{FF2B5EF4-FFF2-40B4-BE49-F238E27FC236}">
                <a16:creationId xmlns:a16="http://schemas.microsoft.com/office/drawing/2014/main" id="{B254C47D-CCAD-EF8F-6199-82EA5777B5AC}"/>
              </a:ext>
            </a:extLst>
          </p:cNvPr>
          <p:cNvPicPr>
            <a:picLocks noChangeAspect="1"/>
          </p:cNvPicPr>
          <p:nvPr/>
        </p:nvPicPr>
        <p:blipFill>
          <a:blip r:embed="rId4"/>
          <a:stretch>
            <a:fillRect/>
          </a:stretch>
        </p:blipFill>
        <p:spPr>
          <a:xfrm>
            <a:off x="7741937" y="124005"/>
            <a:ext cx="3968691" cy="2871878"/>
          </a:xfrm>
          <a:prstGeom prst="rect">
            <a:avLst/>
          </a:prstGeom>
        </p:spPr>
      </p:pic>
    </p:spTree>
    <p:extLst>
      <p:ext uri="{BB962C8B-B14F-4D97-AF65-F5344CB8AC3E}">
        <p14:creationId xmlns:p14="http://schemas.microsoft.com/office/powerpoint/2010/main" val="22324444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B1756-8BCC-6B28-6895-C484B1F42AAF}"/>
              </a:ext>
            </a:extLst>
          </p:cNvPr>
          <p:cNvSpPr>
            <a:spLocks noGrp="1"/>
          </p:cNvSpPr>
          <p:nvPr>
            <p:ph type="title"/>
          </p:nvPr>
        </p:nvSpPr>
        <p:spPr>
          <a:xfrm>
            <a:off x="51216" y="-321924"/>
            <a:ext cx="10515600" cy="1325563"/>
          </a:xfrm>
        </p:spPr>
        <p:txBody>
          <a:bodyPr/>
          <a:lstStyle/>
          <a:p>
            <a:r>
              <a:rPr lang="en-US"/>
              <a:t>Nuclear: Chernobyl today</a:t>
            </a:r>
          </a:p>
        </p:txBody>
      </p:sp>
      <p:pic>
        <p:nvPicPr>
          <p:cNvPr id="4" name="Content Placeholder 3" descr="A couple of horses walking in a forest&#10;&#10;AI-generated content may be incorrect.">
            <a:extLst>
              <a:ext uri="{FF2B5EF4-FFF2-40B4-BE49-F238E27FC236}">
                <a16:creationId xmlns:a16="http://schemas.microsoft.com/office/drawing/2014/main" id="{5C7036F7-2D06-0A03-ECE7-7014D0A76C38}"/>
              </a:ext>
            </a:extLst>
          </p:cNvPr>
          <p:cNvPicPr>
            <a:picLocks noGrp="1" noChangeAspect="1"/>
          </p:cNvPicPr>
          <p:nvPr>
            <p:ph idx="1"/>
          </p:nvPr>
        </p:nvPicPr>
        <p:blipFill>
          <a:blip r:embed="rId2"/>
          <a:stretch>
            <a:fillRect/>
          </a:stretch>
        </p:blipFill>
        <p:spPr>
          <a:xfrm>
            <a:off x="249308" y="703010"/>
            <a:ext cx="7248291" cy="3952966"/>
          </a:xfrm>
        </p:spPr>
      </p:pic>
      <p:pic>
        <p:nvPicPr>
          <p:cNvPr id="5" name="Picture 4" descr="A text on a white background&#10;&#10;AI-generated content may be incorrect.">
            <a:extLst>
              <a:ext uri="{FF2B5EF4-FFF2-40B4-BE49-F238E27FC236}">
                <a16:creationId xmlns:a16="http://schemas.microsoft.com/office/drawing/2014/main" id="{06B74020-5177-783F-3B4C-0F4AA86A639E}"/>
              </a:ext>
            </a:extLst>
          </p:cNvPr>
          <p:cNvPicPr>
            <a:picLocks noChangeAspect="1"/>
          </p:cNvPicPr>
          <p:nvPr/>
        </p:nvPicPr>
        <p:blipFill>
          <a:blip r:embed="rId3"/>
          <a:stretch>
            <a:fillRect/>
          </a:stretch>
        </p:blipFill>
        <p:spPr>
          <a:xfrm>
            <a:off x="92927" y="4655353"/>
            <a:ext cx="7424854" cy="1803344"/>
          </a:xfrm>
          <a:prstGeom prst="rect">
            <a:avLst/>
          </a:prstGeom>
        </p:spPr>
      </p:pic>
      <p:pic>
        <p:nvPicPr>
          <p:cNvPr id="7" name="Picture 6" descr="A quote on a white background&#10;&#10;AI-generated content may be incorrect.">
            <a:extLst>
              <a:ext uri="{FF2B5EF4-FFF2-40B4-BE49-F238E27FC236}">
                <a16:creationId xmlns:a16="http://schemas.microsoft.com/office/drawing/2014/main" id="{7B0C9755-800D-6164-7504-D415C9CC8DBF}"/>
              </a:ext>
            </a:extLst>
          </p:cNvPr>
          <p:cNvPicPr>
            <a:picLocks noChangeAspect="1"/>
          </p:cNvPicPr>
          <p:nvPr/>
        </p:nvPicPr>
        <p:blipFill>
          <a:blip r:embed="rId4"/>
          <a:srcRect l="3773" t="3850" r="314" b="1763"/>
          <a:stretch/>
        </p:blipFill>
        <p:spPr>
          <a:xfrm>
            <a:off x="5477252" y="877463"/>
            <a:ext cx="1899936" cy="1746832"/>
          </a:xfrm>
          <a:prstGeom prst="rect">
            <a:avLst/>
          </a:prstGeom>
        </p:spPr>
      </p:pic>
      <p:pic>
        <p:nvPicPr>
          <p:cNvPr id="8" name="Picture 7" descr="A collage of different animals&#10;&#10;AI-generated content may be incorrect.">
            <a:extLst>
              <a:ext uri="{FF2B5EF4-FFF2-40B4-BE49-F238E27FC236}">
                <a16:creationId xmlns:a16="http://schemas.microsoft.com/office/drawing/2014/main" id="{E32E538B-D05C-AD79-1F27-6DC2C7780AD4}"/>
              </a:ext>
            </a:extLst>
          </p:cNvPr>
          <p:cNvPicPr>
            <a:picLocks noChangeAspect="1"/>
          </p:cNvPicPr>
          <p:nvPr/>
        </p:nvPicPr>
        <p:blipFill>
          <a:blip r:embed="rId5"/>
          <a:stretch>
            <a:fillRect/>
          </a:stretch>
        </p:blipFill>
        <p:spPr>
          <a:xfrm>
            <a:off x="7541314" y="947853"/>
            <a:ext cx="4655031" cy="5910147"/>
          </a:xfrm>
          <a:prstGeom prst="rect">
            <a:avLst/>
          </a:prstGeom>
        </p:spPr>
      </p:pic>
      <p:sp>
        <p:nvSpPr>
          <p:cNvPr id="9" name="TextBox 8">
            <a:extLst>
              <a:ext uri="{FF2B5EF4-FFF2-40B4-BE49-F238E27FC236}">
                <a16:creationId xmlns:a16="http://schemas.microsoft.com/office/drawing/2014/main" id="{A8C3457B-169F-2982-389C-9C711EBE06BC}"/>
              </a:ext>
            </a:extLst>
          </p:cNvPr>
          <p:cNvSpPr txBox="1"/>
          <p:nvPr/>
        </p:nvSpPr>
        <p:spPr>
          <a:xfrm>
            <a:off x="7535056" y="683302"/>
            <a:ext cx="4498298"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t>https://thebiologist.rsb.org.uk/biologist-features/out-of-the-ashes</a:t>
            </a:r>
          </a:p>
        </p:txBody>
      </p:sp>
    </p:spTree>
    <p:extLst>
      <p:ext uri="{BB962C8B-B14F-4D97-AF65-F5344CB8AC3E}">
        <p14:creationId xmlns:p14="http://schemas.microsoft.com/office/powerpoint/2010/main" val="27627138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5AC10-87A7-889C-DA4B-7DA13661C4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F5DED8-E655-E256-2947-5BD4D3B43DE7}"/>
              </a:ext>
            </a:extLst>
          </p:cNvPr>
          <p:cNvSpPr>
            <a:spLocks noGrp="1"/>
          </p:cNvSpPr>
          <p:nvPr>
            <p:ph type="title"/>
          </p:nvPr>
        </p:nvSpPr>
        <p:spPr>
          <a:xfrm>
            <a:off x="51216" y="-321924"/>
            <a:ext cx="10515600" cy="1325563"/>
          </a:xfrm>
        </p:spPr>
        <p:txBody>
          <a:bodyPr/>
          <a:lstStyle/>
          <a:p>
            <a:r>
              <a:rPr lang="en-US"/>
              <a:t>Nuclear: Chernobyl today</a:t>
            </a:r>
          </a:p>
        </p:txBody>
      </p:sp>
      <p:pic>
        <p:nvPicPr>
          <p:cNvPr id="10" name="Picture 9" descr="A person walking in a large room&#10;&#10;AI-generated content may be incorrect.">
            <a:extLst>
              <a:ext uri="{FF2B5EF4-FFF2-40B4-BE49-F238E27FC236}">
                <a16:creationId xmlns:a16="http://schemas.microsoft.com/office/drawing/2014/main" id="{8442BA2E-F539-A2C7-8004-E2AA2BFAE6F7}"/>
              </a:ext>
            </a:extLst>
          </p:cNvPr>
          <p:cNvPicPr>
            <a:picLocks noChangeAspect="1"/>
          </p:cNvPicPr>
          <p:nvPr/>
        </p:nvPicPr>
        <p:blipFill>
          <a:blip r:embed="rId2"/>
          <a:stretch>
            <a:fillRect/>
          </a:stretch>
        </p:blipFill>
        <p:spPr>
          <a:xfrm>
            <a:off x="6898719" y="1974"/>
            <a:ext cx="4601307" cy="6321370"/>
          </a:xfrm>
          <a:prstGeom prst="rect">
            <a:avLst/>
          </a:prstGeom>
        </p:spPr>
      </p:pic>
      <p:pic>
        <p:nvPicPr>
          <p:cNvPr id="11" name="Picture 10" descr="A close-up of a text&#10;&#10;AI-generated content may be incorrect.">
            <a:extLst>
              <a:ext uri="{FF2B5EF4-FFF2-40B4-BE49-F238E27FC236}">
                <a16:creationId xmlns:a16="http://schemas.microsoft.com/office/drawing/2014/main" id="{BC2C07D0-78A6-BE24-F26A-73D1C38B10AE}"/>
              </a:ext>
            </a:extLst>
          </p:cNvPr>
          <p:cNvPicPr>
            <a:picLocks noChangeAspect="1"/>
          </p:cNvPicPr>
          <p:nvPr/>
        </p:nvPicPr>
        <p:blipFill>
          <a:blip r:embed="rId3"/>
          <a:stretch>
            <a:fillRect/>
          </a:stretch>
        </p:blipFill>
        <p:spPr>
          <a:xfrm>
            <a:off x="6505306" y="5869959"/>
            <a:ext cx="5557742" cy="943463"/>
          </a:xfrm>
          <a:prstGeom prst="rect">
            <a:avLst/>
          </a:prstGeom>
        </p:spPr>
      </p:pic>
      <p:pic>
        <p:nvPicPr>
          <p:cNvPr id="3" name="Picture 2">
            <a:extLst>
              <a:ext uri="{FF2B5EF4-FFF2-40B4-BE49-F238E27FC236}">
                <a16:creationId xmlns:a16="http://schemas.microsoft.com/office/drawing/2014/main" id="{7C8044F8-7245-BE5C-DCC2-D600D9EB2BAF}"/>
              </a:ext>
            </a:extLst>
          </p:cNvPr>
          <p:cNvPicPr>
            <a:picLocks noChangeAspect="1"/>
          </p:cNvPicPr>
          <p:nvPr/>
        </p:nvPicPr>
        <p:blipFill>
          <a:blip r:embed="rId4"/>
          <a:stretch>
            <a:fillRect/>
          </a:stretch>
        </p:blipFill>
        <p:spPr>
          <a:xfrm>
            <a:off x="255753" y="1740876"/>
            <a:ext cx="5666556" cy="4601309"/>
          </a:xfrm>
          <a:prstGeom prst="rect">
            <a:avLst/>
          </a:prstGeom>
        </p:spPr>
      </p:pic>
    </p:spTree>
    <p:extLst>
      <p:ext uri="{BB962C8B-B14F-4D97-AF65-F5344CB8AC3E}">
        <p14:creationId xmlns:p14="http://schemas.microsoft.com/office/powerpoint/2010/main" val="10279764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DF59C58-1041-9573-B992-53513C9872D4}"/>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6ED3B1E5-FE34-B65D-7F18-7B8FCCC369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859AF8-7FD5-4EB9-0583-C082459E6F05}"/>
              </a:ext>
            </a:extLst>
          </p:cNvPr>
          <p:cNvSpPr>
            <a:spLocks noGrp="1"/>
          </p:cNvSpPr>
          <p:nvPr>
            <p:ph type="title"/>
          </p:nvPr>
        </p:nvSpPr>
        <p:spPr>
          <a:xfrm>
            <a:off x="1267" y="-124104"/>
            <a:ext cx="10178934" cy="795798"/>
          </a:xfrm>
        </p:spPr>
        <p:txBody>
          <a:bodyPr vert="horz" lIns="91440" tIns="45720" rIns="91440" bIns="45720" rtlCol="0" anchor="b">
            <a:noAutofit/>
          </a:bodyPr>
          <a:lstStyle/>
          <a:p>
            <a:r>
              <a:rPr lang="en-US" sz="4000"/>
              <a:t>Hydroelectric power</a:t>
            </a:r>
            <a:endParaRPr lang="en-US" sz="3200">
              <a:ea typeface="+mj-ea"/>
              <a:cs typeface="+mj-cs"/>
            </a:endParaRPr>
          </a:p>
        </p:txBody>
      </p:sp>
      <p:pic>
        <p:nvPicPr>
          <p:cNvPr id="5" name="Content Placeholder 4" descr="A group of people riding on a horse carriage&#10;&#10;AI-generated content may be incorrect.">
            <a:extLst>
              <a:ext uri="{FF2B5EF4-FFF2-40B4-BE49-F238E27FC236}">
                <a16:creationId xmlns:a16="http://schemas.microsoft.com/office/drawing/2014/main" id="{7EBDFC1D-8D93-E00F-05F4-D6A51EFB149B}"/>
              </a:ext>
            </a:extLst>
          </p:cNvPr>
          <p:cNvPicPr>
            <a:picLocks noGrp="1" noChangeAspect="1"/>
          </p:cNvPicPr>
          <p:nvPr>
            <p:ph idx="1"/>
          </p:nvPr>
        </p:nvPicPr>
        <p:blipFill>
          <a:blip r:embed="rId2"/>
          <a:srcRect t="10921" r="80" b="4497"/>
          <a:stretch/>
        </p:blipFill>
        <p:spPr>
          <a:xfrm>
            <a:off x="293245" y="2684538"/>
            <a:ext cx="5798536" cy="3693655"/>
          </a:xfrm>
          <a:prstGeom prst="rect">
            <a:avLst/>
          </a:prstGeom>
        </p:spPr>
      </p:pic>
      <p:pic>
        <p:nvPicPr>
          <p:cNvPr id="4" name="Content Placeholder 3" descr="A group of people walking on a path&#10;&#10;AI-generated content may be incorrect.">
            <a:extLst>
              <a:ext uri="{FF2B5EF4-FFF2-40B4-BE49-F238E27FC236}">
                <a16:creationId xmlns:a16="http://schemas.microsoft.com/office/drawing/2014/main" id="{1F158D61-8060-B241-CFBF-EEA6CC16BFC6}"/>
              </a:ext>
            </a:extLst>
          </p:cNvPr>
          <p:cNvPicPr>
            <a:picLocks noChangeAspect="1"/>
          </p:cNvPicPr>
          <p:nvPr/>
        </p:nvPicPr>
        <p:blipFill>
          <a:blip r:embed="rId3"/>
          <a:srcRect l="1074" t="11674" r="-1155" b="4075"/>
          <a:stretch/>
        </p:blipFill>
        <p:spPr>
          <a:xfrm>
            <a:off x="6162748" y="1607"/>
            <a:ext cx="5807884" cy="3581373"/>
          </a:xfrm>
          <a:prstGeom prst="rect">
            <a:avLst/>
          </a:prstGeom>
        </p:spPr>
      </p:pic>
      <p:pic>
        <p:nvPicPr>
          <p:cNvPr id="6" name="Picture 5" descr="A tower in the water&#10;&#10;AI-generated content may be incorrect.">
            <a:extLst>
              <a:ext uri="{FF2B5EF4-FFF2-40B4-BE49-F238E27FC236}">
                <a16:creationId xmlns:a16="http://schemas.microsoft.com/office/drawing/2014/main" id="{80C1CAE1-DA03-9A53-4D9A-B5004FF6B67F}"/>
              </a:ext>
            </a:extLst>
          </p:cNvPr>
          <p:cNvPicPr>
            <a:picLocks noChangeAspect="1"/>
          </p:cNvPicPr>
          <p:nvPr/>
        </p:nvPicPr>
        <p:blipFill>
          <a:blip r:embed="rId4"/>
          <a:stretch>
            <a:fillRect/>
          </a:stretch>
        </p:blipFill>
        <p:spPr>
          <a:xfrm>
            <a:off x="1249500" y="0"/>
            <a:ext cx="9693000" cy="6858000"/>
          </a:xfrm>
          <a:prstGeom prst="rect">
            <a:avLst/>
          </a:prstGeom>
        </p:spPr>
      </p:pic>
    </p:spTree>
    <p:extLst>
      <p:ext uri="{BB962C8B-B14F-4D97-AF65-F5344CB8AC3E}">
        <p14:creationId xmlns:p14="http://schemas.microsoft.com/office/powerpoint/2010/main" val="3686115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3DB35E5-426E-B186-5300-1F785A5D1FA8}"/>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8B068A5-2186-2CEF-C423-C78F82FFB4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D92D86-2864-B601-59A0-5878AD4C7070}"/>
              </a:ext>
            </a:extLst>
          </p:cNvPr>
          <p:cNvSpPr>
            <a:spLocks noGrp="1"/>
          </p:cNvSpPr>
          <p:nvPr>
            <p:ph type="title"/>
          </p:nvPr>
        </p:nvSpPr>
        <p:spPr>
          <a:xfrm>
            <a:off x="1267" y="-124104"/>
            <a:ext cx="10178934" cy="795798"/>
          </a:xfrm>
        </p:spPr>
        <p:txBody>
          <a:bodyPr vert="horz" lIns="91440" tIns="45720" rIns="91440" bIns="45720" rtlCol="0" anchor="b">
            <a:noAutofit/>
          </a:bodyPr>
          <a:lstStyle/>
          <a:p>
            <a:r>
              <a:rPr lang="en-US" sz="4000"/>
              <a:t>Hydroelectric power</a:t>
            </a:r>
            <a:endParaRPr lang="en-US" sz="3200">
              <a:ea typeface="+mj-ea"/>
              <a:cs typeface="+mj-cs"/>
            </a:endParaRPr>
          </a:p>
        </p:txBody>
      </p:sp>
      <p:pic>
        <p:nvPicPr>
          <p:cNvPr id="5" name="Content Placeholder 4" descr="A group of people riding on a horse carriage&#10;&#10;AI-generated content may be incorrect.">
            <a:extLst>
              <a:ext uri="{FF2B5EF4-FFF2-40B4-BE49-F238E27FC236}">
                <a16:creationId xmlns:a16="http://schemas.microsoft.com/office/drawing/2014/main" id="{8BEEB3CF-E0BA-8900-B9AC-3DF0F73256AA}"/>
              </a:ext>
            </a:extLst>
          </p:cNvPr>
          <p:cNvPicPr>
            <a:picLocks noGrp="1" noChangeAspect="1"/>
          </p:cNvPicPr>
          <p:nvPr>
            <p:ph idx="1"/>
          </p:nvPr>
        </p:nvPicPr>
        <p:blipFill>
          <a:blip r:embed="rId2"/>
          <a:srcRect t="10921" r="80" b="4497"/>
          <a:stretch/>
        </p:blipFill>
        <p:spPr>
          <a:xfrm>
            <a:off x="146941" y="3050298"/>
            <a:ext cx="5798536" cy="3693655"/>
          </a:xfrm>
          <a:prstGeom prst="rect">
            <a:avLst/>
          </a:prstGeom>
        </p:spPr>
      </p:pic>
      <p:pic>
        <p:nvPicPr>
          <p:cNvPr id="3" name="Picture 2" descr="Ladybower Reservoir Circular | 27km Peak District Walk | 10Adventures">
            <a:extLst>
              <a:ext uri="{FF2B5EF4-FFF2-40B4-BE49-F238E27FC236}">
                <a16:creationId xmlns:a16="http://schemas.microsoft.com/office/drawing/2014/main" id="{CBD8A129-2584-CCD6-B84D-371117195042}"/>
              </a:ext>
            </a:extLst>
          </p:cNvPr>
          <p:cNvPicPr>
            <a:picLocks noChangeAspect="1"/>
          </p:cNvPicPr>
          <p:nvPr/>
        </p:nvPicPr>
        <p:blipFill>
          <a:blip r:embed="rId3"/>
          <a:stretch>
            <a:fillRect/>
          </a:stretch>
        </p:blipFill>
        <p:spPr>
          <a:xfrm>
            <a:off x="4748784" y="184229"/>
            <a:ext cx="7291753" cy="3855133"/>
          </a:xfrm>
          <a:prstGeom prst="rect">
            <a:avLst/>
          </a:prstGeom>
          <a:ln>
            <a:solidFill>
              <a:schemeClr val="bg1"/>
            </a:solidFill>
          </a:ln>
        </p:spPr>
      </p:pic>
      <p:pic>
        <p:nvPicPr>
          <p:cNvPr id="7" name="Picture 6" descr="A map of a road&#10;&#10;AI-generated content may be incorrect.">
            <a:extLst>
              <a:ext uri="{FF2B5EF4-FFF2-40B4-BE49-F238E27FC236}">
                <a16:creationId xmlns:a16="http://schemas.microsoft.com/office/drawing/2014/main" id="{F7A299F7-BC26-87ED-FBA1-2367F8460201}"/>
              </a:ext>
            </a:extLst>
          </p:cNvPr>
          <p:cNvPicPr>
            <a:picLocks noChangeAspect="1"/>
          </p:cNvPicPr>
          <p:nvPr/>
        </p:nvPicPr>
        <p:blipFill>
          <a:blip r:embed="rId4"/>
          <a:stretch>
            <a:fillRect/>
          </a:stretch>
        </p:blipFill>
        <p:spPr>
          <a:xfrm>
            <a:off x="146304" y="668563"/>
            <a:ext cx="4584192" cy="2259515"/>
          </a:xfrm>
          <a:prstGeom prst="rect">
            <a:avLst/>
          </a:prstGeom>
        </p:spPr>
      </p:pic>
      <p:pic>
        <p:nvPicPr>
          <p:cNvPr id="8" name="Picture 7" descr="A map of a river&#10;&#10;AI-generated content may be incorrect.">
            <a:extLst>
              <a:ext uri="{FF2B5EF4-FFF2-40B4-BE49-F238E27FC236}">
                <a16:creationId xmlns:a16="http://schemas.microsoft.com/office/drawing/2014/main" id="{9A9FB1FD-B7EA-8674-772B-F100CA621EC0}"/>
              </a:ext>
            </a:extLst>
          </p:cNvPr>
          <p:cNvPicPr>
            <a:picLocks noChangeAspect="1"/>
          </p:cNvPicPr>
          <p:nvPr/>
        </p:nvPicPr>
        <p:blipFill>
          <a:blip r:embed="rId5"/>
          <a:stretch>
            <a:fillRect/>
          </a:stretch>
        </p:blipFill>
        <p:spPr>
          <a:xfrm>
            <a:off x="3501675" y="3048000"/>
            <a:ext cx="2488122" cy="3651504"/>
          </a:xfrm>
          <a:prstGeom prst="rect">
            <a:avLst/>
          </a:prstGeom>
          <a:ln>
            <a:solidFill>
              <a:schemeClr val="bg1"/>
            </a:solidFill>
          </a:ln>
        </p:spPr>
      </p:pic>
      <p:sp>
        <p:nvSpPr>
          <p:cNvPr id="9" name="TextBox 8">
            <a:extLst>
              <a:ext uri="{FF2B5EF4-FFF2-40B4-BE49-F238E27FC236}">
                <a16:creationId xmlns:a16="http://schemas.microsoft.com/office/drawing/2014/main" id="{6B939091-36E2-0A1A-D9C2-2390A7A5C6BA}"/>
              </a:ext>
            </a:extLst>
          </p:cNvPr>
          <p:cNvSpPr txBox="1"/>
          <p:nvPr/>
        </p:nvSpPr>
        <p:spPr>
          <a:xfrm>
            <a:off x="6571488" y="5084064"/>
            <a:ext cx="525850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a:t>Not only displacement of people...</a:t>
            </a:r>
          </a:p>
        </p:txBody>
      </p:sp>
    </p:spTree>
    <p:extLst>
      <p:ext uri="{BB962C8B-B14F-4D97-AF65-F5344CB8AC3E}">
        <p14:creationId xmlns:p14="http://schemas.microsoft.com/office/powerpoint/2010/main" val="2803755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7C15686-B111-8971-D4A8-0BF82D38A13F}"/>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07FD5303-102C-8362-F702-7CC959E09D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970804-206A-46D5-E486-208A1166D8ED}"/>
              </a:ext>
            </a:extLst>
          </p:cNvPr>
          <p:cNvSpPr>
            <a:spLocks noGrp="1"/>
          </p:cNvSpPr>
          <p:nvPr>
            <p:ph type="title"/>
          </p:nvPr>
        </p:nvSpPr>
        <p:spPr>
          <a:xfrm>
            <a:off x="1267" y="-124104"/>
            <a:ext cx="10178934" cy="795798"/>
          </a:xfrm>
        </p:spPr>
        <p:txBody>
          <a:bodyPr vert="horz" lIns="91440" tIns="45720" rIns="91440" bIns="45720" rtlCol="0" anchor="b">
            <a:noAutofit/>
          </a:bodyPr>
          <a:lstStyle/>
          <a:p>
            <a:r>
              <a:rPr lang="en-US" sz="4000"/>
              <a:t>Hydroelectric power:</a:t>
            </a:r>
            <a:r>
              <a:rPr lang="en-US" sz="4000">
                <a:latin typeface="Aptos Display"/>
                <a:ea typeface="Open Sans"/>
                <a:cs typeface="Open Sans"/>
              </a:rPr>
              <a:t> </a:t>
            </a:r>
            <a:r>
              <a:rPr lang="en-US" sz="3600" i="1">
                <a:latin typeface="Aptos Display"/>
                <a:ea typeface="Open Sans"/>
                <a:cs typeface="Open Sans"/>
              </a:rPr>
              <a:t>Three Gorges Dam</a:t>
            </a:r>
            <a:endParaRPr lang="en-US" sz="3600" i="1">
              <a:latin typeface="Aptos Display"/>
            </a:endParaRPr>
          </a:p>
        </p:txBody>
      </p:sp>
      <p:pic>
        <p:nvPicPr>
          <p:cNvPr id="5" name="Picture 4" descr="A map of a country&#10;&#10;AI-generated content may be incorrect.">
            <a:extLst>
              <a:ext uri="{FF2B5EF4-FFF2-40B4-BE49-F238E27FC236}">
                <a16:creationId xmlns:a16="http://schemas.microsoft.com/office/drawing/2014/main" id="{67F4FE43-F3C7-1591-0B11-8D29921C0EF5}"/>
              </a:ext>
            </a:extLst>
          </p:cNvPr>
          <p:cNvPicPr>
            <a:picLocks noChangeAspect="1"/>
          </p:cNvPicPr>
          <p:nvPr/>
        </p:nvPicPr>
        <p:blipFill>
          <a:blip r:embed="rId2"/>
          <a:stretch>
            <a:fillRect/>
          </a:stretch>
        </p:blipFill>
        <p:spPr>
          <a:xfrm>
            <a:off x="245885" y="670560"/>
            <a:ext cx="4994630" cy="3322320"/>
          </a:xfrm>
          <a:prstGeom prst="rect">
            <a:avLst/>
          </a:prstGeom>
        </p:spPr>
      </p:pic>
      <p:pic>
        <p:nvPicPr>
          <p:cNvPr id="6" name="Picture 5" descr="A dolphin swimming in the water&#10;&#10;AI-generated content may be incorrect.">
            <a:extLst>
              <a:ext uri="{FF2B5EF4-FFF2-40B4-BE49-F238E27FC236}">
                <a16:creationId xmlns:a16="http://schemas.microsoft.com/office/drawing/2014/main" id="{156D78F1-93D7-7F83-0215-699A20F76D7A}"/>
              </a:ext>
            </a:extLst>
          </p:cNvPr>
          <p:cNvPicPr>
            <a:picLocks noChangeAspect="1"/>
          </p:cNvPicPr>
          <p:nvPr/>
        </p:nvPicPr>
        <p:blipFill>
          <a:blip r:embed="rId3"/>
          <a:srcRect l="-501" t="-38" r="48" b="4394"/>
          <a:stretch/>
        </p:blipFill>
        <p:spPr>
          <a:xfrm>
            <a:off x="5247015" y="627023"/>
            <a:ext cx="6600569" cy="3365182"/>
          </a:xfrm>
          <a:prstGeom prst="rect">
            <a:avLst/>
          </a:prstGeom>
        </p:spPr>
      </p:pic>
      <p:sp>
        <p:nvSpPr>
          <p:cNvPr id="7" name="Star: 5 Points 6">
            <a:extLst>
              <a:ext uri="{FF2B5EF4-FFF2-40B4-BE49-F238E27FC236}">
                <a16:creationId xmlns:a16="http://schemas.microsoft.com/office/drawing/2014/main" id="{D3779F33-8171-1BF5-0981-A511271F9D54}"/>
              </a:ext>
            </a:extLst>
          </p:cNvPr>
          <p:cNvSpPr/>
          <p:nvPr/>
        </p:nvSpPr>
        <p:spPr>
          <a:xfrm>
            <a:off x="1914144" y="2426208"/>
            <a:ext cx="274320" cy="274320"/>
          </a:xfrm>
          <a:prstGeom prst="star5">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8A836FF8-669D-4F87-368B-ED35D5187BD5}"/>
              </a:ext>
            </a:extLst>
          </p:cNvPr>
          <p:cNvSpPr txBox="1"/>
          <p:nvPr/>
        </p:nvSpPr>
        <p:spPr>
          <a:xfrm>
            <a:off x="5367294" y="3240728"/>
            <a:ext cx="5018884"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a:solidFill>
                  <a:srgbClr val="FFFFFF"/>
                </a:solidFill>
                <a:ea typeface="+mn-lt"/>
                <a:cs typeface="+mn-lt"/>
              </a:rPr>
              <a:t>The </a:t>
            </a:r>
            <a:r>
              <a:rPr lang="en-GB" sz="1400" b="1">
                <a:solidFill>
                  <a:srgbClr val="FFFFFF"/>
                </a:solidFill>
                <a:ea typeface="+mn-lt"/>
                <a:cs typeface="+mn-lt"/>
              </a:rPr>
              <a:t>Yangtze River dolphin (baiji)</a:t>
            </a:r>
            <a:r>
              <a:rPr lang="en-GB" sz="1400">
                <a:solidFill>
                  <a:srgbClr val="FFFFFF"/>
                </a:solidFill>
                <a:ea typeface="+mn-lt"/>
                <a:cs typeface="+mn-lt"/>
              </a:rPr>
              <a:t> is now functionally extinct, with damming contributing to habitat loss and population fragmentation</a:t>
            </a:r>
            <a:endParaRPr lang="en-US">
              <a:solidFill>
                <a:srgbClr val="FFFFFF"/>
              </a:solidFill>
            </a:endParaRPr>
          </a:p>
        </p:txBody>
      </p:sp>
      <p:sp>
        <p:nvSpPr>
          <p:cNvPr id="8" name="TextBox 7">
            <a:extLst>
              <a:ext uri="{FF2B5EF4-FFF2-40B4-BE49-F238E27FC236}">
                <a16:creationId xmlns:a16="http://schemas.microsoft.com/office/drawing/2014/main" id="{98A9327B-29F1-671F-A674-CE430D662773}"/>
              </a:ext>
            </a:extLst>
          </p:cNvPr>
          <p:cNvSpPr txBox="1"/>
          <p:nvPr/>
        </p:nvSpPr>
        <p:spPr>
          <a:xfrm>
            <a:off x="1743456" y="4864607"/>
            <a:ext cx="8644128"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a:ea typeface="+mn-lt"/>
                <a:cs typeface="+mn-lt"/>
              </a:rPr>
              <a:t>Many river systems support unique endemic species that are highly adapted to specific flow conditions. Altering these environments can lead to extinction or genetic bottlenecks.</a:t>
            </a:r>
            <a:endParaRPr lang="en-US" sz="2400"/>
          </a:p>
        </p:txBody>
      </p:sp>
    </p:spTree>
    <p:extLst>
      <p:ext uri="{BB962C8B-B14F-4D97-AF65-F5344CB8AC3E}">
        <p14:creationId xmlns:p14="http://schemas.microsoft.com/office/powerpoint/2010/main" val="34770798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4B63DFD-DE8E-F814-A7B4-8B53B1C16D6A}"/>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CFED441D-E78F-7F95-1CC6-079DDB5E39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45C0ED-78B3-0022-A96D-5478CA19C806}"/>
              </a:ext>
            </a:extLst>
          </p:cNvPr>
          <p:cNvSpPr>
            <a:spLocks noGrp="1"/>
          </p:cNvSpPr>
          <p:nvPr>
            <p:ph type="title"/>
          </p:nvPr>
        </p:nvSpPr>
        <p:spPr>
          <a:xfrm>
            <a:off x="1267" y="-124104"/>
            <a:ext cx="10178934" cy="795798"/>
          </a:xfrm>
        </p:spPr>
        <p:txBody>
          <a:bodyPr vert="horz" lIns="91440" tIns="45720" rIns="91440" bIns="45720" rtlCol="0" anchor="b">
            <a:noAutofit/>
          </a:bodyPr>
          <a:lstStyle/>
          <a:p>
            <a:r>
              <a:rPr lang="en-US" sz="4000"/>
              <a:t>Hydroelectric power:</a:t>
            </a:r>
            <a:r>
              <a:rPr lang="en-US" sz="4000">
                <a:latin typeface="Aptos Display"/>
                <a:ea typeface="Open Sans"/>
                <a:cs typeface="Open Sans"/>
              </a:rPr>
              <a:t> </a:t>
            </a:r>
            <a:r>
              <a:rPr lang="en-US" sz="3600" i="1">
                <a:latin typeface="Aptos Display"/>
                <a:ea typeface="Open Sans"/>
                <a:cs typeface="Open Sans"/>
              </a:rPr>
              <a:t>Balbina</a:t>
            </a:r>
            <a:endParaRPr lang="en-US" sz="3600" i="1">
              <a:latin typeface="Aptos Display"/>
            </a:endParaRPr>
          </a:p>
        </p:txBody>
      </p:sp>
      <p:pic>
        <p:nvPicPr>
          <p:cNvPr id="11" name="Picture 10" descr="A group of people on a boat&#10;&#10;AI-generated content may be incorrect.">
            <a:extLst>
              <a:ext uri="{FF2B5EF4-FFF2-40B4-BE49-F238E27FC236}">
                <a16:creationId xmlns:a16="http://schemas.microsoft.com/office/drawing/2014/main" id="{70C2ED2F-E9C4-12B1-AD03-1C1D6B07B27E}"/>
              </a:ext>
            </a:extLst>
          </p:cNvPr>
          <p:cNvPicPr>
            <a:picLocks noChangeAspect="1"/>
          </p:cNvPicPr>
          <p:nvPr/>
        </p:nvPicPr>
        <p:blipFill>
          <a:blip r:embed="rId2"/>
          <a:stretch>
            <a:fillRect/>
          </a:stretch>
        </p:blipFill>
        <p:spPr>
          <a:xfrm>
            <a:off x="196948" y="674077"/>
            <a:ext cx="7151546" cy="5648413"/>
          </a:xfrm>
          <a:prstGeom prst="rect">
            <a:avLst/>
          </a:prstGeom>
        </p:spPr>
      </p:pic>
      <p:pic>
        <p:nvPicPr>
          <p:cNvPr id="12" name="Picture 11" descr="A large dam with a large body of water&#10;&#10;AI-generated content may be incorrect.">
            <a:extLst>
              <a:ext uri="{FF2B5EF4-FFF2-40B4-BE49-F238E27FC236}">
                <a16:creationId xmlns:a16="http://schemas.microsoft.com/office/drawing/2014/main" id="{48CAC86C-CE16-3253-768D-F4B52DDCFC69}"/>
              </a:ext>
            </a:extLst>
          </p:cNvPr>
          <p:cNvPicPr>
            <a:picLocks noChangeAspect="1"/>
          </p:cNvPicPr>
          <p:nvPr/>
        </p:nvPicPr>
        <p:blipFill>
          <a:blip r:embed="rId3"/>
          <a:stretch>
            <a:fillRect/>
          </a:stretch>
        </p:blipFill>
        <p:spPr>
          <a:xfrm>
            <a:off x="7629011" y="85344"/>
            <a:ext cx="4503101" cy="2854570"/>
          </a:xfrm>
          <a:prstGeom prst="rect">
            <a:avLst/>
          </a:prstGeom>
        </p:spPr>
      </p:pic>
      <p:pic>
        <p:nvPicPr>
          <p:cNvPr id="13" name="Picture 12" descr="A map of a large area&#10;&#10;AI-generated content may be incorrect.">
            <a:extLst>
              <a:ext uri="{FF2B5EF4-FFF2-40B4-BE49-F238E27FC236}">
                <a16:creationId xmlns:a16="http://schemas.microsoft.com/office/drawing/2014/main" id="{BAA63031-9534-3CD2-E815-8577628C668B}"/>
              </a:ext>
            </a:extLst>
          </p:cNvPr>
          <p:cNvPicPr>
            <a:picLocks noChangeAspect="1"/>
          </p:cNvPicPr>
          <p:nvPr/>
        </p:nvPicPr>
        <p:blipFill>
          <a:blip r:embed="rId4"/>
          <a:stretch>
            <a:fillRect/>
          </a:stretch>
        </p:blipFill>
        <p:spPr>
          <a:xfrm>
            <a:off x="6300836" y="2791968"/>
            <a:ext cx="5893592" cy="3901440"/>
          </a:xfrm>
          <a:prstGeom prst="rect">
            <a:avLst/>
          </a:prstGeom>
        </p:spPr>
      </p:pic>
      <p:pic>
        <p:nvPicPr>
          <p:cNvPr id="14" name="Picture 13" descr="100+ Pics Of Giant Pacu Stock Photos, Pictures &amp; Royalty-Free Images -  iStock">
            <a:extLst>
              <a:ext uri="{FF2B5EF4-FFF2-40B4-BE49-F238E27FC236}">
                <a16:creationId xmlns:a16="http://schemas.microsoft.com/office/drawing/2014/main" id="{9FBFECE2-B516-BD9D-8DB6-218FF744468A}"/>
              </a:ext>
            </a:extLst>
          </p:cNvPr>
          <p:cNvPicPr>
            <a:picLocks noChangeAspect="1"/>
          </p:cNvPicPr>
          <p:nvPr/>
        </p:nvPicPr>
        <p:blipFill>
          <a:blip r:embed="rId5"/>
          <a:srcRect l="5229" t="7843" r="17647" b="5882"/>
          <a:stretch/>
        </p:blipFill>
        <p:spPr>
          <a:xfrm>
            <a:off x="344893" y="4025939"/>
            <a:ext cx="1438658" cy="1072897"/>
          </a:xfrm>
          <a:prstGeom prst="rect">
            <a:avLst/>
          </a:prstGeom>
          <a:ln>
            <a:solidFill>
              <a:schemeClr val="bg1"/>
            </a:solidFill>
          </a:ln>
        </p:spPr>
      </p:pic>
      <p:pic>
        <p:nvPicPr>
          <p:cNvPr id="15" name="Picture 14" descr="25 Mylesinus Images, Stock Photos, and Vectors | Shutterstock">
            <a:extLst>
              <a:ext uri="{FF2B5EF4-FFF2-40B4-BE49-F238E27FC236}">
                <a16:creationId xmlns:a16="http://schemas.microsoft.com/office/drawing/2014/main" id="{BAC55320-81FD-E2F6-2B75-2582C2ECCB79}"/>
              </a:ext>
            </a:extLst>
          </p:cNvPr>
          <p:cNvPicPr>
            <a:picLocks noChangeAspect="1"/>
          </p:cNvPicPr>
          <p:nvPr/>
        </p:nvPicPr>
        <p:blipFill>
          <a:blip r:embed="rId6"/>
          <a:srcRect l="10198" t="22091" r="31849" b="17742"/>
          <a:stretch/>
        </p:blipFill>
        <p:spPr>
          <a:xfrm>
            <a:off x="1894567" y="4018172"/>
            <a:ext cx="1553203" cy="1075945"/>
          </a:xfrm>
          <a:prstGeom prst="rect">
            <a:avLst/>
          </a:prstGeom>
          <a:ln>
            <a:solidFill>
              <a:schemeClr val="bg1"/>
            </a:solidFill>
          </a:ln>
        </p:spPr>
      </p:pic>
      <p:sp>
        <p:nvSpPr>
          <p:cNvPr id="16" name="TextBox 15">
            <a:extLst>
              <a:ext uri="{FF2B5EF4-FFF2-40B4-BE49-F238E27FC236}">
                <a16:creationId xmlns:a16="http://schemas.microsoft.com/office/drawing/2014/main" id="{DAD427F7-8906-97A6-22AC-CA83223DEA89}"/>
              </a:ext>
            </a:extLst>
          </p:cNvPr>
          <p:cNvSpPr txBox="1"/>
          <p:nvPr/>
        </p:nvSpPr>
        <p:spPr>
          <a:xfrm>
            <a:off x="6447693" y="2870748"/>
            <a:ext cx="5018884"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a:solidFill>
                  <a:srgbClr val="FFFFFF"/>
                </a:solidFill>
                <a:ea typeface="+mn-lt"/>
                <a:cs typeface="+mn-lt"/>
              </a:rPr>
              <a:t>The creation of the </a:t>
            </a:r>
            <a:r>
              <a:rPr lang="en-GB" sz="1400" b="1">
                <a:solidFill>
                  <a:srgbClr val="FFFFFF"/>
                </a:solidFill>
                <a:ea typeface="+mn-lt"/>
                <a:cs typeface="+mn-lt"/>
              </a:rPr>
              <a:t>Balbina Dam</a:t>
            </a:r>
            <a:r>
              <a:rPr lang="en-GB" sz="1400">
                <a:solidFill>
                  <a:srgbClr val="FFFFFF"/>
                </a:solidFill>
                <a:ea typeface="+mn-lt"/>
                <a:cs typeface="+mn-lt"/>
              </a:rPr>
              <a:t> in the Brazilian Amazon flooded </a:t>
            </a:r>
            <a:r>
              <a:rPr lang="en-GB" sz="1400" b="1">
                <a:solidFill>
                  <a:srgbClr val="FFFFFF"/>
                </a:solidFill>
                <a:ea typeface="+mn-lt"/>
                <a:cs typeface="+mn-lt"/>
              </a:rPr>
              <a:t>~2,400 km² of rainforest</a:t>
            </a:r>
            <a:r>
              <a:rPr lang="en-GB" sz="1400">
                <a:solidFill>
                  <a:srgbClr val="FFFFFF"/>
                </a:solidFill>
                <a:ea typeface="+mn-lt"/>
                <a:cs typeface="+mn-lt"/>
              </a:rPr>
              <a:t>, leading to severe biodiversity loss and the isolation of species on artificial islands</a:t>
            </a:r>
            <a:endParaRPr lang="en-US" sz="1400">
              <a:solidFill>
                <a:srgbClr val="FFFFFF"/>
              </a:solidFill>
            </a:endParaRPr>
          </a:p>
        </p:txBody>
      </p:sp>
    </p:spTree>
    <p:extLst>
      <p:ext uri="{BB962C8B-B14F-4D97-AF65-F5344CB8AC3E}">
        <p14:creationId xmlns:p14="http://schemas.microsoft.com/office/powerpoint/2010/main" val="37497192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022BDE4A-8A20-4A69-9C5A-581C82036A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FD7F7A5-C91D-E79B-1E4F-8E08A6D5CB31}"/>
              </a:ext>
            </a:extLst>
          </p:cNvPr>
          <p:cNvSpPr>
            <a:spLocks noGrp="1"/>
          </p:cNvSpPr>
          <p:nvPr>
            <p:ph type="title"/>
          </p:nvPr>
        </p:nvSpPr>
        <p:spPr>
          <a:xfrm>
            <a:off x="1267" y="-124104"/>
            <a:ext cx="10178934" cy="795798"/>
          </a:xfrm>
        </p:spPr>
        <p:txBody>
          <a:bodyPr vert="horz" lIns="91440" tIns="45720" rIns="91440" bIns="45720" rtlCol="0" anchor="b">
            <a:noAutofit/>
          </a:bodyPr>
          <a:lstStyle/>
          <a:p>
            <a:r>
              <a:rPr lang="en-US" sz="4000"/>
              <a:t>Solving one problem exacerbates another</a:t>
            </a:r>
            <a:endParaRPr lang="en-US">
              <a:ea typeface="+mj-ea"/>
              <a:cs typeface="+mj-cs"/>
            </a:endParaRPr>
          </a:p>
        </p:txBody>
      </p:sp>
      <p:pic>
        <p:nvPicPr>
          <p:cNvPr id="10" name="Content Placeholder 9">
            <a:extLst>
              <a:ext uri="{FF2B5EF4-FFF2-40B4-BE49-F238E27FC236}">
                <a16:creationId xmlns:a16="http://schemas.microsoft.com/office/drawing/2014/main" id="{3342CF06-E6FE-2AD1-1E96-0F1B6E0AD4E5}"/>
              </a:ext>
            </a:extLst>
          </p:cNvPr>
          <p:cNvPicPr>
            <a:picLocks noGrp="1" noChangeAspect="1"/>
          </p:cNvPicPr>
          <p:nvPr>
            <p:ph idx="1"/>
          </p:nvPr>
        </p:nvPicPr>
        <p:blipFill>
          <a:blip r:embed="rId2"/>
          <a:stretch>
            <a:fillRect/>
          </a:stretch>
        </p:blipFill>
        <p:spPr>
          <a:xfrm>
            <a:off x="256929" y="667016"/>
            <a:ext cx="6418699" cy="6071616"/>
          </a:xfrm>
        </p:spPr>
      </p:pic>
      <p:sp>
        <p:nvSpPr>
          <p:cNvPr id="12" name="Rectangle 11">
            <a:extLst>
              <a:ext uri="{FF2B5EF4-FFF2-40B4-BE49-F238E27FC236}">
                <a16:creationId xmlns:a16="http://schemas.microsoft.com/office/drawing/2014/main" id="{340F17FA-D7F5-AF81-C043-EB24441FCC91}"/>
              </a:ext>
            </a:extLst>
          </p:cNvPr>
          <p:cNvSpPr/>
          <p:nvPr/>
        </p:nvSpPr>
        <p:spPr>
          <a:xfrm>
            <a:off x="5695071" y="2523744"/>
            <a:ext cx="524256" cy="207264"/>
          </a:xfrm>
          <a:prstGeom prst="rect">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6" name="Picture 15">
            <a:extLst>
              <a:ext uri="{FF2B5EF4-FFF2-40B4-BE49-F238E27FC236}">
                <a16:creationId xmlns:a16="http://schemas.microsoft.com/office/drawing/2014/main" id="{AA9BA315-C504-1C9E-2FB8-5E58FF3DC563}"/>
              </a:ext>
            </a:extLst>
          </p:cNvPr>
          <p:cNvPicPr>
            <a:picLocks noChangeAspect="1"/>
          </p:cNvPicPr>
          <p:nvPr/>
        </p:nvPicPr>
        <p:blipFill>
          <a:blip r:embed="rId3"/>
          <a:stretch>
            <a:fillRect/>
          </a:stretch>
        </p:blipFill>
        <p:spPr>
          <a:xfrm>
            <a:off x="7412648" y="271828"/>
            <a:ext cx="4646735" cy="4321420"/>
          </a:xfrm>
          <a:prstGeom prst="rect">
            <a:avLst/>
          </a:prstGeom>
        </p:spPr>
      </p:pic>
      <p:sp>
        <p:nvSpPr>
          <p:cNvPr id="18" name="Arrow: Curved Up 17">
            <a:extLst>
              <a:ext uri="{FF2B5EF4-FFF2-40B4-BE49-F238E27FC236}">
                <a16:creationId xmlns:a16="http://schemas.microsoft.com/office/drawing/2014/main" id="{1F18EBB2-D8D4-80F3-9DB2-1F10FBF17990}"/>
              </a:ext>
            </a:extLst>
          </p:cNvPr>
          <p:cNvSpPr/>
          <p:nvPr/>
        </p:nvSpPr>
        <p:spPr>
          <a:xfrm flipH="1">
            <a:off x="8941660" y="4595445"/>
            <a:ext cx="1398094" cy="708074"/>
          </a:xfrm>
          <a:prstGeom prst="curvedUpArrow">
            <a:avLst/>
          </a:prstGeom>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pic>
        <p:nvPicPr>
          <p:cNvPr id="4" name="Picture 3">
            <a:extLst>
              <a:ext uri="{FF2B5EF4-FFF2-40B4-BE49-F238E27FC236}">
                <a16:creationId xmlns:a16="http://schemas.microsoft.com/office/drawing/2014/main" id="{9F9AA621-8895-15F3-5C7A-2DEA17B598E4}"/>
              </a:ext>
            </a:extLst>
          </p:cNvPr>
          <p:cNvPicPr>
            <a:picLocks noChangeAspect="1"/>
          </p:cNvPicPr>
          <p:nvPr/>
        </p:nvPicPr>
        <p:blipFill>
          <a:blip r:embed="rId4"/>
          <a:srcRect l="18924" t="71129" r="65637" b="2903"/>
          <a:stretch/>
        </p:blipFill>
        <p:spPr>
          <a:xfrm>
            <a:off x="9435829" y="5614476"/>
            <a:ext cx="908539" cy="942605"/>
          </a:xfrm>
          <a:prstGeom prst="rect">
            <a:avLst/>
          </a:prstGeom>
        </p:spPr>
      </p:pic>
      <p:pic>
        <p:nvPicPr>
          <p:cNvPr id="5" name="Picture 4">
            <a:extLst>
              <a:ext uri="{FF2B5EF4-FFF2-40B4-BE49-F238E27FC236}">
                <a16:creationId xmlns:a16="http://schemas.microsoft.com/office/drawing/2014/main" id="{CC0945CB-02B2-CC9C-776F-AE77D787640A}"/>
              </a:ext>
            </a:extLst>
          </p:cNvPr>
          <p:cNvPicPr>
            <a:picLocks noChangeAspect="1"/>
          </p:cNvPicPr>
          <p:nvPr/>
        </p:nvPicPr>
        <p:blipFill>
          <a:blip r:embed="rId4"/>
          <a:srcRect l="3386" t="44583" r="80876" b="29355"/>
          <a:stretch/>
        </p:blipFill>
        <p:spPr>
          <a:xfrm>
            <a:off x="8480396" y="5587584"/>
            <a:ext cx="926130" cy="946048"/>
          </a:xfrm>
          <a:prstGeom prst="rect">
            <a:avLst/>
          </a:prstGeom>
        </p:spPr>
      </p:pic>
    </p:spTree>
    <p:extLst>
      <p:ext uri="{BB962C8B-B14F-4D97-AF65-F5344CB8AC3E}">
        <p14:creationId xmlns:p14="http://schemas.microsoft.com/office/powerpoint/2010/main" val="21440581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A43416F-39C4-5F55-EB61-1C37292E0E27}"/>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7FBC18E3-422D-1134-1DA9-F5E2FCAA8F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46FB18-6263-483D-3339-6486282DC410}"/>
              </a:ext>
            </a:extLst>
          </p:cNvPr>
          <p:cNvSpPr>
            <a:spLocks noGrp="1"/>
          </p:cNvSpPr>
          <p:nvPr>
            <p:ph type="title"/>
          </p:nvPr>
        </p:nvSpPr>
        <p:spPr>
          <a:xfrm>
            <a:off x="1267" y="-124104"/>
            <a:ext cx="10178934" cy="795798"/>
          </a:xfrm>
        </p:spPr>
        <p:txBody>
          <a:bodyPr vert="horz" lIns="91440" tIns="45720" rIns="91440" bIns="45720" rtlCol="0" anchor="b">
            <a:noAutofit/>
          </a:bodyPr>
          <a:lstStyle/>
          <a:p>
            <a:r>
              <a:rPr lang="en-US" sz="4000" dirty="0"/>
              <a:t>Deforestation: </a:t>
            </a:r>
            <a:r>
              <a:rPr lang="en-US" sz="4000" i="1" dirty="0"/>
              <a:t>Amazon rainforest</a:t>
            </a:r>
            <a:endParaRPr lang="en-US" i="1" dirty="0"/>
          </a:p>
        </p:txBody>
      </p:sp>
      <p:pic>
        <p:nvPicPr>
          <p:cNvPr id="6" name="Picture 5">
            <a:extLst>
              <a:ext uri="{FF2B5EF4-FFF2-40B4-BE49-F238E27FC236}">
                <a16:creationId xmlns:a16="http://schemas.microsoft.com/office/drawing/2014/main" id="{B688B742-1AF4-B69B-CC18-FB1813A6E191}"/>
              </a:ext>
            </a:extLst>
          </p:cNvPr>
          <p:cNvPicPr>
            <a:picLocks noChangeAspect="1"/>
          </p:cNvPicPr>
          <p:nvPr/>
        </p:nvPicPr>
        <p:blipFill>
          <a:blip r:embed="rId2"/>
          <a:stretch>
            <a:fillRect/>
          </a:stretch>
        </p:blipFill>
        <p:spPr>
          <a:xfrm>
            <a:off x="9096375" y="272651"/>
            <a:ext cx="2446736" cy="2044304"/>
          </a:xfrm>
          <a:prstGeom prst="rect">
            <a:avLst/>
          </a:prstGeom>
        </p:spPr>
      </p:pic>
      <p:pic>
        <p:nvPicPr>
          <p:cNvPr id="7" name="Picture 6">
            <a:extLst>
              <a:ext uri="{FF2B5EF4-FFF2-40B4-BE49-F238E27FC236}">
                <a16:creationId xmlns:a16="http://schemas.microsoft.com/office/drawing/2014/main" id="{85EB528F-800A-AA87-2702-9BE62C1FF767}"/>
              </a:ext>
            </a:extLst>
          </p:cNvPr>
          <p:cNvPicPr>
            <a:picLocks noChangeAspect="1"/>
          </p:cNvPicPr>
          <p:nvPr/>
        </p:nvPicPr>
        <p:blipFill>
          <a:blip r:embed="rId3"/>
          <a:stretch>
            <a:fillRect/>
          </a:stretch>
        </p:blipFill>
        <p:spPr>
          <a:xfrm>
            <a:off x="9093994" y="2586039"/>
            <a:ext cx="2451498" cy="1840708"/>
          </a:xfrm>
          <a:prstGeom prst="rect">
            <a:avLst/>
          </a:prstGeom>
        </p:spPr>
      </p:pic>
      <p:pic>
        <p:nvPicPr>
          <p:cNvPr id="8" name="Picture 7" descr="A blue and white poster with a tractor and a speedometer&#10;&#10;AI-generated content may be incorrect.">
            <a:extLst>
              <a:ext uri="{FF2B5EF4-FFF2-40B4-BE49-F238E27FC236}">
                <a16:creationId xmlns:a16="http://schemas.microsoft.com/office/drawing/2014/main" id="{39857E0B-2134-6BBA-64AC-711B5DF19E08}"/>
              </a:ext>
            </a:extLst>
          </p:cNvPr>
          <p:cNvPicPr>
            <a:picLocks noChangeAspect="1"/>
          </p:cNvPicPr>
          <p:nvPr/>
        </p:nvPicPr>
        <p:blipFill>
          <a:blip r:embed="rId4"/>
          <a:stretch>
            <a:fillRect/>
          </a:stretch>
        </p:blipFill>
        <p:spPr>
          <a:xfrm>
            <a:off x="9098755" y="4702967"/>
            <a:ext cx="2453881" cy="1988346"/>
          </a:xfrm>
          <a:prstGeom prst="rect">
            <a:avLst/>
          </a:prstGeom>
        </p:spPr>
      </p:pic>
      <p:pic>
        <p:nvPicPr>
          <p:cNvPr id="9" name="Picture 8" descr="A map of the amazon region&#10;&#10;AI-generated content may be incorrect.">
            <a:extLst>
              <a:ext uri="{FF2B5EF4-FFF2-40B4-BE49-F238E27FC236}">
                <a16:creationId xmlns:a16="http://schemas.microsoft.com/office/drawing/2014/main" id="{3013DE8A-47B0-4CAF-61D0-75F8B4DDB892}"/>
              </a:ext>
            </a:extLst>
          </p:cNvPr>
          <p:cNvPicPr>
            <a:picLocks noChangeAspect="1"/>
          </p:cNvPicPr>
          <p:nvPr/>
        </p:nvPicPr>
        <p:blipFill>
          <a:blip r:embed="rId5"/>
          <a:stretch>
            <a:fillRect/>
          </a:stretch>
        </p:blipFill>
        <p:spPr>
          <a:xfrm>
            <a:off x="1060847" y="716756"/>
            <a:ext cx="7153275" cy="5781675"/>
          </a:xfrm>
          <a:prstGeom prst="rect">
            <a:avLst/>
          </a:prstGeom>
        </p:spPr>
      </p:pic>
    </p:spTree>
    <p:extLst>
      <p:ext uri="{BB962C8B-B14F-4D97-AF65-F5344CB8AC3E}">
        <p14:creationId xmlns:p14="http://schemas.microsoft.com/office/powerpoint/2010/main" val="7433481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6A04ECC-18C7-0464-5AAC-AE6B010EB1B8}"/>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8C655C2A-F32F-97EF-6C77-C2EDE1BC4E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BB2E6D-6FBF-0993-8DB8-A9EF50C330DD}"/>
              </a:ext>
            </a:extLst>
          </p:cNvPr>
          <p:cNvSpPr>
            <a:spLocks noGrp="1"/>
          </p:cNvSpPr>
          <p:nvPr>
            <p:ph type="title"/>
          </p:nvPr>
        </p:nvSpPr>
        <p:spPr>
          <a:xfrm>
            <a:off x="1267" y="-124104"/>
            <a:ext cx="10178934" cy="795798"/>
          </a:xfrm>
        </p:spPr>
        <p:txBody>
          <a:bodyPr vert="horz" lIns="91440" tIns="45720" rIns="91440" bIns="45720" rtlCol="0" anchor="b">
            <a:noAutofit/>
          </a:bodyPr>
          <a:lstStyle/>
          <a:p>
            <a:r>
              <a:rPr lang="en-US" sz="4000" dirty="0"/>
              <a:t>Deforestation: </a:t>
            </a:r>
            <a:r>
              <a:rPr lang="en-US" sz="4000" i="1" dirty="0"/>
              <a:t>Amazon rainforest</a:t>
            </a:r>
            <a:endParaRPr lang="en-US" i="1" dirty="0"/>
          </a:p>
        </p:txBody>
      </p:sp>
      <p:pic>
        <p:nvPicPr>
          <p:cNvPr id="6" name="Picture 5">
            <a:extLst>
              <a:ext uri="{FF2B5EF4-FFF2-40B4-BE49-F238E27FC236}">
                <a16:creationId xmlns:a16="http://schemas.microsoft.com/office/drawing/2014/main" id="{AFFDEA09-4831-016A-6626-5AA79E5591A6}"/>
              </a:ext>
            </a:extLst>
          </p:cNvPr>
          <p:cNvPicPr>
            <a:picLocks noChangeAspect="1"/>
          </p:cNvPicPr>
          <p:nvPr/>
        </p:nvPicPr>
        <p:blipFill>
          <a:blip r:embed="rId2"/>
          <a:stretch>
            <a:fillRect/>
          </a:stretch>
        </p:blipFill>
        <p:spPr>
          <a:xfrm>
            <a:off x="9096375" y="272651"/>
            <a:ext cx="2446736" cy="2044304"/>
          </a:xfrm>
          <a:prstGeom prst="rect">
            <a:avLst/>
          </a:prstGeom>
        </p:spPr>
      </p:pic>
      <p:pic>
        <p:nvPicPr>
          <p:cNvPr id="7" name="Picture 6">
            <a:extLst>
              <a:ext uri="{FF2B5EF4-FFF2-40B4-BE49-F238E27FC236}">
                <a16:creationId xmlns:a16="http://schemas.microsoft.com/office/drawing/2014/main" id="{FD4B445F-2E84-B6A3-020D-749AD24DCF8E}"/>
              </a:ext>
            </a:extLst>
          </p:cNvPr>
          <p:cNvPicPr>
            <a:picLocks noChangeAspect="1"/>
          </p:cNvPicPr>
          <p:nvPr/>
        </p:nvPicPr>
        <p:blipFill>
          <a:blip r:embed="rId3"/>
          <a:stretch>
            <a:fillRect/>
          </a:stretch>
        </p:blipFill>
        <p:spPr>
          <a:xfrm>
            <a:off x="9093994" y="2586039"/>
            <a:ext cx="2451498" cy="1840708"/>
          </a:xfrm>
          <a:prstGeom prst="rect">
            <a:avLst/>
          </a:prstGeom>
        </p:spPr>
      </p:pic>
      <p:pic>
        <p:nvPicPr>
          <p:cNvPr id="8" name="Picture 7" descr="A blue and white poster with a tractor and a speedometer&#10;&#10;AI-generated content may be incorrect.">
            <a:extLst>
              <a:ext uri="{FF2B5EF4-FFF2-40B4-BE49-F238E27FC236}">
                <a16:creationId xmlns:a16="http://schemas.microsoft.com/office/drawing/2014/main" id="{9B394B67-44A5-639D-C6AE-D81985F433D1}"/>
              </a:ext>
            </a:extLst>
          </p:cNvPr>
          <p:cNvPicPr>
            <a:picLocks noChangeAspect="1"/>
          </p:cNvPicPr>
          <p:nvPr/>
        </p:nvPicPr>
        <p:blipFill>
          <a:blip r:embed="rId4"/>
          <a:stretch>
            <a:fillRect/>
          </a:stretch>
        </p:blipFill>
        <p:spPr>
          <a:xfrm>
            <a:off x="9098755" y="4702967"/>
            <a:ext cx="2453881" cy="1988346"/>
          </a:xfrm>
          <a:prstGeom prst="rect">
            <a:avLst/>
          </a:prstGeom>
        </p:spPr>
      </p:pic>
      <p:pic>
        <p:nvPicPr>
          <p:cNvPr id="3" name="Picture 2" descr="A aerial view of a forest&#10;&#10;AI-generated content may be incorrect.">
            <a:extLst>
              <a:ext uri="{FF2B5EF4-FFF2-40B4-BE49-F238E27FC236}">
                <a16:creationId xmlns:a16="http://schemas.microsoft.com/office/drawing/2014/main" id="{29C2FBE6-3BF2-8034-FF58-7834E2B0896D}"/>
              </a:ext>
            </a:extLst>
          </p:cNvPr>
          <p:cNvPicPr>
            <a:picLocks noChangeAspect="1"/>
          </p:cNvPicPr>
          <p:nvPr/>
        </p:nvPicPr>
        <p:blipFill>
          <a:blip r:embed="rId5"/>
          <a:srcRect t="137" r="63" b="6375"/>
          <a:stretch/>
        </p:blipFill>
        <p:spPr>
          <a:xfrm>
            <a:off x="745919" y="827177"/>
            <a:ext cx="7206842" cy="5355631"/>
          </a:xfrm>
          <a:prstGeom prst="rect">
            <a:avLst/>
          </a:prstGeom>
        </p:spPr>
      </p:pic>
    </p:spTree>
    <p:extLst>
      <p:ext uri="{BB962C8B-B14F-4D97-AF65-F5344CB8AC3E}">
        <p14:creationId xmlns:p14="http://schemas.microsoft.com/office/powerpoint/2010/main" val="2610455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C0A8B-EC45-3542-BA92-8977E804C2EA}"/>
              </a:ext>
            </a:extLst>
          </p:cNvPr>
          <p:cNvSpPr>
            <a:spLocks noGrp="1"/>
          </p:cNvSpPr>
          <p:nvPr>
            <p:ph type="title"/>
          </p:nvPr>
        </p:nvSpPr>
        <p:spPr>
          <a:xfrm>
            <a:off x="78757" y="-699"/>
            <a:ext cx="11563102" cy="771382"/>
          </a:xfrm>
        </p:spPr>
        <p:txBody>
          <a:bodyPr>
            <a:normAutofit/>
          </a:bodyPr>
          <a:lstStyle/>
          <a:p>
            <a:r>
              <a:rPr lang="en-GB" sz="4000" dirty="0"/>
              <a:t>Tipping points of Biodiversity</a:t>
            </a:r>
          </a:p>
        </p:txBody>
      </p:sp>
      <p:pic>
        <p:nvPicPr>
          <p:cNvPr id="4" name="Picture 3">
            <a:extLst>
              <a:ext uri="{FF2B5EF4-FFF2-40B4-BE49-F238E27FC236}">
                <a16:creationId xmlns:a16="http://schemas.microsoft.com/office/drawing/2014/main" id="{0FA13E72-4A4A-DD41-BD2D-948C841C4699}"/>
              </a:ext>
            </a:extLst>
          </p:cNvPr>
          <p:cNvPicPr>
            <a:picLocks noChangeAspect="1"/>
          </p:cNvPicPr>
          <p:nvPr/>
        </p:nvPicPr>
        <p:blipFill>
          <a:blip r:embed="rId3"/>
          <a:stretch>
            <a:fillRect/>
          </a:stretch>
        </p:blipFill>
        <p:spPr>
          <a:xfrm>
            <a:off x="538016" y="939471"/>
            <a:ext cx="6580468" cy="5245429"/>
          </a:xfrm>
          <a:prstGeom prst="rect">
            <a:avLst/>
          </a:prstGeom>
        </p:spPr>
      </p:pic>
      <p:sp>
        <p:nvSpPr>
          <p:cNvPr id="5" name="Rectangle 4">
            <a:extLst>
              <a:ext uri="{FF2B5EF4-FFF2-40B4-BE49-F238E27FC236}">
                <a16:creationId xmlns:a16="http://schemas.microsoft.com/office/drawing/2014/main" id="{616B6E0A-1757-5345-A170-A3A3E8E58D17}"/>
              </a:ext>
            </a:extLst>
          </p:cNvPr>
          <p:cNvSpPr/>
          <p:nvPr/>
        </p:nvSpPr>
        <p:spPr>
          <a:xfrm>
            <a:off x="7586518" y="892398"/>
            <a:ext cx="4187206" cy="4401205"/>
          </a:xfrm>
          <a:prstGeom prst="rect">
            <a:avLst/>
          </a:prstGeom>
        </p:spPr>
        <p:txBody>
          <a:bodyPr wrap="square">
            <a:spAutoFit/>
          </a:bodyPr>
          <a:lstStyle/>
          <a:p>
            <a:br>
              <a:rPr lang="en-GB" sz="2000" dirty="0">
                <a:effectLst/>
              </a:rPr>
            </a:br>
            <a:endParaRPr lang="en-GB" sz="2000" dirty="0">
              <a:effectLst/>
            </a:endParaRPr>
          </a:p>
          <a:p>
            <a:pPr marL="285750" indent="-285750">
              <a:buFont typeface="Arial" panose="020B0604020202020204" pitchFamily="34" charset="0"/>
              <a:buChar char="•"/>
            </a:pPr>
            <a:r>
              <a:rPr lang="en-GB" sz="2000" dirty="0">
                <a:effectLst/>
              </a:rPr>
              <a:t>Mammal, amphibian, and invertebrate richness decreases with logging intensity</a:t>
            </a:r>
          </a:p>
          <a:p>
            <a:pPr marL="285750" indent="-285750">
              <a:buFont typeface="Arial" panose="020B0604020202020204" pitchFamily="34" charset="0"/>
              <a:buChar char="•"/>
            </a:pPr>
            <a:r>
              <a:rPr lang="en-GB" sz="2000" dirty="0">
                <a:effectLst/>
              </a:rPr>
              <a:t>Increases in bird species richness are caused by the influx of habitat generalists</a:t>
            </a:r>
          </a:p>
          <a:p>
            <a:pPr marL="285750" indent="-285750">
              <a:buFont typeface="Arial" panose="020B0604020202020204" pitchFamily="34" charset="0"/>
              <a:buChar char="•"/>
            </a:pPr>
            <a:r>
              <a:rPr lang="en-GB" sz="2000" dirty="0">
                <a:effectLst/>
              </a:rPr>
              <a:t>Logging intensity of 38 m</a:t>
            </a:r>
            <a:r>
              <a:rPr lang="en-GB" sz="2000" baseline="30000" dirty="0">
                <a:effectLst/>
              </a:rPr>
              <a:t>3</a:t>
            </a:r>
            <a:r>
              <a:rPr lang="en-GB" sz="2000" dirty="0">
                <a:effectLst/>
              </a:rPr>
              <a:t> ha</a:t>
            </a:r>
            <a:r>
              <a:rPr lang="en-GB" sz="2000" baseline="30000" dirty="0">
                <a:effectLst/>
              </a:rPr>
              <a:t>−1</a:t>
            </a:r>
            <a:r>
              <a:rPr lang="en-GB" sz="2000" dirty="0">
                <a:effectLst/>
              </a:rPr>
              <a:t> would cause halving of mammal richness</a:t>
            </a:r>
          </a:p>
          <a:p>
            <a:pPr marL="285750" indent="-285750">
              <a:buFont typeface="Arial" panose="020B0604020202020204" pitchFamily="34" charset="0"/>
              <a:buChar char="•"/>
            </a:pPr>
            <a:r>
              <a:rPr lang="en-GB" sz="2000" dirty="0">
                <a:effectLst/>
              </a:rPr>
              <a:t>Logging intensity of 63 m</a:t>
            </a:r>
            <a:r>
              <a:rPr lang="en-GB" sz="2000" baseline="30000" dirty="0">
                <a:effectLst/>
              </a:rPr>
              <a:t>3</a:t>
            </a:r>
            <a:r>
              <a:rPr lang="en-GB" sz="2000" dirty="0">
                <a:effectLst/>
              </a:rPr>
              <a:t> ha</a:t>
            </a:r>
            <a:r>
              <a:rPr lang="en-GB" sz="2000" baseline="30000" dirty="0">
                <a:effectLst/>
              </a:rPr>
              <a:t>−1</a:t>
            </a:r>
            <a:r>
              <a:rPr lang="en-GB" sz="2000" dirty="0">
                <a:effectLst/>
              </a:rPr>
              <a:t> would cause halving of amphibian richness</a:t>
            </a:r>
          </a:p>
        </p:txBody>
      </p:sp>
      <p:sp>
        <p:nvSpPr>
          <p:cNvPr id="6" name="Rectangle 5">
            <a:extLst>
              <a:ext uri="{FF2B5EF4-FFF2-40B4-BE49-F238E27FC236}">
                <a16:creationId xmlns:a16="http://schemas.microsoft.com/office/drawing/2014/main" id="{003F48CF-AE46-CF4B-99CA-8EC3D948A6DF}"/>
              </a:ext>
            </a:extLst>
          </p:cNvPr>
          <p:cNvSpPr/>
          <p:nvPr/>
        </p:nvSpPr>
        <p:spPr>
          <a:xfrm>
            <a:off x="6169145" y="6393934"/>
            <a:ext cx="4197111" cy="369332"/>
          </a:xfrm>
          <a:prstGeom prst="rect">
            <a:avLst/>
          </a:prstGeom>
        </p:spPr>
        <p:txBody>
          <a:bodyPr wrap="square">
            <a:spAutoFit/>
          </a:bodyPr>
          <a:lstStyle/>
          <a:p>
            <a:r>
              <a:rPr lang="en-GB" sz="1800" b="0" i="0" u="none" strike="noStrike" dirty="0">
                <a:solidFill>
                  <a:srgbClr val="0C7DBB"/>
                </a:solidFill>
                <a:effectLst/>
                <a:latin typeface="NexusSans"/>
                <a:hlinkClick r:id="rId4" tooltip="Persistent link using digital object identifier"/>
              </a:rPr>
              <a:t>https://doi.org/10.1016/j.cub.2014.06.065</a:t>
            </a:r>
            <a:endParaRPr lang="en-GB" sz="1800" dirty="0"/>
          </a:p>
        </p:txBody>
      </p:sp>
    </p:spTree>
    <p:extLst>
      <p:ext uri="{BB962C8B-B14F-4D97-AF65-F5344CB8AC3E}">
        <p14:creationId xmlns:p14="http://schemas.microsoft.com/office/powerpoint/2010/main" val="2309384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FFCB9F4-05FE-026E-BB20-89E57DCB07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B93E37-056B-9F1C-13DD-4EDC3E87AB71}"/>
              </a:ext>
            </a:extLst>
          </p:cNvPr>
          <p:cNvSpPr>
            <a:spLocks noGrp="1"/>
          </p:cNvSpPr>
          <p:nvPr>
            <p:ph type="title"/>
          </p:nvPr>
        </p:nvSpPr>
        <p:spPr>
          <a:xfrm>
            <a:off x="1267" y="-124104"/>
            <a:ext cx="10178934" cy="795798"/>
          </a:xfrm>
        </p:spPr>
        <p:txBody>
          <a:bodyPr vert="horz" lIns="91440" tIns="45720" rIns="91440" bIns="45720" rtlCol="0" anchor="b">
            <a:noAutofit/>
          </a:bodyPr>
          <a:lstStyle/>
          <a:p>
            <a:r>
              <a:rPr lang="en-US" sz="4000" dirty="0"/>
              <a:t>Deforestation: </a:t>
            </a:r>
            <a:r>
              <a:rPr lang="en-US" sz="4000" i="1" dirty="0"/>
              <a:t>Amazon rainforest</a:t>
            </a:r>
            <a:endParaRPr lang="en-US" i="1" dirty="0"/>
          </a:p>
        </p:txBody>
      </p:sp>
      <p:pic>
        <p:nvPicPr>
          <p:cNvPr id="10" name="Picture 9" descr="Sustainable cattle ranching in the Amazon - Partnerships For Forests">
            <a:extLst>
              <a:ext uri="{FF2B5EF4-FFF2-40B4-BE49-F238E27FC236}">
                <a16:creationId xmlns:a16="http://schemas.microsoft.com/office/drawing/2014/main" id="{B3A33E10-DE53-D78A-D70A-DABAC04E90B8}"/>
              </a:ext>
            </a:extLst>
          </p:cNvPr>
          <p:cNvPicPr>
            <a:picLocks noChangeAspect="1"/>
          </p:cNvPicPr>
          <p:nvPr/>
        </p:nvPicPr>
        <p:blipFill>
          <a:blip r:embed="rId2"/>
          <a:stretch>
            <a:fillRect/>
          </a:stretch>
        </p:blipFill>
        <p:spPr>
          <a:xfrm>
            <a:off x="9099946" y="121669"/>
            <a:ext cx="3022996" cy="2060525"/>
          </a:xfrm>
          <a:prstGeom prst="rect">
            <a:avLst/>
          </a:prstGeom>
        </p:spPr>
      </p:pic>
      <p:pic>
        <p:nvPicPr>
          <p:cNvPr id="11" name="Picture 10" descr="Number of heads of cattle in the states of the Brazilian Amazon and the departments of the&#10;Bolivian ... &#10;© WWF (Adapted from Nepstad, 2008)">
            <a:extLst>
              <a:ext uri="{FF2B5EF4-FFF2-40B4-BE49-F238E27FC236}">
                <a16:creationId xmlns:a16="http://schemas.microsoft.com/office/drawing/2014/main" id="{F5820888-C546-B6F2-8053-A6A2341E5263}"/>
              </a:ext>
            </a:extLst>
          </p:cNvPr>
          <p:cNvPicPr>
            <a:picLocks noChangeAspect="1"/>
          </p:cNvPicPr>
          <p:nvPr/>
        </p:nvPicPr>
        <p:blipFill>
          <a:blip r:embed="rId3"/>
          <a:stretch>
            <a:fillRect/>
          </a:stretch>
        </p:blipFill>
        <p:spPr>
          <a:xfrm>
            <a:off x="9537953" y="3847100"/>
            <a:ext cx="2135077" cy="1824847"/>
          </a:xfrm>
          <a:prstGeom prst="rect">
            <a:avLst/>
          </a:prstGeom>
        </p:spPr>
      </p:pic>
      <p:pic>
        <p:nvPicPr>
          <p:cNvPr id="12" name="Picture 11" descr="11 Amazon Rainforest Deforestation Facts to Know About | Earth.Org">
            <a:extLst>
              <a:ext uri="{FF2B5EF4-FFF2-40B4-BE49-F238E27FC236}">
                <a16:creationId xmlns:a16="http://schemas.microsoft.com/office/drawing/2014/main" id="{287E915E-7EEA-C48D-8D36-D601C133F7E0}"/>
              </a:ext>
            </a:extLst>
          </p:cNvPr>
          <p:cNvPicPr>
            <a:picLocks noChangeAspect="1"/>
          </p:cNvPicPr>
          <p:nvPr/>
        </p:nvPicPr>
        <p:blipFill>
          <a:blip r:embed="rId4"/>
          <a:stretch>
            <a:fillRect/>
          </a:stretch>
        </p:blipFill>
        <p:spPr>
          <a:xfrm>
            <a:off x="116681" y="545306"/>
            <a:ext cx="8886825" cy="6315075"/>
          </a:xfrm>
          <a:prstGeom prst="rect">
            <a:avLst/>
          </a:prstGeom>
        </p:spPr>
      </p:pic>
      <p:pic>
        <p:nvPicPr>
          <p:cNvPr id="13" name="Picture 12" descr="A white text on a white background&#10;&#10;AI-generated content may be incorrect.">
            <a:extLst>
              <a:ext uri="{FF2B5EF4-FFF2-40B4-BE49-F238E27FC236}">
                <a16:creationId xmlns:a16="http://schemas.microsoft.com/office/drawing/2014/main" id="{F16C9C00-FC21-D2AB-3B8C-96123B3D83F8}"/>
              </a:ext>
            </a:extLst>
          </p:cNvPr>
          <p:cNvPicPr>
            <a:picLocks noChangeAspect="1"/>
          </p:cNvPicPr>
          <p:nvPr/>
        </p:nvPicPr>
        <p:blipFill>
          <a:blip r:embed="rId5"/>
          <a:stretch>
            <a:fillRect/>
          </a:stretch>
        </p:blipFill>
        <p:spPr>
          <a:xfrm>
            <a:off x="8465343" y="1893882"/>
            <a:ext cx="3690938" cy="1439081"/>
          </a:xfrm>
          <a:prstGeom prst="rect">
            <a:avLst/>
          </a:prstGeom>
        </p:spPr>
      </p:pic>
      <p:pic>
        <p:nvPicPr>
          <p:cNvPr id="14" name="Picture 13">
            <a:extLst>
              <a:ext uri="{FF2B5EF4-FFF2-40B4-BE49-F238E27FC236}">
                <a16:creationId xmlns:a16="http://schemas.microsoft.com/office/drawing/2014/main" id="{9AED45CA-F190-1ACF-3002-8EBE938503D9}"/>
              </a:ext>
            </a:extLst>
          </p:cNvPr>
          <p:cNvPicPr>
            <a:picLocks noChangeAspect="1"/>
          </p:cNvPicPr>
          <p:nvPr/>
        </p:nvPicPr>
        <p:blipFill>
          <a:blip r:embed="rId6"/>
          <a:srcRect l="3134" t="70984" r="80687" b="3607"/>
          <a:stretch/>
        </p:blipFill>
        <p:spPr>
          <a:xfrm>
            <a:off x="10915650" y="5995987"/>
            <a:ext cx="642743" cy="660185"/>
          </a:xfrm>
          <a:prstGeom prst="rect">
            <a:avLst/>
          </a:prstGeom>
        </p:spPr>
      </p:pic>
      <p:pic>
        <p:nvPicPr>
          <p:cNvPr id="15" name="Picture 14">
            <a:extLst>
              <a:ext uri="{FF2B5EF4-FFF2-40B4-BE49-F238E27FC236}">
                <a16:creationId xmlns:a16="http://schemas.microsoft.com/office/drawing/2014/main" id="{B72295E6-CE33-39AB-5E87-B65BA51FEC61}"/>
              </a:ext>
            </a:extLst>
          </p:cNvPr>
          <p:cNvPicPr>
            <a:picLocks noChangeAspect="1"/>
          </p:cNvPicPr>
          <p:nvPr/>
        </p:nvPicPr>
        <p:blipFill>
          <a:blip r:embed="rId6"/>
          <a:srcRect l="18706" t="18883" r="65015" b="54031"/>
          <a:stretch/>
        </p:blipFill>
        <p:spPr>
          <a:xfrm>
            <a:off x="9248775" y="5722143"/>
            <a:ext cx="958268" cy="982933"/>
          </a:xfrm>
          <a:prstGeom prst="rect">
            <a:avLst/>
          </a:prstGeom>
        </p:spPr>
      </p:pic>
      <p:pic>
        <p:nvPicPr>
          <p:cNvPr id="16" name="Picture 15">
            <a:extLst>
              <a:ext uri="{FF2B5EF4-FFF2-40B4-BE49-F238E27FC236}">
                <a16:creationId xmlns:a16="http://schemas.microsoft.com/office/drawing/2014/main" id="{6D2A25D0-25A4-5706-2555-AB2F73036E08}"/>
              </a:ext>
            </a:extLst>
          </p:cNvPr>
          <p:cNvPicPr>
            <a:picLocks noChangeAspect="1"/>
          </p:cNvPicPr>
          <p:nvPr/>
        </p:nvPicPr>
        <p:blipFill>
          <a:blip r:embed="rId6"/>
          <a:srcRect l="34277" t="70984" r="49747" b="3607"/>
          <a:stretch/>
        </p:blipFill>
        <p:spPr>
          <a:xfrm>
            <a:off x="10183416" y="5995989"/>
            <a:ext cx="672507" cy="660185"/>
          </a:xfrm>
          <a:prstGeom prst="rect">
            <a:avLst/>
          </a:prstGeom>
        </p:spPr>
      </p:pic>
    </p:spTree>
    <p:extLst>
      <p:ext uri="{BB962C8B-B14F-4D97-AF65-F5344CB8AC3E}">
        <p14:creationId xmlns:p14="http://schemas.microsoft.com/office/powerpoint/2010/main" val="3256721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E167F76-ADBF-6B0E-8FA4-A6488929EB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F13F7C-B77F-9402-3B47-C5F494539AA4}"/>
              </a:ext>
            </a:extLst>
          </p:cNvPr>
          <p:cNvSpPr>
            <a:spLocks noGrp="1"/>
          </p:cNvSpPr>
          <p:nvPr>
            <p:ph type="title"/>
          </p:nvPr>
        </p:nvSpPr>
        <p:spPr>
          <a:xfrm>
            <a:off x="1267" y="-124104"/>
            <a:ext cx="10178934" cy="795798"/>
          </a:xfrm>
        </p:spPr>
        <p:txBody>
          <a:bodyPr vert="horz" lIns="91440" tIns="45720" rIns="91440" bIns="45720" rtlCol="0" anchor="b">
            <a:noAutofit/>
          </a:bodyPr>
          <a:lstStyle/>
          <a:p>
            <a:r>
              <a:rPr lang="en-US" sz="4000" dirty="0"/>
              <a:t>Deforestation: </a:t>
            </a:r>
            <a:r>
              <a:rPr lang="en-US" sz="4000" i="1" dirty="0"/>
              <a:t>Amazon rainforest</a:t>
            </a:r>
            <a:endParaRPr lang="en-US" i="1" dirty="0"/>
          </a:p>
        </p:txBody>
      </p:sp>
      <p:pic>
        <p:nvPicPr>
          <p:cNvPr id="3" name="Picture 2" descr="A bird&amp;#39;s eye view of a forest&#10;&#10;AI-generated content may be incorrect.">
            <a:extLst>
              <a:ext uri="{FF2B5EF4-FFF2-40B4-BE49-F238E27FC236}">
                <a16:creationId xmlns:a16="http://schemas.microsoft.com/office/drawing/2014/main" id="{5C1D79E4-5881-99FF-1B7C-7C1C7DCC3C24}"/>
              </a:ext>
            </a:extLst>
          </p:cNvPr>
          <p:cNvPicPr>
            <a:picLocks noChangeAspect="1"/>
          </p:cNvPicPr>
          <p:nvPr/>
        </p:nvPicPr>
        <p:blipFill>
          <a:blip r:embed="rId2"/>
          <a:stretch>
            <a:fillRect/>
          </a:stretch>
        </p:blipFill>
        <p:spPr>
          <a:xfrm>
            <a:off x="1496" y="633350"/>
            <a:ext cx="5420074" cy="6224650"/>
          </a:xfrm>
          <a:prstGeom prst="rect">
            <a:avLst/>
          </a:prstGeom>
        </p:spPr>
      </p:pic>
      <p:pic>
        <p:nvPicPr>
          <p:cNvPr id="4" name="Picture 3" descr="A screenshot of a phone&#10;&#10;AI-generated content may be incorrect.">
            <a:extLst>
              <a:ext uri="{FF2B5EF4-FFF2-40B4-BE49-F238E27FC236}">
                <a16:creationId xmlns:a16="http://schemas.microsoft.com/office/drawing/2014/main" id="{BF9A2D4A-6653-FED1-90D8-2EEC1DD45B7D}"/>
              </a:ext>
            </a:extLst>
          </p:cNvPr>
          <p:cNvPicPr>
            <a:picLocks noChangeAspect="1"/>
          </p:cNvPicPr>
          <p:nvPr/>
        </p:nvPicPr>
        <p:blipFill>
          <a:blip r:embed="rId3"/>
          <a:stretch>
            <a:fillRect/>
          </a:stretch>
        </p:blipFill>
        <p:spPr>
          <a:xfrm>
            <a:off x="5675415" y="905488"/>
            <a:ext cx="5898079" cy="1885218"/>
          </a:xfrm>
          <a:prstGeom prst="rect">
            <a:avLst/>
          </a:prstGeom>
        </p:spPr>
      </p:pic>
      <p:pic>
        <p:nvPicPr>
          <p:cNvPr id="5" name="Picture 4">
            <a:extLst>
              <a:ext uri="{FF2B5EF4-FFF2-40B4-BE49-F238E27FC236}">
                <a16:creationId xmlns:a16="http://schemas.microsoft.com/office/drawing/2014/main" id="{E1F7491D-DF1D-B0BC-4040-032078D1C140}"/>
              </a:ext>
            </a:extLst>
          </p:cNvPr>
          <p:cNvPicPr>
            <a:picLocks noChangeAspect="1"/>
          </p:cNvPicPr>
          <p:nvPr/>
        </p:nvPicPr>
        <p:blipFill>
          <a:blip r:embed="rId4"/>
          <a:stretch>
            <a:fillRect/>
          </a:stretch>
        </p:blipFill>
        <p:spPr>
          <a:xfrm>
            <a:off x="5684445" y="2789215"/>
            <a:ext cx="5884967" cy="3629893"/>
          </a:xfrm>
          <a:prstGeom prst="rect">
            <a:avLst/>
          </a:prstGeom>
        </p:spPr>
      </p:pic>
    </p:spTree>
    <p:extLst>
      <p:ext uri="{BB962C8B-B14F-4D97-AF65-F5344CB8AC3E}">
        <p14:creationId xmlns:p14="http://schemas.microsoft.com/office/powerpoint/2010/main" val="13303501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0CC0D9C-0786-106C-7EB8-3AA80A8C8EBA}"/>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13A65C5B-8D72-AB46-A051-3FAE75EE4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5F503AB-5643-254A-9134-ADE997B45EB1}"/>
              </a:ext>
            </a:extLst>
          </p:cNvPr>
          <p:cNvSpPr>
            <a:spLocks noGrp="1"/>
          </p:cNvSpPr>
          <p:nvPr>
            <p:ph type="title"/>
          </p:nvPr>
        </p:nvSpPr>
        <p:spPr>
          <a:xfrm>
            <a:off x="1267" y="-124104"/>
            <a:ext cx="10178934" cy="795798"/>
          </a:xfrm>
        </p:spPr>
        <p:txBody>
          <a:bodyPr vert="horz" lIns="91440" tIns="45720" rIns="91440" bIns="45720" rtlCol="0" anchor="b">
            <a:noAutofit/>
          </a:bodyPr>
          <a:lstStyle/>
          <a:p>
            <a:r>
              <a:rPr lang="en-US" sz="4000"/>
              <a:t>Eutrophication</a:t>
            </a:r>
            <a:endParaRPr lang="en-US">
              <a:ea typeface="+mj-ea"/>
              <a:cs typeface="+mj-cs"/>
            </a:endParaRPr>
          </a:p>
        </p:txBody>
      </p:sp>
      <p:pic>
        <p:nvPicPr>
          <p:cNvPr id="3" name="Picture 2" descr="A diagram of a farm&#10;&#10;AI-generated content may be incorrect.">
            <a:extLst>
              <a:ext uri="{FF2B5EF4-FFF2-40B4-BE49-F238E27FC236}">
                <a16:creationId xmlns:a16="http://schemas.microsoft.com/office/drawing/2014/main" id="{B0F0472C-3DC2-5C3E-44EA-9BB7083848F9}"/>
              </a:ext>
            </a:extLst>
          </p:cNvPr>
          <p:cNvPicPr>
            <a:picLocks noChangeAspect="1"/>
          </p:cNvPicPr>
          <p:nvPr/>
        </p:nvPicPr>
        <p:blipFill>
          <a:blip r:embed="rId2"/>
          <a:stretch>
            <a:fillRect/>
          </a:stretch>
        </p:blipFill>
        <p:spPr>
          <a:xfrm>
            <a:off x="0" y="600137"/>
            <a:ext cx="12192000" cy="5657725"/>
          </a:xfrm>
          <a:prstGeom prst="rect">
            <a:avLst/>
          </a:prstGeom>
        </p:spPr>
      </p:pic>
    </p:spTree>
    <p:extLst>
      <p:ext uri="{BB962C8B-B14F-4D97-AF65-F5344CB8AC3E}">
        <p14:creationId xmlns:p14="http://schemas.microsoft.com/office/powerpoint/2010/main" val="20140047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A0BE24E-AF76-841A-FA07-26D47A73F373}"/>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28737C5C-A082-AC19-295B-889513DFF5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C1A591-8054-3B5A-AE39-B1FE109C9A5E}"/>
              </a:ext>
            </a:extLst>
          </p:cNvPr>
          <p:cNvSpPr>
            <a:spLocks noGrp="1"/>
          </p:cNvSpPr>
          <p:nvPr>
            <p:ph type="title"/>
          </p:nvPr>
        </p:nvSpPr>
        <p:spPr>
          <a:xfrm>
            <a:off x="1267" y="-124104"/>
            <a:ext cx="10178934" cy="795798"/>
          </a:xfrm>
        </p:spPr>
        <p:txBody>
          <a:bodyPr vert="horz" lIns="91440" tIns="45720" rIns="91440" bIns="45720" rtlCol="0" anchor="b">
            <a:noAutofit/>
          </a:bodyPr>
          <a:lstStyle/>
          <a:p>
            <a:r>
              <a:rPr lang="en-US" sz="4000" dirty="0"/>
              <a:t>Eutrophication from space</a:t>
            </a:r>
            <a:endParaRPr lang="en-US" dirty="0">
              <a:ea typeface="+mj-ea"/>
              <a:cs typeface="+mj-cs"/>
            </a:endParaRPr>
          </a:p>
        </p:txBody>
      </p:sp>
      <p:pic>
        <p:nvPicPr>
          <p:cNvPr id="4" name="Picture 3" descr="Lake Erie Abloom">
            <a:extLst>
              <a:ext uri="{FF2B5EF4-FFF2-40B4-BE49-F238E27FC236}">
                <a16:creationId xmlns:a16="http://schemas.microsoft.com/office/drawing/2014/main" id="{7C0221FD-4073-F94D-109C-C688D1258CC1}"/>
              </a:ext>
            </a:extLst>
          </p:cNvPr>
          <p:cNvPicPr>
            <a:picLocks noChangeAspect="1"/>
          </p:cNvPicPr>
          <p:nvPr/>
        </p:nvPicPr>
        <p:blipFill>
          <a:blip r:embed="rId2"/>
          <a:stretch>
            <a:fillRect/>
          </a:stretch>
        </p:blipFill>
        <p:spPr>
          <a:xfrm>
            <a:off x="180975" y="638175"/>
            <a:ext cx="5819775" cy="3895725"/>
          </a:xfrm>
          <a:prstGeom prst="rect">
            <a:avLst/>
          </a:prstGeom>
        </p:spPr>
      </p:pic>
      <p:pic>
        <p:nvPicPr>
          <p:cNvPr id="5" name="Picture 4">
            <a:extLst>
              <a:ext uri="{FF2B5EF4-FFF2-40B4-BE49-F238E27FC236}">
                <a16:creationId xmlns:a16="http://schemas.microsoft.com/office/drawing/2014/main" id="{EE6143FE-BE5B-E9FD-5136-105D6BCFFD31}"/>
              </a:ext>
            </a:extLst>
          </p:cNvPr>
          <p:cNvPicPr>
            <a:picLocks noChangeAspect="1"/>
          </p:cNvPicPr>
          <p:nvPr/>
        </p:nvPicPr>
        <p:blipFill>
          <a:blip r:embed="rId3"/>
          <a:stretch>
            <a:fillRect/>
          </a:stretch>
        </p:blipFill>
        <p:spPr>
          <a:xfrm>
            <a:off x="6120996" y="638175"/>
            <a:ext cx="5865034" cy="3895725"/>
          </a:xfrm>
          <a:prstGeom prst="rect">
            <a:avLst/>
          </a:prstGeom>
        </p:spPr>
      </p:pic>
      <p:pic>
        <p:nvPicPr>
          <p:cNvPr id="6" name="Picture 5" descr="Controlling Microcystis Blooms in Alabama Catfish Aquaculture">
            <a:extLst>
              <a:ext uri="{FF2B5EF4-FFF2-40B4-BE49-F238E27FC236}">
                <a16:creationId xmlns:a16="http://schemas.microsoft.com/office/drawing/2014/main" id="{95D0100C-B20C-EE94-6EBE-ECF59D8BE98B}"/>
              </a:ext>
            </a:extLst>
          </p:cNvPr>
          <p:cNvPicPr>
            <a:picLocks noChangeAspect="1"/>
          </p:cNvPicPr>
          <p:nvPr/>
        </p:nvPicPr>
        <p:blipFill>
          <a:blip r:embed="rId4"/>
          <a:srcRect l="25347" t="20253" r="29427" b="18565"/>
          <a:stretch/>
        </p:blipFill>
        <p:spPr>
          <a:xfrm>
            <a:off x="5438775" y="1195341"/>
            <a:ext cx="1240641" cy="1381187"/>
          </a:xfrm>
          <a:prstGeom prst="rect">
            <a:avLst/>
          </a:prstGeom>
        </p:spPr>
      </p:pic>
      <p:pic>
        <p:nvPicPr>
          <p:cNvPr id="7" name="Picture 6" descr="Landsat 8 | Landsat Science">
            <a:extLst>
              <a:ext uri="{FF2B5EF4-FFF2-40B4-BE49-F238E27FC236}">
                <a16:creationId xmlns:a16="http://schemas.microsoft.com/office/drawing/2014/main" id="{152C1EE8-156F-1AD8-435D-76315C37B515}"/>
              </a:ext>
            </a:extLst>
          </p:cNvPr>
          <p:cNvPicPr>
            <a:picLocks noChangeAspect="1"/>
          </p:cNvPicPr>
          <p:nvPr/>
        </p:nvPicPr>
        <p:blipFill>
          <a:blip r:embed="rId5"/>
          <a:stretch>
            <a:fillRect/>
          </a:stretch>
        </p:blipFill>
        <p:spPr>
          <a:xfrm>
            <a:off x="9772651" y="4886325"/>
            <a:ext cx="2743198" cy="1543049"/>
          </a:xfrm>
          <a:prstGeom prst="rect">
            <a:avLst/>
          </a:prstGeom>
        </p:spPr>
      </p:pic>
      <p:pic>
        <p:nvPicPr>
          <p:cNvPr id="8" name="Picture 7" descr="Satellite view of the Great Lakes">
            <a:extLst>
              <a:ext uri="{FF2B5EF4-FFF2-40B4-BE49-F238E27FC236}">
                <a16:creationId xmlns:a16="http://schemas.microsoft.com/office/drawing/2014/main" id="{AF380B2D-B0BA-8C12-D031-8C4B7D3DDAA0}"/>
              </a:ext>
            </a:extLst>
          </p:cNvPr>
          <p:cNvPicPr>
            <a:picLocks noChangeAspect="1"/>
          </p:cNvPicPr>
          <p:nvPr/>
        </p:nvPicPr>
        <p:blipFill>
          <a:blip r:embed="rId6"/>
          <a:stretch>
            <a:fillRect/>
          </a:stretch>
        </p:blipFill>
        <p:spPr>
          <a:xfrm>
            <a:off x="4486275" y="4581525"/>
            <a:ext cx="3143250" cy="2143125"/>
          </a:xfrm>
          <a:prstGeom prst="rect">
            <a:avLst/>
          </a:prstGeom>
        </p:spPr>
      </p:pic>
    </p:spTree>
    <p:extLst>
      <p:ext uri="{BB962C8B-B14F-4D97-AF65-F5344CB8AC3E}">
        <p14:creationId xmlns:p14="http://schemas.microsoft.com/office/powerpoint/2010/main" val="27948377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147C34A-D1D9-274A-5841-CB90C449D1C9}"/>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229C225A-8A5C-BF55-4F8C-BFD695C51B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8DA580-F196-B9BE-8482-CDFA819296C1}"/>
              </a:ext>
            </a:extLst>
          </p:cNvPr>
          <p:cNvSpPr>
            <a:spLocks noGrp="1"/>
          </p:cNvSpPr>
          <p:nvPr>
            <p:ph type="title"/>
          </p:nvPr>
        </p:nvSpPr>
        <p:spPr>
          <a:xfrm>
            <a:off x="1267" y="-124104"/>
            <a:ext cx="10178934" cy="795798"/>
          </a:xfrm>
        </p:spPr>
        <p:txBody>
          <a:bodyPr vert="horz" lIns="91440" tIns="45720" rIns="91440" bIns="45720" rtlCol="0" anchor="b">
            <a:noAutofit/>
          </a:bodyPr>
          <a:lstStyle/>
          <a:p>
            <a:r>
              <a:rPr lang="en-US" sz="4000" dirty="0"/>
              <a:t>Eutrophication: </a:t>
            </a:r>
            <a:r>
              <a:rPr lang="en-US" sz="4000" i="1" dirty="0"/>
              <a:t>Gulf of Mexico Dead Zone</a:t>
            </a:r>
            <a:endParaRPr lang="en-US" i="1" dirty="0">
              <a:ea typeface="+mj-ea"/>
              <a:cs typeface="+mj-cs"/>
            </a:endParaRPr>
          </a:p>
        </p:txBody>
      </p:sp>
      <p:pic>
        <p:nvPicPr>
          <p:cNvPr id="3" name="Picture 2" descr="A satellite view of a green land&#10;&#10;AI-generated content may be incorrect.">
            <a:extLst>
              <a:ext uri="{FF2B5EF4-FFF2-40B4-BE49-F238E27FC236}">
                <a16:creationId xmlns:a16="http://schemas.microsoft.com/office/drawing/2014/main" id="{FFB74884-D974-5F5A-D70C-E306E04632F1}"/>
              </a:ext>
            </a:extLst>
          </p:cNvPr>
          <p:cNvPicPr>
            <a:picLocks noChangeAspect="1"/>
          </p:cNvPicPr>
          <p:nvPr/>
        </p:nvPicPr>
        <p:blipFill>
          <a:blip r:embed="rId2"/>
          <a:stretch>
            <a:fillRect/>
          </a:stretch>
        </p:blipFill>
        <p:spPr>
          <a:xfrm>
            <a:off x="366955" y="1040501"/>
            <a:ext cx="8629649" cy="4128654"/>
          </a:xfrm>
          <a:prstGeom prst="rect">
            <a:avLst/>
          </a:prstGeom>
        </p:spPr>
      </p:pic>
      <p:sp>
        <p:nvSpPr>
          <p:cNvPr id="9" name="TextBox 8">
            <a:extLst>
              <a:ext uri="{FF2B5EF4-FFF2-40B4-BE49-F238E27FC236}">
                <a16:creationId xmlns:a16="http://schemas.microsoft.com/office/drawing/2014/main" id="{1CFE2593-BB7E-37EB-DF80-5E29D6C04BE5}"/>
              </a:ext>
            </a:extLst>
          </p:cNvPr>
          <p:cNvSpPr txBox="1"/>
          <p:nvPr/>
        </p:nvSpPr>
        <p:spPr>
          <a:xfrm>
            <a:off x="365997" y="5351441"/>
            <a:ext cx="9986681"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
              <a:buChar char="•"/>
            </a:pPr>
            <a:endParaRPr lang="en-US" dirty="0"/>
          </a:p>
          <a:p>
            <a:pPr marL="228600" indent="-228600">
              <a:buFont typeface=""/>
              <a:buChar char="•"/>
            </a:pPr>
            <a:r>
              <a:rPr lang="en-US" dirty="0"/>
              <a:t>One of the world’s largest hypoxic zones, fed by nutrient runoff from the Mississippi River Basin, </a:t>
            </a:r>
            <a:r>
              <a:rPr lang="en-US" b="1" dirty="0"/>
              <a:t>mostly due to agriculture</a:t>
            </a:r>
            <a:r>
              <a:rPr lang="en-US" dirty="0"/>
              <a:t> in the Midwest</a:t>
            </a:r>
          </a:p>
          <a:p>
            <a:pPr marL="228600" indent="-228600">
              <a:buFont typeface=""/>
              <a:buChar char="•"/>
            </a:pPr>
            <a:r>
              <a:rPr lang="en-US" dirty="0"/>
              <a:t>Massive fish kills, harm to shrimping industry</a:t>
            </a:r>
          </a:p>
        </p:txBody>
      </p:sp>
      <p:pic>
        <p:nvPicPr>
          <p:cNvPr id="11" name="Picture 10">
            <a:extLst>
              <a:ext uri="{FF2B5EF4-FFF2-40B4-BE49-F238E27FC236}">
                <a16:creationId xmlns:a16="http://schemas.microsoft.com/office/drawing/2014/main" id="{7AAAA6B3-E5F6-F92E-7171-C4089F5C5E94}"/>
              </a:ext>
            </a:extLst>
          </p:cNvPr>
          <p:cNvPicPr>
            <a:picLocks noChangeAspect="1"/>
          </p:cNvPicPr>
          <p:nvPr/>
        </p:nvPicPr>
        <p:blipFill>
          <a:blip r:embed="rId3"/>
          <a:srcRect l="18441" t="20249" r="64874" b="54529"/>
          <a:stretch/>
        </p:blipFill>
        <p:spPr>
          <a:xfrm>
            <a:off x="10017512" y="580706"/>
            <a:ext cx="981914" cy="915536"/>
          </a:xfrm>
          <a:prstGeom prst="rect">
            <a:avLst/>
          </a:prstGeom>
        </p:spPr>
      </p:pic>
      <p:pic>
        <p:nvPicPr>
          <p:cNvPr id="13" name="Picture 12">
            <a:extLst>
              <a:ext uri="{FF2B5EF4-FFF2-40B4-BE49-F238E27FC236}">
                <a16:creationId xmlns:a16="http://schemas.microsoft.com/office/drawing/2014/main" id="{CCF17E00-BC0C-88E6-2512-D9C9DFF9D1E4}"/>
              </a:ext>
            </a:extLst>
          </p:cNvPr>
          <p:cNvPicPr>
            <a:picLocks noChangeAspect="1"/>
          </p:cNvPicPr>
          <p:nvPr/>
        </p:nvPicPr>
        <p:blipFill>
          <a:blip r:embed="rId3"/>
          <a:srcRect l="18634" t="70282" r="65532" b="2842"/>
          <a:stretch/>
        </p:blipFill>
        <p:spPr>
          <a:xfrm>
            <a:off x="10041790" y="2128512"/>
            <a:ext cx="931785" cy="975586"/>
          </a:xfrm>
          <a:prstGeom prst="rect">
            <a:avLst/>
          </a:prstGeom>
        </p:spPr>
      </p:pic>
      <p:pic>
        <p:nvPicPr>
          <p:cNvPr id="4" name="Picture 3" descr="A blue fish with fins&#10;&#10;AI-generated content may be incorrect.">
            <a:extLst>
              <a:ext uri="{FF2B5EF4-FFF2-40B4-BE49-F238E27FC236}">
                <a16:creationId xmlns:a16="http://schemas.microsoft.com/office/drawing/2014/main" id="{5207A670-88A0-D227-E144-12185EC0E9AE}"/>
              </a:ext>
            </a:extLst>
          </p:cNvPr>
          <p:cNvPicPr>
            <a:picLocks noChangeAspect="1"/>
          </p:cNvPicPr>
          <p:nvPr/>
        </p:nvPicPr>
        <p:blipFill>
          <a:blip r:embed="rId4"/>
          <a:stretch>
            <a:fillRect/>
          </a:stretch>
        </p:blipFill>
        <p:spPr>
          <a:xfrm>
            <a:off x="10176164" y="5747161"/>
            <a:ext cx="1800102" cy="979715"/>
          </a:xfrm>
          <a:prstGeom prst="rect">
            <a:avLst/>
          </a:prstGeom>
        </p:spPr>
      </p:pic>
    </p:spTree>
    <p:extLst>
      <p:ext uri="{BB962C8B-B14F-4D97-AF65-F5344CB8AC3E}">
        <p14:creationId xmlns:p14="http://schemas.microsoft.com/office/powerpoint/2010/main" val="36753343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03F81-EFCE-AE35-EF98-62505B901662}"/>
              </a:ext>
            </a:extLst>
          </p:cNvPr>
          <p:cNvSpPr>
            <a:spLocks noGrp="1"/>
          </p:cNvSpPr>
          <p:nvPr>
            <p:ph type="title"/>
          </p:nvPr>
        </p:nvSpPr>
        <p:spPr>
          <a:xfrm>
            <a:off x="2117" y="68792"/>
            <a:ext cx="10515600" cy="1325563"/>
          </a:xfrm>
        </p:spPr>
        <p:txBody>
          <a:bodyPr/>
          <a:lstStyle/>
          <a:p>
            <a:r>
              <a:rPr lang="en-US"/>
              <a:t>Mining: Open cast</a:t>
            </a:r>
            <a:br>
              <a:rPr lang="en-US"/>
            </a:br>
            <a:r>
              <a:rPr lang="en-US"/>
              <a:t>Ecosystem destruction</a:t>
            </a:r>
          </a:p>
        </p:txBody>
      </p:sp>
      <p:pic>
        <p:nvPicPr>
          <p:cNvPr id="5" name="Picture 4" descr="A truck driving in a quarry with Goosenecks State Park in the background&#10;&#10;AI-generated content may be incorrect.">
            <a:extLst>
              <a:ext uri="{FF2B5EF4-FFF2-40B4-BE49-F238E27FC236}">
                <a16:creationId xmlns:a16="http://schemas.microsoft.com/office/drawing/2014/main" id="{60E2214A-3F89-45B9-EF40-5173483B073A}"/>
              </a:ext>
            </a:extLst>
          </p:cNvPr>
          <p:cNvPicPr>
            <a:picLocks noChangeAspect="1"/>
          </p:cNvPicPr>
          <p:nvPr/>
        </p:nvPicPr>
        <p:blipFill>
          <a:blip r:embed="rId2"/>
          <a:stretch>
            <a:fillRect/>
          </a:stretch>
        </p:blipFill>
        <p:spPr>
          <a:xfrm>
            <a:off x="7054850" y="2645"/>
            <a:ext cx="5141384" cy="3423709"/>
          </a:xfrm>
          <a:prstGeom prst="rect">
            <a:avLst/>
          </a:prstGeom>
        </p:spPr>
      </p:pic>
      <p:pic>
        <p:nvPicPr>
          <p:cNvPr id="6" name="Picture 5" descr="A diagram of a mining process&#10;&#10;AI-generated content may be incorrect.">
            <a:extLst>
              <a:ext uri="{FF2B5EF4-FFF2-40B4-BE49-F238E27FC236}">
                <a16:creationId xmlns:a16="http://schemas.microsoft.com/office/drawing/2014/main" id="{E75F553F-CA53-B68B-6F85-02E3B8AB64CD}"/>
              </a:ext>
            </a:extLst>
          </p:cNvPr>
          <p:cNvPicPr>
            <a:picLocks noChangeAspect="1"/>
          </p:cNvPicPr>
          <p:nvPr/>
        </p:nvPicPr>
        <p:blipFill>
          <a:blip r:embed="rId3"/>
          <a:stretch>
            <a:fillRect/>
          </a:stretch>
        </p:blipFill>
        <p:spPr>
          <a:xfrm>
            <a:off x="0" y="2707008"/>
            <a:ext cx="12192000" cy="4153319"/>
          </a:xfrm>
          <a:prstGeom prst="rect">
            <a:avLst/>
          </a:prstGeom>
        </p:spPr>
      </p:pic>
      <p:sp>
        <p:nvSpPr>
          <p:cNvPr id="8" name="Content Placeholder 7">
            <a:extLst>
              <a:ext uri="{FF2B5EF4-FFF2-40B4-BE49-F238E27FC236}">
                <a16:creationId xmlns:a16="http://schemas.microsoft.com/office/drawing/2014/main" id="{6FC98895-F604-6C79-FB33-0F629BCB2240}"/>
              </a:ext>
            </a:extLst>
          </p:cNvPr>
          <p:cNvSpPr>
            <a:spLocks noGrp="1"/>
          </p:cNvSpPr>
          <p:nvPr>
            <p:ph idx="1"/>
          </p:nvPr>
        </p:nvSpPr>
        <p:spPr>
          <a:xfrm>
            <a:off x="2117" y="2153708"/>
            <a:ext cx="10515600" cy="4351338"/>
          </a:xfrm>
        </p:spPr>
        <p:txBody>
          <a:bodyPr vert="horz" lIns="91440" tIns="45720" rIns="91440" bIns="45720" rtlCol="0" anchor="t">
            <a:normAutofit/>
          </a:bodyPr>
          <a:lstStyle/>
          <a:p>
            <a:r>
              <a:rPr lang="en-US"/>
              <a:t>Land reclamation and legislation</a:t>
            </a:r>
          </a:p>
        </p:txBody>
      </p:sp>
      <p:sp>
        <p:nvSpPr>
          <p:cNvPr id="9" name="TextBox 8">
            <a:extLst>
              <a:ext uri="{FF2B5EF4-FFF2-40B4-BE49-F238E27FC236}">
                <a16:creationId xmlns:a16="http://schemas.microsoft.com/office/drawing/2014/main" id="{AEBF7E71-DD05-08BC-2CD2-0F26DAE0C83C}"/>
              </a:ext>
            </a:extLst>
          </p:cNvPr>
          <p:cNvSpPr txBox="1"/>
          <p:nvPr/>
        </p:nvSpPr>
        <p:spPr>
          <a:xfrm>
            <a:off x="9444567" y="5814483"/>
            <a:ext cx="27432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https://www.sciencedirect.com/science/article/pii/S0012825217305925</a:t>
            </a:r>
          </a:p>
        </p:txBody>
      </p:sp>
    </p:spTree>
    <p:extLst>
      <p:ext uri="{BB962C8B-B14F-4D97-AF65-F5344CB8AC3E}">
        <p14:creationId xmlns:p14="http://schemas.microsoft.com/office/powerpoint/2010/main" val="1411041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94607A8-8F18-7FCE-F726-228D87C51146}"/>
              </a:ext>
            </a:extLst>
          </p:cNvPr>
          <p:cNvSpPr>
            <a:spLocks noGrp="1"/>
          </p:cNvSpPr>
          <p:nvPr>
            <p:ph type="title"/>
          </p:nvPr>
        </p:nvSpPr>
        <p:spPr>
          <a:xfrm>
            <a:off x="195943" y="365125"/>
            <a:ext cx="11647714" cy="1358219"/>
          </a:xfrm>
        </p:spPr>
        <p:txBody>
          <a:bodyPr/>
          <a:lstStyle/>
          <a:p>
            <a:r>
              <a:rPr lang="en-US"/>
              <a:t>Land reclamation: China Clay Pit -Eden Project, UK</a:t>
            </a:r>
          </a:p>
        </p:txBody>
      </p:sp>
      <p:pic>
        <p:nvPicPr>
          <p:cNvPr id="4" name="Content Placeholder 3" descr="An aerial view of a quarry&#10;&#10;AI-generated content may be incorrect.">
            <a:extLst>
              <a:ext uri="{FF2B5EF4-FFF2-40B4-BE49-F238E27FC236}">
                <a16:creationId xmlns:a16="http://schemas.microsoft.com/office/drawing/2014/main" id="{5C6D096D-31AF-BE81-DFF3-05C056B7CCCB}"/>
              </a:ext>
            </a:extLst>
          </p:cNvPr>
          <p:cNvPicPr>
            <a:picLocks noGrp="1" noChangeAspect="1"/>
          </p:cNvPicPr>
          <p:nvPr>
            <p:ph idx="4294967295"/>
          </p:nvPr>
        </p:nvPicPr>
        <p:blipFill>
          <a:blip r:embed="rId2"/>
          <a:stretch>
            <a:fillRect/>
          </a:stretch>
        </p:blipFill>
        <p:spPr>
          <a:xfrm>
            <a:off x="0" y="2141538"/>
            <a:ext cx="6347959" cy="3349397"/>
          </a:xfrm>
        </p:spPr>
      </p:pic>
      <p:pic>
        <p:nvPicPr>
          <p:cNvPr id="6" name="Picture 5" descr="Aerial view of a geodesic dome with Eden Project in the background&#10;&#10;AI-generated content may be incorrect.">
            <a:extLst>
              <a:ext uri="{FF2B5EF4-FFF2-40B4-BE49-F238E27FC236}">
                <a16:creationId xmlns:a16="http://schemas.microsoft.com/office/drawing/2014/main" id="{790AD922-D138-A2E9-36DF-EEF3CE388D1F}"/>
              </a:ext>
            </a:extLst>
          </p:cNvPr>
          <p:cNvPicPr>
            <a:picLocks noChangeAspect="1"/>
          </p:cNvPicPr>
          <p:nvPr/>
        </p:nvPicPr>
        <p:blipFill>
          <a:blip r:embed="rId3"/>
          <a:stretch>
            <a:fillRect/>
          </a:stretch>
        </p:blipFill>
        <p:spPr>
          <a:xfrm>
            <a:off x="6846434" y="1333500"/>
            <a:ext cx="4453617" cy="5519057"/>
          </a:xfrm>
          <a:prstGeom prst="rect">
            <a:avLst/>
          </a:prstGeom>
        </p:spPr>
      </p:pic>
    </p:spTree>
    <p:extLst>
      <p:ext uri="{BB962C8B-B14F-4D97-AF65-F5344CB8AC3E}">
        <p14:creationId xmlns:p14="http://schemas.microsoft.com/office/powerpoint/2010/main" val="18288966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998C4-9E04-0D80-1533-84B8E3ACB8F8}"/>
              </a:ext>
            </a:extLst>
          </p:cNvPr>
          <p:cNvSpPr>
            <a:spLocks noGrp="1"/>
          </p:cNvSpPr>
          <p:nvPr>
            <p:ph type="title"/>
          </p:nvPr>
        </p:nvSpPr>
        <p:spPr>
          <a:xfrm>
            <a:off x="2117" y="830791"/>
            <a:ext cx="10515600" cy="1325563"/>
          </a:xfrm>
        </p:spPr>
        <p:txBody>
          <a:bodyPr>
            <a:normAutofit fontScale="90000"/>
          </a:bodyPr>
          <a:lstStyle/>
          <a:p>
            <a:r>
              <a:rPr lang="en-US"/>
              <a:t>Mining: Underground</a:t>
            </a:r>
            <a:br>
              <a:rPr lang="en-US"/>
            </a:br>
            <a:r>
              <a:rPr lang="en-US"/>
              <a:t>Mine collapse</a:t>
            </a:r>
            <a:br>
              <a:rPr lang="en-US"/>
            </a:br>
            <a:r>
              <a:rPr lang="en-US"/>
              <a:t>Lily Gold Mine, Barberton</a:t>
            </a:r>
            <a:br>
              <a:rPr lang="en-US"/>
            </a:br>
            <a:r>
              <a:rPr lang="en-US"/>
              <a:t>South Africa</a:t>
            </a:r>
            <a:br>
              <a:rPr lang="en-US"/>
            </a:br>
            <a:r>
              <a:rPr lang="en-US" sz="3100">
                <a:latin typeface="Calibri"/>
                <a:ea typeface="Calibri"/>
                <a:cs typeface="Calibri"/>
              </a:rPr>
              <a:t>2016 collapse of the crown pillar</a:t>
            </a:r>
            <a:br>
              <a:rPr lang="en-US" sz="3100">
                <a:latin typeface="Calibri"/>
                <a:ea typeface="Calibri"/>
                <a:cs typeface="Calibri"/>
              </a:rPr>
            </a:br>
            <a:r>
              <a:rPr lang="en-US" sz="3100">
                <a:latin typeface="Calibri"/>
                <a:ea typeface="Calibri"/>
                <a:cs typeface="Calibri"/>
              </a:rPr>
              <a:t>3 people died and mine remains closed</a:t>
            </a:r>
            <a:endParaRPr lang="en-US"/>
          </a:p>
        </p:txBody>
      </p:sp>
      <p:pic>
        <p:nvPicPr>
          <p:cNvPr id="9" name="Content Placeholder 8" descr="A diagram of a landslide&#10;&#10;AI-generated content may be incorrect.">
            <a:extLst>
              <a:ext uri="{FF2B5EF4-FFF2-40B4-BE49-F238E27FC236}">
                <a16:creationId xmlns:a16="http://schemas.microsoft.com/office/drawing/2014/main" id="{B3610361-E286-68CB-4507-4BBD7F2F6B9C}"/>
              </a:ext>
            </a:extLst>
          </p:cNvPr>
          <p:cNvPicPr>
            <a:picLocks noGrp="1" noChangeAspect="1"/>
          </p:cNvPicPr>
          <p:nvPr>
            <p:ph idx="1"/>
          </p:nvPr>
        </p:nvPicPr>
        <p:blipFill>
          <a:blip r:embed="rId2"/>
          <a:stretch>
            <a:fillRect/>
          </a:stretch>
        </p:blipFill>
        <p:spPr>
          <a:xfrm>
            <a:off x="6456216" y="-15875"/>
            <a:ext cx="5735402" cy="4351338"/>
          </a:xfrm>
        </p:spPr>
      </p:pic>
      <p:pic>
        <p:nvPicPr>
          <p:cNvPr id="10" name="Picture 9" descr="A collage of a truck&#10;&#10;AI-generated content may be incorrect.">
            <a:extLst>
              <a:ext uri="{FF2B5EF4-FFF2-40B4-BE49-F238E27FC236}">
                <a16:creationId xmlns:a16="http://schemas.microsoft.com/office/drawing/2014/main" id="{A6F82DC7-0551-C1E7-6F45-06088B4C3739}"/>
              </a:ext>
            </a:extLst>
          </p:cNvPr>
          <p:cNvPicPr>
            <a:picLocks noChangeAspect="1"/>
          </p:cNvPicPr>
          <p:nvPr/>
        </p:nvPicPr>
        <p:blipFill>
          <a:blip r:embed="rId3"/>
          <a:stretch>
            <a:fillRect/>
          </a:stretch>
        </p:blipFill>
        <p:spPr>
          <a:xfrm>
            <a:off x="2646" y="3012546"/>
            <a:ext cx="6450542" cy="4484159"/>
          </a:xfrm>
          <a:prstGeom prst="rect">
            <a:avLst/>
          </a:prstGeom>
        </p:spPr>
      </p:pic>
    </p:spTree>
    <p:extLst>
      <p:ext uri="{BB962C8B-B14F-4D97-AF65-F5344CB8AC3E}">
        <p14:creationId xmlns:p14="http://schemas.microsoft.com/office/powerpoint/2010/main" val="37845617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F492E-E87A-36D5-B021-798F60BD089C}"/>
              </a:ext>
            </a:extLst>
          </p:cNvPr>
          <p:cNvSpPr>
            <a:spLocks noGrp="1"/>
          </p:cNvSpPr>
          <p:nvPr>
            <p:ph type="title"/>
          </p:nvPr>
        </p:nvSpPr>
        <p:spPr>
          <a:xfrm>
            <a:off x="97367" y="100542"/>
            <a:ext cx="10515600" cy="1325563"/>
          </a:xfrm>
        </p:spPr>
        <p:txBody>
          <a:bodyPr/>
          <a:lstStyle/>
          <a:p>
            <a:r>
              <a:rPr lang="en-US"/>
              <a:t>Mining: Closure</a:t>
            </a:r>
            <a:br>
              <a:rPr lang="en-US"/>
            </a:br>
            <a:r>
              <a:rPr lang="en-US"/>
              <a:t>Acid Mine Drainage (AMD)</a:t>
            </a:r>
          </a:p>
        </p:txBody>
      </p:sp>
      <p:sp>
        <p:nvSpPr>
          <p:cNvPr id="3" name="Content Placeholder 2">
            <a:extLst>
              <a:ext uri="{FF2B5EF4-FFF2-40B4-BE49-F238E27FC236}">
                <a16:creationId xmlns:a16="http://schemas.microsoft.com/office/drawing/2014/main" id="{6484D22D-278F-15A1-6846-6F001FD2AAC5}"/>
              </a:ext>
            </a:extLst>
          </p:cNvPr>
          <p:cNvSpPr>
            <a:spLocks noGrp="1"/>
          </p:cNvSpPr>
          <p:nvPr>
            <p:ph idx="1"/>
          </p:nvPr>
        </p:nvSpPr>
        <p:spPr>
          <a:xfrm>
            <a:off x="97367" y="1423458"/>
            <a:ext cx="4895850" cy="2763838"/>
          </a:xfrm>
        </p:spPr>
        <p:txBody>
          <a:bodyPr vert="horz" lIns="91440" tIns="45720" rIns="91440" bIns="45720" rtlCol="0" anchor="t">
            <a:normAutofit fontScale="92500" lnSpcReduction="20000"/>
          </a:bodyPr>
          <a:lstStyle/>
          <a:p>
            <a:r>
              <a:rPr lang="en-US" sz="2400">
                <a:latin typeface="Calibri"/>
                <a:ea typeface="Calibri"/>
                <a:cs typeface="Calibri"/>
              </a:rPr>
              <a:t>Occurs at abandoned mine sites where groundwater is no longer pumped out of the mine</a:t>
            </a:r>
            <a:endParaRPr lang="en-US"/>
          </a:p>
          <a:p>
            <a:r>
              <a:rPr lang="en-US" sz="2400">
                <a:latin typeface="Calibri"/>
                <a:ea typeface="Calibri"/>
                <a:cs typeface="Calibri"/>
              </a:rPr>
              <a:t>Produced when Fe sulfide minerals are exposed to oxidation (water and/or air/bacteria)</a:t>
            </a:r>
            <a:endParaRPr lang="en-US"/>
          </a:p>
          <a:p>
            <a:r>
              <a:rPr lang="en-US" sz="2400">
                <a:latin typeface="Calibri"/>
                <a:ea typeface="Calibri"/>
                <a:cs typeface="Calibri"/>
              </a:rPr>
              <a:t>Form sulfuric acid, sulfate compounds and iron oxides</a:t>
            </a:r>
            <a:endParaRPr lang="en-US"/>
          </a:p>
          <a:p>
            <a:r>
              <a:rPr lang="en-US" sz="2400">
                <a:latin typeface="Calibri"/>
                <a:ea typeface="Calibri"/>
                <a:cs typeface="Calibri"/>
              </a:rPr>
              <a:t>Pyrite occurs with many coals</a:t>
            </a:r>
            <a:endParaRPr lang="en-US"/>
          </a:p>
          <a:p>
            <a:endParaRPr lang="en-US"/>
          </a:p>
        </p:txBody>
      </p:sp>
      <p:pic>
        <p:nvPicPr>
          <p:cNvPr id="4" name="Picture 3">
            <a:extLst>
              <a:ext uri="{FF2B5EF4-FFF2-40B4-BE49-F238E27FC236}">
                <a16:creationId xmlns:a16="http://schemas.microsoft.com/office/drawing/2014/main" id="{3C2F9028-93DD-E240-D1EA-041C904FAB19}"/>
              </a:ext>
            </a:extLst>
          </p:cNvPr>
          <p:cNvPicPr>
            <a:picLocks noChangeAspect="1"/>
          </p:cNvPicPr>
          <p:nvPr/>
        </p:nvPicPr>
        <p:blipFill>
          <a:blip r:embed="rId2"/>
          <a:stretch>
            <a:fillRect/>
          </a:stretch>
        </p:blipFill>
        <p:spPr>
          <a:xfrm>
            <a:off x="9115954" y="4390496"/>
            <a:ext cx="3305175" cy="2564342"/>
          </a:xfrm>
          <a:prstGeom prst="rect">
            <a:avLst/>
          </a:prstGeom>
        </p:spPr>
      </p:pic>
      <p:pic>
        <p:nvPicPr>
          <p:cNvPr id="5" name="Picture 4" descr="A diagram of a river flow&#10;&#10;AI-generated content may be incorrect.">
            <a:extLst>
              <a:ext uri="{FF2B5EF4-FFF2-40B4-BE49-F238E27FC236}">
                <a16:creationId xmlns:a16="http://schemas.microsoft.com/office/drawing/2014/main" id="{D825A71B-558D-8A0F-4F0C-5CB6E59DC941}"/>
              </a:ext>
            </a:extLst>
          </p:cNvPr>
          <p:cNvPicPr>
            <a:picLocks noChangeAspect="1"/>
          </p:cNvPicPr>
          <p:nvPr/>
        </p:nvPicPr>
        <p:blipFill>
          <a:blip r:embed="rId3"/>
          <a:stretch>
            <a:fillRect/>
          </a:stretch>
        </p:blipFill>
        <p:spPr>
          <a:xfrm>
            <a:off x="6461655" y="766762"/>
            <a:ext cx="5311775" cy="3049059"/>
          </a:xfrm>
          <a:prstGeom prst="rect">
            <a:avLst/>
          </a:prstGeom>
        </p:spPr>
      </p:pic>
      <p:pic>
        <p:nvPicPr>
          <p:cNvPr id="6" name="Picture 5" descr="A close-up of a microscope&#10;&#10;AI-generated content may be incorrect.">
            <a:extLst>
              <a:ext uri="{FF2B5EF4-FFF2-40B4-BE49-F238E27FC236}">
                <a16:creationId xmlns:a16="http://schemas.microsoft.com/office/drawing/2014/main" id="{30E71AC4-80BB-7886-DDC4-D20DF38D69EE}"/>
              </a:ext>
            </a:extLst>
          </p:cNvPr>
          <p:cNvPicPr>
            <a:picLocks noChangeAspect="1"/>
          </p:cNvPicPr>
          <p:nvPr/>
        </p:nvPicPr>
        <p:blipFill>
          <a:blip r:embed="rId4"/>
          <a:stretch>
            <a:fillRect/>
          </a:stretch>
        </p:blipFill>
        <p:spPr>
          <a:xfrm>
            <a:off x="101071" y="4189413"/>
            <a:ext cx="3893609" cy="2384425"/>
          </a:xfrm>
          <a:prstGeom prst="rect">
            <a:avLst/>
          </a:prstGeom>
        </p:spPr>
      </p:pic>
      <p:pic>
        <p:nvPicPr>
          <p:cNvPr id="7" name="Picture 6" descr="Close-up of a blue bacteria&#10;&#10;AI-generated content may be incorrect.">
            <a:extLst>
              <a:ext uri="{FF2B5EF4-FFF2-40B4-BE49-F238E27FC236}">
                <a16:creationId xmlns:a16="http://schemas.microsoft.com/office/drawing/2014/main" id="{0EF73D64-ED95-1E9C-A862-60D143E70607}"/>
              </a:ext>
            </a:extLst>
          </p:cNvPr>
          <p:cNvPicPr>
            <a:picLocks noChangeAspect="1"/>
          </p:cNvPicPr>
          <p:nvPr/>
        </p:nvPicPr>
        <p:blipFill>
          <a:blip r:embed="rId5"/>
          <a:stretch>
            <a:fillRect/>
          </a:stretch>
        </p:blipFill>
        <p:spPr>
          <a:xfrm>
            <a:off x="4896909" y="4728105"/>
            <a:ext cx="2228850" cy="1762125"/>
          </a:xfrm>
          <a:prstGeom prst="rect">
            <a:avLst/>
          </a:prstGeom>
        </p:spPr>
      </p:pic>
      <p:pic>
        <p:nvPicPr>
          <p:cNvPr id="9" name="Picture 8" descr="A blue arrow pointing to the right&#10;&#10;AI-generated content may be incorrect.">
            <a:extLst>
              <a:ext uri="{FF2B5EF4-FFF2-40B4-BE49-F238E27FC236}">
                <a16:creationId xmlns:a16="http://schemas.microsoft.com/office/drawing/2014/main" id="{67C32B8C-D3C5-6309-F7B3-DCADB9ADA20E}"/>
              </a:ext>
            </a:extLst>
          </p:cNvPr>
          <p:cNvPicPr>
            <a:picLocks noChangeAspect="1"/>
          </p:cNvPicPr>
          <p:nvPr/>
        </p:nvPicPr>
        <p:blipFill>
          <a:blip r:embed="rId6"/>
          <a:stretch>
            <a:fillRect/>
          </a:stretch>
        </p:blipFill>
        <p:spPr>
          <a:xfrm>
            <a:off x="2747433" y="4053946"/>
            <a:ext cx="6972300" cy="676275"/>
          </a:xfrm>
          <a:prstGeom prst="rect">
            <a:avLst/>
          </a:prstGeom>
        </p:spPr>
      </p:pic>
    </p:spTree>
    <p:extLst>
      <p:ext uri="{BB962C8B-B14F-4D97-AF65-F5344CB8AC3E}">
        <p14:creationId xmlns:p14="http://schemas.microsoft.com/office/powerpoint/2010/main" val="42043298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7C29F-E954-E4BB-C973-52BF8BA54A22}"/>
              </a:ext>
            </a:extLst>
          </p:cNvPr>
          <p:cNvSpPr>
            <a:spLocks noGrp="1"/>
          </p:cNvSpPr>
          <p:nvPr>
            <p:ph type="title"/>
          </p:nvPr>
        </p:nvSpPr>
        <p:spPr>
          <a:xfrm>
            <a:off x="162464" y="5691"/>
            <a:ext cx="10515600" cy="1325563"/>
          </a:xfrm>
        </p:spPr>
        <p:txBody>
          <a:bodyPr/>
          <a:lstStyle/>
          <a:p>
            <a:r>
              <a:rPr lang="en-US"/>
              <a:t>AMD: Rio Tinto, Spain</a:t>
            </a:r>
          </a:p>
        </p:txBody>
      </p:sp>
      <p:pic>
        <p:nvPicPr>
          <p:cNvPr id="4" name="Content Placeholder 3" descr="A map of the gulf of cadiz&#10;&#10;AI-generated content may be incorrect.">
            <a:extLst>
              <a:ext uri="{FF2B5EF4-FFF2-40B4-BE49-F238E27FC236}">
                <a16:creationId xmlns:a16="http://schemas.microsoft.com/office/drawing/2014/main" id="{F35AAF51-B556-E708-D465-6C9ECA4A4B09}"/>
              </a:ext>
            </a:extLst>
          </p:cNvPr>
          <p:cNvPicPr>
            <a:picLocks noGrp="1" noChangeAspect="1"/>
          </p:cNvPicPr>
          <p:nvPr>
            <p:ph idx="1"/>
          </p:nvPr>
        </p:nvPicPr>
        <p:blipFill>
          <a:blip r:embed="rId3"/>
          <a:stretch>
            <a:fillRect/>
          </a:stretch>
        </p:blipFill>
        <p:spPr>
          <a:xfrm>
            <a:off x="6100313" y="478226"/>
            <a:ext cx="5756694" cy="2172212"/>
          </a:xfrm>
        </p:spPr>
      </p:pic>
      <p:pic>
        <p:nvPicPr>
          <p:cNvPr id="5" name="Picture 4" descr="A person digging in a puddle of red liquid&#10;&#10;AI-generated content may be incorrect.">
            <a:extLst>
              <a:ext uri="{FF2B5EF4-FFF2-40B4-BE49-F238E27FC236}">
                <a16:creationId xmlns:a16="http://schemas.microsoft.com/office/drawing/2014/main" id="{DA051A16-ECEF-5B56-0F41-888BD1F3E957}"/>
              </a:ext>
            </a:extLst>
          </p:cNvPr>
          <p:cNvPicPr>
            <a:picLocks noChangeAspect="1"/>
          </p:cNvPicPr>
          <p:nvPr/>
        </p:nvPicPr>
        <p:blipFill>
          <a:blip r:embed="rId4"/>
          <a:stretch>
            <a:fillRect/>
          </a:stretch>
        </p:blipFill>
        <p:spPr>
          <a:xfrm>
            <a:off x="311899" y="1561201"/>
            <a:ext cx="3171825" cy="4972050"/>
          </a:xfrm>
          <a:prstGeom prst="rect">
            <a:avLst/>
          </a:prstGeom>
        </p:spPr>
      </p:pic>
      <p:pic>
        <p:nvPicPr>
          <p:cNvPr id="3" name="Picture 2" descr="A screenshot of a book&#10;&#10;AI-generated content may be incorrect.">
            <a:extLst>
              <a:ext uri="{FF2B5EF4-FFF2-40B4-BE49-F238E27FC236}">
                <a16:creationId xmlns:a16="http://schemas.microsoft.com/office/drawing/2014/main" id="{D3E58616-A602-9CAC-DB7B-D82AF4C10E66}"/>
              </a:ext>
            </a:extLst>
          </p:cNvPr>
          <p:cNvPicPr>
            <a:picLocks noChangeAspect="1"/>
          </p:cNvPicPr>
          <p:nvPr/>
        </p:nvPicPr>
        <p:blipFill>
          <a:blip r:embed="rId5"/>
          <a:stretch>
            <a:fillRect/>
          </a:stretch>
        </p:blipFill>
        <p:spPr>
          <a:xfrm>
            <a:off x="7594147" y="2641825"/>
            <a:ext cx="4405993" cy="3424918"/>
          </a:xfrm>
          <a:prstGeom prst="rect">
            <a:avLst/>
          </a:prstGeom>
        </p:spPr>
      </p:pic>
      <p:sp>
        <p:nvSpPr>
          <p:cNvPr id="6" name="TextBox 5">
            <a:extLst>
              <a:ext uri="{FF2B5EF4-FFF2-40B4-BE49-F238E27FC236}">
                <a16:creationId xmlns:a16="http://schemas.microsoft.com/office/drawing/2014/main" id="{C3CE20A9-694F-EA3C-D157-815473D05741}"/>
              </a:ext>
            </a:extLst>
          </p:cNvPr>
          <p:cNvSpPr txBox="1"/>
          <p:nvPr/>
        </p:nvSpPr>
        <p:spPr>
          <a:xfrm>
            <a:off x="9448800" y="6150429"/>
            <a:ext cx="2743200" cy="707886"/>
          </a:xfrm>
          <a:prstGeom prst="rect">
            <a:avLst/>
          </a:prstGeom>
          <a:noFill/>
          <a:ln>
            <a:solidFill>
              <a:srgbClr val="4472C4"/>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t>https://digitalcommons.usf.edu/cgi/viewcontent.cgi?article=1157&amp;context=gly_facpub#:~:text=Abstract%20Mining%20of%20massive%20sulfide,the%20New%20World%20in%201492.</a:t>
            </a:r>
          </a:p>
        </p:txBody>
      </p:sp>
      <p:pic>
        <p:nvPicPr>
          <p:cNvPr id="7" name="Picture 6" descr="A screenshot of a website&#10;&#10;AI-generated content may be incorrect.">
            <a:extLst>
              <a:ext uri="{FF2B5EF4-FFF2-40B4-BE49-F238E27FC236}">
                <a16:creationId xmlns:a16="http://schemas.microsoft.com/office/drawing/2014/main" id="{1F8B64DB-42A7-946F-4B6C-603A410FD2E8}"/>
              </a:ext>
            </a:extLst>
          </p:cNvPr>
          <p:cNvPicPr>
            <a:picLocks noChangeAspect="1"/>
          </p:cNvPicPr>
          <p:nvPr/>
        </p:nvPicPr>
        <p:blipFill>
          <a:blip r:embed="rId6"/>
          <a:stretch>
            <a:fillRect/>
          </a:stretch>
        </p:blipFill>
        <p:spPr>
          <a:xfrm>
            <a:off x="3602130" y="3864427"/>
            <a:ext cx="4116883" cy="2645230"/>
          </a:xfrm>
          <a:prstGeom prst="rect">
            <a:avLst/>
          </a:prstGeom>
        </p:spPr>
      </p:pic>
      <p:sp>
        <p:nvSpPr>
          <p:cNvPr id="8" name="TextBox 7">
            <a:extLst>
              <a:ext uri="{FF2B5EF4-FFF2-40B4-BE49-F238E27FC236}">
                <a16:creationId xmlns:a16="http://schemas.microsoft.com/office/drawing/2014/main" id="{741169AA-A4C1-E501-9A4F-59191F25D3F7}"/>
              </a:ext>
            </a:extLst>
          </p:cNvPr>
          <p:cNvSpPr txBox="1"/>
          <p:nvPr/>
        </p:nvSpPr>
        <p:spPr>
          <a:xfrm>
            <a:off x="3604217" y="2664209"/>
            <a:ext cx="521425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i="1" dirty="0">
                <a:ea typeface="+mn-lt"/>
                <a:cs typeface="+mn-lt"/>
              </a:rPr>
              <a:t>Rio Tinto mining area in Spain has experienced severe acid mine drainage due to extensive historical sulfide mining, leading to long-term water and soil contamination</a:t>
            </a:r>
            <a:endParaRPr lang="en-US" i="1" dirty="0"/>
          </a:p>
        </p:txBody>
      </p:sp>
    </p:spTree>
    <p:extLst>
      <p:ext uri="{BB962C8B-B14F-4D97-AF65-F5344CB8AC3E}">
        <p14:creationId xmlns:p14="http://schemas.microsoft.com/office/powerpoint/2010/main" val="36329126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website&#10;&#10;AI-generated content may be incorrect.">
            <a:extLst>
              <a:ext uri="{FF2B5EF4-FFF2-40B4-BE49-F238E27FC236}">
                <a16:creationId xmlns:a16="http://schemas.microsoft.com/office/drawing/2014/main" id="{D99DE78F-DECA-2080-148E-FDC5CB5ABDB6}"/>
              </a:ext>
            </a:extLst>
          </p:cNvPr>
          <p:cNvPicPr>
            <a:picLocks noGrp="1" noChangeAspect="1"/>
          </p:cNvPicPr>
          <p:nvPr>
            <p:ph idx="1"/>
          </p:nvPr>
        </p:nvPicPr>
        <p:blipFill>
          <a:blip r:embed="rId2"/>
          <a:stretch>
            <a:fillRect/>
          </a:stretch>
        </p:blipFill>
        <p:spPr>
          <a:xfrm>
            <a:off x="697299" y="693831"/>
            <a:ext cx="6852929" cy="5438308"/>
          </a:xfrm>
        </p:spPr>
      </p:pic>
    </p:spTree>
    <p:extLst>
      <p:ext uri="{BB962C8B-B14F-4D97-AF65-F5344CB8AC3E}">
        <p14:creationId xmlns:p14="http://schemas.microsoft.com/office/powerpoint/2010/main" val="24405502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28F71-4316-DEA2-A6CF-E5436A719205}"/>
              </a:ext>
            </a:extLst>
          </p:cNvPr>
          <p:cNvSpPr>
            <a:spLocks noGrp="1"/>
          </p:cNvSpPr>
          <p:nvPr>
            <p:ph type="title"/>
          </p:nvPr>
        </p:nvSpPr>
        <p:spPr/>
        <p:txBody>
          <a:bodyPr/>
          <a:lstStyle/>
          <a:p>
            <a:r>
              <a:rPr lang="en-US"/>
              <a:t>AMD remediation</a:t>
            </a:r>
          </a:p>
        </p:txBody>
      </p:sp>
      <p:pic>
        <p:nvPicPr>
          <p:cNvPr id="5" name="Picture 4" descr="A diagram of a process control&#10;&#10;AI-generated content may be incorrect.">
            <a:extLst>
              <a:ext uri="{FF2B5EF4-FFF2-40B4-BE49-F238E27FC236}">
                <a16:creationId xmlns:a16="http://schemas.microsoft.com/office/drawing/2014/main" id="{1C0FE662-257C-B7B8-F134-92465AF242A0}"/>
              </a:ext>
            </a:extLst>
          </p:cNvPr>
          <p:cNvPicPr>
            <a:picLocks noChangeAspect="1"/>
          </p:cNvPicPr>
          <p:nvPr/>
        </p:nvPicPr>
        <p:blipFill>
          <a:blip r:embed="rId2"/>
          <a:stretch>
            <a:fillRect/>
          </a:stretch>
        </p:blipFill>
        <p:spPr>
          <a:xfrm>
            <a:off x="1545771" y="2213435"/>
            <a:ext cx="8675915" cy="3726529"/>
          </a:xfrm>
          <a:prstGeom prst="rect">
            <a:avLst/>
          </a:prstGeom>
        </p:spPr>
      </p:pic>
      <p:sp>
        <p:nvSpPr>
          <p:cNvPr id="8" name="Content Placeholder 7">
            <a:extLst>
              <a:ext uri="{FF2B5EF4-FFF2-40B4-BE49-F238E27FC236}">
                <a16:creationId xmlns:a16="http://schemas.microsoft.com/office/drawing/2014/main" id="{71AAFB80-D553-F5C6-5C6F-6D331DA03FC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5261041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white text on a white background&#10;&#10;AI-generated content may be incorrect.">
            <a:extLst>
              <a:ext uri="{FF2B5EF4-FFF2-40B4-BE49-F238E27FC236}">
                <a16:creationId xmlns:a16="http://schemas.microsoft.com/office/drawing/2014/main" id="{113268FC-99B5-F9C6-350C-A1D83C9B279B}"/>
              </a:ext>
            </a:extLst>
          </p:cNvPr>
          <p:cNvPicPr>
            <a:picLocks noChangeAspect="1"/>
          </p:cNvPicPr>
          <p:nvPr/>
        </p:nvPicPr>
        <p:blipFill>
          <a:blip r:embed="rId2"/>
          <a:stretch>
            <a:fillRect/>
          </a:stretch>
        </p:blipFill>
        <p:spPr>
          <a:xfrm>
            <a:off x="6959600" y="1975379"/>
            <a:ext cx="5236634" cy="4886325"/>
          </a:xfrm>
          <a:prstGeom prst="rect">
            <a:avLst/>
          </a:prstGeom>
        </p:spPr>
      </p:pic>
      <p:sp>
        <p:nvSpPr>
          <p:cNvPr id="2" name="Title 1">
            <a:extLst>
              <a:ext uri="{FF2B5EF4-FFF2-40B4-BE49-F238E27FC236}">
                <a16:creationId xmlns:a16="http://schemas.microsoft.com/office/drawing/2014/main" id="{3EBD15B1-1387-28A7-E71A-F22D2D65E962}"/>
              </a:ext>
            </a:extLst>
          </p:cNvPr>
          <p:cNvSpPr>
            <a:spLocks noGrp="1"/>
          </p:cNvSpPr>
          <p:nvPr>
            <p:ph type="title"/>
          </p:nvPr>
        </p:nvSpPr>
        <p:spPr>
          <a:xfrm>
            <a:off x="2117" y="5291"/>
            <a:ext cx="12187766" cy="1314980"/>
          </a:xfrm>
        </p:spPr>
        <p:txBody>
          <a:bodyPr>
            <a:normAutofit/>
          </a:bodyPr>
          <a:lstStyle/>
          <a:p>
            <a:r>
              <a:rPr lang="en-US"/>
              <a:t>Mining: Tailings</a:t>
            </a:r>
            <a:br>
              <a:rPr lang="en-US"/>
            </a:br>
            <a:r>
              <a:rPr lang="en-US" err="1"/>
              <a:t>Brumadinho</a:t>
            </a:r>
            <a:r>
              <a:rPr lang="en-US"/>
              <a:t> dam failure (Minas Gerais, Brazil) 2019</a:t>
            </a:r>
          </a:p>
        </p:txBody>
      </p:sp>
      <p:sp>
        <p:nvSpPr>
          <p:cNvPr id="3" name="Content Placeholder 2">
            <a:extLst>
              <a:ext uri="{FF2B5EF4-FFF2-40B4-BE49-F238E27FC236}">
                <a16:creationId xmlns:a16="http://schemas.microsoft.com/office/drawing/2014/main" id="{C31CA023-037D-AA6C-1278-C97573EB3896}"/>
              </a:ext>
            </a:extLst>
          </p:cNvPr>
          <p:cNvSpPr>
            <a:spLocks noGrp="1"/>
          </p:cNvSpPr>
          <p:nvPr>
            <p:ph idx="1"/>
          </p:nvPr>
        </p:nvSpPr>
        <p:spPr>
          <a:xfrm>
            <a:off x="351367" y="1243542"/>
            <a:ext cx="11626850" cy="1599672"/>
          </a:xfrm>
        </p:spPr>
        <p:txBody>
          <a:bodyPr vert="horz" lIns="91440" tIns="45720" rIns="91440" bIns="45720" rtlCol="0" anchor="t">
            <a:normAutofit fontScale="55000" lnSpcReduction="20000"/>
          </a:bodyPr>
          <a:lstStyle/>
          <a:p>
            <a:r>
              <a:rPr lang="en-US"/>
              <a:t>12 million m3 of iron ore tailings</a:t>
            </a:r>
          </a:p>
          <a:p>
            <a:r>
              <a:rPr lang="en-US"/>
              <a:t>270 people died</a:t>
            </a:r>
          </a:p>
          <a:p>
            <a:r>
              <a:rPr lang="en-US"/>
              <a:t>Ba, Pb, As, Sr, Fe, Mn and Al, have high mobility from the tailings to water</a:t>
            </a:r>
          </a:p>
          <a:p>
            <a:r>
              <a:rPr lang="en-US"/>
              <a:t>In the water, the levels of Fe, Al, Mn, Zn, Cu, Pb, Cd and U were higher than those allowed by Brazilian legislation. </a:t>
            </a:r>
          </a:p>
          <a:p>
            <a:r>
              <a:rPr lang="en-US"/>
              <a:t>In the sediments, Cr, Ni, Cu and Cd levels were higher than the established sediment quality guidelines (TEL-NOAA)</a:t>
            </a:r>
          </a:p>
          <a:p>
            <a:endParaRPr lang="en-US"/>
          </a:p>
        </p:txBody>
      </p:sp>
      <p:pic>
        <p:nvPicPr>
          <p:cNvPr id="5" name="Picture 4" descr="A screenshot of a website&#10;&#10;AI-generated content may be incorrect.">
            <a:extLst>
              <a:ext uri="{FF2B5EF4-FFF2-40B4-BE49-F238E27FC236}">
                <a16:creationId xmlns:a16="http://schemas.microsoft.com/office/drawing/2014/main" id="{9B398E9E-6B55-ABD2-9965-C611435266FC}"/>
              </a:ext>
            </a:extLst>
          </p:cNvPr>
          <p:cNvPicPr>
            <a:picLocks noChangeAspect="1"/>
          </p:cNvPicPr>
          <p:nvPr/>
        </p:nvPicPr>
        <p:blipFill>
          <a:blip r:embed="rId3"/>
          <a:stretch>
            <a:fillRect/>
          </a:stretch>
        </p:blipFill>
        <p:spPr>
          <a:xfrm>
            <a:off x="864129" y="2838450"/>
            <a:ext cx="5235575" cy="4250267"/>
          </a:xfrm>
          <a:prstGeom prst="rect">
            <a:avLst/>
          </a:prstGeom>
        </p:spPr>
      </p:pic>
    </p:spTree>
    <p:extLst>
      <p:ext uri="{BB962C8B-B14F-4D97-AF65-F5344CB8AC3E}">
        <p14:creationId xmlns:p14="http://schemas.microsoft.com/office/powerpoint/2010/main" val="28118923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n aerial view of a field&#10;&#10;AI-generated content may be incorrect.">
            <a:extLst>
              <a:ext uri="{FF2B5EF4-FFF2-40B4-BE49-F238E27FC236}">
                <a16:creationId xmlns:a16="http://schemas.microsoft.com/office/drawing/2014/main" id="{43D876A3-0B9B-BBC4-D931-1337435BD978}"/>
              </a:ext>
            </a:extLst>
          </p:cNvPr>
          <p:cNvPicPr>
            <a:picLocks noChangeAspect="1"/>
          </p:cNvPicPr>
          <p:nvPr/>
        </p:nvPicPr>
        <p:blipFill>
          <a:blip r:embed="rId2"/>
          <a:stretch>
            <a:fillRect/>
          </a:stretch>
        </p:blipFill>
        <p:spPr>
          <a:xfrm>
            <a:off x="345361" y="3282097"/>
            <a:ext cx="3829409" cy="3315779"/>
          </a:xfrm>
          <a:prstGeom prst="rect">
            <a:avLst/>
          </a:prstGeom>
        </p:spPr>
      </p:pic>
      <p:sp>
        <p:nvSpPr>
          <p:cNvPr id="2" name="Title 1">
            <a:extLst>
              <a:ext uri="{FF2B5EF4-FFF2-40B4-BE49-F238E27FC236}">
                <a16:creationId xmlns:a16="http://schemas.microsoft.com/office/drawing/2014/main" id="{29385D61-7A3E-FC3B-A720-7C5A72FEAC34}"/>
              </a:ext>
            </a:extLst>
          </p:cNvPr>
          <p:cNvSpPr>
            <a:spLocks noGrp="1"/>
          </p:cNvSpPr>
          <p:nvPr>
            <p:ph type="title"/>
          </p:nvPr>
        </p:nvSpPr>
        <p:spPr>
          <a:xfrm>
            <a:off x="104868" y="167926"/>
            <a:ext cx="7118350" cy="1325563"/>
          </a:xfrm>
        </p:spPr>
        <p:txBody>
          <a:bodyPr>
            <a:normAutofit fontScale="90000"/>
          </a:bodyPr>
          <a:lstStyle/>
          <a:p>
            <a:r>
              <a:rPr lang="en-US"/>
              <a:t>Mining: Processing</a:t>
            </a:r>
            <a:br>
              <a:rPr lang="en-US"/>
            </a:br>
            <a:r>
              <a:rPr lang="en-US" sz="3200">
                <a:latin typeface="Calibri"/>
                <a:ea typeface="Calibri"/>
                <a:cs typeface="Calibri"/>
              </a:rPr>
              <a:t>Ajka Alumina Plant, Hungary 2010 ‘Red Mud’</a:t>
            </a:r>
            <a:endParaRPr lang="en-US"/>
          </a:p>
        </p:txBody>
      </p:sp>
      <p:pic>
        <p:nvPicPr>
          <p:cNvPr id="6" name="Picture 5" descr="A screenshot of a computer&#10;&#10;AI-generated content may be incorrect.">
            <a:extLst>
              <a:ext uri="{FF2B5EF4-FFF2-40B4-BE49-F238E27FC236}">
                <a16:creationId xmlns:a16="http://schemas.microsoft.com/office/drawing/2014/main" id="{731A8DDC-158A-174E-8F54-F88A82C0AB0E}"/>
              </a:ext>
            </a:extLst>
          </p:cNvPr>
          <p:cNvPicPr>
            <a:picLocks noChangeAspect="1"/>
          </p:cNvPicPr>
          <p:nvPr/>
        </p:nvPicPr>
        <p:blipFill>
          <a:blip r:embed="rId3"/>
          <a:stretch>
            <a:fillRect/>
          </a:stretch>
        </p:blipFill>
        <p:spPr>
          <a:xfrm>
            <a:off x="7358429" y="0"/>
            <a:ext cx="4830156" cy="3904179"/>
          </a:xfrm>
          <a:prstGeom prst="rect">
            <a:avLst/>
          </a:prstGeom>
        </p:spPr>
      </p:pic>
      <p:pic>
        <p:nvPicPr>
          <p:cNvPr id="7" name="Picture 6" descr="A person walking in a flooded area&#10;&#10;AI-generated content may be incorrect.">
            <a:extLst>
              <a:ext uri="{FF2B5EF4-FFF2-40B4-BE49-F238E27FC236}">
                <a16:creationId xmlns:a16="http://schemas.microsoft.com/office/drawing/2014/main" id="{7C481608-AAF7-2AF4-4E46-01B4E9CA8A99}"/>
              </a:ext>
            </a:extLst>
          </p:cNvPr>
          <p:cNvPicPr>
            <a:picLocks noChangeAspect="1"/>
          </p:cNvPicPr>
          <p:nvPr/>
        </p:nvPicPr>
        <p:blipFill>
          <a:blip r:embed="rId4"/>
          <a:stretch>
            <a:fillRect/>
          </a:stretch>
        </p:blipFill>
        <p:spPr>
          <a:xfrm>
            <a:off x="4629092" y="4000987"/>
            <a:ext cx="3629025" cy="2600325"/>
          </a:xfrm>
          <a:prstGeom prst="rect">
            <a:avLst/>
          </a:prstGeom>
        </p:spPr>
      </p:pic>
      <p:sp>
        <p:nvSpPr>
          <p:cNvPr id="10" name="Content Placeholder 2">
            <a:extLst>
              <a:ext uri="{FF2B5EF4-FFF2-40B4-BE49-F238E27FC236}">
                <a16:creationId xmlns:a16="http://schemas.microsoft.com/office/drawing/2014/main" id="{2B574CC8-2D85-B2CA-F2E1-FEC90E34930D}"/>
              </a:ext>
            </a:extLst>
          </p:cNvPr>
          <p:cNvSpPr txBox="1">
            <a:spLocks/>
          </p:cNvSpPr>
          <p:nvPr/>
        </p:nvSpPr>
        <p:spPr>
          <a:xfrm>
            <a:off x="106422" y="1572229"/>
            <a:ext cx="5243972" cy="560407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300">
                <a:latin typeface="Roboto"/>
                <a:ea typeface="Roboto"/>
                <a:cs typeface="Roboto"/>
              </a:rPr>
              <a:t>700,000 m</a:t>
            </a:r>
            <a:r>
              <a:rPr lang="en-US" sz="2300" baseline="30000">
                <a:latin typeface="Roboto"/>
                <a:ea typeface="Roboto"/>
                <a:cs typeface="Roboto"/>
              </a:rPr>
              <a:t>3</a:t>
            </a:r>
            <a:r>
              <a:rPr lang="en-US" sz="2300">
                <a:latin typeface="Roboto"/>
                <a:ea typeface="Roboto"/>
                <a:cs typeface="Roboto"/>
              </a:rPr>
              <a:t> </a:t>
            </a:r>
            <a:r>
              <a:rPr lang="en-US" sz="2300">
                <a:solidFill>
                  <a:srgbClr val="000000"/>
                </a:solidFill>
                <a:latin typeface="Roboto"/>
                <a:ea typeface="Roboto"/>
                <a:cs typeface="Roboto"/>
              </a:rPr>
              <a:t>of highly caustic red mud slurry escaped</a:t>
            </a:r>
            <a:r>
              <a:rPr lang="en-US" sz="2300">
                <a:latin typeface="Roboto"/>
                <a:ea typeface="Roboto"/>
                <a:cs typeface="Roboto"/>
              </a:rPr>
              <a:t> </a:t>
            </a:r>
            <a:r>
              <a:rPr lang="en-US" sz="2300">
                <a:solidFill>
                  <a:srgbClr val="000000"/>
                </a:solidFill>
                <a:latin typeface="Roboto"/>
                <a:ea typeface="Roboto"/>
                <a:cs typeface="Roboto"/>
              </a:rPr>
              <a:t>a </a:t>
            </a:r>
            <a:r>
              <a:rPr lang="en-US" sz="2300">
                <a:latin typeface="Roboto"/>
                <a:ea typeface="Roboto"/>
                <a:cs typeface="Roboto"/>
              </a:rPr>
              <a:t>containment facility</a:t>
            </a:r>
            <a:endParaRPr lang="en-US">
              <a:solidFill>
                <a:srgbClr val="000000"/>
              </a:solidFill>
              <a:ea typeface="+mn-lt"/>
              <a:cs typeface="+mn-lt"/>
            </a:endParaRPr>
          </a:p>
          <a:p>
            <a:r>
              <a:rPr lang="en-US" sz="2300">
                <a:latin typeface="Roboto"/>
                <a:ea typeface="Roboto"/>
                <a:cs typeface="Roboto"/>
              </a:rPr>
              <a:t>10 people died and contamination inundated several towns</a:t>
            </a:r>
            <a:endParaRPr lang="en-US"/>
          </a:p>
          <a:p>
            <a:endParaRPr lang="en-US"/>
          </a:p>
          <a:p>
            <a:endParaRPr lang="en-US"/>
          </a:p>
          <a:p>
            <a:endParaRPr lang="en-US"/>
          </a:p>
        </p:txBody>
      </p:sp>
    </p:spTree>
    <p:extLst>
      <p:ext uri="{BB962C8B-B14F-4D97-AF65-F5344CB8AC3E}">
        <p14:creationId xmlns:p14="http://schemas.microsoft.com/office/powerpoint/2010/main" val="15476021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0A25ED74-69D6-109E-91F9-A553D662BFAE}"/>
              </a:ext>
            </a:extLst>
          </p:cNvPr>
          <p:cNvPicPr>
            <a:picLocks noGrp="1" noChangeAspect="1"/>
          </p:cNvPicPr>
          <p:nvPr>
            <p:ph idx="1"/>
          </p:nvPr>
        </p:nvPicPr>
        <p:blipFill>
          <a:blip r:embed="rId2"/>
          <a:stretch>
            <a:fillRect/>
          </a:stretch>
        </p:blipFill>
        <p:spPr>
          <a:xfrm>
            <a:off x="1234131" y="89959"/>
            <a:ext cx="9067571" cy="6669087"/>
          </a:xfrm>
        </p:spPr>
      </p:pic>
    </p:spTree>
    <p:extLst>
      <p:ext uri="{BB962C8B-B14F-4D97-AF65-F5344CB8AC3E}">
        <p14:creationId xmlns:p14="http://schemas.microsoft.com/office/powerpoint/2010/main" val="9629675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77AEA-5E0E-C9D1-7F57-75A5A918118D}"/>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28CD46DA-8B6B-12A1-C9D9-C6274E40F3A3}"/>
              </a:ext>
            </a:extLst>
          </p:cNvPr>
          <p:cNvSpPr>
            <a:spLocks noGrp="1"/>
          </p:cNvSpPr>
          <p:nvPr>
            <p:ph idx="1"/>
          </p:nvPr>
        </p:nvSpPr>
        <p:spPr/>
        <p:txBody>
          <a:bodyPr vert="horz" lIns="91440" tIns="45720" rIns="91440" bIns="45720" rtlCol="0" anchor="t">
            <a:normAutofit/>
          </a:bodyPr>
          <a:lstStyle/>
          <a:p>
            <a:r>
              <a:rPr lang="en-US" b="1" dirty="0">
                <a:ea typeface="+mn-lt"/>
                <a:cs typeface="+mn-lt"/>
              </a:rPr>
              <a:t>Industrial and Natural Disasters</a:t>
            </a:r>
            <a:r>
              <a:rPr lang="en-US" dirty="0">
                <a:ea typeface="+mn-lt"/>
                <a:cs typeface="+mn-lt"/>
              </a:rPr>
              <a:t> – mining accidents, oil spills, nuclear incidents, hydroelectric power impacts, deforestation, eutrophication, and mining-related issues</a:t>
            </a:r>
            <a:endParaRPr lang="en-US" dirty="0"/>
          </a:p>
          <a:p>
            <a:r>
              <a:rPr lang="en-US" b="1" dirty="0">
                <a:ea typeface="+mn-lt"/>
                <a:cs typeface="+mn-lt"/>
              </a:rPr>
              <a:t>Environmental Consequences</a:t>
            </a:r>
            <a:r>
              <a:rPr lang="en-US" dirty="0">
                <a:ea typeface="+mn-lt"/>
                <a:cs typeface="+mn-lt"/>
              </a:rPr>
              <a:t> – Habitat destruction, pollution, biodiversity loss, and long-term ecological damage</a:t>
            </a:r>
            <a:endParaRPr lang="en-US" dirty="0"/>
          </a:p>
          <a:p>
            <a:r>
              <a:rPr lang="en-US" b="1" dirty="0">
                <a:ea typeface="+mn-lt"/>
                <a:cs typeface="+mn-lt"/>
              </a:rPr>
              <a:t>Mitigation and Remediation</a:t>
            </a:r>
            <a:r>
              <a:rPr lang="en-US" dirty="0">
                <a:ea typeface="+mn-lt"/>
                <a:cs typeface="+mn-lt"/>
              </a:rPr>
              <a:t> – Approaches such as regulation, technological solutions, bioremediation, and ecosystem restoration</a:t>
            </a:r>
            <a:endParaRPr lang="en-US" dirty="0"/>
          </a:p>
          <a:p>
            <a:r>
              <a:rPr lang="en-US" b="1" dirty="0">
                <a:ea typeface="+mn-lt"/>
                <a:cs typeface="+mn-lt"/>
              </a:rPr>
              <a:t>Legislation and Policy</a:t>
            </a:r>
            <a:r>
              <a:rPr lang="en-US" dirty="0">
                <a:ea typeface="+mn-lt"/>
                <a:cs typeface="+mn-lt"/>
              </a:rPr>
              <a:t> – The role of laws and policies in preventing and managing environmental damage</a:t>
            </a:r>
            <a:endParaRPr lang="en-US" dirty="0"/>
          </a:p>
          <a:p>
            <a:endParaRPr lang="en-US" dirty="0"/>
          </a:p>
        </p:txBody>
      </p:sp>
    </p:spTree>
    <p:extLst>
      <p:ext uri="{BB962C8B-B14F-4D97-AF65-F5344CB8AC3E}">
        <p14:creationId xmlns:p14="http://schemas.microsoft.com/office/powerpoint/2010/main" val="14945132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34</Slides>
  <Notes>4</Notes>
  <HiddenSlides>0</HiddenSlide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office theme</vt:lpstr>
      <vt:lpstr>Environmental challenges and solutions</vt:lpstr>
      <vt:lpstr>Intended Learning Outcomes</vt:lpstr>
      <vt:lpstr>Coal: Mine Spoil Tip Collapse</vt:lpstr>
      <vt:lpstr>Oil: Exxon-Valdez Spillage, Alaska</vt:lpstr>
      <vt:lpstr>Oil: Deepwater Horizon Blow out</vt:lpstr>
      <vt:lpstr>Oil spill solutions</vt:lpstr>
      <vt:lpstr>Nuclear: Fukishima Daiichi Accident, Japan, 2011</vt:lpstr>
      <vt:lpstr>Nuclear: Chernobyl, 1986</vt:lpstr>
      <vt:lpstr>Nuclear: Chernobyl today</vt:lpstr>
      <vt:lpstr>Nuclear: Chernobyl today</vt:lpstr>
      <vt:lpstr>Hydroelectric power</vt:lpstr>
      <vt:lpstr>Hydroelectric power</vt:lpstr>
      <vt:lpstr>Hydroelectric power: Three Gorges Dam</vt:lpstr>
      <vt:lpstr>Hydroelectric power: Balbina</vt:lpstr>
      <vt:lpstr>Solving one problem exacerbates another</vt:lpstr>
      <vt:lpstr>Deforestation: Amazon rainforest</vt:lpstr>
      <vt:lpstr>Deforestation: Amazon rainforest</vt:lpstr>
      <vt:lpstr>Tipping points of Biodiversity</vt:lpstr>
      <vt:lpstr>Deforestation: Amazon rainforest</vt:lpstr>
      <vt:lpstr>Deforestation: Amazon rainforest</vt:lpstr>
      <vt:lpstr>Eutrophication</vt:lpstr>
      <vt:lpstr>Eutrophication from space</vt:lpstr>
      <vt:lpstr>Eutrophication: Gulf of Mexico Dead Zone</vt:lpstr>
      <vt:lpstr>Mining: Open cast Ecosystem destruction</vt:lpstr>
      <vt:lpstr>Land reclamation: China Clay Pit -Eden Project, UK</vt:lpstr>
      <vt:lpstr>Mining: Underground Mine collapse Lily Gold Mine, Barberton South Africa 2016 collapse of the crown pillar 3 people died and mine remains closed</vt:lpstr>
      <vt:lpstr>Mining: Closure Acid Mine Drainage (AMD)</vt:lpstr>
      <vt:lpstr>AMD: Rio Tinto, Spain</vt:lpstr>
      <vt:lpstr>PowerPoint Presentation</vt:lpstr>
      <vt:lpstr>AMD remediation</vt:lpstr>
      <vt:lpstr>Mining: Tailings Brumadinho dam failure (Minas Gerais, Brazil) 2019</vt:lpstr>
      <vt:lpstr>Mining: Processing Ajka Alumina Plant, Hungary 2010 ‘Red Mud’</vt:lpstr>
      <vt:lpstr>PowerPoint Presentation</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216</cp:revision>
  <dcterms:created xsi:type="dcterms:W3CDTF">2013-07-15T20:26:40Z</dcterms:created>
  <dcterms:modified xsi:type="dcterms:W3CDTF">2025-04-01T08:23:59Z</dcterms:modified>
</cp:coreProperties>
</file>