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webp" ContentType="image/webp"/>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450" r:id="rId2"/>
    <p:sldId id="439" r:id="rId3"/>
    <p:sldId id="489" r:id="rId4"/>
    <p:sldId id="490" r:id="rId5"/>
    <p:sldId id="481" r:id="rId6"/>
    <p:sldId id="494" r:id="rId7"/>
    <p:sldId id="495" r:id="rId8"/>
    <p:sldId id="496" r:id="rId9"/>
    <p:sldId id="497" r:id="rId10"/>
    <p:sldId id="369" r:id="rId11"/>
    <p:sldId id="257" r:id="rId12"/>
    <p:sldId id="259" r:id="rId13"/>
    <p:sldId id="258" r:id="rId14"/>
    <p:sldId id="260" r:id="rId15"/>
    <p:sldId id="335" r:id="rId16"/>
    <p:sldId id="261" r:id="rId17"/>
    <p:sldId id="262" r:id="rId18"/>
    <p:sldId id="325" r:id="rId19"/>
    <p:sldId id="374" r:id="rId20"/>
    <p:sldId id="370" r:id="rId21"/>
    <p:sldId id="328" r:id="rId22"/>
    <p:sldId id="340" r:id="rId23"/>
    <p:sldId id="341" r:id="rId24"/>
    <p:sldId id="265" r:id="rId25"/>
    <p:sldId id="266" r:id="rId26"/>
    <p:sldId id="267" r:id="rId27"/>
    <p:sldId id="268" r:id="rId28"/>
    <p:sldId id="350" r:id="rId29"/>
    <p:sldId id="354" r:id="rId30"/>
    <p:sldId id="449" r:id="rId31"/>
    <p:sldId id="491" r:id="rId32"/>
    <p:sldId id="498" r:id="rId33"/>
    <p:sldId id="492" r:id="rId34"/>
    <p:sldId id="493" r:id="rId35"/>
    <p:sldId id="256" r:id="rId36"/>
    <p:sldId id="499" r:id="rId37"/>
    <p:sldId id="464" r:id="rId38"/>
    <p:sldId id="548" r:id="rId39"/>
    <p:sldId id="551" r:id="rId40"/>
    <p:sldId id="549" r:id="rId41"/>
    <p:sldId id="550" r:id="rId42"/>
    <p:sldId id="555" r:id="rId43"/>
    <p:sldId id="553" r:id="rId44"/>
    <p:sldId id="556" r:id="rId45"/>
    <p:sldId id="342" r:id="rId46"/>
    <p:sldId id="557" r:id="rId47"/>
    <p:sldId id="343" r:id="rId48"/>
    <p:sldId id="558" r:id="rId49"/>
    <p:sldId id="344" r:id="rId50"/>
    <p:sldId id="874" r:id="rId51"/>
    <p:sldId id="559" r:id="rId52"/>
    <p:sldId id="560" r:id="rId53"/>
    <p:sldId id="562" r:id="rId54"/>
    <p:sldId id="298" r:id="rId55"/>
    <p:sldId id="875" r:id="rId56"/>
    <p:sldId id="565" r:id="rId57"/>
    <p:sldId id="563" r:id="rId58"/>
    <p:sldId id="564" r:id="rId59"/>
    <p:sldId id="567" r:id="rId60"/>
    <p:sldId id="566" r:id="rId6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86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94807"/>
  </p:normalViewPr>
  <p:slideViewPr>
    <p:cSldViewPr snapToGrid="0">
      <p:cViewPr>
        <p:scale>
          <a:sx n="191" d="100"/>
          <a:sy n="191" d="100"/>
        </p:scale>
        <p:origin x="344" y="256"/>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7F1C14-61C9-4B5A-96D5-E3BA37B24E16}" type="datetimeFigureOut">
              <a:rPr lang="en-US" smtClean="0"/>
              <a:pPr/>
              <a:t>2/25/25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520458-EC4E-47EA-A9C0-EBBDC2BB692A}" type="slidenum">
              <a:rPr lang="en-GB" smtClean="0"/>
              <a:pPr/>
              <a:t>‹#›</a:t>
            </a:fld>
            <a:endParaRPr lang="en-GB"/>
          </a:p>
        </p:txBody>
      </p:sp>
    </p:spTree>
    <p:extLst>
      <p:ext uri="{BB962C8B-B14F-4D97-AF65-F5344CB8AC3E}">
        <p14:creationId xmlns:p14="http://schemas.microsoft.com/office/powerpoint/2010/main" val="4043530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6A2BC4-C41E-4A78-A913-05E2335A655D}" type="slidenum">
              <a:rPr lang="en-GB" smtClean="0"/>
              <a:pPr/>
              <a:t>3</a:t>
            </a:fld>
            <a:endParaRPr lang="en-GB"/>
          </a:p>
        </p:txBody>
      </p:sp>
    </p:spTree>
    <p:extLst>
      <p:ext uri="{BB962C8B-B14F-4D97-AF65-F5344CB8AC3E}">
        <p14:creationId xmlns:p14="http://schemas.microsoft.com/office/powerpoint/2010/main" val="319500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381000" y="685800"/>
            <a:ext cx="6096000" cy="3429000"/>
          </a:xfrm>
          <a:ln/>
        </p:spPr>
      </p:sp>
      <p:sp>
        <p:nvSpPr>
          <p:cNvPr id="18435" name="Rectangle 3"/>
          <p:cNvSpPr>
            <a:spLocks noGrp="1" noChangeArrowheads="1"/>
          </p:cNvSpPr>
          <p:nvPr>
            <p:ph type="body" idx="1"/>
          </p:nvPr>
        </p:nvSpPr>
        <p:spPr>
          <a:noFill/>
          <a:ln/>
        </p:spPr>
        <p:txBody>
          <a:bodyPr/>
          <a:lstStyle/>
          <a:p>
            <a:r>
              <a:rPr lang="en-GB"/>
              <a:t>My next approach used the same experimental design as the previous study but this time i tested the effects of genotypic richness on community respiration and productivity.  I created a diversity gradient of 1 to 8 genotypes of Paxillus obs and i also used the same 3 C:N ratios.</a:t>
            </a:r>
          </a:p>
          <a:p>
            <a:r>
              <a:rPr lang="en-GB"/>
              <a:t>First graph shows that genotype richness had a significant positive effect on biomass production and biomass production in the 8 genotype mixes was 50% greater that the monocultures. The effects of genotype richness were also much more significant than the four-fold manipulation in C:N ratio. However,</a:t>
            </a:r>
            <a:r>
              <a:rPr lang="en-GB" i="1"/>
              <a:t> Paxillus</a:t>
            </a:r>
            <a:r>
              <a:rPr lang="en-GB"/>
              <a:t> spp. are known to grow well where N is plentiful and so it is possible that other species may have a different response. </a:t>
            </a:r>
          </a:p>
          <a:p>
            <a:r>
              <a:rPr lang="en-GB"/>
              <a:t>The effects of intraspecific richness were underpinned by strong effects of individuals and an interaction with C:N ratio.</a:t>
            </a:r>
          </a:p>
          <a:p>
            <a:pPr eaLnBrk="1" hangingPunct="1">
              <a:spcBef>
                <a:spcPct val="50000"/>
              </a:spcBef>
            </a:pPr>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endParaRPr lang="en-GB"/>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D98262E-4D58-4CDA-9D0A-FFD940FA7A1D}" type="datetimeFigureOut">
              <a:rPr lang="en-US" smtClean="0"/>
              <a:pPr/>
              <a:t>2/25/25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D98262E-4D58-4CDA-9D0A-FFD940FA7A1D}" type="datetimeFigureOut">
              <a:rPr lang="en-US" smtClean="0"/>
              <a:pPr/>
              <a:t>2/25/25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98262E-4D58-4CDA-9D0A-FFD940FA7A1D}" type="datetimeFigureOut">
              <a:rPr lang="en-US" smtClean="0"/>
              <a:pPr/>
              <a:t>2/25/25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CD98262E-4D58-4CDA-9D0A-FFD940FA7A1D}" type="datetimeFigureOut">
              <a:rPr lang="en-US" smtClean="0"/>
              <a:pPr/>
              <a:t>2/25/25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CD98262E-4D58-4CDA-9D0A-FFD940FA7A1D}" type="datetimeFigureOut">
              <a:rPr lang="en-US" smtClean="0"/>
              <a:pPr/>
              <a:t>2/25/25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D98262E-4D58-4CDA-9D0A-FFD940FA7A1D}" type="datetimeFigureOut">
              <a:rPr lang="en-US" smtClean="0"/>
              <a:pPr/>
              <a:t>2/25/25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98262E-4D58-4CDA-9D0A-FFD940FA7A1D}" type="datetimeFigureOut">
              <a:rPr lang="en-US" smtClean="0"/>
              <a:pPr/>
              <a:t>2/25/25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D98262E-4D58-4CDA-9D0A-FFD940FA7A1D}" type="datetimeFigureOut">
              <a:rPr lang="en-US" smtClean="0"/>
              <a:pPr/>
              <a:t>2/25/25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D98262E-4D58-4CDA-9D0A-FFD940FA7A1D}" type="datetimeFigureOut">
              <a:rPr lang="en-US" smtClean="0"/>
              <a:pPr/>
              <a:t>2/25/25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D98262E-4D58-4CDA-9D0A-FFD940FA7A1D}" type="datetimeFigureOut">
              <a:rPr lang="en-US" smtClean="0"/>
              <a:pPr/>
              <a:t>2/25/25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D98262E-4D58-4CDA-9D0A-FFD940FA7A1D}" type="datetimeFigureOut">
              <a:rPr lang="en-US" smtClean="0"/>
              <a:pPr/>
              <a:t>2/25/25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68C28E-9F7C-4A8B-A8C0-9C7EC621606A}"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85725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85800" y="1485900"/>
            <a:ext cx="3810000" cy="308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lipArt Placeholder 3"/>
          <p:cNvSpPr>
            <a:spLocks noGrp="1"/>
          </p:cNvSpPr>
          <p:nvPr>
            <p:ph type="clipArt" sz="half" idx="2"/>
          </p:nvPr>
        </p:nvSpPr>
        <p:spPr>
          <a:xfrm>
            <a:off x="4648200" y="1485900"/>
            <a:ext cx="3810000" cy="3086100"/>
          </a:xfrm>
        </p:spPr>
        <p:txBody>
          <a:bodyPr/>
          <a:lstStyle/>
          <a:p>
            <a:endParaRPr lang="en-GB"/>
          </a:p>
        </p:txBody>
      </p:sp>
      <p:sp>
        <p:nvSpPr>
          <p:cNvPr id="5" name="Date Placeholder 4"/>
          <p:cNvSpPr>
            <a:spLocks noGrp="1"/>
          </p:cNvSpPr>
          <p:nvPr>
            <p:ph type="dt" sz="half" idx="10"/>
          </p:nvPr>
        </p:nvSpPr>
        <p:spPr>
          <a:xfrm>
            <a:off x="685800" y="4686300"/>
            <a:ext cx="1905000" cy="342900"/>
          </a:xfrm>
        </p:spPr>
        <p:txBody>
          <a:bodyPr/>
          <a:lstStyle>
            <a:lvl1pPr>
              <a:defRPr/>
            </a:lvl1pPr>
          </a:lstStyle>
          <a:p>
            <a:endParaRPr lang="en-US"/>
          </a:p>
        </p:txBody>
      </p:sp>
      <p:sp>
        <p:nvSpPr>
          <p:cNvPr id="6" name="Footer Placeholder 5"/>
          <p:cNvSpPr>
            <a:spLocks noGrp="1"/>
          </p:cNvSpPr>
          <p:nvPr>
            <p:ph type="ftr" sz="quarter" idx="11"/>
          </p:nvPr>
        </p:nvSpPr>
        <p:spPr>
          <a:xfrm>
            <a:off x="3124200" y="4686300"/>
            <a:ext cx="2895600" cy="3429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4686300"/>
            <a:ext cx="1905000" cy="342900"/>
          </a:xfrm>
        </p:spPr>
        <p:txBody>
          <a:bodyPr/>
          <a:lstStyle>
            <a:lvl1pPr>
              <a:defRPr/>
            </a:lvl1pPr>
          </a:lstStyle>
          <a:p>
            <a:fld id="{4F8DB057-9574-44EA-A98C-0003D39C0DE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Photo - Vertical">
    <p:bg>
      <p:bgPr>
        <a:solidFill>
          <a:srgbClr val="FFFFFF"/>
        </a:solidFill>
        <a:effectLst/>
      </p:bgPr>
    </p:bg>
    <p:spTree>
      <p:nvGrpSpPr>
        <p:cNvPr id="1" name=""/>
        <p:cNvGrpSpPr/>
        <p:nvPr/>
      </p:nvGrpSpPr>
      <p:grpSpPr>
        <a:xfrm>
          <a:off x="0" y="0"/>
          <a:ext cx="0" cy="0"/>
          <a:chOff x="0" y="0"/>
          <a:chExt cx="0" cy="0"/>
        </a:xfrm>
      </p:grpSpPr>
      <p:sp>
        <p:nvSpPr>
          <p:cNvPr id="147" name="Image"/>
          <p:cNvSpPr>
            <a:spLocks noGrp="1"/>
          </p:cNvSpPr>
          <p:nvPr>
            <p:ph type="pic" sz="quarter" idx="13"/>
          </p:nvPr>
        </p:nvSpPr>
        <p:spPr>
          <a:xfrm>
            <a:off x="5009558" y="1038077"/>
            <a:ext cx="2966889" cy="2966889"/>
          </a:xfrm>
          <a:prstGeom prst="rect">
            <a:avLst/>
          </a:prstGeom>
        </p:spPr>
        <p:txBody>
          <a:bodyPr lIns="91439" tIns="45719" rIns="91439" bIns="45719" anchor="t">
            <a:noAutofit/>
          </a:bodyPr>
          <a:lstStyle/>
          <a:p>
            <a:endParaRPr/>
          </a:p>
        </p:txBody>
      </p:sp>
      <p:sp>
        <p:nvSpPr>
          <p:cNvPr id="148" name="Title Text"/>
          <p:cNvSpPr txBox="1">
            <a:spLocks noGrp="1"/>
          </p:cNvSpPr>
          <p:nvPr>
            <p:ph type="title"/>
          </p:nvPr>
        </p:nvSpPr>
        <p:spPr>
          <a:xfrm>
            <a:off x="446484" y="743398"/>
            <a:ext cx="4125516" cy="1741289"/>
          </a:xfrm>
          <a:prstGeom prst="rect">
            <a:avLst/>
          </a:prstGeom>
        </p:spPr>
        <p:txBody>
          <a:bodyPr anchor="b">
            <a:noAutofit/>
          </a:bodyPr>
          <a:lstStyle>
            <a:lvl1pPr algn="ctr">
              <a:defRPr sz="3692" spc="0">
                <a:solidFill>
                  <a:srgbClr val="000000"/>
                </a:solidFill>
                <a:latin typeface="Gill Sans"/>
                <a:ea typeface="Gill Sans"/>
                <a:cs typeface="Gill Sans"/>
                <a:sym typeface="Gill Sans"/>
              </a:defRPr>
            </a:lvl1pPr>
          </a:lstStyle>
          <a:p>
            <a:r>
              <a:t>Title Text</a:t>
            </a:r>
          </a:p>
        </p:txBody>
      </p:sp>
      <p:sp>
        <p:nvSpPr>
          <p:cNvPr id="149" name="Body Level One…"/>
          <p:cNvSpPr txBox="1">
            <a:spLocks noGrp="1"/>
          </p:cNvSpPr>
          <p:nvPr>
            <p:ph type="body" sz="quarter" idx="1"/>
          </p:nvPr>
        </p:nvSpPr>
        <p:spPr>
          <a:xfrm>
            <a:off x="446484" y="2524871"/>
            <a:ext cx="4125516" cy="1741289"/>
          </a:xfrm>
          <a:prstGeom prst="rect">
            <a:avLst/>
          </a:prstGeom>
        </p:spPr>
        <p:txBody>
          <a:bodyPr anchor="t">
            <a:noAutofit/>
          </a:bodyPr>
          <a:lstStyle>
            <a:lvl1pPr marL="0" indent="0" algn="ctr">
              <a:spcBef>
                <a:spcPts val="0"/>
              </a:spcBef>
              <a:buClrTx/>
              <a:buSzTx/>
              <a:buFontTx/>
              <a:buNone/>
              <a:defRPr sz="1793">
                <a:latin typeface="Gill Sans"/>
                <a:ea typeface="Gill Sans"/>
                <a:cs typeface="Gill Sans"/>
                <a:sym typeface="Gill Sans"/>
              </a:defRPr>
            </a:lvl1pPr>
            <a:lvl2pPr marL="0" indent="0" algn="ctr">
              <a:spcBef>
                <a:spcPts val="0"/>
              </a:spcBef>
              <a:buClrTx/>
              <a:buSzTx/>
              <a:buFontTx/>
              <a:buNone/>
              <a:defRPr sz="1793">
                <a:latin typeface="Gill Sans"/>
                <a:ea typeface="Gill Sans"/>
                <a:cs typeface="Gill Sans"/>
                <a:sym typeface="Gill Sans"/>
              </a:defRPr>
            </a:lvl2pPr>
            <a:lvl3pPr marL="0" indent="0" algn="ctr">
              <a:spcBef>
                <a:spcPts val="0"/>
              </a:spcBef>
              <a:buClrTx/>
              <a:buSzTx/>
              <a:buFontTx/>
              <a:buNone/>
              <a:defRPr sz="1793">
                <a:latin typeface="Gill Sans"/>
                <a:ea typeface="Gill Sans"/>
                <a:cs typeface="Gill Sans"/>
                <a:sym typeface="Gill Sans"/>
              </a:defRPr>
            </a:lvl3pPr>
            <a:lvl4pPr marL="0" indent="0" algn="ctr">
              <a:spcBef>
                <a:spcPts val="0"/>
              </a:spcBef>
              <a:buClrTx/>
              <a:buSzTx/>
              <a:buFontTx/>
              <a:buNone/>
              <a:defRPr sz="1793">
                <a:latin typeface="Gill Sans"/>
                <a:ea typeface="Gill Sans"/>
                <a:cs typeface="Gill Sans"/>
                <a:sym typeface="Gill Sans"/>
              </a:defRPr>
            </a:lvl4pPr>
            <a:lvl5pPr marL="0" indent="0" algn="ctr">
              <a:spcBef>
                <a:spcPts val="0"/>
              </a:spcBef>
              <a:buClrTx/>
              <a:buSzTx/>
              <a:buFontTx/>
              <a:buNone/>
              <a:defRPr sz="1793">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150" name="Slide Number"/>
          <p:cNvSpPr txBox="1">
            <a:spLocks noGrp="1"/>
          </p:cNvSpPr>
          <p:nvPr>
            <p:ph type="sldNum" sz="quarter" idx="2"/>
          </p:nvPr>
        </p:nvSpPr>
        <p:spPr>
          <a:xfrm>
            <a:off x="4446984" y="4882308"/>
            <a:ext cx="241102" cy="194221"/>
          </a:xfrm>
          <a:prstGeom prst="rect">
            <a:avLst/>
          </a:prstGeom>
        </p:spPr>
        <p:txBody>
          <a:bodyPr anchor="t"/>
          <a:lstStyle>
            <a:lvl1pPr>
              <a:defRPr sz="949">
                <a:solidFill>
                  <a:srgbClr val="000000"/>
                </a:solidFill>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421971202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UoA 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defTabSz="514350" rtl="0" eaLnBrk="1" fontAlgn="base" latinLnBrk="0" hangingPunct="1">
              <a:spcBef>
                <a:spcPct val="0"/>
              </a:spcBef>
              <a:spcAft>
                <a:spcPct val="0"/>
              </a:spcAft>
              <a:buNone/>
              <a:defRPr lang="en-GB" sz="2025" b="1" kern="1200" baseline="0" dirty="0" smtClean="0">
                <a:solidFill>
                  <a:srgbClr val="FFFFFF"/>
                </a:solidFill>
                <a:latin typeface="Arial" charset="0"/>
                <a:ea typeface="ヒラギノ角ゴ Pro W3" charset="-128"/>
                <a:cs typeface="Arial" charset="0"/>
                <a:sym typeface="Arial" charset="0"/>
              </a:defRPr>
            </a:lvl1pPr>
          </a:lstStyle>
          <a:p>
            <a:r>
              <a:rPr lang="en-US" dirty="0"/>
              <a:t>Slide Subject</a:t>
            </a:r>
            <a:endParaRPr lang="en-GB" dirty="0"/>
          </a:p>
        </p:txBody>
      </p:sp>
      <p:sp>
        <p:nvSpPr>
          <p:cNvPr id="3" name="Content Placeholder 2"/>
          <p:cNvSpPr>
            <a:spLocks noGrp="1"/>
          </p:cNvSpPr>
          <p:nvPr>
            <p:ph idx="1" hasCustomPrompt="1"/>
          </p:nvPr>
        </p:nvSpPr>
        <p:spPr/>
        <p:txBody>
          <a:bodyPr/>
          <a:lstStyle>
            <a:lvl1pPr>
              <a:buFont typeface="Arial" pitchFamily="34" charset="0"/>
              <a:buChar char="•"/>
              <a:defRPr/>
            </a:lvl1pPr>
            <a:lvl2pPr>
              <a:buFont typeface="Arial" pitchFamily="34" charset="0"/>
              <a:buChar char="•"/>
              <a:defRPr/>
            </a:lvl2pPr>
            <a:lvl3pPr>
              <a:buFont typeface="Arial" pitchFamily="34" charset="0"/>
              <a:buChar char="•"/>
              <a:defRPr/>
            </a:lvl3pPr>
          </a:lstStyle>
          <a:p>
            <a:r>
              <a:rPr lang="en-US" dirty="0"/>
              <a:t>Subtitle</a:t>
            </a:r>
          </a:p>
          <a:p>
            <a:pPr lvl="1"/>
            <a:r>
              <a:rPr lang="en-US" dirty="0"/>
              <a:t>Bullet Point</a:t>
            </a:r>
          </a:p>
          <a:p>
            <a:pPr lvl="1"/>
            <a:r>
              <a:rPr lang="en-US" dirty="0"/>
              <a:t>Bullet Point</a:t>
            </a:r>
          </a:p>
          <a:p>
            <a:pPr lvl="1"/>
            <a:r>
              <a:rPr lang="en-US" dirty="0"/>
              <a:t>Bullet Point</a:t>
            </a:r>
          </a:p>
          <a:p>
            <a:pPr lvl="2"/>
            <a:r>
              <a:rPr lang="en-US" dirty="0"/>
              <a:t>Sub-bullet</a:t>
            </a:r>
          </a:p>
        </p:txBody>
      </p:sp>
    </p:spTree>
    <p:extLst>
      <p:ext uri="{BB962C8B-B14F-4D97-AF65-F5344CB8AC3E}">
        <p14:creationId xmlns:p14="http://schemas.microsoft.com/office/powerpoint/2010/main" val="76872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D98262E-4D58-4CDA-9D0A-FFD940FA7A1D}" type="datetimeFigureOut">
              <a:rPr lang="en-US" smtClean="0"/>
              <a:pPr/>
              <a:t>2/25/25</a:t>
            </a:fld>
            <a:endParaRPr lang="en-GB"/>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68C28E-9F7C-4A8B-A8C0-9C7EC621606A}"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ophie.nixon@manchester.ac.uk"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2.xml"/><Relationship Id="rId4" Type="http://schemas.openxmlformats.org/officeDocument/2006/relationships/image" Target="../media/image4.webp"/></Relationships>
</file>

<file path=ppt/slides/_rels/slide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tiff"/></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www.sciencemag.org/content/311/5757/81/F1.large.jp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www.google.co.uk/url?sa=i&amp;rct=j&amp;q=&amp;esrc=s&amp;frm=1&amp;source=images&amp;cd=&amp;cad=rja&amp;docid=Lt-ejdj5W-kyQM&amp;tbnid=cZ4yvtMb4f1wxM:&amp;ved=0CAUQjRw&amp;url=http://catherinehulshof.wordpress.com/2013/08/21/acg-research-made-the-cover-2/&amp;ei=OvygUou5BIuY0QW93oHoDQ&amp;bvm=bv.57155469,d.ZG4&amp;psig=AFQjCNHGv86mQMyn6DMMRWflyAv4LrY4IQ&amp;ust=1386368414198214" TargetMode="Externa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hyperlink" Target="http://www.google.co.uk/url?sa=i&amp;rct=j&amp;q=&amp;esrc=s&amp;frm=1&amp;source=images&amp;cd=&amp;cad=rja&amp;docid=ih7vBhinPzRDiM&amp;tbnid=ltnveQ1gY-oWKM:&amp;ved=0CAUQjRw&amp;url=http://www.nature.com/nbt/journal/v24/n11/fig_tab/nbt1251_F3.html&amp;ei=J_2gUr_eNsqk0AXrl4HoDg&amp;bvm=bv.57155469,d.ZG4&amp;psig=AFQjCNHGv86mQMyn6DMMRWflyAv4LrY4IQ&amp;ust=138636841419821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barralab.bio.ic.ac.uk/wp-content/uploads/2010/06/BactExpt3.jpg" TargetMode="Externa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news.minnesota.publicradio.org/play/slideshow.php?feature=2005/01/31_olsond_biodiversity&amp;slide=1" TargetMode="External"/><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7.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tiff"/><Relationship Id="rId2" Type="http://schemas.openxmlformats.org/officeDocument/2006/relationships/hyperlink" Target="mailto:david.johnson-2@Manchester.ac.uk"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tif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3.tif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emf"/><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jpeg"/><Relationship Id="rId4" Type="http://schemas.openxmlformats.org/officeDocument/2006/relationships/image" Target="../media/image61.png"/></Relationships>
</file>

<file path=ppt/slides/_rels/slide46.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jpeg"/><Relationship Id="rId1" Type="http://schemas.openxmlformats.org/officeDocument/2006/relationships/slideLayout" Target="../slideLayouts/slideLayout2.xml"/><Relationship Id="rId5" Type="http://schemas.openxmlformats.org/officeDocument/2006/relationships/image" Target="../media/image69.gif"/><Relationship Id="rId4" Type="http://schemas.openxmlformats.org/officeDocument/2006/relationships/image" Target="../media/image68.emf"/></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1.tif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tif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6.tiff"/><Relationship Id="rId2" Type="http://schemas.openxmlformats.org/officeDocument/2006/relationships/image" Target="../media/image75.tif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cell culture&#10;&#10;AI-generated content may be incorrect.">
            <a:extLst>
              <a:ext uri="{FF2B5EF4-FFF2-40B4-BE49-F238E27FC236}">
                <a16:creationId xmlns:a16="http://schemas.microsoft.com/office/drawing/2014/main" id="{745C8444-C1CC-B882-FCD6-D06EF1021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6990" y="807142"/>
            <a:ext cx="5070020" cy="3984279"/>
          </a:xfrm>
          <a:prstGeom prst="rect">
            <a:avLst/>
          </a:prstGeom>
        </p:spPr>
      </p:pic>
      <p:sp>
        <p:nvSpPr>
          <p:cNvPr id="2" name="Title 1">
            <a:extLst>
              <a:ext uri="{FF2B5EF4-FFF2-40B4-BE49-F238E27FC236}">
                <a16:creationId xmlns:a16="http://schemas.microsoft.com/office/drawing/2014/main" id="{B525BBE0-DEF1-6E44-97B3-618D56C291DC}"/>
              </a:ext>
            </a:extLst>
          </p:cNvPr>
          <p:cNvSpPr>
            <a:spLocks noGrp="1"/>
          </p:cNvSpPr>
          <p:nvPr>
            <p:ph type="ctrTitle"/>
          </p:nvPr>
        </p:nvSpPr>
        <p:spPr>
          <a:xfrm>
            <a:off x="66675" y="41510"/>
            <a:ext cx="6419850" cy="689195"/>
          </a:xfrm>
        </p:spPr>
        <p:txBody>
          <a:bodyPr>
            <a:noAutofit/>
          </a:bodyPr>
          <a:lstStyle/>
          <a:p>
            <a:pPr algn="l"/>
            <a:r>
              <a:rPr lang="en-GB" sz="2400" b="1" dirty="0">
                <a:solidFill>
                  <a:srgbClr val="C00000"/>
                </a:solidFill>
                <a:latin typeface="Arial" panose="020B0604020202020204" pitchFamily="34" charset="0"/>
                <a:cs typeface="Arial" panose="020B0604020202020204" pitchFamily="34" charset="0"/>
              </a:rPr>
              <a:t>Biodiversity and Ecosystem Functioning</a:t>
            </a:r>
            <a:br>
              <a:rPr lang="en-GB" sz="2400" b="1" dirty="0">
                <a:solidFill>
                  <a:srgbClr val="C00000"/>
                </a:solidFill>
                <a:latin typeface="Arial" panose="020B0604020202020204" pitchFamily="34" charset="0"/>
                <a:cs typeface="Arial" panose="020B0604020202020204" pitchFamily="34" charset="0"/>
              </a:rPr>
            </a:br>
            <a:r>
              <a:rPr lang="en-GB" sz="2100" i="1" dirty="0">
                <a:solidFill>
                  <a:srgbClr val="C00000"/>
                </a:solidFill>
                <a:latin typeface="Arial" panose="020B0604020202020204" pitchFamily="34" charset="0"/>
                <a:cs typeface="Arial" panose="020B0604020202020204" pitchFamily="34" charset="0"/>
              </a:rPr>
              <a:t>….and the capture of resources</a:t>
            </a:r>
            <a:endParaRPr lang="en-GB" sz="2400" i="1"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53C71B0-E228-5748-A274-244EA0104F01}"/>
              </a:ext>
            </a:extLst>
          </p:cNvPr>
          <p:cNvSpPr>
            <a:spLocks noGrp="1"/>
          </p:cNvSpPr>
          <p:nvPr>
            <p:ph type="subTitle" idx="1"/>
          </p:nvPr>
        </p:nvSpPr>
        <p:spPr>
          <a:xfrm>
            <a:off x="66675" y="4562494"/>
            <a:ext cx="5925312" cy="539496"/>
          </a:xfrm>
        </p:spPr>
        <p:txBody>
          <a:bodyPr>
            <a:normAutofit lnSpcReduction="10000"/>
          </a:bodyPr>
          <a:lstStyle/>
          <a:p>
            <a:pPr algn="l"/>
            <a:r>
              <a:rPr lang="en-GB" sz="1600" dirty="0">
                <a:latin typeface="Arial" panose="020B0604020202020204" pitchFamily="34" charset="0"/>
                <a:cs typeface="Arial" panose="020B0604020202020204" pitchFamily="34" charset="0"/>
              </a:rPr>
              <a:t>Prof Sophie Nixon</a:t>
            </a:r>
          </a:p>
          <a:p>
            <a:pPr algn="l"/>
            <a:r>
              <a:rPr lang="en-GB" sz="1300" dirty="0">
                <a:latin typeface="Arial" panose="020B0604020202020204" pitchFamily="34" charset="0"/>
                <a:cs typeface="Arial" panose="020B0604020202020204" pitchFamily="34" charset="0"/>
                <a:hlinkClick r:id="rId3"/>
              </a:rPr>
              <a:t>sophie.nixon@manchester.ac.uk</a:t>
            </a:r>
            <a:r>
              <a:rPr lang="en-GB" sz="1300" dirty="0">
                <a:latin typeface="Arial" panose="020B0604020202020204" pitchFamily="34" charset="0"/>
                <a:cs typeface="Arial" panose="020B0604020202020204" pitchFamily="34" charset="0"/>
              </a:rPr>
              <a:t>; John Garside Building</a:t>
            </a:r>
          </a:p>
          <a:p>
            <a:pPr algn="l"/>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045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9AC79-2984-6B42-AF3E-A273F81116F6}"/>
              </a:ext>
            </a:extLst>
          </p:cNvPr>
          <p:cNvSpPr>
            <a:spLocks noGrp="1"/>
          </p:cNvSpPr>
          <p:nvPr>
            <p:ph type="title"/>
          </p:nvPr>
        </p:nvSpPr>
        <p:spPr>
          <a:xfrm>
            <a:off x="457200" y="205979"/>
            <a:ext cx="8229600" cy="390014"/>
          </a:xfrm>
        </p:spPr>
        <p:txBody>
          <a:bodyPr>
            <a:normAutofit fontScale="90000"/>
          </a:bodyPr>
          <a:lstStyle/>
          <a:p>
            <a:r>
              <a:rPr lang="en-US" sz="3200" b="1" dirty="0">
                <a:solidFill>
                  <a:srgbClr val="C00000"/>
                </a:solidFill>
                <a:latin typeface="Arial" panose="020B0604020202020204" pitchFamily="34" charset="0"/>
                <a:cs typeface="Arial" panose="020B0604020202020204" pitchFamily="34" charset="0"/>
              </a:rPr>
              <a:t>Life </a:t>
            </a:r>
            <a:r>
              <a:rPr lang="en-US" sz="3200" b="1" i="1" dirty="0">
                <a:solidFill>
                  <a:srgbClr val="C00000"/>
                </a:solidFill>
                <a:latin typeface="Arial" panose="020B0604020202020204" pitchFamily="34" charset="0"/>
                <a:cs typeface="Arial" panose="020B0604020202020204" pitchFamily="34" charset="0"/>
              </a:rPr>
              <a:t>on</a:t>
            </a:r>
            <a:r>
              <a:rPr lang="en-US" sz="3200" b="1" dirty="0">
                <a:solidFill>
                  <a:srgbClr val="C00000"/>
                </a:solidFill>
                <a:latin typeface="Arial" panose="020B0604020202020204" pitchFamily="34" charset="0"/>
                <a:cs typeface="Arial" panose="020B0604020202020204" pitchFamily="34" charset="0"/>
              </a:rPr>
              <a:t> Earth</a:t>
            </a:r>
          </a:p>
        </p:txBody>
      </p:sp>
      <p:grpSp>
        <p:nvGrpSpPr>
          <p:cNvPr id="3" name="Group 2">
            <a:extLst>
              <a:ext uri="{FF2B5EF4-FFF2-40B4-BE49-F238E27FC236}">
                <a16:creationId xmlns:a16="http://schemas.microsoft.com/office/drawing/2014/main" id="{FE6C8C7B-C174-F985-0F3A-6C24507A5BF1}"/>
              </a:ext>
            </a:extLst>
          </p:cNvPr>
          <p:cNvGrpSpPr>
            <a:grpSpLocks noChangeAspect="1"/>
          </p:cNvGrpSpPr>
          <p:nvPr/>
        </p:nvGrpSpPr>
        <p:grpSpPr>
          <a:xfrm>
            <a:off x="317399" y="1086573"/>
            <a:ext cx="6510960" cy="2628000"/>
            <a:chOff x="742954" y="1051417"/>
            <a:chExt cx="7906169" cy="3191145"/>
          </a:xfrm>
        </p:grpSpPr>
        <p:pic>
          <p:nvPicPr>
            <p:cNvPr id="4" name="Picture 3">
              <a:extLst>
                <a:ext uri="{FF2B5EF4-FFF2-40B4-BE49-F238E27FC236}">
                  <a16:creationId xmlns:a16="http://schemas.microsoft.com/office/drawing/2014/main" id="{F1E50809-9C23-2C4B-9D9B-A9F820EEE2F4}"/>
                </a:ext>
              </a:extLst>
            </p:cNvPr>
            <p:cNvPicPr>
              <a:picLocks noChangeAspect="1"/>
            </p:cNvPicPr>
            <p:nvPr/>
          </p:nvPicPr>
          <p:blipFill>
            <a:blip r:embed="rId2"/>
            <a:stretch>
              <a:fillRect/>
            </a:stretch>
          </p:blipFill>
          <p:spPr>
            <a:xfrm>
              <a:off x="742954" y="1051417"/>
              <a:ext cx="2289300" cy="3191145"/>
            </a:xfrm>
            <a:prstGeom prst="rect">
              <a:avLst/>
            </a:prstGeom>
          </p:spPr>
        </p:pic>
        <p:pic>
          <p:nvPicPr>
            <p:cNvPr id="5" name="Picture 4">
              <a:extLst>
                <a:ext uri="{FF2B5EF4-FFF2-40B4-BE49-F238E27FC236}">
                  <a16:creationId xmlns:a16="http://schemas.microsoft.com/office/drawing/2014/main" id="{D0762178-9D41-E84C-8751-9E83BC008F90}"/>
                </a:ext>
              </a:extLst>
            </p:cNvPr>
            <p:cNvPicPr>
              <a:picLocks noChangeAspect="1"/>
            </p:cNvPicPr>
            <p:nvPr/>
          </p:nvPicPr>
          <p:blipFill>
            <a:blip r:embed="rId3"/>
            <a:stretch>
              <a:fillRect/>
            </a:stretch>
          </p:blipFill>
          <p:spPr>
            <a:xfrm>
              <a:off x="3091227" y="1059581"/>
              <a:ext cx="5557896" cy="3168000"/>
            </a:xfrm>
            <a:prstGeom prst="rect">
              <a:avLst/>
            </a:prstGeom>
          </p:spPr>
        </p:pic>
      </p:grpSp>
      <p:pic>
        <p:nvPicPr>
          <p:cNvPr id="7" name="Picture 6" descr="A poster showing a diagram of a mattress&#10;&#10;AI-generated content may be incorrect.">
            <a:extLst>
              <a:ext uri="{FF2B5EF4-FFF2-40B4-BE49-F238E27FC236}">
                <a16:creationId xmlns:a16="http://schemas.microsoft.com/office/drawing/2014/main" id="{CFED2C7B-2617-12DB-EEFA-E8B336FEF2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65549" y="0"/>
            <a:ext cx="1671777" cy="5143500"/>
          </a:xfrm>
          <a:prstGeom prst="rect">
            <a:avLst/>
          </a:prstGeom>
        </p:spPr>
      </p:pic>
    </p:spTree>
    <p:extLst>
      <p:ext uri="{BB962C8B-B14F-4D97-AF65-F5344CB8AC3E}">
        <p14:creationId xmlns:p14="http://schemas.microsoft.com/office/powerpoint/2010/main" val="3702415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BBA157-6862-0D47-98B7-5C8B775CEA46}"/>
              </a:ext>
            </a:extLst>
          </p:cNvPr>
          <p:cNvPicPr>
            <a:picLocks noChangeAspect="1"/>
          </p:cNvPicPr>
          <p:nvPr/>
        </p:nvPicPr>
        <p:blipFill>
          <a:blip r:embed="rId3"/>
          <a:stretch>
            <a:fillRect/>
          </a:stretch>
        </p:blipFill>
        <p:spPr>
          <a:xfrm>
            <a:off x="4641681" y="888579"/>
            <a:ext cx="2052837" cy="2890394"/>
          </a:xfrm>
          <a:prstGeom prst="rect">
            <a:avLst/>
          </a:prstGeom>
          <a:ln>
            <a:solidFill>
              <a:srgbClr val="748636"/>
            </a:solidFill>
          </a:ln>
        </p:spPr>
      </p:pic>
      <p:pic>
        <p:nvPicPr>
          <p:cNvPr id="6" name="Picture 5">
            <a:extLst>
              <a:ext uri="{FF2B5EF4-FFF2-40B4-BE49-F238E27FC236}">
                <a16:creationId xmlns:a16="http://schemas.microsoft.com/office/drawing/2014/main" id="{B5C85F79-2492-784B-9E26-A5165C2FC4B8}"/>
              </a:ext>
            </a:extLst>
          </p:cNvPr>
          <p:cNvPicPr>
            <a:picLocks noChangeAspect="1"/>
          </p:cNvPicPr>
          <p:nvPr/>
        </p:nvPicPr>
        <p:blipFill>
          <a:blip r:embed="rId4"/>
          <a:stretch>
            <a:fillRect/>
          </a:stretch>
        </p:blipFill>
        <p:spPr>
          <a:xfrm>
            <a:off x="2461818" y="875923"/>
            <a:ext cx="2052838" cy="2902954"/>
          </a:xfrm>
          <a:prstGeom prst="rect">
            <a:avLst/>
          </a:prstGeom>
        </p:spPr>
      </p:pic>
      <p:sp>
        <p:nvSpPr>
          <p:cNvPr id="8" name="Rectangle 7">
            <a:extLst>
              <a:ext uri="{FF2B5EF4-FFF2-40B4-BE49-F238E27FC236}">
                <a16:creationId xmlns:a16="http://schemas.microsoft.com/office/drawing/2014/main" id="{189F1600-D751-E143-B4FE-8B88980689CA}"/>
              </a:ext>
            </a:extLst>
          </p:cNvPr>
          <p:cNvSpPr/>
          <p:nvPr/>
        </p:nvSpPr>
        <p:spPr>
          <a:xfrm>
            <a:off x="2327980" y="3917620"/>
            <a:ext cx="4469465" cy="1131079"/>
          </a:xfrm>
          <a:prstGeom prst="rect">
            <a:avLst/>
          </a:prstGeom>
        </p:spPr>
        <p:txBody>
          <a:bodyPr wrap="square">
            <a:spAutoFit/>
          </a:bodyPr>
          <a:lstStyle/>
          <a:p>
            <a:r>
              <a:rPr lang="en-GB" sz="1350" i="1" dirty="0">
                <a:latin typeface="Arial" panose="020B0604020202020204" pitchFamily="34" charset="0"/>
                <a:cs typeface="Arial" panose="020B0604020202020204" pitchFamily="34" charset="0"/>
              </a:rPr>
              <a:t>“Essentially, </a:t>
            </a:r>
            <a:r>
              <a:rPr lang="en-GB" sz="1350" b="1" i="1" dirty="0">
                <a:latin typeface="Arial" panose="020B0604020202020204" pitchFamily="34" charset="0"/>
                <a:cs typeface="Arial" panose="020B0604020202020204" pitchFamily="34" charset="0"/>
              </a:rPr>
              <a:t>all life depends on the soil </a:t>
            </a:r>
            <a:r>
              <a:rPr lang="en-GB" sz="1350" i="1" dirty="0">
                <a:latin typeface="Arial" panose="020B0604020202020204" pitchFamily="34" charset="0"/>
                <a:cs typeface="Arial" panose="020B0604020202020204" pitchFamily="34" charset="0"/>
              </a:rPr>
              <a:t>... There can be no life without soil and no soil without life; they have evolved together.”</a:t>
            </a:r>
          </a:p>
          <a:p>
            <a:endParaRPr lang="en-GB" sz="1350" i="1" dirty="0">
              <a:latin typeface="Arial" panose="020B0604020202020204" pitchFamily="34" charset="0"/>
              <a:cs typeface="Arial" panose="020B0604020202020204" pitchFamily="34" charset="0"/>
            </a:endParaRPr>
          </a:p>
          <a:p>
            <a:r>
              <a:rPr lang="en-GB" sz="1200" dirty="0">
                <a:latin typeface="Arial" panose="020B0604020202020204" pitchFamily="34" charset="0"/>
                <a:cs typeface="Arial" panose="020B0604020202020204" pitchFamily="34" charset="0"/>
              </a:rPr>
              <a:t>Charles E. Kellogg, USDA Yearbook of Agriculture, 1938</a:t>
            </a:r>
            <a:endParaRPr lang="en-US" sz="1200" dirty="0">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7183C024-59BE-9FFE-22E5-7EF2B1F1EAFA}"/>
              </a:ext>
            </a:extLst>
          </p:cNvPr>
          <p:cNvSpPr txBox="1">
            <a:spLocks/>
          </p:cNvSpPr>
          <p:nvPr/>
        </p:nvSpPr>
        <p:spPr>
          <a:xfrm>
            <a:off x="457200" y="205979"/>
            <a:ext cx="8229600" cy="390014"/>
          </a:xfrm>
          <a:prstGeom prst="rect">
            <a:avLst/>
          </a:prstGeom>
        </p:spPr>
        <p:txBody>
          <a:bodyPr vert="horz" lIns="91440" tIns="45720" rIns="91440" bIns="45720" rtlCol="0" anchor="ctr">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But what about life </a:t>
            </a:r>
            <a:r>
              <a:rPr lang="en-US" sz="3200" b="1" i="1" dirty="0">
                <a:solidFill>
                  <a:srgbClr val="C00000"/>
                </a:solidFill>
                <a:latin typeface="Arial" panose="020B0604020202020204" pitchFamily="34" charset="0"/>
                <a:cs typeface="Arial" panose="020B0604020202020204" pitchFamily="34" charset="0"/>
              </a:rPr>
              <a:t>in</a:t>
            </a:r>
            <a:r>
              <a:rPr lang="en-US" sz="3200" b="1" dirty="0">
                <a:solidFill>
                  <a:srgbClr val="C00000"/>
                </a:solidFill>
                <a:latin typeface="Arial" panose="020B0604020202020204" pitchFamily="34" charset="0"/>
                <a:cs typeface="Arial" panose="020B0604020202020204" pitchFamily="34" charset="0"/>
              </a:rPr>
              <a:t> Earth?</a:t>
            </a:r>
          </a:p>
        </p:txBody>
      </p:sp>
      <p:grpSp>
        <p:nvGrpSpPr>
          <p:cNvPr id="10" name="Group 9">
            <a:extLst>
              <a:ext uri="{FF2B5EF4-FFF2-40B4-BE49-F238E27FC236}">
                <a16:creationId xmlns:a16="http://schemas.microsoft.com/office/drawing/2014/main" id="{7EA17718-6287-6B0A-BFDD-BBA55B6931D2}"/>
              </a:ext>
            </a:extLst>
          </p:cNvPr>
          <p:cNvGrpSpPr/>
          <p:nvPr/>
        </p:nvGrpSpPr>
        <p:grpSpPr>
          <a:xfrm>
            <a:off x="6258386" y="4483159"/>
            <a:ext cx="539059" cy="619149"/>
            <a:chOff x="4010240" y="4446875"/>
            <a:chExt cx="539059" cy="619149"/>
          </a:xfrm>
        </p:grpSpPr>
        <p:pic>
          <p:nvPicPr>
            <p:cNvPr id="1026" name="Picture 2" descr="Kellogg's Corn Flakes | Kellogg's">
              <a:extLst>
                <a:ext uri="{FF2B5EF4-FFF2-40B4-BE49-F238E27FC236}">
                  <a16:creationId xmlns:a16="http://schemas.microsoft.com/office/drawing/2014/main" id="{6B99C889-5EF9-C826-6579-D5D4D597CF1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026" t="1650" r="19210" b="1764"/>
            <a:stretch/>
          </p:blipFill>
          <p:spPr bwMode="auto">
            <a:xfrm>
              <a:off x="4081807" y="4446875"/>
              <a:ext cx="395926" cy="619149"/>
            </a:xfrm>
            <a:prstGeom prst="rect">
              <a:avLst/>
            </a:prstGeom>
            <a:noFill/>
            <a:extLst>
              <a:ext uri="{909E8E84-426E-40DD-AFC4-6F175D3DCCD1}">
                <a14:hiddenFill xmlns:a14="http://schemas.microsoft.com/office/drawing/2010/main">
                  <a:solidFill>
                    <a:srgbClr val="FFFFFF"/>
                  </a:solidFill>
                </a14:hiddenFill>
              </a:ext>
            </a:extLst>
          </p:spPr>
        </p:pic>
        <p:sp>
          <p:nvSpPr>
            <p:cNvPr id="9" name="Cross 8">
              <a:extLst>
                <a:ext uri="{FF2B5EF4-FFF2-40B4-BE49-F238E27FC236}">
                  <a16:creationId xmlns:a16="http://schemas.microsoft.com/office/drawing/2014/main" id="{A967BDD4-6FA1-15AC-E60B-35DDCB8A0984}"/>
                </a:ext>
              </a:extLst>
            </p:cNvPr>
            <p:cNvSpPr>
              <a:spLocks noChangeAspect="1"/>
            </p:cNvSpPr>
            <p:nvPr/>
          </p:nvSpPr>
          <p:spPr>
            <a:xfrm rot="18983803">
              <a:off x="4010240" y="4492101"/>
              <a:ext cx="539059" cy="540000"/>
            </a:xfrm>
            <a:prstGeom prst="plus">
              <a:avLst>
                <a:gd name="adj" fmla="val 42857"/>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43414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90A4EC-F237-B249-96A5-FF2A3F2D95AB}"/>
              </a:ext>
            </a:extLst>
          </p:cNvPr>
          <p:cNvPicPr>
            <a:picLocks noChangeAspect="1"/>
          </p:cNvPicPr>
          <p:nvPr/>
        </p:nvPicPr>
        <p:blipFill>
          <a:blip r:embed="rId2"/>
          <a:stretch>
            <a:fillRect/>
          </a:stretch>
        </p:blipFill>
        <p:spPr>
          <a:xfrm>
            <a:off x="1277636" y="735546"/>
            <a:ext cx="2932145" cy="2565627"/>
          </a:xfrm>
          <a:prstGeom prst="rect">
            <a:avLst/>
          </a:prstGeom>
        </p:spPr>
      </p:pic>
      <p:pic>
        <p:nvPicPr>
          <p:cNvPr id="4097" name="Picture 1" descr="page8image3463354736">
            <a:extLst>
              <a:ext uri="{FF2B5EF4-FFF2-40B4-BE49-F238E27FC236}">
                <a16:creationId xmlns:a16="http://schemas.microsoft.com/office/drawing/2014/main" id="{9E7EE9B6-6990-A748-9A16-E535E0730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068" y="1167596"/>
            <a:ext cx="1285876" cy="127413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51A35F2-9071-7141-9D82-3F018EC18D9F}"/>
              </a:ext>
            </a:extLst>
          </p:cNvPr>
          <p:cNvSpPr/>
          <p:nvPr/>
        </p:nvSpPr>
        <p:spPr>
          <a:xfrm>
            <a:off x="4844846" y="2617818"/>
            <a:ext cx="2402181" cy="715837"/>
          </a:xfrm>
          <a:prstGeom prst="rect">
            <a:avLst/>
          </a:prstGeom>
        </p:spPr>
        <p:txBody>
          <a:bodyPr wrap="square">
            <a:spAutoFit/>
          </a:bodyPr>
          <a:lstStyle/>
          <a:p>
            <a:r>
              <a:rPr lang="en-GB" sz="1013" b="1" dirty="0">
                <a:solidFill>
                  <a:srgbClr val="0C233D"/>
                </a:solidFill>
                <a:latin typeface="Arial" panose="020B0604020202020204" pitchFamily="34" charset="0"/>
              </a:rPr>
              <a:t>The </a:t>
            </a:r>
            <a:r>
              <a:rPr lang="en-GB" sz="1013" b="1" dirty="0" err="1">
                <a:solidFill>
                  <a:srgbClr val="0C233D"/>
                </a:solidFill>
                <a:latin typeface="Arial" panose="020B0604020202020204" pitchFamily="34" charset="0"/>
              </a:rPr>
              <a:t>Rt</a:t>
            </a:r>
            <a:r>
              <a:rPr lang="en-GB" sz="1013" b="1" dirty="0">
                <a:solidFill>
                  <a:srgbClr val="0C233D"/>
                </a:solidFill>
                <a:latin typeface="Arial" panose="020B0604020202020204" pitchFamily="34" charset="0"/>
              </a:rPr>
              <a:t> Hon Michael Gove MP </a:t>
            </a:r>
            <a:endParaRPr lang="en-GB" sz="1013" dirty="0"/>
          </a:p>
          <a:p>
            <a:r>
              <a:rPr lang="en-GB" sz="1013" b="1" dirty="0">
                <a:solidFill>
                  <a:srgbClr val="0C233D"/>
                </a:solidFill>
                <a:latin typeface="Arial" panose="020B0604020202020204" pitchFamily="34" charset="0"/>
              </a:rPr>
              <a:t>Former Secretary of State for Environment, Food and Rural Affairs </a:t>
            </a:r>
            <a:endParaRPr lang="en-GB" sz="1013" dirty="0"/>
          </a:p>
        </p:txBody>
      </p:sp>
      <p:sp>
        <p:nvSpPr>
          <p:cNvPr id="10" name="Rectangle 9">
            <a:extLst>
              <a:ext uri="{FF2B5EF4-FFF2-40B4-BE49-F238E27FC236}">
                <a16:creationId xmlns:a16="http://schemas.microsoft.com/office/drawing/2014/main" id="{BC36EE5B-BC29-4842-B675-78488070A184}"/>
              </a:ext>
            </a:extLst>
          </p:cNvPr>
          <p:cNvSpPr/>
          <p:nvPr/>
        </p:nvSpPr>
        <p:spPr>
          <a:xfrm>
            <a:off x="2249744" y="3651871"/>
            <a:ext cx="4810397" cy="1246495"/>
          </a:xfrm>
          <a:prstGeom prst="rect">
            <a:avLst/>
          </a:prstGeom>
        </p:spPr>
        <p:txBody>
          <a:bodyPr wrap="square">
            <a:spAutoFit/>
          </a:bodyPr>
          <a:lstStyle/>
          <a:p>
            <a:r>
              <a:rPr lang="en-GB" sz="1500" i="1" dirty="0">
                <a:latin typeface="ArialMT"/>
              </a:rPr>
              <a:t>“We need to replenish depleted soil, plant trees, support wetlands and peatlands, rid seas and rivers of rubbish, reduce greenhouse gas emissions, cleanse the air of pollutants, develop cleaner, sustainable energy and protect threatened species and habitats. “</a:t>
            </a:r>
            <a:endParaRPr lang="en-GB" sz="1500" i="1" dirty="0"/>
          </a:p>
        </p:txBody>
      </p:sp>
      <p:sp>
        <p:nvSpPr>
          <p:cNvPr id="3" name="TextBox 2">
            <a:extLst>
              <a:ext uri="{FF2B5EF4-FFF2-40B4-BE49-F238E27FC236}">
                <a16:creationId xmlns:a16="http://schemas.microsoft.com/office/drawing/2014/main" id="{31C8ED74-A754-DD43-A320-1FB67907A8FD}"/>
              </a:ext>
            </a:extLst>
          </p:cNvPr>
          <p:cNvSpPr txBox="1"/>
          <p:nvPr/>
        </p:nvSpPr>
        <p:spPr>
          <a:xfrm>
            <a:off x="1925706" y="87474"/>
            <a:ext cx="5410392" cy="415498"/>
          </a:xfrm>
          <a:prstGeom prst="rect">
            <a:avLst/>
          </a:prstGeom>
          <a:noFill/>
        </p:spPr>
        <p:txBody>
          <a:bodyPr wrap="none" rtlCol="0">
            <a:spAutoFit/>
          </a:bodyPr>
          <a:lstStyle/>
          <a:p>
            <a:r>
              <a:rPr lang="en-US" sz="2100" b="1" dirty="0"/>
              <a:t>Increasing political and societal interest in soils</a:t>
            </a:r>
          </a:p>
        </p:txBody>
      </p:sp>
    </p:spTree>
    <p:extLst>
      <p:ext uri="{BB962C8B-B14F-4D97-AF65-F5344CB8AC3E}">
        <p14:creationId xmlns:p14="http://schemas.microsoft.com/office/powerpoint/2010/main" val="1118716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627784" y="1024922"/>
            <a:ext cx="4104456" cy="3753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546748" y="235384"/>
            <a:ext cx="4121944" cy="907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407568" y="4736307"/>
            <a:ext cx="2887012" cy="232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4979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215628" y="132160"/>
            <a:ext cx="48262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b="1" dirty="0">
                <a:solidFill>
                  <a:srgbClr val="006600"/>
                </a:solidFill>
              </a:rPr>
              <a:t>And remember INTERACTIONS are important! </a:t>
            </a:r>
          </a:p>
          <a:p>
            <a:r>
              <a:rPr lang="en-GB" b="1" dirty="0">
                <a:solidFill>
                  <a:srgbClr val="006600"/>
                </a:solidFill>
              </a:rPr>
              <a:t>Example: Coevolution of orchid and hawk moth  </a:t>
            </a:r>
            <a:endParaRPr lang="en-US" b="1" dirty="0">
              <a:solidFill>
                <a:srgbClr val="006600"/>
              </a:solidFill>
            </a:endParaRPr>
          </a:p>
        </p:txBody>
      </p:sp>
      <p:sp>
        <p:nvSpPr>
          <p:cNvPr id="65540" name="Rectangle 4"/>
          <p:cNvSpPr>
            <a:spLocks noChangeArrowheads="1"/>
          </p:cNvSpPr>
          <p:nvPr/>
        </p:nvSpPr>
        <p:spPr bwMode="auto">
          <a:xfrm>
            <a:off x="2037160" y="4884748"/>
            <a:ext cx="17908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200" b="1" i="1" dirty="0" err="1"/>
              <a:t>Angraecum</a:t>
            </a:r>
            <a:r>
              <a:rPr lang="en-US" sz="1200" b="1" i="1" dirty="0"/>
              <a:t> </a:t>
            </a:r>
            <a:r>
              <a:rPr lang="en-US" sz="1200" b="1" i="1" dirty="0" err="1"/>
              <a:t>sesquipedale</a:t>
            </a:r>
            <a:endParaRPr lang="en-US" sz="1200" b="1" i="1" dirty="0"/>
          </a:p>
        </p:txBody>
      </p:sp>
      <p:pic>
        <p:nvPicPr>
          <p:cNvPr id="65544" name="Picture 8"/>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875237" y="779862"/>
            <a:ext cx="2359819" cy="4158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9" name="Rectangle 1"/>
          <p:cNvSpPr>
            <a:spLocks noChangeArrowheads="1"/>
          </p:cNvSpPr>
          <p:nvPr/>
        </p:nvSpPr>
        <p:spPr bwMode="auto">
          <a:xfrm>
            <a:off x="4343400" y="1092662"/>
            <a:ext cx="2590800" cy="3600986"/>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fontAlgn="base">
              <a:spcBef>
                <a:spcPct val="0"/>
              </a:spcBef>
              <a:spcAft>
                <a:spcPct val="0"/>
              </a:spcAft>
            </a:pPr>
            <a:r>
              <a:rPr lang="en-US" sz="1275" b="1" i="1" dirty="0">
                <a:latin typeface="Arial" pitchFamily="34" charset="0"/>
                <a:ea typeface="Calibri" pitchFamily="34" charset="0"/>
                <a:cs typeface="Times New Roman" pitchFamily="18" charset="0"/>
              </a:rPr>
              <a:t>"A whip-like green </a:t>
            </a:r>
            <a:r>
              <a:rPr lang="en-US" sz="1275" b="1" i="1" dirty="0" err="1">
                <a:latin typeface="Arial" pitchFamily="34" charset="0"/>
                <a:ea typeface="Calibri" pitchFamily="34" charset="0"/>
                <a:cs typeface="Times New Roman" pitchFamily="18" charset="0"/>
              </a:rPr>
              <a:t>nectary</a:t>
            </a:r>
            <a:r>
              <a:rPr lang="en-US" sz="1275" b="1" i="1" dirty="0">
                <a:latin typeface="Arial" pitchFamily="34" charset="0"/>
                <a:ea typeface="Calibri" pitchFamily="34" charset="0"/>
                <a:cs typeface="Times New Roman" pitchFamily="18" charset="0"/>
              </a:rPr>
              <a:t> of astonishing length hangs down beneath the </a:t>
            </a:r>
            <a:r>
              <a:rPr lang="en-US" sz="1275" b="1" i="1" dirty="0" err="1">
                <a:latin typeface="Arial" pitchFamily="34" charset="0"/>
                <a:ea typeface="Calibri" pitchFamily="34" charset="0"/>
                <a:cs typeface="Times New Roman" pitchFamily="18" charset="0"/>
              </a:rPr>
              <a:t>labellum</a:t>
            </a:r>
            <a:r>
              <a:rPr lang="en-US" sz="1275" b="1" i="1" dirty="0">
                <a:latin typeface="Arial" pitchFamily="34" charset="0"/>
                <a:ea typeface="Calibri" pitchFamily="34" charset="0"/>
                <a:cs typeface="Times New Roman" pitchFamily="18" charset="0"/>
              </a:rPr>
              <a:t>. In several flowers sent me by Mr. Bateman I found the </a:t>
            </a:r>
            <a:r>
              <a:rPr lang="en-US" sz="1275" b="1" i="1" u="sng" dirty="0" err="1">
                <a:latin typeface="Arial" pitchFamily="34" charset="0"/>
                <a:ea typeface="Calibri" pitchFamily="34" charset="0"/>
                <a:cs typeface="Times New Roman" pitchFamily="18" charset="0"/>
              </a:rPr>
              <a:t>nectaries</a:t>
            </a:r>
            <a:r>
              <a:rPr lang="en-US" sz="1275" b="1" i="1" u="sng" dirty="0">
                <a:latin typeface="Arial" pitchFamily="34" charset="0"/>
                <a:ea typeface="Calibri" pitchFamily="34" charset="0"/>
                <a:cs typeface="Times New Roman" pitchFamily="18" charset="0"/>
              </a:rPr>
              <a:t> eleven and a half inches long, </a:t>
            </a:r>
            <a:r>
              <a:rPr lang="en-US" sz="1275" b="1" i="1" dirty="0">
                <a:latin typeface="Arial" pitchFamily="34" charset="0"/>
                <a:ea typeface="Calibri" pitchFamily="34" charset="0"/>
                <a:cs typeface="Times New Roman" pitchFamily="18" charset="0"/>
              </a:rPr>
              <a:t>with only the lower inch and a half filled with very sweet nectar. What can be the use, it may be asked, of a nectary of such disproportional length? </a:t>
            </a:r>
          </a:p>
          <a:p>
            <a:pPr fontAlgn="base">
              <a:spcBef>
                <a:spcPct val="0"/>
              </a:spcBef>
              <a:spcAft>
                <a:spcPct val="0"/>
              </a:spcAft>
            </a:pPr>
            <a:endParaRPr lang="en-US" sz="1275" b="1" i="1" dirty="0">
              <a:latin typeface="Arial" pitchFamily="34" charset="0"/>
              <a:ea typeface="Calibri" pitchFamily="34" charset="0"/>
              <a:cs typeface="Times New Roman" pitchFamily="18" charset="0"/>
            </a:endParaRPr>
          </a:p>
          <a:p>
            <a:pPr fontAlgn="base">
              <a:spcBef>
                <a:spcPct val="0"/>
              </a:spcBef>
              <a:spcAft>
                <a:spcPct val="0"/>
              </a:spcAft>
            </a:pPr>
            <a:r>
              <a:rPr lang="en-US" sz="1275" b="1" i="1" dirty="0">
                <a:latin typeface="Arial" pitchFamily="34" charset="0"/>
                <a:ea typeface="Calibri" pitchFamily="34" charset="0"/>
                <a:cs typeface="Times New Roman" pitchFamily="18" charset="0"/>
              </a:rPr>
              <a:t>We shall, I think, see that </a:t>
            </a:r>
            <a:r>
              <a:rPr lang="en-US" sz="1275" b="1" i="1" u="sng" dirty="0">
                <a:latin typeface="Arial" pitchFamily="34" charset="0"/>
                <a:ea typeface="Calibri" pitchFamily="34" charset="0"/>
                <a:cs typeface="Times New Roman" pitchFamily="18" charset="0"/>
              </a:rPr>
              <a:t>in Madagascar there must be moths with </a:t>
            </a:r>
            <a:r>
              <a:rPr lang="en-US" sz="1275" b="1" i="1" u="sng" dirty="0" err="1">
                <a:latin typeface="Arial" pitchFamily="34" charset="0"/>
                <a:ea typeface="Calibri" pitchFamily="34" charset="0"/>
                <a:cs typeface="Times New Roman" pitchFamily="18" charset="0"/>
              </a:rPr>
              <a:t>probosces</a:t>
            </a:r>
            <a:r>
              <a:rPr lang="en-US" sz="1275" b="1" i="1" u="sng" dirty="0">
                <a:latin typeface="Arial" pitchFamily="34" charset="0"/>
                <a:ea typeface="Calibri" pitchFamily="34" charset="0"/>
                <a:cs typeface="Times New Roman" pitchFamily="18" charset="0"/>
              </a:rPr>
              <a:t> capable of extension to a length of between ten and eleven inches</a:t>
            </a:r>
            <a:r>
              <a:rPr lang="en-US" sz="1275" b="1" i="1" dirty="0">
                <a:latin typeface="Arial" pitchFamily="34" charset="0"/>
                <a:ea typeface="Calibri" pitchFamily="34" charset="0"/>
                <a:cs typeface="Times New Roman" pitchFamily="18" charset="0"/>
              </a:rPr>
              <a:t>!" </a:t>
            </a:r>
            <a:endParaRPr lang="en-US" sz="1275" dirty="0">
              <a:latin typeface="Arial" pitchFamily="34" charset="0"/>
              <a:cs typeface="Arial" pitchFamily="34" charset="0"/>
            </a:endParaRPr>
          </a:p>
        </p:txBody>
      </p:sp>
      <p:pic>
        <p:nvPicPr>
          <p:cNvPr id="8" name="Picture 9"/>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806805" y="1203722"/>
            <a:ext cx="997744" cy="318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06A45D14-1F41-4244-B68B-6184BB3CD8B7}"/>
              </a:ext>
            </a:extLst>
          </p:cNvPr>
          <p:cNvSpPr txBox="1"/>
          <p:nvPr/>
        </p:nvSpPr>
        <p:spPr>
          <a:xfrm>
            <a:off x="4362450" y="857250"/>
            <a:ext cx="1751890" cy="300082"/>
          </a:xfrm>
          <a:prstGeom prst="rect">
            <a:avLst/>
          </a:prstGeom>
          <a:noFill/>
        </p:spPr>
        <p:txBody>
          <a:bodyPr wrap="none" rtlCol="0">
            <a:spAutoFit/>
          </a:bodyPr>
          <a:lstStyle/>
          <a:p>
            <a:r>
              <a:rPr lang="en-GB" sz="1350" dirty="0"/>
              <a:t>Charles Darwin wrote:</a:t>
            </a:r>
          </a:p>
        </p:txBody>
      </p:sp>
    </p:spTree>
    <p:extLst>
      <p:ext uri="{BB962C8B-B14F-4D97-AF65-F5344CB8AC3E}">
        <p14:creationId xmlns:p14="http://schemas.microsoft.com/office/powerpoint/2010/main" val="239443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6" name="Rectangle 8"/>
          <p:cNvSpPr>
            <a:spLocks noChangeArrowheads="1"/>
          </p:cNvSpPr>
          <p:nvPr/>
        </p:nvSpPr>
        <p:spPr bwMode="auto">
          <a:xfrm>
            <a:off x="1143000" y="0"/>
            <a:ext cx="6858000" cy="51435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350"/>
          </a:p>
        </p:txBody>
      </p:sp>
      <p:sp>
        <p:nvSpPr>
          <p:cNvPr id="78857" name="Text Box 9"/>
          <p:cNvSpPr txBox="1">
            <a:spLocks noChangeArrowheads="1"/>
          </p:cNvSpPr>
          <p:nvPr/>
        </p:nvSpPr>
        <p:spPr bwMode="auto">
          <a:xfrm>
            <a:off x="4766074" y="704850"/>
            <a:ext cx="269535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sz="3000" b="1" dirty="0">
                <a:solidFill>
                  <a:schemeClr val="bg1"/>
                </a:solidFill>
              </a:rPr>
              <a:t>40 years later… </a:t>
            </a:r>
            <a:endParaRPr lang="en-US" sz="3000" b="1" dirty="0">
              <a:solidFill>
                <a:schemeClr val="bg1"/>
              </a:solidFill>
            </a:endParaRPr>
          </a:p>
        </p:txBody>
      </p:sp>
      <p:pic>
        <p:nvPicPr>
          <p:cNvPr id="78854" name="Picture 6"/>
          <p:cNvPicPr>
            <a:picLocks noChangeAspect="1" noChangeArrowheads="1"/>
          </p:cNvPicPr>
          <p:nvPr/>
        </p:nvPicPr>
        <p:blipFill>
          <a:blip r:embed="rId2" cstate="email">
            <a:extLst>
              <a:ext uri="{28A0092B-C50C-407E-A947-70E740481C1C}">
                <a14:useLocalDpi xmlns:a14="http://schemas.microsoft.com/office/drawing/2010/main"/>
              </a:ext>
            </a:extLst>
          </a:blip>
          <a:srcRect l="1729" t="32053" b="2826"/>
          <a:stretch>
            <a:fillRect/>
          </a:stretch>
        </p:blipFill>
        <p:spPr bwMode="auto">
          <a:xfrm>
            <a:off x="1638300" y="600075"/>
            <a:ext cx="2902136" cy="416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a:spLocks noChangeArrowheads="1"/>
          </p:cNvSpPr>
          <p:nvPr/>
        </p:nvSpPr>
        <p:spPr bwMode="auto">
          <a:xfrm>
            <a:off x="4667250" y="1928695"/>
            <a:ext cx="30861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b="1" i="1" dirty="0" err="1">
                <a:solidFill>
                  <a:schemeClr val="bg1">
                    <a:lumMod val="95000"/>
                  </a:schemeClr>
                </a:solidFill>
              </a:rPr>
              <a:t>Xanthopan</a:t>
            </a:r>
            <a:r>
              <a:rPr lang="en-US" b="1" i="1" dirty="0">
                <a:solidFill>
                  <a:schemeClr val="bg1">
                    <a:lumMod val="95000"/>
                  </a:schemeClr>
                </a:solidFill>
              </a:rPr>
              <a:t> </a:t>
            </a:r>
            <a:r>
              <a:rPr lang="en-US" b="1" i="1" dirty="0" err="1">
                <a:solidFill>
                  <a:schemeClr val="bg1">
                    <a:lumMod val="95000"/>
                  </a:schemeClr>
                </a:solidFill>
              </a:rPr>
              <a:t>morgani</a:t>
            </a:r>
            <a:r>
              <a:rPr lang="en-US" b="1" i="1" dirty="0">
                <a:solidFill>
                  <a:schemeClr val="bg1">
                    <a:lumMod val="95000"/>
                  </a:schemeClr>
                </a:solidFill>
              </a:rPr>
              <a:t> </a:t>
            </a:r>
            <a:r>
              <a:rPr lang="en-US" b="1" i="1" dirty="0" err="1">
                <a:solidFill>
                  <a:schemeClr val="bg1">
                    <a:lumMod val="95000"/>
                  </a:schemeClr>
                </a:solidFill>
              </a:rPr>
              <a:t>praedicta</a:t>
            </a:r>
            <a:r>
              <a:rPr lang="en-US" i="1" dirty="0">
                <a:solidFill>
                  <a:schemeClr val="bg1">
                    <a:lumMod val="95000"/>
                  </a:schemeClr>
                </a:solidFill>
              </a:rPr>
              <a:t> </a:t>
            </a:r>
          </a:p>
        </p:txBody>
      </p:sp>
    </p:spTree>
    <p:extLst>
      <p:ext uri="{BB962C8B-B14F-4D97-AF65-F5344CB8AC3E}">
        <p14:creationId xmlns:p14="http://schemas.microsoft.com/office/powerpoint/2010/main" val="4128786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88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AutoShape 2" descr="  Fig. 1. ">
            <a:hlinkClick r:id="rId2"/>
          </p:cNvPr>
          <p:cNvSpPr>
            <a:spLocks noChangeAspect="1" noChangeArrowheads="1"/>
          </p:cNvSpPr>
          <p:nvPr/>
        </p:nvSpPr>
        <p:spPr bwMode="auto">
          <a:xfrm>
            <a:off x="1259681" y="-108347"/>
            <a:ext cx="228600" cy="228601"/>
          </a:xfrm>
          <a:prstGeom prst="rect">
            <a:avLst/>
          </a:prstGeom>
          <a:noFill/>
        </p:spPr>
        <p:txBody>
          <a:bodyPr vert="horz" wrap="square" lIns="68580" tIns="34290" rIns="68580" bIns="34290" numCol="1" anchor="t" anchorCtr="0" compatLnSpc="1">
            <a:prstTxWarp prst="textNoShape">
              <a:avLst/>
            </a:prstTxWarp>
          </a:bodyPr>
          <a:lstStyle/>
          <a:p>
            <a:endParaRPr lang="en-GB" sz="1350"/>
          </a:p>
        </p:txBody>
      </p:sp>
      <p:sp>
        <p:nvSpPr>
          <p:cNvPr id="74756" name="AutoShape 4" descr="https://www.sciencemag.org/content/311/5757/81/F1.large.jpg"/>
          <p:cNvSpPr>
            <a:spLocks noChangeAspect="1" noChangeArrowheads="1"/>
          </p:cNvSpPr>
          <p:nvPr/>
        </p:nvSpPr>
        <p:spPr bwMode="auto">
          <a:xfrm>
            <a:off x="1190625" y="-102394"/>
            <a:ext cx="4036219" cy="4036219"/>
          </a:xfrm>
          <a:prstGeom prst="rect">
            <a:avLst/>
          </a:prstGeom>
          <a:noFill/>
        </p:spPr>
        <p:txBody>
          <a:bodyPr vert="horz" wrap="square" lIns="68580" tIns="34290" rIns="68580" bIns="34290" numCol="1" anchor="t" anchorCtr="0" compatLnSpc="1">
            <a:prstTxWarp prst="textNoShape">
              <a:avLst/>
            </a:prstTxWarp>
          </a:bodyPr>
          <a:lstStyle/>
          <a:p>
            <a:endParaRPr lang="en-GB" sz="1350"/>
          </a:p>
        </p:txBody>
      </p:sp>
      <p:pic>
        <p:nvPicPr>
          <p:cNvPr id="74757" name="Picture 5" descr="C:\Users\soi537\Pictures\Work\ant and bacteria F1_large.jpg"/>
          <p:cNvPicPr>
            <a:picLocks noChangeAspect="1" noChangeArrowheads="1"/>
          </p:cNvPicPr>
          <p:nvPr/>
        </p:nvPicPr>
        <p:blipFill>
          <a:blip r:embed="rId3" cstate="print"/>
          <a:srcRect/>
          <a:stretch>
            <a:fillRect/>
          </a:stretch>
        </p:blipFill>
        <p:spPr bwMode="auto">
          <a:xfrm>
            <a:off x="1276350" y="866775"/>
            <a:ext cx="3727698" cy="3727698"/>
          </a:xfrm>
          <a:prstGeom prst="rect">
            <a:avLst/>
          </a:prstGeom>
          <a:noFill/>
        </p:spPr>
      </p:pic>
      <p:sp>
        <p:nvSpPr>
          <p:cNvPr id="7" name="Rectangle 6"/>
          <p:cNvSpPr/>
          <p:nvPr/>
        </p:nvSpPr>
        <p:spPr>
          <a:xfrm>
            <a:off x="5004048" y="465517"/>
            <a:ext cx="2996952" cy="4524315"/>
          </a:xfrm>
          <a:prstGeom prst="rect">
            <a:avLst/>
          </a:prstGeom>
        </p:spPr>
        <p:txBody>
          <a:bodyPr wrap="square">
            <a:spAutoFit/>
          </a:bodyPr>
          <a:lstStyle/>
          <a:p>
            <a:r>
              <a:rPr lang="en-GB" sz="1200" dirty="0"/>
              <a:t>(</a:t>
            </a:r>
            <a:r>
              <a:rPr lang="en-GB" sz="1200" b="1" dirty="0"/>
              <a:t>A</a:t>
            </a:r>
            <a:r>
              <a:rPr lang="en-GB" sz="1200" dirty="0"/>
              <a:t>) Photograph of </a:t>
            </a:r>
            <a:r>
              <a:rPr lang="en-GB" sz="1200" i="1" dirty="0" err="1"/>
              <a:t>Cyphomyrmex</a:t>
            </a:r>
            <a:r>
              <a:rPr lang="en-GB" sz="1200" i="1" dirty="0"/>
              <a:t> </a:t>
            </a:r>
            <a:r>
              <a:rPr lang="en-GB" sz="1200" i="1" dirty="0" err="1"/>
              <a:t>costatus</a:t>
            </a:r>
            <a:r>
              <a:rPr lang="en-GB" sz="1200" dirty="0"/>
              <a:t> showing the bacteria on the </a:t>
            </a:r>
            <a:r>
              <a:rPr lang="en-GB" sz="1200" dirty="0" err="1"/>
              <a:t>propleural</a:t>
            </a:r>
            <a:r>
              <a:rPr lang="en-GB" sz="1200" dirty="0"/>
              <a:t> plates. SEM of the plates in </a:t>
            </a:r>
            <a:r>
              <a:rPr lang="en-GB" sz="1200" i="1" dirty="0"/>
              <a:t>C. </a:t>
            </a:r>
            <a:r>
              <a:rPr lang="en-GB" sz="1200" i="1" dirty="0" err="1"/>
              <a:t>muelleri</a:t>
            </a:r>
            <a:r>
              <a:rPr lang="en-GB" sz="1200" dirty="0"/>
              <a:t>: The left plate is covered with bacteria (B), whereas they have been removed from the right plate, revealing the underlying fovea (C). (D) Light micrograph of a semi-thin cross section through the </a:t>
            </a:r>
            <a:r>
              <a:rPr lang="en-GB" sz="1200" dirty="0" err="1"/>
              <a:t>propleural</a:t>
            </a:r>
            <a:r>
              <a:rPr lang="en-GB" sz="1200" dirty="0"/>
              <a:t> plate of </a:t>
            </a:r>
            <a:r>
              <a:rPr lang="en-GB" sz="1200" i="1" dirty="0"/>
              <a:t>C. </a:t>
            </a:r>
            <a:r>
              <a:rPr lang="en-GB" sz="1200" i="1" dirty="0" err="1"/>
              <a:t>longiscapus</a:t>
            </a:r>
            <a:r>
              <a:rPr lang="en-GB" sz="1200" i="1" dirty="0"/>
              <a:t> </a:t>
            </a:r>
            <a:r>
              <a:rPr lang="en-GB" sz="1200" dirty="0"/>
              <a:t>showing the gland (</a:t>
            </a:r>
            <a:r>
              <a:rPr lang="en-GB" sz="1200" dirty="0" err="1"/>
              <a:t>Gl</a:t>
            </a:r>
            <a:r>
              <a:rPr lang="en-GB" sz="1200" dirty="0"/>
              <a:t>) and duct cells (black arrow) associated with the fovea and the bacterium (</a:t>
            </a:r>
            <a:r>
              <a:rPr lang="en-GB" sz="1200" dirty="0" err="1"/>
              <a:t>Fb</a:t>
            </a:r>
            <a:r>
              <a:rPr lang="en-GB" sz="1200" dirty="0"/>
              <a:t>) on the plate (Cu for cuticle). (E) Photograph of </a:t>
            </a:r>
            <a:r>
              <a:rPr lang="en-GB" sz="1200" i="1" dirty="0"/>
              <a:t>C. </a:t>
            </a:r>
            <a:r>
              <a:rPr lang="en-GB" sz="1200" i="1" dirty="0" err="1"/>
              <a:t>longiscapus</a:t>
            </a:r>
            <a:r>
              <a:rPr lang="en-GB" sz="1200" dirty="0"/>
              <a:t>, illustrating foveae openings covering most of the cuticle. (F) Sagittal semi-thin section through a </a:t>
            </a:r>
            <a:r>
              <a:rPr lang="en-GB" sz="1200" i="1" dirty="0"/>
              <a:t>C. </a:t>
            </a:r>
            <a:r>
              <a:rPr lang="en-GB" sz="1200" i="1" dirty="0" err="1"/>
              <a:t>longiscapus</a:t>
            </a:r>
            <a:r>
              <a:rPr lang="en-GB" sz="1200" dirty="0"/>
              <a:t> worker, illustrating foveae outlining nearly the entire body of the ant. (G) Light micrograph of a single fovea within the cuticle (Cu) illustrating the abundance of mutualistic bacteria (</a:t>
            </a:r>
            <a:r>
              <a:rPr lang="en-GB" sz="1200" dirty="0" err="1"/>
              <a:t>Fb</a:t>
            </a:r>
            <a:r>
              <a:rPr lang="en-GB" sz="1200" dirty="0"/>
              <a:t>) within the crypt. (H) TEM of the lower section of a fovea showing a single glandular cell (</a:t>
            </a:r>
            <a:r>
              <a:rPr lang="en-GB" sz="1200" dirty="0" err="1"/>
              <a:t>Gl</a:t>
            </a:r>
            <a:r>
              <a:rPr lang="en-GB" sz="1200" dirty="0"/>
              <a:t>) and bacteria (</a:t>
            </a:r>
            <a:r>
              <a:rPr lang="en-GB" sz="1200" dirty="0" err="1"/>
              <a:t>Fb</a:t>
            </a:r>
            <a:r>
              <a:rPr lang="en-GB" sz="1200" dirty="0"/>
              <a:t>) within the crypt. Scale bars: 50 </a:t>
            </a:r>
            <a:r>
              <a:rPr lang="en-GB" sz="1200" dirty="0" err="1"/>
              <a:t>μm</a:t>
            </a:r>
            <a:r>
              <a:rPr lang="en-GB" sz="1200" dirty="0"/>
              <a:t>(A </a:t>
            </a:r>
            <a:r>
              <a:rPr lang="en-GB" sz="1200" dirty="0" err="1"/>
              <a:t>toC</a:t>
            </a:r>
            <a:r>
              <a:rPr lang="en-GB" sz="1200" dirty="0"/>
              <a:t>), 5 </a:t>
            </a:r>
            <a:r>
              <a:rPr lang="en-GB" sz="1200" dirty="0" err="1"/>
              <a:t>μm</a:t>
            </a:r>
            <a:r>
              <a:rPr lang="en-GB" sz="1200" dirty="0"/>
              <a:t> (E and G), and 0.5 mm (F). [Photograph in (A) by A. Little]</a:t>
            </a:r>
          </a:p>
        </p:txBody>
      </p:sp>
      <p:sp>
        <p:nvSpPr>
          <p:cNvPr id="9" name="Rectangle 8"/>
          <p:cNvSpPr/>
          <p:nvPr/>
        </p:nvSpPr>
        <p:spPr>
          <a:xfrm>
            <a:off x="1247775" y="172894"/>
            <a:ext cx="2962275" cy="577081"/>
          </a:xfrm>
          <a:prstGeom prst="rect">
            <a:avLst/>
          </a:prstGeom>
        </p:spPr>
        <p:txBody>
          <a:bodyPr wrap="square">
            <a:spAutoFit/>
          </a:bodyPr>
          <a:lstStyle/>
          <a:p>
            <a:pPr lvl="0"/>
            <a:r>
              <a:rPr lang="en-US" sz="1050" dirty="0">
                <a:solidFill>
                  <a:srgbClr val="000000"/>
                </a:solidFill>
              </a:rPr>
              <a:t>Science 6 January 2006: </a:t>
            </a:r>
            <a:br>
              <a:rPr lang="en-US" sz="1050" dirty="0">
                <a:solidFill>
                  <a:srgbClr val="000000"/>
                </a:solidFill>
              </a:rPr>
            </a:br>
            <a:r>
              <a:rPr lang="en-US" sz="1050" dirty="0">
                <a:solidFill>
                  <a:srgbClr val="000000"/>
                </a:solidFill>
              </a:rPr>
              <a:t>Vol. 311 no. 5757 pp. 81-83 </a:t>
            </a:r>
            <a:br>
              <a:rPr lang="en-US" sz="1050" dirty="0">
                <a:solidFill>
                  <a:srgbClr val="000000"/>
                </a:solidFill>
              </a:rPr>
            </a:br>
            <a:r>
              <a:rPr lang="en-US" sz="1050" dirty="0">
                <a:solidFill>
                  <a:srgbClr val="000000"/>
                </a:solidFill>
              </a:rPr>
              <a:t>DOI: 10.1126/science.1119744 </a:t>
            </a:r>
          </a:p>
        </p:txBody>
      </p:sp>
    </p:spTree>
    <p:extLst>
      <p:ext uri="{BB962C8B-B14F-4D97-AF65-F5344CB8AC3E}">
        <p14:creationId xmlns:p14="http://schemas.microsoft.com/office/powerpoint/2010/main" val="1769392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E441-BE89-AB42-A12B-38BF5607B21F}"/>
              </a:ext>
            </a:extLst>
          </p:cNvPr>
          <p:cNvSpPr>
            <a:spLocks noGrp="1"/>
          </p:cNvSpPr>
          <p:nvPr>
            <p:ph type="title"/>
          </p:nvPr>
        </p:nvSpPr>
        <p:spPr/>
        <p:txBody>
          <a:bodyPr/>
          <a:lstStyle/>
          <a:p>
            <a:r>
              <a:rPr lang="en-GB" dirty="0"/>
              <a:t>The importance of biodiversity </a:t>
            </a:r>
          </a:p>
        </p:txBody>
      </p:sp>
      <p:sp>
        <p:nvSpPr>
          <p:cNvPr id="3" name="Content Placeholder 2">
            <a:extLst>
              <a:ext uri="{FF2B5EF4-FFF2-40B4-BE49-F238E27FC236}">
                <a16:creationId xmlns:a16="http://schemas.microsoft.com/office/drawing/2014/main" id="{28FDE5CA-1857-C544-B085-D35E7ED7206F}"/>
              </a:ext>
            </a:extLst>
          </p:cNvPr>
          <p:cNvSpPr>
            <a:spLocks noGrp="1"/>
          </p:cNvSpPr>
          <p:nvPr>
            <p:ph idx="1"/>
          </p:nvPr>
        </p:nvSpPr>
        <p:spPr/>
        <p:txBody>
          <a:bodyPr>
            <a:normAutofit/>
          </a:bodyPr>
          <a:lstStyle/>
          <a:p>
            <a:r>
              <a:rPr lang="en-GB" dirty="0"/>
              <a:t>Much of society does not want to see species go extinct: individual species have an inherent ‘value’ (some more than others!)</a:t>
            </a:r>
          </a:p>
          <a:p>
            <a:r>
              <a:rPr lang="en-GB" dirty="0"/>
              <a:t>Where there are strong species interactions (e.g. the hawk moth example), loss of one species will have a negative effect on the other</a:t>
            </a:r>
          </a:p>
          <a:p>
            <a:r>
              <a:rPr lang="en-GB" dirty="0"/>
              <a:t>But does biodiversity itself affect the way ecosystems function?</a:t>
            </a:r>
          </a:p>
        </p:txBody>
      </p:sp>
    </p:spTree>
    <p:extLst>
      <p:ext uri="{BB962C8B-B14F-4D97-AF65-F5344CB8AC3E}">
        <p14:creationId xmlns:p14="http://schemas.microsoft.com/office/powerpoint/2010/main" val="855644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10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598" y="0"/>
            <a:ext cx="5829300" cy="4664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05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163" y="47100"/>
            <a:ext cx="2778440" cy="506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05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9562" y="559751"/>
            <a:ext cx="1235869" cy="114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05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5431" y="556105"/>
            <a:ext cx="1092994" cy="135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6354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05979"/>
            <a:ext cx="6300810" cy="1883565"/>
          </a:xfrm>
        </p:spPr>
        <p:txBody>
          <a:bodyPr>
            <a:normAutofit/>
          </a:bodyPr>
          <a:lstStyle/>
          <a:p>
            <a:r>
              <a:rPr lang="en-GB" dirty="0"/>
              <a:t>Is there a relationship between biodiversity and ecosystem functioning?</a:t>
            </a:r>
          </a:p>
        </p:txBody>
      </p:sp>
      <p:sp>
        <p:nvSpPr>
          <p:cNvPr id="3" name="Content Placeholder 2"/>
          <p:cNvSpPr>
            <a:spLocks noGrp="1"/>
          </p:cNvSpPr>
          <p:nvPr>
            <p:ph idx="1"/>
          </p:nvPr>
        </p:nvSpPr>
        <p:spPr>
          <a:xfrm>
            <a:off x="1485900" y="2303859"/>
            <a:ext cx="6172200" cy="2290765"/>
          </a:xfrm>
        </p:spPr>
        <p:txBody>
          <a:bodyPr/>
          <a:lstStyle/>
          <a:p>
            <a:pPr>
              <a:buNone/>
            </a:pPr>
            <a:r>
              <a:rPr lang="en-GB" dirty="0"/>
              <a:t>First we need to answer these questions:</a:t>
            </a:r>
          </a:p>
          <a:p>
            <a:r>
              <a:rPr lang="en-GB" dirty="0"/>
              <a:t>What is biodiversity?</a:t>
            </a:r>
          </a:p>
          <a:p>
            <a:r>
              <a:rPr lang="en-GB" dirty="0"/>
              <a:t>What is ecosystem functioning?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Biodiversity</a:t>
            </a:r>
          </a:p>
        </p:txBody>
      </p:sp>
      <p:sp>
        <p:nvSpPr>
          <p:cNvPr id="3" name="Content Placeholder 2"/>
          <p:cNvSpPr>
            <a:spLocks noGrp="1"/>
          </p:cNvSpPr>
          <p:nvPr>
            <p:ph idx="1"/>
          </p:nvPr>
        </p:nvSpPr>
        <p:spPr/>
        <p:txBody>
          <a:bodyPr>
            <a:normAutofit/>
          </a:bodyPr>
          <a:lstStyle/>
          <a:p>
            <a:r>
              <a:rPr lang="en-GB" dirty="0"/>
              <a:t>The degree of variation in life</a:t>
            </a:r>
          </a:p>
          <a:p>
            <a:r>
              <a:rPr lang="en-GB" dirty="0"/>
              <a:t>Dependent on SCALE. Gives rise to:</a:t>
            </a:r>
          </a:p>
          <a:p>
            <a:r>
              <a:rPr lang="en-GB" b="1" dirty="0"/>
              <a:t>alpha</a:t>
            </a:r>
            <a:r>
              <a:rPr lang="en-GB" dirty="0"/>
              <a:t> diversity (within a habitat, ecosystem etc)</a:t>
            </a:r>
          </a:p>
          <a:p>
            <a:r>
              <a:rPr lang="en-GB" b="1" dirty="0"/>
              <a:t>beta</a:t>
            </a:r>
            <a:r>
              <a:rPr lang="en-GB" dirty="0"/>
              <a:t> diversity (between ecosystem comparison –the number of unique species)</a:t>
            </a:r>
          </a:p>
          <a:p>
            <a:r>
              <a:rPr lang="en-GB" b="1" dirty="0"/>
              <a:t>gamma</a:t>
            </a:r>
            <a:r>
              <a:rPr lang="en-GB" dirty="0"/>
              <a:t> diversity (within a region, with several ecosystems)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Biodiversity</a:t>
            </a:r>
          </a:p>
        </p:txBody>
      </p:sp>
      <p:sp>
        <p:nvSpPr>
          <p:cNvPr id="3" name="Content Placeholder 2"/>
          <p:cNvSpPr>
            <a:spLocks noGrp="1"/>
          </p:cNvSpPr>
          <p:nvPr>
            <p:ph idx="1"/>
          </p:nvPr>
        </p:nvSpPr>
        <p:spPr>
          <a:xfrm>
            <a:off x="1485900" y="1200151"/>
            <a:ext cx="6172200" cy="1960964"/>
          </a:xfrm>
        </p:spPr>
        <p:txBody>
          <a:bodyPr/>
          <a:lstStyle/>
          <a:p>
            <a:r>
              <a:rPr lang="en-GB" dirty="0"/>
              <a:t>The number of species (species richness)</a:t>
            </a:r>
          </a:p>
          <a:p>
            <a:r>
              <a:rPr lang="en-GB" dirty="0"/>
              <a:t>The relative abundance of species (evenness)</a:t>
            </a:r>
          </a:p>
          <a:p>
            <a:r>
              <a:rPr lang="en-GB" dirty="0"/>
              <a:t>diversity </a:t>
            </a:r>
            <a:r>
              <a:rPr lang="en-GB" i="1" dirty="0"/>
              <a:t>sensu </a:t>
            </a:r>
            <a:r>
              <a:rPr lang="en-GB" i="1" dirty="0" err="1"/>
              <a:t>stricto</a:t>
            </a:r>
            <a:r>
              <a:rPr lang="en-GB" i="1" dirty="0"/>
              <a:t> </a:t>
            </a:r>
            <a:r>
              <a:rPr lang="en-GB" dirty="0"/>
              <a:t>uses an index of both richness and evenness, e.g. Shannon index</a:t>
            </a:r>
          </a:p>
        </p:txBody>
      </p:sp>
      <p:pic>
        <p:nvPicPr>
          <p:cNvPr id="1026" name="Picture 2" descr="C:\Users\Public\Pictures\shannon.png"/>
          <p:cNvPicPr>
            <a:picLocks noChangeAspect="1" noChangeArrowheads="1"/>
          </p:cNvPicPr>
          <p:nvPr/>
        </p:nvPicPr>
        <p:blipFill>
          <a:blip r:embed="rId2" cstate="screen"/>
          <a:srcRect/>
          <a:stretch>
            <a:fillRect/>
          </a:stretch>
        </p:blipFill>
        <p:spPr bwMode="auto">
          <a:xfrm>
            <a:off x="2482440" y="3000378"/>
            <a:ext cx="3340777" cy="1071570"/>
          </a:xfrm>
          <a:prstGeom prst="rect">
            <a:avLst/>
          </a:prstGeom>
          <a:noFill/>
        </p:spPr>
      </p:pic>
      <p:sp>
        <p:nvSpPr>
          <p:cNvPr id="5" name="TextBox 4"/>
          <p:cNvSpPr txBox="1"/>
          <p:nvPr/>
        </p:nvSpPr>
        <p:spPr>
          <a:xfrm>
            <a:off x="2268124" y="4500576"/>
            <a:ext cx="3835602" cy="300082"/>
          </a:xfrm>
          <a:prstGeom prst="rect">
            <a:avLst/>
          </a:prstGeom>
          <a:noFill/>
        </p:spPr>
        <p:txBody>
          <a:bodyPr wrap="none" rtlCol="0">
            <a:spAutoFit/>
          </a:bodyPr>
          <a:lstStyle/>
          <a:p>
            <a:r>
              <a:rPr lang="en-GB" sz="1350" dirty="0"/>
              <a:t>H’ = diversity; pi = evenness of species i; s = richness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Other measures of biodiversity</a:t>
            </a:r>
          </a:p>
        </p:txBody>
      </p:sp>
      <p:sp>
        <p:nvSpPr>
          <p:cNvPr id="3" name="Content Placeholder 2"/>
          <p:cNvSpPr>
            <a:spLocks noGrp="1"/>
          </p:cNvSpPr>
          <p:nvPr>
            <p:ph idx="1"/>
          </p:nvPr>
        </p:nvSpPr>
        <p:spPr/>
        <p:txBody>
          <a:bodyPr/>
          <a:lstStyle/>
          <a:p>
            <a:r>
              <a:rPr lang="en-GB" b="1" dirty="0"/>
              <a:t>Functional type</a:t>
            </a:r>
            <a:r>
              <a:rPr lang="en-GB" dirty="0"/>
              <a:t>; e.g. organisms classified according to similar “traits”. </a:t>
            </a:r>
          </a:p>
          <a:p>
            <a:r>
              <a:rPr lang="en-GB" dirty="0"/>
              <a:t>Could be morphological characteristics; chemical composition; association with symbionts.</a:t>
            </a:r>
          </a:p>
          <a:p>
            <a:r>
              <a:rPr lang="en-GB" dirty="0"/>
              <a:t>Range form quite specific to quite broad – user defined. </a:t>
            </a:r>
          </a:p>
          <a:p>
            <a:r>
              <a:rPr lang="en-GB" dirty="0"/>
              <a:t>e.g. grasses; forbs; sedges; heathers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84994" name="AutoShape 2" descr="http://catherinehulshof.files.wordpress.com/2014/08/leaf-traits.jpg">
            <a:hlinkClick r:id="rId2"/>
          </p:cNvPr>
          <p:cNvSpPr>
            <a:spLocks noChangeAspect="1" noChangeArrowheads="1"/>
          </p:cNvSpPr>
          <p:nvPr/>
        </p:nvSpPr>
        <p:spPr bwMode="auto">
          <a:xfrm>
            <a:off x="1259681" y="-1343025"/>
            <a:ext cx="3743325" cy="2807494"/>
          </a:xfrm>
          <a:prstGeom prst="rect">
            <a:avLst/>
          </a:prstGeom>
          <a:noFill/>
        </p:spPr>
        <p:txBody>
          <a:bodyPr vert="horz" wrap="square" lIns="68580" tIns="34290" rIns="68580" bIns="34290" numCol="1" anchor="t" anchorCtr="0" compatLnSpc="1">
            <a:prstTxWarp prst="textNoShape">
              <a:avLst/>
            </a:prstTxWarp>
          </a:bodyPr>
          <a:lstStyle/>
          <a:p>
            <a:endParaRPr lang="en-GB" sz="1350"/>
          </a:p>
        </p:txBody>
      </p:sp>
      <p:pic>
        <p:nvPicPr>
          <p:cNvPr id="84996" name="Picture 4" descr="oak_leaves.jpg"/>
          <p:cNvPicPr>
            <a:picLocks noChangeAspect="1" noChangeArrowheads="1"/>
          </p:cNvPicPr>
          <p:nvPr/>
        </p:nvPicPr>
        <p:blipFill>
          <a:blip r:embed="rId3" cstate="screen"/>
          <a:srcRect/>
          <a:stretch>
            <a:fillRect/>
          </a:stretch>
        </p:blipFill>
        <p:spPr bwMode="auto">
          <a:xfrm>
            <a:off x="1394592" y="396908"/>
            <a:ext cx="1893094" cy="1678782"/>
          </a:xfrm>
          <a:prstGeom prst="rect">
            <a:avLst/>
          </a:prstGeom>
          <a:noFill/>
        </p:spPr>
      </p:pic>
      <p:pic>
        <p:nvPicPr>
          <p:cNvPr id="84998" name="Picture 6" descr="http://www.nature.com/nbt/journal/v24/n11/images/nbt1251-F3.jpg">
            <a:hlinkClick r:id="rId4"/>
          </p:cNvPr>
          <p:cNvPicPr>
            <a:picLocks noChangeAspect="1" noChangeArrowheads="1"/>
          </p:cNvPicPr>
          <p:nvPr/>
        </p:nvPicPr>
        <p:blipFill>
          <a:blip r:embed="rId5" cstate="screen"/>
          <a:srcRect/>
          <a:stretch>
            <a:fillRect/>
          </a:stretch>
        </p:blipFill>
        <p:spPr bwMode="auto">
          <a:xfrm>
            <a:off x="3519449" y="276049"/>
            <a:ext cx="4286250" cy="275034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Ecosystem functioning</a:t>
            </a:r>
          </a:p>
        </p:txBody>
      </p:sp>
      <p:sp>
        <p:nvSpPr>
          <p:cNvPr id="3" name="Content Placeholder 2"/>
          <p:cNvSpPr>
            <a:spLocks noGrp="1"/>
          </p:cNvSpPr>
          <p:nvPr>
            <p:ph idx="1"/>
          </p:nvPr>
        </p:nvSpPr>
        <p:spPr/>
        <p:txBody>
          <a:bodyPr/>
          <a:lstStyle/>
          <a:p>
            <a:r>
              <a:rPr lang="en-GB" dirty="0"/>
              <a:t>Any measure of the performance of an ecosystem</a:t>
            </a:r>
          </a:p>
          <a:p>
            <a:r>
              <a:rPr lang="en-GB" dirty="0"/>
              <a:t>Depends on individual perspective</a:t>
            </a:r>
          </a:p>
          <a:p>
            <a:r>
              <a:rPr lang="en-GB" dirty="0"/>
              <a:t>Ecosystem functions may therefore oppose each other.</a:t>
            </a:r>
          </a:p>
          <a:p>
            <a:r>
              <a:rPr lang="en-GB" dirty="0"/>
              <a:t>e.g. productivity; reproduction; leaching of nutrients; decomposition; carbon storage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Linking BEF</a:t>
            </a:r>
          </a:p>
        </p:txBody>
      </p:sp>
      <p:sp>
        <p:nvSpPr>
          <p:cNvPr id="3" name="Content Placeholder 2"/>
          <p:cNvSpPr>
            <a:spLocks noGrp="1"/>
          </p:cNvSpPr>
          <p:nvPr>
            <p:ph idx="1"/>
          </p:nvPr>
        </p:nvSpPr>
        <p:spPr/>
        <p:txBody>
          <a:bodyPr>
            <a:normAutofit/>
          </a:bodyPr>
          <a:lstStyle/>
          <a:p>
            <a:r>
              <a:rPr lang="en-GB" dirty="0"/>
              <a:t>Discovering if there is a predictable link between biodiversity and ecosystem functioning is a major goal in ecology.</a:t>
            </a:r>
          </a:p>
        </p:txBody>
      </p:sp>
      <p:cxnSp>
        <p:nvCxnSpPr>
          <p:cNvPr id="5" name="Straight Connector 4"/>
          <p:cNvCxnSpPr/>
          <p:nvPr/>
        </p:nvCxnSpPr>
        <p:spPr>
          <a:xfrm rot="5400000">
            <a:off x="1143003" y="3666933"/>
            <a:ext cx="1910443" cy="6998"/>
          </a:xfrm>
          <a:prstGeom prst="line">
            <a:avLst/>
          </a:prstGeom>
          <a:ln w="190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087725" y="4639647"/>
            <a:ext cx="3540967" cy="13996"/>
          </a:xfrm>
          <a:prstGeom prst="line">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rot="16200000">
            <a:off x="1441023" y="3291496"/>
            <a:ext cx="801823" cy="300082"/>
          </a:xfrm>
          <a:prstGeom prst="rect">
            <a:avLst/>
          </a:prstGeom>
          <a:noFill/>
        </p:spPr>
        <p:txBody>
          <a:bodyPr wrap="none" rtlCol="0">
            <a:spAutoFit/>
          </a:bodyPr>
          <a:lstStyle/>
          <a:p>
            <a:r>
              <a:rPr lang="en-GB" sz="1350" dirty="0"/>
              <a:t>Function</a:t>
            </a:r>
          </a:p>
        </p:txBody>
      </p:sp>
      <p:sp>
        <p:nvSpPr>
          <p:cNvPr id="9" name="TextBox 8"/>
          <p:cNvSpPr txBox="1"/>
          <p:nvPr/>
        </p:nvSpPr>
        <p:spPr>
          <a:xfrm>
            <a:off x="3440665" y="4739952"/>
            <a:ext cx="795602" cy="300082"/>
          </a:xfrm>
          <a:prstGeom prst="rect">
            <a:avLst/>
          </a:prstGeom>
          <a:noFill/>
        </p:spPr>
        <p:txBody>
          <a:bodyPr wrap="none" rtlCol="0">
            <a:spAutoFit/>
          </a:bodyPr>
          <a:lstStyle/>
          <a:p>
            <a:r>
              <a:rPr lang="en-GB" sz="1350" dirty="0"/>
              <a:t>Diversity</a:t>
            </a:r>
          </a:p>
        </p:txBody>
      </p:sp>
      <p:sp>
        <p:nvSpPr>
          <p:cNvPr id="11" name="Freeform 10"/>
          <p:cNvSpPr/>
          <p:nvPr/>
        </p:nvSpPr>
        <p:spPr>
          <a:xfrm>
            <a:off x="2234684" y="3065106"/>
            <a:ext cx="3030116" cy="1434582"/>
          </a:xfrm>
          <a:custGeom>
            <a:avLst/>
            <a:gdLst>
              <a:gd name="connsiteX0" fmla="*/ 0 w 4040155"/>
              <a:gd name="connsiteY0" fmla="*/ 1912776 h 1912776"/>
              <a:gd name="connsiteX1" fmla="*/ 475861 w 4040155"/>
              <a:gd name="connsiteY1" fmla="*/ 1184988 h 1912776"/>
              <a:gd name="connsiteX2" fmla="*/ 1520889 w 4040155"/>
              <a:gd name="connsiteY2" fmla="*/ 419878 h 1912776"/>
              <a:gd name="connsiteX3" fmla="*/ 2743200 w 4040155"/>
              <a:gd name="connsiteY3" fmla="*/ 83976 h 1912776"/>
              <a:gd name="connsiteX4" fmla="*/ 4040155 w 4040155"/>
              <a:gd name="connsiteY4" fmla="*/ 0 h 1912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155" h="1912776">
                <a:moveTo>
                  <a:pt x="0" y="1912776"/>
                </a:moveTo>
                <a:cubicBezTo>
                  <a:pt x="111190" y="1673290"/>
                  <a:pt x="222380" y="1433804"/>
                  <a:pt x="475861" y="1184988"/>
                </a:cubicBezTo>
                <a:cubicBezTo>
                  <a:pt x="729342" y="936172"/>
                  <a:pt x="1142999" y="603380"/>
                  <a:pt x="1520889" y="419878"/>
                </a:cubicBezTo>
                <a:cubicBezTo>
                  <a:pt x="1898779" y="236376"/>
                  <a:pt x="2323322" y="153956"/>
                  <a:pt x="2743200" y="83976"/>
                </a:cubicBezTo>
                <a:cubicBezTo>
                  <a:pt x="3163078" y="13996"/>
                  <a:pt x="3601616" y="6998"/>
                  <a:pt x="4040155" y="0"/>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350"/>
          </a:p>
        </p:txBody>
      </p:sp>
      <p:cxnSp>
        <p:nvCxnSpPr>
          <p:cNvPr id="13" name="Straight Connector 12"/>
          <p:cNvCxnSpPr/>
          <p:nvPr/>
        </p:nvCxnSpPr>
        <p:spPr>
          <a:xfrm flipV="1">
            <a:off x="2227686" y="3135088"/>
            <a:ext cx="3100096" cy="1378598"/>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444620" y="2792187"/>
            <a:ext cx="3016121" cy="16095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388639" y="3596951"/>
            <a:ext cx="3149081" cy="6998"/>
          </a:xfrm>
          <a:prstGeom prst="line">
            <a:avLst/>
          </a:prstGeom>
          <a:ln w="254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9" name="Freeform 18"/>
          <p:cNvSpPr/>
          <p:nvPr/>
        </p:nvSpPr>
        <p:spPr>
          <a:xfrm>
            <a:off x="2157706" y="3030118"/>
            <a:ext cx="3149081" cy="1560545"/>
          </a:xfrm>
          <a:custGeom>
            <a:avLst/>
            <a:gdLst>
              <a:gd name="connsiteX0" fmla="*/ 0 w 4198775"/>
              <a:gd name="connsiteY0" fmla="*/ 2062065 h 2080727"/>
              <a:gd name="connsiteX1" fmla="*/ 37322 w 4198775"/>
              <a:gd name="connsiteY1" fmla="*/ 2071396 h 2080727"/>
              <a:gd name="connsiteX2" fmla="*/ 65314 w 4198775"/>
              <a:gd name="connsiteY2" fmla="*/ 2080727 h 2080727"/>
              <a:gd name="connsiteX3" fmla="*/ 223934 w 4198775"/>
              <a:gd name="connsiteY3" fmla="*/ 2071396 h 2080727"/>
              <a:gd name="connsiteX4" fmla="*/ 317241 w 4198775"/>
              <a:gd name="connsiteY4" fmla="*/ 2043404 h 2080727"/>
              <a:gd name="connsiteX5" fmla="*/ 373224 w 4198775"/>
              <a:gd name="connsiteY5" fmla="*/ 2024743 h 2080727"/>
              <a:gd name="connsiteX6" fmla="*/ 401216 w 4198775"/>
              <a:gd name="connsiteY6" fmla="*/ 2015412 h 2080727"/>
              <a:gd name="connsiteX7" fmla="*/ 494522 w 4198775"/>
              <a:gd name="connsiteY7" fmla="*/ 1968759 h 2080727"/>
              <a:gd name="connsiteX8" fmla="*/ 522514 w 4198775"/>
              <a:gd name="connsiteY8" fmla="*/ 1950098 h 2080727"/>
              <a:gd name="connsiteX9" fmla="*/ 541175 w 4198775"/>
              <a:gd name="connsiteY9" fmla="*/ 1922106 h 2080727"/>
              <a:gd name="connsiteX10" fmla="*/ 569167 w 4198775"/>
              <a:gd name="connsiteY10" fmla="*/ 1912776 h 2080727"/>
              <a:gd name="connsiteX11" fmla="*/ 634481 w 4198775"/>
              <a:gd name="connsiteY11" fmla="*/ 1847461 h 2080727"/>
              <a:gd name="connsiteX12" fmla="*/ 671804 w 4198775"/>
              <a:gd name="connsiteY12" fmla="*/ 1838131 h 2080727"/>
              <a:gd name="connsiteX13" fmla="*/ 709126 w 4198775"/>
              <a:gd name="connsiteY13" fmla="*/ 1819469 h 2080727"/>
              <a:gd name="connsiteX14" fmla="*/ 755779 w 4198775"/>
              <a:gd name="connsiteY14" fmla="*/ 1772816 h 2080727"/>
              <a:gd name="connsiteX15" fmla="*/ 830424 w 4198775"/>
              <a:gd name="connsiteY15" fmla="*/ 1726163 h 2080727"/>
              <a:gd name="connsiteX16" fmla="*/ 877077 w 4198775"/>
              <a:gd name="connsiteY16" fmla="*/ 1679510 h 2080727"/>
              <a:gd name="connsiteX17" fmla="*/ 895739 w 4198775"/>
              <a:gd name="connsiteY17" fmla="*/ 1651518 h 2080727"/>
              <a:gd name="connsiteX18" fmla="*/ 951722 w 4198775"/>
              <a:gd name="connsiteY18" fmla="*/ 1614196 h 2080727"/>
              <a:gd name="connsiteX19" fmla="*/ 979714 w 4198775"/>
              <a:gd name="connsiteY19" fmla="*/ 1595535 h 2080727"/>
              <a:gd name="connsiteX20" fmla="*/ 1026367 w 4198775"/>
              <a:gd name="connsiteY20" fmla="*/ 1539551 h 2080727"/>
              <a:gd name="connsiteX21" fmla="*/ 1054359 w 4198775"/>
              <a:gd name="connsiteY21" fmla="*/ 1511559 h 2080727"/>
              <a:gd name="connsiteX22" fmla="*/ 1073020 w 4198775"/>
              <a:gd name="connsiteY22" fmla="*/ 1483567 h 2080727"/>
              <a:gd name="connsiteX23" fmla="*/ 1110343 w 4198775"/>
              <a:gd name="connsiteY23" fmla="*/ 1455576 h 2080727"/>
              <a:gd name="connsiteX24" fmla="*/ 1156996 w 4198775"/>
              <a:gd name="connsiteY24" fmla="*/ 1399592 h 2080727"/>
              <a:gd name="connsiteX25" fmla="*/ 1184988 w 4198775"/>
              <a:gd name="connsiteY25" fmla="*/ 1362269 h 2080727"/>
              <a:gd name="connsiteX26" fmla="*/ 1222310 w 4198775"/>
              <a:gd name="connsiteY26" fmla="*/ 1334278 h 2080727"/>
              <a:gd name="connsiteX27" fmla="*/ 1250302 w 4198775"/>
              <a:gd name="connsiteY27" fmla="*/ 1296955 h 2080727"/>
              <a:gd name="connsiteX28" fmla="*/ 1268963 w 4198775"/>
              <a:gd name="connsiteY28" fmla="*/ 1268963 h 2080727"/>
              <a:gd name="connsiteX29" fmla="*/ 1352939 w 4198775"/>
              <a:gd name="connsiteY29" fmla="*/ 1212980 h 2080727"/>
              <a:gd name="connsiteX30" fmla="*/ 1380930 w 4198775"/>
              <a:gd name="connsiteY30" fmla="*/ 1194318 h 2080727"/>
              <a:gd name="connsiteX31" fmla="*/ 1446245 w 4198775"/>
              <a:gd name="connsiteY31" fmla="*/ 1129004 h 2080727"/>
              <a:gd name="connsiteX32" fmla="*/ 1483567 w 4198775"/>
              <a:gd name="connsiteY32" fmla="*/ 1073021 h 2080727"/>
              <a:gd name="connsiteX33" fmla="*/ 1530220 w 4198775"/>
              <a:gd name="connsiteY33" fmla="*/ 1026367 h 2080727"/>
              <a:gd name="connsiteX34" fmla="*/ 1548881 w 4198775"/>
              <a:gd name="connsiteY34" fmla="*/ 998376 h 2080727"/>
              <a:gd name="connsiteX35" fmla="*/ 1586204 w 4198775"/>
              <a:gd name="connsiteY35" fmla="*/ 933061 h 2080727"/>
              <a:gd name="connsiteX36" fmla="*/ 1614196 w 4198775"/>
              <a:gd name="connsiteY36" fmla="*/ 905069 h 2080727"/>
              <a:gd name="connsiteX37" fmla="*/ 1670179 w 4198775"/>
              <a:gd name="connsiteY37" fmla="*/ 821094 h 2080727"/>
              <a:gd name="connsiteX38" fmla="*/ 1679510 w 4198775"/>
              <a:gd name="connsiteY38" fmla="*/ 793102 h 2080727"/>
              <a:gd name="connsiteX39" fmla="*/ 1698171 w 4198775"/>
              <a:gd name="connsiteY39" fmla="*/ 765110 h 2080727"/>
              <a:gd name="connsiteX40" fmla="*/ 1707502 w 4198775"/>
              <a:gd name="connsiteY40" fmla="*/ 737118 h 2080727"/>
              <a:gd name="connsiteX41" fmla="*/ 1744824 w 4198775"/>
              <a:gd name="connsiteY41" fmla="*/ 681135 h 2080727"/>
              <a:gd name="connsiteX42" fmla="*/ 1782147 w 4198775"/>
              <a:gd name="connsiteY42" fmla="*/ 615821 h 2080727"/>
              <a:gd name="connsiteX43" fmla="*/ 1810139 w 4198775"/>
              <a:gd name="connsiteY43" fmla="*/ 597159 h 2080727"/>
              <a:gd name="connsiteX44" fmla="*/ 1847461 w 4198775"/>
              <a:gd name="connsiteY44" fmla="*/ 531845 h 2080727"/>
              <a:gd name="connsiteX45" fmla="*/ 1856792 w 4198775"/>
              <a:gd name="connsiteY45" fmla="*/ 494523 h 2080727"/>
              <a:gd name="connsiteX46" fmla="*/ 1875453 w 4198775"/>
              <a:gd name="connsiteY46" fmla="*/ 475861 h 2080727"/>
              <a:gd name="connsiteX47" fmla="*/ 1922106 w 4198775"/>
              <a:gd name="connsiteY47" fmla="*/ 410547 h 2080727"/>
              <a:gd name="connsiteX48" fmla="*/ 1931437 w 4198775"/>
              <a:gd name="connsiteY48" fmla="*/ 373225 h 2080727"/>
              <a:gd name="connsiteX49" fmla="*/ 1950098 w 4198775"/>
              <a:gd name="connsiteY49" fmla="*/ 354563 h 2080727"/>
              <a:gd name="connsiteX50" fmla="*/ 2006081 w 4198775"/>
              <a:gd name="connsiteY50" fmla="*/ 270588 h 2080727"/>
              <a:gd name="connsiteX51" fmla="*/ 2062065 w 4198775"/>
              <a:gd name="connsiteY51" fmla="*/ 186612 h 2080727"/>
              <a:gd name="connsiteX52" fmla="*/ 2080726 w 4198775"/>
              <a:gd name="connsiteY52" fmla="*/ 158621 h 2080727"/>
              <a:gd name="connsiteX53" fmla="*/ 2127379 w 4198775"/>
              <a:gd name="connsiteY53" fmla="*/ 121298 h 2080727"/>
              <a:gd name="connsiteX54" fmla="*/ 2174032 w 4198775"/>
              <a:gd name="connsiteY54" fmla="*/ 83976 h 2080727"/>
              <a:gd name="connsiteX55" fmla="*/ 2230016 w 4198775"/>
              <a:gd name="connsiteY55" fmla="*/ 65314 h 2080727"/>
              <a:gd name="connsiteX56" fmla="*/ 2286000 w 4198775"/>
              <a:gd name="connsiteY56" fmla="*/ 27992 h 2080727"/>
              <a:gd name="connsiteX57" fmla="*/ 2341983 w 4198775"/>
              <a:gd name="connsiteY57" fmla="*/ 0 h 2080727"/>
              <a:gd name="connsiteX58" fmla="*/ 2491273 w 4198775"/>
              <a:gd name="connsiteY58" fmla="*/ 9331 h 2080727"/>
              <a:gd name="connsiteX59" fmla="*/ 2519265 w 4198775"/>
              <a:gd name="connsiteY59" fmla="*/ 18661 h 2080727"/>
              <a:gd name="connsiteX60" fmla="*/ 2612571 w 4198775"/>
              <a:gd name="connsiteY60" fmla="*/ 46653 h 2080727"/>
              <a:gd name="connsiteX61" fmla="*/ 2668555 w 4198775"/>
              <a:gd name="connsiteY61" fmla="*/ 74645 h 2080727"/>
              <a:gd name="connsiteX62" fmla="*/ 2724539 w 4198775"/>
              <a:gd name="connsiteY62" fmla="*/ 93306 h 2080727"/>
              <a:gd name="connsiteX63" fmla="*/ 2752530 w 4198775"/>
              <a:gd name="connsiteY63" fmla="*/ 102637 h 2080727"/>
              <a:gd name="connsiteX64" fmla="*/ 2799183 w 4198775"/>
              <a:gd name="connsiteY64" fmla="*/ 149290 h 2080727"/>
              <a:gd name="connsiteX65" fmla="*/ 2845837 w 4198775"/>
              <a:gd name="connsiteY65" fmla="*/ 195943 h 2080727"/>
              <a:gd name="connsiteX66" fmla="*/ 2864498 w 4198775"/>
              <a:gd name="connsiteY66" fmla="*/ 223935 h 2080727"/>
              <a:gd name="connsiteX67" fmla="*/ 2920481 w 4198775"/>
              <a:gd name="connsiteY67" fmla="*/ 261257 h 2080727"/>
              <a:gd name="connsiteX68" fmla="*/ 2939143 w 4198775"/>
              <a:gd name="connsiteY68" fmla="*/ 279918 h 2080727"/>
              <a:gd name="connsiteX69" fmla="*/ 2948473 w 4198775"/>
              <a:gd name="connsiteY69" fmla="*/ 307910 h 2080727"/>
              <a:gd name="connsiteX70" fmla="*/ 2967134 w 4198775"/>
              <a:gd name="connsiteY70" fmla="*/ 326572 h 2080727"/>
              <a:gd name="connsiteX71" fmla="*/ 3004457 w 4198775"/>
              <a:gd name="connsiteY71" fmla="*/ 373225 h 2080727"/>
              <a:gd name="connsiteX72" fmla="*/ 3023118 w 4198775"/>
              <a:gd name="connsiteY72" fmla="*/ 419878 h 2080727"/>
              <a:gd name="connsiteX73" fmla="*/ 3069771 w 4198775"/>
              <a:gd name="connsiteY73" fmla="*/ 475861 h 2080727"/>
              <a:gd name="connsiteX74" fmla="*/ 3088432 w 4198775"/>
              <a:gd name="connsiteY74" fmla="*/ 531845 h 2080727"/>
              <a:gd name="connsiteX75" fmla="*/ 3116424 w 4198775"/>
              <a:gd name="connsiteY75" fmla="*/ 625151 h 2080727"/>
              <a:gd name="connsiteX76" fmla="*/ 3125755 w 4198775"/>
              <a:gd name="connsiteY76" fmla="*/ 681135 h 2080727"/>
              <a:gd name="connsiteX77" fmla="*/ 3144416 w 4198775"/>
              <a:gd name="connsiteY77" fmla="*/ 709127 h 2080727"/>
              <a:gd name="connsiteX78" fmla="*/ 3172408 w 4198775"/>
              <a:gd name="connsiteY78" fmla="*/ 802433 h 2080727"/>
              <a:gd name="connsiteX79" fmla="*/ 3219061 w 4198775"/>
              <a:gd name="connsiteY79" fmla="*/ 877078 h 2080727"/>
              <a:gd name="connsiteX80" fmla="*/ 3256383 w 4198775"/>
              <a:gd name="connsiteY80" fmla="*/ 970384 h 2080727"/>
              <a:gd name="connsiteX81" fmla="*/ 3275045 w 4198775"/>
              <a:gd name="connsiteY81" fmla="*/ 989045 h 2080727"/>
              <a:gd name="connsiteX82" fmla="*/ 3303037 w 4198775"/>
              <a:gd name="connsiteY82" fmla="*/ 1054359 h 2080727"/>
              <a:gd name="connsiteX83" fmla="*/ 3331028 w 4198775"/>
              <a:gd name="connsiteY83" fmla="*/ 1110343 h 2080727"/>
              <a:gd name="connsiteX84" fmla="*/ 3340359 w 4198775"/>
              <a:gd name="connsiteY84" fmla="*/ 1147665 h 2080727"/>
              <a:gd name="connsiteX85" fmla="*/ 3349690 w 4198775"/>
              <a:gd name="connsiteY85" fmla="*/ 1175657 h 2080727"/>
              <a:gd name="connsiteX86" fmla="*/ 3368351 w 4198775"/>
              <a:gd name="connsiteY86" fmla="*/ 1250302 h 2080727"/>
              <a:gd name="connsiteX87" fmla="*/ 3405673 w 4198775"/>
              <a:gd name="connsiteY87" fmla="*/ 1343608 h 2080727"/>
              <a:gd name="connsiteX88" fmla="*/ 3424334 w 4198775"/>
              <a:gd name="connsiteY88" fmla="*/ 1371600 h 2080727"/>
              <a:gd name="connsiteX89" fmla="*/ 3433665 w 4198775"/>
              <a:gd name="connsiteY89" fmla="*/ 1399592 h 2080727"/>
              <a:gd name="connsiteX90" fmla="*/ 3461657 w 4198775"/>
              <a:gd name="connsiteY90" fmla="*/ 1492898 h 2080727"/>
              <a:gd name="connsiteX91" fmla="*/ 3480318 w 4198775"/>
              <a:gd name="connsiteY91" fmla="*/ 1520890 h 2080727"/>
              <a:gd name="connsiteX92" fmla="*/ 3489649 w 4198775"/>
              <a:gd name="connsiteY92" fmla="*/ 1548882 h 2080727"/>
              <a:gd name="connsiteX93" fmla="*/ 3517641 w 4198775"/>
              <a:gd name="connsiteY93" fmla="*/ 1567543 h 2080727"/>
              <a:gd name="connsiteX94" fmla="*/ 3526971 w 4198775"/>
              <a:gd name="connsiteY94" fmla="*/ 1595535 h 2080727"/>
              <a:gd name="connsiteX95" fmla="*/ 3582955 w 4198775"/>
              <a:gd name="connsiteY95" fmla="*/ 1651518 h 2080727"/>
              <a:gd name="connsiteX96" fmla="*/ 3601616 w 4198775"/>
              <a:gd name="connsiteY96" fmla="*/ 1670180 h 2080727"/>
              <a:gd name="connsiteX97" fmla="*/ 3620277 w 4198775"/>
              <a:gd name="connsiteY97" fmla="*/ 1698172 h 2080727"/>
              <a:gd name="connsiteX98" fmla="*/ 3629608 w 4198775"/>
              <a:gd name="connsiteY98" fmla="*/ 1726163 h 2080727"/>
              <a:gd name="connsiteX99" fmla="*/ 3657600 w 4198775"/>
              <a:gd name="connsiteY99" fmla="*/ 1735494 h 2080727"/>
              <a:gd name="connsiteX100" fmla="*/ 3676261 w 4198775"/>
              <a:gd name="connsiteY100" fmla="*/ 1763486 h 2080727"/>
              <a:gd name="connsiteX101" fmla="*/ 3769567 w 4198775"/>
              <a:gd name="connsiteY101" fmla="*/ 1819469 h 2080727"/>
              <a:gd name="connsiteX102" fmla="*/ 3816220 w 4198775"/>
              <a:gd name="connsiteY102" fmla="*/ 1856792 h 2080727"/>
              <a:gd name="connsiteX103" fmla="*/ 3844212 w 4198775"/>
              <a:gd name="connsiteY103" fmla="*/ 1866123 h 2080727"/>
              <a:gd name="connsiteX104" fmla="*/ 3900196 w 4198775"/>
              <a:gd name="connsiteY104" fmla="*/ 1903445 h 2080727"/>
              <a:gd name="connsiteX105" fmla="*/ 3956179 w 4198775"/>
              <a:gd name="connsiteY105" fmla="*/ 1922106 h 2080727"/>
              <a:gd name="connsiteX106" fmla="*/ 4058816 w 4198775"/>
              <a:gd name="connsiteY106" fmla="*/ 1940767 h 2080727"/>
              <a:gd name="connsiteX107" fmla="*/ 4152122 w 4198775"/>
              <a:gd name="connsiteY107" fmla="*/ 1950098 h 2080727"/>
              <a:gd name="connsiteX108" fmla="*/ 4198775 w 4198775"/>
              <a:gd name="connsiteY108" fmla="*/ 1959429 h 2080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198775" h="2080727">
                <a:moveTo>
                  <a:pt x="0" y="2062065"/>
                </a:moveTo>
                <a:cubicBezTo>
                  <a:pt x="12441" y="2065175"/>
                  <a:pt x="24992" y="2067873"/>
                  <a:pt x="37322" y="2071396"/>
                </a:cubicBezTo>
                <a:cubicBezTo>
                  <a:pt x="46779" y="2074098"/>
                  <a:pt x="55479" y="2080727"/>
                  <a:pt x="65314" y="2080727"/>
                </a:cubicBezTo>
                <a:cubicBezTo>
                  <a:pt x="118279" y="2080727"/>
                  <a:pt x="171061" y="2074506"/>
                  <a:pt x="223934" y="2071396"/>
                </a:cubicBezTo>
                <a:cubicBezTo>
                  <a:pt x="367244" y="2050923"/>
                  <a:pt x="236841" y="2079137"/>
                  <a:pt x="317241" y="2043404"/>
                </a:cubicBezTo>
                <a:cubicBezTo>
                  <a:pt x="335216" y="2035415"/>
                  <a:pt x="354563" y="2030963"/>
                  <a:pt x="373224" y="2024743"/>
                </a:cubicBezTo>
                <a:cubicBezTo>
                  <a:pt x="382555" y="2021633"/>
                  <a:pt x="393032" y="2020868"/>
                  <a:pt x="401216" y="2015412"/>
                </a:cubicBezTo>
                <a:cubicBezTo>
                  <a:pt x="467870" y="1970977"/>
                  <a:pt x="435442" y="1983530"/>
                  <a:pt x="494522" y="1968759"/>
                </a:cubicBezTo>
                <a:cubicBezTo>
                  <a:pt x="503853" y="1962539"/>
                  <a:pt x="514585" y="1958027"/>
                  <a:pt x="522514" y="1950098"/>
                </a:cubicBezTo>
                <a:cubicBezTo>
                  <a:pt x="530443" y="1942169"/>
                  <a:pt x="532418" y="1929111"/>
                  <a:pt x="541175" y="1922106"/>
                </a:cubicBezTo>
                <a:cubicBezTo>
                  <a:pt x="548855" y="1915962"/>
                  <a:pt x="559836" y="1915886"/>
                  <a:pt x="569167" y="1912776"/>
                </a:cubicBezTo>
                <a:lnTo>
                  <a:pt x="634481" y="1847461"/>
                </a:lnTo>
                <a:cubicBezTo>
                  <a:pt x="643549" y="1838393"/>
                  <a:pt x="659363" y="1841241"/>
                  <a:pt x="671804" y="1838131"/>
                </a:cubicBezTo>
                <a:cubicBezTo>
                  <a:pt x="684245" y="1831910"/>
                  <a:pt x="698147" y="1828009"/>
                  <a:pt x="709126" y="1819469"/>
                </a:cubicBezTo>
                <a:cubicBezTo>
                  <a:pt x="726486" y="1805967"/>
                  <a:pt x="736108" y="1782651"/>
                  <a:pt x="755779" y="1772816"/>
                </a:cubicBezTo>
                <a:cubicBezTo>
                  <a:pt x="807011" y="1747201"/>
                  <a:pt x="781975" y="1762501"/>
                  <a:pt x="830424" y="1726163"/>
                </a:cubicBezTo>
                <a:cubicBezTo>
                  <a:pt x="876134" y="1634743"/>
                  <a:pt x="819873" y="1725273"/>
                  <a:pt x="877077" y="1679510"/>
                </a:cubicBezTo>
                <a:cubicBezTo>
                  <a:pt x="885834" y="1672505"/>
                  <a:pt x="887299" y="1658903"/>
                  <a:pt x="895739" y="1651518"/>
                </a:cubicBezTo>
                <a:cubicBezTo>
                  <a:pt x="912618" y="1636749"/>
                  <a:pt x="933061" y="1626637"/>
                  <a:pt x="951722" y="1614196"/>
                </a:cubicBezTo>
                <a:cubicBezTo>
                  <a:pt x="961053" y="1607976"/>
                  <a:pt x="971785" y="1603464"/>
                  <a:pt x="979714" y="1595535"/>
                </a:cubicBezTo>
                <a:cubicBezTo>
                  <a:pt x="1061493" y="1513756"/>
                  <a:pt x="961415" y="1617494"/>
                  <a:pt x="1026367" y="1539551"/>
                </a:cubicBezTo>
                <a:cubicBezTo>
                  <a:pt x="1034815" y="1529414"/>
                  <a:pt x="1045911" y="1521696"/>
                  <a:pt x="1054359" y="1511559"/>
                </a:cubicBezTo>
                <a:cubicBezTo>
                  <a:pt x="1061538" y="1502944"/>
                  <a:pt x="1065090" y="1491496"/>
                  <a:pt x="1073020" y="1483567"/>
                </a:cubicBezTo>
                <a:cubicBezTo>
                  <a:pt x="1084016" y="1472571"/>
                  <a:pt x="1097902" y="1464906"/>
                  <a:pt x="1110343" y="1455576"/>
                </a:cubicBezTo>
                <a:cubicBezTo>
                  <a:pt x="1128163" y="1402113"/>
                  <a:pt x="1106156" y="1450432"/>
                  <a:pt x="1156996" y="1399592"/>
                </a:cubicBezTo>
                <a:cubicBezTo>
                  <a:pt x="1167992" y="1388596"/>
                  <a:pt x="1173992" y="1373265"/>
                  <a:pt x="1184988" y="1362269"/>
                </a:cubicBezTo>
                <a:cubicBezTo>
                  <a:pt x="1195984" y="1351273"/>
                  <a:pt x="1211314" y="1345274"/>
                  <a:pt x="1222310" y="1334278"/>
                </a:cubicBezTo>
                <a:cubicBezTo>
                  <a:pt x="1233306" y="1323282"/>
                  <a:pt x="1241263" y="1309610"/>
                  <a:pt x="1250302" y="1296955"/>
                </a:cubicBezTo>
                <a:cubicBezTo>
                  <a:pt x="1256820" y="1287830"/>
                  <a:pt x="1260524" y="1276347"/>
                  <a:pt x="1268963" y="1268963"/>
                </a:cubicBezTo>
                <a:cubicBezTo>
                  <a:pt x="1268967" y="1268959"/>
                  <a:pt x="1338941" y="1222312"/>
                  <a:pt x="1352939" y="1212980"/>
                </a:cubicBezTo>
                <a:cubicBezTo>
                  <a:pt x="1362269" y="1206760"/>
                  <a:pt x="1373001" y="1202247"/>
                  <a:pt x="1380930" y="1194318"/>
                </a:cubicBezTo>
                <a:lnTo>
                  <a:pt x="1446245" y="1129004"/>
                </a:lnTo>
                <a:cubicBezTo>
                  <a:pt x="1462104" y="1113146"/>
                  <a:pt x="1471126" y="1091682"/>
                  <a:pt x="1483567" y="1073021"/>
                </a:cubicBezTo>
                <a:cubicBezTo>
                  <a:pt x="1495766" y="1054722"/>
                  <a:pt x="1514669" y="1041918"/>
                  <a:pt x="1530220" y="1026367"/>
                </a:cubicBezTo>
                <a:cubicBezTo>
                  <a:pt x="1538149" y="1018438"/>
                  <a:pt x="1543317" y="1008112"/>
                  <a:pt x="1548881" y="998376"/>
                </a:cubicBezTo>
                <a:cubicBezTo>
                  <a:pt x="1565473" y="969341"/>
                  <a:pt x="1565540" y="957858"/>
                  <a:pt x="1586204" y="933061"/>
                </a:cubicBezTo>
                <a:cubicBezTo>
                  <a:pt x="1594652" y="922924"/>
                  <a:pt x="1606095" y="915485"/>
                  <a:pt x="1614196" y="905069"/>
                </a:cubicBezTo>
                <a:cubicBezTo>
                  <a:pt x="1614201" y="905062"/>
                  <a:pt x="1660846" y="835093"/>
                  <a:pt x="1670179" y="821094"/>
                </a:cubicBezTo>
                <a:cubicBezTo>
                  <a:pt x="1675635" y="812910"/>
                  <a:pt x="1675111" y="801899"/>
                  <a:pt x="1679510" y="793102"/>
                </a:cubicBezTo>
                <a:cubicBezTo>
                  <a:pt x="1684525" y="783072"/>
                  <a:pt x="1693156" y="775140"/>
                  <a:pt x="1698171" y="765110"/>
                </a:cubicBezTo>
                <a:cubicBezTo>
                  <a:pt x="1702570" y="756313"/>
                  <a:pt x="1702725" y="745716"/>
                  <a:pt x="1707502" y="737118"/>
                </a:cubicBezTo>
                <a:cubicBezTo>
                  <a:pt x="1718394" y="717513"/>
                  <a:pt x="1737732" y="702412"/>
                  <a:pt x="1744824" y="681135"/>
                </a:cubicBezTo>
                <a:cubicBezTo>
                  <a:pt x="1755500" y="649108"/>
                  <a:pt x="1753902" y="644066"/>
                  <a:pt x="1782147" y="615821"/>
                </a:cubicBezTo>
                <a:cubicBezTo>
                  <a:pt x="1790077" y="607891"/>
                  <a:pt x="1800808" y="603380"/>
                  <a:pt x="1810139" y="597159"/>
                </a:cubicBezTo>
                <a:cubicBezTo>
                  <a:pt x="1838673" y="511552"/>
                  <a:pt x="1790979" y="644805"/>
                  <a:pt x="1847461" y="531845"/>
                </a:cubicBezTo>
                <a:cubicBezTo>
                  <a:pt x="1853196" y="520375"/>
                  <a:pt x="1851057" y="505993"/>
                  <a:pt x="1856792" y="494523"/>
                </a:cubicBezTo>
                <a:cubicBezTo>
                  <a:pt x="1860726" y="486655"/>
                  <a:pt x="1870573" y="483181"/>
                  <a:pt x="1875453" y="475861"/>
                </a:cubicBezTo>
                <a:cubicBezTo>
                  <a:pt x="1924575" y="402177"/>
                  <a:pt x="1860979" y="471674"/>
                  <a:pt x="1922106" y="410547"/>
                </a:cubicBezTo>
                <a:cubicBezTo>
                  <a:pt x="1925216" y="398106"/>
                  <a:pt x="1925702" y="384695"/>
                  <a:pt x="1931437" y="373225"/>
                </a:cubicBezTo>
                <a:cubicBezTo>
                  <a:pt x="1935371" y="365357"/>
                  <a:pt x="1944820" y="361601"/>
                  <a:pt x="1950098" y="354563"/>
                </a:cubicBezTo>
                <a:cubicBezTo>
                  <a:pt x="1950110" y="354548"/>
                  <a:pt x="1996745" y="284592"/>
                  <a:pt x="2006081" y="270588"/>
                </a:cubicBezTo>
                <a:lnTo>
                  <a:pt x="2062065" y="186612"/>
                </a:lnTo>
                <a:cubicBezTo>
                  <a:pt x="2068285" y="177282"/>
                  <a:pt x="2072797" y="166550"/>
                  <a:pt x="2080726" y="158621"/>
                </a:cubicBezTo>
                <a:cubicBezTo>
                  <a:pt x="2125782" y="113565"/>
                  <a:pt x="2068532" y="168375"/>
                  <a:pt x="2127379" y="121298"/>
                </a:cubicBezTo>
                <a:cubicBezTo>
                  <a:pt x="2151611" y="101912"/>
                  <a:pt x="2141729" y="98333"/>
                  <a:pt x="2174032" y="83976"/>
                </a:cubicBezTo>
                <a:cubicBezTo>
                  <a:pt x="2192007" y="75987"/>
                  <a:pt x="2211355" y="71535"/>
                  <a:pt x="2230016" y="65314"/>
                </a:cubicBezTo>
                <a:cubicBezTo>
                  <a:pt x="2251293" y="58221"/>
                  <a:pt x="2267339" y="40433"/>
                  <a:pt x="2286000" y="27992"/>
                </a:cubicBezTo>
                <a:cubicBezTo>
                  <a:pt x="2322175" y="3876"/>
                  <a:pt x="2303354" y="12877"/>
                  <a:pt x="2341983" y="0"/>
                </a:cubicBezTo>
                <a:cubicBezTo>
                  <a:pt x="2391746" y="3110"/>
                  <a:pt x="2441687" y="4111"/>
                  <a:pt x="2491273" y="9331"/>
                </a:cubicBezTo>
                <a:cubicBezTo>
                  <a:pt x="2501054" y="10361"/>
                  <a:pt x="2509808" y="15959"/>
                  <a:pt x="2519265" y="18661"/>
                </a:cubicBezTo>
                <a:cubicBezTo>
                  <a:pt x="2617947" y="46855"/>
                  <a:pt x="2479576" y="2321"/>
                  <a:pt x="2612571" y="46653"/>
                </a:cubicBezTo>
                <a:cubicBezTo>
                  <a:pt x="2714661" y="80683"/>
                  <a:pt x="2560025" y="26410"/>
                  <a:pt x="2668555" y="74645"/>
                </a:cubicBezTo>
                <a:cubicBezTo>
                  <a:pt x="2686530" y="82634"/>
                  <a:pt x="2705878" y="87085"/>
                  <a:pt x="2724539" y="93306"/>
                </a:cubicBezTo>
                <a:lnTo>
                  <a:pt x="2752530" y="102637"/>
                </a:lnTo>
                <a:cubicBezTo>
                  <a:pt x="2789853" y="158620"/>
                  <a:pt x="2749421" y="105748"/>
                  <a:pt x="2799183" y="149290"/>
                </a:cubicBezTo>
                <a:cubicBezTo>
                  <a:pt x="2815734" y="163772"/>
                  <a:pt x="2830286" y="180392"/>
                  <a:pt x="2845837" y="195943"/>
                </a:cubicBezTo>
                <a:cubicBezTo>
                  <a:pt x="2853767" y="203872"/>
                  <a:pt x="2856059" y="216550"/>
                  <a:pt x="2864498" y="223935"/>
                </a:cubicBezTo>
                <a:cubicBezTo>
                  <a:pt x="2881377" y="238704"/>
                  <a:pt x="2904622" y="245399"/>
                  <a:pt x="2920481" y="261257"/>
                </a:cubicBezTo>
                <a:lnTo>
                  <a:pt x="2939143" y="279918"/>
                </a:lnTo>
                <a:cubicBezTo>
                  <a:pt x="2942253" y="289249"/>
                  <a:pt x="2943413" y="299476"/>
                  <a:pt x="2948473" y="307910"/>
                </a:cubicBezTo>
                <a:cubicBezTo>
                  <a:pt x="2952999" y="315454"/>
                  <a:pt x="2961638" y="319703"/>
                  <a:pt x="2967134" y="326572"/>
                </a:cubicBezTo>
                <a:cubicBezTo>
                  <a:pt x="3014217" y="385424"/>
                  <a:pt x="2959399" y="328165"/>
                  <a:pt x="3004457" y="373225"/>
                </a:cubicBezTo>
                <a:cubicBezTo>
                  <a:pt x="3010677" y="388776"/>
                  <a:pt x="3014241" y="405675"/>
                  <a:pt x="3023118" y="419878"/>
                </a:cubicBezTo>
                <a:cubicBezTo>
                  <a:pt x="3056925" y="473968"/>
                  <a:pt x="3045588" y="421448"/>
                  <a:pt x="3069771" y="475861"/>
                </a:cubicBezTo>
                <a:cubicBezTo>
                  <a:pt x="3077760" y="493836"/>
                  <a:pt x="3082212" y="513184"/>
                  <a:pt x="3088432" y="531845"/>
                </a:cubicBezTo>
                <a:cubicBezTo>
                  <a:pt x="3098744" y="562780"/>
                  <a:pt x="3110009" y="593078"/>
                  <a:pt x="3116424" y="625151"/>
                </a:cubicBezTo>
                <a:cubicBezTo>
                  <a:pt x="3120134" y="643702"/>
                  <a:pt x="3119772" y="663187"/>
                  <a:pt x="3125755" y="681135"/>
                </a:cubicBezTo>
                <a:cubicBezTo>
                  <a:pt x="3129301" y="691774"/>
                  <a:pt x="3139862" y="698880"/>
                  <a:pt x="3144416" y="709127"/>
                </a:cubicBezTo>
                <a:cubicBezTo>
                  <a:pt x="3195459" y="823974"/>
                  <a:pt x="3139839" y="715583"/>
                  <a:pt x="3172408" y="802433"/>
                </a:cubicBezTo>
                <a:cubicBezTo>
                  <a:pt x="3190139" y="849715"/>
                  <a:pt x="3191539" y="833043"/>
                  <a:pt x="3219061" y="877078"/>
                </a:cubicBezTo>
                <a:cubicBezTo>
                  <a:pt x="3238674" y="908459"/>
                  <a:pt x="3244418" y="934488"/>
                  <a:pt x="3256383" y="970384"/>
                </a:cubicBezTo>
                <a:cubicBezTo>
                  <a:pt x="3259165" y="978730"/>
                  <a:pt x="3268824" y="982825"/>
                  <a:pt x="3275045" y="989045"/>
                </a:cubicBezTo>
                <a:cubicBezTo>
                  <a:pt x="3296926" y="1054691"/>
                  <a:pt x="3268447" y="973650"/>
                  <a:pt x="3303037" y="1054359"/>
                </a:cubicBezTo>
                <a:cubicBezTo>
                  <a:pt x="3326218" y="1108447"/>
                  <a:pt x="3295162" y="1056543"/>
                  <a:pt x="3331028" y="1110343"/>
                </a:cubicBezTo>
                <a:cubicBezTo>
                  <a:pt x="3334138" y="1122784"/>
                  <a:pt x="3336836" y="1135335"/>
                  <a:pt x="3340359" y="1147665"/>
                </a:cubicBezTo>
                <a:cubicBezTo>
                  <a:pt x="3343061" y="1157122"/>
                  <a:pt x="3347305" y="1166115"/>
                  <a:pt x="3349690" y="1175657"/>
                </a:cubicBezTo>
                <a:cubicBezTo>
                  <a:pt x="3358455" y="1210716"/>
                  <a:pt x="3355552" y="1220437"/>
                  <a:pt x="3368351" y="1250302"/>
                </a:cubicBezTo>
                <a:cubicBezTo>
                  <a:pt x="3409536" y="1346401"/>
                  <a:pt x="3363200" y="1216190"/>
                  <a:pt x="3405673" y="1343608"/>
                </a:cubicBezTo>
                <a:cubicBezTo>
                  <a:pt x="3409219" y="1354247"/>
                  <a:pt x="3419319" y="1361570"/>
                  <a:pt x="3424334" y="1371600"/>
                </a:cubicBezTo>
                <a:cubicBezTo>
                  <a:pt x="3428733" y="1380397"/>
                  <a:pt x="3430963" y="1390135"/>
                  <a:pt x="3433665" y="1399592"/>
                </a:cubicBezTo>
                <a:cubicBezTo>
                  <a:pt x="3440185" y="1422410"/>
                  <a:pt x="3450572" y="1476270"/>
                  <a:pt x="3461657" y="1492898"/>
                </a:cubicBezTo>
                <a:cubicBezTo>
                  <a:pt x="3467877" y="1502229"/>
                  <a:pt x="3475303" y="1510860"/>
                  <a:pt x="3480318" y="1520890"/>
                </a:cubicBezTo>
                <a:cubicBezTo>
                  <a:pt x="3484717" y="1529687"/>
                  <a:pt x="3483505" y="1541202"/>
                  <a:pt x="3489649" y="1548882"/>
                </a:cubicBezTo>
                <a:cubicBezTo>
                  <a:pt x="3496654" y="1557639"/>
                  <a:pt x="3508310" y="1561323"/>
                  <a:pt x="3517641" y="1567543"/>
                </a:cubicBezTo>
                <a:cubicBezTo>
                  <a:pt x="3520751" y="1576874"/>
                  <a:pt x="3520933" y="1587771"/>
                  <a:pt x="3526971" y="1595535"/>
                </a:cubicBezTo>
                <a:cubicBezTo>
                  <a:pt x="3543173" y="1616367"/>
                  <a:pt x="3564294" y="1632857"/>
                  <a:pt x="3582955" y="1651518"/>
                </a:cubicBezTo>
                <a:cubicBezTo>
                  <a:pt x="3589176" y="1657739"/>
                  <a:pt x="3596736" y="1662860"/>
                  <a:pt x="3601616" y="1670180"/>
                </a:cubicBezTo>
                <a:cubicBezTo>
                  <a:pt x="3607836" y="1679511"/>
                  <a:pt x="3615262" y="1688142"/>
                  <a:pt x="3620277" y="1698172"/>
                </a:cubicBezTo>
                <a:cubicBezTo>
                  <a:pt x="3624675" y="1706969"/>
                  <a:pt x="3622653" y="1719209"/>
                  <a:pt x="3629608" y="1726163"/>
                </a:cubicBezTo>
                <a:cubicBezTo>
                  <a:pt x="3636563" y="1733118"/>
                  <a:pt x="3648269" y="1732384"/>
                  <a:pt x="3657600" y="1735494"/>
                </a:cubicBezTo>
                <a:cubicBezTo>
                  <a:pt x="3663820" y="1744825"/>
                  <a:pt x="3667822" y="1756102"/>
                  <a:pt x="3676261" y="1763486"/>
                </a:cubicBezTo>
                <a:cubicBezTo>
                  <a:pt x="3706285" y="1789757"/>
                  <a:pt x="3735462" y="1802416"/>
                  <a:pt x="3769567" y="1819469"/>
                </a:cubicBezTo>
                <a:cubicBezTo>
                  <a:pt x="3786925" y="1836828"/>
                  <a:pt x="3792677" y="1845020"/>
                  <a:pt x="3816220" y="1856792"/>
                </a:cubicBezTo>
                <a:cubicBezTo>
                  <a:pt x="3825017" y="1861191"/>
                  <a:pt x="3835614" y="1861347"/>
                  <a:pt x="3844212" y="1866123"/>
                </a:cubicBezTo>
                <a:cubicBezTo>
                  <a:pt x="3863818" y="1877015"/>
                  <a:pt x="3881535" y="1891004"/>
                  <a:pt x="3900196" y="1903445"/>
                </a:cubicBezTo>
                <a:cubicBezTo>
                  <a:pt x="3916563" y="1914356"/>
                  <a:pt x="3937518" y="1915886"/>
                  <a:pt x="3956179" y="1922106"/>
                </a:cubicBezTo>
                <a:cubicBezTo>
                  <a:pt x="4005893" y="1938678"/>
                  <a:pt x="3979679" y="1931974"/>
                  <a:pt x="4058816" y="1940767"/>
                </a:cubicBezTo>
                <a:cubicBezTo>
                  <a:pt x="4089882" y="1944219"/>
                  <a:pt x="4121020" y="1946988"/>
                  <a:pt x="4152122" y="1950098"/>
                </a:cubicBezTo>
                <a:cubicBezTo>
                  <a:pt x="4186015" y="1961396"/>
                  <a:pt x="4170279" y="1959429"/>
                  <a:pt x="4198775" y="1959429"/>
                </a:cubicBezTo>
              </a:path>
            </a:pathLst>
          </a:cu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3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Why should there be a relationship between BEF?</a:t>
            </a:r>
          </a:p>
        </p:txBody>
      </p:sp>
      <p:sp>
        <p:nvSpPr>
          <p:cNvPr id="3" name="Content Placeholder 2"/>
          <p:cNvSpPr>
            <a:spLocks noGrp="1"/>
          </p:cNvSpPr>
          <p:nvPr>
            <p:ph idx="1"/>
          </p:nvPr>
        </p:nvSpPr>
        <p:spPr>
          <a:xfrm>
            <a:off x="1485900" y="1666010"/>
            <a:ext cx="6172200" cy="3119505"/>
          </a:xfrm>
        </p:spPr>
        <p:txBody>
          <a:bodyPr/>
          <a:lstStyle/>
          <a:p>
            <a:r>
              <a:rPr lang="en-GB" dirty="0"/>
              <a:t>Niche differentiation. </a:t>
            </a:r>
          </a:p>
          <a:p>
            <a:r>
              <a:rPr lang="en-GB" dirty="0"/>
              <a:t>Antagonism</a:t>
            </a:r>
          </a:p>
          <a:p>
            <a:r>
              <a:rPr lang="en-GB" dirty="0"/>
              <a:t>Facilitation</a:t>
            </a:r>
          </a:p>
          <a:p>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Important niches for plants and mycorrhizal fungi at local scales</a:t>
            </a:r>
          </a:p>
        </p:txBody>
      </p:sp>
      <p:sp>
        <p:nvSpPr>
          <p:cNvPr id="3" name="Content Placeholder 2"/>
          <p:cNvSpPr>
            <a:spLocks noGrp="1"/>
          </p:cNvSpPr>
          <p:nvPr>
            <p:ph idx="1"/>
          </p:nvPr>
        </p:nvSpPr>
        <p:spPr>
          <a:xfrm>
            <a:off x="1485900" y="1200152"/>
            <a:ext cx="2971800" cy="3394472"/>
          </a:xfrm>
        </p:spPr>
        <p:txBody>
          <a:bodyPr/>
          <a:lstStyle/>
          <a:p>
            <a:pPr marL="0" indent="0">
              <a:buNone/>
            </a:pPr>
            <a:r>
              <a:rPr lang="en-GB" b="1" dirty="0">
                <a:solidFill>
                  <a:srgbClr val="FF0000"/>
                </a:solidFill>
              </a:rPr>
              <a:t>Plants</a:t>
            </a:r>
          </a:p>
          <a:p>
            <a:pPr marL="0" indent="0">
              <a:buNone/>
            </a:pPr>
            <a:r>
              <a:rPr lang="en-GB" dirty="0"/>
              <a:t>Light</a:t>
            </a:r>
          </a:p>
          <a:p>
            <a:pPr marL="0" indent="0">
              <a:buNone/>
            </a:pPr>
            <a:r>
              <a:rPr lang="en-GB" dirty="0"/>
              <a:t>Rooting depth</a:t>
            </a:r>
          </a:p>
          <a:p>
            <a:pPr marL="0" indent="0">
              <a:buNone/>
            </a:pPr>
            <a:r>
              <a:rPr lang="en-GB" dirty="0"/>
              <a:t>Soil properties (pH, nutrients, water </a:t>
            </a:r>
            <a:r>
              <a:rPr lang="en-GB" dirty="0" err="1"/>
              <a:t>etc</a:t>
            </a:r>
            <a:r>
              <a:rPr lang="en-GB" dirty="0"/>
              <a:t>)</a:t>
            </a:r>
          </a:p>
          <a:p>
            <a:pPr marL="0" indent="0">
              <a:buNone/>
            </a:pPr>
            <a:r>
              <a:rPr lang="en-GB" dirty="0"/>
              <a:t>Grazing pressure</a:t>
            </a:r>
          </a:p>
          <a:p>
            <a:pPr marL="0" indent="0">
              <a:buNone/>
            </a:pPr>
            <a:r>
              <a:rPr lang="en-GB" dirty="0"/>
              <a:t>Mycorrhizal fungi</a:t>
            </a:r>
          </a:p>
          <a:p>
            <a:pPr marL="0" indent="0">
              <a:buNone/>
            </a:pPr>
            <a:endParaRPr lang="en-GB" dirty="0"/>
          </a:p>
        </p:txBody>
      </p:sp>
      <p:sp>
        <p:nvSpPr>
          <p:cNvPr id="4" name="Content Placeholder 2"/>
          <p:cNvSpPr txBox="1">
            <a:spLocks/>
          </p:cNvSpPr>
          <p:nvPr/>
        </p:nvSpPr>
        <p:spPr>
          <a:xfrm>
            <a:off x="4717473" y="1231324"/>
            <a:ext cx="297180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400" b="1" dirty="0">
                <a:solidFill>
                  <a:srgbClr val="FF0000"/>
                </a:solidFill>
              </a:rPr>
              <a:t>Mycorrhizal fungi</a:t>
            </a:r>
          </a:p>
          <a:p>
            <a:pPr marL="0" indent="0">
              <a:buNone/>
            </a:pPr>
            <a:r>
              <a:rPr lang="en-GB" sz="2400" dirty="0"/>
              <a:t>Host plant species</a:t>
            </a:r>
          </a:p>
          <a:p>
            <a:pPr marL="0" indent="0">
              <a:buNone/>
            </a:pPr>
            <a:r>
              <a:rPr lang="en-GB" sz="2400" dirty="0"/>
              <a:t>Soil properties (pH, nutrients, water </a:t>
            </a:r>
            <a:r>
              <a:rPr lang="en-GB" sz="2400" dirty="0" err="1"/>
              <a:t>etc</a:t>
            </a:r>
            <a:r>
              <a:rPr lang="en-GB" sz="2400" dirty="0"/>
              <a:t>)</a:t>
            </a:r>
          </a:p>
          <a:p>
            <a:pPr marL="0" indent="0">
              <a:buNone/>
            </a:pPr>
            <a:r>
              <a:rPr lang="en-GB" sz="2400" dirty="0"/>
              <a:t>Disturbance</a:t>
            </a:r>
          </a:p>
          <a:p>
            <a:pPr marL="0" indent="0">
              <a:buNone/>
            </a:pPr>
            <a:endParaRPr lang="en-GB" sz="2400" dirty="0"/>
          </a:p>
          <a:p>
            <a:pPr marL="0" indent="0">
              <a:buNone/>
            </a:pPr>
            <a:endParaRPr lang="en-GB" sz="2400" dirty="0"/>
          </a:p>
        </p:txBody>
      </p:sp>
    </p:spTree>
    <p:extLst>
      <p:ext uri="{BB962C8B-B14F-4D97-AF65-F5344CB8AC3E}">
        <p14:creationId xmlns:p14="http://schemas.microsoft.com/office/powerpoint/2010/main" val="2895694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Aberdeen\Papers\Johnson et al Tansley\Indirect direct diagram for Tansley.jpg"/>
          <p:cNvPicPr/>
          <p:nvPr/>
        </p:nvPicPr>
        <p:blipFill>
          <a:blip r:embed="rId2" cstate="screen"/>
          <a:srcRect l="11161" t="17857" r="17247" b="19728"/>
          <a:stretch>
            <a:fillRect/>
          </a:stretch>
        </p:blipFill>
        <p:spPr bwMode="auto">
          <a:xfrm>
            <a:off x="1525914" y="695997"/>
            <a:ext cx="6224267" cy="4447505"/>
          </a:xfrm>
          <a:prstGeom prst="rect">
            <a:avLst/>
          </a:prstGeom>
          <a:noFill/>
          <a:ln w="9525">
            <a:noFill/>
            <a:miter lim="800000"/>
            <a:headEnd/>
            <a:tailEnd/>
          </a:ln>
        </p:spPr>
      </p:pic>
      <p:pic>
        <p:nvPicPr>
          <p:cNvPr id="1126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9209" y="52446"/>
            <a:ext cx="2147724" cy="1184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4616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Linking Biodiversity with Function</a:t>
            </a:r>
          </a:p>
        </p:txBody>
      </p:sp>
      <p:sp>
        <p:nvSpPr>
          <p:cNvPr id="3" name="Content Placeholder 2"/>
          <p:cNvSpPr>
            <a:spLocks noGrp="1"/>
          </p:cNvSpPr>
          <p:nvPr>
            <p:ph idx="1"/>
          </p:nvPr>
        </p:nvSpPr>
        <p:spPr/>
        <p:txBody>
          <a:bodyPr>
            <a:normAutofit/>
          </a:bodyPr>
          <a:lstStyle/>
          <a:p>
            <a:r>
              <a:rPr lang="en-GB" dirty="0"/>
              <a:t>Easier to test for some species than others (plants versus microbes)</a:t>
            </a:r>
          </a:p>
          <a:p>
            <a:r>
              <a:rPr lang="en-GB" dirty="0"/>
              <a:t>Need to test across several taxonomic groups because relationships may not hold (e.g. different morphology, abundance, physiology and reproduction of microbes versus plants)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85900" y="194736"/>
            <a:ext cx="6172200" cy="1570356"/>
          </a:xfrm>
        </p:spPr>
        <p:txBody>
          <a:bodyPr>
            <a:normAutofit fontScale="90000"/>
          </a:bodyPr>
          <a:lstStyle/>
          <a:p>
            <a:r>
              <a:rPr lang="en-GB" dirty="0"/>
              <a:t>How do you test for relationships between biodiversity and ecosystem functioning? Big scale:</a:t>
            </a:r>
          </a:p>
        </p:txBody>
      </p:sp>
      <p:pic>
        <p:nvPicPr>
          <p:cNvPr id="101379" name="Picture 3" descr="C:\Users\soi537\Pictures\China Oct 2013\DSC_0115.JPG"/>
          <p:cNvPicPr>
            <a:picLocks noChangeAspect="1" noChangeArrowheads="1"/>
          </p:cNvPicPr>
          <p:nvPr/>
        </p:nvPicPr>
        <p:blipFill>
          <a:blip r:embed="rId2" cstate="screen"/>
          <a:srcRect/>
          <a:stretch>
            <a:fillRect/>
          </a:stretch>
        </p:blipFill>
        <p:spPr bwMode="auto">
          <a:xfrm>
            <a:off x="1143000" y="2394681"/>
            <a:ext cx="3693513" cy="2472517"/>
          </a:xfrm>
          <a:prstGeom prst="rect">
            <a:avLst/>
          </a:prstGeom>
          <a:noFill/>
        </p:spPr>
      </p:pic>
      <p:pic>
        <p:nvPicPr>
          <p:cNvPr id="101381" name="Picture 5" descr="Aerial view of The Jena Experiment"/>
          <p:cNvPicPr>
            <a:picLocks noChangeAspect="1" noChangeArrowheads="1"/>
          </p:cNvPicPr>
          <p:nvPr/>
        </p:nvPicPr>
        <p:blipFill>
          <a:blip r:embed="rId3" cstate="screen"/>
          <a:srcRect/>
          <a:stretch>
            <a:fillRect/>
          </a:stretch>
        </p:blipFill>
        <p:spPr bwMode="auto">
          <a:xfrm>
            <a:off x="4120932" y="2439652"/>
            <a:ext cx="3610286" cy="2406857"/>
          </a:xfrm>
          <a:prstGeom prst="rect">
            <a:avLst/>
          </a:prstGeom>
          <a:noFill/>
        </p:spPr>
      </p:pic>
      <p:sp>
        <p:nvSpPr>
          <p:cNvPr id="8" name="TextBox 7"/>
          <p:cNvSpPr txBox="1"/>
          <p:nvPr/>
        </p:nvSpPr>
        <p:spPr>
          <a:xfrm>
            <a:off x="1941226" y="2147341"/>
            <a:ext cx="881973" cy="300082"/>
          </a:xfrm>
          <a:prstGeom prst="rect">
            <a:avLst/>
          </a:prstGeom>
          <a:noFill/>
        </p:spPr>
        <p:txBody>
          <a:bodyPr wrap="none" rtlCol="0">
            <a:spAutoFit/>
          </a:bodyPr>
          <a:lstStyle/>
          <a:p>
            <a:r>
              <a:rPr lang="en-GB" sz="1350" dirty="0"/>
              <a:t>BEF China</a:t>
            </a:r>
          </a:p>
        </p:txBody>
      </p:sp>
      <p:sp>
        <p:nvSpPr>
          <p:cNvPr id="9" name="TextBox 8"/>
          <p:cNvSpPr txBox="1"/>
          <p:nvPr/>
        </p:nvSpPr>
        <p:spPr>
          <a:xfrm>
            <a:off x="5158493" y="2182943"/>
            <a:ext cx="2206823" cy="300082"/>
          </a:xfrm>
          <a:prstGeom prst="rect">
            <a:avLst/>
          </a:prstGeom>
          <a:noFill/>
        </p:spPr>
        <p:txBody>
          <a:bodyPr wrap="none" rtlCol="0">
            <a:spAutoFit/>
          </a:bodyPr>
          <a:lstStyle/>
          <a:p>
            <a:r>
              <a:rPr lang="en-GB" sz="1350" dirty="0"/>
              <a:t>Jena biodiversity experiment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Small scale – Thomas Bell work</a:t>
            </a:r>
          </a:p>
        </p:txBody>
      </p:sp>
      <p:pic>
        <p:nvPicPr>
          <p:cNvPr id="105476" name="Picture 4" descr="http://barralab.bio.ic.ac.uk/wp-content/uploads/2010/06/BactExpt3-300x136.jpg">
            <a:hlinkClick r:id="rId2"/>
          </p:cNvPr>
          <p:cNvPicPr>
            <a:picLocks noChangeAspect="1" noChangeArrowheads="1"/>
          </p:cNvPicPr>
          <p:nvPr/>
        </p:nvPicPr>
        <p:blipFill>
          <a:blip r:embed="rId3" cstate="screen"/>
          <a:srcRect/>
          <a:stretch>
            <a:fillRect/>
          </a:stretch>
        </p:blipFill>
        <p:spPr bwMode="auto">
          <a:xfrm>
            <a:off x="1505420" y="1315389"/>
            <a:ext cx="5919794" cy="2669128"/>
          </a:xfrm>
          <a:prstGeom prst="rect">
            <a:avLst/>
          </a:prstGeom>
          <a:noFill/>
        </p:spPr>
      </p:pic>
      <p:pic>
        <p:nvPicPr>
          <p:cNvPr id="1116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4264" y="3984514"/>
            <a:ext cx="5270173" cy="936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6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348" y="4868355"/>
            <a:ext cx="3579019" cy="28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16739" name="Rectangle 3"/>
          <p:cNvSpPr>
            <a:spLocks noChangeArrowheads="1"/>
          </p:cNvSpPr>
          <p:nvPr/>
        </p:nvSpPr>
        <p:spPr bwMode="auto">
          <a:xfrm>
            <a:off x="1498998" y="428625"/>
            <a:ext cx="6217444" cy="857250"/>
          </a:xfrm>
          <a:prstGeom prst="rect">
            <a:avLst/>
          </a:prstGeom>
          <a:noFill/>
          <a:ln w="9525">
            <a:noFill/>
            <a:miter lim="800000"/>
            <a:headEnd/>
            <a:tailEnd/>
          </a:ln>
          <a:effectLst>
            <a:outerShdw dist="35921" dir="2700000" algn="ctr" rotWithShape="0">
              <a:schemeClr val="tx1"/>
            </a:outerShdw>
          </a:effectLst>
        </p:spPr>
        <p:txBody>
          <a:bodyPr anchor="ctr"/>
          <a:lstStyle/>
          <a:p>
            <a:r>
              <a:rPr lang="en-GB" sz="2700" b="1">
                <a:solidFill>
                  <a:srgbClr val="FFCC00"/>
                </a:solidFill>
                <a:latin typeface="Comic Sans MS" pitchFamily="66" charset="0"/>
              </a:rPr>
              <a:t>Plant diversity &amp; ecosystem function</a:t>
            </a:r>
            <a:endParaRPr lang="en-GB" sz="3300">
              <a:solidFill>
                <a:schemeClr val="tx2"/>
              </a:solidFill>
            </a:endParaRPr>
          </a:p>
        </p:txBody>
      </p:sp>
      <p:pic>
        <p:nvPicPr>
          <p:cNvPr id="116746" name="Picture 10"/>
          <p:cNvPicPr>
            <a:picLocks noChangeAspect="1" noChangeArrowheads="1"/>
          </p:cNvPicPr>
          <p:nvPr/>
        </p:nvPicPr>
        <p:blipFill>
          <a:blip r:embed="rId2" cstate="screen"/>
          <a:srcRect/>
          <a:stretch>
            <a:fillRect/>
          </a:stretch>
        </p:blipFill>
        <p:spPr bwMode="auto">
          <a:xfrm>
            <a:off x="3904062" y="1456137"/>
            <a:ext cx="3939778" cy="2821781"/>
          </a:xfrm>
          <a:prstGeom prst="rect">
            <a:avLst/>
          </a:prstGeom>
          <a:noFill/>
          <a:ln w="9525">
            <a:noFill/>
            <a:miter lim="800000"/>
            <a:headEnd/>
            <a:tailEnd/>
          </a:ln>
          <a:effectLst/>
        </p:spPr>
      </p:pic>
      <p:sp>
        <p:nvSpPr>
          <p:cNvPr id="116747" name="Text Box 11"/>
          <p:cNvSpPr txBox="1">
            <a:spLocks noChangeArrowheads="1"/>
          </p:cNvSpPr>
          <p:nvPr/>
        </p:nvSpPr>
        <p:spPr bwMode="auto">
          <a:xfrm>
            <a:off x="4875610" y="4754739"/>
            <a:ext cx="2310248" cy="300082"/>
          </a:xfrm>
          <a:prstGeom prst="rect">
            <a:avLst/>
          </a:prstGeom>
          <a:noFill/>
          <a:ln w="9525">
            <a:noFill/>
            <a:miter lim="800000"/>
            <a:headEnd/>
            <a:tailEnd/>
          </a:ln>
          <a:effectLst/>
        </p:spPr>
        <p:txBody>
          <a:bodyPr wrap="none" anchor="ctr">
            <a:spAutoFit/>
          </a:bodyPr>
          <a:lstStyle/>
          <a:p>
            <a:pPr>
              <a:spcBef>
                <a:spcPct val="50000"/>
              </a:spcBef>
            </a:pPr>
            <a:r>
              <a:rPr lang="en-GB" sz="1350" b="1">
                <a:solidFill>
                  <a:srgbClr val="FFFF99"/>
                </a:solidFill>
                <a:latin typeface="Arial" pitchFamily="34" charset="0"/>
              </a:rPr>
              <a:t>Hector </a:t>
            </a:r>
            <a:r>
              <a:rPr lang="en-GB" sz="1350" b="1" i="1">
                <a:solidFill>
                  <a:srgbClr val="FFFF99"/>
                </a:solidFill>
                <a:latin typeface="Arial" pitchFamily="34" charset="0"/>
              </a:rPr>
              <a:t>et al</a:t>
            </a:r>
            <a:r>
              <a:rPr lang="en-GB" sz="1350" b="1">
                <a:solidFill>
                  <a:srgbClr val="FFFF99"/>
                </a:solidFill>
                <a:latin typeface="Arial" pitchFamily="34" charset="0"/>
              </a:rPr>
              <a:t>. 1999 Science</a:t>
            </a:r>
          </a:p>
        </p:txBody>
      </p:sp>
      <p:sp>
        <p:nvSpPr>
          <p:cNvPr id="116748" name="Text Box 12"/>
          <p:cNvSpPr txBox="1">
            <a:spLocks noChangeArrowheads="1"/>
          </p:cNvSpPr>
          <p:nvPr/>
        </p:nvSpPr>
        <p:spPr bwMode="auto">
          <a:xfrm>
            <a:off x="1285875" y="1971675"/>
            <a:ext cx="2438400" cy="2031325"/>
          </a:xfrm>
          <a:prstGeom prst="rect">
            <a:avLst/>
          </a:prstGeom>
          <a:noFill/>
          <a:ln w="9525">
            <a:noFill/>
            <a:miter lim="800000"/>
            <a:headEnd/>
            <a:tailEnd/>
          </a:ln>
          <a:effectLst/>
        </p:spPr>
        <p:txBody>
          <a:bodyPr>
            <a:spAutoFit/>
          </a:bodyPr>
          <a:lstStyle/>
          <a:p>
            <a:pPr algn="l">
              <a:spcBef>
                <a:spcPct val="50000"/>
              </a:spcBef>
            </a:pPr>
            <a:r>
              <a:rPr lang="en-GB" sz="2100" b="1">
                <a:solidFill>
                  <a:srgbClr val="FFFF99"/>
                </a:solidFill>
                <a:latin typeface="Comic Sans MS" pitchFamily="66" charset="0"/>
              </a:rPr>
              <a:t>Many studies have focused on above-ground components, such as plant productivity.</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1485900" y="205978"/>
            <a:ext cx="6172200" cy="1067650"/>
          </a:xfrm>
        </p:spPr>
        <p:txBody>
          <a:bodyPr>
            <a:normAutofit fontScale="90000"/>
          </a:bodyPr>
          <a:lstStyle/>
          <a:p>
            <a:r>
              <a:rPr lang="en-GB" sz="2100" b="1" dirty="0">
                <a:solidFill>
                  <a:schemeClr val="bg1"/>
                </a:solidFill>
                <a:latin typeface="Arial" pitchFamily="34" charset="0"/>
              </a:rPr>
              <a:t>Lots of debate about the nature of the relationship – often related to the nature of the experimental design. Just because a piece of work is published, does not mean it has no “issues”!</a:t>
            </a:r>
          </a:p>
        </p:txBody>
      </p:sp>
      <p:pic>
        <p:nvPicPr>
          <p:cNvPr id="156676" name="Picture 4"/>
          <p:cNvPicPr>
            <a:picLocks noChangeAspect="1" noChangeArrowheads="1"/>
          </p:cNvPicPr>
          <p:nvPr/>
        </p:nvPicPr>
        <p:blipFill>
          <a:blip r:embed="rId2" cstate="screen"/>
          <a:srcRect/>
          <a:stretch>
            <a:fillRect/>
          </a:stretch>
        </p:blipFill>
        <p:spPr bwMode="auto">
          <a:xfrm>
            <a:off x="1694262" y="1546624"/>
            <a:ext cx="3554015" cy="3369469"/>
          </a:xfrm>
          <a:prstGeom prst="rect">
            <a:avLst/>
          </a:prstGeom>
          <a:noFill/>
          <a:ln w="9525">
            <a:noFill/>
            <a:miter lim="800000"/>
            <a:headEnd/>
            <a:tailEnd/>
          </a:ln>
          <a:effectLst/>
        </p:spPr>
      </p:pic>
      <p:pic>
        <p:nvPicPr>
          <p:cNvPr id="9218" name="Picture 2" descr="Emeritus Prof Philip Grime"/>
          <p:cNvPicPr>
            <a:picLocks noChangeAspect="1" noChangeArrowheads="1"/>
          </p:cNvPicPr>
          <p:nvPr/>
        </p:nvPicPr>
        <p:blipFill>
          <a:blip r:embed="rId3" cstate="screen"/>
          <a:srcRect/>
          <a:stretch>
            <a:fillRect/>
          </a:stretch>
        </p:blipFill>
        <p:spPr bwMode="auto">
          <a:xfrm>
            <a:off x="5396967" y="1594912"/>
            <a:ext cx="1108765" cy="1474658"/>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3897442" y="247650"/>
            <a:ext cx="3923675" cy="857250"/>
          </a:xfrm>
        </p:spPr>
        <p:txBody>
          <a:bodyPr>
            <a:normAutofit fontScale="90000"/>
          </a:bodyPr>
          <a:lstStyle/>
          <a:p>
            <a:r>
              <a:rPr lang="en-GB" sz="2700" b="1" dirty="0">
                <a:solidFill>
                  <a:schemeClr val="bg1"/>
                </a:solidFill>
                <a:latin typeface="Arial" pitchFamily="34" charset="0"/>
              </a:rPr>
              <a:t>Species richness and biofuel production -David Tilman et al </a:t>
            </a:r>
            <a:r>
              <a:rPr lang="en-GB" sz="2700" b="1" i="1" dirty="0">
                <a:solidFill>
                  <a:schemeClr val="bg1"/>
                </a:solidFill>
                <a:latin typeface="Arial" pitchFamily="34" charset="0"/>
              </a:rPr>
              <a:t>Nature</a:t>
            </a:r>
          </a:p>
        </p:txBody>
      </p:sp>
      <p:pic>
        <p:nvPicPr>
          <p:cNvPr id="157700" name="Picture 4"/>
          <p:cNvPicPr>
            <a:picLocks noGrp="1" noChangeAspect="1" noChangeArrowheads="1"/>
          </p:cNvPicPr>
          <p:nvPr>
            <p:ph type="body" idx="1"/>
          </p:nvPr>
        </p:nvPicPr>
        <p:blipFill>
          <a:blip r:embed="rId2" cstate="screen"/>
          <a:srcRect/>
          <a:stretch>
            <a:fillRect/>
          </a:stretch>
        </p:blipFill>
        <p:spPr>
          <a:xfrm>
            <a:off x="1485902" y="1381125"/>
            <a:ext cx="6326981" cy="3596879"/>
          </a:xfrm>
          <a:noFill/>
          <a:ln/>
        </p:spPr>
      </p:pic>
      <p:pic>
        <p:nvPicPr>
          <p:cNvPr id="8194" name="Picture 2" descr="Larger view">
            <a:hlinkClick r:id="rId3"/>
          </p:cNvPr>
          <p:cNvPicPr>
            <a:picLocks noChangeAspect="1" noChangeArrowheads="1"/>
          </p:cNvPicPr>
          <p:nvPr/>
        </p:nvPicPr>
        <p:blipFill>
          <a:blip r:embed="rId4" cstate="screen"/>
          <a:srcRect/>
          <a:stretch>
            <a:fillRect/>
          </a:stretch>
        </p:blipFill>
        <p:spPr bwMode="auto">
          <a:xfrm>
            <a:off x="1491521" y="33728"/>
            <a:ext cx="1708918" cy="1281689"/>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1390650" y="114300"/>
            <a:ext cx="6477000" cy="704850"/>
          </a:xfrm>
        </p:spPr>
        <p:txBody>
          <a:bodyPr/>
          <a:lstStyle/>
          <a:p>
            <a:r>
              <a:rPr lang="en-GB" sz="2700" b="1">
                <a:solidFill>
                  <a:schemeClr val="bg1"/>
                </a:solidFill>
                <a:latin typeface="Arial" pitchFamily="34" charset="0"/>
              </a:rPr>
              <a:t>Consider other aspects of “diversity”</a:t>
            </a:r>
          </a:p>
        </p:txBody>
      </p:sp>
      <p:pic>
        <p:nvPicPr>
          <p:cNvPr id="159748" name="Picture 4"/>
          <p:cNvPicPr>
            <a:picLocks noChangeAspect="1" noChangeArrowheads="1"/>
          </p:cNvPicPr>
          <p:nvPr/>
        </p:nvPicPr>
        <p:blipFill>
          <a:blip r:embed="rId2" cstate="screen"/>
          <a:srcRect/>
          <a:stretch>
            <a:fillRect/>
          </a:stretch>
        </p:blipFill>
        <p:spPr bwMode="auto">
          <a:xfrm>
            <a:off x="1504952" y="1051324"/>
            <a:ext cx="2703910" cy="3950494"/>
          </a:xfrm>
          <a:prstGeom prst="rect">
            <a:avLst/>
          </a:prstGeom>
          <a:noFill/>
          <a:ln w="9525">
            <a:noFill/>
            <a:miter lim="800000"/>
            <a:headEnd/>
            <a:tailEnd/>
          </a:ln>
          <a:effectLst/>
        </p:spPr>
      </p:pic>
      <p:pic>
        <p:nvPicPr>
          <p:cNvPr id="159749" name="Picture 5"/>
          <p:cNvPicPr>
            <a:picLocks noChangeAspect="1" noChangeArrowheads="1"/>
          </p:cNvPicPr>
          <p:nvPr/>
        </p:nvPicPr>
        <p:blipFill>
          <a:blip r:embed="rId3" cstate="screen"/>
          <a:srcRect/>
          <a:stretch>
            <a:fillRect/>
          </a:stretch>
        </p:blipFill>
        <p:spPr bwMode="auto">
          <a:xfrm>
            <a:off x="4356497" y="1103712"/>
            <a:ext cx="3508772" cy="1420415"/>
          </a:xfrm>
          <a:prstGeom prst="rect">
            <a:avLst/>
          </a:prstGeom>
          <a:noFill/>
          <a:ln w="9525">
            <a:noFill/>
            <a:miter lim="800000"/>
            <a:headEnd/>
            <a:tailEnd/>
          </a:ln>
          <a:effectLst/>
        </p:spPr>
      </p:pic>
      <p:pic>
        <p:nvPicPr>
          <p:cNvPr id="159750" name="Picture 6"/>
          <p:cNvPicPr>
            <a:picLocks noChangeAspect="1" noChangeArrowheads="1"/>
          </p:cNvPicPr>
          <p:nvPr/>
        </p:nvPicPr>
        <p:blipFill>
          <a:blip r:embed="rId4" cstate="screen"/>
          <a:srcRect/>
          <a:stretch>
            <a:fillRect/>
          </a:stretch>
        </p:blipFill>
        <p:spPr bwMode="auto">
          <a:xfrm>
            <a:off x="5008962" y="2858693"/>
            <a:ext cx="2801540" cy="2091928"/>
          </a:xfrm>
          <a:prstGeom prst="rect">
            <a:avLst/>
          </a:prstGeom>
          <a:noFill/>
          <a:ln w="9525">
            <a:noFill/>
            <a:miter lim="800000"/>
            <a:headEnd/>
            <a:tailEnd/>
          </a:ln>
          <a:effectLst/>
        </p:spPr>
      </p:pic>
      <p:sp>
        <p:nvSpPr>
          <p:cNvPr id="159751" name="Text Box 7"/>
          <p:cNvSpPr txBox="1">
            <a:spLocks noChangeArrowheads="1"/>
          </p:cNvSpPr>
          <p:nvPr/>
        </p:nvSpPr>
        <p:spPr bwMode="auto">
          <a:xfrm>
            <a:off x="1496616" y="764381"/>
            <a:ext cx="1429174" cy="300082"/>
          </a:xfrm>
          <a:prstGeom prst="rect">
            <a:avLst/>
          </a:prstGeom>
          <a:noFill/>
          <a:ln w="9525">
            <a:noFill/>
            <a:miter lim="800000"/>
            <a:headEnd/>
            <a:tailEnd/>
          </a:ln>
          <a:effectLst/>
        </p:spPr>
        <p:txBody>
          <a:bodyPr wrap="none">
            <a:spAutoFit/>
          </a:bodyPr>
          <a:lstStyle/>
          <a:p>
            <a:r>
              <a:rPr lang="en-GB" sz="1350">
                <a:solidFill>
                  <a:schemeClr val="bg1"/>
                </a:solidFill>
              </a:rPr>
              <a:t>Nitrogen leaching</a:t>
            </a:r>
          </a:p>
        </p:txBody>
      </p:sp>
      <p:sp>
        <p:nvSpPr>
          <p:cNvPr id="159752" name="Text Box 8"/>
          <p:cNvSpPr txBox="1">
            <a:spLocks noChangeArrowheads="1"/>
          </p:cNvSpPr>
          <p:nvPr/>
        </p:nvSpPr>
        <p:spPr bwMode="auto">
          <a:xfrm>
            <a:off x="5422106" y="2593181"/>
            <a:ext cx="1834754" cy="300082"/>
          </a:xfrm>
          <a:prstGeom prst="rect">
            <a:avLst/>
          </a:prstGeom>
          <a:noFill/>
          <a:ln w="9525">
            <a:noFill/>
            <a:miter lim="800000"/>
            <a:headEnd/>
            <a:tailEnd/>
          </a:ln>
          <a:effectLst/>
        </p:spPr>
        <p:txBody>
          <a:bodyPr>
            <a:spAutoFit/>
          </a:bodyPr>
          <a:lstStyle/>
          <a:p>
            <a:r>
              <a:rPr lang="en-GB" sz="1350">
                <a:solidFill>
                  <a:schemeClr val="bg1"/>
                </a:solidFill>
              </a:rPr>
              <a:t>Soil respiration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1143000" y="141685"/>
            <a:ext cx="6858000" cy="485775"/>
          </a:xfrm>
        </p:spPr>
        <p:txBody>
          <a:bodyPr>
            <a:noAutofit/>
          </a:bodyPr>
          <a:lstStyle/>
          <a:p>
            <a:r>
              <a:rPr lang="en-GB" sz="2100" b="1" dirty="0"/>
              <a:t>A role for intra- and inter specific diversity of mycorrhizal fungi in regulating nutrient cycles?</a:t>
            </a:r>
          </a:p>
        </p:txBody>
      </p:sp>
      <p:sp>
        <p:nvSpPr>
          <p:cNvPr id="110595" name="Rectangle 3"/>
          <p:cNvSpPr>
            <a:spLocks noChangeArrowheads="1"/>
          </p:cNvSpPr>
          <p:nvPr/>
        </p:nvSpPr>
        <p:spPr bwMode="auto">
          <a:xfrm>
            <a:off x="5219700" y="844155"/>
            <a:ext cx="2538413" cy="1997869"/>
          </a:xfrm>
          <a:prstGeom prst="rect">
            <a:avLst/>
          </a:prstGeom>
          <a:noFill/>
          <a:ln w="9525">
            <a:noFill/>
            <a:miter lim="800000"/>
            <a:headEnd/>
            <a:tailEnd/>
          </a:ln>
          <a:effectLst/>
        </p:spPr>
        <p:txBody>
          <a:bodyPr anchor="ctr"/>
          <a:lstStyle/>
          <a:p>
            <a:r>
              <a:rPr lang="en-GB" sz="1500" b="1" dirty="0"/>
              <a:t>Each experiment had 270 microcosms containing 1, 2, 4 or 8 ECM species to create a gradient of richness;</a:t>
            </a:r>
            <a:br>
              <a:rPr lang="en-GB" sz="1500" b="1" dirty="0"/>
            </a:br>
            <a:br>
              <a:rPr lang="en-GB" sz="1500" b="1" dirty="0"/>
            </a:br>
            <a:r>
              <a:rPr lang="en-GB" sz="1500" b="1" dirty="0"/>
              <a:t>Biomass and CO</a:t>
            </a:r>
            <a:r>
              <a:rPr lang="en-GB" sz="1500" b="1" baseline="-25000" dirty="0"/>
              <a:t>2</a:t>
            </a:r>
            <a:r>
              <a:rPr lang="en-GB" sz="1500" b="1" dirty="0"/>
              <a:t> efflux measured. </a:t>
            </a:r>
          </a:p>
        </p:txBody>
      </p:sp>
      <p:pic>
        <p:nvPicPr>
          <p:cNvPr id="110596" name="Picture 4"/>
          <p:cNvPicPr>
            <a:picLocks noChangeAspect="1" noChangeArrowheads="1"/>
          </p:cNvPicPr>
          <p:nvPr/>
        </p:nvPicPr>
        <p:blipFill>
          <a:blip r:embed="rId2" cstate="screen"/>
          <a:srcRect/>
          <a:stretch>
            <a:fillRect/>
          </a:stretch>
        </p:blipFill>
        <p:spPr bwMode="auto">
          <a:xfrm>
            <a:off x="5112544" y="3003949"/>
            <a:ext cx="2700338" cy="2021681"/>
          </a:xfrm>
          <a:prstGeom prst="rect">
            <a:avLst/>
          </a:prstGeom>
          <a:noFill/>
          <a:ln w="9525">
            <a:solidFill>
              <a:schemeClr val="tx1"/>
            </a:solidFill>
            <a:miter lim="800000"/>
            <a:headEnd/>
            <a:tailEnd/>
          </a:ln>
        </p:spPr>
      </p:pic>
      <p:grpSp>
        <p:nvGrpSpPr>
          <p:cNvPr id="2" name="Group 24"/>
          <p:cNvGrpSpPr>
            <a:grpSpLocks/>
          </p:cNvGrpSpPr>
          <p:nvPr/>
        </p:nvGrpSpPr>
        <p:grpSpPr bwMode="auto">
          <a:xfrm>
            <a:off x="1143002" y="844155"/>
            <a:ext cx="3740944" cy="4195762"/>
            <a:chOff x="2426" y="709"/>
            <a:chExt cx="3142" cy="3524"/>
          </a:xfrm>
        </p:grpSpPr>
        <p:pic>
          <p:nvPicPr>
            <p:cNvPr id="110597" name="Picture 5"/>
            <p:cNvPicPr>
              <a:picLocks noChangeAspect="1" noChangeArrowheads="1"/>
            </p:cNvPicPr>
            <p:nvPr/>
          </p:nvPicPr>
          <p:blipFill>
            <a:blip r:embed="rId3" cstate="screen"/>
            <a:srcRect/>
            <a:stretch>
              <a:fillRect/>
            </a:stretch>
          </p:blipFill>
          <p:spPr bwMode="auto">
            <a:xfrm>
              <a:off x="3470" y="1117"/>
              <a:ext cx="2098" cy="2808"/>
            </a:xfrm>
            <a:prstGeom prst="rect">
              <a:avLst/>
            </a:prstGeom>
            <a:noFill/>
            <a:ln w="9525">
              <a:solidFill>
                <a:schemeClr val="tx1"/>
              </a:solidFill>
              <a:miter lim="800000"/>
              <a:headEnd/>
              <a:tailEnd/>
            </a:ln>
          </p:spPr>
        </p:pic>
        <p:sp>
          <p:nvSpPr>
            <p:cNvPr id="110598" name="Text Box 6"/>
            <p:cNvSpPr txBox="1">
              <a:spLocks noChangeArrowheads="1"/>
            </p:cNvSpPr>
            <p:nvPr/>
          </p:nvSpPr>
          <p:spPr bwMode="auto">
            <a:xfrm>
              <a:off x="2744" y="2704"/>
              <a:ext cx="590"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L. bicolor</a:t>
              </a:r>
            </a:p>
          </p:txBody>
        </p:sp>
        <p:sp>
          <p:nvSpPr>
            <p:cNvPr id="110599" name="Text Box 7"/>
            <p:cNvSpPr txBox="1">
              <a:spLocks noChangeArrowheads="1"/>
            </p:cNvSpPr>
            <p:nvPr/>
          </p:nvSpPr>
          <p:spPr bwMode="auto">
            <a:xfrm>
              <a:off x="3833" y="845"/>
              <a:ext cx="726"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P. involutus</a:t>
              </a:r>
            </a:p>
          </p:txBody>
        </p:sp>
        <p:sp>
          <p:nvSpPr>
            <p:cNvPr id="110600" name="Text Box 8"/>
            <p:cNvSpPr txBox="1">
              <a:spLocks noChangeArrowheads="1"/>
            </p:cNvSpPr>
            <p:nvPr/>
          </p:nvSpPr>
          <p:spPr bwMode="auto">
            <a:xfrm>
              <a:off x="4558" y="4020"/>
              <a:ext cx="998"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H. crustuliniforme</a:t>
              </a:r>
            </a:p>
          </p:txBody>
        </p:sp>
        <p:sp>
          <p:nvSpPr>
            <p:cNvPr id="110601" name="Text Box 9"/>
            <p:cNvSpPr txBox="1">
              <a:spLocks noChangeArrowheads="1"/>
            </p:cNvSpPr>
            <p:nvPr/>
          </p:nvSpPr>
          <p:spPr bwMode="auto">
            <a:xfrm>
              <a:off x="2744" y="2432"/>
              <a:ext cx="499" cy="213"/>
            </a:xfrm>
            <a:prstGeom prst="rect">
              <a:avLst/>
            </a:prstGeom>
            <a:solidFill>
              <a:srgbClr val="CCECFF"/>
            </a:solidFill>
            <a:ln w="9525">
              <a:solidFill>
                <a:schemeClr val="tx1"/>
              </a:solidFill>
              <a:miter lim="800000"/>
              <a:headEnd/>
              <a:tailEnd/>
            </a:ln>
            <a:effectLst/>
          </p:spPr>
          <p:txBody>
            <a:bodyPr>
              <a:spAutoFit/>
            </a:bodyPr>
            <a:lstStyle/>
            <a:p>
              <a:pPr>
                <a:spcBef>
                  <a:spcPct val="50000"/>
                </a:spcBef>
              </a:pPr>
              <a:r>
                <a:rPr lang="en-GB" sz="1050"/>
                <a:t>L. rufus</a:t>
              </a:r>
            </a:p>
          </p:txBody>
        </p:sp>
        <p:sp>
          <p:nvSpPr>
            <p:cNvPr id="110602" name="Text Box 10"/>
            <p:cNvSpPr txBox="1">
              <a:spLocks noChangeArrowheads="1"/>
            </p:cNvSpPr>
            <p:nvPr/>
          </p:nvSpPr>
          <p:spPr bwMode="auto">
            <a:xfrm>
              <a:off x="2608" y="3657"/>
              <a:ext cx="680"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S. bovinus</a:t>
              </a:r>
            </a:p>
          </p:txBody>
        </p:sp>
        <p:sp>
          <p:nvSpPr>
            <p:cNvPr id="110603" name="Text Box 11"/>
            <p:cNvSpPr txBox="1">
              <a:spLocks noChangeArrowheads="1"/>
            </p:cNvSpPr>
            <p:nvPr/>
          </p:nvSpPr>
          <p:spPr bwMode="auto">
            <a:xfrm>
              <a:off x="4649" y="709"/>
              <a:ext cx="861"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C. geophilum</a:t>
              </a:r>
            </a:p>
          </p:txBody>
        </p:sp>
        <p:sp>
          <p:nvSpPr>
            <p:cNvPr id="110604" name="Text Box 12"/>
            <p:cNvSpPr txBox="1">
              <a:spLocks noChangeArrowheads="1"/>
            </p:cNvSpPr>
            <p:nvPr/>
          </p:nvSpPr>
          <p:spPr bwMode="auto">
            <a:xfrm>
              <a:off x="2426" y="3022"/>
              <a:ext cx="862"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C. glaucopus</a:t>
              </a:r>
            </a:p>
          </p:txBody>
        </p:sp>
        <p:sp>
          <p:nvSpPr>
            <p:cNvPr id="110605" name="Line 13"/>
            <p:cNvSpPr>
              <a:spLocks noChangeShapeType="1"/>
            </p:cNvSpPr>
            <p:nvPr/>
          </p:nvSpPr>
          <p:spPr bwMode="auto">
            <a:xfrm flipH="1">
              <a:off x="4649" y="890"/>
              <a:ext cx="454" cy="1769"/>
            </a:xfrm>
            <a:prstGeom prst="line">
              <a:avLst/>
            </a:prstGeom>
            <a:noFill/>
            <a:ln w="9525">
              <a:solidFill>
                <a:schemeClr val="tx1"/>
              </a:solidFill>
              <a:round/>
              <a:headEnd/>
              <a:tailEnd type="triangle" w="med" len="med"/>
            </a:ln>
            <a:effectLst/>
          </p:spPr>
          <p:txBody>
            <a:bodyPr/>
            <a:lstStyle/>
            <a:p>
              <a:endParaRPr lang="en-GB" sz="1350"/>
            </a:p>
          </p:txBody>
        </p:sp>
        <p:sp>
          <p:nvSpPr>
            <p:cNvPr id="110606" name="Line 14"/>
            <p:cNvSpPr>
              <a:spLocks noChangeShapeType="1"/>
            </p:cNvSpPr>
            <p:nvPr/>
          </p:nvSpPr>
          <p:spPr bwMode="auto">
            <a:xfrm>
              <a:off x="4332" y="1026"/>
              <a:ext cx="272" cy="1452"/>
            </a:xfrm>
            <a:prstGeom prst="line">
              <a:avLst/>
            </a:prstGeom>
            <a:noFill/>
            <a:ln w="9525">
              <a:solidFill>
                <a:schemeClr val="tx1"/>
              </a:solidFill>
              <a:round/>
              <a:headEnd/>
              <a:tailEnd type="triangle" w="med" len="med"/>
            </a:ln>
            <a:effectLst/>
          </p:spPr>
          <p:txBody>
            <a:bodyPr/>
            <a:lstStyle/>
            <a:p>
              <a:endParaRPr lang="en-GB" sz="1350"/>
            </a:p>
          </p:txBody>
        </p:sp>
        <p:sp>
          <p:nvSpPr>
            <p:cNvPr id="110607" name="Line 15"/>
            <p:cNvSpPr>
              <a:spLocks noChangeShapeType="1"/>
            </p:cNvSpPr>
            <p:nvPr/>
          </p:nvSpPr>
          <p:spPr bwMode="auto">
            <a:xfrm flipV="1">
              <a:off x="3243" y="2387"/>
              <a:ext cx="907" cy="91"/>
            </a:xfrm>
            <a:prstGeom prst="line">
              <a:avLst/>
            </a:prstGeom>
            <a:noFill/>
            <a:ln w="9525">
              <a:solidFill>
                <a:schemeClr val="tx1"/>
              </a:solidFill>
              <a:round/>
              <a:headEnd/>
              <a:tailEnd type="triangle" w="med" len="med"/>
            </a:ln>
            <a:effectLst/>
          </p:spPr>
          <p:txBody>
            <a:bodyPr/>
            <a:lstStyle/>
            <a:p>
              <a:endParaRPr lang="en-GB" sz="1350"/>
            </a:p>
          </p:txBody>
        </p:sp>
        <p:sp>
          <p:nvSpPr>
            <p:cNvPr id="110608" name="Line 16"/>
            <p:cNvSpPr>
              <a:spLocks noChangeShapeType="1"/>
            </p:cNvSpPr>
            <p:nvPr/>
          </p:nvSpPr>
          <p:spPr bwMode="auto">
            <a:xfrm>
              <a:off x="3334" y="2795"/>
              <a:ext cx="1043" cy="91"/>
            </a:xfrm>
            <a:prstGeom prst="line">
              <a:avLst/>
            </a:prstGeom>
            <a:noFill/>
            <a:ln w="9525">
              <a:solidFill>
                <a:schemeClr val="tx1"/>
              </a:solidFill>
              <a:round/>
              <a:headEnd/>
              <a:tailEnd type="triangle" w="med" len="med"/>
            </a:ln>
            <a:effectLst/>
          </p:spPr>
          <p:txBody>
            <a:bodyPr/>
            <a:lstStyle/>
            <a:p>
              <a:endParaRPr lang="en-GB" sz="1350"/>
            </a:p>
          </p:txBody>
        </p:sp>
        <p:sp>
          <p:nvSpPr>
            <p:cNvPr id="110609" name="Line 17"/>
            <p:cNvSpPr>
              <a:spLocks noChangeShapeType="1"/>
            </p:cNvSpPr>
            <p:nvPr/>
          </p:nvSpPr>
          <p:spPr bwMode="auto">
            <a:xfrm flipH="1" flipV="1">
              <a:off x="4830" y="2976"/>
              <a:ext cx="590" cy="1044"/>
            </a:xfrm>
            <a:prstGeom prst="line">
              <a:avLst/>
            </a:prstGeom>
            <a:noFill/>
            <a:ln w="9525">
              <a:solidFill>
                <a:schemeClr val="tx1"/>
              </a:solidFill>
              <a:round/>
              <a:headEnd/>
              <a:tailEnd type="triangle" w="med" len="med"/>
            </a:ln>
            <a:effectLst/>
          </p:spPr>
          <p:txBody>
            <a:bodyPr/>
            <a:lstStyle/>
            <a:p>
              <a:endParaRPr lang="en-GB" sz="1350"/>
            </a:p>
          </p:txBody>
        </p:sp>
        <p:sp>
          <p:nvSpPr>
            <p:cNvPr id="110610" name="Text Box 18"/>
            <p:cNvSpPr txBox="1">
              <a:spLocks noChangeArrowheads="1"/>
            </p:cNvSpPr>
            <p:nvPr/>
          </p:nvSpPr>
          <p:spPr bwMode="auto">
            <a:xfrm>
              <a:off x="2517" y="3339"/>
              <a:ext cx="726"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A. muscaria</a:t>
              </a:r>
            </a:p>
          </p:txBody>
        </p:sp>
        <p:sp>
          <p:nvSpPr>
            <p:cNvPr id="110611" name="Line 19"/>
            <p:cNvSpPr>
              <a:spLocks noChangeShapeType="1"/>
            </p:cNvSpPr>
            <p:nvPr/>
          </p:nvSpPr>
          <p:spPr bwMode="auto">
            <a:xfrm flipV="1">
              <a:off x="3288" y="2614"/>
              <a:ext cx="817" cy="499"/>
            </a:xfrm>
            <a:prstGeom prst="line">
              <a:avLst/>
            </a:prstGeom>
            <a:noFill/>
            <a:ln w="9525">
              <a:solidFill>
                <a:schemeClr val="tx1"/>
              </a:solidFill>
              <a:round/>
              <a:headEnd/>
              <a:tailEnd type="triangle" w="med" len="med"/>
            </a:ln>
            <a:effectLst/>
          </p:spPr>
          <p:txBody>
            <a:bodyPr/>
            <a:lstStyle/>
            <a:p>
              <a:endParaRPr lang="en-GB" sz="1350"/>
            </a:p>
          </p:txBody>
        </p:sp>
        <p:sp>
          <p:nvSpPr>
            <p:cNvPr id="110612" name="Line 20"/>
            <p:cNvSpPr>
              <a:spLocks noChangeShapeType="1"/>
            </p:cNvSpPr>
            <p:nvPr/>
          </p:nvSpPr>
          <p:spPr bwMode="auto">
            <a:xfrm flipV="1">
              <a:off x="3243" y="3203"/>
              <a:ext cx="680" cy="182"/>
            </a:xfrm>
            <a:prstGeom prst="line">
              <a:avLst/>
            </a:prstGeom>
            <a:noFill/>
            <a:ln w="9525">
              <a:solidFill>
                <a:schemeClr val="tx1"/>
              </a:solidFill>
              <a:round/>
              <a:headEnd/>
              <a:tailEnd type="triangle" w="med" len="med"/>
            </a:ln>
            <a:effectLst/>
          </p:spPr>
          <p:txBody>
            <a:bodyPr/>
            <a:lstStyle/>
            <a:p>
              <a:endParaRPr lang="en-GB" sz="1350"/>
            </a:p>
          </p:txBody>
        </p:sp>
        <p:sp>
          <p:nvSpPr>
            <p:cNvPr id="110613" name="Line 21"/>
            <p:cNvSpPr>
              <a:spLocks noChangeShapeType="1"/>
            </p:cNvSpPr>
            <p:nvPr/>
          </p:nvSpPr>
          <p:spPr bwMode="auto">
            <a:xfrm flipV="1">
              <a:off x="3288" y="3022"/>
              <a:ext cx="1044" cy="726"/>
            </a:xfrm>
            <a:prstGeom prst="line">
              <a:avLst/>
            </a:prstGeom>
            <a:noFill/>
            <a:ln w="9525">
              <a:solidFill>
                <a:schemeClr val="tx1"/>
              </a:solidFill>
              <a:round/>
              <a:headEnd/>
              <a:tailEnd type="triangle" w="med" len="med"/>
            </a:ln>
            <a:effectLst/>
          </p:spPr>
          <p:txBody>
            <a:bodyPr/>
            <a:lstStyle/>
            <a:p>
              <a:endParaRPr lang="en-GB" sz="1350"/>
            </a:p>
          </p:txBody>
        </p:sp>
        <p:sp>
          <p:nvSpPr>
            <p:cNvPr id="110614" name="Text Box 22"/>
            <p:cNvSpPr txBox="1">
              <a:spLocks noChangeArrowheads="1"/>
            </p:cNvSpPr>
            <p:nvPr/>
          </p:nvSpPr>
          <p:spPr bwMode="auto">
            <a:xfrm>
              <a:off x="3470" y="4020"/>
              <a:ext cx="725" cy="213"/>
            </a:xfrm>
            <a:prstGeom prst="rect">
              <a:avLst/>
            </a:prstGeom>
            <a:solidFill>
              <a:srgbClr val="CCFFFF"/>
            </a:solidFill>
            <a:ln w="9525">
              <a:solidFill>
                <a:schemeClr val="tx1"/>
              </a:solidFill>
              <a:miter lim="800000"/>
              <a:headEnd/>
              <a:tailEnd/>
            </a:ln>
            <a:effectLst/>
          </p:spPr>
          <p:txBody>
            <a:bodyPr>
              <a:spAutoFit/>
            </a:bodyPr>
            <a:lstStyle/>
            <a:p>
              <a:pPr>
                <a:spcBef>
                  <a:spcPct val="50000"/>
                </a:spcBef>
              </a:pPr>
              <a:r>
                <a:rPr lang="en-GB" sz="1050"/>
                <a:t>NaOH Trap</a:t>
              </a:r>
            </a:p>
          </p:txBody>
        </p:sp>
        <p:sp>
          <p:nvSpPr>
            <p:cNvPr id="110615" name="Line 23"/>
            <p:cNvSpPr>
              <a:spLocks noChangeShapeType="1"/>
            </p:cNvSpPr>
            <p:nvPr/>
          </p:nvSpPr>
          <p:spPr bwMode="auto">
            <a:xfrm flipV="1">
              <a:off x="3969" y="3430"/>
              <a:ext cx="589" cy="590"/>
            </a:xfrm>
            <a:prstGeom prst="line">
              <a:avLst/>
            </a:prstGeom>
            <a:noFill/>
            <a:ln w="9525">
              <a:solidFill>
                <a:schemeClr val="tx1"/>
              </a:solidFill>
              <a:round/>
              <a:headEnd/>
              <a:tailEnd type="triangle" w="med" len="med"/>
            </a:ln>
            <a:effectLst/>
          </p:spPr>
          <p:txBody>
            <a:bodyPr/>
            <a:lstStyle/>
            <a:p>
              <a:endParaRPr lang="en-GB" sz="135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9"/>
          <p:cNvSpPr>
            <a:spLocks noChangeArrowheads="1"/>
          </p:cNvSpPr>
          <p:nvPr/>
        </p:nvSpPr>
        <p:spPr bwMode="auto">
          <a:xfrm>
            <a:off x="1533525" y="65314"/>
            <a:ext cx="6075760" cy="1006079"/>
          </a:xfrm>
          <a:prstGeom prst="roundRect">
            <a:avLst>
              <a:gd name="adj" fmla="val 16667"/>
            </a:avLst>
          </a:prstGeom>
          <a:solidFill>
            <a:srgbClr val="339966">
              <a:alpha val="12941"/>
            </a:srgbClr>
          </a:solidFill>
          <a:ln w="9525">
            <a:noFill/>
            <a:round/>
            <a:headEnd/>
            <a:tailEnd/>
          </a:ln>
        </p:spPr>
        <p:txBody>
          <a:bodyPr wrap="none" anchor="ctr"/>
          <a:lstStyle/>
          <a:p>
            <a:endParaRPr lang="en-US" sz="1350"/>
          </a:p>
        </p:txBody>
      </p:sp>
      <p:sp>
        <p:nvSpPr>
          <p:cNvPr id="7177" name="Rectangle 2"/>
          <p:cNvSpPr>
            <a:spLocks noChangeArrowheads="1"/>
          </p:cNvSpPr>
          <p:nvPr/>
        </p:nvSpPr>
        <p:spPr bwMode="auto">
          <a:xfrm>
            <a:off x="1338943" y="130628"/>
            <a:ext cx="6327492" cy="903515"/>
          </a:xfrm>
          <a:prstGeom prst="rect">
            <a:avLst/>
          </a:prstGeom>
          <a:noFill/>
          <a:ln w="9525">
            <a:noFill/>
            <a:miter lim="800000"/>
            <a:headEnd/>
            <a:tailEnd/>
          </a:ln>
        </p:spPr>
        <p:txBody>
          <a:bodyPr anchor="ctr"/>
          <a:lstStyle/>
          <a:p>
            <a:pPr algn="ctr"/>
            <a:r>
              <a:rPr lang="en-GB" u="sng" dirty="0">
                <a:solidFill>
                  <a:schemeClr val="tx2"/>
                </a:solidFill>
              </a:rPr>
              <a:t>Intraspecific</a:t>
            </a:r>
            <a:r>
              <a:rPr lang="en-GB" dirty="0">
                <a:solidFill>
                  <a:schemeClr val="tx2"/>
                </a:solidFill>
              </a:rPr>
              <a:t> diversity regulates fungal productivity </a:t>
            </a:r>
          </a:p>
          <a:p>
            <a:pPr algn="ctr"/>
            <a:r>
              <a:rPr lang="en-GB" dirty="0">
                <a:solidFill>
                  <a:schemeClr val="tx2"/>
                </a:solidFill>
              </a:rPr>
              <a:t>and respiration </a:t>
            </a:r>
            <a:br>
              <a:rPr lang="en-GB" sz="2400" dirty="0">
                <a:solidFill>
                  <a:schemeClr val="tx2"/>
                </a:solidFill>
              </a:rPr>
            </a:br>
            <a:r>
              <a:rPr lang="en-GB" sz="2400" dirty="0">
                <a:solidFill>
                  <a:schemeClr val="tx2"/>
                </a:solidFill>
              </a:rPr>
              <a:t> </a:t>
            </a:r>
            <a:r>
              <a:rPr lang="en-GB" sz="1200" dirty="0">
                <a:solidFill>
                  <a:schemeClr val="tx2"/>
                </a:solidFill>
              </a:rPr>
              <a:t>Wilkinson et al. (2010), </a:t>
            </a:r>
            <a:r>
              <a:rPr lang="en-GB" sz="1200" dirty="0" err="1">
                <a:solidFill>
                  <a:schemeClr val="tx2"/>
                </a:solidFill>
              </a:rPr>
              <a:t>PLoS</a:t>
            </a:r>
            <a:r>
              <a:rPr lang="en-GB" sz="1200" dirty="0">
                <a:solidFill>
                  <a:schemeClr val="tx2"/>
                </a:solidFill>
              </a:rPr>
              <a:t> ONE </a:t>
            </a:r>
            <a:r>
              <a:rPr lang="en-GB" sz="1200" dirty="0"/>
              <a:t>5, e12604</a:t>
            </a:r>
            <a:endParaRPr lang="en-GB" sz="1200" dirty="0">
              <a:solidFill>
                <a:schemeClr val="tx2"/>
              </a:solidFill>
            </a:endParaRPr>
          </a:p>
        </p:txBody>
      </p:sp>
      <p:pic>
        <p:nvPicPr>
          <p:cNvPr id="222209" name="Picture 1"/>
          <p:cNvPicPr>
            <a:picLocks noChangeAspect="1" noChangeArrowheads="1"/>
          </p:cNvPicPr>
          <p:nvPr/>
        </p:nvPicPr>
        <p:blipFill>
          <a:blip r:embed="rId3" cstate="screen"/>
          <a:srcRect/>
          <a:stretch>
            <a:fillRect/>
          </a:stretch>
        </p:blipFill>
        <p:spPr bwMode="auto">
          <a:xfrm>
            <a:off x="1925060" y="1165421"/>
            <a:ext cx="5004246" cy="3923653"/>
          </a:xfrm>
          <a:prstGeom prst="rect">
            <a:avLst/>
          </a:prstGeom>
          <a:noFill/>
          <a:ln w="9525">
            <a:noFill/>
            <a:miter lim="800000"/>
            <a:headEnd/>
            <a:tailEnd/>
          </a:ln>
          <a:effectLst/>
        </p:spPr>
      </p:pic>
      <p:sp>
        <p:nvSpPr>
          <p:cNvPr id="7172" name="Line 7"/>
          <p:cNvSpPr>
            <a:spLocks noChangeShapeType="1"/>
          </p:cNvSpPr>
          <p:nvPr/>
        </p:nvSpPr>
        <p:spPr bwMode="auto">
          <a:xfrm flipV="1">
            <a:off x="2795579" y="2307774"/>
            <a:ext cx="2734355" cy="875791"/>
          </a:xfrm>
          <a:prstGeom prst="line">
            <a:avLst/>
          </a:prstGeom>
          <a:noFill/>
          <a:ln w="25400">
            <a:solidFill>
              <a:srgbClr val="FF0000"/>
            </a:solidFill>
            <a:round/>
            <a:headEnd/>
            <a:tailEnd type="triangle" w="med" len="med"/>
          </a:ln>
        </p:spPr>
        <p:txBody>
          <a:bodyPr/>
          <a:lstStyle/>
          <a:p>
            <a:endParaRPr lang="en-GB" sz="13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78307" y="4839743"/>
            <a:ext cx="3161635" cy="300082"/>
          </a:xfrm>
          <a:prstGeom prst="rect">
            <a:avLst/>
          </a:prstGeom>
          <a:noFill/>
        </p:spPr>
        <p:txBody>
          <a:bodyPr wrap="none" rtlCol="0">
            <a:spAutoFit/>
          </a:bodyPr>
          <a:lstStyle/>
          <a:p>
            <a:r>
              <a:rPr lang="en-GB" sz="1350" dirty="0"/>
              <a:t>Hazard and Johnson </a:t>
            </a:r>
            <a:r>
              <a:rPr lang="en-GB" sz="1350" i="1" dirty="0"/>
              <a:t>New </a:t>
            </a:r>
            <a:r>
              <a:rPr lang="en-GB" sz="1350" i="1" dirty="0" err="1"/>
              <a:t>Phytologist</a:t>
            </a:r>
            <a:r>
              <a:rPr lang="en-GB" sz="1350" i="1" dirty="0"/>
              <a:t> </a:t>
            </a:r>
            <a:r>
              <a:rPr lang="en-GB" sz="1350" dirty="0"/>
              <a:t>2018</a:t>
            </a:r>
          </a:p>
        </p:txBody>
      </p:sp>
      <p:sp>
        <p:nvSpPr>
          <p:cNvPr id="5" name="TextBox 4"/>
          <p:cNvSpPr txBox="1"/>
          <p:nvPr/>
        </p:nvSpPr>
        <p:spPr>
          <a:xfrm>
            <a:off x="4983181" y="378724"/>
            <a:ext cx="2833181" cy="2031325"/>
          </a:xfrm>
          <a:prstGeom prst="rect">
            <a:avLst/>
          </a:prstGeom>
          <a:noFill/>
        </p:spPr>
        <p:txBody>
          <a:bodyPr wrap="square" rtlCol="0">
            <a:spAutoFit/>
          </a:bodyPr>
          <a:lstStyle/>
          <a:p>
            <a:r>
              <a:rPr lang="en-GB" dirty="0"/>
              <a:t>Biodiversity-ecosystem function relationships in mycorrhizal systems remain poorly studied</a:t>
            </a:r>
          </a:p>
          <a:p>
            <a:endParaRPr lang="en-GB" dirty="0"/>
          </a:p>
          <a:p>
            <a:r>
              <a:rPr lang="en-GB" dirty="0"/>
              <a:t>Spatial scale a key factor</a:t>
            </a:r>
          </a:p>
          <a:p>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3135" y="72294"/>
            <a:ext cx="3730046" cy="2787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146" y="2864816"/>
            <a:ext cx="4243650" cy="1974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3083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BA6E-5C26-864B-81CE-CF8A1D60F17F}"/>
              </a:ext>
            </a:extLst>
          </p:cNvPr>
          <p:cNvSpPr>
            <a:spLocks noGrp="1"/>
          </p:cNvSpPr>
          <p:nvPr>
            <p:ph type="title"/>
          </p:nvPr>
        </p:nvSpPr>
        <p:spPr/>
        <p:txBody>
          <a:bodyPr>
            <a:normAutofit/>
          </a:bodyPr>
          <a:lstStyle/>
          <a:p>
            <a:r>
              <a:rPr lang="en-GB" dirty="0"/>
              <a:t>Increasing interest in ‘traits’</a:t>
            </a:r>
          </a:p>
        </p:txBody>
      </p:sp>
      <p:sp>
        <p:nvSpPr>
          <p:cNvPr id="3" name="Content Placeholder 2">
            <a:extLst>
              <a:ext uri="{FF2B5EF4-FFF2-40B4-BE49-F238E27FC236}">
                <a16:creationId xmlns:a16="http://schemas.microsoft.com/office/drawing/2014/main" id="{1F8172E6-43DA-A940-85DC-2F27046EDFDB}"/>
              </a:ext>
            </a:extLst>
          </p:cNvPr>
          <p:cNvSpPr>
            <a:spLocks noGrp="1"/>
          </p:cNvSpPr>
          <p:nvPr>
            <p:ph idx="1"/>
          </p:nvPr>
        </p:nvSpPr>
        <p:spPr/>
        <p:txBody>
          <a:bodyPr>
            <a:normAutofit/>
          </a:bodyPr>
          <a:lstStyle/>
          <a:p>
            <a:r>
              <a:rPr lang="en-GB" dirty="0"/>
              <a:t>Traits: morphological, anatomical, physiological, biochemical and phenological characteristics of organisms</a:t>
            </a:r>
          </a:p>
          <a:p>
            <a:r>
              <a:rPr lang="en-GB" dirty="0"/>
              <a:t>Used as a ‘functional’ alternative or supplement to taxonomy</a:t>
            </a:r>
          </a:p>
          <a:p>
            <a:r>
              <a:rPr lang="en-GB" dirty="0"/>
              <a:t>Used widely for plants, but increasingly for animals and microorganisms</a:t>
            </a:r>
          </a:p>
          <a:p>
            <a:r>
              <a:rPr lang="en-GB" dirty="0"/>
              <a:t>Traits often measured by multiple studies and compiled into global databases</a:t>
            </a:r>
          </a:p>
        </p:txBody>
      </p:sp>
    </p:spTree>
    <p:extLst>
      <p:ext uri="{BB962C8B-B14F-4D97-AF65-F5344CB8AC3E}">
        <p14:creationId xmlns:p14="http://schemas.microsoft.com/office/powerpoint/2010/main" val="1691271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2317-3E80-D24B-AFD7-923D6196EC55}"/>
              </a:ext>
            </a:extLst>
          </p:cNvPr>
          <p:cNvSpPr>
            <a:spLocks noGrp="1"/>
          </p:cNvSpPr>
          <p:nvPr>
            <p:ph type="title"/>
          </p:nvPr>
        </p:nvSpPr>
        <p:spPr>
          <a:xfrm>
            <a:off x="1476375" y="110728"/>
            <a:ext cx="6172200" cy="575072"/>
          </a:xfrm>
        </p:spPr>
        <p:txBody>
          <a:bodyPr>
            <a:normAutofit fontScale="90000"/>
          </a:bodyPr>
          <a:lstStyle/>
          <a:p>
            <a:r>
              <a:rPr lang="en-GB" dirty="0"/>
              <a:t>Example: the ‘TRY’ plant database</a:t>
            </a:r>
          </a:p>
        </p:txBody>
      </p:sp>
      <p:pic>
        <p:nvPicPr>
          <p:cNvPr id="4" name="Picture 3">
            <a:extLst>
              <a:ext uri="{FF2B5EF4-FFF2-40B4-BE49-F238E27FC236}">
                <a16:creationId xmlns:a16="http://schemas.microsoft.com/office/drawing/2014/main" id="{83EAB6AB-B60C-084E-BA28-CDA7968C5CC6}"/>
              </a:ext>
            </a:extLst>
          </p:cNvPr>
          <p:cNvPicPr>
            <a:picLocks noChangeAspect="1"/>
          </p:cNvPicPr>
          <p:nvPr/>
        </p:nvPicPr>
        <p:blipFill>
          <a:blip r:embed="rId2"/>
          <a:stretch>
            <a:fillRect/>
          </a:stretch>
        </p:blipFill>
        <p:spPr>
          <a:xfrm>
            <a:off x="1143000" y="889563"/>
            <a:ext cx="3156881" cy="663013"/>
          </a:xfrm>
          <a:prstGeom prst="rect">
            <a:avLst/>
          </a:prstGeom>
        </p:spPr>
      </p:pic>
      <p:pic>
        <p:nvPicPr>
          <p:cNvPr id="107522" name="Picture 2" descr="Diagram of plant spectrum theory for ferns.">
            <a:extLst>
              <a:ext uri="{FF2B5EF4-FFF2-40B4-BE49-F238E27FC236}">
                <a16:creationId xmlns:a16="http://schemas.microsoft.com/office/drawing/2014/main" id="{C6FBA9FC-B33D-E54B-8B95-158FD1996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962" y="1579796"/>
            <a:ext cx="5014913" cy="3452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954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F:\1. PhD\Data\Gap survey\Borneo Autumn 2016 Flights\Flight presentation stills\Logged 5.png">
            <a:extLst>
              <a:ext uri="{FF2B5EF4-FFF2-40B4-BE49-F238E27FC236}">
                <a16:creationId xmlns:a16="http://schemas.microsoft.com/office/drawing/2014/main" id="{914E6BF2-08DA-DA44-8E2B-F814C39694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85" t="6474" r="-1"/>
          <a:stretch/>
        </p:blipFill>
        <p:spPr bwMode="auto">
          <a:xfrm>
            <a:off x="1219202" y="952502"/>
            <a:ext cx="6724651" cy="4190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D786789-1A9E-B542-9EAF-C6DE1BA2B483}"/>
              </a:ext>
            </a:extLst>
          </p:cNvPr>
          <p:cNvSpPr>
            <a:spLocks noGrp="1"/>
          </p:cNvSpPr>
          <p:nvPr>
            <p:ph type="title"/>
          </p:nvPr>
        </p:nvSpPr>
        <p:spPr>
          <a:xfrm>
            <a:off x="1143000" y="101203"/>
            <a:ext cx="6762750" cy="622697"/>
          </a:xfrm>
        </p:spPr>
        <p:txBody>
          <a:bodyPr>
            <a:noAutofit/>
          </a:bodyPr>
          <a:lstStyle/>
          <a:p>
            <a:r>
              <a:rPr lang="en-GB" sz="1800" dirty="0"/>
              <a:t>Example showing how environmental and human disturbance affects plant traits</a:t>
            </a:r>
          </a:p>
        </p:txBody>
      </p:sp>
      <p:pic>
        <p:nvPicPr>
          <p:cNvPr id="5" name="Picture 4">
            <a:extLst>
              <a:ext uri="{FF2B5EF4-FFF2-40B4-BE49-F238E27FC236}">
                <a16:creationId xmlns:a16="http://schemas.microsoft.com/office/drawing/2014/main" id="{F2506B44-04E2-4B40-BED5-C075B11A748E}"/>
              </a:ext>
            </a:extLst>
          </p:cNvPr>
          <p:cNvPicPr>
            <a:picLocks noChangeAspect="1"/>
          </p:cNvPicPr>
          <p:nvPr/>
        </p:nvPicPr>
        <p:blipFill>
          <a:blip r:embed="rId3"/>
          <a:stretch>
            <a:fillRect/>
          </a:stretch>
        </p:blipFill>
        <p:spPr>
          <a:xfrm>
            <a:off x="5534025" y="4724400"/>
            <a:ext cx="2466975" cy="419100"/>
          </a:xfrm>
          <a:prstGeom prst="rect">
            <a:avLst/>
          </a:prstGeom>
        </p:spPr>
      </p:pic>
      <p:pic>
        <p:nvPicPr>
          <p:cNvPr id="4" name="Picture 3">
            <a:extLst>
              <a:ext uri="{FF2B5EF4-FFF2-40B4-BE49-F238E27FC236}">
                <a16:creationId xmlns:a16="http://schemas.microsoft.com/office/drawing/2014/main" id="{BD5ECF66-4AE5-184A-810B-DA6A699C1BDA}"/>
              </a:ext>
            </a:extLst>
          </p:cNvPr>
          <p:cNvPicPr>
            <a:picLocks noChangeAspect="1"/>
          </p:cNvPicPr>
          <p:nvPr/>
        </p:nvPicPr>
        <p:blipFill>
          <a:blip r:embed="rId4"/>
          <a:stretch>
            <a:fillRect/>
          </a:stretch>
        </p:blipFill>
        <p:spPr>
          <a:xfrm>
            <a:off x="1143000" y="841756"/>
            <a:ext cx="3362325" cy="1033232"/>
          </a:xfrm>
          <a:prstGeom prst="rect">
            <a:avLst/>
          </a:prstGeom>
        </p:spPr>
      </p:pic>
    </p:spTree>
    <p:extLst>
      <p:ext uri="{BB962C8B-B14F-4D97-AF65-F5344CB8AC3E}">
        <p14:creationId xmlns:p14="http://schemas.microsoft.com/office/powerpoint/2010/main" val="3500746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51D00D-CBE8-CA4A-83BB-2384C72C138A}"/>
              </a:ext>
            </a:extLst>
          </p:cNvPr>
          <p:cNvPicPr>
            <a:picLocks noChangeAspect="1"/>
          </p:cNvPicPr>
          <p:nvPr/>
        </p:nvPicPr>
        <p:blipFill>
          <a:blip r:embed="rId2"/>
          <a:stretch>
            <a:fillRect/>
          </a:stretch>
        </p:blipFill>
        <p:spPr>
          <a:xfrm>
            <a:off x="2632735" y="0"/>
            <a:ext cx="5231083" cy="5143500"/>
          </a:xfrm>
          <a:prstGeom prst="rect">
            <a:avLst/>
          </a:prstGeom>
        </p:spPr>
      </p:pic>
      <p:sp>
        <p:nvSpPr>
          <p:cNvPr id="2" name="Title 1">
            <a:extLst>
              <a:ext uri="{FF2B5EF4-FFF2-40B4-BE49-F238E27FC236}">
                <a16:creationId xmlns:a16="http://schemas.microsoft.com/office/drawing/2014/main" id="{F97CDA33-9A46-3D43-8B77-01D3A266B4D5}"/>
              </a:ext>
            </a:extLst>
          </p:cNvPr>
          <p:cNvSpPr>
            <a:spLocks noGrp="1"/>
          </p:cNvSpPr>
          <p:nvPr>
            <p:ph type="title"/>
          </p:nvPr>
        </p:nvSpPr>
        <p:spPr>
          <a:xfrm>
            <a:off x="1314450" y="748903"/>
            <a:ext cx="2009775" cy="2041922"/>
          </a:xfrm>
        </p:spPr>
        <p:txBody>
          <a:bodyPr>
            <a:normAutofit/>
          </a:bodyPr>
          <a:lstStyle/>
          <a:p>
            <a:pPr algn="l"/>
            <a:r>
              <a:rPr lang="en-GB" sz="1350" b="1" dirty="0">
                <a:solidFill>
                  <a:schemeClr val="accent6">
                    <a:lumMod val="50000"/>
                  </a:schemeClr>
                </a:solidFill>
              </a:rPr>
              <a:t>Brown:</a:t>
            </a:r>
            <a:r>
              <a:rPr lang="en-GB" sz="1350" dirty="0">
                <a:solidFill>
                  <a:schemeClr val="accent6">
                    <a:lumMod val="50000"/>
                  </a:schemeClr>
                </a:solidFill>
              </a:rPr>
              <a:t> </a:t>
            </a:r>
            <a:r>
              <a:rPr lang="en-GB" sz="1350" dirty="0"/>
              <a:t>variation in plant traits explained by various soil properties</a:t>
            </a:r>
            <a:br>
              <a:rPr lang="en-GB" sz="1350" dirty="0"/>
            </a:br>
            <a:br>
              <a:rPr lang="en-GB" sz="1350" dirty="0"/>
            </a:br>
            <a:r>
              <a:rPr lang="en-GB" sz="1350" b="1" dirty="0">
                <a:solidFill>
                  <a:srgbClr val="00B050"/>
                </a:solidFill>
              </a:rPr>
              <a:t>Green:</a:t>
            </a:r>
            <a:r>
              <a:rPr lang="en-GB" sz="1350" dirty="0"/>
              <a:t> variation in plant traits explained by forest type (i.e. logged or unlogged)</a:t>
            </a:r>
          </a:p>
        </p:txBody>
      </p:sp>
    </p:spTree>
    <p:extLst>
      <p:ext uri="{BB962C8B-B14F-4D97-AF65-F5344CB8AC3E}">
        <p14:creationId xmlns:p14="http://schemas.microsoft.com/office/powerpoint/2010/main" val="2963244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BBE0-DEF1-6E44-97B3-618D56C291DC}"/>
              </a:ext>
            </a:extLst>
          </p:cNvPr>
          <p:cNvSpPr>
            <a:spLocks noGrp="1"/>
          </p:cNvSpPr>
          <p:nvPr>
            <p:ph type="ctrTitle"/>
          </p:nvPr>
        </p:nvSpPr>
        <p:spPr>
          <a:xfrm>
            <a:off x="1529334" y="192549"/>
            <a:ext cx="6334506" cy="1096756"/>
          </a:xfrm>
        </p:spPr>
        <p:txBody>
          <a:bodyPr>
            <a:noAutofit/>
          </a:bodyPr>
          <a:lstStyle/>
          <a:p>
            <a:r>
              <a:rPr lang="en-GB" dirty="0"/>
              <a:t>A Sustainable Planet:</a:t>
            </a:r>
            <a:br>
              <a:rPr lang="en-GB" dirty="0"/>
            </a:br>
            <a:r>
              <a:rPr lang="en-GB" dirty="0"/>
              <a:t>Phosphorus in soil, food and water</a:t>
            </a:r>
          </a:p>
        </p:txBody>
      </p:sp>
      <p:sp>
        <p:nvSpPr>
          <p:cNvPr id="3" name="Subtitle 2">
            <a:extLst>
              <a:ext uri="{FF2B5EF4-FFF2-40B4-BE49-F238E27FC236}">
                <a16:creationId xmlns:a16="http://schemas.microsoft.com/office/drawing/2014/main" id="{E53C71B0-E228-5748-A274-244EA0104F01}"/>
              </a:ext>
            </a:extLst>
          </p:cNvPr>
          <p:cNvSpPr>
            <a:spLocks noGrp="1"/>
          </p:cNvSpPr>
          <p:nvPr>
            <p:ph type="subTitle" idx="1"/>
          </p:nvPr>
        </p:nvSpPr>
        <p:spPr>
          <a:xfrm>
            <a:off x="1581912" y="3520440"/>
            <a:ext cx="5925312" cy="539496"/>
          </a:xfrm>
        </p:spPr>
        <p:txBody>
          <a:bodyPr>
            <a:normAutofit fontScale="92500" lnSpcReduction="10000"/>
          </a:bodyPr>
          <a:lstStyle/>
          <a:p>
            <a:r>
              <a:rPr lang="en-GB" sz="1950" dirty="0"/>
              <a:t>Professor David Johnson</a:t>
            </a:r>
          </a:p>
          <a:p>
            <a:r>
              <a:rPr lang="en-GB" sz="1350" dirty="0"/>
              <a:t>Department of Earth and Environmental Sciences </a:t>
            </a:r>
          </a:p>
        </p:txBody>
      </p:sp>
      <p:sp>
        <p:nvSpPr>
          <p:cNvPr id="5" name="TextBox 4">
            <a:extLst>
              <a:ext uri="{FF2B5EF4-FFF2-40B4-BE49-F238E27FC236}">
                <a16:creationId xmlns:a16="http://schemas.microsoft.com/office/drawing/2014/main" id="{A0327388-0E8D-2244-BDBE-8994FF988B69}"/>
              </a:ext>
            </a:extLst>
          </p:cNvPr>
          <p:cNvSpPr txBox="1"/>
          <p:nvPr/>
        </p:nvSpPr>
        <p:spPr>
          <a:xfrm>
            <a:off x="1380744" y="4736592"/>
            <a:ext cx="4403706" cy="300082"/>
          </a:xfrm>
          <a:prstGeom prst="rect">
            <a:avLst/>
          </a:prstGeom>
          <a:noFill/>
        </p:spPr>
        <p:txBody>
          <a:bodyPr wrap="none" rtlCol="0">
            <a:spAutoFit/>
          </a:bodyPr>
          <a:lstStyle/>
          <a:p>
            <a:r>
              <a:rPr lang="en-GB" sz="1350" dirty="0">
                <a:hlinkClick r:id="rId2"/>
              </a:rPr>
              <a:t>david.johnson-2@manchester.ac.uk</a:t>
            </a:r>
            <a:r>
              <a:rPr lang="en-GB" sz="1350" dirty="0"/>
              <a:t>; Michael Smith Building</a:t>
            </a:r>
          </a:p>
        </p:txBody>
      </p:sp>
      <p:pic>
        <p:nvPicPr>
          <p:cNvPr id="7" name="Picture 6">
            <a:extLst>
              <a:ext uri="{FF2B5EF4-FFF2-40B4-BE49-F238E27FC236}">
                <a16:creationId xmlns:a16="http://schemas.microsoft.com/office/drawing/2014/main" id="{DD5743A7-3C44-0543-8731-6797B4159DC5}"/>
              </a:ext>
            </a:extLst>
          </p:cNvPr>
          <p:cNvPicPr>
            <a:picLocks noChangeAspect="1"/>
          </p:cNvPicPr>
          <p:nvPr/>
        </p:nvPicPr>
        <p:blipFill>
          <a:blip r:embed="rId3"/>
          <a:stretch>
            <a:fillRect/>
          </a:stretch>
        </p:blipFill>
        <p:spPr>
          <a:xfrm>
            <a:off x="3337560" y="1300734"/>
            <a:ext cx="2415540" cy="2113598"/>
          </a:xfrm>
          <a:prstGeom prst="rect">
            <a:avLst/>
          </a:prstGeom>
        </p:spPr>
      </p:pic>
    </p:spTree>
    <p:extLst>
      <p:ext uri="{BB962C8B-B14F-4D97-AF65-F5344CB8AC3E}">
        <p14:creationId xmlns:p14="http://schemas.microsoft.com/office/powerpoint/2010/main" val="1125211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9969F-D9F5-4740-A228-BC7DCF6BB118}"/>
              </a:ext>
            </a:extLst>
          </p:cNvPr>
          <p:cNvSpPr>
            <a:spLocks noGrp="1"/>
          </p:cNvSpPr>
          <p:nvPr>
            <p:ph type="title"/>
          </p:nvPr>
        </p:nvSpPr>
        <p:spPr/>
        <p:txBody>
          <a:bodyPr/>
          <a:lstStyle/>
          <a:p>
            <a:r>
              <a:rPr lang="en-GB" dirty="0"/>
              <a:t>Aims and topics for this section</a:t>
            </a:r>
          </a:p>
        </p:txBody>
      </p:sp>
      <p:sp>
        <p:nvSpPr>
          <p:cNvPr id="3" name="Content Placeholder 2">
            <a:extLst>
              <a:ext uri="{FF2B5EF4-FFF2-40B4-BE49-F238E27FC236}">
                <a16:creationId xmlns:a16="http://schemas.microsoft.com/office/drawing/2014/main" id="{AA2C9BAD-8F33-D14B-A8AF-FBB926D4C8DD}"/>
              </a:ext>
            </a:extLst>
          </p:cNvPr>
          <p:cNvSpPr>
            <a:spLocks noGrp="1"/>
          </p:cNvSpPr>
          <p:nvPr>
            <p:ph idx="1"/>
          </p:nvPr>
        </p:nvSpPr>
        <p:spPr/>
        <p:txBody>
          <a:bodyPr/>
          <a:lstStyle/>
          <a:p>
            <a:r>
              <a:rPr lang="en-GB" dirty="0"/>
              <a:t>The critical role of phosphorus for humanity</a:t>
            </a:r>
          </a:p>
          <a:p>
            <a:r>
              <a:rPr lang="en-GB" dirty="0"/>
              <a:t>Focus on phosphorus in agriculture</a:t>
            </a:r>
          </a:p>
          <a:p>
            <a:r>
              <a:rPr lang="en-GB" dirty="0"/>
              <a:t>How is phosphorus cycled on land and in water</a:t>
            </a:r>
          </a:p>
          <a:p>
            <a:r>
              <a:rPr lang="en-GB" dirty="0"/>
              <a:t>Concepts of co-limitation</a:t>
            </a:r>
          </a:p>
        </p:txBody>
      </p:sp>
    </p:spTree>
    <p:extLst>
      <p:ext uri="{BB962C8B-B14F-4D97-AF65-F5344CB8AC3E}">
        <p14:creationId xmlns:p14="http://schemas.microsoft.com/office/powerpoint/2010/main" val="3077626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3F89-0AB6-B842-83E7-E5F28E9325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52ED5D-BC22-D64D-9C35-CDBA4875700C}"/>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4870B470-3A4B-7546-954B-0053C218370B}"/>
              </a:ext>
            </a:extLst>
          </p:cNvPr>
          <p:cNvPicPr>
            <a:picLocks noChangeAspect="1"/>
          </p:cNvPicPr>
          <p:nvPr/>
        </p:nvPicPr>
        <p:blipFill>
          <a:blip r:embed="rId2"/>
          <a:stretch>
            <a:fillRect/>
          </a:stretch>
        </p:blipFill>
        <p:spPr>
          <a:xfrm>
            <a:off x="1549741" y="237745"/>
            <a:ext cx="6029390" cy="4518896"/>
          </a:xfrm>
          <a:prstGeom prst="rect">
            <a:avLst/>
          </a:prstGeom>
        </p:spPr>
      </p:pic>
    </p:spTree>
    <p:extLst>
      <p:ext uri="{BB962C8B-B14F-4D97-AF65-F5344CB8AC3E}">
        <p14:creationId xmlns:p14="http://schemas.microsoft.com/office/powerpoint/2010/main" val="3888397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AAF2BE-E2ED-8640-A83E-ACA2BE2AF3FC}"/>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05C1B27B-1B35-ED4C-882A-5F0F9F6F7984}"/>
              </a:ext>
            </a:extLst>
          </p:cNvPr>
          <p:cNvPicPr>
            <a:picLocks noChangeAspect="1"/>
          </p:cNvPicPr>
          <p:nvPr/>
        </p:nvPicPr>
        <p:blipFill>
          <a:blip r:embed="rId2"/>
          <a:stretch>
            <a:fillRect/>
          </a:stretch>
        </p:blipFill>
        <p:spPr>
          <a:xfrm>
            <a:off x="1143000" y="797814"/>
            <a:ext cx="6858000" cy="3547872"/>
          </a:xfrm>
          <a:prstGeom prst="rect">
            <a:avLst/>
          </a:prstGeom>
        </p:spPr>
      </p:pic>
      <p:sp>
        <p:nvSpPr>
          <p:cNvPr id="5" name="TextBox 4">
            <a:extLst>
              <a:ext uri="{FF2B5EF4-FFF2-40B4-BE49-F238E27FC236}">
                <a16:creationId xmlns:a16="http://schemas.microsoft.com/office/drawing/2014/main" id="{A806324D-ACD9-6B4E-9D8A-34177D19E0B3}"/>
              </a:ext>
            </a:extLst>
          </p:cNvPr>
          <p:cNvSpPr txBox="1"/>
          <p:nvPr/>
        </p:nvSpPr>
        <p:spPr>
          <a:xfrm>
            <a:off x="1225296" y="237744"/>
            <a:ext cx="6739730" cy="323165"/>
          </a:xfrm>
          <a:prstGeom prst="rect">
            <a:avLst/>
          </a:prstGeom>
          <a:noFill/>
        </p:spPr>
        <p:txBody>
          <a:bodyPr wrap="none" rtlCol="0">
            <a:spAutoFit/>
          </a:bodyPr>
          <a:lstStyle/>
          <a:p>
            <a:r>
              <a:rPr lang="en-GB" sz="1500" dirty="0"/>
              <a:t>The distribution of phosphorus in soil is heterogeneous across large and small scales</a:t>
            </a:r>
          </a:p>
        </p:txBody>
      </p:sp>
      <p:sp>
        <p:nvSpPr>
          <p:cNvPr id="6" name="Rectangle 5">
            <a:extLst>
              <a:ext uri="{FF2B5EF4-FFF2-40B4-BE49-F238E27FC236}">
                <a16:creationId xmlns:a16="http://schemas.microsoft.com/office/drawing/2014/main" id="{931D2F97-94E0-FE42-8FB8-1E3B7A9059A4}"/>
              </a:ext>
            </a:extLst>
          </p:cNvPr>
          <p:cNvSpPr/>
          <p:nvPr/>
        </p:nvSpPr>
        <p:spPr>
          <a:xfrm>
            <a:off x="1266444" y="4145233"/>
            <a:ext cx="6515100" cy="923330"/>
          </a:xfrm>
          <a:prstGeom prst="rect">
            <a:avLst/>
          </a:prstGeom>
        </p:spPr>
        <p:txBody>
          <a:bodyPr wrap="square">
            <a:spAutoFit/>
          </a:bodyPr>
          <a:lstStyle/>
          <a:p>
            <a:endParaRPr lang="en-GB" sz="1350" dirty="0"/>
          </a:p>
          <a:p>
            <a:r>
              <a:rPr lang="en-GB" sz="1350" dirty="0"/>
              <a:t>César Plaza, Claudio </a:t>
            </a:r>
            <a:r>
              <a:rPr lang="en-GB" sz="1350" dirty="0" err="1"/>
              <a:t>Zaccone</a:t>
            </a:r>
            <a:r>
              <a:rPr lang="en-GB" sz="1350" dirty="0"/>
              <a:t>, Kasia </a:t>
            </a:r>
            <a:r>
              <a:rPr lang="en-GB" sz="1350" dirty="0" err="1"/>
              <a:t>Sawicka</a:t>
            </a:r>
            <a:r>
              <a:rPr lang="en-GB" sz="1350" dirty="0"/>
              <a:t>, Ana M. Méndez, Ana </a:t>
            </a:r>
            <a:r>
              <a:rPr lang="en-GB" sz="1350" dirty="0" err="1"/>
              <a:t>Tarquis</a:t>
            </a:r>
            <a:r>
              <a:rPr lang="en-GB" sz="1350" dirty="0"/>
              <a:t>, Gabriel </a:t>
            </a:r>
            <a:r>
              <a:rPr lang="en-GB" sz="1350" dirty="0" err="1"/>
              <a:t>Gascó</a:t>
            </a:r>
            <a:r>
              <a:rPr lang="en-GB" sz="1350" dirty="0"/>
              <a:t>, Gerard B. M. </a:t>
            </a:r>
            <a:r>
              <a:rPr lang="en-GB" sz="1350" dirty="0" err="1"/>
              <a:t>Heuvelink</a:t>
            </a:r>
            <a:r>
              <a:rPr lang="en-GB" sz="1350" dirty="0"/>
              <a:t>, Edward A. G. Schuur &amp; Fernando T. </a:t>
            </a:r>
            <a:r>
              <a:rPr lang="en-GB" sz="1350" dirty="0" err="1"/>
              <a:t>Maestre</a:t>
            </a:r>
            <a:r>
              <a:rPr lang="en-GB" sz="1350" dirty="0"/>
              <a:t> “Soil resources and element stocks in drylands to face global issues” </a:t>
            </a:r>
            <a:r>
              <a:rPr lang="en-GB" sz="1350" b="1" i="1" dirty="0"/>
              <a:t>Scientific Reports </a:t>
            </a:r>
            <a:r>
              <a:rPr lang="en-GB" sz="1350" dirty="0"/>
              <a:t>8: 13788 (2018) </a:t>
            </a:r>
          </a:p>
        </p:txBody>
      </p:sp>
    </p:spTree>
    <p:extLst>
      <p:ext uri="{BB962C8B-B14F-4D97-AF65-F5344CB8AC3E}">
        <p14:creationId xmlns:p14="http://schemas.microsoft.com/office/powerpoint/2010/main" val="462698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8B241-43CF-3346-92C0-F457D98C3B9C}"/>
              </a:ext>
            </a:extLst>
          </p:cNvPr>
          <p:cNvSpPr>
            <a:spLocks noGrp="1"/>
          </p:cNvSpPr>
          <p:nvPr>
            <p:ph type="title"/>
          </p:nvPr>
        </p:nvSpPr>
        <p:spPr/>
        <p:txBody>
          <a:bodyPr>
            <a:normAutofit fontScale="90000"/>
          </a:bodyPr>
          <a:lstStyle/>
          <a:p>
            <a:r>
              <a:rPr lang="en-GB" dirty="0"/>
              <a:t>Conversion of organic phosphorus to inorganic phosphorus</a:t>
            </a:r>
          </a:p>
        </p:txBody>
      </p:sp>
      <p:pic>
        <p:nvPicPr>
          <p:cNvPr id="4" name="Picture 3">
            <a:extLst>
              <a:ext uri="{FF2B5EF4-FFF2-40B4-BE49-F238E27FC236}">
                <a16:creationId xmlns:a16="http://schemas.microsoft.com/office/drawing/2014/main" id="{C32C5E55-033F-7946-82B2-C58377171809}"/>
              </a:ext>
            </a:extLst>
          </p:cNvPr>
          <p:cNvPicPr>
            <a:picLocks noChangeAspect="1"/>
          </p:cNvPicPr>
          <p:nvPr/>
        </p:nvPicPr>
        <p:blipFill>
          <a:blip r:embed="rId2"/>
          <a:stretch>
            <a:fillRect/>
          </a:stretch>
        </p:blipFill>
        <p:spPr>
          <a:xfrm>
            <a:off x="1525515" y="1604010"/>
            <a:ext cx="4066994" cy="1221486"/>
          </a:xfrm>
          <a:prstGeom prst="rect">
            <a:avLst/>
          </a:prstGeom>
        </p:spPr>
      </p:pic>
      <p:sp>
        <p:nvSpPr>
          <p:cNvPr id="5" name="TextBox 4">
            <a:extLst>
              <a:ext uri="{FF2B5EF4-FFF2-40B4-BE49-F238E27FC236}">
                <a16:creationId xmlns:a16="http://schemas.microsoft.com/office/drawing/2014/main" id="{E0558D86-448B-9D4C-81FB-79BD2D2AD96D}"/>
              </a:ext>
            </a:extLst>
          </p:cNvPr>
          <p:cNvSpPr txBox="1"/>
          <p:nvPr/>
        </p:nvSpPr>
        <p:spPr>
          <a:xfrm>
            <a:off x="1527048" y="3081528"/>
            <a:ext cx="5578602" cy="1754326"/>
          </a:xfrm>
          <a:prstGeom prst="rect">
            <a:avLst/>
          </a:prstGeom>
          <a:noFill/>
        </p:spPr>
        <p:txBody>
          <a:bodyPr wrap="square" rtlCol="0">
            <a:spAutoFit/>
          </a:bodyPr>
          <a:lstStyle/>
          <a:p>
            <a:r>
              <a:rPr lang="en-GB" b="1" dirty="0"/>
              <a:t>Phosphatases</a:t>
            </a:r>
            <a:r>
              <a:rPr lang="en-GB" dirty="0"/>
              <a:t>: a family of different enzymes that catalyse mineralisation of different forms of organic phosphorus</a:t>
            </a:r>
          </a:p>
          <a:p>
            <a:endParaRPr lang="en-GB" dirty="0"/>
          </a:p>
          <a:p>
            <a:r>
              <a:rPr lang="en-GB" dirty="0"/>
              <a:t>e.g. </a:t>
            </a:r>
            <a:r>
              <a:rPr lang="en-GB" dirty="0" err="1"/>
              <a:t>phosphomonoestases</a:t>
            </a:r>
            <a:r>
              <a:rPr lang="en-GB" dirty="0"/>
              <a:t>; </a:t>
            </a:r>
            <a:r>
              <a:rPr lang="en-GB" dirty="0" err="1"/>
              <a:t>phosphodiesterases</a:t>
            </a:r>
            <a:endParaRPr lang="en-GB" dirty="0"/>
          </a:p>
          <a:p>
            <a:endParaRPr lang="en-GB" dirty="0"/>
          </a:p>
          <a:p>
            <a:r>
              <a:rPr lang="en-GB" dirty="0"/>
              <a:t>Produced by plants, microbes, animals</a:t>
            </a:r>
          </a:p>
        </p:txBody>
      </p:sp>
    </p:spTree>
    <p:extLst>
      <p:ext uri="{BB962C8B-B14F-4D97-AF65-F5344CB8AC3E}">
        <p14:creationId xmlns:p14="http://schemas.microsoft.com/office/powerpoint/2010/main" val="3865695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B95FD-7AF8-694D-8FB6-3D57544F0DC7}"/>
              </a:ext>
            </a:extLst>
          </p:cNvPr>
          <p:cNvSpPr>
            <a:spLocks noGrp="1"/>
          </p:cNvSpPr>
          <p:nvPr>
            <p:ph type="title"/>
          </p:nvPr>
        </p:nvSpPr>
        <p:spPr/>
        <p:txBody>
          <a:bodyPr>
            <a:noAutofit/>
          </a:bodyPr>
          <a:lstStyle/>
          <a:p>
            <a:r>
              <a:rPr lang="en-GB" sz="2700" dirty="0"/>
              <a:t>The activity of the suite of enzymes called “phosphatases” are related to nitrogen concentrations</a:t>
            </a:r>
          </a:p>
        </p:txBody>
      </p:sp>
      <p:pic>
        <p:nvPicPr>
          <p:cNvPr id="4" name="Picture 3">
            <a:extLst>
              <a:ext uri="{FF2B5EF4-FFF2-40B4-BE49-F238E27FC236}">
                <a16:creationId xmlns:a16="http://schemas.microsoft.com/office/drawing/2014/main" id="{4846271E-073A-CB47-B524-EB5DF9E5F5D0}"/>
              </a:ext>
            </a:extLst>
          </p:cNvPr>
          <p:cNvPicPr>
            <a:picLocks noChangeAspect="1"/>
          </p:cNvPicPr>
          <p:nvPr/>
        </p:nvPicPr>
        <p:blipFill>
          <a:blip r:embed="rId2"/>
          <a:stretch>
            <a:fillRect/>
          </a:stretch>
        </p:blipFill>
        <p:spPr>
          <a:xfrm>
            <a:off x="1355135" y="1435608"/>
            <a:ext cx="3517108" cy="2811780"/>
          </a:xfrm>
          <a:prstGeom prst="rect">
            <a:avLst/>
          </a:prstGeom>
        </p:spPr>
      </p:pic>
      <p:pic>
        <p:nvPicPr>
          <p:cNvPr id="5" name="Picture 4">
            <a:extLst>
              <a:ext uri="{FF2B5EF4-FFF2-40B4-BE49-F238E27FC236}">
                <a16:creationId xmlns:a16="http://schemas.microsoft.com/office/drawing/2014/main" id="{A33332A9-F08B-4D40-A302-5CD871C2A6AD}"/>
              </a:ext>
            </a:extLst>
          </p:cNvPr>
          <p:cNvPicPr>
            <a:picLocks noChangeAspect="1"/>
          </p:cNvPicPr>
          <p:nvPr/>
        </p:nvPicPr>
        <p:blipFill>
          <a:blip r:embed="rId3"/>
          <a:stretch>
            <a:fillRect/>
          </a:stretch>
        </p:blipFill>
        <p:spPr>
          <a:xfrm>
            <a:off x="4782013" y="1664208"/>
            <a:ext cx="3081509" cy="2532888"/>
          </a:xfrm>
          <a:prstGeom prst="rect">
            <a:avLst/>
          </a:prstGeom>
        </p:spPr>
      </p:pic>
    </p:spTree>
    <p:extLst>
      <p:ext uri="{BB962C8B-B14F-4D97-AF65-F5344CB8AC3E}">
        <p14:creationId xmlns:p14="http://schemas.microsoft.com/office/powerpoint/2010/main" val="6816000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C28AF-A7AE-5A47-BA5E-014DF64ACCF9}"/>
              </a:ext>
            </a:extLst>
          </p:cNvPr>
          <p:cNvSpPr>
            <a:spLocks noGrp="1"/>
          </p:cNvSpPr>
          <p:nvPr>
            <p:ph idx="1"/>
          </p:nvPr>
        </p:nvSpPr>
        <p:spPr/>
        <p:txBody>
          <a:bodyPr/>
          <a:lstStyle/>
          <a:p>
            <a:r>
              <a:rPr lang="en-GB" dirty="0" err="1"/>
              <a:t>Phosp</a:t>
            </a:r>
            <a:endParaRPr lang="en-GB" dirty="0"/>
          </a:p>
        </p:txBody>
      </p:sp>
      <p:pic>
        <p:nvPicPr>
          <p:cNvPr id="4" name="Picture 3">
            <a:extLst>
              <a:ext uri="{FF2B5EF4-FFF2-40B4-BE49-F238E27FC236}">
                <a16:creationId xmlns:a16="http://schemas.microsoft.com/office/drawing/2014/main" id="{E00EE3DA-75AE-8B45-A144-E5EB43A30787}"/>
              </a:ext>
            </a:extLst>
          </p:cNvPr>
          <p:cNvPicPr>
            <a:picLocks noChangeAspect="1"/>
          </p:cNvPicPr>
          <p:nvPr/>
        </p:nvPicPr>
        <p:blipFill>
          <a:blip r:embed="rId2"/>
          <a:stretch>
            <a:fillRect/>
          </a:stretch>
        </p:blipFill>
        <p:spPr>
          <a:xfrm>
            <a:off x="1406265" y="722376"/>
            <a:ext cx="4264429" cy="4343400"/>
          </a:xfrm>
          <a:prstGeom prst="rect">
            <a:avLst/>
          </a:prstGeom>
        </p:spPr>
      </p:pic>
      <p:sp>
        <p:nvSpPr>
          <p:cNvPr id="6" name="TextBox 5">
            <a:extLst>
              <a:ext uri="{FF2B5EF4-FFF2-40B4-BE49-F238E27FC236}">
                <a16:creationId xmlns:a16="http://schemas.microsoft.com/office/drawing/2014/main" id="{963D8907-D569-B84B-99E3-7A95A502B48D}"/>
              </a:ext>
            </a:extLst>
          </p:cNvPr>
          <p:cNvSpPr txBox="1"/>
          <p:nvPr/>
        </p:nvSpPr>
        <p:spPr>
          <a:xfrm>
            <a:off x="1225296" y="109728"/>
            <a:ext cx="6089904" cy="415498"/>
          </a:xfrm>
          <a:prstGeom prst="rect">
            <a:avLst/>
          </a:prstGeom>
          <a:noFill/>
        </p:spPr>
        <p:txBody>
          <a:bodyPr wrap="square" rtlCol="0">
            <a:spAutoFit/>
          </a:bodyPr>
          <a:lstStyle/>
          <a:p>
            <a:r>
              <a:rPr lang="en-GB" sz="2100" dirty="0"/>
              <a:t>Many factors regulate phosphorus uptake by plants</a:t>
            </a:r>
          </a:p>
        </p:txBody>
      </p:sp>
      <p:sp>
        <p:nvSpPr>
          <p:cNvPr id="7" name="Rectangle 6">
            <a:extLst>
              <a:ext uri="{FF2B5EF4-FFF2-40B4-BE49-F238E27FC236}">
                <a16:creationId xmlns:a16="http://schemas.microsoft.com/office/drawing/2014/main" id="{F7357D32-A115-EB40-BB12-14CF4AF52CEC}"/>
              </a:ext>
            </a:extLst>
          </p:cNvPr>
          <p:cNvSpPr/>
          <p:nvPr/>
        </p:nvSpPr>
        <p:spPr>
          <a:xfrm>
            <a:off x="5774436" y="4487361"/>
            <a:ext cx="2327148" cy="219291"/>
          </a:xfrm>
          <a:prstGeom prst="rect">
            <a:avLst/>
          </a:prstGeom>
        </p:spPr>
        <p:txBody>
          <a:bodyPr wrap="square">
            <a:spAutoFit/>
          </a:bodyPr>
          <a:lstStyle/>
          <a:p>
            <a:r>
              <a:rPr lang="en-GB" sz="825" dirty="0">
                <a:solidFill>
                  <a:srgbClr val="000000"/>
                </a:solidFill>
                <a:latin typeface="Helvetica Neue" panose="02000503000000020004" pitchFamily="2" charset="0"/>
              </a:rPr>
              <a:t>DOI: https://</a:t>
            </a:r>
            <a:r>
              <a:rPr lang="en-GB" sz="825" dirty="0" err="1">
                <a:solidFill>
                  <a:srgbClr val="000000"/>
                </a:solidFill>
                <a:latin typeface="Helvetica Neue" panose="02000503000000020004" pitchFamily="2" charset="0"/>
              </a:rPr>
              <a:t>doi.org</a:t>
            </a:r>
            <a:r>
              <a:rPr lang="en-GB" sz="825" dirty="0">
                <a:solidFill>
                  <a:srgbClr val="000000"/>
                </a:solidFill>
                <a:latin typeface="Helvetica Neue" panose="02000503000000020004" pitchFamily="2" charset="0"/>
              </a:rPr>
              <a:t>/10.1104/pp.111.175232</a:t>
            </a:r>
            <a:endParaRPr lang="en-GB" sz="825" dirty="0"/>
          </a:p>
        </p:txBody>
      </p:sp>
    </p:spTree>
    <p:extLst>
      <p:ext uri="{BB962C8B-B14F-4D97-AF65-F5344CB8AC3E}">
        <p14:creationId xmlns:p14="http://schemas.microsoft.com/office/powerpoint/2010/main" val="34877607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BA26-9859-8146-BA87-CF660D474374}"/>
              </a:ext>
            </a:extLst>
          </p:cNvPr>
          <p:cNvSpPr>
            <a:spLocks noGrp="1"/>
          </p:cNvSpPr>
          <p:nvPr>
            <p:ph type="title"/>
          </p:nvPr>
        </p:nvSpPr>
        <p:spPr/>
        <p:txBody>
          <a:bodyPr/>
          <a:lstStyle/>
          <a:p>
            <a:r>
              <a:rPr lang="en-GB" dirty="0"/>
              <a:t>Phosphorus is ‘sticky’</a:t>
            </a:r>
          </a:p>
        </p:txBody>
      </p:sp>
      <p:sp>
        <p:nvSpPr>
          <p:cNvPr id="3" name="Content Placeholder 2">
            <a:extLst>
              <a:ext uri="{FF2B5EF4-FFF2-40B4-BE49-F238E27FC236}">
                <a16:creationId xmlns:a16="http://schemas.microsoft.com/office/drawing/2014/main" id="{F39955BD-FE41-1941-BAC6-0B724DA36DEC}"/>
              </a:ext>
            </a:extLst>
          </p:cNvPr>
          <p:cNvSpPr>
            <a:spLocks noGrp="1"/>
          </p:cNvSpPr>
          <p:nvPr>
            <p:ph idx="1"/>
          </p:nvPr>
        </p:nvSpPr>
        <p:spPr/>
        <p:txBody>
          <a:bodyPr>
            <a:normAutofit/>
          </a:bodyPr>
          <a:lstStyle/>
          <a:p>
            <a:r>
              <a:rPr lang="en-GB" dirty="0"/>
              <a:t>It is strongly absorbed to the surfaces of particles by ionic forces</a:t>
            </a:r>
          </a:p>
          <a:p>
            <a:r>
              <a:rPr lang="en-GB" dirty="0"/>
              <a:t>It forms complex molecules, some of which are very insoluble or chemically complex</a:t>
            </a:r>
          </a:p>
          <a:p>
            <a:r>
              <a:rPr lang="en-GB" dirty="0"/>
              <a:t>Phosphorus is more difficult for plants to take-up than e.g. nitrate</a:t>
            </a:r>
          </a:p>
          <a:p>
            <a:r>
              <a:rPr lang="en-GB" dirty="0"/>
              <a:t>As a result, applications of phosphorus to soil can build-up, leading to a legacy effect if the additions stop</a:t>
            </a:r>
          </a:p>
        </p:txBody>
      </p:sp>
    </p:spTree>
    <p:extLst>
      <p:ext uri="{BB962C8B-B14F-4D97-AF65-F5344CB8AC3E}">
        <p14:creationId xmlns:p14="http://schemas.microsoft.com/office/powerpoint/2010/main" val="16762884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Thing 9:  There’s no silver bullet"/>
          <p:cNvSpPr txBox="1">
            <a:spLocks noGrp="1"/>
          </p:cNvSpPr>
          <p:nvPr>
            <p:ph type="title"/>
          </p:nvPr>
        </p:nvSpPr>
        <p:spPr>
          <a:xfrm>
            <a:off x="1330524" y="234405"/>
            <a:ext cx="6404234" cy="771436"/>
          </a:xfrm>
          <a:prstGeom prst="rect">
            <a:avLst/>
          </a:prstGeom>
        </p:spPr>
        <p:txBody>
          <a:bodyPr/>
          <a:lstStyle>
            <a:lvl1pPr>
              <a:defRPr sz="5100" spc="-102"/>
            </a:lvl1pPr>
          </a:lstStyle>
          <a:p>
            <a:r>
              <a:rPr sz="3300" dirty="0"/>
              <a:t>There’s no </a:t>
            </a:r>
            <a:r>
              <a:rPr lang="en-GB" sz="3300" dirty="0"/>
              <a:t>single ‘</a:t>
            </a:r>
            <a:r>
              <a:rPr sz="3300" dirty="0"/>
              <a:t>silver bullet</a:t>
            </a:r>
            <a:r>
              <a:rPr lang="en-GB" sz="3300" dirty="0"/>
              <a:t>’ to solve our phosphorus supply crisis</a:t>
            </a:r>
            <a:endParaRPr sz="3300" dirty="0"/>
          </a:p>
        </p:txBody>
      </p:sp>
      <p:pic>
        <p:nvPicPr>
          <p:cNvPr id="445" name="2cGUBLMPcr0A18LIFwlxcfi5Uoft1fvIEPzKgEs7vGluOA8_PA-mPS3Wdvxo3V-5p9uu0-HgqoFAbydurvBbk7mjGkJPZ972d4ZLreNZHZ2OHKp8uw5yiaHasDjeyUvANQco7hS0.jpg" descr="2cGUBLMPcr0A18LIFwlxcfi5Uoft1fvIEPzKgEs7vGluOA8_PA-mPS3Wdvxo3V-5p9uu0-HgqoFAbydurvBbk7mjGkJPZ972d4ZLreNZHZ2OHKp8uw5yiaHasDjeyUvANQco7hS0.jpg"/>
          <p:cNvPicPr>
            <a:picLocks noChangeAspect="1"/>
          </p:cNvPicPr>
          <p:nvPr/>
        </p:nvPicPr>
        <p:blipFill>
          <a:blip r:embed="rId2"/>
          <a:stretch>
            <a:fillRect/>
          </a:stretch>
        </p:blipFill>
        <p:spPr>
          <a:xfrm>
            <a:off x="1343920" y="1290199"/>
            <a:ext cx="5266432" cy="3640421"/>
          </a:xfrm>
          <a:prstGeom prst="rect">
            <a:avLst/>
          </a:prstGeom>
          <a:ln w="12700">
            <a:miter lim="400000"/>
          </a:ln>
        </p:spPr>
      </p:pic>
      <p:sp>
        <p:nvSpPr>
          <p:cNvPr id="446" name="From Cordell et al. (2009)"/>
          <p:cNvSpPr txBox="1"/>
          <p:nvPr/>
        </p:nvSpPr>
        <p:spPr>
          <a:xfrm>
            <a:off x="6281881" y="4638486"/>
            <a:ext cx="1081627" cy="407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l" defTabSz="457200">
              <a:lnSpc>
                <a:spcPts val="3400"/>
              </a:lnSpc>
              <a:defRPr sz="1466">
                <a:ln w="0" cap="flat">
                  <a:solidFill>
                    <a:srgbClr val="000000"/>
                  </a:solidFill>
                  <a:prstDash val="solid"/>
                  <a:miter lim="400000"/>
                </a:ln>
                <a:solidFill>
                  <a:srgbClr val="000000"/>
                </a:solidFill>
              </a:defRPr>
            </a:lvl1pPr>
          </a:lstStyle>
          <a:p>
            <a:r>
              <a:rPr sz="773"/>
              <a:t>From Cordell et al. (2009)</a:t>
            </a:r>
          </a:p>
        </p:txBody>
      </p:sp>
    </p:spTree>
    <p:extLst>
      <p:ext uri="{BB962C8B-B14F-4D97-AF65-F5344CB8AC3E}">
        <p14:creationId xmlns:p14="http://schemas.microsoft.com/office/powerpoint/2010/main" val="395205805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AB89BF-DA02-BA48-8AE7-0501D2EE7551}"/>
              </a:ext>
            </a:extLst>
          </p:cNvPr>
          <p:cNvSpPr>
            <a:spLocks noGrp="1"/>
          </p:cNvSpPr>
          <p:nvPr>
            <p:ph type="title"/>
          </p:nvPr>
        </p:nvSpPr>
        <p:spPr>
          <a:xfrm>
            <a:off x="1352550" y="209550"/>
            <a:ext cx="6438900" cy="1019175"/>
          </a:xfrm>
        </p:spPr>
        <p:txBody>
          <a:bodyPr/>
          <a:lstStyle/>
          <a:p>
            <a:r>
              <a:rPr lang="en-GB" sz="2700" dirty="0"/>
              <a:t>But just how dependent really are plants on inorganic forms of phosphorus?</a:t>
            </a:r>
          </a:p>
        </p:txBody>
      </p:sp>
      <p:pic>
        <p:nvPicPr>
          <p:cNvPr id="5" name="Picture 1">
            <a:extLst>
              <a:ext uri="{FF2B5EF4-FFF2-40B4-BE49-F238E27FC236}">
                <a16:creationId xmlns:a16="http://schemas.microsoft.com/office/drawing/2014/main" id="{DE5CF17D-1A70-CD43-AB0B-1B7BD78BA3BB}"/>
              </a:ext>
            </a:extLst>
          </p:cNvPr>
          <p:cNvPicPr>
            <a:picLocks noChangeAspect="1" noChangeArrowheads="1"/>
          </p:cNvPicPr>
          <p:nvPr/>
        </p:nvPicPr>
        <p:blipFill>
          <a:blip r:embed="rId2" cstate="screen"/>
          <a:srcRect/>
          <a:stretch>
            <a:fillRect/>
          </a:stretch>
        </p:blipFill>
        <p:spPr bwMode="auto">
          <a:xfrm>
            <a:off x="1423969" y="1255454"/>
            <a:ext cx="4833957" cy="3519498"/>
          </a:xfrm>
          <a:prstGeom prst="rect">
            <a:avLst/>
          </a:prstGeom>
          <a:noFill/>
          <a:ln w="9525">
            <a:noFill/>
            <a:miter lim="800000"/>
            <a:headEnd/>
            <a:tailEnd/>
          </a:ln>
          <a:effectLst/>
        </p:spPr>
      </p:pic>
      <p:sp>
        <p:nvSpPr>
          <p:cNvPr id="6" name="TextBox 5">
            <a:extLst>
              <a:ext uri="{FF2B5EF4-FFF2-40B4-BE49-F238E27FC236}">
                <a16:creationId xmlns:a16="http://schemas.microsoft.com/office/drawing/2014/main" id="{F8C6CC94-F754-6848-8D9C-DC28EC1F96AA}"/>
              </a:ext>
            </a:extLst>
          </p:cNvPr>
          <p:cNvSpPr txBox="1"/>
          <p:nvPr/>
        </p:nvSpPr>
        <p:spPr>
          <a:xfrm>
            <a:off x="6334125" y="2562225"/>
            <a:ext cx="1666875" cy="1477328"/>
          </a:xfrm>
          <a:prstGeom prst="rect">
            <a:avLst/>
          </a:prstGeom>
          <a:noFill/>
        </p:spPr>
        <p:txBody>
          <a:bodyPr wrap="square" rtlCol="0">
            <a:spAutoFit/>
          </a:bodyPr>
          <a:lstStyle/>
          <a:p>
            <a:r>
              <a:rPr lang="en-GB" dirty="0"/>
              <a:t>Soils contain a </a:t>
            </a:r>
            <a:r>
              <a:rPr lang="en-GB" b="1" dirty="0">
                <a:solidFill>
                  <a:srgbClr val="FF0000"/>
                </a:solidFill>
              </a:rPr>
              <a:t>VAST diversity </a:t>
            </a:r>
            <a:r>
              <a:rPr lang="en-GB" dirty="0"/>
              <a:t>of different forms of phosphorus</a:t>
            </a:r>
          </a:p>
        </p:txBody>
      </p:sp>
    </p:spTree>
    <p:extLst>
      <p:ext uri="{BB962C8B-B14F-4D97-AF65-F5344CB8AC3E}">
        <p14:creationId xmlns:p14="http://schemas.microsoft.com/office/powerpoint/2010/main" val="3479500369"/>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p:nvPr/>
        </p:nvPicPr>
        <p:blipFill rotWithShape="1">
          <a:blip r:embed="rId2" cstate="print"/>
          <a:srcRect b="22237"/>
          <a:stretch/>
        </p:blipFill>
        <p:spPr bwMode="auto">
          <a:xfrm>
            <a:off x="2119395" y="655290"/>
            <a:ext cx="5201618" cy="3394129"/>
          </a:xfrm>
          <a:prstGeom prst="rect">
            <a:avLst/>
          </a:prstGeom>
          <a:noFill/>
          <a:ln w="15875">
            <a:solidFill>
              <a:schemeClr val="tx1"/>
            </a:solidFill>
            <a:miter lim="800000"/>
            <a:headEnd/>
            <a:tailEnd/>
          </a:ln>
        </p:spPr>
      </p:pic>
      <p:pic>
        <p:nvPicPr>
          <p:cNvPr id="5" name="Picture 8"/>
          <p:cNvPicPr>
            <a:picLocks noChangeAspect="1" noChangeArrowheads="1"/>
          </p:cNvPicPr>
          <p:nvPr/>
        </p:nvPicPr>
        <p:blipFill>
          <a:blip r:embed="rId3" cstate="screen"/>
          <a:srcRect/>
          <a:stretch>
            <a:fillRect/>
          </a:stretch>
        </p:blipFill>
        <p:spPr bwMode="auto">
          <a:xfrm>
            <a:off x="2000312" y="3977155"/>
            <a:ext cx="1204492" cy="1068634"/>
          </a:xfrm>
          <a:prstGeom prst="rect">
            <a:avLst/>
          </a:prstGeom>
          <a:noFill/>
          <a:ln w="9525">
            <a:noFill/>
            <a:miter lim="800000"/>
            <a:headEnd/>
            <a:tailEnd/>
          </a:ln>
          <a:effectLst/>
        </p:spPr>
      </p:pic>
      <p:pic>
        <p:nvPicPr>
          <p:cNvPr id="6" name="Picture 24"/>
          <p:cNvPicPr>
            <a:picLocks noChangeAspect="1" noChangeArrowheads="1"/>
          </p:cNvPicPr>
          <p:nvPr/>
        </p:nvPicPr>
        <p:blipFill>
          <a:blip r:embed="rId4" cstate="screen"/>
          <a:srcRect/>
          <a:stretch>
            <a:fillRect/>
          </a:stretch>
        </p:blipFill>
        <p:spPr bwMode="auto">
          <a:xfrm rot="16200000">
            <a:off x="4209165" y="3800133"/>
            <a:ext cx="1029313" cy="1439124"/>
          </a:xfrm>
          <a:prstGeom prst="rect">
            <a:avLst/>
          </a:prstGeom>
          <a:noFill/>
          <a:ln w="9525" algn="ctr">
            <a:noFill/>
            <a:miter lim="800000"/>
            <a:headEnd/>
            <a:tailEnd/>
          </a:ln>
          <a:effectLst/>
        </p:spPr>
      </p:pic>
      <p:pic>
        <p:nvPicPr>
          <p:cNvPr id="7" name="Picture 2" descr="C:\Users\soi537\Pictures\Work\Fungi\amani02.jpg"/>
          <p:cNvPicPr>
            <a:picLocks noChangeAspect="1" noChangeArrowheads="1"/>
          </p:cNvPicPr>
          <p:nvPr/>
        </p:nvPicPr>
        <p:blipFill>
          <a:blip r:embed="rId5" cstate="print"/>
          <a:srcRect/>
          <a:stretch>
            <a:fillRect/>
          </a:stretch>
        </p:blipFill>
        <p:spPr bwMode="auto">
          <a:xfrm>
            <a:off x="3203572" y="3990297"/>
            <a:ext cx="815636" cy="1042347"/>
          </a:xfrm>
          <a:prstGeom prst="rect">
            <a:avLst/>
          </a:prstGeom>
          <a:noFill/>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4578" y="4093915"/>
            <a:ext cx="685800" cy="4786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6128766" y="4093915"/>
            <a:ext cx="1816200" cy="1015663"/>
          </a:xfrm>
          <a:prstGeom prst="rect">
            <a:avLst/>
          </a:prstGeom>
          <a:noFill/>
        </p:spPr>
        <p:txBody>
          <a:bodyPr wrap="square" rtlCol="0">
            <a:spAutoFit/>
          </a:bodyPr>
          <a:lstStyle/>
          <a:p>
            <a:r>
              <a:rPr lang="en-GB" sz="1200" dirty="0" err="1"/>
              <a:t>Xubing</a:t>
            </a:r>
            <a:r>
              <a:rPr lang="en-GB" sz="1200" dirty="0"/>
              <a:t> Liu</a:t>
            </a:r>
          </a:p>
          <a:p>
            <a:r>
              <a:rPr lang="en-GB" sz="1200" dirty="0"/>
              <a:t>Joe Taylor</a:t>
            </a:r>
          </a:p>
          <a:p>
            <a:r>
              <a:rPr lang="en-GB" sz="1200" dirty="0"/>
              <a:t>David Burslem</a:t>
            </a:r>
          </a:p>
          <a:p>
            <a:r>
              <a:rPr lang="en-GB" sz="1200" dirty="0"/>
              <a:t>Andy Taylor</a:t>
            </a:r>
          </a:p>
          <a:p>
            <a:r>
              <a:rPr lang="en-GB" sz="1200" dirty="0"/>
              <a:t>Thorunn Helgason</a:t>
            </a:r>
          </a:p>
        </p:txBody>
      </p:sp>
      <p:sp>
        <p:nvSpPr>
          <p:cNvPr id="10" name="TextBox 9"/>
          <p:cNvSpPr txBox="1"/>
          <p:nvPr/>
        </p:nvSpPr>
        <p:spPr>
          <a:xfrm>
            <a:off x="1461969" y="257174"/>
            <a:ext cx="6062429" cy="369332"/>
          </a:xfrm>
          <a:prstGeom prst="rect">
            <a:avLst/>
          </a:prstGeom>
          <a:noFill/>
        </p:spPr>
        <p:txBody>
          <a:bodyPr wrap="none" rtlCol="0">
            <a:spAutoFit/>
          </a:bodyPr>
          <a:lstStyle/>
          <a:p>
            <a:r>
              <a:rPr lang="en-GB" b="1" dirty="0"/>
              <a:t>Niche partitioning for phosphorus between mycorrhizal type?</a:t>
            </a:r>
          </a:p>
        </p:txBody>
      </p:sp>
    </p:spTree>
    <p:extLst>
      <p:ext uri="{BB962C8B-B14F-4D97-AF65-F5344CB8AC3E}">
        <p14:creationId xmlns:p14="http://schemas.microsoft.com/office/powerpoint/2010/main" val="254259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53602" name="Picture 2" descr="C:\Users\soi537\Pictures\Danum from met tower high resolu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0"/>
            <a:ext cx="685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143000" y="165222"/>
            <a:ext cx="6963253" cy="646331"/>
          </a:xfrm>
          <a:prstGeom prst="rect">
            <a:avLst/>
          </a:prstGeom>
          <a:noFill/>
        </p:spPr>
        <p:txBody>
          <a:bodyPr wrap="none" rtlCol="0">
            <a:spAutoFit/>
          </a:bodyPr>
          <a:lstStyle/>
          <a:p>
            <a:r>
              <a:rPr lang="en-GB" dirty="0"/>
              <a:t>Hyper-diverse: ~150 tree species per ha</a:t>
            </a:r>
          </a:p>
          <a:p>
            <a:r>
              <a:rPr lang="en-GB" dirty="0"/>
              <a:t>Subject to logging: selective removal of </a:t>
            </a:r>
            <a:r>
              <a:rPr lang="en-GB" dirty="0" err="1"/>
              <a:t>dipterocarps</a:t>
            </a:r>
            <a:r>
              <a:rPr lang="en-GB" dirty="0"/>
              <a:t> → total destruction</a:t>
            </a:r>
          </a:p>
        </p:txBody>
      </p:sp>
    </p:spTree>
    <p:extLst>
      <p:ext uri="{BB962C8B-B14F-4D97-AF65-F5344CB8AC3E}">
        <p14:creationId xmlns:p14="http://schemas.microsoft.com/office/powerpoint/2010/main" val="817350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One way to test this hypothesis is to grow plants with specific P substrates</a:t>
            </a:r>
          </a:p>
        </p:txBody>
      </p:sp>
      <p:sp>
        <p:nvSpPr>
          <p:cNvPr id="3" name="Content Placeholder 2"/>
          <p:cNvSpPr>
            <a:spLocks noGrp="1"/>
          </p:cNvSpPr>
          <p:nvPr>
            <p:ph idx="1"/>
          </p:nvPr>
        </p:nvSpPr>
        <p:spPr>
          <a:xfrm>
            <a:off x="1454003" y="2073351"/>
            <a:ext cx="6172200" cy="2752532"/>
          </a:xfrm>
        </p:spPr>
        <p:txBody>
          <a:bodyPr>
            <a:normAutofit/>
          </a:bodyPr>
          <a:lstStyle/>
          <a:p>
            <a:r>
              <a:rPr lang="en-GB" sz="2100" dirty="0"/>
              <a:t>No added P (low P sand/peat mix)</a:t>
            </a:r>
          </a:p>
          <a:p>
            <a:r>
              <a:rPr lang="en-GB" sz="2100" dirty="0"/>
              <a:t>Sodium orthophosphate (SP)</a:t>
            </a:r>
          </a:p>
          <a:p>
            <a:r>
              <a:rPr lang="en-GB" sz="2100" dirty="0"/>
              <a:t>D-glucose-6-phosphate (D6GP)</a:t>
            </a:r>
          </a:p>
          <a:p>
            <a:r>
              <a:rPr lang="en-GB" sz="2100" dirty="0" err="1"/>
              <a:t>Phytic</a:t>
            </a:r>
            <a:r>
              <a:rPr lang="en-GB" sz="2100" dirty="0"/>
              <a:t> acid, sodium salt (PASS)</a:t>
            </a:r>
          </a:p>
          <a:p>
            <a:r>
              <a:rPr lang="en-GB" sz="2100" dirty="0"/>
              <a:t>A mix of SP, D6GP and PASS</a:t>
            </a:r>
          </a:p>
        </p:txBody>
      </p:sp>
      <p:cxnSp>
        <p:nvCxnSpPr>
          <p:cNvPr id="5" name="Straight Arrow Connector 4"/>
          <p:cNvCxnSpPr/>
          <p:nvPr/>
        </p:nvCxnSpPr>
        <p:spPr>
          <a:xfrm rot="16200000" flipH="1">
            <a:off x="4556050" y="3081535"/>
            <a:ext cx="2057402" cy="1595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28292" y="2842303"/>
            <a:ext cx="2001579" cy="507831"/>
          </a:xfrm>
          <a:prstGeom prst="rect">
            <a:avLst/>
          </a:prstGeom>
          <a:noFill/>
        </p:spPr>
        <p:txBody>
          <a:bodyPr wrap="square" rtlCol="0">
            <a:spAutoFit/>
          </a:bodyPr>
          <a:lstStyle/>
          <a:p>
            <a:r>
              <a:rPr lang="en-GB" sz="1350" dirty="0"/>
              <a:t>Increasing complexity and diversity</a:t>
            </a:r>
          </a:p>
        </p:txBody>
      </p:sp>
    </p:spTree>
    <p:extLst>
      <p:ext uri="{BB962C8B-B14F-4D97-AF65-F5344CB8AC3E}">
        <p14:creationId xmlns:p14="http://schemas.microsoft.com/office/powerpoint/2010/main" val="19877250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194A1-418C-A147-9358-2DF337929A75}"/>
              </a:ext>
            </a:extLst>
          </p:cNvPr>
          <p:cNvSpPr>
            <a:spLocks noGrp="1"/>
          </p:cNvSpPr>
          <p:nvPr>
            <p:ph type="title"/>
          </p:nvPr>
        </p:nvSpPr>
        <p:spPr/>
        <p:txBody>
          <a:bodyPr/>
          <a:lstStyle/>
          <a:p>
            <a:r>
              <a:rPr lang="en-US" dirty="0">
                <a:solidFill>
                  <a:srgbClr val="FF0000"/>
                </a:solidFill>
              </a:rPr>
              <a:t>Plant biomass differed significantly in response to P form and mycorrhizal type</a:t>
            </a:r>
          </a:p>
        </p:txBody>
      </p:sp>
      <p:pic>
        <p:nvPicPr>
          <p:cNvPr id="5" name="Picture 4">
            <a:extLst>
              <a:ext uri="{FF2B5EF4-FFF2-40B4-BE49-F238E27FC236}">
                <a16:creationId xmlns:a16="http://schemas.microsoft.com/office/drawing/2014/main" id="{5E34BD78-A324-6E47-985B-D5E73E854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6152" y="1027929"/>
            <a:ext cx="6858000" cy="3563134"/>
          </a:xfrm>
          <a:prstGeom prst="rect">
            <a:avLst/>
          </a:prstGeom>
        </p:spPr>
      </p:pic>
    </p:spTree>
    <p:extLst>
      <p:ext uri="{BB962C8B-B14F-4D97-AF65-F5344CB8AC3E}">
        <p14:creationId xmlns:p14="http://schemas.microsoft.com/office/powerpoint/2010/main" val="3449353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572000" y="311229"/>
            <a:ext cx="3157538" cy="4133374"/>
            <a:chOff x="0" y="0"/>
            <a:chExt cx="4210973" cy="5511165"/>
          </a:xfrm>
        </p:grpSpPr>
        <p:grpSp>
          <p:nvGrpSpPr>
            <p:cNvPr id="5" name="Group 4"/>
            <p:cNvGrpSpPr/>
            <p:nvPr/>
          </p:nvGrpSpPr>
          <p:grpSpPr>
            <a:xfrm>
              <a:off x="45720" y="1821180"/>
              <a:ext cx="4038601" cy="1870472"/>
              <a:chOff x="7620" y="0"/>
              <a:chExt cx="4038601" cy="1870472"/>
            </a:xfrm>
          </p:grpSpPr>
          <p:cxnSp>
            <p:nvCxnSpPr>
              <p:cNvPr id="34" name="Straight Arrow Connector 33"/>
              <p:cNvCxnSpPr/>
              <p:nvPr/>
            </p:nvCxnSpPr>
            <p:spPr>
              <a:xfrm>
                <a:off x="7621" y="335280"/>
                <a:ext cx="40386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7621" y="1524000"/>
                <a:ext cx="4038600" cy="0"/>
              </a:xfrm>
              <a:prstGeom prst="straightConnector1">
                <a:avLst/>
              </a:prstGeom>
              <a:ln w="38100">
                <a:solidFill>
                  <a:srgbClr val="D94A3F"/>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6" name="TextBox 10"/>
              <p:cNvSpPr txBox="1"/>
              <p:nvPr/>
            </p:nvSpPr>
            <p:spPr>
              <a:xfrm>
                <a:off x="525610" y="0"/>
                <a:ext cx="3080835" cy="369332"/>
              </a:xfrm>
              <a:prstGeom prst="rect">
                <a:avLst/>
              </a:prstGeom>
              <a:noFill/>
            </p:spPr>
            <p:txBody>
              <a:bodyPr wrap="none" rtlCol="0">
                <a:spAutoFit/>
              </a:bodyPr>
              <a:lstStyle/>
              <a:p>
                <a:r>
                  <a:rPr lang="en-GB" sz="1200">
                    <a:solidFill>
                      <a:srgbClr val="000000"/>
                    </a:solidFill>
                    <a:latin typeface="Calibri"/>
                    <a:ea typeface="SimSun"/>
                    <a:cs typeface="Times New Roman"/>
                  </a:rPr>
                  <a:t>ECM plants: Increasing preference</a:t>
                </a:r>
                <a:endParaRPr lang="en-GB" sz="900">
                  <a:latin typeface="Times New Roman"/>
                  <a:ea typeface="SimSun"/>
                </a:endParaRPr>
              </a:p>
            </p:txBody>
          </p:sp>
          <p:sp>
            <p:nvSpPr>
              <p:cNvPr id="37" name="TextBox 13"/>
              <p:cNvSpPr txBox="1"/>
              <p:nvPr/>
            </p:nvSpPr>
            <p:spPr>
              <a:xfrm>
                <a:off x="571329" y="1501140"/>
                <a:ext cx="2993441" cy="369332"/>
              </a:xfrm>
              <a:prstGeom prst="rect">
                <a:avLst/>
              </a:prstGeom>
              <a:noFill/>
            </p:spPr>
            <p:txBody>
              <a:bodyPr wrap="none" rtlCol="0">
                <a:spAutoFit/>
              </a:bodyPr>
              <a:lstStyle/>
              <a:p>
                <a:r>
                  <a:rPr lang="en-GB" sz="1200">
                    <a:solidFill>
                      <a:srgbClr val="000000"/>
                    </a:solidFill>
                    <a:latin typeface="Calibri"/>
                    <a:ea typeface="SimSun"/>
                    <a:cs typeface="Times New Roman"/>
                  </a:rPr>
                  <a:t>AM plants: Increasing preference</a:t>
                </a:r>
                <a:endParaRPr lang="en-GB" sz="900">
                  <a:latin typeface="Times New Roman"/>
                  <a:ea typeface="SimSun"/>
                </a:endParaRPr>
              </a:p>
            </p:txBody>
          </p:sp>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7620" y="487680"/>
                <a:ext cx="4026535" cy="906145"/>
              </a:xfrm>
              <a:prstGeom prst="rect">
                <a:avLst/>
              </a:prstGeom>
              <a:noFill/>
              <a:ln>
                <a:noFill/>
              </a:ln>
            </p:spPr>
          </p:pic>
        </p:grpSp>
        <p:grpSp>
          <p:nvGrpSpPr>
            <p:cNvPr id="6" name="Group 5"/>
            <p:cNvGrpSpPr/>
            <p:nvPr/>
          </p:nvGrpSpPr>
          <p:grpSpPr>
            <a:xfrm>
              <a:off x="0" y="0"/>
              <a:ext cx="4113530" cy="1822450"/>
              <a:chOff x="0" y="0"/>
              <a:chExt cx="4113530" cy="1822450"/>
            </a:xfrm>
          </p:grpSpPr>
          <p:pic>
            <p:nvPicPr>
              <p:cNvPr id="20" name="Picture 19"/>
              <p:cNvPicPr>
                <a:picLocks noChangeAspect="1"/>
              </p:cNvPicPr>
              <p:nvPr/>
            </p:nvPicPr>
            <p:blipFill rotWithShape="1">
              <a:blip r:embed="rId3"/>
              <a:srcRect b="4301"/>
              <a:stretch/>
            </p:blipFill>
            <p:spPr bwMode="auto">
              <a:xfrm>
                <a:off x="0" y="0"/>
                <a:ext cx="4113530" cy="1822450"/>
              </a:xfrm>
              <a:prstGeom prst="rect">
                <a:avLst/>
              </a:prstGeom>
              <a:ln>
                <a:noFill/>
              </a:ln>
              <a:extLst>
                <a:ext uri="{53640926-AAD7-44D8-BBD7-CCE9431645EC}">
                  <a14:shadowObscured xmlns:a14="http://schemas.microsoft.com/office/drawing/2010/main"/>
                </a:ext>
              </a:extLst>
            </p:spPr>
          </p:pic>
          <p:sp>
            <p:nvSpPr>
              <p:cNvPr id="21" name="TextBox 19"/>
              <p:cNvSpPr txBox="1"/>
              <p:nvPr/>
            </p:nvSpPr>
            <p:spPr>
              <a:xfrm>
                <a:off x="53340" y="1554480"/>
                <a:ext cx="1260764" cy="228600"/>
              </a:xfrm>
              <a:prstGeom prst="rect">
                <a:avLst/>
              </a:prstGeom>
              <a:noFill/>
              <a:ln>
                <a:noFill/>
              </a:ln>
            </p:spPr>
            <p:txBody>
              <a:bodyPr wrap="square" rtlCol="0">
                <a:noAutofit/>
              </a:bodyPr>
              <a:lstStyle/>
              <a:p>
                <a:pPr algn="ctr"/>
                <a:r>
                  <a:rPr lang="en-GB" sz="675">
                    <a:latin typeface="Calibri"/>
                    <a:ea typeface="SimSun"/>
                    <a:cs typeface="Times New Roman"/>
                  </a:rPr>
                  <a:t>Na</a:t>
                </a:r>
                <a:r>
                  <a:rPr lang="en-GB" sz="675" baseline="-25000">
                    <a:latin typeface="Calibri"/>
                    <a:ea typeface="SimSun"/>
                    <a:cs typeface="Times New Roman"/>
                  </a:rPr>
                  <a:t>3</a:t>
                </a:r>
                <a:r>
                  <a:rPr lang="en-GB" sz="675">
                    <a:latin typeface="Calibri"/>
                    <a:ea typeface="SimSun"/>
                    <a:cs typeface="Times New Roman"/>
                  </a:rPr>
                  <a:t>PO</a:t>
                </a:r>
                <a:r>
                  <a:rPr lang="en-GB" sz="675" baseline="-25000">
                    <a:latin typeface="Calibri"/>
                    <a:ea typeface="SimSun"/>
                    <a:cs typeface="Times New Roman"/>
                  </a:rPr>
                  <a:t>4</a:t>
                </a:r>
                <a:endParaRPr lang="en-GB" sz="900">
                  <a:latin typeface="Times New Roman"/>
                  <a:ea typeface="SimSun"/>
                </a:endParaRPr>
              </a:p>
            </p:txBody>
          </p:sp>
          <p:sp>
            <p:nvSpPr>
              <p:cNvPr id="22" name="TextBox 19"/>
              <p:cNvSpPr txBox="1"/>
              <p:nvPr/>
            </p:nvSpPr>
            <p:spPr>
              <a:xfrm>
                <a:off x="1524000" y="1554480"/>
                <a:ext cx="713510" cy="228600"/>
              </a:xfrm>
              <a:prstGeom prst="rect">
                <a:avLst/>
              </a:prstGeom>
              <a:noFill/>
              <a:ln>
                <a:noFill/>
              </a:ln>
            </p:spPr>
            <p:txBody>
              <a:bodyPr wrap="square" rtlCol="0">
                <a:noAutofit/>
              </a:bodyPr>
              <a:lstStyle/>
              <a:p>
                <a:pPr algn="ctr"/>
                <a:r>
                  <a:rPr lang="en-GB" sz="675">
                    <a:latin typeface="Calibri"/>
                    <a:ea typeface="SimSun"/>
                    <a:cs typeface="Times New Roman"/>
                  </a:rPr>
                  <a:t>AMP</a:t>
                </a:r>
                <a:endParaRPr lang="en-GB" sz="900">
                  <a:latin typeface="Times New Roman"/>
                  <a:ea typeface="SimSun"/>
                </a:endParaRPr>
              </a:p>
            </p:txBody>
          </p:sp>
          <p:sp>
            <p:nvSpPr>
              <p:cNvPr id="23" name="TextBox 19"/>
              <p:cNvSpPr txBox="1"/>
              <p:nvPr/>
            </p:nvSpPr>
            <p:spPr>
              <a:xfrm>
                <a:off x="2438400" y="1554480"/>
                <a:ext cx="1634086" cy="228600"/>
              </a:xfrm>
              <a:prstGeom prst="rect">
                <a:avLst/>
              </a:prstGeom>
              <a:noFill/>
              <a:ln>
                <a:noFill/>
              </a:ln>
            </p:spPr>
            <p:txBody>
              <a:bodyPr wrap="square" rtlCol="0">
                <a:noAutofit/>
              </a:bodyPr>
              <a:lstStyle/>
              <a:p>
                <a:pPr algn="ctr"/>
                <a:r>
                  <a:rPr lang="en-GB" sz="675">
                    <a:latin typeface="Calibri"/>
                    <a:ea typeface="SimSun"/>
                    <a:cs typeface="Times New Roman"/>
                  </a:rPr>
                  <a:t>Phytic acid</a:t>
                </a:r>
                <a:endParaRPr lang="en-GB" sz="900">
                  <a:latin typeface="Times New Roman"/>
                  <a:ea typeface="SimSun"/>
                </a:endParaRPr>
              </a:p>
            </p:txBody>
          </p:sp>
          <p:grpSp>
            <p:nvGrpSpPr>
              <p:cNvPr id="24" name="Group 23"/>
              <p:cNvGrpSpPr/>
              <p:nvPr/>
            </p:nvGrpSpPr>
            <p:grpSpPr>
              <a:xfrm>
                <a:off x="7620" y="76200"/>
                <a:ext cx="4092526" cy="280914"/>
                <a:chOff x="0" y="0"/>
                <a:chExt cx="4092526" cy="280914"/>
              </a:xfrm>
            </p:grpSpPr>
            <p:sp>
              <p:nvSpPr>
                <p:cNvPr id="25" name="TextBox 19"/>
                <p:cNvSpPr txBox="1"/>
                <p:nvPr/>
              </p:nvSpPr>
              <p:spPr>
                <a:xfrm>
                  <a:off x="44958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CFAB</a:t>
                  </a:r>
                  <a:endParaRPr lang="en-GB" sz="900">
                    <a:latin typeface="Times New Roman"/>
                    <a:ea typeface="SimSun"/>
                  </a:endParaRPr>
                </a:p>
              </p:txBody>
            </p:sp>
            <p:sp>
              <p:nvSpPr>
                <p:cNvPr id="26" name="TextBox 19"/>
                <p:cNvSpPr txBox="1"/>
                <p:nvPr/>
              </p:nvSpPr>
              <p:spPr>
                <a:xfrm>
                  <a:off x="90678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EFEN</a:t>
                  </a:r>
                  <a:endParaRPr lang="en-GB" sz="900">
                    <a:latin typeface="Times New Roman"/>
                    <a:ea typeface="SimSun"/>
                  </a:endParaRPr>
                </a:p>
              </p:txBody>
            </p:sp>
            <p:sp>
              <p:nvSpPr>
                <p:cNvPr id="27" name="TextBox 19"/>
                <p:cNvSpPr txBox="1"/>
                <p:nvPr/>
              </p:nvSpPr>
              <p:spPr>
                <a:xfrm>
                  <a:off x="135636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SMUL</a:t>
                  </a:r>
                  <a:endParaRPr lang="en-GB" sz="900">
                    <a:latin typeface="Times New Roman"/>
                    <a:ea typeface="SimSun"/>
                  </a:endParaRPr>
                </a:p>
              </p:txBody>
            </p:sp>
            <p:sp>
              <p:nvSpPr>
                <p:cNvPr id="28" name="TextBox 19"/>
                <p:cNvSpPr txBox="1"/>
                <p:nvPr/>
              </p:nvSpPr>
              <p:spPr>
                <a:xfrm>
                  <a:off x="180594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SARG</a:t>
                  </a:r>
                  <a:endParaRPr lang="en-GB" sz="900">
                    <a:latin typeface="Times New Roman"/>
                    <a:ea typeface="SimSun"/>
                  </a:endParaRPr>
                </a:p>
              </p:txBody>
            </p:sp>
            <p:sp>
              <p:nvSpPr>
                <p:cNvPr id="29" name="TextBox 19"/>
                <p:cNvSpPr txBox="1"/>
                <p:nvPr/>
              </p:nvSpPr>
              <p:spPr>
                <a:xfrm>
                  <a:off x="225552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SPAR</a:t>
                  </a:r>
                  <a:endParaRPr lang="en-GB" sz="900">
                    <a:latin typeface="Times New Roman"/>
                    <a:ea typeface="SimSun"/>
                  </a:endParaRPr>
                </a:p>
              </p:txBody>
            </p:sp>
            <p:sp>
              <p:nvSpPr>
                <p:cNvPr id="30" name="TextBox 19"/>
                <p:cNvSpPr txBox="1"/>
                <p:nvPr/>
              </p:nvSpPr>
              <p:spPr>
                <a:xfrm>
                  <a:off x="270510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DLAN</a:t>
                  </a:r>
                  <a:endParaRPr lang="en-GB" sz="900">
                    <a:latin typeface="Times New Roman"/>
                    <a:ea typeface="SimSun"/>
                  </a:endParaRPr>
                </a:p>
              </p:txBody>
            </p:sp>
            <p:sp>
              <p:nvSpPr>
                <p:cNvPr id="31" name="TextBox 19"/>
                <p:cNvSpPr txBox="1"/>
                <p:nvPr/>
              </p:nvSpPr>
              <p:spPr>
                <a:xfrm>
                  <a:off x="315468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PTOM</a:t>
                  </a:r>
                  <a:endParaRPr lang="en-GB" sz="900">
                    <a:latin typeface="Times New Roman"/>
                    <a:ea typeface="SimSun"/>
                  </a:endParaRPr>
                </a:p>
              </p:txBody>
            </p:sp>
            <p:sp>
              <p:nvSpPr>
                <p:cNvPr id="32" name="TextBox 19"/>
                <p:cNvSpPr txBox="1"/>
                <p:nvPr/>
              </p:nvSpPr>
              <p:spPr>
                <a:xfrm>
                  <a:off x="361188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VASP</a:t>
                  </a:r>
                  <a:endParaRPr lang="en-GB" sz="900">
                    <a:latin typeface="Times New Roman"/>
                    <a:ea typeface="SimSun"/>
                  </a:endParaRPr>
                </a:p>
              </p:txBody>
            </p:sp>
            <p:sp>
              <p:nvSpPr>
                <p:cNvPr id="33" name="TextBox 19"/>
                <p:cNvSpPr txBox="1"/>
                <p:nvPr/>
              </p:nvSpPr>
              <p:spPr>
                <a:xfrm>
                  <a:off x="0" y="0"/>
                  <a:ext cx="480646" cy="280914"/>
                </a:xfrm>
                <a:prstGeom prst="rect">
                  <a:avLst/>
                </a:prstGeom>
                <a:noFill/>
                <a:ln>
                  <a:noFill/>
                </a:ln>
              </p:spPr>
              <p:txBody>
                <a:bodyPr wrap="square" rtlCol="0">
                  <a:noAutofit/>
                </a:bodyPr>
                <a:lstStyle/>
                <a:p>
                  <a:pPr algn="ctr"/>
                  <a:r>
                    <a:rPr lang="en-GB" sz="675">
                      <a:latin typeface="Calibri"/>
                      <a:ea typeface="SimSun"/>
                      <a:cs typeface="Times New Roman"/>
                    </a:rPr>
                    <a:t>CFIS</a:t>
                  </a:r>
                  <a:endParaRPr lang="en-GB" sz="900">
                    <a:latin typeface="Times New Roman"/>
                    <a:ea typeface="SimSun"/>
                  </a:endParaRPr>
                </a:p>
              </p:txBody>
            </p:sp>
          </p:grpSp>
        </p:grpSp>
        <p:grpSp>
          <p:nvGrpSpPr>
            <p:cNvPr id="7" name="Group 6"/>
            <p:cNvGrpSpPr/>
            <p:nvPr/>
          </p:nvGrpSpPr>
          <p:grpSpPr>
            <a:xfrm>
              <a:off x="7620" y="3665220"/>
              <a:ext cx="4203353" cy="1845945"/>
              <a:chOff x="0" y="0"/>
              <a:chExt cx="4203353" cy="1845945"/>
            </a:xfrm>
          </p:grpSpPr>
          <p:pic>
            <p:nvPicPr>
              <p:cNvPr id="8" name="Picture 7"/>
              <p:cNvPicPr>
                <a:picLocks noChangeAspect="1"/>
              </p:cNvPicPr>
              <p:nvPr/>
            </p:nvPicPr>
            <p:blipFill rotWithShape="1">
              <a:blip r:embed="rId4"/>
              <a:srcRect t="2711"/>
              <a:stretch/>
            </p:blipFill>
            <p:spPr bwMode="auto">
              <a:xfrm>
                <a:off x="0" y="22860"/>
                <a:ext cx="4108450" cy="1823085"/>
              </a:xfrm>
              <a:prstGeom prst="rect">
                <a:avLst/>
              </a:prstGeom>
              <a:ln>
                <a:noFill/>
              </a:ln>
              <a:extLst>
                <a:ext uri="{53640926-AAD7-44D8-BBD7-CCE9431645EC}">
                  <a14:shadowObscured xmlns:a14="http://schemas.microsoft.com/office/drawing/2010/main"/>
                </a:ext>
              </a:extLst>
            </p:spPr>
          </p:pic>
          <p:grpSp>
            <p:nvGrpSpPr>
              <p:cNvPr id="9" name="Group 8"/>
              <p:cNvGrpSpPr/>
              <p:nvPr/>
            </p:nvGrpSpPr>
            <p:grpSpPr>
              <a:xfrm>
                <a:off x="45720" y="0"/>
                <a:ext cx="4157633" cy="381000"/>
                <a:chOff x="0" y="0"/>
                <a:chExt cx="4157633" cy="381000"/>
              </a:xfrm>
            </p:grpSpPr>
            <p:sp>
              <p:nvSpPr>
                <p:cNvPr id="17" name="TextBox 19"/>
                <p:cNvSpPr txBox="1"/>
                <p:nvPr/>
              </p:nvSpPr>
              <p:spPr>
                <a:xfrm>
                  <a:off x="0" y="68580"/>
                  <a:ext cx="2493819" cy="228600"/>
                </a:xfrm>
                <a:prstGeom prst="rect">
                  <a:avLst/>
                </a:prstGeom>
                <a:noFill/>
                <a:ln>
                  <a:noFill/>
                </a:ln>
              </p:spPr>
              <p:txBody>
                <a:bodyPr wrap="square" rtlCol="0">
                  <a:noAutofit/>
                </a:bodyPr>
                <a:lstStyle/>
                <a:p>
                  <a:pPr algn="ctr"/>
                  <a:r>
                    <a:rPr lang="en-GB" sz="675">
                      <a:latin typeface="Calibri"/>
                      <a:ea typeface="SimSun"/>
                      <a:cs typeface="Times New Roman"/>
                    </a:rPr>
                    <a:t>Na</a:t>
                  </a:r>
                  <a:r>
                    <a:rPr lang="en-GB" sz="675" baseline="-25000">
                      <a:latin typeface="Calibri"/>
                      <a:ea typeface="SimSun"/>
                      <a:cs typeface="Times New Roman"/>
                    </a:rPr>
                    <a:t>3</a:t>
                  </a:r>
                  <a:r>
                    <a:rPr lang="en-GB" sz="675">
                      <a:latin typeface="Calibri"/>
                      <a:ea typeface="SimSun"/>
                      <a:cs typeface="Times New Roman"/>
                    </a:rPr>
                    <a:t>PO</a:t>
                  </a:r>
                  <a:r>
                    <a:rPr lang="en-GB" sz="675" baseline="-25000">
                      <a:latin typeface="Calibri"/>
                      <a:ea typeface="SimSun"/>
                      <a:cs typeface="Times New Roman"/>
                    </a:rPr>
                    <a:t>4</a:t>
                  </a:r>
                  <a:endParaRPr lang="en-GB" sz="900">
                    <a:latin typeface="Times New Roman"/>
                    <a:ea typeface="SimSun"/>
                  </a:endParaRPr>
                </a:p>
              </p:txBody>
            </p:sp>
            <p:sp>
              <p:nvSpPr>
                <p:cNvPr id="18" name="TextBox 19"/>
                <p:cNvSpPr txBox="1"/>
                <p:nvPr/>
              </p:nvSpPr>
              <p:spPr>
                <a:xfrm>
                  <a:off x="2689860" y="76200"/>
                  <a:ext cx="921328" cy="228600"/>
                </a:xfrm>
                <a:prstGeom prst="rect">
                  <a:avLst/>
                </a:prstGeom>
                <a:noFill/>
                <a:ln>
                  <a:noFill/>
                </a:ln>
              </p:spPr>
              <p:txBody>
                <a:bodyPr wrap="square" rtlCol="0">
                  <a:noAutofit/>
                </a:bodyPr>
                <a:lstStyle/>
                <a:p>
                  <a:pPr algn="ctr"/>
                  <a:r>
                    <a:rPr lang="en-GB" sz="675">
                      <a:latin typeface="Calibri"/>
                      <a:ea typeface="SimSun"/>
                      <a:cs typeface="Times New Roman"/>
                    </a:rPr>
                    <a:t>AMP</a:t>
                  </a:r>
                  <a:endParaRPr lang="en-GB" sz="900">
                    <a:latin typeface="Times New Roman"/>
                    <a:ea typeface="SimSun"/>
                  </a:endParaRPr>
                </a:p>
              </p:txBody>
            </p:sp>
            <p:sp>
              <p:nvSpPr>
                <p:cNvPr id="19" name="TextBox 19"/>
                <p:cNvSpPr txBox="1"/>
                <p:nvPr/>
              </p:nvSpPr>
              <p:spPr>
                <a:xfrm>
                  <a:off x="3658870" y="0"/>
                  <a:ext cx="498763" cy="381000"/>
                </a:xfrm>
                <a:prstGeom prst="rect">
                  <a:avLst/>
                </a:prstGeom>
                <a:noFill/>
                <a:ln>
                  <a:noFill/>
                </a:ln>
              </p:spPr>
              <p:txBody>
                <a:bodyPr wrap="square" rtlCol="0">
                  <a:noAutofit/>
                </a:bodyPr>
                <a:lstStyle/>
                <a:p>
                  <a:pPr algn="ctr"/>
                  <a:r>
                    <a:rPr lang="en-GB" sz="675">
                      <a:latin typeface="Calibri"/>
                      <a:ea typeface="SimSun"/>
                      <a:cs typeface="Times New Roman"/>
                    </a:rPr>
                    <a:t>Phytic acid</a:t>
                  </a:r>
                  <a:endParaRPr lang="en-GB" sz="900">
                    <a:latin typeface="Times New Roman"/>
                    <a:ea typeface="SimSun"/>
                  </a:endParaRPr>
                </a:p>
              </p:txBody>
            </p:sp>
          </p:grpSp>
          <p:grpSp>
            <p:nvGrpSpPr>
              <p:cNvPr id="10" name="Group 9"/>
              <p:cNvGrpSpPr/>
              <p:nvPr/>
            </p:nvGrpSpPr>
            <p:grpSpPr>
              <a:xfrm>
                <a:off x="45720" y="1546860"/>
                <a:ext cx="4018915" cy="280914"/>
                <a:chOff x="0" y="0"/>
                <a:chExt cx="4018915" cy="280914"/>
              </a:xfrm>
            </p:grpSpPr>
            <p:sp>
              <p:nvSpPr>
                <p:cNvPr id="11" name="TextBox 19"/>
                <p:cNvSpPr txBox="1"/>
                <p:nvPr/>
              </p:nvSpPr>
              <p:spPr>
                <a:xfrm>
                  <a:off x="3406140" y="0"/>
                  <a:ext cx="612775" cy="280670"/>
                </a:xfrm>
                <a:prstGeom prst="rect">
                  <a:avLst/>
                </a:prstGeom>
                <a:noFill/>
                <a:ln>
                  <a:noFill/>
                </a:ln>
              </p:spPr>
              <p:txBody>
                <a:bodyPr wrap="square" rtlCol="0">
                  <a:noAutofit/>
                </a:bodyPr>
                <a:lstStyle/>
                <a:p>
                  <a:pPr algn="ctr"/>
                  <a:r>
                    <a:rPr lang="en-GB" sz="675">
                      <a:latin typeface="Calibri"/>
                      <a:ea typeface="SimSun"/>
                      <a:cs typeface="Times New Roman"/>
                    </a:rPr>
                    <a:t>APAV</a:t>
                  </a:r>
                  <a:endParaRPr lang="en-GB" sz="900">
                    <a:latin typeface="Times New Roman"/>
                    <a:ea typeface="SimSun"/>
                  </a:endParaRPr>
                </a:p>
              </p:txBody>
            </p:sp>
            <p:sp>
              <p:nvSpPr>
                <p:cNvPr id="12" name="TextBox 19"/>
                <p:cNvSpPr txBox="1"/>
                <p:nvPr/>
              </p:nvSpPr>
              <p:spPr>
                <a:xfrm>
                  <a:off x="678180" y="0"/>
                  <a:ext cx="604520" cy="280670"/>
                </a:xfrm>
                <a:prstGeom prst="rect">
                  <a:avLst/>
                </a:prstGeom>
                <a:noFill/>
                <a:ln>
                  <a:noFill/>
                </a:ln>
              </p:spPr>
              <p:txBody>
                <a:bodyPr wrap="square" rtlCol="0">
                  <a:noAutofit/>
                </a:bodyPr>
                <a:lstStyle/>
                <a:p>
                  <a:pPr algn="ctr"/>
                  <a:r>
                    <a:rPr lang="en-GB" sz="675">
                      <a:latin typeface="Calibri"/>
                      <a:ea typeface="SimSun"/>
                      <a:cs typeface="Times New Roman"/>
                    </a:rPr>
                    <a:t>CCON</a:t>
                  </a:r>
                  <a:endParaRPr lang="en-GB" sz="900">
                    <a:latin typeface="Times New Roman"/>
                    <a:ea typeface="SimSun"/>
                  </a:endParaRPr>
                </a:p>
              </p:txBody>
            </p:sp>
            <p:sp>
              <p:nvSpPr>
                <p:cNvPr id="13" name="TextBox 19"/>
                <p:cNvSpPr txBox="1"/>
                <p:nvPr/>
              </p:nvSpPr>
              <p:spPr>
                <a:xfrm>
                  <a:off x="1348740" y="0"/>
                  <a:ext cx="627380" cy="280670"/>
                </a:xfrm>
                <a:prstGeom prst="rect">
                  <a:avLst/>
                </a:prstGeom>
                <a:noFill/>
                <a:ln>
                  <a:noFill/>
                </a:ln>
              </p:spPr>
              <p:txBody>
                <a:bodyPr wrap="square" rtlCol="0">
                  <a:noAutofit/>
                </a:bodyPr>
                <a:lstStyle/>
                <a:p>
                  <a:pPr algn="ctr"/>
                  <a:r>
                    <a:rPr lang="en-GB" sz="675">
                      <a:latin typeface="Calibri"/>
                      <a:ea typeface="SimSun"/>
                      <a:cs typeface="Times New Roman"/>
                    </a:rPr>
                    <a:t>CPAU</a:t>
                  </a:r>
                  <a:endParaRPr lang="en-GB" sz="900">
                    <a:latin typeface="Times New Roman"/>
                    <a:ea typeface="SimSun"/>
                  </a:endParaRPr>
                </a:p>
              </p:txBody>
            </p:sp>
            <p:sp>
              <p:nvSpPr>
                <p:cNvPr id="14" name="TextBox 19"/>
                <p:cNvSpPr txBox="1"/>
                <p:nvPr/>
              </p:nvSpPr>
              <p:spPr>
                <a:xfrm>
                  <a:off x="2026920" y="0"/>
                  <a:ext cx="627380" cy="280670"/>
                </a:xfrm>
                <a:prstGeom prst="rect">
                  <a:avLst/>
                </a:prstGeom>
                <a:noFill/>
                <a:ln>
                  <a:noFill/>
                </a:ln>
              </p:spPr>
              <p:txBody>
                <a:bodyPr wrap="square" rtlCol="0">
                  <a:noAutofit/>
                </a:bodyPr>
                <a:lstStyle/>
                <a:p>
                  <a:pPr algn="ctr"/>
                  <a:r>
                    <a:rPr lang="en-GB" sz="675">
                      <a:latin typeface="Calibri"/>
                      <a:ea typeface="SimSun"/>
                      <a:cs typeface="Times New Roman"/>
                    </a:rPr>
                    <a:t>OGLA</a:t>
                  </a:r>
                  <a:endParaRPr lang="en-GB" sz="900">
                    <a:latin typeface="Times New Roman"/>
                    <a:ea typeface="SimSun"/>
                  </a:endParaRPr>
                </a:p>
              </p:txBody>
            </p:sp>
            <p:sp>
              <p:nvSpPr>
                <p:cNvPr id="15" name="TextBox 19"/>
                <p:cNvSpPr txBox="1"/>
                <p:nvPr/>
              </p:nvSpPr>
              <p:spPr>
                <a:xfrm>
                  <a:off x="2727960" y="0"/>
                  <a:ext cx="609600" cy="280670"/>
                </a:xfrm>
                <a:prstGeom prst="rect">
                  <a:avLst/>
                </a:prstGeom>
                <a:noFill/>
                <a:ln>
                  <a:noFill/>
                </a:ln>
              </p:spPr>
              <p:txBody>
                <a:bodyPr wrap="square" rtlCol="0">
                  <a:noAutofit/>
                </a:bodyPr>
                <a:lstStyle/>
                <a:p>
                  <a:pPr algn="ctr"/>
                  <a:r>
                    <a:rPr lang="en-GB" sz="675">
                      <a:latin typeface="Calibri"/>
                      <a:ea typeface="SimSun"/>
                      <a:cs typeface="Times New Roman"/>
                    </a:rPr>
                    <a:t>MASP</a:t>
                  </a:r>
                  <a:endParaRPr lang="en-GB" sz="900">
                    <a:latin typeface="Times New Roman"/>
                    <a:ea typeface="SimSun"/>
                  </a:endParaRPr>
                </a:p>
              </p:txBody>
            </p:sp>
            <p:sp>
              <p:nvSpPr>
                <p:cNvPr id="16" name="TextBox 19"/>
                <p:cNvSpPr txBox="1"/>
                <p:nvPr/>
              </p:nvSpPr>
              <p:spPr>
                <a:xfrm>
                  <a:off x="0" y="0"/>
                  <a:ext cx="594360" cy="280914"/>
                </a:xfrm>
                <a:prstGeom prst="rect">
                  <a:avLst/>
                </a:prstGeom>
                <a:noFill/>
                <a:ln>
                  <a:noFill/>
                </a:ln>
              </p:spPr>
              <p:txBody>
                <a:bodyPr wrap="square" rtlCol="0">
                  <a:noAutofit/>
                </a:bodyPr>
                <a:lstStyle/>
                <a:p>
                  <a:pPr algn="ctr"/>
                  <a:r>
                    <a:rPr lang="en-GB" sz="675">
                      <a:latin typeface="Calibri"/>
                      <a:ea typeface="SimSun"/>
                      <a:cs typeface="Times New Roman"/>
                    </a:rPr>
                    <a:t>SSUP</a:t>
                  </a:r>
                  <a:endParaRPr lang="en-GB" sz="900">
                    <a:latin typeface="Times New Roman"/>
                    <a:ea typeface="SimSun"/>
                  </a:endParaRPr>
                </a:p>
              </p:txBody>
            </p:sp>
          </p:grpSp>
        </p:grpSp>
      </p:grpSp>
      <p:grpSp>
        <p:nvGrpSpPr>
          <p:cNvPr id="39" name="Group 38"/>
          <p:cNvGrpSpPr/>
          <p:nvPr/>
        </p:nvGrpSpPr>
        <p:grpSpPr>
          <a:xfrm>
            <a:off x="1467802" y="446961"/>
            <a:ext cx="3041333" cy="3907631"/>
            <a:chOff x="0" y="0"/>
            <a:chExt cx="3153792" cy="3888432"/>
          </a:xfrm>
        </p:grpSpPr>
        <p:pic>
          <p:nvPicPr>
            <p:cNvPr id="40" name="Picture 39" descr="http://www.sivatherium.narod.ru/library/Dixon_2/02/p00201.gif"/>
            <p:cNvPicPr>
              <a:picLocks noChangeAspect="1" noChangeArrowheads="1"/>
            </p:cNvPicPr>
            <p:nvPr/>
          </p:nvPicPr>
          <p:blipFill rotWithShape="1">
            <a:blip r:embed="rId5">
              <a:extLst>
                <a:ext uri="{28A0092B-C50C-407E-A947-70E740481C1C}">
                  <a14:useLocalDpi xmlns:a14="http://schemas.microsoft.com/office/drawing/2010/main" val="0"/>
                </a:ext>
              </a:extLst>
            </a:blip>
            <a:srcRect l="1477" r="53166"/>
            <a:stretch/>
          </p:blipFill>
          <p:spPr bwMode="auto">
            <a:xfrm>
              <a:off x="0" y="0"/>
              <a:ext cx="3153792" cy="3888432"/>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3"/>
            <p:cNvSpPr txBox="1"/>
            <p:nvPr/>
          </p:nvSpPr>
          <p:spPr>
            <a:xfrm>
              <a:off x="296271" y="1020918"/>
              <a:ext cx="2421555" cy="272857"/>
            </a:xfrm>
            <a:prstGeom prst="rect">
              <a:avLst/>
            </a:prstGeom>
            <a:solidFill>
              <a:schemeClr val="bg1"/>
            </a:solidFill>
          </p:spPr>
          <p:txBody>
            <a:bodyPr wrap="square" rtlCol="0">
              <a:noAutofit/>
            </a:bodyPr>
            <a:lstStyle/>
            <a:p>
              <a:pPr algn="ctr"/>
              <a:r>
                <a:rPr lang="en-GB" sz="1350" b="1">
                  <a:solidFill>
                    <a:srgbClr val="2F5496"/>
                  </a:solidFill>
                  <a:latin typeface="Calibri"/>
                  <a:ea typeface="SimSun"/>
                  <a:cs typeface="Times New Roman"/>
                </a:rPr>
                <a:t>Canopy dominant ECM trees</a:t>
              </a:r>
              <a:endParaRPr lang="en-GB" sz="900">
                <a:latin typeface="Times New Roman"/>
                <a:ea typeface="SimSun"/>
              </a:endParaRPr>
            </a:p>
          </p:txBody>
        </p:sp>
        <p:sp>
          <p:nvSpPr>
            <p:cNvPr id="42" name="TextBox 10"/>
            <p:cNvSpPr txBox="1"/>
            <p:nvPr/>
          </p:nvSpPr>
          <p:spPr>
            <a:xfrm>
              <a:off x="496178" y="2884691"/>
              <a:ext cx="2177665" cy="555902"/>
            </a:xfrm>
            <a:prstGeom prst="rect">
              <a:avLst/>
            </a:prstGeom>
            <a:solidFill>
              <a:schemeClr val="bg1"/>
            </a:solidFill>
          </p:spPr>
          <p:txBody>
            <a:bodyPr wrap="square" rtlCol="0">
              <a:noAutofit/>
            </a:bodyPr>
            <a:lstStyle/>
            <a:p>
              <a:pPr algn="ctr"/>
              <a:r>
                <a:rPr lang="en-GB" sz="1350" b="1">
                  <a:solidFill>
                    <a:srgbClr val="FF0000"/>
                  </a:solidFill>
                  <a:latin typeface="Calibri"/>
                  <a:ea typeface="SimSun"/>
                  <a:cs typeface="Times New Roman"/>
                </a:rPr>
                <a:t>Species-rich </a:t>
              </a:r>
              <a:endParaRPr lang="en-GB" sz="900">
                <a:latin typeface="Times New Roman"/>
                <a:ea typeface="SimSun"/>
              </a:endParaRPr>
            </a:p>
            <a:p>
              <a:pPr algn="ctr"/>
              <a:r>
                <a:rPr lang="en-GB" sz="1350" b="1">
                  <a:solidFill>
                    <a:srgbClr val="FF0000"/>
                  </a:solidFill>
                  <a:latin typeface="Calibri"/>
                  <a:ea typeface="SimSun"/>
                  <a:cs typeface="Times New Roman"/>
                </a:rPr>
                <a:t>understorey AM plants </a:t>
              </a:r>
              <a:endParaRPr lang="en-GB" sz="900">
                <a:latin typeface="Times New Roman"/>
                <a:ea typeface="SimSun"/>
              </a:endParaRPr>
            </a:p>
          </p:txBody>
        </p:sp>
      </p:grpSp>
      <p:sp>
        <p:nvSpPr>
          <p:cNvPr id="43" name="Rectangle 40"/>
          <p:cNvSpPr>
            <a:spLocks noChangeArrowheads="1"/>
          </p:cNvSpPr>
          <p:nvPr/>
        </p:nvSpPr>
        <p:spPr bwMode="auto">
          <a:xfrm>
            <a:off x="1143000" y="-624703"/>
            <a:ext cx="1384607" cy="1592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584" tIns="685584" rIns="685584" bIns="685584" numCol="1" anchor="ctr" anchorCtr="0" compatLnSpc="1">
            <a:prstTxWarp prst="textNoShape">
              <a:avLst/>
            </a:prstTxWarp>
            <a:spAutoFit/>
          </a:bodyPr>
          <a:lstStyle/>
          <a:p>
            <a:endParaRPr lang="en-GB" sz="1350"/>
          </a:p>
        </p:txBody>
      </p:sp>
      <p:sp>
        <p:nvSpPr>
          <p:cNvPr id="44" name="Rectangle 66"/>
          <p:cNvSpPr>
            <a:spLocks noChangeArrowheads="1"/>
          </p:cNvSpPr>
          <p:nvPr/>
        </p:nvSpPr>
        <p:spPr bwMode="auto">
          <a:xfrm>
            <a:off x="1143001" y="-72598"/>
            <a:ext cx="13856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fontAlgn="base">
              <a:spcBef>
                <a:spcPct val="0"/>
              </a:spcBef>
              <a:spcAft>
                <a:spcPct val="0"/>
              </a:spcAft>
            </a:pPr>
            <a:endParaRPr lang="en-GB" altLang="zh-CN" sz="900">
              <a:latin typeface="Calibri" pitchFamily="34" charset="0"/>
              <a:ea typeface="SimSun" pitchFamily="2" charset="-122"/>
              <a:cs typeface="Times New Roman" pitchFamily="18" charset="0"/>
            </a:endParaRPr>
          </a:p>
          <a:p>
            <a:pPr eaLnBrk="0" fontAlgn="base" hangingPunct="0">
              <a:spcBef>
                <a:spcPct val="0"/>
              </a:spcBef>
              <a:spcAft>
                <a:spcPct val="0"/>
              </a:spcAft>
            </a:pPr>
            <a:br>
              <a:rPr lang="en-GB" altLang="zh-CN" sz="900">
                <a:latin typeface="Calibri" pitchFamily="34" charset="0"/>
                <a:ea typeface="SimSun" pitchFamily="2" charset="-122"/>
                <a:cs typeface="Times New Roman" pitchFamily="18" charset="0"/>
              </a:rPr>
            </a:br>
            <a:endParaRPr lang="en-GB" altLang="zh-CN" sz="900" b="1">
              <a:latin typeface="Times New Roman" pitchFamily="18" charset="0"/>
              <a:ea typeface="SimSun" pitchFamily="2" charset="-122"/>
              <a:cs typeface="Times New Roman" pitchFamily="18" charset="0"/>
            </a:endParaRPr>
          </a:p>
          <a:p>
            <a:pPr eaLnBrk="0" fontAlgn="base" hangingPunct="0">
              <a:spcBef>
                <a:spcPct val="0"/>
              </a:spcBef>
              <a:spcAft>
                <a:spcPct val="0"/>
              </a:spcAft>
            </a:pPr>
            <a:br>
              <a:rPr lang="en-GB" altLang="zh-CN" sz="900" b="1">
                <a:latin typeface="Times New Roman" pitchFamily="18" charset="0"/>
                <a:ea typeface="SimSun" pitchFamily="2" charset="-122"/>
                <a:cs typeface="Times New Roman" pitchFamily="18" charset="0"/>
              </a:rPr>
            </a:br>
            <a:endParaRPr lang="en-GB" altLang="zh-CN" sz="1350">
              <a:latin typeface="Arial" pitchFamily="34" charset="0"/>
              <a:cs typeface="Arial" pitchFamily="34" charset="0"/>
            </a:endParaRPr>
          </a:p>
        </p:txBody>
      </p:sp>
      <p:sp>
        <p:nvSpPr>
          <p:cNvPr id="45" name="TextBox 44"/>
          <p:cNvSpPr txBox="1"/>
          <p:nvPr/>
        </p:nvSpPr>
        <p:spPr>
          <a:xfrm>
            <a:off x="1420629" y="4533993"/>
            <a:ext cx="4653903" cy="507831"/>
          </a:xfrm>
          <a:prstGeom prst="rect">
            <a:avLst/>
          </a:prstGeom>
          <a:noFill/>
        </p:spPr>
        <p:txBody>
          <a:bodyPr wrap="none" rtlCol="0">
            <a:spAutoFit/>
          </a:bodyPr>
          <a:lstStyle/>
          <a:p>
            <a:r>
              <a:rPr lang="en-GB" sz="1350" dirty="0"/>
              <a:t>Size of P source reflects overall use by either ECM or AM plants;</a:t>
            </a:r>
          </a:p>
          <a:p>
            <a:r>
              <a:rPr lang="en-GB" sz="1350" dirty="0"/>
              <a:t>Thickness of wedges use of P source by each species </a:t>
            </a:r>
          </a:p>
        </p:txBody>
      </p:sp>
    </p:spTree>
    <p:extLst>
      <p:ext uri="{BB962C8B-B14F-4D97-AF65-F5344CB8AC3E}">
        <p14:creationId xmlns:p14="http://schemas.microsoft.com/office/powerpoint/2010/main" val="20359197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D26AB-8654-334F-9433-BF41A74A68D2}"/>
              </a:ext>
            </a:extLst>
          </p:cNvPr>
          <p:cNvSpPr>
            <a:spLocks noGrp="1"/>
          </p:cNvSpPr>
          <p:nvPr>
            <p:ph type="title"/>
          </p:nvPr>
        </p:nvSpPr>
        <p:spPr>
          <a:xfrm>
            <a:off x="2006267" y="476736"/>
            <a:ext cx="5143500" cy="458986"/>
          </a:xfrm>
        </p:spPr>
        <p:txBody>
          <a:bodyPr>
            <a:normAutofit fontScale="90000"/>
          </a:bodyPr>
          <a:lstStyle/>
          <a:p>
            <a:r>
              <a:rPr lang="en-GB" sz="2250" dirty="0"/>
              <a:t>A symbiotic pathway to canopy dominance?</a:t>
            </a:r>
          </a:p>
        </p:txBody>
      </p:sp>
      <p:pic>
        <p:nvPicPr>
          <p:cNvPr id="20" name="Content Placeholder 4" descr="Diagram&#10;&#10;Description automatically generated">
            <a:extLst>
              <a:ext uri="{FF2B5EF4-FFF2-40B4-BE49-F238E27FC236}">
                <a16:creationId xmlns:a16="http://schemas.microsoft.com/office/drawing/2014/main" id="{73B25C79-BCAD-7549-ACB4-2C28B42AAFD5}"/>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783684" y="2263219"/>
            <a:ext cx="2573966" cy="2829470"/>
          </a:xfrm>
        </p:spPr>
      </p:pic>
      <p:pic>
        <p:nvPicPr>
          <p:cNvPr id="21" name="Picture 20" descr="Diagram&#10;&#10;Description automatically generated">
            <a:extLst>
              <a:ext uri="{FF2B5EF4-FFF2-40B4-BE49-F238E27FC236}">
                <a16:creationId xmlns:a16="http://schemas.microsoft.com/office/drawing/2014/main" id="{3EB3D33A-6416-734D-BFED-60872D70847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618622" y="2399106"/>
            <a:ext cx="3057525" cy="2288544"/>
          </a:xfrm>
          <a:prstGeom prst="rect">
            <a:avLst/>
          </a:prstGeom>
        </p:spPr>
      </p:pic>
      <p:sp>
        <p:nvSpPr>
          <p:cNvPr id="22" name="TextBox 21">
            <a:extLst>
              <a:ext uri="{FF2B5EF4-FFF2-40B4-BE49-F238E27FC236}">
                <a16:creationId xmlns:a16="http://schemas.microsoft.com/office/drawing/2014/main" id="{4D62245D-AE54-FE47-AD7B-0778EC922FF4}"/>
              </a:ext>
            </a:extLst>
          </p:cNvPr>
          <p:cNvSpPr txBox="1"/>
          <p:nvPr/>
        </p:nvSpPr>
        <p:spPr>
          <a:xfrm>
            <a:off x="4740443" y="4701033"/>
            <a:ext cx="3241298" cy="276999"/>
          </a:xfrm>
          <a:prstGeom prst="rect">
            <a:avLst/>
          </a:prstGeom>
          <a:noFill/>
        </p:spPr>
        <p:txBody>
          <a:bodyPr wrap="square" rtlCol="0">
            <a:spAutoFit/>
          </a:bodyPr>
          <a:lstStyle/>
          <a:p>
            <a:r>
              <a:rPr lang="en-US" sz="1200" dirty="0"/>
              <a:t>D Johnson et al  2023 </a:t>
            </a:r>
            <a:r>
              <a:rPr lang="en-US" sz="1200" i="1" dirty="0"/>
              <a:t>Trends in Plant Science </a:t>
            </a:r>
            <a:endParaRPr lang="en-US" sz="1200" dirty="0"/>
          </a:p>
        </p:txBody>
      </p:sp>
      <p:sp>
        <p:nvSpPr>
          <p:cNvPr id="26" name="TextBox 25">
            <a:extLst>
              <a:ext uri="{FF2B5EF4-FFF2-40B4-BE49-F238E27FC236}">
                <a16:creationId xmlns:a16="http://schemas.microsoft.com/office/drawing/2014/main" id="{FCAC7F58-42C8-944E-A099-D1500E138337}"/>
              </a:ext>
            </a:extLst>
          </p:cNvPr>
          <p:cNvSpPr txBox="1"/>
          <p:nvPr/>
        </p:nvSpPr>
        <p:spPr>
          <a:xfrm>
            <a:off x="1473368" y="1650850"/>
            <a:ext cx="885825" cy="507831"/>
          </a:xfrm>
          <a:prstGeom prst="rect">
            <a:avLst/>
          </a:prstGeom>
          <a:noFill/>
          <a:ln w="15875">
            <a:solidFill>
              <a:schemeClr val="accent1"/>
            </a:solidFill>
          </a:ln>
        </p:spPr>
        <p:txBody>
          <a:bodyPr wrap="square" rtlCol="0">
            <a:spAutoFit/>
          </a:bodyPr>
          <a:lstStyle/>
          <a:p>
            <a:pPr algn="ctr"/>
            <a:r>
              <a:rPr lang="en-GB" sz="1350" dirty="0"/>
              <a:t>Extensive hyphae</a:t>
            </a:r>
          </a:p>
        </p:txBody>
      </p:sp>
      <p:sp>
        <p:nvSpPr>
          <p:cNvPr id="27" name="TextBox 26">
            <a:extLst>
              <a:ext uri="{FF2B5EF4-FFF2-40B4-BE49-F238E27FC236}">
                <a16:creationId xmlns:a16="http://schemas.microsoft.com/office/drawing/2014/main" id="{D6167594-9C85-0741-B09E-1BA079F175DD}"/>
              </a:ext>
            </a:extLst>
          </p:cNvPr>
          <p:cNvSpPr txBox="1"/>
          <p:nvPr/>
        </p:nvSpPr>
        <p:spPr>
          <a:xfrm>
            <a:off x="2559218" y="1650850"/>
            <a:ext cx="885825" cy="507831"/>
          </a:xfrm>
          <a:prstGeom prst="rect">
            <a:avLst/>
          </a:prstGeom>
          <a:noFill/>
          <a:ln w="15875">
            <a:solidFill>
              <a:schemeClr val="accent1"/>
            </a:solidFill>
          </a:ln>
        </p:spPr>
        <p:txBody>
          <a:bodyPr wrap="square" rtlCol="0">
            <a:spAutoFit/>
          </a:bodyPr>
          <a:lstStyle/>
          <a:p>
            <a:pPr algn="ctr"/>
            <a:r>
              <a:rPr lang="en-GB" sz="1350" dirty="0"/>
              <a:t>Effective CMN</a:t>
            </a:r>
          </a:p>
        </p:txBody>
      </p:sp>
      <p:sp>
        <p:nvSpPr>
          <p:cNvPr id="28" name="TextBox 27">
            <a:extLst>
              <a:ext uri="{FF2B5EF4-FFF2-40B4-BE49-F238E27FC236}">
                <a16:creationId xmlns:a16="http://schemas.microsoft.com/office/drawing/2014/main" id="{9D3D6F1D-6ECC-E543-A64A-EE79E7E5E557}"/>
              </a:ext>
            </a:extLst>
          </p:cNvPr>
          <p:cNvSpPr txBox="1"/>
          <p:nvPr/>
        </p:nvSpPr>
        <p:spPr>
          <a:xfrm>
            <a:off x="4749968" y="1641325"/>
            <a:ext cx="885825" cy="507831"/>
          </a:xfrm>
          <a:prstGeom prst="rect">
            <a:avLst/>
          </a:prstGeom>
          <a:noFill/>
          <a:ln w="15875">
            <a:solidFill>
              <a:schemeClr val="accent1"/>
            </a:solidFill>
          </a:ln>
        </p:spPr>
        <p:txBody>
          <a:bodyPr wrap="square" rtlCol="0">
            <a:spAutoFit/>
          </a:bodyPr>
          <a:lstStyle/>
          <a:p>
            <a:pPr algn="ctr"/>
            <a:r>
              <a:rPr lang="en-GB" sz="1350" dirty="0"/>
              <a:t>Seedling survival</a:t>
            </a:r>
          </a:p>
        </p:txBody>
      </p:sp>
      <p:sp>
        <p:nvSpPr>
          <p:cNvPr id="29" name="TextBox 28">
            <a:extLst>
              <a:ext uri="{FF2B5EF4-FFF2-40B4-BE49-F238E27FC236}">
                <a16:creationId xmlns:a16="http://schemas.microsoft.com/office/drawing/2014/main" id="{1541CE9C-0BF7-894E-88F3-EB2290274561}"/>
              </a:ext>
            </a:extLst>
          </p:cNvPr>
          <p:cNvSpPr txBox="1"/>
          <p:nvPr/>
        </p:nvSpPr>
        <p:spPr>
          <a:xfrm>
            <a:off x="6921668" y="1650850"/>
            <a:ext cx="885825" cy="507831"/>
          </a:xfrm>
          <a:prstGeom prst="rect">
            <a:avLst/>
          </a:prstGeom>
          <a:noFill/>
          <a:ln w="15875">
            <a:solidFill>
              <a:schemeClr val="accent1"/>
            </a:solidFill>
          </a:ln>
        </p:spPr>
        <p:txBody>
          <a:bodyPr wrap="square" rtlCol="0">
            <a:spAutoFit/>
          </a:bodyPr>
          <a:lstStyle/>
          <a:p>
            <a:pPr algn="ctr"/>
            <a:r>
              <a:rPr lang="en-GB" sz="1350" dirty="0"/>
              <a:t>Seedling growth</a:t>
            </a:r>
          </a:p>
        </p:txBody>
      </p:sp>
      <p:sp>
        <p:nvSpPr>
          <p:cNvPr id="30" name="TextBox 29">
            <a:extLst>
              <a:ext uri="{FF2B5EF4-FFF2-40B4-BE49-F238E27FC236}">
                <a16:creationId xmlns:a16="http://schemas.microsoft.com/office/drawing/2014/main" id="{77264290-1E72-654B-AA1C-1A419230E7CA}"/>
              </a:ext>
            </a:extLst>
          </p:cNvPr>
          <p:cNvSpPr txBox="1"/>
          <p:nvPr/>
        </p:nvSpPr>
        <p:spPr>
          <a:xfrm>
            <a:off x="5835818" y="1641325"/>
            <a:ext cx="885825" cy="507831"/>
          </a:xfrm>
          <a:prstGeom prst="rect">
            <a:avLst/>
          </a:prstGeom>
          <a:noFill/>
          <a:ln w="15875">
            <a:solidFill>
              <a:schemeClr val="accent1"/>
            </a:solidFill>
          </a:ln>
        </p:spPr>
        <p:txBody>
          <a:bodyPr wrap="square" rtlCol="0">
            <a:spAutoFit/>
          </a:bodyPr>
          <a:lstStyle/>
          <a:p>
            <a:pPr algn="ctr"/>
            <a:r>
              <a:rPr lang="en-GB" sz="1350" dirty="0"/>
              <a:t>Access to P</a:t>
            </a:r>
          </a:p>
        </p:txBody>
      </p:sp>
      <p:sp>
        <p:nvSpPr>
          <p:cNvPr id="31" name="TextBox 30">
            <a:extLst>
              <a:ext uri="{FF2B5EF4-FFF2-40B4-BE49-F238E27FC236}">
                <a16:creationId xmlns:a16="http://schemas.microsoft.com/office/drawing/2014/main" id="{D4288C39-5F4D-244A-9EA5-72006F62A232}"/>
              </a:ext>
            </a:extLst>
          </p:cNvPr>
          <p:cNvSpPr txBox="1"/>
          <p:nvPr/>
        </p:nvSpPr>
        <p:spPr>
          <a:xfrm>
            <a:off x="3664118" y="1650850"/>
            <a:ext cx="885825" cy="715581"/>
          </a:xfrm>
          <a:prstGeom prst="rect">
            <a:avLst/>
          </a:prstGeom>
          <a:noFill/>
          <a:ln w="15875">
            <a:solidFill>
              <a:schemeClr val="accent1"/>
            </a:solidFill>
          </a:ln>
        </p:spPr>
        <p:txBody>
          <a:bodyPr wrap="square" rtlCol="0">
            <a:spAutoFit/>
          </a:bodyPr>
          <a:lstStyle/>
          <a:p>
            <a:pPr algn="ctr"/>
            <a:r>
              <a:rPr lang="en-GB" sz="1350" dirty="0"/>
              <a:t>Pathogen protection</a:t>
            </a:r>
          </a:p>
        </p:txBody>
      </p:sp>
      <p:sp>
        <p:nvSpPr>
          <p:cNvPr id="32" name="TextBox 31">
            <a:extLst>
              <a:ext uri="{FF2B5EF4-FFF2-40B4-BE49-F238E27FC236}">
                <a16:creationId xmlns:a16="http://schemas.microsoft.com/office/drawing/2014/main" id="{71EBA143-5649-E24A-8FDE-4F378BD1D1F5}"/>
              </a:ext>
            </a:extLst>
          </p:cNvPr>
          <p:cNvSpPr txBox="1"/>
          <p:nvPr/>
        </p:nvSpPr>
        <p:spPr>
          <a:xfrm>
            <a:off x="3102143" y="1146022"/>
            <a:ext cx="3057525" cy="300082"/>
          </a:xfrm>
          <a:prstGeom prst="rect">
            <a:avLst/>
          </a:prstGeom>
          <a:noFill/>
          <a:ln w="15875">
            <a:solidFill>
              <a:schemeClr val="accent1"/>
            </a:solidFill>
          </a:ln>
        </p:spPr>
        <p:txBody>
          <a:bodyPr wrap="square" rtlCol="0">
            <a:spAutoFit/>
          </a:bodyPr>
          <a:lstStyle/>
          <a:p>
            <a:pPr algn="ctr"/>
            <a:r>
              <a:rPr lang="en-GB" sz="1350" dirty="0"/>
              <a:t>Large investment of carbon to mutualists</a:t>
            </a:r>
          </a:p>
        </p:txBody>
      </p:sp>
      <p:sp>
        <p:nvSpPr>
          <p:cNvPr id="33" name="Right Arrow 32">
            <a:extLst>
              <a:ext uri="{FF2B5EF4-FFF2-40B4-BE49-F238E27FC236}">
                <a16:creationId xmlns:a16="http://schemas.microsoft.com/office/drawing/2014/main" id="{70327B37-35E3-F043-9636-B9C87C9279C0}"/>
              </a:ext>
            </a:extLst>
          </p:cNvPr>
          <p:cNvSpPr/>
          <p:nvPr/>
        </p:nvSpPr>
        <p:spPr>
          <a:xfrm>
            <a:off x="2359193" y="1612748"/>
            <a:ext cx="190500" cy="581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4" name="Right Arrow 33">
            <a:extLst>
              <a:ext uri="{FF2B5EF4-FFF2-40B4-BE49-F238E27FC236}">
                <a16:creationId xmlns:a16="http://schemas.microsoft.com/office/drawing/2014/main" id="{E0C6B94B-53F3-DB4C-ADBD-B5981C43E5F7}"/>
              </a:ext>
            </a:extLst>
          </p:cNvPr>
          <p:cNvSpPr/>
          <p:nvPr/>
        </p:nvSpPr>
        <p:spPr>
          <a:xfrm>
            <a:off x="3454568" y="1612748"/>
            <a:ext cx="190500" cy="581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5" name="Right Arrow 34">
            <a:extLst>
              <a:ext uri="{FF2B5EF4-FFF2-40B4-BE49-F238E27FC236}">
                <a16:creationId xmlns:a16="http://schemas.microsoft.com/office/drawing/2014/main" id="{6E529CAB-DBE0-BE46-96AD-A2D8C41CFED1}"/>
              </a:ext>
            </a:extLst>
          </p:cNvPr>
          <p:cNvSpPr/>
          <p:nvPr/>
        </p:nvSpPr>
        <p:spPr>
          <a:xfrm>
            <a:off x="4549943" y="1612748"/>
            <a:ext cx="190500" cy="581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6" name="Right Arrow 35">
            <a:extLst>
              <a:ext uri="{FF2B5EF4-FFF2-40B4-BE49-F238E27FC236}">
                <a16:creationId xmlns:a16="http://schemas.microsoft.com/office/drawing/2014/main" id="{C2FC0360-7A6F-B84C-8101-4AAE37EC69E0}"/>
              </a:ext>
            </a:extLst>
          </p:cNvPr>
          <p:cNvSpPr/>
          <p:nvPr/>
        </p:nvSpPr>
        <p:spPr>
          <a:xfrm>
            <a:off x="5645318" y="1603223"/>
            <a:ext cx="190500" cy="581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7" name="Right Arrow 36">
            <a:extLst>
              <a:ext uri="{FF2B5EF4-FFF2-40B4-BE49-F238E27FC236}">
                <a16:creationId xmlns:a16="http://schemas.microsoft.com/office/drawing/2014/main" id="{BC45A4C7-E87D-9444-ABE3-F31ED29B19E5}"/>
              </a:ext>
            </a:extLst>
          </p:cNvPr>
          <p:cNvSpPr/>
          <p:nvPr/>
        </p:nvSpPr>
        <p:spPr>
          <a:xfrm>
            <a:off x="6731168" y="1612748"/>
            <a:ext cx="190500" cy="5810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38" name="Elbow Connector 37">
            <a:extLst>
              <a:ext uri="{FF2B5EF4-FFF2-40B4-BE49-F238E27FC236}">
                <a16:creationId xmlns:a16="http://schemas.microsoft.com/office/drawing/2014/main" id="{9E1E6999-6BCC-BC4C-A8F7-92FC8DD2C049}"/>
              </a:ext>
            </a:extLst>
          </p:cNvPr>
          <p:cNvCxnSpPr>
            <a:cxnSpLocks/>
            <a:stCxn id="29" idx="0"/>
            <a:endCxn id="32" idx="3"/>
          </p:cNvCxnSpPr>
          <p:nvPr/>
        </p:nvCxnSpPr>
        <p:spPr>
          <a:xfrm rot="16200000" flipV="1">
            <a:off x="6584732" y="871000"/>
            <a:ext cx="354787" cy="1204913"/>
          </a:xfrm>
          <a:prstGeom prst="bentConnector2">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EA89754A-4F68-254F-A8F8-1BD467E89EDD}"/>
              </a:ext>
            </a:extLst>
          </p:cNvPr>
          <p:cNvCxnSpPr>
            <a:cxnSpLocks/>
            <a:stCxn id="32" idx="1"/>
            <a:endCxn id="26" idx="0"/>
          </p:cNvCxnSpPr>
          <p:nvPr/>
        </p:nvCxnSpPr>
        <p:spPr>
          <a:xfrm rot="10800000" flipV="1">
            <a:off x="1916281" y="1296062"/>
            <a:ext cx="1185862" cy="354787"/>
          </a:xfrm>
          <a:prstGeom prst="bentConnector2">
            <a:avLst/>
          </a:prstGeom>
          <a:ln w="127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1539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3F89-0AB6-B842-83E7-E5F28E9325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52ED5D-BC22-D64D-9C35-CDBA4875700C}"/>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4870B470-3A4B-7546-954B-0053C218370B}"/>
              </a:ext>
            </a:extLst>
          </p:cNvPr>
          <p:cNvPicPr>
            <a:picLocks noChangeAspect="1"/>
          </p:cNvPicPr>
          <p:nvPr/>
        </p:nvPicPr>
        <p:blipFill>
          <a:blip r:embed="rId2"/>
          <a:stretch>
            <a:fillRect/>
          </a:stretch>
        </p:blipFill>
        <p:spPr>
          <a:xfrm>
            <a:off x="1549741" y="237745"/>
            <a:ext cx="6029390" cy="4518896"/>
          </a:xfrm>
          <a:prstGeom prst="rect">
            <a:avLst/>
          </a:prstGeom>
        </p:spPr>
      </p:pic>
      <p:sp>
        <p:nvSpPr>
          <p:cNvPr id="5" name="TextBox 4">
            <a:extLst>
              <a:ext uri="{FF2B5EF4-FFF2-40B4-BE49-F238E27FC236}">
                <a16:creationId xmlns:a16="http://schemas.microsoft.com/office/drawing/2014/main" id="{B971E975-7E20-4747-863A-6B72FD3E5B0B}"/>
              </a:ext>
            </a:extLst>
          </p:cNvPr>
          <p:cNvSpPr txBox="1"/>
          <p:nvPr/>
        </p:nvSpPr>
        <p:spPr>
          <a:xfrm>
            <a:off x="2735796" y="2909764"/>
            <a:ext cx="1728192" cy="1477328"/>
          </a:xfrm>
          <a:prstGeom prst="rect">
            <a:avLst/>
          </a:prstGeom>
          <a:solidFill>
            <a:schemeClr val="bg1">
              <a:alpha val="80000"/>
            </a:schemeClr>
          </a:solidFill>
          <a:effectLst>
            <a:softEdge rad="76200"/>
          </a:effectLst>
        </p:spPr>
        <p:txBody>
          <a:bodyPr wrap="square" rtlCol="0">
            <a:spAutoFit/>
          </a:bodyPr>
          <a:lstStyle/>
          <a:p>
            <a:pPr algn="ctr"/>
            <a:r>
              <a:rPr lang="en-US" b="1" dirty="0"/>
              <a:t>This part of the soil phosphorus cycle urgently needs revisiting!</a:t>
            </a:r>
          </a:p>
        </p:txBody>
      </p:sp>
    </p:spTree>
    <p:extLst>
      <p:ext uri="{BB962C8B-B14F-4D97-AF65-F5344CB8AC3E}">
        <p14:creationId xmlns:p14="http://schemas.microsoft.com/office/powerpoint/2010/main" val="148391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A124-C3C6-654A-9ECA-998D85C84A00}"/>
              </a:ext>
            </a:extLst>
          </p:cNvPr>
          <p:cNvSpPr>
            <a:spLocks noGrp="1"/>
          </p:cNvSpPr>
          <p:nvPr>
            <p:ph type="title"/>
          </p:nvPr>
        </p:nvSpPr>
        <p:spPr/>
        <p:txBody>
          <a:bodyPr>
            <a:normAutofit fontScale="90000"/>
          </a:bodyPr>
          <a:lstStyle/>
          <a:p>
            <a:r>
              <a:rPr lang="en-GB" dirty="0"/>
              <a:t>Remember the link between nitrogen availability of phosphatase activity?</a:t>
            </a:r>
          </a:p>
        </p:txBody>
      </p:sp>
      <p:sp>
        <p:nvSpPr>
          <p:cNvPr id="3" name="Content Placeholder 2">
            <a:extLst>
              <a:ext uri="{FF2B5EF4-FFF2-40B4-BE49-F238E27FC236}">
                <a16:creationId xmlns:a16="http://schemas.microsoft.com/office/drawing/2014/main" id="{6EA0DCAD-02D6-5A4A-BC10-5B518B0D4877}"/>
              </a:ext>
            </a:extLst>
          </p:cNvPr>
          <p:cNvSpPr>
            <a:spLocks noGrp="1"/>
          </p:cNvSpPr>
          <p:nvPr>
            <p:ph idx="1"/>
          </p:nvPr>
        </p:nvSpPr>
        <p:spPr/>
        <p:txBody>
          <a:bodyPr/>
          <a:lstStyle/>
          <a:p>
            <a:r>
              <a:rPr lang="en-GB" dirty="0"/>
              <a:t>Elemental cycles (C, N and P for example) do not operate independently</a:t>
            </a:r>
          </a:p>
          <a:p>
            <a:r>
              <a:rPr lang="en-GB" dirty="0"/>
              <a:t>E.g. P demand is related to N supply. Plant growth can be co-limited by N and P, as well as by each of the elements</a:t>
            </a:r>
          </a:p>
          <a:p>
            <a:r>
              <a:rPr lang="en-GB" dirty="0"/>
              <a:t>So adding N to a system (on purpose or accidently) may have consequences for how P is cycled</a:t>
            </a:r>
          </a:p>
        </p:txBody>
      </p:sp>
    </p:spTree>
    <p:extLst>
      <p:ext uri="{BB962C8B-B14F-4D97-AF65-F5344CB8AC3E}">
        <p14:creationId xmlns:p14="http://schemas.microsoft.com/office/powerpoint/2010/main" val="874157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E43BB1-4A1F-5D4C-962F-F3FAF89EF220}"/>
              </a:ext>
            </a:extLst>
          </p:cNvPr>
          <p:cNvSpPr txBox="1"/>
          <p:nvPr/>
        </p:nvSpPr>
        <p:spPr>
          <a:xfrm>
            <a:off x="1657350" y="314326"/>
            <a:ext cx="6076950" cy="3831818"/>
          </a:xfrm>
          <a:prstGeom prst="rect">
            <a:avLst/>
          </a:prstGeom>
          <a:noFill/>
        </p:spPr>
        <p:txBody>
          <a:bodyPr wrap="square" rtlCol="0">
            <a:spAutoFit/>
          </a:bodyPr>
          <a:lstStyle/>
          <a:p>
            <a:r>
              <a:rPr lang="en-GB" sz="2700" b="1" dirty="0">
                <a:solidFill>
                  <a:srgbClr val="FF0000"/>
                </a:solidFill>
              </a:rPr>
              <a:t>Summary</a:t>
            </a:r>
          </a:p>
          <a:p>
            <a:endParaRPr lang="en-GB" dirty="0"/>
          </a:p>
          <a:p>
            <a:endParaRPr lang="en-GB" dirty="0"/>
          </a:p>
          <a:p>
            <a:endParaRPr lang="en-GB" dirty="0"/>
          </a:p>
          <a:p>
            <a:endParaRPr lang="en-GB" dirty="0"/>
          </a:p>
          <a:p>
            <a:r>
              <a:rPr lang="en-GB" dirty="0"/>
              <a:t>Phosphorus is just one of Earth’s elements; but an important one!</a:t>
            </a:r>
          </a:p>
          <a:p>
            <a:endParaRPr lang="en-GB" dirty="0"/>
          </a:p>
          <a:p>
            <a:r>
              <a:rPr lang="en-GB" dirty="0"/>
              <a:t>The way we manage its use is an exemplar of other resources</a:t>
            </a:r>
          </a:p>
          <a:p>
            <a:endParaRPr lang="en-GB" dirty="0"/>
          </a:p>
          <a:p>
            <a:r>
              <a:rPr lang="en-GB" dirty="0"/>
              <a:t>More efficient use of phosphorus requires multi-system approach including expertise in soil science, plant science, earth science, hydrology, food chains, dieticians, technology….</a:t>
            </a:r>
          </a:p>
        </p:txBody>
      </p:sp>
      <p:pic>
        <p:nvPicPr>
          <p:cNvPr id="3" name="Picture 2">
            <a:extLst>
              <a:ext uri="{FF2B5EF4-FFF2-40B4-BE49-F238E27FC236}">
                <a16:creationId xmlns:a16="http://schemas.microsoft.com/office/drawing/2014/main" id="{2D02D378-AD4C-B242-A8EE-E349EE25C70C}"/>
              </a:ext>
            </a:extLst>
          </p:cNvPr>
          <p:cNvPicPr>
            <a:picLocks noChangeAspect="1"/>
          </p:cNvPicPr>
          <p:nvPr/>
        </p:nvPicPr>
        <p:blipFill>
          <a:blip r:embed="rId2"/>
          <a:stretch>
            <a:fillRect/>
          </a:stretch>
        </p:blipFill>
        <p:spPr>
          <a:xfrm>
            <a:off x="6286500" y="138684"/>
            <a:ext cx="1533525" cy="1341835"/>
          </a:xfrm>
          <a:prstGeom prst="rect">
            <a:avLst/>
          </a:prstGeom>
        </p:spPr>
      </p:pic>
    </p:spTree>
    <p:extLst>
      <p:ext uri="{BB962C8B-B14F-4D97-AF65-F5344CB8AC3E}">
        <p14:creationId xmlns:p14="http://schemas.microsoft.com/office/powerpoint/2010/main" val="3413591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3338490" y="204751"/>
            <a:ext cx="2452688" cy="785813"/>
          </a:xfrm>
          <a:effectLst>
            <a:outerShdw dist="53882" dir="2700000" algn="ctr" rotWithShape="0">
              <a:schemeClr val="tx1"/>
            </a:outerShdw>
          </a:effectLst>
        </p:spPr>
        <p:txBody>
          <a:bodyPr/>
          <a:lstStyle/>
          <a:p>
            <a:pPr algn="l"/>
            <a:r>
              <a:rPr lang="en-GB" sz="4500" b="1" baseline="30000" dirty="0">
                <a:solidFill>
                  <a:srgbClr val="FFCC00"/>
                </a:solidFill>
                <a:latin typeface="Arial" pitchFamily="34" charset="0"/>
              </a:rPr>
              <a:t>Summary</a:t>
            </a:r>
            <a:endParaRPr lang="en-GB" sz="4950" dirty="0"/>
          </a:p>
        </p:txBody>
      </p:sp>
      <p:sp>
        <p:nvSpPr>
          <p:cNvPr id="103429" name="Text Box 5"/>
          <p:cNvSpPr txBox="1">
            <a:spLocks noChangeArrowheads="1"/>
          </p:cNvSpPr>
          <p:nvPr/>
        </p:nvSpPr>
        <p:spPr bwMode="auto">
          <a:xfrm>
            <a:off x="1304925" y="835629"/>
            <a:ext cx="6591300" cy="3938835"/>
          </a:xfrm>
          <a:prstGeom prst="rect">
            <a:avLst/>
          </a:prstGeom>
          <a:noFill/>
          <a:ln w="9525">
            <a:noFill/>
            <a:miter lim="800000"/>
            <a:headEnd/>
            <a:tailEnd/>
          </a:ln>
          <a:effectLst>
            <a:outerShdw dist="35921" dir="2700000" algn="ctr" rotWithShape="0">
              <a:schemeClr val="tx1"/>
            </a:outerShdw>
          </a:effectLst>
        </p:spPr>
        <p:txBody>
          <a:bodyPr wrap="square" anchor="ctr">
            <a:spAutoFit/>
          </a:bodyPr>
          <a:lstStyle/>
          <a:p>
            <a:pPr marL="342900" indent="-342900">
              <a:lnSpc>
                <a:spcPct val="140000"/>
              </a:lnSpc>
              <a:buFontTx/>
              <a:buAutoNum type="arabicPeriod"/>
            </a:pPr>
            <a:r>
              <a:rPr lang="en-GB" sz="1500" b="1" dirty="0">
                <a:solidFill>
                  <a:srgbClr val="FFFF99"/>
                </a:solidFill>
                <a:latin typeface="Arial" pitchFamily="34" charset="0"/>
              </a:rPr>
              <a:t>Biodiversity in its broad sense encompasses many aspects of variation in life (genes, genotypes, species, genera, functional types).</a:t>
            </a:r>
          </a:p>
          <a:p>
            <a:pPr marL="342900" indent="-342900">
              <a:lnSpc>
                <a:spcPct val="140000"/>
              </a:lnSpc>
              <a:buFontTx/>
              <a:buAutoNum type="arabicPeriod"/>
            </a:pPr>
            <a:r>
              <a:rPr lang="en-GB" sz="1500" b="1" dirty="0">
                <a:solidFill>
                  <a:srgbClr val="FFFF99"/>
                </a:solidFill>
                <a:latin typeface="Arial" pitchFamily="34" charset="0"/>
              </a:rPr>
              <a:t>Some of this variation is effectively captured by measuring ‘traits’</a:t>
            </a:r>
          </a:p>
          <a:p>
            <a:pPr marL="342900" indent="-342900">
              <a:lnSpc>
                <a:spcPct val="140000"/>
              </a:lnSpc>
              <a:buFontTx/>
              <a:buAutoNum type="arabicPeriod"/>
            </a:pPr>
            <a:r>
              <a:rPr lang="en-GB" sz="1500" b="1" dirty="0">
                <a:solidFill>
                  <a:srgbClr val="FFFF99"/>
                </a:solidFill>
                <a:latin typeface="Arial" pitchFamily="34" charset="0"/>
              </a:rPr>
              <a:t>Plant functional type has a key role in determining free-living and symbiotic microbial function and diversity in grasslands.</a:t>
            </a:r>
          </a:p>
          <a:p>
            <a:pPr marL="342900" indent="-342900">
              <a:lnSpc>
                <a:spcPct val="140000"/>
              </a:lnSpc>
              <a:buFontTx/>
              <a:buAutoNum type="arabicPeriod"/>
            </a:pPr>
            <a:r>
              <a:rPr lang="en-GB" sz="1500" b="1" dirty="0">
                <a:solidFill>
                  <a:srgbClr val="FFFF99"/>
                </a:solidFill>
                <a:latin typeface="Arial" pitchFamily="34" charset="0"/>
              </a:rPr>
              <a:t>The mechanisms behind these relationships are poorly understood</a:t>
            </a:r>
          </a:p>
          <a:p>
            <a:pPr marL="342900" indent="-342900">
              <a:lnSpc>
                <a:spcPct val="140000"/>
              </a:lnSpc>
              <a:buFontTx/>
              <a:buAutoNum type="arabicPeriod"/>
            </a:pPr>
            <a:r>
              <a:rPr lang="en-GB" sz="1500" b="1" dirty="0">
                <a:solidFill>
                  <a:srgbClr val="FFFF99"/>
                </a:solidFill>
                <a:latin typeface="Arial" pitchFamily="34" charset="0"/>
              </a:rPr>
              <a:t>The nature of the relationship between diversity and function is not always positive and linear</a:t>
            </a:r>
          </a:p>
          <a:p>
            <a:pPr marL="342900" indent="-342900">
              <a:lnSpc>
                <a:spcPct val="140000"/>
              </a:lnSpc>
              <a:buFontTx/>
              <a:buAutoNum type="arabicPeriod"/>
            </a:pPr>
            <a:r>
              <a:rPr lang="en-GB" sz="1500" b="1" dirty="0">
                <a:solidFill>
                  <a:srgbClr val="FFFF99"/>
                </a:solidFill>
                <a:latin typeface="Arial" pitchFamily="34" charset="0"/>
              </a:rPr>
              <a:t>Biodiversity is being valued increasingly by society and politicians, and even by economists.</a:t>
            </a:r>
            <a:endParaRPr lang="en-GB"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6A4CC-7F47-A84C-A95B-23785551EE99}"/>
              </a:ext>
            </a:extLst>
          </p:cNvPr>
          <p:cNvSpPr>
            <a:spLocks noGrp="1"/>
          </p:cNvSpPr>
          <p:nvPr>
            <p:ph type="title"/>
          </p:nvPr>
        </p:nvSpPr>
        <p:spPr/>
        <p:txBody>
          <a:bodyPr/>
          <a:lstStyle/>
          <a:p>
            <a:r>
              <a:rPr lang="en-GB" dirty="0"/>
              <a:t>Publication of the Week!</a:t>
            </a:r>
          </a:p>
        </p:txBody>
      </p:sp>
      <p:pic>
        <p:nvPicPr>
          <p:cNvPr id="6" name="Picture 5">
            <a:extLst>
              <a:ext uri="{FF2B5EF4-FFF2-40B4-BE49-F238E27FC236}">
                <a16:creationId xmlns:a16="http://schemas.microsoft.com/office/drawing/2014/main" id="{271AC470-6366-E642-93EF-845F9641BEA8}"/>
              </a:ext>
            </a:extLst>
          </p:cNvPr>
          <p:cNvPicPr>
            <a:picLocks noChangeAspect="1"/>
          </p:cNvPicPr>
          <p:nvPr/>
        </p:nvPicPr>
        <p:blipFill>
          <a:blip r:embed="rId2"/>
          <a:stretch>
            <a:fillRect/>
          </a:stretch>
        </p:blipFill>
        <p:spPr>
          <a:xfrm>
            <a:off x="1266825" y="861165"/>
            <a:ext cx="6734175" cy="2857500"/>
          </a:xfrm>
          <a:prstGeom prst="rect">
            <a:avLst/>
          </a:prstGeom>
        </p:spPr>
      </p:pic>
      <p:sp>
        <p:nvSpPr>
          <p:cNvPr id="7" name="Rectangle 6">
            <a:extLst>
              <a:ext uri="{FF2B5EF4-FFF2-40B4-BE49-F238E27FC236}">
                <a16:creationId xmlns:a16="http://schemas.microsoft.com/office/drawing/2014/main" id="{82106156-CA8F-A743-87B5-7E51D51F3B22}"/>
              </a:ext>
            </a:extLst>
          </p:cNvPr>
          <p:cNvSpPr/>
          <p:nvPr/>
        </p:nvSpPr>
        <p:spPr>
          <a:xfrm>
            <a:off x="1250249" y="3729694"/>
            <a:ext cx="3946273" cy="415498"/>
          </a:xfrm>
          <a:prstGeom prst="rect">
            <a:avLst/>
          </a:prstGeom>
        </p:spPr>
        <p:txBody>
          <a:bodyPr wrap="none">
            <a:spAutoFit/>
          </a:bodyPr>
          <a:lstStyle/>
          <a:p>
            <a:r>
              <a:rPr lang="en-GB" sz="2100" dirty="0">
                <a:solidFill>
                  <a:srgbClr val="2F2A2B"/>
                </a:solidFill>
                <a:latin typeface="Helvetica" pitchFamily="2" charset="0"/>
              </a:rPr>
              <a:t>DOI:   10.1126/science.aat6405</a:t>
            </a:r>
          </a:p>
        </p:txBody>
      </p:sp>
      <p:sp>
        <p:nvSpPr>
          <p:cNvPr id="8" name="Title 1">
            <a:extLst>
              <a:ext uri="{FF2B5EF4-FFF2-40B4-BE49-F238E27FC236}">
                <a16:creationId xmlns:a16="http://schemas.microsoft.com/office/drawing/2014/main" id="{B88532CB-7A92-154E-B99C-931492E4E3D4}"/>
              </a:ext>
            </a:extLst>
          </p:cNvPr>
          <p:cNvSpPr txBox="1">
            <a:spLocks/>
          </p:cNvSpPr>
          <p:nvPr/>
        </p:nvSpPr>
        <p:spPr>
          <a:xfrm>
            <a:off x="1337153" y="4162638"/>
            <a:ext cx="6172200" cy="857250"/>
          </a:xfrm>
          <a:prstGeom prst="rect">
            <a:avLst/>
          </a:prstGeom>
        </p:spPr>
        <p:txBody>
          <a:bodyPr vert="horz" lIns="68580" tIns="34290" rIns="68580" bIns="3429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300" dirty="0"/>
              <a:t>https://</a:t>
            </a:r>
            <a:r>
              <a:rPr lang="en-GB" sz="3300" dirty="0" err="1"/>
              <a:t>bef-china.com</a:t>
            </a:r>
            <a:endParaRPr lang="en-GB" sz="3300" dirty="0"/>
          </a:p>
        </p:txBody>
      </p:sp>
    </p:spTree>
    <p:extLst>
      <p:ext uri="{BB962C8B-B14F-4D97-AF65-F5344CB8AC3E}">
        <p14:creationId xmlns:p14="http://schemas.microsoft.com/office/powerpoint/2010/main" val="38302636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28D27-1BE7-1143-95F2-A891C01872D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4E843ED-4D92-FB4F-9A30-E9D670E38062}"/>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01327453-8EF3-C547-B45F-28EF8865172A}"/>
              </a:ext>
            </a:extLst>
          </p:cNvPr>
          <p:cNvPicPr>
            <a:picLocks noChangeAspect="1"/>
          </p:cNvPicPr>
          <p:nvPr/>
        </p:nvPicPr>
        <p:blipFill>
          <a:blip r:embed="rId2"/>
          <a:stretch>
            <a:fillRect/>
          </a:stretch>
        </p:blipFill>
        <p:spPr>
          <a:xfrm>
            <a:off x="2646123" y="0"/>
            <a:ext cx="3588707" cy="5076253"/>
          </a:xfrm>
          <a:prstGeom prst="rect">
            <a:avLst/>
          </a:prstGeom>
        </p:spPr>
      </p:pic>
    </p:spTree>
    <p:extLst>
      <p:ext uri="{BB962C8B-B14F-4D97-AF65-F5344CB8AC3E}">
        <p14:creationId xmlns:p14="http://schemas.microsoft.com/office/powerpoint/2010/main" val="24673775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F45337-B6B4-5F49-923F-9F9ABA5385AB}"/>
              </a:ext>
            </a:extLst>
          </p:cNvPr>
          <p:cNvSpPr>
            <a:spLocks noGrp="1"/>
          </p:cNvSpPr>
          <p:nvPr>
            <p:ph idx="1"/>
          </p:nvPr>
        </p:nvSpPr>
        <p:spPr/>
        <p:txBody>
          <a:bodyPr/>
          <a:lstStyle/>
          <a:p>
            <a:endParaRPr lang="en-GB" dirty="0"/>
          </a:p>
        </p:txBody>
      </p:sp>
      <p:pic>
        <p:nvPicPr>
          <p:cNvPr id="6" name="Picture 5">
            <a:extLst>
              <a:ext uri="{FF2B5EF4-FFF2-40B4-BE49-F238E27FC236}">
                <a16:creationId xmlns:a16="http://schemas.microsoft.com/office/drawing/2014/main" id="{BE3A70B4-8CF8-C842-B2D7-1275177C2DA0}"/>
              </a:ext>
            </a:extLst>
          </p:cNvPr>
          <p:cNvPicPr>
            <a:picLocks noChangeAspect="1"/>
          </p:cNvPicPr>
          <p:nvPr/>
        </p:nvPicPr>
        <p:blipFill>
          <a:blip r:embed="rId2"/>
          <a:stretch>
            <a:fillRect/>
          </a:stretch>
        </p:blipFill>
        <p:spPr>
          <a:xfrm>
            <a:off x="1331816" y="318043"/>
            <a:ext cx="6283734" cy="4507413"/>
          </a:xfrm>
          <a:prstGeom prst="rect">
            <a:avLst/>
          </a:prstGeom>
        </p:spPr>
      </p:pic>
      <p:sp>
        <p:nvSpPr>
          <p:cNvPr id="7" name="Title 6">
            <a:extLst>
              <a:ext uri="{FF2B5EF4-FFF2-40B4-BE49-F238E27FC236}">
                <a16:creationId xmlns:a16="http://schemas.microsoft.com/office/drawing/2014/main" id="{BE86CE3D-B925-6C4D-A6B7-DE88C23F42D5}"/>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0609294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F87AC-9D09-B344-AEDF-56C830AAFC41}"/>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704343C6-C9E8-DF47-98A2-77243FB2A84A}"/>
              </a:ext>
            </a:extLst>
          </p:cNvPr>
          <p:cNvPicPr>
            <a:picLocks noGrp="1" noChangeAspect="1"/>
          </p:cNvPicPr>
          <p:nvPr>
            <p:ph idx="1"/>
          </p:nvPr>
        </p:nvPicPr>
        <p:blipFill>
          <a:blip r:embed="rId2"/>
          <a:stretch>
            <a:fillRect/>
          </a:stretch>
        </p:blipFill>
        <p:spPr>
          <a:xfrm>
            <a:off x="3471010" y="1749030"/>
            <a:ext cx="4529990" cy="3394472"/>
          </a:xfrm>
          <a:prstGeom prst="rect">
            <a:avLst/>
          </a:prstGeom>
        </p:spPr>
      </p:pic>
      <p:pic>
        <p:nvPicPr>
          <p:cNvPr id="4" name="Picture 3">
            <a:extLst>
              <a:ext uri="{FF2B5EF4-FFF2-40B4-BE49-F238E27FC236}">
                <a16:creationId xmlns:a16="http://schemas.microsoft.com/office/drawing/2014/main" id="{E425D23A-1038-7C4F-B804-4E4B7CB2BCDE}"/>
              </a:ext>
            </a:extLst>
          </p:cNvPr>
          <p:cNvPicPr>
            <a:picLocks noChangeAspect="1"/>
          </p:cNvPicPr>
          <p:nvPr/>
        </p:nvPicPr>
        <p:blipFill>
          <a:blip r:embed="rId3"/>
          <a:stretch>
            <a:fillRect/>
          </a:stretch>
        </p:blipFill>
        <p:spPr>
          <a:xfrm>
            <a:off x="1143000" y="1"/>
            <a:ext cx="3943233" cy="2959274"/>
          </a:xfrm>
          <a:prstGeom prst="rect">
            <a:avLst/>
          </a:prstGeom>
        </p:spPr>
      </p:pic>
    </p:spTree>
    <p:extLst>
      <p:ext uri="{BB962C8B-B14F-4D97-AF65-F5344CB8AC3E}">
        <p14:creationId xmlns:p14="http://schemas.microsoft.com/office/powerpoint/2010/main" val="42304279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31BFF-8AAE-FC40-982A-D12F9DEDC0A3}"/>
              </a:ext>
            </a:extLst>
          </p:cNvPr>
          <p:cNvSpPr>
            <a:spLocks noGrp="1"/>
          </p:cNvSpPr>
          <p:nvPr>
            <p:ph type="title"/>
          </p:nvPr>
        </p:nvSpPr>
        <p:spPr/>
        <p:txBody>
          <a:bodyPr>
            <a:noAutofit/>
          </a:bodyPr>
          <a:lstStyle/>
          <a:p>
            <a:r>
              <a:rPr lang="en-GB" sz="2100" dirty="0"/>
              <a:t>Key results: observed data (left) and statistical predictions of means and standard deviations (right)</a:t>
            </a:r>
          </a:p>
        </p:txBody>
      </p:sp>
      <p:pic>
        <p:nvPicPr>
          <p:cNvPr id="4" name="Picture 3">
            <a:extLst>
              <a:ext uri="{FF2B5EF4-FFF2-40B4-BE49-F238E27FC236}">
                <a16:creationId xmlns:a16="http://schemas.microsoft.com/office/drawing/2014/main" id="{050D6803-5A57-EE4C-B776-2C648F92E48D}"/>
              </a:ext>
            </a:extLst>
          </p:cNvPr>
          <p:cNvPicPr>
            <a:picLocks noChangeAspect="1"/>
          </p:cNvPicPr>
          <p:nvPr/>
        </p:nvPicPr>
        <p:blipFill>
          <a:blip r:embed="rId2"/>
          <a:stretch>
            <a:fillRect/>
          </a:stretch>
        </p:blipFill>
        <p:spPr>
          <a:xfrm>
            <a:off x="716301" y="1081088"/>
            <a:ext cx="7089437" cy="3268032"/>
          </a:xfrm>
          <a:prstGeom prst="rect">
            <a:avLst/>
          </a:prstGeom>
        </p:spPr>
      </p:pic>
      <p:sp>
        <p:nvSpPr>
          <p:cNvPr id="5" name="TextBox 4">
            <a:extLst>
              <a:ext uri="{FF2B5EF4-FFF2-40B4-BE49-F238E27FC236}">
                <a16:creationId xmlns:a16="http://schemas.microsoft.com/office/drawing/2014/main" id="{4B81F0D6-67C9-C54E-9BFB-8B05A477E996}"/>
              </a:ext>
            </a:extLst>
          </p:cNvPr>
          <p:cNvSpPr txBox="1"/>
          <p:nvPr/>
        </p:nvSpPr>
        <p:spPr>
          <a:xfrm>
            <a:off x="2791523" y="4349120"/>
            <a:ext cx="1659237" cy="300082"/>
          </a:xfrm>
          <a:prstGeom prst="rect">
            <a:avLst/>
          </a:prstGeom>
          <a:noFill/>
        </p:spPr>
        <p:txBody>
          <a:bodyPr wrap="none" rtlCol="0">
            <a:spAutoFit/>
          </a:bodyPr>
          <a:lstStyle/>
          <a:p>
            <a:r>
              <a:rPr lang="en-GB" sz="1350" dirty="0"/>
              <a:t>Tree species richness</a:t>
            </a:r>
          </a:p>
        </p:txBody>
      </p:sp>
      <p:sp>
        <p:nvSpPr>
          <p:cNvPr id="6" name="TextBox 5">
            <a:extLst>
              <a:ext uri="{FF2B5EF4-FFF2-40B4-BE49-F238E27FC236}">
                <a16:creationId xmlns:a16="http://schemas.microsoft.com/office/drawing/2014/main" id="{F90D8BEE-3FD6-7442-8B0A-7272A2925DF8}"/>
              </a:ext>
            </a:extLst>
          </p:cNvPr>
          <p:cNvSpPr txBox="1"/>
          <p:nvPr/>
        </p:nvSpPr>
        <p:spPr>
          <a:xfrm>
            <a:off x="6029971" y="4349120"/>
            <a:ext cx="1659237" cy="300082"/>
          </a:xfrm>
          <a:prstGeom prst="rect">
            <a:avLst/>
          </a:prstGeom>
          <a:noFill/>
        </p:spPr>
        <p:txBody>
          <a:bodyPr wrap="none" rtlCol="0">
            <a:spAutoFit/>
          </a:bodyPr>
          <a:lstStyle/>
          <a:p>
            <a:r>
              <a:rPr lang="en-GB" sz="1350" dirty="0"/>
              <a:t>Tree species richness</a:t>
            </a:r>
          </a:p>
        </p:txBody>
      </p:sp>
    </p:spTree>
    <p:extLst>
      <p:ext uri="{BB962C8B-B14F-4D97-AF65-F5344CB8AC3E}">
        <p14:creationId xmlns:p14="http://schemas.microsoft.com/office/powerpoint/2010/main" val="19018703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E2CE-B907-C649-A7D5-6D412970998E}"/>
              </a:ext>
            </a:extLst>
          </p:cNvPr>
          <p:cNvSpPr>
            <a:spLocks noGrp="1"/>
          </p:cNvSpPr>
          <p:nvPr>
            <p:ph type="title"/>
          </p:nvPr>
        </p:nvSpPr>
        <p:spPr/>
        <p:txBody>
          <a:bodyPr/>
          <a:lstStyle/>
          <a:p>
            <a:r>
              <a:rPr lang="en-GB" dirty="0"/>
              <a:t>Questions to ask yourself</a:t>
            </a:r>
          </a:p>
        </p:txBody>
      </p:sp>
      <p:sp>
        <p:nvSpPr>
          <p:cNvPr id="3" name="Content Placeholder 2">
            <a:extLst>
              <a:ext uri="{FF2B5EF4-FFF2-40B4-BE49-F238E27FC236}">
                <a16:creationId xmlns:a16="http://schemas.microsoft.com/office/drawing/2014/main" id="{2CE2D2D0-EA37-ED40-ABB3-0BE4E12A7AD9}"/>
              </a:ext>
            </a:extLst>
          </p:cNvPr>
          <p:cNvSpPr>
            <a:spLocks noGrp="1"/>
          </p:cNvSpPr>
          <p:nvPr>
            <p:ph idx="1"/>
          </p:nvPr>
        </p:nvSpPr>
        <p:spPr/>
        <p:txBody>
          <a:bodyPr>
            <a:normAutofit/>
          </a:bodyPr>
          <a:lstStyle/>
          <a:p>
            <a:r>
              <a:rPr lang="en-GB" dirty="0"/>
              <a:t>What processes could explain the relationships between tree diversity and productivity?</a:t>
            </a:r>
          </a:p>
          <a:p>
            <a:r>
              <a:rPr lang="en-GB" dirty="0"/>
              <a:t>How could this study inform forest planting and conservation strategies?</a:t>
            </a:r>
          </a:p>
          <a:p>
            <a:r>
              <a:rPr lang="en-GB" dirty="0"/>
              <a:t>Would you expect the patterns observed to continue over time?</a:t>
            </a:r>
          </a:p>
          <a:p>
            <a:r>
              <a:rPr lang="en-GB" dirty="0"/>
              <a:t>Would you expect the patterns observed to be the same if more species were used per plot?</a:t>
            </a:r>
          </a:p>
          <a:p>
            <a:pPr marL="0" indent="0">
              <a:buNone/>
            </a:pPr>
            <a:endParaRPr lang="en-GB" dirty="0"/>
          </a:p>
        </p:txBody>
      </p:sp>
    </p:spTree>
    <p:extLst>
      <p:ext uri="{BB962C8B-B14F-4D97-AF65-F5344CB8AC3E}">
        <p14:creationId xmlns:p14="http://schemas.microsoft.com/office/powerpoint/2010/main" val="3007368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4260</TotalTime>
  <Words>2274</Words>
  <Application>Microsoft Macintosh PowerPoint</Application>
  <PresentationFormat>On-screen Show (16:9)</PresentationFormat>
  <Paragraphs>235</Paragraphs>
  <Slides>60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Arial</vt:lpstr>
      <vt:lpstr>ArialMT</vt:lpstr>
      <vt:lpstr>Calibri</vt:lpstr>
      <vt:lpstr>Comic Sans MS</vt:lpstr>
      <vt:lpstr>Gill Sans</vt:lpstr>
      <vt:lpstr>Helvetica</vt:lpstr>
      <vt:lpstr>Helvetica Neue</vt:lpstr>
      <vt:lpstr>Times New Roman</vt:lpstr>
      <vt:lpstr>Office Theme</vt:lpstr>
      <vt:lpstr>Biodiversity and Ecosystem Functioning ….and the capture of resources</vt:lpstr>
      <vt:lpstr>Life on Earth</vt:lpstr>
      <vt:lpstr>PowerPoint Presentation</vt:lpstr>
      <vt:lpstr>PowerPoint Presentation</vt:lpstr>
      <vt:lpstr>PowerPoint Presentation</vt:lpstr>
      <vt:lpstr>PowerPoint Presentation</vt:lpstr>
      <vt:lpstr>PowerPoint Presentation</vt:lpstr>
      <vt:lpstr>PowerPoint Presentation</vt:lpstr>
      <vt:lpstr>The importance of biodiversity </vt:lpstr>
      <vt:lpstr>PowerPoint Presentation</vt:lpstr>
      <vt:lpstr>Is there a relationship between biodiversity and ecosystem functioning?</vt:lpstr>
      <vt:lpstr>Biodiversity</vt:lpstr>
      <vt:lpstr>Biodiversity</vt:lpstr>
      <vt:lpstr>Other measures of biodiversity</vt:lpstr>
      <vt:lpstr>PowerPoint Presentation</vt:lpstr>
      <vt:lpstr>Ecosystem functioning</vt:lpstr>
      <vt:lpstr>Linking BEF</vt:lpstr>
      <vt:lpstr>Why should there be a relationship between BEF?</vt:lpstr>
      <vt:lpstr>Important niches for plants and mycorrhizal fungi at local scales</vt:lpstr>
      <vt:lpstr>PowerPoint Presentation</vt:lpstr>
      <vt:lpstr>Linking Biodiversity with Function</vt:lpstr>
      <vt:lpstr>How do you test for relationships between biodiversity and ecosystem functioning? Big scale:</vt:lpstr>
      <vt:lpstr>Small scale – Thomas Bell work</vt:lpstr>
      <vt:lpstr>PowerPoint Presentation</vt:lpstr>
      <vt:lpstr>Lots of debate about the nature of the relationship – often related to the nature of the experimental design. Just because a piece of work is published, does not mean it has no “issues”!</vt:lpstr>
      <vt:lpstr>Species richness and biofuel production -David Tilman et al Nature</vt:lpstr>
      <vt:lpstr>Consider other aspects of “diversity”</vt:lpstr>
      <vt:lpstr>A role for intra- and inter specific diversity of mycorrhizal fungi in regulating nutrient cycles?</vt:lpstr>
      <vt:lpstr>PowerPoint Presentation</vt:lpstr>
      <vt:lpstr>PowerPoint Presentation</vt:lpstr>
      <vt:lpstr>Increasing interest in ‘traits’</vt:lpstr>
      <vt:lpstr>Example: the ‘TRY’ plant database</vt:lpstr>
      <vt:lpstr>Example showing how environmental and human disturbance affects plant traits</vt:lpstr>
      <vt:lpstr>Brown: variation in plant traits explained by various soil properties  Green: variation in plant traits explained by forest type (i.e. logged or unlogged)</vt:lpstr>
      <vt:lpstr>A Sustainable Planet: Phosphorus in soil, food and water</vt:lpstr>
      <vt:lpstr>Aims and topics for this section</vt:lpstr>
      <vt:lpstr>PowerPoint Presentation</vt:lpstr>
      <vt:lpstr>PowerPoint Presentation</vt:lpstr>
      <vt:lpstr>Conversion of organic phosphorus to inorganic phosphorus</vt:lpstr>
      <vt:lpstr>The activity of the suite of enzymes called “phosphatases” are related to nitrogen concentrations</vt:lpstr>
      <vt:lpstr>PowerPoint Presentation</vt:lpstr>
      <vt:lpstr>Phosphorus is ‘sticky’</vt:lpstr>
      <vt:lpstr>There’s no single ‘silver bullet’ to solve our phosphorus supply crisis</vt:lpstr>
      <vt:lpstr>But just how dependent really are plants on inorganic forms of phosphorus?</vt:lpstr>
      <vt:lpstr>PowerPoint Presentation</vt:lpstr>
      <vt:lpstr>PowerPoint Presentation</vt:lpstr>
      <vt:lpstr>One way to test this hypothesis is to grow plants with specific P substrates</vt:lpstr>
      <vt:lpstr>Plant biomass differed significantly in response to P form and mycorrhizal type</vt:lpstr>
      <vt:lpstr>PowerPoint Presentation</vt:lpstr>
      <vt:lpstr>A symbiotic pathway to canopy dominance?</vt:lpstr>
      <vt:lpstr>PowerPoint Presentation</vt:lpstr>
      <vt:lpstr>Remember the link between nitrogen availability of phosphatase activity?</vt:lpstr>
      <vt:lpstr>PowerPoint Presentation</vt:lpstr>
      <vt:lpstr>Summary</vt:lpstr>
      <vt:lpstr>Publication of the Week!</vt:lpstr>
      <vt:lpstr>PowerPoint Presentation</vt:lpstr>
      <vt:lpstr>PowerPoint Presentation</vt:lpstr>
      <vt:lpstr>PowerPoint Presentation</vt:lpstr>
      <vt:lpstr>Key results: observed data (left) and statistical predictions of means and standard deviations (right)</vt:lpstr>
      <vt:lpstr>Questions to ask yourself</vt:lpstr>
    </vt:vector>
  </TitlesOfParts>
  <Company>University of Aberdeen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Biodiversity and ecosystem functioning</dc:title>
  <dc:creator>soi537</dc:creator>
  <cp:lastModifiedBy>Sophie Nixon</cp:lastModifiedBy>
  <cp:revision>62</cp:revision>
  <dcterms:created xsi:type="dcterms:W3CDTF">2010-12-01T16:15:50Z</dcterms:created>
  <dcterms:modified xsi:type="dcterms:W3CDTF">2025-02-28T00:06:20Z</dcterms:modified>
</cp:coreProperties>
</file>