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4"/>
  </p:notesMasterIdLst>
  <p:sldIdLst>
    <p:sldId id="256" r:id="rId2"/>
    <p:sldId id="257" r:id="rId3"/>
    <p:sldId id="258" r:id="rId4"/>
    <p:sldId id="268" r:id="rId5"/>
    <p:sldId id="1409" r:id="rId6"/>
    <p:sldId id="259" r:id="rId7"/>
    <p:sldId id="316" r:id="rId8"/>
    <p:sldId id="317" r:id="rId9"/>
    <p:sldId id="319" r:id="rId10"/>
    <p:sldId id="1414" r:id="rId11"/>
    <p:sldId id="1408" r:id="rId12"/>
    <p:sldId id="1415" r:id="rId13"/>
    <p:sldId id="263" r:id="rId14"/>
    <p:sldId id="301" r:id="rId15"/>
    <p:sldId id="318" r:id="rId16"/>
    <p:sldId id="321" r:id="rId17"/>
    <p:sldId id="320" r:id="rId18"/>
    <p:sldId id="261" r:id="rId19"/>
    <p:sldId id="262" r:id="rId20"/>
    <p:sldId id="323" r:id="rId21"/>
    <p:sldId id="286" r:id="rId22"/>
    <p:sldId id="294" r:id="rId23"/>
    <p:sldId id="1398" r:id="rId24"/>
    <p:sldId id="1399" r:id="rId25"/>
    <p:sldId id="276" r:id="rId26"/>
    <p:sldId id="269" r:id="rId27"/>
    <p:sldId id="305" r:id="rId28"/>
    <p:sldId id="296" r:id="rId29"/>
    <p:sldId id="1400" r:id="rId30"/>
    <p:sldId id="1401" r:id="rId31"/>
    <p:sldId id="1402" r:id="rId32"/>
    <p:sldId id="1410" r:id="rId33"/>
    <p:sldId id="297" r:id="rId34"/>
    <p:sldId id="1403" r:id="rId35"/>
    <p:sldId id="1404" r:id="rId36"/>
    <p:sldId id="1405" r:id="rId37"/>
    <p:sldId id="283" r:id="rId38"/>
    <p:sldId id="298" r:id="rId39"/>
    <p:sldId id="292" r:id="rId40"/>
    <p:sldId id="275" r:id="rId41"/>
    <p:sldId id="299" r:id="rId42"/>
    <p:sldId id="277" r:id="rId43"/>
    <p:sldId id="1407" r:id="rId44"/>
    <p:sldId id="284" r:id="rId45"/>
    <p:sldId id="285" r:id="rId46"/>
    <p:sldId id="291" r:id="rId47"/>
    <p:sldId id="302" r:id="rId48"/>
    <p:sldId id="273" r:id="rId49"/>
    <p:sldId id="303" r:id="rId50"/>
    <p:sldId id="1413" r:id="rId51"/>
    <p:sldId id="274" r:id="rId52"/>
    <p:sldId id="315" r:id="rId53"/>
    <p:sldId id="1411" r:id="rId54"/>
    <p:sldId id="1412" r:id="rId55"/>
    <p:sldId id="313" r:id="rId56"/>
    <p:sldId id="306" r:id="rId57"/>
    <p:sldId id="304" r:id="rId58"/>
    <p:sldId id="311" r:id="rId59"/>
    <p:sldId id="307" r:id="rId60"/>
    <p:sldId id="308" r:id="rId61"/>
    <p:sldId id="310" r:id="rId62"/>
    <p:sldId id="309" r:id="rId6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gD7DdX4F6xXA2CS1jjfR5QJWO8G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ctoria Coker" initials="VC" lastIdx="2" clrIdx="0">
    <p:extLst>
      <p:ext uri="{19B8F6BF-5375-455C-9EA6-DF929625EA0E}">
        <p15:presenceInfo xmlns:p15="http://schemas.microsoft.com/office/powerpoint/2012/main" userId="S::vicky.coker@manchester.ac.uk::d72aa273-31db-4826-9280-c88045117e4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9BB47"/>
    <a:srgbClr val="EB1731"/>
    <a:srgbClr val="FEDD9C"/>
    <a:srgbClr val="F8A496"/>
    <a:srgbClr val="FCC116"/>
    <a:srgbClr val="EA1C2E"/>
    <a:srgbClr val="144667"/>
    <a:srgbClr val="126A9F"/>
    <a:srgbClr val="1F97D4"/>
    <a:srgbClr val="407F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ia Coker" userId="d72aa273-31db-4826-9280-c88045117e4b" providerId="ADAL" clId="{EF15E9B5-DC6C-4039-9C6C-0195B37D8067}"/>
    <pc:docChg chg="delSld">
      <pc:chgData name="Victoria Coker" userId="d72aa273-31db-4826-9280-c88045117e4b" providerId="ADAL" clId="{EF15E9B5-DC6C-4039-9C6C-0195B37D8067}" dt="2025-01-28T09:36:32.932" v="0" actId="47"/>
      <pc:docMkLst>
        <pc:docMk/>
      </pc:docMkLst>
      <pc:sldChg chg="del">
        <pc:chgData name="Victoria Coker" userId="d72aa273-31db-4826-9280-c88045117e4b" providerId="ADAL" clId="{EF15E9B5-DC6C-4039-9C6C-0195B37D8067}" dt="2025-01-28T09:36:32.932" v="0" actId="47"/>
        <pc:sldMkLst>
          <pc:docMk/>
          <pc:sldMk cId="3074228172"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b9d83f0a95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b9d83f0a9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b9e8206b27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b9e8206b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0288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b9d9d863d4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b9d9d863d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4921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15283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GB" b="0" i="0">
                <a:solidFill>
                  <a:srgbClr val="1F1F1F"/>
                </a:solidFill>
                <a:effectLst/>
                <a:latin typeface="Google Sans"/>
              </a:rPr>
              <a:t>Exajoule 10^18</a:t>
            </a:r>
            <a:endParaRPr lang="en-GB"/>
          </a:p>
        </p:txBody>
      </p:sp>
    </p:spTree>
    <p:extLst>
      <p:ext uri="{BB962C8B-B14F-4D97-AF65-F5344CB8AC3E}">
        <p14:creationId xmlns:p14="http://schemas.microsoft.com/office/powerpoint/2010/main" val="2907064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lvl="1"/>
            <a:r>
              <a:rPr lang="en-GB" sz="2000"/>
              <a:t>Graphite</a:t>
            </a:r>
          </a:p>
          <a:p>
            <a:pPr lvl="1"/>
            <a:r>
              <a:rPr lang="en-GB" sz="2000"/>
              <a:t>Lithium</a:t>
            </a:r>
          </a:p>
          <a:p>
            <a:pPr lvl="1"/>
            <a:r>
              <a:rPr lang="en-GB" sz="2000"/>
              <a:t>Cobalt </a:t>
            </a:r>
          </a:p>
          <a:p>
            <a:pPr lvl="1"/>
            <a:r>
              <a:rPr lang="en-GB" sz="2000"/>
              <a:t>Nickel</a:t>
            </a:r>
          </a:p>
          <a:p>
            <a:endParaRPr lang="en-GB"/>
          </a:p>
        </p:txBody>
      </p:sp>
    </p:spTree>
    <p:extLst>
      <p:ext uri="{BB962C8B-B14F-4D97-AF65-F5344CB8AC3E}">
        <p14:creationId xmlns:p14="http://schemas.microsoft.com/office/powerpoint/2010/main" val="3090871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0C00A89E-CDCD-1047-887B-19131F44EF97}" type="slidenum">
              <a:rPr lang="en-GB" smtClean="0"/>
              <a:t>30</a:t>
            </a:fld>
            <a:endParaRPr lang="en-GB"/>
          </a:p>
        </p:txBody>
      </p:sp>
    </p:spTree>
    <p:extLst>
      <p:ext uri="{BB962C8B-B14F-4D97-AF65-F5344CB8AC3E}">
        <p14:creationId xmlns:p14="http://schemas.microsoft.com/office/powerpoint/2010/main" val="800749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0406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8769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7"/>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14" name="Google Shape;14;p17"/>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7"/>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7"/>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8"/>
          <p:cNvSpPr txBox="1">
            <a:spLocks noGrp="1"/>
          </p:cNvSpPr>
          <p:nvPr>
            <p:ph type="title"/>
          </p:nvPr>
        </p:nvSpPr>
        <p:spPr>
          <a:xfrm>
            <a:off x="628650"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8"/>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0" name="Google Shape;20;p18"/>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9"/>
          <p:cNvSpPr txBox="1">
            <a:spLocks noGrp="1"/>
          </p:cNvSpPr>
          <p:nvPr>
            <p:ph type="title"/>
          </p:nvPr>
        </p:nvSpPr>
        <p:spPr>
          <a:xfrm>
            <a:off x="623888" y="1709741"/>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9"/>
          <p:cNvSpPr txBox="1">
            <a:spLocks noGrp="1"/>
          </p:cNvSpPr>
          <p:nvPr>
            <p:ph type="body" idx="1"/>
          </p:nvPr>
        </p:nvSpPr>
        <p:spPr>
          <a:xfrm>
            <a:off x="623888" y="4589466"/>
            <a:ext cx="7886700" cy="1500187"/>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2400"/>
              <a:buNone/>
              <a:defRPr sz="1800">
                <a:solidFill>
                  <a:schemeClr val="dk1"/>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26" name="Google Shape;26;p19"/>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9"/>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628650"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0"/>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2" name="Google Shape;32;p20"/>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33" name="Google Shape;33;p20"/>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0"/>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1"/>
          <p:cNvSpPr txBox="1">
            <a:spLocks noGrp="1"/>
          </p:cNvSpPr>
          <p:nvPr>
            <p:ph type="title"/>
          </p:nvPr>
        </p:nvSpPr>
        <p:spPr>
          <a:xfrm>
            <a:off x="629841"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1"/>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39" name="Google Shape;39;p21"/>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21"/>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1" name="Google Shape;41;p21"/>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2" name="Google Shape;42;p21"/>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1"/>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3"/>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4"/>
          <p:cNvSpPr txBox="1">
            <a:spLocks noGrp="1"/>
          </p:cNvSpPr>
          <p:nvPr>
            <p:ph type="body" idx="1"/>
          </p:nvPr>
        </p:nvSpPr>
        <p:spPr>
          <a:xfrm>
            <a:off x="3887391" y="987428"/>
            <a:ext cx="4629150" cy="4873625"/>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57" name="Google Shape;57;p24"/>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58" name="Google Shape;58;p24"/>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5"/>
          <p:cNvSpPr>
            <a:spLocks noGrp="1"/>
          </p:cNvSpPr>
          <p:nvPr>
            <p:ph type="pic" idx="2"/>
          </p:nvPr>
        </p:nvSpPr>
        <p:spPr>
          <a:xfrm>
            <a:off x="3887391" y="987428"/>
            <a:ext cx="4629150" cy="487362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750"/>
              </a:spcBef>
              <a:spcAft>
                <a:spcPts val="0"/>
              </a:spcAft>
              <a:buClr>
                <a:schemeClr val="dk1"/>
              </a:buClr>
              <a:buSzPts val="32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8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24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20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4" name="Google Shape;64;p25"/>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5" name="Google Shape;65;p25"/>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628650"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4623593"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623093" y="370682"/>
            <a:ext cx="5811838"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7" name="Google Shape;77;p27"/>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628650" y="365128"/>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3028950" y="6356353"/>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mailto:Vicky.coker@manchester.ac.uk" TargetMode="External"/><Relationship Id="rId4" Type="http://schemas.openxmlformats.org/officeDocument/2006/relationships/hyperlink" Target="mailto:Sophie.nixon@manchester.ac.uk"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mailto:Vicky.coker@manchester.ac.uk" TargetMode="External"/><Relationship Id="rId4" Type="http://schemas.openxmlformats.org/officeDocument/2006/relationships/hyperlink" Target="mailto:Sophie.nixon@manchester.ac.uk"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un.org/en/about-u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2.xml"/><Relationship Id="rId1" Type="http://schemas.openxmlformats.org/officeDocument/2006/relationships/video" Target="https://www.youtube.com/embed/vc8-7VncIbA?feature=oembe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3.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6.svg"/><Relationship Id="rId7"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9.jpeg"/><Relationship Id="rId4" Type="http://schemas.openxmlformats.org/officeDocument/2006/relationships/image" Target="../media/image38.svg"/></Relationships>
</file>

<file path=ppt/slides/_rels/slide2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2.tiff"/><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tiff"/></Relationships>
</file>

<file path=ppt/slides/_rels/slide2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hyperlink" Target="https://sustainabledevelopment.un.org/sdgs" TargetMode="External"/><Relationship Id="rId2" Type="http://schemas.openxmlformats.org/officeDocument/2006/relationships/hyperlink" Target="http://www.gapmaps.org/" TargetMode="Externa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8.png"/><Relationship Id="rId4" Type="http://schemas.openxmlformats.org/officeDocument/2006/relationships/hyperlink" Target="http://www.sdgindex.org/reports/2018/"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6.tif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8.tiff"/><Relationship Id="rId2" Type="http://schemas.openxmlformats.org/officeDocument/2006/relationships/image" Target="../media/image67.tiff"/><Relationship Id="rId1" Type="http://schemas.openxmlformats.org/officeDocument/2006/relationships/slideLayout" Target="../slideLayouts/slideLayout2.xml"/><Relationship Id="rId6" Type="http://schemas.openxmlformats.org/officeDocument/2006/relationships/image" Target="../media/image70.tiff"/><Relationship Id="rId5" Type="http://schemas.openxmlformats.org/officeDocument/2006/relationships/image" Target="../media/image65.jpeg"/><Relationship Id="rId4" Type="http://schemas.openxmlformats.org/officeDocument/2006/relationships/image" Target="../media/image69.tiff"/></Relationships>
</file>

<file path=ppt/slides/_rels/slide38.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65.jpeg"/><Relationship Id="rId1" Type="http://schemas.openxmlformats.org/officeDocument/2006/relationships/slideLayout" Target="../slideLayouts/slideLayout2.xml"/><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78.svg"/></Relationships>
</file>

<file path=ppt/slides/_rels/slide4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4" Type="http://schemas.openxmlformats.org/officeDocument/2006/relationships/image" Target="../media/image83.svg"/></Relationships>
</file>

<file path=ppt/slides/_rels/slide4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jpeg"/><Relationship Id="rId1" Type="http://schemas.openxmlformats.org/officeDocument/2006/relationships/slideLayout" Target="../slideLayouts/slideLayout2.xml"/><Relationship Id="rId6" Type="http://schemas.openxmlformats.org/officeDocument/2006/relationships/image" Target="../media/image88.jpeg"/><Relationship Id="rId5" Type="http://schemas.openxmlformats.org/officeDocument/2006/relationships/image" Target="../media/image87.jpeg"/><Relationship Id="rId4" Type="http://schemas.openxmlformats.org/officeDocument/2006/relationships/image" Target="../media/image86.png"/></Relationships>
</file>

<file path=ppt/slides/_rels/slide42.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2.tiff"/><Relationship Id="rId2" Type="http://schemas.openxmlformats.org/officeDocument/2006/relationships/image" Target="../media/image91.tiff"/><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image" Target="../media/image93.png"/></Relationships>
</file>

<file path=ppt/slides/_rels/slide45.xml.rels><?xml version="1.0" encoding="UTF-8" standalone="yes"?>
<Relationships xmlns="http://schemas.openxmlformats.org/package/2006/relationships"><Relationship Id="rId3" Type="http://schemas.openxmlformats.org/officeDocument/2006/relationships/image" Target="../media/image95.tiff"/><Relationship Id="rId2" Type="http://schemas.openxmlformats.org/officeDocument/2006/relationships/image" Target="../media/image94.tiff"/><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47.xml.rels><?xml version="1.0" encoding="UTF-8" standalone="yes"?>
<Relationships xmlns="http://schemas.openxmlformats.org/package/2006/relationships"><Relationship Id="rId2" Type="http://schemas.openxmlformats.org/officeDocument/2006/relationships/image" Target="../media/image98.tif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10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1.jpeg"/><Relationship Id="rId5" Type="http://schemas.openxmlformats.org/officeDocument/2006/relationships/image" Target="../media/image100.jpeg"/><Relationship Id="rId4" Type="http://schemas.openxmlformats.org/officeDocument/2006/relationships/image" Target="../media/image99.png"/></Relationships>
</file>

<file path=ppt/slides/_rels/slide49.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109.png"/><Relationship Id="rId13" Type="http://schemas.openxmlformats.org/officeDocument/2006/relationships/image" Target="../media/image114.png"/><Relationship Id="rId18" Type="http://schemas.openxmlformats.org/officeDocument/2006/relationships/image" Target="../media/image119.png"/><Relationship Id="rId3" Type="http://schemas.microsoft.com/office/2007/relationships/hdphoto" Target="../media/hdphoto2.wdp"/><Relationship Id="rId21" Type="http://schemas.openxmlformats.org/officeDocument/2006/relationships/image" Target="../media/image122.png"/><Relationship Id="rId7" Type="http://schemas.openxmlformats.org/officeDocument/2006/relationships/image" Target="../media/image108.png"/><Relationship Id="rId12" Type="http://schemas.openxmlformats.org/officeDocument/2006/relationships/image" Target="../media/image113.png"/><Relationship Id="rId17" Type="http://schemas.openxmlformats.org/officeDocument/2006/relationships/image" Target="../media/image118.png"/><Relationship Id="rId2" Type="http://schemas.openxmlformats.org/officeDocument/2006/relationships/image" Target="../media/image104.png"/><Relationship Id="rId16" Type="http://schemas.openxmlformats.org/officeDocument/2006/relationships/image" Target="../media/image117.png"/><Relationship Id="rId20"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07.png"/><Relationship Id="rId11" Type="http://schemas.openxmlformats.org/officeDocument/2006/relationships/image" Target="../media/image112.png"/><Relationship Id="rId24" Type="http://schemas.microsoft.com/office/2007/relationships/hdphoto" Target="../media/hdphoto3.wdp"/><Relationship Id="rId5" Type="http://schemas.openxmlformats.org/officeDocument/2006/relationships/image" Target="../media/image106.png"/><Relationship Id="rId15" Type="http://schemas.openxmlformats.org/officeDocument/2006/relationships/image" Target="../media/image116.png"/><Relationship Id="rId23" Type="http://schemas.openxmlformats.org/officeDocument/2006/relationships/image" Target="../media/image124.png"/><Relationship Id="rId10" Type="http://schemas.openxmlformats.org/officeDocument/2006/relationships/image" Target="../media/image111.png"/><Relationship Id="rId19" Type="http://schemas.openxmlformats.org/officeDocument/2006/relationships/image" Target="../media/image120.png"/><Relationship Id="rId4" Type="http://schemas.openxmlformats.org/officeDocument/2006/relationships/image" Target="../media/image105.png"/><Relationship Id="rId9" Type="http://schemas.openxmlformats.org/officeDocument/2006/relationships/image" Target="../media/image110.png"/><Relationship Id="rId14" Type="http://schemas.openxmlformats.org/officeDocument/2006/relationships/image" Target="../media/image115.png"/><Relationship Id="rId22" Type="http://schemas.openxmlformats.org/officeDocument/2006/relationships/image" Target="../media/image12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7.tiff"/><Relationship Id="rId2" Type="http://schemas.openxmlformats.org/officeDocument/2006/relationships/image" Target="../media/image126.tiff"/><Relationship Id="rId1" Type="http://schemas.openxmlformats.org/officeDocument/2006/relationships/slideLayout" Target="../slideLayouts/slideLayout2.xml"/><Relationship Id="rId4" Type="http://schemas.openxmlformats.org/officeDocument/2006/relationships/image" Target="../media/image128.tif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26.tiff"/><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657350" y="773763"/>
            <a:ext cx="5829300" cy="447532"/>
          </a:xfrm>
          <a:prstGeom prst="rect">
            <a:avLst/>
          </a:prstGeom>
          <a:noFill/>
          <a:ln>
            <a:noFill/>
          </a:ln>
        </p:spPr>
        <p:txBody>
          <a:bodyPr spcFirstLastPara="1" wrap="square" lIns="68569" tIns="34275" rIns="68569" bIns="34275" anchor="b" anchorCtr="0">
            <a:normAutofit fontScale="90000"/>
          </a:bodyPr>
          <a:lstStyle/>
          <a:p>
            <a:pPr marL="0" lvl="0" indent="0" algn="ctr" rtl="0">
              <a:lnSpc>
                <a:spcPct val="90000"/>
              </a:lnSpc>
              <a:spcBef>
                <a:spcPts val="0"/>
              </a:spcBef>
              <a:spcAft>
                <a:spcPts val="0"/>
              </a:spcAft>
              <a:buClr>
                <a:schemeClr val="dk1"/>
              </a:buClr>
              <a:buSzPts val="5400"/>
              <a:buFont typeface="Calibri"/>
              <a:buNone/>
            </a:pPr>
            <a:r>
              <a:rPr lang="en-GB" sz="4050" dirty="0"/>
              <a:t>A Sustainable Planet</a:t>
            </a:r>
            <a:endParaRPr sz="4050" dirty="0"/>
          </a:p>
        </p:txBody>
      </p:sp>
      <p:sp>
        <p:nvSpPr>
          <p:cNvPr id="85" name="Google Shape;85;p1"/>
          <p:cNvSpPr txBox="1">
            <a:spLocks noGrp="1"/>
          </p:cNvSpPr>
          <p:nvPr>
            <p:ph type="subTitle" idx="1"/>
          </p:nvPr>
        </p:nvSpPr>
        <p:spPr>
          <a:xfrm>
            <a:off x="1689680" y="5186147"/>
            <a:ext cx="5925312" cy="918092"/>
          </a:xfrm>
          <a:prstGeom prst="rect">
            <a:avLst/>
          </a:prstGeom>
          <a:noFill/>
          <a:ln>
            <a:noFill/>
          </a:ln>
        </p:spPr>
        <p:txBody>
          <a:bodyPr spcFirstLastPara="1" wrap="square" lIns="68569" tIns="34275" rIns="68569" bIns="34275" anchor="t" anchorCtr="0">
            <a:noAutofit/>
          </a:bodyPr>
          <a:lstStyle/>
          <a:p>
            <a:pPr marL="0" lvl="0" indent="0" algn="ctr" rtl="0">
              <a:lnSpc>
                <a:spcPct val="70000"/>
              </a:lnSpc>
              <a:spcBef>
                <a:spcPts val="0"/>
              </a:spcBef>
              <a:spcAft>
                <a:spcPts val="0"/>
              </a:spcAft>
              <a:buClr>
                <a:schemeClr val="dk1"/>
              </a:buClr>
              <a:buSzPts val="1750"/>
              <a:buNone/>
            </a:pPr>
            <a:r>
              <a:rPr lang="en-GB" sz="1600" dirty="0"/>
              <a:t>Week 1</a:t>
            </a:r>
            <a:endParaRPr sz="1600" dirty="0"/>
          </a:p>
          <a:p>
            <a:pPr marL="0" lvl="0" indent="0" algn="ctr" rtl="0">
              <a:lnSpc>
                <a:spcPct val="70000"/>
              </a:lnSpc>
              <a:spcBef>
                <a:spcPts val="750"/>
              </a:spcBef>
              <a:spcAft>
                <a:spcPts val="0"/>
              </a:spcAft>
              <a:buClr>
                <a:schemeClr val="dk1"/>
              </a:buClr>
              <a:buSzPts val="1750"/>
              <a:buNone/>
            </a:pPr>
            <a:r>
              <a:rPr lang="en-GB" sz="1600" dirty="0"/>
              <a:t>Introduction</a:t>
            </a:r>
            <a:endParaRPr sz="1600" dirty="0"/>
          </a:p>
          <a:p>
            <a:pPr marL="0" lvl="0" indent="0" algn="ctr" rtl="0">
              <a:lnSpc>
                <a:spcPct val="70000"/>
              </a:lnSpc>
              <a:spcBef>
                <a:spcPts val="750"/>
              </a:spcBef>
              <a:spcAft>
                <a:spcPts val="0"/>
              </a:spcAft>
              <a:buClr>
                <a:schemeClr val="dk1"/>
              </a:buClr>
              <a:buSzPts val="1625"/>
              <a:buNone/>
            </a:pPr>
            <a:r>
              <a:rPr lang="en-GB" sz="1600" dirty="0"/>
              <a:t>Dr Vicky Coker &amp; Prof Sophie Nixon</a:t>
            </a:r>
            <a:endParaRPr sz="1600" dirty="0"/>
          </a:p>
          <a:p>
            <a:pPr marL="0" lvl="0" indent="0" algn="ctr" rtl="0">
              <a:lnSpc>
                <a:spcPct val="70000"/>
              </a:lnSpc>
              <a:spcBef>
                <a:spcPts val="750"/>
              </a:spcBef>
              <a:spcAft>
                <a:spcPts val="0"/>
              </a:spcAft>
              <a:buClr>
                <a:schemeClr val="dk1"/>
              </a:buClr>
              <a:buSzPts val="1125"/>
              <a:buNone/>
            </a:pPr>
            <a:r>
              <a:rPr lang="en-GB" sz="1600" dirty="0"/>
              <a:t>Department of Earth and Environmental Sciences </a:t>
            </a:r>
            <a:endParaRPr sz="1600" dirty="0"/>
          </a:p>
        </p:txBody>
      </p:sp>
      <p:pic>
        <p:nvPicPr>
          <p:cNvPr id="86" name="Google Shape;86;p1"/>
          <p:cNvPicPr preferRelativeResize="0"/>
          <p:nvPr/>
        </p:nvPicPr>
        <p:blipFill rotWithShape="1">
          <a:blip r:embed="rId3">
            <a:alphaModFix/>
          </a:blip>
          <a:srcRect/>
          <a:stretch/>
        </p:blipFill>
        <p:spPr>
          <a:xfrm>
            <a:off x="1978587" y="1321223"/>
            <a:ext cx="5347499" cy="3675319"/>
          </a:xfrm>
          <a:prstGeom prst="rect">
            <a:avLst/>
          </a:prstGeom>
          <a:noFill/>
          <a:ln>
            <a:noFill/>
          </a:ln>
        </p:spPr>
      </p:pic>
      <p:sp>
        <p:nvSpPr>
          <p:cNvPr id="87" name="Google Shape;87;p1"/>
          <p:cNvSpPr txBox="1"/>
          <p:nvPr/>
        </p:nvSpPr>
        <p:spPr>
          <a:xfrm>
            <a:off x="1525815" y="6293845"/>
            <a:ext cx="5723618" cy="484718"/>
          </a:xfrm>
          <a:prstGeom prst="rect">
            <a:avLst/>
          </a:prstGeom>
          <a:noFill/>
          <a:ln>
            <a:noFill/>
          </a:ln>
        </p:spPr>
        <p:txBody>
          <a:bodyPr spcFirstLastPara="1" wrap="square" lIns="68569" tIns="34275" rIns="68569" bIns="34275" anchor="t" anchorCtr="0">
            <a:spAutoFit/>
          </a:bodyPr>
          <a:lstStyle/>
          <a:p>
            <a:r>
              <a:rPr lang="en-GB" sz="1350" b="0" i="0" u="sng" strike="noStrike" cap="none" dirty="0">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Sophie.nixon@manchester.ac.uk</a:t>
            </a:r>
            <a:r>
              <a:rPr lang="en-GB" sz="1350" b="0" i="0" u="none" strike="noStrike" cap="none" dirty="0">
                <a:solidFill>
                  <a:schemeClr val="dk1"/>
                </a:solidFill>
                <a:latin typeface="Calibri"/>
                <a:ea typeface="Calibri"/>
                <a:cs typeface="Calibri"/>
                <a:sym typeface="Calibri"/>
              </a:rPr>
              <a:t>; Manchester </a:t>
            </a:r>
            <a:r>
              <a:rPr lang="en-GB" sz="1350" dirty="0">
                <a:solidFill>
                  <a:schemeClr val="dk1"/>
                </a:solidFill>
                <a:latin typeface="Calibri"/>
                <a:ea typeface="Calibri"/>
                <a:cs typeface="Calibri"/>
                <a:sym typeface="Calibri"/>
              </a:rPr>
              <a:t>Institute of</a:t>
            </a:r>
            <a:r>
              <a:rPr lang="en-GB" sz="1350" b="0" i="0" u="none" strike="noStrike" cap="none" dirty="0">
                <a:solidFill>
                  <a:schemeClr val="dk1"/>
                </a:solidFill>
                <a:latin typeface="Calibri"/>
                <a:ea typeface="Calibri"/>
                <a:cs typeface="Calibri"/>
                <a:sym typeface="Calibri"/>
              </a:rPr>
              <a:t> </a:t>
            </a:r>
            <a:r>
              <a:rPr lang="en-GB" sz="1350" dirty="0">
                <a:solidFill>
                  <a:schemeClr val="dk1"/>
                </a:solidFill>
                <a:latin typeface="Calibri"/>
                <a:ea typeface="Calibri"/>
                <a:cs typeface="Calibri"/>
                <a:sym typeface="Calibri"/>
              </a:rPr>
              <a:t>Biotechnology</a:t>
            </a:r>
            <a:r>
              <a:rPr lang="en-GB" sz="1350" b="0" i="0" u="none" strike="noStrike" cap="none" dirty="0">
                <a:solidFill>
                  <a:schemeClr val="dk1"/>
                </a:solidFill>
                <a:latin typeface="Calibri"/>
                <a:ea typeface="Calibri"/>
                <a:cs typeface="Calibri"/>
                <a:sym typeface="Calibri"/>
              </a:rPr>
              <a:t> (MIB)</a:t>
            </a:r>
            <a:endParaRPr sz="1050" dirty="0">
              <a:solidFill>
                <a:schemeClr val="dk1"/>
              </a:solidFill>
            </a:endParaRPr>
          </a:p>
          <a:p>
            <a:pPr marL="0" marR="0" lvl="0" indent="0" algn="l" rtl="0">
              <a:spcBef>
                <a:spcPts val="0"/>
              </a:spcBef>
              <a:spcAft>
                <a:spcPts val="0"/>
              </a:spcAft>
              <a:buNone/>
            </a:pPr>
            <a:r>
              <a:rPr lang="en-GB" sz="1350" u="sng" dirty="0">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vicky.coker@manchester.ac.uk</a:t>
            </a:r>
            <a:r>
              <a:rPr lang="en-GB" sz="1350" dirty="0">
                <a:solidFill>
                  <a:schemeClr val="dk1"/>
                </a:solidFill>
                <a:latin typeface="Calibri"/>
                <a:ea typeface="Calibri"/>
                <a:cs typeface="Calibri"/>
                <a:sym typeface="Calibri"/>
              </a:rPr>
              <a:t>; G.15, Williamson Building</a:t>
            </a:r>
            <a:endParaRPr sz="1350"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385286" y="359652"/>
            <a:ext cx="5915025" cy="994172"/>
          </a:xfrm>
          <a:prstGeom prst="rect">
            <a:avLst/>
          </a:prstGeom>
          <a:noFill/>
          <a:ln>
            <a:noFill/>
          </a:ln>
        </p:spPr>
        <p:txBody>
          <a:bodyPr spcFirstLastPara="1" wrap="square" lIns="68569" tIns="34275" rIns="68569" bIns="34275"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GB" sz="3600">
                <a:solidFill>
                  <a:srgbClr val="C00000"/>
                </a:solidFill>
                <a:latin typeface="Helvetica"/>
                <a:cs typeface="Helvetica"/>
              </a:rPr>
              <a:t>Your team…..</a:t>
            </a:r>
            <a:endParaRPr sz="3600">
              <a:solidFill>
                <a:srgbClr val="C00000"/>
              </a:solidFill>
              <a:latin typeface="Helvetica"/>
              <a:cs typeface="Helvetica"/>
            </a:endParaRPr>
          </a:p>
        </p:txBody>
      </p:sp>
      <p:pic>
        <p:nvPicPr>
          <p:cNvPr id="93" name="Google Shape;93;p2"/>
          <p:cNvPicPr preferRelativeResize="0">
            <a:picLocks noGrp="1"/>
          </p:cNvPicPr>
          <p:nvPr>
            <p:ph type="body" idx="1"/>
          </p:nvPr>
        </p:nvPicPr>
        <p:blipFill rotWithShape="1">
          <a:blip r:embed="rId3">
            <a:alphaModFix/>
          </a:blip>
          <a:srcRect/>
          <a:stretch/>
        </p:blipFill>
        <p:spPr>
          <a:xfrm>
            <a:off x="1037148" y="4011526"/>
            <a:ext cx="1246457" cy="1507354"/>
          </a:xfrm>
          <a:prstGeom prst="rect">
            <a:avLst/>
          </a:prstGeom>
          <a:noFill/>
          <a:ln>
            <a:noFill/>
          </a:ln>
        </p:spPr>
      </p:pic>
      <p:sp>
        <p:nvSpPr>
          <p:cNvPr id="95" name="Google Shape;95;p2"/>
          <p:cNvSpPr txBox="1"/>
          <p:nvPr/>
        </p:nvSpPr>
        <p:spPr>
          <a:xfrm>
            <a:off x="2497773" y="1933844"/>
            <a:ext cx="4840504" cy="1615797"/>
          </a:xfrm>
          <a:prstGeom prst="rect">
            <a:avLst/>
          </a:prstGeom>
          <a:noFill/>
          <a:ln>
            <a:noFill/>
          </a:ln>
        </p:spPr>
        <p:txBody>
          <a:bodyPr spcFirstLastPara="1" wrap="square" lIns="68569" tIns="34275" rIns="68569" bIns="34275" anchor="t" anchorCtr="0">
            <a:spAutoFit/>
          </a:bodyPr>
          <a:lstStyle/>
          <a:p>
            <a:r>
              <a:rPr lang="en-GB" sz="1350" b="1">
                <a:solidFill>
                  <a:schemeClr val="dk1"/>
                </a:solidFill>
                <a:latin typeface="Helvetica"/>
                <a:ea typeface="Calibri"/>
                <a:cs typeface="Helvetica"/>
                <a:sym typeface="Calibri"/>
              </a:rPr>
              <a:t>Prof Sophie Nixon</a:t>
            </a:r>
            <a:endParaRPr lang="en-US" sz="1050" b="1">
              <a:solidFill>
                <a:schemeClr val="dk1"/>
              </a:solidFill>
              <a:latin typeface="Helvetica"/>
              <a:ea typeface="Calibri"/>
              <a:cs typeface="Helvetica"/>
            </a:endParaRPr>
          </a:p>
          <a:p>
            <a:r>
              <a:rPr lang="en-GB" sz="1350">
                <a:solidFill>
                  <a:schemeClr val="dk1"/>
                </a:solidFill>
                <a:latin typeface="Helvetica"/>
                <a:ea typeface="Calibri"/>
                <a:cs typeface="Helvetica"/>
                <a:sym typeface="Calibri"/>
              </a:rPr>
              <a:t>Chair in Environmental Microbiology and Biotechnology</a:t>
            </a:r>
            <a:endParaRPr sz="1050">
              <a:solidFill>
                <a:schemeClr val="dk1"/>
              </a:solidFill>
              <a:latin typeface="Helvetica"/>
              <a:cs typeface="Helvetica"/>
            </a:endParaRPr>
          </a:p>
          <a:p>
            <a:r>
              <a:rPr lang="en-GB" sz="1200">
                <a:solidFill>
                  <a:schemeClr val="dk1"/>
                </a:solidFill>
                <a:latin typeface="Helvetica"/>
                <a:ea typeface="Calibri"/>
                <a:cs typeface="Helvetica"/>
                <a:hlinkClick r:id="rId4">
                  <a:extLst>
                    <a:ext uri="{A12FA001-AC4F-418D-AE19-62706E023703}">
                      <ahyp:hlinkClr xmlns:ahyp="http://schemas.microsoft.com/office/drawing/2018/hyperlinkcolor" val="tx"/>
                    </a:ext>
                  </a:extLst>
                </a:hlinkClick>
              </a:rPr>
              <a:t>sophie.nixon@manchester.ac.uk</a:t>
            </a:r>
            <a:r>
              <a:rPr lang="en-GB" sz="1200">
                <a:solidFill>
                  <a:schemeClr val="dk1"/>
                </a:solidFill>
                <a:latin typeface="Helvetica"/>
                <a:ea typeface="Calibri"/>
                <a:cs typeface="Helvetica"/>
              </a:rPr>
              <a:t>; 2.027, John Garside Building (MIB)</a:t>
            </a:r>
            <a:endParaRPr sz="1200">
              <a:solidFill>
                <a:schemeClr val="dk1"/>
              </a:solidFill>
              <a:latin typeface="Helvetica"/>
              <a:ea typeface="Calibri"/>
              <a:cs typeface="Helvetica"/>
            </a:endParaRPr>
          </a:p>
          <a:p>
            <a:endParaRPr lang="en-GB" sz="750">
              <a:solidFill>
                <a:schemeClr val="dk1"/>
              </a:solidFill>
              <a:latin typeface="Helvetica"/>
              <a:ea typeface="Calibri"/>
              <a:cs typeface="Helvetica"/>
              <a:sym typeface="Calibri"/>
            </a:endParaRPr>
          </a:p>
          <a:p>
            <a:pPr marL="0" marR="0" lvl="0" indent="0" algn="l" rtl="0">
              <a:spcBef>
                <a:spcPts val="0"/>
              </a:spcBef>
              <a:spcAft>
                <a:spcPts val="0"/>
              </a:spcAft>
              <a:buNone/>
            </a:pPr>
            <a:r>
              <a:rPr lang="en-GB" sz="1350" b="1">
                <a:solidFill>
                  <a:schemeClr val="accent6">
                    <a:lumMod val="76000"/>
                  </a:schemeClr>
                </a:solidFill>
                <a:latin typeface="Helvetica"/>
                <a:ea typeface="Calibri"/>
                <a:cs typeface="Helvetica"/>
                <a:sym typeface="Calibri"/>
              </a:rPr>
              <a:t>Research interests in:</a:t>
            </a:r>
            <a:endParaRPr sz="1050" b="1">
              <a:solidFill>
                <a:schemeClr val="accent6">
                  <a:lumMod val="76000"/>
                </a:schemeClr>
              </a:solidFill>
              <a:latin typeface="Helvetica"/>
              <a:cs typeface="Helvetica"/>
            </a:endParaRPr>
          </a:p>
          <a:p>
            <a:r>
              <a:rPr lang="en-GB" sz="1350">
                <a:solidFill>
                  <a:schemeClr val="dk1"/>
                </a:solidFill>
                <a:latin typeface="Helvetica"/>
                <a:ea typeface="Calibri"/>
                <a:cs typeface="Helvetica"/>
                <a:sym typeface="Calibri"/>
              </a:rPr>
              <a:t>Microbiology of extreme environments</a:t>
            </a:r>
            <a:endParaRPr lang="en-GB" sz="1050">
              <a:solidFill>
                <a:schemeClr val="dk1"/>
              </a:solidFill>
              <a:latin typeface="Helvetica"/>
              <a:cs typeface="Helvetica"/>
            </a:endParaRPr>
          </a:p>
          <a:p>
            <a:r>
              <a:rPr lang="en-GB" sz="1350">
                <a:solidFill>
                  <a:schemeClr val="dk1"/>
                </a:solidFill>
                <a:latin typeface="Helvetica"/>
                <a:ea typeface="Calibri"/>
                <a:cs typeface="Helvetica"/>
              </a:rPr>
              <a:t>Microbial carbon cycling</a:t>
            </a:r>
          </a:p>
          <a:p>
            <a:r>
              <a:rPr lang="en-GB" sz="1350">
                <a:solidFill>
                  <a:schemeClr val="dk1"/>
                </a:solidFill>
                <a:latin typeface="Helvetica"/>
                <a:ea typeface="Calibri"/>
                <a:cs typeface="Helvetica"/>
              </a:rPr>
              <a:t>Nature-Based Solutions / Environmental Biotechnology</a:t>
            </a:r>
          </a:p>
        </p:txBody>
      </p:sp>
      <p:sp>
        <p:nvSpPr>
          <p:cNvPr id="96" name="Google Shape;96;p2"/>
          <p:cNvSpPr txBox="1"/>
          <p:nvPr/>
        </p:nvSpPr>
        <p:spPr>
          <a:xfrm>
            <a:off x="2497399" y="3949035"/>
            <a:ext cx="4844023" cy="1627338"/>
          </a:xfrm>
          <a:prstGeom prst="rect">
            <a:avLst/>
          </a:prstGeom>
          <a:noFill/>
          <a:ln>
            <a:noFill/>
          </a:ln>
        </p:spPr>
        <p:txBody>
          <a:bodyPr spcFirstLastPara="1" wrap="square" lIns="68569" tIns="34275" rIns="68569" bIns="34275" anchor="t" anchorCtr="0">
            <a:spAutoFit/>
          </a:bodyPr>
          <a:lstStyle/>
          <a:p>
            <a:r>
              <a:rPr lang="en-GB" sz="1350" b="1" dirty="0">
                <a:solidFill>
                  <a:schemeClr val="dk1"/>
                </a:solidFill>
                <a:latin typeface="Helvetica"/>
                <a:ea typeface="Calibri"/>
                <a:cs typeface="Helvetica"/>
                <a:sym typeface="Calibri"/>
              </a:rPr>
              <a:t>Dr Vicky Coker</a:t>
            </a:r>
            <a:endParaRPr lang="en-US" sz="1050" b="1" dirty="0">
              <a:solidFill>
                <a:schemeClr val="dk1"/>
              </a:solidFill>
              <a:latin typeface="Helvetica"/>
              <a:ea typeface="Calibri"/>
              <a:cs typeface="Helvetica"/>
              <a:sym typeface="Calibri"/>
            </a:endParaRPr>
          </a:p>
          <a:p>
            <a:pPr marL="0" marR="0" lvl="0" indent="0" algn="l">
              <a:spcBef>
                <a:spcPts val="0"/>
              </a:spcBef>
              <a:spcAft>
                <a:spcPts val="0"/>
              </a:spcAft>
              <a:buNone/>
            </a:pPr>
            <a:r>
              <a:rPr lang="en-GB" sz="1350" dirty="0">
                <a:solidFill>
                  <a:schemeClr val="dk1"/>
                </a:solidFill>
                <a:latin typeface="Helvetica"/>
                <a:ea typeface="Calibri"/>
                <a:cs typeface="Helvetica"/>
                <a:sym typeface="Calibri"/>
              </a:rPr>
              <a:t>Lecturer in Environmental Mineralogy</a:t>
            </a:r>
            <a:endParaRPr lang="en-GB" sz="1350" dirty="0">
              <a:solidFill>
                <a:schemeClr val="dk1"/>
              </a:solidFill>
              <a:latin typeface="Helvetica"/>
              <a:ea typeface="Calibri"/>
              <a:cs typeface="Helvetica"/>
            </a:endParaRPr>
          </a:p>
          <a:p>
            <a:r>
              <a:rPr lang="en-GB" sz="1200" dirty="0">
                <a:solidFill>
                  <a:schemeClr val="dk1"/>
                </a:solidFill>
                <a:latin typeface="Helvetica"/>
                <a:ea typeface="Calibri"/>
                <a:cs typeface="Helvetica"/>
                <a:hlinkClick r:id="rId5">
                  <a:extLst>
                    <a:ext uri="{A12FA001-AC4F-418D-AE19-62706E023703}">
                      <ahyp:hlinkClr xmlns:ahyp="http://schemas.microsoft.com/office/drawing/2018/hyperlinkcolor" val="tx"/>
                    </a:ext>
                  </a:extLst>
                </a:hlinkClick>
              </a:rPr>
              <a:t>vicky.coker@manchester.ac.uk</a:t>
            </a:r>
            <a:r>
              <a:rPr lang="en-GB" sz="1200" dirty="0">
                <a:solidFill>
                  <a:schemeClr val="dk1"/>
                </a:solidFill>
                <a:latin typeface="Helvetica"/>
                <a:ea typeface="Calibri"/>
                <a:cs typeface="Helvetica"/>
              </a:rPr>
              <a:t>; G.15, Williamson Building</a:t>
            </a:r>
            <a:endParaRPr lang="en-GB" sz="1200" dirty="0">
              <a:solidFill>
                <a:schemeClr val="dk1"/>
              </a:solidFill>
              <a:latin typeface="Helvetica"/>
              <a:cs typeface="Helvetica"/>
            </a:endParaRPr>
          </a:p>
          <a:p>
            <a:endParaRPr lang="en-GB" sz="675" dirty="0">
              <a:solidFill>
                <a:srgbClr val="FF0000"/>
              </a:solidFill>
              <a:latin typeface="Helvetica"/>
              <a:ea typeface="Calibri"/>
              <a:cs typeface="Helvetica"/>
              <a:sym typeface="Calibri"/>
            </a:endParaRPr>
          </a:p>
          <a:p>
            <a:pPr marL="0" marR="0" lvl="0" indent="0" algn="l">
              <a:spcBef>
                <a:spcPts val="0"/>
              </a:spcBef>
              <a:spcAft>
                <a:spcPts val="0"/>
              </a:spcAft>
              <a:buNone/>
            </a:pPr>
            <a:r>
              <a:rPr lang="en-GB" sz="1350" b="1" dirty="0">
                <a:solidFill>
                  <a:srgbClr val="0070C0"/>
                </a:solidFill>
                <a:latin typeface="Helvetica"/>
                <a:ea typeface="Calibri"/>
                <a:cs typeface="Helvetica"/>
                <a:sym typeface="Calibri"/>
              </a:rPr>
              <a:t>Research interests in:</a:t>
            </a:r>
            <a:endParaRPr sz="1050" b="1" dirty="0">
              <a:solidFill>
                <a:srgbClr val="0070C0"/>
              </a:solidFill>
              <a:latin typeface="Helvetica"/>
              <a:cs typeface="Helvetica"/>
            </a:endParaRPr>
          </a:p>
          <a:p>
            <a:pPr marL="0" marR="0" lvl="0" indent="0" algn="l" rtl="0">
              <a:spcBef>
                <a:spcPts val="0"/>
              </a:spcBef>
              <a:spcAft>
                <a:spcPts val="0"/>
              </a:spcAft>
              <a:buNone/>
            </a:pPr>
            <a:r>
              <a:rPr lang="en-GB" sz="1350" dirty="0">
                <a:solidFill>
                  <a:schemeClr val="dk1"/>
                </a:solidFill>
                <a:latin typeface="Helvetica"/>
                <a:ea typeface="Calibri"/>
                <a:cs typeface="Helvetica"/>
                <a:sym typeface="Calibri"/>
              </a:rPr>
              <a:t>Microbe-metal interactions</a:t>
            </a:r>
            <a:endParaRPr sz="1050" dirty="0">
              <a:solidFill>
                <a:schemeClr val="dk1"/>
              </a:solidFill>
              <a:latin typeface="Helvetica"/>
              <a:cs typeface="Helvetica"/>
            </a:endParaRPr>
          </a:p>
          <a:p>
            <a:pPr marL="0" marR="0" lvl="0" indent="0" algn="l" rtl="0">
              <a:spcBef>
                <a:spcPts val="0"/>
              </a:spcBef>
              <a:spcAft>
                <a:spcPts val="0"/>
              </a:spcAft>
              <a:buNone/>
            </a:pPr>
            <a:r>
              <a:rPr lang="en-GB" sz="1350" dirty="0">
                <a:solidFill>
                  <a:schemeClr val="dk1"/>
                </a:solidFill>
                <a:latin typeface="Helvetica"/>
                <a:ea typeface="Calibri"/>
                <a:cs typeface="Helvetica"/>
                <a:sym typeface="Calibri"/>
              </a:rPr>
              <a:t>Soil contaminant/pollutant mobility</a:t>
            </a:r>
            <a:endParaRPr sz="1050" dirty="0">
              <a:solidFill>
                <a:schemeClr val="dk1"/>
              </a:solidFill>
              <a:latin typeface="Helvetica"/>
              <a:cs typeface="Helvetica"/>
            </a:endParaRPr>
          </a:p>
          <a:p>
            <a:pPr marL="0" marR="0" lvl="0" indent="0" algn="l" rtl="0">
              <a:spcBef>
                <a:spcPts val="0"/>
              </a:spcBef>
              <a:spcAft>
                <a:spcPts val="0"/>
              </a:spcAft>
              <a:buNone/>
            </a:pPr>
            <a:r>
              <a:rPr lang="en-GB" sz="1350" dirty="0">
                <a:solidFill>
                  <a:schemeClr val="dk1"/>
                </a:solidFill>
                <a:latin typeface="Helvetica"/>
                <a:ea typeface="Calibri"/>
                <a:cs typeface="Helvetica"/>
                <a:sym typeface="Calibri"/>
              </a:rPr>
              <a:t>Critical metal extraction using bioprocesses</a:t>
            </a:r>
            <a:endParaRPr sz="1050" dirty="0">
              <a:solidFill>
                <a:schemeClr val="dk1"/>
              </a:solidFill>
              <a:latin typeface="Helvetica"/>
              <a:cs typeface="Helvetica"/>
            </a:endParaRPr>
          </a:p>
        </p:txBody>
      </p:sp>
      <p:pic>
        <p:nvPicPr>
          <p:cNvPr id="2" name="Picture 1" descr="A person smiling at camera&#10;&#10;AI-generated content may be incorrect.">
            <a:extLst>
              <a:ext uri="{FF2B5EF4-FFF2-40B4-BE49-F238E27FC236}">
                <a16:creationId xmlns:a16="http://schemas.microsoft.com/office/drawing/2014/main" id="{75AD6B35-FFE2-9C45-7FBD-D9F0576A538E}"/>
              </a:ext>
            </a:extLst>
          </p:cNvPr>
          <p:cNvPicPr>
            <a:picLocks noChangeAspect="1"/>
          </p:cNvPicPr>
          <p:nvPr/>
        </p:nvPicPr>
        <p:blipFill>
          <a:blip r:embed="rId6"/>
          <a:srcRect l="4631" t="7996" r="5779" b="11708"/>
          <a:stretch/>
        </p:blipFill>
        <p:spPr>
          <a:xfrm>
            <a:off x="1044555" y="1932564"/>
            <a:ext cx="1242618" cy="16193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gb9d83f0a95_0_7"/>
          <p:cNvSpPr txBox="1">
            <a:spLocks noGrp="1"/>
          </p:cNvSpPr>
          <p:nvPr>
            <p:ph type="title"/>
          </p:nvPr>
        </p:nvSpPr>
        <p:spPr>
          <a:xfrm>
            <a:off x="120968" y="297975"/>
            <a:ext cx="8902065" cy="613275"/>
          </a:xfrm>
          <a:prstGeom prst="rect">
            <a:avLst/>
          </a:prstGeom>
        </p:spPr>
        <p:txBody>
          <a:bodyPr spcFirstLastPara="1" wrap="square" lIns="68569" tIns="34275" rIns="68569" bIns="34275" anchor="ctr" anchorCtr="0">
            <a:noAutofit/>
          </a:bodyPr>
          <a:lstStyle/>
          <a:p>
            <a:pPr marL="0" lvl="0" indent="0" algn="ctr" rtl="0">
              <a:spcBef>
                <a:spcPts val="0"/>
              </a:spcBef>
              <a:spcAft>
                <a:spcPts val="0"/>
              </a:spcAft>
              <a:buNone/>
            </a:pPr>
            <a:r>
              <a:rPr lang="en-GB" sz="2400" b="1">
                <a:solidFill>
                  <a:srgbClr val="C00000"/>
                </a:solidFill>
                <a:latin typeface="Helvetica"/>
                <a:cs typeface="Helvetica"/>
              </a:rPr>
              <a:t>Which large-scale environmental issues concern you most?</a:t>
            </a:r>
            <a:endParaRPr lang="en-US" sz="2400" b="1">
              <a:solidFill>
                <a:srgbClr val="C00000"/>
              </a:solidFill>
              <a:latin typeface="Helvetica"/>
              <a:cs typeface="Helvetica"/>
            </a:endParaRPr>
          </a:p>
        </p:txBody>
      </p:sp>
      <p:grpSp>
        <p:nvGrpSpPr>
          <p:cNvPr id="2" name="Group 1">
            <a:extLst>
              <a:ext uri="{FF2B5EF4-FFF2-40B4-BE49-F238E27FC236}">
                <a16:creationId xmlns:a16="http://schemas.microsoft.com/office/drawing/2014/main" id="{639C5C21-AB0F-8031-0E39-52AFE2A85D1A}"/>
              </a:ext>
            </a:extLst>
          </p:cNvPr>
          <p:cNvGrpSpPr/>
          <p:nvPr/>
        </p:nvGrpSpPr>
        <p:grpSpPr>
          <a:xfrm>
            <a:off x="539963" y="1267778"/>
            <a:ext cx="8237026" cy="4811714"/>
            <a:chOff x="1989950" y="1360170"/>
            <a:chExt cx="7927929" cy="4959352"/>
          </a:xfrm>
        </p:grpSpPr>
        <p:pic>
          <p:nvPicPr>
            <p:cNvPr id="102" name="Google Shape;102;gb9d83f0a95_0_7"/>
            <p:cNvPicPr preferRelativeResize="0"/>
            <p:nvPr/>
          </p:nvPicPr>
          <p:blipFill rotWithShape="1">
            <a:blip r:embed="rId3">
              <a:alphaModFix/>
            </a:blip>
            <a:srcRect l="50585" t="25278"/>
            <a:stretch/>
          </p:blipFill>
          <p:spPr>
            <a:xfrm>
              <a:off x="1989951" y="1390296"/>
              <a:ext cx="3377899" cy="2909855"/>
            </a:xfrm>
            <a:prstGeom prst="rect">
              <a:avLst/>
            </a:prstGeom>
            <a:noFill/>
            <a:ln>
              <a:noFill/>
            </a:ln>
          </p:spPr>
        </p:pic>
        <p:pic>
          <p:nvPicPr>
            <p:cNvPr id="103" name="Google Shape;103;gb9d83f0a95_0_7"/>
            <p:cNvPicPr preferRelativeResize="0"/>
            <p:nvPr/>
          </p:nvPicPr>
          <p:blipFill>
            <a:blip r:embed="rId4">
              <a:alphaModFix/>
            </a:blip>
            <a:stretch>
              <a:fillRect/>
            </a:stretch>
          </p:blipFill>
          <p:spPr>
            <a:xfrm>
              <a:off x="5520252" y="1390296"/>
              <a:ext cx="2581275" cy="1771650"/>
            </a:xfrm>
            <a:prstGeom prst="rect">
              <a:avLst/>
            </a:prstGeom>
            <a:noFill/>
            <a:ln>
              <a:noFill/>
            </a:ln>
          </p:spPr>
        </p:pic>
        <p:pic>
          <p:nvPicPr>
            <p:cNvPr id="104" name="Google Shape;104;gb9d83f0a95_0_7"/>
            <p:cNvPicPr preferRelativeResize="0"/>
            <p:nvPr/>
          </p:nvPicPr>
          <p:blipFill>
            <a:blip r:embed="rId5">
              <a:alphaModFix/>
            </a:blip>
            <a:stretch>
              <a:fillRect/>
            </a:stretch>
          </p:blipFill>
          <p:spPr>
            <a:xfrm>
              <a:off x="1989950" y="4404320"/>
              <a:ext cx="3377900" cy="1896776"/>
            </a:xfrm>
            <a:prstGeom prst="rect">
              <a:avLst/>
            </a:prstGeom>
            <a:noFill/>
            <a:ln>
              <a:noFill/>
            </a:ln>
          </p:spPr>
        </p:pic>
        <p:pic>
          <p:nvPicPr>
            <p:cNvPr id="105" name="Google Shape;105;gb9d83f0a95_0_7"/>
            <p:cNvPicPr preferRelativeResize="0"/>
            <p:nvPr/>
          </p:nvPicPr>
          <p:blipFill>
            <a:blip r:embed="rId6">
              <a:alphaModFix/>
            </a:blip>
            <a:stretch>
              <a:fillRect/>
            </a:stretch>
          </p:blipFill>
          <p:spPr>
            <a:xfrm>
              <a:off x="5520250" y="3381196"/>
              <a:ext cx="4379689" cy="2938326"/>
            </a:xfrm>
            <a:prstGeom prst="rect">
              <a:avLst/>
            </a:prstGeom>
            <a:noFill/>
            <a:ln>
              <a:noFill/>
            </a:ln>
          </p:spPr>
        </p:pic>
        <p:pic>
          <p:nvPicPr>
            <p:cNvPr id="106" name="Google Shape;106;gb9d83f0a95_0_7"/>
            <p:cNvPicPr preferRelativeResize="0"/>
            <p:nvPr/>
          </p:nvPicPr>
          <p:blipFill rotWithShape="1">
            <a:blip r:embed="rId7">
              <a:alphaModFix/>
            </a:blip>
            <a:srcRect l="16017" t="17896" r="13001"/>
            <a:stretch/>
          </p:blipFill>
          <p:spPr>
            <a:xfrm>
              <a:off x="8253926" y="1360170"/>
              <a:ext cx="1663953" cy="179551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gb9e8206b27_0_0"/>
          <p:cNvSpPr txBox="1">
            <a:spLocks noGrp="1"/>
          </p:cNvSpPr>
          <p:nvPr>
            <p:ph type="ctrTitle"/>
          </p:nvPr>
        </p:nvSpPr>
        <p:spPr>
          <a:xfrm>
            <a:off x="268959" y="157150"/>
            <a:ext cx="8599879" cy="623567"/>
          </a:xfrm>
          <a:prstGeom prst="rect">
            <a:avLst/>
          </a:prstGeom>
        </p:spPr>
        <p:txBody>
          <a:bodyPr spcFirstLastPara="1" wrap="square" lIns="68569" tIns="34275" rIns="68569" bIns="34275" anchor="b" anchorCtr="0">
            <a:noAutofit/>
          </a:bodyPr>
          <a:lstStyle/>
          <a:p>
            <a:pPr marL="0" lvl="0" indent="0" algn="ctr" rtl="0">
              <a:spcBef>
                <a:spcPts val="0"/>
              </a:spcBef>
              <a:spcAft>
                <a:spcPts val="0"/>
              </a:spcAft>
              <a:buNone/>
            </a:pPr>
            <a:r>
              <a:rPr lang="en-GB" sz="2400" b="1">
                <a:solidFill>
                  <a:srgbClr val="C00000"/>
                </a:solidFill>
                <a:latin typeface="Helvetica"/>
                <a:cs typeface="Helvetica"/>
              </a:rPr>
              <a:t>Population growth underpins many environmental issues</a:t>
            </a:r>
            <a:endParaRPr sz="2400" b="1">
              <a:solidFill>
                <a:srgbClr val="C00000"/>
              </a:solidFill>
              <a:latin typeface="Helvetica"/>
              <a:cs typeface="Helvetica"/>
            </a:endParaRPr>
          </a:p>
        </p:txBody>
      </p:sp>
      <p:pic>
        <p:nvPicPr>
          <p:cNvPr id="2" name="Picture 1" descr="A graph of a number of people&#10;&#10;AI-generated content may be incorrect.">
            <a:extLst>
              <a:ext uri="{FF2B5EF4-FFF2-40B4-BE49-F238E27FC236}">
                <a16:creationId xmlns:a16="http://schemas.microsoft.com/office/drawing/2014/main" id="{442896ED-D46E-5DC0-8642-6DD5E4B72F99}"/>
              </a:ext>
            </a:extLst>
          </p:cNvPr>
          <p:cNvPicPr>
            <a:picLocks noChangeAspect="1"/>
          </p:cNvPicPr>
          <p:nvPr/>
        </p:nvPicPr>
        <p:blipFill>
          <a:blip r:embed="rId3"/>
          <a:stretch>
            <a:fillRect/>
          </a:stretch>
        </p:blipFill>
        <p:spPr>
          <a:xfrm>
            <a:off x="1171232" y="1331085"/>
            <a:ext cx="7159924" cy="5053218"/>
          </a:xfrm>
          <a:prstGeom prst="rect">
            <a:avLst/>
          </a:prstGeom>
        </p:spPr>
      </p:pic>
      <p:sp>
        <p:nvSpPr>
          <p:cNvPr id="3" name="TextBox 2">
            <a:extLst>
              <a:ext uri="{FF2B5EF4-FFF2-40B4-BE49-F238E27FC236}">
                <a16:creationId xmlns:a16="http://schemas.microsoft.com/office/drawing/2014/main" id="{F0620B11-4B92-F04B-226F-01C8FB11FC9D}"/>
              </a:ext>
            </a:extLst>
          </p:cNvPr>
          <p:cNvSpPr txBox="1"/>
          <p:nvPr/>
        </p:nvSpPr>
        <p:spPr>
          <a:xfrm>
            <a:off x="2702368" y="2948221"/>
            <a:ext cx="3073878"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As of January 27, 2025, the global population is </a:t>
            </a:r>
            <a:r>
              <a:rPr lang="en-GB" b="1"/>
              <a:t>approximately 8.2 billion people</a:t>
            </a:r>
            <a:endParaRPr lang="en-US" b="1"/>
          </a:p>
        </p:txBody>
      </p:sp>
    </p:spTree>
    <p:extLst>
      <p:ext uri="{BB962C8B-B14F-4D97-AF65-F5344CB8AC3E}">
        <p14:creationId xmlns:p14="http://schemas.microsoft.com/office/powerpoint/2010/main" val="3719398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8115-BAE2-715D-BFE9-84C508E705EB}"/>
              </a:ext>
            </a:extLst>
          </p:cNvPr>
          <p:cNvSpPr>
            <a:spLocks noGrp="1"/>
          </p:cNvSpPr>
          <p:nvPr>
            <p:ph type="title"/>
          </p:nvPr>
        </p:nvSpPr>
        <p:spPr>
          <a:xfrm>
            <a:off x="211706" y="5695"/>
            <a:ext cx="8734964" cy="822356"/>
          </a:xfrm>
        </p:spPr>
        <p:txBody>
          <a:bodyPr>
            <a:normAutofit/>
          </a:bodyPr>
          <a:lstStyle/>
          <a:p>
            <a:r>
              <a:rPr lang="en-GB" sz="2400" b="1">
                <a:solidFill>
                  <a:srgbClr val="C00000"/>
                </a:solidFill>
                <a:latin typeface="Helvetica"/>
                <a:cs typeface="Helvetica"/>
              </a:rPr>
              <a:t>We need global coordination to address multiple problems</a:t>
            </a:r>
          </a:p>
        </p:txBody>
      </p:sp>
      <p:sp>
        <p:nvSpPr>
          <p:cNvPr id="3" name="Text Placeholder 2">
            <a:extLst>
              <a:ext uri="{FF2B5EF4-FFF2-40B4-BE49-F238E27FC236}">
                <a16:creationId xmlns:a16="http://schemas.microsoft.com/office/drawing/2014/main" id="{F5DB71E1-09A7-9092-E928-B609BDAD290F}"/>
              </a:ext>
            </a:extLst>
          </p:cNvPr>
          <p:cNvSpPr>
            <a:spLocks noGrp="1"/>
          </p:cNvSpPr>
          <p:nvPr>
            <p:ph type="body" idx="1"/>
          </p:nvPr>
        </p:nvSpPr>
        <p:spPr>
          <a:xfrm>
            <a:off x="1879480" y="2300078"/>
            <a:ext cx="5399417" cy="4351338"/>
          </a:xfrm>
        </p:spPr>
        <p:txBody>
          <a:bodyPr/>
          <a:lstStyle/>
          <a:p>
            <a:pPr marL="85725" indent="0">
              <a:buNone/>
            </a:pPr>
            <a:endParaRPr lang="en-GB"/>
          </a:p>
          <a:p>
            <a:pPr marL="85725" indent="0">
              <a:buNone/>
            </a:pPr>
            <a:endParaRPr lang="en-GB"/>
          </a:p>
          <a:p>
            <a:pPr marL="85725" indent="0">
              <a:buNone/>
            </a:pPr>
            <a:endParaRPr lang="en-GB"/>
          </a:p>
          <a:p>
            <a:pPr marL="85725" indent="0">
              <a:buNone/>
            </a:pPr>
            <a:endParaRPr lang="en-GB"/>
          </a:p>
          <a:p>
            <a:pPr marL="85725" indent="0">
              <a:buNone/>
            </a:pPr>
            <a:r>
              <a:rPr lang="en-GB">
                <a:hlinkClick r:id="rId2"/>
              </a:rPr>
              <a:t>https://www.un.org/en/about-us</a:t>
            </a:r>
          </a:p>
          <a:p>
            <a:endParaRPr lang="en-GB"/>
          </a:p>
        </p:txBody>
      </p:sp>
      <p:pic>
        <p:nvPicPr>
          <p:cNvPr id="4" name="Picture 3" descr="A close-up of a logo&#10;&#10;Description automatically generated">
            <a:extLst>
              <a:ext uri="{FF2B5EF4-FFF2-40B4-BE49-F238E27FC236}">
                <a16:creationId xmlns:a16="http://schemas.microsoft.com/office/drawing/2014/main" id="{0BBAC4DE-7FE2-1DE9-E547-82AEC5D0A0D6}"/>
              </a:ext>
            </a:extLst>
          </p:cNvPr>
          <p:cNvPicPr>
            <a:picLocks noChangeAspect="1"/>
          </p:cNvPicPr>
          <p:nvPr/>
        </p:nvPicPr>
        <p:blipFill>
          <a:blip r:embed="rId3"/>
          <a:stretch>
            <a:fillRect/>
          </a:stretch>
        </p:blipFill>
        <p:spPr>
          <a:xfrm>
            <a:off x="474472" y="1710273"/>
            <a:ext cx="8179028" cy="1709742"/>
          </a:xfrm>
          <a:prstGeom prst="rect">
            <a:avLst/>
          </a:prstGeom>
        </p:spPr>
      </p:pic>
    </p:spTree>
    <p:extLst>
      <p:ext uri="{BB962C8B-B14F-4D97-AF65-F5344CB8AC3E}">
        <p14:creationId xmlns:p14="http://schemas.microsoft.com/office/powerpoint/2010/main" val="34139580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F6C661-5D17-6A47-B299-C3AC0E2C65D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63751" y="336185"/>
            <a:ext cx="1834134" cy="1135205"/>
          </a:xfrm>
          <a:prstGeom prst="rect">
            <a:avLst/>
          </a:prstGeom>
        </p:spPr>
      </p:pic>
      <p:sp>
        <p:nvSpPr>
          <p:cNvPr id="5" name="TextBox 4">
            <a:extLst>
              <a:ext uri="{FF2B5EF4-FFF2-40B4-BE49-F238E27FC236}">
                <a16:creationId xmlns:a16="http://schemas.microsoft.com/office/drawing/2014/main" id="{A5694733-1992-A843-88E4-39994101BF2F}"/>
              </a:ext>
            </a:extLst>
          </p:cNvPr>
          <p:cNvSpPr txBox="1"/>
          <p:nvPr/>
        </p:nvSpPr>
        <p:spPr>
          <a:xfrm>
            <a:off x="6844198" y="1469495"/>
            <a:ext cx="2015889" cy="253916"/>
          </a:xfrm>
          <a:prstGeom prst="rect">
            <a:avLst/>
          </a:prstGeom>
          <a:noFill/>
        </p:spPr>
        <p:txBody>
          <a:bodyPr wrap="square" rtlCol="0">
            <a:spAutoFit/>
          </a:bodyPr>
          <a:lstStyle/>
          <a:p>
            <a:r>
              <a:rPr lang="en-GB" sz="1050"/>
              <a:t>UN Chief António Guterres</a:t>
            </a:r>
          </a:p>
        </p:txBody>
      </p:sp>
      <p:pic>
        <p:nvPicPr>
          <p:cNvPr id="10" name="Picture 9">
            <a:extLst>
              <a:ext uri="{FF2B5EF4-FFF2-40B4-BE49-F238E27FC236}">
                <a16:creationId xmlns:a16="http://schemas.microsoft.com/office/drawing/2014/main" id="{1087493F-9505-E74B-929E-8B0FC14E46B1}"/>
              </a:ext>
            </a:extLst>
          </p:cNvPr>
          <p:cNvPicPr>
            <a:picLocks noChangeAspect="1"/>
          </p:cNvPicPr>
          <p:nvPr/>
        </p:nvPicPr>
        <p:blipFill>
          <a:blip r:embed="rId3"/>
          <a:stretch>
            <a:fillRect/>
          </a:stretch>
        </p:blipFill>
        <p:spPr>
          <a:xfrm>
            <a:off x="1143000" y="309935"/>
            <a:ext cx="1562100" cy="1056715"/>
          </a:xfrm>
          <a:prstGeom prst="rect">
            <a:avLst/>
          </a:prstGeom>
        </p:spPr>
      </p:pic>
      <p:sp>
        <p:nvSpPr>
          <p:cNvPr id="11" name="TextBox 10">
            <a:extLst>
              <a:ext uri="{FF2B5EF4-FFF2-40B4-BE49-F238E27FC236}">
                <a16:creationId xmlns:a16="http://schemas.microsoft.com/office/drawing/2014/main" id="{AC39CA87-17D4-5B48-8478-5DB97BBD4DF2}"/>
              </a:ext>
            </a:extLst>
          </p:cNvPr>
          <p:cNvSpPr txBox="1"/>
          <p:nvPr/>
        </p:nvSpPr>
        <p:spPr>
          <a:xfrm>
            <a:off x="2884274" y="504143"/>
            <a:ext cx="2176271" cy="784830"/>
          </a:xfrm>
          <a:prstGeom prst="rect">
            <a:avLst/>
          </a:prstGeom>
          <a:noFill/>
        </p:spPr>
        <p:txBody>
          <a:bodyPr wrap="square" lIns="91440" tIns="45720" rIns="91440" bIns="45720" rtlCol="0" anchor="t">
            <a:spAutoFit/>
          </a:bodyPr>
          <a:lstStyle/>
          <a:p>
            <a:r>
              <a:rPr lang="en-GB" sz="1500"/>
              <a:t>Founded in </a:t>
            </a:r>
            <a:r>
              <a:rPr lang="en-GB" sz="1500" b="1"/>
              <a:t>1945</a:t>
            </a:r>
            <a:r>
              <a:rPr lang="en-GB" sz="1500"/>
              <a:t> and now has 196 member states </a:t>
            </a:r>
          </a:p>
        </p:txBody>
      </p:sp>
      <p:grpSp>
        <p:nvGrpSpPr>
          <p:cNvPr id="2" name="Group 1">
            <a:extLst>
              <a:ext uri="{FF2B5EF4-FFF2-40B4-BE49-F238E27FC236}">
                <a16:creationId xmlns:a16="http://schemas.microsoft.com/office/drawing/2014/main" id="{4577D8B5-8CE6-A032-1DDA-E77F4F7E3A47}"/>
              </a:ext>
            </a:extLst>
          </p:cNvPr>
          <p:cNvGrpSpPr/>
          <p:nvPr/>
        </p:nvGrpSpPr>
        <p:grpSpPr>
          <a:xfrm>
            <a:off x="1373038" y="1728291"/>
            <a:ext cx="7322323" cy="4891406"/>
            <a:chOff x="1143000" y="2173989"/>
            <a:chExt cx="5596243" cy="3712463"/>
          </a:xfrm>
        </p:grpSpPr>
        <p:pic>
          <p:nvPicPr>
            <p:cNvPr id="6" name="Picture 5">
              <a:extLst>
                <a:ext uri="{FF2B5EF4-FFF2-40B4-BE49-F238E27FC236}">
                  <a16:creationId xmlns:a16="http://schemas.microsoft.com/office/drawing/2014/main" id="{4A7C4B68-2F0B-AD40-814E-D95C360B27B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43000" y="2173989"/>
              <a:ext cx="4721811" cy="3712463"/>
            </a:xfrm>
            <a:prstGeom prst="rect">
              <a:avLst/>
            </a:prstGeom>
          </p:spPr>
        </p:pic>
        <p:sp>
          <p:nvSpPr>
            <p:cNvPr id="12" name="Left Arrow 11">
              <a:extLst>
                <a:ext uri="{FF2B5EF4-FFF2-40B4-BE49-F238E27FC236}">
                  <a16:creationId xmlns:a16="http://schemas.microsoft.com/office/drawing/2014/main" id="{53D74512-5A14-4945-8ABF-DD58EB27285C}"/>
                </a:ext>
              </a:extLst>
            </p:cNvPr>
            <p:cNvSpPr/>
            <p:nvPr/>
          </p:nvSpPr>
          <p:spPr>
            <a:xfrm>
              <a:off x="5696557" y="4139946"/>
              <a:ext cx="1041723" cy="214152"/>
            </a:xfrm>
            <a:prstGeom prst="leftArrow">
              <a:avLst/>
            </a:prstGeom>
            <a:solidFill>
              <a:srgbClr val="40804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13" name="Left Arrow 12">
              <a:extLst>
                <a:ext uri="{FF2B5EF4-FFF2-40B4-BE49-F238E27FC236}">
                  <a16:creationId xmlns:a16="http://schemas.microsoft.com/office/drawing/2014/main" id="{0B8CB471-CF25-5048-9202-6F65760AC4A3}"/>
                </a:ext>
              </a:extLst>
            </p:cNvPr>
            <p:cNvSpPr/>
            <p:nvPr/>
          </p:nvSpPr>
          <p:spPr>
            <a:xfrm>
              <a:off x="5697520" y="3551926"/>
              <a:ext cx="1041723" cy="214152"/>
            </a:xfrm>
            <a:prstGeom prst="leftArrow">
              <a:avLst/>
            </a:prstGeom>
            <a:solidFill>
              <a:srgbClr val="40804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grpSp>
    </p:spTree>
    <p:extLst>
      <p:ext uri="{BB962C8B-B14F-4D97-AF65-F5344CB8AC3E}">
        <p14:creationId xmlns:p14="http://schemas.microsoft.com/office/powerpoint/2010/main" val="2358973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F0E49-E6DC-7345-B3F2-3C80C69AE97B}"/>
              </a:ext>
            </a:extLst>
          </p:cNvPr>
          <p:cNvSpPr>
            <a:spLocks noGrp="1"/>
          </p:cNvSpPr>
          <p:nvPr>
            <p:ph type="title"/>
          </p:nvPr>
        </p:nvSpPr>
        <p:spPr>
          <a:xfrm>
            <a:off x="109006" y="-8567"/>
            <a:ext cx="7180232" cy="764134"/>
          </a:xfrm>
        </p:spPr>
        <p:txBody>
          <a:bodyPr>
            <a:normAutofit/>
          </a:bodyPr>
          <a:lstStyle/>
          <a:p>
            <a:r>
              <a:rPr lang="en-GB" sz="3200" b="1">
                <a:solidFill>
                  <a:srgbClr val="C00000"/>
                </a:solidFill>
                <a:latin typeface="Helvetica"/>
                <a:cs typeface="Helvetica"/>
              </a:rPr>
              <a:t>Analysing data on climate change</a:t>
            </a:r>
          </a:p>
        </p:txBody>
      </p:sp>
      <p:pic>
        <p:nvPicPr>
          <p:cNvPr id="4" name="Picture 3">
            <a:extLst>
              <a:ext uri="{FF2B5EF4-FFF2-40B4-BE49-F238E27FC236}">
                <a16:creationId xmlns:a16="http://schemas.microsoft.com/office/drawing/2014/main" id="{0615D573-58ED-464A-8C2B-AD102C3ADB8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73679" y="1616396"/>
            <a:ext cx="6858000" cy="1965716"/>
          </a:xfrm>
          <a:prstGeom prst="rect">
            <a:avLst/>
          </a:prstGeom>
        </p:spPr>
      </p:pic>
      <p:sp>
        <p:nvSpPr>
          <p:cNvPr id="3" name="TextBox 2">
            <a:extLst>
              <a:ext uri="{FF2B5EF4-FFF2-40B4-BE49-F238E27FC236}">
                <a16:creationId xmlns:a16="http://schemas.microsoft.com/office/drawing/2014/main" id="{DD6B087C-AACA-604B-A86D-527966920604}"/>
              </a:ext>
            </a:extLst>
          </p:cNvPr>
          <p:cNvSpPr txBox="1"/>
          <p:nvPr/>
        </p:nvSpPr>
        <p:spPr>
          <a:xfrm>
            <a:off x="1357910" y="4325876"/>
            <a:ext cx="6720201" cy="646331"/>
          </a:xfrm>
          <a:prstGeom prst="rect">
            <a:avLst/>
          </a:prstGeom>
          <a:noFill/>
        </p:spPr>
        <p:txBody>
          <a:bodyPr wrap="square" lIns="91440" tIns="45720" rIns="91440" bIns="45720" rtlCol="0" anchor="t">
            <a:spAutoFit/>
          </a:bodyPr>
          <a:lstStyle/>
          <a:p>
            <a:pPr algn="ctr"/>
            <a:r>
              <a:rPr lang="en-GB" sz="1800"/>
              <a:t>In the last five years, there were </a:t>
            </a:r>
            <a:r>
              <a:rPr lang="en-GB" sz="1800" b="1"/>
              <a:t>~18000</a:t>
            </a:r>
            <a:r>
              <a:rPr lang="en-GB" sz="1800"/>
              <a:t> peer reviewed research articles with titles that included the phrase </a:t>
            </a:r>
            <a:r>
              <a:rPr lang="en-GB" sz="1800" b="1"/>
              <a:t>“climate change”</a:t>
            </a:r>
            <a:r>
              <a:rPr lang="en-GB" sz="1800"/>
              <a:t>!</a:t>
            </a:r>
          </a:p>
        </p:txBody>
      </p:sp>
    </p:spTree>
    <p:extLst>
      <p:ext uri="{BB962C8B-B14F-4D97-AF65-F5344CB8AC3E}">
        <p14:creationId xmlns:p14="http://schemas.microsoft.com/office/powerpoint/2010/main" val="1048390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AC8D0B-0B7C-194C-A34E-20C733383EEB}"/>
              </a:ext>
            </a:extLst>
          </p:cNvPr>
          <p:cNvPicPr>
            <a:picLocks noChangeAspect="1"/>
          </p:cNvPicPr>
          <p:nvPr/>
        </p:nvPicPr>
        <p:blipFill>
          <a:blip r:embed="rId2"/>
          <a:stretch>
            <a:fillRect/>
          </a:stretch>
        </p:blipFill>
        <p:spPr>
          <a:xfrm>
            <a:off x="863170" y="408611"/>
            <a:ext cx="7793456" cy="6177792"/>
          </a:xfrm>
          <a:prstGeom prst="rect">
            <a:avLst/>
          </a:prstGeom>
        </p:spPr>
      </p:pic>
    </p:spTree>
    <p:extLst>
      <p:ext uri="{BB962C8B-B14F-4D97-AF65-F5344CB8AC3E}">
        <p14:creationId xmlns:p14="http://schemas.microsoft.com/office/powerpoint/2010/main" val="3850960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0C5F63B-5984-2C48-8255-EC25779F901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703069" y="2790775"/>
            <a:ext cx="5724449" cy="3494640"/>
          </a:xfrm>
          <a:prstGeom prst="rect">
            <a:avLst/>
          </a:prstGeom>
        </p:spPr>
      </p:pic>
      <p:sp>
        <p:nvSpPr>
          <p:cNvPr id="8" name="Rectangle 7">
            <a:extLst>
              <a:ext uri="{FF2B5EF4-FFF2-40B4-BE49-F238E27FC236}">
                <a16:creationId xmlns:a16="http://schemas.microsoft.com/office/drawing/2014/main" id="{CC801DC7-C408-7542-A1DE-A920CE730B4E}"/>
              </a:ext>
            </a:extLst>
          </p:cNvPr>
          <p:cNvSpPr/>
          <p:nvPr/>
        </p:nvSpPr>
        <p:spPr>
          <a:xfrm>
            <a:off x="406994" y="963067"/>
            <a:ext cx="8324720" cy="1754326"/>
          </a:xfrm>
          <a:prstGeom prst="rect">
            <a:avLst/>
          </a:prstGeom>
        </p:spPr>
        <p:txBody>
          <a:bodyPr wrap="square">
            <a:spAutoFit/>
          </a:bodyPr>
          <a:lstStyle/>
          <a:p>
            <a:pPr marL="214313" indent="-214313">
              <a:buFont typeface="Arial" panose="020B0604020202020204" pitchFamily="34" charset="0"/>
              <a:buChar char="•"/>
            </a:pPr>
            <a:r>
              <a:rPr lang="en-GB" sz="1800"/>
              <a:t>The </a:t>
            </a:r>
            <a:r>
              <a:rPr lang="en-GB" sz="1800" b="1"/>
              <a:t>Sustainable Development Goals </a:t>
            </a:r>
            <a:r>
              <a:rPr lang="en-GB" sz="1800"/>
              <a:t>are the blueprint to achieve a better and more sustainable future for all.</a:t>
            </a:r>
            <a:br>
              <a:rPr lang="en-GB" sz="1800"/>
            </a:br>
            <a:endParaRPr lang="en-GB" sz="1800"/>
          </a:p>
          <a:p>
            <a:pPr marL="214313" indent="-214313">
              <a:buFont typeface="Arial" panose="020B0604020202020204" pitchFamily="34" charset="0"/>
              <a:buChar char="•"/>
            </a:pPr>
            <a:r>
              <a:rPr lang="en-GB" sz="1800"/>
              <a:t>They address global challenges, including those related to poverty, inequality, climate, environmental degradation, prosperity, and peace and justice.</a:t>
            </a:r>
            <a:br>
              <a:rPr lang="en-GB" sz="1800"/>
            </a:br>
            <a:endParaRPr lang="en-GB" sz="1800"/>
          </a:p>
        </p:txBody>
      </p:sp>
      <p:sp>
        <p:nvSpPr>
          <p:cNvPr id="6" name="Title 1">
            <a:extLst>
              <a:ext uri="{FF2B5EF4-FFF2-40B4-BE49-F238E27FC236}">
                <a16:creationId xmlns:a16="http://schemas.microsoft.com/office/drawing/2014/main" id="{F6412550-7449-BC6D-434A-EFC23350504D}"/>
              </a:ext>
            </a:extLst>
          </p:cNvPr>
          <p:cNvSpPr>
            <a:spLocks noGrp="1"/>
          </p:cNvSpPr>
          <p:nvPr>
            <p:ph type="title"/>
          </p:nvPr>
        </p:nvSpPr>
        <p:spPr>
          <a:xfrm>
            <a:off x="96687" y="63205"/>
            <a:ext cx="8734964" cy="635450"/>
          </a:xfrm>
        </p:spPr>
        <p:txBody>
          <a:bodyPr>
            <a:normAutofit/>
          </a:bodyPr>
          <a:lstStyle/>
          <a:p>
            <a:r>
              <a:rPr lang="en-GB" sz="2400" b="1">
                <a:solidFill>
                  <a:srgbClr val="C00000"/>
                </a:solidFill>
                <a:latin typeface="Helvetica"/>
                <a:cs typeface="Helvetica"/>
              </a:rPr>
              <a:t>The UN Sustainable Development Goals</a:t>
            </a:r>
            <a:endParaRPr lang="en-US"/>
          </a:p>
        </p:txBody>
      </p:sp>
    </p:spTree>
    <p:extLst>
      <p:ext uri="{BB962C8B-B14F-4D97-AF65-F5344CB8AC3E}">
        <p14:creationId xmlns:p14="http://schemas.microsoft.com/office/powerpoint/2010/main" val="1893258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00" y="857250"/>
            <a:ext cx="6858000" cy="5143500"/>
          </a:xfrm>
          <a:prstGeom prst="rect">
            <a:avLst/>
          </a:prstGeom>
          <a:solidFill>
            <a:srgbClr val="274C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1319" y="1217295"/>
            <a:ext cx="6321362" cy="442341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4" name="Online Media 3" title="UN Chief on Decade of Action for the Sustainable Development Goals">
            <a:hlinkClick r:id="" action="ppaction://media"/>
            <a:extLst>
              <a:ext uri="{FF2B5EF4-FFF2-40B4-BE49-F238E27FC236}">
                <a16:creationId xmlns:a16="http://schemas.microsoft.com/office/drawing/2014/main" id="{D4D1D391-32E0-ADAC-5F18-AA661B2CAD34}"/>
              </a:ext>
            </a:extLst>
          </p:cNvPr>
          <p:cNvPicPr>
            <a:picLocks noRot="1" noChangeAspect="1"/>
          </p:cNvPicPr>
          <p:nvPr>
            <a:videoFile r:link="rId1"/>
          </p:nvPr>
        </p:nvPicPr>
        <p:blipFill>
          <a:blip r:embed="rId3"/>
          <a:stretch>
            <a:fillRect/>
          </a:stretch>
        </p:blipFill>
        <p:spPr>
          <a:xfrm>
            <a:off x="1504951" y="1696118"/>
            <a:ext cx="6134099" cy="3465766"/>
          </a:xfrm>
          <a:prstGeom prst="rect">
            <a:avLst/>
          </a:prstGeom>
        </p:spPr>
      </p:pic>
      <p:sp>
        <p:nvSpPr>
          <p:cNvPr id="5" name="TextBox 4">
            <a:extLst>
              <a:ext uri="{FF2B5EF4-FFF2-40B4-BE49-F238E27FC236}">
                <a16:creationId xmlns:a16="http://schemas.microsoft.com/office/drawing/2014/main" id="{D346A958-0F37-789F-901E-16CA615DB8EB}"/>
              </a:ext>
            </a:extLst>
          </p:cNvPr>
          <p:cNvSpPr txBox="1"/>
          <p:nvPr/>
        </p:nvSpPr>
        <p:spPr>
          <a:xfrm>
            <a:off x="1411319" y="887231"/>
            <a:ext cx="1730282" cy="553998"/>
          </a:xfrm>
          <a:prstGeom prst="rect">
            <a:avLst/>
          </a:prstGeom>
          <a:noFill/>
        </p:spPr>
        <p:txBody>
          <a:bodyPr wrap="square" rtlCol="0">
            <a:spAutoFit/>
          </a:bodyPr>
          <a:lstStyle/>
          <a:p>
            <a:r>
              <a:rPr lang="en-GB" sz="1500">
                <a:solidFill>
                  <a:schemeClr val="bg1"/>
                </a:solidFill>
              </a:rPr>
              <a:t>A decade of action</a:t>
            </a:r>
          </a:p>
        </p:txBody>
      </p:sp>
    </p:spTree>
    <p:extLst>
      <p:ext uri="{BB962C8B-B14F-4D97-AF65-F5344CB8AC3E}">
        <p14:creationId xmlns:p14="http://schemas.microsoft.com/office/powerpoint/2010/main" val="112208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BBCDE-A782-3CA2-9B48-F550BFA77DEE}"/>
              </a:ext>
            </a:extLst>
          </p:cNvPr>
          <p:cNvSpPr>
            <a:spLocks noGrp="1"/>
          </p:cNvSpPr>
          <p:nvPr>
            <p:ph type="title"/>
          </p:nvPr>
        </p:nvSpPr>
        <p:spPr>
          <a:xfrm>
            <a:off x="176754" y="149842"/>
            <a:ext cx="6098336" cy="692248"/>
          </a:xfrm>
        </p:spPr>
        <p:txBody>
          <a:bodyPr>
            <a:normAutofit/>
          </a:bodyPr>
          <a:lstStyle/>
          <a:p>
            <a:r>
              <a:rPr lang="en-GB" sz="2400" b="1">
                <a:solidFill>
                  <a:srgbClr val="C00000"/>
                </a:solidFill>
                <a:latin typeface="Helvetica"/>
              </a:rPr>
              <a:t>Resolving these challenges requires:</a:t>
            </a:r>
          </a:p>
        </p:txBody>
      </p:sp>
      <p:sp>
        <p:nvSpPr>
          <p:cNvPr id="3" name="Text Placeholder 2">
            <a:extLst>
              <a:ext uri="{FF2B5EF4-FFF2-40B4-BE49-F238E27FC236}">
                <a16:creationId xmlns:a16="http://schemas.microsoft.com/office/drawing/2014/main" id="{A8614B8E-26CA-F9E6-AEE2-6BE034EF7D39}"/>
              </a:ext>
            </a:extLst>
          </p:cNvPr>
          <p:cNvSpPr>
            <a:spLocks noGrp="1"/>
          </p:cNvSpPr>
          <p:nvPr>
            <p:ph type="body" idx="1"/>
          </p:nvPr>
        </p:nvSpPr>
        <p:spPr>
          <a:xfrm>
            <a:off x="349280" y="1463005"/>
            <a:ext cx="8445440" cy="4273512"/>
          </a:xfrm>
        </p:spPr>
        <p:txBody>
          <a:bodyPr>
            <a:normAutofit lnSpcReduction="10000"/>
          </a:bodyPr>
          <a:lstStyle/>
          <a:p>
            <a:r>
              <a:rPr lang="en-GB" sz="2400">
                <a:latin typeface="Helvetica"/>
              </a:rPr>
              <a:t>Knowledge of basic, </a:t>
            </a:r>
            <a:r>
              <a:rPr lang="en-GB" sz="2400">
                <a:solidFill>
                  <a:srgbClr val="C00000"/>
                </a:solidFill>
                <a:latin typeface="Helvetica"/>
              </a:rPr>
              <a:t>underpinning processes</a:t>
            </a:r>
            <a:r>
              <a:rPr lang="en-GB" sz="2400">
                <a:latin typeface="Helvetica"/>
              </a:rPr>
              <a:t> – the sorts of things achieved through "blue-skies" research</a:t>
            </a:r>
          </a:p>
          <a:p>
            <a:endParaRPr lang="en-GB" sz="2400">
              <a:latin typeface="Helvetica"/>
            </a:endParaRPr>
          </a:p>
          <a:p>
            <a:endParaRPr lang="en-GB" sz="2400" dirty="0">
              <a:latin typeface="Helvetica"/>
            </a:endParaRPr>
          </a:p>
          <a:p>
            <a:r>
              <a:rPr lang="en-GB" sz="2400">
                <a:latin typeface="Helvetica"/>
              </a:rPr>
              <a:t>Knowledge of </a:t>
            </a:r>
            <a:r>
              <a:rPr lang="en-GB" sz="2400">
                <a:solidFill>
                  <a:srgbClr val="C00000"/>
                </a:solidFill>
                <a:latin typeface="Helvetica"/>
              </a:rPr>
              <a:t>impacts</a:t>
            </a:r>
            <a:r>
              <a:rPr lang="en-GB" sz="2400">
                <a:latin typeface="Helvetica"/>
              </a:rPr>
              <a:t> of individual and multiple perturbations in different socio-ecological contexts – transdisciplinary!</a:t>
            </a:r>
            <a:endParaRPr lang="en-GB" sz="2400" dirty="0">
              <a:latin typeface="Helvetica"/>
            </a:endParaRPr>
          </a:p>
          <a:p>
            <a:endParaRPr lang="en-GB" sz="2400">
              <a:latin typeface="Helvetica"/>
            </a:endParaRPr>
          </a:p>
          <a:p>
            <a:endParaRPr lang="en-GB" sz="2400">
              <a:latin typeface="Helvetica"/>
            </a:endParaRPr>
          </a:p>
          <a:p>
            <a:r>
              <a:rPr lang="en-GB" sz="2400">
                <a:latin typeface="Helvetica"/>
              </a:rPr>
              <a:t>Knowledge of </a:t>
            </a:r>
            <a:r>
              <a:rPr lang="en-GB" sz="2400">
                <a:solidFill>
                  <a:srgbClr val="C00000"/>
                </a:solidFill>
                <a:latin typeface="Helvetica"/>
              </a:rPr>
              <a:t>best practices and technologies</a:t>
            </a:r>
            <a:r>
              <a:rPr lang="en-GB" sz="2400">
                <a:latin typeface="Helvetica"/>
              </a:rPr>
              <a:t> to achieve long lasting sustainable solutions</a:t>
            </a:r>
          </a:p>
        </p:txBody>
      </p:sp>
    </p:spTree>
    <p:extLst>
      <p:ext uri="{BB962C8B-B14F-4D97-AF65-F5344CB8AC3E}">
        <p14:creationId xmlns:p14="http://schemas.microsoft.com/office/powerpoint/2010/main" val="516470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1874B-4616-C5B1-8C0C-3A64ECDE056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054A429-8C91-5B9F-B036-F6F92F1E2096}"/>
              </a:ext>
            </a:extLst>
          </p:cNvPr>
          <p:cNvSpPr>
            <a:spLocks noGrp="1"/>
          </p:cNvSpPr>
          <p:nvPr>
            <p:ph type="title"/>
          </p:nvPr>
        </p:nvSpPr>
        <p:spPr>
          <a:xfrm>
            <a:off x="96687" y="63205"/>
            <a:ext cx="8734964" cy="635450"/>
          </a:xfrm>
        </p:spPr>
        <p:txBody>
          <a:bodyPr>
            <a:normAutofit/>
          </a:bodyPr>
          <a:lstStyle/>
          <a:p>
            <a:r>
              <a:rPr lang="en-GB" sz="2400" b="1" dirty="0">
                <a:solidFill>
                  <a:srgbClr val="C00000"/>
                </a:solidFill>
                <a:latin typeface="Helvetica"/>
                <a:cs typeface="Helvetica"/>
              </a:rPr>
              <a:t>How are we doing?</a:t>
            </a:r>
            <a:endParaRPr lang="en-US" dirty="0"/>
          </a:p>
        </p:txBody>
      </p:sp>
      <p:pic>
        <p:nvPicPr>
          <p:cNvPr id="2" name="Picture 1" descr="A close-up of text&#10;&#10;AI-generated content may be incorrect.">
            <a:extLst>
              <a:ext uri="{FF2B5EF4-FFF2-40B4-BE49-F238E27FC236}">
                <a16:creationId xmlns:a16="http://schemas.microsoft.com/office/drawing/2014/main" id="{42240E94-97EC-5606-A766-9F9CC43E0D51}"/>
              </a:ext>
            </a:extLst>
          </p:cNvPr>
          <p:cNvPicPr>
            <a:picLocks noChangeAspect="1"/>
          </p:cNvPicPr>
          <p:nvPr/>
        </p:nvPicPr>
        <p:blipFill>
          <a:blip r:embed="rId2"/>
          <a:stretch>
            <a:fillRect/>
          </a:stretch>
        </p:blipFill>
        <p:spPr>
          <a:xfrm>
            <a:off x="84667" y="949811"/>
            <a:ext cx="5018851" cy="1055030"/>
          </a:xfrm>
          <a:prstGeom prst="rect">
            <a:avLst/>
          </a:prstGeom>
        </p:spPr>
      </p:pic>
      <p:pic>
        <p:nvPicPr>
          <p:cNvPr id="3" name="Picture 2" descr="A blue and white logo&#10;&#10;AI-generated content may be incorrect.">
            <a:extLst>
              <a:ext uri="{FF2B5EF4-FFF2-40B4-BE49-F238E27FC236}">
                <a16:creationId xmlns:a16="http://schemas.microsoft.com/office/drawing/2014/main" id="{703A581F-5EA4-10A9-F246-DACAAD53BE24}"/>
              </a:ext>
            </a:extLst>
          </p:cNvPr>
          <p:cNvPicPr>
            <a:picLocks noChangeAspect="1"/>
          </p:cNvPicPr>
          <p:nvPr/>
        </p:nvPicPr>
        <p:blipFill>
          <a:blip r:embed="rId3"/>
          <a:stretch>
            <a:fillRect/>
          </a:stretch>
        </p:blipFill>
        <p:spPr>
          <a:xfrm>
            <a:off x="98778" y="681623"/>
            <a:ext cx="4572000" cy="199491"/>
          </a:xfrm>
          <a:prstGeom prst="rect">
            <a:avLst/>
          </a:prstGeom>
        </p:spPr>
      </p:pic>
      <p:grpSp>
        <p:nvGrpSpPr>
          <p:cNvPr id="75" name="Group 74">
            <a:extLst>
              <a:ext uri="{FF2B5EF4-FFF2-40B4-BE49-F238E27FC236}">
                <a16:creationId xmlns:a16="http://schemas.microsoft.com/office/drawing/2014/main" id="{A96D6DE7-7830-6832-021E-6FBBAD8F1E09}"/>
              </a:ext>
            </a:extLst>
          </p:cNvPr>
          <p:cNvGrpSpPr/>
          <p:nvPr/>
        </p:nvGrpSpPr>
        <p:grpSpPr>
          <a:xfrm>
            <a:off x="107182" y="2052247"/>
            <a:ext cx="8892969" cy="4798765"/>
            <a:chOff x="107182" y="2052247"/>
            <a:chExt cx="8892969" cy="4798765"/>
          </a:xfrm>
        </p:grpSpPr>
        <p:grpSp>
          <p:nvGrpSpPr>
            <p:cNvPr id="50" name="Group 49">
              <a:extLst>
                <a:ext uri="{FF2B5EF4-FFF2-40B4-BE49-F238E27FC236}">
                  <a16:creationId xmlns:a16="http://schemas.microsoft.com/office/drawing/2014/main" id="{CB501EDB-BCC1-DAA5-70D1-A5B25BF78969}"/>
                </a:ext>
              </a:extLst>
            </p:cNvPr>
            <p:cNvGrpSpPr/>
            <p:nvPr/>
          </p:nvGrpSpPr>
          <p:grpSpPr>
            <a:xfrm>
              <a:off x="107182" y="2052247"/>
              <a:ext cx="8732227" cy="4798765"/>
              <a:chOff x="523200" y="2052247"/>
              <a:chExt cx="8732227" cy="4798765"/>
            </a:xfrm>
          </p:grpSpPr>
          <p:pic>
            <p:nvPicPr>
              <p:cNvPr id="10" name="Picture 9">
                <a:extLst>
                  <a:ext uri="{FF2B5EF4-FFF2-40B4-BE49-F238E27FC236}">
                    <a16:creationId xmlns:a16="http://schemas.microsoft.com/office/drawing/2014/main" id="{EFC69043-50DE-B884-53D0-B94E1F01A782}"/>
                  </a:ext>
                </a:extLst>
              </p:cNvPr>
              <p:cNvPicPr>
                <a:picLocks noChangeAspect="1"/>
              </p:cNvPicPr>
              <p:nvPr/>
            </p:nvPicPr>
            <p:blipFill>
              <a:blip r:embed="rId4"/>
              <a:srcRect l="23529" t="89776" r="20" b="213"/>
              <a:stretch/>
            </p:blipFill>
            <p:spPr>
              <a:xfrm>
                <a:off x="1622505" y="2052247"/>
                <a:ext cx="4912759" cy="574660"/>
              </a:xfrm>
              <a:prstGeom prst="rect">
                <a:avLst/>
              </a:prstGeom>
            </p:spPr>
          </p:pic>
          <p:pic>
            <p:nvPicPr>
              <p:cNvPr id="5" name="Picture 4">
                <a:extLst>
                  <a:ext uri="{FF2B5EF4-FFF2-40B4-BE49-F238E27FC236}">
                    <a16:creationId xmlns:a16="http://schemas.microsoft.com/office/drawing/2014/main" id="{1299960D-0004-91AA-6B99-6DA764F5EC1D}"/>
                  </a:ext>
                </a:extLst>
              </p:cNvPr>
              <p:cNvPicPr>
                <a:picLocks noChangeAspect="1"/>
              </p:cNvPicPr>
              <p:nvPr/>
            </p:nvPicPr>
            <p:blipFill>
              <a:blip r:embed="rId4"/>
              <a:srcRect l="6417" t="11410" r="64" b="11325"/>
              <a:stretch/>
            </p:blipFill>
            <p:spPr>
              <a:xfrm>
                <a:off x="523200" y="2577110"/>
                <a:ext cx="6184845" cy="4273902"/>
              </a:xfrm>
              <a:prstGeom prst="rect">
                <a:avLst/>
              </a:prstGeom>
            </p:spPr>
          </p:pic>
          <p:sp>
            <p:nvSpPr>
              <p:cNvPr id="33" name="TextBox 32">
                <a:extLst>
                  <a:ext uri="{FF2B5EF4-FFF2-40B4-BE49-F238E27FC236}">
                    <a16:creationId xmlns:a16="http://schemas.microsoft.com/office/drawing/2014/main" id="{929437BE-844A-397E-9BB2-2D31CB1613C9}"/>
                  </a:ext>
                </a:extLst>
              </p:cNvPr>
              <p:cNvSpPr txBox="1"/>
              <p:nvPr/>
            </p:nvSpPr>
            <p:spPr>
              <a:xfrm>
                <a:off x="6519904" y="2595099"/>
                <a:ext cx="139582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E6233C"/>
                    </a:solidFill>
                    <a:latin typeface="Roboto"/>
                  </a:rPr>
                  <a:t>NO POVERTY</a:t>
                </a:r>
              </a:p>
            </p:txBody>
          </p:sp>
          <p:sp>
            <p:nvSpPr>
              <p:cNvPr id="34" name="TextBox 33">
                <a:extLst>
                  <a:ext uri="{FF2B5EF4-FFF2-40B4-BE49-F238E27FC236}">
                    <a16:creationId xmlns:a16="http://schemas.microsoft.com/office/drawing/2014/main" id="{1EFEE118-DB57-4567-C28A-829B498711E2}"/>
                  </a:ext>
                </a:extLst>
              </p:cNvPr>
              <p:cNvSpPr txBox="1"/>
              <p:nvPr/>
            </p:nvSpPr>
            <p:spPr>
              <a:xfrm>
                <a:off x="6523688" y="2820906"/>
                <a:ext cx="139582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DEA739"/>
                    </a:solidFill>
                    <a:latin typeface="Roboto"/>
                  </a:rPr>
                  <a:t>ZERO HUNGER</a:t>
                </a:r>
                <a:endParaRPr lang="en-US" sz="1200">
                  <a:solidFill>
                    <a:srgbClr val="DEA739"/>
                  </a:solidFill>
                </a:endParaRPr>
              </a:p>
            </p:txBody>
          </p:sp>
          <p:sp>
            <p:nvSpPr>
              <p:cNvPr id="35" name="TextBox 34">
                <a:extLst>
                  <a:ext uri="{FF2B5EF4-FFF2-40B4-BE49-F238E27FC236}">
                    <a16:creationId xmlns:a16="http://schemas.microsoft.com/office/drawing/2014/main" id="{22144286-3F52-02F5-EA78-ECCA7C111CCC}"/>
                  </a:ext>
                </a:extLst>
              </p:cNvPr>
              <p:cNvSpPr txBox="1"/>
              <p:nvPr/>
            </p:nvSpPr>
            <p:spPr>
              <a:xfrm>
                <a:off x="6531110" y="3054171"/>
                <a:ext cx="237553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4BA147"/>
                    </a:solidFill>
                    <a:latin typeface="Roboto"/>
                  </a:rPr>
                  <a:t>GOOD HEALTH &amp; WELL-BEING</a:t>
                </a:r>
              </a:p>
            </p:txBody>
          </p:sp>
          <p:sp>
            <p:nvSpPr>
              <p:cNvPr id="36" name="TextBox 35">
                <a:extLst>
                  <a:ext uri="{FF2B5EF4-FFF2-40B4-BE49-F238E27FC236}">
                    <a16:creationId xmlns:a16="http://schemas.microsoft.com/office/drawing/2014/main" id="{AD7BDAEF-E4B5-1061-5F97-7456170437DD}"/>
                  </a:ext>
                </a:extLst>
              </p:cNvPr>
              <p:cNvSpPr txBox="1"/>
              <p:nvPr/>
            </p:nvSpPr>
            <p:spPr>
              <a:xfrm>
                <a:off x="6535311" y="3272685"/>
                <a:ext cx="237553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C8202F"/>
                    </a:solidFill>
                    <a:latin typeface="Roboto"/>
                  </a:rPr>
                  <a:t>QUALITY</a:t>
                </a:r>
                <a:r>
                  <a:rPr lang="en-GB" sz="1100" b="1" dirty="0">
                    <a:solidFill>
                      <a:srgbClr val="4BA147"/>
                    </a:solidFill>
                    <a:latin typeface="Roboto"/>
                  </a:rPr>
                  <a:t> </a:t>
                </a:r>
                <a:r>
                  <a:rPr lang="en-GB" sz="1100" b="1" dirty="0">
                    <a:solidFill>
                      <a:srgbClr val="C8202F"/>
                    </a:solidFill>
                    <a:latin typeface="Roboto"/>
                  </a:rPr>
                  <a:t>EDUCATION</a:t>
                </a:r>
                <a:endParaRPr lang="en-US" dirty="0">
                  <a:solidFill>
                    <a:srgbClr val="C8202F"/>
                  </a:solidFill>
                </a:endParaRPr>
              </a:p>
            </p:txBody>
          </p:sp>
          <p:sp>
            <p:nvSpPr>
              <p:cNvPr id="37" name="TextBox 36">
                <a:extLst>
                  <a:ext uri="{FF2B5EF4-FFF2-40B4-BE49-F238E27FC236}">
                    <a16:creationId xmlns:a16="http://schemas.microsoft.com/office/drawing/2014/main" id="{30F6538D-A9B7-398D-CC20-98012CEFDAE9}"/>
                  </a:ext>
                </a:extLst>
              </p:cNvPr>
              <p:cNvSpPr txBox="1"/>
              <p:nvPr/>
            </p:nvSpPr>
            <p:spPr>
              <a:xfrm>
                <a:off x="6535311" y="3508009"/>
                <a:ext cx="237553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EF412D"/>
                    </a:solidFill>
                    <a:latin typeface="Roboto"/>
                  </a:rPr>
                  <a:t>GENDER EQUALITY</a:t>
                </a:r>
                <a:endParaRPr lang="en-US">
                  <a:solidFill>
                    <a:srgbClr val="EF412D"/>
                  </a:solidFill>
                </a:endParaRPr>
              </a:p>
            </p:txBody>
          </p:sp>
          <p:sp>
            <p:nvSpPr>
              <p:cNvPr id="38" name="TextBox 37">
                <a:extLst>
                  <a:ext uri="{FF2B5EF4-FFF2-40B4-BE49-F238E27FC236}">
                    <a16:creationId xmlns:a16="http://schemas.microsoft.com/office/drawing/2014/main" id="{5CB364D5-B315-6CD9-2DCE-D7A4D353D310}"/>
                  </a:ext>
                </a:extLst>
              </p:cNvPr>
              <p:cNvSpPr txBox="1"/>
              <p:nvPr/>
            </p:nvSpPr>
            <p:spPr>
              <a:xfrm>
                <a:off x="6531110" y="3734927"/>
                <a:ext cx="2375533" cy="261610"/>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28BFE6"/>
                    </a:solidFill>
                    <a:latin typeface="Roboto"/>
                  </a:rPr>
                  <a:t>CLEAN WATER &amp; SANITATION</a:t>
                </a:r>
                <a:endParaRPr lang="en-US">
                  <a:solidFill>
                    <a:srgbClr val="28BFE6"/>
                  </a:solidFill>
                </a:endParaRPr>
              </a:p>
            </p:txBody>
          </p:sp>
          <p:sp>
            <p:nvSpPr>
              <p:cNvPr id="39" name="TextBox 38">
                <a:extLst>
                  <a:ext uri="{FF2B5EF4-FFF2-40B4-BE49-F238E27FC236}">
                    <a16:creationId xmlns:a16="http://schemas.microsoft.com/office/drawing/2014/main" id="{DF1723E6-FDFE-C555-E776-F95F77A1F1B0}"/>
                  </a:ext>
                </a:extLst>
              </p:cNvPr>
              <p:cNvSpPr txBox="1"/>
              <p:nvPr/>
            </p:nvSpPr>
            <p:spPr>
              <a:xfrm>
                <a:off x="6539513" y="3957643"/>
                <a:ext cx="2375533"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F6C013"/>
                    </a:solidFill>
                    <a:latin typeface="Roboto"/>
                  </a:rPr>
                  <a:t>AFFORDABLE &amp; CLEAN ENERGY</a:t>
                </a:r>
              </a:p>
            </p:txBody>
          </p:sp>
          <p:sp>
            <p:nvSpPr>
              <p:cNvPr id="40" name="TextBox 39">
                <a:extLst>
                  <a:ext uri="{FF2B5EF4-FFF2-40B4-BE49-F238E27FC236}">
                    <a16:creationId xmlns:a16="http://schemas.microsoft.com/office/drawing/2014/main" id="{F5F4256E-4144-7AC6-2FA9-596276484B70}"/>
                  </a:ext>
                </a:extLst>
              </p:cNvPr>
              <p:cNvSpPr txBox="1"/>
              <p:nvPr/>
            </p:nvSpPr>
            <p:spPr>
              <a:xfrm>
                <a:off x="6535311" y="4176157"/>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A31C44"/>
                    </a:solidFill>
                    <a:latin typeface="Roboto"/>
                  </a:rPr>
                  <a:t>DECENT WORK &amp; ECONOMIC GROWTH</a:t>
                </a:r>
                <a:endParaRPr lang="en-US">
                  <a:solidFill>
                    <a:srgbClr val="A31C44"/>
                  </a:solidFill>
                </a:endParaRPr>
              </a:p>
            </p:txBody>
          </p:sp>
          <p:sp>
            <p:nvSpPr>
              <p:cNvPr id="41" name="TextBox 40">
                <a:extLst>
                  <a:ext uri="{FF2B5EF4-FFF2-40B4-BE49-F238E27FC236}">
                    <a16:creationId xmlns:a16="http://schemas.microsoft.com/office/drawing/2014/main" id="{14C4FE76-8391-4F5E-0C78-C0EBF4D3B467}"/>
                  </a:ext>
                </a:extLst>
              </p:cNvPr>
              <p:cNvSpPr txBox="1"/>
              <p:nvPr/>
            </p:nvSpPr>
            <p:spPr>
              <a:xfrm>
                <a:off x="6531109" y="4411480"/>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F06A2E"/>
                    </a:solidFill>
                    <a:latin typeface="Roboto"/>
                  </a:rPr>
                  <a:t>INDUSTRY, INNOVATION &amp; INFRASTR.</a:t>
                </a:r>
                <a:endParaRPr lang="en-US">
                  <a:solidFill>
                    <a:srgbClr val="F06A2E"/>
                  </a:solidFill>
                </a:endParaRPr>
              </a:p>
            </p:txBody>
          </p:sp>
          <p:sp>
            <p:nvSpPr>
              <p:cNvPr id="42" name="TextBox 41">
                <a:extLst>
                  <a:ext uri="{FF2B5EF4-FFF2-40B4-BE49-F238E27FC236}">
                    <a16:creationId xmlns:a16="http://schemas.microsoft.com/office/drawing/2014/main" id="{31C9C42A-F047-F602-CA60-467987DEA466}"/>
                  </a:ext>
                </a:extLst>
              </p:cNvPr>
              <p:cNvSpPr txBox="1"/>
              <p:nvPr/>
            </p:nvSpPr>
            <p:spPr>
              <a:xfrm>
                <a:off x="6535313" y="4634196"/>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E11484"/>
                    </a:solidFill>
                    <a:latin typeface="Roboto"/>
                  </a:rPr>
                  <a:t>REDUCED INEQUALITIES</a:t>
                </a:r>
                <a:endParaRPr lang="en-US" dirty="0">
                  <a:solidFill>
                    <a:srgbClr val="E11484"/>
                  </a:solidFill>
                </a:endParaRPr>
              </a:p>
            </p:txBody>
          </p:sp>
          <p:sp>
            <p:nvSpPr>
              <p:cNvPr id="43" name="TextBox 42">
                <a:extLst>
                  <a:ext uri="{FF2B5EF4-FFF2-40B4-BE49-F238E27FC236}">
                    <a16:creationId xmlns:a16="http://schemas.microsoft.com/office/drawing/2014/main" id="{6B9B91DD-98E7-3951-3826-8FD0E79BF850}"/>
                  </a:ext>
                </a:extLst>
              </p:cNvPr>
              <p:cNvSpPr txBox="1"/>
              <p:nvPr/>
            </p:nvSpPr>
            <p:spPr>
              <a:xfrm>
                <a:off x="6531110" y="4861115"/>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EE9628"/>
                    </a:solidFill>
                    <a:latin typeface="Roboto"/>
                  </a:rPr>
                  <a:t>SUSTAINABLE CITIES &amp; COMMUNITIES</a:t>
                </a:r>
                <a:endParaRPr lang="en-US" dirty="0">
                  <a:solidFill>
                    <a:srgbClr val="EE9628"/>
                  </a:solidFill>
                </a:endParaRPr>
              </a:p>
            </p:txBody>
          </p:sp>
          <p:sp>
            <p:nvSpPr>
              <p:cNvPr id="44" name="TextBox 43">
                <a:extLst>
                  <a:ext uri="{FF2B5EF4-FFF2-40B4-BE49-F238E27FC236}">
                    <a16:creationId xmlns:a16="http://schemas.microsoft.com/office/drawing/2014/main" id="{F59FA21D-D4BF-24A8-C200-5779AE92660C}"/>
                  </a:ext>
                </a:extLst>
              </p:cNvPr>
              <p:cNvSpPr txBox="1"/>
              <p:nvPr/>
            </p:nvSpPr>
            <p:spPr>
              <a:xfrm>
                <a:off x="6531109" y="5083833"/>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BF8D2C"/>
                    </a:solidFill>
                    <a:latin typeface="Roboto"/>
                  </a:rPr>
                  <a:t>RESPONSIBLE CONSUMPTION &amp; PROD.</a:t>
                </a:r>
                <a:endParaRPr lang="en-US">
                  <a:solidFill>
                    <a:srgbClr val="BF8D2C"/>
                  </a:solidFill>
                </a:endParaRPr>
              </a:p>
            </p:txBody>
          </p:sp>
          <p:sp>
            <p:nvSpPr>
              <p:cNvPr id="45" name="TextBox 44">
                <a:extLst>
                  <a:ext uri="{FF2B5EF4-FFF2-40B4-BE49-F238E27FC236}">
                    <a16:creationId xmlns:a16="http://schemas.microsoft.com/office/drawing/2014/main" id="{E67BFB37-FD7F-0BB3-4A67-064B3124AFA3}"/>
                  </a:ext>
                </a:extLst>
              </p:cNvPr>
              <p:cNvSpPr txBox="1"/>
              <p:nvPr/>
            </p:nvSpPr>
            <p:spPr>
              <a:xfrm>
                <a:off x="6531109" y="5306549"/>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407F46"/>
                    </a:solidFill>
                    <a:latin typeface="Roboto"/>
                  </a:rPr>
                  <a:t>CLIMATE ACTION</a:t>
                </a:r>
                <a:endParaRPr lang="en-US" dirty="0">
                  <a:solidFill>
                    <a:srgbClr val="407F46"/>
                  </a:solidFill>
                </a:endParaRPr>
              </a:p>
            </p:txBody>
          </p:sp>
          <p:sp>
            <p:nvSpPr>
              <p:cNvPr id="46" name="TextBox 45">
                <a:extLst>
                  <a:ext uri="{FF2B5EF4-FFF2-40B4-BE49-F238E27FC236}">
                    <a16:creationId xmlns:a16="http://schemas.microsoft.com/office/drawing/2014/main" id="{F93E6064-4D3D-F1F8-D5C5-65C2F8BD3F16}"/>
                  </a:ext>
                </a:extLst>
              </p:cNvPr>
              <p:cNvSpPr txBox="1"/>
              <p:nvPr/>
            </p:nvSpPr>
            <p:spPr>
              <a:xfrm>
                <a:off x="6535312" y="5529267"/>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1F97D4"/>
                    </a:solidFill>
                    <a:latin typeface="Roboto"/>
                  </a:rPr>
                  <a:t>LIFE BELOW WATER</a:t>
                </a:r>
                <a:endParaRPr lang="en-US" dirty="0">
                  <a:solidFill>
                    <a:srgbClr val="1F97D4"/>
                  </a:solidFill>
                </a:endParaRPr>
              </a:p>
            </p:txBody>
          </p:sp>
          <p:sp>
            <p:nvSpPr>
              <p:cNvPr id="47" name="TextBox 46">
                <a:extLst>
                  <a:ext uri="{FF2B5EF4-FFF2-40B4-BE49-F238E27FC236}">
                    <a16:creationId xmlns:a16="http://schemas.microsoft.com/office/drawing/2014/main" id="{B8FF84F0-A41E-5047-5BC7-F2420BFCC5BA}"/>
                  </a:ext>
                </a:extLst>
              </p:cNvPr>
              <p:cNvSpPr txBox="1"/>
              <p:nvPr/>
            </p:nvSpPr>
            <p:spPr>
              <a:xfrm>
                <a:off x="6535311" y="5764589"/>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59BB47"/>
                    </a:solidFill>
                    <a:latin typeface="Roboto"/>
                  </a:rPr>
                  <a:t>LIFE ON LAND</a:t>
                </a:r>
                <a:endParaRPr lang="en-US" dirty="0">
                  <a:solidFill>
                    <a:srgbClr val="59BB47"/>
                  </a:solidFill>
                </a:endParaRPr>
              </a:p>
            </p:txBody>
          </p:sp>
          <p:sp>
            <p:nvSpPr>
              <p:cNvPr id="48" name="TextBox 47">
                <a:extLst>
                  <a:ext uri="{FF2B5EF4-FFF2-40B4-BE49-F238E27FC236}">
                    <a16:creationId xmlns:a16="http://schemas.microsoft.com/office/drawing/2014/main" id="{E6B959BB-8E4C-6253-D521-F3BB52E4A1A7}"/>
                  </a:ext>
                </a:extLst>
              </p:cNvPr>
              <p:cNvSpPr txBox="1"/>
              <p:nvPr/>
            </p:nvSpPr>
            <p:spPr>
              <a:xfrm>
                <a:off x="6531109" y="5983103"/>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126A9F"/>
                    </a:solidFill>
                    <a:latin typeface="Roboto"/>
                  </a:rPr>
                  <a:t>PEACE, JUSTICE, STRONG INSTITUT.</a:t>
                </a:r>
                <a:endParaRPr lang="en-US" dirty="0">
                  <a:solidFill>
                    <a:srgbClr val="126A9F"/>
                  </a:solidFill>
                </a:endParaRPr>
              </a:p>
            </p:txBody>
          </p:sp>
          <p:sp>
            <p:nvSpPr>
              <p:cNvPr id="49" name="TextBox 48">
                <a:extLst>
                  <a:ext uri="{FF2B5EF4-FFF2-40B4-BE49-F238E27FC236}">
                    <a16:creationId xmlns:a16="http://schemas.microsoft.com/office/drawing/2014/main" id="{C4B31EFA-4DC7-33E2-BF80-2EA6FD4517F1}"/>
                  </a:ext>
                </a:extLst>
              </p:cNvPr>
              <p:cNvSpPr txBox="1"/>
              <p:nvPr/>
            </p:nvSpPr>
            <p:spPr>
              <a:xfrm>
                <a:off x="6535312" y="6214224"/>
                <a:ext cx="2720114"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100" b="1" dirty="0">
                    <a:solidFill>
                      <a:srgbClr val="144667"/>
                    </a:solidFill>
                    <a:latin typeface="Roboto"/>
                  </a:rPr>
                  <a:t>PARTNERSHIPS FOR THE GOALS</a:t>
                </a:r>
                <a:endParaRPr lang="en-US">
                  <a:solidFill>
                    <a:srgbClr val="144667"/>
                  </a:solidFill>
                </a:endParaRPr>
              </a:p>
            </p:txBody>
          </p:sp>
        </p:grpSp>
        <p:sp>
          <p:nvSpPr>
            <p:cNvPr id="53" name="TextBox 52">
              <a:extLst>
                <a:ext uri="{FF2B5EF4-FFF2-40B4-BE49-F238E27FC236}">
                  <a16:creationId xmlns:a16="http://schemas.microsoft.com/office/drawing/2014/main" id="{F702072E-CB54-5681-0BA8-C2CBF994BF7E}"/>
                </a:ext>
              </a:extLst>
            </p:cNvPr>
            <p:cNvSpPr txBox="1"/>
            <p:nvPr/>
          </p:nvSpPr>
          <p:spPr>
            <a:xfrm>
              <a:off x="6983932" y="2407950"/>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EDD9C"/>
                  </a:solidFill>
                </a:rPr>
                <a:t>•</a:t>
              </a:r>
            </a:p>
          </p:txBody>
        </p:sp>
        <p:sp>
          <p:nvSpPr>
            <p:cNvPr id="54" name="TextBox 53">
              <a:extLst>
                <a:ext uri="{FF2B5EF4-FFF2-40B4-BE49-F238E27FC236}">
                  <a16:creationId xmlns:a16="http://schemas.microsoft.com/office/drawing/2014/main" id="{08BD4F09-782D-3E3A-DF08-42FA6FAA63B2}"/>
                </a:ext>
              </a:extLst>
            </p:cNvPr>
            <p:cNvSpPr txBox="1"/>
            <p:nvPr/>
          </p:nvSpPr>
          <p:spPr>
            <a:xfrm>
              <a:off x="7084785" y="2626464"/>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EB1731"/>
                  </a:solidFill>
                </a:rPr>
                <a:t>•</a:t>
              </a:r>
            </a:p>
          </p:txBody>
        </p:sp>
        <p:sp>
          <p:nvSpPr>
            <p:cNvPr id="55" name="TextBox 54">
              <a:extLst>
                <a:ext uri="{FF2B5EF4-FFF2-40B4-BE49-F238E27FC236}">
                  <a16:creationId xmlns:a16="http://schemas.microsoft.com/office/drawing/2014/main" id="{AB5CB65B-C2F1-4AF2-D255-0C2A2C6E6350}"/>
                </a:ext>
              </a:extLst>
            </p:cNvPr>
            <p:cNvSpPr txBox="1"/>
            <p:nvPr/>
          </p:nvSpPr>
          <p:spPr>
            <a:xfrm>
              <a:off x="7404153" y="3307221"/>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CC116"/>
                  </a:solidFill>
                </a:rPr>
                <a:t>•</a:t>
              </a:r>
            </a:p>
          </p:txBody>
        </p:sp>
        <p:sp>
          <p:nvSpPr>
            <p:cNvPr id="56" name="TextBox 55">
              <a:extLst>
                <a:ext uri="{FF2B5EF4-FFF2-40B4-BE49-F238E27FC236}">
                  <a16:creationId xmlns:a16="http://schemas.microsoft.com/office/drawing/2014/main" id="{5E6F71CB-388A-3D50-9BF3-7C43E93FCA34}"/>
                </a:ext>
              </a:extLst>
            </p:cNvPr>
            <p:cNvSpPr txBox="1"/>
            <p:nvPr/>
          </p:nvSpPr>
          <p:spPr>
            <a:xfrm>
              <a:off x="7526017" y="3076100"/>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CC116"/>
                  </a:solidFill>
                </a:rPr>
                <a:t>•</a:t>
              </a:r>
            </a:p>
          </p:txBody>
        </p:sp>
        <p:sp>
          <p:nvSpPr>
            <p:cNvPr id="57" name="TextBox 56">
              <a:extLst>
                <a:ext uri="{FF2B5EF4-FFF2-40B4-BE49-F238E27FC236}">
                  <a16:creationId xmlns:a16="http://schemas.microsoft.com/office/drawing/2014/main" id="{B52029D4-7854-D738-E10C-E5BE915AF2F7}"/>
                </a:ext>
              </a:extLst>
            </p:cNvPr>
            <p:cNvSpPr txBox="1"/>
            <p:nvPr/>
          </p:nvSpPr>
          <p:spPr>
            <a:xfrm>
              <a:off x="8068101" y="2865990"/>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CC116"/>
                  </a:solidFill>
                </a:rPr>
                <a:t>•</a:t>
              </a:r>
            </a:p>
          </p:txBody>
        </p:sp>
        <p:sp>
          <p:nvSpPr>
            <p:cNvPr id="58" name="TextBox 57">
              <a:extLst>
                <a:ext uri="{FF2B5EF4-FFF2-40B4-BE49-F238E27FC236}">
                  <a16:creationId xmlns:a16="http://schemas.microsoft.com/office/drawing/2014/main" id="{B287CE5D-2088-24C1-F344-9DC0EFE72439}"/>
                </a:ext>
              </a:extLst>
            </p:cNvPr>
            <p:cNvSpPr txBox="1"/>
            <p:nvPr/>
          </p:nvSpPr>
          <p:spPr>
            <a:xfrm>
              <a:off x="7429366" y="5332685"/>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EB1731"/>
                  </a:solidFill>
                </a:rPr>
                <a:t>•</a:t>
              </a:r>
            </a:p>
          </p:txBody>
        </p:sp>
        <p:sp>
          <p:nvSpPr>
            <p:cNvPr id="59" name="TextBox 58">
              <a:extLst>
                <a:ext uri="{FF2B5EF4-FFF2-40B4-BE49-F238E27FC236}">
                  <a16:creationId xmlns:a16="http://schemas.microsoft.com/office/drawing/2014/main" id="{0AFC27DA-48EF-29F1-8048-29C0DA065DB2}"/>
                </a:ext>
              </a:extLst>
            </p:cNvPr>
            <p:cNvSpPr txBox="1"/>
            <p:nvPr/>
          </p:nvSpPr>
          <p:spPr>
            <a:xfrm>
              <a:off x="7294895" y="5114170"/>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EDD9C"/>
                  </a:solidFill>
                </a:rPr>
                <a:t>•</a:t>
              </a:r>
            </a:p>
          </p:txBody>
        </p:sp>
        <p:sp>
          <p:nvSpPr>
            <p:cNvPr id="60" name="TextBox 59">
              <a:extLst>
                <a:ext uri="{FF2B5EF4-FFF2-40B4-BE49-F238E27FC236}">
                  <a16:creationId xmlns:a16="http://schemas.microsoft.com/office/drawing/2014/main" id="{29A40DF2-AF68-28DC-BAA8-AB63E7B426F7}"/>
                </a:ext>
              </a:extLst>
            </p:cNvPr>
            <p:cNvSpPr txBox="1"/>
            <p:nvPr/>
          </p:nvSpPr>
          <p:spPr>
            <a:xfrm>
              <a:off x="8282414" y="6021846"/>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CC116"/>
                  </a:solidFill>
                </a:rPr>
                <a:t>•</a:t>
              </a:r>
            </a:p>
          </p:txBody>
        </p:sp>
        <p:sp>
          <p:nvSpPr>
            <p:cNvPr id="61" name="TextBox 60">
              <a:extLst>
                <a:ext uri="{FF2B5EF4-FFF2-40B4-BE49-F238E27FC236}">
                  <a16:creationId xmlns:a16="http://schemas.microsoft.com/office/drawing/2014/main" id="{FB4A4F2E-D574-ADD3-CAF4-D347AE0E6D92}"/>
                </a:ext>
              </a:extLst>
            </p:cNvPr>
            <p:cNvSpPr txBox="1"/>
            <p:nvPr/>
          </p:nvSpPr>
          <p:spPr>
            <a:xfrm>
              <a:off x="8521939" y="5786522"/>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a:solidFill>
                    <a:srgbClr val="EB1731"/>
                  </a:solidFill>
                </a:rPr>
                <a:t>•</a:t>
              </a:r>
            </a:p>
          </p:txBody>
        </p:sp>
        <p:sp>
          <p:nvSpPr>
            <p:cNvPr id="62" name="TextBox 61">
              <a:extLst>
                <a:ext uri="{FF2B5EF4-FFF2-40B4-BE49-F238E27FC236}">
                  <a16:creationId xmlns:a16="http://schemas.microsoft.com/office/drawing/2014/main" id="{EC17C1AA-1F3D-997E-D3C0-AA3B1E5E750C}"/>
                </a:ext>
              </a:extLst>
            </p:cNvPr>
            <p:cNvSpPr txBox="1"/>
            <p:nvPr/>
          </p:nvSpPr>
          <p:spPr>
            <a:xfrm>
              <a:off x="8656410" y="4668736"/>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8A496"/>
                  </a:solidFill>
                </a:rPr>
                <a:t>•</a:t>
              </a:r>
            </a:p>
          </p:txBody>
        </p:sp>
        <p:sp>
          <p:nvSpPr>
            <p:cNvPr id="64" name="TextBox 63">
              <a:extLst>
                <a:ext uri="{FF2B5EF4-FFF2-40B4-BE49-F238E27FC236}">
                  <a16:creationId xmlns:a16="http://schemas.microsoft.com/office/drawing/2014/main" id="{29BFB543-FB44-8073-A5A9-5C63C633164E}"/>
                </a:ext>
              </a:extLst>
            </p:cNvPr>
            <p:cNvSpPr txBox="1"/>
            <p:nvPr/>
          </p:nvSpPr>
          <p:spPr>
            <a:xfrm>
              <a:off x="7072179" y="5572210"/>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EB1731"/>
                  </a:solidFill>
                </a:rPr>
                <a:t>•</a:t>
              </a:r>
            </a:p>
          </p:txBody>
        </p:sp>
        <p:sp>
          <p:nvSpPr>
            <p:cNvPr id="65" name="TextBox 64">
              <a:extLst>
                <a:ext uri="{FF2B5EF4-FFF2-40B4-BE49-F238E27FC236}">
                  <a16:creationId xmlns:a16="http://schemas.microsoft.com/office/drawing/2014/main" id="{C5582E5A-0A10-90A8-F33E-008E9D726970}"/>
                </a:ext>
              </a:extLst>
            </p:cNvPr>
            <p:cNvSpPr txBox="1"/>
            <p:nvPr/>
          </p:nvSpPr>
          <p:spPr>
            <a:xfrm>
              <a:off x="8656409" y="4878847"/>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EDD9C"/>
                  </a:solidFill>
                </a:rPr>
                <a:t>•</a:t>
              </a:r>
            </a:p>
          </p:txBody>
        </p:sp>
        <p:sp>
          <p:nvSpPr>
            <p:cNvPr id="66" name="TextBox 65">
              <a:extLst>
                <a:ext uri="{FF2B5EF4-FFF2-40B4-BE49-F238E27FC236}">
                  <a16:creationId xmlns:a16="http://schemas.microsoft.com/office/drawing/2014/main" id="{B840C9C5-7134-6259-1747-5C89EDD88459}"/>
                </a:ext>
              </a:extLst>
            </p:cNvPr>
            <p:cNvSpPr txBox="1"/>
            <p:nvPr/>
          </p:nvSpPr>
          <p:spPr>
            <a:xfrm>
              <a:off x="8584973" y="4219101"/>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CC116"/>
                  </a:solidFill>
                </a:rPr>
                <a:t>•</a:t>
              </a:r>
            </a:p>
          </p:txBody>
        </p:sp>
        <p:sp>
          <p:nvSpPr>
            <p:cNvPr id="67" name="TextBox 66">
              <a:extLst>
                <a:ext uri="{FF2B5EF4-FFF2-40B4-BE49-F238E27FC236}">
                  <a16:creationId xmlns:a16="http://schemas.microsoft.com/office/drawing/2014/main" id="{ECA54572-12DF-63D2-61C2-EBCA5EC033DE}"/>
                </a:ext>
              </a:extLst>
            </p:cNvPr>
            <p:cNvSpPr txBox="1"/>
            <p:nvPr/>
          </p:nvSpPr>
          <p:spPr>
            <a:xfrm>
              <a:off x="7706711" y="4429210"/>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EDD9C"/>
                  </a:solidFill>
                </a:rPr>
                <a:t>•</a:t>
              </a:r>
            </a:p>
          </p:txBody>
        </p:sp>
        <p:sp>
          <p:nvSpPr>
            <p:cNvPr id="68" name="TextBox 67">
              <a:extLst>
                <a:ext uri="{FF2B5EF4-FFF2-40B4-BE49-F238E27FC236}">
                  <a16:creationId xmlns:a16="http://schemas.microsoft.com/office/drawing/2014/main" id="{9A69AC5A-15C3-B7B8-16CA-6212C918CF40}"/>
                </a:ext>
              </a:extLst>
            </p:cNvPr>
            <p:cNvSpPr txBox="1"/>
            <p:nvPr/>
          </p:nvSpPr>
          <p:spPr>
            <a:xfrm>
              <a:off x="8605984" y="3983777"/>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EDD9C"/>
                  </a:solidFill>
                </a:rPr>
                <a:t>•</a:t>
              </a:r>
            </a:p>
          </p:txBody>
        </p:sp>
        <p:sp>
          <p:nvSpPr>
            <p:cNvPr id="69" name="TextBox 68">
              <a:extLst>
                <a:ext uri="{FF2B5EF4-FFF2-40B4-BE49-F238E27FC236}">
                  <a16:creationId xmlns:a16="http://schemas.microsoft.com/office/drawing/2014/main" id="{45DFFC8A-4A3E-F728-DD92-CD554630BD98}"/>
                </a:ext>
              </a:extLst>
            </p:cNvPr>
            <p:cNvSpPr txBox="1"/>
            <p:nvPr/>
          </p:nvSpPr>
          <p:spPr>
            <a:xfrm>
              <a:off x="8181561" y="3748452"/>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CC116"/>
                  </a:solidFill>
                </a:rPr>
                <a:t>•</a:t>
              </a:r>
            </a:p>
          </p:txBody>
        </p:sp>
        <p:sp>
          <p:nvSpPr>
            <p:cNvPr id="70" name="TextBox 69">
              <a:extLst>
                <a:ext uri="{FF2B5EF4-FFF2-40B4-BE49-F238E27FC236}">
                  <a16:creationId xmlns:a16="http://schemas.microsoft.com/office/drawing/2014/main" id="{7AB927FF-FCFF-326E-7120-08BEDA3FD372}"/>
                </a:ext>
              </a:extLst>
            </p:cNvPr>
            <p:cNvSpPr txBox="1"/>
            <p:nvPr/>
          </p:nvSpPr>
          <p:spPr>
            <a:xfrm>
              <a:off x="8080708" y="3525735"/>
              <a:ext cx="34374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solidFill>
                    <a:srgbClr val="FCC116"/>
                  </a:solidFill>
                </a:rPr>
                <a:t>•</a:t>
              </a:r>
            </a:p>
          </p:txBody>
        </p:sp>
      </p:grpSp>
      <p:grpSp>
        <p:nvGrpSpPr>
          <p:cNvPr id="74" name="Group 73">
            <a:extLst>
              <a:ext uri="{FF2B5EF4-FFF2-40B4-BE49-F238E27FC236}">
                <a16:creationId xmlns:a16="http://schemas.microsoft.com/office/drawing/2014/main" id="{A93ACABF-7371-8CFC-376A-8798A1D5B0DE}"/>
              </a:ext>
            </a:extLst>
          </p:cNvPr>
          <p:cNvGrpSpPr/>
          <p:nvPr/>
        </p:nvGrpSpPr>
        <p:grpSpPr>
          <a:xfrm>
            <a:off x="6837246" y="101239"/>
            <a:ext cx="2197702" cy="2343281"/>
            <a:chOff x="6723353" y="84969"/>
            <a:chExt cx="2197702" cy="2343281"/>
          </a:xfrm>
        </p:grpSpPr>
        <p:pic>
          <p:nvPicPr>
            <p:cNvPr id="72" name="Picture 71" descr="A colorful circle with black text&#10;&#10;AI-generated content may be incorrect.">
              <a:extLst>
                <a:ext uri="{FF2B5EF4-FFF2-40B4-BE49-F238E27FC236}">
                  <a16:creationId xmlns:a16="http://schemas.microsoft.com/office/drawing/2014/main" id="{903EF094-0F94-BF41-9B7A-91935C29EDC6}"/>
                </a:ext>
              </a:extLst>
            </p:cNvPr>
            <p:cNvPicPr>
              <a:picLocks noChangeAspect="1"/>
            </p:cNvPicPr>
            <p:nvPr/>
          </p:nvPicPr>
          <p:blipFill>
            <a:blip r:embed="rId5"/>
            <a:srcRect l="249" t="-470" r="-372" b="24340"/>
            <a:stretch/>
          </p:blipFill>
          <p:spPr>
            <a:xfrm>
              <a:off x="6723353" y="84969"/>
              <a:ext cx="2197702" cy="2343281"/>
            </a:xfrm>
            <a:prstGeom prst="rect">
              <a:avLst/>
            </a:prstGeom>
            <a:ln>
              <a:solidFill>
                <a:schemeClr val="bg1">
                  <a:lumMod val="50000"/>
                </a:schemeClr>
              </a:solidFill>
            </a:ln>
          </p:spPr>
        </p:pic>
        <p:pic>
          <p:nvPicPr>
            <p:cNvPr id="73" name="Picture 72" descr="A colorful circle with black text&#10;&#10;AI-generated content may be incorrect.">
              <a:extLst>
                <a:ext uri="{FF2B5EF4-FFF2-40B4-BE49-F238E27FC236}">
                  <a16:creationId xmlns:a16="http://schemas.microsoft.com/office/drawing/2014/main" id="{F21BBBE9-A99A-8C78-708A-C9235A0D78F7}"/>
                </a:ext>
              </a:extLst>
            </p:cNvPr>
            <p:cNvPicPr>
              <a:picLocks noChangeAspect="1"/>
            </p:cNvPicPr>
            <p:nvPr/>
          </p:nvPicPr>
          <p:blipFill>
            <a:blip r:embed="rId5"/>
            <a:srcRect l="-532" t="87240" r="70557" b="-178"/>
            <a:stretch/>
          </p:blipFill>
          <p:spPr>
            <a:xfrm>
              <a:off x="6834224" y="1852314"/>
              <a:ext cx="879839" cy="550247"/>
            </a:xfrm>
            <a:prstGeom prst="rect">
              <a:avLst/>
            </a:prstGeom>
          </p:spPr>
        </p:pic>
      </p:grpSp>
      <p:pic>
        <p:nvPicPr>
          <p:cNvPr id="76" name="Picture 75">
            <a:extLst>
              <a:ext uri="{FF2B5EF4-FFF2-40B4-BE49-F238E27FC236}">
                <a16:creationId xmlns:a16="http://schemas.microsoft.com/office/drawing/2014/main" id="{50926650-F8DA-17D1-7182-913A6B89FAB1}"/>
              </a:ext>
            </a:extLst>
          </p:cNvPr>
          <p:cNvPicPr>
            <a:picLocks noChangeAspect="1"/>
          </p:cNvPicPr>
          <p:nvPr/>
        </p:nvPicPr>
        <p:blipFill>
          <a:blip r:embed="rId6"/>
          <a:stretch>
            <a:fillRect/>
          </a:stretch>
        </p:blipFill>
        <p:spPr>
          <a:xfrm>
            <a:off x="106758" y="2340254"/>
            <a:ext cx="2178244" cy="216907"/>
          </a:xfrm>
          <a:prstGeom prst="rect">
            <a:avLst/>
          </a:prstGeom>
        </p:spPr>
      </p:pic>
    </p:spTree>
    <p:extLst>
      <p:ext uri="{BB962C8B-B14F-4D97-AF65-F5344CB8AC3E}">
        <p14:creationId xmlns:p14="http://schemas.microsoft.com/office/powerpoint/2010/main" val="3120826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F9C4B-154A-F147-BE67-87DCD3A22E6B}"/>
              </a:ext>
            </a:extLst>
          </p:cNvPr>
          <p:cNvSpPr>
            <a:spLocks noGrp="1"/>
          </p:cNvSpPr>
          <p:nvPr>
            <p:ph type="title"/>
          </p:nvPr>
        </p:nvSpPr>
        <p:spPr>
          <a:xfrm>
            <a:off x="553528" y="197517"/>
            <a:ext cx="7891904" cy="795528"/>
          </a:xfrm>
        </p:spPr>
        <p:txBody>
          <a:bodyPr>
            <a:noAutofit/>
          </a:bodyPr>
          <a:lstStyle/>
          <a:p>
            <a:pPr algn="ctr"/>
            <a:r>
              <a:rPr lang="en-GB" sz="2100" b="1">
                <a:latin typeface="Arial"/>
              </a:rPr>
              <a:t>Addressing these goals needs talent, skills, enthusiasm and wisdom from the next generation of achievers </a:t>
            </a:r>
          </a:p>
        </p:txBody>
      </p:sp>
      <p:pic>
        <p:nvPicPr>
          <p:cNvPr id="4" name="Picture 3">
            <a:extLst>
              <a:ext uri="{FF2B5EF4-FFF2-40B4-BE49-F238E27FC236}">
                <a16:creationId xmlns:a16="http://schemas.microsoft.com/office/drawing/2014/main" id="{CE19F0DB-5CD0-EF4C-8616-FACC151912DC}"/>
              </a:ext>
            </a:extLst>
          </p:cNvPr>
          <p:cNvPicPr>
            <a:picLocks noChangeAspect="1"/>
          </p:cNvPicPr>
          <p:nvPr/>
        </p:nvPicPr>
        <p:blipFill>
          <a:blip r:embed="rId2"/>
          <a:stretch>
            <a:fillRect/>
          </a:stretch>
        </p:blipFill>
        <p:spPr>
          <a:xfrm>
            <a:off x="2969931" y="1147401"/>
            <a:ext cx="3201138" cy="4477548"/>
          </a:xfrm>
          <a:prstGeom prst="rect">
            <a:avLst/>
          </a:prstGeom>
        </p:spPr>
      </p:pic>
      <p:sp>
        <p:nvSpPr>
          <p:cNvPr id="5" name="TextBox 4">
            <a:extLst>
              <a:ext uri="{FF2B5EF4-FFF2-40B4-BE49-F238E27FC236}">
                <a16:creationId xmlns:a16="http://schemas.microsoft.com/office/drawing/2014/main" id="{1794947F-2773-5645-8442-F40422E9CF44}"/>
              </a:ext>
            </a:extLst>
          </p:cNvPr>
          <p:cNvSpPr txBox="1"/>
          <p:nvPr/>
        </p:nvSpPr>
        <p:spPr>
          <a:xfrm>
            <a:off x="1471639" y="5806155"/>
            <a:ext cx="6200149" cy="707886"/>
          </a:xfrm>
          <a:prstGeom prst="rect">
            <a:avLst/>
          </a:prstGeom>
          <a:noFill/>
        </p:spPr>
        <p:txBody>
          <a:bodyPr wrap="square" rtlCol="0">
            <a:spAutoFit/>
          </a:bodyPr>
          <a:lstStyle/>
          <a:p>
            <a:pPr algn="ctr"/>
            <a:r>
              <a:rPr lang="en-GB" sz="2000" b="1">
                <a:solidFill>
                  <a:srgbClr val="C00000"/>
                </a:solidFill>
              </a:rPr>
              <a:t>Our aim for this course and degree programme is to equip YOU to address these goals</a:t>
            </a:r>
          </a:p>
        </p:txBody>
      </p:sp>
    </p:spTree>
    <p:extLst>
      <p:ext uri="{BB962C8B-B14F-4D97-AF65-F5344CB8AC3E}">
        <p14:creationId xmlns:p14="http://schemas.microsoft.com/office/powerpoint/2010/main" val="3372867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FE660-7480-344B-8710-A3623F8A1897}"/>
              </a:ext>
            </a:extLst>
          </p:cNvPr>
          <p:cNvSpPr>
            <a:spLocks noGrp="1"/>
          </p:cNvSpPr>
          <p:nvPr>
            <p:ph type="title"/>
          </p:nvPr>
        </p:nvSpPr>
        <p:spPr>
          <a:xfrm>
            <a:off x="1314001" y="99341"/>
            <a:ext cx="6346346" cy="580824"/>
          </a:xfrm>
        </p:spPr>
        <p:txBody>
          <a:bodyPr>
            <a:normAutofit/>
          </a:bodyPr>
          <a:lstStyle/>
          <a:p>
            <a:pPr algn="ctr"/>
            <a:r>
              <a:rPr lang="en-GB" sz="2400" b="1">
                <a:solidFill>
                  <a:srgbClr val="C00000"/>
                </a:solidFill>
                <a:latin typeface="Arial"/>
                <a:cs typeface="Arial"/>
              </a:rPr>
              <a:t>Overall aims of “A Sustainable Planet”</a:t>
            </a:r>
          </a:p>
        </p:txBody>
      </p:sp>
      <p:grpSp>
        <p:nvGrpSpPr>
          <p:cNvPr id="3" name="Group 2">
            <a:extLst>
              <a:ext uri="{FF2B5EF4-FFF2-40B4-BE49-F238E27FC236}">
                <a16:creationId xmlns:a16="http://schemas.microsoft.com/office/drawing/2014/main" id="{5D307AA0-0405-9675-961C-D7004DDDCCE0}"/>
              </a:ext>
            </a:extLst>
          </p:cNvPr>
          <p:cNvGrpSpPr/>
          <p:nvPr/>
        </p:nvGrpSpPr>
        <p:grpSpPr>
          <a:xfrm>
            <a:off x="338856" y="1388675"/>
            <a:ext cx="8317031" cy="4585698"/>
            <a:chOff x="1070442" y="1863126"/>
            <a:chExt cx="6624332" cy="3679165"/>
          </a:xfrm>
        </p:grpSpPr>
        <p:pic>
          <p:nvPicPr>
            <p:cNvPr id="4" name="Picture 3">
              <a:extLst>
                <a:ext uri="{FF2B5EF4-FFF2-40B4-BE49-F238E27FC236}">
                  <a16:creationId xmlns:a16="http://schemas.microsoft.com/office/drawing/2014/main" id="{985103F6-4BA6-AB42-A05B-A83AD59C1CB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566048" y="3105096"/>
              <a:ext cx="1828886" cy="1394586"/>
            </a:xfrm>
            <a:prstGeom prst="rect">
              <a:avLst/>
            </a:prstGeom>
          </p:spPr>
        </p:pic>
        <p:sp>
          <p:nvSpPr>
            <p:cNvPr id="5" name="Rectangle 4">
              <a:extLst>
                <a:ext uri="{FF2B5EF4-FFF2-40B4-BE49-F238E27FC236}">
                  <a16:creationId xmlns:a16="http://schemas.microsoft.com/office/drawing/2014/main" id="{CD67B5C5-2126-9948-B0F0-4FB3AB6AACCB}"/>
                </a:ext>
              </a:extLst>
            </p:cNvPr>
            <p:cNvSpPr/>
            <p:nvPr/>
          </p:nvSpPr>
          <p:spPr>
            <a:xfrm>
              <a:off x="1707132" y="1863126"/>
              <a:ext cx="2189559" cy="1043293"/>
            </a:xfrm>
            <a:prstGeom prst="rect">
              <a:avLst/>
            </a:prstGeom>
            <a:ln w="25400">
              <a:solidFill>
                <a:schemeClr val="accent6">
                  <a:lumMod val="75000"/>
                </a:schemeClr>
              </a:solidFill>
            </a:ln>
          </p:spPr>
          <p:txBody>
            <a:bodyPr wrap="square" lIns="68580" tIns="34290" rIns="68580" bIns="34290" anchor="t">
              <a:spAutoFit/>
            </a:bodyPr>
            <a:lstStyle/>
            <a:p>
              <a:pPr algn="ctr"/>
              <a:r>
                <a:rPr lang="en-GB" sz="1600">
                  <a:latin typeface="Helvetica"/>
                  <a:cs typeface="Calibri"/>
                </a:rPr>
                <a:t>Provide an overview of key </a:t>
              </a:r>
              <a:r>
                <a:rPr lang="en-GB" sz="1600" b="1">
                  <a:latin typeface="Helvetica"/>
                  <a:cs typeface="Calibri"/>
                </a:rPr>
                <a:t>global sustainable development challenges </a:t>
              </a:r>
              <a:r>
                <a:rPr lang="en-GB" sz="1600">
                  <a:latin typeface="Helvetica"/>
                  <a:cs typeface="Calibri"/>
                </a:rPr>
                <a:t>related to environmental science</a:t>
              </a:r>
            </a:p>
          </p:txBody>
        </p:sp>
        <p:sp>
          <p:nvSpPr>
            <p:cNvPr id="6" name="Rectangle 5">
              <a:extLst>
                <a:ext uri="{FF2B5EF4-FFF2-40B4-BE49-F238E27FC236}">
                  <a16:creationId xmlns:a16="http://schemas.microsoft.com/office/drawing/2014/main" id="{88CF4706-45D9-AA40-A5DE-3D69D0C1932D}"/>
                </a:ext>
              </a:extLst>
            </p:cNvPr>
            <p:cNvSpPr/>
            <p:nvPr/>
          </p:nvSpPr>
          <p:spPr>
            <a:xfrm>
              <a:off x="1070442" y="3567954"/>
              <a:ext cx="2203330" cy="845746"/>
            </a:xfrm>
            <a:prstGeom prst="rect">
              <a:avLst/>
            </a:prstGeom>
            <a:ln w="25400">
              <a:solidFill>
                <a:schemeClr val="accent6">
                  <a:lumMod val="75000"/>
                </a:schemeClr>
              </a:solidFill>
            </a:ln>
          </p:spPr>
          <p:txBody>
            <a:bodyPr wrap="square" lIns="68580" tIns="34290" rIns="68580" bIns="34290" anchor="t">
              <a:spAutoFit/>
            </a:bodyPr>
            <a:lstStyle/>
            <a:p>
              <a:pPr algn="ctr"/>
              <a:r>
                <a:rPr lang="en-GB" sz="1600">
                  <a:latin typeface="Helvetica"/>
                  <a:cs typeface="Calibri"/>
                </a:rPr>
                <a:t>Show how sustainable development issues relate to both </a:t>
              </a:r>
              <a:r>
                <a:rPr lang="en-GB" sz="1600" b="1">
                  <a:latin typeface="Helvetica"/>
                  <a:cs typeface="Calibri"/>
                </a:rPr>
                <a:t>developed and less-developed nations</a:t>
              </a:r>
            </a:p>
          </p:txBody>
        </p:sp>
        <p:sp>
          <p:nvSpPr>
            <p:cNvPr id="7" name="Rectangle 6">
              <a:extLst>
                <a:ext uri="{FF2B5EF4-FFF2-40B4-BE49-F238E27FC236}">
                  <a16:creationId xmlns:a16="http://schemas.microsoft.com/office/drawing/2014/main" id="{270DBFDD-6762-3649-BE87-DF633E6390E8}"/>
                </a:ext>
              </a:extLst>
            </p:cNvPr>
            <p:cNvSpPr/>
            <p:nvPr/>
          </p:nvSpPr>
          <p:spPr>
            <a:xfrm>
              <a:off x="4639395" y="1864744"/>
              <a:ext cx="2702673" cy="1043293"/>
            </a:xfrm>
            <a:prstGeom prst="rect">
              <a:avLst/>
            </a:prstGeom>
            <a:ln w="25400">
              <a:solidFill>
                <a:schemeClr val="accent6">
                  <a:lumMod val="75000"/>
                </a:schemeClr>
              </a:solidFill>
            </a:ln>
          </p:spPr>
          <p:txBody>
            <a:bodyPr wrap="square" lIns="68580" tIns="34290" rIns="68580" bIns="34290" anchor="t">
              <a:spAutoFit/>
            </a:bodyPr>
            <a:lstStyle/>
            <a:p>
              <a:pPr algn="ctr"/>
              <a:r>
                <a:rPr lang="en-GB" sz="1600">
                  <a:latin typeface="Helvetica"/>
                  <a:cs typeface="Calibri"/>
                </a:rPr>
                <a:t>Highlight examples (often in peer-reviewed journals) illustrating the </a:t>
              </a:r>
              <a:r>
                <a:rPr lang="en-GB" sz="1600" b="1">
                  <a:latin typeface="Helvetica"/>
                  <a:cs typeface="Calibri"/>
                </a:rPr>
                <a:t>scale, breadth, complexity and uncertainty </a:t>
              </a:r>
              <a:r>
                <a:rPr lang="en-GB" sz="1600">
                  <a:latin typeface="Helvetica"/>
                  <a:cs typeface="Calibri"/>
                </a:rPr>
                <a:t>surrounding these key challenges</a:t>
              </a:r>
            </a:p>
          </p:txBody>
        </p:sp>
        <p:sp>
          <p:nvSpPr>
            <p:cNvPr id="8" name="Rectangle 7">
              <a:extLst>
                <a:ext uri="{FF2B5EF4-FFF2-40B4-BE49-F238E27FC236}">
                  <a16:creationId xmlns:a16="http://schemas.microsoft.com/office/drawing/2014/main" id="{BFD06A38-7953-4B4F-BC4B-F92C84C55BC4}"/>
                </a:ext>
              </a:extLst>
            </p:cNvPr>
            <p:cNvSpPr/>
            <p:nvPr/>
          </p:nvSpPr>
          <p:spPr>
            <a:xfrm>
              <a:off x="3259189" y="4696545"/>
              <a:ext cx="2462102" cy="845746"/>
            </a:xfrm>
            <a:prstGeom prst="rect">
              <a:avLst/>
            </a:prstGeom>
            <a:ln w="25400">
              <a:solidFill>
                <a:schemeClr val="accent6">
                  <a:lumMod val="75000"/>
                </a:schemeClr>
              </a:solidFill>
            </a:ln>
          </p:spPr>
          <p:txBody>
            <a:bodyPr wrap="square" lIns="68580" tIns="34290" rIns="68580" bIns="34290" anchor="t">
              <a:spAutoFit/>
            </a:bodyPr>
            <a:lstStyle/>
            <a:p>
              <a:pPr algn="ctr"/>
              <a:r>
                <a:rPr lang="en-GB" sz="1600">
                  <a:latin typeface="Helvetica"/>
                  <a:cs typeface="Calibri"/>
                </a:rPr>
                <a:t>Provide some key </a:t>
              </a:r>
              <a:r>
                <a:rPr lang="en-GB" sz="1600" b="1">
                  <a:latin typeface="Helvetica"/>
                  <a:cs typeface="Calibri"/>
                </a:rPr>
                <a:t>fundamental knowledge </a:t>
              </a:r>
              <a:r>
                <a:rPr lang="en-GB" sz="1600">
                  <a:latin typeface="Helvetica"/>
                  <a:cs typeface="Calibri"/>
                </a:rPr>
                <a:t>of concepts and mechanism underpinning global challenges</a:t>
              </a:r>
            </a:p>
          </p:txBody>
        </p:sp>
        <p:sp>
          <p:nvSpPr>
            <p:cNvPr id="9" name="Rectangle 8">
              <a:extLst>
                <a:ext uri="{FF2B5EF4-FFF2-40B4-BE49-F238E27FC236}">
                  <a16:creationId xmlns:a16="http://schemas.microsoft.com/office/drawing/2014/main" id="{410E9227-A604-904A-BB9F-733E509B716A}"/>
                </a:ext>
              </a:extLst>
            </p:cNvPr>
            <p:cNvSpPr/>
            <p:nvPr/>
          </p:nvSpPr>
          <p:spPr>
            <a:xfrm>
              <a:off x="5593318" y="3629405"/>
              <a:ext cx="2101456" cy="845746"/>
            </a:xfrm>
            <a:prstGeom prst="rect">
              <a:avLst/>
            </a:prstGeom>
            <a:ln w="25400">
              <a:solidFill>
                <a:schemeClr val="accent6">
                  <a:lumMod val="75000"/>
                </a:schemeClr>
              </a:solidFill>
            </a:ln>
          </p:spPr>
          <p:txBody>
            <a:bodyPr wrap="square" lIns="68580" tIns="34290" rIns="68580" bIns="34290" anchor="t">
              <a:spAutoFit/>
            </a:bodyPr>
            <a:lstStyle/>
            <a:p>
              <a:pPr algn="ctr"/>
              <a:r>
                <a:rPr lang="en-GB" sz="1600">
                  <a:cs typeface="Calibri"/>
                </a:rPr>
                <a:t>Provide insight into </a:t>
              </a:r>
              <a:r>
                <a:rPr lang="en-GB" sz="1600" b="1">
                  <a:cs typeface="Calibri"/>
                </a:rPr>
                <a:t>promising solutions </a:t>
              </a:r>
              <a:r>
                <a:rPr lang="en-GB" sz="1600">
                  <a:cs typeface="Calibri"/>
                </a:rPr>
                <a:t>to tackle global sustainable development issues</a:t>
              </a:r>
            </a:p>
          </p:txBody>
        </p:sp>
      </p:grpSp>
    </p:spTree>
    <p:extLst>
      <p:ext uri="{BB962C8B-B14F-4D97-AF65-F5344CB8AC3E}">
        <p14:creationId xmlns:p14="http://schemas.microsoft.com/office/powerpoint/2010/main" val="5211274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9969F-D9F5-4740-A228-BC7DCF6BB118}"/>
              </a:ext>
            </a:extLst>
          </p:cNvPr>
          <p:cNvSpPr>
            <a:spLocks noGrp="1"/>
          </p:cNvSpPr>
          <p:nvPr>
            <p:ph type="title"/>
          </p:nvPr>
        </p:nvSpPr>
        <p:spPr>
          <a:xfrm>
            <a:off x="449921" y="354718"/>
            <a:ext cx="5915025" cy="534097"/>
          </a:xfrm>
        </p:spPr>
        <p:txBody>
          <a:bodyPr>
            <a:normAutofit fontScale="90000"/>
          </a:bodyPr>
          <a:lstStyle/>
          <a:p>
            <a:r>
              <a:rPr lang="en-GB" sz="3600" b="1">
                <a:solidFill>
                  <a:srgbClr val="C00000"/>
                </a:solidFill>
                <a:latin typeface="Helvetica"/>
              </a:rPr>
              <a:t>Aims for today</a:t>
            </a:r>
          </a:p>
        </p:txBody>
      </p:sp>
      <p:sp>
        <p:nvSpPr>
          <p:cNvPr id="3" name="Content Placeholder 2">
            <a:extLst>
              <a:ext uri="{FF2B5EF4-FFF2-40B4-BE49-F238E27FC236}">
                <a16:creationId xmlns:a16="http://schemas.microsoft.com/office/drawing/2014/main" id="{AA2C9BAD-8F33-D14B-A8AF-FBB926D4C8DD}"/>
              </a:ext>
            </a:extLst>
          </p:cNvPr>
          <p:cNvSpPr>
            <a:spLocks noGrp="1"/>
          </p:cNvSpPr>
          <p:nvPr>
            <p:ph idx="1"/>
          </p:nvPr>
        </p:nvSpPr>
        <p:spPr>
          <a:xfrm>
            <a:off x="241593" y="1422774"/>
            <a:ext cx="8660524" cy="3622938"/>
          </a:xfrm>
        </p:spPr>
        <p:txBody>
          <a:bodyPr>
            <a:normAutofit/>
          </a:bodyPr>
          <a:lstStyle/>
          <a:p>
            <a:r>
              <a:rPr lang="en-GB" sz="2400">
                <a:latin typeface="Helvetica"/>
              </a:rPr>
              <a:t>Provide an overview of the </a:t>
            </a:r>
            <a:r>
              <a:rPr lang="en-GB" sz="2400">
                <a:solidFill>
                  <a:srgbClr val="C00000"/>
                </a:solidFill>
                <a:latin typeface="Helvetica"/>
              </a:rPr>
              <a:t>structure of the course</a:t>
            </a:r>
          </a:p>
          <a:p>
            <a:endParaRPr lang="en-GB" sz="2400">
              <a:latin typeface="Helvetica"/>
            </a:endParaRPr>
          </a:p>
          <a:p>
            <a:r>
              <a:rPr lang="en-GB" sz="2400">
                <a:latin typeface="Helvetica"/>
              </a:rPr>
              <a:t>Introduce you to the United Nation’s </a:t>
            </a:r>
            <a:r>
              <a:rPr lang="en-GB" sz="2400">
                <a:solidFill>
                  <a:srgbClr val="C00000"/>
                </a:solidFill>
                <a:latin typeface="Helvetica"/>
              </a:rPr>
              <a:t>‘Sustainable Development Goals’</a:t>
            </a:r>
          </a:p>
          <a:p>
            <a:endParaRPr lang="en-GB" sz="2400">
              <a:latin typeface="Helvetica"/>
            </a:endParaRPr>
          </a:p>
          <a:p>
            <a:r>
              <a:rPr lang="en-GB" sz="2400">
                <a:latin typeface="Helvetica"/>
              </a:rPr>
              <a:t>Highlight how your skills and interests and degree programme are </a:t>
            </a:r>
            <a:r>
              <a:rPr lang="en-GB" sz="2400">
                <a:solidFill>
                  <a:srgbClr val="C00000"/>
                </a:solidFill>
                <a:latin typeface="Helvetica"/>
              </a:rPr>
              <a:t>relevant to solving society’s ‘grand challenges’</a:t>
            </a:r>
            <a:r>
              <a:rPr lang="en-GB" sz="2400">
                <a:latin typeface="Helvetica"/>
              </a:rPr>
              <a:t> and tackling sustainable development goals</a:t>
            </a:r>
          </a:p>
        </p:txBody>
      </p:sp>
      <p:pic>
        <p:nvPicPr>
          <p:cNvPr id="4" name="Graphic 3" descr="Open hand with plant outline">
            <a:extLst>
              <a:ext uri="{FF2B5EF4-FFF2-40B4-BE49-F238E27FC236}">
                <a16:creationId xmlns:a16="http://schemas.microsoft.com/office/drawing/2014/main" id="{211332E5-BFFE-C5B6-E65C-5B46A0AC57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3000" y="5044440"/>
            <a:ext cx="1584960" cy="1592580"/>
          </a:xfrm>
          <a:prstGeom prst="rect">
            <a:avLst/>
          </a:prstGeom>
        </p:spPr>
      </p:pic>
      <p:pic>
        <p:nvPicPr>
          <p:cNvPr id="5" name="Graphic 4" descr="Puzzle outline">
            <a:extLst>
              <a:ext uri="{FF2B5EF4-FFF2-40B4-BE49-F238E27FC236}">
                <a16:creationId xmlns:a16="http://schemas.microsoft.com/office/drawing/2014/main" id="{3F8AF8B1-BAF3-3D5D-5D4B-04A6609B96C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62700" y="5219700"/>
            <a:ext cx="1394460" cy="1417320"/>
          </a:xfrm>
          <a:prstGeom prst="rect">
            <a:avLst/>
          </a:prstGeom>
        </p:spPr>
      </p:pic>
      <p:pic>
        <p:nvPicPr>
          <p:cNvPr id="6" name="Picture 5" descr="A colorful circle with different colored rectangles&#10;&#10;AI-generated content may be incorrect.">
            <a:extLst>
              <a:ext uri="{FF2B5EF4-FFF2-40B4-BE49-F238E27FC236}">
                <a16:creationId xmlns:a16="http://schemas.microsoft.com/office/drawing/2014/main" id="{A90D2B3F-3F4A-EE27-452D-8A918CBF23D2}"/>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3718560" y="5212080"/>
            <a:ext cx="1424940" cy="1440180"/>
          </a:xfrm>
          <a:prstGeom prst="rect">
            <a:avLst/>
          </a:prstGeom>
        </p:spPr>
      </p:pic>
    </p:spTree>
    <p:extLst>
      <p:ext uri="{BB962C8B-B14F-4D97-AF65-F5344CB8AC3E}">
        <p14:creationId xmlns:p14="http://schemas.microsoft.com/office/powerpoint/2010/main" val="1803941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55422E-593F-4841-A43E-C1424FA6A819}"/>
              </a:ext>
            </a:extLst>
          </p:cNvPr>
          <p:cNvSpPr txBox="1"/>
          <p:nvPr/>
        </p:nvSpPr>
        <p:spPr>
          <a:xfrm>
            <a:off x="5353152" y="574649"/>
            <a:ext cx="3589049" cy="5378395"/>
          </a:xfrm>
          <a:prstGeom prst="rect">
            <a:avLst/>
          </a:prstGeom>
          <a:noFill/>
        </p:spPr>
        <p:txBody>
          <a:bodyPr wrap="square" lIns="91440" tIns="45720" rIns="91440" bIns="45720" rtlCol="0" anchor="t">
            <a:spAutoFit/>
          </a:bodyPr>
          <a:lstStyle/>
          <a:p>
            <a:r>
              <a:rPr lang="en-GB" sz="2000" b="1">
                <a:solidFill>
                  <a:srgbClr val="CC9931"/>
                </a:solidFill>
                <a:latin typeface="Helvetica"/>
                <a:cs typeface="Helvetica"/>
              </a:rPr>
              <a:t>Key environmental science related challenges:</a:t>
            </a:r>
          </a:p>
          <a:p>
            <a:pPr marL="171450" indent="-171450">
              <a:buChar char="•"/>
            </a:pPr>
            <a:endParaRPr lang="en-GB" sz="1800">
              <a:latin typeface="Helvetica"/>
              <a:cs typeface="Helvetica"/>
            </a:endParaRPr>
          </a:p>
          <a:p>
            <a:pPr marL="171450" indent="-171450">
              <a:buChar char="•"/>
            </a:pPr>
            <a:r>
              <a:rPr lang="en-GB" sz="1800">
                <a:latin typeface="Helvetica"/>
                <a:cs typeface="Helvetica"/>
              </a:rPr>
              <a:t>More food needed, using </a:t>
            </a:r>
            <a:r>
              <a:rPr lang="en-GB" sz="1800" b="1">
                <a:latin typeface="Helvetica"/>
                <a:cs typeface="Helvetica"/>
              </a:rPr>
              <a:t>fewer resources</a:t>
            </a:r>
          </a:p>
          <a:p>
            <a:pPr marL="171450" indent="-171450">
              <a:buChar char="•"/>
            </a:pPr>
            <a:endParaRPr lang="en-GB" sz="1800">
              <a:latin typeface="Helvetica"/>
              <a:cs typeface="Helvetica"/>
            </a:endParaRPr>
          </a:p>
          <a:p>
            <a:pPr marL="171450" indent="-171450">
              <a:buChar char="•"/>
            </a:pPr>
            <a:r>
              <a:rPr lang="en-GB" sz="1800" b="1">
                <a:latin typeface="Helvetica"/>
                <a:cs typeface="Helvetica"/>
              </a:rPr>
              <a:t>Reduce environmental impact </a:t>
            </a:r>
            <a:r>
              <a:rPr lang="en-GB" sz="1800">
                <a:latin typeface="Helvetica"/>
                <a:cs typeface="Helvetica"/>
              </a:rPr>
              <a:t>of growing and distributing this food</a:t>
            </a:r>
          </a:p>
          <a:p>
            <a:pPr marL="171450" indent="-171450">
              <a:buChar char="•"/>
            </a:pPr>
            <a:endParaRPr lang="en-GB" sz="1800">
              <a:latin typeface="Helvetica"/>
              <a:cs typeface="Helvetica"/>
            </a:endParaRPr>
          </a:p>
          <a:p>
            <a:pPr marL="171450" indent="-171450">
              <a:buChar char="•"/>
            </a:pPr>
            <a:r>
              <a:rPr lang="en-GB" sz="1800">
                <a:latin typeface="Helvetica"/>
                <a:cs typeface="Helvetica"/>
              </a:rPr>
              <a:t>Identify new ways to grow food, extract plant-growth </a:t>
            </a:r>
            <a:r>
              <a:rPr lang="en-GB" sz="1800" b="1">
                <a:latin typeface="Helvetica"/>
                <a:cs typeface="Helvetica"/>
              </a:rPr>
              <a:t>limiting resources</a:t>
            </a:r>
          </a:p>
          <a:p>
            <a:pPr marL="171450" indent="-171450">
              <a:buChar char="•"/>
            </a:pPr>
            <a:endParaRPr lang="en-GB" sz="1800">
              <a:latin typeface="Helvetica"/>
              <a:cs typeface="Helvetica"/>
            </a:endParaRPr>
          </a:p>
          <a:p>
            <a:pPr marL="171450" indent="-171450">
              <a:buChar char="•"/>
            </a:pPr>
            <a:r>
              <a:rPr lang="en-GB" sz="1800">
                <a:latin typeface="Helvetica"/>
                <a:cs typeface="Helvetica"/>
              </a:rPr>
              <a:t>Ensure farming system</a:t>
            </a:r>
            <a:r>
              <a:rPr lang="en-GB" sz="2000">
                <a:latin typeface="Helvetica"/>
                <a:cs typeface="Helvetica"/>
              </a:rPr>
              <a:t>s</a:t>
            </a:r>
            <a:r>
              <a:rPr lang="en-GB" sz="1800">
                <a:latin typeface="Helvetica"/>
                <a:cs typeface="Helvetica"/>
              </a:rPr>
              <a:t> are </a:t>
            </a:r>
            <a:r>
              <a:rPr lang="en-GB" sz="1800" b="1">
                <a:latin typeface="Helvetica"/>
                <a:cs typeface="Helvetica"/>
              </a:rPr>
              <a:t>resilient</a:t>
            </a:r>
            <a:r>
              <a:rPr lang="en-GB" sz="1800">
                <a:latin typeface="Helvetica"/>
                <a:cs typeface="Helvetica"/>
              </a:rPr>
              <a:t> to perturbations and pests</a:t>
            </a:r>
          </a:p>
          <a:p>
            <a:endParaRPr lang="en-GB" sz="1050">
              <a:latin typeface="Helvetica"/>
              <a:cs typeface="Helvetica"/>
            </a:endParaRPr>
          </a:p>
          <a:p>
            <a:endParaRPr lang="en-GB" sz="1050">
              <a:latin typeface="Helvetica"/>
              <a:cs typeface="Helvetica"/>
            </a:endParaRPr>
          </a:p>
          <a:p>
            <a:endParaRPr lang="en-GB" sz="1050">
              <a:latin typeface="Helvetica"/>
              <a:cs typeface="Helvetica"/>
            </a:endParaRPr>
          </a:p>
        </p:txBody>
      </p:sp>
      <p:pic>
        <p:nvPicPr>
          <p:cNvPr id="2" name="Picture 1" descr="A yellow and white infographic&#10;&#10;AI-generated content may be incorrect.">
            <a:extLst>
              <a:ext uri="{FF2B5EF4-FFF2-40B4-BE49-F238E27FC236}">
                <a16:creationId xmlns:a16="http://schemas.microsoft.com/office/drawing/2014/main" id="{A23000B1-DE5F-1CC9-A77D-9FEDD5171C6C}"/>
              </a:ext>
            </a:extLst>
          </p:cNvPr>
          <p:cNvPicPr>
            <a:picLocks noChangeAspect="1"/>
          </p:cNvPicPr>
          <p:nvPr/>
        </p:nvPicPr>
        <p:blipFill>
          <a:blip r:embed="rId2"/>
          <a:srcRect l="4494" t="5648" r="4213" b="1216"/>
          <a:stretch/>
        </p:blipFill>
        <p:spPr>
          <a:xfrm>
            <a:off x="188560" y="81013"/>
            <a:ext cx="4897923" cy="6690828"/>
          </a:xfrm>
          <a:prstGeom prst="rect">
            <a:avLst/>
          </a:prstGeom>
        </p:spPr>
      </p:pic>
      <p:sp>
        <p:nvSpPr>
          <p:cNvPr id="3" name="TextBox 2">
            <a:extLst>
              <a:ext uri="{FF2B5EF4-FFF2-40B4-BE49-F238E27FC236}">
                <a16:creationId xmlns:a16="http://schemas.microsoft.com/office/drawing/2014/main" id="{B91C95DD-9D91-8BBF-12F4-48868D6AD028}"/>
              </a:ext>
            </a:extLst>
          </p:cNvPr>
          <p:cNvSpPr txBox="1"/>
          <p:nvPr/>
        </p:nvSpPr>
        <p:spPr>
          <a:xfrm>
            <a:off x="5909492" y="6228423"/>
            <a:ext cx="27432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EB1731"/>
                </a:solidFill>
              </a:rPr>
              <a:t>Regression</a:t>
            </a:r>
          </a:p>
        </p:txBody>
      </p:sp>
    </p:spTree>
    <p:extLst>
      <p:ext uri="{BB962C8B-B14F-4D97-AF65-F5344CB8AC3E}">
        <p14:creationId xmlns:p14="http://schemas.microsoft.com/office/powerpoint/2010/main" val="2468828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http://www.tailings.info/assets/images/content/CPL.jpg">
            <a:extLst>
              <a:ext uri="{FF2B5EF4-FFF2-40B4-BE49-F238E27FC236}">
                <a16:creationId xmlns:a16="http://schemas.microsoft.com/office/drawing/2014/main" id="{7C11766B-2FAE-0846-AAF9-E19934B08DFF}"/>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40223" y="3429001"/>
            <a:ext cx="4193361" cy="28302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CA23E70-FDD4-CA44-9C04-984B69B24E7C}"/>
              </a:ext>
            </a:extLst>
          </p:cNvPr>
          <p:cNvSpPr txBox="1"/>
          <p:nvPr/>
        </p:nvSpPr>
        <p:spPr>
          <a:xfrm>
            <a:off x="593734" y="6259252"/>
            <a:ext cx="2784429" cy="253916"/>
          </a:xfrm>
          <a:prstGeom prst="rect">
            <a:avLst/>
          </a:prstGeom>
          <a:noFill/>
        </p:spPr>
        <p:txBody>
          <a:bodyPr wrap="square" rtlCol="0">
            <a:spAutoFit/>
          </a:bodyPr>
          <a:lstStyle/>
          <a:p>
            <a:r>
              <a:rPr lang="en-GB" sz="1050" i="1" dirty="0" err="1"/>
              <a:t>Boulby</a:t>
            </a:r>
            <a:r>
              <a:rPr lang="en-GB" sz="1050" i="1" dirty="0"/>
              <a:t> potash mine, UK</a:t>
            </a:r>
          </a:p>
        </p:txBody>
      </p:sp>
      <p:pic>
        <p:nvPicPr>
          <p:cNvPr id="10" name="Picture 2" descr="http://www.bbc.co.uk/schools/gcsebitesize/science/images/triple_science/017_bitesize_gcse_tschemistry_theproductionofammonia_haberprocess_464.gif"/>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rcRect/>
          <a:stretch>
            <a:fillRect/>
          </a:stretch>
        </p:blipFill>
        <p:spPr bwMode="auto">
          <a:xfrm>
            <a:off x="4680857" y="212125"/>
            <a:ext cx="2758169" cy="294838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176037" y="2748893"/>
            <a:ext cx="1000126" cy="415498"/>
          </a:xfrm>
          <a:prstGeom prst="rect">
            <a:avLst/>
          </a:prstGeom>
          <a:noFill/>
        </p:spPr>
        <p:txBody>
          <a:bodyPr wrap="square" rtlCol="0">
            <a:spAutoFit/>
          </a:bodyPr>
          <a:lstStyle/>
          <a:p>
            <a:r>
              <a:rPr lang="en-GB" sz="1050" i="1"/>
              <a:t>Haber-Bosch Process</a:t>
            </a:r>
          </a:p>
        </p:txBody>
      </p:sp>
      <p:sp>
        <p:nvSpPr>
          <p:cNvPr id="4" name="TextBox 3"/>
          <p:cNvSpPr txBox="1"/>
          <p:nvPr/>
        </p:nvSpPr>
        <p:spPr>
          <a:xfrm>
            <a:off x="593734" y="471790"/>
            <a:ext cx="3869410" cy="369332"/>
          </a:xfrm>
          <a:prstGeom prst="rect">
            <a:avLst/>
          </a:prstGeom>
          <a:noFill/>
        </p:spPr>
        <p:txBody>
          <a:bodyPr wrap="square" rtlCol="0">
            <a:spAutoFit/>
          </a:bodyPr>
          <a:lstStyle/>
          <a:p>
            <a:r>
              <a:rPr lang="en-GB" sz="1800" b="1"/>
              <a:t>Soils and fertilizers as resources</a:t>
            </a:r>
          </a:p>
        </p:txBody>
      </p:sp>
      <p:pic>
        <p:nvPicPr>
          <p:cNvPr id="15" name="Picture 14">
            <a:extLst>
              <a:ext uri="{FF2B5EF4-FFF2-40B4-BE49-F238E27FC236}">
                <a16:creationId xmlns:a16="http://schemas.microsoft.com/office/drawing/2014/main" id="{DC31DE61-2C6C-4C55-BF7D-250B39724F35}"/>
              </a:ext>
            </a:extLst>
          </p:cNvPr>
          <p:cNvPicPr>
            <a:picLocks noChangeAspect="1"/>
          </p:cNvPicPr>
          <p:nvPr/>
        </p:nvPicPr>
        <p:blipFill>
          <a:blip r:embed="rId4"/>
          <a:stretch>
            <a:fillRect/>
          </a:stretch>
        </p:blipFill>
        <p:spPr>
          <a:xfrm>
            <a:off x="321039" y="1014307"/>
            <a:ext cx="3964325" cy="2266310"/>
          </a:xfrm>
          <a:prstGeom prst="rect">
            <a:avLst/>
          </a:prstGeom>
        </p:spPr>
      </p:pic>
      <p:pic>
        <p:nvPicPr>
          <p:cNvPr id="16" name="Picture 5">
            <a:extLst>
              <a:ext uri="{FF2B5EF4-FFF2-40B4-BE49-F238E27FC236}">
                <a16:creationId xmlns:a16="http://schemas.microsoft.com/office/drawing/2014/main" id="{2AED81A4-2B03-4E42-B9DE-0895FD1FCF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79734" y="3432161"/>
            <a:ext cx="3697728" cy="2794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a:extLst>
              <a:ext uri="{FF2B5EF4-FFF2-40B4-BE49-F238E27FC236}">
                <a16:creationId xmlns:a16="http://schemas.microsoft.com/office/drawing/2014/main" id="{1D699FA6-A0EB-6F4B-BC37-0071EE6C4014}"/>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3071" r="3746"/>
          <a:stretch/>
        </p:blipFill>
        <p:spPr>
          <a:xfrm>
            <a:off x="7884795" y="-26669"/>
            <a:ext cx="1259205" cy="1317123"/>
          </a:xfrm>
          <a:prstGeom prst="rect">
            <a:avLst/>
          </a:prstGeom>
        </p:spPr>
      </p:pic>
      <p:sp>
        <p:nvSpPr>
          <p:cNvPr id="18" name="TextBox 17">
            <a:extLst>
              <a:ext uri="{FF2B5EF4-FFF2-40B4-BE49-F238E27FC236}">
                <a16:creationId xmlns:a16="http://schemas.microsoft.com/office/drawing/2014/main" id="{2010C20D-783D-4810-8826-A9A18E6D39F5}"/>
              </a:ext>
            </a:extLst>
          </p:cNvPr>
          <p:cNvSpPr txBox="1"/>
          <p:nvPr/>
        </p:nvSpPr>
        <p:spPr>
          <a:xfrm>
            <a:off x="5176037" y="6259252"/>
            <a:ext cx="2649301" cy="253916"/>
          </a:xfrm>
          <a:prstGeom prst="rect">
            <a:avLst/>
          </a:prstGeom>
          <a:noFill/>
        </p:spPr>
        <p:txBody>
          <a:bodyPr wrap="square">
            <a:spAutoFit/>
          </a:bodyPr>
          <a:lstStyle/>
          <a:p>
            <a:r>
              <a:rPr lang="en-GB" sz="1050" dirty="0"/>
              <a:t>Apatite-Ca</a:t>
            </a:r>
            <a:r>
              <a:rPr lang="en-GB" sz="1050" baseline="-25000" dirty="0"/>
              <a:t>5</a:t>
            </a:r>
            <a:r>
              <a:rPr lang="en-GB" sz="1050" dirty="0"/>
              <a:t>(PO</a:t>
            </a:r>
            <a:r>
              <a:rPr lang="en-GB" sz="1050" baseline="-25000" dirty="0"/>
              <a:t>4</a:t>
            </a:r>
            <a:r>
              <a:rPr lang="en-GB" sz="1050" dirty="0"/>
              <a:t>)</a:t>
            </a:r>
            <a:r>
              <a:rPr lang="en-GB" sz="1050" baseline="-25000" dirty="0"/>
              <a:t>3</a:t>
            </a:r>
            <a:r>
              <a:rPr lang="en-GB" sz="1050" dirty="0"/>
              <a:t>(</a:t>
            </a:r>
            <a:r>
              <a:rPr lang="en-GB" sz="1050" dirty="0" err="1"/>
              <a:t>F,Cl,OH</a:t>
            </a:r>
            <a:r>
              <a:rPr lang="en-GB" sz="1050" dirty="0"/>
              <a:t>)</a:t>
            </a:r>
            <a:r>
              <a:rPr lang="en-GB" sz="1050" baseline="-25000" dirty="0"/>
              <a:t>2</a:t>
            </a:r>
          </a:p>
        </p:txBody>
      </p:sp>
    </p:spTree>
    <p:extLst>
      <p:ext uri="{BB962C8B-B14F-4D97-AF65-F5344CB8AC3E}">
        <p14:creationId xmlns:p14="http://schemas.microsoft.com/office/powerpoint/2010/main" val="1804790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20" name="Google Shape;120;gb9d9d863d4_0_0"/>
          <p:cNvPicPr preferRelativeResize="0"/>
          <p:nvPr/>
        </p:nvPicPr>
        <p:blipFill>
          <a:blip r:embed="rId3">
            <a:alphaModFix/>
          </a:blip>
          <a:stretch>
            <a:fillRect/>
          </a:stretch>
        </p:blipFill>
        <p:spPr>
          <a:xfrm>
            <a:off x="280024" y="150356"/>
            <a:ext cx="7639988" cy="6367355"/>
          </a:xfrm>
          <a:prstGeom prst="rect">
            <a:avLst/>
          </a:prstGeom>
          <a:noFill/>
          <a:ln>
            <a:noFill/>
          </a:ln>
        </p:spPr>
      </p:pic>
      <p:sp>
        <p:nvSpPr>
          <p:cNvPr id="121" name="Google Shape;121;gb9d9d863d4_0_0"/>
          <p:cNvSpPr txBox="1"/>
          <p:nvPr/>
        </p:nvSpPr>
        <p:spPr>
          <a:xfrm>
            <a:off x="33244" y="6558330"/>
            <a:ext cx="4499100" cy="300150"/>
          </a:xfrm>
          <a:prstGeom prst="rect">
            <a:avLst/>
          </a:prstGeom>
          <a:noFill/>
          <a:ln>
            <a:noFill/>
          </a:ln>
        </p:spPr>
        <p:txBody>
          <a:bodyPr spcFirstLastPara="1" wrap="square" lIns="68569" tIns="68569" rIns="68569" bIns="68569" anchor="t" anchorCtr="0">
            <a:spAutoFit/>
          </a:bodyPr>
          <a:lstStyle/>
          <a:p>
            <a:pPr marL="0" lvl="0" indent="0" algn="l" rtl="0">
              <a:spcBef>
                <a:spcPts val="0"/>
              </a:spcBef>
              <a:spcAft>
                <a:spcPts val="0"/>
              </a:spcAft>
              <a:buNone/>
            </a:pPr>
            <a:r>
              <a:rPr lang="en-GB" sz="1050"/>
              <a:t>https://unstats.un.org/sdgs/report/2016/goal-02/</a:t>
            </a:r>
            <a:endParaRPr sz="1050"/>
          </a:p>
        </p:txBody>
      </p:sp>
      <p:pic>
        <p:nvPicPr>
          <p:cNvPr id="3" name="Picture 2">
            <a:extLst>
              <a:ext uri="{FF2B5EF4-FFF2-40B4-BE49-F238E27FC236}">
                <a16:creationId xmlns:a16="http://schemas.microsoft.com/office/drawing/2014/main" id="{F9188D2E-9F74-7095-CAF0-88B0630099B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3071" r="3746"/>
          <a:stretch/>
        </p:blipFill>
        <p:spPr>
          <a:xfrm>
            <a:off x="7884795" y="-26669"/>
            <a:ext cx="1259205" cy="1317123"/>
          </a:xfrm>
          <a:prstGeom prst="rect">
            <a:avLst/>
          </a:prstGeom>
        </p:spPr>
      </p:pic>
    </p:spTree>
    <p:extLst>
      <p:ext uri="{BB962C8B-B14F-4D97-AF65-F5344CB8AC3E}">
        <p14:creationId xmlns:p14="http://schemas.microsoft.com/office/powerpoint/2010/main" val="917848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5"/>
          <p:cNvSpPr txBox="1">
            <a:spLocks noGrp="1"/>
          </p:cNvSpPr>
          <p:nvPr>
            <p:ph type="title"/>
          </p:nvPr>
        </p:nvSpPr>
        <p:spPr>
          <a:xfrm>
            <a:off x="122873" y="176690"/>
            <a:ext cx="7957185" cy="310991"/>
          </a:xfrm>
          <a:prstGeom prst="rect">
            <a:avLst/>
          </a:prstGeom>
          <a:noFill/>
          <a:ln>
            <a:noFill/>
          </a:ln>
        </p:spPr>
        <p:txBody>
          <a:bodyPr spcFirstLastPara="1" wrap="square" lIns="68569" tIns="34275" rIns="68569" bIns="34275" anchor="ctr" anchorCtr="0">
            <a:noAutofit/>
          </a:bodyPr>
          <a:lstStyle/>
          <a:p>
            <a:pPr marL="0" lvl="0" indent="0" algn="l" rtl="0">
              <a:lnSpc>
                <a:spcPct val="90000"/>
              </a:lnSpc>
              <a:spcBef>
                <a:spcPts val="0"/>
              </a:spcBef>
              <a:spcAft>
                <a:spcPts val="0"/>
              </a:spcAft>
              <a:buClr>
                <a:schemeClr val="dk1"/>
              </a:buClr>
              <a:buSzPts val="2160"/>
              <a:buFont typeface="Calibri"/>
              <a:buNone/>
            </a:pPr>
            <a:r>
              <a:rPr lang="en-GB" sz="2000" b="1">
                <a:solidFill>
                  <a:srgbClr val="C00000"/>
                </a:solidFill>
                <a:latin typeface="Helvetica"/>
                <a:cs typeface="Helvetica"/>
              </a:rPr>
              <a:t>Producing food is linked to extracting and making resources</a:t>
            </a:r>
            <a:endParaRPr sz="2000" b="1">
              <a:solidFill>
                <a:srgbClr val="C00000"/>
              </a:solidFill>
              <a:latin typeface="Helvetica"/>
              <a:cs typeface="Helvetica"/>
            </a:endParaRPr>
          </a:p>
        </p:txBody>
      </p:sp>
      <p:sp>
        <p:nvSpPr>
          <p:cNvPr id="129" name="Google Shape;129;p5"/>
          <p:cNvSpPr txBox="1"/>
          <p:nvPr/>
        </p:nvSpPr>
        <p:spPr>
          <a:xfrm>
            <a:off x="500192" y="4994397"/>
            <a:ext cx="3931920" cy="807883"/>
          </a:xfrm>
          <a:prstGeom prst="rect">
            <a:avLst/>
          </a:prstGeom>
          <a:noFill/>
          <a:ln>
            <a:noFill/>
          </a:ln>
        </p:spPr>
        <p:txBody>
          <a:bodyPr spcFirstLastPara="1" wrap="square" lIns="68569" tIns="34275" rIns="68569" bIns="34275" anchor="t" anchorCtr="0">
            <a:spAutoFit/>
          </a:bodyPr>
          <a:lstStyle/>
          <a:p>
            <a:r>
              <a:rPr lang="en-GB" sz="1600">
                <a:solidFill>
                  <a:schemeClr val="dk1"/>
                </a:solidFill>
                <a:latin typeface="Helvetica"/>
                <a:ea typeface="Calibri"/>
                <a:cs typeface="Helvetica"/>
                <a:sym typeface="Calibri"/>
              </a:rPr>
              <a:t>Global production of </a:t>
            </a:r>
            <a:r>
              <a:rPr lang="en-GB" sz="1600" b="1">
                <a:solidFill>
                  <a:schemeClr val="dk1"/>
                </a:solidFill>
                <a:latin typeface="Helvetica"/>
                <a:ea typeface="Calibri"/>
                <a:cs typeface="Helvetica"/>
                <a:sym typeface="Calibri"/>
              </a:rPr>
              <a:t>nitrogen</a:t>
            </a:r>
            <a:r>
              <a:rPr lang="en-GB" sz="1600">
                <a:solidFill>
                  <a:schemeClr val="dk1"/>
                </a:solidFill>
                <a:latin typeface="Helvetica"/>
                <a:ea typeface="Calibri"/>
                <a:cs typeface="Helvetica"/>
                <a:sym typeface="Calibri"/>
              </a:rPr>
              <a:t>, </a:t>
            </a:r>
            <a:r>
              <a:rPr lang="en-GB" sz="1600" b="1">
                <a:solidFill>
                  <a:schemeClr val="dk1"/>
                </a:solidFill>
                <a:latin typeface="Helvetica"/>
                <a:ea typeface="Calibri"/>
                <a:cs typeface="Helvetica"/>
                <a:sym typeface="Calibri"/>
              </a:rPr>
              <a:t>phosphorus</a:t>
            </a:r>
            <a:r>
              <a:rPr lang="en-GB" sz="1600">
                <a:solidFill>
                  <a:schemeClr val="dk1"/>
                </a:solidFill>
                <a:latin typeface="Helvetica"/>
                <a:ea typeface="Calibri"/>
                <a:cs typeface="Helvetica"/>
                <a:sym typeface="Calibri"/>
              </a:rPr>
              <a:t> and </a:t>
            </a:r>
            <a:r>
              <a:rPr lang="en-GB" sz="1600" b="1">
                <a:solidFill>
                  <a:schemeClr val="dk1"/>
                </a:solidFill>
                <a:latin typeface="Helvetica"/>
                <a:ea typeface="Calibri"/>
                <a:cs typeface="Helvetica"/>
                <a:sym typeface="Calibri"/>
              </a:rPr>
              <a:t>potassium fertilisers</a:t>
            </a:r>
            <a:r>
              <a:rPr lang="en-GB" sz="1600">
                <a:solidFill>
                  <a:schemeClr val="dk1"/>
                </a:solidFill>
                <a:latin typeface="Helvetica"/>
                <a:ea typeface="Calibri"/>
                <a:cs typeface="Helvetica"/>
                <a:sym typeface="Calibri"/>
              </a:rPr>
              <a:t> in the last 60 years</a:t>
            </a:r>
            <a:endParaRPr lang="en-GB" sz="1600">
              <a:solidFill>
                <a:schemeClr val="dk1"/>
              </a:solidFill>
              <a:latin typeface="Helvetica"/>
              <a:cs typeface="Helvetica"/>
            </a:endParaRPr>
          </a:p>
        </p:txBody>
      </p:sp>
      <p:sp>
        <p:nvSpPr>
          <p:cNvPr id="131" name="Google Shape;131;p5"/>
          <p:cNvSpPr txBox="1"/>
          <p:nvPr/>
        </p:nvSpPr>
        <p:spPr>
          <a:xfrm>
            <a:off x="4880610" y="4743450"/>
            <a:ext cx="3939540" cy="1300326"/>
          </a:xfrm>
          <a:prstGeom prst="rect">
            <a:avLst/>
          </a:prstGeom>
          <a:noFill/>
          <a:ln>
            <a:noFill/>
          </a:ln>
        </p:spPr>
        <p:txBody>
          <a:bodyPr spcFirstLastPara="1" wrap="square" lIns="68569" tIns="34275" rIns="68569" bIns="34275" anchor="t" anchorCtr="0">
            <a:spAutoFit/>
          </a:bodyPr>
          <a:lstStyle/>
          <a:p>
            <a:pPr marL="0" marR="0" lvl="0" indent="0" algn="l" rtl="0">
              <a:spcBef>
                <a:spcPts val="0"/>
              </a:spcBef>
              <a:spcAft>
                <a:spcPts val="0"/>
              </a:spcAft>
              <a:buNone/>
            </a:pPr>
            <a:r>
              <a:rPr lang="en-GB" sz="1600" b="1">
                <a:solidFill>
                  <a:schemeClr val="dk1"/>
                </a:solidFill>
                <a:latin typeface="Helvetica"/>
                <a:ea typeface="Calibri"/>
                <a:cs typeface="Helvetica"/>
                <a:sym typeface="Calibri"/>
              </a:rPr>
              <a:t>Palm oil: </a:t>
            </a:r>
            <a:r>
              <a:rPr lang="en-GB" sz="1600">
                <a:solidFill>
                  <a:schemeClr val="dk1"/>
                </a:solidFill>
                <a:latin typeface="Helvetica"/>
                <a:ea typeface="Calibri"/>
                <a:cs typeface="Helvetica"/>
                <a:sym typeface="Calibri"/>
              </a:rPr>
              <a:t>this controversial crop is a mainstay of much processed food. In many plantations, </a:t>
            </a:r>
            <a:r>
              <a:rPr lang="en-GB" sz="1600" b="1">
                <a:solidFill>
                  <a:schemeClr val="dk1"/>
                </a:solidFill>
                <a:latin typeface="Helvetica"/>
                <a:ea typeface="Calibri"/>
                <a:cs typeface="Helvetica"/>
                <a:sym typeface="Calibri"/>
              </a:rPr>
              <a:t>800-1000 kg of N are applied per hectare</a:t>
            </a:r>
            <a:r>
              <a:rPr lang="en-GB" sz="1600">
                <a:solidFill>
                  <a:schemeClr val="dk1"/>
                </a:solidFill>
                <a:latin typeface="Helvetica"/>
                <a:ea typeface="Calibri"/>
                <a:cs typeface="Helvetica"/>
                <a:sym typeface="Calibri"/>
              </a:rPr>
              <a:t> (compare to about 200kg N ha</a:t>
            </a:r>
            <a:r>
              <a:rPr lang="en-GB" sz="1600" baseline="30000">
                <a:solidFill>
                  <a:schemeClr val="dk1"/>
                </a:solidFill>
                <a:latin typeface="Helvetica"/>
                <a:ea typeface="Calibri"/>
                <a:cs typeface="Helvetica"/>
                <a:sym typeface="Calibri"/>
              </a:rPr>
              <a:t>-1</a:t>
            </a:r>
            <a:r>
              <a:rPr lang="en-GB" sz="1600">
                <a:solidFill>
                  <a:schemeClr val="dk1"/>
                </a:solidFill>
                <a:latin typeface="Helvetica"/>
                <a:ea typeface="Calibri"/>
                <a:cs typeface="Helvetica"/>
                <a:sym typeface="Calibri"/>
              </a:rPr>
              <a:t> for wheat in the UK)</a:t>
            </a:r>
            <a:endParaRPr lang="en-US" sz="1600">
              <a:solidFill>
                <a:schemeClr val="dk1"/>
              </a:solidFill>
              <a:latin typeface="Helvetica"/>
              <a:cs typeface="Helvetica"/>
            </a:endParaRPr>
          </a:p>
        </p:txBody>
      </p:sp>
      <p:pic>
        <p:nvPicPr>
          <p:cNvPr id="2" name="Graphic 1" descr="Fertilizers - Our World in Data">
            <a:extLst>
              <a:ext uri="{FF2B5EF4-FFF2-40B4-BE49-F238E27FC236}">
                <a16:creationId xmlns:a16="http://schemas.microsoft.com/office/drawing/2014/main" id="{9BDD5BAE-A3BD-E331-A3D2-1FAD9F4144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7077" y="1215415"/>
            <a:ext cx="4608348" cy="3234950"/>
          </a:xfrm>
          <a:prstGeom prst="rect">
            <a:avLst/>
          </a:prstGeom>
        </p:spPr>
      </p:pic>
      <p:pic>
        <p:nvPicPr>
          <p:cNvPr id="130" name="Google Shape;130;p5"/>
          <p:cNvPicPr preferRelativeResize="0"/>
          <p:nvPr/>
        </p:nvPicPr>
        <p:blipFill rotWithShape="1">
          <a:blip r:embed="rId5">
            <a:alphaModFix/>
          </a:blip>
          <a:srcRect/>
          <a:stretch/>
        </p:blipFill>
        <p:spPr>
          <a:xfrm>
            <a:off x="4882515" y="1447038"/>
            <a:ext cx="3971925" cy="2743962"/>
          </a:xfrm>
          <a:prstGeom prst="rect">
            <a:avLst/>
          </a:prstGeom>
          <a:noFill/>
          <a:ln>
            <a:noFill/>
          </a:ln>
        </p:spPr>
      </p:pic>
      <p:pic>
        <p:nvPicPr>
          <p:cNvPr id="4" name="Picture 3" descr="A yellow sign with a bowl of soup&#10;&#10;AI-generated content may be incorrect.">
            <a:extLst>
              <a:ext uri="{FF2B5EF4-FFF2-40B4-BE49-F238E27FC236}">
                <a16:creationId xmlns:a16="http://schemas.microsoft.com/office/drawing/2014/main" id="{849930C8-4FAC-D01D-F8FE-12E0241FB2C3}"/>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l="3071" r="3746"/>
          <a:stretch/>
        </p:blipFill>
        <p:spPr>
          <a:xfrm>
            <a:off x="7884795" y="-26669"/>
            <a:ext cx="1259205" cy="1317123"/>
          </a:xfrm>
          <a:prstGeom prst="rect">
            <a:avLst/>
          </a:prstGeom>
        </p:spPr>
      </p:pic>
    </p:spTree>
    <p:extLst>
      <p:ext uri="{BB962C8B-B14F-4D97-AF65-F5344CB8AC3E}">
        <p14:creationId xmlns:p14="http://schemas.microsoft.com/office/powerpoint/2010/main" val="1770080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4">
            <a:extLst>
              <a:ext uri="{FF2B5EF4-FFF2-40B4-BE49-F238E27FC236}">
                <a16:creationId xmlns:a16="http://schemas.microsoft.com/office/drawing/2014/main" id="{FCE87B41-5A6C-D345-9311-5D961365B02B}"/>
              </a:ext>
            </a:extLst>
          </p:cNvPr>
          <p:cNvSpPr txBox="1">
            <a:spLocks noGrp="1"/>
          </p:cNvSpPr>
          <p:nvPr>
            <p:ph idx="1"/>
          </p:nvPr>
        </p:nvSpPr>
        <p:spPr>
          <a:xfrm>
            <a:off x="5034880" y="644392"/>
            <a:ext cx="3951166" cy="5575332"/>
          </a:xfrm>
          <a:prstGeom prst="rect">
            <a:avLst/>
          </a:prstGeom>
          <a:noFill/>
        </p:spPr>
        <p:txBody>
          <a:bodyPr wrap="square" rtlCol="0">
            <a:spAutoFit/>
          </a:bodyPr>
          <a:lstStyle/>
          <a:p>
            <a:pPr marL="0" indent="0">
              <a:buNone/>
            </a:pPr>
            <a:r>
              <a:rPr lang="en-GB" sz="2000" b="1">
                <a:solidFill>
                  <a:srgbClr val="18A2C5"/>
                </a:solidFill>
                <a:latin typeface="Helvetica"/>
                <a:cs typeface="Helvetica"/>
              </a:rPr>
              <a:t>Key environmental science related challenges:</a:t>
            </a:r>
          </a:p>
          <a:p>
            <a:endParaRPr lang="en-GB" sz="1800">
              <a:latin typeface="Helvetica"/>
              <a:cs typeface="Helvetica"/>
            </a:endParaRPr>
          </a:p>
          <a:p>
            <a:r>
              <a:rPr lang="en-GB" sz="1800">
                <a:latin typeface="Helvetica"/>
                <a:cs typeface="Helvetica"/>
              </a:rPr>
              <a:t>More </a:t>
            </a:r>
            <a:r>
              <a:rPr lang="en-GB" sz="1800" b="1">
                <a:latin typeface="Helvetica"/>
                <a:cs typeface="Helvetica"/>
              </a:rPr>
              <a:t>potable water </a:t>
            </a:r>
            <a:r>
              <a:rPr lang="en-GB" sz="1800">
                <a:latin typeface="Helvetica"/>
                <a:cs typeface="Helvetica"/>
              </a:rPr>
              <a:t>needed</a:t>
            </a:r>
            <a:endParaRPr lang="en-GB" sz="1800" b="1">
              <a:latin typeface="Helvetica"/>
              <a:cs typeface="Helvetica"/>
            </a:endParaRPr>
          </a:p>
          <a:p>
            <a:endParaRPr lang="en-GB" sz="1800">
              <a:latin typeface="Helvetica"/>
              <a:cs typeface="Helvetica"/>
            </a:endParaRPr>
          </a:p>
          <a:p>
            <a:r>
              <a:rPr lang="en-GB" sz="1800" b="1">
                <a:latin typeface="Helvetica"/>
                <a:cs typeface="Helvetica"/>
              </a:rPr>
              <a:t>Reduce wastage</a:t>
            </a:r>
            <a:r>
              <a:rPr lang="en-GB" sz="1800">
                <a:latin typeface="Helvetica"/>
                <a:cs typeface="Helvetica"/>
              </a:rPr>
              <a:t> of water</a:t>
            </a:r>
          </a:p>
          <a:p>
            <a:endParaRPr lang="en-GB" sz="1800">
              <a:latin typeface="Helvetica"/>
              <a:cs typeface="Helvetica"/>
            </a:endParaRPr>
          </a:p>
          <a:p>
            <a:r>
              <a:rPr lang="en-GB" sz="1800">
                <a:latin typeface="Helvetica"/>
                <a:cs typeface="Helvetica"/>
              </a:rPr>
              <a:t>Ensure clean water is </a:t>
            </a:r>
            <a:r>
              <a:rPr lang="en-GB" sz="1800" b="1">
                <a:latin typeface="Helvetica"/>
                <a:cs typeface="Helvetica"/>
              </a:rPr>
              <a:t>not contaminated</a:t>
            </a:r>
          </a:p>
          <a:p>
            <a:endParaRPr lang="en-GB" sz="1800">
              <a:latin typeface="Helvetica"/>
              <a:cs typeface="Helvetica"/>
            </a:endParaRPr>
          </a:p>
          <a:p>
            <a:r>
              <a:rPr lang="en-GB" sz="1800">
                <a:latin typeface="Helvetica"/>
                <a:cs typeface="Helvetica"/>
              </a:rPr>
              <a:t>Grow crops that have less dependency on external water supplies</a:t>
            </a:r>
          </a:p>
          <a:p>
            <a:endParaRPr lang="en-GB" sz="1800">
              <a:latin typeface="Helvetica"/>
              <a:cs typeface="Helvetica"/>
            </a:endParaRPr>
          </a:p>
          <a:p>
            <a:r>
              <a:rPr lang="en-GB" sz="1800">
                <a:latin typeface="Helvetica"/>
                <a:cs typeface="Helvetica"/>
              </a:rPr>
              <a:t>Ensure households have </a:t>
            </a:r>
            <a:r>
              <a:rPr lang="en-GB" sz="1800" b="1">
                <a:latin typeface="Helvetica"/>
                <a:cs typeface="Helvetica"/>
              </a:rPr>
              <a:t>sewage</a:t>
            </a:r>
            <a:r>
              <a:rPr lang="en-GB" sz="1800">
                <a:latin typeface="Helvetica"/>
                <a:cs typeface="Helvetica"/>
              </a:rPr>
              <a:t> systems</a:t>
            </a:r>
          </a:p>
          <a:p>
            <a:endParaRPr lang="en-GB" sz="1500">
              <a:latin typeface="Helvetica"/>
              <a:cs typeface="Helvetica"/>
            </a:endParaRPr>
          </a:p>
        </p:txBody>
      </p:sp>
      <p:pic>
        <p:nvPicPr>
          <p:cNvPr id="2" name="Picture 1" descr="A white and blue infographics&#10;&#10;AI-generated content may be incorrect.">
            <a:extLst>
              <a:ext uri="{FF2B5EF4-FFF2-40B4-BE49-F238E27FC236}">
                <a16:creationId xmlns:a16="http://schemas.microsoft.com/office/drawing/2014/main" id="{FD9C71CA-359F-7B1F-5C8C-A087730D356C}"/>
              </a:ext>
            </a:extLst>
          </p:cNvPr>
          <p:cNvPicPr>
            <a:picLocks noChangeAspect="1"/>
          </p:cNvPicPr>
          <p:nvPr/>
        </p:nvPicPr>
        <p:blipFill>
          <a:blip r:embed="rId2"/>
          <a:srcRect l="4207" t="5338" r="4340" b="27"/>
          <a:stretch/>
        </p:blipFill>
        <p:spPr>
          <a:xfrm>
            <a:off x="71337" y="70082"/>
            <a:ext cx="4856063" cy="6716975"/>
          </a:xfrm>
          <a:prstGeom prst="rect">
            <a:avLst/>
          </a:prstGeom>
        </p:spPr>
      </p:pic>
      <p:sp>
        <p:nvSpPr>
          <p:cNvPr id="4" name="TextBox 3">
            <a:extLst>
              <a:ext uri="{FF2B5EF4-FFF2-40B4-BE49-F238E27FC236}">
                <a16:creationId xmlns:a16="http://schemas.microsoft.com/office/drawing/2014/main" id="{10F69DED-C383-3696-E908-412E2CEB3E22}"/>
              </a:ext>
            </a:extLst>
          </p:cNvPr>
          <p:cNvSpPr txBox="1"/>
          <p:nvPr/>
        </p:nvSpPr>
        <p:spPr>
          <a:xfrm>
            <a:off x="5582306" y="6219813"/>
            <a:ext cx="31780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FCC116"/>
                </a:solidFill>
              </a:rPr>
              <a:t>Moderate progress</a:t>
            </a:r>
          </a:p>
        </p:txBody>
      </p:sp>
    </p:spTree>
    <p:extLst>
      <p:ext uri="{BB962C8B-B14F-4D97-AF65-F5344CB8AC3E}">
        <p14:creationId xmlns:p14="http://schemas.microsoft.com/office/powerpoint/2010/main" val="3490142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86A7A-6181-334A-AFE4-DECBA2EEBC7C}"/>
              </a:ext>
            </a:extLst>
          </p:cNvPr>
          <p:cNvSpPr>
            <a:spLocks noGrp="1"/>
          </p:cNvSpPr>
          <p:nvPr>
            <p:ph type="title"/>
          </p:nvPr>
        </p:nvSpPr>
        <p:spPr>
          <a:xfrm>
            <a:off x="231925" y="179495"/>
            <a:ext cx="6206166" cy="578912"/>
          </a:xfrm>
        </p:spPr>
        <p:txBody>
          <a:bodyPr>
            <a:normAutofit/>
          </a:bodyPr>
          <a:lstStyle/>
          <a:p>
            <a:r>
              <a:rPr lang="en-GB" sz="2400" b="1">
                <a:solidFill>
                  <a:srgbClr val="C00000"/>
                </a:solidFill>
                <a:latin typeface="Helvetica"/>
                <a:cs typeface="Helvetica"/>
              </a:rPr>
              <a:t>More people = more demand for water</a:t>
            </a:r>
          </a:p>
        </p:txBody>
      </p:sp>
      <p:pic>
        <p:nvPicPr>
          <p:cNvPr id="4" name="Picture 3">
            <a:extLst>
              <a:ext uri="{FF2B5EF4-FFF2-40B4-BE49-F238E27FC236}">
                <a16:creationId xmlns:a16="http://schemas.microsoft.com/office/drawing/2014/main" id="{4373A81B-DE7B-204A-89CA-54A7E60F9E2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24774" y="1245728"/>
            <a:ext cx="3799217" cy="2617289"/>
          </a:xfrm>
          <a:prstGeom prst="rect">
            <a:avLst/>
          </a:prstGeom>
        </p:spPr>
      </p:pic>
      <p:pic>
        <p:nvPicPr>
          <p:cNvPr id="5" name="Picture 4">
            <a:extLst>
              <a:ext uri="{FF2B5EF4-FFF2-40B4-BE49-F238E27FC236}">
                <a16:creationId xmlns:a16="http://schemas.microsoft.com/office/drawing/2014/main" id="{6A95F045-7C87-7940-A97B-7ABBE3971150}"/>
              </a:ext>
            </a:extLst>
          </p:cNvPr>
          <p:cNvPicPr>
            <a:picLocks noChangeAspect="1"/>
          </p:cNvPicPr>
          <p:nvPr/>
        </p:nvPicPr>
        <p:blipFill>
          <a:blip r:embed="rId3"/>
          <a:stretch>
            <a:fillRect/>
          </a:stretch>
        </p:blipFill>
        <p:spPr>
          <a:xfrm>
            <a:off x="4322481" y="1412037"/>
            <a:ext cx="4440519" cy="2436243"/>
          </a:xfrm>
          <a:prstGeom prst="rect">
            <a:avLst/>
          </a:prstGeom>
        </p:spPr>
      </p:pic>
      <p:pic>
        <p:nvPicPr>
          <p:cNvPr id="6" name="Picture 5">
            <a:extLst>
              <a:ext uri="{FF2B5EF4-FFF2-40B4-BE49-F238E27FC236}">
                <a16:creationId xmlns:a16="http://schemas.microsoft.com/office/drawing/2014/main" id="{75CA24FC-0174-B447-8445-145DD7F8A89A}"/>
              </a:ext>
            </a:extLst>
          </p:cNvPr>
          <p:cNvPicPr>
            <a:picLocks noChangeAspect="1"/>
          </p:cNvPicPr>
          <p:nvPr/>
        </p:nvPicPr>
        <p:blipFill>
          <a:blip r:embed="rId4"/>
          <a:stretch>
            <a:fillRect/>
          </a:stretch>
        </p:blipFill>
        <p:spPr>
          <a:xfrm>
            <a:off x="2565010" y="4106713"/>
            <a:ext cx="4187417" cy="2345037"/>
          </a:xfrm>
          <a:prstGeom prst="rect">
            <a:avLst/>
          </a:prstGeom>
        </p:spPr>
      </p:pic>
      <p:pic>
        <p:nvPicPr>
          <p:cNvPr id="9" name="Picture 8" descr="A blue sign with a white text and a glass of water&#10;&#10;AI-generated content may be incorrect.">
            <a:extLst>
              <a:ext uri="{FF2B5EF4-FFF2-40B4-BE49-F238E27FC236}">
                <a16:creationId xmlns:a16="http://schemas.microsoft.com/office/drawing/2014/main" id="{834CBF96-694A-3E7A-F921-8F181FF0DE13}"/>
              </a:ext>
            </a:extLst>
          </p:cNvPr>
          <p:cNvPicPr>
            <a:picLocks noChangeAspect="1"/>
          </p:cNvPicPr>
          <p:nvPr/>
        </p:nvPicPr>
        <p:blipFill>
          <a:blip r:embed="rId5"/>
          <a:stretch>
            <a:fillRect/>
          </a:stretch>
        </p:blipFill>
        <p:spPr>
          <a:xfrm>
            <a:off x="7932595" y="2291"/>
            <a:ext cx="1215536" cy="1282461"/>
          </a:xfrm>
          <a:prstGeom prst="rect">
            <a:avLst/>
          </a:prstGeom>
        </p:spPr>
      </p:pic>
    </p:spTree>
    <p:extLst>
      <p:ext uri="{BB962C8B-B14F-4D97-AF65-F5344CB8AC3E}">
        <p14:creationId xmlns:p14="http://schemas.microsoft.com/office/powerpoint/2010/main" val="423434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605724A7-84E5-CC45-8831-66404B9CFDBA}"/>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rot="837407" flipH="1">
            <a:off x="7235817" y="5015510"/>
            <a:ext cx="1147239" cy="1558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descr="Just as the distribution of lakes and rivers varies around the world, so too does the distribution of aquifers.  Major basins (purple) hold abundant, relatively easily extracted groundwater.  More complex basins (green) might contain multiple aquifers separated by impermeable rock or have layers of saltwater as well as fresh. Local and shallow aquifers provide only limited quantities of water. Map created by Peder Engstrom and Kate Brauman of the Institute on the Environment's Global Landscape Initiative. Data provided by BGR &amp; UNESCO (2008): Groundwater Resources of the World 1 : 25 000 000. Hannover, Paris."/>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62470" y="2227994"/>
            <a:ext cx="6458849" cy="419228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628025" y="2574593"/>
            <a:ext cx="2107011" cy="2062103"/>
          </a:xfrm>
          <a:prstGeom prst="rect">
            <a:avLst/>
          </a:prstGeom>
        </p:spPr>
        <p:txBody>
          <a:bodyPr wrap="square">
            <a:spAutoFit/>
          </a:bodyPr>
          <a:lstStyle/>
          <a:p>
            <a:r>
              <a:rPr lang="en-GB" sz="1600" b="1">
                <a:latin typeface="Helvetica"/>
                <a:cs typeface="Helvetica"/>
              </a:rPr>
              <a:t>Groundwater</a:t>
            </a:r>
            <a:r>
              <a:rPr lang="en-GB" sz="1600">
                <a:latin typeface="Helvetica"/>
                <a:cs typeface="Helvetica"/>
              </a:rPr>
              <a:t> is our largest reservoir but most big aquifers are below arid regions and therefore do not recharge quickly</a:t>
            </a:r>
          </a:p>
          <a:p>
            <a:r>
              <a:rPr lang="en-GB" sz="1600" i="1">
                <a:latin typeface="Helvetica"/>
                <a:cs typeface="Helvetica"/>
              </a:rPr>
              <a:t>Is water a non-renewable resource?</a:t>
            </a:r>
          </a:p>
        </p:txBody>
      </p:sp>
      <p:pic>
        <p:nvPicPr>
          <p:cNvPr id="7"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223703" y="201811"/>
            <a:ext cx="2026183" cy="2026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4EECD22A-C5BE-C54D-858E-91CC3B91E4BB}"/>
              </a:ext>
            </a:extLst>
          </p:cNvPr>
          <p:cNvSpPr>
            <a:spLocks noGrp="1"/>
          </p:cNvSpPr>
          <p:nvPr>
            <p:ph idx="1"/>
          </p:nvPr>
        </p:nvSpPr>
        <p:spPr>
          <a:xfrm>
            <a:off x="269386" y="342140"/>
            <a:ext cx="3759769" cy="3263504"/>
          </a:xfrm>
        </p:spPr>
        <p:txBody>
          <a:bodyPr>
            <a:normAutofit/>
          </a:bodyPr>
          <a:lstStyle/>
          <a:p>
            <a:pPr marL="215504"/>
            <a:r>
              <a:rPr lang="en-US" altLang="en-US" sz="1600">
                <a:latin typeface="Helvetica"/>
                <a:cs typeface="Helvetica"/>
              </a:rPr>
              <a:t>Total volume of water on Earth (100%) = 1,386,000,000 km</a:t>
            </a:r>
            <a:r>
              <a:rPr lang="en-US" altLang="en-US" sz="1600" baseline="32000">
                <a:latin typeface="Helvetica"/>
                <a:cs typeface="Helvetica"/>
              </a:rPr>
              <a:t>3</a:t>
            </a:r>
            <a:r>
              <a:rPr lang="en-US" altLang="en-US" sz="1600">
                <a:latin typeface="Helvetica"/>
                <a:cs typeface="Helvetica"/>
              </a:rPr>
              <a:t>  </a:t>
            </a:r>
          </a:p>
          <a:p>
            <a:pPr marL="215504"/>
            <a:r>
              <a:rPr lang="en-US" altLang="en-US" sz="1600">
                <a:latin typeface="Helvetica"/>
                <a:cs typeface="Helvetica"/>
              </a:rPr>
              <a:t>0.65% available freshwater (70% of freshwater is trapped in ice)</a:t>
            </a:r>
            <a:endParaRPr lang="en-US" altLang="en-US" sz="1600" baseline="32000">
              <a:latin typeface="Helvetica"/>
              <a:cs typeface="Helvetica"/>
            </a:endParaRPr>
          </a:p>
          <a:p>
            <a:endParaRPr lang="en-GB" sz="3200">
              <a:latin typeface="Helvetica"/>
              <a:cs typeface="Helvetica"/>
            </a:endParaRPr>
          </a:p>
        </p:txBody>
      </p:sp>
      <p:sp>
        <p:nvSpPr>
          <p:cNvPr id="9" name="TextBox 8"/>
          <p:cNvSpPr txBox="1"/>
          <p:nvPr/>
        </p:nvSpPr>
        <p:spPr>
          <a:xfrm>
            <a:off x="162470" y="5589380"/>
            <a:ext cx="2178170" cy="577081"/>
          </a:xfrm>
          <a:prstGeom prst="rect">
            <a:avLst/>
          </a:prstGeom>
          <a:noFill/>
        </p:spPr>
        <p:txBody>
          <a:bodyPr wrap="square" rtlCol="0">
            <a:spAutoFit/>
          </a:bodyPr>
          <a:lstStyle/>
          <a:p>
            <a:r>
              <a:rPr lang="en-GB" altLang="en-US" sz="1050"/>
              <a:t>Global trade in virtual water 1000 km</a:t>
            </a:r>
            <a:r>
              <a:rPr lang="en-GB" altLang="en-US" sz="1050" baseline="30000"/>
              <a:t>3</a:t>
            </a:r>
            <a:r>
              <a:rPr lang="en-GB" altLang="en-US" sz="1050"/>
              <a:t>/year = 20 x Nile annual discharge</a:t>
            </a:r>
          </a:p>
        </p:txBody>
      </p:sp>
      <p:pic>
        <p:nvPicPr>
          <p:cNvPr id="12" name="Picture 11" descr="A blue sign with a white text and a glass of water&#10;&#10;AI-generated content may be incorrect.">
            <a:extLst>
              <a:ext uri="{FF2B5EF4-FFF2-40B4-BE49-F238E27FC236}">
                <a16:creationId xmlns:a16="http://schemas.microsoft.com/office/drawing/2014/main" id="{56CAEFDB-2E3E-D767-AC88-DECE50A30181}"/>
              </a:ext>
            </a:extLst>
          </p:cNvPr>
          <p:cNvPicPr>
            <a:picLocks noChangeAspect="1"/>
          </p:cNvPicPr>
          <p:nvPr/>
        </p:nvPicPr>
        <p:blipFill>
          <a:blip r:embed="rId5"/>
          <a:stretch>
            <a:fillRect/>
          </a:stretch>
        </p:blipFill>
        <p:spPr>
          <a:xfrm>
            <a:off x="7932595" y="2291"/>
            <a:ext cx="1215536" cy="1282461"/>
          </a:xfrm>
          <a:prstGeom prst="rect">
            <a:avLst/>
          </a:prstGeom>
        </p:spPr>
      </p:pic>
    </p:spTree>
    <p:extLst>
      <p:ext uri="{BB962C8B-B14F-4D97-AF65-F5344CB8AC3E}">
        <p14:creationId xmlns:p14="http://schemas.microsoft.com/office/powerpoint/2010/main" val="425100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770" y="188299"/>
            <a:ext cx="6304721" cy="571500"/>
          </a:xfrm>
        </p:spPr>
        <p:txBody>
          <a:bodyPr>
            <a:normAutofit/>
          </a:bodyPr>
          <a:lstStyle/>
          <a:p>
            <a:r>
              <a:rPr lang="en-GB" sz="2700" b="1">
                <a:solidFill>
                  <a:srgbClr val="C00000"/>
                </a:solidFill>
                <a:latin typeface="Helvetica"/>
                <a:cs typeface="Helvetica"/>
              </a:rPr>
              <a:t>Arsenic in drinking water</a:t>
            </a:r>
          </a:p>
        </p:txBody>
      </p:sp>
      <p:sp>
        <p:nvSpPr>
          <p:cNvPr id="4" name="Rectangle 3"/>
          <p:cNvSpPr/>
          <p:nvPr/>
        </p:nvSpPr>
        <p:spPr bwMode="auto">
          <a:xfrm>
            <a:off x="2230822" y="4764109"/>
            <a:ext cx="1891862" cy="692794"/>
          </a:xfrm>
          <a:prstGeom prst="rect">
            <a:avLst/>
          </a:pr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marL="0" marR="0" indent="0" algn="l" defTabSz="6858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a:ln>
                <a:noFill/>
              </a:ln>
              <a:solidFill>
                <a:schemeClr val="tx1"/>
              </a:solidFill>
              <a:effectLst/>
              <a:latin typeface="Times" pitchFamily="18" charset="0"/>
            </a:endParaRPr>
          </a:p>
        </p:txBody>
      </p:sp>
      <p:sp>
        <p:nvSpPr>
          <p:cNvPr id="9" name="TextBox 8"/>
          <p:cNvSpPr txBox="1"/>
          <p:nvPr/>
        </p:nvSpPr>
        <p:spPr>
          <a:xfrm>
            <a:off x="122464" y="2876839"/>
            <a:ext cx="1662655" cy="900246"/>
          </a:xfrm>
          <a:prstGeom prst="rect">
            <a:avLst/>
          </a:prstGeom>
          <a:noFill/>
        </p:spPr>
        <p:txBody>
          <a:bodyPr wrap="square" rtlCol="0">
            <a:spAutoFit/>
          </a:bodyPr>
          <a:lstStyle/>
          <a:p>
            <a:r>
              <a:rPr lang="en-GB" sz="1050">
                <a:latin typeface="+mj-lt"/>
              </a:rPr>
              <a:t>Indicative probability of </a:t>
            </a:r>
            <a:r>
              <a:rPr lang="en-GB" sz="1050" err="1">
                <a:latin typeface="+mj-lt"/>
              </a:rPr>
              <a:t>geogenic</a:t>
            </a:r>
            <a:r>
              <a:rPr lang="en-GB" sz="1050">
                <a:latin typeface="+mj-lt"/>
              </a:rPr>
              <a:t> groundwater arsenic contamination (</a:t>
            </a:r>
            <a:r>
              <a:rPr lang="en-GB" sz="1050">
                <a:latin typeface="+mj-lt"/>
                <a:hlinkClick r:id="rId2"/>
              </a:rPr>
              <a:t>www.gapmaps.org</a:t>
            </a:r>
            <a:r>
              <a:rPr lang="en-GB" sz="1050">
                <a:latin typeface="+mj-lt"/>
              </a:rPr>
              <a:t>, based on data from </a:t>
            </a:r>
            <a:r>
              <a:rPr lang="en-GB" sz="1050" baseline="30000">
                <a:latin typeface="+mj-lt"/>
              </a:rPr>
              <a:t>3</a:t>
            </a:r>
            <a:r>
              <a:rPr lang="en-GB" sz="1050">
                <a:latin typeface="+mj-lt"/>
              </a:rPr>
              <a:t>)</a:t>
            </a:r>
          </a:p>
        </p:txBody>
      </p:sp>
      <p:sp>
        <p:nvSpPr>
          <p:cNvPr id="10" name="Content Placeholder 2"/>
          <p:cNvSpPr txBox="1">
            <a:spLocks/>
          </p:cNvSpPr>
          <p:nvPr/>
        </p:nvSpPr>
        <p:spPr bwMode="auto">
          <a:xfrm>
            <a:off x="207999" y="1028884"/>
            <a:ext cx="7716249" cy="1501417"/>
          </a:xfrm>
          <a:prstGeom prst="rect">
            <a:avLst/>
          </a:prstGeom>
          <a:noFill/>
          <a:ln w="9525">
            <a:noFill/>
            <a:miter lim="800000"/>
            <a:headEnd/>
            <a:tailEnd/>
          </a:ln>
        </p:spPr>
        <p:txBody>
          <a:bodyPr vert="horz" wrap="square" lIns="68567" tIns="34283" rIns="68567" bIns="34283" numCol="1" anchor="t" anchorCtr="0" compatLnSpc="1">
            <a:prstTxWarp prst="textNoShape">
              <a:avLst/>
            </a:prstTxWarp>
          </a:bodyPr>
          <a:lstStyle>
            <a:lvl1pPr marL="342832" indent="-342832" algn="l" rtl="0" eaLnBrk="0" fontAlgn="base" hangingPunct="0">
              <a:spcBef>
                <a:spcPct val="20000"/>
              </a:spcBef>
              <a:spcAft>
                <a:spcPct val="0"/>
              </a:spcAft>
              <a:buChar char="•"/>
              <a:defRPr sz="3200">
                <a:solidFill>
                  <a:schemeClr val="tx1"/>
                </a:solidFill>
                <a:latin typeface="+mn-lt"/>
                <a:ea typeface="+mn-ea"/>
                <a:cs typeface="+mn-cs"/>
              </a:defRPr>
            </a:lvl1pPr>
            <a:lvl2pPr marL="742803" indent="-285694" algn="l" rtl="0" eaLnBrk="0" fontAlgn="base" hangingPunct="0">
              <a:spcBef>
                <a:spcPct val="20000"/>
              </a:spcBef>
              <a:spcAft>
                <a:spcPct val="0"/>
              </a:spcAft>
              <a:buChar char="–"/>
              <a:defRPr sz="2800">
                <a:solidFill>
                  <a:schemeClr val="bg2"/>
                </a:solidFill>
                <a:latin typeface="+mn-lt"/>
              </a:defRPr>
            </a:lvl2pPr>
            <a:lvl3pPr marL="1142774" indent="-228554" algn="l" rtl="0" eaLnBrk="0" fontAlgn="base" hangingPunct="0">
              <a:spcBef>
                <a:spcPct val="20000"/>
              </a:spcBef>
              <a:spcAft>
                <a:spcPct val="0"/>
              </a:spcAft>
              <a:buChar char="•"/>
              <a:defRPr sz="2400">
                <a:solidFill>
                  <a:schemeClr val="bg2"/>
                </a:solidFill>
                <a:latin typeface="+mn-lt"/>
              </a:defRPr>
            </a:lvl3pPr>
            <a:lvl4pPr marL="1599884" indent="-228554" algn="l" rtl="0" eaLnBrk="0" fontAlgn="base" hangingPunct="0">
              <a:spcBef>
                <a:spcPct val="20000"/>
              </a:spcBef>
              <a:spcAft>
                <a:spcPct val="0"/>
              </a:spcAft>
              <a:buChar char="–"/>
              <a:defRPr sz="2000">
                <a:solidFill>
                  <a:schemeClr val="bg2"/>
                </a:solidFill>
                <a:latin typeface="+mn-lt"/>
              </a:defRPr>
            </a:lvl4pPr>
            <a:lvl5pPr marL="2056994" indent="-228554" algn="l" rtl="0" eaLnBrk="0" fontAlgn="base" hangingPunct="0">
              <a:spcBef>
                <a:spcPct val="20000"/>
              </a:spcBef>
              <a:spcAft>
                <a:spcPct val="0"/>
              </a:spcAft>
              <a:buChar char="»"/>
              <a:defRPr sz="2000">
                <a:solidFill>
                  <a:schemeClr val="bg2"/>
                </a:solidFill>
                <a:latin typeface="+mn-lt"/>
              </a:defRPr>
            </a:lvl5pPr>
            <a:lvl6pPr marL="2514104" indent="-228554" algn="l" rtl="0" fontAlgn="base">
              <a:spcBef>
                <a:spcPct val="20000"/>
              </a:spcBef>
              <a:spcAft>
                <a:spcPct val="0"/>
              </a:spcAft>
              <a:buChar char="»"/>
              <a:defRPr sz="2000">
                <a:solidFill>
                  <a:schemeClr val="bg2"/>
                </a:solidFill>
                <a:latin typeface="+mn-lt"/>
              </a:defRPr>
            </a:lvl6pPr>
            <a:lvl7pPr marL="2971214" indent="-228554" algn="l" rtl="0" fontAlgn="base">
              <a:spcBef>
                <a:spcPct val="20000"/>
              </a:spcBef>
              <a:spcAft>
                <a:spcPct val="0"/>
              </a:spcAft>
              <a:buChar char="»"/>
              <a:defRPr sz="2000">
                <a:solidFill>
                  <a:schemeClr val="bg2"/>
                </a:solidFill>
                <a:latin typeface="+mn-lt"/>
              </a:defRPr>
            </a:lvl7pPr>
            <a:lvl8pPr marL="3428324" indent="-228554" algn="l" rtl="0" fontAlgn="base">
              <a:spcBef>
                <a:spcPct val="20000"/>
              </a:spcBef>
              <a:spcAft>
                <a:spcPct val="0"/>
              </a:spcAft>
              <a:buChar char="»"/>
              <a:defRPr sz="2000">
                <a:solidFill>
                  <a:schemeClr val="bg2"/>
                </a:solidFill>
                <a:latin typeface="+mn-lt"/>
              </a:defRPr>
            </a:lvl8pPr>
            <a:lvl9pPr marL="3885434" indent="-228554" algn="l" rtl="0" fontAlgn="base">
              <a:spcBef>
                <a:spcPct val="20000"/>
              </a:spcBef>
              <a:spcAft>
                <a:spcPct val="0"/>
              </a:spcAft>
              <a:buChar char="»"/>
              <a:defRPr sz="2000">
                <a:solidFill>
                  <a:schemeClr val="bg2"/>
                </a:solidFill>
                <a:latin typeface="+mn-lt"/>
              </a:defRPr>
            </a:lvl9pPr>
          </a:lstStyle>
          <a:p>
            <a:r>
              <a:rPr lang="en-GB" sz="1600"/>
              <a:t>3 in 10 people globally lack access to safely managed drinking water services</a:t>
            </a:r>
            <a:endParaRPr lang="en-GB" sz="1600" kern="0"/>
          </a:p>
          <a:p>
            <a:r>
              <a:rPr lang="en-GB" sz="1600" kern="0"/>
              <a:t>Water quality, including arsenic, is central to UN Sustainable Development Goals </a:t>
            </a:r>
            <a:r>
              <a:rPr lang="en-GB" sz="1600" kern="0" baseline="30000"/>
              <a:t>1</a:t>
            </a:r>
          </a:p>
          <a:p>
            <a:r>
              <a:rPr lang="en-GB" sz="1600"/>
              <a:t>Major challenges remain in meeting SDGs; NO country on target to achieve all </a:t>
            </a:r>
            <a:r>
              <a:rPr lang="en-GB" sz="1600" baseline="30000"/>
              <a:t>2</a:t>
            </a:r>
            <a:endParaRPr lang="en-GB" sz="1600" kern="0"/>
          </a:p>
          <a:p>
            <a:endParaRPr lang="en-GB" sz="1600" kern="0"/>
          </a:p>
        </p:txBody>
      </p:sp>
      <p:sp>
        <p:nvSpPr>
          <p:cNvPr id="13" name="TextBox 12"/>
          <p:cNvSpPr txBox="1"/>
          <p:nvPr/>
        </p:nvSpPr>
        <p:spPr>
          <a:xfrm>
            <a:off x="1143000" y="6257919"/>
            <a:ext cx="6858001" cy="369332"/>
          </a:xfrm>
          <a:prstGeom prst="rect">
            <a:avLst/>
          </a:prstGeom>
          <a:noFill/>
        </p:spPr>
        <p:txBody>
          <a:bodyPr wrap="square" rtlCol="0">
            <a:spAutoFit/>
          </a:bodyPr>
          <a:lstStyle/>
          <a:p>
            <a:pPr algn="r"/>
            <a:r>
              <a:rPr lang="en-GB" sz="900" i="1" kern="0" baseline="30000"/>
              <a:t>1</a:t>
            </a:r>
            <a:r>
              <a:rPr lang="en-GB" sz="900" i="1" u="sng" kern="0">
                <a:latin typeface="+mj-lt"/>
                <a:hlinkClick r:id="rId3"/>
              </a:rPr>
              <a:t>https://sustainabledevelopment.un.org/sdgs</a:t>
            </a:r>
            <a:r>
              <a:rPr lang="en-GB" sz="900" i="1">
                <a:latin typeface="+mj-lt"/>
              </a:rPr>
              <a:t>;</a:t>
            </a:r>
            <a:r>
              <a:rPr lang="en-GB" sz="900" i="1" baseline="30000"/>
              <a:t>2</a:t>
            </a:r>
            <a:r>
              <a:rPr lang="en-GB" sz="900" i="1">
                <a:latin typeface="+mj-lt"/>
                <a:hlinkClick r:id="rId4"/>
              </a:rPr>
              <a:t>http://www.sdgindex.org/reports/2018/</a:t>
            </a:r>
            <a:r>
              <a:rPr lang="en-GB" sz="900" i="1">
                <a:latin typeface="+mj-lt"/>
              </a:rPr>
              <a:t>;</a:t>
            </a:r>
            <a:r>
              <a:rPr lang="en-GB" sz="900" i="1" baseline="30000">
                <a:latin typeface="+mj-lt"/>
              </a:rPr>
              <a:t>3</a:t>
            </a:r>
            <a:r>
              <a:rPr lang="en-US" altLang="en-US" sz="900" i="1" err="1">
                <a:latin typeface="Arial Unicode MS" pitchFamily="34" charset="-128"/>
                <a:ea typeface="Arial Unicode MS" pitchFamily="34" charset="-128"/>
                <a:cs typeface="Arial Unicode MS" pitchFamily="34" charset="-128"/>
              </a:rPr>
              <a:t>Amini</a:t>
            </a:r>
            <a:r>
              <a:rPr lang="en-US" altLang="en-US" sz="900" i="1">
                <a:latin typeface="Arial Unicode MS" pitchFamily="34" charset="-128"/>
                <a:ea typeface="Arial Unicode MS" pitchFamily="34" charset="-128"/>
                <a:cs typeface="Arial Unicode MS" pitchFamily="34" charset="-128"/>
              </a:rPr>
              <a:t> et al EST 2008; 4 Smith et al  Bull WHO, 2000</a:t>
            </a:r>
            <a:endParaRPr lang="en-GB" sz="900" i="1">
              <a:solidFill>
                <a:srgbClr val="FF0000"/>
              </a:solidFill>
              <a:latin typeface="+mj-lt"/>
            </a:endParaRPr>
          </a:p>
        </p:txBody>
      </p:sp>
      <p:sp>
        <p:nvSpPr>
          <p:cNvPr id="17" name="TextBox 16"/>
          <p:cNvSpPr txBox="1"/>
          <p:nvPr/>
        </p:nvSpPr>
        <p:spPr>
          <a:xfrm>
            <a:off x="1697557" y="5386668"/>
            <a:ext cx="6229009" cy="784830"/>
          </a:xfrm>
          <a:prstGeom prst="rect">
            <a:avLst/>
          </a:prstGeom>
          <a:noFill/>
          <a:ln w="38100">
            <a:solidFill>
              <a:srgbClr val="FF6600"/>
            </a:solidFill>
          </a:ln>
        </p:spPr>
        <p:txBody>
          <a:bodyPr wrap="square" rtlCol="0">
            <a:spAutoFit/>
          </a:bodyPr>
          <a:lstStyle/>
          <a:p>
            <a:pPr algn="ctr"/>
            <a:r>
              <a:rPr lang="en-GB" sz="1500" b="1" i="1">
                <a:latin typeface="+mj-lt"/>
              </a:rPr>
              <a:t>Millions of people in S/SE Asia are exposed to dangerous concentrations of arsenic in groundwater; it is “</a:t>
            </a:r>
            <a:r>
              <a:rPr lang="en-GB" sz="1500" b="1" i="1" u="sng">
                <a:latin typeface="+mj-lt"/>
              </a:rPr>
              <a:t>the largest poisoning of a population in history</a:t>
            </a:r>
            <a:r>
              <a:rPr lang="en-GB" sz="1500" b="1" i="1">
                <a:latin typeface="+mj-lt"/>
              </a:rPr>
              <a:t>”</a:t>
            </a:r>
            <a:r>
              <a:rPr lang="en-GB" sz="1500" b="1" i="1" baseline="30000">
                <a:latin typeface="+mj-lt"/>
              </a:rPr>
              <a:t>4</a:t>
            </a:r>
          </a:p>
        </p:txBody>
      </p:sp>
      <p:pic>
        <p:nvPicPr>
          <p:cNvPr id="11" name="Picture 10"/>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840057" y="2406480"/>
            <a:ext cx="5940703" cy="2964173"/>
          </a:xfrm>
          <a:prstGeom prst="rect">
            <a:avLst/>
          </a:prstGeom>
        </p:spPr>
      </p:pic>
      <p:sp>
        <p:nvSpPr>
          <p:cNvPr id="12" name="TextBox 11"/>
          <p:cNvSpPr txBox="1"/>
          <p:nvPr/>
        </p:nvSpPr>
        <p:spPr>
          <a:xfrm>
            <a:off x="1547131" y="6451876"/>
            <a:ext cx="1737495" cy="207749"/>
          </a:xfrm>
          <a:prstGeom prst="rect">
            <a:avLst/>
          </a:prstGeom>
          <a:noFill/>
        </p:spPr>
        <p:txBody>
          <a:bodyPr wrap="square" lIns="68580" tIns="34290" rIns="68580" bIns="34290" rtlCol="0" anchor="t">
            <a:spAutoFit/>
          </a:bodyPr>
          <a:lstStyle/>
          <a:p>
            <a:r>
              <a:rPr lang="en-GB" sz="900">
                <a:latin typeface="+mj-lt"/>
              </a:rPr>
              <a:t>Slide credit: </a:t>
            </a:r>
            <a:r>
              <a:rPr lang="en-GB" sz="900" err="1">
                <a:latin typeface="+mj-lt"/>
              </a:rPr>
              <a:t>Dr.</a:t>
            </a:r>
            <a:r>
              <a:rPr lang="en-GB" sz="900">
                <a:latin typeface="+mj-lt"/>
              </a:rPr>
              <a:t> Laura Richards</a:t>
            </a:r>
          </a:p>
        </p:txBody>
      </p:sp>
      <p:pic>
        <p:nvPicPr>
          <p:cNvPr id="5" name="Picture 4" descr="A blue sign with a white text and a glass of water&#10;&#10;AI-generated content may be incorrect.">
            <a:extLst>
              <a:ext uri="{FF2B5EF4-FFF2-40B4-BE49-F238E27FC236}">
                <a16:creationId xmlns:a16="http://schemas.microsoft.com/office/drawing/2014/main" id="{1AA6F063-4435-3F63-E0AA-1A8279C86671}"/>
              </a:ext>
            </a:extLst>
          </p:cNvPr>
          <p:cNvPicPr>
            <a:picLocks noChangeAspect="1"/>
          </p:cNvPicPr>
          <p:nvPr/>
        </p:nvPicPr>
        <p:blipFill>
          <a:blip r:embed="rId6"/>
          <a:stretch>
            <a:fillRect/>
          </a:stretch>
        </p:blipFill>
        <p:spPr>
          <a:xfrm>
            <a:off x="7932595" y="2291"/>
            <a:ext cx="1215536" cy="1282461"/>
          </a:xfrm>
          <a:prstGeom prst="rect">
            <a:avLst/>
          </a:prstGeom>
        </p:spPr>
      </p:pic>
    </p:spTree>
    <p:extLst>
      <p:ext uri="{BB962C8B-B14F-4D97-AF65-F5344CB8AC3E}">
        <p14:creationId xmlns:p14="http://schemas.microsoft.com/office/powerpoint/2010/main" val="2498023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6BA0779-D4B9-FE4A-85D2-F2CC9703E65B}"/>
              </a:ext>
            </a:extLst>
          </p:cNvPr>
          <p:cNvSpPr txBox="1">
            <a:spLocks noGrp="1"/>
          </p:cNvSpPr>
          <p:nvPr>
            <p:ph idx="1"/>
          </p:nvPr>
        </p:nvSpPr>
        <p:spPr>
          <a:xfrm>
            <a:off x="5096595" y="1145158"/>
            <a:ext cx="3742695" cy="4166485"/>
          </a:xfrm>
          <a:prstGeom prst="rect">
            <a:avLst/>
          </a:prstGeom>
          <a:noFill/>
        </p:spPr>
        <p:txBody>
          <a:bodyPr wrap="square" rtlCol="0">
            <a:spAutoFit/>
          </a:bodyPr>
          <a:lstStyle/>
          <a:p>
            <a:pPr marL="0" indent="0">
              <a:buNone/>
            </a:pPr>
            <a:r>
              <a:rPr lang="en-GB" sz="2000" b="1">
                <a:solidFill>
                  <a:srgbClr val="FAAF2A"/>
                </a:solidFill>
                <a:latin typeface="Helvetica"/>
                <a:cs typeface="Helvetica"/>
              </a:rPr>
              <a:t>Key environmental science related challenges:</a:t>
            </a:r>
          </a:p>
          <a:p>
            <a:endParaRPr lang="en-GB" sz="1500">
              <a:latin typeface="Helvetica"/>
              <a:cs typeface="Helvetica"/>
            </a:endParaRPr>
          </a:p>
          <a:p>
            <a:r>
              <a:rPr lang="en-GB" sz="1800">
                <a:latin typeface="Helvetica"/>
                <a:cs typeface="Helvetica"/>
              </a:rPr>
              <a:t>Less dependence on non-renewable sources</a:t>
            </a:r>
            <a:endParaRPr lang="en-GB" sz="1800" b="1">
              <a:latin typeface="Helvetica"/>
              <a:cs typeface="Helvetica"/>
            </a:endParaRPr>
          </a:p>
          <a:p>
            <a:endParaRPr lang="en-GB" sz="1800">
              <a:latin typeface="Helvetica"/>
              <a:cs typeface="Helvetica"/>
            </a:endParaRPr>
          </a:p>
          <a:p>
            <a:r>
              <a:rPr lang="en-GB" sz="1800" b="1">
                <a:latin typeface="Helvetica"/>
                <a:cs typeface="Helvetica"/>
              </a:rPr>
              <a:t>Ensure renewable sources genuinely are renewable</a:t>
            </a:r>
            <a:endParaRPr lang="en-GB" sz="1800">
              <a:latin typeface="Helvetica"/>
              <a:cs typeface="Helvetica"/>
            </a:endParaRPr>
          </a:p>
          <a:p>
            <a:endParaRPr lang="en-GB" sz="1800">
              <a:latin typeface="Helvetica"/>
              <a:cs typeface="Helvetica"/>
            </a:endParaRPr>
          </a:p>
          <a:p>
            <a:r>
              <a:rPr lang="en-GB" sz="1800">
                <a:latin typeface="Helvetica"/>
                <a:cs typeface="Helvetica"/>
              </a:rPr>
              <a:t>Better distribution of energy resources </a:t>
            </a:r>
            <a:endParaRPr lang="en-GB" sz="1800" b="1">
              <a:latin typeface="Helvetica"/>
              <a:cs typeface="Helvetica"/>
            </a:endParaRPr>
          </a:p>
          <a:p>
            <a:endParaRPr lang="en-GB" sz="1350">
              <a:latin typeface="Helvetica"/>
              <a:cs typeface="Helvetica"/>
            </a:endParaRPr>
          </a:p>
          <a:p>
            <a:endParaRPr lang="en-GB" sz="1500">
              <a:latin typeface="Helvetica"/>
              <a:cs typeface="Helvetica"/>
            </a:endParaRPr>
          </a:p>
        </p:txBody>
      </p:sp>
      <p:pic>
        <p:nvPicPr>
          <p:cNvPr id="2" name="Picture 1" descr="A yellow and white infographic&#10;&#10;AI-generated content may be incorrect.">
            <a:extLst>
              <a:ext uri="{FF2B5EF4-FFF2-40B4-BE49-F238E27FC236}">
                <a16:creationId xmlns:a16="http://schemas.microsoft.com/office/drawing/2014/main" id="{C755B6AF-DC74-3DDD-72DF-E9B4493A0204}"/>
              </a:ext>
            </a:extLst>
          </p:cNvPr>
          <p:cNvPicPr>
            <a:picLocks noChangeAspect="1"/>
          </p:cNvPicPr>
          <p:nvPr/>
        </p:nvPicPr>
        <p:blipFill>
          <a:blip r:embed="rId2"/>
          <a:srcRect l="4401" t="5252" r="5070" b="937"/>
          <a:stretch/>
        </p:blipFill>
        <p:spPr>
          <a:xfrm>
            <a:off x="3052" y="-8922"/>
            <a:ext cx="4904614" cy="6867550"/>
          </a:xfrm>
          <a:prstGeom prst="rect">
            <a:avLst/>
          </a:prstGeom>
        </p:spPr>
      </p:pic>
      <p:sp>
        <p:nvSpPr>
          <p:cNvPr id="4" name="TextBox 3">
            <a:extLst>
              <a:ext uri="{FF2B5EF4-FFF2-40B4-BE49-F238E27FC236}">
                <a16:creationId xmlns:a16="http://schemas.microsoft.com/office/drawing/2014/main" id="{141D2626-BA96-B351-FB1A-FA0B1B7BF6E1}"/>
              </a:ext>
            </a:extLst>
          </p:cNvPr>
          <p:cNvSpPr txBox="1"/>
          <p:nvPr/>
        </p:nvSpPr>
        <p:spPr>
          <a:xfrm>
            <a:off x="5582306" y="6219813"/>
            <a:ext cx="31780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FCC116"/>
                </a:solidFill>
              </a:rPr>
              <a:t>Moderate progress</a:t>
            </a:r>
          </a:p>
        </p:txBody>
      </p:sp>
    </p:spTree>
    <p:extLst>
      <p:ext uri="{BB962C8B-B14F-4D97-AF65-F5344CB8AC3E}">
        <p14:creationId xmlns:p14="http://schemas.microsoft.com/office/powerpoint/2010/main" val="2603216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C2C6C-76C7-4529-A1CD-B945424AEB67}"/>
              </a:ext>
            </a:extLst>
          </p:cNvPr>
          <p:cNvSpPr>
            <a:spLocks noGrp="1"/>
          </p:cNvSpPr>
          <p:nvPr>
            <p:ph type="title"/>
          </p:nvPr>
        </p:nvSpPr>
        <p:spPr/>
        <p:txBody>
          <a:bodyPr/>
          <a:lstStyle/>
          <a:p>
            <a:endParaRPr lang="en-GB"/>
          </a:p>
        </p:txBody>
      </p:sp>
      <p:pic>
        <p:nvPicPr>
          <p:cNvPr id="10" name="Picture 9">
            <a:extLst>
              <a:ext uri="{FF2B5EF4-FFF2-40B4-BE49-F238E27FC236}">
                <a16:creationId xmlns:a16="http://schemas.microsoft.com/office/drawing/2014/main" id="{46BEDBFF-F7E6-0599-30BF-BDBB5ED62DC1}"/>
              </a:ext>
            </a:extLst>
          </p:cNvPr>
          <p:cNvPicPr>
            <a:picLocks noChangeAspect="1"/>
          </p:cNvPicPr>
          <p:nvPr/>
        </p:nvPicPr>
        <p:blipFill>
          <a:blip r:embed="rId3"/>
          <a:stretch>
            <a:fillRect/>
          </a:stretch>
        </p:blipFill>
        <p:spPr>
          <a:xfrm>
            <a:off x="79075" y="66495"/>
            <a:ext cx="6858000" cy="1494089"/>
          </a:xfrm>
          <a:prstGeom prst="rect">
            <a:avLst/>
          </a:prstGeom>
        </p:spPr>
      </p:pic>
      <p:sp>
        <p:nvSpPr>
          <p:cNvPr id="7" name="TextBox 6">
            <a:extLst>
              <a:ext uri="{FF2B5EF4-FFF2-40B4-BE49-F238E27FC236}">
                <a16:creationId xmlns:a16="http://schemas.microsoft.com/office/drawing/2014/main" id="{C23659F3-7ECE-6CDB-72CA-8C68AB698293}"/>
              </a:ext>
            </a:extLst>
          </p:cNvPr>
          <p:cNvSpPr txBox="1"/>
          <p:nvPr/>
        </p:nvSpPr>
        <p:spPr>
          <a:xfrm>
            <a:off x="4567287" y="1710537"/>
            <a:ext cx="4377905" cy="4847994"/>
          </a:xfrm>
          <a:prstGeom prst="rect">
            <a:avLst/>
          </a:prstGeom>
          <a:noFill/>
        </p:spPr>
        <p:txBody>
          <a:bodyPr wrap="square" lIns="91440" tIns="45720" rIns="91440" bIns="45720" anchor="t">
            <a:spAutoFit/>
          </a:bodyPr>
          <a:lstStyle/>
          <a:p>
            <a:pPr marL="213995" indent="-213995">
              <a:lnSpc>
                <a:spcPct val="150000"/>
              </a:lnSpc>
              <a:buFont typeface="Arial" panose="020B0604020202020204" pitchFamily="34" charset="0"/>
              <a:buChar char="•"/>
            </a:pPr>
            <a:r>
              <a:rPr lang="en-GB" sz="1600">
                <a:latin typeface="Helvetica"/>
              </a:rPr>
              <a:t>Total primary energy consumption increased by 2% over its 2022 level, 0.6% above its ten-year average and over 5% above its 2019 pre-COVID level.</a:t>
            </a:r>
          </a:p>
          <a:p>
            <a:pPr marL="213995" indent="-213995">
              <a:lnSpc>
                <a:spcPct val="150000"/>
              </a:lnSpc>
              <a:buFont typeface="Arial" panose="020B0604020202020204" pitchFamily="34" charset="0"/>
              <a:buChar char="•"/>
            </a:pPr>
            <a:endParaRPr lang="en-GB" sz="1600">
              <a:latin typeface="Helvetica"/>
            </a:endParaRPr>
          </a:p>
          <a:p>
            <a:pPr marL="213995" indent="-213995">
              <a:lnSpc>
                <a:spcPct val="150000"/>
              </a:lnSpc>
              <a:buFont typeface="Arial" panose="020B0604020202020204" pitchFamily="34" charset="0"/>
              <a:buChar char="•"/>
            </a:pPr>
            <a:r>
              <a:rPr lang="en-GB" sz="1600">
                <a:latin typeface="Helvetica"/>
              </a:rPr>
              <a:t>Renewables’ share of total primary energy consumption reached 14.6%, an increase of 0.4% over the previous year. Together with nuclear, they represented over 18% of total primary energy consumption.</a:t>
            </a:r>
          </a:p>
          <a:p>
            <a:pPr marL="213995" indent="-213995">
              <a:lnSpc>
                <a:spcPct val="150000"/>
              </a:lnSpc>
              <a:buFont typeface="Arial" panose="020B0604020202020204" pitchFamily="34" charset="0"/>
              <a:buChar char="•"/>
            </a:pPr>
            <a:endParaRPr lang="en-GB" sz="1600">
              <a:latin typeface="Helvetica"/>
            </a:endParaRPr>
          </a:p>
          <a:p>
            <a:pPr marL="213995" indent="-213995">
              <a:lnSpc>
                <a:spcPct val="150000"/>
              </a:lnSpc>
              <a:buFont typeface="Arial" panose="020B0604020202020204" pitchFamily="34" charset="0"/>
              <a:buChar char="•"/>
            </a:pPr>
            <a:r>
              <a:rPr lang="en-GB" sz="1600">
                <a:latin typeface="Helvetica"/>
              </a:rPr>
              <a:t>Fossil fuel consumption as a percentage of primary energy dropped 0.4% to 81.5%.</a:t>
            </a:r>
          </a:p>
        </p:txBody>
      </p:sp>
      <p:sp>
        <p:nvSpPr>
          <p:cNvPr id="11" name="TextBox 10">
            <a:extLst>
              <a:ext uri="{FF2B5EF4-FFF2-40B4-BE49-F238E27FC236}">
                <a16:creationId xmlns:a16="http://schemas.microsoft.com/office/drawing/2014/main" id="{70B3E153-71D1-9A89-4894-0A2E4136CBB1}"/>
              </a:ext>
            </a:extLst>
          </p:cNvPr>
          <p:cNvSpPr txBox="1"/>
          <p:nvPr/>
        </p:nvSpPr>
        <p:spPr>
          <a:xfrm>
            <a:off x="887167" y="5482492"/>
            <a:ext cx="3429000" cy="253916"/>
          </a:xfrm>
          <a:prstGeom prst="rect">
            <a:avLst/>
          </a:prstGeom>
          <a:noFill/>
        </p:spPr>
        <p:txBody>
          <a:bodyPr wrap="square">
            <a:spAutoFit/>
          </a:bodyPr>
          <a:lstStyle/>
          <a:p>
            <a:r>
              <a:rPr lang="en-GB" sz="1050"/>
              <a:t>https://www.energyinst.org/statistical-review/home</a:t>
            </a:r>
          </a:p>
        </p:txBody>
      </p:sp>
      <p:pic>
        <p:nvPicPr>
          <p:cNvPr id="4" name="Picture 3">
            <a:extLst>
              <a:ext uri="{FF2B5EF4-FFF2-40B4-BE49-F238E27FC236}">
                <a16:creationId xmlns:a16="http://schemas.microsoft.com/office/drawing/2014/main" id="{D6C11DF6-6277-AE59-E60C-653AB3598839}"/>
              </a:ext>
            </a:extLst>
          </p:cNvPr>
          <p:cNvPicPr>
            <a:picLocks noChangeAspect="1"/>
          </p:cNvPicPr>
          <p:nvPr/>
        </p:nvPicPr>
        <p:blipFill>
          <a:blip r:embed="rId4"/>
          <a:stretch>
            <a:fillRect/>
          </a:stretch>
        </p:blipFill>
        <p:spPr>
          <a:xfrm>
            <a:off x="-2082974" y="1989324"/>
            <a:ext cx="6756747" cy="4045158"/>
          </a:xfrm>
          <a:prstGeom prst="rect">
            <a:avLst/>
          </a:prstGeom>
        </p:spPr>
      </p:pic>
      <p:sp>
        <p:nvSpPr>
          <p:cNvPr id="6" name="Freeform: Shape 5">
            <a:extLst>
              <a:ext uri="{FF2B5EF4-FFF2-40B4-BE49-F238E27FC236}">
                <a16:creationId xmlns:a16="http://schemas.microsoft.com/office/drawing/2014/main" id="{B78A71F3-971C-2D98-1E32-1C7B961E654F}"/>
              </a:ext>
            </a:extLst>
          </p:cNvPr>
          <p:cNvSpPr/>
          <p:nvPr/>
        </p:nvSpPr>
        <p:spPr>
          <a:xfrm>
            <a:off x="3450771" y="1698171"/>
            <a:ext cx="1262743" cy="1698172"/>
          </a:xfrm>
          <a:custGeom>
            <a:avLst/>
            <a:gdLst>
              <a:gd name="connsiteX0" fmla="*/ 598715 w 1262743"/>
              <a:gd name="connsiteY0" fmla="*/ 163286 h 1698172"/>
              <a:gd name="connsiteX1" fmla="*/ 0 w 1262743"/>
              <a:gd name="connsiteY1" fmla="*/ 413658 h 1698172"/>
              <a:gd name="connsiteX2" fmla="*/ 718458 w 1262743"/>
              <a:gd name="connsiteY2" fmla="*/ 1698172 h 1698172"/>
              <a:gd name="connsiteX3" fmla="*/ 1262743 w 1262743"/>
              <a:gd name="connsiteY3" fmla="*/ 740229 h 1698172"/>
              <a:gd name="connsiteX4" fmla="*/ 1251858 w 1262743"/>
              <a:gd name="connsiteY4" fmla="*/ 348343 h 1698172"/>
              <a:gd name="connsiteX5" fmla="*/ 1186543 w 1262743"/>
              <a:gd name="connsiteY5" fmla="*/ 0 h 1698172"/>
              <a:gd name="connsiteX6" fmla="*/ 598715 w 1262743"/>
              <a:gd name="connsiteY6" fmla="*/ 163286 h 169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2743" h="1698172">
                <a:moveTo>
                  <a:pt x="598715" y="163286"/>
                </a:moveTo>
                <a:lnTo>
                  <a:pt x="0" y="413658"/>
                </a:lnTo>
                <a:lnTo>
                  <a:pt x="718458" y="1698172"/>
                </a:lnTo>
                <a:lnTo>
                  <a:pt x="1262743" y="740229"/>
                </a:lnTo>
                <a:lnTo>
                  <a:pt x="1251858" y="348343"/>
                </a:lnTo>
                <a:lnTo>
                  <a:pt x="1186543" y="0"/>
                </a:lnTo>
                <a:lnTo>
                  <a:pt x="598715" y="163286"/>
                </a:lnTo>
                <a:close/>
              </a:path>
            </a:pathLst>
          </a:cu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032300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D1C1C3D-70D6-CE4B-AA85-B639012333CF}"/>
              </a:ext>
            </a:extLst>
          </p:cNvPr>
          <p:cNvSpPr txBox="1">
            <a:spLocks noGrp="1"/>
          </p:cNvSpPr>
          <p:nvPr>
            <p:ph idx="1"/>
          </p:nvPr>
        </p:nvSpPr>
        <p:spPr>
          <a:xfrm>
            <a:off x="5129482" y="983783"/>
            <a:ext cx="3796612" cy="5575332"/>
          </a:xfrm>
          <a:prstGeom prst="rect">
            <a:avLst/>
          </a:prstGeom>
          <a:noFill/>
        </p:spPr>
        <p:txBody>
          <a:bodyPr wrap="square" rtlCol="0">
            <a:spAutoFit/>
          </a:bodyPr>
          <a:lstStyle/>
          <a:p>
            <a:pPr marL="0" indent="0">
              <a:buNone/>
            </a:pPr>
            <a:r>
              <a:rPr lang="en-GB" sz="2000" b="1">
                <a:solidFill>
                  <a:srgbClr val="F39531"/>
                </a:solidFill>
                <a:latin typeface="Helvetica"/>
                <a:cs typeface="Helvetica"/>
              </a:rPr>
              <a:t>Key environmental science related challenges:</a:t>
            </a:r>
          </a:p>
          <a:p>
            <a:endParaRPr lang="en-GB" sz="1800">
              <a:latin typeface="Helvetica"/>
              <a:cs typeface="Helvetica"/>
            </a:endParaRPr>
          </a:p>
          <a:p>
            <a:r>
              <a:rPr lang="en-GB" sz="1800">
                <a:latin typeface="Helvetica"/>
                <a:cs typeface="Helvetica"/>
              </a:rPr>
              <a:t>Ensure cities have </a:t>
            </a:r>
            <a:r>
              <a:rPr lang="en-GB" sz="1800" b="1">
                <a:latin typeface="Helvetica"/>
                <a:cs typeface="Helvetica"/>
              </a:rPr>
              <a:t>clean environments</a:t>
            </a:r>
            <a:r>
              <a:rPr lang="en-GB" sz="1800">
                <a:latin typeface="Helvetica"/>
                <a:cs typeface="Helvetica"/>
              </a:rPr>
              <a:t> (air, water, greenspace, noise)</a:t>
            </a:r>
            <a:endParaRPr lang="en-GB" sz="1800" b="1">
              <a:latin typeface="Helvetica"/>
              <a:cs typeface="Helvetica"/>
            </a:endParaRPr>
          </a:p>
          <a:p>
            <a:endParaRPr lang="en-GB" sz="1800">
              <a:latin typeface="Helvetica"/>
              <a:cs typeface="Helvetica"/>
            </a:endParaRPr>
          </a:p>
          <a:p>
            <a:r>
              <a:rPr lang="en-GB" sz="1800">
                <a:latin typeface="Helvetica"/>
                <a:cs typeface="Helvetica"/>
              </a:rPr>
              <a:t>Ensure </a:t>
            </a:r>
            <a:r>
              <a:rPr lang="en-GB" sz="1800" b="1">
                <a:latin typeface="Helvetica"/>
                <a:cs typeface="Helvetica"/>
              </a:rPr>
              <a:t>clean water</a:t>
            </a:r>
            <a:r>
              <a:rPr lang="en-GB" sz="1800">
                <a:latin typeface="Helvetica"/>
                <a:cs typeface="Helvetica"/>
              </a:rPr>
              <a:t> is available</a:t>
            </a:r>
            <a:endParaRPr lang="en-GB" sz="1800" b="1">
              <a:latin typeface="Helvetica"/>
              <a:cs typeface="Helvetica"/>
            </a:endParaRPr>
          </a:p>
          <a:p>
            <a:endParaRPr lang="en-GB" sz="1800">
              <a:latin typeface="Helvetica"/>
              <a:cs typeface="Helvetica"/>
            </a:endParaRPr>
          </a:p>
          <a:p>
            <a:r>
              <a:rPr lang="en-GB" sz="1800">
                <a:latin typeface="Helvetica"/>
                <a:cs typeface="Helvetica"/>
              </a:rPr>
              <a:t>Can cities become </a:t>
            </a:r>
            <a:r>
              <a:rPr lang="en-GB" sz="1800" b="1">
                <a:latin typeface="Helvetica"/>
                <a:cs typeface="Helvetica"/>
              </a:rPr>
              <a:t>carbon neutral?</a:t>
            </a:r>
          </a:p>
          <a:p>
            <a:endParaRPr lang="en-GB" sz="1800">
              <a:latin typeface="Helvetica"/>
              <a:cs typeface="Helvetica"/>
            </a:endParaRPr>
          </a:p>
          <a:p>
            <a:r>
              <a:rPr lang="en-GB" sz="1800">
                <a:latin typeface="Helvetica"/>
                <a:cs typeface="Helvetica"/>
              </a:rPr>
              <a:t>Urban-agriculture?</a:t>
            </a:r>
          </a:p>
          <a:p>
            <a:endParaRPr lang="en-GB" sz="1800">
              <a:latin typeface="Helvetica"/>
              <a:cs typeface="Helvetica"/>
            </a:endParaRPr>
          </a:p>
          <a:p>
            <a:r>
              <a:rPr lang="en-GB" sz="1800">
                <a:latin typeface="Helvetica"/>
                <a:cs typeface="Helvetica"/>
              </a:rPr>
              <a:t>Conservation of green-belts, use of ‘brown-field’ sites</a:t>
            </a:r>
          </a:p>
          <a:p>
            <a:endParaRPr lang="en-GB" sz="1500">
              <a:latin typeface="Helvetica"/>
              <a:cs typeface="Helvetica"/>
            </a:endParaRPr>
          </a:p>
        </p:txBody>
      </p:sp>
      <p:pic>
        <p:nvPicPr>
          <p:cNvPr id="2" name="Picture 1">
            <a:extLst>
              <a:ext uri="{FF2B5EF4-FFF2-40B4-BE49-F238E27FC236}">
                <a16:creationId xmlns:a16="http://schemas.microsoft.com/office/drawing/2014/main" id="{E2239E90-B347-66EE-2BE6-4EBF0B6D1E74}"/>
              </a:ext>
            </a:extLst>
          </p:cNvPr>
          <p:cNvPicPr>
            <a:picLocks noChangeAspect="1"/>
          </p:cNvPicPr>
          <p:nvPr/>
        </p:nvPicPr>
        <p:blipFill>
          <a:blip r:embed="rId2"/>
          <a:srcRect l="3721" t="4878" r="3721" b="348"/>
          <a:stretch/>
        </p:blipFill>
        <p:spPr>
          <a:xfrm>
            <a:off x="-18910" y="12488"/>
            <a:ext cx="5071651" cy="6861480"/>
          </a:xfrm>
          <a:prstGeom prst="rect">
            <a:avLst/>
          </a:prstGeom>
        </p:spPr>
      </p:pic>
    </p:spTree>
    <p:extLst>
      <p:ext uri="{BB962C8B-B14F-4D97-AF65-F5344CB8AC3E}">
        <p14:creationId xmlns:p14="http://schemas.microsoft.com/office/powerpoint/2010/main" val="3791563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F2A6A-A597-2247-A989-2F11B3155D8E}"/>
              </a:ext>
            </a:extLst>
          </p:cNvPr>
          <p:cNvSpPr>
            <a:spLocks noGrp="1"/>
          </p:cNvSpPr>
          <p:nvPr>
            <p:ph type="title"/>
          </p:nvPr>
        </p:nvSpPr>
        <p:spPr>
          <a:xfrm>
            <a:off x="277394" y="282831"/>
            <a:ext cx="5915025" cy="393668"/>
          </a:xfrm>
        </p:spPr>
        <p:txBody>
          <a:bodyPr>
            <a:noAutofit/>
          </a:bodyPr>
          <a:lstStyle/>
          <a:p>
            <a:r>
              <a:rPr lang="en-GB" sz="2700" b="1">
                <a:solidFill>
                  <a:srgbClr val="F39531"/>
                </a:solidFill>
                <a:latin typeface="Helvetica"/>
                <a:cs typeface="Helvetica"/>
              </a:rPr>
              <a:t>Sustainable cities – key facts</a:t>
            </a:r>
          </a:p>
        </p:txBody>
      </p:sp>
      <p:sp>
        <p:nvSpPr>
          <p:cNvPr id="4" name="Rectangle 3">
            <a:extLst>
              <a:ext uri="{FF2B5EF4-FFF2-40B4-BE49-F238E27FC236}">
                <a16:creationId xmlns:a16="http://schemas.microsoft.com/office/drawing/2014/main" id="{42E13DCA-2454-0B44-AD3B-BFDE8EE1D594}"/>
              </a:ext>
            </a:extLst>
          </p:cNvPr>
          <p:cNvSpPr/>
          <p:nvPr/>
        </p:nvSpPr>
        <p:spPr>
          <a:xfrm>
            <a:off x="585447" y="1709282"/>
            <a:ext cx="7988922" cy="4708981"/>
          </a:xfrm>
          <a:prstGeom prst="rect">
            <a:avLst/>
          </a:prstGeom>
        </p:spPr>
        <p:txBody>
          <a:bodyPr wrap="square" lIns="68580" tIns="34290" rIns="68580" bIns="34290" anchor="t">
            <a:spAutoFit/>
          </a:bodyPr>
          <a:lstStyle/>
          <a:p>
            <a:pPr>
              <a:buFont typeface="Arial" panose="020B0604020202020204" pitchFamily="34" charset="0"/>
              <a:buChar char="•"/>
            </a:pPr>
            <a:r>
              <a:rPr lang="en-GB" sz="1800">
                <a:solidFill>
                  <a:srgbClr val="4D4D4D"/>
                </a:solidFill>
                <a:latin typeface="Helvetica"/>
                <a:cs typeface="Helvetica"/>
              </a:rPr>
              <a:t> </a:t>
            </a:r>
            <a:r>
              <a:rPr lang="en-GB" sz="1800" b="0" i="0" u="none" strike="noStrike">
                <a:solidFill>
                  <a:srgbClr val="4D4D4D"/>
                </a:solidFill>
                <a:effectLst/>
                <a:latin typeface="Helvetica"/>
                <a:cs typeface="Helvetica"/>
              </a:rPr>
              <a:t> Half of humanity – 3.5 billion people – lives in cities today and 5 billion people are projected to live in cities by 2030.</a:t>
            </a:r>
          </a:p>
          <a:p>
            <a:pPr>
              <a:buFont typeface="Arial" panose="020B0604020202020204" pitchFamily="34" charset="0"/>
              <a:buChar char="•"/>
            </a:pPr>
            <a:endParaRPr lang="en-GB" sz="1800" b="0" i="0" u="none" strike="noStrike">
              <a:solidFill>
                <a:srgbClr val="4D4D4D"/>
              </a:solidFill>
              <a:effectLst/>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a:t>
            </a:r>
            <a:r>
              <a:rPr lang="en-GB" sz="1800" b="0" i="0" u="none" strike="noStrike">
                <a:solidFill>
                  <a:srgbClr val="4D4D4D"/>
                </a:solidFill>
                <a:effectLst/>
                <a:latin typeface="Helvetica"/>
                <a:cs typeface="Helvetica"/>
              </a:rPr>
              <a:t> 95% of urban expansion in the next decades will take place in developing world</a:t>
            </a:r>
          </a:p>
          <a:p>
            <a:pPr>
              <a:buFont typeface="Arial" panose="020B0604020202020204" pitchFamily="34" charset="0"/>
              <a:buChar char="•"/>
            </a:pPr>
            <a:endParaRPr lang="en-GB" sz="1800" b="0" i="0" u="none" strike="noStrike">
              <a:solidFill>
                <a:srgbClr val="4D4D4D"/>
              </a:solidFill>
              <a:effectLst/>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a:t>
            </a:r>
            <a:r>
              <a:rPr lang="en-GB" sz="1800" b="0" i="0" u="none" strike="noStrike">
                <a:solidFill>
                  <a:srgbClr val="4D4D4D"/>
                </a:solidFill>
                <a:effectLst/>
                <a:latin typeface="Helvetica"/>
                <a:cs typeface="Helvetica"/>
              </a:rPr>
              <a:t> </a:t>
            </a:r>
            <a:r>
              <a:rPr lang="en-GB" sz="1800" b="1" i="0" u="none" strike="noStrike">
                <a:solidFill>
                  <a:srgbClr val="4D4D4D"/>
                </a:solidFill>
                <a:effectLst/>
                <a:latin typeface="Helvetica"/>
                <a:cs typeface="Helvetica"/>
              </a:rPr>
              <a:t>883 million people live in slums today </a:t>
            </a:r>
            <a:r>
              <a:rPr lang="en-GB" sz="1800" b="0" i="0" u="none" strike="noStrike">
                <a:solidFill>
                  <a:srgbClr val="4D4D4D"/>
                </a:solidFill>
                <a:effectLst/>
                <a:latin typeface="Helvetica"/>
                <a:cs typeface="Helvetica"/>
              </a:rPr>
              <a:t>and most them are found in Eastern and South-Eastern Asia.</a:t>
            </a:r>
          </a:p>
          <a:p>
            <a:pPr>
              <a:buFont typeface="Arial" panose="020B0604020202020204" pitchFamily="34" charset="0"/>
              <a:buChar char="•"/>
            </a:pPr>
            <a:endParaRPr lang="en-GB" sz="1800" b="0" i="0" u="none" strike="noStrike">
              <a:solidFill>
                <a:srgbClr val="4D4D4D"/>
              </a:solidFill>
              <a:effectLst/>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a:t>
            </a:r>
            <a:r>
              <a:rPr lang="en-GB" sz="1800" b="0" i="0" u="none" strike="noStrike">
                <a:solidFill>
                  <a:srgbClr val="4D4D4D"/>
                </a:solidFill>
                <a:effectLst/>
                <a:latin typeface="Helvetica"/>
                <a:cs typeface="Helvetica"/>
              </a:rPr>
              <a:t> The world’s cities occupy just </a:t>
            </a:r>
            <a:r>
              <a:rPr lang="en-GB" sz="1800" b="1" i="0" u="none" strike="noStrike">
                <a:solidFill>
                  <a:srgbClr val="4D4D4D"/>
                </a:solidFill>
                <a:effectLst/>
                <a:latin typeface="Helvetica"/>
                <a:cs typeface="Helvetica"/>
              </a:rPr>
              <a:t>3% of the Earth’s land, but account for 60-80% of energy consumption and 75% of carbon emissions</a:t>
            </a:r>
            <a:r>
              <a:rPr lang="en-GB" sz="1800" b="0" i="0" u="none" strike="noStrike">
                <a:solidFill>
                  <a:srgbClr val="4D4D4D"/>
                </a:solidFill>
                <a:effectLst/>
                <a:latin typeface="Helvetica"/>
                <a:cs typeface="Helvetica"/>
              </a:rPr>
              <a:t>.</a:t>
            </a:r>
          </a:p>
          <a:p>
            <a:pPr>
              <a:buFont typeface="Arial" panose="020B0604020202020204" pitchFamily="34" charset="0"/>
              <a:buChar char="•"/>
            </a:pPr>
            <a:endParaRPr lang="en-GB" sz="1800" b="0" i="0" u="none" strike="noStrike">
              <a:solidFill>
                <a:srgbClr val="4D4D4D"/>
              </a:solidFill>
              <a:effectLst/>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a:t>
            </a:r>
            <a:r>
              <a:rPr lang="en-GB" sz="1800" b="0" i="0" u="none" strike="noStrike">
                <a:solidFill>
                  <a:srgbClr val="4D4D4D"/>
                </a:solidFill>
                <a:effectLst/>
                <a:latin typeface="Helvetica"/>
                <a:cs typeface="Helvetica"/>
              </a:rPr>
              <a:t> </a:t>
            </a:r>
            <a:r>
              <a:rPr lang="en-GB" sz="1800" b="1" i="0" u="none" strike="noStrike">
                <a:solidFill>
                  <a:srgbClr val="4D4D4D"/>
                </a:solidFill>
                <a:effectLst/>
                <a:latin typeface="Helvetica"/>
                <a:cs typeface="Helvetica"/>
              </a:rPr>
              <a:t>90% of urban dwellers breathe unsafe air</a:t>
            </a:r>
            <a:r>
              <a:rPr lang="en-GB" sz="1800" b="0" i="0" u="none" strike="noStrike">
                <a:solidFill>
                  <a:srgbClr val="4D4D4D"/>
                </a:solidFill>
                <a:effectLst/>
                <a:latin typeface="Helvetica"/>
                <a:cs typeface="Helvetica"/>
              </a:rPr>
              <a:t>, resulting in 4.2 million deaths due to ambient air pollution. &gt;50% of the global urban population were exposed to air pollution &gt;2.5 times higher than the safety standard (data from 2016</a:t>
            </a:r>
            <a:r>
              <a:rPr lang="en-GB" sz="1800">
                <a:solidFill>
                  <a:srgbClr val="4D4D4D"/>
                </a:solidFill>
                <a:latin typeface="Helvetica"/>
                <a:cs typeface="Helvetica"/>
              </a:rPr>
              <a:t>).</a:t>
            </a:r>
          </a:p>
          <a:p>
            <a:pPr>
              <a:buFont typeface="Arial" panose="020B0604020202020204" pitchFamily="34" charset="0"/>
              <a:buChar char="•"/>
            </a:pPr>
            <a:endParaRPr lang="en-GB">
              <a:solidFill>
                <a:srgbClr val="4D4D4D"/>
              </a:solidFill>
              <a:latin typeface="Helvetica"/>
              <a:cs typeface="Helvetica"/>
            </a:endParaRPr>
          </a:p>
        </p:txBody>
      </p:sp>
      <p:pic>
        <p:nvPicPr>
          <p:cNvPr id="5" name="Picture 4">
            <a:extLst>
              <a:ext uri="{FF2B5EF4-FFF2-40B4-BE49-F238E27FC236}">
                <a16:creationId xmlns:a16="http://schemas.microsoft.com/office/drawing/2014/main" id="{DF0C7EF2-ACC2-A240-8352-7D18749511A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953916" y="-898"/>
            <a:ext cx="1190313" cy="1261139"/>
          </a:xfrm>
          <a:prstGeom prst="rect">
            <a:avLst/>
          </a:prstGeom>
        </p:spPr>
      </p:pic>
    </p:spTree>
    <p:extLst>
      <p:ext uri="{BB962C8B-B14F-4D97-AF65-F5344CB8AC3E}">
        <p14:creationId xmlns:p14="http://schemas.microsoft.com/office/powerpoint/2010/main" val="4173977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1A079C-2317-2D48-AC75-8A1DA4B04C2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95226" y="356958"/>
            <a:ext cx="2865351" cy="1090858"/>
          </a:xfrm>
          <a:prstGeom prst="rect">
            <a:avLst/>
          </a:prstGeom>
        </p:spPr>
      </p:pic>
      <p:sp>
        <p:nvSpPr>
          <p:cNvPr id="3" name="Content Placeholder 2">
            <a:extLst>
              <a:ext uri="{FF2B5EF4-FFF2-40B4-BE49-F238E27FC236}">
                <a16:creationId xmlns:a16="http://schemas.microsoft.com/office/drawing/2014/main" id="{6C591156-4BDD-8347-A2A7-EDDC5F784882}"/>
              </a:ext>
            </a:extLst>
          </p:cNvPr>
          <p:cNvSpPr>
            <a:spLocks noGrp="1"/>
          </p:cNvSpPr>
          <p:nvPr>
            <p:ph idx="1"/>
          </p:nvPr>
        </p:nvSpPr>
        <p:spPr>
          <a:xfrm>
            <a:off x="4695357" y="1850413"/>
            <a:ext cx="4104946" cy="1122015"/>
          </a:xfrm>
        </p:spPr>
        <p:txBody>
          <a:bodyPr>
            <a:normAutofit fontScale="92500" lnSpcReduction="10000"/>
          </a:bodyPr>
          <a:lstStyle/>
          <a:p>
            <a:r>
              <a:rPr lang="en-GB" sz="1800">
                <a:latin typeface="Helvetica"/>
                <a:cs typeface="Helvetica"/>
              </a:rPr>
              <a:t>Electrification of vehicles would potentially lead to a reduction in air pollution in cities but </a:t>
            </a:r>
            <a:r>
              <a:rPr lang="en-GB" sz="1800" b="1">
                <a:latin typeface="Helvetica"/>
                <a:cs typeface="Helvetica"/>
              </a:rPr>
              <a:t>what resources are required?</a:t>
            </a:r>
          </a:p>
          <a:p>
            <a:endParaRPr lang="en-GB" sz="1800">
              <a:latin typeface="Helvetica"/>
              <a:cs typeface="Helvetica"/>
            </a:endParaRPr>
          </a:p>
        </p:txBody>
      </p:sp>
      <p:pic>
        <p:nvPicPr>
          <p:cNvPr id="7" name="Picture 6">
            <a:extLst>
              <a:ext uri="{FF2B5EF4-FFF2-40B4-BE49-F238E27FC236}">
                <a16:creationId xmlns:a16="http://schemas.microsoft.com/office/drawing/2014/main" id="{8D407DA1-165C-C2CC-ED33-58A99492E50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53916" y="-898"/>
            <a:ext cx="1190313" cy="1261139"/>
          </a:xfrm>
          <a:prstGeom prst="rect">
            <a:avLst/>
          </a:prstGeom>
        </p:spPr>
      </p:pic>
      <p:pic>
        <p:nvPicPr>
          <p:cNvPr id="11" name="Picture 10">
            <a:extLst>
              <a:ext uri="{FF2B5EF4-FFF2-40B4-BE49-F238E27FC236}">
                <a16:creationId xmlns:a16="http://schemas.microsoft.com/office/drawing/2014/main" id="{B5750E2F-7296-585A-9F2F-3FF72E36C270}"/>
              </a:ext>
            </a:extLst>
          </p:cNvPr>
          <p:cNvPicPr>
            <a:picLocks noChangeAspect="1"/>
          </p:cNvPicPr>
          <p:nvPr/>
        </p:nvPicPr>
        <p:blipFill>
          <a:blip r:embed="rId5"/>
          <a:stretch>
            <a:fillRect/>
          </a:stretch>
        </p:blipFill>
        <p:spPr>
          <a:xfrm>
            <a:off x="385923" y="1260241"/>
            <a:ext cx="4120069" cy="4509188"/>
          </a:xfrm>
          <a:prstGeom prst="rect">
            <a:avLst/>
          </a:prstGeom>
        </p:spPr>
      </p:pic>
      <p:sp>
        <p:nvSpPr>
          <p:cNvPr id="16" name="TextBox 15">
            <a:extLst>
              <a:ext uri="{FF2B5EF4-FFF2-40B4-BE49-F238E27FC236}">
                <a16:creationId xmlns:a16="http://schemas.microsoft.com/office/drawing/2014/main" id="{DEB08381-B778-9C46-F985-DB9EC2B012AC}"/>
              </a:ext>
            </a:extLst>
          </p:cNvPr>
          <p:cNvSpPr txBox="1"/>
          <p:nvPr/>
        </p:nvSpPr>
        <p:spPr>
          <a:xfrm>
            <a:off x="253093" y="5864249"/>
            <a:ext cx="4642756" cy="307777"/>
          </a:xfrm>
          <a:prstGeom prst="rect">
            <a:avLst/>
          </a:prstGeom>
          <a:noFill/>
        </p:spPr>
        <p:txBody>
          <a:bodyPr wrap="square">
            <a:spAutoFit/>
          </a:bodyPr>
          <a:lstStyle/>
          <a:p>
            <a:r>
              <a:rPr lang="nn-NO"/>
              <a:t>Statistical Review of World Energy 2024</a:t>
            </a:r>
            <a:endParaRPr lang="en-GB"/>
          </a:p>
        </p:txBody>
      </p:sp>
      <p:pic>
        <p:nvPicPr>
          <p:cNvPr id="18" name="Picture 17">
            <a:extLst>
              <a:ext uri="{FF2B5EF4-FFF2-40B4-BE49-F238E27FC236}">
                <a16:creationId xmlns:a16="http://schemas.microsoft.com/office/drawing/2014/main" id="{A6047548-AF49-A33E-9FEC-B69BAEB989A4}"/>
              </a:ext>
            </a:extLst>
          </p:cNvPr>
          <p:cNvPicPr>
            <a:picLocks noChangeAspect="1"/>
          </p:cNvPicPr>
          <p:nvPr/>
        </p:nvPicPr>
        <p:blipFill>
          <a:blip r:embed="rId6"/>
          <a:stretch>
            <a:fillRect/>
          </a:stretch>
        </p:blipFill>
        <p:spPr>
          <a:xfrm>
            <a:off x="4803335" y="3705486"/>
            <a:ext cx="4027555" cy="1883856"/>
          </a:xfrm>
          <a:prstGeom prst="rect">
            <a:avLst/>
          </a:prstGeom>
        </p:spPr>
      </p:pic>
    </p:spTree>
    <p:extLst>
      <p:ext uri="{BB962C8B-B14F-4D97-AF65-F5344CB8AC3E}">
        <p14:creationId xmlns:p14="http://schemas.microsoft.com/office/powerpoint/2010/main" val="4155995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4">
            <a:extLst>
              <a:ext uri="{FF2B5EF4-FFF2-40B4-BE49-F238E27FC236}">
                <a16:creationId xmlns:a16="http://schemas.microsoft.com/office/drawing/2014/main" id="{A464EDCA-088B-7F4E-85C3-B5541DA2DFC1}"/>
              </a:ext>
            </a:extLst>
          </p:cNvPr>
          <p:cNvSpPr txBox="1">
            <a:spLocks/>
          </p:cNvSpPr>
          <p:nvPr/>
        </p:nvSpPr>
        <p:spPr>
          <a:xfrm>
            <a:off x="5211002" y="276585"/>
            <a:ext cx="3933196" cy="6303520"/>
          </a:xfrm>
          <a:prstGeom prst="rect">
            <a:avLst/>
          </a:prstGeom>
          <a:noFill/>
        </p:spPr>
        <p:txBody>
          <a:bodyPr vert="horz" wrap="square" lIns="68580" tIns="34290" rIns="68580" bIns="3429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a:solidFill>
                  <a:srgbClr val="CC8100"/>
                </a:solidFill>
                <a:latin typeface="Helvetica"/>
                <a:cs typeface="Helvetica"/>
              </a:rPr>
              <a:t>Key environmental science related challenges:</a:t>
            </a:r>
          </a:p>
          <a:p>
            <a:endParaRPr lang="en-GB" sz="1800">
              <a:latin typeface="Helvetica"/>
              <a:cs typeface="Helvetica"/>
            </a:endParaRPr>
          </a:p>
          <a:p>
            <a:r>
              <a:rPr lang="en-GB" sz="1800">
                <a:latin typeface="Helvetica"/>
                <a:cs typeface="Helvetica"/>
              </a:rPr>
              <a:t>Finding smart ways of using existing resources</a:t>
            </a:r>
          </a:p>
          <a:p>
            <a:endParaRPr lang="en-GB" sz="1800" b="1">
              <a:latin typeface="Helvetica"/>
              <a:cs typeface="Helvetica"/>
            </a:endParaRPr>
          </a:p>
          <a:p>
            <a:r>
              <a:rPr lang="en-GB" sz="1800" b="1">
                <a:latin typeface="Helvetica"/>
                <a:cs typeface="Helvetica"/>
              </a:rPr>
              <a:t>For food: remember the soil!</a:t>
            </a:r>
          </a:p>
          <a:p>
            <a:endParaRPr lang="en-GB" sz="1800">
              <a:latin typeface="Helvetica"/>
              <a:cs typeface="Helvetica"/>
            </a:endParaRPr>
          </a:p>
          <a:p>
            <a:r>
              <a:rPr lang="en-GB" sz="1800" b="1">
                <a:latin typeface="Helvetica"/>
                <a:cs typeface="Helvetica"/>
              </a:rPr>
              <a:t>Reduce wastage</a:t>
            </a:r>
            <a:endParaRPr lang="en-GB" sz="1800">
              <a:latin typeface="Helvetica"/>
              <a:cs typeface="Helvetica"/>
            </a:endParaRPr>
          </a:p>
          <a:p>
            <a:endParaRPr lang="en-GB" sz="1800">
              <a:latin typeface="Helvetica"/>
              <a:cs typeface="Helvetica"/>
            </a:endParaRPr>
          </a:p>
          <a:p>
            <a:r>
              <a:rPr lang="en-GB" sz="1800" b="1">
                <a:latin typeface="Helvetica"/>
                <a:cs typeface="Helvetica"/>
              </a:rPr>
              <a:t>Recycle</a:t>
            </a:r>
            <a:r>
              <a:rPr lang="en-GB" sz="1800">
                <a:latin typeface="Helvetica"/>
                <a:cs typeface="Helvetica"/>
              </a:rPr>
              <a:t> and </a:t>
            </a:r>
            <a:r>
              <a:rPr lang="en-GB" sz="1800" b="1">
                <a:latin typeface="Helvetica"/>
                <a:cs typeface="Helvetica"/>
              </a:rPr>
              <a:t>re-use</a:t>
            </a:r>
          </a:p>
          <a:p>
            <a:endParaRPr lang="en-GB" sz="1800">
              <a:latin typeface="Helvetica"/>
              <a:cs typeface="Helvetica"/>
            </a:endParaRPr>
          </a:p>
          <a:p>
            <a:r>
              <a:rPr lang="en-GB" sz="1800">
                <a:latin typeface="Helvetica"/>
                <a:cs typeface="Helvetica"/>
              </a:rPr>
              <a:t>Ensure strong policy incentives to promote sustainable consumption</a:t>
            </a:r>
          </a:p>
          <a:p>
            <a:endParaRPr lang="en-GB" sz="1800">
              <a:latin typeface="Helvetica"/>
              <a:cs typeface="Helvetica"/>
            </a:endParaRPr>
          </a:p>
          <a:p>
            <a:r>
              <a:rPr lang="en-GB" sz="1800">
                <a:latin typeface="Helvetica"/>
                <a:cs typeface="Helvetica"/>
              </a:rPr>
              <a:t>New materials?</a:t>
            </a:r>
          </a:p>
          <a:p>
            <a:endParaRPr lang="en-GB" sz="1350">
              <a:latin typeface="Helvetica"/>
              <a:cs typeface="Helvetica"/>
            </a:endParaRPr>
          </a:p>
          <a:p>
            <a:endParaRPr lang="en-GB" sz="1500">
              <a:latin typeface="Helvetica"/>
              <a:cs typeface="Helvetica"/>
            </a:endParaRPr>
          </a:p>
        </p:txBody>
      </p:sp>
      <p:pic>
        <p:nvPicPr>
          <p:cNvPr id="7" name="Picture 6">
            <a:extLst>
              <a:ext uri="{FF2B5EF4-FFF2-40B4-BE49-F238E27FC236}">
                <a16:creationId xmlns:a16="http://schemas.microsoft.com/office/drawing/2014/main" id="{1BB279A6-7172-AA44-D544-913FAB9755CB}"/>
              </a:ext>
            </a:extLst>
          </p:cNvPr>
          <p:cNvPicPr>
            <a:picLocks noChangeAspect="1"/>
          </p:cNvPicPr>
          <p:nvPr/>
        </p:nvPicPr>
        <p:blipFill>
          <a:blip r:embed="rId2"/>
          <a:stretch>
            <a:fillRect/>
          </a:stretch>
        </p:blipFill>
        <p:spPr>
          <a:xfrm>
            <a:off x="81903" y="-19768"/>
            <a:ext cx="4959269" cy="6782517"/>
          </a:xfrm>
          <a:prstGeom prst="rect">
            <a:avLst/>
          </a:prstGeom>
        </p:spPr>
      </p:pic>
      <p:sp>
        <p:nvSpPr>
          <p:cNvPr id="3" name="TextBox 2">
            <a:extLst>
              <a:ext uri="{FF2B5EF4-FFF2-40B4-BE49-F238E27FC236}">
                <a16:creationId xmlns:a16="http://schemas.microsoft.com/office/drawing/2014/main" id="{3ADED0A6-7849-CB23-5FE6-E9C88D033BFD}"/>
              </a:ext>
            </a:extLst>
          </p:cNvPr>
          <p:cNvSpPr txBox="1"/>
          <p:nvPr/>
        </p:nvSpPr>
        <p:spPr>
          <a:xfrm>
            <a:off x="5590916" y="6241338"/>
            <a:ext cx="31780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F8A496"/>
                </a:solidFill>
              </a:rPr>
              <a:t>Stagnation</a:t>
            </a:r>
          </a:p>
        </p:txBody>
      </p:sp>
    </p:spTree>
    <p:extLst>
      <p:ext uri="{BB962C8B-B14F-4D97-AF65-F5344CB8AC3E}">
        <p14:creationId xmlns:p14="http://schemas.microsoft.com/office/powerpoint/2010/main" val="2971834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4342F-004B-5243-BE6C-692F60CD5E17}"/>
              </a:ext>
            </a:extLst>
          </p:cNvPr>
          <p:cNvSpPr>
            <a:spLocks noGrp="1"/>
          </p:cNvSpPr>
          <p:nvPr>
            <p:ph type="title"/>
          </p:nvPr>
        </p:nvSpPr>
        <p:spPr>
          <a:xfrm>
            <a:off x="133158" y="97305"/>
            <a:ext cx="5861111" cy="649116"/>
          </a:xfrm>
        </p:spPr>
        <p:txBody>
          <a:bodyPr>
            <a:normAutofit/>
          </a:bodyPr>
          <a:lstStyle/>
          <a:p>
            <a:r>
              <a:rPr lang="en-GB" sz="2400" b="1">
                <a:solidFill>
                  <a:srgbClr val="C08B2E"/>
                </a:solidFill>
                <a:latin typeface="Helvetica"/>
                <a:cs typeface="Helvetica"/>
              </a:rPr>
              <a:t>Sustainable consumption – key facts</a:t>
            </a:r>
          </a:p>
        </p:txBody>
      </p:sp>
      <p:sp>
        <p:nvSpPr>
          <p:cNvPr id="4" name="Rectangle 3">
            <a:extLst>
              <a:ext uri="{FF2B5EF4-FFF2-40B4-BE49-F238E27FC236}">
                <a16:creationId xmlns:a16="http://schemas.microsoft.com/office/drawing/2014/main" id="{D44966F3-4647-F647-BF5D-23E48E2554C2}"/>
              </a:ext>
            </a:extLst>
          </p:cNvPr>
          <p:cNvSpPr/>
          <p:nvPr/>
        </p:nvSpPr>
        <p:spPr>
          <a:xfrm>
            <a:off x="443311" y="1425547"/>
            <a:ext cx="8505875" cy="4732065"/>
          </a:xfrm>
          <a:prstGeom prst="rect">
            <a:avLst/>
          </a:prstGeom>
        </p:spPr>
        <p:txBody>
          <a:bodyPr wrap="square" lIns="68580" tIns="34290" rIns="68580" bIns="34290" anchor="t">
            <a:spAutoFit/>
          </a:bodyPr>
          <a:lstStyle/>
          <a:p>
            <a:endParaRPr lang="en-GB" sz="1800" b="0" i="0" u="none" strike="noStrike">
              <a:solidFill>
                <a:srgbClr val="4D4D4D"/>
              </a:solidFill>
              <a:effectLst/>
              <a:latin typeface="Helvetica"/>
            </a:endParaRPr>
          </a:p>
          <a:p>
            <a:pPr>
              <a:buFont typeface="Arial" panose="020B0604020202020204" pitchFamily="34" charset="0"/>
              <a:buChar char="•"/>
            </a:pPr>
            <a:r>
              <a:rPr lang="en-GB" sz="1800">
                <a:solidFill>
                  <a:srgbClr val="4D4D4D"/>
                </a:solidFill>
                <a:latin typeface="Helvetica"/>
              </a:rPr>
              <a:t> </a:t>
            </a:r>
            <a:r>
              <a:rPr lang="en-GB" sz="1800" b="0" i="0" u="none" strike="noStrike">
                <a:solidFill>
                  <a:srgbClr val="4D4D4D"/>
                </a:solidFill>
                <a:effectLst/>
                <a:latin typeface="Helvetica"/>
              </a:rPr>
              <a:t> Each year, 1/3 of all food produced – equivalent to </a:t>
            </a:r>
            <a:r>
              <a:rPr lang="en-GB" sz="1800" b="1" i="0" u="none" strike="noStrike">
                <a:solidFill>
                  <a:srgbClr val="4D4D4D"/>
                </a:solidFill>
                <a:effectLst/>
                <a:latin typeface="Helvetica"/>
              </a:rPr>
              <a:t>1.3 billion tons </a:t>
            </a:r>
            <a:r>
              <a:rPr lang="en-GB" sz="1800" b="0" i="0" u="none" strike="noStrike">
                <a:solidFill>
                  <a:srgbClr val="4D4D4D"/>
                </a:solidFill>
                <a:effectLst/>
                <a:latin typeface="Helvetica"/>
              </a:rPr>
              <a:t>worth around $1 trillion – </a:t>
            </a:r>
            <a:r>
              <a:rPr lang="en-GB" sz="1800" b="1" i="0" u="none" strike="noStrike">
                <a:solidFill>
                  <a:srgbClr val="4D4D4D"/>
                </a:solidFill>
                <a:effectLst/>
                <a:latin typeface="Helvetica"/>
              </a:rPr>
              <a:t>ends up rotting </a:t>
            </a:r>
            <a:r>
              <a:rPr lang="en-GB" sz="1800" b="0" i="0" u="none" strike="noStrike">
                <a:solidFill>
                  <a:srgbClr val="4D4D4D"/>
                </a:solidFill>
                <a:effectLst/>
                <a:latin typeface="Helvetica"/>
              </a:rPr>
              <a:t>in the bins of consumers and retailers, or spoiling due to poor transportation and harvesting practices</a:t>
            </a:r>
          </a:p>
          <a:p>
            <a:pPr>
              <a:buFont typeface="Arial" panose="020B0604020202020204" pitchFamily="34" charset="0"/>
              <a:buChar char="•"/>
            </a:pPr>
            <a:endParaRPr lang="en-GB" sz="1800" b="0" i="0" u="none" strike="noStrike">
              <a:solidFill>
                <a:srgbClr val="4D4D4D"/>
              </a:solidFill>
              <a:effectLst/>
              <a:latin typeface="Helvetica"/>
            </a:endParaRPr>
          </a:p>
          <a:p>
            <a:pPr>
              <a:buFont typeface="Arial" panose="020B0604020202020204" pitchFamily="34" charset="0"/>
              <a:buChar char="•"/>
            </a:pPr>
            <a:endParaRPr lang="en-GB" sz="1800">
              <a:solidFill>
                <a:srgbClr val="4D4D4D"/>
              </a:solidFill>
              <a:latin typeface="Helvetica"/>
            </a:endParaRPr>
          </a:p>
          <a:p>
            <a:pPr>
              <a:buFont typeface="Arial" panose="020B0604020202020204" pitchFamily="34" charset="0"/>
              <a:buChar char="•"/>
            </a:pPr>
            <a:r>
              <a:rPr lang="en-GB" sz="1800">
                <a:solidFill>
                  <a:srgbClr val="4D4D4D"/>
                </a:solidFill>
                <a:latin typeface="Helvetica"/>
              </a:rPr>
              <a:t> </a:t>
            </a:r>
            <a:r>
              <a:rPr lang="en-GB" sz="1800" b="0" i="0" u="none" strike="noStrike">
                <a:solidFill>
                  <a:srgbClr val="4D4D4D"/>
                </a:solidFill>
                <a:effectLst/>
                <a:latin typeface="Helvetica"/>
              </a:rPr>
              <a:t> 2 billion people globally are overweight or obese.</a:t>
            </a:r>
          </a:p>
          <a:p>
            <a:endParaRPr lang="en-GB" sz="1800" b="0" i="0" u="none" strike="noStrike">
              <a:solidFill>
                <a:srgbClr val="4D4D4D"/>
              </a:solidFill>
              <a:effectLst/>
              <a:latin typeface="Helvetica"/>
            </a:endParaRPr>
          </a:p>
          <a:p>
            <a:endParaRPr lang="en-GB" sz="1800">
              <a:solidFill>
                <a:srgbClr val="4D4D4D"/>
              </a:solidFill>
              <a:latin typeface="Helvetica"/>
            </a:endParaRPr>
          </a:p>
          <a:p>
            <a:pPr>
              <a:buFont typeface="Arial" panose="020B0604020202020204" pitchFamily="34" charset="0"/>
              <a:buChar char="•"/>
            </a:pPr>
            <a:r>
              <a:rPr lang="en-GB" sz="1800">
                <a:solidFill>
                  <a:srgbClr val="4D4D4D"/>
                </a:solidFill>
                <a:latin typeface="Helvetica"/>
              </a:rPr>
              <a:t>  </a:t>
            </a:r>
            <a:r>
              <a:rPr lang="en-GB" sz="1800" b="0" i="0" u="none" strike="noStrike">
                <a:solidFill>
                  <a:srgbClr val="4D4D4D"/>
                </a:solidFill>
                <a:effectLst/>
                <a:latin typeface="Helvetica"/>
              </a:rPr>
              <a:t> </a:t>
            </a:r>
            <a:r>
              <a:rPr lang="en-GB" sz="1800" b="1" i="0" u="none" strike="noStrike">
                <a:solidFill>
                  <a:srgbClr val="4D4D4D"/>
                </a:solidFill>
                <a:effectLst/>
                <a:latin typeface="Helvetica"/>
              </a:rPr>
              <a:t>Land degradation, declining soil fertility, unsustainable water use, and marine environment degradation are lessening the ability </a:t>
            </a:r>
            <a:r>
              <a:rPr lang="en-GB" sz="1800" b="0" i="0" u="none" strike="noStrike">
                <a:solidFill>
                  <a:srgbClr val="4D4D4D"/>
                </a:solidFill>
                <a:effectLst/>
                <a:latin typeface="Helvetica"/>
              </a:rPr>
              <a:t>of the natural resource base to supply food.</a:t>
            </a:r>
          </a:p>
          <a:p>
            <a:pPr>
              <a:buFont typeface="Arial" panose="020B0604020202020204" pitchFamily="34" charset="0"/>
              <a:buChar char="•"/>
            </a:pPr>
            <a:endParaRPr lang="en-GB" sz="1800">
              <a:solidFill>
                <a:srgbClr val="4D4D4D"/>
              </a:solidFill>
              <a:latin typeface="Helvetica"/>
            </a:endParaRPr>
          </a:p>
          <a:p>
            <a:pPr>
              <a:buFont typeface="Arial" panose="020B0604020202020204" pitchFamily="34" charset="0"/>
              <a:buChar char="•"/>
            </a:pPr>
            <a:endParaRPr lang="en-GB" sz="1800">
              <a:solidFill>
                <a:srgbClr val="4D4D4D"/>
              </a:solidFill>
              <a:latin typeface="Helvetica"/>
            </a:endParaRPr>
          </a:p>
          <a:p>
            <a:pPr>
              <a:buFont typeface="Arial" panose="020B0604020202020204" pitchFamily="34" charset="0"/>
              <a:buChar char="•"/>
            </a:pPr>
            <a:r>
              <a:rPr lang="en-GB" sz="1800">
                <a:solidFill>
                  <a:srgbClr val="4D4D4D"/>
                </a:solidFill>
                <a:latin typeface="Helvetica"/>
              </a:rPr>
              <a:t> </a:t>
            </a:r>
            <a:r>
              <a:rPr lang="en-GB" sz="1800" b="0" i="0" u="none" strike="noStrike">
                <a:solidFill>
                  <a:srgbClr val="4D4D4D"/>
                </a:solidFill>
                <a:effectLst/>
                <a:latin typeface="Helvetica"/>
              </a:rPr>
              <a:t> The food sector accounts for around 30% of the world’s total energy consumption and accounts for around </a:t>
            </a:r>
            <a:r>
              <a:rPr lang="en-GB" sz="1800" b="1" i="0" u="none" strike="noStrike">
                <a:solidFill>
                  <a:srgbClr val="4D4D4D"/>
                </a:solidFill>
                <a:effectLst/>
                <a:latin typeface="Helvetica"/>
              </a:rPr>
              <a:t>22% of total greenhouse </a:t>
            </a:r>
            <a:r>
              <a:rPr lang="en-GB" sz="1800" b="1">
                <a:solidFill>
                  <a:srgbClr val="4D4D4D"/>
                </a:solidFill>
                <a:latin typeface="Helvetica"/>
              </a:rPr>
              <a:t>g</a:t>
            </a:r>
            <a:r>
              <a:rPr lang="en-GB" sz="1800" b="1" i="0" u="none" strike="noStrike">
                <a:solidFill>
                  <a:srgbClr val="4D4D4D"/>
                </a:solidFill>
                <a:effectLst/>
                <a:latin typeface="Helvetica"/>
              </a:rPr>
              <a:t>as emissions</a:t>
            </a:r>
            <a:r>
              <a:rPr lang="en-GB" sz="1800" b="0" i="0" u="none" strike="noStrike">
                <a:solidFill>
                  <a:srgbClr val="4D4D4D"/>
                </a:solidFill>
                <a:effectLst/>
                <a:latin typeface="Helvetica"/>
              </a:rPr>
              <a:t>.</a:t>
            </a:r>
          </a:p>
          <a:p>
            <a:pPr>
              <a:buFont typeface="Arial" panose="020B0604020202020204" pitchFamily="34" charset="0"/>
              <a:buChar char="•"/>
            </a:pPr>
            <a:endParaRPr lang="en-GB" sz="1600">
              <a:solidFill>
                <a:srgbClr val="4D4D4D"/>
              </a:solidFill>
              <a:latin typeface="Roboto"/>
            </a:endParaRPr>
          </a:p>
        </p:txBody>
      </p:sp>
      <p:pic>
        <p:nvPicPr>
          <p:cNvPr id="7" name="Picture 6" descr="A sign with a symbol and text&#10;&#10;AI-generated content may be incorrect.">
            <a:extLst>
              <a:ext uri="{FF2B5EF4-FFF2-40B4-BE49-F238E27FC236}">
                <a16:creationId xmlns:a16="http://schemas.microsoft.com/office/drawing/2014/main" id="{6948F545-9B0E-800C-0EF2-9246952247BE}"/>
              </a:ext>
            </a:extLst>
          </p:cNvPr>
          <p:cNvPicPr>
            <a:picLocks noChangeAspect="1"/>
          </p:cNvPicPr>
          <p:nvPr/>
        </p:nvPicPr>
        <p:blipFill>
          <a:blip r:embed="rId3"/>
          <a:stretch>
            <a:fillRect/>
          </a:stretch>
        </p:blipFill>
        <p:spPr>
          <a:xfrm>
            <a:off x="7825911" y="2149"/>
            <a:ext cx="1321283" cy="1268084"/>
          </a:xfrm>
          <a:prstGeom prst="rect">
            <a:avLst/>
          </a:prstGeom>
        </p:spPr>
      </p:pic>
    </p:spTree>
    <p:extLst>
      <p:ext uri="{BB962C8B-B14F-4D97-AF65-F5344CB8AC3E}">
        <p14:creationId xmlns:p14="http://schemas.microsoft.com/office/powerpoint/2010/main" val="7146440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F93FC-5834-4D42-9314-54BB9F614FCE}"/>
              </a:ext>
            </a:extLst>
          </p:cNvPr>
          <p:cNvSpPr>
            <a:spLocks noGrp="1"/>
          </p:cNvSpPr>
          <p:nvPr>
            <p:ph type="title"/>
          </p:nvPr>
        </p:nvSpPr>
        <p:spPr>
          <a:xfrm>
            <a:off x="151693" y="125268"/>
            <a:ext cx="5872952" cy="994172"/>
          </a:xfrm>
        </p:spPr>
        <p:txBody>
          <a:bodyPr>
            <a:noAutofit/>
          </a:bodyPr>
          <a:lstStyle/>
          <a:p>
            <a:r>
              <a:rPr lang="en-GB" sz="2100" b="1">
                <a:solidFill>
                  <a:srgbClr val="C00000"/>
                </a:solidFill>
                <a:latin typeface="Helvetica"/>
                <a:cs typeface="Helvetica"/>
              </a:rPr>
              <a:t>Soils are key to civilisations and production. We degrade them at our peril!</a:t>
            </a:r>
          </a:p>
        </p:txBody>
      </p:sp>
      <p:pic>
        <p:nvPicPr>
          <p:cNvPr id="4" name="Picture 3">
            <a:extLst>
              <a:ext uri="{FF2B5EF4-FFF2-40B4-BE49-F238E27FC236}">
                <a16:creationId xmlns:a16="http://schemas.microsoft.com/office/drawing/2014/main" id="{778C073F-B31C-F94D-8D43-B44B6CFF0B7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375048" y="1218722"/>
            <a:ext cx="5471498" cy="2424695"/>
          </a:xfrm>
          <a:prstGeom prst="rect">
            <a:avLst/>
          </a:prstGeom>
        </p:spPr>
      </p:pic>
      <p:pic>
        <p:nvPicPr>
          <p:cNvPr id="5" name="Content Placeholder 4">
            <a:extLst>
              <a:ext uri="{FF2B5EF4-FFF2-40B4-BE49-F238E27FC236}">
                <a16:creationId xmlns:a16="http://schemas.microsoft.com/office/drawing/2014/main" id="{3D77EF31-E630-9A4B-BD13-C6BC65795EC4}"/>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tretch>
            <a:fillRect/>
          </a:stretch>
        </p:blipFill>
        <p:spPr>
          <a:xfrm>
            <a:off x="161607" y="3439019"/>
            <a:ext cx="4825169" cy="3237597"/>
          </a:xfrm>
        </p:spPr>
      </p:pic>
    </p:spTree>
    <p:extLst>
      <p:ext uri="{BB962C8B-B14F-4D97-AF65-F5344CB8AC3E}">
        <p14:creationId xmlns:p14="http://schemas.microsoft.com/office/powerpoint/2010/main" val="4248885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DBB82-DB2D-4EF8-D347-D38674E2E274}"/>
              </a:ext>
            </a:extLst>
          </p:cNvPr>
          <p:cNvSpPr>
            <a:spLocks noGrp="1"/>
          </p:cNvSpPr>
          <p:nvPr>
            <p:ph type="title"/>
          </p:nvPr>
        </p:nvSpPr>
        <p:spPr>
          <a:xfrm>
            <a:off x="83299" y="63577"/>
            <a:ext cx="5915025" cy="508937"/>
          </a:xfrm>
        </p:spPr>
        <p:txBody>
          <a:bodyPr>
            <a:normAutofit/>
          </a:bodyPr>
          <a:lstStyle/>
          <a:p>
            <a:r>
              <a:rPr lang="en-GB" sz="2400" b="1">
                <a:solidFill>
                  <a:srgbClr val="C00000"/>
                </a:solidFill>
                <a:latin typeface="Helvetica"/>
                <a:cs typeface="Helvetica"/>
              </a:rPr>
              <a:t>How do soils function?</a:t>
            </a:r>
          </a:p>
        </p:txBody>
      </p:sp>
      <p:pic>
        <p:nvPicPr>
          <p:cNvPr id="4" name="Picture 3" descr="Global Environment Facility (GEF) on X: &quot;Plants &amp; animals above and below  ground depend on the complex interactions taking place in the soil 🐝🐛🍄🌱  Fighting loss of soil #biodiversity is key to">
            <a:extLst>
              <a:ext uri="{FF2B5EF4-FFF2-40B4-BE49-F238E27FC236}">
                <a16:creationId xmlns:a16="http://schemas.microsoft.com/office/drawing/2014/main" id="{477EAA82-EDE8-2C3D-7FC8-AF5356FE2B85}"/>
              </a:ext>
            </a:extLst>
          </p:cNvPr>
          <p:cNvPicPr>
            <a:picLocks noChangeAspect="1"/>
          </p:cNvPicPr>
          <p:nvPr/>
        </p:nvPicPr>
        <p:blipFill>
          <a:blip r:embed="rId2"/>
          <a:stretch>
            <a:fillRect/>
          </a:stretch>
        </p:blipFill>
        <p:spPr>
          <a:xfrm>
            <a:off x="793049" y="859313"/>
            <a:ext cx="7716054" cy="5380004"/>
          </a:xfrm>
          <a:prstGeom prst="rect">
            <a:avLst/>
          </a:prstGeom>
        </p:spPr>
      </p:pic>
    </p:spTree>
    <p:extLst>
      <p:ext uri="{BB962C8B-B14F-4D97-AF65-F5344CB8AC3E}">
        <p14:creationId xmlns:p14="http://schemas.microsoft.com/office/powerpoint/2010/main" val="1065935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DCFA0F-6D55-5144-9CCC-2C5492429775}"/>
              </a:ext>
            </a:extLst>
          </p:cNvPr>
          <p:cNvSpPr>
            <a:spLocks noGrp="1"/>
          </p:cNvSpPr>
          <p:nvPr>
            <p:ph idx="1"/>
          </p:nvPr>
        </p:nvSpPr>
        <p:spPr>
          <a:xfrm>
            <a:off x="91926" y="167631"/>
            <a:ext cx="7327601" cy="3263504"/>
          </a:xfrm>
        </p:spPr>
        <p:txBody>
          <a:bodyPr>
            <a:normAutofit/>
          </a:bodyPr>
          <a:lstStyle/>
          <a:p>
            <a:r>
              <a:rPr lang="en-GB" sz="2400">
                <a:latin typeface="Helvetica"/>
                <a:cs typeface="Helvetica"/>
              </a:rPr>
              <a:t>Reduce the carbon and water footprint of resources through recycling of resources</a:t>
            </a:r>
          </a:p>
          <a:p>
            <a:endParaRPr lang="en-GB" sz="1400">
              <a:latin typeface="Helvetica"/>
              <a:cs typeface="Helvetica"/>
            </a:endParaRPr>
          </a:p>
          <a:p>
            <a:r>
              <a:rPr lang="en-GB" sz="2400">
                <a:latin typeface="Helvetica"/>
                <a:cs typeface="Helvetica"/>
              </a:rPr>
              <a:t>Reduce amount of waste generated that goes to landfill</a:t>
            </a:r>
            <a:endParaRPr lang="en-GB" sz="2400"/>
          </a:p>
          <a:p>
            <a:endParaRPr lang="en-GB" sz="1400">
              <a:latin typeface="Helvetica"/>
              <a:cs typeface="Helvetica"/>
            </a:endParaRPr>
          </a:p>
          <a:p>
            <a:r>
              <a:rPr lang="en-GB" sz="2400">
                <a:latin typeface="Helvetica"/>
                <a:cs typeface="Helvetica"/>
              </a:rPr>
              <a:t>Should we be mining landfill for critical resources?</a:t>
            </a:r>
          </a:p>
        </p:txBody>
      </p:sp>
      <p:pic>
        <p:nvPicPr>
          <p:cNvPr id="6" name="Picture 5"/>
          <p:cNvPicPr>
            <a:picLocks noChangeAspect="1"/>
          </p:cNvPicPr>
          <p:nvPr/>
        </p:nvPicPr>
        <p:blipFill>
          <a:blip r:embed="rId2"/>
          <a:stretch>
            <a:fillRect/>
          </a:stretch>
        </p:blipFill>
        <p:spPr>
          <a:xfrm>
            <a:off x="1790293" y="2929075"/>
            <a:ext cx="5553232" cy="3835510"/>
          </a:xfrm>
          <a:prstGeom prst="rect">
            <a:avLst/>
          </a:prstGeom>
        </p:spPr>
      </p:pic>
      <p:pic>
        <p:nvPicPr>
          <p:cNvPr id="4" name="Picture 3" descr="A sign with a symbol and text&#10;&#10;AI-generated content may be incorrect.">
            <a:extLst>
              <a:ext uri="{FF2B5EF4-FFF2-40B4-BE49-F238E27FC236}">
                <a16:creationId xmlns:a16="http://schemas.microsoft.com/office/drawing/2014/main" id="{07F69D01-45DC-8A6E-76AB-F6BE31C8F2B7}"/>
              </a:ext>
            </a:extLst>
          </p:cNvPr>
          <p:cNvPicPr>
            <a:picLocks noChangeAspect="1"/>
          </p:cNvPicPr>
          <p:nvPr/>
        </p:nvPicPr>
        <p:blipFill>
          <a:blip r:embed="rId3"/>
          <a:stretch>
            <a:fillRect/>
          </a:stretch>
        </p:blipFill>
        <p:spPr>
          <a:xfrm>
            <a:off x="7825911" y="2149"/>
            <a:ext cx="1321283" cy="1268084"/>
          </a:xfrm>
          <a:prstGeom prst="rect">
            <a:avLst/>
          </a:prstGeom>
        </p:spPr>
      </p:pic>
    </p:spTree>
    <p:extLst>
      <p:ext uri="{BB962C8B-B14F-4D97-AF65-F5344CB8AC3E}">
        <p14:creationId xmlns:p14="http://schemas.microsoft.com/office/powerpoint/2010/main" val="37634738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E36F659-9D0A-F44E-97B8-A26DA6785040}"/>
              </a:ext>
            </a:extLst>
          </p:cNvPr>
          <p:cNvSpPr txBox="1">
            <a:spLocks/>
          </p:cNvSpPr>
          <p:nvPr/>
        </p:nvSpPr>
        <p:spPr>
          <a:xfrm>
            <a:off x="5300034" y="359255"/>
            <a:ext cx="3724724" cy="6047040"/>
          </a:xfrm>
          <a:prstGeom prst="rect">
            <a:avLst/>
          </a:prstGeom>
          <a:noFill/>
        </p:spPr>
        <p:txBody>
          <a:bodyPr vert="horz" wrap="square" lIns="68580" tIns="34290" rIns="68580" bIns="3429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a:solidFill>
                  <a:srgbClr val="3F7F45"/>
                </a:solidFill>
                <a:latin typeface="Helvetica"/>
                <a:cs typeface="Helvetica"/>
              </a:rPr>
              <a:t>Key environmental science related challenges:</a:t>
            </a:r>
          </a:p>
          <a:p>
            <a:endParaRPr lang="en-GB" sz="1800">
              <a:latin typeface="Helvetica"/>
              <a:cs typeface="Helvetica"/>
            </a:endParaRPr>
          </a:p>
          <a:p>
            <a:r>
              <a:rPr lang="en-GB" sz="1800">
                <a:latin typeface="Helvetica"/>
                <a:cs typeface="Helvetica"/>
              </a:rPr>
              <a:t>Shift away from GHG-emitting processes, especially energy</a:t>
            </a:r>
          </a:p>
          <a:p>
            <a:endParaRPr lang="en-GB" sz="1800" b="1">
              <a:latin typeface="Helvetica"/>
              <a:cs typeface="Helvetica"/>
            </a:endParaRPr>
          </a:p>
          <a:p>
            <a:r>
              <a:rPr lang="en-GB" sz="1800" b="1">
                <a:latin typeface="Helvetica"/>
                <a:cs typeface="Helvetica"/>
              </a:rPr>
              <a:t>Remember the soil!</a:t>
            </a:r>
          </a:p>
          <a:p>
            <a:endParaRPr lang="en-GB" sz="1800">
              <a:latin typeface="Helvetica"/>
              <a:cs typeface="Helvetica"/>
            </a:endParaRPr>
          </a:p>
          <a:p>
            <a:r>
              <a:rPr lang="en-GB" sz="1800" b="1">
                <a:latin typeface="Helvetica"/>
                <a:cs typeface="Helvetica"/>
              </a:rPr>
              <a:t>New technologies</a:t>
            </a:r>
            <a:r>
              <a:rPr lang="en-GB" sz="1800">
                <a:latin typeface="Helvetica"/>
                <a:cs typeface="Helvetica"/>
              </a:rPr>
              <a:t>: small changes in e.g. battery efficiency can make a big difference</a:t>
            </a:r>
          </a:p>
          <a:p>
            <a:endParaRPr lang="en-GB" sz="1800">
              <a:latin typeface="Helvetica"/>
              <a:cs typeface="Helvetica"/>
            </a:endParaRPr>
          </a:p>
          <a:p>
            <a:r>
              <a:rPr lang="en-GB" sz="1800">
                <a:latin typeface="Helvetica"/>
                <a:cs typeface="Helvetica"/>
              </a:rPr>
              <a:t>Multifactorial impacts still need to be quantified</a:t>
            </a:r>
            <a:endParaRPr lang="en-GB" sz="1800" b="1">
              <a:latin typeface="Helvetica"/>
              <a:cs typeface="Helvetica"/>
            </a:endParaRPr>
          </a:p>
          <a:p>
            <a:endParaRPr lang="en-GB" sz="1800">
              <a:latin typeface="Helvetica"/>
              <a:cs typeface="Helvetica"/>
            </a:endParaRPr>
          </a:p>
          <a:p>
            <a:r>
              <a:rPr lang="en-GB" sz="1800" b="1">
                <a:latin typeface="Helvetica"/>
                <a:cs typeface="Helvetica"/>
              </a:rPr>
              <a:t>Nature-based solutions</a:t>
            </a:r>
          </a:p>
          <a:p>
            <a:endParaRPr lang="en-GB" sz="1350">
              <a:latin typeface="Helvetica"/>
              <a:cs typeface="Helvetica"/>
            </a:endParaRPr>
          </a:p>
          <a:p>
            <a:endParaRPr lang="en-GB" sz="1500">
              <a:latin typeface="Helvetica"/>
              <a:cs typeface="Helvetica"/>
            </a:endParaRPr>
          </a:p>
        </p:txBody>
      </p:sp>
      <p:pic>
        <p:nvPicPr>
          <p:cNvPr id="4" name="Picture 3" descr="A poster of a climate change&#10;&#10;AI-generated content may be incorrect.">
            <a:extLst>
              <a:ext uri="{FF2B5EF4-FFF2-40B4-BE49-F238E27FC236}">
                <a16:creationId xmlns:a16="http://schemas.microsoft.com/office/drawing/2014/main" id="{91F9E68A-08B8-7BEC-0582-916D62E6C6F9}"/>
              </a:ext>
            </a:extLst>
          </p:cNvPr>
          <p:cNvPicPr>
            <a:picLocks noChangeAspect="1"/>
          </p:cNvPicPr>
          <p:nvPr/>
        </p:nvPicPr>
        <p:blipFill>
          <a:blip r:embed="rId2"/>
          <a:srcRect l="3721" t="4086" r="2778" b="1403"/>
          <a:stretch/>
        </p:blipFill>
        <p:spPr>
          <a:xfrm>
            <a:off x="6766" y="-15788"/>
            <a:ext cx="5100777" cy="6879392"/>
          </a:xfrm>
          <a:prstGeom prst="rect">
            <a:avLst/>
          </a:prstGeom>
        </p:spPr>
      </p:pic>
      <p:sp>
        <p:nvSpPr>
          <p:cNvPr id="3" name="TextBox 2">
            <a:extLst>
              <a:ext uri="{FF2B5EF4-FFF2-40B4-BE49-F238E27FC236}">
                <a16:creationId xmlns:a16="http://schemas.microsoft.com/office/drawing/2014/main" id="{3B39E056-CBB1-F5FE-3779-CCE22A2AFB74}"/>
              </a:ext>
            </a:extLst>
          </p:cNvPr>
          <p:cNvSpPr txBox="1"/>
          <p:nvPr/>
        </p:nvSpPr>
        <p:spPr>
          <a:xfrm>
            <a:off x="5582306" y="6219813"/>
            <a:ext cx="31780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FEDD9C"/>
                </a:solidFill>
              </a:rPr>
              <a:t>Marginal progress</a:t>
            </a:r>
          </a:p>
        </p:txBody>
      </p:sp>
    </p:spTree>
    <p:extLst>
      <p:ext uri="{BB962C8B-B14F-4D97-AF65-F5344CB8AC3E}">
        <p14:creationId xmlns:p14="http://schemas.microsoft.com/office/powerpoint/2010/main" val="3692179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30A8-2C93-B947-BCC0-80F586F11609}"/>
              </a:ext>
            </a:extLst>
          </p:cNvPr>
          <p:cNvSpPr>
            <a:spLocks noGrp="1"/>
          </p:cNvSpPr>
          <p:nvPr>
            <p:ph type="title"/>
          </p:nvPr>
        </p:nvSpPr>
        <p:spPr>
          <a:xfrm>
            <a:off x="265981" y="224646"/>
            <a:ext cx="5882676" cy="519720"/>
          </a:xfrm>
        </p:spPr>
        <p:txBody>
          <a:bodyPr>
            <a:normAutofit/>
          </a:bodyPr>
          <a:lstStyle/>
          <a:p>
            <a:r>
              <a:rPr lang="en-GB" sz="2400" b="1">
                <a:solidFill>
                  <a:srgbClr val="408046"/>
                </a:solidFill>
                <a:latin typeface="Helvetica"/>
                <a:cs typeface="Helvetica"/>
              </a:rPr>
              <a:t>Climate action – key facts</a:t>
            </a:r>
          </a:p>
        </p:txBody>
      </p:sp>
      <p:sp>
        <p:nvSpPr>
          <p:cNvPr id="4" name="Rectangle 3">
            <a:extLst>
              <a:ext uri="{FF2B5EF4-FFF2-40B4-BE49-F238E27FC236}">
                <a16:creationId xmlns:a16="http://schemas.microsoft.com/office/drawing/2014/main" id="{0C85DE66-2720-6049-8E7C-C64C1DF753C7}"/>
              </a:ext>
            </a:extLst>
          </p:cNvPr>
          <p:cNvSpPr/>
          <p:nvPr/>
        </p:nvSpPr>
        <p:spPr>
          <a:xfrm>
            <a:off x="265659" y="913309"/>
            <a:ext cx="7381719" cy="3116238"/>
          </a:xfrm>
          <a:prstGeom prst="rect">
            <a:avLst/>
          </a:prstGeom>
        </p:spPr>
        <p:txBody>
          <a:bodyPr wrap="square" lIns="68580" tIns="34290" rIns="68580" bIns="34290" anchor="t">
            <a:spAutoFit/>
          </a:bodyPr>
          <a:lstStyle/>
          <a:p>
            <a:pPr>
              <a:buFont typeface="Arial" panose="020B0604020202020204" pitchFamily="34" charset="0"/>
              <a:buChar char="•"/>
            </a:pPr>
            <a:r>
              <a:rPr lang="en-GB" sz="1600" b="1">
                <a:solidFill>
                  <a:srgbClr val="4D4D4D"/>
                </a:solidFill>
                <a:latin typeface="Roboto"/>
              </a:rPr>
              <a:t> </a:t>
            </a:r>
            <a:r>
              <a:rPr lang="en-GB" sz="1600" b="1" i="0" u="none" strike="noStrike">
                <a:solidFill>
                  <a:srgbClr val="4D4D4D"/>
                </a:solidFill>
                <a:effectLst/>
                <a:latin typeface="Roboto"/>
              </a:rPr>
              <a:t> From 1880 to 2012, average global temperature increased by 0.85°C</a:t>
            </a:r>
            <a:r>
              <a:rPr lang="en-GB" sz="1600" b="0" i="0" u="none" strike="noStrike">
                <a:solidFill>
                  <a:srgbClr val="4D4D4D"/>
                </a:solidFill>
                <a:effectLst/>
                <a:latin typeface="Roboto"/>
              </a:rPr>
              <a:t>. For each 1 degree of temperature increase, grain yields decline by about 5 per cent.</a:t>
            </a:r>
            <a:r>
              <a:rPr lang="en-GB" sz="1600">
                <a:solidFill>
                  <a:srgbClr val="4D4D4D"/>
                </a:solidFill>
                <a:latin typeface="Roboto"/>
              </a:rPr>
              <a:t> </a:t>
            </a:r>
            <a:endParaRPr lang="en-US" sz="1600"/>
          </a:p>
          <a:p>
            <a:pPr>
              <a:buFont typeface="Arial" panose="020B0604020202020204" pitchFamily="34" charset="0"/>
              <a:buChar char="•"/>
            </a:pPr>
            <a:endParaRPr lang="en-GB" sz="1600" b="0" i="0" u="none" strike="noStrike">
              <a:solidFill>
                <a:srgbClr val="4D4D4D"/>
              </a:solidFill>
              <a:effectLst/>
              <a:latin typeface="Roboto"/>
            </a:endParaRPr>
          </a:p>
          <a:p>
            <a:pPr>
              <a:buFont typeface="Arial" panose="020B0604020202020204" pitchFamily="34" charset="0"/>
              <a:buChar char="•"/>
            </a:pPr>
            <a:r>
              <a:rPr lang="en-GB" sz="1600" b="1">
                <a:solidFill>
                  <a:srgbClr val="4D4D4D"/>
                </a:solidFill>
                <a:latin typeface="Roboto"/>
              </a:rPr>
              <a:t> </a:t>
            </a:r>
            <a:r>
              <a:rPr lang="en-GB" sz="1600" b="1" i="0" u="none" strike="noStrike">
                <a:solidFill>
                  <a:srgbClr val="4D4D4D"/>
                </a:solidFill>
                <a:effectLst/>
                <a:latin typeface="Roboto"/>
              </a:rPr>
              <a:t> By the end of this century, the increase in global temperature will exceed 1.5°C compared to 1850-1900</a:t>
            </a:r>
            <a:r>
              <a:rPr lang="en-GB" sz="1600" b="0" i="0" u="none" strike="noStrike">
                <a:solidFill>
                  <a:srgbClr val="4D4D4D"/>
                </a:solidFill>
                <a:effectLst/>
                <a:latin typeface="Roboto"/>
              </a:rPr>
              <a:t>.</a:t>
            </a:r>
          </a:p>
          <a:p>
            <a:endParaRPr lang="en-GB" sz="1600" b="0" i="0" u="none" strike="noStrike">
              <a:solidFill>
                <a:srgbClr val="4D4D4D"/>
              </a:solidFill>
              <a:effectLst/>
              <a:latin typeface="Roboto"/>
            </a:endParaRPr>
          </a:p>
          <a:p>
            <a:pPr>
              <a:buFont typeface="Arial" panose="020B0604020202020204" pitchFamily="34" charset="0"/>
              <a:buChar char="•"/>
            </a:pPr>
            <a:r>
              <a:rPr lang="en-GB" sz="1600">
                <a:solidFill>
                  <a:srgbClr val="4D4D4D"/>
                </a:solidFill>
                <a:latin typeface="Roboto"/>
              </a:rPr>
              <a:t>  </a:t>
            </a:r>
            <a:r>
              <a:rPr lang="en-GB" sz="1600" b="0" i="0" u="none" strike="noStrike">
                <a:solidFill>
                  <a:srgbClr val="4D4D4D"/>
                </a:solidFill>
                <a:effectLst/>
                <a:latin typeface="Roboto"/>
              </a:rPr>
              <a:t>Global emissions of carbon dioxide (CO</a:t>
            </a:r>
            <a:r>
              <a:rPr lang="en-GB" sz="1600" b="0" i="0" u="none" strike="noStrike" baseline="-25000">
                <a:solidFill>
                  <a:srgbClr val="4D4D4D"/>
                </a:solidFill>
                <a:effectLst/>
                <a:latin typeface="Roboto"/>
              </a:rPr>
              <a:t>2</a:t>
            </a:r>
            <a:r>
              <a:rPr lang="en-GB" sz="1600" b="0" i="0" u="none" strike="noStrike">
                <a:solidFill>
                  <a:srgbClr val="4D4D4D"/>
                </a:solidFill>
                <a:effectLst/>
                <a:latin typeface="Roboto"/>
              </a:rPr>
              <a:t>) have increased by almost 50% since 1990</a:t>
            </a:r>
          </a:p>
          <a:p>
            <a:pPr>
              <a:buFont typeface="Arial" panose="020B0604020202020204" pitchFamily="34" charset="0"/>
              <a:buChar char="•"/>
            </a:pPr>
            <a:endParaRPr lang="en-GB" sz="1600" b="0" i="0" u="none" strike="noStrike">
              <a:solidFill>
                <a:srgbClr val="4D4D4D"/>
              </a:solidFill>
              <a:effectLst/>
              <a:latin typeface="Roboto"/>
            </a:endParaRPr>
          </a:p>
          <a:p>
            <a:pPr>
              <a:buFont typeface="Arial" panose="020B0604020202020204" pitchFamily="34" charset="0"/>
              <a:buChar char="•"/>
            </a:pPr>
            <a:r>
              <a:rPr lang="en-GB" sz="1600">
                <a:solidFill>
                  <a:srgbClr val="4D4D4D"/>
                </a:solidFill>
                <a:latin typeface="Roboto"/>
              </a:rPr>
              <a:t> </a:t>
            </a:r>
            <a:r>
              <a:rPr lang="en-GB" sz="1600" b="0" i="0" u="none" strike="noStrike">
                <a:solidFill>
                  <a:srgbClr val="4D4D4D"/>
                </a:solidFill>
                <a:effectLst/>
                <a:latin typeface="Roboto"/>
              </a:rPr>
              <a:t> Emissions grew more quickly between 2000 and 2010 than in each of the three previous decades</a:t>
            </a:r>
          </a:p>
          <a:p>
            <a:pPr>
              <a:buFont typeface="Arial" panose="020B0604020202020204" pitchFamily="34" charset="0"/>
              <a:buChar char="•"/>
            </a:pPr>
            <a:endParaRPr lang="en-GB" sz="1100" b="0" i="0" u="none" strike="noStrike">
              <a:solidFill>
                <a:srgbClr val="4D4D4D"/>
              </a:solidFill>
              <a:effectLst/>
              <a:latin typeface="Roboto"/>
            </a:endParaRPr>
          </a:p>
          <a:p>
            <a:endParaRPr lang="en-GB" sz="1100" b="0" i="0" u="none" strike="noStrike">
              <a:solidFill>
                <a:srgbClr val="4D4D4D"/>
              </a:solidFill>
              <a:effectLst/>
              <a:latin typeface="Roboto"/>
            </a:endParaRPr>
          </a:p>
        </p:txBody>
      </p:sp>
      <p:pic>
        <p:nvPicPr>
          <p:cNvPr id="6" name="Picture 5" descr="Ongoing research at BIFoR FACE - University of Birmingham">
            <a:extLst>
              <a:ext uri="{FF2B5EF4-FFF2-40B4-BE49-F238E27FC236}">
                <a16:creationId xmlns:a16="http://schemas.microsoft.com/office/drawing/2014/main" id="{5B2CE32A-6A81-BD92-1F6F-BD27E7A418EF}"/>
              </a:ext>
            </a:extLst>
          </p:cNvPr>
          <p:cNvPicPr>
            <a:picLocks noChangeAspect="1"/>
          </p:cNvPicPr>
          <p:nvPr/>
        </p:nvPicPr>
        <p:blipFill>
          <a:blip r:embed="rId2"/>
          <a:stretch>
            <a:fillRect/>
          </a:stretch>
        </p:blipFill>
        <p:spPr>
          <a:xfrm>
            <a:off x="703822" y="3906278"/>
            <a:ext cx="3656054" cy="2633129"/>
          </a:xfrm>
          <a:prstGeom prst="rect">
            <a:avLst/>
          </a:prstGeom>
        </p:spPr>
      </p:pic>
      <p:sp>
        <p:nvSpPr>
          <p:cNvPr id="7" name="TextBox 6">
            <a:extLst>
              <a:ext uri="{FF2B5EF4-FFF2-40B4-BE49-F238E27FC236}">
                <a16:creationId xmlns:a16="http://schemas.microsoft.com/office/drawing/2014/main" id="{3F343943-00BD-E3CB-04F7-402A4713D836}"/>
              </a:ext>
            </a:extLst>
          </p:cNvPr>
          <p:cNvSpPr txBox="1"/>
          <p:nvPr/>
        </p:nvSpPr>
        <p:spPr>
          <a:xfrm>
            <a:off x="4752689" y="4289408"/>
            <a:ext cx="3731923" cy="1854354"/>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GB" sz="1800" b="1">
                <a:solidFill>
                  <a:srgbClr val="C00000"/>
                </a:solidFill>
              </a:rPr>
              <a:t>Big challenges need big experiments</a:t>
            </a:r>
          </a:p>
          <a:p>
            <a:endParaRPr lang="en-GB" sz="1600"/>
          </a:p>
          <a:p>
            <a:endParaRPr lang="en-GB" sz="1600"/>
          </a:p>
          <a:p>
            <a:r>
              <a:rPr lang="en-GB" sz="1600"/>
              <a:t>The Birmingham Institute for Forest Research Free Air Carbon Dioxide Enrichment experiment (</a:t>
            </a:r>
            <a:r>
              <a:rPr lang="en-GB" sz="1600" err="1"/>
              <a:t>BiFOR</a:t>
            </a:r>
            <a:r>
              <a:rPr lang="en-GB" sz="1600"/>
              <a:t> FACE)</a:t>
            </a:r>
          </a:p>
        </p:txBody>
      </p:sp>
      <p:pic>
        <p:nvPicPr>
          <p:cNvPr id="3" name="Picture 2" descr="A green square with a white circle and a planet in the middle&#10;&#10;AI-generated content may be incorrect.">
            <a:extLst>
              <a:ext uri="{FF2B5EF4-FFF2-40B4-BE49-F238E27FC236}">
                <a16:creationId xmlns:a16="http://schemas.microsoft.com/office/drawing/2014/main" id="{76BFCEC4-F3B5-94B2-97A0-FAE1C1CDDD2D}"/>
              </a:ext>
            </a:extLst>
          </p:cNvPr>
          <p:cNvPicPr>
            <a:picLocks noChangeAspect="1"/>
          </p:cNvPicPr>
          <p:nvPr/>
        </p:nvPicPr>
        <p:blipFill>
          <a:blip r:embed="rId3"/>
          <a:stretch>
            <a:fillRect/>
          </a:stretch>
        </p:blipFill>
        <p:spPr>
          <a:xfrm>
            <a:off x="7834312" y="5751"/>
            <a:ext cx="1311036" cy="1268084"/>
          </a:xfrm>
          <a:prstGeom prst="rect">
            <a:avLst/>
          </a:prstGeom>
        </p:spPr>
      </p:pic>
    </p:spTree>
    <p:extLst>
      <p:ext uri="{BB962C8B-B14F-4D97-AF65-F5344CB8AC3E}">
        <p14:creationId xmlns:p14="http://schemas.microsoft.com/office/powerpoint/2010/main" val="8524726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E418D-6918-D141-94F0-B8F45EF6F51C}"/>
              </a:ext>
            </a:extLst>
          </p:cNvPr>
          <p:cNvSpPr>
            <a:spLocks noGrp="1"/>
          </p:cNvSpPr>
          <p:nvPr>
            <p:ph type="title"/>
          </p:nvPr>
        </p:nvSpPr>
        <p:spPr>
          <a:xfrm>
            <a:off x="4403" y="-9748"/>
            <a:ext cx="7899100" cy="1008549"/>
          </a:xfrm>
        </p:spPr>
        <p:txBody>
          <a:bodyPr>
            <a:normAutofit/>
          </a:bodyPr>
          <a:lstStyle/>
          <a:p>
            <a:r>
              <a:rPr lang="en-GB" sz="2000" b="1">
                <a:solidFill>
                  <a:srgbClr val="C00000"/>
                </a:solidFill>
                <a:latin typeface="Helvetica"/>
              </a:rPr>
              <a:t>Greenhouse gas emissions are linked to climate change; what are the sources?</a:t>
            </a:r>
          </a:p>
        </p:txBody>
      </p:sp>
      <p:pic>
        <p:nvPicPr>
          <p:cNvPr id="4" name="Picture 3">
            <a:extLst>
              <a:ext uri="{FF2B5EF4-FFF2-40B4-BE49-F238E27FC236}">
                <a16:creationId xmlns:a16="http://schemas.microsoft.com/office/drawing/2014/main" id="{9032EC56-4677-174D-BFBA-0CC1326E71C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97328" y="1003567"/>
            <a:ext cx="7349435" cy="5252561"/>
          </a:xfrm>
          <a:prstGeom prst="rect">
            <a:avLst/>
          </a:prstGeom>
        </p:spPr>
      </p:pic>
      <p:sp>
        <p:nvSpPr>
          <p:cNvPr id="5" name="TextBox 4">
            <a:extLst>
              <a:ext uri="{FF2B5EF4-FFF2-40B4-BE49-F238E27FC236}">
                <a16:creationId xmlns:a16="http://schemas.microsoft.com/office/drawing/2014/main" id="{3170F59C-B0FE-4248-9D0C-6CAF3FB3DB72}"/>
              </a:ext>
            </a:extLst>
          </p:cNvPr>
          <p:cNvSpPr txBox="1"/>
          <p:nvPr/>
        </p:nvSpPr>
        <p:spPr>
          <a:xfrm>
            <a:off x="7230555" y="6287940"/>
            <a:ext cx="1911649" cy="577081"/>
          </a:xfrm>
          <a:prstGeom prst="rect">
            <a:avLst/>
          </a:prstGeom>
          <a:noFill/>
        </p:spPr>
        <p:txBody>
          <a:bodyPr wrap="square" rtlCol="0">
            <a:spAutoFit/>
          </a:bodyPr>
          <a:lstStyle/>
          <a:p>
            <a:r>
              <a:rPr lang="en-GB" sz="1050"/>
              <a:t>These are data for the UK: data are highly variable across regions and countries</a:t>
            </a:r>
          </a:p>
        </p:txBody>
      </p:sp>
      <p:pic>
        <p:nvPicPr>
          <p:cNvPr id="7" name="Picture 6" descr="A green square with a white circle and a planet in the middle&#10;&#10;AI-generated content may be incorrect.">
            <a:extLst>
              <a:ext uri="{FF2B5EF4-FFF2-40B4-BE49-F238E27FC236}">
                <a16:creationId xmlns:a16="http://schemas.microsoft.com/office/drawing/2014/main" id="{6B6AAAA2-7328-645C-D6AC-124613D019CD}"/>
              </a:ext>
            </a:extLst>
          </p:cNvPr>
          <p:cNvPicPr>
            <a:picLocks noChangeAspect="1"/>
          </p:cNvPicPr>
          <p:nvPr/>
        </p:nvPicPr>
        <p:blipFill>
          <a:blip r:embed="rId3"/>
          <a:stretch>
            <a:fillRect/>
          </a:stretch>
        </p:blipFill>
        <p:spPr>
          <a:xfrm>
            <a:off x="7834312" y="5751"/>
            <a:ext cx="1311036" cy="1268084"/>
          </a:xfrm>
          <a:prstGeom prst="rect">
            <a:avLst/>
          </a:prstGeom>
        </p:spPr>
      </p:pic>
    </p:spTree>
    <p:extLst>
      <p:ext uri="{BB962C8B-B14F-4D97-AF65-F5344CB8AC3E}">
        <p14:creationId xmlns:p14="http://schemas.microsoft.com/office/powerpoint/2010/main" val="8606264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ADFC2-E2AE-3E47-B343-ADAD3D159C5B}"/>
              </a:ext>
            </a:extLst>
          </p:cNvPr>
          <p:cNvSpPr>
            <a:spLocks noGrp="1"/>
          </p:cNvSpPr>
          <p:nvPr>
            <p:ph type="title"/>
          </p:nvPr>
        </p:nvSpPr>
        <p:spPr>
          <a:xfrm>
            <a:off x="397287" y="146376"/>
            <a:ext cx="6987469" cy="994172"/>
          </a:xfrm>
        </p:spPr>
        <p:txBody>
          <a:bodyPr>
            <a:noAutofit/>
          </a:bodyPr>
          <a:lstStyle/>
          <a:p>
            <a:r>
              <a:rPr lang="en-GB" sz="1800">
                <a:solidFill>
                  <a:srgbClr val="C00000"/>
                </a:solidFill>
                <a:latin typeface="Helvetica"/>
                <a:cs typeface="Helvetica"/>
              </a:rPr>
              <a:t>Climate change is multifactorial and has contrasting impacts depending on scale, species, communities….</a:t>
            </a:r>
          </a:p>
        </p:txBody>
      </p:sp>
      <p:pic>
        <p:nvPicPr>
          <p:cNvPr id="4" name="Picture 3">
            <a:extLst>
              <a:ext uri="{FF2B5EF4-FFF2-40B4-BE49-F238E27FC236}">
                <a16:creationId xmlns:a16="http://schemas.microsoft.com/office/drawing/2014/main" id="{A1F1F3BA-A00B-1A4A-84A2-324090BA0061}"/>
              </a:ext>
            </a:extLst>
          </p:cNvPr>
          <p:cNvPicPr>
            <a:picLocks noChangeAspect="1"/>
          </p:cNvPicPr>
          <p:nvPr/>
        </p:nvPicPr>
        <p:blipFill>
          <a:blip r:embed="rId2"/>
          <a:stretch>
            <a:fillRect/>
          </a:stretch>
        </p:blipFill>
        <p:spPr>
          <a:xfrm>
            <a:off x="637705" y="1456094"/>
            <a:ext cx="3624733" cy="2415702"/>
          </a:xfrm>
          <a:prstGeom prst="rect">
            <a:avLst/>
          </a:prstGeom>
        </p:spPr>
      </p:pic>
      <p:pic>
        <p:nvPicPr>
          <p:cNvPr id="6" name="Picture 5">
            <a:extLst>
              <a:ext uri="{FF2B5EF4-FFF2-40B4-BE49-F238E27FC236}">
                <a16:creationId xmlns:a16="http://schemas.microsoft.com/office/drawing/2014/main" id="{76E8D7A0-3F07-3647-966E-B379FAC0D0A5}"/>
              </a:ext>
            </a:extLst>
          </p:cNvPr>
          <p:cNvPicPr>
            <a:picLocks noChangeAspect="1"/>
          </p:cNvPicPr>
          <p:nvPr/>
        </p:nvPicPr>
        <p:blipFill>
          <a:blip r:embed="rId3"/>
          <a:stretch>
            <a:fillRect/>
          </a:stretch>
        </p:blipFill>
        <p:spPr>
          <a:xfrm>
            <a:off x="4845580" y="1458442"/>
            <a:ext cx="3639314" cy="2412789"/>
          </a:xfrm>
          <a:prstGeom prst="rect">
            <a:avLst/>
          </a:prstGeom>
        </p:spPr>
      </p:pic>
      <p:pic>
        <p:nvPicPr>
          <p:cNvPr id="7" name="Picture 6">
            <a:extLst>
              <a:ext uri="{FF2B5EF4-FFF2-40B4-BE49-F238E27FC236}">
                <a16:creationId xmlns:a16="http://schemas.microsoft.com/office/drawing/2014/main" id="{2A4D90E6-E4C5-0C4A-9026-428CC3D82591}"/>
              </a:ext>
            </a:extLst>
          </p:cNvPr>
          <p:cNvPicPr>
            <a:picLocks noChangeAspect="1"/>
          </p:cNvPicPr>
          <p:nvPr/>
        </p:nvPicPr>
        <p:blipFill>
          <a:blip r:embed="rId4"/>
          <a:srcRect t="2996" b="3159"/>
          <a:stretch/>
        </p:blipFill>
        <p:spPr>
          <a:xfrm>
            <a:off x="4965994" y="3678018"/>
            <a:ext cx="3945525" cy="2584334"/>
          </a:xfrm>
          <a:prstGeom prst="rect">
            <a:avLst/>
          </a:prstGeom>
        </p:spPr>
      </p:pic>
      <p:pic>
        <p:nvPicPr>
          <p:cNvPr id="9" name="Picture 8" descr="A green square with a white circle and a planet in the middle&#10;&#10;AI-generated content may be incorrect.">
            <a:extLst>
              <a:ext uri="{FF2B5EF4-FFF2-40B4-BE49-F238E27FC236}">
                <a16:creationId xmlns:a16="http://schemas.microsoft.com/office/drawing/2014/main" id="{F95A2B24-0275-C919-D002-70FFD3487561}"/>
              </a:ext>
            </a:extLst>
          </p:cNvPr>
          <p:cNvPicPr>
            <a:picLocks noChangeAspect="1"/>
          </p:cNvPicPr>
          <p:nvPr/>
        </p:nvPicPr>
        <p:blipFill>
          <a:blip r:embed="rId5"/>
          <a:stretch>
            <a:fillRect/>
          </a:stretch>
        </p:blipFill>
        <p:spPr>
          <a:xfrm>
            <a:off x="7994237" y="1048"/>
            <a:ext cx="1151111" cy="1126973"/>
          </a:xfrm>
          <a:prstGeom prst="rect">
            <a:avLst/>
          </a:prstGeom>
        </p:spPr>
      </p:pic>
      <p:pic>
        <p:nvPicPr>
          <p:cNvPr id="5" name="Picture 4">
            <a:extLst>
              <a:ext uri="{FF2B5EF4-FFF2-40B4-BE49-F238E27FC236}">
                <a16:creationId xmlns:a16="http://schemas.microsoft.com/office/drawing/2014/main" id="{B5BD733A-6E4F-9142-A66C-9E0F2220DBFA}"/>
              </a:ext>
            </a:extLst>
          </p:cNvPr>
          <p:cNvPicPr>
            <a:picLocks noChangeAspect="1"/>
          </p:cNvPicPr>
          <p:nvPr/>
        </p:nvPicPr>
        <p:blipFill>
          <a:blip r:embed="rId6"/>
          <a:stretch>
            <a:fillRect/>
          </a:stretch>
        </p:blipFill>
        <p:spPr>
          <a:xfrm>
            <a:off x="723665" y="3675710"/>
            <a:ext cx="3961461" cy="2579157"/>
          </a:xfrm>
          <a:prstGeom prst="rect">
            <a:avLst/>
          </a:prstGeom>
        </p:spPr>
      </p:pic>
    </p:spTree>
    <p:extLst>
      <p:ext uri="{BB962C8B-B14F-4D97-AF65-F5344CB8AC3E}">
        <p14:creationId xmlns:p14="http://schemas.microsoft.com/office/powerpoint/2010/main" val="1258181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2A299C6-9FFE-06E3-65B7-6CC22936FC1F}"/>
              </a:ext>
            </a:extLst>
          </p:cNvPr>
          <p:cNvPicPr>
            <a:picLocks noChangeAspect="1"/>
          </p:cNvPicPr>
          <p:nvPr/>
        </p:nvPicPr>
        <p:blipFill>
          <a:blip r:embed="rId2"/>
          <a:stretch>
            <a:fillRect/>
          </a:stretch>
        </p:blipFill>
        <p:spPr>
          <a:xfrm>
            <a:off x="5195158" y="1026099"/>
            <a:ext cx="3365414" cy="1696847"/>
          </a:xfrm>
          <a:prstGeom prst="rect">
            <a:avLst/>
          </a:prstGeom>
        </p:spPr>
      </p:pic>
      <p:pic>
        <p:nvPicPr>
          <p:cNvPr id="10" name="Picture 9">
            <a:extLst>
              <a:ext uri="{FF2B5EF4-FFF2-40B4-BE49-F238E27FC236}">
                <a16:creationId xmlns:a16="http://schemas.microsoft.com/office/drawing/2014/main" id="{1AEE056A-B815-210C-08ED-FE5FD84C3D2E}"/>
              </a:ext>
            </a:extLst>
          </p:cNvPr>
          <p:cNvPicPr>
            <a:picLocks noChangeAspect="1"/>
          </p:cNvPicPr>
          <p:nvPr/>
        </p:nvPicPr>
        <p:blipFill>
          <a:blip r:embed="rId3"/>
          <a:stretch>
            <a:fillRect/>
          </a:stretch>
        </p:blipFill>
        <p:spPr>
          <a:xfrm>
            <a:off x="5219576" y="2092895"/>
            <a:ext cx="3733992" cy="2057506"/>
          </a:xfrm>
          <a:prstGeom prst="rect">
            <a:avLst/>
          </a:prstGeom>
        </p:spPr>
      </p:pic>
      <p:sp>
        <p:nvSpPr>
          <p:cNvPr id="2" name="Title 1">
            <a:extLst>
              <a:ext uri="{FF2B5EF4-FFF2-40B4-BE49-F238E27FC236}">
                <a16:creationId xmlns:a16="http://schemas.microsoft.com/office/drawing/2014/main" id="{FB2E28E0-96F2-404B-9119-4E7ABB43F513}"/>
              </a:ext>
            </a:extLst>
          </p:cNvPr>
          <p:cNvSpPr>
            <a:spLocks noGrp="1"/>
          </p:cNvSpPr>
          <p:nvPr>
            <p:ph type="title"/>
          </p:nvPr>
        </p:nvSpPr>
        <p:spPr>
          <a:xfrm>
            <a:off x="0" y="43557"/>
            <a:ext cx="7453929" cy="994172"/>
          </a:xfrm>
        </p:spPr>
        <p:txBody>
          <a:bodyPr>
            <a:normAutofit fontScale="90000"/>
          </a:bodyPr>
          <a:lstStyle/>
          <a:p>
            <a:r>
              <a:rPr lang="en-GB"/>
              <a:t>How is the energy mix changing?</a:t>
            </a:r>
          </a:p>
        </p:txBody>
      </p:sp>
      <p:pic>
        <p:nvPicPr>
          <p:cNvPr id="5" name="Picture 4">
            <a:extLst>
              <a:ext uri="{FF2B5EF4-FFF2-40B4-BE49-F238E27FC236}">
                <a16:creationId xmlns:a16="http://schemas.microsoft.com/office/drawing/2014/main" id="{46CA8358-1F58-FE4F-8E24-87B4E5ACD822}"/>
              </a:ext>
            </a:extLst>
          </p:cNvPr>
          <p:cNvPicPr>
            <a:picLocks noChangeAspect="1"/>
          </p:cNvPicPr>
          <p:nvPr/>
        </p:nvPicPr>
        <p:blipFill>
          <a:blip r:embed="rId4"/>
          <a:stretch>
            <a:fillRect/>
          </a:stretch>
        </p:blipFill>
        <p:spPr>
          <a:xfrm>
            <a:off x="8267260" y="-405"/>
            <a:ext cx="878255" cy="852872"/>
          </a:xfrm>
          <a:prstGeom prst="rect">
            <a:avLst/>
          </a:prstGeom>
        </p:spPr>
      </p:pic>
      <p:pic>
        <p:nvPicPr>
          <p:cNvPr id="11" name="Picture 10"/>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72000" y="4150401"/>
            <a:ext cx="4421293" cy="2740648"/>
          </a:xfrm>
          <a:prstGeom prst="rect">
            <a:avLst/>
          </a:prstGeom>
        </p:spPr>
      </p:pic>
      <p:sp>
        <p:nvSpPr>
          <p:cNvPr id="6" name="TextBox 5">
            <a:extLst>
              <a:ext uri="{FF2B5EF4-FFF2-40B4-BE49-F238E27FC236}">
                <a16:creationId xmlns:a16="http://schemas.microsoft.com/office/drawing/2014/main" id="{4282F311-D47D-2D20-56A6-4DB870B3244F}"/>
              </a:ext>
            </a:extLst>
          </p:cNvPr>
          <p:cNvSpPr txBox="1"/>
          <p:nvPr/>
        </p:nvSpPr>
        <p:spPr>
          <a:xfrm>
            <a:off x="193104" y="6477000"/>
            <a:ext cx="1669541" cy="253916"/>
          </a:xfrm>
          <a:prstGeom prst="rect">
            <a:avLst/>
          </a:prstGeom>
          <a:noFill/>
        </p:spPr>
        <p:txBody>
          <a:bodyPr wrap="square">
            <a:spAutoFit/>
          </a:bodyPr>
          <a:lstStyle/>
          <a:p>
            <a:r>
              <a:rPr lang="en-GB" sz="1050"/>
              <a:t>https://grid.iamkate.com/</a:t>
            </a:r>
          </a:p>
        </p:txBody>
      </p:sp>
      <p:sp>
        <p:nvSpPr>
          <p:cNvPr id="19" name="TextBox 18">
            <a:extLst>
              <a:ext uri="{FF2B5EF4-FFF2-40B4-BE49-F238E27FC236}">
                <a16:creationId xmlns:a16="http://schemas.microsoft.com/office/drawing/2014/main" id="{73848114-DB03-4A31-E659-9B6C577CB994}"/>
              </a:ext>
            </a:extLst>
          </p:cNvPr>
          <p:cNvSpPr txBox="1"/>
          <p:nvPr/>
        </p:nvSpPr>
        <p:spPr>
          <a:xfrm>
            <a:off x="105374" y="3209297"/>
            <a:ext cx="5410477" cy="338554"/>
          </a:xfrm>
          <a:prstGeom prst="rect">
            <a:avLst/>
          </a:prstGeom>
          <a:noFill/>
        </p:spPr>
        <p:txBody>
          <a:bodyPr wrap="square" rtlCol="0">
            <a:spAutoFit/>
          </a:bodyPr>
          <a:lstStyle/>
          <a:p>
            <a:r>
              <a:rPr lang="en-GB" sz="1600"/>
              <a:t>Yesterday's energy mix for electricity generation in the UK</a:t>
            </a:r>
          </a:p>
        </p:txBody>
      </p:sp>
      <p:pic>
        <p:nvPicPr>
          <p:cNvPr id="4" name="Picture 3">
            <a:extLst>
              <a:ext uri="{FF2B5EF4-FFF2-40B4-BE49-F238E27FC236}">
                <a16:creationId xmlns:a16="http://schemas.microsoft.com/office/drawing/2014/main" id="{C55E94CF-6D7D-9C12-1D61-580073E17BF2}"/>
              </a:ext>
            </a:extLst>
          </p:cNvPr>
          <p:cNvPicPr>
            <a:picLocks noChangeAspect="1"/>
          </p:cNvPicPr>
          <p:nvPr/>
        </p:nvPicPr>
        <p:blipFill>
          <a:blip r:embed="rId6"/>
          <a:stretch>
            <a:fillRect/>
          </a:stretch>
        </p:blipFill>
        <p:spPr>
          <a:xfrm>
            <a:off x="193104" y="3547292"/>
            <a:ext cx="5012271" cy="2929708"/>
          </a:xfrm>
          <a:prstGeom prst="rect">
            <a:avLst/>
          </a:prstGeom>
        </p:spPr>
      </p:pic>
      <p:pic>
        <p:nvPicPr>
          <p:cNvPr id="8" name="Picture 7">
            <a:extLst>
              <a:ext uri="{FF2B5EF4-FFF2-40B4-BE49-F238E27FC236}">
                <a16:creationId xmlns:a16="http://schemas.microsoft.com/office/drawing/2014/main" id="{199EE345-C473-5852-F617-AE29CF55CFB0}"/>
              </a:ext>
            </a:extLst>
          </p:cNvPr>
          <p:cNvPicPr>
            <a:picLocks noChangeAspect="1"/>
          </p:cNvPicPr>
          <p:nvPr/>
        </p:nvPicPr>
        <p:blipFill>
          <a:blip r:embed="rId7"/>
          <a:stretch>
            <a:fillRect/>
          </a:stretch>
        </p:blipFill>
        <p:spPr>
          <a:xfrm>
            <a:off x="105374" y="874589"/>
            <a:ext cx="4221514" cy="1472890"/>
          </a:xfrm>
          <a:prstGeom prst="rect">
            <a:avLst/>
          </a:prstGeom>
        </p:spPr>
      </p:pic>
      <p:sp>
        <p:nvSpPr>
          <p:cNvPr id="15" name="TextBox 14">
            <a:extLst>
              <a:ext uri="{FF2B5EF4-FFF2-40B4-BE49-F238E27FC236}">
                <a16:creationId xmlns:a16="http://schemas.microsoft.com/office/drawing/2014/main" id="{977FFFF1-CDBE-31E8-3A9B-720927BEAF11}"/>
              </a:ext>
            </a:extLst>
          </p:cNvPr>
          <p:cNvSpPr txBox="1"/>
          <p:nvPr/>
        </p:nvSpPr>
        <p:spPr>
          <a:xfrm>
            <a:off x="0" y="2388951"/>
            <a:ext cx="4680856" cy="253916"/>
          </a:xfrm>
          <a:prstGeom prst="rect">
            <a:avLst/>
          </a:prstGeom>
          <a:noFill/>
        </p:spPr>
        <p:txBody>
          <a:bodyPr wrap="square">
            <a:spAutoFit/>
          </a:bodyPr>
          <a:lstStyle/>
          <a:p>
            <a:r>
              <a:rPr lang="en-GB" sz="1050"/>
              <a:t>Energy Institute Statistical Review of World Energy 2024</a:t>
            </a:r>
          </a:p>
        </p:txBody>
      </p:sp>
    </p:spTree>
    <p:extLst>
      <p:ext uri="{BB962C8B-B14F-4D97-AF65-F5344CB8AC3E}">
        <p14:creationId xmlns:p14="http://schemas.microsoft.com/office/powerpoint/2010/main" val="41936952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DC53-771A-E54E-8A22-AAFD22000E77}"/>
              </a:ext>
            </a:extLst>
          </p:cNvPr>
          <p:cNvSpPr>
            <a:spLocks noGrp="1"/>
          </p:cNvSpPr>
          <p:nvPr>
            <p:ph type="title"/>
          </p:nvPr>
        </p:nvSpPr>
        <p:spPr>
          <a:xfrm>
            <a:off x="167687" y="158165"/>
            <a:ext cx="7872589" cy="591786"/>
          </a:xfrm>
        </p:spPr>
        <p:txBody>
          <a:bodyPr>
            <a:normAutofit/>
          </a:bodyPr>
          <a:lstStyle/>
          <a:p>
            <a:r>
              <a:rPr lang="en-GB" sz="2800" b="1">
                <a:solidFill>
                  <a:srgbClr val="C00000"/>
                </a:solidFill>
                <a:latin typeface="Helvetica"/>
                <a:cs typeface="Helvetica"/>
              </a:rPr>
              <a:t>Two major issues remain</a:t>
            </a:r>
          </a:p>
        </p:txBody>
      </p:sp>
      <p:sp>
        <p:nvSpPr>
          <p:cNvPr id="3" name="Content Placeholder 2">
            <a:extLst>
              <a:ext uri="{FF2B5EF4-FFF2-40B4-BE49-F238E27FC236}">
                <a16:creationId xmlns:a16="http://schemas.microsoft.com/office/drawing/2014/main" id="{ABB8821E-BC85-EA46-BCCA-9D72E5BBF6B5}"/>
              </a:ext>
            </a:extLst>
          </p:cNvPr>
          <p:cNvSpPr>
            <a:spLocks noGrp="1"/>
          </p:cNvSpPr>
          <p:nvPr>
            <p:ph idx="1"/>
          </p:nvPr>
        </p:nvSpPr>
        <p:spPr>
          <a:xfrm>
            <a:off x="346429" y="1279997"/>
            <a:ext cx="8135995" cy="4769966"/>
          </a:xfrm>
        </p:spPr>
        <p:txBody>
          <a:bodyPr>
            <a:normAutofit/>
          </a:bodyPr>
          <a:lstStyle/>
          <a:p>
            <a:r>
              <a:rPr lang="en-GB" sz="2400">
                <a:latin typeface="Helvetica"/>
                <a:cs typeface="Helvetica"/>
              </a:rPr>
              <a:t>There remains lots of uncertainty about the impacts of climate change on ecosystems, communities, populations and processes;</a:t>
            </a:r>
            <a:endParaRPr lang="en-US" sz="2400"/>
          </a:p>
          <a:p>
            <a:pPr lvl="1">
              <a:buFont typeface="Courier New"/>
              <a:buChar char="o"/>
            </a:pPr>
            <a:endParaRPr lang="en-GB" sz="2000" b="1">
              <a:solidFill>
                <a:schemeClr val="tx1"/>
              </a:solidFill>
              <a:latin typeface="Helvetica"/>
              <a:cs typeface="Helvetica"/>
            </a:endParaRPr>
          </a:p>
          <a:p>
            <a:pPr lvl="1">
              <a:buFont typeface="Courier New"/>
              <a:buChar char="o"/>
            </a:pPr>
            <a:r>
              <a:rPr lang="en-GB" sz="2000" b="1">
                <a:solidFill>
                  <a:schemeClr val="tx1"/>
                </a:solidFill>
                <a:latin typeface="Helvetica"/>
                <a:cs typeface="Helvetica"/>
              </a:rPr>
              <a:t>Environmental science research plays a key role in reducing this uncertainty</a:t>
            </a:r>
            <a:endParaRPr lang="en-GB">
              <a:solidFill>
                <a:schemeClr val="tx1"/>
              </a:solidFill>
            </a:endParaRPr>
          </a:p>
          <a:p>
            <a:endParaRPr lang="en-GB" sz="2400" b="1">
              <a:latin typeface="Helvetica"/>
              <a:cs typeface="Helvetica"/>
            </a:endParaRPr>
          </a:p>
          <a:p>
            <a:endParaRPr lang="en-GB" sz="2400">
              <a:latin typeface="Helvetica"/>
              <a:cs typeface="Helvetica"/>
            </a:endParaRPr>
          </a:p>
          <a:p>
            <a:r>
              <a:rPr lang="en-GB" sz="2400">
                <a:latin typeface="Helvetica"/>
                <a:cs typeface="Helvetica"/>
              </a:rPr>
              <a:t>Solutions to climate change crisis are in their infancy; </a:t>
            </a:r>
          </a:p>
          <a:p>
            <a:pPr lvl="1">
              <a:buFont typeface="Courier New"/>
              <a:buChar char="o"/>
            </a:pPr>
            <a:endParaRPr lang="en-GB" sz="2000" b="1">
              <a:latin typeface="Helvetica"/>
              <a:cs typeface="Helvetica"/>
            </a:endParaRPr>
          </a:p>
          <a:p>
            <a:pPr lvl="1">
              <a:buFont typeface="Courier New"/>
              <a:buChar char="o"/>
            </a:pPr>
            <a:r>
              <a:rPr lang="en-GB" sz="2000" b="1">
                <a:latin typeface="Helvetica"/>
                <a:cs typeface="Helvetica"/>
              </a:rPr>
              <a:t>Environmental science research plays a key role in developing sustainable solutions</a:t>
            </a:r>
            <a:endParaRPr lang="en-GB" sz="2800"/>
          </a:p>
        </p:txBody>
      </p:sp>
      <p:pic>
        <p:nvPicPr>
          <p:cNvPr id="6" name="Picture 5" descr="A green square with a white circle and a planet in the middle&#10;&#10;AI-generated content may be incorrect.">
            <a:extLst>
              <a:ext uri="{FF2B5EF4-FFF2-40B4-BE49-F238E27FC236}">
                <a16:creationId xmlns:a16="http://schemas.microsoft.com/office/drawing/2014/main" id="{4E086031-4420-1064-B435-51609E3AB96A}"/>
              </a:ext>
            </a:extLst>
          </p:cNvPr>
          <p:cNvPicPr>
            <a:picLocks noChangeAspect="1"/>
          </p:cNvPicPr>
          <p:nvPr/>
        </p:nvPicPr>
        <p:blipFill>
          <a:blip r:embed="rId2"/>
          <a:stretch>
            <a:fillRect/>
          </a:stretch>
        </p:blipFill>
        <p:spPr>
          <a:xfrm>
            <a:off x="8045978" y="1048"/>
            <a:ext cx="1099370" cy="1061121"/>
          </a:xfrm>
          <a:prstGeom prst="rect">
            <a:avLst/>
          </a:prstGeom>
        </p:spPr>
      </p:pic>
      <p:pic>
        <p:nvPicPr>
          <p:cNvPr id="7" name="Graphic 6" descr="Help with solid fill">
            <a:extLst>
              <a:ext uri="{FF2B5EF4-FFF2-40B4-BE49-F238E27FC236}">
                <a16:creationId xmlns:a16="http://schemas.microsoft.com/office/drawing/2014/main" id="{31EAA3DC-E6F3-F466-C12E-67B1A4EFE6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30911" y="2628431"/>
            <a:ext cx="575734" cy="547512"/>
          </a:xfrm>
          <a:prstGeom prst="rect">
            <a:avLst/>
          </a:prstGeom>
        </p:spPr>
      </p:pic>
      <p:pic>
        <p:nvPicPr>
          <p:cNvPr id="8" name="Graphic 7" descr="Brainstorm with solid fill">
            <a:extLst>
              <a:ext uri="{FF2B5EF4-FFF2-40B4-BE49-F238E27FC236}">
                <a16:creationId xmlns:a16="http://schemas.microsoft.com/office/drawing/2014/main" id="{59F50089-7297-A5DC-CDD8-1AE3E50D0D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0911" y="4820355"/>
            <a:ext cx="603956" cy="603956"/>
          </a:xfrm>
          <a:prstGeom prst="rect">
            <a:avLst/>
          </a:prstGeom>
        </p:spPr>
      </p:pic>
    </p:spTree>
    <p:extLst>
      <p:ext uri="{BB962C8B-B14F-4D97-AF65-F5344CB8AC3E}">
        <p14:creationId xmlns:p14="http://schemas.microsoft.com/office/powerpoint/2010/main" val="4113307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B0B7E03-2A8E-4045-A1D5-BD17BDAD47AC}"/>
              </a:ext>
            </a:extLst>
          </p:cNvPr>
          <p:cNvSpPr txBox="1">
            <a:spLocks/>
          </p:cNvSpPr>
          <p:nvPr/>
        </p:nvSpPr>
        <p:spPr>
          <a:xfrm>
            <a:off x="5280730" y="534224"/>
            <a:ext cx="3676356" cy="6168099"/>
          </a:xfrm>
          <a:prstGeom prst="rect">
            <a:avLst/>
          </a:prstGeom>
          <a:noFill/>
        </p:spPr>
        <p:txBody>
          <a:bodyPr vert="horz" wrap="square" lIns="68580" tIns="34290" rIns="68580" bIns="3429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a:solidFill>
                  <a:srgbClr val="0796F1"/>
                </a:solidFill>
              </a:rPr>
              <a:t>Key environmental science related challenges:</a:t>
            </a:r>
            <a:endParaRPr lang="en-GB" sz="2000" b="1">
              <a:solidFill>
                <a:srgbClr val="0796F1"/>
              </a:solidFill>
              <a:cs typeface="Arial"/>
            </a:endParaRPr>
          </a:p>
          <a:p>
            <a:endParaRPr lang="en-GB" sz="1800">
              <a:cs typeface="Arial"/>
            </a:endParaRPr>
          </a:p>
          <a:p>
            <a:r>
              <a:rPr lang="en-GB" sz="1800"/>
              <a:t>What is the link between fisheries production and climate change?</a:t>
            </a:r>
            <a:endParaRPr lang="en-GB" sz="1800">
              <a:cs typeface="Arial"/>
            </a:endParaRPr>
          </a:p>
          <a:p>
            <a:endParaRPr lang="en-GB" sz="1800" b="1">
              <a:cs typeface="Arial"/>
            </a:endParaRPr>
          </a:p>
          <a:p>
            <a:r>
              <a:rPr lang="en-GB" sz="1800" b="1"/>
              <a:t>Meta-ecosystem concept</a:t>
            </a:r>
            <a:r>
              <a:rPr lang="en-GB" sz="1800"/>
              <a:t>:</a:t>
            </a:r>
            <a:r>
              <a:rPr lang="en-GB" sz="1800" b="1"/>
              <a:t> </a:t>
            </a:r>
            <a:r>
              <a:rPr lang="en-GB" sz="1800"/>
              <a:t>don’t consider marine as separate from land</a:t>
            </a:r>
            <a:endParaRPr lang="en-GB" sz="1800">
              <a:cs typeface="Arial"/>
            </a:endParaRPr>
          </a:p>
          <a:p>
            <a:endParaRPr lang="en-GB" sz="1800">
              <a:cs typeface="Arial"/>
            </a:endParaRPr>
          </a:p>
          <a:p>
            <a:r>
              <a:rPr lang="en-GB" sz="1800" b="1"/>
              <a:t>We’re still finding new species</a:t>
            </a:r>
            <a:endParaRPr lang="en-GB" sz="1800"/>
          </a:p>
          <a:p>
            <a:pPr lvl="1">
              <a:buFont typeface="Courier New" panose="020B0604020202020204" pitchFamily="34" charset="0"/>
              <a:buChar char="o"/>
            </a:pPr>
            <a:r>
              <a:rPr lang="en-GB" sz="1600">
                <a:cs typeface="Arial"/>
              </a:rPr>
              <a:t>Especially microbial life...</a:t>
            </a:r>
          </a:p>
          <a:p>
            <a:endParaRPr lang="en-GB" sz="1800">
              <a:cs typeface="Arial"/>
            </a:endParaRPr>
          </a:p>
          <a:p>
            <a:r>
              <a:rPr lang="en-GB" sz="1800"/>
              <a:t>Stopping pollution – how to police the oceans</a:t>
            </a:r>
            <a:endParaRPr lang="en-GB" sz="1800">
              <a:cs typeface="Arial"/>
            </a:endParaRPr>
          </a:p>
          <a:p>
            <a:endParaRPr lang="en-GB" sz="1350"/>
          </a:p>
          <a:p>
            <a:endParaRPr lang="en-GB" sz="1500"/>
          </a:p>
        </p:txBody>
      </p:sp>
      <p:pic>
        <p:nvPicPr>
          <p:cNvPr id="3" name="Picture 2">
            <a:extLst>
              <a:ext uri="{FF2B5EF4-FFF2-40B4-BE49-F238E27FC236}">
                <a16:creationId xmlns:a16="http://schemas.microsoft.com/office/drawing/2014/main" id="{2337D9B3-9E5D-E175-0EAB-9F8CEEEAC832}"/>
              </a:ext>
            </a:extLst>
          </p:cNvPr>
          <p:cNvPicPr>
            <a:picLocks noChangeAspect="1"/>
          </p:cNvPicPr>
          <p:nvPr/>
        </p:nvPicPr>
        <p:blipFill>
          <a:blip r:embed="rId2"/>
          <a:stretch>
            <a:fillRect/>
          </a:stretch>
        </p:blipFill>
        <p:spPr>
          <a:xfrm>
            <a:off x="1114" y="1176"/>
            <a:ext cx="4983283" cy="6733351"/>
          </a:xfrm>
          <a:prstGeom prst="rect">
            <a:avLst/>
          </a:prstGeom>
        </p:spPr>
      </p:pic>
      <p:pic>
        <p:nvPicPr>
          <p:cNvPr id="2" name="Graphic 1" descr="Police female with solid fill">
            <a:extLst>
              <a:ext uri="{FF2B5EF4-FFF2-40B4-BE49-F238E27FC236}">
                <a16:creationId xmlns:a16="http://schemas.microsoft.com/office/drawing/2014/main" id="{1CB8E83E-0CE2-18E9-054E-ACE0BDE125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50692" y="4869567"/>
            <a:ext cx="792104" cy="792104"/>
          </a:xfrm>
          <a:prstGeom prst="rect">
            <a:avLst/>
          </a:prstGeom>
        </p:spPr>
      </p:pic>
      <p:sp>
        <p:nvSpPr>
          <p:cNvPr id="6" name="TextBox 5">
            <a:extLst>
              <a:ext uri="{FF2B5EF4-FFF2-40B4-BE49-F238E27FC236}">
                <a16:creationId xmlns:a16="http://schemas.microsoft.com/office/drawing/2014/main" id="{395E1D58-F866-2896-FE66-B5E1E3684AD0}"/>
              </a:ext>
            </a:extLst>
          </p:cNvPr>
          <p:cNvSpPr txBox="1"/>
          <p:nvPr/>
        </p:nvSpPr>
        <p:spPr>
          <a:xfrm>
            <a:off x="5582306" y="6219813"/>
            <a:ext cx="31780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EB1731"/>
                </a:solidFill>
              </a:rPr>
              <a:t>Regression</a:t>
            </a:r>
          </a:p>
        </p:txBody>
      </p:sp>
    </p:spTree>
    <p:extLst>
      <p:ext uri="{BB962C8B-B14F-4D97-AF65-F5344CB8AC3E}">
        <p14:creationId xmlns:p14="http://schemas.microsoft.com/office/powerpoint/2010/main" val="11933714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http://www.austmine.com.au/Portals/25/Content/Images/2013/Picture1.jpg">
            <a:extLst>
              <a:ext uri="{FF2B5EF4-FFF2-40B4-BE49-F238E27FC236}">
                <a16:creationId xmlns:a16="http://schemas.microsoft.com/office/drawing/2014/main" id="{6F508820-94A9-774F-8592-C66E945F08D6}"/>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287635" y="609356"/>
            <a:ext cx="3690586" cy="263227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E090784-77FA-784E-B86D-6A61D67DE982}"/>
              </a:ext>
            </a:extLst>
          </p:cNvPr>
          <p:cNvPicPr>
            <a:picLocks noChangeAspect="1"/>
          </p:cNvPicPr>
          <p:nvPr/>
        </p:nvPicPr>
        <p:blipFill>
          <a:blip r:embed="rId3"/>
          <a:stretch>
            <a:fillRect/>
          </a:stretch>
        </p:blipFill>
        <p:spPr>
          <a:xfrm>
            <a:off x="8149975" y="-5641"/>
            <a:ext cx="992683" cy="968417"/>
          </a:xfrm>
          <a:prstGeom prst="rect">
            <a:avLst/>
          </a:prstGeom>
        </p:spPr>
      </p:pic>
      <p:sp>
        <p:nvSpPr>
          <p:cNvPr id="6" name="TextBox 5">
            <a:extLst>
              <a:ext uri="{FF2B5EF4-FFF2-40B4-BE49-F238E27FC236}">
                <a16:creationId xmlns:a16="http://schemas.microsoft.com/office/drawing/2014/main" id="{FF2799BB-5FD5-544D-B020-B2013FC0984B}"/>
              </a:ext>
            </a:extLst>
          </p:cNvPr>
          <p:cNvSpPr txBox="1"/>
          <p:nvPr/>
        </p:nvSpPr>
        <p:spPr>
          <a:xfrm>
            <a:off x="136193" y="106168"/>
            <a:ext cx="5615109" cy="415498"/>
          </a:xfrm>
          <a:prstGeom prst="rect">
            <a:avLst/>
          </a:prstGeom>
          <a:noFill/>
        </p:spPr>
        <p:txBody>
          <a:bodyPr wrap="square" rtlCol="0">
            <a:spAutoFit/>
          </a:bodyPr>
          <a:lstStyle/>
          <a:p>
            <a:r>
              <a:rPr lang="en-GB" sz="2100" b="1">
                <a:solidFill>
                  <a:srgbClr val="C00000"/>
                </a:solidFill>
                <a:latin typeface="Helvetica"/>
                <a:cs typeface="Helvetica"/>
              </a:rPr>
              <a:t>Seafloor mining of manganese nodules</a:t>
            </a:r>
          </a:p>
        </p:txBody>
      </p:sp>
      <p:sp>
        <p:nvSpPr>
          <p:cNvPr id="2" name="Rectangle 1"/>
          <p:cNvSpPr/>
          <p:nvPr/>
        </p:nvSpPr>
        <p:spPr>
          <a:xfrm>
            <a:off x="419927" y="4697922"/>
            <a:ext cx="4140046" cy="1384995"/>
          </a:xfrm>
          <a:prstGeom prst="rect">
            <a:avLst/>
          </a:prstGeom>
        </p:spPr>
        <p:txBody>
          <a:bodyPr wrap="square" lIns="91440" tIns="45720" rIns="91440" bIns="45720" anchor="t">
            <a:spAutoFit/>
          </a:bodyPr>
          <a:lstStyle/>
          <a:p>
            <a:r>
              <a:rPr lang="en-GB">
                <a:solidFill>
                  <a:srgbClr val="2E2E2E"/>
                </a:solidFill>
                <a:latin typeface="NexusSerif"/>
              </a:rPr>
              <a:t>Together with Antarctica, the deep-sea floor outside the continental shelf remains today the only large area on Earth which is not being used for the extraction of mineral resources of any kind. </a:t>
            </a:r>
          </a:p>
          <a:p>
            <a:endParaRPr lang="en-GB">
              <a:solidFill>
                <a:srgbClr val="2E2E2E"/>
              </a:solidFill>
              <a:latin typeface="NexusSerif"/>
            </a:endParaRPr>
          </a:p>
          <a:p>
            <a:r>
              <a:rPr lang="en-GB" i="1">
                <a:solidFill>
                  <a:srgbClr val="2E2E2E"/>
                </a:solidFill>
                <a:latin typeface="NexusSerif"/>
              </a:rPr>
              <a:t>However, what is the </a:t>
            </a:r>
            <a:r>
              <a:rPr lang="en-GB" b="1" i="1">
                <a:solidFill>
                  <a:srgbClr val="2E2E2E"/>
                </a:solidFill>
                <a:latin typeface="NexusSerif"/>
              </a:rPr>
              <a:t>ecological impact?</a:t>
            </a:r>
            <a:endParaRPr lang="en-GB" b="1" i="1"/>
          </a:p>
        </p:txBody>
      </p:sp>
      <p:pic>
        <p:nvPicPr>
          <p:cNvPr id="7" name="Picture 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17775" y="1350318"/>
            <a:ext cx="3678092" cy="3119023"/>
          </a:xfrm>
          <a:prstGeom prst="rect">
            <a:avLst/>
          </a:prstGeom>
        </p:spPr>
      </p:pic>
      <p:pic>
        <p:nvPicPr>
          <p:cNvPr id="8" name="Picture 7"/>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402027" y="5049268"/>
            <a:ext cx="2325227" cy="1076783"/>
          </a:xfrm>
          <a:prstGeom prst="rect">
            <a:avLst/>
          </a:prstGeom>
        </p:spPr>
      </p:pic>
      <p:pic>
        <p:nvPicPr>
          <p:cNvPr id="9" name="Picture 8"/>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411720" y="3422430"/>
            <a:ext cx="2312040" cy="1601187"/>
          </a:xfrm>
          <a:prstGeom prst="rect">
            <a:avLst/>
          </a:prstGeom>
        </p:spPr>
      </p:pic>
      <p:sp>
        <p:nvSpPr>
          <p:cNvPr id="10" name="TextBox 9"/>
          <p:cNvSpPr txBox="1"/>
          <p:nvPr/>
        </p:nvSpPr>
        <p:spPr>
          <a:xfrm>
            <a:off x="4098154" y="3601347"/>
            <a:ext cx="2325227" cy="415498"/>
          </a:xfrm>
          <a:prstGeom prst="rect">
            <a:avLst/>
          </a:prstGeom>
          <a:noFill/>
        </p:spPr>
        <p:txBody>
          <a:bodyPr wrap="square" rtlCol="0">
            <a:spAutoFit/>
          </a:bodyPr>
          <a:lstStyle/>
          <a:p>
            <a:r>
              <a:rPr lang="en-GB" sz="1050"/>
              <a:t>Nickel, Copper, Cobalt, Lithium and Rare Earth Elements</a:t>
            </a:r>
          </a:p>
        </p:txBody>
      </p:sp>
      <p:sp>
        <p:nvSpPr>
          <p:cNvPr id="12" name="TextBox 11"/>
          <p:cNvSpPr txBox="1"/>
          <p:nvPr/>
        </p:nvSpPr>
        <p:spPr>
          <a:xfrm>
            <a:off x="3110587" y="6238501"/>
            <a:ext cx="2922653" cy="415498"/>
          </a:xfrm>
          <a:prstGeom prst="rect">
            <a:avLst/>
          </a:prstGeom>
          <a:noFill/>
        </p:spPr>
        <p:txBody>
          <a:bodyPr wrap="square" rtlCol="0">
            <a:spAutoFit/>
          </a:bodyPr>
          <a:lstStyle/>
          <a:p>
            <a:r>
              <a:rPr lang="en-GB" sz="1050" i="1"/>
              <a:t>Impact of oil spills e.g. Deep Water Horizon in 2010</a:t>
            </a:r>
          </a:p>
        </p:txBody>
      </p:sp>
    </p:spTree>
    <p:extLst>
      <p:ext uri="{BB962C8B-B14F-4D97-AF65-F5344CB8AC3E}">
        <p14:creationId xmlns:p14="http://schemas.microsoft.com/office/powerpoint/2010/main" val="322748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D03E873-4C86-6E48-9C4E-BA0438CF843E}"/>
              </a:ext>
            </a:extLst>
          </p:cNvPr>
          <p:cNvSpPr txBox="1">
            <a:spLocks/>
          </p:cNvSpPr>
          <p:nvPr/>
        </p:nvSpPr>
        <p:spPr>
          <a:xfrm>
            <a:off x="5463158" y="898698"/>
            <a:ext cx="3435239" cy="5669501"/>
          </a:xfrm>
          <a:prstGeom prst="rect">
            <a:avLst/>
          </a:prstGeom>
          <a:noFill/>
        </p:spPr>
        <p:txBody>
          <a:bodyPr vert="horz" wrap="square" lIns="68580" tIns="34290" rIns="68580" bIns="34290" rtlCol="0"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000" b="1" dirty="0">
                <a:solidFill>
                  <a:srgbClr val="59BB47"/>
                </a:solidFill>
                <a:latin typeface="Helvetica"/>
                <a:cs typeface="Helvetica"/>
              </a:rPr>
              <a:t>Key environmental science related challenges:</a:t>
            </a:r>
          </a:p>
          <a:p>
            <a:endParaRPr lang="en-GB" sz="1800">
              <a:latin typeface="Helvetica"/>
              <a:cs typeface="Helvetica"/>
            </a:endParaRPr>
          </a:p>
          <a:p>
            <a:r>
              <a:rPr lang="en-GB" sz="1800">
                <a:latin typeface="Helvetica"/>
                <a:cs typeface="Helvetica"/>
              </a:rPr>
              <a:t>Just how important is biodiversity for ecosystem function?</a:t>
            </a:r>
          </a:p>
          <a:p>
            <a:endParaRPr lang="en-GB" sz="1800" b="1">
              <a:latin typeface="Helvetica"/>
              <a:cs typeface="Helvetica"/>
            </a:endParaRPr>
          </a:p>
          <a:p>
            <a:r>
              <a:rPr lang="en-GB" sz="1800" b="1">
                <a:latin typeface="Helvetica"/>
                <a:cs typeface="Helvetica"/>
              </a:rPr>
              <a:t>Biodiversity = more than just species richness</a:t>
            </a:r>
            <a:endParaRPr lang="en-GB" sz="1800">
              <a:latin typeface="Helvetica"/>
              <a:cs typeface="Helvetica"/>
            </a:endParaRPr>
          </a:p>
          <a:p>
            <a:endParaRPr lang="en-GB" sz="1800">
              <a:latin typeface="Helvetica"/>
              <a:cs typeface="Helvetica"/>
            </a:endParaRPr>
          </a:p>
          <a:p>
            <a:r>
              <a:rPr lang="en-GB" sz="1800">
                <a:latin typeface="Helvetica"/>
                <a:cs typeface="Helvetica"/>
              </a:rPr>
              <a:t>‘Planting trees’ – it’s more complex than this</a:t>
            </a:r>
            <a:endParaRPr lang="en-GB" sz="1800" b="1">
              <a:latin typeface="Helvetica"/>
              <a:cs typeface="Helvetica"/>
            </a:endParaRPr>
          </a:p>
          <a:p>
            <a:endParaRPr lang="en-GB" sz="1800">
              <a:latin typeface="Helvetica"/>
              <a:cs typeface="Arial"/>
            </a:endParaRPr>
          </a:p>
          <a:p>
            <a:r>
              <a:rPr lang="en-GB" sz="1800">
                <a:latin typeface="Helvetica"/>
                <a:cs typeface="Arial"/>
              </a:rPr>
              <a:t>Remember the soil!</a:t>
            </a:r>
          </a:p>
          <a:p>
            <a:endParaRPr lang="en-GB" sz="1800">
              <a:cs typeface="Arial"/>
            </a:endParaRPr>
          </a:p>
          <a:p>
            <a:endParaRPr lang="en-GB" sz="1350">
              <a:cs typeface="Arial"/>
            </a:endParaRPr>
          </a:p>
          <a:p>
            <a:endParaRPr lang="en-GB" sz="1500">
              <a:cs typeface="Arial"/>
            </a:endParaRPr>
          </a:p>
        </p:txBody>
      </p:sp>
      <p:pic>
        <p:nvPicPr>
          <p:cNvPr id="2" name="Picture 1" descr="A green and white poster&#10;&#10;AI-generated content may be incorrect.">
            <a:extLst>
              <a:ext uri="{FF2B5EF4-FFF2-40B4-BE49-F238E27FC236}">
                <a16:creationId xmlns:a16="http://schemas.microsoft.com/office/drawing/2014/main" id="{010D06DE-6F44-26BD-D6EA-E25C5D4B07FF}"/>
              </a:ext>
            </a:extLst>
          </p:cNvPr>
          <p:cNvPicPr>
            <a:picLocks noChangeAspect="1"/>
          </p:cNvPicPr>
          <p:nvPr/>
        </p:nvPicPr>
        <p:blipFill>
          <a:blip r:embed="rId2"/>
          <a:srcRect l="3765" t="5124" r="2823" b="883"/>
          <a:stretch/>
        </p:blipFill>
        <p:spPr>
          <a:xfrm>
            <a:off x="905" y="-1719"/>
            <a:ext cx="5191681" cy="6893832"/>
          </a:xfrm>
          <a:prstGeom prst="rect">
            <a:avLst/>
          </a:prstGeom>
        </p:spPr>
      </p:pic>
      <p:sp>
        <p:nvSpPr>
          <p:cNvPr id="4" name="TextBox 3">
            <a:extLst>
              <a:ext uri="{FF2B5EF4-FFF2-40B4-BE49-F238E27FC236}">
                <a16:creationId xmlns:a16="http://schemas.microsoft.com/office/drawing/2014/main" id="{7B90DDE1-3858-4C20-1664-8001CEFF75ED}"/>
              </a:ext>
            </a:extLst>
          </p:cNvPr>
          <p:cNvSpPr txBox="1"/>
          <p:nvPr/>
        </p:nvSpPr>
        <p:spPr>
          <a:xfrm>
            <a:off x="5582306" y="6219813"/>
            <a:ext cx="317801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1600" dirty="0"/>
              <a:t>2024 status: </a:t>
            </a:r>
            <a:r>
              <a:rPr lang="en-GB" sz="1600" b="1" dirty="0">
                <a:solidFill>
                  <a:srgbClr val="EB1731"/>
                </a:solidFill>
              </a:rPr>
              <a:t>Regression</a:t>
            </a:r>
          </a:p>
        </p:txBody>
      </p:sp>
    </p:spTree>
    <p:extLst>
      <p:ext uri="{BB962C8B-B14F-4D97-AF65-F5344CB8AC3E}">
        <p14:creationId xmlns:p14="http://schemas.microsoft.com/office/powerpoint/2010/main" val="41827505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B076C-958F-9D43-93D8-02A8944E07F6}"/>
              </a:ext>
            </a:extLst>
          </p:cNvPr>
          <p:cNvSpPr>
            <a:spLocks noGrp="1"/>
          </p:cNvSpPr>
          <p:nvPr>
            <p:ph type="title"/>
          </p:nvPr>
        </p:nvSpPr>
        <p:spPr>
          <a:xfrm>
            <a:off x="173105" y="142099"/>
            <a:ext cx="5915025" cy="549116"/>
          </a:xfrm>
        </p:spPr>
        <p:txBody>
          <a:bodyPr>
            <a:normAutofit/>
          </a:bodyPr>
          <a:lstStyle/>
          <a:p>
            <a:r>
              <a:rPr lang="en-GB" sz="2700" b="1">
                <a:solidFill>
                  <a:srgbClr val="5CB84A"/>
                </a:solidFill>
                <a:latin typeface="Helvetica"/>
                <a:cs typeface="Helvetica"/>
              </a:rPr>
              <a:t>Life on land – key facts</a:t>
            </a:r>
          </a:p>
        </p:txBody>
      </p:sp>
      <p:sp>
        <p:nvSpPr>
          <p:cNvPr id="4" name="Rectangle 3">
            <a:extLst>
              <a:ext uri="{FF2B5EF4-FFF2-40B4-BE49-F238E27FC236}">
                <a16:creationId xmlns:a16="http://schemas.microsoft.com/office/drawing/2014/main" id="{D4318161-97E0-C74A-B8C3-7EEBFAFF70F2}"/>
              </a:ext>
            </a:extLst>
          </p:cNvPr>
          <p:cNvSpPr/>
          <p:nvPr/>
        </p:nvSpPr>
        <p:spPr>
          <a:xfrm>
            <a:off x="529971" y="1458884"/>
            <a:ext cx="8078964" cy="4501232"/>
          </a:xfrm>
          <a:prstGeom prst="rect">
            <a:avLst/>
          </a:prstGeom>
        </p:spPr>
        <p:txBody>
          <a:bodyPr wrap="square" lIns="68580" tIns="34290" rIns="68580" bIns="34290" anchor="t">
            <a:spAutoFit/>
          </a:bodyPr>
          <a:lstStyle/>
          <a:p>
            <a:pPr>
              <a:buFont typeface="Arial" panose="020B0604020202020204" pitchFamily="34" charset="0"/>
              <a:buChar char="•"/>
            </a:pPr>
            <a:r>
              <a:rPr lang="en-GB" sz="1800">
                <a:solidFill>
                  <a:srgbClr val="4D4D4D"/>
                </a:solidFill>
                <a:latin typeface="Helvetica"/>
                <a:cs typeface="Helvetica"/>
              </a:rPr>
              <a:t> </a:t>
            </a:r>
            <a:r>
              <a:rPr lang="en-GB" sz="1800" b="0" i="0" u="none" strike="noStrike">
                <a:solidFill>
                  <a:srgbClr val="4D4D4D"/>
                </a:solidFill>
                <a:effectLst/>
                <a:latin typeface="Helvetica"/>
                <a:cs typeface="Helvetica"/>
              </a:rPr>
              <a:t> Around 1.6 billion people depend on forests for their livelihood, including 70 million indigenous people.</a:t>
            </a:r>
          </a:p>
          <a:p>
            <a:pPr>
              <a:buFont typeface="Arial" panose="020B0604020202020204" pitchFamily="34" charset="0"/>
              <a:buChar char="•"/>
            </a:pPr>
            <a:endParaRPr lang="en-GB" sz="1800" b="0" i="0" u="none" strike="noStrike">
              <a:solidFill>
                <a:srgbClr val="4D4D4D"/>
              </a:solidFill>
              <a:effectLst/>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a:t>
            </a:r>
            <a:r>
              <a:rPr lang="en-GB" sz="1800" b="0" i="0" u="none" strike="noStrike">
                <a:solidFill>
                  <a:srgbClr val="4D4D4D"/>
                </a:solidFill>
                <a:effectLst/>
                <a:latin typeface="Helvetica"/>
                <a:cs typeface="Helvetica"/>
              </a:rPr>
              <a:t> Forests </a:t>
            </a:r>
            <a:r>
              <a:rPr lang="en-GB" sz="1800">
                <a:solidFill>
                  <a:srgbClr val="4D4D4D"/>
                </a:solidFill>
                <a:latin typeface="Helvetica"/>
                <a:cs typeface="Helvetica"/>
              </a:rPr>
              <a:t>contain more</a:t>
            </a:r>
            <a:r>
              <a:rPr lang="en-GB" sz="1800" b="0" i="0" u="none" strike="noStrike">
                <a:solidFill>
                  <a:srgbClr val="4D4D4D"/>
                </a:solidFill>
                <a:effectLst/>
                <a:latin typeface="Helvetica"/>
                <a:cs typeface="Helvetica"/>
              </a:rPr>
              <a:t> than 80% of all terrestrial species.</a:t>
            </a:r>
          </a:p>
          <a:p>
            <a:pPr>
              <a:buFont typeface="Arial" panose="020B0604020202020204" pitchFamily="34" charset="0"/>
              <a:buChar char="•"/>
            </a:pPr>
            <a:endParaRPr lang="en-GB" sz="1800" b="0" i="0" u="none" strike="noStrike">
              <a:solidFill>
                <a:srgbClr val="4D4D4D"/>
              </a:solidFill>
              <a:effectLst/>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a:t>
            </a:r>
            <a:r>
              <a:rPr lang="en-GB" sz="1800" b="0" i="0" u="none" strike="noStrike">
                <a:solidFill>
                  <a:srgbClr val="4D4D4D"/>
                </a:solidFill>
                <a:effectLst/>
                <a:latin typeface="Helvetica"/>
                <a:cs typeface="Helvetica"/>
              </a:rPr>
              <a:t> </a:t>
            </a:r>
            <a:r>
              <a:rPr lang="en-GB" sz="1800" b="1" i="0" u="none" strike="noStrike">
                <a:solidFill>
                  <a:srgbClr val="4D4D4D"/>
                </a:solidFill>
                <a:effectLst/>
                <a:latin typeface="Helvetica"/>
                <a:cs typeface="Helvetica"/>
              </a:rPr>
              <a:t>Between 2010 and 2015, the world lost 3.3 million hectares of forest.</a:t>
            </a:r>
            <a:r>
              <a:rPr lang="en-GB" sz="1800" b="1">
                <a:solidFill>
                  <a:srgbClr val="4D4D4D"/>
                </a:solidFill>
                <a:latin typeface="Helvetica"/>
                <a:cs typeface="Helvetica"/>
              </a:rPr>
              <a:t> </a:t>
            </a:r>
            <a:endParaRPr lang="en-GB" sz="1800" b="1" i="0" u="none" strike="noStrike">
              <a:solidFill>
                <a:srgbClr val="4D4D4D"/>
              </a:solidFill>
              <a:effectLst/>
              <a:latin typeface="Helvetica"/>
              <a:cs typeface="Helvetica"/>
            </a:endParaRPr>
          </a:p>
          <a:p>
            <a:pPr>
              <a:buFont typeface="Arial" panose="020B0604020202020204" pitchFamily="34" charset="0"/>
              <a:buChar char="•"/>
            </a:pPr>
            <a:endParaRPr lang="en-GB" sz="1800" b="0" i="0" u="none" strike="noStrike">
              <a:solidFill>
                <a:srgbClr val="4D4D4D"/>
              </a:solidFill>
              <a:effectLst/>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2.6 billion people depend directly on agriculture, but 52% of the land used for agriculture is moderately or severely affected by soil degradation.</a:t>
            </a:r>
          </a:p>
          <a:p>
            <a:endParaRPr lang="en-GB" sz="1800">
              <a:solidFill>
                <a:srgbClr val="4D4D4D"/>
              </a:solidFill>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Over 80% of the human diet is provided by plants. </a:t>
            </a:r>
            <a:r>
              <a:rPr lang="en-GB" sz="1800" b="1">
                <a:solidFill>
                  <a:srgbClr val="4D4D4D"/>
                </a:solidFill>
                <a:latin typeface="Helvetica"/>
                <a:cs typeface="Helvetica"/>
              </a:rPr>
              <a:t>Only three cereal crops – rice, maize and wheat (all grasses) – provide 60% of energy intake.</a:t>
            </a:r>
          </a:p>
          <a:p>
            <a:pPr>
              <a:buFont typeface="Arial" panose="020B0604020202020204" pitchFamily="34" charset="0"/>
              <a:buChar char="•"/>
            </a:pPr>
            <a:endParaRPr lang="en-GB" sz="1800">
              <a:solidFill>
                <a:srgbClr val="4D4D4D"/>
              </a:solidFill>
              <a:latin typeface="Helvetica"/>
              <a:cs typeface="Helvetica"/>
            </a:endParaRPr>
          </a:p>
          <a:p>
            <a:pPr>
              <a:buFont typeface="Arial" panose="020B0604020202020204" pitchFamily="34" charset="0"/>
              <a:buChar char="•"/>
            </a:pPr>
            <a:r>
              <a:rPr lang="en-GB" sz="1800">
                <a:solidFill>
                  <a:srgbClr val="4D4D4D"/>
                </a:solidFill>
                <a:latin typeface="Helvetica"/>
                <a:cs typeface="Helvetica"/>
              </a:rPr>
              <a:t>  Microorganisms and invertebrates, especially those in soil, are key to ecosystem services, but their contributions are still poorly known and rarely acknowledged</a:t>
            </a:r>
            <a:endParaRPr lang="en-GB" sz="1800" b="0" i="0" u="none" strike="noStrike">
              <a:solidFill>
                <a:srgbClr val="4D4D4D"/>
              </a:solidFill>
              <a:effectLst/>
              <a:latin typeface="Helvetica"/>
              <a:cs typeface="Helvetica"/>
            </a:endParaRPr>
          </a:p>
        </p:txBody>
      </p:sp>
      <p:pic>
        <p:nvPicPr>
          <p:cNvPr id="6" name="Picture 5" descr="A green sign with white text and a tree and birds&#10;&#10;AI-generated content may be incorrect.">
            <a:extLst>
              <a:ext uri="{FF2B5EF4-FFF2-40B4-BE49-F238E27FC236}">
                <a16:creationId xmlns:a16="http://schemas.microsoft.com/office/drawing/2014/main" id="{48CC0FB3-F100-8B7E-4EB0-D95783B6671C}"/>
              </a:ext>
            </a:extLst>
          </p:cNvPr>
          <p:cNvPicPr>
            <a:picLocks noChangeAspect="1"/>
          </p:cNvPicPr>
          <p:nvPr/>
        </p:nvPicPr>
        <p:blipFill>
          <a:blip r:embed="rId2"/>
          <a:stretch>
            <a:fillRect/>
          </a:stretch>
        </p:blipFill>
        <p:spPr>
          <a:xfrm>
            <a:off x="8222572" y="-321"/>
            <a:ext cx="920776" cy="896449"/>
          </a:xfrm>
          <a:prstGeom prst="rect">
            <a:avLst/>
          </a:prstGeom>
        </p:spPr>
      </p:pic>
    </p:spTree>
    <p:extLst>
      <p:ext uri="{BB962C8B-B14F-4D97-AF65-F5344CB8AC3E}">
        <p14:creationId xmlns:p14="http://schemas.microsoft.com/office/powerpoint/2010/main" val="27920689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E01B0-214C-CE48-BE32-7898ED5B0F5F}"/>
              </a:ext>
            </a:extLst>
          </p:cNvPr>
          <p:cNvSpPr>
            <a:spLocks noGrp="1"/>
          </p:cNvSpPr>
          <p:nvPr>
            <p:ph type="title"/>
          </p:nvPr>
        </p:nvSpPr>
        <p:spPr>
          <a:xfrm>
            <a:off x="-2093" y="1832"/>
            <a:ext cx="8456094" cy="820918"/>
          </a:xfrm>
        </p:spPr>
        <p:txBody>
          <a:bodyPr>
            <a:normAutofit/>
          </a:bodyPr>
          <a:lstStyle/>
          <a:p>
            <a:r>
              <a:rPr lang="en-GB" sz="2000" b="1" i="1">
                <a:solidFill>
                  <a:srgbClr val="C00000"/>
                </a:solidFill>
                <a:latin typeface="Helvetica"/>
                <a:cs typeface="Helvetica"/>
              </a:rPr>
              <a:t>Forests: </a:t>
            </a:r>
            <a:br>
              <a:rPr lang="en-GB" sz="2000" b="1">
                <a:solidFill>
                  <a:srgbClr val="C00000"/>
                </a:solidFill>
                <a:latin typeface="Helvetica"/>
                <a:cs typeface="Helvetica"/>
              </a:rPr>
            </a:br>
            <a:r>
              <a:rPr lang="en-GB" sz="2000" b="1">
                <a:solidFill>
                  <a:srgbClr val="C00000"/>
                </a:solidFill>
                <a:latin typeface="Helvetica"/>
                <a:cs typeface="Helvetica"/>
              </a:rPr>
              <a:t>climate mitigators, reservoirs of biodiversity &amp; critical resources</a:t>
            </a:r>
          </a:p>
        </p:txBody>
      </p:sp>
      <p:pic>
        <p:nvPicPr>
          <p:cNvPr id="4" name="Picture 3">
            <a:extLst>
              <a:ext uri="{FF2B5EF4-FFF2-40B4-BE49-F238E27FC236}">
                <a16:creationId xmlns:a16="http://schemas.microsoft.com/office/drawing/2014/main" id="{7130EB6D-590F-C044-9A22-8D28373D7B60}"/>
              </a:ext>
            </a:extLst>
          </p:cNvPr>
          <p:cNvPicPr>
            <a:picLocks noChangeAspect="1"/>
          </p:cNvPicPr>
          <p:nvPr/>
        </p:nvPicPr>
        <p:blipFill>
          <a:blip r:embed="rId2"/>
          <a:stretch>
            <a:fillRect/>
          </a:stretch>
        </p:blipFill>
        <p:spPr>
          <a:xfrm>
            <a:off x="211255" y="1115440"/>
            <a:ext cx="4831077" cy="3236634"/>
          </a:xfrm>
          <a:prstGeom prst="rect">
            <a:avLst/>
          </a:prstGeom>
        </p:spPr>
      </p:pic>
      <p:pic>
        <p:nvPicPr>
          <p:cNvPr id="5" name="Picture 4">
            <a:extLst>
              <a:ext uri="{FF2B5EF4-FFF2-40B4-BE49-F238E27FC236}">
                <a16:creationId xmlns:a16="http://schemas.microsoft.com/office/drawing/2014/main" id="{5EFF3D6C-4D42-984E-B357-F9F1010A74B8}"/>
              </a:ext>
            </a:extLst>
          </p:cNvPr>
          <p:cNvPicPr>
            <a:picLocks noChangeAspect="1"/>
          </p:cNvPicPr>
          <p:nvPr/>
        </p:nvPicPr>
        <p:blipFill>
          <a:blip r:embed="rId3"/>
          <a:stretch>
            <a:fillRect/>
          </a:stretch>
        </p:blipFill>
        <p:spPr>
          <a:xfrm>
            <a:off x="210553" y="4354830"/>
            <a:ext cx="2142122" cy="2142122"/>
          </a:xfrm>
          <a:prstGeom prst="rect">
            <a:avLst/>
          </a:prstGeom>
        </p:spPr>
      </p:pic>
      <p:sp>
        <p:nvSpPr>
          <p:cNvPr id="6" name="TextBox 5">
            <a:extLst>
              <a:ext uri="{FF2B5EF4-FFF2-40B4-BE49-F238E27FC236}">
                <a16:creationId xmlns:a16="http://schemas.microsoft.com/office/drawing/2014/main" id="{F05456EF-9506-3D4F-8947-A9B82FAD5A87}"/>
              </a:ext>
            </a:extLst>
          </p:cNvPr>
          <p:cNvSpPr txBox="1"/>
          <p:nvPr/>
        </p:nvSpPr>
        <p:spPr>
          <a:xfrm>
            <a:off x="2760647" y="4961924"/>
            <a:ext cx="4856647" cy="923330"/>
          </a:xfrm>
          <a:prstGeom prst="rect">
            <a:avLst/>
          </a:prstGeom>
          <a:noFill/>
        </p:spPr>
        <p:txBody>
          <a:bodyPr wrap="square" rtlCol="0">
            <a:spAutoFit/>
          </a:bodyPr>
          <a:lstStyle/>
          <a:p>
            <a:r>
              <a:rPr lang="en-GB" sz="1800">
                <a:latin typeface="Helvetica"/>
                <a:cs typeface="Helvetica"/>
              </a:rPr>
              <a:t>Planting trees is making the news and UK government policy: but will this provide a ‘silver bullet’ to solve big issues?</a:t>
            </a:r>
          </a:p>
        </p:txBody>
      </p:sp>
      <p:pic>
        <p:nvPicPr>
          <p:cNvPr id="7" name="Picture 6">
            <a:extLst>
              <a:ext uri="{FF2B5EF4-FFF2-40B4-BE49-F238E27FC236}">
                <a16:creationId xmlns:a16="http://schemas.microsoft.com/office/drawing/2014/main" id="{BC19A397-C103-D34A-AD42-5B374E65CB9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656849" y="1113723"/>
            <a:ext cx="2130028" cy="3239201"/>
          </a:xfrm>
          <a:prstGeom prst="rect">
            <a:avLst/>
          </a:prstGeom>
        </p:spPr>
      </p:pic>
      <p:pic>
        <p:nvPicPr>
          <p:cNvPr id="9" name="Picture 8" descr="A green sign with white text and a tree and birds&#10;&#10;AI-generated content may be incorrect.">
            <a:extLst>
              <a:ext uri="{FF2B5EF4-FFF2-40B4-BE49-F238E27FC236}">
                <a16:creationId xmlns:a16="http://schemas.microsoft.com/office/drawing/2014/main" id="{047D9C09-8321-9AF3-0CF7-E7773828F280}"/>
              </a:ext>
            </a:extLst>
          </p:cNvPr>
          <p:cNvPicPr>
            <a:picLocks noChangeAspect="1"/>
          </p:cNvPicPr>
          <p:nvPr/>
        </p:nvPicPr>
        <p:blipFill>
          <a:blip r:embed="rId5"/>
          <a:stretch>
            <a:fillRect/>
          </a:stretch>
        </p:blipFill>
        <p:spPr>
          <a:xfrm>
            <a:off x="8222572" y="-321"/>
            <a:ext cx="920776" cy="896449"/>
          </a:xfrm>
          <a:prstGeom prst="rect">
            <a:avLst/>
          </a:prstGeom>
        </p:spPr>
      </p:pic>
    </p:spTree>
    <p:extLst>
      <p:ext uri="{BB962C8B-B14F-4D97-AF65-F5344CB8AC3E}">
        <p14:creationId xmlns:p14="http://schemas.microsoft.com/office/powerpoint/2010/main" val="26810652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E43EA-4756-E240-9295-1D3CF6FF2803}"/>
              </a:ext>
            </a:extLst>
          </p:cNvPr>
          <p:cNvSpPr>
            <a:spLocks noGrp="1"/>
          </p:cNvSpPr>
          <p:nvPr>
            <p:ph type="title"/>
          </p:nvPr>
        </p:nvSpPr>
        <p:spPr>
          <a:xfrm>
            <a:off x="-1805" y="-632"/>
            <a:ext cx="7886700" cy="892427"/>
          </a:xfrm>
        </p:spPr>
        <p:txBody>
          <a:bodyPr>
            <a:normAutofit/>
          </a:bodyPr>
          <a:lstStyle/>
          <a:p>
            <a:r>
              <a:rPr lang="en-GB" sz="2400" b="1" i="1" dirty="0">
                <a:solidFill>
                  <a:srgbClr val="C00000"/>
                </a:solidFill>
                <a:latin typeface="Helvetica"/>
                <a:cs typeface="Helvetica"/>
              </a:rPr>
              <a:t>Biodiversity: </a:t>
            </a:r>
            <a:br>
              <a:rPr lang="en-GB" sz="2400" b="1" dirty="0">
                <a:solidFill>
                  <a:srgbClr val="C00000"/>
                </a:solidFill>
                <a:latin typeface="Helvetica"/>
                <a:cs typeface="Helvetica"/>
              </a:rPr>
            </a:br>
            <a:r>
              <a:rPr lang="en-GB" sz="2400" b="1" dirty="0">
                <a:solidFill>
                  <a:srgbClr val="C00000"/>
                </a:solidFill>
                <a:latin typeface="Helvetica"/>
                <a:cs typeface="Helvetica"/>
              </a:rPr>
              <a:t>is there a link to ‘ecosystem functioning’?</a:t>
            </a:r>
          </a:p>
        </p:txBody>
      </p:sp>
      <p:sp>
        <p:nvSpPr>
          <p:cNvPr id="3" name="Content Placeholder 2">
            <a:extLst>
              <a:ext uri="{FF2B5EF4-FFF2-40B4-BE49-F238E27FC236}">
                <a16:creationId xmlns:a16="http://schemas.microsoft.com/office/drawing/2014/main" id="{41B141BB-F702-5646-BC14-C365DD31A708}"/>
              </a:ext>
            </a:extLst>
          </p:cNvPr>
          <p:cNvSpPr>
            <a:spLocks noGrp="1"/>
          </p:cNvSpPr>
          <p:nvPr>
            <p:ph idx="1"/>
          </p:nvPr>
        </p:nvSpPr>
        <p:spPr>
          <a:xfrm>
            <a:off x="432987" y="1173004"/>
            <a:ext cx="5915025" cy="3263504"/>
          </a:xfrm>
        </p:spPr>
        <p:txBody>
          <a:bodyPr>
            <a:normAutofit/>
          </a:bodyPr>
          <a:lstStyle/>
          <a:p>
            <a:r>
              <a:rPr lang="en-GB" sz="1800" dirty="0">
                <a:latin typeface="Helvetica"/>
              </a:rPr>
              <a:t>Does it matter if an ecosystem has more or less species in terms of how that ecosystem functions?</a:t>
            </a:r>
          </a:p>
        </p:txBody>
      </p:sp>
      <p:pic>
        <p:nvPicPr>
          <p:cNvPr id="5" name="Picture 4">
            <a:extLst>
              <a:ext uri="{FF2B5EF4-FFF2-40B4-BE49-F238E27FC236}">
                <a16:creationId xmlns:a16="http://schemas.microsoft.com/office/drawing/2014/main" id="{031BFCC4-9835-6C4E-867C-93B90744753E}"/>
              </a:ext>
            </a:extLst>
          </p:cNvPr>
          <p:cNvPicPr>
            <a:picLocks noChangeAspect="1"/>
          </p:cNvPicPr>
          <p:nvPr/>
        </p:nvPicPr>
        <p:blipFill>
          <a:blip r:embed="rId2"/>
          <a:stretch>
            <a:fillRect/>
          </a:stretch>
        </p:blipFill>
        <p:spPr>
          <a:xfrm>
            <a:off x="55347" y="2092142"/>
            <a:ext cx="6149492" cy="4616064"/>
          </a:xfrm>
          <a:prstGeom prst="rect">
            <a:avLst/>
          </a:prstGeom>
        </p:spPr>
      </p:pic>
      <p:pic>
        <p:nvPicPr>
          <p:cNvPr id="6" name="Picture 5">
            <a:extLst>
              <a:ext uri="{FF2B5EF4-FFF2-40B4-BE49-F238E27FC236}">
                <a16:creationId xmlns:a16="http://schemas.microsoft.com/office/drawing/2014/main" id="{448094E5-5E19-554A-90E3-567E631AF8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86275" y="2091918"/>
            <a:ext cx="2942665" cy="4435413"/>
          </a:xfrm>
          <a:prstGeom prst="rect">
            <a:avLst/>
          </a:prstGeom>
        </p:spPr>
      </p:pic>
      <p:pic>
        <p:nvPicPr>
          <p:cNvPr id="8" name="Picture 7" descr="A green sign with white text and a tree and birds&#10;&#10;AI-generated content may be incorrect.">
            <a:extLst>
              <a:ext uri="{FF2B5EF4-FFF2-40B4-BE49-F238E27FC236}">
                <a16:creationId xmlns:a16="http://schemas.microsoft.com/office/drawing/2014/main" id="{A37B2290-E222-B90E-7AED-F17613395C59}"/>
              </a:ext>
            </a:extLst>
          </p:cNvPr>
          <p:cNvPicPr>
            <a:picLocks noChangeAspect="1"/>
          </p:cNvPicPr>
          <p:nvPr/>
        </p:nvPicPr>
        <p:blipFill>
          <a:blip r:embed="rId4"/>
          <a:stretch>
            <a:fillRect/>
          </a:stretch>
        </p:blipFill>
        <p:spPr>
          <a:xfrm>
            <a:off x="8222572" y="-321"/>
            <a:ext cx="920776" cy="896449"/>
          </a:xfrm>
          <a:prstGeom prst="rect">
            <a:avLst/>
          </a:prstGeom>
        </p:spPr>
      </p:pic>
    </p:spTree>
    <p:extLst>
      <p:ext uri="{BB962C8B-B14F-4D97-AF65-F5344CB8AC3E}">
        <p14:creationId xmlns:p14="http://schemas.microsoft.com/office/powerpoint/2010/main" val="3874702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A7755A-7D3E-1048-AFEC-AB4EA33A695C}"/>
              </a:ext>
            </a:extLst>
          </p:cNvPr>
          <p:cNvPicPr>
            <a:picLocks noChangeAspect="1"/>
          </p:cNvPicPr>
          <p:nvPr/>
        </p:nvPicPr>
        <p:blipFill>
          <a:blip r:embed="rId2"/>
          <a:srcRect r="1317"/>
          <a:stretch/>
        </p:blipFill>
        <p:spPr>
          <a:xfrm>
            <a:off x="161875" y="-702"/>
            <a:ext cx="7611761" cy="3269581"/>
          </a:xfrm>
          <a:prstGeom prst="rect">
            <a:avLst/>
          </a:prstGeom>
        </p:spPr>
      </p:pic>
      <p:pic>
        <p:nvPicPr>
          <p:cNvPr id="5" name="Picture 4">
            <a:extLst>
              <a:ext uri="{FF2B5EF4-FFF2-40B4-BE49-F238E27FC236}">
                <a16:creationId xmlns:a16="http://schemas.microsoft.com/office/drawing/2014/main" id="{BD8C2A8C-9AB2-344C-9400-D0668ECA4003}"/>
              </a:ext>
            </a:extLst>
          </p:cNvPr>
          <p:cNvPicPr>
            <a:picLocks noChangeAspect="1"/>
          </p:cNvPicPr>
          <p:nvPr/>
        </p:nvPicPr>
        <p:blipFill>
          <a:blip r:embed="rId3"/>
          <a:stretch>
            <a:fillRect/>
          </a:stretch>
        </p:blipFill>
        <p:spPr>
          <a:xfrm>
            <a:off x="324187" y="3632291"/>
            <a:ext cx="8199985" cy="2899161"/>
          </a:xfrm>
          <a:prstGeom prst="rect">
            <a:avLst/>
          </a:prstGeom>
        </p:spPr>
      </p:pic>
      <p:pic>
        <p:nvPicPr>
          <p:cNvPr id="8" name="Picture 7" descr="A green sign with white text and a tree and birds&#10;&#10;AI-generated content may be incorrect.">
            <a:extLst>
              <a:ext uri="{FF2B5EF4-FFF2-40B4-BE49-F238E27FC236}">
                <a16:creationId xmlns:a16="http://schemas.microsoft.com/office/drawing/2014/main" id="{3F6AE730-6160-CB0B-35DB-6637CE50B2A7}"/>
              </a:ext>
            </a:extLst>
          </p:cNvPr>
          <p:cNvPicPr>
            <a:picLocks noChangeAspect="1"/>
          </p:cNvPicPr>
          <p:nvPr/>
        </p:nvPicPr>
        <p:blipFill>
          <a:blip r:embed="rId4"/>
          <a:stretch>
            <a:fillRect/>
          </a:stretch>
        </p:blipFill>
        <p:spPr>
          <a:xfrm>
            <a:off x="8222572" y="-321"/>
            <a:ext cx="920776" cy="896449"/>
          </a:xfrm>
          <a:prstGeom prst="rect">
            <a:avLst/>
          </a:prstGeom>
        </p:spPr>
      </p:pic>
    </p:spTree>
    <p:extLst>
      <p:ext uri="{BB962C8B-B14F-4D97-AF65-F5344CB8AC3E}">
        <p14:creationId xmlns:p14="http://schemas.microsoft.com/office/powerpoint/2010/main" val="32307118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571DC-2D6B-D145-9F79-FEE7FB3E3F5E}"/>
              </a:ext>
            </a:extLst>
          </p:cNvPr>
          <p:cNvSpPr>
            <a:spLocks noGrp="1"/>
          </p:cNvSpPr>
          <p:nvPr>
            <p:ph type="title"/>
          </p:nvPr>
        </p:nvSpPr>
        <p:spPr>
          <a:xfrm>
            <a:off x="-1412" y="1519"/>
            <a:ext cx="9133795" cy="703887"/>
          </a:xfrm>
        </p:spPr>
        <p:txBody>
          <a:bodyPr>
            <a:noAutofit/>
          </a:bodyPr>
          <a:lstStyle/>
          <a:p>
            <a:pPr algn="ctr"/>
            <a:r>
              <a:rPr lang="en-GB" sz="2000" b="1">
                <a:solidFill>
                  <a:srgbClr val="C00000"/>
                </a:solidFill>
                <a:latin typeface="Helvetica"/>
                <a:cs typeface="Helvetica"/>
              </a:rPr>
              <a:t>Many environmental challenges require knowledge of how soils function</a:t>
            </a:r>
          </a:p>
        </p:txBody>
      </p:sp>
      <p:pic>
        <p:nvPicPr>
          <p:cNvPr id="4" name="Picture 3">
            <a:extLst>
              <a:ext uri="{FF2B5EF4-FFF2-40B4-BE49-F238E27FC236}">
                <a16:creationId xmlns:a16="http://schemas.microsoft.com/office/drawing/2014/main" id="{380EF7B0-B9BB-8A4C-997F-48FAC0647AF7}"/>
              </a:ext>
            </a:extLst>
          </p:cNvPr>
          <p:cNvPicPr>
            <a:picLocks noChangeAspect="1"/>
          </p:cNvPicPr>
          <p:nvPr/>
        </p:nvPicPr>
        <p:blipFill>
          <a:blip r:embed="rId2"/>
          <a:stretch>
            <a:fillRect/>
          </a:stretch>
        </p:blipFill>
        <p:spPr>
          <a:xfrm>
            <a:off x="778848" y="993602"/>
            <a:ext cx="7592266" cy="5377715"/>
          </a:xfrm>
          <a:prstGeom prst="rect">
            <a:avLst/>
          </a:prstGeom>
        </p:spPr>
      </p:pic>
    </p:spTree>
    <p:extLst>
      <p:ext uri="{BB962C8B-B14F-4D97-AF65-F5344CB8AC3E}">
        <p14:creationId xmlns:p14="http://schemas.microsoft.com/office/powerpoint/2010/main" val="35042195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17"/>
          <p:cNvPicPr preferRelativeResize="0"/>
          <p:nvPr/>
        </p:nvPicPr>
        <p:blipFill rotWithShape="1">
          <a:blip r:embed="rId3">
            <a:alphaModFix/>
          </a:blip>
          <a:srcRect/>
          <a:stretch/>
        </p:blipFill>
        <p:spPr>
          <a:xfrm>
            <a:off x="8281430" y="3615"/>
            <a:ext cx="863025" cy="857948"/>
          </a:xfrm>
          <a:prstGeom prst="rect">
            <a:avLst/>
          </a:prstGeom>
          <a:noFill/>
          <a:ln>
            <a:noFill/>
          </a:ln>
        </p:spPr>
      </p:pic>
      <p:sp>
        <p:nvSpPr>
          <p:cNvPr id="215" name="Google Shape;215;p17"/>
          <p:cNvSpPr txBox="1"/>
          <p:nvPr/>
        </p:nvSpPr>
        <p:spPr>
          <a:xfrm>
            <a:off x="84429" y="94501"/>
            <a:ext cx="4146382" cy="438551"/>
          </a:xfrm>
          <a:prstGeom prst="rect">
            <a:avLst/>
          </a:prstGeom>
          <a:noFill/>
          <a:ln>
            <a:noFill/>
          </a:ln>
        </p:spPr>
        <p:txBody>
          <a:bodyPr spcFirstLastPara="1" wrap="square" lIns="68569" tIns="34275" rIns="68569" bIns="34275" anchor="t" anchorCtr="0">
            <a:spAutoFit/>
          </a:bodyPr>
          <a:lstStyle/>
          <a:p>
            <a:pPr marL="0" marR="0" lvl="0" indent="0" algn="l" rtl="0">
              <a:spcBef>
                <a:spcPts val="0"/>
              </a:spcBef>
              <a:spcAft>
                <a:spcPts val="0"/>
              </a:spcAft>
              <a:buNone/>
            </a:pPr>
            <a:r>
              <a:rPr lang="en-GB" sz="2400" b="1" dirty="0">
                <a:solidFill>
                  <a:srgbClr val="C00000"/>
                </a:solidFill>
                <a:latin typeface="Helvetica"/>
                <a:ea typeface="Calibri"/>
                <a:cs typeface="Helvetica"/>
                <a:sym typeface="Calibri"/>
              </a:rPr>
              <a:t>Impacts of mining</a:t>
            </a:r>
            <a:endParaRPr lang="en-US" sz="2400" b="1">
              <a:solidFill>
                <a:srgbClr val="C00000"/>
              </a:solidFill>
              <a:latin typeface="Helvetica"/>
              <a:cs typeface="Helvetica"/>
            </a:endParaRPr>
          </a:p>
        </p:txBody>
      </p:sp>
      <p:sp>
        <p:nvSpPr>
          <p:cNvPr id="216" name="Google Shape;216;p17"/>
          <p:cNvSpPr txBox="1"/>
          <p:nvPr/>
        </p:nvSpPr>
        <p:spPr>
          <a:xfrm>
            <a:off x="5455677" y="1044711"/>
            <a:ext cx="2723573" cy="284663"/>
          </a:xfrm>
          <a:prstGeom prst="rect">
            <a:avLst/>
          </a:prstGeom>
          <a:noFill/>
          <a:ln>
            <a:noFill/>
          </a:ln>
        </p:spPr>
        <p:txBody>
          <a:bodyPr spcFirstLastPara="1" wrap="square" lIns="68569" tIns="34275" rIns="68569" bIns="34275" anchor="t" anchorCtr="0">
            <a:spAutoFit/>
          </a:bodyPr>
          <a:lstStyle/>
          <a:p>
            <a:pPr marL="0" marR="0" lvl="0" indent="0" algn="r" rtl="0">
              <a:spcBef>
                <a:spcPts val="0"/>
              </a:spcBef>
              <a:spcAft>
                <a:spcPts val="0"/>
              </a:spcAft>
              <a:buNone/>
            </a:pPr>
            <a:r>
              <a:rPr lang="en-GB" dirty="0">
                <a:solidFill>
                  <a:schemeClr val="dk1"/>
                </a:solidFill>
                <a:latin typeface="Helvetica"/>
                <a:ea typeface="Calibri"/>
                <a:cs typeface="Helvetica"/>
                <a:sym typeface="Calibri"/>
              </a:rPr>
              <a:t>Athabascan tar sands, Canada</a:t>
            </a:r>
            <a:endParaRPr lang="en-GB" dirty="0">
              <a:solidFill>
                <a:schemeClr val="dk1"/>
              </a:solidFill>
              <a:latin typeface="Helvetica"/>
              <a:cs typeface="Helvetica"/>
            </a:endParaRPr>
          </a:p>
        </p:txBody>
      </p:sp>
      <p:sp>
        <p:nvSpPr>
          <p:cNvPr id="217" name="Google Shape;217;p17"/>
          <p:cNvSpPr txBox="1">
            <a:spLocks noGrp="1"/>
          </p:cNvSpPr>
          <p:nvPr>
            <p:ph type="body" idx="1"/>
          </p:nvPr>
        </p:nvSpPr>
        <p:spPr>
          <a:xfrm>
            <a:off x="268525" y="1042532"/>
            <a:ext cx="3741992" cy="365925"/>
          </a:xfrm>
          <a:prstGeom prst="rect">
            <a:avLst/>
          </a:prstGeom>
          <a:noFill/>
          <a:ln>
            <a:noFill/>
          </a:ln>
        </p:spPr>
        <p:txBody>
          <a:bodyPr spcFirstLastPara="1" wrap="square" lIns="68569" tIns="34275" rIns="68569" bIns="34275" anchor="t" anchorCtr="0">
            <a:normAutofit/>
          </a:bodyPr>
          <a:lstStyle/>
          <a:p>
            <a:pPr marL="0" lvl="0" indent="0" algn="l" rtl="0">
              <a:lnSpc>
                <a:spcPct val="90000"/>
              </a:lnSpc>
              <a:spcBef>
                <a:spcPts val="0"/>
              </a:spcBef>
              <a:spcAft>
                <a:spcPts val="0"/>
              </a:spcAft>
              <a:buClr>
                <a:schemeClr val="dk1"/>
              </a:buClr>
              <a:buSzPts val="2000"/>
              <a:buNone/>
            </a:pPr>
            <a:r>
              <a:rPr lang="en-GB" sz="1400">
                <a:latin typeface="Helvetica"/>
                <a:cs typeface="Helvetica"/>
              </a:rPr>
              <a:t>Acid Mine Drainage (AMD)</a:t>
            </a:r>
            <a:endParaRPr lang="en-GB">
              <a:latin typeface="Helvetica"/>
              <a:cs typeface="Helvetica"/>
            </a:endParaRPr>
          </a:p>
        </p:txBody>
      </p:sp>
      <p:pic>
        <p:nvPicPr>
          <p:cNvPr id="218" name="Google Shape;218;p17"/>
          <p:cNvPicPr preferRelativeResize="0"/>
          <p:nvPr/>
        </p:nvPicPr>
        <p:blipFill rotWithShape="1">
          <a:blip r:embed="rId4">
            <a:alphaModFix/>
          </a:blip>
          <a:srcRect/>
          <a:stretch/>
        </p:blipFill>
        <p:spPr>
          <a:xfrm>
            <a:off x="296364" y="4105547"/>
            <a:ext cx="3717765" cy="2187690"/>
          </a:xfrm>
          <a:prstGeom prst="rect">
            <a:avLst/>
          </a:prstGeom>
          <a:noFill/>
          <a:ln>
            <a:noFill/>
          </a:ln>
        </p:spPr>
      </p:pic>
      <p:pic>
        <p:nvPicPr>
          <p:cNvPr id="219" name="Google Shape;219;p17" descr="http://upload.wikimedia.org/wikipedia/commons/9/91/Riotintoagua.jpg"/>
          <p:cNvPicPr preferRelativeResize="0"/>
          <p:nvPr/>
        </p:nvPicPr>
        <p:blipFill rotWithShape="1">
          <a:blip r:embed="rId5">
            <a:alphaModFix/>
          </a:blip>
          <a:srcRect/>
          <a:stretch/>
        </p:blipFill>
        <p:spPr>
          <a:xfrm>
            <a:off x="295849" y="1348964"/>
            <a:ext cx="3721607" cy="2539325"/>
          </a:xfrm>
          <a:prstGeom prst="rect">
            <a:avLst/>
          </a:prstGeom>
          <a:noFill/>
          <a:ln>
            <a:noFill/>
          </a:ln>
        </p:spPr>
      </p:pic>
      <p:sp>
        <p:nvSpPr>
          <p:cNvPr id="220" name="Google Shape;220;p17"/>
          <p:cNvSpPr txBox="1"/>
          <p:nvPr/>
        </p:nvSpPr>
        <p:spPr>
          <a:xfrm>
            <a:off x="4332893" y="432989"/>
            <a:ext cx="2709843" cy="692467"/>
          </a:xfrm>
          <a:prstGeom prst="rect">
            <a:avLst/>
          </a:prstGeom>
          <a:noFill/>
          <a:ln>
            <a:noFill/>
          </a:ln>
        </p:spPr>
        <p:txBody>
          <a:bodyPr spcFirstLastPara="1" wrap="square" lIns="68569" tIns="34275" rIns="68569" bIns="34275" anchor="t" anchorCtr="0">
            <a:spAutoFit/>
          </a:bodyPr>
          <a:lstStyle/>
          <a:p>
            <a:pPr marL="0" marR="0" lvl="0" indent="0" algn="l" rtl="0">
              <a:spcBef>
                <a:spcPts val="0"/>
              </a:spcBef>
              <a:spcAft>
                <a:spcPts val="0"/>
              </a:spcAft>
              <a:buNone/>
            </a:pPr>
            <a:r>
              <a:rPr lang="en-GB" sz="1350" i="1">
                <a:solidFill>
                  <a:schemeClr val="dk1"/>
                </a:solidFill>
                <a:latin typeface="Helvetica"/>
                <a:ea typeface="Calibri"/>
                <a:cs typeface="Helvetica"/>
                <a:sym typeface="Calibri"/>
              </a:rPr>
              <a:t>Much can be resolved through legislation and land reclamation</a:t>
            </a:r>
            <a:endParaRPr lang="en-GB" sz="1050">
              <a:latin typeface="Helvetica"/>
              <a:cs typeface="Helvetica"/>
            </a:endParaRPr>
          </a:p>
          <a:p>
            <a:pPr marL="0" marR="0" lvl="0" indent="0" algn="l" rtl="0">
              <a:spcBef>
                <a:spcPts val="0"/>
              </a:spcBef>
              <a:spcAft>
                <a:spcPts val="0"/>
              </a:spcAft>
              <a:buNone/>
            </a:pPr>
            <a:endParaRPr lang="en-GB" sz="1350" i="1">
              <a:solidFill>
                <a:schemeClr val="dk1"/>
              </a:solidFill>
              <a:latin typeface="Helvetica"/>
              <a:ea typeface="Calibri"/>
              <a:cs typeface="Helvetica"/>
              <a:sym typeface="Calibri"/>
            </a:endParaRPr>
          </a:p>
        </p:txBody>
      </p:sp>
      <p:pic>
        <p:nvPicPr>
          <p:cNvPr id="221" name="Google Shape;221;p17" descr="From Carbon Sink Hole to Wasteland"/>
          <p:cNvPicPr preferRelativeResize="0"/>
          <p:nvPr/>
        </p:nvPicPr>
        <p:blipFill rotWithShape="1">
          <a:blip r:embed="rId6">
            <a:alphaModFix/>
          </a:blip>
          <a:srcRect l="-340" t="2360" r="126"/>
          <a:stretch/>
        </p:blipFill>
        <p:spPr>
          <a:xfrm>
            <a:off x="4337376" y="1346857"/>
            <a:ext cx="3837594" cy="2542352"/>
          </a:xfrm>
          <a:prstGeom prst="rect">
            <a:avLst/>
          </a:prstGeom>
          <a:noFill/>
          <a:ln>
            <a:noFill/>
          </a:ln>
        </p:spPr>
      </p:pic>
      <p:sp>
        <p:nvSpPr>
          <p:cNvPr id="222" name="Google Shape;222;p17"/>
          <p:cNvSpPr txBox="1"/>
          <p:nvPr/>
        </p:nvSpPr>
        <p:spPr>
          <a:xfrm>
            <a:off x="2213930" y="4210622"/>
            <a:ext cx="1675712" cy="376996"/>
          </a:xfrm>
          <a:prstGeom prst="rect">
            <a:avLst/>
          </a:prstGeom>
          <a:noFill/>
          <a:ln>
            <a:noFill/>
          </a:ln>
        </p:spPr>
        <p:txBody>
          <a:bodyPr spcFirstLastPara="1" wrap="square" lIns="68569" tIns="34275" rIns="68569" bIns="34275" anchor="t" anchorCtr="0">
            <a:spAutoFit/>
          </a:bodyPr>
          <a:lstStyle/>
          <a:p>
            <a:pPr marL="0" marR="0" lvl="0" indent="0" algn="l" rtl="0">
              <a:spcBef>
                <a:spcPts val="0"/>
              </a:spcBef>
              <a:spcAft>
                <a:spcPts val="0"/>
              </a:spcAft>
              <a:buNone/>
            </a:pPr>
            <a:r>
              <a:rPr lang="en-GB" sz="1000" i="1">
                <a:solidFill>
                  <a:schemeClr val="dk1"/>
                </a:solidFill>
                <a:latin typeface="Helvetica"/>
                <a:ea typeface="Calibri"/>
                <a:cs typeface="Helvetica"/>
                <a:sym typeface="Calibri"/>
              </a:rPr>
              <a:t>Solid-phase Iron(III) oxides (ochre) in a water channel</a:t>
            </a:r>
            <a:endParaRPr lang="en-GB" sz="1200">
              <a:latin typeface="Helvetica"/>
              <a:cs typeface="Helvetica"/>
            </a:endParaRPr>
          </a:p>
        </p:txBody>
      </p:sp>
      <p:pic>
        <p:nvPicPr>
          <p:cNvPr id="3" name="Picture 3">
            <a:extLst>
              <a:ext uri="{FF2B5EF4-FFF2-40B4-BE49-F238E27FC236}">
                <a16:creationId xmlns:a16="http://schemas.microsoft.com/office/drawing/2014/main" id="{CD8A8868-56A2-44BD-A795-DA56CE434F0E}"/>
              </a:ext>
            </a:extLst>
          </p:cNvPr>
          <p:cNvPicPr>
            <a:picLocks noChangeAspect="1"/>
          </p:cNvPicPr>
          <p:nvPr/>
        </p:nvPicPr>
        <p:blipFill>
          <a:blip r:embed="rId7"/>
          <a:stretch>
            <a:fillRect/>
          </a:stretch>
        </p:blipFill>
        <p:spPr>
          <a:xfrm>
            <a:off x="4332584" y="3985336"/>
            <a:ext cx="3841976" cy="2292490"/>
          </a:xfrm>
          <a:prstGeom prst="rect">
            <a:avLst/>
          </a:prstGeom>
        </p:spPr>
      </p:pic>
    </p:spTree>
    <p:extLst>
      <p:ext uri="{BB962C8B-B14F-4D97-AF65-F5344CB8AC3E}">
        <p14:creationId xmlns:p14="http://schemas.microsoft.com/office/powerpoint/2010/main" val="3106483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9D91-5779-884B-882D-A9D1FC6C7C70}"/>
              </a:ext>
            </a:extLst>
          </p:cNvPr>
          <p:cNvSpPr>
            <a:spLocks noGrp="1"/>
          </p:cNvSpPr>
          <p:nvPr>
            <p:ph type="title"/>
          </p:nvPr>
        </p:nvSpPr>
        <p:spPr>
          <a:xfrm>
            <a:off x="2256" y="91568"/>
            <a:ext cx="8869980" cy="421480"/>
          </a:xfrm>
        </p:spPr>
        <p:txBody>
          <a:bodyPr>
            <a:noAutofit/>
          </a:bodyPr>
          <a:lstStyle/>
          <a:p>
            <a:r>
              <a:rPr lang="en-GB" sz="2400" b="1" dirty="0">
                <a:solidFill>
                  <a:srgbClr val="C00000"/>
                </a:solidFill>
                <a:latin typeface="Helvetica"/>
                <a:cs typeface="Helvetica"/>
              </a:rPr>
              <a:t>We need to be mindful of how the SDGs interact…</a:t>
            </a:r>
          </a:p>
        </p:txBody>
      </p:sp>
      <p:pic>
        <p:nvPicPr>
          <p:cNvPr id="4" name="Picture 3">
            <a:extLst>
              <a:ext uri="{FF2B5EF4-FFF2-40B4-BE49-F238E27FC236}">
                <a16:creationId xmlns:a16="http://schemas.microsoft.com/office/drawing/2014/main" id="{5F88D13F-D435-2144-890D-62DB7536435B}"/>
              </a:ext>
            </a:extLst>
          </p:cNvPr>
          <p:cNvPicPr>
            <a:picLocks noChangeAspect="1"/>
          </p:cNvPicPr>
          <p:nvPr/>
        </p:nvPicPr>
        <p:blipFill>
          <a:blip r:embed="rId2"/>
          <a:stretch>
            <a:fillRect/>
          </a:stretch>
        </p:blipFill>
        <p:spPr>
          <a:xfrm>
            <a:off x="793869" y="718170"/>
            <a:ext cx="7293257" cy="5891077"/>
          </a:xfrm>
          <a:prstGeom prst="rect">
            <a:avLst/>
          </a:prstGeom>
        </p:spPr>
      </p:pic>
      <p:sp>
        <p:nvSpPr>
          <p:cNvPr id="5" name="TextBox 4">
            <a:extLst>
              <a:ext uri="{FF2B5EF4-FFF2-40B4-BE49-F238E27FC236}">
                <a16:creationId xmlns:a16="http://schemas.microsoft.com/office/drawing/2014/main" id="{DF86685C-7BCC-7F49-B399-2D34328DA405}"/>
              </a:ext>
            </a:extLst>
          </p:cNvPr>
          <p:cNvSpPr txBox="1"/>
          <p:nvPr/>
        </p:nvSpPr>
        <p:spPr>
          <a:xfrm>
            <a:off x="198821" y="718987"/>
            <a:ext cx="1974281" cy="830997"/>
          </a:xfrm>
          <a:prstGeom prst="rect">
            <a:avLst/>
          </a:prstGeom>
          <a:solidFill>
            <a:schemeClr val="bg1"/>
          </a:solidFill>
        </p:spPr>
        <p:txBody>
          <a:bodyPr wrap="square" rtlCol="0">
            <a:spAutoFit/>
          </a:bodyPr>
          <a:lstStyle/>
          <a:p>
            <a:r>
              <a:rPr lang="en-GB" sz="1200"/>
              <a:t>This paper analysed SDG interactions in published “Integrated Assessment Models”</a:t>
            </a:r>
          </a:p>
        </p:txBody>
      </p:sp>
      <p:sp>
        <p:nvSpPr>
          <p:cNvPr id="6" name="TextBox 5">
            <a:extLst>
              <a:ext uri="{FF2B5EF4-FFF2-40B4-BE49-F238E27FC236}">
                <a16:creationId xmlns:a16="http://schemas.microsoft.com/office/drawing/2014/main" id="{00700A77-6FAD-AE47-B6A8-C5F614848F42}"/>
              </a:ext>
            </a:extLst>
          </p:cNvPr>
          <p:cNvSpPr txBox="1"/>
          <p:nvPr/>
        </p:nvSpPr>
        <p:spPr>
          <a:xfrm>
            <a:off x="6752223" y="716883"/>
            <a:ext cx="1821480" cy="830997"/>
          </a:xfrm>
          <a:prstGeom prst="rect">
            <a:avLst/>
          </a:prstGeom>
          <a:solidFill>
            <a:schemeClr val="bg1"/>
          </a:solidFill>
        </p:spPr>
        <p:txBody>
          <a:bodyPr wrap="square" rtlCol="0">
            <a:spAutoFit/>
          </a:bodyPr>
          <a:lstStyle/>
          <a:p>
            <a:r>
              <a:rPr lang="en-GB" sz="1200"/>
              <a:t>Interactions between ‘social’ and ‘natural’ science SDGs feature poorly in models</a:t>
            </a:r>
          </a:p>
        </p:txBody>
      </p:sp>
    </p:spTree>
    <p:extLst>
      <p:ext uri="{BB962C8B-B14F-4D97-AF65-F5344CB8AC3E}">
        <p14:creationId xmlns:p14="http://schemas.microsoft.com/office/powerpoint/2010/main" val="13285191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B294414C-7CAD-FF70-A6AC-EEC32D4A5E18}"/>
              </a:ext>
            </a:extLst>
          </p:cNvPr>
          <p:cNvGrpSpPr/>
          <p:nvPr/>
        </p:nvGrpSpPr>
        <p:grpSpPr>
          <a:xfrm>
            <a:off x="1540931" y="68338"/>
            <a:ext cx="6098210" cy="5991169"/>
            <a:chOff x="1851376" y="-30062"/>
            <a:chExt cx="6032358" cy="5873199"/>
          </a:xfrm>
        </p:grpSpPr>
        <p:grpSp>
          <p:nvGrpSpPr>
            <p:cNvPr id="25" name="Group 24">
              <a:extLst>
                <a:ext uri="{FF2B5EF4-FFF2-40B4-BE49-F238E27FC236}">
                  <a16:creationId xmlns:a16="http://schemas.microsoft.com/office/drawing/2014/main" id="{C171C0F5-4ACA-6F10-7622-5522497F59EB}"/>
                </a:ext>
              </a:extLst>
            </p:cNvPr>
            <p:cNvGrpSpPr/>
            <p:nvPr/>
          </p:nvGrpSpPr>
          <p:grpSpPr>
            <a:xfrm>
              <a:off x="2122622" y="98085"/>
              <a:ext cx="5487301" cy="5488757"/>
              <a:chOff x="4944707" y="-793316"/>
              <a:chExt cx="4192735" cy="4073585"/>
            </a:xfrm>
          </p:grpSpPr>
          <p:pic>
            <p:nvPicPr>
              <p:cNvPr id="23" name="Picture 22" descr="A colorful circle with different colored rectangles&#10;&#10;AI-generated content may be incorrect.">
                <a:extLst>
                  <a:ext uri="{FF2B5EF4-FFF2-40B4-BE49-F238E27FC236}">
                    <a16:creationId xmlns:a16="http://schemas.microsoft.com/office/drawing/2014/main" id="{63614F7E-6718-A329-7615-ED262D8B2739}"/>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4944707" y="-793316"/>
                <a:ext cx="4192735" cy="4073585"/>
              </a:xfrm>
              <a:prstGeom prst="rect">
                <a:avLst/>
              </a:prstGeom>
            </p:spPr>
          </p:pic>
          <p:sp>
            <p:nvSpPr>
              <p:cNvPr id="24" name="Oval 23">
                <a:extLst>
                  <a:ext uri="{FF2B5EF4-FFF2-40B4-BE49-F238E27FC236}">
                    <a16:creationId xmlns:a16="http://schemas.microsoft.com/office/drawing/2014/main" id="{2E18C6AC-2F5B-A927-B36E-B48D29132F39}"/>
                  </a:ext>
                </a:extLst>
              </p:cNvPr>
              <p:cNvSpPr/>
              <p:nvPr/>
            </p:nvSpPr>
            <p:spPr>
              <a:xfrm>
                <a:off x="5083217" y="-664252"/>
                <a:ext cx="3911960" cy="3800458"/>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6" name="Picture 25" descr="A group of people with a black background&#10;&#10;AI-generated content may be incorrect.">
              <a:extLst>
                <a:ext uri="{FF2B5EF4-FFF2-40B4-BE49-F238E27FC236}">
                  <a16:creationId xmlns:a16="http://schemas.microsoft.com/office/drawing/2014/main" id="{50A6329D-3DAA-BAEC-0007-0EC3593E7C4F}"/>
                </a:ext>
              </a:extLst>
            </p:cNvPr>
            <p:cNvPicPr>
              <a:picLocks noChangeAspect="1"/>
            </p:cNvPicPr>
            <p:nvPr/>
          </p:nvPicPr>
          <p:blipFill>
            <a:blip r:embed="rId4"/>
            <a:srcRect t="31200" r="-46" b="800"/>
            <a:stretch/>
          </p:blipFill>
          <p:spPr>
            <a:xfrm>
              <a:off x="5496748" y="-11290"/>
              <a:ext cx="591996" cy="399176"/>
            </a:xfrm>
            <a:prstGeom prst="rect">
              <a:avLst/>
            </a:prstGeom>
          </p:spPr>
        </p:pic>
        <p:pic>
          <p:nvPicPr>
            <p:cNvPr id="27" name="Picture 26" descr="A yellow bowl with steam and text&#10;&#10;AI-generated content may be incorrect.">
              <a:extLst>
                <a:ext uri="{FF2B5EF4-FFF2-40B4-BE49-F238E27FC236}">
                  <a16:creationId xmlns:a16="http://schemas.microsoft.com/office/drawing/2014/main" id="{3D1CEFFF-DA5D-3B8B-D285-899C587C9636}"/>
                </a:ext>
              </a:extLst>
            </p:cNvPr>
            <p:cNvPicPr>
              <a:picLocks noChangeAspect="1"/>
            </p:cNvPicPr>
            <p:nvPr/>
          </p:nvPicPr>
          <p:blipFill>
            <a:blip r:embed="rId5"/>
            <a:srcRect l="19748" t="40160" r="23272" b="11327"/>
            <a:stretch/>
          </p:blipFill>
          <p:spPr>
            <a:xfrm>
              <a:off x="6324601" y="393229"/>
              <a:ext cx="326687" cy="293448"/>
            </a:xfrm>
            <a:prstGeom prst="rect">
              <a:avLst/>
            </a:prstGeom>
          </p:spPr>
        </p:pic>
        <p:pic>
          <p:nvPicPr>
            <p:cNvPr id="28" name="Picture 27" descr="A green line with a heart and a heart on a black background&#10;&#10;AI-generated content may be incorrect.">
              <a:extLst>
                <a:ext uri="{FF2B5EF4-FFF2-40B4-BE49-F238E27FC236}">
                  <a16:creationId xmlns:a16="http://schemas.microsoft.com/office/drawing/2014/main" id="{6713F416-D78D-94A5-0F84-4516CB407F1D}"/>
                </a:ext>
              </a:extLst>
            </p:cNvPr>
            <p:cNvPicPr>
              <a:picLocks noChangeAspect="1"/>
            </p:cNvPicPr>
            <p:nvPr/>
          </p:nvPicPr>
          <p:blipFill>
            <a:blip r:embed="rId6"/>
            <a:srcRect l="15096" t="35469" r="14645" b="13272"/>
            <a:stretch/>
          </p:blipFill>
          <p:spPr>
            <a:xfrm>
              <a:off x="7119243" y="1155230"/>
              <a:ext cx="478007" cy="331191"/>
            </a:xfrm>
            <a:prstGeom prst="rect">
              <a:avLst/>
            </a:prstGeom>
          </p:spPr>
        </p:pic>
        <p:pic>
          <p:nvPicPr>
            <p:cNvPr id="29" name="Picture 28" descr="A red book and pencil on a black background&#10;&#10;AI-generated content may be incorrect.">
              <a:extLst>
                <a:ext uri="{FF2B5EF4-FFF2-40B4-BE49-F238E27FC236}">
                  <a16:creationId xmlns:a16="http://schemas.microsoft.com/office/drawing/2014/main" id="{0A3C89B2-7E88-8482-8278-DB29E2CDE792}"/>
                </a:ext>
              </a:extLst>
            </p:cNvPr>
            <p:cNvPicPr>
              <a:picLocks noChangeAspect="1"/>
            </p:cNvPicPr>
            <p:nvPr/>
          </p:nvPicPr>
          <p:blipFill>
            <a:blip r:embed="rId7"/>
            <a:srcRect l="21257" t="39854" r="19247" b="13448"/>
            <a:stretch/>
          </p:blipFill>
          <p:spPr>
            <a:xfrm>
              <a:off x="7486414" y="2061745"/>
              <a:ext cx="397320" cy="294037"/>
            </a:xfrm>
            <a:prstGeom prst="rect">
              <a:avLst/>
            </a:prstGeom>
          </p:spPr>
        </p:pic>
        <p:pic>
          <p:nvPicPr>
            <p:cNvPr id="30" name="Picture 29" descr="A red symbol with a male gender symbol&#10;&#10;AI-generated content may be incorrect.">
              <a:extLst>
                <a:ext uri="{FF2B5EF4-FFF2-40B4-BE49-F238E27FC236}">
                  <a16:creationId xmlns:a16="http://schemas.microsoft.com/office/drawing/2014/main" id="{47447DAC-3E49-356D-2C8B-FA2EEE723CBA}"/>
                </a:ext>
              </a:extLst>
            </p:cNvPr>
            <p:cNvPicPr>
              <a:picLocks noChangeAspect="1"/>
            </p:cNvPicPr>
            <p:nvPr/>
          </p:nvPicPr>
          <p:blipFill>
            <a:blip r:embed="rId8"/>
            <a:srcRect l="32494" t="36433" r="25400" b="7868"/>
            <a:stretch/>
          </p:blipFill>
          <p:spPr>
            <a:xfrm>
              <a:off x="7491119" y="3096852"/>
              <a:ext cx="246184" cy="330468"/>
            </a:xfrm>
            <a:prstGeom prst="rect">
              <a:avLst/>
            </a:prstGeom>
          </p:spPr>
        </p:pic>
        <p:pic>
          <p:nvPicPr>
            <p:cNvPr id="31" name="Picture 30" descr="A blue and black sign with a drop of water in a glass&#10;&#10;AI-generated content may be incorrect.">
              <a:extLst>
                <a:ext uri="{FF2B5EF4-FFF2-40B4-BE49-F238E27FC236}">
                  <a16:creationId xmlns:a16="http://schemas.microsoft.com/office/drawing/2014/main" id="{2216D75A-6629-8D7D-E49A-BB11140FDCEB}"/>
                </a:ext>
              </a:extLst>
            </p:cNvPr>
            <p:cNvPicPr>
              <a:picLocks noChangeAspect="1"/>
            </p:cNvPicPr>
            <p:nvPr/>
          </p:nvPicPr>
          <p:blipFill>
            <a:blip r:embed="rId9"/>
            <a:srcRect l="29126" t="39732" r="29291" b="7543"/>
            <a:stretch/>
          </p:blipFill>
          <p:spPr>
            <a:xfrm>
              <a:off x="7136258" y="4206314"/>
              <a:ext cx="281170" cy="344498"/>
            </a:xfrm>
            <a:prstGeom prst="rect">
              <a:avLst/>
            </a:prstGeom>
          </p:spPr>
        </p:pic>
        <p:pic>
          <p:nvPicPr>
            <p:cNvPr id="32" name="Picture 31" descr="A yellow sun with a power button&#10;&#10;AI-generated content may be incorrect.">
              <a:extLst>
                <a:ext uri="{FF2B5EF4-FFF2-40B4-BE49-F238E27FC236}">
                  <a16:creationId xmlns:a16="http://schemas.microsoft.com/office/drawing/2014/main" id="{D6BD7FEC-29B7-A8C6-0934-57D588E1E41B}"/>
                </a:ext>
              </a:extLst>
            </p:cNvPr>
            <p:cNvPicPr>
              <a:picLocks noChangeAspect="1"/>
            </p:cNvPicPr>
            <p:nvPr/>
          </p:nvPicPr>
          <p:blipFill>
            <a:blip r:embed="rId10"/>
            <a:srcRect l="23341" t="36343" r="22654" b="9971"/>
            <a:stretch/>
          </p:blipFill>
          <p:spPr>
            <a:xfrm>
              <a:off x="6508045" y="4819415"/>
              <a:ext cx="378335" cy="374620"/>
            </a:xfrm>
            <a:prstGeom prst="rect">
              <a:avLst/>
            </a:prstGeom>
          </p:spPr>
        </p:pic>
        <p:pic>
          <p:nvPicPr>
            <p:cNvPr id="33" name="Picture 32">
              <a:extLst>
                <a:ext uri="{FF2B5EF4-FFF2-40B4-BE49-F238E27FC236}">
                  <a16:creationId xmlns:a16="http://schemas.microsoft.com/office/drawing/2014/main" id="{148AA818-62B8-3461-3481-4D26D1DA9161}"/>
                </a:ext>
              </a:extLst>
            </p:cNvPr>
            <p:cNvPicPr>
              <a:picLocks noChangeAspect="1"/>
            </p:cNvPicPr>
            <p:nvPr/>
          </p:nvPicPr>
          <p:blipFill>
            <a:blip r:embed="rId11"/>
            <a:srcRect l="24457" t="36343" r="24571" b="11086"/>
            <a:stretch/>
          </p:blipFill>
          <p:spPr>
            <a:xfrm>
              <a:off x="5637859" y="5266265"/>
              <a:ext cx="309970" cy="324067"/>
            </a:xfrm>
            <a:prstGeom prst="rect">
              <a:avLst/>
            </a:prstGeom>
          </p:spPr>
        </p:pic>
        <p:pic>
          <p:nvPicPr>
            <p:cNvPr id="34" name="Picture 33" descr="A black and orange logo&#10;&#10;AI-generated content may be incorrect.">
              <a:extLst>
                <a:ext uri="{FF2B5EF4-FFF2-40B4-BE49-F238E27FC236}">
                  <a16:creationId xmlns:a16="http://schemas.microsoft.com/office/drawing/2014/main" id="{E1DF87FE-CC82-2E30-09AE-CC0E2584F2DB}"/>
                </a:ext>
              </a:extLst>
            </p:cNvPr>
            <p:cNvPicPr>
              <a:picLocks noChangeAspect="1"/>
            </p:cNvPicPr>
            <p:nvPr/>
          </p:nvPicPr>
          <p:blipFill>
            <a:blip r:embed="rId12"/>
            <a:srcRect l="24228" t="35657" r="22544" b="11115"/>
            <a:stretch/>
          </p:blipFill>
          <p:spPr>
            <a:xfrm>
              <a:off x="4706493" y="5506156"/>
              <a:ext cx="346384" cy="336981"/>
            </a:xfrm>
            <a:prstGeom prst="rect">
              <a:avLst/>
            </a:prstGeom>
          </p:spPr>
        </p:pic>
        <p:pic>
          <p:nvPicPr>
            <p:cNvPr id="35" name="Picture 34" descr="A black background with pink and white text&#10;&#10;AI-generated content may be incorrect.">
              <a:extLst>
                <a:ext uri="{FF2B5EF4-FFF2-40B4-BE49-F238E27FC236}">
                  <a16:creationId xmlns:a16="http://schemas.microsoft.com/office/drawing/2014/main" id="{B5177F27-C982-CCCB-0A31-D9F85B5ADD42}"/>
                </a:ext>
              </a:extLst>
            </p:cNvPr>
            <p:cNvPicPr>
              <a:picLocks noChangeAspect="1"/>
            </p:cNvPicPr>
            <p:nvPr/>
          </p:nvPicPr>
          <p:blipFill>
            <a:blip r:embed="rId13"/>
            <a:srcRect l="22349" t="34864" r="23179" b="10628"/>
            <a:stretch/>
          </p:blipFill>
          <p:spPr>
            <a:xfrm>
              <a:off x="3775191" y="5302532"/>
              <a:ext cx="392866" cy="408466"/>
            </a:xfrm>
            <a:prstGeom prst="rect">
              <a:avLst/>
            </a:prstGeom>
          </p:spPr>
        </p:pic>
        <p:pic>
          <p:nvPicPr>
            <p:cNvPr id="36" name="Picture 35" descr="A yellow and black sign with buildings and text&#10;&#10;AI-generated content may be incorrect.">
              <a:extLst>
                <a:ext uri="{FF2B5EF4-FFF2-40B4-BE49-F238E27FC236}">
                  <a16:creationId xmlns:a16="http://schemas.microsoft.com/office/drawing/2014/main" id="{6F8438B1-9911-0C7C-55DF-F5F8731E187B}"/>
                </a:ext>
              </a:extLst>
            </p:cNvPr>
            <p:cNvPicPr>
              <a:picLocks noChangeAspect="1"/>
            </p:cNvPicPr>
            <p:nvPr/>
          </p:nvPicPr>
          <p:blipFill>
            <a:blip r:embed="rId14"/>
            <a:srcRect l="15332" t="38600" r="13652" b="8245"/>
            <a:stretch/>
          </p:blipFill>
          <p:spPr>
            <a:xfrm>
              <a:off x="2825045" y="4808830"/>
              <a:ext cx="490366" cy="338676"/>
            </a:xfrm>
            <a:prstGeom prst="rect">
              <a:avLst/>
            </a:prstGeom>
          </p:spPr>
        </p:pic>
        <p:pic>
          <p:nvPicPr>
            <p:cNvPr id="37" name="Picture 36">
              <a:extLst>
                <a:ext uri="{FF2B5EF4-FFF2-40B4-BE49-F238E27FC236}">
                  <a16:creationId xmlns:a16="http://schemas.microsoft.com/office/drawing/2014/main" id="{ED384B54-516B-9DDA-28AE-EE7FA6F741C2}"/>
                </a:ext>
              </a:extLst>
            </p:cNvPr>
            <p:cNvPicPr>
              <a:picLocks noChangeAspect="1"/>
            </p:cNvPicPr>
            <p:nvPr/>
          </p:nvPicPr>
          <p:blipFill>
            <a:blip r:embed="rId15"/>
            <a:srcRect l="17162" t="48620" r="17391" b="18343"/>
            <a:stretch/>
          </p:blipFill>
          <p:spPr>
            <a:xfrm>
              <a:off x="2213562" y="4139372"/>
              <a:ext cx="388171" cy="235236"/>
            </a:xfrm>
            <a:prstGeom prst="rect">
              <a:avLst/>
            </a:prstGeom>
          </p:spPr>
        </p:pic>
        <p:pic>
          <p:nvPicPr>
            <p:cNvPr id="38" name="Picture 37" descr="A green and black logo with a planet in the middle&#10;&#10;AI-generated content may be incorrect.">
              <a:extLst>
                <a:ext uri="{FF2B5EF4-FFF2-40B4-BE49-F238E27FC236}">
                  <a16:creationId xmlns:a16="http://schemas.microsoft.com/office/drawing/2014/main" id="{EE63F145-A159-3A77-AFE1-E3D76FB7C733}"/>
                </a:ext>
              </a:extLst>
            </p:cNvPr>
            <p:cNvPicPr>
              <a:picLocks noChangeAspect="1"/>
            </p:cNvPicPr>
            <p:nvPr/>
          </p:nvPicPr>
          <p:blipFill>
            <a:blip r:embed="rId16"/>
            <a:srcRect l="13043" t="41659" r="11213" b="17198"/>
            <a:stretch/>
          </p:blipFill>
          <p:spPr>
            <a:xfrm>
              <a:off x="1851376" y="3194372"/>
              <a:ext cx="397968" cy="234791"/>
            </a:xfrm>
            <a:prstGeom prst="rect">
              <a:avLst/>
            </a:prstGeom>
          </p:spPr>
        </p:pic>
        <p:pic>
          <p:nvPicPr>
            <p:cNvPr id="39" name="Picture 38" descr="A blue fish and waves on a black background&#10;&#10;AI-generated content may be incorrect.">
              <a:extLst>
                <a:ext uri="{FF2B5EF4-FFF2-40B4-BE49-F238E27FC236}">
                  <a16:creationId xmlns:a16="http://schemas.microsoft.com/office/drawing/2014/main" id="{18A28EF1-B486-169D-A378-E1DE376391F0}"/>
                </a:ext>
              </a:extLst>
            </p:cNvPr>
            <p:cNvPicPr>
              <a:picLocks noChangeAspect="1"/>
            </p:cNvPicPr>
            <p:nvPr/>
          </p:nvPicPr>
          <p:blipFill>
            <a:blip r:embed="rId17"/>
            <a:srcRect l="21281" t="38520" r="22654" b="12613"/>
            <a:stretch/>
          </p:blipFill>
          <p:spPr>
            <a:xfrm>
              <a:off x="1851378" y="2063296"/>
              <a:ext cx="397227" cy="326843"/>
            </a:xfrm>
            <a:prstGeom prst="rect">
              <a:avLst/>
            </a:prstGeom>
          </p:spPr>
        </p:pic>
        <p:pic>
          <p:nvPicPr>
            <p:cNvPr id="40" name="Picture 39" descr="A green tree and birds on a black background&#10;&#10;AI-generated content may be incorrect.">
              <a:extLst>
                <a:ext uri="{FF2B5EF4-FFF2-40B4-BE49-F238E27FC236}">
                  <a16:creationId xmlns:a16="http://schemas.microsoft.com/office/drawing/2014/main" id="{83124EF4-769C-DAD4-0089-93D44C05033C}"/>
                </a:ext>
              </a:extLst>
            </p:cNvPr>
            <p:cNvPicPr>
              <a:picLocks noChangeAspect="1"/>
            </p:cNvPicPr>
            <p:nvPr/>
          </p:nvPicPr>
          <p:blipFill>
            <a:blip r:embed="rId18"/>
            <a:srcRect l="24085" t="38400" r="24142" b="10857"/>
            <a:stretch/>
          </p:blipFill>
          <p:spPr>
            <a:xfrm>
              <a:off x="2182989" y="1047044"/>
              <a:ext cx="432344" cy="418156"/>
            </a:xfrm>
            <a:prstGeom prst="rect">
              <a:avLst/>
            </a:prstGeom>
          </p:spPr>
        </p:pic>
        <p:pic>
          <p:nvPicPr>
            <p:cNvPr id="41" name="Picture 40" descr="A bird with a branch on a black background&#10;&#10;AI-generated content may be incorrect.">
              <a:extLst>
                <a:ext uri="{FF2B5EF4-FFF2-40B4-BE49-F238E27FC236}">
                  <a16:creationId xmlns:a16="http://schemas.microsoft.com/office/drawing/2014/main" id="{36B73FE9-0390-47DA-D601-107908162B53}"/>
                </a:ext>
              </a:extLst>
            </p:cNvPr>
            <p:cNvPicPr>
              <a:picLocks noChangeAspect="1"/>
            </p:cNvPicPr>
            <p:nvPr/>
          </p:nvPicPr>
          <p:blipFill>
            <a:blip r:embed="rId19"/>
            <a:srcRect l="23576" t="42971" r="24142" b="14552"/>
            <a:stretch/>
          </p:blipFill>
          <p:spPr>
            <a:xfrm>
              <a:off x="2877054" y="270933"/>
              <a:ext cx="467372" cy="416692"/>
            </a:xfrm>
            <a:prstGeom prst="rect">
              <a:avLst/>
            </a:prstGeom>
          </p:spPr>
        </p:pic>
        <p:pic>
          <p:nvPicPr>
            <p:cNvPr id="42" name="Picture 41" descr="A logo with blue circles&#10;&#10;AI-generated content may be incorrect.">
              <a:extLst>
                <a:ext uri="{FF2B5EF4-FFF2-40B4-BE49-F238E27FC236}">
                  <a16:creationId xmlns:a16="http://schemas.microsoft.com/office/drawing/2014/main" id="{8D0252F4-5026-1821-E5A4-AC113B000D77}"/>
                </a:ext>
              </a:extLst>
            </p:cNvPr>
            <p:cNvPicPr>
              <a:picLocks noChangeAspect="1"/>
            </p:cNvPicPr>
            <p:nvPr/>
          </p:nvPicPr>
          <p:blipFill>
            <a:blip r:embed="rId20"/>
            <a:srcRect l="24943" t="36093" r="24250" b="10578"/>
            <a:stretch/>
          </p:blipFill>
          <p:spPr>
            <a:xfrm>
              <a:off x="3892378" y="-30062"/>
              <a:ext cx="312600" cy="317613"/>
            </a:xfrm>
            <a:prstGeom prst="rect">
              <a:avLst/>
            </a:prstGeom>
          </p:spPr>
        </p:pic>
      </p:grpSp>
      <p:sp>
        <p:nvSpPr>
          <p:cNvPr id="9" name="Title 1">
            <a:extLst>
              <a:ext uri="{FF2B5EF4-FFF2-40B4-BE49-F238E27FC236}">
                <a16:creationId xmlns:a16="http://schemas.microsoft.com/office/drawing/2014/main" id="{8606283F-DC21-7C1C-BA79-9D4E0778BA17}"/>
              </a:ext>
            </a:extLst>
          </p:cNvPr>
          <p:cNvSpPr>
            <a:spLocks noGrp="1"/>
          </p:cNvSpPr>
          <p:nvPr>
            <p:ph type="title"/>
          </p:nvPr>
        </p:nvSpPr>
        <p:spPr>
          <a:xfrm>
            <a:off x="16367" y="67962"/>
            <a:ext cx="8869980" cy="421480"/>
          </a:xfrm>
        </p:spPr>
        <p:txBody>
          <a:bodyPr>
            <a:noAutofit/>
          </a:bodyPr>
          <a:lstStyle/>
          <a:p>
            <a:r>
              <a:rPr lang="en-GB" sz="2400" b="1" i="1" dirty="0">
                <a:solidFill>
                  <a:srgbClr val="C00000"/>
                </a:solidFill>
                <a:latin typeface="Helvetica"/>
                <a:cs typeface="Helvetica"/>
              </a:rPr>
              <a:t>Key example</a:t>
            </a:r>
            <a:r>
              <a:rPr lang="en-GB" sz="2400" b="1" dirty="0">
                <a:solidFill>
                  <a:srgbClr val="C00000"/>
                </a:solidFill>
                <a:latin typeface="Helvetica"/>
                <a:cs typeface="Helvetica"/>
              </a:rPr>
              <a:t>: </a:t>
            </a:r>
          </a:p>
        </p:txBody>
      </p:sp>
      <p:pic>
        <p:nvPicPr>
          <p:cNvPr id="11" name="Picture 10" descr="A screenshot of a calendar&#10;&#10;AI-generated content may be incorrect.">
            <a:extLst>
              <a:ext uri="{FF2B5EF4-FFF2-40B4-BE49-F238E27FC236}">
                <a16:creationId xmlns:a16="http://schemas.microsoft.com/office/drawing/2014/main" id="{9F5B0E35-92FD-8A5E-0016-26AB50021FB6}"/>
              </a:ext>
            </a:extLst>
          </p:cNvPr>
          <p:cNvPicPr>
            <a:picLocks noChangeAspect="1"/>
          </p:cNvPicPr>
          <p:nvPr/>
        </p:nvPicPr>
        <p:blipFill>
          <a:blip r:embed="rId21"/>
          <a:srcRect l="16297" t="64707" r="17810" b="548"/>
          <a:stretch/>
        </p:blipFill>
        <p:spPr>
          <a:xfrm>
            <a:off x="1594177" y="6102198"/>
            <a:ext cx="7296597" cy="700374"/>
          </a:xfrm>
          <a:prstGeom prst="rect">
            <a:avLst/>
          </a:prstGeom>
        </p:spPr>
      </p:pic>
      <p:pic>
        <p:nvPicPr>
          <p:cNvPr id="15" name="Picture 14" descr="A white letter in a circle with a laurel wreath on a blue background&#10;&#10;AI-generated content may be incorrect.">
            <a:extLst>
              <a:ext uri="{FF2B5EF4-FFF2-40B4-BE49-F238E27FC236}">
                <a16:creationId xmlns:a16="http://schemas.microsoft.com/office/drawing/2014/main" id="{39321892-443F-F97B-DE63-1CE90F504F4B}"/>
              </a:ext>
            </a:extLst>
          </p:cNvPr>
          <p:cNvPicPr>
            <a:picLocks noChangeAspect="1"/>
          </p:cNvPicPr>
          <p:nvPr/>
        </p:nvPicPr>
        <p:blipFill>
          <a:blip r:embed="rId22"/>
          <a:srcRect l="18055" t="16181" r="17014" b="11111"/>
          <a:stretch/>
        </p:blipFill>
        <p:spPr>
          <a:xfrm>
            <a:off x="718324" y="6051543"/>
            <a:ext cx="875081" cy="706476"/>
          </a:xfrm>
          <a:prstGeom prst="rect">
            <a:avLst/>
          </a:prstGeom>
        </p:spPr>
      </p:pic>
      <p:pic>
        <p:nvPicPr>
          <p:cNvPr id="2" name="Picture 1" descr="A diagram of different types of planetarium&#10;&#10;AI-generated content may be incorrect.">
            <a:extLst>
              <a:ext uri="{FF2B5EF4-FFF2-40B4-BE49-F238E27FC236}">
                <a16:creationId xmlns:a16="http://schemas.microsoft.com/office/drawing/2014/main" id="{1F3B1FA8-A733-4D91-917D-6C3F43EC0242}"/>
              </a:ext>
            </a:extLst>
          </p:cNvPr>
          <p:cNvPicPr>
            <a:picLocks noChangeAspect="1"/>
          </p:cNvPicPr>
          <p:nvPr/>
        </p:nvPicPr>
        <p:blipFill>
          <a:blip r:embed="rId23">
            <a:extLst>
              <a:ext uri="{BEBA8EAE-BF5A-486C-A8C5-ECC9F3942E4B}">
                <a14:imgProps xmlns:a14="http://schemas.microsoft.com/office/drawing/2010/main">
                  <a14:imgLayer r:embed="rId24">
                    <a14:imgEffect>
                      <a14:backgroundRemoval t="10000" b="90000" l="10000" r="90000"/>
                    </a14:imgEffect>
                  </a14:imgLayer>
                </a14:imgProps>
              </a:ext>
            </a:extLst>
          </a:blip>
          <a:srcRect l="-2224" t="-54" r="-2737" b="-663"/>
          <a:stretch/>
        </p:blipFill>
        <p:spPr>
          <a:xfrm>
            <a:off x="2108088" y="451110"/>
            <a:ext cx="4956129" cy="4630533"/>
          </a:xfrm>
          <a:prstGeom prst="rect">
            <a:avLst/>
          </a:prstGeom>
        </p:spPr>
      </p:pic>
    </p:spTree>
    <p:extLst>
      <p:ext uri="{BB962C8B-B14F-4D97-AF65-F5344CB8AC3E}">
        <p14:creationId xmlns:p14="http://schemas.microsoft.com/office/powerpoint/2010/main" val="3029677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title"/>
          </p:nvPr>
        </p:nvSpPr>
        <p:spPr>
          <a:xfrm>
            <a:off x="99098" y="-199175"/>
            <a:ext cx="5915025" cy="994172"/>
          </a:xfrm>
          <a:prstGeom prst="rect">
            <a:avLst/>
          </a:prstGeom>
          <a:noFill/>
          <a:ln>
            <a:noFill/>
          </a:ln>
        </p:spPr>
        <p:txBody>
          <a:bodyPr spcFirstLastPara="1" wrap="square" lIns="68569" tIns="34275" rIns="68569" bIns="34275"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GB" sz="2800" b="1" dirty="0">
                <a:solidFill>
                  <a:srgbClr val="C00000"/>
                </a:solidFill>
                <a:latin typeface="Helvetica"/>
              </a:rPr>
              <a:t>Key take home messages:</a:t>
            </a:r>
            <a:endParaRPr lang="en-US" sz="2800">
              <a:solidFill>
                <a:srgbClr val="C00000"/>
              </a:solidFill>
              <a:latin typeface="Helvetica"/>
            </a:endParaRPr>
          </a:p>
        </p:txBody>
      </p:sp>
      <p:sp>
        <p:nvSpPr>
          <p:cNvPr id="228" name="Google Shape;228;p18"/>
          <p:cNvSpPr txBox="1">
            <a:spLocks noGrp="1"/>
          </p:cNvSpPr>
          <p:nvPr>
            <p:ph type="body" idx="1"/>
          </p:nvPr>
        </p:nvSpPr>
        <p:spPr>
          <a:xfrm>
            <a:off x="486556" y="1283656"/>
            <a:ext cx="8373228" cy="5179266"/>
          </a:xfrm>
          <a:prstGeom prst="rect">
            <a:avLst/>
          </a:prstGeom>
          <a:noFill/>
          <a:ln>
            <a:noFill/>
          </a:ln>
        </p:spPr>
        <p:txBody>
          <a:bodyPr spcFirstLastPara="1" wrap="square" lIns="68569" tIns="34275" rIns="68569" bIns="34275" anchor="t" anchorCtr="0">
            <a:normAutofit/>
          </a:bodyPr>
          <a:lstStyle/>
          <a:p>
            <a:pPr marL="171450" lvl="0" indent="-171450" algn="l" rtl="0">
              <a:lnSpc>
                <a:spcPct val="90000"/>
              </a:lnSpc>
              <a:spcBef>
                <a:spcPts val="0"/>
              </a:spcBef>
              <a:spcAft>
                <a:spcPts val="0"/>
              </a:spcAft>
              <a:buClr>
                <a:schemeClr val="dk1"/>
              </a:buClr>
              <a:buSzPts val="2590"/>
              <a:buChar char="•"/>
            </a:pPr>
            <a:r>
              <a:rPr lang="en-GB" sz="1900" dirty="0">
                <a:latin typeface="Helvetica"/>
              </a:rPr>
              <a:t>The world is facing an increasing number of challenges, especially in less-developed countries, and this has led to the creation of the Sustainable Development Goals;</a:t>
            </a:r>
          </a:p>
          <a:p>
            <a:pPr marL="171450" indent="-171450">
              <a:spcBef>
                <a:spcPts val="0"/>
              </a:spcBef>
              <a:buSzPts val="2590"/>
            </a:pPr>
            <a:endParaRPr lang="en-GB" sz="1900" dirty="0">
              <a:latin typeface="Helvetica"/>
            </a:endParaRPr>
          </a:p>
          <a:p>
            <a:pPr marL="171450" lvl="0" indent="-171450" algn="l" rtl="0">
              <a:lnSpc>
                <a:spcPct val="90000"/>
              </a:lnSpc>
              <a:spcBef>
                <a:spcPts val="750"/>
              </a:spcBef>
              <a:spcAft>
                <a:spcPts val="0"/>
              </a:spcAft>
              <a:buClr>
                <a:schemeClr val="dk1"/>
              </a:buClr>
              <a:buSzPts val="2590"/>
              <a:buChar char="•"/>
            </a:pPr>
            <a:r>
              <a:rPr lang="en-GB" sz="1900" dirty="0">
                <a:latin typeface="Helvetica"/>
              </a:rPr>
              <a:t>Many of these challenges are relevant </a:t>
            </a:r>
            <a:r>
              <a:rPr lang="en-GB" sz="1900" u="sng" dirty="0">
                <a:latin typeface="Helvetica"/>
              </a:rPr>
              <a:t>to all of society</a:t>
            </a:r>
            <a:r>
              <a:rPr lang="en-GB" sz="1900" dirty="0">
                <a:latin typeface="Helvetica"/>
              </a:rPr>
              <a:t>;</a:t>
            </a:r>
          </a:p>
          <a:p>
            <a:pPr marL="171450" indent="-171450">
              <a:buSzPts val="2590"/>
            </a:pPr>
            <a:endParaRPr lang="en-GB" sz="1900" dirty="0">
              <a:latin typeface="Helvetica"/>
            </a:endParaRPr>
          </a:p>
          <a:p>
            <a:pPr marL="171450" lvl="0" indent="-171450" algn="l" rtl="0">
              <a:lnSpc>
                <a:spcPct val="90000"/>
              </a:lnSpc>
              <a:spcBef>
                <a:spcPts val="750"/>
              </a:spcBef>
              <a:spcAft>
                <a:spcPts val="0"/>
              </a:spcAft>
              <a:buClr>
                <a:schemeClr val="dk1"/>
              </a:buClr>
              <a:buSzPts val="2590"/>
              <a:buChar char="•"/>
            </a:pPr>
            <a:r>
              <a:rPr lang="en-GB" sz="1900" b="1" dirty="0">
                <a:latin typeface="Helvetica"/>
              </a:rPr>
              <a:t>Environmental science underpins these challenges;</a:t>
            </a:r>
          </a:p>
          <a:p>
            <a:pPr marL="171450" indent="-171450">
              <a:buSzPts val="2590"/>
            </a:pPr>
            <a:endParaRPr lang="en-GB" sz="1900" dirty="0">
              <a:latin typeface="Helvetica"/>
            </a:endParaRPr>
          </a:p>
          <a:p>
            <a:pPr marL="171450" lvl="0" indent="-171450" algn="l" rtl="0">
              <a:lnSpc>
                <a:spcPct val="90000"/>
              </a:lnSpc>
              <a:spcBef>
                <a:spcPts val="750"/>
              </a:spcBef>
              <a:spcAft>
                <a:spcPts val="0"/>
              </a:spcAft>
              <a:buClr>
                <a:schemeClr val="dk1"/>
              </a:buClr>
              <a:buSzPts val="2590"/>
              <a:buChar char="•"/>
            </a:pPr>
            <a:r>
              <a:rPr lang="en-GB" sz="1900" dirty="0">
                <a:latin typeface="Helvetica"/>
              </a:rPr>
              <a:t>These issues are regulated by </a:t>
            </a:r>
            <a:r>
              <a:rPr lang="en-GB" sz="1900" b="1" u="sng" dirty="0">
                <a:latin typeface="Helvetica"/>
              </a:rPr>
              <a:t>multiple interactive factors</a:t>
            </a:r>
            <a:r>
              <a:rPr lang="en-GB" sz="1900" dirty="0">
                <a:latin typeface="Helvetica"/>
              </a:rPr>
              <a:t> that cut across </a:t>
            </a:r>
            <a:r>
              <a:rPr lang="en-GB" sz="1900" u="sng" dirty="0">
                <a:latin typeface="Helvetica"/>
              </a:rPr>
              <a:t>traditional discipline boundaries;</a:t>
            </a:r>
          </a:p>
          <a:p>
            <a:pPr marL="171450" indent="-171450">
              <a:buSzPts val="2590"/>
            </a:pPr>
            <a:endParaRPr lang="en-GB" sz="1900" u="sng" dirty="0">
              <a:latin typeface="Helvetica"/>
            </a:endParaRPr>
          </a:p>
          <a:p>
            <a:pPr marL="171450" lvl="0" indent="-171450" algn="l" rtl="0">
              <a:lnSpc>
                <a:spcPct val="90000"/>
              </a:lnSpc>
              <a:spcBef>
                <a:spcPts val="750"/>
              </a:spcBef>
              <a:spcAft>
                <a:spcPts val="0"/>
              </a:spcAft>
              <a:buClr>
                <a:schemeClr val="dk1"/>
              </a:buClr>
              <a:buSzPts val="2590"/>
              <a:buChar char="•"/>
            </a:pPr>
            <a:r>
              <a:rPr lang="en-GB" sz="1900" dirty="0">
                <a:latin typeface="Helvetica"/>
              </a:rPr>
              <a:t>Environmental solutions need to reflect these attributes;</a:t>
            </a:r>
          </a:p>
          <a:p>
            <a:pPr marL="171450" indent="-171450">
              <a:buSzPts val="2590"/>
            </a:pPr>
            <a:endParaRPr lang="en-GB" sz="1900" dirty="0">
              <a:latin typeface="Helvetica"/>
            </a:endParaRPr>
          </a:p>
          <a:p>
            <a:pPr marL="171450" indent="-171450">
              <a:buSzPts val="2590"/>
            </a:pPr>
            <a:r>
              <a:rPr lang="en-GB" sz="1900" b="1" dirty="0">
                <a:latin typeface="Helvetica"/>
              </a:rPr>
              <a:t>You are the next generation of problem solvers  </a:t>
            </a:r>
            <a:endParaRPr lang="en-GB"/>
          </a:p>
        </p:txBody>
      </p:sp>
    </p:spTree>
    <p:extLst>
      <p:ext uri="{BB962C8B-B14F-4D97-AF65-F5344CB8AC3E}">
        <p14:creationId xmlns:p14="http://schemas.microsoft.com/office/powerpoint/2010/main" val="34653867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15963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6FBE43C-A38C-31CA-4F84-AA179D399EAB}"/>
              </a:ext>
            </a:extLst>
          </p:cNvPr>
          <p:cNvGraphicFramePr>
            <a:graphicFrameLocks noGrp="1"/>
          </p:cNvGraphicFramePr>
          <p:nvPr>
            <p:extLst>
              <p:ext uri="{D42A27DB-BD31-4B8C-83A1-F6EECF244321}">
                <p14:modId xmlns:p14="http://schemas.microsoft.com/office/powerpoint/2010/main" val="1643589386"/>
              </p:ext>
            </p:extLst>
          </p:nvPr>
        </p:nvGraphicFramePr>
        <p:xfrm>
          <a:off x="620487" y="696685"/>
          <a:ext cx="8153399" cy="5301344"/>
        </p:xfrm>
        <a:graphic>
          <a:graphicData uri="http://schemas.openxmlformats.org/drawingml/2006/table">
            <a:tbl>
              <a:tblPr/>
              <a:tblGrid>
                <a:gridCol w="732890">
                  <a:extLst>
                    <a:ext uri="{9D8B030D-6E8A-4147-A177-3AD203B41FA5}">
                      <a16:colId xmlns:a16="http://schemas.microsoft.com/office/drawing/2014/main" val="2445906529"/>
                    </a:ext>
                  </a:extLst>
                </a:gridCol>
                <a:gridCol w="899658">
                  <a:extLst>
                    <a:ext uri="{9D8B030D-6E8A-4147-A177-3AD203B41FA5}">
                      <a16:colId xmlns:a16="http://schemas.microsoft.com/office/drawing/2014/main" val="3352955668"/>
                    </a:ext>
                  </a:extLst>
                </a:gridCol>
                <a:gridCol w="5787961">
                  <a:extLst>
                    <a:ext uri="{9D8B030D-6E8A-4147-A177-3AD203B41FA5}">
                      <a16:colId xmlns:a16="http://schemas.microsoft.com/office/drawing/2014/main" val="3742974831"/>
                    </a:ext>
                  </a:extLst>
                </a:gridCol>
                <a:gridCol w="732890">
                  <a:extLst>
                    <a:ext uri="{9D8B030D-6E8A-4147-A177-3AD203B41FA5}">
                      <a16:colId xmlns:a16="http://schemas.microsoft.com/office/drawing/2014/main" val="2544660341"/>
                    </a:ext>
                  </a:extLst>
                </a:gridCol>
              </a:tblGrid>
              <a:tr h="415954">
                <a:tc>
                  <a:txBody>
                    <a:bodyPr/>
                    <a:lstStyle/>
                    <a:p>
                      <a:pPr algn="ctr" fontAlgn="b"/>
                      <a:endParaRPr lang="en-GB" sz="1200" b="0" i="0" u="none" strike="noStrike" dirty="0">
                        <a:solidFill>
                          <a:srgbClr val="000000"/>
                        </a:solidFill>
                        <a:effectLst/>
                        <a:latin typeface="Calibri"/>
                      </a:endParaRP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200" b="0" i="0" u="none" strike="noStrike">
                          <a:solidFill>
                            <a:srgbClr val="000000"/>
                          </a:solidFill>
                          <a:effectLst/>
                          <a:latin typeface="Calibri"/>
                        </a:rPr>
                        <a:t>w/c</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GB" sz="1200" b="0" i="0" u="none" strike="noStrike">
                        <a:solidFill>
                          <a:srgbClr val="000000"/>
                        </a:solidFill>
                        <a:effectLst/>
                        <a:latin typeface="Calibri"/>
                      </a:endParaRP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GB" sz="1200" b="0" i="0" u="none" strike="noStrike">
                        <a:solidFill>
                          <a:srgbClr val="000000"/>
                        </a:solidFill>
                        <a:effectLst/>
                        <a:latin typeface="Calibri"/>
                      </a:endParaRP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5638804"/>
                  </a:ext>
                </a:extLst>
              </a:tr>
              <a:tr h="415954">
                <a:tc>
                  <a:txBody>
                    <a:bodyPr/>
                    <a:lstStyle/>
                    <a:p>
                      <a:pPr algn="ctr" fontAlgn="b"/>
                      <a:r>
                        <a:rPr lang="en-GB" sz="1200" b="0" i="0" u="none" strike="noStrike" dirty="0">
                          <a:solidFill>
                            <a:srgbClr val="000000"/>
                          </a:solidFill>
                          <a:effectLst/>
                          <a:latin typeface="Calibri"/>
                        </a:rPr>
                        <a:t>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a:solidFill>
                            <a:srgbClr val="000000"/>
                          </a:solidFill>
                          <a:effectLst/>
                          <a:latin typeface="Calibri"/>
                        </a:rPr>
                        <a:t>27-Jan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a:solidFill>
                            <a:srgbClr val="000000"/>
                          </a:solidFill>
                          <a:effectLst/>
                          <a:latin typeface="Calibri"/>
                        </a:rPr>
                        <a:t>Introduction to a Sustainable Planet</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a:solidFill>
                            <a:srgbClr val="000000"/>
                          </a:solidFill>
                          <a:effectLst/>
                          <a:latin typeface="Calibri"/>
                        </a:rPr>
                        <a:t>VC/SN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555150319"/>
                  </a:ext>
                </a:extLst>
              </a:tr>
              <a:tr h="415954">
                <a:tc>
                  <a:txBody>
                    <a:bodyPr/>
                    <a:lstStyle/>
                    <a:p>
                      <a:pPr algn="ctr" fontAlgn="b"/>
                      <a:r>
                        <a:rPr lang="en-GB" sz="1200" b="0" i="0" u="none" strike="noStrike">
                          <a:solidFill>
                            <a:srgbClr val="000000"/>
                          </a:solidFill>
                          <a:effectLst/>
                          <a:latin typeface="Calibri"/>
                        </a:rPr>
                        <a:t>2</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3-Feb</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Soils, fertilizer minerals and water resources</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VC </a:t>
                      </a:r>
                      <a:endParaRPr lang="en-GB" sz="1200" b="0" i="0" u="none" strike="noStrike">
                        <a:solidFill>
                          <a:srgbClr val="000000"/>
                        </a:solidFill>
                        <a:effectLst/>
                        <a:latin typeface="Calibri" panose="020F0502020204030204" pitchFamily="34" charset="0"/>
                      </a:endParaRP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228906580"/>
                  </a:ext>
                </a:extLst>
              </a:tr>
              <a:tr h="415954">
                <a:tc>
                  <a:txBody>
                    <a:bodyPr/>
                    <a:lstStyle/>
                    <a:p>
                      <a:pPr algn="ctr" fontAlgn="b"/>
                      <a:r>
                        <a:rPr lang="en-GB" sz="1200" b="0" i="0" u="none" strike="noStrike" dirty="0">
                          <a:solidFill>
                            <a:srgbClr val="000000"/>
                          </a:solidFill>
                          <a:effectLst/>
                          <a:latin typeface="Calibri"/>
                        </a:rPr>
                        <a:t>3</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10-Feb</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The food crisis and soil processes</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SN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1652304633"/>
                  </a:ext>
                </a:extLst>
              </a:tr>
              <a:tr h="415954">
                <a:tc>
                  <a:txBody>
                    <a:bodyPr/>
                    <a:lstStyle/>
                    <a:p>
                      <a:pPr algn="ctr" fontAlgn="b"/>
                      <a:r>
                        <a:rPr lang="en-GB" sz="1200" b="0" i="0" u="none" strike="noStrike" dirty="0">
                          <a:solidFill>
                            <a:srgbClr val="000000"/>
                          </a:solidFill>
                          <a:effectLst/>
                          <a:latin typeface="Calibri"/>
                        </a:rPr>
                        <a:t>4</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17-Feb</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dirty="0">
                          <a:solidFill>
                            <a:srgbClr val="000000"/>
                          </a:solidFill>
                          <a:effectLst/>
                          <a:latin typeface="Calibri"/>
                        </a:rPr>
                        <a:t>Iron and other key mineral resources for battery technology</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VC</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778602730"/>
                  </a:ext>
                </a:extLst>
              </a:tr>
              <a:tr h="415954">
                <a:tc>
                  <a:txBody>
                    <a:bodyPr/>
                    <a:lstStyle/>
                    <a:p>
                      <a:pPr algn="ctr" fontAlgn="b"/>
                      <a:r>
                        <a:rPr lang="en-GB" sz="1200" b="0" i="0" u="none" strike="noStrike">
                          <a:solidFill>
                            <a:srgbClr val="000000"/>
                          </a:solidFill>
                          <a:effectLst/>
                          <a:latin typeface="Calibri"/>
                        </a:rPr>
                        <a:t>5</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24-Feb</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Biodiversity &amp; Ecosystem Function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SN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288880318"/>
                  </a:ext>
                </a:extLst>
              </a:tr>
              <a:tr h="415954">
                <a:tc>
                  <a:txBody>
                    <a:bodyPr/>
                    <a:lstStyle/>
                    <a:p>
                      <a:pPr algn="ctr" fontAlgn="b"/>
                      <a:r>
                        <a:rPr lang="en-GB" sz="1200" b="0" i="0" u="none" strike="noStrike" dirty="0">
                          <a:solidFill>
                            <a:srgbClr val="000000"/>
                          </a:solidFill>
                          <a:effectLst/>
                          <a:latin typeface="Calibri"/>
                        </a:rPr>
                        <a:t>6</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3-Mar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marL="0" marR="0" lvl="0" indent="0" algn="l" defTabSz="914400" rtl="0" eaLnBrk="1" fontAlgn="b" latinLnBrk="0" hangingPunct="1">
                        <a:lnSpc>
                          <a:spcPct val="100000"/>
                        </a:lnSpc>
                        <a:spcBef>
                          <a:spcPts val="0"/>
                        </a:spcBef>
                        <a:spcAft>
                          <a:spcPts val="0"/>
                        </a:spcAft>
                        <a:buClr>
                          <a:srgbClr val="000000"/>
                        </a:buClr>
                        <a:buSzTx/>
                        <a:buFont typeface="Arial"/>
                        <a:buNone/>
                        <a:tabLst/>
                        <a:defRPr/>
                      </a:pPr>
                      <a:r>
                        <a:rPr lang="fr-FR" sz="1200" b="0" i="0" u="none" strike="noStrike">
                          <a:solidFill>
                            <a:srgbClr val="000000"/>
                          </a:solidFill>
                          <a:effectLst/>
                          <a:latin typeface="Calibri"/>
                        </a:rPr>
                        <a:t>Non-metals, industrial resources. Fossil Fuels</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VC</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1034224670"/>
                  </a:ext>
                </a:extLst>
              </a:tr>
              <a:tr h="415954">
                <a:tc>
                  <a:txBody>
                    <a:bodyPr/>
                    <a:lstStyle/>
                    <a:p>
                      <a:pPr algn="ctr" fontAlgn="b"/>
                      <a:r>
                        <a:rPr lang="en-GB" sz="1200" b="0" i="0" u="none" strike="noStrike" dirty="0">
                          <a:solidFill>
                            <a:srgbClr val="000000"/>
                          </a:solidFill>
                          <a:effectLst/>
                          <a:latin typeface="Calibri"/>
                        </a:rPr>
                        <a:t>7</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10-Mar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lvl="0" algn="l">
                        <a:buNone/>
                      </a:pPr>
                      <a:r>
                        <a:rPr lang="en-GB" sz="1200" b="0" i="0" u="none" strike="noStrike" noProof="0">
                          <a:solidFill>
                            <a:srgbClr val="000000"/>
                          </a:solidFill>
                          <a:effectLst/>
                          <a:latin typeface="Calibri"/>
                        </a:rPr>
                        <a:t>CCUS (Tyne)</a:t>
                      </a:r>
                      <a:endParaRPr lang="en-US" sz="1100"/>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SN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3659959387"/>
                  </a:ext>
                </a:extLst>
              </a:tr>
              <a:tr h="415954">
                <a:tc>
                  <a:txBody>
                    <a:bodyPr/>
                    <a:lstStyle/>
                    <a:p>
                      <a:pPr algn="ctr" fontAlgn="b"/>
                      <a:r>
                        <a:rPr lang="en-GB" sz="1200" b="0" i="0" u="none" strike="noStrike" dirty="0">
                          <a:solidFill>
                            <a:srgbClr val="000000"/>
                          </a:solidFill>
                          <a:effectLst/>
                          <a:latin typeface="Calibri"/>
                        </a:rPr>
                        <a:t>8</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17-Mar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Nuclear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solidFill>
                      <a:schemeClr val="accent4">
                        <a:lumMod val="60000"/>
                        <a:lumOff val="40000"/>
                      </a:schemeClr>
                    </a:solidFill>
                  </a:tcPr>
                </a:tc>
                <a:tc>
                  <a:txBody>
                    <a:bodyPr/>
                    <a:lstStyle/>
                    <a:p>
                      <a:pPr algn="l" fontAlgn="b"/>
                      <a:r>
                        <a:rPr lang="en-GB" sz="1200" b="0" i="0" u="none" strike="noStrike">
                          <a:solidFill>
                            <a:srgbClr val="000000"/>
                          </a:solidFill>
                          <a:effectLst/>
                          <a:latin typeface="Calibri"/>
                        </a:rPr>
                        <a:t>VC</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solidFill>
                      <a:schemeClr val="accent4">
                        <a:lumMod val="60000"/>
                        <a:lumOff val="40000"/>
                      </a:schemeClr>
                    </a:solidFill>
                  </a:tcPr>
                </a:tc>
                <a:extLst>
                  <a:ext uri="{0D108BD9-81ED-4DB2-BD59-A6C34878D82A}">
                    <a16:rowId xmlns:a16="http://schemas.microsoft.com/office/drawing/2014/main" val="201112172"/>
                  </a:ext>
                </a:extLst>
              </a:tr>
              <a:tr h="570902">
                <a:tc>
                  <a:txBody>
                    <a:bodyPr/>
                    <a:lstStyle/>
                    <a:p>
                      <a:pPr algn="ctr" fontAlgn="b"/>
                      <a:r>
                        <a:rPr lang="en-GB" sz="1200" b="0" i="0" u="none" strike="noStrike" dirty="0">
                          <a:solidFill>
                            <a:srgbClr val="000000"/>
                          </a:solidFill>
                          <a:effectLst/>
                          <a:latin typeface="Calibri"/>
                        </a:rPr>
                        <a:t>9</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24-Mar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noProof="0">
                          <a:solidFill>
                            <a:srgbClr val="000000"/>
                          </a:solidFill>
                          <a:effectLst/>
                          <a:latin typeface="Calibri"/>
                        </a:rPr>
                        <a:t>Emerging contaminants and wastewater treatment</a:t>
                      </a:r>
                    </a:p>
                    <a:p>
                      <a:pPr lvl="0" algn="l">
                        <a:buNone/>
                      </a:pPr>
                      <a:endParaRPr lang="en-GB" sz="1200" b="0" i="0" u="none" strike="noStrike">
                        <a:solidFill>
                          <a:srgbClr val="000000"/>
                        </a:solidFill>
                        <a:effectLst/>
                        <a:latin typeface="Calibri"/>
                      </a:endParaRP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chemeClr val="accent5">
                        <a:lumMod val="60000"/>
                        <a:lumOff val="40000"/>
                      </a:schemeClr>
                    </a:solidFill>
                  </a:tcPr>
                </a:tc>
                <a:tc>
                  <a:txBody>
                    <a:bodyPr/>
                    <a:lstStyle/>
                    <a:p>
                      <a:pPr algn="l" fontAlgn="b"/>
                      <a:r>
                        <a:rPr lang="en-GB" sz="1200" b="0" i="0" u="none" strike="noStrike">
                          <a:solidFill>
                            <a:srgbClr val="000000"/>
                          </a:solidFill>
                          <a:effectLst/>
                          <a:latin typeface="Calibri"/>
                        </a:rPr>
                        <a:t>SN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26906111"/>
                  </a:ext>
                </a:extLst>
              </a:tr>
              <a:tr h="570902">
                <a:tc>
                  <a:txBody>
                    <a:bodyPr/>
                    <a:lstStyle/>
                    <a:p>
                      <a:pPr algn="ctr" fontAlgn="b"/>
                      <a:r>
                        <a:rPr lang="en-GB" sz="1200" b="0" i="0" u="none" strike="noStrike" dirty="0">
                          <a:solidFill>
                            <a:srgbClr val="000000"/>
                          </a:solidFill>
                          <a:effectLst/>
                          <a:latin typeface="Calibri"/>
                        </a:rPr>
                        <a:t>10</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a:solidFill>
                            <a:srgbClr val="000000"/>
                          </a:solidFill>
                          <a:effectLst/>
                          <a:latin typeface="Calibri"/>
                        </a:rPr>
                        <a:t>31-Mar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a:solidFill>
                            <a:srgbClr val="000000"/>
                          </a:solidFill>
                          <a:effectLst/>
                          <a:latin typeface="Calibri"/>
                        </a:rPr>
                        <a:t>Environmental Pollution and Climate Change Relevant to the SDGs + EXAM technique</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a:solidFill>
                            <a:srgbClr val="000000"/>
                          </a:solidFill>
                          <a:effectLst/>
                          <a:latin typeface="Calibri"/>
                        </a:rPr>
                        <a:t>VC/SN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527662044"/>
                  </a:ext>
                </a:extLst>
              </a:tr>
              <a:tr h="415954">
                <a:tc>
                  <a:txBody>
                    <a:bodyPr/>
                    <a:lstStyle/>
                    <a:p>
                      <a:pPr algn="ctr" fontAlgn="b"/>
                      <a:r>
                        <a:rPr lang="en-GB" sz="1200" b="0" i="0" u="none" strike="noStrike" dirty="0">
                          <a:solidFill>
                            <a:srgbClr val="000000"/>
                          </a:solidFill>
                          <a:effectLst/>
                          <a:latin typeface="Calibri"/>
                        </a:rPr>
                        <a:t>11</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a:solidFill>
                            <a:srgbClr val="000000"/>
                          </a:solidFill>
                          <a:effectLst/>
                          <a:latin typeface="Calibri"/>
                        </a:rPr>
                        <a:t>28-Apr</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a:solidFill>
                            <a:srgbClr val="000000"/>
                          </a:solidFill>
                          <a:effectLst/>
                          <a:latin typeface="Calibri"/>
                        </a:rPr>
                        <a:t>Summary/overview/future outlook</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l" fontAlgn="b"/>
                      <a:r>
                        <a:rPr lang="en-GB" sz="1200" b="0" i="0" u="none" strike="noStrike" dirty="0">
                          <a:solidFill>
                            <a:srgbClr val="000000"/>
                          </a:solidFill>
                          <a:effectLst/>
                          <a:latin typeface="Calibri"/>
                        </a:rPr>
                        <a:t>VC/SN</a:t>
                      </a:r>
                    </a:p>
                  </a:txBody>
                  <a:tcPr marL="4763" marR="4763" marT="476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629401650"/>
                  </a:ext>
                </a:extLst>
              </a:tr>
            </a:tbl>
          </a:graphicData>
        </a:graphic>
      </p:graphicFrame>
    </p:spTree>
    <p:extLst>
      <p:ext uri="{BB962C8B-B14F-4D97-AF65-F5344CB8AC3E}">
        <p14:creationId xmlns:p14="http://schemas.microsoft.com/office/powerpoint/2010/main" val="28505285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text on a white background&#10;&#10;Description automatically generated">
            <a:extLst>
              <a:ext uri="{FF2B5EF4-FFF2-40B4-BE49-F238E27FC236}">
                <a16:creationId xmlns:a16="http://schemas.microsoft.com/office/drawing/2014/main" id="{CB2EF178-8986-B62B-E632-E5E6748976A6}"/>
              </a:ext>
            </a:extLst>
          </p:cNvPr>
          <p:cNvPicPr>
            <a:picLocks noChangeAspect="1"/>
          </p:cNvPicPr>
          <p:nvPr/>
        </p:nvPicPr>
        <p:blipFill>
          <a:blip r:embed="rId2"/>
          <a:stretch>
            <a:fillRect/>
          </a:stretch>
        </p:blipFill>
        <p:spPr>
          <a:xfrm>
            <a:off x="139915" y="370478"/>
            <a:ext cx="9027762" cy="5088878"/>
          </a:xfrm>
          <a:prstGeom prst="rect">
            <a:avLst/>
          </a:prstGeom>
        </p:spPr>
      </p:pic>
    </p:spTree>
    <p:extLst>
      <p:ext uri="{BB962C8B-B14F-4D97-AF65-F5344CB8AC3E}">
        <p14:creationId xmlns:p14="http://schemas.microsoft.com/office/powerpoint/2010/main" val="1734198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588F4-529F-C04E-A91E-B59E41EE0F2C}"/>
              </a:ext>
            </a:extLst>
          </p:cNvPr>
          <p:cNvSpPr>
            <a:spLocks noGrp="1"/>
          </p:cNvSpPr>
          <p:nvPr>
            <p:ph type="title"/>
          </p:nvPr>
        </p:nvSpPr>
        <p:spPr>
          <a:xfrm>
            <a:off x="185227" y="59468"/>
            <a:ext cx="8687445" cy="1644138"/>
          </a:xfrm>
        </p:spPr>
        <p:txBody>
          <a:bodyPr>
            <a:noAutofit/>
          </a:bodyPr>
          <a:lstStyle/>
          <a:p>
            <a:r>
              <a:rPr lang="en-GB" sz="2700" dirty="0">
                <a:latin typeface="Helvetica"/>
              </a:rPr>
              <a:t>Publications – please get into the habit of reading peer-reviewed papers, “grey” literature, and relevant popular articles</a:t>
            </a:r>
          </a:p>
        </p:txBody>
      </p:sp>
      <p:pic>
        <p:nvPicPr>
          <p:cNvPr id="4" name="Picture 3">
            <a:extLst>
              <a:ext uri="{FF2B5EF4-FFF2-40B4-BE49-F238E27FC236}">
                <a16:creationId xmlns:a16="http://schemas.microsoft.com/office/drawing/2014/main" id="{BF0708C2-48C4-324A-9408-D286B956E4D1}"/>
              </a:ext>
            </a:extLst>
          </p:cNvPr>
          <p:cNvPicPr>
            <a:picLocks noChangeAspect="1"/>
          </p:cNvPicPr>
          <p:nvPr/>
        </p:nvPicPr>
        <p:blipFill rotWithShape="1">
          <a:blip r:embed="rId2"/>
          <a:srcRect l="15423" r="15445"/>
          <a:stretch/>
        </p:blipFill>
        <p:spPr>
          <a:xfrm>
            <a:off x="1196706" y="2027667"/>
            <a:ext cx="2177888" cy="819851"/>
          </a:xfrm>
          <a:prstGeom prst="rect">
            <a:avLst/>
          </a:prstGeom>
        </p:spPr>
      </p:pic>
      <p:pic>
        <p:nvPicPr>
          <p:cNvPr id="5" name="Picture 4">
            <a:extLst>
              <a:ext uri="{FF2B5EF4-FFF2-40B4-BE49-F238E27FC236}">
                <a16:creationId xmlns:a16="http://schemas.microsoft.com/office/drawing/2014/main" id="{D83F3B2B-E817-EC4F-82D4-3B114045133D}"/>
              </a:ext>
            </a:extLst>
          </p:cNvPr>
          <p:cNvPicPr>
            <a:picLocks noChangeAspect="1"/>
          </p:cNvPicPr>
          <p:nvPr/>
        </p:nvPicPr>
        <p:blipFill>
          <a:blip r:embed="rId3"/>
          <a:stretch>
            <a:fillRect/>
          </a:stretch>
        </p:blipFill>
        <p:spPr>
          <a:xfrm>
            <a:off x="1196061" y="2844477"/>
            <a:ext cx="2191718" cy="1226845"/>
          </a:xfrm>
          <a:prstGeom prst="rect">
            <a:avLst/>
          </a:prstGeom>
        </p:spPr>
      </p:pic>
      <p:sp>
        <p:nvSpPr>
          <p:cNvPr id="6" name="TextBox 5">
            <a:extLst>
              <a:ext uri="{FF2B5EF4-FFF2-40B4-BE49-F238E27FC236}">
                <a16:creationId xmlns:a16="http://schemas.microsoft.com/office/drawing/2014/main" id="{F6EDD917-FFEF-8240-8F84-02EA425F08D3}"/>
              </a:ext>
            </a:extLst>
          </p:cNvPr>
          <p:cNvSpPr txBox="1"/>
          <p:nvPr/>
        </p:nvSpPr>
        <p:spPr>
          <a:xfrm>
            <a:off x="3886201" y="2435441"/>
            <a:ext cx="4635929" cy="1631216"/>
          </a:xfrm>
          <a:prstGeom prst="rect">
            <a:avLst/>
          </a:prstGeom>
          <a:noFill/>
        </p:spPr>
        <p:txBody>
          <a:bodyPr wrap="square" lIns="91440" tIns="45720" rIns="91440" bIns="45720" rtlCol="0" anchor="t">
            <a:spAutoFit/>
          </a:bodyPr>
          <a:lstStyle/>
          <a:p>
            <a:r>
              <a:rPr lang="en-GB" sz="2000" dirty="0">
                <a:latin typeface="Helvetica"/>
              </a:rPr>
              <a:t>Weekly magazines that include rigorous, high-impact peer reviewed articles (including research papers, perspectives, opinions, reviews) as well as editorial material</a:t>
            </a:r>
          </a:p>
        </p:txBody>
      </p:sp>
      <p:pic>
        <p:nvPicPr>
          <p:cNvPr id="7" name="Picture 6">
            <a:extLst>
              <a:ext uri="{FF2B5EF4-FFF2-40B4-BE49-F238E27FC236}">
                <a16:creationId xmlns:a16="http://schemas.microsoft.com/office/drawing/2014/main" id="{A9DC42CF-E01B-EE4C-8999-0F3917231828}"/>
              </a:ext>
            </a:extLst>
          </p:cNvPr>
          <p:cNvPicPr>
            <a:picLocks noChangeAspect="1"/>
          </p:cNvPicPr>
          <p:nvPr/>
        </p:nvPicPr>
        <p:blipFill>
          <a:blip r:embed="rId4"/>
          <a:stretch>
            <a:fillRect/>
          </a:stretch>
        </p:blipFill>
        <p:spPr>
          <a:xfrm>
            <a:off x="1035889" y="4136594"/>
            <a:ext cx="2515765" cy="2070638"/>
          </a:xfrm>
          <a:prstGeom prst="rect">
            <a:avLst/>
          </a:prstGeom>
        </p:spPr>
      </p:pic>
      <p:sp>
        <p:nvSpPr>
          <p:cNvPr id="8" name="TextBox 7">
            <a:extLst>
              <a:ext uri="{FF2B5EF4-FFF2-40B4-BE49-F238E27FC236}">
                <a16:creationId xmlns:a16="http://schemas.microsoft.com/office/drawing/2014/main" id="{FF8E7540-8E5E-9A49-85D7-1896143EC230}"/>
              </a:ext>
            </a:extLst>
          </p:cNvPr>
          <p:cNvSpPr txBox="1"/>
          <p:nvPr/>
        </p:nvSpPr>
        <p:spPr>
          <a:xfrm>
            <a:off x="3886200" y="4179001"/>
            <a:ext cx="4609561" cy="707886"/>
          </a:xfrm>
          <a:prstGeom prst="rect">
            <a:avLst/>
          </a:prstGeom>
          <a:noFill/>
        </p:spPr>
        <p:txBody>
          <a:bodyPr wrap="square" rtlCol="0">
            <a:spAutoFit/>
          </a:bodyPr>
          <a:lstStyle/>
          <a:p>
            <a:r>
              <a:rPr lang="en-GB" sz="2000"/>
              <a:t>A plethora of journals devoted to broad and general disciplines</a:t>
            </a:r>
          </a:p>
        </p:txBody>
      </p:sp>
      <p:sp>
        <p:nvSpPr>
          <p:cNvPr id="9" name="TextBox 8">
            <a:extLst>
              <a:ext uri="{FF2B5EF4-FFF2-40B4-BE49-F238E27FC236}">
                <a16:creationId xmlns:a16="http://schemas.microsoft.com/office/drawing/2014/main" id="{6A3EA8D9-7C10-2E4F-B147-5B77B7EDAFF9}"/>
              </a:ext>
            </a:extLst>
          </p:cNvPr>
          <p:cNvSpPr txBox="1"/>
          <p:nvPr/>
        </p:nvSpPr>
        <p:spPr>
          <a:xfrm>
            <a:off x="3715503" y="5172560"/>
            <a:ext cx="4176728" cy="738664"/>
          </a:xfrm>
          <a:prstGeom prst="rect">
            <a:avLst/>
          </a:prstGeom>
          <a:noFill/>
        </p:spPr>
        <p:txBody>
          <a:bodyPr wrap="square" rtlCol="0">
            <a:spAutoFit/>
          </a:bodyPr>
          <a:lstStyle/>
          <a:p>
            <a:pPr algn="ctr"/>
            <a:r>
              <a:rPr lang="en-GB" sz="2100" b="1">
                <a:solidFill>
                  <a:srgbClr val="FF0000"/>
                </a:solidFill>
              </a:rPr>
              <a:t>Don’t be put off, but be very selective!</a:t>
            </a:r>
          </a:p>
        </p:txBody>
      </p:sp>
    </p:spTree>
    <p:extLst>
      <p:ext uri="{BB962C8B-B14F-4D97-AF65-F5344CB8AC3E}">
        <p14:creationId xmlns:p14="http://schemas.microsoft.com/office/powerpoint/2010/main" val="31136908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A0BE-ED45-7F42-82F4-D892B933D8E4}"/>
              </a:ext>
            </a:extLst>
          </p:cNvPr>
          <p:cNvSpPr>
            <a:spLocks noGrp="1"/>
          </p:cNvSpPr>
          <p:nvPr>
            <p:ph type="title"/>
          </p:nvPr>
        </p:nvSpPr>
        <p:spPr>
          <a:xfrm>
            <a:off x="141073" y="142595"/>
            <a:ext cx="8657363" cy="481867"/>
          </a:xfrm>
        </p:spPr>
        <p:txBody>
          <a:bodyPr>
            <a:normAutofit/>
          </a:bodyPr>
          <a:lstStyle/>
          <a:p>
            <a:r>
              <a:rPr lang="en-GB" sz="2200" b="1" dirty="0">
                <a:solidFill>
                  <a:srgbClr val="C00000"/>
                </a:solidFill>
                <a:latin typeface="Helvetica"/>
              </a:rPr>
              <a:t>Why and how and we would like you to use publications….</a:t>
            </a:r>
          </a:p>
        </p:txBody>
      </p:sp>
      <p:grpSp>
        <p:nvGrpSpPr>
          <p:cNvPr id="6" name="Group 5">
            <a:extLst>
              <a:ext uri="{FF2B5EF4-FFF2-40B4-BE49-F238E27FC236}">
                <a16:creationId xmlns:a16="http://schemas.microsoft.com/office/drawing/2014/main" id="{EB74FEA1-37D4-244D-9568-E3C078D96B14}"/>
              </a:ext>
            </a:extLst>
          </p:cNvPr>
          <p:cNvGrpSpPr/>
          <p:nvPr/>
        </p:nvGrpSpPr>
        <p:grpSpPr>
          <a:xfrm>
            <a:off x="701567" y="723523"/>
            <a:ext cx="7762265" cy="2682606"/>
            <a:chOff x="266700" y="952500"/>
            <a:chExt cx="8529515" cy="3190359"/>
          </a:xfrm>
        </p:grpSpPr>
        <p:sp>
          <p:nvSpPr>
            <p:cNvPr id="5" name="Rounded Rectangle 4">
              <a:extLst>
                <a:ext uri="{FF2B5EF4-FFF2-40B4-BE49-F238E27FC236}">
                  <a16:creationId xmlns:a16="http://schemas.microsoft.com/office/drawing/2014/main" id="{8D45BA19-FC8A-C74D-83AC-6B2A34201182}"/>
                </a:ext>
              </a:extLst>
            </p:cNvPr>
            <p:cNvSpPr/>
            <p:nvPr/>
          </p:nvSpPr>
          <p:spPr>
            <a:xfrm>
              <a:off x="266700" y="1315140"/>
              <a:ext cx="8529515" cy="2827719"/>
            </a:xfrm>
            <a:prstGeom prst="roundRect">
              <a:avLst/>
            </a:prstGeom>
            <a:solidFill>
              <a:srgbClr val="FFFF00">
                <a:alpha val="4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4" name="TextBox 3">
              <a:extLst>
                <a:ext uri="{FF2B5EF4-FFF2-40B4-BE49-F238E27FC236}">
                  <a16:creationId xmlns:a16="http://schemas.microsoft.com/office/drawing/2014/main" id="{14F3E849-EABF-C442-AE7B-CC3044CCF51E}"/>
                </a:ext>
              </a:extLst>
            </p:cNvPr>
            <p:cNvSpPr txBox="1"/>
            <p:nvPr/>
          </p:nvSpPr>
          <p:spPr>
            <a:xfrm>
              <a:off x="1128838" y="952500"/>
              <a:ext cx="7118053" cy="366032"/>
            </a:xfrm>
            <a:prstGeom prst="rect">
              <a:avLst/>
            </a:prstGeom>
            <a:noFill/>
          </p:spPr>
          <p:txBody>
            <a:bodyPr wrap="square" rtlCol="0">
              <a:spAutoFit/>
            </a:bodyPr>
            <a:lstStyle/>
            <a:p>
              <a:r>
                <a:rPr lang="en-GB" b="1">
                  <a:solidFill>
                    <a:srgbClr val="FF0000"/>
                  </a:solidFill>
                  <a:latin typeface="Calibri" panose="020F0502020204030204" pitchFamily="34" charset="0"/>
                  <a:cs typeface="Calibri" panose="020F0502020204030204" pitchFamily="34" charset="0"/>
                </a:rPr>
                <a:t>Good news! These things usually lead to high marks in exams and assessments!</a:t>
              </a:r>
            </a:p>
          </p:txBody>
        </p:sp>
      </p:grpSp>
      <p:sp>
        <p:nvSpPr>
          <p:cNvPr id="3" name="Text Placeholder 2">
            <a:extLst>
              <a:ext uri="{FF2B5EF4-FFF2-40B4-BE49-F238E27FC236}">
                <a16:creationId xmlns:a16="http://schemas.microsoft.com/office/drawing/2014/main" id="{417F9046-FABC-844B-8E56-92AE985960A2}"/>
              </a:ext>
            </a:extLst>
          </p:cNvPr>
          <p:cNvSpPr>
            <a:spLocks noGrp="1"/>
          </p:cNvSpPr>
          <p:nvPr>
            <p:ph type="body" idx="1"/>
          </p:nvPr>
        </p:nvSpPr>
        <p:spPr>
          <a:xfrm>
            <a:off x="702752" y="1185029"/>
            <a:ext cx="7738497" cy="3794070"/>
          </a:xfrm>
        </p:spPr>
        <p:txBody>
          <a:bodyPr spcFirstLastPara="1" wrap="square" lIns="91425" tIns="45700" rIns="91425" bIns="45700" anchor="t" anchorCtr="0">
            <a:noAutofit/>
          </a:bodyPr>
          <a:lstStyle/>
          <a:p>
            <a:r>
              <a:rPr lang="en-GB" sz="1800" dirty="0"/>
              <a:t>Broaden your general knowledge of subject material</a:t>
            </a:r>
          </a:p>
          <a:p>
            <a:endParaRPr lang="en-GB" sz="1800" dirty="0"/>
          </a:p>
          <a:p>
            <a:r>
              <a:rPr lang="en-GB" sz="1800" dirty="0"/>
              <a:t>Provide ready means to “evidence” that knowledge (e.g. through citation, either direct or indirect)</a:t>
            </a:r>
          </a:p>
          <a:p>
            <a:endParaRPr lang="en-GB" sz="1800" dirty="0"/>
          </a:p>
          <a:p>
            <a:r>
              <a:rPr lang="en-GB" sz="1800" dirty="0"/>
              <a:t>Provide the means to critically evaluate questions and topics</a:t>
            </a:r>
          </a:p>
          <a:p>
            <a:endParaRPr lang="en-GB" sz="1800" dirty="0"/>
          </a:p>
          <a:p>
            <a:r>
              <a:rPr lang="en-GB" sz="1800" dirty="0"/>
              <a:t>Use to gain broad, general information</a:t>
            </a:r>
          </a:p>
          <a:p>
            <a:endParaRPr lang="en-GB" sz="1800" dirty="0"/>
          </a:p>
          <a:p>
            <a:r>
              <a:rPr lang="en-GB" sz="1800" dirty="0"/>
              <a:t>Do not get bogged down in methodological details of the work, but focus on key take-home messages</a:t>
            </a:r>
          </a:p>
          <a:p>
            <a:endParaRPr lang="en-GB" sz="1800" u="sng" dirty="0"/>
          </a:p>
          <a:p>
            <a:r>
              <a:rPr lang="en-GB" sz="1800" u="sng" dirty="0"/>
              <a:t>You will not be examined</a:t>
            </a:r>
            <a:r>
              <a:rPr lang="en-GB" sz="1800" dirty="0"/>
              <a:t> on specific publications</a:t>
            </a:r>
          </a:p>
          <a:p>
            <a:endParaRPr lang="en-GB" sz="1800" u="sng" dirty="0"/>
          </a:p>
          <a:p>
            <a:r>
              <a:rPr lang="en-GB" sz="1800" u="sng" dirty="0"/>
              <a:t>You will be examined </a:t>
            </a:r>
            <a:r>
              <a:rPr lang="en-GB" sz="1800" dirty="0"/>
              <a:t>on topics publications tackle</a:t>
            </a:r>
          </a:p>
          <a:p>
            <a:endParaRPr lang="en-GB" sz="1600"/>
          </a:p>
        </p:txBody>
      </p:sp>
    </p:spTree>
    <p:extLst>
      <p:ext uri="{BB962C8B-B14F-4D97-AF65-F5344CB8AC3E}">
        <p14:creationId xmlns:p14="http://schemas.microsoft.com/office/powerpoint/2010/main" val="232619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773B-D030-114F-9F10-5576909AD4D7}"/>
              </a:ext>
            </a:extLst>
          </p:cNvPr>
          <p:cNvSpPr>
            <a:spLocks noGrp="1"/>
          </p:cNvSpPr>
          <p:nvPr>
            <p:ph type="title"/>
          </p:nvPr>
        </p:nvSpPr>
        <p:spPr>
          <a:xfrm>
            <a:off x="-1317" y="796"/>
            <a:ext cx="8274210" cy="994172"/>
          </a:xfrm>
        </p:spPr>
        <p:txBody>
          <a:bodyPr>
            <a:normAutofit/>
          </a:bodyPr>
          <a:lstStyle/>
          <a:p>
            <a:r>
              <a:rPr lang="en-GB" sz="3600" dirty="0">
                <a:solidFill>
                  <a:srgbClr val="C00000"/>
                </a:solidFill>
                <a:latin typeface="Helvetica"/>
              </a:rPr>
              <a:t>“</a:t>
            </a:r>
            <a:r>
              <a:rPr lang="en-GB" sz="3600" b="1" dirty="0">
                <a:solidFill>
                  <a:srgbClr val="C00000"/>
                </a:solidFill>
                <a:latin typeface="Helvetica"/>
              </a:rPr>
              <a:t>Publication of the week</a:t>
            </a:r>
            <a:r>
              <a:rPr lang="en-GB" sz="3600" dirty="0">
                <a:solidFill>
                  <a:srgbClr val="C00000"/>
                </a:solidFill>
                <a:latin typeface="Helvetica"/>
              </a:rPr>
              <a:t>”</a:t>
            </a:r>
          </a:p>
        </p:txBody>
      </p:sp>
      <p:pic>
        <p:nvPicPr>
          <p:cNvPr id="4" name="Picture 3">
            <a:extLst>
              <a:ext uri="{FF2B5EF4-FFF2-40B4-BE49-F238E27FC236}">
                <a16:creationId xmlns:a16="http://schemas.microsoft.com/office/drawing/2014/main" id="{30E83A7D-75FF-4446-BCBE-B06C103B7B62}"/>
              </a:ext>
            </a:extLst>
          </p:cNvPr>
          <p:cNvPicPr>
            <a:picLocks noChangeAspect="1"/>
          </p:cNvPicPr>
          <p:nvPr/>
        </p:nvPicPr>
        <p:blipFill>
          <a:blip r:embed="rId2"/>
          <a:stretch>
            <a:fillRect/>
          </a:stretch>
        </p:blipFill>
        <p:spPr>
          <a:xfrm>
            <a:off x="355170" y="993345"/>
            <a:ext cx="8433661" cy="2980840"/>
          </a:xfrm>
          <a:prstGeom prst="rect">
            <a:avLst/>
          </a:prstGeom>
        </p:spPr>
      </p:pic>
      <p:pic>
        <p:nvPicPr>
          <p:cNvPr id="5" name="Picture 4">
            <a:extLst>
              <a:ext uri="{FF2B5EF4-FFF2-40B4-BE49-F238E27FC236}">
                <a16:creationId xmlns:a16="http://schemas.microsoft.com/office/drawing/2014/main" id="{6FB394B3-BE28-3B42-A080-854A97A029AA}"/>
              </a:ext>
            </a:extLst>
          </p:cNvPr>
          <p:cNvPicPr>
            <a:picLocks noChangeAspect="1"/>
          </p:cNvPicPr>
          <p:nvPr/>
        </p:nvPicPr>
        <p:blipFill rotWithShape="1">
          <a:blip r:embed="rId3"/>
          <a:srcRect l="15423" r="15445"/>
          <a:stretch/>
        </p:blipFill>
        <p:spPr>
          <a:xfrm>
            <a:off x="359475" y="4517003"/>
            <a:ext cx="2390775" cy="900113"/>
          </a:xfrm>
          <a:prstGeom prst="rect">
            <a:avLst/>
          </a:prstGeom>
        </p:spPr>
      </p:pic>
      <p:sp>
        <p:nvSpPr>
          <p:cNvPr id="6" name="Rectangle 5">
            <a:extLst>
              <a:ext uri="{FF2B5EF4-FFF2-40B4-BE49-F238E27FC236}">
                <a16:creationId xmlns:a16="http://schemas.microsoft.com/office/drawing/2014/main" id="{0C7FBC70-A18E-B54F-A501-EA6E917646A2}"/>
              </a:ext>
            </a:extLst>
          </p:cNvPr>
          <p:cNvSpPr/>
          <p:nvPr/>
        </p:nvSpPr>
        <p:spPr>
          <a:xfrm>
            <a:off x="3267441" y="4785763"/>
            <a:ext cx="5245864" cy="369332"/>
          </a:xfrm>
          <a:prstGeom prst="rect">
            <a:avLst/>
          </a:prstGeom>
        </p:spPr>
        <p:txBody>
          <a:bodyPr wrap="square">
            <a:spAutoFit/>
          </a:bodyPr>
          <a:lstStyle/>
          <a:p>
            <a:r>
              <a:rPr lang="en-GB" sz="1800">
                <a:latin typeface="Helvetica" pitchFamily="2" charset="0"/>
              </a:rPr>
              <a:t>https://</a:t>
            </a:r>
            <a:r>
              <a:rPr lang="en-GB" sz="1800" err="1">
                <a:latin typeface="Helvetica" pitchFamily="2" charset="0"/>
              </a:rPr>
              <a:t>doi.org</a:t>
            </a:r>
            <a:r>
              <a:rPr lang="en-GB" sz="1800">
                <a:latin typeface="Helvetica" pitchFamily="2" charset="0"/>
              </a:rPr>
              <a:t>/10.1038/s41586-019-1681-6</a:t>
            </a:r>
            <a:endParaRPr lang="en-GB" sz="1800">
              <a:effectLst/>
              <a:latin typeface="Helvetica" pitchFamily="2" charset="0"/>
            </a:endParaRPr>
          </a:p>
        </p:txBody>
      </p:sp>
    </p:spTree>
    <p:extLst>
      <p:ext uri="{BB962C8B-B14F-4D97-AF65-F5344CB8AC3E}">
        <p14:creationId xmlns:p14="http://schemas.microsoft.com/office/powerpoint/2010/main" val="18105956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13879-A89D-7C46-9F8E-B9AB24A6B274}"/>
              </a:ext>
            </a:extLst>
          </p:cNvPr>
          <p:cNvSpPr>
            <a:spLocks noGrp="1"/>
          </p:cNvSpPr>
          <p:nvPr>
            <p:ph type="title"/>
          </p:nvPr>
        </p:nvSpPr>
        <p:spPr>
          <a:xfrm>
            <a:off x="109376" y="156963"/>
            <a:ext cx="6786832" cy="994172"/>
          </a:xfrm>
        </p:spPr>
        <p:txBody>
          <a:bodyPr>
            <a:noAutofit/>
          </a:bodyPr>
          <a:lstStyle/>
          <a:p>
            <a:r>
              <a:rPr lang="en-GB" sz="2800" b="1" dirty="0">
                <a:solidFill>
                  <a:srgbClr val="C00000"/>
                </a:solidFill>
                <a:latin typeface="Helvetica"/>
              </a:rPr>
              <a:t>The abstract tells you a lot - sometimes enough!</a:t>
            </a:r>
          </a:p>
        </p:txBody>
      </p:sp>
      <p:pic>
        <p:nvPicPr>
          <p:cNvPr id="4" name="Picture 3">
            <a:extLst>
              <a:ext uri="{FF2B5EF4-FFF2-40B4-BE49-F238E27FC236}">
                <a16:creationId xmlns:a16="http://schemas.microsoft.com/office/drawing/2014/main" id="{F7D7A6B5-7144-FC4F-8F5F-9271B3F7EBCE}"/>
              </a:ext>
            </a:extLst>
          </p:cNvPr>
          <p:cNvPicPr>
            <a:picLocks noChangeAspect="1"/>
          </p:cNvPicPr>
          <p:nvPr/>
        </p:nvPicPr>
        <p:blipFill>
          <a:blip r:embed="rId2"/>
          <a:stretch>
            <a:fillRect/>
          </a:stretch>
        </p:blipFill>
        <p:spPr>
          <a:xfrm>
            <a:off x="1259017" y="2256485"/>
            <a:ext cx="6643343" cy="2527889"/>
          </a:xfrm>
          <a:prstGeom prst="rect">
            <a:avLst/>
          </a:prstGeom>
        </p:spPr>
      </p:pic>
      <p:grpSp>
        <p:nvGrpSpPr>
          <p:cNvPr id="7" name="Group 6">
            <a:extLst>
              <a:ext uri="{FF2B5EF4-FFF2-40B4-BE49-F238E27FC236}">
                <a16:creationId xmlns:a16="http://schemas.microsoft.com/office/drawing/2014/main" id="{1580240E-3359-154B-A82A-11269B95D438}"/>
              </a:ext>
            </a:extLst>
          </p:cNvPr>
          <p:cNvGrpSpPr/>
          <p:nvPr/>
        </p:nvGrpSpPr>
        <p:grpSpPr>
          <a:xfrm>
            <a:off x="1345770" y="1833427"/>
            <a:ext cx="6575640" cy="1147682"/>
            <a:chOff x="287580" y="1657457"/>
            <a:chExt cx="8767520" cy="1530243"/>
          </a:xfrm>
        </p:grpSpPr>
        <p:sp>
          <p:nvSpPr>
            <p:cNvPr id="5" name="Freeform 4">
              <a:extLst>
                <a:ext uri="{FF2B5EF4-FFF2-40B4-BE49-F238E27FC236}">
                  <a16:creationId xmlns:a16="http://schemas.microsoft.com/office/drawing/2014/main" id="{E4A20DFA-223B-274F-94BE-4304B7076179}"/>
                </a:ext>
              </a:extLst>
            </p:cNvPr>
            <p:cNvSpPr/>
            <p:nvPr/>
          </p:nvSpPr>
          <p:spPr>
            <a:xfrm>
              <a:off x="292100" y="2159000"/>
              <a:ext cx="8763000" cy="1028700"/>
            </a:xfrm>
            <a:custGeom>
              <a:avLst/>
              <a:gdLst>
                <a:gd name="connsiteX0" fmla="*/ 0 w 8763000"/>
                <a:gd name="connsiteY0" fmla="*/ 0 h 1028700"/>
                <a:gd name="connsiteX1" fmla="*/ 0 w 8763000"/>
                <a:gd name="connsiteY1" fmla="*/ 1028700 h 1028700"/>
                <a:gd name="connsiteX2" fmla="*/ 6057900 w 8763000"/>
                <a:gd name="connsiteY2" fmla="*/ 1028700 h 1028700"/>
                <a:gd name="connsiteX3" fmla="*/ 6057900 w 8763000"/>
                <a:gd name="connsiteY3" fmla="*/ 673100 h 1028700"/>
                <a:gd name="connsiteX4" fmla="*/ 8763000 w 8763000"/>
                <a:gd name="connsiteY4" fmla="*/ 685800 h 1028700"/>
                <a:gd name="connsiteX5" fmla="*/ 8763000 w 8763000"/>
                <a:gd name="connsiteY5" fmla="*/ 0 h 1028700"/>
                <a:gd name="connsiteX6" fmla="*/ 0 w 8763000"/>
                <a:gd name="connsiteY6"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63000" h="1028700">
                  <a:moveTo>
                    <a:pt x="0" y="0"/>
                  </a:moveTo>
                  <a:lnTo>
                    <a:pt x="0" y="1028700"/>
                  </a:lnTo>
                  <a:lnTo>
                    <a:pt x="6057900" y="1028700"/>
                  </a:lnTo>
                  <a:lnTo>
                    <a:pt x="6057900" y="673100"/>
                  </a:lnTo>
                  <a:lnTo>
                    <a:pt x="8763000" y="685800"/>
                  </a:lnTo>
                  <a:lnTo>
                    <a:pt x="8763000" y="0"/>
                  </a:lnTo>
                  <a:lnTo>
                    <a:pt x="0" y="0"/>
                  </a:lnTo>
                  <a:close/>
                </a:path>
              </a:pathLst>
            </a:custGeom>
            <a:solidFill>
              <a:schemeClr val="accent1">
                <a:alpha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6" name="TextBox 5">
              <a:extLst>
                <a:ext uri="{FF2B5EF4-FFF2-40B4-BE49-F238E27FC236}">
                  <a16:creationId xmlns:a16="http://schemas.microsoft.com/office/drawing/2014/main" id="{9189A125-F6B9-254B-88CF-A3CDA62F3FBF}"/>
                </a:ext>
              </a:extLst>
            </p:cNvPr>
            <p:cNvSpPr txBox="1"/>
            <p:nvPr/>
          </p:nvSpPr>
          <p:spPr>
            <a:xfrm>
              <a:off x="287580" y="1657457"/>
              <a:ext cx="6743727" cy="451405"/>
            </a:xfrm>
            <a:prstGeom prst="rect">
              <a:avLst/>
            </a:prstGeom>
            <a:noFill/>
          </p:spPr>
          <p:txBody>
            <a:bodyPr wrap="none" lIns="91440" tIns="45720" rIns="91440" bIns="45720" rtlCol="0" anchor="t">
              <a:spAutoFit/>
            </a:bodyPr>
            <a:lstStyle/>
            <a:p>
              <a:r>
                <a:rPr lang="en-GB" sz="1600" b="1" dirty="0">
                  <a:solidFill>
                    <a:schemeClr val="accent1"/>
                  </a:solidFill>
                </a:rPr>
                <a:t>Intro to whole paper and aims – gives you context</a:t>
              </a:r>
            </a:p>
          </p:txBody>
        </p:sp>
      </p:grpSp>
      <p:grpSp>
        <p:nvGrpSpPr>
          <p:cNvPr id="12" name="Group 11">
            <a:extLst>
              <a:ext uri="{FF2B5EF4-FFF2-40B4-BE49-F238E27FC236}">
                <a16:creationId xmlns:a16="http://schemas.microsoft.com/office/drawing/2014/main" id="{79699942-0F28-204C-A689-D3BA919F4B1F}"/>
              </a:ext>
            </a:extLst>
          </p:cNvPr>
          <p:cNvGrpSpPr/>
          <p:nvPr/>
        </p:nvGrpSpPr>
        <p:grpSpPr>
          <a:xfrm>
            <a:off x="1301535" y="4223398"/>
            <a:ext cx="6581775" cy="1357729"/>
            <a:chOff x="228600" y="4775200"/>
            <a:chExt cx="8775700" cy="1810304"/>
          </a:xfrm>
        </p:grpSpPr>
        <p:sp>
          <p:nvSpPr>
            <p:cNvPr id="10" name="Freeform 9">
              <a:extLst>
                <a:ext uri="{FF2B5EF4-FFF2-40B4-BE49-F238E27FC236}">
                  <a16:creationId xmlns:a16="http://schemas.microsoft.com/office/drawing/2014/main" id="{0EFA9B48-54DC-B045-A95D-4F375DD1F04C}"/>
                </a:ext>
              </a:extLst>
            </p:cNvPr>
            <p:cNvSpPr/>
            <p:nvPr/>
          </p:nvSpPr>
          <p:spPr>
            <a:xfrm>
              <a:off x="228600" y="4775200"/>
              <a:ext cx="8775700" cy="698500"/>
            </a:xfrm>
            <a:custGeom>
              <a:avLst/>
              <a:gdLst>
                <a:gd name="connsiteX0" fmla="*/ 1104900 w 8775700"/>
                <a:gd name="connsiteY0" fmla="*/ 0 h 698500"/>
                <a:gd name="connsiteX1" fmla="*/ 8775700 w 8775700"/>
                <a:gd name="connsiteY1" fmla="*/ 25400 h 698500"/>
                <a:gd name="connsiteX2" fmla="*/ 8775700 w 8775700"/>
                <a:gd name="connsiteY2" fmla="*/ 660400 h 698500"/>
                <a:gd name="connsiteX3" fmla="*/ 12700 w 8775700"/>
                <a:gd name="connsiteY3" fmla="*/ 698500 h 698500"/>
                <a:gd name="connsiteX4" fmla="*/ 0 w 8775700"/>
                <a:gd name="connsiteY4" fmla="*/ 381000 h 698500"/>
                <a:gd name="connsiteX5" fmla="*/ 1066800 w 8775700"/>
                <a:gd name="connsiteY5" fmla="*/ 368300 h 698500"/>
                <a:gd name="connsiteX6" fmla="*/ 1104900 w 8775700"/>
                <a:gd name="connsiteY6" fmla="*/ 0 h 698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75700" h="698500">
                  <a:moveTo>
                    <a:pt x="1104900" y="0"/>
                  </a:moveTo>
                  <a:lnTo>
                    <a:pt x="8775700" y="25400"/>
                  </a:lnTo>
                  <a:lnTo>
                    <a:pt x="8775700" y="660400"/>
                  </a:lnTo>
                  <a:lnTo>
                    <a:pt x="12700" y="698500"/>
                  </a:lnTo>
                  <a:lnTo>
                    <a:pt x="0" y="381000"/>
                  </a:lnTo>
                  <a:lnTo>
                    <a:pt x="1066800" y="368300"/>
                  </a:lnTo>
                  <a:lnTo>
                    <a:pt x="1104900" y="0"/>
                  </a:lnTo>
                  <a:close/>
                </a:path>
              </a:pathLst>
            </a:custGeom>
            <a:solidFill>
              <a:schemeClr val="accent6">
                <a:alpha val="3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11" name="TextBox 10">
              <a:extLst>
                <a:ext uri="{FF2B5EF4-FFF2-40B4-BE49-F238E27FC236}">
                  <a16:creationId xmlns:a16="http://schemas.microsoft.com/office/drawing/2014/main" id="{29038500-BD14-B64B-963E-95EE25067A91}"/>
                </a:ext>
              </a:extLst>
            </p:cNvPr>
            <p:cNvSpPr txBox="1"/>
            <p:nvPr/>
          </p:nvSpPr>
          <p:spPr>
            <a:xfrm>
              <a:off x="228600" y="6134099"/>
              <a:ext cx="7271649" cy="451405"/>
            </a:xfrm>
            <a:prstGeom prst="rect">
              <a:avLst/>
            </a:prstGeom>
            <a:noFill/>
          </p:spPr>
          <p:txBody>
            <a:bodyPr wrap="none" lIns="91440" tIns="45720" rIns="91440" bIns="45720" rtlCol="0" anchor="t">
              <a:spAutoFit/>
            </a:bodyPr>
            <a:lstStyle/>
            <a:p>
              <a:r>
                <a:rPr lang="en-GB" sz="1600" b="1" dirty="0">
                  <a:solidFill>
                    <a:schemeClr val="accent6"/>
                  </a:solidFill>
                </a:rPr>
                <a:t>Key take home messages highlighting main challenge</a:t>
              </a:r>
            </a:p>
          </p:txBody>
        </p:sp>
      </p:grpSp>
      <p:grpSp>
        <p:nvGrpSpPr>
          <p:cNvPr id="14" name="Group 13">
            <a:extLst>
              <a:ext uri="{FF2B5EF4-FFF2-40B4-BE49-F238E27FC236}">
                <a16:creationId xmlns:a16="http://schemas.microsoft.com/office/drawing/2014/main" id="{5E5F50D8-33CA-A84C-A17A-52086B375C17}"/>
              </a:ext>
            </a:extLst>
          </p:cNvPr>
          <p:cNvGrpSpPr/>
          <p:nvPr/>
        </p:nvGrpSpPr>
        <p:grpSpPr>
          <a:xfrm>
            <a:off x="1282485" y="2785122"/>
            <a:ext cx="6648450" cy="2481680"/>
            <a:chOff x="203200" y="2857499"/>
            <a:chExt cx="8864600" cy="3308907"/>
          </a:xfrm>
        </p:grpSpPr>
        <p:sp>
          <p:nvSpPr>
            <p:cNvPr id="8" name="Freeform 7">
              <a:extLst>
                <a:ext uri="{FF2B5EF4-FFF2-40B4-BE49-F238E27FC236}">
                  <a16:creationId xmlns:a16="http://schemas.microsoft.com/office/drawing/2014/main" id="{DA001D9A-F4DD-2D41-9C8C-EB27D59E1CB1}"/>
                </a:ext>
              </a:extLst>
            </p:cNvPr>
            <p:cNvSpPr/>
            <p:nvPr/>
          </p:nvSpPr>
          <p:spPr>
            <a:xfrm>
              <a:off x="254000" y="2857499"/>
              <a:ext cx="8813800" cy="2260601"/>
            </a:xfrm>
            <a:custGeom>
              <a:avLst/>
              <a:gdLst>
                <a:gd name="connsiteX0" fmla="*/ 6121400 w 8813800"/>
                <a:gd name="connsiteY0" fmla="*/ 0 h 1651000"/>
                <a:gd name="connsiteX1" fmla="*/ 8813800 w 8813800"/>
                <a:gd name="connsiteY1" fmla="*/ 25400 h 1651000"/>
                <a:gd name="connsiteX2" fmla="*/ 8813800 w 8813800"/>
                <a:gd name="connsiteY2" fmla="*/ 1270000 h 1651000"/>
                <a:gd name="connsiteX3" fmla="*/ 5702300 w 8813800"/>
                <a:gd name="connsiteY3" fmla="*/ 1282700 h 1651000"/>
                <a:gd name="connsiteX4" fmla="*/ 5702300 w 8813800"/>
                <a:gd name="connsiteY4" fmla="*/ 1651000 h 1651000"/>
                <a:gd name="connsiteX5" fmla="*/ 0 w 8813800"/>
                <a:gd name="connsiteY5" fmla="*/ 1638300 h 1651000"/>
                <a:gd name="connsiteX6" fmla="*/ 12700 w 8813800"/>
                <a:gd name="connsiteY6" fmla="*/ 342900 h 1651000"/>
                <a:gd name="connsiteX7" fmla="*/ 6121400 w 8813800"/>
                <a:gd name="connsiteY7" fmla="*/ 342900 h 1651000"/>
                <a:gd name="connsiteX8" fmla="*/ 6121400 w 8813800"/>
                <a:gd name="connsiteY8" fmla="*/ 0 h 1651000"/>
                <a:gd name="connsiteX0" fmla="*/ 6121400 w 8813800"/>
                <a:gd name="connsiteY0" fmla="*/ 0 h 1641777"/>
                <a:gd name="connsiteX1" fmla="*/ 8813800 w 8813800"/>
                <a:gd name="connsiteY1" fmla="*/ 25400 h 1641777"/>
                <a:gd name="connsiteX2" fmla="*/ 8813800 w 8813800"/>
                <a:gd name="connsiteY2" fmla="*/ 1270000 h 1641777"/>
                <a:gd name="connsiteX3" fmla="*/ 5702300 w 8813800"/>
                <a:gd name="connsiteY3" fmla="*/ 1282700 h 1641777"/>
                <a:gd name="connsiteX4" fmla="*/ 1016000 w 8813800"/>
                <a:gd name="connsiteY4" fmla="*/ 1641777 h 1641777"/>
                <a:gd name="connsiteX5" fmla="*/ 0 w 8813800"/>
                <a:gd name="connsiteY5" fmla="*/ 1638300 h 1641777"/>
                <a:gd name="connsiteX6" fmla="*/ 12700 w 8813800"/>
                <a:gd name="connsiteY6" fmla="*/ 342900 h 1641777"/>
                <a:gd name="connsiteX7" fmla="*/ 6121400 w 8813800"/>
                <a:gd name="connsiteY7" fmla="*/ 342900 h 1641777"/>
                <a:gd name="connsiteX8" fmla="*/ 6121400 w 8813800"/>
                <a:gd name="connsiteY8" fmla="*/ 0 h 1641777"/>
                <a:gd name="connsiteX0" fmla="*/ 6121400 w 8813800"/>
                <a:gd name="connsiteY0" fmla="*/ 0 h 1641777"/>
                <a:gd name="connsiteX1" fmla="*/ 8813800 w 8813800"/>
                <a:gd name="connsiteY1" fmla="*/ 25400 h 1641777"/>
                <a:gd name="connsiteX2" fmla="*/ 8813800 w 8813800"/>
                <a:gd name="connsiteY2" fmla="*/ 1270000 h 1641777"/>
                <a:gd name="connsiteX3" fmla="*/ 1016000 w 8813800"/>
                <a:gd name="connsiteY3" fmla="*/ 1384158 h 1641777"/>
                <a:gd name="connsiteX4" fmla="*/ 1016000 w 8813800"/>
                <a:gd name="connsiteY4" fmla="*/ 1641777 h 1641777"/>
                <a:gd name="connsiteX5" fmla="*/ 0 w 8813800"/>
                <a:gd name="connsiteY5" fmla="*/ 1638300 h 1641777"/>
                <a:gd name="connsiteX6" fmla="*/ 12700 w 8813800"/>
                <a:gd name="connsiteY6" fmla="*/ 342900 h 1641777"/>
                <a:gd name="connsiteX7" fmla="*/ 6121400 w 8813800"/>
                <a:gd name="connsiteY7" fmla="*/ 342900 h 1641777"/>
                <a:gd name="connsiteX8" fmla="*/ 6121400 w 8813800"/>
                <a:gd name="connsiteY8" fmla="*/ 0 h 1641777"/>
                <a:gd name="connsiteX0" fmla="*/ 6121400 w 8813800"/>
                <a:gd name="connsiteY0" fmla="*/ 0 h 1641777"/>
                <a:gd name="connsiteX1" fmla="*/ 8813800 w 8813800"/>
                <a:gd name="connsiteY1" fmla="*/ 25400 h 1641777"/>
                <a:gd name="connsiteX2" fmla="*/ 8801100 w 8813800"/>
                <a:gd name="connsiteY2" fmla="*/ 1380682 h 1641777"/>
                <a:gd name="connsiteX3" fmla="*/ 1016000 w 8813800"/>
                <a:gd name="connsiteY3" fmla="*/ 1384158 h 1641777"/>
                <a:gd name="connsiteX4" fmla="*/ 1016000 w 8813800"/>
                <a:gd name="connsiteY4" fmla="*/ 1641777 h 1641777"/>
                <a:gd name="connsiteX5" fmla="*/ 0 w 8813800"/>
                <a:gd name="connsiteY5" fmla="*/ 1638300 h 1641777"/>
                <a:gd name="connsiteX6" fmla="*/ 12700 w 8813800"/>
                <a:gd name="connsiteY6" fmla="*/ 342900 h 1641777"/>
                <a:gd name="connsiteX7" fmla="*/ 6121400 w 8813800"/>
                <a:gd name="connsiteY7" fmla="*/ 342900 h 1641777"/>
                <a:gd name="connsiteX8" fmla="*/ 6121400 w 8813800"/>
                <a:gd name="connsiteY8" fmla="*/ 0 h 1641777"/>
                <a:gd name="connsiteX0" fmla="*/ 6121400 w 8813800"/>
                <a:gd name="connsiteY0" fmla="*/ 0 h 1641777"/>
                <a:gd name="connsiteX1" fmla="*/ 8813800 w 8813800"/>
                <a:gd name="connsiteY1" fmla="*/ 25400 h 1641777"/>
                <a:gd name="connsiteX2" fmla="*/ 8801100 w 8813800"/>
                <a:gd name="connsiteY2" fmla="*/ 1380682 h 1641777"/>
                <a:gd name="connsiteX3" fmla="*/ 1016000 w 8813800"/>
                <a:gd name="connsiteY3" fmla="*/ 1384158 h 1641777"/>
                <a:gd name="connsiteX4" fmla="*/ 1016000 w 8813800"/>
                <a:gd name="connsiteY4" fmla="*/ 1641777 h 1641777"/>
                <a:gd name="connsiteX5" fmla="*/ 0 w 8813800"/>
                <a:gd name="connsiteY5" fmla="*/ 1638300 h 1641777"/>
                <a:gd name="connsiteX6" fmla="*/ 12700 w 8813800"/>
                <a:gd name="connsiteY6" fmla="*/ 342900 h 1641777"/>
                <a:gd name="connsiteX7" fmla="*/ 6083300 w 8813800"/>
                <a:gd name="connsiteY7" fmla="*/ 269112 h 1641777"/>
                <a:gd name="connsiteX8" fmla="*/ 6121400 w 8813800"/>
                <a:gd name="connsiteY8" fmla="*/ 0 h 1641777"/>
                <a:gd name="connsiteX0" fmla="*/ 6121400 w 8813800"/>
                <a:gd name="connsiteY0" fmla="*/ 0 h 1641777"/>
                <a:gd name="connsiteX1" fmla="*/ 8813800 w 8813800"/>
                <a:gd name="connsiteY1" fmla="*/ 25400 h 1641777"/>
                <a:gd name="connsiteX2" fmla="*/ 8801100 w 8813800"/>
                <a:gd name="connsiteY2" fmla="*/ 1380682 h 1641777"/>
                <a:gd name="connsiteX3" fmla="*/ 1016000 w 8813800"/>
                <a:gd name="connsiteY3" fmla="*/ 1384158 h 1641777"/>
                <a:gd name="connsiteX4" fmla="*/ 1016000 w 8813800"/>
                <a:gd name="connsiteY4" fmla="*/ 1641777 h 1641777"/>
                <a:gd name="connsiteX5" fmla="*/ 0 w 8813800"/>
                <a:gd name="connsiteY5" fmla="*/ 1638300 h 1641777"/>
                <a:gd name="connsiteX6" fmla="*/ 0 w 8813800"/>
                <a:gd name="connsiteY6" fmla="*/ 259889 h 1641777"/>
                <a:gd name="connsiteX7" fmla="*/ 6083300 w 8813800"/>
                <a:gd name="connsiteY7" fmla="*/ 269112 h 1641777"/>
                <a:gd name="connsiteX8" fmla="*/ 6121400 w 8813800"/>
                <a:gd name="connsiteY8" fmla="*/ 0 h 164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13800" h="1641777">
                  <a:moveTo>
                    <a:pt x="6121400" y="0"/>
                  </a:moveTo>
                  <a:lnTo>
                    <a:pt x="8813800" y="25400"/>
                  </a:lnTo>
                  <a:lnTo>
                    <a:pt x="8801100" y="1380682"/>
                  </a:lnTo>
                  <a:lnTo>
                    <a:pt x="1016000" y="1384158"/>
                  </a:lnTo>
                  <a:lnTo>
                    <a:pt x="1016000" y="1641777"/>
                  </a:lnTo>
                  <a:lnTo>
                    <a:pt x="0" y="1638300"/>
                  </a:lnTo>
                  <a:lnTo>
                    <a:pt x="0" y="259889"/>
                  </a:lnTo>
                  <a:lnTo>
                    <a:pt x="6083300" y="269112"/>
                  </a:lnTo>
                  <a:lnTo>
                    <a:pt x="6121400" y="0"/>
                  </a:lnTo>
                  <a:close/>
                </a:path>
              </a:pathLst>
            </a:custGeom>
            <a:solidFill>
              <a:srgbClr val="FFFF0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50"/>
            </a:p>
          </p:txBody>
        </p:sp>
        <p:sp>
          <p:nvSpPr>
            <p:cNvPr id="13" name="TextBox 12">
              <a:extLst>
                <a:ext uri="{FF2B5EF4-FFF2-40B4-BE49-F238E27FC236}">
                  <a16:creationId xmlns:a16="http://schemas.microsoft.com/office/drawing/2014/main" id="{CBB54774-D4D2-0943-BFE1-22E56EE51C4B}"/>
                </a:ext>
              </a:extLst>
            </p:cNvPr>
            <p:cNvSpPr txBox="1"/>
            <p:nvPr/>
          </p:nvSpPr>
          <p:spPr>
            <a:xfrm>
              <a:off x="203200" y="5715001"/>
              <a:ext cx="6929676" cy="451405"/>
            </a:xfrm>
            <a:prstGeom prst="rect">
              <a:avLst/>
            </a:prstGeom>
            <a:noFill/>
          </p:spPr>
          <p:txBody>
            <a:bodyPr wrap="none" lIns="91440" tIns="45720" rIns="91440" bIns="45720" rtlCol="0" anchor="t">
              <a:spAutoFit/>
            </a:bodyPr>
            <a:lstStyle/>
            <a:p>
              <a:r>
                <a:rPr lang="en-GB" sz="1600" b="1" dirty="0">
                  <a:solidFill>
                    <a:schemeClr val="accent4">
                      <a:lumMod val="75000"/>
                    </a:schemeClr>
                  </a:solidFill>
                </a:rPr>
                <a:t>Main findings with some summary technical details</a:t>
              </a:r>
            </a:p>
          </p:txBody>
        </p:sp>
      </p:grpSp>
    </p:spTree>
    <p:extLst>
      <p:ext uri="{BB962C8B-B14F-4D97-AF65-F5344CB8AC3E}">
        <p14:creationId xmlns:p14="http://schemas.microsoft.com/office/powerpoint/2010/main" val="1997224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4122D-F349-EF4E-BE63-1B9D744BFF92}"/>
              </a:ext>
            </a:extLst>
          </p:cNvPr>
          <p:cNvSpPr>
            <a:spLocks noGrp="1"/>
          </p:cNvSpPr>
          <p:nvPr>
            <p:ph type="title"/>
          </p:nvPr>
        </p:nvSpPr>
        <p:spPr>
          <a:xfrm>
            <a:off x="228277" y="223060"/>
            <a:ext cx="7886700" cy="537733"/>
          </a:xfrm>
        </p:spPr>
        <p:txBody>
          <a:bodyPr>
            <a:noAutofit/>
          </a:bodyPr>
          <a:lstStyle/>
          <a:p>
            <a:r>
              <a:rPr lang="en-GB" sz="3600" b="1" dirty="0">
                <a:solidFill>
                  <a:srgbClr val="C00000"/>
                </a:solidFill>
                <a:latin typeface="Helvetica"/>
              </a:rPr>
              <a:t>What did this paper find?</a:t>
            </a:r>
          </a:p>
        </p:txBody>
      </p:sp>
      <p:sp>
        <p:nvSpPr>
          <p:cNvPr id="3" name="Text Placeholder 2">
            <a:extLst>
              <a:ext uri="{FF2B5EF4-FFF2-40B4-BE49-F238E27FC236}">
                <a16:creationId xmlns:a16="http://schemas.microsoft.com/office/drawing/2014/main" id="{DAAD98AE-7D44-8C45-B2B7-CF607F0AC307}"/>
              </a:ext>
            </a:extLst>
          </p:cNvPr>
          <p:cNvSpPr>
            <a:spLocks noGrp="1"/>
          </p:cNvSpPr>
          <p:nvPr>
            <p:ph type="body" idx="1"/>
          </p:nvPr>
        </p:nvSpPr>
        <p:spPr>
          <a:xfrm>
            <a:off x="418347" y="1204725"/>
            <a:ext cx="8307844" cy="4451080"/>
          </a:xfrm>
        </p:spPr>
        <p:txBody>
          <a:bodyPr spcFirstLastPara="1" wrap="square" lIns="91425" tIns="45700" rIns="91425" bIns="45700" anchor="t" anchorCtr="0">
            <a:noAutofit/>
          </a:bodyPr>
          <a:lstStyle/>
          <a:p>
            <a:pPr>
              <a:lnSpc>
                <a:spcPct val="140000"/>
              </a:lnSpc>
            </a:pPr>
            <a:r>
              <a:rPr lang="en-GB" sz="1600" dirty="0">
                <a:latin typeface="Helvetica"/>
              </a:rPr>
              <a:t>It focused on ways in which humanity could </a:t>
            </a:r>
            <a:r>
              <a:rPr lang="en-GB" sz="1600" b="1" dirty="0">
                <a:latin typeface="Helvetica"/>
              </a:rPr>
              <a:t>USE CO</a:t>
            </a:r>
            <a:r>
              <a:rPr lang="en-GB" sz="1600" b="1" baseline="-25000" dirty="0">
                <a:latin typeface="Helvetica"/>
              </a:rPr>
              <a:t>2</a:t>
            </a:r>
            <a:r>
              <a:rPr lang="en-GB" sz="1600" dirty="0">
                <a:latin typeface="Helvetica"/>
              </a:rPr>
              <a:t>, as opposed to reducing the emissions, as part of a climate mitigation strategy</a:t>
            </a:r>
          </a:p>
          <a:p>
            <a:pPr>
              <a:lnSpc>
                <a:spcPct val="140000"/>
              </a:lnSpc>
            </a:pPr>
            <a:r>
              <a:rPr lang="en-GB" sz="1600" dirty="0">
                <a:latin typeface="Helvetica"/>
              </a:rPr>
              <a:t>The paper estimated the amount of CO</a:t>
            </a:r>
            <a:r>
              <a:rPr lang="en-GB" sz="1600" baseline="-25000" dirty="0">
                <a:latin typeface="Helvetica"/>
              </a:rPr>
              <a:t>2</a:t>
            </a:r>
            <a:r>
              <a:rPr lang="en-GB" sz="1600" dirty="0">
                <a:latin typeface="Helvetica"/>
              </a:rPr>
              <a:t> that could potentially be used from 10 broad technologies: (1) CO</a:t>
            </a:r>
            <a:r>
              <a:rPr lang="en-GB" sz="1600" baseline="-25000" dirty="0">
                <a:latin typeface="Helvetica"/>
              </a:rPr>
              <a:t>2</a:t>
            </a:r>
            <a:r>
              <a:rPr lang="en-GB" sz="1600" dirty="0">
                <a:latin typeface="Helvetica"/>
              </a:rPr>
              <a:t>-based chemical products, including polymers; (2) CO</a:t>
            </a:r>
            <a:r>
              <a:rPr lang="en-GB" sz="1600" baseline="-25000" dirty="0">
                <a:latin typeface="Helvetica"/>
              </a:rPr>
              <a:t>2</a:t>
            </a:r>
            <a:r>
              <a:rPr lang="en-GB" sz="1600" dirty="0">
                <a:latin typeface="Helvetica"/>
              </a:rPr>
              <a:t>-based fuels; (3) microalgae fuels and other microalgae products; (4) concrete building materials; (5) CO</a:t>
            </a:r>
            <a:r>
              <a:rPr lang="en-GB" sz="1600" baseline="-25000" dirty="0">
                <a:latin typeface="Helvetica"/>
              </a:rPr>
              <a:t>2</a:t>
            </a:r>
            <a:r>
              <a:rPr lang="en-GB" sz="1600" dirty="0">
                <a:latin typeface="Helvetica"/>
              </a:rPr>
              <a:t> enhanced oil recovery (CO</a:t>
            </a:r>
            <a:r>
              <a:rPr lang="en-GB" sz="1600" baseline="-25000" dirty="0">
                <a:latin typeface="Helvetica"/>
              </a:rPr>
              <a:t>2</a:t>
            </a:r>
            <a:r>
              <a:rPr lang="en-GB" sz="1600" dirty="0">
                <a:latin typeface="Helvetica"/>
              </a:rPr>
              <a:t>-EOR); (6) bioenergy with carbon capture and storage (BECCS); (7) enhanced weathering; (8) forestry techniques, including afforestation/reforestation, forest management and wood products; (9) land management via soil carbon sequestration techniques; and (10) biochar.</a:t>
            </a:r>
          </a:p>
          <a:p>
            <a:pPr>
              <a:lnSpc>
                <a:spcPct val="140000"/>
              </a:lnSpc>
            </a:pPr>
            <a:r>
              <a:rPr lang="en-GB" sz="1600" b="1" dirty="0">
                <a:latin typeface="Helvetica"/>
              </a:rPr>
              <a:t>Lots of uncertainty!  </a:t>
            </a:r>
          </a:p>
          <a:p>
            <a:pPr>
              <a:lnSpc>
                <a:spcPct val="140000"/>
              </a:lnSpc>
            </a:pPr>
            <a:r>
              <a:rPr lang="en-GB" sz="1600" dirty="0">
                <a:latin typeface="Helvetica"/>
              </a:rPr>
              <a:t>But certainly lots of potential e.g. forestry may remove 500-3600 MT of CO</a:t>
            </a:r>
            <a:r>
              <a:rPr lang="en-GB" sz="1600" baseline="-25000" dirty="0">
                <a:latin typeface="Helvetica"/>
              </a:rPr>
              <a:t>2</a:t>
            </a:r>
            <a:r>
              <a:rPr lang="en-GB" sz="1600" dirty="0">
                <a:latin typeface="Helvetica"/>
              </a:rPr>
              <a:t> per year  in 2050...</a:t>
            </a:r>
          </a:p>
          <a:p>
            <a:endParaRPr lang="en-GB" sz="1600"/>
          </a:p>
        </p:txBody>
      </p:sp>
    </p:spTree>
    <p:extLst>
      <p:ext uri="{BB962C8B-B14F-4D97-AF65-F5344CB8AC3E}">
        <p14:creationId xmlns:p14="http://schemas.microsoft.com/office/powerpoint/2010/main" val="33148448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BAAB7-07A9-DB40-8D5D-C10C6F187428}"/>
              </a:ext>
            </a:extLst>
          </p:cNvPr>
          <p:cNvSpPr>
            <a:spLocks noGrp="1"/>
          </p:cNvSpPr>
          <p:nvPr>
            <p:ph type="title"/>
          </p:nvPr>
        </p:nvSpPr>
        <p:spPr>
          <a:xfrm>
            <a:off x="1604963" y="959645"/>
            <a:ext cx="5915025" cy="383381"/>
          </a:xfrm>
        </p:spPr>
        <p:txBody>
          <a:bodyPr>
            <a:normAutofit fontScale="90000"/>
          </a:bodyPr>
          <a:lstStyle/>
          <a:p>
            <a:endParaRPr lang="en-GB"/>
          </a:p>
        </p:txBody>
      </p:sp>
      <p:sp>
        <p:nvSpPr>
          <p:cNvPr id="3" name="Text Placeholder 2">
            <a:extLst>
              <a:ext uri="{FF2B5EF4-FFF2-40B4-BE49-F238E27FC236}">
                <a16:creationId xmlns:a16="http://schemas.microsoft.com/office/drawing/2014/main" id="{04EC9B7F-D001-0D40-95E5-626DE0645F3C}"/>
              </a:ext>
            </a:extLst>
          </p:cNvPr>
          <p:cNvSpPr>
            <a:spLocks noGrp="1"/>
          </p:cNvSpPr>
          <p:nvPr>
            <p:ph type="body" idx="1"/>
          </p:nvPr>
        </p:nvSpPr>
        <p:spPr/>
        <p:txBody>
          <a:bodyPr/>
          <a:lstStyle/>
          <a:p>
            <a:endParaRPr lang="en-GB"/>
          </a:p>
        </p:txBody>
      </p:sp>
      <p:pic>
        <p:nvPicPr>
          <p:cNvPr id="4" name="Picture 3">
            <a:extLst>
              <a:ext uri="{FF2B5EF4-FFF2-40B4-BE49-F238E27FC236}">
                <a16:creationId xmlns:a16="http://schemas.microsoft.com/office/drawing/2014/main" id="{62213F5D-D2A0-8040-8A68-09C40953D11C}"/>
              </a:ext>
            </a:extLst>
          </p:cNvPr>
          <p:cNvPicPr>
            <a:picLocks noChangeAspect="1"/>
          </p:cNvPicPr>
          <p:nvPr/>
        </p:nvPicPr>
        <p:blipFill>
          <a:blip r:embed="rId2"/>
          <a:stretch>
            <a:fillRect/>
          </a:stretch>
        </p:blipFill>
        <p:spPr>
          <a:xfrm>
            <a:off x="1078424" y="159828"/>
            <a:ext cx="6499547" cy="4984587"/>
          </a:xfrm>
          <a:prstGeom prst="rect">
            <a:avLst/>
          </a:prstGeom>
        </p:spPr>
      </p:pic>
      <p:pic>
        <p:nvPicPr>
          <p:cNvPr id="5" name="Picture 4">
            <a:extLst>
              <a:ext uri="{FF2B5EF4-FFF2-40B4-BE49-F238E27FC236}">
                <a16:creationId xmlns:a16="http://schemas.microsoft.com/office/drawing/2014/main" id="{A7AA547C-45B3-3F4A-8996-38A876F94D7B}"/>
              </a:ext>
            </a:extLst>
          </p:cNvPr>
          <p:cNvPicPr>
            <a:picLocks noChangeAspect="1"/>
          </p:cNvPicPr>
          <p:nvPr/>
        </p:nvPicPr>
        <p:blipFill>
          <a:blip r:embed="rId3"/>
          <a:stretch>
            <a:fillRect/>
          </a:stretch>
        </p:blipFill>
        <p:spPr>
          <a:xfrm>
            <a:off x="1076943" y="5146129"/>
            <a:ext cx="6974426" cy="1366925"/>
          </a:xfrm>
          <a:prstGeom prst="rect">
            <a:avLst/>
          </a:prstGeom>
        </p:spPr>
      </p:pic>
    </p:spTree>
    <p:extLst>
      <p:ext uri="{BB962C8B-B14F-4D97-AF65-F5344CB8AC3E}">
        <p14:creationId xmlns:p14="http://schemas.microsoft.com/office/powerpoint/2010/main" val="33118822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9F77-12FF-0A48-8E71-24B439984BC0}"/>
              </a:ext>
            </a:extLst>
          </p:cNvPr>
          <p:cNvSpPr>
            <a:spLocks noGrp="1"/>
          </p:cNvSpPr>
          <p:nvPr>
            <p:ph type="title"/>
          </p:nvPr>
        </p:nvSpPr>
        <p:spPr>
          <a:xfrm>
            <a:off x="1749" y="118217"/>
            <a:ext cx="8816652" cy="537834"/>
          </a:xfrm>
        </p:spPr>
        <p:txBody>
          <a:bodyPr>
            <a:normAutofit/>
          </a:bodyPr>
          <a:lstStyle/>
          <a:p>
            <a:r>
              <a:rPr lang="en-GB" sz="3200" b="1" dirty="0">
                <a:solidFill>
                  <a:srgbClr val="C00000"/>
                </a:solidFill>
                <a:latin typeface="Helvetica"/>
              </a:rPr>
              <a:t>Estimates of CO</a:t>
            </a:r>
            <a:r>
              <a:rPr lang="en-GB" sz="3200" b="1" baseline="-25000" dirty="0">
                <a:solidFill>
                  <a:srgbClr val="C00000"/>
                </a:solidFill>
                <a:latin typeface="Helvetica"/>
              </a:rPr>
              <a:t>2</a:t>
            </a:r>
            <a:r>
              <a:rPr lang="en-GB" sz="3200" b="1" dirty="0">
                <a:solidFill>
                  <a:srgbClr val="C00000"/>
                </a:solidFill>
                <a:latin typeface="Helvetica"/>
              </a:rPr>
              <a:t> removal potential….</a:t>
            </a:r>
          </a:p>
        </p:txBody>
      </p:sp>
      <p:pic>
        <p:nvPicPr>
          <p:cNvPr id="4" name="Picture 3">
            <a:extLst>
              <a:ext uri="{FF2B5EF4-FFF2-40B4-BE49-F238E27FC236}">
                <a16:creationId xmlns:a16="http://schemas.microsoft.com/office/drawing/2014/main" id="{9FBCF7B0-A89F-5142-BCFA-94A1BCDA6C26}"/>
              </a:ext>
            </a:extLst>
          </p:cNvPr>
          <p:cNvPicPr>
            <a:picLocks noChangeAspect="1"/>
          </p:cNvPicPr>
          <p:nvPr/>
        </p:nvPicPr>
        <p:blipFill>
          <a:blip r:embed="rId2"/>
          <a:stretch>
            <a:fillRect/>
          </a:stretch>
        </p:blipFill>
        <p:spPr>
          <a:xfrm>
            <a:off x="299176" y="1279443"/>
            <a:ext cx="8542162" cy="4716032"/>
          </a:xfrm>
          <a:prstGeom prst="rect">
            <a:avLst/>
          </a:prstGeom>
        </p:spPr>
      </p:pic>
    </p:spTree>
    <p:extLst>
      <p:ext uri="{BB962C8B-B14F-4D97-AF65-F5344CB8AC3E}">
        <p14:creationId xmlns:p14="http://schemas.microsoft.com/office/powerpoint/2010/main" val="29925431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B6EB1-41EE-884B-95E2-ED5B88F2D0EF}"/>
              </a:ext>
            </a:extLst>
          </p:cNvPr>
          <p:cNvSpPr>
            <a:spLocks noGrp="1"/>
          </p:cNvSpPr>
          <p:nvPr>
            <p:ph type="title"/>
          </p:nvPr>
        </p:nvSpPr>
        <p:spPr>
          <a:xfrm>
            <a:off x="18862" y="154757"/>
            <a:ext cx="9105092" cy="994172"/>
          </a:xfrm>
        </p:spPr>
        <p:txBody>
          <a:bodyPr>
            <a:noAutofit/>
          </a:bodyPr>
          <a:lstStyle/>
          <a:p>
            <a:r>
              <a:rPr lang="en-GB" sz="3200" b="1" dirty="0">
                <a:solidFill>
                  <a:schemeClr val="tx1"/>
                </a:solidFill>
              </a:rPr>
              <a:t>Questions for you to discuss, here and now, with your neighbours</a:t>
            </a:r>
          </a:p>
        </p:txBody>
      </p:sp>
      <p:sp>
        <p:nvSpPr>
          <p:cNvPr id="3" name="Text Placeholder 2">
            <a:extLst>
              <a:ext uri="{FF2B5EF4-FFF2-40B4-BE49-F238E27FC236}">
                <a16:creationId xmlns:a16="http://schemas.microsoft.com/office/drawing/2014/main" id="{B3AAC57E-67CE-B946-BB67-97D37175204C}"/>
              </a:ext>
            </a:extLst>
          </p:cNvPr>
          <p:cNvSpPr>
            <a:spLocks noGrp="1"/>
          </p:cNvSpPr>
          <p:nvPr>
            <p:ph type="body" idx="1"/>
          </p:nvPr>
        </p:nvSpPr>
        <p:spPr>
          <a:xfrm>
            <a:off x="555840" y="2076504"/>
            <a:ext cx="8031942" cy="3390900"/>
          </a:xfrm>
        </p:spPr>
        <p:txBody>
          <a:bodyPr>
            <a:normAutofit/>
          </a:bodyPr>
          <a:lstStyle/>
          <a:p>
            <a:pPr marL="642620" indent="-556895">
              <a:buSzPct val="100000"/>
              <a:buFont typeface="+mj-lt"/>
              <a:buAutoNum type="arabicPeriod"/>
            </a:pPr>
            <a:r>
              <a:rPr lang="en-GB" sz="2400" dirty="0">
                <a:solidFill>
                  <a:srgbClr val="FF0000"/>
                </a:solidFill>
                <a:latin typeface="Helvetica"/>
              </a:rPr>
              <a:t>Should we bother with enhancing CO</a:t>
            </a:r>
            <a:r>
              <a:rPr lang="en-GB" sz="2400" baseline="-25000" dirty="0">
                <a:solidFill>
                  <a:srgbClr val="FF0000"/>
                </a:solidFill>
                <a:latin typeface="Helvetica"/>
              </a:rPr>
              <a:t>2</a:t>
            </a:r>
            <a:r>
              <a:rPr lang="en-GB" sz="2400" dirty="0">
                <a:solidFill>
                  <a:srgbClr val="FF0000"/>
                </a:solidFill>
                <a:latin typeface="Helvetica"/>
              </a:rPr>
              <a:t> utilisation, but instead focus all efforts on emission reduction?</a:t>
            </a:r>
            <a:endParaRPr lang="en-US" sz="2400">
              <a:latin typeface="Helvetica"/>
            </a:endParaRPr>
          </a:p>
          <a:p>
            <a:pPr marL="642620" indent="-556895">
              <a:buSzPct val="100000"/>
              <a:buAutoNum type="arabicPeriod"/>
            </a:pPr>
            <a:endParaRPr lang="en-GB" sz="2400" dirty="0">
              <a:solidFill>
                <a:srgbClr val="FF0000"/>
              </a:solidFill>
              <a:latin typeface="Helvetica"/>
            </a:endParaRPr>
          </a:p>
          <a:p>
            <a:pPr marL="642620" indent="-556895">
              <a:buSzPct val="100000"/>
              <a:buAutoNum type="arabicPeriod"/>
            </a:pPr>
            <a:endParaRPr lang="en-GB" sz="2400" dirty="0">
              <a:solidFill>
                <a:srgbClr val="FF0000"/>
              </a:solidFill>
              <a:latin typeface="Helvetica"/>
            </a:endParaRPr>
          </a:p>
          <a:p>
            <a:pPr marL="642620" indent="-556895">
              <a:buSzPct val="100000"/>
              <a:buFont typeface="+mj-lt"/>
              <a:buAutoNum type="arabicPeriod"/>
            </a:pPr>
            <a:r>
              <a:rPr lang="en-GB" sz="2400" dirty="0">
                <a:solidFill>
                  <a:schemeClr val="accent6">
                    <a:lumMod val="75000"/>
                  </a:schemeClr>
                </a:solidFill>
                <a:latin typeface="Helvetica"/>
              </a:rPr>
              <a:t>Which technologies suggested strike you as being the most “sustainable”?</a:t>
            </a:r>
          </a:p>
          <a:p>
            <a:pPr marL="85725" indent="0">
              <a:buSzPct val="100000"/>
              <a:buNone/>
            </a:pPr>
            <a:endParaRPr lang="en-GB" sz="2400" dirty="0">
              <a:solidFill>
                <a:schemeClr val="accent1"/>
              </a:solidFill>
              <a:latin typeface="Helvetica"/>
            </a:endParaRPr>
          </a:p>
          <a:p>
            <a:endParaRPr lang="en-GB" sz="2400"/>
          </a:p>
        </p:txBody>
      </p:sp>
    </p:spTree>
    <p:extLst>
      <p:ext uri="{BB962C8B-B14F-4D97-AF65-F5344CB8AC3E}">
        <p14:creationId xmlns:p14="http://schemas.microsoft.com/office/powerpoint/2010/main" val="735483636"/>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2882</Words>
  <Application>Microsoft Office PowerPoint</Application>
  <PresentationFormat>On-screen Show (4:3)</PresentationFormat>
  <Paragraphs>406</Paragraphs>
  <Slides>62</Slides>
  <Notes>11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Arial</vt:lpstr>
      <vt:lpstr>Arial Unicode MS</vt:lpstr>
      <vt:lpstr>Calibri</vt:lpstr>
      <vt:lpstr>Courier New</vt:lpstr>
      <vt:lpstr>Google Sans</vt:lpstr>
      <vt:lpstr>Helvetica</vt:lpstr>
      <vt:lpstr>NexusSerif</vt:lpstr>
      <vt:lpstr>Roboto</vt:lpstr>
      <vt:lpstr>Times</vt:lpstr>
      <vt:lpstr>Office Theme</vt:lpstr>
      <vt:lpstr>A Sustainable Planet</vt:lpstr>
      <vt:lpstr>Your team…..</vt:lpstr>
      <vt:lpstr>Which large-scale environmental issues concern you most?</vt:lpstr>
      <vt:lpstr>Population growth underpins many environmental issues</vt:lpstr>
      <vt:lpstr>We need global coordination to address multiple problems</vt:lpstr>
      <vt:lpstr>PowerPoint Presentation</vt:lpstr>
      <vt:lpstr>Analysing data on climate change</vt:lpstr>
      <vt:lpstr>PowerPoint Presentation</vt:lpstr>
      <vt:lpstr>The UN Sustainable Development Goals</vt:lpstr>
      <vt:lpstr>PowerPoint Presentation</vt:lpstr>
      <vt:lpstr>Resolving these challenges requires:</vt:lpstr>
      <vt:lpstr>How are we doing?</vt:lpstr>
      <vt:lpstr>Addressing these goals needs talent, skills, enthusiasm and wisdom from the next generation of achievers </vt:lpstr>
      <vt:lpstr>Overall aims of “A Sustainable Planet”</vt:lpstr>
      <vt:lpstr>Aims for today</vt:lpstr>
      <vt:lpstr>PowerPoint Presentation</vt:lpstr>
      <vt:lpstr>PowerPoint Presentation</vt:lpstr>
      <vt:lpstr>PowerPoint Presentation</vt:lpstr>
      <vt:lpstr>Producing food is linked to extracting and making resources</vt:lpstr>
      <vt:lpstr>PowerPoint Presentation</vt:lpstr>
      <vt:lpstr>More people = more demand for water</vt:lpstr>
      <vt:lpstr>PowerPoint Presentation</vt:lpstr>
      <vt:lpstr>Arsenic in drinking water</vt:lpstr>
      <vt:lpstr>PowerPoint Presentation</vt:lpstr>
      <vt:lpstr>PowerPoint Presentation</vt:lpstr>
      <vt:lpstr>PowerPoint Presentation</vt:lpstr>
      <vt:lpstr>Sustainable cities – key facts</vt:lpstr>
      <vt:lpstr>PowerPoint Presentation</vt:lpstr>
      <vt:lpstr>PowerPoint Presentation</vt:lpstr>
      <vt:lpstr>Sustainable consumption – key facts</vt:lpstr>
      <vt:lpstr>Soils are key to civilisations and production. We degrade them at our peril!</vt:lpstr>
      <vt:lpstr>How do soils function?</vt:lpstr>
      <vt:lpstr>PowerPoint Presentation</vt:lpstr>
      <vt:lpstr>PowerPoint Presentation</vt:lpstr>
      <vt:lpstr>Climate action – key facts</vt:lpstr>
      <vt:lpstr>Greenhouse gas emissions are linked to climate change; what are the sources?</vt:lpstr>
      <vt:lpstr>Climate change is multifactorial and has contrasting impacts depending on scale, species, communities….</vt:lpstr>
      <vt:lpstr>How is the energy mix changing?</vt:lpstr>
      <vt:lpstr>Two major issues remain</vt:lpstr>
      <vt:lpstr>PowerPoint Presentation</vt:lpstr>
      <vt:lpstr>PowerPoint Presentation</vt:lpstr>
      <vt:lpstr>PowerPoint Presentation</vt:lpstr>
      <vt:lpstr>Life on land – key facts</vt:lpstr>
      <vt:lpstr>Forests:  climate mitigators, reservoirs of biodiversity &amp; critical resources</vt:lpstr>
      <vt:lpstr>Biodiversity:  is there a link to ‘ecosystem functioning’?</vt:lpstr>
      <vt:lpstr>PowerPoint Presentation</vt:lpstr>
      <vt:lpstr>Many environmental challenges require knowledge of how soils function</vt:lpstr>
      <vt:lpstr>PowerPoint Presentation</vt:lpstr>
      <vt:lpstr>We need to be mindful of how the SDGs interact…</vt:lpstr>
      <vt:lpstr>Key example: </vt:lpstr>
      <vt:lpstr>Key take home messages:</vt:lpstr>
      <vt:lpstr>PowerPoint Presentation</vt:lpstr>
      <vt:lpstr>PowerPoint Presentation</vt:lpstr>
      <vt:lpstr>PowerPoint Presentation</vt:lpstr>
      <vt:lpstr>Publications – please get into the habit of reading peer-reviewed papers, “grey” literature, and relevant popular articles</vt:lpstr>
      <vt:lpstr>Why and how and we would like you to use publications….</vt:lpstr>
      <vt:lpstr>“Publication of the week”</vt:lpstr>
      <vt:lpstr>The abstract tells you a lot - sometimes enough!</vt:lpstr>
      <vt:lpstr>What did this paper find?</vt:lpstr>
      <vt:lpstr>PowerPoint Presentation</vt:lpstr>
      <vt:lpstr>Estimates of CO2 removal potential….</vt:lpstr>
      <vt:lpstr>Questions for you to discuss, here and now, with your neighbours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Sustainable Planet</dc:title>
  <dc:creator>Victoria Coker</dc:creator>
  <cp:lastModifiedBy>Victoria Coker</cp:lastModifiedBy>
  <cp:revision>1</cp:revision>
  <dcterms:created xsi:type="dcterms:W3CDTF">2021-01-26T14:26:59Z</dcterms:created>
  <dcterms:modified xsi:type="dcterms:W3CDTF">2025-01-28T09:36:37Z</dcterms:modified>
</cp:coreProperties>
</file>