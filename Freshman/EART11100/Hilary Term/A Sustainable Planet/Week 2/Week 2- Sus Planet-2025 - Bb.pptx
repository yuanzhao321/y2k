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8.xml" ContentType="application/vnd.openxmlformats-officedocument.presentationml.notesSlide+xml"/>
  <Override PartName="/ppt/tags/tag11.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3.xml" ContentType="application/vnd.openxmlformats-officedocument.presentationml.tags+xml"/>
  <Override PartName="/ppt/notesSlides/notesSlide26.xml" ContentType="application/vnd.openxmlformats-officedocument.presentationml.notesSlide+xml"/>
  <Override PartName="/ppt/tags/tag14.xml" ContentType="application/vnd.openxmlformats-officedocument.presentationml.tags+xml"/>
  <Override PartName="/ppt/notesSlides/notesSlide27.xml" ContentType="application/vnd.openxmlformats-officedocument.presentationml.notesSlide+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7.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9.xml" ContentType="application/vnd.openxmlformats-officedocument.presentationml.tags+xml"/>
  <Override PartName="/ppt/notesSlides/notesSlide38.xml" ContentType="application/vnd.openxmlformats-officedocument.presentationml.notesSlide+xml"/>
  <Override PartName="/ppt/tags/tag20.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1.xml" ContentType="application/vnd.openxmlformats-officedocument.presentationml.tags+xml"/>
  <Override PartName="/ppt/notesSlides/notesSlide42.xml" ContentType="application/vnd.openxmlformats-officedocument.presentationml.notesSlide+xml"/>
  <Override PartName="/ppt/tags/tag22.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3.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handoutMasterIdLst>
    <p:handoutMasterId r:id="rId83"/>
  </p:handoutMasterIdLst>
  <p:sldIdLst>
    <p:sldId id="873" r:id="rId2"/>
    <p:sldId id="290" r:id="rId3"/>
    <p:sldId id="260" r:id="rId4"/>
    <p:sldId id="264" r:id="rId5"/>
    <p:sldId id="277" r:id="rId6"/>
    <p:sldId id="324" r:id="rId7"/>
    <p:sldId id="278" r:id="rId8"/>
    <p:sldId id="325" r:id="rId9"/>
    <p:sldId id="268" r:id="rId10"/>
    <p:sldId id="320" r:id="rId11"/>
    <p:sldId id="274" r:id="rId12"/>
    <p:sldId id="282" r:id="rId13"/>
    <p:sldId id="267" r:id="rId14"/>
    <p:sldId id="844" r:id="rId15"/>
    <p:sldId id="876" r:id="rId16"/>
    <p:sldId id="360" r:id="rId17"/>
    <p:sldId id="367" r:id="rId18"/>
    <p:sldId id="332" r:id="rId19"/>
    <p:sldId id="870" r:id="rId20"/>
    <p:sldId id="392" r:id="rId21"/>
    <p:sldId id="338" r:id="rId22"/>
    <p:sldId id="339" r:id="rId23"/>
    <p:sldId id="340" r:id="rId24"/>
    <p:sldId id="871" r:id="rId25"/>
    <p:sldId id="341" r:id="rId26"/>
    <p:sldId id="342" r:id="rId27"/>
    <p:sldId id="343" r:id="rId28"/>
    <p:sldId id="344" r:id="rId29"/>
    <p:sldId id="345" r:id="rId30"/>
    <p:sldId id="861" r:id="rId31"/>
    <p:sldId id="349" r:id="rId32"/>
    <p:sldId id="862" r:id="rId33"/>
    <p:sldId id="363" r:id="rId34"/>
    <p:sldId id="354" r:id="rId35"/>
    <p:sldId id="868" r:id="rId36"/>
    <p:sldId id="877" r:id="rId37"/>
    <p:sldId id="874" r:id="rId38"/>
    <p:sldId id="863" r:id="rId39"/>
    <p:sldId id="368" r:id="rId40"/>
    <p:sldId id="370" r:id="rId41"/>
    <p:sldId id="371" r:id="rId42"/>
    <p:sldId id="373" r:id="rId43"/>
    <p:sldId id="374" r:id="rId44"/>
    <p:sldId id="875" r:id="rId45"/>
    <p:sldId id="376" r:id="rId46"/>
    <p:sldId id="401" r:id="rId47"/>
    <p:sldId id="380" r:id="rId48"/>
    <p:sldId id="387" r:id="rId49"/>
    <p:sldId id="388" r:id="rId50"/>
    <p:sldId id="381" r:id="rId51"/>
    <p:sldId id="378" r:id="rId52"/>
    <p:sldId id="866" r:id="rId53"/>
    <p:sldId id="886" r:id="rId54"/>
    <p:sldId id="365" r:id="rId55"/>
    <p:sldId id="882" r:id="rId56"/>
    <p:sldId id="879" r:id="rId57"/>
    <p:sldId id="421" r:id="rId58"/>
    <p:sldId id="422" r:id="rId59"/>
    <p:sldId id="431" r:id="rId60"/>
    <p:sldId id="423" r:id="rId61"/>
    <p:sldId id="369" r:id="rId62"/>
    <p:sldId id="880" r:id="rId63"/>
    <p:sldId id="864" r:id="rId64"/>
    <p:sldId id="865" r:id="rId65"/>
    <p:sldId id="429" r:id="rId66"/>
    <p:sldId id="375" r:id="rId67"/>
    <p:sldId id="849" r:id="rId68"/>
    <p:sldId id="400" r:id="rId69"/>
    <p:sldId id="385" r:id="rId70"/>
    <p:sldId id="883" r:id="rId71"/>
    <p:sldId id="884" r:id="rId72"/>
    <p:sldId id="860" r:id="rId73"/>
    <p:sldId id="850" r:id="rId74"/>
    <p:sldId id="878" r:id="rId75"/>
    <p:sldId id="853" r:id="rId76"/>
    <p:sldId id="855" r:id="rId77"/>
    <p:sldId id="869" r:id="rId78"/>
    <p:sldId id="857" r:id="rId79"/>
    <p:sldId id="859" r:id="rId80"/>
    <p:sldId id="858" r:id="rId81"/>
  </p:sldIdLst>
  <p:sldSz cx="9144000" cy="6858000" type="screen4x3"/>
  <p:notesSz cx="10018713" cy="6889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6830DD-A3FC-8E5A-1DD9-53EB254D24C6}" v="6" dt="2025-01-28T16:45:00.299"/>
    <p1510:client id="{7D106B9D-600A-1CB5-27DF-E38D301F1840}" v="711" dt="2025-01-28T16:38:39.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77" autoAdjust="0"/>
    <p:restoredTop sz="85311" autoAdjust="0"/>
  </p:normalViewPr>
  <p:slideViewPr>
    <p:cSldViewPr>
      <p:cViewPr varScale="1">
        <p:scale>
          <a:sx n="57" d="100"/>
          <a:sy n="57" d="100"/>
        </p:scale>
        <p:origin x="1088"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ia Coker" userId="S::vicky.coker@manchester.ac.uk::d72aa273-31db-4826-9280-c88045117e4b" providerId="AD" clId="Web-{2C6830DD-A3FC-8E5A-1DD9-53EB254D24C6}"/>
    <pc:docChg chg="delSld modSld sldOrd">
      <pc:chgData name="Victoria Coker" userId="S::vicky.coker@manchester.ac.uk::d72aa273-31db-4826-9280-c88045117e4b" providerId="AD" clId="Web-{2C6830DD-A3FC-8E5A-1DD9-53EB254D24C6}" dt="2025-01-28T16:45:00.299" v="34"/>
      <pc:docMkLst>
        <pc:docMk/>
      </pc:docMkLst>
      <pc:sldChg chg="del">
        <pc:chgData name="Victoria Coker" userId="S::vicky.coker@manchester.ac.uk::d72aa273-31db-4826-9280-c88045117e4b" providerId="AD" clId="Web-{2C6830DD-A3FC-8E5A-1DD9-53EB254D24C6}" dt="2025-01-28T16:41:03.261" v="1"/>
        <pc:sldMkLst>
          <pc:docMk/>
          <pc:sldMk cId="2646549217" sldId="284"/>
        </pc:sldMkLst>
      </pc:sldChg>
      <pc:sldChg chg="modNotes">
        <pc:chgData name="Victoria Coker" userId="S::vicky.coker@manchester.ac.uk::d72aa273-31db-4826-9280-c88045117e4b" providerId="AD" clId="Web-{2C6830DD-A3FC-8E5A-1DD9-53EB254D24C6}" dt="2025-01-28T16:40:47.167" v="0"/>
        <pc:sldMkLst>
          <pc:docMk/>
          <pc:sldMk cId="2344663595" sldId="290"/>
        </pc:sldMkLst>
      </pc:sldChg>
      <pc:sldChg chg="del">
        <pc:chgData name="Victoria Coker" userId="S::vicky.coker@manchester.ac.uk::d72aa273-31db-4826-9280-c88045117e4b" providerId="AD" clId="Web-{2C6830DD-A3FC-8E5A-1DD9-53EB254D24C6}" dt="2025-01-28T16:41:03.933" v="2"/>
        <pc:sldMkLst>
          <pc:docMk/>
          <pc:sldMk cId="3040132793" sldId="292"/>
        </pc:sldMkLst>
      </pc:sldChg>
      <pc:sldChg chg="modNotes">
        <pc:chgData name="Victoria Coker" userId="S::vicky.coker@manchester.ac.uk::d72aa273-31db-4826-9280-c88045117e4b" providerId="AD" clId="Web-{2C6830DD-A3FC-8E5A-1DD9-53EB254D24C6}" dt="2025-01-28T16:41:42.716" v="6"/>
        <pc:sldMkLst>
          <pc:docMk/>
          <pc:sldMk cId="2480262840" sldId="339"/>
        </pc:sldMkLst>
      </pc:sldChg>
      <pc:sldChg chg="modNotes">
        <pc:chgData name="Victoria Coker" userId="S::vicky.coker@manchester.ac.uk::d72aa273-31db-4826-9280-c88045117e4b" providerId="AD" clId="Web-{2C6830DD-A3FC-8E5A-1DD9-53EB254D24C6}" dt="2025-01-28T16:41:45.185" v="7"/>
        <pc:sldMkLst>
          <pc:docMk/>
          <pc:sldMk cId="1492908790" sldId="340"/>
        </pc:sldMkLst>
      </pc:sldChg>
      <pc:sldChg chg="modNotes">
        <pc:chgData name="Victoria Coker" userId="S::vicky.coker@manchester.ac.uk::d72aa273-31db-4826-9280-c88045117e4b" providerId="AD" clId="Web-{2C6830DD-A3FC-8E5A-1DD9-53EB254D24C6}" dt="2025-01-28T16:41:55.450" v="9"/>
        <pc:sldMkLst>
          <pc:docMk/>
          <pc:sldMk cId="3802297321" sldId="343"/>
        </pc:sldMkLst>
      </pc:sldChg>
      <pc:sldChg chg="modNotes">
        <pc:chgData name="Victoria Coker" userId="S::vicky.coker@manchester.ac.uk::d72aa273-31db-4826-9280-c88045117e4b" providerId="AD" clId="Web-{2C6830DD-A3FC-8E5A-1DD9-53EB254D24C6}" dt="2025-01-28T16:42:10.591" v="13"/>
        <pc:sldMkLst>
          <pc:docMk/>
          <pc:sldMk cId="2074765168" sldId="354"/>
        </pc:sldMkLst>
      </pc:sldChg>
      <pc:sldChg chg="modNotes">
        <pc:chgData name="Victoria Coker" userId="S::vicky.coker@manchester.ac.uk::d72aa273-31db-4826-9280-c88045117e4b" providerId="AD" clId="Web-{2C6830DD-A3FC-8E5A-1DD9-53EB254D24C6}" dt="2025-01-28T16:42:06.451" v="12"/>
        <pc:sldMkLst>
          <pc:docMk/>
          <pc:sldMk cId="119284296" sldId="363"/>
        </pc:sldMkLst>
      </pc:sldChg>
      <pc:sldChg chg="del">
        <pc:chgData name="Victoria Coker" userId="S::vicky.coker@manchester.ac.uk::d72aa273-31db-4826-9280-c88045117e4b" providerId="AD" clId="Web-{2C6830DD-A3FC-8E5A-1DD9-53EB254D24C6}" dt="2025-01-28T16:43:36.438" v="21"/>
        <pc:sldMkLst>
          <pc:docMk/>
          <pc:sldMk cId="1113677060" sldId="366"/>
        </pc:sldMkLst>
      </pc:sldChg>
      <pc:sldChg chg="modNotes">
        <pc:chgData name="Victoria Coker" userId="S::vicky.coker@manchester.ac.uk::d72aa273-31db-4826-9280-c88045117e4b" providerId="AD" clId="Web-{2C6830DD-A3FC-8E5A-1DD9-53EB254D24C6}" dt="2025-01-28T16:41:21.402" v="4"/>
        <pc:sldMkLst>
          <pc:docMk/>
          <pc:sldMk cId="219261335" sldId="367"/>
        </pc:sldMkLst>
      </pc:sldChg>
      <pc:sldChg chg="modNotes">
        <pc:chgData name="Victoria Coker" userId="S::vicky.coker@manchester.ac.uk::d72aa273-31db-4826-9280-c88045117e4b" providerId="AD" clId="Web-{2C6830DD-A3FC-8E5A-1DD9-53EB254D24C6}" dt="2025-01-28T16:44:20.767" v="27"/>
        <pc:sldMkLst>
          <pc:docMk/>
          <pc:sldMk cId="3128461445" sldId="369"/>
        </pc:sldMkLst>
      </pc:sldChg>
      <pc:sldChg chg="modNotes">
        <pc:chgData name="Victoria Coker" userId="S::vicky.coker@manchester.ac.uk::d72aa273-31db-4826-9280-c88045117e4b" providerId="AD" clId="Web-{2C6830DD-A3FC-8E5A-1DD9-53EB254D24C6}" dt="2025-01-28T16:42:19.498" v="15"/>
        <pc:sldMkLst>
          <pc:docMk/>
          <pc:sldMk cId="3021730066" sldId="371"/>
        </pc:sldMkLst>
      </pc:sldChg>
      <pc:sldChg chg="modNotes">
        <pc:chgData name="Victoria Coker" userId="S::vicky.coker@manchester.ac.uk::d72aa273-31db-4826-9280-c88045117e4b" providerId="AD" clId="Web-{2C6830DD-A3FC-8E5A-1DD9-53EB254D24C6}" dt="2025-01-28T16:42:23.904" v="16"/>
        <pc:sldMkLst>
          <pc:docMk/>
          <pc:sldMk cId="2934800556" sldId="373"/>
        </pc:sldMkLst>
      </pc:sldChg>
      <pc:sldChg chg="modNotes">
        <pc:chgData name="Victoria Coker" userId="S::vicky.coker@manchester.ac.uk::d72aa273-31db-4826-9280-c88045117e4b" providerId="AD" clId="Web-{2C6830DD-A3FC-8E5A-1DD9-53EB254D24C6}" dt="2025-01-28T16:42:27.123" v="17"/>
        <pc:sldMkLst>
          <pc:docMk/>
          <pc:sldMk cId="2439424343" sldId="374"/>
        </pc:sldMkLst>
      </pc:sldChg>
      <pc:sldChg chg="del">
        <pc:chgData name="Victoria Coker" userId="S::vicky.coker@manchester.ac.uk::d72aa273-31db-4826-9280-c88045117e4b" providerId="AD" clId="Web-{2C6830DD-A3FC-8E5A-1DD9-53EB254D24C6}" dt="2025-01-28T16:42:51.671" v="18"/>
        <pc:sldMkLst>
          <pc:docMk/>
          <pc:sldMk cId="51045436" sldId="377"/>
        </pc:sldMkLst>
      </pc:sldChg>
      <pc:sldChg chg="modNotes">
        <pc:chgData name="Victoria Coker" userId="S::vicky.coker@manchester.ac.uk::d72aa273-31db-4826-9280-c88045117e4b" providerId="AD" clId="Web-{2C6830DD-A3FC-8E5A-1DD9-53EB254D24C6}" dt="2025-01-28T16:43:11.468" v="20"/>
        <pc:sldMkLst>
          <pc:docMk/>
          <pc:sldMk cId="582355211" sldId="378"/>
        </pc:sldMkLst>
      </pc:sldChg>
      <pc:sldChg chg="modNotes">
        <pc:chgData name="Victoria Coker" userId="S::vicky.coker@manchester.ac.uk::d72aa273-31db-4826-9280-c88045117e4b" providerId="AD" clId="Web-{2C6830DD-A3FC-8E5A-1DD9-53EB254D24C6}" dt="2025-01-28T16:43:07.593" v="19"/>
        <pc:sldMkLst>
          <pc:docMk/>
          <pc:sldMk cId="1432295936" sldId="381"/>
        </pc:sldMkLst>
      </pc:sldChg>
      <pc:sldChg chg="modNotes">
        <pc:chgData name="Victoria Coker" userId="S::vicky.coker@manchester.ac.uk::d72aa273-31db-4826-9280-c88045117e4b" providerId="AD" clId="Web-{2C6830DD-A3FC-8E5A-1DD9-53EB254D24C6}" dt="2025-01-28T16:44:47.518" v="32"/>
        <pc:sldMkLst>
          <pc:docMk/>
          <pc:sldMk cId="312003357" sldId="385"/>
        </pc:sldMkLst>
      </pc:sldChg>
      <pc:sldChg chg="modNotes">
        <pc:chgData name="Victoria Coker" userId="S::vicky.coker@manchester.ac.uk::d72aa273-31db-4826-9280-c88045117e4b" providerId="AD" clId="Web-{2C6830DD-A3FC-8E5A-1DD9-53EB254D24C6}" dt="2025-01-28T16:41:27.106" v="5"/>
        <pc:sldMkLst>
          <pc:docMk/>
          <pc:sldMk cId="825485846" sldId="392"/>
        </pc:sldMkLst>
      </pc:sldChg>
      <pc:sldChg chg="del modNotes">
        <pc:chgData name="Victoria Coker" userId="S::vicky.coker@manchester.ac.uk::d72aa273-31db-4826-9280-c88045117e4b" providerId="AD" clId="Web-{2C6830DD-A3FC-8E5A-1DD9-53EB254D24C6}" dt="2025-01-28T16:45:00.299" v="34"/>
        <pc:sldMkLst>
          <pc:docMk/>
          <pc:sldMk cId="1947567778" sldId="398"/>
        </pc:sldMkLst>
      </pc:sldChg>
      <pc:sldChg chg="modNotes">
        <pc:chgData name="Victoria Coker" userId="S::vicky.coker@manchester.ac.uk::d72aa273-31db-4826-9280-c88045117e4b" providerId="AD" clId="Web-{2C6830DD-A3FC-8E5A-1DD9-53EB254D24C6}" dt="2025-01-28T16:44:04.360" v="25"/>
        <pc:sldMkLst>
          <pc:docMk/>
          <pc:sldMk cId="1948346074" sldId="423"/>
        </pc:sldMkLst>
      </pc:sldChg>
      <pc:sldChg chg="modNotes">
        <pc:chgData name="Victoria Coker" userId="S::vicky.coker@manchester.ac.uk::d72aa273-31db-4826-9280-c88045117e4b" providerId="AD" clId="Web-{2C6830DD-A3FC-8E5A-1DD9-53EB254D24C6}" dt="2025-01-28T16:44:35.049" v="30"/>
        <pc:sldMkLst>
          <pc:docMk/>
          <pc:sldMk cId="2872159384" sldId="429"/>
        </pc:sldMkLst>
      </pc:sldChg>
      <pc:sldChg chg="modNotes">
        <pc:chgData name="Victoria Coker" userId="S::vicky.coker@manchester.ac.uk::d72aa273-31db-4826-9280-c88045117e4b" providerId="AD" clId="Web-{2C6830DD-A3FC-8E5A-1DD9-53EB254D24C6}" dt="2025-01-28T16:43:57.282" v="24"/>
        <pc:sldMkLst>
          <pc:docMk/>
          <pc:sldMk cId="1562693148" sldId="431"/>
        </pc:sldMkLst>
      </pc:sldChg>
      <pc:sldChg chg="modNotes">
        <pc:chgData name="Victoria Coker" userId="S::vicky.coker@manchester.ac.uk::d72aa273-31db-4826-9280-c88045117e4b" providerId="AD" clId="Web-{2C6830DD-A3FC-8E5A-1DD9-53EB254D24C6}" dt="2025-01-28T16:42:02.685" v="11"/>
        <pc:sldMkLst>
          <pc:docMk/>
          <pc:sldMk cId="3766470488" sldId="862"/>
        </pc:sldMkLst>
      </pc:sldChg>
      <pc:sldChg chg="modNotes">
        <pc:chgData name="Victoria Coker" userId="S::vicky.coker@manchester.ac.uk::d72aa273-31db-4826-9280-c88045117e4b" providerId="AD" clId="Web-{2C6830DD-A3FC-8E5A-1DD9-53EB254D24C6}" dt="2025-01-28T16:44:26.033" v="28"/>
        <pc:sldMkLst>
          <pc:docMk/>
          <pc:sldMk cId="3163346144" sldId="864"/>
        </pc:sldMkLst>
      </pc:sldChg>
      <pc:sldChg chg="modNotes">
        <pc:chgData name="Victoria Coker" userId="S::vicky.coker@manchester.ac.uk::d72aa273-31db-4826-9280-c88045117e4b" providerId="AD" clId="Web-{2C6830DD-A3FC-8E5A-1DD9-53EB254D24C6}" dt="2025-01-28T16:44:28.502" v="29"/>
        <pc:sldMkLst>
          <pc:docMk/>
          <pc:sldMk cId="2235400078" sldId="865"/>
        </pc:sldMkLst>
      </pc:sldChg>
      <pc:sldChg chg="modNotes">
        <pc:chgData name="Victoria Coker" userId="S::vicky.coker@manchester.ac.uk::d72aa273-31db-4826-9280-c88045117e4b" providerId="AD" clId="Web-{2C6830DD-A3FC-8E5A-1DD9-53EB254D24C6}" dt="2025-01-28T16:41:48.794" v="8"/>
        <pc:sldMkLst>
          <pc:docMk/>
          <pc:sldMk cId="2006577436" sldId="871"/>
        </pc:sldMkLst>
      </pc:sldChg>
      <pc:sldChg chg="ord modNotes">
        <pc:chgData name="Victoria Coker" userId="S::vicky.coker@manchester.ac.uk::d72aa273-31db-4826-9280-c88045117e4b" providerId="AD" clId="Web-{2C6830DD-A3FC-8E5A-1DD9-53EB254D24C6}" dt="2025-01-28T16:43:47.157" v="23"/>
        <pc:sldMkLst>
          <pc:docMk/>
          <pc:sldMk cId="770993342" sldId="87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A34A02-1D46-416C-AB00-261DF632853E}"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7B6A8C08-CCDE-4A04-9300-00FE06F2BCD8}">
      <dgm:prSet/>
      <dgm:spPr/>
      <dgm:t>
        <a:bodyPr/>
        <a:lstStyle/>
        <a:p>
          <a:r>
            <a:rPr lang="en-GB"/>
            <a:t>What are the causes of urban water scarcity?</a:t>
          </a:r>
          <a:endParaRPr lang="en-US"/>
        </a:p>
      </dgm:t>
    </dgm:pt>
    <dgm:pt modelId="{0BFD0FC9-6383-40FE-A1AF-565D820E0165}" type="parTrans" cxnId="{75F017E3-D979-4AD8-B9C8-D4F719E5EAF2}">
      <dgm:prSet/>
      <dgm:spPr/>
      <dgm:t>
        <a:bodyPr/>
        <a:lstStyle/>
        <a:p>
          <a:endParaRPr lang="en-US"/>
        </a:p>
      </dgm:t>
    </dgm:pt>
    <dgm:pt modelId="{BCC5C19E-14F8-4030-A607-F7AF4346CCB6}" type="sibTrans" cxnId="{75F017E3-D979-4AD8-B9C8-D4F719E5EAF2}">
      <dgm:prSet/>
      <dgm:spPr/>
      <dgm:t>
        <a:bodyPr/>
        <a:lstStyle/>
        <a:p>
          <a:endParaRPr lang="en-US"/>
        </a:p>
      </dgm:t>
    </dgm:pt>
    <dgm:pt modelId="{0C39B98F-EAD0-4C5D-8E48-E7E635790C76}">
      <dgm:prSet/>
      <dgm:spPr/>
      <dgm:t>
        <a:bodyPr/>
        <a:lstStyle/>
        <a:p>
          <a:r>
            <a:rPr lang="en-GB"/>
            <a:t>What are the potential solutions for urban water scarcity?</a:t>
          </a:r>
          <a:endParaRPr lang="en-US"/>
        </a:p>
      </dgm:t>
    </dgm:pt>
    <dgm:pt modelId="{E3449D46-A7C4-481F-85B7-CB86F07BA4B7}" type="parTrans" cxnId="{1EE8EC2A-D023-49B9-9BD5-482A36EF0BCF}">
      <dgm:prSet/>
      <dgm:spPr/>
      <dgm:t>
        <a:bodyPr/>
        <a:lstStyle/>
        <a:p>
          <a:endParaRPr lang="en-US"/>
        </a:p>
      </dgm:t>
    </dgm:pt>
    <dgm:pt modelId="{0AF23D67-6C7B-4851-B926-108B91C21E6D}" type="sibTrans" cxnId="{1EE8EC2A-D023-49B9-9BD5-482A36EF0BCF}">
      <dgm:prSet/>
      <dgm:spPr/>
      <dgm:t>
        <a:bodyPr/>
        <a:lstStyle/>
        <a:p>
          <a:endParaRPr lang="en-US"/>
        </a:p>
      </dgm:t>
    </dgm:pt>
    <dgm:pt modelId="{AE8915EF-BC5E-40D2-A2E3-089B2C83F86F}">
      <dgm:prSet/>
      <dgm:spPr/>
      <dgm:t>
        <a:bodyPr/>
        <a:lstStyle/>
        <a:p>
          <a:r>
            <a:rPr lang="en-GB"/>
            <a:t>What are the environmental impacts of the solutions  for urban water scarcity?</a:t>
          </a:r>
          <a:endParaRPr lang="en-US"/>
        </a:p>
      </dgm:t>
    </dgm:pt>
    <dgm:pt modelId="{7383FE8F-890D-4E2F-BDD6-ABF2FF573942}" type="parTrans" cxnId="{F20FA555-1B08-4400-9486-7D0B5BB8C9FD}">
      <dgm:prSet/>
      <dgm:spPr/>
      <dgm:t>
        <a:bodyPr/>
        <a:lstStyle/>
        <a:p>
          <a:endParaRPr lang="en-US"/>
        </a:p>
      </dgm:t>
    </dgm:pt>
    <dgm:pt modelId="{0F766D4C-7CD9-4C43-9CB5-BD90E28BD313}" type="sibTrans" cxnId="{F20FA555-1B08-4400-9486-7D0B5BB8C9FD}">
      <dgm:prSet/>
      <dgm:spPr/>
      <dgm:t>
        <a:bodyPr/>
        <a:lstStyle/>
        <a:p>
          <a:endParaRPr lang="en-US"/>
        </a:p>
      </dgm:t>
    </dgm:pt>
    <dgm:pt modelId="{C87CE5A1-FB7D-479C-8E49-620BE1B34A60}" type="pres">
      <dgm:prSet presAssocID="{ABA34A02-1D46-416C-AB00-261DF632853E}" presName="linear" presStyleCnt="0">
        <dgm:presLayoutVars>
          <dgm:animLvl val="lvl"/>
          <dgm:resizeHandles val="exact"/>
        </dgm:presLayoutVars>
      </dgm:prSet>
      <dgm:spPr/>
    </dgm:pt>
    <dgm:pt modelId="{341C63A0-92E3-49C0-8CB0-E4BCC6A2CD03}" type="pres">
      <dgm:prSet presAssocID="{7B6A8C08-CCDE-4A04-9300-00FE06F2BCD8}" presName="parentText" presStyleLbl="node1" presStyleIdx="0" presStyleCnt="3">
        <dgm:presLayoutVars>
          <dgm:chMax val="0"/>
          <dgm:bulletEnabled val="1"/>
        </dgm:presLayoutVars>
      </dgm:prSet>
      <dgm:spPr/>
    </dgm:pt>
    <dgm:pt modelId="{D42FA18A-46E3-41D0-83FE-9E42E0C2EFAF}" type="pres">
      <dgm:prSet presAssocID="{BCC5C19E-14F8-4030-A607-F7AF4346CCB6}" presName="spacer" presStyleCnt="0"/>
      <dgm:spPr/>
    </dgm:pt>
    <dgm:pt modelId="{3FEDAC67-6B04-4451-B055-92ED07C0E256}" type="pres">
      <dgm:prSet presAssocID="{0C39B98F-EAD0-4C5D-8E48-E7E635790C76}" presName="parentText" presStyleLbl="node1" presStyleIdx="1" presStyleCnt="3">
        <dgm:presLayoutVars>
          <dgm:chMax val="0"/>
          <dgm:bulletEnabled val="1"/>
        </dgm:presLayoutVars>
      </dgm:prSet>
      <dgm:spPr/>
    </dgm:pt>
    <dgm:pt modelId="{AF1EBF36-57C5-401D-8A4C-E88FC6FCAE49}" type="pres">
      <dgm:prSet presAssocID="{0AF23D67-6C7B-4851-B926-108B91C21E6D}" presName="spacer" presStyleCnt="0"/>
      <dgm:spPr/>
    </dgm:pt>
    <dgm:pt modelId="{81A5979F-666F-4296-A90F-B0987E8BEB3A}" type="pres">
      <dgm:prSet presAssocID="{AE8915EF-BC5E-40D2-A2E3-089B2C83F86F}" presName="parentText" presStyleLbl="node1" presStyleIdx="2" presStyleCnt="3">
        <dgm:presLayoutVars>
          <dgm:chMax val="0"/>
          <dgm:bulletEnabled val="1"/>
        </dgm:presLayoutVars>
      </dgm:prSet>
      <dgm:spPr/>
    </dgm:pt>
  </dgm:ptLst>
  <dgm:cxnLst>
    <dgm:cxn modelId="{B8B43A00-D68F-46BB-A1AD-16BFEC704B69}" type="presOf" srcId="{ABA34A02-1D46-416C-AB00-261DF632853E}" destId="{C87CE5A1-FB7D-479C-8E49-620BE1B34A60}" srcOrd="0" destOrd="0" presId="urn:microsoft.com/office/officeart/2005/8/layout/vList2"/>
    <dgm:cxn modelId="{C8D3131C-0C32-47D9-A596-B3285D18796B}" type="presOf" srcId="{7B6A8C08-CCDE-4A04-9300-00FE06F2BCD8}" destId="{341C63A0-92E3-49C0-8CB0-E4BCC6A2CD03}" srcOrd="0" destOrd="0" presId="urn:microsoft.com/office/officeart/2005/8/layout/vList2"/>
    <dgm:cxn modelId="{1EE8EC2A-D023-49B9-9BD5-482A36EF0BCF}" srcId="{ABA34A02-1D46-416C-AB00-261DF632853E}" destId="{0C39B98F-EAD0-4C5D-8E48-E7E635790C76}" srcOrd="1" destOrd="0" parTransId="{E3449D46-A7C4-481F-85B7-CB86F07BA4B7}" sibTransId="{0AF23D67-6C7B-4851-B926-108B91C21E6D}"/>
    <dgm:cxn modelId="{F20FA555-1B08-4400-9486-7D0B5BB8C9FD}" srcId="{ABA34A02-1D46-416C-AB00-261DF632853E}" destId="{AE8915EF-BC5E-40D2-A2E3-089B2C83F86F}" srcOrd="2" destOrd="0" parTransId="{7383FE8F-890D-4E2F-BDD6-ABF2FF573942}" sibTransId="{0F766D4C-7CD9-4C43-9CB5-BD90E28BD313}"/>
    <dgm:cxn modelId="{FC6B8397-00D9-485E-B6D8-7FEF22624680}" type="presOf" srcId="{AE8915EF-BC5E-40D2-A2E3-089B2C83F86F}" destId="{81A5979F-666F-4296-A90F-B0987E8BEB3A}" srcOrd="0" destOrd="0" presId="urn:microsoft.com/office/officeart/2005/8/layout/vList2"/>
    <dgm:cxn modelId="{366AE8D8-4DA3-4F45-B461-8538A874AD99}" type="presOf" srcId="{0C39B98F-EAD0-4C5D-8E48-E7E635790C76}" destId="{3FEDAC67-6B04-4451-B055-92ED07C0E256}" srcOrd="0" destOrd="0" presId="urn:microsoft.com/office/officeart/2005/8/layout/vList2"/>
    <dgm:cxn modelId="{75F017E3-D979-4AD8-B9C8-D4F719E5EAF2}" srcId="{ABA34A02-1D46-416C-AB00-261DF632853E}" destId="{7B6A8C08-CCDE-4A04-9300-00FE06F2BCD8}" srcOrd="0" destOrd="0" parTransId="{0BFD0FC9-6383-40FE-A1AF-565D820E0165}" sibTransId="{BCC5C19E-14F8-4030-A607-F7AF4346CCB6}"/>
    <dgm:cxn modelId="{BB1B125D-D0E4-4AA6-948A-B8C5C17D8685}" type="presParOf" srcId="{C87CE5A1-FB7D-479C-8E49-620BE1B34A60}" destId="{341C63A0-92E3-49C0-8CB0-E4BCC6A2CD03}" srcOrd="0" destOrd="0" presId="urn:microsoft.com/office/officeart/2005/8/layout/vList2"/>
    <dgm:cxn modelId="{D38B5B4D-892A-425D-BCE3-65FD4E081CB0}" type="presParOf" srcId="{C87CE5A1-FB7D-479C-8E49-620BE1B34A60}" destId="{D42FA18A-46E3-41D0-83FE-9E42E0C2EFAF}" srcOrd="1" destOrd="0" presId="urn:microsoft.com/office/officeart/2005/8/layout/vList2"/>
    <dgm:cxn modelId="{B006C86F-270F-4BDE-8B0A-E42793CDB6CC}" type="presParOf" srcId="{C87CE5A1-FB7D-479C-8E49-620BE1B34A60}" destId="{3FEDAC67-6B04-4451-B055-92ED07C0E256}" srcOrd="2" destOrd="0" presId="urn:microsoft.com/office/officeart/2005/8/layout/vList2"/>
    <dgm:cxn modelId="{226C7078-5395-49FC-890E-0C8679552AC6}" type="presParOf" srcId="{C87CE5A1-FB7D-479C-8E49-620BE1B34A60}" destId="{AF1EBF36-57C5-401D-8A4C-E88FC6FCAE49}" srcOrd="3" destOrd="0" presId="urn:microsoft.com/office/officeart/2005/8/layout/vList2"/>
    <dgm:cxn modelId="{5B726A6A-65D9-4D5E-83E7-272916E5E3E2}" type="presParOf" srcId="{C87CE5A1-FB7D-479C-8E49-620BE1B34A60}" destId="{81A5979F-666F-4296-A90F-B0987E8BEB3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C63A0-92E3-49C0-8CB0-E4BCC6A2CD03}">
      <dsp:nvSpPr>
        <dsp:cNvPr id="0" name=""/>
        <dsp:cNvSpPr/>
      </dsp:nvSpPr>
      <dsp:spPr>
        <a:xfrm>
          <a:off x="0" y="36440"/>
          <a:ext cx="5000124" cy="1734159"/>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What are the causes of urban water scarcity?</a:t>
          </a:r>
          <a:endParaRPr lang="en-US" sz="3100" kern="1200"/>
        </a:p>
      </dsp:txBody>
      <dsp:txXfrm>
        <a:off x="84655" y="121095"/>
        <a:ext cx="4830814" cy="1564849"/>
      </dsp:txXfrm>
    </dsp:sp>
    <dsp:sp modelId="{3FEDAC67-6B04-4451-B055-92ED07C0E256}">
      <dsp:nvSpPr>
        <dsp:cNvPr id="0" name=""/>
        <dsp:cNvSpPr/>
      </dsp:nvSpPr>
      <dsp:spPr>
        <a:xfrm>
          <a:off x="0" y="1859880"/>
          <a:ext cx="5000124" cy="1734159"/>
        </a:xfrm>
        <a:prstGeom prst="roundRect">
          <a:avLst/>
        </a:prstGeom>
        <a:gradFill rotWithShape="0">
          <a:gsLst>
            <a:gs pos="0">
              <a:schemeClr val="accent5">
                <a:hueOff val="-4966938"/>
                <a:satOff val="19906"/>
                <a:lumOff val="4314"/>
                <a:alphaOff val="0"/>
                <a:shade val="51000"/>
                <a:satMod val="130000"/>
              </a:schemeClr>
            </a:gs>
            <a:gs pos="80000">
              <a:schemeClr val="accent5">
                <a:hueOff val="-4966938"/>
                <a:satOff val="19906"/>
                <a:lumOff val="4314"/>
                <a:alphaOff val="0"/>
                <a:shade val="93000"/>
                <a:satMod val="130000"/>
              </a:schemeClr>
            </a:gs>
            <a:gs pos="100000">
              <a:schemeClr val="accent5">
                <a:hueOff val="-4966938"/>
                <a:satOff val="19906"/>
                <a:lumOff val="431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What are the potential solutions for urban water scarcity?</a:t>
          </a:r>
          <a:endParaRPr lang="en-US" sz="3100" kern="1200"/>
        </a:p>
      </dsp:txBody>
      <dsp:txXfrm>
        <a:off x="84655" y="1944535"/>
        <a:ext cx="4830814" cy="1564849"/>
      </dsp:txXfrm>
    </dsp:sp>
    <dsp:sp modelId="{81A5979F-666F-4296-A90F-B0987E8BEB3A}">
      <dsp:nvSpPr>
        <dsp:cNvPr id="0" name=""/>
        <dsp:cNvSpPr/>
      </dsp:nvSpPr>
      <dsp:spPr>
        <a:xfrm>
          <a:off x="0" y="3683319"/>
          <a:ext cx="5000124" cy="1734159"/>
        </a:xfrm>
        <a:prstGeom prst="round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What are the environmental impacts of the solutions  for urban water scarcity?</a:t>
          </a:r>
          <a:endParaRPr lang="en-US" sz="3100" kern="1200"/>
        </a:p>
      </dsp:txBody>
      <dsp:txXfrm>
        <a:off x="84655" y="3767974"/>
        <a:ext cx="4830814" cy="15648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2"/>
            <a:ext cx="4341441" cy="344487"/>
          </a:xfrm>
          <a:prstGeom prst="rect">
            <a:avLst/>
          </a:prstGeom>
        </p:spPr>
        <p:txBody>
          <a:bodyPr vert="horz" lIns="91989" tIns="45995" rIns="91989" bIns="45995" rtlCol="0"/>
          <a:lstStyle>
            <a:lvl1pPr algn="l">
              <a:defRPr sz="1200"/>
            </a:lvl1pPr>
          </a:lstStyle>
          <a:p>
            <a:endParaRPr lang="en-GB"/>
          </a:p>
        </p:txBody>
      </p:sp>
      <p:sp>
        <p:nvSpPr>
          <p:cNvPr id="3" name="Date Placeholder 2"/>
          <p:cNvSpPr>
            <a:spLocks noGrp="1"/>
          </p:cNvSpPr>
          <p:nvPr>
            <p:ph type="dt" sz="quarter" idx="1"/>
          </p:nvPr>
        </p:nvSpPr>
        <p:spPr>
          <a:xfrm>
            <a:off x="5674957" y="2"/>
            <a:ext cx="4341441" cy="344487"/>
          </a:xfrm>
          <a:prstGeom prst="rect">
            <a:avLst/>
          </a:prstGeom>
        </p:spPr>
        <p:txBody>
          <a:bodyPr vert="horz" lIns="91989" tIns="45995" rIns="91989" bIns="45995" rtlCol="0"/>
          <a:lstStyle>
            <a:lvl1pPr algn="r">
              <a:defRPr sz="1200"/>
            </a:lvl1pPr>
          </a:lstStyle>
          <a:p>
            <a:fld id="{9707BEDF-FD3B-4B57-967C-302A0F3A6C4C}" type="datetimeFigureOut">
              <a:rPr lang="en-GB" smtClean="0"/>
              <a:t>28/01/2025</a:t>
            </a:fld>
            <a:endParaRPr lang="en-GB"/>
          </a:p>
        </p:txBody>
      </p:sp>
      <p:sp>
        <p:nvSpPr>
          <p:cNvPr id="4" name="Footer Placeholder 3"/>
          <p:cNvSpPr>
            <a:spLocks noGrp="1"/>
          </p:cNvSpPr>
          <p:nvPr>
            <p:ph type="ftr" sz="quarter" idx="2"/>
          </p:nvPr>
        </p:nvSpPr>
        <p:spPr>
          <a:xfrm>
            <a:off x="4" y="6544070"/>
            <a:ext cx="4341441" cy="344487"/>
          </a:xfrm>
          <a:prstGeom prst="rect">
            <a:avLst/>
          </a:prstGeom>
        </p:spPr>
        <p:txBody>
          <a:bodyPr vert="horz" lIns="91989" tIns="45995" rIns="91989" bIns="45995" rtlCol="0" anchor="b"/>
          <a:lstStyle>
            <a:lvl1pPr algn="l">
              <a:defRPr sz="1200"/>
            </a:lvl1pPr>
          </a:lstStyle>
          <a:p>
            <a:endParaRPr lang="en-GB"/>
          </a:p>
        </p:txBody>
      </p:sp>
      <p:sp>
        <p:nvSpPr>
          <p:cNvPr id="5" name="Slide Number Placeholder 4"/>
          <p:cNvSpPr>
            <a:spLocks noGrp="1"/>
          </p:cNvSpPr>
          <p:nvPr>
            <p:ph type="sldNum" sz="quarter" idx="3"/>
          </p:nvPr>
        </p:nvSpPr>
        <p:spPr>
          <a:xfrm>
            <a:off x="5674957" y="6544070"/>
            <a:ext cx="4341441" cy="344487"/>
          </a:xfrm>
          <a:prstGeom prst="rect">
            <a:avLst/>
          </a:prstGeom>
        </p:spPr>
        <p:txBody>
          <a:bodyPr vert="horz" lIns="91989" tIns="45995" rIns="91989" bIns="45995" rtlCol="0" anchor="b"/>
          <a:lstStyle>
            <a:lvl1pPr algn="r">
              <a:defRPr sz="1200"/>
            </a:lvl1pPr>
          </a:lstStyle>
          <a:p>
            <a:fld id="{6F606128-D91F-401F-ACC6-5DD0934A6672}" type="slidenum">
              <a:rPr lang="en-GB" smtClean="0"/>
              <a:t>‹#›</a:t>
            </a:fld>
            <a:endParaRPr lang="en-GB"/>
          </a:p>
        </p:txBody>
      </p:sp>
    </p:spTree>
    <p:extLst>
      <p:ext uri="{BB962C8B-B14F-4D97-AF65-F5344CB8AC3E}">
        <p14:creationId xmlns:p14="http://schemas.microsoft.com/office/powerpoint/2010/main" val="34000741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2"/>
            <a:ext cx="4341441" cy="344487"/>
          </a:xfrm>
          <a:prstGeom prst="rect">
            <a:avLst/>
          </a:prstGeom>
        </p:spPr>
        <p:txBody>
          <a:bodyPr vert="horz" lIns="91989" tIns="45995" rIns="91989" bIns="45995" rtlCol="0"/>
          <a:lstStyle>
            <a:lvl1pPr algn="l">
              <a:defRPr sz="1200"/>
            </a:lvl1pPr>
          </a:lstStyle>
          <a:p>
            <a:endParaRPr lang="en-GB"/>
          </a:p>
        </p:txBody>
      </p:sp>
      <p:sp>
        <p:nvSpPr>
          <p:cNvPr id="3" name="Date Placeholder 2"/>
          <p:cNvSpPr>
            <a:spLocks noGrp="1"/>
          </p:cNvSpPr>
          <p:nvPr>
            <p:ph type="dt" idx="1"/>
          </p:nvPr>
        </p:nvSpPr>
        <p:spPr>
          <a:xfrm>
            <a:off x="5674957" y="2"/>
            <a:ext cx="4341441" cy="344487"/>
          </a:xfrm>
          <a:prstGeom prst="rect">
            <a:avLst/>
          </a:prstGeom>
        </p:spPr>
        <p:txBody>
          <a:bodyPr vert="horz" lIns="91989" tIns="45995" rIns="91989" bIns="45995" rtlCol="0"/>
          <a:lstStyle>
            <a:lvl1pPr algn="r">
              <a:defRPr sz="1200"/>
            </a:lvl1pPr>
          </a:lstStyle>
          <a:p>
            <a:fld id="{0F3B30EB-BB50-4B88-B2B6-DB8BAC0DD713}" type="datetimeFigureOut">
              <a:rPr lang="en-GB" smtClean="0"/>
              <a:t>28/01/2025</a:t>
            </a:fld>
            <a:endParaRPr lang="en-GB"/>
          </a:p>
        </p:txBody>
      </p:sp>
      <p:sp>
        <p:nvSpPr>
          <p:cNvPr id="4" name="Slide Image Placeholder 3"/>
          <p:cNvSpPr>
            <a:spLocks noGrp="1" noRot="1" noChangeAspect="1"/>
          </p:cNvSpPr>
          <p:nvPr>
            <p:ph type="sldImg" idx="2"/>
          </p:nvPr>
        </p:nvSpPr>
        <p:spPr>
          <a:xfrm>
            <a:off x="3286125" y="515938"/>
            <a:ext cx="3446463" cy="2584450"/>
          </a:xfrm>
          <a:prstGeom prst="rect">
            <a:avLst/>
          </a:prstGeom>
          <a:noFill/>
          <a:ln w="12700">
            <a:solidFill>
              <a:prstClr val="black"/>
            </a:solidFill>
          </a:ln>
        </p:spPr>
        <p:txBody>
          <a:bodyPr vert="horz" lIns="91989" tIns="45995" rIns="91989" bIns="45995" rtlCol="0" anchor="ctr"/>
          <a:lstStyle/>
          <a:p>
            <a:endParaRPr lang="en-GB"/>
          </a:p>
        </p:txBody>
      </p:sp>
      <p:sp>
        <p:nvSpPr>
          <p:cNvPr id="5" name="Notes Placeholder 4"/>
          <p:cNvSpPr>
            <a:spLocks noGrp="1"/>
          </p:cNvSpPr>
          <p:nvPr>
            <p:ph type="body" sz="quarter" idx="3"/>
          </p:nvPr>
        </p:nvSpPr>
        <p:spPr>
          <a:xfrm>
            <a:off x="1001873" y="3272633"/>
            <a:ext cx="8014970" cy="3100388"/>
          </a:xfrm>
          <a:prstGeom prst="rect">
            <a:avLst/>
          </a:prstGeom>
        </p:spPr>
        <p:txBody>
          <a:bodyPr vert="horz" lIns="91989" tIns="45995" rIns="91989" bIns="4599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4" y="6544070"/>
            <a:ext cx="4341441" cy="344487"/>
          </a:xfrm>
          <a:prstGeom prst="rect">
            <a:avLst/>
          </a:prstGeom>
        </p:spPr>
        <p:txBody>
          <a:bodyPr vert="horz" lIns="91989" tIns="45995" rIns="91989" bIns="45995" rtlCol="0" anchor="b"/>
          <a:lstStyle>
            <a:lvl1pPr algn="l">
              <a:defRPr sz="1200"/>
            </a:lvl1pPr>
          </a:lstStyle>
          <a:p>
            <a:endParaRPr lang="en-GB"/>
          </a:p>
        </p:txBody>
      </p:sp>
      <p:sp>
        <p:nvSpPr>
          <p:cNvPr id="7" name="Slide Number Placeholder 6"/>
          <p:cNvSpPr>
            <a:spLocks noGrp="1"/>
          </p:cNvSpPr>
          <p:nvPr>
            <p:ph type="sldNum" sz="quarter" idx="5"/>
          </p:nvPr>
        </p:nvSpPr>
        <p:spPr>
          <a:xfrm>
            <a:off x="5674957" y="6544070"/>
            <a:ext cx="4341441" cy="344487"/>
          </a:xfrm>
          <a:prstGeom prst="rect">
            <a:avLst/>
          </a:prstGeom>
        </p:spPr>
        <p:txBody>
          <a:bodyPr vert="horz" lIns="91989" tIns="45995" rIns="91989" bIns="45995" rtlCol="0" anchor="b"/>
          <a:lstStyle>
            <a:lvl1pPr algn="r">
              <a:defRPr sz="1200"/>
            </a:lvl1pPr>
          </a:lstStyle>
          <a:p>
            <a:fld id="{970FA88C-524C-42C0-8773-76F368B52736}" type="slidenum">
              <a:rPr lang="en-GB" smtClean="0"/>
              <a:t>‹#›</a:t>
            </a:fld>
            <a:endParaRPr lang="en-GB"/>
          </a:p>
        </p:txBody>
      </p:sp>
    </p:spTree>
    <p:extLst>
      <p:ext uri="{BB962C8B-B14F-4D97-AF65-F5344CB8AC3E}">
        <p14:creationId xmlns:p14="http://schemas.microsoft.com/office/powerpoint/2010/main" val="3167128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1FEF3700-1EAA-AD40-B8C3-81278236E4FE}" type="slidenum">
              <a:rPr lang="en-US" smtClean="0"/>
              <a:t>2</a:t>
            </a:fld>
            <a:endParaRPr lang="en-US"/>
          </a:p>
        </p:txBody>
      </p:sp>
    </p:spTree>
    <p:extLst>
      <p:ext uri="{BB962C8B-B14F-4D97-AF65-F5344CB8AC3E}">
        <p14:creationId xmlns:p14="http://schemas.microsoft.com/office/powerpoint/2010/main" val="1037692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1FEF3700-1EAA-AD40-B8C3-81278236E4FE}" type="slidenum">
              <a:rPr lang="en-US" smtClean="0"/>
              <a:t>3</a:t>
            </a:fld>
            <a:endParaRPr lang="en-US"/>
          </a:p>
        </p:txBody>
      </p:sp>
    </p:spTree>
    <p:extLst>
      <p:ext uri="{BB962C8B-B14F-4D97-AF65-F5344CB8AC3E}">
        <p14:creationId xmlns:p14="http://schemas.microsoft.com/office/powerpoint/2010/main" val="1151771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charset="0"/>
              <a:buNone/>
              <a:defRPr/>
            </a:pPr>
            <a:endParaRPr lang="en-GB" dirty="0">
              <a:solidFill>
                <a:schemeClr val="tx2"/>
              </a:solidFill>
              <a:latin typeface="Book Antiqua" charset="0"/>
            </a:endParaRPr>
          </a:p>
        </p:txBody>
      </p:sp>
      <p:sp>
        <p:nvSpPr>
          <p:cNvPr id="4" name="Slide Number Placeholder 3"/>
          <p:cNvSpPr>
            <a:spLocks noGrp="1"/>
          </p:cNvSpPr>
          <p:nvPr>
            <p:ph type="sldNum" sz="quarter" idx="10"/>
          </p:nvPr>
        </p:nvSpPr>
        <p:spPr/>
        <p:txBody>
          <a:bodyPr/>
          <a:lstStyle/>
          <a:p>
            <a:fld id="{1FEF3700-1EAA-AD40-B8C3-81278236E4FE}" type="slidenum">
              <a:rPr lang="en-US" smtClean="0"/>
              <a:t>4</a:t>
            </a:fld>
            <a:endParaRPr lang="en-US"/>
          </a:p>
        </p:txBody>
      </p:sp>
    </p:spTree>
    <p:extLst>
      <p:ext uri="{BB962C8B-B14F-4D97-AF65-F5344CB8AC3E}">
        <p14:creationId xmlns:p14="http://schemas.microsoft.com/office/powerpoint/2010/main" val="2698247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FEF3700-1EAA-AD40-B8C3-81278236E4FE}" type="slidenum">
              <a:rPr lang="en-US" smtClean="0"/>
              <a:t>5</a:t>
            </a:fld>
            <a:endParaRPr lang="en-US"/>
          </a:p>
        </p:txBody>
      </p:sp>
    </p:spTree>
    <p:extLst>
      <p:ext uri="{BB962C8B-B14F-4D97-AF65-F5344CB8AC3E}">
        <p14:creationId xmlns:p14="http://schemas.microsoft.com/office/powerpoint/2010/main" val="2533389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7</a:t>
            </a:fld>
            <a:endParaRPr lang="en-US"/>
          </a:p>
        </p:txBody>
      </p:sp>
    </p:spTree>
    <p:extLst>
      <p:ext uri="{BB962C8B-B14F-4D97-AF65-F5344CB8AC3E}">
        <p14:creationId xmlns:p14="http://schemas.microsoft.com/office/powerpoint/2010/main" val="10163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9</a:t>
            </a:fld>
            <a:endParaRPr lang="en-US"/>
          </a:p>
        </p:txBody>
      </p:sp>
    </p:spTree>
    <p:extLst>
      <p:ext uri="{BB962C8B-B14F-4D97-AF65-F5344CB8AC3E}">
        <p14:creationId xmlns:p14="http://schemas.microsoft.com/office/powerpoint/2010/main" val="4143967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FEF3700-1EAA-AD40-B8C3-81278236E4FE}" type="slidenum">
              <a:rPr lang="en-US" smtClean="0"/>
              <a:t>11</a:t>
            </a:fld>
            <a:endParaRPr lang="en-US"/>
          </a:p>
        </p:txBody>
      </p:sp>
    </p:spTree>
    <p:extLst>
      <p:ext uri="{BB962C8B-B14F-4D97-AF65-F5344CB8AC3E}">
        <p14:creationId xmlns:p14="http://schemas.microsoft.com/office/powerpoint/2010/main" val="1146981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12</a:t>
            </a:fld>
            <a:endParaRPr lang="en-US"/>
          </a:p>
        </p:txBody>
      </p:sp>
    </p:spTree>
    <p:extLst>
      <p:ext uri="{BB962C8B-B14F-4D97-AF65-F5344CB8AC3E}">
        <p14:creationId xmlns:p14="http://schemas.microsoft.com/office/powerpoint/2010/main" val="21636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1FEF3700-1EAA-AD40-B8C3-81278236E4FE}" type="slidenum">
              <a:rPr lang="en-US" smtClean="0"/>
              <a:t>15</a:t>
            </a:fld>
            <a:endParaRPr lang="en-US"/>
          </a:p>
        </p:txBody>
      </p:sp>
    </p:spTree>
    <p:extLst>
      <p:ext uri="{BB962C8B-B14F-4D97-AF65-F5344CB8AC3E}">
        <p14:creationId xmlns:p14="http://schemas.microsoft.com/office/powerpoint/2010/main" val="1079553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18</a:t>
            </a:fld>
            <a:endParaRPr lang="en-GB"/>
          </a:p>
        </p:txBody>
      </p:sp>
    </p:spTree>
    <p:extLst>
      <p:ext uri="{BB962C8B-B14F-4D97-AF65-F5344CB8AC3E}">
        <p14:creationId xmlns:p14="http://schemas.microsoft.com/office/powerpoint/2010/main" val="254169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19</a:t>
            </a:fld>
            <a:endParaRPr lang="en-GB"/>
          </a:p>
        </p:txBody>
      </p:sp>
    </p:spTree>
    <p:extLst>
      <p:ext uri="{BB962C8B-B14F-4D97-AF65-F5344CB8AC3E}">
        <p14:creationId xmlns:p14="http://schemas.microsoft.com/office/powerpoint/2010/main" val="748774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20</a:t>
            </a:fld>
            <a:endParaRPr lang="en-GB"/>
          </a:p>
        </p:txBody>
      </p:sp>
    </p:spTree>
    <p:extLst>
      <p:ext uri="{BB962C8B-B14F-4D97-AF65-F5344CB8AC3E}">
        <p14:creationId xmlns:p14="http://schemas.microsoft.com/office/powerpoint/2010/main" val="2677010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22</a:t>
            </a:fld>
            <a:endParaRPr lang="en-GB"/>
          </a:p>
        </p:txBody>
      </p:sp>
    </p:spTree>
    <p:extLst>
      <p:ext uri="{BB962C8B-B14F-4D97-AF65-F5344CB8AC3E}">
        <p14:creationId xmlns:p14="http://schemas.microsoft.com/office/powerpoint/2010/main" val="1027365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23</a:t>
            </a:fld>
            <a:endParaRPr lang="en-GB"/>
          </a:p>
        </p:txBody>
      </p:sp>
    </p:spTree>
    <p:extLst>
      <p:ext uri="{BB962C8B-B14F-4D97-AF65-F5344CB8AC3E}">
        <p14:creationId xmlns:p14="http://schemas.microsoft.com/office/powerpoint/2010/main" val="3603172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24</a:t>
            </a:fld>
            <a:endParaRPr lang="en-GB"/>
          </a:p>
        </p:txBody>
      </p:sp>
    </p:spTree>
    <p:extLst>
      <p:ext uri="{BB962C8B-B14F-4D97-AF65-F5344CB8AC3E}">
        <p14:creationId xmlns:p14="http://schemas.microsoft.com/office/powerpoint/2010/main" val="2732263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25</a:t>
            </a:fld>
            <a:endParaRPr lang="en-GB"/>
          </a:p>
        </p:txBody>
      </p:sp>
    </p:spTree>
    <p:extLst>
      <p:ext uri="{BB962C8B-B14F-4D97-AF65-F5344CB8AC3E}">
        <p14:creationId xmlns:p14="http://schemas.microsoft.com/office/powerpoint/2010/main" val="3047383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26</a:t>
            </a:fld>
            <a:endParaRPr lang="en-GB"/>
          </a:p>
        </p:txBody>
      </p:sp>
    </p:spTree>
    <p:extLst>
      <p:ext uri="{BB962C8B-B14F-4D97-AF65-F5344CB8AC3E}">
        <p14:creationId xmlns:p14="http://schemas.microsoft.com/office/powerpoint/2010/main" val="2972496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29</a:t>
            </a:fld>
            <a:endParaRPr lang="en-GB"/>
          </a:p>
        </p:txBody>
      </p:sp>
    </p:spTree>
    <p:extLst>
      <p:ext uri="{BB962C8B-B14F-4D97-AF65-F5344CB8AC3E}">
        <p14:creationId xmlns:p14="http://schemas.microsoft.com/office/powerpoint/2010/main" val="1390047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solidFill>
                <a:srgbClr val="202124"/>
              </a:solidFill>
              <a:latin typeface="arial"/>
              <a:cs typeface="arial"/>
            </a:endParaRPr>
          </a:p>
        </p:txBody>
      </p:sp>
      <p:sp>
        <p:nvSpPr>
          <p:cNvPr id="4" name="Slide Number Placeholder 3"/>
          <p:cNvSpPr>
            <a:spLocks noGrp="1"/>
          </p:cNvSpPr>
          <p:nvPr>
            <p:ph type="sldNum" sz="quarter" idx="5"/>
          </p:nvPr>
        </p:nvSpPr>
        <p:spPr/>
        <p:txBody>
          <a:bodyPr/>
          <a:lstStyle/>
          <a:p>
            <a:fld id="{970FA88C-524C-42C0-8773-76F368B52736}" type="slidenum">
              <a:rPr lang="en-GB" smtClean="0"/>
              <a:t>34</a:t>
            </a:fld>
            <a:endParaRPr lang="en-GB"/>
          </a:p>
        </p:txBody>
      </p:sp>
    </p:spTree>
    <p:extLst>
      <p:ext uri="{BB962C8B-B14F-4D97-AF65-F5344CB8AC3E}">
        <p14:creationId xmlns:p14="http://schemas.microsoft.com/office/powerpoint/2010/main" val="3626248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35</a:t>
            </a:fld>
            <a:endParaRPr lang="en-GB"/>
          </a:p>
        </p:txBody>
      </p:sp>
    </p:spTree>
    <p:extLst>
      <p:ext uri="{BB962C8B-B14F-4D97-AF65-F5344CB8AC3E}">
        <p14:creationId xmlns:p14="http://schemas.microsoft.com/office/powerpoint/2010/main" val="4272015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70FA88C-524C-42C0-8773-76F368B52736}" type="slidenum">
              <a:rPr lang="en-GB" smtClean="0"/>
              <a:t>36</a:t>
            </a:fld>
            <a:endParaRPr lang="en-GB"/>
          </a:p>
        </p:txBody>
      </p:sp>
    </p:spTree>
    <p:extLst>
      <p:ext uri="{BB962C8B-B14F-4D97-AF65-F5344CB8AC3E}">
        <p14:creationId xmlns:p14="http://schemas.microsoft.com/office/powerpoint/2010/main" val="1180879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38</a:t>
            </a:fld>
            <a:endParaRPr lang="en-GB"/>
          </a:p>
        </p:txBody>
      </p:sp>
    </p:spTree>
    <p:extLst>
      <p:ext uri="{BB962C8B-B14F-4D97-AF65-F5344CB8AC3E}">
        <p14:creationId xmlns:p14="http://schemas.microsoft.com/office/powerpoint/2010/main" val="30385662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39</a:t>
            </a:fld>
            <a:endParaRPr lang="en-GB"/>
          </a:p>
        </p:txBody>
      </p:sp>
    </p:spTree>
    <p:extLst>
      <p:ext uri="{BB962C8B-B14F-4D97-AF65-F5344CB8AC3E}">
        <p14:creationId xmlns:p14="http://schemas.microsoft.com/office/powerpoint/2010/main" val="748774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40</a:t>
            </a:fld>
            <a:endParaRPr lang="en-GB"/>
          </a:p>
        </p:txBody>
      </p:sp>
    </p:spTree>
    <p:extLst>
      <p:ext uri="{BB962C8B-B14F-4D97-AF65-F5344CB8AC3E}">
        <p14:creationId xmlns:p14="http://schemas.microsoft.com/office/powerpoint/2010/main" val="3074427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41</a:t>
            </a:fld>
            <a:endParaRPr lang="en-GB"/>
          </a:p>
        </p:txBody>
      </p:sp>
    </p:spTree>
    <p:extLst>
      <p:ext uri="{BB962C8B-B14F-4D97-AF65-F5344CB8AC3E}">
        <p14:creationId xmlns:p14="http://schemas.microsoft.com/office/powerpoint/2010/main" val="3439110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42</a:t>
            </a:fld>
            <a:endParaRPr lang="en-GB"/>
          </a:p>
        </p:txBody>
      </p:sp>
    </p:spTree>
    <p:extLst>
      <p:ext uri="{BB962C8B-B14F-4D97-AF65-F5344CB8AC3E}">
        <p14:creationId xmlns:p14="http://schemas.microsoft.com/office/powerpoint/2010/main" val="20793647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43</a:t>
            </a:fld>
            <a:endParaRPr lang="en-GB"/>
          </a:p>
        </p:txBody>
      </p:sp>
    </p:spTree>
    <p:extLst>
      <p:ext uri="{BB962C8B-B14F-4D97-AF65-F5344CB8AC3E}">
        <p14:creationId xmlns:p14="http://schemas.microsoft.com/office/powerpoint/2010/main" val="28950448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44</a:t>
            </a:fld>
            <a:endParaRPr lang="en-GB"/>
          </a:p>
        </p:txBody>
      </p:sp>
    </p:spTree>
    <p:extLst>
      <p:ext uri="{BB962C8B-B14F-4D97-AF65-F5344CB8AC3E}">
        <p14:creationId xmlns:p14="http://schemas.microsoft.com/office/powerpoint/2010/main" val="42432451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Lato"/>
              <a:ea typeface="Lato"/>
              <a:cs typeface="Lato"/>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45</a:t>
            </a:fld>
            <a:endParaRPr lang="en-GB"/>
          </a:p>
        </p:txBody>
      </p:sp>
    </p:spTree>
    <p:extLst>
      <p:ext uri="{BB962C8B-B14F-4D97-AF65-F5344CB8AC3E}">
        <p14:creationId xmlns:p14="http://schemas.microsoft.com/office/powerpoint/2010/main" val="44657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46</a:t>
            </a:fld>
            <a:endParaRPr lang="en-GB"/>
          </a:p>
        </p:txBody>
      </p:sp>
    </p:spTree>
    <p:extLst>
      <p:ext uri="{BB962C8B-B14F-4D97-AF65-F5344CB8AC3E}">
        <p14:creationId xmlns:p14="http://schemas.microsoft.com/office/powerpoint/2010/main" val="2297233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47</a:t>
            </a:fld>
            <a:endParaRPr lang="en-GB"/>
          </a:p>
        </p:txBody>
      </p:sp>
    </p:spTree>
    <p:extLst>
      <p:ext uri="{BB962C8B-B14F-4D97-AF65-F5344CB8AC3E}">
        <p14:creationId xmlns:p14="http://schemas.microsoft.com/office/powerpoint/2010/main" val="7484532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50</a:t>
            </a:fld>
            <a:endParaRPr lang="en-GB"/>
          </a:p>
        </p:txBody>
      </p:sp>
    </p:spTree>
    <p:extLst>
      <p:ext uri="{BB962C8B-B14F-4D97-AF65-F5344CB8AC3E}">
        <p14:creationId xmlns:p14="http://schemas.microsoft.com/office/powerpoint/2010/main" val="13632427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51</a:t>
            </a:fld>
            <a:endParaRPr lang="en-GB"/>
          </a:p>
        </p:txBody>
      </p:sp>
    </p:spTree>
    <p:extLst>
      <p:ext uri="{BB962C8B-B14F-4D97-AF65-F5344CB8AC3E}">
        <p14:creationId xmlns:p14="http://schemas.microsoft.com/office/powerpoint/2010/main" val="271824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52</a:t>
            </a:fld>
            <a:endParaRPr lang="en-GB"/>
          </a:p>
        </p:txBody>
      </p:sp>
    </p:spTree>
    <p:extLst>
      <p:ext uri="{BB962C8B-B14F-4D97-AF65-F5344CB8AC3E}">
        <p14:creationId xmlns:p14="http://schemas.microsoft.com/office/powerpoint/2010/main" val="20290994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53</a:t>
            </a:fld>
            <a:endParaRPr lang="en-GB"/>
          </a:p>
        </p:txBody>
      </p:sp>
    </p:spTree>
    <p:extLst>
      <p:ext uri="{BB962C8B-B14F-4D97-AF65-F5344CB8AC3E}">
        <p14:creationId xmlns:p14="http://schemas.microsoft.com/office/powerpoint/2010/main" val="19780040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54</a:t>
            </a:fld>
            <a:endParaRPr lang="en-GB"/>
          </a:p>
        </p:txBody>
      </p:sp>
    </p:spTree>
    <p:extLst>
      <p:ext uri="{BB962C8B-B14F-4D97-AF65-F5344CB8AC3E}">
        <p14:creationId xmlns:p14="http://schemas.microsoft.com/office/powerpoint/2010/main" val="22753080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5"/>
          </p:nvPr>
        </p:nvSpPr>
        <p:spPr/>
        <p:txBody>
          <a:bodyPr/>
          <a:lstStyle/>
          <a:p>
            <a:fld id="{970FA88C-524C-42C0-8773-76F368B52736}" type="slidenum">
              <a:rPr lang="en-GB" smtClean="0"/>
              <a:t>62</a:t>
            </a:fld>
            <a:endParaRPr lang="en-GB"/>
          </a:p>
        </p:txBody>
      </p:sp>
    </p:spTree>
    <p:extLst>
      <p:ext uri="{BB962C8B-B14F-4D97-AF65-F5344CB8AC3E}">
        <p14:creationId xmlns:p14="http://schemas.microsoft.com/office/powerpoint/2010/main" val="1640367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sz="2400">
                <a:solidFill>
                  <a:schemeClr val="tx1"/>
                </a:solidFill>
                <a:latin typeface="Arial" pitchFamily="34" charset="0"/>
                <a:ea typeface="ＭＳ Ｐゴシック" pitchFamily="34" charset="-128"/>
              </a:defRPr>
            </a:lvl1pPr>
            <a:lvl2pPr marL="774364" indent="-297832">
              <a:defRPr sz="2400">
                <a:solidFill>
                  <a:schemeClr val="tx1"/>
                </a:solidFill>
                <a:latin typeface="Arial" pitchFamily="34" charset="0"/>
                <a:ea typeface="ＭＳ Ｐゴシック" pitchFamily="34" charset="-128"/>
              </a:defRPr>
            </a:lvl2pPr>
            <a:lvl3pPr marL="1191328" indent="-238266">
              <a:defRPr sz="2400">
                <a:solidFill>
                  <a:schemeClr val="tx1"/>
                </a:solidFill>
                <a:latin typeface="Arial" pitchFamily="34" charset="0"/>
                <a:ea typeface="ＭＳ Ｐゴシック" pitchFamily="34" charset="-128"/>
              </a:defRPr>
            </a:lvl3pPr>
            <a:lvl4pPr marL="1667861" indent="-238266">
              <a:defRPr sz="2400">
                <a:solidFill>
                  <a:schemeClr val="tx1"/>
                </a:solidFill>
                <a:latin typeface="Arial" pitchFamily="34" charset="0"/>
                <a:ea typeface="ＭＳ Ｐゴシック" pitchFamily="34" charset="-128"/>
              </a:defRPr>
            </a:lvl4pPr>
            <a:lvl5pPr marL="2144392" indent="-238266">
              <a:defRPr sz="2400">
                <a:solidFill>
                  <a:schemeClr val="tx1"/>
                </a:solidFill>
                <a:latin typeface="Arial" pitchFamily="34" charset="0"/>
                <a:ea typeface="ＭＳ Ｐゴシック" pitchFamily="34" charset="-128"/>
              </a:defRPr>
            </a:lvl5pPr>
            <a:lvl6pPr marL="2620922" indent="-23826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97455" indent="-23826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573986" indent="-23826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4050518" indent="-23826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DEC7C75-0787-4FD7-A770-96D21B36C525}" type="slidenum">
              <a:rPr lang="en-US" altLang="en-US" sz="1200"/>
              <a:pPr/>
              <a:t>60</a:t>
            </a:fld>
            <a:endParaRPr lang="en-US" alt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Rock formations through which groundwater flows in sufficient quantity to supply wells are called aquifers.</a:t>
            </a:r>
          </a:p>
          <a:p>
            <a:pPr eaLnBrk="1" hangingPunct="1"/>
            <a:r>
              <a:rPr lang="en-GB" altLang="en-US" dirty="0">
                <a:latin typeface="Arial" pitchFamily="34" charset="0"/>
                <a:ea typeface="ＭＳ Ｐゴシック" pitchFamily="34" charset="-128"/>
              </a:rPr>
              <a:t>I just want to talk to you about porosity and </a:t>
            </a:r>
            <a:r>
              <a:rPr lang="en-GB" altLang="en-US" dirty="0" err="1">
                <a:latin typeface="Arial" pitchFamily="34" charset="0"/>
                <a:ea typeface="ＭＳ Ｐゴシック" pitchFamily="34" charset="-128"/>
              </a:rPr>
              <a:t>permeabilityas</a:t>
            </a:r>
            <a:r>
              <a:rPr lang="en-GB" altLang="en-US" dirty="0">
                <a:latin typeface="Arial" pitchFamily="34" charset="0"/>
                <a:ea typeface="ＭＳ Ｐゴシック" pitchFamily="34" charset="-128"/>
              </a:rPr>
              <a:t> these are two really important Concepts when we're talking about </a:t>
            </a:r>
            <a:r>
              <a:rPr lang="en-GB" altLang="en-US" dirty="0" err="1">
                <a:latin typeface="Arial" pitchFamily="34" charset="0"/>
                <a:ea typeface="ＭＳ Ｐゴシック" pitchFamily="34" charset="-128"/>
              </a:rPr>
              <a:t>groundwaterin</a:t>
            </a:r>
            <a:r>
              <a:rPr lang="en-GB" altLang="en-US" dirty="0">
                <a:latin typeface="Arial" pitchFamily="34" charset="0"/>
                <a:ea typeface="ＭＳ Ｐゴシック" pitchFamily="34" charset="-128"/>
              </a:rPr>
              <a:t> terms of where we can store that water and how effectively we can store </a:t>
            </a:r>
            <a:r>
              <a:rPr lang="en-GB" altLang="en-US" dirty="0" err="1">
                <a:latin typeface="Arial" pitchFamily="34" charset="0"/>
                <a:ea typeface="ＭＳ Ｐゴシック" pitchFamily="34" charset="-128"/>
              </a:rPr>
              <a:t>thatwater</a:t>
            </a:r>
            <a:r>
              <a:rPr lang="en-GB" altLang="en-US" dirty="0">
                <a:latin typeface="Arial" pitchFamily="34" charset="0"/>
                <a:ea typeface="ＭＳ Ｐゴシック" pitchFamily="34" charset="-128"/>
              </a:rPr>
              <a:t>. So rock formations through which groundwater flow in sufficient </a:t>
            </a:r>
            <a:r>
              <a:rPr lang="en-GB" altLang="en-US" dirty="0" err="1">
                <a:latin typeface="Arial" pitchFamily="34" charset="0"/>
                <a:ea typeface="ＭＳ Ｐゴシック" pitchFamily="34" charset="-128"/>
              </a:rPr>
              <a:t>quantities.So</a:t>
            </a:r>
            <a:r>
              <a:rPr lang="en-GB" altLang="en-US" dirty="0">
                <a:latin typeface="Arial" pitchFamily="34" charset="0"/>
                <a:ea typeface="ＭＳ Ｐゴシック" pitchFamily="34" charset="-128"/>
              </a:rPr>
              <a:t> to supply, Wells are called, aquifer rocks. And an aquifer requires a </a:t>
            </a:r>
            <a:r>
              <a:rPr lang="en-GB" altLang="en-US" dirty="0" err="1">
                <a:latin typeface="Arial" pitchFamily="34" charset="0"/>
                <a:ea typeface="ＭＳ Ｐゴシック" pitchFamily="34" charset="-128"/>
              </a:rPr>
              <a:t>certaindegree</a:t>
            </a:r>
            <a:r>
              <a:rPr lang="en-GB" altLang="en-US" dirty="0">
                <a:latin typeface="Arial" pitchFamily="34" charset="0"/>
                <a:ea typeface="ＭＳ Ｐゴシック" pitchFamily="34" charset="-128"/>
              </a:rPr>
              <a:t> of porosity and porosity as defined by </a:t>
            </a:r>
            <a:r>
              <a:rPr lang="en-GB" altLang="en-US" dirty="0" err="1">
                <a:latin typeface="Arial" pitchFamily="34" charset="0"/>
                <a:ea typeface="ＭＳ Ｐゴシック" pitchFamily="34" charset="-128"/>
              </a:rPr>
              <a:t>Pettijohn</a:t>
            </a:r>
            <a:r>
              <a:rPr lang="en-GB" altLang="en-US" dirty="0">
                <a:latin typeface="Arial" pitchFamily="34" charset="0"/>
                <a:ea typeface="ＭＳ Ｐゴシック" pitchFamily="34" charset="-128"/>
              </a:rPr>
              <a:t>. A towel in 1972 is </a:t>
            </a:r>
            <a:r>
              <a:rPr lang="en-GB" altLang="en-US" dirty="0" err="1">
                <a:latin typeface="Arial" pitchFamily="34" charset="0"/>
                <a:ea typeface="ＭＳ Ｐゴシック" pitchFamily="34" charset="-128"/>
              </a:rPr>
              <a:t>thevoid</a:t>
            </a:r>
            <a:r>
              <a:rPr lang="en-GB" altLang="en-US" dirty="0">
                <a:latin typeface="Arial" pitchFamily="34" charset="0"/>
                <a:ea typeface="ＭＳ Ｐゴシック" pitchFamily="34" charset="-128"/>
              </a:rPr>
              <a:t> space as opposed to the solid phase within a rock and the void space </a:t>
            </a:r>
            <a:r>
              <a:rPr lang="en-GB" altLang="en-US" dirty="0" err="1">
                <a:latin typeface="Arial" pitchFamily="34" charset="0"/>
                <a:ea typeface="ＭＳ Ｐゴシック" pitchFamily="34" charset="-128"/>
              </a:rPr>
              <a:t>couldbe</a:t>
            </a:r>
            <a:r>
              <a:rPr lang="en-GB" altLang="en-US" dirty="0">
                <a:latin typeface="Arial" pitchFamily="34" charset="0"/>
                <a:ea typeface="ＭＳ Ｐゴシック" pitchFamily="34" charset="-128"/>
              </a:rPr>
              <a:t> in filled with either fluid or gas. So that fluid could be oil or brine or </a:t>
            </a:r>
            <a:r>
              <a:rPr lang="en-GB" altLang="en-US" dirty="0" err="1">
                <a:latin typeface="Arial" pitchFamily="34" charset="0"/>
                <a:ea typeface="ＭＳ Ｐゴシック" pitchFamily="34" charset="-128"/>
              </a:rPr>
              <a:t>waterin</a:t>
            </a:r>
            <a:r>
              <a:rPr lang="en-GB" altLang="en-US" dirty="0">
                <a:latin typeface="Arial" pitchFamily="34" charset="0"/>
                <a:ea typeface="ＭＳ Ｐゴシック" pitchFamily="34" charset="-128"/>
              </a:rPr>
              <a:t> our case or the gas could </a:t>
            </a:r>
            <a:r>
              <a:rPr lang="en-GB" altLang="en-US" dirty="0" err="1">
                <a:latin typeface="Arial" pitchFamily="34" charset="0"/>
                <a:ea typeface="ＭＳ Ｐゴシック" pitchFamily="34" charset="-128"/>
              </a:rPr>
              <a:t>be.A</a:t>
            </a:r>
            <a:r>
              <a:rPr lang="en-GB" altLang="en-US" dirty="0">
                <a:latin typeface="Arial" pitchFamily="34" charset="0"/>
                <a:ea typeface="ＭＳ Ｐゴシック" pitchFamily="34" charset="-128"/>
              </a:rPr>
              <a:t> hydrocarbon, for example, so, when I talk to you a bit later on, in the </a:t>
            </a:r>
            <a:r>
              <a:rPr lang="en-GB" altLang="en-US" dirty="0" err="1">
                <a:latin typeface="Arial" pitchFamily="34" charset="0"/>
                <a:ea typeface="ＭＳ Ｐゴシック" pitchFamily="34" charset="-128"/>
              </a:rPr>
              <a:t>semesterabout</a:t>
            </a:r>
            <a:r>
              <a:rPr lang="en-GB" altLang="en-US" dirty="0">
                <a:latin typeface="Arial" pitchFamily="34" charset="0"/>
                <a:ea typeface="ＭＳ Ｐゴシック" pitchFamily="34" charset="-128"/>
              </a:rPr>
              <a:t> oil and gas, exactly the same rock formations work, very well as an oil </a:t>
            </a:r>
            <a:r>
              <a:rPr lang="en-GB" altLang="en-US" dirty="0" err="1">
                <a:latin typeface="Arial" pitchFamily="34" charset="0"/>
                <a:ea typeface="ＭＳ Ｐゴシック" pitchFamily="34" charset="-128"/>
              </a:rPr>
              <a:t>andgas</a:t>
            </a:r>
            <a:r>
              <a:rPr lang="en-GB" altLang="en-US" dirty="0">
                <a:latin typeface="Arial" pitchFamily="34" charset="0"/>
                <a:ea typeface="ＭＳ Ｐゴシック" pitchFamily="34" charset="-128"/>
              </a:rPr>
              <a:t> Reservoir as they do for an aquifer </a:t>
            </a:r>
            <a:r>
              <a:rPr lang="en-GB" altLang="en-US" dirty="0" err="1">
                <a:latin typeface="Arial" pitchFamily="34" charset="0"/>
                <a:ea typeface="ＭＳ Ｐゴシック" pitchFamily="34" charset="-128"/>
              </a:rPr>
              <a:t>Rock.So</a:t>
            </a:r>
            <a:r>
              <a:rPr lang="en-GB" altLang="en-US" dirty="0">
                <a:latin typeface="Arial" pitchFamily="34" charset="0"/>
                <a:ea typeface="ＭＳ Ｐゴシック" pitchFamily="34" charset="-128"/>
              </a:rPr>
              <a:t> porosity, that first very important concept of these gaps in the Rock, such </a:t>
            </a:r>
            <a:r>
              <a:rPr lang="en-GB" altLang="en-US" dirty="0" err="1">
                <a:latin typeface="Arial" pitchFamily="34" charset="0"/>
                <a:ea typeface="ＭＳ Ｐゴシック" pitchFamily="34" charset="-128"/>
              </a:rPr>
              <a:t>asthis</a:t>
            </a:r>
            <a:r>
              <a:rPr lang="en-GB" altLang="en-US" dirty="0">
                <a:latin typeface="Arial" pitchFamily="34" charset="0"/>
                <a:ea typeface="ＭＳ Ｐゴシック" pitchFamily="34" charset="-128"/>
              </a:rPr>
              <a:t> one being pointed out here. And as you can see, different rocks, could </a:t>
            </a:r>
            <a:r>
              <a:rPr lang="en-GB" altLang="en-US" dirty="0" err="1">
                <a:latin typeface="Arial" pitchFamily="34" charset="0"/>
                <a:ea typeface="ＭＳ Ｐゴシック" pitchFamily="34" charset="-128"/>
              </a:rPr>
              <a:t>havedifferent</a:t>
            </a:r>
            <a:r>
              <a:rPr lang="en-GB" altLang="en-US" dirty="0">
                <a:latin typeface="Arial" pitchFamily="34" charset="0"/>
                <a:ea typeface="ＭＳ Ｐゴシック" pitchFamily="34" charset="-128"/>
              </a:rPr>
              <a:t> degrees of </a:t>
            </a:r>
            <a:r>
              <a:rPr lang="en-GB" altLang="en-US" dirty="0" err="1">
                <a:latin typeface="Arial" pitchFamily="34" charset="0"/>
                <a:ea typeface="ＭＳ Ｐゴシック" pitchFamily="34" charset="-128"/>
              </a:rPr>
              <a:t>porosity.Permeability</a:t>
            </a:r>
            <a:r>
              <a:rPr lang="en-GB" altLang="en-US" dirty="0">
                <a:latin typeface="Arial" pitchFamily="34" charset="0"/>
                <a:ea typeface="ＭＳ Ｐゴシック" pitchFamily="34" charset="-128"/>
              </a:rPr>
              <a:t> is the second concept.</a:t>
            </a:r>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19478896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sz="2400">
                <a:solidFill>
                  <a:schemeClr val="tx1"/>
                </a:solidFill>
                <a:latin typeface="Arial" pitchFamily="34" charset="0"/>
                <a:ea typeface="ＭＳ Ｐゴシック" pitchFamily="34" charset="-128"/>
              </a:defRPr>
            </a:lvl1pPr>
            <a:lvl2pPr marL="774364" indent="-297832">
              <a:defRPr sz="2400">
                <a:solidFill>
                  <a:schemeClr val="tx1"/>
                </a:solidFill>
                <a:latin typeface="Arial" pitchFamily="34" charset="0"/>
                <a:ea typeface="ＭＳ Ｐゴシック" pitchFamily="34" charset="-128"/>
              </a:defRPr>
            </a:lvl2pPr>
            <a:lvl3pPr marL="1191328" indent="-238266">
              <a:defRPr sz="2400">
                <a:solidFill>
                  <a:schemeClr val="tx1"/>
                </a:solidFill>
                <a:latin typeface="Arial" pitchFamily="34" charset="0"/>
                <a:ea typeface="ＭＳ Ｐゴシック" pitchFamily="34" charset="-128"/>
              </a:defRPr>
            </a:lvl3pPr>
            <a:lvl4pPr marL="1667861" indent="-238266">
              <a:defRPr sz="2400">
                <a:solidFill>
                  <a:schemeClr val="tx1"/>
                </a:solidFill>
                <a:latin typeface="Arial" pitchFamily="34" charset="0"/>
                <a:ea typeface="ＭＳ Ｐゴシック" pitchFamily="34" charset="-128"/>
              </a:defRPr>
            </a:lvl4pPr>
            <a:lvl5pPr marL="2144392" indent="-238266">
              <a:defRPr sz="2400">
                <a:solidFill>
                  <a:schemeClr val="tx1"/>
                </a:solidFill>
                <a:latin typeface="Arial" pitchFamily="34" charset="0"/>
                <a:ea typeface="ＭＳ Ｐゴシック" pitchFamily="34" charset="-128"/>
              </a:defRPr>
            </a:lvl5pPr>
            <a:lvl6pPr marL="2620922" indent="-23826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97455" indent="-23826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573986" indent="-23826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4050518" indent="-23826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08A8FC5-05C3-404B-99E7-DEBF77A6635F}" type="slidenum">
              <a:rPr lang="en-US" altLang="en-US" sz="1200"/>
              <a:pPr/>
              <a:t>61</a:t>
            </a:fld>
            <a:endParaRPr lang="en-US" altLang="en-US" sz="120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US" altLang="en-US" dirty="0">
                <a:latin typeface="Arial" pitchFamily="34" charset="0"/>
                <a:ea typeface="ＭＳ Ｐゴシック" pitchFamily="34" charset="-128"/>
              </a:rPr>
              <a:t>Discharge depends on the hydraulic head (change</a:t>
            </a:r>
            <a:r>
              <a:rPr lang="en-US" altLang="en-US" baseline="0" dirty="0">
                <a:latin typeface="Arial" pitchFamily="34" charset="0"/>
                <a:ea typeface="ＭＳ Ｐゴシック" pitchFamily="34" charset="-128"/>
              </a:rPr>
              <a:t> in height of the gradient the water is flowing), area of vertical plane of water and the hydraulic conductivity (the ease with which water can move through the </a:t>
            </a:r>
            <a:r>
              <a:rPr lang="en-US" altLang="en-US" baseline="0" dirty="0" err="1">
                <a:latin typeface="Arial" pitchFamily="34" charset="0"/>
                <a:ea typeface="ＭＳ Ｐゴシック" pitchFamily="34" charset="-128"/>
              </a:rPr>
              <a:t>matreial</a:t>
            </a:r>
            <a:r>
              <a:rPr lang="en-US" altLang="en-US" baseline="0" dirty="0">
                <a:latin typeface="Arial" pitchFamily="34" charset="0"/>
                <a:ea typeface="ＭＳ Ｐゴシック" pitchFamily="34" charset="-128"/>
              </a:rPr>
              <a:t>,.-mainly the permeability of the material.</a:t>
            </a:r>
          </a:p>
          <a:p>
            <a:pPr eaLnBrk="1" hangingPunct="1"/>
            <a:endParaRPr lang="en-US" altLang="en-US" baseline="0" dirty="0">
              <a:latin typeface="Arial" pitchFamily="34" charset="0"/>
              <a:ea typeface="ＭＳ Ｐゴシック" pitchFamily="34" charset="-128"/>
            </a:endParaRPr>
          </a:p>
          <a:p>
            <a:pPr eaLnBrk="1" hangingPunct="1"/>
            <a:r>
              <a:rPr lang="en-GB" altLang="en-US" dirty="0">
                <a:latin typeface="Arial" pitchFamily="34" charset="0"/>
                <a:ea typeface="ＭＳ Ｐゴシック" pitchFamily="34" charset="-128"/>
              </a:rPr>
              <a:t>So porosity, that first very important concept of these gaps in the Rock, such </a:t>
            </a:r>
            <a:r>
              <a:rPr lang="en-GB" altLang="en-US" dirty="0" err="1">
                <a:latin typeface="Arial" pitchFamily="34" charset="0"/>
                <a:ea typeface="ＭＳ Ｐゴシック" pitchFamily="34" charset="-128"/>
              </a:rPr>
              <a:t>asthis</a:t>
            </a:r>
            <a:r>
              <a:rPr lang="en-GB" altLang="en-US" dirty="0">
                <a:latin typeface="Arial" pitchFamily="34" charset="0"/>
                <a:ea typeface="ＭＳ Ｐゴシック" pitchFamily="34" charset="-128"/>
              </a:rPr>
              <a:t> one being pointed out here. And as you can see, different rocks, could </a:t>
            </a:r>
            <a:r>
              <a:rPr lang="en-GB" altLang="en-US" dirty="0" err="1">
                <a:latin typeface="Arial" pitchFamily="34" charset="0"/>
                <a:ea typeface="ＭＳ Ｐゴシック" pitchFamily="34" charset="-128"/>
              </a:rPr>
              <a:t>havedifferent</a:t>
            </a:r>
            <a:r>
              <a:rPr lang="en-GB" altLang="en-US" dirty="0">
                <a:latin typeface="Arial" pitchFamily="34" charset="0"/>
                <a:ea typeface="ＭＳ Ｐゴシック" pitchFamily="34" charset="-128"/>
              </a:rPr>
              <a:t> degrees of </a:t>
            </a:r>
            <a:r>
              <a:rPr lang="en-GB" altLang="en-US" dirty="0" err="1">
                <a:latin typeface="Arial" pitchFamily="34" charset="0"/>
                <a:ea typeface="ＭＳ Ｐゴシック" pitchFamily="34" charset="-128"/>
              </a:rPr>
              <a:t>porosity.Permeability</a:t>
            </a:r>
            <a:r>
              <a:rPr lang="en-GB" altLang="en-US" dirty="0">
                <a:latin typeface="Arial" pitchFamily="34" charset="0"/>
                <a:ea typeface="ＭＳ Ｐゴシック" pitchFamily="34" charset="-128"/>
              </a:rPr>
              <a:t> is the second </a:t>
            </a:r>
            <a:r>
              <a:rPr lang="en-GB" altLang="en-US" dirty="0" err="1">
                <a:latin typeface="Arial" pitchFamily="34" charset="0"/>
                <a:ea typeface="ＭＳ Ｐゴシック" pitchFamily="34" charset="-128"/>
              </a:rPr>
              <a:t>concept.So</a:t>
            </a:r>
            <a:r>
              <a:rPr lang="en-GB" altLang="en-US" dirty="0">
                <a:latin typeface="Arial" pitchFamily="34" charset="0"/>
                <a:ea typeface="ＭＳ Ｐゴシック" pitchFamily="34" charset="-128"/>
              </a:rPr>
              <a:t> this is the relative ability of a rock material, such as a rock to transmit </a:t>
            </a:r>
            <a:r>
              <a:rPr lang="en-GB" altLang="en-US" dirty="0" err="1">
                <a:latin typeface="Arial" pitchFamily="34" charset="0"/>
                <a:ea typeface="ＭＳ Ｐゴシック" pitchFamily="34" charset="-128"/>
              </a:rPr>
              <a:t>throughAIDS</a:t>
            </a:r>
            <a:r>
              <a:rPr lang="en-GB" altLang="en-US" dirty="0">
                <a:latin typeface="Arial" pitchFamily="34" charset="0"/>
                <a:ea typeface="ＭＳ Ｐゴシック" pitchFamily="34" charset="-128"/>
              </a:rPr>
              <a:t>, through connected pore spaces. Because it's all very well to have a </a:t>
            </a:r>
            <a:r>
              <a:rPr lang="en-GB" altLang="en-US" dirty="0" err="1">
                <a:latin typeface="Arial" pitchFamily="34" charset="0"/>
                <a:ea typeface="ＭＳ Ｐゴシック" pitchFamily="34" charset="-128"/>
              </a:rPr>
              <a:t>porosityto</a:t>
            </a:r>
            <a:r>
              <a:rPr lang="en-GB" altLang="en-US" dirty="0">
                <a:latin typeface="Arial" pitchFamily="34" charset="0"/>
                <a:ea typeface="ＭＳ Ｐゴシック" pitchFamily="34" charset="-128"/>
              </a:rPr>
              <a:t> have pores within Iraq. But unless those paws are connected so fluid can </a:t>
            </a:r>
            <a:r>
              <a:rPr lang="en-GB" altLang="en-US" dirty="0" err="1">
                <a:latin typeface="Arial" pitchFamily="34" charset="0"/>
                <a:ea typeface="ＭＳ Ｐゴシック" pitchFamily="34" charset="-128"/>
              </a:rPr>
              <a:t>throwa</a:t>
            </a:r>
            <a:r>
              <a:rPr lang="en-GB" altLang="en-US" dirty="0">
                <a:latin typeface="Arial" pitchFamily="34" charset="0"/>
                <a:ea typeface="ＭＳ Ｐゴシック" pitchFamily="34" charset="-128"/>
              </a:rPr>
              <a:t> flow through them, then they're not good aquifer rocks. So a high degree of </a:t>
            </a:r>
            <a:r>
              <a:rPr lang="en-GB" altLang="en-US" dirty="0" err="1">
                <a:latin typeface="Arial" pitchFamily="34" charset="0"/>
                <a:ea typeface="ＭＳ Ｐゴシック" pitchFamily="34" charset="-128"/>
              </a:rPr>
              <a:t>permit.Permeability</a:t>
            </a:r>
            <a:r>
              <a:rPr lang="en-GB" altLang="en-US" dirty="0">
                <a:latin typeface="Arial" pitchFamily="34" charset="0"/>
                <a:ea typeface="ＭＳ Ｐゴシック" pitchFamily="34" charset="-128"/>
              </a:rPr>
              <a:t> is also </a:t>
            </a:r>
            <a:r>
              <a:rPr lang="en-GB" altLang="en-US" dirty="0" err="1">
                <a:latin typeface="Arial" pitchFamily="34" charset="0"/>
                <a:ea typeface="ＭＳ Ｐゴシック" pitchFamily="34" charset="-128"/>
              </a:rPr>
              <a:t>required.And</a:t>
            </a:r>
            <a:r>
              <a:rPr lang="en-GB" altLang="en-US" dirty="0">
                <a:latin typeface="Arial" pitchFamily="34" charset="0"/>
                <a:ea typeface="ＭＳ Ｐゴシック" pitchFamily="34" charset="-128"/>
              </a:rPr>
              <a:t> this depends on the number of conduits. So the number of joins between </a:t>
            </a:r>
            <a:r>
              <a:rPr lang="en-GB" altLang="en-US" dirty="0" err="1">
                <a:latin typeface="Arial" pitchFamily="34" charset="0"/>
                <a:ea typeface="ＭＳ Ｐゴシック" pitchFamily="34" charset="-128"/>
              </a:rPr>
              <a:t>pausehow</a:t>
            </a:r>
            <a:r>
              <a:rPr lang="en-GB" altLang="en-US" dirty="0">
                <a:latin typeface="Arial" pitchFamily="34" charset="0"/>
                <a:ea typeface="ＭＳ Ｐゴシック" pitchFamily="34" charset="-128"/>
              </a:rPr>
              <a:t> big those conduits are and also how straight they are. So we saw on that </a:t>
            </a:r>
            <a:r>
              <a:rPr lang="en-GB" altLang="en-US" dirty="0" err="1">
                <a:latin typeface="Arial" pitchFamily="34" charset="0"/>
                <a:ea typeface="ＭＳ Ｐゴシック" pitchFamily="34" charset="-128"/>
              </a:rPr>
              <a:t>previousslide</a:t>
            </a:r>
            <a:r>
              <a:rPr lang="en-GB" altLang="en-US" dirty="0">
                <a:latin typeface="Arial" pitchFamily="34" charset="0"/>
                <a:ea typeface="ＭＳ Ｐゴシック" pitchFamily="34" charset="-128"/>
              </a:rPr>
              <a:t> quite a wiggly line and connecting those Paws and perhaps if it was </a:t>
            </a:r>
            <a:r>
              <a:rPr lang="en-GB" altLang="en-US" dirty="0" err="1">
                <a:latin typeface="Arial" pitchFamily="34" charset="0"/>
                <a:ea typeface="ＭＳ Ｐゴシック" pitchFamily="34" charset="-128"/>
              </a:rPr>
              <a:t>straighter,there</a:t>
            </a:r>
            <a:r>
              <a:rPr lang="en-GB" altLang="en-US" dirty="0">
                <a:latin typeface="Arial" pitchFamily="34" charset="0"/>
                <a:ea typeface="ＭＳ Ｐゴシック" pitchFamily="34" charset="-128"/>
              </a:rPr>
              <a:t> would be better fluid to flow through those </a:t>
            </a:r>
            <a:r>
              <a:rPr lang="en-GB" altLang="en-US" dirty="0" err="1">
                <a:latin typeface="Arial" pitchFamily="34" charset="0"/>
                <a:ea typeface="ＭＳ Ｐゴシック" pitchFamily="34" charset="-128"/>
              </a:rPr>
              <a:t>paws.and</a:t>
            </a:r>
            <a:r>
              <a:rPr lang="en-GB" altLang="en-US" dirty="0">
                <a:latin typeface="Arial" pitchFamily="34" charset="0"/>
                <a:ea typeface="ＭＳ Ｐゴシック" pitchFamily="34" charset="-128"/>
              </a:rPr>
              <a:t> there is a measure of permeability known as the Darcy </a:t>
            </a:r>
            <a:r>
              <a:rPr lang="en-GB" altLang="en-US" dirty="0" err="1">
                <a:latin typeface="Arial" pitchFamily="34" charset="0"/>
                <a:ea typeface="ＭＳ Ｐゴシック" pitchFamily="34" charset="-128"/>
              </a:rPr>
              <a:t>anda</a:t>
            </a:r>
            <a:r>
              <a:rPr lang="en-GB" altLang="en-US" dirty="0">
                <a:latin typeface="Arial" pitchFamily="34" charset="0"/>
                <a:ea typeface="ＭＳ Ｐゴシック" pitchFamily="34" charset="-128"/>
              </a:rPr>
              <a:t> good Sandstone. Reservoir has a range of permeability between 100 to 1000.And rocks with a similar porosity, do not always have the same permeability. </a:t>
            </a:r>
            <a:r>
              <a:rPr lang="en-GB" altLang="en-US" dirty="0" err="1">
                <a:latin typeface="Arial" pitchFamily="34" charset="0"/>
                <a:ea typeface="ＭＳ Ｐゴシック" pitchFamily="34" charset="-128"/>
              </a:rPr>
              <a:t>Soyou</a:t>
            </a:r>
            <a:r>
              <a:rPr lang="en-GB" altLang="en-US" dirty="0">
                <a:latin typeface="Arial" pitchFamily="34" charset="0"/>
                <a:ea typeface="ＭＳ Ｐゴシック" pitchFamily="34" charset="-128"/>
              </a:rPr>
              <a:t> could have holes or pause within rocks that are not as well connected as </a:t>
            </a:r>
            <a:r>
              <a:rPr lang="en-GB" altLang="en-US" dirty="0" err="1">
                <a:latin typeface="Arial" pitchFamily="34" charset="0"/>
                <a:ea typeface="ＭＳ Ｐゴシック" pitchFamily="34" charset="-128"/>
              </a:rPr>
              <a:t>inothers</a:t>
            </a:r>
            <a:r>
              <a:rPr lang="en-GB" altLang="en-US" dirty="0">
                <a:latin typeface="Arial" pitchFamily="34" charset="0"/>
                <a:ea typeface="ＭＳ Ｐゴシック" pitchFamily="34" charset="-128"/>
              </a:rPr>
              <a:t>, but they could have very similar degrees of porosity.</a:t>
            </a:r>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42729574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t>
            </a:r>
            <a:endParaRPr lang="en-US"/>
          </a:p>
        </p:txBody>
      </p:sp>
      <p:sp>
        <p:nvSpPr>
          <p:cNvPr id="4" name="Slide Number Placeholder 3"/>
          <p:cNvSpPr>
            <a:spLocks noGrp="1"/>
          </p:cNvSpPr>
          <p:nvPr>
            <p:ph type="sldNum" sz="quarter" idx="5"/>
          </p:nvPr>
        </p:nvSpPr>
        <p:spPr/>
        <p:txBody>
          <a:bodyPr/>
          <a:lstStyle/>
          <a:p>
            <a:fld id="{970FA88C-524C-42C0-8773-76F368B52736}" type="slidenum">
              <a:rPr lang="en-GB" smtClean="0"/>
              <a:t>63</a:t>
            </a:fld>
            <a:endParaRPr lang="en-GB"/>
          </a:p>
        </p:txBody>
      </p:sp>
    </p:spTree>
    <p:extLst>
      <p:ext uri="{BB962C8B-B14F-4D97-AF65-F5344CB8AC3E}">
        <p14:creationId xmlns:p14="http://schemas.microsoft.com/office/powerpoint/2010/main" val="2316421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64</a:t>
            </a:fld>
            <a:endParaRPr lang="en-GB"/>
          </a:p>
        </p:txBody>
      </p:sp>
    </p:spTree>
    <p:extLst>
      <p:ext uri="{BB962C8B-B14F-4D97-AF65-F5344CB8AC3E}">
        <p14:creationId xmlns:p14="http://schemas.microsoft.com/office/powerpoint/2010/main" val="34230652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65</a:t>
            </a:fld>
            <a:endParaRPr lang="en-GB"/>
          </a:p>
        </p:txBody>
      </p:sp>
    </p:spTree>
    <p:extLst>
      <p:ext uri="{BB962C8B-B14F-4D97-AF65-F5344CB8AC3E}">
        <p14:creationId xmlns:p14="http://schemas.microsoft.com/office/powerpoint/2010/main" val="15627508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solidFill>
                <a:srgbClr val="2E2E2E"/>
              </a:solidFill>
              <a:latin typeface="NexusSerif"/>
            </a:endParaRPr>
          </a:p>
        </p:txBody>
      </p:sp>
      <p:sp>
        <p:nvSpPr>
          <p:cNvPr id="4" name="Slide Number Placeholder 3"/>
          <p:cNvSpPr>
            <a:spLocks noGrp="1"/>
          </p:cNvSpPr>
          <p:nvPr>
            <p:ph type="sldNum" sz="quarter" idx="10"/>
          </p:nvPr>
        </p:nvSpPr>
        <p:spPr/>
        <p:txBody>
          <a:bodyPr/>
          <a:lstStyle/>
          <a:p>
            <a:fld id="{970FA88C-524C-42C0-8773-76F368B52736}" type="slidenum">
              <a:rPr lang="en-GB" smtClean="0"/>
              <a:t>67</a:t>
            </a:fld>
            <a:endParaRPr lang="en-GB"/>
          </a:p>
        </p:txBody>
      </p:sp>
    </p:spTree>
    <p:extLst>
      <p:ext uri="{BB962C8B-B14F-4D97-AF65-F5344CB8AC3E}">
        <p14:creationId xmlns:p14="http://schemas.microsoft.com/office/powerpoint/2010/main" val="3110634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endParaRPr lang="en-GB" dirty="0">
              <a:ea typeface="Calibri"/>
              <a:cs typeface="Calibri"/>
            </a:endParaRPr>
          </a:p>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68</a:t>
            </a:fld>
            <a:endParaRPr lang="en-GB"/>
          </a:p>
        </p:txBody>
      </p:sp>
    </p:spTree>
    <p:extLst>
      <p:ext uri="{BB962C8B-B14F-4D97-AF65-F5344CB8AC3E}">
        <p14:creationId xmlns:p14="http://schemas.microsoft.com/office/powerpoint/2010/main" val="2628592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69</a:t>
            </a:fld>
            <a:endParaRPr lang="en-GB"/>
          </a:p>
        </p:txBody>
      </p:sp>
    </p:spTree>
    <p:extLst>
      <p:ext uri="{BB962C8B-B14F-4D97-AF65-F5344CB8AC3E}">
        <p14:creationId xmlns:p14="http://schemas.microsoft.com/office/powerpoint/2010/main" val="21000244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72</a:t>
            </a:fld>
            <a:endParaRPr lang="en-GB"/>
          </a:p>
        </p:txBody>
      </p:sp>
    </p:spTree>
    <p:extLst>
      <p:ext uri="{BB962C8B-B14F-4D97-AF65-F5344CB8AC3E}">
        <p14:creationId xmlns:p14="http://schemas.microsoft.com/office/powerpoint/2010/main" val="31714902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endParaRPr lang="en-GB" dirty="0">
              <a:ea typeface="Calibri"/>
              <a:cs typeface="Calibri"/>
            </a:endParaRPr>
          </a:p>
        </p:txBody>
      </p:sp>
      <p:sp>
        <p:nvSpPr>
          <p:cNvPr id="4" name="Slide Number Placeholder 3"/>
          <p:cNvSpPr>
            <a:spLocks noGrp="1"/>
          </p:cNvSpPr>
          <p:nvPr>
            <p:ph type="sldNum" sz="quarter" idx="5"/>
          </p:nvPr>
        </p:nvSpPr>
        <p:spPr/>
        <p:txBody>
          <a:bodyPr/>
          <a:lstStyle/>
          <a:p>
            <a:fld id="{970FA88C-524C-42C0-8773-76F368B52736}" type="slidenum">
              <a:rPr lang="en-GB" smtClean="0"/>
              <a:t>73</a:t>
            </a:fld>
            <a:endParaRPr lang="en-GB"/>
          </a:p>
        </p:txBody>
      </p:sp>
    </p:spTree>
    <p:extLst>
      <p:ext uri="{BB962C8B-B14F-4D97-AF65-F5344CB8AC3E}">
        <p14:creationId xmlns:p14="http://schemas.microsoft.com/office/powerpoint/2010/main" val="22894339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Population growth, climate change, urbanisation and socioeconomic development, urban industry and domestic water demand</a:t>
            </a:r>
          </a:p>
          <a:p>
            <a:endParaRPr lang="en-GB" dirty="0"/>
          </a:p>
          <a:p>
            <a:r>
              <a:rPr lang="en-GB" dirty="0"/>
              <a:t>Impact 11 and 6</a:t>
            </a:r>
          </a:p>
        </p:txBody>
      </p:sp>
      <p:sp>
        <p:nvSpPr>
          <p:cNvPr id="4" name="Slide Number Placeholder 3"/>
          <p:cNvSpPr>
            <a:spLocks noGrp="1"/>
          </p:cNvSpPr>
          <p:nvPr>
            <p:ph type="sldNum" sz="quarter" idx="5"/>
          </p:nvPr>
        </p:nvSpPr>
        <p:spPr/>
        <p:txBody>
          <a:bodyPr/>
          <a:lstStyle/>
          <a:p>
            <a:fld id="{970FA88C-524C-42C0-8773-76F368B52736}" type="slidenum">
              <a:rPr lang="en-GB" smtClean="0"/>
              <a:t>80</a:t>
            </a:fld>
            <a:endParaRPr lang="en-GB"/>
          </a:p>
        </p:txBody>
      </p:sp>
    </p:spTree>
    <p:extLst>
      <p:ext uri="{BB962C8B-B14F-4D97-AF65-F5344CB8AC3E}">
        <p14:creationId xmlns:p14="http://schemas.microsoft.com/office/powerpoint/2010/main" val="18479209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800" b="0" i="0" u="none" strike="noStrike" baseline="0" dirty="0">
                <a:solidFill>
                  <a:srgbClr val="000000"/>
                </a:solidFill>
                <a:latin typeface="AdvOT1ef757c0"/>
              </a:rPr>
              <a:t>urban populations facing water scarcity (Table </a:t>
            </a:r>
            <a:r>
              <a:rPr lang="en-GB" sz="1800" b="0" i="0" u="none" strike="noStrike" baseline="0" dirty="0">
                <a:solidFill>
                  <a:srgbClr val="0000FF"/>
                </a:solidFill>
                <a:latin typeface="AdvOT1ef757c0"/>
              </a:rPr>
              <a:t>1</a:t>
            </a:r>
            <a:r>
              <a:rPr lang="en-GB" sz="1800" b="0" i="0" u="none" strike="noStrike" baseline="0" dirty="0">
                <a:solidFill>
                  <a:srgbClr val="000000"/>
                </a:solidFill>
                <a:latin typeface="AdvOT1ef757c0"/>
              </a:rPr>
              <a:t>, Fig. </a:t>
            </a:r>
            <a:r>
              <a:rPr lang="en-GB" sz="1800" b="0" i="0" u="none" strike="noStrike" baseline="0" dirty="0">
                <a:solidFill>
                  <a:srgbClr val="0000FF"/>
                </a:solidFill>
                <a:latin typeface="AdvOT1ef757c0"/>
              </a:rPr>
              <a:t>1</a:t>
            </a:r>
            <a:r>
              <a:rPr lang="en-GB" sz="1800" b="0" i="0" u="none" strike="noStrike" baseline="0" dirty="0">
                <a:solidFill>
                  <a:srgbClr val="000000"/>
                </a:solidFill>
                <a:latin typeface="AdvOT1ef757c0"/>
              </a:rPr>
              <a:t>c).</a:t>
            </a:r>
          </a:p>
          <a:p>
            <a:pPr algn="l"/>
            <a:r>
              <a:rPr lang="en-GB" sz="1800" b="0" i="0" u="none" strike="noStrike" baseline="0" dirty="0">
                <a:solidFill>
                  <a:srgbClr val="000000"/>
                </a:solidFill>
                <a:latin typeface="AdvOT1ef757c0"/>
              </a:rPr>
              <a:t>Of the world</a:t>
            </a:r>
            <a:r>
              <a:rPr lang="en-GB" sz="1800" b="0" i="0" u="none" strike="noStrike" baseline="0" dirty="0">
                <a:solidFill>
                  <a:srgbClr val="000000"/>
                </a:solidFill>
                <a:latin typeface="AdvOT1ef757c0+20"/>
              </a:rPr>
              <a:t>’</a:t>
            </a:r>
            <a:r>
              <a:rPr lang="en-GB" sz="1800" b="0" i="0" u="none" strike="noStrike" baseline="0" dirty="0">
                <a:solidFill>
                  <a:srgbClr val="000000"/>
                </a:solidFill>
                <a:latin typeface="AdvOT1ef757c0"/>
              </a:rPr>
              <a:t>s 526 large cities (i.e., population &gt;1 million), 193</a:t>
            </a:r>
          </a:p>
          <a:p>
            <a:pPr algn="l"/>
            <a:r>
              <a:rPr lang="en-GB" sz="1800" b="0" i="0" u="none" strike="noStrike" baseline="0" dirty="0">
                <a:solidFill>
                  <a:srgbClr val="000000"/>
                </a:solidFill>
                <a:latin typeface="AdvOT1ef757c0"/>
              </a:rPr>
              <a:t>(36.7%) were located in water-scarce regions (96 perennial,</a:t>
            </a:r>
          </a:p>
          <a:p>
            <a:pPr algn="l"/>
            <a:r>
              <a:rPr lang="en-GB" sz="1800" b="0" i="0" u="none" strike="noStrike" baseline="0" dirty="0">
                <a:solidFill>
                  <a:srgbClr val="000000"/>
                </a:solidFill>
                <a:latin typeface="AdvOT1ef757c0"/>
              </a:rPr>
              <a:t>97 seasonal) (Fig. </a:t>
            </a:r>
            <a:r>
              <a:rPr lang="en-GB" sz="1800" b="0" i="0" u="none" strike="noStrike" baseline="0" dirty="0">
                <a:solidFill>
                  <a:srgbClr val="0000FF"/>
                </a:solidFill>
                <a:latin typeface="AdvOT1ef757c0"/>
              </a:rPr>
              <a:t>1</a:t>
            </a:r>
            <a:r>
              <a:rPr lang="en-GB" sz="1800" b="0" i="0" u="none" strike="noStrike" baseline="0" dirty="0">
                <a:solidFill>
                  <a:srgbClr val="000000"/>
                </a:solidFill>
                <a:latin typeface="AdvOT1ef757c0"/>
              </a:rPr>
              <a:t>a). Of the 30 megacities (i.e., population &gt;10</a:t>
            </a:r>
          </a:p>
          <a:p>
            <a:pPr algn="l"/>
            <a:r>
              <a:rPr lang="en-GB" sz="1800" b="0" i="0" u="none" strike="noStrike" baseline="0" dirty="0">
                <a:solidFill>
                  <a:srgbClr val="000000"/>
                </a:solidFill>
                <a:latin typeface="AdvOT1ef757c0"/>
              </a:rPr>
              <a:t>million), 9 (30.0%) were located in water-scarce regions (Table </a:t>
            </a:r>
            <a:r>
              <a:rPr lang="en-GB" sz="1800" b="0" i="0" u="none" strike="noStrike" baseline="0" dirty="0">
                <a:solidFill>
                  <a:srgbClr val="0000FF"/>
                </a:solidFill>
                <a:latin typeface="AdvOT1ef757c0"/>
              </a:rPr>
              <a:t>2</a:t>
            </a:r>
            <a:r>
              <a:rPr lang="en-GB" sz="1800" b="0" i="0" u="none" strike="noStrike" baseline="0" dirty="0">
                <a:solidFill>
                  <a:srgbClr val="000000"/>
                </a:solidFill>
                <a:latin typeface="AdvOT1ef757c0"/>
              </a:rPr>
              <a:t>).</a:t>
            </a:r>
          </a:p>
          <a:p>
            <a:pPr algn="l"/>
            <a:r>
              <a:rPr lang="en-GB" sz="1800" b="0" i="0" u="none" strike="noStrike" baseline="0" dirty="0">
                <a:solidFill>
                  <a:srgbClr val="000000"/>
                </a:solidFill>
                <a:latin typeface="AdvOT1ef757c0"/>
              </a:rPr>
              <a:t>Six of these, including Los Angeles, Moscow, Lahore, Delhi,</a:t>
            </a:r>
          </a:p>
          <a:p>
            <a:pPr algn="l"/>
            <a:r>
              <a:rPr lang="en-GB" sz="1800" b="0" i="0" u="none" strike="noStrike" baseline="0" dirty="0">
                <a:solidFill>
                  <a:srgbClr val="000000"/>
                </a:solidFill>
                <a:latin typeface="AdvOT1ef757c0"/>
              </a:rPr>
              <a:t>Bangalore, and Beijing, were located in regions with perennial</a:t>
            </a:r>
          </a:p>
          <a:p>
            <a:pPr algn="l"/>
            <a:r>
              <a:rPr lang="en-GB" sz="1800" b="0" i="0" u="none" strike="noStrike" baseline="0" dirty="0">
                <a:solidFill>
                  <a:srgbClr val="000000"/>
                </a:solidFill>
                <a:latin typeface="AdvOT1ef757c0"/>
              </a:rPr>
              <a:t>water scarcity and three (Mexico City, Istanbul, and Karachi)</a:t>
            </a:r>
          </a:p>
          <a:p>
            <a:pPr algn="l"/>
            <a:r>
              <a:rPr lang="en-GB" sz="1800" b="0" i="0" u="none" strike="noStrike" baseline="0" dirty="0">
                <a:solidFill>
                  <a:srgbClr val="000000"/>
                </a:solidFill>
                <a:latin typeface="AdvOT1ef757c0"/>
              </a:rPr>
              <a:t>were seasonally water-scarce (Fig. </a:t>
            </a:r>
            <a:r>
              <a:rPr lang="en-GB" sz="1800" b="0" i="0" u="none" strike="noStrike" baseline="0" dirty="0">
                <a:solidFill>
                  <a:srgbClr val="0000FF"/>
                </a:solidFill>
                <a:latin typeface="AdvOT1ef757c0"/>
              </a:rPr>
              <a:t>1</a:t>
            </a:r>
            <a:r>
              <a:rPr lang="en-GB" sz="1800" b="0" i="0" u="none" strike="noStrike" baseline="0" dirty="0">
                <a:solidFill>
                  <a:srgbClr val="000000"/>
                </a:solidFill>
                <a:latin typeface="AdvOT1ef757c0"/>
              </a:rPr>
              <a:t>a).</a:t>
            </a:r>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81</a:t>
            </a:fld>
            <a:endParaRPr lang="en-GB"/>
          </a:p>
        </p:txBody>
      </p:sp>
    </p:spTree>
    <p:extLst>
      <p:ext uri="{BB962C8B-B14F-4D97-AF65-F5344CB8AC3E}">
        <p14:creationId xmlns:p14="http://schemas.microsoft.com/office/powerpoint/2010/main" val="288529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771428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1750179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8DAE-7786-43C8-AD3B-8384EDC0EA63}" type="datetimeFigureOut">
              <a:rPr lang="en-GB" smtClean="0"/>
              <a:t>28/01/2025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1566904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55A8DAE-7786-43C8-AD3B-8384EDC0EA63}" type="datetimeFigureOut">
              <a:rPr lang="en-GB" smtClean="0"/>
              <a:t>28/01/2025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3034122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55A8DAE-7786-43C8-AD3B-8384EDC0EA63}" type="datetimeFigureOut">
              <a:rPr lang="en-GB" smtClean="0"/>
              <a:t>28/01/2025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554584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55A8DAE-7786-43C8-AD3B-8384EDC0EA63}" type="datetimeFigureOut">
              <a:rPr lang="en-GB" smtClean="0"/>
              <a:t>28/01/2025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62850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5A8DAE-7786-43C8-AD3B-8384EDC0EA63}" type="datetimeFigureOut">
              <a:rPr lang="en-GB" smtClean="0"/>
              <a:t>28/01/2025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3980909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5A8DAE-7786-43C8-AD3B-8384EDC0EA63}" type="datetimeFigureOut">
              <a:rPr lang="en-GB" smtClean="0"/>
              <a:t>28/01/2025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78569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5A8DAE-7786-43C8-AD3B-8384EDC0EA63}" type="datetimeFigureOut">
              <a:rPr lang="en-GB" smtClean="0"/>
              <a:t>28/01/2025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415154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73498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244649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5A8DAE-7786-43C8-AD3B-8384EDC0EA63}" type="datetimeFigureOut">
              <a:rPr lang="en-GB" smtClean="0"/>
              <a:t>28/01/2025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A28C2F-A4B2-4774-B742-862132A7474F}" type="slidenum">
              <a:rPr lang="en-GB" smtClean="0"/>
              <a:t>‹#›</a:t>
            </a:fld>
            <a:endParaRPr lang="en-GB"/>
          </a:p>
        </p:txBody>
      </p:sp>
    </p:spTree>
    <p:extLst>
      <p:ext uri="{BB962C8B-B14F-4D97-AF65-F5344CB8AC3E}">
        <p14:creationId xmlns:p14="http://schemas.microsoft.com/office/powerpoint/2010/main" val="4260596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7.gif"/></Relationships>
</file>

<file path=ppt/slides/_rels/slide12.xml.rels><?xml version="1.0" encoding="UTF-8" standalone="yes"?>
<Relationships xmlns="http://schemas.openxmlformats.org/package/2006/relationships"><Relationship Id="rId3" Type="http://schemas.openxmlformats.org/officeDocument/2006/relationships/hyperlink" Target="http://www.bgs.ac.uk/planning4minerals/Resources_5.ht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6.gif"/><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6.gif"/><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gi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7.jpeg"/></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16.xml"/><Relationship Id="rId7" Type="http://schemas.openxmlformats.org/officeDocument/2006/relationships/image" Target="../media/image301.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290.png"/></Relationships>
</file>

<file path=ppt/slides/_rels/slide24.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notesSlide" Target="../notesSlides/notesSlide17.xml"/><Relationship Id="rId7" Type="http://schemas.openxmlformats.org/officeDocument/2006/relationships/image" Target="../media/image330.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320.png"/><Relationship Id="rId9" Type="http://schemas.openxmlformats.org/officeDocument/2006/relationships/image" Target="../media/image40.jpeg"/></Relationships>
</file>

<file path=ppt/slides/_rels/slide25.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slideLayout" Target="../slideLayouts/slideLayout7.xml"/><Relationship Id="rId1" Type="http://schemas.openxmlformats.org/officeDocument/2006/relationships/tags" Target="../tags/tag8.xml"/><Relationship Id="rId5" Type="http://schemas.openxmlformats.org/officeDocument/2006/relationships/image" Target="../media/image43.gif"/><Relationship Id="rId4" Type="http://schemas.openxmlformats.org/officeDocument/2006/relationships/image" Target="../media/image42.jpeg"/></Relationships>
</file>

<file path=ppt/slides/_rels/slide26.xml.rels><?xml version="1.0" encoding="UTF-8" standalone="yes"?>
<Relationships xmlns="http://schemas.openxmlformats.org/package/2006/relationships"><Relationship Id="rId8" Type="http://schemas.openxmlformats.org/officeDocument/2006/relationships/image" Target="../media/image45.jpeg"/><Relationship Id="rId7" Type="http://schemas.openxmlformats.org/officeDocument/2006/relationships/image" Target="../media/image44.gif"/><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300.png"/><Relationship Id="rId5"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48.png"/><Relationship Id="rId5" Type="http://schemas.openxmlformats.org/officeDocument/2006/relationships/image" Target="../media/image47.gif"/><Relationship Id="rId4" Type="http://schemas.openxmlformats.org/officeDocument/2006/relationships/image" Target="../media/image46.gif"/></Relationships>
</file>

<file path=ppt/slides/_rels/slide28.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4.xml"/><Relationship Id="rId1" Type="http://schemas.openxmlformats.org/officeDocument/2006/relationships/tags" Target="../tags/tag11.xml"/><Relationship Id="rId4" Type="http://schemas.openxmlformats.org/officeDocument/2006/relationships/image" Target="../media/image51.jpeg"/></Relationships>
</file>

<file path=ppt/slides/_rels/slide30.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56.gif"/><Relationship Id="rId4" Type="http://schemas.openxmlformats.org/officeDocument/2006/relationships/image" Target="../media/image55.jpeg"/></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hyperlink" Target="https://www.sciencedirect.com/science/article/pii/S0016706113001572#bb0220"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22.jpeg"/></Relationships>
</file>

<file path=ppt/slides/_rels/slide3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62.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6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67.png"/><Relationship Id="rId5" Type="http://schemas.openxmlformats.org/officeDocument/2006/relationships/image" Target="../media/image66.jpeg"/><Relationship Id="rId4" Type="http://schemas.openxmlformats.org/officeDocument/2006/relationships/image" Target="../media/image65.jpeg"/></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73.jpeg"/><Relationship Id="rId5" Type="http://schemas.openxmlformats.org/officeDocument/2006/relationships/image" Target="../media/image72.jpeg"/><Relationship Id="rId4" Type="http://schemas.openxmlformats.org/officeDocument/2006/relationships/image" Target="../media/image71.jpeg"/></Relationships>
</file>

<file path=ppt/slides/_rels/slide4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75.jpeg"/></Relationships>
</file>

<file path=ppt/slides/_rels/slide5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8.jpeg"/><Relationship Id="rId4" Type="http://schemas.openxmlformats.org/officeDocument/2006/relationships/image" Target="../media/image77.jpeg"/></Relationships>
</file>

<file path=ppt/slides/_rels/slide5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1.jpeg"/><Relationship Id="rId4" Type="http://schemas.openxmlformats.org/officeDocument/2006/relationships/image" Target="../media/image80.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8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5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21.xml"/><Relationship Id="rId4" Type="http://schemas.openxmlformats.org/officeDocument/2006/relationships/image" Target="../media/image88.jpeg"/></Relationships>
</file>

<file path=ppt/slides/_rels/slide6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hyperlink" Target="https://www.sciencedirect.com/science/article/pii/B978012814719100015X"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91.gi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6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9.gif"/><Relationship Id="rId2" Type="http://schemas.openxmlformats.org/officeDocument/2006/relationships/slideLayout" Target="../slideLayouts/slideLayout4.xml"/><Relationship Id="rId1" Type="http://schemas.openxmlformats.org/officeDocument/2006/relationships/tags" Target="../tags/tag23.xml"/><Relationship Id="rId4" Type="http://schemas.openxmlformats.org/officeDocument/2006/relationships/image" Target="../media/image100.jpeg"/></Relationships>
</file>

<file path=ppt/slides/_rels/slide7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gif"/><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7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BBE0-DEF1-6E44-97B3-618D56C291DC}"/>
              </a:ext>
            </a:extLst>
          </p:cNvPr>
          <p:cNvSpPr>
            <a:spLocks noGrp="1"/>
          </p:cNvSpPr>
          <p:nvPr>
            <p:ph type="ctrTitle"/>
          </p:nvPr>
        </p:nvSpPr>
        <p:spPr>
          <a:xfrm>
            <a:off x="480060" y="325369"/>
            <a:ext cx="3276451" cy="1956841"/>
          </a:xfrm>
        </p:spPr>
        <p:txBody>
          <a:bodyPr vert="horz" lIns="91440" tIns="45720" rIns="91440" bIns="45720" rtlCol="0" anchor="b">
            <a:normAutofit/>
          </a:bodyPr>
          <a:lstStyle/>
          <a:p>
            <a:pPr algn="l">
              <a:lnSpc>
                <a:spcPct val="90000"/>
              </a:lnSpc>
            </a:pPr>
            <a:r>
              <a:rPr lang="en-US" sz="4300"/>
              <a:t>A Sustainable Planet</a:t>
            </a:r>
          </a:p>
        </p:txBody>
      </p:sp>
      <p:sp>
        <p:nvSpPr>
          <p:cNvPr id="3" name="Subtitle 2">
            <a:extLst>
              <a:ext uri="{FF2B5EF4-FFF2-40B4-BE49-F238E27FC236}">
                <a16:creationId xmlns:a16="http://schemas.microsoft.com/office/drawing/2014/main" id="{E53C71B0-E228-5748-A274-244EA0104F01}"/>
              </a:ext>
            </a:extLst>
          </p:cNvPr>
          <p:cNvSpPr>
            <a:spLocks noGrp="1"/>
          </p:cNvSpPr>
          <p:nvPr>
            <p:ph type="subTitle" idx="1"/>
          </p:nvPr>
        </p:nvSpPr>
        <p:spPr>
          <a:xfrm>
            <a:off x="480060" y="2872899"/>
            <a:ext cx="3182691" cy="3320668"/>
          </a:xfrm>
        </p:spPr>
        <p:txBody>
          <a:bodyPr vert="horz" lIns="91440" tIns="45720" rIns="91440" bIns="45720" rtlCol="0" anchor="t">
            <a:normAutofit fontScale="92500" lnSpcReduction="20000"/>
          </a:bodyPr>
          <a:lstStyle/>
          <a:p>
            <a:pPr algn="l">
              <a:lnSpc>
                <a:spcPct val="90000"/>
              </a:lnSpc>
            </a:pPr>
            <a:r>
              <a:rPr lang="en-US" sz="1900" b="1" dirty="0">
                <a:solidFill>
                  <a:schemeClr val="tx1"/>
                </a:solidFill>
              </a:rPr>
              <a:t>Introduction to Resources</a:t>
            </a:r>
          </a:p>
          <a:p>
            <a:pPr algn="l">
              <a:lnSpc>
                <a:spcPct val="90000"/>
              </a:lnSpc>
            </a:pPr>
            <a:endParaRPr lang="en-US" sz="1900" b="1" dirty="0">
              <a:solidFill>
                <a:schemeClr val="tx1"/>
              </a:solidFill>
            </a:endParaRPr>
          </a:p>
          <a:p>
            <a:pPr algn="l">
              <a:lnSpc>
                <a:spcPct val="90000"/>
              </a:lnSpc>
            </a:pPr>
            <a:r>
              <a:rPr lang="en-US" sz="1900" b="1" dirty="0">
                <a:solidFill>
                  <a:schemeClr val="tx1"/>
                </a:solidFill>
              </a:rPr>
              <a:t>Resources:</a:t>
            </a:r>
          </a:p>
          <a:p>
            <a:pPr marL="342900" indent="-342900" algn="l">
              <a:lnSpc>
                <a:spcPct val="90000"/>
              </a:lnSpc>
              <a:buFont typeface="Arial" panose="020B0604020202020204" pitchFamily="34" charset="0"/>
              <a:buChar char="•"/>
            </a:pPr>
            <a:r>
              <a:rPr lang="en-US" sz="1900" b="1" dirty="0">
                <a:solidFill>
                  <a:schemeClr val="tx1"/>
                </a:solidFill>
              </a:rPr>
              <a:t>Soils </a:t>
            </a:r>
          </a:p>
          <a:p>
            <a:pPr marL="342900" indent="-342900" algn="l">
              <a:lnSpc>
                <a:spcPct val="90000"/>
              </a:lnSpc>
              <a:buFont typeface="Arial" panose="020B0604020202020204" pitchFamily="34" charset="0"/>
              <a:buChar char="•"/>
            </a:pPr>
            <a:r>
              <a:rPr lang="en-US" sz="1900" b="1" dirty="0">
                <a:solidFill>
                  <a:schemeClr val="tx1"/>
                </a:solidFill>
              </a:rPr>
              <a:t>Fertilizers</a:t>
            </a:r>
          </a:p>
          <a:p>
            <a:pPr marL="342900" indent="-342900" algn="l">
              <a:lnSpc>
                <a:spcPct val="90000"/>
              </a:lnSpc>
              <a:buFont typeface="Arial" panose="020B0604020202020204" pitchFamily="34" charset="0"/>
              <a:buChar char="•"/>
            </a:pPr>
            <a:r>
              <a:rPr lang="en-US" sz="1900" b="1" dirty="0">
                <a:solidFill>
                  <a:schemeClr val="tx1"/>
                </a:solidFill>
              </a:rPr>
              <a:t>Water</a:t>
            </a:r>
            <a:endParaRPr lang="en-US" sz="1900" b="1" dirty="0">
              <a:solidFill>
                <a:schemeClr val="tx1"/>
              </a:solidFill>
              <a:ea typeface="Calibri"/>
              <a:cs typeface="Calibri"/>
            </a:endParaRPr>
          </a:p>
          <a:p>
            <a:pPr marL="342900" indent="-342900" algn="l">
              <a:lnSpc>
                <a:spcPct val="90000"/>
              </a:lnSpc>
              <a:buFont typeface="Arial" panose="020B0604020202020204" pitchFamily="34" charset="0"/>
              <a:buChar char="•"/>
            </a:pPr>
            <a:endParaRPr lang="en-US" sz="1900" b="1" dirty="0">
              <a:solidFill>
                <a:schemeClr val="tx1"/>
              </a:solidFill>
            </a:endParaRPr>
          </a:p>
          <a:p>
            <a:pPr algn="l">
              <a:lnSpc>
                <a:spcPct val="90000"/>
              </a:lnSpc>
            </a:pPr>
            <a:r>
              <a:rPr lang="en-US" sz="1900" b="1" dirty="0">
                <a:solidFill>
                  <a:schemeClr val="tx1"/>
                </a:solidFill>
              </a:rPr>
              <a:t>Paper</a:t>
            </a:r>
            <a:r>
              <a:rPr lang="en-US" sz="1900" b="1" dirty="0">
                <a:solidFill>
                  <a:schemeClr val="tx1"/>
                </a:solidFill>
                <a:ea typeface="Calibri"/>
                <a:cs typeface="Calibri"/>
              </a:rPr>
              <a:t> of the Week</a:t>
            </a:r>
            <a:endParaRPr lang="en-US" dirty="0">
              <a:solidFill>
                <a:schemeClr val="tx1"/>
              </a:solidFill>
            </a:endParaRPr>
          </a:p>
          <a:p>
            <a:pPr algn="l">
              <a:lnSpc>
                <a:spcPct val="90000"/>
              </a:lnSpc>
            </a:pPr>
            <a:endParaRPr lang="en-US" sz="1900" dirty="0">
              <a:solidFill>
                <a:schemeClr val="tx1"/>
              </a:solidFill>
            </a:endParaRPr>
          </a:p>
          <a:p>
            <a:pPr algn="l">
              <a:lnSpc>
                <a:spcPct val="90000"/>
              </a:lnSpc>
            </a:pPr>
            <a:r>
              <a:rPr lang="en-US" sz="1900" dirty="0">
                <a:solidFill>
                  <a:schemeClr val="tx1"/>
                </a:solidFill>
              </a:rPr>
              <a:t>Dr Vicky Coker</a:t>
            </a:r>
          </a:p>
          <a:p>
            <a:pPr algn="l">
              <a:lnSpc>
                <a:spcPct val="90000"/>
              </a:lnSpc>
            </a:pPr>
            <a:endParaRPr lang="en-US" sz="1900" dirty="0">
              <a:solidFill>
                <a:schemeClr val="tx1"/>
              </a:solidFill>
            </a:endParaRPr>
          </a:p>
          <a:p>
            <a:pPr algn="l">
              <a:lnSpc>
                <a:spcPct val="90000"/>
              </a:lnSpc>
            </a:pPr>
            <a:r>
              <a:rPr lang="en-US" sz="1900" dirty="0">
                <a:solidFill>
                  <a:schemeClr val="tx1"/>
                </a:solidFill>
              </a:rPr>
              <a:t>Department of Earth and Environmental Sciences </a:t>
            </a:r>
          </a:p>
        </p:txBody>
      </p:sp>
      <p:pic>
        <p:nvPicPr>
          <p:cNvPr id="4" name="Picture 3">
            <a:extLst>
              <a:ext uri="{FF2B5EF4-FFF2-40B4-BE49-F238E27FC236}">
                <a16:creationId xmlns:a16="http://schemas.microsoft.com/office/drawing/2014/main" id="{77A2C842-1D72-2245-B860-AD5AC1DEEBBB}"/>
              </a:ext>
            </a:extLst>
          </p:cNvPr>
          <p:cNvPicPr>
            <a:picLocks noChangeAspect="1"/>
          </p:cNvPicPr>
          <p:nvPr/>
        </p:nvPicPr>
        <p:blipFill rotWithShape="1">
          <a:blip r:embed="rId2"/>
          <a:srcRect l="22364" r="20274"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98189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wickes.co.uk/content/ebiz/wickes/invt/420009/Copper-Tube_large.jpg"/>
          <p:cNvPicPr>
            <a:picLocks noChangeAspect="1" noChangeArrowheads="1"/>
          </p:cNvPicPr>
          <p:nvPr/>
        </p:nvPicPr>
        <p:blipFill rotWithShape="1">
          <a:blip r:embed="rId3">
            <a:extLst>
              <a:ext uri="{28A0092B-C50C-407E-A947-70E740481C1C}">
                <a14:useLocalDpi xmlns:a14="http://schemas.microsoft.com/office/drawing/2010/main" val="0"/>
              </a:ext>
            </a:extLst>
          </a:blip>
          <a:srcRect t="20400" b="21600"/>
          <a:stretch/>
        </p:blipFill>
        <p:spPr bwMode="auto">
          <a:xfrm>
            <a:off x="2260600" y="1905000"/>
            <a:ext cx="4762500" cy="276225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data:image/jpeg;base64,/9j/4AAQSkZJRgABAQAAAQABAAD/2wCEAAkGBxITEhUTExQWFhUWGRwbGBgXGBsfHBsgHBoXGhoeHB0bHSghHRslHBgfIjEhJikrLi4uGh8zODMsNygtLisBCgoKDg0OGhAQGywkHyQsLCwsLCwsLCwsLCwsLCwsLCwsLCwsLCwsLCwsLCwsLCwsLCwsLCwsLCwsLCwsLCwsLP/AABEIALgBEwMBIgACEQEDEQH/xAAcAAACAgMBAQAAAAAAAAAAAAAEBQMGAAECBwj/xABDEAABAgMFBQYEBAUCBQUBAAABAhEAAyEEEjFBUQUiYXGBBhMykaGxUsHR8BRCYuEjcoKi8TOSBxWywtJDU2Nz4hb/xAAZAQADAQEBAAAAAAAAAAAAAAAAAQIDBAX/xAAkEQACAgEFAQEAAwEBAAAAAAAAAQIRIQMSMUFREwQyYXEiFP/aAAwDAQACEQMRAD8At424vP2H0gqTtoEVSPIfuIq4WrX0jv8AENn6R70vzab6PFUmizL2tXADpHSNscvX6xVfxpjf4tevpE/+SAbmW6XtgaD76xMNtJGUU4WpZzjtNoVrEv8AJErey4q22gZesaTtuUcXEVD8TljHIXmxhL8cA+si7ot0o4TEdcYKCk/GOhjz7vTziZE6rXqxEvxrplLU9Rd51ulIxW/L9oDXtyWBQKPCkVJU45K6mMM4itWHCGvyRXLB6r6LDO2+r8qQOJc+0QyO0awWWlKh+lwfdoQTLWcB99YjE8A41z+xGq0NOqojdL0tkztGPyp84jO3V6J9fWsVZVoUfCwGv3WMkzlK/N5CJ+Gmuh7pFoG3VjEI9R7mOJvaBRwKU8q+8VKfaVgkO4jgWhSq4AZwfHT8C5elmmbcmEUmeQHyFIWnaRJqSTzhRaLTgBAyJkwnHGLSiuEhNN8jldvYs3V4HNufBML6il4PwjUycQGBHPnA50G1BB2gm8xccGf5e8QWq2ae59oDmzEjE+T/AEgecoZnQ54QnO+WNRCzMzjQWXrjkPvKBRPbN4139Xdn4RDkhpDBFOev0giQoDCup1hOuYXxcQUlai1GHHSM2zRImmTL5Yj6tGlBCTQmuv1jkzVJwzgdbvV2iLKOJn+IhtU1Q3SXpBFoUwZoCmpNDprCtADKJBxIMRTJxVjWJii9UmkaUwqMcoTmhnVM5aPKMgE2g6+sZGW4e0uxtJ1xjE2nUvAAU8dg/Zj095y0Gi2fCmO02lzX0+sLwR8QH3wjoTdB1MLeOg1cwk+wju8APm0c2PZk6YHCcczSDU9nSA65iQ/P5tEvURW1gcqd+tuD1iY2oeWr+0FSthy//fSeDD60hpZNjyQklQKjk5ofIs+PRoT1kNabEgnasPL0iETioUdtM+sWyXKAN1MtKOJAOnGnrBCgtym+wdt1NccidfaM3rlfIphmqCeMG7P2dMmhyWTqePv0hzaNoEOlSJhSPzEgcSGDFoTo2zOcEJwwDUGVM/OD7NrAtiTHKeyyCKza5AAD3JiGZ2dQCRfmEYE7tM9X6s0I7Za1LUHLtgSK1xwLtC2faViY6nozKTQsMoz3T9Le1dFoFlsCKFa5in4jyYDzr0jF2KTNu9xMEq9gmYan5wx2VNkT5ZDBWpwUNAWz94kNksssgS0BK0VKgFXqitQC54PEfWSfZey/BDN7Oz71x0FWL1Zv5ikaxAjYc2rsEpfeLgU6Vi1WjayApkqc6gHoCAC0K7dNMxDAKqSCT1OBb7ENas2Jwgir2xKUEVSRqmo9gYmkW9KUlPcgl6qofJ3HpHFqkpvF5iS+YzOTsS0GSLUhCLoUSTQ0y8+ENzYlHIul7RlzJoQZaUAnFO6X4tSvAZw7XsKzKAfvB/Kr5EF4VHY8ta75qCapC0h9OIrwOEWG0JWpLXRLJwKVJdq6/trEyl4NRK/tXs9KQQ00lf8A7a2JAyJbDk2kIbbstSPGtFcACSfIgGLJ/wDzi1TkzAbqaFnvc6vic4it3Z1S5hqtyaulmfADKBT/ALBx8RXrLs2dMF5CCoOzhqtTOCE7Hmp8aSCzsdIuGy9gJkJKSpSgqmQZxUdYPn2NyoOsv/tFBleD/vEvUH8zzUbPnk0lzG/kV9InlWWcmpQtOrpUMDHpU7YkwpZYvDoCBr4oANhAvS3Ch8LNjQM9D0iXO+B7ClAE4h9P8xq0TLgfOLLN2GFk3dxixAY4dYGn9mnABWcfhI96RLkhqDKnPtpOg5UiGat8DiYtUzsgli0xVA53UsKPU3hAsvstR0zKmjKThxBCjBuQOJW1L1doGnKrjFgtfZ6YihSSdUkEH5iF83Y9oIITJW3T3eDcmTQqlyyRj7xkO5HZ20XR/CPUp+sbgtDySBCjqfOJE2VRybjDRFmXQ3SQz3RTzYxKl1sJjJCcgoYY1Ay5x0vW8MVCxeiwr0bofmIY2GwCqi6iK3SAOpfGCV7SALCYHbeFT5sCPWNrtyCkJCikEVZOPOsQ9WRagjU+VNJ8V0c/2iWyzgkMqam9WqlOB5wlnSpSi6lqajMG93jtfcoAuip+JJUfe7/bCsZYhb5QF5S0EuGIY+gETWPa1lDoTMUHL1SA/NwXArg8VXv1LSWuhswhCfk8d3x4govokn0MFBZfZtpQoGYJpQCG8IUDoWoeuGopCdfaWVUK8QLOkMCA1Q1ehis/8vmrqlCyDmoXR0JLNxcQPNsZchS5acqzEn0SSfSGo/2JyH8vbqVKwUoPiqYaB8glKW8zEc+ehi6A1TuG6+dSoKUehEKLPZpScZ4PBCFH3uiDDdLUmqbgE4f7odJCthJtclIqh/0pURmcSq9wyiKwgzVlMtKLx8N5IUwzc3Kc2aOULT+WyqUrVZUfRISIkNrnAtcZDghISQkHVtecAWWqySjJQVBEslqKRdY0zYCmUDW6Wkh9zIu6Aa48fvGKv+Kmu6r4GpvFmwoSzQQq1LoL56pTXPzhKHZW8It9kJdkhhpcA9VEP0jvZhKUq3Rh8cqvUNEZtuanNcHIGGO6QI0begVILf8A2Kf3MPIrRu2WNN7wjzQa5UvBuVW1jJGyJhLXtMUFOOlKmNptksgOVjOi8MdUmCU2uU1DMWakl1U4UA0hZDBJZ9nBDtLUTQANxpyNRnExsqlZKDY7uPQElvKOZdpRedmLEk4Uzd8aPSJ02yU4dSipTEUpjjukwigY2clVABQOovXLSnSCe7NKJfIAnOtev3lE67cm8SlY0opvcezxF+MdTKKWzvJQSeDk6e8TQWGy1gF1P9GANCaY8dImloQpGBLVo4xanprpA02dLzQoBqNfA0GowyaIkWxReirpOSw3s9IB2hmJ5CTU1yYlvNjRtYhkTgoPdF4AsSGDPjQv1rhhGWeUbxUxIOSgfI6ikRIs00kkkDRvkGGTCJKQLOXvOoJBwJBGX6WFRSvCI3QoskgXQSxdyxoTSprlBn/LiE1Dn35n/ESBFxrlFEEkgPQtTGMprw0ixcVE0ehDXaVPJuHLGFk+y3auC4oyUU50JYcsjDSbMLvVycR76xxMQlRuku7etIx3FNWiqWy13XBIYFt1IIxOqAcnYecQIHFhkAkBvbWG3aOz3JEwlTL3QlRxxoN0UpFd2XbRMoccMfaLTtWjN4YVNsEly6QPOMiRdvYkd2cc3+RjIVsMEUzbEtXiS9fzAfWMG3pYAHc3a4hn6DCOPx0xWKUtxRw4x1OCboeWldTQJL+SCM43szDJXaJA8SMcmFdXKVCsGm3SSkLO6FYJKLx4MC6mirizFJfu7lXF6jaUVeVElyYElZJZWJUWvdDvK9oqkKxodrJeiJYwYKTLpqVMk1OF0VicWuXvFZUw8ICJYWo8RdZCOfR4riVXWZgR59SMKZCsWTZHZqdMAmLdCMQDQnix8I5w6SFyG9n5fem6kpv5BSJZSSASWN3IDEhnONRDK2yJ0tJUtaUJFGEkFjwIIB6CJZW05dnlky5YClUSzqVMY1LkuUhiHweKztLaE2fvzF0dgx3BhupAqs65PAlbG2kji0bUJO6EnUqRLJPEi7ujmYFVbpnxhsWASlx5A+8EmwIki/aXr4JIICy+a/gH9xjSbYN66iWHLg3SQP5QadSOsaKjOyGVabSpiO8UMGBWR6HGCCJ48cwI4FdfJJKgeYga0TVra+pazoSWHADlo0cSLEtZuoQVHO7gOZ+phiCu8lDGapR4SyR5rUk+kczrYk0T3h5rb0GA6xqZZEDxzUuMpYvEdaJ9Y2JsnJC1t8awB5JD+sMAiVtBFwXu9Ks2WUgatj7CO07UWDRKlDITFrW3k0Ci3EeFKU8BeLdSTHEiYASShKycLwoOgVCpDth83asxQJUhHEBAGgxd4imbRQcZaEtiwY/3LMRyrQ6gLqH0EseTXaxJ+Nm3mCikAlrrJ/6QIAsIs5QoVlTW1QoN/wBLHzgpGypSzRS6lmVLr/uCiG6CFK1zFElZUSfiJ+ZjSZf2AYHYWiwq2atG6m4rkCTUGjJvau0QS5CipiQ9cji2DU+ULe4VTEcs/OGUq0LfeN4BnclX2eMJ2OySXY1D4RwqPOmHWHA2eFBLFIqXok9NQG0iKyz0/CAw1bGmAOPMQUUhRDKD5OMM8QPcZxLtlqjiz2ZJJIDF6KunQk9AM4Yy1UF1W98Jxzbdx++ECy5KhUbwehBPyN2C0zCaM5xqApmHyoYhlo7TNUWBQAxrQ6VYBx/l2gqYi7gDXQ88i0bkzWDNUcGOHJnjSpm6Spw+uVBnGZoBTE3nGAwFCDyww4wPabMEIe8HLOSR1cg4UiW1pS5KQByp9vCuYgqpUAYgcfWDImyMJFUmtXDH7OuAgcrF4g0Z6nLz/b1gyWlOGWZiNZHhSXBNKDpk+UZSQJgfaWQPwywpslUqSXGGbVq1WJjyqxTFpmgod3y0zEeuWyyOm6sEpUKguxOvrSKfO2emz3SWJGABOJwcvhwg03SoJO8gZspFH8+NfhjIaEzTVKEsW/OoZafbxkKyKJZNpoCreYVZRJfgCYJO2UugAXgotRt05XksWfWFU6zoIJCllSQybygAM6XRgWb6QLMtDNcJUAGcKyooM+JTUf0iLWRsfJtiSFLMtCRKWUk3Qyg91wwBBdjE21LHLXdXhdN5X8v5q8vaK7OtkwoUkl0G7UvkU+WQb/MWL8UkhMxKnuKqGJYKcEFvCMDXQxaJYPsKzJ78OhBFUOcElNQQMCVJYvjQ9TLYJv4pPfrJlkkJQk7pOIChm+GDVhNIUULYFyFS1EBmDKKf+hYHTyedrLwVLahKqFwD4TmTrnFkgFps85ZQVKBmzSBKlJIZIxJVokCrYa6Rm1JybMO4k7012XPuuolnuyhW6BwbCO5QVNkfikqKVXSmaUhnOJNMLySFHrCmoqkgbpFHoDVRSdVCmtTDQmDIQFEqWVFX5nqpXI58VZYRJKRUtnicgDixOCf1HpG13EjUqQCE5C9euAkYpRLAU2prnBdiuMsqHhDplKBclnvrLNm7e0adWQF2KyJCDNmLEuXUJuh1LwAuJVgP1GsBW63KIZBUlGAS+OpLUJjiZKUsibOWEpUKOKlvhSKt5CmMd2eelypF4MwQ6qtqSK4/lS2eWKTBkaLMoJdYCRg6gfROJ5xJ3SXF3P8ANMASngwqI6s0l1GZMJug54qOg/aJrdaVlRUU3cheICmwFDVm4NFWBAmQk+JZP8qGA6qKfaJzNlJ/ICf/AJJileiAB6wI3F+Tt5UjkAJwvdAB61gEHptgFQlKf5ZQ9CSTGgsaN/Sgf9kQps61V7o81lTeZKRE91QoRKA4d2fcqhjO5aw4VunUFI6YJEEC1D4Uf0gj2ECAamWOaR8kxKkgYmWW0BHyEIZOhYOKT5n5wTZlpTg46g/KBpTkXkhLsQwIL9HxjZC0kOSOBhAOZCxkpOX5E9PDXGDJQCjulBPA3fQ48oTWRS3p9u/HSGcmzGjgl8WqWx1xiHZcRhJQQK7qcCQ4PRqdY2VsSyioUxFA1BUfdYikTmoCpPLL7EEklRFwhY/VifYxLNDaLaVeGpxwJpngXzq8DrtRqc/8th91jqeTjccsRx4sWc8jBU6xpuXhgQSDnQOQRmKNCY8vgVC0FW6vMk/LKNmW4DFnoxdq6EcvWGNmkIUhwCHx+8GiVASUlJZgzE0dqvwLHGJddCFSLPVjRuj0x0+xG1SQkkPVswOOmkFTJExRLN8XTVjgGwHAQFbcSpwGxbgNeesSpIGiOessbxF0FyDj9jGPO9oyZhnrfeZVGJ5DP7aLda5wVuIN0k0IpmOBwwr+8BdwAgi9dBOLgPmXvUfidesZXTB5RqVMWEgFKyWDkVy1eNxP+PsyaG0qfNlhvQNGRNlWILXOTLdKkuCl0ml4Hg+FfeFku2Et3icKJy54D7cxvae0BdSFf6gLkAgtwOQP6Q7axyqaDcIG6z/I+ojREsK75AKUrKVIVvUwookU1S7cRTSGlgKRLmSUAAlKqu4qCMcwKZDERX5tmdS03ah7rUGradYb7DkzbwAGQL0pTAjG6cCQ7UOUWpUTtILEkLlzLoDrli8WqaXnGFXBfiBpFi7SrTMlSVszqBOdSmlcIAs1nVLmAq3EG9lhvXq1YgE+RPB32z9l3pRkKLXRukjJy2eKTTy1i1OxbRV2XtUtCTKKjcWkJmBRDVVcSRXVSXAyJwgfaFgTJniUohiAw/sD01SnDUwGvZq0lYcpU4SzYhSgk1yYn94sMkC0JM1VJ8pN1ZbLBK2ODEEFPrA3WQWRNakJUFXN1wSAckmzi6BqwBEWKw7JCpcxQVjPXfunxDQ8LpBprAHdhV03XIYoGSgAvdJ1a+h9UoObRYNgSVfh1FWLMW1CQgkc7r1htuhJZKZaJSp5VNIADqAANLstJW1eCQInsOz3VdTQ3UuS1CoXlkcQ4A0eC0SUypSJtVSykioreJU7tgWUQ9fEMGgrYU1KLymvABizObqQH5m7eGl4QKQqJp8q5Z13aKlrSl3qxd68/aEdpsiQynd8OQoS3EinKLAnFUlZO/uKPFLFCuLgv1MC2Kxq/ES5ah4SepQFKA5UA6xUWDQpXY7qrlVLzAyOh4wwXZO6G/MCOEsC954wZs2zG7MnrcqJUeNCb3mQYr9ptJWoqViaxd2KiY91eJ3iP1VJ8iPeOr8sYJNf5a+bxBIsq1VCSeJoPMsInFmOqaY7w/7awyW6OpVoQCGA6hJb+2CJdpQz3ljgES4FVKVw/wByvrG02YHXz+oh7WR9I+hctcs1JW3FCNeDQ1s0tJwvgZukNXBw5gbZ+zDMISCAeJZ+qRFik7LWFMrg5AH2esQ3WGaQ/wCsoXyEJc0xZzdAduIJplDD8OxSUqG9V/Qh/wBoM/CB04OcaYuPpWC5cl2GQ09fn5xnKZvGBBKsoWd9OHmGpjnHUyz5hgnMCDFqZzphxgW0AeEHeUW9ifcRkpOzVxSQPMtFAEpBUuicK4gkkZCuGhiZNiFSpRwIfBtWHnrnEoA7wmjIDDman094GtSiWAzKSeADED+rX6gFXYNJIiWi6m6TkHI/f1eNiUwCyGGQbnjwz+6Q220BJdQdyH6Gg9idBzjdttZmAIQHUC7PiRXnj6caQSfRKBLVbyXRLBUSQ+ApgX4Dh5wCLHNUreuufClBdi58Ra6DiczxgC2yFj/WWmWSS4ASStsCoCjh8CCwzEM5SpaZV1AJuMo92FFgoli3EvSucZOXgJXyIZezlLSVo3lqe5WgyD3shXDF4cnsghUlEucXIzTTiQKUBZnxMMdmykBIPdLCq3QQkGvAqcdWwaDZ9vRfu3XUGBLsBzLe3rWItlKKAbJsiypQB+Hllv0JPqQ/nG4bpRSi5YGgQ/rerGRG2RokjwlNqssuqJT6GaLyjxCcADqYMkWW02ohagESgXDhn9OjtpAH/MZUsvLQAfjUm+o8d4hvWB7RtiYs1XML/qA9EikdOTnHW0J3dzaKG8lXhcFKjjnxbLOJ9kTSmagFbvR3qHwY/CcCDFblymO+AjOqq+XihhYrfJCgCVkJFFBhVycCapeBoD0IGUtVxYF4h60cYP0gmVJ7s0JZvk2mLU4sNIqNi2gJk2Upym6oteFWNCOUWGQFpUSFAobdYYcDm0QpuJVWGW6wd9voAJAYhiKEMoHiRnq2kasi0pUVCkxPivDxCju36cdC5GMd2S1EFzumjKSaYVfT/GNYbyES1nfDKDELDMfp7RanaFtyLLds1Kj3stTIUWbG4twzabyQeJBGcTdmpRTLMtVCXoC7V3Q+ZCadBBwsqpLsm8hWLDEZOMw3XnGpUpKj3kssoGox4deDsYpT6Bw7K5ZrGEd7ZJx3Cd1RyJqkvoaDnAlhsyrOtUpWBLp46+gi57RsCJuIZYOlac8RCtdlfdmJcBmVmGyOYirIcSGRJJu363dMSADdxzAJB6HKCpspQUlafEguFflNCGVoSKcYgS6KeIZPh0P09YMs80lrtQfy5/8A6FMRBdgbmWcBKiBuKBdIxS7+xJ6MdYr9n7PgrReYpd1McQWbprzizSJmLUIxxw55cjGk2ZJIKd06NQ54ZcxFp0JpMU23ZxImy8lAXB8JS1GyBAoYXWmQUgJUkg8otTTAPyqbI19R7UgOdakkMtBbHdww6/KKjOjLU0txVSmOrNZlzKS0knlFilpkO9eqQfYwQLTLGBJo27u54YGLeqZr83rINi7GUgiYtQDflxPp+8WCZaLw3RzL4dcIWfiSxuoxzU/zpGu8LfxFZBwC+HkPeMZO3bOqEVBUhgZ4Bcne4ZCmX3l1jTtNKQpIBcGgep6wvvP4QWqAS/GgapLA0ETSCoEsAlPJ+lDRVHzxFdJaLUmF2iYtYYi6+n15xzLlqvMlW8kMTRhU4jz516bWVMQjheUrAHieGDCAVWgpdKV7pxXheOBu6BqUhf4F9saCUA7qN1jV88VEnXj0hXatoJSCs4HwgY0z4UHkHOkc30IlAKWESsL8wivte5DSsLNoW+zy6uqYpqGZRO89WLHAmg04xlKVcFXgGO2islABdOYFRwdnJrEwsVqVLF0KDnwqN1hVyoUJJwx/MYhldokG6hE0OaITLSAkF6qLsTnSuGbwfN2Yt0vMmrKg6pi1eEUcABwl+GWekOQkrCvwwSyj3SLoqogOBolwaUja5ykj+GQyjXcYsBR2yf5Rlg2WhKTeFDhUjBy9CD0rE0yzBVN5KUh1akb1HoBybOMm30bJCqwqtS5l9M10JYFgGd/CAxq5H2IK21ZASXJvE710soPgeUNbIJabktACUgXmGZPDMipJ1IgbtLZwLs0ByKFtMflBuFtwVJWwlgsZi6cUn1vxkPZFsTdDJkqGqnvdWzyjIf0ZHzR4mESklnvnkQPcH7wifvFKolJSk/0jyADnmYDRbLtEgJ44q8/o0dX1K5cSw9Y6jMLF1On+0e639jEn45WAUQP0v7nDoGgRCU5ny/dh6mJE2u7RCQ+RO8emCfSEwGdjC8UJI1UXJ9aekGISu9eVNCWzcE9ADTzhWhU1dFqJ5uW6ByPKCZUpI3QLxOZJPklD+piGUMbNtFKJwWmZNVkvN6MNDSH1o7TplpBSq8stu/8Al0isTbHMZilQToppafIs/pESO8e4lSUnSW5pzQFH1hbUG5noOx+2qE7s0EAgdHyOh5Q8mS5M4hctYJaikkXh9Y8tkbMRUzJgN0OrFk/zAlJfg7ljSJ07XTLmDugWyvMCo0/KPCltfrCcfBqfp6bLtq0AInC+CWcCvBx84OEhKqg3uBO8ORFfOKTYe08pdFKYMCCTg5unmAflDlCRjgTmXH28L6Ncl0mOl2TTPLA9QaGAbXZT4h4i4KSKYZv7xqZtvugRNAWkDexcACtCmvKCrLtOTOQDKWlSfhUSB0OKTo8aqSZDigdM4jdmA8jUDkcRyeNrmsQwJBLHMDiSKtxbrDDvSN0CuaFj2OCubwrtEhlPLdKhUpP75fdY0TIcScrVgHP6cfKrdHgKYsOWSUYk1bqQadYkRbrwCJic/EKKHo3SkamuBe75abtTeqQcKjC7XTpD3E0cld4Fj/U6acso5tC1D9I4lngix2krAAX3iiCxe5hR/DUdYHm7SKCElYKs0pcq4a+ppBuFR3YwbuBUThQ/Nn84Il2d6qYciMeaqe5jhK5qsUhIzKzePBkJLPzPSBNqzEppevq414UHhfOg0iZSKSDZSUDAgkipFU4vUnHg7Y0EcHaBJfFsh6OTiOghJPnXAFTD4iyQHJLNkH3eVIIsluJQq4hIeiVnjQsktlR/8REpDXIVb7epVTvkUCEkADzfzY/SnbT24ZhYqU1HQnI1oS5KmbHCH217ItUoXQQlKVpB1JukNVmIEQdn7BKkSVGaP4izcD5And4Gtc3jPf2NxbdE+x9hLKDOmJUgMbiCWJAxUvNmoE8axFtbs9LtMwqQSFF3erAAigpQGrVi7qnSyogkUF2vq2ULNm2QFalOSS3BgHfDFTmr8NIjfk0+a4I+yvZNFlSVk3pqkteZmDZZjj9iGttGAyvB+LMfL5wZNmVSnUueQr9IFmm8nGoYcARgW+8ImTstJRVI1NJAVTAAP5RGiaxLtvAfPFn9o5mKCiokuhQw01FOMCKWlLJWnA8Q3XE4QhNhNkSEPk5fFydOcGTUiYgjUU55QIlIUkORu+HKmh4wbZ0BgAcIiSd2VEqcyxIc7qMc3frWMi2TJKCXID8/3jIraKj5nVOSAyUiutSfl6RkpK1mjnicBzJoOpiGYUDDe4mg6AH3MEy76kgqITLGD0T/AEpGJ5DnHYYBH4ZCRvTAeCAT6lh5ecTC3Sk0RLJJpvEB+DJD/wBzwuXOQDQFXMsD0FW6+US2TvV7sscDdAHmr6mChDWXbFsxTKljQpBPkq8qO02xQcd7MKdEm6Pct5RDK2fKl/604A/DL3ldThBsi12ZBdCCafmANdakseQicDOLPKWoFSJaQn414f7l7r8hBtnki7VcxaQ7plOEPo6vkkwJN2k6gbqlHK8pzyG7TpHczvpjK7hh8Uxa/wDvWB6RNsDieSXdQlISaBIKi+oYljk5YnjHKLVKAuy5S1rVitZBJJ0DEAVzd84lMgpS4EggB71VaP8AppzguVbUyUCZVcwuWa6AMipIAABx3jhq7QWAFKC13qgpAKVrJ3EghmByH8oqQGi29n9vCZZ/4irxki6VmgIFEk54AccdYo1r2lNtKruWN1LBPEnLqY5FplykkJJWskXiCyKPTB1VOPCkDjfIKVFg23t0zgQNyX+Zzi+AOf8ATic2hLs3aa5KrySWqOGDV84XLnFTFZYflSKdeA45xtF5SSQN1OmAc+8aRVYJbPX+z3aJM6SDMSSmgUDiguBeTonDk46PAGX3E4uT/pTPzHhzEeU9ip571aCSU92qmQdx7qZtTF17WbWQFWdIKr8mZLqBirdccaEuNTB2UnjIdtCXcV3cwO/hWM/sa/WBSFht4HRqHzz0YvjEP/FW2mWJJQppiVXhyDg0z8cK9nbZC50xBqlN0pIrQs5PEfUZQNipWOhJClPeYEFwAwP810OW4vnB0ky5YupWkYOEpbHCpqX4RVe0O2TKmJSqWG1c3iKOR7Yw0SoEIN9NRuoVmMaNhE8qwwgu328km6olNQDVzg54s7YZ40hXb7YmzgEpC1OwBNBQEsBwIrqYnQrfSVgpBFPViDhm8cbX7NJmAqQo3VFlgFyniKAkHjAxZYP2cmT5y726pDjxOSp3AAPAh2w9GtS9nH4mOR04cBFek7TVLWLPIQ5QwchgAATqA7Zltaxc7X/pKWchVvVm55RLlRcI2amWW9KRLUXvGub0JOOTPFa2SpSkJG6BmotoPzfSOdhbZmG0y0zJhY3khCmfwuknBnw6RNYLOkykhQAuXnJpgA3zjOSLTsczLHNKryVADFw+VGjLLZlSz3j3go1/S+fERztLaq5aJcxJFwteo4cs1XpDSzb6SSgJChhmebQkrLxZpKw4ORz5xDPZCgQAxd+HH19TG1Wa4GclGT1IP0iRBBNRUDHXr95RnxhlcimckIV+lRfqfv2jc2yFYG9UCr6ZORpBlts4agcZivpmDWObLPAlkjXSvF8n/wAwXZFei+zTEuUEKf2zFNPrE/4s0fk+Rwbq0crs4WsEG7fSXpkFJI9/vCIdqIXLLhIu54k5MRX7pA3eASaGf/MGoVDyMahVL2klqhzqBQ/2xkTkqzwK+hJ3RebNQp0S7NzeOrq5m+pTD4lYUyDCvICnCOLqEaLV/aP/AC9ucdyZMycpg5YYmgSPlyjvbMDlakDwgq1Ks+SUs3UmCrLaLQuiSoJGm6gc2YRwlEpGP8RX9nlir2iVF9ZCanRCcB0FB0ibEFiUgDfXePwyx/3H5AxpwD4UpH/yKUT5JY+YiRUoS2vrCTgUy6qHMuB5qjlFoljwSgf/ALCVHyDD0ibAIRtYpBCKUZ0BKOrspR8xEgmqWx7sLOpC1PzF6schc0jJDZIQAedBTqcoIV+IIomaQfzLvF+IB3feBgbmTbUllJs6OH8FyDwTiPKEluttoUr+M+JJvghnNSEltchBtrs9sAcKIQKbsxI896KyanEmKggGk/aYuGXKDIo5ZlL5tgHwFesckBABIdWaSCyWyIxJ9OeS/DDKJUVTTEmpPo3GpeKoQVLBUbyiS/nBN8sz7oyy58+MQJVxxi39nuz0pKBa7appQqmVmrIFX6XwAqaZFjRLC/8AhzYVgmciWqZNO7LCqSgKErWWqxZgM65Ub9pFS7P/ABpizabSgukBkyZSnoogF1EFi16rDCK/trt1MUO6sw7mUAwCQAW4NgG+xFVM4qBFSSSSczQvX7zg7sfVBm2drTbSszJqryj5AaAZQ97EmsxZwoHelMm6xXtmbPVOVdG6kVUtQLAcePCHlrtkuzSu7lKqKKVTrX4z6CJnxSHH1gnafaC12k3i4lm6nkG+cXWxzkzJMtVQyHN3IZClXJIGfKPLEFUxbAEqVlUkk/Mx6Nb7UUzZciWCm6LynapCbqQwYs5zyZsYGqSFebHllkpUglT3XOAegZiBxYcceYilzpgIHeXSlyku4IFSlQIDunDBsjAk+eJKUSU7xCASrNzl6XuvOGFskkoUpt+WoE8QUj0f2MIP8C1rTMSZoAStLd4+qfCDSodsqONIN2BtBU2SRNofzA1YYVPJjWuLwq2ftNZm3bpUhSav4Xz8wPNQguyI7mYAmkuYCx5sACNQSOjxlLBpF9oKtWwUmYqaFMpIcAcBQH6x0juEjulksqrnikB+pfqYHk7SVfUkhil6lyHDuFcCAGiVCJc8J/8ASmUIFCOTZ00iUXa6DvwCLglrZUp0kDDwqBS+sRL2hMFTdHCuHny+yAeLNKtEo3VXZksnxXqjV6dIlnWNJF9JqNcCcA5xYULQnY7O5+0dxTB1miUjMmjcvoYFQuYDQlR8NABXO7TDiXiAorTEGq6DXD4U+rRMbQlLgKxBBURw05xLVhZzNnFSsCHVWuoOemTtBq7PuuBVsGp1gOTTBZUdDnRg4y6QVLBCbpxOfy1jPgpA8xCnCmoARxBo76/vBM2gZbEan7pAludNatmfR+Y9njU+8tLg1GWjYiJ5DgEOykZJJGVR8zGRpFpW2JHX94yJyLcjwqTY6gziUg4J/MrpkOJjq1WorF1Iuy04JyHEnWIE35i8yo6/daZCCStEoflWvIYgH4lZKOQTgM49AxMlWZiCtVxJD6qIPwpyBH5lMPaNT7cpQEuWLqCaITUk/qOKzz6AQJ3ilqJdyaqJ46mJZc0J8OOas+QfAe/pDoAqVZgC0xVwcAFHoAWfmRBln2mJdJSQn9SgFKOGLhhyAheiST4iEDjj0SKxOm0pR/ppr8SqnoMBEtWIaC1z1uy5jHEJJCfIUgdEi8pt3qpNPWF6pq1mpUrzP+IKs9lmg0Sp9GrDSE2BW+yKUsvdYUDLTh5wLLksXKS0PhsK1EubPNL/AKTG5mw7TcK1pTKSM5i0p4YO8XEVlfmIiWzy1FgEknT/ABDVEyyyg5e0TdGKZXyUr0EDK2rPVuJZI+GWkJDcWqanN4rAWwmz2FCKz1hI+FBClKbFIuuEc1ENHO1tpzLQq+RupAASHuoGAAf75ANAtnlJP+rMEsPgN5VdEgv5kZRFtK0SibskKuDArxL5kCjwXYqOxLJwqYZWWYiVVyVcHA5UqfT+rCF+zFlAJIc8ciMCW0yGsTWeUVnu0i8pUJ5DgJte1psxBSVbrvd6+rQrmrKjU0y+gGUXrYPYpJI78upWCEn1J4eUPU2PZ9nllNxE1ZDutAISBgHZhi5zx1ibSHVlE7K2MiaJpDIl75UcARUPrWrDSHXZ2YZtomTDgK+ZpjwiHtDbgq+Ha8akgAlgCEpAwS7F8GAxgXZs7u7NNWCxmKCE9ASo+RhvKJLFItpnTVplneBDFOZN4OOAoK8TnS17KsiyDfLlQAI0DacfFXWK32C2dd/jrcFQ3aZfJ/lF12cq8pZ5AdB9iIbp0XFdiWRKKVKlEmpoxZ/vHrA+0O0lnljuJv8AES1Sn8uSeL/tB/aCUZShNIAALnIaH3im9tbOm4SEmpSb2oLnLEV9YGrdjusDfbe1pU6RNnSiLxAl1FQlR3gNfC/viIqln2oxl3n3QwOTYAgco4s8pYsybrVJC+IcENpQKhVKlLmEJSkkqL00yY+cKKqxSdnpvYGZfQ9GQ46O/wA4uBW5rW6+ZzFev+Yq3ZKQmyygDWYrTE1duQiy2SWoM+eP36chGUucGsODi12AqYpxA8JOD41y+2hbaUEKCR+VjWjch951LxZWYPEIQldSK8RXhE0zShRYE7wYKPFtOP3lDK2SyEump/fGCUozZhg0RTik0VzrhGckNKhati14voBic6CAbJPqCMC4I0uuPaDROLs2eRhPY1soDEOo+ntER7Jfg1Xs9CjeY10aMjhFqADXiOQBxrjGReAtHgM22gJuSqJOKvzK6jAcIDQlw5LDXU6D7pG4yO6qM2jJk7BIoMh8zqePyiSSti+Jy4fUxkZDoVE6XUaVJi27D7DTpqe8mNKRiCujjglwo+kbjIhkFgl7LsdmR/GWVMMzdT0SManNzWIV9tbLKBElBU3wpA6uW+cajIExCTaPb2YqstISeZNHo/HlFRtdtVMN5alKJrUvjzjIyGkikgf0EcptJTRJIfONxkaUFGIkFTl2AzUftzwgqWmWgXlKC1N4agZ4l3jUZCEZ+JKyBgHZIwA6ZR6J/wAOdipKZk5dMEpUoMKvebmWGsZGRE3SwCWR1tPbMiShTKJP5lAjeyABBJ8mwq0efW/bC1qN0lKcg9fMRkZBFCYC5OpJ6kn3JhtZLGZi5VnSXIJvEYAnxcwABXOsZGRbwiT0SbO7hEuSgAFDCtHLUfXU611Dv+zVmUiS5oVm8QfyggMNaAebxkZGMTVcgna8JVKCSysSXwYA/Mwi2kEGzovjduMcTdYkAgAVI9nrGRkWv4ky/kV3s1YRaEql3rjPk4dQI1DZkQy2fsD8OwCSpaiwUHAbQF8HNS8ZGRnIIlz2fsU0UcQKXss8BhWta9cGyXGCVq5sPIEv6RqMiFGzpSSJ0rUR4COojUqq1UowHXGnnjGRkaONNDMS5zNKFogTZE3r5SX1PpG4yMZLkBUu0JvFsLxryJhXZEtXMI96RuMjFdil0TEE1eMjIyHRNn//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6" descr="data:image/jpeg;base64,/9j/4AAQSkZJRgABAQAAAQABAAD/2wCEAAkGBxITEhUTExQWFhUWGRwbGBgXGBsfHBsgHBoXGhoeHB0bHSghHRslHBgfIjEhJikrLi4uGh8zODMsNygtLisBCgoKDg0OGhAQGywkHyQsLCwsLCwsLCwsLCwsLCwsLCwsLCwsLCwsLCwsLCwsLCwsLCwsLCwsLCwsLCwsLCwsLP/AABEIALgBEwMBIgACEQEDEQH/xAAcAAACAgMBAQAAAAAAAAAAAAAEBQMGAAECBwj/xABDEAABAgMFBQYEBAUCBQUBAAABAhEAAyEEEjFBUQUiYXGBBhMykaGxUsHR8BRCYuEjcoKi8TOSBxWywtJDU2Nz4hb/xAAZAQADAQEBAAAAAAAAAAAAAAAAAQIDBAX/xAAkEQACAgEFAQEAAwEBAAAAAAAAAQIRIQMSMUFREwQyYXEiFP/aAAwDAQACEQMRAD8At424vP2H0gqTtoEVSPIfuIq4WrX0jv8AENn6R70vzab6PFUmizL2tXADpHSNscvX6xVfxpjf4tevpE/+SAbmW6XtgaD76xMNtJGUU4WpZzjtNoVrEv8AJErey4q22gZesaTtuUcXEVD8TljHIXmxhL8cA+si7ot0o4TEdcYKCk/GOhjz7vTziZE6rXqxEvxrplLU9Rd51ulIxW/L9oDXtyWBQKPCkVJU45K6mMM4itWHCGvyRXLB6r6LDO2+r8qQOJc+0QyO0awWWlKh+lwfdoQTLWcB99YjE8A41z+xGq0NOqojdL0tkztGPyp84jO3V6J9fWsVZVoUfCwGv3WMkzlK/N5CJ+Gmuh7pFoG3VjEI9R7mOJvaBRwKU8q+8VKfaVgkO4jgWhSq4AZwfHT8C5elmmbcmEUmeQHyFIWnaRJqSTzhRaLTgBAyJkwnHGLSiuEhNN8jldvYs3V4HNufBML6il4PwjUycQGBHPnA50G1BB2gm8xccGf5e8QWq2ae59oDmzEjE+T/AEgecoZnQ54QnO+WNRCzMzjQWXrjkPvKBRPbN4139Xdn4RDkhpDBFOev0giQoDCup1hOuYXxcQUlai1GHHSM2zRImmTL5Yj6tGlBCTQmuv1jkzVJwzgdbvV2iLKOJn+IhtU1Q3SXpBFoUwZoCmpNDprCtADKJBxIMRTJxVjWJii9UmkaUwqMcoTmhnVM5aPKMgE2g6+sZGW4e0uxtJ1xjE2nUvAAU8dg/Zj095y0Gi2fCmO02lzX0+sLwR8QH3wjoTdB1MLeOg1cwk+wju8APm0c2PZk6YHCcczSDU9nSA65iQ/P5tEvURW1gcqd+tuD1iY2oeWr+0FSthy//fSeDD60hpZNjyQklQKjk5ofIs+PRoT1kNabEgnasPL0iETioUdtM+sWyXKAN1MtKOJAOnGnrBCgtym+wdt1NccidfaM3rlfIphmqCeMG7P2dMmhyWTqePv0hzaNoEOlSJhSPzEgcSGDFoTo2zOcEJwwDUGVM/OD7NrAtiTHKeyyCKza5AAD3JiGZ2dQCRfmEYE7tM9X6s0I7Za1LUHLtgSK1xwLtC2faViY6nozKTQsMoz3T9Le1dFoFlsCKFa5in4jyYDzr0jF2KTNu9xMEq9gmYan5wx2VNkT5ZDBWpwUNAWz94kNksssgS0BK0VKgFXqitQC54PEfWSfZey/BDN7Oz71x0FWL1Zv5ikaxAjYc2rsEpfeLgU6Vi1WjayApkqc6gHoCAC0K7dNMxDAKqSCT1OBb7ENas2Jwgir2xKUEVSRqmo9gYmkW9KUlPcgl6qofJ3HpHFqkpvF5iS+YzOTsS0GSLUhCLoUSTQ0y8+ENzYlHIul7RlzJoQZaUAnFO6X4tSvAZw7XsKzKAfvB/Kr5EF4VHY8ta75qCapC0h9OIrwOEWG0JWpLXRLJwKVJdq6/trEyl4NRK/tXs9KQQ00lf8A7a2JAyJbDk2kIbbstSPGtFcACSfIgGLJ/wDzi1TkzAbqaFnvc6vic4it3Z1S5hqtyaulmfADKBT/ALBx8RXrLs2dMF5CCoOzhqtTOCE7Hmp8aSCzsdIuGy9gJkJKSpSgqmQZxUdYPn2NyoOsv/tFBleD/vEvUH8zzUbPnk0lzG/kV9InlWWcmpQtOrpUMDHpU7YkwpZYvDoCBr4oANhAvS3Ch8LNjQM9D0iXO+B7ClAE4h9P8xq0TLgfOLLN2GFk3dxixAY4dYGn9mnABWcfhI96RLkhqDKnPtpOg5UiGat8DiYtUzsgli0xVA53UsKPU3hAsvstR0zKmjKThxBCjBuQOJW1L1doGnKrjFgtfZ6YihSSdUkEH5iF83Y9oIITJW3T3eDcmTQqlyyRj7xkO5HZ20XR/CPUp+sbgtDySBCjqfOJE2VRybjDRFmXQ3SQz3RTzYxKl1sJjJCcgoYY1Ay5x0vW8MVCxeiwr0bofmIY2GwCqi6iK3SAOpfGCV7SALCYHbeFT5sCPWNrtyCkJCikEVZOPOsQ9WRagjU+VNJ8V0c/2iWyzgkMqam9WqlOB5wlnSpSi6lqajMG93jtfcoAuip+JJUfe7/bCsZYhb5QF5S0EuGIY+gETWPa1lDoTMUHL1SA/NwXArg8VXv1LSWuhswhCfk8d3x4govokn0MFBZfZtpQoGYJpQCG8IUDoWoeuGopCdfaWVUK8QLOkMCA1Q1ehis/8vmrqlCyDmoXR0JLNxcQPNsZchS5acqzEn0SSfSGo/2JyH8vbqVKwUoPiqYaB8glKW8zEc+ehi6A1TuG6+dSoKUehEKLPZpScZ4PBCFH3uiDDdLUmqbgE4f7odJCthJtclIqh/0pURmcSq9wyiKwgzVlMtKLx8N5IUwzc3Kc2aOULT+WyqUrVZUfRISIkNrnAtcZDghISQkHVtecAWWqySjJQVBEslqKRdY0zYCmUDW6Wkh9zIu6Aa48fvGKv+Kmu6r4GpvFmwoSzQQq1LoL56pTXPzhKHZW8It9kJdkhhpcA9VEP0jvZhKUq3Rh8cqvUNEZtuanNcHIGGO6QI0begVILf8A2Kf3MPIrRu2WNN7wjzQa5UvBuVW1jJGyJhLXtMUFOOlKmNptksgOVjOi8MdUmCU2uU1DMWakl1U4UA0hZDBJZ9nBDtLUTQANxpyNRnExsqlZKDY7uPQElvKOZdpRedmLEk4Uzd8aPSJ02yU4dSipTEUpjjukwigY2clVABQOovXLSnSCe7NKJfIAnOtev3lE67cm8SlY0opvcezxF+MdTKKWzvJQSeDk6e8TQWGy1gF1P9GANCaY8dImloQpGBLVo4xanprpA02dLzQoBqNfA0GowyaIkWxReirpOSw3s9IB2hmJ5CTU1yYlvNjRtYhkTgoPdF4AsSGDPjQv1rhhGWeUbxUxIOSgfI6ikRIs00kkkDRvkGGTCJKQLOXvOoJBwJBGX6WFRSvCI3QoskgXQSxdyxoTSprlBn/LiE1Dn35n/ESBFxrlFEEkgPQtTGMprw0ixcVE0ehDXaVPJuHLGFk+y3auC4oyUU50JYcsjDSbMLvVycR76xxMQlRuku7etIx3FNWiqWy13XBIYFt1IIxOqAcnYecQIHFhkAkBvbWG3aOz3JEwlTL3QlRxxoN0UpFd2XbRMoccMfaLTtWjN4YVNsEly6QPOMiRdvYkd2cc3+RjIVsMEUzbEtXiS9fzAfWMG3pYAHc3a4hn6DCOPx0xWKUtxRw4x1OCboeWldTQJL+SCM43szDJXaJA8SMcmFdXKVCsGm3SSkLO6FYJKLx4MC6mirizFJfu7lXF6jaUVeVElyYElZJZWJUWvdDvK9oqkKxodrJeiJYwYKTLpqVMk1OF0VicWuXvFZUw8ICJYWo8RdZCOfR4riVXWZgR59SMKZCsWTZHZqdMAmLdCMQDQnix8I5w6SFyG9n5fem6kpv5BSJZSSASWN3IDEhnONRDK2yJ0tJUtaUJFGEkFjwIIB6CJZW05dnlky5YClUSzqVMY1LkuUhiHweKztLaE2fvzF0dgx3BhupAqs65PAlbG2kji0bUJO6EnUqRLJPEi7ujmYFVbpnxhsWASlx5A+8EmwIki/aXr4JIICy+a/gH9xjSbYN66iWHLg3SQP5QadSOsaKjOyGVabSpiO8UMGBWR6HGCCJ48cwI4FdfJJKgeYga0TVra+pazoSWHADlo0cSLEtZuoQVHO7gOZ+phiCu8lDGapR4SyR5rUk+kczrYk0T3h5rb0GA6xqZZEDxzUuMpYvEdaJ9Y2JsnJC1t8awB5JD+sMAiVtBFwXu9Ks2WUgatj7CO07UWDRKlDITFrW3k0Ci3EeFKU8BeLdSTHEiYASShKycLwoOgVCpDth83asxQJUhHEBAGgxd4imbRQcZaEtiwY/3LMRyrQ6gLqH0EseTXaxJ+Nm3mCikAlrrJ/6QIAsIs5QoVlTW1QoN/wBLHzgpGypSzRS6lmVLr/uCiG6CFK1zFElZUSfiJ+ZjSZf2AYHYWiwq2atG6m4rkCTUGjJvau0QS5CipiQ9cji2DU+ULe4VTEcs/OGUq0LfeN4BnclX2eMJ2OySXY1D4RwqPOmHWHA2eFBLFIqXok9NQG0iKyz0/CAw1bGmAOPMQUUhRDKD5OMM8QPcZxLtlqjiz2ZJJIDF6KunQk9AM4Yy1UF1W98Jxzbdx++ECy5KhUbwehBPyN2C0zCaM5xqApmHyoYhlo7TNUWBQAxrQ6VYBx/l2gqYi7gDXQ88i0bkzWDNUcGOHJnjSpm6Spw+uVBnGZoBTE3nGAwFCDyww4wPabMEIe8HLOSR1cg4UiW1pS5KQByp9vCuYgqpUAYgcfWDImyMJFUmtXDH7OuAgcrF4g0Z6nLz/b1gyWlOGWZiNZHhSXBNKDpk+UZSQJgfaWQPwywpslUqSXGGbVq1WJjyqxTFpmgod3y0zEeuWyyOm6sEpUKguxOvrSKfO2emz3SWJGABOJwcvhwg03SoJO8gZspFH8+NfhjIaEzTVKEsW/OoZafbxkKyKJZNpoCreYVZRJfgCYJO2UugAXgotRt05XksWfWFU6zoIJCllSQybygAM6XRgWb6QLMtDNcJUAGcKyooM+JTUf0iLWRsfJtiSFLMtCRKWUk3Qyg91wwBBdjE21LHLXdXhdN5X8v5q8vaK7OtkwoUkl0G7UvkU+WQb/MWL8UkhMxKnuKqGJYKcEFvCMDXQxaJYPsKzJ78OhBFUOcElNQQMCVJYvjQ9TLYJv4pPfrJlkkJQk7pOIChm+GDVhNIUULYFyFS1EBmDKKf+hYHTyedrLwVLahKqFwD4TmTrnFkgFps85ZQVKBmzSBKlJIZIxJVokCrYa6Rm1JybMO4k7012XPuuolnuyhW6BwbCO5QVNkfikqKVXSmaUhnOJNMLySFHrCmoqkgbpFHoDVRSdVCmtTDQmDIQFEqWVFX5nqpXI58VZYRJKRUtnicgDixOCf1HpG13EjUqQCE5C9euAkYpRLAU2prnBdiuMsqHhDplKBclnvrLNm7e0adWQF2KyJCDNmLEuXUJuh1LwAuJVgP1GsBW63KIZBUlGAS+OpLUJjiZKUsibOWEpUKOKlvhSKt5CmMd2eelypF4MwQ6qtqSK4/lS2eWKTBkaLMoJdYCRg6gfROJ5xJ3SXF3P8ANMASngwqI6s0l1GZMJug54qOg/aJrdaVlRUU3cheICmwFDVm4NFWBAmQk+JZP8qGA6qKfaJzNlJ/ICf/AJJileiAB6wI3F+Tt5UjkAJwvdAB61gEHptgFQlKf5ZQ9CSTGgsaN/Sgf9kQps61V7o81lTeZKRE91QoRKA4d2fcqhjO5aw4VunUFI6YJEEC1D4Uf0gj2ECAamWOaR8kxKkgYmWW0BHyEIZOhYOKT5n5wTZlpTg46g/KBpTkXkhLsQwIL9HxjZC0kOSOBhAOZCxkpOX5E9PDXGDJQCjulBPA3fQ48oTWRS3p9u/HSGcmzGjgl8WqWx1xiHZcRhJQQK7qcCQ4PRqdY2VsSyioUxFA1BUfdYikTmoCpPLL7EEklRFwhY/VifYxLNDaLaVeGpxwJpngXzq8DrtRqc/8th91jqeTjccsRx4sWc8jBU6xpuXhgQSDnQOQRmKNCY8vgVC0FW6vMk/LKNmW4DFnoxdq6EcvWGNmkIUhwCHx+8GiVASUlJZgzE0dqvwLHGJddCFSLPVjRuj0x0+xG1SQkkPVswOOmkFTJExRLN8XTVjgGwHAQFbcSpwGxbgNeesSpIGiOessbxF0FyDj9jGPO9oyZhnrfeZVGJ5DP7aLda5wVuIN0k0IpmOBwwr+8BdwAgi9dBOLgPmXvUfidesZXTB5RqVMWEgFKyWDkVy1eNxP+PsyaG0qfNlhvQNGRNlWILXOTLdKkuCl0ml4Hg+FfeFku2Et3icKJy54D7cxvae0BdSFf6gLkAgtwOQP6Q7axyqaDcIG6z/I+ojREsK75AKUrKVIVvUwookU1S7cRTSGlgKRLmSUAAlKqu4qCMcwKZDERX5tmdS03ah7rUGradYb7DkzbwAGQL0pTAjG6cCQ7UOUWpUTtILEkLlzLoDrli8WqaXnGFXBfiBpFi7SrTMlSVszqBOdSmlcIAs1nVLmAq3EG9lhvXq1YgE+RPB32z9l3pRkKLXRukjJy2eKTTy1i1OxbRV2XtUtCTKKjcWkJmBRDVVcSRXVSXAyJwgfaFgTJniUohiAw/sD01SnDUwGvZq0lYcpU4SzYhSgk1yYn94sMkC0JM1VJ8pN1ZbLBK2ODEEFPrA3WQWRNakJUFXN1wSAckmzi6BqwBEWKw7JCpcxQVjPXfunxDQ8LpBprAHdhV03XIYoGSgAvdJ1a+h9UoObRYNgSVfh1FWLMW1CQgkc7r1htuhJZKZaJSp5VNIADqAANLstJW1eCQInsOz3VdTQ3UuS1CoXlkcQ4A0eC0SUypSJtVSykioreJU7tgWUQ9fEMGgrYU1KLymvABizObqQH5m7eGl4QKQqJp8q5Z13aKlrSl3qxd68/aEdpsiQynd8OQoS3EinKLAnFUlZO/uKPFLFCuLgv1MC2Kxq/ES5ah4SepQFKA5UA6xUWDQpXY7qrlVLzAyOh4wwXZO6G/MCOEsC954wZs2zG7MnrcqJUeNCb3mQYr9ptJWoqViaxd2KiY91eJ3iP1VJ8iPeOr8sYJNf5a+bxBIsq1VCSeJoPMsInFmOqaY7w/7awyW6OpVoQCGA6hJb+2CJdpQz3ljgES4FVKVw/wByvrG02YHXz+oh7WR9I+hctcs1JW3FCNeDQ1s0tJwvgZukNXBw5gbZ+zDMISCAeJZ+qRFik7LWFMrg5AH2esQ3WGaQ/wCsoXyEJc0xZzdAduIJplDD8OxSUqG9V/Qh/wBoM/CB04OcaYuPpWC5cl2GQ09fn5xnKZvGBBKsoWd9OHmGpjnHUyz5hgnMCDFqZzphxgW0AeEHeUW9ifcRkpOzVxSQPMtFAEpBUuicK4gkkZCuGhiZNiFSpRwIfBtWHnrnEoA7wmjIDDman094GtSiWAzKSeADED+rX6gFXYNJIiWi6m6TkHI/f1eNiUwCyGGQbnjwz+6Q220BJdQdyH6Gg9idBzjdttZmAIQHUC7PiRXnj6caQSfRKBLVbyXRLBUSQ+ApgX4Dh5wCLHNUreuufClBdi58Ra6DiczxgC2yFj/WWmWSS4ASStsCoCjh8CCwzEM5SpaZV1AJuMo92FFgoli3EvSucZOXgJXyIZezlLSVo3lqe5WgyD3shXDF4cnsghUlEucXIzTTiQKUBZnxMMdmykBIPdLCq3QQkGvAqcdWwaDZ9vRfu3XUGBLsBzLe3rWItlKKAbJsiypQB+Hllv0JPqQ/nG4bpRSi5YGgQ/rerGRG2RokjwlNqssuqJT6GaLyjxCcADqYMkWW02ohagESgXDhn9OjtpAH/MZUsvLQAfjUm+o8d4hvWB7RtiYs1XML/qA9EikdOTnHW0J3dzaKG8lXhcFKjjnxbLOJ9kTSmagFbvR3qHwY/CcCDFblymO+AjOqq+XihhYrfJCgCVkJFFBhVycCapeBoD0IGUtVxYF4h60cYP0gmVJ7s0JZvk2mLU4sNIqNi2gJk2Upym6oteFWNCOUWGQFpUSFAobdYYcDm0QpuJVWGW6wd9voAJAYhiKEMoHiRnq2kasi0pUVCkxPivDxCju36cdC5GMd2S1EFzumjKSaYVfT/GNYbyES1nfDKDELDMfp7RanaFtyLLds1Kj3stTIUWbG4twzabyQeJBGcTdmpRTLMtVCXoC7V3Q+ZCadBBwsqpLsm8hWLDEZOMw3XnGpUpKj3kssoGox4deDsYpT6Bw7K5ZrGEd7ZJx3Cd1RyJqkvoaDnAlhsyrOtUpWBLp46+gi57RsCJuIZYOlac8RCtdlfdmJcBmVmGyOYirIcSGRJJu363dMSADdxzAJB6HKCpspQUlafEguFflNCGVoSKcYgS6KeIZPh0P09YMs80lrtQfy5/8A6FMRBdgbmWcBKiBuKBdIxS7+xJ6MdYr9n7PgrReYpd1McQWbprzizSJmLUIxxw55cjGk2ZJIKd06NQ54ZcxFp0JpMU23ZxImy8lAXB8JS1GyBAoYXWmQUgJUkg8otTTAPyqbI19R7UgOdakkMtBbHdww6/KKjOjLU0txVSmOrNZlzKS0knlFilpkO9eqQfYwQLTLGBJo27u54YGLeqZr83rINi7GUgiYtQDflxPp+8WCZaLw3RzL4dcIWfiSxuoxzU/zpGu8LfxFZBwC+HkPeMZO3bOqEVBUhgZ4Bcne4ZCmX3l1jTtNKQpIBcGgep6wvvP4QWqAS/GgapLA0ETSCoEsAlPJ+lDRVHzxFdJaLUmF2iYtYYi6+n15xzLlqvMlW8kMTRhU4jz516bWVMQjheUrAHieGDCAVWgpdKV7pxXheOBu6BqUhf4F9saCUA7qN1jV88VEnXj0hXatoJSCs4HwgY0z4UHkHOkc30IlAKWESsL8wivte5DSsLNoW+zy6uqYpqGZRO89WLHAmg04xlKVcFXgGO2islABdOYFRwdnJrEwsVqVLF0KDnwqN1hVyoUJJwx/MYhldokG6hE0OaITLSAkF6qLsTnSuGbwfN2Yt0vMmrKg6pi1eEUcABwl+GWekOQkrCvwwSyj3SLoqogOBolwaUja5ykj+GQyjXcYsBR2yf5Rlg2WhKTeFDhUjBy9CD0rE0yzBVN5KUh1akb1HoBybOMm30bJCqwqtS5l9M10JYFgGd/CAxq5H2IK21ZASXJvE710soPgeUNbIJabktACUgXmGZPDMipJ1IgbtLZwLs0ByKFtMflBuFtwVJWwlgsZi6cUn1vxkPZFsTdDJkqGqnvdWzyjIf0ZHzR4mESklnvnkQPcH7wifvFKolJSk/0jyADnmYDRbLtEgJ44q8/o0dX1K5cSw9Y6jMLF1On+0e639jEn45WAUQP0v7nDoGgRCU5ny/dh6mJE2u7RCQ+RO8emCfSEwGdjC8UJI1UXJ9aekGISu9eVNCWzcE9ADTzhWhU1dFqJ5uW6ByPKCZUpI3QLxOZJPklD+piGUMbNtFKJwWmZNVkvN6MNDSH1o7TplpBSq8stu/8Al0isTbHMZilQToppafIs/pESO8e4lSUnSW5pzQFH1hbUG5noOx+2qE7s0EAgdHyOh5Q8mS5M4hctYJaikkXh9Y8tkbMRUzJgN0OrFk/zAlJfg7ljSJ07XTLmDugWyvMCo0/KPCltfrCcfBqfp6bLtq0AInC+CWcCvBx84OEhKqg3uBO8ORFfOKTYe08pdFKYMCCTg5unmAflDlCRjgTmXH28L6Ncl0mOl2TTPLA9QaGAbXZT4h4i4KSKYZv7xqZtvugRNAWkDexcACtCmvKCrLtOTOQDKWlSfhUSB0OKTo8aqSZDigdM4jdmA8jUDkcRyeNrmsQwJBLHMDiSKtxbrDDvSN0CuaFj2OCubwrtEhlPLdKhUpP75fdY0TIcScrVgHP6cfKrdHgKYsOWSUYk1bqQadYkRbrwCJic/EKKHo3SkamuBe75abtTeqQcKjC7XTpD3E0cld4Fj/U6acso5tC1D9I4lngix2krAAX3iiCxe5hR/DUdYHm7SKCElYKs0pcq4a+ppBuFR3YwbuBUThQ/Nn84Il2d6qYciMeaqe5jhK5qsUhIzKzePBkJLPzPSBNqzEppevq414UHhfOg0iZSKSDZSUDAgkipFU4vUnHg7Y0EcHaBJfFsh6OTiOghJPnXAFTD4iyQHJLNkH3eVIIsluJQq4hIeiVnjQsktlR/8REpDXIVb7epVTvkUCEkADzfzY/SnbT24ZhYqU1HQnI1oS5KmbHCH217ItUoXQQlKVpB1JukNVmIEQdn7BKkSVGaP4izcD5And4Gtc3jPf2NxbdE+x9hLKDOmJUgMbiCWJAxUvNmoE8axFtbs9LtMwqQSFF3erAAigpQGrVi7qnSyogkUF2vq2ULNm2QFalOSS3BgHfDFTmr8NIjfk0+a4I+yvZNFlSVk3pqkteZmDZZjj9iGttGAyvB+LMfL5wZNmVSnUueQr9IFmm8nGoYcARgW+8ImTstJRVI1NJAVTAAP5RGiaxLtvAfPFn9o5mKCiokuhQw01FOMCKWlLJWnA8Q3XE4QhNhNkSEPk5fFydOcGTUiYgjUU55QIlIUkORu+HKmh4wbZ0BgAcIiSd2VEqcyxIc7qMc3frWMi2TJKCXID8/3jIraKj5nVOSAyUiutSfl6RkpK1mjnicBzJoOpiGYUDDe4mg6AH3MEy76kgqITLGD0T/AEpGJ5DnHYYBH4ZCRvTAeCAT6lh5ecTC3Sk0RLJJpvEB+DJD/wBzwuXOQDQFXMsD0FW6+US2TvV7sscDdAHmr6mChDWXbFsxTKljQpBPkq8qO02xQcd7MKdEm6Pct5RDK2fKl/604A/DL3ldThBsi12ZBdCCafmANdakseQicDOLPKWoFSJaQn414f7l7r8hBtnki7VcxaQ7plOEPo6vkkwJN2k6gbqlHK8pzyG7TpHczvpjK7hh8Uxa/wDvWB6RNsDieSXdQlISaBIKi+oYljk5YnjHKLVKAuy5S1rVitZBJJ0DEAVzd84lMgpS4EggB71VaP8AppzguVbUyUCZVcwuWa6AMipIAABx3jhq7QWAFKC13qgpAKVrJ3EghmByH8oqQGi29n9vCZZ/4irxki6VmgIFEk54AccdYo1r2lNtKruWN1LBPEnLqY5FplykkJJWskXiCyKPTB1VOPCkDjfIKVFg23t0zgQNyX+Zzi+AOf8ATic2hLs3aa5KrySWqOGDV84XLnFTFZYflSKdeA45xtF5SSQN1OmAc+8aRVYJbPX+z3aJM6SDMSSmgUDiguBeTonDk46PAGX3E4uT/pTPzHhzEeU9ip571aCSU92qmQdx7qZtTF17WbWQFWdIKr8mZLqBirdccaEuNTB2UnjIdtCXcV3cwO/hWM/sa/WBSFht4HRqHzz0YvjEP/FW2mWJJQppiVXhyDg0z8cK9nbZC50xBqlN0pIrQs5PEfUZQNipWOhJClPeYEFwAwP810OW4vnB0ky5YupWkYOEpbHCpqX4RVe0O2TKmJSqWG1c3iKOR7Yw0SoEIN9NRuoVmMaNhE8qwwgu328km6olNQDVzg54s7YZ40hXb7YmzgEpC1OwBNBQEsBwIrqYnQrfSVgpBFPViDhm8cbX7NJmAqQo3VFlgFyniKAkHjAxZYP2cmT5y726pDjxOSp3AAPAh2w9GtS9nH4mOR04cBFek7TVLWLPIQ5QwchgAATqA7Zltaxc7X/pKWchVvVm55RLlRcI2amWW9KRLUXvGub0JOOTPFa2SpSkJG6BmotoPzfSOdhbZmG0y0zJhY3khCmfwuknBnw6RNYLOkykhQAuXnJpgA3zjOSLTsczLHNKryVADFw+VGjLLZlSz3j3go1/S+fERztLaq5aJcxJFwteo4cs1XpDSzb6SSgJChhmebQkrLxZpKw4ORz5xDPZCgQAxd+HH19TG1Wa4GclGT1IP0iRBBNRUDHXr95RnxhlcimckIV+lRfqfv2jc2yFYG9UCr6ZORpBlts4agcZivpmDWObLPAlkjXSvF8n/wAwXZFei+zTEuUEKf2zFNPrE/4s0fk+Rwbq0crs4WsEG7fSXpkFJI9/vCIdqIXLLhIu54k5MRX7pA3eASaGf/MGoVDyMahVL2klqhzqBQ/2xkTkqzwK+hJ3RebNQp0S7NzeOrq5m+pTD4lYUyDCvICnCOLqEaLV/aP/AC9ucdyZMycpg5YYmgSPlyjvbMDlakDwgq1Ks+SUs3UmCrLaLQuiSoJGm6gc2YRwlEpGP8RX9nlir2iVF9ZCanRCcB0FB0ibEFiUgDfXePwyx/3H5AxpwD4UpH/yKUT5JY+YiRUoS2vrCTgUy6qHMuB5qjlFoljwSgf/ALCVHyDD0ibAIRtYpBCKUZ0BKOrspR8xEgmqWx7sLOpC1PzF6schc0jJDZIQAedBTqcoIV+IIomaQfzLvF+IB3feBgbmTbUllJs6OH8FyDwTiPKEluttoUr+M+JJvghnNSEltchBtrs9sAcKIQKbsxI896KyanEmKggGk/aYuGXKDIo5ZlL5tgHwFesckBABIdWaSCyWyIxJ9OeS/DDKJUVTTEmpPo3GpeKoQVLBUbyiS/nBN8sz7oyy58+MQJVxxi39nuz0pKBa7appQqmVmrIFX6XwAqaZFjRLC/8AhzYVgmciWqZNO7LCqSgKErWWqxZgM65Ub9pFS7P/ABpizabSgukBkyZSnoogF1EFi16rDCK/trt1MUO6sw7mUAwCQAW4NgG+xFVM4qBFSSSSczQvX7zg7sfVBm2drTbSszJqryj5AaAZQ97EmsxZwoHelMm6xXtmbPVOVdG6kVUtQLAcePCHlrtkuzSu7lKqKKVTrX4z6CJnxSHH1gnafaC12k3i4lm6nkG+cXWxzkzJMtVQyHN3IZClXJIGfKPLEFUxbAEqVlUkk/Mx6Nb7UUzZciWCm6LynapCbqQwYs5zyZsYGqSFebHllkpUglT3XOAegZiBxYcceYilzpgIHeXSlyku4IFSlQIDunDBsjAk+eJKUSU7xCASrNzl6XuvOGFskkoUpt+WoE8QUj0f2MIP8C1rTMSZoAStLd4+qfCDSodsqONIN2BtBU2SRNofzA1YYVPJjWuLwq2ftNZm3bpUhSav4Xz8wPNQguyI7mYAmkuYCx5sACNQSOjxlLBpF9oKtWwUmYqaFMpIcAcBQH6x0juEjulksqrnikB+pfqYHk7SVfUkhil6lyHDuFcCAGiVCJc8J/8ASmUIFCOTZ00iUXa6DvwCLglrZUp0kDDwqBS+sRL2hMFTdHCuHny+yAeLNKtEo3VXZksnxXqjV6dIlnWNJF9JqNcCcA5xYULQnY7O5+0dxTB1miUjMmjcvoYFQuYDQlR8NABXO7TDiXiAorTEGq6DXD4U+rRMbQlLgKxBBURw05xLVhZzNnFSsCHVWuoOemTtBq7PuuBVsGp1gOTTBZUdDnRg4y6QVLBCbpxOfy1jPgpA8xCnCmoARxBo76/vBM2gZbEan7pAludNatmfR+Y9njU+8tLg1GWjYiJ5DgEOykZJJGVR8zGRpFpW2JHX94yJyLcjwqTY6gziUg4J/MrpkOJjq1WorF1Iuy04JyHEnWIE35i8yo6/daZCCStEoflWvIYgH4lZKOQTgM49AxMlWZiCtVxJD6qIPwpyBH5lMPaNT7cpQEuWLqCaITUk/qOKzz6AQJ3ilqJdyaqJ46mJZc0J8OOas+QfAe/pDoAqVZgC0xVwcAFHoAWfmRBln2mJdJSQn9SgFKOGLhhyAheiST4iEDjj0SKxOm0pR/ppr8SqnoMBEtWIaC1z1uy5jHEJJCfIUgdEi8pt3qpNPWF6pq1mpUrzP+IKs9lmg0Sp9GrDSE2BW+yKUsvdYUDLTh5wLLksXKS0PhsK1EubPNL/AKTG5mw7TcK1pTKSM5i0p4YO8XEVlfmIiWzy1FgEknT/ABDVEyyyg5e0TdGKZXyUr0EDK2rPVuJZI+GWkJDcWqanN4rAWwmz2FCKz1hI+FBClKbFIuuEc1ENHO1tpzLQq+RupAASHuoGAAf75ANAtnlJP+rMEsPgN5VdEgv5kZRFtK0SibskKuDArxL5kCjwXYqOxLJwqYZWWYiVVyVcHA5UqfT+rCF+zFlAJIc8ciMCW0yGsTWeUVnu0i8pUJ5DgJte1psxBSVbrvd6+rQrmrKjU0y+gGUXrYPYpJI78upWCEn1J4eUPU2PZ9nllNxE1ZDutAISBgHZhi5zx1ibSHVlE7K2MiaJpDIl75UcARUPrWrDSHXZ2YZtomTDgK+ZpjwiHtDbgq+Ha8akgAlgCEpAwS7F8GAxgXZs7u7NNWCxmKCE9ASo+RhvKJLFItpnTVplneBDFOZN4OOAoK8TnS17KsiyDfLlQAI0DacfFXWK32C2dd/jrcFQ3aZfJ/lF12cq8pZ5AdB9iIbp0XFdiWRKKVKlEmpoxZ/vHrA+0O0lnljuJv8AES1Sn8uSeL/tB/aCUZShNIAALnIaH3im9tbOm4SEmpSb2oLnLEV9YGrdjusDfbe1pU6RNnSiLxAl1FQlR3gNfC/viIqln2oxl3n3QwOTYAgco4s8pYsybrVJC+IcENpQKhVKlLmEJSkkqL00yY+cKKqxSdnpvYGZfQ9GQ46O/wA4uBW5rW6+ZzFev+Yq3ZKQmyygDWYrTE1duQiy2SWoM+eP36chGUucGsODi12AqYpxA8JOD41y+2hbaUEKCR+VjWjch951LxZWYPEIQldSK8RXhE0zShRYE7wYKPFtOP3lDK2SyEump/fGCUozZhg0RTik0VzrhGckNKhati14voBic6CAbJPqCMC4I0uuPaDROLs2eRhPY1soDEOo+ntER7Jfg1Xs9CjeY10aMjhFqADXiOQBxrjGReAtHgM22gJuSqJOKvzK6jAcIDQlw5LDXU6D7pG4yO6qM2jJk7BIoMh8zqePyiSSti+Jy4fUxkZDoVE6XUaVJi27D7DTpqe8mNKRiCujjglwo+kbjIhkFgl7LsdmR/GWVMMzdT0SManNzWIV9tbLKBElBU3wpA6uW+cajIExCTaPb2YqstISeZNHo/HlFRtdtVMN5alKJrUvjzjIyGkikgf0EcptJTRJIfONxkaUFGIkFTl2AzUftzwgqWmWgXlKC1N4agZ4l3jUZCEZ+JKyBgHZIwA6ZR6J/wAOdipKZk5dMEpUoMKvebmWGsZGRE3SwCWR1tPbMiShTKJP5lAjeyABBJ8mwq0efW/bC1qN0lKcg9fMRkZBFCYC5OpJ6kn3JhtZLGZi5VnSXIJvEYAnxcwABXOsZGRbwiT0SbO7hEuSgAFDCtHLUfXU611Dv+zVmUiS5oVm8QfyggMNaAebxkZGMTVcgna8JVKCSysSXwYA/Mwi2kEGzovjduMcTdYkAgAVI9nrGRkWv4ky/kV3s1YRaEql3rjPk4dQI1DZkQy2fsD8OwCSpaiwUHAbQF8HNS8ZGRnIIlz2fsU0UcQKXss8BhWta9cGyXGCVq5sPIEv6RqMiFGzpSSJ0rUR4COojUqq1UowHXGnnjGRkaONNDMS5zNKFogTZE3r5SX1PpG4yMZLkBUu0JvFsLxryJhXZEtXMI96RuMjFdil0TEE1eMjIyHRNn//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04" name="Picture 8" descr="http://photos1.blogger.com/blogger/7184/598/1600/2005-05-06-07-08-2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75" y="597676"/>
            <a:ext cx="8065347" cy="5376897"/>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https://encrypted-tbn1.gstatic.com/images?q=tbn:ANd9GcS3BKKPWj6VExIcxKASc5uTk1942whvOHjqOI1l6Lt6T1cw-ZB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375" y="602334"/>
            <a:ext cx="7798408" cy="537224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12" descr="data:image/jpeg;base64,/9j/4AAQSkZJRgABAQAAAQABAAD/2wCEAAkGBhMSERUUExQWFBUWGB0XGBgWFxgaFxgWFhcYGBccHBcaHCYeGBkjGRQUHy8gIycpLCwsGB4xNTAqNSYrLCkBCQoKDgwOGg8PGiwcHBwsLCwpLCksKSwsLCwsLCwsLCkpLCkpKSwsLCwsKSwsLCwsLCwsKSwpLCwsKSwsKSksKf/AABEIAMIBAwMBIgACEQEDEQH/xAAcAAABBQEBAQAAAAAAAAAAAAAAAgMEBQYHAQj/xABBEAABAwIDBQUGAwYGAQUAAAABAAIRAyEEEjEFQVFhcQYTIoGRMqGxwdHwQlLhBxQjYnLxFTNDgqKywhYXU5KT/8QAGAEBAQEBAQAAAAAAAAAAAAAAAAECAwT/xAAiEQEBAAICAgIDAQEAAAAAAAAAAQIRITEDEkFREyJxMgT/2gAMAwEAAhEDEQA/AO4oQhAIQhAIQhAIQhAIQhAIQhAIUbFbSpUv8yo1vUgH01VBtD9ouEp+y41D/KLep+islo1CS+oAJJAHEmAua479rD/9Om1vW5+/JZvanbrEVxDn24ACFqYVn2doobRpPJDXtcWmDBFju+BUhfPeG2uWuB1uDE6wtj/7gYh4EPAbyAnzPFW4fRt1IlRK+1KbQYc0uA0Bm+4W0XPcT2yogeOpnd5uP6Kmxv7QhBFNh6kj4XWNX4jfH223ZTacvqDMC4ukjjuJ53WvY+RIXE+y3aNjMQ1z3ZZtvi/E8Oa65gsX6LeU2xFkheAr1c2ghCEAhCEAhCEAhCEAhCEAhCEAhCEAhCEAhCEDdau1glzg0cSQFS4/tvhKWtTMeDbo7abKNfCuy+2zxt5x7Q8xPmAuLYioumOMsZtdD2h+1XdSpjq8z7gsvtLt5iqutUtHBvhHuWZfUTD6q3qRNpWI2k5xu4nqVGdilGc9Nl6bRINdJ75Rs6SXpsS/3hBxBUPOvDUTYkmqkd4mM6MymxJD10XsD20Phw9Z3Km4n/ifkfJczDk4ypCo+lsFjblp0tHmrFcs7C9sBXAo1T/FaLEn2wP/ACHv1XQNn7VDn90fay5geQMR1XPLH5blWaEIWFCEIQCEIQCEIQCEIQCEIQCEIQCEIQCEKDtnaYoUi8kToJ4nRBX9pttd2002HxuFz+UH5n73Lje1cIW1CN2o6H7ha3FbRzuc7xPJM+FpMz5Ki23iQG+Jpad0xJ8pldpNMVmq7rqK8pVapdNUxJhAhxSCV64pJCgSSkEpyJ0uUDBvNg0+iBouXmZP/wCHVN7Y6/TVeDBHeYsTcO0Gu5AyXIzJ12EtLSH8QJkeRAJHSVGBUDoelhyZzJTXqiZhsQ5rg5pIIMgjUEaLrPYrtQMRGYxVaIdzG4jlPoVx5r1O2btB9Go2oww5pkH5HiDwVR9NYXEZxz3p5Y7sj2nbiaYe2zhZ7fyn5g7j9Fr2PkSFzs03CkIQsqEIQgEIQgEIQgELKVNv13eyWM6NJ+Kr8TXrP9qq6OAMD70Tc+2vWttVxTG+05repAVfX7UYdv45/pBP6LFVGUwRneIE6u+SaG2sMwwHAnQBoJJKntj/AFfStdV7XAmKdJx/qOX4AqHiO0tbK53gYACbCSALnUn4LLY/taylE03ieIifVVVbt2XAhtMXte9ip7ZXqL64zutnhNrVKzG1O8eQ4TE5fKGwo2MqETHrF+dzdYn/ANUYmA1gDANAGp7ZeEr4lxdWc7I3W5uToPn6cVf33u9G8eotMbiREvfum5WIxuMNR5d6DgNysNu92H5KYgN9p0k9VUAiY4A+uUrrK5Wco7xzH30SaIuNfJePK9pP3KbCnUHXdEiYufvkmjWjQD0VzhiC3KfxCfUR8lRYunlcQDMJssTdm1iarQTYm403HgrepgapPtm94BgDhAGiz2za0VWHgVvKNRjg0tINvp+q1GWM2qKlOJc4TP4ju81HwOPf4vE4w0mJkW1kGQbLQdr8Lnazu4cQ4zBFhCoMBs2p4/CSTTcAAQSSRwBlKQzVxrT+AB25zTlPIkC3oAvBU7ww4eM6OG8/zDf116qNWpOYYcC3qCD71I2P/n05/MPfZZVHDktqbT2Js9w4OI9DCBw0yBNiOIMifkUppTmAcBqJmxBle4rC5XHKZAMTOh4GPcdCqmlt2c25UwtVtRnQtOjm72n67l3Ps/t1lem2owy127e1w1aeYXzrTnitX2Q7SuwtXe5jvbbxHEfzD36dLeSO+goUHZmObUY1zXBzXCWkbwVOXOthCEKAQhCAQhCDlODxGJqMfUrPNFrdA0CTx103BZ2jRxOJcctR2UbyfotJ2ip16ze7ot8O8ktb8TKlbJwJpUw2BIF77z5ciuXM507ds9T7EvPt1T5fqrfZXZmlhyaxJJaDBO7iesW81Yii8/i9yexmDFVvdukNjcbn3LNytamMjAbUxhxFYuOkwBwC0uzNn4YNZmay4BJc8jWOYA9umfJ3BTWdl6FLLDTcT4iTN7cOCmNwLMsNY0OcQ1sATJOt53LrjnJPWMfjuV7Z3EUWuquFNti4hsaRMDyUztDU/dcMA0X0n+Y6n7+S0VOmGnOWgimOgB0uBr05LmXazbP7xWMGWNs3gTvPn8Alz99J6zDelNUfEzuu7ruHqoVBxz+Tv+pUmowBoBm9zEeX3zSMIWl4AaZIIEu3lpjQBdXIjZ2ENQ3nLy3ngrP/AAhrTLT5FPUmim2BA8ieupTDsUYkOg8oHwV1pDVbFAA+E5gANN6gM2Y95uWt4lzgPdr7kbTq2/mJknjZO0tsVIABDYaG2tNhrGugspNLdjC7PLKrJc2AQbHziOKcfhnQajcsC7iGugeUaL013GrTJdm8WbeDmsAFb0KTn03tiA5uTnraxsplddO3i8eOcty+J8KJ+IbVaQ5zQGjOSynDjFgJPNwUXBMYT4SS6DAIjS/rZWzezYYHS9viGQ+JtjIN7W0Uapsj93dTqtcHAPEwZsSBrwv71rTgYbtcObkzVaYIj287IPFhFuoPkUxhsI5lWmbFudoD2mWm437jyMHkoWKp5aj2/lcR5A29ystiUXtDqsuawQ2b5S43AO42EwVm3QThth1n5nNpvLQTLgxxaACblwFhYqbs5jHVYrFrdSS9uaT0tMk8R1Wj2Lju7xQEBrS6TUNhkdMh26APmVX4vZNL97qODgaQqEUw0SHsaZtBuMtuq5XOzL1v0uPNK7SdmAx+HNADLiAGhoNm1ZDSOQOZp9VC21sd+Dq1aTnNdDmXHsuY5jyJGosRbcQtzj8VhaIoue9r3Mex4bTjvPCZgxYG8XOqpMNs4bQxLzXq933hacwE5coLQIJG6BN+PGOf/N5b5Jv457/rE5ZN2EAgg2InmORUihTA4rqmzv2T0DGepUc0ZmmMrb035W7jqM0+SvcN+zbAs/03O/qe75QvZuRrTFdhe1HcO7uof4Tj/wDRx/F/Sd/r163TdIB4hVeH7J4Rns4en5tzf9pVoxgAAAAAsALAAcljKy9LCkIQsqEIQgEIQgwBxtMavaP9wUd+3qDZmozdcXJj6SfVZOj2avDi/wA5A9VPpdl6UXBPR0/GF57JPl6Oatndq8MDd+/UAqK7t1h/5jfgNPXgobuzdD8sf1T80/S7K0gZAB8gmsfld0mt+0KkQYY5xsBcRA5Qvdl9sqlSqG0qILoJBcTA5k+ceal0uz9MD2R6Ka2mzDUnPMCBJ+QUueM5hMazPaLtBiqdPuH5P4lzkkujqdFg3Y0l8DSY9SrDb21XVHOefaqafys/XT1VGwXnhf0Xow65cfJd1PrYmXuABsSPS3yU/YNHMXOO73KPXov712Si94LpBa0mZvuHNTsDsnGMd4aLgCCTJGWG63mxC3vTnq09iRJgXjX74qCylmdG5WrdmVarn5GtsYnO3U2EiZlKw+wqtMOzZZO8GQFdnrVbi8LTDjIDrkXnXUxw1CR2WptdiaYIkGo0HjEmb7kjalPLDSSfETItu06WTFPKy7SZkcddfspOy9NttxuHDw5jSC2oz2g7TMNzlXYdwNOoJ0zDn4dPgqrA4U1nzmgC9z6blO2ZgT3jmuM8wdZubQs5c9u3hz/HxJ2p21S4wHNdxzCDeQCY1CnVtiPIcHO0DXCBYunwtjTLIE+XBXmLwTKTCQ2DxJP1SKNP+FnkNJBuABx3b1nLK6ZmE2xO2MMTiYsC8MNzAlzWzfQCZkrW7aw+Eo4NlBlRprthz3MzOa9x9rxARF7dArDsphGYguD294wNGZr2mAbaEgGZUrbv7N6MTQc6nvynxMnz8Q9SvP5f2zn7Wa+vn+p+K3mMLVxTy4XIBY23+0Az5ypO0sf3lBlGBLDmYdAA7NnFtxMGOKYxdKCzfDMpI0lr3cuEJuJe3pHnP6rve2pxEWoXMqAWO8eei0Gxg51amAQPE250BnU8h8k/2i2FSZhsNWbIqVfC45vDABMxqDppZT+wGLGHr94+GQ0tDjdpLtAYu0GLkSRAst48xzvFdU7J4xrmOa2bOdcAhhl7j4Sd0FojUW6m+VH2fxYfTzi01KhsQbGq/eLHU3H5VbOr3IaJI1vAHKeKt7Q8hR6dZ5/C3Uj2juMfl5JjDYqo9xs0NgRMkmRMzw3RCmlT0JrvYIBi+kHh9+9OqAQhCAQhCDndASLGRNoXvcAbh8PguQN2jicO6A59Mjdcf8SrTBftGxDLPDag5iD6hcsvHXaeWOkd1w6pQww1i+nD3rJ4D9pNF3+Y1zOniH1V9g+0NCqPBVYTwmD6GFxywyjrM5Vlh8GTeSRwJ+qyvbzaDi4UvZYLuJIGbkAblXm29rDD0XP36NHFx08t/QFcpr1S4lzjLjck7z1V8WHtd34Z8mfrxDOJpl7i6R9BuCbFMi0XQ99/1CZdiCN69jyt9sLa7KLi6o/JaWtc++cNLWnJqIJJhSMT21wjRlDifAKYhrrAGXnTVxXMXV4OibfJKzZK64+XLGajdYLtlQpucST4nSMtOI9XXK9rdssO4EZnjmWn5LnzivC5Vz3Wj2ltaiYIc95HkCef6KpqbRcTMgclClCu0WWH23WZ7Ly3pH0W87IOp1Wd5ADyTm0kugTbcJv5rmMLT9g9rd1iAx3s1PD0d+H108ws3prG8uuYvZrzGRgIy7g2c0eHXnEqO/s/Ve1wIcJYAD4bEuObR3DkfJWVBwkOlsyHSc0wMvhMDTwnjr6pqNaGxnAOcus3UneZjQFw/wByluM+WtZfRvw4SjTt3gdFM8yXAA+RJT1fESFFxYw/dZKjm93Mk1IaJORouTEyBHkiG5AGRlAtliI8l4vNedx6fH1quZdpZoPa0AOBk+LSS48CN0J2hRaajWEANqBhY4WcDUaNLwYdIjl5q47S7MD3gxMA+t1VUZYMK7XKTTdN/YeHg3FjFQ31suuGe5NueWPK4wNRlam0SKgZOUPbYSQDA6xPktFgewuGdVzB7g6A4sa5ts19IJDSDCosPRFOqWgQJc0AcDJb78ql9pdnvNfvqedpayn42SC3wCJIVw3crJTPictThOyxo1G92893cGT4mgm8WjNrDteq1+BBDY3AmNJjiY3m58+Mrl+y+3lanDcS3vG6d4wQ7zbofKFuNj7Vp1mh1KrmG+CJHUESD1XfeU4rlZL0u8Nof6nf9io2y6gLZBFmsHmG3SsLh/CfE/2n7/5jwCj7MwTJkgk5WakkezwNlvjlzP4nD95UpuBnISeV438bblOQhTahCEKAQhCDgO2/2kVsRh30a9GjULm5RULIe3mIMTppCxNQgtADfECSXSbi0CN0Qb755KbUoxYm/uVbXYRqV0rBdSjYKM5xCucRQsOirMXRMWB8lmqP8XqQGlxc0aAkkDoDoh+1CQRACadg3HcfQqMaR4H0KilZyg4h3FPV8HHsZiOl9JlRSiFGqVM2fs2pWMAEAbyN3z0VlsLs7LmPqwGm+U6xFifODC05qBhIbafU7vSFqQZvCdmgWkulxvCkjs+wAeGJGsaE/GFYnF8x8fhZJbijOp9FdQV7uzrA0CL/AHuUTGdncjZn+/RXoryZnzm4UlpBguvz/TyTQw9bAkfqoucg8CPitvtTAGpGRo5u+Q4rOY/BwdLrNiuqdkttfvOHY+RmHhffR4ifWx6FWLX5rAxHG2q4ps7bFfDE908tnUWIMcjvU93bjFn/AFP+LfouOXjldsfLqOnbVpsq4au1wmGGLG7x7McbpnslgGUhWayzc9ugLo90LnVDt7jGGRV9Wt+itML+1DE6PZTd5EH3FYvivr6xr8mPt7NxtKkDPRZyjh8wqN4Pa4cBLcp6fhUrY23jjG1DAa5seGZsd89ZHomcEDneNMwcOsCR72rjMbjuOntvlaYk3DwNWtd/ubY36t96u/8AG5rVqGSWGkarnfyNw7co5HOB6rOYR004/KSPJ1x7w5XFHDQ6vTuDUouZmBuBSFrcwIPULp4v9VnydFu2dSqU6Ibao7JnnX+K0vbyJDWn0SNl7BfSxAqs9mm8BxBiZuJANwRHqm9r4cmm7KYcO4IIMERRcPmVZ7GrObiarZPcMazK0jVxFNoPMZaRPmeK9N6cPlJpftHYA5ppkEguBm0vGZto08QWn2Fj2VQ4sMgBgmDE5eeqVhdjYeCO5pWP5G6EAjdoAQPJKGGfSe0UadMU3O8ceEgQIIAsdCtcMLFCELKhCEIBCEIPl/EUcpmoZmx5aFQMVQAvMj79yn4ljgS5xnKdNx48godVjSQRpO5dGFljRA6JjAXM6SB80naFYkyLA6fP7KaoY0MbMb9OGh+airRzL9E/Qp3v93ulYZwOVwI09/DqlEXPXdz+wim6sBjrAWP03qt2fge9JLjIA9508lYY2qBTM7/v6JVGgxgEAGWiSN+9VKcdUyt8o5/3sq+tief380rE11U1a8neeAGp89w5paJD8avW4o8HehUU0IjO6OTbCN99XFeUzR/C+D1dPrKgs6WJn9FJbVP392VY9hB0lv5pGbz/ADKTQf8AfHmirfC4k6G43fe5Q9obOc4l5IMbhp6717RepoDnNsQNxJ18gqMfi8JMquNMgwtTjMFlnfvGmipcZhZuN25ZsEHu0Uz4gkmpIXtL2goNX2Mx3dYkA+zUBYeurf8AkAtZiHhlRrjLYcDccSBuJ5eqwFOWuBGoII8lvsZFWiyoNHATymx9HQfJcPJjzt28d40Xhq7BUfTBJdBnww0Fh3Gb79yucbWaBinGe8YKjKXPvqVMGAObNeqz3eAVg/jDiOrfEPWQpm1NoHvMR4CcrmuEEXE5Sf8AkFMJy1leEupiMzKIa6TXaCAdA6nQygXvGeSfNXuxGEVwTduUU3HdnaaQAjpJWFZtpp1a8QZu2YPGxN+auuz+MFSqGU3w6o4m4dGcgjMRblPReizhxldS2eYMfyN9Wy13wapyqdnYjNkdxLh/+jRV/RWyVAhCFAIQvC5B6heZwhB8sYhziSXaA6HTWFHqsEgjju0N0VahJvvPko9Z+VwgxBnzF1thYyZBIsDv0XmzcIHYjIdJv0v9F7mzxGhv66Jewq4GKMmLbyseS6xum8JvKLfZzQxz2izWvMf3Ut8C8T14/VU2Iwxq94Gke2TdxaOANtY4K0q1TlF7kRcxJ0+APqtY9RL2iPrsL6bHZR+KCQZkW++SVWd4eX6fRQdmOb3lVxAmYaLWAtZSazpt9/dlpEDG1P16KG9/dtLjGY6DgOEcFKr05cBxMeQuem5QsaM9SB0HBQV5a57pJkn79FY0dhqdsfASZ4LR4bAyNw4SRJU0rM0cMacDVvC6fLxPhEDXlO/pIv1HNXdfAKoxOHyHWNP7oHmOU7Du3AXNup81AouEe76KRTctD3GYao67g0DqS7zt5KnrMsQbHRXOMxIggBxPJrjHmqyrBF7yZUoo3YYgwvKVLxxCcxpId99E23EFZEyrXvbVavsltHPhn0nXyXH9LiZWILjuKsez+0nUKwJMyC2InXSY3TClm4uN1V7X2w6kW2a6SWy5skEH1/FK0jcroN5eMpv5cOICydam6qS4tDTnzBrXWMiCOO4J/DYl7SwGfCLgA7r+nNa0bXjcM2TZw9PopeFa1mZ17Mdrb8J3qqGz2k+0fV6epUA3MJJzMLbuOpHAlWwlT6O2qjAAx72gESAY8XsAwOg9VLw/aPEXmq+CZ9p1yY5yJVLTwxLoMNDovmafyz8D6qzZs4T/AJjY6XvzGl1uM1Od2rxBAAqlpvcxO/eZJ4eSjO7S4j/5qnk47+iScK0D2mGdLn6Js4MxZ1MdP7K7Q6ztBiLxVqx/W4pxnaHED/VeJ3uJ1859ygP2e+faE6jXf5L3/DXkxLXceN4TYmM7RYgCBVfH9R+i9Ve7BEGM49Y910K7NOaudJv9/VM1dbnRBFs03TFZ9uJXFT+Fx7wIBgDSyjVKhJkletFk2SoJWz8RVzxTeQeellOxm2cQBDngjdDR9OaZ2fhHCnngXmDybqnajGvEFUTezga5jnGC/MRJ1AgKweNf1UPYGEY0kgeKQJJ3cvRT8R7RWvhELKc4PI++FXOaS4nQyrSu3xDz9PsFRqjcrj1+KlVebOoBrBBnn8VdPLA0hzZGWecmxEenvWd2PigQWzrpuT+LxNRtmiR1hFO0sUZyncN+utrcAIUTazJuB92he4Gm+cztT9wl7SeGx6kfL3IIWB9n0/6hSmFMYRvg8z7rfJPMViJVescsTuVNkbEnyPNWWKo0yJLAfnKq8Q65yxAGgFjZKKjaNWHibj5bk2KQiQRHX5JG1Hy4DeNev2FBWBP7yLC59wTmFYcw4zqq1hurHDvAcDJInjuQaYSBHPQ3Cs/3x4LQHED7KzY28BBNMkA6TEqxr7YcWh7Q1vhEAeKAXEC/DUdVpWgp1J1MxxR3gA3LNMp13tBNfKHXgCN/JW9Cs1rWtHiyjU+0TvJi5uePBVNnsRistxfTjxHDql0MZyFxB4Am08J+7pjMHNebG0gSbfS8JFKrDRrx6b9OVvRVFg2u21zM3An3aKR+/NyQ4gflAbBHMmL+aq/3q/Hn4jfrx32Tgpz0ix+hm48lRIbtFwiRm6R8gpYx02Macp9+irG5WmYINjvuCP1Sf31vEC/A9BuCCcdoDi7/AI/NCrn5SSTlnp+iEVzsvTYMlImUoArkFOevaQBN5jfHBN5Cl92RBlBLdihcg2BsJPLmkOxMaC3Efqo8lBHFBdbBrNdUJNy0SB7p8rK7qPk2t7/vcshhGjOLloJg9CtUDB+P30W50HXUzE8PNO43BZgHMboLxfnPl9F5hzflv5p0BzDYkXkHjF4P3+gMYfAtcwkHxbhw3k9IHFSaOJLbVQeIMbk/VYwDO0QdHADM2/Fuo3LzG7SZkiQ4kWyiYPGCLeqmlLdjKYEj03qhxeIc92bjpwnd98kPxGaQOpuPefwhO4XCxd0g7h13ngbCBuCCRSZlaBwCXQqa6ga6eSaqOIEJwMMWyg8yqhjFU3aioIne28eSp21om8/VTcdUf+JpaONlWVMSCIUorce6XlMIlehZHmVOUydyAAnB6IBonUrUYPDh2HY4m0FpjWQQSOQyj1jis1SZmMRHyV/s0RTIE62MC8gjyuQPM8FYNLSx9JstFAcLjSB/VuukuxDDcAAbxE6jes+NrEObJgzq7375Tn73kJc3Q6gjdrc6LWxeZ6Yi3SwMT52Caw4puaQ+dByNhru4BVTNoZhpM6ax0ke6UqnWlkmLHQan3n0VFyzE0w0AGw9J67ymKtdh9pxAGkbxPEfFV1fFwBEk8AOHv5JBxbSJIynXKdCN8aoLJ7mExmI3RGvQwkjEMjwuJi8EGw6KvbVJ8TYqb7kiNwueSWKhaQXNg33jfunegkPfTJmR5tv8V6oRY46MPqPqhFZRo0XpCELmFQnGD4heoQe1wmm6oQiG6m/qr3ZJ/hE78xv6IQrFWtE6fe8qwpiWEG4ib8QDCELURGcPBPL5KHiTJE3/ALoQpVSsOwd4BAjKTG6bX680pw9o7/7oQrBEr+16fBSXajyXqEgo8SZcZ4qoxIu7+pCFmiKQksF0IWQolA1CEIizwJvG6D8VP2XUMPudP/JCFqKj06h7s3PHXepYPhHX5FCFULfatA04btBuUgiAYt0QhFM0XkkySfFF+BUTGPImDH9whCtEnFVD/Dubv+imupjuXOgTLbxe+bevUKCK02QhCI//2Q=="/>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10" name="Picture 14" descr="Protesters climb machin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375" y="602334"/>
            <a:ext cx="7681676" cy="5761257"/>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http://dictionaryproject.files.wordpress.com/2011/04/anthony-b-bannister.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374" y="597676"/>
            <a:ext cx="8373391" cy="5559933"/>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18" descr="data:image/jpeg;base64,/9j/4AAQSkZJRgABAQAAAQABAAD/2wCEAAkGBhQSERUUExQWFBQWGBcaGBgYGBgZHBwcGhwYFx0cHxoaGyceHBsjHhcYIC8gJScpLCwsHR8xNTAqNSYrLCkBCQoKDgwOGg8PGiwlHyQsLCwvLCwsLCwsKSwsLCwsLCwsLCwsLCwsLCwsLCwpLCwsLCwsLCwsLCwsLCwsLCwsLP/AABEIAMkA+wMBIgACEQEDEQH/xAAcAAACAwEBAQEAAAAAAAAAAAADBAIFBgEABwj/xABCEAABAgMFBAcGBQMEAgIDAAABAhEAAyEEEjFBUQUiYXEGEzKBkaGxFEJSwdHwIzNicuGCsvEVkqLSJEMH4hY0Y//EABkBAAMBAQEAAAAAAAAAAAAAAAABAgMEBf/EAC4RAAICAQMCBAYBBQEAAAAAAAABAhEhAxIxQVEEE2HwFCIyQnGB0QWhscHxUv/aAAwDAQACEQMRAD8AD0gUr2mfU/mzQMc1KpELMl0Gjn7+kP8ASJxaJ1HPWrOGRWR5Av3wOy2Sm8SX+8hDSLcsBdn2lQBDmjOCSKV97PlF7Y9oXZalIN1RZgXTgfAimVYz84m6ARTjUeORjQbKuqswowCjm+esU9RQ5MHDdwN2fpMCpKVoCXxUDjyJwHjFwvpChIa6oAYadxeK+wWM6IKaM4Dig/TWr14wedZC7lEop/aCacxT+BHN8ZC8oryWeX0uSCzPo936mEZ3SkGhA5V+gfxi5l2NBFEpb9ifpAlSBeolJSMd1OPCmXrD+Nj2DyG+pRI6Qt2Q3IfyYZk7Snq7IUfH5Ui+RZBkB4J+kdSSMOzyhrxq6ol+HKNSp/vOOZ14EweTs6csdpvH5CL0Izf0gaFqfEt91jT4tdifIKg7FWDvEtrSpwzMNy9ipxL96m9BFpdpjAS97EtFPxKSyHki9n2OhOIB8fmYIuyIF0XaPk3yEMEMHctCk2aUgkkkB6Axm/FxXKKWgM7o598SlKBGA5xXybYFFmmDQnDyVBetIOND5fxGWp4xQw0XHRbDzplwKUo4JJwwAxwcxnDt2RR1GjYOR5gegi+mbwUDV0qHlGKtdk6tTmqCWJegP0y584wXiWuOpr5SfJppm3ZZKQCq9M7DpNX5QaVtyWDcKheOTHiMxwirVdv2Q6AN8olIsjTSXzUwH7lHnnHLLU2/Mnk12oc28uYJbywVqJAIAfXgdYo5si0XVOFFQru1DZ40J8eReNTn96RIoGnlHTp+LpUzKWlbMwqVaEywsoKlX2CAAwBFFUBGMBKrQtlGUsEUZsX7/pGqVJBHZHgPpA/YU6DwT9IUvGy6IForqUNmmzXSDLWA40oOOJaGZhmuQELyqATlrFqLMkF2HgPpDAmcYcP6g7pifhkVGzrQu+2LO4Jq9Q2Jz+cKW63spQDO5cGpzqzRaW62JlFJSASpQSz4Xnc0hG2dGJc9SlpVVVSxzPcY79LxDm6wc8tFLOS2nWZFpsaJapiUuDeBKQ4UlaCOFFYt4YheR0OISkImouAAJ3VKoAwDhYegxNTmSXJqR0IUMJpdq8/EU5vGw2LKKJEtKu0Ax5x0Kc4cMaaeDD7Z2Ghc6YRdcrU7Ok9onKh7xFT/AKUqWkhOFcQ/mn/rBdsWy5Pm3gw62ZUH9SqsWgP+osWvsdFOIxofoLqUsYhTfoLjwDEd4i02ZtN0XLyQKVUQ4rWijpCqNolRYpCsWbh9+UGmSETAyk/7mIHjXwaMdbT8yO2y4y2vKLKy9I0hAAUl2DkqzbRIOcWErpDLIO8CW1J82aMkNlAH8NYBD0enGhx8YKu1WhCWBCceyGJ9fWPO1PCPhHQtSJtJM4qSDQPx+kGRPSKOmlO0IydhlziX6xCVYOp3L8SGhqVsuYgqS6VUUSXJxxrqaQ4+CmueCHrRNIJ6T7yf9w+sT60AsVJHMxm9lhaaJo9KgnB8u4xMTldakiYCZgAoaAOW4Y+sa/CtNYYvNXc0BtCfjR/uggnAB7yW1enjGfXZRfrNK1EGm+aChLDkYMLMtTMCUguAzBxmxZ+Zi/h5LhMnzUXIng4LR3VgiJj4KHdWKxCFit5Io2XPTnHJq3YmYTlug+opGj0HXDshag8pgch3RxUwfbxWrUDiskjB2+ZbuhQzixFTkMa8iAWjn1PDquprHUZdqKUmrCmnzjy5qQCX8jFGueajeIGrO/ecIjOtKziTvUGJeMo+HTw0W59iwVbrpYAKvJdhQ1zwwiutW0pQvdYhQujB3cOBh3jwiknJUpdCp0hKaPlepTm/eeEBMspQtQCiTQOC1COLu4hQ8OljI3LqW/8A+U2ZNz8NYuBkUwHjwi3sltRMQJgQa1Dg6l3IoM4wctC1lkygSz4K76kxptjyD1SCQpJTkKBnOWOBjbX8Ooq8kxnZezdoIDOohyAN0s+jnlHZu1EpBJJABANMCcIqp1iSVlBKyySoXkkjs3qE0esAs0grlLV1gUQUAAlQHeCOTRh8HcrXA/NVFsrbSLl9zddnYc8CdI6NqJKQq8WPAejOIprVs09We094i69AliArAB6jA/SK6y7AVfUCs3WwcDHB6D+Yb8A20k2C1o1k0Uy3TCfwyhaQ7i8AacsPCK21bVmhSQpN0l7v4iRhXFmwGcKS9nICrpUTjgTm5oBWDTbDLloZCC+oYa54+MaQ/prTuTJfiVwgEvbJVNZaFKYAXgUcT2mAYu1DFlI2zOSGQlKRk+8e/Af8jFdIUBVTBtfKJLtyT7ylY0Skn6ax36Xh4aTtGE9VzxRZK2rOXQzLuRusn0r5xr9g/wD66KvjVyX3jrWPnciQpd5SAossMljXUV4x9C2Agps8sKF0gGmm8Y6HlGaw6Pm+1UoTappKgoiatV0B6hSjU0GWEI2zaN9ZLJBJJUcT3OKYYR3a6SLXOJwMya3+5cBWxYkgUwZ34RKlao1enTs8yGBq76DjoYMicoNdUSDxNO4kwt1wXdQEEqDmhAcEAioOmUGQoKSm4MeeuWph2JoJZZBKgymBBUXagD04knKDImG/ukkMLwZhV8MfCIWmQvcIo6e/GJSLOL5KDdYM5bEqge3gnPJd2W1qxLEDF2EXQugV3DhSmMVmy7MDdSSFOSSGLYYcYltmanqyqodaXBAcbpamTjvjSNGMk7LSzISC4UlWj01z74BN2YXSUgltK+8/oTFIicgLGIN0aszK7n86cauyJy2pMVgnjzPfhFKyXRObJUmcpZcBlD/kc8ojJ2qUgGY6hUkl35CrQZG013XKklg9RxbEHlC0+ck4pAPAjMD1hTTrARkuo7K2imZWW5xDhg2PB4kLOtdQgnV/q8VqNkrUQZBAUC5Dtj/mHFbKtRABPmB8+UYuLfJta6D0rZczQCjVP0ER/wBIUnFSAeJ+oga7Jagnt0A1GXfCp2PaVpCicsyKeMQ9L0LUx0bCOS08Gf8Ay7wta+jiwCb4rFYjZNrv7oIIwJLDxeJ2Lr1LUZqlKABzLHLE05RPl10K3epyTsItevpckEhQB1o+sBtJTJAKrqgPdSxzJFHA/wAQx/qMlIu3Eivxpx/3cBCs/a0pQVuBTg4KBpXT6xyJTUk0bYaycT0hCgerkrIKboYJI4+9m8PWTaCFI3iEOcFCtC2RaKqVtpMpIShKpYD0C1APnTnEJ+3JZBvS7xzckk48ePrGuvKepFL19CNPTjF2ka9NrSuoXQ0yTwjntMtKru7eLUOJf1ins9mTNkhDFgTRgxqoipy78uMN2iQDOlrSk7rO4OACgwowrn6PXtje1NI5WleWC2ntxIV1YCiTSjDhgPukVVv2j1SlOAciq7edqNiA9cId2tZlqVeSGBALMCfiYnTKkClXppJKboUS4I7m7WT4tWE9z6lLYsgETUBMtaysdY1UXU46g92EGmWeVeO9NWySVAlRyODkVwDUji5KllICWCBu4OatQmmnKJzZCgFqxNwulwWcNiM4l6ct3PQN8a46hLQACkCUVVHunQ4khmAOrwrZtrIRNUq4fw0klgxLbjAFmOdYYlqnEK3iDS6KO1XqRTLz0irOxZoSskALWGYKKji+npEPRipXfJUdS4l0LYqagqlhSC7710aOc6NGy2KT1CL1VMXzzMfNDsicLoCiSwergR9H6OpazSgcQljji5eNIpRioroLmVnynpRPItKx/wD1nf3HSFLPLWQimZfh398M7clXrZN4TJ581fSBbPUpy6t0E0bhq8Zaawdms6YdGzi4uoKlihDjABsy2UelzgBKuD4m8jQ5RZXEhRqofCQWpjjFRIQoi6ygA7Z0OugMaTtIx0qbyM7StZAQHY3RgcqwtISyFEUoH41Hzglss94IIvOEgENSkdlSyEKTdUymGByIMTJWuC4NRa/Jp+itpJMsE4UA5kmHtthKZajuvfDtrdVi+bP5RmtmWpckgpSrmRzhq2bUmTQy0Xg7tdGI/wAmL009lMx1aeo5R4PS5yZigWoFFBrXh3Vhyx2reSAmhSK4Mz08Yr0T1Adhv6RE5ltIxDDjd+saRqObMJJywkPSpajeSwDnEkDAvDcizhKid2vHl9IpVW1eSX40A+bxN5nLkzfX0hPUTwslLSazLBo5FruZp8fvjDidoZ3k+MZaUVjXyhjrlj7EXHPJnLHBov8AUf1J8Y8Lb+pPjGcVPXq0TRaVagxVoVSLi32lSpaghTKbI+kVNinXpIwdznVgX++cd65RzgaN12AY5Zd2kZTuqRpFLqZ2bZJzl0n/AIaiuPOAqsU2m6RSvYqa/q0MaNY+/unpETLLE0o1KCOXZFPKOtakvQzU6yTHJuqarVSeIfegabJMpQ/8RlhjGnKdacx82iIkvgR5fSGoRfBXmSXI3sS2hMoJUQ7nTDL6w+u374IWyQA4u4mlXBpnFP1Bz+/KIKsY+Eekbw3JJUcklFuy0tFsUVUXuF6XcqtXhQ90CtNpNQlZ4FgW4NFabDz/ANxga7AclEd/lhFJyS4Fti+paqmshO+5BLslNeHAHhHU2ndVvuWVUBI8iGJihXYFnBedKfQ+cR9jXmrL7zgTfYexdy72lOII/EYFKRQIxb9pgUxT1vFwkvQcNRUxSCyzaunwr84iJSgCSFjLD/qrCFdvKHs7MuLKohC95Thqm6CKpFGAEbfo/MezS+RxbU6Uj5iglibywM3Srnh4R9F6KTQbJKIU/ar/AFKhYrA9rvJldrbLl+0TSQHK1u51JJ84XTZEJwSgDgIZ21Na0TcPzF58STFcbRxH3X+fCHGl0FLc+owptBThEFNoPCFuv4jLPX+BHBNwLirDE1NfqTFOSEoSHUqiZOpitRag4qC7sXzA+dIZl2WaoghISHzURTCoZ9WrEPVUSloyat8DAnpGY/iBe13nuC8oZU+seRKlXgCsrUHcg0clyC3o8GFoLmqAMgCfEnjhwwrE+ZOXBXlwjyBVLUe0sJCmYJ7Qx7ssYIizDFquTUEmrdwOBp8xEpRDgOlnzfnV8OOmJyYjjC8nL4wahgNXLu2Qc1eGof8Ap2J6lfTg6nVstCdfp9vE75rQeB4/NJ8RwgXWAVvIwfBWoAwyKgGAxCQz4jylJAO8kgBeSm3EkF65FRfndGcaKjF+o0CcmzyOp/8ArEqtj693ypxOkDDPkC5A3TjdSsf2gn+kZRMrBw0cbuD0T31V45RQgayzl/U4P5tSJoSfv7+3EDmTRWowOKdWHfVxx7o9fBq7VbA0vAKBfRx9tCwPIa9TEfdde/k3dx8qv/hPqYAkgjNi2INL1GPAVSdAYiVBnILM5BST749GHEgBQrBYU2HCnzYGuWDProfAGJdUHrj3PizY6hu7lARQsxLFQG6KlJvAOzbwUWwfgXBmlQ0UdN0aU5OKHQgO0J0+Rq11CtQceI566aRBUp3LaYU+/CI9Z+4jiBw4YuG8xEuuem9U6aj1B7oiUOxan3PMXIBwybhg5NI6m0EB1JATSrjPgH0jxmjEh90P6UyxjqJZEuhY8M8qtnhGd7Vy0VSl0sjLtSVYeLUpxwjvWpIw+/swtb5qkpcuQaXqggtw78ojKsiWLJL0LqJqTx7hFPVnHlWStOD4wHXMS/Z8vvSBGYn7b6/dYWEuYpXZSEh3dlVGjd8SKGBwcDCmvHhD+IjdPALw7d1kIZidPT5qjwu6f2/9vsQl7UCN0jTDywyjomHCox90/TONfMRHlMbvDh4p/wC328bTo+f/AB0Zdr+48YwInHVTcE95yyjedGlf+NLx97GnvKyhSnaKjp0YnpAFe0zTut1ihXmcorpc0HrHAdAzDV0rF9tbZRXapqlkpAUoJuqrVSjeOmIhH/TZUolSlFSjTeL5aa0jknqJKlydmlFOS3FXY5U2ZUIAYOQpwCdAWegaHrPsdSUtMIAvEgAl3/cYbG0kgcQHIGIyHIczCc8JWsEEsoFQBN45YB20rdPMZjU584FGahLA6LiUXpaE3gmhIwApUircYCkzalRDtlQC940/UX5ZwFKAQhj2yQcMnoHJc8d4jhHQmjk0vscG0pU71f1K5ZaR00uUZOfYOJCq9kMQDp38D56iJSZayPdBwqzg5f1F2HDJULKkdurXVAmo3R8RfBX6lOqlGcQU2QOWd2C01AN2jqr2TUb6t45EZbW/bMse0MJMwM1zk1L1Pw8HGpGJ4RJIW3aSTgC1ScVFviTUBPiTCybGFHdJF4fhMWp7wSGoTmvGvj32JOKVXQQZaSCGQp2ITqSXcu/HVpMl17QyCsqxQxXRg7pGIfMk1VoMIgkzGG8h7i8GYqoUkVqhIP1pgFdhSEqqUBKOrIBLywa0pVSnD51bMtKZs4OUgserEtrxpL3heHNnL4gH4oYqQZ143hgi7TJO8s8j9QziOrUX7VLxPEpS6gHfK4sPnweFV2d0u/aQEDeNUABRA0UbyQW1MRVIALqU4CeqxLF3SeR3ZpcfFwgGMS1KBSLz0OgdlLZXpEUKUwCVMbks5Uu3N7kSvyhdElIDOHTJYu/ZuS1Yc5jvjE5MpCgkAjfQZaS5+KaBzqlA1hWFDInF7z0BMwh09kpoOWDHVQjykkJIMw7sqpo4DkpXTkcMRd1hcolgKU4CAkSjU0SbpbndXnnLEdXKAUrs3pcplJq1ze8Q6SOAUk5Qh8jEyaoXiV3bplrNQyXF3SqFP3Y6PFagm862CGSreNErYpBIyBUGWMMHMBkJRelpBSoLlkIf3kZg8WLtqFCjhhyVoCZanSxeUCpi1FOlb0Iy8DgoiAdDExYBLzGKVAKrgSGSugpRg7FJcUjpAFCtm3TiwdyDgdws9XFaFMASqWgKNPwDdUGdSQTm+MtiDXLjj1BAN1w6UlSQPfDOyDo4IKePggoZKh8bVqS+6WYE6AvQ447xj3WABrzYuCOzwODPkQwxxhaXMRuMsAF2VgkGu657BwLFxjETNDDFIfeoQZdcGFUgg4h00FKwOgSfqNm0JKLhGT4qBTwL17ywhgKSzF97Ch9RFSF40ZVLqeHxIILK13SDU0cQQ2lrzGlAMA545JOOIHOM6W6y/t2k5VnYl37XLA564ZwTat1iFpDlmUQQDpUd1DEPalHcJJDDEG9R8ndsN7eHGOWueVJG64cdmulOMZU08mlfLfDCWZaEgJCLrnSnN3IMctkxUsKIQVJYdljrVsoNIlmjgjDhELSFoVQXhzAOP8xPlRfzIUNVp1yVlntE1aiLrUcFSVCpxcgDN433R0kWZALEi9/cqMXZlljdehwO6XNcqHwjbbDmqMhNG7VMfeVxjROV8qgwZnb+0UiZOBeilpo2Nc8jGWRZGUlhvNmXUB+7L+gd8XHSG0taZibo/NWWa8tW8XYCiR+o84r/AG4lSlBKSWyO6jiuZr+lPrDioR4KqZASCUkhroNDSp4A7o1dV4+kFFmJISWdVSHcDiR2ph504RH209WKhKXLzSGcnES5eKmdn7y0FTtJQWBcLkbsoVmKp2ln3BiWx9YtbSXvIIkllKLMDdqqpqzKUBup/QnljBjYlXkpvAFncCqRiRLSzJDYqx9IHLti2WkFKpnvKf8ACkhsH99Xi51iaNqdlZpITjMVVU5QegGjlz3OThCuIbZERJ3FEXGSqialCTmpRxmTPnQPlNeziVBKiSgh1lzfmnFiRgjCg1zxERtVaQoqRvTGEqQKlsbys3UdceAiK7epRRJBBWKz5nuoDuoP3M+eAhprsS1I97Mu6pV4BZ3VKAJEtAxQgDk3Hk5g0myATEsoBKE/gJqd4hys/EpzTU8ExBO2kqVMmkESEApTWsxSsa60HINAZu1ymzBSg06epVxPwpO4CB+2g/mHaFUicuwm4lJWVBMy/PYElSmcAcH3RrvHKDT5Cj16goqM8XUECgSAKD9xNwciYIu1taZUhFCAVTC+DJZv6Uk95MB2ftYKNomikqS10ftTcQPGvOC8gk6Dy5N2ZJUCSJCFJutQlLC8/GYR4QlPst2VcCyWXNmBTYlLIAPMqX3wNO0urskpZLqmLAH7UOo/8j5Q/KtJ9okyX7UuWVd61Tj5Q0waaOzpH4k5QJZaZyWbC6ZUtweQw1gC7KUJQQVHqJk0g3TW6tEwAjEUUawPZu2TME9j2EWhQrqsGPf62s2aZMvVM0pPJcsD1EFoEpIJabFu2hG8UrKlDh1RehwrLUacImsXZiZhvKZBlKAHbCeGLqlqChxSYivbbLsaidyYEE96TKU/lHLLtBYtU6Qo713c/chwnxSYLQUyCdnshEoFSlS1X5agQ7HAA6LTvD9SSM4IUIImrYlEwpvIFHUVMFpDUJ7QPxOk4whZdoKmWNRT+bZyl9bgVeB/pMMT9rXVSbUA8maCiYnEJU94jxdQibKpjQlsqUX30pa/kpD3QFEhi+T4EFJxEeXJQETN1VwKJCQ4KFAsVIeqRXA4OxoxhVU0pXMs8xX4c68qRNo29XwfEa90Ql2ubMIQrctck0BwmBqh8yQKHA98O0TtfcdJ3gSKkG+fcUAR2hkpiDrq9FR5HZUAFOgm4H3xmyT7ySmrVpr2oTRbyL01CbyDS0SDigjdKgMW/t5R1U0JlpdZXIcGXNHalmrJV4ngcmMKylFjC8mSCC19LbmrtjLURVxShAgSlmuJwuKJAURoFdlYI15R2dOX1iVFQRMIZMwVlzBodDX66wFIcKQEscTIVmfilqemoD8icILQbWHMzs7tMVJAIarPdxQcapoDjjHjPIvVqHZT4tkVYHkvDXOFxMdiLy7lNJsvu94fbCO3nvKBcF3WA4PCZLy4kecFj2jg2lMSUM9XdLYkfpxwL7pPIwydqFcwC7gal/AcO/WKomgCgAl6YmWf2qFUHh4tHauDV8nLK/pmCihwMZShFlwe12XC7QDUUfCuOcbHYR/AR/V/cY+dIn+6Q/6SAlQ/pND3Ru+jASLLLuktv4lXxq1rEwi1yKeXgx23bKpVpnvdCOsWbqKFZc9pWPOrCtRCPsZu3l3N3sIqJaeJA7XzOSovel6pfXKQalSyGCiCSotVsE8T3CEbbZZSpyZZU7YBzlW8WNPMl9I6VFGbm0JLsimCwv8AEUW6xQqBogPunFgKgZgR2ds24BLSq6FvfI/MmHMP8IzoAOJpBymWbShBLqBLJcskAFyWo5041gqUS/ag1VscybqR5OSRTAQ9qeCXN8u+LFZmzkqUEEgSk1TLD1yKlF3unU1VlSPS7M8xS1qvKRRCLoaX8IuuxXhu4Cj1wYsCpYtRSA8xQUVFyWAoBxU6hXKojuzhKE9aEgE3SVtg5LBI83OfKEopg5tCdlsRuzFBd6et0mZRgT2gCfdHvK55YwFiR7PcQspQ4VMmNVQGKjw+EcecWezEywqZLQASALzUSVG9uj9IbHOI7ORKWJslASUpZy26V1Ki3wgMwilBPAnqNPqVtpsqFplLUCmRLS4laud1L/Eo4nnDS7CDahOWXIuhIIDX2emG6hNebQxYpEucJkpAFyWyUOKOarXo7nyESsyUT0LSkAhKriCa3UJYKUHz7XlBQOT4ELBs9KVTSVEmeVgKJDiWk7xf9SjpgIHL2ehNlMgkgrCpqslEuQhLasnzixsARPdTBkrxOUuWAwHAkecd2etM4omEA78yYokZJKro/t8IKwG7JX2zZyFhEt2Mjq5aQDiVXSskf1eUPIQhU+bPFZiRNAS77qUlCaQTZUxK+qmMLwTNmLLVqGx/q8oBYZqLgUkDdssxai1So3cTzeDaLcV+ybLLRJWpHaXZl3w7sdw+dYKizShJnITWWTIWd7AklKqw8i1SyZoShICbKTho4amIp5RGZa0LTPCUpYSELoKkpUo15NA0gUmJzbLKMuWhVZcubMQFPgFATEl+BBidqKFTkWgsFKl3krBb8SXukHnSmjw3LtcuYZ1xIAlmTMAZsO0ebA1jlitiF9cUhhJmpmAANulIvMB/VCodsXQqVKmLnAMmaAsYspC2C0kYFi/lC8uVLliZZlUQpQS9cFVlzBxBYHWukP7Jt6FiYpvyFrIS3/rWHIbR690c2ZbZa5SpjXjK6xChrLJcPyHzgG2+wiuUkoTZ5gCVAquuTurFQQfgWHpyjs5YmLQG/HQAEhVCWLKlknMUKS+bQzse3omyFLIvLlo6tepSOyrmA/iYjs3aKZtmmKAebcuzGxJSKL/cNRCwPJyXaAZxWgHrE4liL4FCOMxLEHUR2wFIKyhI6tYV1ktjd/ekZyz8Iwfw9Z9pCdZJi0D8W6FKAxvoAN8caB9RAztXrbLfkhpstQWUpocd4gaEO4gwLPDR6y3eqWAL0m7euqxS3mU4ssVGcAmrSZbqvKlpYpUzLSDkftlcDDSdpCbZiqQGmJV1l0a+8wzBDun+I4NpCZZwZCReQbxl/pPaAGacTdyaHaaHTT/YG0KZKVqe8GAmJDlvdvA+h5gx20L3kzBulXvJe7e+FQGvjzgitp9ZISZKQVS3eXqg9pIBxGBbENHpu0euQhUkAqSCFyz7yNK9pqUNcYTodS7C9oUZamusVNTFC9UkZKGvkI6KTOrFLxAuHeHMaEaQSfbutIXKYkJZco+82BGpHcY9MtZmrvoAKmAXLVQkpwI1UMMjQQWgSl1QASje6tQqXYKJ8UKxbh5x9C6KKPskt7z7+NT21Z584wyreZky+hr1L0tWN4e8k5K1wMbro9aEqs6FMUklbjBjfU9ObxOB56oxu3Ej26cmSkqmmYoqmKwlh8tG1x0irSsJWZch5k5T3pp90Zt8I/UYsOks9c212iUi7JlJmKMxeAJdyTmonTlFOZ4X+BZQQk9uYrE8VHIaJiKZtjr799ichVxfVyT1k9famaDO7oNVGOCb1Suqk/iT5jhSx/anhqfsCmTrn/j2YFS1UXMNCr6IEcmzRZk9XL35y2ClgHP3UcOIxgyGPf8AlhAr2f8ADlkzLTMopQqz+4n5mJzJgsiTLSSu0zO2RW7juJ1NamIJ/wDDllZ3rSsEPiJYwIB+Lj9n2zpXs8s2mYCqaofhpZ7gPvq0On8xVNEWnx/31ZKbaDY5JlgvaJpdbVug0CRx1iS5xsVmKCfx5tVfpBy50gew7KTetc1KlkE9WMSVfFyB8+Uc2HZjaJ6rROBKJZchu0r3Ugebcoqm/fQm1z2/uxj2k2OxXSWnTnURmlJwfifvCIWS2mz7Pc0XPJCdbr1Pf9IQmJXbLZdW6XO89LqRj5CG9ryV2q2IlJSUywyU0YXRiR3AwZJx/sNKtZs+zXNFzyQn9ta9/wBILYrUZWzJizQr3E/P5+EI9L1mZNSEJPUy2lpOTikOdKrKpMmTZ0BxKS621NS+bYl4ech2v8nth24iwWhZpdQEJ5nH1EC2Laj7Haln3ZQQP6nH0iZsyhstKEAlU2YVEDG6D54DxiOzrMTs6alLXps1KQ5bssrHxgz/AGDGa7nei88rFpfKzrED6HTTMXOQa3pCx4N9TBui1nKPakqDESFOP93ygXRKQqVakFQZK0LAIYg0BoRygrgG18wPoZbHtJQrCZLUluVfR470ZtVy2qlrwWFSzzH+D4wvs6yrlT0TgHlomkE6C9crpjDW1tmrFrmTJQBKFJmNnXeLd4MSkynJOwWxp5s9uVLX2VEy1aNgPlHrPONjt60K/LJYvgUqwPgRB+ktj62eibLIF9CVgmgcMMW0IjnSKymfKlTCwmJ/DmPkQ5Dt91EFD3WBmPYLZSspdRoUH6RO1oNhtKZsv8ibvJ0Y4p7n8OUMTrObRZOrX+dJF5BFbyc/IeLQfZlkM6y+zzCCFVkrfBQBIBzGYbnBVivr7YnbEGyzE2iT+TNLkfCTinli3B49bpPVEWuzflqIvpHuKPD4T94wbYKCJUyVOYy6hafeQQccMjnw4RzY9mmSJipRUlSS4uKoFJOYOFQfUQUx2l+gM1FParLRqzUD3f1AfDi+njBFS+uHtFm3ZorMlpo7e8j6fZjZ7GbPOvyl/hKO6+GLFCuTV8cRHbXs4ypvWyTcTioY3ScG1ScvCFtY9y49/g5LUJ/4kpkWgVUkUCyMx8K+GceROE0lvwrQDV6BRGR0Vxju0bJ1h62UyZ2Kgk0W3vJ/UNP8mSpQtMu+VATk0vYPoFj5w9r4DdFK/a/lETOEw3Zn4U9PvGgP7m/uESmzHIRPBRMHZmCr/wDYccY5Kldb+FOpNSN1XvDh+ocDHJSrrSp5SpCjuqqw0IVikwbGG+Pv/X8BJ6zQThj2Zyav3+8OBrH0Loxf9llupK+1vPjvqbEPhHz24qS4JEyU4cEOwOo10Ij6B0csiBZkXFG7vEVBxUo4mucNQZLmig6SpAnzgGcrUVKOCE8eJrTOsVlllJCQUI3fdS1VqPvFqfQPB+mkortM1LhLrIoN5VMSdPt4rpMspllCVOBRSzUCjMPrApMlxjR3rBfKU4Ck6Z53BokecelTxeSUAGYXuAV6tOD/ALy7cH5wGyWYSnO8ta3KUKwLjtKDdmAy7CErK1LIKQ6ikBITmw/iHbCo2PTQmgIvIQRukduY9E8hR/8AMPKSVi4SXXWYcgnNvQd+kU1skdYy1OHO4hIAJPE5nnBZiLw6kKO6HmKNS+N0HQQ/mF8oSVbCu9MQAEJ3JKeVAeFXPdwiClhUxEhB3JYK5hHvLVifWBWQJkovoDlRuywSSCc1NpjXnrHrDsxIm75JLX1nBhix56c4VsqonTbPw1zE9qeoS06hD/MA+UWS7SJEmZNcOmWES+ZxPiw/pirnoTNBnKBZ91OH7WbMv5w1a7OFCXZjkAuZnWrBzXI+AhfNx3Cogtlyw1mSS95XWKcjBAceZETmWi8i1zsTeWkMXwZI9BHpSkSkT1oT2dwHVRxbSpEesdhQlUhLOpZepyTvP4tBTC4jgUEmQlw0uRUcd3KK6wTh7PIBLPNWo+C/pHZtybNnLIcIcVwZI/iC7SUgSrMGJCgVAcSHr/uMGQx2J2aekzrXdqFSgKcUl/SEbDbg1m3nUFf3IIbxi1sEtCTPCUgESxebMMpvnCMmVKCETbrMtN04Evg+sPNckfL2AptCRLtCCWJUu6DQ1ZQx4mG121HXSpqiyVyxUuKpYjyUfCJWmxoXaJiFIBdiTreFCNMIWnKSqyy1AOlEwIY1YEtn3Dwgp9yrXYHaJl+zOipkzFMwfdKqh9GPlDcm0S5i5slwUzZaS4qy00f+090TsslEuaJaezOSotk4/wAxX2aSEpVMugTJJU7ZhKi4P9MZ5S5LxZ5O1ggSiaTJaylY4HdV5gGGZs9MpMxLslW/LNQxd6UyVXvED2hJAnJUwVKnJwNQ4x5Ej7pHFyitEyUPzZBvI/UlsPAt4RVPuK0EnW5KlItKUllACcGo7Cvmx7oVTaROTdSTfkk9WdU43T3U7ngllUlKUqa7Lm7qxkCrA8MCDEJGzVJmqlmi0sZa8yMq5jIvCaY1tOWraEsrUgk3Fh1DNKxQkcx5x6bbTJQlK6kFgcloJ+zwgdrliYhM9KXA3ZyMQCPe4N6cjBVyUquyiprweUo5HNJ+8IdPINrHoDSsJlqKHuOCk5oV9PkY9ZbYJigtIZZH4iclA0OOcekyriVulloG+jJQGNMMC4IxwiMuxpBSoG9KXgoYpOnLnyhZK+XJBdrSvcU4UksheY/SXxAwg8603SETUm6sC8MrzPeSePrEV2a8tSQQJqacFpy72gsyYEoTfcIJA/VLNWI4YhoVPuPGMHELuovpN5KaA0cpOKFAeR+sbbo5OlezIYLA3qB2DqUdYwkyWqWXSx1aqVDgMjqnwja9GVSzZZZDpBv0fDfVwMGbyJpVhGe6dbS6u1T0o7alEE6ClBAzMRLkJKuyGIGpGEC6S2EK2jaZkyktEw61YCkZ/aVtVOWABQ0SnhhDpoTp/gtti2ozZq1rqTQaAAekB2hbAVpkoLpCnUdTiTApkz2eV1SazCHUdBC2xLIVrKzRCKk/KGLCyaO3T0yUdY7qAuyx6q+9OMLbDlCZKKSSFKLqL5EuYodsbQM1X6cEjhh4mLe0TPZrOEf+xYrwGcO+vQVVjqDm24TLSkJ7CKD0eLDbdo6uUoDtzj/xoAPD1MUnRiz35hWcE1Pf9k90B25tDrJvAYcsIlp0UmrNNsdAUmW5og3j3Cn17oR2ftS9aZkwmhPkHAic6b1FjzvzPQ19PWKvozLvzAnVQ8MTFU7olNU2Wu2D1dlko95a76vG98wO6HdmTr01KspcojvJ+gMUnTG2XrSEjBAA+cWNjm3LJOmauB3U+cP7miPsXf8Akq7NbNyd+oLI76xYdIN02YYXUkeF1MUGyheN3UgeJaLbplNafLHwp9SYlcWaOtyRb7JnXlTy/uI9F6xRG3vZkJPuqQfA/wAxZ9G5ronHgB5K+sZYTvwmgfCCMfmlZrNu2sotKVfFLHfdKvrC+xd+zWmWMioj1HmIH0mXu2dfA+YSYH0OtTT1g++n0/yYa+oWFp2D/wBU37Oo+4WPIs8WG3pvVzV6TUP3tdV6ecZvaSLi1I+FRHgaRf7TV1tilzc0MDyND5gRC+lot1uQTZUzr7IUiq5TFOtB9HEVtj2uUWlMw4EAH0+kA6L7Q6uez0XQ/KI9JLJ1c4sGSreT34juPygzgVpWWPSZJQ6R2FG+nxc+Z8xD9htJtFnCkn8WX4kad7eIhSSr2qyXffl4fTvDjwil2HtIyZgOWBH34w+pL4S6od2Ntbqpygeys73fE+kUkyii72HJQfCj8ID0msV1Ymo7C9MlY+ePjDWzLUmfKMmZ/SdDw+8HEOvtZW77kPSJ/tEpx+alP+4ffnFRsbaVwmWvDAg+HiIUs85dmm3TQg/fcRFltayCcnr5VFDtp5Z8/lC5/IXX4/wC2uhUqYmYCSgsyhw+cPLmC0yikECYz/uaE9mbSStJlzA6DQ8OMKz7OqzLxJQeyr7zhepVdH+mNbN2iUky5owoQcQ0bnYOyfwE3Fi6SsjvUoxjJqE2lLhkzUih1+/KNL0dtKk2dCVOCCtx/WqD8DeecMov/kG3k26cjJKzTU0r5wjIQJCL6/zD2Rp/MXXSnZ9y3WmfMw603Ac6CsZG2WszFeg+UU1XBCdq3wjskKmrYVKiXPqYsNp2oS5YkowHaOp+6wVMj2WU6m6xY8IprPIVOmBIxUf8mHTT2oW7G9/otNg2IEmcuiJbtxV/GPNoQ2lbjNmFWtAOGAEWG2bSJaBITgnH71zgPR2w3lGYrso9f4xhvsuhCv6nyx61EWazCWO2qqvn8h3RVbEsJnz0JyFVchXzwge1rZ1iycsovNhS+osy5x7SwyeX8n0gjl2wmtq2r2xTpVtG/NIB3UC6PnDXQuSxmTTgkMDxxPk3jGZmKvKJ1jSsZNi0Kx/d/EEX1CStbV+Cht07rJilnMn6/ONJtM9XYJaMCtn73UYy9kkla0p+JQHiY0XTSdWWgYAE/KBcN/oHlpfsquj6XtEsfqB8HMOdMVPaH4AeDH5wLosj8cHQE/L5wLpJNe0r4Fh4CJ6FfcXHRKsubz+UZXJo1XRItKm8T8hGVhFJ5bNLtfesUhWl3+1vURVdHp120ILs5bxBH0i4O9s0cPkoiM1Z5l1aVaEHwMC5sS+mi06WSbs8n4gFfL5RYdGVCbImSTxbvz8WjnS+Ruy1jNw/Oo+cVvRe03J4HxOPpB1FyirIKVaEHzEajaqfaLKmYKqRU+h+sVXSex9XaFaL3h34+bw/0RtfalnA1D+BgY1kruj+0Oqmh+yaHl91gvSbZ3Vzbw7Myo4HMfPvhHaVkMqapODGnLEeUaGyJ9rspR76MOYw+kCE+4LYtoTPkqkLOVDp/g1iiZUmYQaKSa92fziNknmUsHAgxfdILGJ0tM9AqBvcv49IOcDuso7bpAtUkLS3WIxGo0+Yis2PtQylNlnx/mIbH2iZaxpnDm39mf8Avl1SrtNkdeRh8/kPpfozm19nXCJ0qqFYjR/kfKGLBbUzUdXMqk0/b95QDY20aXF1SaEHjTwMA2ns42dd5NZasPp9IXOUXiOHwRtEhdmWxO7ilX3nrH0HYG2Hs6CQ53qv+oxkLJPTOR1a8D2VZ/5EXmxtkTESUpZ2KquMLyv1Qoq8oJOsMrP/AJFtxVbpyXolbN3CEejuzxWfM7KOy+Z15D15R9R2v+fM/d8hBR+QOX1jWGMmE84PjG1beZiySf8AEXmybL7NIM5TBaxuvkMvrG2Xj3RZ7W/KHIQRdK+oS+aSj0PicwqmLYVUosOJMaTaqRZrMmUCHOJ8zGvsX56OcO7fxHIQuhV/PZ8gsNjM2YlAxUW+p7hWNJ0wnCWhElNAAH+UbHYf5w5K9BHOkP5kN4jRKzO30R8t2dY+smoQPeIHjj5Roemk1jLlhgwf7841uw/zh3wfpD+d3CF9oL6v0fOuitlv2lOgdXhQeognS6a9oUmjJuj5x9A2B2/6PmIFtL81XOD7QX1foxvQiz3pizolvE/xFRtpT2iZ+4iPrnR/BXIfOKuf2zzMD+lDX1szvQyzvImfuP8AamMY0fctj/lnn8kxVSoT4QR5Zj9jyb+z1jS/5VjIkVx84+9bO/KPf6QkMuQhMqPDMNtGT1mzwrMJSrw3TGPsq7igoYgg4x+gJX5fdAJcFCiz5h0wsl+TLnDL0VXyPrGYsFo6uYlQ1j9DL7EBRDasIYPkXSvZl6WienCgPI1HhFX0athlzmOCqH74Yx96X2T3RAYxNYKjyfEOl2yLkzrAN1ePBWfjj4xPovbqmWcFffnH3Gbh98YgjGGxRyqPz/tvZJkTWHZNUn5d0WvR+2BQMpdUqcV9O+PuCo4jGB4dhF3Fpn572psxVnmtW6apOo+sXOypwnI6pYcEU+nMYiPtqo6IHh2gi7jtZ+e7TYJlnmXSCQcDqPrG82JbldQhw5rWtd4x9LjkElnARnimf//Z"/>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20" descr="data:image/jpeg;base64,/9j/4AAQSkZJRgABAQAAAQABAAD/2wCEAAkGBhQSERUUExQWFBQWGBcaGBgYGBgZHBwcGhwYFx0cHxoaGyceHBsjHhcYIC8gJScpLCwsHR8xNTAqNSYrLCkBCQoKDgwOGg8PGiwlHyQsLCwvLCwsLCwsKSwsLCwsLCwsLCwsLCwsLCwsLCwpLCwsLCwsLCwsLCwsLCwsLCwsLP/AABEIAMkA+wMBIgACEQEDEQH/xAAcAAACAwEBAQEAAAAAAAAAAAADBAIFBgEABwj/xABCEAABAgMFBAcGBQMEAgIDAAABAhEAAyEEEjFBUQUiYXEGEzKBkaGxFEJSwdHwIzNicuGCsvEVkqLSJEMH4hY0Y//EABkBAAMBAQEAAAAAAAAAAAAAAAABAgMEBf/EAC4RAAICAQMCBAYBBQEAAAAAAAABAhEhAxIxQVEEE2HwFCIyQnGB0QWhscHxUv/aAAwDAQACEQMRAD8AD0gUr2mfU/mzQMc1KpELMl0Gjn7+kP8ASJxaJ1HPWrOGRWR5Av3wOy2Sm8SX+8hDSLcsBdn2lQBDmjOCSKV97PlF7Y9oXZalIN1RZgXTgfAimVYz84m6ARTjUeORjQbKuqswowCjm+esU9RQ5MHDdwN2fpMCpKVoCXxUDjyJwHjFwvpChIa6oAYadxeK+wWM6IKaM4Dig/TWr14wedZC7lEop/aCacxT+BHN8ZC8oryWeX0uSCzPo936mEZ3SkGhA5V+gfxi5l2NBFEpb9ifpAlSBeolJSMd1OPCmXrD+Nj2DyG+pRI6Qt2Q3IfyYZk7Snq7IUfH5Ui+RZBkB4J+kdSSMOzyhrxq6ol+HKNSp/vOOZ14EweTs6csdpvH5CL0Izf0gaFqfEt91jT4tdifIKg7FWDvEtrSpwzMNy9ipxL96m9BFpdpjAS97EtFPxKSyHki9n2OhOIB8fmYIuyIF0XaPk3yEMEMHctCk2aUgkkkB6Axm/FxXKKWgM7o598SlKBGA5xXybYFFmmDQnDyVBetIOND5fxGWp4xQw0XHRbDzplwKUo4JJwwAxwcxnDt2RR1GjYOR5gegi+mbwUDV0qHlGKtdk6tTmqCWJegP0y584wXiWuOpr5SfJppm3ZZKQCq9M7DpNX5QaVtyWDcKheOTHiMxwirVdv2Q6AN8olIsjTSXzUwH7lHnnHLLU2/Mnk12oc28uYJbywVqJAIAfXgdYo5si0XVOFFQru1DZ40J8eReNTn96RIoGnlHTp+LpUzKWlbMwqVaEywsoKlX2CAAwBFFUBGMBKrQtlGUsEUZsX7/pGqVJBHZHgPpA/YU6DwT9IUvGy6IForqUNmmzXSDLWA40oOOJaGZhmuQELyqATlrFqLMkF2HgPpDAmcYcP6g7pifhkVGzrQu+2LO4Jq9Q2Jz+cKW63spQDO5cGpzqzRaW62JlFJSASpQSz4Xnc0hG2dGJc9SlpVVVSxzPcY79LxDm6wc8tFLOS2nWZFpsaJapiUuDeBKQ4UlaCOFFYt4YheR0OISkImouAAJ3VKoAwDhYegxNTmSXJqR0IUMJpdq8/EU5vGw2LKKJEtKu0Ax5x0Kc4cMaaeDD7Z2Ghc6YRdcrU7Ok9onKh7xFT/AKUqWkhOFcQ/mn/rBdsWy5Pm3gw62ZUH9SqsWgP+osWvsdFOIxofoLqUsYhTfoLjwDEd4i02ZtN0XLyQKVUQ4rWijpCqNolRYpCsWbh9+UGmSETAyk/7mIHjXwaMdbT8yO2y4y2vKLKy9I0hAAUl2DkqzbRIOcWErpDLIO8CW1J82aMkNlAH8NYBD0enGhx8YKu1WhCWBCceyGJ9fWPO1PCPhHQtSJtJM4qSDQPx+kGRPSKOmlO0IydhlziX6xCVYOp3L8SGhqVsuYgqS6VUUSXJxxrqaQ4+CmueCHrRNIJ6T7yf9w+sT60AsVJHMxm9lhaaJo9KgnB8u4xMTldakiYCZgAoaAOW4Y+sa/CtNYYvNXc0BtCfjR/uggnAB7yW1enjGfXZRfrNK1EGm+aChLDkYMLMtTMCUguAzBxmxZ+Zi/h5LhMnzUXIng4LR3VgiJj4KHdWKxCFit5Io2XPTnHJq3YmYTlug+opGj0HXDshag8pgch3RxUwfbxWrUDiskjB2+ZbuhQzixFTkMa8iAWjn1PDquprHUZdqKUmrCmnzjy5qQCX8jFGueajeIGrO/ecIjOtKziTvUGJeMo+HTw0W59iwVbrpYAKvJdhQ1zwwiutW0pQvdYhQujB3cOBh3jwiknJUpdCp0hKaPlepTm/eeEBMspQtQCiTQOC1COLu4hQ8OljI3LqW/8A+U2ZNz8NYuBkUwHjwi3sltRMQJgQa1Dg6l3IoM4wctC1lkygSz4K76kxptjyD1SCQpJTkKBnOWOBjbX8Ooq8kxnZezdoIDOohyAN0s+jnlHZu1EpBJJABANMCcIqp1iSVlBKyySoXkkjs3qE0esAs0grlLV1gUQUAAlQHeCOTRh8HcrXA/NVFsrbSLl9zddnYc8CdI6NqJKQq8WPAejOIprVs09We094i69AliArAB6jA/SK6y7AVfUCs3WwcDHB6D+Yb8A20k2C1o1k0Uy3TCfwyhaQ7i8AacsPCK21bVmhSQpN0l7v4iRhXFmwGcKS9nICrpUTjgTm5oBWDTbDLloZCC+oYa54+MaQ/prTuTJfiVwgEvbJVNZaFKYAXgUcT2mAYu1DFlI2zOSGQlKRk+8e/Af8jFdIUBVTBtfKJLtyT7ylY0Skn6ax36Xh4aTtGE9VzxRZK2rOXQzLuRusn0r5xr9g/wD66KvjVyX3jrWPnciQpd5SAossMljXUV4x9C2Agps8sKF0gGmm8Y6HlGaw6Pm+1UoTappKgoiatV0B6hSjU0GWEI2zaN9ZLJBJJUcT3OKYYR3a6SLXOJwMya3+5cBWxYkgUwZ34RKlao1enTs8yGBq76DjoYMicoNdUSDxNO4kwt1wXdQEEqDmhAcEAioOmUGQoKSm4MeeuWph2JoJZZBKgymBBUXagD04knKDImG/ukkMLwZhV8MfCIWmQvcIo6e/GJSLOL5KDdYM5bEqge3gnPJd2W1qxLEDF2EXQugV3DhSmMVmy7MDdSSFOSSGLYYcYltmanqyqodaXBAcbpamTjvjSNGMk7LSzISC4UlWj01z74BN2YXSUgltK+8/oTFIicgLGIN0aszK7n86cauyJy2pMVgnjzPfhFKyXRObJUmcpZcBlD/kc8ojJ2qUgGY6hUkl35CrQZG013XKklg9RxbEHlC0+ck4pAPAjMD1hTTrARkuo7K2imZWW5xDhg2PB4kLOtdQgnV/q8VqNkrUQZBAUC5Dtj/mHFbKtRABPmB8+UYuLfJta6D0rZczQCjVP0ER/wBIUnFSAeJ+oga7Jagnt0A1GXfCp2PaVpCicsyKeMQ9L0LUx0bCOS08Gf8Ay7wta+jiwCb4rFYjZNrv7oIIwJLDxeJ2Lr1LUZqlKABzLHLE05RPl10K3epyTsItevpckEhQB1o+sBtJTJAKrqgPdSxzJFHA/wAQx/qMlIu3Eivxpx/3cBCs/a0pQVuBTg4KBpXT6xyJTUk0bYaycT0hCgerkrIKboYJI4+9m8PWTaCFI3iEOcFCtC2RaKqVtpMpIShKpYD0C1APnTnEJ+3JZBvS7xzckk48ePrGuvKepFL19CNPTjF2ka9NrSuoXQ0yTwjntMtKru7eLUOJf1ins9mTNkhDFgTRgxqoipy78uMN2iQDOlrSk7rO4OACgwowrn6PXtje1NI5WleWC2ntxIV1YCiTSjDhgPukVVv2j1SlOAciq7edqNiA9cId2tZlqVeSGBALMCfiYnTKkClXppJKboUS4I7m7WT4tWE9z6lLYsgETUBMtaysdY1UXU46g92EGmWeVeO9NWySVAlRyODkVwDUji5KllICWCBu4OatQmmnKJzZCgFqxNwulwWcNiM4l6ct3PQN8a46hLQACkCUVVHunQ4khmAOrwrZtrIRNUq4fw0klgxLbjAFmOdYYlqnEK3iDS6KO1XqRTLz0irOxZoSskALWGYKKji+npEPRipXfJUdS4l0LYqagqlhSC7710aOc6NGy2KT1CL1VMXzzMfNDsicLoCiSwergR9H6OpazSgcQljji5eNIpRioroLmVnynpRPItKx/wD1nf3HSFLPLWQimZfh398M7clXrZN4TJ581fSBbPUpy6t0E0bhq8Zaawdms6YdGzi4uoKlihDjABsy2UelzgBKuD4m8jQ5RZXEhRqofCQWpjjFRIQoi6ygA7Z0OugMaTtIx0qbyM7StZAQHY3RgcqwtISyFEUoH41Hzglss94IIvOEgENSkdlSyEKTdUymGByIMTJWuC4NRa/Jp+itpJMsE4UA5kmHtthKZajuvfDtrdVi+bP5RmtmWpckgpSrmRzhq2bUmTQy0Xg7tdGI/wAmL009lMx1aeo5R4PS5yZigWoFFBrXh3Vhyx2reSAmhSK4Mz08Yr0T1Adhv6RE5ltIxDDjd+saRqObMJJywkPSpajeSwDnEkDAvDcizhKid2vHl9IpVW1eSX40A+bxN5nLkzfX0hPUTwslLSazLBo5FruZp8fvjDidoZ3k+MZaUVjXyhjrlj7EXHPJnLHBov8AUf1J8Y8Lb+pPjGcVPXq0TRaVagxVoVSLi32lSpaghTKbI+kVNinXpIwdznVgX++cd65RzgaN12AY5Zd2kZTuqRpFLqZ2bZJzl0n/AIaiuPOAqsU2m6RSvYqa/q0MaNY+/unpETLLE0o1KCOXZFPKOtakvQzU6yTHJuqarVSeIfegabJMpQ/8RlhjGnKdacx82iIkvgR5fSGoRfBXmSXI3sS2hMoJUQ7nTDL6w+u374IWyQA4u4mlXBpnFP1Bz+/KIKsY+Eekbw3JJUcklFuy0tFsUVUXuF6XcqtXhQ90CtNpNQlZ4FgW4NFabDz/ANxga7AclEd/lhFJyS4Fti+paqmshO+5BLslNeHAHhHU2ndVvuWVUBI8iGJihXYFnBedKfQ+cR9jXmrL7zgTfYexdy72lOII/EYFKRQIxb9pgUxT1vFwkvQcNRUxSCyzaunwr84iJSgCSFjLD/qrCFdvKHs7MuLKohC95Thqm6CKpFGAEbfo/MezS+RxbU6Uj5iglibywM3Srnh4R9F6KTQbJKIU/ar/AFKhYrA9rvJldrbLl+0TSQHK1u51JJ84XTZEJwSgDgIZ21Na0TcPzF58STFcbRxH3X+fCHGl0FLc+owptBThEFNoPCFuv4jLPX+BHBNwLirDE1NfqTFOSEoSHUqiZOpitRag4qC7sXzA+dIZl2WaoghISHzURTCoZ9WrEPVUSloyat8DAnpGY/iBe13nuC8oZU+seRKlXgCsrUHcg0clyC3o8GFoLmqAMgCfEnjhwwrE+ZOXBXlwjyBVLUe0sJCmYJ7Qx7ssYIizDFquTUEmrdwOBp8xEpRDgOlnzfnV8OOmJyYjjC8nL4wahgNXLu2Qc1eGof8Ap2J6lfTg6nVstCdfp9vE75rQeB4/NJ8RwgXWAVvIwfBWoAwyKgGAxCQz4jylJAO8kgBeSm3EkF65FRfndGcaKjF+o0CcmzyOp/8ArEqtj693ypxOkDDPkC5A3TjdSsf2gn+kZRMrBw0cbuD0T31V45RQgayzl/U4P5tSJoSfv7+3EDmTRWowOKdWHfVxx7o9fBq7VbA0vAKBfRx9tCwPIa9TEfdde/k3dx8qv/hPqYAkgjNi2INL1GPAVSdAYiVBnILM5BST749GHEgBQrBYU2HCnzYGuWDProfAGJdUHrj3PizY6hu7lARQsxLFQG6KlJvAOzbwUWwfgXBmlQ0UdN0aU5OKHQgO0J0+Rq11CtQceI566aRBUp3LaYU+/CI9Z+4jiBw4YuG8xEuuem9U6aj1B7oiUOxan3PMXIBwybhg5NI6m0EB1JATSrjPgH0jxmjEh90P6UyxjqJZEuhY8M8qtnhGd7Vy0VSl0sjLtSVYeLUpxwjvWpIw+/swtb5qkpcuQaXqggtw78ojKsiWLJL0LqJqTx7hFPVnHlWStOD4wHXMS/Z8vvSBGYn7b6/dYWEuYpXZSEh3dlVGjd8SKGBwcDCmvHhD+IjdPALw7d1kIZidPT5qjwu6f2/9vsQl7UCN0jTDywyjomHCox90/TONfMRHlMbvDh4p/wC328bTo+f/AB0Zdr+48YwInHVTcE95yyjedGlf+NLx97GnvKyhSnaKjp0YnpAFe0zTut1ihXmcorpc0HrHAdAzDV0rF9tbZRXapqlkpAUoJuqrVSjeOmIhH/TZUolSlFSjTeL5aa0jknqJKlydmlFOS3FXY5U2ZUIAYOQpwCdAWegaHrPsdSUtMIAvEgAl3/cYbG0kgcQHIGIyHIczCc8JWsEEsoFQBN45YB20rdPMZjU584FGahLA6LiUXpaE3gmhIwApUircYCkzalRDtlQC940/UX5ZwFKAQhj2yQcMnoHJc8d4jhHQmjk0vscG0pU71f1K5ZaR00uUZOfYOJCq9kMQDp38D56iJSZayPdBwqzg5f1F2HDJULKkdurXVAmo3R8RfBX6lOqlGcQU2QOWd2C01AN2jqr2TUb6t45EZbW/bMse0MJMwM1zk1L1Pw8HGpGJ4RJIW3aSTgC1ScVFviTUBPiTCybGFHdJF4fhMWp7wSGoTmvGvj32JOKVXQQZaSCGQp2ITqSXcu/HVpMl17QyCsqxQxXRg7pGIfMk1VoMIgkzGG8h7i8GYqoUkVqhIP1pgFdhSEqqUBKOrIBLywa0pVSnD51bMtKZs4OUgserEtrxpL3heHNnL4gH4oYqQZ143hgi7TJO8s8j9QziOrUX7VLxPEpS6gHfK4sPnweFV2d0u/aQEDeNUABRA0UbyQW1MRVIALqU4CeqxLF3SeR3ZpcfFwgGMS1KBSLz0OgdlLZXpEUKUwCVMbks5Uu3N7kSvyhdElIDOHTJYu/ZuS1Yc5jvjE5MpCgkAjfQZaS5+KaBzqlA1hWFDInF7z0BMwh09kpoOWDHVQjykkJIMw7sqpo4DkpXTkcMRd1hcolgKU4CAkSjU0SbpbndXnnLEdXKAUrs3pcplJq1ze8Q6SOAUk5Qh8jEyaoXiV3bplrNQyXF3SqFP3Y6PFagm862CGSreNErYpBIyBUGWMMHMBkJRelpBSoLlkIf3kZg8WLtqFCjhhyVoCZanSxeUCpi1FOlb0Iy8DgoiAdDExYBLzGKVAKrgSGSugpRg7FJcUjpAFCtm3TiwdyDgdws9XFaFMASqWgKNPwDdUGdSQTm+MtiDXLjj1BAN1w6UlSQPfDOyDo4IKePggoZKh8bVqS+6WYE6AvQ447xj3WABrzYuCOzwODPkQwxxhaXMRuMsAF2VgkGu657BwLFxjETNDDFIfeoQZdcGFUgg4h00FKwOgSfqNm0JKLhGT4qBTwL17ywhgKSzF97Ch9RFSF40ZVLqeHxIILK13SDU0cQQ2lrzGlAMA545JOOIHOM6W6y/t2k5VnYl37XLA564ZwTat1iFpDlmUQQDpUd1DEPalHcJJDDEG9R8ndsN7eHGOWueVJG64cdmulOMZU08mlfLfDCWZaEgJCLrnSnN3IMctkxUsKIQVJYdljrVsoNIlmjgjDhELSFoVQXhzAOP8xPlRfzIUNVp1yVlntE1aiLrUcFSVCpxcgDN433R0kWZALEi9/cqMXZlljdehwO6XNcqHwjbbDmqMhNG7VMfeVxjROV8qgwZnb+0UiZOBeilpo2Nc8jGWRZGUlhvNmXUB+7L+gd8XHSG0taZibo/NWWa8tW8XYCiR+o84r/AG4lSlBKSWyO6jiuZr+lPrDioR4KqZASCUkhroNDSp4A7o1dV4+kFFmJISWdVSHcDiR2ph504RH209WKhKXLzSGcnES5eKmdn7y0FTtJQWBcLkbsoVmKp2ln3BiWx9YtbSXvIIkllKLMDdqqpqzKUBup/QnljBjYlXkpvAFncCqRiRLSzJDYqx9IHLti2WkFKpnvKf8ACkhsH99Xi51iaNqdlZpITjMVVU5QegGjlz3OThCuIbZERJ3FEXGSqialCTmpRxmTPnQPlNeziVBKiSgh1lzfmnFiRgjCg1zxERtVaQoqRvTGEqQKlsbys3UdceAiK7epRRJBBWKz5nuoDuoP3M+eAhprsS1I97Mu6pV4BZ3VKAJEtAxQgDk3Hk5g0myATEsoBKE/gJqd4hys/EpzTU8ExBO2kqVMmkESEApTWsxSsa60HINAZu1ymzBSg06epVxPwpO4CB+2g/mHaFUicuwm4lJWVBMy/PYElSmcAcH3RrvHKDT5Cj16goqM8XUECgSAKD9xNwciYIu1taZUhFCAVTC+DJZv6Uk95MB2ftYKNomikqS10ftTcQPGvOC8gk6Dy5N2ZJUCSJCFJutQlLC8/GYR4QlPst2VcCyWXNmBTYlLIAPMqX3wNO0urskpZLqmLAH7UOo/8j5Q/KtJ9okyX7UuWVd61Tj5Q0waaOzpH4k5QJZaZyWbC6ZUtweQw1gC7KUJQQVHqJk0g3TW6tEwAjEUUawPZu2TME9j2EWhQrqsGPf62s2aZMvVM0pPJcsD1EFoEpIJabFu2hG8UrKlDh1RehwrLUacImsXZiZhvKZBlKAHbCeGLqlqChxSYivbbLsaidyYEE96TKU/lHLLtBYtU6Qo713c/chwnxSYLQUyCdnshEoFSlS1X5agQ7HAA6LTvD9SSM4IUIImrYlEwpvIFHUVMFpDUJ7QPxOk4whZdoKmWNRT+bZyl9bgVeB/pMMT9rXVSbUA8maCiYnEJU94jxdQibKpjQlsqUX30pa/kpD3QFEhi+T4EFJxEeXJQETN1VwKJCQ4KFAsVIeqRXA4OxoxhVU0pXMs8xX4c68qRNo29XwfEa90Ql2ubMIQrctck0BwmBqh8yQKHA98O0TtfcdJ3gSKkG+fcUAR2hkpiDrq9FR5HZUAFOgm4H3xmyT7ySmrVpr2oTRbyL01CbyDS0SDigjdKgMW/t5R1U0JlpdZXIcGXNHalmrJV4ngcmMKylFjC8mSCC19LbmrtjLURVxShAgSlmuJwuKJAURoFdlYI15R2dOX1iVFQRMIZMwVlzBodDX66wFIcKQEscTIVmfilqemoD8icILQbWHMzs7tMVJAIarPdxQcapoDjjHjPIvVqHZT4tkVYHkvDXOFxMdiLy7lNJsvu94fbCO3nvKBcF3WA4PCZLy4kecFj2jg2lMSUM9XdLYkfpxwL7pPIwydqFcwC7gal/AcO/WKomgCgAl6YmWf2qFUHh4tHauDV8nLK/pmCihwMZShFlwe12XC7QDUUfCuOcbHYR/AR/V/cY+dIn+6Q/6SAlQ/pND3Ru+jASLLLuktv4lXxq1rEwi1yKeXgx23bKpVpnvdCOsWbqKFZc9pWPOrCtRCPsZu3l3N3sIqJaeJA7XzOSovel6pfXKQalSyGCiCSotVsE8T3CEbbZZSpyZZU7YBzlW8WNPMl9I6VFGbm0JLsimCwv8AEUW6xQqBogPunFgKgZgR2ds24BLSq6FvfI/MmHMP8IzoAOJpBymWbShBLqBLJcskAFyWo5041gqUS/ag1VscybqR5OSRTAQ9qeCXN8u+LFZmzkqUEEgSk1TLD1yKlF3unU1VlSPS7M8xS1qvKRRCLoaX8IuuxXhu4Cj1wYsCpYtRSA8xQUVFyWAoBxU6hXKojuzhKE9aEgE3SVtg5LBI83OfKEopg5tCdlsRuzFBd6et0mZRgT2gCfdHvK55YwFiR7PcQspQ4VMmNVQGKjw+EcecWezEywqZLQASALzUSVG9uj9IbHOI7ORKWJslASUpZy26V1Ki3wgMwilBPAnqNPqVtpsqFplLUCmRLS4laud1L/Eo4nnDS7CDahOWXIuhIIDX2emG6hNebQxYpEucJkpAFyWyUOKOarXo7nyESsyUT0LSkAhKriCa3UJYKUHz7XlBQOT4ELBs9KVTSVEmeVgKJDiWk7xf9SjpgIHL2ehNlMgkgrCpqslEuQhLasnzixsARPdTBkrxOUuWAwHAkecd2etM4omEA78yYokZJKro/t8IKwG7JX2zZyFhEt2Mjq5aQDiVXSskf1eUPIQhU+bPFZiRNAS77qUlCaQTZUxK+qmMLwTNmLLVqGx/q8oBYZqLgUkDdssxai1So3cTzeDaLcV+ybLLRJWpHaXZl3w7sdw+dYKizShJnITWWTIWd7AklKqw8i1SyZoShICbKTho4amIp5RGZa0LTPCUpYSELoKkpUo15NA0gUmJzbLKMuWhVZcubMQFPgFATEl+BBidqKFTkWgsFKl3krBb8SXukHnSmjw3LtcuYZ1xIAlmTMAZsO0ebA1jlitiF9cUhhJmpmAANulIvMB/VCodsXQqVKmLnAMmaAsYspC2C0kYFi/lC8uVLliZZlUQpQS9cFVlzBxBYHWukP7Jt6FiYpvyFrIS3/rWHIbR690c2ZbZa5SpjXjK6xChrLJcPyHzgG2+wiuUkoTZ5gCVAquuTurFQQfgWHpyjs5YmLQG/HQAEhVCWLKlknMUKS+bQzse3omyFLIvLlo6tepSOyrmA/iYjs3aKZtmmKAebcuzGxJSKL/cNRCwPJyXaAZxWgHrE4liL4FCOMxLEHUR2wFIKyhI6tYV1ktjd/ekZyz8Iwfw9Z9pCdZJi0D8W6FKAxvoAN8caB9RAztXrbLfkhpstQWUpocd4gaEO4gwLPDR6y3eqWAL0m7euqxS3mU4ssVGcAmrSZbqvKlpYpUzLSDkftlcDDSdpCbZiqQGmJV1l0a+8wzBDun+I4NpCZZwZCReQbxl/pPaAGacTdyaHaaHTT/YG0KZKVqe8GAmJDlvdvA+h5gx20L3kzBulXvJe7e+FQGvjzgitp9ZISZKQVS3eXqg9pIBxGBbENHpu0euQhUkAqSCFyz7yNK9pqUNcYTodS7C9oUZamusVNTFC9UkZKGvkI6KTOrFLxAuHeHMaEaQSfbutIXKYkJZco+82BGpHcY9MtZmrvoAKmAXLVQkpwI1UMMjQQWgSl1QASje6tQqXYKJ8UKxbh5x9C6KKPskt7z7+NT21Z584wyreZky+hr1L0tWN4e8k5K1wMbro9aEqs6FMUklbjBjfU9ObxOB56oxu3Ej26cmSkqmmYoqmKwlh8tG1x0irSsJWZch5k5T3pp90Zt8I/UYsOks9c212iUi7JlJmKMxeAJdyTmonTlFOZ4X+BZQQk9uYrE8VHIaJiKZtjr799ichVxfVyT1k9famaDO7oNVGOCb1Suqk/iT5jhSx/anhqfsCmTrn/j2YFS1UXMNCr6IEcmzRZk9XL35y2ClgHP3UcOIxgyGPf8AlhAr2f8ADlkzLTMopQqz+4n5mJzJgsiTLSSu0zO2RW7juJ1NamIJ/wDDllZ3rSsEPiJYwIB+Lj9n2zpXs8s2mYCqaofhpZ7gPvq0On8xVNEWnx/31ZKbaDY5JlgvaJpdbVug0CRx1iS5xsVmKCfx5tVfpBy50gew7KTetc1KlkE9WMSVfFyB8+Uc2HZjaJ6rROBKJZchu0r3Ugebcoqm/fQm1z2/uxj2k2OxXSWnTnURmlJwfifvCIWS2mz7Pc0XPJCdbr1Pf9IQmJXbLZdW6XO89LqRj5CG9ryV2q2IlJSUywyU0YXRiR3AwZJx/sNKtZs+zXNFzyQn9ta9/wBILYrUZWzJizQr3E/P5+EI9L1mZNSEJPUy2lpOTikOdKrKpMmTZ0BxKS621NS+bYl4ech2v8nth24iwWhZpdQEJ5nH1EC2Laj7Haln3ZQQP6nH0iZsyhstKEAlU2YVEDG6D54DxiOzrMTs6alLXps1KQ5bssrHxgz/AGDGa7nei88rFpfKzrED6HTTMXOQa3pCx4N9TBui1nKPakqDESFOP93ygXRKQqVakFQZK0LAIYg0BoRygrgG18wPoZbHtJQrCZLUluVfR470ZtVy2qlrwWFSzzH+D4wvs6yrlT0TgHlomkE6C9crpjDW1tmrFrmTJQBKFJmNnXeLd4MSkynJOwWxp5s9uVLX2VEy1aNgPlHrPONjt60K/LJYvgUqwPgRB+ktj62eibLIF9CVgmgcMMW0IjnSKymfKlTCwmJ/DmPkQ5Dt91EFD3WBmPYLZSspdRoUH6RO1oNhtKZsv8ibvJ0Y4p7n8OUMTrObRZOrX+dJF5BFbyc/IeLQfZlkM6y+zzCCFVkrfBQBIBzGYbnBVivr7YnbEGyzE2iT+TNLkfCTinli3B49bpPVEWuzflqIvpHuKPD4T94wbYKCJUyVOYy6hafeQQccMjnw4RzY9mmSJipRUlSS4uKoFJOYOFQfUQUx2l+gM1FParLRqzUD3f1AfDi+njBFS+uHtFm3ZorMlpo7e8j6fZjZ7GbPOvyl/hKO6+GLFCuTV8cRHbXs4ypvWyTcTioY3ScG1ScvCFtY9y49/g5LUJ/4kpkWgVUkUCyMx8K+GceROE0lvwrQDV6BRGR0Vxju0bJ1h62UyZ2Kgk0W3vJ/UNP8mSpQtMu+VATk0vYPoFj5w9r4DdFK/a/lETOEw3Zn4U9PvGgP7m/uESmzHIRPBRMHZmCr/wDYccY5Kldb+FOpNSN1XvDh+ocDHJSrrSp5SpCjuqqw0IVikwbGG+Pv/X8BJ6zQThj2Zyav3+8OBrH0Loxf9llupK+1vPjvqbEPhHz24qS4JEyU4cEOwOo10Ij6B0csiBZkXFG7vEVBxUo4mucNQZLmig6SpAnzgGcrUVKOCE8eJrTOsVlllJCQUI3fdS1VqPvFqfQPB+mkortM1LhLrIoN5VMSdPt4rpMspllCVOBRSzUCjMPrApMlxjR3rBfKU4Ck6Z53BokecelTxeSUAGYXuAV6tOD/ALy7cH5wGyWYSnO8ta3KUKwLjtKDdmAy7CErK1LIKQ6ikBITmw/iHbCo2PTQmgIvIQRukduY9E8hR/8AMPKSVi4SXXWYcgnNvQd+kU1skdYy1OHO4hIAJPE5nnBZiLw6kKO6HmKNS+N0HQQ/mF8oSVbCu9MQAEJ3JKeVAeFXPdwiClhUxEhB3JYK5hHvLVifWBWQJkovoDlRuywSSCc1NpjXnrHrDsxIm75JLX1nBhix56c4VsqonTbPw1zE9qeoS06hD/MA+UWS7SJEmZNcOmWES+ZxPiw/pirnoTNBnKBZ91OH7WbMv5w1a7OFCXZjkAuZnWrBzXI+AhfNx3Cogtlyw1mSS95XWKcjBAceZETmWi8i1zsTeWkMXwZI9BHpSkSkT1oT2dwHVRxbSpEesdhQlUhLOpZepyTvP4tBTC4jgUEmQlw0uRUcd3KK6wTh7PIBLPNWo+C/pHZtybNnLIcIcVwZI/iC7SUgSrMGJCgVAcSHr/uMGQx2J2aekzrXdqFSgKcUl/SEbDbg1m3nUFf3IIbxi1sEtCTPCUgESxebMMpvnCMmVKCETbrMtN04Evg+sPNckfL2AptCRLtCCWJUu6DQ1ZQx4mG121HXSpqiyVyxUuKpYjyUfCJWmxoXaJiFIBdiTreFCNMIWnKSqyy1AOlEwIY1YEtn3Dwgp9yrXYHaJl+zOipkzFMwfdKqh9GPlDcm0S5i5slwUzZaS4qy00f+090TsslEuaJaezOSotk4/wAxX2aSEpVMugTJJU7ZhKi4P9MZ5S5LxZ5O1ggSiaTJaylY4HdV5gGGZs9MpMxLslW/LNQxd6UyVXvED2hJAnJUwVKnJwNQ4x5Ej7pHFyitEyUPzZBvI/UlsPAt4RVPuK0EnW5KlItKUllACcGo7Cvmx7oVTaROTdSTfkk9WdU43T3U7ngllUlKUqa7Lm7qxkCrA8MCDEJGzVJmqlmi0sZa8yMq5jIvCaY1tOWraEsrUgk3Fh1DNKxQkcx5x6bbTJQlK6kFgcloJ+zwgdrliYhM9KXA3ZyMQCPe4N6cjBVyUquyiprweUo5HNJ+8IdPINrHoDSsJlqKHuOCk5oV9PkY9ZbYJigtIZZH4iclA0OOcekyriVulloG+jJQGNMMC4IxwiMuxpBSoG9KXgoYpOnLnyhZK+XJBdrSvcU4UksheY/SXxAwg8603SETUm6sC8MrzPeSePrEV2a8tSQQJqacFpy72gsyYEoTfcIJA/VLNWI4YhoVPuPGMHELuovpN5KaA0cpOKFAeR+sbbo5OlezIYLA3qB2DqUdYwkyWqWXSx1aqVDgMjqnwja9GVSzZZZDpBv0fDfVwMGbyJpVhGe6dbS6u1T0o7alEE6ClBAzMRLkJKuyGIGpGEC6S2EK2jaZkyktEw61YCkZ/aVtVOWABQ0SnhhDpoTp/gtti2ozZq1rqTQaAAekB2hbAVpkoLpCnUdTiTApkz2eV1SazCHUdBC2xLIVrKzRCKk/KGLCyaO3T0yUdY7qAuyx6q+9OMLbDlCZKKSSFKLqL5EuYodsbQM1X6cEjhh4mLe0TPZrOEf+xYrwGcO+vQVVjqDm24TLSkJ7CKD0eLDbdo6uUoDtzj/xoAPD1MUnRiz35hWcE1Pf9k90B25tDrJvAYcsIlp0UmrNNsdAUmW5og3j3Cn17oR2ftS9aZkwmhPkHAic6b1FjzvzPQ19PWKvozLvzAnVQ8MTFU7olNU2Wu2D1dlko95a76vG98wO6HdmTr01KspcojvJ+gMUnTG2XrSEjBAA+cWNjm3LJOmauB3U+cP7miPsXf8Akq7NbNyd+oLI76xYdIN02YYXUkeF1MUGyheN3UgeJaLbplNafLHwp9SYlcWaOtyRb7JnXlTy/uI9F6xRG3vZkJPuqQfA/wAxZ9G5ronHgB5K+sZYTvwmgfCCMfmlZrNu2sotKVfFLHfdKvrC+xd+zWmWMioj1HmIH0mXu2dfA+YSYH0OtTT1g++n0/yYa+oWFp2D/wBU37Oo+4WPIs8WG3pvVzV6TUP3tdV6ecZvaSLi1I+FRHgaRf7TV1tilzc0MDyND5gRC+lot1uQTZUzr7IUiq5TFOtB9HEVtj2uUWlMw4EAH0+kA6L7Q6uez0XQ/KI9JLJ1c4sGSreT34juPygzgVpWWPSZJQ6R2FG+nxc+Z8xD9htJtFnCkn8WX4kad7eIhSSr2qyXffl4fTvDjwil2HtIyZgOWBH34w+pL4S6od2Ntbqpygeys73fE+kUkyii72HJQfCj8ID0msV1Ymo7C9MlY+ePjDWzLUmfKMmZ/SdDw+8HEOvtZW77kPSJ/tEpx+alP+4ffnFRsbaVwmWvDAg+HiIUs85dmm3TQg/fcRFltayCcnr5VFDtp5Z8/lC5/IXX4/wC2uhUqYmYCSgsyhw+cPLmC0yikECYz/uaE9mbSStJlzA6DQ8OMKz7OqzLxJQeyr7zhepVdH+mNbN2iUky5owoQcQ0bnYOyfwE3Fi6SsjvUoxjJqE2lLhkzUih1+/KNL0dtKk2dCVOCCtx/WqD8DeecMov/kG3k26cjJKzTU0r5wjIQJCL6/zD2Rp/MXXSnZ9y3WmfMw603Ac6CsZG2WszFeg+UU1XBCdq3wjskKmrYVKiXPqYsNp2oS5YkowHaOp+6wVMj2WU6m6xY8IprPIVOmBIxUf8mHTT2oW7G9/otNg2IEmcuiJbtxV/GPNoQ2lbjNmFWtAOGAEWG2bSJaBITgnH71zgPR2w3lGYrso9f4xhvsuhCv6nyx61EWazCWO2qqvn8h3RVbEsJnz0JyFVchXzwge1rZ1iycsovNhS+osy5x7SwyeX8n0gjl2wmtq2r2xTpVtG/NIB3UC6PnDXQuSxmTTgkMDxxPk3jGZmKvKJ1jSsZNi0Kx/d/EEX1CStbV+Cht07rJilnMn6/ONJtM9XYJaMCtn73UYy9kkla0p+JQHiY0XTSdWWgYAE/KBcN/oHlpfsquj6XtEsfqB8HMOdMVPaH4AeDH5wLosj8cHQE/L5wLpJNe0r4Fh4CJ6FfcXHRKsubz+UZXJo1XRItKm8T8hGVhFJ5bNLtfesUhWl3+1vURVdHp120ILs5bxBH0i4O9s0cPkoiM1Z5l1aVaEHwMC5sS+mi06WSbs8n4gFfL5RYdGVCbImSTxbvz8WjnS+Ruy1jNw/Oo+cVvRe03J4HxOPpB1FyirIKVaEHzEajaqfaLKmYKqRU+h+sVXSex9XaFaL3h34+bw/0RtfalnA1D+BgY1kruj+0Oqmh+yaHl91gvSbZ3Vzbw7Myo4HMfPvhHaVkMqapODGnLEeUaGyJ9rspR76MOYw+kCE+4LYtoTPkqkLOVDp/g1iiZUmYQaKSa92fziNknmUsHAgxfdILGJ0tM9AqBvcv49IOcDuso7bpAtUkLS3WIxGo0+Yis2PtQylNlnx/mIbH2iZaxpnDm39mf8Avl1SrtNkdeRh8/kPpfozm19nXCJ0qqFYjR/kfKGLBbUzUdXMqk0/b95QDY20aXF1SaEHjTwMA2ns42dd5NZasPp9IXOUXiOHwRtEhdmWxO7ilX3nrH0HYG2Hs6CQ53qv+oxkLJPTOR1a8D2VZ/5EXmxtkTESUpZ2KquMLyv1Qoq8oJOsMrP/AJFtxVbpyXolbN3CEejuzxWfM7KOy+Z15D15R9R2v+fM/d8hBR+QOX1jWGMmE84PjG1beZiySf8AEXmybL7NIM5TBaxuvkMvrG2Xj3RZ7W/KHIQRdK+oS+aSj0PicwqmLYVUosOJMaTaqRZrMmUCHOJ8zGvsX56OcO7fxHIQuhV/PZ8gsNjM2YlAxUW+p7hWNJ0wnCWhElNAAH+UbHYf5w5K9BHOkP5kN4jRKzO30R8t2dY+smoQPeIHjj5Roemk1jLlhgwf7841uw/zh3wfpD+d3CF9oL6v0fOuitlv2lOgdXhQeognS6a9oUmjJuj5x9A2B2/6PmIFtL81XOD7QX1foxvQiz3pizolvE/xFRtpT2iZ+4iPrnR/BXIfOKuf2zzMD+lDX1szvQyzvImfuP8AamMY0fctj/lnn8kxVSoT4QR5Zj9jyb+z1jS/5VjIkVx84+9bO/KPf6QkMuQhMqPDMNtGT1mzwrMJSrw3TGPsq7igoYgg4x+gJX5fdAJcFCiz5h0wsl+TLnDL0VXyPrGYsFo6uYlQ1j9DL7EBRDasIYPkXSvZl6WienCgPI1HhFX0athlzmOCqH74Yx96X2T3RAYxNYKjyfEOl2yLkzrAN1ePBWfjj4xPovbqmWcFffnH3Gbh98YgjGGxRyqPz/tvZJkTWHZNUn5d0WvR+2BQMpdUqcV9O+PuCo4jGB4dhF3Fpn572psxVnmtW6apOo+sXOypwnI6pYcEU+nMYiPtqo6IHh2gi7jtZ+e7TYJlnmXSCQcDqPrG82JbldQhw5rWtd4x9LjkElnARnimf//Z"/>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22" descr="data:image/jpeg;base64,/9j/4AAQSkZJRgABAQAAAQABAAD/2wCEAAkGBhQSERUUExQWFBQWGBcaGBgYGBgZHBwcGhwYFx0cHxoaGyceHBsjHhcYIC8gJScpLCwsHR8xNTAqNSYrLCkBCQoKDgwOGg8PGiwlHyQsLCwvLCwsLCwsKSwsLCwsLCwsLCwsLCwsLCwsLCwpLCwsLCwsLCwsLCwsLCwsLCwsLP/AABEIAMkA+wMBIgACEQEDEQH/xAAcAAACAwEBAQEAAAAAAAAAAAADBAIFBgEABwj/xABCEAABAgMFBAcGBQMEAgIDAAABAhEAAyEEEjFBUQUiYXEGEzKBkaGxFEJSwdHwIzNicuGCsvEVkqLSJEMH4hY0Y//EABkBAAMBAQEAAAAAAAAAAAAAAAABAgMEBf/EAC4RAAICAQMCBAYBBQEAAAAAAAABAhEhAxIxQVEEE2HwFCIyQnGB0QWhscHxUv/aAAwDAQACEQMRAD8AD0gUr2mfU/mzQMc1KpELMl0Gjn7+kP8ASJxaJ1HPWrOGRWR5Av3wOy2Sm8SX+8hDSLcsBdn2lQBDmjOCSKV97PlF7Y9oXZalIN1RZgXTgfAimVYz84m6ARTjUeORjQbKuqswowCjm+esU9RQ5MHDdwN2fpMCpKVoCXxUDjyJwHjFwvpChIa6oAYadxeK+wWM6IKaM4Dig/TWr14wedZC7lEop/aCacxT+BHN8ZC8oryWeX0uSCzPo936mEZ3SkGhA5V+gfxi5l2NBFEpb9ifpAlSBeolJSMd1OPCmXrD+Nj2DyG+pRI6Qt2Q3IfyYZk7Snq7IUfH5Ui+RZBkB4J+kdSSMOzyhrxq6ol+HKNSp/vOOZ14EweTs6csdpvH5CL0Izf0gaFqfEt91jT4tdifIKg7FWDvEtrSpwzMNy9ipxL96m9BFpdpjAS97EtFPxKSyHki9n2OhOIB8fmYIuyIF0XaPk3yEMEMHctCk2aUgkkkB6Axm/FxXKKWgM7o598SlKBGA5xXybYFFmmDQnDyVBetIOND5fxGWp4xQw0XHRbDzplwKUo4JJwwAxwcxnDt2RR1GjYOR5gegi+mbwUDV0qHlGKtdk6tTmqCWJegP0y584wXiWuOpr5SfJppm3ZZKQCq9M7DpNX5QaVtyWDcKheOTHiMxwirVdv2Q6AN8olIsjTSXzUwH7lHnnHLLU2/Mnk12oc28uYJbywVqJAIAfXgdYo5si0XVOFFQru1DZ40J8eReNTn96RIoGnlHTp+LpUzKWlbMwqVaEywsoKlX2CAAwBFFUBGMBKrQtlGUsEUZsX7/pGqVJBHZHgPpA/YU6DwT9IUvGy6IForqUNmmzXSDLWA40oOOJaGZhmuQELyqATlrFqLMkF2HgPpDAmcYcP6g7pifhkVGzrQu+2LO4Jq9Q2Jz+cKW63spQDO5cGpzqzRaW62JlFJSASpQSz4Xnc0hG2dGJc9SlpVVVSxzPcY79LxDm6wc8tFLOS2nWZFpsaJapiUuDeBKQ4UlaCOFFYt4YheR0OISkImouAAJ3VKoAwDhYegxNTmSXJqR0IUMJpdq8/EU5vGw2LKKJEtKu0Ax5x0Kc4cMaaeDD7Z2Ghc6YRdcrU7Ok9onKh7xFT/AKUqWkhOFcQ/mn/rBdsWy5Pm3gw62ZUH9SqsWgP+osWvsdFOIxofoLqUsYhTfoLjwDEd4i02ZtN0XLyQKVUQ4rWijpCqNolRYpCsWbh9+UGmSETAyk/7mIHjXwaMdbT8yO2y4y2vKLKy9I0hAAUl2DkqzbRIOcWErpDLIO8CW1J82aMkNlAH8NYBD0enGhx8YKu1WhCWBCceyGJ9fWPO1PCPhHQtSJtJM4qSDQPx+kGRPSKOmlO0IydhlziX6xCVYOp3L8SGhqVsuYgqS6VUUSXJxxrqaQ4+CmueCHrRNIJ6T7yf9w+sT60AsVJHMxm9lhaaJo9KgnB8u4xMTldakiYCZgAoaAOW4Y+sa/CtNYYvNXc0BtCfjR/uggnAB7yW1enjGfXZRfrNK1EGm+aChLDkYMLMtTMCUguAzBxmxZ+Zi/h5LhMnzUXIng4LR3VgiJj4KHdWKxCFit5Io2XPTnHJq3YmYTlug+opGj0HXDshag8pgch3RxUwfbxWrUDiskjB2+ZbuhQzixFTkMa8iAWjn1PDquprHUZdqKUmrCmnzjy5qQCX8jFGueajeIGrO/ecIjOtKziTvUGJeMo+HTw0W59iwVbrpYAKvJdhQ1zwwiutW0pQvdYhQujB3cOBh3jwiknJUpdCp0hKaPlepTm/eeEBMspQtQCiTQOC1COLu4hQ8OljI3LqW/8A+U2ZNz8NYuBkUwHjwi3sltRMQJgQa1Dg6l3IoM4wctC1lkygSz4K76kxptjyD1SCQpJTkKBnOWOBjbX8Ooq8kxnZezdoIDOohyAN0s+jnlHZu1EpBJJABANMCcIqp1iSVlBKyySoXkkjs3qE0esAs0grlLV1gUQUAAlQHeCOTRh8HcrXA/NVFsrbSLl9zddnYc8CdI6NqJKQq8WPAejOIprVs09We094i69AliArAB6jA/SK6y7AVfUCs3WwcDHB6D+Yb8A20k2C1o1k0Uy3TCfwyhaQ7i8AacsPCK21bVmhSQpN0l7v4iRhXFmwGcKS9nICrpUTjgTm5oBWDTbDLloZCC+oYa54+MaQ/prTuTJfiVwgEvbJVNZaFKYAXgUcT2mAYu1DFlI2zOSGQlKRk+8e/Af8jFdIUBVTBtfKJLtyT7ylY0Skn6ax36Xh4aTtGE9VzxRZK2rOXQzLuRusn0r5xr9g/wD66KvjVyX3jrWPnciQpd5SAossMljXUV4x9C2Agps8sKF0gGmm8Y6HlGaw6Pm+1UoTappKgoiatV0B6hSjU0GWEI2zaN9ZLJBJJUcT3OKYYR3a6SLXOJwMya3+5cBWxYkgUwZ34RKlao1enTs8yGBq76DjoYMicoNdUSDxNO4kwt1wXdQEEqDmhAcEAioOmUGQoKSm4MeeuWph2JoJZZBKgymBBUXagD04knKDImG/ukkMLwZhV8MfCIWmQvcIo6e/GJSLOL5KDdYM5bEqge3gnPJd2W1qxLEDF2EXQugV3DhSmMVmy7MDdSSFOSSGLYYcYltmanqyqodaXBAcbpamTjvjSNGMk7LSzISC4UlWj01z74BN2YXSUgltK+8/oTFIicgLGIN0aszK7n86cauyJy2pMVgnjzPfhFKyXRObJUmcpZcBlD/kc8ojJ2qUgGY6hUkl35CrQZG013XKklg9RxbEHlC0+ck4pAPAjMD1hTTrARkuo7K2imZWW5xDhg2PB4kLOtdQgnV/q8VqNkrUQZBAUC5Dtj/mHFbKtRABPmB8+UYuLfJta6D0rZczQCjVP0ER/wBIUnFSAeJ+oga7Jagnt0A1GXfCp2PaVpCicsyKeMQ9L0LUx0bCOS08Gf8Ay7wta+jiwCb4rFYjZNrv7oIIwJLDxeJ2Lr1LUZqlKABzLHLE05RPl10K3epyTsItevpckEhQB1o+sBtJTJAKrqgPdSxzJFHA/wAQx/qMlIu3Eivxpx/3cBCs/a0pQVuBTg4KBpXT6xyJTUk0bYaycT0hCgerkrIKboYJI4+9m8PWTaCFI3iEOcFCtC2RaKqVtpMpIShKpYD0C1APnTnEJ+3JZBvS7xzckk48ePrGuvKepFL19CNPTjF2ka9NrSuoXQ0yTwjntMtKru7eLUOJf1ins9mTNkhDFgTRgxqoipy78uMN2iQDOlrSk7rO4OACgwowrn6PXtje1NI5WleWC2ntxIV1YCiTSjDhgPukVVv2j1SlOAciq7edqNiA9cId2tZlqVeSGBALMCfiYnTKkClXppJKboUS4I7m7WT4tWE9z6lLYsgETUBMtaysdY1UXU46g92EGmWeVeO9NWySVAlRyODkVwDUji5KllICWCBu4OatQmmnKJzZCgFqxNwulwWcNiM4l6ct3PQN8a46hLQACkCUVVHunQ4khmAOrwrZtrIRNUq4fw0klgxLbjAFmOdYYlqnEK3iDS6KO1XqRTLz0irOxZoSskALWGYKKji+npEPRipXfJUdS4l0LYqagqlhSC7710aOc6NGy2KT1CL1VMXzzMfNDsicLoCiSwergR9H6OpazSgcQljji5eNIpRioroLmVnynpRPItKx/wD1nf3HSFLPLWQimZfh398M7clXrZN4TJ581fSBbPUpy6t0E0bhq8Zaawdms6YdGzi4uoKlihDjABsy2UelzgBKuD4m8jQ5RZXEhRqofCQWpjjFRIQoi6ygA7Z0OugMaTtIx0qbyM7StZAQHY3RgcqwtISyFEUoH41Hzglss94IIvOEgENSkdlSyEKTdUymGByIMTJWuC4NRa/Jp+itpJMsE4UA5kmHtthKZajuvfDtrdVi+bP5RmtmWpckgpSrmRzhq2bUmTQy0Xg7tdGI/wAmL009lMx1aeo5R4PS5yZigWoFFBrXh3Vhyx2reSAmhSK4Mz08Yr0T1Adhv6RE5ltIxDDjd+saRqObMJJywkPSpajeSwDnEkDAvDcizhKid2vHl9IpVW1eSX40A+bxN5nLkzfX0hPUTwslLSazLBo5FruZp8fvjDidoZ3k+MZaUVjXyhjrlj7EXHPJnLHBov8AUf1J8Y8Lb+pPjGcVPXq0TRaVagxVoVSLi32lSpaghTKbI+kVNinXpIwdznVgX++cd65RzgaN12AY5Zd2kZTuqRpFLqZ2bZJzl0n/AIaiuPOAqsU2m6RSvYqa/q0MaNY+/unpETLLE0o1KCOXZFPKOtakvQzU6yTHJuqarVSeIfegabJMpQ/8RlhjGnKdacx82iIkvgR5fSGoRfBXmSXI3sS2hMoJUQ7nTDL6w+u374IWyQA4u4mlXBpnFP1Bz+/KIKsY+Eekbw3JJUcklFuy0tFsUVUXuF6XcqtXhQ90CtNpNQlZ4FgW4NFabDz/ANxga7AclEd/lhFJyS4Fti+paqmshO+5BLslNeHAHhHU2ndVvuWVUBI8iGJihXYFnBedKfQ+cR9jXmrL7zgTfYexdy72lOII/EYFKRQIxb9pgUxT1vFwkvQcNRUxSCyzaunwr84iJSgCSFjLD/qrCFdvKHs7MuLKohC95Thqm6CKpFGAEbfo/MezS+RxbU6Uj5iglibywM3Srnh4R9F6KTQbJKIU/ar/AFKhYrA9rvJldrbLl+0TSQHK1u51JJ84XTZEJwSgDgIZ21Na0TcPzF58STFcbRxH3X+fCHGl0FLc+owptBThEFNoPCFuv4jLPX+BHBNwLirDE1NfqTFOSEoSHUqiZOpitRag4qC7sXzA+dIZl2WaoghISHzURTCoZ9WrEPVUSloyat8DAnpGY/iBe13nuC8oZU+seRKlXgCsrUHcg0clyC3o8GFoLmqAMgCfEnjhwwrE+ZOXBXlwjyBVLUe0sJCmYJ7Qx7ssYIizDFquTUEmrdwOBp8xEpRDgOlnzfnV8OOmJyYjjC8nL4wahgNXLu2Qc1eGof8Ap2J6lfTg6nVstCdfp9vE75rQeB4/NJ8RwgXWAVvIwfBWoAwyKgGAxCQz4jylJAO8kgBeSm3EkF65FRfndGcaKjF+o0CcmzyOp/8ArEqtj693ypxOkDDPkC5A3TjdSsf2gn+kZRMrBw0cbuD0T31V45RQgayzl/U4P5tSJoSfv7+3EDmTRWowOKdWHfVxx7o9fBq7VbA0vAKBfRx9tCwPIa9TEfdde/k3dx8qv/hPqYAkgjNi2INL1GPAVSdAYiVBnILM5BST749GHEgBQrBYU2HCnzYGuWDProfAGJdUHrj3PizY6hu7lARQsxLFQG6KlJvAOzbwUWwfgXBmlQ0UdN0aU5OKHQgO0J0+Rq11CtQceI566aRBUp3LaYU+/CI9Z+4jiBw4YuG8xEuuem9U6aj1B7oiUOxan3PMXIBwybhg5NI6m0EB1JATSrjPgH0jxmjEh90P6UyxjqJZEuhY8M8qtnhGd7Vy0VSl0sjLtSVYeLUpxwjvWpIw+/swtb5qkpcuQaXqggtw78ojKsiWLJL0LqJqTx7hFPVnHlWStOD4wHXMS/Z8vvSBGYn7b6/dYWEuYpXZSEh3dlVGjd8SKGBwcDCmvHhD+IjdPALw7d1kIZidPT5qjwu6f2/9vsQl7UCN0jTDywyjomHCox90/TONfMRHlMbvDh4p/wC328bTo+f/AB0Zdr+48YwInHVTcE95yyjedGlf+NLx97GnvKyhSnaKjp0YnpAFe0zTut1ihXmcorpc0HrHAdAzDV0rF9tbZRXapqlkpAUoJuqrVSjeOmIhH/TZUolSlFSjTeL5aa0jknqJKlydmlFOS3FXY5U2ZUIAYOQpwCdAWegaHrPsdSUtMIAvEgAl3/cYbG0kgcQHIGIyHIczCc8JWsEEsoFQBN45YB20rdPMZjU584FGahLA6LiUXpaE3gmhIwApUircYCkzalRDtlQC940/UX5ZwFKAQhj2yQcMnoHJc8d4jhHQmjk0vscG0pU71f1K5ZaR00uUZOfYOJCq9kMQDp38D56iJSZayPdBwqzg5f1F2HDJULKkdurXVAmo3R8RfBX6lOqlGcQU2QOWd2C01AN2jqr2TUb6t45EZbW/bMse0MJMwM1zk1L1Pw8HGpGJ4RJIW3aSTgC1ScVFviTUBPiTCybGFHdJF4fhMWp7wSGoTmvGvj32JOKVXQQZaSCGQp2ITqSXcu/HVpMl17QyCsqxQxXRg7pGIfMk1VoMIgkzGG8h7i8GYqoUkVqhIP1pgFdhSEqqUBKOrIBLywa0pVSnD51bMtKZs4OUgserEtrxpL3heHNnL4gH4oYqQZ143hgi7TJO8s8j9QziOrUX7VLxPEpS6gHfK4sPnweFV2d0u/aQEDeNUABRA0UbyQW1MRVIALqU4CeqxLF3SeR3ZpcfFwgGMS1KBSLz0OgdlLZXpEUKUwCVMbks5Uu3N7kSvyhdElIDOHTJYu/ZuS1Yc5jvjE5MpCgkAjfQZaS5+KaBzqlA1hWFDInF7z0BMwh09kpoOWDHVQjykkJIMw7sqpo4DkpXTkcMRd1hcolgKU4CAkSjU0SbpbndXnnLEdXKAUrs3pcplJq1ze8Q6SOAUk5Qh8jEyaoXiV3bplrNQyXF3SqFP3Y6PFagm862CGSreNErYpBIyBUGWMMHMBkJRelpBSoLlkIf3kZg8WLtqFCjhhyVoCZanSxeUCpi1FOlb0Iy8DgoiAdDExYBLzGKVAKrgSGSugpRg7FJcUjpAFCtm3TiwdyDgdws9XFaFMASqWgKNPwDdUGdSQTm+MtiDXLjj1BAN1w6UlSQPfDOyDo4IKePggoZKh8bVqS+6WYE6AvQ447xj3WABrzYuCOzwODPkQwxxhaXMRuMsAF2VgkGu657BwLFxjETNDDFIfeoQZdcGFUgg4h00FKwOgSfqNm0JKLhGT4qBTwL17ywhgKSzF97Ch9RFSF40ZVLqeHxIILK13SDU0cQQ2lrzGlAMA545JOOIHOM6W6y/t2k5VnYl37XLA564ZwTat1iFpDlmUQQDpUd1DEPalHcJJDDEG9R8ndsN7eHGOWueVJG64cdmulOMZU08mlfLfDCWZaEgJCLrnSnN3IMctkxUsKIQVJYdljrVsoNIlmjgjDhELSFoVQXhzAOP8xPlRfzIUNVp1yVlntE1aiLrUcFSVCpxcgDN433R0kWZALEi9/cqMXZlljdehwO6XNcqHwjbbDmqMhNG7VMfeVxjROV8qgwZnb+0UiZOBeilpo2Nc8jGWRZGUlhvNmXUB+7L+gd8XHSG0taZibo/NWWa8tW8XYCiR+o84r/AG4lSlBKSWyO6jiuZr+lPrDioR4KqZASCUkhroNDSp4A7o1dV4+kFFmJISWdVSHcDiR2ph504RH209WKhKXLzSGcnES5eKmdn7y0FTtJQWBcLkbsoVmKp2ln3BiWx9YtbSXvIIkllKLMDdqqpqzKUBup/QnljBjYlXkpvAFncCqRiRLSzJDYqx9IHLti2WkFKpnvKf8ACkhsH99Xi51iaNqdlZpITjMVVU5QegGjlz3OThCuIbZERJ3FEXGSqialCTmpRxmTPnQPlNeziVBKiSgh1lzfmnFiRgjCg1zxERtVaQoqRvTGEqQKlsbys3UdceAiK7epRRJBBWKz5nuoDuoP3M+eAhprsS1I97Mu6pV4BZ3VKAJEtAxQgDk3Hk5g0myATEsoBKE/gJqd4hys/EpzTU8ExBO2kqVMmkESEApTWsxSsa60HINAZu1ymzBSg06epVxPwpO4CB+2g/mHaFUicuwm4lJWVBMy/PYElSmcAcH3RrvHKDT5Cj16goqM8XUECgSAKD9xNwciYIu1taZUhFCAVTC+DJZv6Uk95MB2ftYKNomikqS10ftTcQPGvOC8gk6Dy5N2ZJUCSJCFJutQlLC8/GYR4QlPst2VcCyWXNmBTYlLIAPMqX3wNO0urskpZLqmLAH7UOo/8j5Q/KtJ9okyX7UuWVd61Tj5Q0waaOzpH4k5QJZaZyWbC6ZUtweQw1gC7KUJQQVHqJk0g3TW6tEwAjEUUawPZu2TME9j2EWhQrqsGPf62s2aZMvVM0pPJcsD1EFoEpIJabFu2hG8UrKlDh1RehwrLUacImsXZiZhvKZBlKAHbCeGLqlqChxSYivbbLsaidyYEE96TKU/lHLLtBYtU6Qo713c/chwnxSYLQUyCdnshEoFSlS1X5agQ7HAA6LTvD9SSM4IUIImrYlEwpvIFHUVMFpDUJ7QPxOk4whZdoKmWNRT+bZyl9bgVeB/pMMT9rXVSbUA8maCiYnEJU94jxdQibKpjQlsqUX30pa/kpD3QFEhi+T4EFJxEeXJQETN1VwKJCQ4KFAsVIeqRXA4OxoxhVU0pXMs8xX4c68qRNo29XwfEa90Ql2ubMIQrctck0BwmBqh8yQKHA98O0TtfcdJ3gSKkG+fcUAR2hkpiDrq9FR5HZUAFOgm4H3xmyT7ySmrVpr2oTRbyL01CbyDS0SDigjdKgMW/t5R1U0JlpdZXIcGXNHalmrJV4ngcmMKylFjC8mSCC19LbmrtjLURVxShAgSlmuJwuKJAURoFdlYI15R2dOX1iVFQRMIZMwVlzBodDX66wFIcKQEscTIVmfilqemoD8icILQbWHMzs7tMVJAIarPdxQcapoDjjHjPIvVqHZT4tkVYHkvDXOFxMdiLy7lNJsvu94fbCO3nvKBcF3WA4PCZLy4kecFj2jg2lMSUM9XdLYkfpxwL7pPIwydqFcwC7gal/AcO/WKomgCgAl6YmWf2qFUHh4tHauDV8nLK/pmCihwMZShFlwe12XC7QDUUfCuOcbHYR/AR/V/cY+dIn+6Q/6SAlQ/pND3Ru+jASLLLuktv4lXxq1rEwi1yKeXgx23bKpVpnvdCOsWbqKFZc9pWPOrCtRCPsZu3l3N3sIqJaeJA7XzOSovel6pfXKQalSyGCiCSotVsE8T3CEbbZZSpyZZU7YBzlW8WNPMl9I6VFGbm0JLsimCwv8AEUW6xQqBogPunFgKgZgR2ds24BLSq6FvfI/MmHMP8IzoAOJpBymWbShBLqBLJcskAFyWo5041gqUS/ag1VscybqR5OSRTAQ9qeCXN8u+LFZmzkqUEEgSk1TLD1yKlF3unU1VlSPS7M8xS1qvKRRCLoaX8IuuxXhu4Cj1wYsCpYtRSA8xQUVFyWAoBxU6hXKojuzhKE9aEgE3SVtg5LBI83OfKEopg5tCdlsRuzFBd6et0mZRgT2gCfdHvK55YwFiR7PcQspQ4VMmNVQGKjw+EcecWezEywqZLQASALzUSVG9uj9IbHOI7ORKWJslASUpZy26V1Ki3wgMwilBPAnqNPqVtpsqFplLUCmRLS4laud1L/Eo4nnDS7CDahOWXIuhIIDX2emG6hNebQxYpEucJkpAFyWyUOKOarXo7nyESsyUT0LSkAhKriCa3UJYKUHz7XlBQOT4ELBs9KVTSVEmeVgKJDiWk7xf9SjpgIHL2ehNlMgkgrCpqslEuQhLasnzixsARPdTBkrxOUuWAwHAkecd2etM4omEA78yYokZJKro/t8IKwG7JX2zZyFhEt2Mjq5aQDiVXSskf1eUPIQhU+bPFZiRNAS77qUlCaQTZUxK+qmMLwTNmLLVqGx/q8oBYZqLgUkDdssxai1So3cTzeDaLcV+ybLLRJWpHaXZl3w7sdw+dYKizShJnITWWTIWd7AklKqw8i1SyZoShICbKTho4amIp5RGZa0LTPCUpYSELoKkpUo15NA0gUmJzbLKMuWhVZcubMQFPgFATEl+BBidqKFTkWgsFKl3krBb8SXukHnSmjw3LtcuYZ1xIAlmTMAZsO0ebA1jlitiF9cUhhJmpmAANulIvMB/VCodsXQqVKmLnAMmaAsYspC2C0kYFi/lC8uVLliZZlUQpQS9cFVlzBxBYHWukP7Jt6FiYpvyFrIS3/rWHIbR690c2ZbZa5SpjXjK6xChrLJcPyHzgG2+wiuUkoTZ5gCVAquuTurFQQfgWHpyjs5YmLQG/HQAEhVCWLKlknMUKS+bQzse3omyFLIvLlo6tepSOyrmA/iYjs3aKZtmmKAebcuzGxJSKL/cNRCwPJyXaAZxWgHrE4liL4FCOMxLEHUR2wFIKyhI6tYV1ktjd/ekZyz8Iwfw9Z9pCdZJi0D8W6FKAxvoAN8caB9RAztXrbLfkhpstQWUpocd4gaEO4gwLPDR6y3eqWAL0m7euqxS3mU4ssVGcAmrSZbqvKlpYpUzLSDkftlcDDSdpCbZiqQGmJV1l0a+8wzBDun+I4NpCZZwZCReQbxl/pPaAGacTdyaHaaHTT/YG0KZKVqe8GAmJDlvdvA+h5gx20L3kzBulXvJe7e+FQGvjzgitp9ZISZKQVS3eXqg9pIBxGBbENHpu0euQhUkAqSCFyz7yNK9pqUNcYTodS7C9oUZamusVNTFC9UkZKGvkI6KTOrFLxAuHeHMaEaQSfbutIXKYkJZco+82BGpHcY9MtZmrvoAKmAXLVQkpwI1UMMjQQWgSl1QASje6tQqXYKJ8UKxbh5x9C6KKPskt7z7+NT21Z584wyreZky+hr1L0tWN4e8k5K1wMbro9aEqs6FMUklbjBjfU9ObxOB56oxu3Ej26cmSkqmmYoqmKwlh8tG1x0irSsJWZch5k5T3pp90Zt8I/UYsOks9c212iUi7JlJmKMxeAJdyTmonTlFOZ4X+BZQQk9uYrE8VHIaJiKZtjr799ichVxfVyT1k9famaDO7oNVGOCb1Suqk/iT5jhSx/anhqfsCmTrn/j2YFS1UXMNCr6IEcmzRZk9XL35y2ClgHP3UcOIxgyGPf8AlhAr2f8ADlkzLTMopQqz+4n5mJzJgsiTLSSu0zO2RW7juJ1NamIJ/wDDllZ3rSsEPiJYwIB+Lj9n2zpXs8s2mYCqaofhpZ7gPvq0On8xVNEWnx/31ZKbaDY5JlgvaJpdbVug0CRx1iS5xsVmKCfx5tVfpBy50gew7KTetc1KlkE9WMSVfFyB8+Uc2HZjaJ6rROBKJZchu0r3Ugebcoqm/fQm1z2/uxj2k2OxXSWnTnURmlJwfifvCIWS2mz7Pc0XPJCdbr1Pf9IQmJXbLZdW6XO89LqRj5CG9ryV2q2IlJSUywyU0YXRiR3AwZJx/sNKtZs+zXNFzyQn9ta9/wBILYrUZWzJizQr3E/P5+EI9L1mZNSEJPUy2lpOTikOdKrKpMmTZ0BxKS621NS+bYl4ech2v8nth24iwWhZpdQEJ5nH1EC2Laj7Haln3ZQQP6nH0iZsyhstKEAlU2YVEDG6D54DxiOzrMTs6alLXps1KQ5bssrHxgz/AGDGa7nei88rFpfKzrED6HTTMXOQa3pCx4N9TBui1nKPakqDESFOP93ygXRKQqVakFQZK0LAIYg0BoRygrgG18wPoZbHtJQrCZLUluVfR470ZtVy2qlrwWFSzzH+D4wvs6yrlT0TgHlomkE6C9crpjDW1tmrFrmTJQBKFJmNnXeLd4MSkynJOwWxp5s9uVLX2VEy1aNgPlHrPONjt60K/LJYvgUqwPgRB+ktj62eibLIF9CVgmgcMMW0IjnSKymfKlTCwmJ/DmPkQ5Dt91EFD3WBmPYLZSspdRoUH6RO1oNhtKZsv8ibvJ0Y4p7n8OUMTrObRZOrX+dJF5BFbyc/IeLQfZlkM6y+zzCCFVkrfBQBIBzGYbnBVivr7YnbEGyzE2iT+TNLkfCTinli3B49bpPVEWuzflqIvpHuKPD4T94wbYKCJUyVOYy6hafeQQccMjnw4RzY9mmSJipRUlSS4uKoFJOYOFQfUQUx2l+gM1FParLRqzUD3f1AfDi+njBFS+uHtFm3ZorMlpo7e8j6fZjZ7GbPOvyl/hKO6+GLFCuTV8cRHbXs4ypvWyTcTioY3ScG1ScvCFtY9y49/g5LUJ/4kpkWgVUkUCyMx8K+GceROE0lvwrQDV6BRGR0Vxju0bJ1h62UyZ2Kgk0W3vJ/UNP8mSpQtMu+VATk0vYPoFj5w9r4DdFK/a/lETOEw3Zn4U9PvGgP7m/uESmzHIRPBRMHZmCr/wDYccY5Kldb+FOpNSN1XvDh+ocDHJSrrSp5SpCjuqqw0IVikwbGG+Pv/X8BJ6zQThj2Zyav3+8OBrH0Loxf9llupK+1vPjvqbEPhHz24qS4JEyU4cEOwOo10Ij6B0csiBZkXFG7vEVBxUo4mucNQZLmig6SpAnzgGcrUVKOCE8eJrTOsVlllJCQUI3fdS1VqPvFqfQPB+mkortM1LhLrIoN5VMSdPt4rpMspllCVOBRSzUCjMPrApMlxjR3rBfKU4Ck6Z53BokecelTxeSUAGYXuAV6tOD/ALy7cH5wGyWYSnO8ta3KUKwLjtKDdmAy7CErK1LIKQ6ikBITmw/iHbCo2PTQmgIvIQRukduY9E8hR/8AMPKSVi4SXXWYcgnNvQd+kU1skdYy1OHO4hIAJPE5nnBZiLw6kKO6HmKNS+N0HQQ/mF8oSVbCu9MQAEJ3JKeVAeFXPdwiClhUxEhB3JYK5hHvLVifWBWQJkovoDlRuywSSCc1NpjXnrHrDsxIm75JLX1nBhix56c4VsqonTbPw1zE9qeoS06hD/MA+UWS7SJEmZNcOmWES+ZxPiw/pirnoTNBnKBZ91OH7WbMv5w1a7OFCXZjkAuZnWrBzXI+AhfNx3Cogtlyw1mSS95XWKcjBAceZETmWi8i1zsTeWkMXwZI9BHpSkSkT1oT2dwHVRxbSpEesdhQlUhLOpZepyTvP4tBTC4jgUEmQlw0uRUcd3KK6wTh7PIBLPNWo+C/pHZtybNnLIcIcVwZI/iC7SUgSrMGJCgVAcSHr/uMGQx2J2aekzrXdqFSgKcUl/SEbDbg1m3nUFf3IIbxi1sEtCTPCUgESxebMMpvnCMmVKCETbrMtN04Evg+sPNckfL2AptCRLtCCWJUu6DQ1ZQx4mG121HXSpqiyVyxUuKpYjyUfCJWmxoXaJiFIBdiTreFCNMIWnKSqyy1AOlEwIY1YEtn3Dwgp9yrXYHaJl+zOipkzFMwfdKqh9GPlDcm0S5i5slwUzZaS4qy00f+090TsslEuaJaezOSotk4/wAxX2aSEpVMugTJJU7ZhKi4P9MZ5S5LxZ5O1ggSiaTJaylY4HdV5gGGZs9MpMxLslW/LNQxd6UyVXvED2hJAnJUwVKnJwNQ4x5Ej7pHFyitEyUPzZBvI/UlsPAt4RVPuK0EnW5KlItKUllACcGo7Cvmx7oVTaROTdSTfkk9WdU43T3U7ngllUlKUqa7Lm7qxkCrA8MCDEJGzVJmqlmi0sZa8yMq5jIvCaY1tOWraEsrUgk3Fh1DNKxQkcx5x6bbTJQlK6kFgcloJ+zwgdrliYhM9KXA3ZyMQCPe4N6cjBVyUquyiprweUo5HNJ+8IdPINrHoDSsJlqKHuOCk5oV9PkY9ZbYJigtIZZH4iclA0OOcekyriVulloG+jJQGNMMC4IxwiMuxpBSoG9KXgoYpOnLnyhZK+XJBdrSvcU4UksheY/SXxAwg8603SETUm6sC8MrzPeSePrEV2a8tSQQJqacFpy72gsyYEoTfcIJA/VLNWI4YhoVPuPGMHELuovpN5KaA0cpOKFAeR+sbbo5OlezIYLA3qB2DqUdYwkyWqWXSx1aqVDgMjqnwja9GVSzZZZDpBv0fDfVwMGbyJpVhGe6dbS6u1T0o7alEE6ClBAzMRLkJKuyGIGpGEC6S2EK2jaZkyktEw61YCkZ/aVtVOWABQ0SnhhDpoTp/gtti2ozZq1rqTQaAAekB2hbAVpkoLpCnUdTiTApkz2eV1SazCHUdBC2xLIVrKzRCKk/KGLCyaO3T0yUdY7qAuyx6q+9OMLbDlCZKKSSFKLqL5EuYodsbQM1X6cEjhh4mLe0TPZrOEf+xYrwGcO+vQVVjqDm24TLSkJ7CKD0eLDbdo6uUoDtzj/xoAPD1MUnRiz35hWcE1Pf9k90B25tDrJvAYcsIlp0UmrNNsdAUmW5og3j3Cn17oR2ftS9aZkwmhPkHAic6b1FjzvzPQ19PWKvozLvzAnVQ8MTFU7olNU2Wu2D1dlko95a76vG98wO6HdmTr01KspcojvJ+gMUnTG2XrSEjBAA+cWNjm3LJOmauB3U+cP7miPsXf8Akq7NbNyd+oLI76xYdIN02YYXUkeF1MUGyheN3UgeJaLbplNafLHwp9SYlcWaOtyRb7JnXlTy/uI9F6xRG3vZkJPuqQfA/wAxZ9G5ronHgB5K+sZYTvwmgfCCMfmlZrNu2sotKVfFLHfdKvrC+xd+zWmWMioj1HmIH0mXu2dfA+YSYH0OtTT1g++n0/yYa+oWFp2D/wBU37Oo+4WPIs8WG3pvVzV6TUP3tdV6ecZvaSLi1I+FRHgaRf7TV1tilzc0MDyND5gRC+lot1uQTZUzr7IUiq5TFOtB9HEVtj2uUWlMw4EAH0+kA6L7Q6uez0XQ/KI9JLJ1c4sGSreT34juPygzgVpWWPSZJQ6R2FG+nxc+Z8xD9htJtFnCkn8WX4kad7eIhSSr2qyXffl4fTvDjwil2HtIyZgOWBH34w+pL4S6od2Ntbqpygeys73fE+kUkyii72HJQfCj8ID0msV1Ymo7C9MlY+ePjDWzLUmfKMmZ/SdDw+8HEOvtZW77kPSJ/tEpx+alP+4ffnFRsbaVwmWvDAg+HiIUs85dmm3TQg/fcRFltayCcnr5VFDtp5Z8/lC5/IXX4/wC2uhUqYmYCSgsyhw+cPLmC0yikECYz/uaE9mbSStJlzA6DQ8OMKz7OqzLxJQeyr7zhepVdH+mNbN2iUky5owoQcQ0bnYOyfwE3Fi6SsjvUoxjJqE2lLhkzUih1+/KNL0dtKk2dCVOCCtx/WqD8DeecMov/kG3k26cjJKzTU0r5wjIQJCL6/zD2Rp/MXXSnZ9y3WmfMw603Ac6CsZG2WszFeg+UU1XBCdq3wjskKmrYVKiXPqYsNp2oS5YkowHaOp+6wVMj2WU6m6xY8IprPIVOmBIxUf8mHTT2oW7G9/otNg2IEmcuiJbtxV/GPNoQ2lbjNmFWtAOGAEWG2bSJaBITgnH71zgPR2w3lGYrso9f4xhvsuhCv6nyx61EWazCWO2qqvn8h3RVbEsJnz0JyFVchXzwge1rZ1iycsovNhS+osy5x7SwyeX8n0gjl2wmtq2r2xTpVtG/NIB3UC6PnDXQuSxmTTgkMDxxPk3jGZmKvKJ1jSsZNi0Kx/d/EEX1CStbV+Cht07rJilnMn6/ONJtM9XYJaMCtn73UYy9kkla0p+JQHiY0XTSdWWgYAE/KBcN/oHlpfsquj6XtEsfqB8HMOdMVPaH4AeDH5wLosj8cHQE/L5wLpJNe0r4Fh4CJ6FfcXHRKsubz+UZXJo1XRItKm8T8hGVhFJ5bNLtfesUhWl3+1vURVdHp120ILs5bxBH0i4O9s0cPkoiM1Z5l1aVaEHwMC5sS+mi06WSbs8n4gFfL5RYdGVCbImSTxbvz8WjnS+Ruy1jNw/Oo+cVvRe03J4HxOPpB1FyirIKVaEHzEajaqfaLKmYKqRU+h+sVXSex9XaFaL3h34+bw/0RtfalnA1D+BgY1kruj+0Oqmh+yaHl91gvSbZ3Vzbw7Myo4HMfPvhHaVkMqapODGnLEeUaGyJ9rspR76MOYw+kCE+4LYtoTPkqkLOVDp/g1iiZUmYQaKSa92fziNknmUsHAgxfdILGJ0tM9AqBvcv49IOcDuso7bpAtUkLS3WIxGo0+Yis2PtQylNlnx/mIbH2iZaxpnDm39mf8Avl1SrtNkdeRh8/kPpfozm19nXCJ0qqFYjR/kfKGLBbUzUdXMqk0/b95QDY20aXF1SaEHjTwMA2ns42dd5NZasPp9IXOUXiOHwRtEhdmWxO7ilX3nrH0HYG2Hs6CQ53qv+oxkLJPTOR1a8D2VZ/5EXmxtkTESUpZ2KquMLyv1Qoq8oJOsMrP/AJFtxVbpyXolbN3CEejuzxWfM7KOy+Z15D15R9R2v+fM/d8hBR+QOX1jWGMmE84PjG1beZiySf8AEXmybL7NIM5TBaxuvkMvrG2Xj3RZ7W/KHIQRdK+oS+aSj0PicwqmLYVUosOJMaTaqRZrMmUCHOJ8zGvsX56OcO7fxHIQuhV/PZ8gsNjM2YlAxUW+p7hWNJ0wnCWhElNAAH+UbHYf5w5K9BHOkP5kN4jRKzO30R8t2dY+smoQPeIHjj5Roemk1jLlhgwf7841uw/zh3wfpD+d3CF9oL6v0fOuitlv2lOgdXhQeognS6a9oUmjJuj5x9A2B2/6PmIFtL81XOD7QX1foxvQiz3pizolvE/xFRtpT2iZ+4iPrnR/BXIfOKuf2zzMD+lDX1szvQyzvImfuP8AamMY0fctj/lnn8kxVSoT4QR5Zj9jyb+z1jS/5VjIkVx84+9bO/KPf6QkMuQhMqPDMNtGT1mzwrMJSrw3TGPsq7igoYgg4x+gJX5fdAJcFCiz5h0wsl+TLnDL0VXyPrGYsFo6uYlQ1j9DL7EBRDasIYPkXSvZl6WienCgPI1HhFX0athlzmOCqH74Yx96X2T3RAYxNYKjyfEOl2yLkzrAN1ePBWfjj4xPovbqmWcFffnH3Gbh98YgjGGxRyqPz/tvZJkTWHZNUn5d0WvR+2BQMpdUqcV9O+PuCo4jGB4dhF3Fpn572psxVnmtW6apOo+sXOypwnI6pYcEU+nMYiPtqo6IHh2gi7jtZ+e7TYJlnmXSCQcDqPrG82JbldQhw5rWtd4x9LjkElnARnimf//Z"/>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20" name="Picture 24" descr="http://met-tech.com.tr/images/epcm_page.jpg"/>
          <p:cNvPicPr>
            <a:picLocks noChangeAspect="1" noChangeArrowheads="1"/>
          </p:cNvPicPr>
          <p:nvPr/>
        </p:nvPicPr>
        <p:blipFill rotWithShape="1">
          <a:blip r:embed="rId8">
            <a:extLst>
              <a:ext uri="{28A0092B-C50C-407E-A947-70E740481C1C}">
                <a14:useLocalDpi xmlns:a14="http://schemas.microsoft.com/office/drawing/2010/main" val="0"/>
              </a:ext>
            </a:extLst>
          </a:blip>
          <a:srcRect l="21227"/>
          <a:stretch/>
        </p:blipFill>
        <p:spPr bwMode="auto">
          <a:xfrm>
            <a:off x="460375" y="567529"/>
            <a:ext cx="8373390" cy="5999907"/>
          </a:xfrm>
          <a:prstGeom prst="rect">
            <a:avLst/>
          </a:prstGeom>
          <a:noFill/>
          <a:extLst>
            <a:ext uri="{909E8E84-426E-40DD-AFC4-6F175D3DCCD1}">
              <a14:hiddenFill xmlns:a14="http://schemas.microsoft.com/office/drawing/2010/main">
                <a:solidFill>
                  <a:srgbClr val="FFFFFF"/>
                </a:solidFill>
              </a14:hiddenFill>
            </a:ext>
          </a:extLst>
        </p:spPr>
      </p:pic>
      <p:pic>
        <p:nvPicPr>
          <p:cNvPr id="4122" name="Picture 26" descr="http://www.aslo.org/photopost/data/503/medium/8GSL_wetland_Kennecott_tailings_air.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028" y="645046"/>
            <a:ext cx="8702039" cy="5844871"/>
          </a:xfrm>
          <a:prstGeom prst="rect">
            <a:avLst/>
          </a:prstGeom>
          <a:noFill/>
          <a:extLst>
            <a:ext uri="{909E8E84-426E-40DD-AFC4-6F175D3DCCD1}">
              <a14:hiddenFill xmlns:a14="http://schemas.microsoft.com/office/drawing/2010/main">
                <a:solidFill>
                  <a:srgbClr val="FFFFFF"/>
                </a:solidFill>
              </a14:hiddenFill>
            </a:ext>
          </a:extLst>
        </p:spPr>
      </p:pic>
      <p:pic>
        <p:nvPicPr>
          <p:cNvPr id="4124" name="Picture 28" descr="http://www.wickes.co.uk/content/ebiz/wickes/invt/420009/Copper-Tube_large.jpg"/>
          <p:cNvPicPr>
            <a:picLocks noChangeAspect="1" noChangeArrowheads="1"/>
          </p:cNvPicPr>
          <p:nvPr/>
        </p:nvPicPr>
        <p:blipFill rotWithShape="1">
          <a:blip r:embed="rId3">
            <a:extLst>
              <a:ext uri="{28A0092B-C50C-407E-A947-70E740481C1C}">
                <a14:useLocalDpi xmlns:a14="http://schemas.microsoft.com/office/drawing/2010/main" val="0"/>
              </a:ext>
            </a:extLst>
          </a:blip>
          <a:srcRect t="19078" b="19340"/>
          <a:stretch/>
        </p:blipFill>
        <p:spPr bwMode="auto">
          <a:xfrm>
            <a:off x="460375" y="941031"/>
            <a:ext cx="8173805" cy="50335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10"/>
          <a:stretch>
            <a:fillRect/>
          </a:stretch>
        </p:blipFill>
        <p:spPr>
          <a:xfrm>
            <a:off x="1343557" y="251441"/>
            <a:ext cx="6641643" cy="6238476"/>
          </a:xfrm>
          <a:prstGeom prst="rect">
            <a:avLst/>
          </a:prstGeom>
        </p:spPr>
      </p:pic>
    </p:spTree>
    <p:extLst>
      <p:ext uri="{BB962C8B-B14F-4D97-AF65-F5344CB8AC3E}">
        <p14:creationId xmlns:p14="http://schemas.microsoft.com/office/powerpoint/2010/main" val="234466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600"/>
                                  </p:stCondLst>
                                  <p:childTnLst>
                                    <p:animScale>
                                      <p:cBhvr>
                                        <p:cTn id="10" dur="2000" fill="hold"/>
                                        <p:tgtEl>
                                          <p:spTgt spid="4104"/>
                                        </p:tgtEl>
                                      </p:cBhvr>
                                      <p:by x="50000" y="50000"/>
                                    </p:animScale>
                                  </p:childTnLst>
                                </p:cTn>
                              </p:par>
                              <p:par>
                                <p:cTn id="11" presetID="57" presetClass="path" presetSubtype="0" accel="50000" decel="50000" fill="hold" nodeType="withEffect">
                                  <p:stCondLst>
                                    <p:cond delay="600"/>
                                  </p:stCondLst>
                                  <p:childTnLst>
                                    <p:animMotion origin="layout" path="M -8.33333E-7 -1.48148E-6 L -0.10816 -1.48148E-6 C -0.1566 -1.48148E-6 -0.21667 -0.05926 -0.21667 -0.10787 L -0.21667 -0.2162 " pathEditMode="relative" rAng="16200000" ptsTypes="FfFF">
                                      <p:cBhvr>
                                        <p:cTn id="12" dur="2000" fill="hold"/>
                                        <p:tgtEl>
                                          <p:spTgt spid="4104"/>
                                        </p:tgtEl>
                                        <p:attrNameLst>
                                          <p:attrName>ppt_x</p:attrName>
                                          <p:attrName>ppt_y</p:attrName>
                                        </p:attrNameLst>
                                      </p:cBhvr>
                                      <p:rCtr x="-10833" y="-10810"/>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 presetClass="emph" presetSubtype="0" fill="hold" nodeType="clickEffect">
                                  <p:stCondLst>
                                    <p:cond delay="0"/>
                                  </p:stCondLst>
                                  <p:childTnLst>
                                    <p:animScale>
                                      <p:cBhvr>
                                        <p:cTn id="20" dur="2000" fill="hold"/>
                                        <p:tgtEl>
                                          <p:spTgt spid="4106"/>
                                        </p:tgtEl>
                                      </p:cBhvr>
                                      <p:by x="50000" y="50000"/>
                                    </p:animScale>
                                  </p:childTnLst>
                                </p:cTn>
                              </p:par>
                              <p:par>
                                <p:cTn id="21" presetID="36" presetClass="path" presetSubtype="0" accel="50000" decel="50000" fill="hold" nodeType="withEffect">
                                  <p:stCondLst>
                                    <p:cond delay="0"/>
                                  </p:stCondLst>
                                  <p:childTnLst>
                                    <p:animMotion origin="layout" path="M 3.88889E-6 0.02129 L -0.09375 0.02129 C -0.13577 0.02129 -0.1875 0.07662 -0.1875 0.12199 L -0.1875 0.22268 " pathEditMode="relative" rAng="5400000" ptsTypes="FfFF">
                                      <p:cBhvr>
                                        <p:cTn id="22" dur="2000" fill="hold"/>
                                        <p:tgtEl>
                                          <p:spTgt spid="4106"/>
                                        </p:tgtEl>
                                        <p:attrNameLst>
                                          <p:attrName>ppt_x</p:attrName>
                                          <p:attrName>ppt_y</p:attrName>
                                        </p:attrNameLst>
                                      </p:cBhvr>
                                      <p:rCtr x="-9375" y="10069"/>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4110"/>
                                        </p:tgtEl>
                                      </p:cBhvr>
                                      <p:by x="50000" y="50000"/>
                                    </p:animScale>
                                  </p:childTnLst>
                                </p:cTn>
                              </p:par>
                              <p:par>
                                <p:cTn id="31" presetID="43" presetClass="path" presetSubtype="0" accel="50000" decel="50000" fill="hold" nodeType="withEffect">
                                  <p:stCondLst>
                                    <p:cond delay="0"/>
                                  </p:stCondLst>
                                  <p:childTnLst>
                                    <p:animMotion origin="layout" path="M 0 0 L 0.125 0 C 0.181 0 0.25 -0.069 0.25 -0.125 L 0.25 -0.25 E" pathEditMode="relative" ptsTypes="">
                                      <p:cBhvr>
                                        <p:cTn id="32" dur="2000" fill="hold"/>
                                        <p:tgtEl>
                                          <p:spTgt spid="4110"/>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1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6" presetClass="emph" presetSubtype="0" fill="hold" nodeType="clickEffect">
                                  <p:stCondLst>
                                    <p:cond delay="0"/>
                                  </p:stCondLst>
                                  <p:childTnLst>
                                    <p:animScale>
                                      <p:cBhvr>
                                        <p:cTn id="40" dur="2000" fill="hold"/>
                                        <p:tgtEl>
                                          <p:spTgt spid="4112"/>
                                        </p:tgtEl>
                                      </p:cBhvr>
                                      <p:by x="50000" y="50000"/>
                                    </p:animScale>
                                  </p:childTnLst>
                                </p:cTn>
                              </p:par>
                              <p:par>
                                <p:cTn id="41" presetID="36" presetClass="path" presetSubtype="0" accel="50000" decel="50000" fill="hold" nodeType="withEffect">
                                  <p:stCondLst>
                                    <p:cond delay="0"/>
                                  </p:stCondLst>
                                  <p:childTnLst>
                                    <p:animMotion origin="layout" path="M 0 0 L 0 0.125 C 0 0.181 0.069 0.25 0.125 0.25 L 0.25 0.25 E" pathEditMode="relative" ptsTypes="">
                                      <p:cBhvr>
                                        <p:cTn id="42" dur="2000" fill="hold"/>
                                        <p:tgtEl>
                                          <p:spTgt spid="4112"/>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6" presetClass="emph" presetSubtype="0" fill="hold" nodeType="clickEffect">
                                  <p:stCondLst>
                                    <p:cond delay="0"/>
                                  </p:stCondLst>
                                  <p:childTnLst>
                                    <p:animScale>
                                      <p:cBhvr>
                                        <p:cTn id="50" dur="2000" fill="hold"/>
                                        <p:tgtEl>
                                          <p:spTgt spid="4120"/>
                                        </p:tgtEl>
                                      </p:cBhvr>
                                      <p:by x="50000" y="50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1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412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1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Intended Learning Outcomes</a:t>
            </a:r>
          </a:p>
        </p:txBody>
      </p:sp>
      <p:sp>
        <p:nvSpPr>
          <p:cNvPr id="3" name="Content Placeholder 2"/>
          <p:cNvSpPr>
            <a:spLocks noGrp="1"/>
          </p:cNvSpPr>
          <p:nvPr>
            <p:ph idx="1"/>
          </p:nvPr>
        </p:nvSpPr>
        <p:spPr>
          <a:xfrm>
            <a:off x="457200" y="2002135"/>
            <a:ext cx="8229600" cy="2856186"/>
          </a:xfrm>
        </p:spPr>
        <p:txBody>
          <a:bodyPr vert="horz" lIns="91440" tIns="45720" rIns="91440" bIns="45720" rtlCol="0" anchor="t">
            <a:normAutofit fontScale="70000" lnSpcReduction="20000"/>
          </a:bodyPr>
          <a:lstStyle/>
          <a:p>
            <a:r>
              <a:rPr lang="en-US" sz="4400" dirty="0" err="1"/>
              <a:t>Recognise</a:t>
            </a:r>
            <a:r>
              <a:rPr lang="en-US" sz="4400" dirty="0"/>
              <a:t> the importance of Earth's resources</a:t>
            </a:r>
            <a:endParaRPr lang="en-US" dirty="0"/>
          </a:p>
          <a:p>
            <a:r>
              <a:rPr lang="en-US" sz="4400" dirty="0"/>
              <a:t>Identify Earth's resources</a:t>
            </a:r>
            <a:endParaRPr lang="en-US" sz="4400" dirty="0">
              <a:ea typeface="Calibri"/>
              <a:cs typeface="Calibri"/>
            </a:endParaRPr>
          </a:p>
          <a:p>
            <a:r>
              <a:rPr lang="en-US" sz="4400" dirty="0"/>
              <a:t>Describe the origin of Earth's resources</a:t>
            </a:r>
            <a:endParaRPr lang="en-US" sz="4400" dirty="0">
              <a:ea typeface="Calibri"/>
              <a:cs typeface="Calibri"/>
            </a:endParaRPr>
          </a:p>
          <a:p>
            <a:r>
              <a:rPr lang="en-US" sz="4400" dirty="0"/>
              <a:t>Explain how they are relevant to the UN SDGs </a:t>
            </a:r>
            <a:endParaRPr lang="en-US" sz="4400" dirty="0">
              <a:ea typeface="Calibri"/>
              <a:cs typeface="Calibri"/>
            </a:endParaRPr>
          </a:p>
          <a:p>
            <a:endParaRPr lang="en-US" dirty="0"/>
          </a:p>
          <a:p>
            <a:endParaRPr lang="en-US" dirty="0"/>
          </a:p>
          <a:p>
            <a:endParaRPr lang="en-US" dirty="0"/>
          </a:p>
        </p:txBody>
      </p:sp>
    </p:spTree>
    <p:extLst>
      <p:ext uri="{BB962C8B-B14F-4D97-AF65-F5344CB8AC3E}">
        <p14:creationId xmlns:p14="http://schemas.microsoft.com/office/powerpoint/2010/main" val="2697210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are resources so important?</a:t>
            </a:r>
            <a:br>
              <a:rPr lang="en-US" dirty="0"/>
            </a:br>
            <a:r>
              <a:rPr lang="en-US" dirty="0"/>
              <a:t>A history of earth resources</a:t>
            </a:r>
          </a:p>
        </p:txBody>
      </p:sp>
      <p:sp>
        <p:nvSpPr>
          <p:cNvPr id="7" name="Content Placeholder 6"/>
          <p:cNvSpPr>
            <a:spLocks noGrp="1"/>
          </p:cNvSpPr>
          <p:nvPr>
            <p:ph idx="1"/>
          </p:nvPr>
        </p:nvSpPr>
        <p:spPr>
          <a:xfrm>
            <a:off x="5412708" y="1841134"/>
            <a:ext cx="3586274" cy="4525963"/>
          </a:xfrm>
        </p:spPr>
        <p:txBody>
          <a:bodyPr>
            <a:normAutofit fontScale="92500" lnSpcReduction="20000"/>
          </a:bodyPr>
          <a:lstStyle/>
          <a:p>
            <a:r>
              <a:rPr lang="en-US" dirty="0"/>
              <a:t>Use of metals:</a:t>
            </a:r>
          </a:p>
          <a:p>
            <a:pPr lvl="1"/>
            <a:r>
              <a:rPr lang="en-US" dirty="0"/>
              <a:t>Pre-4000 BC: Cu and Au</a:t>
            </a:r>
          </a:p>
          <a:p>
            <a:pPr lvl="1"/>
            <a:r>
              <a:rPr lang="en-US" dirty="0"/>
              <a:t>3000 BC: Ag, </a:t>
            </a:r>
            <a:r>
              <a:rPr lang="en-US" dirty="0" err="1"/>
              <a:t>Sn</a:t>
            </a:r>
            <a:r>
              <a:rPr lang="en-US" dirty="0"/>
              <a:t>, </a:t>
            </a:r>
            <a:r>
              <a:rPr lang="en-US" dirty="0" err="1"/>
              <a:t>Pb</a:t>
            </a:r>
            <a:r>
              <a:rPr lang="en-US" dirty="0"/>
              <a:t>, Zn +alloying</a:t>
            </a:r>
          </a:p>
          <a:p>
            <a:pPr lvl="1"/>
            <a:r>
              <a:rPr lang="en-US" dirty="0"/>
              <a:t>2000 BC: Fe!</a:t>
            </a:r>
          </a:p>
          <a:p>
            <a:r>
              <a:rPr lang="en-US" dirty="0"/>
              <a:t>Recent history: exploitation of mineral deposits and the industrial revolution</a:t>
            </a:r>
          </a:p>
        </p:txBody>
      </p:sp>
      <p:pic>
        <p:nvPicPr>
          <p:cNvPr id="3" name="Picture 2"/>
          <p:cNvPicPr>
            <a:picLocks noChangeAspect="1"/>
          </p:cNvPicPr>
          <p:nvPr/>
        </p:nvPicPr>
        <p:blipFill>
          <a:blip r:embed="rId3"/>
          <a:stretch>
            <a:fillRect/>
          </a:stretch>
        </p:blipFill>
        <p:spPr>
          <a:xfrm>
            <a:off x="164803" y="2216902"/>
            <a:ext cx="5247906" cy="3207541"/>
          </a:xfrm>
          <a:prstGeom prst="rect">
            <a:avLst/>
          </a:prstGeom>
        </p:spPr>
      </p:pic>
    </p:spTree>
    <p:extLst>
      <p:ext uri="{BB962C8B-B14F-4D97-AF65-F5344CB8AC3E}">
        <p14:creationId xmlns:p14="http://schemas.microsoft.com/office/powerpoint/2010/main" val="157329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6" name="Rectangle 4"/>
          <p:cNvSpPr>
            <a:spLocks noChangeArrowheads="1"/>
          </p:cNvSpPr>
          <p:nvPr/>
        </p:nvSpPr>
        <p:spPr bwMode="auto">
          <a:xfrm>
            <a:off x="0" y="182880"/>
            <a:ext cx="9144000"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buFont typeface="Wingdings" charset="0"/>
              <a:buNone/>
              <a:defRPr/>
            </a:pPr>
            <a:r>
              <a:rPr lang="en-GB" sz="4000" b="1" dirty="0">
                <a:latin typeface="+mj-lt"/>
                <a:ea typeface="ＭＳ Ｐゴシック" charset="0"/>
              </a:rPr>
              <a:t>Future World Population</a:t>
            </a:r>
          </a:p>
        </p:txBody>
      </p:sp>
      <p:sp>
        <p:nvSpPr>
          <p:cNvPr id="187397" name="Rectangle 5"/>
          <p:cNvSpPr>
            <a:spLocks noChangeArrowheads="1"/>
          </p:cNvSpPr>
          <p:nvPr/>
        </p:nvSpPr>
        <p:spPr bwMode="auto">
          <a:xfrm>
            <a:off x="280988" y="1080784"/>
            <a:ext cx="4570412"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GB" sz="2400" b="1" dirty="0">
                <a:latin typeface="+mj-lt"/>
                <a:ea typeface="ＭＳ Ｐゴシック" charset="0"/>
              </a:rPr>
              <a:t>Slowing growth rates expected over 21</a:t>
            </a:r>
            <a:r>
              <a:rPr lang="en-GB" sz="2400" b="1" baseline="30000" dirty="0">
                <a:latin typeface="+mj-lt"/>
                <a:ea typeface="ＭＳ Ｐゴシック" charset="0"/>
              </a:rPr>
              <a:t>st</a:t>
            </a:r>
            <a:r>
              <a:rPr lang="en-GB" sz="2400" b="1" dirty="0">
                <a:latin typeface="+mj-lt"/>
                <a:ea typeface="ＭＳ Ｐゴシック" charset="0"/>
              </a:rPr>
              <a:t> century</a:t>
            </a:r>
          </a:p>
        </p:txBody>
      </p:sp>
      <p:sp>
        <p:nvSpPr>
          <p:cNvPr id="187405" name="Rectangle 13"/>
          <p:cNvSpPr>
            <a:spLocks noChangeArrowheads="1"/>
          </p:cNvSpPr>
          <p:nvPr/>
        </p:nvSpPr>
        <p:spPr bwMode="auto">
          <a:xfrm>
            <a:off x="345678" y="2784375"/>
            <a:ext cx="444103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Font typeface="Wingdings" pitchFamily="2" charset="2"/>
              <a:buNone/>
            </a:pPr>
            <a:r>
              <a:rPr lang="en-GB" altLang="en-US" sz="2800" dirty="0">
                <a:latin typeface="+mj-lt"/>
              </a:rPr>
              <a:t>Providing food, energy, material goods for 11000 – 12000 billion people will be a great challenge</a:t>
            </a:r>
          </a:p>
        </p:txBody>
      </p:sp>
      <p:sp>
        <p:nvSpPr>
          <p:cNvPr id="187406" name="AutoShape 14"/>
          <p:cNvSpPr>
            <a:spLocks noChangeArrowheads="1"/>
          </p:cNvSpPr>
          <p:nvPr/>
        </p:nvSpPr>
        <p:spPr bwMode="auto">
          <a:xfrm>
            <a:off x="982939" y="6116175"/>
            <a:ext cx="549275" cy="334962"/>
          </a:xfrm>
          <a:prstGeom prst="rightArrow">
            <a:avLst>
              <a:gd name="adj1" fmla="val 50000"/>
              <a:gd name="adj2" fmla="val 4099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a:latin typeface="+mj-lt"/>
              <a:ea typeface="ＭＳ Ｐゴシック" charset="0"/>
            </a:endParaRPr>
          </a:p>
        </p:txBody>
      </p:sp>
      <p:sp>
        <p:nvSpPr>
          <p:cNvPr id="187407" name="Rectangle 15"/>
          <p:cNvSpPr>
            <a:spLocks noChangeArrowheads="1"/>
          </p:cNvSpPr>
          <p:nvPr/>
        </p:nvSpPr>
        <p:spPr bwMode="auto">
          <a:xfrm>
            <a:off x="1577186" y="5928056"/>
            <a:ext cx="6756741"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buFont typeface="Wingdings" charset="0"/>
              <a:buNone/>
              <a:defRPr/>
            </a:pPr>
            <a:r>
              <a:rPr lang="en-GB" sz="2800" b="1" i="1" dirty="0">
                <a:latin typeface="+mj-lt"/>
                <a:ea typeface="ＭＳ Ｐゴシック" charset="0"/>
              </a:rPr>
              <a:t>Key role for Earth &amp; Environmental Scientists</a:t>
            </a:r>
          </a:p>
        </p:txBody>
      </p:sp>
      <p:sp>
        <p:nvSpPr>
          <p:cNvPr id="187409" name="Rectangle 17"/>
          <p:cNvSpPr>
            <a:spLocks noChangeArrowheads="1"/>
          </p:cNvSpPr>
          <p:nvPr/>
        </p:nvSpPr>
        <p:spPr bwMode="auto">
          <a:xfrm>
            <a:off x="799704" y="4975225"/>
            <a:ext cx="797401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buFont typeface="Wingdings" charset="0"/>
              <a:buNone/>
              <a:defRPr/>
            </a:pPr>
            <a:r>
              <a:rPr lang="en-GB" sz="2800" dirty="0">
                <a:latin typeface="+mj-lt"/>
                <a:ea typeface="ＭＳ Ｐゴシック" charset="0"/>
              </a:rPr>
              <a:t>Additional complicating factor is the </a:t>
            </a:r>
            <a:r>
              <a:rPr lang="en-GB" sz="2800" b="1" dirty="0">
                <a:latin typeface="+mj-lt"/>
                <a:ea typeface="ＭＳ Ｐゴシック" charset="0"/>
              </a:rPr>
              <a:t>complex inter-dependence</a:t>
            </a:r>
            <a:r>
              <a:rPr lang="en-GB" sz="2800" dirty="0">
                <a:latin typeface="+mj-lt"/>
                <a:ea typeface="ＭＳ Ｐゴシック" charset="0"/>
              </a:rPr>
              <a:t> of resources</a:t>
            </a:r>
          </a:p>
        </p:txBody>
      </p:sp>
      <p:pic>
        <p:nvPicPr>
          <p:cNvPr id="7170" name="Picture 2" descr="http://www.geography.learnontheinternet.co.uk/images/popn/world_pop.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710" y="1080784"/>
            <a:ext cx="4114800" cy="292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570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740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74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74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7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7" grpId="0"/>
      <p:bldP spid="187405" grpId="0"/>
      <p:bldP spid="187406" grpId="0" animBg="1"/>
      <p:bldP spid="187407" grpId="0"/>
      <p:bldP spid="18740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2" descr="http://i.telegraph.co.uk/multimedia/archive/00998/loaf-bread_998779c.jpg">
            <a:extLst>
              <a:ext uri="{FF2B5EF4-FFF2-40B4-BE49-F238E27FC236}">
                <a16:creationId xmlns:a16="http://schemas.microsoft.com/office/drawing/2014/main" id="{6BD9A24F-13FF-46E8-B82D-AE2AD1F68B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410" r="10242"/>
          <a:stretch/>
        </p:blipFill>
        <p:spPr bwMode="auto">
          <a:xfrm>
            <a:off x="20" y="1282"/>
            <a:ext cx="9143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67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Rectangle 4"/>
          <p:cNvSpPr>
            <a:spLocks noChangeArrowheads="1"/>
          </p:cNvSpPr>
          <p:nvPr/>
        </p:nvSpPr>
        <p:spPr bwMode="auto">
          <a:xfrm>
            <a:off x="0" y="170478"/>
            <a:ext cx="9144000"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buFont typeface="Wingdings" charset="0"/>
              <a:buNone/>
              <a:defRPr/>
            </a:pPr>
            <a:r>
              <a:rPr lang="en-GB" sz="3200" b="1" dirty="0">
                <a:latin typeface="+mj-lt"/>
                <a:ea typeface="ＭＳ Ｐゴシック" charset="0"/>
              </a:rPr>
              <a:t>Multi Resource Needs for Modern Society</a:t>
            </a:r>
          </a:p>
        </p:txBody>
      </p:sp>
      <p:sp>
        <p:nvSpPr>
          <p:cNvPr id="188422" name="Rectangle 6"/>
          <p:cNvSpPr>
            <a:spLocks noChangeArrowheads="1"/>
          </p:cNvSpPr>
          <p:nvPr/>
        </p:nvSpPr>
        <p:spPr bwMode="auto">
          <a:xfrm>
            <a:off x="187333" y="786194"/>
            <a:ext cx="652780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buFont typeface="Wingdings" charset="0"/>
              <a:buNone/>
              <a:defRPr/>
            </a:pPr>
            <a:r>
              <a:rPr lang="en-GB" sz="3200" dirty="0">
                <a:latin typeface="+mj-lt"/>
                <a:ea typeface="ＭＳ Ｐゴシック" charset="0"/>
              </a:rPr>
              <a:t>Example of bread</a:t>
            </a:r>
            <a:r>
              <a:rPr lang="en-GB" sz="2200" dirty="0">
                <a:latin typeface="+mj-lt"/>
                <a:ea typeface="ＭＳ Ｐゴシック" charset="0"/>
              </a:rPr>
              <a:t>:</a:t>
            </a:r>
          </a:p>
        </p:txBody>
      </p:sp>
      <p:sp>
        <p:nvSpPr>
          <p:cNvPr id="188425" name="Rectangle 9"/>
          <p:cNvSpPr>
            <a:spLocks noChangeArrowheads="1"/>
          </p:cNvSpPr>
          <p:nvPr/>
        </p:nvSpPr>
        <p:spPr bwMode="auto">
          <a:xfrm>
            <a:off x="516517" y="3725474"/>
            <a:ext cx="7963846" cy="135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dirty="0">
                <a:latin typeface="+mn-lt"/>
              </a:rPr>
              <a:t>Grain production:  </a:t>
            </a:r>
          </a:p>
          <a:p>
            <a:pPr eaLnBrk="1" hangingPunct="1"/>
            <a:r>
              <a:rPr lang="en-GB" altLang="en-US" dirty="0">
                <a:latin typeface="+mn-lt"/>
              </a:rPr>
              <a:t>		     - (fertile)</a:t>
            </a:r>
            <a:r>
              <a:rPr lang="en-GB" altLang="en-US" dirty="0">
                <a:latin typeface="+mn-lt"/>
                <a:cs typeface="Arial" pitchFamily="34" charset="0"/>
              </a:rPr>
              <a:t> soil</a:t>
            </a:r>
            <a:br>
              <a:rPr lang="en-GB" altLang="en-US" dirty="0">
                <a:latin typeface="+mn-lt"/>
                <a:cs typeface="Arial" pitchFamily="34" charset="0"/>
              </a:rPr>
            </a:br>
            <a:r>
              <a:rPr lang="en-GB" altLang="en-US" dirty="0">
                <a:latin typeface="+mn-lt"/>
                <a:cs typeface="Arial" pitchFamily="34" charset="0"/>
              </a:rPr>
              <a:t>                                  - water</a:t>
            </a:r>
            <a:br>
              <a:rPr lang="en-GB" altLang="en-US" dirty="0">
                <a:latin typeface="+mn-lt"/>
                <a:cs typeface="Arial" pitchFamily="34" charset="0"/>
              </a:rPr>
            </a:br>
            <a:r>
              <a:rPr lang="en-GB" altLang="en-US" dirty="0">
                <a:latin typeface="+mn-lt"/>
                <a:cs typeface="Arial" pitchFamily="34" charset="0"/>
              </a:rPr>
              <a:t>                                  - fertilisers (chemical minerals)</a:t>
            </a:r>
            <a:br>
              <a:rPr lang="en-GB" altLang="en-US" dirty="0">
                <a:latin typeface="+mn-lt"/>
                <a:cs typeface="Arial" pitchFamily="34" charset="0"/>
              </a:rPr>
            </a:br>
            <a:r>
              <a:rPr lang="en-GB" altLang="en-US" dirty="0">
                <a:latin typeface="+mn-lt"/>
                <a:cs typeface="Arial" pitchFamily="34" charset="0"/>
              </a:rPr>
              <a:t>                                  - tractors,…. to till soil (metals, plastics, </a:t>
            </a:r>
            <a:br>
              <a:rPr lang="en-GB" altLang="en-US" dirty="0">
                <a:latin typeface="+mn-lt"/>
                <a:cs typeface="Arial" pitchFamily="34" charset="0"/>
              </a:rPr>
            </a:br>
            <a:r>
              <a:rPr lang="en-GB" altLang="en-US" dirty="0">
                <a:latin typeface="+mn-lt"/>
                <a:cs typeface="Arial" pitchFamily="34" charset="0"/>
              </a:rPr>
              <a:t>                                    paints,…)</a:t>
            </a:r>
            <a:r>
              <a:rPr lang="en-GB" altLang="en-US" dirty="0">
                <a:latin typeface="+mn-lt"/>
              </a:rPr>
              <a:t> </a:t>
            </a:r>
          </a:p>
          <a:p>
            <a:pPr lvl="0" eaLnBrk="1" hangingPunct="1"/>
            <a:r>
              <a:rPr lang="en-GB" altLang="en-US" dirty="0">
                <a:latin typeface="+mn-lt"/>
              </a:rPr>
              <a:t>Flour/bread production:   </a:t>
            </a:r>
          </a:p>
          <a:p>
            <a:pPr lvl="0" eaLnBrk="1" hangingPunct="1"/>
            <a:r>
              <a:rPr lang="en-GB" altLang="en-US" dirty="0">
                <a:latin typeface="+mn-lt"/>
              </a:rPr>
              <a:t>							- metals for mills, ovens, construction 								materials for mills</a:t>
            </a:r>
            <a:br>
              <a:rPr lang="en-GB" altLang="en-US" dirty="0">
                <a:latin typeface="+mn-lt"/>
              </a:rPr>
            </a:br>
            <a:r>
              <a:rPr lang="en-GB" altLang="en-US" dirty="0">
                <a:latin typeface="+mn-lt"/>
              </a:rPr>
              <a:t>                                               - energy (heat) for baking</a:t>
            </a:r>
          </a:p>
          <a:p>
            <a:pPr lvl="0" eaLnBrk="1" hangingPunct="1"/>
            <a:r>
              <a:rPr lang="en-GB" altLang="en-US" dirty="0">
                <a:latin typeface="+mn-lt"/>
              </a:rPr>
              <a:t>Bread distribution:   </a:t>
            </a:r>
          </a:p>
          <a:p>
            <a:pPr lvl="0" eaLnBrk="1" hangingPunct="1"/>
            <a:r>
              <a:rPr lang="en-GB" altLang="en-US" dirty="0">
                <a:latin typeface="+mn-lt"/>
              </a:rPr>
              <a:t>					- metals, industrial minerals, rocks,  </a:t>
            </a:r>
            <a:br>
              <a:rPr lang="en-GB" altLang="en-US" dirty="0">
                <a:latin typeface="+mn-lt"/>
              </a:rPr>
            </a:br>
            <a:r>
              <a:rPr lang="en-GB" altLang="en-US" dirty="0">
                <a:latin typeface="+mn-lt"/>
              </a:rPr>
              <a:t>                                       fuels,… for railways and roads</a:t>
            </a:r>
            <a:endParaRPr lang="en-GB" altLang="en-US" dirty="0">
              <a:latin typeface="+mn-lt"/>
              <a:cs typeface="Arial" pitchFamily="34" charset="0"/>
            </a:endParaRPr>
          </a:p>
          <a:p>
            <a:pPr eaLnBrk="1" hangingPunct="1"/>
            <a:endParaRPr lang="en-GB" altLang="en-US" dirty="0">
              <a:latin typeface="+mn-lt"/>
              <a:cs typeface="Arial" pitchFamily="34" charset="0"/>
            </a:endParaRPr>
          </a:p>
          <a:p>
            <a:pPr eaLnBrk="1" hangingPunct="1">
              <a:buFont typeface="Wingdings" pitchFamily="2" charset="2"/>
              <a:buNone/>
            </a:pPr>
            <a:endParaRPr lang="en-GB" altLang="en-US" dirty="0">
              <a:latin typeface="+mn-lt"/>
              <a:cs typeface="Arial" pitchFamily="34" charset="0"/>
            </a:endParaRPr>
          </a:p>
        </p:txBody>
      </p:sp>
      <p:sp>
        <p:nvSpPr>
          <p:cNvPr id="188427" name="Rectangle 11"/>
          <p:cNvSpPr>
            <a:spLocks noChangeArrowheads="1"/>
          </p:cNvSpPr>
          <p:nvPr/>
        </p:nvSpPr>
        <p:spPr bwMode="auto">
          <a:xfrm>
            <a:off x="322329" y="4533766"/>
            <a:ext cx="6262688" cy="93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Font typeface="Wingdings" pitchFamily="2" charset="2"/>
              <a:buNone/>
            </a:pPr>
            <a:endParaRPr lang="en-GB" altLang="en-US" sz="2000" dirty="0">
              <a:latin typeface="+mj-lt"/>
              <a:cs typeface="Arial" pitchFamily="34" charset="0"/>
            </a:endParaRPr>
          </a:p>
        </p:txBody>
      </p:sp>
      <p:sp>
        <p:nvSpPr>
          <p:cNvPr id="188429" name="Rectangle 13"/>
          <p:cNvSpPr>
            <a:spLocks noChangeArrowheads="1"/>
          </p:cNvSpPr>
          <p:nvPr/>
        </p:nvSpPr>
        <p:spPr bwMode="auto">
          <a:xfrm>
            <a:off x="728406" y="5787379"/>
            <a:ext cx="69119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Font typeface="Wingdings" pitchFamily="2" charset="2"/>
              <a:buNone/>
            </a:pPr>
            <a:endParaRPr lang="en-GB" altLang="en-US" sz="2000" dirty="0">
              <a:latin typeface="+mj-lt"/>
              <a:cs typeface="Arial" pitchFamily="34" charset="0"/>
            </a:endParaRPr>
          </a:p>
        </p:txBody>
      </p:sp>
      <p:pic>
        <p:nvPicPr>
          <p:cNvPr id="6146" name="Picture 2" descr="http://i.telegraph.co.uk/multimedia/archive/00998/loaf-bread_998779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1355" y="883309"/>
            <a:ext cx="2464593"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28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42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42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84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oup of people holding cell phones&#10;&#10;Description automatically generated">
            <a:extLst>
              <a:ext uri="{FF2B5EF4-FFF2-40B4-BE49-F238E27FC236}">
                <a16:creationId xmlns:a16="http://schemas.microsoft.com/office/drawing/2014/main" id="{906156AE-04D2-40A7-AE03-AF25CA89F26C}"/>
              </a:ext>
            </a:extLst>
          </p:cNvPr>
          <p:cNvPicPr>
            <a:picLocks noChangeAspect="1"/>
          </p:cNvPicPr>
          <p:nvPr/>
        </p:nvPicPr>
        <p:blipFill rotWithShape="1">
          <a:blip r:embed="rId2"/>
          <a:srcRect r="1981" b="-1"/>
          <a:stretch/>
        </p:blipFill>
        <p:spPr>
          <a:xfrm>
            <a:off x="20" y="1282"/>
            <a:ext cx="9143980" cy="6856718"/>
          </a:xfrm>
          <a:prstGeom prst="rect">
            <a:avLst/>
          </a:prstGeom>
        </p:spPr>
      </p:pic>
    </p:spTree>
    <p:extLst>
      <p:ext uri="{BB962C8B-B14F-4D97-AF65-F5344CB8AC3E}">
        <p14:creationId xmlns:p14="http://schemas.microsoft.com/office/powerpoint/2010/main" val="363381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Why are mineral resources important?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83358"/>
            <a:ext cx="7909892" cy="507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54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6160" y="2031946"/>
            <a:ext cx="8011874" cy="4531106"/>
          </a:xfrm>
          <a:prstGeom prst="rect">
            <a:avLst/>
          </a:prstGeom>
        </p:spPr>
      </p:pic>
      <p:sp>
        <p:nvSpPr>
          <p:cNvPr id="3" name="Rectangle 4"/>
          <p:cNvSpPr>
            <a:spLocks noChangeArrowheads="1"/>
          </p:cNvSpPr>
          <p:nvPr/>
        </p:nvSpPr>
        <p:spPr bwMode="auto">
          <a:xfrm>
            <a:off x="-2055531" y="1118"/>
            <a:ext cx="9144000"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1440" tIns="45720" rIns="91440" bIns="45720" anchor="ctr"/>
          <a:lstStyle/>
          <a:p>
            <a:pPr algn="ctr">
              <a:buFont typeface="Wingdings" charset="0"/>
              <a:buNone/>
              <a:defRPr/>
            </a:pPr>
            <a:r>
              <a:rPr lang="en-GB" sz="3200" b="1" dirty="0">
                <a:latin typeface="+mj-lt"/>
                <a:ea typeface="ＭＳ Ｐゴシック"/>
              </a:rPr>
              <a:t>What are </a:t>
            </a:r>
            <a:r>
              <a:rPr lang="en-GB" sz="3200" b="1">
                <a:latin typeface="+mj-lt"/>
                <a:ea typeface="ＭＳ Ｐゴシック"/>
              </a:rPr>
              <a:t>earth's</a:t>
            </a:r>
            <a:r>
              <a:rPr lang="en-GB" sz="3200" b="1" dirty="0">
                <a:latin typeface="+mj-lt"/>
                <a:ea typeface="ＭＳ Ｐゴシック"/>
              </a:rPr>
              <a:t> resources?</a:t>
            </a:r>
          </a:p>
        </p:txBody>
      </p:sp>
      <p:sp>
        <p:nvSpPr>
          <p:cNvPr id="4" name="Rectangle 5"/>
          <p:cNvSpPr>
            <a:spLocks noChangeArrowheads="1"/>
          </p:cNvSpPr>
          <p:nvPr/>
        </p:nvSpPr>
        <p:spPr bwMode="auto">
          <a:xfrm>
            <a:off x="1132702" y="611277"/>
            <a:ext cx="8963025"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GB" sz="2400" b="1" dirty="0">
                <a:latin typeface="+mj-lt"/>
                <a:ea typeface="ＭＳ Ｐゴシック" charset="0"/>
              </a:rPr>
              <a:t>Most fundamentally they are chemical elements</a:t>
            </a:r>
          </a:p>
        </p:txBody>
      </p:sp>
      <p:sp>
        <p:nvSpPr>
          <p:cNvPr id="5" name="Rectangle 9"/>
          <p:cNvSpPr>
            <a:spLocks noChangeArrowheads="1"/>
          </p:cNvSpPr>
          <p:nvPr/>
        </p:nvSpPr>
        <p:spPr bwMode="auto">
          <a:xfrm>
            <a:off x="593198" y="1421787"/>
            <a:ext cx="84342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marL="342900" indent="-342900">
              <a:buFont typeface="Arial" panose="020B0604020202020204" pitchFamily="34" charset="0"/>
              <a:buChar char="•"/>
              <a:defRPr/>
            </a:pPr>
            <a:r>
              <a:rPr lang="en-GB" sz="2400" dirty="0">
                <a:latin typeface="+mj-lt"/>
                <a:ea typeface="ＭＳ Ｐゴシック" charset="0"/>
              </a:rPr>
              <a:t>Of 100+ known elements at least 86 are used by modern society</a:t>
            </a:r>
          </a:p>
          <a:p>
            <a:pPr>
              <a:buFont typeface="Wingdings" charset="0"/>
              <a:buNone/>
              <a:defRPr/>
            </a:pPr>
            <a:endParaRPr lang="en-GB" sz="2400" dirty="0">
              <a:latin typeface="+mj-lt"/>
              <a:ea typeface="ＭＳ Ｐゴシック" charset="0"/>
            </a:endParaRPr>
          </a:p>
        </p:txBody>
      </p:sp>
    </p:spTree>
    <p:extLst>
      <p:ext uri="{BB962C8B-B14F-4D97-AF65-F5344CB8AC3E}">
        <p14:creationId xmlns:p14="http://schemas.microsoft.com/office/powerpoint/2010/main" val="45173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Rectangle 4"/>
          <p:cNvSpPr>
            <a:spLocks noChangeArrowheads="1"/>
          </p:cNvSpPr>
          <p:nvPr/>
        </p:nvSpPr>
        <p:spPr bwMode="auto">
          <a:xfrm>
            <a:off x="-1607872" y="0"/>
            <a:ext cx="9144000"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buFont typeface="Wingdings" charset="0"/>
              <a:buNone/>
              <a:defRPr/>
            </a:pPr>
            <a:r>
              <a:rPr lang="en-GB" sz="3200" b="1" dirty="0">
                <a:latin typeface="+mj-lt"/>
                <a:ea typeface="ＭＳ Ｐゴシック" charset="0"/>
              </a:rPr>
              <a:t>Where do resources come from?</a:t>
            </a:r>
          </a:p>
        </p:txBody>
      </p:sp>
      <p:sp>
        <p:nvSpPr>
          <p:cNvPr id="184329" name="Rectangle 9"/>
          <p:cNvSpPr>
            <a:spLocks noChangeArrowheads="1"/>
          </p:cNvSpPr>
          <p:nvPr/>
        </p:nvSpPr>
        <p:spPr bwMode="auto">
          <a:xfrm>
            <a:off x="162159" y="1218969"/>
            <a:ext cx="84342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marL="342900" indent="-342900">
              <a:buFont typeface="Arial" panose="020B0604020202020204" pitchFamily="34" charset="0"/>
              <a:buChar char="•"/>
              <a:defRPr/>
            </a:pPr>
            <a:r>
              <a:rPr lang="en-GB" sz="2400" dirty="0">
                <a:latin typeface="+mj-lt"/>
                <a:ea typeface="ＭＳ Ｐゴシック" charset="0"/>
              </a:rPr>
              <a:t>Vast majority are derived from minerals or sea water (or other saline solutions)</a:t>
            </a:r>
          </a:p>
          <a:p>
            <a:pPr marL="342900" indent="-342900">
              <a:buFont typeface="Arial" panose="020B0604020202020204" pitchFamily="34" charset="0"/>
              <a:buChar char="•"/>
              <a:defRPr/>
            </a:pPr>
            <a:r>
              <a:rPr lang="en-GB" sz="2400" dirty="0">
                <a:latin typeface="+mj-lt"/>
                <a:ea typeface="ＭＳ Ｐゴシック" charset="0"/>
              </a:rPr>
              <a:t>Some come from atmospheric or biological systems</a:t>
            </a:r>
          </a:p>
          <a:p>
            <a:pPr>
              <a:defRPr/>
            </a:pPr>
            <a:endParaRPr lang="en-GB" sz="2400" dirty="0">
              <a:latin typeface="+mj-lt"/>
              <a:ea typeface="ＭＳ Ｐゴシック" charset="0"/>
            </a:endParaRPr>
          </a:p>
          <a:p>
            <a:pPr>
              <a:buFont typeface="Wingdings" charset="0"/>
              <a:buNone/>
              <a:defRPr/>
            </a:pPr>
            <a:endParaRPr lang="en-GB" sz="2400" dirty="0">
              <a:latin typeface="+mj-lt"/>
              <a:ea typeface="ＭＳ Ｐゴシック" charset="0"/>
            </a:endParaRPr>
          </a:p>
        </p:txBody>
      </p:sp>
      <p:sp>
        <p:nvSpPr>
          <p:cNvPr id="184331" name="Rectangle 11"/>
          <p:cNvSpPr>
            <a:spLocks noChangeArrowheads="1"/>
          </p:cNvSpPr>
          <p:nvPr/>
        </p:nvSpPr>
        <p:spPr bwMode="auto">
          <a:xfrm>
            <a:off x="1081088" y="2125663"/>
            <a:ext cx="7869237"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buFont typeface="Wingdings" charset="0"/>
              <a:buNone/>
              <a:defRPr/>
            </a:pPr>
            <a:endParaRPr lang="en-GB" sz="2200" dirty="0">
              <a:latin typeface="+mj-lt"/>
              <a:ea typeface="ＭＳ Ｐゴシック" charset="0"/>
            </a:endParaRPr>
          </a:p>
        </p:txBody>
      </p:sp>
      <p:pic>
        <p:nvPicPr>
          <p:cNvPr id="184334" name="Picture 14" descr="1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2875" y="3994957"/>
            <a:ext cx="3540125" cy="26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35" name="Text Box 15"/>
          <p:cNvSpPr txBox="1">
            <a:spLocks noChangeArrowheads="1"/>
          </p:cNvSpPr>
          <p:nvPr/>
        </p:nvSpPr>
        <p:spPr bwMode="auto">
          <a:xfrm>
            <a:off x="-1388938" y="2062451"/>
            <a:ext cx="5768197" cy="584775"/>
          </a:xfrm>
          <a:prstGeom prst="rect">
            <a:avLst/>
          </a:prstGeom>
          <a:noFill/>
          <a:ln>
            <a:noFill/>
          </a:ln>
          <a:effectLst/>
        </p:spPr>
        <p:txBody>
          <a:bodyPr wrap="square">
            <a:spAutoFit/>
          </a:bodyPr>
          <a:lstStyle/>
          <a:p>
            <a:pPr algn="ctr">
              <a:defRPr/>
            </a:pPr>
            <a:r>
              <a:rPr lang="en-GB" sz="3200" b="1" i="1" dirty="0">
                <a:latin typeface="+mj-lt"/>
                <a:ea typeface="ＭＳ Ｐゴシック" charset="0"/>
              </a:rPr>
              <a:t>Plate tectonics</a:t>
            </a:r>
          </a:p>
        </p:txBody>
      </p:sp>
      <p:pic>
        <p:nvPicPr>
          <p:cNvPr id="1028" name="Picture 4" descr="http://itsyourexperiment08.files.wordpress.com/2008/10/plate-tectonics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607" y="2710437"/>
            <a:ext cx="4840040" cy="2420021"/>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p:cNvSpPr txBox="1">
            <a:spLocks/>
          </p:cNvSpPr>
          <p:nvPr/>
        </p:nvSpPr>
        <p:spPr>
          <a:xfrm>
            <a:off x="162160" y="5303044"/>
            <a:ext cx="5005602" cy="1447725"/>
          </a:xfrm>
          <a:prstGeom prst="rect">
            <a:avLst/>
          </a:prstGeom>
        </p:spPr>
        <p:txBody>
          <a:bodyPr>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t>Most earth resources are generated by one or more geological processes</a:t>
            </a:r>
          </a:p>
          <a:p>
            <a:r>
              <a:rPr lang="en-GB" dirty="0"/>
              <a:t>All geological processes are forming, modifying or destroying some of Earths resources</a:t>
            </a:r>
          </a:p>
        </p:txBody>
      </p:sp>
      <p:sp>
        <p:nvSpPr>
          <p:cNvPr id="3" name="TextBox 2"/>
          <p:cNvSpPr txBox="1"/>
          <p:nvPr/>
        </p:nvSpPr>
        <p:spPr>
          <a:xfrm>
            <a:off x="6260493" y="3533292"/>
            <a:ext cx="1464888" cy="461665"/>
          </a:xfrm>
          <a:prstGeom prst="rect">
            <a:avLst/>
          </a:prstGeom>
          <a:noFill/>
        </p:spPr>
        <p:txBody>
          <a:bodyPr wrap="none" rtlCol="0">
            <a:spAutoFit/>
          </a:bodyPr>
          <a:lstStyle/>
          <a:p>
            <a:r>
              <a:rPr lang="en-GB" sz="2400" dirty="0"/>
              <a:t>Rock cycle</a:t>
            </a:r>
          </a:p>
        </p:txBody>
      </p:sp>
    </p:spTree>
    <p:extLst>
      <p:ext uri="{BB962C8B-B14F-4D97-AF65-F5344CB8AC3E}">
        <p14:creationId xmlns:p14="http://schemas.microsoft.com/office/powerpoint/2010/main" val="2191337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Resources vs. Reserves</a:t>
            </a:r>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r>
              <a:rPr lang="en-GB" dirty="0">
                <a:solidFill>
                  <a:srgbClr val="FF0000"/>
                </a:solidFill>
              </a:rPr>
              <a:t>RESOURCE</a:t>
            </a:r>
          </a:p>
          <a:p>
            <a:pPr marL="0" indent="0">
              <a:buNone/>
            </a:pPr>
            <a:r>
              <a:rPr lang="en-GB" dirty="0"/>
              <a:t>The amount of a mineral or rock that is, or may become, of potential economic interest </a:t>
            </a:r>
          </a:p>
          <a:p>
            <a:pPr marL="0" indent="0">
              <a:buNone/>
            </a:pPr>
            <a:endParaRPr lang="en-GB" dirty="0"/>
          </a:p>
          <a:p>
            <a:r>
              <a:rPr lang="en-GB" dirty="0">
                <a:solidFill>
                  <a:srgbClr val="FF0000"/>
                </a:solidFill>
              </a:rPr>
              <a:t>RESERVE</a:t>
            </a:r>
          </a:p>
          <a:p>
            <a:pPr marL="0" indent="0">
              <a:buNone/>
            </a:pPr>
            <a:r>
              <a:rPr lang="en-GB" dirty="0"/>
              <a:t>The part of a resource which  has been fully evaluated and is deemed currently commercially viable to work</a:t>
            </a:r>
          </a:p>
          <a:p>
            <a:pPr marL="0" indent="0">
              <a:buNone/>
            </a:pPr>
            <a:endParaRPr lang="en-GB" dirty="0"/>
          </a:p>
          <a:p>
            <a:r>
              <a:rPr lang="en-GB" dirty="0">
                <a:solidFill>
                  <a:srgbClr val="FF0000"/>
                </a:solidFill>
              </a:rPr>
              <a:t>ORE </a:t>
            </a:r>
            <a:r>
              <a:rPr lang="en-GB" dirty="0"/>
              <a:t>– refers to a metal bearing resource or reserve</a:t>
            </a:r>
            <a:endParaRPr lang="en-GB" dirty="0">
              <a:ea typeface="Calibri"/>
              <a:cs typeface="Calibri"/>
            </a:endParaRPr>
          </a:p>
        </p:txBody>
      </p:sp>
      <p:sp>
        <p:nvSpPr>
          <p:cNvPr id="4" name="Rectangle 3"/>
          <p:cNvSpPr/>
          <p:nvPr/>
        </p:nvSpPr>
        <p:spPr>
          <a:xfrm>
            <a:off x="3200399" y="6398420"/>
            <a:ext cx="6081823" cy="369332"/>
          </a:xfrm>
          <a:prstGeom prst="rect">
            <a:avLst/>
          </a:prstGeom>
        </p:spPr>
        <p:txBody>
          <a:bodyPr wrap="square">
            <a:spAutoFit/>
          </a:bodyPr>
          <a:lstStyle/>
          <a:p>
            <a:r>
              <a:rPr lang="en-GB" dirty="0">
                <a:hlinkClick r:id="rId3"/>
              </a:rPr>
              <a:t>http://www.bgs.ac.uk/planning4minerals/Resources_5.htm</a:t>
            </a:r>
            <a:endParaRPr lang="en-GB" dirty="0"/>
          </a:p>
        </p:txBody>
      </p:sp>
    </p:spTree>
    <p:extLst>
      <p:ext uri="{BB962C8B-B14F-4D97-AF65-F5344CB8AC3E}">
        <p14:creationId xmlns:p14="http://schemas.microsoft.com/office/powerpoint/2010/main" val="304906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a:t>
            </a:r>
          </a:p>
        </p:txBody>
      </p:sp>
      <p:sp>
        <p:nvSpPr>
          <p:cNvPr id="3" name="Content Placeholder 2"/>
          <p:cNvSpPr>
            <a:spLocks noGrp="1"/>
          </p:cNvSpPr>
          <p:nvPr>
            <p:ph idx="1"/>
          </p:nvPr>
        </p:nvSpPr>
        <p:spPr/>
        <p:txBody>
          <a:bodyPr>
            <a:normAutofit fontScale="92500" lnSpcReduction="20000"/>
          </a:bodyPr>
          <a:lstStyle/>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Critical to our development and history…..and technology</a:t>
            </a:r>
          </a:p>
          <a:p>
            <a:endParaRPr lang="en-US" dirty="0"/>
          </a:p>
          <a:p>
            <a:r>
              <a:rPr lang="en-US" dirty="0"/>
              <a:t>Unevenly distributed across the world because of our geological history</a:t>
            </a:r>
          </a:p>
          <a:p>
            <a:endParaRPr lang="en-US" dirty="0"/>
          </a:p>
        </p:txBody>
      </p:sp>
      <p:sp>
        <p:nvSpPr>
          <p:cNvPr id="4" name="Oval 3"/>
          <p:cNvSpPr/>
          <p:nvPr/>
        </p:nvSpPr>
        <p:spPr>
          <a:xfrm>
            <a:off x="541283" y="2020379"/>
            <a:ext cx="2376264" cy="1138627"/>
          </a:xfrm>
          <a:prstGeom prst="ellipse">
            <a:avLst/>
          </a:prstGeom>
          <a:solidFill>
            <a:schemeClr val="accent6"/>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Metals</a:t>
            </a:r>
            <a:endParaRPr lang="en-GB" sz="1100" dirty="0"/>
          </a:p>
        </p:txBody>
      </p:sp>
      <p:sp>
        <p:nvSpPr>
          <p:cNvPr id="5" name="Oval 4"/>
          <p:cNvSpPr/>
          <p:nvPr/>
        </p:nvSpPr>
        <p:spPr>
          <a:xfrm>
            <a:off x="3305049" y="1735851"/>
            <a:ext cx="2539165" cy="1707682"/>
          </a:xfrm>
          <a:prstGeom prst="ellipse">
            <a:avLst/>
          </a:prstGeom>
          <a:solidFill>
            <a:schemeClr val="accent6"/>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Non-Metals </a:t>
            </a:r>
            <a:endParaRPr lang="en-GB" sz="1100" dirty="0"/>
          </a:p>
        </p:txBody>
      </p:sp>
      <p:sp>
        <p:nvSpPr>
          <p:cNvPr id="6" name="Oval 5"/>
          <p:cNvSpPr/>
          <p:nvPr/>
        </p:nvSpPr>
        <p:spPr>
          <a:xfrm>
            <a:off x="6231716" y="2023618"/>
            <a:ext cx="2376264" cy="1138627"/>
          </a:xfrm>
          <a:prstGeom prst="ellipse">
            <a:avLst/>
          </a:prstGeom>
          <a:solidFill>
            <a:schemeClr val="accent6"/>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Energy</a:t>
            </a:r>
            <a:endParaRPr lang="en-GB" sz="1100" dirty="0"/>
          </a:p>
        </p:txBody>
      </p:sp>
    </p:spTree>
    <p:extLst>
      <p:ext uri="{BB962C8B-B14F-4D97-AF65-F5344CB8AC3E}">
        <p14:creationId xmlns:p14="http://schemas.microsoft.com/office/powerpoint/2010/main" val="3771782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7FDEC5C-E06A-2123-C148-AA8C60F277B1}"/>
              </a:ext>
            </a:extLst>
          </p:cNvPr>
          <p:cNvPicPr>
            <a:picLocks noChangeAspect="1"/>
          </p:cNvPicPr>
          <p:nvPr/>
        </p:nvPicPr>
        <p:blipFill>
          <a:blip r:embed="rId2"/>
          <a:stretch>
            <a:fillRect/>
          </a:stretch>
        </p:blipFill>
        <p:spPr>
          <a:xfrm>
            <a:off x="482600" y="783167"/>
            <a:ext cx="3968749" cy="5291665"/>
          </a:xfrm>
          <a:prstGeom prst="rect">
            <a:avLst/>
          </a:prstGeom>
        </p:spPr>
      </p:pic>
      <p:pic>
        <p:nvPicPr>
          <p:cNvPr id="6" name="Picture 5">
            <a:extLst>
              <a:ext uri="{FF2B5EF4-FFF2-40B4-BE49-F238E27FC236}">
                <a16:creationId xmlns:a16="http://schemas.microsoft.com/office/drawing/2014/main" id="{80CF765E-B3E6-6483-F047-C799C5F9E098}"/>
              </a:ext>
            </a:extLst>
          </p:cNvPr>
          <p:cNvPicPr>
            <a:picLocks noChangeAspect="1"/>
          </p:cNvPicPr>
          <p:nvPr/>
        </p:nvPicPr>
        <p:blipFill>
          <a:blip r:embed="rId3"/>
          <a:stretch>
            <a:fillRect/>
          </a:stretch>
        </p:blipFill>
        <p:spPr>
          <a:xfrm>
            <a:off x="4692648" y="800687"/>
            <a:ext cx="3968751" cy="5256625"/>
          </a:xfrm>
          <a:prstGeom prst="rect">
            <a:avLst/>
          </a:prstGeom>
        </p:spPr>
      </p:pic>
    </p:spTree>
    <p:extLst>
      <p:ext uri="{BB962C8B-B14F-4D97-AF65-F5344CB8AC3E}">
        <p14:creationId xmlns:p14="http://schemas.microsoft.com/office/powerpoint/2010/main" val="2165903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16C51E-2286-C827-1652-CD5A7094B4AF}"/>
              </a:ext>
            </a:extLst>
          </p:cNvPr>
          <p:cNvPicPr>
            <a:picLocks noChangeAspect="1"/>
          </p:cNvPicPr>
          <p:nvPr/>
        </p:nvPicPr>
        <p:blipFill rotWithShape="1">
          <a:blip r:embed="rId2"/>
          <a:srcRect l="24208" r="792"/>
          <a:stretch/>
        </p:blipFill>
        <p:spPr>
          <a:xfrm>
            <a:off x="2" y="10"/>
            <a:ext cx="9143998" cy="6857988"/>
          </a:xfrm>
          <a:prstGeom prst="rect">
            <a:avLst/>
          </a:prstGeom>
        </p:spPr>
      </p:pic>
      <p:sp>
        <p:nvSpPr>
          <p:cNvPr id="11" name="Rectangle 10">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34286" y="2516347"/>
            <a:ext cx="6864098" cy="1819211"/>
          </a:xfrm>
          <a:prstGeom prst="rect">
            <a:avLst/>
          </a:prstGeom>
          <a:gradFill>
            <a:gsLst>
              <a:gs pos="0">
                <a:schemeClr val="accent5">
                  <a:lumMod val="60000"/>
                  <a:lumOff val="40000"/>
                </a:schemeClr>
              </a:gs>
              <a:gs pos="43000">
                <a:schemeClr val="accent2">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871912" y="0"/>
            <a:ext cx="5286509" cy="6858000"/>
          </a:xfrm>
          <a:prstGeom prst="rect">
            <a:avLst/>
          </a:prstGeom>
          <a:gradFill flip="none" rotWithShape="1">
            <a:gsLst>
              <a:gs pos="19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6829" y="812504"/>
            <a:ext cx="6864096" cy="5239087"/>
          </a:xfrm>
          <a:prstGeom prst="rect">
            <a:avLst/>
          </a:prstGeom>
          <a:gradFill flip="none" rotWithShape="1">
            <a:gsLst>
              <a:gs pos="0">
                <a:schemeClr val="accent5"/>
              </a:gs>
              <a:gs pos="64000">
                <a:schemeClr val="accent2">
                  <a:alpha val="0"/>
                </a:schemeClr>
              </a:gs>
            </a:gsLst>
            <a:lin ang="7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01EB5855-8EB7-1AE5-9030-5D0AA3C1A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166784" y="876108"/>
            <a:ext cx="2839273" cy="9144001"/>
          </a:xfrm>
          <a:prstGeom prst="rect">
            <a:avLst/>
          </a:prstGeom>
          <a:gradFill>
            <a:gsLst>
              <a:gs pos="0">
                <a:schemeClr val="accent2"/>
              </a:gs>
              <a:gs pos="53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CEC445-F8FC-516A-70CE-D8E61450A328}"/>
              </a:ext>
            </a:extLst>
          </p:cNvPr>
          <p:cNvSpPr>
            <a:spLocks noGrp="1"/>
          </p:cNvSpPr>
          <p:nvPr>
            <p:ph type="title"/>
          </p:nvPr>
        </p:nvSpPr>
        <p:spPr>
          <a:xfrm>
            <a:off x="5798601" y="2138209"/>
            <a:ext cx="2784615" cy="2839273"/>
          </a:xfrm>
        </p:spPr>
        <p:txBody>
          <a:bodyPr vert="horz" lIns="91440" tIns="45720" rIns="91440" bIns="45720" rtlCol="0" anchor="b">
            <a:normAutofit/>
          </a:bodyPr>
          <a:lstStyle/>
          <a:p>
            <a:pPr>
              <a:lnSpc>
                <a:spcPct val="90000"/>
              </a:lnSpc>
            </a:pPr>
            <a:r>
              <a:rPr lang="en-US" sz="3100">
                <a:solidFill>
                  <a:srgbClr val="FFFFFF"/>
                </a:solidFill>
              </a:rPr>
              <a:t>soils</a:t>
            </a:r>
          </a:p>
        </p:txBody>
      </p:sp>
      <p:sp>
        <p:nvSpPr>
          <p:cNvPr id="5" name="Text Placeholder 4">
            <a:extLst>
              <a:ext uri="{FF2B5EF4-FFF2-40B4-BE49-F238E27FC236}">
                <a16:creationId xmlns:a16="http://schemas.microsoft.com/office/drawing/2014/main" id="{A4F4C701-CEA1-D6D9-06F1-95722D41DB14}"/>
              </a:ext>
            </a:extLst>
          </p:cNvPr>
          <p:cNvSpPr>
            <a:spLocks noGrp="1"/>
          </p:cNvSpPr>
          <p:nvPr>
            <p:ph type="body" idx="1"/>
          </p:nvPr>
        </p:nvSpPr>
        <p:spPr>
          <a:xfrm>
            <a:off x="5798601" y="5149388"/>
            <a:ext cx="2784615" cy="1197216"/>
          </a:xfrm>
        </p:spPr>
        <p:txBody>
          <a:bodyPr vert="horz" lIns="91440" tIns="45720" rIns="91440" bIns="45720" rtlCol="0">
            <a:normAutofit/>
          </a:bodyPr>
          <a:lstStyle/>
          <a:p>
            <a:pPr>
              <a:lnSpc>
                <a:spcPct val="90000"/>
              </a:lnSpc>
              <a:spcBef>
                <a:spcPts val="1000"/>
              </a:spcBef>
            </a:pPr>
            <a:endParaRPr lang="en-US" sz="1700">
              <a:solidFill>
                <a:srgbClr val="FFFFFF"/>
              </a:solidFill>
            </a:endParaRPr>
          </a:p>
        </p:txBody>
      </p:sp>
    </p:spTree>
    <p:extLst>
      <p:ext uri="{BB962C8B-B14F-4D97-AF65-F5344CB8AC3E}">
        <p14:creationId xmlns:p14="http://schemas.microsoft.com/office/powerpoint/2010/main" val="1281805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759805"/>
            <a:ext cx="7615758" cy="941003"/>
          </a:xfrm>
        </p:spPr>
        <p:txBody>
          <a:bodyPr>
            <a:normAutofit/>
          </a:bodyPr>
          <a:lstStyle/>
          <a:p>
            <a:r>
              <a:rPr lang="en-GB" sz="3500" dirty="0">
                <a:solidFill>
                  <a:srgbClr val="FFFFFF"/>
                </a:solidFill>
              </a:rPr>
              <a:t>Learning outcomes</a:t>
            </a:r>
          </a:p>
        </p:txBody>
      </p:sp>
      <p:pic>
        <p:nvPicPr>
          <p:cNvPr id="4" name="Picture 3">
            <a:extLst>
              <a:ext uri="{FF2B5EF4-FFF2-40B4-BE49-F238E27FC236}">
                <a16:creationId xmlns:a16="http://schemas.microsoft.com/office/drawing/2014/main" id="{F5D187A1-7DF2-4C7A-AE81-F2B6982AADA7}"/>
              </a:ext>
            </a:extLst>
          </p:cNvPr>
          <p:cNvPicPr>
            <a:picLocks noChangeAspect="1"/>
          </p:cNvPicPr>
          <p:nvPr/>
        </p:nvPicPr>
        <p:blipFill rotWithShape="1">
          <a:blip r:embed="rId3"/>
          <a:srcRect r="1791" b="-2"/>
          <a:stretch/>
        </p:blipFill>
        <p:spPr>
          <a:xfrm>
            <a:off x="6909932" y="263192"/>
            <a:ext cx="1955089" cy="1934227"/>
          </a:xfrm>
          <a:prstGeom prst="rect">
            <a:avLst/>
          </a:prstGeom>
        </p:spPr>
      </p:pic>
      <p:sp>
        <p:nvSpPr>
          <p:cNvPr id="3" name="Content Placeholder 2"/>
          <p:cNvSpPr>
            <a:spLocks noGrp="1"/>
          </p:cNvSpPr>
          <p:nvPr>
            <p:ph idx="1"/>
          </p:nvPr>
        </p:nvSpPr>
        <p:spPr>
          <a:xfrm>
            <a:off x="97288" y="2482956"/>
            <a:ext cx="8640960" cy="4815097"/>
          </a:xfrm>
        </p:spPr>
        <p:txBody>
          <a:bodyPr vert="horz" lIns="91440" tIns="45720" rIns="91440" bIns="45720" rtlCol="0" anchor="t">
            <a:noAutofit/>
          </a:bodyPr>
          <a:lstStyle/>
          <a:p>
            <a:pPr lvl="1">
              <a:buFont typeface="Arial" panose="020B0604020202020204" pitchFamily="34" charset="0"/>
              <a:buChar char="•"/>
            </a:pPr>
            <a:r>
              <a:rPr lang="en-GB" sz="2400" dirty="0"/>
              <a:t>Explain the process of soil formation</a:t>
            </a:r>
          </a:p>
          <a:p>
            <a:pPr lvl="1">
              <a:buFont typeface="Arial" panose="020B0604020202020204" pitchFamily="34" charset="0"/>
              <a:buChar char="•"/>
            </a:pPr>
            <a:r>
              <a:rPr lang="en-GB" sz="2400" dirty="0"/>
              <a:t>Describe the primary mineralogical characteristics of soils</a:t>
            </a:r>
          </a:p>
          <a:p>
            <a:pPr lvl="1">
              <a:buFont typeface="Arial" panose="020B0604020202020204" pitchFamily="34" charset="0"/>
              <a:buChar char="•"/>
            </a:pPr>
            <a:r>
              <a:rPr lang="en-GB" sz="2400" dirty="0"/>
              <a:t>Explain how physical and chemical weathering of rocks and minerals occurs</a:t>
            </a:r>
          </a:p>
          <a:p>
            <a:pPr lvl="1">
              <a:buFont typeface="Arial" panose="020B0604020202020204" pitchFamily="34" charset="0"/>
              <a:buChar char="•"/>
            </a:pPr>
            <a:r>
              <a:rPr lang="en-GB" sz="2400" dirty="0"/>
              <a:t>Describe the classification of soils and their global distribution</a:t>
            </a:r>
            <a:endParaRPr lang="en-GB" sz="2400" dirty="0">
              <a:ea typeface="Calibri"/>
              <a:cs typeface="Calibri"/>
            </a:endParaRPr>
          </a:p>
          <a:p>
            <a:pPr marL="457200" lvl="1" indent="0">
              <a:buNone/>
            </a:pPr>
            <a:endParaRPr lang="en-GB" sz="1400" dirty="0"/>
          </a:p>
          <a:p>
            <a:pPr lvl="1">
              <a:buFont typeface="Arial" panose="020B0604020202020204" pitchFamily="34" charset="0"/>
              <a:buChar char="•"/>
            </a:pPr>
            <a:endParaRPr lang="en-GB" sz="1400" dirty="0"/>
          </a:p>
          <a:p>
            <a:pPr lvl="1">
              <a:buFont typeface="Arial" panose="020B0604020202020204" pitchFamily="34" charset="0"/>
              <a:buChar char="•"/>
            </a:pPr>
            <a:endParaRPr lang="en-GB" sz="1400" dirty="0"/>
          </a:p>
          <a:p>
            <a:endParaRPr lang="en-GB" sz="1400" dirty="0"/>
          </a:p>
        </p:txBody>
      </p:sp>
      <p:sp>
        <p:nvSpPr>
          <p:cNvPr id="5" name="TextBox 4">
            <a:extLst>
              <a:ext uri="{FF2B5EF4-FFF2-40B4-BE49-F238E27FC236}">
                <a16:creationId xmlns:a16="http://schemas.microsoft.com/office/drawing/2014/main" id="{130208E7-10AE-0D4E-B9DC-C02ACFF0855B}"/>
              </a:ext>
            </a:extLst>
          </p:cNvPr>
          <p:cNvSpPr txBox="1"/>
          <p:nvPr/>
        </p:nvSpPr>
        <p:spPr>
          <a:xfrm>
            <a:off x="343712" y="522419"/>
            <a:ext cx="4293548" cy="707886"/>
          </a:xfrm>
          <a:prstGeom prst="rect">
            <a:avLst/>
          </a:prstGeom>
          <a:noFill/>
        </p:spPr>
        <p:txBody>
          <a:bodyPr wrap="none" lIns="91440" tIns="45720" rIns="91440" bIns="45720" rtlCol="0" anchor="t">
            <a:spAutoFit/>
          </a:bodyPr>
          <a:lstStyle/>
          <a:p>
            <a:r>
              <a:rPr lang="en-GB" sz="4000" b="1" dirty="0"/>
              <a:t>Learning Outcomes</a:t>
            </a:r>
          </a:p>
        </p:txBody>
      </p:sp>
      <p:sp>
        <p:nvSpPr>
          <p:cNvPr id="6" name="TextBox 5">
            <a:extLst>
              <a:ext uri="{FF2B5EF4-FFF2-40B4-BE49-F238E27FC236}">
                <a16:creationId xmlns:a16="http://schemas.microsoft.com/office/drawing/2014/main" id="{BB272E4E-9EF4-FF19-3E78-3E7D25E1C521}"/>
              </a:ext>
            </a:extLst>
          </p:cNvPr>
          <p:cNvSpPr txBox="1"/>
          <p:nvPr/>
        </p:nvSpPr>
        <p:spPr>
          <a:xfrm>
            <a:off x="5612004" y="6126982"/>
            <a:ext cx="372291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4444"/>
                </a:solidFill>
                <a:ea typeface="Calibri"/>
                <a:cs typeface="Calibri"/>
              </a:rPr>
              <a:t>​</a:t>
            </a:r>
          </a:p>
          <a:p>
            <a:r>
              <a:rPr lang="en-US">
                <a:solidFill>
                  <a:srgbClr val="444444"/>
                </a:solidFill>
                <a:ea typeface="Calibri"/>
                <a:cs typeface="Calibri"/>
              </a:rPr>
              <a:t>Understanding the Earth p455-464</a:t>
            </a:r>
          </a:p>
        </p:txBody>
      </p:sp>
    </p:spTree>
    <p:extLst>
      <p:ext uri="{BB962C8B-B14F-4D97-AF65-F5344CB8AC3E}">
        <p14:creationId xmlns:p14="http://schemas.microsoft.com/office/powerpoint/2010/main" val="986962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Plant growth</a:t>
            </a:r>
          </a:p>
        </p:txBody>
      </p:sp>
      <p:sp>
        <p:nvSpPr>
          <p:cNvPr id="3" name="Content Placeholder 2"/>
          <p:cNvSpPr>
            <a:spLocks noGrp="1"/>
          </p:cNvSpPr>
          <p:nvPr>
            <p:ph idx="1"/>
          </p:nvPr>
        </p:nvSpPr>
        <p:spPr/>
        <p:txBody>
          <a:bodyPr/>
          <a:lstStyle/>
          <a:p>
            <a:r>
              <a:rPr lang="en-GB" dirty="0"/>
              <a:t>Food supply depends on three types of resources – </a:t>
            </a:r>
            <a:r>
              <a:rPr lang="en-GB" b="1" dirty="0"/>
              <a:t>soils</a:t>
            </a:r>
            <a:r>
              <a:rPr lang="en-GB" dirty="0"/>
              <a:t>, water and fertilizer</a:t>
            </a:r>
          </a:p>
          <a:p>
            <a:endParaRPr lang="en-GB" dirty="0"/>
          </a:p>
        </p:txBody>
      </p:sp>
      <p:pic>
        <p:nvPicPr>
          <p:cNvPr id="1026" name="Picture 2" descr="http://www.hydroponicist.com/pages/images/nutrients-plants-elements.jpg"/>
          <p:cNvPicPr>
            <a:picLocks noChangeAspect="1" noChangeArrowheads="1"/>
          </p:cNvPicPr>
          <p:nvPr/>
        </p:nvPicPr>
        <p:blipFill rotWithShape="1">
          <a:blip r:embed="rId4">
            <a:extLst>
              <a:ext uri="{28A0092B-C50C-407E-A947-70E740481C1C}">
                <a14:useLocalDpi xmlns:a14="http://schemas.microsoft.com/office/drawing/2010/main" val="0"/>
              </a:ext>
            </a:extLst>
          </a:blip>
          <a:srcRect b="33104"/>
          <a:stretch/>
        </p:blipFill>
        <p:spPr bwMode="auto">
          <a:xfrm>
            <a:off x="1643127" y="2987937"/>
            <a:ext cx="5349122" cy="33303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82812" y="3470527"/>
            <a:ext cx="1734642" cy="1200329"/>
          </a:xfrm>
          <a:prstGeom prst="rect">
            <a:avLst/>
          </a:prstGeom>
          <a:solidFill>
            <a:schemeClr val="bg1"/>
          </a:solidFill>
        </p:spPr>
        <p:txBody>
          <a:bodyPr wrap="none" rtlCol="0">
            <a:spAutoFit/>
          </a:bodyPr>
          <a:lstStyle/>
          <a:p>
            <a:r>
              <a:rPr lang="en-GB" b="1" dirty="0"/>
              <a:t>Macro elements</a:t>
            </a:r>
          </a:p>
          <a:p>
            <a:r>
              <a:rPr lang="en-GB" dirty="0"/>
              <a:t>N-Nitrogen</a:t>
            </a:r>
          </a:p>
          <a:p>
            <a:r>
              <a:rPr lang="en-GB" dirty="0"/>
              <a:t>P-Phosphorous</a:t>
            </a:r>
          </a:p>
          <a:p>
            <a:r>
              <a:rPr lang="en-GB" dirty="0"/>
              <a:t>K-Potassium</a:t>
            </a:r>
          </a:p>
        </p:txBody>
      </p:sp>
      <p:sp>
        <p:nvSpPr>
          <p:cNvPr id="6" name="TextBox 5"/>
          <p:cNvSpPr txBox="1"/>
          <p:nvPr/>
        </p:nvSpPr>
        <p:spPr>
          <a:xfrm>
            <a:off x="1259632" y="5354703"/>
            <a:ext cx="2115644" cy="1477328"/>
          </a:xfrm>
          <a:prstGeom prst="rect">
            <a:avLst/>
          </a:prstGeom>
          <a:solidFill>
            <a:schemeClr val="bg1"/>
          </a:solidFill>
        </p:spPr>
        <p:txBody>
          <a:bodyPr wrap="none" rtlCol="0">
            <a:spAutoFit/>
          </a:bodyPr>
          <a:lstStyle/>
          <a:p>
            <a:r>
              <a:rPr lang="en-GB" b="1" dirty="0"/>
              <a:t>Secondary elements</a:t>
            </a:r>
          </a:p>
          <a:p>
            <a:r>
              <a:rPr lang="en-GB" dirty="0"/>
              <a:t>Ca-Calcium</a:t>
            </a:r>
          </a:p>
          <a:p>
            <a:r>
              <a:rPr lang="en-GB" dirty="0"/>
              <a:t>Mg-Magnesium</a:t>
            </a:r>
          </a:p>
          <a:p>
            <a:r>
              <a:rPr lang="en-GB" dirty="0"/>
              <a:t>S-Sulphur</a:t>
            </a:r>
          </a:p>
          <a:p>
            <a:endParaRPr lang="en-GB" dirty="0"/>
          </a:p>
        </p:txBody>
      </p:sp>
      <p:sp>
        <p:nvSpPr>
          <p:cNvPr id="5" name="TextBox 4"/>
          <p:cNvSpPr txBox="1"/>
          <p:nvPr/>
        </p:nvSpPr>
        <p:spPr>
          <a:xfrm>
            <a:off x="6444208" y="3637473"/>
            <a:ext cx="1837362" cy="2031325"/>
          </a:xfrm>
          <a:prstGeom prst="rect">
            <a:avLst/>
          </a:prstGeom>
          <a:noFill/>
        </p:spPr>
        <p:txBody>
          <a:bodyPr wrap="none" rtlCol="0">
            <a:spAutoFit/>
          </a:bodyPr>
          <a:lstStyle/>
          <a:p>
            <a:r>
              <a:rPr lang="en-GB" b="1" dirty="0"/>
              <a:t>Micronutrients</a:t>
            </a:r>
          </a:p>
          <a:p>
            <a:r>
              <a:rPr lang="en-GB" dirty="0"/>
              <a:t>Fe-Iron</a:t>
            </a:r>
          </a:p>
          <a:p>
            <a:r>
              <a:rPr lang="en-GB" dirty="0"/>
              <a:t>B-Boron</a:t>
            </a:r>
          </a:p>
          <a:p>
            <a:r>
              <a:rPr lang="en-GB" dirty="0"/>
              <a:t>Zn-Zinc</a:t>
            </a:r>
          </a:p>
          <a:p>
            <a:r>
              <a:rPr lang="en-GB" dirty="0"/>
              <a:t>Cu-Copper</a:t>
            </a:r>
          </a:p>
          <a:p>
            <a:r>
              <a:rPr lang="en-GB" dirty="0" err="1"/>
              <a:t>Mn</a:t>
            </a:r>
            <a:r>
              <a:rPr lang="en-GB" dirty="0"/>
              <a:t>-Manganese</a:t>
            </a:r>
          </a:p>
          <a:p>
            <a:r>
              <a:rPr lang="en-GB" dirty="0"/>
              <a:t>Mo-Molybdenum</a:t>
            </a:r>
          </a:p>
        </p:txBody>
      </p:sp>
    </p:spTree>
    <p:custDataLst>
      <p:tags r:id="rId1"/>
    </p:custDataLst>
    <p:extLst>
      <p:ext uri="{BB962C8B-B14F-4D97-AF65-F5344CB8AC3E}">
        <p14:creationId xmlns:p14="http://schemas.microsoft.com/office/powerpoint/2010/main" val="219261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4365625"/>
            <a:ext cx="2571750"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365625"/>
            <a:ext cx="25146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425" y="4365625"/>
            <a:ext cx="24765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4" name="Picture 2" descr="http://www.physicalgeography.net/fundamentals/images/soil_breakdown.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8176" y="1628800"/>
            <a:ext cx="5056016" cy="27368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29809" y="474990"/>
            <a:ext cx="3682752" cy="4525963"/>
          </a:xfrm>
        </p:spPr>
        <p:txBody>
          <a:bodyPr>
            <a:normAutofit/>
          </a:bodyPr>
          <a:lstStyle/>
          <a:p>
            <a:pPr marL="0" indent="0">
              <a:buNone/>
            </a:pPr>
            <a:r>
              <a:rPr lang="en-GB" dirty="0"/>
              <a:t>Most of the land surface is covered by a continuous layer of soil (&lt;2 m thick)</a:t>
            </a:r>
          </a:p>
        </p:txBody>
      </p:sp>
    </p:spTree>
    <p:custDataLst>
      <p:tags r:id="rId1"/>
    </p:custDataLst>
    <p:extLst>
      <p:ext uri="{BB962C8B-B14F-4D97-AF65-F5344CB8AC3E}">
        <p14:creationId xmlns:p14="http://schemas.microsoft.com/office/powerpoint/2010/main" val="3470233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Soil formation</a:t>
            </a:r>
          </a:p>
        </p:txBody>
      </p:sp>
      <p:sp>
        <p:nvSpPr>
          <p:cNvPr id="3" name="Content Placeholder 2"/>
          <p:cNvSpPr>
            <a:spLocks noGrp="1"/>
          </p:cNvSpPr>
          <p:nvPr>
            <p:ph idx="1"/>
          </p:nvPr>
        </p:nvSpPr>
        <p:spPr>
          <a:xfrm>
            <a:off x="474046" y="1166018"/>
            <a:ext cx="4330824" cy="4525963"/>
          </a:xfrm>
        </p:spPr>
        <p:txBody>
          <a:bodyPr>
            <a:normAutofit/>
          </a:bodyPr>
          <a:lstStyle/>
          <a:p>
            <a:pPr marL="0" indent="0">
              <a:buNone/>
            </a:pPr>
            <a:r>
              <a:rPr lang="en-GB" dirty="0"/>
              <a:t>Six major factors</a:t>
            </a:r>
          </a:p>
          <a:p>
            <a:pPr lvl="1">
              <a:buFont typeface="Arial" panose="020B0604020202020204" pitchFamily="34" charset="0"/>
              <a:buChar char="•"/>
            </a:pPr>
            <a:r>
              <a:rPr lang="en-GB" dirty="0"/>
              <a:t>Parent material </a:t>
            </a:r>
          </a:p>
          <a:p>
            <a:pPr lvl="1">
              <a:buFont typeface="Arial" panose="020B0604020202020204" pitchFamily="34" charset="0"/>
              <a:buChar char="•"/>
            </a:pPr>
            <a:r>
              <a:rPr lang="en-GB" dirty="0"/>
              <a:t>Climate</a:t>
            </a:r>
          </a:p>
          <a:p>
            <a:pPr lvl="1">
              <a:buFont typeface="Arial" panose="020B0604020202020204" pitchFamily="34" charset="0"/>
              <a:buChar char="•"/>
            </a:pPr>
            <a:r>
              <a:rPr lang="en-GB" dirty="0"/>
              <a:t>Vegetation</a:t>
            </a:r>
          </a:p>
          <a:p>
            <a:pPr lvl="1">
              <a:buFont typeface="Arial" panose="020B0604020202020204" pitchFamily="34" charset="0"/>
              <a:buChar char="•"/>
            </a:pPr>
            <a:r>
              <a:rPr lang="en-GB" dirty="0"/>
              <a:t>Organisms</a:t>
            </a:r>
          </a:p>
          <a:p>
            <a:pPr lvl="1">
              <a:buFont typeface="Arial" panose="020B0604020202020204" pitchFamily="34" charset="0"/>
              <a:buChar char="•"/>
            </a:pPr>
            <a:r>
              <a:rPr lang="en-GB" dirty="0"/>
              <a:t>Topography</a:t>
            </a:r>
          </a:p>
          <a:p>
            <a:pPr lvl="1">
              <a:buFont typeface="Arial" panose="020B0604020202020204" pitchFamily="34" charset="0"/>
              <a:buChar char="•"/>
            </a:pPr>
            <a:r>
              <a:rPr lang="en-GB" dirty="0"/>
              <a:t>Time </a:t>
            </a:r>
          </a:p>
        </p:txBody>
      </p:sp>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5550" y="1029512"/>
            <a:ext cx="28384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7777" y="2767422"/>
            <a:ext cx="3163905" cy="21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253" y="5030787"/>
            <a:ext cx="30575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7988" y="3789040"/>
            <a:ext cx="21812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990271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229600" cy="1143000"/>
          </a:xfrm>
        </p:spPr>
        <p:txBody>
          <a:bodyPr/>
          <a:lstStyle/>
          <a:p>
            <a:pPr algn="l"/>
            <a:r>
              <a:rPr lang="en-GB" i="1"/>
              <a:t>Minerals recap</a:t>
            </a:r>
            <a:endParaRPr lang="en-GB" i="1" dirty="0"/>
          </a:p>
        </p:txBody>
      </p:sp>
      <p:sp>
        <p:nvSpPr>
          <p:cNvPr id="3" name="Content Placeholder 2"/>
          <p:cNvSpPr>
            <a:spLocks noGrp="1"/>
          </p:cNvSpPr>
          <p:nvPr>
            <p:ph idx="1"/>
          </p:nvPr>
        </p:nvSpPr>
        <p:spPr>
          <a:xfrm>
            <a:off x="178653" y="1118737"/>
            <a:ext cx="8775012" cy="1810342"/>
          </a:xfrm>
        </p:spPr>
        <p:txBody>
          <a:bodyPr vert="horz" lIns="91440" tIns="45720" rIns="91440" bIns="45720" rtlCol="0" anchor="t">
            <a:normAutofit fontScale="77500" lnSpcReduction="20000"/>
          </a:bodyPr>
          <a:lstStyle/>
          <a:p>
            <a:r>
              <a:rPr lang="en-GB" dirty="0"/>
              <a:t>Minerals are the building blocks of rocks</a:t>
            </a:r>
          </a:p>
          <a:p>
            <a:r>
              <a:rPr lang="en-GB" dirty="0"/>
              <a:t>Defined as a naturally occurring, solid, crystalline substance</a:t>
            </a:r>
            <a:endParaRPr lang="en-GB" dirty="0">
              <a:ea typeface="Calibri"/>
              <a:cs typeface="Calibri"/>
            </a:endParaRPr>
          </a:p>
          <a:p>
            <a:r>
              <a:rPr lang="en-GB" dirty="0"/>
              <a:t>Form from crystallisation from fluids (magma or water) or changes in heat or pressure acting on existing minerals</a:t>
            </a:r>
          </a:p>
        </p:txBody>
      </p:sp>
      <p:pic>
        <p:nvPicPr>
          <p:cNvPr id="4" name="Picture 3"/>
          <p:cNvPicPr>
            <a:picLocks noChangeAspect="1"/>
          </p:cNvPicPr>
          <p:nvPr/>
        </p:nvPicPr>
        <p:blipFill>
          <a:blip r:embed="rId3"/>
          <a:stretch>
            <a:fillRect/>
          </a:stretch>
        </p:blipFill>
        <p:spPr>
          <a:xfrm>
            <a:off x="345500" y="3124428"/>
            <a:ext cx="2608115" cy="2808312"/>
          </a:xfrm>
          <a:prstGeom prst="rect">
            <a:avLst/>
          </a:prstGeom>
        </p:spPr>
      </p:pic>
      <p:sp>
        <p:nvSpPr>
          <p:cNvPr id="6" name="TextBox 5"/>
          <p:cNvSpPr txBox="1"/>
          <p:nvPr/>
        </p:nvSpPr>
        <p:spPr>
          <a:xfrm>
            <a:off x="181891" y="5924889"/>
            <a:ext cx="5518327" cy="461665"/>
          </a:xfrm>
          <a:prstGeom prst="rect">
            <a:avLst/>
          </a:prstGeom>
          <a:noFill/>
        </p:spPr>
        <p:txBody>
          <a:bodyPr wrap="square" rtlCol="0">
            <a:spAutoFit/>
          </a:bodyPr>
          <a:lstStyle/>
          <a:p>
            <a:r>
              <a:rPr lang="en-GB" sz="2400" dirty="0"/>
              <a:t>Olivine (</a:t>
            </a:r>
            <a:r>
              <a:rPr lang="en-GB" sz="2400" dirty="0" err="1"/>
              <a:t>Mg,Fe</a:t>
            </a:r>
            <a:r>
              <a:rPr lang="en-GB" sz="2400" dirty="0"/>
              <a:t>)</a:t>
            </a:r>
            <a:r>
              <a:rPr lang="en-GB" sz="2400" baseline="-25000" dirty="0"/>
              <a:t>2</a:t>
            </a:r>
            <a:r>
              <a:rPr lang="en-GB" sz="2400" dirty="0"/>
              <a:t>SiO</a:t>
            </a:r>
            <a:r>
              <a:rPr lang="en-GB" sz="2400" baseline="-25000" dirty="0"/>
              <a:t>4</a:t>
            </a:r>
          </a:p>
        </p:txBody>
      </p:sp>
      <p:sp>
        <p:nvSpPr>
          <p:cNvPr id="5" name="TextBox 4">
            <a:extLst>
              <a:ext uri="{FF2B5EF4-FFF2-40B4-BE49-F238E27FC236}">
                <a16:creationId xmlns:a16="http://schemas.microsoft.com/office/drawing/2014/main" id="{B22A4AD1-85D7-6035-BB43-BC745F44DEE2}"/>
              </a:ext>
            </a:extLst>
          </p:cNvPr>
          <p:cNvSpPr txBox="1"/>
          <p:nvPr/>
        </p:nvSpPr>
        <p:spPr>
          <a:xfrm>
            <a:off x="5335676" y="6491235"/>
            <a:ext cx="50920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Recap: Understanding the Earth p55+</a:t>
            </a:r>
          </a:p>
        </p:txBody>
      </p:sp>
      <p:pic>
        <p:nvPicPr>
          <p:cNvPr id="8" name="Picture 7" descr="A table with text on it&#10;&#10;AI-generated content may be incorrect.">
            <a:extLst>
              <a:ext uri="{FF2B5EF4-FFF2-40B4-BE49-F238E27FC236}">
                <a16:creationId xmlns:a16="http://schemas.microsoft.com/office/drawing/2014/main" id="{CB1FC2EE-1412-453B-A184-24471415520C}"/>
              </a:ext>
            </a:extLst>
          </p:cNvPr>
          <p:cNvPicPr>
            <a:picLocks noChangeAspect="1"/>
          </p:cNvPicPr>
          <p:nvPr/>
        </p:nvPicPr>
        <p:blipFill>
          <a:blip r:embed="rId4"/>
          <a:stretch>
            <a:fillRect/>
          </a:stretch>
        </p:blipFill>
        <p:spPr>
          <a:xfrm>
            <a:off x="3921212" y="2721691"/>
            <a:ext cx="4567290" cy="3625257"/>
          </a:xfrm>
          <a:prstGeom prst="rect">
            <a:avLst/>
          </a:prstGeom>
        </p:spPr>
      </p:pic>
    </p:spTree>
    <p:extLst>
      <p:ext uri="{BB962C8B-B14F-4D97-AF65-F5344CB8AC3E}">
        <p14:creationId xmlns:p14="http://schemas.microsoft.com/office/powerpoint/2010/main" val="825485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Physical weathering</a:t>
            </a:r>
          </a:p>
        </p:txBody>
      </p:sp>
      <p:sp>
        <p:nvSpPr>
          <p:cNvPr id="3" name="Content Placeholder 2"/>
          <p:cNvSpPr>
            <a:spLocks noGrp="1"/>
          </p:cNvSpPr>
          <p:nvPr>
            <p:ph idx="1"/>
          </p:nvPr>
        </p:nvSpPr>
        <p:spPr>
          <a:xfrm>
            <a:off x="155575" y="1362324"/>
            <a:ext cx="5615863" cy="4525963"/>
          </a:xfrm>
        </p:spPr>
        <p:txBody>
          <a:bodyPr vert="horz" lIns="91440" tIns="45720" rIns="91440" bIns="45720" rtlCol="0" anchor="t">
            <a:normAutofit/>
          </a:bodyPr>
          <a:lstStyle/>
          <a:p>
            <a:pPr lvl="1">
              <a:buFont typeface="Arial" panose="020B0604020202020204" pitchFamily="34" charset="0"/>
              <a:buChar char="•"/>
            </a:pPr>
            <a:r>
              <a:rPr lang="en-GB" dirty="0"/>
              <a:t>mechanical breakdown of rocks by frost, water and wind</a:t>
            </a:r>
          </a:p>
          <a:p>
            <a:pPr lvl="1">
              <a:buFont typeface="Arial" panose="020B0604020202020204" pitchFamily="34" charset="0"/>
              <a:buChar char="•"/>
            </a:pPr>
            <a:r>
              <a:rPr lang="en-GB" dirty="0"/>
              <a:t>Differential expansion and contraction during rapid heating and cooling</a:t>
            </a:r>
          </a:p>
          <a:p>
            <a:pPr lvl="1">
              <a:buChar char="•"/>
            </a:pPr>
            <a:endParaRPr lang="en-GB" dirty="0">
              <a:ea typeface="Calibri"/>
              <a:cs typeface="Calibri"/>
            </a:endParaRPr>
          </a:p>
          <a:p>
            <a:pPr marL="0" indent="0">
              <a:buNone/>
            </a:pPr>
            <a:endParaRPr lang="en-GB" dirty="0">
              <a:ea typeface="Calibri"/>
              <a:cs typeface="Calibri"/>
            </a:endParaRPr>
          </a:p>
        </p:txBody>
      </p:sp>
      <p:pic>
        <p:nvPicPr>
          <p:cNvPr id="21506" name="Picture 2" descr="http://www.regentsprep.org/Regents/earthsci/units/weathering/frostwedging.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4563434"/>
            <a:ext cx="3134444" cy="2202583"/>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https://encrypted-tbn2.gstatic.com/images?q=tbn:ANd9GcRo3i_zK8B8hXV6k5u7UJlubEb5XSyou4QQWlzr62BtHhEXUaiEqp9obo4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3063" y="3801433"/>
            <a:ext cx="2750485" cy="2075839"/>
          </a:xfrm>
          <a:prstGeom prst="rect">
            <a:avLst/>
          </a:prstGeom>
          <a:noFill/>
          <a:extLst>
            <a:ext uri="{909E8E84-426E-40DD-AFC4-6F175D3DCCD1}">
              <a14:hiddenFill xmlns:a14="http://schemas.microsoft.com/office/drawing/2010/main">
                <a:solidFill>
                  <a:srgbClr val="FFFFFF"/>
                </a:solidFill>
              </a14:hiddenFill>
            </a:ext>
          </a:extLst>
        </p:spPr>
      </p:pic>
      <p:pic>
        <p:nvPicPr>
          <p:cNvPr id="21512" name="Picture 8" descr="http://www.kidsgeo.com/images/mechanical-weathering.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880" y="4839352"/>
            <a:ext cx="3024336" cy="1890210"/>
          </a:xfrm>
          <a:prstGeom prst="rect">
            <a:avLst/>
          </a:prstGeom>
          <a:noFill/>
          <a:extLst>
            <a:ext uri="{909E8E84-426E-40DD-AFC4-6F175D3DCCD1}">
              <a14:hiddenFill xmlns:a14="http://schemas.microsoft.com/office/drawing/2010/main">
                <a:solidFill>
                  <a:srgbClr val="FFFFFF"/>
                </a:solidFill>
              </a14:hiddenFill>
            </a:ext>
          </a:extLst>
        </p:spPr>
      </p:pic>
      <p:pic>
        <p:nvPicPr>
          <p:cNvPr id="21514" name="Picture 10" descr="http://schools.bcsd.com/fremont/Graphics/Science/Earth%20Changes/plant-in-rock.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2845" y="1484784"/>
            <a:ext cx="2736304" cy="202342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6581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Chemical weathering</a:t>
            </a:r>
          </a:p>
        </p:txBody>
      </p:sp>
      <p:sp>
        <p:nvSpPr>
          <p:cNvPr id="3" name="Content Placeholder 2"/>
          <p:cNvSpPr>
            <a:spLocks noGrp="1"/>
          </p:cNvSpPr>
          <p:nvPr>
            <p:ph idx="1"/>
          </p:nvPr>
        </p:nvSpPr>
        <p:spPr>
          <a:xfrm>
            <a:off x="457200" y="1600200"/>
            <a:ext cx="8229600" cy="5141168"/>
          </a:xfrm>
        </p:spPr>
        <p:txBody>
          <a:bodyPr>
            <a:normAutofit fontScale="92500" lnSpcReduction="20000"/>
          </a:bodyPr>
          <a:lstStyle/>
          <a:p>
            <a:r>
              <a:rPr lang="en-GB" dirty="0"/>
              <a:t>Breakdown of </a:t>
            </a:r>
            <a:r>
              <a:rPr lang="en-GB" dirty="0">
                <a:solidFill>
                  <a:srgbClr val="FF0000"/>
                </a:solidFill>
              </a:rPr>
              <a:t>primary</a:t>
            </a:r>
            <a:r>
              <a:rPr lang="en-GB" dirty="0"/>
              <a:t> minerals in the rock and formation of new </a:t>
            </a:r>
            <a:r>
              <a:rPr lang="en-GB" dirty="0">
                <a:solidFill>
                  <a:srgbClr val="FF0000"/>
                </a:solidFill>
              </a:rPr>
              <a:t>secondary</a:t>
            </a:r>
            <a:r>
              <a:rPr lang="en-GB" dirty="0"/>
              <a:t> minerals</a:t>
            </a:r>
          </a:p>
          <a:p>
            <a:r>
              <a:rPr lang="en-GB" dirty="0"/>
              <a:t>Water = essential agent</a:t>
            </a:r>
          </a:p>
          <a:p>
            <a:pPr lvl="1"/>
            <a:r>
              <a:rPr lang="en-GB" dirty="0"/>
              <a:t>Reacts with minerals</a:t>
            </a:r>
          </a:p>
          <a:p>
            <a:pPr lvl="1"/>
            <a:r>
              <a:rPr lang="en-GB" dirty="0"/>
              <a:t>Transports dissolved species e.g. CO</a:t>
            </a:r>
            <a:r>
              <a:rPr lang="en-GB" baseline="-25000" dirty="0"/>
              <a:t>2</a:t>
            </a:r>
            <a:r>
              <a:rPr lang="en-GB" dirty="0"/>
              <a:t> that can react</a:t>
            </a:r>
          </a:p>
          <a:p>
            <a:r>
              <a:rPr lang="en-GB" dirty="0"/>
              <a:t>Many different reactions including:</a:t>
            </a:r>
          </a:p>
          <a:p>
            <a:pPr lvl="1"/>
            <a:r>
              <a:rPr lang="en-GB" dirty="0"/>
              <a:t>Hydrolysis</a:t>
            </a:r>
          </a:p>
          <a:p>
            <a:pPr lvl="1"/>
            <a:r>
              <a:rPr lang="en-GB" dirty="0"/>
              <a:t>Hydration</a:t>
            </a:r>
          </a:p>
          <a:p>
            <a:pPr lvl="1"/>
            <a:r>
              <a:rPr lang="en-GB" dirty="0"/>
              <a:t>Carbonation</a:t>
            </a:r>
          </a:p>
          <a:p>
            <a:pPr lvl="1"/>
            <a:r>
              <a:rPr lang="en-GB" dirty="0"/>
              <a:t>Oxidation</a:t>
            </a:r>
          </a:p>
          <a:p>
            <a:pPr lvl="1"/>
            <a:r>
              <a:rPr lang="en-GB" dirty="0"/>
              <a:t>Ion exchange</a:t>
            </a:r>
          </a:p>
          <a:p>
            <a:pPr lvl="1"/>
            <a:r>
              <a:rPr lang="en-GB" dirty="0"/>
              <a:t>Chelation</a:t>
            </a:r>
          </a:p>
          <a:p>
            <a:endParaRPr lang="en-GB" dirty="0"/>
          </a:p>
          <a:p>
            <a:endParaRPr lang="en-GB" dirty="0"/>
          </a:p>
        </p:txBody>
      </p:sp>
      <p:pic>
        <p:nvPicPr>
          <p:cNvPr id="22530" name="Picture 2" descr="http://www.marlimillerphoto.com/images/CE-0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4433377"/>
            <a:ext cx="3312368" cy="222802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80262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395536" y="2564904"/>
                <a:ext cx="720049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a:rPr>
                        <m:t>𝐹𝑒</m:t>
                      </m:r>
                      <m:r>
                        <a:rPr lang="en-GB" sz="2400" b="0" i="1" baseline="-25000" smtClean="0">
                          <a:latin typeface="Cambria Math"/>
                        </a:rPr>
                        <m:t>2</m:t>
                      </m:r>
                      <m:r>
                        <a:rPr lang="en-GB" sz="2400" b="0" i="1" smtClean="0">
                          <a:latin typeface="Cambria Math"/>
                        </a:rPr>
                        <m:t>𝑆𝑖𝑂</m:t>
                      </m:r>
                      <m:r>
                        <a:rPr lang="en-GB" sz="2400" b="0" i="1" baseline="-25000" smtClean="0">
                          <a:latin typeface="Cambria Math"/>
                        </a:rPr>
                        <m:t>4</m:t>
                      </m:r>
                      <m:r>
                        <a:rPr lang="en-GB" sz="2400" b="0" i="1" smtClean="0">
                          <a:latin typeface="Cambria Math"/>
                        </a:rPr>
                        <m:t>+4</m:t>
                      </m:r>
                      <m:r>
                        <a:rPr lang="en-GB" sz="2400" b="0" i="1" smtClean="0">
                          <a:latin typeface="Cambria Math"/>
                        </a:rPr>
                        <m:t>𝐻</m:t>
                      </m:r>
                      <m:r>
                        <a:rPr lang="en-GB" sz="2400" b="0" i="1" baseline="30000" smtClean="0">
                          <a:latin typeface="Cambria Math"/>
                        </a:rPr>
                        <m:t>+</m:t>
                      </m:r>
                      <m:r>
                        <a:rPr lang="en-GB" sz="2400" b="0" i="1" smtClean="0">
                          <a:latin typeface="Cambria Math"/>
                        </a:rPr>
                        <m:t>+ 4</m:t>
                      </m:r>
                      <m:r>
                        <a:rPr lang="en-GB" sz="2400" b="0" i="1" smtClean="0">
                          <a:latin typeface="Cambria Math"/>
                        </a:rPr>
                        <m:t>𝑂𝐻</m:t>
                      </m:r>
                      <m:r>
                        <a:rPr lang="en-GB" sz="2400" b="0" i="1" baseline="30000" smtClean="0">
                          <a:latin typeface="Cambria Math"/>
                        </a:rPr>
                        <m:t>−</m:t>
                      </m:r>
                      <m:r>
                        <a:rPr lang="en-GB" sz="2400" b="0" i="1" smtClean="0">
                          <a:latin typeface="Cambria Math"/>
                        </a:rPr>
                        <m:t> </m:t>
                      </m:r>
                      <m:r>
                        <a:rPr lang="en-GB" sz="2400" b="0" i="1" smtClean="0">
                          <a:latin typeface="Cambria Math"/>
                          <a:ea typeface="Cambria Math"/>
                        </a:rPr>
                        <m:t>→2</m:t>
                      </m:r>
                      <m:r>
                        <a:rPr lang="en-GB" sz="2400" b="0" i="1" smtClean="0">
                          <a:latin typeface="Cambria Math"/>
                          <a:ea typeface="Cambria Math"/>
                        </a:rPr>
                        <m:t>𝐹𝑒</m:t>
                      </m:r>
                      <m:r>
                        <a:rPr lang="en-GB" sz="2400" b="0" i="1" baseline="30000" smtClean="0">
                          <a:latin typeface="Cambria Math"/>
                          <a:ea typeface="Cambria Math"/>
                        </a:rPr>
                        <m:t>2+ </m:t>
                      </m:r>
                      <m:r>
                        <a:rPr lang="en-GB" sz="2400" b="0" i="1" smtClean="0">
                          <a:latin typeface="Cambria Math"/>
                          <a:ea typeface="Cambria Math"/>
                        </a:rPr>
                        <m:t>+4</m:t>
                      </m:r>
                      <m:r>
                        <a:rPr lang="en-GB" sz="2400" b="0" i="1" smtClean="0">
                          <a:latin typeface="Cambria Math"/>
                          <a:ea typeface="Cambria Math"/>
                        </a:rPr>
                        <m:t>𝑂𝐻</m:t>
                      </m:r>
                      <m:r>
                        <a:rPr lang="en-GB" sz="2400" b="0" i="1" baseline="30000" smtClean="0">
                          <a:latin typeface="Cambria Math"/>
                          <a:ea typeface="Cambria Math"/>
                        </a:rPr>
                        <m:t>−</m:t>
                      </m:r>
                      <m:r>
                        <a:rPr lang="en-GB" sz="2400" b="0" i="1" smtClean="0">
                          <a:latin typeface="Cambria Math"/>
                          <a:ea typeface="Cambria Math"/>
                        </a:rPr>
                        <m:t> +</m:t>
                      </m:r>
                      <m:r>
                        <a:rPr lang="en-GB" sz="2400" b="0" i="1" smtClean="0">
                          <a:latin typeface="Cambria Math"/>
                          <a:ea typeface="Cambria Math"/>
                        </a:rPr>
                        <m:t>𝐻</m:t>
                      </m:r>
                      <m:r>
                        <a:rPr lang="en-GB" sz="2400" b="0" i="1" baseline="-25000" smtClean="0">
                          <a:latin typeface="Cambria Math"/>
                          <a:ea typeface="Cambria Math"/>
                        </a:rPr>
                        <m:t>4</m:t>
                      </m:r>
                      <m:r>
                        <a:rPr lang="en-GB" sz="2400" b="0" i="1" smtClean="0">
                          <a:latin typeface="Cambria Math"/>
                          <a:ea typeface="Cambria Math"/>
                        </a:rPr>
                        <m:t>𝑆𝑖𝑂</m:t>
                      </m:r>
                      <m:r>
                        <a:rPr lang="en-GB" sz="2400" b="0" i="1" baseline="-25000" smtClean="0">
                          <a:latin typeface="Cambria Math"/>
                          <a:ea typeface="Cambria Math"/>
                        </a:rPr>
                        <m:t>4</m:t>
                      </m:r>
                      <m:r>
                        <a:rPr lang="en-GB" sz="2400" b="0" i="1" smtClean="0">
                          <a:latin typeface="Cambria Math"/>
                        </a:rPr>
                        <m:t> </m:t>
                      </m:r>
                    </m:oMath>
                  </m:oMathPara>
                </a14:m>
                <a:endParaRPr lang="en-GB"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395536" y="2564904"/>
                <a:ext cx="7200497" cy="461665"/>
              </a:xfrm>
              <a:prstGeom prst="rect">
                <a:avLst/>
              </a:prstGeom>
              <a:blipFill>
                <a:blip r:embed="rId6"/>
                <a:stretch>
                  <a:fillRect b="-4000"/>
                </a:stretch>
              </a:blipFill>
            </p:spPr>
            <p:txBody>
              <a:bodyPr/>
              <a:lstStyle/>
              <a:p>
                <a:r>
                  <a:rPr lang="en-GB">
                    <a:noFill/>
                  </a:rPr>
                  <a:t> </a:t>
                </a:r>
              </a:p>
            </p:txBody>
          </p:sp>
        </mc:Fallback>
      </mc:AlternateContent>
      <p:sp>
        <p:nvSpPr>
          <p:cNvPr id="5" name="TextBox 4"/>
          <p:cNvSpPr txBox="1"/>
          <p:nvPr/>
        </p:nvSpPr>
        <p:spPr>
          <a:xfrm>
            <a:off x="395537" y="447835"/>
            <a:ext cx="8568952" cy="1569660"/>
          </a:xfrm>
          <a:prstGeom prst="rect">
            <a:avLst/>
          </a:prstGeom>
          <a:noFill/>
        </p:spPr>
        <p:txBody>
          <a:bodyPr wrap="square" rtlCol="0">
            <a:spAutoFit/>
          </a:bodyPr>
          <a:lstStyle/>
          <a:p>
            <a:r>
              <a:rPr lang="en-GB" sz="2400" dirty="0">
                <a:solidFill>
                  <a:srgbClr val="FF0000"/>
                </a:solidFill>
              </a:rPr>
              <a:t>Hydrolysis</a:t>
            </a:r>
          </a:p>
          <a:p>
            <a:endParaRPr lang="en-GB" sz="2400" dirty="0"/>
          </a:p>
          <a:p>
            <a:r>
              <a:rPr lang="en-GB" sz="2400" dirty="0"/>
              <a:t>A reaction with water that decomposes minerals, is common in the major rock-forming silicate minerals:</a:t>
            </a:r>
          </a:p>
        </p:txBody>
      </p:sp>
      <mc:AlternateContent xmlns:mc="http://schemas.openxmlformats.org/markup-compatibility/2006" xmlns:a14="http://schemas.microsoft.com/office/drawing/2010/main">
        <mc:Choice Requires="a14">
          <p:sp>
            <p:nvSpPr>
              <p:cNvPr id="6" name="TextBox 5"/>
              <p:cNvSpPr txBox="1"/>
              <p:nvPr/>
            </p:nvSpPr>
            <p:spPr>
              <a:xfrm>
                <a:off x="395536" y="3534107"/>
                <a:ext cx="7175811" cy="830997"/>
              </a:xfrm>
              <a:prstGeom prst="rect">
                <a:avLst/>
              </a:prstGeom>
              <a:noFill/>
            </p:spPr>
            <p:txBody>
              <a:bodyPr wrap="none" rtlCol="0">
                <a:spAutoFit/>
              </a:bodyPr>
              <a:lstStyle/>
              <a:p>
                <a:r>
                  <a:rPr lang="en-GB" sz="2400" dirty="0"/>
                  <a:t>Olivine + 4 ionised water molecules </a:t>
                </a:r>
                <a:endParaRPr lang="en-GB" sz="2400" i="1" dirty="0">
                  <a:latin typeface="Cambria Math"/>
                  <a:ea typeface="Cambria Math"/>
                </a:endParaRPr>
              </a:p>
              <a:p>
                <a14:m>
                  <m:oMath xmlns:m="http://schemas.openxmlformats.org/officeDocument/2006/math">
                    <m:r>
                      <a:rPr lang="en-GB" sz="2400" i="1">
                        <a:latin typeface="Cambria Math"/>
                        <a:ea typeface="Cambria Math"/>
                      </a:rPr>
                      <m:t>→</m:t>
                    </m:r>
                  </m:oMath>
                </a14:m>
                <a:r>
                  <a:rPr lang="en-GB" sz="2400" dirty="0"/>
                  <a:t> iron and hydroxyl in solution + silicic acid in solution    </a:t>
                </a:r>
              </a:p>
            </p:txBody>
          </p:sp>
        </mc:Choice>
        <mc:Fallback xmlns="">
          <p:sp>
            <p:nvSpPr>
              <p:cNvPr id="6" name="TextBox 5"/>
              <p:cNvSpPr txBox="1">
                <a:spLocks noRot="1" noChangeAspect="1" noMove="1" noResize="1" noEditPoints="1" noAdjustHandles="1" noChangeArrowheads="1" noChangeShapeType="1" noTextEdit="1"/>
              </p:cNvSpPr>
              <p:nvPr/>
            </p:nvSpPr>
            <p:spPr>
              <a:xfrm>
                <a:off x="395536" y="3534107"/>
                <a:ext cx="7175811" cy="830997"/>
              </a:xfrm>
              <a:prstGeom prst="rect">
                <a:avLst/>
              </a:prstGeom>
              <a:blipFill>
                <a:blip r:embed="rId7"/>
                <a:stretch>
                  <a:fillRect l="-1359" t="-5882" r="-1274" b="-16176"/>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28B21AAE-DEE9-4913-B2E5-6C2090462E9F}"/>
              </a:ext>
            </a:extLst>
          </p:cNvPr>
          <p:cNvPicPr>
            <a:picLocks noChangeAspect="1"/>
          </p:cNvPicPr>
          <p:nvPr/>
        </p:nvPicPr>
        <p:blipFill>
          <a:blip r:embed="rId8"/>
          <a:stretch>
            <a:fillRect/>
          </a:stretch>
        </p:blipFill>
        <p:spPr>
          <a:xfrm>
            <a:off x="2818696" y="4447400"/>
            <a:ext cx="3153937" cy="2254572"/>
          </a:xfrm>
          <a:prstGeom prst="rect">
            <a:avLst/>
          </a:prstGeom>
        </p:spPr>
      </p:pic>
    </p:spTree>
    <p:custDataLst>
      <p:tags r:id="rId1"/>
    </p:custDataLst>
    <p:extLst>
      <p:ext uri="{BB962C8B-B14F-4D97-AF65-F5344CB8AC3E}">
        <p14:creationId xmlns:p14="http://schemas.microsoft.com/office/powerpoint/2010/main" val="1492908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7524" y="387513"/>
            <a:ext cx="8568952" cy="1569660"/>
          </a:xfrm>
          <a:prstGeom prst="rect">
            <a:avLst/>
          </a:prstGeom>
          <a:noFill/>
        </p:spPr>
        <p:txBody>
          <a:bodyPr wrap="square" rtlCol="0">
            <a:spAutoFit/>
          </a:bodyPr>
          <a:lstStyle/>
          <a:p>
            <a:r>
              <a:rPr lang="en-GB" sz="2400" dirty="0">
                <a:solidFill>
                  <a:srgbClr val="FF0000"/>
                </a:solidFill>
              </a:rPr>
              <a:t>Hydration</a:t>
            </a:r>
          </a:p>
          <a:p>
            <a:endParaRPr lang="en-GB" sz="2400" dirty="0">
              <a:solidFill>
                <a:srgbClr val="FF0000"/>
              </a:solidFill>
            </a:endParaRPr>
          </a:p>
          <a:p>
            <a:r>
              <a:rPr lang="en-GB" sz="2400" dirty="0"/>
              <a:t>Addition of water molecules to a mineral structure. Common in clay minerals, causes minerals to swell and fall apart</a:t>
            </a:r>
          </a:p>
        </p:txBody>
      </p:sp>
      <mc:AlternateContent xmlns:mc="http://schemas.openxmlformats.org/markup-compatibility/2006" xmlns:a14="http://schemas.microsoft.com/office/drawing/2010/main">
        <mc:Choice Requires="a14">
          <p:sp>
            <p:nvSpPr>
              <p:cNvPr id="8" name="TextBox 7"/>
              <p:cNvSpPr txBox="1"/>
              <p:nvPr/>
            </p:nvSpPr>
            <p:spPr>
              <a:xfrm>
                <a:off x="2388839" y="2547711"/>
                <a:ext cx="4623445" cy="461665"/>
              </a:xfrm>
              <a:prstGeom prst="rect">
                <a:avLst/>
              </a:prstGeom>
              <a:noFill/>
            </p:spPr>
            <p:txBody>
              <a:bodyPr wrap="none" rtlCol="0">
                <a:spAutoFit/>
              </a:bodyPr>
              <a:lstStyle/>
              <a:p>
                <a14:m>
                  <m:oMath xmlns:m="http://schemas.openxmlformats.org/officeDocument/2006/math">
                    <m:r>
                      <a:rPr lang="en-GB" sz="2400" b="0" i="1" smtClean="0">
                        <a:latin typeface="Cambria Math"/>
                      </a:rPr>
                      <m:t>2</m:t>
                    </m:r>
                    <m:r>
                      <a:rPr lang="en-GB" sz="2400" b="0" i="1" smtClean="0">
                        <a:latin typeface="Cambria Math"/>
                      </a:rPr>
                      <m:t>𝐹𝑒</m:t>
                    </m:r>
                    <m:r>
                      <a:rPr lang="en-GB" sz="2400" b="0" i="1" baseline="-25000" smtClean="0">
                        <a:latin typeface="Cambria Math"/>
                      </a:rPr>
                      <m:t>2</m:t>
                    </m:r>
                    <m:r>
                      <a:rPr lang="en-GB" sz="2400" b="0" i="1" smtClean="0">
                        <a:latin typeface="Cambria Math"/>
                      </a:rPr>
                      <m:t>𝑂</m:t>
                    </m:r>
                    <m:r>
                      <a:rPr lang="en-GB" sz="2400" b="0" i="1" baseline="-25000" smtClean="0">
                        <a:latin typeface="Cambria Math"/>
                      </a:rPr>
                      <m:t>3</m:t>
                    </m:r>
                    <m:r>
                      <a:rPr lang="en-GB" sz="2400" b="0" i="1" smtClean="0">
                        <a:latin typeface="Cambria Math"/>
                      </a:rPr>
                      <m:t>+3</m:t>
                    </m:r>
                    <m:r>
                      <a:rPr lang="en-GB" sz="2400" b="0" i="1" smtClean="0">
                        <a:latin typeface="Cambria Math"/>
                      </a:rPr>
                      <m:t>𝐻</m:t>
                    </m:r>
                    <m:r>
                      <a:rPr lang="en-GB" sz="2400" b="0" i="1" baseline="-25000" smtClean="0">
                        <a:latin typeface="Cambria Math"/>
                      </a:rPr>
                      <m:t>2</m:t>
                    </m:r>
                    <m:r>
                      <a:rPr lang="en-GB" sz="2400" b="0" i="1" smtClean="0">
                        <a:latin typeface="Cambria Math"/>
                      </a:rPr>
                      <m:t>𝑂</m:t>
                    </m:r>
                    <m:r>
                      <a:rPr lang="en-GB" sz="2400" b="0" i="1" smtClean="0">
                        <a:latin typeface="Cambria Math"/>
                      </a:rPr>
                      <m:t> →</m:t>
                    </m:r>
                  </m:oMath>
                </a14:m>
                <a:r>
                  <a:rPr lang="en-GB" sz="2400" dirty="0"/>
                  <a:t> </a:t>
                </a:r>
                <a14:m>
                  <m:oMath xmlns:m="http://schemas.openxmlformats.org/officeDocument/2006/math">
                    <m:r>
                      <a:rPr lang="en-GB" sz="2400" i="1">
                        <a:latin typeface="Cambria Math"/>
                      </a:rPr>
                      <m:t>2</m:t>
                    </m:r>
                    <m:r>
                      <a:rPr lang="en-GB" sz="2400" i="1">
                        <a:latin typeface="Cambria Math"/>
                      </a:rPr>
                      <m:t>𝐹𝑒</m:t>
                    </m:r>
                    <m:r>
                      <a:rPr lang="en-GB" sz="2400" i="1" baseline="-25000">
                        <a:latin typeface="Cambria Math"/>
                      </a:rPr>
                      <m:t>2</m:t>
                    </m:r>
                    <m:r>
                      <a:rPr lang="en-GB" sz="2400" i="1">
                        <a:latin typeface="Cambria Math"/>
                      </a:rPr>
                      <m:t>𝑂</m:t>
                    </m:r>
                    <m:r>
                      <a:rPr lang="en-GB" sz="2400" i="1" baseline="-25000" smtClean="0">
                        <a:latin typeface="Cambria Math"/>
                      </a:rPr>
                      <m:t>3</m:t>
                    </m:r>
                    <m:r>
                      <a:rPr lang="en-GB" sz="2400" b="0" i="1" baseline="-25000" smtClean="0">
                        <a:latin typeface="Cambria Math"/>
                      </a:rPr>
                      <m:t>.</m:t>
                    </m:r>
                    <m:r>
                      <a:rPr lang="en-GB" sz="2400" i="1">
                        <a:latin typeface="Cambria Math"/>
                      </a:rPr>
                      <m:t>3</m:t>
                    </m:r>
                    <m:r>
                      <a:rPr lang="en-GB" sz="2400" i="1">
                        <a:latin typeface="Cambria Math"/>
                      </a:rPr>
                      <m:t>𝐻</m:t>
                    </m:r>
                    <m:r>
                      <a:rPr lang="en-GB" sz="2400" i="1" baseline="-25000">
                        <a:latin typeface="Cambria Math"/>
                      </a:rPr>
                      <m:t>2</m:t>
                    </m:r>
                    <m:r>
                      <a:rPr lang="en-GB" sz="2400" i="1">
                        <a:latin typeface="Cambria Math"/>
                      </a:rPr>
                      <m:t>𝑂</m:t>
                    </m:r>
                    <m:r>
                      <a:rPr lang="en-GB" sz="2400" i="1">
                        <a:latin typeface="Cambria Math"/>
                      </a:rPr>
                      <m:t> </m:t>
                    </m:r>
                  </m:oMath>
                </a14:m>
                <a:endParaRPr lang="en-GB"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2388839" y="2547711"/>
                <a:ext cx="4623445" cy="461665"/>
              </a:xfrm>
              <a:prstGeom prst="rect">
                <a:avLst/>
              </a:prstGeom>
              <a:blipFill>
                <a:blip r:embed="rId6"/>
                <a:stretch>
                  <a:fillRect l="-396" b="-657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88839" y="3463029"/>
                <a:ext cx="3867405" cy="461665"/>
              </a:xfrm>
              <a:prstGeom prst="rect">
                <a:avLst/>
              </a:prstGeom>
              <a:noFill/>
            </p:spPr>
            <p:txBody>
              <a:bodyPr wrap="none" rtlCol="0">
                <a:spAutoFit/>
              </a:bodyPr>
              <a:lstStyle/>
              <a:p>
                <a:r>
                  <a:rPr lang="en-GB" sz="2400" dirty="0"/>
                  <a:t>Hematite + water</a:t>
                </a:r>
                <a14:m>
                  <m:oMath xmlns:m="http://schemas.openxmlformats.org/officeDocument/2006/math">
                    <m:r>
                      <a:rPr lang="en-GB" sz="2400" b="0" i="0" smtClean="0">
                        <a:latin typeface="Cambria Math"/>
                        <a:ea typeface="Cambria Math"/>
                      </a:rPr>
                      <m:t> </m:t>
                    </m:r>
                    <m:r>
                      <a:rPr lang="en-GB" sz="2400" i="1">
                        <a:latin typeface="Cambria Math"/>
                        <a:ea typeface="Cambria Math"/>
                      </a:rPr>
                      <m:t>→</m:t>
                    </m:r>
                    <m:r>
                      <m:rPr>
                        <m:nor/>
                      </m:rPr>
                      <a:rPr lang="en-GB" sz="2400" b="0" i="0" dirty="0" smtClean="0"/>
                      <m:t>Limonite</m:t>
                    </m:r>
                  </m:oMath>
                </a14:m>
                <a:endParaRPr lang="en-GB"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2388839" y="3463029"/>
                <a:ext cx="3867405" cy="461665"/>
              </a:xfrm>
              <a:prstGeom prst="rect">
                <a:avLst/>
              </a:prstGeom>
              <a:blipFill>
                <a:blip r:embed="rId7"/>
                <a:stretch>
                  <a:fillRect l="-2524" t="-10526" b="-28947"/>
                </a:stretch>
              </a:blipFill>
            </p:spPr>
            <p:txBody>
              <a:bodyPr/>
              <a:lstStyle/>
              <a:p>
                <a:r>
                  <a:rPr lang="en-GB">
                    <a:noFill/>
                  </a:rPr>
                  <a:t> </a:t>
                </a:r>
              </a:p>
            </p:txBody>
          </p:sp>
        </mc:Fallback>
      </mc:AlternateContent>
      <p:pic>
        <p:nvPicPr>
          <p:cNvPr id="23554" name="Picture 2" descr="https://encrypted-tbn3.gstatic.com/images?q=tbn:ANd9GcTFPOJ1WrDtPAzZPfeoTx4XSgbYfhjzzxoNfS9HeypQWL_Wh9ComQ"/>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592" y="4415024"/>
            <a:ext cx="2219640" cy="1432361"/>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upload.wikimedia.org/wikipedia/commons/2/2e/LimoniteUSGOV.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4128" y="4216913"/>
            <a:ext cx="2144265" cy="1828582"/>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p:cNvSpPr/>
          <p:nvPr/>
        </p:nvSpPr>
        <p:spPr>
          <a:xfrm>
            <a:off x="3851920" y="4725144"/>
            <a:ext cx="1152128" cy="64239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006577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5872"/>
            <a:ext cx="8568952" cy="1938992"/>
          </a:xfrm>
          <a:prstGeom prst="rect">
            <a:avLst/>
          </a:prstGeom>
          <a:noFill/>
        </p:spPr>
        <p:txBody>
          <a:bodyPr wrap="square" rtlCol="0">
            <a:spAutoFit/>
          </a:bodyPr>
          <a:lstStyle/>
          <a:p>
            <a:r>
              <a:rPr lang="en-GB" sz="2400" dirty="0">
                <a:solidFill>
                  <a:srgbClr val="FF0000"/>
                </a:solidFill>
              </a:rPr>
              <a:t>Carbonation</a:t>
            </a:r>
          </a:p>
          <a:p>
            <a:endParaRPr lang="en-GB" sz="2400" dirty="0">
              <a:solidFill>
                <a:srgbClr val="FF0000"/>
              </a:solidFill>
            </a:endParaRPr>
          </a:p>
          <a:p>
            <a:r>
              <a:rPr lang="en-GB" sz="2400" dirty="0"/>
              <a:t>Reaction with carbonic acid, which forms when CO</a:t>
            </a:r>
            <a:r>
              <a:rPr lang="en-GB" sz="2400" baseline="-25000" dirty="0"/>
              <a:t>2</a:t>
            </a:r>
            <a:r>
              <a:rPr lang="en-GB" sz="2400" dirty="0"/>
              <a:t> dissolves in rainwater. Particularly reacts with carbonate minerals such as calcite and dolomite (</a:t>
            </a:r>
            <a:r>
              <a:rPr lang="en-GB" sz="2400" dirty="0" err="1"/>
              <a:t>limestones</a:t>
            </a:r>
            <a:r>
              <a:rPr lang="en-GB" sz="2400" dirty="0"/>
              <a:t>)</a:t>
            </a:r>
          </a:p>
        </p:txBody>
      </p:sp>
      <p:pic>
        <p:nvPicPr>
          <p:cNvPr id="24578" name="Picture 2" descr="http://2.bp.blogspot.com/-FAzzxbim7cg/T77DTVcQ6uI/AAAAAAAAAd8/-lTVfFCGNVE/s1600/carbonation+and+solutio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9672" y="2178663"/>
            <a:ext cx="5634952" cy="2079567"/>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Malham pavement, Yorkshi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4419399"/>
            <a:ext cx="3426858" cy="2338967"/>
          </a:xfrm>
          <a:prstGeom prst="rect">
            <a:avLst/>
          </a:prstGeom>
          <a:noFill/>
          <a:extLst>
            <a:ext uri="{909E8E84-426E-40DD-AFC4-6F175D3DCCD1}">
              <a14:hiddenFill xmlns:a14="http://schemas.microsoft.com/office/drawing/2010/main">
                <a:solidFill>
                  <a:srgbClr val="FFFFFF"/>
                </a:solidFill>
              </a14:hiddenFill>
            </a:ext>
          </a:extLst>
        </p:spPr>
      </p:pic>
      <p:pic>
        <p:nvPicPr>
          <p:cNvPr id="24582" name="Picture 6" descr="http://www.bbc.co.uk/bitesize/higher/geography/images/limestone_pavement.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4444358"/>
            <a:ext cx="4603190" cy="220885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271142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395536" y="1773524"/>
                <a:ext cx="720049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a:rPr>
                        <m:t>𝐹𝑒</m:t>
                      </m:r>
                      <m:r>
                        <a:rPr lang="en-GB" sz="2400" b="0" i="1" baseline="-25000" smtClean="0">
                          <a:latin typeface="Cambria Math"/>
                        </a:rPr>
                        <m:t>2</m:t>
                      </m:r>
                      <m:r>
                        <a:rPr lang="en-GB" sz="2400" b="0" i="1" smtClean="0">
                          <a:latin typeface="Cambria Math"/>
                        </a:rPr>
                        <m:t>𝑆𝑖𝑂</m:t>
                      </m:r>
                      <m:r>
                        <a:rPr lang="en-GB" sz="2400" b="0" i="1" baseline="-25000" smtClean="0">
                          <a:latin typeface="Cambria Math"/>
                        </a:rPr>
                        <m:t>4</m:t>
                      </m:r>
                      <m:r>
                        <a:rPr lang="en-GB" sz="2400" b="0" i="1" smtClean="0">
                          <a:latin typeface="Cambria Math"/>
                        </a:rPr>
                        <m:t>+4</m:t>
                      </m:r>
                      <m:r>
                        <a:rPr lang="en-GB" sz="2400" b="0" i="1" smtClean="0">
                          <a:latin typeface="Cambria Math"/>
                        </a:rPr>
                        <m:t>𝐻</m:t>
                      </m:r>
                      <m:r>
                        <a:rPr lang="en-GB" sz="2400" b="0" i="1" baseline="30000" smtClean="0">
                          <a:latin typeface="Cambria Math"/>
                        </a:rPr>
                        <m:t>+</m:t>
                      </m:r>
                      <m:r>
                        <a:rPr lang="en-GB" sz="2400" b="0" i="1" smtClean="0">
                          <a:latin typeface="Cambria Math"/>
                        </a:rPr>
                        <m:t>+ 4</m:t>
                      </m:r>
                      <m:r>
                        <a:rPr lang="en-GB" sz="2400" b="0" i="1" smtClean="0">
                          <a:latin typeface="Cambria Math"/>
                        </a:rPr>
                        <m:t>𝑂𝐻</m:t>
                      </m:r>
                      <m:r>
                        <a:rPr lang="en-GB" sz="2400" b="0" i="1" baseline="30000" smtClean="0">
                          <a:latin typeface="Cambria Math"/>
                        </a:rPr>
                        <m:t>−</m:t>
                      </m:r>
                      <m:r>
                        <a:rPr lang="en-GB" sz="2400" b="0" i="1" smtClean="0">
                          <a:latin typeface="Cambria Math"/>
                        </a:rPr>
                        <m:t> </m:t>
                      </m:r>
                      <m:r>
                        <a:rPr lang="en-GB" sz="2400" b="0" i="1" smtClean="0">
                          <a:latin typeface="Cambria Math"/>
                          <a:ea typeface="Cambria Math"/>
                        </a:rPr>
                        <m:t>→2</m:t>
                      </m:r>
                      <m:r>
                        <a:rPr lang="en-GB" sz="2400" b="0" i="1" smtClean="0">
                          <a:latin typeface="Cambria Math"/>
                          <a:ea typeface="Cambria Math"/>
                        </a:rPr>
                        <m:t>𝐹𝑒</m:t>
                      </m:r>
                      <m:r>
                        <a:rPr lang="en-GB" sz="2400" b="0" i="1" baseline="30000" smtClean="0">
                          <a:latin typeface="Cambria Math"/>
                          <a:ea typeface="Cambria Math"/>
                        </a:rPr>
                        <m:t>2+ </m:t>
                      </m:r>
                      <m:r>
                        <a:rPr lang="en-GB" sz="2400" b="0" i="1" smtClean="0">
                          <a:latin typeface="Cambria Math"/>
                          <a:ea typeface="Cambria Math"/>
                        </a:rPr>
                        <m:t>+4</m:t>
                      </m:r>
                      <m:r>
                        <a:rPr lang="en-GB" sz="2400" b="0" i="1" smtClean="0">
                          <a:latin typeface="Cambria Math"/>
                          <a:ea typeface="Cambria Math"/>
                        </a:rPr>
                        <m:t>𝑂𝐻</m:t>
                      </m:r>
                      <m:r>
                        <a:rPr lang="en-GB" sz="2400" b="0" i="1" baseline="30000" smtClean="0">
                          <a:latin typeface="Cambria Math"/>
                          <a:ea typeface="Cambria Math"/>
                        </a:rPr>
                        <m:t>−</m:t>
                      </m:r>
                      <m:r>
                        <a:rPr lang="en-GB" sz="2400" b="0" i="1" smtClean="0">
                          <a:latin typeface="Cambria Math"/>
                          <a:ea typeface="Cambria Math"/>
                        </a:rPr>
                        <m:t> +</m:t>
                      </m:r>
                      <m:r>
                        <a:rPr lang="en-GB" sz="2400" b="0" i="1" smtClean="0">
                          <a:latin typeface="Cambria Math"/>
                          <a:ea typeface="Cambria Math"/>
                        </a:rPr>
                        <m:t>𝐻</m:t>
                      </m:r>
                      <m:r>
                        <a:rPr lang="en-GB" sz="2400" b="0" i="1" baseline="-25000" smtClean="0">
                          <a:latin typeface="Cambria Math"/>
                          <a:ea typeface="Cambria Math"/>
                        </a:rPr>
                        <m:t>4</m:t>
                      </m:r>
                      <m:r>
                        <a:rPr lang="en-GB" sz="2400" b="0" i="1" smtClean="0">
                          <a:latin typeface="Cambria Math"/>
                          <a:ea typeface="Cambria Math"/>
                        </a:rPr>
                        <m:t>𝑆𝑖𝑂</m:t>
                      </m:r>
                      <m:r>
                        <a:rPr lang="en-GB" sz="2400" b="0" i="1" baseline="-25000" smtClean="0">
                          <a:latin typeface="Cambria Math"/>
                          <a:ea typeface="Cambria Math"/>
                        </a:rPr>
                        <m:t>4</m:t>
                      </m:r>
                      <m:r>
                        <a:rPr lang="en-GB" sz="2400" b="0" i="1" smtClean="0">
                          <a:latin typeface="Cambria Math"/>
                        </a:rPr>
                        <m:t> </m:t>
                      </m:r>
                    </m:oMath>
                  </m:oMathPara>
                </a14:m>
                <a:endParaRPr lang="en-GB"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395536" y="1773524"/>
                <a:ext cx="7200497" cy="461665"/>
              </a:xfrm>
              <a:prstGeom prst="rect">
                <a:avLst/>
              </a:prstGeom>
              <a:blipFill rotWithShape="1">
                <a:blip r:embed="rId5"/>
                <a:stretch>
                  <a:fillRect b="-2632"/>
                </a:stretch>
              </a:blipFill>
            </p:spPr>
            <p:txBody>
              <a:bodyPr/>
              <a:lstStyle/>
              <a:p>
                <a:r>
                  <a:rPr lang="en-GB">
                    <a:noFill/>
                  </a:rPr>
                  <a:t> </a:t>
                </a:r>
              </a:p>
            </p:txBody>
          </p:sp>
        </mc:Fallback>
      </mc:AlternateContent>
      <p:sp>
        <p:nvSpPr>
          <p:cNvPr id="3" name="TextBox 2"/>
          <p:cNvSpPr txBox="1"/>
          <p:nvPr/>
        </p:nvSpPr>
        <p:spPr>
          <a:xfrm>
            <a:off x="323528" y="188640"/>
            <a:ext cx="8568952" cy="1569660"/>
          </a:xfrm>
          <a:prstGeom prst="rect">
            <a:avLst/>
          </a:prstGeom>
          <a:noFill/>
        </p:spPr>
        <p:txBody>
          <a:bodyPr wrap="square" rtlCol="0">
            <a:spAutoFit/>
          </a:bodyPr>
          <a:lstStyle/>
          <a:p>
            <a:r>
              <a:rPr lang="en-GB" sz="2400" dirty="0">
                <a:solidFill>
                  <a:srgbClr val="FF0000"/>
                </a:solidFill>
              </a:rPr>
              <a:t>Oxidation</a:t>
            </a:r>
          </a:p>
          <a:p>
            <a:endParaRPr lang="en-GB" sz="2400" dirty="0">
              <a:solidFill>
                <a:srgbClr val="FF0000"/>
              </a:solidFill>
            </a:endParaRPr>
          </a:p>
          <a:p>
            <a:r>
              <a:rPr lang="en-GB" sz="2400" dirty="0"/>
              <a:t>Bonding of oxygen to metallic elements from the primary rocks.</a:t>
            </a:r>
          </a:p>
          <a:p>
            <a:r>
              <a:rPr lang="en-GB" sz="2400" dirty="0"/>
              <a:t>Firstly release of the mineral components e.g. by hydrolysis</a:t>
            </a:r>
          </a:p>
        </p:txBody>
      </p:sp>
      <p:sp>
        <p:nvSpPr>
          <p:cNvPr id="4" name="TextBox 3"/>
          <p:cNvSpPr txBox="1"/>
          <p:nvPr/>
        </p:nvSpPr>
        <p:spPr>
          <a:xfrm>
            <a:off x="395536" y="2444695"/>
            <a:ext cx="8568952" cy="830997"/>
          </a:xfrm>
          <a:prstGeom prst="rect">
            <a:avLst/>
          </a:prstGeom>
          <a:noFill/>
        </p:spPr>
        <p:txBody>
          <a:bodyPr wrap="square" rtlCol="0">
            <a:spAutoFit/>
          </a:bodyPr>
          <a:lstStyle/>
          <a:p>
            <a:r>
              <a:rPr lang="en-GB" sz="2400" dirty="0"/>
              <a:t>Fe</a:t>
            </a:r>
            <a:r>
              <a:rPr lang="en-GB" sz="2400" baseline="30000" dirty="0"/>
              <a:t>2+ </a:t>
            </a:r>
            <a:r>
              <a:rPr lang="en-GB" sz="2400" dirty="0"/>
              <a:t>in solution oxidises from O</a:t>
            </a:r>
            <a:r>
              <a:rPr lang="en-GB" sz="2400" baseline="-25000" dirty="0"/>
              <a:t>2</a:t>
            </a:r>
            <a:r>
              <a:rPr lang="en-GB" sz="2400" dirty="0"/>
              <a:t> in the water and atmosphere to form a solid mineral-Goethite (</a:t>
            </a:r>
            <a:r>
              <a:rPr lang="en-GB" sz="2400" dirty="0" err="1"/>
              <a:t>FeOOH</a:t>
            </a:r>
            <a:r>
              <a:rPr lang="en-GB" sz="2400" dirty="0"/>
              <a:t>)</a:t>
            </a:r>
          </a:p>
        </p:txBody>
      </p:sp>
      <mc:AlternateContent xmlns:mc="http://schemas.openxmlformats.org/markup-compatibility/2006" xmlns:a14="http://schemas.microsoft.com/office/drawing/2010/main">
        <mc:Choice Requires="a14">
          <p:sp>
            <p:nvSpPr>
              <p:cNvPr id="5" name="TextBox 4"/>
              <p:cNvSpPr txBox="1"/>
              <p:nvPr/>
            </p:nvSpPr>
            <p:spPr>
              <a:xfrm>
                <a:off x="417314" y="3356992"/>
                <a:ext cx="545752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smtClean="0">
                          <a:latin typeface="Cambria Math"/>
                          <a:ea typeface="Cambria Math"/>
                        </a:rPr>
                        <m:t>2</m:t>
                      </m:r>
                      <m:r>
                        <a:rPr lang="en-GB" sz="2400" i="1" smtClean="0">
                          <a:latin typeface="Cambria Math"/>
                          <a:ea typeface="Cambria Math"/>
                        </a:rPr>
                        <m:t>𝐹𝑒</m:t>
                      </m:r>
                      <m:r>
                        <a:rPr lang="en-GB" sz="2400" i="1" baseline="30000">
                          <a:latin typeface="Cambria Math"/>
                          <a:ea typeface="Cambria Math"/>
                        </a:rPr>
                        <m:t>2+</m:t>
                      </m:r>
                      <m:r>
                        <a:rPr lang="en-GB" sz="2400" b="0" i="1" smtClean="0">
                          <a:latin typeface="Cambria Math"/>
                          <a:ea typeface="Cambria Math"/>
                        </a:rPr>
                        <m:t>+</m:t>
                      </m:r>
                      <m:r>
                        <a:rPr lang="en-GB" sz="2400" b="0" i="1" smtClean="0">
                          <a:latin typeface="Cambria Math"/>
                          <a:ea typeface="Cambria Math"/>
                        </a:rPr>
                        <m:t>𝑂</m:t>
                      </m:r>
                      <m:r>
                        <a:rPr lang="en-GB" sz="2400" b="0" i="1" baseline="-25000" smtClean="0">
                          <a:latin typeface="Cambria Math"/>
                          <a:ea typeface="Cambria Math"/>
                        </a:rPr>
                        <m:t>2</m:t>
                      </m:r>
                      <m:r>
                        <a:rPr lang="en-GB" sz="2400" b="0" i="1" smtClean="0">
                          <a:latin typeface="Cambria Math"/>
                        </a:rPr>
                        <m:t>+</m:t>
                      </m:r>
                      <m:r>
                        <a:rPr lang="en-GB" sz="2400" b="0" i="1" smtClean="0">
                          <a:latin typeface="Cambria Math" panose="02040503050406030204" pitchFamily="18" charset="0"/>
                        </a:rPr>
                        <m:t>2</m:t>
                      </m:r>
                      <m:r>
                        <a:rPr lang="en-GB" sz="2400" b="0" i="1" smtClean="0">
                          <a:latin typeface="Cambria Math"/>
                        </a:rPr>
                        <m:t>𝐻</m:t>
                      </m:r>
                      <m:r>
                        <a:rPr lang="en-GB" sz="2400" b="0" i="1" baseline="-25000" smtClean="0">
                          <a:latin typeface="Cambria Math"/>
                        </a:rPr>
                        <m:t>2</m:t>
                      </m:r>
                      <m:r>
                        <a:rPr lang="en-GB" sz="2400" b="0" i="1" smtClean="0">
                          <a:latin typeface="Cambria Math"/>
                        </a:rPr>
                        <m:t>𝑂</m:t>
                      </m:r>
                      <m:r>
                        <a:rPr lang="en-GB" sz="2400" b="0" i="1" smtClean="0">
                          <a:latin typeface="Cambria Math"/>
                        </a:rPr>
                        <m:t> →2</m:t>
                      </m:r>
                      <m:r>
                        <a:rPr lang="en-GB" sz="2400" b="0" i="1" smtClean="0">
                          <a:latin typeface="Cambria Math"/>
                          <a:ea typeface="Cambria Math"/>
                        </a:rPr>
                        <m:t>𝐹𝑒𝑂𝑂𝐻</m:t>
                      </m:r>
                      <m:r>
                        <a:rPr lang="en-GB" sz="2400" b="0" i="1" smtClean="0">
                          <a:latin typeface="Cambria Math"/>
                          <a:ea typeface="Cambria Math"/>
                        </a:rPr>
                        <m:t>+4</m:t>
                      </m:r>
                      <m:r>
                        <a:rPr lang="en-GB" sz="2400" b="0" i="1" smtClean="0">
                          <a:latin typeface="Cambria Math"/>
                          <a:ea typeface="Cambria Math"/>
                        </a:rPr>
                        <m:t>𝐻</m:t>
                      </m:r>
                      <m:r>
                        <a:rPr lang="en-GB" sz="2400" b="0" i="1" baseline="30000" smtClean="0">
                          <a:latin typeface="Cambria Math"/>
                          <a:ea typeface="Cambria Math"/>
                        </a:rPr>
                        <m:t>+</m:t>
                      </m:r>
                    </m:oMath>
                  </m:oMathPara>
                </a14:m>
                <a:endParaRPr lang="en-GB"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417314" y="3356992"/>
                <a:ext cx="5457520" cy="461665"/>
              </a:xfrm>
              <a:prstGeom prst="rect">
                <a:avLst/>
              </a:prstGeom>
              <a:blipFill>
                <a:blip r:embed="rId6"/>
                <a:stretch>
                  <a:fillRect b="-4000"/>
                </a:stretch>
              </a:blipFill>
            </p:spPr>
            <p:txBody>
              <a:bodyPr/>
              <a:lstStyle/>
              <a:p>
                <a:r>
                  <a:rPr lang="en-GB">
                    <a:noFill/>
                  </a:rPr>
                  <a:t> </a:t>
                </a:r>
              </a:p>
            </p:txBody>
          </p:sp>
        </mc:Fallback>
      </mc:AlternateContent>
      <p:pic>
        <p:nvPicPr>
          <p:cNvPr id="25602" name="Picture 2" descr="http://lh3.ggpht.com/-1D6OOD17a3I/UTjpER2VjZI/AAAAAAAAGkI/VRMRUSMv2y8/s720/00658%20IMG_8227%204%20cm%20goethite.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4128" y="4016168"/>
            <a:ext cx="2736304" cy="2550236"/>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http://www.mindatnh.org/gallery%20photos/Forsterite%201LG.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2329" y="4191417"/>
            <a:ext cx="3205536" cy="2402698"/>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6"/>
          <p:cNvSpPr/>
          <p:nvPr/>
        </p:nvSpPr>
        <p:spPr>
          <a:xfrm>
            <a:off x="3059832" y="4725144"/>
            <a:ext cx="3024336" cy="12241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794052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geology.csupomona.edu/drjessey/class/Gsc101/chemweather.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200" y="2525628"/>
            <a:ext cx="4154129" cy="4176464"/>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http://geology.csupomona.edu/drjessey/class/Gsc101/weatherseries.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498" y="3260643"/>
            <a:ext cx="4533900" cy="261937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sz="half" idx="2"/>
          </p:nvPr>
        </p:nvSpPr>
        <p:spPr>
          <a:xfrm>
            <a:off x="163286" y="181931"/>
            <a:ext cx="5922665" cy="4525963"/>
          </a:xfrm>
        </p:spPr>
        <p:txBody>
          <a:bodyPr vert="horz" lIns="91440" tIns="45720" rIns="91440" bIns="45720" rtlCol="0" anchor="t">
            <a:normAutofit/>
          </a:bodyPr>
          <a:lstStyle/>
          <a:p>
            <a:pPr marL="0" indent="0">
              <a:buNone/>
            </a:pPr>
            <a:r>
              <a:rPr lang="en-GB" dirty="0"/>
              <a:t>Factors affecting chemical weathering</a:t>
            </a:r>
            <a:endParaRPr lang="en-US"/>
          </a:p>
          <a:p>
            <a:pPr lvl="1"/>
            <a:r>
              <a:rPr lang="en-GB" dirty="0"/>
              <a:t>Particle size</a:t>
            </a:r>
          </a:p>
          <a:p>
            <a:pPr lvl="1"/>
            <a:r>
              <a:rPr lang="en-GB" dirty="0"/>
              <a:t>Composition</a:t>
            </a:r>
          </a:p>
          <a:p>
            <a:pPr lvl="1"/>
            <a:r>
              <a:rPr lang="en-GB" dirty="0"/>
              <a:t>Type and amount of vegetation</a:t>
            </a:r>
          </a:p>
          <a:p>
            <a:pPr lvl="1"/>
            <a:r>
              <a:rPr lang="en-GB" dirty="0"/>
              <a:t>Climate</a:t>
            </a:r>
          </a:p>
        </p:txBody>
      </p:sp>
      <p:sp>
        <p:nvSpPr>
          <p:cNvPr id="5" name="Rectangle 4"/>
          <p:cNvSpPr/>
          <p:nvPr/>
        </p:nvSpPr>
        <p:spPr>
          <a:xfrm>
            <a:off x="0" y="6582325"/>
            <a:ext cx="4572000" cy="261610"/>
          </a:xfrm>
          <a:prstGeom prst="rect">
            <a:avLst/>
          </a:prstGeom>
        </p:spPr>
        <p:txBody>
          <a:bodyPr>
            <a:spAutoFit/>
          </a:bodyPr>
          <a:lstStyle/>
          <a:p>
            <a:r>
              <a:rPr lang="en-GB" sz="1100" dirty="0"/>
              <a:t>http://geology.csupomona.edu/drjessey/class/Gsc101/Weathering.html</a:t>
            </a:r>
          </a:p>
        </p:txBody>
      </p:sp>
      <p:sp>
        <p:nvSpPr>
          <p:cNvPr id="2" name="TextBox 1"/>
          <p:cNvSpPr txBox="1"/>
          <p:nvPr/>
        </p:nvSpPr>
        <p:spPr>
          <a:xfrm>
            <a:off x="744576" y="5873137"/>
            <a:ext cx="3376886" cy="461665"/>
          </a:xfrm>
          <a:prstGeom prst="rect">
            <a:avLst/>
          </a:prstGeom>
          <a:noFill/>
        </p:spPr>
        <p:txBody>
          <a:bodyPr wrap="square" rtlCol="0">
            <a:spAutoFit/>
          </a:bodyPr>
          <a:lstStyle/>
          <a:p>
            <a:r>
              <a:rPr lang="en-GB" sz="2400" i="1" dirty="0" err="1"/>
              <a:t>Goldich</a:t>
            </a:r>
            <a:r>
              <a:rPr lang="en-GB" sz="2400" i="1" dirty="0"/>
              <a:t> dissolution series</a:t>
            </a:r>
          </a:p>
        </p:txBody>
      </p:sp>
      <p:pic>
        <p:nvPicPr>
          <p:cNvPr id="3" name="Picture 2" descr="A close-up of a stone&#10;&#10;AI-generated content may be incorrect.">
            <a:extLst>
              <a:ext uri="{FF2B5EF4-FFF2-40B4-BE49-F238E27FC236}">
                <a16:creationId xmlns:a16="http://schemas.microsoft.com/office/drawing/2014/main" id="{F0ED6467-7EB8-4EF9-051B-A4FF896E833A}"/>
              </a:ext>
            </a:extLst>
          </p:cNvPr>
          <p:cNvPicPr>
            <a:picLocks noChangeAspect="1"/>
          </p:cNvPicPr>
          <p:nvPr/>
        </p:nvPicPr>
        <p:blipFill>
          <a:blip r:embed="rId6"/>
          <a:stretch>
            <a:fillRect/>
          </a:stretch>
        </p:blipFill>
        <p:spPr>
          <a:xfrm>
            <a:off x="5218497" y="692866"/>
            <a:ext cx="3781425" cy="1628775"/>
          </a:xfrm>
          <a:prstGeom prst="rect">
            <a:avLst/>
          </a:prstGeom>
        </p:spPr>
      </p:pic>
    </p:spTree>
    <p:custDataLst>
      <p:tags r:id="rId1"/>
    </p:custDataLst>
    <p:extLst>
      <p:ext uri="{BB962C8B-B14F-4D97-AF65-F5344CB8AC3E}">
        <p14:creationId xmlns:p14="http://schemas.microsoft.com/office/powerpoint/2010/main" val="3802297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Products of weathering</a:t>
            </a:r>
          </a:p>
        </p:txBody>
      </p:sp>
      <p:pic>
        <p:nvPicPr>
          <p:cNvPr id="27650" name="Picture 2" descr="http://geology.csupomona.edu/drjessey/class/Gsc101/weatherpro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628800"/>
            <a:ext cx="7348610" cy="4296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852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Climate</a:t>
            </a:r>
          </a:p>
        </p:txBody>
      </p:sp>
      <p:sp>
        <p:nvSpPr>
          <p:cNvPr id="3" name="Content Placeholder 2"/>
          <p:cNvSpPr>
            <a:spLocks noGrp="1"/>
          </p:cNvSpPr>
          <p:nvPr>
            <p:ph sz="half" idx="1"/>
          </p:nvPr>
        </p:nvSpPr>
        <p:spPr>
          <a:xfrm>
            <a:off x="293914" y="1336432"/>
            <a:ext cx="4201885" cy="5081720"/>
          </a:xfrm>
        </p:spPr>
        <p:txBody>
          <a:bodyPr>
            <a:normAutofit fontScale="85000" lnSpcReduction="10000"/>
          </a:bodyPr>
          <a:lstStyle/>
          <a:p>
            <a:r>
              <a:rPr lang="en-GB" dirty="0"/>
              <a:t>Humid tropical climates</a:t>
            </a:r>
          </a:p>
          <a:p>
            <a:pPr lvl="1"/>
            <a:r>
              <a:rPr lang="en-GB" dirty="0"/>
              <a:t>Intense chemical weathering and formation of insoluble residues = Bauxite and Laterites</a:t>
            </a:r>
          </a:p>
          <a:p>
            <a:r>
              <a:rPr lang="en-GB" dirty="0"/>
              <a:t>Humid mid-latitude climates</a:t>
            </a:r>
          </a:p>
          <a:p>
            <a:pPr lvl="1"/>
            <a:r>
              <a:rPr lang="en-GB" dirty="0"/>
              <a:t>Seasonal freezing, accumulation of </a:t>
            </a:r>
            <a:r>
              <a:rPr lang="en-GB" dirty="0" err="1"/>
              <a:t>vegetational</a:t>
            </a:r>
            <a:r>
              <a:rPr lang="en-GB" dirty="0"/>
              <a:t> debris-humus layer-clay minerals</a:t>
            </a:r>
          </a:p>
          <a:p>
            <a:r>
              <a:rPr lang="en-GB" dirty="0"/>
              <a:t>Hot arid climates</a:t>
            </a:r>
          </a:p>
          <a:p>
            <a:pPr lvl="1"/>
            <a:r>
              <a:rPr lang="en-GB" dirty="0"/>
              <a:t>Little vegetation or water, lack true soils, salt crusts instead</a:t>
            </a:r>
          </a:p>
          <a:p>
            <a:r>
              <a:rPr lang="en-GB" dirty="0"/>
              <a:t>Cold climates</a:t>
            </a:r>
          </a:p>
          <a:p>
            <a:pPr lvl="1"/>
            <a:r>
              <a:rPr lang="en-GB" dirty="0"/>
              <a:t>Can be dry, slower processes</a:t>
            </a:r>
          </a:p>
          <a:p>
            <a:endParaRPr lang="en-GB" dirty="0"/>
          </a:p>
        </p:txBody>
      </p:sp>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016" y="404664"/>
            <a:ext cx="4104456" cy="225442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674" name="Picture 2" descr="http://www.soton.ac.uk/%7Eimw/jpg-Cyprus/7CY-Zevgari-calcrete-detai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1450" y="3374448"/>
            <a:ext cx="3384376" cy="28642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189422" y="6238685"/>
            <a:ext cx="2274982" cy="369332"/>
          </a:xfrm>
          <a:prstGeom prst="rect">
            <a:avLst/>
          </a:prstGeom>
          <a:noFill/>
        </p:spPr>
        <p:txBody>
          <a:bodyPr wrap="none" rtlCol="0">
            <a:spAutoFit/>
          </a:bodyPr>
          <a:lstStyle/>
          <a:p>
            <a:r>
              <a:rPr lang="en-GB" i="1" dirty="0"/>
              <a:t>Caliches-</a:t>
            </a:r>
            <a:r>
              <a:rPr lang="en-GB" i="1" dirty="0" err="1"/>
              <a:t>calcrete</a:t>
            </a:r>
            <a:r>
              <a:rPr lang="en-GB" i="1" dirty="0"/>
              <a:t> crust</a:t>
            </a:r>
          </a:p>
        </p:txBody>
      </p:sp>
      <p:sp>
        <p:nvSpPr>
          <p:cNvPr id="7" name="TextBox 6"/>
          <p:cNvSpPr txBox="1"/>
          <p:nvPr/>
        </p:nvSpPr>
        <p:spPr>
          <a:xfrm>
            <a:off x="6002973" y="2637329"/>
            <a:ext cx="1890582" cy="369332"/>
          </a:xfrm>
          <a:prstGeom prst="rect">
            <a:avLst/>
          </a:prstGeom>
          <a:noFill/>
        </p:spPr>
        <p:txBody>
          <a:bodyPr wrap="none" rtlCol="0">
            <a:spAutoFit/>
          </a:bodyPr>
          <a:lstStyle/>
          <a:p>
            <a:r>
              <a:rPr lang="en-GB" i="1" dirty="0"/>
              <a:t>Laterite formation</a:t>
            </a:r>
          </a:p>
        </p:txBody>
      </p:sp>
      <p:sp>
        <p:nvSpPr>
          <p:cNvPr id="4" name="Rectangle 3">
            <a:extLst>
              <a:ext uri="{FF2B5EF4-FFF2-40B4-BE49-F238E27FC236}">
                <a16:creationId xmlns:a16="http://schemas.microsoft.com/office/drawing/2014/main" id="{5200932D-8E44-C310-A3E3-4626C9034573}"/>
              </a:ext>
            </a:extLst>
          </p:cNvPr>
          <p:cNvSpPr/>
          <p:nvPr/>
        </p:nvSpPr>
        <p:spPr>
          <a:xfrm>
            <a:off x="4499992" y="764704"/>
            <a:ext cx="576064" cy="7829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1976511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http://www.scotland.gov.uk/Resource/Img/47121/0020508.gif"/>
          <p:cNvPicPr>
            <a:picLocks noChangeAspect="1" noChangeArrowheads="1"/>
          </p:cNvPicPr>
          <p:nvPr/>
        </p:nvPicPr>
        <p:blipFill rotWithShape="1">
          <a:blip r:embed="rId2">
            <a:extLst>
              <a:ext uri="{28A0092B-C50C-407E-A947-70E740481C1C}">
                <a14:useLocalDpi xmlns:a14="http://schemas.microsoft.com/office/drawing/2010/main" val="0"/>
              </a:ext>
            </a:extLst>
          </a:blip>
          <a:srcRect b="20584"/>
          <a:stretch/>
        </p:blipFill>
        <p:spPr bwMode="auto">
          <a:xfrm>
            <a:off x="4811462" y="1411918"/>
            <a:ext cx="4414486" cy="378042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algn="l"/>
            <a:r>
              <a:rPr lang="en-GB" dirty="0"/>
              <a:t>Soil Classification</a:t>
            </a:r>
          </a:p>
        </p:txBody>
      </p:sp>
      <p:sp>
        <p:nvSpPr>
          <p:cNvPr id="3" name="Content Placeholder 2"/>
          <p:cNvSpPr>
            <a:spLocks noGrp="1"/>
          </p:cNvSpPr>
          <p:nvPr>
            <p:ph sz="half" idx="1"/>
          </p:nvPr>
        </p:nvSpPr>
        <p:spPr>
          <a:xfrm>
            <a:off x="457200" y="1414453"/>
            <a:ext cx="5136330" cy="5168909"/>
          </a:xfrm>
        </p:spPr>
        <p:txBody>
          <a:bodyPr vert="horz" lIns="91440" tIns="45720" rIns="91440" bIns="45720" rtlCol="0" anchor="t">
            <a:normAutofit/>
          </a:bodyPr>
          <a:lstStyle/>
          <a:p>
            <a:r>
              <a:rPr lang="en-GB" dirty="0">
                <a:solidFill>
                  <a:srgbClr val="FF0000"/>
                </a:solidFill>
              </a:rPr>
              <a:t>Colour</a:t>
            </a:r>
            <a:endParaRPr lang="en-GB">
              <a:solidFill>
                <a:srgbClr val="FF0000"/>
              </a:solidFill>
              <a:ea typeface="Calibri"/>
              <a:cs typeface="Calibri"/>
            </a:endParaRPr>
          </a:p>
          <a:p>
            <a:pPr marL="0" indent="0">
              <a:buNone/>
            </a:pPr>
            <a:r>
              <a:rPr lang="en-GB" dirty="0"/>
              <a:t>e.g. black = rich in organic matter,     red = rich in Fe oxides</a:t>
            </a:r>
            <a:endParaRPr lang="en-GB" dirty="0">
              <a:ea typeface="Calibri"/>
              <a:cs typeface="Calibri"/>
            </a:endParaRPr>
          </a:p>
          <a:p>
            <a:endParaRPr lang="en-GB" dirty="0"/>
          </a:p>
          <a:p>
            <a:r>
              <a:rPr lang="en-GB" dirty="0">
                <a:solidFill>
                  <a:srgbClr val="FF0000"/>
                </a:solidFill>
              </a:rPr>
              <a:t>Texture</a:t>
            </a:r>
            <a:r>
              <a:rPr lang="en-GB" dirty="0"/>
              <a:t> (particle size)</a:t>
            </a:r>
          </a:p>
          <a:p>
            <a:pPr lvl="1"/>
            <a:r>
              <a:rPr lang="en-GB" b="1" dirty="0"/>
              <a:t>Sand</a:t>
            </a:r>
            <a:r>
              <a:rPr lang="en-GB" dirty="0"/>
              <a:t>: 2.0-0.05 mm</a:t>
            </a:r>
          </a:p>
          <a:p>
            <a:pPr lvl="1"/>
            <a:r>
              <a:rPr lang="en-GB" b="1" dirty="0"/>
              <a:t>Silt</a:t>
            </a:r>
            <a:r>
              <a:rPr lang="en-GB" dirty="0"/>
              <a:t>: 0.05-0.002 mm</a:t>
            </a:r>
          </a:p>
          <a:p>
            <a:pPr lvl="1"/>
            <a:r>
              <a:rPr lang="en-GB" b="1" dirty="0"/>
              <a:t>Clay</a:t>
            </a:r>
            <a:r>
              <a:rPr lang="en-GB" dirty="0"/>
              <a:t>: less than 0.002 mm</a:t>
            </a:r>
          </a:p>
          <a:p>
            <a:r>
              <a:rPr lang="en-GB" dirty="0"/>
              <a:t>Texture determines how much water can be contained in the soil. Clays hold the most water</a:t>
            </a:r>
          </a:p>
          <a:p>
            <a:endParaRPr lang="en-GB" dirty="0"/>
          </a:p>
          <a:p>
            <a:endParaRPr lang="en-GB" dirty="0"/>
          </a:p>
          <a:p>
            <a:endParaRPr lang="en-GB" dirty="0"/>
          </a:p>
        </p:txBody>
      </p:sp>
    </p:spTree>
    <p:extLst>
      <p:ext uri="{BB962C8B-B14F-4D97-AF65-F5344CB8AC3E}">
        <p14:creationId xmlns:p14="http://schemas.microsoft.com/office/powerpoint/2010/main" val="1893866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ttp://wegc203116.uni-graz.at/meted/hydro/basic/Runoff/media/graphics/soil_horizon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3120" y="836712"/>
            <a:ext cx="4807798" cy="48077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sz="half" idx="1"/>
          </p:nvPr>
        </p:nvSpPr>
        <p:spPr>
          <a:xfrm>
            <a:off x="467544" y="836712"/>
            <a:ext cx="4032448" cy="5832648"/>
          </a:xfrm>
        </p:spPr>
        <p:txBody>
          <a:bodyPr>
            <a:normAutofit/>
          </a:bodyPr>
          <a:lstStyle/>
          <a:p>
            <a:pPr marL="0" indent="0">
              <a:buNone/>
            </a:pPr>
            <a:r>
              <a:rPr lang="en-GB" dirty="0">
                <a:solidFill>
                  <a:srgbClr val="FF0000"/>
                </a:solidFill>
              </a:rPr>
              <a:t>Soil horizons</a:t>
            </a:r>
          </a:p>
          <a:p>
            <a:r>
              <a:rPr lang="en-GB" dirty="0"/>
              <a:t>Distinctive horizontal layers with different chemistry and structure exposed in a </a:t>
            </a:r>
            <a:r>
              <a:rPr lang="en-GB" dirty="0">
                <a:solidFill>
                  <a:srgbClr val="FF0000"/>
                </a:solidFill>
              </a:rPr>
              <a:t>soil profile</a:t>
            </a:r>
          </a:p>
          <a:p>
            <a:r>
              <a:rPr lang="en-GB" dirty="0">
                <a:solidFill>
                  <a:srgbClr val="FF0000"/>
                </a:solidFill>
              </a:rPr>
              <a:t>O </a:t>
            </a:r>
            <a:r>
              <a:rPr lang="en-GB" dirty="0"/>
              <a:t>=</a:t>
            </a:r>
            <a:r>
              <a:rPr lang="en-GB" dirty="0">
                <a:solidFill>
                  <a:srgbClr val="FF0000"/>
                </a:solidFill>
              </a:rPr>
              <a:t> </a:t>
            </a:r>
            <a:r>
              <a:rPr lang="en-GB" dirty="0"/>
              <a:t>horizons rich in organic matter</a:t>
            </a:r>
          </a:p>
          <a:p>
            <a:r>
              <a:rPr lang="en-GB" dirty="0">
                <a:solidFill>
                  <a:srgbClr val="FF0000"/>
                </a:solidFill>
              </a:rPr>
              <a:t>A, B etc. </a:t>
            </a:r>
            <a:r>
              <a:rPr lang="en-GB" dirty="0"/>
              <a:t>= horizons of different mineral compositions</a:t>
            </a:r>
          </a:p>
          <a:p>
            <a:r>
              <a:rPr lang="en-GB" dirty="0">
                <a:solidFill>
                  <a:srgbClr val="FF0000"/>
                </a:solidFill>
              </a:rPr>
              <a:t>R</a:t>
            </a:r>
            <a:r>
              <a:rPr lang="en-GB" dirty="0"/>
              <a:t> = bedrock</a:t>
            </a:r>
          </a:p>
          <a:p>
            <a:endParaRPr lang="en-GB" dirty="0">
              <a:solidFill>
                <a:srgbClr val="FF0000"/>
              </a:solidFill>
            </a:endParaRPr>
          </a:p>
          <a:p>
            <a:endParaRPr lang="en-GB" dirty="0"/>
          </a:p>
        </p:txBody>
      </p:sp>
    </p:spTree>
    <p:extLst>
      <p:ext uri="{BB962C8B-B14F-4D97-AF65-F5344CB8AC3E}">
        <p14:creationId xmlns:p14="http://schemas.microsoft.com/office/powerpoint/2010/main" val="4003214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Clay minerals</a:t>
            </a:r>
          </a:p>
        </p:txBody>
      </p:sp>
      <p:sp>
        <p:nvSpPr>
          <p:cNvPr id="3" name="Content Placeholder 2"/>
          <p:cNvSpPr>
            <a:spLocks noGrp="1"/>
          </p:cNvSpPr>
          <p:nvPr>
            <p:ph sz="half" idx="1"/>
          </p:nvPr>
        </p:nvSpPr>
        <p:spPr>
          <a:xfrm>
            <a:off x="268069" y="1416409"/>
            <a:ext cx="4332406" cy="3790432"/>
          </a:xfrm>
        </p:spPr>
        <p:txBody>
          <a:bodyPr>
            <a:noAutofit/>
          </a:bodyPr>
          <a:lstStyle/>
          <a:p>
            <a:r>
              <a:rPr lang="en-GB" sz="2400" dirty="0"/>
              <a:t>Clay minerals particularly affect soil chemistry</a:t>
            </a:r>
          </a:p>
          <a:p>
            <a:r>
              <a:rPr lang="en-GB" sz="2400" dirty="0"/>
              <a:t>Atoms are arranged in layers</a:t>
            </a:r>
          </a:p>
          <a:p>
            <a:r>
              <a:rPr lang="en-GB" sz="2400" dirty="0"/>
              <a:t>Water molecules and ions can become weakly bonded in the layers</a:t>
            </a:r>
          </a:p>
          <a:p>
            <a:r>
              <a:rPr lang="en-GB" sz="2400" dirty="0"/>
              <a:t>Can store nutrients in soils such as N, P and K </a:t>
            </a:r>
            <a:r>
              <a:rPr lang="en-GB" sz="2400" i="1" dirty="0"/>
              <a:t>via </a:t>
            </a:r>
            <a:r>
              <a:rPr lang="en-GB" sz="2400" dirty="0"/>
              <a:t>ion exchange</a:t>
            </a:r>
          </a:p>
          <a:p>
            <a:r>
              <a:rPr lang="en-GB" sz="2400" dirty="0"/>
              <a:t>Higher capacity for ion exchange can lead to a more fertile soil</a:t>
            </a:r>
          </a:p>
        </p:txBody>
      </p:sp>
      <p:pic>
        <p:nvPicPr>
          <p:cNvPr id="29700" name="Picture 4" descr="http://www.tulane.edu/%7Esanelson/images/muscovitestruct.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7470" y="4653136"/>
            <a:ext cx="2178844" cy="1728788"/>
          </a:xfrm>
          <a:prstGeom prst="rect">
            <a:avLst/>
          </a:prstGeom>
          <a:noFill/>
          <a:extLst>
            <a:ext uri="{909E8E84-426E-40DD-AFC4-6F175D3DCCD1}">
              <a14:hiddenFill xmlns:a14="http://schemas.microsoft.com/office/drawing/2010/main">
                <a:solidFill>
                  <a:srgbClr val="FFFFFF"/>
                </a:solidFill>
              </a14:hiddenFill>
            </a:ext>
          </a:extLst>
        </p:spPr>
      </p:pic>
      <p:pic>
        <p:nvPicPr>
          <p:cNvPr id="29702" name="Picture 6" descr="http://upload.wikimedia.org/wikipedia/commons/0/0a/Beryl-Muscovite-17168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4397" y="2942947"/>
            <a:ext cx="2640091" cy="21506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030985" y="2647740"/>
            <a:ext cx="903581" cy="300082"/>
          </a:xfrm>
          <a:prstGeom prst="rect">
            <a:avLst/>
          </a:prstGeom>
          <a:noFill/>
        </p:spPr>
        <p:txBody>
          <a:bodyPr wrap="none" rtlCol="0">
            <a:spAutoFit/>
          </a:bodyPr>
          <a:lstStyle/>
          <a:p>
            <a:r>
              <a:rPr lang="en-GB" sz="1350" i="1" dirty="0"/>
              <a:t>Muscovite</a:t>
            </a:r>
          </a:p>
        </p:txBody>
      </p:sp>
      <p:pic>
        <p:nvPicPr>
          <p:cNvPr id="29698" name="Picture 2" descr="http://soils.ag.uidaho.edu/soil205-90/Lecture%208/Image62.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50112" y="263307"/>
            <a:ext cx="2543680" cy="359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470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Cation exchange capacity</a:t>
            </a:r>
          </a:p>
        </p:txBody>
      </p:sp>
      <p:pic>
        <p:nvPicPr>
          <p:cNvPr id="3" name="Picture 2"/>
          <p:cNvPicPr>
            <a:picLocks noChangeAspect="1"/>
          </p:cNvPicPr>
          <p:nvPr/>
        </p:nvPicPr>
        <p:blipFill>
          <a:blip r:embed="rId3"/>
          <a:stretch>
            <a:fillRect/>
          </a:stretch>
        </p:blipFill>
        <p:spPr>
          <a:xfrm>
            <a:off x="406255" y="1417638"/>
            <a:ext cx="8213753" cy="4747666"/>
          </a:xfrm>
          <a:prstGeom prst="rect">
            <a:avLst/>
          </a:prstGeom>
        </p:spPr>
      </p:pic>
    </p:spTree>
    <p:extLst>
      <p:ext uri="{BB962C8B-B14F-4D97-AF65-F5344CB8AC3E}">
        <p14:creationId xmlns:p14="http://schemas.microsoft.com/office/powerpoint/2010/main" val="119284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Agriculture</a:t>
            </a:r>
          </a:p>
        </p:txBody>
      </p:sp>
      <p:sp>
        <p:nvSpPr>
          <p:cNvPr id="3" name="Content Placeholder 2"/>
          <p:cNvSpPr>
            <a:spLocks noGrp="1"/>
          </p:cNvSpPr>
          <p:nvPr>
            <p:ph sz="half" idx="1"/>
          </p:nvPr>
        </p:nvSpPr>
        <p:spPr>
          <a:xfrm>
            <a:off x="457200" y="1600200"/>
            <a:ext cx="8233786" cy="1963634"/>
          </a:xfrm>
        </p:spPr>
        <p:txBody>
          <a:bodyPr vert="horz" lIns="91440" tIns="45720" rIns="91440" bIns="45720" rtlCol="0" anchor="t">
            <a:normAutofit fontScale="85000" lnSpcReduction="20000"/>
          </a:bodyPr>
          <a:lstStyle/>
          <a:p>
            <a:r>
              <a:rPr lang="en-GB" dirty="0"/>
              <a:t>Productivity = capacity of a soil to support growth</a:t>
            </a:r>
          </a:p>
          <a:p>
            <a:r>
              <a:rPr lang="en-GB" dirty="0"/>
              <a:t>Productive soils = </a:t>
            </a:r>
            <a:r>
              <a:rPr lang="en-GB" dirty="0" err="1"/>
              <a:t>mollisols</a:t>
            </a:r>
            <a:r>
              <a:rPr lang="en-GB" dirty="0"/>
              <a:t>, </a:t>
            </a:r>
            <a:r>
              <a:rPr lang="en-GB" dirty="0" err="1"/>
              <a:t>alfisols</a:t>
            </a:r>
            <a:r>
              <a:rPr lang="en-GB" dirty="0"/>
              <a:t> and spodosols</a:t>
            </a:r>
          </a:p>
          <a:p>
            <a:r>
              <a:rPr lang="en-GB" dirty="0"/>
              <a:t>Less productive soils include </a:t>
            </a:r>
            <a:r>
              <a:rPr lang="en-GB" dirty="0" err="1"/>
              <a:t>entisols</a:t>
            </a:r>
            <a:r>
              <a:rPr lang="en-GB" dirty="0"/>
              <a:t>, </a:t>
            </a:r>
            <a:r>
              <a:rPr lang="en-GB" dirty="0" err="1"/>
              <a:t>aridisols</a:t>
            </a:r>
            <a:r>
              <a:rPr lang="en-GB" dirty="0"/>
              <a:t>, </a:t>
            </a:r>
            <a:r>
              <a:rPr lang="en-GB" dirty="0" err="1"/>
              <a:t>oxisols</a:t>
            </a:r>
            <a:endParaRPr lang="en-GB" dirty="0"/>
          </a:p>
          <a:p>
            <a:r>
              <a:rPr lang="en-GB" dirty="0"/>
              <a:t>Only 10 % of Earth’s land surface is productive cropland</a:t>
            </a:r>
          </a:p>
          <a:p>
            <a:r>
              <a:rPr lang="en-GB" dirty="0"/>
              <a:t>Produces 97 % of the Earth’s food</a:t>
            </a:r>
          </a:p>
          <a:p>
            <a:pPr marL="0" indent="0">
              <a:buNone/>
            </a:pPr>
            <a:endParaRPr lang="en-GB" dirty="0">
              <a:ea typeface="Calibri"/>
              <a:cs typeface="Calibri"/>
            </a:endParaRPr>
          </a:p>
        </p:txBody>
      </p:sp>
      <p:pic>
        <p:nvPicPr>
          <p:cNvPr id="4" name="Picture 3" descr="A map of the world&#10;&#10;AI-generated content may be incorrect.">
            <a:extLst>
              <a:ext uri="{FF2B5EF4-FFF2-40B4-BE49-F238E27FC236}">
                <a16:creationId xmlns:a16="http://schemas.microsoft.com/office/drawing/2014/main" id="{71DE919D-8CC2-044F-2AC2-48F17BD6E072}"/>
              </a:ext>
            </a:extLst>
          </p:cNvPr>
          <p:cNvPicPr>
            <a:picLocks noChangeAspect="1"/>
          </p:cNvPicPr>
          <p:nvPr/>
        </p:nvPicPr>
        <p:blipFill>
          <a:blip r:embed="rId3"/>
          <a:stretch>
            <a:fillRect/>
          </a:stretch>
        </p:blipFill>
        <p:spPr>
          <a:xfrm>
            <a:off x="2085137" y="3432244"/>
            <a:ext cx="4848121" cy="3221544"/>
          </a:xfrm>
          <a:prstGeom prst="rect">
            <a:avLst/>
          </a:prstGeom>
        </p:spPr>
      </p:pic>
      <p:sp>
        <p:nvSpPr>
          <p:cNvPr id="5" name="TextBox 4">
            <a:extLst>
              <a:ext uri="{FF2B5EF4-FFF2-40B4-BE49-F238E27FC236}">
                <a16:creationId xmlns:a16="http://schemas.microsoft.com/office/drawing/2014/main" id="{6BCCFDEB-984C-F327-A54D-14212E8F261E}"/>
              </a:ext>
            </a:extLst>
          </p:cNvPr>
          <p:cNvSpPr txBox="1"/>
          <p:nvPr/>
        </p:nvSpPr>
        <p:spPr>
          <a:xfrm>
            <a:off x="6930851" y="6214905"/>
            <a:ext cx="22156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4"/>
              </a:rPr>
              <a:t>Soil maps of the world - ScienceDirect</a:t>
            </a:r>
            <a:endParaRPr lang="en-US"/>
          </a:p>
        </p:txBody>
      </p:sp>
    </p:spTree>
    <p:extLst>
      <p:ext uri="{BB962C8B-B14F-4D97-AF65-F5344CB8AC3E}">
        <p14:creationId xmlns:p14="http://schemas.microsoft.com/office/powerpoint/2010/main" val="2074765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492E80-1976-4126-CC8A-E9A701D4B0C8}"/>
              </a:ext>
            </a:extLst>
          </p:cNvPr>
          <p:cNvPicPr>
            <a:picLocks noChangeAspect="1"/>
          </p:cNvPicPr>
          <p:nvPr/>
        </p:nvPicPr>
        <p:blipFill rotWithShape="1">
          <a:blip r:embed="rId2"/>
          <a:srcRect l="24208" r="792"/>
          <a:stretch/>
        </p:blipFill>
        <p:spPr>
          <a:xfrm>
            <a:off x="2" y="10"/>
            <a:ext cx="9143998" cy="6857988"/>
          </a:xfrm>
          <a:prstGeom prst="rect">
            <a:avLst/>
          </a:prstGeom>
        </p:spPr>
      </p:pic>
      <p:sp>
        <p:nvSpPr>
          <p:cNvPr id="11" name="Rectangle 10">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34286" y="2516347"/>
            <a:ext cx="6864098" cy="1819211"/>
          </a:xfrm>
          <a:prstGeom prst="rect">
            <a:avLst/>
          </a:prstGeom>
          <a:gradFill>
            <a:gsLst>
              <a:gs pos="0">
                <a:schemeClr val="accent5">
                  <a:lumMod val="60000"/>
                  <a:lumOff val="40000"/>
                </a:schemeClr>
              </a:gs>
              <a:gs pos="43000">
                <a:schemeClr val="accent2">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871912" y="0"/>
            <a:ext cx="5286509" cy="6858000"/>
          </a:xfrm>
          <a:prstGeom prst="rect">
            <a:avLst/>
          </a:prstGeom>
          <a:gradFill flip="none" rotWithShape="1">
            <a:gsLst>
              <a:gs pos="19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6829" y="812504"/>
            <a:ext cx="6864096" cy="5239087"/>
          </a:xfrm>
          <a:prstGeom prst="rect">
            <a:avLst/>
          </a:prstGeom>
          <a:gradFill flip="none" rotWithShape="1">
            <a:gsLst>
              <a:gs pos="0">
                <a:schemeClr val="accent5"/>
              </a:gs>
              <a:gs pos="64000">
                <a:schemeClr val="accent2">
                  <a:alpha val="0"/>
                </a:schemeClr>
              </a:gs>
            </a:gsLst>
            <a:lin ang="7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01EB5855-8EB7-1AE5-9030-5D0AA3C1A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166784" y="876108"/>
            <a:ext cx="2839273" cy="9144001"/>
          </a:xfrm>
          <a:prstGeom prst="rect">
            <a:avLst/>
          </a:prstGeom>
          <a:gradFill>
            <a:gsLst>
              <a:gs pos="0">
                <a:schemeClr val="accent2"/>
              </a:gs>
              <a:gs pos="53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98783B6-499F-144F-0262-FC89730AB55B}"/>
              </a:ext>
            </a:extLst>
          </p:cNvPr>
          <p:cNvSpPr>
            <a:spLocks noGrp="1"/>
          </p:cNvSpPr>
          <p:nvPr>
            <p:ph type="title"/>
          </p:nvPr>
        </p:nvSpPr>
        <p:spPr>
          <a:xfrm>
            <a:off x="5798601" y="2138209"/>
            <a:ext cx="2784615" cy="2839273"/>
          </a:xfrm>
        </p:spPr>
        <p:txBody>
          <a:bodyPr vert="horz" lIns="91440" tIns="45720" rIns="91440" bIns="45720" rtlCol="0" anchor="b">
            <a:normAutofit/>
          </a:bodyPr>
          <a:lstStyle/>
          <a:p>
            <a:pPr>
              <a:lnSpc>
                <a:spcPct val="90000"/>
              </a:lnSpc>
            </a:pPr>
            <a:r>
              <a:rPr lang="en-US" sz="3100">
                <a:solidFill>
                  <a:srgbClr val="FFFFFF"/>
                </a:solidFill>
              </a:rPr>
              <a:t>Fertilizers</a:t>
            </a:r>
          </a:p>
        </p:txBody>
      </p:sp>
      <p:sp>
        <p:nvSpPr>
          <p:cNvPr id="5" name="Text Placeholder 4">
            <a:extLst>
              <a:ext uri="{FF2B5EF4-FFF2-40B4-BE49-F238E27FC236}">
                <a16:creationId xmlns:a16="http://schemas.microsoft.com/office/drawing/2014/main" id="{61D1A965-FAF1-09E3-7692-37CBE06A891B}"/>
              </a:ext>
            </a:extLst>
          </p:cNvPr>
          <p:cNvSpPr>
            <a:spLocks noGrp="1"/>
          </p:cNvSpPr>
          <p:nvPr>
            <p:ph type="body" idx="1"/>
          </p:nvPr>
        </p:nvSpPr>
        <p:spPr>
          <a:xfrm>
            <a:off x="5798601" y="5149388"/>
            <a:ext cx="2784615" cy="1197216"/>
          </a:xfrm>
        </p:spPr>
        <p:txBody>
          <a:bodyPr vert="horz" lIns="91440" tIns="45720" rIns="91440" bIns="45720" rtlCol="0">
            <a:normAutofit/>
          </a:bodyPr>
          <a:lstStyle/>
          <a:p>
            <a:pPr>
              <a:lnSpc>
                <a:spcPct val="90000"/>
              </a:lnSpc>
              <a:spcBef>
                <a:spcPts val="1000"/>
              </a:spcBef>
            </a:pPr>
            <a:endParaRPr lang="en-US" sz="1700">
              <a:solidFill>
                <a:srgbClr val="FFFFFF"/>
              </a:solidFill>
            </a:endParaRPr>
          </a:p>
        </p:txBody>
      </p:sp>
    </p:spTree>
    <p:extLst>
      <p:ext uri="{BB962C8B-B14F-4D97-AF65-F5344CB8AC3E}">
        <p14:creationId xmlns:p14="http://schemas.microsoft.com/office/powerpoint/2010/main" val="2223602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759805"/>
            <a:ext cx="7615758" cy="941003"/>
          </a:xfrm>
        </p:spPr>
        <p:txBody>
          <a:bodyPr>
            <a:normAutofit/>
          </a:bodyPr>
          <a:lstStyle/>
          <a:p>
            <a:r>
              <a:rPr lang="en-GB" sz="3500" dirty="0">
                <a:solidFill>
                  <a:srgbClr val="FFFFFF"/>
                </a:solidFill>
              </a:rPr>
              <a:t>Learning outcomes</a:t>
            </a:r>
          </a:p>
        </p:txBody>
      </p:sp>
      <p:pic>
        <p:nvPicPr>
          <p:cNvPr id="4" name="Picture 3">
            <a:extLst>
              <a:ext uri="{FF2B5EF4-FFF2-40B4-BE49-F238E27FC236}">
                <a16:creationId xmlns:a16="http://schemas.microsoft.com/office/drawing/2014/main" id="{F5D187A1-7DF2-4C7A-AE81-F2B6982AADA7}"/>
              </a:ext>
            </a:extLst>
          </p:cNvPr>
          <p:cNvPicPr>
            <a:picLocks noChangeAspect="1"/>
          </p:cNvPicPr>
          <p:nvPr/>
        </p:nvPicPr>
        <p:blipFill rotWithShape="1">
          <a:blip r:embed="rId3"/>
          <a:srcRect r="1791" b="-2"/>
          <a:stretch/>
        </p:blipFill>
        <p:spPr>
          <a:xfrm>
            <a:off x="6909932" y="263192"/>
            <a:ext cx="1955089" cy="1934227"/>
          </a:xfrm>
          <a:prstGeom prst="rect">
            <a:avLst/>
          </a:prstGeom>
        </p:spPr>
      </p:pic>
      <p:sp>
        <p:nvSpPr>
          <p:cNvPr id="3" name="Content Placeholder 2"/>
          <p:cNvSpPr>
            <a:spLocks noGrp="1"/>
          </p:cNvSpPr>
          <p:nvPr>
            <p:ph idx="1"/>
          </p:nvPr>
        </p:nvSpPr>
        <p:spPr>
          <a:xfrm>
            <a:off x="503040" y="2852936"/>
            <a:ext cx="8640960" cy="4815097"/>
          </a:xfrm>
        </p:spPr>
        <p:txBody>
          <a:bodyPr>
            <a:noAutofit/>
          </a:bodyPr>
          <a:lstStyle/>
          <a:p>
            <a:pPr lvl="1">
              <a:buFont typeface="Arial" panose="020B0604020202020204" pitchFamily="34" charset="0"/>
              <a:buChar char="•"/>
            </a:pPr>
            <a:r>
              <a:rPr lang="en-GB" sz="2400" dirty="0"/>
              <a:t>Explain why we need fertilizer minerals</a:t>
            </a:r>
          </a:p>
          <a:p>
            <a:pPr lvl="1">
              <a:buFont typeface="Arial" panose="020B0604020202020204" pitchFamily="34" charset="0"/>
              <a:buChar char="•"/>
            </a:pPr>
            <a:r>
              <a:rPr lang="en-GB" sz="2400" dirty="0"/>
              <a:t>Identify where and how fertilizer minerals occur</a:t>
            </a:r>
          </a:p>
          <a:p>
            <a:pPr lvl="1">
              <a:buFont typeface="Arial" panose="020B0604020202020204" pitchFamily="34" charset="0"/>
              <a:buChar char="•"/>
            </a:pPr>
            <a:r>
              <a:rPr lang="en-GB" sz="2400" dirty="0"/>
              <a:t>Explain the processing of these minerals</a:t>
            </a:r>
          </a:p>
          <a:p>
            <a:pPr marL="457200" lvl="1" indent="0">
              <a:buNone/>
            </a:pPr>
            <a:endParaRPr lang="en-GB" sz="1400" dirty="0"/>
          </a:p>
          <a:p>
            <a:pPr lvl="1">
              <a:buFont typeface="Arial" panose="020B0604020202020204" pitchFamily="34" charset="0"/>
              <a:buChar char="•"/>
            </a:pPr>
            <a:endParaRPr lang="en-GB" sz="1400" dirty="0"/>
          </a:p>
          <a:p>
            <a:pPr lvl="1">
              <a:buFont typeface="Arial" panose="020B0604020202020204" pitchFamily="34" charset="0"/>
              <a:buChar char="•"/>
            </a:pPr>
            <a:endParaRPr lang="en-GB" sz="1400" dirty="0"/>
          </a:p>
          <a:p>
            <a:endParaRPr lang="en-GB" sz="1400" dirty="0"/>
          </a:p>
        </p:txBody>
      </p:sp>
      <p:sp>
        <p:nvSpPr>
          <p:cNvPr id="5" name="TextBox 4">
            <a:extLst>
              <a:ext uri="{FF2B5EF4-FFF2-40B4-BE49-F238E27FC236}">
                <a16:creationId xmlns:a16="http://schemas.microsoft.com/office/drawing/2014/main" id="{130208E7-10AE-0D4E-B9DC-C02ACFF0855B}"/>
              </a:ext>
            </a:extLst>
          </p:cNvPr>
          <p:cNvSpPr txBox="1"/>
          <p:nvPr/>
        </p:nvSpPr>
        <p:spPr>
          <a:xfrm>
            <a:off x="343712" y="522419"/>
            <a:ext cx="4293548" cy="707886"/>
          </a:xfrm>
          <a:prstGeom prst="rect">
            <a:avLst/>
          </a:prstGeom>
          <a:noFill/>
        </p:spPr>
        <p:txBody>
          <a:bodyPr wrap="none" lIns="91440" tIns="45720" rIns="91440" bIns="45720" rtlCol="0" anchor="t">
            <a:spAutoFit/>
          </a:bodyPr>
          <a:lstStyle/>
          <a:p>
            <a:r>
              <a:rPr lang="en-GB" sz="4000" b="1" dirty="0"/>
              <a:t>Learning Outcomes</a:t>
            </a:r>
          </a:p>
        </p:txBody>
      </p:sp>
    </p:spTree>
    <p:extLst>
      <p:ext uri="{BB962C8B-B14F-4D97-AF65-F5344CB8AC3E}">
        <p14:creationId xmlns:p14="http://schemas.microsoft.com/office/powerpoint/2010/main" val="809029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Plant growth</a:t>
            </a:r>
          </a:p>
        </p:txBody>
      </p:sp>
      <p:sp>
        <p:nvSpPr>
          <p:cNvPr id="3" name="Content Placeholder 2"/>
          <p:cNvSpPr>
            <a:spLocks noGrp="1"/>
          </p:cNvSpPr>
          <p:nvPr>
            <p:ph idx="1"/>
          </p:nvPr>
        </p:nvSpPr>
        <p:spPr/>
        <p:txBody>
          <a:bodyPr vert="horz" lIns="91440" tIns="45720" rIns="91440" bIns="45720" rtlCol="0" anchor="t">
            <a:normAutofit/>
          </a:bodyPr>
          <a:lstStyle/>
          <a:p>
            <a:r>
              <a:rPr lang="en-GB" dirty="0"/>
              <a:t>Food supply depends on three types of resources – soils, water and </a:t>
            </a:r>
            <a:r>
              <a:rPr lang="en-GB" b="1" dirty="0"/>
              <a:t>fertilizer</a:t>
            </a:r>
          </a:p>
          <a:p>
            <a:endParaRPr lang="en-GB" dirty="0"/>
          </a:p>
        </p:txBody>
      </p:sp>
      <p:pic>
        <p:nvPicPr>
          <p:cNvPr id="1026" name="Picture 2" descr="http://www.hydroponicist.com/pages/images/nutrients-plants-elements.jpg"/>
          <p:cNvPicPr>
            <a:picLocks noChangeAspect="1" noChangeArrowheads="1"/>
          </p:cNvPicPr>
          <p:nvPr/>
        </p:nvPicPr>
        <p:blipFill rotWithShape="1">
          <a:blip r:embed="rId4">
            <a:extLst>
              <a:ext uri="{28A0092B-C50C-407E-A947-70E740481C1C}">
                <a14:useLocalDpi xmlns:a14="http://schemas.microsoft.com/office/drawing/2010/main" val="0"/>
              </a:ext>
            </a:extLst>
          </a:blip>
          <a:srcRect b="33104"/>
          <a:stretch/>
        </p:blipFill>
        <p:spPr bwMode="auto">
          <a:xfrm>
            <a:off x="1643127" y="2987937"/>
            <a:ext cx="5349122" cy="33303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82812" y="3470527"/>
            <a:ext cx="1734642" cy="1200329"/>
          </a:xfrm>
          <a:prstGeom prst="rect">
            <a:avLst/>
          </a:prstGeom>
          <a:solidFill>
            <a:schemeClr val="bg1"/>
          </a:solidFill>
        </p:spPr>
        <p:txBody>
          <a:bodyPr wrap="none" rtlCol="0">
            <a:spAutoFit/>
          </a:bodyPr>
          <a:lstStyle/>
          <a:p>
            <a:r>
              <a:rPr lang="en-GB" b="1" dirty="0"/>
              <a:t>Macro elements</a:t>
            </a:r>
          </a:p>
          <a:p>
            <a:r>
              <a:rPr lang="en-GB" dirty="0"/>
              <a:t>N-Nitrogen</a:t>
            </a:r>
          </a:p>
          <a:p>
            <a:r>
              <a:rPr lang="en-GB" dirty="0"/>
              <a:t>P-Phosphorous</a:t>
            </a:r>
          </a:p>
          <a:p>
            <a:r>
              <a:rPr lang="en-GB" dirty="0"/>
              <a:t>K-Potassium</a:t>
            </a:r>
          </a:p>
        </p:txBody>
      </p:sp>
      <p:sp>
        <p:nvSpPr>
          <p:cNvPr id="6" name="TextBox 5"/>
          <p:cNvSpPr txBox="1"/>
          <p:nvPr/>
        </p:nvSpPr>
        <p:spPr>
          <a:xfrm>
            <a:off x="1259632" y="5354703"/>
            <a:ext cx="2115644" cy="1477328"/>
          </a:xfrm>
          <a:prstGeom prst="rect">
            <a:avLst/>
          </a:prstGeom>
          <a:solidFill>
            <a:schemeClr val="bg1"/>
          </a:solidFill>
        </p:spPr>
        <p:txBody>
          <a:bodyPr wrap="none" rtlCol="0">
            <a:spAutoFit/>
          </a:bodyPr>
          <a:lstStyle/>
          <a:p>
            <a:r>
              <a:rPr lang="en-GB" b="1" dirty="0"/>
              <a:t>Secondary elements</a:t>
            </a:r>
          </a:p>
          <a:p>
            <a:r>
              <a:rPr lang="en-GB" dirty="0"/>
              <a:t>Ca-Calcium</a:t>
            </a:r>
          </a:p>
          <a:p>
            <a:r>
              <a:rPr lang="en-GB" dirty="0"/>
              <a:t>Mg-Magnesium</a:t>
            </a:r>
          </a:p>
          <a:p>
            <a:r>
              <a:rPr lang="en-GB" dirty="0"/>
              <a:t>S-Sulphur</a:t>
            </a:r>
          </a:p>
          <a:p>
            <a:endParaRPr lang="en-GB" dirty="0"/>
          </a:p>
        </p:txBody>
      </p:sp>
      <p:sp>
        <p:nvSpPr>
          <p:cNvPr id="5" name="TextBox 4"/>
          <p:cNvSpPr txBox="1"/>
          <p:nvPr/>
        </p:nvSpPr>
        <p:spPr>
          <a:xfrm>
            <a:off x="6444208" y="3637473"/>
            <a:ext cx="1837362" cy="2031325"/>
          </a:xfrm>
          <a:prstGeom prst="rect">
            <a:avLst/>
          </a:prstGeom>
          <a:noFill/>
        </p:spPr>
        <p:txBody>
          <a:bodyPr wrap="none" rtlCol="0">
            <a:spAutoFit/>
          </a:bodyPr>
          <a:lstStyle/>
          <a:p>
            <a:r>
              <a:rPr lang="en-GB" b="1" dirty="0"/>
              <a:t>Micronutrients</a:t>
            </a:r>
          </a:p>
          <a:p>
            <a:r>
              <a:rPr lang="en-GB" dirty="0"/>
              <a:t>Fe-Iron</a:t>
            </a:r>
          </a:p>
          <a:p>
            <a:r>
              <a:rPr lang="en-GB" dirty="0"/>
              <a:t>B-Boron</a:t>
            </a:r>
          </a:p>
          <a:p>
            <a:r>
              <a:rPr lang="en-GB" dirty="0"/>
              <a:t>Zn-Zinc</a:t>
            </a:r>
          </a:p>
          <a:p>
            <a:r>
              <a:rPr lang="en-GB" dirty="0"/>
              <a:t>Cu-Copper</a:t>
            </a:r>
          </a:p>
          <a:p>
            <a:r>
              <a:rPr lang="en-GB" dirty="0" err="1"/>
              <a:t>Mn</a:t>
            </a:r>
            <a:r>
              <a:rPr lang="en-GB" dirty="0"/>
              <a:t>-Manganese</a:t>
            </a:r>
          </a:p>
          <a:p>
            <a:r>
              <a:rPr lang="en-GB" dirty="0"/>
              <a:t>Mo-Molybdenum</a:t>
            </a:r>
          </a:p>
        </p:txBody>
      </p:sp>
      <p:sp>
        <p:nvSpPr>
          <p:cNvPr id="8" name="Oval 7"/>
          <p:cNvSpPr/>
          <p:nvPr/>
        </p:nvSpPr>
        <p:spPr>
          <a:xfrm>
            <a:off x="301230" y="3212976"/>
            <a:ext cx="2110530" cy="161379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86283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Fertilizers: History</a:t>
            </a:r>
          </a:p>
        </p:txBody>
      </p:sp>
      <p:sp>
        <p:nvSpPr>
          <p:cNvPr id="3" name="Content Placeholder 2"/>
          <p:cNvSpPr>
            <a:spLocks noGrp="1"/>
          </p:cNvSpPr>
          <p:nvPr>
            <p:ph idx="1"/>
          </p:nvPr>
        </p:nvSpPr>
        <p:spPr>
          <a:xfrm>
            <a:off x="251520" y="1439478"/>
            <a:ext cx="4104456" cy="5418521"/>
          </a:xfrm>
        </p:spPr>
        <p:txBody>
          <a:bodyPr>
            <a:normAutofit fontScale="92500" lnSpcReduction="20000"/>
          </a:bodyPr>
          <a:lstStyle/>
          <a:p>
            <a:r>
              <a:rPr lang="en-GB" dirty="0"/>
              <a:t>First mass production: Peruvian guano deposits mined and traded from 1800-1880</a:t>
            </a:r>
          </a:p>
          <a:p>
            <a:r>
              <a:rPr lang="en-GB" dirty="0"/>
              <a:t>Nitrates  (S. America) and phosphates (Europe) took over</a:t>
            </a:r>
          </a:p>
          <a:p>
            <a:r>
              <a:rPr lang="en-GB" dirty="0"/>
              <a:t>Superphosphate = water soluble phosphate (1840)</a:t>
            </a:r>
          </a:p>
          <a:p>
            <a:r>
              <a:rPr lang="en-GB" dirty="0"/>
              <a:t>Potassium-from wood ash = Potash</a:t>
            </a:r>
          </a:p>
          <a:p>
            <a:endParaRPr lang="en-GB" dirty="0"/>
          </a:p>
          <a:p>
            <a:endParaRPr lang="en-GB" dirty="0"/>
          </a:p>
        </p:txBody>
      </p:sp>
      <p:pic>
        <p:nvPicPr>
          <p:cNvPr id="3074" name="Picture 2" descr="http://freeassociationdesign.files.wordpress.com/2010/09/najafi_burnett_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1439478"/>
            <a:ext cx="2135105" cy="147600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eatdrinkbetter.com/files/2010/02/cornwheat-histor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7738" y="3135960"/>
            <a:ext cx="4510726" cy="3437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534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growth in different colors&#10;&#10;AI-generated content may be incorrect.">
            <a:extLst>
              <a:ext uri="{FF2B5EF4-FFF2-40B4-BE49-F238E27FC236}">
                <a16:creationId xmlns:a16="http://schemas.microsoft.com/office/drawing/2014/main" id="{4B185A59-51B3-635B-4F27-78DE84D27717}"/>
              </a:ext>
            </a:extLst>
          </p:cNvPr>
          <p:cNvPicPr>
            <a:picLocks noChangeAspect="1"/>
          </p:cNvPicPr>
          <p:nvPr/>
        </p:nvPicPr>
        <p:blipFill>
          <a:blip r:embed="rId3"/>
          <a:stretch>
            <a:fillRect/>
          </a:stretch>
        </p:blipFill>
        <p:spPr>
          <a:xfrm>
            <a:off x="971550" y="699146"/>
            <a:ext cx="7200900" cy="5057775"/>
          </a:xfrm>
          <a:prstGeom prst="rect">
            <a:avLst/>
          </a:prstGeom>
        </p:spPr>
      </p:pic>
    </p:spTree>
    <p:extLst>
      <p:ext uri="{BB962C8B-B14F-4D97-AF65-F5344CB8AC3E}">
        <p14:creationId xmlns:p14="http://schemas.microsoft.com/office/powerpoint/2010/main" val="2289031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Nitrogen</a:t>
            </a:r>
          </a:p>
        </p:txBody>
      </p:sp>
      <p:sp>
        <p:nvSpPr>
          <p:cNvPr id="3" name="Content Placeholder 2"/>
          <p:cNvSpPr>
            <a:spLocks noGrp="1"/>
          </p:cNvSpPr>
          <p:nvPr>
            <p:ph idx="1"/>
          </p:nvPr>
        </p:nvSpPr>
        <p:spPr>
          <a:xfrm>
            <a:off x="457200" y="1600200"/>
            <a:ext cx="4042792" cy="4525963"/>
          </a:xfrm>
        </p:spPr>
        <p:txBody>
          <a:bodyPr>
            <a:normAutofit/>
          </a:bodyPr>
          <a:lstStyle/>
          <a:p>
            <a:r>
              <a:rPr lang="en-GB" dirty="0"/>
              <a:t>Nitrate is very water soluble therefore deposits are rare</a:t>
            </a:r>
          </a:p>
          <a:p>
            <a:r>
              <a:rPr lang="en-GB" dirty="0"/>
              <a:t>Saltpetre- Potassium nitrate (KNO</a:t>
            </a:r>
            <a:r>
              <a:rPr lang="en-GB" baseline="-25000" dirty="0"/>
              <a:t>3</a:t>
            </a:r>
            <a:r>
              <a:rPr lang="en-GB" dirty="0"/>
              <a:t>)</a:t>
            </a:r>
          </a:p>
          <a:p>
            <a:r>
              <a:rPr lang="en-GB" dirty="0"/>
              <a:t>Sodium nitrate –NaNO</a:t>
            </a:r>
            <a:r>
              <a:rPr lang="en-GB" baseline="-25000" dirty="0"/>
              <a:t>3 </a:t>
            </a:r>
            <a:r>
              <a:rPr lang="en-GB" dirty="0"/>
              <a:t>(Chile)</a:t>
            </a:r>
          </a:p>
        </p:txBody>
      </p:sp>
      <p:pic>
        <p:nvPicPr>
          <p:cNvPr id="4098" name="Picture 2" descr="http://www.caves.org/grotto/meg/images/dave_mueller_wildcat_saltpeter_cav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5604" y="2435546"/>
            <a:ext cx="3929140" cy="264963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55322" y="6581000"/>
            <a:ext cx="3788678" cy="276999"/>
          </a:xfrm>
          <a:prstGeom prst="rect">
            <a:avLst/>
          </a:prstGeom>
        </p:spPr>
        <p:txBody>
          <a:bodyPr wrap="square">
            <a:spAutoFit/>
          </a:bodyPr>
          <a:lstStyle/>
          <a:p>
            <a:r>
              <a:rPr lang="en-GB" sz="1200" dirty="0"/>
              <a:t>http://www.caves.org/grotto/meg/meg_photos_20.html</a:t>
            </a:r>
          </a:p>
        </p:txBody>
      </p:sp>
      <p:sp>
        <p:nvSpPr>
          <p:cNvPr id="5" name="TextBox 4"/>
          <p:cNvSpPr txBox="1"/>
          <p:nvPr/>
        </p:nvSpPr>
        <p:spPr>
          <a:xfrm>
            <a:off x="7217861" y="2056988"/>
            <a:ext cx="1530603" cy="369332"/>
          </a:xfrm>
          <a:prstGeom prst="rect">
            <a:avLst/>
          </a:prstGeom>
          <a:noFill/>
        </p:spPr>
        <p:txBody>
          <a:bodyPr wrap="square" rtlCol="0">
            <a:spAutoFit/>
          </a:bodyPr>
          <a:lstStyle/>
          <a:p>
            <a:r>
              <a:rPr lang="en-GB" i="1" dirty="0"/>
              <a:t>Saltpetre cave</a:t>
            </a:r>
          </a:p>
        </p:txBody>
      </p:sp>
      <p:sp>
        <p:nvSpPr>
          <p:cNvPr id="6" name="AutoShape 4" descr="data:image/jpeg;base64,/9j/4AAQSkZJRgABAQAAAQABAAD/2wCEAAkGBxQTEhUUExQVFRUWGBwaGRgYGRocHxcZHRoaGhccGh8cHCggHBsoHBcXITEiJykrLi4uGB8zODMsNygtLisBCgoKDg0OGxAQGywkHyQsLCwsLCwsLCwsLCwsLCwsLCwsLCwsLCwsLCwsLCwsLCwsLCwsLCwsLCwsLCw3LCw3K//AABEIALgBEgMBIgACEQEDEQH/xAAbAAACAwEBAQAAAAAAAAAAAAAABQMEBgECB//EADoQAAECBAUCBQMDAwMEAwEAAAECEQADITEEBRJBUSJhBhMycYGRobFCwdFS4fAUI2IVQ3LxB4KSJP/EABoBAAIDAQEAAAAAAAAAAAAAAAIDAAEEBQb/xAAmEQACAgICAQQCAwEAAAAAAAAAAQIREiEDMUEEEyJRYXEzQoEy/9oADAMBAAIRAxEAPwD4jBBBBECCCCIQIIIIhAgggiECCCARCA0dgjoiFoAI02XeC50xIJUlDh2Lkh7At2rFnwb4YK5iJ01J8sEEJY9VaE8Jse8fWpGFQkspkEfqK0sQwaldydoXKaRs4fT2rkjH5BkUrDy2opRLlShfZhwLwymyCg0s0XZk5AISpSKi+xPbcB/aPE0l3LEAMLM1tt4UuRSdHQXHgimlZNOTQdz+Y5/qwksSx7/5SPGITUFBtWvPYwYzComkFS9KjZIFH3cvTmF+5uhvt6sZ4SYxCqUNizHh+bw+wWZAKUXDGjNUAXJMZjDYYgBOoFIN3c9yIsjDAemaRy/8GgEE5IW4Wa444BBNS1yA9PbmEU7FBdUDdg4L934EVJaJnpKy3IYBue5i9gkIO6le5ufi0UpWLlxYlZYUQSSOGApEUpINi52/t/aHIwks0fqNgD9fmI5uFWToShVbkgbbCrPaDbKteSHCal0ao3bbaGKZQINQ9aFwCQW/MQysMoLBILAtpZieIhxM9SVadHoJNa0Jsd2eA/ZTd9DbB4JG5SerYCzOGo7gjmIMdjAFrSk6k6aAUb/ifdjEaMylnQQCjYoAUX//ACIW4jFgGmpIJ1CjXo9S5FxF2gFFuWzwhZlghQJLsahhXYfEJvEeMWSgoV6lFJBYtw5j0maSpnuXp70+kRTZgKnIBSi+zkwqSy0jVF4SsYZICQyjQmqmcACgIHEPcLIKSChWsdqc3EZs44gagW2YNY1txEsvEspMyWonWkq0uw1WIVyIZCGKoTyNylZT8deMRhZbS1JOImAhIDf7SausiwU4oPmPiS1kkkkkkuSdybvGr/8AkWX/AP0ian0zEJf/AIrDhQ+0ZKNUVo5nK25HYIIIIWeYIIIgIQQQRCBBHWgiEOR0QNHYhdHI7BE2FwypiglCSpRsBELIkiNZ4d8J6xrn6kjZDVPvwIaeGfC3lkKWkLm35TLAFVdyOY2iZgZJAFr7nue8J5J1pHQ9N6W/lIt4eWUgJ8tKpYa5oCU1aoNtjCvPsKtQBQQnTRn2o30+YcSJoAFvURXu394ixYopLBwQPz39ozT6Ohx1lZhU4GcFFgV7li9Pq8aHK0rUhgkkJFXFufvHtEsAWLO/zHcJQkDelXYv7GFLTsfL5KjziUMhJSknZRJAAP0iPKZH+6yyGLWcuKMxpeleI9lnCCX5L09/eJpygwqVVoaVAZqNT5gordgvqi1PwSpanZnc2tdo9S8KtTAJtT96vHrLsbORYS1AkHqDlwKcRHjcVPBUVTWO4B+R+YZaQv5XRJOlqQeopc1FfzShi6ZKpdCQFAamNHBdqv2O0ZhCNbkE/ANzzBiZBQQFOVE0apL7UipcmtFYW9s1OFxyHCS+omqtWxsQBbb3hkpXlevqUSGe9Kkh+ON4zU0BKNJDqTcu9aO2/Zu0epU+YtSdWwoS1PzFRk0DycV/o1E8KXMCgpSUBIUdQYPcC9XFTxFJWGSUFeoE9SnqQvgGJhOVp1CYBpFRp/Y3+YQ+IfFBS6UVo2lICWLXKvm0NbVbM8eN9I95jnYlyAydKx6mrqHPaM5h8yVPUXegtsBCzEOoalKLKcBBLlHelxU3ivhpXlggFx/nMZ5Ns0qKj0P5+KEpL/qPzFTCzVKerbv2ijIlqWxYkPxSm0XcTJWlmSUOTb8PD+OPkRNlgTgUsWY0LEuOP894qrxxSAEuW5jzOCkA7GxHH8xWVMYBmq/xD2lWxKkyLOpPny1FYAYEjsbx88jU+KscoIRLBYKqpt2t8RloKC0Y/UO5HYIIIMSeYIBHWiAnI6IGgEQgQR2OtELOR0CBo+g+FPAw0JnYuWoBR6ZZo4DdRF27RTdDIQcnSFvhTwYZ4E2eSiUbJbqWOQ4onvvG3yLwaJIIQ9aqUfURdKR2h5NmolosAKBA7AMm2wF4my/NTp6iKOkkbkUB/EKcvLNsOKuitiFIkS5iEvqUNJOzEgKrubiK2HSNCxTpST71o3wY8z5amU49aR/JMVU4jpLMxofisZsrlbOlGFR0NUl5c4A20kfB/vEa1uNW4Y071/MU5U5gAB6h9Q4ilMxoqKuQWb94k2ukXGPkaYDEq9KlukFuoO+x0qu4p2ilmk5cvUyKatJ01etPh6e8LsMtV9VNqvDKZmZUBLUEKDJKVJNUm9SGrWohWGQbeLtE2EwqhLClhlFz2FqKYFqXEVsbMKElYlGYl/8Atlr8Bu0X8GR1AEpcEuDuWp3G4ijj5S5bAKFWoCzH87+0G4Ygxlk6ZTwfieQPUianmzx4nZ5KWS80fIZ+I9zJaFy1KXLTd9Y5sxG5JaohVLylBR1JSFaaKTYn62aLVsjqxlIzFCQQmdLL36osjHnUJuuX0tZSX4s8ZrEZMhI1LUpIIcACp+sZ9M4h2iYtgucV2bHF56kzNKap5B32/MTYbNEo/wC4ARetQOzxj8PPUtOhCQS7ggV7uePxFrB+G585bB6tXavJ9oJcTFP1H0jTYjPtQJTMKgRUP3DW2pCNOceaohKWctfb+bRPM8KFACUzhqL6t+GAatX4g/6dLksluq5JIOrgUsPmL9smcn0SYKUAv/c6hpsCfrTcCrGlIt4bDCYksa3rR9v8Ee8JhlTXTpcAP34YDfYtF1GEKQEqGlIOkApqG5D9xVoLGNbKTeRNlqCAxOmlAD+21REy5yirVUKZvsz2vUxPhpcqqQHmH+tI4/SQaGl+IkzbGJlIZaUIUp0ggdQWAC7JNiHuKNAK10FKl2hDmCQ7kkHYUjP5hjky0qWRUWHJNo1IwSVyjMV8mzUvGB8TYdWkLD+XqI/DQ2Db7M3qaitCHE4hS1alFz+PbtEUEEaDlXYQQQRZDyI9R5EeohAggjkQh2PQjy8aHwt4dmYlWoEoQk+pnJUKgAbxTdBRi5OkaPIPDqMMlE6ckLWalN/LsU057x9CxGYa0hVn/TZgd/f2hHhjqK0KABUKlv5i1gkqlp8snU5avF6Ha0ZU3lZ1cIqCS8FRWIKiSwIZg/biPMhRChTdj2e8RSkkKN0sS16D/wBNFnBzfUCWq/ZRGx7sTFS2goOmMVJV0oBukt8uPbaExwxD/UfiHHkhKUEl2UUn2ah+DHnFoSySpTEDe5eu1oWujSmK8d0ocG34Ir8OPvCZRW6VmtXo1tx9HhjjHmukKDIo/Z6ml7xyXI0p6S4KiBTjf5ioqnbCb1RZw2BB6g9e1Nj8fxFpOWsaH/OY5lSwxS9tn2Pv3hwrSp7P9f8ANob30LcmiPItA1axrVUM7cafcfxHnNpJdLMpnCgwLPRt62reOTVCW6yWe4H6vYf5aI8Tm8uYEhD2rRiOzwUqaASeVo8LyqWhLhbln06Sz9zuW+4hZm50AFISFGhQK1/qAsPxF2bj0hLUJp1HY8J5MRTMGVJ1K6dQcPUtuTxekIjLdIc4urZnBhystVS1G3+WiBHhBc1R8pSB/wAVFq0BAJ7vW1KRpZkjSlOh3FAxLl66r2aLKp+pHloUi/dzThmbeNEYCZz0Ksh8OjCalziCvhBdua/mL2JxRKdMvpR+pRoTsw7feJU5cNGpK1KlpcqKgAkkPRLjaK89ctI6luGppZz7jY9riDqhaphi5IQgGWoBTUbZR2H4eKuXeFZ2kYianVqBZJclJsCoC4iPKAFzUzJhLIUCLmljbYCPouGzKXMBS7pch3AGk03+kClZJtro+eYbCK1AhR1GtBTv7Q3RjEzQvWJgZgVBIUh0tQgMQ/NbxdxuFMoKKljQ4YulkpNU93I5jLY3PGKvLToJuXckbFtjFSpdhLfQzzPHplBJQtKiC4lsQE86jdq2hMc0xGJnaE6BqAFBRKRYuS/6jV94TYicpVqlXN1H/N4eZPLVIlTDMLBnVZ+wr+0KcgnGzVYnJdEoLlzgEIUy0zK+YaAkVobsBSF/i3J0YnDKAKUaB0AVJIL9QG1L94y+YeJ1zCES1kITUagTqNvYCppC/M/EKtBSaqZioUp7j6fEOTrpGWaTu2YtYYkG4pHIFKcnvBDzmeQgggiyHI7BA0QgCOtA0EUUEfbPBGUoRhJJ1qQsp1KLXKg7AjtHyPJMu86aAQdD9RGwvePuuQaJctKXBASKCmlh0jvfbvC5vwbPTwdORVlSZXmrBmLIQKKIFTRw5r+oFxaLQSlLamUkJZweN/dnhBiJYVPUoMAFPMelx6QeelTNwIe5bNk9dXQCQl2p2PuCISrs3TVIvYWTJnIAdkkKpRyx3r7Qux2BQJSihP8AthnW9Q5AcNdni5hMIAlW6FOEkV3YtEeMSmVICFBagoj01cBQLkD0pDVgxCdPQsxOYIElWpbqSo9JcEki5cfMUcJMJUekLSpvcVq3xCfGrJmKUzgl2PBb9omw89UtYUFHY0q39xGWWujpcXVF2ZhSrWpCNIQQVf8AEHh+4tFc0Lb7949JxBUSCSQ5PzyfraJP9OolQNNPMC9h/sJCfd+37xopICZeskaQexeFMmUBHqYUmiQ4F3FSf2hsJUhc1ej3isamY7Avz229oTzzpeortwTEWZ5p/p0LP6zRPbk+/EI8JmISoTFKKixLEEjU1E+7794HctkyUXRv0YRKEawoWBcgUBNSHsRzEOGxFQQmj3U/UWowN07/ANo8YDPpi8IZKpKNS7qeul9Vm4H3iGRNWmxZnvUezmCjBJi83JMvSZRSdCiUgh3TVwAXSktTYAM0C58mUSllCqVJSwBcioLB99qRDiMSpcvo1Oi6mdjuKClPiM9iJi0blJIfU9S9mN40ZKrEuFjfO80IpM6TdEpJYJfdff8AmMrPxylqJKg/Gw9haBUt3Op1d6/neKc9Bp/loVKTYVUOJGKBa5FOkUB5tDJeMJQAgJSXcuKqdmYks8ZfDYgGzmGf+ppWBToZqWz1i8bOWAhS1FKaAPQNaloV41WkEkud4vqxASKkB6ud+Y8Iyk4hwpQlp2UQS/xx3iK2VJJCDBqmEldg9+G2HDwZhmizL8vUpip2JJqzQxx6kIC5SGVVgpLgUpTtCOZhi53IAhkUmZuVuKSTL+VzUh3CCEpJ6jdTU9zW0IsXiSon3r7wyGGsn5MKsbh1IUygx/aHR7sx8zdUiCB4IIYZAeCCCIQ9COxwR2IEBhlkmVmdMSC6ZbjWtvSN/mKWGkGYpKE3UWEfRcPlokoQgVDfU7vC+SeKNHp+H3Hvo1mFw+BEkS8ONIBAIL6j/wAnN4XoWZUxSQygPS7khjFLD4Zq1/y8N1zJehLhlAEP2/mEbfZ0cVF0I8WhZmuk6QrqLFqn3N7/AFibBoCFDzQ6VOC13Bj3mWFLgApqkED9vpE6MIEhKlB3F7h9oXCdMfKGSVD+VOIloCFlIQfmtn5tvFCd4pM5RSBoTyWLkbrAqQ+wpB5oYlx6S7c+0KAtJT6S4EPTsxuOLK+LlEpWQmm4Yp0j23G3xEWHmIUQFqISAzgfzeLWNnEJQkpKlLLEturgx1eFElZRMSahwAlyHFKXbn67QifHWzXxc3hhiMLoAZQmS1vpNP0s+obX+0dwoUkEpJU5GpzaIZx1hOkJSPSW2o4UWq1G5ipJCxqP6Wr/AOQhWI7L8jabjdPFfxC/HZ35aSoVNgO/9oUz8ZMmrCUJJJt2av1ifC5FMmq6yywQNJB/UHcMPZ/eDcRfuLryLJUmbiFhS0lRJpsH4ENpeGQFIRoSFOKgWLgMXuQR94d6CGSEISpBB0s4t32P3eKOazAfUkJ0gMQGZtxxUQapoW00NtNKXDu49qX4i1gZZWSFDUlKakFtPd7ERmMX4pM1Lr1GYaDSQkBt2Fz7xBic3mGUlBPTf392vDLQKehxjcwSHTL2DOfvCKaolUQyMTVqtvF3ETkJZT+3vCm2xq6JZMlDHUKixr+BCbO5goEO3D/WGQKV3USN9Fu51N+IYScpSJaloBUliVJUBqAZ6KOzDYvWLT2U4WhFlmGSlwstRwwu/vaPZnt1M4FANh794oz8QkKoC1t/pXeGOVYPzCHLJ+CT/EU39lQ+kVJq/MmBKUgOwHf+IaTUrEnyS9+aDan3hng8mTLJWnrPNC3LNb+8SzcLqZLEKq5Uadm+HiKSDwZnV5U0vUEp1AuamqR88xUl4XzJnCbHvGoGGIB1WasVJODQ5IZJZ9PFWod+douMntIqfGm0Vf8Ao4YqcNf3EZLxFNB0gWDt7RrsXjFFXlig3J2HAjM+MJAQpABBUAyiC72aNXFJuOzneqil0Z2CCCGHOYQQQRCHoR2OJjsQIceEcKJmLlAq0pB1FTOwFbbx9FVJeYvqdIcpLNZm+o/EYn/4+lA4tJPpCS5NgSKR9DzKRL16QXS1TGflps6XpF8COQqrKvFnEYQE0cU+xhOcQUnkC3biNBleYJmoCFEBSWDNcDd+IVKRqpleQUgBJAe1eP2vFadMmLmCQkaQoskqLJd3vtE2KGqYeHoPakR5ilk1SVJBoexvfvEcMlZcZY7JJXUoUs+o0am4O8XPKCj0irGvINYUSXlpU9BW9XG4+kW8HnZTpV5Y0uwqaloZBUhXI7ZekSQSnUzBi1ySOOOIrY6T5swD0qSkvd9IqQk7cV+IJmJSNJWQLmhoX/uIYLnJVLCwAoaKKD2G1fn6Rb2LsqTsqJBILBIL9LOx6afWKhysrSU6gCQdrPb5i8MxCZWp1KP6i1GqGHO0WsJiUlHmDpQxBeld3eKUEFm0hPgMr/0nUvQSFOEqPq7t8GJMXmuhSpmkKO5JDGjV9gBFrxVmGjDkoA1K6T21GjHn25j5riAtSW1KYk9L3q8TDHSJ7t7YxzbxWcQpKjplEf0gOBsCbqpzC/FZyZgIcqJpXbmEuJobRdVPKkgKSA3pA4/LQOCWyLkk1RyQi0X8LK1XNL1ivLSxre7Db37xWxGKWo6UUG9b+77RVWwlJRVjDF49KRpTXkxXyzFy9ZVOUFaapTpKtR2DWb3ML1ySoD/Kw0kylIlAr1FDnQGDa6FXxSDhCmK5OVy/CGeX5phtKQUrQtGp2IIW7erhhsIX5ljCklLKLnUhRJ9D0bkGv1igpLqBs+0aDI8AJugTFFwWSCHCQak8tT6wVKwVKVNFDAZR5jmcVJBolKWDqvX2pUw/yrDeQWVVLO5O7bN7RYx0qUiao6ipKQySLFg1CLg1+secYp5YKD0BVS7kk2peBm71QyCxVl3F5doDoWdCqpI3ANfc9vxFaRMWoGpUqrdPDfpuL3iliJJLGWog0SmvNh+IVY6aqUsqCymYg6SoNXZTwrBOVsc+WSj+RhnSMVIICw6TQElzyXiTD4kaUupIUbsan4iirxEtctKJpCkpDdKQlRfcqbqptEWFyrzlFtempciyRyE0FNzElx7tFw5tfIeLXK0IZJMxZURdgAWPuXH3j5zns0qmkHakb7Klykz3mTD5QQQ4LlqMA9nfaML4nltiFmrKOoPdjZ23Zo0QSMXqZNx/0UmCCCHHOYQQQRCHoR7QkkgC5oPmkeBF3KSPOl6qDWPzFN0g4q2kavKsB5AY+qhJ78RopiiEu7j9XcGzQvxUseaxJYiv5H5j0maSdDGhYERz5W3Z6HjioxxR1eL0kghwftX9o94Wc3UL3ixIwCSdS30MR8t9qxSRIIcC3+NAp2tltb0a+ZJ/WKOK/R48zjqCkhKlF9/SBQ17vB4eWZv+3qfpcFr6SARX3hhMwSmdJLBgs0+Ld41QdozT06ZnJkgTCUjhVK/b7Qmw+KWkCWWIBNCKg+/xG4xsmXKSVl1EBix3LfWM/jVs5EtLEeogudT79otoC7Z4y6d0soOmjhJYhzQ924i4cVVQKtIAYBI2NnpyfvCrC4jqS9Gd23p/MOVqJWlWlIKUAAafWal1Hm0VZTieMKmWJZ1FRSCzMK1AJZ63+0PcMmV5AStKNIU+1Xsz1eKWFkIUfMWSNIoByaNFDPCZcskksbAfz9INPQuSsz/i7FiZMSiWT5ctxv1Kep9tviFAQTZ3PAtzE6sSHsOYiw2IAV6nJdw1/wC0VZdIX4tGhladuQ6fcbRU816v7NGmlYPz5hSVpDiqtgOPiEmLwWhTCzlqXA3HMC1QSl4I5bAE7xzzUf0l+T+0W8JlU2ZVKFaRcsQA14u4rw+oEKdwQ/d+KjfaASdhOWhL5gAApUxezLGKmaUJWVgC2gJAJqdIBJb+ImweUmcopSAFCw7ChfiJZWSrA1voZRFt++/MM2hNF2TkR0AJJBoVFQAoaBiateHGVyESQleoiYkhqOFgO+4N6NHleUGWrSlZmEgAGrOzsHifDJJDK1Km6tLFgAa2+0C2MiinicMuYmxdTqFgGfgfaE0wTJZ0pUmhvdv/ACjbystKjqnKKXDAJZzUgA1DWLwozTIx1KDhQ/SOBvWhgl0V5MliVTVqckKarDs225qInwmWCeQFJUFXv6jeoNt/pF/D5euXrUlJmFnDVABuTTbnmL2Lx00SSpIAWpV6OOGb3P1iKNdlYtmYXl5lzBpSpQdq/q2p2jToysypQSVq1TGZKVDSKlvM3KfozG8Vlz1LBXMToVUuxCadtq/eF87M1KbVXnktBNpFYgJqZ04+cQjYlCRsKU3teFPj7AFEyVMak2WCkgMFABhRqFmePeOxKU6lB270J+BGfzPM5k8gzFPpDJGyRwBBQM/NJJUUTBHYBDDIcgjsdiEo6BDrwvlqpkwLbpQQ5NnNBFTKsrmT1aZYsKk2EfSZWXeTh0SgwF1HktZ4XN1o08HHcrZRnylKWQbgRbyYsoPejV32EUjjgkuqjUBb8xLKxQJ8xx0kERk0mdjtaGOYoUkmja6kPQ/xWFs9PcxbxGYicXVpSQzCwPtxEE9LfWBteBiX2O/Cc1KVuVMySAO6qN22MOZGID6SSoitKCtb70jIZXMIfSS5oe47/aGK5KmAKtImEh+LV+jw3jehPLFXZezLOULSqWJbjUK0qf03s1awvlqUs+WkOT6fa9HsHJihmOLlpUAlK2Io7VYkB+ah4d5MpMsoWpHUVFT67A0qBT4g2J66FC5HlTVIKWILV5aohzh5K9IKS4f7mGmcIlTFBZTqmOX0mukC54jkqYAQlIGkNRopIHJkkjLlKCumguXpU8b+0UsZlgWQJiwEgtpCTX/7bCNLgMShKFFVKiv4c73jO+JMyAmHySnSHcJfhqlq3gqSAtt0Y3xflwlKQAhMtRBcBepwDT2N4W4PBjSqbRmYDcqINq2B3izjZJWsln+HjwnK1eWVqLJBPST9x2f8xXkmNDJKkpMpUuWtCVEAndSga+WT9Xhji5aZ5BWgjQAl1LcquXIBveM1lXRNSSCXBCRxvR/a0aDC4lc1R0zU6A+pNjeygzitPrBWi0i1gMtUgKShRU/9RArWoahYXHeJcRLAljWsLUGZIFACb1uPaIp2IMpCtSAQQyST6X4G+0Z2ZnClrSAQdg5sHJY8QDnQxRsdYsFVTpQvcgMGFAABRre5hjhseZaSSUrDAgHSSkgUv73hZjZzaQFa5i2CAKu8V5GIOlUogEJ9T1NiNKVCt6wWZMNDCfmQVL1gD0sKfqc6mptRopYTHzVqS9RcBr13IHG8cy7DzQVIUkpQBqGrpYbv2r8x7wyz5mpB00Icd/yIFkQ8/wBS5CdKUaWZia961Lw4nYRKwJfUlqoNBs6n3NbPGRxuIUkgKJ6aOQfdgOWhoPFKvL06ElVtVa8Ugk1QMos54qxiZKUyNAd/UCx0mrEbl694xcvEgEvYlvu4htmuNLhU3y1EF2URpU+1OwMZ+bNBJW6dRsAGAGzfxCnbfY1SUY0PMdjkqZINCWrsNqQrzLDpHShGlSSNStVDTb6vFWVcVvaLZ1JppJPe3b3h37M0nsxuaz161IVZJtFGGGfSVJnrCqF3+oBhfDl0c+b+TOQQNA0WCEEDQRCH2DwrJkpkydKQP9tJWeTWp5htL8uYlQK2AdnsTGDyzHKTISNikBuYYYSeWFWrX+0ZsrOvCKSW/AwzTCS0oCUsVeok/cCEU3CrqUmnBP4hpjkpAcOSfs8WsuwaQCFllEHS7mrEgfaJKKYUZ0qM9LoOp9/t+8esKtWqhpwYjUgkkVq/xzFvAySSwDsPoeTGeSNCkOcBI6lKDACnue3LNHrOlOlBFbt8GsepMsqUwqXrVuo/QM8WVygsiWQAEdAbY7/esMjGkLnPIVeShUxS2LdTbsdi3zDLCSDXUQkaSS9HpYFrkxUxU1MsES1AmjkVru3vSJsPNWuZLWdS9LUf6DtaCdAUTLnzZZ6iQWau471qI9pzo6tYLki2x9q94uZglCyTqYEekguB+o/B3eMjmTIUQDUH2p+YBuUWHFRktmjxniHUkoLpSS7HZrNCzHK1ECWXcPTeM3MzAGjEmL+AnEg3oKMP1bQWbemA4JdFoLIUy2oWIpsa9omotTAE1AAv7wYadJKBqSHAZRIU7ue/3ixJloYKlqJUDQMXNK1/aGAi0S1JmdLukkuNh8xfxOaEp6kJL0BL0AsAAdop5zP8spNAoBnG/fh4rqmAjqJBFVd3sw2pEKdEfnKUr1nS4B6iabs8dPkSp6tA1Jp1FjW/FtoiVMFAoWdiAAT7xelZdLVLoJhm+pTMQBQDv/7imUvsMLj9CmlJCVk+u7IIZSWNGN/iH+RZNLnYWbMCSFoUVlmB02QhNgE7mM1l+EWpRQLhtQ4cgU5NRG8mZGoyESx0BNPUSFqr6gTRudoDqxidr6OrMhUohcrSSj1matWpxRnqz82hNIloKSlKWYO9BQH8vHpWXICihapgUkkqCkghmDtpN3cvZmiFQA9NDcVNtuzRSbfaCxiuicu5Cg72JD/mF+ZzCghCQQoh9X9I/wDUWZ+coCSlRDvQWL/4IzGNxk2eopJGp726bNFaXxQSWrL+aokgy0hfnKLHSkuxL6tRZ3tCzEJHmDSgMDV62LsX9oc5DksxBWuXpUzOoA0cs4NwQYln4Nidagk1JP8AYVrDaozt5FfL5KZilTCnQ39IJAf8RqMuyTQP6jchQelw3YxmJB0pN2ue42De0TI8YLl69JY6NIN3rR/iJ7nihntqjF+PCTjpxKdLsw7BIAMZ6GniPGGbOK1FyQHhXD4u0cnlSzYQQQQQsIIIIhD6JlyAnAJKwOsMg7u9YtYSXplFwHVYwlkTlLlSEN0ITRuTGjkkeWgWIo8Z/wC1I6sbcbIJstRAO4H4jxgZqlL8xRbSCf7CGBQ4SgXUbx4xOHMpakj9N/YgO/zFykWo7E0pLlR3r94c5ThWkqB9SqgitOIrKwLEEEAKFr/EaPKcvlqSkpKrMHIBHbvCI7kOlqNC2VK0hWl6NQj4EdxMyciW2hktqqG1Ucsd6DnaLOY4tUpl0IVRiK0LD2iLOcUVJDEiUQnUliXcKL8A0AeDe9FR1sz8ialwNIcbEtDvDTKhWkDahJb+lTuaniEOKwCklLWIJSR+oNX52Ii1l2I6g7tSlagP/AhCm46ZoxTRppuNJJUEEUIJUQQrprQ2JYfMZbHYVRqUuaVNWcOz2ttDDH+I0gHSixBCiaGocGg4+8UUYxSglQa7sBRzu3w8Mk0xWNC7/p+hRDEEtQVd7CPSElL0IIv22rF+fMdWpgauzU+Pz8x2TgVKSbDUXcmu8FQEkVMPiQB1VD1DsYEzhcUI+IsT8kWGG5qBQOOam3eF6iEh63grFkWaTpiyKWF93PP0iomWs/J5/mLeCx5SsqbUTTSbN/lYtY2SlSAsJKQ/WBsTbS9Qm8X4KK2AkEqIUzJqa3ajAj3jQ5LmCZanSoAkhJRVinuYUIy0gUIIUxb+kcH/AJRLLnlihCUFL+oipZx+8UnRdaNRjcZL9SUaXLragcGnc0aGkvO0BDTSSS62Nb19T04bekY/DyJqykKNB3oB25MO8xwqVFCSkIJbURWjUA2sIuyzi54nAlRZaQdLszEhgAKv7mFeIlr1UWQCq1G7NDfETESkpKUEkVUVN9msDxCgYqTM1a1JAIVUO6SR0n2eFPobHfYsxODSSevUq5bv++0e1ICBp9JWNF61o9ITTpJcBKjw7/SLWUYJQmAqOpywF3+u8DVbsJu1VGpyWQcNLmJXMKpZf0c8e/eFWbTApWpgGqWuo9+8OV4yWZSlLKZYqNANSwYMGvGW6lP5bkgEk8AXJ2NI0Nq6MyWgm4hSUB2dz3Pz8QrzCdpAJF7d+/tF1CX/ANxVEJD8O2wHvGczPFlbqPsBwNoZghEuRpaKE6ZqJJ3MRwQQwwN2EEEciEOwRyCIQ+hZMArDIIBDJDDvVz8xYwuIcsaOaPBBGN/9na4v4y9jACEkqatG29484fFjWUh2XRRf5/aCCBnJjYJMkkKC1ECiUtUByEhyot7Q/wABiEJmJU/SzszAFr83ggioPRORHBITMczUuCC6gbHV0G3cmFeLwemYEh9C9gSbEpCvYmsEEE/sGsURzEokAeYgl0n4OxH3hGqeDNLCgYJdrbP/ADBBAS2Hx9FjGyRMYMAAA+7mxNuzwww2GASQE9KWfhtvcuI5BAyjoO9nqUZakTAzKA6S+5+IrpxXlaQQC7GhFn3r+RBBF8LYvk6O59PChrG7MITrwxWNIqpRAABvz+I7BDW9ifCOS8v0kdSSbsKsGvFvDzWUCoqUKPW4FoIIJFF7Lla9ZJtUD3No5g0sdRYdqf40EEUWz3iMelNJbEmtw8V8tzWahWtYBSxAdqd45BFsFFTNPFqFApSgh7qO3cQt8mUoOmYX7MAGdwRzu8EEDiki48jkW8syxKy4mMlI6i6XHJ4hrIwAlHXr1KRyUkdt7bwQRajsZKWiLFyZYLTNy7oIUCDZ+I94zAa0pQlSUp0OA4c0rqfesEENcVZkXI9ozmJmFKTL19BPbaw3aM3mEwamTYQQQa7M3LLRVeOvHIIMzHY48EEQsHgggiEP/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6" descr="data:image/jpeg;base64,/9j/4AAQSkZJRgABAQAAAQABAAD/2wCEAAkGBxQTEhUUExQVFRUWGBwaGRgYGRocHxcZHRoaGhccGh8cHCggHBsoHBcXITEiJykrLi4uGB8zODMsNygtLisBCgoKDg0OGxAQGywkHyQsLCwsLCwsLCwsLCwsLCwsLCwsLCwsLCwsLCwsLCwsLCwsLCwsLCwsLCwsLCw3LCw3K//AABEIALgBEgMBIgACEQEDEQH/xAAbAAACAwEBAQAAAAAAAAAAAAAABQMEBgECB//EADoQAAECBAUCBQMDAwMEAwEAAAECEQADITEEBRJBUSJhBhMycYGRobFCwdFS4fAUI2IVQ3LxB4KSJP/EABoBAAIDAQEAAAAAAAAAAAAAAAIDAAEEBQb/xAAmEQACAgICAQQCAwEAAAAAAAAAAQIREiEDMUEEEyJRYXEzQoEy/9oADAMBAAIRAxEAPwD4jBBBBECCCCIQIIIIhAgggiECCCARCA0dgjoiFoAI02XeC50xIJUlDh2Lkh7At2rFnwb4YK5iJ01J8sEEJY9VaE8Jse8fWpGFQkspkEfqK0sQwaldydoXKaRs4fT2rkjH5BkUrDy2opRLlShfZhwLwymyCg0s0XZk5AISpSKi+xPbcB/aPE0l3LEAMLM1tt4UuRSdHQXHgimlZNOTQdz+Y5/qwksSx7/5SPGITUFBtWvPYwYzComkFS9KjZIFH3cvTmF+5uhvt6sZ4SYxCqUNizHh+bw+wWZAKUXDGjNUAXJMZjDYYgBOoFIN3c9yIsjDAemaRy/8GgEE5IW4Wa444BBNS1yA9PbmEU7FBdUDdg4L934EVJaJnpKy3IYBue5i9gkIO6le5ufi0UpWLlxYlZYUQSSOGApEUpINi52/t/aHIwks0fqNgD9fmI5uFWToShVbkgbbCrPaDbKteSHCal0ao3bbaGKZQINQ9aFwCQW/MQysMoLBILAtpZieIhxM9SVadHoJNa0Jsd2eA/ZTd9DbB4JG5SerYCzOGo7gjmIMdjAFrSk6k6aAUb/ifdjEaMylnQQCjYoAUX//ACIW4jFgGmpIJ1CjXo9S5FxF2gFFuWzwhZlghQJLsahhXYfEJvEeMWSgoV6lFJBYtw5j0maSpnuXp70+kRTZgKnIBSi+zkwqSy0jVF4SsYZICQyjQmqmcACgIHEPcLIKSChWsdqc3EZs44gagW2YNY1txEsvEspMyWonWkq0uw1WIVyIZCGKoTyNylZT8deMRhZbS1JOImAhIDf7SausiwU4oPmPiS1kkkkkkuSdybvGr/8AkWX/AP0ian0zEJf/AIrDhQ+0ZKNUVo5nK25HYIIIIWeYIIIgIQQQRCBBHWgiEOR0QNHYhdHI7BE2FwypiglCSpRsBELIkiNZ4d8J6xrn6kjZDVPvwIaeGfC3lkKWkLm35TLAFVdyOY2iZgZJAFr7nue8J5J1pHQ9N6W/lIt4eWUgJ8tKpYa5oCU1aoNtjCvPsKtQBQQnTRn2o30+YcSJoAFvURXu394ixYopLBwQPz39ozT6Ohx1lZhU4GcFFgV7li9Pq8aHK0rUhgkkJFXFufvHtEsAWLO/zHcJQkDelXYv7GFLTsfL5KjziUMhJSknZRJAAP0iPKZH+6yyGLWcuKMxpeleI9lnCCX5L09/eJpygwqVVoaVAZqNT5gordgvqi1PwSpanZnc2tdo9S8KtTAJtT96vHrLsbORYS1AkHqDlwKcRHjcVPBUVTWO4B+R+YZaQv5XRJOlqQeopc1FfzShi6ZKpdCQFAamNHBdqv2O0ZhCNbkE/ANzzBiZBQQFOVE0apL7UipcmtFYW9s1OFxyHCS+omqtWxsQBbb3hkpXlevqUSGe9Kkh+ON4zU0BKNJDqTcu9aO2/Zu0epU+YtSdWwoS1PzFRk0DycV/o1E8KXMCgpSUBIUdQYPcC9XFTxFJWGSUFeoE9SnqQvgGJhOVp1CYBpFRp/Y3+YQ+IfFBS6UVo2lICWLXKvm0NbVbM8eN9I95jnYlyAydKx6mrqHPaM5h8yVPUXegtsBCzEOoalKLKcBBLlHelxU3ivhpXlggFx/nMZ5Ns0qKj0P5+KEpL/qPzFTCzVKerbv2ijIlqWxYkPxSm0XcTJWlmSUOTb8PD+OPkRNlgTgUsWY0LEuOP894qrxxSAEuW5jzOCkA7GxHH8xWVMYBmq/xD2lWxKkyLOpPny1FYAYEjsbx88jU+KscoIRLBYKqpt2t8RloKC0Y/UO5HYIIIMSeYIBHWiAnI6IGgEQgQR2OtELOR0CBo+g+FPAw0JnYuWoBR6ZZo4DdRF27RTdDIQcnSFvhTwYZ4E2eSiUbJbqWOQ4onvvG3yLwaJIIQ9aqUfURdKR2h5NmolosAKBA7AMm2wF4my/NTp6iKOkkbkUB/EKcvLNsOKuitiFIkS5iEvqUNJOzEgKrubiK2HSNCxTpST71o3wY8z5amU49aR/JMVU4jpLMxofisZsrlbOlGFR0NUl5c4A20kfB/vEa1uNW4Y071/MU5U5gAB6h9Q4ilMxoqKuQWb94k2ukXGPkaYDEq9KlukFuoO+x0qu4p2ilmk5cvUyKatJ01etPh6e8LsMtV9VNqvDKZmZUBLUEKDJKVJNUm9SGrWohWGQbeLtE2EwqhLClhlFz2FqKYFqXEVsbMKElYlGYl/8Atlr8Bu0X8GR1AEpcEuDuWp3G4ijj5S5bAKFWoCzH87+0G4Ygxlk6ZTwfieQPUianmzx4nZ5KWS80fIZ+I9zJaFy1KXLTd9Y5sxG5JaohVLylBR1JSFaaKTYn62aLVsjqxlIzFCQQmdLL36osjHnUJuuX0tZSX4s8ZrEZMhI1LUpIIcACp+sZ9M4h2iYtgucV2bHF56kzNKap5B32/MTYbNEo/wC4ARetQOzxj8PPUtOhCQS7ggV7uePxFrB+G585bB6tXavJ9oJcTFP1H0jTYjPtQJTMKgRUP3DW2pCNOceaohKWctfb+bRPM8KFACUzhqL6t+GAatX4g/6dLksluq5JIOrgUsPmL9smcn0SYKUAv/c6hpsCfrTcCrGlIt4bDCYksa3rR9v8Ee8JhlTXTpcAP34YDfYtF1GEKQEqGlIOkApqG5D9xVoLGNbKTeRNlqCAxOmlAD+21REy5yirVUKZvsz2vUxPhpcqqQHmH+tI4/SQaGl+IkzbGJlIZaUIUp0ggdQWAC7JNiHuKNAK10FKl2hDmCQ7kkHYUjP5hjky0qWRUWHJNo1IwSVyjMV8mzUvGB8TYdWkLD+XqI/DQ2Db7M3qaitCHE4hS1alFz+PbtEUEEaDlXYQQQRZDyI9R5EeohAggjkQh2PQjy8aHwt4dmYlWoEoQk+pnJUKgAbxTdBRi5OkaPIPDqMMlE6ckLWalN/LsU057x9CxGYa0hVn/TZgd/f2hHhjqK0KABUKlv5i1gkqlp8snU5avF6Ha0ZU3lZ1cIqCS8FRWIKiSwIZg/biPMhRChTdj2e8RSkkKN0sS16D/wBNFnBzfUCWq/ZRGx7sTFS2goOmMVJV0oBukt8uPbaExwxD/UfiHHkhKUEl2UUn2ah+DHnFoSySpTEDe5eu1oWujSmK8d0ocG34Ir8OPvCZRW6VmtXo1tx9HhjjHmukKDIo/Z6ml7xyXI0p6S4KiBTjf5ioqnbCb1RZw2BB6g9e1Nj8fxFpOWsaH/OY5lSwxS9tn2Pv3hwrSp7P9f8ANob30LcmiPItA1axrVUM7cafcfxHnNpJdLMpnCgwLPRt62reOTVCW6yWe4H6vYf5aI8Tm8uYEhD2rRiOzwUqaASeVo8LyqWhLhbln06Sz9zuW+4hZm50AFISFGhQK1/qAsPxF2bj0hLUJp1HY8J5MRTMGVJ1K6dQcPUtuTxekIjLdIc4urZnBhystVS1G3+WiBHhBc1R8pSB/wAVFq0BAJ7vW1KRpZkjSlOh3FAxLl66r2aLKp+pHloUi/dzThmbeNEYCZz0Ksh8OjCalziCvhBdua/mL2JxRKdMvpR+pRoTsw7feJU5cNGpK1KlpcqKgAkkPRLjaK89ctI6luGppZz7jY9riDqhaphi5IQgGWoBTUbZR2H4eKuXeFZ2kYianVqBZJclJsCoC4iPKAFzUzJhLIUCLmljbYCPouGzKXMBS7pch3AGk03+kClZJtro+eYbCK1AhR1GtBTv7Q3RjEzQvWJgZgVBIUh0tQgMQ/NbxdxuFMoKKljQ4YulkpNU93I5jLY3PGKvLToJuXckbFtjFSpdhLfQzzPHplBJQtKiC4lsQE86jdq2hMc0xGJnaE6BqAFBRKRYuS/6jV94TYicpVqlXN1H/N4eZPLVIlTDMLBnVZ+wr+0KcgnGzVYnJdEoLlzgEIUy0zK+YaAkVobsBSF/i3J0YnDKAKUaB0AVJIL9QG1L94y+YeJ1zCES1kITUagTqNvYCppC/M/EKtBSaqZioUp7j6fEOTrpGWaTu2YtYYkG4pHIFKcnvBDzmeQgggiyHI7BA0QgCOtA0EUUEfbPBGUoRhJJ1qQsp1KLXKg7AjtHyPJMu86aAQdD9RGwvePuuQaJctKXBASKCmlh0jvfbvC5vwbPTwdORVlSZXmrBmLIQKKIFTRw5r+oFxaLQSlLamUkJZweN/dnhBiJYVPUoMAFPMelx6QeelTNwIe5bNk9dXQCQl2p2PuCISrs3TVIvYWTJnIAdkkKpRyx3r7Qux2BQJSihP8AthnW9Q5AcNdni5hMIAlW6FOEkV3YtEeMSmVICFBagoj01cBQLkD0pDVgxCdPQsxOYIElWpbqSo9JcEki5cfMUcJMJUekLSpvcVq3xCfGrJmKUzgl2PBb9omw89UtYUFHY0q39xGWWujpcXVF2ZhSrWpCNIQQVf8AEHh+4tFc0Lb7949JxBUSCSQ5PzyfraJP9OolQNNPMC9h/sJCfd+37xopICZeskaQexeFMmUBHqYUmiQ4F3FSf2hsJUhc1ej3isamY7Avz229oTzzpeortwTEWZ5p/p0LP6zRPbk+/EI8JmISoTFKKixLEEjU1E+7794HctkyUXRv0YRKEawoWBcgUBNSHsRzEOGxFQQmj3U/UWowN07/ANo8YDPpi8IZKpKNS7qeul9Vm4H3iGRNWmxZnvUezmCjBJi83JMvSZRSdCiUgh3TVwAXSktTYAM0C58mUSllCqVJSwBcioLB99qRDiMSpcvo1Oi6mdjuKClPiM9iJi0blJIfU9S9mN40ZKrEuFjfO80IpM6TdEpJYJfdff8AmMrPxylqJKg/Gw9haBUt3Op1d6/neKc9Bp/loVKTYVUOJGKBa5FOkUB5tDJeMJQAgJSXcuKqdmYks8ZfDYgGzmGf+ppWBToZqWz1i8bOWAhS1FKaAPQNaloV41WkEkud4vqxASKkB6ud+Y8Iyk4hwpQlp2UQS/xx3iK2VJJCDBqmEldg9+G2HDwZhmizL8vUpip2JJqzQxx6kIC5SGVVgpLgUpTtCOZhi53IAhkUmZuVuKSTL+VzUh3CCEpJ6jdTU9zW0IsXiSon3r7wyGGsn5MKsbh1IUygx/aHR7sx8zdUiCB4IIYZAeCCCIQ9COxwR2IEBhlkmVmdMSC6ZbjWtvSN/mKWGkGYpKE3UWEfRcPlokoQgVDfU7vC+SeKNHp+H3Hvo1mFw+BEkS8ONIBAIL6j/wAnN4XoWZUxSQygPS7khjFLD4Zq1/y8N1zJehLhlAEP2/mEbfZ0cVF0I8WhZmuk6QrqLFqn3N7/AFibBoCFDzQ6VOC13Bj3mWFLgApqkED9vpE6MIEhKlB3F7h9oXCdMfKGSVD+VOIloCFlIQfmtn5tvFCd4pM5RSBoTyWLkbrAqQ+wpB5oYlx6S7c+0KAtJT6S4EPTsxuOLK+LlEpWQmm4Yp0j23G3xEWHmIUQFqISAzgfzeLWNnEJQkpKlLLEturgx1eFElZRMSahwAlyHFKXbn67QifHWzXxc3hhiMLoAZQmS1vpNP0s+obX+0dwoUkEpJU5GpzaIZx1hOkJSPSW2o4UWq1G5ipJCxqP6Wr/AOQhWI7L8jabjdPFfxC/HZ35aSoVNgO/9oUz8ZMmrCUJJJt2av1ifC5FMmq6yywQNJB/UHcMPZ/eDcRfuLryLJUmbiFhS0lRJpsH4ENpeGQFIRoSFOKgWLgMXuQR94d6CGSEISpBB0s4t32P3eKOazAfUkJ0gMQGZtxxUQapoW00NtNKXDu49qX4i1gZZWSFDUlKakFtPd7ERmMX4pM1Lr1GYaDSQkBt2Fz7xBic3mGUlBPTf392vDLQKehxjcwSHTL2DOfvCKaolUQyMTVqtvF3ETkJZT+3vCm2xq6JZMlDHUKixr+BCbO5goEO3D/WGQKV3USN9Fu51N+IYScpSJaloBUliVJUBqAZ6KOzDYvWLT2U4WhFlmGSlwstRwwu/vaPZnt1M4FANh794oz8QkKoC1t/pXeGOVYPzCHLJ+CT/EU39lQ+kVJq/MmBKUgOwHf+IaTUrEnyS9+aDan3hng8mTLJWnrPNC3LNb+8SzcLqZLEKq5Uadm+HiKSDwZnV5U0vUEp1AuamqR88xUl4XzJnCbHvGoGGIB1WasVJODQ5IZJZ9PFWod+douMntIqfGm0Vf8Ao4YqcNf3EZLxFNB0gWDt7RrsXjFFXlig3J2HAjM+MJAQpABBUAyiC72aNXFJuOzneqil0Z2CCCGHOYQQQRCHoR2OJjsQIceEcKJmLlAq0pB1FTOwFbbx9FVJeYvqdIcpLNZm+o/EYn/4+lA4tJPpCS5NgSKR9DzKRL16QXS1TGflps6XpF8COQqrKvFnEYQE0cU+xhOcQUnkC3biNBleYJmoCFEBSWDNcDd+IVKRqpleQUgBJAe1eP2vFadMmLmCQkaQoskqLJd3vtE2KGqYeHoPakR5ilk1SVJBoexvfvEcMlZcZY7JJXUoUs+o0am4O8XPKCj0irGvINYUSXlpU9BW9XG4+kW8HnZTpV5Y0uwqaloZBUhXI7ZekSQSnUzBi1ySOOOIrY6T5swD0qSkvd9IqQk7cV+IJmJSNJWQLmhoX/uIYLnJVLCwAoaKKD2G1fn6Rb2LsqTsqJBILBIL9LOx6afWKhysrSU6gCQdrPb5i8MxCZWp1KP6i1GqGHO0WsJiUlHmDpQxBeld3eKUEFm0hPgMr/0nUvQSFOEqPq7t8GJMXmuhSpmkKO5JDGjV9gBFrxVmGjDkoA1K6T21GjHn25j5riAtSW1KYk9L3q8TDHSJ7t7YxzbxWcQpKjplEf0gOBsCbqpzC/FZyZgIcqJpXbmEuJobRdVPKkgKSA3pA4/LQOCWyLkk1RyQi0X8LK1XNL1ivLSxre7Db37xWxGKWo6UUG9b+77RVWwlJRVjDF49KRpTXkxXyzFy9ZVOUFaapTpKtR2DWb3ML1ySoD/Kw0kylIlAr1FDnQGDa6FXxSDhCmK5OVy/CGeX5phtKQUrQtGp2IIW7erhhsIX5ljCklLKLnUhRJ9D0bkGv1igpLqBs+0aDI8AJugTFFwWSCHCQak8tT6wVKwVKVNFDAZR5jmcVJBolKWDqvX2pUw/yrDeQWVVLO5O7bN7RYx0qUiao6ipKQySLFg1CLg1+secYp5YKD0BVS7kk2peBm71QyCxVl3F5doDoWdCqpI3ANfc9vxFaRMWoGpUqrdPDfpuL3iliJJLGWog0SmvNh+IVY6aqUsqCymYg6SoNXZTwrBOVsc+WSj+RhnSMVIICw6TQElzyXiTD4kaUupIUbsan4iirxEtctKJpCkpDdKQlRfcqbqptEWFyrzlFtempciyRyE0FNzElx7tFw5tfIeLXK0IZJMxZURdgAWPuXH3j5zns0qmkHakb7Klykz3mTD5QQQ4LlqMA9nfaML4nltiFmrKOoPdjZ23Zo0QSMXqZNx/0UmCCCHHOYQQQRCHoR7QkkgC5oPmkeBF3KSPOl6qDWPzFN0g4q2kavKsB5AY+qhJ78RopiiEu7j9XcGzQvxUseaxJYiv5H5j0maSdDGhYERz5W3Z6HjioxxR1eL0kghwftX9o94Wc3UL3ixIwCSdS30MR8t9qxSRIIcC3+NAp2tltb0a+ZJ/WKOK/R48zjqCkhKlF9/SBQ17vB4eWZv+3qfpcFr6SARX3hhMwSmdJLBgs0+Ld41QdozT06ZnJkgTCUjhVK/b7Qmw+KWkCWWIBNCKg+/xG4xsmXKSVl1EBix3LfWM/jVs5EtLEeogudT79otoC7Z4y6d0soOmjhJYhzQ924i4cVVQKtIAYBI2NnpyfvCrC4jqS9Gd23p/MOVqJWlWlIKUAAafWal1Hm0VZTieMKmWJZ1FRSCzMK1AJZ63+0PcMmV5AStKNIU+1Xsz1eKWFkIUfMWSNIoByaNFDPCZcskksbAfz9INPQuSsz/i7FiZMSiWT5ctxv1Kep9tviFAQTZ3PAtzE6sSHsOYiw2IAV6nJdw1/wC0VZdIX4tGhladuQ6fcbRU816v7NGmlYPz5hSVpDiqtgOPiEmLwWhTCzlqXA3HMC1QSl4I5bAE7xzzUf0l+T+0W8JlU2ZVKFaRcsQA14u4rw+oEKdwQ/d+KjfaASdhOWhL5gAApUxezLGKmaUJWVgC2gJAJqdIBJb+ImweUmcopSAFCw7ChfiJZWSrA1voZRFt++/MM2hNF2TkR0AJJBoVFQAoaBiateHGVyESQleoiYkhqOFgO+4N6NHleUGWrSlZmEgAGrOzsHifDJJDK1Km6tLFgAa2+0C2MiinicMuYmxdTqFgGfgfaE0wTJZ0pUmhvdv/ACjbystKjqnKKXDAJZzUgA1DWLwozTIx1KDhQ/SOBvWhgl0V5MliVTVqckKarDs225qInwmWCeQFJUFXv6jeoNt/pF/D5euXrUlJmFnDVABuTTbnmL2Lx00SSpIAWpV6OOGb3P1iKNdlYtmYXl5lzBpSpQdq/q2p2jToysypQSVq1TGZKVDSKlvM3KfozG8Vlz1LBXMToVUuxCadtq/eF87M1KbVXnktBNpFYgJqZ04+cQjYlCRsKU3teFPj7AFEyVMak2WCkgMFABhRqFmePeOxKU6lB270J+BGfzPM5k8gzFPpDJGyRwBBQM/NJJUUTBHYBDDIcgjsdiEo6BDrwvlqpkwLbpQQ5NnNBFTKsrmT1aZYsKk2EfSZWXeTh0SgwF1HktZ4XN1o08HHcrZRnylKWQbgRbyYsoPejV32EUjjgkuqjUBb8xLKxQJ8xx0kERk0mdjtaGOYoUkmja6kPQ/xWFs9PcxbxGYicXVpSQzCwPtxEE9LfWBteBiX2O/Cc1KVuVMySAO6qN22MOZGID6SSoitKCtb70jIZXMIfSS5oe47/aGK5KmAKtImEh+LV+jw3jehPLFXZezLOULSqWJbjUK0qf03s1awvlqUs+WkOT6fa9HsHJihmOLlpUAlK2Io7VYkB+ah4d5MpMsoWpHUVFT67A0qBT4g2J66FC5HlTVIKWILV5aohzh5K9IKS4f7mGmcIlTFBZTqmOX0mukC54jkqYAQlIGkNRopIHJkkjLlKCumguXpU8b+0UsZlgWQJiwEgtpCTX/7bCNLgMShKFFVKiv4c73jO+JMyAmHySnSHcJfhqlq3gqSAtt0Y3xflwlKQAhMtRBcBepwDT2N4W4PBjSqbRmYDcqINq2B3izjZJWsln+HjwnK1eWVqLJBPST9x2f8xXkmNDJKkpMpUuWtCVEAndSga+WT9Xhji5aZ5BWgjQAl1LcquXIBveM1lXRNSSCXBCRxvR/a0aDC4lc1R0zU6A+pNjeygzitPrBWi0i1gMtUgKShRU/9RArWoahYXHeJcRLAljWsLUGZIFACb1uPaIp2IMpCtSAQQyST6X4G+0Z2ZnClrSAQdg5sHJY8QDnQxRsdYsFVTpQvcgMGFAABRre5hjhseZaSSUrDAgHSSkgUv73hZjZzaQFa5i2CAKu8V5GIOlUogEJ9T1NiNKVCt6wWZMNDCfmQVL1gD0sKfqc6mptRopYTHzVqS9RcBr13IHG8cy7DzQVIUkpQBqGrpYbv2r8x7wyz5mpB00Icd/yIFkQ8/wBS5CdKUaWZia961Lw4nYRKwJfUlqoNBs6n3NbPGRxuIUkgKJ6aOQfdgOWhoPFKvL06ElVtVa8Ugk1QMos54qxiZKUyNAd/UCx0mrEbl694xcvEgEvYlvu4htmuNLhU3y1EF2URpU+1OwMZ+bNBJW6dRsAGAGzfxCnbfY1SUY0PMdjkqZINCWrsNqQrzLDpHShGlSSNStVDTb6vFWVcVvaLZ1JppJPe3b3h37M0nsxuaz161IVZJtFGGGfSVJnrCqF3+oBhfDl0c+b+TOQQNA0WCEEDQRCH2DwrJkpkydKQP9tJWeTWp5htL8uYlQK2AdnsTGDyzHKTISNikBuYYYSeWFWrX+0ZsrOvCKSW/AwzTCS0oCUsVeok/cCEU3CrqUmnBP4hpjkpAcOSfs8WsuwaQCFllEHS7mrEgfaJKKYUZ0qM9LoOp9/t+8esKtWqhpwYjUgkkVq/xzFvAySSwDsPoeTGeSNCkOcBI6lKDACnue3LNHrOlOlBFbt8GsepMsqUwqXrVuo/QM8WVygsiWQAEdAbY7/esMjGkLnPIVeShUxS2LdTbsdi3zDLCSDXUQkaSS9HpYFrkxUxU1MsES1AmjkVru3vSJsPNWuZLWdS9LUf6DtaCdAUTLnzZZ6iQWau471qI9pzo6tYLki2x9q94uZglCyTqYEekguB+o/B3eMjmTIUQDUH2p+YBuUWHFRktmjxniHUkoLpSS7HZrNCzHK1ECWXcPTeM3MzAGjEmL+AnEg3oKMP1bQWbemA4JdFoLIUy2oWIpsa9omotTAE1AAv7wYadJKBqSHAZRIU7ue/3ixJloYKlqJUDQMXNK1/aGAi0S1JmdLukkuNh8xfxOaEp6kJL0BL0AsAAdop5zP8spNAoBnG/fh4rqmAjqJBFVd3sw2pEKdEfnKUr1nS4B6iabs8dPkSp6tA1Jp1FjW/FtoiVMFAoWdiAAT7xelZdLVLoJhm+pTMQBQDv/7imUvsMLj9CmlJCVk+u7IIZSWNGN/iH+RZNLnYWbMCSFoUVlmB02QhNgE7mM1l+EWpRQLhtQ4cgU5NRG8mZGoyESx0BNPUSFqr6gTRudoDqxidr6OrMhUohcrSSj1matWpxRnqz82hNIloKSlKWYO9BQH8vHpWXICihapgUkkqCkghmDtpN3cvZmiFQA9NDcVNtuzRSbfaCxiuicu5Cg72JD/mF+ZzCghCQQoh9X9I/wDUWZ+coCSlRDvQWL/4IzGNxk2eopJGp726bNFaXxQSWrL+aokgy0hfnKLHSkuxL6tRZ3tCzEJHmDSgMDV62LsX9oc5DksxBWuXpUzOoA0cs4NwQYln4Nidagk1JP8AYVrDaozt5FfL5KZilTCnQ39IJAf8RqMuyTQP6jchQelw3YxmJB0pN2ue42De0TI8YLl69JY6NIN3rR/iJ7nihntqjF+PCTjpxKdLsw7BIAMZ6GniPGGbOK1FyQHhXD4u0cnlSzYQQQQQsIIIIhD6JlyAnAJKwOsMg7u9YtYSXplFwHVYwlkTlLlSEN0ITRuTGjkkeWgWIo8Z/wC1I6sbcbIJstRAO4H4jxgZqlL8xRbSCf7CGBQ4SgXUbx4xOHMpakj9N/YgO/zFykWo7E0pLlR3r94c5ThWkqB9SqgitOIrKwLEEEAKFr/EaPKcvlqSkpKrMHIBHbvCI7kOlqNC2VK0hWl6NQj4EdxMyciW2hktqqG1Ucsd6DnaLOY4tUpl0IVRiK0LD2iLOcUVJDEiUQnUliXcKL8A0AeDe9FR1sz8ialwNIcbEtDvDTKhWkDahJb+lTuaniEOKwCklLWIJSR+oNX52Ii1l2I6g7tSlagP/AhCm46ZoxTRppuNJJUEEUIJUQQrprQ2JYfMZbHYVRqUuaVNWcOz2ttDDH+I0gHSixBCiaGocGg4+8UUYxSglQa7sBRzu3w8Mk0xWNC7/p+hRDEEtQVd7CPSElL0IIv22rF+fMdWpgauzU+Pz8x2TgVKSbDUXcmu8FQEkVMPiQB1VD1DsYEzhcUI+IsT8kWGG5qBQOOam3eF6iEh63grFkWaTpiyKWF93PP0iomWs/J5/mLeCx5SsqbUTTSbN/lYtY2SlSAsJKQ/WBsTbS9Qm8X4KK2AkEqIUzJqa3ajAj3jQ5LmCZanSoAkhJRVinuYUIy0gUIIUxb+kcH/AJRLLnlihCUFL+oipZx+8UnRdaNRjcZL9SUaXLragcGnc0aGkvO0BDTSSS62Nb19T04bekY/DyJqykKNB3oB25MO8xwqVFCSkIJbURWjUA2sIuyzi54nAlRZaQdLszEhgAKv7mFeIlr1UWQCq1G7NDfETESkpKUEkVUVN9msDxCgYqTM1a1JAIVUO6SR0n2eFPobHfYsxODSSevUq5bv++0e1ICBp9JWNF61o9ITTpJcBKjw7/SLWUYJQmAqOpywF3+u8DVbsJu1VGpyWQcNLmJXMKpZf0c8e/eFWbTApWpgGqWuo9+8OV4yWZSlLKZYqNANSwYMGvGW6lP5bkgEk8AXJ2NI0Nq6MyWgm4hSUB2dz3Pz8QrzCdpAJF7d+/tF1CX/ANxVEJD8O2wHvGczPFlbqPsBwNoZghEuRpaKE6ZqJJ3MRwQQwwN2EEEciEOwRyCIQ+hZMArDIIBDJDDvVz8xYwuIcsaOaPBBGN/9na4v4y9jACEkqatG29484fFjWUh2XRRf5/aCCBnJjYJMkkKC1ECiUtUByEhyot7Q/wABiEJmJU/SzszAFr83ggioPRORHBITMczUuCC6gbHV0G3cmFeLwemYEh9C9gSbEpCvYmsEEE/sGsURzEokAeYgl0n4OxH3hGqeDNLCgYJdrbP/ADBBAS2Hx9FjGyRMYMAAA+7mxNuzwww2GASQE9KWfhtvcuI5BAyjoO9nqUZakTAzKA6S+5+IrpxXlaQQC7GhFn3r+RBBF8LYvk6O59PChrG7MITrwxWNIqpRAABvz+I7BDW9ifCOS8v0kdSSbsKsGvFvDzWUCoqUKPW4FoIIJFF7Lla9ZJtUD3No5g0sdRYdqf40EEUWz3iMelNJbEmtw8V8tzWahWtYBSxAdqd45BFsFFTNPFqFApSgh7qO3cQt8mUoOmYX7MAGdwRzu8EEDiki48jkW8syxKy4mMlI6i6XHJ4hrIwAlHXr1KRyUkdt7bwQRajsZKWiLFyZYLTNy7oIUCDZ+I94zAa0pQlSUp0OA4c0rqfesEENcVZkXI9ozmJmFKTL19BPbaw3aM3mEwamTYQQQa7M3LLRVeOvHIIMzHY48EEQsHgggiEP/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custDataLst>
      <p:tags r:id="rId1"/>
    </p:custDataLst>
    <p:extLst>
      <p:ext uri="{BB962C8B-B14F-4D97-AF65-F5344CB8AC3E}">
        <p14:creationId xmlns:p14="http://schemas.microsoft.com/office/powerpoint/2010/main" val="5391295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Ammonia NH</a:t>
            </a:r>
            <a:r>
              <a:rPr lang="en-GB" baseline="-25000" dirty="0"/>
              <a:t>3</a:t>
            </a:r>
          </a:p>
        </p:txBody>
      </p:sp>
      <p:sp>
        <p:nvSpPr>
          <p:cNvPr id="3" name="Content Placeholder 2"/>
          <p:cNvSpPr>
            <a:spLocks noGrp="1"/>
          </p:cNvSpPr>
          <p:nvPr>
            <p:ph idx="1"/>
          </p:nvPr>
        </p:nvSpPr>
        <p:spPr>
          <a:xfrm>
            <a:off x="457200" y="1600200"/>
            <a:ext cx="4099646" cy="4525963"/>
          </a:xfrm>
        </p:spPr>
        <p:txBody>
          <a:bodyPr>
            <a:normAutofit fontScale="92500" lnSpcReduction="10000"/>
          </a:bodyPr>
          <a:lstStyle/>
          <a:p>
            <a:r>
              <a:rPr lang="en-GB" dirty="0"/>
              <a:t>Haber-Bosch Process</a:t>
            </a:r>
          </a:p>
          <a:p>
            <a:r>
              <a:rPr lang="en-GB" dirty="0"/>
              <a:t>Controlled combustion of a fuel e.g. coke with steam yields CO and H or can use H from natural gas</a:t>
            </a:r>
          </a:p>
          <a:p>
            <a:r>
              <a:rPr lang="en-GB" dirty="0"/>
              <a:t>H + a catalyst reacts with atmospheric nitrogen</a:t>
            </a:r>
          </a:p>
          <a:p>
            <a:r>
              <a:rPr lang="en-GB" dirty="0"/>
              <a:t>N</a:t>
            </a:r>
            <a:r>
              <a:rPr lang="en-GB" baseline="-25000" dirty="0"/>
              <a:t>2</a:t>
            </a:r>
            <a:r>
              <a:rPr lang="en-GB" dirty="0"/>
              <a:t> + 3H</a:t>
            </a:r>
            <a:r>
              <a:rPr lang="en-GB" baseline="-25000" dirty="0"/>
              <a:t>2</a:t>
            </a:r>
            <a:r>
              <a:rPr lang="en-GB" dirty="0"/>
              <a:t> = 2NH</a:t>
            </a:r>
            <a:r>
              <a:rPr lang="en-GB" baseline="-25000" dirty="0"/>
              <a:t>3</a:t>
            </a:r>
          </a:p>
        </p:txBody>
      </p:sp>
      <p:pic>
        <p:nvPicPr>
          <p:cNvPr id="5122" name="Picture 2" descr="http://www.bbc.co.uk/schools/gcsebitesize/science/images/triple_science/017_bitesize_gcse_tschemistry_theproductionofammonia_haberprocess_464.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175" y="1412776"/>
            <a:ext cx="4419600" cy="47244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217300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930" y="94840"/>
            <a:ext cx="8229600" cy="1143000"/>
          </a:xfrm>
        </p:spPr>
        <p:txBody>
          <a:bodyPr/>
          <a:lstStyle/>
          <a:p>
            <a:r>
              <a:rPr lang="en-GB" dirty="0"/>
              <a:t>Phosphorous</a:t>
            </a:r>
          </a:p>
        </p:txBody>
      </p:sp>
      <p:sp>
        <p:nvSpPr>
          <p:cNvPr id="3" name="Content Placeholder 2"/>
          <p:cNvSpPr>
            <a:spLocks noGrp="1"/>
          </p:cNvSpPr>
          <p:nvPr>
            <p:ph idx="1"/>
          </p:nvPr>
        </p:nvSpPr>
        <p:spPr>
          <a:xfrm>
            <a:off x="161818" y="1240604"/>
            <a:ext cx="9184916" cy="4525963"/>
          </a:xfrm>
        </p:spPr>
        <p:txBody>
          <a:bodyPr vert="horz" lIns="91440" tIns="45720" rIns="91440" bIns="45720" rtlCol="0" anchor="t">
            <a:normAutofit/>
          </a:bodyPr>
          <a:lstStyle/>
          <a:p>
            <a:r>
              <a:rPr lang="en-GB" dirty="0"/>
              <a:t>Crustal abundance of 0.23%</a:t>
            </a:r>
          </a:p>
          <a:p>
            <a:r>
              <a:rPr lang="en-GB" dirty="0"/>
              <a:t>Apatite-Ca</a:t>
            </a:r>
            <a:r>
              <a:rPr lang="en-GB" baseline="-25000" dirty="0"/>
              <a:t>5</a:t>
            </a:r>
            <a:r>
              <a:rPr lang="en-GB" dirty="0"/>
              <a:t>(PO</a:t>
            </a:r>
            <a:r>
              <a:rPr lang="en-GB" baseline="-25000" dirty="0"/>
              <a:t>4</a:t>
            </a:r>
            <a:r>
              <a:rPr lang="en-GB" dirty="0"/>
              <a:t>)</a:t>
            </a:r>
            <a:r>
              <a:rPr lang="en-GB" baseline="-25000" dirty="0"/>
              <a:t>3</a:t>
            </a:r>
            <a:r>
              <a:rPr lang="en-GB" dirty="0"/>
              <a:t>(</a:t>
            </a:r>
            <a:r>
              <a:rPr lang="en-GB" dirty="0" err="1"/>
              <a:t>F,Cl,OH</a:t>
            </a:r>
            <a:r>
              <a:rPr lang="en-GB" dirty="0"/>
              <a:t>)</a:t>
            </a:r>
            <a:r>
              <a:rPr lang="en-GB" baseline="-25000" dirty="0"/>
              <a:t>2</a:t>
            </a:r>
          </a:p>
          <a:p>
            <a:r>
              <a:rPr lang="en-GB" dirty="0"/>
              <a:t>Deposits found in igneous and marine sedimentary rocks</a:t>
            </a:r>
            <a:endParaRPr lang="en-GB" dirty="0">
              <a:ea typeface="Calibri"/>
              <a:cs typeface="Calibri"/>
            </a:endParaRPr>
          </a:p>
        </p:txBody>
      </p:sp>
      <p:sp>
        <p:nvSpPr>
          <p:cNvPr id="4" name="AutoShape 4" descr="data:image/jpeg;base64,/9j/4AAQSkZJRgABAQAAAQABAAD/2wCEAAkGBxQTEhUUExQVFRUVFxYYGRcYFxgZIBgZHxoXGhcXGhcYHCggGBwlHBcXIjEhJSkrLi4uFx8zODMsNygtLisBCgoKDg0OGhAQGywkICQsLDQsLCwsLCwsLCwsLCwsLCw0LCwsLCwsLCwsLCwsLCwsLCwsLCwsLCwsLCwsLCwsLP/AABEIALcBEwMBIgACEQEDEQH/xAAbAAABBQEBAAAAAAAAAAAAAAAAAQMEBQYCB//EADcQAAEDAgQDBgYBBAIDAQAAAAEAAhEDIQQSMUEFUWEGInGBkfATMqGxwdHhFCNC8VJiB3KCFf/EABgBAAMBAQAAAAAAAAAAAAAAAAABAgME/8QAIhEBAQACAgMBAAIDAAAAAAAAAAECESExAxJBUSJhEzJx/9oADAMBAAIRAxEAPwDw1CEIAShIlQAkSpEAqEIQAtv2O7Jsqs+JiASHQWNki3Mwd1RdkOHCvimNddrZeRzA29YXrOHow4nyUZ5anCsZuu8HgmMDWtaA1ogRsPZTlYj5STY8v5XD3uAt9kxUJcbrlvkromENY4X7uigVnGYiNPNS61+sJpzLeKifqr+G6b5AiD76qY+gIF5PJV5c5p0sduqlfGi4ieqqwpS4hwa2I1VW6mXXJ8lLeZS0KLs3dEpa3eT6OYdgpi8Arp3EBfcro8KeT3iAeu3knBwVwFoI3I28eS01lvhO4rqry65+6RzXtjMCQ4S2dlbs4U2BLrDop9HDS3IDLfe+yv00m5KTAO1BsrahShszA5+cfdP0sGxpt9kYymHENiPdj4qsLpGXKux2Zw+W56X92+qoeKYXuuBBEtMSI2st5hcMxpmZERPXfzUXjfDfj03NkAxIty+q22y08ixfZx9R2amWiQIBnYCTpzWexFEscWuEFpgr1H+kdSs4W/5DQ9J28FjO2zW/EYQIJaZ63sfumTOIQhIwhCEAIQhACEIQAhCEAJUiUIASJUiAVCAnsJhzUe1jQSXEC3UoDfdhOHClSNU/PUHo3YT119FtKLiQNP4Vbh6YENGggC3L7K0a+NraLnyy21xmjr2g6W/aMRQb8M2ObnK5qPITNfiBa0wY2uJ9VE1a0+KrGN9Z06c03RD9CcwHP9pqljvjPe4ZIETlNrWi+minYZw6SlcZsbN1QYmDbzXOByvcQSW7yrKldsRcJh/Dy6wEGbbJc7PjSbhOGU3C38kqS3DBosPOZT+Dp5AGkydz15qRV0v6hdUxmmNz5V7cPaSbritI2t4p986jpPpyTNdzjqWxyjVRZpcptt99VYUsC6Ja4QodJztr+EfcBPh4bub8lPGuRf6MnE3LSJI3H+0Mc494iJOiUnNuAPeq6zNEyTHP8rO2ziLkl7P0Hd6CBfZdYm9tPDZN0ajDmAGeNfRQOI8ZpUjBOZ3/ABF/Xkurx705s7JUipg2ubDv9ry//wAh8LLHtqMk0oidYPI9OXgtLxHtS6O61o8ST5bLOdpeLVK1HI0Ze8MzW3zDpvYxZaet0ynkxt0xiRdOaRYiCuVLQIQhACEIQAhCEAIQhACVIlQAkSpEAq3HYLAQx1UwHOMNP/Uawep+yw7RJgalet8Iwgp0qdPcNAnmd/rKnO8Hj2s6dOOsqZRqgDaOfJQPjWh3h/BC6Y9m58lz3TWJuIl0Jh+FmBtun2V285C7q4pto9QiYycnu9Ks8Ba29Kx3bzHP0StwhbDiLaKd/UtJtct3Hu+ql/GEhok2OwgcyTutpjjki5WK3CGHWkC+87Xv1Km03QZOnVDwwA22NtNU3gTOoLQQbRpHj7un66Le3OLrFuknedl1hMY4iIcAdZVjSwxABMRyXIawG5mN4sFPre4e4caJu5wHiVxi8LkOVzb+MqrxdSXd2YN5Tn9W/wDyM/dHFHSTFobZM/DMaSnWiwInrOyYxnE6dP53AdN0XEe5807WsuKmHztIkC0C31WY4j2pzfICBzKg0+J1XzL3AXkSQCPynh4LvbPPzzS3bQp4fMP6hz3EWawc+Yk+hVBiKwadMxO2aPC/vxCY/o3vvBjkAjD0spGYzm2iegsLrsmMkcmWftVbUzOee7E7AWE7DeFb4bh4AlzdNb+gTtIAOkCL+c+/upFANq5g1pe+LNzEQZAmBY7+uvNyIVPHuyzxSNZ2RhLM9NpJzPEgQABuJImLXWIW1qcRc0nNBOkGTfSNf3osvxe9QuAjNcjrus/Jj9beHL4goQhZOgIQhACEIQAhCEAJUIQAkQhAd0qha4OGoII8RcL0vhfH21qYcQWuOsXE6Hyn7rzJS8HxGpSBDHQDtAP3U5TcOXT1aq9pAyukxfXVN03uHUKq7LYWr8EPe4uzibxYf43Pu6tqZykAxB9ysbh+tJkcyzdttinqcl0Df0HMpRSyCZBnb9qRgqYm500Skm9Hbxs/hw1gOmYxfW248P0pmFOVxJJ7zS3wGov5KnFTvACRGg/Kml5MTMei0wt2jJLyNJtt9V0w66KIxznNLmCYtO0/nmnKT3QC8QdYB9wryqYsqjzl+Xa19+ar69N7BBBggm8iRvB3U3DOzawPGyivqOcSAIBJ/Yv4I1sbV1F/T30UhsTcLqoWU3TUcA03kmJ5wTuqitx2KrwwNe2T8N2luZ6TfZPDAssk/ieKbTpOcTeCGgc1iKpzXOpO6n8Rxpf87sx9AOcAfdVbmzzAW+OOnNnns4+G2snGkRAt+T7hMHC2nxTxqNp5HtGdw1ZGlyBfTkfwr1pl2cZh3sBzFzZEg3HiRzXWFptMhjHPqHSJ3IAJM2vzsZCg8b4q6oZfUpTYZGEmBE/M0Fp5HvEym3donNkUabaIMxlLpA5TMu/+iZSlVcVzxLh5oEGsWF7ml7qM5cmkB8QcxBaYERmF9QKZ3EyHsydwA3gu7xuJdfW8WVazFPdM3G5j0v5rumCSCb3n6z5Ku02aMgzc+areKfMB0WnxODa2C2YImDsstxQgv7pmBHndR5Omvi/2Q0JULB0kQhCAEIQgBCEqAEIQgEUvhmCNao1g31PQaqKtx2I4MSGvAlz52mGSPvH2SoXlTsdSpNaHUmmQIOs2nVFDsthwf7lEARpDh4brc46u5jGiA6oIi3y6Kpr419UZTqDeNvFGU0MeTH9KA0BvLTokqUGxy29ldVu7vqmW12tZNRzWkXBcYE3/AGsZzdNNamzlHDF0OkBvJd1K4psc7aen098+ShYjtPhxTIkPedmzHjP+1leJcdfUNhYAwOXrutJ4v1nfLrpoK3HhPyczrf6eShYrtC9w7rY21KyjHuLrkk6wD+lYUOG1qneizZmXNEDwJmNVrMIyvkrb9lMUalMh7suXYTc+fkr2hQGUSZmL9OQ6rM8Ew+HblaalQTqySBJgGSBcea005QAyMrYAHRTljpeOW4ee1oAsYB6205ELtjhMAbdEzTd/i4/b7pK9Rg1LQBuSBHSSlNnTeMqMA/uFtwTfpN76LBcVxLQ4/CaGt0AA+pVh2jcKjhlqBwiCAPqSPxy6qvweHDrB1762kDWPCQtsIw8mXyKqo0z3j1j+FMwGEfVElwY1pG0k+AFz4DmElciYnTeP3dRXU3EhoeWtJ3JAHUha6YykxdYk/N/8gAEeQMD1ULFVyRAt0VlU4VTYbYinUvECZJ6RIj/sSo1fCQctj4GRPiPwjsdVStpkqQygRrZXGHwtJt3ZwbCGx1kyZ9IvOvOQ3A0i1xl2kgEkGfDLdTMVXLamkN9/VS8JLhPW56Kf/wDnMIBvqAYEhvIOi8+SiY+qBZpBaCRa0gbi2iuIqJ2mrP8AhtAJyAw78dY1WXWjxbi5pGovYm0x91nFh5O3T4b/ABCEIWbYiEqRACEqRAKhCEAIQhAK1smBcleudh8FiKdFhLDTkQZ+aLmY1CyPYvgR+MytVgNYQ4N3LthpbZem1cfO0dFNykOTaRUp5BJuSLaG1/TTdQWU7z1JXFfGjQCSY539PFV/HA40nZS5vMeOqnftR1NjivGKWbI0ucSRJGjenU+Cx3E64qVHHMSJOXNs3aycp0YHL3qoZpbcvf6XTMJHLfJcjdEATqu6Tc0k7JCyDrdAOWE5CtcMb3rewrIO+HIiTy9/dQq+NIkSZiJk6aAax/oLmlVsD5G+qc7K9L6jjQ4d5ob1Bj7rnGcZr03AMq92GwJa7WSqlt55BQ8VVg7oygxq7w/aWsw3OYTMOvr11CffjTUdmO5kgknrAv0j0WbBJv8ATmp2GxMWI+tx4JSQ8rV1TqHKQAJPT7dFHr0g2HC5jX3tCbw78wiTGnLw8lZYW7csQWnXz3WnDLnavbSBGYAlDMOXAyFcYfBDMRpMnx/RXNDClrg43bOg3CjLyzHtePhyy6ULqADo0jYqSyoZJgBw+XKAB5D/ABjotPjuCNeA9gm0yDcjaB+VneM0nUh3muEaWt5n3oiZyzcGXjuNRqtEkzOs6n8pp+NjutgbTCZokFzc5cWkwcsTH/WTE+Kj4quNGg73JH4VeyfU66q7QONrg6GejtfLxTcADVVz8XEzKhVsY53gpvk00njtTMbi2wecQBy6kqoQShY27dGOMxnAQhCSghCEAiEIQCoQhACseA4I1a7GgTBzHewv94Hmq5afsFUis8D5i0R/6z3vwgN5w3ANBJfYH/HrufrorB9ZsQwOJBudi3bzXNCiCJdaxuOfPwTWAq5BEgi+oUfVfE3DFv8AxE+YULjuKaaYa35iTPRsCLxqTPopGHDTrP8AJ/CjYrDgHMb/AOrLO5+uXKvS5ThlqdjcTtt5G9lAr6nmJCveIFhlrG5XbmdR+LrPV2kOgXJv+12YZzKbcGeFxujQtfdcvcnPhkjRRy036KqU5cuaCSTJmYiBBj9wuaOp8JCm4ekXjKGkulsZRMSSL/RdcQwQY92Qk5DBtHMXG1x9klfDWGv5or0ASCuaZupuAwYfq9rSXRJmPoCeauXfCOuUB7Q11tE7TZBDjfeNvAqz4hwxjDBqMPUH7e+Sg5WhsC+t5ReDxu1zwvhxMuJAbbz5haDC4Fszprf9ysfg+Lmk0td3htsn8P2gqAGTc38llc41xwaqo+m0yTlDQddOU+N9FU4vtDRaf7ILo3NhPQDVUuJxL6nX6/6TvDOGgEO1OsREa3XNnffp1YT17dtxWLLhkzgE63AE/ZWtLBVnj+7UFQ6hrh3Z81zTD3EEuIy7bKywDc1ydOf6RjlJqDLG3lluK4sseGPABI1hojwgLOY/ENMZB4nSV6ZxxmanlbAk/Nb7RMrD9sOEvY0PY2kKTAAS2A5xMS51r39JK39tzhz+vLKVHymyUSkUtdFQhCAEIQgBCEIAQhIgFQhACAFtv/H+Ec0OqloId3Q48hObwH66Kj4H2cqYkFwIYxti4z5wN48lveDcMNFtNlO4BnMTMzMgjSeiWz0t8KypTZlIBDpvc5R6JyqxuW5vB0t4BOUsU8gtgED35qBRr3i8Ax5IoP4CtoDoN/fVd1HS619021glSaTmNcbzY7fhRljLwqWzlm+LM74IZ1sPIzGipMYxwcDPhaPJbSowEkbfn2FX4/hef5YBHOwPmtPH/Fl5Z7dMcwx/BQWKTWoOkh1ss2Oyb+GQefJbuU0cS6kT8N8EgaCPEDwJPoojHm8yZsd/CeqfxVEtgkTM6GTPIjbmrHsxhQ+sQ4fKNDztNlnnlpthjscI4JUeSXgsaBruTsACrvh/C2seGOab/wCTY677bWVzToA93MBO58Qkw+LYHbEtMefisp5Nzbb/AB6pviPY+nUh2ZzYsY/y9dCq+p2QAPcc5zZFjGnV21+i07uJOLdDa0G0/tQxVcXSVOfks6Vj45e0HE9nWBoAAB5mXeUqKOxzG5XFz7nkI8o8loaNcmQ+4n0EbJ/F0hYzIGg5fpZzL2XcdK3h/Dm0jBbANpib6fNqFxjcHlcYbEm1teim47HHLYd7cCbjzUOjxqs0iQC0W0u3cHlqqlnRXfaC0QYIAINxF/VO0C3NYAud6K3aKT2w4Na4n5u9O5uJ3nlt4oxfBWNaHNfyubXi4gcj9kelm7OT9t8VnMRh6uaBcjTcT75LG9osZWaH03RlLspJiZ1gTcBaTtFxoUpu8P0AaYLuv/qsHxTHvrOzOTwtyTlJEBCEq1QEIQgBCEIAQhCAEIQgHsHhnVHhjYk87Bbns3wYURJgvOpOx5Doqbsjwkud8V0gD5evMrbsoDmQPHU9YU2nCB4Drf5EA6qwo0ZnvHKJgR9Z/Chf09nPGrfc/dP0XmdjFtUTsfEmnXyuMbXiNfXqlq0cwjKBNz4+Wirq3dcHEkgawpdHiOZ0x3QNdOXPxSvfJlqtewEFsEbb9LKtD6hqZBJdE229dL81cYovN6Mvgj5u7mG+ptefoo+GfUFQ/EAEmBBkkbaDT3zT1NjfCVh8K4XeZkXtYdFBx+Kax2RpzE3Fj5WVxWxB+HlAgnW/WfwqrEYZr6feaLOPeFjPU+QPkneCnKtfgBWOYzmAOhjT2VJoYINmKZGWJIv0udk7g8PU2MAf5H9+qlNogHWTuVF5nJzioHEcLSc0uyAmNY0Osn/loqt7GgtLWgOE3BvJuT1laDGUmuZAP1ssxjcGIMyI2GoU+16VMZ2mmsdCYJ0M2POVAqcTFM2MneRIjyUdje628lukkzClUWh+zQQOXuVMmul2/q64dxIVWSLxzBHOyt8FxSmGfDNNxJ1jf9KgwVPKItfkVIFctFgOcxceBVTfabrpqqLWHUXJsJm33UTF1AARv9Oiog+o+7XwYViyTBJlEnPEK9LitQYaMi5gEEgdP5CqsXDG3Il0x4xon/6zK1wJGV0WjQjl73Ve/FfE/tOYAM05tCADAvv/ACrtm9pmzFPDGJc64926XVfxHF5LAmPytES3JYGx8ZsqHH0mOF2/UhTlPqpWL4tgqr35pznxvc28FIb2Yd8M5iJ0FxHqplHFhrxmPdEmeYvePwmeI8fDiKdEZp1cbBvhzICuThFvLH1GEEg6gwVyrTifC3MuQ6DeTvvruqtUQQhCAEIQgBCEIAQhCA9P4XQy0mgCIEQrjD0BlvEcuqr+GYRwa9xJygT4d4NEeZCm164gAaa/x9FGlpGHq95xce6Gna5M6D1T2CwuYExMCZn6lUfEse5wa1kCBsOo1+qk8F4m67akAZdRqSDorwuuKnKJuOZaN9v5TGDwzGzM3NhpEReLx4dEcR4kC8Ad6No00tA0nquKdRxIsBfp9SUstUTa4ZiGtEEElR8TldIDzMSJ18I89kxUeXHSDGuqbZgZccxJBMgEC2lpSBv+ocNTJd9fVJTqS7QlouY36Kb8PLBygneVX1RFS1mu+nP31WOVlrXGaS6+M2iOQ5dFCquJacutkw/M4tN4NidoG/ip+FpDwj3oiS0+IoquJfnEvAAsf96KSRPem5mNIOu+67xPDxJIAd5X1TZoSckwNweexPSyeM0MrtApuEEgX3EDzGifw4gTGn1HnuuKmBc1wuJB2O0Eb6pabspIJFxsedkS/pX+k0Q06z1ClO7wkLPPZkJBlzCLd6Nf5S4aoRcFwi0Eyq2nTTUaRHgnnVQy5JCqKXFBADrHnsVYFmcTeE++i/6gY/ihM5TkHM3J8kzQxDqnMFrgIJNxv0uPsp2N4czJ1KynE+JigTSa4vsCbggE9dSQlMb9Pc+NnQqTTsdyoHFajMrszg0DrveB6/ZY49o3BkBxBPoouGxfxHAVHnK3vQdDznrqnoqb4k+oQKhsHWHlrC74Gcocedh16KNxbH/EIDRDGzA011MeSZw+IhpBEj0hWhoON8W/tfDdBcBAF7A7k7n+Flk4SXFcvF0w5QhCAEIQgBCEIAQhCA9dxNOq9jfhTE32tpvt/ChY3CYhrm27pF3S084Hn+VeY17mhrg2G6R19L/ylq0viMMwYO9veqWtn0qaXDIieskXvE7+BTLmtcYZlc2bxz5clbvwoLLQSdL6LocCOHw7a+UFtRxykGSXX7sbXB9OqYQ8JhW0yXEaiDHMixI3hNOqyZ5zfkeg2TlGq1xykGNJE2sbeqac2m2S3y38AUsroSbSOEYoAyYJBgi8bbC+kGysajzbuQYuIgxpvcc/0qLCPNN3xIF3A5dJAvBjbUK2qceNWm7MO8YANtra2kxufNRjlJxbyrLG9w22rlNtPXymxICKjmOpmCc7TttqYvfoqzFYlwPdvEyNY6qqxnEHvnLrzBkz4LPf8ulycNHhq7BAcDcbR9V0KwMgLH4fiD3HJUEO0DriOsK1oVixtjN4kRf9HojdPUXDa0TK7oOabRebHpyVRUa5xkPnmP8Aaep1DHei3LYeqW7saml7V+GRdgcdgZt5jX+FTYzhYcZaADNtSPC6mUKsiN/v1T9Om4qrZYmSxmamHqCQ8X2jTpdP4PAZmkkjNsNFc4yu1jTm+XQ39PqqSniWulzD3ep08ZTmuhdn6/DwGkhwMe7FVlXi9SgDlBtMh2kb2m6scNiw6el/5WQ7R4sveQ0nLPvxV6nxO6XiXautVtZrdIEqopuBMuTLgnqwYGiCcyrSdmnkTZcl0pF18MxMW36Jk5XdNkrholSKDYKVB3A0ZdfYKNX+Y+KsnuysJCqUQBCEJgIQhACEIQAhCEB7Xj8RJANgTI/ZSVQ5tmuOnht+oQhKc070ZZiLC0HrefTfRcVqrzkawkic0SQBG/vZCEpedHr6KFbKXHKIJv0PT0Ki1yCCdBrZIhLK8HjFZR4s0RLgSLaG/LZSX45paXA2GtihC55y3s0oKfG3NY51jmN7Xg7A9Am8JxRrXFzdY0M/QoQtrGU5OZy67iXHczEnn75q0okZWDczt+UIUS7Xp2MVl7ptyiT4pz4g03QhBUxVxbgfBS6HGHugOtyI38UqFF4VIkVcUHthwnbTXxVDxDhzPiDI7JMWjnyI2QhVhfbtNmulRiscKbnMMyLd3cclX1uINLYDLzqTNkIW+MZWolOiXJx2G16JEKqmOThyCAVPbixTYW5Qc2vUa384QhTKehwDAfEf0GqfxOFgmNAYQhFERce6KYHVVqEJzoghCEwEIQgBCEIAQhCA/9k="/>
          <p:cNvSpPr>
            <a:spLocks noChangeAspect="1" noChangeArrowheads="1"/>
          </p:cNvSpPr>
          <p:nvPr/>
        </p:nvSpPr>
        <p:spPr bwMode="auto">
          <a:xfrm>
            <a:off x="155575" y="-2270125"/>
            <a:ext cx="7115175" cy="4733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2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7691" y="3208896"/>
            <a:ext cx="4376911" cy="3299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934800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59" y="42257"/>
            <a:ext cx="8229600" cy="1143000"/>
          </a:xfrm>
        </p:spPr>
        <p:txBody>
          <a:bodyPr/>
          <a:lstStyle/>
          <a:p>
            <a:r>
              <a:rPr lang="en-GB" dirty="0"/>
              <a:t>Sedimentary phosphate</a:t>
            </a:r>
          </a:p>
        </p:txBody>
      </p:sp>
      <p:sp>
        <p:nvSpPr>
          <p:cNvPr id="3" name="Content Placeholder 2"/>
          <p:cNvSpPr>
            <a:spLocks noGrp="1"/>
          </p:cNvSpPr>
          <p:nvPr>
            <p:ph idx="1"/>
          </p:nvPr>
        </p:nvSpPr>
        <p:spPr>
          <a:xfrm>
            <a:off x="110448" y="1189235"/>
            <a:ext cx="4463853" cy="5893392"/>
          </a:xfrm>
        </p:spPr>
        <p:txBody>
          <a:bodyPr vert="horz" lIns="91440" tIns="45720" rIns="91440" bIns="45720" rtlCol="0" anchor="t">
            <a:normAutofit fontScale="85000" lnSpcReduction="20000"/>
          </a:bodyPr>
          <a:lstStyle/>
          <a:p>
            <a:r>
              <a:rPr lang="en-GB" dirty="0"/>
              <a:t>Formed </a:t>
            </a:r>
            <a:r>
              <a:rPr lang="en-GB" dirty="0" err="1"/>
              <a:t>e.g</a:t>
            </a:r>
            <a:r>
              <a:rPr lang="en-GB" dirty="0"/>
              <a:t> through the upwelling of cool phosphate saturated seawater in near-coastal environments</a:t>
            </a:r>
          </a:p>
          <a:p>
            <a:r>
              <a:rPr lang="en-GB" dirty="0"/>
              <a:t>Deposited through biological/chemical processes as nodules and hard crusts</a:t>
            </a:r>
          </a:p>
          <a:p>
            <a:r>
              <a:rPr lang="en-GB" dirty="0"/>
              <a:t>Laterally extensive stratiform ore deposits</a:t>
            </a:r>
          </a:p>
          <a:p>
            <a:r>
              <a:rPr lang="en-GB" dirty="0"/>
              <a:t>&gt;18 </a:t>
            </a:r>
            <a:r>
              <a:rPr lang="en-GB" dirty="0" err="1"/>
              <a:t>wt</a:t>
            </a:r>
            <a:r>
              <a:rPr lang="en-GB" dirty="0"/>
              <a:t> % P</a:t>
            </a:r>
            <a:r>
              <a:rPr lang="en-GB" baseline="-25000" dirty="0"/>
              <a:t>2</a:t>
            </a:r>
            <a:r>
              <a:rPr lang="en-GB" dirty="0"/>
              <a:t>O</a:t>
            </a:r>
            <a:r>
              <a:rPr lang="en-GB" baseline="-25000" dirty="0"/>
              <a:t>5</a:t>
            </a:r>
            <a:endParaRPr lang="en-GB" dirty="0"/>
          </a:p>
          <a:p>
            <a:r>
              <a:rPr lang="en-GB" dirty="0"/>
              <a:t>Primary source of phosphorous</a:t>
            </a:r>
          </a:p>
          <a:p>
            <a:r>
              <a:rPr lang="en-GB" dirty="0" err="1">
                <a:ea typeface="Calibri"/>
                <a:cs typeface="Calibri"/>
              </a:rPr>
              <a:t>Morroco</a:t>
            </a:r>
            <a:r>
              <a:rPr lang="en-GB" dirty="0">
                <a:ea typeface="Calibri"/>
                <a:cs typeface="Calibri"/>
              </a:rPr>
              <a:t> – large Cretaceous age deposits</a:t>
            </a:r>
          </a:p>
        </p:txBody>
      </p:sp>
      <p:pic>
        <p:nvPicPr>
          <p:cNvPr id="11266" name="Picture 2" descr="http://www.english.globalarabnetwork.com/images/stories/2010/july/phosphates_morocco_north_afric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1422068"/>
            <a:ext cx="3333750" cy="218122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blogs.r.ftdata.co.uk/beyond-brics/files/2012/05/phosphate-min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9992" y="2630095"/>
            <a:ext cx="2592288" cy="19463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012160" y="1052736"/>
            <a:ext cx="2987677" cy="369332"/>
          </a:xfrm>
          <a:prstGeom prst="rect">
            <a:avLst/>
          </a:prstGeom>
          <a:noFill/>
        </p:spPr>
        <p:txBody>
          <a:bodyPr wrap="none" rtlCol="0">
            <a:spAutoFit/>
          </a:bodyPr>
          <a:lstStyle/>
          <a:p>
            <a:r>
              <a:rPr lang="en-GB" i="1" dirty="0"/>
              <a:t>Phosphate mining in Morocco</a:t>
            </a: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3835" y="4509120"/>
            <a:ext cx="2929309" cy="2299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4374232" y="6093296"/>
            <a:ext cx="2069976" cy="738664"/>
          </a:xfrm>
          <a:prstGeom prst="rect">
            <a:avLst/>
          </a:prstGeom>
        </p:spPr>
        <p:txBody>
          <a:bodyPr wrap="square">
            <a:spAutoFit/>
          </a:bodyPr>
          <a:lstStyle/>
          <a:p>
            <a:r>
              <a:rPr lang="en-GB" sz="1400" i="1" dirty="0" err="1"/>
              <a:t>Phosphatic</a:t>
            </a:r>
            <a:r>
              <a:rPr lang="en-GB" sz="1400" i="1" dirty="0"/>
              <a:t> </a:t>
            </a:r>
            <a:r>
              <a:rPr lang="en-GB" sz="1400" i="1" dirty="0" err="1"/>
              <a:t>shales</a:t>
            </a:r>
            <a:r>
              <a:rPr lang="en-GB" sz="1400" i="1" dirty="0"/>
              <a:t> of the Miocene Monterey Formation</a:t>
            </a:r>
          </a:p>
        </p:txBody>
      </p:sp>
      <p:sp>
        <p:nvSpPr>
          <p:cNvPr id="6" name="Rectangle 5"/>
          <p:cNvSpPr/>
          <p:nvPr/>
        </p:nvSpPr>
        <p:spPr>
          <a:xfrm>
            <a:off x="0" y="6624615"/>
            <a:ext cx="4572000" cy="261610"/>
          </a:xfrm>
          <a:prstGeom prst="rect">
            <a:avLst/>
          </a:prstGeom>
        </p:spPr>
        <p:txBody>
          <a:bodyPr>
            <a:spAutoFit/>
          </a:bodyPr>
          <a:lstStyle/>
          <a:p>
            <a:r>
              <a:rPr lang="en-GB" sz="1050" dirty="0"/>
              <a:t>https://www.sciencedirect.com/science/article/pii/S0045653511001378</a:t>
            </a:r>
          </a:p>
        </p:txBody>
      </p:sp>
    </p:spTree>
    <p:custDataLst>
      <p:tags r:id="rId1"/>
    </p:custDataLst>
    <p:extLst>
      <p:ext uri="{BB962C8B-B14F-4D97-AF65-F5344CB8AC3E}">
        <p14:creationId xmlns:p14="http://schemas.microsoft.com/office/powerpoint/2010/main" val="2439424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Igneous phosphate</a:t>
            </a:r>
          </a:p>
        </p:txBody>
      </p:sp>
      <p:sp>
        <p:nvSpPr>
          <p:cNvPr id="3" name="Content Placeholder 2"/>
          <p:cNvSpPr>
            <a:spLocks noGrp="1"/>
          </p:cNvSpPr>
          <p:nvPr>
            <p:ph idx="1"/>
          </p:nvPr>
        </p:nvSpPr>
        <p:spPr>
          <a:xfrm>
            <a:off x="457200" y="1600200"/>
            <a:ext cx="4402832" cy="4525963"/>
          </a:xfrm>
        </p:spPr>
        <p:txBody>
          <a:bodyPr>
            <a:normAutofit fontScale="85000" lnSpcReduction="10000"/>
          </a:bodyPr>
          <a:lstStyle/>
          <a:p>
            <a:r>
              <a:rPr lang="en-GB" dirty="0"/>
              <a:t>Associated with carbonatites and silica-deficient alkali igneous rocks</a:t>
            </a:r>
          </a:p>
          <a:p>
            <a:r>
              <a:rPr lang="en-GB" dirty="0"/>
              <a:t>5-15 </a:t>
            </a:r>
            <a:r>
              <a:rPr lang="en-GB" dirty="0" err="1"/>
              <a:t>wt</a:t>
            </a:r>
            <a:r>
              <a:rPr lang="en-GB" dirty="0"/>
              <a:t>% P</a:t>
            </a:r>
            <a:r>
              <a:rPr lang="en-GB" baseline="-25000" dirty="0"/>
              <a:t>2</a:t>
            </a:r>
            <a:r>
              <a:rPr lang="en-GB" dirty="0"/>
              <a:t>O</a:t>
            </a:r>
            <a:r>
              <a:rPr lang="en-GB" baseline="-25000" dirty="0"/>
              <a:t>5</a:t>
            </a:r>
            <a:r>
              <a:rPr lang="en-GB" dirty="0"/>
              <a:t> (lower grade)</a:t>
            </a:r>
          </a:p>
          <a:p>
            <a:r>
              <a:rPr lang="en-GB" dirty="0" err="1"/>
              <a:t>Fluorapatite</a:t>
            </a:r>
            <a:r>
              <a:rPr lang="en-GB" dirty="0"/>
              <a:t> Ca</a:t>
            </a:r>
            <a:r>
              <a:rPr lang="en-GB" baseline="-25000" dirty="0"/>
              <a:t>5</a:t>
            </a:r>
            <a:r>
              <a:rPr lang="en-GB" dirty="0"/>
              <a:t>(PO</a:t>
            </a:r>
            <a:r>
              <a:rPr lang="en-GB" baseline="-25000" dirty="0"/>
              <a:t>4</a:t>
            </a:r>
            <a:r>
              <a:rPr lang="en-GB" dirty="0"/>
              <a:t>)</a:t>
            </a:r>
            <a:r>
              <a:rPr lang="en-GB" baseline="-25000" dirty="0"/>
              <a:t>3</a:t>
            </a:r>
            <a:r>
              <a:rPr lang="en-GB" dirty="0"/>
              <a:t>F</a:t>
            </a:r>
          </a:p>
          <a:p>
            <a:endParaRPr lang="en-GB" dirty="0"/>
          </a:p>
          <a:p>
            <a:r>
              <a:rPr lang="en-GB" dirty="0"/>
              <a:t>Current production: Russia, Finland, Brazil, and the Republic of South Africa</a:t>
            </a:r>
          </a:p>
          <a:p>
            <a:endParaRPr lang="en-GB" dirty="0"/>
          </a:p>
          <a:p>
            <a:endParaRPr lang="en-GB" dirty="0"/>
          </a:p>
          <a:p>
            <a:endParaRPr lang="en-GB" dirty="0"/>
          </a:p>
        </p:txBody>
      </p:sp>
      <p:pic>
        <p:nvPicPr>
          <p:cNvPr id="4" name="Picture 3"/>
          <p:cNvPicPr>
            <a:picLocks noChangeAspect="1"/>
          </p:cNvPicPr>
          <p:nvPr/>
        </p:nvPicPr>
        <p:blipFill rotWithShape="1">
          <a:blip r:embed="rId3"/>
          <a:srcRect t="23567"/>
          <a:stretch/>
        </p:blipFill>
        <p:spPr>
          <a:xfrm>
            <a:off x="4788024" y="2060848"/>
            <a:ext cx="4214723" cy="2796158"/>
          </a:xfrm>
          <a:prstGeom prst="rect">
            <a:avLst/>
          </a:prstGeom>
        </p:spPr>
      </p:pic>
    </p:spTree>
    <p:extLst>
      <p:ext uri="{BB962C8B-B14F-4D97-AF65-F5344CB8AC3E}">
        <p14:creationId xmlns:p14="http://schemas.microsoft.com/office/powerpoint/2010/main" val="14457593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3"/>
          <a:stretch>
            <a:fillRect/>
          </a:stretch>
        </p:blipFill>
        <p:spPr>
          <a:xfrm>
            <a:off x="1835696" y="219131"/>
            <a:ext cx="4248472" cy="6512072"/>
          </a:xfrm>
          <a:prstGeom prst="rect">
            <a:avLst/>
          </a:prstGeom>
        </p:spPr>
      </p:pic>
      <p:sp>
        <p:nvSpPr>
          <p:cNvPr id="5" name="Rectangle 4"/>
          <p:cNvSpPr/>
          <p:nvPr/>
        </p:nvSpPr>
        <p:spPr>
          <a:xfrm>
            <a:off x="4572000" y="6191645"/>
            <a:ext cx="4572000" cy="646331"/>
          </a:xfrm>
          <a:prstGeom prst="rect">
            <a:avLst/>
          </a:prstGeom>
        </p:spPr>
        <p:txBody>
          <a:bodyPr>
            <a:spAutoFit/>
          </a:bodyPr>
          <a:lstStyle/>
          <a:p>
            <a:r>
              <a:rPr lang="en-GB" sz="1200" dirty="0"/>
              <a:t>https://pubs-geoscienceworld-org.manchester.idm.oclc.org/segweb/economicgeology/article/112/3/483/172162/sedimentary-and-igneous-phosphate-deposits</a:t>
            </a:r>
          </a:p>
        </p:txBody>
      </p:sp>
    </p:spTree>
    <p:extLst>
      <p:ext uri="{BB962C8B-B14F-4D97-AF65-F5344CB8AC3E}">
        <p14:creationId xmlns:p14="http://schemas.microsoft.com/office/powerpoint/2010/main" val="606454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7C7D4-C481-49A0-9B65-D7AA7C3E452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1D18127-75F1-4684-A483-F380B4B24E7C}"/>
              </a:ext>
            </a:extLst>
          </p:cNvPr>
          <p:cNvSpPr>
            <a:spLocks noGrp="1"/>
          </p:cNvSpPr>
          <p:nvPr>
            <p:ph idx="1"/>
          </p:nvPr>
        </p:nvSpPr>
        <p:spPr/>
        <p:txBody>
          <a:bodyPr/>
          <a:lstStyle/>
          <a:p>
            <a:endParaRPr lang="en-GB"/>
          </a:p>
        </p:txBody>
      </p:sp>
      <p:sp>
        <p:nvSpPr>
          <p:cNvPr id="7" name="TextBox 6">
            <a:extLst>
              <a:ext uri="{FF2B5EF4-FFF2-40B4-BE49-F238E27FC236}">
                <a16:creationId xmlns:a16="http://schemas.microsoft.com/office/drawing/2014/main" id="{A7A24F6C-7F54-489D-A411-F753258EA0D1}"/>
              </a:ext>
            </a:extLst>
          </p:cNvPr>
          <p:cNvSpPr txBox="1"/>
          <p:nvPr/>
        </p:nvSpPr>
        <p:spPr>
          <a:xfrm>
            <a:off x="4572000" y="6308725"/>
            <a:ext cx="4572000" cy="600164"/>
          </a:xfrm>
          <a:prstGeom prst="rect">
            <a:avLst/>
          </a:prstGeom>
          <a:noFill/>
        </p:spPr>
        <p:txBody>
          <a:bodyPr wrap="square">
            <a:spAutoFit/>
          </a:bodyPr>
          <a:lstStyle/>
          <a:p>
            <a:r>
              <a:rPr lang="en-GB" sz="1100" dirty="0"/>
              <a:t>https://pubs-geoscienceworld-org.manchester.idm.oclc.org/segweb/economicgeology/article/112/3/483/172162/sedimentary-and-igneous-phosphate-deposits</a:t>
            </a:r>
          </a:p>
        </p:txBody>
      </p:sp>
      <p:pic>
        <p:nvPicPr>
          <p:cNvPr id="5" name="Picture 4">
            <a:extLst>
              <a:ext uri="{FF2B5EF4-FFF2-40B4-BE49-F238E27FC236}">
                <a16:creationId xmlns:a16="http://schemas.microsoft.com/office/drawing/2014/main" id="{B833077B-B2DC-417E-B881-698A884BA303}"/>
              </a:ext>
            </a:extLst>
          </p:cNvPr>
          <p:cNvPicPr>
            <a:picLocks noChangeAspect="1"/>
          </p:cNvPicPr>
          <p:nvPr/>
        </p:nvPicPr>
        <p:blipFill>
          <a:blip r:embed="rId2"/>
          <a:stretch>
            <a:fillRect/>
          </a:stretch>
        </p:blipFill>
        <p:spPr>
          <a:xfrm>
            <a:off x="0" y="32198"/>
            <a:ext cx="9144000" cy="6292551"/>
          </a:xfrm>
          <a:prstGeom prst="rect">
            <a:avLst/>
          </a:prstGeom>
        </p:spPr>
      </p:pic>
    </p:spTree>
    <p:extLst>
      <p:ext uri="{BB962C8B-B14F-4D97-AF65-F5344CB8AC3E}">
        <p14:creationId xmlns:p14="http://schemas.microsoft.com/office/powerpoint/2010/main" val="1393671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Potassium</a:t>
            </a:r>
          </a:p>
        </p:txBody>
      </p:sp>
      <p:sp>
        <p:nvSpPr>
          <p:cNvPr id="3" name="Content Placeholder 2"/>
          <p:cNvSpPr>
            <a:spLocks noGrp="1"/>
          </p:cNvSpPr>
          <p:nvPr>
            <p:ph idx="1"/>
          </p:nvPr>
        </p:nvSpPr>
        <p:spPr>
          <a:xfrm>
            <a:off x="457200" y="1600200"/>
            <a:ext cx="4618856" cy="4525963"/>
          </a:xfrm>
        </p:spPr>
        <p:txBody>
          <a:bodyPr>
            <a:normAutofit fontScale="85000" lnSpcReduction="10000"/>
          </a:bodyPr>
          <a:lstStyle/>
          <a:p>
            <a:r>
              <a:rPr lang="en-GB" dirty="0"/>
              <a:t>Potassium is found in many rocks</a:t>
            </a:r>
          </a:p>
          <a:p>
            <a:r>
              <a:rPr lang="en-GB" dirty="0"/>
              <a:t>8</a:t>
            </a:r>
            <a:r>
              <a:rPr lang="en-GB" baseline="30000" dirty="0"/>
              <a:t>th</a:t>
            </a:r>
            <a:r>
              <a:rPr lang="en-GB" dirty="0"/>
              <a:t> most abundant element in Earths crust</a:t>
            </a:r>
          </a:p>
          <a:p>
            <a:r>
              <a:rPr lang="en-GB" dirty="0"/>
              <a:t>Economic deposits are </a:t>
            </a:r>
            <a:r>
              <a:rPr lang="en-GB" dirty="0" err="1"/>
              <a:t>evaporites</a:t>
            </a:r>
            <a:endParaRPr lang="en-GB" dirty="0"/>
          </a:p>
          <a:p>
            <a:r>
              <a:rPr lang="en-GB" dirty="0" err="1"/>
              <a:t>Sylvite</a:t>
            </a:r>
            <a:r>
              <a:rPr lang="en-GB" dirty="0"/>
              <a:t> </a:t>
            </a:r>
            <a:r>
              <a:rPr lang="en-GB" dirty="0" err="1"/>
              <a:t>KCl</a:t>
            </a:r>
            <a:endParaRPr lang="en-GB" dirty="0"/>
          </a:p>
          <a:p>
            <a:r>
              <a:rPr lang="en-GB" dirty="0" err="1"/>
              <a:t>Langbeinite</a:t>
            </a:r>
            <a:r>
              <a:rPr lang="en-GB" dirty="0"/>
              <a:t> 2MgSO</a:t>
            </a:r>
            <a:r>
              <a:rPr lang="en-GB" baseline="-25000" dirty="0"/>
              <a:t>4</a:t>
            </a:r>
            <a:r>
              <a:rPr lang="en-GB" dirty="0"/>
              <a:t>.K</a:t>
            </a:r>
            <a:r>
              <a:rPr lang="en-GB" baseline="-25000" dirty="0"/>
              <a:t>2</a:t>
            </a:r>
            <a:r>
              <a:rPr lang="en-GB" dirty="0"/>
              <a:t>SO</a:t>
            </a:r>
            <a:r>
              <a:rPr lang="en-GB" baseline="-25000" dirty="0"/>
              <a:t>4</a:t>
            </a:r>
          </a:p>
          <a:p>
            <a:r>
              <a:rPr lang="en-GB" dirty="0"/>
              <a:t>Kainite KCl.MgSO</a:t>
            </a:r>
            <a:r>
              <a:rPr lang="en-GB" baseline="-25000" dirty="0"/>
              <a:t>4</a:t>
            </a:r>
            <a:r>
              <a:rPr lang="en-GB" dirty="0"/>
              <a:t>.3H</a:t>
            </a:r>
            <a:r>
              <a:rPr lang="en-GB" baseline="-25000" dirty="0"/>
              <a:t>2</a:t>
            </a:r>
            <a:r>
              <a:rPr lang="en-GB" dirty="0"/>
              <a:t>O</a:t>
            </a:r>
          </a:p>
          <a:p>
            <a:r>
              <a:rPr lang="en-GB" dirty="0" err="1"/>
              <a:t>Carnallite</a:t>
            </a:r>
            <a:r>
              <a:rPr lang="en-GB" dirty="0"/>
              <a:t> KCl.MgCl</a:t>
            </a:r>
            <a:r>
              <a:rPr lang="en-GB" baseline="-25000" dirty="0"/>
              <a:t>2</a:t>
            </a:r>
            <a:r>
              <a:rPr lang="en-GB" dirty="0"/>
              <a:t>.6H</a:t>
            </a:r>
            <a:r>
              <a:rPr lang="en-GB" baseline="-25000" dirty="0"/>
              <a:t>2</a:t>
            </a:r>
            <a:r>
              <a:rPr lang="en-GB" dirty="0"/>
              <a:t>O</a:t>
            </a:r>
          </a:p>
        </p:txBody>
      </p:sp>
      <p:pic>
        <p:nvPicPr>
          <p:cNvPr id="4" name="Picture 2" descr="http://maurice.strahlen.org/minerals/pics/carnallit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90560" y="4319364"/>
            <a:ext cx="2520280" cy="18846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790944" y="6177763"/>
            <a:ext cx="1083053" cy="369332"/>
          </a:xfrm>
          <a:prstGeom prst="rect">
            <a:avLst/>
          </a:prstGeom>
          <a:noFill/>
        </p:spPr>
        <p:txBody>
          <a:bodyPr wrap="none" rtlCol="0">
            <a:spAutoFit/>
          </a:bodyPr>
          <a:lstStyle/>
          <a:p>
            <a:r>
              <a:rPr lang="en-GB" i="1" dirty="0" err="1"/>
              <a:t>Carnallite</a:t>
            </a:r>
            <a:endParaRPr lang="en-GB" i="1" dirty="0"/>
          </a:p>
        </p:txBody>
      </p:sp>
      <p:sp>
        <p:nvSpPr>
          <p:cNvPr id="6" name="AutoShape 2" descr="data:image/jpeg;base64,/9j/4AAQSkZJRgABAQAAAQABAAD/2wCEAAkGBwgHBgkIBwgKCgkLDRYPDQwMDRsUFRAWIB0iIiAdHx8kKDQsJCYxJx8fLT0tMTU3Ojo6Iys/RD84QzQ5OjcBCgoKDQwNGg8PGjclHyU3Nzc3Nzc3Nzc3Nzc3Nzc3Nzc3Nzc3Nzc3Nzc3Nzc3Nzc3Nzc3Nzc3Nzc3Nzc3Nzc3N//AABEIAKAA4gMBIgACEQEDEQH/xAAcAAACAgMBAQAAAAAAAAAAAAADBAIFAAEGBwj/xAA+EAACAgEDAQUDCgUCBgMAAAABAgADEQQSITEFEyJBUWFxsQYUIzJCUlSRk9EzcoGSoSRTFUNic4PwBzTB/8QAGgEAAgMBAQAAAAAAAAAAAAAAAQMAAgQFBv/EACQRAAICAgMAAgIDAQAAAAAAAAABAhEDIQQSMRNBIlEUYXFC/9oADAMBAAIRAxEAPwB+y25nZq77K7FY7WDdB6YnT9g/KW8VinV4tZeMjqfaJxDXMHbA8QZs8+2M0ajYynkY+qB7Zx1knB3E9Lk48Mipo9a0mqq1VXeUvuHnnqIecD2N2udLq62LZrbAceWD5zvs55B4PInU4+X5InC5XH+CVfRkjJzRmgzEZqS4miJCECZo8yWJrEJATZ9ZqTYTWISAyeJA9YUiRIkACJkTu9YQiRIkIBJMic+WR/WF2yBGOsgQLbvvN+cG277zfnDtBsJAAm3Y+s35wTFvvN+ZhyINhIEGS33m/OCYt95vzhYNxAQES33m/OCYt95vzhmWDYCEgBy33m/ODLN95vzh2WCZYCDNTN3aeJvqjzmTdS/Rp/KJkgTzw37dRZkZG9vjCJfz16StsuX5xYOcl2x+ckr7jwZw2j16aLpNZsqFftzn2T0j5F9sr2l2YKrHzfQMH2jyM8jVm6+olx8me1v+Gdp16g52g4ZfURmCfxyMnNwLLj/s9omiIHRaqrW6dL6G3Iwz7oczqp2ebarTITJhIHU/1i12toq4Lgt6CBzjH1hjCUvEMSLcESpt7UsYkVgLj1GYB9S9wBdiQPbES5cV4aY8Sb9Lk21DrYog31NKgk2Lj3yidThmO0kc8kyG8f8AMK/0ES+bL9Dlwov7Lk6/S5x3w/IzG12lXrcspClTHcDiasorsxtfGP8AMp/Nyf0MXCxftl0dZpyu5bAfYIBu0Kx9hpWACrgK3TqTNXksuc8+ziVfMyFlw8Vlge0qfRs+kD/xNWYYqyPPHlK1lUKCDz5mE3rWi17hkHk4lXy837Gfw8KWkN2dobiVrA4kRq3A8Y6+YizpW3NTsQeuV6GDI214ZiSvPI8ouWfI3tjI4MS8Q1XrN96Vr1foI2w9Zyus1Z071XDA2MMY9M8zq1dbVDqRtYZE38LJ2TTZg5+HpJNLQEiQIhisgwm054FhAuOYwYJpAACIJhGGEC4kCMVD6NPcJknWPo19wmSEPKrtq33cADefjNbsjwDz6wOpsHzm1TyC7Z/ORRmcEdB1E4zR6xMaVt3GegxGKG2nrkxNWxJK+OfOUZej0H5EduDSXHT3se6cZz6GdTf24bHI0y7U+83Weedi1mmkO3LN0nRaV32Hf6xnzzUaRzcnFg8nYtW1VuofJsYgdeZCwhDyM5gaHZeQOOTGdUmKVYc7gekon2VsNKLpC1pavACkt784m3teuvaep9BF6WJsWsAg5xyYxW4NmGYhSYtsY9ATfd3ZVyWX0PSR+cWFivAMYOFACnOT68TeqWqsqcqcgZA6iU6t/YVON1Qt3z/aUEeuJtLgVO1R7MQLP1B8J5HEjp0NuBnIU856Su7GdV1sL3ljqCTx6yWSygentm3tPAKAAenSQR9xz1xLA+iYUnHkMecHeA1m9mBGPKbtdX6k5+MBZYN/dnkZ6SN6DFO7JLqRXx5t0BPSA1mqZrcMcKRjEBqrMPknkdBENVfnUIvpyRF9n4aI4k9ke1jmkL5nmA7P7X1WmO0XPgcAZm+1LxcdyJhSOG9ZTq2GMvFuO0y3xRkqkjutN2+zKBagY/eHEsKe0Kbv+nJ85w2ktOQEznzloLmRRkjmbMXKnH05vI4GP6Oscrx4h/SQIwOuZzY1ljgLvbj0jWj7RcXJXaSQxxkzXDmKTpo5uXhOCtMtHg2WMEZMG4msxBqx9GvuEyErH0a+4TJCHjFp/wBTcR07xvjJK0FqG/1F2P8Acb4zStOS0erixkMD5w+lqe+5aqhuZjgARfTV2ai9KaV3O7AKJ6D2d2NpOzqA1e6zUMMNYx4HrgeUUwynSN6TSiilEHidcbm9sbJZec5Y+klp60ILO21B09pmYZ3yu7APOBKCV7sa0pK0Px1BwYOjU2UWbhh9p6NyPyh1drajgZ8gF6zNJR3zMM44wCDjr1hptim40+wVtXpr7BYVKXHqF6DHpFryrHNedvt84s1LJqzWpyynpClzXWAVxZ5eco236XjCMa6mlvVD9YAeUXvsZlDIRgQdu4/aUf0mKwejCqdyDBPqIvs3of067HO6JSsggnGTx0EF3j0Lu2gEn6hmqb2VwK2ydvJIPHuktRhgwXkqTkgdRD9FN3T8AW6lgpJqHvJMJTqWOBwpxjwDEXcjG05klyiBsqeMYlbY5wVeDSkHcccniKts752LDwjrNlSM7jt2+W6IWWZs4OEHJA8zA2wwh+gOsfe5I49kXwp1W7gAD16mNHT3O4swGU9ccQIQAbnBPP1cekiix9pKiGv0Vrqop2kIPq56xCjT17m79SCBjaZdoFwwrU8nAz5eyZbWLHy7AEDGMcmNE9/opKzst217lUckN1zGRYWC+LJ9I9Zo+9UnKhx1PXMgvZtrE7mUY48IkoEpxrYFX24xk+6bXUA9pUKvChxmHbQiobnuPHslbQy3drUhM/xAB7Y3Gn2RkzOLg6O/8uIJxCrwokG5ncS0ebYxX/DX3CZN1jwL7hMkIeH6g/6i7/uN8ZoGC1VgGpt/7jfGQ77jA5nLaPSxmdP8jRU/apaw+JEJRfU9P/2dswHedeCBnB6Cec/Jh+77Z0pckBmKHHtBE9F1BJxg/XGOegEzZNMYthQqX+HHhHXB6S07JpDrcrgHA8/IEcY/rKqjT7dvICgEsT1MtQLqbKqq22sa8MfQQwM+fa6o0uoGnNhVPo8YJxzuPl+flF1XV11JdTyzEttGMYBkdTTa/d1VKzKvPHGW8zBWpY1Y3MdwbC1qOpx6f0kb2CMVXowLq9br687q3KlWXpkZPr06GD19LadMMwOBwwPXM2mnsoxdqQyleQLB1ge0H75UsOPox0HpKZHrfpfGvzVPQi1hxhhx5HPEwXOD14xjA4kBxynn1mZboDj+XpM6Og0qHdJTnDhm3c8DpJ6nhT3QwobkkxjT2V1V9yvL7c8ecXtZnAsZVAxyAeCY3rSMdtzKxyd+P8xmhDYrYHA4J9s0dlwLYORIJhQ23I/rF+M1t9lSC6lR3bNnb6MYhTVvsLnnJyD6SeqvLgVjOAefbNlgAG25XGAD/wC+6WStgpxQzUdvBBYZ5zKmxyoyM8+LI4PJzHu8BRmXjavMrLrM6pQoyMdJd6KxGNNYTucc8dMc5MaR1Zm8I44ziKLtxll8TnPHkPIfnH6ahZXstcKqgt7ZAN1sHXeqHcyZP3j8ZPUXlVCoWVup9sU14wO9fPDHA9YsLmbazE5YcQx9F5KoH2vq2sdVJI45kPkrSdT20uB4aRuJ98rtdbuv5PSdL8gKT811WpI/iPhT7BNmCHaaMPKydMTOqZcQZhW6ZgyJ1jhDCHwjjymSSKNi+6ZJRD521moxqr/TvG+Jh+zWWwOxPiHl6Ses0H+ru8Ix3jfEyGloOj1QJOFdfOcxtOJ3YqalsuuxU7ztbSqx4Ngnfd6otKBhj2+k86qc1WCxG2up3Cdkl4dEIOSQCffMWY3QL2m9yNh2jC46eUtu/rvdCoOMdc+WP3nJi/Yw3E7fUeUcp1LKoCPkZyp9ZSORxBPApnR2r4S4K5UAjHB94PuxN6FEBS50ywJYk9ZRLrLH273bw8ZEsqnDIqk4A+rwTmMWS3oRPA4qmG1upt7RsYbWXu8mleTu9hlVSc7q3O1T0ls5pQh6CzWjoAMCVOqdha77Qrs2FVTnEXkd7Yzjr/leC7lVsIXpny5hEQsUVQ28t0x5SenpBrLMBvz9Yw9ND2EYbG09SfKLStmmc0kMLpkaxhYpDBRgjzz5zd2mR+rvnHUHgwnaWoOjtTeUYlevQ4le/au8hkrIPl4o5uK0ZYRnL8kSepqRydwPCheIjcfC5GRtHnGH17nlVUMfWJ6nU5Rg2AWwTjyiZNfRsxqSexVSzXsfIDEMxYKoycemYDRXbeTznk48oy3LHBJz/n1kgXybYFya6rMtyVPuiCIe9JbLdduJdpQlyqu3k/GLrUDSUDFcEc54JEYJUgZpZGVseDbn1jNL+EnIBAxz7orXqGrchDnHUdR/7+0Pa3fYKoMkeMwMH+ivabsUrrsIPBHHpK+x2GwDkBeI32jitd252byyeglWLRv3HyBzLxQuTK/V2/XJHODPQPkTV3Xyd0+erZb8558tNuu1Vejp5e0/lPWOztN8z0FOn48CAHE6fFjuzkc6a1EPiQYSciTNzOYHT6i+6ak0HgX3TUBDxvWovf3cdXb4yr11e4JgcgSy1FmNRbkZ8bfGB7prSSFIB6eycdOj0zjaK2u90UiwZAnRdm9pDU0ZB8SYDRA9n8Z59sAqWaN96Dw+Y9ZJ1NEg3F7Oor1JJCN084YajuSBglScge2c5X2pRx4iCOoMbXtNXKiwceRBmV42bFOJfVasLk493PnLPs/XC1e7B8R85y1WoLYZDj0EIdTaGBCqAPu8Sii0Wl1aOx0bBritmV9Gz0gzXv1PgYFumZR6fthjUKrSufv45xLCzV1UULabNwPChTkkwMWo7ssN2B3VYzj19Y7oU25DEYZcnPlKDTa+lsMGOOmCOkPb2nUtLqm7ew5PkJaHpTJjbjSIdt61X1KGtiVSvZz9rBPP+ZWf8QZmCDC1+e0cwOt1C2AbcccZitbDzMD9NEIKMUi3OoJUCrGfVvKKW2d6+0NlmODj7MW71m3IhPSSSht4JYjIx74OoVJIJpK9+oVQTyxyMyzVCpAVuvl5RKuptPcdwUZ4BxyB6xzRsN+5j08j6SJFJysdx3QBbBHmBx0mtNpa7q2LPnf1XdjHpMqVrUcjnd4QfeYU100ECxfEOVwPOMMzYCzsm2pmKlGXORkyCr1LLnDbTg9IxXcxbCKXCg8keeJjMqo23aoxkknH5e2HqDv9M5/t6zDqEBPPmJUX2d3ScDxGPdt6gvYuDkEnnEoO0NScbAeI7HDZSctF18hB86+UJdhxVWce8z08kDgTzn/41pKfOdRYPrEKDO974HM6uFVE4PJl2yMMTBsYPvMnrMLDHWOM4+h8C+6ag6z9GvPkJkgTzH5iDdYXH2z8YXuFQcdI1d/Fs/mPxi7sBOK0eliwDgYMr9SoIMetaIXtwYYosUmrrwTjMTdnVQysQR7ZZarnMrrOhE0R2Ys1rwd7P7WFfFm5T6+Rl3R2lRav8Tn3TiujGES1kOVYiGXHi9isfOnH8Wdut1bnwk++SN2AAD0nLaftSxBhhn2mN19pbj159JneBo3Q5cJF8usetSV9MH2xR9fb329nZx6DpK6zWnH2uZBm3YYHrKrEkzR81rRdjWJcCFBU+2TBUqdzkSgaxh9o59ZKu5m43tx7YXhQFyN0db2eyX2D6q4OcA9Y/aoVjsz1wDmchp9ZZQceHb/mWGm7Rstr2tlgTxmKljaRdSUmXmQpHzjIYDHih67FOSik5GODElNdniZvF6HrGdGQxcAL4RgZ6xA9qPWyw094ptrDEKo8QPtj9rq9mV2l8eHdzKG8kOneMcMcDcYHSa3Zd3S2eEMdrt5S6tGWcb2dRptjKXsQAjr7pWdtWV7sVnAK9PSH78V0HndxgYxzKTX2AAMTyRgDHAjUZ/vZQdpXub1BGF5xKS7dbqNq8ktxHe0L9152jKouMZ6RPR2rXqRY2MgZGZrxQMufLSPQOxu70OgpqU8gZPvlmmrB85xVHafH1hH6O0cnqJuj4cqW3Z1i6gZ6wgvz5zn6dbnzjaajPnLFTpK7Po19wmRGm7NKEn7Im5LIcZdb9NYP+swDvBXP/qLP52+MGzTk0ejizLXiN78GMWPgGV2oeXiiOQte0Rs84zb5xS7gZMdFGLNLQofrGSEjnmSEcYCQk08JyJEAzcAVodpvVwFfjEMMr0OZWgya2sp4Mq4IfHO0qY8XBOG6zY2eUTGoGckcya6gE8SvVjlnixhnKeyOdm6v6RVtbCE8eyV28NyeZsuMcDAlXG1QxZadncUhhtLrx5NiHo1aUJtRM5OeB9Y5nOaPt8CuuvV5O08lejfsY4/bGhewmp1qU9AQeP6zJLDJPw1rNF/Y5r9a1jgPheOB6eyUh1uNSzAlTny85PVdoUd25F1bkDIlEmpV8Z4J9Y3Hjv0VlzJeHQN2tqn8PfNt9nEXs1l7+F7Nw9JXqzY4aabJP1jLrGkJedMkx8RMq79TttIEPrbhUNgJzKwnknHXzmmETn5526LOnW4ljptd4hObDEGMae4q0YhB22k1mQOf8y0o1c4/Rag8S401/qYbJR2tGo+gr/lHwmojprP9NV/IPhMhsFHNal8ai3+dvjAG0yeqqu7+wimz67fYPrFzVf8A7Nv9hnP6nd7KjVjkiKW5jDVX/wCxb/YYJ6L/APZt/sMYoipTQlbwIjqW42x/U03gfwLj/wCMyubT6p2z82v/AE2/aNijHlnYIQqLmTr0epJGdNcP/G37R+jQX4yabf7DLiBLZxI7ZZtor8fwLf7DBHR3+VFv9hgLCOJGOnR6j8Pb+mYM6TUfh7f0zIQUJmskdIydHqPw936ZkTo9T+Hv/TMgABc+s0Xb1MKdJqfw1/6TftI/NdT+Gv8A0m/aSidmC7xh5mbF7gyZ0up/DX/pN+00dLqfw1/6TftCkDszY1BPUcSQvU48HSD+a6n8Nf8ApN+0z5rqfw1/6TftJSJ3Y0urUDzEn8/QesS+a6n8Nf8Apt+01811P4W79Jv2k6onyMjdYbH3GDhvmup/DX/pN+0z5pqfw1/6TftCKbsDCVDxSXzTU5/+tf8ApN+0Yo0mpzzpr/0z+0JBrSEjEtdO5iNGmvGPoLf7DH6KLh/ybP7DISzqNI5+a0/yL8Jk1pq7Rpqvon+oPsn0mSEs/9k="/>
          <p:cNvSpPr>
            <a:spLocks noChangeAspect="1" noChangeArrowheads="1"/>
          </p:cNvSpPr>
          <p:nvPr/>
        </p:nvSpPr>
        <p:spPr bwMode="auto">
          <a:xfrm>
            <a:off x="155575" y="-731838"/>
            <a:ext cx="2152650" cy="1524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4" descr="data:image/jpeg;base64,/9j/4AAQSkZJRgABAQAAAQABAAD/2wCEAAkGBwgHBgkIBwgKCgkLDRYPDQwMDRsUFRAWIB0iIiAdHx8kKDQsJCYxJx8fLT0tMTU3Ojo6Iys/RD84QzQ5OjcBCgoKDQwNGg8PGjclHyU3Nzc3Nzc3Nzc3Nzc3Nzc3Nzc3Nzc3Nzc3Nzc3Nzc3Nzc3Nzc3Nzc3Nzc3Nzc3Nzc3N//AABEIAKAA4gMBIgACEQEDEQH/xAAcAAACAgMBAQAAAAAAAAAAAAADBAIFAAEGBwj/xAA+EAACAgEDAQUDCgUCBgMAAAABAgADEQQSITEFEyJBUWFxsQYUIzJCUlSRk9EzcoGSoSRTFUNic4PwBzTB/8QAGgEAAgMBAQAAAAAAAAAAAAAAAQMAAgQFBv/EACQRAAICAgMAAgIDAQAAAAAAAAABAhEDIQQSMRNBIlEUYXFC/9oADAMBAAIRAxEAPwB+y25nZq77K7FY7WDdB6YnT9g/KW8VinV4tZeMjqfaJxDXMHbA8QZs8+2M0ajYynkY+qB7Zx1knB3E9Lk48Mipo9a0mqq1VXeUvuHnnqIecD2N2udLq62LZrbAceWD5zvs55B4PInU4+X5InC5XH+CVfRkjJzRmgzEZqS4miJCECZo8yWJrEJATZ9ZqTYTWISAyeJA9YUiRIkACJkTu9YQiRIkIBJMic+WR/WF2yBGOsgQLbvvN+cG277zfnDtBsJAAm3Y+s35wTFvvN+ZhyINhIEGS33m/OCYt95vzhYNxAQES33m/OCYt95vzhmWDYCEgBy33m/ODLN95vzh2WCZYCDNTN3aeJvqjzmTdS/Rp/KJkgTzw37dRZkZG9vjCJfz16StsuX5xYOcl2x+ckr7jwZw2j16aLpNZsqFftzn2T0j5F9sr2l2YKrHzfQMH2jyM8jVm6+olx8me1v+Gdp16g52g4ZfURmCfxyMnNwLLj/s9omiIHRaqrW6dL6G3Iwz7oczqp2ebarTITJhIHU/1i12toq4Lgt6CBzjH1hjCUvEMSLcESpt7UsYkVgLj1GYB9S9wBdiQPbES5cV4aY8Sb9Lk21DrYog31NKgk2Lj3yidThmO0kc8kyG8f8AMK/0ES+bL9Dlwov7Lk6/S5x3w/IzG12lXrcspClTHcDiasorsxtfGP8AMp/Nyf0MXCxftl0dZpyu5bAfYIBu0Kx9hpWACrgK3TqTNXksuc8+ziVfMyFlw8Vlge0qfRs+kD/xNWYYqyPPHlK1lUKCDz5mE3rWi17hkHk4lXy837Gfw8KWkN2dobiVrA4kRq3A8Y6+YizpW3NTsQeuV6GDI214ZiSvPI8ouWfI3tjI4MS8Q1XrN96Vr1foI2w9Zyus1Z071XDA2MMY9M8zq1dbVDqRtYZE38LJ2TTZg5+HpJNLQEiQIhisgwm054FhAuOYwYJpAACIJhGGEC4kCMVD6NPcJknWPo19wmSEPKrtq33cADefjNbsjwDz6wOpsHzm1TyC7Z/ORRmcEdB1E4zR6xMaVt3GegxGKG2nrkxNWxJK+OfOUZej0H5EduDSXHT3se6cZz6GdTf24bHI0y7U+83Weedi1mmkO3LN0nRaV32Hf6xnzzUaRzcnFg8nYtW1VuofJsYgdeZCwhDyM5gaHZeQOOTGdUmKVYc7gekon2VsNKLpC1pavACkt784m3teuvaep9BF6WJsWsAg5xyYxW4NmGYhSYtsY9ATfd3ZVyWX0PSR+cWFivAMYOFACnOT68TeqWqsqcqcgZA6iU6t/YVON1Qt3z/aUEeuJtLgVO1R7MQLP1B8J5HEjp0NuBnIU856Su7GdV1sL3ljqCTx6yWSygentm3tPAKAAenSQR9xz1xLA+iYUnHkMecHeA1m9mBGPKbtdX6k5+MBZYN/dnkZ6SN6DFO7JLqRXx5t0BPSA1mqZrcMcKRjEBqrMPknkdBENVfnUIvpyRF9n4aI4k9ke1jmkL5nmA7P7X1WmO0XPgcAZm+1LxcdyJhSOG9ZTq2GMvFuO0y3xRkqkjutN2+zKBagY/eHEsKe0Kbv+nJ85w2ktOQEznzloLmRRkjmbMXKnH05vI4GP6Oscrx4h/SQIwOuZzY1ljgLvbj0jWj7RcXJXaSQxxkzXDmKTpo5uXhOCtMtHg2WMEZMG4msxBqx9GvuEyErH0a+4TJCHjFp/wBTcR07xvjJK0FqG/1F2P8Acb4zStOS0erixkMD5w+lqe+5aqhuZjgARfTV2ai9KaV3O7AKJ6D2d2NpOzqA1e6zUMMNYx4HrgeUUwynSN6TSiilEHidcbm9sbJZec5Y+klp60ILO21B09pmYZ3yu7APOBKCV7sa0pK0Px1BwYOjU2UWbhh9p6NyPyh1drajgZ8gF6zNJR3zMM44wCDjr1hptim40+wVtXpr7BYVKXHqF6DHpFryrHNedvt84s1LJqzWpyynpClzXWAVxZ5eco236XjCMa6mlvVD9YAeUXvsZlDIRgQdu4/aUf0mKwejCqdyDBPqIvs3of067HO6JSsggnGTx0EF3j0Lu2gEn6hmqb2VwK2ydvJIPHuktRhgwXkqTkgdRD9FN3T8AW6lgpJqHvJMJTqWOBwpxjwDEXcjG05klyiBsqeMYlbY5wVeDSkHcccniKts752LDwjrNlSM7jt2+W6IWWZs4OEHJA8zA2wwh+gOsfe5I49kXwp1W7gAD16mNHT3O4swGU9ccQIQAbnBPP1cekiix9pKiGv0Vrqop2kIPq56xCjT17m79SCBjaZdoFwwrU8nAz5eyZbWLHy7AEDGMcmNE9/opKzst217lUckN1zGRYWC+LJ9I9Zo+9UnKhx1PXMgvZtrE7mUY48IkoEpxrYFX24xk+6bXUA9pUKvChxmHbQiobnuPHslbQy3drUhM/xAB7Y3Gn2RkzOLg6O/8uIJxCrwokG5ncS0ebYxX/DX3CZN1jwL7hMkIeH6g/6i7/uN8ZoGC1VgGpt/7jfGQ77jA5nLaPSxmdP8jRU/apaw+JEJRfU9P/2dswHedeCBnB6Cec/Jh+77Z0pckBmKHHtBE9F1BJxg/XGOegEzZNMYthQqX+HHhHXB6S07JpDrcrgHA8/IEcY/rKqjT7dvICgEsT1MtQLqbKqq22sa8MfQQwM+fa6o0uoGnNhVPo8YJxzuPl+flF1XV11JdTyzEttGMYBkdTTa/d1VKzKvPHGW8zBWpY1Y3MdwbC1qOpx6f0kb2CMVXowLq9br687q3KlWXpkZPr06GD19LadMMwOBwwPXM2mnsoxdqQyleQLB1ge0H75UsOPox0HpKZHrfpfGvzVPQi1hxhhx5HPEwXOD14xjA4kBxynn1mZboDj+XpM6Og0qHdJTnDhm3c8DpJ6nhT3QwobkkxjT2V1V9yvL7c8ecXtZnAsZVAxyAeCY3rSMdtzKxyd+P8xmhDYrYHA4J9s0dlwLYORIJhQ23I/rF+M1t9lSC6lR3bNnb6MYhTVvsLnnJyD6SeqvLgVjOAefbNlgAG25XGAD/wC+6WStgpxQzUdvBBYZ5zKmxyoyM8+LI4PJzHu8BRmXjavMrLrM6pQoyMdJd6KxGNNYTucc8dMc5MaR1Zm8I44ziKLtxll8TnPHkPIfnH6ahZXstcKqgt7ZAN1sHXeqHcyZP3j8ZPUXlVCoWVup9sU14wO9fPDHA9YsLmbazE5YcQx9F5KoH2vq2sdVJI45kPkrSdT20uB4aRuJ98rtdbuv5PSdL8gKT811WpI/iPhT7BNmCHaaMPKydMTOqZcQZhW6ZgyJ1jhDCHwjjymSSKNi+6ZJRD521moxqr/TvG+Jh+zWWwOxPiHl6Ses0H+ru8Ix3jfEyGloOj1QJOFdfOcxtOJ3YqalsuuxU7ztbSqx4Ngnfd6otKBhj2+k86qc1WCxG2up3Cdkl4dEIOSQCffMWY3QL2m9yNh2jC46eUtu/rvdCoOMdc+WP3nJi/Yw3E7fUeUcp1LKoCPkZyp9ZSORxBPApnR2r4S4K5UAjHB94PuxN6FEBS50ywJYk9ZRLrLH273bw8ZEsqnDIqk4A+rwTmMWS3oRPA4qmG1upt7RsYbWXu8mleTu9hlVSc7q3O1T0ls5pQh6CzWjoAMCVOqdha77Qrs2FVTnEXkd7Yzjr/leC7lVsIXpny5hEQsUVQ28t0x5SenpBrLMBvz9Yw9ND2EYbG09SfKLStmmc0kMLpkaxhYpDBRgjzz5zd2mR+rvnHUHgwnaWoOjtTeUYlevQ4le/au8hkrIPl4o5uK0ZYRnL8kSepqRydwPCheIjcfC5GRtHnGH17nlVUMfWJ6nU5Rg2AWwTjyiZNfRsxqSexVSzXsfIDEMxYKoycemYDRXbeTznk48oy3LHBJz/n1kgXybYFya6rMtyVPuiCIe9JbLdduJdpQlyqu3k/GLrUDSUDFcEc54JEYJUgZpZGVseDbn1jNL+EnIBAxz7orXqGrchDnHUdR/7+0Pa3fYKoMkeMwMH+ivabsUrrsIPBHHpK+x2GwDkBeI32jitd252byyeglWLRv3HyBzLxQuTK/V2/XJHODPQPkTV3Xyd0+erZb8558tNuu1Vejp5e0/lPWOztN8z0FOn48CAHE6fFjuzkc6a1EPiQYSciTNzOYHT6i+6ak0HgX3TUBDxvWovf3cdXb4yr11e4JgcgSy1FmNRbkZ8bfGB7prSSFIB6eycdOj0zjaK2u90UiwZAnRdm9pDU0ZB8SYDRA9n8Z59sAqWaN96Dw+Y9ZJ1NEg3F7Oor1JJCN084YajuSBglScge2c5X2pRx4iCOoMbXtNXKiwceRBmV42bFOJfVasLk493PnLPs/XC1e7B8R85y1WoLYZDj0EIdTaGBCqAPu8Sii0Wl1aOx0bBritmV9Gz0gzXv1PgYFumZR6fthjUKrSufv45xLCzV1UULabNwPChTkkwMWo7ssN2B3VYzj19Y7oU25DEYZcnPlKDTa+lsMGOOmCOkPb2nUtLqm7ew5PkJaHpTJjbjSIdt61X1KGtiVSvZz9rBPP+ZWf8QZmCDC1+e0cwOt1C2AbcccZitbDzMD9NEIKMUi3OoJUCrGfVvKKW2d6+0NlmODj7MW71m3IhPSSSht4JYjIx74OoVJIJpK9+oVQTyxyMyzVCpAVuvl5RKuptPcdwUZ4BxyB6xzRsN+5j08j6SJFJysdx3QBbBHmBx0mtNpa7q2LPnf1XdjHpMqVrUcjnd4QfeYU100ECxfEOVwPOMMzYCzsm2pmKlGXORkyCr1LLnDbTg9IxXcxbCKXCg8keeJjMqo23aoxkknH5e2HqDv9M5/t6zDqEBPPmJUX2d3ScDxGPdt6gvYuDkEnnEoO0NScbAeI7HDZSctF18hB86+UJdhxVWce8z08kDgTzn/41pKfOdRYPrEKDO974HM6uFVE4PJl2yMMTBsYPvMnrMLDHWOM4+h8C+6ag6z9GvPkJkgTzH5iDdYXH2z8YXuFQcdI1d/Fs/mPxi7sBOK0eliwDgYMr9SoIMetaIXtwYYosUmrrwTjMTdnVQysQR7ZZarnMrrOhE0R2Ys1rwd7P7WFfFm5T6+Rl3R2lRav8Tn3TiujGES1kOVYiGXHi9isfOnH8Wdut1bnwk++SN2AAD0nLaftSxBhhn2mN19pbj159JneBo3Q5cJF8usetSV9MH2xR9fb329nZx6DpK6zWnH2uZBm3YYHrKrEkzR81rRdjWJcCFBU+2TBUqdzkSgaxh9o59ZKu5m43tx7YXhQFyN0db2eyX2D6q4OcA9Y/aoVjsz1wDmchp9ZZQceHb/mWGm7Rstr2tlgTxmKljaRdSUmXmQpHzjIYDHih67FOSik5GODElNdniZvF6HrGdGQxcAL4RgZ6xA9qPWyw094ptrDEKo8QPtj9rq9mV2l8eHdzKG8kOneMcMcDcYHSa3Zd3S2eEMdrt5S6tGWcb2dRptjKXsQAjr7pWdtWV7sVnAK9PSH78V0HndxgYxzKTX2AAMTyRgDHAjUZ/vZQdpXub1BGF5xKS7dbqNq8ktxHe0L9152jKouMZ6RPR2rXqRY2MgZGZrxQMufLSPQOxu70OgpqU8gZPvlmmrB85xVHafH1hH6O0cnqJuj4cqW3Z1i6gZ6wgvz5zn6dbnzjaajPnLFTpK7Po19wmRGm7NKEn7Im5LIcZdb9NYP+swDvBXP/qLP52+MGzTk0ejizLXiN78GMWPgGV2oeXiiOQte0Rs84zb5xS7gZMdFGLNLQofrGSEjnmSEcYCQk08JyJEAzcAVodpvVwFfjEMMr0OZWgya2sp4Mq4IfHO0qY8XBOG6zY2eUTGoGckcya6gE8SvVjlnixhnKeyOdm6v6RVtbCE8eyV28NyeZsuMcDAlXG1QxZadncUhhtLrx5NiHo1aUJtRM5OeB9Y5nOaPt8CuuvV5O08lejfsY4/bGhewmp1qU9AQeP6zJLDJPw1rNF/Y5r9a1jgPheOB6eyUh1uNSzAlTny85PVdoUd25F1bkDIlEmpV8Z4J9Y3Hjv0VlzJeHQN2tqn8PfNt9nEXs1l7+F7Nw9JXqzY4aabJP1jLrGkJedMkx8RMq79TttIEPrbhUNgJzKwnknHXzmmETn5526LOnW4ljptd4hObDEGMae4q0YhB22k1mQOf8y0o1c4/Rag8S401/qYbJR2tGo+gr/lHwmojprP9NV/IPhMhsFHNal8ai3+dvjAG0yeqqu7+wimz67fYPrFzVf8A7Nv9hnP6nd7KjVjkiKW5jDVX/wCxb/YYJ6L/APZt/sMYoipTQlbwIjqW42x/U03gfwLj/wCMyubT6p2z82v/AE2/aNijHlnYIQqLmTr0epJGdNcP/G37R+jQX4yabf7DLiBLZxI7ZZtor8fwLf7DBHR3+VFv9hgLCOJGOnR6j8Pb+mYM6TUfh7f0zIQUJmskdIydHqPw936ZkTo9T+Hv/TMgABc+s0Xb1MKdJqfw1/6TftI/NdT+Gv8A0m/aSidmC7xh5mbF7gyZ0up/DX/pN+00dLqfw1/6TftCkDszY1BPUcSQvU48HSD+a6n8Nf8ApN+0z5rqfw1/6TftJSJ3Y0urUDzEn8/QesS+a6n8Nf8Apt+01811P4W79Jv2k6onyMjdYbH3GDhvmup/DX/pN+0z5pqfw1/6TftCKbsDCVDxSXzTU5/+tf8ApN+0Yo0mpzzpr/0z+0JBrSEjEtdO5iNGmvGPoLf7DH6KLh/ybP7DISzqNI5+a0/yL8Jk1pq7Rpqvon+oPsn0mSEs/9k="/>
          <p:cNvSpPr>
            <a:spLocks noChangeAspect="1" noChangeArrowheads="1"/>
          </p:cNvSpPr>
          <p:nvPr/>
        </p:nvSpPr>
        <p:spPr bwMode="auto">
          <a:xfrm>
            <a:off x="307975" y="-579438"/>
            <a:ext cx="2152650" cy="1524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4342" name="Picture 6" descr="Click Here for Larger Sylvite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8354" y="332656"/>
            <a:ext cx="2434555" cy="162303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879183" y="1629736"/>
            <a:ext cx="782074" cy="369332"/>
          </a:xfrm>
          <a:prstGeom prst="rect">
            <a:avLst/>
          </a:prstGeom>
          <a:noFill/>
        </p:spPr>
        <p:txBody>
          <a:bodyPr wrap="none" rtlCol="0">
            <a:spAutoFit/>
          </a:bodyPr>
          <a:lstStyle/>
          <a:p>
            <a:r>
              <a:rPr lang="en-GB" i="1" dirty="0" err="1"/>
              <a:t>Sylvite</a:t>
            </a:r>
            <a:endParaRPr lang="en-GB" i="1" dirty="0"/>
          </a:p>
        </p:txBody>
      </p:sp>
      <p:pic>
        <p:nvPicPr>
          <p:cNvPr id="14344" name="Picture 8" descr="http://www.a-m.de/images/mineral/kainit_gr.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7773" y="2303830"/>
            <a:ext cx="2345575" cy="184083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435740" y="3775330"/>
            <a:ext cx="829138" cy="369332"/>
          </a:xfrm>
          <a:prstGeom prst="rect">
            <a:avLst/>
          </a:prstGeom>
        </p:spPr>
        <p:txBody>
          <a:bodyPr wrap="none">
            <a:spAutoFit/>
          </a:bodyPr>
          <a:lstStyle/>
          <a:p>
            <a:r>
              <a:rPr lang="en-GB" i="1" dirty="0"/>
              <a:t>Kainite</a:t>
            </a:r>
          </a:p>
        </p:txBody>
      </p:sp>
    </p:spTree>
    <p:custDataLst>
      <p:tags r:id="rId1"/>
    </p:custDataLst>
    <p:extLst>
      <p:ext uri="{BB962C8B-B14F-4D97-AF65-F5344CB8AC3E}">
        <p14:creationId xmlns:p14="http://schemas.microsoft.com/office/powerpoint/2010/main" val="29836348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ancientmagnesium.nl/contents/media/evaporites_mgcl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32656"/>
            <a:ext cx="6838950" cy="593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5501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106"/>
          </a:xfrm>
        </p:spPr>
        <p:txBody>
          <a:bodyPr>
            <a:normAutofit/>
          </a:bodyPr>
          <a:lstStyle/>
          <a:p>
            <a:pPr algn="l"/>
            <a:r>
              <a:rPr lang="en-GB" sz="3600" i="1" dirty="0" err="1"/>
              <a:t>Evaporite</a:t>
            </a:r>
            <a:r>
              <a:rPr lang="en-GB" sz="3600" i="1" dirty="0"/>
              <a:t> formation</a:t>
            </a:r>
          </a:p>
        </p:txBody>
      </p:sp>
      <p:sp>
        <p:nvSpPr>
          <p:cNvPr id="3" name="Content Placeholder 2"/>
          <p:cNvSpPr>
            <a:spLocks noGrp="1"/>
          </p:cNvSpPr>
          <p:nvPr>
            <p:ph idx="1"/>
          </p:nvPr>
        </p:nvSpPr>
        <p:spPr>
          <a:xfrm>
            <a:off x="541288" y="1124745"/>
            <a:ext cx="8229600" cy="2880320"/>
          </a:xfrm>
        </p:spPr>
        <p:txBody>
          <a:bodyPr>
            <a:normAutofit/>
          </a:bodyPr>
          <a:lstStyle/>
          <a:p>
            <a:r>
              <a:rPr lang="en-GB" dirty="0"/>
              <a:t>Seawater contains 3.5% total dissolved salts</a:t>
            </a:r>
          </a:p>
          <a:p>
            <a:r>
              <a:rPr lang="en-GB" dirty="0"/>
              <a:t>1m Halite requires ~75m column of seawater</a:t>
            </a:r>
          </a:p>
          <a:p>
            <a:r>
              <a:rPr lang="en-GB" dirty="0"/>
              <a:t>Can find Halite 100-1000m thick</a:t>
            </a:r>
          </a:p>
          <a:p>
            <a:r>
              <a:rPr lang="en-GB" dirty="0"/>
              <a:t>Therefore supply of fresh seawater replenishing the salt content</a:t>
            </a:r>
          </a:p>
        </p:txBody>
      </p:sp>
      <p:pic>
        <p:nvPicPr>
          <p:cNvPr id="16386" name="Picture 2" descr="http://www.beg.utexas.edu/lmod/_IOL-CM03/graphics/st08_basin-env_d0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8588" y="4005064"/>
            <a:ext cx="5715000" cy="256222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44223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UK Mining</a:t>
            </a:r>
          </a:p>
        </p:txBody>
      </p:sp>
      <p:sp>
        <p:nvSpPr>
          <p:cNvPr id="3" name="Content Placeholder 2"/>
          <p:cNvSpPr>
            <a:spLocks noGrp="1"/>
          </p:cNvSpPr>
          <p:nvPr>
            <p:ph idx="1"/>
          </p:nvPr>
        </p:nvSpPr>
        <p:spPr>
          <a:xfrm>
            <a:off x="457200" y="1417638"/>
            <a:ext cx="3538736" cy="2947466"/>
          </a:xfrm>
        </p:spPr>
        <p:txBody>
          <a:bodyPr>
            <a:normAutofit fontScale="77500" lnSpcReduction="20000"/>
          </a:bodyPr>
          <a:lstStyle/>
          <a:p>
            <a:r>
              <a:rPr lang="en-GB" dirty="0" err="1"/>
              <a:t>Boulby</a:t>
            </a:r>
            <a:r>
              <a:rPr lang="en-GB" dirty="0"/>
              <a:t>, Yorkshire</a:t>
            </a:r>
          </a:p>
          <a:p>
            <a:r>
              <a:rPr lang="en-GB" dirty="0"/>
              <a:t>Discovered in 1930s</a:t>
            </a:r>
          </a:p>
          <a:p>
            <a:r>
              <a:rPr lang="en-GB" dirty="0"/>
              <a:t>One of the deepest in Europe</a:t>
            </a:r>
          </a:p>
          <a:p>
            <a:r>
              <a:rPr lang="en-GB" dirty="0"/>
              <a:t>Moving from potash to </a:t>
            </a:r>
            <a:r>
              <a:rPr lang="en-GB" dirty="0" err="1"/>
              <a:t>polyhalite</a:t>
            </a:r>
            <a:r>
              <a:rPr lang="en-GB" dirty="0"/>
              <a:t> (K</a:t>
            </a:r>
            <a:r>
              <a:rPr lang="en-GB" baseline="-25000" dirty="0"/>
              <a:t>2</a:t>
            </a:r>
            <a:r>
              <a:rPr lang="en-GB" dirty="0"/>
              <a:t>MgCa</a:t>
            </a:r>
            <a:r>
              <a:rPr lang="en-GB" baseline="-25000" dirty="0"/>
              <a:t>2</a:t>
            </a:r>
            <a:r>
              <a:rPr lang="en-GB" dirty="0"/>
              <a:t>(SO</a:t>
            </a:r>
            <a:r>
              <a:rPr lang="en-GB" baseline="-25000" dirty="0"/>
              <a:t>4</a:t>
            </a:r>
            <a:r>
              <a:rPr lang="en-GB" dirty="0"/>
              <a:t>)</a:t>
            </a:r>
            <a:r>
              <a:rPr lang="en-GB" baseline="-25000" dirty="0"/>
              <a:t>4</a:t>
            </a:r>
            <a:r>
              <a:rPr lang="en-GB" dirty="0"/>
              <a:t>·2H</a:t>
            </a:r>
            <a:r>
              <a:rPr lang="en-GB" baseline="-25000" dirty="0"/>
              <a:t>2</a:t>
            </a:r>
            <a:r>
              <a:rPr lang="en-GB" dirty="0"/>
              <a:t>O)</a:t>
            </a:r>
          </a:p>
          <a:p>
            <a:r>
              <a:rPr lang="en-GB" dirty="0"/>
              <a:t>Also mined for </a:t>
            </a:r>
            <a:r>
              <a:rPr lang="en-GB" dirty="0" err="1"/>
              <a:t>NaCl</a:t>
            </a:r>
            <a:endParaRPr lang="en-GB" dirty="0"/>
          </a:p>
        </p:txBody>
      </p:sp>
      <p:pic>
        <p:nvPicPr>
          <p:cNvPr id="8194" name="Picture 2" descr="The-York-potash-m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4168" y="3219086"/>
            <a:ext cx="4436349" cy="29624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https://encrypted-tbn2.gstatic.com/images?q=tbn:ANd9GcRNkzcX9rpe6onE5DgLKoTJ0NbUE1Mvfgzooni2izBq9zG2nZhIYQ"/>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4890" y="1322766"/>
            <a:ext cx="2380787" cy="15843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123057" y="2907072"/>
            <a:ext cx="661335" cy="300082"/>
          </a:xfrm>
          <a:prstGeom prst="rect">
            <a:avLst/>
          </a:prstGeom>
          <a:noFill/>
        </p:spPr>
        <p:txBody>
          <a:bodyPr wrap="none" rtlCol="0">
            <a:spAutoFit/>
          </a:bodyPr>
          <a:lstStyle/>
          <a:p>
            <a:r>
              <a:rPr lang="en-GB" sz="1350" i="1" dirty="0"/>
              <a:t>Potash</a:t>
            </a:r>
          </a:p>
        </p:txBody>
      </p:sp>
      <p:pic>
        <p:nvPicPr>
          <p:cNvPr id="8196" name="Picture 4" descr="http://www.tailings.info/assets/images/content/CPL.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65" y="4372800"/>
            <a:ext cx="3431820" cy="229812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585428" y="6297078"/>
            <a:ext cx="3429000" cy="369332"/>
          </a:xfrm>
          <a:prstGeom prst="rect">
            <a:avLst/>
          </a:prstGeom>
        </p:spPr>
        <p:txBody>
          <a:bodyPr>
            <a:spAutoFit/>
          </a:bodyPr>
          <a:lstStyle/>
          <a:p>
            <a:r>
              <a:rPr lang="en-GB" sz="900" dirty="0"/>
              <a:t>http://www.mining-journal.com/reports/potash-and-phosphates-the-uks-hidden-resource?SQ_DESIGN_NAME=print_friendly</a:t>
            </a:r>
          </a:p>
        </p:txBody>
      </p:sp>
    </p:spTree>
    <p:extLst>
      <p:ext uri="{BB962C8B-B14F-4D97-AF65-F5344CB8AC3E}">
        <p14:creationId xmlns:p14="http://schemas.microsoft.com/office/powerpoint/2010/main" val="1432295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Environmental concerns</a:t>
            </a:r>
          </a:p>
        </p:txBody>
      </p:sp>
      <p:sp>
        <p:nvSpPr>
          <p:cNvPr id="3" name="Content Placeholder 2"/>
          <p:cNvSpPr>
            <a:spLocks noGrp="1"/>
          </p:cNvSpPr>
          <p:nvPr>
            <p:ph idx="1"/>
          </p:nvPr>
        </p:nvSpPr>
        <p:spPr>
          <a:xfrm>
            <a:off x="457200" y="1600200"/>
            <a:ext cx="4474840" cy="4525963"/>
          </a:xfrm>
        </p:spPr>
        <p:txBody>
          <a:bodyPr>
            <a:normAutofit fontScale="92500" lnSpcReduction="20000"/>
          </a:bodyPr>
          <a:lstStyle/>
          <a:p>
            <a:r>
              <a:rPr lang="en-GB" dirty="0"/>
              <a:t>Groundwater pumped out of mines can release toxic and radioactive metals</a:t>
            </a:r>
          </a:p>
          <a:p>
            <a:r>
              <a:rPr lang="en-GB" dirty="0"/>
              <a:t>Large amounts of gypsum by-product of sulphuric acid treatment</a:t>
            </a:r>
          </a:p>
          <a:p>
            <a:r>
              <a:rPr lang="en-GB" dirty="0"/>
              <a:t>Strip mining with no ecological remediation</a:t>
            </a:r>
          </a:p>
          <a:p>
            <a:r>
              <a:rPr lang="en-GB" dirty="0"/>
              <a:t>Eutrophication-Dead zones</a:t>
            </a:r>
          </a:p>
          <a:p>
            <a:endParaRPr lang="en-GB" dirty="0"/>
          </a:p>
          <a:p>
            <a:endParaRPr lang="en-GB" dirty="0"/>
          </a:p>
        </p:txBody>
      </p:sp>
      <p:pic>
        <p:nvPicPr>
          <p:cNvPr id="13316" name="Picture 4" descr="http://people.stfx.ca/btaylor/Biology%20345/Images/Nauru/3%20phosphate%20mining%2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9797" y="4403451"/>
            <a:ext cx="3528392" cy="2225691"/>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http://media.web.britannica.com/eb-media/75/93075-004-66AE7F4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8423" y="3198433"/>
            <a:ext cx="3182494" cy="19442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235946" y="5146965"/>
            <a:ext cx="768159" cy="369332"/>
          </a:xfrm>
          <a:prstGeom prst="rect">
            <a:avLst/>
          </a:prstGeom>
          <a:noFill/>
        </p:spPr>
        <p:txBody>
          <a:bodyPr wrap="none" rtlCol="0">
            <a:spAutoFit/>
          </a:bodyPr>
          <a:lstStyle/>
          <a:p>
            <a:r>
              <a:rPr lang="en-GB" i="1" dirty="0"/>
              <a:t>Nauru</a:t>
            </a:r>
          </a:p>
        </p:txBody>
      </p:sp>
      <p:pic>
        <p:nvPicPr>
          <p:cNvPr id="13318" name="Picture 6" descr="http://www.fipr.state.fl.us/pondwatercd/phosphogypsum_disposal_files/phosph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2619" y="1196752"/>
            <a:ext cx="2609850" cy="17335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703819" y="1182936"/>
            <a:ext cx="947952" cy="369332"/>
          </a:xfrm>
          <a:prstGeom prst="rect">
            <a:avLst/>
          </a:prstGeom>
          <a:noFill/>
        </p:spPr>
        <p:txBody>
          <a:bodyPr wrap="none" rtlCol="0">
            <a:spAutoFit/>
          </a:bodyPr>
          <a:lstStyle/>
          <a:p>
            <a:r>
              <a:rPr lang="en-GB" i="1" dirty="0"/>
              <a:t>Gypsum</a:t>
            </a:r>
          </a:p>
        </p:txBody>
      </p:sp>
    </p:spTree>
    <p:extLst>
      <p:ext uri="{BB962C8B-B14F-4D97-AF65-F5344CB8AC3E}">
        <p14:creationId xmlns:p14="http://schemas.microsoft.com/office/powerpoint/2010/main" val="5823552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783B6-499F-144F-0262-FC89730AB55B}"/>
              </a:ext>
            </a:extLst>
          </p:cNvPr>
          <p:cNvSpPr>
            <a:spLocks noGrp="1"/>
          </p:cNvSpPr>
          <p:nvPr>
            <p:ph type="title"/>
          </p:nvPr>
        </p:nvSpPr>
        <p:spPr/>
        <p:txBody>
          <a:bodyPr/>
          <a:lstStyle/>
          <a:p>
            <a:r>
              <a:rPr lang="en-GB" dirty="0"/>
              <a:t>Water</a:t>
            </a:r>
          </a:p>
        </p:txBody>
      </p:sp>
      <p:sp>
        <p:nvSpPr>
          <p:cNvPr id="5" name="Text Placeholder 4">
            <a:extLst>
              <a:ext uri="{FF2B5EF4-FFF2-40B4-BE49-F238E27FC236}">
                <a16:creationId xmlns:a16="http://schemas.microsoft.com/office/drawing/2014/main" id="{61D1A965-FAF1-09E3-7692-37CBE06A891B}"/>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52056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F05C-2F0B-CC91-6F24-3A8D0ED5E367}"/>
              </a:ext>
            </a:extLst>
          </p:cNvPr>
          <p:cNvSpPr>
            <a:spLocks noGrp="1"/>
          </p:cNvSpPr>
          <p:nvPr>
            <p:ph type="title"/>
          </p:nvPr>
        </p:nvSpPr>
        <p:spPr/>
        <p:txBody>
          <a:bodyPr/>
          <a:lstStyle/>
          <a:p>
            <a:pPr algn="l"/>
            <a:r>
              <a:rPr lang="en-GB" dirty="0">
                <a:ea typeface="Calibri"/>
                <a:cs typeface="Calibri"/>
              </a:rPr>
              <a:t>Learning Outcomes</a:t>
            </a:r>
          </a:p>
        </p:txBody>
      </p:sp>
      <p:sp>
        <p:nvSpPr>
          <p:cNvPr id="3" name="Content Placeholder 2">
            <a:extLst>
              <a:ext uri="{FF2B5EF4-FFF2-40B4-BE49-F238E27FC236}">
                <a16:creationId xmlns:a16="http://schemas.microsoft.com/office/drawing/2014/main" id="{59412BF5-D0B1-B8B6-792B-87235E857F7D}"/>
              </a:ext>
            </a:extLst>
          </p:cNvPr>
          <p:cNvSpPr>
            <a:spLocks noGrp="1"/>
          </p:cNvSpPr>
          <p:nvPr>
            <p:ph idx="1"/>
          </p:nvPr>
        </p:nvSpPr>
        <p:spPr>
          <a:xfrm>
            <a:off x="338328" y="2057400"/>
            <a:ext cx="8229600" cy="4525963"/>
          </a:xfrm>
        </p:spPr>
        <p:txBody>
          <a:bodyPr vert="horz" lIns="91440" tIns="45720" rIns="91440" bIns="45720" rtlCol="0" anchor="t">
            <a:normAutofit/>
          </a:bodyPr>
          <a:lstStyle/>
          <a:p>
            <a:r>
              <a:rPr lang="en-GB" dirty="0">
                <a:ea typeface="+mn-lt"/>
                <a:cs typeface="+mn-lt"/>
              </a:rPr>
              <a:t>Describe global water distribution and its implications</a:t>
            </a:r>
            <a:endParaRPr lang="en-GB" dirty="0">
              <a:ea typeface="Calibri"/>
              <a:cs typeface="Calibri"/>
            </a:endParaRPr>
          </a:p>
          <a:p>
            <a:r>
              <a:rPr lang="en-GB" dirty="0">
                <a:ea typeface="+mn-lt"/>
                <a:cs typeface="+mn-lt"/>
              </a:rPr>
              <a:t>Explain the hydrological cycle and its components with a focus on groundwater</a:t>
            </a:r>
          </a:p>
          <a:p>
            <a:r>
              <a:rPr lang="en-GB" dirty="0">
                <a:ea typeface="+mn-lt"/>
                <a:cs typeface="+mn-lt"/>
              </a:rPr>
              <a:t>Describe water composition and factors affecting usability</a:t>
            </a:r>
            <a:endParaRPr lang="en-GB" dirty="0">
              <a:ea typeface="Calibri"/>
              <a:cs typeface="Calibri"/>
            </a:endParaRPr>
          </a:p>
          <a:p>
            <a:r>
              <a:rPr lang="en-GB" dirty="0">
                <a:ea typeface="+mn-lt"/>
                <a:cs typeface="+mn-lt"/>
              </a:rPr>
              <a:t>Discuss water scarcity and solutions</a:t>
            </a:r>
            <a:endParaRPr lang="en-GB" dirty="0"/>
          </a:p>
          <a:p>
            <a:endParaRPr lang="en-GB" dirty="0">
              <a:ea typeface="Calibri"/>
              <a:cs typeface="Calibri"/>
            </a:endParaRPr>
          </a:p>
          <a:p>
            <a:endParaRPr lang="en-GB" dirty="0">
              <a:ea typeface="Calibri"/>
              <a:cs typeface="Calibri"/>
            </a:endParaRPr>
          </a:p>
        </p:txBody>
      </p:sp>
      <p:pic>
        <p:nvPicPr>
          <p:cNvPr id="5" name="Picture 4" descr="A blue sign with a white and black text&#10;&#10;AI-generated content may be incorrect.">
            <a:extLst>
              <a:ext uri="{FF2B5EF4-FFF2-40B4-BE49-F238E27FC236}">
                <a16:creationId xmlns:a16="http://schemas.microsoft.com/office/drawing/2014/main" id="{397915F5-E2EB-528A-51C9-01C020FAD01C}"/>
              </a:ext>
            </a:extLst>
          </p:cNvPr>
          <p:cNvPicPr>
            <a:picLocks noChangeAspect="1"/>
          </p:cNvPicPr>
          <p:nvPr/>
        </p:nvPicPr>
        <p:blipFill>
          <a:blip r:embed="rId2"/>
          <a:stretch>
            <a:fillRect/>
          </a:stretch>
        </p:blipFill>
        <p:spPr>
          <a:xfrm>
            <a:off x="7281462" y="102565"/>
            <a:ext cx="1726483" cy="1832704"/>
          </a:xfrm>
          <a:prstGeom prst="rect">
            <a:avLst/>
          </a:prstGeom>
        </p:spPr>
      </p:pic>
    </p:spTree>
    <p:extLst>
      <p:ext uri="{BB962C8B-B14F-4D97-AF65-F5344CB8AC3E}">
        <p14:creationId xmlns:p14="http://schemas.microsoft.com/office/powerpoint/2010/main" val="18536040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Water</a:t>
            </a:r>
          </a:p>
        </p:txBody>
      </p:sp>
      <p:sp>
        <p:nvSpPr>
          <p:cNvPr id="5" name="Rectangle 1"/>
          <p:cNvSpPr txBox="1">
            <a:spLocks noChangeArrowheads="1"/>
          </p:cNvSpPr>
          <p:nvPr/>
        </p:nvSpPr>
        <p:spPr>
          <a:xfrm>
            <a:off x="254000" y="1412776"/>
            <a:ext cx="4750048" cy="4104456"/>
          </a:xfrm>
          <a:prstGeom prst="rect">
            <a:avLst/>
          </a:prstGeom>
          <a:ln/>
        </p:spPr>
        <p:txBody>
          <a:bodyPr rIns="14224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7338"/>
            <a:r>
              <a:rPr lang="en-US" altLang="en-US" dirty="0">
                <a:solidFill>
                  <a:srgbClr val="555555"/>
                </a:solidFill>
              </a:rPr>
              <a:t>Total volume of water on Earth (100%) = 1,386,000,000 km</a:t>
            </a:r>
            <a:r>
              <a:rPr lang="en-US" altLang="en-US" baseline="32000" dirty="0">
                <a:solidFill>
                  <a:srgbClr val="555555"/>
                </a:solidFill>
              </a:rPr>
              <a:t>3</a:t>
            </a:r>
            <a:r>
              <a:rPr lang="en-US" altLang="en-US" dirty="0">
                <a:solidFill>
                  <a:srgbClr val="555555"/>
                </a:solidFill>
              </a:rPr>
              <a:t>  </a:t>
            </a:r>
          </a:p>
          <a:p>
            <a:pPr marL="287338"/>
            <a:r>
              <a:rPr lang="en-US" altLang="en-US" dirty="0">
                <a:solidFill>
                  <a:srgbClr val="555555"/>
                </a:solidFill>
              </a:rPr>
              <a:t>95.96 % in the oceans</a:t>
            </a:r>
          </a:p>
          <a:p>
            <a:pPr marL="287338"/>
            <a:r>
              <a:rPr lang="en-US" altLang="en-US" dirty="0">
                <a:solidFill>
                  <a:srgbClr val="555555"/>
                </a:solidFill>
              </a:rPr>
              <a:t>2.97% frozen in ice caps and glaciers</a:t>
            </a:r>
          </a:p>
          <a:p>
            <a:pPr marL="287338"/>
            <a:r>
              <a:rPr lang="en-US" altLang="en-US" dirty="0">
                <a:solidFill>
                  <a:srgbClr val="555555"/>
                </a:solidFill>
              </a:rPr>
              <a:t>1.05% Groundwater</a:t>
            </a:r>
          </a:p>
          <a:p>
            <a:pPr marL="287338"/>
            <a:r>
              <a:rPr lang="en-US" altLang="en-US" dirty="0">
                <a:solidFill>
                  <a:srgbClr val="555555"/>
                </a:solidFill>
              </a:rPr>
              <a:t>Lakes/rivers/atmosphere/biosphere 0.02 %</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556792"/>
            <a:ext cx="3960440"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89652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6A29B-0168-16FA-CA4D-022CC900D196}"/>
              </a:ext>
            </a:extLst>
          </p:cNvPr>
          <p:cNvSpPr>
            <a:spLocks noGrp="1"/>
          </p:cNvSpPr>
          <p:nvPr>
            <p:ph type="title"/>
          </p:nvPr>
        </p:nvSpPr>
        <p:spPr>
          <a:xfrm>
            <a:off x="415847" y="4302"/>
            <a:ext cx="3276451" cy="1956841"/>
          </a:xfrm>
        </p:spPr>
        <p:txBody>
          <a:bodyPr vert="horz" lIns="91440" tIns="45720" rIns="91440" bIns="45720" rtlCol="0" anchor="b">
            <a:normAutofit/>
          </a:bodyPr>
          <a:lstStyle/>
          <a:p>
            <a:pPr algn="l">
              <a:lnSpc>
                <a:spcPct val="90000"/>
              </a:lnSpc>
            </a:pPr>
            <a:r>
              <a:rPr lang="en-US" sz="4700"/>
              <a:t>Water composition</a:t>
            </a:r>
          </a:p>
        </p:txBody>
      </p:sp>
      <p:sp>
        <p:nvSpPr>
          <p:cNvPr id="4" name="TextBox 3">
            <a:extLst>
              <a:ext uri="{FF2B5EF4-FFF2-40B4-BE49-F238E27FC236}">
                <a16:creationId xmlns:a16="http://schemas.microsoft.com/office/drawing/2014/main" id="{F273C46E-FBB8-C244-6EC8-C2408BAE86F4}"/>
              </a:ext>
            </a:extLst>
          </p:cNvPr>
          <p:cNvSpPr txBox="1"/>
          <p:nvPr/>
        </p:nvSpPr>
        <p:spPr>
          <a:xfrm>
            <a:off x="133308" y="2294978"/>
            <a:ext cx="3991779" cy="4335240"/>
          </a:xfrm>
          <a:prstGeom prst="rect">
            <a:avLst/>
          </a:prstGeom>
        </p:spPr>
        <p:txBody>
          <a:bodyPr vert="horz" lIns="91440" tIns="45720" rIns="91440" bIns="45720" rtlCol="0">
            <a:normAutofit fontScale="92500"/>
          </a:bodyPr>
          <a:lstStyle/>
          <a:p>
            <a:pPr indent="-228600">
              <a:lnSpc>
                <a:spcPct val="90000"/>
              </a:lnSpc>
              <a:spcAft>
                <a:spcPts val="600"/>
              </a:spcAft>
              <a:buFont typeface="Arial" panose="020B0604020202020204" pitchFamily="34" charset="0"/>
              <a:buChar char="•"/>
            </a:pPr>
            <a:r>
              <a:rPr lang="en-US" sz="2400" dirty="0"/>
              <a:t>Approx 97% water is salt water</a:t>
            </a:r>
          </a:p>
          <a:p>
            <a:pPr indent="-228600">
              <a:lnSpc>
                <a:spcPct val="90000"/>
              </a:lnSpc>
              <a:spcAft>
                <a:spcPts val="600"/>
              </a:spcAft>
              <a:buFont typeface="Arial" panose="020B0604020202020204" pitchFamily="34" charset="0"/>
              <a:buChar char="•"/>
            </a:pPr>
            <a:endParaRPr lang="en-US" sz="2400" dirty="0"/>
          </a:p>
          <a:p>
            <a:pPr indent="-228600">
              <a:lnSpc>
                <a:spcPct val="90000"/>
              </a:lnSpc>
              <a:spcAft>
                <a:spcPts val="600"/>
              </a:spcAft>
              <a:buFont typeface="Arial" panose="020B0604020202020204" pitchFamily="34" charset="0"/>
              <a:buChar char="•"/>
            </a:pPr>
            <a:r>
              <a:rPr lang="en-US" sz="2400" dirty="0"/>
              <a:t>Dissolved minerals:</a:t>
            </a:r>
          </a:p>
          <a:p>
            <a:pPr lvl="1" indent="-228600">
              <a:lnSpc>
                <a:spcPct val="90000"/>
              </a:lnSpc>
              <a:spcAft>
                <a:spcPts val="600"/>
              </a:spcAft>
              <a:buFont typeface="Arial" panose="020B0604020202020204" pitchFamily="34" charset="0"/>
              <a:buChar char="•"/>
            </a:pPr>
            <a:r>
              <a:rPr lang="en-US" sz="2400" dirty="0"/>
              <a:t>Purest of spring waters contains 0.003% </a:t>
            </a:r>
          </a:p>
          <a:p>
            <a:pPr lvl="1" indent="-228600">
              <a:lnSpc>
                <a:spcPct val="90000"/>
              </a:lnSpc>
              <a:spcAft>
                <a:spcPts val="600"/>
              </a:spcAft>
              <a:buFont typeface="Arial" panose="020B0604020202020204" pitchFamily="34" charset="0"/>
              <a:buChar char="•"/>
            </a:pPr>
            <a:r>
              <a:rPr lang="en-US" sz="2400" dirty="0"/>
              <a:t>Dead Sea contains 30% </a:t>
            </a:r>
          </a:p>
          <a:p>
            <a:pPr lvl="1" indent="-228600">
              <a:lnSpc>
                <a:spcPct val="90000"/>
              </a:lnSpc>
              <a:spcAft>
                <a:spcPts val="600"/>
              </a:spcAft>
              <a:buFont typeface="Arial" panose="020B0604020202020204" pitchFamily="34" charset="0"/>
              <a:buChar char="•"/>
            </a:pPr>
            <a:r>
              <a:rPr lang="en-US" sz="2400" dirty="0"/>
              <a:t>Seawater contains 3.5%</a:t>
            </a:r>
          </a:p>
          <a:p>
            <a:pPr lvl="1" indent="-228600">
              <a:lnSpc>
                <a:spcPct val="90000"/>
              </a:lnSpc>
              <a:spcAft>
                <a:spcPts val="600"/>
              </a:spcAft>
              <a:buFont typeface="Arial" panose="020B0604020202020204" pitchFamily="34" charset="0"/>
              <a:buChar char="•"/>
            </a:pPr>
            <a:endParaRPr lang="en-US" sz="2400" dirty="0"/>
          </a:p>
          <a:p>
            <a:pPr indent="-228600">
              <a:lnSpc>
                <a:spcPct val="90000"/>
              </a:lnSpc>
              <a:spcAft>
                <a:spcPts val="600"/>
              </a:spcAft>
              <a:buFont typeface="Arial" panose="020B0604020202020204" pitchFamily="34" charset="0"/>
              <a:buChar char="•"/>
            </a:pPr>
            <a:r>
              <a:rPr lang="en-US" sz="2400" dirty="0"/>
              <a:t>Water with greater than 0.05% dissolved salts is unsuitable for human consumption</a:t>
            </a:r>
          </a:p>
        </p:txBody>
      </p:sp>
      <p:pic>
        <p:nvPicPr>
          <p:cNvPr id="5" name="Picture 3">
            <a:extLst>
              <a:ext uri="{FF2B5EF4-FFF2-40B4-BE49-F238E27FC236}">
                <a16:creationId xmlns:a16="http://schemas.microsoft.com/office/drawing/2014/main" id="{C8CF03D7-1EBF-E12D-960F-5BF9C1E511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37" r="11435"/>
          <a:stretch/>
        </p:blipFill>
        <p:spPr bwMode="auto">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30952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005" name="Group 42004"/>
          <p:cNvGrpSpPr/>
          <p:nvPr/>
        </p:nvGrpSpPr>
        <p:grpSpPr>
          <a:xfrm>
            <a:off x="244805" y="45335"/>
            <a:ext cx="8846731" cy="6775328"/>
            <a:chOff x="265130" y="66110"/>
            <a:chExt cx="8846731" cy="6775328"/>
          </a:xfrm>
        </p:grpSpPr>
        <p:pic>
          <p:nvPicPr>
            <p:cNvPr id="41986" name="Picture 2" descr="The natural cycle of wa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98927"/>
              <a:ext cx="7632848" cy="63908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948264" y="5291916"/>
              <a:ext cx="450764" cy="369332"/>
            </a:xfrm>
            <a:prstGeom prst="rect">
              <a:avLst/>
            </a:prstGeom>
            <a:solidFill>
              <a:schemeClr val="bg1"/>
            </a:solidFill>
          </p:spPr>
          <p:txBody>
            <a:bodyPr wrap="none" rtlCol="0">
              <a:spAutoFit/>
            </a:bodyPr>
            <a:lstStyle/>
            <a:p>
              <a:r>
                <a:rPr lang="en-GB" dirty="0"/>
                <a:t>Air</a:t>
              </a:r>
            </a:p>
          </p:txBody>
        </p:sp>
        <p:cxnSp>
          <p:nvCxnSpPr>
            <p:cNvPr id="7" name="Straight Arrow Connector 6"/>
            <p:cNvCxnSpPr>
              <a:stCxn id="5" idx="1"/>
            </p:cNvCxnSpPr>
            <p:nvPr/>
          </p:nvCxnSpPr>
          <p:spPr>
            <a:xfrm flipH="1" flipV="1">
              <a:off x="6732240" y="5373216"/>
              <a:ext cx="216024" cy="10336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6012160" y="5649543"/>
              <a:ext cx="828092" cy="33487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39552" y="5445224"/>
              <a:ext cx="1296144" cy="369332"/>
            </a:xfrm>
            <a:prstGeom prst="rect">
              <a:avLst/>
            </a:prstGeom>
            <a:solidFill>
              <a:schemeClr val="bg1"/>
            </a:solidFill>
          </p:spPr>
          <p:txBody>
            <a:bodyPr wrap="square" rtlCol="0">
              <a:spAutoFit/>
            </a:bodyPr>
            <a:lstStyle/>
            <a:p>
              <a:r>
                <a:rPr lang="en-GB" dirty="0"/>
                <a:t>Pore water</a:t>
              </a:r>
            </a:p>
          </p:txBody>
        </p:sp>
        <p:sp>
          <p:nvSpPr>
            <p:cNvPr id="12" name="TextBox 11"/>
            <p:cNvSpPr txBox="1"/>
            <p:nvPr/>
          </p:nvSpPr>
          <p:spPr>
            <a:xfrm>
              <a:off x="265130" y="4886306"/>
              <a:ext cx="1570566" cy="369332"/>
            </a:xfrm>
            <a:prstGeom prst="rect">
              <a:avLst/>
            </a:prstGeom>
            <a:solidFill>
              <a:schemeClr val="bg1"/>
            </a:solidFill>
          </p:spPr>
          <p:txBody>
            <a:bodyPr wrap="square" rtlCol="0">
              <a:spAutoFit/>
            </a:bodyPr>
            <a:lstStyle/>
            <a:p>
              <a:r>
                <a:rPr lang="en-GB" dirty="0"/>
                <a:t>Rock particles</a:t>
              </a:r>
            </a:p>
          </p:txBody>
        </p:sp>
        <p:sp>
          <p:nvSpPr>
            <p:cNvPr id="14" name="Rectangle 13"/>
            <p:cNvSpPr/>
            <p:nvPr/>
          </p:nvSpPr>
          <p:spPr>
            <a:xfrm>
              <a:off x="8100392" y="4437112"/>
              <a:ext cx="432048" cy="2052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p:cNvCxnSpPr/>
            <p:nvPr/>
          </p:nvCxnSpPr>
          <p:spPr>
            <a:xfrm flipV="1">
              <a:off x="1691680" y="5561883"/>
              <a:ext cx="792088" cy="6800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1691680" y="5005778"/>
              <a:ext cx="792088" cy="6800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732240" y="5661248"/>
              <a:ext cx="2232248" cy="646331"/>
            </a:xfrm>
            <a:prstGeom prst="rect">
              <a:avLst/>
            </a:prstGeom>
            <a:solidFill>
              <a:schemeClr val="bg1"/>
            </a:solidFill>
          </p:spPr>
          <p:txBody>
            <a:bodyPr wrap="square" rtlCol="0">
              <a:spAutoFit/>
            </a:bodyPr>
            <a:lstStyle/>
            <a:p>
              <a:r>
                <a:rPr lang="en-GB" dirty="0"/>
                <a:t>Water film around grains</a:t>
              </a:r>
            </a:p>
          </p:txBody>
        </p:sp>
        <p:sp>
          <p:nvSpPr>
            <p:cNvPr id="16" name="TextBox 15"/>
            <p:cNvSpPr txBox="1"/>
            <p:nvPr/>
          </p:nvSpPr>
          <p:spPr>
            <a:xfrm>
              <a:off x="7953018" y="6472106"/>
              <a:ext cx="1158843" cy="369332"/>
            </a:xfrm>
            <a:prstGeom prst="rect">
              <a:avLst/>
            </a:prstGeom>
            <a:noFill/>
          </p:spPr>
          <p:txBody>
            <a:bodyPr wrap="none" rtlCol="0">
              <a:spAutoFit/>
            </a:bodyPr>
            <a:lstStyle/>
            <a:p>
              <a:r>
                <a:rPr lang="en-GB" dirty="0"/>
                <a:t>BGS/NERC</a:t>
              </a:r>
            </a:p>
          </p:txBody>
        </p:sp>
        <p:sp>
          <p:nvSpPr>
            <p:cNvPr id="17" name="TextBox 16"/>
            <p:cNvSpPr txBox="1"/>
            <p:nvPr/>
          </p:nvSpPr>
          <p:spPr>
            <a:xfrm>
              <a:off x="1835696" y="6305080"/>
              <a:ext cx="1575560" cy="369332"/>
            </a:xfrm>
            <a:prstGeom prst="rect">
              <a:avLst/>
            </a:prstGeom>
            <a:solidFill>
              <a:schemeClr val="bg1"/>
            </a:solidFill>
          </p:spPr>
          <p:txBody>
            <a:bodyPr wrap="none" rtlCol="0">
              <a:spAutoFit/>
            </a:bodyPr>
            <a:lstStyle/>
            <a:p>
              <a:r>
                <a:rPr lang="en-GB" b="1" dirty="0"/>
                <a:t>Saturated rock</a:t>
              </a:r>
            </a:p>
          </p:txBody>
        </p:sp>
        <p:sp>
          <p:nvSpPr>
            <p:cNvPr id="19" name="TextBox 18"/>
            <p:cNvSpPr txBox="1"/>
            <p:nvPr/>
          </p:nvSpPr>
          <p:spPr>
            <a:xfrm>
              <a:off x="5293803" y="6309320"/>
              <a:ext cx="1832040" cy="369332"/>
            </a:xfrm>
            <a:prstGeom prst="rect">
              <a:avLst/>
            </a:prstGeom>
            <a:solidFill>
              <a:schemeClr val="bg1"/>
            </a:solidFill>
          </p:spPr>
          <p:txBody>
            <a:bodyPr wrap="none" rtlCol="0">
              <a:spAutoFit/>
            </a:bodyPr>
            <a:lstStyle/>
            <a:p>
              <a:r>
                <a:rPr lang="en-GB" b="1" dirty="0"/>
                <a:t>Unsaturated rock</a:t>
              </a:r>
            </a:p>
          </p:txBody>
        </p:sp>
        <p:cxnSp>
          <p:nvCxnSpPr>
            <p:cNvPr id="20" name="Straight Connector 19"/>
            <p:cNvCxnSpPr/>
            <p:nvPr/>
          </p:nvCxnSpPr>
          <p:spPr>
            <a:xfrm flipV="1">
              <a:off x="2195736" y="3294336"/>
              <a:ext cx="2160240" cy="15919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411256" y="3294337"/>
              <a:ext cx="1016728" cy="25202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228492" y="2420888"/>
              <a:ext cx="98730" cy="30420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5220072" y="4509120"/>
              <a:ext cx="1621042" cy="1621042"/>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Connector 30"/>
            <p:cNvCxnSpPr/>
            <p:nvPr/>
          </p:nvCxnSpPr>
          <p:spPr>
            <a:xfrm flipH="1" flipV="1">
              <a:off x="5327222" y="2420888"/>
              <a:ext cx="1486308" cy="25848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987" name="TextBox 41986"/>
            <p:cNvSpPr txBox="1"/>
            <p:nvPr/>
          </p:nvSpPr>
          <p:spPr>
            <a:xfrm>
              <a:off x="6180938" y="3109671"/>
              <a:ext cx="1786515" cy="338554"/>
            </a:xfrm>
            <a:prstGeom prst="rect">
              <a:avLst/>
            </a:prstGeom>
            <a:solidFill>
              <a:schemeClr val="bg1"/>
            </a:solidFill>
          </p:spPr>
          <p:txBody>
            <a:bodyPr wrap="none" rtlCol="0">
              <a:spAutoFit/>
            </a:bodyPr>
            <a:lstStyle/>
            <a:p>
              <a:r>
                <a:rPr lang="en-GB" sz="1600" dirty="0"/>
                <a:t>Groundwater flows</a:t>
              </a:r>
            </a:p>
          </p:txBody>
        </p:sp>
        <p:sp>
          <p:nvSpPr>
            <p:cNvPr id="41988" name="TextBox 41987"/>
            <p:cNvSpPr txBox="1"/>
            <p:nvPr/>
          </p:nvSpPr>
          <p:spPr>
            <a:xfrm>
              <a:off x="6894610" y="2852936"/>
              <a:ext cx="1180580" cy="338554"/>
            </a:xfrm>
            <a:prstGeom prst="rect">
              <a:avLst/>
            </a:prstGeom>
            <a:solidFill>
              <a:schemeClr val="bg1"/>
            </a:solidFill>
          </p:spPr>
          <p:txBody>
            <a:bodyPr wrap="none" rtlCol="0">
              <a:spAutoFit/>
            </a:bodyPr>
            <a:lstStyle/>
            <a:p>
              <a:r>
                <a:rPr lang="en-GB" sz="1600" dirty="0"/>
                <a:t>Evaporation</a:t>
              </a:r>
            </a:p>
          </p:txBody>
        </p:sp>
        <p:sp>
          <p:nvSpPr>
            <p:cNvPr id="38" name="TextBox 37"/>
            <p:cNvSpPr txBox="1"/>
            <p:nvPr/>
          </p:nvSpPr>
          <p:spPr>
            <a:xfrm>
              <a:off x="7463522" y="2276872"/>
              <a:ext cx="1428958" cy="584775"/>
            </a:xfrm>
            <a:prstGeom prst="rect">
              <a:avLst/>
            </a:prstGeom>
            <a:solidFill>
              <a:schemeClr val="bg1"/>
            </a:solidFill>
          </p:spPr>
          <p:txBody>
            <a:bodyPr wrap="square" rtlCol="0">
              <a:spAutoFit/>
            </a:bodyPr>
            <a:lstStyle/>
            <a:p>
              <a:r>
                <a:rPr lang="en-GB" sz="1600" dirty="0"/>
                <a:t>Impermeable rock</a:t>
              </a:r>
            </a:p>
          </p:txBody>
        </p:sp>
        <p:sp>
          <p:nvSpPr>
            <p:cNvPr id="39" name="TextBox 38"/>
            <p:cNvSpPr txBox="1"/>
            <p:nvPr/>
          </p:nvSpPr>
          <p:spPr>
            <a:xfrm>
              <a:off x="7510102" y="1196752"/>
              <a:ext cx="708848" cy="338554"/>
            </a:xfrm>
            <a:prstGeom prst="rect">
              <a:avLst/>
            </a:prstGeom>
            <a:solidFill>
              <a:schemeClr val="bg1"/>
            </a:solidFill>
          </p:spPr>
          <p:txBody>
            <a:bodyPr wrap="none" rtlCol="0">
              <a:spAutoFit/>
            </a:bodyPr>
            <a:lstStyle/>
            <a:p>
              <a:r>
                <a:rPr lang="en-GB" sz="1600" dirty="0"/>
                <a:t>Spring</a:t>
              </a:r>
            </a:p>
          </p:txBody>
        </p:sp>
        <p:sp>
          <p:nvSpPr>
            <p:cNvPr id="40" name="TextBox 39"/>
            <p:cNvSpPr txBox="1"/>
            <p:nvPr/>
          </p:nvSpPr>
          <p:spPr>
            <a:xfrm>
              <a:off x="6772438" y="620688"/>
              <a:ext cx="1164806" cy="338554"/>
            </a:xfrm>
            <a:prstGeom prst="rect">
              <a:avLst/>
            </a:prstGeom>
            <a:solidFill>
              <a:schemeClr val="bg1"/>
            </a:solidFill>
          </p:spPr>
          <p:txBody>
            <a:bodyPr wrap="none" rtlCol="0">
              <a:spAutoFit/>
            </a:bodyPr>
            <a:lstStyle/>
            <a:p>
              <a:r>
                <a:rPr lang="en-GB" sz="1600" dirty="0"/>
                <a:t>Water table</a:t>
              </a:r>
            </a:p>
          </p:txBody>
        </p:sp>
        <p:cxnSp>
          <p:nvCxnSpPr>
            <p:cNvPr id="41" name="Straight Arrow Connector 40"/>
            <p:cNvCxnSpPr/>
            <p:nvPr/>
          </p:nvCxnSpPr>
          <p:spPr>
            <a:xfrm flipH="1" flipV="1">
              <a:off x="5944346" y="2774801"/>
              <a:ext cx="265477" cy="4166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flipV="1">
              <a:off x="5915462" y="2152571"/>
              <a:ext cx="1032802" cy="70907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flipV="1">
              <a:off x="7213798" y="2420889"/>
              <a:ext cx="249724" cy="14837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a:off x="7457897" y="1535306"/>
              <a:ext cx="265476" cy="19634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6948322" y="959242"/>
              <a:ext cx="265476" cy="65880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99132" y="548680"/>
              <a:ext cx="1180580" cy="338554"/>
            </a:xfrm>
            <a:prstGeom prst="rect">
              <a:avLst/>
            </a:prstGeom>
            <a:solidFill>
              <a:schemeClr val="bg1"/>
            </a:solidFill>
          </p:spPr>
          <p:txBody>
            <a:bodyPr wrap="none" rtlCol="0">
              <a:spAutoFit/>
            </a:bodyPr>
            <a:lstStyle/>
            <a:p>
              <a:r>
                <a:rPr lang="en-GB" sz="1600" dirty="0"/>
                <a:t>Evaporation</a:t>
              </a:r>
            </a:p>
          </p:txBody>
        </p:sp>
        <p:sp>
          <p:nvSpPr>
            <p:cNvPr id="52" name="TextBox 51"/>
            <p:cNvSpPr txBox="1"/>
            <p:nvPr/>
          </p:nvSpPr>
          <p:spPr>
            <a:xfrm>
              <a:off x="2033186" y="404664"/>
              <a:ext cx="796565" cy="338554"/>
            </a:xfrm>
            <a:prstGeom prst="rect">
              <a:avLst/>
            </a:prstGeom>
            <a:solidFill>
              <a:schemeClr val="bg1"/>
            </a:solidFill>
          </p:spPr>
          <p:txBody>
            <a:bodyPr wrap="none" rtlCol="0">
              <a:spAutoFit/>
            </a:bodyPr>
            <a:lstStyle/>
            <a:p>
              <a:r>
                <a:rPr lang="en-GB" sz="1600" dirty="0"/>
                <a:t>Rainfall</a:t>
              </a:r>
            </a:p>
          </p:txBody>
        </p:sp>
        <p:sp>
          <p:nvSpPr>
            <p:cNvPr id="53" name="TextBox 52"/>
            <p:cNvSpPr txBox="1"/>
            <p:nvPr/>
          </p:nvSpPr>
          <p:spPr>
            <a:xfrm>
              <a:off x="2623476" y="66110"/>
              <a:ext cx="1335302" cy="338554"/>
            </a:xfrm>
            <a:prstGeom prst="rect">
              <a:avLst/>
            </a:prstGeom>
            <a:solidFill>
              <a:schemeClr val="bg1"/>
            </a:solidFill>
          </p:spPr>
          <p:txBody>
            <a:bodyPr wrap="none" rtlCol="0">
              <a:spAutoFit/>
            </a:bodyPr>
            <a:lstStyle/>
            <a:p>
              <a:r>
                <a:rPr lang="en-GB" sz="1600" dirty="0"/>
                <a:t>Condensation</a:t>
              </a:r>
            </a:p>
          </p:txBody>
        </p:sp>
        <p:sp>
          <p:nvSpPr>
            <p:cNvPr id="54" name="TextBox 53"/>
            <p:cNvSpPr txBox="1"/>
            <p:nvPr/>
          </p:nvSpPr>
          <p:spPr>
            <a:xfrm>
              <a:off x="4428025" y="101571"/>
              <a:ext cx="609077" cy="338554"/>
            </a:xfrm>
            <a:prstGeom prst="rect">
              <a:avLst/>
            </a:prstGeom>
            <a:solidFill>
              <a:schemeClr val="bg1"/>
            </a:solidFill>
          </p:spPr>
          <p:txBody>
            <a:bodyPr wrap="none" rtlCol="0">
              <a:spAutoFit/>
            </a:bodyPr>
            <a:lstStyle/>
            <a:p>
              <a:r>
                <a:rPr lang="en-GB" sz="1600" dirty="0"/>
                <a:t>River</a:t>
              </a:r>
            </a:p>
          </p:txBody>
        </p:sp>
        <p:sp>
          <p:nvSpPr>
            <p:cNvPr id="56" name="TextBox 55"/>
            <p:cNvSpPr txBox="1"/>
            <p:nvPr/>
          </p:nvSpPr>
          <p:spPr>
            <a:xfrm>
              <a:off x="3247404" y="1983294"/>
              <a:ext cx="1180580" cy="338554"/>
            </a:xfrm>
            <a:prstGeom prst="rect">
              <a:avLst/>
            </a:prstGeom>
            <a:solidFill>
              <a:schemeClr val="bg1"/>
            </a:solidFill>
          </p:spPr>
          <p:txBody>
            <a:bodyPr wrap="none" rtlCol="0">
              <a:spAutoFit/>
            </a:bodyPr>
            <a:lstStyle/>
            <a:p>
              <a:r>
                <a:rPr lang="en-GB" sz="1600" dirty="0"/>
                <a:t>Evaporation</a:t>
              </a:r>
            </a:p>
          </p:txBody>
        </p:sp>
        <p:sp>
          <p:nvSpPr>
            <p:cNvPr id="57" name="TextBox 56"/>
            <p:cNvSpPr txBox="1"/>
            <p:nvPr/>
          </p:nvSpPr>
          <p:spPr>
            <a:xfrm>
              <a:off x="6090653" y="950092"/>
              <a:ext cx="765979" cy="338554"/>
            </a:xfrm>
            <a:prstGeom prst="rect">
              <a:avLst/>
            </a:prstGeom>
            <a:solidFill>
              <a:schemeClr val="bg1"/>
            </a:solidFill>
          </p:spPr>
          <p:txBody>
            <a:bodyPr wrap="none" rtlCol="0">
              <a:spAutoFit/>
            </a:bodyPr>
            <a:lstStyle/>
            <a:p>
              <a:r>
                <a:rPr lang="en-GB" sz="1600" dirty="0"/>
                <a:t>Quarry</a:t>
              </a:r>
            </a:p>
          </p:txBody>
        </p:sp>
        <p:sp>
          <p:nvSpPr>
            <p:cNvPr id="58" name="TextBox 57"/>
            <p:cNvSpPr txBox="1"/>
            <p:nvPr/>
          </p:nvSpPr>
          <p:spPr>
            <a:xfrm>
              <a:off x="5076056" y="570166"/>
              <a:ext cx="1717393" cy="338554"/>
            </a:xfrm>
            <a:prstGeom prst="rect">
              <a:avLst/>
            </a:prstGeom>
            <a:solidFill>
              <a:schemeClr val="bg1"/>
            </a:solidFill>
          </p:spPr>
          <p:txBody>
            <a:bodyPr wrap="none" rtlCol="0">
              <a:spAutoFit/>
            </a:bodyPr>
            <a:lstStyle/>
            <a:p>
              <a:r>
                <a:rPr lang="en-GB" sz="1600" dirty="0"/>
                <a:t>Pumped discharge</a:t>
              </a:r>
            </a:p>
          </p:txBody>
        </p:sp>
        <p:cxnSp>
          <p:nvCxnSpPr>
            <p:cNvPr id="59" name="Straight Arrow Connector 58"/>
            <p:cNvCxnSpPr>
              <a:stCxn id="57" idx="2"/>
            </p:cNvCxnSpPr>
            <p:nvPr/>
          </p:nvCxnSpPr>
          <p:spPr>
            <a:xfrm flipH="1">
              <a:off x="6340904" y="1288646"/>
              <a:ext cx="132739" cy="44300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6048199" y="908720"/>
              <a:ext cx="1" cy="9003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a:off x="4511270" y="440125"/>
              <a:ext cx="66368" cy="148483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4451485" y="1119369"/>
              <a:ext cx="1274067" cy="338554"/>
            </a:xfrm>
            <a:prstGeom prst="rect">
              <a:avLst/>
            </a:prstGeom>
            <a:solidFill>
              <a:schemeClr val="bg1"/>
            </a:solidFill>
          </p:spPr>
          <p:txBody>
            <a:bodyPr wrap="none" rtlCol="0">
              <a:spAutoFit/>
            </a:bodyPr>
            <a:lstStyle/>
            <a:p>
              <a:r>
                <a:rPr lang="en-GB" sz="1600" dirty="0"/>
                <a:t>Transpiration</a:t>
              </a:r>
            </a:p>
          </p:txBody>
        </p:sp>
        <p:cxnSp>
          <p:nvCxnSpPr>
            <p:cNvPr id="65" name="Straight Arrow Connector 64"/>
            <p:cNvCxnSpPr/>
            <p:nvPr/>
          </p:nvCxnSpPr>
          <p:spPr>
            <a:xfrm>
              <a:off x="2829752" y="627431"/>
              <a:ext cx="417652" cy="16253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3331132" y="358858"/>
              <a:ext cx="208826" cy="16253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1184940" y="3284984"/>
              <a:ext cx="1442844" cy="584775"/>
            </a:xfrm>
            <a:prstGeom prst="rect">
              <a:avLst/>
            </a:prstGeom>
            <a:solidFill>
              <a:schemeClr val="bg1"/>
            </a:solidFill>
          </p:spPr>
          <p:txBody>
            <a:bodyPr wrap="square" rtlCol="0">
              <a:spAutoFit/>
            </a:bodyPr>
            <a:lstStyle/>
            <a:p>
              <a:r>
                <a:rPr lang="en-GB" sz="1600" dirty="0"/>
                <a:t>Saline groundwater</a:t>
              </a:r>
            </a:p>
          </p:txBody>
        </p:sp>
        <p:cxnSp>
          <p:nvCxnSpPr>
            <p:cNvPr id="70" name="Straight Arrow Connector 69"/>
            <p:cNvCxnSpPr/>
            <p:nvPr/>
          </p:nvCxnSpPr>
          <p:spPr>
            <a:xfrm flipV="1">
              <a:off x="1979712" y="3191490"/>
              <a:ext cx="451756" cy="3046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2006449" y="836712"/>
              <a:ext cx="26737" cy="189375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V="1">
              <a:off x="3837694" y="2420888"/>
              <a:ext cx="8490" cy="6013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V="1">
              <a:off x="4932040" y="1510148"/>
              <a:ext cx="0" cy="69476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2006" name="TextBox 42005"/>
          <p:cNvSpPr txBox="1"/>
          <p:nvPr/>
        </p:nvSpPr>
        <p:spPr>
          <a:xfrm>
            <a:off x="6668802" y="3556596"/>
            <a:ext cx="2275361" cy="1077218"/>
          </a:xfrm>
          <a:prstGeom prst="rect">
            <a:avLst/>
          </a:prstGeom>
          <a:noFill/>
          <a:ln>
            <a:solidFill>
              <a:schemeClr val="tx1"/>
            </a:solidFill>
          </a:ln>
        </p:spPr>
        <p:txBody>
          <a:bodyPr wrap="square" lIns="91440" tIns="45720" rIns="91440" bIns="45720" rtlCol="0" anchor="t">
            <a:spAutoFit/>
          </a:bodyPr>
          <a:lstStyle/>
          <a:p>
            <a:r>
              <a:rPr lang="en-GB" sz="3200" dirty="0"/>
              <a:t>Hydrological </a:t>
            </a:r>
          </a:p>
          <a:p>
            <a:pPr algn="ctr"/>
            <a:r>
              <a:rPr lang="en-GB" sz="3200" dirty="0"/>
              <a:t>Cycle</a:t>
            </a:r>
          </a:p>
        </p:txBody>
      </p:sp>
      <p:sp>
        <p:nvSpPr>
          <p:cNvPr id="50" name="TextBox 49">
            <a:extLst>
              <a:ext uri="{FF2B5EF4-FFF2-40B4-BE49-F238E27FC236}">
                <a16:creationId xmlns:a16="http://schemas.microsoft.com/office/drawing/2014/main" id="{246B197A-BB9B-491E-A0C4-D9E062F08A99}"/>
              </a:ext>
            </a:extLst>
          </p:cNvPr>
          <p:cNvSpPr txBox="1"/>
          <p:nvPr/>
        </p:nvSpPr>
        <p:spPr>
          <a:xfrm>
            <a:off x="7008367" y="4922729"/>
            <a:ext cx="1550746" cy="369332"/>
          </a:xfrm>
          <a:prstGeom prst="rect">
            <a:avLst/>
          </a:prstGeom>
          <a:solidFill>
            <a:schemeClr val="bg1"/>
          </a:solidFill>
        </p:spPr>
        <p:txBody>
          <a:bodyPr wrap="none" rtlCol="0">
            <a:spAutoFit/>
          </a:bodyPr>
          <a:lstStyle/>
          <a:p>
            <a:r>
              <a:rPr lang="en-GB" b="1" dirty="0"/>
              <a:t>VADOSE ZONE</a:t>
            </a:r>
          </a:p>
        </p:txBody>
      </p:sp>
      <p:sp>
        <p:nvSpPr>
          <p:cNvPr id="60" name="TextBox 59">
            <a:extLst>
              <a:ext uri="{FF2B5EF4-FFF2-40B4-BE49-F238E27FC236}">
                <a16:creationId xmlns:a16="http://schemas.microsoft.com/office/drawing/2014/main" id="{E4BB22E8-3EE7-4A7C-933A-D32BA2541A28}"/>
              </a:ext>
            </a:extLst>
          </p:cNvPr>
          <p:cNvSpPr txBox="1"/>
          <p:nvPr/>
        </p:nvSpPr>
        <p:spPr>
          <a:xfrm>
            <a:off x="79588" y="6021418"/>
            <a:ext cx="1691297" cy="369332"/>
          </a:xfrm>
          <a:prstGeom prst="rect">
            <a:avLst/>
          </a:prstGeom>
          <a:solidFill>
            <a:schemeClr val="bg1"/>
          </a:solidFill>
        </p:spPr>
        <p:txBody>
          <a:bodyPr wrap="none" rtlCol="0">
            <a:spAutoFit/>
          </a:bodyPr>
          <a:lstStyle/>
          <a:p>
            <a:r>
              <a:rPr lang="en-GB" b="1" dirty="0"/>
              <a:t>PHREATIC ZONE</a:t>
            </a:r>
          </a:p>
        </p:txBody>
      </p:sp>
    </p:spTree>
    <p:extLst>
      <p:ext uri="{BB962C8B-B14F-4D97-AF65-F5344CB8AC3E}">
        <p14:creationId xmlns:p14="http://schemas.microsoft.com/office/powerpoint/2010/main" val="7709933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51520" y="476672"/>
            <a:ext cx="3682752" cy="5715000"/>
          </a:xfrm>
        </p:spPr>
        <p:txBody>
          <a:bodyPr>
            <a:normAutofit fontScale="85000" lnSpcReduction="10000"/>
          </a:bodyPr>
          <a:lstStyle/>
          <a:p>
            <a:pPr marL="0" indent="0" eaLnBrk="1" hangingPunct="1">
              <a:buNone/>
            </a:pPr>
            <a:r>
              <a:rPr lang="en-GB" altLang="en-US" sz="3200" b="1" dirty="0"/>
              <a:t>An aquifer requires:</a:t>
            </a:r>
            <a:endParaRPr lang="en-GB" altLang="en-US" b="1" dirty="0"/>
          </a:p>
          <a:p>
            <a:pPr marL="0" indent="0" eaLnBrk="1" hangingPunct="1">
              <a:buNone/>
            </a:pPr>
            <a:endParaRPr lang="en-GB" altLang="en-US" sz="3200" b="1" dirty="0"/>
          </a:p>
          <a:p>
            <a:pPr marL="0" indent="0" eaLnBrk="1" hangingPunct="1">
              <a:buNone/>
            </a:pPr>
            <a:r>
              <a:rPr lang="en-GB" altLang="en-US" sz="3200" b="1" dirty="0"/>
              <a:t>Porosity</a:t>
            </a:r>
            <a:endParaRPr lang="en-GB" altLang="en-US" dirty="0"/>
          </a:p>
          <a:p>
            <a:pPr eaLnBrk="1" hangingPunct="1"/>
            <a:r>
              <a:rPr lang="en-GB" altLang="en-US" dirty="0"/>
              <a:t>Void space as opposed to solid phase within a rock The void space maybe </a:t>
            </a:r>
            <a:r>
              <a:rPr lang="en-GB" altLang="en-US" dirty="0" err="1"/>
              <a:t>infilled</a:t>
            </a:r>
            <a:r>
              <a:rPr lang="en-GB" altLang="en-US" dirty="0"/>
              <a:t> by either fluids (e.g. oil, brine, </a:t>
            </a:r>
            <a:r>
              <a:rPr lang="en-GB" altLang="en-US" dirty="0" err="1"/>
              <a:t>etc</a:t>
            </a:r>
            <a:r>
              <a:rPr lang="en-GB" altLang="en-US" dirty="0"/>
              <a:t>) or gasses (e.g. atmosphere, hydrocarbons or gas).</a:t>
            </a:r>
            <a:endParaRPr lang="en-GB" altLang="en-US" sz="2400" dirty="0"/>
          </a:p>
          <a:p>
            <a:pPr eaLnBrk="1" hangingPunct="1"/>
            <a:endParaRPr lang="en-GB" altLang="en-US" dirty="0"/>
          </a:p>
          <a:p>
            <a:pPr lvl="2" algn="r" eaLnBrk="1" hangingPunct="1">
              <a:buFontTx/>
              <a:buNone/>
            </a:pPr>
            <a:r>
              <a:rPr lang="en-GB" altLang="en-US" sz="2000" dirty="0" err="1">
                <a:latin typeface="Times" pitchFamily="112" charset="0"/>
              </a:rPr>
              <a:t>Pettijohn</a:t>
            </a:r>
            <a:r>
              <a:rPr lang="en-GB" altLang="en-US" sz="2000" dirty="0">
                <a:latin typeface="Times" pitchFamily="112" charset="0"/>
              </a:rPr>
              <a:t> </a:t>
            </a:r>
            <a:r>
              <a:rPr lang="en-GB" altLang="en-US" sz="2000" i="1" dirty="0">
                <a:latin typeface="Times" pitchFamily="112" charset="0"/>
              </a:rPr>
              <a:t>et al.</a:t>
            </a:r>
            <a:r>
              <a:rPr lang="en-GB" altLang="en-US" sz="2000" dirty="0">
                <a:latin typeface="Times" pitchFamily="112" charset="0"/>
              </a:rPr>
              <a:t> (1972)</a:t>
            </a:r>
          </a:p>
          <a:p>
            <a:pPr lvl="2" algn="r" eaLnBrk="1" hangingPunct="1">
              <a:buFontTx/>
              <a:buNone/>
            </a:pPr>
            <a:endParaRPr lang="en-GB" altLang="en-US" sz="2000" dirty="0">
              <a:latin typeface="Times" pitchFamily="112" charset="0"/>
            </a:endParaRPr>
          </a:p>
        </p:txBody>
      </p:sp>
      <p:pic>
        <p:nvPicPr>
          <p:cNvPr id="3" name="Picture 2"/>
          <p:cNvPicPr>
            <a:picLocks noChangeAspect="1"/>
          </p:cNvPicPr>
          <p:nvPr/>
        </p:nvPicPr>
        <p:blipFill>
          <a:blip r:embed="rId4"/>
          <a:stretch>
            <a:fillRect/>
          </a:stretch>
        </p:blipFill>
        <p:spPr>
          <a:xfrm>
            <a:off x="4211960" y="476671"/>
            <a:ext cx="4464496" cy="5362315"/>
          </a:xfrm>
          <a:prstGeom prst="rect">
            <a:avLst/>
          </a:prstGeom>
        </p:spPr>
      </p:pic>
    </p:spTree>
    <p:custDataLst>
      <p:tags r:id="rId1"/>
    </p:custDataLst>
    <p:extLst>
      <p:ext uri="{BB962C8B-B14F-4D97-AF65-F5344CB8AC3E}">
        <p14:creationId xmlns:p14="http://schemas.microsoft.com/office/powerpoint/2010/main" val="8931800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457200" y="260648"/>
            <a:ext cx="8458200" cy="6368752"/>
          </a:xfrm>
        </p:spPr>
        <p:txBody>
          <a:bodyPr>
            <a:normAutofit fontScale="92500" lnSpcReduction="20000"/>
          </a:bodyPr>
          <a:lstStyle/>
          <a:p>
            <a:pPr marL="0" indent="0" eaLnBrk="1" hangingPunct="1">
              <a:lnSpc>
                <a:spcPct val="90000"/>
              </a:lnSpc>
              <a:buNone/>
            </a:pPr>
            <a:r>
              <a:rPr lang="en-GB" altLang="en-US" sz="3600" b="1" dirty="0"/>
              <a:t>Permeability:</a:t>
            </a:r>
          </a:p>
          <a:p>
            <a:pPr marL="0" indent="0" eaLnBrk="1" hangingPunct="1">
              <a:lnSpc>
                <a:spcPct val="90000"/>
              </a:lnSpc>
              <a:buNone/>
            </a:pPr>
            <a:r>
              <a:rPr lang="en-GB" altLang="en-US" dirty="0"/>
              <a:t> </a:t>
            </a:r>
          </a:p>
          <a:p>
            <a:pPr eaLnBrk="1" hangingPunct="1">
              <a:lnSpc>
                <a:spcPct val="90000"/>
              </a:lnSpc>
            </a:pPr>
            <a:r>
              <a:rPr lang="en-US" altLang="en-US" sz="3600" dirty="0"/>
              <a:t>the relative ability of a material (rock) to transmit fluids through connected pore space</a:t>
            </a:r>
          </a:p>
          <a:p>
            <a:pPr lvl="1">
              <a:lnSpc>
                <a:spcPct val="90000"/>
              </a:lnSpc>
            </a:pPr>
            <a:r>
              <a:rPr lang="en-US" altLang="en-US" sz="3200" dirty="0"/>
              <a:t>No. of conduits</a:t>
            </a:r>
          </a:p>
          <a:p>
            <a:pPr lvl="1">
              <a:lnSpc>
                <a:spcPct val="90000"/>
              </a:lnSpc>
            </a:pPr>
            <a:r>
              <a:rPr lang="en-US" altLang="en-US" sz="3200" dirty="0"/>
              <a:t>Size of conduits</a:t>
            </a:r>
          </a:p>
          <a:p>
            <a:pPr lvl="1">
              <a:lnSpc>
                <a:spcPct val="90000"/>
              </a:lnSpc>
            </a:pPr>
            <a:r>
              <a:rPr lang="en-US" altLang="en-US" sz="3200" dirty="0"/>
              <a:t>Straightness of conduits</a:t>
            </a:r>
          </a:p>
          <a:p>
            <a:pPr lvl="1">
              <a:lnSpc>
                <a:spcPct val="90000"/>
              </a:lnSpc>
            </a:pPr>
            <a:endParaRPr lang="en-US" altLang="en-US" sz="3200" dirty="0"/>
          </a:p>
          <a:p>
            <a:pPr eaLnBrk="1" hangingPunct="1">
              <a:lnSpc>
                <a:spcPct val="90000"/>
              </a:lnSpc>
            </a:pPr>
            <a:r>
              <a:rPr lang="en-US" altLang="en-US" sz="3600" dirty="0"/>
              <a:t>The unit of permeability is the Darcy (D) - in reservoirs typical permeabilities range from 100 to 1000 </a:t>
            </a:r>
            <a:r>
              <a:rPr lang="en-US" altLang="en-US" sz="3600" dirty="0" err="1"/>
              <a:t>mD</a:t>
            </a:r>
            <a:r>
              <a:rPr lang="en-US" altLang="en-US" sz="3600" dirty="0"/>
              <a:t> for a good sandstone reservoir </a:t>
            </a:r>
          </a:p>
          <a:p>
            <a:pPr eaLnBrk="1" hangingPunct="1">
              <a:lnSpc>
                <a:spcPct val="90000"/>
              </a:lnSpc>
            </a:pPr>
            <a:endParaRPr lang="en-US" altLang="en-US" sz="3600" dirty="0">
              <a:solidFill>
                <a:srgbClr val="FB1F00"/>
              </a:solidFill>
            </a:endParaRPr>
          </a:p>
          <a:p>
            <a:pPr eaLnBrk="1" hangingPunct="1">
              <a:lnSpc>
                <a:spcPct val="90000"/>
              </a:lnSpc>
            </a:pPr>
            <a:r>
              <a:rPr lang="en-US" altLang="en-US" sz="3600" dirty="0">
                <a:solidFill>
                  <a:srgbClr val="FB1F00"/>
                </a:solidFill>
              </a:rPr>
              <a:t>Rocks with similar porosity do not necessarily have the same </a:t>
            </a:r>
            <a:r>
              <a:rPr lang="en-US" altLang="en-US" sz="3600" dirty="0">
                <a:solidFill>
                  <a:srgbClr val="D80000"/>
                </a:solidFill>
              </a:rPr>
              <a:t>permeability</a:t>
            </a:r>
            <a:endParaRPr lang="en-US" altLang="en-US" dirty="0">
              <a:solidFill>
                <a:srgbClr val="D80000"/>
              </a:solidFill>
            </a:endParaRPr>
          </a:p>
        </p:txBody>
      </p:sp>
    </p:spTree>
    <p:custDataLst>
      <p:tags r:id="rId1"/>
    </p:custDataLst>
    <p:extLst>
      <p:ext uri="{BB962C8B-B14F-4D97-AF65-F5344CB8AC3E}">
        <p14:creationId xmlns:p14="http://schemas.microsoft.com/office/powerpoint/2010/main" val="22156423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895E-86D4-49E7-9605-3B8DEA4CCBC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7AABB64-46A2-4796-9623-21E41407584A}"/>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84940AA7-5A7D-4DEC-A49B-FF77506FFB8E}"/>
              </a:ext>
            </a:extLst>
          </p:cNvPr>
          <p:cNvPicPr>
            <a:picLocks noChangeAspect="1"/>
          </p:cNvPicPr>
          <p:nvPr/>
        </p:nvPicPr>
        <p:blipFill>
          <a:blip r:embed="rId3"/>
          <a:stretch>
            <a:fillRect/>
          </a:stretch>
        </p:blipFill>
        <p:spPr>
          <a:xfrm>
            <a:off x="1905000" y="61912"/>
            <a:ext cx="5334000" cy="6734175"/>
          </a:xfrm>
          <a:prstGeom prst="rect">
            <a:avLst/>
          </a:prstGeom>
        </p:spPr>
      </p:pic>
    </p:spTree>
    <p:extLst>
      <p:ext uri="{BB962C8B-B14F-4D97-AF65-F5344CB8AC3E}">
        <p14:creationId xmlns:p14="http://schemas.microsoft.com/office/powerpoint/2010/main" val="15626931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8C75343B-2FE2-4978-86FB-EEC6534665D1}"/>
              </a:ext>
            </a:extLst>
          </p:cNvPr>
          <p:cNvPicPr>
            <a:picLocks noChangeAspect="1"/>
          </p:cNvPicPr>
          <p:nvPr/>
        </p:nvPicPr>
        <p:blipFill>
          <a:blip r:embed="rId3"/>
          <a:stretch>
            <a:fillRect/>
          </a:stretch>
        </p:blipFill>
        <p:spPr>
          <a:xfrm>
            <a:off x="57284" y="419649"/>
            <a:ext cx="8962946" cy="5560870"/>
          </a:xfrm>
          <a:prstGeom prst="rect">
            <a:avLst/>
          </a:prstGeom>
        </p:spPr>
      </p:pic>
      <p:sp>
        <p:nvSpPr>
          <p:cNvPr id="8" name="TextBox 7">
            <a:extLst>
              <a:ext uri="{FF2B5EF4-FFF2-40B4-BE49-F238E27FC236}">
                <a16:creationId xmlns:a16="http://schemas.microsoft.com/office/drawing/2014/main" id="{F7D6AA38-8278-4437-8E24-84B39F7209DF}"/>
              </a:ext>
            </a:extLst>
          </p:cNvPr>
          <p:cNvSpPr txBox="1"/>
          <p:nvPr/>
        </p:nvSpPr>
        <p:spPr>
          <a:xfrm>
            <a:off x="4556566" y="6071800"/>
            <a:ext cx="4572000" cy="830997"/>
          </a:xfrm>
          <a:prstGeom prst="rect">
            <a:avLst/>
          </a:prstGeom>
          <a:noFill/>
        </p:spPr>
        <p:txBody>
          <a:bodyPr wrap="square">
            <a:spAutoFit/>
          </a:bodyPr>
          <a:lstStyle/>
          <a:p>
            <a:r>
              <a:rPr lang="en-GB" sz="1200" b="0" i="0" dirty="0">
                <a:solidFill>
                  <a:srgbClr val="737373"/>
                </a:solidFill>
                <a:effectLst/>
                <a:latin typeface="NexusSans"/>
              </a:rPr>
              <a:t>Winter, T.C., Harvey, J.W., Franke, O.L., Alley, W.M., 1998. Ground Water and Surface Water: A Single Resource. United States Geological Survey Circular 1139. United States Government Printing Office, Denver, CO.</a:t>
            </a:r>
            <a:endParaRPr lang="en-GB" sz="1200" dirty="0"/>
          </a:p>
        </p:txBody>
      </p:sp>
      <p:sp>
        <p:nvSpPr>
          <p:cNvPr id="4" name="TextBox 3">
            <a:extLst>
              <a:ext uri="{FF2B5EF4-FFF2-40B4-BE49-F238E27FC236}">
                <a16:creationId xmlns:a16="http://schemas.microsoft.com/office/drawing/2014/main" id="{82DA8CD3-F884-4790-BF31-C551CB4218E3}"/>
              </a:ext>
            </a:extLst>
          </p:cNvPr>
          <p:cNvSpPr txBox="1"/>
          <p:nvPr/>
        </p:nvSpPr>
        <p:spPr>
          <a:xfrm>
            <a:off x="112789" y="5915426"/>
            <a:ext cx="1191352" cy="369332"/>
          </a:xfrm>
          <a:prstGeom prst="rect">
            <a:avLst/>
          </a:prstGeom>
          <a:noFill/>
        </p:spPr>
        <p:txBody>
          <a:bodyPr wrap="none" rtlCol="0">
            <a:spAutoFit/>
          </a:bodyPr>
          <a:lstStyle/>
          <a:p>
            <a:r>
              <a:rPr lang="en-GB" dirty="0"/>
              <a:t>aquicludes</a:t>
            </a:r>
          </a:p>
        </p:txBody>
      </p:sp>
      <p:sp>
        <p:nvSpPr>
          <p:cNvPr id="5" name="Arrow: Right 4">
            <a:extLst>
              <a:ext uri="{FF2B5EF4-FFF2-40B4-BE49-F238E27FC236}">
                <a16:creationId xmlns:a16="http://schemas.microsoft.com/office/drawing/2014/main" id="{B233FFD1-3E6C-4917-AE1A-41D9360664C6}"/>
              </a:ext>
            </a:extLst>
          </p:cNvPr>
          <p:cNvSpPr/>
          <p:nvPr/>
        </p:nvSpPr>
        <p:spPr>
          <a:xfrm rot="17500848">
            <a:off x="307374" y="5493393"/>
            <a:ext cx="978408" cy="52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588BC350-B48F-4BB9-A27E-51941B9294A3}"/>
              </a:ext>
            </a:extLst>
          </p:cNvPr>
          <p:cNvSpPr/>
          <p:nvPr/>
        </p:nvSpPr>
        <p:spPr>
          <a:xfrm rot="16853953" flipV="1">
            <a:off x="-414745" y="4830303"/>
            <a:ext cx="2246420" cy="685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483460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864" y="-171400"/>
            <a:ext cx="8229600" cy="1143000"/>
          </a:xfrm>
        </p:spPr>
        <p:txBody>
          <a:bodyPr/>
          <a:lstStyle/>
          <a:p>
            <a:pPr algn="l"/>
            <a:r>
              <a:rPr lang="en-GB" dirty="0"/>
              <a:t>Groundwater</a:t>
            </a:r>
          </a:p>
        </p:txBody>
      </p:sp>
      <p:pic>
        <p:nvPicPr>
          <p:cNvPr id="50178" name="Picture 2" descr="Just as the distribution of lakes and rivers varies around the world, so too does the distribution of aquifers.  Major basins (purple) hold abundant, relatively easily extracted groundwater.  More complex basins (green) might contain multiple aquifers separated by impermeable rock or have layers of saltwater as well as fresh. Local and shallow aquifers provide only limited quantities of water. Map created by Peder Engstrom and Kate Brauman of the Institute on the Environment's Global Landscape Initiative. Data provided by BGR &amp; UNESCO (2008): Groundwater Resources of the World 1 : 25 000 000. Hannover, Pari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8864" y="971599"/>
            <a:ext cx="8229600" cy="528340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079080" y="6495808"/>
            <a:ext cx="3109634" cy="307777"/>
          </a:xfrm>
          <a:prstGeom prst="rect">
            <a:avLst/>
          </a:prstGeom>
        </p:spPr>
        <p:txBody>
          <a:bodyPr wrap="none">
            <a:spAutoFit/>
          </a:bodyPr>
          <a:lstStyle/>
          <a:p>
            <a:r>
              <a:rPr lang="en-GB" sz="1400" dirty="0"/>
              <a:t>Data provided by BGR &amp; UNESCO (2008)</a:t>
            </a:r>
          </a:p>
        </p:txBody>
      </p:sp>
      <p:sp>
        <p:nvSpPr>
          <p:cNvPr id="6" name="TextBox 5"/>
          <p:cNvSpPr txBox="1"/>
          <p:nvPr/>
        </p:nvSpPr>
        <p:spPr>
          <a:xfrm>
            <a:off x="683568" y="5085184"/>
            <a:ext cx="2316019" cy="523220"/>
          </a:xfrm>
          <a:prstGeom prst="rect">
            <a:avLst/>
          </a:prstGeom>
          <a:noFill/>
        </p:spPr>
        <p:txBody>
          <a:bodyPr wrap="none" rtlCol="0">
            <a:spAutoFit/>
          </a:bodyPr>
          <a:lstStyle/>
          <a:p>
            <a:r>
              <a:rPr lang="en-GB" sz="2800" dirty="0"/>
              <a:t>Major aquifers</a:t>
            </a:r>
          </a:p>
        </p:txBody>
      </p:sp>
    </p:spTree>
    <p:custDataLst>
      <p:tags r:id="rId1"/>
    </p:custDataLst>
    <p:extLst>
      <p:ext uri="{BB962C8B-B14F-4D97-AF65-F5344CB8AC3E}">
        <p14:creationId xmlns:p14="http://schemas.microsoft.com/office/powerpoint/2010/main" val="31284614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D9480-8CE4-4849-AF21-075B365CC1D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1FB028E-83C7-4286-8776-91939E2313CB}"/>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0F3E5815-BB9E-45F3-91CC-1EF8EBD96E2B}"/>
              </a:ext>
            </a:extLst>
          </p:cNvPr>
          <p:cNvSpPr>
            <a:spLocks noGrp="1"/>
          </p:cNvSpPr>
          <p:nvPr>
            <p:ph sz="half" idx="2"/>
          </p:nvPr>
        </p:nvSpPr>
        <p:spPr/>
        <p:txBody>
          <a:bodyPr/>
          <a:lstStyle/>
          <a:p>
            <a:endParaRPr lang="en-GB"/>
          </a:p>
        </p:txBody>
      </p:sp>
      <p:pic>
        <p:nvPicPr>
          <p:cNvPr id="5" name="Picture 4" descr="The rate at which rain, snow and surface waters are able to replenish groundwater varies tremendously from one place to another, mostly due to geology and climate. Along with aquifer size and type, the recharge rate determines the extent to which groundwater can be sustainably withdrawn for human use. Map created by Peder Engstrom and Kate Brauman of the Institute on the Environment's Global Landscape Initiative. Data provided by BGR &amp; UNESCO (2008): Groundwater Resources of the World 1 : 25 000 000. Hannover, Paris.">
            <a:extLst>
              <a:ext uri="{FF2B5EF4-FFF2-40B4-BE49-F238E27FC236}">
                <a16:creationId xmlns:a16="http://schemas.microsoft.com/office/drawing/2014/main" id="{8487442F-D1F6-4DA7-AFA6-EFCA09F42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388" y="548680"/>
            <a:ext cx="8457223" cy="542953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C531520-4094-47FC-B8F8-84C589A45C31}"/>
              </a:ext>
            </a:extLst>
          </p:cNvPr>
          <p:cNvSpPr/>
          <p:nvPr/>
        </p:nvSpPr>
        <p:spPr>
          <a:xfrm>
            <a:off x="6079080" y="6495808"/>
            <a:ext cx="3109634" cy="307777"/>
          </a:xfrm>
          <a:prstGeom prst="rect">
            <a:avLst/>
          </a:prstGeom>
        </p:spPr>
        <p:txBody>
          <a:bodyPr wrap="none">
            <a:spAutoFit/>
          </a:bodyPr>
          <a:lstStyle/>
          <a:p>
            <a:r>
              <a:rPr lang="en-GB" sz="1400" dirty="0"/>
              <a:t>Data provided by BGR &amp; UNESCO (2008)</a:t>
            </a:r>
          </a:p>
        </p:txBody>
      </p:sp>
      <p:sp>
        <p:nvSpPr>
          <p:cNvPr id="7" name="TextBox 6">
            <a:extLst>
              <a:ext uri="{FF2B5EF4-FFF2-40B4-BE49-F238E27FC236}">
                <a16:creationId xmlns:a16="http://schemas.microsoft.com/office/drawing/2014/main" id="{124E8EF2-9FB0-4125-95FF-0C633DFBEECD}"/>
              </a:ext>
            </a:extLst>
          </p:cNvPr>
          <p:cNvSpPr txBox="1"/>
          <p:nvPr/>
        </p:nvSpPr>
        <p:spPr>
          <a:xfrm>
            <a:off x="896203" y="4149080"/>
            <a:ext cx="1549624" cy="1384995"/>
          </a:xfrm>
          <a:prstGeom prst="rect">
            <a:avLst/>
          </a:prstGeom>
          <a:noFill/>
        </p:spPr>
        <p:txBody>
          <a:bodyPr wrap="square" rtlCol="0">
            <a:spAutoFit/>
          </a:bodyPr>
          <a:lstStyle/>
          <a:p>
            <a:r>
              <a:rPr lang="en-GB" sz="2800" dirty="0"/>
              <a:t>Aquifer recharge rates</a:t>
            </a:r>
          </a:p>
        </p:txBody>
      </p:sp>
    </p:spTree>
    <p:custDataLst>
      <p:tags r:id="rId1"/>
    </p:custDataLst>
    <p:extLst>
      <p:ext uri="{BB962C8B-B14F-4D97-AF65-F5344CB8AC3E}">
        <p14:creationId xmlns:p14="http://schemas.microsoft.com/office/powerpoint/2010/main" val="14766927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79080" y="6495808"/>
            <a:ext cx="3109634" cy="307777"/>
          </a:xfrm>
          <a:prstGeom prst="rect">
            <a:avLst/>
          </a:prstGeom>
        </p:spPr>
        <p:txBody>
          <a:bodyPr wrap="none">
            <a:spAutoFit/>
          </a:bodyPr>
          <a:lstStyle/>
          <a:p>
            <a:r>
              <a:rPr lang="en-GB" sz="1400" dirty="0"/>
              <a:t>Data provided by BGR &amp; UNESCO (2008)</a:t>
            </a:r>
          </a:p>
        </p:txBody>
      </p:sp>
      <p:sp>
        <p:nvSpPr>
          <p:cNvPr id="2" name="Title 1"/>
          <p:cNvSpPr>
            <a:spLocks noGrp="1"/>
          </p:cNvSpPr>
          <p:nvPr>
            <p:ph type="title"/>
          </p:nvPr>
        </p:nvSpPr>
        <p:spPr>
          <a:xfrm>
            <a:off x="223131" y="188640"/>
            <a:ext cx="3358686" cy="1143000"/>
          </a:xfrm>
        </p:spPr>
        <p:txBody>
          <a:bodyPr>
            <a:normAutofit/>
          </a:bodyPr>
          <a:lstStyle/>
          <a:p>
            <a:pPr algn="l"/>
            <a:r>
              <a:rPr lang="en-GB" dirty="0"/>
              <a:t>Groundwater</a:t>
            </a:r>
          </a:p>
        </p:txBody>
      </p:sp>
      <p:pic>
        <p:nvPicPr>
          <p:cNvPr id="4" name="Picture 3">
            <a:extLst>
              <a:ext uri="{FF2B5EF4-FFF2-40B4-BE49-F238E27FC236}">
                <a16:creationId xmlns:a16="http://schemas.microsoft.com/office/drawing/2014/main" id="{B8D6DC11-72E6-86F6-C871-388F7E554462}"/>
              </a:ext>
            </a:extLst>
          </p:cNvPr>
          <p:cNvPicPr>
            <a:picLocks noChangeAspect="1"/>
          </p:cNvPicPr>
          <p:nvPr/>
        </p:nvPicPr>
        <p:blipFill>
          <a:blip r:embed="rId3"/>
          <a:stretch>
            <a:fillRect/>
          </a:stretch>
        </p:blipFill>
        <p:spPr>
          <a:xfrm>
            <a:off x="827584" y="1124744"/>
            <a:ext cx="6984776" cy="4847554"/>
          </a:xfrm>
          <a:prstGeom prst="rect">
            <a:avLst/>
          </a:prstGeom>
        </p:spPr>
      </p:pic>
      <p:sp>
        <p:nvSpPr>
          <p:cNvPr id="8" name="TextBox 7">
            <a:extLst>
              <a:ext uri="{FF2B5EF4-FFF2-40B4-BE49-F238E27FC236}">
                <a16:creationId xmlns:a16="http://schemas.microsoft.com/office/drawing/2014/main" id="{D822BA24-39CB-2A92-9754-390991A26B1B}"/>
              </a:ext>
            </a:extLst>
          </p:cNvPr>
          <p:cNvSpPr txBox="1"/>
          <p:nvPr/>
        </p:nvSpPr>
        <p:spPr>
          <a:xfrm>
            <a:off x="760386" y="6091699"/>
            <a:ext cx="4609070" cy="707886"/>
          </a:xfrm>
          <a:prstGeom prst="rect">
            <a:avLst/>
          </a:prstGeom>
          <a:noFill/>
        </p:spPr>
        <p:txBody>
          <a:bodyPr wrap="square">
            <a:spAutoFit/>
          </a:bodyPr>
          <a:lstStyle/>
          <a:p>
            <a:r>
              <a:rPr lang="en-GB" sz="1000" dirty="0">
                <a:hlinkClick r:id="rId4"/>
              </a:rPr>
              <a:t>https://www.sciencedirect.com/science/article/pii/B978012814719100015X</a:t>
            </a:r>
            <a:r>
              <a:rPr lang="en-GB" sz="1000" dirty="0"/>
              <a:t> </a:t>
            </a:r>
            <a:r>
              <a:rPr lang="en-GB" sz="1000" b="0" i="0" dirty="0">
                <a:solidFill>
                  <a:srgbClr val="2E2E2E"/>
                </a:solidFill>
                <a:effectLst/>
                <a:latin typeface="NexusSerif"/>
              </a:rPr>
              <a:t>(From Morris, B.L., Lawrence, A.R.L., Chilton, P.J.C., Adams, B., </a:t>
            </a:r>
            <a:r>
              <a:rPr lang="en-GB" sz="1000" b="0" i="0" dirty="0" err="1">
                <a:solidFill>
                  <a:srgbClr val="2E2E2E"/>
                </a:solidFill>
                <a:effectLst/>
                <a:latin typeface="NexusSerif"/>
              </a:rPr>
              <a:t>Calow</a:t>
            </a:r>
            <a:r>
              <a:rPr lang="en-GB" sz="1000" b="0" i="0" dirty="0">
                <a:solidFill>
                  <a:srgbClr val="2E2E2E"/>
                </a:solidFill>
                <a:effectLst/>
                <a:latin typeface="NexusSerif"/>
              </a:rPr>
              <a:t>, R.C., </a:t>
            </a:r>
            <a:r>
              <a:rPr lang="en-GB" sz="1000" b="0" i="0" dirty="0" err="1">
                <a:solidFill>
                  <a:srgbClr val="2E2E2E"/>
                </a:solidFill>
                <a:effectLst/>
                <a:latin typeface="NexusSerif"/>
              </a:rPr>
              <a:t>Klinck</a:t>
            </a:r>
            <a:r>
              <a:rPr lang="en-GB" sz="1000" b="0" i="0" dirty="0">
                <a:solidFill>
                  <a:srgbClr val="2E2E2E"/>
                </a:solidFill>
                <a:effectLst/>
                <a:latin typeface="NexusSerif"/>
              </a:rPr>
              <a:t>, B.A., 2003. Groundwater and its susceptibility to degradation. A global assessment of the problem and options for management. Early Warning and Assessment Report Series.)</a:t>
            </a:r>
            <a:endParaRPr lang="en-GB" sz="1000" dirty="0"/>
          </a:p>
        </p:txBody>
      </p:sp>
    </p:spTree>
    <p:extLst>
      <p:ext uri="{BB962C8B-B14F-4D97-AF65-F5344CB8AC3E}">
        <p14:creationId xmlns:p14="http://schemas.microsoft.com/office/powerpoint/2010/main" val="31633461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prstTxWarp prst="textNoShape">
              <a:avLst/>
            </a:prstTxWarp>
          </a:bodyPr>
          <a:lstStyle/>
          <a:p>
            <a:pPr eaLnBrk="1" hangingPunct="1">
              <a:defRPr/>
            </a:pPr>
            <a:r>
              <a:rPr lang="en-GB" dirty="0"/>
              <a:t>Water mining</a:t>
            </a:r>
            <a:endParaRPr lang="en-US" dirty="0"/>
          </a:p>
        </p:txBody>
      </p:sp>
      <p:pic>
        <p:nvPicPr>
          <p:cNvPr id="67586" name="Picture 2" descr="http://elmhcx9.elmhurst.edu/%7Echm/onlcourse/chm110/outlines/images/pumpwater.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339" y="1268760"/>
            <a:ext cx="7543321"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4000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99D4C-5CC8-4912-A765-9B0198EC6B15}"/>
              </a:ext>
            </a:extLst>
          </p:cNvPr>
          <p:cNvSpPr>
            <a:spLocks noGrp="1"/>
          </p:cNvSpPr>
          <p:nvPr>
            <p:ph type="title"/>
          </p:nvPr>
        </p:nvSpPr>
        <p:spPr>
          <a:xfrm>
            <a:off x="628650" y="562271"/>
            <a:ext cx="7886700" cy="1128417"/>
          </a:xfrm>
        </p:spPr>
        <p:txBody>
          <a:bodyPr vert="horz" lIns="91440" tIns="45720" rIns="91440" bIns="45720" rtlCol="0" anchor="ctr">
            <a:normAutofit/>
          </a:bodyPr>
          <a:lstStyle/>
          <a:p>
            <a:pPr algn="l">
              <a:lnSpc>
                <a:spcPct val="90000"/>
              </a:lnSpc>
            </a:pPr>
            <a:r>
              <a:rPr lang="en-US" sz="4500"/>
              <a:t>Saline intrusion</a:t>
            </a:r>
          </a:p>
        </p:txBody>
      </p:sp>
      <p:pic>
        <p:nvPicPr>
          <p:cNvPr id="5" name="Content Placeholder 4">
            <a:extLst>
              <a:ext uri="{FF2B5EF4-FFF2-40B4-BE49-F238E27FC236}">
                <a16:creationId xmlns:a16="http://schemas.microsoft.com/office/drawing/2014/main" id="{A09C6801-EA33-4C5E-BC57-75A7CB64EAEC}"/>
              </a:ext>
            </a:extLst>
          </p:cNvPr>
          <p:cNvPicPr>
            <a:picLocks noGrp="1" noChangeAspect="1"/>
          </p:cNvPicPr>
          <p:nvPr>
            <p:ph idx="1"/>
          </p:nvPr>
        </p:nvPicPr>
        <p:blipFill rotWithShape="1">
          <a:blip r:embed="rId3"/>
          <a:srcRect b="6703"/>
          <a:stretch/>
        </p:blipFill>
        <p:spPr>
          <a:xfrm>
            <a:off x="628650" y="1751872"/>
            <a:ext cx="7884410" cy="4450303"/>
          </a:xfrm>
          <a:prstGeom prst="rect">
            <a:avLst/>
          </a:prstGeom>
        </p:spPr>
      </p:pic>
      <p:sp>
        <p:nvSpPr>
          <p:cNvPr id="6" name="TextBox 5">
            <a:extLst>
              <a:ext uri="{FF2B5EF4-FFF2-40B4-BE49-F238E27FC236}">
                <a16:creationId xmlns:a16="http://schemas.microsoft.com/office/drawing/2014/main" id="{70645838-9BE7-4C7E-A2F5-56DA1434733F}"/>
              </a:ext>
            </a:extLst>
          </p:cNvPr>
          <p:cNvSpPr txBox="1"/>
          <p:nvPr/>
        </p:nvSpPr>
        <p:spPr>
          <a:xfrm>
            <a:off x="3966643" y="6361294"/>
            <a:ext cx="5175071" cy="369332"/>
          </a:xfrm>
          <a:prstGeom prst="rect">
            <a:avLst/>
          </a:prstGeom>
          <a:noFill/>
        </p:spPr>
        <p:txBody>
          <a:bodyPr wrap="none" rtlCol="0">
            <a:spAutoFit/>
          </a:bodyPr>
          <a:lstStyle/>
          <a:p>
            <a:r>
              <a:rPr lang="en-GB" dirty="0" err="1"/>
              <a:t>Grotzinger</a:t>
            </a:r>
            <a:r>
              <a:rPr lang="en-GB" dirty="0"/>
              <a:t> &amp; Jordan, Understanding the Earth, 8</a:t>
            </a:r>
            <a:r>
              <a:rPr lang="en-GB" baseline="30000" dirty="0"/>
              <a:t>th</a:t>
            </a:r>
            <a:r>
              <a:rPr lang="en-GB" dirty="0"/>
              <a:t> Ed.</a:t>
            </a:r>
          </a:p>
        </p:txBody>
      </p:sp>
    </p:spTree>
    <p:extLst>
      <p:ext uri="{BB962C8B-B14F-4D97-AF65-F5344CB8AC3E}">
        <p14:creationId xmlns:p14="http://schemas.microsoft.com/office/powerpoint/2010/main" val="28721593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Water quality</a:t>
            </a:r>
          </a:p>
        </p:txBody>
      </p:sp>
      <p:sp>
        <p:nvSpPr>
          <p:cNvPr id="3" name="Content Placeholder 2"/>
          <p:cNvSpPr>
            <a:spLocks noGrp="1"/>
          </p:cNvSpPr>
          <p:nvPr>
            <p:ph sz="half" idx="1"/>
          </p:nvPr>
        </p:nvSpPr>
        <p:spPr>
          <a:xfrm>
            <a:off x="457200" y="4221088"/>
            <a:ext cx="4038600" cy="2448272"/>
          </a:xfrm>
        </p:spPr>
        <p:txBody>
          <a:bodyPr>
            <a:normAutofit/>
          </a:bodyPr>
          <a:lstStyle/>
          <a:p>
            <a:endParaRPr lang="en-GB" dirty="0"/>
          </a:p>
        </p:txBody>
      </p:sp>
      <p:pic>
        <p:nvPicPr>
          <p:cNvPr id="5" name="Picture 4">
            <a:extLst>
              <a:ext uri="{FF2B5EF4-FFF2-40B4-BE49-F238E27FC236}">
                <a16:creationId xmlns:a16="http://schemas.microsoft.com/office/drawing/2014/main" id="{CB754A86-ADF4-9D64-BBA0-932C440D2CB0}"/>
              </a:ext>
            </a:extLst>
          </p:cNvPr>
          <p:cNvPicPr>
            <a:picLocks noChangeAspect="1"/>
          </p:cNvPicPr>
          <p:nvPr/>
        </p:nvPicPr>
        <p:blipFill>
          <a:blip r:embed="rId2"/>
          <a:stretch>
            <a:fillRect/>
          </a:stretch>
        </p:blipFill>
        <p:spPr>
          <a:xfrm>
            <a:off x="639168" y="1293052"/>
            <a:ext cx="8092348" cy="4008156"/>
          </a:xfrm>
          <a:prstGeom prst="rect">
            <a:avLst/>
          </a:prstGeom>
        </p:spPr>
      </p:pic>
    </p:spTree>
    <p:extLst>
      <p:ext uri="{BB962C8B-B14F-4D97-AF65-F5344CB8AC3E}">
        <p14:creationId xmlns:p14="http://schemas.microsoft.com/office/powerpoint/2010/main" val="135587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6E6E33-4BF2-45D0-93F9-DA0931E372EA}"/>
              </a:ext>
            </a:extLst>
          </p:cNvPr>
          <p:cNvPicPr>
            <a:picLocks noChangeAspect="1"/>
          </p:cNvPicPr>
          <p:nvPr/>
        </p:nvPicPr>
        <p:blipFill>
          <a:blip r:embed="rId2"/>
          <a:stretch>
            <a:fillRect/>
          </a:stretch>
        </p:blipFill>
        <p:spPr>
          <a:xfrm>
            <a:off x="104830" y="2220235"/>
            <a:ext cx="3487388" cy="2675136"/>
          </a:xfrm>
          <a:prstGeom prst="rect">
            <a:avLst/>
          </a:prstGeom>
        </p:spPr>
      </p:pic>
      <p:pic>
        <p:nvPicPr>
          <p:cNvPr id="6" name="Picture 5">
            <a:extLst>
              <a:ext uri="{FF2B5EF4-FFF2-40B4-BE49-F238E27FC236}">
                <a16:creationId xmlns:a16="http://schemas.microsoft.com/office/drawing/2014/main" id="{8E08D5D5-DD8B-4C13-B7A3-820045FCDE05}"/>
              </a:ext>
            </a:extLst>
          </p:cNvPr>
          <p:cNvPicPr>
            <a:picLocks noChangeAspect="1"/>
          </p:cNvPicPr>
          <p:nvPr/>
        </p:nvPicPr>
        <p:blipFill>
          <a:blip r:embed="rId3"/>
          <a:stretch>
            <a:fillRect/>
          </a:stretch>
        </p:blipFill>
        <p:spPr>
          <a:xfrm>
            <a:off x="3397895" y="274638"/>
            <a:ext cx="5472608" cy="1718784"/>
          </a:xfrm>
          <a:prstGeom prst="rect">
            <a:avLst/>
          </a:prstGeom>
        </p:spPr>
      </p:pic>
      <p:pic>
        <p:nvPicPr>
          <p:cNvPr id="8" name="Picture 7">
            <a:extLst>
              <a:ext uri="{FF2B5EF4-FFF2-40B4-BE49-F238E27FC236}">
                <a16:creationId xmlns:a16="http://schemas.microsoft.com/office/drawing/2014/main" id="{43F94CA2-E498-49A7-9146-5B14221E70AA}"/>
              </a:ext>
            </a:extLst>
          </p:cNvPr>
          <p:cNvPicPr>
            <a:picLocks noChangeAspect="1"/>
          </p:cNvPicPr>
          <p:nvPr/>
        </p:nvPicPr>
        <p:blipFill>
          <a:blip r:embed="rId4"/>
          <a:stretch>
            <a:fillRect/>
          </a:stretch>
        </p:blipFill>
        <p:spPr>
          <a:xfrm>
            <a:off x="3615949" y="2071068"/>
            <a:ext cx="5036501" cy="4692947"/>
          </a:xfrm>
          <a:prstGeom prst="rect">
            <a:avLst/>
          </a:prstGeom>
        </p:spPr>
      </p:pic>
    </p:spTree>
    <p:extLst>
      <p:ext uri="{BB962C8B-B14F-4D97-AF65-F5344CB8AC3E}">
        <p14:creationId xmlns:p14="http://schemas.microsoft.com/office/powerpoint/2010/main" val="108941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en-GB" altLang="en-US" dirty="0"/>
              <a:t>Virtual water</a:t>
            </a:r>
            <a:endParaRPr lang="en-US" altLang="en-US" dirty="0"/>
          </a:p>
        </p:txBody>
      </p:sp>
      <p:sp>
        <p:nvSpPr>
          <p:cNvPr id="8195" name="Rectangle 3"/>
          <p:cNvSpPr>
            <a:spLocks noGrp="1" noChangeArrowheads="1"/>
          </p:cNvSpPr>
          <p:nvPr>
            <p:ph type="body" idx="1"/>
          </p:nvPr>
        </p:nvSpPr>
        <p:spPr bwMode="auto">
          <a:xfrm>
            <a:off x="457200" y="1600200"/>
            <a:ext cx="627504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2500"/>
          </a:bodyPr>
          <a:lstStyle/>
          <a:p>
            <a:pPr eaLnBrk="1" hangingPunct="1"/>
            <a:r>
              <a:rPr lang="en-GB" altLang="en-US" dirty="0"/>
              <a:t>Concern about water footprint (c.f. carbon footprint)</a:t>
            </a:r>
          </a:p>
          <a:p>
            <a:pPr eaLnBrk="1" hangingPunct="1"/>
            <a:r>
              <a:rPr lang="en-GB" altLang="en-US" dirty="0"/>
              <a:t>Water used in growth and manufacture of products traded globally is known as VIRTUAL water</a:t>
            </a:r>
          </a:p>
          <a:p>
            <a:pPr eaLnBrk="1" hangingPunct="1"/>
            <a:r>
              <a:rPr lang="en-GB" altLang="en-US" dirty="0"/>
              <a:t>Global trade in virtual water agricultural and industrial products est. 2,320 billion m</a:t>
            </a:r>
            <a:r>
              <a:rPr lang="en-GB" altLang="en-US" baseline="30000" dirty="0"/>
              <a:t>3</a:t>
            </a:r>
            <a:r>
              <a:rPr lang="en-GB" altLang="en-US" dirty="0"/>
              <a:t>/year.</a:t>
            </a:r>
          </a:p>
        </p:txBody>
      </p:sp>
      <p:pic>
        <p:nvPicPr>
          <p:cNvPr id="563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560" y="274638"/>
            <a:ext cx="2160240" cy="3061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a:extLst>
              <a:ext uri="{FF2B5EF4-FFF2-40B4-BE49-F238E27FC236}">
                <a16:creationId xmlns:a16="http://schemas.microsoft.com/office/drawing/2014/main" id="{0404D962-C23A-478A-907F-9607E8EBA2DD}"/>
              </a:ext>
            </a:extLst>
          </p:cNvPr>
          <p:cNvSpPr txBox="1"/>
          <p:nvPr/>
        </p:nvSpPr>
        <p:spPr>
          <a:xfrm>
            <a:off x="4644008" y="6123553"/>
            <a:ext cx="4572000" cy="646331"/>
          </a:xfrm>
          <a:prstGeom prst="rect">
            <a:avLst/>
          </a:prstGeom>
          <a:noFill/>
        </p:spPr>
        <p:txBody>
          <a:bodyPr wrap="square">
            <a:spAutoFit/>
          </a:bodyPr>
          <a:lstStyle/>
          <a:p>
            <a:r>
              <a:rPr lang="en-GB" sz="1200" dirty="0"/>
              <a:t>https://www.eni.com/en-IT/low-carbon/concept-of-virtual-water.html#:~:text=They%20also%20estimated%20that%20the,was%202%2C320%20billion%20m3%2Fyear.</a:t>
            </a:r>
          </a:p>
        </p:txBody>
      </p:sp>
    </p:spTree>
    <p:extLst>
      <p:ext uri="{BB962C8B-B14F-4D97-AF65-F5344CB8AC3E}">
        <p14:creationId xmlns:p14="http://schemas.microsoft.com/office/powerpoint/2010/main" val="4384755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prstTxWarp prst="textNoShape">
              <a:avLst/>
            </a:prstTxWarp>
          </a:bodyPr>
          <a:lstStyle/>
          <a:p>
            <a:pPr eaLnBrk="1" hangingPunct="1">
              <a:defRPr/>
            </a:pPr>
            <a:r>
              <a:rPr lang="en-GB" dirty="0"/>
              <a:t>Water scarcity</a:t>
            </a:r>
            <a:endParaRPr lang="en-US" dirty="0"/>
          </a:p>
        </p:txBody>
      </p:sp>
      <p:sp>
        <p:nvSpPr>
          <p:cNvPr id="2" name="Content Placeholder 1">
            <a:extLst>
              <a:ext uri="{FF2B5EF4-FFF2-40B4-BE49-F238E27FC236}">
                <a16:creationId xmlns:a16="http://schemas.microsoft.com/office/drawing/2014/main" id="{8CEAD1AD-AFAC-43C1-BB7C-38E0EF4C7650}"/>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ED8E93B6-FDB5-47A5-856E-A435A68AF03F}"/>
              </a:ext>
            </a:extLst>
          </p:cNvPr>
          <p:cNvPicPr>
            <a:picLocks noChangeAspect="1"/>
          </p:cNvPicPr>
          <p:nvPr/>
        </p:nvPicPr>
        <p:blipFill>
          <a:blip r:embed="rId3"/>
          <a:stretch>
            <a:fillRect/>
          </a:stretch>
        </p:blipFill>
        <p:spPr>
          <a:xfrm>
            <a:off x="447675" y="857250"/>
            <a:ext cx="8248650" cy="5143500"/>
          </a:xfrm>
          <a:prstGeom prst="rect">
            <a:avLst/>
          </a:prstGeom>
        </p:spPr>
      </p:pic>
      <p:sp>
        <p:nvSpPr>
          <p:cNvPr id="5" name="TextBox 4">
            <a:extLst>
              <a:ext uri="{FF2B5EF4-FFF2-40B4-BE49-F238E27FC236}">
                <a16:creationId xmlns:a16="http://schemas.microsoft.com/office/drawing/2014/main" id="{19AEA305-05CF-4141-B4CF-076546E63A05}"/>
              </a:ext>
            </a:extLst>
          </p:cNvPr>
          <p:cNvSpPr txBox="1"/>
          <p:nvPr/>
        </p:nvSpPr>
        <p:spPr>
          <a:xfrm>
            <a:off x="4973050" y="6124059"/>
            <a:ext cx="4170950" cy="369332"/>
          </a:xfrm>
          <a:prstGeom prst="rect">
            <a:avLst/>
          </a:prstGeom>
          <a:noFill/>
        </p:spPr>
        <p:txBody>
          <a:bodyPr wrap="none" rtlCol="0">
            <a:spAutoFit/>
          </a:bodyPr>
          <a:lstStyle/>
          <a:p>
            <a:r>
              <a:rPr lang="en-GB" dirty="0"/>
              <a:t>International Water Management Institute</a:t>
            </a:r>
          </a:p>
        </p:txBody>
      </p:sp>
    </p:spTree>
    <p:extLst>
      <p:ext uri="{BB962C8B-B14F-4D97-AF65-F5344CB8AC3E}">
        <p14:creationId xmlns:p14="http://schemas.microsoft.com/office/powerpoint/2010/main" val="3120033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Desalination/Desalting of water</a:t>
            </a:r>
          </a:p>
        </p:txBody>
      </p:sp>
      <p:sp>
        <p:nvSpPr>
          <p:cNvPr id="3" name="Content Placeholder 2"/>
          <p:cNvSpPr>
            <a:spLocks noGrp="1"/>
          </p:cNvSpPr>
          <p:nvPr>
            <p:ph sz="half" idx="1"/>
          </p:nvPr>
        </p:nvSpPr>
        <p:spPr>
          <a:xfrm>
            <a:off x="457200" y="1600200"/>
            <a:ext cx="4038600" cy="5069160"/>
          </a:xfrm>
        </p:spPr>
        <p:txBody>
          <a:bodyPr>
            <a:normAutofit fontScale="92500"/>
          </a:bodyPr>
          <a:lstStyle/>
          <a:p>
            <a:r>
              <a:rPr lang="en-GB" dirty="0"/>
              <a:t>Two main processes:</a:t>
            </a:r>
          </a:p>
          <a:p>
            <a:r>
              <a:rPr lang="en-GB" dirty="0"/>
              <a:t>Thermal distillation</a:t>
            </a:r>
          </a:p>
          <a:p>
            <a:pPr lvl="1"/>
            <a:r>
              <a:rPr lang="en-GB" dirty="0"/>
              <a:t>Salt water is boiled and the evolved steam is condensed in to freshwater</a:t>
            </a:r>
          </a:p>
          <a:p>
            <a:r>
              <a:rPr lang="en-GB" dirty="0"/>
              <a:t>Membrane separation</a:t>
            </a:r>
          </a:p>
          <a:p>
            <a:pPr lvl="1"/>
            <a:r>
              <a:rPr lang="en-GB" dirty="0"/>
              <a:t>Reverse osmosis-forces water molecules through a membrane when high pressure is placed on the salt water. Does not allow the larger hydrated salt molecules to pass through</a:t>
            </a:r>
          </a:p>
          <a:p>
            <a:endParaRPr lang="en-GB" dirty="0"/>
          </a:p>
        </p:txBody>
      </p:sp>
      <p:pic>
        <p:nvPicPr>
          <p:cNvPr id="57346" name="Picture 2" descr="http://water.usgs.gov/edu/graphics/desalinationprocess.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484784"/>
            <a:ext cx="4106091" cy="4680520"/>
          </a:xfrm>
          <a:prstGeom prst="rect">
            <a:avLst/>
          </a:prstGeom>
          <a:noFill/>
          <a:extLst>
            <a:ext uri="{909E8E84-426E-40DD-AFC4-6F175D3DCCD1}">
              <a14:hiddenFill xmlns:a14="http://schemas.microsoft.com/office/drawing/2010/main">
                <a:solidFill>
                  <a:srgbClr val="FFFFFF"/>
                </a:solidFill>
              </a14:hiddenFill>
            </a:ext>
          </a:extLst>
        </p:spPr>
      </p:pic>
      <p:pic>
        <p:nvPicPr>
          <p:cNvPr id="57348" name="Picture 4" descr="[Image]  Mechanism of osmosis and reverse osmosi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7392" y="2545123"/>
            <a:ext cx="4693042" cy="255984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343006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http://hbfreshwater.com/wp-content/uploads/image00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9590"/>
            <a:ext cx="7796809" cy="62441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2D1102F-052A-479D-8253-A89937CE24D3}"/>
              </a:ext>
            </a:extLst>
          </p:cNvPr>
          <p:cNvPicPr>
            <a:picLocks noChangeAspect="1"/>
          </p:cNvPicPr>
          <p:nvPr/>
        </p:nvPicPr>
        <p:blipFill>
          <a:blip r:embed="rId3"/>
          <a:stretch>
            <a:fillRect/>
          </a:stretch>
        </p:blipFill>
        <p:spPr>
          <a:xfrm>
            <a:off x="0" y="34768"/>
            <a:ext cx="9144000" cy="6788464"/>
          </a:xfrm>
          <a:prstGeom prst="rect">
            <a:avLst/>
          </a:prstGeom>
        </p:spPr>
      </p:pic>
      <p:pic>
        <p:nvPicPr>
          <p:cNvPr id="5" name="Picture 4">
            <a:extLst>
              <a:ext uri="{FF2B5EF4-FFF2-40B4-BE49-F238E27FC236}">
                <a16:creationId xmlns:a16="http://schemas.microsoft.com/office/drawing/2014/main" id="{2C0B0265-9DDA-4A26-B174-AFA6EA664B72}"/>
              </a:ext>
            </a:extLst>
          </p:cNvPr>
          <p:cNvPicPr>
            <a:picLocks noChangeAspect="1"/>
          </p:cNvPicPr>
          <p:nvPr/>
        </p:nvPicPr>
        <p:blipFill>
          <a:blip r:embed="rId4"/>
          <a:stretch>
            <a:fillRect/>
          </a:stretch>
        </p:blipFill>
        <p:spPr>
          <a:xfrm>
            <a:off x="1979712" y="6461348"/>
            <a:ext cx="3505200" cy="314325"/>
          </a:xfrm>
          <a:prstGeom prst="rect">
            <a:avLst/>
          </a:prstGeom>
        </p:spPr>
      </p:pic>
    </p:spTree>
    <p:extLst>
      <p:ext uri="{BB962C8B-B14F-4D97-AF65-F5344CB8AC3E}">
        <p14:creationId xmlns:p14="http://schemas.microsoft.com/office/powerpoint/2010/main" val="32308885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56F6-F1A8-461B-92CC-F5ED073A7D8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5060A87-5907-449A-AA24-CD542157DFD0}"/>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525B6313-204D-4ABD-AA80-DA3FC266E380}"/>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6762692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7BBB95-224F-4C82-9BD9-A940F96B214B}"/>
              </a:ext>
            </a:extLst>
          </p:cNvPr>
          <p:cNvSpPr>
            <a:spLocks noGrp="1"/>
          </p:cNvSpPr>
          <p:nvPr>
            <p:ph type="title"/>
          </p:nvPr>
        </p:nvSpPr>
        <p:spPr/>
        <p:txBody>
          <a:bodyPr/>
          <a:lstStyle/>
          <a:p>
            <a:r>
              <a:rPr lang="en-GB" dirty="0"/>
              <a:t>Publication of the week</a:t>
            </a:r>
          </a:p>
        </p:txBody>
      </p:sp>
      <p:pic>
        <p:nvPicPr>
          <p:cNvPr id="7" name="Picture 6">
            <a:extLst>
              <a:ext uri="{FF2B5EF4-FFF2-40B4-BE49-F238E27FC236}">
                <a16:creationId xmlns:a16="http://schemas.microsoft.com/office/drawing/2014/main" id="{063F5BA6-3F9D-4735-A1A6-98461B6DC71F}"/>
              </a:ext>
            </a:extLst>
          </p:cNvPr>
          <p:cNvPicPr>
            <a:picLocks noChangeAspect="1"/>
          </p:cNvPicPr>
          <p:nvPr/>
        </p:nvPicPr>
        <p:blipFill>
          <a:blip r:embed="rId2"/>
          <a:stretch>
            <a:fillRect/>
          </a:stretch>
        </p:blipFill>
        <p:spPr>
          <a:xfrm>
            <a:off x="0" y="1407123"/>
            <a:ext cx="9144000" cy="5069329"/>
          </a:xfrm>
          <a:prstGeom prst="rect">
            <a:avLst/>
          </a:prstGeom>
        </p:spPr>
      </p:pic>
    </p:spTree>
    <p:extLst>
      <p:ext uri="{BB962C8B-B14F-4D97-AF65-F5344CB8AC3E}">
        <p14:creationId xmlns:p14="http://schemas.microsoft.com/office/powerpoint/2010/main" val="5825049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B0CBA-4289-C616-F669-7AF01BE2B524}"/>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B7D6BE82-6A1D-29F6-03E7-5EEC2111AEF8}"/>
              </a:ext>
            </a:extLst>
          </p:cNvPr>
          <p:cNvPicPr>
            <a:picLocks noChangeAspect="1"/>
          </p:cNvPicPr>
          <p:nvPr/>
        </p:nvPicPr>
        <p:blipFill>
          <a:blip r:embed="rId2"/>
          <a:stretch>
            <a:fillRect/>
          </a:stretch>
        </p:blipFill>
        <p:spPr>
          <a:xfrm>
            <a:off x="0" y="810008"/>
            <a:ext cx="9144000" cy="5237984"/>
          </a:xfrm>
          <a:prstGeom prst="rect">
            <a:avLst/>
          </a:prstGeom>
        </p:spPr>
      </p:pic>
    </p:spTree>
    <p:extLst>
      <p:ext uri="{BB962C8B-B14F-4D97-AF65-F5344CB8AC3E}">
        <p14:creationId xmlns:p14="http://schemas.microsoft.com/office/powerpoint/2010/main" val="22432377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D89D091-37E6-4AAA-B425-F1264835C38E}"/>
              </a:ext>
            </a:extLst>
          </p:cNvPr>
          <p:cNvSpPr>
            <a:spLocks noGrp="1"/>
          </p:cNvSpPr>
          <p:nvPr>
            <p:ph type="title"/>
          </p:nvPr>
        </p:nvSpPr>
        <p:spPr>
          <a:xfrm>
            <a:off x="457200" y="-27384"/>
            <a:ext cx="8229600" cy="1143000"/>
          </a:xfrm>
        </p:spPr>
        <p:txBody>
          <a:bodyPr/>
          <a:lstStyle/>
          <a:p>
            <a:r>
              <a:rPr lang="en-GB" dirty="0"/>
              <a:t>Global population changes in cities</a:t>
            </a:r>
          </a:p>
        </p:txBody>
      </p:sp>
      <p:sp>
        <p:nvSpPr>
          <p:cNvPr id="4" name="Content Placeholder 3">
            <a:extLst>
              <a:ext uri="{FF2B5EF4-FFF2-40B4-BE49-F238E27FC236}">
                <a16:creationId xmlns:a16="http://schemas.microsoft.com/office/drawing/2014/main" id="{862EB8E5-32E8-4323-B38F-BD7E6B13334A}"/>
              </a:ext>
            </a:extLst>
          </p:cNvPr>
          <p:cNvSpPr>
            <a:spLocks noGrp="1"/>
          </p:cNvSpPr>
          <p:nvPr>
            <p:ph idx="1"/>
          </p:nvPr>
        </p:nvSpPr>
        <p:spPr>
          <a:xfrm>
            <a:off x="457200" y="908720"/>
            <a:ext cx="8229600" cy="1828800"/>
          </a:xfrm>
        </p:spPr>
        <p:txBody>
          <a:bodyPr/>
          <a:lstStyle/>
          <a:p>
            <a:r>
              <a:rPr lang="en-GB" dirty="0"/>
              <a:t>1950 was 0.8 billion (29.6%) </a:t>
            </a:r>
          </a:p>
          <a:p>
            <a:r>
              <a:rPr lang="en-GB" dirty="0"/>
              <a:t>2020 is 4.4 billion (56.2%) </a:t>
            </a:r>
          </a:p>
          <a:p>
            <a:r>
              <a:rPr lang="en-GB" dirty="0"/>
              <a:t>2050 predicted to be 6.7 billion (68.4%) </a:t>
            </a:r>
          </a:p>
        </p:txBody>
      </p:sp>
      <p:sp>
        <p:nvSpPr>
          <p:cNvPr id="7" name="Title 5">
            <a:extLst>
              <a:ext uri="{FF2B5EF4-FFF2-40B4-BE49-F238E27FC236}">
                <a16:creationId xmlns:a16="http://schemas.microsoft.com/office/drawing/2014/main" id="{8307D99D-55B0-47C2-8669-231D0017B58C}"/>
              </a:ext>
            </a:extLst>
          </p:cNvPr>
          <p:cNvSpPr txBox="1">
            <a:spLocks/>
          </p:cNvSpPr>
          <p:nvPr/>
        </p:nvSpPr>
        <p:spPr>
          <a:xfrm>
            <a:off x="395536" y="256490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dirty="0"/>
              <a:t>Water scarcity</a:t>
            </a:r>
          </a:p>
        </p:txBody>
      </p:sp>
      <p:sp>
        <p:nvSpPr>
          <p:cNvPr id="8" name="Content Placeholder 3">
            <a:extLst>
              <a:ext uri="{FF2B5EF4-FFF2-40B4-BE49-F238E27FC236}">
                <a16:creationId xmlns:a16="http://schemas.microsoft.com/office/drawing/2014/main" id="{FED0B0CB-4CFF-4EA4-BF2D-18EB8F63A151}"/>
              </a:ext>
            </a:extLst>
          </p:cNvPr>
          <p:cNvSpPr txBox="1">
            <a:spLocks/>
          </p:cNvSpPr>
          <p:nvPr/>
        </p:nvSpPr>
        <p:spPr>
          <a:xfrm>
            <a:off x="395536" y="3472408"/>
            <a:ext cx="8229600" cy="1828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dirty="0"/>
              <a:t>where demand exceeds availability—is a key determinant of water security</a:t>
            </a:r>
          </a:p>
        </p:txBody>
      </p:sp>
      <p:pic>
        <p:nvPicPr>
          <p:cNvPr id="10" name="Picture 9">
            <a:extLst>
              <a:ext uri="{FF2B5EF4-FFF2-40B4-BE49-F238E27FC236}">
                <a16:creationId xmlns:a16="http://schemas.microsoft.com/office/drawing/2014/main" id="{969D3E6B-7340-4652-BC7F-7F3FD89154C5}"/>
              </a:ext>
            </a:extLst>
          </p:cNvPr>
          <p:cNvPicPr>
            <a:picLocks noChangeAspect="1"/>
          </p:cNvPicPr>
          <p:nvPr/>
        </p:nvPicPr>
        <p:blipFill>
          <a:blip r:embed="rId3"/>
          <a:stretch>
            <a:fillRect/>
          </a:stretch>
        </p:blipFill>
        <p:spPr>
          <a:xfrm>
            <a:off x="5041182" y="4500829"/>
            <a:ext cx="2238547" cy="2299048"/>
          </a:xfrm>
          <a:prstGeom prst="rect">
            <a:avLst/>
          </a:prstGeom>
        </p:spPr>
      </p:pic>
      <p:pic>
        <p:nvPicPr>
          <p:cNvPr id="12" name="Picture 11">
            <a:extLst>
              <a:ext uri="{FF2B5EF4-FFF2-40B4-BE49-F238E27FC236}">
                <a16:creationId xmlns:a16="http://schemas.microsoft.com/office/drawing/2014/main" id="{F7FB1374-A342-472F-B0FC-C71813F7BB78}"/>
              </a:ext>
            </a:extLst>
          </p:cNvPr>
          <p:cNvPicPr>
            <a:picLocks noChangeAspect="1"/>
          </p:cNvPicPr>
          <p:nvPr/>
        </p:nvPicPr>
        <p:blipFill>
          <a:blip r:embed="rId4"/>
          <a:stretch>
            <a:fillRect/>
          </a:stretch>
        </p:blipFill>
        <p:spPr>
          <a:xfrm>
            <a:off x="1691680" y="4500829"/>
            <a:ext cx="2352298" cy="2269762"/>
          </a:xfrm>
          <a:prstGeom prst="rect">
            <a:avLst/>
          </a:prstGeom>
        </p:spPr>
      </p:pic>
    </p:spTree>
    <p:extLst>
      <p:ext uri="{BB962C8B-B14F-4D97-AF65-F5344CB8AC3E}">
        <p14:creationId xmlns:p14="http://schemas.microsoft.com/office/powerpoint/2010/main" val="31344011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833469-BE78-4315-965F-0967925326AE}"/>
              </a:ext>
            </a:extLst>
          </p:cNvPr>
          <p:cNvSpPr>
            <a:spLocks noGrp="1"/>
          </p:cNvSpPr>
          <p:nvPr>
            <p:ph idx="1"/>
          </p:nvPr>
        </p:nvSpPr>
        <p:spPr>
          <a:xfrm>
            <a:off x="367158" y="116632"/>
            <a:ext cx="8229600" cy="4525963"/>
          </a:xfrm>
        </p:spPr>
        <p:txBody>
          <a:bodyPr>
            <a:normAutofit/>
          </a:bodyPr>
          <a:lstStyle/>
          <a:p>
            <a:r>
              <a:rPr lang="en-GB" sz="2800" dirty="0"/>
              <a:t>933 million (32.5%) urban residents lived in water-scarce regions in 2016 (perennial and seasonal)</a:t>
            </a:r>
          </a:p>
          <a:p>
            <a:r>
              <a:rPr lang="en-GB" sz="2800" dirty="0"/>
              <a:t>India (222 million) and China (159 million) had the highest urban populations facing water scarcity</a:t>
            </a:r>
          </a:p>
          <a:p>
            <a:endParaRPr lang="en-GB" sz="2800" dirty="0"/>
          </a:p>
        </p:txBody>
      </p:sp>
      <p:pic>
        <p:nvPicPr>
          <p:cNvPr id="4" name="Picture 3">
            <a:extLst>
              <a:ext uri="{FF2B5EF4-FFF2-40B4-BE49-F238E27FC236}">
                <a16:creationId xmlns:a16="http://schemas.microsoft.com/office/drawing/2014/main" id="{2BAF7B8B-32C2-47AB-8D9B-B842E3C8D4A9}"/>
              </a:ext>
            </a:extLst>
          </p:cNvPr>
          <p:cNvPicPr>
            <a:picLocks noChangeAspect="1"/>
          </p:cNvPicPr>
          <p:nvPr/>
        </p:nvPicPr>
        <p:blipFill rotWithShape="1">
          <a:blip r:embed="rId3"/>
          <a:srcRect b="51185"/>
          <a:stretch/>
        </p:blipFill>
        <p:spPr>
          <a:xfrm>
            <a:off x="-14763" y="2852936"/>
            <a:ext cx="9610357" cy="3696740"/>
          </a:xfrm>
          <a:prstGeom prst="rect">
            <a:avLst/>
          </a:prstGeom>
        </p:spPr>
      </p:pic>
    </p:spTree>
    <p:extLst>
      <p:ext uri="{BB962C8B-B14F-4D97-AF65-F5344CB8AC3E}">
        <p14:creationId xmlns:p14="http://schemas.microsoft.com/office/powerpoint/2010/main" val="30859199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44415-AE39-4FD8-F9F2-CD8817681E99}"/>
              </a:ext>
            </a:extLst>
          </p:cNvPr>
          <p:cNvSpPr>
            <a:spLocks noGrp="1"/>
          </p:cNvSpPr>
          <p:nvPr>
            <p:ph type="title"/>
          </p:nvPr>
        </p:nvSpPr>
        <p:spPr/>
        <p:txBody>
          <a:bodyPr/>
          <a:lstStyle/>
          <a:p>
            <a:r>
              <a:rPr lang="en-GB" dirty="0"/>
              <a:t>Study Method</a:t>
            </a:r>
          </a:p>
        </p:txBody>
      </p:sp>
      <p:sp>
        <p:nvSpPr>
          <p:cNvPr id="3" name="Content Placeholder 2">
            <a:extLst>
              <a:ext uri="{FF2B5EF4-FFF2-40B4-BE49-F238E27FC236}">
                <a16:creationId xmlns:a16="http://schemas.microsoft.com/office/drawing/2014/main" id="{DF3D66B2-2219-B38A-B58A-A261E57BB12D}"/>
              </a:ext>
            </a:extLst>
          </p:cNvPr>
          <p:cNvSpPr>
            <a:spLocks noGrp="1"/>
          </p:cNvSpPr>
          <p:nvPr>
            <p:ph idx="1"/>
          </p:nvPr>
        </p:nvSpPr>
        <p:spPr>
          <a:xfrm>
            <a:off x="457200" y="1600200"/>
            <a:ext cx="8229600" cy="4983162"/>
          </a:xfrm>
        </p:spPr>
        <p:txBody>
          <a:bodyPr>
            <a:normAutofit/>
          </a:bodyPr>
          <a:lstStyle/>
          <a:p>
            <a:pPr marL="0" indent="0" algn="l">
              <a:buNone/>
            </a:pPr>
            <a:r>
              <a:rPr lang="en-GB" sz="1800" b="0" i="0" u="none" strike="noStrike" baseline="0" dirty="0">
                <a:latin typeface="AdvOT1ef757c0"/>
              </a:rPr>
              <a:t>Assessed global urban water scarcity in 2016 and 2050 and the feasibility of potential solutions for water-scarce cities. </a:t>
            </a:r>
          </a:p>
          <a:p>
            <a:pPr marL="0" indent="0" algn="l">
              <a:buNone/>
            </a:pPr>
            <a:r>
              <a:rPr lang="en-GB" sz="1800" b="0" i="0" u="none" strike="noStrike" baseline="0" dirty="0">
                <a:latin typeface="AdvOT1ef757c0"/>
              </a:rPr>
              <a:t>Quantified spatial patterns of the global urban population for 2016 at a grid-cell resolution of 1 km2 by integrating spatial urban land-use and population data. We then identi</a:t>
            </a:r>
            <a:r>
              <a:rPr lang="en-GB" sz="1800" b="0" i="0" u="none" strike="noStrike" baseline="0" dirty="0">
                <a:latin typeface="AdvOT1ef757c0+fb"/>
              </a:rPr>
              <a:t>fi</a:t>
            </a:r>
            <a:r>
              <a:rPr lang="en-GB" sz="1800" b="0" i="0" u="none" strike="noStrike" baseline="0" dirty="0">
                <a:latin typeface="AdvOT1ef757c0"/>
              </a:rPr>
              <a:t>ed water-scarce areas at the catchment scale by combining global water resource availability and demand data, and calculated the global urban population in water-scarce areas in 2016. </a:t>
            </a:r>
          </a:p>
          <a:p>
            <a:pPr marL="0" indent="0" algn="l">
              <a:buNone/>
            </a:pPr>
            <a:r>
              <a:rPr lang="en-GB" sz="1800" b="0" i="0" u="none" strike="noStrike" baseline="0" dirty="0">
                <a:latin typeface="AdvOT1ef757c0"/>
              </a:rPr>
              <a:t>Quanti</a:t>
            </a:r>
            <a:r>
              <a:rPr lang="en-GB" sz="1800" b="0" i="0" u="none" strike="noStrike" baseline="0" dirty="0">
                <a:latin typeface="AdvOT1ef757c0+fb"/>
              </a:rPr>
              <a:t>fi</a:t>
            </a:r>
            <a:r>
              <a:rPr lang="en-GB" sz="1800" b="0" i="0" u="none" strike="noStrike" baseline="0" dirty="0">
                <a:latin typeface="AdvOT1ef757c0"/>
              </a:rPr>
              <a:t>ed the global urban population in water scarce areas for 2050 under four socioeconomic and climate change scenarios by combining modelled projections of global urban area, population, and water availability and demand. </a:t>
            </a:r>
          </a:p>
          <a:p>
            <a:pPr marL="0" indent="0" algn="l">
              <a:buNone/>
            </a:pPr>
            <a:r>
              <a:rPr lang="en-GB" sz="1800" b="0" i="0" u="none" strike="noStrike" baseline="0" dirty="0">
                <a:latin typeface="AdvOT1ef757c0"/>
              </a:rPr>
              <a:t>Evaluated the feasibility of seven major solutions for easing water scarcity for each affected city. We discuss the implications of the results for mitigating global urban water scarcity and improving the sustainability and </a:t>
            </a:r>
            <a:r>
              <a:rPr lang="en-GB" sz="1800" b="0" i="0" u="none" strike="noStrike" baseline="0" dirty="0" err="1">
                <a:latin typeface="AdvOT1ef757c0"/>
              </a:rPr>
              <a:t>livability</a:t>
            </a:r>
            <a:r>
              <a:rPr lang="en-GB" sz="1800" b="0" i="0" u="none" strike="noStrike" baseline="0" dirty="0">
                <a:latin typeface="AdvOT1ef757c0"/>
              </a:rPr>
              <a:t> of the world</a:t>
            </a:r>
            <a:r>
              <a:rPr lang="en-GB" sz="1800" b="0" i="0" u="none" strike="noStrike" baseline="0" dirty="0">
                <a:latin typeface="AdvOT1ef757c0+20"/>
              </a:rPr>
              <a:t>’</a:t>
            </a:r>
            <a:r>
              <a:rPr lang="en-GB" sz="1800" b="0" i="0" u="none" strike="noStrike" baseline="0" dirty="0">
                <a:latin typeface="AdvOT1ef757c0"/>
              </a:rPr>
              <a:t>s cities.</a:t>
            </a:r>
            <a:endParaRPr lang="en-GB" dirty="0"/>
          </a:p>
        </p:txBody>
      </p:sp>
    </p:spTree>
    <p:extLst>
      <p:ext uri="{BB962C8B-B14F-4D97-AF65-F5344CB8AC3E}">
        <p14:creationId xmlns:p14="http://schemas.microsoft.com/office/powerpoint/2010/main" val="28334614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15B95-CA2B-4B1E-84BC-09D7DDE7FB6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360FE9F-C157-4020-99E9-A573453BD77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BBF89569-B9BC-42FA-9099-4799A2A415D4}"/>
              </a:ext>
            </a:extLst>
          </p:cNvPr>
          <p:cNvPicPr>
            <a:picLocks noChangeAspect="1"/>
          </p:cNvPicPr>
          <p:nvPr/>
        </p:nvPicPr>
        <p:blipFill>
          <a:blip r:embed="rId2"/>
          <a:stretch>
            <a:fillRect/>
          </a:stretch>
        </p:blipFill>
        <p:spPr>
          <a:xfrm>
            <a:off x="0" y="779847"/>
            <a:ext cx="9144000" cy="5298305"/>
          </a:xfrm>
          <a:prstGeom prst="rect">
            <a:avLst/>
          </a:prstGeom>
        </p:spPr>
      </p:pic>
    </p:spTree>
    <p:extLst>
      <p:ext uri="{BB962C8B-B14F-4D97-AF65-F5344CB8AC3E}">
        <p14:creationId xmlns:p14="http://schemas.microsoft.com/office/powerpoint/2010/main" val="34627866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3FA0-B688-42A5-9490-552EBC81B80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3223047-6A97-47DB-B0A2-D65F28CCC19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0F4F4D2-260B-4CEE-8A75-5713BBC8ED42}"/>
              </a:ext>
            </a:extLst>
          </p:cNvPr>
          <p:cNvPicPr>
            <a:picLocks noChangeAspect="1"/>
          </p:cNvPicPr>
          <p:nvPr/>
        </p:nvPicPr>
        <p:blipFill>
          <a:blip r:embed="rId2"/>
          <a:stretch>
            <a:fillRect/>
          </a:stretch>
        </p:blipFill>
        <p:spPr>
          <a:xfrm rot="5400000">
            <a:off x="2484524" y="-351669"/>
            <a:ext cx="4175869" cy="9144919"/>
          </a:xfrm>
          <a:prstGeom prst="rect">
            <a:avLst/>
          </a:prstGeom>
        </p:spPr>
      </p:pic>
    </p:spTree>
    <p:extLst>
      <p:ext uri="{BB962C8B-B14F-4D97-AF65-F5344CB8AC3E}">
        <p14:creationId xmlns:p14="http://schemas.microsoft.com/office/powerpoint/2010/main" val="1360065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1FE544-01C0-48CB-9384-BC4655DD7BC7}"/>
              </a:ext>
            </a:extLst>
          </p:cNvPr>
          <p:cNvSpPr>
            <a:spLocks noGrp="1"/>
          </p:cNvSpPr>
          <p:nvPr>
            <p:ph type="title"/>
          </p:nvPr>
        </p:nvSpPr>
        <p:spPr>
          <a:xfrm>
            <a:off x="439858" y="1683756"/>
            <a:ext cx="2336449" cy="2396359"/>
          </a:xfrm>
        </p:spPr>
        <p:txBody>
          <a:bodyPr anchor="b">
            <a:normAutofit/>
          </a:bodyPr>
          <a:lstStyle/>
          <a:p>
            <a:pPr algn="r"/>
            <a:r>
              <a:rPr lang="en-GB" sz="3500">
                <a:solidFill>
                  <a:srgbClr val="FFFFFF"/>
                </a:solidFill>
              </a:rPr>
              <a:t>Questions to discuss</a:t>
            </a:r>
          </a:p>
        </p:txBody>
      </p:sp>
      <p:graphicFrame>
        <p:nvGraphicFramePr>
          <p:cNvPr id="18" name="Content Placeholder 2">
            <a:extLst>
              <a:ext uri="{FF2B5EF4-FFF2-40B4-BE49-F238E27FC236}">
                <a16:creationId xmlns:a16="http://schemas.microsoft.com/office/drawing/2014/main" id="{14C3CCDE-F767-8DDD-A572-3351D5A0511B}"/>
              </a:ext>
            </a:extLst>
          </p:cNvPr>
          <p:cNvGraphicFramePr>
            <a:graphicFrameLocks noGrp="1"/>
          </p:cNvGraphicFramePr>
          <p:nvPr>
            <p:ph idx="1"/>
            <p:extLst>
              <p:ext uri="{D42A27DB-BD31-4B8C-83A1-F6EECF244321}">
                <p14:modId xmlns:p14="http://schemas.microsoft.com/office/powerpoint/2010/main" val="1734147473"/>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64948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5"/>
</p:tagLst>
</file>

<file path=ppt/tags/tag2.xml><?xml version="1.0" encoding="utf-8"?>
<p:tagLst xmlns:a="http://schemas.openxmlformats.org/drawingml/2006/main" xmlns:r="http://schemas.openxmlformats.org/officeDocument/2006/relationships" xmlns:p="http://schemas.openxmlformats.org/presentationml/2006/main">
  <p:tag name="TIMING" val="|1"/>
</p:tagLst>
</file>

<file path=ppt/tags/tag3.xml><?xml version="1.0" encoding="utf-8"?>
<p:tagLst xmlns:a="http://schemas.openxmlformats.org/drawingml/2006/main" xmlns:r="http://schemas.openxmlformats.org/officeDocument/2006/relationships" xmlns:p="http://schemas.openxmlformats.org/presentationml/2006/main">
  <p:tag name="TIMING" val="|4.3|4.4|2.1|2.2|1.7|1.9"/>
</p:tagLst>
</file>

<file path=ppt/tags/tag4.xml><?xml version="1.0" encoding="utf-8"?>
<p:tagLst xmlns:a="http://schemas.openxmlformats.org/drawingml/2006/main" xmlns:r="http://schemas.openxmlformats.org/officeDocument/2006/relationships" xmlns:p="http://schemas.openxmlformats.org/presentationml/2006/main">
  <p:tag name="TIMING" val="|5.5|6.6|8.1|1.1|0.7|1.6"/>
</p:tagLst>
</file>

<file path=ppt/tags/tag5.xml><?xml version="1.0" encoding="utf-8"?>
<p:tagLst xmlns:a="http://schemas.openxmlformats.org/drawingml/2006/main" xmlns:r="http://schemas.openxmlformats.org/officeDocument/2006/relationships" xmlns:p="http://schemas.openxmlformats.org/presentationml/2006/main">
  <p:tag name="TIMING" val="|3.4|7.6|5.5|1.5|16|5.9|2.1|1|1|0.9|2.1"/>
</p:tagLst>
</file>

<file path=ppt/tags/tag6.xml><?xml version="1.0" encoding="utf-8"?>
<p:tagLst xmlns:a="http://schemas.openxmlformats.org/drawingml/2006/main" xmlns:r="http://schemas.openxmlformats.org/officeDocument/2006/relationships" xmlns:p="http://schemas.openxmlformats.org/presentationml/2006/main">
  <p:tag name="TIMING" val="|0.8|9.9"/>
</p:tagLst>
</file>

<file path=ppt/tags/tag7.xml><?xml version="1.0" encoding="utf-8"?>
<p:tagLst xmlns:a="http://schemas.openxmlformats.org/drawingml/2006/main" xmlns:r="http://schemas.openxmlformats.org/officeDocument/2006/relationships" xmlns:p="http://schemas.openxmlformats.org/presentationml/2006/main">
  <p:tag name="TIMING" val="|0.8|13.4|8.9|0.7|0.4"/>
</p:tagLst>
</file>

<file path=ppt/tags/tag8.xml><?xml version="1.0" encoding="utf-8"?>
<p:tagLst xmlns:a="http://schemas.openxmlformats.org/drawingml/2006/main" xmlns:r="http://schemas.openxmlformats.org/officeDocument/2006/relationships" xmlns:p="http://schemas.openxmlformats.org/presentationml/2006/main">
  <p:tag name="TIMING" val="|1.1|14.6|15.2"/>
</p:tagLst>
</file>

<file path=ppt/tags/tag9.xml><?xml version="1.0" encoding="utf-8"?>
<p:tagLst xmlns:a="http://schemas.openxmlformats.org/drawingml/2006/main" xmlns:r="http://schemas.openxmlformats.org/officeDocument/2006/relationships" xmlns:p="http://schemas.openxmlformats.org/presentationml/2006/main">
  <p:tag name="TIMING" val="|0.8|22.2|9|12.9|8.9|0.5|0.4"/>
</p:tagLst>
</file>

<file path=ppt/tags/tag10.xml><?xml version="1.0" encoding="utf-8"?>
<p:tagLst xmlns:a="http://schemas.openxmlformats.org/drawingml/2006/main" xmlns:r="http://schemas.openxmlformats.org/officeDocument/2006/relationships" xmlns:p="http://schemas.openxmlformats.org/presentationml/2006/main">
  <p:tag name="TIMING" val="|1.2|2.4|16.1|3.1|0.6|0.4"/>
</p:tagLst>
</file>

<file path=ppt/tags/tag11.xml><?xml version="1.0" encoding="utf-8"?>
<p:tagLst xmlns:a="http://schemas.openxmlformats.org/drawingml/2006/main" xmlns:r="http://schemas.openxmlformats.org/officeDocument/2006/relationships" xmlns:p="http://schemas.openxmlformats.org/presentationml/2006/main">
  <p:tag name="TIMING" val="|1.5|38.1|10.4"/>
</p:tagLst>
</file>

<file path=ppt/tags/tag12.xml><?xml version="1.0" encoding="utf-8"?>
<p:tagLst xmlns:a="http://schemas.openxmlformats.org/drawingml/2006/main" xmlns:r="http://schemas.openxmlformats.org/officeDocument/2006/relationships" xmlns:p="http://schemas.openxmlformats.org/presentationml/2006/main">
  <p:tag name="TIMING" val="|10.7"/>
</p:tagLst>
</file>

<file path=ppt/tags/tag13.xml><?xml version="1.0" encoding="utf-8"?>
<p:tagLst xmlns:a="http://schemas.openxmlformats.org/drawingml/2006/main" xmlns:r="http://schemas.openxmlformats.org/officeDocument/2006/relationships" xmlns:p="http://schemas.openxmlformats.org/presentationml/2006/main">
  <p:tag name="TIMING" val="|3|0.3|0.9"/>
</p:tagLst>
</file>

<file path=ppt/tags/tag14.xml><?xml version="1.0" encoding="utf-8"?>
<p:tagLst xmlns:a="http://schemas.openxmlformats.org/drawingml/2006/main" xmlns:r="http://schemas.openxmlformats.org/officeDocument/2006/relationships" xmlns:p="http://schemas.openxmlformats.org/presentationml/2006/main">
  <p:tag name="TIMING" val="|1.6|0.3|0.4|1.6"/>
</p:tagLst>
</file>

<file path=ppt/tags/tag15.xml><?xml version="1.0" encoding="utf-8"?>
<p:tagLst xmlns:a="http://schemas.openxmlformats.org/drawingml/2006/main" xmlns:r="http://schemas.openxmlformats.org/officeDocument/2006/relationships" xmlns:p="http://schemas.openxmlformats.org/presentationml/2006/main">
  <p:tag name="TIMING" val="|1.2|0.4|0.8"/>
</p:tagLst>
</file>

<file path=ppt/tags/tag16.xml><?xml version="1.0" encoding="utf-8"?>
<p:tagLst xmlns:a="http://schemas.openxmlformats.org/drawingml/2006/main" xmlns:r="http://schemas.openxmlformats.org/officeDocument/2006/relationships" xmlns:p="http://schemas.openxmlformats.org/presentationml/2006/main">
  <p:tag name="TIMING" val="|2.1|8|7|5.3|1"/>
</p:tagLst>
</file>

<file path=ppt/tags/tag17.xml><?xml version="1.0" encoding="utf-8"?>
<p:tagLst xmlns:a="http://schemas.openxmlformats.org/drawingml/2006/main" xmlns:r="http://schemas.openxmlformats.org/officeDocument/2006/relationships" xmlns:p="http://schemas.openxmlformats.org/presentationml/2006/main">
  <p:tag name="TIMING" val="|6.1|5|3.8|6.8|6.2|0.6|0.4"/>
</p:tagLst>
</file>

<file path=ppt/tags/tag18.xml><?xml version="1.0" encoding="utf-8"?>
<p:tagLst xmlns:a="http://schemas.openxmlformats.org/drawingml/2006/main" xmlns:r="http://schemas.openxmlformats.org/officeDocument/2006/relationships" xmlns:p="http://schemas.openxmlformats.org/presentationml/2006/main">
  <p:tag name="TIMING" val="|22.7|0.9|0.4|0.3|0.6"/>
</p:tagLst>
</file>

<file path=ppt/tags/tag19.xml><?xml version="1.0" encoding="utf-8"?>
<p:tagLst xmlns:a="http://schemas.openxmlformats.org/drawingml/2006/main" xmlns:r="http://schemas.openxmlformats.org/officeDocument/2006/relationships" xmlns:p="http://schemas.openxmlformats.org/presentationml/2006/main">
  <p:tag name="TIMING" val="|23.6|2.3"/>
</p:tagLst>
</file>

<file path=ppt/tags/tag20.xml><?xml version="1.0" encoding="utf-8"?>
<p:tagLst xmlns:a="http://schemas.openxmlformats.org/drawingml/2006/main" xmlns:r="http://schemas.openxmlformats.org/officeDocument/2006/relationships" xmlns:p="http://schemas.openxmlformats.org/presentationml/2006/main">
  <p:tag name="TIMING" val="|9.6|14.1|8.3|2.1|2.7|6.4"/>
</p:tagLst>
</file>

<file path=ppt/tags/tag21.xml><?xml version="1.0" encoding="utf-8"?>
<p:tagLst xmlns:a="http://schemas.openxmlformats.org/drawingml/2006/main" xmlns:r="http://schemas.openxmlformats.org/officeDocument/2006/relationships" xmlns:p="http://schemas.openxmlformats.org/presentationml/2006/main">
  <p:tag name="TIMING" val="|1.8"/>
</p:tagLst>
</file>

<file path=ppt/tags/tag22.xml><?xml version="1.0" encoding="utf-8"?>
<p:tagLst xmlns:a="http://schemas.openxmlformats.org/drawingml/2006/main" xmlns:r="http://schemas.openxmlformats.org/officeDocument/2006/relationships" xmlns:p="http://schemas.openxmlformats.org/presentationml/2006/main">
  <p:tag name="TIMING" val="|1.7"/>
</p:tagLst>
</file>

<file path=ppt/tags/tag23.xml><?xml version="1.0" encoding="utf-8"?>
<p:tagLst xmlns:a="http://schemas.openxmlformats.org/drawingml/2006/main" xmlns:r="http://schemas.openxmlformats.org/officeDocument/2006/relationships" xmlns:p="http://schemas.openxmlformats.org/presentationml/2006/main">
  <p:tag name="TIMING" val="|1.2|19.5|18.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38442</TotalTime>
  <Words>6249</Words>
  <Application>Microsoft Office PowerPoint</Application>
  <PresentationFormat>On-screen Show (4:3)</PresentationFormat>
  <Paragraphs>573</Paragraphs>
  <Slides>80</Slides>
  <Notes>49</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Office Theme</vt:lpstr>
      <vt:lpstr>A Sustainable Planet</vt:lpstr>
      <vt:lpstr>PowerPoint Presentation</vt:lpstr>
      <vt:lpstr>Intended Learning Outcomes</vt:lpstr>
      <vt:lpstr>Why are resources so important? A history of earth resources</vt:lpstr>
      <vt:lpstr>PowerPoint Presentation</vt:lpstr>
      <vt:lpstr>PowerPoint Presentation</vt:lpstr>
      <vt:lpstr>PowerPoint Presentation</vt:lpstr>
      <vt:lpstr>PowerPoint Presentation</vt:lpstr>
      <vt:lpstr>Why are mineral resources important?</vt:lpstr>
      <vt:lpstr>PowerPoint Presentation</vt:lpstr>
      <vt:lpstr>PowerPoint Presentation</vt:lpstr>
      <vt:lpstr>Resources vs. Reserves</vt:lpstr>
      <vt:lpstr>Summary</vt:lpstr>
      <vt:lpstr>PowerPoint Presentation</vt:lpstr>
      <vt:lpstr>soils</vt:lpstr>
      <vt:lpstr>Learning outcomes</vt:lpstr>
      <vt:lpstr>Plant growth</vt:lpstr>
      <vt:lpstr>PowerPoint Presentation</vt:lpstr>
      <vt:lpstr>Soil formation</vt:lpstr>
      <vt:lpstr>Minerals recap</vt:lpstr>
      <vt:lpstr>Physical weathering</vt:lpstr>
      <vt:lpstr>Chemical weathering</vt:lpstr>
      <vt:lpstr>PowerPoint Presentation</vt:lpstr>
      <vt:lpstr>PowerPoint Presentation</vt:lpstr>
      <vt:lpstr>PowerPoint Presentation</vt:lpstr>
      <vt:lpstr>PowerPoint Presentation</vt:lpstr>
      <vt:lpstr>PowerPoint Presentation</vt:lpstr>
      <vt:lpstr>Products of weathering</vt:lpstr>
      <vt:lpstr>Climate</vt:lpstr>
      <vt:lpstr>Soil Classification</vt:lpstr>
      <vt:lpstr>PowerPoint Presentation</vt:lpstr>
      <vt:lpstr>Clay minerals</vt:lpstr>
      <vt:lpstr>Cation exchange capacity</vt:lpstr>
      <vt:lpstr>Agriculture</vt:lpstr>
      <vt:lpstr>Fertilizers</vt:lpstr>
      <vt:lpstr>Learning outcomes</vt:lpstr>
      <vt:lpstr>Plant growth</vt:lpstr>
      <vt:lpstr>Fertilizers: History</vt:lpstr>
      <vt:lpstr>PowerPoint Presentation</vt:lpstr>
      <vt:lpstr>Nitrogen</vt:lpstr>
      <vt:lpstr>Ammonia NH3</vt:lpstr>
      <vt:lpstr>Phosphorous</vt:lpstr>
      <vt:lpstr>Sedimentary phosphate</vt:lpstr>
      <vt:lpstr>Igneous phosphate</vt:lpstr>
      <vt:lpstr>PowerPoint Presentation</vt:lpstr>
      <vt:lpstr>PowerPoint Presentation</vt:lpstr>
      <vt:lpstr>Potassium</vt:lpstr>
      <vt:lpstr>PowerPoint Presentation</vt:lpstr>
      <vt:lpstr>Evaporite formation</vt:lpstr>
      <vt:lpstr>UK Mining</vt:lpstr>
      <vt:lpstr>Environmental concerns</vt:lpstr>
      <vt:lpstr>Water</vt:lpstr>
      <vt:lpstr>Learning Outcomes</vt:lpstr>
      <vt:lpstr>Water</vt:lpstr>
      <vt:lpstr>Water composition</vt:lpstr>
      <vt:lpstr>PowerPoint Presentation</vt:lpstr>
      <vt:lpstr>PowerPoint Presentation</vt:lpstr>
      <vt:lpstr>PowerPoint Presentation</vt:lpstr>
      <vt:lpstr>PowerPoint Presentation</vt:lpstr>
      <vt:lpstr>PowerPoint Presentation</vt:lpstr>
      <vt:lpstr>Groundwater</vt:lpstr>
      <vt:lpstr>PowerPoint Presentation</vt:lpstr>
      <vt:lpstr>Groundwater</vt:lpstr>
      <vt:lpstr>Water mining</vt:lpstr>
      <vt:lpstr>Saline intrusion</vt:lpstr>
      <vt:lpstr>Water quality</vt:lpstr>
      <vt:lpstr>PowerPoint Presentation</vt:lpstr>
      <vt:lpstr>Virtual water</vt:lpstr>
      <vt:lpstr>Water scarcity</vt:lpstr>
      <vt:lpstr>Desalination/Desalting of water</vt:lpstr>
      <vt:lpstr>PowerPoint Presentation</vt:lpstr>
      <vt:lpstr>PowerPoint Presentation</vt:lpstr>
      <vt:lpstr>Publication of the week</vt:lpstr>
      <vt:lpstr>PowerPoint Presentation</vt:lpstr>
      <vt:lpstr>Global population changes in cities</vt:lpstr>
      <vt:lpstr>PowerPoint Presentation</vt:lpstr>
      <vt:lpstr>Study Method</vt:lpstr>
      <vt:lpstr>PowerPoint Presentation</vt:lpstr>
      <vt:lpstr>PowerPoint Presentation</vt:lpstr>
      <vt:lpstr>Questions to discuss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Victoria Coker</dc:creator>
  <cp:lastModifiedBy>Victoria Coker</cp:lastModifiedBy>
  <cp:revision>316</cp:revision>
  <dcterms:created xsi:type="dcterms:W3CDTF">2021-01-27T12:35:14Z</dcterms:created>
  <dcterms:modified xsi:type="dcterms:W3CDTF">2025-01-28T16:45:08Z</dcterms:modified>
</cp:coreProperties>
</file>