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67"/>
  </p:notesMasterIdLst>
  <p:sldIdLst>
    <p:sldId id="256" r:id="rId3"/>
    <p:sldId id="257" r:id="rId4"/>
    <p:sldId id="321"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embeddedFontLst>
    <p:embeddedFont>
      <p:font typeface="Noto Sans Symbols" pitchFamily="2" charset="0"/>
      <p:regular r:id="rId68"/>
      <p:bold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hjiM9CnFdQvvM8YipWqtN2r8uQt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1F9B79"/>
    <a:srgbClr val="7E6246"/>
    <a:srgbClr val="C79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08826F-7A81-4F04-8040-88B8889D8B31}">
  <a:tblStyle styleId="{3008826F-7A81-4F04-8040-88B8889D8B3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47"/>
    <p:restoredTop sz="96868"/>
  </p:normalViewPr>
  <p:slideViewPr>
    <p:cSldViewPr snapToGrid="0" showGuides="1">
      <p:cViewPr>
        <p:scale>
          <a:sx n="99" d="100"/>
          <a:sy n="99" d="100"/>
        </p:scale>
        <p:origin x="408" y="1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The Dust Bowl (1930s USA):</a:t>
            </a:r>
            <a:br>
              <a:rPr lang="en-GB" dirty="0"/>
            </a:br>
            <a:br>
              <a:rPr lang="en-GB" dirty="0"/>
            </a:br>
            <a:r>
              <a:rPr lang="en-GB" dirty="0"/>
              <a:t>Caused by intensive ploughing, monoculture farming, and removal of deep-rooted native grasses in the Great Plains led to </a:t>
            </a:r>
            <a:r>
              <a:rPr lang="en-GB" b="1" dirty="0"/>
              <a:t>severe soil erosion</a:t>
            </a:r>
            <a:br>
              <a:rPr lang="en-GB" b="1" dirty="0"/>
            </a:br>
            <a:r>
              <a:rPr lang="en-GB" b="0" dirty="0"/>
              <a:t>Resulted in </a:t>
            </a:r>
            <a:r>
              <a:rPr lang="en-GB" b="1" dirty="0"/>
              <a:t>dust storms </a:t>
            </a:r>
            <a:r>
              <a:rPr lang="en-GB" b="0" dirty="0"/>
              <a:t>(“black blizzards</a:t>
            </a:r>
            <a:r>
              <a:rPr lang="en-GB" b="1" dirty="0"/>
              <a:t>”), displacement of 2.5 million people, mass starvation and economic collapse </a:t>
            </a:r>
          </a:p>
          <a:p>
            <a:pPr marL="0" lvl="0" indent="0" algn="l" rtl="0">
              <a:spcBef>
                <a:spcPts val="0"/>
              </a:spcBef>
              <a:spcAft>
                <a:spcPts val="0"/>
              </a:spcAft>
              <a:buNone/>
            </a:pPr>
            <a:endParaRPr lang="en-GB" b="0" dirty="0"/>
          </a:p>
          <a:p>
            <a:pPr marL="0" lvl="0" indent="0" algn="l" rtl="0">
              <a:spcBef>
                <a:spcPts val="0"/>
              </a:spcBef>
              <a:spcAft>
                <a:spcPts val="0"/>
              </a:spcAft>
              <a:buNone/>
            </a:pPr>
            <a:r>
              <a:rPr lang="en-GB" b="0" dirty="0"/>
              <a:t>Jared Diamond’s </a:t>
            </a:r>
            <a:r>
              <a:rPr lang="en-GB" b="0" i="1" dirty="0"/>
              <a:t>Collapse</a:t>
            </a:r>
            <a:r>
              <a:rPr lang="en-GB" b="0" i="0" dirty="0"/>
              <a:t> argues that environmental degradation, particularly soil erosion and depletion, has been a key factor in the downfall of civilizations</a:t>
            </a:r>
            <a:endParaRPr b="0" dirty="0"/>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mg m</a:t>
            </a:r>
            <a:r>
              <a:rPr lang="en-GB" baseline="30000" dirty="0"/>
              <a:t>-2</a:t>
            </a:r>
            <a:r>
              <a:rPr lang="en-GB" dirty="0"/>
              <a:t> yr</a:t>
            </a:r>
            <a:r>
              <a:rPr lang="en-GB" baseline="30000" dirty="0"/>
              <a:t>-1</a:t>
            </a:r>
            <a:r>
              <a:rPr lang="en-GB" dirty="0"/>
              <a:t> N</a:t>
            </a:r>
            <a:r>
              <a:rPr lang="en-GB" baseline="-25000" dirty="0"/>
              <a:t>2</a:t>
            </a:r>
            <a:r>
              <a:rPr lang="en-GB" dirty="0"/>
              <a:t>O release</a:t>
            </a:r>
            <a:endParaRPr dirty="0"/>
          </a:p>
        </p:txBody>
      </p:sp>
      <p:sp>
        <p:nvSpPr>
          <p:cNvPr id="278" name="Google Shape;27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
        <p:nvSpPr>
          <p:cNvPr id="409" name="Google Shape;40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0" name="Google Shape;410;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38</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5" name="Google Shape;52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1" name="Google Shape;65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1" name="Google Shape;661;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8" name="Google Shape;67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7" name="Google Shape;70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4" name="Google Shape;71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3" name="Google Shape;73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 name="Google Shape;18;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
        <p:nvSpPr>
          <p:cNvPr id="34" name="Google Shape;34;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EXT_AND_CLIPART">
    <p:spTree>
      <p:nvGrpSpPr>
        <p:cNvPr id="1" name="Shape 37"/>
        <p:cNvGrpSpPr/>
        <p:nvPr/>
      </p:nvGrpSpPr>
      <p:grpSpPr>
        <a:xfrm>
          <a:off x="0" y="0"/>
          <a:ext cx="0" cy="0"/>
          <a:chOff x="0" y="0"/>
          <a:chExt cx="0" cy="0"/>
        </a:xfrm>
      </p:grpSpPr>
      <p:sp>
        <p:nvSpPr>
          <p:cNvPr id="38" name="Google Shape;38;p7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2"/>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2"/>
          <p:cNvSpPr>
            <a:spLocks noGrp="1"/>
          </p:cNvSpPr>
          <p:nvPr>
            <p:ph type="clipArt" idx="2"/>
          </p:nvPr>
        </p:nvSpPr>
        <p:spPr>
          <a:xfrm>
            <a:off x="6197600" y="1600201"/>
            <a:ext cx="5384800" cy="4525963"/>
          </a:xfrm>
          <a:prstGeom prst="rect">
            <a:avLst/>
          </a:prstGeom>
          <a:noFill/>
          <a:ln>
            <a:noFill/>
          </a:ln>
        </p:spPr>
      </p:sp>
      <p:sp>
        <p:nvSpPr>
          <p:cNvPr id="41" name="Google Shape;41;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a:ea typeface="Calibri"/>
                <a:cs typeface="Calibri"/>
                <a:sym typeface="Calibri"/>
              </a:defRPr>
            </a:lvl1pPr>
            <a:lvl2pPr marL="0" marR="0" lvl="1" indent="0" algn="r">
              <a:spcBef>
                <a:spcPts val="0"/>
              </a:spcBef>
              <a:buNone/>
              <a:defRPr sz="1200">
                <a:solidFill>
                  <a:srgbClr val="888888"/>
                </a:solidFill>
                <a:latin typeface="Calibri"/>
                <a:ea typeface="Calibri"/>
                <a:cs typeface="Calibri"/>
                <a:sym typeface="Calibri"/>
              </a:defRPr>
            </a:lvl2pPr>
            <a:lvl3pPr marL="0" marR="0" lvl="2" indent="0" algn="r">
              <a:spcBef>
                <a:spcPts val="0"/>
              </a:spcBef>
              <a:buNone/>
              <a:defRPr sz="1200">
                <a:solidFill>
                  <a:srgbClr val="888888"/>
                </a:solidFill>
                <a:latin typeface="Calibri"/>
                <a:ea typeface="Calibri"/>
                <a:cs typeface="Calibri"/>
                <a:sym typeface="Calibri"/>
              </a:defRPr>
            </a:lvl3pPr>
            <a:lvl4pPr marL="0" marR="0" lvl="3" indent="0" algn="r">
              <a:spcBef>
                <a:spcPts val="0"/>
              </a:spcBef>
              <a:buNone/>
              <a:defRPr sz="1200">
                <a:solidFill>
                  <a:srgbClr val="888888"/>
                </a:solidFill>
                <a:latin typeface="Calibri"/>
                <a:ea typeface="Calibri"/>
                <a:cs typeface="Calibri"/>
                <a:sym typeface="Calibri"/>
              </a:defRPr>
            </a:lvl4pPr>
            <a:lvl5pPr marL="0" marR="0" lvl="4" indent="0" algn="r">
              <a:spcBef>
                <a:spcPts val="0"/>
              </a:spcBef>
              <a:buNone/>
              <a:defRPr sz="1200">
                <a:solidFill>
                  <a:srgbClr val="888888"/>
                </a:solidFill>
                <a:latin typeface="Calibri"/>
                <a:ea typeface="Calibri"/>
                <a:cs typeface="Calibri"/>
                <a:sym typeface="Calibri"/>
              </a:defRPr>
            </a:lvl5pPr>
            <a:lvl6pPr marL="0" marR="0" lvl="5" indent="0" algn="r">
              <a:spcBef>
                <a:spcPts val="0"/>
              </a:spcBef>
              <a:buNone/>
              <a:defRPr sz="1200">
                <a:solidFill>
                  <a:srgbClr val="888888"/>
                </a:solidFill>
                <a:latin typeface="Calibri"/>
                <a:ea typeface="Calibri"/>
                <a:cs typeface="Calibri"/>
                <a:sym typeface="Calibri"/>
              </a:defRPr>
            </a:lvl6pPr>
            <a:lvl7pPr marL="0" marR="0" lvl="6" indent="0" algn="r">
              <a:spcBef>
                <a:spcPts val="0"/>
              </a:spcBef>
              <a:buNone/>
              <a:defRPr sz="1200">
                <a:solidFill>
                  <a:srgbClr val="888888"/>
                </a:solidFill>
                <a:latin typeface="Calibri"/>
                <a:ea typeface="Calibri"/>
                <a:cs typeface="Calibri"/>
                <a:sym typeface="Calibri"/>
              </a:defRPr>
            </a:lvl7pPr>
            <a:lvl8pPr marL="0" marR="0" lvl="7" indent="0" algn="r">
              <a:spcBef>
                <a:spcPts val="0"/>
              </a:spcBef>
              <a:buNone/>
              <a:defRPr sz="1200">
                <a:solidFill>
                  <a:srgbClr val="888888"/>
                </a:solidFill>
                <a:latin typeface="Calibri"/>
                <a:ea typeface="Calibri"/>
                <a:cs typeface="Calibri"/>
                <a:sym typeface="Calibri"/>
              </a:defRPr>
            </a:lvl8pPr>
            <a:lvl9pPr marL="0" marR="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4"/>
        <p:cNvGrpSpPr/>
        <p:nvPr/>
      </p:nvGrpSpPr>
      <p:grpSpPr>
        <a:xfrm>
          <a:off x="0" y="0"/>
          <a:ext cx="0" cy="0"/>
          <a:chOff x="0" y="0"/>
          <a:chExt cx="0" cy="0"/>
        </a:xfrm>
      </p:grpSpPr>
      <p:sp>
        <p:nvSpPr>
          <p:cNvPr id="45" name="Google Shape;45;p6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7" name="Google Shape;47;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0"/>
        <p:cNvGrpSpPr/>
        <p:nvPr/>
      </p:nvGrpSpPr>
      <p:grpSpPr>
        <a:xfrm>
          <a:off x="0" y="0"/>
          <a:ext cx="0" cy="0"/>
          <a:chOff x="0" y="0"/>
          <a:chExt cx="0" cy="0"/>
        </a:xfrm>
      </p:grpSpPr>
      <p:sp>
        <p:nvSpPr>
          <p:cNvPr id="51" name="Google Shape;51;p7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3" name="Google Shape;53;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7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7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7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7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7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8" name="Google Shape;68;p7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
        <p:cNvGrpSpPr/>
        <p:nvPr/>
      </p:nvGrpSpPr>
      <p:grpSpPr>
        <a:xfrm>
          <a:off x="0" y="0"/>
          <a:ext cx="0" cy="0"/>
          <a:chOff x="0" y="0"/>
          <a:chExt cx="0" cy="0"/>
        </a:xfrm>
      </p:grpSpPr>
      <p:sp>
        <p:nvSpPr>
          <p:cNvPr id="78" name="Google Shape;78;p7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7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0" name="Google Shape;80;p7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7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78"/>
          <p:cNvSpPr>
            <a:spLocks noGrp="1"/>
          </p:cNvSpPr>
          <p:nvPr>
            <p:ph type="pic" idx="2"/>
          </p:nvPr>
        </p:nvSpPr>
        <p:spPr>
          <a:xfrm>
            <a:off x="5183188" y="987425"/>
            <a:ext cx="6172200" cy="4873625"/>
          </a:xfrm>
          <a:prstGeom prst="rect">
            <a:avLst/>
          </a:prstGeom>
          <a:noFill/>
          <a:ln>
            <a:noFill/>
          </a:ln>
        </p:spPr>
      </p:sp>
      <p:sp>
        <p:nvSpPr>
          <p:cNvPr id="87" name="Google Shape;87;p7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8" name="Google Shape;88;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7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8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8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sp>
        <p:nvSpPr>
          <p:cNvPr id="22" name="Google Shape;22;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ophie.nixon@manchester.ac.uk"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0.jpg"/></Relationships>
</file>

<file path=ppt/slides/_rels/slide34.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jpg"/><Relationship Id="rId18" Type="http://schemas.openxmlformats.org/officeDocument/2006/relationships/image" Target="../media/image66.png"/><Relationship Id="rId26" Type="http://schemas.openxmlformats.org/officeDocument/2006/relationships/image" Target="../media/image74.png"/><Relationship Id="rId3" Type="http://schemas.openxmlformats.org/officeDocument/2006/relationships/image" Target="../media/image51.png"/><Relationship Id="rId21" Type="http://schemas.openxmlformats.org/officeDocument/2006/relationships/image" Target="../media/image69.png"/><Relationship Id="rId7" Type="http://schemas.openxmlformats.org/officeDocument/2006/relationships/image" Target="../media/image55.png"/><Relationship Id="rId12" Type="http://schemas.openxmlformats.org/officeDocument/2006/relationships/image" Target="../media/image60.jpg"/><Relationship Id="rId17" Type="http://schemas.openxmlformats.org/officeDocument/2006/relationships/image" Target="../media/image65.png"/><Relationship Id="rId25" Type="http://schemas.openxmlformats.org/officeDocument/2006/relationships/image" Target="../media/image73.png"/><Relationship Id="rId2" Type="http://schemas.openxmlformats.org/officeDocument/2006/relationships/notesSlide" Target="../notesSlides/notesSlide33.xml"/><Relationship Id="rId16" Type="http://schemas.openxmlformats.org/officeDocument/2006/relationships/image" Target="../media/image64.png"/><Relationship Id="rId20" Type="http://schemas.openxmlformats.org/officeDocument/2006/relationships/image" Target="../media/image68.png"/><Relationship Id="rId29"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54.jpg"/><Relationship Id="rId11" Type="http://schemas.openxmlformats.org/officeDocument/2006/relationships/image" Target="../media/image59.png"/><Relationship Id="rId24" Type="http://schemas.openxmlformats.org/officeDocument/2006/relationships/image" Target="../media/image72.jpg"/><Relationship Id="rId5" Type="http://schemas.openxmlformats.org/officeDocument/2006/relationships/image" Target="../media/image53.jpg"/><Relationship Id="rId15" Type="http://schemas.openxmlformats.org/officeDocument/2006/relationships/image" Target="../media/image63.png"/><Relationship Id="rId23" Type="http://schemas.openxmlformats.org/officeDocument/2006/relationships/image" Target="../media/image71.png"/><Relationship Id="rId28" Type="http://schemas.openxmlformats.org/officeDocument/2006/relationships/image" Target="../media/image76.jpg"/><Relationship Id="rId10" Type="http://schemas.openxmlformats.org/officeDocument/2006/relationships/image" Target="../media/image58.png"/><Relationship Id="rId19" Type="http://schemas.openxmlformats.org/officeDocument/2006/relationships/image" Target="../media/image67.png"/><Relationship Id="rId4" Type="http://schemas.openxmlformats.org/officeDocument/2006/relationships/image" Target="../media/image52.png"/><Relationship Id="rId9" Type="http://schemas.openxmlformats.org/officeDocument/2006/relationships/image" Target="../media/image57.jpg"/><Relationship Id="rId14" Type="http://schemas.openxmlformats.org/officeDocument/2006/relationships/image" Target="../media/image62.png"/><Relationship Id="rId22" Type="http://schemas.openxmlformats.org/officeDocument/2006/relationships/image" Target="../media/image70.jpg"/><Relationship Id="rId27" Type="http://schemas.openxmlformats.org/officeDocument/2006/relationships/image" Target="../media/image75.png"/></Relationships>
</file>

<file path=ppt/slides/_rels/slide35.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9.jpg"/><Relationship Id="rId7" Type="http://schemas.openxmlformats.org/officeDocument/2006/relationships/oleObject" Target="../embeddings/oleObject1.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jpg"/><Relationship Id="rId4" Type="http://schemas.openxmlformats.org/officeDocument/2006/relationships/image" Target="../media/image80.png"/><Relationship Id="rId9" Type="http://schemas.openxmlformats.org/officeDocument/2006/relationships/image" Target="../media/image84.png"/></Relationships>
</file>

<file path=ppt/slides/_rels/slide37.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87.jpg"/><Relationship Id="rId4" Type="http://schemas.openxmlformats.org/officeDocument/2006/relationships/image" Target="../media/image86.jpg"/></Relationships>
</file>

<file path=ppt/slides/_rels/slide3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90.png"/><Relationship Id="rId4" Type="http://schemas.openxmlformats.org/officeDocument/2006/relationships/image" Target="../media/image89.jpg"/></Relationships>
</file>

<file path=ppt/slides/_rels/slide39.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86.jpg"/><Relationship Id="rId4" Type="http://schemas.openxmlformats.org/officeDocument/2006/relationships/image" Target="../media/image92.png"/></Relationships>
</file>

<file path=ppt/slides/_rels/slide40.xml.rels><?xml version="1.0" encoding="UTF-8" standalone="yes"?>
<Relationships xmlns="http://schemas.openxmlformats.org/package/2006/relationships"><Relationship Id="rId3" Type="http://schemas.openxmlformats.org/officeDocument/2006/relationships/image" Target="../media/image93.jp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94.jpg"/></Relationships>
</file>

<file path=ppt/slides/_rels/slide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96.png"/></Relationships>
</file>

<file path=ppt/slides/_rels/slide4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98.png"/></Relationships>
</file>

<file path=ppt/slides/_rels/slide4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00.jpg"/></Relationships>
</file>

<file path=ppt/slides/_rels/slide4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101.jpg"/><Relationship Id="rId4" Type="http://schemas.openxmlformats.org/officeDocument/2006/relationships/image" Target="../media/image100.jpg"/></Relationships>
</file>

<file path=ppt/slides/_rels/slide45.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46.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hyperlink" Target="http://vivalifestyle.co.uk/wp-content/uploads/2012/12/Heinz-Baked-Beans.jpg"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11.jpg"/><Relationship Id="rId4" Type="http://schemas.openxmlformats.org/officeDocument/2006/relationships/image" Target="../media/image110.jpg"/></Relationships>
</file>

<file path=ppt/slides/_rels/slide5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6.jp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117.jpg"/><Relationship Id="rId4" Type="http://schemas.openxmlformats.org/officeDocument/2006/relationships/hyperlink" Target="http://www.google.co.uk/url?sa=i&amp;rct=j&amp;q=&amp;esrc=s&amp;source=images&amp;cd=&amp;cad=rja&amp;uact=8&amp;ved=0ahUKEwjy6b7x45zLAhWGaxQKHf21BDsQjRwIBw&amp;url=http%3A%2F%2Fwww.symyc.de%2Fen%2Fabout-mycorrhiza%2Fmycorrhiza-research%2F&amp;bvm=bv.115339255,d.d24&amp;psig=AFQjCNFAVxXyagHhjNuHxrrWaqjHBbHZtg&amp;ust=1456828610013385"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21.jpg"/><Relationship Id="rId5" Type="http://schemas.openxmlformats.org/officeDocument/2006/relationships/image" Target="../media/image120.png"/><Relationship Id="rId4" Type="http://schemas.openxmlformats.org/officeDocument/2006/relationships/image" Target="../media/image11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6"/>
        <p:cNvGrpSpPr/>
        <p:nvPr/>
      </p:nvGrpSpPr>
      <p:grpSpPr>
        <a:xfrm>
          <a:off x="0" y="0"/>
          <a:ext cx="0" cy="0"/>
          <a:chOff x="0" y="0"/>
          <a:chExt cx="0" cy="0"/>
        </a:xfrm>
      </p:grpSpPr>
      <p:pic>
        <p:nvPicPr>
          <p:cNvPr id="107" name="Google Shape;107;p1"/>
          <p:cNvPicPr preferRelativeResize="0"/>
          <p:nvPr/>
        </p:nvPicPr>
        <p:blipFill rotWithShape="1">
          <a:blip r:embed="rId3">
            <a:alphaModFix/>
          </a:blip>
          <a:srcRect/>
          <a:stretch/>
        </p:blipFill>
        <p:spPr>
          <a:xfrm>
            <a:off x="3523488" y="10"/>
            <a:ext cx="8668512" cy="6857990"/>
          </a:xfrm>
          <a:prstGeom prst="rect">
            <a:avLst/>
          </a:prstGeom>
          <a:noFill/>
          <a:ln>
            <a:noFill/>
          </a:ln>
        </p:spPr>
      </p:pic>
      <p:sp>
        <p:nvSpPr>
          <p:cNvPr id="108" name="Google Shape;108;p1"/>
          <p:cNvSpPr txBox="1">
            <a:spLocks noGrp="1"/>
          </p:cNvSpPr>
          <p:nvPr>
            <p:ph type="ctrTitle"/>
          </p:nvPr>
        </p:nvSpPr>
        <p:spPr>
          <a:xfrm>
            <a:off x="203098" y="73883"/>
            <a:ext cx="3093894" cy="320413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2800"/>
              <a:buFont typeface="Calibri"/>
              <a:buNone/>
            </a:pPr>
            <a:r>
              <a:rPr lang="en-GB" sz="2800" dirty="0">
                <a:latin typeface="+mj-lt"/>
              </a:rPr>
              <a:t>A Sustainable Planet:</a:t>
            </a:r>
            <a:br>
              <a:rPr lang="en-GB" sz="2800" dirty="0">
                <a:latin typeface="+mj-lt"/>
              </a:rPr>
            </a:br>
            <a:r>
              <a:rPr lang="en-GB" sz="2800" dirty="0">
                <a:latin typeface="+mj-lt"/>
              </a:rPr>
              <a:t>The food crisis – why plant-soil interactions matter</a:t>
            </a:r>
            <a:endParaRPr dirty="0">
              <a:latin typeface="+mj-lt"/>
            </a:endParaRPr>
          </a:p>
        </p:txBody>
      </p:sp>
      <p:sp>
        <p:nvSpPr>
          <p:cNvPr id="109" name="Google Shape;109;p1"/>
          <p:cNvSpPr txBox="1">
            <a:spLocks noGrp="1"/>
          </p:cNvSpPr>
          <p:nvPr>
            <p:ph type="subTitle" idx="1"/>
          </p:nvPr>
        </p:nvSpPr>
        <p:spPr>
          <a:xfrm>
            <a:off x="238711" y="4108131"/>
            <a:ext cx="4023359" cy="120814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GB" sz="2000" dirty="0">
                <a:latin typeface="+mn-lt"/>
              </a:rPr>
              <a:t>Professor Sophie Nixon</a:t>
            </a:r>
            <a:endParaRPr dirty="0">
              <a:latin typeface="+mn-lt"/>
            </a:endParaRPr>
          </a:p>
          <a:p>
            <a:pPr marL="0" lvl="0" indent="0" algn="l" rtl="0">
              <a:lnSpc>
                <a:spcPct val="90000"/>
              </a:lnSpc>
              <a:spcBef>
                <a:spcPts val="1000"/>
              </a:spcBef>
              <a:spcAft>
                <a:spcPts val="0"/>
              </a:spcAft>
              <a:buClr>
                <a:schemeClr val="lt1"/>
              </a:buClr>
              <a:buSzPts val="2000"/>
              <a:buNone/>
            </a:pPr>
            <a:r>
              <a:rPr lang="en-GB" sz="2000" dirty="0">
                <a:latin typeface="+mn-lt"/>
              </a:rPr>
              <a:t>Department of Earth and Environmental Sciences </a:t>
            </a:r>
            <a:endParaRPr dirty="0">
              <a:latin typeface="+mn-lt"/>
            </a:endParaRPr>
          </a:p>
        </p:txBody>
      </p:sp>
      <p:sp>
        <p:nvSpPr>
          <p:cNvPr id="110" name="Google Shape;110;p1"/>
          <p:cNvSpPr txBox="1"/>
          <p:nvPr/>
        </p:nvSpPr>
        <p:spPr>
          <a:xfrm>
            <a:off x="61831" y="6146386"/>
            <a:ext cx="5836791"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0" i="0" u="sng" strike="noStrike" cap="none" dirty="0">
                <a:solidFill>
                  <a:schemeClr val="lt1"/>
                </a:solidFill>
                <a:latin typeface="+mn-lt"/>
                <a:ea typeface="Calibri"/>
                <a:cs typeface="Calibri"/>
                <a:sym typeface="Calibri"/>
                <a:hlinkClick r:id="rId4">
                  <a:extLst>
                    <a:ext uri="{A12FA001-AC4F-418D-AE19-62706E023703}">
                      <ahyp:hlinkClr xmlns:ahyp="http://schemas.microsoft.com/office/drawing/2018/hyperlinkcolor" val="tx"/>
                    </a:ext>
                  </a:extLst>
                </a:hlinkClick>
              </a:rPr>
              <a:t>sophie.nixon@manchester.ac.uk</a:t>
            </a:r>
            <a:r>
              <a:rPr lang="en-GB" sz="1600" b="0" i="0" u="none" strike="noStrike" cap="none" dirty="0">
                <a:solidFill>
                  <a:schemeClr val="lt1"/>
                </a:solidFill>
                <a:latin typeface="+mn-lt"/>
                <a:ea typeface="Calibri"/>
                <a:cs typeface="Calibri"/>
                <a:sym typeface="Calibri"/>
              </a:rPr>
              <a:t>; </a:t>
            </a:r>
            <a:br>
              <a:rPr lang="en-GB" sz="1600" b="0" i="0" u="none" strike="noStrike" cap="none" dirty="0">
                <a:solidFill>
                  <a:schemeClr val="lt1"/>
                </a:solidFill>
                <a:latin typeface="+mn-lt"/>
                <a:ea typeface="Calibri"/>
                <a:cs typeface="Calibri"/>
                <a:sym typeface="Calibri"/>
              </a:rPr>
            </a:br>
            <a:r>
              <a:rPr lang="en-GB" sz="1600" b="0" i="0" u="none" strike="noStrike" cap="none" dirty="0">
                <a:solidFill>
                  <a:schemeClr val="lt1"/>
                </a:solidFill>
                <a:latin typeface="+mn-lt"/>
                <a:ea typeface="Calibri"/>
                <a:cs typeface="Calibri"/>
                <a:sym typeface="Calibri"/>
              </a:rPr>
              <a:t>MIB </a:t>
            </a:r>
            <a:endParaRPr sz="1600" b="0" i="0" u="none" strike="noStrike" cap="none" dirty="0">
              <a:solidFill>
                <a:schemeClr val="lt1"/>
              </a:solidFill>
              <a:latin typeface="+mn-lt"/>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21" name="Google Shape;121;p2"/>
          <p:cNvSpPr txBox="1">
            <a:spLocks noGrp="1"/>
          </p:cNvSpPr>
          <p:nvPr>
            <p:ph type="title"/>
          </p:nvPr>
        </p:nvSpPr>
        <p:spPr>
          <a:xfrm>
            <a:off x="96621" y="79560"/>
            <a:ext cx="7566922" cy="52956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FFFFFF"/>
              </a:buClr>
              <a:buSzPts val="4000"/>
              <a:buFont typeface="Calibri"/>
              <a:buNone/>
            </a:pPr>
            <a:r>
              <a:rPr lang="en-GB" sz="3200" b="1" dirty="0">
                <a:solidFill>
                  <a:srgbClr val="C00000"/>
                </a:solidFill>
                <a:latin typeface="+mj-lt"/>
              </a:rPr>
              <a:t>Focal areas of this lecture:</a:t>
            </a:r>
            <a:endParaRPr sz="3600" dirty="0">
              <a:solidFill>
                <a:srgbClr val="C00000"/>
              </a:solidFill>
              <a:latin typeface="+mj-lt"/>
            </a:endParaRPr>
          </a:p>
        </p:txBody>
      </p:sp>
      <p:grpSp>
        <p:nvGrpSpPr>
          <p:cNvPr id="122" name="Google Shape;122;p2"/>
          <p:cNvGrpSpPr/>
          <p:nvPr/>
        </p:nvGrpSpPr>
        <p:grpSpPr>
          <a:xfrm>
            <a:off x="3117563" y="932372"/>
            <a:ext cx="5956874" cy="5307769"/>
            <a:chOff x="0" y="73075"/>
            <a:chExt cx="6666833" cy="5307769"/>
          </a:xfrm>
        </p:grpSpPr>
        <p:sp>
          <p:nvSpPr>
            <p:cNvPr id="123" name="Google Shape;123;p2"/>
            <p:cNvSpPr/>
            <p:nvPr/>
          </p:nvSpPr>
          <p:spPr>
            <a:xfrm>
              <a:off x="0" y="73075"/>
              <a:ext cx="6666833" cy="834228"/>
            </a:xfrm>
            <a:prstGeom prst="roundRect">
              <a:avLst>
                <a:gd name="adj" fmla="val 16667"/>
              </a:avLst>
            </a:prstGeom>
            <a:gradFill>
              <a:gsLst>
                <a:gs pos="0">
                  <a:srgbClr val="F08B54"/>
                </a:gs>
                <a:gs pos="50000">
                  <a:srgbClr val="F67A26"/>
                </a:gs>
                <a:gs pos="100000">
                  <a:srgbClr val="E36A18"/>
                </a:gs>
              </a:gsLst>
              <a:lin ang="54000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dirty="0">
                <a:latin typeface="Helvetica" pitchFamily="2" charset="0"/>
              </a:endParaRPr>
            </a:p>
          </p:txBody>
        </p:sp>
        <p:sp>
          <p:nvSpPr>
            <p:cNvPr id="124" name="Google Shape;124;p2"/>
            <p:cNvSpPr txBox="1"/>
            <p:nvPr/>
          </p:nvSpPr>
          <p:spPr>
            <a:xfrm>
              <a:off x="40724" y="113799"/>
              <a:ext cx="6585385" cy="75278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GB" sz="2000" b="0" i="0" u="none" strike="noStrike" cap="none" dirty="0">
                  <a:solidFill>
                    <a:schemeClr val="lt1"/>
                  </a:solidFill>
                  <a:latin typeface="Helvetica" pitchFamily="2" charset="0"/>
                  <a:ea typeface="Calibri"/>
                  <a:cs typeface="Calibri"/>
                  <a:sym typeface="Calibri"/>
                </a:rPr>
                <a:t>Background context to the SDG ‘Zero Hunger’</a:t>
              </a:r>
              <a:endParaRPr sz="1200" dirty="0">
                <a:latin typeface="Helvetica" pitchFamily="2" charset="0"/>
              </a:endParaRPr>
            </a:p>
          </p:txBody>
        </p:sp>
        <p:sp>
          <p:nvSpPr>
            <p:cNvPr id="125" name="Google Shape;125;p2"/>
            <p:cNvSpPr/>
            <p:nvPr/>
          </p:nvSpPr>
          <p:spPr>
            <a:xfrm>
              <a:off x="0" y="967783"/>
              <a:ext cx="6666833" cy="834228"/>
            </a:xfrm>
            <a:prstGeom prst="roundRect">
              <a:avLst>
                <a:gd name="adj" fmla="val 16667"/>
              </a:avLst>
            </a:prstGeom>
            <a:gradFill>
              <a:gsLst>
                <a:gs pos="0">
                  <a:srgbClr val="DF8763"/>
                </a:gs>
                <a:gs pos="50000">
                  <a:srgbClr val="E27542"/>
                </a:gs>
                <a:gs pos="100000">
                  <a:srgbClr val="CF6432"/>
                </a:gs>
              </a:gsLst>
              <a:lin ang="54000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Helvetica" pitchFamily="2" charset="0"/>
              </a:endParaRPr>
            </a:p>
          </p:txBody>
        </p:sp>
        <p:sp>
          <p:nvSpPr>
            <p:cNvPr id="126" name="Google Shape;126;p2"/>
            <p:cNvSpPr txBox="1"/>
            <p:nvPr/>
          </p:nvSpPr>
          <p:spPr>
            <a:xfrm>
              <a:off x="40724" y="1008507"/>
              <a:ext cx="6585385" cy="75278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GB" sz="2000" b="0" i="0" u="none" strike="noStrike" cap="none" dirty="0">
                  <a:solidFill>
                    <a:schemeClr val="lt1"/>
                  </a:solidFill>
                  <a:latin typeface="Helvetica" pitchFamily="2" charset="0"/>
                  <a:ea typeface="Calibri"/>
                  <a:cs typeface="Calibri"/>
                  <a:sym typeface="Calibri"/>
                </a:rPr>
                <a:t>What are the major agriculturally-driven sustainability issues?</a:t>
              </a:r>
              <a:endParaRPr sz="2000" b="0" i="0" u="none" strike="noStrike" cap="none" dirty="0">
                <a:solidFill>
                  <a:schemeClr val="lt1"/>
                </a:solidFill>
                <a:latin typeface="Helvetica" pitchFamily="2" charset="0"/>
                <a:ea typeface="Calibri"/>
                <a:cs typeface="Calibri"/>
                <a:sym typeface="Calibri"/>
              </a:endParaRPr>
            </a:p>
          </p:txBody>
        </p:sp>
        <p:sp>
          <p:nvSpPr>
            <p:cNvPr id="127" name="Google Shape;127;p2"/>
            <p:cNvSpPr/>
            <p:nvPr/>
          </p:nvSpPr>
          <p:spPr>
            <a:xfrm>
              <a:off x="0" y="1862491"/>
              <a:ext cx="6666833" cy="834228"/>
            </a:xfrm>
            <a:prstGeom prst="roundRect">
              <a:avLst>
                <a:gd name="adj" fmla="val 16667"/>
              </a:avLst>
            </a:prstGeom>
            <a:gradFill>
              <a:gsLst>
                <a:gs pos="0">
                  <a:srgbClr val="D08A76"/>
                </a:gs>
                <a:gs pos="50000">
                  <a:srgbClr val="CF795D"/>
                </a:gs>
                <a:gs pos="100000">
                  <a:srgbClr val="BD674B"/>
                </a:gs>
              </a:gsLst>
              <a:lin ang="54000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Helvetica" pitchFamily="2" charset="0"/>
              </a:endParaRPr>
            </a:p>
          </p:txBody>
        </p:sp>
        <p:sp>
          <p:nvSpPr>
            <p:cNvPr id="128" name="Google Shape;128;p2"/>
            <p:cNvSpPr txBox="1"/>
            <p:nvPr/>
          </p:nvSpPr>
          <p:spPr>
            <a:xfrm>
              <a:off x="40724" y="1903215"/>
              <a:ext cx="6585385" cy="75278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GB" sz="2000" b="0" i="0" u="none" strike="noStrike" cap="none" dirty="0">
                  <a:solidFill>
                    <a:schemeClr val="lt1"/>
                  </a:solidFill>
                  <a:latin typeface="Helvetica" pitchFamily="2" charset="0"/>
                  <a:ea typeface="Calibri"/>
                  <a:cs typeface="Calibri"/>
                  <a:sym typeface="Calibri"/>
                </a:rPr>
                <a:t>What are the underpinning mechanisms that lead to soil degradation?</a:t>
              </a:r>
              <a:endParaRPr sz="2000" b="0" i="0" u="none" strike="noStrike" cap="none" dirty="0">
                <a:solidFill>
                  <a:schemeClr val="lt1"/>
                </a:solidFill>
                <a:latin typeface="Helvetica" pitchFamily="2" charset="0"/>
                <a:ea typeface="Calibri"/>
                <a:cs typeface="Calibri"/>
                <a:sym typeface="Calibri"/>
              </a:endParaRPr>
            </a:p>
          </p:txBody>
        </p:sp>
        <p:sp>
          <p:nvSpPr>
            <p:cNvPr id="129" name="Google Shape;129;p2"/>
            <p:cNvSpPr/>
            <p:nvPr/>
          </p:nvSpPr>
          <p:spPr>
            <a:xfrm>
              <a:off x="0" y="2757200"/>
              <a:ext cx="6666833" cy="834228"/>
            </a:xfrm>
            <a:prstGeom prst="roundRect">
              <a:avLst>
                <a:gd name="adj" fmla="val 16667"/>
              </a:avLst>
            </a:prstGeom>
            <a:gradFill>
              <a:gsLst>
                <a:gs pos="0">
                  <a:srgbClr val="C39289"/>
                </a:gs>
                <a:gs pos="50000">
                  <a:srgbClr val="BF8275"/>
                </a:gs>
                <a:gs pos="100000">
                  <a:srgbClr val="AB7064"/>
                </a:gs>
              </a:gsLst>
              <a:lin ang="54000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Helvetica" pitchFamily="2" charset="0"/>
              </a:endParaRPr>
            </a:p>
          </p:txBody>
        </p:sp>
        <p:sp>
          <p:nvSpPr>
            <p:cNvPr id="130" name="Google Shape;130;p2"/>
            <p:cNvSpPr txBox="1"/>
            <p:nvPr/>
          </p:nvSpPr>
          <p:spPr>
            <a:xfrm>
              <a:off x="40724" y="2797924"/>
              <a:ext cx="6585385" cy="75278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GB" sz="2000" b="0" i="0" u="none" strike="noStrike" cap="none">
                  <a:solidFill>
                    <a:schemeClr val="lt1"/>
                  </a:solidFill>
                  <a:latin typeface="Helvetica" pitchFamily="2" charset="0"/>
                  <a:ea typeface="Calibri"/>
                  <a:cs typeface="Calibri"/>
                  <a:sym typeface="Calibri"/>
                </a:rPr>
                <a:t>What can be done to mitigate them?</a:t>
              </a:r>
              <a:endParaRPr sz="2000" b="0" i="0" u="none" strike="noStrike" cap="none">
                <a:solidFill>
                  <a:schemeClr val="lt1"/>
                </a:solidFill>
                <a:latin typeface="Helvetica" pitchFamily="2" charset="0"/>
                <a:ea typeface="Calibri"/>
                <a:cs typeface="Calibri"/>
                <a:sym typeface="Calibri"/>
              </a:endParaRPr>
            </a:p>
          </p:txBody>
        </p:sp>
        <p:sp>
          <p:nvSpPr>
            <p:cNvPr id="131" name="Google Shape;131;p2"/>
            <p:cNvSpPr/>
            <p:nvPr/>
          </p:nvSpPr>
          <p:spPr>
            <a:xfrm>
              <a:off x="0" y="3651908"/>
              <a:ext cx="6666833" cy="834228"/>
            </a:xfrm>
            <a:prstGeom prst="roundRect">
              <a:avLst>
                <a:gd name="adj" fmla="val 16667"/>
              </a:avLst>
            </a:prstGeom>
            <a:gradFill>
              <a:gsLst>
                <a:gs pos="0">
                  <a:srgbClr val="B79E9B"/>
                </a:gs>
                <a:gs pos="50000">
                  <a:srgbClr val="B0918E"/>
                </a:gs>
                <a:gs pos="100000">
                  <a:srgbClr val="9D7E7B"/>
                </a:gs>
              </a:gsLst>
              <a:lin ang="54000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Helvetica" pitchFamily="2" charset="0"/>
              </a:endParaRPr>
            </a:p>
          </p:txBody>
        </p:sp>
        <p:sp>
          <p:nvSpPr>
            <p:cNvPr id="132" name="Google Shape;132;p2"/>
            <p:cNvSpPr txBox="1"/>
            <p:nvPr/>
          </p:nvSpPr>
          <p:spPr>
            <a:xfrm>
              <a:off x="40724" y="3692632"/>
              <a:ext cx="6585385" cy="75278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GB" sz="2000" b="0" i="0" u="none" strike="noStrike" cap="none">
                  <a:solidFill>
                    <a:schemeClr val="lt1"/>
                  </a:solidFill>
                  <a:latin typeface="Helvetica" pitchFamily="2" charset="0"/>
                  <a:ea typeface="Calibri"/>
                  <a:cs typeface="Calibri"/>
                  <a:sym typeface="Calibri"/>
                </a:rPr>
                <a:t>How do plants get resources?</a:t>
              </a:r>
              <a:endParaRPr sz="2000" b="0" i="0" u="none" strike="noStrike" cap="none">
                <a:solidFill>
                  <a:schemeClr val="lt1"/>
                </a:solidFill>
                <a:latin typeface="Helvetica" pitchFamily="2" charset="0"/>
                <a:ea typeface="Calibri"/>
                <a:cs typeface="Calibri"/>
                <a:sym typeface="Calibri"/>
              </a:endParaRPr>
            </a:p>
          </p:txBody>
        </p:sp>
        <p:sp>
          <p:nvSpPr>
            <p:cNvPr id="133" name="Google Shape;133;p2"/>
            <p:cNvSpPr/>
            <p:nvPr/>
          </p:nvSpPr>
          <p:spPr>
            <a:xfrm>
              <a:off x="0" y="4546616"/>
              <a:ext cx="6666833" cy="834228"/>
            </a:xfrm>
            <a:prstGeom prst="roundRect">
              <a:avLst>
                <a:gd name="adj" fmla="val 16667"/>
              </a:avLst>
            </a:prstGeom>
            <a:gradFill>
              <a:gsLst>
                <a:gs pos="0">
                  <a:srgbClr val="AEAEAE"/>
                </a:gs>
                <a:gs pos="50000">
                  <a:srgbClr val="A4A4A4"/>
                </a:gs>
                <a:gs pos="100000">
                  <a:srgbClr val="909090"/>
                </a:gs>
              </a:gsLst>
              <a:lin ang="54000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Helvetica" pitchFamily="2" charset="0"/>
              </a:endParaRPr>
            </a:p>
          </p:txBody>
        </p:sp>
        <p:sp>
          <p:nvSpPr>
            <p:cNvPr id="134" name="Google Shape;134;p2"/>
            <p:cNvSpPr txBox="1"/>
            <p:nvPr/>
          </p:nvSpPr>
          <p:spPr>
            <a:xfrm>
              <a:off x="40724" y="4587340"/>
              <a:ext cx="6585385" cy="752780"/>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GB" sz="2000" b="0" i="0" u="none" strike="noStrike" cap="none" dirty="0">
                  <a:solidFill>
                    <a:schemeClr val="lt1"/>
                  </a:solidFill>
                  <a:latin typeface="Helvetica" pitchFamily="2" charset="0"/>
                  <a:ea typeface="Calibri"/>
                  <a:cs typeface="Calibri"/>
                  <a:sym typeface="Calibri"/>
                </a:rPr>
                <a:t>Partnerships: ‘mutualistic’ relationships between plants and other organisms (bacteria and fungi)</a:t>
              </a:r>
              <a:endParaRPr sz="2000" b="0" i="0" u="none" strike="noStrike" cap="none" dirty="0">
                <a:solidFill>
                  <a:schemeClr val="lt1"/>
                </a:solidFill>
                <a:latin typeface="Helvetica" pitchFamily="2" charset="0"/>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55422E-593F-4841-A43E-C1424FA6A819}"/>
              </a:ext>
            </a:extLst>
          </p:cNvPr>
          <p:cNvSpPr txBox="1"/>
          <p:nvPr/>
        </p:nvSpPr>
        <p:spPr>
          <a:xfrm>
            <a:off x="6877153" y="574650"/>
            <a:ext cx="3589049" cy="5378395"/>
          </a:xfrm>
          <a:prstGeom prst="rect">
            <a:avLst/>
          </a:prstGeom>
          <a:noFill/>
        </p:spPr>
        <p:txBody>
          <a:bodyPr wrap="square" lIns="91440" tIns="45720" rIns="91440" bIns="45720" rtlCol="0" anchor="t">
            <a:spAutoFit/>
          </a:bodyPr>
          <a:lstStyle/>
          <a:p>
            <a:r>
              <a:rPr lang="en-GB" sz="2000" b="1">
                <a:solidFill>
                  <a:srgbClr val="CC9931"/>
                </a:solidFill>
                <a:latin typeface="Helvetica"/>
                <a:cs typeface="Helvetica"/>
              </a:rPr>
              <a:t>Key environmental science related challenges:</a:t>
            </a:r>
          </a:p>
          <a:p>
            <a:pPr marL="171450" indent="-171450">
              <a:buChar char="•"/>
            </a:pPr>
            <a:endParaRPr lang="en-GB" sz="1800">
              <a:latin typeface="Helvetica"/>
              <a:cs typeface="Helvetica"/>
            </a:endParaRPr>
          </a:p>
          <a:p>
            <a:pPr marL="171450" indent="-171450">
              <a:buChar char="•"/>
            </a:pPr>
            <a:r>
              <a:rPr lang="en-GB" sz="1800">
                <a:latin typeface="Helvetica"/>
                <a:cs typeface="Helvetica"/>
              </a:rPr>
              <a:t>More food needed, using </a:t>
            </a:r>
            <a:r>
              <a:rPr lang="en-GB" sz="1800" b="1">
                <a:latin typeface="Helvetica"/>
                <a:cs typeface="Helvetica"/>
              </a:rPr>
              <a:t>fewer resources</a:t>
            </a:r>
          </a:p>
          <a:p>
            <a:pPr marL="171450" indent="-171450">
              <a:buChar char="•"/>
            </a:pPr>
            <a:endParaRPr lang="en-GB" sz="1800">
              <a:latin typeface="Helvetica"/>
              <a:cs typeface="Helvetica"/>
            </a:endParaRPr>
          </a:p>
          <a:p>
            <a:pPr marL="171450" indent="-171450">
              <a:buChar char="•"/>
            </a:pPr>
            <a:r>
              <a:rPr lang="en-GB" sz="1800" b="1">
                <a:latin typeface="Helvetica"/>
                <a:cs typeface="Helvetica"/>
              </a:rPr>
              <a:t>Reduce environmental impact </a:t>
            </a:r>
            <a:r>
              <a:rPr lang="en-GB" sz="1800">
                <a:latin typeface="Helvetica"/>
                <a:cs typeface="Helvetica"/>
              </a:rPr>
              <a:t>of growing and distributing this food</a:t>
            </a:r>
          </a:p>
          <a:p>
            <a:pPr marL="171450" indent="-171450">
              <a:buChar char="•"/>
            </a:pPr>
            <a:endParaRPr lang="en-GB" sz="1800">
              <a:latin typeface="Helvetica"/>
              <a:cs typeface="Helvetica"/>
            </a:endParaRPr>
          </a:p>
          <a:p>
            <a:pPr marL="171450" indent="-171450">
              <a:buChar char="•"/>
            </a:pPr>
            <a:r>
              <a:rPr lang="en-GB" sz="1800">
                <a:latin typeface="Helvetica"/>
                <a:cs typeface="Helvetica"/>
              </a:rPr>
              <a:t>Identify new ways to grow food, extract plant-growth </a:t>
            </a:r>
            <a:r>
              <a:rPr lang="en-GB" sz="1800" b="1">
                <a:latin typeface="Helvetica"/>
                <a:cs typeface="Helvetica"/>
              </a:rPr>
              <a:t>limiting resources</a:t>
            </a:r>
          </a:p>
          <a:p>
            <a:pPr marL="171450" indent="-171450">
              <a:buChar char="•"/>
            </a:pPr>
            <a:endParaRPr lang="en-GB" sz="1800">
              <a:latin typeface="Helvetica"/>
              <a:cs typeface="Helvetica"/>
            </a:endParaRPr>
          </a:p>
          <a:p>
            <a:pPr marL="171450" indent="-171450">
              <a:buChar char="•"/>
            </a:pPr>
            <a:r>
              <a:rPr lang="en-GB" sz="1800">
                <a:latin typeface="Helvetica"/>
                <a:cs typeface="Helvetica"/>
              </a:rPr>
              <a:t>Ensure farming system</a:t>
            </a:r>
            <a:r>
              <a:rPr lang="en-GB" sz="2000">
                <a:latin typeface="Helvetica"/>
                <a:cs typeface="Helvetica"/>
              </a:rPr>
              <a:t>s</a:t>
            </a:r>
            <a:r>
              <a:rPr lang="en-GB" sz="1800">
                <a:latin typeface="Helvetica"/>
                <a:cs typeface="Helvetica"/>
              </a:rPr>
              <a:t> are </a:t>
            </a:r>
            <a:r>
              <a:rPr lang="en-GB" sz="1800" b="1">
                <a:latin typeface="Helvetica"/>
                <a:cs typeface="Helvetica"/>
              </a:rPr>
              <a:t>resilient</a:t>
            </a:r>
            <a:r>
              <a:rPr lang="en-GB" sz="1800">
                <a:latin typeface="Helvetica"/>
                <a:cs typeface="Helvetica"/>
              </a:rPr>
              <a:t> to perturbations and pests</a:t>
            </a:r>
          </a:p>
          <a:p>
            <a:endParaRPr lang="en-GB" sz="1050">
              <a:latin typeface="Helvetica"/>
              <a:cs typeface="Helvetica"/>
            </a:endParaRPr>
          </a:p>
          <a:p>
            <a:endParaRPr lang="en-GB" sz="1050">
              <a:latin typeface="Helvetica"/>
              <a:cs typeface="Helvetica"/>
            </a:endParaRPr>
          </a:p>
          <a:p>
            <a:endParaRPr lang="en-GB" sz="1050">
              <a:latin typeface="Helvetica"/>
              <a:cs typeface="Helvetica"/>
            </a:endParaRPr>
          </a:p>
        </p:txBody>
      </p:sp>
      <p:pic>
        <p:nvPicPr>
          <p:cNvPr id="2" name="Picture 1" descr="A yellow and white infographic&#10;&#10;AI-generated content may be incorrect.">
            <a:extLst>
              <a:ext uri="{FF2B5EF4-FFF2-40B4-BE49-F238E27FC236}">
                <a16:creationId xmlns:a16="http://schemas.microsoft.com/office/drawing/2014/main" id="{A23000B1-DE5F-1CC9-A77D-9FEDD5171C6C}"/>
              </a:ext>
            </a:extLst>
          </p:cNvPr>
          <p:cNvPicPr>
            <a:picLocks noChangeAspect="1"/>
          </p:cNvPicPr>
          <p:nvPr/>
        </p:nvPicPr>
        <p:blipFill>
          <a:blip r:embed="rId2"/>
          <a:srcRect l="4494" t="5648" r="4213" b="1216"/>
          <a:stretch/>
        </p:blipFill>
        <p:spPr>
          <a:xfrm>
            <a:off x="1712561" y="81013"/>
            <a:ext cx="4897923" cy="6690828"/>
          </a:xfrm>
          <a:prstGeom prst="rect">
            <a:avLst/>
          </a:prstGeom>
        </p:spPr>
      </p:pic>
      <p:sp>
        <p:nvSpPr>
          <p:cNvPr id="3" name="TextBox 2">
            <a:extLst>
              <a:ext uri="{FF2B5EF4-FFF2-40B4-BE49-F238E27FC236}">
                <a16:creationId xmlns:a16="http://schemas.microsoft.com/office/drawing/2014/main" id="{B91C95DD-9D91-8BBF-12F4-48868D6AD028}"/>
              </a:ext>
            </a:extLst>
          </p:cNvPr>
          <p:cNvSpPr txBox="1"/>
          <p:nvPr/>
        </p:nvSpPr>
        <p:spPr>
          <a:xfrm>
            <a:off x="7433492" y="6228423"/>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EB1731"/>
                </a:solidFill>
              </a:rPr>
              <a:t>Regression</a:t>
            </a:r>
          </a:p>
        </p:txBody>
      </p:sp>
    </p:spTree>
    <p:extLst>
      <p:ext uri="{BB962C8B-B14F-4D97-AF65-F5344CB8AC3E}">
        <p14:creationId xmlns:p14="http://schemas.microsoft.com/office/powerpoint/2010/main" val="246882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7" name="Google Shape;147;p4"/>
          <p:cNvPicPr preferRelativeResize="0"/>
          <p:nvPr/>
        </p:nvPicPr>
        <p:blipFill rotWithShape="1">
          <a:blip r:embed="rId3">
            <a:alphaModFix/>
          </a:blip>
          <a:srcRect/>
          <a:stretch/>
        </p:blipFill>
        <p:spPr>
          <a:xfrm>
            <a:off x="1580444" y="152400"/>
            <a:ext cx="9561690" cy="6705600"/>
          </a:xfrm>
          <a:prstGeom prst="rect">
            <a:avLst/>
          </a:prstGeom>
          <a:noFill/>
          <a:ln>
            <a:noFill/>
          </a:ln>
        </p:spPr>
      </p:pic>
      <p:sp>
        <p:nvSpPr>
          <p:cNvPr id="2" name="TextBox 1">
            <a:extLst>
              <a:ext uri="{FF2B5EF4-FFF2-40B4-BE49-F238E27FC236}">
                <a16:creationId xmlns:a16="http://schemas.microsoft.com/office/drawing/2014/main" id="{13D92E3B-5D57-BCC6-61C0-673244767F3A}"/>
              </a:ext>
            </a:extLst>
          </p:cNvPr>
          <p:cNvSpPr txBox="1"/>
          <p:nvPr/>
        </p:nvSpPr>
        <p:spPr>
          <a:xfrm>
            <a:off x="8022447" y="856201"/>
            <a:ext cx="1715912" cy="523220"/>
          </a:xfrm>
          <a:prstGeom prst="rect">
            <a:avLst/>
          </a:prstGeom>
          <a:noFill/>
        </p:spPr>
        <p:txBody>
          <a:bodyPr wrap="square" rtlCol="0">
            <a:spAutoFit/>
          </a:bodyPr>
          <a:lstStyle/>
          <a:p>
            <a:pPr algn="ctr"/>
            <a:r>
              <a:rPr lang="en-US" dirty="0"/>
              <a:t>today’s population:</a:t>
            </a:r>
            <a:br>
              <a:rPr lang="en-US" dirty="0"/>
            </a:br>
            <a:r>
              <a:rPr lang="en-US" b="1" dirty="0">
                <a:solidFill>
                  <a:srgbClr val="C00000"/>
                </a:solidFill>
              </a:rPr>
              <a:t>8.2 billion </a:t>
            </a:r>
          </a:p>
        </p:txBody>
      </p:sp>
      <p:sp>
        <p:nvSpPr>
          <p:cNvPr id="4" name="TextBox 3">
            <a:extLst>
              <a:ext uri="{FF2B5EF4-FFF2-40B4-BE49-F238E27FC236}">
                <a16:creationId xmlns:a16="http://schemas.microsoft.com/office/drawing/2014/main" id="{BD59DE3F-8861-2035-9B39-E640CD00F779}"/>
              </a:ext>
            </a:extLst>
          </p:cNvPr>
          <p:cNvSpPr txBox="1"/>
          <p:nvPr/>
        </p:nvSpPr>
        <p:spPr>
          <a:xfrm>
            <a:off x="9061026" y="1773423"/>
            <a:ext cx="346570" cy="646331"/>
          </a:xfrm>
          <a:prstGeom prst="rect">
            <a:avLst/>
          </a:prstGeom>
          <a:noFill/>
        </p:spPr>
        <p:txBody>
          <a:bodyPr wrap="none" rtlCol="0">
            <a:spAutoFit/>
          </a:bodyPr>
          <a:lstStyle/>
          <a:p>
            <a:r>
              <a:rPr lang="en-US" sz="3600" dirty="0">
                <a:solidFill>
                  <a:srgbClr val="C00000"/>
                </a:solidFill>
              </a:rPr>
              <a:t>•</a:t>
            </a:r>
            <a:endParaRPr lang="en-US" dirty="0">
              <a:solidFill>
                <a:srgbClr val="C00000"/>
              </a:solidFill>
            </a:endParaRPr>
          </a:p>
        </p:txBody>
      </p:sp>
      <p:cxnSp>
        <p:nvCxnSpPr>
          <p:cNvPr id="7" name="Curved Connector 6">
            <a:extLst>
              <a:ext uri="{FF2B5EF4-FFF2-40B4-BE49-F238E27FC236}">
                <a16:creationId xmlns:a16="http://schemas.microsoft.com/office/drawing/2014/main" id="{7B35ABFA-22ED-D8B6-8B38-FA49BC10A476}"/>
              </a:ext>
            </a:extLst>
          </p:cNvPr>
          <p:cNvCxnSpPr>
            <a:cxnSpLocks/>
          </p:cNvCxnSpPr>
          <p:nvPr/>
        </p:nvCxnSpPr>
        <p:spPr>
          <a:xfrm rot="16200000" flipH="1">
            <a:off x="8526668" y="1364575"/>
            <a:ext cx="669934" cy="631892"/>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6218768" y="237067"/>
            <a:ext cx="5645854" cy="115146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GB" sz="3200" b="1" dirty="0">
                <a:solidFill>
                  <a:srgbClr val="C00000"/>
                </a:solidFill>
                <a:latin typeface="+mj-lt"/>
              </a:rPr>
              <a:t>The </a:t>
            </a:r>
            <a:r>
              <a:rPr lang="en-GB" sz="3200" b="1" dirty="0" err="1">
                <a:solidFill>
                  <a:srgbClr val="C00000"/>
                </a:solidFill>
                <a:latin typeface="+mj-lt"/>
              </a:rPr>
              <a:t>agri</a:t>
            </a:r>
            <a:r>
              <a:rPr lang="en-GB" sz="3200" b="1" dirty="0">
                <a:solidFill>
                  <a:srgbClr val="C00000"/>
                </a:solidFill>
                <a:latin typeface="+mj-lt"/>
              </a:rPr>
              <a:t> revolution</a:t>
            </a:r>
            <a:br>
              <a:rPr lang="en-GB" sz="2800" i="1" dirty="0">
                <a:solidFill>
                  <a:srgbClr val="C00000"/>
                </a:solidFill>
                <a:latin typeface="+mj-lt"/>
              </a:rPr>
            </a:br>
            <a:r>
              <a:rPr lang="en-GB" sz="2800" i="1" dirty="0">
                <a:solidFill>
                  <a:srgbClr val="C00000"/>
                </a:solidFill>
                <a:latin typeface="+mj-lt"/>
              </a:rPr>
              <a:t>(…and a hint at the future?)</a:t>
            </a:r>
            <a:endParaRPr sz="4000" i="1" dirty="0">
              <a:solidFill>
                <a:srgbClr val="C00000"/>
              </a:solidFill>
              <a:latin typeface="+mj-lt"/>
            </a:endParaRPr>
          </a:p>
        </p:txBody>
      </p:sp>
      <p:pic>
        <p:nvPicPr>
          <p:cNvPr id="153" name="Google Shape;153;p5"/>
          <p:cNvPicPr preferRelativeResize="0"/>
          <p:nvPr/>
        </p:nvPicPr>
        <p:blipFill rotWithShape="1">
          <a:blip r:embed="rId3">
            <a:alphaModFix/>
          </a:blip>
          <a:srcRect/>
          <a:stretch/>
        </p:blipFill>
        <p:spPr>
          <a:xfrm>
            <a:off x="1016001" y="17428"/>
            <a:ext cx="4144037" cy="6840572"/>
          </a:xfrm>
          <a:prstGeom prst="rect">
            <a:avLst/>
          </a:prstGeom>
          <a:noFill/>
          <a:ln>
            <a:noFill/>
          </a:ln>
        </p:spPr>
      </p:pic>
      <p:sp>
        <p:nvSpPr>
          <p:cNvPr id="154" name="Google Shape;154;p5"/>
          <p:cNvSpPr txBox="1"/>
          <p:nvPr/>
        </p:nvSpPr>
        <p:spPr>
          <a:xfrm>
            <a:off x="6754990" y="1614312"/>
            <a:ext cx="4573410" cy="47935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1F9B79"/>
                </a:solidFill>
                <a:latin typeface="+mj-lt"/>
                <a:ea typeface="Calibri"/>
                <a:cs typeface="Calibri"/>
                <a:sym typeface="Calibri"/>
              </a:rPr>
              <a:t>Some key events:</a:t>
            </a:r>
            <a:endParaRPr sz="1600" dirty="0">
              <a:solidFill>
                <a:srgbClr val="1F9B79"/>
              </a:solidFill>
              <a:latin typeface="+mj-lt"/>
            </a:endParaRPr>
          </a:p>
          <a:p>
            <a:pPr marL="0" marR="0" lvl="0" indent="0" algn="l" rtl="0">
              <a:spcBef>
                <a:spcPts val="0"/>
              </a:spcBef>
              <a:spcAft>
                <a:spcPts val="0"/>
              </a:spcAft>
              <a:buNone/>
            </a:pPr>
            <a:endParaRPr lang="en-GB"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Domestication of livestock and crops</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Labour availability</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Landscape modification</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Rotations</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Efficient tools</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Policy incentives</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Mechanisation</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Crop breeding</a:t>
            </a:r>
            <a:endParaRPr sz="1600" dirty="0">
              <a:latin typeface="+mj-lt"/>
            </a:endParaRPr>
          </a:p>
          <a:p>
            <a:pPr marL="0" marR="0" lvl="0" indent="0" algn="l" rtl="0">
              <a:spcBef>
                <a:spcPts val="0"/>
              </a:spcBef>
              <a:spcAft>
                <a:spcPts val="0"/>
              </a:spcAft>
              <a:buNone/>
            </a:pPr>
            <a:endParaRPr lang="en-GB" sz="1050" dirty="0">
              <a:solidFill>
                <a:schemeClr val="dk1"/>
              </a:solidFill>
              <a:latin typeface="+mj-lt"/>
              <a:ea typeface="Calibri"/>
              <a:cs typeface="Calibri"/>
              <a:sym typeface="Calibri"/>
            </a:endParaRPr>
          </a:p>
          <a:p>
            <a:pPr marL="0" marR="0" lvl="0" indent="0" algn="l" rtl="0">
              <a:spcBef>
                <a:spcPts val="0"/>
              </a:spcBef>
              <a:spcAft>
                <a:spcPts val="0"/>
              </a:spcAft>
              <a:buNone/>
            </a:pPr>
            <a:r>
              <a:rPr lang="en-GB" sz="2000" dirty="0">
                <a:solidFill>
                  <a:schemeClr val="dk1"/>
                </a:solidFill>
                <a:latin typeface="+mj-lt"/>
                <a:ea typeface="Calibri"/>
                <a:cs typeface="Calibri"/>
                <a:sym typeface="Calibri"/>
              </a:rPr>
              <a:t>Artificial inputs (fertilisers, pesticides)</a:t>
            </a:r>
            <a:endParaRPr sz="1600" dirty="0">
              <a:latin typeface="+mj-lt"/>
            </a:endParaRPr>
          </a:p>
          <a:p>
            <a:pPr marL="0" marR="0" lvl="0" indent="0" algn="l" rtl="0">
              <a:spcBef>
                <a:spcPts val="0"/>
              </a:spcBef>
              <a:spcAft>
                <a:spcPts val="0"/>
              </a:spcAft>
              <a:buNone/>
            </a:pPr>
            <a:endParaRPr sz="1050" dirty="0">
              <a:solidFill>
                <a:schemeClr val="dk1"/>
              </a:solidFill>
              <a:latin typeface="+mj-lt"/>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35669" y="-101118"/>
            <a:ext cx="10515600" cy="7684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sz="3200" b="1" dirty="0">
                <a:solidFill>
                  <a:srgbClr val="C00000"/>
                </a:solidFill>
                <a:latin typeface="+mj-lt"/>
              </a:rPr>
              <a:t>Soil</a:t>
            </a:r>
            <a:r>
              <a:rPr lang="en-GB" sz="3200" dirty="0">
                <a:solidFill>
                  <a:srgbClr val="C00000"/>
                </a:solidFill>
                <a:latin typeface="+mj-lt"/>
              </a:rPr>
              <a:t> – the foundation of life on Earth</a:t>
            </a:r>
            <a:endParaRPr sz="3200" dirty="0">
              <a:solidFill>
                <a:srgbClr val="C00000"/>
              </a:solidFill>
              <a:latin typeface="+mj-lt"/>
            </a:endParaRPr>
          </a:p>
        </p:txBody>
      </p:sp>
      <p:sp>
        <p:nvSpPr>
          <p:cNvPr id="160" name="Google Shape;160;p6"/>
          <p:cNvSpPr txBox="1">
            <a:spLocks noGrp="1"/>
          </p:cNvSpPr>
          <p:nvPr>
            <p:ph type="body" idx="1"/>
          </p:nvPr>
        </p:nvSpPr>
        <p:spPr>
          <a:xfrm>
            <a:off x="6898532" y="632298"/>
            <a:ext cx="5128098" cy="605513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7E6246"/>
              </a:buClr>
              <a:buSzPct val="100000"/>
              <a:buChar char="•"/>
            </a:pPr>
            <a:r>
              <a:rPr lang="en-GB" sz="2000" b="1" dirty="0">
                <a:solidFill>
                  <a:srgbClr val="1F9B79"/>
                </a:solidFill>
                <a:latin typeface="+mn-lt"/>
              </a:rPr>
              <a:t>Soils are alive! </a:t>
            </a:r>
            <a:r>
              <a:rPr lang="en-GB" sz="2000" dirty="0">
                <a:latin typeface="+mn-lt"/>
              </a:rPr>
              <a:t>They contain myriad organisms across all kingdoms of life</a:t>
            </a:r>
          </a:p>
          <a:p>
            <a:pPr marL="228600" lvl="0" indent="-228600" algn="l" rtl="0">
              <a:lnSpc>
                <a:spcPct val="90000"/>
              </a:lnSpc>
              <a:spcBef>
                <a:spcPts val="0"/>
              </a:spcBef>
              <a:spcAft>
                <a:spcPts val="0"/>
              </a:spcAft>
              <a:buClr>
                <a:srgbClr val="7E6246"/>
              </a:buClr>
              <a:buSzPct val="100000"/>
              <a:buChar char="•"/>
            </a:pPr>
            <a:endParaRPr sz="2000" dirty="0">
              <a:latin typeface="+mn-lt"/>
            </a:endParaRPr>
          </a:p>
          <a:p>
            <a:pPr marL="228600" lvl="0" indent="-228600" algn="l" rtl="0">
              <a:lnSpc>
                <a:spcPct val="90000"/>
              </a:lnSpc>
              <a:spcBef>
                <a:spcPts val="1000"/>
              </a:spcBef>
              <a:spcAft>
                <a:spcPts val="0"/>
              </a:spcAft>
              <a:buClr>
                <a:srgbClr val="7E6246"/>
              </a:buClr>
              <a:buSzPct val="100000"/>
              <a:buChar char="•"/>
            </a:pPr>
            <a:r>
              <a:rPr lang="en-GB" sz="2000" dirty="0">
                <a:latin typeface="+mn-lt"/>
              </a:rPr>
              <a:t>Soil also contains </a:t>
            </a:r>
            <a:r>
              <a:rPr lang="en-GB" sz="2000" b="1" dirty="0">
                <a:latin typeface="+mn-lt"/>
              </a:rPr>
              <a:t>water</a:t>
            </a:r>
            <a:r>
              <a:rPr lang="en-GB" sz="2000" dirty="0">
                <a:latin typeface="+mn-lt"/>
              </a:rPr>
              <a:t>, </a:t>
            </a:r>
            <a:r>
              <a:rPr lang="en-GB" sz="2000" b="1" dirty="0">
                <a:latin typeface="+mn-lt"/>
              </a:rPr>
              <a:t>gases</a:t>
            </a:r>
            <a:r>
              <a:rPr lang="en-GB" sz="2000" dirty="0">
                <a:latin typeface="+mn-lt"/>
              </a:rPr>
              <a:t>, </a:t>
            </a:r>
            <a:r>
              <a:rPr lang="en-GB" sz="2000" b="1" dirty="0">
                <a:latin typeface="+mn-lt"/>
              </a:rPr>
              <a:t>organic</a:t>
            </a:r>
            <a:r>
              <a:rPr lang="en-GB" sz="2000" dirty="0">
                <a:latin typeface="+mn-lt"/>
              </a:rPr>
              <a:t> </a:t>
            </a:r>
            <a:r>
              <a:rPr lang="en-GB" sz="2000" b="1" dirty="0">
                <a:latin typeface="+mn-lt"/>
              </a:rPr>
              <a:t>matter</a:t>
            </a:r>
            <a:r>
              <a:rPr lang="en-GB" sz="2000" dirty="0">
                <a:latin typeface="+mn-lt"/>
              </a:rPr>
              <a:t>, and </a:t>
            </a:r>
            <a:r>
              <a:rPr lang="en-GB" sz="2000" b="1" dirty="0">
                <a:latin typeface="+mn-lt"/>
              </a:rPr>
              <a:t>minerals</a:t>
            </a:r>
            <a:r>
              <a:rPr lang="en-GB" sz="2000" dirty="0">
                <a:latin typeface="+mn-lt"/>
              </a:rPr>
              <a:t>; they are chemically, physically and biologically diverse</a:t>
            </a:r>
          </a:p>
          <a:p>
            <a:pPr marL="228600" lvl="0" indent="-228600" algn="l" rtl="0">
              <a:lnSpc>
                <a:spcPct val="90000"/>
              </a:lnSpc>
              <a:spcBef>
                <a:spcPts val="1000"/>
              </a:spcBef>
              <a:spcAft>
                <a:spcPts val="0"/>
              </a:spcAft>
              <a:buClr>
                <a:srgbClr val="7E6246"/>
              </a:buClr>
              <a:buSzPct val="100000"/>
              <a:buChar char="•"/>
            </a:pPr>
            <a:endParaRPr lang="en-GB" sz="2000" dirty="0">
              <a:latin typeface="+mn-lt"/>
            </a:endParaRPr>
          </a:p>
          <a:p>
            <a:pPr marL="228600" lvl="0" indent="-228600" algn="l" rtl="0">
              <a:lnSpc>
                <a:spcPct val="90000"/>
              </a:lnSpc>
              <a:spcBef>
                <a:spcPts val="1000"/>
              </a:spcBef>
              <a:spcAft>
                <a:spcPts val="0"/>
              </a:spcAft>
              <a:buClr>
                <a:srgbClr val="7E6246"/>
              </a:buClr>
              <a:buSzPct val="100000"/>
              <a:buChar char="•"/>
            </a:pPr>
            <a:endParaRPr lang="en-GB" sz="2000" dirty="0">
              <a:latin typeface="+mn-lt"/>
            </a:endParaRPr>
          </a:p>
          <a:p>
            <a:pPr marL="228600" lvl="0" indent="-228600" algn="l" rtl="0">
              <a:lnSpc>
                <a:spcPct val="90000"/>
              </a:lnSpc>
              <a:spcBef>
                <a:spcPts val="1000"/>
              </a:spcBef>
              <a:spcAft>
                <a:spcPts val="0"/>
              </a:spcAft>
              <a:buClr>
                <a:srgbClr val="7E6246"/>
              </a:buClr>
              <a:buSzPct val="100000"/>
              <a:buChar char="•"/>
            </a:pPr>
            <a:endParaRPr lang="en-GB" sz="2000" dirty="0">
              <a:latin typeface="+mn-lt"/>
            </a:endParaRPr>
          </a:p>
          <a:p>
            <a:pPr marL="228600" lvl="0" indent="-228600" algn="l" rtl="0">
              <a:lnSpc>
                <a:spcPct val="90000"/>
              </a:lnSpc>
              <a:spcBef>
                <a:spcPts val="1000"/>
              </a:spcBef>
              <a:spcAft>
                <a:spcPts val="0"/>
              </a:spcAft>
              <a:buClr>
                <a:srgbClr val="7E6246"/>
              </a:buClr>
              <a:buSzPct val="100000"/>
              <a:buChar char="•"/>
            </a:pPr>
            <a:endParaRPr lang="en-GB" sz="2000" dirty="0">
              <a:latin typeface="+mn-lt"/>
            </a:endParaRPr>
          </a:p>
          <a:p>
            <a:pPr marL="228600" lvl="0" indent="-228600" algn="l" rtl="0">
              <a:lnSpc>
                <a:spcPct val="90000"/>
              </a:lnSpc>
              <a:spcBef>
                <a:spcPts val="1000"/>
              </a:spcBef>
              <a:spcAft>
                <a:spcPts val="0"/>
              </a:spcAft>
              <a:buClr>
                <a:srgbClr val="7E6246"/>
              </a:buClr>
              <a:buSzPct val="100000"/>
              <a:buChar char="•"/>
            </a:pPr>
            <a:endParaRPr sz="2000" dirty="0">
              <a:latin typeface="+mn-lt"/>
            </a:endParaRPr>
          </a:p>
          <a:p>
            <a:pPr marL="228600" lvl="0" indent="-228600" algn="l" rtl="0">
              <a:lnSpc>
                <a:spcPct val="90000"/>
              </a:lnSpc>
              <a:spcBef>
                <a:spcPts val="1000"/>
              </a:spcBef>
              <a:spcAft>
                <a:spcPts val="0"/>
              </a:spcAft>
              <a:buClr>
                <a:srgbClr val="7E6246"/>
              </a:buClr>
              <a:buSzPct val="100000"/>
              <a:buChar char="•"/>
            </a:pPr>
            <a:r>
              <a:rPr lang="en-GB" sz="2000" dirty="0">
                <a:latin typeface="+mn-lt"/>
              </a:rPr>
              <a:t>These properties mean soils can be grouped into a classification system</a:t>
            </a:r>
          </a:p>
          <a:p>
            <a:pPr marL="0" lvl="0" indent="0" algn="l" rtl="0">
              <a:lnSpc>
                <a:spcPct val="90000"/>
              </a:lnSpc>
              <a:spcBef>
                <a:spcPts val="1000"/>
              </a:spcBef>
              <a:spcAft>
                <a:spcPts val="0"/>
              </a:spcAft>
              <a:buClr>
                <a:srgbClr val="7E6246"/>
              </a:buClr>
              <a:buSzPct val="100000"/>
              <a:buNone/>
            </a:pPr>
            <a:endParaRPr sz="1000" dirty="0">
              <a:latin typeface="+mn-lt"/>
            </a:endParaRPr>
          </a:p>
          <a:p>
            <a:pPr marL="228600" lvl="0" indent="-228600" algn="l" rtl="0">
              <a:lnSpc>
                <a:spcPct val="90000"/>
              </a:lnSpc>
              <a:spcBef>
                <a:spcPts val="1000"/>
              </a:spcBef>
              <a:spcAft>
                <a:spcPts val="0"/>
              </a:spcAft>
              <a:buClr>
                <a:srgbClr val="7E6246"/>
              </a:buClr>
              <a:buSzPct val="100000"/>
              <a:buChar char="•"/>
            </a:pPr>
            <a:r>
              <a:rPr lang="en-GB" sz="2000" dirty="0">
                <a:latin typeface="+mn-lt"/>
              </a:rPr>
              <a:t>Soil organic matter is made up of thousands of different forms of carbon and other critical elements and is key to carbon storage</a:t>
            </a:r>
            <a:endParaRPr sz="2000" dirty="0">
              <a:latin typeface="+mn-lt"/>
            </a:endParaRPr>
          </a:p>
        </p:txBody>
      </p:sp>
      <p:pic>
        <p:nvPicPr>
          <p:cNvPr id="161" name="Google Shape;161;p6" descr="Why soil matters more to life than we realise"/>
          <p:cNvPicPr preferRelativeResize="0"/>
          <p:nvPr/>
        </p:nvPicPr>
        <p:blipFill rotWithShape="1">
          <a:blip r:embed="rId3">
            <a:alphaModFix/>
          </a:blip>
          <a:srcRect/>
          <a:stretch/>
        </p:blipFill>
        <p:spPr>
          <a:xfrm>
            <a:off x="97276" y="1621346"/>
            <a:ext cx="6605081" cy="3835872"/>
          </a:xfrm>
          <a:prstGeom prst="rect">
            <a:avLst/>
          </a:prstGeom>
          <a:noFill/>
          <a:ln>
            <a:noFill/>
          </a:ln>
        </p:spPr>
      </p:pic>
      <p:pic>
        <p:nvPicPr>
          <p:cNvPr id="2" name="Picture 1">
            <a:extLst>
              <a:ext uri="{FF2B5EF4-FFF2-40B4-BE49-F238E27FC236}">
                <a16:creationId xmlns:a16="http://schemas.microsoft.com/office/drawing/2014/main" id="{A38F1BA2-E714-6270-BFA5-550B012FBEB0}"/>
              </a:ext>
            </a:extLst>
          </p:cNvPr>
          <p:cNvPicPr>
            <a:picLocks noChangeAspect="1"/>
          </p:cNvPicPr>
          <p:nvPr/>
        </p:nvPicPr>
        <p:blipFill>
          <a:blip r:embed="rId4"/>
          <a:srcRect l="7566" t="11473" r="4098" b="7403"/>
          <a:stretch/>
        </p:blipFill>
        <p:spPr>
          <a:xfrm>
            <a:off x="8188260" y="2567828"/>
            <a:ext cx="3280652" cy="1722343"/>
          </a:xfrm>
          <a:prstGeom prst="rect">
            <a:avLst/>
          </a:prstGeom>
        </p:spPr>
      </p:pic>
      <p:pic>
        <p:nvPicPr>
          <p:cNvPr id="3074" name="Picture 2" descr="520 Carbon Sequestration Icon Royalty-Free Photos and Stock ...">
            <a:extLst>
              <a:ext uri="{FF2B5EF4-FFF2-40B4-BE49-F238E27FC236}">
                <a16:creationId xmlns:a16="http://schemas.microsoft.com/office/drawing/2014/main" id="{80AF546A-F965-07C7-90C2-20E0941BFF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395" t="21702" r="14350" b="22365"/>
          <a:stretch/>
        </p:blipFill>
        <p:spPr bwMode="auto">
          <a:xfrm>
            <a:off x="11421600" y="6190632"/>
            <a:ext cx="605030" cy="5266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grpSp>
        <p:nvGrpSpPr>
          <p:cNvPr id="7" name="Group 6">
            <a:extLst>
              <a:ext uri="{FF2B5EF4-FFF2-40B4-BE49-F238E27FC236}">
                <a16:creationId xmlns:a16="http://schemas.microsoft.com/office/drawing/2014/main" id="{88358675-1487-3B77-9BC9-0D0E6DE38DA4}"/>
              </a:ext>
            </a:extLst>
          </p:cNvPr>
          <p:cNvGrpSpPr/>
          <p:nvPr/>
        </p:nvGrpSpPr>
        <p:grpSpPr>
          <a:xfrm>
            <a:off x="6211446" y="680866"/>
            <a:ext cx="4751286" cy="3083742"/>
            <a:chOff x="6573331" y="1340852"/>
            <a:chExt cx="4418924" cy="2795527"/>
          </a:xfrm>
        </p:grpSpPr>
        <p:pic>
          <p:nvPicPr>
            <p:cNvPr id="169" name="Google Shape;169;p7"/>
            <p:cNvPicPr preferRelativeResize="0"/>
            <p:nvPr/>
          </p:nvPicPr>
          <p:blipFill rotWithShape="1">
            <a:blip r:embed="rId3">
              <a:alphaModFix/>
            </a:blip>
            <a:srcRect t="8237"/>
            <a:stretch/>
          </p:blipFill>
          <p:spPr>
            <a:xfrm>
              <a:off x="6573331" y="1340852"/>
              <a:ext cx="4418924" cy="2795527"/>
            </a:xfrm>
            <a:prstGeom prst="rect">
              <a:avLst/>
            </a:prstGeom>
            <a:noFill/>
            <a:ln>
              <a:noFill/>
            </a:ln>
          </p:spPr>
        </p:pic>
        <p:pic>
          <p:nvPicPr>
            <p:cNvPr id="4098" name="Picture 2" descr="The Grapes of Wrath">
              <a:extLst>
                <a:ext uri="{FF2B5EF4-FFF2-40B4-BE49-F238E27FC236}">
                  <a16:creationId xmlns:a16="http://schemas.microsoft.com/office/drawing/2014/main" id="{A35CDE73-27B4-0618-8259-3396712343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6867" y="2324948"/>
              <a:ext cx="1083998" cy="1767656"/>
            </a:xfrm>
            <a:prstGeom prst="rect">
              <a:avLst/>
            </a:prstGeom>
            <a:noFill/>
            <a:extLst>
              <a:ext uri="{909E8E84-426E-40DD-AFC4-6F175D3DCCD1}">
                <a14:hiddenFill xmlns:a14="http://schemas.microsoft.com/office/drawing/2010/main">
                  <a:solidFill>
                    <a:srgbClr val="FFFFFF"/>
                  </a:solidFill>
                </a14:hiddenFill>
              </a:ext>
            </a:extLst>
          </p:spPr>
        </p:pic>
      </p:grpSp>
      <p:sp>
        <p:nvSpPr>
          <p:cNvPr id="166" name="Google Shape;166;p7"/>
          <p:cNvSpPr txBox="1">
            <a:spLocks noGrp="1"/>
          </p:cNvSpPr>
          <p:nvPr>
            <p:ph type="title"/>
          </p:nvPr>
        </p:nvSpPr>
        <p:spPr>
          <a:xfrm>
            <a:off x="27430" y="-126184"/>
            <a:ext cx="9971797" cy="83797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Calibri"/>
              <a:buNone/>
            </a:pPr>
            <a:r>
              <a:rPr lang="en-GB" sz="3200" b="1" dirty="0">
                <a:solidFill>
                  <a:srgbClr val="C00000"/>
                </a:solidFill>
                <a:latin typeface="+mj-lt"/>
              </a:rPr>
              <a:t>Soil</a:t>
            </a:r>
            <a:r>
              <a:rPr lang="en-GB" sz="3200" dirty="0">
                <a:solidFill>
                  <a:srgbClr val="C00000"/>
                </a:solidFill>
                <a:latin typeface="+mj-lt"/>
              </a:rPr>
              <a:t>: treat it badly and humans can die!</a:t>
            </a:r>
            <a:endParaRPr sz="3200" dirty="0">
              <a:solidFill>
                <a:srgbClr val="C00000"/>
              </a:solidFill>
              <a:latin typeface="+mj-lt"/>
            </a:endParaRPr>
          </a:p>
        </p:txBody>
      </p:sp>
      <p:pic>
        <p:nvPicPr>
          <p:cNvPr id="170" name="Google Shape;170;p7"/>
          <p:cNvPicPr preferRelativeResize="0"/>
          <p:nvPr/>
        </p:nvPicPr>
        <p:blipFill rotWithShape="1">
          <a:blip r:embed="rId5">
            <a:alphaModFix/>
          </a:blip>
          <a:srcRect/>
          <a:stretch/>
        </p:blipFill>
        <p:spPr>
          <a:xfrm>
            <a:off x="9914532" y="3966030"/>
            <a:ext cx="1707291" cy="2554014"/>
          </a:xfrm>
          <a:prstGeom prst="rect">
            <a:avLst/>
          </a:prstGeom>
          <a:noFill/>
          <a:ln>
            <a:noFill/>
          </a:ln>
        </p:spPr>
      </p:pic>
      <p:sp>
        <p:nvSpPr>
          <p:cNvPr id="2" name="TextBox 1">
            <a:extLst>
              <a:ext uri="{FF2B5EF4-FFF2-40B4-BE49-F238E27FC236}">
                <a16:creationId xmlns:a16="http://schemas.microsoft.com/office/drawing/2014/main" id="{B686D138-BE60-395F-D2C6-BC07C17CD9F2}"/>
              </a:ext>
            </a:extLst>
          </p:cNvPr>
          <p:cNvSpPr txBox="1"/>
          <p:nvPr/>
        </p:nvSpPr>
        <p:spPr>
          <a:xfrm>
            <a:off x="8529116" y="680865"/>
            <a:ext cx="2425664" cy="307777"/>
          </a:xfrm>
          <a:prstGeom prst="rect">
            <a:avLst/>
          </a:prstGeom>
          <a:noFill/>
        </p:spPr>
        <p:txBody>
          <a:bodyPr wrap="none" rtlCol="0">
            <a:spAutoFit/>
          </a:bodyPr>
          <a:lstStyle/>
          <a:p>
            <a:r>
              <a:rPr lang="en-US" dirty="0">
                <a:solidFill>
                  <a:srgbClr val="C00000"/>
                </a:solidFill>
              </a:rPr>
              <a:t>The Dust Bowl (1930s USA)</a:t>
            </a:r>
          </a:p>
        </p:txBody>
      </p:sp>
      <p:pic>
        <p:nvPicPr>
          <p:cNvPr id="4" name="Picture 3" descr="A screenshot of a news article&#10;&#10;AI-generated content may be incorrect.">
            <a:extLst>
              <a:ext uri="{FF2B5EF4-FFF2-40B4-BE49-F238E27FC236}">
                <a16:creationId xmlns:a16="http://schemas.microsoft.com/office/drawing/2014/main" id="{07266470-18EA-EF61-E4F3-32E1FF576B0B}"/>
              </a:ext>
            </a:extLst>
          </p:cNvPr>
          <p:cNvPicPr>
            <a:picLocks noChangeAspect="1"/>
          </p:cNvPicPr>
          <p:nvPr/>
        </p:nvPicPr>
        <p:blipFill>
          <a:blip r:embed="rId6"/>
          <a:stretch>
            <a:fillRect/>
          </a:stretch>
        </p:blipFill>
        <p:spPr>
          <a:xfrm>
            <a:off x="5856298" y="3966030"/>
            <a:ext cx="3963697" cy="2554014"/>
          </a:xfrm>
          <a:prstGeom prst="rect">
            <a:avLst/>
          </a:prstGeom>
        </p:spPr>
      </p:pic>
      <p:pic>
        <p:nvPicPr>
          <p:cNvPr id="6" name="Picture 5" descr="A screenshot of a news&#10;&#10;AI-generated content may be incorrect.">
            <a:extLst>
              <a:ext uri="{FF2B5EF4-FFF2-40B4-BE49-F238E27FC236}">
                <a16:creationId xmlns:a16="http://schemas.microsoft.com/office/drawing/2014/main" id="{EF30AAD5-2EF5-76C9-6FED-D02139CDF5EA}"/>
              </a:ext>
            </a:extLst>
          </p:cNvPr>
          <p:cNvPicPr>
            <a:picLocks noChangeAspect="1"/>
          </p:cNvPicPr>
          <p:nvPr/>
        </p:nvPicPr>
        <p:blipFill>
          <a:blip r:embed="rId7"/>
          <a:stretch>
            <a:fillRect/>
          </a:stretch>
        </p:blipFill>
        <p:spPr>
          <a:xfrm>
            <a:off x="576692" y="3966616"/>
            <a:ext cx="5187280" cy="2553428"/>
          </a:xfrm>
          <a:prstGeom prst="rect">
            <a:avLst/>
          </a:prstGeom>
        </p:spPr>
      </p:pic>
      <p:sp>
        <p:nvSpPr>
          <p:cNvPr id="9" name="Text Placeholder 8">
            <a:extLst>
              <a:ext uri="{FF2B5EF4-FFF2-40B4-BE49-F238E27FC236}">
                <a16:creationId xmlns:a16="http://schemas.microsoft.com/office/drawing/2014/main" id="{DC85D767-6DF8-236A-F8A1-7AE0318CC681}"/>
              </a:ext>
            </a:extLst>
          </p:cNvPr>
          <p:cNvSpPr>
            <a:spLocks noGrp="1"/>
          </p:cNvSpPr>
          <p:nvPr>
            <p:ph type="body" idx="1"/>
          </p:nvPr>
        </p:nvSpPr>
        <p:spPr/>
        <p:txBody>
          <a:bodyPr/>
          <a:lstStyle/>
          <a:p>
            <a:endParaRPr lang="en-US" dirty="0"/>
          </a:p>
        </p:txBody>
      </p:sp>
      <p:pic>
        <p:nvPicPr>
          <p:cNvPr id="4102" name="Picture 6" descr="Nation that destroys its soil, destroys ...">
            <a:extLst>
              <a:ext uri="{FF2B5EF4-FFF2-40B4-BE49-F238E27FC236}">
                <a16:creationId xmlns:a16="http://schemas.microsoft.com/office/drawing/2014/main" id="{4B27ACE4-2F04-E2BB-7A90-2B5D395993E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919"/>
          <a:stretch/>
        </p:blipFill>
        <p:spPr bwMode="auto">
          <a:xfrm>
            <a:off x="779832" y="680865"/>
            <a:ext cx="5187280" cy="30837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
        <p:cNvGrpSpPr/>
        <p:nvPr/>
      </p:nvGrpSpPr>
      <p:grpSpPr>
        <a:xfrm>
          <a:off x="0" y="0"/>
          <a:ext cx="0" cy="0"/>
          <a:chOff x="0" y="0"/>
          <a:chExt cx="0" cy="0"/>
        </a:xfrm>
      </p:grpSpPr>
      <p:sp>
        <p:nvSpPr>
          <p:cNvPr id="182" name="Google Shape;182;p8"/>
          <p:cNvSpPr txBox="1">
            <a:spLocks noGrp="1"/>
          </p:cNvSpPr>
          <p:nvPr>
            <p:ph type="title"/>
          </p:nvPr>
        </p:nvSpPr>
        <p:spPr>
          <a:xfrm>
            <a:off x="6617000" y="2042990"/>
            <a:ext cx="5357749" cy="339459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FFFFF"/>
              </a:buClr>
              <a:buSzPct val="100000"/>
              <a:buFont typeface="Calibri"/>
              <a:buNone/>
            </a:pPr>
            <a:r>
              <a:rPr lang="en-GB" sz="2400" dirty="0">
                <a:solidFill>
                  <a:schemeClr val="tx1"/>
                </a:solidFill>
                <a:latin typeface="+mj-lt"/>
              </a:rPr>
              <a:t>In the UK, the way we incentivise farmers has changed under </a:t>
            </a:r>
            <a:r>
              <a:rPr lang="en-GB" sz="2400" b="1" dirty="0">
                <a:solidFill>
                  <a:srgbClr val="C00000"/>
                </a:solidFill>
                <a:latin typeface="+mj-lt"/>
              </a:rPr>
              <a:t>Brexit</a:t>
            </a:r>
            <a:br>
              <a:rPr lang="en-GB" sz="2400" dirty="0">
                <a:solidFill>
                  <a:schemeClr val="tx1"/>
                </a:solidFill>
                <a:latin typeface="+mj-lt"/>
              </a:rPr>
            </a:br>
            <a:br>
              <a:rPr lang="en-GB" sz="2400" dirty="0">
                <a:solidFill>
                  <a:schemeClr val="tx1"/>
                </a:solidFill>
                <a:latin typeface="+mj-lt"/>
              </a:rPr>
            </a:br>
            <a:r>
              <a:rPr lang="en-GB" sz="2400" dirty="0">
                <a:solidFill>
                  <a:schemeClr val="tx1"/>
                </a:solidFill>
                <a:latin typeface="+mj-lt"/>
              </a:rPr>
              <a:t>The idea is that farming practices </a:t>
            </a:r>
            <a:r>
              <a:rPr lang="en-GB" sz="2400" b="1" dirty="0">
                <a:solidFill>
                  <a:schemeClr val="tx1"/>
                </a:solidFill>
                <a:latin typeface="+mj-lt"/>
              </a:rPr>
              <a:t>enhance ecosystem services</a:t>
            </a:r>
            <a:br>
              <a:rPr lang="en-GB" sz="2400" dirty="0">
                <a:solidFill>
                  <a:schemeClr val="tx1"/>
                </a:solidFill>
                <a:latin typeface="+mj-lt"/>
              </a:rPr>
            </a:br>
            <a:br>
              <a:rPr lang="en-GB" sz="2400" dirty="0">
                <a:solidFill>
                  <a:schemeClr val="tx1"/>
                </a:solidFill>
                <a:latin typeface="+mj-lt"/>
              </a:rPr>
            </a:br>
            <a:r>
              <a:rPr lang="en-GB" sz="2400" dirty="0">
                <a:solidFill>
                  <a:schemeClr val="tx1"/>
                </a:solidFill>
                <a:latin typeface="+mj-lt"/>
              </a:rPr>
              <a:t>e.g. farmers incentivised to enhance soil carbon stocks, improve air and water quality, reduce flooding and GHGs </a:t>
            </a:r>
            <a:br>
              <a:rPr lang="en-GB" sz="2400" dirty="0">
                <a:solidFill>
                  <a:schemeClr val="tx1"/>
                </a:solidFill>
                <a:latin typeface="+mj-lt"/>
              </a:rPr>
            </a:br>
            <a:br>
              <a:rPr lang="en-GB" sz="2400" dirty="0">
                <a:solidFill>
                  <a:schemeClr val="tx1"/>
                </a:solidFill>
                <a:latin typeface="+mj-lt"/>
              </a:rPr>
            </a:br>
            <a:r>
              <a:rPr lang="en-GB" sz="2400" dirty="0">
                <a:solidFill>
                  <a:schemeClr val="tx1"/>
                </a:solidFill>
                <a:latin typeface="+mj-lt"/>
              </a:rPr>
              <a:t>How this will happen (and how well we are doing since 2020) is still unclear!</a:t>
            </a:r>
            <a:endParaRPr sz="3600" dirty="0">
              <a:solidFill>
                <a:schemeClr val="tx1"/>
              </a:solidFill>
              <a:latin typeface="+mj-lt"/>
            </a:endParaRPr>
          </a:p>
        </p:txBody>
      </p:sp>
      <p:pic>
        <p:nvPicPr>
          <p:cNvPr id="183" name="Google Shape;183;p8"/>
          <p:cNvPicPr preferRelativeResize="0"/>
          <p:nvPr/>
        </p:nvPicPr>
        <p:blipFill rotWithShape="1">
          <a:blip r:embed="rId3">
            <a:alphaModFix/>
          </a:blip>
          <a:srcRect/>
          <a:stretch/>
        </p:blipFill>
        <p:spPr>
          <a:xfrm>
            <a:off x="146966" y="183912"/>
            <a:ext cx="5563169" cy="66740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txBox="1">
            <a:spLocks noGrp="1"/>
          </p:cNvSpPr>
          <p:nvPr>
            <p:ph type="title"/>
          </p:nvPr>
        </p:nvSpPr>
        <p:spPr>
          <a:xfrm>
            <a:off x="178982" y="195004"/>
            <a:ext cx="12013018" cy="48603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GB" sz="3200" b="1" dirty="0">
                <a:solidFill>
                  <a:srgbClr val="C00000"/>
                </a:solidFill>
                <a:latin typeface="+mj-lt"/>
              </a:rPr>
              <a:t>Two example issues that need to be tackled….</a:t>
            </a:r>
            <a:endParaRPr sz="3200" b="1" dirty="0">
              <a:solidFill>
                <a:srgbClr val="C00000"/>
              </a:solidFill>
              <a:latin typeface="+mj-lt"/>
            </a:endParaRPr>
          </a:p>
        </p:txBody>
      </p:sp>
      <p:sp>
        <p:nvSpPr>
          <p:cNvPr id="189" name="Google Shape;189;p9"/>
          <p:cNvSpPr txBox="1">
            <a:spLocks noGrp="1"/>
          </p:cNvSpPr>
          <p:nvPr>
            <p:ph type="body" idx="1"/>
          </p:nvPr>
        </p:nvSpPr>
        <p:spPr>
          <a:xfrm>
            <a:off x="178982" y="1253331"/>
            <a:ext cx="10515600" cy="4351338"/>
          </a:xfrm>
          <a:prstGeom prst="rect">
            <a:avLst/>
          </a:prstGeom>
          <a:noFill/>
          <a:ln>
            <a:noFill/>
          </a:ln>
        </p:spPr>
        <p:txBody>
          <a:bodyPr spcFirstLastPara="1" wrap="square" lIns="91425" tIns="45700" rIns="91425" bIns="45700" anchor="t" anchorCtr="0">
            <a:normAutofit/>
          </a:bodyPr>
          <a:lstStyle/>
          <a:p>
            <a:pPr marL="692150" lvl="0" indent="-514350" algn="l" rtl="0">
              <a:lnSpc>
                <a:spcPct val="90000"/>
              </a:lnSpc>
              <a:spcBef>
                <a:spcPts val="0"/>
              </a:spcBef>
              <a:spcAft>
                <a:spcPts val="0"/>
              </a:spcAft>
              <a:buClr>
                <a:srgbClr val="C00000"/>
              </a:buClr>
              <a:buSzPts val="2800"/>
              <a:buAutoNum type="arabicPeriod"/>
            </a:pPr>
            <a:r>
              <a:rPr lang="en-GB" dirty="0">
                <a:latin typeface="+mj-lt"/>
              </a:rPr>
              <a:t>Soil Degradation</a:t>
            </a:r>
          </a:p>
          <a:p>
            <a:pPr marL="692150" lvl="0" indent="-514350" algn="l" rtl="0">
              <a:lnSpc>
                <a:spcPct val="90000"/>
              </a:lnSpc>
              <a:spcBef>
                <a:spcPts val="0"/>
              </a:spcBef>
              <a:spcAft>
                <a:spcPts val="0"/>
              </a:spcAft>
              <a:buClr>
                <a:srgbClr val="C00000"/>
              </a:buClr>
              <a:buSzPts val="2800"/>
              <a:buAutoNum type="arabicPeriod"/>
            </a:pPr>
            <a:endParaRPr lang="en-GB" dirty="0">
              <a:latin typeface="+mj-lt"/>
            </a:endParaRPr>
          </a:p>
          <a:p>
            <a:pPr marL="692150" lvl="0" indent="-514350" algn="l" rtl="0">
              <a:lnSpc>
                <a:spcPct val="90000"/>
              </a:lnSpc>
              <a:spcBef>
                <a:spcPts val="0"/>
              </a:spcBef>
              <a:spcAft>
                <a:spcPts val="0"/>
              </a:spcAft>
              <a:buClr>
                <a:srgbClr val="C00000"/>
              </a:buClr>
              <a:buSzPts val="2800"/>
              <a:buAutoNum type="arabicPeriod"/>
            </a:pPr>
            <a:endParaRPr lang="en-GB" dirty="0">
              <a:latin typeface="+mj-lt"/>
            </a:endParaRPr>
          </a:p>
          <a:p>
            <a:pPr marL="692150" lvl="0" indent="-514350" algn="l" rtl="0">
              <a:lnSpc>
                <a:spcPct val="90000"/>
              </a:lnSpc>
              <a:spcBef>
                <a:spcPts val="0"/>
              </a:spcBef>
              <a:spcAft>
                <a:spcPts val="0"/>
              </a:spcAft>
              <a:buClr>
                <a:srgbClr val="C00000"/>
              </a:buClr>
              <a:buSzPts val="2800"/>
              <a:buAutoNum type="arabicPeriod"/>
            </a:pPr>
            <a:endParaRPr lang="en-GB" dirty="0">
              <a:latin typeface="+mj-lt"/>
            </a:endParaRPr>
          </a:p>
          <a:p>
            <a:pPr marL="692150" lvl="0" indent="-514350" algn="l" rtl="0">
              <a:lnSpc>
                <a:spcPct val="90000"/>
              </a:lnSpc>
              <a:spcBef>
                <a:spcPts val="0"/>
              </a:spcBef>
              <a:spcAft>
                <a:spcPts val="0"/>
              </a:spcAft>
              <a:buClr>
                <a:srgbClr val="C00000"/>
              </a:buClr>
              <a:buSzPts val="2800"/>
              <a:buAutoNum type="arabicPeriod"/>
            </a:pPr>
            <a:endParaRPr lang="en-GB" dirty="0">
              <a:latin typeface="+mj-lt"/>
            </a:endParaRPr>
          </a:p>
          <a:p>
            <a:pPr marL="692150" lvl="0" indent="-514350" algn="l" rtl="0">
              <a:lnSpc>
                <a:spcPct val="90000"/>
              </a:lnSpc>
              <a:spcBef>
                <a:spcPts val="0"/>
              </a:spcBef>
              <a:spcAft>
                <a:spcPts val="0"/>
              </a:spcAft>
              <a:buClr>
                <a:srgbClr val="C00000"/>
              </a:buClr>
              <a:buSzPts val="2800"/>
              <a:buAutoNum type="arabicPeriod"/>
            </a:pPr>
            <a:endParaRPr lang="en-GB" dirty="0">
              <a:latin typeface="+mj-lt"/>
            </a:endParaRPr>
          </a:p>
          <a:p>
            <a:pPr marL="692150" lvl="0" indent="-514350" algn="l" rtl="0">
              <a:lnSpc>
                <a:spcPct val="90000"/>
              </a:lnSpc>
              <a:spcBef>
                <a:spcPts val="0"/>
              </a:spcBef>
              <a:spcAft>
                <a:spcPts val="0"/>
              </a:spcAft>
              <a:buClr>
                <a:srgbClr val="C00000"/>
              </a:buClr>
              <a:buSzPts val="2800"/>
              <a:buAutoNum type="arabicPeriod"/>
            </a:pPr>
            <a:endParaRPr lang="en-GB" dirty="0">
              <a:latin typeface="+mj-lt"/>
            </a:endParaRPr>
          </a:p>
          <a:p>
            <a:pPr marL="692150" lvl="0" indent="-514350" algn="l" rtl="0">
              <a:lnSpc>
                <a:spcPct val="90000"/>
              </a:lnSpc>
              <a:spcBef>
                <a:spcPts val="0"/>
              </a:spcBef>
              <a:spcAft>
                <a:spcPts val="0"/>
              </a:spcAft>
              <a:buClr>
                <a:srgbClr val="C00000"/>
              </a:buClr>
              <a:buSzPts val="2800"/>
              <a:buAutoNum type="arabicPeriod"/>
            </a:pPr>
            <a:r>
              <a:rPr lang="en-GB" dirty="0">
                <a:latin typeface="+mj-lt"/>
              </a:rPr>
              <a:t>Greenhouse gas emissions</a:t>
            </a:r>
            <a:endParaRPr dirty="0">
              <a:latin typeface="+mj-lt"/>
            </a:endParaRPr>
          </a:p>
        </p:txBody>
      </p:sp>
      <p:pic>
        <p:nvPicPr>
          <p:cNvPr id="5" name="Picture 4" descr="A plant with long legs and a long feather&#10;&#10;AI-generated content may be incorrect.">
            <a:extLst>
              <a:ext uri="{FF2B5EF4-FFF2-40B4-BE49-F238E27FC236}">
                <a16:creationId xmlns:a16="http://schemas.microsoft.com/office/drawing/2014/main" id="{E18FAFC9-11A6-D86B-17E4-5AFE3E5D4AC2}"/>
              </a:ext>
            </a:extLst>
          </p:cNvPr>
          <p:cNvPicPr>
            <a:picLocks noChangeAspect="1"/>
          </p:cNvPicPr>
          <p:nvPr/>
        </p:nvPicPr>
        <p:blipFill>
          <a:blip r:embed="rId3">
            <a:biLevel thresh="75000"/>
          </a:blip>
          <a:srcRect t="12279"/>
          <a:stretch/>
        </p:blipFill>
        <p:spPr>
          <a:xfrm>
            <a:off x="1389883" y="1967649"/>
            <a:ext cx="1077507" cy="977154"/>
          </a:xfrm>
          <a:prstGeom prst="rect">
            <a:avLst/>
          </a:prstGeom>
        </p:spPr>
      </p:pic>
      <p:pic>
        <p:nvPicPr>
          <p:cNvPr id="7" name="Picture 6" descr="A set of icons of different types of nature&#10;&#10;AI-generated content may be incorrect.">
            <a:extLst>
              <a:ext uri="{FF2B5EF4-FFF2-40B4-BE49-F238E27FC236}">
                <a16:creationId xmlns:a16="http://schemas.microsoft.com/office/drawing/2014/main" id="{4AF9E1F5-DE8E-3E1A-249D-F154F9BE7CDC}"/>
              </a:ext>
            </a:extLst>
          </p:cNvPr>
          <p:cNvPicPr>
            <a:picLocks noChangeAspect="1"/>
          </p:cNvPicPr>
          <p:nvPr/>
        </p:nvPicPr>
        <p:blipFill>
          <a:blip r:embed="rId4"/>
          <a:srcRect r="79070" b="67148"/>
          <a:stretch/>
        </p:blipFill>
        <p:spPr>
          <a:xfrm>
            <a:off x="1330183" y="4890351"/>
            <a:ext cx="1196908" cy="1005070"/>
          </a:xfrm>
          <a:prstGeom prst="rect">
            <a:avLst/>
          </a:prstGeom>
        </p:spPr>
      </p:pic>
      <p:pic>
        <p:nvPicPr>
          <p:cNvPr id="8" name="Picture 7" descr="A set of icons of different types of nature&#10;&#10;AI-generated content may be incorrect.">
            <a:extLst>
              <a:ext uri="{FF2B5EF4-FFF2-40B4-BE49-F238E27FC236}">
                <a16:creationId xmlns:a16="http://schemas.microsoft.com/office/drawing/2014/main" id="{CF553906-04B0-7581-113F-1EBCBCDCD5EF}"/>
              </a:ext>
            </a:extLst>
          </p:cNvPr>
          <p:cNvPicPr>
            <a:picLocks noChangeAspect="1"/>
          </p:cNvPicPr>
          <p:nvPr/>
        </p:nvPicPr>
        <p:blipFill>
          <a:blip r:embed="rId4"/>
          <a:srcRect l="82696" r="3071" b="66425"/>
          <a:stretch/>
        </p:blipFill>
        <p:spPr>
          <a:xfrm>
            <a:off x="5480453" y="4987749"/>
            <a:ext cx="723014" cy="912481"/>
          </a:xfrm>
          <a:prstGeom prst="rect">
            <a:avLst/>
          </a:prstGeom>
        </p:spPr>
      </p:pic>
      <p:pic>
        <p:nvPicPr>
          <p:cNvPr id="9" name="Picture 8" descr="A set of icons of different types of nature&#10;&#10;AI-generated content may be incorrect.">
            <a:extLst>
              <a:ext uri="{FF2B5EF4-FFF2-40B4-BE49-F238E27FC236}">
                <a16:creationId xmlns:a16="http://schemas.microsoft.com/office/drawing/2014/main" id="{21EC4F66-163C-60A7-F9D6-6FD8ED898FE2}"/>
              </a:ext>
            </a:extLst>
          </p:cNvPr>
          <p:cNvPicPr>
            <a:picLocks noChangeAspect="1"/>
          </p:cNvPicPr>
          <p:nvPr/>
        </p:nvPicPr>
        <p:blipFill>
          <a:blip r:embed="rId4"/>
          <a:srcRect l="41765" t="5531" r="37024" b="73343"/>
          <a:stretch/>
        </p:blipFill>
        <p:spPr>
          <a:xfrm>
            <a:off x="3459013" y="5025175"/>
            <a:ext cx="1077508" cy="5741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3"/>
        <p:cNvGrpSpPr/>
        <p:nvPr/>
      </p:nvGrpSpPr>
      <p:grpSpPr>
        <a:xfrm>
          <a:off x="0" y="0"/>
          <a:ext cx="0" cy="0"/>
          <a:chOff x="0" y="0"/>
          <a:chExt cx="0" cy="0"/>
        </a:xfrm>
      </p:grpSpPr>
      <p:sp>
        <p:nvSpPr>
          <p:cNvPr id="194" name="Google Shape;194;p10"/>
          <p:cNvSpPr/>
          <p:nvPr/>
        </p:nvSpPr>
        <p:spPr>
          <a:xfrm>
            <a:off x="0" y="0"/>
            <a:ext cx="3760470" cy="6858000"/>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10"/>
          <p:cNvSpPr txBox="1">
            <a:spLocks noGrp="1"/>
          </p:cNvSpPr>
          <p:nvPr>
            <p:ph type="title"/>
          </p:nvPr>
        </p:nvSpPr>
        <p:spPr>
          <a:xfrm>
            <a:off x="116378" y="613427"/>
            <a:ext cx="3644092" cy="25194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4400"/>
              <a:buFont typeface="Calibri"/>
              <a:buNone/>
            </a:pPr>
            <a:r>
              <a:rPr lang="en-GB" sz="3600" b="1" dirty="0">
                <a:solidFill>
                  <a:schemeClr val="lt1"/>
                </a:solidFill>
                <a:latin typeface="+mj-lt"/>
                <a:ea typeface="Calibri"/>
                <a:cs typeface="Calibri"/>
                <a:sym typeface="Calibri"/>
              </a:rPr>
              <a:t>Issue 1</a:t>
            </a:r>
            <a:r>
              <a:rPr lang="en-GB" sz="3600" dirty="0">
                <a:solidFill>
                  <a:schemeClr val="lt1"/>
                </a:solidFill>
                <a:latin typeface="+mj-lt"/>
                <a:ea typeface="Calibri"/>
                <a:cs typeface="Calibri"/>
                <a:sym typeface="Calibri"/>
              </a:rPr>
              <a:t>: </a:t>
            </a:r>
            <a:br>
              <a:rPr lang="en-GB" sz="3600" dirty="0">
                <a:solidFill>
                  <a:schemeClr val="lt1"/>
                </a:solidFill>
                <a:latin typeface="+mj-lt"/>
                <a:ea typeface="Calibri"/>
                <a:cs typeface="Calibri"/>
                <a:sym typeface="Calibri"/>
              </a:rPr>
            </a:br>
            <a:r>
              <a:rPr lang="en-GB" sz="3600" dirty="0">
                <a:solidFill>
                  <a:schemeClr val="lt1"/>
                </a:solidFill>
                <a:latin typeface="+mj-lt"/>
                <a:ea typeface="Calibri"/>
                <a:cs typeface="Calibri"/>
                <a:sym typeface="Calibri"/>
              </a:rPr>
              <a:t>Soil degradation</a:t>
            </a:r>
            <a:endParaRPr sz="3600" dirty="0">
              <a:latin typeface="+mj-lt"/>
            </a:endParaRPr>
          </a:p>
        </p:txBody>
      </p:sp>
      <p:sp>
        <p:nvSpPr>
          <p:cNvPr id="196" name="Google Shape;196;p10"/>
          <p:cNvSpPr txBox="1">
            <a:spLocks noGrp="1"/>
          </p:cNvSpPr>
          <p:nvPr>
            <p:ph type="body" idx="1"/>
          </p:nvPr>
        </p:nvSpPr>
        <p:spPr>
          <a:xfrm>
            <a:off x="4502475" y="472267"/>
            <a:ext cx="7024015" cy="523262"/>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3200"/>
              <a:buNone/>
            </a:pPr>
            <a:r>
              <a:rPr lang="en-GB" sz="3200" b="1" dirty="0">
                <a:solidFill>
                  <a:srgbClr val="C00000"/>
                </a:solidFill>
                <a:latin typeface="+mj-lt"/>
              </a:rPr>
              <a:t>What is ‘soil degradation’?</a:t>
            </a:r>
            <a:endParaRPr b="1" dirty="0">
              <a:solidFill>
                <a:srgbClr val="C00000"/>
              </a:solidFill>
              <a:latin typeface="+mj-lt"/>
            </a:endParaRPr>
          </a:p>
        </p:txBody>
      </p:sp>
      <p:sp>
        <p:nvSpPr>
          <p:cNvPr id="197" name="Google Shape;197;p10"/>
          <p:cNvSpPr txBox="1"/>
          <p:nvPr/>
        </p:nvSpPr>
        <p:spPr>
          <a:xfrm>
            <a:off x="4009961" y="1461819"/>
            <a:ext cx="8182039" cy="211740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GB" sz="2000" dirty="0">
                <a:solidFill>
                  <a:schemeClr val="dk1"/>
                </a:solidFill>
                <a:latin typeface="+mj-lt"/>
                <a:ea typeface="Calibri"/>
                <a:cs typeface="Calibri"/>
                <a:sym typeface="Calibri"/>
              </a:rPr>
              <a:t>Soils are complex and can be degraded in many ways! Degradation depends a bit on your perspective, but most farmers would consider it being:</a:t>
            </a:r>
            <a:br>
              <a:rPr lang="en-GB" sz="2000" dirty="0">
                <a:solidFill>
                  <a:schemeClr val="dk1"/>
                </a:solidFill>
                <a:latin typeface="+mj-lt"/>
                <a:ea typeface="Calibri"/>
                <a:cs typeface="Calibri"/>
                <a:sym typeface="Calibri"/>
              </a:rPr>
            </a:br>
            <a:r>
              <a:rPr lang="en-GB" sz="2000" dirty="0">
                <a:solidFill>
                  <a:schemeClr val="dk1"/>
                </a:solidFill>
                <a:latin typeface="+mj-lt"/>
                <a:ea typeface="Calibri"/>
                <a:cs typeface="Calibri"/>
                <a:sym typeface="Calibri"/>
              </a:rPr>
              <a:t> </a:t>
            </a:r>
            <a:endParaRPr dirty="0">
              <a:latin typeface="+mj-lt"/>
            </a:endParaRPr>
          </a:p>
          <a:p>
            <a:pPr marL="0" marR="0" lvl="0" indent="0" algn="l" rtl="0">
              <a:lnSpc>
                <a:spcPct val="90000"/>
              </a:lnSpc>
              <a:spcBef>
                <a:spcPts val="600"/>
              </a:spcBef>
              <a:spcAft>
                <a:spcPts val="0"/>
              </a:spcAft>
              <a:buNone/>
            </a:pPr>
            <a:r>
              <a:rPr lang="en-GB" sz="2000" b="1" dirty="0">
                <a:solidFill>
                  <a:schemeClr val="dk1"/>
                </a:solidFill>
                <a:latin typeface="+mj-lt"/>
                <a:ea typeface="Calibri"/>
                <a:cs typeface="Calibri"/>
                <a:sym typeface="Calibri"/>
              </a:rPr>
              <a:t>“</a:t>
            </a:r>
            <a:r>
              <a:rPr lang="en-GB" sz="2000" b="1" i="1" dirty="0">
                <a:solidFill>
                  <a:schemeClr val="dk1"/>
                </a:solidFill>
                <a:latin typeface="+mj-lt"/>
                <a:ea typeface="Calibri"/>
                <a:cs typeface="Calibri"/>
                <a:sym typeface="Calibri"/>
              </a:rPr>
              <a:t>a reduction in the ability of soil to produce crops or support livestock</a:t>
            </a:r>
            <a:r>
              <a:rPr lang="en-GB" sz="2000" b="1" dirty="0">
                <a:solidFill>
                  <a:schemeClr val="dk1"/>
                </a:solidFill>
                <a:latin typeface="+mj-lt"/>
                <a:ea typeface="Calibri"/>
                <a:cs typeface="Calibri"/>
                <a:sym typeface="Calibri"/>
              </a:rPr>
              <a:t>”</a:t>
            </a:r>
            <a:endParaRPr b="1" dirty="0">
              <a:latin typeface="+mj-lt"/>
            </a:endParaRPr>
          </a:p>
        </p:txBody>
      </p:sp>
      <p:pic>
        <p:nvPicPr>
          <p:cNvPr id="198" name="Google Shape;198;p10"/>
          <p:cNvPicPr preferRelativeResize="0"/>
          <p:nvPr/>
        </p:nvPicPr>
        <p:blipFill rotWithShape="1">
          <a:blip r:embed="rId3">
            <a:alphaModFix/>
          </a:blip>
          <a:srcRect/>
          <a:stretch/>
        </p:blipFill>
        <p:spPr>
          <a:xfrm>
            <a:off x="3949169" y="3813982"/>
            <a:ext cx="3866519" cy="2571751"/>
          </a:xfrm>
          <a:prstGeom prst="rect">
            <a:avLst/>
          </a:prstGeom>
          <a:noFill/>
          <a:ln>
            <a:noFill/>
          </a:ln>
        </p:spPr>
      </p:pic>
      <p:pic>
        <p:nvPicPr>
          <p:cNvPr id="199" name="Google Shape;199;p10"/>
          <p:cNvPicPr preferRelativeResize="0"/>
          <p:nvPr/>
        </p:nvPicPr>
        <p:blipFill rotWithShape="1">
          <a:blip r:embed="rId4">
            <a:alphaModFix/>
          </a:blip>
          <a:srcRect/>
          <a:stretch/>
        </p:blipFill>
        <p:spPr>
          <a:xfrm>
            <a:off x="7813464" y="3813982"/>
            <a:ext cx="4280016" cy="25717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1"/>
          <p:cNvSpPr txBox="1">
            <a:spLocks noGrp="1"/>
          </p:cNvSpPr>
          <p:nvPr>
            <p:ph type="title"/>
          </p:nvPr>
        </p:nvSpPr>
        <p:spPr>
          <a:xfrm>
            <a:off x="77250" y="-12357"/>
            <a:ext cx="11870574" cy="102561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sz="3200" b="1" dirty="0">
                <a:solidFill>
                  <a:srgbClr val="C00000"/>
                </a:solidFill>
                <a:latin typeface="+mn-lt"/>
              </a:rPr>
              <a:t>Degradation</a:t>
            </a:r>
            <a:r>
              <a:rPr lang="en-GB" sz="3200" dirty="0">
                <a:solidFill>
                  <a:srgbClr val="C00000"/>
                </a:solidFill>
                <a:latin typeface="+mn-lt"/>
              </a:rPr>
              <a:t>: </a:t>
            </a:r>
            <a:br>
              <a:rPr lang="en-GB" sz="3200" dirty="0">
                <a:solidFill>
                  <a:srgbClr val="C00000"/>
                </a:solidFill>
                <a:latin typeface="+mn-lt"/>
              </a:rPr>
            </a:br>
            <a:r>
              <a:rPr lang="en-GB" sz="2800" i="1" dirty="0">
                <a:solidFill>
                  <a:srgbClr val="C00000"/>
                </a:solidFill>
                <a:latin typeface="+mn-lt"/>
              </a:rPr>
              <a:t>Change (usually for the worse) in key soil properties</a:t>
            </a:r>
            <a:endParaRPr sz="2800" i="1" dirty="0">
              <a:solidFill>
                <a:srgbClr val="C00000"/>
              </a:solidFill>
              <a:latin typeface="+mn-lt"/>
            </a:endParaRPr>
          </a:p>
        </p:txBody>
      </p:sp>
      <p:sp>
        <p:nvSpPr>
          <p:cNvPr id="205" name="Google Shape;205;p11"/>
          <p:cNvSpPr txBox="1">
            <a:spLocks noGrp="1"/>
          </p:cNvSpPr>
          <p:nvPr>
            <p:ph type="body" idx="1"/>
          </p:nvPr>
        </p:nvSpPr>
        <p:spPr>
          <a:xfrm>
            <a:off x="281247" y="1699953"/>
            <a:ext cx="11629506" cy="483214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C00000"/>
              </a:buClr>
              <a:buSzPts val="2800"/>
              <a:buChar char="•"/>
            </a:pPr>
            <a:r>
              <a:rPr lang="en-GB" dirty="0">
                <a:latin typeface="+mn-lt"/>
              </a:rPr>
              <a:t>Grazing and harvesting plants </a:t>
            </a:r>
            <a:r>
              <a:rPr lang="en-GB" b="1" dirty="0">
                <a:latin typeface="+mn-lt"/>
              </a:rPr>
              <a:t>removes essential elements</a:t>
            </a:r>
            <a:r>
              <a:rPr lang="en-GB" dirty="0">
                <a:latin typeface="+mn-lt"/>
              </a:rPr>
              <a:t> acquired by plants from soil. e.g. nitrogen, potassium and phosphorus. How do these nutrients get replaced?</a:t>
            </a:r>
          </a:p>
          <a:p>
            <a:pPr marL="228600" lvl="0" indent="-228600" algn="l" rtl="0">
              <a:lnSpc>
                <a:spcPct val="90000"/>
              </a:lnSpc>
              <a:spcBef>
                <a:spcPts val="0"/>
              </a:spcBef>
              <a:spcAft>
                <a:spcPts val="0"/>
              </a:spcAft>
              <a:buClr>
                <a:srgbClr val="C00000"/>
              </a:buClr>
              <a:buSzPts val="2800"/>
              <a:buChar char="•"/>
            </a:pP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Biomass is also often removed. Biomass = organic matter and confers many benefits (water holding capacity, biological activity, nutrients, etc)</a:t>
            </a:r>
          </a:p>
          <a:p>
            <a:pPr marL="228600" lvl="0" indent="-228600" algn="l" rtl="0">
              <a:lnSpc>
                <a:spcPct val="90000"/>
              </a:lnSpc>
              <a:spcBef>
                <a:spcPts val="1000"/>
              </a:spcBef>
              <a:spcAft>
                <a:spcPts val="0"/>
              </a:spcAft>
              <a:buClr>
                <a:srgbClr val="C00000"/>
              </a:buClr>
              <a:buSzPts val="2800"/>
              <a:buChar char="•"/>
            </a:pP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Working the land with machines (tillage) affects ‘physical’ properties of soils</a:t>
            </a:r>
          </a:p>
          <a:p>
            <a:pPr marL="228600" lvl="0" indent="-228600" algn="l" rtl="0">
              <a:lnSpc>
                <a:spcPct val="90000"/>
              </a:lnSpc>
              <a:spcBef>
                <a:spcPts val="1000"/>
              </a:spcBef>
              <a:spcAft>
                <a:spcPts val="0"/>
              </a:spcAft>
              <a:buClr>
                <a:srgbClr val="C00000"/>
              </a:buClr>
              <a:buSzPts val="2800"/>
              <a:buChar char="•"/>
            </a:pP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Erosion: complete loss of soil!</a:t>
            </a:r>
            <a:endParaRPr dirty="0">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2"/>
          <p:cNvSpPr txBox="1">
            <a:spLocks noGrp="1"/>
          </p:cNvSpPr>
          <p:nvPr>
            <p:ph type="title"/>
          </p:nvPr>
        </p:nvSpPr>
        <p:spPr>
          <a:xfrm>
            <a:off x="49428" y="-30379"/>
            <a:ext cx="11733126" cy="1066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Calibri"/>
              <a:buNone/>
            </a:pPr>
            <a:r>
              <a:rPr lang="en-GB" sz="2800" b="1" dirty="0">
                <a:solidFill>
                  <a:srgbClr val="C00000"/>
                </a:solidFill>
                <a:latin typeface="+mj-lt"/>
              </a:rPr>
              <a:t>USA</a:t>
            </a:r>
            <a:r>
              <a:rPr lang="en-GB" sz="2800" dirty="0">
                <a:solidFill>
                  <a:srgbClr val="C00000"/>
                </a:solidFill>
                <a:latin typeface="+mj-lt"/>
              </a:rPr>
              <a:t>: different tillage (i.e. land management) practices can have dramatic effects on the ability of soil to erode</a:t>
            </a:r>
            <a:endParaRPr dirty="0">
              <a:solidFill>
                <a:srgbClr val="C00000"/>
              </a:solidFill>
              <a:latin typeface="+mj-lt"/>
            </a:endParaRPr>
          </a:p>
        </p:txBody>
      </p:sp>
      <p:pic>
        <p:nvPicPr>
          <p:cNvPr id="211" name="Google Shape;211;p12"/>
          <p:cNvPicPr preferRelativeResize="0"/>
          <p:nvPr/>
        </p:nvPicPr>
        <p:blipFill rotWithShape="1">
          <a:blip r:embed="rId3">
            <a:alphaModFix/>
          </a:blip>
          <a:srcRect/>
          <a:stretch/>
        </p:blipFill>
        <p:spPr>
          <a:xfrm>
            <a:off x="714896" y="2378368"/>
            <a:ext cx="5151668" cy="3491909"/>
          </a:xfrm>
          <a:prstGeom prst="rect">
            <a:avLst/>
          </a:prstGeom>
          <a:noFill/>
          <a:ln>
            <a:noFill/>
          </a:ln>
        </p:spPr>
      </p:pic>
      <p:pic>
        <p:nvPicPr>
          <p:cNvPr id="212" name="Google Shape;212;p12"/>
          <p:cNvPicPr preferRelativeResize="0"/>
          <p:nvPr/>
        </p:nvPicPr>
        <p:blipFill rotWithShape="1">
          <a:blip r:embed="rId4">
            <a:alphaModFix/>
          </a:blip>
          <a:srcRect l="12730" t="11734"/>
          <a:stretch/>
        </p:blipFill>
        <p:spPr>
          <a:xfrm>
            <a:off x="6632635" y="2403177"/>
            <a:ext cx="4622801" cy="3467100"/>
          </a:xfrm>
          <a:prstGeom prst="rect">
            <a:avLst/>
          </a:prstGeom>
          <a:noFill/>
          <a:ln>
            <a:noFill/>
          </a:ln>
        </p:spPr>
      </p:pic>
      <p:sp>
        <p:nvSpPr>
          <p:cNvPr id="213" name="Google Shape;213;p12"/>
          <p:cNvSpPr txBox="1"/>
          <p:nvPr/>
        </p:nvSpPr>
        <p:spPr>
          <a:xfrm>
            <a:off x="1073816" y="1765328"/>
            <a:ext cx="4726247"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chemeClr val="dk1"/>
                </a:solidFill>
                <a:latin typeface="+mn-lt"/>
                <a:ea typeface="Calibri"/>
                <a:cs typeface="Calibri"/>
                <a:sym typeface="Calibri"/>
              </a:rPr>
              <a:t>Tomatoes grown using a so-called ‘no-till’ farming system</a:t>
            </a:r>
            <a:endParaRPr dirty="0">
              <a:latin typeface="+mn-lt"/>
            </a:endParaRPr>
          </a:p>
        </p:txBody>
      </p:sp>
      <p:sp>
        <p:nvSpPr>
          <p:cNvPr id="214" name="Google Shape;214;p12"/>
          <p:cNvSpPr txBox="1"/>
          <p:nvPr/>
        </p:nvSpPr>
        <p:spPr>
          <a:xfrm>
            <a:off x="6495383" y="1765328"/>
            <a:ext cx="4622801"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chemeClr val="dk1"/>
                </a:solidFill>
                <a:latin typeface="+mn-lt"/>
                <a:ea typeface="Calibri"/>
                <a:cs typeface="Calibri"/>
                <a:sym typeface="Calibri"/>
              </a:rPr>
              <a:t>Compared to ‘conventional till’ farming system; i.e. use of ploughs, harrows etc</a:t>
            </a:r>
            <a:endParaRPr dirty="0">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3" descr="wood to field.JPG"/>
          <p:cNvPicPr preferRelativeResize="0"/>
          <p:nvPr/>
        </p:nvPicPr>
        <p:blipFill rotWithShape="1">
          <a:blip r:embed="rId3">
            <a:alphaModFix/>
          </a:blip>
          <a:srcRect/>
          <a:stretch/>
        </p:blipFill>
        <p:spPr>
          <a:xfrm>
            <a:off x="1524001" y="753087"/>
            <a:ext cx="9143999" cy="6116363"/>
          </a:xfrm>
          <a:prstGeom prst="rect">
            <a:avLst/>
          </a:prstGeom>
          <a:noFill/>
          <a:ln>
            <a:noFill/>
          </a:ln>
        </p:spPr>
      </p:pic>
      <p:sp>
        <p:nvSpPr>
          <p:cNvPr id="220" name="Google Shape;220;p13"/>
          <p:cNvSpPr txBox="1"/>
          <p:nvPr/>
        </p:nvSpPr>
        <p:spPr>
          <a:xfrm>
            <a:off x="2829397" y="6000208"/>
            <a:ext cx="7832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Wood</a:t>
            </a:r>
            <a:endParaRPr/>
          </a:p>
        </p:txBody>
      </p:sp>
      <p:sp>
        <p:nvSpPr>
          <p:cNvPr id="221" name="Google Shape;221;p13"/>
          <p:cNvSpPr txBox="1"/>
          <p:nvPr/>
        </p:nvSpPr>
        <p:spPr>
          <a:xfrm>
            <a:off x="4414678" y="5993360"/>
            <a:ext cx="86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Hedge</a:t>
            </a:r>
            <a:endParaRPr/>
          </a:p>
        </p:txBody>
      </p:sp>
      <p:sp>
        <p:nvSpPr>
          <p:cNvPr id="222" name="Google Shape;222;p13"/>
          <p:cNvSpPr txBox="1"/>
          <p:nvPr/>
        </p:nvSpPr>
        <p:spPr>
          <a:xfrm>
            <a:off x="7591560" y="5718776"/>
            <a:ext cx="82586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2 m</a:t>
            </a:r>
            <a:endParaRPr/>
          </a:p>
          <a:p>
            <a:pPr marL="0" marR="0" lvl="0" indent="0" algn="l"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arable</a:t>
            </a:r>
            <a:endParaRPr/>
          </a:p>
        </p:txBody>
      </p:sp>
      <p:sp>
        <p:nvSpPr>
          <p:cNvPr id="223" name="Google Shape;223;p13"/>
          <p:cNvSpPr txBox="1"/>
          <p:nvPr/>
        </p:nvSpPr>
        <p:spPr>
          <a:xfrm>
            <a:off x="9129988" y="5808992"/>
            <a:ext cx="82586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32 m</a:t>
            </a:r>
            <a:endParaRPr/>
          </a:p>
          <a:p>
            <a:pPr marL="0" marR="0" lvl="0" indent="0" algn="l"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arable</a:t>
            </a:r>
            <a:endParaRPr/>
          </a:p>
        </p:txBody>
      </p:sp>
      <p:sp>
        <p:nvSpPr>
          <p:cNvPr id="224" name="Google Shape;224;p13"/>
          <p:cNvSpPr txBox="1"/>
          <p:nvPr/>
        </p:nvSpPr>
        <p:spPr>
          <a:xfrm>
            <a:off x="5963012" y="5873615"/>
            <a:ext cx="915987" cy="64611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Grassy</a:t>
            </a:r>
            <a:endParaRPr/>
          </a:p>
          <a:p>
            <a:pPr marL="0" marR="0" lvl="0" indent="0" algn="ctr" rtl="0">
              <a:spcBef>
                <a:spcPts val="0"/>
              </a:spcBef>
              <a:spcAft>
                <a:spcPts val="0"/>
              </a:spcAft>
              <a:buClr>
                <a:schemeClr val="lt1"/>
              </a:buClr>
              <a:buSzPts val="1800"/>
              <a:buFont typeface="Arial"/>
              <a:buNone/>
            </a:pPr>
            <a:r>
              <a:rPr lang="en-GB" sz="1800">
                <a:solidFill>
                  <a:schemeClr val="lt1"/>
                </a:solidFill>
                <a:latin typeface="Arial"/>
                <a:ea typeface="Arial"/>
                <a:cs typeface="Arial"/>
                <a:sym typeface="Arial"/>
              </a:rPr>
              <a:t>strip</a:t>
            </a:r>
            <a:endParaRPr/>
          </a:p>
        </p:txBody>
      </p:sp>
      <p:sp>
        <p:nvSpPr>
          <p:cNvPr id="225" name="Google Shape;225;p13"/>
          <p:cNvSpPr txBox="1"/>
          <p:nvPr/>
        </p:nvSpPr>
        <p:spPr>
          <a:xfrm>
            <a:off x="8265229" y="6550224"/>
            <a:ext cx="243573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chemeClr val="lt1"/>
                </a:solidFill>
                <a:latin typeface="Calibri"/>
                <a:ea typeface="Calibri"/>
                <a:cs typeface="Calibri"/>
                <a:sym typeface="Calibri"/>
              </a:rPr>
              <a:t>(E. Marshall-Harris, J.R. Leake)</a:t>
            </a:r>
            <a:endParaRPr sz="1400" b="1">
              <a:solidFill>
                <a:schemeClr val="lt1"/>
              </a:solidFill>
              <a:latin typeface="Calibri"/>
              <a:ea typeface="Calibri"/>
              <a:cs typeface="Calibri"/>
              <a:sym typeface="Calibri"/>
            </a:endParaRPr>
          </a:p>
        </p:txBody>
      </p:sp>
      <p:sp>
        <p:nvSpPr>
          <p:cNvPr id="226" name="Google Shape;226;p13"/>
          <p:cNvSpPr/>
          <p:nvPr/>
        </p:nvSpPr>
        <p:spPr>
          <a:xfrm>
            <a:off x="1524000" y="1"/>
            <a:ext cx="9144000" cy="98957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13"/>
          <p:cNvSpPr/>
          <p:nvPr/>
        </p:nvSpPr>
        <p:spPr>
          <a:xfrm>
            <a:off x="1524001" y="987566"/>
            <a:ext cx="9143999" cy="8674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13"/>
          <p:cNvSpPr txBox="1"/>
          <p:nvPr/>
        </p:nvSpPr>
        <p:spPr>
          <a:xfrm>
            <a:off x="37071" y="-8448"/>
            <a:ext cx="12037612"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a:solidFill>
                  <a:srgbClr val="C00000"/>
                </a:solidFill>
                <a:latin typeface="+mn-lt"/>
                <a:ea typeface="Calibri"/>
                <a:cs typeface="Calibri"/>
                <a:sym typeface="Calibri"/>
              </a:rPr>
              <a:t>Soil quality declines into arable fields</a:t>
            </a:r>
          </a:p>
          <a:p>
            <a:pPr marL="0" marR="0" lvl="0" indent="0" algn="l" rtl="0">
              <a:spcBef>
                <a:spcPts val="0"/>
              </a:spcBef>
              <a:spcAft>
                <a:spcPts val="0"/>
              </a:spcAft>
              <a:buNone/>
            </a:pPr>
            <a:r>
              <a:rPr lang="en-GB" sz="2400" i="1" dirty="0">
                <a:solidFill>
                  <a:srgbClr val="C00000"/>
                </a:solidFill>
                <a:latin typeface="+mn-lt"/>
                <a:ea typeface="Calibri"/>
                <a:cs typeface="Calibri"/>
                <a:sym typeface="Calibri"/>
              </a:rPr>
              <a:t>wheat grown without added fertilizer for 6 weeks in a standard weight of soil</a:t>
            </a:r>
            <a:endParaRPr sz="1800" i="1" dirty="0">
              <a:solidFill>
                <a:srgbClr val="C00000"/>
              </a:solidFill>
              <a:latin typeface="+mn-lt"/>
            </a:endParaRPr>
          </a:p>
        </p:txBody>
      </p:sp>
      <p:sp>
        <p:nvSpPr>
          <p:cNvPr id="229" name="Google Shape;229;p13"/>
          <p:cNvSpPr txBox="1">
            <a:spLocks noGrp="1"/>
          </p:cNvSpPr>
          <p:nvPr>
            <p:ph type="ftr" idx="11"/>
          </p:nvPr>
        </p:nvSpPr>
        <p:spPr>
          <a:xfrm>
            <a:off x="911424" y="1912810"/>
            <a:ext cx="3608898"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GB">
                <a:latin typeface="Arial"/>
                <a:ea typeface="Arial"/>
                <a:cs typeface="Arial"/>
                <a:sym typeface="Arial"/>
              </a:rPr>
              <a:t>© The University of Sheffield</a:t>
            </a:r>
            <a:endParaRPr/>
          </a:p>
        </p:txBody>
      </p:sp>
      <p:pic>
        <p:nvPicPr>
          <p:cNvPr id="230" name="Google Shape;230;p13"/>
          <p:cNvPicPr preferRelativeResize="0"/>
          <p:nvPr/>
        </p:nvPicPr>
        <p:blipFill rotWithShape="1">
          <a:blip r:embed="rId4">
            <a:alphaModFix/>
          </a:blip>
          <a:srcRect t="7169"/>
          <a:stretch/>
        </p:blipFill>
        <p:spPr>
          <a:xfrm>
            <a:off x="5963012" y="1212726"/>
            <a:ext cx="5118836" cy="1498212"/>
          </a:xfrm>
          <a:prstGeom prst="rect">
            <a:avLst/>
          </a:prstGeom>
          <a:noFill/>
          <a:ln>
            <a:noFill/>
          </a:ln>
        </p:spPr>
      </p:pic>
      <p:sp>
        <p:nvSpPr>
          <p:cNvPr id="231" name="Google Shape;231;p13"/>
          <p:cNvSpPr txBox="1"/>
          <p:nvPr/>
        </p:nvSpPr>
        <p:spPr>
          <a:xfrm>
            <a:off x="6543765" y="2827280"/>
            <a:ext cx="4064431"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mn-lt"/>
                <a:ea typeface="Calibri"/>
                <a:cs typeface="Calibri"/>
                <a:sym typeface="Calibri"/>
              </a:rPr>
              <a:t>37% decrease in organic C</a:t>
            </a:r>
            <a:endParaRPr dirty="0">
              <a:latin typeface="+mn-lt"/>
            </a:endParaRPr>
          </a:p>
          <a:p>
            <a:pPr marL="0" marR="0" lvl="0" indent="0" algn="l" rtl="0">
              <a:spcBef>
                <a:spcPts val="0"/>
              </a:spcBef>
              <a:spcAft>
                <a:spcPts val="0"/>
              </a:spcAft>
              <a:buNone/>
            </a:pPr>
            <a:r>
              <a:rPr lang="en-GB" sz="2000" b="1" dirty="0">
                <a:solidFill>
                  <a:schemeClr val="dk1"/>
                </a:solidFill>
                <a:latin typeface="+mn-lt"/>
                <a:ea typeface="Calibri"/>
                <a:cs typeface="Calibri"/>
                <a:sym typeface="Calibri"/>
              </a:rPr>
              <a:t>22% increase in bulk density</a:t>
            </a:r>
            <a:endParaRPr dirty="0">
              <a:latin typeface="+mn-lt"/>
            </a:endParaRPr>
          </a:p>
        </p:txBody>
      </p:sp>
      <p:sp>
        <p:nvSpPr>
          <p:cNvPr id="232" name="Google Shape;232;p13"/>
          <p:cNvSpPr txBox="1"/>
          <p:nvPr/>
        </p:nvSpPr>
        <p:spPr>
          <a:xfrm>
            <a:off x="62680" y="882829"/>
            <a:ext cx="609765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https://</a:t>
            </a:r>
            <a:r>
              <a:rPr lang="en-GB" sz="1800" dirty="0" err="1">
                <a:solidFill>
                  <a:schemeClr val="dk1"/>
                </a:solidFill>
                <a:latin typeface="+mn-lt"/>
                <a:ea typeface="Calibri"/>
                <a:cs typeface="Calibri"/>
                <a:sym typeface="Calibri"/>
              </a:rPr>
              <a:t>doi.org</a:t>
            </a:r>
            <a:r>
              <a:rPr lang="en-GB" sz="1800" dirty="0">
                <a:solidFill>
                  <a:schemeClr val="dk1"/>
                </a:solidFill>
                <a:latin typeface="+mn-lt"/>
                <a:ea typeface="Calibri"/>
                <a:cs typeface="Calibri"/>
                <a:sym typeface="Calibri"/>
              </a:rPr>
              <a:t>/10.1016/j.agee.2018.11.027</a:t>
            </a:r>
            <a:endParaRPr sz="1800" dirty="0">
              <a:solidFill>
                <a:schemeClr val="dk1"/>
              </a:solidFill>
              <a:latin typeface="+mn-lt"/>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0" y="-965078"/>
            <a:ext cx="10515600" cy="27681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sz="3200" b="1" dirty="0">
                <a:solidFill>
                  <a:srgbClr val="C00000"/>
                </a:solidFill>
                <a:latin typeface="+mj-lt"/>
              </a:rPr>
              <a:t>A perspective on grassland degradation</a:t>
            </a:r>
            <a:br>
              <a:rPr lang="en-GB" sz="3600" b="1" dirty="0">
                <a:solidFill>
                  <a:srgbClr val="C00000"/>
                </a:solidFill>
                <a:latin typeface="+mj-lt"/>
              </a:rPr>
            </a:br>
            <a:r>
              <a:rPr lang="en-GB" sz="1050" b="1" dirty="0">
                <a:solidFill>
                  <a:schemeClr val="bg1"/>
                </a:solidFill>
                <a:latin typeface="+mj-lt"/>
              </a:rPr>
              <a:t>.</a:t>
            </a:r>
            <a:r>
              <a:rPr lang="en-GB" sz="1100" b="1" dirty="0">
                <a:solidFill>
                  <a:schemeClr val="bg1"/>
                </a:solidFill>
                <a:latin typeface="+mj-lt"/>
              </a:rPr>
              <a:t>.</a:t>
            </a:r>
            <a:r>
              <a:rPr lang="en-GB" sz="1800" b="1" dirty="0">
                <a:solidFill>
                  <a:srgbClr val="C00000"/>
                </a:solidFill>
                <a:latin typeface="+mj-lt"/>
              </a:rPr>
              <a:t>          </a:t>
            </a:r>
            <a:r>
              <a:rPr lang="en-GB" sz="1400" b="0" dirty="0">
                <a:solidFill>
                  <a:srgbClr val="3A689B"/>
                </a:solidFill>
                <a:latin typeface="Noto Sans Symbols"/>
                <a:ea typeface="Noto Sans Symbols"/>
                <a:cs typeface="Noto Sans Symbols"/>
                <a:sym typeface="Noto Sans Symbols"/>
              </a:rPr>
              <a:t>https://</a:t>
            </a:r>
            <a:r>
              <a:rPr lang="en-GB" sz="1400" b="0" dirty="0" err="1">
                <a:solidFill>
                  <a:srgbClr val="3A689B"/>
                </a:solidFill>
                <a:latin typeface="Noto Sans Symbols"/>
                <a:ea typeface="Noto Sans Symbols"/>
                <a:cs typeface="Noto Sans Symbols"/>
                <a:sym typeface="Noto Sans Symbols"/>
              </a:rPr>
              <a:t>doi.org</a:t>
            </a:r>
            <a:r>
              <a:rPr lang="en-GB" sz="1400" b="0" dirty="0">
                <a:solidFill>
                  <a:srgbClr val="3A689B"/>
                </a:solidFill>
                <a:latin typeface="Noto Sans Symbols"/>
                <a:ea typeface="Noto Sans Symbols"/>
                <a:cs typeface="Noto Sans Symbols"/>
                <a:sym typeface="Noto Sans Symbols"/>
              </a:rPr>
              <a:t>/10.1038/s43017-021-00207-2</a:t>
            </a:r>
            <a:r>
              <a:rPr lang="en-GB" sz="1400" b="0" dirty="0">
                <a:latin typeface="Noto Sans Symbols"/>
                <a:ea typeface="Noto Sans Symbols"/>
                <a:cs typeface="Noto Sans Symbols"/>
                <a:sym typeface="Noto Sans Symbols"/>
              </a:rPr>
              <a:t>. </a:t>
            </a:r>
            <a:endParaRPr dirty="0"/>
          </a:p>
        </p:txBody>
      </p:sp>
      <p:pic>
        <p:nvPicPr>
          <p:cNvPr id="238" name="Google Shape;238;p14"/>
          <p:cNvPicPr preferRelativeResize="0">
            <a:picLocks noGrp="1"/>
          </p:cNvPicPr>
          <p:nvPr>
            <p:ph type="body" idx="1"/>
          </p:nvPr>
        </p:nvPicPr>
        <p:blipFill rotWithShape="1">
          <a:blip r:embed="rId3">
            <a:alphaModFix/>
          </a:blip>
          <a:srcRect l="2898" r="54348"/>
          <a:stretch/>
        </p:blipFill>
        <p:spPr>
          <a:xfrm>
            <a:off x="775286" y="941944"/>
            <a:ext cx="2338975" cy="5916056"/>
          </a:xfrm>
          <a:prstGeom prst="rect">
            <a:avLst/>
          </a:prstGeom>
          <a:noFill/>
          <a:ln>
            <a:noFill/>
          </a:ln>
        </p:spPr>
      </p:pic>
      <p:pic>
        <p:nvPicPr>
          <p:cNvPr id="239" name="Google Shape;239;p14"/>
          <p:cNvPicPr preferRelativeResize="0"/>
          <p:nvPr/>
        </p:nvPicPr>
        <p:blipFill rotWithShape="1">
          <a:blip r:embed="rId4">
            <a:alphaModFix/>
          </a:blip>
          <a:srcRect/>
          <a:stretch/>
        </p:blipFill>
        <p:spPr>
          <a:xfrm>
            <a:off x="6261102" y="3774240"/>
            <a:ext cx="5690289" cy="2886051"/>
          </a:xfrm>
          <a:prstGeom prst="rect">
            <a:avLst/>
          </a:prstGeom>
          <a:noFill/>
          <a:ln>
            <a:noFill/>
          </a:ln>
        </p:spPr>
      </p:pic>
      <p:pic>
        <p:nvPicPr>
          <p:cNvPr id="240" name="Google Shape;240;p14"/>
          <p:cNvPicPr preferRelativeResize="0"/>
          <p:nvPr/>
        </p:nvPicPr>
        <p:blipFill rotWithShape="1">
          <a:blip r:embed="rId5">
            <a:alphaModFix/>
          </a:blip>
          <a:srcRect b="81434"/>
          <a:stretch/>
        </p:blipFill>
        <p:spPr>
          <a:xfrm>
            <a:off x="6415518" y="718427"/>
            <a:ext cx="5381456" cy="593124"/>
          </a:xfrm>
          <a:prstGeom prst="rect">
            <a:avLst/>
          </a:prstGeom>
          <a:noFill/>
          <a:ln>
            <a:noFill/>
          </a:ln>
        </p:spPr>
      </p:pic>
      <p:pic>
        <p:nvPicPr>
          <p:cNvPr id="2" name="Google Shape;238;p14">
            <a:extLst>
              <a:ext uri="{FF2B5EF4-FFF2-40B4-BE49-F238E27FC236}">
                <a16:creationId xmlns:a16="http://schemas.microsoft.com/office/drawing/2014/main" id="{DB2AB812-97EF-697F-9CD0-D86E166760B8}"/>
              </a:ext>
            </a:extLst>
          </p:cNvPr>
          <p:cNvPicPr preferRelativeResize="0">
            <a:picLocks/>
          </p:cNvPicPr>
          <p:nvPr/>
        </p:nvPicPr>
        <p:blipFill rotWithShape="1">
          <a:blip r:embed="rId3">
            <a:alphaModFix/>
          </a:blip>
          <a:srcRect l="55556"/>
          <a:stretch/>
        </p:blipFill>
        <p:spPr>
          <a:xfrm>
            <a:off x="3445601" y="941944"/>
            <a:ext cx="2485299" cy="5916056"/>
          </a:xfrm>
          <a:prstGeom prst="rect">
            <a:avLst/>
          </a:prstGeom>
          <a:noFill/>
          <a:ln>
            <a:noFill/>
          </a:ln>
        </p:spPr>
      </p:pic>
      <p:pic>
        <p:nvPicPr>
          <p:cNvPr id="3" name="Google Shape;240;p14">
            <a:extLst>
              <a:ext uri="{FF2B5EF4-FFF2-40B4-BE49-F238E27FC236}">
                <a16:creationId xmlns:a16="http://schemas.microsoft.com/office/drawing/2014/main" id="{B0017563-752C-3C35-9518-8F67BE2B18C3}"/>
              </a:ext>
            </a:extLst>
          </p:cNvPr>
          <p:cNvPicPr preferRelativeResize="0"/>
          <p:nvPr/>
        </p:nvPicPr>
        <p:blipFill rotWithShape="1">
          <a:blip r:embed="rId5">
            <a:alphaModFix/>
          </a:blip>
          <a:srcRect t="36351"/>
          <a:stretch/>
        </p:blipFill>
        <p:spPr>
          <a:xfrm>
            <a:off x="6394620" y="1311551"/>
            <a:ext cx="5517381" cy="22797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5"/>
          <p:cNvPicPr preferRelativeResize="0"/>
          <p:nvPr/>
        </p:nvPicPr>
        <p:blipFill rotWithShape="1">
          <a:blip r:embed="rId3">
            <a:alphaModFix/>
          </a:blip>
          <a:srcRect t="4803" b="24804"/>
          <a:stretch/>
        </p:blipFill>
        <p:spPr>
          <a:xfrm>
            <a:off x="3661833" y="234776"/>
            <a:ext cx="4868333" cy="2570206"/>
          </a:xfrm>
          <a:prstGeom prst="rect">
            <a:avLst/>
          </a:prstGeom>
          <a:noFill/>
          <a:ln>
            <a:noFill/>
          </a:ln>
        </p:spPr>
      </p:pic>
      <p:pic>
        <p:nvPicPr>
          <p:cNvPr id="246" name="Google Shape;246;p15"/>
          <p:cNvPicPr preferRelativeResize="0"/>
          <p:nvPr/>
        </p:nvPicPr>
        <p:blipFill rotWithShape="1">
          <a:blip r:embed="rId4">
            <a:alphaModFix/>
          </a:blip>
          <a:srcRect/>
          <a:stretch/>
        </p:blipFill>
        <p:spPr>
          <a:xfrm>
            <a:off x="6719101" y="3052293"/>
            <a:ext cx="5052542" cy="3608002"/>
          </a:xfrm>
          <a:prstGeom prst="rect">
            <a:avLst/>
          </a:prstGeom>
          <a:noFill/>
          <a:ln>
            <a:noFill/>
          </a:ln>
        </p:spPr>
      </p:pic>
      <p:pic>
        <p:nvPicPr>
          <p:cNvPr id="247" name="Google Shape;247;p15"/>
          <p:cNvPicPr preferRelativeResize="0"/>
          <p:nvPr/>
        </p:nvPicPr>
        <p:blipFill rotWithShape="1">
          <a:blip r:embed="rId5">
            <a:alphaModFix/>
          </a:blip>
          <a:srcRect/>
          <a:stretch/>
        </p:blipFill>
        <p:spPr>
          <a:xfrm>
            <a:off x="420359" y="3052293"/>
            <a:ext cx="5052542" cy="3608002"/>
          </a:xfrm>
          <a:prstGeom prst="rect">
            <a:avLst/>
          </a:prstGeom>
          <a:noFill/>
          <a:ln>
            <a:noFill/>
          </a:ln>
        </p:spPr>
      </p:pic>
      <p:sp>
        <p:nvSpPr>
          <p:cNvPr id="248" name="Google Shape;248;p15"/>
          <p:cNvSpPr txBox="1"/>
          <p:nvPr/>
        </p:nvSpPr>
        <p:spPr>
          <a:xfrm>
            <a:off x="37071" y="37071"/>
            <a:ext cx="3492500"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GB" sz="3200" b="1" dirty="0">
                <a:solidFill>
                  <a:srgbClr val="C00000"/>
                </a:solidFill>
                <a:latin typeface="+mj-lt"/>
                <a:ea typeface="Calibri"/>
                <a:cs typeface="Calibri"/>
                <a:sym typeface="Calibri"/>
              </a:rPr>
              <a:t>Solutions!</a:t>
            </a:r>
            <a:endParaRPr sz="3200" b="1" dirty="0">
              <a:solidFill>
                <a:srgbClr val="C00000"/>
              </a:solidFill>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5" name="Google Shape;255;p16"/>
          <p:cNvPicPr preferRelativeResize="0"/>
          <p:nvPr/>
        </p:nvPicPr>
        <p:blipFill rotWithShape="1">
          <a:blip r:embed="rId3">
            <a:alphaModFix/>
          </a:blip>
          <a:srcRect l="1172" t="1685" r="1268" b="1953"/>
          <a:stretch/>
        </p:blipFill>
        <p:spPr>
          <a:xfrm>
            <a:off x="1851103" y="161692"/>
            <a:ext cx="8920976" cy="660152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9"/>
        <p:cNvGrpSpPr/>
        <p:nvPr/>
      </p:nvGrpSpPr>
      <p:grpSpPr>
        <a:xfrm>
          <a:off x="0" y="0"/>
          <a:ext cx="0" cy="0"/>
          <a:chOff x="0" y="0"/>
          <a:chExt cx="0" cy="0"/>
        </a:xfrm>
      </p:grpSpPr>
      <p:sp>
        <p:nvSpPr>
          <p:cNvPr id="266" name="Google Shape;266;p17"/>
          <p:cNvSpPr txBox="1">
            <a:spLocks noGrp="1"/>
          </p:cNvSpPr>
          <p:nvPr>
            <p:ph type="title"/>
          </p:nvPr>
        </p:nvSpPr>
        <p:spPr>
          <a:xfrm>
            <a:off x="61785" y="0"/>
            <a:ext cx="9279924" cy="963827"/>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FFFFF"/>
              </a:buClr>
              <a:buSzPts val="3700"/>
              <a:buFont typeface="Calibri"/>
              <a:buNone/>
            </a:pPr>
            <a:r>
              <a:rPr lang="en-GB" sz="3200" b="1" dirty="0">
                <a:solidFill>
                  <a:srgbClr val="C00000"/>
                </a:solidFill>
                <a:latin typeface="+mj-lt"/>
              </a:rPr>
              <a:t>Issue 2:</a:t>
            </a:r>
            <a:br>
              <a:rPr lang="en-GB" sz="3200" dirty="0">
                <a:solidFill>
                  <a:srgbClr val="C00000"/>
                </a:solidFill>
                <a:latin typeface="+mj-lt"/>
              </a:rPr>
            </a:br>
            <a:r>
              <a:rPr lang="en-GB" sz="3200" dirty="0">
                <a:solidFill>
                  <a:srgbClr val="C00000"/>
                </a:solidFill>
                <a:latin typeface="+mj-lt"/>
              </a:rPr>
              <a:t>Greenhouse gas emissions (CH</a:t>
            </a:r>
            <a:r>
              <a:rPr lang="en-GB" sz="3200" baseline="-25000" dirty="0">
                <a:solidFill>
                  <a:srgbClr val="C00000"/>
                </a:solidFill>
                <a:latin typeface="+mj-lt"/>
              </a:rPr>
              <a:t>4</a:t>
            </a:r>
            <a:r>
              <a:rPr lang="en-GB" sz="3200" dirty="0">
                <a:solidFill>
                  <a:srgbClr val="C00000"/>
                </a:solidFill>
                <a:latin typeface="+mj-lt"/>
              </a:rPr>
              <a:t>, CO</a:t>
            </a:r>
            <a:r>
              <a:rPr lang="en-GB" sz="3200" baseline="-25000" dirty="0">
                <a:solidFill>
                  <a:srgbClr val="C00000"/>
                </a:solidFill>
                <a:latin typeface="+mj-lt"/>
              </a:rPr>
              <a:t>2</a:t>
            </a:r>
            <a:r>
              <a:rPr lang="en-GB" sz="3200" dirty="0">
                <a:solidFill>
                  <a:srgbClr val="C00000"/>
                </a:solidFill>
                <a:latin typeface="+mj-lt"/>
              </a:rPr>
              <a:t>, N</a:t>
            </a:r>
            <a:r>
              <a:rPr lang="en-GB" sz="3200" baseline="-25000" dirty="0">
                <a:solidFill>
                  <a:srgbClr val="C00000"/>
                </a:solidFill>
                <a:latin typeface="+mj-lt"/>
              </a:rPr>
              <a:t>2</a:t>
            </a:r>
            <a:r>
              <a:rPr lang="en-GB" sz="3200" dirty="0">
                <a:solidFill>
                  <a:srgbClr val="C00000"/>
                </a:solidFill>
                <a:latin typeface="+mj-lt"/>
              </a:rPr>
              <a:t>O)</a:t>
            </a:r>
            <a:endParaRPr sz="3200" dirty="0">
              <a:solidFill>
                <a:srgbClr val="C00000"/>
              </a:solidFill>
              <a:latin typeface="+mj-lt"/>
            </a:endParaRPr>
          </a:p>
        </p:txBody>
      </p:sp>
      <p:grpSp>
        <p:nvGrpSpPr>
          <p:cNvPr id="267" name="Google Shape;267;p17"/>
          <p:cNvGrpSpPr/>
          <p:nvPr/>
        </p:nvGrpSpPr>
        <p:grpSpPr>
          <a:xfrm>
            <a:off x="2762583" y="1408671"/>
            <a:ext cx="6666833" cy="4976136"/>
            <a:chOff x="0" y="54331"/>
            <a:chExt cx="6666833" cy="5345257"/>
          </a:xfrm>
        </p:grpSpPr>
        <p:sp>
          <p:nvSpPr>
            <p:cNvPr id="268" name="Google Shape;268;p17"/>
            <p:cNvSpPr/>
            <p:nvPr/>
          </p:nvSpPr>
          <p:spPr>
            <a:xfrm>
              <a:off x="0" y="54331"/>
              <a:ext cx="6666833" cy="1286634"/>
            </a:xfrm>
            <a:prstGeom prst="roundRect">
              <a:avLst>
                <a:gd name="adj" fmla="val 16667"/>
              </a:avLst>
            </a:prstGeom>
            <a:gradFill>
              <a:gsLst>
                <a:gs pos="0">
                  <a:srgbClr val="F08B54"/>
                </a:gs>
                <a:gs pos="50000">
                  <a:srgbClr val="F67A26"/>
                </a:gs>
                <a:gs pos="100000">
                  <a:srgbClr val="E36A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mn-lt"/>
              </a:endParaRPr>
            </a:p>
          </p:txBody>
        </p:sp>
        <p:sp>
          <p:nvSpPr>
            <p:cNvPr id="269" name="Google Shape;269;p17"/>
            <p:cNvSpPr txBox="1"/>
            <p:nvPr/>
          </p:nvSpPr>
          <p:spPr>
            <a:xfrm>
              <a:off x="62808" y="117139"/>
              <a:ext cx="6541217"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GB" sz="2000" dirty="0">
                  <a:solidFill>
                    <a:schemeClr val="lt1"/>
                  </a:solidFill>
                  <a:latin typeface="+mn-lt"/>
                  <a:ea typeface="Calibri"/>
                  <a:cs typeface="Calibri"/>
                  <a:sym typeface="Calibri"/>
                </a:rPr>
                <a:t>Globally, agriculture contributes 25% of all greenhouse gas emissions from human activity</a:t>
              </a:r>
              <a:endParaRPr sz="2000" dirty="0">
                <a:solidFill>
                  <a:schemeClr val="lt1"/>
                </a:solidFill>
                <a:latin typeface="+mn-lt"/>
                <a:ea typeface="Calibri"/>
                <a:cs typeface="Calibri"/>
                <a:sym typeface="Calibri"/>
              </a:endParaRPr>
            </a:p>
          </p:txBody>
        </p:sp>
        <p:sp>
          <p:nvSpPr>
            <p:cNvPr id="270" name="Google Shape;270;p17"/>
            <p:cNvSpPr/>
            <p:nvPr/>
          </p:nvSpPr>
          <p:spPr>
            <a:xfrm>
              <a:off x="0" y="1407205"/>
              <a:ext cx="6666833" cy="1286634"/>
            </a:xfrm>
            <a:prstGeom prst="roundRect">
              <a:avLst>
                <a:gd name="adj" fmla="val 16667"/>
              </a:avLst>
            </a:prstGeom>
            <a:gradFill>
              <a:gsLst>
                <a:gs pos="0">
                  <a:srgbClr val="D58870"/>
                </a:gs>
                <a:gs pos="50000">
                  <a:srgbClr val="D57755"/>
                </a:gs>
                <a:gs pos="100000">
                  <a:srgbClr val="C26543"/>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mn-lt"/>
              </a:endParaRPr>
            </a:p>
          </p:txBody>
        </p:sp>
        <p:sp>
          <p:nvSpPr>
            <p:cNvPr id="271" name="Google Shape;271;p17"/>
            <p:cNvSpPr txBox="1"/>
            <p:nvPr/>
          </p:nvSpPr>
          <p:spPr>
            <a:xfrm>
              <a:off x="62808" y="1470013"/>
              <a:ext cx="6541217"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GB" sz="2000" dirty="0">
                  <a:solidFill>
                    <a:schemeClr val="lt1"/>
                  </a:solidFill>
                  <a:latin typeface="+mn-lt"/>
                  <a:ea typeface="Calibri"/>
                  <a:cs typeface="Calibri"/>
                  <a:sym typeface="Calibri"/>
                </a:rPr>
                <a:t>Emissions occur at various stages of production (direct loss from animals; soils; storage of effluent; transport etc)</a:t>
              </a:r>
              <a:endParaRPr sz="2000" dirty="0">
                <a:solidFill>
                  <a:schemeClr val="lt1"/>
                </a:solidFill>
                <a:latin typeface="+mn-lt"/>
                <a:ea typeface="Calibri"/>
                <a:cs typeface="Calibri"/>
                <a:sym typeface="Calibri"/>
              </a:endParaRPr>
            </a:p>
          </p:txBody>
        </p:sp>
        <p:sp>
          <p:nvSpPr>
            <p:cNvPr id="272" name="Google Shape;272;p17"/>
            <p:cNvSpPr/>
            <p:nvPr/>
          </p:nvSpPr>
          <p:spPr>
            <a:xfrm>
              <a:off x="0" y="2760080"/>
              <a:ext cx="6666833" cy="1286634"/>
            </a:xfrm>
            <a:prstGeom prst="roundRect">
              <a:avLst>
                <a:gd name="adj" fmla="val 16667"/>
              </a:avLst>
            </a:prstGeom>
            <a:gradFill>
              <a:gsLst>
                <a:gs pos="0">
                  <a:srgbClr val="BF948F"/>
                </a:gs>
                <a:gs pos="50000">
                  <a:srgbClr val="BA857E"/>
                </a:gs>
                <a:gs pos="100000">
                  <a:srgbClr val="A7746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mn-lt"/>
              </a:endParaRPr>
            </a:p>
          </p:txBody>
        </p:sp>
        <p:sp>
          <p:nvSpPr>
            <p:cNvPr id="273" name="Google Shape;273;p17"/>
            <p:cNvSpPr txBox="1"/>
            <p:nvPr/>
          </p:nvSpPr>
          <p:spPr>
            <a:xfrm>
              <a:off x="62808" y="2822888"/>
              <a:ext cx="6541217"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GB" sz="2000" dirty="0">
                  <a:solidFill>
                    <a:schemeClr val="lt1"/>
                  </a:solidFill>
                  <a:latin typeface="+mn-lt"/>
                  <a:ea typeface="Calibri"/>
                  <a:cs typeface="Calibri"/>
                  <a:sym typeface="Calibri"/>
                </a:rPr>
                <a:t>There is </a:t>
              </a:r>
              <a:r>
                <a:rPr lang="en-GB" sz="2000" b="1" dirty="0">
                  <a:solidFill>
                    <a:schemeClr val="lt1"/>
                  </a:solidFill>
                  <a:latin typeface="+mn-lt"/>
                  <a:ea typeface="Calibri"/>
                  <a:cs typeface="Calibri"/>
                  <a:sym typeface="Calibri"/>
                </a:rPr>
                <a:t>huge variability in emissions</a:t>
              </a:r>
              <a:r>
                <a:rPr lang="en-GB" sz="2000" dirty="0">
                  <a:solidFill>
                    <a:schemeClr val="lt1"/>
                  </a:solidFill>
                  <a:latin typeface="+mn-lt"/>
                  <a:ea typeface="Calibri"/>
                  <a:cs typeface="Calibri"/>
                  <a:sym typeface="Calibri"/>
                </a:rPr>
                <a:t> depending on the agricultural practice and location </a:t>
              </a:r>
              <a:endParaRPr sz="2000" dirty="0">
                <a:solidFill>
                  <a:schemeClr val="lt1"/>
                </a:solidFill>
                <a:latin typeface="+mn-lt"/>
                <a:ea typeface="Calibri"/>
                <a:cs typeface="Calibri"/>
                <a:sym typeface="Calibri"/>
              </a:endParaRPr>
            </a:p>
          </p:txBody>
        </p:sp>
        <p:sp>
          <p:nvSpPr>
            <p:cNvPr id="274" name="Google Shape;274;p17"/>
            <p:cNvSpPr/>
            <p:nvPr/>
          </p:nvSpPr>
          <p:spPr>
            <a:xfrm>
              <a:off x="0" y="4112954"/>
              <a:ext cx="6666833" cy="1286634"/>
            </a:xfrm>
            <a:prstGeom prst="roundRect">
              <a:avLst>
                <a:gd name="adj" fmla="val 16667"/>
              </a:avLst>
            </a:prstGeom>
            <a:gradFill>
              <a:gsLst>
                <a:gs pos="0">
                  <a:srgbClr val="AEAEAE"/>
                </a:gs>
                <a:gs pos="50000">
                  <a:srgbClr val="A4A4A4"/>
                </a:gs>
                <a:gs pos="100000">
                  <a:srgbClr val="909090"/>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mn-lt"/>
              </a:endParaRPr>
            </a:p>
          </p:txBody>
        </p:sp>
        <p:sp>
          <p:nvSpPr>
            <p:cNvPr id="275" name="Google Shape;275;p17"/>
            <p:cNvSpPr txBox="1"/>
            <p:nvPr/>
          </p:nvSpPr>
          <p:spPr>
            <a:xfrm>
              <a:off x="62808" y="4175762"/>
              <a:ext cx="6541217"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GB" sz="2000">
                  <a:solidFill>
                    <a:schemeClr val="lt1"/>
                  </a:solidFill>
                  <a:latin typeface="+mn-lt"/>
                  <a:ea typeface="Calibri"/>
                  <a:cs typeface="Calibri"/>
                  <a:sym typeface="Calibri"/>
                </a:rPr>
                <a:t>Soil management is key: some greenhouse gases are mainly soil derived (e.g. N</a:t>
              </a:r>
              <a:r>
                <a:rPr lang="en-GB" sz="2000" baseline="-25000">
                  <a:solidFill>
                    <a:schemeClr val="lt1"/>
                  </a:solidFill>
                  <a:latin typeface="+mn-lt"/>
                  <a:ea typeface="Calibri"/>
                  <a:cs typeface="Calibri"/>
                  <a:sym typeface="Calibri"/>
                </a:rPr>
                <a:t>2</a:t>
              </a:r>
              <a:r>
                <a:rPr lang="en-GB" sz="2000">
                  <a:solidFill>
                    <a:schemeClr val="lt1"/>
                  </a:solidFill>
                  <a:latin typeface="+mn-lt"/>
                  <a:ea typeface="Calibri"/>
                  <a:cs typeface="Calibri"/>
                  <a:sym typeface="Calibri"/>
                </a:rPr>
                <a:t>O, nitrous oxide)</a:t>
              </a:r>
              <a:endParaRPr sz="2000">
                <a:solidFill>
                  <a:schemeClr val="lt1"/>
                </a:solidFill>
                <a:latin typeface="+mn-lt"/>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1" name="Google Shape;281;p18"/>
          <p:cNvSpPr txBox="1">
            <a:spLocks noGrp="1"/>
          </p:cNvSpPr>
          <p:nvPr>
            <p:ph type="title"/>
          </p:nvPr>
        </p:nvSpPr>
        <p:spPr>
          <a:xfrm>
            <a:off x="61785" y="285266"/>
            <a:ext cx="11139854" cy="287025"/>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rgbClr val="FFFFFF"/>
              </a:buClr>
              <a:buSzPts val="5400"/>
              <a:buFont typeface="Calibri"/>
              <a:buNone/>
            </a:pPr>
            <a:r>
              <a:rPr lang="en-GB" sz="3200" b="1" dirty="0">
                <a:solidFill>
                  <a:srgbClr val="C00000"/>
                </a:solidFill>
                <a:latin typeface="+mj-lt"/>
              </a:rPr>
              <a:t>Global patterns of N</a:t>
            </a:r>
            <a:r>
              <a:rPr lang="en-GB" sz="3200" b="1" baseline="-25000" dirty="0">
                <a:solidFill>
                  <a:srgbClr val="C00000"/>
                </a:solidFill>
                <a:latin typeface="+mj-lt"/>
              </a:rPr>
              <a:t>2</a:t>
            </a:r>
            <a:r>
              <a:rPr lang="en-GB" sz="3200" b="1" dirty="0">
                <a:solidFill>
                  <a:srgbClr val="C00000"/>
                </a:solidFill>
                <a:latin typeface="+mj-lt"/>
              </a:rPr>
              <a:t>O emissions</a:t>
            </a:r>
            <a:endParaRPr sz="3200" dirty="0">
              <a:solidFill>
                <a:srgbClr val="C00000"/>
              </a:solidFill>
              <a:latin typeface="+mj-lt"/>
            </a:endParaRPr>
          </a:p>
        </p:txBody>
      </p:sp>
      <p:pic>
        <p:nvPicPr>
          <p:cNvPr id="285" name="Google Shape;285;p18"/>
          <p:cNvPicPr preferRelativeResize="0"/>
          <p:nvPr/>
        </p:nvPicPr>
        <p:blipFill rotWithShape="1">
          <a:blip r:embed="rId3">
            <a:alphaModFix/>
          </a:blip>
          <a:srcRect l="1236" t="1872" r="1351" b="1743"/>
          <a:stretch/>
        </p:blipFill>
        <p:spPr>
          <a:xfrm>
            <a:off x="3159983" y="1188875"/>
            <a:ext cx="8942807" cy="4743573"/>
          </a:xfrm>
          <a:prstGeom prst="rect">
            <a:avLst/>
          </a:prstGeom>
          <a:noFill/>
          <a:ln>
            <a:noFill/>
          </a:ln>
        </p:spPr>
      </p:pic>
      <p:pic>
        <p:nvPicPr>
          <p:cNvPr id="283" name="Google Shape;283;p18"/>
          <p:cNvPicPr preferRelativeResize="0">
            <a:picLocks noGrp="1"/>
          </p:cNvPicPr>
          <p:nvPr>
            <p:ph type="body" idx="1"/>
          </p:nvPr>
        </p:nvPicPr>
        <p:blipFill rotWithShape="1">
          <a:blip r:embed="rId4">
            <a:alphaModFix/>
          </a:blip>
          <a:srcRect l="958" t="16885" r="7668" b="4535"/>
          <a:stretch/>
        </p:blipFill>
        <p:spPr>
          <a:xfrm>
            <a:off x="110580" y="2587599"/>
            <a:ext cx="3060556" cy="1984399"/>
          </a:xfrm>
          <a:prstGeom prst="roundRect">
            <a:avLst>
              <a:gd name="adj" fmla="val 29365"/>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grpSp>
        <p:nvGrpSpPr>
          <p:cNvPr id="2" name="Group 1">
            <a:extLst>
              <a:ext uri="{FF2B5EF4-FFF2-40B4-BE49-F238E27FC236}">
                <a16:creationId xmlns:a16="http://schemas.microsoft.com/office/drawing/2014/main" id="{9179F1C9-726D-151D-6096-E12A5F8EE5BE}"/>
              </a:ext>
            </a:extLst>
          </p:cNvPr>
          <p:cNvGrpSpPr/>
          <p:nvPr/>
        </p:nvGrpSpPr>
        <p:grpSpPr>
          <a:xfrm>
            <a:off x="2520408" y="1041103"/>
            <a:ext cx="7151184" cy="5688657"/>
            <a:chOff x="2561528" y="1387475"/>
            <a:chExt cx="6416675" cy="5041901"/>
          </a:xfrm>
        </p:grpSpPr>
        <p:pic>
          <p:nvPicPr>
            <p:cNvPr id="298" name="Google Shape;298;p19"/>
            <p:cNvPicPr preferRelativeResize="0"/>
            <p:nvPr/>
          </p:nvPicPr>
          <p:blipFill rotWithShape="1">
            <a:blip r:embed="rId3">
              <a:alphaModFix/>
            </a:blip>
            <a:srcRect/>
            <a:stretch/>
          </p:blipFill>
          <p:spPr>
            <a:xfrm>
              <a:off x="2561528" y="1387475"/>
              <a:ext cx="6416675" cy="2041525"/>
            </a:xfrm>
            <a:prstGeom prst="rect">
              <a:avLst/>
            </a:prstGeom>
            <a:noFill/>
            <a:ln>
              <a:noFill/>
            </a:ln>
          </p:spPr>
        </p:pic>
        <p:pic>
          <p:nvPicPr>
            <p:cNvPr id="299" name="Google Shape;299;p19"/>
            <p:cNvPicPr preferRelativeResize="0"/>
            <p:nvPr/>
          </p:nvPicPr>
          <p:blipFill rotWithShape="1">
            <a:blip r:embed="rId4">
              <a:alphaModFix/>
            </a:blip>
            <a:srcRect/>
            <a:stretch/>
          </p:blipFill>
          <p:spPr>
            <a:xfrm>
              <a:off x="2561528" y="3490913"/>
              <a:ext cx="2320925" cy="2041525"/>
            </a:xfrm>
            <a:prstGeom prst="rect">
              <a:avLst/>
            </a:prstGeom>
            <a:noFill/>
            <a:ln>
              <a:noFill/>
            </a:ln>
          </p:spPr>
        </p:pic>
        <p:pic>
          <p:nvPicPr>
            <p:cNvPr id="300" name="Google Shape;300;p19"/>
            <p:cNvPicPr preferRelativeResize="0"/>
            <p:nvPr/>
          </p:nvPicPr>
          <p:blipFill rotWithShape="1">
            <a:blip r:embed="rId5">
              <a:alphaModFix/>
            </a:blip>
            <a:srcRect/>
            <a:stretch/>
          </p:blipFill>
          <p:spPr>
            <a:xfrm>
              <a:off x="2561528" y="5594350"/>
              <a:ext cx="1130300" cy="835025"/>
            </a:xfrm>
            <a:prstGeom prst="rect">
              <a:avLst/>
            </a:prstGeom>
            <a:noFill/>
            <a:ln>
              <a:noFill/>
            </a:ln>
          </p:spPr>
        </p:pic>
        <p:pic>
          <p:nvPicPr>
            <p:cNvPr id="301" name="Google Shape;301;p19"/>
            <p:cNvPicPr preferRelativeResize="0"/>
            <p:nvPr/>
          </p:nvPicPr>
          <p:blipFill rotWithShape="1">
            <a:blip r:embed="rId6">
              <a:alphaModFix/>
            </a:blip>
            <a:srcRect/>
            <a:stretch/>
          </p:blipFill>
          <p:spPr>
            <a:xfrm>
              <a:off x="3753741" y="5594350"/>
              <a:ext cx="1130300" cy="835025"/>
            </a:xfrm>
            <a:prstGeom prst="rect">
              <a:avLst/>
            </a:prstGeom>
            <a:noFill/>
            <a:ln>
              <a:noFill/>
            </a:ln>
          </p:spPr>
        </p:pic>
        <p:pic>
          <p:nvPicPr>
            <p:cNvPr id="302" name="Google Shape;302;p19"/>
            <p:cNvPicPr preferRelativeResize="0"/>
            <p:nvPr/>
          </p:nvPicPr>
          <p:blipFill rotWithShape="1">
            <a:blip r:embed="rId7">
              <a:alphaModFix/>
            </a:blip>
            <a:srcRect/>
            <a:stretch/>
          </p:blipFill>
          <p:spPr>
            <a:xfrm>
              <a:off x="4945953" y="3490913"/>
              <a:ext cx="4032250" cy="2938463"/>
            </a:xfrm>
            <a:prstGeom prst="rect">
              <a:avLst/>
            </a:prstGeom>
            <a:noFill/>
            <a:ln>
              <a:noFill/>
            </a:ln>
          </p:spPr>
        </p:pic>
      </p:grpSp>
      <p:sp>
        <p:nvSpPr>
          <p:cNvPr id="303" name="Google Shape;303;p19"/>
          <p:cNvSpPr txBox="1">
            <a:spLocks noGrp="1"/>
          </p:cNvSpPr>
          <p:nvPr>
            <p:ph type="title"/>
          </p:nvPr>
        </p:nvSpPr>
        <p:spPr>
          <a:xfrm>
            <a:off x="44604" y="-11582"/>
            <a:ext cx="11708779" cy="6381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GB" sz="3200" b="1" dirty="0">
                <a:solidFill>
                  <a:srgbClr val="C00000"/>
                </a:solidFill>
                <a:latin typeface="+mj-lt"/>
              </a:rPr>
              <a:t>Nitrogen cycling is an important aspect of soil biology</a:t>
            </a:r>
            <a:endParaRPr sz="3200" b="1" dirty="0">
              <a:solidFill>
                <a:srgbClr val="C00000"/>
              </a:solidFill>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20" descr="page41image4988240"/>
          <p:cNvPicPr preferRelativeResize="0"/>
          <p:nvPr/>
        </p:nvPicPr>
        <p:blipFill rotWithShape="1">
          <a:blip r:embed="rId3">
            <a:alphaModFix/>
          </a:blip>
          <a:srcRect l="3264" t="10468" r="3417" b="5771"/>
          <a:stretch/>
        </p:blipFill>
        <p:spPr>
          <a:xfrm>
            <a:off x="1379034" y="724830"/>
            <a:ext cx="9433932" cy="5887844"/>
          </a:xfrm>
          <a:prstGeom prst="rect">
            <a:avLst/>
          </a:prstGeom>
          <a:noFill/>
          <a:ln>
            <a:noFill/>
          </a:ln>
        </p:spPr>
      </p:pic>
      <p:sp>
        <p:nvSpPr>
          <p:cNvPr id="309" name="Google Shape;309;p20"/>
          <p:cNvSpPr txBox="1"/>
          <p:nvPr/>
        </p:nvSpPr>
        <p:spPr>
          <a:xfrm>
            <a:off x="0" y="0"/>
            <a:ext cx="11129545"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i="1" dirty="0">
                <a:solidFill>
                  <a:srgbClr val="C00000"/>
                </a:solidFill>
                <a:latin typeface="+mj-lt"/>
                <a:ea typeface="Calibri"/>
                <a:cs typeface="Calibri"/>
                <a:sym typeface="Calibri"/>
              </a:rPr>
              <a:t>‘Hole in the pipe’ </a:t>
            </a:r>
            <a:r>
              <a:rPr lang="en-GB" sz="2400" b="1" dirty="0">
                <a:solidFill>
                  <a:srgbClr val="C00000"/>
                </a:solidFill>
                <a:latin typeface="+mj-lt"/>
                <a:ea typeface="Calibri"/>
                <a:cs typeface="Calibri"/>
                <a:sym typeface="Calibri"/>
              </a:rPr>
              <a:t>model of nitrous oxide (N</a:t>
            </a:r>
            <a:r>
              <a:rPr lang="en-GB" sz="2400" b="1" baseline="-25000" dirty="0">
                <a:solidFill>
                  <a:srgbClr val="C00000"/>
                </a:solidFill>
                <a:latin typeface="+mj-lt"/>
                <a:ea typeface="Calibri"/>
                <a:cs typeface="Calibri"/>
                <a:sym typeface="Calibri"/>
              </a:rPr>
              <a:t>2</a:t>
            </a:r>
            <a:r>
              <a:rPr lang="en-GB" sz="2400" b="1" dirty="0">
                <a:solidFill>
                  <a:srgbClr val="C00000"/>
                </a:solidFill>
                <a:latin typeface="+mj-lt"/>
                <a:ea typeface="Calibri"/>
                <a:cs typeface="Calibri"/>
                <a:sym typeface="Calibri"/>
              </a:rPr>
              <a:t>O) production and consumption</a:t>
            </a:r>
            <a:endParaRPr sz="2400" dirty="0">
              <a:solidFill>
                <a:srgbClr val="C00000"/>
              </a:solidFill>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1"/>
          <p:cNvSpPr/>
          <p:nvPr/>
        </p:nvSpPr>
        <p:spPr>
          <a:xfrm>
            <a:off x="44604" y="0"/>
            <a:ext cx="11909948" cy="60016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a:solidFill>
                  <a:srgbClr val="C00000"/>
                </a:solidFill>
                <a:latin typeface="+mn-lt"/>
                <a:ea typeface="Calibri"/>
                <a:cs typeface="Calibri"/>
                <a:sym typeface="Calibri"/>
              </a:rPr>
              <a:t>Nitrate reduction: </a:t>
            </a:r>
            <a:r>
              <a:rPr lang="en-GB" sz="3200" b="1" i="1" dirty="0">
                <a:solidFill>
                  <a:srgbClr val="C00000"/>
                </a:solidFill>
                <a:latin typeface="+mn-lt"/>
                <a:ea typeface="Calibri"/>
                <a:cs typeface="Calibri"/>
                <a:sym typeface="Calibri"/>
              </a:rPr>
              <a:t>Denitrification </a:t>
            </a:r>
            <a:endParaRPr sz="3200" i="1" dirty="0">
              <a:solidFill>
                <a:srgbClr val="C00000"/>
              </a:solidFill>
              <a:latin typeface="+mn-lt"/>
              <a:ea typeface="Calibri"/>
              <a:cs typeface="Calibri"/>
              <a:sym typeface="Calibri"/>
            </a:endParaRPr>
          </a:p>
          <a:p>
            <a:pPr marL="0" marR="0" lvl="0" indent="0" algn="l" rtl="0">
              <a:spcBef>
                <a:spcPts val="0"/>
              </a:spcBef>
              <a:spcAft>
                <a:spcPts val="0"/>
              </a:spcAft>
              <a:buNone/>
            </a:pPr>
            <a:endParaRPr lang="en-GB" sz="3200" dirty="0">
              <a:solidFill>
                <a:srgbClr val="0000FF"/>
              </a:solidFill>
              <a:latin typeface="+mn-lt"/>
              <a:ea typeface="Calibri"/>
              <a:cs typeface="Calibri"/>
              <a:sym typeface="Calibri"/>
            </a:endParaRPr>
          </a:p>
          <a:p>
            <a:pPr marL="0" marR="0" lvl="0" indent="0" algn="l" rtl="0">
              <a:spcBef>
                <a:spcPts val="0"/>
              </a:spcBef>
              <a:spcAft>
                <a:spcPts val="0"/>
              </a:spcAft>
              <a:buNone/>
            </a:pPr>
            <a:endParaRPr lang="en-GB" sz="3200" dirty="0">
              <a:solidFill>
                <a:srgbClr val="0000FF"/>
              </a:solidFill>
              <a:latin typeface="+mn-lt"/>
              <a:ea typeface="Calibri"/>
              <a:cs typeface="Calibri"/>
              <a:sym typeface="Calibri"/>
            </a:endParaRPr>
          </a:p>
          <a:p>
            <a:pPr marL="0" marR="0" lvl="0" indent="0" algn="l" rtl="0">
              <a:spcBef>
                <a:spcPts val="0"/>
              </a:spcBef>
              <a:spcAft>
                <a:spcPts val="0"/>
              </a:spcAft>
              <a:buNone/>
            </a:pPr>
            <a:endParaRPr lang="en-GB" sz="3200" dirty="0">
              <a:solidFill>
                <a:srgbClr val="0000FF"/>
              </a:solidFill>
              <a:latin typeface="+mn-lt"/>
              <a:ea typeface="Calibri"/>
              <a:cs typeface="Calibri"/>
              <a:sym typeface="Calibri"/>
            </a:endParaRPr>
          </a:p>
          <a:p>
            <a:pPr marL="0" marR="0" lvl="0" indent="0" algn="ctr" rtl="0">
              <a:spcBef>
                <a:spcPts val="0"/>
              </a:spcBef>
              <a:spcAft>
                <a:spcPts val="0"/>
              </a:spcAft>
              <a:buNone/>
            </a:pPr>
            <a:r>
              <a:rPr lang="en-GB" sz="2800" b="1" dirty="0">
                <a:solidFill>
                  <a:schemeClr val="tx1"/>
                </a:solidFill>
                <a:latin typeface="+mn-lt"/>
                <a:ea typeface="Calibri"/>
                <a:cs typeface="Calibri"/>
                <a:sym typeface="Calibri"/>
              </a:rPr>
              <a:t>Anaerobic/near-anaerobic </a:t>
            </a:r>
            <a:r>
              <a:rPr lang="en-GB" sz="2800" dirty="0">
                <a:solidFill>
                  <a:schemeClr val="dk1"/>
                </a:solidFill>
                <a:latin typeface="+mn-lt"/>
                <a:ea typeface="Calibri"/>
                <a:cs typeface="Calibri"/>
                <a:sym typeface="Calibri"/>
              </a:rPr>
              <a:t>processes</a:t>
            </a:r>
            <a:endParaRPr sz="1200" dirty="0">
              <a:latin typeface="+mn-lt"/>
            </a:endParaRPr>
          </a:p>
          <a:p>
            <a:pPr marL="0" marR="0" lvl="0" indent="0" algn="ctr" rtl="0">
              <a:spcBef>
                <a:spcPts val="0"/>
              </a:spcBef>
              <a:spcAft>
                <a:spcPts val="0"/>
              </a:spcAft>
              <a:buNone/>
            </a:pPr>
            <a:r>
              <a:rPr lang="en-GB" sz="2800" dirty="0">
                <a:solidFill>
                  <a:schemeClr val="dk1"/>
                </a:solidFill>
                <a:latin typeface="+mn-lt"/>
                <a:ea typeface="Calibri"/>
                <a:cs typeface="Calibri"/>
                <a:sym typeface="Calibri"/>
              </a:rPr>
              <a:t> </a:t>
            </a:r>
            <a:endParaRPr sz="2800" dirty="0">
              <a:solidFill>
                <a:schemeClr val="dk1"/>
              </a:solidFill>
              <a:latin typeface="+mn-lt"/>
              <a:ea typeface="Calibri"/>
              <a:cs typeface="Calibri"/>
              <a:sym typeface="Calibri"/>
            </a:endParaRPr>
          </a:p>
          <a:p>
            <a:pPr marL="0" marR="0" lvl="0" indent="0" algn="ctr" rtl="0">
              <a:spcBef>
                <a:spcPts val="0"/>
              </a:spcBef>
              <a:spcAft>
                <a:spcPts val="0"/>
              </a:spcAft>
              <a:buNone/>
            </a:pPr>
            <a:r>
              <a:rPr lang="en-GB" sz="2800" b="1" dirty="0">
                <a:solidFill>
                  <a:schemeClr val="tx1"/>
                </a:solidFill>
                <a:latin typeface="+mn-lt"/>
                <a:ea typeface="Calibri"/>
                <a:cs typeface="Calibri"/>
                <a:sym typeface="Calibri"/>
              </a:rPr>
              <a:t>Large diversity </a:t>
            </a:r>
            <a:r>
              <a:rPr lang="en-GB" sz="2800" dirty="0">
                <a:solidFill>
                  <a:schemeClr val="dk1"/>
                </a:solidFill>
                <a:latin typeface="+mn-lt"/>
                <a:ea typeface="Calibri"/>
                <a:cs typeface="Calibri"/>
                <a:sym typeface="Calibri"/>
              </a:rPr>
              <a:t>of microorganisms capable of denitrification – many bacteria </a:t>
            </a:r>
            <a:endParaRPr sz="1200" dirty="0">
              <a:latin typeface="+mn-lt"/>
            </a:endParaRPr>
          </a:p>
          <a:p>
            <a:pPr marL="0" marR="0" lvl="0" indent="0" algn="ctr" rtl="0">
              <a:spcBef>
                <a:spcPts val="0"/>
              </a:spcBef>
              <a:spcAft>
                <a:spcPts val="0"/>
              </a:spcAft>
              <a:buNone/>
            </a:pPr>
            <a:endParaRPr sz="2800" dirty="0">
              <a:solidFill>
                <a:schemeClr val="dk1"/>
              </a:solidFill>
              <a:latin typeface="+mn-lt"/>
              <a:ea typeface="Calibri"/>
              <a:cs typeface="Calibri"/>
              <a:sym typeface="Calibri"/>
            </a:endParaRPr>
          </a:p>
          <a:p>
            <a:pPr marL="0" marR="0" lvl="0" indent="0" algn="ctr" rtl="0">
              <a:spcBef>
                <a:spcPts val="0"/>
              </a:spcBef>
              <a:spcAft>
                <a:spcPts val="0"/>
              </a:spcAft>
              <a:buNone/>
            </a:pPr>
            <a:r>
              <a:rPr lang="en-GB" sz="2800" b="1" dirty="0">
                <a:solidFill>
                  <a:schemeClr val="tx1"/>
                </a:solidFill>
                <a:latin typeface="+mn-lt"/>
                <a:ea typeface="Calibri"/>
                <a:cs typeface="Calibri"/>
                <a:sym typeface="Calibri"/>
              </a:rPr>
              <a:t>High energy yields</a:t>
            </a:r>
            <a:r>
              <a:rPr lang="en-GB" sz="2800" dirty="0">
                <a:solidFill>
                  <a:schemeClr val="dk1"/>
                </a:solidFill>
                <a:latin typeface="+mn-lt"/>
                <a:ea typeface="Calibri"/>
                <a:cs typeface="Calibri"/>
                <a:sym typeface="Calibri"/>
              </a:rPr>
              <a:t>; efficient metabolism</a:t>
            </a:r>
          </a:p>
          <a:p>
            <a:pPr marL="0" marR="0" lvl="0" indent="0" algn="ctr" rtl="0">
              <a:spcBef>
                <a:spcPts val="0"/>
              </a:spcBef>
              <a:spcAft>
                <a:spcPts val="0"/>
              </a:spcAft>
              <a:buNone/>
            </a:pPr>
            <a:endParaRPr sz="2800" dirty="0">
              <a:solidFill>
                <a:schemeClr val="dk1"/>
              </a:solidFill>
              <a:latin typeface="+mn-lt"/>
              <a:ea typeface="Calibri"/>
              <a:cs typeface="Calibri"/>
              <a:sym typeface="Calibri"/>
            </a:endParaRPr>
          </a:p>
          <a:p>
            <a:pPr marL="0" marR="0" lvl="0" indent="0" algn="ctr" rtl="0">
              <a:spcBef>
                <a:spcPts val="0"/>
              </a:spcBef>
              <a:spcAft>
                <a:spcPts val="0"/>
              </a:spcAft>
              <a:buNone/>
            </a:pPr>
            <a:r>
              <a:rPr lang="en-GB" sz="2800" dirty="0">
                <a:solidFill>
                  <a:schemeClr val="dk1"/>
                </a:solidFill>
                <a:latin typeface="+mn-lt"/>
                <a:ea typeface="Calibri"/>
                <a:cs typeface="Calibri"/>
                <a:sym typeface="Calibri"/>
              </a:rPr>
              <a:t>Principal mechanism by which N is returned to the atmosphere </a:t>
            </a:r>
            <a:endParaRPr sz="1200" dirty="0">
              <a:latin typeface="+mn-lt"/>
            </a:endParaRPr>
          </a:p>
          <a:p>
            <a:pPr marL="0" marR="0" lvl="0" indent="0" algn="l" rtl="0">
              <a:spcBef>
                <a:spcPts val="0"/>
              </a:spcBef>
              <a:spcAft>
                <a:spcPts val="0"/>
              </a:spcAft>
              <a:buNone/>
            </a:pPr>
            <a:endParaRPr sz="3200" dirty="0">
              <a:solidFill>
                <a:schemeClr val="dk1"/>
              </a:solidFill>
              <a:latin typeface="+mn-lt"/>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22"/>
          <p:cNvPicPr preferRelativeResize="0"/>
          <p:nvPr/>
        </p:nvPicPr>
        <p:blipFill rotWithShape="1">
          <a:blip r:embed="rId3">
            <a:alphaModFix/>
          </a:blip>
          <a:srcRect/>
          <a:stretch/>
        </p:blipFill>
        <p:spPr>
          <a:xfrm>
            <a:off x="2330450" y="1518429"/>
            <a:ext cx="7531100" cy="3352800"/>
          </a:xfrm>
          <a:prstGeom prst="rect">
            <a:avLst/>
          </a:prstGeom>
          <a:noFill/>
          <a:ln>
            <a:noFill/>
          </a:ln>
        </p:spPr>
      </p:pic>
      <p:sp>
        <p:nvSpPr>
          <p:cNvPr id="320" name="Google Shape;320;p22"/>
          <p:cNvSpPr/>
          <p:nvPr/>
        </p:nvSpPr>
        <p:spPr>
          <a:xfrm>
            <a:off x="66756" y="0"/>
            <a:ext cx="8704111"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a:solidFill>
                  <a:srgbClr val="C00000"/>
                </a:solidFill>
                <a:latin typeface="+mj-lt"/>
                <a:ea typeface="Calibri"/>
                <a:cs typeface="Calibri"/>
                <a:sym typeface="Calibri"/>
              </a:rPr>
              <a:t>Multi-step process, releasing N</a:t>
            </a:r>
            <a:r>
              <a:rPr lang="en-GB" sz="3200" b="1" baseline="-25000" dirty="0">
                <a:solidFill>
                  <a:srgbClr val="C00000"/>
                </a:solidFill>
                <a:latin typeface="+mj-lt"/>
                <a:ea typeface="Calibri"/>
                <a:cs typeface="Calibri"/>
                <a:sym typeface="Calibri"/>
              </a:rPr>
              <a:t>2</a:t>
            </a:r>
            <a:r>
              <a:rPr lang="en-GB" sz="3200" b="1" dirty="0">
                <a:solidFill>
                  <a:srgbClr val="C00000"/>
                </a:solidFill>
                <a:latin typeface="+mj-lt"/>
                <a:ea typeface="Calibri"/>
                <a:cs typeface="Calibri"/>
                <a:sym typeface="Calibri"/>
              </a:rPr>
              <a:t>O and N</a:t>
            </a:r>
            <a:r>
              <a:rPr lang="en-GB" sz="3200" b="1" baseline="-25000" dirty="0">
                <a:solidFill>
                  <a:srgbClr val="C00000"/>
                </a:solidFill>
                <a:latin typeface="+mj-lt"/>
                <a:ea typeface="Calibri"/>
                <a:cs typeface="Calibri"/>
                <a:sym typeface="Calibri"/>
              </a:rPr>
              <a:t>2</a:t>
            </a:r>
            <a:r>
              <a:rPr lang="en-GB" sz="3200" b="1" dirty="0">
                <a:solidFill>
                  <a:srgbClr val="C00000"/>
                </a:solidFill>
                <a:latin typeface="+mj-lt"/>
                <a:ea typeface="Calibri"/>
                <a:cs typeface="Calibri"/>
                <a:sym typeface="Calibri"/>
              </a:rPr>
              <a:t>: </a:t>
            </a:r>
            <a:endParaRPr sz="3200" b="1" dirty="0">
              <a:solidFill>
                <a:srgbClr val="C00000"/>
              </a:solidFill>
              <a:latin typeface="+mj-lt"/>
              <a:ea typeface="Calibri"/>
              <a:cs typeface="Calibri"/>
              <a:sym typeface="Calibri"/>
            </a:endParaRPr>
          </a:p>
        </p:txBody>
      </p:sp>
      <p:sp>
        <p:nvSpPr>
          <p:cNvPr id="321" name="Google Shape;321;p22"/>
          <p:cNvSpPr txBox="1"/>
          <p:nvPr/>
        </p:nvSpPr>
        <p:spPr>
          <a:xfrm>
            <a:off x="547257" y="5426204"/>
            <a:ext cx="383517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i="1" dirty="0" err="1">
                <a:solidFill>
                  <a:schemeClr val="tx1"/>
                </a:solidFill>
                <a:latin typeface="+mn-lt"/>
                <a:ea typeface="Calibri"/>
                <a:cs typeface="Calibri"/>
                <a:sym typeface="Calibri"/>
              </a:rPr>
              <a:t>nar</a:t>
            </a:r>
            <a:r>
              <a:rPr lang="en-GB" sz="1800" i="1" dirty="0">
                <a:solidFill>
                  <a:schemeClr val="tx1"/>
                </a:solidFill>
                <a:latin typeface="+mn-lt"/>
                <a:ea typeface="Calibri"/>
                <a:cs typeface="Calibri"/>
                <a:sym typeface="Calibri"/>
              </a:rPr>
              <a:t> </a:t>
            </a:r>
            <a:r>
              <a:rPr lang="en-GB" sz="1800" dirty="0">
                <a:solidFill>
                  <a:schemeClr val="tx1"/>
                </a:solidFill>
                <a:latin typeface="+mn-lt"/>
                <a:ea typeface="Calibri"/>
                <a:cs typeface="Calibri"/>
                <a:sym typeface="Calibri"/>
              </a:rPr>
              <a:t>: nitrate reductase gene</a:t>
            </a:r>
            <a:endParaRPr dirty="0">
              <a:solidFill>
                <a:schemeClr val="tx1"/>
              </a:solidFill>
              <a:latin typeface="+mn-lt"/>
            </a:endParaRPr>
          </a:p>
          <a:p>
            <a:pPr marL="0" marR="0" lvl="0" indent="0" algn="l" rtl="0">
              <a:spcBef>
                <a:spcPts val="0"/>
              </a:spcBef>
              <a:spcAft>
                <a:spcPts val="0"/>
              </a:spcAft>
              <a:buNone/>
            </a:pPr>
            <a:r>
              <a:rPr lang="en-GB" sz="1800" i="1" dirty="0" err="1">
                <a:solidFill>
                  <a:schemeClr val="tx1"/>
                </a:solidFill>
                <a:latin typeface="+mn-lt"/>
                <a:ea typeface="Calibri"/>
                <a:cs typeface="Calibri"/>
                <a:sym typeface="Calibri"/>
              </a:rPr>
              <a:t>nirS</a:t>
            </a:r>
            <a:r>
              <a:rPr lang="en-GB" sz="1800" dirty="0">
                <a:solidFill>
                  <a:schemeClr val="tx1"/>
                </a:solidFill>
                <a:latin typeface="+mn-lt"/>
                <a:ea typeface="Calibri"/>
                <a:cs typeface="Calibri"/>
                <a:sym typeface="Calibri"/>
              </a:rPr>
              <a:t> : nitrite reductase gene</a:t>
            </a:r>
            <a:endParaRPr dirty="0">
              <a:solidFill>
                <a:schemeClr val="tx1"/>
              </a:solidFill>
              <a:latin typeface="+mn-lt"/>
            </a:endParaRPr>
          </a:p>
          <a:p>
            <a:pPr marL="0" marR="0" lvl="0" indent="0" algn="l" rtl="0">
              <a:spcBef>
                <a:spcPts val="0"/>
              </a:spcBef>
              <a:spcAft>
                <a:spcPts val="0"/>
              </a:spcAft>
              <a:buNone/>
            </a:pPr>
            <a:r>
              <a:rPr lang="en-GB" sz="1800" i="1" dirty="0" err="1">
                <a:solidFill>
                  <a:schemeClr val="tx1"/>
                </a:solidFill>
                <a:latin typeface="+mn-lt"/>
                <a:ea typeface="Calibri"/>
                <a:cs typeface="Calibri"/>
                <a:sym typeface="Calibri"/>
              </a:rPr>
              <a:t>norB</a:t>
            </a:r>
            <a:r>
              <a:rPr lang="en-GB" sz="1800" dirty="0">
                <a:solidFill>
                  <a:schemeClr val="tx1"/>
                </a:solidFill>
                <a:latin typeface="+mn-lt"/>
                <a:ea typeface="Calibri"/>
                <a:cs typeface="Calibri"/>
                <a:sym typeface="Calibri"/>
              </a:rPr>
              <a:t> : nitric oxide reductase gene</a:t>
            </a:r>
            <a:endParaRPr dirty="0">
              <a:solidFill>
                <a:schemeClr val="tx1"/>
              </a:solidFill>
              <a:latin typeface="+mn-lt"/>
            </a:endParaRPr>
          </a:p>
          <a:p>
            <a:pPr marL="0" marR="0" lvl="0" indent="0" algn="l" rtl="0">
              <a:spcBef>
                <a:spcPts val="0"/>
              </a:spcBef>
              <a:spcAft>
                <a:spcPts val="0"/>
              </a:spcAft>
              <a:buNone/>
            </a:pPr>
            <a:r>
              <a:rPr lang="en-GB" sz="1800" i="1" dirty="0" err="1">
                <a:solidFill>
                  <a:schemeClr val="tx1"/>
                </a:solidFill>
                <a:latin typeface="+mn-lt"/>
                <a:ea typeface="Calibri"/>
                <a:cs typeface="Calibri"/>
                <a:sym typeface="Calibri"/>
              </a:rPr>
              <a:t>nosZ</a:t>
            </a:r>
            <a:r>
              <a:rPr lang="en-GB" sz="1800" dirty="0">
                <a:solidFill>
                  <a:schemeClr val="tx1"/>
                </a:solidFill>
                <a:latin typeface="+mn-lt"/>
                <a:ea typeface="Calibri"/>
                <a:cs typeface="Calibri"/>
                <a:sym typeface="Calibri"/>
              </a:rPr>
              <a:t> : nitrous oxide reductase gene </a:t>
            </a:r>
            <a:endParaRPr dirty="0">
              <a:solidFill>
                <a:schemeClr val="tx1"/>
              </a:solidFill>
              <a:latin typeface="+mn-lt"/>
            </a:endParaRPr>
          </a:p>
        </p:txBody>
      </p:sp>
      <p:sp>
        <p:nvSpPr>
          <p:cNvPr id="322" name="Google Shape;322;p22"/>
          <p:cNvSpPr txBox="1"/>
          <p:nvPr/>
        </p:nvSpPr>
        <p:spPr>
          <a:xfrm>
            <a:off x="547258" y="1706572"/>
            <a:ext cx="12541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Nitrate</a:t>
            </a:r>
            <a:endParaRPr dirty="0">
              <a:latin typeface="+mn-lt"/>
            </a:endParaRPr>
          </a:p>
        </p:txBody>
      </p:sp>
      <p:sp>
        <p:nvSpPr>
          <p:cNvPr id="323" name="Google Shape;323;p22"/>
          <p:cNvSpPr txBox="1"/>
          <p:nvPr/>
        </p:nvSpPr>
        <p:spPr>
          <a:xfrm>
            <a:off x="547257" y="2489150"/>
            <a:ext cx="7864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Nitrite</a:t>
            </a:r>
            <a:endParaRPr dirty="0">
              <a:latin typeface="+mn-lt"/>
            </a:endParaRPr>
          </a:p>
        </p:txBody>
      </p:sp>
      <p:sp>
        <p:nvSpPr>
          <p:cNvPr id="324" name="Google Shape;324;p22"/>
          <p:cNvSpPr txBox="1"/>
          <p:nvPr/>
        </p:nvSpPr>
        <p:spPr>
          <a:xfrm>
            <a:off x="547257" y="3284280"/>
            <a:ext cx="169413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Nitric oxide</a:t>
            </a:r>
            <a:endParaRPr dirty="0">
              <a:latin typeface="+mn-lt"/>
            </a:endParaRPr>
          </a:p>
        </p:txBody>
      </p:sp>
      <p:sp>
        <p:nvSpPr>
          <p:cNvPr id="325" name="Google Shape;325;p22"/>
          <p:cNvSpPr txBox="1"/>
          <p:nvPr/>
        </p:nvSpPr>
        <p:spPr>
          <a:xfrm>
            <a:off x="547257" y="4129089"/>
            <a:ext cx="169413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Nitrous oxide</a:t>
            </a:r>
            <a:endParaRPr dirty="0">
              <a:latin typeface="+mn-lt"/>
            </a:endParaRPr>
          </a:p>
        </p:txBody>
      </p:sp>
      <p:sp>
        <p:nvSpPr>
          <p:cNvPr id="326" name="Google Shape;326;p22"/>
          <p:cNvSpPr txBox="1"/>
          <p:nvPr/>
        </p:nvSpPr>
        <p:spPr>
          <a:xfrm>
            <a:off x="711724" y="4434440"/>
            <a:ext cx="1262042"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rgbClr val="C00000"/>
                </a:solidFill>
                <a:latin typeface="+mn-lt"/>
                <a:ea typeface="Calibri"/>
                <a:cs typeface="Calibri"/>
                <a:sym typeface="Calibri"/>
              </a:rPr>
              <a:t>(a GHG)</a:t>
            </a:r>
            <a:endParaRPr dirty="0">
              <a:solidFill>
                <a:srgbClr val="C00000"/>
              </a:solidFill>
              <a:latin typeface="+mn-lt"/>
            </a:endParaRPr>
          </a:p>
        </p:txBody>
      </p:sp>
      <p:sp>
        <p:nvSpPr>
          <p:cNvPr id="327" name="Google Shape;327;p22"/>
          <p:cNvSpPr txBox="1"/>
          <p:nvPr/>
        </p:nvSpPr>
        <p:spPr>
          <a:xfrm>
            <a:off x="9269778" y="4111295"/>
            <a:ext cx="2609141"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Nitrogen gas and water</a:t>
            </a:r>
            <a:endParaRPr dirty="0">
              <a:latin typeface="+mn-lt"/>
            </a:endParaRPr>
          </a:p>
          <a:p>
            <a:pPr marL="0" marR="0" lvl="0" indent="0" algn="ctr" rtl="0">
              <a:spcBef>
                <a:spcPts val="0"/>
              </a:spcBef>
              <a:spcAft>
                <a:spcPts val="0"/>
              </a:spcAft>
              <a:buNone/>
            </a:pPr>
            <a:r>
              <a:rPr lang="en-GB" sz="1800" dirty="0">
                <a:solidFill>
                  <a:srgbClr val="C00000"/>
                </a:solidFill>
                <a:latin typeface="+mn-lt"/>
                <a:ea typeface="Calibri"/>
                <a:cs typeface="Calibri"/>
                <a:sym typeface="Calibri"/>
              </a:rPr>
              <a:t>(harmless)</a:t>
            </a:r>
            <a:endParaRPr dirty="0">
              <a:solidFill>
                <a:srgbClr val="C00000"/>
              </a:solidFill>
              <a:latin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2" name="Google Shape;314;p21">
            <a:extLst>
              <a:ext uri="{FF2B5EF4-FFF2-40B4-BE49-F238E27FC236}">
                <a16:creationId xmlns:a16="http://schemas.microsoft.com/office/drawing/2014/main" id="{F401275F-A701-6188-E425-35D7FF4EEA55}"/>
              </a:ext>
            </a:extLst>
          </p:cNvPr>
          <p:cNvSpPr/>
          <p:nvPr/>
        </p:nvSpPr>
        <p:spPr>
          <a:xfrm>
            <a:off x="44604" y="0"/>
            <a:ext cx="11128918" cy="5616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dirty="0">
                <a:solidFill>
                  <a:srgbClr val="C00000"/>
                </a:solidFill>
                <a:latin typeface="+mn-lt"/>
                <a:ea typeface="Calibri"/>
                <a:cs typeface="Calibri"/>
                <a:sym typeface="Calibri"/>
              </a:rPr>
              <a:t>Nitrate reduction: </a:t>
            </a:r>
            <a:r>
              <a:rPr lang="en-GB" sz="3200" b="1" i="1" dirty="0">
                <a:solidFill>
                  <a:srgbClr val="C00000"/>
                </a:solidFill>
                <a:latin typeface="+mn-lt"/>
                <a:ea typeface="Calibri"/>
                <a:cs typeface="Calibri"/>
                <a:sym typeface="Calibri"/>
              </a:rPr>
              <a:t>Denitrification</a:t>
            </a:r>
            <a:r>
              <a:rPr lang="en-GB" sz="3200" b="1" dirty="0">
                <a:solidFill>
                  <a:srgbClr val="C00000"/>
                </a:solidFill>
                <a:latin typeface="+mn-lt"/>
                <a:ea typeface="Calibri"/>
                <a:cs typeface="Calibri"/>
                <a:sym typeface="Calibri"/>
              </a:rPr>
              <a:t> </a:t>
            </a:r>
            <a:endParaRPr sz="3200" dirty="0">
              <a:solidFill>
                <a:srgbClr val="C00000"/>
              </a:solidFill>
              <a:latin typeface="+mn-lt"/>
              <a:ea typeface="Calibri"/>
              <a:cs typeface="Calibri"/>
              <a:sym typeface="Calibri"/>
            </a:endParaRPr>
          </a:p>
          <a:p>
            <a:pPr marL="0" marR="0" lvl="0" indent="0" algn="l" rtl="0">
              <a:spcBef>
                <a:spcPts val="0"/>
              </a:spcBef>
              <a:spcAft>
                <a:spcPts val="0"/>
              </a:spcAft>
              <a:buNone/>
            </a:pPr>
            <a:endParaRPr lang="en-GB" sz="2000" dirty="0">
              <a:solidFill>
                <a:srgbClr val="0000FF"/>
              </a:solidFill>
              <a:latin typeface="+mn-lt"/>
              <a:ea typeface="Calibri"/>
              <a:cs typeface="Calibri"/>
              <a:sym typeface="Calibri"/>
            </a:endParaRPr>
          </a:p>
          <a:p>
            <a:pPr marL="0" marR="0" lvl="0" indent="0" algn="l" rtl="0">
              <a:spcBef>
                <a:spcPts val="0"/>
              </a:spcBef>
              <a:spcAft>
                <a:spcPts val="0"/>
              </a:spcAft>
              <a:buNone/>
            </a:pPr>
            <a:endParaRPr lang="en-GB" sz="3200" dirty="0">
              <a:solidFill>
                <a:srgbClr val="0000FF"/>
              </a:solidFill>
              <a:latin typeface="+mn-lt"/>
              <a:ea typeface="Calibri"/>
              <a:cs typeface="Calibri"/>
              <a:sym typeface="Calibri"/>
            </a:endParaRPr>
          </a:p>
          <a:p>
            <a:pPr marL="0" marR="0" lvl="0" indent="0" rtl="0">
              <a:spcBef>
                <a:spcPts val="0"/>
              </a:spcBef>
              <a:spcAft>
                <a:spcPts val="0"/>
              </a:spcAft>
              <a:buNone/>
            </a:pPr>
            <a:r>
              <a:rPr lang="en-GB" sz="2800" dirty="0">
                <a:solidFill>
                  <a:schemeClr val="tx1"/>
                </a:solidFill>
                <a:latin typeface="+mn-lt"/>
                <a:ea typeface="Calibri"/>
                <a:cs typeface="Calibri"/>
                <a:sym typeface="Calibri"/>
              </a:rPr>
              <a:t>        Key environmental controls:</a:t>
            </a:r>
            <a:endParaRPr sz="1200" dirty="0">
              <a:latin typeface="+mn-lt"/>
            </a:endParaRPr>
          </a:p>
          <a:p>
            <a:pPr marL="0" marR="0" lvl="0" indent="0" algn="l" rtl="0">
              <a:spcBef>
                <a:spcPts val="0"/>
              </a:spcBef>
              <a:spcAft>
                <a:spcPts val="0"/>
              </a:spcAft>
              <a:buNone/>
            </a:pPr>
            <a:endParaRPr lang="en-GB" sz="1600" dirty="0">
              <a:solidFill>
                <a:schemeClr val="dk1"/>
              </a:solidFill>
              <a:latin typeface="+mn-lt"/>
              <a:ea typeface="Calibri"/>
              <a:cs typeface="Calibri"/>
              <a:sym typeface="Calibri"/>
            </a:endParaRPr>
          </a:p>
          <a:p>
            <a:pPr marL="0" marR="0" lvl="0" indent="0" algn="l" rtl="0">
              <a:spcBef>
                <a:spcPts val="0"/>
              </a:spcBef>
              <a:spcAft>
                <a:spcPts val="0"/>
              </a:spcAft>
              <a:buNone/>
            </a:pPr>
            <a:endParaRPr lang="en-GB" sz="1100" dirty="0">
              <a:solidFill>
                <a:schemeClr val="dk1"/>
              </a:solidFill>
              <a:latin typeface="+mn-lt"/>
              <a:ea typeface="Calibri"/>
              <a:cs typeface="Calibri"/>
              <a:sym typeface="Calibri"/>
            </a:endParaRPr>
          </a:p>
          <a:p>
            <a:pPr marL="0" marR="0" lvl="0" indent="0" algn="l" rtl="0">
              <a:spcBef>
                <a:spcPts val="0"/>
              </a:spcBef>
              <a:spcAft>
                <a:spcPts val="0"/>
              </a:spcAft>
              <a:buNone/>
            </a:pPr>
            <a:r>
              <a:rPr lang="en-GB" sz="2800" b="1" dirty="0">
                <a:solidFill>
                  <a:schemeClr val="dk1"/>
                </a:solidFill>
                <a:latin typeface="+mn-lt"/>
                <a:ea typeface="Calibri"/>
                <a:cs typeface="Calibri"/>
                <a:sym typeface="Calibri"/>
              </a:rPr>
              <a:t>		</a:t>
            </a:r>
            <a:r>
              <a:rPr lang="en-GB" sz="2400" b="1" dirty="0">
                <a:solidFill>
                  <a:srgbClr val="C00000"/>
                </a:solidFill>
                <a:latin typeface="+mn-lt"/>
                <a:ea typeface="Calibri"/>
                <a:cs typeface="Calibri"/>
                <a:sym typeface="Calibri"/>
              </a:rPr>
              <a:t>Temperature</a:t>
            </a:r>
          </a:p>
          <a:p>
            <a:pPr marL="0" marR="0" lvl="0" indent="0" algn="l" rtl="0">
              <a:spcBef>
                <a:spcPts val="0"/>
              </a:spcBef>
              <a:spcAft>
                <a:spcPts val="0"/>
              </a:spcAft>
              <a:buNone/>
            </a:pPr>
            <a:endParaRPr lang="en-GB" sz="1200" dirty="0">
              <a:solidFill>
                <a:srgbClr val="C00000"/>
              </a:solidFill>
              <a:latin typeface="+mn-lt"/>
              <a:ea typeface="Calibri"/>
              <a:cs typeface="Calibri"/>
              <a:sym typeface="Calibri"/>
            </a:endParaRPr>
          </a:p>
          <a:p>
            <a:pPr marL="0" marR="0" lvl="0" indent="0" algn="l" rtl="0">
              <a:spcBef>
                <a:spcPts val="0"/>
              </a:spcBef>
              <a:spcAft>
                <a:spcPts val="0"/>
              </a:spcAft>
              <a:buNone/>
            </a:pPr>
            <a:r>
              <a:rPr lang="en-GB" sz="2400" b="1" dirty="0">
                <a:solidFill>
                  <a:srgbClr val="C00000"/>
                </a:solidFill>
                <a:latin typeface="+mn-lt"/>
                <a:ea typeface="Calibri"/>
                <a:cs typeface="Calibri"/>
                <a:sym typeface="Calibri"/>
              </a:rPr>
              <a:t>		Soil moisture</a:t>
            </a:r>
          </a:p>
          <a:p>
            <a:pPr marL="0" marR="0" lvl="0" indent="0" algn="l" rtl="0">
              <a:spcBef>
                <a:spcPts val="0"/>
              </a:spcBef>
              <a:spcAft>
                <a:spcPts val="0"/>
              </a:spcAft>
              <a:buNone/>
            </a:pPr>
            <a:endParaRPr lang="en-GB" sz="1200" dirty="0">
              <a:solidFill>
                <a:srgbClr val="C00000"/>
              </a:solidFill>
              <a:latin typeface="+mn-lt"/>
              <a:ea typeface="Calibri"/>
              <a:cs typeface="Calibri"/>
              <a:sym typeface="Calibri"/>
            </a:endParaRPr>
          </a:p>
          <a:p>
            <a:pPr marL="0" marR="0" lvl="0" indent="0" algn="l" rtl="0">
              <a:spcBef>
                <a:spcPts val="0"/>
              </a:spcBef>
              <a:spcAft>
                <a:spcPts val="0"/>
              </a:spcAft>
              <a:buNone/>
            </a:pPr>
            <a:r>
              <a:rPr lang="en-GB" sz="2400" dirty="0">
                <a:solidFill>
                  <a:srgbClr val="C00000"/>
                </a:solidFill>
                <a:latin typeface="+mn-lt"/>
                <a:ea typeface="Calibri"/>
                <a:cs typeface="Calibri"/>
                <a:sym typeface="Calibri"/>
              </a:rPr>
              <a:t>		</a:t>
            </a:r>
            <a:r>
              <a:rPr lang="en-GB" sz="2400" b="1" dirty="0">
                <a:solidFill>
                  <a:srgbClr val="C00000"/>
                </a:solidFill>
                <a:latin typeface="+mn-lt"/>
                <a:ea typeface="Calibri"/>
                <a:cs typeface="Calibri"/>
                <a:sym typeface="Calibri"/>
              </a:rPr>
              <a:t>Soil redox </a:t>
            </a:r>
            <a:r>
              <a:rPr lang="en-GB" sz="2400" dirty="0">
                <a:solidFill>
                  <a:schemeClr val="tx1"/>
                </a:solidFill>
                <a:latin typeface="+mn-lt"/>
                <a:ea typeface="Calibri"/>
                <a:cs typeface="Calibri"/>
                <a:sym typeface="Calibri"/>
              </a:rPr>
              <a:t>– denitrification is anaerobic</a:t>
            </a:r>
          </a:p>
          <a:p>
            <a:pPr marL="0" marR="0" lvl="0" indent="0" algn="l" rtl="0">
              <a:spcBef>
                <a:spcPts val="0"/>
              </a:spcBef>
              <a:spcAft>
                <a:spcPts val="0"/>
              </a:spcAft>
              <a:buNone/>
            </a:pPr>
            <a:endParaRPr lang="en-GB" sz="1200" dirty="0">
              <a:solidFill>
                <a:schemeClr val="tx1"/>
              </a:solidFill>
              <a:latin typeface="+mn-lt"/>
              <a:ea typeface="Calibri"/>
              <a:cs typeface="Calibri"/>
              <a:sym typeface="Calibri"/>
            </a:endParaRPr>
          </a:p>
          <a:p>
            <a:pPr marL="0" marR="0" lvl="0" indent="0" algn="l" rtl="0">
              <a:spcBef>
                <a:spcPts val="0"/>
              </a:spcBef>
              <a:spcAft>
                <a:spcPts val="0"/>
              </a:spcAft>
              <a:buNone/>
            </a:pPr>
            <a:r>
              <a:rPr lang="en-GB" sz="2400" dirty="0">
                <a:solidFill>
                  <a:schemeClr val="tx1"/>
                </a:solidFill>
                <a:latin typeface="+mn-lt"/>
                <a:ea typeface="Calibri"/>
                <a:cs typeface="Calibri"/>
                <a:sym typeface="Calibri"/>
              </a:rPr>
              <a:t>		</a:t>
            </a:r>
            <a:r>
              <a:rPr lang="en-GB" sz="2400" b="1" dirty="0">
                <a:solidFill>
                  <a:srgbClr val="C00000"/>
                </a:solidFill>
                <a:latin typeface="+mn-lt"/>
                <a:ea typeface="Calibri"/>
                <a:cs typeface="Calibri"/>
                <a:sym typeface="Calibri"/>
              </a:rPr>
              <a:t>Substrate availability </a:t>
            </a:r>
            <a:r>
              <a:rPr lang="en-GB" sz="2400" dirty="0">
                <a:solidFill>
                  <a:schemeClr val="tx1"/>
                </a:solidFill>
                <a:latin typeface="+mn-lt"/>
                <a:ea typeface="Calibri"/>
                <a:cs typeface="Calibri"/>
                <a:sym typeface="Calibri"/>
              </a:rPr>
              <a:t>– low C or NO</a:t>
            </a:r>
            <a:r>
              <a:rPr lang="en-GB" sz="2400" baseline="-25000" dirty="0">
                <a:solidFill>
                  <a:schemeClr val="tx1"/>
                </a:solidFill>
                <a:latin typeface="+mn-lt"/>
                <a:ea typeface="Calibri"/>
                <a:cs typeface="Calibri"/>
                <a:sym typeface="Calibri"/>
              </a:rPr>
              <a:t>3</a:t>
            </a:r>
            <a:r>
              <a:rPr lang="en-GB" sz="2400" baseline="30000" dirty="0">
                <a:solidFill>
                  <a:schemeClr val="tx1"/>
                </a:solidFill>
                <a:latin typeface="+mn-lt"/>
                <a:ea typeface="Calibri"/>
                <a:cs typeface="Calibri"/>
                <a:sym typeface="Calibri"/>
              </a:rPr>
              <a:t>–</a:t>
            </a:r>
            <a:r>
              <a:rPr lang="en-GB" sz="2400" dirty="0">
                <a:solidFill>
                  <a:schemeClr val="tx1"/>
                </a:solidFill>
                <a:latin typeface="+mn-lt"/>
                <a:ea typeface="Calibri"/>
                <a:cs typeface="Calibri"/>
                <a:sym typeface="Calibri"/>
              </a:rPr>
              <a:t> availability suppresses 		denitrification; high labile C favours N</a:t>
            </a:r>
            <a:r>
              <a:rPr lang="en-GB" sz="2400" baseline="-25000" dirty="0">
                <a:solidFill>
                  <a:schemeClr val="tx1"/>
                </a:solidFill>
                <a:latin typeface="+mn-lt"/>
                <a:ea typeface="Calibri"/>
                <a:cs typeface="Calibri"/>
                <a:sym typeface="Calibri"/>
              </a:rPr>
              <a:t>2</a:t>
            </a:r>
            <a:r>
              <a:rPr lang="en-GB" sz="2400" dirty="0">
                <a:solidFill>
                  <a:schemeClr val="tx1"/>
                </a:solidFill>
                <a:latin typeface="+mn-lt"/>
                <a:ea typeface="Calibri"/>
                <a:cs typeface="Calibri"/>
                <a:sym typeface="Calibri"/>
              </a:rPr>
              <a:t>O production (not N</a:t>
            </a:r>
            <a:r>
              <a:rPr lang="en-GB" sz="2400" baseline="-25000" dirty="0">
                <a:solidFill>
                  <a:schemeClr val="tx1"/>
                </a:solidFill>
                <a:latin typeface="+mn-lt"/>
                <a:ea typeface="Calibri"/>
                <a:cs typeface="Calibri"/>
                <a:sym typeface="Calibri"/>
              </a:rPr>
              <a:t>2</a:t>
            </a:r>
            <a:r>
              <a:rPr lang="en-GB" sz="2400" dirty="0">
                <a:solidFill>
                  <a:schemeClr val="tx1"/>
                </a:solidFill>
                <a:latin typeface="+mn-lt"/>
                <a:ea typeface="Calibri"/>
                <a:cs typeface="Calibri"/>
                <a:sym typeface="Calibri"/>
              </a:rPr>
              <a:t>)</a:t>
            </a:r>
          </a:p>
          <a:p>
            <a:pPr marL="0" marR="0" lvl="0" indent="0" algn="l" rtl="0">
              <a:spcBef>
                <a:spcPts val="0"/>
              </a:spcBef>
              <a:spcAft>
                <a:spcPts val="0"/>
              </a:spcAft>
              <a:buNone/>
            </a:pPr>
            <a:endParaRPr lang="en-GB" sz="1200" dirty="0">
              <a:solidFill>
                <a:schemeClr val="tx1"/>
              </a:solidFill>
              <a:latin typeface="+mn-lt"/>
              <a:ea typeface="Calibri"/>
              <a:cs typeface="Calibri"/>
              <a:sym typeface="Calibri"/>
            </a:endParaRPr>
          </a:p>
          <a:p>
            <a:pPr marL="0" marR="0" lvl="0" indent="0" algn="l" rtl="0">
              <a:spcBef>
                <a:spcPts val="0"/>
              </a:spcBef>
              <a:spcAft>
                <a:spcPts val="0"/>
              </a:spcAft>
              <a:buNone/>
            </a:pPr>
            <a:r>
              <a:rPr lang="en-GB" sz="2400" dirty="0">
                <a:solidFill>
                  <a:schemeClr val="tx1"/>
                </a:solidFill>
                <a:latin typeface="+mn-lt"/>
                <a:ea typeface="Calibri"/>
                <a:cs typeface="Calibri"/>
                <a:sym typeface="Calibri"/>
              </a:rPr>
              <a:t>		</a:t>
            </a:r>
            <a:r>
              <a:rPr lang="en-GB" sz="2400" b="1" dirty="0">
                <a:solidFill>
                  <a:srgbClr val="C00000"/>
                </a:solidFill>
                <a:latin typeface="+mn-lt"/>
                <a:ea typeface="Calibri"/>
                <a:cs typeface="Calibri"/>
                <a:sym typeface="Calibri"/>
              </a:rPr>
              <a:t>pH</a:t>
            </a:r>
            <a:r>
              <a:rPr lang="en-GB" sz="2400" dirty="0">
                <a:solidFill>
                  <a:schemeClr val="tx1"/>
                </a:solidFill>
                <a:latin typeface="+mn-lt"/>
                <a:ea typeface="Calibri"/>
                <a:cs typeface="Calibri"/>
                <a:sym typeface="Calibri"/>
              </a:rPr>
              <a:t> – low pH suppresses denitrification enzyme activity and 			also inhibits complete denitrification to N</a:t>
            </a:r>
            <a:r>
              <a:rPr lang="en-GB" sz="2400" baseline="-25000" dirty="0">
                <a:solidFill>
                  <a:schemeClr val="tx1"/>
                </a:solidFill>
                <a:latin typeface="+mn-lt"/>
                <a:ea typeface="Calibri"/>
                <a:cs typeface="Calibri"/>
                <a:sym typeface="Calibri"/>
              </a:rPr>
              <a:t>2</a:t>
            </a:r>
            <a:r>
              <a:rPr lang="en-GB" sz="2400" dirty="0">
                <a:solidFill>
                  <a:schemeClr val="tx1"/>
                </a:solidFill>
                <a:latin typeface="+mn-lt"/>
                <a:ea typeface="Calibri"/>
                <a:cs typeface="Calibri"/>
                <a:sym typeface="Calibri"/>
              </a:rPr>
              <a:t> (more N</a:t>
            </a:r>
            <a:r>
              <a:rPr lang="en-GB" sz="2400" baseline="-25000" dirty="0">
                <a:solidFill>
                  <a:schemeClr val="tx1"/>
                </a:solidFill>
                <a:latin typeface="+mn-lt"/>
                <a:ea typeface="Calibri"/>
                <a:cs typeface="Calibri"/>
                <a:sym typeface="Calibri"/>
              </a:rPr>
              <a:t>2</a:t>
            </a:r>
            <a:r>
              <a:rPr lang="en-GB" sz="2400" dirty="0">
                <a:solidFill>
                  <a:schemeClr val="tx1"/>
                </a:solidFill>
                <a:latin typeface="+mn-lt"/>
                <a:ea typeface="Calibri"/>
                <a:cs typeface="Calibri"/>
                <a:sym typeface="Calibri"/>
              </a:rPr>
              <a:t>O)</a:t>
            </a:r>
            <a:endParaRPr sz="2400" dirty="0">
              <a:solidFill>
                <a:schemeClr val="dk1"/>
              </a:solidFill>
              <a:latin typeface="+mn-lt"/>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8" name="Google Shape;338;p24" descr="page57image4986112"/>
          <p:cNvPicPr preferRelativeResize="0"/>
          <p:nvPr/>
        </p:nvPicPr>
        <p:blipFill rotWithShape="1">
          <a:blip r:embed="rId3">
            <a:alphaModFix/>
          </a:blip>
          <a:srcRect l="10774" t="17092" r="10269" b="6767"/>
          <a:stretch/>
        </p:blipFill>
        <p:spPr>
          <a:xfrm>
            <a:off x="1996069" y="769434"/>
            <a:ext cx="8452624" cy="5910147"/>
          </a:xfrm>
          <a:prstGeom prst="rect">
            <a:avLst/>
          </a:prstGeom>
          <a:noFill/>
          <a:ln>
            <a:noFill/>
          </a:ln>
        </p:spPr>
      </p:pic>
      <p:sp>
        <p:nvSpPr>
          <p:cNvPr id="339" name="Google Shape;339;p24"/>
          <p:cNvSpPr/>
          <p:nvPr/>
        </p:nvSpPr>
        <p:spPr>
          <a:xfrm>
            <a:off x="0" y="30778"/>
            <a:ext cx="12009863" cy="523180"/>
          </a:xfrm>
          <a:prstGeom prst="rect">
            <a:avLst/>
          </a:prstGeom>
          <a:noFill/>
          <a:ln>
            <a:noFill/>
          </a:ln>
        </p:spPr>
        <p:txBody>
          <a:bodyPr spcFirstLastPara="1" wrap="square" lIns="91425" tIns="45700" rIns="91425" bIns="45700" anchor="ctr" anchorCtr="0">
            <a:spAutoFit/>
          </a:bodyPr>
          <a:lstStyle/>
          <a:p>
            <a:pPr marL="0" marR="0" lvl="0" indent="0" rtl="0">
              <a:spcBef>
                <a:spcPts val="0"/>
              </a:spcBef>
              <a:spcAft>
                <a:spcPts val="0"/>
              </a:spcAft>
              <a:buNone/>
            </a:pPr>
            <a:r>
              <a:rPr lang="en-GB" sz="2800" b="1" dirty="0">
                <a:solidFill>
                  <a:srgbClr val="C00000"/>
                </a:solidFill>
                <a:latin typeface="+mj-lt"/>
                <a:ea typeface="Calibri"/>
                <a:cs typeface="Calibri"/>
                <a:sym typeface="Calibri"/>
              </a:rPr>
              <a:t>Effects of soil moisture on nitrification, denitrification and N-gas flux </a:t>
            </a:r>
            <a:endParaRPr sz="2800" dirty="0">
              <a:solidFill>
                <a:srgbClr val="C00000"/>
              </a:solidFill>
              <a:latin typeface="+mj-lt"/>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5"/>
          <p:cNvSpPr txBox="1"/>
          <p:nvPr/>
        </p:nvSpPr>
        <p:spPr>
          <a:xfrm>
            <a:off x="534608" y="286794"/>
            <a:ext cx="11122784" cy="830956"/>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dirty="0">
                <a:solidFill>
                  <a:schemeClr val="lt1"/>
                </a:solidFill>
                <a:latin typeface="+mj-lt"/>
                <a:ea typeface="Calibri"/>
                <a:cs typeface="Calibri"/>
                <a:sym typeface="Calibri"/>
              </a:rPr>
              <a:t>Understanding how plants respond to nutrients, and how they acquire nutrients, will enable us to devise sustainable crop and forestry management strategies</a:t>
            </a:r>
            <a:endParaRPr sz="1200" dirty="0">
              <a:latin typeface="+mj-lt"/>
            </a:endParaRPr>
          </a:p>
        </p:txBody>
      </p:sp>
      <p:sp>
        <p:nvSpPr>
          <p:cNvPr id="345" name="Google Shape;345;p25"/>
          <p:cNvSpPr txBox="1"/>
          <p:nvPr/>
        </p:nvSpPr>
        <p:spPr>
          <a:xfrm>
            <a:off x="2678429" y="5584092"/>
            <a:ext cx="8117205"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dirty="0">
                <a:solidFill>
                  <a:schemeClr val="dk1"/>
                </a:solidFill>
                <a:latin typeface="+mn-lt"/>
                <a:ea typeface="Calibri"/>
                <a:cs typeface="Calibri"/>
                <a:sym typeface="Calibri"/>
              </a:rPr>
              <a:t>The next part of the lecture looks at  nutrient and fertiliser use and ‘natural’ nutrient cycling processes</a:t>
            </a:r>
            <a:endParaRPr sz="1200" dirty="0">
              <a:latin typeface="+mn-lt"/>
            </a:endParaRPr>
          </a:p>
        </p:txBody>
      </p:sp>
      <p:pic>
        <p:nvPicPr>
          <p:cNvPr id="346" name="Google Shape;346;p25"/>
          <p:cNvPicPr preferRelativeResize="0"/>
          <p:nvPr/>
        </p:nvPicPr>
        <p:blipFill rotWithShape="1">
          <a:blip r:embed="rId3">
            <a:alphaModFix/>
          </a:blip>
          <a:srcRect/>
          <a:stretch/>
        </p:blipFill>
        <p:spPr>
          <a:xfrm>
            <a:off x="2085278" y="1293542"/>
            <a:ext cx="8907571" cy="399443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0"/>
        <p:cNvGrpSpPr/>
        <p:nvPr/>
      </p:nvGrpSpPr>
      <p:grpSpPr>
        <a:xfrm>
          <a:off x="0" y="0"/>
          <a:ext cx="0" cy="0"/>
          <a:chOff x="0" y="0"/>
          <a:chExt cx="0" cy="0"/>
        </a:xfrm>
      </p:grpSpPr>
      <p:sp>
        <p:nvSpPr>
          <p:cNvPr id="351" name="Google Shape;351;p26"/>
          <p:cNvSpPr/>
          <p:nvPr/>
        </p:nvSpPr>
        <p:spPr>
          <a:xfrm>
            <a:off x="0" y="0"/>
            <a:ext cx="5468548" cy="6858000"/>
          </a:xfrm>
          <a:prstGeom prst="rect">
            <a:avLst/>
          </a:prstGeom>
          <a:solidFill>
            <a:srgbClr val="474E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mn-lt"/>
              <a:ea typeface="Calibri"/>
              <a:cs typeface="Calibri"/>
              <a:sym typeface="Calibri"/>
            </a:endParaRPr>
          </a:p>
        </p:txBody>
      </p:sp>
      <p:sp>
        <p:nvSpPr>
          <p:cNvPr id="352" name="Google Shape;352;p26"/>
          <p:cNvSpPr txBox="1">
            <a:spLocks noGrp="1"/>
          </p:cNvSpPr>
          <p:nvPr>
            <p:ph type="title"/>
          </p:nvPr>
        </p:nvSpPr>
        <p:spPr>
          <a:xfrm>
            <a:off x="257174" y="457200"/>
            <a:ext cx="4957763" cy="576169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FFFFFF"/>
              </a:buClr>
              <a:buSzPts val="4000"/>
              <a:buFont typeface="Calibri"/>
              <a:buNone/>
            </a:pPr>
            <a:r>
              <a:rPr lang="en-GB" sz="4000" b="1" dirty="0">
                <a:solidFill>
                  <a:srgbClr val="FFFFFF"/>
                </a:solidFill>
                <a:latin typeface="+mn-lt"/>
                <a:ea typeface="Calibri"/>
                <a:cs typeface="Calibri"/>
                <a:sym typeface="Calibri"/>
              </a:rPr>
              <a:t>Plants need mineral nutrients from soil – </a:t>
            </a:r>
            <a:br>
              <a:rPr lang="en-GB" sz="3100" dirty="0">
                <a:solidFill>
                  <a:srgbClr val="FFFFFF"/>
                </a:solidFill>
                <a:latin typeface="+mn-lt"/>
                <a:ea typeface="Calibri"/>
                <a:cs typeface="Calibri"/>
                <a:sym typeface="Calibri"/>
              </a:rPr>
            </a:br>
            <a:br>
              <a:rPr lang="en-GB" sz="3100" dirty="0">
                <a:solidFill>
                  <a:srgbClr val="FFFFFF"/>
                </a:solidFill>
                <a:latin typeface="+mn-lt"/>
                <a:ea typeface="Calibri"/>
                <a:cs typeface="Calibri"/>
                <a:sym typeface="Calibri"/>
              </a:rPr>
            </a:br>
            <a:r>
              <a:rPr lang="en-GB" sz="3100" dirty="0">
                <a:solidFill>
                  <a:srgbClr val="FFFFFF"/>
                </a:solidFill>
                <a:latin typeface="+mn-lt"/>
                <a:ea typeface="Calibri"/>
                <a:cs typeface="Calibri"/>
                <a:sym typeface="Calibri"/>
              </a:rPr>
              <a:t>The ‘big 3’: nitrogen (N), phosphorus (P), potassium (K) </a:t>
            </a:r>
            <a:br>
              <a:rPr lang="en-GB" sz="3100" dirty="0">
                <a:solidFill>
                  <a:srgbClr val="FFFFFF"/>
                </a:solidFill>
                <a:latin typeface="+mn-lt"/>
                <a:ea typeface="Calibri"/>
                <a:cs typeface="Calibri"/>
                <a:sym typeface="Calibri"/>
              </a:rPr>
            </a:br>
            <a:br>
              <a:rPr lang="en-GB" sz="3100" dirty="0">
                <a:solidFill>
                  <a:srgbClr val="FFFFFF"/>
                </a:solidFill>
                <a:latin typeface="+mn-lt"/>
                <a:ea typeface="Calibri"/>
                <a:cs typeface="Calibri"/>
                <a:sym typeface="Calibri"/>
              </a:rPr>
            </a:br>
            <a:r>
              <a:rPr lang="en-GB" sz="3100" dirty="0">
                <a:solidFill>
                  <a:srgbClr val="FFFFFF"/>
                </a:solidFill>
                <a:latin typeface="+mn-lt"/>
                <a:ea typeface="Calibri"/>
                <a:cs typeface="Calibri"/>
                <a:sym typeface="Calibri"/>
              </a:rPr>
              <a:t>+ other ‘trace’ elements like boron, iron, selenium</a:t>
            </a:r>
            <a:br>
              <a:rPr lang="en-GB" sz="3100" dirty="0">
                <a:solidFill>
                  <a:srgbClr val="FFFFFF"/>
                </a:solidFill>
                <a:latin typeface="+mn-lt"/>
                <a:ea typeface="Calibri"/>
                <a:cs typeface="Calibri"/>
                <a:sym typeface="Calibri"/>
              </a:rPr>
            </a:br>
            <a:br>
              <a:rPr lang="en-GB" sz="3100" dirty="0">
                <a:solidFill>
                  <a:srgbClr val="FFFFFF"/>
                </a:solidFill>
                <a:latin typeface="+mn-lt"/>
                <a:ea typeface="Calibri"/>
                <a:cs typeface="Calibri"/>
                <a:sym typeface="Calibri"/>
              </a:rPr>
            </a:br>
            <a:r>
              <a:rPr lang="en-GB" sz="3100" dirty="0">
                <a:solidFill>
                  <a:srgbClr val="FFFFFF"/>
                </a:solidFill>
                <a:latin typeface="+mn-lt"/>
                <a:ea typeface="Calibri"/>
                <a:cs typeface="Calibri"/>
                <a:sym typeface="Calibri"/>
              </a:rPr>
              <a:t>Most fertilisers are ‘NPK’ in varying proportions</a:t>
            </a:r>
            <a:endParaRPr dirty="0">
              <a:latin typeface="+mn-lt"/>
            </a:endParaRPr>
          </a:p>
        </p:txBody>
      </p:sp>
      <p:pic>
        <p:nvPicPr>
          <p:cNvPr id="353" name="Google Shape;353;p26" descr="Small Tree Big Tree Stock Photos, Pictures &amp; Royalty-Free Images - iStock"/>
          <p:cNvPicPr preferRelativeResize="0"/>
          <p:nvPr/>
        </p:nvPicPr>
        <p:blipFill rotWithShape="1">
          <a:blip r:embed="rId3">
            <a:alphaModFix/>
          </a:blip>
          <a:srcRect/>
          <a:stretch/>
        </p:blipFill>
        <p:spPr>
          <a:xfrm>
            <a:off x="6096000" y="1955431"/>
            <a:ext cx="5459470" cy="294811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7"/>
          <p:cNvSpPr txBox="1"/>
          <p:nvPr/>
        </p:nvSpPr>
        <p:spPr>
          <a:xfrm>
            <a:off x="60292" y="28576"/>
            <a:ext cx="12071415"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C00000"/>
                </a:solidFill>
                <a:latin typeface="+mj-lt"/>
                <a:ea typeface="Calibri"/>
                <a:cs typeface="Calibri"/>
                <a:sym typeface="Calibri"/>
              </a:rPr>
              <a:t>Humans have ‘short-circuited’ nature’s nutrient cycles by synthesising fertilisers</a:t>
            </a:r>
            <a:endParaRPr sz="1200" b="1" dirty="0">
              <a:solidFill>
                <a:srgbClr val="C00000"/>
              </a:solidFill>
              <a:latin typeface="+mj-lt"/>
            </a:endParaRPr>
          </a:p>
        </p:txBody>
      </p:sp>
      <p:pic>
        <p:nvPicPr>
          <p:cNvPr id="359" name="Google Shape;359;p27"/>
          <p:cNvPicPr preferRelativeResize="0"/>
          <p:nvPr/>
        </p:nvPicPr>
        <p:blipFill rotWithShape="1">
          <a:blip r:embed="rId3">
            <a:alphaModFix/>
          </a:blip>
          <a:srcRect l="3136" t="9346" r="4328" b="10706"/>
          <a:stretch/>
        </p:blipFill>
        <p:spPr>
          <a:xfrm>
            <a:off x="1585911" y="857250"/>
            <a:ext cx="9472612" cy="58864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28"/>
          <p:cNvSpPr txBox="1">
            <a:spLocks noGrp="1"/>
          </p:cNvSpPr>
          <p:nvPr>
            <p:ph type="title"/>
          </p:nvPr>
        </p:nvSpPr>
        <p:spPr>
          <a:xfrm>
            <a:off x="200026" y="252548"/>
            <a:ext cx="4457700" cy="330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Calibri"/>
              <a:buNone/>
            </a:pPr>
            <a:r>
              <a:rPr lang="en-GB" sz="2400" b="1" dirty="0">
                <a:solidFill>
                  <a:srgbClr val="C00000"/>
                </a:solidFill>
                <a:latin typeface="+mn-lt"/>
                <a:ea typeface="Calibri"/>
                <a:cs typeface="Calibri"/>
                <a:sym typeface="Calibri"/>
              </a:rPr>
              <a:t>An example:</a:t>
            </a:r>
            <a:br>
              <a:rPr lang="en-GB" sz="2400" b="1" dirty="0">
                <a:solidFill>
                  <a:srgbClr val="C00000"/>
                </a:solidFill>
                <a:latin typeface="+mn-lt"/>
                <a:ea typeface="Calibri"/>
                <a:cs typeface="Calibri"/>
                <a:sym typeface="Calibri"/>
              </a:rPr>
            </a:br>
            <a:br>
              <a:rPr lang="en-GB" sz="2400" b="1" dirty="0">
                <a:solidFill>
                  <a:srgbClr val="C00000"/>
                </a:solidFill>
                <a:latin typeface="+mn-lt"/>
                <a:ea typeface="Calibri"/>
                <a:cs typeface="Calibri"/>
                <a:sym typeface="Calibri"/>
              </a:rPr>
            </a:br>
            <a:r>
              <a:rPr lang="en-GB" sz="2400" b="1" dirty="0">
                <a:solidFill>
                  <a:srgbClr val="C00000"/>
                </a:solidFill>
                <a:latin typeface="+mn-lt"/>
                <a:ea typeface="Calibri"/>
                <a:cs typeface="Calibri"/>
                <a:sym typeface="Calibri"/>
              </a:rPr>
              <a:t>Wheat yield (solid line) does not respond linearly to N fertilizer addition.</a:t>
            </a:r>
            <a:br>
              <a:rPr lang="en-GB" sz="2400" b="1" dirty="0">
                <a:solidFill>
                  <a:srgbClr val="C00000"/>
                </a:solidFill>
                <a:latin typeface="+mn-lt"/>
                <a:ea typeface="Calibri"/>
                <a:cs typeface="Calibri"/>
                <a:sym typeface="Calibri"/>
              </a:rPr>
            </a:br>
            <a:br>
              <a:rPr lang="en-GB" sz="2400" b="1" dirty="0">
                <a:solidFill>
                  <a:srgbClr val="C00000"/>
                </a:solidFill>
                <a:latin typeface="+mn-lt"/>
                <a:ea typeface="Calibri"/>
                <a:cs typeface="Calibri"/>
                <a:sym typeface="Calibri"/>
              </a:rPr>
            </a:br>
            <a:r>
              <a:rPr lang="en-GB" sz="2400" b="1" dirty="0">
                <a:solidFill>
                  <a:srgbClr val="C00000"/>
                </a:solidFill>
                <a:latin typeface="+mn-lt"/>
                <a:ea typeface="Calibri"/>
                <a:cs typeface="Calibri"/>
                <a:sym typeface="Calibri"/>
              </a:rPr>
              <a:t>Nitrogen Use Efficiency (dashed line) decreases</a:t>
            </a:r>
            <a:endParaRPr sz="4000" dirty="0">
              <a:solidFill>
                <a:srgbClr val="C00000"/>
              </a:solidFill>
              <a:latin typeface="+mn-lt"/>
            </a:endParaRPr>
          </a:p>
        </p:txBody>
      </p:sp>
      <p:pic>
        <p:nvPicPr>
          <p:cNvPr id="365" name="Google Shape;365;p28"/>
          <p:cNvPicPr preferRelativeResize="0">
            <a:picLocks noGrp="1"/>
          </p:cNvPicPr>
          <p:nvPr>
            <p:ph type="body" idx="1"/>
          </p:nvPr>
        </p:nvPicPr>
        <p:blipFill rotWithShape="1">
          <a:blip r:embed="rId3">
            <a:alphaModFix/>
          </a:blip>
          <a:srcRect/>
          <a:stretch/>
        </p:blipFill>
        <p:spPr>
          <a:xfrm>
            <a:off x="5047924" y="643466"/>
            <a:ext cx="6239483" cy="5568739"/>
          </a:xfrm>
          <a:prstGeom prst="rect">
            <a:avLst/>
          </a:prstGeom>
          <a:noFill/>
          <a:ln>
            <a:noFill/>
          </a:ln>
        </p:spPr>
      </p:pic>
      <p:sp>
        <p:nvSpPr>
          <p:cNvPr id="2" name="Google Shape;374;p29">
            <a:extLst>
              <a:ext uri="{FF2B5EF4-FFF2-40B4-BE49-F238E27FC236}">
                <a16:creationId xmlns:a16="http://schemas.microsoft.com/office/drawing/2014/main" id="{88358B98-1246-5949-B010-163F2775BAED}"/>
              </a:ext>
            </a:extLst>
          </p:cNvPr>
          <p:cNvSpPr txBox="1"/>
          <p:nvPr/>
        </p:nvSpPr>
        <p:spPr>
          <a:xfrm>
            <a:off x="285749" y="6331744"/>
            <a:ext cx="6100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Journal of Cereal Science 59 (2014) 276e283</a:t>
            </a:r>
            <a:endParaRPr sz="1800" dirty="0">
              <a:solidFill>
                <a:schemeClr val="dk1"/>
              </a:solidFill>
              <a:latin typeface="+mn-lt"/>
              <a:ea typeface="Calibri"/>
              <a:cs typeface="Calibri"/>
              <a:sym typeface="Calibri"/>
            </a:endParaRPr>
          </a:p>
        </p:txBody>
      </p:sp>
      <p:pic>
        <p:nvPicPr>
          <p:cNvPr id="3" name="Google Shape;375;p29" descr="Holy grail' wheat gene discovery could feed our overheated world | Climate  crisis | The Guardian">
            <a:extLst>
              <a:ext uri="{FF2B5EF4-FFF2-40B4-BE49-F238E27FC236}">
                <a16:creationId xmlns:a16="http://schemas.microsoft.com/office/drawing/2014/main" id="{F8B1EDF7-7894-3F2E-2434-D89B1C15A63D}"/>
              </a:ext>
            </a:extLst>
          </p:cNvPr>
          <p:cNvPicPr preferRelativeResize="0"/>
          <p:nvPr/>
        </p:nvPicPr>
        <p:blipFill rotWithShape="1">
          <a:blip r:embed="rId4">
            <a:alphaModFix/>
          </a:blip>
          <a:srcRect/>
          <a:stretch/>
        </p:blipFill>
        <p:spPr>
          <a:xfrm>
            <a:off x="285749" y="3592010"/>
            <a:ext cx="3904705" cy="234282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1"/>
        <p:cNvGrpSpPr/>
        <p:nvPr/>
      </p:nvGrpSpPr>
      <p:grpSpPr>
        <a:xfrm>
          <a:off x="0" y="0"/>
          <a:ext cx="0" cy="0"/>
          <a:chOff x="0" y="0"/>
          <a:chExt cx="0" cy="0"/>
        </a:xfrm>
      </p:grpSpPr>
      <p:sp>
        <p:nvSpPr>
          <p:cNvPr id="372" name="Google Shape;372;p29"/>
          <p:cNvSpPr txBox="1">
            <a:spLocks noGrp="1"/>
          </p:cNvSpPr>
          <p:nvPr>
            <p:ph type="title"/>
          </p:nvPr>
        </p:nvSpPr>
        <p:spPr>
          <a:xfrm>
            <a:off x="87831" y="320041"/>
            <a:ext cx="4300539" cy="30735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300"/>
              <a:buFont typeface="Calibri"/>
              <a:buNone/>
            </a:pPr>
            <a:r>
              <a:rPr lang="en-GB" sz="3300" b="1" dirty="0">
                <a:solidFill>
                  <a:srgbClr val="C00000"/>
                </a:solidFill>
                <a:latin typeface="+mn-lt"/>
                <a:ea typeface="Calibri"/>
                <a:cs typeface="Calibri"/>
                <a:sym typeface="Calibri"/>
              </a:rPr>
              <a:t>Yields of wheat have increased over the last 100 years</a:t>
            </a:r>
            <a:endParaRPr dirty="0">
              <a:solidFill>
                <a:srgbClr val="C00000"/>
              </a:solidFill>
              <a:latin typeface="+mn-lt"/>
            </a:endParaRPr>
          </a:p>
        </p:txBody>
      </p:sp>
      <p:pic>
        <p:nvPicPr>
          <p:cNvPr id="373" name="Google Shape;373;p29" descr="Chart, histogram&#10;&#10;Description automatically generated"/>
          <p:cNvPicPr preferRelativeResize="0"/>
          <p:nvPr/>
        </p:nvPicPr>
        <p:blipFill rotWithShape="1">
          <a:blip r:embed="rId3">
            <a:alphaModFix/>
          </a:blip>
          <a:srcRect/>
          <a:stretch/>
        </p:blipFill>
        <p:spPr>
          <a:xfrm>
            <a:off x="4777316" y="732507"/>
            <a:ext cx="6780700" cy="5390656"/>
          </a:xfrm>
          <a:prstGeom prst="rect">
            <a:avLst/>
          </a:prstGeom>
          <a:noFill/>
          <a:ln>
            <a:noFill/>
          </a:ln>
        </p:spPr>
      </p:pic>
      <p:pic>
        <p:nvPicPr>
          <p:cNvPr id="375" name="Google Shape;375;p29" descr="Holy grail' wheat gene discovery could feed our overheated world | Climate  crisis | The Guardian"/>
          <p:cNvPicPr preferRelativeResize="0"/>
          <p:nvPr/>
        </p:nvPicPr>
        <p:blipFill rotWithShape="1">
          <a:blip r:embed="rId4">
            <a:alphaModFix/>
          </a:blip>
          <a:srcRect/>
          <a:stretch/>
        </p:blipFill>
        <p:spPr>
          <a:xfrm>
            <a:off x="285749" y="3592010"/>
            <a:ext cx="3904705" cy="2342823"/>
          </a:xfrm>
          <a:prstGeom prst="rect">
            <a:avLst/>
          </a:prstGeom>
          <a:noFill/>
          <a:ln>
            <a:noFill/>
          </a:ln>
        </p:spPr>
      </p:pic>
      <p:sp>
        <p:nvSpPr>
          <p:cNvPr id="2" name="Google Shape;374;p29">
            <a:extLst>
              <a:ext uri="{FF2B5EF4-FFF2-40B4-BE49-F238E27FC236}">
                <a16:creationId xmlns:a16="http://schemas.microsoft.com/office/drawing/2014/main" id="{A050222C-3A97-C5F6-2A01-4C520F15EAF4}"/>
              </a:ext>
            </a:extLst>
          </p:cNvPr>
          <p:cNvSpPr txBox="1"/>
          <p:nvPr/>
        </p:nvSpPr>
        <p:spPr>
          <a:xfrm>
            <a:off x="285749" y="6331744"/>
            <a:ext cx="6100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Journal of Cereal Science 59 (2014) 276e283</a:t>
            </a:r>
            <a:endParaRPr sz="1800" dirty="0">
              <a:solidFill>
                <a:schemeClr val="dk1"/>
              </a:solidFill>
              <a:latin typeface="+mn-lt"/>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9"/>
        <p:cNvGrpSpPr/>
        <p:nvPr/>
      </p:nvGrpSpPr>
      <p:grpSpPr>
        <a:xfrm>
          <a:off x="0" y="0"/>
          <a:ext cx="0" cy="0"/>
          <a:chOff x="0" y="0"/>
          <a:chExt cx="0" cy="0"/>
        </a:xfrm>
      </p:grpSpPr>
      <p:pic>
        <p:nvPicPr>
          <p:cNvPr id="380" name="Google Shape;380;p30"/>
          <p:cNvPicPr preferRelativeResize="0">
            <a:picLocks noGrp="1"/>
          </p:cNvPicPr>
          <p:nvPr>
            <p:ph type="body" idx="1"/>
          </p:nvPr>
        </p:nvPicPr>
        <p:blipFill rotWithShape="1">
          <a:blip r:embed="rId3">
            <a:alphaModFix/>
          </a:blip>
          <a:srcRect t="10403"/>
          <a:stretch/>
        </p:blipFill>
        <p:spPr>
          <a:xfrm>
            <a:off x="4190021" y="1295018"/>
            <a:ext cx="7407857" cy="4828589"/>
          </a:xfrm>
          <a:prstGeom prst="rect">
            <a:avLst/>
          </a:prstGeom>
          <a:noFill/>
          <a:ln>
            <a:noFill/>
          </a:ln>
        </p:spPr>
      </p:pic>
      <p:sp>
        <p:nvSpPr>
          <p:cNvPr id="381" name="Google Shape;381;p30"/>
          <p:cNvSpPr>
            <a:spLocks noGrp="1"/>
          </p:cNvSpPr>
          <p:nvPr>
            <p:ph type="title"/>
          </p:nvPr>
        </p:nvSpPr>
        <p:spPr>
          <a:xfrm>
            <a:off x="466916" y="1891095"/>
            <a:ext cx="3757612" cy="3671886"/>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400"/>
              <a:buFont typeface="Calibri"/>
              <a:buNone/>
            </a:pPr>
            <a:r>
              <a:rPr lang="en-GB" sz="2400" dirty="0">
                <a:solidFill>
                  <a:srgbClr val="FFFFFF"/>
                </a:solidFill>
                <a:latin typeface="Calibri"/>
                <a:ea typeface="Calibri"/>
                <a:cs typeface="Calibri"/>
                <a:sym typeface="Calibri"/>
              </a:rPr>
              <a:t>Understanding how plants have evolved to acquire nutrients may help develop sustainable strategies to increase yield</a:t>
            </a:r>
            <a:endParaRPr dirty="0"/>
          </a:p>
        </p:txBody>
      </p:sp>
      <p:sp>
        <p:nvSpPr>
          <p:cNvPr id="2" name="TextBox 1">
            <a:extLst>
              <a:ext uri="{FF2B5EF4-FFF2-40B4-BE49-F238E27FC236}">
                <a16:creationId xmlns:a16="http://schemas.microsoft.com/office/drawing/2014/main" id="{88EACC41-9D57-3BEA-9583-5ACD7957739E}"/>
              </a:ext>
            </a:extLst>
          </p:cNvPr>
          <p:cNvSpPr txBox="1"/>
          <p:nvPr/>
        </p:nvSpPr>
        <p:spPr>
          <a:xfrm>
            <a:off x="4615466" y="734393"/>
            <a:ext cx="2961067" cy="523220"/>
          </a:xfrm>
          <a:prstGeom prst="rect">
            <a:avLst/>
          </a:prstGeom>
          <a:noFill/>
        </p:spPr>
        <p:txBody>
          <a:bodyPr wrap="none" rtlCol="0">
            <a:spAutoFit/>
          </a:bodyPr>
          <a:lstStyle/>
          <a:p>
            <a:r>
              <a:rPr lang="en-US" sz="2800" b="1" dirty="0">
                <a:solidFill>
                  <a:srgbClr val="C00000"/>
                </a:solidFill>
              </a:rPr>
              <a:t>Nutrient Cycling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5"/>
        <p:cNvGrpSpPr/>
        <p:nvPr/>
      </p:nvGrpSpPr>
      <p:grpSpPr>
        <a:xfrm>
          <a:off x="0" y="0"/>
          <a:ext cx="0" cy="0"/>
          <a:chOff x="0" y="0"/>
          <a:chExt cx="0" cy="0"/>
        </a:xfrm>
      </p:grpSpPr>
      <p:pic>
        <p:nvPicPr>
          <p:cNvPr id="2" name="Google Shape;388;p31" descr="Timeline&#10;&#10;Description automatically generated">
            <a:extLst>
              <a:ext uri="{FF2B5EF4-FFF2-40B4-BE49-F238E27FC236}">
                <a16:creationId xmlns:a16="http://schemas.microsoft.com/office/drawing/2014/main" id="{61541710-6F58-CFAB-E056-7B530EE55EDC}"/>
              </a:ext>
            </a:extLst>
          </p:cNvPr>
          <p:cNvPicPr preferRelativeResize="0"/>
          <p:nvPr/>
        </p:nvPicPr>
        <p:blipFill rotWithShape="1">
          <a:blip r:embed="rId3">
            <a:alphaModFix/>
          </a:blip>
          <a:srcRect/>
          <a:stretch/>
        </p:blipFill>
        <p:spPr>
          <a:xfrm>
            <a:off x="4711699" y="449655"/>
            <a:ext cx="6884686" cy="5648826"/>
          </a:xfrm>
          <a:prstGeom prst="rect">
            <a:avLst/>
          </a:prstGeom>
          <a:noFill/>
          <a:ln>
            <a:noFill/>
          </a:ln>
        </p:spPr>
      </p:pic>
      <p:sp>
        <p:nvSpPr>
          <p:cNvPr id="386" name="Google Shape;386;p31"/>
          <p:cNvSpPr/>
          <p:nvPr/>
        </p:nvSpPr>
        <p:spPr>
          <a:xfrm>
            <a:off x="0" y="0"/>
            <a:ext cx="4094983" cy="6858000"/>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31"/>
          <p:cNvSpPr txBox="1"/>
          <p:nvPr/>
        </p:nvSpPr>
        <p:spPr>
          <a:xfrm>
            <a:off x="214313" y="785819"/>
            <a:ext cx="3880799" cy="538959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ct val="100000"/>
              <a:buFont typeface="Arial"/>
              <a:buChar char="•"/>
            </a:pPr>
            <a:r>
              <a:rPr lang="en-GB" sz="2800" dirty="0">
                <a:solidFill>
                  <a:schemeClr val="lt1"/>
                </a:solidFill>
                <a:latin typeface="+mn-lt"/>
                <a:ea typeface="Calibri"/>
                <a:cs typeface="Calibri"/>
                <a:sym typeface="Calibri"/>
              </a:rPr>
              <a:t>As we have seen, nitrogen (N) often limits plant growth.  </a:t>
            </a:r>
            <a:endParaRPr sz="1200" dirty="0">
              <a:latin typeface="+mn-lt"/>
            </a:endParaRPr>
          </a:p>
          <a:p>
            <a:pPr marL="0" marR="0" lvl="0" indent="187960" algn="l" rtl="0">
              <a:lnSpc>
                <a:spcPct val="90000"/>
              </a:lnSpc>
              <a:spcBef>
                <a:spcPts val="600"/>
              </a:spcBef>
              <a:spcAft>
                <a:spcPts val="0"/>
              </a:spcAft>
              <a:buClr>
                <a:schemeClr val="dk1"/>
              </a:buClr>
              <a:buSzPct val="100000"/>
              <a:buFont typeface="Arial"/>
              <a:buNone/>
            </a:pPr>
            <a:endParaRPr sz="28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ct val="100000"/>
              <a:buFont typeface="Arial"/>
              <a:buChar char="•"/>
            </a:pPr>
            <a:r>
              <a:rPr lang="en-GB" sz="2800" dirty="0">
                <a:solidFill>
                  <a:schemeClr val="lt1"/>
                </a:solidFill>
                <a:latin typeface="+mn-lt"/>
                <a:ea typeface="Calibri"/>
                <a:cs typeface="Calibri"/>
                <a:sym typeface="Calibri"/>
              </a:rPr>
              <a:t>Let’s look at the terrestrial nitrogen cycle</a:t>
            </a:r>
            <a:endParaRPr sz="1200" dirty="0">
              <a:latin typeface="+mn-lt"/>
            </a:endParaRPr>
          </a:p>
          <a:p>
            <a:pPr marL="0" marR="0" lvl="0" indent="187960" algn="l" rtl="0">
              <a:lnSpc>
                <a:spcPct val="90000"/>
              </a:lnSpc>
              <a:spcBef>
                <a:spcPts val="600"/>
              </a:spcBef>
              <a:spcAft>
                <a:spcPts val="0"/>
              </a:spcAft>
              <a:buClr>
                <a:schemeClr val="dk1"/>
              </a:buClr>
              <a:buSzPct val="100000"/>
              <a:buFont typeface="Arial"/>
              <a:buNone/>
            </a:pPr>
            <a:endParaRPr sz="28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ct val="100000"/>
              <a:buFont typeface="Arial"/>
              <a:buChar char="•"/>
            </a:pPr>
            <a:r>
              <a:rPr lang="en-GB" sz="2800" dirty="0">
                <a:solidFill>
                  <a:schemeClr val="lt1"/>
                </a:solidFill>
                <a:latin typeface="+mn-lt"/>
                <a:ea typeface="Calibri"/>
                <a:cs typeface="Calibri"/>
                <a:sym typeface="Calibri"/>
              </a:rPr>
              <a:t>The size of the pools and the rate at which pools are transformed varies according to context </a:t>
            </a:r>
            <a:endParaRPr sz="1200" dirty="0">
              <a:latin typeface="+mn-lt"/>
            </a:endParaRPr>
          </a:p>
        </p:txBody>
      </p:sp>
      <p:sp>
        <p:nvSpPr>
          <p:cNvPr id="389" name="Google Shape;389;p31"/>
          <p:cNvSpPr txBox="1"/>
          <p:nvPr/>
        </p:nvSpPr>
        <p:spPr>
          <a:xfrm>
            <a:off x="5603127" y="6351192"/>
            <a:ext cx="3995837" cy="369332"/>
          </a:xfrm>
          <a:prstGeom prst="rect">
            <a:avLst/>
          </a:prstGeom>
          <a:noFill/>
          <a:ln w="349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Calibri"/>
                <a:ea typeface="Calibri"/>
                <a:cs typeface="Calibri"/>
                <a:sym typeface="Calibri"/>
              </a:rPr>
              <a:t>In many soils, the organic N pool is large </a:t>
            </a:r>
            <a:endParaRPr dirty="0"/>
          </a:p>
        </p:txBody>
      </p:sp>
      <p:cxnSp>
        <p:nvCxnSpPr>
          <p:cNvPr id="390" name="Google Shape;390;p31"/>
          <p:cNvCxnSpPr>
            <a:stCxn id="389" idx="0"/>
          </p:cNvCxnSpPr>
          <p:nvPr/>
        </p:nvCxnSpPr>
        <p:spPr>
          <a:xfrm rot="10800000" flipH="1">
            <a:off x="7601046" y="4700592"/>
            <a:ext cx="999900" cy="1650600"/>
          </a:xfrm>
          <a:prstGeom prst="straightConnector1">
            <a:avLst/>
          </a:prstGeom>
          <a:noFill/>
          <a:ln w="38100" cap="flat" cmpd="sng">
            <a:solidFill>
              <a:srgbClr val="FF0000"/>
            </a:solidFill>
            <a:prstDash val="solid"/>
            <a:miter lim="800000"/>
            <a:headEnd type="none" w="sm" len="sm"/>
            <a:tailEnd type="triangl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32"/>
          <p:cNvPicPr preferRelativeResize="0"/>
          <p:nvPr/>
        </p:nvPicPr>
        <p:blipFill rotWithShape="1">
          <a:blip r:embed="rId3">
            <a:alphaModFix/>
          </a:blip>
          <a:srcRect/>
          <a:stretch/>
        </p:blipFill>
        <p:spPr>
          <a:xfrm>
            <a:off x="1595437" y="677067"/>
            <a:ext cx="9525000" cy="4966145"/>
          </a:xfrm>
          <a:prstGeom prst="rect">
            <a:avLst/>
          </a:prstGeom>
          <a:noFill/>
          <a:ln>
            <a:noFill/>
          </a:ln>
        </p:spPr>
      </p:pic>
      <p:sp>
        <p:nvSpPr>
          <p:cNvPr id="396" name="Google Shape;396;p32"/>
          <p:cNvSpPr txBox="1"/>
          <p:nvPr/>
        </p:nvSpPr>
        <p:spPr>
          <a:xfrm>
            <a:off x="1014412" y="276998"/>
            <a:ext cx="1068705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dirty="0">
                <a:solidFill>
                  <a:srgbClr val="C00000"/>
                </a:solidFill>
                <a:latin typeface="+mj-lt"/>
                <a:ea typeface="Calibri"/>
                <a:cs typeface="Calibri"/>
                <a:sym typeface="Calibri"/>
              </a:rPr>
              <a:t>The distribution of nitrogen in soil is heterogeneous across large and small scales</a:t>
            </a:r>
            <a:endParaRPr b="1" dirty="0">
              <a:solidFill>
                <a:srgbClr val="C00000"/>
              </a:solidFill>
              <a:latin typeface="+mj-lt"/>
            </a:endParaRPr>
          </a:p>
        </p:txBody>
      </p:sp>
      <p:sp>
        <p:nvSpPr>
          <p:cNvPr id="397" name="Google Shape;397;p32"/>
          <p:cNvSpPr/>
          <p:nvPr/>
        </p:nvSpPr>
        <p:spPr>
          <a:xfrm>
            <a:off x="1566862" y="5452112"/>
            <a:ext cx="9596437" cy="10771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600" dirty="0">
              <a:solidFill>
                <a:schemeClr val="dk1"/>
              </a:solidFill>
              <a:latin typeface="+mn-lt"/>
              <a:ea typeface="Calibri"/>
              <a:cs typeface="Calibri"/>
              <a:sym typeface="Calibri"/>
            </a:endParaRPr>
          </a:p>
          <a:p>
            <a:pPr marL="0" marR="0" lvl="0" indent="0" algn="just" rtl="0">
              <a:spcBef>
                <a:spcPts val="0"/>
              </a:spcBef>
              <a:spcAft>
                <a:spcPts val="0"/>
              </a:spcAft>
              <a:buNone/>
            </a:pPr>
            <a:r>
              <a:rPr lang="en-GB" sz="1600" dirty="0">
                <a:solidFill>
                  <a:schemeClr val="dk1"/>
                </a:solidFill>
                <a:latin typeface="+mn-lt"/>
                <a:ea typeface="Calibri"/>
                <a:cs typeface="Calibri"/>
                <a:sym typeface="Calibri"/>
              </a:rPr>
              <a:t>César Plaza, Claudio Zaccone, Kasia </a:t>
            </a:r>
            <a:r>
              <a:rPr lang="en-GB" sz="1600" dirty="0" err="1">
                <a:solidFill>
                  <a:schemeClr val="dk1"/>
                </a:solidFill>
                <a:latin typeface="+mn-lt"/>
                <a:ea typeface="Calibri"/>
                <a:cs typeface="Calibri"/>
                <a:sym typeface="Calibri"/>
              </a:rPr>
              <a:t>Sawicka</a:t>
            </a:r>
            <a:r>
              <a:rPr lang="en-GB" sz="1600" dirty="0">
                <a:solidFill>
                  <a:schemeClr val="dk1"/>
                </a:solidFill>
                <a:latin typeface="+mn-lt"/>
                <a:ea typeface="Calibri"/>
                <a:cs typeface="Calibri"/>
                <a:sym typeface="Calibri"/>
              </a:rPr>
              <a:t>, Ana M. Méndez, Ana </a:t>
            </a:r>
            <a:r>
              <a:rPr lang="en-GB" sz="1600" dirty="0" err="1">
                <a:solidFill>
                  <a:schemeClr val="dk1"/>
                </a:solidFill>
                <a:latin typeface="+mn-lt"/>
                <a:ea typeface="Calibri"/>
                <a:cs typeface="Calibri"/>
                <a:sym typeface="Calibri"/>
              </a:rPr>
              <a:t>Tarquis</a:t>
            </a:r>
            <a:r>
              <a:rPr lang="en-GB" sz="1600" dirty="0">
                <a:solidFill>
                  <a:schemeClr val="dk1"/>
                </a:solidFill>
                <a:latin typeface="+mn-lt"/>
                <a:ea typeface="Calibri"/>
                <a:cs typeface="Calibri"/>
                <a:sym typeface="Calibri"/>
              </a:rPr>
              <a:t>, Gabriel </a:t>
            </a:r>
            <a:r>
              <a:rPr lang="en-GB" sz="1600" dirty="0" err="1">
                <a:solidFill>
                  <a:schemeClr val="dk1"/>
                </a:solidFill>
                <a:latin typeface="+mn-lt"/>
                <a:ea typeface="Calibri"/>
                <a:cs typeface="Calibri"/>
                <a:sym typeface="Calibri"/>
              </a:rPr>
              <a:t>Gascó</a:t>
            </a:r>
            <a:r>
              <a:rPr lang="en-GB" sz="1600" dirty="0">
                <a:solidFill>
                  <a:schemeClr val="dk1"/>
                </a:solidFill>
                <a:latin typeface="+mn-lt"/>
                <a:ea typeface="Calibri"/>
                <a:cs typeface="Calibri"/>
                <a:sym typeface="Calibri"/>
              </a:rPr>
              <a:t>, Gerard B. M. </a:t>
            </a:r>
            <a:r>
              <a:rPr lang="en-GB" sz="1600" dirty="0" err="1">
                <a:solidFill>
                  <a:schemeClr val="dk1"/>
                </a:solidFill>
                <a:latin typeface="+mn-lt"/>
                <a:ea typeface="Calibri"/>
                <a:cs typeface="Calibri"/>
                <a:sym typeface="Calibri"/>
              </a:rPr>
              <a:t>Heuvelink</a:t>
            </a:r>
            <a:r>
              <a:rPr lang="en-GB" sz="1600" dirty="0">
                <a:solidFill>
                  <a:schemeClr val="dk1"/>
                </a:solidFill>
                <a:latin typeface="+mn-lt"/>
                <a:ea typeface="Calibri"/>
                <a:cs typeface="Calibri"/>
                <a:sym typeface="Calibri"/>
              </a:rPr>
              <a:t>, Edward A. G. Schuur &amp; Fernando T. Maestre “Soil resources and element stocks in drylands to face global issues” </a:t>
            </a:r>
            <a:r>
              <a:rPr lang="en-GB" sz="1600" b="1" i="1" dirty="0">
                <a:solidFill>
                  <a:schemeClr val="dk1"/>
                </a:solidFill>
                <a:latin typeface="+mn-lt"/>
                <a:ea typeface="Calibri"/>
                <a:cs typeface="Calibri"/>
                <a:sym typeface="Calibri"/>
              </a:rPr>
              <a:t>Scientific Reports </a:t>
            </a:r>
            <a:r>
              <a:rPr lang="en-GB" sz="1600" dirty="0">
                <a:solidFill>
                  <a:schemeClr val="dk1"/>
                </a:solidFill>
                <a:latin typeface="+mn-lt"/>
                <a:ea typeface="Calibri"/>
                <a:cs typeface="Calibri"/>
                <a:sym typeface="Calibri"/>
              </a:rPr>
              <a:t>8: 13788 (2018) </a:t>
            </a:r>
            <a:endParaRPr sz="1200" dirty="0">
              <a:latin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3"/>
          <p:cNvSpPr txBox="1">
            <a:spLocks noGrp="1"/>
          </p:cNvSpPr>
          <p:nvPr>
            <p:ph type="title"/>
          </p:nvPr>
        </p:nvSpPr>
        <p:spPr>
          <a:xfrm>
            <a:off x="0" y="34670"/>
            <a:ext cx="9644384" cy="53683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Calibri"/>
              <a:buNone/>
            </a:pPr>
            <a:r>
              <a:rPr lang="en-GB" sz="3200" b="1" dirty="0">
                <a:solidFill>
                  <a:srgbClr val="C00000"/>
                </a:solidFill>
                <a:latin typeface="+mj-lt"/>
              </a:rPr>
              <a:t>Plants acquire nutrients from soil to grow….</a:t>
            </a:r>
            <a:endParaRPr sz="3200" b="1" dirty="0">
              <a:solidFill>
                <a:srgbClr val="C00000"/>
              </a:solidFill>
              <a:latin typeface="+mj-lt"/>
            </a:endParaRPr>
          </a:p>
        </p:txBody>
      </p:sp>
      <p:sp>
        <p:nvSpPr>
          <p:cNvPr id="404" name="Google Shape;404;p33"/>
          <p:cNvSpPr txBox="1"/>
          <p:nvPr/>
        </p:nvSpPr>
        <p:spPr>
          <a:xfrm>
            <a:off x="1481797" y="4948999"/>
            <a:ext cx="9228405" cy="1754286"/>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3600" b="1" dirty="0">
                <a:solidFill>
                  <a:schemeClr val="bg1"/>
                </a:solidFill>
                <a:latin typeface="+mn-lt"/>
                <a:ea typeface="Short Stack"/>
                <a:cs typeface="Short Stack"/>
                <a:sym typeface="Short Stack"/>
              </a:rPr>
              <a:t>WRONG! </a:t>
            </a:r>
          </a:p>
          <a:p>
            <a:pPr marL="0" marR="0" lvl="0" indent="0" algn="ctr" rtl="0">
              <a:spcBef>
                <a:spcPts val="0"/>
              </a:spcBef>
              <a:spcAft>
                <a:spcPts val="0"/>
              </a:spcAft>
              <a:buNone/>
            </a:pPr>
            <a:r>
              <a:rPr lang="en-GB" sz="3600" b="1" dirty="0">
                <a:solidFill>
                  <a:schemeClr val="bg1"/>
                </a:solidFill>
                <a:latin typeface="+mn-lt"/>
                <a:ea typeface="Short Stack"/>
                <a:cs typeface="Short Stack"/>
                <a:sym typeface="Short Stack"/>
              </a:rPr>
              <a:t>Most plants rely on symbioses with fungi and bacteria (or both)</a:t>
            </a:r>
            <a:endParaRPr sz="1200" dirty="0">
              <a:solidFill>
                <a:schemeClr val="bg1"/>
              </a:solidFill>
              <a:latin typeface="+mn-lt"/>
            </a:endParaRPr>
          </a:p>
        </p:txBody>
      </p:sp>
      <p:pic>
        <p:nvPicPr>
          <p:cNvPr id="405" name="Google Shape;405;p33"/>
          <p:cNvPicPr preferRelativeResize="0"/>
          <p:nvPr/>
        </p:nvPicPr>
        <p:blipFill rotWithShape="1">
          <a:blip r:embed="rId3">
            <a:alphaModFix/>
          </a:blip>
          <a:srcRect/>
          <a:stretch/>
        </p:blipFill>
        <p:spPr>
          <a:xfrm>
            <a:off x="600075" y="659452"/>
            <a:ext cx="4997569" cy="3576052"/>
          </a:xfrm>
          <a:prstGeom prst="rect">
            <a:avLst/>
          </a:prstGeom>
          <a:noFill/>
          <a:ln>
            <a:noFill/>
          </a:ln>
        </p:spPr>
      </p:pic>
      <p:pic>
        <p:nvPicPr>
          <p:cNvPr id="406" name="Google Shape;406;p33"/>
          <p:cNvPicPr preferRelativeResize="0"/>
          <p:nvPr/>
        </p:nvPicPr>
        <p:blipFill rotWithShape="1">
          <a:blip r:embed="rId4">
            <a:alphaModFix/>
          </a:blip>
          <a:srcRect/>
          <a:stretch/>
        </p:blipFill>
        <p:spPr>
          <a:xfrm>
            <a:off x="6171673" y="507946"/>
            <a:ext cx="5420252" cy="3967777"/>
          </a:xfrm>
          <a:prstGeom prst="rect">
            <a:avLst/>
          </a:prstGeom>
          <a:noFill/>
          <a:ln>
            <a:noFill/>
          </a:ln>
        </p:spPr>
      </p:pic>
      <p:sp>
        <p:nvSpPr>
          <p:cNvPr id="403" name="Google Shape;403;p33"/>
          <p:cNvSpPr txBox="1"/>
          <p:nvPr/>
        </p:nvSpPr>
        <p:spPr>
          <a:xfrm>
            <a:off x="1921135" y="4221216"/>
            <a:ext cx="578023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dirty="0">
                <a:solidFill>
                  <a:schemeClr val="dk1"/>
                </a:solidFill>
                <a:latin typeface="+mn-lt"/>
                <a:ea typeface="Calibri"/>
                <a:cs typeface="Calibri"/>
                <a:sym typeface="Calibri"/>
              </a:rPr>
              <a:t>…using only their roots, right?</a:t>
            </a:r>
            <a:endParaRPr sz="12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pic>
        <p:nvPicPr>
          <p:cNvPr id="412" name="Google Shape;412;p34"/>
          <p:cNvPicPr preferRelativeResize="0"/>
          <p:nvPr/>
        </p:nvPicPr>
        <p:blipFill rotWithShape="1">
          <a:blip r:embed="rId3">
            <a:alphaModFix/>
          </a:blip>
          <a:srcRect/>
          <a:stretch/>
        </p:blipFill>
        <p:spPr>
          <a:xfrm>
            <a:off x="1524000" y="4843464"/>
            <a:ext cx="1619250" cy="2014537"/>
          </a:xfrm>
          <a:prstGeom prst="rect">
            <a:avLst/>
          </a:prstGeom>
          <a:noFill/>
          <a:ln>
            <a:noFill/>
          </a:ln>
        </p:spPr>
      </p:pic>
      <p:pic>
        <p:nvPicPr>
          <p:cNvPr id="413" name="Google Shape;413;p34"/>
          <p:cNvPicPr preferRelativeResize="0"/>
          <p:nvPr/>
        </p:nvPicPr>
        <p:blipFill rotWithShape="1">
          <a:blip r:embed="rId4">
            <a:alphaModFix/>
          </a:blip>
          <a:srcRect/>
          <a:stretch/>
        </p:blipFill>
        <p:spPr>
          <a:xfrm>
            <a:off x="1524001" y="4287838"/>
            <a:ext cx="1635125" cy="698500"/>
          </a:xfrm>
          <a:prstGeom prst="rect">
            <a:avLst/>
          </a:prstGeom>
          <a:noFill/>
          <a:ln>
            <a:noFill/>
          </a:ln>
        </p:spPr>
      </p:pic>
      <p:pic>
        <p:nvPicPr>
          <p:cNvPr id="414" name="Google Shape;414;p34"/>
          <p:cNvPicPr preferRelativeResize="0"/>
          <p:nvPr/>
        </p:nvPicPr>
        <p:blipFill rotWithShape="1">
          <a:blip r:embed="rId5">
            <a:alphaModFix/>
          </a:blip>
          <a:srcRect/>
          <a:stretch/>
        </p:blipFill>
        <p:spPr>
          <a:xfrm>
            <a:off x="3114676" y="2073275"/>
            <a:ext cx="1685925" cy="1441450"/>
          </a:xfrm>
          <a:prstGeom prst="rect">
            <a:avLst/>
          </a:prstGeom>
          <a:noFill/>
          <a:ln>
            <a:noFill/>
          </a:ln>
        </p:spPr>
      </p:pic>
      <p:pic>
        <p:nvPicPr>
          <p:cNvPr id="415" name="Google Shape;415;p34"/>
          <p:cNvPicPr preferRelativeResize="0"/>
          <p:nvPr/>
        </p:nvPicPr>
        <p:blipFill rotWithShape="1">
          <a:blip r:embed="rId6">
            <a:alphaModFix/>
          </a:blip>
          <a:srcRect/>
          <a:stretch/>
        </p:blipFill>
        <p:spPr>
          <a:xfrm>
            <a:off x="4675188" y="1"/>
            <a:ext cx="3238500" cy="1851025"/>
          </a:xfrm>
          <a:prstGeom prst="rect">
            <a:avLst/>
          </a:prstGeom>
          <a:noFill/>
          <a:ln>
            <a:noFill/>
          </a:ln>
        </p:spPr>
      </p:pic>
      <p:pic>
        <p:nvPicPr>
          <p:cNvPr id="416" name="Google Shape;416;p34"/>
          <p:cNvPicPr preferRelativeResize="0"/>
          <p:nvPr/>
        </p:nvPicPr>
        <p:blipFill rotWithShape="1">
          <a:blip r:embed="rId7">
            <a:alphaModFix/>
          </a:blip>
          <a:srcRect/>
          <a:stretch/>
        </p:blipFill>
        <p:spPr>
          <a:xfrm>
            <a:off x="4745039" y="4549775"/>
            <a:ext cx="1303337" cy="844550"/>
          </a:xfrm>
          <a:prstGeom prst="rect">
            <a:avLst/>
          </a:prstGeom>
          <a:noFill/>
          <a:ln>
            <a:noFill/>
          </a:ln>
        </p:spPr>
      </p:pic>
      <p:pic>
        <p:nvPicPr>
          <p:cNvPr id="417" name="Google Shape;417;p34" descr="DGT04 small"/>
          <p:cNvPicPr preferRelativeResize="0"/>
          <p:nvPr/>
        </p:nvPicPr>
        <p:blipFill rotWithShape="1">
          <a:blip r:embed="rId8">
            <a:alphaModFix/>
          </a:blip>
          <a:srcRect/>
          <a:stretch/>
        </p:blipFill>
        <p:spPr>
          <a:xfrm>
            <a:off x="1524000" y="1"/>
            <a:ext cx="3238500" cy="2111375"/>
          </a:xfrm>
          <a:prstGeom prst="rect">
            <a:avLst/>
          </a:prstGeom>
          <a:noFill/>
          <a:ln>
            <a:noFill/>
          </a:ln>
        </p:spPr>
      </p:pic>
      <p:pic>
        <p:nvPicPr>
          <p:cNvPr id="418" name="Google Shape;418;p34" descr="DGT05 small"/>
          <p:cNvPicPr preferRelativeResize="0"/>
          <p:nvPr/>
        </p:nvPicPr>
        <p:blipFill rotWithShape="1">
          <a:blip r:embed="rId9">
            <a:alphaModFix/>
          </a:blip>
          <a:srcRect/>
          <a:stretch/>
        </p:blipFill>
        <p:spPr>
          <a:xfrm>
            <a:off x="6334126" y="1833563"/>
            <a:ext cx="1573213" cy="1689100"/>
          </a:xfrm>
          <a:prstGeom prst="rect">
            <a:avLst/>
          </a:prstGeom>
          <a:noFill/>
          <a:ln>
            <a:noFill/>
          </a:ln>
        </p:spPr>
      </p:pic>
      <p:pic>
        <p:nvPicPr>
          <p:cNvPr id="419" name="Google Shape;419;p34" descr="DGT01 small"/>
          <p:cNvPicPr preferRelativeResize="0"/>
          <p:nvPr/>
        </p:nvPicPr>
        <p:blipFill rotWithShape="1">
          <a:blip r:embed="rId10">
            <a:alphaModFix/>
          </a:blip>
          <a:srcRect/>
          <a:stretch/>
        </p:blipFill>
        <p:spPr>
          <a:xfrm>
            <a:off x="1524000" y="2108201"/>
            <a:ext cx="1619250" cy="1420813"/>
          </a:xfrm>
          <a:prstGeom prst="rect">
            <a:avLst/>
          </a:prstGeom>
          <a:noFill/>
          <a:ln>
            <a:noFill/>
          </a:ln>
        </p:spPr>
      </p:pic>
      <p:pic>
        <p:nvPicPr>
          <p:cNvPr id="420" name="Google Shape;420;p34" descr="DGT02 small"/>
          <p:cNvPicPr preferRelativeResize="0"/>
          <p:nvPr/>
        </p:nvPicPr>
        <p:blipFill rotWithShape="1">
          <a:blip r:embed="rId11">
            <a:alphaModFix/>
          </a:blip>
          <a:srcRect/>
          <a:stretch/>
        </p:blipFill>
        <p:spPr>
          <a:xfrm>
            <a:off x="4745038" y="1849438"/>
            <a:ext cx="1619250" cy="1358900"/>
          </a:xfrm>
          <a:prstGeom prst="rect">
            <a:avLst/>
          </a:prstGeom>
          <a:noFill/>
          <a:ln>
            <a:noFill/>
          </a:ln>
        </p:spPr>
      </p:pic>
      <p:pic>
        <p:nvPicPr>
          <p:cNvPr id="421" name="Google Shape;421;p34"/>
          <p:cNvPicPr preferRelativeResize="0"/>
          <p:nvPr/>
        </p:nvPicPr>
        <p:blipFill rotWithShape="1">
          <a:blip r:embed="rId12">
            <a:alphaModFix/>
          </a:blip>
          <a:srcRect/>
          <a:stretch/>
        </p:blipFill>
        <p:spPr>
          <a:xfrm>
            <a:off x="3138488" y="5032376"/>
            <a:ext cx="1619250" cy="1825625"/>
          </a:xfrm>
          <a:prstGeom prst="rect">
            <a:avLst/>
          </a:prstGeom>
          <a:noFill/>
          <a:ln>
            <a:noFill/>
          </a:ln>
        </p:spPr>
      </p:pic>
      <p:pic>
        <p:nvPicPr>
          <p:cNvPr id="422" name="Google Shape;422;p34"/>
          <p:cNvPicPr preferRelativeResize="0"/>
          <p:nvPr/>
        </p:nvPicPr>
        <p:blipFill rotWithShape="1">
          <a:blip r:embed="rId13">
            <a:alphaModFix/>
          </a:blip>
          <a:srcRect/>
          <a:stretch/>
        </p:blipFill>
        <p:spPr>
          <a:xfrm>
            <a:off x="7883525" y="4229101"/>
            <a:ext cx="1619250" cy="1463675"/>
          </a:xfrm>
          <a:prstGeom prst="rect">
            <a:avLst/>
          </a:prstGeom>
          <a:noFill/>
          <a:ln>
            <a:noFill/>
          </a:ln>
        </p:spPr>
      </p:pic>
      <p:pic>
        <p:nvPicPr>
          <p:cNvPr id="423" name="Google Shape;423;p34" descr="DGT03small"/>
          <p:cNvPicPr preferRelativeResize="0"/>
          <p:nvPr/>
        </p:nvPicPr>
        <p:blipFill rotWithShape="1">
          <a:blip r:embed="rId14">
            <a:alphaModFix/>
          </a:blip>
          <a:srcRect/>
          <a:stretch/>
        </p:blipFill>
        <p:spPr>
          <a:xfrm>
            <a:off x="4751388" y="5297488"/>
            <a:ext cx="3181350" cy="1560512"/>
          </a:xfrm>
          <a:prstGeom prst="rect">
            <a:avLst/>
          </a:prstGeom>
          <a:noFill/>
          <a:ln>
            <a:noFill/>
          </a:ln>
        </p:spPr>
      </p:pic>
      <p:pic>
        <p:nvPicPr>
          <p:cNvPr id="424" name="Google Shape;424;p34"/>
          <p:cNvPicPr preferRelativeResize="0"/>
          <p:nvPr/>
        </p:nvPicPr>
        <p:blipFill rotWithShape="1">
          <a:blip r:embed="rId15">
            <a:alphaModFix/>
          </a:blip>
          <a:srcRect/>
          <a:stretch/>
        </p:blipFill>
        <p:spPr>
          <a:xfrm>
            <a:off x="1524001" y="3497264"/>
            <a:ext cx="1682751" cy="828675"/>
          </a:xfrm>
          <a:prstGeom prst="rect">
            <a:avLst/>
          </a:prstGeom>
          <a:noFill/>
          <a:ln>
            <a:noFill/>
          </a:ln>
        </p:spPr>
      </p:pic>
      <p:pic>
        <p:nvPicPr>
          <p:cNvPr id="425" name="Google Shape;425;p34"/>
          <p:cNvPicPr preferRelativeResize="0"/>
          <p:nvPr/>
        </p:nvPicPr>
        <p:blipFill rotWithShape="1">
          <a:blip r:embed="rId16">
            <a:alphaModFix/>
          </a:blip>
          <a:srcRect/>
          <a:stretch/>
        </p:blipFill>
        <p:spPr>
          <a:xfrm>
            <a:off x="3140076" y="3470276"/>
            <a:ext cx="1622425" cy="1597025"/>
          </a:xfrm>
          <a:prstGeom prst="rect">
            <a:avLst/>
          </a:prstGeom>
          <a:noFill/>
          <a:ln>
            <a:noFill/>
          </a:ln>
        </p:spPr>
      </p:pic>
      <p:pic>
        <p:nvPicPr>
          <p:cNvPr id="426" name="Google Shape;426;p34"/>
          <p:cNvPicPr preferRelativeResize="0"/>
          <p:nvPr/>
        </p:nvPicPr>
        <p:blipFill rotWithShape="1">
          <a:blip r:embed="rId17">
            <a:alphaModFix/>
          </a:blip>
          <a:srcRect/>
          <a:stretch/>
        </p:blipFill>
        <p:spPr>
          <a:xfrm>
            <a:off x="7085014" y="4549775"/>
            <a:ext cx="814387" cy="762000"/>
          </a:xfrm>
          <a:prstGeom prst="rect">
            <a:avLst/>
          </a:prstGeom>
          <a:noFill/>
          <a:ln>
            <a:noFill/>
          </a:ln>
        </p:spPr>
      </p:pic>
      <p:pic>
        <p:nvPicPr>
          <p:cNvPr id="427" name="Google Shape;427;p34"/>
          <p:cNvPicPr preferRelativeResize="0"/>
          <p:nvPr/>
        </p:nvPicPr>
        <p:blipFill rotWithShape="1">
          <a:blip r:embed="rId18">
            <a:alphaModFix/>
          </a:blip>
          <a:srcRect/>
          <a:stretch/>
        </p:blipFill>
        <p:spPr>
          <a:xfrm>
            <a:off x="6040438" y="4546601"/>
            <a:ext cx="1058862" cy="758825"/>
          </a:xfrm>
          <a:prstGeom prst="rect">
            <a:avLst/>
          </a:prstGeom>
          <a:noFill/>
          <a:ln>
            <a:noFill/>
          </a:ln>
        </p:spPr>
      </p:pic>
      <p:pic>
        <p:nvPicPr>
          <p:cNvPr id="428" name="Google Shape;428;p34"/>
          <p:cNvPicPr preferRelativeResize="0"/>
          <p:nvPr/>
        </p:nvPicPr>
        <p:blipFill rotWithShape="1">
          <a:blip r:embed="rId19">
            <a:alphaModFix/>
          </a:blip>
          <a:srcRect/>
          <a:stretch/>
        </p:blipFill>
        <p:spPr>
          <a:xfrm>
            <a:off x="6332538" y="3514726"/>
            <a:ext cx="1573212" cy="1052513"/>
          </a:xfrm>
          <a:prstGeom prst="rect">
            <a:avLst/>
          </a:prstGeom>
          <a:noFill/>
          <a:ln>
            <a:noFill/>
          </a:ln>
        </p:spPr>
      </p:pic>
      <p:pic>
        <p:nvPicPr>
          <p:cNvPr id="429" name="Google Shape;429;p34"/>
          <p:cNvPicPr preferRelativeResize="0"/>
          <p:nvPr/>
        </p:nvPicPr>
        <p:blipFill rotWithShape="1">
          <a:blip r:embed="rId20">
            <a:alphaModFix/>
          </a:blip>
          <a:srcRect/>
          <a:stretch/>
        </p:blipFill>
        <p:spPr>
          <a:xfrm>
            <a:off x="4757738" y="3179763"/>
            <a:ext cx="1619250" cy="1382712"/>
          </a:xfrm>
          <a:prstGeom prst="rect">
            <a:avLst/>
          </a:prstGeom>
          <a:noFill/>
          <a:ln>
            <a:noFill/>
          </a:ln>
        </p:spPr>
      </p:pic>
      <p:pic>
        <p:nvPicPr>
          <p:cNvPr id="430" name="Google Shape;430;p34"/>
          <p:cNvPicPr preferRelativeResize="0"/>
          <p:nvPr/>
        </p:nvPicPr>
        <p:blipFill rotWithShape="1">
          <a:blip r:embed="rId21">
            <a:alphaModFix/>
          </a:blip>
          <a:srcRect/>
          <a:stretch/>
        </p:blipFill>
        <p:spPr>
          <a:xfrm>
            <a:off x="7886700" y="0"/>
            <a:ext cx="1619250" cy="2159000"/>
          </a:xfrm>
          <a:prstGeom prst="rect">
            <a:avLst/>
          </a:prstGeom>
          <a:noFill/>
          <a:ln>
            <a:noFill/>
          </a:ln>
        </p:spPr>
      </p:pic>
      <p:pic>
        <p:nvPicPr>
          <p:cNvPr id="431" name="Google Shape;431;p34"/>
          <p:cNvPicPr preferRelativeResize="0"/>
          <p:nvPr/>
        </p:nvPicPr>
        <p:blipFill rotWithShape="1">
          <a:blip r:embed="rId22">
            <a:alphaModFix/>
          </a:blip>
          <a:srcRect/>
          <a:stretch/>
        </p:blipFill>
        <p:spPr>
          <a:xfrm>
            <a:off x="7886700" y="2159000"/>
            <a:ext cx="1619250" cy="1219200"/>
          </a:xfrm>
          <a:prstGeom prst="rect">
            <a:avLst/>
          </a:prstGeom>
          <a:noFill/>
          <a:ln>
            <a:noFill/>
          </a:ln>
        </p:spPr>
      </p:pic>
      <p:pic>
        <p:nvPicPr>
          <p:cNvPr id="432" name="Google Shape;432;p34"/>
          <p:cNvPicPr preferRelativeResize="0"/>
          <p:nvPr/>
        </p:nvPicPr>
        <p:blipFill rotWithShape="1">
          <a:blip r:embed="rId23">
            <a:alphaModFix/>
          </a:blip>
          <a:srcRect/>
          <a:stretch/>
        </p:blipFill>
        <p:spPr>
          <a:xfrm>
            <a:off x="7886700" y="3378201"/>
            <a:ext cx="1619250" cy="925513"/>
          </a:xfrm>
          <a:prstGeom prst="rect">
            <a:avLst/>
          </a:prstGeom>
          <a:noFill/>
          <a:ln>
            <a:noFill/>
          </a:ln>
        </p:spPr>
      </p:pic>
      <p:pic>
        <p:nvPicPr>
          <p:cNvPr id="433" name="Google Shape;433;p34"/>
          <p:cNvPicPr preferRelativeResize="0"/>
          <p:nvPr/>
        </p:nvPicPr>
        <p:blipFill rotWithShape="1">
          <a:blip r:embed="rId24">
            <a:alphaModFix/>
          </a:blip>
          <a:srcRect/>
          <a:stretch/>
        </p:blipFill>
        <p:spPr>
          <a:xfrm>
            <a:off x="7924800" y="5683251"/>
            <a:ext cx="1581150" cy="1177925"/>
          </a:xfrm>
          <a:prstGeom prst="rect">
            <a:avLst/>
          </a:prstGeom>
          <a:noFill/>
          <a:ln>
            <a:noFill/>
          </a:ln>
        </p:spPr>
      </p:pic>
      <p:pic>
        <p:nvPicPr>
          <p:cNvPr id="434" name="Google Shape;434;p34"/>
          <p:cNvPicPr preferRelativeResize="0"/>
          <p:nvPr/>
        </p:nvPicPr>
        <p:blipFill rotWithShape="1">
          <a:blip r:embed="rId25">
            <a:alphaModFix/>
          </a:blip>
          <a:srcRect/>
          <a:stretch/>
        </p:blipFill>
        <p:spPr>
          <a:xfrm>
            <a:off x="9502776" y="-15875"/>
            <a:ext cx="1165225" cy="1655763"/>
          </a:xfrm>
          <a:prstGeom prst="rect">
            <a:avLst/>
          </a:prstGeom>
          <a:noFill/>
          <a:ln>
            <a:noFill/>
          </a:ln>
        </p:spPr>
      </p:pic>
      <p:pic>
        <p:nvPicPr>
          <p:cNvPr id="435" name="Google Shape;435;p34"/>
          <p:cNvPicPr preferRelativeResize="0"/>
          <p:nvPr/>
        </p:nvPicPr>
        <p:blipFill rotWithShape="1">
          <a:blip r:embed="rId26">
            <a:alphaModFix/>
          </a:blip>
          <a:srcRect/>
          <a:stretch/>
        </p:blipFill>
        <p:spPr>
          <a:xfrm>
            <a:off x="9488488" y="1627188"/>
            <a:ext cx="1179512" cy="944562"/>
          </a:xfrm>
          <a:prstGeom prst="rect">
            <a:avLst/>
          </a:prstGeom>
          <a:noFill/>
          <a:ln>
            <a:noFill/>
          </a:ln>
        </p:spPr>
      </p:pic>
      <p:pic>
        <p:nvPicPr>
          <p:cNvPr id="436" name="Google Shape;436;p34"/>
          <p:cNvPicPr preferRelativeResize="0"/>
          <p:nvPr/>
        </p:nvPicPr>
        <p:blipFill rotWithShape="1">
          <a:blip r:embed="rId27">
            <a:alphaModFix/>
          </a:blip>
          <a:srcRect/>
          <a:stretch/>
        </p:blipFill>
        <p:spPr>
          <a:xfrm>
            <a:off x="9486900" y="2555876"/>
            <a:ext cx="1181100" cy="2028825"/>
          </a:xfrm>
          <a:prstGeom prst="rect">
            <a:avLst/>
          </a:prstGeom>
          <a:noFill/>
          <a:ln>
            <a:noFill/>
          </a:ln>
        </p:spPr>
      </p:pic>
      <p:pic>
        <p:nvPicPr>
          <p:cNvPr id="437" name="Google Shape;437;p34"/>
          <p:cNvPicPr preferRelativeResize="0"/>
          <p:nvPr/>
        </p:nvPicPr>
        <p:blipFill rotWithShape="1">
          <a:blip r:embed="rId28">
            <a:alphaModFix/>
          </a:blip>
          <a:srcRect/>
          <a:stretch/>
        </p:blipFill>
        <p:spPr>
          <a:xfrm>
            <a:off x="9485314" y="4305301"/>
            <a:ext cx="1182687" cy="1190625"/>
          </a:xfrm>
          <a:prstGeom prst="rect">
            <a:avLst/>
          </a:prstGeom>
          <a:noFill/>
          <a:ln>
            <a:noFill/>
          </a:ln>
        </p:spPr>
      </p:pic>
      <p:pic>
        <p:nvPicPr>
          <p:cNvPr id="438" name="Google Shape;438;p34"/>
          <p:cNvPicPr preferRelativeResize="0"/>
          <p:nvPr/>
        </p:nvPicPr>
        <p:blipFill rotWithShape="1">
          <a:blip r:embed="rId29">
            <a:alphaModFix/>
          </a:blip>
          <a:srcRect/>
          <a:stretch/>
        </p:blipFill>
        <p:spPr>
          <a:xfrm>
            <a:off x="9475789" y="5462588"/>
            <a:ext cx="1201737" cy="1395412"/>
          </a:xfrm>
          <a:prstGeom prst="rect">
            <a:avLst/>
          </a:prstGeom>
          <a:noFill/>
          <a:ln>
            <a:noFill/>
          </a:ln>
        </p:spPr>
      </p:pic>
      <p:sp>
        <p:nvSpPr>
          <p:cNvPr id="439" name="Google Shape;439;p34"/>
          <p:cNvSpPr txBox="1"/>
          <p:nvPr/>
        </p:nvSpPr>
        <p:spPr>
          <a:xfrm>
            <a:off x="1657350" y="86467"/>
            <a:ext cx="8901113" cy="13849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800" dirty="0">
                <a:solidFill>
                  <a:srgbClr val="C00000"/>
                </a:solidFill>
                <a:latin typeface="Arial"/>
                <a:ea typeface="Arial"/>
                <a:cs typeface="Arial"/>
                <a:sym typeface="Arial"/>
              </a:rPr>
              <a:t>Most plants do not have roots, but have </a:t>
            </a:r>
            <a:r>
              <a:rPr lang="en-GB" sz="2800" b="1" dirty="0">
                <a:solidFill>
                  <a:srgbClr val="C00000"/>
                </a:solidFill>
                <a:latin typeface="Arial"/>
                <a:ea typeface="Arial"/>
                <a:cs typeface="Arial"/>
                <a:sym typeface="Arial"/>
              </a:rPr>
              <a:t>‘mycorrhizas’ </a:t>
            </a:r>
            <a:r>
              <a:rPr lang="en-GB" sz="2800" dirty="0">
                <a:solidFill>
                  <a:srgbClr val="C00000"/>
                </a:solidFill>
                <a:latin typeface="Arial"/>
                <a:ea typeface="Arial"/>
                <a:cs typeface="Arial"/>
                <a:sym typeface="Arial"/>
              </a:rPr>
              <a:t>the result of a fungus that colonises a root – a type of </a:t>
            </a:r>
            <a:r>
              <a:rPr lang="en-GB" sz="2800" b="1" dirty="0">
                <a:solidFill>
                  <a:srgbClr val="C00000"/>
                </a:solidFill>
                <a:latin typeface="Arial"/>
                <a:ea typeface="Arial"/>
                <a:cs typeface="Arial"/>
                <a:sym typeface="Arial"/>
              </a:rPr>
              <a:t>mutually beneficial symbiosis</a:t>
            </a:r>
            <a:endParaRPr b="1" dirty="0">
              <a:solidFill>
                <a:srgbClr val="C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35"/>
          <p:cNvSpPr/>
          <p:nvPr/>
        </p:nvSpPr>
        <p:spPr>
          <a:xfrm>
            <a:off x="0" y="0"/>
            <a:ext cx="12192000" cy="1214438"/>
          </a:xfrm>
          <a:prstGeom prst="rect">
            <a:avLst/>
          </a:prstGeom>
          <a:solidFill>
            <a:srgbClr val="C00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35"/>
          <p:cNvSpPr txBox="1"/>
          <p:nvPr/>
        </p:nvSpPr>
        <p:spPr>
          <a:xfrm>
            <a:off x="2999581" y="252071"/>
            <a:ext cx="6192838"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3200" b="1" dirty="0">
                <a:solidFill>
                  <a:schemeClr val="lt1"/>
                </a:solidFill>
                <a:latin typeface="+mj-lt"/>
                <a:ea typeface="Calibri"/>
                <a:cs typeface="Calibri"/>
                <a:sym typeface="Calibri"/>
              </a:rPr>
              <a:t>What are mycorrhizas?</a:t>
            </a:r>
            <a:endParaRPr sz="1200" dirty="0">
              <a:latin typeface="+mj-lt"/>
            </a:endParaRPr>
          </a:p>
        </p:txBody>
      </p:sp>
      <p:sp>
        <p:nvSpPr>
          <p:cNvPr id="446" name="Google Shape;446;p35"/>
          <p:cNvSpPr txBox="1"/>
          <p:nvPr/>
        </p:nvSpPr>
        <p:spPr>
          <a:xfrm>
            <a:off x="142876" y="1358129"/>
            <a:ext cx="8143874" cy="1600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dirty="0">
                <a:solidFill>
                  <a:schemeClr val="dk1"/>
                </a:solidFill>
                <a:latin typeface="+mn-lt"/>
                <a:ea typeface="Calibri"/>
                <a:cs typeface="Calibri"/>
                <a:sym typeface="Calibri"/>
              </a:rPr>
              <a:t>Classic definition: </a:t>
            </a:r>
            <a:endParaRPr dirty="0">
              <a:latin typeface="+mn-lt"/>
            </a:endParaRPr>
          </a:p>
          <a:p>
            <a:pPr marL="0" marR="0" lvl="0" indent="0" algn="l" rtl="0">
              <a:spcBef>
                <a:spcPts val="1400"/>
              </a:spcBef>
              <a:spcAft>
                <a:spcPts val="0"/>
              </a:spcAft>
              <a:buNone/>
            </a:pPr>
            <a:r>
              <a:rPr lang="en-GB" sz="2800" b="1" dirty="0">
                <a:solidFill>
                  <a:srgbClr val="548135"/>
                </a:solidFill>
                <a:latin typeface="+mn-lt"/>
                <a:ea typeface="Calibri"/>
                <a:cs typeface="Calibri"/>
                <a:sym typeface="Calibri"/>
              </a:rPr>
              <a:t>a mutualistic association between plant roots and soil fungi</a:t>
            </a:r>
            <a:endParaRPr dirty="0">
              <a:latin typeface="+mn-lt"/>
            </a:endParaRPr>
          </a:p>
        </p:txBody>
      </p:sp>
      <p:sp>
        <p:nvSpPr>
          <p:cNvPr id="447" name="Google Shape;447;p35"/>
          <p:cNvSpPr txBox="1"/>
          <p:nvPr/>
        </p:nvSpPr>
        <p:spPr>
          <a:xfrm>
            <a:off x="399653" y="4814912"/>
            <a:ext cx="7272736" cy="830956"/>
          </a:xfrm>
          <a:prstGeom prst="rect">
            <a:avLst/>
          </a:prstGeom>
          <a:solidFill>
            <a:schemeClr val="lt1"/>
          </a:solidFill>
          <a:ln w="25400"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mn-lt"/>
                <a:ea typeface="Calibri"/>
                <a:cs typeface="Calibri"/>
                <a:sym typeface="Calibri"/>
              </a:rPr>
              <a:t>Over 90% of all land plants so far examined form associations with mycorrhizal fungi</a:t>
            </a:r>
            <a:endParaRPr sz="1200">
              <a:latin typeface="+mn-lt"/>
            </a:endParaRPr>
          </a:p>
        </p:txBody>
      </p:sp>
      <p:sp>
        <p:nvSpPr>
          <p:cNvPr id="448" name="Google Shape;448;p35"/>
          <p:cNvSpPr txBox="1"/>
          <p:nvPr/>
        </p:nvSpPr>
        <p:spPr>
          <a:xfrm>
            <a:off x="399653" y="3200146"/>
            <a:ext cx="7387036" cy="12002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dirty="0">
                <a:solidFill>
                  <a:schemeClr val="dk1"/>
                </a:solidFill>
                <a:latin typeface="+mn-lt"/>
                <a:ea typeface="Calibri"/>
                <a:cs typeface="Calibri"/>
                <a:sym typeface="Calibri"/>
              </a:rPr>
              <a:t>Mutualism based on the transfer of soil-derived nutrients to the plant from the fungus and the reciprocal transfer of photosynthate </a:t>
            </a:r>
            <a:endParaRPr sz="1200" dirty="0">
              <a:latin typeface="+mn-lt"/>
            </a:endParaRPr>
          </a:p>
        </p:txBody>
      </p:sp>
      <p:pic>
        <p:nvPicPr>
          <p:cNvPr id="449" name="Google Shape;449;p35" descr="Mycorrhizal Fungi: Nature's Gardeners - Regenerative Landscapes Australia"/>
          <p:cNvPicPr preferRelativeResize="0"/>
          <p:nvPr/>
        </p:nvPicPr>
        <p:blipFill rotWithShape="1">
          <a:blip r:embed="rId3">
            <a:alphaModFix/>
          </a:blip>
          <a:srcRect/>
          <a:stretch/>
        </p:blipFill>
        <p:spPr>
          <a:xfrm>
            <a:off x="8441134" y="1703097"/>
            <a:ext cx="3055117" cy="393462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6"/>
          <p:cNvSpPr/>
          <p:nvPr/>
        </p:nvSpPr>
        <p:spPr>
          <a:xfrm>
            <a:off x="1526641" y="123247"/>
            <a:ext cx="8994701" cy="504058"/>
          </a:xfrm>
          <a:prstGeom prst="rect">
            <a:avLst/>
          </a:prstGeom>
          <a:noFill/>
          <a:ln>
            <a:noFill/>
          </a:ln>
          <a:effectLst>
            <a:outerShdw sx="1000" sy="1000" algn="ctr" rotWithShape="0">
              <a:schemeClr val="dk1"/>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3200" b="1" dirty="0">
                <a:solidFill>
                  <a:srgbClr val="C00000"/>
                </a:solidFill>
                <a:latin typeface="+mj-lt"/>
                <a:ea typeface="Calibri"/>
                <a:cs typeface="Calibri"/>
                <a:sym typeface="Calibri"/>
              </a:rPr>
              <a:t>Arbuscular mycorrhizal (AM) fungi</a:t>
            </a:r>
            <a:endParaRPr sz="3600" dirty="0">
              <a:solidFill>
                <a:srgbClr val="C00000"/>
              </a:solidFill>
              <a:latin typeface="+mj-lt"/>
              <a:ea typeface="Calibri"/>
              <a:cs typeface="Calibri"/>
              <a:sym typeface="Calibri"/>
            </a:endParaRPr>
          </a:p>
        </p:txBody>
      </p:sp>
      <p:pic>
        <p:nvPicPr>
          <p:cNvPr id="467" name="Google Shape;467;p36"/>
          <p:cNvPicPr preferRelativeResize="0"/>
          <p:nvPr/>
        </p:nvPicPr>
        <p:blipFill rotWithShape="1">
          <a:blip r:embed="rId3">
            <a:alphaModFix/>
          </a:blip>
          <a:srcRect/>
          <a:stretch/>
        </p:blipFill>
        <p:spPr>
          <a:xfrm>
            <a:off x="8616280" y="4509121"/>
            <a:ext cx="890578" cy="2060897"/>
          </a:xfrm>
          <a:prstGeom prst="rect">
            <a:avLst/>
          </a:prstGeom>
          <a:noFill/>
          <a:ln>
            <a:noFill/>
          </a:ln>
        </p:spPr>
      </p:pic>
      <p:pic>
        <p:nvPicPr>
          <p:cNvPr id="468" name="Google Shape;468;p36"/>
          <p:cNvPicPr preferRelativeResize="0"/>
          <p:nvPr/>
        </p:nvPicPr>
        <p:blipFill rotWithShape="1">
          <a:blip r:embed="rId4">
            <a:alphaModFix/>
          </a:blip>
          <a:srcRect/>
          <a:stretch/>
        </p:blipFill>
        <p:spPr>
          <a:xfrm>
            <a:off x="2711624" y="4509120"/>
            <a:ext cx="3744416" cy="2074540"/>
          </a:xfrm>
          <a:prstGeom prst="rect">
            <a:avLst/>
          </a:prstGeom>
          <a:noFill/>
          <a:ln>
            <a:noFill/>
          </a:ln>
        </p:spPr>
      </p:pic>
      <p:pic>
        <p:nvPicPr>
          <p:cNvPr id="469" name="Google Shape;469;p36" descr="http://www.mytinyplot.co.uk/wp-content/uploads/2008/06/pea-pods.jpg"/>
          <p:cNvPicPr preferRelativeResize="0"/>
          <p:nvPr/>
        </p:nvPicPr>
        <p:blipFill rotWithShape="1">
          <a:blip r:embed="rId5">
            <a:alphaModFix/>
          </a:blip>
          <a:srcRect/>
          <a:stretch/>
        </p:blipFill>
        <p:spPr>
          <a:xfrm>
            <a:off x="6023992" y="4509120"/>
            <a:ext cx="2619364" cy="2071678"/>
          </a:xfrm>
          <a:prstGeom prst="rect">
            <a:avLst/>
          </a:prstGeom>
          <a:noFill/>
          <a:ln>
            <a:noFill/>
          </a:ln>
        </p:spPr>
      </p:pic>
      <p:grpSp>
        <p:nvGrpSpPr>
          <p:cNvPr id="4" name="Group 3">
            <a:extLst>
              <a:ext uri="{FF2B5EF4-FFF2-40B4-BE49-F238E27FC236}">
                <a16:creationId xmlns:a16="http://schemas.microsoft.com/office/drawing/2014/main" id="{6DF78345-D709-18D3-6923-B54BF9D1A59A}"/>
              </a:ext>
            </a:extLst>
          </p:cNvPr>
          <p:cNvGrpSpPr/>
          <p:nvPr/>
        </p:nvGrpSpPr>
        <p:grpSpPr>
          <a:xfrm>
            <a:off x="317117" y="871536"/>
            <a:ext cx="11584371" cy="3626642"/>
            <a:chOff x="1861096" y="1412777"/>
            <a:chExt cx="8573476" cy="2684041"/>
          </a:xfrm>
        </p:grpSpPr>
        <p:grpSp>
          <p:nvGrpSpPr>
            <p:cNvPr id="456" name="Google Shape;456;p36"/>
            <p:cNvGrpSpPr/>
            <p:nvPr/>
          </p:nvGrpSpPr>
          <p:grpSpPr>
            <a:xfrm>
              <a:off x="1861096" y="1412777"/>
              <a:ext cx="2784069" cy="2665049"/>
              <a:chOff x="4120" y="1008"/>
              <a:chExt cx="2052" cy="1896"/>
            </a:xfrm>
          </p:grpSpPr>
          <p:sp>
            <p:nvSpPr>
              <p:cNvPr id="458" name="Google Shape;458;p36"/>
              <p:cNvSpPr txBox="1"/>
              <p:nvPr/>
            </p:nvSpPr>
            <p:spPr>
              <a:xfrm>
                <a:off x="4218" y="2685"/>
                <a:ext cx="737" cy="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Arbuscules</a:t>
                </a:r>
                <a:endParaRPr sz="2400">
                  <a:solidFill>
                    <a:schemeClr val="dk1"/>
                  </a:solidFill>
                  <a:latin typeface="Times New Roman"/>
                  <a:ea typeface="Times New Roman"/>
                  <a:cs typeface="Times New Roman"/>
                  <a:sym typeface="Times New Roman"/>
                </a:endParaRPr>
              </a:p>
            </p:txBody>
          </p:sp>
          <p:pic>
            <p:nvPicPr>
              <p:cNvPr id="459" name="Google Shape;459;p36"/>
              <p:cNvPicPr preferRelativeResize="0"/>
              <p:nvPr/>
            </p:nvPicPr>
            <p:blipFill rotWithShape="1">
              <a:blip r:embed="rId6">
                <a:alphaModFix/>
              </a:blip>
              <a:srcRect/>
              <a:stretch/>
            </p:blipFill>
            <p:spPr>
              <a:xfrm>
                <a:off x="4120" y="1008"/>
                <a:ext cx="2052" cy="1639"/>
              </a:xfrm>
              <a:prstGeom prst="rect">
                <a:avLst/>
              </a:prstGeom>
              <a:noFill/>
              <a:ln>
                <a:noFill/>
              </a:ln>
            </p:spPr>
          </p:pic>
          <p:cxnSp>
            <p:nvCxnSpPr>
              <p:cNvPr id="460" name="Google Shape;460;p36"/>
              <p:cNvCxnSpPr/>
              <p:nvPr/>
            </p:nvCxnSpPr>
            <p:spPr>
              <a:xfrm rot="10800000">
                <a:off x="4311" y="1960"/>
                <a:ext cx="232" cy="725"/>
              </a:xfrm>
              <a:prstGeom prst="straightConnector1">
                <a:avLst/>
              </a:prstGeom>
              <a:noFill/>
              <a:ln w="28575" cap="flat" cmpd="sng">
                <a:solidFill>
                  <a:schemeClr val="dk1"/>
                </a:solidFill>
                <a:prstDash val="solid"/>
                <a:round/>
                <a:headEnd type="none" w="med" len="med"/>
                <a:tailEnd type="stealth" w="med" len="med"/>
              </a:ln>
            </p:spPr>
          </p:cxnSp>
          <p:cxnSp>
            <p:nvCxnSpPr>
              <p:cNvPr id="461" name="Google Shape;461;p36"/>
              <p:cNvCxnSpPr/>
              <p:nvPr/>
            </p:nvCxnSpPr>
            <p:spPr>
              <a:xfrm rot="10800000" flipH="1">
                <a:off x="4636" y="1577"/>
                <a:ext cx="465" cy="1108"/>
              </a:xfrm>
              <a:prstGeom prst="straightConnector1">
                <a:avLst/>
              </a:prstGeom>
              <a:noFill/>
              <a:ln w="28575" cap="flat" cmpd="sng">
                <a:solidFill>
                  <a:schemeClr val="dk1"/>
                </a:solidFill>
                <a:prstDash val="solid"/>
                <a:round/>
                <a:headEnd type="none" w="med" len="med"/>
                <a:tailEnd type="stealth" w="med" len="med"/>
              </a:ln>
            </p:spPr>
          </p:cxnSp>
          <p:sp>
            <p:nvSpPr>
              <p:cNvPr id="462" name="Google Shape;462;p36"/>
              <p:cNvSpPr txBox="1"/>
              <p:nvPr/>
            </p:nvSpPr>
            <p:spPr>
              <a:xfrm>
                <a:off x="5447" y="2669"/>
                <a:ext cx="556" cy="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Hyphae</a:t>
                </a:r>
                <a:endParaRPr sz="2400" b="1">
                  <a:solidFill>
                    <a:schemeClr val="dk1"/>
                  </a:solidFill>
                  <a:latin typeface="Times New Roman"/>
                  <a:ea typeface="Times New Roman"/>
                  <a:cs typeface="Times New Roman"/>
                  <a:sym typeface="Times New Roman"/>
                </a:endParaRPr>
              </a:p>
            </p:txBody>
          </p:sp>
          <p:cxnSp>
            <p:nvCxnSpPr>
              <p:cNvPr id="463" name="Google Shape;463;p36"/>
              <p:cNvCxnSpPr/>
              <p:nvPr/>
            </p:nvCxnSpPr>
            <p:spPr>
              <a:xfrm rot="9998339" flipH="1">
                <a:off x="5517" y="1447"/>
                <a:ext cx="131" cy="1221"/>
              </a:xfrm>
              <a:prstGeom prst="straightConnector1">
                <a:avLst/>
              </a:prstGeom>
              <a:noFill/>
              <a:ln w="28575" cap="flat" cmpd="sng">
                <a:solidFill>
                  <a:schemeClr val="dk1"/>
                </a:solidFill>
                <a:prstDash val="solid"/>
                <a:round/>
                <a:headEnd type="none" w="med" len="med"/>
                <a:tailEnd type="stealth" w="med" len="med"/>
              </a:ln>
            </p:spPr>
          </p:cxnSp>
        </p:grpSp>
        <p:graphicFrame>
          <p:nvGraphicFramePr>
            <p:cNvPr id="464" name="Google Shape;464;p36"/>
            <p:cNvGraphicFramePr/>
            <p:nvPr/>
          </p:nvGraphicFramePr>
          <p:xfrm>
            <a:off x="4655840" y="1412777"/>
            <a:ext cx="2787650" cy="2304256"/>
          </p:xfrm>
          <a:graphic>
            <a:graphicData uri="http://schemas.openxmlformats.org/presentationml/2006/ole">
              <mc:AlternateContent xmlns:mc="http://schemas.openxmlformats.org/markup-compatibility/2006">
                <mc:Choice xmlns:v="urn:schemas-microsoft-com:vml" Requires="v">
                  <p:oleObj r:id="rId7" imgW="2787650" imgH="2304256" progId="">
                    <p:embed/>
                  </p:oleObj>
                </mc:Choice>
                <mc:Fallback>
                  <p:oleObj r:id="rId7" imgW="2787650" imgH="2304256" progId="">
                    <p:embed/>
                    <p:pic>
                      <p:nvPicPr>
                        <p:cNvPr id="464" name="Google Shape;464;p36"/>
                        <p:cNvPicPr preferRelativeResize="0"/>
                        <p:nvPr/>
                      </p:nvPicPr>
                      <p:blipFill rotWithShape="1">
                        <a:blip r:embed="rId8">
                          <a:alphaModFix/>
                        </a:blip>
                        <a:srcRect r="16333"/>
                        <a:stretch/>
                      </p:blipFill>
                      <p:spPr>
                        <a:xfrm>
                          <a:off x="4655840" y="1412777"/>
                          <a:ext cx="2787650" cy="2304256"/>
                        </a:xfrm>
                        <a:prstGeom prst="rect">
                          <a:avLst/>
                        </a:prstGeom>
                        <a:noFill/>
                        <a:ln>
                          <a:noFill/>
                        </a:ln>
                      </p:spPr>
                    </p:pic>
                  </p:oleObj>
                </mc:Fallback>
              </mc:AlternateContent>
            </a:graphicData>
          </a:graphic>
        </p:graphicFrame>
        <p:cxnSp>
          <p:nvCxnSpPr>
            <p:cNvPr id="465" name="Google Shape;465;p36"/>
            <p:cNvCxnSpPr/>
            <p:nvPr/>
          </p:nvCxnSpPr>
          <p:spPr>
            <a:xfrm rot="10800000">
              <a:off x="6312025" y="2708920"/>
              <a:ext cx="504056" cy="1008112"/>
            </a:xfrm>
            <a:prstGeom prst="straightConnector1">
              <a:avLst/>
            </a:prstGeom>
            <a:noFill/>
            <a:ln w="28575" cap="flat" cmpd="sng">
              <a:solidFill>
                <a:schemeClr val="dk1"/>
              </a:solidFill>
              <a:prstDash val="solid"/>
              <a:round/>
              <a:headEnd type="none" w="med" len="med"/>
              <a:tailEnd type="triangle" w="med" len="med"/>
            </a:ln>
          </p:spPr>
        </p:cxnSp>
        <p:cxnSp>
          <p:nvCxnSpPr>
            <p:cNvPr id="466" name="Google Shape;466;p36"/>
            <p:cNvCxnSpPr/>
            <p:nvPr/>
          </p:nvCxnSpPr>
          <p:spPr>
            <a:xfrm rot="10800000">
              <a:off x="5159896" y="2348880"/>
              <a:ext cx="378842" cy="1440160"/>
            </a:xfrm>
            <a:prstGeom prst="straightConnector1">
              <a:avLst/>
            </a:prstGeom>
            <a:noFill/>
            <a:ln w="28575" cap="flat" cmpd="sng">
              <a:solidFill>
                <a:schemeClr val="dk1"/>
              </a:solidFill>
              <a:prstDash val="solid"/>
              <a:round/>
              <a:headEnd type="none" w="med" len="med"/>
              <a:tailEnd type="triangle" w="med" len="med"/>
            </a:ln>
          </p:spPr>
        </p:cxnSp>
        <p:pic>
          <p:nvPicPr>
            <p:cNvPr id="470" name="Google Shape;470;p36" descr="arbuscule"/>
            <p:cNvPicPr preferRelativeResize="0"/>
            <p:nvPr/>
          </p:nvPicPr>
          <p:blipFill rotWithShape="1">
            <a:blip r:embed="rId9">
              <a:alphaModFix/>
            </a:blip>
            <a:srcRect/>
            <a:stretch/>
          </p:blipFill>
          <p:spPr>
            <a:xfrm>
              <a:off x="7464153" y="1412777"/>
              <a:ext cx="2970419" cy="2278633"/>
            </a:xfrm>
            <a:prstGeom prst="rect">
              <a:avLst/>
            </a:prstGeom>
            <a:noFill/>
            <a:ln>
              <a:noFill/>
            </a:ln>
          </p:spPr>
        </p:pic>
        <p:sp>
          <p:nvSpPr>
            <p:cNvPr id="471" name="Google Shape;471;p36"/>
            <p:cNvSpPr txBox="1"/>
            <p:nvPr/>
          </p:nvSpPr>
          <p:spPr>
            <a:xfrm>
              <a:off x="6528048" y="3789041"/>
              <a:ext cx="7537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Hyphae</a:t>
              </a:r>
              <a:endParaRPr sz="2400" b="1">
                <a:solidFill>
                  <a:schemeClr val="dk1"/>
                </a:solidFill>
                <a:latin typeface="Times New Roman"/>
                <a:ea typeface="Times New Roman"/>
                <a:cs typeface="Times New Roman"/>
                <a:sym typeface="Times New Roman"/>
              </a:endParaRPr>
            </a:p>
          </p:txBody>
        </p:sp>
        <p:sp>
          <p:nvSpPr>
            <p:cNvPr id="472" name="Google Shape;472;p36"/>
            <p:cNvSpPr txBox="1"/>
            <p:nvPr/>
          </p:nvSpPr>
          <p:spPr>
            <a:xfrm>
              <a:off x="5231905" y="3789041"/>
              <a:ext cx="1000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Arbuscules</a:t>
              </a:r>
              <a:endParaRPr sz="24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pic>
        <p:nvPicPr>
          <p:cNvPr id="477" name="Google Shape;477;p37" descr="amani02"/>
          <p:cNvPicPr preferRelativeResize="0"/>
          <p:nvPr/>
        </p:nvPicPr>
        <p:blipFill rotWithShape="1">
          <a:blip r:embed="rId3">
            <a:alphaModFix/>
          </a:blip>
          <a:srcRect l="4847" t="5552" b="7483"/>
          <a:stretch/>
        </p:blipFill>
        <p:spPr>
          <a:xfrm>
            <a:off x="2628900" y="764704"/>
            <a:ext cx="3200400" cy="3524686"/>
          </a:xfrm>
          <a:prstGeom prst="rect">
            <a:avLst/>
          </a:prstGeom>
          <a:noFill/>
          <a:ln>
            <a:noFill/>
          </a:ln>
        </p:spPr>
      </p:pic>
      <p:pic>
        <p:nvPicPr>
          <p:cNvPr id="478" name="Google Shape;478;p37" descr="djr19"/>
          <p:cNvPicPr preferRelativeResize="0"/>
          <p:nvPr/>
        </p:nvPicPr>
        <p:blipFill rotWithShape="1">
          <a:blip r:embed="rId4">
            <a:alphaModFix/>
          </a:blip>
          <a:srcRect l="4847"/>
          <a:stretch/>
        </p:blipFill>
        <p:spPr>
          <a:xfrm>
            <a:off x="2628900" y="4469358"/>
            <a:ext cx="3200400" cy="2234902"/>
          </a:xfrm>
          <a:prstGeom prst="rect">
            <a:avLst/>
          </a:prstGeom>
          <a:noFill/>
          <a:ln>
            <a:noFill/>
          </a:ln>
        </p:spPr>
      </p:pic>
      <p:pic>
        <p:nvPicPr>
          <p:cNvPr id="479" name="Google Shape;479;p37" descr="ectomycelium"/>
          <p:cNvPicPr preferRelativeResize="0"/>
          <p:nvPr/>
        </p:nvPicPr>
        <p:blipFill rotWithShape="1">
          <a:blip r:embed="rId5">
            <a:alphaModFix/>
          </a:blip>
          <a:srcRect b="1046"/>
          <a:stretch/>
        </p:blipFill>
        <p:spPr>
          <a:xfrm>
            <a:off x="6023992" y="764704"/>
            <a:ext cx="4777358" cy="5939556"/>
          </a:xfrm>
          <a:prstGeom prst="rect">
            <a:avLst/>
          </a:prstGeom>
          <a:noFill/>
          <a:ln>
            <a:noFill/>
          </a:ln>
        </p:spPr>
      </p:pic>
      <p:sp>
        <p:nvSpPr>
          <p:cNvPr id="480" name="Google Shape;480;p37"/>
          <p:cNvSpPr txBox="1"/>
          <p:nvPr/>
        </p:nvSpPr>
        <p:spPr>
          <a:xfrm>
            <a:off x="2686050" y="3503599"/>
            <a:ext cx="1628774" cy="707846"/>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n-lt"/>
                <a:ea typeface="Comic Sans MS"/>
                <a:cs typeface="Comic Sans MS"/>
                <a:sym typeface="Comic Sans MS"/>
              </a:rPr>
              <a:t>fruit body</a:t>
            </a:r>
            <a:r>
              <a:rPr lang="en-GB" dirty="0">
                <a:solidFill>
                  <a:srgbClr val="C00000"/>
                </a:solidFill>
                <a:latin typeface="+mn-lt"/>
                <a:ea typeface="Comic Sans MS"/>
              </a:rPr>
              <a:t> </a:t>
            </a:r>
            <a:r>
              <a:rPr lang="en-GB" sz="2000" b="1" dirty="0">
                <a:solidFill>
                  <a:srgbClr val="C00000"/>
                </a:solidFill>
                <a:latin typeface="+mn-lt"/>
                <a:ea typeface="Comic Sans MS"/>
                <a:cs typeface="Comic Sans MS"/>
                <a:sym typeface="Comic Sans MS"/>
              </a:rPr>
              <a:t>(sporocarp)</a:t>
            </a:r>
            <a:endParaRPr dirty="0">
              <a:solidFill>
                <a:srgbClr val="C00000"/>
              </a:solidFill>
              <a:latin typeface="+mn-lt"/>
            </a:endParaRPr>
          </a:p>
        </p:txBody>
      </p:sp>
      <p:sp>
        <p:nvSpPr>
          <p:cNvPr id="481" name="Google Shape;481;p37"/>
          <p:cNvSpPr txBox="1"/>
          <p:nvPr/>
        </p:nvSpPr>
        <p:spPr>
          <a:xfrm>
            <a:off x="2680206" y="4512222"/>
            <a:ext cx="1563181" cy="400069"/>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n-lt"/>
                <a:ea typeface="Comic Sans MS"/>
                <a:cs typeface="Comic Sans MS"/>
                <a:sym typeface="Comic Sans MS"/>
              </a:rPr>
              <a:t>EM root tip</a:t>
            </a:r>
            <a:endParaRPr b="1" dirty="0">
              <a:solidFill>
                <a:srgbClr val="C00000"/>
              </a:solidFill>
              <a:latin typeface="+mn-lt"/>
            </a:endParaRPr>
          </a:p>
        </p:txBody>
      </p:sp>
      <p:sp>
        <p:nvSpPr>
          <p:cNvPr id="482" name="Google Shape;482;p37"/>
          <p:cNvSpPr txBox="1"/>
          <p:nvPr/>
        </p:nvSpPr>
        <p:spPr>
          <a:xfrm>
            <a:off x="8897666" y="5926088"/>
            <a:ext cx="1818303" cy="707886"/>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n-lt"/>
                <a:ea typeface="Comic Sans MS"/>
                <a:cs typeface="Comic Sans MS"/>
                <a:sym typeface="Comic Sans MS"/>
              </a:rPr>
              <a:t>ECM mycelial network</a:t>
            </a:r>
            <a:endParaRPr dirty="0">
              <a:solidFill>
                <a:srgbClr val="C00000"/>
              </a:solidFill>
              <a:latin typeface="+mn-lt"/>
            </a:endParaRPr>
          </a:p>
        </p:txBody>
      </p:sp>
      <p:sp>
        <p:nvSpPr>
          <p:cNvPr id="483" name="Google Shape;483;p37"/>
          <p:cNvSpPr txBox="1"/>
          <p:nvPr/>
        </p:nvSpPr>
        <p:spPr>
          <a:xfrm>
            <a:off x="2518793" y="1"/>
            <a:ext cx="6839862"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3200" b="1" dirty="0">
                <a:solidFill>
                  <a:srgbClr val="C00000"/>
                </a:solidFill>
                <a:latin typeface="+mj-lt"/>
                <a:ea typeface="Calibri"/>
                <a:cs typeface="Calibri"/>
                <a:sym typeface="Calibri"/>
              </a:rPr>
              <a:t>Ectomycorrhizal (ECM) fungi</a:t>
            </a:r>
            <a:endParaRPr sz="3200" dirty="0">
              <a:solidFill>
                <a:srgbClr val="C00000"/>
              </a:solidFill>
              <a:latin typeface="+mj-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90" name="Google Shape;490;p38"/>
          <p:cNvSpPr txBox="1"/>
          <p:nvPr/>
        </p:nvSpPr>
        <p:spPr>
          <a:xfrm>
            <a:off x="385763" y="2011442"/>
            <a:ext cx="4614862" cy="29853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dirty="0">
                <a:solidFill>
                  <a:schemeClr val="dk1"/>
                </a:solidFill>
                <a:latin typeface="+mn-lt"/>
                <a:ea typeface="Calibri"/>
                <a:cs typeface="Calibri"/>
                <a:sym typeface="Calibri"/>
              </a:rPr>
              <a:t>About </a:t>
            </a:r>
            <a:r>
              <a:rPr lang="en-GB" sz="2400" b="1" dirty="0">
                <a:solidFill>
                  <a:schemeClr val="dk1"/>
                </a:solidFill>
                <a:latin typeface="+mn-lt"/>
                <a:ea typeface="Calibri"/>
                <a:cs typeface="Calibri"/>
                <a:sym typeface="Calibri"/>
              </a:rPr>
              <a:t>3% of land flora </a:t>
            </a:r>
            <a:r>
              <a:rPr lang="en-GB" sz="2400" dirty="0">
                <a:solidFill>
                  <a:schemeClr val="dk1"/>
                </a:solidFill>
                <a:latin typeface="+mn-lt"/>
                <a:ea typeface="Calibri"/>
                <a:cs typeface="Calibri"/>
                <a:sym typeface="Calibri"/>
              </a:rPr>
              <a:t>= </a:t>
            </a:r>
          </a:p>
          <a:p>
            <a:pPr marL="0" marR="0" lvl="0" indent="0" algn="l" rtl="0">
              <a:spcBef>
                <a:spcPts val="0"/>
              </a:spcBef>
              <a:spcAft>
                <a:spcPts val="0"/>
              </a:spcAft>
              <a:buNone/>
            </a:pPr>
            <a:r>
              <a:rPr lang="en-GB" sz="2400" dirty="0">
                <a:solidFill>
                  <a:schemeClr val="dk1"/>
                </a:solidFill>
                <a:latin typeface="+mn-lt"/>
                <a:ea typeface="Calibri"/>
                <a:cs typeface="Calibri"/>
                <a:sym typeface="Calibri"/>
              </a:rPr>
              <a:t>c. 8000 </a:t>
            </a:r>
            <a:r>
              <a:rPr lang="en-GB" sz="2400" dirty="0" err="1">
                <a:solidFill>
                  <a:schemeClr val="dk1"/>
                </a:solidFill>
                <a:latin typeface="+mn-lt"/>
                <a:ea typeface="Calibri"/>
                <a:cs typeface="Calibri"/>
                <a:sym typeface="Calibri"/>
              </a:rPr>
              <a:t>spp</a:t>
            </a:r>
            <a:r>
              <a:rPr lang="en-GB" sz="2400" dirty="0">
                <a:solidFill>
                  <a:schemeClr val="dk1"/>
                </a:solidFill>
                <a:latin typeface="+mn-lt"/>
                <a:ea typeface="Calibri"/>
                <a:cs typeface="Calibri"/>
                <a:sym typeface="Calibri"/>
              </a:rPr>
              <a:t> in 100 genera</a:t>
            </a:r>
            <a:endParaRPr dirty="0">
              <a:latin typeface="+mn-lt"/>
            </a:endParaRPr>
          </a:p>
          <a:p>
            <a:pPr marL="0" marR="0" lvl="0" indent="0" algn="l" rtl="0">
              <a:spcBef>
                <a:spcPts val="1200"/>
              </a:spcBef>
              <a:spcAft>
                <a:spcPts val="0"/>
              </a:spcAft>
              <a:buNone/>
            </a:pPr>
            <a:endParaRPr lang="en-GB" sz="2400" dirty="0">
              <a:solidFill>
                <a:schemeClr val="dk1"/>
              </a:solidFill>
              <a:latin typeface="+mn-lt"/>
              <a:ea typeface="Calibri"/>
              <a:cs typeface="Calibri"/>
              <a:sym typeface="Calibri"/>
            </a:endParaRPr>
          </a:p>
          <a:p>
            <a:pPr marL="0" marR="0" lvl="0" indent="0" algn="l" rtl="0">
              <a:spcBef>
                <a:spcPts val="1200"/>
              </a:spcBef>
              <a:spcAft>
                <a:spcPts val="0"/>
              </a:spcAft>
              <a:buNone/>
            </a:pPr>
            <a:r>
              <a:rPr lang="en-GB" sz="2400" dirty="0">
                <a:solidFill>
                  <a:schemeClr val="dk1"/>
                </a:solidFill>
                <a:latin typeface="+mn-lt"/>
                <a:ea typeface="Calibri"/>
                <a:cs typeface="Calibri"/>
                <a:sym typeface="Calibri"/>
              </a:rPr>
              <a:t>Predominantly woody perennial plants including </a:t>
            </a:r>
            <a:r>
              <a:rPr lang="en-GB" sz="2400" b="1" dirty="0">
                <a:solidFill>
                  <a:schemeClr val="dk1"/>
                </a:solidFill>
                <a:latin typeface="+mn-lt"/>
                <a:ea typeface="Calibri"/>
                <a:cs typeface="Calibri"/>
                <a:sym typeface="Calibri"/>
              </a:rPr>
              <a:t>boreal and north temperate forests </a:t>
            </a:r>
            <a:r>
              <a:rPr lang="en-GB" sz="2400" dirty="0">
                <a:solidFill>
                  <a:schemeClr val="dk1"/>
                </a:solidFill>
                <a:latin typeface="+mn-lt"/>
                <a:ea typeface="Calibri"/>
                <a:cs typeface="Calibri"/>
                <a:sym typeface="Calibri"/>
              </a:rPr>
              <a:t>and </a:t>
            </a:r>
            <a:r>
              <a:rPr lang="en-GB" sz="2400" b="1" dirty="0">
                <a:solidFill>
                  <a:schemeClr val="dk1"/>
                </a:solidFill>
                <a:latin typeface="+mn-lt"/>
                <a:ea typeface="Calibri"/>
                <a:cs typeface="Calibri"/>
                <a:sym typeface="Calibri"/>
              </a:rPr>
              <a:t>dipterocarps</a:t>
            </a:r>
            <a:r>
              <a:rPr lang="en-GB" sz="2400" dirty="0">
                <a:solidFill>
                  <a:schemeClr val="dk1"/>
                </a:solidFill>
                <a:latin typeface="+mn-lt"/>
                <a:ea typeface="Calibri"/>
                <a:cs typeface="Calibri"/>
                <a:sym typeface="Calibri"/>
              </a:rPr>
              <a:t> in SE Asia.</a:t>
            </a:r>
            <a:endParaRPr dirty="0">
              <a:latin typeface="+mn-lt"/>
            </a:endParaRPr>
          </a:p>
        </p:txBody>
      </p:sp>
      <p:pic>
        <p:nvPicPr>
          <p:cNvPr id="491" name="Google Shape;491;p38"/>
          <p:cNvPicPr preferRelativeResize="0">
            <a:picLocks noChangeAspect="1"/>
          </p:cNvPicPr>
          <p:nvPr/>
        </p:nvPicPr>
        <p:blipFill rotWithShape="1">
          <a:blip r:embed="rId3">
            <a:alphaModFix/>
          </a:blip>
          <a:srcRect l="15242"/>
          <a:stretch/>
        </p:blipFill>
        <p:spPr>
          <a:xfrm>
            <a:off x="5471839" y="720080"/>
            <a:ext cx="2519604" cy="2205562"/>
          </a:xfrm>
          <a:prstGeom prst="rect">
            <a:avLst/>
          </a:prstGeom>
          <a:noFill/>
          <a:ln>
            <a:noFill/>
          </a:ln>
        </p:spPr>
      </p:pic>
      <p:pic>
        <p:nvPicPr>
          <p:cNvPr id="492" name="Google Shape;492;p38"/>
          <p:cNvPicPr preferRelativeResize="0">
            <a:picLocks noChangeAspect="1"/>
          </p:cNvPicPr>
          <p:nvPr/>
        </p:nvPicPr>
        <p:blipFill rotWithShape="1">
          <a:blip r:embed="rId4">
            <a:alphaModFix/>
          </a:blip>
          <a:srcRect/>
          <a:stretch/>
        </p:blipFill>
        <p:spPr>
          <a:xfrm>
            <a:off x="8062686" y="720081"/>
            <a:ext cx="3324968" cy="2205562"/>
          </a:xfrm>
          <a:prstGeom prst="rect">
            <a:avLst/>
          </a:prstGeom>
          <a:noFill/>
          <a:ln>
            <a:noFill/>
          </a:ln>
        </p:spPr>
      </p:pic>
      <p:sp>
        <p:nvSpPr>
          <p:cNvPr id="493" name="Google Shape;493;p38"/>
          <p:cNvSpPr>
            <a:spLocks noChangeAspect="1"/>
          </p:cNvSpPr>
          <p:nvPr/>
        </p:nvSpPr>
        <p:spPr>
          <a:xfrm>
            <a:off x="5471839" y="2975258"/>
            <a:ext cx="5915815" cy="3797013"/>
          </a:xfrm>
          <a:prstGeom prst="rect">
            <a:avLst/>
          </a:prstGeom>
          <a:blipFill rotWithShape="1">
            <a:blip r:embed="rId5">
              <a:alphaModFix/>
            </a:blip>
            <a:stretch>
              <a:fillRect/>
            </a:stretch>
          </a:blipFill>
          <a:ln w="12700" cap="flat" cmpd="sng">
            <a:no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Google Shape;483;p37">
            <a:extLst>
              <a:ext uri="{FF2B5EF4-FFF2-40B4-BE49-F238E27FC236}">
                <a16:creationId xmlns:a16="http://schemas.microsoft.com/office/drawing/2014/main" id="{03281E7E-7C13-B6B1-85FC-29E8B7D40047}"/>
              </a:ext>
            </a:extLst>
          </p:cNvPr>
          <p:cNvSpPr txBox="1"/>
          <p:nvPr/>
        </p:nvSpPr>
        <p:spPr>
          <a:xfrm>
            <a:off x="28576" y="-82865"/>
            <a:ext cx="6839862" cy="584735"/>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GB" sz="3200" b="1" dirty="0">
                <a:solidFill>
                  <a:srgbClr val="C00000"/>
                </a:solidFill>
                <a:latin typeface="+mj-lt"/>
                <a:ea typeface="Calibri"/>
                <a:cs typeface="Calibri"/>
                <a:sym typeface="Calibri"/>
              </a:rPr>
              <a:t>Ectomycorrhizal host plants</a:t>
            </a:r>
            <a:endParaRPr sz="3200" dirty="0">
              <a:solidFill>
                <a:srgbClr val="C00000"/>
              </a:solidFill>
              <a:latin typeface="+mj-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pic>
        <p:nvPicPr>
          <p:cNvPr id="498" name="Google Shape;498;p39" descr="Dwarf Salix"/>
          <p:cNvPicPr preferRelativeResize="0"/>
          <p:nvPr/>
        </p:nvPicPr>
        <p:blipFill rotWithShape="1">
          <a:blip r:embed="rId3">
            <a:alphaModFix/>
          </a:blip>
          <a:srcRect/>
          <a:stretch/>
        </p:blipFill>
        <p:spPr>
          <a:xfrm>
            <a:off x="1694688" y="478156"/>
            <a:ext cx="4359274" cy="2838069"/>
          </a:xfrm>
          <a:prstGeom prst="rect">
            <a:avLst/>
          </a:prstGeom>
          <a:noFill/>
          <a:ln>
            <a:noFill/>
          </a:ln>
        </p:spPr>
      </p:pic>
      <p:sp>
        <p:nvSpPr>
          <p:cNvPr id="499" name="Google Shape;499;p39"/>
          <p:cNvSpPr txBox="1"/>
          <p:nvPr/>
        </p:nvSpPr>
        <p:spPr>
          <a:xfrm>
            <a:off x="2462785" y="3422778"/>
            <a:ext cx="3090863" cy="116955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800" dirty="0">
                <a:solidFill>
                  <a:schemeClr val="dk1"/>
                </a:solidFill>
                <a:latin typeface="+mn-lt"/>
                <a:ea typeface="Calibri"/>
                <a:cs typeface="Calibri"/>
                <a:sym typeface="Calibri"/>
              </a:rPr>
              <a:t>Dwarf Willow</a:t>
            </a:r>
            <a:endParaRPr dirty="0">
              <a:latin typeface="+mn-lt"/>
            </a:endParaRPr>
          </a:p>
          <a:p>
            <a:pPr marL="0" marR="0" lvl="0" indent="0" algn="ctr" rtl="0">
              <a:spcBef>
                <a:spcPts val="1400"/>
              </a:spcBef>
              <a:spcAft>
                <a:spcPts val="0"/>
              </a:spcAft>
              <a:buNone/>
            </a:pPr>
            <a:r>
              <a:rPr lang="en-GB" sz="2800" dirty="0">
                <a:solidFill>
                  <a:schemeClr val="dk1"/>
                </a:solidFill>
                <a:latin typeface="+mn-lt"/>
                <a:ea typeface="Calibri"/>
                <a:cs typeface="Calibri"/>
                <a:sym typeface="Calibri"/>
              </a:rPr>
              <a:t>2-3 cm high</a:t>
            </a:r>
            <a:endParaRPr sz="2800" dirty="0">
              <a:solidFill>
                <a:schemeClr val="dk1"/>
              </a:solidFill>
              <a:latin typeface="+mn-lt"/>
              <a:ea typeface="Calibri"/>
              <a:cs typeface="Calibri"/>
              <a:sym typeface="Calibri"/>
            </a:endParaRPr>
          </a:p>
        </p:txBody>
      </p:sp>
      <p:pic>
        <p:nvPicPr>
          <p:cNvPr id="500" name="Google Shape;500;p39"/>
          <p:cNvPicPr preferRelativeResize="0"/>
          <p:nvPr/>
        </p:nvPicPr>
        <p:blipFill rotWithShape="1">
          <a:blip r:embed="rId4">
            <a:alphaModFix/>
          </a:blip>
          <a:srcRect/>
          <a:stretch/>
        </p:blipFill>
        <p:spPr>
          <a:xfrm>
            <a:off x="6190488" y="476250"/>
            <a:ext cx="3810000" cy="2857500"/>
          </a:xfrm>
          <a:prstGeom prst="rect">
            <a:avLst/>
          </a:prstGeom>
          <a:noFill/>
          <a:ln>
            <a:noFill/>
          </a:ln>
        </p:spPr>
      </p:pic>
      <p:sp>
        <p:nvSpPr>
          <p:cNvPr id="501" name="Google Shape;501;p39"/>
          <p:cNvSpPr txBox="1"/>
          <p:nvPr/>
        </p:nvSpPr>
        <p:spPr>
          <a:xfrm>
            <a:off x="6467857" y="3428874"/>
            <a:ext cx="3090863" cy="116955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800">
                <a:solidFill>
                  <a:schemeClr val="dk1"/>
                </a:solidFill>
                <a:latin typeface="+mn-lt"/>
                <a:ea typeface="Calibri"/>
                <a:cs typeface="Calibri"/>
                <a:sym typeface="Calibri"/>
              </a:rPr>
              <a:t>Shorea</a:t>
            </a:r>
            <a:endParaRPr sz="2800">
              <a:solidFill>
                <a:schemeClr val="dk1"/>
              </a:solidFill>
              <a:latin typeface="+mn-lt"/>
              <a:ea typeface="Calibri"/>
              <a:cs typeface="Calibri"/>
              <a:sym typeface="Calibri"/>
            </a:endParaRPr>
          </a:p>
          <a:p>
            <a:pPr marL="0" marR="0" lvl="0" indent="0" algn="ctr" rtl="0">
              <a:spcBef>
                <a:spcPts val="1400"/>
              </a:spcBef>
              <a:spcAft>
                <a:spcPts val="0"/>
              </a:spcAft>
              <a:buNone/>
            </a:pPr>
            <a:r>
              <a:rPr lang="en-GB" sz="2800">
                <a:solidFill>
                  <a:schemeClr val="dk1"/>
                </a:solidFill>
                <a:latin typeface="+mn-lt"/>
                <a:ea typeface="Calibri"/>
                <a:cs typeface="Calibri"/>
                <a:sym typeface="Calibri"/>
              </a:rPr>
              <a:t>100 m high</a:t>
            </a:r>
            <a:endParaRPr sz="2800">
              <a:solidFill>
                <a:schemeClr val="dk1"/>
              </a:solidFill>
              <a:latin typeface="+mn-lt"/>
              <a:ea typeface="Calibri"/>
              <a:cs typeface="Calibri"/>
              <a:sym typeface="Calibri"/>
            </a:endParaRPr>
          </a:p>
        </p:txBody>
      </p:sp>
      <p:pic>
        <p:nvPicPr>
          <p:cNvPr id="502" name="Google Shape;502;p39" descr="djr19"/>
          <p:cNvPicPr preferRelativeResize="0"/>
          <p:nvPr/>
        </p:nvPicPr>
        <p:blipFill rotWithShape="1">
          <a:blip r:embed="rId5">
            <a:alphaModFix/>
          </a:blip>
          <a:srcRect/>
          <a:stretch/>
        </p:blipFill>
        <p:spPr>
          <a:xfrm>
            <a:off x="4709161" y="4925568"/>
            <a:ext cx="2486078" cy="1674178"/>
          </a:xfrm>
          <a:prstGeom prst="rect">
            <a:avLst/>
          </a:prstGeom>
          <a:noFill/>
          <a:ln>
            <a:noFill/>
          </a:ln>
        </p:spPr>
      </p:pic>
      <p:sp>
        <p:nvSpPr>
          <p:cNvPr id="503" name="Google Shape;503;p39"/>
          <p:cNvSpPr txBox="1"/>
          <p:nvPr/>
        </p:nvSpPr>
        <p:spPr>
          <a:xfrm>
            <a:off x="7195239" y="5254825"/>
            <a:ext cx="3096344"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dirty="0">
                <a:solidFill>
                  <a:schemeClr val="dk1"/>
                </a:solidFill>
                <a:latin typeface="+mn-lt"/>
                <a:ea typeface="Calibri"/>
                <a:cs typeface="Calibri"/>
                <a:sym typeface="Calibri"/>
              </a:rPr>
              <a:t>Both fuelled by the activity of tiny ectomycorrhizal root tips</a:t>
            </a:r>
            <a:endParaRPr dirty="0">
              <a:latin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7"/>
        <p:cNvGrpSpPr/>
        <p:nvPr/>
      </p:nvGrpSpPr>
      <p:grpSpPr>
        <a:xfrm>
          <a:off x="0" y="0"/>
          <a:ext cx="0" cy="0"/>
          <a:chOff x="0" y="0"/>
          <a:chExt cx="0" cy="0"/>
        </a:xfrm>
      </p:grpSpPr>
      <p:sp>
        <p:nvSpPr>
          <p:cNvPr id="508" name="Google Shape;508;p40"/>
          <p:cNvSpPr/>
          <p:nvPr/>
        </p:nvSpPr>
        <p:spPr>
          <a:xfrm>
            <a:off x="0" y="0"/>
            <a:ext cx="4426850" cy="6858000"/>
          </a:xfrm>
          <a:prstGeom prst="rect">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09" name="Google Shape;509;p40"/>
          <p:cNvPicPr preferRelativeResize="0"/>
          <p:nvPr/>
        </p:nvPicPr>
        <p:blipFill rotWithShape="1">
          <a:blip r:embed="rId3">
            <a:alphaModFix/>
          </a:blip>
          <a:srcRect/>
          <a:stretch/>
        </p:blipFill>
        <p:spPr>
          <a:xfrm>
            <a:off x="4426858" y="3429004"/>
            <a:ext cx="7765144" cy="3428999"/>
          </a:xfrm>
          <a:prstGeom prst="rect">
            <a:avLst/>
          </a:prstGeom>
          <a:noFill/>
          <a:ln>
            <a:noFill/>
          </a:ln>
        </p:spPr>
      </p:pic>
      <p:pic>
        <p:nvPicPr>
          <p:cNvPr id="510" name="Google Shape;510;p40" descr="C:\Users\soi537\Pictures\Work\Experimental\Rosnida's microcosms\microcosms for AIB\21.03.12\Img45829.JPG"/>
          <p:cNvPicPr preferRelativeResize="0"/>
          <p:nvPr/>
        </p:nvPicPr>
        <p:blipFill rotWithShape="1">
          <a:blip r:embed="rId4">
            <a:alphaModFix/>
          </a:blip>
          <a:srcRect/>
          <a:stretch/>
        </p:blipFill>
        <p:spPr>
          <a:xfrm>
            <a:off x="4426853" y="-3"/>
            <a:ext cx="7765146" cy="3434400"/>
          </a:xfrm>
          <a:prstGeom prst="rect">
            <a:avLst/>
          </a:prstGeom>
          <a:noFill/>
          <a:ln>
            <a:noFill/>
          </a:ln>
        </p:spPr>
      </p:pic>
      <p:sp>
        <p:nvSpPr>
          <p:cNvPr id="511" name="Google Shape;511;p40"/>
          <p:cNvSpPr txBox="1"/>
          <p:nvPr/>
        </p:nvSpPr>
        <p:spPr>
          <a:xfrm>
            <a:off x="255067" y="677067"/>
            <a:ext cx="3916715" cy="208026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GB" sz="2400" dirty="0">
                <a:solidFill>
                  <a:schemeClr val="lt1"/>
                </a:solidFill>
                <a:latin typeface="+mn-lt"/>
                <a:ea typeface="Calibri"/>
                <a:cs typeface="Calibri"/>
                <a:sym typeface="Calibri"/>
              </a:rPr>
              <a:t>Like many fungi, mycorrhizal fungi produce fine filaments called </a:t>
            </a:r>
            <a:r>
              <a:rPr lang="en-GB" sz="2400" b="1" dirty="0">
                <a:solidFill>
                  <a:schemeClr val="lt1"/>
                </a:solidFill>
                <a:latin typeface="+mn-lt"/>
                <a:ea typeface="Calibri"/>
                <a:cs typeface="Calibri"/>
                <a:sym typeface="Calibri"/>
              </a:rPr>
              <a:t>hyphae</a:t>
            </a:r>
            <a:r>
              <a:rPr lang="en-GB" sz="2400" dirty="0">
                <a:solidFill>
                  <a:schemeClr val="lt1"/>
                </a:solidFill>
                <a:latin typeface="+mn-lt"/>
                <a:ea typeface="Calibri"/>
                <a:cs typeface="Calibri"/>
                <a:sym typeface="Calibri"/>
              </a:rPr>
              <a:t>, that forms a mycelium – the collective name for a web of hyphae</a:t>
            </a:r>
            <a:endParaRPr dirty="0">
              <a:latin typeface="+mn-lt"/>
            </a:endParaRPr>
          </a:p>
        </p:txBody>
      </p:sp>
      <p:sp>
        <p:nvSpPr>
          <p:cNvPr id="512" name="Google Shape;512;p40"/>
          <p:cNvSpPr txBox="1"/>
          <p:nvPr/>
        </p:nvSpPr>
        <p:spPr>
          <a:xfrm>
            <a:off x="255068" y="4162681"/>
            <a:ext cx="3731146" cy="1838069"/>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GB" sz="2400" dirty="0">
                <a:solidFill>
                  <a:schemeClr val="lt1"/>
                </a:solidFill>
                <a:latin typeface="+mn-lt"/>
                <a:ea typeface="Calibri"/>
                <a:cs typeface="Calibri"/>
                <a:sym typeface="Calibri"/>
              </a:rPr>
              <a:t>1 teaspoon of soil = </a:t>
            </a:r>
          </a:p>
          <a:p>
            <a:pPr marL="0" marR="0" lvl="0" indent="0" algn="l" rtl="0">
              <a:lnSpc>
                <a:spcPct val="90000"/>
              </a:lnSpc>
              <a:spcBef>
                <a:spcPts val="0"/>
              </a:spcBef>
              <a:spcAft>
                <a:spcPts val="0"/>
              </a:spcAft>
              <a:buNone/>
            </a:pPr>
            <a:r>
              <a:rPr lang="en-GB" sz="2400" dirty="0">
                <a:solidFill>
                  <a:schemeClr val="lt1"/>
                </a:solidFill>
                <a:latin typeface="+mn-lt"/>
                <a:ea typeface="Calibri"/>
                <a:cs typeface="Calibri"/>
                <a:sym typeface="Calibri"/>
              </a:rPr>
              <a:t>1 gram = </a:t>
            </a:r>
          </a:p>
          <a:p>
            <a:pPr marL="0" marR="0" lvl="0" indent="0" algn="l" rtl="0">
              <a:lnSpc>
                <a:spcPct val="90000"/>
              </a:lnSpc>
              <a:spcBef>
                <a:spcPts val="0"/>
              </a:spcBef>
              <a:spcAft>
                <a:spcPts val="0"/>
              </a:spcAft>
              <a:buNone/>
            </a:pPr>
            <a:r>
              <a:rPr lang="en-GB" sz="2400" b="1" dirty="0">
                <a:solidFill>
                  <a:schemeClr val="lt1"/>
                </a:solidFill>
                <a:latin typeface="+mn-lt"/>
                <a:ea typeface="Calibri"/>
                <a:cs typeface="Calibri"/>
                <a:sym typeface="Calibri"/>
              </a:rPr>
              <a:t>10-100 metres of fungal hyphae!</a:t>
            </a:r>
            <a:endParaRPr sz="1200" dirty="0">
              <a:latin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pic>
        <p:nvPicPr>
          <p:cNvPr id="517" name="Google Shape;517;p41"/>
          <p:cNvPicPr preferRelativeResize="0"/>
          <p:nvPr/>
        </p:nvPicPr>
        <p:blipFill rotWithShape="1">
          <a:blip r:embed="rId3">
            <a:alphaModFix/>
          </a:blip>
          <a:srcRect l="30972" r="36263" b="52096"/>
          <a:stretch/>
        </p:blipFill>
        <p:spPr>
          <a:xfrm>
            <a:off x="1991544" y="1196752"/>
            <a:ext cx="4045069" cy="5328593"/>
          </a:xfrm>
          <a:prstGeom prst="rect">
            <a:avLst/>
          </a:prstGeom>
          <a:noFill/>
          <a:ln>
            <a:noFill/>
          </a:ln>
        </p:spPr>
      </p:pic>
      <p:sp>
        <p:nvSpPr>
          <p:cNvPr id="518" name="Google Shape;518;p41"/>
          <p:cNvSpPr txBox="1"/>
          <p:nvPr/>
        </p:nvSpPr>
        <p:spPr>
          <a:xfrm>
            <a:off x="0" y="-19163"/>
            <a:ext cx="12192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a:solidFill>
                  <a:srgbClr val="C00000"/>
                </a:solidFill>
                <a:latin typeface="+mj-lt"/>
                <a:ea typeface="Calibri"/>
                <a:cs typeface="Calibri"/>
                <a:sym typeface="Calibri"/>
              </a:rPr>
              <a:t>Plants colonised by mycorrhizal fungi </a:t>
            </a:r>
            <a:r>
              <a:rPr lang="en-GB" sz="2800" b="1" i="1">
                <a:solidFill>
                  <a:srgbClr val="C00000"/>
                </a:solidFill>
                <a:latin typeface="+mj-lt"/>
                <a:ea typeface="Calibri"/>
                <a:cs typeface="Calibri"/>
                <a:sym typeface="Calibri"/>
              </a:rPr>
              <a:t>usually</a:t>
            </a:r>
            <a:r>
              <a:rPr lang="en-GB" sz="2800" b="1">
                <a:solidFill>
                  <a:srgbClr val="C00000"/>
                </a:solidFill>
                <a:latin typeface="+mj-lt"/>
                <a:ea typeface="Calibri"/>
                <a:cs typeface="Calibri"/>
                <a:sym typeface="Calibri"/>
              </a:rPr>
              <a:t> grow more – why?</a:t>
            </a:r>
            <a:endParaRPr b="1">
              <a:solidFill>
                <a:srgbClr val="C00000"/>
              </a:solidFill>
              <a:latin typeface="+mj-lt"/>
            </a:endParaRPr>
          </a:p>
        </p:txBody>
      </p:sp>
      <p:pic>
        <p:nvPicPr>
          <p:cNvPr id="519" name="Google Shape;519;p41"/>
          <p:cNvPicPr preferRelativeResize="0"/>
          <p:nvPr/>
        </p:nvPicPr>
        <p:blipFill rotWithShape="1">
          <a:blip r:embed="rId4">
            <a:alphaModFix/>
          </a:blip>
          <a:srcRect l="31468" t="47898" r="36263"/>
          <a:stretch/>
        </p:blipFill>
        <p:spPr>
          <a:xfrm>
            <a:off x="6384033" y="1196753"/>
            <a:ext cx="3706065" cy="5391259"/>
          </a:xfrm>
          <a:prstGeom prst="rect">
            <a:avLst/>
          </a:prstGeom>
          <a:noFill/>
          <a:ln>
            <a:noFill/>
          </a:ln>
        </p:spPr>
      </p:pic>
      <p:sp>
        <p:nvSpPr>
          <p:cNvPr id="520" name="Google Shape;520;p41"/>
          <p:cNvSpPr txBox="1"/>
          <p:nvPr/>
        </p:nvSpPr>
        <p:spPr>
          <a:xfrm>
            <a:off x="2572920" y="836712"/>
            <a:ext cx="2892941"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dirty="0">
                <a:solidFill>
                  <a:srgbClr val="C00000"/>
                </a:solidFill>
                <a:latin typeface="+mj-lt"/>
                <a:ea typeface="Calibri"/>
                <a:cs typeface="Calibri"/>
                <a:sym typeface="Calibri"/>
              </a:rPr>
              <a:t>Without mycorrhizas</a:t>
            </a:r>
            <a:endParaRPr dirty="0">
              <a:solidFill>
                <a:srgbClr val="C00000"/>
              </a:solidFill>
              <a:latin typeface="+mj-lt"/>
            </a:endParaRPr>
          </a:p>
        </p:txBody>
      </p:sp>
      <p:sp>
        <p:nvSpPr>
          <p:cNvPr id="521" name="Google Shape;521;p41"/>
          <p:cNvSpPr txBox="1"/>
          <p:nvPr/>
        </p:nvSpPr>
        <p:spPr>
          <a:xfrm>
            <a:off x="7017952" y="844749"/>
            <a:ext cx="2438226"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dirty="0">
                <a:solidFill>
                  <a:srgbClr val="C00000"/>
                </a:solidFill>
                <a:latin typeface="+mj-lt"/>
                <a:ea typeface="Calibri"/>
                <a:cs typeface="Calibri"/>
                <a:sym typeface="Calibri"/>
              </a:rPr>
              <a:t>With mycorrhizas</a:t>
            </a:r>
            <a:endParaRPr dirty="0">
              <a:solidFill>
                <a:srgbClr val="C00000"/>
              </a:solidFill>
              <a:latin typeface="+mj-lt"/>
            </a:endParaRPr>
          </a:p>
        </p:txBody>
      </p:sp>
      <p:sp>
        <p:nvSpPr>
          <p:cNvPr id="522" name="Google Shape;522;p41"/>
          <p:cNvSpPr txBox="1"/>
          <p:nvPr/>
        </p:nvSpPr>
        <p:spPr>
          <a:xfrm>
            <a:off x="1877244" y="6488709"/>
            <a:ext cx="3816424"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chemeClr val="tx1"/>
                </a:solidFill>
                <a:latin typeface="+mn-lt"/>
                <a:ea typeface="Calibri"/>
                <a:cs typeface="Calibri"/>
                <a:sym typeface="Calibri"/>
              </a:rPr>
              <a:t>research by Perez-Moreno and Read </a:t>
            </a:r>
            <a:endParaRPr sz="1200" dirty="0">
              <a:solidFill>
                <a:schemeClr val="tx1"/>
              </a:solidFill>
              <a:latin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p42"/>
          <p:cNvPicPr preferRelativeResize="0"/>
          <p:nvPr/>
        </p:nvPicPr>
        <p:blipFill rotWithShape="1">
          <a:blip r:embed="rId3">
            <a:alphaModFix/>
          </a:blip>
          <a:srcRect/>
          <a:stretch/>
        </p:blipFill>
        <p:spPr>
          <a:xfrm>
            <a:off x="1952625" y="201613"/>
            <a:ext cx="3027363" cy="4357687"/>
          </a:xfrm>
          <a:prstGeom prst="rect">
            <a:avLst/>
          </a:prstGeom>
          <a:noFill/>
          <a:ln>
            <a:noFill/>
          </a:ln>
        </p:spPr>
      </p:pic>
      <p:pic>
        <p:nvPicPr>
          <p:cNvPr id="528" name="Google Shape;528;p42"/>
          <p:cNvPicPr preferRelativeResize="0"/>
          <p:nvPr/>
        </p:nvPicPr>
        <p:blipFill rotWithShape="1">
          <a:blip r:embed="rId4">
            <a:alphaModFix/>
          </a:blip>
          <a:srcRect/>
          <a:stretch/>
        </p:blipFill>
        <p:spPr>
          <a:xfrm>
            <a:off x="4702176" y="641350"/>
            <a:ext cx="5965825" cy="3917950"/>
          </a:xfrm>
          <a:prstGeom prst="rect">
            <a:avLst/>
          </a:prstGeom>
          <a:noFill/>
          <a:ln>
            <a:noFill/>
          </a:ln>
        </p:spPr>
      </p:pic>
      <p:sp>
        <p:nvSpPr>
          <p:cNvPr id="529" name="Google Shape;529;p42"/>
          <p:cNvSpPr txBox="1"/>
          <p:nvPr/>
        </p:nvSpPr>
        <p:spPr>
          <a:xfrm>
            <a:off x="4826000" y="4559300"/>
            <a:ext cx="5816600"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2"/>
                </a:solidFill>
                <a:latin typeface="+mn-lt"/>
                <a:ea typeface="Comic Sans MS"/>
                <a:cs typeface="Comic Sans MS"/>
                <a:sym typeface="Comic Sans MS"/>
              </a:rPr>
              <a:t>Distance from root (mm)</a:t>
            </a:r>
            <a:endParaRPr>
              <a:latin typeface="+mn-lt"/>
            </a:endParaRPr>
          </a:p>
        </p:txBody>
      </p:sp>
      <p:sp>
        <p:nvSpPr>
          <p:cNvPr id="530" name="Google Shape;530;p42"/>
          <p:cNvSpPr txBox="1"/>
          <p:nvPr/>
        </p:nvSpPr>
        <p:spPr>
          <a:xfrm>
            <a:off x="5956300" y="825500"/>
            <a:ext cx="4343400"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GB" sz="1800" b="1" dirty="0">
                <a:solidFill>
                  <a:srgbClr val="C00000"/>
                </a:solidFill>
                <a:latin typeface="+mn-lt"/>
                <a:ea typeface="Comic Sans MS"/>
                <a:cs typeface="Comic Sans MS"/>
                <a:sym typeface="Comic Sans MS"/>
              </a:rPr>
              <a:t>37</a:t>
            </a:r>
            <a:r>
              <a:rPr lang="en-GB" sz="1800" b="1" dirty="0">
                <a:solidFill>
                  <a:srgbClr val="C00000"/>
                </a:solidFill>
                <a:latin typeface="+mn-lt"/>
                <a:ea typeface="Times New Roman"/>
                <a:cs typeface="Times New Roman"/>
                <a:sym typeface="Times New Roman"/>
              </a:rPr>
              <a:t>µ</a:t>
            </a:r>
            <a:r>
              <a:rPr lang="en-GB" sz="1800" b="1" dirty="0">
                <a:solidFill>
                  <a:srgbClr val="C00000"/>
                </a:solidFill>
                <a:latin typeface="+mn-lt"/>
                <a:ea typeface="Comic Sans MS"/>
                <a:cs typeface="Comic Sans MS"/>
                <a:sym typeface="Comic Sans MS"/>
              </a:rPr>
              <a:t>m mesh  0.45</a:t>
            </a:r>
            <a:r>
              <a:rPr lang="en-GB" sz="1800" b="1" dirty="0">
                <a:solidFill>
                  <a:srgbClr val="C00000"/>
                </a:solidFill>
                <a:latin typeface="+mn-lt"/>
                <a:ea typeface="Times New Roman"/>
                <a:cs typeface="Times New Roman"/>
                <a:sym typeface="Times New Roman"/>
              </a:rPr>
              <a:t>µ</a:t>
            </a:r>
            <a:r>
              <a:rPr lang="en-GB" sz="1800" b="1" dirty="0">
                <a:solidFill>
                  <a:srgbClr val="C00000"/>
                </a:solidFill>
                <a:latin typeface="+mn-lt"/>
                <a:ea typeface="Comic Sans MS"/>
                <a:cs typeface="Comic Sans MS"/>
                <a:sym typeface="Comic Sans MS"/>
              </a:rPr>
              <a:t>m mesh</a:t>
            </a:r>
            <a:endParaRPr dirty="0">
              <a:solidFill>
                <a:srgbClr val="C00000"/>
              </a:solidFill>
              <a:latin typeface="+mn-lt"/>
            </a:endParaRPr>
          </a:p>
        </p:txBody>
      </p:sp>
      <p:cxnSp>
        <p:nvCxnSpPr>
          <p:cNvPr id="531" name="Google Shape;531;p42"/>
          <p:cNvCxnSpPr/>
          <p:nvPr/>
        </p:nvCxnSpPr>
        <p:spPr>
          <a:xfrm flipH="1">
            <a:off x="5867400" y="1231900"/>
            <a:ext cx="444500" cy="457200"/>
          </a:xfrm>
          <a:prstGeom prst="straightConnector1">
            <a:avLst/>
          </a:prstGeom>
          <a:noFill/>
          <a:ln w="38100" cap="flat" cmpd="sng">
            <a:solidFill>
              <a:srgbClr val="C00000"/>
            </a:solidFill>
            <a:prstDash val="solid"/>
            <a:round/>
            <a:headEnd type="none" w="med" len="med"/>
            <a:tailEnd type="triangle" w="med" len="med"/>
          </a:ln>
        </p:spPr>
      </p:cxnSp>
      <p:cxnSp>
        <p:nvCxnSpPr>
          <p:cNvPr id="532" name="Google Shape;532;p42"/>
          <p:cNvCxnSpPr/>
          <p:nvPr/>
        </p:nvCxnSpPr>
        <p:spPr>
          <a:xfrm>
            <a:off x="8343900" y="1219200"/>
            <a:ext cx="139700" cy="711200"/>
          </a:xfrm>
          <a:prstGeom prst="straightConnector1">
            <a:avLst/>
          </a:prstGeom>
          <a:noFill/>
          <a:ln w="38100" cap="flat" cmpd="sng">
            <a:solidFill>
              <a:srgbClr val="C00000"/>
            </a:solidFill>
            <a:prstDash val="solid"/>
            <a:round/>
            <a:headEnd type="none" w="med" len="med"/>
            <a:tailEnd type="triangle" w="med" len="med"/>
          </a:ln>
        </p:spPr>
      </p:cxnSp>
      <p:sp>
        <p:nvSpPr>
          <p:cNvPr id="533" name="Google Shape;533;p42"/>
          <p:cNvSpPr txBox="1"/>
          <p:nvPr/>
        </p:nvSpPr>
        <p:spPr>
          <a:xfrm>
            <a:off x="6667500" y="1625601"/>
            <a:ext cx="1689100" cy="366713"/>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rgbClr val="C00000"/>
                </a:solidFill>
                <a:latin typeface="+mn-lt"/>
                <a:ea typeface="Comic Sans MS"/>
                <a:cs typeface="Comic Sans MS"/>
                <a:sym typeface="Comic Sans MS"/>
              </a:rPr>
              <a:t>control NM</a:t>
            </a:r>
            <a:endParaRPr dirty="0">
              <a:solidFill>
                <a:srgbClr val="C00000"/>
              </a:solidFill>
              <a:latin typeface="+mn-lt"/>
            </a:endParaRPr>
          </a:p>
        </p:txBody>
      </p:sp>
      <p:sp>
        <p:nvSpPr>
          <p:cNvPr id="534" name="Google Shape;534;p42"/>
          <p:cNvSpPr txBox="1"/>
          <p:nvPr/>
        </p:nvSpPr>
        <p:spPr>
          <a:xfrm>
            <a:off x="6477000" y="2755901"/>
            <a:ext cx="2222500" cy="366713"/>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solidFill>
                  <a:srgbClr val="C00000"/>
                </a:solidFill>
                <a:latin typeface="+mn-lt"/>
                <a:ea typeface="Comic Sans MS"/>
                <a:cs typeface="Comic Sans MS"/>
                <a:sym typeface="Comic Sans MS"/>
              </a:rPr>
              <a:t>2 species of AMF</a:t>
            </a:r>
            <a:endParaRPr dirty="0">
              <a:solidFill>
                <a:srgbClr val="C00000"/>
              </a:solidFill>
              <a:latin typeface="+mn-lt"/>
            </a:endParaRPr>
          </a:p>
        </p:txBody>
      </p:sp>
      <p:sp>
        <p:nvSpPr>
          <p:cNvPr id="535" name="Google Shape;535;p42"/>
          <p:cNvSpPr txBox="1"/>
          <p:nvPr/>
        </p:nvSpPr>
        <p:spPr>
          <a:xfrm>
            <a:off x="84931" y="85468"/>
            <a:ext cx="2670176"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mn-lt"/>
                <a:ea typeface="Calibri"/>
                <a:cs typeface="Calibri"/>
                <a:sym typeface="Calibri"/>
              </a:rPr>
              <a:t>Evidence that mycorrhizal fungal hyphae forages for nutrients beyond the reach of plant roots</a:t>
            </a:r>
            <a:endParaRPr dirty="0">
              <a:latin typeface="+mn-lt"/>
            </a:endParaRPr>
          </a:p>
        </p:txBody>
      </p:sp>
      <p:grpSp>
        <p:nvGrpSpPr>
          <p:cNvPr id="536" name="Google Shape;536;p42"/>
          <p:cNvGrpSpPr/>
          <p:nvPr/>
        </p:nvGrpSpPr>
        <p:grpSpPr>
          <a:xfrm>
            <a:off x="564273" y="5097861"/>
            <a:ext cx="10606253" cy="1674671"/>
            <a:chOff x="9338" y="132160"/>
            <a:chExt cx="10606253" cy="1674671"/>
          </a:xfrm>
        </p:grpSpPr>
        <p:sp>
          <p:nvSpPr>
            <p:cNvPr id="537" name="Google Shape;537;p42"/>
            <p:cNvSpPr/>
            <p:nvPr/>
          </p:nvSpPr>
          <p:spPr>
            <a:xfrm>
              <a:off x="9338" y="132160"/>
              <a:ext cx="2791119" cy="1674671"/>
            </a:xfrm>
            <a:prstGeom prst="roundRect">
              <a:avLst>
                <a:gd name="adj" fmla="val 10000"/>
              </a:avLst>
            </a:prstGeom>
            <a:solidFill>
              <a:srgbClr val="C0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538" name="Google Shape;538;p42"/>
            <p:cNvSpPr txBox="1"/>
            <p:nvPr/>
          </p:nvSpPr>
          <p:spPr>
            <a:xfrm>
              <a:off x="58387" y="181209"/>
              <a:ext cx="2693021" cy="1576573"/>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n-GB" sz="1800" dirty="0">
                  <a:solidFill>
                    <a:schemeClr val="lt1"/>
                  </a:solidFill>
                  <a:latin typeface="+mn-lt"/>
                  <a:ea typeface="Calibri"/>
                  <a:cs typeface="Calibri"/>
                  <a:sym typeface="Calibri"/>
                </a:rPr>
                <a:t>The concentration of inorganic phosphorus in soil is reduced when mycorrhizal fungal hyphae has access to it.</a:t>
              </a:r>
              <a:endParaRPr sz="1800" dirty="0">
                <a:solidFill>
                  <a:schemeClr val="lt1"/>
                </a:solidFill>
                <a:latin typeface="+mn-lt"/>
                <a:ea typeface="Calibri"/>
                <a:cs typeface="Calibri"/>
                <a:sym typeface="Calibri"/>
              </a:endParaRPr>
            </a:p>
          </p:txBody>
        </p:sp>
        <p:sp>
          <p:nvSpPr>
            <p:cNvPr id="541" name="Google Shape;541;p42"/>
            <p:cNvSpPr/>
            <p:nvPr/>
          </p:nvSpPr>
          <p:spPr>
            <a:xfrm>
              <a:off x="3916905" y="132160"/>
              <a:ext cx="2791119" cy="1674671"/>
            </a:xfrm>
            <a:prstGeom prst="roundRect">
              <a:avLst>
                <a:gd name="adj" fmla="val 10000"/>
              </a:avLst>
            </a:prstGeom>
            <a:solidFill>
              <a:srgbClr val="C00000"/>
            </a:solidFill>
            <a:ln w="12700" cap="flat" cmpd="sng">
              <a:no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542" name="Google Shape;542;p42"/>
            <p:cNvSpPr txBox="1"/>
            <p:nvPr/>
          </p:nvSpPr>
          <p:spPr>
            <a:xfrm>
              <a:off x="3965954" y="181209"/>
              <a:ext cx="2693021" cy="1576573"/>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n-GB" sz="1800" dirty="0">
                  <a:solidFill>
                    <a:schemeClr val="lt1"/>
                  </a:solidFill>
                  <a:latin typeface="+mn-lt"/>
                  <a:ea typeface="Calibri"/>
                  <a:cs typeface="Calibri"/>
                  <a:sym typeface="Calibri"/>
                </a:rPr>
                <a:t>The fungi are acquiring nutrients and likely transferring some to the host plant</a:t>
              </a:r>
              <a:endParaRPr sz="1800" dirty="0">
                <a:solidFill>
                  <a:schemeClr val="lt1"/>
                </a:solidFill>
                <a:latin typeface="+mn-lt"/>
                <a:ea typeface="Calibri"/>
                <a:cs typeface="Calibri"/>
                <a:sym typeface="Calibri"/>
              </a:endParaRPr>
            </a:p>
          </p:txBody>
        </p:sp>
        <p:sp>
          <p:nvSpPr>
            <p:cNvPr id="543" name="Google Shape;543;p42"/>
            <p:cNvSpPr/>
            <p:nvPr/>
          </p:nvSpPr>
          <p:spPr>
            <a:xfrm>
              <a:off x="6953643" y="623397"/>
              <a:ext cx="591717" cy="692197"/>
            </a:xfrm>
            <a:prstGeom prst="rightArrow">
              <a:avLst>
                <a:gd name="adj1" fmla="val 60000"/>
                <a:gd name="adj2" fmla="val 50000"/>
              </a:avLst>
            </a:prstGeom>
            <a:solidFill>
              <a:srgbClr val="C00000">
                <a:alpha val="4666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544" name="Google Shape;544;p42"/>
            <p:cNvSpPr txBox="1"/>
            <p:nvPr/>
          </p:nvSpPr>
          <p:spPr>
            <a:xfrm>
              <a:off x="6953643" y="761836"/>
              <a:ext cx="292397" cy="415319"/>
            </a:xfrm>
            <a:prstGeom prst="rect">
              <a:avLst/>
            </a:prstGeom>
            <a:solidFill>
              <a:srgbClr val="C00000">
                <a:alpha val="46667"/>
              </a:srgbClr>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Calibri"/>
                <a:buNone/>
              </a:pPr>
              <a:endParaRPr sz="1600">
                <a:solidFill>
                  <a:schemeClr val="lt1"/>
                </a:solidFill>
                <a:latin typeface="+mn-lt"/>
                <a:ea typeface="Calibri"/>
                <a:cs typeface="Calibri"/>
                <a:sym typeface="Calibri"/>
              </a:endParaRPr>
            </a:p>
          </p:txBody>
        </p:sp>
        <p:sp>
          <p:nvSpPr>
            <p:cNvPr id="545" name="Google Shape;545;p42"/>
            <p:cNvSpPr/>
            <p:nvPr/>
          </p:nvSpPr>
          <p:spPr>
            <a:xfrm>
              <a:off x="7824472" y="132160"/>
              <a:ext cx="2791119" cy="1674671"/>
            </a:xfrm>
            <a:prstGeom prst="roundRect">
              <a:avLst>
                <a:gd name="adj" fmla="val 10000"/>
              </a:avLst>
            </a:prstGeom>
            <a:solidFill>
              <a:srgbClr val="C0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546" name="Google Shape;546;p42"/>
            <p:cNvSpPr txBox="1"/>
            <p:nvPr/>
          </p:nvSpPr>
          <p:spPr>
            <a:xfrm>
              <a:off x="7873521" y="181209"/>
              <a:ext cx="2693021" cy="1576573"/>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n-GB" sz="1800" dirty="0">
                  <a:solidFill>
                    <a:schemeClr val="lt1"/>
                  </a:solidFill>
                  <a:latin typeface="+mn-lt"/>
                  <a:ea typeface="Calibri"/>
                  <a:cs typeface="Calibri"/>
                  <a:sym typeface="Calibri"/>
                </a:rPr>
                <a:t>But different species of fungi have different effects (</a:t>
              </a:r>
              <a:r>
                <a:rPr lang="en-GB" sz="1800" dirty="0" err="1">
                  <a:solidFill>
                    <a:schemeClr val="lt1"/>
                  </a:solidFill>
                  <a:latin typeface="+mn-lt"/>
                  <a:ea typeface="Calibri"/>
                  <a:cs typeface="Calibri"/>
                  <a:sym typeface="Calibri"/>
                </a:rPr>
                <a:t>Joner</a:t>
              </a:r>
              <a:r>
                <a:rPr lang="en-GB" sz="1800" dirty="0">
                  <a:solidFill>
                    <a:schemeClr val="lt1"/>
                  </a:solidFill>
                  <a:latin typeface="+mn-lt"/>
                  <a:ea typeface="Calibri"/>
                  <a:cs typeface="Calibri"/>
                  <a:sym typeface="Calibri"/>
                </a:rPr>
                <a:t> et al 1995)</a:t>
              </a:r>
              <a:endParaRPr sz="1800" dirty="0">
                <a:solidFill>
                  <a:schemeClr val="lt1"/>
                </a:solidFill>
                <a:latin typeface="+mn-lt"/>
                <a:ea typeface="Calibri"/>
                <a:cs typeface="Calibri"/>
                <a:sym typeface="Calibri"/>
              </a:endParaRPr>
            </a:p>
          </p:txBody>
        </p:sp>
      </p:grpSp>
      <p:sp>
        <p:nvSpPr>
          <p:cNvPr id="2" name="Google Shape;543;p42">
            <a:extLst>
              <a:ext uri="{FF2B5EF4-FFF2-40B4-BE49-F238E27FC236}">
                <a16:creationId xmlns:a16="http://schemas.microsoft.com/office/drawing/2014/main" id="{95B00189-3FED-0B29-2797-85162F71B121}"/>
              </a:ext>
            </a:extLst>
          </p:cNvPr>
          <p:cNvSpPr/>
          <p:nvPr/>
        </p:nvSpPr>
        <p:spPr>
          <a:xfrm>
            <a:off x="3617757" y="5607705"/>
            <a:ext cx="591717" cy="692197"/>
          </a:xfrm>
          <a:prstGeom prst="rightArrow">
            <a:avLst>
              <a:gd name="adj1" fmla="val 60000"/>
              <a:gd name="adj2" fmla="val 50000"/>
            </a:avLst>
          </a:prstGeom>
          <a:solidFill>
            <a:srgbClr val="C00000">
              <a:alpha val="4666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n-lt"/>
            </a:endParaRPr>
          </a:p>
        </p:txBody>
      </p:sp>
      <p:sp>
        <p:nvSpPr>
          <p:cNvPr id="3" name="Google Shape;544;p42">
            <a:extLst>
              <a:ext uri="{FF2B5EF4-FFF2-40B4-BE49-F238E27FC236}">
                <a16:creationId xmlns:a16="http://schemas.microsoft.com/office/drawing/2014/main" id="{763C86F9-2129-8D9F-E617-CBC46C7BCA9D}"/>
              </a:ext>
            </a:extLst>
          </p:cNvPr>
          <p:cNvSpPr txBox="1"/>
          <p:nvPr/>
        </p:nvSpPr>
        <p:spPr>
          <a:xfrm>
            <a:off x="3617757" y="5746144"/>
            <a:ext cx="292397" cy="415319"/>
          </a:xfrm>
          <a:prstGeom prst="rect">
            <a:avLst/>
          </a:prstGeom>
          <a:solidFill>
            <a:srgbClr val="C00000">
              <a:alpha val="46667"/>
            </a:srgbClr>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600"/>
              <a:buFont typeface="Calibri"/>
              <a:buNone/>
            </a:pPr>
            <a:endParaRPr sz="1600">
              <a:solidFill>
                <a:schemeClr val="lt1"/>
              </a:solidFill>
              <a:latin typeface="+mn-lt"/>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3"/>
          <p:cNvSpPr txBox="1"/>
          <p:nvPr/>
        </p:nvSpPr>
        <p:spPr>
          <a:xfrm>
            <a:off x="0" y="16187"/>
            <a:ext cx="7431438"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j-lt"/>
                <a:ea typeface="Calibri"/>
                <a:cs typeface="Calibri"/>
                <a:sym typeface="Calibri"/>
              </a:rPr>
              <a:t>Challenging the dogma of inorganic nutrient use by plants</a:t>
            </a:r>
            <a:endParaRPr dirty="0">
              <a:solidFill>
                <a:srgbClr val="C00000"/>
              </a:solidFill>
              <a:latin typeface="+mj-lt"/>
            </a:endParaRPr>
          </a:p>
        </p:txBody>
      </p:sp>
      <p:sp>
        <p:nvSpPr>
          <p:cNvPr id="552" name="Google Shape;552;p43"/>
          <p:cNvSpPr txBox="1"/>
          <p:nvPr/>
        </p:nvSpPr>
        <p:spPr>
          <a:xfrm>
            <a:off x="2186365" y="3535681"/>
            <a:ext cx="2304256" cy="2308324"/>
          </a:xfrm>
          <a:prstGeom prst="rect">
            <a:avLst/>
          </a:prstGeom>
          <a:noFill/>
          <a:ln w="25400" cap="flat" cmpd="sng">
            <a:solidFill>
              <a:srgbClr val="38562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r>
              <a:rPr lang="en-GB" sz="1800" dirty="0">
                <a:solidFill>
                  <a:schemeClr val="dk1"/>
                </a:solidFill>
                <a:latin typeface="Calibri"/>
                <a:ea typeface="Calibri"/>
                <a:cs typeface="Calibri"/>
                <a:sym typeface="Calibri"/>
              </a:rPr>
              <a:t>Organic forms of nutrients</a:t>
            </a:r>
            <a:endParaRPr dirty="0"/>
          </a:p>
          <a:p>
            <a:pPr marL="0" marR="0" lvl="0" indent="0" algn="ctr" rtl="0">
              <a:spcBef>
                <a:spcPts val="0"/>
              </a:spcBef>
              <a:spcAft>
                <a:spcPts val="0"/>
              </a:spcAft>
              <a:buNone/>
            </a:pPr>
            <a:r>
              <a:rPr lang="en-GB" sz="1800" dirty="0">
                <a:solidFill>
                  <a:schemeClr val="dk1"/>
                </a:solidFill>
                <a:latin typeface="Calibri"/>
                <a:ea typeface="Calibri"/>
                <a:cs typeface="Calibri"/>
                <a:sym typeface="Calibri"/>
              </a:rPr>
              <a:t>(chemically, very variable)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53" name="Google Shape;553;p43"/>
          <p:cNvSpPr txBox="1"/>
          <p:nvPr/>
        </p:nvSpPr>
        <p:spPr>
          <a:xfrm>
            <a:off x="7176517" y="3535682"/>
            <a:ext cx="1440160" cy="1169551"/>
          </a:xfrm>
          <a:prstGeom prst="rect">
            <a:avLst/>
          </a:prstGeom>
          <a:noFill/>
          <a:ln w="25400" cap="flat" cmpd="sng">
            <a:solidFill>
              <a:srgbClr val="38562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a:solidFill>
                  <a:schemeClr val="dk1"/>
                </a:solidFill>
                <a:latin typeface="Calibri"/>
                <a:ea typeface="Calibri"/>
                <a:cs typeface="Calibri"/>
                <a:sym typeface="Calibri"/>
              </a:rPr>
              <a:t>Inorganic (mineral) forms of nutrients</a:t>
            </a:r>
            <a:endParaRPr/>
          </a:p>
          <a:p>
            <a:pPr marL="0" marR="0" lvl="0" indent="0" algn="ctr" rtl="0">
              <a:spcBef>
                <a:spcPts val="0"/>
              </a:spcBef>
              <a:spcAft>
                <a:spcPts val="0"/>
              </a:spcAft>
              <a:buNone/>
            </a:pPr>
            <a:r>
              <a:rPr lang="en-GB" sz="1400">
                <a:solidFill>
                  <a:schemeClr val="dk1"/>
                </a:solidFill>
                <a:latin typeface="Calibri"/>
                <a:ea typeface="Calibri"/>
                <a:cs typeface="Calibri"/>
                <a:sym typeface="Calibri"/>
              </a:rPr>
              <a:t>(chemically, very homogeneous)</a:t>
            </a:r>
            <a:endParaRPr/>
          </a:p>
        </p:txBody>
      </p:sp>
      <p:sp>
        <p:nvSpPr>
          <p:cNvPr id="556" name="Google Shape;556;p43"/>
          <p:cNvSpPr/>
          <p:nvPr/>
        </p:nvSpPr>
        <p:spPr>
          <a:xfrm>
            <a:off x="4490621" y="3468560"/>
            <a:ext cx="2685896" cy="504056"/>
          </a:xfrm>
          <a:prstGeom prst="right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7" name="Google Shape;557;p43"/>
          <p:cNvSpPr txBox="1"/>
          <p:nvPr/>
        </p:nvSpPr>
        <p:spPr>
          <a:xfrm>
            <a:off x="4682187" y="4098746"/>
            <a:ext cx="2302764"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chemeClr val="dk1"/>
                </a:solidFill>
                <a:latin typeface="Calibri"/>
                <a:ea typeface="Calibri"/>
                <a:cs typeface="Calibri"/>
                <a:sym typeface="Calibri"/>
              </a:rPr>
              <a:t>Mineralisation process:</a:t>
            </a:r>
            <a:endParaRPr/>
          </a:p>
          <a:p>
            <a:pPr marL="0" marR="0" lvl="0" indent="0" algn="l" rtl="0">
              <a:spcBef>
                <a:spcPts val="0"/>
              </a:spcBef>
              <a:spcAft>
                <a:spcPts val="0"/>
              </a:spcAft>
              <a:buNone/>
            </a:pPr>
            <a:r>
              <a:rPr lang="en-GB" sz="1400">
                <a:solidFill>
                  <a:schemeClr val="dk1"/>
                </a:solidFill>
                <a:latin typeface="Calibri"/>
                <a:ea typeface="Calibri"/>
                <a:cs typeface="Calibri"/>
                <a:sym typeface="Calibri"/>
              </a:rPr>
              <a:t>Free-living microbes &amp; fauna produce enzymes that convert organic forms to inorganic forms</a:t>
            </a:r>
            <a:endParaRPr/>
          </a:p>
        </p:txBody>
      </p:sp>
      <p:pic>
        <p:nvPicPr>
          <p:cNvPr id="558" name="Google Shape;558;p43"/>
          <p:cNvPicPr preferRelativeResize="0"/>
          <p:nvPr/>
        </p:nvPicPr>
        <p:blipFill rotWithShape="1">
          <a:blip r:embed="rId3">
            <a:alphaModFix/>
          </a:blip>
          <a:srcRect/>
          <a:stretch/>
        </p:blipFill>
        <p:spPr>
          <a:xfrm>
            <a:off x="6816080" y="629980"/>
            <a:ext cx="2305050" cy="1990725"/>
          </a:xfrm>
          <a:prstGeom prst="rect">
            <a:avLst/>
          </a:prstGeom>
          <a:noFill/>
          <a:ln>
            <a:noFill/>
          </a:ln>
        </p:spPr>
      </p:pic>
      <p:sp>
        <p:nvSpPr>
          <p:cNvPr id="559" name="Google Shape;559;p43"/>
          <p:cNvSpPr/>
          <p:nvPr/>
        </p:nvSpPr>
        <p:spPr>
          <a:xfrm rot="10800000">
            <a:off x="7608168" y="2620704"/>
            <a:ext cx="504056" cy="914975"/>
          </a:xfrm>
          <a:prstGeom prst="down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0" name="Google Shape;560;p43"/>
          <p:cNvSpPr txBox="1"/>
          <p:nvPr/>
        </p:nvSpPr>
        <p:spPr>
          <a:xfrm>
            <a:off x="8291396" y="2532259"/>
            <a:ext cx="234110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Calibri"/>
                <a:ea typeface="Calibri"/>
                <a:cs typeface="Calibri"/>
                <a:sym typeface="Calibri"/>
              </a:rPr>
              <a:t>Root uptake of inorganic nutrients in solution</a:t>
            </a:r>
            <a:endParaRPr dirty="0"/>
          </a:p>
        </p:txBody>
      </p:sp>
      <p:pic>
        <p:nvPicPr>
          <p:cNvPr id="561" name="Google Shape;561;p43" descr="Microbes Make Energy | Compost Tea &amp; the Soil Food Web"/>
          <p:cNvPicPr preferRelativeResize="0"/>
          <p:nvPr/>
        </p:nvPicPr>
        <p:blipFill rotWithShape="1">
          <a:blip r:embed="rId4">
            <a:alphaModFix/>
          </a:blip>
          <a:srcRect/>
          <a:stretch/>
        </p:blipFill>
        <p:spPr>
          <a:xfrm>
            <a:off x="4854140" y="5295677"/>
            <a:ext cx="1866700" cy="1358588"/>
          </a:xfrm>
          <a:prstGeom prst="rect">
            <a:avLst/>
          </a:prstGeom>
          <a:noFill/>
          <a:ln>
            <a:noFill/>
          </a:ln>
        </p:spPr>
      </p:pic>
      <p:sp>
        <p:nvSpPr>
          <p:cNvPr id="2" name="Google Shape;569;p44">
            <a:extLst>
              <a:ext uri="{FF2B5EF4-FFF2-40B4-BE49-F238E27FC236}">
                <a16:creationId xmlns:a16="http://schemas.microsoft.com/office/drawing/2014/main" id="{CF0F0DA9-3CA7-5E76-04E7-AE202B7359A5}"/>
              </a:ext>
            </a:extLst>
          </p:cNvPr>
          <p:cNvSpPr txBox="1"/>
          <p:nvPr/>
        </p:nvSpPr>
        <p:spPr>
          <a:xfrm>
            <a:off x="2639617" y="6072168"/>
            <a:ext cx="104708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Big pool</a:t>
            </a:r>
            <a:endParaRPr/>
          </a:p>
        </p:txBody>
      </p:sp>
      <p:sp>
        <p:nvSpPr>
          <p:cNvPr id="3" name="Google Shape;570;p44">
            <a:extLst>
              <a:ext uri="{FF2B5EF4-FFF2-40B4-BE49-F238E27FC236}">
                <a16:creationId xmlns:a16="http://schemas.microsoft.com/office/drawing/2014/main" id="{43A3F51E-4265-7992-6BCD-0D6B41E37ED0}"/>
              </a:ext>
            </a:extLst>
          </p:cNvPr>
          <p:cNvSpPr txBox="1"/>
          <p:nvPr/>
        </p:nvSpPr>
        <p:spPr>
          <a:xfrm>
            <a:off x="7346700" y="6072168"/>
            <a:ext cx="125566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Little pool</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7" name="Google Shape;567;p44"/>
          <p:cNvSpPr txBox="1"/>
          <p:nvPr/>
        </p:nvSpPr>
        <p:spPr>
          <a:xfrm>
            <a:off x="2186365" y="3535681"/>
            <a:ext cx="2304256" cy="2308324"/>
          </a:xfrm>
          <a:prstGeom prst="rect">
            <a:avLst/>
          </a:prstGeom>
          <a:noFill/>
          <a:ln w="25400" cap="flat" cmpd="sng">
            <a:solidFill>
              <a:srgbClr val="38562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GB" sz="1800">
                <a:solidFill>
                  <a:schemeClr val="dk1"/>
                </a:solidFill>
                <a:latin typeface="Calibri"/>
                <a:ea typeface="Calibri"/>
                <a:cs typeface="Calibri"/>
                <a:sym typeface="Calibri"/>
              </a:rPr>
              <a:t>Organic forms of nutrients</a:t>
            </a:r>
            <a:endParaRPr/>
          </a:p>
          <a:p>
            <a:pPr marL="0" marR="0" lvl="0" indent="0" algn="ctr" rtl="0">
              <a:spcBef>
                <a:spcPts val="0"/>
              </a:spcBef>
              <a:spcAft>
                <a:spcPts val="0"/>
              </a:spcAft>
              <a:buNone/>
            </a:pPr>
            <a:r>
              <a:rPr lang="en-GB" sz="1800">
                <a:solidFill>
                  <a:schemeClr val="dk1"/>
                </a:solidFill>
                <a:latin typeface="Calibri"/>
                <a:ea typeface="Calibri"/>
                <a:cs typeface="Calibri"/>
                <a:sym typeface="Calibri"/>
              </a:rPr>
              <a:t>(chemically, very variable)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8" name="Google Shape;568;p44"/>
          <p:cNvSpPr txBox="1"/>
          <p:nvPr/>
        </p:nvSpPr>
        <p:spPr>
          <a:xfrm>
            <a:off x="7176517" y="3535682"/>
            <a:ext cx="1440160" cy="1169551"/>
          </a:xfrm>
          <a:prstGeom prst="rect">
            <a:avLst/>
          </a:prstGeom>
          <a:noFill/>
          <a:ln w="25400" cap="flat" cmpd="sng">
            <a:solidFill>
              <a:srgbClr val="38562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a:solidFill>
                  <a:schemeClr val="dk1"/>
                </a:solidFill>
                <a:latin typeface="Calibri"/>
                <a:ea typeface="Calibri"/>
                <a:cs typeface="Calibri"/>
                <a:sym typeface="Calibri"/>
              </a:rPr>
              <a:t>Inorganic (mineral) forms of nutrients</a:t>
            </a:r>
            <a:endParaRPr/>
          </a:p>
          <a:p>
            <a:pPr marL="0" marR="0" lvl="0" indent="0" algn="ctr" rtl="0">
              <a:spcBef>
                <a:spcPts val="0"/>
              </a:spcBef>
              <a:spcAft>
                <a:spcPts val="0"/>
              </a:spcAft>
              <a:buNone/>
            </a:pPr>
            <a:r>
              <a:rPr lang="en-GB" sz="1400">
                <a:solidFill>
                  <a:schemeClr val="dk1"/>
                </a:solidFill>
                <a:latin typeface="Calibri"/>
                <a:ea typeface="Calibri"/>
                <a:cs typeface="Calibri"/>
                <a:sym typeface="Calibri"/>
              </a:rPr>
              <a:t>(chemically, very homogeneous)</a:t>
            </a:r>
            <a:endParaRPr/>
          </a:p>
        </p:txBody>
      </p:sp>
      <p:sp>
        <p:nvSpPr>
          <p:cNvPr id="569" name="Google Shape;569;p44"/>
          <p:cNvSpPr txBox="1"/>
          <p:nvPr/>
        </p:nvSpPr>
        <p:spPr>
          <a:xfrm>
            <a:off x="2639617" y="6072168"/>
            <a:ext cx="104708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Big pool</a:t>
            </a:r>
            <a:endParaRPr/>
          </a:p>
        </p:txBody>
      </p:sp>
      <p:sp>
        <p:nvSpPr>
          <p:cNvPr id="570" name="Google Shape;570;p44"/>
          <p:cNvSpPr txBox="1"/>
          <p:nvPr/>
        </p:nvSpPr>
        <p:spPr>
          <a:xfrm>
            <a:off x="7346700" y="6072168"/>
            <a:ext cx="125566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Little pool</a:t>
            </a:r>
            <a:endParaRPr dirty="0"/>
          </a:p>
        </p:txBody>
      </p:sp>
      <p:sp>
        <p:nvSpPr>
          <p:cNvPr id="571" name="Google Shape;571;p44"/>
          <p:cNvSpPr/>
          <p:nvPr/>
        </p:nvSpPr>
        <p:spPr>
          <a:xfrm>
            <a:off x="4490621" y="3468560"/>
            <a:ext cx="2685896" cy="504056"/>
          </a:xfrm>
          <a:prstGeom prst="right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2" name="Google Shape;572;p44"/>
          <p:cNvSpPr txBox="1"/>
          <p:nvPr/>
        </p:nvSpPr>
        <p:spPr>
          <a:xfrm>
            <a:off x="4682187" y="4098746"/>
            <a:ext cx="2302764"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chemeClr val="dk1"/>
                </a:solidFill>
                <a:latin typeface="Calibri"/>
                <a:ea typeface="Calibri"/>
                <a:cs typeface="Calibri"/>
                <a:sym typeface="Calibri"/>
              </a:rPr>
              <a:t>Mineralisation process:</a:t>
            </a:r>
            <a:endParaRPr/>
          </a:p>
          <a:p>
            <a:pPr marL="0" marR="0" lvl="0" indent="0" algn="l" rtl="0">
              <a:spcBef>
                <a:spcPts val="0"/>
              </a:spcBef>
              <a:spcAft>
                <a:spcPts val="0"/>
              </a:spcAft>
              <a:buNone/>
            </a:pPr>
            <a:r>
              <a:rPr lang="en-GB" sz="1400">
                <a:solidFill>
                  <a:schemeClr val="dk1"/>
                </a:solidFill>
                <a:latin typeface="Calibri"/>
                <a:ea typeface="Calibri"/>
                <a:cs typeface="Calibri"/>
                <a:sym typeface="Calibri"/>
              </a:rPr>
              <a:t>Free-living microbes &amp; fauna produce enzymes that convert organic forms to inorganic forms</a:t>
            </a:r>
            <a:endParaRPr/>
          </a:p>
        </p:txBody>
      </p:sp>
      <p:pic>
        <p:nvPicPr>
          <p:cNvPr id="573" name="Google Shape;573;p44"/>
          <p:cNvPicPr preferRelativeResize="0"/>
          <p:nvPr/>
        </p:nvPicPr>
        <p:blipFill rotWithShape="1">
          <a:blip r:embed="rId3">
            <a:alphaModFix/>
          </a:blip>
          <a:srcRect/>
          <a:stretch/>
        </p:blipFill>
        <p:spPr>
          <a:xfrm>
            <a:off x="6816080" y="629980"/>
            <a:ext cx="2305050" cy="1990725"/>
          </a:xfrm>
          <a:prstGeom prst="rect">
            <a:avLst/>
          </a:prstGeom>
          <a:noFill/>
          <a:ln>
            <a:noFill/>
          </a:ln>
        </p:spPr>
      </p:pic>
      <p:sp>
        <p:nvSpPr>
          <p:cNvPr id="574" name="Google Shape;574;p44"/>
          <p:cNvSpPr/>
          <p:nvPr/>
        </p:nvSpPr>
        <p:spPr>
          <a:xfrm rot="10800000">
            <a:off x="7608168" y="2620704"/>
            <a:ext cx="504056" cy="914975"/>
          </a:xfrm>
          <a:prstGeom prst="down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5" name="Google Shape;575;p44"/>
          <p:cNvSpPr txBox="1"/>
          <p:nvPr/>
        </p:nvSpPr>
        <p:spPr>
          <a:xfrm>
            <a:off x="8291396" y="2532259"/>
            <a:ext cx="234110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Calibri"/>
                <a:ea typeface="Calibri"/>
                <a:cs typeface="Calibri"/>
                <a:sym typeface="Calibri"/>
              </a:rPr>
              <a:t>Root uptake of inorganic nutrients in solution</a:t>
            </a:r>
            <a:endParaRPr/>
          </a:p>
        </p:txBody>
      </p:sp>
      <p:sp>
        <p:nvSpPr>
          <p:cNvPr id="576" name="Google Shape;576;p44"/>
          <p:cNvSpPr/>
          <p:nvPr/>
        </p:nvSpPr>
        <p:spPr>
          <a:xfrm rot="-1033278">
            <a:off x="4398572" y="2743353"/>
            <a:ext cx="3276259" cy="504056"/>
          </a:xfrm>
          <a:prstGeom prst="right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7" name="Google Shape;577;p44"/>
          <p:cNvSpPr txBox="1"/>
          <p:nvPr/>
        </p:nvSpPr>
        <p:spPr>
          <a:xfrm>
            <a:off x="2464719" y="1531018"/>
            <a:ext cx="4351361"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tx1"/>
                </a:solidFill>
                <a:latin typeface="+mn-lt"/>
                <a:ea typeface="Calibri"/>
                <a:cs typeface="Calibri"/>
                <a:sym typeface="Calibri"/>
              </a:rPr>
              <a:t>Some plants aided by mycorrhizal fungi have been shown to take up simple organic forms directly, or mineralise organic forms without the need for free-living organisms</a:t>
            </a:r>
            <a:endParaRPr dirty="0">
              <a:solidFill>
                <a:schemeClr val="tx1"/>
              </a:solidFill>
              <a:latin typeface="+mn-lt"/>
            </a:endParaRPr>
          </a:p>
        </p:txBody>
      </p:sp>
      <p:pic>
        <p:nvPicPr>
          <p:cNvPr id="578" name="Google Shape;578;p44" descr="Microbes Make Energy | Compost Tea &amp; the Soil Food Web"/>
          <p:cNvPicPr preferRelativeResize="0"/>
          <p:nvPr/>
        </p:nvPicPr>
        <p:blipFill rotWithShape="1">
          <a:blip r:embed="rId4">
            <a:alphaModFix/>
          </a:blip>
          <a:srcRect/>
          <a:stretch/>
        </p:blipFill>
        <p:spPr>
          <a:xfrm>
            <a:off x="4854140" y="5295677"/>
            <a:ext cx="1866700" cy="1358588"/>
          </a:xfrm>
          <a:prstGeom prst="rect">
            <a:avLst/>
          </a:prstGeom>
          <a:noFill/>
          <a:ln>
            <a:noFill/>
          </a:ln>
        </p:spPr>
      </p:pic>
      <p:pic>
        <p:nvPicPr>
          <p:cNvPr id="579" name="Google Shape;579;p44" descr="Tree health and ectomycorrhizal fungal communities - Forest Research"/>
          <p:cNvPicPr preferRelativeResize="0"/>
          <p:nvPr/>
        </p:nvPicPr>
        <p:blipFill rotWithShape="1">
          <a:blip r:embed="rId5">
            <a:alphaModFix/>
          </a:blip>
          <a:srcRect/>
          <a:stretch/>
        </p:blipFill>
        <p:spPr>
          <a:xfrm>
            <a:off x="819532" y="1557377"/>
            <a:ext cx="1648232" cy="1393553"/>
          </a:xfrm>
          <a:prstGeom prst="rect">
            <a:avLst/>
          </a:prstGeom>
          <a:noFill/>
          <a:ln>
            <a:noFill/>
          </a:ln>
        </p:spPr>
      </p:pic>
      <p:sp>
        <p:nvSpPr>
          <p:cNvPr id="2" name="Google Shape;551;p43">
            <a:extLst>
              <a:ext uri="{FF2B5EF4-FFF2-40B4-BE49-F238E27FC236}">
                <a16:creationId xmlns:a16="http://schemas.microsoft.com/office/drawing/2014/main" id="{796AAFFC-8489-C6E7-E677-F782AB4034D9}"/>
              </a:ext>
            </a:extLst>
          </p:cNvPr>
          <p:cNvSpPr txBox="1"/>
          <p:nvPr/>
        </p:nvSpPr>
        <p:spPr>
          <a:xfrm>
            <a:off x="0" y="16187"/>
            <a:ext cx="7431438"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j-lt"/>
                <a:ea typeface="Calibri"/>
                <a:cs typeface="Calibri"/>
                <a:sym typeface="Calibri"/>
              </a:rPr>
              <a:t>Challenging the dogma of inorganic nutrient use by plants</a:t>
            </a:r>
            <a:endParaRPr dirty="0">
              <a:solidFill>
                <a:srgbClr val="C00000"/>
              </a:solidFill>
              <a:latin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5"/>
          <p:cNvSpPr/>
          <p:nvPr/>
        </p:nvSpPr>
        <p:spPr>
          <a:xfrm>
            <a:off x="1097280" y="3429000"/>
            <a:ext cx="4826397" cy="3166110"/>
          </a:xfrm>
          <a:prstGeom prst="homePlate">
            <a:avLst>
              <a:gd name="adj"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5" name="Google Shape;585;p45"/>
          <p:cNvPicPr preferRelativeResize="0"/>
          <p:nvPr/>
        </p:nvPicPr>
        <p:blipFill rotWithShape="1">
          <a:blip r:embed="rId3">
            <a:alphaModFix/>
          </a:blip>
          <a:srcRect t="23994" b="13963"/>
          <a:stretch/>
        </p:blipFill>
        <p:spPr>
          <a:xfrm>
            <a:off x="1475906" y="1443038"/>
            <a:ext cx="2612912" cy="1621127"/>
          </a:xfrm>
          <a:prstGeom prst="rect">
            <a:avLst/>
          </a:prstGeom>
          <a:noFill/>
          <a:ln>
            <a:noFill/>
          </a:ln>
        </p:spPr>
      </p:pic>
      <p:sp>
        <p:nvSpPr>
          <p:cNvPr id="586" name="Google Shape;586;p45"/>
          <p:cNvSpPr txBox="1"/>
          <p:nvPr/>
        </p:nvSpPr>
        <p:spPr>
          <a:xfrm>
            <a:off x="1401849" y="3719393"/>
            <a:ext cx="3332676" cy="31392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dirty="0">
                <a:solidFill>
                  <a:schemeClr val="lt1"/>
                </a:solidFill>
                <a:latin typeface="+mn-lt"/>
                <a:ea typeface="Calibri"/>
                <a:cs typeface="Calibri"/>
                <a:sym typeface="Calibri"/>
              </a:rPr>
              <a:t>The chemical structure of the amino acid glycine</a:t>
            </a:r>
            <a:endParaRPr dirty="0">
              <a:latin typeface="+mn-lt"/>
            </a:endParaRPr>
          </a:p>
          <a:p>
            <a:pPr marL="0" marR="0" lvl="0" indent="0" algn="l" rtl="0">
              <a:spcBef>
                <a:spcPts val="0"/>
              </a:spcBef>
              <a:spcAft>
                <a:spcPts val="0"/>
              </a:spcAft>
              <a:buNone/>
            </a:pPr>
            <a:endParaRPr sz="1800" b="1" dirty="0">
              <a:solidFill>
                <a:schemeClr val="lt1"/>
              </a:solidFill>
              <a:latin typeface="+mn-lt"/>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GB" sz="1800" b="1" dirty="0">
                <a:solidFill>
                  <a:schemeClr val="lt1"/>
                </a:solidFill>
                <a:latin typeface="+mn-lt"/>
                <a:ea typeface="Calibri"/>
                <a:cs typeface="Calibri"/>
                <a:sym typeface="Calibri"/>
              </a:rPr>
              <a:t>It can be synthesised so it is ‘dual labelled’ i.e. it contains carbon-13 and nitrogen-15</a:t>
            </a:r>
            <a:endParaRPr dirty="0">
              <a:latin typeface="+mn-lt"/>
            </a:endParaRPr>
          </a:p>
          <a:p>
            <a:pPr marL="285750" marR="0" lvl="0" indent="-171450" algn="l" rtl="0">
              <a:spcBef>
                <a:spcPts val="0"/>
              </a:spcBef>
              <a:spcAft>
                <a:spcPts val="0"/>
              </a:spcAft>
              <a:buClr>
                <a:schemeClr val="dk1"/>
              </a:buClr>
              <a:buSzPts val="1800"/>
              <a:buFont typeface="Arial"/>
              <a:buNone/>
            </a:pPr>
            <a:endParaRPr sz="1800" b="1" dirty="0">
              <a:solidFill>
                <a:schemeClr val="lt1"/>
              </a:solidFill>
              <a:latin typeface="+mn-lt"/>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GB" sz="1800" b="1" dirty="0">
                <a:solidFill>
                  <a:schemeClr val="lt1"/>
                </a:solidFill>
                <a:latin typeface="+mn-lt"/>
                <a:ea typeface="Calibri"/>
                <a:cs typeface="Calibri"/>
                <a:sym typeface="Calibri"/>
              </a:rPr>
              <a:t>The ratio of </a:t>
            </a:r>
            <a:r>
              <a:rPr lang="en-GB" sz="1800" b="1" baseline="30000" dirty="0">
                <a:solidFill>
                  <a:schemeClr val="lt1"/>
                </a:solidFill>
                <a:latin typeface="+mn-lt"/>
                <a:ea typeface="Calibri"/>
                <a:cs typeface="Calibri"/>
                <a:sym typeface="Calibri"/>
              </a:rPr>
              <a:t>13</a:t>
            </a:r>
            <a:r>
              <a:rPr lang="en-GB" sz="1800" b="1" dirty="0">
                <a:solidFill>
                  <a:schemeClr val="lt1"/>
                </a:solidFill>
                <a:latin typeface="+mn-lt"/>
                <a:ea typeface="Calibri"/>
                <a:cs typeface="Calibri"/>
                <a:sym typeface="Calibri"/>
              </a:rPr>
              <a:t>C:</a:t>
            </a:r>
            <a:r>
              <a:rPr lang="en-GB" sz="1800" b="1" baseline="30000" dirty="0">
                <a:solidFill>
                  <a:schemeClr val="lt1"/>
                </a:solidFill>
                <a:latin typeface="+mn-lt"/>
                <a:ea typeface="Calibri"/>
                <a:cs typeface="Calibri"/>
                <a:sym typeface="Calibri"/>
              </a:rPr>
              <a:t>15</a:t>
            </a:r>
            <a:r>
              <a:rPr lang="en-GB" sz="1800" b="1" dirty="0">
                <a:solidFill>
                  <a:schemeClr val="lt1"/>
                </a:solidFill>
                <a:latin typeface="+mn-lt"/>
                <a:ea typeface="Calibri"/>
                <a:cs typeface="Calibri"/>
                <a:sym typeface="Calibri"/>
              </a:rPr>
              <a:t>N is constant</a:t>
            </a:r>
            <a:endParaRPr dirty="0">
              <a:latin typeface="+mn-lt"/>
            </a:endParaRPr>
          </a:p>
          <a:p>
            <a:pPr marL="0" marR="0" lvl="0" indent="0" algn="l" rtl="0">
              <a:spcBef>
                <a:spcPts val="0"/>
              </a:spcBef>
              <a:spcAft>
                <a:spcPts val="0"/>
              </a:spcAft>
              <a:buNone/>
            </a:pPr>
            <a:endParaRPr sz="1800" dirty="0">
              <a:solidFill>
                <a:schemeClr val="lt1"/>
              </a:solidFill>
              <a:latin typeface="+mn-lt"/>
              <a:ea typeface="Calibri"/>
              <a:cs typeface="Calibri"/>
              <a:sym typeface="Calibri"/>
            </a:endParaRPr>
          </a:p>
        </p:txBody>
      </p:sp>
      <p:grpSp>
        <p:nvGrpSpPr>
          <p:cNvPr id="587" name="Google Shape;587;p45"/>
          <p:cNvGrpSpPr/>
          <p:nvPr/>
        </p:nvGrpSpPr>
        <p:grpSpPr>
          <a:xfrm>
            <a:off x="5779661" y="205680"/>
            <a:ext cx="5321726" cy="6600731"/>
            <a:chOff x="4255660" y="205680"/>
            <a:chExt cx="5321726" cy="6600731"/>
          </a:xfrm>
        </p:grpSpPr>
        <p:pic>
          <p:nvPicPr>
            <p:cNvPr id="588" name="Google Shape;588;p45"/>
            <p:cNvPicPr preferRelativeResize="0"/>
            <p:nvPr/>
          </p:nvPicPr>
          <p:blipFill rotWithShape="1">
            <a:blip r:embed="rId4">
              <a:alphaModFix/>
            </a:blip>
            <a:srcRect/>
            <a:stretch/>
          </p:blipFill>
          <p:spPr>
            <a:xfrm>
              <a:off x="6055860" y="3835603"/>
              <a:ext cx="2327523" cy="2970808"/>
            </a:xfrm>
            <a:prstGeom prst="rect">
              <a:avLst/>
            </a:prstGeom>
            <a:noFill/>
            <a:ln>
              <a:noFill/>
            </a:ln>
          </p:spPr>
        </p:pic>
        <p:cxnSp>
          <p:nvCxnSpPr>
            <p:cNvPr id="589" name="Google Shape;589;p45"/>
            <p:cNvCxnSpPr/>
            <p:nvPr/>
          </p:nvCxnSpPr>
          <p:spPr>
            <a:xfrm>
              <a:off x="4399676" y="5296413"/>
              <a:ext cx="3888432" cy="0"/>
            </a:xfrm>
            <a:prstGeom prst="straightConnector1">
              <a:avLst/>
            </a:prstGeom>
            <a:noFill/>
            <a:ln w="25400" cap="flat" cmpd="sng">
              <a:solidFill>
                <a:srgbClr val="385623"/>
              </a:solidFill>
              <a:prstDash val="solid"/>
              <a:miter lim="800000"/>
              <a:headEnd type="none" w="sm" len="sm"/>
              <a:tailEnd type="none" w="sm" len="sm"/>
            </a:ln>
          </p:spPr>
        </p:cxnSp>
        <p:sp>
          <p:nvSpPr>
            <p:cNvPr id="590" name="Google Shape;590;p45"/>
            <p:cNvSpPr/>
            <p:nvPr/>
          </p:nvSpPr>
          <p:spPr>
            <a:xfrm>
              <a:off x="5474654" y="4754397"/>
              <a:ext cx="216024" cy="1224136"/>
            </a:xfrm>
            <a:prstGeom prst="down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1" name="Google Shape;591;p45"/>
            <p:cNvSpPr txBox="1"/>
            <p:nvPr/>
          </p:nvSpPr>
          <p:spPr>
            <a:xfrm>
              <a:off x="4255660" y="4000150"/>
              <a:ext cx="208823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n-lt"/>
                  <a:ea typeface="Calibri"/>
                  <a:cs typeface="Calibri"/>
                  <a:sym typeface="Calibri"/>
                </a:rPr>
                <a:t>Dual-labelled glycine injected into soil</a:t>
              </a:r>
              <a:endParaRPr dirty="0">
                <a:latin typeface="+mn-lt"/>
              </a:endParaRPr>
            </a:p>
          </p:txBody>
        </p:sp>
        <p:sp>
          <p:nvSpPr>
            <p:cNvPr id="592" name="Google Shape;592;p45"/>
            <p:cNvSpPr/>
            <p:nvPr/>
          </p:nvSpPr>
          <p:spPr>
            <a:xfrm rot="-5400000">
              <a:off x="6839325" y="3410463"/>
              <a:ext cx="760591" cy="418783"/>
            </a:xfrm>
            <a:prstGeom prst="rightArrow">
              <a:avLst>
                <a:gd name="adj1" fmla="val 50000"/>
                <a:gd name="adj2" fmla="val 50000"/>
              </a:avLst>
            </a:prstGeom>
            <a:solidFill>
              <a:srgbClr val="C00000"/>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593" name="Google Shape;593;p45"/>
            <p:cNvCxnSpPr/>
            <p:nvPr/>
          </p:nvCxnSpPr>
          <p:spPr>
            <a:xfrm>
              <a:off x="5582666" y="1912037"/>
              <a:ext cx="0" cy="1152128"/>
            </a:xfrm>
            <a:prstGeom prst="straightConnector1">
              <a:avLst/>
            </a:prstGeom>
            <a:noFill/>
            <a:ln w="22225" cap="flat" cmpd="sng">
              <a:solidFill>
                <a:schemeClr val="dk1"/>
              </a:solidFill>
              <a:prstDash val="solid"/>
              <a:miter lim="800000"/>
              <a:headEnd type="triangle" w="med" len="med"/>
              <a:tailEnd type="none" w="sm" len="sm"/>
            </a:ln>
          </p:spPr>
        </p:cxnSp>
        <p:cxnSp>
          <p:nvCxnSpPr>
            <p:cNvPr id="594" name="Google Shape;594;p45"/>
            <p:cNvCxnSpPr/>
            <p:nvPr/>
          </p:nvCxnSpPr>
          <p:spPr>
            <a:xfrm>
              <a:off x="5582666" y="3064165"/>
              <a:ext cx="2661742" cy="0"/>
            </a:xfrm>
            <a:prstGeom prst="straightConnector1">
              <a:avLst/>
            </a:prstGeom>
            <a:noFill/>
            <a:ln w="22225" cap="flat" cmpd="sng">
              <a:solidFill>
                <a:schemeClr val="dk1"/>
              </a:solidFill>
              <a:prstDash val="solid"/>
              <a:miter lim="800000"/>
              <a:headEnd type="none" w="sm" len="sm"/>
              <a:tailEnd type="triangle" w="med" len="med"/>
            </a:ln>
          </p:spPr>
        </p:cxnSp>
        <p:cxnSp>
          <p:nvCxnSpPr>
            <p:cNvPr id="595" name="Google Shape;595;p45"/>
            <p:cNvCxnSpPr/>
            <p:nvPr/>
          </p:nvCxnSpPr>
          <p:spPr>
            <a:xfrm rot="10800000" flipH="1">
              <a:off x="5582666" y="2128061"/>
              <a:ext cx="1941662" cy="936104"/>
            </a:xfrm>
            <a:prstGeom prst="straightConnector1">
              <a:avLst/>
            </a:prstGeom>
            <a:noFill/>
            <a:ln w="22225" cap="flat" cmpd="sng">
              <a:solidFill>
                <a:srgbClr val="FF0000"/>
              </a:solidFill>
              <a:prstDash val="solid"/>
              <a:miter lim="800000"/>
              <a:headEnd type="none" w="sm" len="sm"/>
              <a:tailEnd type="none" w="sm" len="sm"/>
            </a:ln>
          </p:spPr>
        </p:cxnSp>
        <p:sp>
          <p:nvSpPr>
            <p:cNvPr id="596" name="Google Shape;596;p45"/>
            <p:cNvSpPr txBox="1"/>
            <p:nvPr/>
          </p:nvSpPr>
          <p:spPr>
            <a:xfrm>
              <a:off x="5069409" y="2303435"/>
              <a:ext cx="62126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aseline="30000" dirty="0">
                  <a:solidFill>
                    <a:schemeClr val="dk1"/>
                  </a:solidFill>
                  <a:latin typeface="+mn-lt"/>
                  <a:ea typeface="Calibri"/>
                  <a:cs typeface="Calibri"/>
                  <a:sym typeface="Calibri"/>
                </a:rPr>
                <a:t>13</a:t>
              </a:r>
              <a:r>
                <a:rPr lang="en-GB" sz="1800" dirty="0">
                  <a:solidFill>
                    <a:schemeClr val="dk1"/>
                  </a:solidFill>
                  <a:latin typeface="+mn-lt"/>
                  <a:ea typeface="Calibri"/>
                  <a:cs typeface="Calibri"/>
                  <a:sym typeface="Calibri"/>
                </a:rPr>
                <a:t>C</a:t>
              </a:r>
              <a:endParaRPr dirty="0">
                <a:latin typeface="+mn-lt"/>
              </a:endParaRPr>
            </a:p>
          </p:txBody>
        </p:sp>
        <p:sp>
          <p:nvSpPr>
            <p:cNvPr id="597" name="Google Shape;597;p45"/>
            <p:cNvSpPr txBox="1"/>
            <p:nvPr/>
          </p:nvSpPr>
          <p:spPr>
            <a:xfrm>
              <a:off x="6342306" y="3110052"/>
              <a:ext cx="583466"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aseline="30000" dirty="0">
                  <a:solidFill>
                    <a:schemeClr val="dk1"/>
                  </a:solidFill>
                  <a:latin typeface="+mn-lt"/>
                  <a:ea typeface="Calibri"/>
                  <a:cs typeface="Calibri"/>
                  <a:sym typeface="Calibri"/>
                </a:rPr>
                <a:t>15</a:t>
              </a:r>
              <a:r>
                <a:rPr lang="en-GB" sz="1800" dirty="0">
                  <a:solidFill>
                    <a:schemeClr val="dk1"/>
                  </a:solidFill>
                  <a:latin typeface="+mn-lt"/>
                  <a:ea typeface="Calibri"/>
                  <a:cs typeface="Calibri"/>
                  <a:sym typeface="Calibri"/>
                </a:rPr>
                <a:t>N</a:t>
              </a:r>
              <a:endParaRPr dirty="0">
                <a:latin typeface="+mn-lt"/>
              </a:endParaRPr>
            </a:p>
          </p:txBody>
        </p:sp>
        <p:sp>
          <p:nvSpPr>
            <p:cNvPr id="598" name="Google Shape;598;p45"/>
            <p:cNvSpPr/>
            <p:nvPr/>
          </p:nvSpPr>
          <p:spPr>
            <a:xfrm>
              <a:off x="5852339" y="2786840"/>
              <a:ext cx="72008" cy="76654"/>
            </a:xfrm>
            <a:prstGeom prst="ellipse">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9" name="Google Shape;599;p45"/>
            <p:cNvSpPr/>
            <p:nvPr/>
          </p:nvSpPr>
          <p:spPr>
            <a:xfrm>
              <a:off x="6164560" y="2825167"/>
              <a:ext cx="72008" cy="76654"/>
            </a:xfrm>
            <a:prstGeom prst="ellipse">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00" name="Google Shape;600;p45"/>
            <p:cNvPicPr preferRelativeResize="0"/>
            <p:nvPr/>
          </p:nvPicPr>
          <p:blipFill rotWithShape="1">
            <a:blip r:embed="rId5">
              <a:alphaModFix/>
            </a:blip>
            <a:srcRect/>
            <a:stretch/>
          </p:blipFill>
          <p:spPr>
            <a:xfrm>
              <a:off x="6642805" y="2596113"/>
              <a:ext cx="96837" cy="103187"/>
            </a:xfrm>
            <a:prstGeom prst="rect">
              <a:avLst/>
            </a:prstGeom>
            <a:noFill/>
            <a:ln>
              <a:noFill/>
            </a:ln>
          </p:spPr>
        </p:pic>
        <p:sp>
          <p:nvSpPr>
            <p:cNvPr id="601" name="Google Shape;601;p45"/>
            <p:cNvSpPr/>
            <p:nvPr/>
          </p:nvSpPr>
          <p:spPr>
            <a:xfrm>
              <a:off x="6938221" y="2226781"/>
              <a:ext cx="72008" cy="76654"/>
            </a:xfrm>
            <a:prstGeom prst="ellipse">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2" name="Google Shape;602;p45"/>
            <p:cNvSpPr/>
            <p:nvPr/>
          </p:nvSpPr>
          <p:spPr>
            <a:xfrm>
              <a:off x="7488324" y="2191936"/>
              <a:ext cx="72008" cy="76654"/>
            </a:xfrm>
            <a:prstGeom prst="ellipse">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3" name="Google Shape;603;p45"/>
            <p:cNvSpPr txBox="1"/>
            <p:nvPr/>
          </p:nvSpPr>
          <p:spPr>
            <a:xfrm>
              <a:off x="4399676" y="205680"/>
              <a:ext cx="5177710" cy="156962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a:buChar char="•"/>
              </a:pPr>
              <a:r>
                <a:rPr lang="en-GB" sz="1600" dirty="0">
                  <a:solidFill>
                    <a:schemeClr val="dk1"/>
                  </a:solidFill>
                  <a:latin typeface="+mn-lt"/>
                  <a:ea typeface="Calibri"/>
                  <a:cs typeface="Calibri"/>
                  <a:sym typeface="Calibri"/>
                </a:rPr>
                <a:t>Analysis of leaves to measure amount of </a:t>
              </a:r>
              <a:r>
                <a:rPr lang="en-GB" sz="1600" baseline="30000" dirty="0">
                  <a:solidFill>
                    <a:schemeClr val="dk1"/>
                  </a:solidFill>
                  <a:latin typeface="+mn-lt"/>
                  <a:ea typeface="Calibri"/>
                  <a:cs typeface="Calibri"/>
                  <a:sym typeface="Calibri"/>
                </a:rPr>
                <a:t>13</a:t>
              </a:r>
              <a:r>
                <a:rPr lang="en-GB" sz="1600" dirty="0">
                  <a:solidFill>
                    <a:schemeClr val="dk1"/>
                  </a:solidFill>
                  <a:latin typeface="+mn-lt"/>
                  <a:ea typeface="Calibri"/>
                  <a:cs typeface="Calibri"/>
                  <a:sym typeface="Calibri"/>
                </a:rPr>
                <a:t>C and </a:t>
              </a:r>
              <a:r>
                <a:rPr lang="en-GB" sz="1600" baseline="30000" dirty="0">
                  <a:solidFill>
                    <a:schemeClr val="dk1"/>
                  </a:solidFill>
                  <a:latin typeface="+mn-lt"/>
                  <a:ea typeface="Calibri"/>
                  <a:cs typeface="Calibri"/>
                  <a:sym typeface="Calibri"/>
                </a:rPr>
                <a:t>15</a:t>
              </a:r>
              <a:r>
                <a:rPr lang="en-GB" sz="1600" dirty="0">
                  <a:solidFill>
                    <a:schemeClr val="dk1"/>
                  </a:solidFill>
                  <a:latin typeface="+mn-lt"/>
                  <a:ea typeface="Calibri"/>
                  <a:cs typeface="Calibri"/>
                  <a:sym typeface="Calibri"/>
                </a:rPr>
                <a:t>N</a:t>
              </a:r>
              <a:endParaRPr dirty="0">
                <a:latin typeface="+mn-lt"/>
              </a:endParaRPr>
            </a:p>
            <a:p>
              <a:pPr marL="285750" marR="0" lvl="0" indent="-285750" algn="l" rtl="0">
                <a:spcBef>
                  <a:spcPts val="0"/>
                </a:spcBef>
                <a:spcAft>
                  <a:spcPts val="0"/>
                </a:spcAft>
                <a:buClr>
                  <a:schemeClr val="dk1"/>
                </a:buClr>
                <a:buSzPts val="1600"/>
                <a:buFont typeface="Arial"/>
                <a:buChar char="•"/>
              </a:pPr>
              <a:r>
                <a:rPr lang="en-GB" sz="1600" dirty="0">
                  <a:solidFill>
                    <a:schemeClr val="dk1"/>
                  </a:solidFill>
                  <a:latin typeface="+mn-lt"/>
                  <a:ea typeface="Calibri"/>
                  <a:cs typeface="Calibri"/>
                  <a:sym typeface="Calibri"/>
                </a:rPr>
                <a:t>A constant </a:t>
              </a:r>
              <a:r>
                <a:rPr lang="en-GB" sz="1600" baseline="30000" dirty="0">
                  <a:solidFill>
                    <a:schemeClr val="dk1"/>
                  </a:solidFill>
                  <a:latin typeface="+mn-lt"/>
                  <a:ea typeface="Calibri"/>
                  <a:cs typeface="Calibri"/>
                  <a:sym typeface="Calibri"/>
                </a:rPr>
                <a:t>13</a:t>
              </a:r>
              <a:r>
                <a:rPr lang="en-GB" sz="1600" dirty="0">
                  <a:solidFill>
                    <a:schemeClr val="dk1"/>
                  </a:solidFill>
                  <a:latin typeface="+mn-lt"/>
                  <a:ea typeface="Calibri"/>
                  <a:cs typeface="Calibri"/>
                  <a:sym typeface="Calibri"/>
                </a:rPr>
                <a:t>C:</a:t>
              </a:r>
              <a:r>
                <a:rPr lang="en-GB" sz="1600" baseline="30000" dirty="0">
                  <a:solidFill>
                    <a:schemeClr val="dk1"/>
                  </a:solidFill>
                  <a:latin typeface="+mn-lt"/>
                  <a:ea typeface="Calibri"/>
                  <a:cs typeface="Calibri"/>
                  <a:sym typeface="Calibri"/>
                </a:rPr>
                <a:t>15</a:t>
              </a:r>
              <a:r>
                <a:rPr lang="en-GB" sz="1600" dirty="0">
                  <a:solidFill>
                    <a:schemeClr val="dk1"/>
                  </a:solidFill>
                  <a:latin typeface="+mn-lt"/>
                  <a:ea typeface="Calibri"/>
                  <a:cs typeface="Calibri"/>
                  <a:sym typeface="Calibri"/>
                </a:rPr>
                <a:t>N ratio equivalent to that of the substrate shows the molecule remained intact when taken up by plant roots/mycorrhiza</a:t>
              </a:r>
              <a:endParaRPr dirty="0">
                <a:latin typeface="+mn-lt"/>
              </a:endParaRPr>
            </a:p>
            <a:p>
              <a:pPr marL="285750" marR="0" lvl="0" indent="-285750" algn="l" rtl="0">
                <a:spcBef>
                  <a:spcPts val="0"/>
                </a:spcBef>
                <a:spcAft>
                  <a:spcPts val="0"/>
                </a:spcAft>
                <a:buClr>
                  <a:schemeClr val="dk1"/>
                </a:buClr>
                <a:buSzPts val="1600"/>
                <a:buFont typeface="Arial"/>
                <a:buChar char="•"/>
              </a:pPr>
              <a:r>
                <a:rPr lang="en-GB" sz="1600" dirty="0">
                  <a:solidFill>
                    <a:schemeClr val="dk1"/>
                  </a:solidFill>
                  <a:latin typeface="+mn-lt"/>
                  <a:ea typeface="Calibri"/>
                  <a:cs typeface="Calibri"/>
                  <a:sym typeface="Calibri"/>
                </a:rPr>
                <a:t>But absolute amounts taken up can vary</a:t>
              </a:r>
              <a:endParaRPr dirty="0">
                <a:latin typeface="+mn-lt"/>
              </a:endParaRPr>
            </a:p>
          </p:txBody>
        </p:sp>
      </p:grpSp>
      <p:sp>
        <p:nvSpPr>
          <p:cNvPr id="604" name="Google Shape;604;p45"/>
          <p:cNvSpPr txBox="1"/>
          <p:nvPr/>
        </p:nvSpPr>
        <p:spPr>
          <a:xfrm>
            <a:off x="1208038" y="214231"/>
            <a:ext cx="4411604"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C00000"/>
                </a:solidFill>
                <a:latin typeface="+mj-lt"/>
                <a:ea typeface="Calibri"/>
                <a:cs typeface="Calibri"/>
                <a:sym typeface="Calibri"/>
              </a:rPr>
              <a:t>Direct uptake of simple organic nitrogen forms</a:t>
            </a:r>
            <a:endParaRPr sz="1200" dirty="0">
              <a:solidFill>
                <a:srgbClr val="C00000"/>
              </a:solidFill>
              <a:latin typeface="+mj-lt"/>
            </a:endParaRPr>
          </a:p>
        </p:txBody>
      </p:sp>
      <p:pic>
        <p:nvPicPr>
          <p:cNvPr id="605" name="Google Shape;605;p45"/>
          <p:cNvPicPr preferRelativeResize="0"/>
          <p:nvPr/>
        </p:nvPicPr>
        <p:blipFill rotWithShape="1">
          <a:blip r:embed="rId6">
            <a:alphaModFix/>
          </a:blip>
          <a:srcRect/>
          <a:stretch/>
        </p:blipFill>
        <p:spPr>
          <a:xfrm>
            <a:off x="9768409" y="3491539"/>
            <a:ext cx="2407916" cy="1122755"/>
          </a:xfrm>
          <a:prstGeom prst="rect">
            <a:avLst/>
          </a:prstGeom>
          <a:noFill/>
          <a:ln>
            <a:noFill/>
          </a:ln>
        </p:spPr>
      </p:pic>
      <p:pic>
        <p:nvPicPr>
          <p:cNvPr id="606" name="Google Shape;606;p45"/>
          <p:cNvPicPr preferRelativeResize="0"/>
          <p:nvPr/>
        </p:nvPicPr>
        <p:blipFill rotWithShape="1">
          <a:blip r:embed="rId7">
            <a:alphaModFix/>
          </a:blip>
          <a:srcRect t="7724" b="1"/>
          <a:stretch/>
        </p:blipFill>
        <p:spPr>
          <a:xfrm>
            <a:off x="9725545" y="4614294"/>
            <a:ext cx="1627822" cy="2310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46"/>
          <p:cNvSpPr txBox="1">
            <a:spLocks noGrp="1"/>
          </p:cNvSpPr>
          <p:nvPr>
            <p:ph type="title"/>
          </p:nvPr>
        </p:nvSpPr>
        <p:spPr>
          <a:xfrm>
            <a:off x="0" y="-285750"/>
            <a:ext cx="12058650" cy="1336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GB" sz="2400" b="1" dirty="0">
                <a:solidFill>
                  <a:srgbClr val="C00000"/>
                </a:solidFill>
                <a:latin typeface="+mj-lt"/>
              </a:rPr>
              <a:t>Transfer of an </a:t>
            </a:r>
            <a:r>
              <a:rPr lang="en-GB" sz="2400" b="1" u="sng" dirty="0">
                <a:solidFill>
                  <a:srgbClr val="C00000"/>
                </a:solidFill>
                <a:latin typeface="+mj-lt"/>
              </a:rPr>
              <a:t>organic nitrogen</a:t>
            </a:r>
            <a:r>
              <a:rPr lang="en-GB" sz="2400" b="1" dirty="0">
                <a:solidFill>
                  <a:srgbClr val="C00000"/>
                </a:solidFill>
                <a:latin typeface="+mj-lt"/>
              </a:rPr>
              <a:t> molecule (an amino acid) by an ectomycorrhizal fungus (</a:t>
            </a:r>
            <a:r>
              <a:rPr lang="en-GB" sz="2400" b="1" i="1" dirty="0" err="1">
                <a:solidFill>
                  <a:srgbClr val="C00000"/>
                </a:solidFill>
                <a:latin typeface="+mj-lt"/>
              </a:rPr>
              <a:t>Paxillus</a:t>
            </a:r>
            <a:r>
              <a:rPr lang="en-GB" sz="2400" b="1" i="1" dirty="0">
                <a:solidFill>
                  <a:srgbClr val="C00000"/>
                </a:solidFill>
                <a:latin typeface="+mj-lt"/>
              </a:rPr>
              <a:t> </a:t>
            </a:r>
            <a:r>
              <a:rPr lang="en-GB" sz="2400" b="1" i="1" dirty="0" err="1">
                <a:solidFill>
                  <a:srgbClr val="C00000"/>
                </a:solidFill>
                <a:latin typeface="+mj-lt"/>
              </a:rPr>
              <a:t>involutus</a:t>
            </a:r>
            <a:r>
              <a:rPr lang="en-GB" sz="2400" b="1" dirty="0">
                <a:solidFill>
                  <a:srgbClr val="C00000"/>
                </a:solidFill>
                <a:latin typeface="+mj-lt"/>
              </a:rPr>
              <a:t>)  colonising a Scots pine seedling.</a:t>
            </a:r>
            <a:endParaRPr sz="3200" dirty="0">
              <a:solidFill>
                <a:srgbClr val="C00000"/>
              </a:solidFill>
              <a:latin typeface="+mj-lt"/>
            </a:endParaRPr>
          </a:p>
        </p:txBody>
      </p:sp>
      <p:sp>
        <p:nvSpPr>
          <p:cNvPr id="612" name="Google Shape;612;p46"/>
          <p:cNvSpPr txBox="1">
            <a:spLocks noGrp="1"/>
          </p:cNvSpPr>
          <p:nvPr>
            <p:ph type="body" idx="1"/>
          </p:nvPr>
        </p:nvSpPr>
        <p:spPr>
          <a:xfrm>
            <a:off x="5423516" y="4233543"/>
            <a:ext cx="2071702" cy="5365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sz="2400"/>
          </a:p>
        </p:txBody>
      </p:sp>
      <p:sp>
        <p:nvSpPr>
          <p:cNvPr id="613" name="Google Shape;613;p46"/>
          <p:cNvSpPr txBox="1"/>
          <p:nvPr/>
        </p:nvSpPr>
        <p:spPr>
          <a:xfrm>
            <a:off x="1804980" y="6000768"/>
            <a:ext cx="8434425"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dirty="0">
                <a:solidFill>
                  <a:schemeClr val="dk1"/>
                </a:solidFill>
                <a:latin typeface="+mj-lt"/>
                <a:ea typeface="Calibri"/>
                <a:cs typeface="Calibri"/>
                <a:sym typeface="Calibri"/>
              </a:rPr>
              <a:t>What controls nutrient movement in complex networks?</a:t>
            </a:r>
            <a:endParaRPr sz="2400" dirty="0">
              <a:latin typeface="+mj-lt"/>
            </a:endParaRPr>
          </a:p>
        </p:txBody>
      </p:sp>
      <p:pic>
        <p:nvPicPr>
          <p:cNvPr id="614" name="Google Shape;614;p46" descr="C:\Users\soi537\Pictures\Work\Experimental\Rosnida's microcosms\microcosms for AIB\Paxillus image overlay.jpg"/>
          <p:cNvPicPr preferRelativeResize="0"/>
          <p:nvPr/>
        </p:nvPicPr>
        <p:blipFill rotWithShape="1">
          <a:blip r:embed="rId3">
            <a:alphaModFix/>
          </a:blip>
          <a:srcRect b="4856"/>
          <a:stretch/>
        </p:blipFill>
        <p:spPr>
          <a:xfrm>
            <a:off x="3447256" y="850097"/>
            <a:ext cx="5297487" cy="515780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pic>
        <p:nvPicPr>
          <p:cNvPr id="619" name="Google Shape;619;p47" descr="uonc2small"/>
          <p:cNvPicPr preferRelativeResize="0"/>
          <p:nvPr/>
        </p:nvPicPr>
        <p:blipFill rotWithShape="1">
          <a:blip r:embed="rId3">
            <a:alphaModFix/>
          </a:blip>
          <a:srcRect/>
          <a:stretch/>
        </p:blipFill>
        <p:spPr>
          <a:xfrm>
            <a:off x="1524000" y="0"/>
            <a:ext cx="9144000" cy="6897688"/>
          </a:xfrm>
          <a:prstGeom prst="rect">
            <a:avLst/>
          </a:prstGeom>
          <a:noFill/>
          <a:ln>
            <a:noFill/>
          </a:ln>
        </p:spPr>
      </p:pic>
      <p:sp>
        <p:nvSpPr>
          <p:cNvPr id="620" name="Google Shape;620;p47"/>
          <p:cNvSpPr txBox="1"/>
          <p:nvPr/>
        </p:nvSpPr>
        <p:spPr>
          <a:xfrm>
            <a:off x="0" y="0"/>
            <a:ext cx="12191999"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j-lt"/>
                <a:ea typeface="Comic Sans MS"/>
                <a:cs typeface="Comic Sans MS"/>
                <a:sym typeface="Comic Sans MS"/>
              </a:rPr>
              <a:t>The N cycle in many natural or ‘semi-natural’ ecosystems is highly conservative and closed</a:t>
            </a:r>
            <a:endParaRPr sz="1600" dirty="0">
              <a:solidFill>
                <a:srgbClr val="C00000"/>
              </a:solidFill>
              <a:latin typeface="+mj-lt"/>
            </a:endParaRPr>
          </a:p>
        </p:txBody>
      </p:sp>
      <p:cxnSp>
        <p:nvCxnSpPr>
          <p:cNvPr id="621" name="Google Shape;621;p47"/>
          <p:cNvCxnSpPr/>
          <p:nvPr/>
        </p:nvCxnSpPr>
        <p:spPr>
          <a:xfrm rot="-7707222">
            <a:off x="6497237" y="4764418"/>
            <a:ext cx="618863" cy="1484377"/>
          </a:xfrm>
          <a:prstGeom prst="straightConnector1">
            <a:avLst/>
          </a:prstGeom>
          <a:noFill/>
          <a:ln w="190500" cap="flat" cmpd="sng">
            <a:solidFill>
              <a:srgbClr val="C00000"/>
            </a:solidFill>
            <a:prstDash val="solid"/>
            <a:round/>
            <a:headEnd type="none" w="med" len="med"/>
            <a:tailEnd type="triangle" w="med" len="med"/>
          </a:ln>
        </p:spPr>
      </p:cxnSp>
      <p:cxnSp>
        <p:nvCxnSpPr>
          <p:cNvPr id="622" name="Google Shape;622;p47"/>
          <p:cNvCxnSpPr/>
          <p:nvPr/>
        </p:nvCxnSpPr>
        <p:spPr>
          <a:xfrm rot="10800000">
            <a:off x="7924800" y="5105400"/>
            <a:ext cx="1066800" cy="152400"/>
          </a:xfrm>
          <a:prstGeom prst="straightConnector1">
            <a:avLst/>
          </a:prstGeom>
          <a:noFill/>
          <a:ln w="190500" cap="flat" cmpd="sng">
            <a:solidFill>
              <a:srgbClr val="C00000"/>
            </a:solidFill>
            <a:prstDash val="solid"/>
            <a:round/>
            <a:headEnd type="none" w="med" len="med"/>
            <a:tailEnd type="triangle" w="med" len="med"/>
          </a:ln>
        </p:spPr>
      </p:cxnSp>
      <p:sp>
        <p:nvSpPr>
          <p:cNvPr id="623" name="Google Shape;623;p47"/>
          <p:cNvSpPr/>
          <p:nvPr/>
        </p:nvSpPr>
        <p:spPr>
          <a:xfrm>
            <a:off x="7772400" y="5029200"/>
            <a:ext cx="152400" cy="152400"/>
          </a:xfrm>
          <a:prstGeom prst="rect">
            <a:avLst/>
          </a:prstGeom>
          <a:solidFill>
            <a:srgbClr val="FF66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4" name="Google Shape;624;p47"/>
          <p:cNvSpPr/>
          <p:nvPr/>
        </p:nvSpPr>
        <p:spPr>
          <a:xfrm>
            <a:off x="2895600" y="4419600"/>
            <a:ext cx="1676400" cy="1676400"/>
          </a:xfrm>
          <a:prstGeom prst="rect">
            <a:avLst/>
          </a:prstGeom>
          <a:gradFill>
            <a:gsLst>
              <a:gs pos="0">
                <a:srgbClr val="FF0000"/>
              </a:gs>
              <a:gs pos="100000">
                <a:srgbClr val="3366CC"/>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Arial"/>
                <a:ea typeface="Arial"/>
                <a:cs typeface="Arial"/>
                <a:sym typeface="Arial"/>
              </a:rPr>
              <a:t>Organic</a:t>
            </a:r>
            <a:endParaRPr/>
          </a:p>
          <a:p>
            <a:pPr marL="0" marR="0" lvl="0" indent="0" algn="ctr" rtl="0">
              <a:spcBef>
                <a:spcPts val="0"/>
              </a:spcBef>
              <a:spcAft>
                <a:spcPts val="0"/>
              </a:spcAft>
              <a:buNone/>
            </a:pPr>
            <a:r>
              <a:rPr lang="en-GB" sz="1800">
                <a:solidFill>
                  <a:schemeClr val="lt1"/>
                </a:solidFill>
                <a:latin typeface="Arial"/>
                <a:ea typeface="Arial"/>
                <a:cs typeface="Arial"/>
                <a:sym typeface="Arial"/>
              </a:rPr>
              <a:t>Nitrogen</a:t>
            </a:r>
            <a:endParaRPr/>
          </a:p>
        </p:txBody>
      </p:sp>
      <p:sp>
        <p:nvSpPr>
          <p:cNvPr id="625" name="Google Shape;625;p47"/>
          <p:cNvSpPr txBox="1"/>
          <p:nvPr/>
        </p:nvSpPr>
        <p:spPr>
          <a:xfrm>
            <a:off x="3048001" y="4387850"/>
            <a:ext cx="1425575"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lt1"/>
                </a:solidFill>
                <a:latin typeface="Arial"/>
                <a:ea typeface="Arial"/>
                <a:cs typeface="Arial"/>
                <a:sym typeface="Arial"/>
              </a:rPr>
              <a:t>Highly Labile</a:t>
            </a:r>
            <a:endParaRPr/>
          </a:p>
        </p:txBody>
      </p:sp>
      <p:sp>
        <p:nvSpPr>
          <p:cNvPr id="626" name="Google Shape;626;p47"/>
          <p:cNvSpPr txBox="1"/>
          <p:nvPr/>
        </p:nvSpPr>
        <p:spPr>
          <a:xfrm>
            <a:off x="3124201" y="5638801"/>
            <a:ext cx="1255713" cy="5810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lt1"/>
                </a:solidFill>
                <a:latin typeface="Arial"/>
                <a:ea typeface="Arial"/>
                <a:cs typeface="Arial"/>
                <a:sym typeface="Arial"/>
              </a:rPr>
              <a:t>Recalcitrant</a:t>
            </a:r>
            <a:endParaRPr/>
          </a:p>
          <a:p>
            <a:pPr marL="0" marR="0" lvl="0" indent="0" algn="l" rtl="0">
              <a:spcBef>
                <a:spcPts val="0"/>
              </a:spcBef>
              <a:spcAft>
                <a:spcPts val="0"/>
              </a:spcAft>
              <a:buNone/>
            </a:pPr>
            <a:endParaRPr sz="1600">
              <a:solidFill>
                <a:schemeClr val="lt1"/>
              </a:solidFill>
              <a:latin typeface="Arial"/>
              <a:ea typeface="Arial"/>
              <a:cs typeface="Arial"/>
              <a:sym typeface="Arial"/>
            </a:endParaRPr>
          </a:p>
        </p:txBody>
      </p:sp>
      <p:cxnSp>
        <p:nvCxnSpPr>
          <p:cNvPr id="627" name="Google Shape;627;p47"/>
          <p:cNvCxnSpPr/>
          <p:nvPr/>
        </p:nvCxnSpPr>
        <p:spPr>
          <a:xfrm>
            <a:off x="2895600" y="4724400"/>
            <a:ext cx="1676400" cy="0"/>
          </a:xfrm>
          <a:prstGeom prst="straightConnector1">
            <a:avLst/>
          </a:prstGeom>
          <a:noFill/>
          <a:ln w="12700" cap="flat" cmpd="sng">
            <a:solidFill>
              <a:schemeClr val="dk1"/>
            </a:solidFill>
            <a:prstDash val="dash"/>
            <a:round/>
            <a:headEnd type="none" w="med" len="med"/>
            <a:tailEnd type="none" w="med" len="med"/>
          </a:ln>
        </p:spPr>
      </p:cxnSp>
      <p:sp>
        <p:nvSpPr>
          <p:cNvPr id="628" name="Google Shape;628;p47"/>
          <p:cNvSpPr txBox="1"/>
          <p:nvPr/>
        </p:nvSpPr>
        <p:spPr>
          <a:xfrm>
            <a:off x="7561187" y="5369858"/>
            <a:ext cx="3106813"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dirty="0">
                <a:solidFill>
                  <a:schemeClr val="dk1"/>
                </a:solidFill>
                <a:latin typeface="+mn-lt"/>
                <a:ea typeface="Calibri"/>
                <a:cs typeface="Calibri"/>
                <a:sym typeface="Calibri"/>
              </a:rPr>
              <a:t>Little nitrification</a:t>
            </a:r>
            <a:endParaRPr sz="1200" dirty="0">
              <a:latin typeface="+mn-lt"/>
            </a:endParaRPr>
          </a:p>
          <a:p>
            <a:pPr marL="0" marR="0" lvl="0" indent="0" algn="l" rtl="0">
              <a:spcBef>
                <a:spcPts val="0"/>
              </a:spcBef>
              <a:spcAft>
                <a:spcPts val="0"/>
              </a:spcAft>
              <a:buNone/>
            </a:pPr>
            <a:r>
              <a:rPr lang="en-GB" sz="1800" b="1" dirty="0">
                <a:solidFill>
                  <a:schemeClr val="dk1"/>
                </a:solidFill>
                <a:latin typeface="+mn-lt"/>
                <a:ea typeface="Calibri"/>
                <a:cs typeface="Calibri"/>
                <a:sym typeface="Calibri"/>
              </a:rPr>
              <a:t>(conversion of NH4 to NO3)</a:t>
            </a:r>
            <a:endParaRPr sz="1200" dirty="0">
              <a:latin typeface="+mn-lt"/>
            </a:endParaRPr>
          </a:p>
        </p:txBody>
      </p:sp>
      <p:sp>
        <p:nvSpPr>
          <p:cNvPr id="629" name="Google Shape;629;p47"/>
          <p:cNvSpPr txBox="1"/>
          <p:nvPr/>
        </p:nvSpPr>
        <p:spPr>
          <a:xfrm>
            <a:off x="4691082" y="6108830"/>
            <a:ext cx="3767118"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dirty="0">
                <a:solidFill>
                  <a:schemeClr val="dk1"/>
                </a:solidFill>
                <a:latin typeface="+mn-lt"/>
                <a:ea typeface="Calibri"/>
                <a:cs typeface="Calibri"/>
                <a:sym typeface="Calibri"/>
              </a:rPr>
              <a:t>Little ammonification (conversion of organic N to NH4) </a:t>
            </a:r>
            <a:endParaRPr sz="1200" dirty="0">
              <a:latin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3"/>
        <p:cNvGrpSpPr/>
        <p:nvPr/>
      </p:nvGrpSpPr>
      <p:grpSpPr>
        <a:xfrm>
          <a:off x="0" y="0"/>
          <a:ext cx="0" cy="0"/>
          <a:chOff x="0" y="0"/>
          <a:chExt cx="0" cy="0"/>
        </a:xfrm>
      </p:grpSpPr>
      <p:sp>
        <p:nvSpPr>
          <p:cNvPr id="634" name="Google Shape;634;p4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5" name="Google Shape;635;p48"/>
          <p:cNvSpPr/>
          <p:nvPr/>
        </p:nvSpPr>
        <p:spPr>
          <a:xfrm>
            <a:off x="0" y="0"/>
            <a:ext cx="4693698" cy="6858000"/>
          </a:xfrm>
          <a:custGeom>
            <a:avLst/>
            <a:gdLst/>
            <a:ahLst/>
            <a:cxnLst/>
            <a:rect l="l" t="t" r="r" b="b"/>
            <a:pathLst>
              <a:path w="4693698" h="6858000" extrusionOk="0">
                <a:moveTo>
                  <a:pt x="0" y="0"/>
                </a:moveTo>
                <a:lnTo>
                  <a:pt x="420914" y="0"/>
                </a:lnTo>
                <a:lnTo>
                  <a:pt x="1582057" y="0"/>
                </a:lnTo>
                <a:lnTo>
                  <a:pt x="4503903" y="0"/>
                </a:lnTo>
                <a:lnTo>
                  <a:pt x="4508943" y="66675"/>
                </a:lnTo>
                <a:lnTo>
                  <a:pt x="4517340" y="122237"/>
                </a:lnTo>
                <a:lnTo>
                  <a:pt x="4527418" y="174625"/>
                </a:lnTo>
                <a:lnTo>
                  <a:pt x="4544214" y="217487"/>
                </a:lnTo>
                <a:lnTo>
                  <a:pt x="4561010" y="260350"/>
                </a:lnTo>
                <a:lnTo>
                  <a:pt x="4581165" y="296862"/>
                </a:lnTo>
                <a:lnTo>
                  <a:pt x="4601320" y="334962"/>
                </a:lnTo>
                <a:lnTo>
                  <a:pt x="4619796" y="369887"/>
                </a:lnTo>
                <a:lnTo>
                  <a:pt x="4638271" y="409575"/>
                </a:lnTo>
                <a:lnTo>
                  <a:pt x="4655067" y="450850"/>
                </a:lnTo>
                <a:lnTo>
                  <a:pt x="4670184" y="496887"/>
                </a:lnTo>
                <a:lnTo>
                  <a:pt x="4681941" y="546100"/>
                </a:lnTo>
                <a:lnTo>
                  <a:pt x="4690339" y="606425"/>
                </a:lnTo>
                <a:lnTo>
                  <a:pt x="4693698" y="673100"/>
                </a:lnTo>
                <a:lnTo>
                  <a:pt x="4690339" y="744537"/>
                </a:lnTo>
                <a:lnTo>
                  <a:pt x="4681941" y="801687"/>
                </a:lnTo>
                <a:lnTo>
                  <a:pt x="4670184" y="854075"/>
                </a:lnTo>
                <a:lnTo>
                  <a:pt x="4655067" y="901700"/>
                </a:lnTo>
                <a:lnTo>
                  <a:pt x="4638271" y="942975"/>
                </a:lnTo>
                <a:lnTo>
                  <a:pt x="4618116" y="981075"/>
                </a:lnTo>
                <a:lnTo>
                  <a:pt x="4597961" y="1017587"/>
                </a:lnTo>
                <a:lnTo>
                  <a:pt x="4577806" y="1055687"/>
                </a:lnTo>
                <a:lnTo>
                  <a:pt x="4559330" y="1095375"/>
                </a:lnTo>
                <a:lnTo>
                  <a:pt x="4540854" y="1136650"/>
                </a:lnTo>
                <a:lnTo>
                  <a:pt x="4525739" y="1182687"/>
                </a:lnTo>
                <a:lnTo>
                  <a:pt x="4515661" y="1235075"/>
                </a:lnTo>
                <a:lnTo>
                  <a:pt x="4505583" y="1295400"/>
                </a:lnTo>
                <a:lnTo>
                  <a:pt x="4503903" y="1363662"/>
                </a:lnTo>
                <a:lnTo>
                  <a:pt x="4505583" y="1431925"/>
                </a:lnTo>
                <a:lnTo>
                  <a:pt x="4515661" y="1492250"/>
                </a:lnTo>
                <a:lnTo>
                  <a:pt x="4525739" y="1544637"/>
                </a:lnTo>
                <a:lnTo>
                  <a:pt x="4540854" y="1589087"/>
                </a:lnTo>
                <a:lnTo>
                  <a:pt x="4559330" y="1631950"/>
                </a:lnTo>
                <a:lnTo>
                  <a:pt x="4577806" y="1671637"/>
                </a:lnTo>
                <a:lnTo>
                  <a:pt x="4597961" y="1708150"/>
                </a:lnTo>
                <a:lnTo>
                  <a:pt x="4618116" y="1743075"/>
                </a:lnTo>
                <a:lnTo>
                  <a:pt x="4638271" y="1782762"/>
                </a:lnTo>
                <a:lnTo>
                  <a:pt x="4655067" y="1824037"/>
                </a:lnTo>
                <a:lnTo>
                  <a:pt x="4670184" y="1870075"/>
                </a:lnTo>
                <a:lnTo>
                  <a:pt x="4681941" y="1922462"/>
                </a:lnTo>
                <a:lnTo>
                  <a:pt x="4690339" y="1982787"/>
                </a:lnTo>
                <a:lnTo>
                  <a:pt x="4693698" y="2051050"/>
                </a:lnTo>
                <a:lnTo>
                  <a:pt x="4690339" y="2119312"/>
                </a:lnTo>
                <a:lnTo>
                  <a:pt x="4681941" y="2179637"/>
                </a:lnTo>
                <a:lnTo>
                  <a:pt x="4670184" y="2232025"/>
                </a:lnTo>
                <a:lnTo>
                  <a:pt x="4655067" y="2278062"/>
                </a:lnTo>
                <a:lnTo>
                  <a:pt x="4638271" y="2319337"/>
                </a:lnTo>
                <a:lnTo>
                  <a:pt x="4618116" y="2359025"/>
                </a:lnTo>
                <a:lnTo>
                  <a:pt x="4597961" y="2395537"/>
                </a:lnTo>
                <a:lnTo>
                  <a:pt x="4577806" y="2433637"/>
                </a:lnTo>
                <a:lnTo>
                  <a:pt x="4559330" y="2471737"/>
                </a:lnTo>
                <a:lnTo>
                  <a:pt x="4540854" y="2513012"/>
                </a:lnTo>
                <a:lnTo>
                  <a:pt x="4525739" y="2560637"/>
                </a:lnTo>
                <a:lnTo>
                  <a:pt x="4515661" y="2613025"/>
                </a:lnTo>
                <a:lnTo>
                  <a:pt x="4505583" y="2671762"/>
                </a:lnTo>
                <a:lnTo>
                  <a:pt x="4503903" y="2741612"/>
                </a:lnTo>
                <a:lnTo>
                  <a:pt x="4505583" y="2809875"/>
                </a:lnTo>
                <a:lnTo>
                  <a:pt x="4515661" y="2868612"/>
                </a:lnTo>
                <a:lnTo>
                  <a:pt x="4525739" y="2922587"/>
                </a:lnTo>
                <a:lnTo>
                  <a:pt x="4540854" y="2967037"/>
                </a:lnTo>
                <a:lnTo>
                  <a:pt x="4559330" y="3009900"/>
                </a:lnTo>
                <a:lnTo>
                  <a:pt x="4577806" y="3046412"/>
                </a:lnTo>
                <a:lnTo>
                  <a:pt x="4597961" y="3084512"/>
                </a:lnTo>
                <a:lnTo>
                  <a:pt x="4618116" y="3121025"/>
                </a:lnTo>
                <a:lnTo>
                  <a:pt x="4638271" y="3160712"/>
                </a:lnTo>
                <a:lnTo>
                  <a:pt x="4655067" y="3201987"/>
                </a:lnTo>
                <a:lnTo>
                  <a:pt x="4670184" y="3248025"/>
                </a:lnTo>
                <a:lnTo>
                  <a:pt x="4681941" y="3300412"/>
                </a:lnTo>
                <a:lnTo>
                  <a:pt x="4690339" y="3360737"/>
                </a:lnTo>
                <a:lnTo>
                  <a:pt x="4693698" y="3427412"/>
                </a:lnTo>
                <a:lnTo>
                  <a:pt x="4690339" y="3497262"/>
                </a:lnTo>
                <a:lnTo>
                  <a:pt x="4681941" y="3557587"/>
                </a:lnTo>
                <a:lnTo>
                  <a:pt x="4670184" y="3609975"/>
                </a:lnTo>
                <a:lnTo>
                  <a:pt x="4655067" y="3656012"/>
                </a:lnTo>
                <a:lnTo>
                  <a:pt x="4638271" y="3697287"/>
                </a:lnTo>
                <a:lnTo>
                  <a:pt x="4618116" y="3736975"/>
                </a:lnTo>
                <a:lnTo>
                  <a:pt x="4577806" y="3811587"/>
                </a:lnTo>
                <a:lnTo>
                  <a:pt x="4559330" y="3848100"/>
                </a:lnTo>
                <a:lnTo>
                  <a:pt x="4540854" y="3890962"/>
                </a:lnTo>
                <a:lnTo>
                  <a:pt x="4525739" y="3935412"/>
                </a:lnTo>
                <a:lnTo>
                  <a:pt x="4515661" y="3987800"/>
                </a:lnTo>
                <a:lnTo>
                  <a:pt x="4505583" y="4048125"/>
                </a:lnTo>
                <a:lnTo>
                  <a:pt x="4503903" y="4116387"/>
                </a:lnTo>
                <a:lnTo>
                  <a:pt x="4505583" y="4186237"/>
                </a:lnTo>
                <a:lnTo>
                  <a:pt x="4515661" y="4244975"/>
                </a:lnTo>
                <a:lnTo>
                  <a:pt x="4525739" y="4297362"/>
                </a:lnTo>
                <a:lnTo>
                  <a:pt x="4540854" y="4343400"/>
                </a:lnTo>
                <a:lnTo>
                  <a:pt x="4559330" y="4386262"/>
                </a:lnTo>
                <a:lnTo>
                  <a:pt x="4577806" y="4424362"/>
                </a:lnTo>
                <a:lnTo>
                  <a:pt x="4618116" y="4498975"/>
                </a:lnTo>
                <a:lnTo>
                  <a:pt x="4638271" y="4537075"/>
                </a:lnTo>
                <a:lnTo>
                  <a:pt x="4655067" y="4579937"/>
                </a:lnTo>
                <a:lnTo>
                  <a:pt x="4670184" y="4625975"/>
                </a:lnTo>
                <a:lnTo>
                  <a:pt x="4681941" y="4678362"/>
                </a:lnTo>
                <a:lnTo>
                  <a:pt x="4690339" y="4738687"/>
                </a:lnTo>
                <a:lnTo>
                  <a:pt x="4693698" y="4806950"/>
                </a:lnTo>
                <a:lnTo>
                  <a:pt x="4690339" y="4875212"/>
                </a:lnTo>
                <a:lnTo>
                  <a:pt x="4681941" y="4935537"/>
                </a:lnTo>
                <a:lnTo>
                  <a:pt x="4670184" y="4987925"/>
                </a:lnTo>
                <a:lnTo>
                  <a:pt x="4655067" y="5033962"/>
                </a:lnTo>
                <a:lnTo>
                  <a:pt x="4638271" y="5075237"/>
                </a:lnTo>
                <a:lnTo>
                  <a:pt x="4618116" y="5114925"/>
                </a:lnTo>
                <a:lnTo>
                  <a:pt x="4597961" y="5149850"/>
                </a:lnTo>
                <a:lnTo>
                  <a:pt x="4577806" y="5186362"/>
                </a:lnTo>
                <a:lnTo>
                  <a:pt x="4559330" y="5226050"/>
                </a:lnTo>
                <a:lnTo>
                  <a:pt x="4540854" y="5268912"/>
                </a:lnTo>
                <a:lnTo>
                  <a:pt x="4525739" y="5313362"/>
                </a:lnTo>
                <a:lnTo>
                  <a:pt x="4515661" y="5365750"/>
                </a:lnTo>
                <a:lnTo>
                  <a:pt x="4505583" y="5426075"/>
                </a:lnTo>
                <a:lnTo>
                  <a:pt x="4503903" y="5494337"/>
                </a:lnTo>
                <a:lnTo>
                  <a:pt x="4505583" y="5562600"/>
                </a:lnTo>
                <a:lnTo>
                  <a:pt x="4515661" y="5622925"/>
                </a:lnTo>
                <a:lnTo>
                  <a:pt x="4525739" y="5675312"/>
                </a:lnTo>
                <a:lnTo>
                  <a:pt x="4540854" y="5721350"/>
                </a:lnTo>
                <a:lnTo>
                  <a:pt x="4559330" y="5762625"/>
                </a:lnTo>
                <a:lnTo>
                  <a:pt x="4577806" y="5802312"/>
                </a:lnTo>
                <a:lnTo>
                  <a:pt x="4597961" y="5840412"/>
                </a:lnTo>
                <a:lnTo>
                  <a:pt x="4618116" y="5876925"/>
                </a:lnTo>
                <a:lnTo>
                  <a:pt x="4638271" y="5915025"/>
                </a:lnTo>
                <a:lnTo>
                  <a:pt x="4655067" y="5956300"/>
                </a:lnTo>
                <a:lnTo>
                  <a:pt x="4670184" y="6003925"/>
                </a:lnTo>
                <a:lnTo>
                  <a:pt x="4681941" y="6056312"/>
                </a:lnTo>
                <a:lnTo>
                  <a:pt x="4690339" y="6113462"/>
                </a:lnTo>
                <a:lnTo>
                  <a:pt x="4693698" y="6183312"/>
                </a:lnTo>
                <a:lnTo>
                  <a:pt x="4690339" y="6251575"/>
                </a:lnTo>
                <a:lnTo>
                  <a:pt x="4681941" y="6311900"/>
                </a:lnTo>
                <a:lnTo>
                  <a:pt x="4670184" y="6361112"/>
                </a:lnTo>
                <a:lnTo>
                  <a:pt x="4655067" y="6407150"/>
                </a:lnTo>
                <a:lnTo>
                  <a:pt x="4638271" y="6448425"/>
                </a:lnTo>
                <a:lnTo>
                  <a:pt x="4619796" y="6488112"/>
                </a:lnTo>
                <a:lnTo>
                  <a:pt x="4601320" y="6523037"/>
                </a:lnTo>
                <a:lnTo>
                  <a:pt x="4581165" y="6561137"/>
                </a:lnTo>
                <a:lnTo>
                  <a:pt x="4561010" y="6597650"/>
                </a:lnTo>
                <a:lnTo>
                  <a:pt x="4544214" y="6640512"/>
                </a:lnTo>
                <a:lnTo>
                  <a:pt x="4527418" y="6683375"/>
                </a:lnTo>
                <a:lnTo>
                  <a:pt x="4517340" y="6735762"/>
                </a:lnTo>
                <a:lnTo>
                  <a:pt x="4508943" y="6791325"/>
                </a:lnTo>
                <a:lnTo>
                  <a:pt x="4503903" y="6858000"/>
                </a:lnTo>
                <a:lnTo>
                  <a:pt x="1582057" y="6858000"/>
                </a:lnTo>
                <a:lnTo>
                  <a:pt x="420914" y="6858000"/>
                </a:lnTo>
                <a:lnTo>
                  <a:pt x="0" y="685800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6" name="Google Shape;636;p48"/>
          <p:cNvSpPr/>
          <p:nvPr/>
        </p:nvSpPr>
        <p:spPr>
          <a:xfrm flipH="1">
            <a:off x="0" y="0"/>
            <a:ext cx="4838076" cy="6858000"/>
          </a:xfrm>
          <a:custGeom>
            <a:avLst/>
            <a:gdLst/>
            <a:ahLst/>
            <a:cxnLst/>
            <a:rect l="l" t="t" r="r" b="b"/>
            <a:pathLst>
              <a:path w="4838076" h="6858000" extrusionOk="0">
                <a:moveTo>
                  <a:pt x="4838076" y="0"/>
                </a:moveTo>
                <a:lnTo>
                  <a:pt x="4417162" y="0"/>
                </a:lnTo>
                <a:lnTo>
                  <a:pt x="3459219" y="0"/>
                </a:ln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3459219" y="6858000"/>
                </a:lnTo>
                <a:lnTo>
                  <a:pt x="4417162" y="6858000"/>
                </a:lnTo>
                <a:lnTo>
                  <a:pt x="4838076" y="6858000"/>
                </a:lnTo>
                <a:close/>
              </a:path>
            </a:pathLst>
          </a:custGeom>
          <a:solidFill>
            <a:srgbClr val="1F3864">
              <a:alpha val="2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637" name="Google Shape;637;p48"/>
          <p:cNvSpPr txBox="1"/>
          <p:nvPr/>
        </p:nvSpPr>
        <p:spPr>
          <a:xfrm>
            <a:off x="228599" y="341257"/>
            <a:ext cx="4014787" cy="14921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GB" sz="2400" dirty="0">
                <a:solidFill>
                  <a:schemeClr val="lt1"/>
                </a:solidFill>
                <a:latin typeface="+mn-lt"/>
                <a:ea typeface="Calibri"/>
                <a:cs typeface="Calibri"/>
                <a:sym typeface="Calibri"/>
              </a:rPr>
              <a:t>Many crop plants evolved to associate with mycorrhizal fungi……</a:t>
            </a:r>
            <a:endParaRPr dirty="0">
              <a:latin typeface="+mn-lt"/>
            </a:endParaRPr>
          </a:p>
        </p:txBody>
      </p:sp>
      <p:sp>
        <p:nvSpPr>
          <p:cNvPr id="638" name="Google Shape;638;p48"/>
          <p:cNvSpPr txBox="1"/>
          <p:nvPr/>
        </p:nvSpPr>
        <p:spPr>
          <a:xfrm>
            <a:off x="339455" y="2816932"/>
            <a:ext cx="4014788" cy="305752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2000"/>
              <a:buFont typeface="Arial"/>
              <a:buChar char="•"/>
            </a:pPr>
            <a:r>
              <a:rPr lang="en-GB" sz="2000" dirty="0">
                <a:solidFill>
                  <a:schemeClr val="lt1"/>
                </a:solidFill>
                <a:latin typeface="+mn-lt"/>
                <a:ea typeface="Calibri"/>
                <a:cs typeface="Calibri"/>
                <a:sym typeface="Calibri"/>
              </a:rPr>
              <a:t>Major cereal crops are all grasses in the Family </a:t>
            </a:r>
            <a:r>
              <a:rPr lang="en-GB" sz="2000" i="1" dirty="0" err="1">
                <a:solidFill>
                  <a:schemeClr val="lt1"/>
                </a:solidFill>
                <a:latin typeface="+mn-lt"/>
                <a:ea typeface="Calibri"/>
                <a:cs typeface="Calibri"/>
                <a:sym typeface="Calibri"/>
              </a:rPr>
              <a:t>Poaceae</a:t>
            </a:r>
            <a:r>
              <a:rPr lang="en-GB" sz="2000" dirty="0">
                <a:solidFill>
                  <a:schemeClr val="lt1"/>
                </a:solidFill>
                <a:latin typeface="+mn-lt"/>
                <a:ea typeface="Calibri"/>
                <a:cs typeface="Calibri"/>
                <a:sym typeface="Calibri"/>
              </a:rPr>
              <a:t>)</a:t>
            </a:r>
          </a:p>
          <a:p>
            <a:pPr marL="0" marR="0" lvl="0" indent="0" algn="l" rtl="0">
              <a:lnSpc>
                <a:spcPct val="90000"/>
              </a:lnSpc>
              <a:spcBef>
                <a:spcPts val="0"/>
              </a:spcBef>
              <a:spcAft>
                <a:spcPts val="0"/>
              </a:spcAft>
              <a:buClr>
                <a:schemeClr val="lt1"/>
              </a:buClr>
              <a:buSzPts val="2000"/>
              <a:buFont typeface="Arial"/>
              <a:buChar char="•"/>
            </a:pPr>
            <a:endParaRPr dirty="0">
              <a:latin typeface="+mn-lt"/>
            </a:endParaRPr>
          </a:p>
          <a:p>
            <a:pPr marL="0" marR="0" lvl="0" indent="0" algn="l" rtl="0">
              <a:lnSpc>
                <a:spcPct val="90000"/>
              </a:lnSpc>
              <a:spcBef>
                <a:spcPts val="600"/>
              </a:spcBef>
              <a:spcAft>
                <a:spcPts val="0"/>
              </a:spcAft>
              <a:buClr>
                <a:schemeClr val="lt1"/>
              </a:buClr>
              <a:buSzPts val="2000"/>
              <a:buFont typeface="Arial"/>
              <a:buChar char="•"/>
            </a:pPr>
            <a:r>
              <a:rPr lang="en-GB" sz="2000" dirty="0">
                <a:solidFill>
                  <a:schemeClr val="lt1"/>
                </a:solidFill>
                <a:latin typeface="+mn-lt"/>
                <a:ea typeface="Calibri"/>
                <a:cs typeface="Calibri"/>
                <a:sym typeface="Calibri"/>
              </a:rPr>
              <a:t>The ‘wild types’ are highly dependent on mycorrhizal fungi</a:t>
            </a:r>
          </a:p>
          <a:p>
            <a:pPr marL="0" marR="0" lvl="0" indent="0" algn="l" rtl="0">
              <a:lnSpc>
                <a:spcPct val="90000"/>
              </a:lnSpc>
              <a:spcBef>
                <a:spcPts val="600"/>
              </a:spcBef>
              <a:spcAft>
                <a:spcPts val="0"/>
              </a:spcAft>
              <a:buClr>
                <a:schemeClr val="lt1"/>
              </a:buClr>
              <a:buSzPts val="2000"/>
              <a:buFont typeface="Arial"/>
              <a:buChar char="•"/>
            </a:pPr>
            <a:endParaRPr dirty="0">
              <a:latin typeface="+mn-lt"/>
            </a:endParaRPr>
          </a:p>
          <a:p>
            <a:pPr marL="0" marR="0" lvl="0" indent="0" algn="l" rtl="0">
              <a:lnSpc>
                <a:spcPct val="90000"/>
              </a:lnSpc>
              <a:spcBef>
                <a:spcPts val="600"/>
              </a:spcBef>
              <a:spcAft>
                <a:spcPts val="0"/>
              </a:spcAft>
              <a:buClr>
                <a:schemeClr val="lt1"/>
              </a:buClr>
              <a:buSzPts val="2000"/>
              <a:buFont typeface="Arial"/>
              <a:buChar char="•"/>
            </a:pPr>
            <a:r>
              <a:rPr lang="en-GB" sz="2000" dirty="0">
                <a:solidFill>
                  <a:schemeClr val="lt1"/>
                </a:solidFill>
                <a:latin typeface="+mn-lt"/>
                <a:ea typeface="Calibri"/>
                <a:cs typeface="Calibri"/>
                <a:sym typeface="Calibri"/>
              </a:rPr>
              <a:t>There is evidence that thousands of years of breeding has reduced (but not eliminated) this dependency</a:t>
            </a:r>
            <a:endParaRPr dirty="0">
              <a:latin typeface="+mn-lt"/>
            </a:endParaRPr>
          </a:p>
          <a:p>
            <a:pPr marL="0" marR="0" lvl="0" indent="127000" algn="l" rtl="0">
              <a:lnSpc>
                <a:spcPct val="90000"/>
              </a:lnSpc>
              <a:spcBef>
                <a:spcPts val="600"/>
              </a:spcBef>
              <a:spcAft>
                <a:spcPts val="0"/>
              </a:spcAft>
              <a:buClr>
                <a:schemeClr val="dk1"/>
              </a:buClr>
              <a:buSzPts val="2000"/>
              <a:buFont typeface="Arial"/>
              <a:buNone/>
            </a:pPr>
            <a:endParaRPr sz="2000" dirty="0">
              <a:solidFill>
                <a:schemeClr val="lt1"/>
              </a:solidFill>
              <a:latin typeface="+mn-lt"/>
              <a:ea typeface="Calibri"/>
              <a:cs typeface="Calibri"/>
              <a:sym typeface="Calibri"/>
            </a:endParaRPr>
          </a:p>
        </p:txBody>
      </p:sp>
      <p:pic>
        <p:nvPicPr>
          <p:cNvPr id="639" name="Google Shape;639;p48"/>
          <p:cNvPicPr preferRelativeResize="0">
            <a:picLocks noChangeAspect="1"/>
          </p:cNvPicPr>
          <p:nvPr/>
        </p:nvPicPr>
        <p:blipFill rotWithShape="1">
          <a:blip r:embed="rId3">
            <a:alphaModFix/>
          </a:blip>
          <a:srcRect/>
          <a:stretch/>
        </p:blipFill>
        <p:spPr>
          <a:xfrm>
            <a:off x="5326363" y="341257"/>
            <a:ext cx="6281379" cy="628137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3"/>
        <p:cNvGrpSpPr/>
        <p:nvPr/>
      </p:nvGrpSpPr>
      <p:grpSpPr>
        <a:xfrm>
          <a:off x="0" y="0"/>
          <a:ext cx="0" cy="0"/>
          <a:chOff x="0" y="0"/>
          <a:chExt cx="0" cy="0"/>
        </a:xfrm>
      </p:grpSpPr>
      <p:sp>
        <p:nvSpPr>
          <p:cNvPr id="644" name="Google Shape;644;p49"/>
          <p:cNvSpPr/>
          <p:nvPr/>
        </p:nvSpPr>
        <p:spPr>
          <a:xfrm>
            <a:off x="0" y="0"/>
            <a:ext cx="4966290" cy="6858000"/>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45" name="Google Shape;645;p49" descr="Heinz Baked Beans">
            <a:hlinkClick r:id="rId3"/>
          </p:cNvPr>
          <p:cNvPicPr preferRelativeResize="0"/>
          <p:nvPr/>
        </p:nvPicPr>
        <p:blipFill rotWithShape="1">
          <a:blip r:embed="rId4">
            <a:alphaModFix/>
          </a:blip>
          <a:srcRect/>
          <a:stretch/>
        </p:blipFill>
        <p:spPr>
          <a:xfrm>
            <a:off x="8079949" y="508443"/>
            <a:ext cx="4112051" cy="5841114"/>
          </a:xfrm>
          <a:custGeom>
            <a:avLst/>
            <a:gdLst/>
            <a:ahLst/>
            <a:cxnLst/>
            <a:rect l="l" t="t" r="r" b="b"/>
            <a:pathLst>
              <a:path w="4827922" h="6858000" extrusionOk="0">
                <a:moveTo>
                  <a:pt x="4441" y="0"/>
                </a:moveTo>
                <a:lnTo>
                  <a:pt x="4827922" y="0"/>
                </a:lnTo>
                <a:lnTo>
                  <a:pt x="4827922"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a:noFill/>
          <a:ln>
            <a:noFill/>
          </a:ln>
        </p:spPr>
      </p:pic>
      <p:pic>
        <p:nvPicPr>
          <p:cNvPr id="646" name="Google Shape;646;p49" descr="http://3.bp.blogspot.com/-CbArp1lIHOs/T06tfyrJ5RI/AAAAAAAABWc/YTEN5ABDJUs/s1600/soybean.jpg"/>
          <p:cNvPicPr preferRelativeResize="0"/>
          <p:nvPr/>
        </p:nvPicPr>
        <p:blipFill rotWithShape="1">
          <a:blip r:embed="rId5">
            <a:alphaModFix/>
          </a:blip>
          <a:srcRect/>
          <a:stretch/>
        </p:blipFill>
        <p:spPr>
          <a:xfrm>
            <a:off x="3945815" y="1"/>
            <a:ext cx="4966290" cy="6857999"/>
          </a:xfrm>
          <a:custGeom>
            <a:avLst/>
            <a:gdLst/>
            <a:ahLst/>
            <a:cxnLst/>
            <a:rect l="l" t="t" r="r" b="b"/>
            <a:pathLst>
              <a:path w="4966290" h="6857999" extrusionOk="0">
                <a:moveTo>
                  <a:pt x="0" y="0"/>
                </a:moveTo>
                <a:lnTo>
                  <a:pt x="4188230" y="0"/>
                </a:lnTo>
                <a:lnTo>
                  <a:pt x="4295735" y="210478"/>
                </a:lnTo>
                <a:cubicBezTo>
                  <a:pt x="4719089" y="1127919"/>
                  <a:pt x="4966290" y="2233909"/>
                  <a:pt x="4966290" y="3424428"/>
                </a:cubicBezTo>
                <a:cubicBezTo>
                  <a:pt x="4966290" y="4614948"/>
                  <a:pt x="4719089" y="5720938"/>
                  <a:pt x="4295735" y="6638378"/>
                </a:cubicBezTo>
                <a:lnTo>
                  <a:pt x="4183560" y="6857999"/>
                </a:lnTo>
                <a:lnTo>
                  <a:pt x="53039" y="6857999"/>
                </a:lnTo>
                <a:lnTo>
                  <a:pt x="132047" y="6695338"/>
                </a:lnTo>
                <a:cubicBezTo>
                  <a:pt x="555401" y="5777898"/>
                  <a:pt x="802602" y="4671908"/>
                  <a:pt x="802602" y="3481388"/>
                </a:cubicBezTo>
                <a:cubicBezTo>
                  <a:pt x="802602" y="2191659"/>
                  <a:pt x="512484" y="1001134"/>
                  <a:pt x="22579" y="42066"/>
                </a:cubicBezTo>
                <a:close/>
              </a:path>
            </a:pathLst>
          </a:custGeom>
          <a:noFill/>
          <a:ln>
            <a:noFill/>
          </a:ln>
        </p:spPr>
      </p:pic>
      <p:sp>
        <p:nvSpPr>
          <p:cNvPr id="647" name="Google Shape;647;p49"/>
          <p:cNvSpPr txBox="1">
            <a:spLocks noGrp="1"/>
          </p:cNvSpPr>
          <p:nvPr>
            <p:ph type="title"/>
          </p:nvPr>
        </p:nvSpPr>
        <p:spPr>
          <a:xfrm>
            <a:off x="448054" y="220717"/>
            <a:ext cx="3366707" cy="162910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ts val="3200"/>
              <a:buFont typeface="Calibri"/>
              <a:buNone/>
            </a:pPr>
            <a:r>
              <a:rPr lang="en-GB" sz="3200" b="1" dirty="0">
                <a:solidFill>
                  <a:schemeClr val="lt1"/>
                </a:solidFill>
                <a:latin typeface="+mj-lt"/>
                <a:ea typeface="Calibri"/>
                <a:cs typeface="Calibri"/>
                <a:sym typeface="Calibri"/>
              </a:rPr>
              <a:t>Nitrogen fixation – another wonder of evolution!</a:t>
            </a:r>
            <a:endParaRPr dirty="0">
              <a:latin typeface="+mj-lt"/>
            </a:endParaRPr>
          </a:p>
        </p:txBody>
      </p:sp>
      <p:sp>
        <p:nvSpPr>
          <p:cNvPr id="648" name="Google Shape;648;p49"/>
          <p:cNvSpPr txBox="1"/>
          <p:nvPr/>
        </p:nvSpPr>
        <p:spPr>
          <a:xfrm>
            <a:off x="401495" y="2035558"/>
            <a:ext cx="4081083" cy="4170362"/>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1800"/>
              <a:buFont typeface="Arial"/>
              <a:buChar char="•"/>
            </a:pPr>
            <a:r>
              <a:rPr lang="en-GB" sz="2000" dirty="0">
                <a:solidFill>
                  <a:schemeClr val="lt1"/>
                </a:solidFill>
                <a:latin typeface="+mn-lt"/>
                <a:ea typeface="Calibri"/>
                <a:cs typeface="Calibri"/>
                <a:sym typeface="Calibri"/>
              </a:rPr>
              <a:t>Plants that fix N</a:t>
            </a:r>
            <a:r>
              <a:rPr lang="en-GB" sz="2000" baseline="-25000" dirty="0">
                <a:solidFill>
                  <a:schemeClr val="lt1"/>
                </a:solidFill>
                <a:latin typeface="+mn-lt"/>
                <a:ea typeface="Calibri"/>
                <a:cs typeface="Calibri"/>
                <a:sym typeface="Calibri"/>
              </a:rPr>
              <a:t>2</a:t>
            </a:r>
            <a:r>
              <a:rPr lang="en-GB" sz="2000" dirty="0">
                <a:solidFill>
                  <a:schemeClr val="lt1"/>
                </a:solidFill>
                <a:latin typeface="+mn-lt"/>
                <a:ea typeface="Calibri"/>
                <a:cs typeface="Calibri"/>
                <a:sym typeface="Calibri"/>
              </a:rPr>
              <a:t> from the atmosphere are in the family </a:t>
            </a:r>
            <a:r>
              <a:rPr lang="en-GB" sz="2000" b="1" dirty="0">
                <a:solidFill>
                  <a:schemeClr val="lt1"/>
                </a:solidFill>
                <a:latin typeface="+mn-lt"/>
                <a:ea typeface="Calibri"/>
                <a:cs typeface="Calibri"/>
                <a:sym typeface="Calibri"/>
              </a:rPr>
              <a:t>Fabaceae </a:t>
            </a:r>
            <a:r>
              <a:rPr lang="en-GB" sz="2000" dirty="0">
                <a:solidFill>
                  <a:schemeClr val="lt1"/>
                </a:solidFill>
                <a:latin typeface="+mn-lt"/>
                <a:ea typeface="Calibri"/>
                <a:cs typeface="Calibri"/>
                <a:sym typeface="Calibri"/>
              </a:rPr>
              <a:t>(was called </a:t>
            </a:r>
            <a:r>
              <a:rPr lang="en-GB" sz="2000" dirty="0" err="1">
                <a:solidFill>
                  <a:schemeClr val="lt1"/>
                </a:solidFill>
                <a:latin typeface="+mn-lt"/>
                <a:ea typeface="Calibri"/>
                <a:cs typeface="Calibri"/>
                <a:sym typeface="Calibri"/>
              </a:rPr>
              <a:t>leguminosae</a:t>
            </a:r>
            <a:r>
              <a:rPr lang="en-GB" sz="2000" dirty="0">
                <a:solidFill>
                  <a:schemeClr val="lt1"/>
                </a:solidFill>
                <a:latin typeface="+mn-lt"/>
                <a:ea typeface="Calibri"/>
                <a:cs typeface="Calibri"/>
                <a:sym typeface="Calibri"/>
              </a:rPr>
              <a:t>)</a:t>
            </a:r>
            <a:endParaRPr sz="1600" dirty="0">
              <a:latin typeface="+mn-lt"/>
            </a:endParaRPr>
          </a:p>
          <a:p>
            <a:pPr marL="0" marR="0" lvl="0" indent="114300" algn="l" rtl="0">
              <a:lnSpc>
                <a:spcPct val="90000"/>
              </a:lnSpc>
              <a:spcBef>
                <a:spcPts val="600"/>
              </a:spcBef>
              <a:spcAft>
                <a:spcPts val="0"/>
              </a:spcAft>
              <a:buClr>
                <a:schemeClr val="dk1"/>
              </a:buClr>
              <a:buSzPts val="1800"/>
              <a:buFont typeface="Arial"/>
              <a:buNone/>
            </a:pPr>
            <a:endParaRPr sz="20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ts val="1800"/>
              <a:buFont typeface="Arial"/>
              <a:buChar char="•"/>
            </a:pPr>
            <a:r>
              <a:rPr lang="en-GB" sz="2000" dirty="0">
                <a:solidFill>
                  <a:schemeClr val="lt1"/>
                </a:solidFill>
                <a:latin typeface="+mn-lt"/>
                <a:ea typeface="Calibri"/>
                <a:cs typeface="Calibri"/>
                <a:sym typeface="Calibri"/>
              </a:rPr>
              <a:t>Very large and diverse family (~20000 species, ~730 genera) – includes trees, shrubs and herbaceous perennials and annuals.</a:t>
            </a:r>
            <a:endParaRPr sz="1600" dirty="0">
              <a:latin typeface="+mn-lt"/>
            </a:endParaRPr>
          </a:p>
          <a:p>
            <a:pPr marL="0" marR="0" lvl="0" indent="114300" algn="l" rtl="0">
              <a:lnSpc>
                <a:spcPct val="90000"/>
              </a:lnSpc>
              <a:spcBef>
                <a:spcPts val="600"/>
              </a:spcBef>
              <a:spcAft>
                <a:spcPts val="0"/>
              </a:spcAft>
              <a:buClr>
                <a:schemeClr val="dk1"/>
              </a:buClr>
              <a:buSzPts val="1800"/>
              <a:buFont typeface="Arial"/>
              <a:buNone/>
            </a:pPr>
            <a:endParaRPr sz="20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ts val="1800"/>
              <a:buFont typeface="Arial"/>
              <a:buChar char="•"/>
            </a:pPr>
            <a:r>
              <a:rPr lang="en-GB" sz="2000" dirty="0">
                <a:solidFill>
                  <a:schemeClr val="lt1"/>
                </a:solidFill>
                <a:latin typeface="+mn-lt"/>
                <a:ea typeface="Calibri"/>
                <a:cs typeface="Calibri"/>
                <a:sym typeface="Calibri"/>
              </a:rPr>
              <a:t>These plants associate with specialised bacteria that have the capacity to fix N</a:t>
            </a:r>
            <a:r>
              <a:rPr lang="en-GB" sz="2000" baseline="-25000" dirty="0">
                <a:solidFill>
                  <a:schemeClr val="lt1"/>
                </a:solidFill>
                <a:latin typeface="+mn-lt"/>
                <a:ea typeface="Calibri"/>
                <a:cs typeface="Calibri"/>
                <a:sym typeface="Calibri"/>
              </a:rPr>
              <a:t>2</a:t>
            </a:r>
            <a:r>
              <a:rPr lang="en-GB" sz="2000" dirty="0">
                <a:solidFill>
                  <a:schemeClr val="lt1"/>
                </a:solidFill>
                <a:latin typeface="+mn-lt"/>
                <a:ea typeface="Calibri"/>
                <a:cs typeface="Calibri"/>
                <a:sym typeface="Calibri"/>
              </a:rPr>
              <a:t> from the atmosphere   </a:t>
            </a:r>
            <a:endParaRPr sz="1600" dirty="0">
              <a:latin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2"/>
        <p:cNvGrpSpPr/>
        <p:nvPr/>
      </p:nvGrpSpPr>
      <p:grpSpPr>
        <a:xfrm>
          <a:off x="0" y="0"/>
          <a:ext cx="0" cy="0"/>
          <a:chOff x="0" y="0"/>
          <a:chExt cx="0" cy="0"/>
        </a:xfrm>
      </p:grpSpPr>
      <p:sp>
        <p:nvSpPr>
          <p:cNvPr id="653" name="Google Shape;653;p5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4" name="Google Shape;654;p50"/>
          <p:cNvSpPr/>
          <p:nvPr/>
        </p:nvSpPr>
        <p:spPr>
          <a:xfrm>
            <a:off x="0" y="0"/>
            <a:ext cx="4693698" cy="6858000"/>
          </a:xfrm>
          <a:custGeom>
            <a:avLst/>
            <a:gdLst/>
            <a:ahLst/>
            <a:cxnLst/>
            <a:rect l="l" t="t" r="r" b="b"/>
            <a:pathLst>
              <a:path w="4693698" h="6858000" extrusionOk="0">
                <a:moveTo>
                  <a:pt x="0" y="0"/>
                </a:moveTo>
                <a:lnTo>
                  <a:pt x="420914" y="0"/>
                </a:lnTo>
                <a:lnTo>
                  <a:pt x="1582057" y="0"/>
                </a:lnTo>
                <a:lnTo>
                  <a:pt x="4503903" y="0"/>
                </a:lnTo>
                <a:lnTo>
                  <a:pt x="4508943" y="66675"/>
                </a:lnTo>
                <a:lnTo>
                  <a:pt x="4517340" y="122237"/>
                </a:lnTo>
                <a:lnTo>
                  <a:pt x="4527418" y="174625"/>
                </a:lnTo>
                <a:lnTo>
                  <a:pt x="4544214" y="217487"/>
                </a:lnTo>
                <a:lnTo>
                  <a:pt x="4561010" y="260350"/>
                </a:lnTo>
                <a:lnTo>
                  <a:pt x="4581165" y="296862"/>
                </a:lnTo>
                <a:lnTo>
                  <a:pt x="4601320" y="334962"/>
                </a:lnTo>
                <a:lnTo>
                  <a:pt x="4619796" y="369887"/>
                </a:lnTo>
                <a:lnTo>
                  <a:pt x="4638271" y="409575"/>
                </a:lnTo>
                <a:lnTo>
                  <a:pt x="4655067" y="450850"/>
                </a:lnTo>
                <a:lnTo>
                  <a:pt x="4670184" y="496887"/>
                </a:lnTo>
                <a:lnTo>
                  <a:pt x="4681941" y="546100"/>
                </a:lnTo>
                <a:lnTo>
                  <a:pt x="4690339" y="606425"/>
                </a:lnTo>
                <a:lnTo>
                  <a:pt x="4693698" y="673100"/>
                </a:lnTo>
                <a:lnTo>
                  <a:pt x="4690339" y="744537"/>
                </a:lnTo>
                <a:lnTo>
                  <a:pt x="4681941" y="801687"/>
                </a:lnTo>
                <a:lnTo>
                  <a:pt x="4670184" y="854075"/>
                </a:lnTo>
                <a:lnTo>
                  <a:pt x="4655067" y="901700"/>
                </a:lnTo>
                <a:lnTo>
                  <a:pt x="4638271" y="942975"/>
                </a:lnTo>
                <a:lnTo>
                  <a:pt x="4618116" y="981075"/>
                </a:lnTo>
                <a:lnTo>
                  <a:pt x="4597961" y="1017587"/>
                </a:lnTo>
                <a:lnTo>
                  <a:pt x="4577806" y="1055687"/>
                </a:lnTo>
                <a:lnTo>
                  <a:pt x="4559330" y="1095375"/>
                </a:lnTo>
                <a:lnTo>
                  <a:pt x="4540854" y="1136650"/>
                </a:lnTo>
                <a:lnTo>
                  <a:pt x="4525739" y="1182687"/>
                </a:lnTo>
                <a:lnTo>
                  <a:pt x="4515661" y="1235075"/>
                </a:lnTo>
                <a:lnTo>
                  <a:pt x="4505583" y="1295400"/>
                </a:lnTo>
                <a:lnTo>
                  <a:pt x="4503903" y="1363662"/>
                </a:lnTo>
                <a:lnTo>
                  <a:pt x="4505583" y="1431925"/>
                </a:lnTo>
                <a:lnTo>
                  <a:pt x="4515661" y="1492250"/>
                </a:lnTo>
                <a:lnTo>
                  <a:pt x="4525739" y="1544637"/>
                </a:lnTo>
                <a:lnTo>
                  <a:pt x="4540854" y="1589087"/>
                </a:lnTo>
                <a:lnTo>
                  <a:pt x="4559330" y="1631950"/>
                </a:lnTo>
                <a:lnTo>
                  <a:pt x="4577806" y="1671637"/>
                </a:lnTo>
                <a:lnTo>
                  <a:pt x="4597961" y="1708150"/>
                </a:lnTo>
                <a:lnTo>
                  <a:pt x="4618116" y="1743075"/>
                </a:lnTo>
                <a:lnTo>
                  <a:pt x="4638271" y="1782762"/>
                </a:lnTo>
                <a:lnTo>
                  <a:pt x="4655067" y="1824037"/>
                </a:lnTo>
                <a:lnTo>
                  <a:pt x="4670184" y="1870075"/>
                </a:lnTo>
                <a:lnTo>
                  <a:pt x="4681941" y="1922462"/>
                </a:lnTo>
                <a:lnTo>
                  <a:pt x="4690339" y="1982787"/>
                </a:lnTo>
                <a:lnTo>
                  <a:pt x="4693698" y="2051050"/>
                </a:lnTo>
                <a:lnTo>
                  <a:pt x="4690339" y="2119312"/>
                </a:lnTo>
                <a:lnTo>
                  <a:pt x="4681941" y="2179637"/>
                </a:lnTo>
                <a:lnTo>
                  <a:pt x="4670184" y="2232025"/>
                </a:lnTo>
                <a:lnTo>
                  <a:pt x="4655067" y="2278062"/>
                </a:lnTo>
                <a:lnTo>
                  <a:pt x="4638271" y="2319337"/>
                </a:lnTo>
                <a:lnTo>
                  <a:pt x="4618116" y="2359025"/>
                </a:lnTo>
                <a:lnTo>
                  <a:pt x="4597961" y="2395537"/>
                </a:lnTo>
                <a:lnTo>
                  <a:pt x="4577806" y="2433637"/>
                </a:lnTo>
                <a:lnTo>
                  <a:pt x="4559330" y="2471737"/>
                </a:lnTo>
                <a:lnTo>
                  <a:pt x="4540854" y="2513012"/>
                </a:lnTo>
                <a:lnTo>
                  <a:pt x="4525739" y="2560637"/>
                </a:lnTo>
                <a:lnTo>
                  <a:pt x="4515661" y="2613025"/>
                </a:lnTo>
                <a:lnTo>
                  <a:pt x="4505583" y="2671762"/>
                </a:lnTo>
                <a:lnTo>
                  <a:pt x="4503903" y="2741612"/>
                </a:lnTo>
                <a:lnTo>
                  <a:pt x="4505583" y="2809875"/>
                </a:lnTo>
                <a:lnTo>
                  <a:pt x="4515661" y="2868612"/>
                </a:lnTo>
                <a:lnTo>
                  <a:pt x="4525739" y="2922587"/>
                </a:lnTo>
                <a:lnTo>
                  <a:pt x="4540854" y="2967037"/>
                </a:lnTo>
                <a:lnTo>
                  <a:pt x="4559330" y="3009900"/>
                </a:lnTo>
                <a:lnTo>
                  <a:pt x="4577806" y="3046412"/>
                </a:lnTo>
                <a:lnTo>
                  <a:pt x="4597961" y="3084512"/>
                </a:lnTo>
                <a:lnTo>
                  <a:pt x="4618116" y="3121025"/>
                </a:lnTo>
                <a:lnTo>
                  <a:pt x="4638271" y="3160712"/>
                </a:lnTo>
                <a:lnTo>
                  <a:pt x="4655067" y="3201987"/>
                </a:lnTo>
                <a:lnTo>
                  <a:pt x="4670184" y="3248025"/>
                </a:lnTo>
                <a:lnTo>
                  <a:pt x="4681941" y="3300412"/>
                </a:lnTo>
                <a:lnTo>
                  <a:pt x="4690339" y="3360737"/>
                </a:lnTo>
                <a:lnTo>
                  <a:pt x="4693698" y="3427412"/>
                </a:lnTo>
                <a:lnTo>
                  <a:pt x="4690339" y="3497262"/>
                </a:lnTo>
                <a:lnTo>
                  <a:pt x="4681941" y="3557587"/>
                </a:lnTo>
                <a:lnTo>
                  <a:pt x="4670184" y="3609975"/>
                </a:lnTo>
                <a:lnTo>
                  <a:pt x="4655067" y="3656012"/>
                </a:lnTo>
                <a:lnTo>
                  <a:pt x="4638271" y="3697287"/>
                </a:lnTo>
                <a:lnTo>
                  <a:pt x="4618116" y="3736975"/>
                </a:lnTo>
                <a:lnTo>
                  <a:pt x="4577806" y="3811587"/>
                </a:lnTo>
                <a:lnTo>
                  <a:pt x="4559330" y="3848100"/>
                </a:lnTo>
                <a:lnTo>
                  <a:pt x="4540854" y="3890962"/>
                </a:lnTo>
                <a:lnTo>
                  <a:pt x="4525739" y="3935412"/>
                </a:lnTo>
                <a:lnTo>
                  <a:pt x="4515661" y="3987800"/>
                </a:lnTo>
                <a:lnTo>
                  <a:pt x="4505583" y="4048125"/>
                </a:lnTo>
                <a:lnTo>
                  <a:pt x="4503903" y="4116387"/>
                </a:lnTo>
                <a:lnTo>
                  <a:pt x="4505583" y="4186237"/>
                </a:lnTo>
                <a:lnTo>
                  <a:pt x="4515661" y="4244975"/>
                </a:lnTo>
                <a:lnTo>
                  <a:pt x="4525739" y="4297362"/>
                </a:lnTo>
                <a:lnTo>
                  <a:pt x="4540854" y="4343400"/>
                </a:lnTo>
                <a:lnTo>
                  <a:pt x="4559330" y="4386262"/>
                </a:lnTo>
                <a:lnTo>
                  <a:pt x="4577806" y="4424362"/>
                </a:lnTo>
                <a:lnTo>
                  <a:pt x="4618116" y="4498975"/>
                </a:lnTo>
                <a:lnTo>
                  <a:pt x="4638271" y="4537075"/>
                </a:lnTo>
                <a:lnTo>
                  <a:pt x="4655067" y="4579937"/>
                </a:lnTo>
                <a:lnTo>
                  <a:pt x="4670184" y="4625975"/>
                </a:lnTo>
                <a:lnTo>
                  <a:pt x="4681941" y="4678362"/>
                </a:lnTo>
                <a:lnTo>
                  <a:pt x="4690339" y="4738687"/>
                </a:lnTo>
                <a:lnTo>
                  <a:pt x="4693698" y="4806950"/>
                </a:lnTo>
                <a:lnTo>
                  <a:pt x="4690339" y="4875212"/>
                </a:lnTo>
                <a:lnTo>
                  <a:pt x="4681941" y="4935537"/>
                </a:lnTo>
                <a:lnTo>
                  <a:pt x="4670184" y="4987925"/>
                </a:lnTo>
                <a:lnTo>
                  <a:pt x="4655067" y="5033962"/>
                </a:lnTo>
                <a:lnTo>
                  <a:pt x="4638271" y="5075237"/>
                </a:lnTo>
                <a:lnTo>
                  <a:pt x="4618116" y="5114925"/>
                </a:lnTo>
                <a:lnTo>
                  <a:pt x="4597961" y="5149850"/>
                </a:lnTo>
                <a:lnTo>
                  <a:pt x="4577806" y="5186362"/>
                </a:lnTo>
                <a:lnTo>
                  <a:pt x="4559330" y="5226050"/>
                </a:lnTo>
                <a:lnTo>
                  <a:pt x="4540854" y="5268912"/>
                </a:lnTo>
                <a:lnTo>
                  <a:pt x="4525739" y="5313362"/>
                </a:lnTo>
                <a:lnTo>
                  <a:pt x="4515661" y="5365750"/>
                </a:lnTo>
                <a:lnTo>
                  <a:pt x="4505583" y="5426075"/>
                </a:lnTo>
                <a:lnTo>
                  <a:pt x="4503903" y="5494337"/>
                </a:lnTo>
                <a:lnTo>
                  <a:pt x="4505583" y="5562600"/>
                </a:lnTo>
                <a:lnTo>
                  <a:pt x="4515661" y="5622925"/>
                </a:lnTo>
                <a:lnTo>
                  <a:pt x="4525739" y="5675312"/>
                </a:lnTo>
                <a:lnTo>
                  <a:pt x="4540854" y="5721350"/>
                </a:lnTo>
                <a:lnTo>
                  <a:pt x="4559330" y="5762625"/>
                </a:lnTo>
                <a:lnTo>
                  <a:pt x="4577806" y="5802312"/>
                </a:lnTo>
                <a:lnTo>
                  <a:pt x="4597961" y="5840412"/>
                </a:lnTo>
                <a:lnTo>
                  <a:pt x="4618116" y="5876925"/>
                </a:lnTo>
                <a:lnTo>
                  <a:pt x="4638271" y="5915025"/>
                </a:lnTo>
                <a:lnTo>
                  <a:pt x="4655067" y="5956300"/>
                </a:lnTo>
                <a:lnTo>
                  <a:pt x="4670184" y="6003925"/>
                </a:lnTo>
                <a:lnTo>
                  <a:pt x="4681941" y="6056312"/>
                </a:lnTo>
                <a:lnTo>
                  <a:pt x="4690339" y="6113462"/>
                </a:lnTo>
                <a:lnTo>
                  <a:pt x="4693698" y="6183312"/>
                </a:lnTo>
                <a:lnTo>
                  <a:pt x="4690339" y="6251575"/>
                </a:lnTo>
                <a:lnTo>
                  <a:pt x="4681941" y="6311900"/>
                </a:lnTo>
                <a:lnTo>
                  <a:pt x="4670184" y="6361112"/>
                </a:lnTo>
                <a:lnTo>
                  <a:pt x="4655067" y="6407150"/>
                </a:lnTo>
                <a:lnTo>
                  <a:pt x="4638271" y="6448425"/>
                </a:lnTo>
                <a:lnTo>
                  <a:pt x="4619796" y="6488112"/>
                </a:lnTo>
                <a:lnTo>
                  <a:pt x="4601320" y="6523037"/>
                </a:lnTo>
                <a:lnTo>
                  <a:pt x="4581165" y="6561137"/>
                </a:lnTo>
                <a:lnTo>
                  <a:pt x="4561010" y="6597650"/>
                </a:lnTo>
                <a:lnTo>
                  <a:pt x="4544214" y="6640512"/>
                </a:lnTo>
                <a:lnTo>
                  <a:pt x="4527418" y="6683375"/>
                </a:lnTo>
                <a:lnTo>
                  <a:pt x="4517340" y="6735762"/>
                </a:lnTo>
                <a:lnTo>
                  <a:pt x="4508943" y="6791325"/>
                </a:lnTo>
                <a:lnTo>
                  <a:pt x="4503903" y="6858000"/>
                </a:lnTo>
                <a:lnTo>
                  <a:pt x="1582057" y="6858000"/>
                </a:lnTo>
                <a:lnTo>
                  <a:pt x="420914" y="6858000"/>
                </a:lnTo>
                <a:lnTo>
                  <a:pt x="0" y="685800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5" name="Google Shape;655;p50"/>
          <p:cNvSpPr/>
          <p:nvPr/>
        </p:nvSpPr>
        <p:spPr>
          <a:xfrm flipH="1">
            <a:off x="0" y="0"/>
            <a:ext cx="4838076" cy="6858000"/>
          </a:xfrm>
          <a:custGeom>
            <a:avLst/>
            <a:gdLst/>
            <a:ahLst/>
            <a:cxnLst/>
            <a:rect l="l" t="t" r="r" b="b"/>
            <a:pathLst>
              <a:path w="4838076" h="6858000" extrusionOk="0">
                <a:moveTo>
                  <a:pt x="4838076" y="0"/>
                </a:moveTo>
                <a:lnTo>
                  <a:pt x="4417162" y="0"/>
                </a:lnTo>
                <a:lnTo>
                  <a:pt x="3459219" y="0"/>
                </a:ln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3459219" y="6858000"/>
                </a:lnTo>
                <a:lnTo>
                  <a:pt x="4417162" y="6858000"/>
                </a:lnTo>
                <a:lnTo>
                  <a:pt x="4838076" y="6858000"/>
                </a:lnTo>
                <a:close/>
              </a:path>
            </a:pathLst>
          </a:custGeom>
          <a:solidFill>
            <a:srgbClr val="1F3864">
              <a:alpha val="2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6" name="Google Shape;656;p50"/>
          <p:cNvSpPr txBox="1"/>
          <p:nvPr/>
        </p:nvSpPr>
        <p:spPr>
          <a:xfrm>
            <a:off x="228600" y="396934"/>
            <a:ext cx="3557588" cy="14921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GB" sz="2400" b="1" dirty="0">
                <a:solidFill>
                  <a:schemeClr val="lt1"/>
                </a:solidFill>
                <a:latin typeface="+mn-lt"/>
                <a:ea typeface="Calibri"/>
                <a:cs typeface="Calibri"/>
                <a:sym typeface="Calibri"/>
              </a:rPr>
              <a:t>Many nitrogen-fixing plants are VITAL for human health and nutrition</a:t>
            </a:r>
            <a:endParaRPr sz="2400" b="1" dirty="0">
              <a:solidFill>
                <a:schemeClr val="lt1"/>
              </a:solidFill>
              <a:latin typeface="+mn-lt"/>
              <a:ea typeface="Calibri"/>
              <a:cs typeface="Calibri"/>
              <a:sym typeface="Calibri"/>
            </a:endParaRPr>
          </a:p>
        </p:txBody>
      </p:sp>
      <p:sp>
        <p:nvSpPr>
          <p:cNvPr id="657" name="Google Shape;657;p50"/>
          <p:cNvSpPr txBox="1"/>
          <p:nvPr/>
        </p:nvSpPr>
        <p:spPr>
          <a:xfrm>
            <a:off x="228600" y="2286000"/>
            <a:ext cx="3920451" cy="38448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ct val="100000"/>
              <a:buFont typeface="Arial"/>
              <a:buChar char="•"/>
            </a:pPr>
            <a:r>
              <a:rPr lang="en-GB" sz="2000" dirty="0">
                <a:solidFill>
                  <a:schemeClr val="lt1"/>
                </a:solidFill>
                <a:latin typeface="+mn-lt"/>
                <a:ea typeface="Calibri"/>
                <a:cs typeface="Calibri"/>
                <a:sym typeface="Calibri"/>
              </a:rPr>
              <a:t>These are all plants in the Family </a:t>
            </a:r>
            <a:r>
              <a:rPr lang="en-GB" sz="2000" i="1" dirty="0">
                <a:solidFill>
                  <a:schemeClr val="lt1"/>
                </a:solidFill>
                <a:latin typeface="+mn-lt"/>
                <a:ea typeface="Calibri"/>
                <a:cs typeface="Calibri"/>
                <a:sym typeface="Calibri"/>
              </a:rPr>
              <a:t>Fabaceae</a:t>
            </a:r>
            <a:endParaRPr sz="2000" dirty="0">
              <a:latin typeface="+mn-lt"/>
            </a:endParaRPr>
          </a:p>
          <a:p>
            <a:pPr marL="0" marR="0" lvl="0" indent="124460" algn="l" rtl="0">
              <a:lnSpc>
                <a:spcPct val="90000"/>
              </a:lnSpc>
              <a:spcBef>
                <a:spcPts val="600"/>
              </a:spcBef>
              <a:spcAft>
                <a:spcPts val="0"/>
              </a:spcAft>
              <a:buClr>
                <a:schemeClr val="dk1"/>
              </a:buClr>
              <a:buSzPct val="100000"/>
              <a:buFont typeface="Arial"/>
              <a:buNone/>
            </a:pPr>
            <a:endParaRPr sz="20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ct val="100000"/>
              <a:buFont typeface="Arial"/>
              <a:buChar char="•"/>
            </a:pPr>
            <a:r>
              <a:rPr lang="en-GB" sz="2000" dirty="0">
                <a:solidFill>
                  <a:schemeClr val="lt1"/>
                </a:solidFill>
                <a:latin typeface="+mn-lt"/>
                <a:ea typeface="Calibri"/>
                <a:cs typeface="Calibri"/>
                <a:sym typeface="Calibri"/>
              </a:rPr>
              <a:t>They include beans and lentils</a:t>
            </a:r>
            <a:endParaRPr sz="2000" dirty="0">
              <a:latin typeface="+mn-lt"/>
            </a:endParaRPr>
          </a:p>
          <a:p>
            <a:pPr marL="0" marR="0" lvl="0" indent="124460" algn="l" rtl="0">
              <a:lnSpc>
                <a:spcPct val="90000"/>
              </a:lnSpc>
              <a:spcBef>
                <a:spcPts val="600"/>
              </a:spcBef>
              <a:spcAft>
                <a:spcPts val="0"/>
              </a:spcAft>
              <a:buClr>
                <a:schemeClr val="dk1"/>
              </a:buClr>
              <a:buSzPct val="100000"/>
              <a:buFont typeface="Arial"/>
              <a:buNone/>
            </a:pPr>
            <a:endParaRPr sz="20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ct val="100000"/>
              <a:buFont typeface="Arial"/>
              <a:buChar char="•"/>
            </a:pPr>
            <a:r>
              <a:rPr lang="en-GB" sz="2000" dirty="0">
                <a:solidFill>
                  <a:schemeClr val="lt1"/>
                </a:solidFill>
                <a:latin typeface="+mn-lt"/>
                <a:ea typeface="Calibri"/>
                <a:cs typeface="Calibri"/>
                <a:sym typeface="Calibri"/>
              </a:rPr>
              <a:t>The bacteria form distinct ‘nodules’ on roots</a:t>
            </a:r>
            <a:endParaRPr sz="2000" dirty="0">
              <a:latin typeface="+mn-lt"/>
            </a:endParaRPr>
          </a:p>
          <a:p>
            <a:pPr marL="0" marR="0" lvl="0" indent="124460" algn="l" rtl="0">
              <a:lnSpc>
                <a:spcPct val="90000"/>
              </a:lnSpc>
              <a:spcBef>
                <a:spcPts val="600"/>
              </a:spcBef>
              <a:spcAft>
                <a:spcPts val="0"/>
              </a:spcAft>
              <a:buClr>
                <a:schemeClr val="dk1"/>
              </a:buClr>
              <a:buSzPct val="100000"/>
              <a:buFont typeface="Arial"/>
              <a:buNone/>
            </a:pPr>
            <a:endParaRPr sz="2000" dirty="0">
              <a:solidFill>
                <a:schemeClr val="lt1"/>
              </a:solidFill>
              <a:latin typeface="+mn-lt"/>
              <a:ea typeface="Calibri"/>
              <a:cs typeface="Calibri"/>
              <a:sym typeface="Calibri"/>
            </a:endParaRPr>
          </a:p>
          <a:p>
            <a:pPr marL="0" marR="0" lvl="0" indent="0" algn="l" rtl="0">
              <a:lnSpc>
                <a:spcPct val="90000"/>
              </a:lnSpc>
              <a:spcBef>
                <a:spcPts val="600"/>
              </a:spcBef>
              <a:spcAft>
                <a:spcPts val="0"/>
              </a:spcAft>
              <a:buClr>
                <a:schemeClr val="lt1"/>
              </a:buClr>
              <a:buSzPct val="100000"/>
              <a:buFont typeface="Arial"/>
              <a:buChar char="•"/>
            </a:pPr>
            <a:r>
              <a:rPr lang="en-GB" sz="2000" dirty="0">
                <a:solidFill>
                  <a:schemeClr val="lt1"/>
                </a:solidFill>
                <a:latin typeface="+mn-lt"/>
                <a:ea typeface="Calibri"/>
                <a:cs typeface="Calibri"/>
                <a:sym typeface="Calibri"/>
              </a:rPr>
              <a:t>They also form mycorrhizas but mycorrhizal and </a:t>
            </a:r>
            <a:r>
              <a:rPr lang="en-GB" sz="2000" dirty="0" err="1">
                <a:solidFill>
                  <a:schemeClr val="lt1"/>
                </a:solidFill>
                <a:latin typeface="+mn-lt"/>
                <a:ea typeface="Calibri"/>
                <a:cs typeface="Calibri"/>
                <a:sym typeface="Calibri"/>
              </a:rPr>
              <a:t>rhizobial</a:t>
            </a:r>
            <a:r>
              <a:rPr lang="en-GB" sz="2000" dirty="0">
                <a:solidFill>
                  <a:schemeClr val="lt1"/>
                </a:solidFill>
                <a:latin typeface="+mn-lt"/>
                <a:ea typeface="Calibri"/>
                <a:cs typeface="Calibri"/>
                <a:sym typeface="Calibri"/>
              </a:rPr>
              <a:t> symbioses </a:t>
            </a:r>
            <a:r>
              <a:rPr lang="en-GB" sz="2000" u="sng" dirty="0">
                <a:solidFill>
                  <a:schemeClr val="lt1"/>
                </a:solidFill>
                <a:latin typeface="+mn-lt"/>
                <a:ea typeface="Calibri"/>
                <a:cs typeface="Calibri"/>
                <a:sym typeface="Calibri"/>
              </a:rPr>
              <a:t>are distinct and separate</a:t>
            </a:r>
            <a:endParaRPr sz="2000" dirty="0">
              <a:latin typeface="+mn-lt"/>
            </a:endParaRPr>
          </a:p>
          <a:p>
            <a:pPr marL="0" marR="0" lvl="0" indent="88900" algn="l" rtl="0">
              <a:lnSpc>
                <a:spcPct val="90000"/>
              </a:lnSpc>
              <a:spcBef>
                <a:spcPts val="600"/>
              </a:spcBef>
              <a:spcAft>
                <a:spcPts val="0"/>
              </a:spcAft>
              <a:buClr>
                <a:schemeClr val="dk1"/>
              </a:buClr>
              <a:buSzPct val="100000"/>
              <a:buFont typeface="Arial"/>
              <a:buNone/>
            </a:pPr>
            <a:endParaRPr sz="2000" dirty="0">
              <a:solidFill>
                <a:schemeClr val="lt1"/>
              </a:solidFill>
              <a:latin typeface="+mn-lt"/>
              <a:ea typeface="Calibri"/>
              <a:cs typeface="Calibri"/>
              <a:sym typeface="Calibri"/>
            </a:endParaRPr>
          </a:p>
        </p:txBody>
      </p:sp>
      <p:pic>
        <p:nvPicPr>
          <p:cNvPr id="658" name="Google Shape;658;p50"/>
          <p:cNvPicPr preferRelativeResize="0"/>
          <p:nvPr/>
        </p:nvPicPr>
        <p:blipFill rotWithShape="1">
          <a:blip r:embed="rId3">
            <a:alphaModFix/>
          </a:blip>
          <a:srcRect/>
          <a:stretch/>
        </p:blipFill>
        <p:spPr>
          <a:xfrm>
            <a:off x="5257801" y="462026"/>
            <a:ext cx="6469309" cy="593394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51"/>
          <p:cNvSpPr txBox="1">
            <a:spLocks noGrp="1"/>
          </p:cNvSpPr>
          <p:nvPr>
            <p:ph type="title"/>
          </p:nvPr>
        </p:nvSpPr>
        <p:spPr>
          <a:xfrm>
            <a:off x="13812" y="0"/>
            <a:ext cx="12178188" cy="93833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Calibri"/>
              <a:buNone/>
            </a:pPr>
            <a:r>
              <a:rPr lang="en-GB" sz="2800" b="1" dirty="0">
                <a:solidFill>
                  <a:srgbClr val="C00000"/>
                </a:solidFill>
                <a:latin typeface="+mj-lt"/>
              </a:rPr>
              <a:t>Nitrogen fixation from the atmosphere is undertaken by mutualistic bacteria that colonise roots of plants in the </a:t>
            </a:r>
            <a:r>
              <a:rPr lang="en-GB" sz="2800" b="1" i="1" dirty="0">
                <a:solidFill>
                  <a:srgbClr val="C00000"/>
                </a:solidFill>
                <a:latin typeface="+mj-lt"/>
              </a:rPr>
              <a:t>Fabaceae</a:t>
            </a:r>
            <a:endParaRPr sz="3600" b="1" dirty="0">
              <a:solidFill>
                <a:srgbClr val="C00000"/>
              </a:solidFill>
              <a:latin typeface="+mj-lt"/>
            </a:endParaRPr>
          </a:p>
        </p:txBody>
      </p:sp>
      <p:sp>
        <p:nvSpPr>
          <p:cNvPr id="664" name="Google Shape;664;p51"/>
          <p:cNvSpPr/>
          <p:nvPr/>
        </p:nvSpPr>
        <p:spPr>
          <a:xfrm>
            <a:off x="6337746" y="1473536"/>
            <a:ext cx="474935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dirty="0">
                <a:solidFill>
                  <a:schemeClr val="dk1"/>
                </a:solidFill>
                <a:latin typeface="+mn-lt"/>
                <a:ea typeface="Calibri"/>
                <a:cs typeface="Calibri"/>
                <a:sym typeface="Calibri"/>
              </a:rPr>
              <a:t>N</a:t>
            </a:r>
            <a:r>
              <a:rPr lang="en-GB" sz="2400" baseline="-25000" dirty="0">
                <a:solidFill>
                  <a:schemeClr val="dk1"/>
                </a:solidFill>
                <a:latin typeface="+mn-lt"/>
                <a:ea typeface="Calibri"/>
                <a:cs typeface="Calibri"/>
                <a:sym typeface="Calibri"/>
              </a:rPr>
              <a:t>2</a:t>
            </a:r>
            <a:r>
              <a:rPr lang="en-GB" sz="2400" dirty="0">
                <a:solidFill>
                  <a:schemeClr val="dk1"/>
                </a:solidFill>
                <a:latin typeface="+mn-lt"/>
                <a:ea typeface="Calibri"/>
                <a:cs typeface="Calibri"/>
                <a:sym typeface="Calibri"/>
              </a:rPr>
              <a:t> + 8H</a:t>
            </a:r>
            <a:r>
              <a:rPr lang="en-GB" sz="2400" baseline="30000" dirty="0">
                <a:solidFill>
                  <a:schemeClr val="dk1"/>
                </a:solidFill>
                <a:latin typeface="+mn-lt"/>
                <a:ea typeface="Calibri"/>
                <a:cs typeface="Calibri"/>
                <a:sym typeface="Calibri"/>
              </a:rPr>
              <a:t>+</a:t>
            </a:r>
            <a:r>
              <a:rPr lang="en-GB" sz="2400" dirty="0">
                <a:solidFill>
                  <a:schemeClr val="dk1"/>
                </a:solidFill>
                <a:latin typeface="+mn-lt"/>
                <a:ea typeface="Calibri"/>
                <a:cs typeface="Calibri"/>
                <a:sym typeface="Calibri"/>
              </a:rPr>
              <a:t> + 8e</a:t>
            </a:r>
            <a:r>
              <a:rPr lang="en-GB" sz="2400" baseline="30000" dirty="0">
                <a:solidFill>
                  <a:schemeClr val="dk1"/>
                </a:solidFill>
                <a:latin typeface="+mn-lt"/>
                <a:ea typeface="Calibri"/>
                <a:cs typeface="Calibri"/>
                <a:sym typeface="Calibri"/>
              </a:rPr>
              <a:t>−</a:t>
            </a:r>
            <a:r>
              <a:rPr lang="en-GB" sz="2400" dirty="0">
                <a:solidFill>
                  <a:schemeClr val="dk1"/>
                </a:solidFill>
                <a:latin typeface="+mn-lt"/>
                <a:ea typeface="Calibri"/>
                <a:cs typeface="Calibri"/>
                <a:sym typeface="Calibri"/>
              </a:rPr>
              <a:t> → 2NH</a:t>
            </a:r>
            <a:r>
              <a:rPr lang="en-GB" sz="2400" baseline="-25000" dirty="0">
                <a:solidFill>
                  <a:schemeClr val="dk1"/>
                </a:solidFill>
                <a:latin typeface="+mn-lt"/>
                <a:ea typeface="Calibri"/>
                <a:cs typeface="Calibri"/>
                <a:sym typeface="Calibri"/>
              </a:rPr>
              <a:t>3</a:t>
            </a:r>
            <a:r>
              <a:rPr lang="en-GB" sz="2400" dirty="0">
                <a:solidFill>
                  <a:schemeClr val="dk1"/>
                </a:solidFill>
                <a:latin typeface="+mn-lt"/>
                <a:ea typeface="Calibri"/>
                <a:cs typeface="Calibri"/>
                <a:sym typeface="Calibri"/>
              </a:rPr>
              <a:t> + H</a:t>
            </a:r>
            <a:r>
              <a:rPr lang="en-GB" sz="2400" baseline="-25000" dirty="0">
                <a:solidFill>
                  <a:schemeClr val="dk1"/>
                </a:solidFill>
                <a:latin typeface="+mn-lt"/>
                <a:ea typeface="Calibri"/>
                <a:cs typeface="Calibri"/>
                <a:sym typeface="Calibri"/>
              </a:rPr>
              <a:t>2</a:t>
            </a:r>
            <a:endParaRPr sz="2400" dirty="0">
              <a:solidFill>
                <a:schemeClr val="dk1"/>
              </a:solidFill>
              <a:latin typeface="+mn-lt"/>
              <a:ea typeface="Calibri"/>
              <a:cs typeface="Calibri"/>
              <a:sym typeface="Calibri"/>
            </a:endParaRPr>
          </a:p>
        </p:txBody>
      </p:sp>
      <p:sp>
        <p:nvSpPr>
          <p:cNvPr id="665" name="Google Shape;665;p51"/>
          <p:cNvSpPr txBox="1"/>
          <p:nvPr/>
        </p:nvSpPr>
        <p:spPr>
          <a:xfrm>
            <a:off x="6516439" y="2144752"/>
            <a:ext cx="5184219"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dirty="0">
                <a:solidFill>
                  <a:schemeClr val="dk1"/>
                </a:solidFill>
                <a:latin typeface="+mn-lt"/>
                <a:ea typeface="Calibri"/>
                <a:cs typeface="Calibri"/>
                <a:sym typeface="Calibri"/>
              </a:rPr>
              <a:t>Catalysed by the enzyme </a:t>
            </a:r>
            <a:r>
              <a:rPr lang="en-GB" sz="2000" i="1" dirty="0">
                <a:solidFill>
                  <a:srgbClr val="C00000"/>
                </a:solidFill>
                <a:latin typeface="+mn-lt"/>
                <a:ea typeface="Calibri"/>
                <a:cs typeface="Calibri"/>
                <a:sym typeface="Calibri"/>
              </a:rPr>
              <a:t>nitrogenase</a:t>
            </a:r>
            <a:endParaRPr sz="2000" i="1" dirty="0">
              <a:solidFill>
                <a:srgbClr val="C00000"/>
              </a:solidFill>
              <a:latin typeface="+mn-lt"/>
              <a:ea typeface="Calibri"/>
              <a:cs typeface="Calibri"/>
              <a:sym typeface="Calibri"/>
            </a:endParaRPr>
          </a:p>
        </p:txBody>
      </p:sp>
      <p:sp>
        <p:nvSpPr>
          <p:cNvPr id="666" name="Google Shape;666;p51"/>
          <p:cNvSpPr txBox="1"/>
          <p:nvPr/>
        </p:nvSpPr>
        <p:spPr>
          <a:xfrm>
            <a:off x="5586413" y="4476543"/>
            <a:ext cx="6605587" cy="18158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dirty="0">
                <a:solidFill>
                  <a:schemeClr val="dk1"/>
                </a:solidFill>
                <a:latin typeface="+mn-lt"/>
                <a:ea typeface="Calibri"/>
                <a:cs typeface="Calibri"/>
                <a:sym typeface="Calibri"/>
              </a:rPr>
              <a:t>Alpha-proteobacteria:</a:t>
            </a:r>
            <a:endParaRPr dirty="0">
              <a:latin typeface="+mn-lt"/>
            </a:endParaRPr>
          </a:p>
          <a:p>
            <a:pPr marL="0" marR="0" lvl="0" indent="0" algn="l" rtl="0">
              <a:spcBef>
                <a:spcPts val="0"/>
              </a:spcBef>
              <a:spcAft>
                <a:spcPts val="0"/>
              </a:spcAft>
              <a:buNone/>
            </a:pPr>
            <a:r>
              <a:rPr lang="en-GB" sz="1600" dirty="0">
                <a:solidFill>
                  <a:schemeClr val="dk1"/>
                </a:solidFill>
                <a:latin typeface="+mn-lt"/>
                <a:ea typeface="Calibri"/>
                <a:cs typeface="Calibri"/>
                <a:sym typeface="Calibri"/>
              </a:rPr>
              <a:t>including Rhizobium, </a:t>
            </a:r>
            <a:r>
              <a:rPr lang="en-GB" sz="1600" dirty="0" err="1">
                <a:solidFill>
                  <a:schemeClr val="dk1"/>
                </a:solidFill>
                <a:latin typeface="+mn-lt"/>
                <a:ea typeface="Calibri"/>
                <a:cs typeface="Calibri"/>
                <a:sym typeface="Calibri"/>
              </a:rPr>
              <a:t>Mesorhizobium</a:t>
            </a:r>
            <a:r>
              <a:rPr lang="en-GB" sz="1600" dirty="0">
                <a:solidFill>
                  <a:schemeClr val="dk1"/>
                </a:solidFill>
                <a:latin typeface="+mn-lt"/>
                <a:ea typeface="Calibri"/>
                <a:cs typeface="Calibri"/>
                <a:sym typeface="Calibri"/>
              </a:rPr>
              <a:t>, </a:t>
            </a:r>
            <a:r>
              <a:rPr lang="en-GB" sz="1600" dirty="0" err="1">
                <a:solidFill>
                  <a:schemeClr val="dk1"/>
                </a:solidFill>
                <a:latin typeface="+mn-lt"/>
                <a:ea typeface="Calibri"/>
                <a:cs typeface="Calibri"/>
                <a:sym typeface="Calibri"/>
              </a:rPr>
              <a:t>Bradyrhizobium</a:t>
            </a:r>
            <a:r>
              <a:rPr lang="en-GB" sz="1600" dirty="0">
                <a:solidFill>
                  <a:schemeClr val="dk1"/>
                </a:solidFill>
                <a:latin typeface="+mn-lt"/>
                <a:ea typeface="Calibri"/>
                <a:cs typeface="Calibri"/>
                <a:sym typeface="Calibri"/>
              </a:rPr>
              <a:t>, </a:t>
            </a:r>
            <a:r>
              <a:rPr lang="en-GB" sz="1600" dirty="0" err="1">
                <a:solidFill>
                  <a:schemeClr val="dk1"/>
                </a:solidFill>
                <a:latin typeface="+mn-lt"/>
                <a:ea typeface="Calibri"/>
                <a:cs typeface="Calibri"/>
                <a:sym typeface="Calibri"/>
              </a:rPr>
              <a:t>Aminobacter</a:t>
            </a:r>
            <a:endParaRPr sz="1600" dirty="0">
              <a:solidFill>
                <a:schemeClr val="dk1"/>
              </a:solidFill>
              <a:latin typeface="+mn-lt"/>
              <a:ea typeface="Calibri"/>
              <a:cs typeface="Calibri"/>
              <a:sym typeface="Calibri"/>
            </a:endParaRPr>
          </a:p>
          <a:p>
            <a:pPr marL="0" marR="0" lvl="0" indent="0" algn="l" rtl="0">
              <a:spcBef>
                <a:spcPts val="0"/>
              </a:spcBef>
              <a:spcAft>
                <a:spcPts val="0"/>
              </a:spcAft>
              <a:buNone/>
            </a:pPr>
            <a:r>
              <a:rPr lang="en-GB" sz="1600" dirty="0">
                <a:solidFill>
                  <a:schemeClr val="dk1"/>
                </a:solidFill>
                <a:latin typeface="+mn-lt"/>
                <a:ea typeface="Calibri"/>
                <a:cs typeface="Calibri"/>
                <a:sym typeface="Calibri"/>
              </a:rPr>
              <a:t>e.g. </a:t>
            </a:r>
            <a:r>
              <a:rPr lang="en-GB" sz="1600" i="1" dirty="0">
                <a:solidFill>
                  <a:schemeClr val="dk1"/>
                </a:solidFill>
                <a:latin typeface="+mn-lt"/>
                <a:ea typeface="Calibri"/>
                <a:cs typeface="Calibri"/>
                <a:sym typeface="Calibri"/>
              </a:rPr>
              <a:t>Rhizobium </a:t>
            </a:r>
            <a:r>
              <a:rPr lang="en-GB" sz="1600" i="1" dirty="0" err="1">
                <a:solidFill>
                  <a:schemeClr val="dk1"/>
                </a:solidFill>
                <a:latin typeface="+mn-lt"/>
                <a:ea typeface="Calibri"/>
                <a:cs typeface="Calibri"/>
                <a:sym typeface="Calibri"/>
              </a:rPr>
              <a:t>leguminosum</a:t>
            </a:r>
            <a:r>
              <a:rPr lang="en-GB" sz="1600" i="1" dirty="0">
                <a:solidFill>
                  <a:schemeClr val="dk1"/>
                </a:solidFill>
                <a:latin typeface="+mn-lt"/>
                <a:ea typeface="Calibri"/>
                <a:cs typeface="Calibri"/>
                <a:sym typeface="Calibri"/>
              </a:rPr>
              <a:t> </a:t>
            </a:r>
            <a:r>
              <a:rPr lang="en-GB" sz="1600" dirty="0">
                <a:solidFill>
                  <a:schemeClr val="dk1"/>
                </a:solidFill>
                <a:latin typeface="+mn-lt"/>
                <a:ea typeface="Calibri"/>
                <a:cs typeface="Calibri"/>
                <a:sym typeface="Calibri"/>
              </a:rPr>
              <a:t>(left), </a:t>
            </a:r>
            <a:r>
              <a:rPr lang="en-GB" sz="1600" i="1" dirty="0">
                <a:solidFill>
                  <a:schemeClr val="dk1"/>
                </a:solidFill>
                <a:latin typeface="+mn-lt"/>
                <a:ea typeface="Calibri"/>
                <a:cs typeface="Calibri"/>
                <a:sym typeface="Calibri"/>
              </a:rPr>
              <a:t>R. </a:t>
            </a:r>
            <a:r>
              <a:rPr lang="en-GB" sz="1600" i="1" dirty="0" err="1">
                <a:solidFill>
                  <a:schemeClr val="dk1"/>
                </a:solidFill>
                <a:latin typeface="+mn-lt"/>
                <a:ea typeface="Calibri"/>
                <a:cs typeface="Calibri"/>
                <a:sym typeface="Calibri"/>
              </a:rPr>
              <a:t>alamii</a:t>
            </a:r>
            <a:r>
              <a:rPr lang="en-GB" sz="1600" dirty="0">
                <a:solidFill>
                  <a:schemeClr val="dk1"/>
                </a:solidFill>
                <a:latin typeface="+mn-lt"/>
                <a:ea typeface="Calibri"/>
                <a:cs typeface="Calibri"/>
                <a:sym typeface="Calibri"/>
              </a:rPr>
              <a:t>, </a:t>
            </a:r>
            <a:r>
              <a:rPr lang="en-GB" sz="1600" i="1" dirty="0">
                <a:solidFill>
                  <a:schemeClr val="dk1"/>
                </a:solidFill>
                <a:latin typeface="+mn-lt"/>
                <a:ea typeface="Calibri"/>
                <a:cs typeface="Calibri"/>
                <a:sym typeface="Calibri"/>
              </a:rPr>
              <a:t>R. fabae</a:t>
            </a:r>
            <a:r>
              <a:rPr lang="en-GB" sz="1600" dirty="0">
                <a:solidFill>
                  <a:schemeClr val="dk1"/>
                </a:solidFill>
                <a:latin typeface="+mn-lt"/>
                <a:ea typeface="Calibri"/>
                <a:cs typeface="Calibri"/>
                <a:sym typeface="Calibri"/>
              </a:rPr>
              <a:t>, </a:t>
            </a:r>
            <a:r>
              <a:rPr lang="en-GB" sz="1600" i="1" dirty="0">
                <a:solidFill>
                  <a:schemeClr val="dk1"/>
                </a:solidFill>
                <a:latin typeface="+mn-lt"/>
                <a:ea typeface="Calibri"/>
                <a:cs typeface="Calibri"/>
                <a:sym typeface="Calibri"/>
              </a:rPr>
              <a:t>R. </a:t>
            </a:r>
            <a:r>
              <a:rPr lang="en-GB" sz="1600" i="1" dirty="0" err="1">
                <a:solidFill>
                  <a:schemeClr val="dk1"/>
                </a:solidFill>
                <a:latin typeface="+mn-lt"/>
                <a:ea typeface="Calibri"/>
                <a:cs typeface="Calibri"/>
                <a:sym typeface="Calibri"/>
              </a:rPr>
              <a:t>giardinii</a:t>
            </a:r>
            <a:endParaRPr sz="1600" i="1" dirty="0">
              <a:solidFill>
                <a:schemeClr val="dk1"/>
              </a:solidFill>
              <a:latin typeface="+mn-lt"/>
              <a:ea typeface="Calibri"/>
              <a:cs typeface="Calibri"/>
              <a:sym typeface="Calibri"/>
            </a:endParaRPr>
          </a:p>
          <a:p>
            <a:pPr marL="0" marR="0" lvl="0" indent="0" algn="l" rtl="0">
              <a:spcBef>
                <a:spcPts val="0"/>
              </a:spcBef>
              <a:spcAft>
                <a:spcPts val="0"/>
              </a:spcAft>
              <a:buNone/>
            </a:pPr>
            <a:endParaRPr sz="1600" dirty="0">
              <a:solidFill>
                <a:schemeClr val="dk1"/>
              </a:solidFill>
              <a:latin typeface="+mn-lt"/>
              <a:ea typeface="Calibri"/>
              <a:cs typeface="Calibri"/>
              <a:sym typeface="Calibri"/>
            </a:endParaRPr>
          </a:p>
          <a:p>
            <a:pPr marL="0" marR="0" lvl="0" indent="0" algn="l" rtl="0">
              <a:spcBef>
                <a:spcPts val="0"/>
              </a:spcBef>
              <a:spcAft>
                <a:spcPts val="0"/>
              </a:spcAft>
              <a:buNone/>
            </a:pPr>
            <a:r>
              <a:rPr lang="en-GB" sz="1600" b="1" dirty="0">
                <a:solidFill>
                  <a:schemeClr val="dk1"/>
                </a:solidFill>
                <a:latin typeface="+mn-lt"/>
                <a:ea typeface="Calibri"/>
                <a:cs typeface="Calibri"/>
                <a:sym typeface="Calibri"/>
              </a:rPr>
              <a:t>Beta-proteobacteria</a:t>
            </a:r>
            <a:endParaRPr sz="1600" b="1" dirty="0">
              <a:solidFill>
                <a:schemeClr val="dk1"/>
              </a:solidFill>
              <a:latin typeface="+mn-lt"/>
              <a:ea typeface="Calibri"/>
              <a:cs typeface="Calibri"/>
              <a:sym typeface="Calibri"/>
            </a:endParaRPr>
          </a:p>
          <a:p>
            <a:pPr marL="0" marR="0" lvl="0" indent="0" algn="l" rtl="0">
              <a:spcBef>
                <a:spcPts val="0"/>
              </a:spcBef>
              <a:spcAft>
                <a:spcPts val="0"/>
              </a:spcAft>
              <a:buNone/>
            </a:pPr>
            <a:r>
              <a:rPr lang="en-GB" sz="1600" dirty="0">
                <a:solidFill>
                  <a:schemeClr val="dk1"/>
                </a:solidFill>
                <a:latin typeface="+mn-lt"/>
                <a:ea typeface="Calibri"/>
                <a:cs typeface="Calibri"/>
                <a:sym typeface="Calibri"/>
              </a:rPr>
              <a:t>including </a:t>
            </a:r>
            <a:r>
              <a:rPr lang="en-GB" sz="1600" dirty="0" err="1">
                <a:solidFill>
                  <a:schemeClr val="dk1"/>
                </a:solidFill>
                <a:latin typeface="+mn-lt"/>
                <a:ea typeface="Calibri"/>
                <a:cs typeface="Calibri"/>
                <a:sym typeface="Calibri"/>
              </a:rPr>
              <a:t>Burkholderia,Cupriavidus</a:t>
            </a:r>
            <a:endParaRPr sz="1600" dirty="0">
              <a:solidFill>
                <a:schemeClr val="dk1"/>
              </a:solidFill>
              <a:latin typeface="+mn-lt"/>
              <a:ea typeface="Calibri"/>
              <a:cs typeface="Calibri"/>
              <a:sym typeface="Calibri"/>
            </a:endParaRPr>
          </a:p>
          <a:p>
            <a:pPr marL="0" marR="0" lvl="0" indent="0" algn="l" rtl="0">
              <a:spcBef>
                <a:spcPts val="0"/>
              </a:spcBef>
              <a:spcAft>
                <a:spcPts val="0"/>
              </a:spcAft>
              <a:buNone/>
            </a:pPr>
            <a:r>
              <a:rPr lang="en-GB" sz="1600" dirty="0">
                <a:solidFill>
                  <a:schemeClr val="dk1"/>
                </a:solidFill>
                <a:latin typeface="+mn-lt"/>
                <a:ea typeface="Calibri"/>
                <a:cs typeface="Calibri"/>
                <a:sym typeface="Calibri"/>
              </a:rPr>
              <a:t>e.g. </a:t>
            </a:r>
            <a:r>
              <a:rPr lang="en-GB" sz="1600" i="1" dirty="0" err="1">
                <a:solidFill>
                  <a:schemeClr val="dk1"/>
                </a:solidFill>
                <a:latin typeface="+mn-lt"/>
                <a:ea typeface="Calibri"/>
                <a:cs typeface="Calibri"/>
                <a:sym typeface="Calibri"/>
              </a:rPr>
              <a:t>Burkholderia</a:t>
            </a:r>
            <a:r>
              <a:rPr lang="en-GB" sz="1600" i="1" dirty="0">
                <a:solidFill>
                  <a:schemeClr val="dk1"/>
                </a:solidFill>
                <a:latin typeface="+mn-lt"/>
                <a:ea typeface="Calibri"/>
                <a:cs typeface="Calibri"/>
                <a:sym typeface="Calibri"/>
              </a:rPr>
              <a:t> </a:t>
            </a:r>
            <a:r>
              <a:rPr lang="en-GB" sz="1600" i="1" dirty="0" err="1">
                <a:solidFill>
                  <a:schemeClr val="dk1"/>
                </a:solidFill>
                <a:latin typeface="+mn-lt"/>
                <a:ea typeface="Calibri"/>
                <a:cs typeface="Calibri"/>
                <a:sym typeface="Calibri"/>
              </a:rPr>
              <a:t>dolosa</a:t>
            </a:r>
            <a:r>
              <a:rPr lang="en-GB" sz="1600" dirty="0">
                <a:solidFill>
                  <a:schemeClr val="dk1"/>
                </a:solidFill>
                <a:latin typeface="+mn-lt"/>
                <a:ea typeface="Calibri"/>
                <a:cs typeface="Calibri"/>
                <a:sym typeface="Calibri"/>
              </a:rPr>
              <a:t>, </a:t>
            </a:r>
            <a:r>
              <a:rPr lang="en-GB" sz="1600" i="1" dirty="0">
                <a:solidFill>
                  <a:schemeClr val="dk1"/>
                </a:solidFill>
                <a:latin typeface="+mn-lt"/>
                <a:ea typeface="Calibri"/>
                <a:cs typeface="Calibri"/>
                <a:sym typeface="Calibri"/>
              </a:rPr>
              <a:t>B. </a:t>
            </a:r>
            <a:r>
              <a:rPr lang="en-GB" sz="1600" i="1" dirty="0" err="1">
                <a:solidFill>
                  <a:schemeClr val="dk1"/>
                </a:solidFill>
                <a:latin typeface="+mn-lt"/>
                <a:ea typeface="Calibri"/>
                <a:cs typeface="Calibri"/>
                <a:sym typeface="Calibri"/>
              </a:rPr>
              <a:t>sabiae</a:t>
            </a:r>
            <a:r>
              <a:rPr lang="en-GB" sz="1600" dirty="0">
                <a:solidFill>
                  <a:schemeClr val="dk1"/>
                </a:solidFill>
                <a:latin typeface="+mn-lt"/>
                <a:ea typeface="Calibri"/>
                <a:cs typeface="Calibri"/>
                <a:sym typeface="Calibri"/>
              </a:rPr>
              <a:t>, </a:t>
            </a:r>
            <a:r>
              <a:rPr lang="en-GB" sz="1600" i="1" dirty="0">
                <a:solidFill>
                  <a:schemeClr val="dk1"/>
                </a:solidFill>
                <a:latin typeface="+mn-lt"/>
                <a:ea typeface="Calibri"/>
                <a:cs typeface="Calibri"/>
                <a:sym typeface="Calibri"/>
              </a:rPr>
              <a:t>B. </a:t>
            </a:r>
            <a:r>
              <a:rPr lang="en-GB" sz="1600" i="1" dirty="0" err="1">
                <a:solidFill>
                  <a:schemeClr val="dk1"/>
                </a:solidFill>
                <a:latin typeface="+mn-lt"/>
                <a:ea typeface="Calibri"/>
                <a:cs typeface="Calibri"/>
                <a:sym typeface="Calibri"/>
              </a:rPr>
              <a:t>tuberum</a:t>
            </a:r>
            <a:endParaRPr sz="1600" i="1" dirty="0">
              <a:solidFill>
                <a:schemeClr val="dk1"/>
              </a:solidFill>
              <a:latin typeface="+mn-lt"/>
              <a:ea typeface="Calibri"/>
              <a:cs typeface="Calibri"/>
              <a:sym typeface="Calibri"/>
            </a:endParaRPr>
          </a:p>
        </p:txBody>
      </p:sp>
      <p:grpSp>
        <p:nvGrpSpPr>
          <p:cNvPr id="2" name="Group 1">
            <a:extLst>
              <a:ext uri="{FF2B5EF4-FFF2-40B4-BE49-F238E27FC236}">
                <a16:creationId xmlns:a16="http://schemas.microsoft.com/office/drawing/2014/main" id="{4A98A2CF-0236-D2B6-A0C2-3A9F6507BF3C}"/>
              </a:ext>
            </a:extLst>
          </p:cNvPr>
          <p:cNvGrpSpPr/>
          <p:nvPr/>
        </p:nvGrpSpPr>
        <p:grpSpPr>
          <a:xfrm>
            <a:off x="300009" y="1071563"/>
            <a:ext cx="4969926" cy="5786437"/>
            <a:chOff x="560761" y="1587500"/>
            <a:chExt cx="4423308" cy="5270500"/>
          </a:xfrm>
        </p:grpSpPr>
        <p:pic>
          <p:nvPicPr>
            <p:cNvPr id="667" name="Google Shape;667;p51"/>
            <p:cNvPicPr preferRelativeResize="0">
              <a:picLocks noChangeAspect="1"/>
            </p:cNvPicPr>
            <p:nvPr/>
          </p:nvPicPr>
          <p:blipFill rotWithShape="1">
            <a:blip r:embed="rId3">
              <a:alphaModFix/>
            </a:blip>
            <a:srcRect/>
            <a:stretch/>
          </p:blipFill>
          <p:spPr>
            <a:xfrm>
              <a:off x="560761" y="1587500"/>
              <a:ext cx="3949700" cy="5270500"/>
            </a:xfrm>
            <a:prstGeom prst="rect">
              <a:avLst/>
            </a:prstGeom>
            <a:noFill/>
            <a:ln>
              <a:noFill/>
            </a:ln>
          </p:spPr>
        </p:pic>
        <p:sp>
          <p:nvSpPr>
            <p:cNvPr id="668" name="Google Shape;668;p51"/>
            <p:cNvSpPr txBox="1"/>
            <p:nvPr/>
          </p:nvSpPr>
          <p:spPr>
            <a:xfrm>
              <a:off x="4032462" y="2525831"/>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Calibri"/>
                  <a:ea typeface="Calibri"/>
                  <a:cs typeface="Calibri"/>
                  <a:sym typeface="Calibri"/>
                </a:rPr>
                <a:t>Nodule</a:t>
              </a:r>
              <a:endParaRPr/>
            </a:p>
          </p:txBody>
        </p:sp>
        <p:sp>
          <p:nvSpPr>
            <p:cNvPr id="669" name="Google Shape;669;p51"/>
            <p:cNvSpPr txBox="1"/>
            <p:nvPr/>
          </p:nvSpPr>
          <p:spPr>
            <a:xfrm>
              <a:off x="4032462" y="4901168"/>
              <a:ext cx="9516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Calibri"/>
                  <a:ea typeface="Calibri"/>
                  <a:cs typeface="Calibri"/>
                  <a:sym typeface="Calibri"/>
                </a:rPr>
                <a:t>Bacteria</a:t>
              </a:r>
              <a:endParaRPr dirty="0"/>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2"/>
          <p:cNvSpPr txBox="1">
            <a:spLocks noGrp="1"/>
          </p:cNvSpPr>
          <p:nvPr>
            <p:ph type="title"/>
          </p:nvPr>
        </p:nvSpPr>
        <p:spPr>
          <a:xfrm>
            <a:off x="0" y="1"/>
            <a:ext cx="12192000" cy="7000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sz="2800" b="1" dirty="0">
                <a:solidFill>
                  <a:srgbClr val="C00000"/>
                </a:solidFill>
                <a:latin typeface="+mj-lt"/>
              </a:rPr>
              <a:t>‘Natural’ or biological nitrogen fixation is globally important! </a:t>
            </a:r>
            <a:endParaRPr sz="2800" b="1" dirty="0">
              <a:solidFill>
                <a:srgbClr val="C00000"/>
              </a:solidFill>
              <a:latin typeface="+mj-lt"/>
            </a:endParaRPr>
          </a:p>
        </p:txBody>
      </p:sp>
      <p:graphicFrame>
        <p:nvGraphicFramePr>
          <p:cNvPr id="675" name="Google Shape;675;p52"/>
          <p:cNvGraphicFramePr/>
          <p:nvPr>
            <p:extLst>
              <p:ext uri="{D42A27DB-BD31-4B8C-83A1-F6EECF244321}">
                <p14:modId xmlns:p14="http://schemas.microsoft.com/office/powerpoint/2010/main" val="2478516196"/>
              </p:ext>
            </p:extLst>
          </p:nvPr>
        </p:nvGraphicFramePr>
        <p:xfrm>
          <a:off x="2532857" y="700088"/>
          <a:ext cx="8154194" cy="5843588"/>
        </p:xfrm>
        <a:graphic>
          <a:graphicData uri="http://schemas.openxmlformats.org/drawingml/2006/table">
            <a:tbl>
              <a:tblPr>
                <a:noFill/>
                <a:tableStyleId>{3008826F-7A81-4F04-8040-88B8889D8B31}</a:tableStyleId>
              </a:tblPr>
              <a:tblGrid>
                <a:gridCol w="3726396">
                  <a:extLst>
                    <a:ext uri="{9D8B030D-6E8A-4147-A177-3AD203B41FA5}">
                      <a16:colId xmlns:a16="http://schemas.microsoft.com/office/drawing/2014/main" val="20000"/>
                    </a:ext>
                  </a:extLst>
                </a:gridCol>
                <a:gridCol w="4427798">
                  <a:extLst>
                    <a:ext uri="{9D8B030D-6E8A-4147-A177-3AD203B41FA5}">
                      <a16:colId xmlns:a16="http://schemas.microsoft.com/office/drawing/2014/main" val="20001"/>
                    </a:ext>
                  </a:extLst>
                </a:gridCol>
              </a:tblGrid>
              <a:tr h="1386015">
                <a:tc>
                  <a:txBody>
                    <a:bodyPr/>
                    <a:lstStyle/>
                    <a:p>
                      <a:pPr marL="0" marR="0" lvl="0" indent="0" algn="l" rtl="0">
                        <a:spcBef>
                          <a:spcPts val="0"/>
                        </a:spcBef>
                        <a:spcAft>
                          <a:spcPts val="0"/>
                        </a:spcAft>
                        <a:buNone/>
                      </a:pPr>
                      <a:r>
                        <a:rPr lang="en-GB" sz="1800" b="1" u="none" strike="noStrike" cap="none" dirty="0"/>
                        <a:t>Type of fixation</a:t>
                      </a:r>
                      <a:endParaRPr sz="1800" dirty="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b="1"/>
                        <a:t>N</a:t>
                      </a:r>
                      <a:r>
                        <a:rPr lang="en-GB" sz="1800" b="1" baseline="-25000"/>
                        <a:t>2</a:t>
                      </a:r>
                      <a:r>
                        <a:rPr lang="en-GB" sz="1800" b="1"/>
                        <a:t> fixed (10</a:t>
                      </a:r>
                      <a:r>
                        <a:rPr lang="en-GB" sz="1800" b="1" baseline="30000"/>
                        <a:t>12</a:t>
                      </a:r>
                      <a:r>
                        <a:rPr lang="en-GB" sz="1800" b="1"/>
                        <a:t> g per year, or 10</a:t>
                      </a:r>
                      <a:r>
                        <a:rPr lang="en-GB" sz="1800" b="1" baseline="30000"/>
                        <a:t>6</a:t>
                      </a:r>
                      <a:r>
                        <a:rPr lang="en-GB" sz="1800" b="1"/>
                        <a:t> metric tons per year)</a:t>
                      </a: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0"/>
                  </a:ext>
                </a:extLst>
              </a:tr>
              <a:tr h="316908">
                <a:tc>
                  <a:txBody>
                    <a:bodyPr/>
                    <a:lstStyle/>
                    <a:p>
                      <a:pPr marL="0" marR="0" lvl="0" indent="0" algn="l" rtl="0">
                        <a:spcBef>
                          <a:spcPts val="0"/>
                        </a:spcBef>
                        <a:spcAft>
                          <a:spcPts val="0"/>
                        </a:spcAft>
                        <a:buNone/>
                      </a:pPr>
                      <a:r>
                        <a:rPr lang="en-GB" sz="1800" b="1" dirty="0"/>
                        <a:t>Non-biological</a:t>
                      </a:r>
                      <a:endParaRPr sz="1800" dirty="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1"/>
                  </a:ext>
                </a:extLst>
              </a:tr>
              <a:tr h="316908">
                <a:tc>
                  <a:txBody>
                    <a:bodyPr/>
                    <a:lstStyle/>
                    <a:p>
                      <a:pPr marL="0" marR="0" lvl="0" indent="0" algn="l" rtl="0">
                        <a:spcBef>
                          <a:spcPts val="0"/>
                        </a:spcBef>
                        <a:spcAft>
                          <a:spcPts val="0"/>
                        </a:spcAft>
                        <a:buNone/>
                      </a:pPr>
                      <a:r>
                        <a:rPr lang="en-GB" sz="1800"/>
                        <a:t>Industrial</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a:t>about 50</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2"/>
                  </a:ext>
                </a:extLst>
              </a:tr>
              <a:tr h="316908">
                <a:tc>
                  <a:txBody>
                    <a:bodyPr/>
                    <a:lstStyle/>
                    <a:p>
                      <a:pPr marL="0" marR="0" lvl="0" indent="0" algn="l" rtl="0">
                        <a:spcBef>
                          <a:spcPts val="0"/>
                        </a:spcBef>
                        <a:spcAft>
                          <a:spcPts val="0"/>
                        </a:spcAft>
                        <a:buNone/>
                      </a:pPr>
                      <a:r>
                        <a:rPr lang="en-GB" sz="1800"/>
                        <a:t>Combustion</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a:t>about 20</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3"/>
                  </a:ext>
                </a:extLst>
              </a:tr>
              <a:tr h="316908">
                <a:tc>
                  <a:txBody>
                    <a:bodyPr/>
                    <a:lstStyle/>
                    <a:p>
                      <a:pPr marL="0" marR="0" lvl="0" indent="0" algn="l" rtl="0">
                        <a:spcBef>
                          <a:spcPts val="0"/>
                        </a:spcBef>
                        <a:spcAft>
                          <a:spcPts val="0"/>
                        </a:spcAft>
                        <a:buNone/>
                      </a:pPr>
                      <a:r>
                        <a:rPr lang="en-GB" sz="1800"/>
                        <a:t>Lightning</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a:t>about 10</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4"/>
                  </a:ext>
                </a:extLst>
              </a:tr>
              <a:tr h="316908">
                <a:tc>
                  <a:txBody>
                    <a:bodyPr/>
                    <a:lstStyle/>
                    <a:p>
                      <a:pPr marL="0" marR="0" lvl="0" indent="0" algn="l" rtl="0">
                        <a:spcBef>
                          <a:spcPts val="0"/>
                        </a:spcBef>
                        <a:spcAft>
                          <a:spcPts val="0"/>
                        </a:spcAft>
                        <a:buNone/>
                      </a:pPr>
                      <a:r>
                        <a:rPr lang="en-GB" sz="1800" b="1"/>
                        <a:t>Total</a:t>
                      </a: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b="1"/>
                        <a:t>about 80</a:t>
                      </a: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5"/>
                  </a:ext>
                </a:extLst>
              </a:tr>
              <a:tr h="316908">
                <a:tc>
                  <a:txBody>
                    <a:bodyPr/>
                    <a:lstStyle/>
                    <a:p>
                      <a:pPr marL="0" marR="0" lvl="0" indent="0" algn="l" rtl="0">
                        <a:spcBef>
                          <a:spcPts val="0"/>
                        </a:spcBef>
                        <a:spcAft>
                          <a:spcPts val="0"/>
                        </a:spcAft>
                        <a:buNone/>
                      </a:pP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6"/>
                  </a:ext>
                </a:extLst>
              </a:tr>
              <a:tr h="316908">
                <a:tc>
                  <a:txBody>
                    <a:bodyPr/>
                    <a:lstStyle/>
                    <a:p>
                      <a:pPr marL="0" marR="0" lvl="0" indent="0" algn="l" rtl="0">
                        <a:spcBef>
                          <a:spcPts val="0"/>
                        </a:spcBef>
                        <a:spcAft>
                          <a:spcPts val="0"/>
                        </a:spcAft>
                        <a:buNone/>
                      </a:pPr>
                      <a:r>
                        <a:rPr lang="en-GB" sz="1800" b="1"/>
                        <a:t>Biological</a:t>
                      </a: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7"/>
                  </a:ext>
                </a:extLst>
              </a:tr>
              <a:tr h="316908">
                <a:tc>
                  <a:txBody>
                    <a:bodyPr/>
                    <a:lstStyle/>
                    <a:p>
                      <a:pPr marL="0" marR="0" lvl="0" indent="0" algn="l" rtl="0">
                        <a:spcBef>
                          <a:spcPts val="0"/>
                        </a:spcBef>
                        <a:spcAft>
                          <a:spcPts val="0"/>
                        </a:spcAft>
                        <a:buNone/>
                      </a:pPr>
                      <a:r>
                        <a:rPr lang="en-GB" sz="1800"/>
                        <a:t>Agricultural land</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a:t>about 90</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8"/>
                  </a:ext>
                </a:extLst>
              </a:tr>
              <a:tr h="316908">
                <a:tc>
                  <a:txBody>
                    <a:bodyPr/>
                    <a:lstStyle/>
                    <a:p>
                      <a:pPr marL="0" marR="0" lvl="0" indent="0" algn="l" rtl="0">
                        <a:spcBef>
                          <a:spcPts val="0"/>
                        </a:spcBef>
                        <a:spcAft>
                          <a:spcPts val="0"/>
                        </a:spcAft>
                        <a:buNone/>
                      </a:pPr>
                      <a:r>
                        <a:rPr lang="en-GB" sz="1800" dirty="0"/>
                        <a:t>Forest and non-agricultural land</a:t>
                      </a:r>
                      <a:endParaRPr sz="1600" dirty="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a:t>about 50</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09"/>
                  </a:ext>
                </a:extLst>
              </a:tr>
              <a:tr h="316908">
                <a:tc>
                  <a:txBody>
                    <a:bodyPr/>
                    <a:lstStyle/>
                    <a:p>
                      <a:pPr marL="0" marR="0" lvl="0" indent="0" algn="l" rtl="0">
                        <a:spcBef>
                          <a:spcPts val="0"/>
                        </a:spcBef>
                        <a:spcAft>
                          <a:spcPts val="0"/>
                        </a:spcAft>
                        <a:buNone/>
                      </a:pPr>
                      <a:r>
                        <a:rPr lang="en-GB" sz="1800"/>
                        <a:t>Sea</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a:t>about 35</a:t>
                      </a:r>
                      <a:endParaRPr sz="16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10"/>
                  </a:ext>
                </a:extLst>
              </a:tr>
              <a:tr h="316908">
                <a:tc>
                  <a:txBody>
                    <a:bodyPr/>
                    <a:lstStyle/>
                    <a:p>
                      <a:pPr marL="0" marR="0" lvl="0" indent="0" algn="l" rtl="0">
                        <a:spcBef>
                          <a:spcPts val="0"/>
                        </a:spcBef>
                        <a:spcAft>
                          <a:spcPts val="0"/>
                        </a:spcAft>
                        <a:buNone/>
                      </a:pPr>
                      <a:r>
                        <a:rPr lang="en-GB" sz="1800" b="1"/>
                        <a:t>Total</a:t>
                      </a: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a:txBody>
                    <a:bodyPr/>
                    <a:lstStyle/>
                    <a:p>
                      <a:pPr marL="0" marR="0" lvl="0" indent="0" algn="l" rtl="0">
                        <a:spcBef>
                          <a:spcPts val="0"/>
                        </a:spcBef>
                        <a:spcAft>
                          <a:spcPts val="0"/>
                        </a:spcAft>
                        <a:buNone/>
                      </a:pPr>
                      <a:r>
                        <a:rPr lang="en-GB" sz="1800" b="1"/>
                        <a:t>about 175</a:t>
                      </a:r>
                      <a:endParaRPr sz="180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extLst>
                  <a:ext uri="{0D108BD9-81ED-4DB2-BD59-A6C34878D82A}">
                    <a16:rowId xmlns:a16="http://schemas.microsoft.com/office/drawing/2014/main" val="10011"/>
                  </a:ext>
                </a:extLst>
              </a:tr>
              <a:tr h="971585">
                <a:tc gridSpan="2">
                  <a:txBody>
                    <a:bodyPr/>
                    <a:lstStyle/>
                    <a:p>
                      <a:pPr marL="0" marR="0" lvl="0" indent="0" algn="l" rtl="0">
                        <a:spcBef>
                          <a:spcPts val="0"/>
                        </a:spcBef>
                        <a:spcAft>
                          <a:spcPts val="0"/>
                        </a:spcAft>
                        <a:buNone/>
                      </a:pPr>
                      <a:r>
                        <a:rPr lang="en-GB" sz="1200" dirty="0"/>
                        <a:t>Data from various sources, compiled by DF </a:t>
                      </a:r>
                      <a:r>
                        <a:rPr lang="en-GB" sz="1200" dirty="0" err="1"/>
                        <a:t>Bezdicek</a:t>
                      </a:r>
                      <a:r>
                        <a:rPr lang="en-GB" sz="1200" dirty="0"/>
                        <a:t> &amp; AC Kennedy, in </a:t>
                      </a:r>
                      <a:r>
                        <a:rPr lang="en-GB" sz="1200" i="1" dirty="0"/>
                        <a:t>Microorganisms in Action</a:t>
                      </a:r>
                      <a:r>
                        <a:rPr lang="en-GB" sz="1200" dirty="0"/>
                        <a:t> (eds. JM Lynch &amp; JE Hobbie). Blackwell Scientific Publications 1998.</a:t>
                      </a:r>
                      <a:endParaRPr sz="1600" dirty="0"/>
                    </a:p>
                  </a:txBody>
                  <a:tcPr marL="18250" marR="18250" marT="18250" marB="182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7F7D7"/>
                    </a:solidFill>
                  </a:tcPr>
                </a:tc>
                <a:tc hMerge="1">
                  <a:txBody>
                    <a:bodyPr/>
                    <a:lstStyle/>
                    <a:p>
                      <a:endParaRPr lang="en-US"/>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pic>
        <p:nvPicPr>
          <p:cNvPr id="680" name="Google Shape;680;p53"/>
          <p:cNvPicPr preferRelativeResize="0"/>
          <p:nvPr/>
        </p:nvPicPr>
        <p:blipFill rotWithShape="1">
          <a:blip r:embed="rId3">
            <a:alphaModFix/>
          </a:blip>
          <a:srcRect/>
          <a:stretch/>
        </p:blipFill>
        <p:spPr>
          <a:xfrm>
            <a:off x="1975104" y="1656333"/>
            <a:ext cx="5620512" cy="3733332"/>
          </a:xfrm>
          <a:prstGeom prst="rect">
            <a:avLst/>
          </a:prstGeom>
          <a:noFill/>
          <a:ln>
            <a:noFill/>
          </a:ln>
        </p:spPr>
      </p:pic>
      <p:sp>
        <p:nvSpPr>
          <p:cNvPr id="681" name="Google Shape;681;p53"/>
          <p:cNvSpPr txBox="1"/>
          <p:nvPr/>
        </p:nvSpPr>
        <p:spPr>
          <a:xfrm>
            <a:off x="64294" y="0"/>
            <a:ext cx="1206341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dirty="0">
                <a:solidFill>
                  <a:srgbClr val="C00000"/>
                </a:solidFill>
                <a:latin typeface="+mj-lt"/>
                <a:ea typeface="Calibri"/>
                <a:cs typeface="Calibri"/>
                <a:sym typeface="Calibri"/>
              </a:rPr>
              <a:t>But some (~15% of world total) plants have evolved not to associate with microorganisms (either mycorrhizal fungi or bacteria)</a:t>
            </a:r>
            <a:endParaRPr b="1" dirty="0">
              <a:solidFill>
                <a:srgbClr val="C00000"/>
              </a:solidFill>
              <a:latin typeface="+mj-lt"/>
            </a:endParaRPr>
          </a:p>
        </p:txBody>
      </p:sp>
      <p:sp>
        <p:nvSpPr>
          <p:cNvPr id="682" name="Google Shape;682;p53"/>
          <p:cNvSpPr txBox="1"/>
          <p:nvPr/>
        </p:nvSpPr>
        <p:spPr>
          <a:xfrm>
            <a:off x="7815073" y="2474977"/>
            <a:ext cx="4029265"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dirty="0">
                <a:solidFill>
                  <a:schemeClr val="dk1"/>
                </a:solidFill>
                <a:latin typeface="+mn-lt"/>
                <a:ea typeface="Calibri"/>
                <a:cs typeface="Calibri"/>
                <a:sym typeface="Calibri"/>
              </a:rPr>
              <a:t>Some important non-mycorrhizal and non-N fixing species below to the Family </a:t>
            </a:r>
            <a:r>
              <a:rPr lang="en-GB" sz="2000" i="1" dirty="0">
                <a:solidFill>
                  <a:schemeClr val="dk1"/>
                </a:solidFill>
                <a:latin typeface="+mn-lt"/>
                <a:ea typeface="Calibri"/>
                <a:cs typeface="Calibri"/>
                <a:sym typeface="Calibri"/>
              </a:rPr>
              <a:t>Brassicaceae</a:t>
            </a:r>
            <a:endParaRPr sz="1600" dirty="0">
              <a:latin typeface="+mn-lt"/>
            </a:endParaRPr>
          </a:p>
        </p:txBody>
      </p:sp>
      <p:sp>
        <p:nvSpPr>
          <p:cNvPr id="683" name="Google Shape;683;p53"/>
          <p:cNvSpPr txBox="1"/>
          <p:nvPr/>
        </p:nvSpPr>
        <p:spPr>
          <a:xfrm>
            <a:off x="7773489" y="4230624"/>
            <a:ext cx="3399335"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mj-lt"/>
                <a:ea typeface="Calibri"/>
                <a:cs typeface="Calibri"/>
                <a:sym typeface="Calibri"/>
              </a:rPr>
              <a:t>Cabbages, sprouts, spinach…</a:t>
            </a:r>
            <a:endParaRPr dirty="0">
              <a:latin typeface="+mj-lt"/>
            </a:endParaRPr>
          </a:p>
        </p:txBody>
      </p:sp>
      <p:sp>
        <p:nvSpPr>
          <p:cNvPr id="684" name="Google Shape;684;p53"/>
          <p:cNvSpPr txBox="1"/>
          <p:nvPr/>
        </p:nvSpPr>
        <p:spPr>
          <a:xfrm>
            <a:off x="1837155" y="5664573"/>
            <a:ext cx="752170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mn-lt"/>
                <a:ea typeface="Calibri"/>
                <a:cs typeface="Calibri"/>
                <a:sym typeface="Calibri"/>
              </a:rPr>
              <a:t>How can these plants compete against plants that have highly evolved root-fungal or root-bacterial symbioses?</a:t>
            </a:r>
            <a:endParaRPr dirty="0">
              <a:latin typeface="+mn-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54"/>
          <p:cNvSpPr txBox="1">
            <a:spLocks noGrp="1"/>
          </p:cNvSpPr>
          <p:nvPr>
            <p:ph type="title"/>
          </p:nvPr>
        </p:nvSpPr>
        <p:spPr>
          <a:xfrm>
            <a:off x="42864" y="31749"/>
            <a:ext cx="10515600" cy="649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sz="4000" b="1" dirty="0">
                <a:solidFill>
                  <a:srgbClr val="C00000"/>
                </a:solidFill>
                <a:latin typeface="+mn-lt"/>
              </a:rPr>
              <a:t>Key messages</a:t>
            </a:r>
            <a:endParaRPr sz="4000" dirty="0">
              <a:solidFill>
                <a:srgbClr val="C00000"/>
              </a:solidFill>
              <a:latin typeface="+mn-lt"/>
            </a:endParaRPr>
          </a:p>
        </p:txBody>
      </p:sp>
      <p:sp>
        <p:nvSpPr>
          <p:cNvPr id="690" name="Google Shape;690;p54"/>
          <p:cNvSpPr txBox="1">
            <a:spLocks noGrp="1"/>
          </p:cNvSpPr>
          <p:nvPr>
            <p:ph type="body" idx="1"/>
          </p:nvPr>
        </p:nvSpPr>
        <p:spPr>
          <a:xfrm>
            <a:off x="566671" y="1683957"/>
            <a:ext cx="10800008"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C00000"/>
              </a:buClr>
              <a:buSzPts val="2800"/>
              <a:buChar char="•"/>
            </a:pPr>
            <a:r>
              <a:rPr lang="en-GB" dirty="0">
                <a:latin typeface="+mn-lt"/>
              </a:rPr>
              <a:t>Plants need to acquire</a:t>
            </a:r>
            <a:r>
              <a:rPr lang="en-GB" dirty="0">
                <a:solidFill>
                  <a:srgbClr val="C00000"/>
                </a:solidFill>
                <a:latin typeface="+mn-lt"/>
              </a:rPr>
              <a:t> resources</a:t>
            </a:r>
            <a:r>
              <a:rPr lang="en-GB" dirty="0">
                <a:latin typeface="+mn-lt"/>
              </a:rPr>
              <a:t>, notably nutrients, water and energy</a:t>
            </a:r>
          </a:p>
          <a:p>
            <a:pPr marL="228600" lvl="0" indent="-228600" algn="l" rtl="0">
              <a:lnSpc>
                <a:spcPct val="90000"/>
              </a:lnSpc>
              <a:spcBef>
                <a:spcPts val="0"/>
              </a:spcBef>
              <a:spcAft>
                <a:spcPts val="0"/>
              </a:spcAft>
              <a:buClr>
                <a:srgbClr val="C00000"/>
              </a:buClr>
              <a:buSzPts val="2800"/>
              <a:buChar char="•"/>
            </a:pP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Their </a:t>
            </a:r>
            <a:r>
              <a:rPr lang="en-GB" dirty="0">
                <a:solidFill>
                  <a:srgbClr val="C00000"/>
                </a:solidFill>
                <a:latin typeface="+mn-lt"/>
              </a:rPr>
              <a:t>interactions with myriad soil microorganisms </a:t>
            </a:r>
            <a:r>
              <a:rPr lang="en-GB" dirty="0">
                <a:latin typeface="+mn-lt"/>
              </a:rPr>
              <a:t>are crucial to help them acquire resources from both soil and atmosphere</a:t>
            </a:r>
          </a:p>
          <a:p>
            <a:pPr marL="228600" lvl="0" indent="-228600" algn="l" rtl="0">
              <a:lnSpc>
                <a:spcPct val="90000"/>
              </a:lnSpc>
              <a:spcBef>
                <a:spcPts val="1000"/>
              </a:spcBef>
              <a:spcAft>
                <a:spcPts val="0"/>
              </a:spcAft>
              <a:buClr>
                <a:srgbClr val="C00000"/>
              </a:buClr>
              <a:buSzPts val="2800"/>
              <a:buChar char="•"/>
            </a:pP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Can we harness</a:t>
            </a:r>
            <a:r>
              <a:rPr lang="en-GB" dirty="0">
                <a:solidFill>
                  <a:srgbClr val="C00000"/>
                </a:solidFill>
                <a:latin typeface="+mn-lt"/>
              </a:rPr>
              <a:t> “the power of evolution” </a:t>
            </a:r>
            <a:r>
              <a:rPr lang="en-GB" dirty="0">
                <a:latin typeface="+mn-lt"/>
              </a:rPr>
              <a:t>and develop crop varieties or cropping systems that exploit natural mechanisms? </a:t>
            </a:r>
            <a:endParaRPr dirty="0">
              <a:latin typeface="+mn-lt"/>
            </a:endParaRPr>
          </a:p>
          <a:p>
            <a:pPr marL="228600" lvl="0" indent="-50800" algn="l" rtl="0">
              <a:lnSpc>
                <a:spcPct val="90000"/>
              </a:lnSpc>
              <a:spcBef>
                <a:spcPts val="1000"/>
              </a:spcBef>
              <a:spcAft>
                <a:spcPts val="0"/>
              </a:spcAft>
              <a:buClr>
                <a:schemeClr val="dk1"/>
              </a:buClr>
              <a:buSzPts val="2800"/>
              <a:buNone/>
            </a:pPr>
            <a:endParaRPr dirty="0">
              <a:latin typeface="+mn-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56"/>
          <p:cNvSpPr txBox="1">
            <a:spLocks noGrp="1"/>
          </p:cNvSpPr>
          <p:nvPr>
            <p:ph type="title"/>
          </p:nvPr>
        </p:nvSpPr>
        <p:spPr>
          <a:xfrm>
            <a:off x="191871" y="93515"/>
            <a:ext cx="10515600" cy="685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GB" b="1" dirty="0">
                <a:solidFill>
                  <a:srgbClr val="C00000"/>
                </a:solidFill>
                <a:latin typeface="+mj-lt"/>
              </a:rPr>
              <a:t>Publication of the week!</a:t>
            </a:r>
            <a:endParaRPr b="1" dirty="0">
              <a:solidFill>
                <a:srgbClr val="C00000"/>
              </a:solidFill>
              <a:latin typeface="+mj-lt"/>
            </a:endParaRPr>
          </a:p>
        </p:txBody>
      </p:sp>
      <p:pic>
        <p:nvPicPr>
          <p:cNvPr id="702" name="Google Shape;702;p56"/>
          <p:cNvPicPr preferRelativeResize="0"/>
          <p:nvPr/>
        </p:nvPicPr>
        <p:blipFill rotWithShape="1">
          <a:blip r:embed="rId3">
            <a:alphaModFix/>
          </a:blip>
          <a:srcRect/>
          <a:stretch/>
        </p:blipFill>
        <p:spPr>
          <a:xfrm>
            <a:off x="1484528" y="1627114"/>
            <a:ext cx="9222943" cy="2448272"/>
          </a:xfrm>
          <a:prstGeom prst="rect">
            <a:avLst/>
          </a:prstGeom>
          <a:noFill/>
          <a:ln>
            <a:noFill/>
          </a:ln>
        </p:spPr>
      </p:pic>
      <p:sp>
        <p:nvSpPr>
          <p:cNvPr id="703" name="Google Shape;703;p56"/>
          <p:cNvSpPr/>
          <p:nvPr/>
        </p:nvSpPr>
        <p:spPr>
          <a:xfrm>
            <a:off x="1674937" y="4164005"/>
            <a:ext cx="489654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Arial"/>
                <a:ea typeface="Arial"/>
                <a:cs typeface="Arial"/>
                <a:sym typeface="Arial"/>
              </a:rPr>
              <a:t>New Phytologist (2019) 222: 543–555 </a:t>
            </a:r>
            <a:endParaRPr dirty="0"/>
          </a:p>
          <a:p>
            <a:pPr marL="0" marR="0" lvl="0" indent="0" algn="l" rtl="0">
              <a:spcBef>
                <a:spcPts val="0"/>
              </a:spcBef>
              <a:spcAft>
                <a:spcPts val="0"/>
              </a:spcAft>
              <a:buNone/>
            </a:pPr>
            <a:r>
              <a:rPr lang="en-GB" sz="1800" dirty="0" err="1">
                <a:solidFill>
                  <a:schemeClr val="dk1"/>
                </a:solidFill>
                <a:latin typeface="Arial"/>
                <a:ea typeface="Arial"/>
                <a:cs typeface="Arial"/>
                <a:sym typeface="Arial"/>
              </a:rPr>
              <a:t>doi</a:t>
            </a:r>
            <a:r>
              <a:rPr lang="en-GB" sz="1800" dirty="0">
                <a:solidFill>
                  <a:schemeClr val="dk1"/>
                </a:solidFill>
                <a:latin typeface="Arial"/>
                <a:ea typeface="Arial"/>
                <a:cs typeface="Arial"/>
                <a:sym typeface="Arial"/>
              </a:rPr>
              <a:t>: 10.1111/nph.15570 </a:t>
            </a:r>
            <a:endParaRPr sz="1800" dirty="0">
              <a:solidFill>
                <a:schemeClr val="dk1"/>
              </a:solidFill>
              <a:latin typeface="Calibri"/>
              <a:ea typeface="Calibri"/>
              <a:cs typeface="Calibri"/>
              <a:sym typeface="Calibri"/>
            </a:endParaRPr>
          </a:p>
        </p:txBody>
      </p:sp>
      <p:sp>
        <p:nvSpPr>
          <p:cNvPr id="704" name="Google Shape;704;p56"/>
          <p:cNvSpPr txBox="1"/>
          <p:nvPr/>
        </p:nvSpPr>
        <p:spPr>
          <a:xfrm>
            <a:off x="1857375" y="5085185"/>
            <a:ext cx="659159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C00000"/>
                </a:solidFill>
                <a:latin typeface="+mj-lt"/>
                <a:ea typeface="Calibri"/>
                <a:cs typeface="Calibri"/>
                <a:sym typeface="Calibri"/>
              </a:rPr>
              <a:t>What is a “meta analysis”?</a:t>
            </a:r>
            <a:endParaRPr dirty="0">
              <a:solidFill>
                <a:srgbClr val="C00000"/>
              </a:solidFill>
              <a:latin typeface="+mj-l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pic>
        <p:nvPicPr>
          <p:cNvPr id="709" name="Google Shape;709;p57" descr="http://www.agron.co.il/media/Mycorrhiza_field_trials_1.jpg"/>
          <p:cNvPicPr preferRelativeResize="0"/>
          <p:nvPr/>
        </p:nvPicPr>
        <p:blipFill rotWithShape="1">
          <a:blip r:embed="rId3">
            <a:alphaModFix/>
          </a:blip>
          <a:srcRect/>
          <a:stretch/>
        </p:blipFill>
        <p:spPr>
          <a:xfrm>
            <a:off x="1775521" y="1845216"/>
            <a:ext cx="3228975" cy="4362450"/>
          </a:xfrm>
          <a:prstGeom prst="rect">
            <a:avLst/>
          </a:prstGeom>
          <a:noFill/>
          <a:ln>
            <a:noFill/>
          </a:ln>
        </p:spPr>
      </p:pic>
      <p:pic>
        <p:nvPicPr>
          <p:cNvPr id="710" name="Google Shape;710;p57" descr="http://www.symyc.de/wp/wp-content/uploads/2013/08/Potato_-+AMF_500.jpg">
            <a:hlinkClick r:id="rId4"/>
          </p:cNvPr>
          <p:cNvPicPr preferRelativeResize="0"/>
          <p:nvPr/>
        </p:nvPicPr>
        <p:blipFill rotWithShape="1">
          <a:blip r:embed="rId5">
            <a:alphaModFix/>
          </a:blip>
          <a:srcRect/>
          <a:stretch/>
        </p:blipFill>
        <p:spPr>
          <a:xfrm>
            <a:off x="5303912" y="3158129"/>
            <a:ext cx="4762500" cy="2933701"/>
          </a:xfrm>
          <a:prstGeom prst="rect">
            <a:avLst/>
          </a:prstGeom>
          <a:noFill/>
          <a:ln>
            <a:noFill/>
          </a:ln>
        </p:spPr>
      </p:pic>
      <p:sp>
        <p:nvSpPr>
          <p:cNvPr id="711" name="Google Shape;711;p57"/>
          <p:cNvSpPr txBox="1">
            <a:spLocks noGrp="1"/>
          </p:cNvSpPr>
          <p:nvPr>
            <p:ph type="title"/>
          </p:nvPr>
        </p:nvSpPr>
        <p:spPr>
          <a:xfrm>
            <a:off x="2042922" y="730887"/>
            <a:ext cx="78867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GB" dirty="0"/>
              <a:t>Can we</a:t>
            </a:r>
            <a:r>
              <a:rPr lang="en-GB" sz="4000" dirty="0">
                <a:latin typeface="+mj-lt"/>
              </a:rPr>
              <a:t> start using mycorrhizal fungi to increase crop production?</a:t>
            </a:r>
            <a:br>
              <a:rPr lang="en-GB" sz="4000" dirty="0">
                <a:latin typeface="+mj-lt"/>
              </a:rPr>
            </a:br>
            <a:br>
              <a:rPr lang="en-GB" sz="4000" dirty="0">
                <a:latin typeface="+mj-lt"/>
              </a:rPr>
            </a:br>
            <a:r>
              <a:rPr lang="en-GB" sz="4000" dirty="0">
                <a:latin typeface="+mj-lt"/>
              </a:rPr>
              <a:t>Field</a:t>
            </a:r>
            <a:r>
              <a:rPr lang="en-GB" dirty="0"/>
              <a:t> trials</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pic>
        <p:nvPicPr>
          <p:cNvPr id="716" name="Google Shape;716;p58"/>
          <p:cNvPicPr preferRelativeResize="0"/>
          <p:nvPr/>
        </p:nvPicPr>
        <p:blipFill rotWithShape="1">
          <a:blip r:embed="rId3">
            <a:alphaModFix/>
          </a:blip>
          <a:srcRect l="12222" t="14344" r="7948" b="16397"/>
          <a:stretch/>
        </p:blipFill>
        <p:spPr>
          <a:xfrm>
            <a:off x="563811" y="839861"/>
            <a:ext cx="3960441" cy="2863356"/>
          </a:xfrm>
          <a:prstGeom prst="rect">
            <a:avLst/>
          </a:prstGeom>
          <a:noFill/>
          <a:ln>
            <a:noFill/>
          </a:ln>
        </p:spPr>
      </p:pic>
      <p:pic>
        <p:nvPicPr>
          <p:cNvPr id="717" name="Google Shape;717;p58"/>
          <p:cNvPicPr preferRelativeResize="0"/>
          <p:nvPr/>
        </p:nvPicPr>
        <p:blipFill rotWithShape="1">
          <a:blip r:embed="rId4">
            <a:alphaModFix/>
          </a:blip>
          <a:srcRect l="14376" t="5653" r="14008" b="4018"/>
          <a:stretch/>
        </p:blipFill>
        <p:spPr>
          <a:xfrm>
            <a:off x="4675894" y="839861"/>
            <a:ext cx="2458021" cy="2970561"/>
          </a:xfrm>
          <a:prstGeom prst="rect">
            <a:avLst/>
          </a:prstGeom>
          <a:noFill/>
          <a:ln>
            <a:noFill/>
          </a:ln>
        </p:spPr>
      </p:pic>
      <p:sp>
        <p:nvSpPr>
          <p:cNvPr id="720" name="Google Shape;720;p58"/>
          <p:cNvSpPr txBox="1">
            <a:spLocks noGrp="1"/>
          </p:cNvSpPr>
          <p:nvPr>
            <p:ph type="title"/>
          </p:nvPr>
        </p:nvSpPr>
        <p:spPr>
          <a:xfrm>
            <a:off x="2464" y="43166"/>
            <a:ext cx="9620250" cy="56207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GB" sz="3200" b="1" dirty="0">
                <a:solidFill>
                  <a:srgbClr val="C00000"/>
                </a:solidFill>
                <a:latin typeface="+mn-lt"/>
              </a:rPr>
              <a:t>What is mycorrhizal fungal inoculum?</a:t>
            </a:r>
            <a:endParaRPr sz="3200" b="1" dirty="0">
              <a:solidFill>
                <a:srgbClr val="C00000"/>
              </a:solidFill>
              <a:latin typeface="+mn-lt"/>
            </a:endParaRPr>
          </a:p>
        </p:txBody>
      </p:sp>
      <p:sp>
        <p:nvSpPr>
          <p:cNvPr id="721" name="Google Shape;721;p58"/>
          <p:cNvSpPr txBox="1"/>
          <p:nvPr/>
        </p:nvSpPr>
        <p:spPr>
          <a:xfrm>
            <a:off x="7176120" y="1589978"/>
            <a:ext cx="4196730" cy="203128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mn-lt"/>
                <a:ea typeface="Calibri"/>
                <a:cs typeface="Calibri"/>
                <a:sym typeface="Calibri"/>
              </a:rPr>
              <a:t>No accreditation!</a:t>
            </a:r>
            <a:endParaRPr dirty="0">
              <a:latin typeface="+mn-lt"/>
            </a:endParaRPr>
          </a:p>
          <a:p>
            <a:pPr marL="285750" marR="0" lvl="0" indent="-285750" algn="l" rtl="0">
              <a:spcBef>
                <a:spcPts val="0"/>
              </a:spcBef>
              <a:spcAft>
                <a:spcPts val="0"/>
              </a:spcAft>
              <a:buClr>
                <a:schemeClr val="dk1"/>
              </a:buClr>
              <a:buSzPts val="1800"/>
              <a:buFont typeface="Arial"/>
              <a:buChar char="•"/>
            </a:pPr>
            <a:r>
              <a:rPr lang="en-GB" sz="1800" dirty="0" err="1">
                <a:solidFill>
                  <a:schemeClr val="dk1"/>
                </a:solidFill>
                <a:latin typeface="+mn-lt"/>
                <a:ea typeface="Calibri"/>
                <a:cs typeface="Calibri"/>
                <a:sym typeface="Calibri"/>
              </a:rPr>
              <a:t>Inocula</a:t>
            </a:r>
            <a:r>
              <a:rPr lang="en-GB" sz="1800" dirty="0">
                <a:solidFill>
                  <a:schemeClr val="dk1"/>
                </a:solidFill>
                <a:latin typeface="+mn-lt"/>
                <a:ea typeface="Calibri"/>
                <a:cs typeface="Calibri"/>
                <a:sym typeface="Calibri"/>
              </a:rPr>
              <a:t> often mixed with carrying agents</a:t>
            </a:r>
            <a:endParaRPr dirty="0">
              <a:latin typeface="+mn-lt"/>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mn-lt"/>
                <a:ea typeface="Calibri"/>
                <a:cs typeface="Calibri"/>
                <a:sym typeface="Calibri"/>
              </a:rPr>
              <a:t>Vague descriptions about what the </a:t>
            </a:r>
            <a:r>
              <a:rPr lang="en-GB" sz="1800" dirty="0" err="1">
                <a:solidFill>
                  <a:schemeClr val="dk1"/>
                </a:solidFill>
                <a:latin typeface="+mn-lt"/>
                <a:ea typeface="Calibri"/>
                <a:cs typeface="Calibri"/>
                <a:sym typeface="Calibri"/>
              </a:rPr>
              <a:t>inocula</a:t>
            </a:r>
            <a:r>
              <a:rPr lang="en-GB" sz="1800" dirty="0">
                <a:solidFill>
                  <a:schemeClr val="dk1"/>
                </a:solidFill>
                <a:latin typeface="+mn-lt"/>
                <a:ea typeface="Calibri"/>
                <a:cs typeface="Calibri"/>
                <a:sym typeface="Calibri"/>
              </a:rPr>
              <a:t> is and how it was produced</a:t>
            </a:r>
            <a:endParaRPr dirty="0">
              <a:latin typeface="+mn-lt"/>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mn-lt"/>
                <a:ea typeface="Calibri"/>
                <a:cs typeface="Calibri"/>
                <a:sym typeface="Calibri"/>
              </a:rPr>
              <a:t>Some companies have more rigorous standards</a:t>
            </a:r>
            <a:endParaRPr dirty="0">
              <a:latin typeface="+mn-lt"/>
            </a:endParaRPr>
          </a:p>
        </p:txBody>
      </p:sp>
      <p:sp>
        <p:nvSpPr>
          <p:cNvPr id="722" name="Google Shape;722;p58"/>
          <p:cNvSpPr txBox="1"/>
          <p:nvPr/>
        </p:nvSpPr>
        <p:spPr>
          <a:xfrm>
            <a:off x="7176120" y="1209923"/>
            <a:ext cx="419673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n-lt"/>
                <a:ea typeface="Calibri"/>
                <a:cs typeface="Calibri"/>
                <a:sym typeface="Calibri"/>
              </a:rPr>
              <a:t>Commercial </a:t>
            </a:r>
            <a:r>
              <a:rPr lang="en-GB" sz="2000" b="1" dirty="0" err="1">
                <a:solidFill>
                  <a:srgbClr val="C00000"/>
                </a:solidFill>
                <a:latin typeface="+mn-lt"/>
                <a:ea typeface="Calibri"/>
                <a:cs typeface="Calibri"/>
                <a:sym typeface="Calibri"/>
              </a:rPr>
              <a:t>inocula</a:t>
            </a:r>
            <a:r>
              <a:rPr lang="en-GB" sz="2000" b="1" dirty="0">
                <a:solidFill>
                  <a:srgbClr val="C00000"/>
                </a:solidFill>
                <a:latin typeface="+mn-lt"/>
                <a:ea typeface="Calibri"/>
                <a:cs typeface="Calibri"/>
                <a:sym typeface="Calibri"/>
              </a:rPr>
              <a:t>:</a:t>
            </a:r>
            <a:endParaRPr dirty="0">
              <a:solidFill>
                <a:srgbClr val="C00000"/>
              </a:solidFill>
              <a:latin typeface="+mn-lt"/>
            </a:endParaRPr>
          </a:p>
        </p:txBody>
      </p:sp>
      <p:sp>
        <p:nvSpPr>
          <p:cNvPr id="723" name="Google Shape;723;p58"/>
          <p:cNvSpPr txBox="1"/>
          <p:nvPr/>
        </p:nvSpPr>
        <p:spPr>
          <a:xfrm>
            <a:off x="6888089" y="4221088"/>
            <a:ext cx="396044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C00000"/>
                </a:solidFill>
                <a:latin typeface="+mn-lt"/>
                <a:ea typeface="Calibri"/>
                <a:cs typeface="Calibri"/>
                <a:sym typeface="Calibri"/>
              </a:rPr>
              <a:t>Scientific trials:</a:t>
            </a:r>
            <a:endParaRPr dirty="0">
              <a:solidFill>
                <a:srgbClr val="C00000"/>
              </a:solidFill>
              <a:latin typeface="+mn-lt"/>
            </a:endParaRPr>
          </a:p>
        </p:txBody>
      </p:sp>
      <p:sp>
        <p:nvSpPr>
          <p:cNvPr id="724" name="Google Shape;724;p58"/>
          <p:cNvSpPr txBox="1"/>
          <p:nvPr/>
        </p:nvSpPr>
        <p:spPr>
          <a:xfrm>
            <a:off x="6676864" y="4581128"/>
            <a:ext cx="4810286" cy="203128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GB" sz="1800" dirty="0" err="1">
                <a:solidFill>
                  <a:schemeClr val="dk1"/>
                </a:solidFill>
                <a:latin typeface="+mn-lt"/>
                <a:ea typeface="Calibri"/>
                <a:cs typeface="Calibri"/>
                <a:sym typeface="Calibri"/>
              </a:rPr>
              <a:t>Inocula</a:t>
            </a:r>
            <a:r>
              <a:rPr lang="en-GB" sz="1800" dirty="0">
                <a:solidFill>
                  <a:schemeClr val="dk1"/>
                </a:solidFill>
                <a:latin typeface="+mn-lt"/>
                <a:ea typeface="Calibri"/>
                <a:cs typeface="Calibri"/>
                <a:sym typeface="Calibri"/>
              </a:rPr>
              <a:t> usually obtained from specific organisms from reputable repositories</a:t>
            </a:r>
            <a:endParaRPr dirty="0">
              <a:latin typeface="+mn-lt"/>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mn-lt"/>
                <a:ea typeface="Calibri"/>
                <a:cs typeface="Calibri"/>
                <a:sym typeface="Calibri"/>
              </a:rPr>
              <a:t>For AM fungi, the main species used is </a:t>
            </a:r>
            <a:r>
              <a:rPr lang="en-GB" sz="1800" i="1" dirty="0" err="1">
                <a:solidFill>
                  <a:schemeClr val="dk1"/>
                </a:solidFill>
                <a:latin typeface="+mn-lt"/>
                <a:ea typeface="Calibri"/>
                <a:cs typeface="Calibri"/>
                <a:sym typeface="Calibri"/>
              </a:rPr>
              <a:t>Funneliformis</a:t>
            </a:r>
            <a:r>
              <a:rPr lang="en-GB" sz="1800" i="1" dirty="0">
                <a:solidFill>
                  <a:schemeClr val="dk1"/>
                </a:solidFill>
                <a:latin typeface="+mn-lt"/>
                <a:ea typeface="Calibri"/>
                <a:cs typeface="Calibri"/>
                <a:sym typeface="Calibri"/>
              </a:rPr>
              <a:t> </a:t>
            </a:r>
            <a:r>
              <a:rPr lang="en-GB" sz="1800" i="1" dirty="0" err="1">
                <a:solidFill>
                  <a:schemeClr val="dk1"/>
                </a:solidFill>
                <a:latin typeface="+mn-lt"/>
                <a:ea typeface="Calibri"/>
                <a:cs typeface="Calibri"/>
                <a:sym typeface="Calibri"/>
              </a:rPr>
              <a:t>mosseae</a:t>
            </a:r>
            <a:r>
              <a:rPr lang="en-GB" sz="1800" dirty="0">
                <a:solidFill>
                  <a:schemeClr val="dk1"/>
                </a:solidFill>
                <a:latin typeface="+mn-lt"/>
                <a:ea typeface="Calibri"/>
                <a:cs typeface="Calibri"/>
                <a:sym typeface="Calibri"/>
              </a:rPr>
              <a:t> (synonym </a:t>
            </a:r>
            <a:r>
              <a:rPr lang="en-GB" sz="1800" i="1" dirty="0">
                <a:solidFill>
                  <a:schemeClr val="dk1"/>
                </a:solidFill>
                <a:latin typeface="+mn-lt"/>
                <a:ea typeface="Calibri"/>
                <a:cs typeface="Calibri"/>
                <a:sym typeface="Calibri"/>
              </a:rPr>
              <a:t>Glomus </a:t>
            </a:r>
            <a:r>
              <a:rPr lang="en-GB" sz="1800" i="1" dirty="0" err="1">
                <a:solidFill>
                  <a:schemeClr val="dk1"/>
                </a:solidFill>
                <a:latin typeface="+mn-lt"/>
                <a:ea typeface="Calibri"/>
                <a:cs typeface="Calibri"/>
                <a:sym typeface="Calibri"/>
              </a:rPr>
              <a:t>mosseae</a:t>
            </a:r>
            <a:r>
              <a:rPr lang="en-GB" sz="1800" dirty="0">
                <a:solidFill>
                  <a:schemeClr val="dk1"/>
                </a:solidFill>
                <a:latin typeface="+mn-lt"/>
                <a:ea typeface="Calibri"/>
                <a:cs typeface="Calibri"/>
                <a:sym typeface="Calibri"/>
              </a:rPr>
              <a:t>)</a:t>
            </a:r>
            <a:endParaRPr dirty="0">
              <a:latin typeface="+mn-lt"/>
            </a:endParaRPr>
          </a:p>
          <a:p>
            <a:pPr marL="285750" marR="0" lvl="0" indent="-285750" algn="l" rtl="0">
              <a:spcBef>
                <a:spcPts val="0"/>
              </a:spcBef>
              <a:spcAft>
                <a:spcPts val="0"/>
              </a:spcAft>
              <a:buClr>
                <a:schemeClr val="dk1"/>
              </a:buClr>
              <a:buSzPts val="1800"/>
              <a:buFont typeface="Arial"/>
              <a:buChar char="•"/>
            </a:pPr>
            <a:r>
              <a:rPr lang="en-GB" sz="1800" dirty="0">
                <a:solidFill>
                  <a:schemeClr val="dk1"/>
                </a:solidFill>
                <a:latin typeface="+mn-lt"/>
                <a:ea typeface="Calibri"/>
                <a:cs typeface="Calibri"/>
                <a:sym typeface="Calibri"/>
              </a:rPr>
              <a:t>Trials usually conducted following established experimental designs</a:t>
            </a:r>
            <a:endParaRPr dirty="0">
              <a:latin typeface="+mn-lt"/>
            </a:endParaRPr>
          </a:p>
        </p:txBody>
      </p:sp>
      <p:pic>
        <p:nvPicPr>
          <p:cNvPr id="718" name="Google Shape;718;p58"/>
          <p:cNvPicPr preferRelativeResize="0"/>
          <p:nvPr/>
        </p:nvPicPr>
        <p:blipFill rotWithShape="1">
          <a:blip r:embed="rId5">
            <a:alphaModFix/>
          </a:blip>
          <a:srcRect/>
          <a:stretch/>
        </p:blipFill>
        <p:spPr>
          <a:xfrm>
            <a:off x="549139" y="3749570"/>
            <a:ext cx="3960440" cy="3117601"/>
          </a:xfrm>
          <a:prstGeom prst="rect">
            <a:avLst/>
          </a:prstGeom>
          <a:noFill/>
          <a:ln>
            <a:noFill/>
          </a:ln>
        </p:spPr>
      </p:pic>
      <p:pic>
        <p:nvPicPr>
          <p:cNvPr id="719" name="Google Shape;719;p58"/>
          <p:cNvPicPr preferRelativeResize="0"/>
          <p:nvPr/>
        </p:nvPicPr>
        <p:blipFill rotWithShape="1">
          <a:blip r:embed="rId6">
            <a:alphaModFix/>
          </a:blip>
          <a:srcRect/>
          <a:stretch/>
        </p:blipFill>
        <p:spPr>
          <a:xfrm>
            <a:off x="4430068" y="4067324"/>
            <a:ext cx="2458021" cy="245802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59"/>
          <p:cNvSpPr txBox="1">
            <a:spLocks noGrp="1"/>
          </p:cNvSpPr>
          <p:nvPr>
            <p:ph type="title"/>
          </p:nvPr>
        </p:nvSpPr>
        <p:spPr>
          <a:xfrm>
            <a:off x="0" y="150813"/>
            <a:ext cx="11887200" cy="31591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GB" sz="3200" b="1" dirty="0">
                <a:solidFill>
                  <a:srgbClr val="C00000"/>
                </a:solidFill>
                <a:latin typeface="+mj-lt"/>
              </a:rPr>
              <a:t>Why are mycorrhizal inoculation products not widely used?</a:t>
            </a:r>
            <a:endParaRPr sz="3200" b="1" dirty="0">
              <a:solidFill>
                <a:srgbClr val="C00000"/>
              </a:solidFill>
              <a:latin typeface="+mj-lt"/>
            </a:endParaRPr>
          </a:p>
        </p:txBody>
      </p:sp>
      <p:sp>
        <p:nvSpPr>
          <p:cNvPr id="730" name="Google Shape;730;p59"/>
          <p:cNvSpPr txBox="1">
            <a:spLocks noGrp="1"/>
          </p:cNvSpPr>
          <p:nvPr>
            <p:ph type="body" idx="1"/>
          </p:nvPr>
        </p:nvSpPr>
        <p:spPr>
          <a:xfrm>
            <a:off x="1423988" y="1697068"/>
            <a:ext cx="9677400" cy="457514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C00000"/>
              </a:buClr>
              <a:buSzPts val="2800"/>
              <a:buChar char="•"/>
            </a:pPr>
            <a:r>
              <a:rPr lang="en-GB" dirty="0">
                <a:latin typeface="+mn-lt"/>
              </a:rPr>
              <a:t>Effectiveness often ‘context dependent’</a:t>
            </a: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Not as good as fertilisers in supplying nutrients to plants!</a:t>
            </a: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Some crop varieties (variety = genotype, often ‘bred’ by humans for specific traits) do not respond well to mycorrhizal inoculation</a:t>
            </a: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Expensive</a:t>
            </a:r>
            <a:endParaRPr dirty="0">
              <a:latin typeface="+mn-lt"/>
            </a:endParaRPr>
          </a:p>
          <a:p>
            <a:pPr marL="228600" lvl="0" indent="-228600" algn="l" rtl="0">
              <a:lnSpc>
                <a:spcPct val="90000"/>
              </a:lnSpc>
              <a:spcBef>
                <a:spcPts val="1000"/>
              </a:spcBef>
              <a:spcAft>
                <a:spcPts val="0"/>
              </a:spcAft>
              <a:buClr>
                <a:srgbClr val="C00000"/>
              </a:buClr>
              <a:buSzPts val="2800"/>
              <a:buChar char="•"/>
            </a:pPr>
            <a:r>
              <a:rPr lang="en-GB" dirty="0">
                <a:latin typeface="+mn-lt"/>
              </a:rPr>
              <a:t>Lack of technical know-how</a:t>
            </a:r>
            <a:endParaRPr dirty="0">
              <a:latin typeface="+mn-l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736" name="Google Shape;736;p6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737" name="Google Shape;737;p60"/>
          <p:cNvPicPr preferRelativeResize="0"/>
          <p:nvPr/>
        </p:nvPicPr>
        <p:blipFill rotWithShape="1">
          <a:blip r:embed="rId3">
            <a:alphaModFix/>
          </a:blip>
          <a:srcRect/>
          <a:stretch/>
        </p:blipFill>
        <p:spPr>
          <a:xfrm>
            <a:off x="1669626" y="188640"/>
            <a:ext cx="8852748" cy="648072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61"/>
          <p:cNvSpPr txBox="1">
            <a:spLocks noGrp="1"/>
          </p:cNvSpPr>
          <p:nvPr>
            <p:ph type="title"/>
          </p:nvPr>
        </p:nvSpPr>
        <p:spPr>
          <a:xfrm>
            <a:off x="838200" y="365126"/>
            <a:ext cx="10515600" cy="63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sz="3200" b="1" dirty="0">
                <a:solidFill>
                  <a:srgbClr val="C00000"/>
                </a:solidFill>
                <a:latin typeface="+mn-lt"/>
              </a:rPr>
              <a:t>Aims of the paper</a:t>
            </a:r>
            <a:endParaRPr sz="3200" b="1" dirty="0">
              <a:solidFill>
                <a:srgbClr val="C00000"/>
              </a:solidFill>
              <a:latin typeface="+mn-lt"/>
            </a:endParaRPr>
          </a:p>
        </p:txBody>
      </p:sp>
      <p:sp>
        <p:nvSpPr>
          <p:cNvPr id="743" name="Google Shape;743;p61"/>
          <p:cNvSpPr txBox="1">
            <a:spLocks noGrp="1"/>
          </p:cNvSpPr>
          <p:nvPr>
            <p:ph type="body" idx="1"/>
          </p:nvPr>
        </p:nvSpPr>
        <p:spPr>
          <a:xfrm>
            <a:off x="1986372" y="1497361"/>
            <a:ext cx="8219256" cy="485740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GB" dirty="0">
                <a:latin typeface="+mn-lt"/>
              </a:rPr>
              <a:t>Test whether adding AM fungal inoculum has a consistent effect on grain yield</a:t>
            </a:r>
            <a:endParaRPr dirty="0">
              <a:latin typeface="+mn-lt"/>
            </a:endParaRPr>
          </a:p>
          <a:p>
            <a:pPr marL="228600" lvl="0" indent="-228600" algn="l" rtl="0">
              <a:lnSpc>
                <a:spcPct val="90000"/>
              </a:lnSpc>
              <a:spcBef>
                <a:spcPts val="1000"/>
              </a:spcBef>
              <a:spcAft>
                <a:spcPts val="0"/>
              </a:spcAft>
              <a:buClr>
                <a:srgbClr val="FF0000"/>
              </a:buClr>
              <a:buSzPct val="100000"/>
              <a:buChar char="•"/>
            </a:pPr>
            <a:r>
              <a:rPr lang="en-GB" dirty="0">
                <a:solidFill>
                  <a:srgbClr val="C00000"/>
                </a:solidFill>
                <a:latin typeface="+mn-lt"/>
              </a:rPr>
              <a:t>By doing a meta-analysis – a plethora of other information can be considered in the analyses:</a:t>
            </a:r>
            <a:endParaRPr dirty="0">
              <a:solidFill>
                <a:srgbClr val="C00000"/>
              </a:solidFill>
              <a:latin typeface="+mn-lt"/>
            </a:endParaRPr>
          </a:p>
          <a:p>
            <a:pPr marL="228600" lvl="0" indent="-228600" algn="l" rtl="0">
              <a:lnSpc>
                <a:spcPct val="90000"/>
              </a:lnSpc>
              <a:spcBef>
                <a:spcPts val="1000"/>
              </a:spcBef>
              <a:spcAft>
                <a:spcPts val="0"/>
              </a:spcAft>
              <a:buClr>
                <a:schemeClr val="dk1"/>
              </a:buClr>
              <a:buSzPct val="100000"/>
              <a:buChar char="•"/>
            </a:pPr>
            <a:r>
              <a:rPr lang="en-GB" dirty="0">
                <a:latin typeface="+mn-lt"/>
              </a:rPr>
              <a:t>Thus they can test for relationships with a range of “moderator variables”, such as experiment type (lab or field), fertiliser addition, crop type, photosynthetic strategy etc etc</a:t>
            </a:r>
            <a:endParaRPr dirty="0">
              <a:latin typeface="+mn-lt"/>
            </a:endParaRPr>
          </a:p>
          <a:p>
            <a:pPr marL="228600" lvl="0" indent="-228600" algn="l" rtl="0">
              <a:lnSpc>
                <a:spcPct val="90000"/>
              </a:lnSpc>
              <a:spcBef>
                <a:spcPts val="1000"/>
              </a:spcBef>
              <a:spcAft>
                <a:spcPts val="0"/>
              </a:spcAft>
              <a:buClr>
                <a:srgbClr val="FF0000"/>
              </a:buClr>
              <a:buSzPct val="100000"/>
              <a:buChar char="•"/>
            </a:pPr>
            <a:r>
              <a:rPr lang="en-GB" dirty="0">
                <a:solidFill>
                  <a:srgbClr val="C00000"/>
                </a:solidFill>
                <a:latin typeface="+mn-lt"/>
              </a:rPr>
              <a:t>The key metric produced is called “effect size” </a:t>
            </a:r>
            <a:endParaRPr dirty="0">
              <a:solidFill>
                <a:srgbClr val="C00000"/>
              </a:solidFill>
              <a:latin typeface="+mn-lt"/>
            </a:endParaRPr>
          </a:p>
          <a:p>
            <a:pPr marL="228600" lvl="0" indent="-228600" algn="l" rtl="0">
              <a:lnSpc>
                <a:spcPct val="90000"/>
              </a:lnSpc>
              <a:spcBef>
                <a:spcPts val="1000"/>
              </a:spcBef>
              <a:spcAft>
                <a:spcPts val="0"/>
              </a:spcAft>
              <a:buClr>
                <a:schemeClr val="dk1"/>
              </a:buClr>
              <a:buSzPct val="100000"/>
              <a:buChar char="•"/>
            </a:pPr>
            <a:r>
              <a:rPr lang="en-GB" dirty="0">
                <a:latin typeface="+mn-lt"/>
              </a:rPr>
              <a:t>The effect size is simply a metric derived from the difference between control and treated crops. It can be either + or -, and can be statistically tested to differ from zero.</a:t>
            </a:r>
            <a:endParaRPr dirty="0">
              <a:latin typeface="+mn-lt"/>
            </a:endParaRPr>
          </a:p>
          <a:p>
            <a:pPr marL="0" lvl="0" indent="0" algn="l" rtl="0">
              <a:lnSpc>
                <a:spcPct val="90000"/>
              </a:lnSpc>
              <a:spcBef>
                <a:spcPts val="1000"/>
              </a:spcBef>
              <a:spcAft>
                <a:spcPts val="0"/>
              </a:spcAft>
              <a:buClr>
                <a:schemeClr val="dk1"/>
              </a:buClr>
              <a:buSzPct val="100000"/>
              <a:buNone/>
            </a:pPr>
            <a:endParaRPr dirty="0">
              <a:latin typeface="+mn-l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pic>
        <p:nvPicPr>
          <p:cNvPr id="748" name="Google Shape;748;p62"/>
          <p:cNvPicPr preferRelativeResize="0">
            <a:picLocks noChangeAspect="1"/>
          </p:cNvPicPr>
          <p:nvPr/>
        </p:nvPicPr>
        <p:blipFill rotWithShape="1">
          <a:blip r:embed="rId3">
            <a:alphaModFix/>
          </a:blip>
          <a:srcRect l="788" r="788"/>
          <a:stretch/>
        </p:blipFill>
        <p:spPr>
          <a:xfrm>
            <a:off x="0" y="1333142"/>
            <a:ext cx="12192000" cy="4934666"/>
          </a:xfrm>
          <a:prstGeom prst="rect">
            <a:avLst/>
          </a:prstGeom>
          <a:noFill/>
          <a:ln>
            <a:noFill/>
          </a:ln>
        </p:spPr>
      </p:pic>
      <p:sp>
        <p:nvSpPr>
          <p:cNvPr id="749" name="Google Shape;749;p62"/>
          <p:cNvSpPr txBox="1"/>
          <p:nvPr/>
        </p:nvSpPr>
        <p:spPr>
          <a:xfrm>
            <a:off x="123825" y="265962"/>
            <a:ext cx="1194435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dirty="0">
                <a:solidFill>
                  <a:srgbClr val="C00000"/>
                </a:solidFill>
                <a:latin typeface="+mn-lt"/>
                <a:ea typeface="Calibri"/>
                <a:cs typeface="Calibri"/>
                <a:sym typeface="Calibri"/>
              </a:rPr>
              <a:t>In MOST trials, arbuscular mycorrhizal fungi positively affected grain yield</a:t>
            </a:r>
            <a:endParaRPr sz="1200" b="1" dirty="0">
              <a:solidFill>
                <a:srgbClr val="C00000"/>
              </a:solidFill>
              <a:latin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pic>
        <p:nvPicPr>
          <p:cNvPr id="754" name="Google Shape;754;p63"/>
          <p:cNvPicPr preferRelativeResize="0">
            <a:picLocks noChangeAspect="1"/>
          </p:cNvPicPr>
          <p:nvPr/>
        </p:nvPicPr>
        <p:blipFill rotWithShape="1">
          <a:blip r:embed="rId3">
            <a:alphaModFix/>
          </a:blip>
          <a:srcRect/>
          <a:stretch/>
        </p:blipFill>
        <p:spPr>
          <a:xfrm>
            <a:off x="784221" y="490922"/>
            <a:ext cx="10623557" cy="587615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64"/>
          <p:cNvSpPr txBox="1"/>
          <p:nvPr/>
        </p:nvSpPr>
        <p:spPr>
          <a:xfrm>
            <a:off x="168493" y="147490"/>
            <a:ext cx="1097575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dirty="0">
                <a:solidFill>
                  <a:srgbClr val="C00000"/>
                </a:solidFill>
                <a:latin typeface="+mn-lt"/>
                <a:ea typeface="Calibri"/>
                <a:cs typeface="Calibri"/>
                <a:sym typeface="Calibri"/>
              </a:rPr>
              <a:t>Questions for you to think about here and now and afterwards:</a:t>
            </a:r>
            <a:endParaRPr b="1" dirty="0">
              <a:solidFill>
                <a:srgbClr val="C00000"/>
              </a:solidFill>
              <a:latin typeface="+mn-lt"/>
            </a:endParaRPr>
          </a:p>
        </p:txBody>
      </p:sp>
      <p:sp>
        <p:nvSpPr>
          <p:cNvPr id="760" name="Google Shape;760;p64"/>
          <p:cNvSpPr txBox="1"/>
          <p:nvPr/>
        </p:nvSpPr>
        <p:spPr>
          <a:xfrm>
            <a:off x="1137908" y="2100858"/>
            <a:ext cx="10277805" cy="353939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C00000"/>
              </a:buClr>
              <a:buSzPts val="2800"/>
              <a:buFont typeface="Calibri"/>
              <a:buAutoNum type="arabicPeriod"/>
            </a:pPr>
            <a:r>
              <a:rPr lang="en-GB" sz="2800" dirty="0">
                <a:solidFill>
                  <a:schemeClr val="dk1"/>
                </a:solidFill>
                <a:latin typeface="+mn-lt"/>
                <a:ea typeface="Calibri"/>
                <a:cs typeface="Calibri"/>
                <a:sym typeface="Calibri"/>
              </a:rPr>
              <a:t>How do you explain the </a:t>
            </a:r>
            <a:r>
              <a:rPr lang="en-GB" sz="2800" dirty="0">
                <a:solidFill>
                  <a:srgbClr val="C00000"/>
                </a:solidFill>
                <a:latin typeface="+mn-lt"/>
                <a:ea typeface="Calibri"/>
                <a:cs typeface="Calibri"/>
                <a:sym typeface="Calibri"/>
              </a:rPr>
              <a:t>variation in yield </a:t>
            </a:r>
            <a:r>
              <a:rPr lang="en-GB" sz="2800" dirty="0">
                <a:solidFill>
                  <a:schemeClr val="dk1"/>
                </a:solidFill>
                <a:latin typeface="+mn-lt"/>
                <a:ea typeface="Calibri"/>
                <a:cs typeface="Calibri"/>
                <a:sym typeface="Calibri"/>
              </a:rPr>
              <a:t>across the study?</a:t>
            </a:r>
            <a:endParaRPr dirty="0">
              <a:latin typeface="+mn-lt"/>
            </a:endParaRPr>
          </a:p>
          <a:p>
            <a:pPr marL="692150" marR="0" lvl="0" indent="-514350" algn="l" rtl="0">
              <a:spcBef>
                <a:spcPts val="0"/>
              </a:spcBef>
              <a:spcAft>
                <a:spcPts val="0"/>
              </a:spcAft>
              <a:buClr>
                <a:srgbClr val="C00000"/>
              </a:buClr>
              <a:buSzPts val="2800"/>
              <a:buFont typeface="+mj-lt"/>
              <a:buAutoNum type="arabicPeriod"/>
            </a:pPr>
            <a:endParaRPr sz="2800" dirty="0">
              <a:solidFill>
                <a:schemeClr val="dk1"/>
              </a:solidFill>
              <a:latin typeface="+mn-lt"/>
              <a:ea typeface="Calibri"/>
              <a:cs typeface="Calibri"/>
              <a:sym typeface="Calibri"/>
            </a:endParaRPr>
          </a:p>
          <a:p>
            <a:pPr marL="342900" marR="0" lvl="0" indent="-342900" algn="l" rtl="0">
              <a:spcBef>
                <a:spcPts val="0"/>
              </a:spcBef>
              <a:spcAft>
                <a:spcPts val="0"/>
              </a:spcAft>
              <a:buClr>
                <a:srgbClr val="C00000"/>
              </a:buClr>
              <a:buSzPts val="2800"/>
              <a:buFont typeface="Calibri"/>
              <a:buAutoNum type="arabicPeriod"/>
            </a:pPr>
            <a:r>
              <a:rPr lang="en-GB" sz="2800" dirty="0">
                <a:solidFill>
                  <a:schemeClr val="dk1"/>
                </a:solidFill>
                <a:latin typeface="+mn-lt"/>
                <a:ea typeface="Calibri"/>
                <a:cs typeface="Calibri"/>
                <a:sym typeface="Calibri"/>
              </a:rPr>
              <a:t>What circumstances or conditions could you envisage </a:t>
            </a:r>
            <a:r>
              <a:rPr lang="en-GB" sz="2800" dirty="0">
                <a:solidFill>
                  <a:srgbClr val="C00000"/>
                </a:solidFill>
                <a:latin typeface="+mn-lt"/>
                <a:ea typeface="Calibri"/>
                <a:cs typeface="Calibri"/>
                <a:sym typeface="Calibri"/>
              </a:rPr>
              <a:t>mycorrhizal fungal</a:t>
            </a:r>
            <a:r>
              <a:rPr lang="en-GB" sz="2800" dirty="0">
                <a:solidFill>
                  <a:schemeClr val="dk1"/>
                </a:solidFill>
                <a:latin typeface="+mn-lt"/>
                <a:ea typeface="Calibri"/>
                <a:cs typeface="Calibri"/>
                <a:sym typeface="Calibri"/>
              </a:rPr>
              <a:t> </a:t>
            </a:r>
            <a:r>
              <a:rPr lang="en-GB" sz="2800" dirty="0" err="1">
                <a:solidFill>
                  <a:schemeClr val="dk1"/>
                </a:solidFill>
                <a:latin typeface="+mn-lt"/>
                <a:ea typeface="Calibri"/>
                <a:cs typeface="Calibri"/>
                <a:sym typeface="Calibri"/>
              </a:rPr>
              <a:t>inocula</a:t>
            </a:r>
            <a:r>
              <a:rPr lang="en-GB" sz="2800" dirty="0">
                <a:solidFill>
                  <a:schemeClr val="dk1"/>
                </a:solidFill>
                <a:latin typeface="+mn-lt"/>
                <a:ea typeface="Calibri"/>
                <a:cs typeface="Calibri"/>
                <a:sym typeface="Calibri"/>
              </a:rPr>
              <a:t> being </a:t>
            </a:r>
            <a:r>
              <a:rPr lang="en-GB" sz="2800" dirty="0">
                <a:solidFill>
                  <a:srgbClr val="C00000"/>
                </a:solidFill>
                <a:latin typeface="+mn-lt"/>
                <a:ea typeface="Calibri"/>
                <a:cs typeface="Calibri"/>
                <a:sym typeface="Calibri"/>
              </a:rPr>
              <a:t>most effective</a:t>
            </a:r>
            <a:r>
              <a:rPr lang="en-GB" sz="2800" dirty="0">
                <a:solidFill>
                  <a:schemeClr val="dk1"/>
                </a:solidFill>
                <a:latin typeface="+mn-lt"/>
                <a:ea typeface="Calibri"/>
                <a:cs typeface="Calibri"/>
                <a:sym typeface="Calibri"/>
              </a:rPr>
              <a:t>?</a:t>
            </a:r>
            <a:endParaRPr dirty="0">
              <a:latin typeface="+mn-lt"/>
            </a:endParaRPr>
          </a:p>
          <a:p>
            <a:pPr marL="692150" marR="0" lvl="0" indent="-514350" algn="l" rtl="0">
              <a:spcBef>
                <a:spcPts val="0"/>
              </a:spcBef>
              <a:spcAft>
                <a:spcPts val="0"/>
              </a:spcAft>
              <a:buClr>
                <a:srgbClr val="C00000"/>
              </a:buClr>
              <a:buSzPts val="2800"/>
              <a:buFont typeface="+mj-lt"/>
              <a:buAutoNum type="arabicPeriod"/>
            </a:pPr>
            <a:endParaRPr sz="2800" dirty="0">
              <a:solidFill>
                <a:schemeClr val="dk1"/>
              </a:solidFill>
              <a:latin typeface="+mn-lt"/>
              <a:ea typeface="Calibri"/>
              <a:cs typeface="Calibri"/>
              <a:sym typeface="Calibri"/>
            </a:endParaRPr>
          </a:p>
          <a:p>
            <a:pPr marL="342900" marR="0" lvl="0" indent="-342900" algn="l" rtl="0">
              <a:spcBef>
                <a:spcPts val="0"/>
              </a:spcBef>
              <a:spcAft>
                <a:spcPts val="0"/>
              </a:spcAft>
              <a:buClr>
                <a:srgbClr val="C00000"/>
              </a:buClr>
              <a:buSzPts val="2800"/>
              <a:buFont typeface="Calibri"/>
              <a:buAutoNum type="arabicPeriod"/>
            </a:pPr>
            <a:r>
              <a:rPr lang="en-GB" sz="2800" dirty="0">
                <a:solidFill>
                  <a:schemeClr val="dk1"/>
                </a:solidFill>
                <a:latin typeface="+mn-lt"/>
                <a:ea typeface="Calibri"/>
                <a:cs typeface="Calibri"/>
                <a:sym typeface="Calibri"/>
              </a:rPr>
              <a:t>The study focused on </a:t>
            </a:r>
            <a:r>
              <a:rPr lang="en-GB" sz="2800" dirty="0">
                <a:solidFill>
                  <a:srgbClr val="C00000"/>
                </a:solidFill>
                <a:latin typeface="+mn-lt"/>
                <a:ea typeface="Calibri"/>
                <a:cs typeface="Calibri"/>
                <a:sym typeface="Calibri"/>
              </a:rPr>
              <a:t>grain yields </a:t>
            </a:r>
            <a:r>
              <a:rPr lang="en-GB" sz="2800" dirty="0">
                <a:solidFill>
                  <a:schemeClr val="dk1"/>
                </a:solidFill>
                <a:latin typeface="+mn-lt"/>
                <a:ea typeface="Calibri"/>
                <a:cs typeface="Calibri"/>
                <a:sym typeface="Calibri"/>
              </a:rPr>
              <a:t>– is this the only thing that should be considered?</a:t>
            </a:r>
            <a:endParaRPr dirty="0">
              <a:latin typeface="+mn-lt"/>
            </a:endParaRPr>
          </a:p>
          <a:p>
            <a:pPr marL="342900" marR="0" lvl="0" indent="-165100" algn="l" rtl="0">
              <a:spcBef>
                <a:spcPts val="0"/>
              </a:spcBef>
              <a:spcAft>
                <a:spcPts val="0"/>
              </a:spcAft>
              <a:buClr>
                <a:schemeClr val="dk1"/>
              </a:buClr>
              <a:buSzPts val="2800"/>
              <a:buFont typeface="Calibri"/>
              <a:buNone/>
            </a:pPr>
            <a:endParaRPr sz="2800" dirty="0">
              <a:solidFill>
                <a:schemeClr val="dk1"/>
              </a:solidFill>
              <a:latin typeface="+mn-lt"/>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65"/>
          <p:cNvSpPr txBox="1"/>
          <p:nvPr/>
        </p:nvSpPr>
        <p:spPr>
          <a:xfrm>
            <a:off x="138546" y="139239"/>
            <a:ext cx="11942618"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Example short answer question:</a:t>
            </a:r>
            <a:endParaRPr dirty="0"/>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en-GB" sz="2000" dirty="0">
                <a:solidFill>
                  <a:schemeClr val="dk1"/>
                </a:solidFill>
                <a:latin typeface="Calibri"/>
                <a:ea typeface="Calibri"/>
                <a:cs typeface="Calibri"/>
                <a:sym typeface="Calibri"/>
              </a:rPr>
              <a:t>1. You are a consultant advising farmers on ways to reduce greenhouse gas emissions from their croplands: what advice would you give to reduce nitrous oxide (N2O) emissions and why?</a:t>
            </a:r>
            <a:endParaRPr dirty="0"/>
          </a:p>
        </p:txBody>
      </p:sp>
      <p:sp>
        <p:nvSpPr>
          <p:cNvPr id="766" name="Google Shape;766;p65"/>
          <p:cNvSpPr txBox="1"/>
          <p:nvPr/>
        </p:nvSpPr>
        <p:spPr>
          <a:xfrm>
            <a:off x="138546" y="1462678"/>
            <a:ext cx="11942617" cy="54014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300">
                <a:solidFill>
                  <a:schemeClr val="dk1"/>
                </a:solidFill>
                <a:highlight>
                  <a:srgbClr val="FFFF00"/>
                </a:highlight>
                <a:latin typeface="Calibri"/>
                <a:ea typeface="Calibri"/>
                <a:cs typeface="Calibri"/>
                <a:sym typeface="Calibri"/>
              </a:rPr>
              <a:t>Nitrous oxide (N2O) is a potent greenhouse gas and it is vital to reduce emissions from agricultural lands.  The production of N2O is a microbial-driven process undertaken by soil bacteria.  </a:t>
            </a:r>
            <a:r>
              <a:rPr lang="en-GB" sz="2300">
                <a:solidFill>
                  <a:schemeClr val="dk1"/>
                </a:solidFill>
                <a:highlight>
                  <a:srgbClr val="00FF00"/>
                </a:highlight>
                <a:latin typeface="Calibri"/>
                <a:ea typeface="Calibri"/>
                <a:cs typeface="Calibri"/>
                <a:sym typeface="Calibri"/>
              </a:rPr>
              <a:t>There a several factors that control the production of N2O in soils, some of which can be managed by agricultural practices.  </a:t>
            </a:r>
            <a:r>
              <a:rPr lang="en-GB" sz="2300">
                <a:solidFill>
                  <a:schemeClr val="dk1"/>
                </a:solidFill>
                <a:highlight>
                  <a:srgbClr val="FF00FF"/>
                </a:highlight>
                <a:latin typeface="Calibri"/>
                <a:ea typeface="Calibri"/>
                <a:cs typeface="Calibri"/>
                <a:sym typeface="Calibri"/>
              </a:rPr>
              <a:t>The most important control is oxygen availability. N2O is produced in soil when oxygen concentrations are low, and this usually occurs when soil pores are full of water. Therefore, ensuring fields are well-drained will help ensure soils remain aerobic, and prevent production of N2O.  </a:t>
            </a:r>
            <a:r>
              <a:rPr lang="en-GB" sz="2300">
                <a:solidFill>
                  <a:schemeClr val="dk1"/>
                </a:solidFill>
                <a:highlight>
                  <a:srgbClr val="00FFFF"/>
                </a:highlight>
                <a:latin typeface="Calibri"/>
                <a:ea typeface="Calibri"/>
                <a:cs typeface="Calibri"/>
                <a:sym typeface="Calibri"/>
              </a:rPr>
              <a:t>Other factors that increase water holding capacity of soils may also help, for example maintaining good soil structure and preventing compaction of soils.</a:t>
            </a:r>
            <a:endParaRPr/>
          </a:p>
          <a:p>
            <a:pPr marL="0" marR="0" lvl="0" indent="0" algn="l" rtl="0">
              <a:spcBef>
                <a:spcPts val="0"/>
              </a:spcBef>
              <a:spcAft>
                <a:spcPts val="0"/>
              </a:spcAft>
              <a:buNone/>
            </a:pPr>
            <a:endParaRPr sz="2300">
              <a:solidFill>
                <a:schemeClr val="dk1"/>
              </a:solidFill>
              <a:latin typeface="Calibri"/>
              <a:ea typeface="Calibri"/>
              <a:cs typeface="Calibri"/>
              <a:sym typeface="Calibri"/>
            </a:endParaRPr>
          </a:p>
          <a:p>
            <a:pPr marL="0" marR="0" lvl="0" indent="0" algn="l" rtl="0">
              <a:spcBef>
                <a:spcPts val="0"/>
              </a:spcBef>
              <a:spcAft>
                <a:spcPts val="0"/>
              </a:spcAft>
              <a:buNone/>
            </a:pPr>
            <a:r>
              <a:rPr lang="en-GB" sz="2300">
                <a:solidFill>
                  <a:schemeClr val="dk1"/>
                </a:solidFill>
                <a:highlight>
                  <a:srgbClr val="FFFF00"/>
                </a:highlight>
                <a:latin typeface="Calibri"/>
                <a:ea typeface="Calibri"/>
                <a:cs typeface="Calibri"/>
                <a:sym typeface="Calibri"/>
              </a:rPr>
              <a:t>N2O is also dependent on the availability of a suitable substrate. Nitrate (NO3) is the most important substrate because this is required for denitrification to occur. Since most fertilisers contain nitrate, the over-use of fertiliser N may stimulate N2O production when the conditions allow. Fertilisers that contain NH4 (such as many organic wastes) may also be a problem because conversion of NH4 to NO3 (nitrification) can generate N2O.  Thus, efficient and modest use of all fertilisers, organic and inorganic, should be recommended.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1647</TotalTime>
  <Words>3017</Words>
  <Application>Microsoft Macintosh PowerPoint</Application>
  <PresentationFormat>Widescreen</PresentationFormat>
  <Paragraphs>369</Paragraphs>
  <Slides>64</Slides>
  <Notes>63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64</vt:i4>
      </vt:variant>
    </vt:vector>
  </HeadingPairs>
  <TitlesOfParts>
    <vt:vector size="71" baseType="lpstr">
      <vt:lpstr>Noto Sans Symbols</vt:lpstr>
      <vt:lpstr>Calibri</vt:lpstr>
      <vt:lpstr>Arial</vt:lpstr>
      <vt:lpstr>Helvetica</vt:lpstr>
      <vt:lpstr>Times New Roman</vt:lpstr>
      <vt:lpstr>Office Theme</vt:lpstr>
      <vt:lpstr>Office Theme</vt:lpstr>
      <vt:lpstr>A Sustainable Planet: The food crisis – why plant-soil interactions matter</vt:lpstr>
      <vt:lpstr>Focal areas of this lecture:</vt:lpstr>
      <vt:lpstr>PowerPoint Presentation</vt:lpstr>
      <vt:lpstr>PowerPoint Presentation</vt:lpstr>
      <vt:lpstr>The agri revolution (…and a hint at the future?)</vt:lpstr>
      <vt:lpstr>Soil – the foundation of life on Earth</vt:lpstr>
      <vt:lpstr>Soil: treat it badly and humans can die!</vt:lpstr>
      <vt:lpstr>In the UK, the way we incentivise farmers has changed under Brexit  The idea is that farming practices enhance ecosystem services  e.g. farmers incentivised to enhance soil carbon stocks, improve air and water quality, reduce flooding and GHGs   How this will happen (and how well we are doing since 2020) is still unclear!</vt:lpstr>
      <vt:lpstr>Two example issues that need to be tackled….</vt:lpstr>
      <vt:lpstr>Issue 1:  Soil degradation</vt:lpstr>
      <vt:lpstr>Degradation:  Change (usually for the worse) in key soil properties</vt:lpstr>
      <vt:lpstr>USA: different tillage (i.e. land management) practices can have dramatic effects on the ability of soil to erode</vt:lpstr>
      <vt:lpstr>PowerPoint Presentation</vt:lpstr>
      <vt:lpstr>A perspective on grassland degradation ..          https://doi.org/10.1038/s43017-021-00207-2. </vt:lpstr>
      <vt:lpstr>PowerPoint Presentation</vt:lpstr>
      <vt:lpstr>PowerPoint Presentation</vt:lpstr>
      <vt:lpstr>Issue 2: Greenhouse gas emissions (CH4, CO2, N2O)</vt:lpstr>
      <vt:lpstr>Global patterns of N2O emissions</vt:lpstr>
      <vt:lpstr>Nitrogen cycling is an important aspect of soil biology</vt:lpstr>
      <vt:lpstr>PowerPoint Presentation</vt:lpstr>
      <vt:lpstr>PowerPoint Presentation</vt:lpstr>
      <vt:lpstr>PowerPoint Presentation</vt:lpstr>
      <vt:lpstr>PowerPoint Presentation</vt:lpstr>
      <vt:lpstr>PowerPoint Presentation</vt:lpstr>
      <vt:lpstr>PowerPoint Presentation</vt:lpstr>
      <vt:lpstr>Plants need mineral nutrients from soil –   The ‘big 3’: nitrogen (N), phosphorus (P), potassium (K)   + other ‘trace’ elements like boron, iron, selenium  Most fertilisers are ‘NPK’ in varying proportions</vt:lpstr>
      <vt:lpstr>PowerPoint Presentation</vt:lpstr>
      <vt:lpstr>An example:  Wheat yield (solid line) does not respond linearly to N fertilizer addition.  Nitrogen Use Efficiency (dashed line) decreases</vt:lpstr>
      <vt:lpstr>Yields of wheat have increased over the last 100 years</vt:lpstr>
      <vt:lpstr>Understanding how plants have evolved to acquire nutrients may help develop sustainable strategies to increase yield</vt:lpstr>
      <vt:lpstr>PowerPoint Presentation</vt:lpstr>
      <vt:lpstr>PowerPoint Presentation</vt:lpstr>
      <vt:lpstr>Plants acquire nutrients from soil to grow….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Transfer of an organic nitrogen molecule (an amino acid) by an ectomycorrhizal fungus (Paxillus involutus)  colonising a Scots pine seedling.</vt:lpstr>
      <vt:lpstr>PowerPoint Presentation</vt:lpstr>
      <vt:lpstr>PowerPoint Presentation</vt:lpstr>
      <vt:lpstr>Nitrogen fixation – another wonder of evolution!</vt:lpstr>
      <vt:lpstr>PowerPoint Presentation</vt:lpstr>
      <vt:lpstr>Nitrogen fixation from the atmosphere is undertaken by mutualistic bacteria that colonise roots of plants in the Fabaceae</vt:lpstr>
      <vt:lpstr>‘Natural’ or biological nitrogen fixation is globally important! </vt:lpstr>
      <vt:lpstr>PowerPoint Presentation</vt:lpstr>
      <vt:lpstr>Key messages</vt:lpstr>
      <vt:lpstr>Publication of the week!</vt:lpstr>
      <vt:lpstr>Can we start using mycorrhizal fungi to increase crop production?  Field trials</vt:lpstr>
      <vt:lpstr>What is mycorrhizal fungal inoculum?</vt:lpstr>
      <vt:lpstr>Why are mycorrhizal inoculation products not widely used?</vt:lpstr>
      <vt:lpstr>PowerPoint Presentation</vt:lpstr>
      <vt:lpstr>Aims of the paper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David Johnson</dc:creator>
  <cp:lastModifiedBy>Sophie Nixon</cp:lastModifiedBy>
  <cp:revision>22</cp:revision>
  <dcterms:created xsi:type="dcterms:W3CDTF">2023-02-06T11:06:58Z</dcterms:created>
  <dcterms:modified xsi:type="dcterms:W3CDTF">2025-02-12T13:45:15Z</dcterms:modified>
</cp:coreProperties>
</file>